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7"/>
  </p:notesMasterIdLst>
  <p:handoutMasterIdLst>
    <p:handoutMasterId r:id="rId108"/>
  </p:handoutMasterIdLst>
  <p:sldIdLst>
    <p:sldId id="296" r:id="rId3"/>
    <p:sldId id="297" r:id="rId4"/>
    <p:sldId id="298" r:id="rId5"/>
    <p:sldId id="299" r:id="rId6"/>
    <p:sldId id="300" r:id="rId7"/>
    <p:sldId id="301" r:id="rId8"/>
    <p:sldId id="302" r:id="rId9"/>
    <p:sldId id="303" r:id="rId10"/>
    <p:sldId id="304" r:id="rId11"/>
    <p:sldId id="305" r:id="rId12"/>
    <p:sldId id="306" r:id="rId13"/>
    <p:sldId id="307" r:id="rId14"/>
    <p:sldId id="308" r:id="rId15"/>
    <p:sldId id="309" r:id="rId16"/>
    <p:sldId id="310" r:id="rId17"/>
    <p:sldId id="311" r:id="rId18"/>
    <p:sldId id="312" r:id="rId19"/>
    <p:sldId id="313" r:id="rId20"/>
    <p:sldId id="314" r:id="rId21"/>
    <p:sldId id="315" r:id="rId22"/>
    <p:sldId id="316" r:id="rId23"/>
    <p:sldId id="317" r:id="rId24"/>
    <p:sldId id="318" r:id="rId25"/>
    <p:sldId id="319" r:id="rId26"/>
    <p:sldId id="320" r:id="rId27"/>
    <p:sldId id="321" r:id="rId28"/>
    <p:sldId id="322" r:id="rId29"/>
    <p:sldId id="323" r:id="rId30"/>
    <p:sldId id="324" r:id="rId31"/>
    <p:sldId id="325" r:id="rId32"/>
    <p:sldId id="326" r:id="rId33"/>
    <p:sldId id="327" r:id="rId34"/>
    <p:sldId id="328" r:id="rId35"/>
    <p:sldId id="368" r:id="rId36"/>
    <p:sldId id="369" r:id="rId37"/>
    <p:sldId id="370" r:id="rId38"/>
    <p:sldId id="371" r:id="rId39"/>
    <p:sldId id="372" r:id="rId40"/>
    <p:sldId id="373" r:id="rId41"/>
    <p:sldId id="374" r:id="rId42"/>
    <p:sldId id="375" r:id="rId43"/>
    <p:sldId id="376" r:id="rId44"/>
    <p:sldId id="377" r:id="rId45"/>
    <p:sldId id="378" r:id="rId46"/>
    <p:sldId id="379" r:id="rId47"/>
    <p:sldId id="380" r:id="rId48"/>
    <p:sldId id="381" r:id="rId49"/>
    <p:sldId id="382" r:id="rId50"/>
    <p:sldId id="383" r:id="rId51"/>
    <p:sldId id="384" r:id="rId52"/>
    <p:sldId id="385" r:id="rId53"/>
    <p:sldId id="386" r:id="rId54"/>
    <p:sldId id="387" r:id="rId55"/>
    <p:sldId id="388" r:id="rId56"/>
    <p:sldId id="389" r:id="rId57"/>
    <p:sldId id="390" r:id="rId58"/>
    <p:sldId id="391" r:id="rId59"/>
    <p:sldId id="392" r:id="rId60"/>
    <p:sldId id="393" r:id="rId61"/>
    <p:sldId id="394" r:id="rId62"/>
    <p:sldId id="395" r:id="rId63"/>
    <p:sldId id="396" r:id="rId64"/>
    <p:sldId id="397" r:id="rId65"/>
    <p:sldId id="398" r:id="rId66"/>
    <p:sldId id="399" r:id="rId67"/>
    <p:sldId id="329" r:id="rId68"/>
    <p:sldId id="330" r:id="rId69"/>
    <p:sldId id="331" r:id="rId70"/>
    <p:sldId id="332" r:id="rId71"/>
    <p:sldId id="333" r:id="rId72"/>
    <p:sldId id="334" r:id="rId73"/>
    <p:sldId id="335" r:id="rId74"/>
    <p:sldId id="336" r:id="rId75"/>
    <p:sldId id="337" r:id="rId76"/>
    <p:sldId id="338" r:id="rId77"/>
    <p:sldId id="339" r:id="rId78"/>
    <p:sldId id="340" r:id="rId79"/>
    <p:sldId id="341" r:id="rId80"/>
    <p:sldId id="342" r:id="rId81"/>
    <p:sldId id="343" r:id="rId82"/>
    <p:sldId id="344" r:id="rId83"/>
    <p:sldId id="345" r:id="rId84"/>
    <p:sldId id="346" r:id="rId85"/>
    <p:sldId id="347" r:id="rId86"/>
    <p:sldId id="348" r:id="rId87"/>
    <p:sldId id="349" r:id="rId88"/>
    <p:sldId id="350" r:id="rId89"/>
    <p:sldId id="351" r:id="rId90"/>
    <p:sldId id="352" r:id="rId91"/>
    <p:sldId id="353" r:id="rId92"/>
    <p:sldId id="354" r:id="rId93"/>
    <p:sldId id="355" r:id="rId94"/>
    <p:sldId id="356" r:id="rId95"/>
    <p:sldId id="357" r:id="rId96"/>
    <p:sldId id="358" r:id="rId97"/>
    <p:sldId id="359" r:id="rId98"/>
    <p:sldId id="360" r:id="rId99"/>
    <p:sldId id="361" r:id="rId100"/>
    <p:sldId id="362" r:id="rId101"/>
    <p:sldId id="363" r:id="rId102"/>
    <p:sldId id="364" r:id="rId103"/>
    <p:sldId id="365" r:id="rId104"/>
    <p:sldId id="366" r:id="rId105"/>
    <p:sldId id="367" r:id="rId106"/>
  </p:sldIdLst>
  <p:sldSz cx="8959850" cy="6721475"/>
  <p:notesSz cx="6858000" cy="9144000"/>
  <p:custDataLst>
    <p:tags r:id="rId11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3" d="100"/>
          <a:sy n="103" d="100"/>
        </p:scale>
        <p:origin x="668"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2" Type="http://schemas.openxmlformats.org/officeDocument/2006/relationships/tags" Target="tags/tag12.xml"/><Relationship Id="rId111" Type="http://schemas.openxmlformats.org/officeDocument/2006/relationships/tableStyles" Target="tableStyles.xml"/><Relationship Id="rId110" Type="http://schemas.openxmlformats.org/officeDocument/2006/relationships/viewProps" Target="viewProps.xml"/><Relationship Id="rId11" Type="http://schemas.openxmlformats.org/officeDocument/2006/relationships/slide" Target="slides/slide9.xml"/><Relationship Id="rId109" Type="http://schemas.openxmlformats.org/officeDocument/2006/relationships/presProps" Target="presProps.xml"/><Relationship Id="rId108" Type="http://schemas.openxmlformats.org/officeDocument/2006/relationships/handoutMaster" Target="handoutMasters/handoutMaster1.xml"/><Relationship Id="rId107" Type="http://schemas.openxmlformats.org/officeDocument/2006/relationships/notesMaster" Target="notesMasters/notesMaster1.xml"/><Relationship Id="rId106" Type="http://schemas.openxmlformats.org/officeDocument/2006/relationships/slide" Target="slides/slide104.xml"/><Relationship Id="rId105" Type="http://schemas.openxmlformats.org/officeDocument/2006/relationships/slide" Target="slides/slide103.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746" y="1143000"/>
            <a:ext cx="4114508"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08228" y="199296"/>
            <a:ext cx="8743391" cy="606773"/>
          </a:xfrm>
        </p:spPr>
        <p:txBody>
          <a:bodyPr lIns="0" tIns="0" rIns="0" bIns="0"/>
          <a:lstStyle>
            <a:lvl1pPr>
              <a:defRPr sz="1900" b="1" i="0">
                <a:solidFill>
                  <a:srgbClr val="00295F"/>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a:xfrm>
            <a:off x="1326590" y="1141013"/>
            <a:ext cx="6306668" cy="1554380"/>
          </a:xfrm>
        </p:spPr>
        <p:txBody>
          <a:bodyPr lIns="0" tIns="0" rIns="0" bIns="0"/>
          <a:lstStyle>
            <a:lvl1pPr>
              <a:defRPr sz="1000" b="1" i="0">
                <a:solidFill>
                  <a:schemeClr val="tx1"/>
                </a:solidFill>
                <a:latin typeface="微软雅黑" panose="020B0503020204020204" charset="-122"/>
                <a:cs typeface="微软雅黑" panose="020B0503020204020204" charset="-122"/>
              </a:defRPr>
            </a:lvl1pPr>
          </a:lstStyle>
          <a:p/>
        </p:txBody>
      </p:sp>
      <p:sp>
        <p:nvSpPr>
          <p:cNvPr id="4" name="Holder 4"/>
          <p:cNvSpPr>
            <a:spLocks noGrp="1"/>
          </p:cNvSpPr>
          <p:nvPr>
            <p:ph type="ftr" sz="quarter" idx="5"/>
          </p:nvPr>
        </p:nvSpPr>
        <p:spPr>
          <a:xfrm>
            <a:off x="3046349" y="6250971"/>
            <a:ext cx="2867152" cy="336073"/>
          </a:xfrm>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a:xfrm>
            <a:off x="447993" y="6250971"/>
            <a:ext cx="2060766" cy="336073"/>
          </a:xfrm>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451092" y="6250971"/>
            <a:ext cx="2060766" cy="336073"/>
          </a:xfrm>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3046349" y="6250971"/>
            <a:ext cx="2867152" cy="336073"/>
          </a:xfrm>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a:xfrm>
            <a:off x="447993" y="6250971"/>
            <a:ext cx="2060766" cy="336073"/>
          </a:xfrm>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a:xfrm>
            <a:off x="6451092" y="6250971"/>
            <a:ext cx="2060766" cy="336073"/>
          </a:xfrm>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矩形 1"/>
          <p:cNvSpPr/>
          <p:nvPr userDrawn="1"/>
        </p:nvSpPr>
        <p:spPr>
          <a:xfrm>
            <a:off x="-10160" y="6523990"/>
            <a:ext cx="8997315" cy="19621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9" Type="http://schemas.openxmlformats.org/officeDocument/2006/relationships/image" Target="../media/image10.jpeg"/><Relationship Id="rId8" Type="http://schemas.openxmlformats.org/officeDocument/2006/relationships/tags" Target="../tags/tag2.xml"/><Relationship Id="rId7" Type="http://schemas.openxmlformats.org/officeDocument/2006/relationships/image" Target="../media/image9.jpeg"/><Relationship Id="rId6" Type="http://schemas.openxmlformats.org/officeDocument/2006/relationships/tags" Target="../tags/tag1.xml"/><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4" Type="http://schemas.openxmlformats.org/officeDocument/2006/relationships/slideLayout" Target="../slideLayouts/slideLayout1.xml"/><Relationship Id="rId23" Type="http://schemas.openxmlformats.org/officeDocument/2006/relationships/tags" Target="../tags/tag10.xml"/><Relationship Id="rId22" Type="http://schemas.openxmlformats.org/officeDocument/2006/relationships/image" Target="../media/image16.png"/><Relationship Id="rId21" Type="http://schemas.openxmlformats.org/officeDocument/2006/relationships/tags" Target="../tags/tag9.xml"/><Relationship Id="rId20" Type="http://schemas.openxmlformats.org/officeDocument/2006/relationships/image" Target="../media/image15.jpeg"/><Relationship Id="rId2" Type="http://schemas.openxmlformats.org/officeDocument/2006/relationships/image" Target="../media/image5.png"/><Relationship Id="rId19" Type="http://schemas.openxmlformats.org/officeDocument/2006/relationships/tags" Target="../tags/tag8.xml"/><Relationship Id="rId18" Type="http://schemas.openxmlformats.org/officeDocument/2006/relationships/image" Target="../media/image14.jpeg"/><Relationship Id="rId17" Type="http://schemas.openxmlformats.org/officeDocument/2006/relationships/tags" Target="../tags/tag7.xml"/><Relationship Id="rId16" Type="http://schemas.openxmlformats.org/officeDocument/2006/relationships/tags" Target="../tags/tag6.xml"/><Relationship Id="rId15" Type="http://schemas.openxmlformats.org/officeDocument/2006/relationships/image" Target="../media/image13.jpeg"/><Relationship Id="rId14" Type="http://schemas.openxmlformats.org/officeDocument/2006/relationships/tags" Target="../tags/tag5.xml"/><Relationship Id="rId13" Type="http://schemas.openxmlformats.org/officeDocument/2006/relationships/image" Target="../media/image12.jpeg"/><Relationship Id="rId12" Type="http://schemas.openxmlformats.org/officeDocument/2006/relationships/tags" Target="../tags/tag4.xml"/><Relationship Id="rId11" Type="http://schemas.openxmlformats.org/officeDocument/2006/relationships/image" Target="../media/image11.png"/><Relationship Id="rId10" Type="http://schemas.openxmlformats.org/officeDocument/2006/relationships/tags" Target="../tags/tag3.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0.jpe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slide" Target="slide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2.png"/><Relationship Id="rId1"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4.png"/><Relationship Id="rId1"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9" Type="http://schemas.openxmlformats.org/officeDocument/2006/relationships/image" Target="../media/image33.png"/><Relationship Id="rId8" Type="http://schemas.openxmlformats.org/officeDocument/2006/relationships/image" Target="../media/image32.png"/><Relationship Id="rId7" Type="http://schemas.openxmlformats.org/officeDocument/2006/relationships/image" Target="../media/image31.png"/><Relationship Id="rId62" Type="http://schemas.openxmlformats.org/officeDocument/2006/relationships/slideLayout" Target="../slideLayouts/slideLayout1.xml"/><Relationship Id="rId61" Type="http://schemas.openxmlformats.org/officeDocument/2006/relationships/image" Target="../media/image85.png"/><Relationship Id="rId60" Type="http://schemas.openxmlformats.org/officeDocument/2006/relationships/image" Target="../media/image84.png"/><Relationship Id="rId6" Type="http://schemas.openxmlformats.org/officeDocument/2006/relationships/image" Target="../media/image30.png"/><Relationship Id="rId59" Type="http://schemas.openxmlformats.org/officeDocument/2006/relationships/image" Target="../media/image83.png"/><Relationship Id="rId58" Type="http://schemas.openxmlformats.org/officeDocument/2006/relationships/image" Target="../media/image82.png"/><Relationship Id="rId57" Type="http://schemas.openxmlformats.org/officeDocument/2006/relationships/image" Target="../media/image81.png"/><Relationship Id="rId56" Type="http://schemas.openxmlformats.org/officeDocument/2006/relationships/image" Target="../media/image80.png"/><Relationship Id="rId55" Type="http://schemas.openxmlformats.org/officeDocument/2006/relationships/image" Target="../media/image79.png"/><Relationship Id="rId54" Type="http://schemas.openxmlformats.org/officeDocument/2006/relationships/image" Target="../media/image78.png"/><Relationship Id="rId53" Type="http://schemas.openxmlformats.org/officeDocument/2006/relationships/image" Target="../media/image77.png"/><Relationship Id="rId52" Type="http://schemas.openxmlformats.org/officeDocument/2006/relationships/image" Target="../media/image76.png"/><Relationship Id="rId51" Type="http://schemas.openxmlformats.org/officeDocument/2006/relationships/image" Target="../media/image75.png"/><Relationship Id="rId50" Type="http://schemas.openxmlformats.org/officeDocument/2006/relationships/image" Target="../media/image74.png"/><Relationship Id="rId5" Type="http://schemas.openxmlformats.org/officeDocument/2006/relationships/image" Target="../media/image29.png"/><Relationship Id="rId49" Type="http://schemas.openxmlformats.org/officeDocument/2006/relationships/image" Target="../media/image73.png"/><Relationship Id="rId48" Type="http://schemas.openxmlformats.org/officeDocument/2006/relationships/image" Target="../media/image72.png"/><Relationship Id="rId47" Type="http://schemas.openxmlformats.org/officeDocument/2006/relationships/image" Target="../media/image71.png"/><Relationship Id="rId46" Type="http://schemas.openxmlformats.org/officeDocument/2006/relationships/image" Target="../media/image70.png"/><Relationship Id="rId45" Type="http://schemas.openxmlformats.org/officeDocument/2006/relationships/image" Target="../media/image69.png"/><Relationship Id="rId44" Type="http://schemas.openxmlformats.org/officeDocument/2006/relationships/image" Target="../media/image68.png"/><Relationship Id="rId43" Type="http://schemas.openxmlformats.org/officeDocument/2006/relationships/image" Target="../media/image67.png"/><Relationship Id="rId42" Type="http://schemas.openxmlformats.org/officeDocument/2006/relationships/image" Target="../media/image66.png"/><Relationship Id="rId41" Type="http://schemas.openxmlformats.org/officeDocument/2006/relationships/image" Target="../media/image65.png"/><Relationship Id="rId40" Type="http://schemas.openxmlformats.org/officeDocument/2006/relationships/image" Target="../media/image64.png"/><Relationship Id="rId4" Type="http://schemas.openxmlformats.org/officeDocument/2006/relationships/image" Target="../media/image28.png"/><Relationship Id="rId39" Type="http://schemas.openxmlformats.org/officeDocument/2006/relationships/image" Target="../media/image63.png"/><Relationship Id="rId38" Type="http://schemas.openxmlformats.org/officeDocument/2006/relationships/image" Target="../media/image62.png"/><Relationship Id="rId37" Type="http://schemas.openxmlformats.org/officeDocument/2006/relationships/image" Target="../media/image61.png"/><Relationship Id="rId36" Type="http://schemas.openxmlformats.org/officeDocument/2006/relationships/image" Target="../media/image60.png"/><Relationship Id="rId35" Type="http://schemas.openxmlformats.org/officeDocument/2006/relationships/image" Target="../media/image59.png"/><Relationship Id="rId34" Type="http://schemas.openxmlformats.org/officeDocument/2006/relationships/image" Target="../media/image58.png"/><Relationship Id="rId33" Type="http://schemas.openxmlformats.org/officeDocument/2006/relationships/image" Target="../media/image57.png"/><Relationship Id="rId32" Type="http://schemas.openxmlformats.org/officeDocument/2006/relationships/image" Target="../media/image56.png"/><Relationship Id="rId31" Type="http://schemas.openxmlformats.org/officeDocument/2006/relationships/image" Target="../media/image55.png"/><Relationship Id="rId30" Type="http://schemas.openxmlformats.org/officeDocument/2006/relationships/image" Target="../media/image54.png"/><Relationship Id="rId3" Type="http://schemas.openxmlformats.org/officeDocument/2006/relationships/image" Target="../media/image27.png"/><Relationship Id="rId29" Type="http://schemas.openxmlformats.org/officeDocument/2006/relationships/image" Target="../media/image53.png"/><Relationship Id="rId28" Type="http://schemas.openxmlformats.org/officeDocument/2006/relationships/image" Target="../media/image52.png"/><Relationship Id="rId27" Type="http://schemas.openxmlformats.org/officeDocument/2006/relationships/image" Target="../media/image51.png"/><Relationship Id="rId26" Type="http://schemas.openxmlformats.org/officeDocument/2006/relationships/image" Target="../media/image50.png"/><Relationship Id="rId25" Type="http://schemas.openxmlformats.org/officeDocument/2006/relationships/image" Target="../media/image49.png"/><Relationship Id="rId24" Type="http://schemas.openxmlformats.org/officeDocument/2006/relationships/image" Target="../media/image48.png"/><Relationship Id="rId23" Type="http://schemas.openxmlformats.org/officeDocument/2006/relationships/image" Target="../media/image47.png"/><Relationship Id="rId22" Type="http://schemas.openxmlformats.org/officeDocument/2006/relationships/image" Target="../media/image46.png"/><Relationship Id="rId21" Type="http://schemas.openxmlformats.org/officeDocument/2006/relationships/image" Target="../media/image45.png"/><Relationship Id="rId20" Type="http://schemas.openxmlformats.org/officeDocument/2006/relationships/image" Target="../media/image44.png"/><Relationship Id="rId2" Type="http://schemas.openxmlformats.org/officeDocument/2006/relationships/image" Target="../media/image26.png"/><Relationship Id="rId19" Type="http://schemas.openxmlformats.org/officeDocument/2006/relationships/image" Target="../media/image43.png"/><Relationship Id="rId18" Type="http://schemas.openxmlformats.org/officeDocument/2006/relationships/image" Target="../media/image42.png"/><Relationship Id="rId17" Type="http://schemas.openxmlformats.org/officeDocument/2006/relationships/image" Target="../media/image41.png"/><Relationship Id="rId16" Type="http://schemas.openxmlformats.org/officeDocument/2006/relationships/image" Target="../media/image40.png"/><Relationship Id="rId15" Type="http://schemas.openxmlformats.org/officeDocument/2006/relationships/image" Target="../media/image39.png"/><Relationship Id="rId14" Type="http://schemas.openxmlformats.org/officeDocument/2006/relationships/image" Target="../media/image38.png"/><Relationship Id="rId13" Type="http://schemas.openxmlformats.org/officeDocument/2006/relationships/image" Target="../media/image37.png"/><Relationship Id="rId12" Type="http://schemas.openxmlformats.org/officeDocument/2006/relationships/image" Target="../media/image36.png"/><Relationship Id="rId11" Type="http://schemas.openxmlformats.org/officeDocument/2006/relationships/image" Target="../media/image35.png"/><Relationship Id="rId10" Type="http://schemas.openxmlformats.org/officeDocument/2006/relationships/image" Target="../media/image34.png"/><Relationship Id="rId1"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87.png"/><Relationship Id="rId1" Type="http://schemas.openxmlformats.org/officeDocument/2006/relationships/image" Target="../media/image86.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95.jpeg"/><Relationship Id="rId5" Type="http://schemas.openxmlformats.org/officeDocument/2006/relationships/image" Target="../media/image94.jpeg"/><Relationship Id="rId4" Type="http://schemas.openxmlformats.org/officeDocument/2006/relationships/image" Target="../media/image93.jpeg"/><Relationship Id="rId3" Type="http://schemas.openxmlformats.org/officeDocument/2006/relationships/image" Target="../media/image92.jpeg"/><Relationship Id="rId2" Type="http://schemas.openxmlformats.org/officeDocument/2006/relationships/image" Target="../media/image91.png"/><Relationship Id="rId1" Type="http://schemas.openxmlformats.org/officeDocument/2006/relationships/image" Target="../media/image9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00.png"/><Relationship Id="rId4" Type="http://schemas.openxmlformats.org/officeDocument/2006/relationships/image" Target="../media/image99.png"/><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image" Target="../media/image96.png"/></Relationships>
</file>

<file path=ppt/slides/_rels/slide15.xml.rels><?xml version="1.0" encoding="UTF-8" standalone="yes"?>
<Relationships xmlns="http://schemas.openxmlformats.org/package/2006/relationships"><Relationship Id="rId9" Type="http://schemas.openxmlformats.org/officeDocument/2006/relationships/image" Target="../media/image109.png"/><Relationship Id="rId8" Type="http://schemas.openxmlformats.org/officeDocument/2006/relationships/image" Target="../media/image108.png"/><Relationship Id="rId7" Type="http://schemas.openxmlformats.org/officeDocument/2006/relationships/image" Target="../media/image107.png"/><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image" Target="../media/image104.png"/><Relationship Id="rId3" Type="http://schemas.openxmlformats.org/officeDocument/2006/relationships/image" Target="../media/image103.jpeg"/><Relationship Id="rId2" Type="http://schemas.openxmlformats.org/officeDocument/2006/relationships/image" Target="../media/image102.png"/><Relationship Id="rId12" Type="http://schemas.openxmlformats.org/officeDocument/2006/relationships/slideLayout" Target="../slideLayouts/slideLayout1.xml"/><Relationship Id="rId11" Type="http://schemas.openxmlformats.org/officeDocument/2006/relationships/image" Target="../media/image111.png"/><Relationship Id="rId10" Type="http://schemas.openxmlformats.org/officeDocument/2006/relationships/image" Target="../media/image110.png"/><Relationship Id="rId1" Type="http://schemas.openxmlformats.org/officeDocument/2006/relationships/image" Target="../media/image101.png"/></Relationships>
</file>

<file path=ppt/slides/_rels/slide16.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17.jpeg"/><Relationship Id="rId5" Type="http://schemas.openxmlformats.org/officeDocument/2006/relationships/image" Target="../media/image116.jpeg"/><Relationship Id="rId4" Type="http://schemas.openxmlformats.org/officeDocument/2006/relationships/image" Target="../media/image115.jpeg"/><Relationship Id="rId3" Type="http://schemas.openxmlformats.org/officeDocument/2006/relationships/image" Target="../media/image114.jpeg"/><Relationship Id="rId2" Type="http://schemas.openxmlformats.org/officeDocument/2006/relationships/image" Target="../media/image113.png"/><Relationship Id="rId1" Type="http://schemas.openxmlformats.org/officeDocument/2006/relationships/image" Target="../media/image112.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slide" Target="slide1.xml"/><Relationship Id="rId1" Type="http://schemas.openxmlformats.org/officeDocument/2006/relationships/slide" Target="slide5.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9.pn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23.png"/><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image" Target="../media/image120.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25.png"/><Relationship Id="rId1" Type="http://schemas.openxmlformats.org/officeDocument/2006/relationships/image" Target="../media/image124.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6.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7.png"/></Relationships>
</file>

<file path=ppt/slides/_rels/slide25.xml.rels><?xml version="1.0" encoding="UTF-8" standalone="yes"?>
<Relationships xmlns="http://schemas.openxmlformats.org/package/2006/relationships"><Relationship Id="rId9" Type="http://schemas.openxmlformats.org/officeDocument/2006/relationships/image" Target="../media/image136.png"/><Relationship Id="rId8" Type="http://schemas.openxmlformats.org/officeDocument/2006/relationships/image" Target="../media/image135.png"/><Relationship Id="rId7" Type="http://schemas.openxmlformats.org/officeDocument/2006/relationships/image" Target="../media/image134.png"/><Relationship Id="rId6" Type="http://schemas.openxmlformats.org/officeDocument/2006/relationships/image" Target="../media/image133.png"/><Relationship Id="rId5" Type="http://schemas.openxmlformats.org/officeDocument/2006/relationships/image" Target="../media/image132.png"/><Relationship Id="rId4" Type="http://schemas.openxmlformats.org/officeDocument/2006/relationships/image" Target="../media/image131.png"/><Relationship Id="rId3" Type="http://schemas.openxmlformats.org/officeDocument/2006/relationships/image" Target="../media/image130.png"/><Relationship Id="rId2" Type="http://schemas.openxmlformats.org/officeDocument/2006/relationships/image" Target="../media/image129.png"/><Relationship Id="rId13" Type="http://schemas.openxmlformats.org/officeDocument/2006/relationships/slideLayout" Target="../slideLayouts/slideLayout1.xml"/><Relationship Id="rId12" Type="http://schemas.openxmlformats.org/officeDocument/2006/relationships/image" Target="../media/image139.png"/><Relationship Id="rId11" Type="http://schemas.openxmlformats.org/officeDocument/2006/relationships/image" Target="../media/image138.png"/><Relationship Id="rId10" Type="http://schemas.openxmlformats.org/officeDocument/2006/relationships/image" Target="../media/image137.png"/><Relationship Id="rId1" Type="http://schemas.openxmlformats.org/officeDocument/2006/relationships/image" Target="../media/image128.png"/></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43.png"/><Relationship Id="rId3" Type="http://schemas.openxmlformats.org/officeDocument/2006/relationships/image" Target="../media/image142.png"/><Relationship Id="rId2" Type="http://schemas.openxmlformats.org/officeDocument/2006/relationships/image" Target="../media/image141.png"/><Relationship Id="rId1" Type="http://schemas.openxmlformats.org/officeDocument/2006/relationships/image" Target="../media/image14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47.png"/><Relationship Id="rId3" Type="http://schemas.openxmlformats.org/officeDocument/2006/relationships/image" Target="../media/image146.png"/><Relationship Id="rId2" Type="http://schemas.openxmlformats.org/officeDocument/2006/relationships/image" Target="../media/image145.png"/><Relationship Id="rId1" Type="http://schemas.openxmlformats.org/officeDocument/2006/relationships/image" Target="../media/image144.png"/></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50.png"/><Relationship Id="rId2" Type="http://schemas.openxmlformats.org/officeDocument/2006/relationships/image" Target="../media/image149.png"/><Relationship Id="rId1" Type="http://schemas.openxmlformats.org/officeDocument/2006/relationships/image" Target="../media/image148.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51.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52.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5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5.jpeg"/><Relationship Id="rId1" Type="http://schemas.openxmlformats.org/officeDocument/2006/relationships/image" Target="../media/image15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7.png"/><Relationship Id="rId1" Type="http://schemas.openxmlformats.org/officeDocument/2006/relationships/image" Target="../media/image156.png"/></Relationships>
</file>

<file path=ppt/slides/_rels/slide4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62.jpeg"/><Relationship Id="rId4" Type="http://schemas.openxmlformats.org/officeDocument/2006/relationships/image" Target="../media/image161.png"/><Relationship Id="rId3" Type="http://schemas.openxmlformats.org/officeDocument/2006/relationships/image" Target="../media/image160.png"/><Relationship Id="rId2" Type="http://schemas.openxmlformats.org/officeDocument/2006/relationships/image" Target="../media/image159.png"/><Relationship Id="rId1" Type="http://schemas.openxmlformats.org/officeDocument/2006/relationships/image" Target="../media/image158.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3.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70.png"/><Relationship Id="rId5" Type="http://schemas.openxmlformats.org/officeDocument/2006/relationships/image" Target="../media/image169.png"/><Relationship Id="rId4" Type="http://schemas.openxmlformats.org/officeDocument/2006/relationships/image" Target="../media/image168.png"/><Relationship Id="rId3" Type="http://schemas.openxmlformats.org/officeDocument/2006/relationships/image" Target="../media/image167.png"/><Relationship Id="rId2" Type="http://schemas.openxmlformats.org/officeDocument/2006/relationships/image" Target="../media/image166.png"/><Relationship Id="rId1" Type="http://schemas.openxmlformats.org/officeDocument/2006/relationships/image" Target="../media/image165.png"/></Relationships>
</file>

<file path=ppt/slides/_rels/slide4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75.png"/><Relationship Id="rId4" Type="http://schemas.openxmlformats.org/officeDocument/2006/relationships/image" Target="../media/image174.png"/><Relationship Id="rId3" Type="http://schemas.openxmlformats.org/officeDocument/2006/relationships/image" Target="../media/image173.jpeg"/><Relationship Id="rId2" Type="http://schemas.openxmlformats.org/officeDocument/2006/relationships/image" Target="../media/image172.jpeg"/><Relationship Id="rId1" Type="http://schemas.openxmlformats.org/officeDocument/2006/relationships/image" Target="../media/image171.png"/></Relationships>
</file>

<file path=ppt/slides/_rels/slide50.xml.rels><?xml version="1.0" encoding="UTF-8" standalone="yes"?>
<Relationships xmlns="http://schemas.openxmlformats.org/package/2006/relationships"><Relationship Id="rId9" Type="http://schemas.openxmlformats.org/officeDocument/2006/relationships/image" Target="../media/image173.jpeg"/><Relationship Id="rId8" Type="http://schemas.openxmlformats.org/officeDocument/2006/relationships/image" Target="../media/image183.png"/><Relationship Id="rId7" Type="http://schemas.openxmlformats.org/officeDocument/2006/relationships/image" Target="../media/image182.png"/><Relationship Id="rId6" Type="http://schemas.openxmlformats.org/officeDocument/2006/relationships/image" Target="../media/image181.png"/><Relationship Id="rId5" Type="http://schemas.openxmlformats.org/officeDocument/2006/relationships/image" Target="../media/image180.jpeg"/><Relationship Id="rId4" Type="http://schemas.openxmlformats.org/officeDocument/2006/relationships/image" Target="../media/image179.jpeg"/><Relationship Id="rId3" Type="http://schemas.openxmlformats.org/officeDocument/2006/relationships/image" Target="../media/image178.jpeg"/><Relationship Id="rId2" Type="http://schemas.openxmlformats.org/officeDocument/2006/relationships/image" Target="../media/image177.jpeg"/><Relationship Id="rId15" Type="http://schemas.openxmlformats.org/officeDocument/2006/relationships/slideLayout" Target="../slideLayouts/slideLayout2.xml"/><Relationship Id="rId14" Type="http://schemas.openxmlformats.org/officeDocument/2006/relationships/image" Target="../media/image188.png"/><Relationship Id="rId13" Type="http://schemas.openxmlformats.org/officeDocument/2006/relationships/image" Target="../media/image187.png"/><Relationship Id="rId12" Type="http://schemas.openxmlformats.org/officeDocument/2006/relationships/image" Target="../media/image186.jpeg"/><Relationship Id="rId11" Type="http://schemas.openxmlformats.org/officeDocument/2006/relationships/image" Target="../media/image185.jpeg"/><Relationship Id="rId10" Type="http://schemas.openxmlformats.org/officeDocument/2006/relationships/image" Target="../media/image184.jpeg"/><Relationship Id="rId1" Type="http://schemas.openxmlformats.org/officeDocument/2006/relationships/image" Target="../media/image176.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92.png"/><Relationship Id="rId3" Type="http://schemas.openxmlformats.org/officeDocument/2006/relationships/image" Target="../media/image191.png"/><Relationship Id="rId2" Type="http://schemas.openxmlformats.org/officeDocument/2006/relationships/image" Target="../media/image190.png"/><Relationship Id="rId1" Type="http://schemas.openxmlformats.org/officeDocument/2006/relationships/image" Target="../media/image189.png"/></Relationships>
</file>

<file path=ppt/slides/_rels/slide5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98.png"/><Relationship Id="rId5" Type="http://schemas.openxmlformats.org/officeDocument/2006/relationships/image" Target="../media/image197.png"/><Relationship Id="rId4" Type="http://schemas.openxmlformats.org/officeDocument/2006/relationships/image" Target="../media/image196.png"/><Relationship Id="rId3" Type="http://schemas.openxmlformats.org/officeDocument/2006/relationships/image" Target="../media/image195.png"/><Relationship Id="rId2" Type="http://schemas.openxmlformats.org/officeDocument/2006/relationships/image" Target="../media/image194.png"/><Relationship Id="rId1" Type="http://schemas.openxmlformats.org/officeDocument/2006/relationships/image" Target="../media/image193.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9.png"/></Relationships>
</file>

<file path=ppt/slides/_rels/slide55.xml.rels><?xml version="1.0" encoding="UTF-8" standalone="yes"?>
<Relationships xmlns="http://schemas.openxmlformats.org/package/2006/relationships"><Relationship Id="rId9" Type="http://schemas.openxmlformats.org/officeDocument/2006/relationships/image" Target="../media/image208.png"/><Relationship Id="rId8" Type="http://schemas.openxmlformats.org/officeDocument/2006/relationships/image" Target="../media/image207.png"/><Relationship Id="rId7" Type="http://schemas.openxmlformats.org/officeDocument/2006/relationships/image" Target="../media/image206.png"/><Relationship Id="rId6" Type="http://schemas.openxmlformats.org/officeDocument/2006/relationships/image" Target="../media/image205.png"/><Relationship Id="rId5" Type="http://schemas.openxmlformats.org/officeDocument/2006/relationships/image" Target="../media/image204.jpeg"/><Relationship Id="rId4" Type="http://schemas.openxmlformats.org/officeDocument/2006/relationships/image" Target="../media/image203.jpeg"/><Relationship Id="rId3" Type="http://schemas.openxmlformats.org/officeDocument/2006/relationships/image" Target="../media/image202.png"/><Relationship Id="rId2" Type="http://schemas.openxmlformats.org/officeDocument/2006/relationships/image" Target="../media/image201.png"/><Relationship Id="rId10" Type="http://schemas.openxmlformats.org/officeDocument/2006/relationships/slideLayout" Target="../slideLayouts/slideLayout2.xml"/><Relationship Id="rId1" Type="http://schemas.openxmlformats.org/officeDocument/2006/relationships/image" Target="../media/image200.jpe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9" Type="http://schemas.openxmlformats.org/officeDocument/2006/relationships/image" Target="../media/image217.png"/><Relationship Id="rId8" Type="http://schemas.openxmlformats.org/officeDocument/2006/relationships/image" Target="../media/image216.png"/><Relationship Id="rId7" Type="http://schemas.openxmlformats.org/officeDocument/2006/relationships/image" Target="../media/image215.png"/><Relationship Id="rId6" Type="http://schemas.openxmlformats.org/officeDocument/2006/relationships/image" Target="../media/image214.png"/><Relationship Id="rId5" Type="http://schemas.openxmlformats.org/officeDocument/2006/relationships/image" Target="../media/image213.png"/><Relationship Id="rId4" Type="http://schemas.openxmlformats.org/officeDocument/2006/relationships/image" Target="../media/image212.png"/><Relationship Id="rId3" Type="http://schemas.openxmlformats.org/officeDocument/2006/relationships/image" Target="../media/image211.png"/><Relationship Id="rId24" Type="http://schemas.openxmlformats.org/officeDocument/2006/relationships/slideLayout" Target="../slideLayouts/slideLayout2.xml"/><Relationship Id="rId23" Type="http://schemas.openxmlformats.org/officeDocument/2006/relationships/image" Target="../media/image231.png"/><Relationship Id="rId22" Type="http://schemas.openxmlformats.org/officeDocument/2006/relationships/image" Target="../media/image230.png"/><Relationship Id="rId21" Type="http://schemas.openxmlformats.org/officeDocument/2006/relationships/image" Target="../media/image229.png"/><Relationship Id="rId20" Type="http://schemas.openxmlformats.org/officeDocument/2006/relationships/image" Target="../media/image228.png"/><Relationship Id="rId2" Type="http://schemas.openxmlformats.org/officeDocument/2006/relationships/image" Target="../media/image210.png"/><Relationship Id="rId19" Type="http://schemas.openxmlformats.org/officeDocument/2006/relationships/image" Target="../media/image227.png"/><Relationship Id="rId18" Type="http://schemas.openxmlformats.org/officeDocument/2006/relationships/image" Target="../media/image226.png"/><Relationship Id="rId17" Type="http://schemas.openxmlformats.org/officeDocument/2006/relationships/image" Target="../media/image225.png"/><Relationship Id="rId16" Type="http://schemas.openxmlformats.org/officeDocument/2006/relationships/image" Target="../media/image224.png"/><Relationship Id="rId15" Type="http://schemas.openxmlformats.org/officeDocument/2006/relationships/image" Target="../media/image223.png"/><Relationship Id="rId14" Type="http://schemas.openxmlformats.org/officeDocument/2006/relationships/image" Target="../media/image222.png"/><Relationship Id="rId13" Type="http://schemas.openxmlformats.org/officeDocument/2006/relationships/image" Target="../media/image221.png"/><Relationship Id="rId12" Type="http://schemas.openxmlformats.org/officeDocument/2006/relationships/image" Target="../media/image220.png"/><Relationship Id="rId11" Type="http://schemas.openxmlformats.org/officeDocument/2006/relationships/image" Target="../media/image219.png"/><Relationship Id="rId10" Type="http://schemas.openxmlformats.org/officeDocument/2006/relationships/image" Target="../media/image218.png"/><Relationship Id="rId1" Type="http://schemas.openxmlformats.org/officeDocument/2006/relationships/image" Target="../media/image209.png"/></Relationships>
</file>

<file path=ppt/slides/_rels/slide6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36.png"/><Relationship Id="rId4" Type="http://schemas.openxmlformats.org/officeDocument/2006/relationships/image" Target="../media/image235.png"/><Relationship Id="rId3" Type="http://schemas.openxmlformats.org/officeDocument/2006/relationships/image" Target="../media/image234.png"/><Relationship Id="rId2" Type="http://schemas.openxmlformats.org/officeDocument/2006/relationships/image" Target="../media/image233.png"/><Relationship Id="rId1" Type="http://schemas.openxmlformats.org/officeDocument/2006/relationships/image" Target="../media/image232.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8.png"/><Relationship Id="rId1" Type="http://schemas.openxmlformats.org/officeDocument/2006/relationships/image" Target="../media/image237.jpe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40.jpeg"/><Relationship Id="rId1" Type="http://schemas.openxmlformats.org/officeDocument/2006/relationships/image" Target="../media/image239.png"/></Relationships>
</file>

<file path=ppt/slides/_rels/slide66.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44.png"/><Relationship Id="rId3" Type="http://schemas.openxmlformats.org/officeDocument/2006/relationships/image" Target="../media/image243.png"/><Relationship Id="rId2" Type="http://schemas.openxmlformats.org/officeDocument/2006/relationships/image" Target="../media/image242.png"/><Relationship Id="rId1" Type="http://schemas.openxmlformats.org/officeDocument/2006/relationships/image" Target="../media/image241.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45.png"/></Relationships>
</file>

<file path=ppt/slides/_rels/slide68.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251.png"/><Relationship Id="rId5" Type="http://schemas.openxmlformats.org/officeDocument/2006/relationships/image" Target="../media/image250.png"/><Relationship Id="rId4" Type="http://schemas.openxmlformats.org/officeDocument/2006/relationships/image" Target="../media/image249.png"/><Relationship Id="rId3" Type="http://schemas.openxmlformats.org/officeDocument/2006/relationships/image" Target="../media/image248.png"/><Relationship Id="rId2" Type="http://schemas.openxmlformats.org/officeDocument/2006/relationships/image" Target="../media/image247.jpeg"/><Relationship Id="rId1" Type="http://schemas.openxmlformats.org/officeDocument/2006/relationships/image" Target="../media/image246.png"/></Relationships>
</file>

<file path=ppt/slides/_rels/slide6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54.png"/><Relationship Id="rId2" Type="http://schemas.openxmlformats.org/officeDocument/2006/relationships/image" Target="../media/image253.png"/><Relationship Id="rId1" Type="http://schemas.openxmlformats.org/officeDocument/2006/relationships/image" Target="../media/image252.png"/></Relationships>
</file>

<file path=ppt/slides/_rels/slide70.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251.png"/><Relationship Id="rId5" Type="http://schemas.openxmlformats.org/officeDocument/2006/relationships/image" Target="../media/image250.png"/><Relationship Id="rId4" Type="http://schemas.openxmlformats.org/officeDocument/2006/relationships/image" Target="../media/image249.png"/><Relationship Id="rId3" Type="http://schemas.openxmlformats.org/officeDocument/2006/relationships/image" Target="../media/image248.png"/><Relationship Id="rId2" Type="http://schemas.openxmlformats.org/officeDocument/2006/relationships/image" Target="../media/image247.jpeg"/><Relationship Id="rId1" Type="http://schemas.openxmlformats.org/officeDocument/2006/relationships/image" Target="../media/image246.png"/></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56.png"/><Relationship Id="rId1" Type="http://schemas.openxmlformats.org/officeDocument/2006/relationships/image" Target="../media/image255.png"/></Relationships>
</file>

<file path=ppt/slides/_rels/slide72.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251.png"/><Relationship Id="rId5" Type="http://schemas.openxmlformats.org/officeDocument/2006/relationships/image" Target="../media/image250.png"/><Relationship Id="rId4" Type="http://schemas.openxmlformats.org/officeDocument/2006/relationships/image" Target="../media/image249.png"/><Relationship Id="rId3" Type="http://schemas.openxmlformats.org/officeDocument/2006/relationships/image" Target="../media/image248.png"/><Relationship Id="rId2" Type="http://schemas.openxmlformats.org/officeDocument/2006/relationships/image" Target="../media/image247.jpeg"/><Relationship Id="rId1" Type="http://schemas.openxmlformats.org/officeDocument/2006/relationships/image" Target="../media/image24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5.jpeg"/><Relationship Id="rId1" Type="http://schemas.openxmlformats.org/officeDocument/2006/relationships/image" Target="../media/image154.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7.png"/><Relationship Id="rId1" Type="http://schemas.openxmlformats.org/officeDocument/2006/relationships/image" Target="../media/image156.png"/></Relationships>
</file>

<file path=ppt/slides/_rels/slide8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62.jpeg"/><Relationship Id="rId4" Type="http://schemas.openxmlformats.org/officeDocument/2006/relationships/image" Target="../media/image161.png"/><Relationship Id="rId3" Type="http://schemas.openxmlformats.org/officeDocument/2006/relationships/image" Target="../media/image160.png"/><Relationship Id="rId2" Type="http://schemas.openxmlformats.org/officeDocument/2006/relationships/image" Target="../media/image159.png"/><Relationship Id="rId1" Type="http://schemas.openxmlformats.org/officeDocument/2006/relationships/image" Target="../media/image158.jpe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3.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70.png"/><Relationship Id="rId5" Type="http://schemas.openxmlformats.org/officeDocument/2006/relationships/image" Target="../media/image169.png"/><Relationship Id="rId4" Type="http://schemas.openxmlformats.org/officeDocument/2006/relationships/image" Target="../media/image168.png"/><Relationship Id="rId3" Type="http://schemas.openxmlformats.org/officeDocument/2006/relationships/image" Target="../media/image167.png"/><Relationship Id="rId2" Type="http://schemas.openxmlformats.org/officeDocument/2006/relationships/image" Target="../media/image166.png"/><Relationship Id="rId1" Type="http://schemas.openxmlformats.org/officeDocument/2006/relationships/image" Target="../media/image165.png"/></Relationships>
</file>

<file path=ppt/slides/_rels/slide8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75.png"/><Relationship Id="rId4" Type="http://schemas.openxmlformats.org/officeDocument/2006/relationships/image" Target="../media/image174.png"/><Relationship Id="rId3" Type="http://schemas.openxmlformats.org/officeDocument/2006/relationships/image" Target="../media/image173.jpeg"/><Relationship Id="rId2" Type="http://schemas.openxmlformats.org/officeDocument/2006/relationships/image" Target="../media/image172.jpeg"/><Relationship Id="rId1" Type="http://schemas.openxmlformats.org/officeDocument/2006/relationships/image" Target="../media/image171.png"/></Relationships>
</file>

<file path=ppt/slides/_rels/slide89.xml.rels><?xml version="1.0" encoding="UTF-8" standalone="yes"?>
<Relationships xmlns="http://schemas.openxmlformats.org/package/2006/relationships"><Relationship Id="rId9" Type="http://schemas.openxmlformats.org/officeDocument/2006/relationships/image" Target="../media/image173.jpeg"/><Relationship Id="rId8" Type="http://schemas.openxmlformats.org/officeDocument/2006/relationships/image" Target="../media/image183.png"/><Relationship Id="rId7" Type="http://schemas.openxmlformats.org/officeDocument/2006/relationships/image" Target="../media/image182.png"/><Relationship Id="rId6" Type="http://schemas.openxmlformats.org/officeDocument/2006/relationships/image" Target="../media/image181.png"/><Relationship Id="rId5" Type="http://schemas.openxmlformats.org/officeDocument/2006/relationships/image" Target="../media/image180.jpeg"/><Relationship Id="rId4" Type="http://schemas.openxmlformats.org/officeDocument/2006/relationships/image" Target="../media/image179.jpeg"/><Relationship Id="rId3" Type="http://schemas.openxmlformats.org/officeDocument/2006/relationships/image" Target="../media/image178.jpeg"/><Relationship Id="rId2" Type="http://schemas.openxmlformats.org/officeDocument/2006/relationships/image" Target="../media/image177.jpeg"/><Relationship Id="rId15" Type="http://schemas.openxmlformats.org/officeDocument/2006/relationships/slideLayout" Target="../slideLayouts/slideLayout2.xml"/><Relationship Id="rId14" Type="http://schemas.openxmlformats.org/officeDocument/2006/relationships/image" Target="../media/image188.png"/><Relationship Id="rId13" Type="http://schemas.openxmlformats.org/officeDocument/2006/relationships/image" Target="../media/image187.png"/><Relationship Id="rId12" Type="http://schemas.openxmlformats.org/officeDocument/2006/relationships/image" Target="../media/image186.jpeg"/><Relationship Id="rId11" Type="http://schemas.openxmlformats.org/officeDocument/2006/relationships/image" Target="../media/image185.jpeg"/><Relationship Id="rId10" Type="http://schemas.openxmlformats.org/officeDocument/2006/relationships/image" Target="../media/image184.jpeg"/><Relationship Id="rId1" Type="http://schemas.openxmlformats.org/officeDocument/2006/relationships/image" Target="../media/image176.jpe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92.png"/><Relationship Id="rId3" Type="http://schemas.openxmlformats.org/officeDocument/2006/relationships/image" Target="../media/image191.png"/><Relationship Id="rId2" Type="http://schemas.openxmlformats.org/officeDocument/2006/relationships/image" Target="../media/image190.png"/><Relationship Id="rId1" Type="http://schemas.openxmlformats.org/officeDocument/2006/relationships/image" Target="../media/image189.png"/></Relationships>
</file>

<file path=ppt/slides/_rels/slide9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98.png"/><Relationship Id="rId5" Type="http://schemas.openxmlformats.org/officeDocument/2006/relationships/image" Target="../media/image197.png"/><Relationship Id="rId4" Type="http://schemas.openxmlformats.org/officeDocument/2006/relationships/image" Target="../media/image196.png"/><Relationship Id="rId3" Type="http://schemas.openxmlformats.org/officeDocument/2006/relationships/image" Target="../media/image195.png"/><Relationship Id="rId2" Type="http://schemas.openxmlformats.org/officeDocument/2006/relationships/image" Target="../media/image194.png"/><Relationship Id="rId1" Type="http://schemas.openxmlformats.org/officeDocument/2006/relationships/image" Target="../media/image193.png"/></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9.png"/></Relationships>
</file>

<file path=ppt/slides/_rels/slide94.xml.rels><?xml version="1.0" encoding="UTF-8" standalone="yes"?>
<Relationships xmlns="http://schemas.openxmlformats.org/package/2006/relationships"><Relationship Id="rId9" Type="http://schemas.openxmlformats.org/officeDocument/2006/relationships/image" Target="../media/image208.png"/><Relationship Id="rId8" Type="http://schemas.openxmlformats.org/officeDocument/2006/relationships/image" Target="../media/image207.png"/><Relationship Id="rId7" Type="http://schemas.openxmlformats.org/officeDocument/2006/relationships/image" Target="../media/image206.png"/><Relationship Id="rId6" Type="http://schemas.openxmlformats.org/officeDocument/2006/relationships/image" Target="../media/image205.png"/><Relationship Id="rId5" Type="http://schemas.openxmlformats.org/officeDocument/2006/relationships/image" Target="../media/image204.jpeg"/><Relationship Id="rId4" Type="http://schemas.openxmlformats.org/officeDocument/2006/relationships/image" Target="../media/image203.jpeg"/><Relationship Id="rId3" Type="http://schemas.openxmlformats.org/officeDocument/2006/relationships/image" Target="../media/image202.png"/><Relationship Id="rId2" Type="http://schemas.openxmlformats.org/officeDocument/2006/relationships/image" Target="../media/image201.png"/><Relationship Id="rId10" Type="http://schemas.openxmlformats.org/officeDocument/2006/relationships/slideLayout" Target="../slideLayouts/slideLayout2.xml"/><Relationship Id="rId1" Type="http://schemas.openxmlformats.org/officeDocument/2006/relationships/image" Target="../media/image200.jpe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9" Type="http://schemas.openxmlformats.org/officeDocument/2006/relationships/image" Target="../media/image217.png"/><Relationship Id="rId8" Type="http://schemas.openxmlformats.org/officeDocument/2006/relationships/image" Target="../media/image216.png"/><Relationship Id="rId7" Type="http://schemas.openxmlformats.org/officeDocument/2006/relationships/image" Target="../media/image215.png"/><Relationship Id="rId6" Type="http://schemas.openxmlformats.org/officeDocument/2006/relationships/image" Target="../media/image214.png"/><Relationship Id="rId5" Type="http://schemas.openxmlformats.org/officeDocument/2006/relationships/image" Target="../media/image213.png"/><Relationship Id="rId4" Type="http://schemas.openxmlformats.org/officeDocument/2006/relationships/image" Target="../media/image212.png"/><Relationship Id="rId3" Type="http://schemas.openxmlformats.org/officeDocument/2006/relationships/image" Target="../media/image211.png"/><Relationship Id="rId24" Type="http://schemas.openxmlformats.org/officeDocument/2006/relationships/slideLayout" Target="../slideLayouts/slideLayout2.xml"/><Relationship Id="rId23" Type="http://schemas.openxmlformats.org/officeDocument/2006/relationships/image" Target="../media/image231.png"/><Relationship Id="rId22" Type="http://schemas.openxmlformats.org/officeDocument/2006/relationships/image" Target="../media/image230.png"/><Relationship Id="rId21" Type="http://schemas.openxmlformats.org/officeDocument/2006/relationships/image" Target="../media/image229.png"/><Relationship Id="rId20" Type="http://schemas.openxmlformats.org/officeDocument/2006/relationships/image" Target="../media/image228.png"/><Relationship Id="rId2" Type="http://schemas.openxmlformats.org/officeDocument/2006/relationships/image" Target="../media/image210.png"/><Relationship Id="rId19" Type="http://schemas.openxmlformats.org/officeDocument/2006/relationships/image" Target="../media/image227.png"/><Relationship Id="rId18" Type="http://schemas.openxmlformats.org/officeDocument/2006/relationships/image" Target="../media/image226.png"/><Relationship Id="rId17" Type="http://schemas.openxmlformats.org/officeDocument/2006/relationships/image" Target="../media/image225.png"/><Relationship Id="rId16" Type="http://schemas.openxmlformats.org/officeDocument/2006/relationships/image" Target="../media/image224.png"/><Relationship Id="rId15" Type="http://schemas.openxmlformats.org/officeDocument/2006/relationships/image" Target="../media/image223.png"/><Relationship Id="rId14" Type="http://schemas.openxmlformats.org/officeDocument/2006/relationships/image" Target="../media/image222.png"/><Relationship Id="rId13" Type="http://schemas.openxmlformats.org/officeDocument/2006/relationships/image" Target="../media/image221.png"/><Relationship Id="rId12" Type="http://schemas.openxmlformats.org/officeDocument/2006/relationships/image" Target="../media/image220.png"/><Relationship Id="rId11" Type="http://schemas.openxmlformats.org/officeDocument/2006/relationships/image" Target="../media/image219.png"/><Relationship Id="rId10" Type="http://schemas.openxmlformats.org/officeDocument/2006/relationships/image" Target="../media/image218.png"/><Relationship Id="rId1" Type="http://schemas.openxmlformats.org/officeDocument/2006/relationships/image" Target="../media/image209.png"/></Relationships>
</file>

<file path=ppt/slides/_rels/slide9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36.png"/><Relationship Id="rId4" Type="http://schemas.openxmlformats.org/officeDocument/2006/relationships/image" Target="../media/image235.png"/><Relationship Id="rId3" Type="http://schemas.openxmlformats.org/officeDocument/2006/relationships/image" Target="../media/image234.png"/><Relationship Id="rId2" Type="http://schemas.openxmlformats.org/officeDocument/2006/relationships/image" Target="../media/image233.png"/><Relationship Id="rId1" Type="http://schemas.openxmlformats.org/officeDocument/2006/relationships/image" Target="../media/image232.png"/></Relationships>
</file>

<file path=ppt/slides/_rels/slide10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8.png"/><Relationship Id="rId1" Type="http://schemas.openxmlformats.org/officeDocument/2006/relationships/image" Target="../media/image237.jpe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40.jpeg"/><Relationship Id="rId1" Type="http://schemas.openxmlformats.org/officeDocument/2006/relationships/image" Target="../media/image2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rot="21600000">
            <a:off x="0" y="0"/>
            <a:ext cx="8961119" cy="6720838"/>
          </a:xfrm>
          <a:prstGeom prst="rect">
            <a:avLst/>
          </a:prstGeom>
        </p:spPr>
      </p:pic>
      <p:sp>
        <p:nvSpPr>
          <p:cNvPr id="3" name="textbox 2"/>
          <p:cNvSpPr/>
          <p:nvPr/>
        </p:nvSpPr>
        <p:spPr>
          <a:xfrm>
            <a:off x="3558910" y="1776157"/>
            <a:ext cx="3385588" cy="480694"/>
          </a:xfrm>
          <a:prstGeom prst="rect">
            <a:avLst/>
          </a:prstGeom>
        </p:spPr>
        <p:txBody>
          <a:bodyPr vert="horz" wrap="square" lIns="0" tIns="0" rIns="0" bIns="0"/>
          <a:lstStyle/>
          <a:p>
            <a:pPr algn="l" rtl="0" eaLnBrk="0">
              <a:lnSpc>
                <a:spcPct val="95000"/>
              </a:lnSpc>
            </a:pPr>
            <a:endParaRPr lang="en-US" altLang="en-US" sz="100" dirty="0">
              <a:latin typeface="微软雅黑" panose="020B0503020204020204" charset="-122"/>
              <a:ea typeface="微软雅黑" panose="020B0503020204020204" charset="-122"/>
            </a:endParaRPr>
          </a:p>
          <a:p>
            <a:pPr marL="12700" algn="l" rtl="0" eaLnBrk="0">
              <a:lnSpc>
                <a:spcPct val="93000"/>
              </a:lnSpc>
            </a:pPr>
            <a:r>
              <a:rPr sz="3200" dirty="0">
                <a:solidFill>
                  <a:srgbClr val="00ADEF">
                    <a:alpha val="100000"/>
                  </a:srgbClr>
                </a:solidFill>
                <a:latin typeface="微软雅黑" panose="020B0503020204020204" charset="-122"/>
                <a:ea typeface="微软雅黑" panose="020B0503020204020204" charset="-122"/>
                <a:cs typeface="楷体" panose="02010609060101010101" charset="-122"/>
              </a:rPr>
              <a:t>大客户销售金经</a:t>
            </a:r>
            <a:endParaRPr lang="en-US" altLang="en-US" sz="3200" dirty="0">
              <a:latin typeface="微软雅黑" panose="020B0503020204020204" charset="-122"/>
              <a:ea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ath"/>
          <p:cNvSpPr/>
          <p:nvPr/>
        </p:nvSpPr>
        <p:spPr>
          <a:xfrm>
            <a:off x="7577327" y="2723388"/>
            <a:ext cx="140208" cy="141732"/>
          </a:xfrm>
          <a:custGeom>
            <a:avLst/>
            <a:gdLst/>
            <a:ahLst/>
            <a:cxnLst/>
            <a:rect l="0" t="0" r="0" b="0"/>
            <a:pathLst>
              <a:path w="220" h="223">
                <a:moveTo>
                  <a:pt x="106" y="73"/>
                </a:moveTo>
                <a:lnTo>
                  <a:pt x="0" y="0"/>
                </a:lnTo>
                <a:lnTo>
                  <a:pt x="0" y="73"/>
                </a:lnTo>
                <a:lnTo>
                  <a:pt x="0" y="223"/>
                </a:lnTo>
                <a:lnTo>
                  <a:pt x="32" y="190"/>
                </a:lnTo>
                <a:lnTo>
                  <a:pt x="106" y="223"/>
                </a:lnTo>
                <a:lnTo>
                  <a:pt x="106" y="190"/>
                </a:lnTo>
                <a:lnTo>
                  <a:pt x="220" y="109"/>
                </a:lnTo>
                <a:lnTo>
                  <a:pt x="179" y="73"/>
                </a:lnTo>
                <a:lnTo>
                  <a:pt x="106" y="73"/>
                </a:lnTo>
              </a:path>
            </a:pathLst>
          </a:custGeom>
          <a:solidFill>
            <a:srgbClr val="E6E6E6">
              <a:alpha val="100000"/>
            </a:srgbClr>
          </a:solidFill>
          <a:ln cap="flat">
            <a:noFill/>
            <a:prstDash val="solid"/>
            <a:miter lim="0"/>
          </a:ln>
        </p:spPr>
        <p:txBody>
          <a:bodyPr rtlCol="0"/>
          <a:lstStyle/>
          <a:p>
            <a:pPr algn="ctr"/>
            <a:endParaRPr lang="zh-CN" altLang="en-US"/>
          </a:p>
        </p:txBody>
      </p:sp>
      <p:sp>
        <p:nvSpPr>
          <p:cNvPr id="9" name="path"/>
          <p:cNvSpPr/>
          <p:nvPr/>
        </p:nvSpPr>
        <p:spPr>
          <a:xfrm>
            <a:off x="7382256" y="2887980"/>
            <a:ext cx="237743" cy="309371"/>
          </a:xfrm>
          <a:custGeom>
            <a:avLst/>
            <a:gdLst/>
            <a:ahLst/>
            <a:cxnLst/>
            <a:rect l="0" t="0" r="0" b="0"/>
            <a:pathLst>
              <a:path w="374" h="487">
                <a:moveTo>
                  <a:pt x="305" y="0"/>
                </a:moveTo>
                <a:lnTo>
                  <a:pt x="264" y="189"/>
                </a:lnTo>
                <a:lnTo>
                  <a:pt x="264" y="222"/>
                </a:lnTo>
                <a:lnTo>
                  <a:pt x="149" y="338"/>
                </a:lnTo>
                <a:lnTo>
                  <a:pt x="149" y="376"/>
                </a:lnTo>
                <a:lnTo>
                  <a:pt x="41" y="412"/>
                </a:lnTo>
                <a:lnTo>
                  <a:pt x="0" y="451"/>
                </a:lnTo>
                <a:lnTo>
                  <a:pt x="41" y="487"/>
                </a:lnTo>
                <a:lnTo>
                  <a:pt x="80" y="451"/>
                </a:lnTo>
                <a:lnTo>
                  <a:pt x="116" y="451"/>
                </a:lnTo>
                <a:lnTo>
                  <a:pt x="149" y="451"/>
                </a:lnTo>
                <a:lnTo>
                  <a:pt x="190" y="487"/>
                </a:lnTo>
                <a:lnTo>
                  <a:pt x="223" y="487"/>
                </a:lnTo>
                <a:lnTo>
                  <a:pt x="223" y="451"/>
                </a:lnTo>
                <a:lnTo>
                  <a:pt x="264" y="451"/>
                </a:lnTo>
                <a:lnTo>
                  <a:pt x="264" y="412"/>
                </a:lnTo>
                <a:lnTo>
                  <a:pt x="338" y="412"/>
                </a:lnTo>
                <a:lnTo>
                  <a:pt x="338" y="376"/>
                </a:lnTo>
                <a:lnTo>
                  <a:pt x="374" y="412"/>
                </a:lnTo>
                <a:lnTo>
                  <a:pt x="374" y="296"/>
                </a:lnTo>
                <a:lnTo>
                  <a:pt x="338" y="222"/>
                </a:lnTo>
                <a:lnTo>
                  <a:pt x="374" y="189"/>
                </a:lnTo>
                <a:lnTo>
                  <a:pt x="374" y="153"/>
                </a:lnTo>
                <a:lnTo>
                  <a:pt x="374" y="113"/>
                </a:lnTo>
                <a:lnTo>
                  <a:pt x="338" y="38"/>
                </a:lnTo>
                <a:lnTo>
                  <a:pt x="305" y="0"/>
                </a:lnTo>
              </a:path>
            </a:pathLst>
          </a:custGeom>
          <a:solidFill>
            <a:srgbClr val="E6E6E6">
              <a:alpha val="100000"/>
            </a:srgbClr>
          </a:solidFill>
          <a:ln cap="flat">
            <a:noFill/>
            <a:prstDash val="solid"/>
            <a:miter lim="0"/>
          </a:ln>
        </p:spPr>
        <p:txBody>
          <a:bodyPr rtlCol="0"/>
          <a:lstStyle/>
          <a:p>
            <a:pPr algn="ctr"/>
            <a:endParaRPr lang="zh-CN" altLang="en-US"/>
          </a:p>
        </p:txBody>
      </p:sp>
      <p:sp>
        <p:nvSpPr>
          <p:cNvPr id="10" name="path"/>
          <p:cNvSpPr/>
          <p:nvPr/>
        </p:nvSpPr>
        <p:spPr>
          <a:xfrm>
            <a:off x="7476744" y="2296668"/>
            <a:ext cx="120395" cy="405383"/>
          </a:xfrm>
          <a:custGeom>
            <a:avLst/>
            <a:gdLst/>
            <a:ahLst/>
            <a:cxnLst/>
            <a:rect l="0" t="0" r="0" b="0"/>
            <a:pathLst>
              <a:path w="189" h="638">
                <a:moveTo>
                  <a:pt x="115" y="598"/>
                </a:moveTo>
                <a:lnTo>
                  <a:pt x="115" y="638"/>
                </a:lnTo>
                <a:lnTo>
                  <a:pt x="156" y="598"/>
                </a:lnTo>
                <a:lnTo>
                  <a:pt x="189" y="638"/>
                </a:lnTo>
                <a:lnTo>
                  <a:pt x="189" y="598"/>
                </a:lnTo>
                <a:lnTo>
                  <a:pt x="156" y="556"/>
                </a:lnTo>
                <a:lnTo>
                  <a:pt x="115" y="374"/>
                </a:lnTo>
                <a:lnTo>
                  <a:pt x="156" y="374"/>
                </a:lnTo>
                <a:lnTo>
                  <a:pt x="156" y="332"/>
                </a:lnTo>
                <a:lnTo>
                  <a:pt x="74" y="259"/>
                </a:lnTo>
                <a:lnTo>
                  <a:pt x="74" y="110"/>
                </a:lnTo>
                <a:lnTo>
                  <a:pt x="41" y="35"/>
                </a:lnTo>
                <a:lnTo>
                  <a:pt x="0" y="0"/>
                </a:lnTo>
                <a:lnTo>
                  <a:pt x="41" y="74"/>
                </a:lnTo>
                <a:lnTo>
                  <a:pt x="41" y="184"/>
                </a:lnTo>
                <a:lnTo>
                  <a:pt x="74" y="448"/>
                </a:lnTo>
                <a:lnTo>
                  <a:pt x="115" y="598"/>
                </a:lnTo>
              </a:path>
            </a:pathLst>
          </a:custGeom>
          <a:solidFill>
            <a:srgbClr val="E6E6E6">
              <a:alpha val="100000"/>
            </a:srgbClr>
          </a:solidFill>
          <a:ln cap="flat">
            <a:noFill/>
            <a:prstDash val="solid"/>
            <a:miter lim="0"/>
          </a:ln>
        </p:spPr>
        <p:txBody>
          <a:bodyPr rtlCol="0"/>
          <a:lstStyle/>
          <a:p>
            <a:pPr algn="ctr"/>
            <a:endParaRPr lang="zh-CN" altLang="en-US"/>
          </a:p>
        </p:txBody>
      </p:sp>
      <p:sp>
        <p:nvSpPr>
          <p:cNvPr id="11" name="path"/>
          <p:cNvSpPr/>
          <p:nvPr/>
        </p:nvSpPr>
        <p:spPr>
          <a:xfrm>
            <a:off x="8261604" y="5757672"/>
            <a:ext cx="405383" cy="426720"/>
          </a:xfrm>
          <a:custGeom>
            <a:avLst/>
            <a:gdLst/>
            <a:ahLst/>
            <a:cxnLst/>
            <a:rect l="0" t="0" r="0" b="0"/>
            <a:pathLst>
              <a:path w="638" h="672">
                <a:moveTo>
                  <a:pt x="115" y="637"/>
                </a:moveTo>
                <a:lnTo>
                  <a:pt x="74" y="637"/>
                </a:lnTo>
                <a:lnTo>
                  <a:pt x="40" y="597"/>
                </a:lnTo>
                <a:lnTo>
                  <a:pt x="0" y="597"/>
                </a:lnTo>
                <a:lnTo>
                  <a:pt x="0" y="563"/>
                </a:lnTo>
                <a:lnTo>
                  <a:pt x="74" y="523"/>
                </a:lnTo>
                <a:lnTo>
                  <a:pt x="74" y="488"/>
                </a:lnTo>
                <a:lnTo>
                  <a:pt x="149" y="488"/>
                </a:lnTo>
                <a:lnTo>
                  <a:pt x="224" y="448"/>
                </a:lnTo>
                <a:lnTo>
                  <a:pt x="224" y="414"/>
                </a:lnTo>
                <a:lnTo>
                  <a:pt x="264" y="374"/>
                </a:lnTo>
                <a:lnTo>
                  <a:pt x="374" y="340"/>
                </a:lnTo>
                <a:lnTo>
                  <a:pt x="374" y="300"/>
                </a:lnTo>
                <a:lnTo>
                  <a:pt x="414" y="300"/>
                </a:lnTo>
                <a:lnTo>
                  <a:pt x="414" y="374"/>
                </a:lnTo>
                <a:lnTo>
                  <a:pt x="448" y="374"/>
                </a:lnTo>
                <a:lnTo>
                  <a:pt x="414" y="448"/>
                </a:lnTo>
                <a:lnTo>
                  <a:pt x="374" y="448"/>
                </a:lnTo>
                <a:lnTo>
                  <a:pt x="339" y="488"/>
                </a:lnTo>
                <a:lnTo>
                  <a:pt x="299" y="523"/>
                </a:lnTo>
                <a:lnTo>
                  <a:pt x="264" y="488"/>
                </a:lnTo>
                <a:lnTo>
                  <a:pt x="264" y="523"/>
                </a:lnTo>
                <a:lnTo>
                  <a:pt x="224" y="563"/>
                </a:lnTo>
                <a:lnTo>
                  <a:pt x="224" y="597"/>
                </a:lnTo>
                <a:lnTo>
                  <a:pt x="189" y="637"/>
                </a:lnTo>
                <a:lnTo>
                  <a:pt x="149" y="637"/>
                </a:lnTo>
                <a:lnTo>
                  <a:pt x="149" y="672"/>
                </a:lnTo>
                <a:lnTo>
                  <a:pt x="115" y="637"/>
                </a:lnTo>
                <a:lnTo>
                  <a:pt x="115" y="637"/>
                </a:lnTo>
                <a:close/>
              </a:path>
              <a:path w="638" h="672">
                <a:moveTo>
                  <a:pt x="448" y="374"/>
                </a:moveTo>
                <a:lnTo>
                  <a:pt x="448" y="339"/>
                </a:lnTo>
                <a:lnTo>
                  <a:pt x="448" y="299"/>
                </a:lnTo>
                <a:lnTo>
                  <a:pt x="489" y="264"/>
                </a:lnTo>
                <a:lnTo>
                  <a:pt x="523" y="224"/>
                </a:lnTo>
                <a:lnTo>
                  <a:pt x="523" y="190"/>
                </a:lnTo>
                <a:lnTo>
                  <a:pt x="523" y="115"/>
                </a:lnTo>
                <a:lnTo>
                  <a:pt x="523" y="74"/>
                </a:lnTo>
                <a:lnTo>
                  <a:pt x="489" y="0"/>
                </a:lnTo>
                <a:lnTo>
                  <a:pt x="523" y="74"/>
                </a:lnTo>
                <a:lnTo>
                  <a:pt x="563" y="149"/>
                </a:lnTo>
                <a:lnTo>
                  <a:pt x="598" y="190"/>
                </a:lnTo>
                <a:lnTo>
                  <a:pt x="638" y="224"/>
                </a:lnTo>
                <a:lnTo>
                  <a:pt x="638" y="190"/>
                </a:lnTo>
                <a:lnTo>
                  <a:pt x="638" y="224"/>
                </a:lnTo>
                <a:lnTo>
                  <a:pt x="638" y="264"/>
                </a:lnTo>
                <a:lnTo>
                  <a:pt x="598" y="299"/>
                </a:lnTo>
                <a:lnTo>
                  <a:pt x="563" y="339"/>
                </a:lnTo>
                <a:lnTo>
                  <a:pt x="523" y="374"/>
                </a:lnTo>
                <a:lnTo>
                  <a:pt x="489" y="374"/>
                </a:lnTo>
                <a:lnTo>
                  <a:pt x="448" y="374"/>
                </a:lnTo>
                <a:lnTo>
                  <a:pt x="448" y="374"/>
                </a:lnTo>
                <a:close/>
              </a:path>
            </a:pathLst>
          </a:custGeom>
          <a:solidFill>
            <a:srgbClr val="E6E6E6">
              <a:alpha val="100000"/>
            </a:srgbClr>
          </a:solidFill>
          <a:ln cap="flat">
            <a:noFill/>
            <a:prstDash val="solid"/>
            <a:miter lim="0"/>
          </a:ln>
        </p:spPr>
        <p:txBody>
          <a:bodyPr rtlCol="0"/>
          <a:lstStyle/>
          <a:p>
            <a:pPr algn="ctr"/>
            <a:endParaRPr lang="zh-CN" altLang="en-US"/>
          </a:p>
        </p:txBody>
      </p:sp>
      <p:sp>
        <p:nvSpPr>
          <p:cNvPr id="12" name="path"/>
          <p:cNvSpPr/>
          <p:nvPr/>
        </p:nvSpPr>
        <p:spPr>
          <a:xfrm>
            <a:off x="7360919" y="3218688"/>
            <a:ext cx="45720" cy="99060"/>
          </a:xfrm>
          <a:custGeom>
            <a:avLst/>
            <a:gdLst/>
            <a:ahLst/>
            <a:cxnLst/>
            <a:rect l="0" t="0" r="0" b="0"/>
            <a:pathLst>
              <a:path w="72" h="156">
                <a:moveTo>
                  <a:pt x="72" y="114"/>
                </a:moveTo>
                <a:lnTo>
                  <a:pt x="72" y="81"/>
                </a:lnTo>
                <a:lnTo>
                  <a:pt x="72" y="40"/>
                </a:lnTo>
                <a:lnTo>
                  <a:pt x="31" y="0"/>
                </a:lnTo>
                <a:lnTo>
                  <a:pt x="0" y="40"/>
                </a:lnTo>
                <a:lnTo>
                  <a:pt x="0" y="114"/>
                </a:lnTo>
                <a:lnTo>
                  <a:pt x="31" y="156"/>
                </a:lnTo>
                <a:lnTo>
                  <a:pt x="72" y="114"/>
                </a:lnTo>
              </a:path>
            </a:pathLst>
          </a:custGeom>
          <a:solidFill>
            <a:srgbClr val="E6E6E6">
              <a:alpha val="100000"/>
            </a:srgbClr>
          </a:solidFill>
          <a:ln cap="flat">
            <a:noFill/>
            <a:prstDash val="solid"/>
            <a:miter lim="0"/>
          </a:ln>
        </p:spPr>
        <p:txBody>
          <a:bodyPr rtlCol="0"/>
          <a:lstStyle/>
          <a:p>
            <a:pPr algn="ctr"/>
            <a:endParaRPr lang="zh-CN" altLang="en-US"/>
          </a:p>
        </p:txBody>
      </p:sp>
      <p:sp>
        <p:nvSpPr>
          <p:cNvPr id="13" name="path"/>
          <p:cNvSpPr/>
          <p:nvPr/>
        </p:nvSpPr>
        <p:spPr>
          <a:xfrm>
            <a:off x="6745223" y="4550664"/>
            <a:ext cx="257556" cy="45720"/>
          </a:xfrm>
          <a:custGeom>
            <a:avLst/>
            <a:gdLst/>
            <a:ahLst/>
            <a:cxnLst/>
            <a:rect l="0" t="0" r="0" b="0"/>
            <a:pathLst>
              <a:path w="405" h="72">
                <a:moveTo>
                  <a:pt x="73" y="0"/>
                </a:moveTo>
                <a:lnTo>
                  <a:pt x="32" y="0"/>
                </a:lnTo>
                <a:lnTo>
                  <a:pt x="0" y="31"/>
                </a:lnTo>
                <a:lnTo>
                  <a:pt x="32" y="31"/>
                </a:lnTo>
                <a:lnTo>
                  <a:pt x="73" y="72"/>
                </a:lnTo>
                <a:lnTo>
                  <a:pt x="105" y="31"/>
                </a:lnTo>
                <a:lnTo>
                  <a:pt x="146" y="31"/>
                </a:lnTo>
                <a:lnTo>
                  <a:pt x="105" y="0"/>
                </a:lnTo>
                <a:lnTo>
                  <a:pt x="73" y="0"/>
                </a:lnTo>
              </a:path>
              <a:path w="405" h="72">
                <a:moveTo>
                  <a:pt x="330" y="31"/>
                </a:moveTo>
                <a:lnTo>
                  <a:pt x="330" y="0"/>
                </a:lnTo>
                <a:lnTo>
                  <a:pt x="297" y="0"/>
                </a:lnTo>
                <a:lnTo>
                  <a:pt x="221" y="0"/>
                </a:lnTo>
                <a:lnTo>
                  <a:pt x="146" y="0"/>
                </a:lnTo>
                <a:lnTo>
                  <a:pt x="146" y="31"/>
                </a:lnTo>
                <a:lnTo>
                  <a:pt x="179" y="31"/>
                </a:lnTo>
                <a:lnTo>
                  <a:pt x="221" y="72"/>
                </a:lnTo>
                <a:lnTo>
                  <a:pt x="255" y="72"/>
                </a:lnTo>
                <a:lnTo>
                  <a:pt x="297" y="72"/>
                </a:lnTo>
                <a:lnTo>
                  <a:pt x="405" y="72"/>
                </a:lnTo>
                <a:lnTo>
                  <a:pt x="405" y="31"/>
                </a:lnTo>
                <a:lnTo>
                  <a:pt x="370" y="31"/>
                </a:lnTo>
                <a:lnTo>
                  <a:pt x="330" y="31"/>
                </a:lnTo>
              </a:path>
            </a:pathLst>
          </a:custGeom>
          <a:solidFill>
            <a:srgbClr val="E6E6E6">
              <a:alpha val="100000"/>
            </a:srgbClr>
          </a:solidFill>
          <a:ln cap="flat">
            <a:noFill/>
            <a:prstDash val="solid"/>
            <a:miter lim="0"/>
          </a:ln>
        </p:spPr>
        <p:txBody>
          <a:bodyPr rtlCol="0"/>
          <a:lstStyle/>
          <a:p>
            <a:pPr algn="ctr"/>
            <a:endParaRPr lang="zh-CN" altLang="en-US"/>
          </a:p>
        </p:txBody>
      </p:sp>
      <p:sp>
        <p:nvSpPr>
          <p:cNvPr id="14" name="path"/>
          <p:cNvSpPr/>
          <p:nvPr/>
        </p:nvSpPr>
        <p:spPr>
          <a:xfrm>
            <a:off x="6859523" y="4122420"/>
            <a:ext cx="263652" cy="353568"/>
          </a:xfrm>
          <a:custGeom>
            <a:avLst/>
            <a:gdLst/>
            <a:ahLst/>
            <a:cxnLst/>
            <a:rect l="0" t="0" r="0" b="0"/>
            <a:pathLst>
              <a:path w="415" h="556">
                <a:moveTo>
                  <a:pt x="415" y="222"/>
                </a:moveTo>
                <a:lnTo>
                  <a:pt x="376" y="183"/>
                </a:lnTo>
                <a:lnTo>
                  <a:pt x="376" y="149"/>
                </a:lnTo>
                <a:lnTo>
                  <a:pt x="376" y="110"/>
                </a:lnTo>
                <a:lnTo>
                  <a:pt x="376" y="74"/>
                </a:lnTo>
                <a:lnTo>
                  <a:pt x="376" y="0"/>
                </a:lnTo>
                <a:lnTo>
                  <a:pt x="340" y="0"/>
                </a:lnTo>
                <a:lnTo>
                  <a:pt x="301" y="0"/>
                </a:lnTo>
                <a:lnTo>
                  <a:pt x="265" y="35"/>
                </a:lnTo>
                <a:lnTo>
                  <a:pt x="265" y="110"/>
                </a:lnTo>
                <a:lnTo>
                  <a:pt x="224" y="149"/>
                </a:lnTo>
                <a:lnTo>
                  <a:pt x="150" y="183"/>
                </a:lnTo>
                <a:lnTo>
                  <a:pt x="116" y="222"/>
                </a:lnTo>
                <a:lnTo>
                  <a:pt x="116" y="258"/>
                </a:lnTo>
                <a:lnTo>
                  <a:pt x="75" y="258"/>
                </a:lnTo>
                <a:lnTo>
                  <a:pt x="41" y="258"/>
                </a:lnTo>
                <a:lnTo>
                  <a:pt x="41" y="297"/>
                </a:lnTo>
                <a:lnTo>
                  <a:pt x="0" y="333"/>
                </a:lnTo>
                <a:lnTo>
                  <a:pt x="0" y="371"/>
                </a:lnTo>
                <a:lnTo>
                  <a:pt x="0" y="407"/>
                </a:lnTo>
                <a:lnTo>
                  <a:pt x="0" y="449"/>
                </a:lnTo>
                <a:lnTo>
                  <a:pt x="41" y="449"/>
                </a:lnTo>
                <a:lnTo>
                  <a:pt x="41" y="482"/>
                </a:lnTo>
                <a:lnTo>
                  <a:pt x="41" y="523"/>
                </a:lnTo>
                <a:lnTo>
                  <a:pt x="75" y="556"/>
                </a:lnTo>
                <a:lnTo>
                  <a:pt x="116" y="556"/>
                </a:lnTo>
                <a:lnTo>
                  <a:pt x="150" y="523"/>
                </a:lnTo>
                <a:lnTo>
                  <a:pt x="224" y="523"/>
                </a:lnTo>
                <a:lnTo>
                  <a:pt x="265" y="523"/>
                </a:lnTo>
                <a:lnTo>
                  <a:pt x="301" y="482"/>
                </a:lnTo>
                <a:lnTo>
                  <a:pt x="301" y="449"/>
                </a:lnTo>
                <a:lnTo>
                  <a:pt x="301" y="407"/>
                </a:lnTo>
                <a:lnTo>
                  <a:pt x="340" y="371"/>
                </a:lnTo>
                <a:lnTo>
                  <a:pt x="340" y="333"/>
                </a:lnTo>
                <a:lnTo>
                  <a:pt x="376" y="297"/>
                </a:lnTo>
                <a:lnTo>
                  <a:pt x="415" y="258"/>
                </a:lnTo>
                <a:lnTo>
                  <a:pt x="415" y="222"/>
                </a:lnTo>
              </a:path>
            </a:pathLst>
          </a:custGeom>
          <a:solidFill>
            <a:srgbClr val="E6E6E6">
              <a:alpha val="100000"/>
            </a:srgbClr>
          </a:solidFill>
          <a:ln cap="flat">
            <a:noFill/>
            <a:prstDash val="solid"/>
            <a:miter lim="0"/>
          </a:ln>
        </p:spPr>
        <p:txBody>
          <a:bodyPr rtlCol="0"/>
          <a:lstStyle/>
          <a:p>
            <a:pPr algn="ctr"/>
            <a:endParaRPr lang="zh-CN" altLang="en-US"/>
          </a:p>
        </p:txBody>
      </p:sp>
      <p:sp>
        <p:nvSpPr>
          <p:cNvPr id="15" name="path"/>
          <p:cNvSpPr/>
          <p:nvPr/>
        </p:nvSpPr>
        <p:spPr>
          <a:xfrm>
            <a:off x="6483095" y="4216908"/>
            <a:ext cx="281940" cy="306324"/>
          </a:xfrm>
          <a:custGeom>
            <a:avLst/>
            <a:gdLst/>
            <a:ahLst/>
            <a:cxnLst/>
            <a:rect l="0" t="0" r="0" b="0"/>
            <a:pathLst>
              <a:path w="444" h="482">
                <a:moveTo>
                  <a:pt x="444" y="449"/>
                </a:moveTo>
                <a:lnTo>
                  <a:pt x="444" y="409"/>
                </a:lnTo>
                <a:lnTo>
                  <a:pt x="411" y="375"/>
                </a:lnTo>
                <a:lnTo>
                  <a:pt x="411" y="334"/>
                </a:lnTo>
                <a:lnTo>
                  <a:pt x="369" y="301"/>
                </a:lnTo>
                <a:lnTo>
                  <a:pt x="335" y="259"/>
                </a:lnTo>
                <a:lnTo>
                  <a:pt x="297" y="223"/>
                </a:lnTo>
                <a:lnTo>
                  <a:pt x="261" y="223"/>
                </a:lnTo>
                <a:lnTo>
                  <a:pt x="261" y="184"/>
                </a:lnTo>
                <a:lnTo>
                  <a:pt x="222" y="148"/>
                </a:lnTo>
                <a:lnTo>
                  <a:pt x="187" y="148"/>
                </a:lnTo>
                <a:lnTo>
                  <a:pt x="187" y="73"/>
                </a:lnTo>
                <a:lnTo>
                  <a:pt x="148" y="73"/>
                </a:lnTo>
                <a:lnTo>
                  <a:pt x="112" y="34"/>
                </a:lnTo>
                <a:lnTo>
                  <a:pt x="74" y="0"/>
                </a:lnTo>
                <a:lnTo>
                  <a:pt x="0" y="34"/>
                </a:lnTo>
                <a:lnTo>
                  <a:pt x="38" y="73"/>
                </a:lnTo>
                <a:lnTo>
                  <a:pt x="74" y="109"/>
                </a:lnTo>
                <a:lnTo>
                  <a:pt x="112" y="184"/>
                </a:lnTo>
                <a:lnTo>
                  <a:pt x="148" y="223"/>
                </a:lnTo>
                <a:lnTo>
                  <a:pt x="148" y="259"/>
                </a:lnTo>
                <a:lnTo>
                  <a:pt x="148" y="334"/>
                </a:lnTo>
                <a:lnTo>
                  <a:pt x="187" y="375"/>
                </a:lnTo>
                <a:lnTo>
                  <a:pt x="222" y="409"/>
                </a:lnTo>
                <a:lnTo>
                  <a:pt x="297" y="449"/>
                </a:lnTo>
                <a:lnTo>
                  <a:pt x="335" y="482"/>
                </a:lnTo>
                <a:lnTo>
                  <a:pt x="369" y="482"/>
                </a:lnTo>
                <a:lnTo>
                  <a:pt x="411" y="482"/>
                </a:lnTo>
                <a:lnTo>
                  <a:pt x="444" y="449"/>
                </a:lnTo>
              </a:path>
            </a:pathLst>
          </a:custGeom>
          <a:solidFill>
            <a:srgbClr val="E6E6E6">
              <a:alpha val="100000"/>
            </a:srgbClr>
          </a:solidFill>
          <a:ln cap="flat">
            <a:noFill/>
            <a:prstDash val="solid"/>
            <a:miter lim="0"/>
          </a:ln>
        </p:spPr>
        <p:txBody>
          <a:bodyPr rtlCol="0"/>
          <a:lstStyle/>
          <a:p>
            <a:pPr algn="ctr"/>
            <a:endParaRPr lang="zh-CN" altLang="en-US"/>
          </a:p>
        </p:txBody>
      </p:sp>
      <p:sp>
        <p:nvSpPr>
          <p:cNvPr id="16" name="path"/>
          <p:cNvSpPr/>
          <p:nvPr/>
        </p:nvSpPr>
        <p:spPr>
          <a:xfrm>
            <a:off x="8001000" y="4666488"/>
            <a:ext cx="144780" cy="48767"/>
          </a:xfrm>
          <a:custGeom>
            <a:avLst/>
            <a:gdLst/>
            <a:ahLst/>
            <a:cxnLst/>
            <a:rect l="0" t="0" r="0" b="0"/>
            <a:pathLst>
              <a:path w="228" h="76">
                <a:moveTo>
                  <a:pt x="185" y="0"/>
                </a:moveTo>
                <a:lnTo>
                  <a:pt x="149" y="0"/>
                </a:lnTo>
                <a:lnTo>
                  <a:pt x="110" y="41"/>
                </a:lnTo>
                <a:lnTo>
                  <a:pt x="74" y="41"/>
                </a:lnTo>
                <a:lnTo>
                  <a:pt x="74" y="0"/>
                </a:lnTo>
                <a:lnTo>
                  <a:pt x="36" y="0"/>
                </a:lnTo>
                <a:lnTo>
                  <a:pt x="0" y="0"/>
                </a:lnTo>
                <a:lnTo>
                  <a:pt x="0" y="41"/>
                </a:lnTo>
                <a:lnTo>
                  <a:pt x="36" y="76"/>
                </a:lnTo>
                <a:lnTo>
                  <a:pt x="74" y="76"/>
                </a:lnTo>
                <a:lnTo>
                  <a:pt x="110" y="76"/>
                </a:lnTo>
                <a:lnTo>
                  <a:pt x="149" y="76"/>
                </a:lnTo>
                <a:lnTo>
                  <a:pt x="185" y="76"/>
                </a:lnTo>
                <a:lnTo>
                  <a:pt x="228" y="41"/>
                </a:lnTo>
                <a:lnTo>
                  <a:pt x="185" y="0"/>
                </a:lnTo>
                <a:close/>
              </a:path>
            </a:pathLst>
          </a:custGeom>
          <a:solidFill>
            <a:srgbClr val="E6E6E6">
              <a:alpha val="100000"/>
            </a:srgbClr>
          </a:solidFill>
          <a:ln cap="flat">
            <a:noFill/>
            <a:prstDash val="solid"/>
            <a:miter lim="0"/>
          </a:ln>
        </p:spPr>
        <p:txBody>
          <a:bodyPr rtlCol="0"/>
          <a:lstStyle/>
          <a:p>
            <a:pPr algn="ctr"/>
            <a:endParaRPr lang="zh-CN" altLang="en-US"/>
          </a:p>
        </p:txBody>
      </p:sp>
      <p:sp>
        <p:nvSpPr>
          <p:cNvPr id="17" name="path"/>
          <p:cNvSpPr/>
          <p:nvPr/>
        </p:nvSpPr>
        <p:spPr>
          <a:xfrm>
            <a:off x="7504176" y="4430268"/>
            <a:ext cx="544068" cy="451104"/>
          </a:xfrm>
          <a:custGeom>
            <a:avLst/>
            <a:gdLst/>
            <a:ahLst/>
            <a:cxnLst/>
            <a:rect l="0" t="0" r="0" b="0"/>
            <a:pathLst>
              <a:path w="856" h="710">
                <a:moveTo>
                  <a:pt x="223" y="410"/>
                </a:moveTo>
                <a:lnTo>
                  <a:pt x="223" y="445"/>
                </a:lnTo>
                <a:lnTo>
                  <a:pt x="259" y="484"/>
                </a:lnTo>
                <a:lnTo>
                  <a:pt x="297" y="445"/>
                </a:lnTo>
                <a:lnTo>
                  <a:pt x="259" y="410"/>
                </a:lnTo>
                <a:lnTo>
                  <a:pt x="223" y="410"/>
                </a:lnTo>
              </a:path>
              <a:path w="856" h="710">
                <a:moveTo>
                  <a:pt x="819" y="637"/>
                </a:moveTo>
                <a:lnTo>
                  <a:pt x="744" y="562"/>
                </a:lnTo>
                <a:lnTo>
                  <a:pt x="709" y="487"/>
                </a:lnTo>
                <a:lnTo>
                  <a:pt x="744" y="448"/>
                </a:lnTo>
                <a:lnTo>
                  <a:pt x="744" y="413"/>
                </a:lnTo>
                <a:lnTo>
                  <a:pt x="709" y="371"/>
                </a:lnTo>
                <a:lnTo>
                  <a:pt x="670" y="371"/>
                </a:lnTo>
                <a:lnTo>
                  <a:pt x="670" y="338"/>
                </a:lnTo>
                <a:lnTo>
                  <a:pt x="634" y="263"/>
                </a:lnTo>
                <a:lnTo>
                  <a:pt x="561" y="223"/>
                </a:lnTo>
                <a:lnTo>
                  <a:pt x="519" y="190"/>
                </a:lnTo>
                <a:lnTo>
                  <a:pt x="480" y="190"/>
                </a:lnTo>
                <a:lnTo>
                  <a:pt x="411" y="148"/>
                </a:lnTo>
                <a:lnTo>
                  <a:pt x="370" y="115"/>
                </a:lnTo>
                <a:lnTo>
                  <a:pt x="337" y="115"/>
                </a:lnTo>
                <a:lnTo>
                  <a:pt x="258" y="148"/>
                </a:lnTo>
                <a:lnTo>
                  <a:pt x="222" y="148"/>
                </a:lnTo>
                <a:lnTo>
                  <a:pt x="183" y="148"/>
                </a:lnTo>
                <a:lnTo>
                  <a:pt x="147" y="40"/>
                </a:lnTo>
                <a:lnTo>
                  <a:pt x="114" y="0"/>
                </a:lnTo>
                <a:lnTo>
                  <a:pt x="74" y="0"/>
                </a:lnTo>
                <a:lnTo>
                  <a:pt x="0" y="40"/>
                </a:lnTo>
                <a:lnTo>
                  <a:pt x="74" y="73"/>
                </a:lnTo>
                <a:lnTo>
                  <a:pt x="74" y="115"/>
                </a:lnTo>
                <a:lnTo>
                  <a:pt x="114" y="115"/>
                </a:lnTo>
                <a:lnTo>
                  <a:pt x="147" y="115"/>
                </a:lnTo>
                <a:lnTo>
                  <a:pt x="114" y="148"/>
                </a:lnTo>
                <a:lnTo>
                  <a:pt x="74" y="190"/>
                </a:lnTo>
                <a:lnTo>
                  <a:pt x="114" y="190"/>
                </a:lnTo>
                <a:lnTo>
                  <a:pt x="147" y="190"/>
                </a:lnTo>
                <a:lnTo>
                  <a:pt x="183" y="190"/>
                </a:lnTo>
                <a:lnTo>
                  <a:pt x="258" y="223"/>
                </a:lnTo>
                <a:lnTo>
                  <a:pt x="337" y="296"/>
                </a:lnTo>
                <a:lnTo>
                  <a:pt x="337" y="338"/>
                </a:lnTo>
                <a:lnTo>
                  <a:pt x="337" y="371"/>
                </a:lnTo>
                <a:lnTo>
                  <a:pt x="297" y="371"/>
                </a:lnTo>
                <a:lnTo>
                  <a:pt x="297" y="413"/>
                </a:lnTo>
                <a:lnTo>
                  <a:pt x="337" y="413"/>
                </a:lnTo>
                <a:lnTo>
                  <a:pt x="337" y="448"/>
                </a:lnTo>
                <a:lnTo>
                  <a:pt x="337" y="487"/>
                </a:lnTo>
                <a:lnTo>
                  <a:pt x="370" y="487"/>
                </a:lnTo>
                <a:lnTo>
                  <a:pt x="411" y="523"/>
                </a:lnTo>
                <a:lnTo>
                  <a:pt x="445" y="562"/>
                </a:lnTo>
                <a:lnTo>
                  <a:pt x="480" y="523"/>
                </a:lnTo>
                <a:lnTo>
                  <a:pt x="480" y="562"/>
                </a:lnTo>
                <a:lnTo>
                  <a:pt x="519" y="562"/>
                </a:lnTo>
                <a:lnTo>
                  <a:pt x="519" y="523"/>
                </a:lnTo>
                <a:lnTo>
                  <a:pt x="480" y="487"/>
                </a:lnTo>
                <a:lnTo>
                  <a:pt x="519" y="487"/>
                </a:lnTo>
                <a:lnTo>
                  <a:pt x="561" y="487"/>
                </a:lnTo>
                <a:lnTo>
                  <a:pt x="634" y="523"/>
                </a:lnTo>
                <a:lnTo>
                  <a:pt x="670" y="562"/>
                </a:lnTo>
                <a:lnTo>
                  <a:pt x="709" y="598"/>
                </a:lnTo>
                <a:lnTo>
                  <a:pt x="744" y="637"/>
                </a:lnTo>
                <a:lnTo>
                  <a:pt x="744" y="671"/>
                </a:lnTo>
                <a:lnTo>
                  <a:pt x="819" y="710"/>
                </a:lnTo>
                <a:lnTo>
                  <a:pt x="856" y="710"/>
                </a:lnTo>
                <a:lnTo>
                  <a:pt x="819" y="671"/>
                </a:lnTo>
                <a:lnTo>
                  <a:pt x="856" y="671"/>
                </a:lnTo>
                <a:lnTo>
                  <a:pt x="819" y="637"/>
                </a:lnTo>
              </a:path>
            </a:pathLst>
          </a:custGeom>
          <a:solidFill>
            <a:srgbClr val="E6E6E6">
              <a:alpha val="100000"/>
            </a:srgbClr>
          </a:solidFill>
          <a:ln cap="flat">
            <a:noFill/>
            <a:prstDash val="solid"/>
            <a:miter lim="0"/>
          </a:ln>
        </p:spPr>
        <p:txBody>
          <a:bodyPr rtlCol="0"/>
          <a:lstStyle/>
          <a:p>
            <a:pPr algn="ctr"/>
            <a:endParaRPr lang="zh-CN" altLang="en-US"/>
          </a:p>
        </p:txBody>
      </p:sp>
      <p:sp>
        <p:nvSpPr>
          <p:cNvPr id="18" name="path"/>
          <p:cNvSpPr/>
          <p:nvPr/>
        </p:nvSpPr>
        <p:spPr>
          <a:xfrm>
            <a:off x="6576059" y="922020"/>
            <a:ext cx="169164" cy="118871"/>
          </a:xfrm>
          <a:custGeom>
            <a:avLst/>
            <a:gdLst/>
            <a:ahLst/>
            <a:cxnLst/>
            <a:rect l="0" t="0" r="0" b="0"/>
            <a:pathLst>
              <a:path w="266" h="187">
                <a:moveTo>
                  <a:pt x="39" y="150"/>
                </a:moveTo>
                <a:lnTo>
                  <a:pt x="75" y="187"/>
                </a:lnTo>
                <a:lnTo>
                  <a:pt x="114" y="187"/>
                </a:lnTo>
                <a:lnTo>
                  <a:pt x="114" y="150"/>
                </a:lnTo>
                <a:lnTo>
                  <a:pt x="189" y="150"/>
                </a:lnTo>
                <a:lnTo>
                  <a:pt x="224" y="108"/>
                </a:lnTo>
                <a:lnTo>
                  <a:pt x="150" y="74"/>
                </a:lnTo>
                <a:lnTo>
                  <a:pt x="150" y="33"/>
                </a:lnTo>
                <a:lnTo>
                  <a:pt x="224" y="108"/>
                </a:lnTo>
                <a:lnTo>
                  <a:pt x="266" y="74"/>
                </a:lnTo>
                <a:lnTo>
                  <a:pt x="266" y="33"/>
                </a:lnTo>
                <a:lnTo>
                  <a:pt x="189" y="0"/>
                </a:lnTo>
                <a:lnTo>
                  <a:pt x="150" y="0"/>
                </a:lnTo>
                <a:lnTo>
                  <a:pt x="114" y="0"/>
                </a:lnTo>
                <a:lnTo>
                  <a:pt x="75" y="33"/>
                </a:lnTo>
                <a:lnTo>
                  <a:pt x="75" y="0"/>
                </a:lnTo>
                <a:lnTo>
                  <a:pt x="39" y="0"/>
                </a:lnTo>
                <a:lnTo>
                  <a:pt x="0" y="74"/>
                </a:lnTo>
                <a:lnTo>
                  <a:pt x="39" y="108"/>
                </a:lnTo>
                <a:lnTo>
                  <a:pt x="39" y="150"/>
                </a:lnTo>
              </a:path>
            </a:pathLst>
          </a:custGeom>
          <a:solidFill>
            <a:srgbClr val="E6E6E6">
              <a:alpha val="100000"/>
            </a:srgbClr>
          </a:solidFill>
          <a:ln cap="flat">
            <a:noFill/>
            <a:prstDash val="solid"/>
            <a:miter lim="0"/>
          </a:ln>
        </p:spPr>
        <p:txBody>
          <a:bodyPr rtlCol="0"/>
          <a:lstStyle/>
          <a:p>
            <a:pPr algn="ctr"/>
            <a:endParaRPr lang="zh-CN" altLang="en-US"/>
          </a:p>
        </p:txBody>
      </p:sp>
      <p:sp>
        <p:nvSpPr>
          <p:cNvPr id="19" name="path"/>
          <p:cNvSpPr/>
          <p:nvPr/>
        </p:nvSpPr>
        <p:spPr>
          <a:xfrm>
            <a:off x="5702808" y="874776"/>
            <a:ext cx="92963" cy="143255"/>
          </a:xfrm>
          <a:custGeom>
            <a:avLst/>
            <a:gdLst/>
            <a:ahLst/>
            <a:cxnLst/>
            <a:rect l="0" t="0" r="0" b="0"/>
            <a:pathLst>
              <a:path w="146" h="225">
                <a:moveTo>
                  <a:pt x="32" y="150"/>
                </a:moveTo>
                <a:lnTo>
                  <a:pt x="32" y="225"/>
                </a:lnTo>
                <a:lnTo>
                  <a:pt x="73" y="183"/>
                </a:lnTo>
                <a:lnTo>
                  <a:pt x="146" y="183"/>
                </a:lnTo>
                <a:lnTo>
                  <a:pt x="146" y="150"/>
                </a:lnTo>
                <a:lnTo>
                  <a:pt x="146" y="109"/>
                </a:lnTo>
                <a:lnTo>
                  <a:pt x="105" y="75"/>
                </a:lnTo>
                <a:lnTo>
                  <a:pt x="73" y="33"/>
                </a:lnTo>
                <a:lnTo>
                  <a:pt x="73" y="0"/>
                </a:lnTo>
                <a:lnTo>
                  <a:pt x="32" y="33"/>
                </a:lnTo>
                <a:lnTo>
                  <a:pt x="0" y="33"/>
                </a:lnTo>
                <a:lnTo>
                  <a:pt x="0" y="75"/>
                </a:lnTo>
                <a:lnTo>
                  <a:pt x="32" y="109"/>
                </a:lnTo>
                <a:lnTo>
                  <a:pt x="32" y="150"/>
                </a:lnTo>
              </a:path>
            </a:pathLst>
          </a:custGeom>
          <a:solidFill>
            <a:srgbClr val="E6E6E6">
              <a:alpha val="100000"/>
            </a:srgbClr>
          </a:solidFill>
          <a:ln cap="flat">
            <a:noFill/>
            <a:prstDash val="solid"/>
            <a:miter lim="0"/>
          </a:ln>
        </p:spPr>
        <p:txBody>
          <a:bodyPr rtlCol="0"/>
          <a:lstStyle/>
          <a:p>
            <a:pPr algn="ctr"/>
            <a:endParaRPr lang="zh-CN" altLang="en-US"/>
          </a:p>
        </p:txBody>
      </p:sp>
      <p:sp>
        <p:nvSpPr>
          <p:cNvPr id="20" name="path"/>
          <p:cNvSpPr/>
          <p:nvPr/>
        </p:nvSpPr>
        <p:spPr>
          <a:xfrm>
            <a:off x="7883652" y="1181100"/>
            <a:ext cx="86867" cy="18288"/>
          </a:xfrm>
          <a:custGeom>
            <a:avLst/>
            <a:gdLst/>
            <a:ahLst/>
            <a:cxnLst/>
            <a:rect l="0" t="0" r="0" b="0"/>
            <a:pathLst>
              <a:path w="136" h="28">
                <a:moveTo>
                  <a:pt x="112" y="0"/>
                </a:moveTo>
                <a:lnTo>
                  <a:pt x="0" y="0"/>
                </a:lnTo>
                <a:lnTo>
                  <a:pt x="136" y="28"/>
                </a:lnTo>
                <a:lnTo>
                  <a:pt x="112" y="0"/>
                </a:lnTo>
              </a:path>
            </a:pathLst>
          </a:custGeom>
          <a:solidFill>
            <a:srgbClr val="E6E6E6">
              <a:alpha val="100000"/>
            </a:srgbClr>
          </a:solidFill>
          <a:ln cap="flat">
            <a:noFill/>
            <a:prstDash val="solid"/>
            <a:miter lim="0"/>
          </a:ln>
        </p:spPr>
        <p:txBody>
          <a:bodyPr rtlCol="0"/>
          <a:lstStyle/>
          <a:p>
            <a:pPr algn="ctr"/>
            <a:endParaRPr lang="zh-CN" altLang="en-US"/>
          </a:p>
        </p:txBody>
      </p:sp>
      <p:sp>
        <p:nvSpPr>
          <p:cNvPr id="21" name="path"/>
          <p:cNvSpPr/>
          <p:nvPr/>
        </p:nvSpPr>
        <p:spPr>
          <a:xfrm>
            <a:off x="3589020" y="2176272"/>
            <a:ext cx="284988" cy="332232"/>
          </a:xfrm>
          <a:custGeom>
            <a:avLst/>
            <a:gdLst/>
            <a:ahLst/>
            <a:cxnLst/>
            <a:rect l="0" t="0" r="0" b="0"/>
            <a:pathLst>
              <a:path w="448" h="523">
                <a:moveTo>
                  <a:pt x="300" y="299"/>
                </a:moveTo>
                <a:lnTo>
                  <a:pt x="300" y="338"/>
                </a:lnTo>
                <a:lnTo>
                  <a:pt x="258" y="338"/>
                </a:lnTo>
                <a:lnTo>
                  <a:pt x="226" y="416"/>
                </a:lnTo>
                <a:lnTo>
                  <a:pt x="226" y="449"/>
                </a:lnTo>
                <a:lnTo>
                  <a:pt x="226" y="490"/>
                </a:lnTo>
                <a:lnTo>
                  <a:pt x="184" y="490"/>
                </a:lnTo>
                <a:lnTo>
                  <a:pt x="184" y="523"/>
                </a:lnTo>
                <a:lnTo>
                  <a:pt x="226" y="523"/>
                </a:lnTo>
                <a:lnTo>
                  <a:pt x="300" y="490"/>
                </a:lnTo>
                <a:lnTo>
                  <a:pt x="300" y="523"/>
                </a:lnTo>
                <a:lnTo>
                  <a:pt x="374" y="523"/>
                </a:lnTo>
                <a:lnTo>
                  <a:pt x="374" y="490"/>
                </a:lnTo>
                <a:lnTo>
                  <a:pt x="407" y="523"/>
                </a:lnTo>
                <a:lnTo>
                  <a:pt x="407" y="490"/>
                </a:lnTo>
                <a:lnTo>
                  <a:pt x="448" y="490"/>
                </a:lnTo>
                <a:lnTo>
                  <a:pt x="407" y="449"/>
                </a:lnTo>
                <a:lnTo>
                  <a:pt x="448" y="449"/>
                </a:lnTo>
                <a:lnTo>
                  <a:pt x="448" y="416"/>
                </a:lnTo>
                <a:lnTo>
                  <a:pt x="407" y="374"/>
                </a:lnTo>
                <a:lnTo>
                  <a:pt x="407" y="338"/>
                </a:lnTo>
                <a:lnTo>
                  <a:pt x="374" y="299"/>
                </a:lnTo>
                <a:lnTo>
                  <a:pt x="407" y="262"/>
                </a:lnTo>
                <a:lnTo>
                  <a:pt x="374" y="262"/>
                </a:lnTo>
                <a:lnTo>
                  <a:pt x="333" y="262"/>
                </a:lnTo>
                <a:lnTo>
                  <a:pt x="374" y="223"/>
                </a:lnTo>
                <a:lnTo>
                  <a:pt x="333" y="223"/>
                </a:lnTo>
                <a:lnTo>
                  <a:pt x="333" y="187"/>
                </a:lnTo>
                <a:lnTo>
                  <a:pt x="300" y="148"/>
                </a:lnTo>
                <a:lnTo>
                  <a:pt x="333" y="75"/>
                </a:lnTo>
                <a:lnTo>
                  <a:pt x="300" y="75"/>
                </a:lnTo>
                <a:lnTo>
                  <a:pt x="300" y="39"/>
                </a:lnTo>
                <a:lnTo>
                  <a:pt x="258" y="39"/>
                </a:lnTo>
                <a:lnTo>
                  <a:pt x="300" y="0"/>
                </a:lnTo>
                <a:lnTo>
                  <a:pt x="226" y="0"/>
                </a:lnTo>
                <a:lnTo>
                  <a:pt x="226" y="39"/>
                </a:lnTo>
                <a:lnTo>
                  <a:pt x="226" y="75"/>
                </a:lnTo>
                <a:lnTo>
                  <a:pt x="226" y="112"/>
                </a:lnTo>
                <a:lnTo>
                  <a:pt x="184" y="112"/>
                </a:lnTo>
                <a:lnTo>
                  <a:pt x="184" y="148"/>
                </a:lnTo>
                <a:lnTo>
                  <a:pt x="226" y="148"/>
                </a:lnTo>
                <a:lnTo>
                  <a:pt x="226" y="187"/>
                </a:lnTo>
                <a:lnTo>
                  <a:pt x="226" y="223"/>
                </a:lnTo>
                <a:lnTo>
                  <a:pt x="258" y="262"/>
                </a:lnTo>
                <a:lnTo>
                  <a:pt x="300" y="299"/>
                </a:lnTo>
              </a:path>
              <a:path w="448" h="523">
                <a:moveTo>
                  <a:pt x="36" y="415"/>
                </a:moveTo>
                <a:lnTo>
                  <a:pt x="110" y="415"/>
                </a:lnTo>
                <a:lnTo>
                  <a:pt x="152" y="373"/>
                </a:lnTo>
                <a:lnTo>
                  <a:pt x="152" y="415"/>
                </a:lnTo>
                <a:lnTo>
                  <a:pt x="185" y="415"/>
                </a:lnTo>
                <a:lnTo>
                  <a:pt x="185" y="337"/>
                </a:lnTo>
                <a:lnTo>
                  <a:pt x="185" y="299"/>
                </a:lnTo>
                <a:lnTo>
                  <a:pt x="227" y="263"/>
                </a:lnTo>
                <a:lnTo>
                  <a:pt x="227" y="225"/>
                </a:lnTo>
                <a:lnTo>
                  <a:pt x="185" y="225"/>
                </a:lnTo>
                <a:lnTo>
                  <a:pt x="152" y="189"/>
                </a:lnTo>
                <a:lnTo>
                  <a:pt x="152" y="225"/>
                </a:lnTo>
                <a:lnTo>
                  <a:pt x="110" y="225"/>
                </a:lnTo>
                <a:lnTo>
                  <a:pt x="76" y="225"/>
                </a:lnTo>
                <a:lnTo>
                  <a:pt x="36" y="263"/>
                </a:lnTo>
                <a:lnTo>
                  <a:pt x="76" y="299"/>
                </a:lnTo>
                <a:lnTo>
                  <a:pt x="36" y="299"/>
                </a:lnTo>
                <a:lnTo>
                  <a:pt x="76" y="337"/>
                </a:lnTo>
                <a:lnTo>
                  <a:pt x="0" y="373"/>
                </a:lnTo>
                <a:lnTo>
                  <a:pt x="36" y="415"/>
                </a:lnTo>
              </a:path>
            </a:pathLst>
          </a:custGeom>
          <a:solidFill>
            <a:srgbClr val="E6E6E6">
              <a:alpha val="100000"/>
            </a:srgbClr>
          </a:solidFill>
          <a:ln cap="flat">
            <a:noFill/>
            <a:prstDash val="solid"/>
            <a:miter lim="0"/>
          </a:ln>
        </p:spPr>
        <p:txBody>
          <a:bodyPr rtlCol="0"/>
          <a:lstStyle/>
          <a:p>
            <a:pPr algn="ctr"/>
            <a:endParaRPr lang="zh-CN" altLang="en-US"/>
          </a:p>
        </p:txBody>
      </p:sp>
      <p:sp>
        <p:nvSpPr>
          <p:cNvPr id="22" name="path"/>
          <p:cNvSpPr/>
          <p:nvPr/>
        </p:nvSpPr>
        <p:spPr>
          <a:xfrm>
            <a:off x="4040123" y="992124"/>
            <a:ext cx="281939" cy="262127"/>
          </a:xfrm>
          <a:custGeom>
            <a:avLst/>
            <a:gdLst/>
            <a:ahLst/>
            <a:cxnLst/>
            <a:rect l="0" t="0" r="0" b="0"/>
            <a:pathLst>
              <a:path w="443" h="412">
                <a:moveTo>
                  <a:pt x="38" y="152"/>
                </a:moveTo>
                <a:lnTo>
                  <a:pt x="38" y="190"/>
                </a:lnTo>
                <a:lnTo>
                  <a:pt x="74" y="226"/>
                </a:lnTo>
                <a:lnTo>
                  <a:pt x="112" y="226"/>
                </a:lnTo>
                <a:lnTo>
                  <a:pt x="148" y="190"/>
                </a:lnTo>
                <a:lnTo>
                  <a:pt x="186" y="190"/>
                </a:lnTo>
                <a:lnTo>
                  <a:pt x="186" y="226"/>
                </a:lnTo>
                <a:lnTo>
                  <a:pt x="148" y="226"/>
                </a:lnTo>
                <a:lnTo>
                  <a:pt x="148" y="265"/>
                </a:lnTo>
                <a:lnTo>
                  <a:pt x="186" y="265"/>
                </a:lnTo>
                <a:lnTo>
                  <a:pt x="186" y="300"/>
                </a:lnTo>
                <a:lnTo>
                  <a:pt x="148" y="339"/>
                </a:lnTo>
                <a:lnTo>
                  <a:pt x="148" y="374"/>
                </a:lnTo>
                <a:lnTo>
                  <a:pt x="222" y="412"/>
                </a:lnTo>
                <a:lnTo>
                  <a:pt x="222" y="374"/>
                </a:lnTo>
                <a:lnTo>
                  <a:pt x="222" y="339"/>
                </a:lnTo>
                <a:lnTo>
                  <a:pt x="262" y="265"/>
                </a:lnTo>
                <a:lnTo>
                  <a:pt x="262" y="226"/>
                </a:lnTo>
                <a:lnTo>
                  <a:pt x="262" y="152"/>
                </a:lnTo>
                <a:lnTo>
                  <a:pt x="295" y="152"/>
                </a:lnTo>
                <a:lnTo>
                  <a:pt x="262" y="115"/>
                </a:lnTo>
                <a:lnTo>
                  <a:pt x="222" y="115"/>
                </a:lnTo>
                <a:lnTo>
                  <a:pt x="186" y="41"/>
                </a:lnTo>
                <a:lnTo>
                  <a:pt x="186" y="77"/>
                </a:lnTo>
                <a:lnTo>
                  <a:pt x="148" y="77"/>
                </a:lnTo>
                <a:lnTo>
                  <a:pt x="148" y="115"/>
                </a:lnTo>
                <a:lnTo>
                  <a:pt x="112" y="77"/>
                </a:lnTo>
                <a:lnTo>
                  <a:pt x="112" y="41"/>
                </a:lnTo>
                <a:lnTo>
                  <a:pt x="74" y="0"/>
                </a:lnTo>
                <a:lnTo>
                  <a:pt x="74" y="41"/>
                </a:lnTo>
                <a:lnTo>
                  <a:pt x="38" y="41"/>
                </a:lnTo>
                <a:lnTo>
                  <a:pt x="0" y="41"/>
                </a:lnTo>
                <a:lnTo>
                  <a:pt x="38" y="115"/>
                </a:lnTo>
                <a:lnTo>
                  <a:pt x="38" y="152"/>
                </a:lnTo>
                <a:close/>
              </a:path>
              <a:path w="443" h="412">
                <a:moveTo>
                  <a:pt x="369" y="151"/>
                </a:moveTo>
                <a:lnTo>
                  <a:pt x="369" y="115"/>
                </a:lnTo>
                <a:lnTo>
                  <a:pt x="411" y="76"/>
                </a:lnTo>
                <a:lnTo>
                  <a:pt x="443" y="76"/>
                </a:lnTo>
                <a:lnTo>
                  <a:pt x="443" y="41"/>
                </a:lnTo>
                <a:lnTo>
                  <a:pt x="443" y="0"/>
                </a:lnTo>
                <a:lnTo>
                  <a:pt x="411" y="0"/>
                </a:lnTo>
                <a:lnTo>
                  <a:pt x="336" y="41"/>
                </a:lnTo>
                <a:lnTo>
                  <a:pt x="336" y="0"/>
                </a:lnTo>
                <a:lnTo>
                  <a:pt x="295" y="41"/>
                </a:lnTo>
                <a:lnTo>
                  <a:pt x="295" y="76"/>
                </a:lnTo>
                <a:lnTo>
                  <a:pt x="295" y="115"/>
                </a:lnTo>
                <a:lnTo>
                  <a:pt x="336" y="151"/>
                </a:lnTo>
                <a:lnTo>
                  <a:pt x="369" y="151"/>
                </a:lnTo>
              </a:path>
            </a:pathLst>
          </a:custGeom>
          <a:solidFill>
            <a:srgbClr val="E6E6E6">
              <a:alpha val="100000"/>
            </a:srgbClr>
          </a:solidFill>
          <a:ln cap="flat">
            <a:noFill/>
            <a:prstDash val="solid"/>
            <a:miter lim="0"/>
          </a:ln>
        </p:spPr>
        <p:txBody>
          <a:bodyPr rtlCol="0"/>
          <a:lstStyle/>
          <a:p>
            <a:pPr algn="ctr"/>
            <a:endParaRPr lang="zh-CN" altLang="en-US"/>
          </a:p>
        </p:txBody>
      </p:sp>
      <p:sp>
        <p:nvSpPr>
          <p:cNvPr id="23" name="path"/>
          <p:cNvSpPr/>
          <p:nvPr/>
        </p:nvSpPr>
        <p:spPr>
          <a:xfrm>
            <a:off x="5439155" y="754380"/>
            <a:ext cx="216407" cy="216407"/>
          </a:xfrm>
          <a:custGeom>
            <a:avLst/>
            <a:gdLst/>
            <a:ahLst/>
            <a:cxnLst/>
            <a:rect l="0" t="0" r="0" b="0"/>
            <a:pathLst>
              <a:path w="340" h="340">
                <a:moveTo>
                  <a:pt x="111" y="189"/>
                </a:moveTo>
                <a:lnTo>
                  <a:pt x="111" y="148"/>
                </a:lnTo>
                <a:lnTo>
                  <a:pt x="111" y="115"/>
                </a:lnTo>
                <a:lnTo>
                  <a:pt x="146" y="115"/>
                </a:lnTo>
                <a:lnTo>
                  <a:pt x="146" y="74"/>
                </a:lnTo>
                <a:lnTo>
                  <a:pt x="73" y="0"/>
                </a:lnTo>
                <a:lnTo>
                  <a:pt x="37" y="41"/>
                </a:lnTo>
                <a:lnTo>
                  <a:pt x="37" y="0"/>
                </a:lnTo>
                <a:lnTo>
                  <a:pt x="0" y="74"/>
                </a:lnTo>
                <a:lnTo>
                  <a:pt x="0" y="115"/>
                </a:lnTo>
                <a:lnTo>
                  <a:pt x="73" y="148"/>
                </a:lnTo>
                <a:lnTo>
                  <a:pt x="111" y="189"/>
                </a:lnTo>
              </a:path>
              <a:path w="340" h="340">
                <a:moveTo>
                  <a:pt x="146" y="225"/>
                </a:moveTo>
                <a:lnTo>
                  <a:pt x="186" y="267"/>
                </a:lnTo>
                <a:lnTo>
                  <a:pt x="264" y="300"/>
                </a:lnTo>
                <a:lnTo>
                  <a:pt x="340" y="340"/>
                </a:lnTo>
                <a:lnTo>
                  <a:pt x="340" y="300"/>
                </a:lnTo>
                <a:lnTo>
                  <a:pt x="297" y="267"/>
                </a:lnTo>
                <a:lnTo>
                  <a:pt x="297" y="192"/>
                </a:lnTo>
                <a:lnTo>
                  <a:pt x="297" y="151"/>
                </a:lnTo>
                <a:lnTo>
                  <a:pt x="222" y="151"/>
                </a:lnTo>
                <a:lnTo>
                  <a:pt x="146" y="151"/>
                </a:lnTo>
                <a:lnTo>
                  <a:pt x="146" y="225"/>
                </a:lnTo>
              </a:path>
              <a:path w="340" h="340">
                <a:moveTo>
                  <a:pt x="112" y="222"/>
                </a:moveTo>
                <a:lnTo>
                  <a:pt x="74" y="189"/>
                </a:lnTo>
                <a:lnTo>
                  <a:pt x="0" y="222"/>
                </a:lnTo>
                <a:lnTo>
                  <a:pt x="74" y="263"/>
                </a:lnTo>
                <a:lnTo>
                  <a:pt x="112" y="222"/>
                </a:lnTo>
              </a:path>
            </a:pathLst>
          </a:custGeom>
          <a:solidFill>
            <a:srgbClr val="E6E6E6">
              <a:alpha val="100000"/>
            </a:srgbClr>
          </a:solidFill>
          <a:ln cap="flat">
            <a:noFill/>
            <a:prstDash val="solid"/>
            <a:miter lim="0"/>
          </a:ln>
        </p:spPr>
        <p:txBody>
          <a:bodyPr rtlCol="0"/>
          <a:lstStyle/>
          <a:p>
            <a:pPr algn="ctr"/>
            <a:endParaRPr lang="zh-CN" altLang="en-US"/>
          </a:p>
        </p:txBody>
      </p:sp>
      <p:sp>
        <p:nvSpPr>
          <p:cNvPr id="24" name="path"/>
          <p:cNvSpPr/>
          <p:nvPr/>
        </p:nvSpPr>
        <p:spPr>
          <a:xfrm>
            <a:off x="5386578" y="810006"/>
            <a:ext cx="3320795" cy="929639"/>
          </a:xfrm>
          <a:custGeom>
            <a:avLst/>
            <a:gdLst/>
            <a:ahLst/>
            <a:cxnLst/>
            <a:rect l="0" t="0" r="0" b="0"/>
            <a:pathLst>
              <a:path w="5229" h="1463">
                <a:moveTo>
                  <a:pt x="0" y="0"/>
                </a:moveTo>
                <a:moveTo>
                  <a:pt x="0" y="0"/>
                </a:moveTo>
                <a:lnTo>
                  <a:pt x="4985" y="0"/>
                </a:lnTo>
                <a:cubicBezTo>
                  <a:pt x="5120" y="0"/>
                  <a:pt x="5229" y="109"/>
                  <a:pt x="5229" y="243"/>
                </a:cubicBezTo>
                <a:lnTo>
                  <a:pt x="5229" y="1463"/>
                </a:lnTo>
                <a:lnTo>
                  <a:pt x="0" y="1463"/>
                </a:lnTo>
                <a:lnTo>
                  <a:pt x="0" y="0"/>
                </a:lnTo>
                <a:close/>
              </a:path>
            </a:pathLst>
          </a:custGeom>
          <a:solidFill>
            <a:srgbClr val="00ADEF">
              <a:alpha val="100000"/>
            </a:srgbClr>
          </a:solidFill>
          <a:ln cap="flat">
            <a:noFill/>
            <a:prstDash val="solid"/>
            <a:miter lim="0"/>
          </a:ln>
        </p:spPr>
        <p:txBody>
          <a:bodyPr rtlCol="0"/>
          <a:lstStyle/>
          <a:p>
            <a:pPr algn="ctr"/>
            <a:endParaRPr lang="zh-CN" altLang="en-US"/>
          </a:p>
        </p:txBody>
      </p:sp>
      <p:sp>
        <p:nvSpPr>
          <p:cNvPr id="26" name="path"/>
          <p:cNvSpPr/>
          <p:nvPr/>
        </p:nvSpPr>
        <p:spPr>
          <a:xfrm>
            <a:off x="4942332" y="1207008"/>
            <a:ext cx="236220" cy="284988"/>
          </a:xfrm>
          <a:custGeom>
            <a:avLst/>
            <a:gdLst/>
            <a:ahLst/>
            <a:cxnLst/>
            <a:rect l="0" t="0" r="0" b="0"/>
            <a:pathLst>
              <a:path w="372" h="448">
                <a:moveTo>
                  <a:pt x="35" y="448"/>
                </a:moveTo>
                <a:lnTo>
                  <a:pt x="68" y="448"/>
                </a:lnTo>
                <a:lnTo>
                  <a:pt x="109" y="333"/>
                </a:lnTo>
                <a:lnTo>
                  <a:pt x="149" y="333"/>
                </a:lnTo>
                <a:lnTo>
                  <a:pt x="182" y="300"/>
                </a:lnTo>
                <a:lnTo>
                  <a:pt x="223" y="225"/>
                </a:lnTo>
                <a:lnTo>
                  <a:pt x="330" y="150"/>
                </a:lnTo>
                <a:lnTo>
                  <a:pt x="372" y="73"/>
                </a:lnTo>
                <a:lnTo>
                  <a:pt x="330" y="34"/>
                </a:lnTo>
                <a:lnTo>
                  <a:pt x="330" y="0"/>
                </a:lnTo>
                <a:lnTo>
                  <a:pt x="297" y="34"/>
                </a:lnTo>
                <a:lnTo>
                  <a:pt x="256" y="34"/>
                </a:lnTo>
                <a:lnTo>
                  <a:pt x="182" y="109"/>
                </a:lnTo>
                <a:lnTo>
                  <a:pt x="109" y="150"/>
                </a:lnTo>
                <a:lnTo>
                  <a:pt x="109" y="225"/>
                </a:lnTo>
                <a:lnTo>
                  <a:pt x="109" y="258"/>
                </a:lnTo>
                <a:lnTo>
                  <a:pt x="68" y="258"/>
                </a:lnTo>
                <a:lnTo>
                  <a:pt x="0" y="258"/>
                </a:lnTo>
                <a:lnTo>
                  <a:pt x="0" y="300"/>
                </a:lnTo>
                <a:lnTo>
                  <a:pt x="35" y="300"/>
                </a:lnTo>
                <a:lnTo>
                  <a:pt x="0" y="375"/>
                </a:lnTo>
                <a:lnTo>
                  <a:pt x="35" y="408"/>
                </a:lnTo>
                <a:lnTo>
                  <a:pt x="0" y="448"/>
                </a:lnTo>
                <a:lnTo>
                  <a:pt x="35" y="448"/>
                </a:lnTo>
              </a:path>
            </a:pathLst>
          </a:custGeom>
          <a:solidFill>
            <a:srgbClr val="E6E6E6">
              <a:alpha val="100000"/>
            </a:srgbClr>
          </a:solidFill>
          <a:ln cap="flat">
            <a:noFill/>
            <a:prstDash val="solid"/>
            <a:miter lim="0"/>
          </a:ln>
        </p:spPr>
        <p:txBody>
          <a:bodyPr rtlCol="0"/>
          <a:lstStyle/>
          <a:p>
            <a:pPr algn="ctr"/>
            <a:endParaRPr lang="zh-CN" altLang="en-US"/>
          </a:p>
        </p:txBody>
      </p:sp>
      <p:sp>
        <p:nvSpPr>
          <p:cNvPr id="27" name="path"/>
          <p:cNvSpPr/>
          <p:nvPr/>
        </p:nvSpPr>
        <p:spPr>
          <a:xfrm>
            <a:off x="4916423" y="1513332"/>
            <a:ext cx="169164" cy="167640"/>
          </a:xfrm>
          <a:custGeom>
            <a:avLst/>
            <a:gdLst/>
            <a:ahLst/>
            <a:cxnLst/>
            <a:rect l="0" t="0" r="0" b="0"/>
            <a:pathLst>
              <a:path w="266" h="264">
                <a:moveTo>
                  <a:pt x="75" y="189"/>
                </a:moveTo>
                <a:lnTo>
                  <a:pt x="150" y="264"/>
                </a:lnTo>
                <a:lnTo>
                  <a:pt x="266" y="264"/>
                </a:lnTo>
                <a:lnTo>
                  <a:pt x="224" y="225"/>
                </a:lnTo>
                <a:lnTo>
                  <a:pt x="108" y="151"/>
                </a:lnTo>
                <a:lnTo>
                  <a:pt x="108" y="74"/>
                </a:lnTo>
                <a:lnTo>
                  <a:pt x="108" y="0"/>
                </a:lnTo>
                <a:lnTo>
                  <a:pt x="75" y="0"/>
                </a:lnTo>
                <a:lnTo>
                  <a:pt x="39" y="0"/>
                </a:lnTo>
                <a:lnTo>
                  <a:pt x="39" y="41"/>
                </a:lnTo>
                <a:lnTo>
                  <a:pt x="0" y="74"/>
                </a:lnTo>
                <a:lnTo>
                  <a:pt x="0" y="115"/>
                </a:lnTo>
                <a:lnTo>
                  <a:pt x="0" y="189"/>
                </a:lnTo>
                <a:lnTo>
                  <a:pt x="39" y="189"/>
                </a:lnTo>
                <a:lnTo>
                  <a:pt x="75" y="189"/>
                </a:lnTo>
              </a:path>
            </a:pathLst>
          </a:custGeom>
          <a:solidFill>
            <a:srgbClr val="E6E6E6">
              <a:alpha val="100000"/>
            </a:srgbClr>
          </a:solidFill>
          <a:ln cap="flat">
            <a:noFill/>
            <a:prstDash val="solid"/>
            <a:miter lim="0"/>
          </a:ln>
        </p:spPr>
        <p:txBody>
          <a:bodyPr rtlCol="0"/>
          <a:lstStyle/>
          <a:p>
            <a:pPr algn="ctr"/>
            <a:endParaRPr lang="zh-CN" altLang="en-US"/>
          </a:p>
        </p:txBody>
      </p:sp>
      <p:sp>
        <p:nvSpPr>
          <p:cNvPr id="28" name="path"/>
          <p:cNvSpPr/>
          <p:nvPr/>
        </p:nvSpPr>
        <p:spPr>
          <a:xfrm>
            <a:off x="7239000" y="3982211"/>
            <a:ext cx="121919" cy="114300"/>
          </a:xfrm>
          <a:custGeom>
            <a:avLst/>
            <a:gdLst/>
            <a:ahLst/>
            <a:cxnLst/>
            <a:rect l="0" t="0" r="0" b="0"/>
            <a:pathLst>
              <a:path w="191" h="180">
                <a:moveTo>
                  <a:pt x="116" y="32"/>
                </a:moveTo>
                <a:lnTo>
                  <a:pt x="37" y="73"/>
                </a:lnTo>
                <a:lnTo>
                  <a:pt x="0" y="73"/>
                </a:lnTo>
                <a:lnTo>
                  <a:pt x="0" y="106"/>
                </a:lnTo>
                <a:lnTo>
                  <a:pt x="37" y="106"/>
                </a:lnTo>
                <a:lnTo>
                  <a:pt x="74" y="147"/>
                </a:lnTo>
                <a:lnTo>
                  <a:pt x="74" y="180"/>
                </a:lnTo>
                <a:lnTo>
                  <a:pt x="149" y="147"/>
                </a:lnTo>
                <a:lnTo>
                  <a:pt x="191" y="73"/>
                </a:lnTo>
                <a:lnTo>
                  <a:pt x="191" y="32"/>
                </a:lnTo>
                <a:lnTo>
                  <a:pt x="191" y="0"/>
                </a:lnTo>
                <a:lnTo>
                  <a:pt x="149" y="0"/>
                </a:lnTo>
                <a:lnTo>
                  <a:pt x="116" y="32"/>
                </a:lnTo>
              </a:path>
            </a:pathLst>
          </a:custGeom>
          <a:solidFill>
            <a:srgbClr val="E6E6E6">
              <a:alpha val="100000"/>
            </a:srgbClr>
          </a:solidFill>
          <a:ln cap="flat">
            <a:noFill/>
            <a:prstDash val="solid"/>
            <a:miter lim="0"/>
          </a:ln>
        </p:spPr>
        <p:txBody>
          <a:bodyPr rtlCol="0"/>
          <a:lstStyle/>
          <a:p>
            <a:pPr algn="ctr"/>
            <a:endParaRPr lang="zh-CN" altLang="en-US"/>
          </a:p>
        </p:txBody>
      </p:sp>
      <p:sp>
        <p:nvSpPr>
          <p:cNvPr id="29" name="path"/>
          <p:cNvSpPr/>
          <p:nvPr/>
        </p:nvSpPr>
        <p:spPr>
          <a:xfrm>
            <a:off x="7123176" y="3480816"/>
            <a:ext cx="47243" cy="96012"/>
          </a:xfrm>
          <a:custGeom>
            <a:avLst/>
            <a:gdLst/>
            <a:ahLst/>
            <a:cxnLst/>
            <a:rect l="0" t="0" r="0" b="0"/>
            <a:pathLst>
              <a:path w="74" h="151">
                <a:moveTo>
                  <a:pt x="0" y="34"/>
                </a:moveTo>
                <a:lnTo>
                  <a:pt x="0" y="73"/>
                </a:lnTo>
                <a:lnTo>
                  <a:pt x="35" y="115"/>
                </a:lnTo>
                <a:lnTo>
                  <a:pt x="35" y="151"/>
                </a:lnTo>
                <a:lnTo>
                  <a:pt x="74" y="115"/>
                </a:lnTo>
                <a:lnTo>
                  <a:pt x="74" y="73"/>
                </a:lnTo>
                <a:lnTo>
                  <a:pt x="35" y="0"/>
                </a:lnTo>
                <a:lnTo>
                  <a:pt x="0" y="34"/>
                </a:lnTo>
              </a:path>
            </a:pathLst>
          </a:custGeom>
          <a:solidFill>
            <a:srgbClr val="E6E6E6">
              <a:alpha val="100000"/>
            </a:srgbClr>
          </a:solidFill>
          <a:ln cap="flat">
            <a:noFill/>
            <a:prstDash val="solid"/>
            <a:miter lim="0"/>
          </a:ln>
        </p:spPr>
        <p:txBody>
          <a:bodyPr rtlCol="0"/>
          <a:lstStyle/>
          <a:p>
            <a:pPr algn="ctr"/>
            <a:endParaRPr lang="zh-CN" altLang="en-US"/>
          </a:p>
        </p:txBody>
      </p:sp>
      <p:sp>
        <p:nvSpPr>
          <p:cNvPr id="30" name="path"/>
          <p:cNvSpPr/>
          <p:nvPr/>
        </p:nvSpPr>
        <p:spPr>
          <a:xfrm>
            <a:off x="7123176" y="4264152"/>
            <a:ext cx="152400" cy="239267"/>
          </a:xfrm>
          <a:custGeom>
            <a:avLst/>
            <a:gdLst/>
            <a:ahLst/>
            <a:cxnLst/>
            <a:rect l="0" t="0" r="0" b="0"/>
            <a:pathLst>
              <a:path w="240" h="376">
                <a:moveTo>
                  <a:pt x="109" y="0"/>
                </a:moveTo>
                <a:lnTo>
                  <a:pt x="109" y="35"/>
                </a:lnTo>
                <a:lnTo>
                  <a:pt x="73" y="74"/>
                </a:lnTo>
                <a:lnTo>
                  <a:pt x="35" y="150"/>
                </a:lnTo>
                <a:lnTo>
                  <a:pt x="35" y="186"/>
                </a:lnTo>
                <a:lnTo>
                  <a:pt x="35" y="261"/>
                </a:lnTo>
                <a:lnTo>
                  <a:pt x="0" y="303"/>
                </a:lnTo>
                <a:lnTo>
                  <a:pt x="35" y="376"/>
                </a:lnTo>
                <a:lnTo>
                  <a:pt x="73" y="376"/>
                </a:lnTo>
                <a:lnTo>
                  <a:pt x="73" y="336"/>
                </a:lnTo>
                <a:lnTo>
                  <a:pt x="73" y="261"/>
                </a:lnTo>
                <a:lnTo>
                  <a:pt x="109" y="228"/>
                </a:lnTo>
                <a:lnTo>
                  <a:pt x="147" y="228"/>
                </a:lnTo>
                <a:lnTo>
                  <a:pt x="183" y="228"/>
                </a:lnTo>
                <a:lnTo>
                  <a:pt x="183" y="186"/>
                </a:lnTo>
                <a:lnTo>
                  <a:pt x="183" y="150"/>
                </a:lnTo>
                <a:lnTo>
                  <a:pt x="204" y="105"/>
                </a:lnTo>
                <a:lnTo>
                  <a:pt x="147" y="74"/>
                </a:lnTo>
                <a:lnTo>
                  <a:pt x="220" y="35"/>
                </a:lnTo>
                <a:lnTo>
                  <a:pt x="240" y="0"/>
                </a:lnTo>
                <a:lnTo>
                  <a:pt x="183" y="0"/>
                </a:lnTo>
                <a:lnTo>
                  <a:pt x="109" y="0"/>
                </a:lnTo>
              </a:path>
            </a:pathLst>
          </a:custGeom>
          <a:solidFill>
            <a:srgbClr val="E6E6E6">
              <a:alpha val="100000"/>
            </a:srgbClr>
          </a:solidFill>
          <a:ln cap="flat">
            <a:noFill/>
            <a:prstDash val="solid"/>
            <a:miter lim="0"/>
          </a:ln>
        </p:spPr>
        <p:txBody>
          <a:bodyPr rtlCol="0"/>
          <a:lstStyle/>
          <a:p>
            <a:pPr algn="ctr"/>
            <a:endParaRPr lang="zh-CN" altLang="en-US"/>
          </a:p>
        </p:txBody>
      </p:sp>
      <p:sp>
        <p:nvSpPr>
          <p:cNvPr id="31" name="path"/>
          <p:cNvSpPr/>
          <p:nvPr/>
        </p:nvSpPr>
        <p:spPr>
          <a:xfrm>
            <a:off x="7144511" y="3720084"/>
            <a:ext cx="73152" cy="167639"/>
          </a:xfrm>
          <a:custGeom>
            <a:avLst/>
            <a:gdLst/>
            <a:ahLst/>
            <a:cxnLst/>
            <a:rect l="0" t="0" r="0" b="0"/>
            <a:pathLst>
              <a:path w="115" h="263">
                <a:moveTo>
                  <a:pt x="39" y="0"/>
                </a:moveTo>
                <a:lnTo>
                  <a:pt x="39" y="37"/>
                </a:lnTo>
                <a:lnTo>
                  <a:pt x="39" y="73"/>
                </a:lnTo>
                <a:lnTo>
                  <a:pt x="39" y="111"/>
                </a:lnTo>
                <a:lnTo>
                  <a:pt x="0" y="189"/>
                </a:lnTo>
                <a:lnTo>
                  <a:pt x="0" y="222"/>
                </a:lnTo>
                <a:lnTo>
                  <a:pt x="39" y="263"/>
                </a:lnTo>
                <a:lnTo>
                  <a:pt x="75" y="222"/>
                </a:lnTo>
                <a:lnTo>
                  <a:pt x="75" y="189"/>
                </a:lnTo>
                <a:lnTo>
                  <a:pt x="75" y="147"/>
                </a:lnTo>
                <a:lnTo>
                  <a:pt x="115" y="111"/>
                </a:lnTo>
                <a:lnTo>
                  <a:pt x="115" y="73"/>
                </a:lnTo>
                <a:lnTo>
                  <a:pt x="115" y="37"/>
                </a:lnTo>
                <a:lnTo>
                  <a:pt x="75" y="0"/>
                </a:lnTo>
                <a:lnTo>
                  <a:pt x="39" y="0"/>
                </a:lnTo>
              </a:path>
            </a:pathLst>
          </a:custGeom>
          <a:solidFill>
            <a:srgbClr val="E6E6E6">
              <a:alpha val="100000"/>
            </a:srgbClr>
          </a:solidFill>
          <a:ln cap="flat">
            <a:noFill/>
            <a:prstDash val="solid"/>
            <a:miter lim="0"/>
          </a:ln>
        </p:spPr>
        <p:txBody>
          <a:bodyPr rtlCol="0"/>
          <a:lstStyle/>
          <a:p>
            <a:pPr algn="ctr"/>
            <a:endParaRPr lang="zh-CN" altLang="en-US"/>
          </a:p>
        </p:txBody>
      </p:sp>
      <p:sp>
        <p:nvSpPr>
          <p:cNvPr id="32" name="path"/>
          <p:cNvSpPr/>
          <p:nvPr/>
        </p:nvSpPr>
        <p:spPr>
          <a:xfrm>
            <a:off x="6006083" y="4026408"/>
            <a:ext cx="73152" cy="96011"/>
          </a:xfrm>
          <a:custGeom>
            <a:avLst/>
            <a:gdLst/>
            <a:ahLst/>
            <a:cxnLst/>
            <a:rect l="0" t="0" r="0" b="0"/>
            <a:pathLst>
              <a:path w="115" h="151">
                <a:moveTo>
                  <a:pt x="39" y="0"/>
                </a:moveTo>
                <a:lnTo>
                  <a:pt x="39" y="37"/>
                </a:lnTo>
                <a:lnTo>
                  <a:pt x="0" y="78"/>
                </a:lnTo>
                <a:lnTo>
                  <a:pt x="0" y="110"/>
                </a:lnTo>
                <a:lnTo>
                  <a:pt x="39" y="151"/>
                </a:lnTo>
                <a:lnTo>
                  <a:pt x="75" y="151"/>
                </a:lnTo>
                <a:lnTo>
                  <a:pt x="115" y="110"/>
                </a:lnTo>
                <a:lnTo>
                  <a:pt x="75" y="78"/>
                </a:lnTo>
                <a:lnTo>
                  <a:pt x="39" y="0"/>
                </a:lnTo>
              </a:path>
            </a:pathLst>
          </a:custGeom>
          <a:solidFill>
            <a:srgbClr val="E6E6E6">
              <a:alpha val="100000"/>
            </a:srgbClr>
          </a:solidFill>
          <a:ln cap="flat">
            <a:noFill/>
            <a:prstDash val="solid"/>
            <a:miter lim="0"/>
          </a:ln>
        </p:spPr>
        <p:txBody>
          <a:bodyPr rtlCol="0"/>
          <a:lstStyle/>
          <a:p>
            <a:pPr algn="ctr"/>
            <a:endParaRPr lang="zh-CN" altLang="en-US"/>
          </a:p>
        </p:txBody>
      </p:sp>
      <p:sp>
        <p:nvSpPr>
          <p:cNvPr id="33" name="path"/>
          <p:cNvSpPr/>
          <p:nvPr/>
        </p:nvSpPr>
        <p:spPr>
          <a:xfrm>
            <a:off x="6792467" y="3720084"/>
            <a:ext cx="67056" cy="47244"/>
          </a:xfrm>
          <a:custGeom>
            <a:avLst/>
            <a:gdLst/>
            <a:ahLst/>
            <a:cxnLst/>
            <a:rect l="0" t="0" r="0" b="0"/>
            <a:pathLst>
              <a:path w="105" h="74">
                <a:moveTo>
                  <a:pt x="105" y="0"/>
                </a:moveTo>
                <a:lnTo>
                  <a:pt x="32" y="0"/>
                </a:lnTo>
                <a:lnTo>
                  <a:pt x="0" y="37"/>
                </a:lnTo>
                <a:lnTo>
                  <a:pt x="32" y="74"/>
                </a:lnTo>
                <a:lnTo>
                  <a:pt x="105" y="37"/>
                </a:lnTo>
                <a:lnTo>
                  <a:pt x="105" y="0"/>
                </a:lnTo>
              </a:path>
            </a:pathLst>
          </a:custGeom>
          <a:solidFill>
            <a:srgbClr val="E6E6E6">
              <a:alpha val="100000"/>
            </a:srgbClr>
          </a:solidFill>
          <a:ln cap="flat">
            <a:noFill/>
            <a:prstDash val="solid"/>
            <a:miter lim="0"/>
          </a:ln>
        </p:spPr>
        <p:txBody>
          <a:bodyPr rtlCol="0"/>
          <a:lstStyle/>
          <a:p>
            <a:pPr algn="ctr"/>
            <a:endParaRPr lang="zh-CN" altLang="en-US"/>
          </a:p>
        </p:txBody>
      </p:sp>
      <p:sp>
        <p:nvSpPr>
          <p:cNvPr id="34" name="path"/>
          <p:cNvSpPr/>
          <p:nvPr/>
        </p:nvSpPr>
        <p:spPr>
          <a:xfrm>
            <a:off x="3470148" y="992124"/>
            <a:ext cx="4837175" cy="3296411"/>
          </a:xfrm>
          <a:custGeom>
            <a:avLst/>
            <a:gdLst/>
            <a:ahLst/>
            <a:cxnLst/>
            <a:rect l="0" t="0" r="0" b="0"/>
            <a:pathLst>
              <a:path w="7617" h="5191">
                <a:moveTo>
                  <a:pt x="4706" y="5078"/>
                </a:moveTo>
                <a:lnTo>
                  <a:pt x="4744" y="5116"/>
                </a:lnTo>
                <a:lnTo>
                  <a:pt x="4744" y="5078"/>
                </a:lnTo>
                <a:lnTo>
                  <a:pt x="4706" y="5078"/>
                </a:lnTo>
              </a:path>
              <a:path w="7617" h="5191">
                <a:moveTo>
                  <a:pt x="1007" y="3249"/>
                </a:moveTo>
                <a:lnTo>
                  <a:pt x="969" y="3249"/>
                </a:lnTo>
                <a:lnTo>
                  <a:pt x="933" y="3282"/>
                </a:lnTo>
                <a:lnTo>
                  <a:pt x="933" y="3324"/>
                </a:lnTo>
                <a:lnTo>
                  <a:pt x="1007" y="3324"/>
                </a:lnTo>
                <a:lnTo>
                  <a:pt x="1043" y="3324"/>
                </a:lnTo>
                <a:lnTo>
                  <a:pt x="1043" y="3282"/>
                </a:lnTo>
                <a:lnTo>
                  <a:pt x="1082" y="3249"/>
                </a:lnTo>
                <a:lnTo>
                  <a:pt x="1043" y="3249"/>
                </a:lnTo>
                <a:lnTo>
                  <a:pt x="1007" y="3249"/>
                </a:lnTo>
              </a:path>
              <a:path w="7617" h="5191">
                <a:moveTo>
                  <a:pt x="784" y="3098"/>
                </a:moveTo>
                <a:lnTo>
                  <a:pt x="746" y="3098"/>
                </a:lnTo>
                <a:lnTo>
                  <a:pt x="710" y="3175"/>
                </a:lnTo>
                <a:lnTo>
                  <a:pt x="710" y="3208"/>
                </a:lnTo>
                <a:lnTo>
                  <a:pt x="746" y="3208"/>
                </a:lnTo>
                <a:lnTo>
                  <a:pt x="784" y="3208"/>
                </a:lnTo>
                <a:lnTo>
                  <a:pt x="820" y="3175"/>
                </a:lnTo>
                <a:lnTo>
                  <a:pt x="784" y="3175"/>
                </a:lnTo>
                <a:lnTo>
                  <a:pt x="820" y="3098"/>
                </a:lnTo>
                <a:lnTo>
                  <a:pt x="784" y="3098"/>
                </a:lnTo>
              </a:path>
              <a:path w="7617" h="5191">
                <a:moveTo>
                  <a:pt x="7468" y="565"/>
                </a:moveTo>
                <a:lnTo>
                  <a:pt x="7509" y="490"/>
                </a:lnTo>
                <a:lnTo>
                  <a:pt x="7435" y="413"/>
                </a:lnTo>
                <a:lnTo>
                  <a:pt x="7318" y="449"/>
                </a:lnTo>
                <a:lnTo>
                  <a:pt x="7209" y="374"/>
                </a:lnTo>
                <a:lnTo>
                  <a:pt x="7135" y="340"/>
                </a:lnTo>
                <a:lnTo>
                  <a:pt x="7085" y="328"/>
                </a:lnTo>
                <a:lnTo>
                  <a:pt x="7096" y="340"/>
                </a:lnTo>
                <a:lnTo>
                  <a:pt x="7060" y="340"/>
                </a:lnTo>
                <a:lnTo>
                  <a:pt x="6947" y="301"/>
                </a:lnTo>
                <a:lnTo>
                  <a:pt x="6763" y="226"/>
                </a:lnTo>
                <a:lnTo>
                  <a:pt x="6608" y="226"/>
                </a:lnTo>
                <a:lnTo>
                  <a:pt x="6497" y="301"/>
                </a:lnTo>
                <a:lnTo>
                  <a:pt x="6572" y="340"/>
                </a:lnTo>
                <a:lnTo>
                  <a:pt x="6572" y="413"/>
                </a:lnTo>
                <a:lnTo>
                  <a:pt x="6533" y="413"/>
                </a:lnTo>
                <a:lnTo>
                  <a:pt x="6465" y="340"/>
                </a:lnTo>
                <a:lnTo>
                  <a:pt x="6308" y="374"/>
                </a:lnTo>
                <a:lnTo>
                  <a:pt x="6275" y="449"/>
                </a:lnTo>
                <a:lnTo>
                  <a:pt x="6200" y="413"/>
                </a:lnTo>
                <a:lnTo>
                  <a:pt x="6126" y="413"/>
                </a:lnTo>
                <a:lnTo>
                  <a:pt x="6051" y="301"/>
                </a:lnTo>
                <a:lnTo>
                  <a:pt x="5862" y="301"/>
                </a:lnTo>
                <a:lnTo>
                  <a:pt x="5826" y="374"/>
                </a:lnTo>
                <a:lnTo>
                  <a:pt x="5751" y="340"/>
                </a:lnTo>
                <a:lnTo>
                  <a:pt x="5638" y="340"/>
                </a:lnTo>
                <a:lnTo>
                  <a:pt x="5677" y="265"/>
                </a:lnTo>
                <a:lnTo>
                  <a:pt x="5602" y="265"/>
                </a:lnTo>
                <a:lnTo>
                  <a:pt x="5454" y="374"/>
                </a:lnTo>
                <a:lnTo>
                  <a:pt x="5454" y="301"/>
                </a:lnTo>
                <a:lnTo>
                  <a:pt x="5338" y="301"/>
                </a:lnTo>
                <a:lnTo>
                  <a:pt x="5263" y="340"/>
                </a:lnTo>
                <a:lnTo>
                  <a:pt x="5338" y="413"/>
                </a:lnTo>
                <a:lnTo>
                  <a:pt x="5305" y="413"/>
                </a:lnTo>
                <a:lnTo>
                  <a:pt x="5305" y="449"/>
                </a:lnTo>
                <a:lnTo>
                  <a:pt x="5230" y="449"/>
                </a:lnTo>
                <a:lnTo>
                  <a:pt x="5188" y="449"/>
                </a:lnTo>
                <a:lnTo>
                  <a:pt x="5114" y="524"/>
                </a:lnTo>
                <a:lnTo>
                  <a:pt x="5114" y="565"/>
                </a:lnTo>
                <a:lnTo>
                  <a:pt x="5041" y="524"/>
                </a:lnTo>
                <a:lnTo>
                  <a:pt x="5005" y="490"/>
                </a:lnTo>
                <a:lnTo>
                  <a:pt x="4930" y="490"/>
                </a:lnTo>
                <a:lnTo>
                  <a:pt x="4930" y="449"/>
                </a:lnTo>
                <a:lnTo>
                  <a:pt x="4855" y="340"/>
                </a:lnTo>
                <a:lnTo>
                  <a:pt x="4742" y="340"/>
                </a:lnTo>
                <a:lnTo>
                  <a:pt x="4706" y="340"/>
                </a:lnTo>
                <a:lnTo>
                  <a:pt x="4706" y="413"/>
                </a:lnTo>
                <a:lnTo>
                  <a:pt x="4558" y="449"/>
                </a:lnTo>
                <a:lnTo>
                  <a:pt x="4558" y="413"/>
                </a:lnTo>
                <a:lnTo>
                  <a:pt x="4517" y="413"/>
                </a:lnTo>
                <a:lnTo>
                  <a:pt x="4409" y="449"/>
                </a:lnTo>
                <a:lnTo>
                  <a:pt x="4260" y="413"/>
                </a:lnTo>
                <a:lnTo>
                  <a:pt x="4260" y="490"/>
                </a:lnTo>
                <a:lnTo>
                  <a:pt x="4184" y="524"/>
                </a:lnTo>
                <a:lnTo>
                  <a:pt x="4145" y="565"/>
                </a:lnTo>
                <a:lnTo>
                  <a:pt x="4109" y="565"/>
                </a:lnTo>
                <a:lnTo>
                  <a:pt x="4184" y="413"/>
                </a:lnTo>
                <a:lnTo>
                  <a:pt x="4220" y="374"/>
                </a:lnTo>
                <a:lnTo>
                  <a:pt x="4220" y="340"/>
                </a:lnTo>
                <a:lnTo>
                  <a:pt x="4220" y="265"/>
                </a:lnTo>
                <a:lnTo>
                  <a:pt x="4184" y="190"/>
                </a:lnTo>
                <a:lnTo>
                  <a:pt x="4184" y="116"/>
                </a:lnTo>
                <a:lnTo>
                  <a:pt x="4070" y="77"/>
                </a:lnTo>
                <a:lnTo>
                  <a:pt x="3996" y="77"/>
                </a:lnTo>
                <a:lnTo>
                  <a:pt x="3960" y="77"/>
                </a:lnTo>
                <a:lnTo>
                  <a:pt x="3960" y="152"/>
                </a:lnTo>
                <a:lnTo>
                  <a:pt x="3921" y="152"/>
                </a:lnTo>
                <a:lnTo>
                  <a:pt x="3885" y="77"/>
                </a:lnTo>
                <a:lnTo>
                  <a:pt x="3810" y="41"/>
                </a:lnTo>
                <a:lnTo>
                  <a:pt x="3770" y="0"/>
                </a:lnTo>
                <a:lnTo>
                  <a:pt x="3737" y="0"/>
                </a:lnTo>
                <a:lnTo>
                  <a:pt x="3696" y="77"/>
                </a:lnTo>
                <a:lnTo>
                  <a:pt x="3696" y="116"/>
                </a:lnTo>
                <a:lnTo>
                  <a:pt x="3770" y="152"/>
                </a:lnTo>
                <a:lnTo>
                  <a:pt x="3737" y="190"/>
                </a:lnTo>
                <a:lnTo>
                  <a:pt x="3770" y="226"/>
                </a:lnTo>
                <a:lnTo>
                  <a:pt x="3737" y="226"/>
                </a:lnTo>
                <a:lnTo>
                  <a:pt x="3696" y="301"/>
                </a:lnTo>
                <a:lnTo>
                  <a:pt x="3588" y="301"/>
                </a:lnTo>
                <a:lnTo>
                  <a:pt x="3546" y="301"/>
                </a:lnTo>
                <a:lnTo>
                  <a:pt x="3513" y="301"/>
                </a:lnTo>
                <a:lnTo>
                  <a:pt x="3513" y="340"/>
                </a:lnTo>
                <a:lnTo>
                  <a:pt x="3397" y="413"/>
                </a:lnTo>
                <a:lnTo>
                  <a:pt x="3397" y="524"/>
                </a:lnTo>
                <a:lnTo>
                  <a:pt x="3439" y="598"/>
                </a:lnTo>
                <a:lnTo>
                  <a:pt x="3397" y="598"/>
                </a:lnTo>
                <a:lnTo>
                  <a:pt x="3288" y="640"/>
                </a:lnTo>
                <a:lnTo>
                  <a:pt x="3249" y="673"/>
                </a:lnTo>
                <a:lnTo>
                  <a:pt x="3288" y="788"/>
                </a:lnTo>
                <a:lnTo>
                  <a:pt x="3397" y="788"/>
                </a:lnTo>
                <a:lnTo>
                  <a:pt x="3397" y="862"/>
                </a:lnTo>
                <a:lnTo>
                  <a:pt x="3472" y="937"/>
                </a:lnTo>
                <a:lnTo>
                  <a:pt x="3513" y="1047"/>
                </a:lnTo>
                <a:lnTo>
                  <a:pt x="3439" y="973"/>
                </a:lnTo>
                <a:lnTo>
                  <a:pt x="3397" y="862"/>
                </a:lnTo>
                <a:lnTo>
                  <a:pt x="3249" y="788"/>
                </a:lnTo>
                <a:lnTo>
                  <a:pt x="3213" y="788"/>
                </a:lnTo>
                <a:lnTo>
                  <a:pt x="3213" y="821"/>
                </a:lnTo>
                <a:lnTo>
                  <a:pt x="3139" y="895"/>
                </a:lnTo>
                <a:lnTo>
                  <a:pt x="3213" y="895"/>
                </a:lnTo>
                <a:lnTo>
                  <a:pt x="3249" y="937"/>
                </a:lnTo>
                <a:lnTo>
                  <a:pt x="3139" y="937"/>
                </a:lnTo>
                <a:lnTo>
                  <a:pt x="3064" y="862"/>
                </a:lnTo>
                <a:lnTo>
                  <a:pt x="3064" y="937"/>
                </a:lnTo>
                <a:lnTo>
                  <a:pt x="3139" y="1047"/>
                </a:lnTo>
                <a:lnTo>
                  <a:pt x="3139" y="1086"/>
                </a:lnTo>
                <a:lnTo>
                  <a:pt x="3174" y="1122"/>
                </a:lnTo>
                <a:lnTo>
                  <a:pt x="3288" y="1122"/>
                </a:lnTo>
                <a:lnTo>
                  <a:pt x="3340" y="1207"/>
                </a:lnTo>
                <a:lnTo>
                  <a:pt x="3249" y="1160"/>
                </a:lnTo>
                <a:lnTo>
                  <a:pt x="3213" y="1160"/>
                </a:lnTo>
                <a:lnTo>
                  <a:pt x="3174" y="1195"/>
                </a:lnTo>
                <a:lnTo>
                  <a:pt x="3213" y="1309"/>
                </a:lnTo>
                <a:lnTo>
                  <a:pt x="3174" y="1419"/>
                </a:lnTo>
                <a:lnTo>
                  <a:pt x="3100" y="1419"/>
                </a:lnTo>
                <a:lnTo>
                  <a:pt x="3025" y="1419"/>
                </a:lnTo>
                <a:lnTo>
                  <a:pt x="3100" y="1386"/>
                </a:lnTo>
                <a:lnTo>
                  <a:pt x="3139" y="1234"/>
                </a:lnTo>
                <a:lnTo>
                  <a:pt x="3139" y="1160"/>
                </a:lnTo>
                <a:lnTo>
                  <a:pt x="2990" y="937"/>
                </a:lnTo>
                <a:lnTo>
                  <a:pt x="2951" y="821"/>
                </a:lnTo>
                <a:lnTo>
                  <a:pt x="2874" y="788"/>
                </a:lnTo>
                <a:lnTo>
                  <a:pt x="2841" y="973"/>
                </a:lnTo>
                <a:lnTo>
                  <a:pt x="2874" y="1086"/>
                </a:lnTo>
                <a:lnTo>
                  <a:pt x="2951" y="1160"/>
                </a:lnTo>
                <a:lnTo>
                  <a:pt x="2951" y="1195"/>
                </a:lnTo>
                <a:lnTo>
                  <a:pt x="2874" y="1160"/>
                </a:lnTo>
                <a:lnTo>
                  <a:pt x="2800" y="1122"/>
                </a:lnTo>
                <a:lnTo>
                  <a:pt x="2651" y="1122"/>
                </a:lnTo>
                <a:lnTo>
                  <a:pt x="2692" y="1195"/>
                </a:lnTo>
                <a:lnTo>
                  <a:pt x="2692" y="1234"/>
                </a:lnTo>
                <a:lnTo>
                  <a:pt x="2651" y="1234"/>
                </a:lnTo>
                <a:lnTo>
                  <a:pt x="2618" y="1195"/>
                </a:lnTo>
                <a:lnTo>
                  <a:pt x="2501" y="1270"/>
                </a:lnTo>
                <a:lnTo>
                  <a:pt x="2468" y="1270"/>
                </a:lnTo>
                <a:lnTo>
                  <a:pt x="2428" y="1234"/>
                </a:lnTo>
                <a:lnTo>
                  <a:pt x="2318" y="1309"/>
                </a:lnTo>
                <a:lnTo>
                  <a:pt x="2279" y="1345"/>
                </a:lnTo>
                <a:lnTo>
                  <a:pt x="2243" y="1345"/>
                </a:lnTo>
                <a:lnTo>
                  <a:pt x="2204" y="1419"/>
                </a:lnTo>
                <a:lnTo>
                  <a:pt x="2163" y="1386"/>
                </a:lnTo>
                <a:lnTo>
                  <a:pt x="2163" y="1270"/>
                </a:lnTo>
                <a:lnTo>
                  <a:pt x="2130" y="1309"/>
                </a:lnTo>
                <a:lnTo>
                  <a:pt x="2094" y="1345"/>
                </a:lnTo>
                <a:lnTo>
                  <a:pt x="2130" y="1461"/>
                </a:lnTo>
                <a:lnTo>
                  <a:pt x="2094" y="1494"/>
                </a:lnTo>
                <a:lnTo>
                  <a:pt x="2019" y="1494"/>
                </a:lnTo>
                <a:lnTo>
                  <a:pt x="1979" y="1569"/>
                </a:lnTo>
                <a:lnTo>
                  <a:pt x="1979" y="1609"/>
                </a:lnTo>
                <a:lnTo>
                  <a:pt x="1979" y="1642"/>
                </a:lnTo>
                <a:lnTo>
                  <a:pt x="1904" y="1569"/>
                </a:lnTo>
                <a:lnTo>
                  <a:pt x="1865" y="1642"/>
                </a:lnTo>
                <a:lnTo>
                  <a:pt x="1865" y="1684"/>
                </a:lnTo>
                <a:lnTo>
                  <a:pt x="1797" y="1609"/>
                </a:lnTo>
                <a:lnTo>
                  <a:pt x="1797" y="1494"/>
                </a:lnTo>
                <a:lnTo>
                  <a:pt x="1716" y="1461"/>
                </a:lnTo>
                <a:lnTo>
                  <a:pt x="1716" y="1419"/>
                </a:lnTo>
                <a:lnTo>
                  <a:pt x="1797" y="1461"/>
                </a:lnTo>
                <a:lnTo>
                  <a:pt x="1865" y="1494"/>
                </a:lnTo>
                <a:lnTo>
                  <a:pt x="1940" y="1461"/>
                </a:lnTo>
                <a:lnTo>
                  <a:pt x="1979" y="1419"/>
                </a:lnTo>
                <a:lnTo>
                  <a:pt x="1865" y="1270"/>
                </a:lnTo>
                <a:lnTo>
                  <a:pt x="1797" y="1234"/>
                </a:lnTo>
                <a:lnTo>
                  <a:pt x="1716" y="1234"/>
                </a:lnTo>
                <a:lnTo>
                  <a:pt x="1641" y="1195"/>
                </a:lnTo>
                <a:lnTo>
                  <a:pt x="1606" y="1160"/>
                </a:lnTo>
                <a:lnTo>
                  <a:pt x="1565" y="1160"/>
                </a:lnTo>
                <a:lnTo>
                  <a:pt x="1606" y="1122"/>
                </a:lnTo>
                <a:lnTo>
                  <a:pt x="1565" y="1086"/>
                </a:lnTo>
                <a:lnTo>
                  <a:pt x="1491" y="1086"/>
                </a:lnTo>
                <a:lnTo>
                  <a:pt x="1458" y="1122"/>
                </a:lnTo>
                <a:lnTo>
                  <a:pt x="1416" y="1086"/>
                </a:lnTo>
                <a:lnTo>
                  <a:pt x="1383" y="1086"/>
                </a:lnTo>
                <a:lnTo>
                  <a:pt x="1383" y="1122"/>
                </a:lnTo>
                <a:lnTo>
                  <a:pt x="1341" y="1122"/>
                </a:lnTo>
                <a:lnTo>
                  <a:pt x="1308" y="1122"/>
                </a:lnTo>
                <a:lnTo>
                  <a:pt x="1308" y="1195"/>
                </a:lnTo>
                <a:lnTo>
                  <a:pt x="1234" y="1195"/>
                </a:lnTo>
                <a:lnTo>
                  <a:pt x="1159" y="1195"/>
                </a:lnTo>
                <a:lnTo>
                  <a:pt x="1083" y="1309"/>
                </a:lnTo>
                <a:lnTo>
                  <a:pt x="1119" y="1309"/>
                </a:lnTo>
                <a:lnTo>
                  <a:pt x="1083" y="1345"/>
                </a:lnTo>
                <a:lnTo>
                  <a:pt x="1083" y="1386"/>
                </a:lnTo>
                <a:lnTo>
                  <a:pt x="1044" y="1345"/>
                </a:lnTo>
                <a:lnTo>
                  <a:pt x="1008" y="1419"/>
                </a:lnTo>
                <a:lnTo>
                  <a:pt x="1008" y="1461"/>
                </a:lnTo>
                <a:lnTo>
                  <a:pt x="934" y="1569"/>
                </a:lnTo>
                <a:lnTo>
                  <a:pt x="859" y="1642"/>
                </a:lnTo>
                <a:lnTo>
                  <a:pt x="859" y="1684"/>
                </a:lnTo>
                <a:lnTo>
                  <a:pt x="820" y="1684"/>
                </a:lnTo>
                <a:lnTo>
                  <a:pt x="820" y="1716"/>
                </a:lnTo>
                <a:lnTo>
                  <a:pt x="746" y="1791"/>
                </a:lnTo>
                <a:lnTo>
                  <a:pt x="710" y="1833"/>
                </a:lnTo>
                <a:lnTo>
                  <a:pt x="710" y="1869"/>
                </a:lnTo>
                <a:lnTo>
                  <a:pt x="710" y="1907"/>
                </a:lnTo>
                <a:lnTo>
                  <a:pt x="710" y="1943"/>
                </a:lnTo>
                <a:lnTo>
                  <a:pt x="710" y="1981"/>
                </a:lnTo>
                <a:lnTo>
                  <a:pt x="710" y="2016"/>
                </a:lnTo>
                <a:lnTo>
                  <a:pt x="710" y="2055"/>
                </a:lnTo>
                <a:lnTo>
                  <a:pt x="746" y="2091"/>
                </a:lnTo>
                <a:lnTo>
                  <a:pt x="820" y="2055"/>
                </a:lnTo>
                <a:lnTo>
                  <a:pt x="859" y="2016"/>
                </a:lnTo>
                <a:lnTo>
                  <a:pt x="934" y="1981"/>
                </a:lnTo>
                <a:lnTo>
                  <a:pt x="934" y="2055"/>
                </a:lnTo>
                <a:lnTo>
                  <a:pt x="934" y="2091"/>
                </a:lnTo>
                <a:lnTo>
                  <a:pt x="970" y="2130"/>
                </a:lnTo>
                <a:lnTo>
                  <a:pt x="970" y="2166"/>
                </a:lnTo>
                <a:lnTo>
                  <a:pt x="1008" y="2240"/>
                </a:lnTo>
                <a:lnTo>
                  <a:pt x="1044" y="2240"/>
                </a:lnTo>
                <a:lnTo>
                  <a:pt x="1044" y="2166"/>
                </a:lnTo>
                <a:lnTo>
                  <a:pt x="1083" y="2166"/>
                </a:lnTo>
                <a:lnTo>
                  <a:pt x="1119" y="2130"/>
                </a:lnTo>
                <a:lnTo>
                  <a:pt x="1119" y="2055"/>
                </a:lnTo>
                <a:lnTo>
                  <a:pt x="1119" y="2016"/>
                </a:lnTo>
                <a:lnTo>
                  <a:pt x="1119" y="1981"/>
                </a:lnTo>
                <a:lnTo>
                  <a:pt x="1159" y="1981"/>
                </a:lnTo>
                <a:lnTo>
                  <a:pt x="1192" y="1981"/>
                </a:lnTo>
                <a:lnTo>
                  <a:pt x="1192" y="1943"/>
                </a:lnTo>
                <a:lnTo>
                  <a:pt x="1119" y="1869"/>
                </a:lnTo>
                <a:lnTo>
                  <a:pt x="1159" y="1758"/>
                </a:lnTo>
                <a:lnTo>
                  <a:pt x="1234" y="1758"/>
                </a:lnTo>
                <a:lnTo>
                  <a:pt x="1267" y="1684"/>
                </a:lnTo>
                <a:lnTo>
                  <a:pt x="1308" y="1642"/>
                </a:lnTo>
                <a:lnTo>
                  <a:pt x="1308" y="1569"/>
                </a:lnTo>
                <a:lnTo>
                  <a:pt x="1383" y="1494"/>
                </a:lnTo>
                <a:lnTo>
                  <a:pt x="1416" y="1534"/>
                </a:lnTo>
                <a:lnTo>
                  <a:pt x="1458" y="1569"/>
                </a:lnTo>
                <a:lnTo>
                  <a:pt x="1416" y="1609"/>
                </a:lnTo>
                <a:lnTo>
                  <a:pt x="1341" y="1684"/>
                </a:lnTo>
                <a:lnTo>
                  <a:pt x="1341" y="1716"/>
                </a:lnTo>
                <a:lnTo>
                  <a:pt x="1308" y="1716"/>
                </a:lnTo>
                <a:lnTo>
                  <a:pt x="1308" y="1758"/>
                </a:lnTo>
                <a:lnTo>
                  <a:pt x="1308" y="1791"/>
                </a:lnTo>
                <a:lnTo>
                  <a:pt x="1341" y="1833"/>
                </a:lnTo>
                <a:lnTo>
                  <a:pt x="1308" y="1869"/>
                </a:lnTo>
                <a:lnTo>
                  <a:pt x="1308" y="1907"/>
                </a:lnTo>
                <a:lnTo>
                  <a:pt x="1341" y="1907"/>
                </a:lnTo>
                <a:lnTo>
                  <a:pt x="1416" y="1907"/>
                </a:lnTo>
                <a:lnTo>
                  <a:pt x="1565" y="1869"/>
                </a:lnTo>
                <a:lnTo>
                  <a:pt x="1606" y="1869"/>
                </a:lnTo>
                <a:lnTo>
                  <a:pt x="1641" y="1907"/>
                </a:lnTo>
                <a:lnTo>
                  <a:pt x="1680" y="1943"/>
                </a:lnTo>
                <a:lnTo>
                  <a:pt x="1641" y="1981"/>
                </a:lnTo>
                <a:lnTo>
                  <a:pt x="1606" y="2016"/>
                </a:lnTo>
                <a:lnTo>
                  <a:pt x="1641" y="1981"/>
                </a:lnTo>
                <a:lnTo>
                  <a:pt x="1565" y="1981"/>
                </a:lnTo>
                <a:lnTo>
                  <a:pt x="1532" y="1981"/>
                </a:lnTo>
                <a:lnTo>
                  <a:pt x="1458" y="2016"/>
                </a:lnTo>
                <a:lnTo>
                  <a:pt x="1416" y="2016"/>
                </a:lnTo>
                <a:lnTo>
                  <a:pt x="1416" y="2091"/>
                </a:lnTo>
                <a:lnTo>
                  <a:pt x="1416" y="2130"/>
                </a:lnTo>
                <a:lnTo>
                  <a:pt x="1341" y="2130"/>
                </a:lnTo>
                <a:lnTo>
                  <a:pt x="1308" y="2166"/>
                </a:lnTo>
                <a:lnTo>
                  <a:pt x="1308" y="2205"/>
                </a:lnTo>
                <a:lnTo>
                  <a:pt x="1308" y="2240"/>
                </a:lnTo>
                <a:lnTo>
                  <a:pt x="1308" y="2282"/>
                </a:lnTo>
                <a:lnTo>
                  <a:pt x="1267" y="2315"/>
                </a:lnTo>
                <a:lnTo>
                  <a:pt x="1308" y="2315"/>
                </a:lnTo>
                <a:lnTo>
                  <a:pt x="1383" y="2355"/>
                </a:lnTo>
                <a:lnTo>
                  <a:pt x="1341" y="2355"/>
                </a:lnTo>
                <a:lnTo>
                  <a:pt x="1267" y="2315"/>
                </a:lnTo>
                <a:lnTo>
                  <a:pt x="1234" y="2315"/>
                </a:lnTo>
                <a:lnTo>
                  <a:pt x="1159" y="2315"/>
                </a:lnTo>
                <a:lnTo>
                  <a:pt x="1044" y="2355"/>
                </a:lnTo>
                <a:lnTo>
                  <a:pt x="970" y="2355"/>
                </a:lnTo>
                <a:lnTo>
                  <a:pt x="895" y="2355"/>
                </a:lnTo>
                <a:lnTo>
                  <a:pt x="859" y="2315"/>
                </a:lnTo>
                <a:lnTo>
                  <a:pt x="859" y="2240"/>
                </a:lnTo>
                <a:lnTo>
                  <a:pt x="895" y="2205"/>
                </a:lnTo>
                <a:lnTo>
                  <a:pt x="895" y="2166"/>
                </a:lnTo>
                <a:lnTo>
                  <a:pt x="859" y="2091"/>
                </a:lnTo>
                <a:lnTo>
                  <a:pt x="820" y="2166"/>
                </a:lnTo>
                <a:lnTo>
                  <a:pt x="820" y="2205"/>
                </a:lnTo>
                <a:lnTo>
                  <a:pt x="820" y="2282"/>
                </a:lnTo>
                <a:lnTo>
                  <a:pt x="820" y="2315"/>
                </a:lnTo>
                <a:lnTo>
                  <a:pt x="820" y="2355"/>
                </a:lnTo>
                <a:lnTo>
                  <a:pt x="785" y="2355"/>
                </a:lnTo>
                <a:lnTo>
                  <a:pt x="746" y="2388"/>
                </a:lnTo>
                <a:lnTo>
                  <a:pt x="670" y="2388"/>
                </a:lnTo>
                <a:lnTo>
                  <a:pt x="670" y="2430"/>
                </a:lnTo>
                <a:lnTo>
                  <a:pt x="637" y="2463"/>
                </a:lnTo>
                <a:lnTo>
                  <a:pt x="595" y="2463"/>
                </a:lnTo>
                <a:lnTo>
                  <a:pt x="595" y="2505"/>
                </a:lnTo>
                <a:lnTo>
                  <a:pt x="562" y="2505"/>
                </a:lnTo>
                <a:lnTo>
                  <a:pt x="520" y="2538"/>
                </a:lnTo>
                <a:lnTo>
                  <a:pt x="446" y="2579"/>
                </a:lnTo>
                <a:lnTo>
                  <a:pt x="413" y="2579"/>
                </a:lnTo>
                <a:lnTo>
                  <a:pt x="338" y="2612"/>
                </a:lnTo>
                <a:lnTo>
                  <a:pt x="297" y="2654"/>
                </a:lnTo>
                <a:lnTo>
                  <a:pt x="264" y="2654"/>
                </a:lnTo>
                <a:lnTo>
                  <a:pt x="264" y="2687"/>
                </a:lnTo>
                <a:lnTo>
                  <a:pt x="297" y="2687"/>
                </a:lnTo>
                <a:lnTo>
                  <a:pt x="338" y="2729"/>
                </a:lnTo>
                <a:lnTo>
                  <a:pt x="338" y="2763"/>
                </a:lnTo>
                <a:lnTo>
                  <a:pt x="338" y="2876"/>
                </a:lnTo>
                <a:lnTo>
                  <a:pt x="297" y="2912"/>
                </a:lnTo>
                <a:lnTo>
                  <a:pt x="264" y="2912"/>
                </a:lnTo>
                <a:lnTo>
                  <a:pt x="223" y="2912"/>
                </a:lnTo>
                <a:lnTo>
                  <a:pt x="187" y="2876"/>
                </a:lnTo>
                <a:lnTo>
                  <a:pt x="113" y="2912"/>
                </a:lnTo>
                <a:lnTo>
                  <a:pt x="74" y="2912"/>
                </a:lnTo>
                <a:lnTo>
                  <a:pt x="38" y="2912"/>
                </a:lnTo>
                <a:lnTo>
                  <a:pt x="38" y="2987"/>
                </a:lnTo>
                <a:lnTo>
                  <a:pt x="38" y="3062"/>
                </a:lnTo>
                <a:lnTo>
                  <a:pt x="38" y="3136"/>
                </a:lnTo>
                <a:lnTo>
                  <a:pt x="0" y="3176"/>
                </a:lnTo>
                <a:lnTo>
                  <a:pt x="38" y="3251"/>
                </a:lnTo>
                <a:lnTo>
                  <a:pt x="0" y="3326"/>
                </a:lnTo>
                <a:lnTo>
                  <a:pt x="74" y="3326"/>
                </a:lnTo>
                <a:lnTo>
                  <a:pt x="113" y="3326"/>
                </a:lnTo>
                <a:lnTo>
                  <a:pt x="149" y="3400"/>
                </a:lnTo>
                <a:lnTo>
                  <a:pt x="223" y="3359"/>
                </a:lnTo>
                <a:lnTo>
                  <a:pt x="297" y="3400"/>
                </a:lnTo>
                <a:lnTo>
                  <a:pt x="338" y="3359"/>
                </a:lnTo>
                <a:lnTo>
                  <a:pt x="371" y="3326"/>
                </a:lnTo>
                <a:lnTo>
                  <a:pt x="413" y="3251"/>
                </a:lnTo>
                <a:lnTo>
                  <a:pt x="487" y="3136"/>
                </a:lnTo>
                <a:lnTo>
                  <a:pt x="562" y="3062"/>
                </a:lnTo>
                <a:lnTo>
                  <a:pt x="562" y="2987"/>
                </a:lnTo>
                <a:lnTo>
                  <a:pt x="595" y="2987"/>
                </a:lnTo>
                <a:lnTo>
                  <a:pt x="595" y="2951"/>
                </a:lnTo>
                <a:lnTo>
                  <a:pt x="670" y="2951"/>
                </a:lnTo>
                <a:lnTo>
                  <a:pt x="710" y="2912"/>
                </a:lnTo>
                <a:lnTo>
                  <a:pt x="746" y="2912"/>
                </a:lnTo>
                <a:lnTo>
                  <a:pt x="820" y="2912"/>
                </a:lnTo>
                <a:lnTo>
                  <a:pt x="859" y="2912"/>
                </a:lnTo>
                <a:lnTo>
                  <a:pt x="895" y="2951"/>
                </a:lnTo>
                <a:lnTo>
                  <a:pt x="895" y="2987"/>
                </a:lnTo>
                <a:lnTo>
                  <a:pt x="1008" y="3100"/>
                </a:lnTo>
                <a:lnTo>
                  <a:pt x="1044" y="3100"/>
                </a:lnTo>
                <a:lnTo>
                  <a:pt x="1083" y="3136"/>
                </a:lnTo>
                <a:lnTo>
                  <a:pt x="1119" y="3176"/>
                </a:lnTo>
                <a:lnTo>
                  <a:pt x="1083" y="3210"/>
                </a:lnTo>
                <a:lnTo>
                  <a:pt x="1083" y="3251"/>
                </a:lnTo>
                <a:lnTo>
                  <a:pt x="1159" y="3210"/>
                </a:lnTo>
                <a:lnTo>
                  <a:pt x="1119" y="3136"/>
                </a:lnTo>
                <a:lnTo>
                  <a:pt x="1119" y="3100"/>
                </a:lnTo>
                <a:lnTo>
                  <a:pt x="1159" y="3136"/>
                </a:lnTo>
                <a:lnTo>
                  <a:pt x="1192" y="3176"/>
                </a:lnTo>
                <a:lnTo>
                  <a:pt x="1192" y="3136"/>
                </a:lnTo>
                <a:lnTo>
                  <a:pt x="1119" y="3062"/>
                </a:lnTo>
                <a:lnTo>
                  <a:pt x="1083" y="3026"/>
                </a:lnTo>
                <a:lnTo>
                  <a:pt x="1044" y="2987"/>
                </a:lnTo>
                <a:lnTo>
                  <a:pt x="1008" y="2987"/>
                </a:lnTo>
                <a:lnTo>
                  <a:pt x="970" y="2912"/>
                </a:lnTo>
                <a:lnTo>
                  <a:pt x="934" y="2912"/>
                </a:lnTo>
                <a:lnTo>
                  <a:pt x="934" y="2876"/>
                </a:lnTo>
                <a:lnTo>
                  <a:pt x="934" y="2838"/>
                </a:lnTo>
                <a:lnTo>
                  <a:pt x="970" y="2838"/>
                </a:lnTo>
                <a:lnTo>
                  <a:pt x="1008" y="2876"/>
                </a:lnTo>
                <a:lnTo>
                  <a:pt x="1083" y="2876"/>
                </a:lnTo>
                <a:lnTo>
                  <a:pt x="1083" y="2912"/>
                </a:lnTo>
                <a:lnTo>
                  <a:pt x="1119" y="2951"/>
                </a:lnTo>
                <a:lnTo>
                  <a:pt x="1159" y="2987"/>
                </a:lnTo>
                <a:lnTo>
                  <a:pt x="1234" y="2987"/>
                </a:lnTo>
                <a:lnTo>
                  <a:pt x="1267" y="3026"/>
                </a:lnTo>
                <a:lnTo>
                  <a:pt x="1267" y="3062"/>
                </a:lnTo>
                <a:lnTo>
                  <a:pt x="1267" y="3136"/>
                </a:lnTo>
                <a:lnTo>
                  <a:pt x="1308" y="3136"/>
                </a:lnTo>
                <a:lnTo>
                  <a:pt x="1341" y="3136"/>
                </a:lnTo>
                <a:lnTo>
                  <a:pt x="1341" y="3176"/>
                </a:lnTo>
                <a:lnTo>
                  <a:pt x="1341" y="3210"/>
                </a:lnTo>
                <a:lnTo>
                  <a:pt x="1416" y="3284"/>
                </a:lnTo>
                <a:lnTo>
                  <a:pt x="1458" y="3284"/>
                </a:lnTo>
                <a:lnTo>
                  <a:pt x="1416" y="3251"/>
                </a:lnTo>
                <a:lnTo>
                  <a:pt x="1383" y="3210"/>
                </a:lnTo>
                <a:lnTo>
                  <a:pt x="1383" y="3176"/>
                </a:lnTo>
                <a:lnTo>
                  <a:pt x="1458" y="3176"/>
                </a:lnTo>
                <a:lnTo>
                  <a:pt x="1383" y="3136"/>
                </a:lnTo>
                <a:lnTo>
                  <a:pt x="1416" y="3136"/>
                </a:lnTo>
                <a:lnTo>
                  <a:pt x="1458" y="3176"/>
                </a:lnTo>
                <a:lnTo>
                  <a:pt x="1458" y="3136"/>
                </a:lnTo>
                <a:lnTo>
                  <a:pt x="1491" y="3136"/>
                </a:lnTo>
                <a:lnTo>
                  <a:pt x="1532" y="3136"/>
                </a:lnTo>
                <a:lnTo>
                  <a:pt x="1565" y="3100"/>
                </a:lnTo>
                <a:lnTo>
                  <a:pt x="1565" y="3062"/>
                </a:lnTo>
                <a:lnTo>
                  <a:pt x="1606" y="3062"/>
                </a:lnTo>
                <a:lnTo>
                  <a:pt x="1641" y="3026"/>
                </a:lnTo>
                <a:lnTo>
                  <a:pt x="1606" y="2987"/>
                </a:lnTo>
                <a:lnTo>
                  <a:pt x="1641" y="2951"/>
                </a:lnTo>
                <a:lnTo>
                  <a:pt x="1641" y="2912"/>
                </a:lnTo>
                <a:lnTo>
                  <a:pt x="1641" y="2876"/>
                </a:lnTo>
                <a:lnTo>
                  <a:pt x="1680" y="2876"/>
                </a:lnTo>
                <a:lnTo>
                  <a:pt x="1716" y="2876"/>
                </a:lnTo>
                <a:lnTo>
                  <a:pt x="1755" y="2802"/>
                </a:lnTo>
                <a:lnTo>
                  <a:pt x="1791" y="2802"/>
                </a:lnTo>
                <a:lnTo>
                  <a:pt x="1830" y="2802"/>
                </a:lnTo>
                <a:lnTo>
                  <a:pt x="1830" y="2838"/>
                </a:lnTo>
                <a:lnTo>
                  <a:pt x="1865" y="2876"/>
                </a:lnTo>
                <a:lnTo>
                  <a:pt x="1904" y="2876"/>
                </a:lnTo>
                <a:lnTo>
                  <a:pt x="1865" y="2838"/>
                </a:lnTo>
                <a:lnTo>
                  <a:pt x="1865" y="2802"/>
                </a:lnTo>
                <a:lnTo>
                  <a:pt x="1904" y="2802"/>
                </a:lnTo>
                <a:lnTo>
                  <a:pt x="1979" y="2802"/>
                </a:lnTo>
                <a:lnTo>
                  <a:pt x="2015" y="2763"/>
                </a:lnTo>
                <a:lnTo>
                  <a:pt x="2055" y="2729"/>
                </a:lnTo>
                <a:lnTo>
                  <a:pt x="2094" y="2687"/>
                </a:lnTo>
                <a:lnTo>
                  <a:pt x="2094" y="2694"/>
                </a:lnTo>
                <a:lnTo>
                  <a:pt x="2055" y="2729"/>
                </a:lnTo>
                <a:lnTo>
                  <a:pt x="2019" y="2763"/>
                </a:lnTo>
                <a:lnTo>
                  <a:pt x="2094" y="2763"/>
                </a:lnTo>
                <a:lnTo>
                  <a:pt x="2094" y="2802"/>
                </a:lnTo>
                <a:lnTo>
                  <a:pt x="2055" y="2876"/>
                </a:lnTo>
                <a:lnTo>
                  <a:pt x="2094" y="2918"/>
                </a:lnTo>
                <a:lnTo>
                  <a:pt x="2130" y="2951"/>
                </a:lnTo>
                <a:lnTo>
                  <a:pt x="2204" y="2987"/>
                </a:lnTo>
                <a:lnTo>
                  <a:pt x="2243" y="3062"/>
                </a:lnTo>
                <a:lnTo>
                  <a:pt x="2243" y="3100"/>
                </a:lnTo>
                <a:lnTo>
                  <a:pt x="2163" y="3100"/>
                </a:lnTo>
                <a:lnTo>
                  <a:pt x="2130" y="3136"/>
                </a:lnTo>
                <a:lnTo>
                  <a:pt x="2094" y="3136"/>
                </a:lnTo>
                <a:lnTo>
                  <a:pt x="1904" y="3062"/>
                </a:lnTo>
                <a:lnTo>
                  <a:pt x="1830" y="3062"/>
                </a:lnTo>
                <a:lnTo>
                  <a:pt x="1755" y="3100"/>
                </a:lnTo>
                <a:lnTo>
                  <a:pt x="1680" y="3136"/>
                </a:lnTo>
                <a:lnTo>
                  <a:pt x="1641" y="3136"/>
                </a:lnTo>
                <a:lnTo>
                  <a:pt x="1680" y="3176"/>
                </a:lnTo>
                <a:lnTo>
                  <a:pt x="1606" y="3136"/>
                </a:lnTo>
                <a:lnTo>
                  <a:pt x="1606" y="3176"/>
                </a:lnTo>
                <a:lnTo>
                  <a:pt x="1606" y="3210"/>
                </a:lnTo>
                <a:lnTo>
                  <a:pt x="1565" y="3284"/>
                </a:lnTo>
                <a:lnTo>
                  <a:pt x="1606" y="3284"/>
                </a:lnTo>
                <a:lnTo>
                  <a:pt x="1641" y="3326"/>
                </a:lnTo>
                <a:lnTo>
                  <a:pt x="1680" y="3359"/>
                </a:lnTo>
                <a:lnTo>
                  <a:pt x="1716" y="3400"/>
                </a:lnTo>
                <a:lnTo>
                  <a:pt x="1830" y="3359"/>
                </a:lnTo>
                <a:lnTo>
                  <a:pt x="1830" y="3400"/>
                </a:lnTo>
                <a:lnTo>
                  <a:pt x="1865" y="3400"/>
                </a:lnTo>
                <a:lnTo>
                  <a:pt x="1940" y="3400"/>
                </a:lnTo>
                <a:lnTo>
                  <a:pt x="1979" y="3400"/>
                </a:lnTo>
                <a:lnTo>
                  <a:pt x="2015" y="3434"/>
                </a:lnTo>
                <a:lnTo>
                  <a:pt x="1979" y="3475"/>
                </a:lnTo>
                <a:lnTo>
                  <a:pt x="2015" y="3508"/>
                </a:lnTo>
                <a:lnTo>
                  <a:pt x="2015" y="3548"/>
                </a:lnTo>
                <a:lnTo>
                  <a:pt x="1979" y="3581"/>
                </a:lnTo>
                <a:lnTo>
                  <a:pt x="1940" y="3623"/>
                </a:lnTo>
                <a:lnTo>
                  <a:pt x="1950" y="3761"/>
                </a:lnTo>
                <a:lnTo>
                  <a:pt x="1979" y="3847"/>
                </a:lnTo>
                <a:lnTo>
                  <a:pt x="2094" y="3956"/>
                </a:lnTo>
                <a:lnTo>
                  <a:pt x="2094" y="3995"/>
                </a:lnTo>
                <a:lnTo>
                  <a:pt x="2130" y="4147"/>
                </a:lnTo>
                <a:lnTo>
                  <a:pt x="2243" y="4260"/>
                </a:lnTo>
                <a:lnTo>
                  <a:pt x="2318" y="4444"/>
                </a:lnTo>
                <a:lnTo>
                  <a:pt x="2318" y="4519"/>
                </a:lnTo>
                <a:lnTo>
                  <a:pt x="2386" y="4555"/>
                </a:lnTo>
                <a:lnTo>
                  <a:pt x="2468" y="4519"/>
                </a:lnTo>
                <a:lnTo>
                  <a:pt x="2543" y="4486"/>
                </a:lnTo>
                <a:lnTo>
                  <a:pt x="2576" y="4486"/>
                </a:lnTo>
                <a:lnTo>
                  <a:pt x="2725" y="4444"/>
                </a:lnTo>
                <a:lnTo>
                  <a:pt x="2767" y="4408"/>
                </a:lnTo>
                <a:lnTo>
                  <a:pt x="2841" y="4369"/>
                </a:lnTo>
                <a:lnTo>
                  <a:pt x="2915" y="4329"/>
                </a:lnTo>
                <a:lnTo>
                  <a:pt x="2951" y="4296"/>
                </a:lnTo>
                <a:lnTo>
                  <a:pt x="2990" y="4222"/>
                </a:lnTo>
                <a:lnTo>
                  <a:pt x="3064" y="4180"/>
                </a:lnTo>
                <a:lnTo>
                  <a:pt x="3064" y="4147"/>
                </a:lnTo>
                <a:lnTo>
                  <a:pt x="3025" y="4105"/>
                </a:lnTo>
                <a:lnTo>
                  <a:pt x="2990" y="4072"/>
                </a:lnTo>
                <a:lnTo>
                  <a:pt x="2915" y="4036"/>
                </a:lnTo>
                <a:lnTo>
                  <a:pt x="2874" y="4072"/>
                </a:lnTo>
                <a:lnTo>
                  <a:pt x="2874" y="4105"/>
                </a:lnTo>
                <a:lnTo>
                  <a:pt x="2874" y="4180"/>
                </a:lnTo>
                <a:lnTo>
                  <a:pt x="2841" y="4105"/>
                </a:lnTo>
                <a:lnTo>
                  <a:pt x="2915" y="4036"/>
                </a:lnTo>
                <a:lnTo>
                  <a:pt x="2874" y="3995"/>
                </a:lnTo>
                <a:lnTo>
                  <a:pt x="2841" y="3995"/>
                </a:lnTo>
                <a:lnTo>
                  <a:pt x="2841" y="4036"/>
                </a:lnTo>
                <a:lnTo>
                  <a:pt x="2725" y="3995"/>
                </a:lnTo>
                <a:lnTo>
                  <a:pt x="2692" y="3995"/>
                </a:lnTo>
                <a:lnTo>
                  <a:pt x="2651" y="3922"/>
                </a:lnTo>
                <a:lnTo>
                  <a:pt x="2651" y="3883"/>
                </a:lnTo>
                <a:lnTo>
                  <a:pt x="2576" y="3808"/>
                </a:lnTo>
                <a:lnTo>
                  <a:pt x="2543" y="3734"/>
                </a:lnTo>
                <a:lnTo>
                  <a:pt x="2576" y="3734"/>
                </a:lnTo>
                <a:lnTo>
                  <a:pt x="2651" y="3734"/>
                </a:lnTo>
                <a:lnTo>
                  <a:pt x="2692" y="3808"/>
                </a:lnTo>
                <a:lnTo>
                  <a:pt x="2725" y="3847"/>
                </a:lnTo>
                <a:lnTo>
                  <a:pt x="2800" y="3883"/>
                </a:lnTo>
                <a:lnTo>
                  <a:pt x="2841" y="3922"/>
                </a:lnTo>
                <a:lnTo>
                  <a:pt x="2951" y="3883"/>
                </a:lnTo>
                <a:lnTo>
                  <a:pt x="2951" y="3956"/>
                </a:lnTo>
                <a:lnTo>
                  <a:pt x="3100" y="3956"/>
                </a:lnTo>
                <a:lnTo>
                  <a:pt x="3144" y="3979"/>
                </a:lnTo>
                <a:lnTo>
                  <a:pt x="3139" y="3995"/>
                </a:lnTo>
                <a:lnTo>
                  <a:pt x="3213" y="3995"/>
                </a:lnTo>
                <a:lnTo>
                  <a:pt x="3364" y="3995"/>
                </a:lnTo>
                <a:lnTo>
                  <a:pt x="3397" y="3995"/>
                </a:lnTo>
                <a:lnTo>
                  <a:pt x="3439" y="4072"/>
                </a:lnTo>
                <a:lnTo>
                  <a:pt x="3472" y="4105"/>
                </a:lnTo>
                <a:lnTo>
                  <a:pt x="3546" y="4105"/>
                </a:lnTo>
                <a:lnTo>
                  <a:pt x="3513" y="4147"/>
                </a:lnTo>
                <a:lnTo>
                  <a:pt x="3546" y="4180"/>
                </a:lnTo>
                <a:lnTo>
                  <a:pt x="3588" y="4180"/>
                </a:lnTo>
                <a:lnTo>
                  <a:pt x="3621" y="4105"/>
                </a:lnTo>
                <a:lnTo>
                  <a:pt x="3663" y="4180"/>
                </a:lnTo>
                <a:lnTo>
                  <a:pt x="3663" y="4329"/>
                </a:lnTo>
                <a:lnTo>
                  <a:pt x="3770" y="4555"/>
                </a:lnTo>
                <a:lnTo>
                  <a:pt x="3810" y="4708"/>
                </a:lnTo>
                <a:lnTo>
                  <a:pt x="3885" y="4777"/>
                </a:lnTo>
                <a:lnTo>
                  <a:pt x="3960" y="4741"/>
                </a:lnTo>
                <a:lnTo>
                  <a:pt x="4070" y="4555"/>
                </a:lnTo>
                <a:lnTo>
                  <a:pt x="4109" y="4408"/>
                </a:lnTo>
                <a:lnTo>
                  <a:pt x="4145" y="4369"/>
                </a:lnTo>
                <a:lnTo>
                  <a:pt x="4293" y="4260"/>
                </a:lnTo>
                <a:lnTo>
                  <a:pt x="4334" y="4180"/>
                </a:lnTo>
                <a:lnTo>
                  <a:pt x="4367" y="4180"/>
                </a:lnTo>
                <a:lnTo>
                  <a:pt x="4367" y="4105"/>
                </a:lnTo>
                <a:lnTo>
                  <a:pt x="4367" y="4072"/>
                </a:lnTo>
                <a:lnTo>
                  <a:pt x="4409" y="4036"/>
                </a:lnTo>
                <a:lnTo>
                  <a:pt x="4442" y="4105"/>
                </a:lnTo>
                <a:lnTo>
                  <a:pt x="4484" y="4147"/>
                </a:lnTo>
                <a:lnTo>
                  <a:pt x="4517" y="4180"/>
                </a:lnTo>
                <a:lnTo>
                  <a:pt x="4558" y="4260"/>
                </a:lnTo>
                <a:lnTo>
                  <a:pt x="4591" y="4296"/>
                </a:lnTo>
                <a:lnTo>
                  <a:pt x="4631" y="4408"/>
                </a:lnTo>
                <a:lnTo>
                  <a:pt x="4666" y="4444"/>
                </a:lnTo>
                <a:lnTo>
                  <a:pt x="4706" y="4486"/>
                </a:lnTo>
                <a:lnTo>
                  <a:pt x="4742" y="4408"/>
                </a:lnTo>
                <a:lnTo>
                  <a:pt x="4781" y="4444"/>
                </a:lnTo>
                <a:lnTo>
                  <a:pt x="4781" y="4486"/>
                </a:lnTo>
                <a:lnTo>
                  <a:pt x="4817" y="4560"/>
                </a:lnTo>
                <a:lnTo>
                  <a:pt x="4817" y="4635"/>
                </a:lnTo>
                <a:lnTo>
                  <a:pt x="4855" y="4708"/>
                </a:lnTo>
                <a:lnTo>
                  <a:pt x="4855" y="4783"/>
                </a:lnTo>
                <a:lnTo>
                  <a:pt x="4855" y="4816"/>
                </a:lnTo>
                <a:lnTo>
                  <a:pt x="4891" y="4858"/>
                </a:lnTo>
                <a:lnTo>
                  <a:pt x="4930" y="4932"/>
                </a:lnTo>
                <a:lnTo>
                  <a:pt x="4891" y="4932"/>
                </a:lnTo>
                <a:lnTo>
                  <a:pt x="4930" y="5007"/>
                </a:lnTo>
                <a:lnTo>
                  <a:pt x="4966" y="5116"/>
                </a:lnTo>
                <a:lnTo>
                  <a:pt x="5079" y="5191"/>
                </a:lnTo>
                <a:lnTo>
                  <a:pt x="5079" y="5116"/>
                </a:lnTo>
                <a:lnTo>
                  <a:pt x="5041" y="5081"/>
                </a:lnTo>
                <a:lnTo>
                  <a:pt x="5041" y="5007"/>
                </a:lnTo>
                <a:lnTo>
                  <a:pt x="5005" y="4932"/>
                </a:lnTo>
                <a:lnTo>
                  <a:pt x="4966" y="4932"/>
                </a:lnTo>
                <a:lnTo>
                  <a:pt x="4930" y="4858"/>
                </a:lnTo>
                <a:lnTo>
                  <a:pt x="4891" y="4816"/>
                </a:lnTo>
                <a:lnTo>
                  <a:pt x="4930" y="4708"/>
                </a:lnTo>
                <a:lnTo>
                  <a:pt x="4930" y="4635"/>
                </a:lnTo>
                <a:lnTo>
                  <a:pt x="4966" y="4635"/>
                </a:lnTo>
                <a:lnTo>
                  <a:pt x="5005" y="4635"/>
                </a:lnTo>
                <a:lnTo>
                  <a:pt x="5005" y="4708"/>
                </a:lnTo>
                <a:lnTo>
                  <a:pt x="5041" y="4741"/>
                </a:lnTo>
                <a:lnTo>
                  <a:pt x="5114" y="4783"/>
                </a:lnTo>
                <a:lnTo>
                  <a:pt x="5114" y="4816"/>
                </a:lnTo>
                <a:lnTo>
                  <a:pt x="5155" y="4816"/>
                </a:lnTo>
                <a:lnTo>
                  <a:pt x="5263" y="4708"/>
                </a:lnTo>
                <a:lnTo>
                  <a:pt x="5305" y="4708"/>
                </a:lnTo>
                <a:lnTo>
                  <a:pt x="5305" y="4635"/>
                </a:lnTo>
                <a:lnTo>
                  <a:pt x="5305" y="4519"/>
                </a:lnTo>
                <a:lnTo>
                  <a:pt x="5263" y="4486"/>
                </a:lnTo>
                <a:lnTo>
                  <a:pt x="5263" y="4444"/>
                </a:lnTo>
                <a:lnTo>
                  <a:pt x="5188" y="4444"/>
                </a:lnTo>
                <a:lnTo>
                  <a:pt x="5188" y="4408"/>
                </a:lnTo>
                <a:lnTo>
                  <a:pt x="5155" y="4334"/>
                </a:lnTo>
                <a:lnTo>
                  <a:pt x="5155" y="4260"/>
                </a:lnTo>
                <a:lnTo>
                  <a:pt x="5188" y="4222"/>
                </a:lnTo>
                <a:lnTo>
                  <a:pt x="5188" y="4180"/>
                </a:lnTo>
                <a:lnTo>
                  <a:pt x="5263" y="4180"/>
                </a:lnTo>
                <a:lnTo>
                  <a:pt x="5263" y="4260"/>
                </a:lnTo>
                <a:lnTo>
                  <a:pt x="5338" y="4260"/>
                </a:lnTo>
                <a:lnTo>
                  <a:pt x="5338" y="4180"/>
                </a:lnTo>
                <a:lnTo>
                  <a:pt x="5412" y="4180"/>
                </a:lnTo>
                <a:lnTo>
                  <a:pt x="5454" y="4147"/>
                </a:lnTo>
                <a:lnTo>
                  <a:pt x="5487" y="4147"/>
                </a:lnTo>
                <a:lnTo>
                  <a:pt x="5602" y="4111"/>
                </a:lnTo>
                <a:lnTo>
                  <a:pt x="5677" y="3995"/>
                </a:lnTo>
                <a:lnTo>
                  <a:pt x="5677" y="3956"/>
                </a:lnTo>
                <a:lnTo>
                  <a:pt x="5712" y="3922"/>
                </a:lnTo>
                <a:lnTo>
                  <a:pt x="5751" y="3847"/>
                </a:lnTo>
                <a:lnTo>
                  <a:pt x="5787" y="3772"/>
                </a:lnTo>
                <a:lnTo>
                  <a:pt x="5787" y="3734"/>
                </a:lnTo>
                <a:lnTo>
                  <a:pt x="5712" y="3772"/>
                </a:lnTo>
                <a:lnTo>
                  <a:pt x="5677" y="3734"/>
                </a:lnTo>
                <a:lnTo>
                  <a:pt x="5712" y="3698"/>
                </a:lnTo>
                <a:lnTo>
                  <a:pt x="5677" y="3623"/>
                </a:lnTo>
                <a:lnTo>
                  <a:pt x="5751" y="3623"/>
                </a:lnTo>
                <a:lnTo>
                  <a:pt x="5712" y="3590"/>
                </a:lnTo>
                <a:lnTo>
                  <a:pt x="5677" y="3475"/>
                </a:lnTo>
                <a:lnTo>
                  <a:pt x="5638" y="3439"/>
                </a:lnTo>
                <a:lnTo>
                  <a:pt x="5712" y="3326"/>
                </a:lnTo>
                <a:lnTo>
                  <a:pt x="5677" y="3284"/>
                </a:lnTo>
                <a:lnTo>
                  <a:pt x="5638" y="3284"/>
                </a:lnTo>
                <a:lnTo>
                  <a:pt x="5602" y="3326"/>
                </a:lnTo>
                <a:lnTo>
                  <a:pt x="5562" y="3284"/>
                </a:lnTo>
                <a:lnTo>
                  <a:pt x="5527" y="3251"/>
                </a:lnTo>
                <a:lnTo>
                  <a:pt x="5527" y="3210"/>
                </a:lnTo>
                <a:lnTo>
                  <a:pt x="5602" y="3176"/>
                </a:lnTo>
                <a:lnTo>
                  <a:pt x="5677" y="3100"/>
                </a:lnTo>
                <a:lnTo>
                  <a:pt x="5677" y="3176"/>
                </a:lnTo>
                <a:lnTo>
                  <a:pt x="5751" y="3176"/>
                </a:lnTo>
                <a:lnTo>
                  <a:pt x="5787" y="3141"/>
                </a:lnTo>
                <a:lnTo>
                  <a:pt x="5844" y="3083"/>
                </a:lnTo>
                <a:lnTo>
                  <a:pt x="5826" y="3141"/>
                </a:lnTo>
                <a:lnTo>
                  <a:pt x="5862" y="3176"/>
                </a:lnTo>
                <a:lnTo>
                  <a:pt x="5862" y="3251"/>
                </a:lnTo>
                <a:lnTo>
                  <a:pt x="5900" y="3251"/>
                </a:lnTo>
                <a:lnTo>
                  <a:pt x="5936" y="3284"/>
                </a:lnTo>
                <a:lnTo>
                  <a:pt x="5973" y="3365"/>
                </a:lnTo>
                <a:lnTo>
                  <a:pt x="5973" y="3439"/>
                </a:lnTo>
                <a:lnTo>
                  <a:pt x="6051" y="3439"/>
                </a:lnTo>
                <a:lnTo>
                  <a:pt x="6051" y="3365"/>
                </a:lnTo>
                <a:lnTo>
                  <a:pt x="6009" y="3284"/>
                </a:lnTo>
                <a:lnTo>
                  <a:pt x="5973" y="3210"/>
                </a:lnTo>
                <a:lnTo>
                  <a:pt x="5936" y="3176"/>
                </a:lnTo>
                <a:lnTo>
                  <a:pt x="5973" y="3141"/>
                </a:lnTo>
                <a:lnTo>
                  <a:pt x="6009" y="3062"/>
                </a:lnTo>
                <a:lnTo>
                  <a:pt x="6009" y="2987"/>
                </a:lnTo>
                <a:lnTo>
                  <a:pt x="6051" y="2918"/>
                </a:lnTo>
                <a:lnTo>
                  <a:pt x="6068" y="2894"/>
                </a:lnTo>
                <a:lnTo>
                  <a:pt x="6084" y="2918"/>
                </a:lnTo>
                <a:lnTo>
                  <a:pt x="6126" y="2951"/>
                </a:lnTo>
                <a:lnTo>
                  <a:pt x="6159" y="2918"/>
                </a:lnTo>
                <a:lnTo>
                  <a:pt x="6308" y="2729"/>
                </a:lnTo>
                <a:lnTo>
                  <a:pt x="6350" y="2240"/>
                </a:lnTo>
                <a:lnTo>
                  <a:pt x="6308" y="2205"/>
                </a:lnTo>
                <a:lnTo>
                  <a:pt x="6308" y="2091"/>
                </a:lnTo>
                <a:lnTo>
                  <a:pt x="6239" y="2091"/>
                </a:lnTo>
                <a:lnTo>
                  <a:pt x="6084" y="2130"/>
                </a:lnTo>
                <a:lnTo>
                  <a:pt x="6084" y="2055"/>
                </a:lnTo>
                <a:lnTo>
                  <a:pt x="6009" y="2016"/>
                </a:lnTo>
                <a:lnTo>
                  <a:pt x="6084" y="1791"/>
                </a:lnTo>
                <a:lnTo>
                  <a:pt x="6084" y="1684"/>
                </a:lnTo>
                <a:lnTo>
                  <a:pt x="6159" y="1609"/>
                </a:lnTo>
                <a:lnTo>
                  <a:pt x="6308" y="1569"/>
                </a:lnTo>
                <a:lnTo>
                  <a:pt x="6383" y="1534"/>
                </a:lnTo>
                <a:lnTo>
                  <a:pt x="6497" y="1494"/>
                </a:lnTo>
                <a:lnTo>
                  <a:pt x="6465" y="1569"/>
                </a:lnTo>
                <a:lnTo>
                  <a:pt x="6533" y="1534"/>
                </a:lnTo>
                <a:lnTo>
                  <a:pt x="6608" y="1494"/>
                </a:lnTo>
                <a:lnTo>
                  <a:pt x="6572" y="1461"/>
                </a:lnTo>
                <a:lnTo>
                  <a:pt x="6608" y="1270"/>
                </a:lnTo>
                <a:lnTo>
                  <a:pt x="6688" y="1234"/>
                </a:lnTo>
                <a:lnTo>
                  <a:pt x="6721" y="1309"/>
                </a:lnTo>
                <a:lnTo>
                  <a:pt x="6796" y="1160"/>
                </a:lnTo>
                <a:lnTo>
                  <a:pt x="6832" y="1270"/>
                </a:lnTo>
                <a:lnTo>
                  <a:pt x="6869" y="1309"/>
                </a:lnTo>
                <a:lnTo>
                  <a:pt x="6832" y="1386"/>
                </a:lnTo>
                <a:lnTo>
                  <a:pt x="6796" y="1569"/>
                </a:lnTo>
                <a:lnTo>
                  <a:pt x="6763" y="1642"/>
                </a:lnTo>
                <a:lnTo>
                  <a:pt x="6763" y="1791"/>
                </a:lnTo>
                <a:lnTo>
                  <a:pt x="6832" y="2055"/>
                </a:lnTo>
                <a:lnTo>
                  <a:pt x="6911" y="2091"/>
                </a:lnTo>
                <a:lnTo>
                  <a:pt x="6947" y="2240"/>
                </a:lnTo>
                <a:lnTo>
                  <a:pt x="7021" y="2091"/>
                </a:lnTo>
                <a:lnTo>
                  <a:pt x="7021" y="2016"/>
                </a:lnTo>
                <a:lnTo>
                  <a:pt x="7060" y="2016"/>
                </a:lnTo>
                <a:lnTo>
                  <a:pt x="7021" y="1943"/>
                </a:lnTo>
                <a:lnTo>
                  <a:pt x="7060" y="1869"/>
                </a:lnTo>
                <a:lnTo>
                  <a:pt x="6985" y="1791"/>
                </a:lnTo>
                <a:lnTo>
                  <a:pt x="7021" y="1716"/>
                </a:lnTo>
                <a:lnTo>
                  <a:pt x="6985" y="1569"/>
                </a:lnTo>
                <a:lnTo>
                  <a:pt x="6947" y="1609"/>
                </a:lnTo>
                <a:lnTo>
                  <a:pt x="6911" y="1419"/>
                </a:lnTo>
                <a:lnTo>
                  <a:pt x="6911" y="1386"/>
                </a:lnTo>
                <a:lnTo>
                  <a:pt x="7021" y="1309"/>
                </a:lnTo>
                <a:lnTo>
                  <a:pt x="7096" y="1270"/>
                </a:lnTo>
                <a:lnTo>
                  <a:pt x="7171" y="1386"/>
                </a:lnTo>
                <a:lnTo>
                  <a:pt x="7209" y="1047"/>
                </a:lnTo>
                <a:lnTo>
                  <a:pt x="7360" y="973"/>
                </a:lnTo>
                <a:lnTo>
                  <a:pt x="7283" y="937"/>
                </a:lnTo>
                <a:lnTo>
                  <a:pt x="7283" y="895"/>
                </a:lnTo>
                <a:lnTo>
                  <a:pt x="7209" y="895"/>
                </a:lnTo>
                <a:lnTo>
                  <a:pt x="7135" y="821"/>
                </a:lnTo>
                <a:lnTo>
                  <a:pt x="7060" y="747"/>
                </a:lnTo>
                <a:lnTo>
                  <a:pt x="7135" y="747"/>
                </a:lnTo>
                <a:lnTo>
                  <a:pt x="7245" y="715"/>
                </a:lnTo>
                <a:lnTo>
                  <a:pt x="7171" y="673"/>
                </a:lnTo>
                <a:lnTo>
                  <a:pt x="7171" y="565"/>
                </a:lnTo>
                <a:lnTo>
                  <a:pt x="7209" y="598"/>
                </a:lnTo>
                <a:lnTo>
                  <a:pt x="7360" y="640"/>
                </a:lnTo>
                <a:lnTo>
                  <a:pt x="7435" y="673"/>
                </a:lnTo>
                <a:lnTo>
                  <a:pt x="7542" y="673"/>
                </a:lnTo>
                <a:lnTo>
                  <a:pt x="7617" y="598"/>
                </a:lnTo>
                <a:lnTo>
                  <a:pt x="7468" y="565"/>
                </a:lnTo>
              </a:path>
              <a:path w="7617" h="5191">
                <a:moveTo>
                  <a:pt x="1341" y="3326"/>
                </a:moveTo>
                <a:lnTo>
                  <a:pt x="1382" y="3360"/>
                </a:lnTo>
                <a:lnTo>
                  <a:pt x="1456" y="3360"/>
                </a:lnTo>
                <a:lnTo>
                  <a:pt x="1456" y="3326"/>
                </a:lnTo>
                <a:lnTo>
                  <a:pt x="1415" y="3283"/>
                </a:lnTo>
                <a:lnTo>
                  <a:pt x="1341" y="3249"/>
                </a:lnTo>
                <a:lnTo>
                  <a:pt x="1341" y="3326"/>
                </a:lnTo>
              </a:path>
              <a:path w="7617" h="5191">
                <a:moveTo>
                  <a:pt x="784" y="3060"/>
                </a:moveTo>
                <a:lnTo>
                  <a:pt x="820" y="3060"/>
                </a:lnTo>
                <a:lnTo>
                  <a:pt x="820" y="3024"/>
                </a:lnTo>
                <a:lnTo>
                  <a:pt x="820" y="2985"/>
                </a:lnTo>
                <a:lnTo>
                  <a:pt x="746" y="3024"/>
                </a:lnTo>
                <a:lnTo>
                  <a:pt x="784" y="3060"/>
                </a:lnTo>
              </a:path>
              <a:path w="7617" h="5191">
                <a:moveTo>
                  <a:pt x="1941" y="3624"/>
                </a:moveTo>
                <a:lnTo>
                  <a:pt x="1941" y="3640"/>
                </a:lnTo>
                <a:lnTo>
                  <a:pt x="1941" y="3640"/>
                </a:lnTo>
                <a:lnTo>
                  <a:pt x="1970" y="3674"/>
                </a:lnTo>
                <a:lnTo>
                  <a:pt x="1941" y="3624"/>
                </a:lnTo>
                <a:close/>
              </a:path>
            </a:pathLst>
          </a:custGeom>
          <a:solidFill>
            <a:srgbClr val="E6E6E6">
              <a:alpha val="100000"/>
            </a:srgbClr>
          </a:solidFill>
          <a:ln cap="flat">
            <a:noFill/>
            <a:prstDash val="solid"/>
            <a:miter lim="0"/>
          </a:ln>
        </p:spPr>
        <p:txBody>
          <a:bodyPr rtlCol="0"/>
          <a:lstStyle/>
          <a:p>
            <a:pPr algn="ctr"/>
            <a:endParaRPr lang="zh-CN" altLang="en-US"/>
          </a:p>
        </p:txBody>
      </p:sp>
      <p:sp>
        <p:nvSpPr>
          <p:cNvPr id="35" name="path"/>
          <p:cNvSpPr/>
          <p:nvPr/>
        </p:nvSpPr>
        <p:spPr>
          <a:xfrm>
            <a:off x="3116579" y="3147060"/>
            <a:ext cx="2180844" cy="2421635"/>
          </a:xfrm>
          <a:custGeom>
            <a:avLst/>
            <a:gdLst/>
            <a:ahLst/>
            <a:cxnLst/>
            <a:rect l="0" t="0" r="0" b="0"/>
            <a:pathLst>
              <a:path w="3434" h="3813">
                <a:moveTo>
                  <a:pt x="3060" y="2808"/>
                </a:moveTo>
                <a:lnTo>
                  <a:pt x="3060" y="2917"/>
                </a:lnTo>
                <a:lnTo>
                  <a:pt x="2985" y="3067"/>
                </a:lnTo>
                <a:lnTo>
                  <a:pt x="2985" y="3216"/>
                </a:lnTo>
                <a:lnTo>
                  <a:pt x="3060" y="3256"/>
                </a:lnTo>
                <a:lnTo>
                  <a:pt x="3100" y="3216"/>
                </a:lnTo>
                <a:lnTo>
                  <a:pt x="3175" y="3216"/>
                </a:lnTo>
                <a:lnTo>
                  <a:pt x="3210" y="3141"/>
                </a:lnTo>
                <a:lnTo>
                  <a:pt x="3210" y="3107"/>
                </a:lnTo>
                <a:lnTo>
                  <a:pt x="3325" y="2843"/>
                </a:lnTo>
                <a:lnTo>
                  <a:pt x="3325" y="2808"/>
                </a:lnTo>
                <a:lnTo>
                  <a:pt x="3325" y="2694"/>
                </a:lnTo>
                <a:lnTo>
                  <a:pt x="3360" y="2694"/>
                </a:lnTo>
                <a:lnTo>
                  <a:pt x="3360" y="2768"/>
                </a:lnTo>
                <a:lnTo>
                  <a:pt x="3400" y="2659"/>
                </a:lnTo>
                <a:lnTo>
                  <a:pt x="3360" y="2619"/>
                </a:lnTo>
                <a:lnTo>
                  <a:pt x="3325" y="2544"/>
                </a:lnTo>
                <a:lnTo>
                  <a:pt x="3325" y="2510"/>
                </a:lnTo>
                <a:lnTo>
                  <a:pt x="3210" y="2694"/>
                </a:lnTo>
                <a:lnTo>
                  <a:pt x="3175" y="2694"/>
                </a:lnTo>
                <a:lnTo>
                  <a:pt x="3175" y="2734"/>
                </a:lnTo>
                <a:lnTo>
                  <a:pt x="3135" y="2734"/>
                </a:lnTo>
                <a:lnTo>
                  <a:pt x="3060" y="2808"/>
                </a:lnTo>
                <a:lnTo>
                  <a:pt x="3060" y="2808"/>
                </a:lnTo>
                <a:close/>
              </a:path>
              <a:path w="3434" h="3813">
                <a:moveTo>
                  <a:pt x="2480" y="419"/>
                </a:moveTo>
                <a:lnTo>
                  <a:pt x="2446" y="315"/>
                </a:lnTo>
                <a:lnTo>
                  <a:pt x="2314" y="264"/>
                </a:lnTo>
                <a:lnTo>
                  <a:pt x="2239" y="338"/>
                </a:lnTo>
                <a:lnTo>
                  <a:pt x="2050" y="304"/>
                </a:lnTo>
                <a:lnTo>
                  <a:pt x="1941" y="229"/>
                </a:lnTo>
                <a:lnTo>
                  <a:pt x="1866" y="229"/>
                </a:lnTo>
                <a:lnTo>
                  <a:pt x="1826" y="338"/>
                </a:lnTo>
                <a:lnTo>
                  <a:pt x="1791" y="379"/>
                </a:lnTo>
                <a:lnTo>
                  <a:pt x="1677" y="304"/>
                </a:lnTo>
                <a:lnTo>
                  <a:pt x="1642" y="229"/>
                </a:lnTo>
                <a:lnTo>
                  <a:pt x="1493" y="229"/>
                </a:lnTo>
                <a:lnTo>
                  <a:pt x="1407" y="152"/>
                </a:lnTo>
                <a:lnTo>
                  <a:pt x="1487" y="77"/>
                </a:lnTo>
                <a:lnTo>
                  <a:pt x="1450" y="0"/>
                </a:lnTo>
                <a:lnTo>
                  <a:pt x="1343" y="5"/>
                </a:lnTo>
                <a:lnTo>
                  <a:pt x="1228" y="40"/>
                </a:lnTo>
                <a:lnTo>
                  <a:pt x="1120" y="5"/>
                </a:lnTo>
                <a:lnTo>
                  <a:pt x="930" y="114"/>
                </a:lnTo>
                <a:lnTo>
                  <a:pt x="855" y="114"/>
                </a:lnTo>
                <a:lnTo>
                  <a:pt x="746" y="80"/>
                </a:lnTo>
                <a:lnTo>
                  <a:pt x="706" y="155"/>
                </a:lnTo>
                <a:lnTo>
                  <a:pt x="597" y="229"/>
                </a:lnTo>
                <a:lnTo>
                  <a:pt x="522" y="338"/>
                </a:lnTo>
                <a:lnTo>
                  <a:pt x="522" y="413"/>
                </a:lnTo>
                <a:lnTo>
                  <a:pt x="298" y="562"/>
                </a:lnTo>
                <a:lnTo>
                  <a:pt x="224" y="602"/>
                </a:lnTo>
                <a:lnTo>
                  <a:pt x="34" y="826"/>
                </a:lnTo>
                <a:lnTo>
                  <a:pt x="74" y="867"/>
                </a:lnTo>
                <a:lnTo>
                  <a:pt x="74" y="901"/>
                </a:lnTo>
                <a:lnTo>
                  <a:pt x="74" y="936"/>
                </a:lnTo>
                <a:lnTo>
                  <a:pt x="74" y="1091"/>
                </a:lnTo>
                <a:lnTo>
                  <a:pt x="34" y="1125"/>
                </a:lnTo>
                <a:lnTo>
                  <a:pt x="0" y="1200"/>
                </a:lnTo>
                <a:lnTo>
                  <a:pt x="0" y="1240"/>
                </a:lnTo>
                <a:lnTo>
                  <a:pt x="0" y="1315"/>
                </a:lnTo>
                <a:lnTo>
                  <a:pt x="0" y="1349"/>
                </a:lnTo>
                <a:lnTo>
                  <a:pt x="74" y="1424"/>
                </a:lnTo>
                <a:lnTo>
                  <a:pt x="149" y="1464"/>
                </a:lnTo>
                <a:lnTo>
                  <a:pt x="149" y="1498"/>
                </a:lnTo>
                <a:lnTo>
                  <a:pt x="183" y="1573"/>
                </a:lnTo>
                <a:lnTo>
                  <a:pt x="224" y="1613"/>
                </a:lnTo>
                <a:lnTo>
                  <a:pt x="447" y="1722"/>
                </a:lnTo>
                <a:lnTo>
                  <a:pt x="597" y="1722"/>
                </a:lnTo>
                <a:lnTo>
                  <a:pt x="706" y="1722"/>
                </a:lnTo>
                <a:lnTo>
                  <a:pt x="821" y="1688"/>
                </a:lnTo>
                <a:lnTo>
                  <a:pt x="896" y="1648"/>
                </a:lnTo>
                <a:lnTo>
                  <a:pt x="970" y="1613"/>
                </a:lnTo>
                <a:lnTo>
                  <a:pt x="1079" y="1648"/>
                </a:lnTo>
                <a:lnTo>
                  <a:pt x="1120" y="1722"/>
                </a:lnTo>
                <a:lnTo>
                  <a:pt x="1194" y="1763"/>
                </a:lnTo>
                <a:lnTo>
                  <a:pt x="1269" y="1688"/>
                </a:lnTo>
                <a:lnTo>
                  <a:pt x="1343" y="1722"/>
                </a:lnTo>
                <a:lnTo>
                  <a:pt x="1343" y="1837"/>
                </a:lnTo>
                <a:lnTo>
                  <a:pt x="1303" y="1872"/>
                </a:lnTo>
                <a:lnTo>
                  <a:pt x="1303" y="1987"/>
                </a:lnTo>
                <a:lnTo>
                  <a:pt x="1343" y="2061"/>
                </a:lnTo>
                <a:lnTo>
                  <a:pt x="1418" y="2136"/>
                </a:lnTo>
                <a:lnTo>
                  <a:pt x="1452" y="2211"/>
                </a:lnTo>
                <a:lnTo>
                  <a:pt x="1493" y="2245"/>
                </a:lnTo>
                <a:lnTo>
                  <a:pt x="1527" y="2360"/>
                </a:lnTo>
                <a:lnTo>
                  <a:pt x="1493" y="2435"/>
                </a:lnTo>
                <a:lnTo>
                  <a:pt x="1527" y="2469"/>
                </a:lnTo>
                <a:lnTo>
                  <a:pt x="1567" y="2509"/>
                </a:lnTo>
                <a:lnTo>
                  <a:pt x="1527" y="2584"/>
                </a:lnTo>
                <a:lnTo>
                  <a:pt x="1493" y="2659"/>
                </a:lnTo>
                <a:lnTo>
                  <a:pt x="1452" y="2768"/>
                </a:lnTo>
                <a:lnTo>
                  <a:pt x="1452" y="2883"/>
                </a:lnTo>
                <a:lnTo>
                  <a:pt x="1527" y="3066"/>
                </a:lnTo>
                <a:lnTo>
                  <a:pt x="1602" y="3107"/>
                </a:lnTo>
                <a:lnTo>
                  <a:pt x="1642" y="3365"/>
                </a:lnTo>
                <a:lnTo>
                  <a:pt x="1717" y="3480"/>
                </a:lnTo>
                <a:lnTo>
                  <a:pt x="1722" y="3463"/>
                </a:lnTo>
                <a:lnTo>
                  <a:pt x="1791" y="3629"/>
                </a:lnTo>
                <a:lnTo>
                  <a:pt x="1791" y="3704"/>
                </a:lnTo>
                <a:lnTo>
                  <a:pt x="1826" y="3813"/>
                </a:lnTo>
                <a:lnTo>
                  <a:pt x="1866" y="3813"/>
                </a:lnTo>
                <a:lnTo>
                  <a:pt x="1941" y="3779"/>
                </a:lnTo>
                <a:lnTo>
                  <a:pt x="2050" y="3779"/>
                </a:lnTo>
                <a:lnTo>
                  <a:pt x="2165" y="3704"/>
                </a:lnTo>
                <a:lnTo>
                  <a:pt x="2314" y="3629"/>
                </a:lnTo>
                <a:lnTo>
                  <a:pt x="2463" y="3405"/>
                </a:lnTo>
                <a:lnTo>
                  <a:pt x="2463" y="3365"/>
                </a:lnTo>
                <a:lnTo>
                  <a:pt x="2423" y="3331"/>
                </a:lnTo>
                <a:lnTo>
                  <a:pt x="2498" y="3365"/>
                </a:lnTo>
                <a:lnTo>
                  <a:pt x="2498" y="3256"/>
                </a:lnTo>
                <a:lnTo>
                  <a:pt x="2613" y="3181"/>
                </a:lnTo>
                <a:lnTo>
                  <a:pt x="2613" y="3032"/>
                </a:lnTo>
                <a:lnTo>
                  <a:pt x="2572" y="2992"/>
                </a:lnTo>
                <a:lnTo>
                  <a:pt x="2613" y="2957"/>
                </a:lnTo>
                <a:lnTo>
                  <a:pt x="2653" y="2917"/>
                </a:lnTo>
                <a:lnTo>
                  <a:pt x="2687" y="2883"/>
                </a:lnTo>
                <a:lnTo>
                  <a:pt x="2877" y="2733"/>
                </a:lnTo>
                <a:lnTo>
                  <a:pt x="2911" y="2469"/>
                </a:lnTo>
                <a:lnTo>
                  <a:pt x="2877" y="2435"/>
                </a:lnTo>
                <a:lnTo>
                  <a:pt x="2877" y="2245"/>
                </a:lnTo>
                <a:lnTo>
                  <a:pt x="2837" y="2245"/>
                </a:lnTo>
                <a:lnTo>
                  <a:pt x="2837" y="2170"/>
                </a:lnTo>
                <a:lnTo>
                  <a:pt x="2946" y="1987"/>
                </a:lnTo>
                <a:lnTo>
                  <a:pt x="3250" y="1688"/>
                </a:lnTo>
                <a:lnTo>
                  <a:pt x="3434" y="1349"/>
                </a:lnTo>
                <a:lnTo>
                  <a:pt x="3400" y="1274"/>
                </a:lnTo>
                <a:lnTo>
                  <a:pt x="3325" y="1315"/>
                </a:lnTo>
                <a:lnTo>
                  <a:pt x="3250" y="1349"/>
                </a:lnTo>
                <a:lnTo>
                  <a:pt x="3135" y="1349"/>
                </a:lnTo>
                <a:lnTo>
                  <a:pt x="3026" y="1349"/>
                </a:lnTo>
                <a:lnTo>
                  <a:pt x="3026" y="1315"/>
                </a:lnTo>
                <a:lnTo>
                  <a:pt x="2986" y="1240"/>
                </a:lnTo>
                <a:lnTo>
                  <a:pt x="2802" y="1125"/>
                </a:lnTo>
                <a:lnTo>
                  <a:pt x="2762" y="976"/>
                </a:lnTo>
                <a:lnTo>
                  <a:pt x="2687" y="936"/>
                </a:lnTo>
                <a:lnTo>
                  <a:pt x="2687" y="826"/>
                </a:lnTo>
                <a:lnTo>
                  <a:pt x="2613" y="752"/>
                </a:lnTo>
                <a:lnTo>
                  <a:pt x="2423" y="453"/>
                </a:lnTo>
                <a:lnTo>
                  <a:pt x="2389" y="379"/>
                </a:lnTo>
                <a:lnTo>
                  <a:pt x="2423" y="413"/>
                </a:lnTo>
                <a:lnTo>
                  <a:pt x="2498" y="488"/>
                </a:lnTo>
                <a:lnTo>
                  <a:pt x="2480" y="419"/>
                </a:lnTo>
              </a:path>
            </a:pathLst>
          </a:custGeom>
          <a:solidFill>
            <a:srgbClr val="E6E6E6">
              <a:alpha val="100000"/>
            </a:srgbClr>
          </a:solidFill>
          <a:ln cap="flat">
            <a:noFill/>
            <a:prstDash val="solid"/>
            <a:miter lim="0"/>
          </a:ln>
        </p:spPr>
        <p:txBody>
          <a:bodyPr rtlCol="0"/>
          <a:lstStyle/>
          <a:p>
            <a:pPr algn="ctr"/>
            <a:endParaRPr lang="zh-CN" altLang="en-US"/>
          </a:p>
        </p:txBody>
      </p:sp>
      <p:pic>
        <p:nvPicPr>
          <p:cNvPr id="36" name="picture 36"/>
          <p:cNvPicPr>
            <a:picLocks noChangeAspect="1"/>
          </p:cNvPicPr>
          <p:nvPr/>
        </p:nvPicPr>
        <p:blipFill>
          <a:blip r:embed="rId1"/>
          <a:stretch>
            <a:fillRect/>
          </a:stretch>
        </p:blipFill>
        <p:spPr>
          <a:xfrm rot="21600000">
            <a:off x="6855079" y="4780153"/>
            <a:ext cx="1185671" cy="995718"/>
          </a:xfrm>
          <a:prstGeom prst="rect">
            <a:avLst/>
          </a:prstGeom>
        </p:spPr>
      </p:pic>
      <p:sp>
        <p:nvSpPr>
          <p:cNvPr id="37" name="path"/>
          <p:cNvSpPr/>
          <p:nvPr/>
        </p:nvSpPr>
        <p:spPr>
          <a:xfrm>
            <a:off x="4703063" y="3311652"/>
            <a:ext cx="25908" cy="76200"/>
          </a:xfrm>
          <a:custGeom>
            <a:avLst/>
            <a:gdLst/>
            <a:ahLst/>
            <a:cxnLst/>
            <a:rect l="0" t="0" r="0" b="0"/>
            <a:pathLst>
              <a:path w="40" h="120">
                <a:moveTo>
                  <a:pt x="17" y="0"/>
                </a:moveTo>
                <a:lnTo>
                  <a:pt x="40" y="45"/>
                </a:lnTo>
                <a:lnTo>
                  <a:pt x="0" y="80"/>
                </a:lnTo>
                <a:lnTo>
                  <a:pt x="0" y="120"/>
                </a:lnTo>
                <a:lnTo>
                  <a:pt x="17" y="0"/>
                </a:lnTo>
                <a:close/>
              </a:path>
              <a:path w="40" h="120">
                <a:moveTo>
                  <a:pt x="17" y="0"/>
                </a:moveTo>
                <a:lnTo>
                  <a:pt x="40" y="45"/>
                </a:lnTo>
                <a:lnTo>
                  <a:pt x="0" y="80"/>
                </a:lnTo>
                <a:lnTo>
                  <a:pt x="0" y="120"/>
                </a:lnTo>
              </a:path>
            </a:pathLst>
          </a:custGeom>
          <a:solidFill>
            <a:srgbClr val="E6E6E6">
              <a:alpha val="100000"/>
            </a:srgbClr>
          </a:solidFill>
          <a:ln cap="flat">
            <a:noFill/>
            <a:prstDash val="solid"/>
            <a:miter lim="0"/>
          </a:ln>
        </p:spPr>
        <p:txBody>
          <a:bodyPr rtlCol="0"/>
          <a:lstStyle/>
          <a:p>
            <a:pPr algn="ctr"/>
            <a:endParaRPr lang="zh-CN" altLang="en-US"/>
          </a:p>
        </p:txBody>
      </p:sp>
      <p:pic>
        <p:nvPicPr>
          <p:cNvPr id="38" name="picture 38"/>
          <p:cNvPicPr>
            <a:picLocks noChangeAspect="1"/>
          </p:cNvPicPr>
          <p:nvPr/>
        </p:nvPicPr>
        <p:blipFill>
          <a:blip r:embed="rId2"/>
          <a:stretch>
            <a:fillRect/>
          </a:stretch>
        </p:blipFill>
        <p:spPr>
          <a:xfrm rot="21600000">
            <a:off x="7639939" y="5821324"/>
            <a:ext cx="104902" cy="109016"/>
          </a:xfrm>
          <a:prstGeom prst="rect">
            <a:avLst/>
          </a:prstGeom>
        </p:spPr>
      </p:pic>
      <p:grpSp>
        <p:nvGrpSpPr>
          <p:cNvPr id="2" name="group 2"/>
          <p:cNvGrpSpPr/>
          <p:nvPr/>
        </p:nvGrpSpPr>
        <p:grpSpPr>
          <a:xfrm rot="21600000">
            <a:off x="4639055" y="1836420"/>
            <a:ext cx="4094680" cy="4578095"/>
            <a:chOff x="0" y="0"/>
            <a:chExt cx="4094680" cy="4578095"/>
          </a:xfrm>
        </p:grpSpPr>
        <p:sp>
          <p:nvSpPr>
            <p:cNvPr id="39" name="rect"/>
            <p:cNvSpPr/>
            <p:nvPr/>
          </p:nvSpPr>
          <p:spPr>
            <a:xfrm>
              <a:off x="0" y="0"/>
              <a:ext cx="4067555" cy="4578095"/>
            </a:xfrm>
            <a:prstGeom prst="rect">
              <a:avLst/>
            </a:prstGeom>
            <a:solidFill>
              <a:srgbClr val="BFE1FF">
                <a:alpha val="49803"/>
              </a:srgbClr>
            </a:solidFill>
            <a:ln cap="flat">
              <a:noFill/>
              <a:prstDash val="solid"/>
              <a:miter lim="0"/>
            </a:ln>
          </p:spPr>
          <p:txBody>
            <a:bodyPr rtlCol="0"/>
            <a:lstStyle/>
            <a:p>
              <a:pPr algn="ctr"/>
              <a:endParaRPr lang="zh-CN" altLang="en-US"/>
            </a:p>
          </p:txBody>
        </p:sp>
        <p:sp>
          <p:nvSpPr>
            <p:cNvPr id="40" name="textbox 40"/>
            <p:cNvSpPr/>
            <p:nvPr/>
          </p:nvSpPr>
          <p:spPr>
            <a:xfrm>
              <a:off x="74059" y="96016"/>
              <a:ext cx="4033520" cy="4460240"/>
            </a:xfrm>
            <a:prstGeom prst="rect">
              <a:avLst/>
            </a:prstGeom>
          </p:spPr>
          <p:txBody>
            <a:bodyPr vert="horz" wrap="square" lIns="0" tIns="0" rIns="0" bIns="0"/>
            <a:lstStyle/>
            <a:p>
              <a:pPr algn="l" rtl="0" eaLnBrk="0">
                <a:lnSpc>
                  <a:spcPct val="67000"/>
                </a:lnSpc>
              </a:pPr>
              <a:endParaRPr lang="en-US" altLang="en-US" sz="100" dirty="0">
                <a:latin typeface="微软雅黑" panose="020B0503020204020204" charset="-122"/>
                <a:ea typeface="微软雅黑" panose="020B0503020204020204" charset="-122"/>
              </a:endParaRPr>
            </a:p>
            <a:p>
              <a:pPr marL="196850" indent="-184150" algn="l" rtl="0" eaLnBrk="0">
                <a:lnSpc>
                  <a:spcPct val="103000"/>
                </a:lnSpc>
              </a:pPr>
              <a:r>
                <a:rPr sz="1500" spc="9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乙方亚太卓越营销和销售咨询业务的</a:t>
              </a:r>
              <a:r>
                <a:rPr sz="1500" spc="30" dirty="0">
                  <a:solidFill>
                    <a:srgbClr val="000000">
                      <a:alpha val="100000"/>
                    </a:srgbClr>
                  </a:solidFill>
                  <a:latin typeface="微软雅黑" panose="020B0503020204020204" charset="-122"/>
                  <a:ea typeface="微软雅黑" panose="020B0503020204020204" charset="-122"/>
                  <a:cs typeface="楷体" panose="02010609060101010101" charset="-122"/>
                </a:rPr>
                <a:t>核</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40" dirty="0">
                  <a:solidFill>
                    <a:srgbClr val="000000">
                      <a:alpha val="100000"/>
                    </a:srgbClr>
                  </a:solidFill>
                  <a:latin typeface="微软雅黑" panose="020B0503020204020204" charset="-122"/>
                  <a:ea typeface="微软雅黑" panose="020B0503020204020204" charset="-122"/>
                  <a:cs typeface="楷体" panose="02010609060101010101" charset="-122"/>
                </a:rPr>
                <a:t>心专家，  服务乙方超过十年，拥有</a:t>
              </a:r>
              <a:r>
                <a:rPr sz="1500" spc="20" dirty="0">
                  <a:solidFill>
                    <a:srgbClr val="000000">
                      <a:alpha val="100000"/>
                    </a:srgbClr>
                  </a:solidFill>
                  <a:latin typeface="微软雅黑" panose="020B0503020204020204" charset="-122"/>
                  <a:ea typeface="微软雅黑" panose="020B0503020204020204" charset="-122"/>
                  <a:cs typeface="楷体" panose="02010609060101010101" charset="-122"/>
                </a:rPr>
                <a:t>丰</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富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化工行业营销与销售转型经</a:t>
              </a:r>
              <a:r>
                <a:rPr sz="1500" spc="50" dirty="0">
                  <a:solidFill>
                    <a:srgbClr val="000000">
                      <a:alpha val="100000"/>
                    </a:srgbClr>
                  </a:solidFill>
                  <a:latin typeface="微软雅黑" panose="020B0503020204020204" charset="-122"/>
                  <a:ea typeface="微软雅黑" panose="020B0503020204020204" charset="-122"/>
                  <a:cs typeface="楷体" panose="02010609060101010101" charset="-122"/>
                </a:rPr>
                <a:t>验</a:t>
              </a:r>
              <a:endParaRPr lang="en-US" altLang="en-US" sz="1500" dirty="0">
                <a:latin typeface="微软雅黑" panose="020B0503020204020204" charset="-122"/>
                <a:ea typeface="微软雅黑" panose="020B0503020204020204" charset="-122"/>
              </a:endParaRPr>
            </a:p>
            <a:p>
              <a:pPr marL="199390" indent="-186690" algn="l" rtl="0" eaLnBrk="0">
                <a:lnSpc>
                  <a:spcPct val="103000"/>
                </a:lnSpc>
                <a:spcBef>
                  <a:spcPts val="680"/>
                </a:spcBef>
              </a:pPr>
              <a:r>
                <a:rPr sz="1500" spc="9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协助一基础材料企业实现全方面的营销</a:t>
              </a:r>
              <a:r>
                <a:rPr sz="1500" spc="30" dirty="0">
                  <a:solidFill>
                    <a:srgbClr val="000000">
                      <a:alpha val="100000"/>
                    </a:srgbClr>
                  </a:solidFill>
                  <a:latin typeface="微软雅黑" panose="020B0503020204020204" charset="-122"/>
                  <a:ea typeface="微软雅黑" panose="020B0503020204020204" charset="-122"/>
                  <a:cs typeface="楷体" panose="02010609060101010101" charset="-122"/>
                </a:rPr>
                <a:t>转</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型，包括大客户管理流程重造、渠道优化</a:t>
              </a:r>
              <a:r>
                <a:rPr sz="1500" spc="70" dirty="0">
                  <a:solidFill>
                    <a:srgbClr val="000000">
                      <a:alpha val="100000"/>
                    </a:srgbClr>
                  </a:solidFill>
                  <a:latin typeface="微软雅黑" panose="020B0503020204020204" charset="-122"/>
                  <a:ea typeface="微软雅黑" panose="020B0503020204020204" charset="-122"/>
                  <a:cs typeface="楷体" panose="02010609060101010101" charset="-122"/>
                </a:rPr>
                <a:t>、</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销售激励设计</a:t>
              </a:r>
              <a:r>
                <a:rPr sz="1500" spc="30" dirty="0">
                  <a:solidFill>
                    <a:srgbClr val="000000">
                      <a:alpha val="100000"/>
                    </a:srgbClr>
                  </a:solidFill>
                  <a:latin typeface="微软雅黑" panose="020B0503020204020204" charset="-122"/>
                  <a:ea typeface="微软雅黑" panose="020B0503020204020204" charset="-122"/>
                  <a:cs typeface="楷体" panose="02010609060101010101" charset="-122"/>
                </a:rPr>
                <a:t>等</a:t>
              </a:r>
              <a:endParaRPr lang="en-US" altLang="en-US" sz="1500" dirty="0">
                <a:latin typeface="微软雅黑" panose="020B0503020204020204" charset="-122"/>
                <a:ea typeface="微软雅黑" panose="020B0503020204020204" charset="-122"/>
              </a:endParaRPr>
            </a:p>
            <a:p>
              <a:pPr marL="194945" indent="-182245" algn="l" rtl="0" eaLnBrk="0">
                <a:lnSpc>
                  <a:spcPct val="101000"/>
                </a:lnSpc>
                <a:spcBef>
                  <a:spcPts val="590"/>
                </a:spcBef>
              </a:pPr>
              <a:r>
                <a:rPr sz="1500" spc="9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协助一工业包装企业优化大客户管</a:t>
              </a:r>
              <a:r>
                <a:rPr sz="1500" spc="80" dirty="0">
                  <a:solidFill>
                    <a:srgbClr val="000000">
                      <a:alpha val="100000"/>
                    </a:srgbClr>
                  </a:solidFill>
                  <a:latin typeface="微软雅黑" panose="020B0503020204020204" charset="-122"/>
                  <a:ea typeface="微软雅黑" panose="020B0503020204020204" charset="-122"/>
                  <a:cs typeface="楷体" panose="02010609060101010101" charset="-122"/>
                </a:rPr>
                <a:t>理</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，包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括大客户经理培训以优化客户业</a:t>
              </a:r>
              <a:r>
                <a:rPr sz="1500" spc="60" dirty="0">
                  <a:solidFill>
                    <a:srgbClr val="000000">
                      <a:alpha val="100000"/>
                    </a:srgbClr>
                  </a:solidFill>
                  <a:latin typeface="微软雅黑" panose="020B0503020204020204" charset="-122"/>
                  <a:ea typeface="微软雅黑" panose="020B0503020204020204" charset="-122"/>
                  <a:cs typeface="楷体" panose="02010609060101010101" charset="-122"/>
                </a:rPr>
                <a:t>务</a:t>
              </a:r>
              <a:endParaRPr lang="en-US" altLang="en-US" sz="1500" dirty="0">
                <a:latin typeface="微软雅黑" panose="020B0503020204020204" charset="-122"/>
                <a:ea typeface="微软雅黑" panose="020B0503020204020204" charset="-122"/>
              </a:endParaRPr>
            </a:p>
            <a:p>
              <a:pPr marL="194945" indent="-182245" algn="l" rtl="0" eaLnBrk="0">
                <a:lnSpc>
                  <a:spcPct val="102000"/>
                </a:lnSpc>
                <a:spcBef>
                  <a:spcPts val="620"/>
                </a:spcBef>
              </a:pPr>
              <a:r>
                <a:rPr sz="1500" spc="9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帮助一家化工企业推动卓越营销与销售</a:t>
              </a:r>
              <a:r>
                <a:rPr sz="1500" spc="30" dirty="0">
                  <a:solidFill>
                    <a:srgbClr val="000000">
                      <a:alpha val="100000"/>
                    </a:srgbClr>
                  </a:solidFill>
                  <a:latin typeface="微软雅黑" panose="020B0503020204020204" charset="-122"/>
                  <a:ea typeface="微软雅黑" panose="020B0503020204020204" charset="-122"/>
                  <a:cs typeface="楷体" panose="02010609060101010101" charset="-122"/>
                </a:rPr>
                <a:t>转</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60" dirty="0">
                  <a:solidFill>
                    <a:srgbClr val="000000">
                      <a:alpha val="100000"/>
                    </a:srgbClr>
                  </a:solidFill>
                  <a:latin typeface="微软雅黑" panose="020B0503020204020204" charset="-122"/>
                  <a:ea typeface="微软雅黑" panose="020B0503020204020204" charset="-122"/>
                  <a:cs typeface="楷体" panose="02010609060101010101" charset="-122"/>
                </a:rPr>
                <a:t>型，包括定价、大客户管理， 并成立</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全面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作战</a:t>
              </a:r>
              <a:r>
                <a:rPr sz="1500" spc="70" dirty="0">
                  <a:solidFill>
                    <a:srgbClr val="000000">
                      <a:alpha val="100000"/>
                    </a:srgbClr>
                  </a:solidFill>
                  <a:latin typeface="微软雅黑" panose="020B0503020204020204" charset="-122"/>
                  <a:ea typeface="微软雅黑" panose="020B0503020204020204" charset="-122"/>
                  <a:cs typeface="楷体" panose="02010609060101010101" charset="-122"/>
                </a:rPr>
                <a:t>室</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endParaRPr lang="en-US" altLang="en-US" sz="1500" dirty="0">
                <a:latin typeface="微软雅黑" panose="020B0503020204020204" charset="-122"/>
                <a:ea typeface="微软雅黑" panose="020B0503020204020204" charset="-122"/>
              </a:endParaRPr>
            </a:p>
            <a:p>
              <a:pPr marL="203835" indent="-191135" algn="l" rtl="0" eaLnBrk="0">
                <a:lnSpc>
                  <a:spcPct val="103000"/>
                </a:lnSpc>
                <a:spcBef>
                  <a:spcPts val="640"/>
                </a:spcBef>
              </a:pPr>
              <a:r>
                <a:rPr sz="1500" spc="9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协助亚洲领先石化企业设计集团营销</a:t>
              </a:r>
              <a:r>
                <a:rPr sz="1500" spc="80" dirty="0">
                  <a:solidFill>
                    <a:srgbClr val="000000">
                      <a:alpha val="100000"/>
                    </a:srgbClr>
                  </a:solidFill>
                  <a:latin typeface="微软雅黑" panose="020B0503020204020204" charset="-122"/>
                  <a:ea typeface="微软雅黑" panose="020B0503020204020204" charset="-122"/>
                  <a:cs typeface="楷体" panose="02010609060101010101" charset="-122"/>
                </a:rPr>
                <a:t>战</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略，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包括营销能力诊断，战略设计和速赢</a:t>
              </a:r>
              <a:r>
                <a:rPr sz="1500" spc="80" dirty="0">
                  <a:solidFill>
                    <a:srgbClr val="000000">
                      <a:alpha val="100000"/>
                    </a:srgbClr>
                  </a:solidFill>
                  <a:latin typeface="微软雅黑" panose="020B0503020204020204" charset="-122"/>
                  <a:ea typeface="微软雅黑" panose="020B0503020204020204" charset="-122"/>
                  <a:cs typeface="楷体" panose="02010609060101010101" charset="-122"/>
                </a:rPr>
                <a:t>方</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案  </a:t>
              </a:r>
              <a:r>
                <a:rPr sz="1500" spc="60" dirty="0">
                  <a:solidFill>
                    <a:srgbClr val="000000">
                      <a:alpha val="100000"/>
                    </a:srgbClr>
                  </a:solidFill>
                  <a:latin typeface="微软雅黑" panose="020B0503020204020204" charset="-122"/>
                  <a:ea typeface="微软雅黑" panose="020B0503020204020204" charset="-122"/>
                  <a:cs typeface="楷体" panose="02010609060101010101" charset="-122"/>
                </a:rPr>
                <a:t>制</a:t>
              </a:r>
              <a:r>
                <a:rPr sz="1500" spc="40" dirty="0">
                  <a:solidFill>
                    <a:srgbClr val="000000">
                      <a:alpha val="100000"/>
                    </a:srgbClr>
                  </a:solidFill>
                  <a:latin typeface="微软雅黑" panose="020B0503020204020204" charset="-122"/>
                  <a:ea typeface="微软雅黑" panose="020B0503020204020204" charset="-122"/>
                  <a:cs typeface="楷体" panose="02010609060101010101" charset="-122"/>
                </a:rPr>
                <a:t>定</a:t>
              </a:r>
              <a:endParaRPr lang="en-US" altLang="en-US" sz="1500" dirty="0">
                <a:latin typeface="微软雅黑" panose="020B0503020204020204" charset="-122"/>
                <a:ea typeface="微软雅黑" panose="020B0503020204020204" charset="-122"/>
              </a:endParaRPr>
            </a:p>
            <a:p>
              <a:pPr marL="12700" algn="l" rtl="0" eaLnBrk="0">
                <a:lnSpc>
                  <a:spcPct val="100000"/>
                </a:lnSpc>
                <a:spcBef>
                  <a:spcPts val="475"/>
                </a:spcBef>
              </a:pPr>
              <a:r>
                <a:rPr sz="1500" spc="9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协助欧洲领先化工企业设计营销渠</a:t>
              </a:r>
              <a:r>
                <a:rPr sz="1500" spc="10" dirty="0">
                  <a:solidFill>
                    <a:srgbClr val="000000">
                      <a:alpha val="100000"/>
                    </a:srgbClr>
                  </a:solidFill>
                  <a:latin typeface="微软雅黑" panose="020B0503020204020204" charset="-122"/>
                  <a:ea typeface="微软雅黑" panose="020B0503020204020204" charset="-122"/>
                  <a:cs typeface="楷体" panose="02010609060101010101" charset="-122"/>
                </a:rPr>
                <a:t>道</a:t>
              </a:r>
              <a:endParaRPr lang="en-US" altLang="en-US" sz="1500" dirty="0">
                <a:latin typeface="微软雅黑" panose="020B0503020204020204" charset="-122"/>
                <a:ea typeface="微软雅黑" panose="020B0503020204020204" charset="-122"/>
              </a:endParaRPr>
            </a:p>
            <a:p>
              <a:pPr algn="l" rtl="0" eaLnBrk="0">
                <a:lnSpc>
                  <a:spcPct val="118000"/>
                </a:lnSpc>
              </a:pPr>
              <a:endParaRPr lang="en-US" altLang="en-US" sz="500" dirty="0">
                <a:latin typeface="微软雅黑" panose="020B0503020204020204" charset="-122"/>
                <a:ea typeface="微软雅黑" panose="020B0503020204020204" charset="-122"/>
              </a:endParaRPr>
            </a:p>
            <a:p>
              <a:pPr marL="224790" indent="-212090" algn="l" rtl="0" eaLnBrk="0">
                <a:lnSpc>
                  <a:spcPct val="100000"/>
                </a:lnSpc>
                <a:spcBef>
                  <a:spcPts val="0"/>
                </a:spcBef>
              </a:pPr>
              <a:r>
                <a:rPr sz="1500" spc="5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50" dirty="0">
                  <a:solidFill>
                    <a:srgbClr val="000000">
                      <a:alpha val="100000"/>
                    </a:srgbClr>
                  </a:solidFill>
                  <a:latin typeface="微软雅黑" panose="020B0503020204020204" charset="-122"/>
                  <a:ea typeface="微软雅黑" panose="020B0503020204020204" charset="-122"/>
                  <a:cs typeface="楷体" panose="02010609060101010101" charset="-122"/>
                </a:rPr>
                <a:t>在加入乙方前， 刘寅服务于巴斯夫和</a:t>
              </a:r>
              <a:r>
                <a:rPr sz="1500" spc="30" dirty="0">
                  <a:solidFill>
                    <a:srgbClr val="000000">
                      <a:alpha val="100000"/>
                    </a:srgbClr>
                  </a:solidFill>
                  <a:latin typeface="微软雅黑" panose="020B0503020204020204" charset="-122"/>
                  <a:ea typeface="微软雅黑" panose="020B0503020204020204" charset="-122"/>
                  <a:cs typeface="楷体" panose="02010609060101010101" charset="-122"/>
                </a:rPr>
                <a:t>韩</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80" dirty="0">
                  <a:solidFill>
                    <a:srgbClr val="000000">
                      <a:alpha val="100000"/>
                    </a:srgbClr>
                  </a:solidFill>
                  <a:latin typeface="微软雅黑" panose="020B0503020204020204" charset="-122"/>
                  <a:ea typeface="微软雅黑" panose="020B0503020204020204" charset="-122"/>
                  <a:cs typeface="楷体" panose="02010609060101010101" charset="-122"/>
                </a:rPr>
                <a:t>国石化公司市场部</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门</a:t>
              </a:r>
              <a:endParaRPr lang="en-US" altLang="en-US" sz="1500" dirty="0">
                <a:latin typeface="微软雅黑" panose="020B0503020204020204" charset="-122"/>
                <a:ea typeface="微软雅黑" panose="020B0503020204020204" charset="-122"/>
              </a:endParaRPr>
            </a:p>
          </p:txBody>
        </p:sp>
        <p:sp>
          <p:nvSpPr>
            <p:cNvPr id="41" name="path"/>
            <p:cNvSpPr/>
            <p:nvPr/>
          </p:nvSpPr>
          <p:spPr>
            <a:xfrm>
              <a:off x="3433571" y="2781299"/>
              <a:ext cx="45720" cy="48768"/>
            </a:xfrm>
            <a:custGeom>
              <a:avLst/>
              <a:gdLst/>
              <a:ahLst/>
              <a:cxnLst/>
              <a:rect l="0" t="0" r="0" b="0"/>
              <a:pathLst>
                <a:path w="72" h="76">
                  <a:moveTo>
                    <a:pt x="72" y="0"/>
                  </a:moveTo>
                  <a:lnTo>
                    <a:pt x="0" y="0"/>
                  </a:lnTo>
                  <a:lnTo>
                    <a:pt x="37" y="42"/>
                  </a:lnTo>
                  <a:lnTo>
                    <a:pt x="72" y="76"/>
                  </a:lnTo>
                  <a:lnTo>
                    <a:pt x="72" y="42"/>
                  </a:lnTo>
                  <a:lnTo>
                    <a:pt x="72" y="0"/>
                  </a:lnTo>
                </a:path>
              </a:pathLst>
            </a:custGeom>
            <a:solidFill>
              <a:srgbClr val="E6E6E6">
                <a:alpha val="100000"/>
              </a:srgbClr>
            </a:solidFill>
            <a:ln cap="flat">
              <a:noFill/>
              <a:prstDash val="solid"/>
              <a:miter lim="0"/>
            </a:ln>
          </p:spPr>
          <p:txBody>
            <a:bodyPr rtlCol="0"/>
            <a:lstStyle/>
            <a:p>
              <a:pPr algn="ctr"/>
              <a:endParaRPr lang="zh-CN" altLang="en-US"/>
            </a:p>
          </p:txBody>
        </p:sp>
        <p:sp>
          <p:nvSpPr>
            <p:cNvPr id="42" name="path"/>
            <p:cNvSpPr/>
            <p:nvPr/>
          </p:nvSpPr>
          <p:spPr>
            <a:xfrm>
              <a:off x="2484120" y="2714243"/>
              <a:ext cx="68580" cy="67055"/>
            </a:xfrm>
            <a:custGeom>
              <a:avLst/>
              <a:gdLst/>
              <a:ahLst/>
              <a:cxnLst/>
              <a:rect l="0" t="0" r="0" b="0"/>
              <a:pathLst>
                <a:path w="108" h="105">
                  <a:moveTo>
                    <a:pt x="35" y="0"/>
                  </a:moveTo>
                  <a:lnTo>
                    <a:pt x="0" y="0"/>
                  </a:lnTo>
                  <a:lnTo>
                    <a:pt x="35" y="31"/>
                  </a:lnTo>
                  <a:lnTo>
                    <a:pt x="73" y="31"/>
                  </a:lnTo>
                  <a:lnTo>
                    <a:pt x="108" y="31"/>
                  </a:lnTo>
                  <a:lnTo>
                    <a:pt x="108" y="0"/>
                  </a:lnTo>
                  <a:lnTo>
                    <a:pt x="73" y="0"/>
                  </a:lnTo>
                  <a:lnTo>
                    <a:pt x="35" y="0"/>
                  </a:lnTo>
                </a:path>
                <a:path w="108" h="105">
                  <a:moveTo>
                    <a:pt x="33" y="105"/>
                  </a:moveTo>
                  <a:lnTo>
                    <a:pt x="33" y="72"/>
                  </a:lnTo>
                  <a:lnTo>
                    <a:pt x="0" y="72"/>
                  </a:lnTo>
                  <a:lnTo>
                    <a:pt x="33" y="105"/>
                  </a:lnTo>
                </a:path>
              </a:pathLst>
            </a:custGeom>
            <a:solidFill>
              <a:srgbClr val="E6E6E6">
                <a:alpha val="100000"/>
              </a:srgbClr>
            </a:solidFill>
            <a:ln cap="flat">
              <a:noFill/>
              <a:prstDash val="solid"/>
              <a:miter lim="0"/>
            </a:ln>
          </p:spPr>
          <p:txBody>
            <a:bodyPr rtlCol="0"/>
            <a:lstStyle/>
            <a:p>
              <a:pPr algn="ctr"/>
              <a:endParaRPr lang="zh-CN" altLang="en-US"/>
            </a:p>
          </p:txBody>
        </p:sp>
      </p:grpSp>
      <p:sp>
        <p:nvSpPr>
          <p:cNvPr id="43" name="path"/>
          <p:cNvSpPr/>
          <p:nvPr/>
        </p:nvSpPr>
        <p:spPr>
          <a:xfrm>
            <a:off x="3069336" y="1822704"/>
            <a:ext cx="259079" cy="164591"/>
          </a:xfrm>
          <a:custGeom>
            <a:avLst/>
            <a:gdLst/>
            <a:ahLst/>
            <a:cxnLst/>
            <a:rect l="0" t="0" r="0" b="0"/>
            <a:pathLst>
              <a:path w="407" h="259">
                <a:moveTo>
                  <a:pt x="149" y="34"/>
                </a:moveTo>
                <a:lnTo>
                  <a:pt x="149" y="74"/>
                </a:lnTo>
                <a:lnTo>
                  <a:pt x="109" y="74"/>
                </a:lnTo>
                <a:lnTo>
                  <a:pt x="109" y="34"/>
                </a:lnTo>
                <a:lnTo>
                  <a:pt x="74" y="0"/>
                </a:lnTo>
                <a:lnTo>
                  <a:pt x="34" y="0"/>
                </a:lnTo>
                <a:lnTo>
                  <a:pt x="34" y="34"/>
                </a:lnTo>
                <a:lnTo>
                  <a:pt x="74" y="34"/>
                </a:lnTo>
                <a:lnTo>
                  <a:pt x="34" y="34"/>
                </a:lnTo>
                <a:lnTo>
                  <a:pt x="0" y="34"/>
                </a:lnTo>
                <a:lnTo>
                  <a:pt x="0" y="74"/>
                </a:lnTo>
                <a:lnTo>
                  <a:pt x="34" y="74"/>
                </a:lnTo>
                <a:lnTo>
                  <a:pt x="74" y="109"/>
                </a:lnTo>
                <a:lnTo>
                  <a:pt x="109" y="109"/>
                </a:lnTo>
                <a:lnTo>
                  <a:pt x="109" y="149"/>
                </a:lnTo>
                <a:lnTo>
                  <a:pt x="74" y="149"/>
                </a:lnTo>
                <a:lnTo>
                  <a:pt x="34" y="149"/>
                </a:lnTo>
                <a:lnTo>
                  <a:pt x="74" y="184"/>
                </a:lnTo>
                <a:lnTo>
                  <a:pt x="109" y="184"/>
                </a:lnTo>
                <a:lnTo>
                  <a:pt x="74" y="184"/>
                </a:lnTo>
                <a:lnTo>
                  <a:pt x="74" y="224"/>
                </a:lnTo>
                <a:lnTo>
                  <a:pt x="109" y="259"/>
                </a:lnTo>
                <a:lnTo>
                  <a:pt x="149" y="259"/>
                </a:lnTo>
                <a:lnTo>
                  <a:pt x="183" y="259"/>
                </a:lnTo>
                <a:lnTo>
                  <a:pt x="224" y="224"/>
                </a:lnTo>
                <a:lnTo>
                  <a:pt x="298" y="259"/>
                </a:lnTo>
                <a:lnTo>
                  <a:pt x="333" y="224"/>
                </a:lnTo>
                <a:lnTo>
                  <a:pt x="333" y="184"/>
                </a:lnTo>
                <a:lnTo>
                  <a:pt x="373" y="184"/>
                </a:lnTo>
                <a:lnTo>
                  <a:pt x="407" y="149"/>
                </a:lnTo>
                <a:lnTo>
                  <a:pt x="407" y="109"/>
                </a:lnTo>
                <a:lnTo>
                  <a:pt x="407" y="74"/>
                </a:lnTo>
                <a:lnTo>
                  <a:pt x="373" y="74"/>
                </a:lnTo>
                <a:lnTo>
                  <a:pt x="373" y="34"/>
                </a:lnTo>
                <a:lnTo>
                  <a:pt x="333" y="34"/>
                </a:lnTo>
                <a:lnTo>
                  <a:pt x="298" y="34"/>
                </a:lnTo>
                <a:lnTo>
                  <a:pt x="258" y="34"/>
                </a:lnTo>
                <a:lnTo>
                  <a:pt x="224" y="74"/>
                </a:lnTo>
                <a:lnTo>
                  <a:pt x="224" y="34"/>
                </a:lnTo>
                <a:lnTo>
                  <a:pt x="183" y="34"/>
                </a:lnTo>
                <a:lnTo>
                  <a:pt x="149" y="34"/>
                </a:lnTo>
                <a:lnTo>
                  <a:pt x="149" y="34"/>
                </a:lnTo>
                <a:close/>
              </a:path>
            </a:pathLst>
          </a:custGeom>
          <a:solidFill>
            <a:srgbClr val="E6E6E6">
              <a:alpha val="100000"/>
            </a:srgbClr>
          </a:solidFill>
          <a:ln cap="flat">
            <a:noFill/>
            <a:prstDash val="solid"/>
            <a:miter lim="0"/>
          </a:ln>
        </p:spPr>
        <p:txBody>
          <a:bodyPr rtlCol="0"/>
          <a:lstStyle/>
          <a:p>
            <a:pPr algn="ctr"/>
            <a:endParaRPr lang="zh-CN" altLang="en-US"/>
          </a:p>
        </p:txBody>
      </p:sp>
      <p:sp>
        <p:nvSpPr>
          <p:cNvPr id="44" name="path"/>
          <p:cNvSpPr/>
          <p:nvPr/>
        </p:nvSpPr>
        <p:spPr>
          <a:xfrm>
            <a:off x="2427732" y="707136"/>
            <a:ext cx="806195" cy="1280159"/>
          </a:xfrm>
          <a:custGeom>
            <a:avLst/>
            <a:gdLst/>
            <a:ahLst/>
            <a:cxnLst/>
            <a:rect l="0" t="0" r="0" b="0"/>
            <a:pathLst>
              <a:path w="1269" h="2015">
                <a:moveTo>
                  <a:pt x="562" y="224"/>
                </a:moveTo>
                <a:lnTo>
                  <a:pt x="447" y="189"/>
                </a:lnTo>
                <a:lnTo>
                  <a:pt x="373" y="224"/>
                </a:lnTo>
                <a:lnTo>
                  <a:pt x="338" y="264"/>
                </a:lnTo>
                <a:lnTo>
                  <a:pt x="298" y="298"/>
                </a:lnTo>
                <a:lnTo>
                  <a:pt x="264" y="338"/>
                </a:lnTo>
                <a:lnTo>
                  <a:pt x="264" y="413"/>
                </a:lnTo>
                <a:lnTo>
                  <a:pt x="189" y="413"/>
                </a:lnTo>
                <a:lnTo>
                  <a:pt x="149" y="488"/>
                </a:lnTo>
                <a:lnTo>
                  <a:pt x="189" y="562"/>
                </a:lnTo>
                <a:lnTo>
                  <a:pt x="114" y="637"/>
                </a:lnTo>
                <a:lnTo>
                  <a:pt x="0" y="672"/>
                </a:lnTo>
                <a:lnTo>
                  <a:pt x="0" y="712"/>
                </a:lnTo>
                <a:lnTo>
                  <a:pt x="114" y="786"/>
                </a:lnTo>
                <a:lnTo>
                  <a:pt x="40" y="821"/>
                </a:lnTo>
                <a:lnTo>
                  <a:pt x="40" y="861"/>
                </a:lnTo>
                <a:lnTo>
                  <a:pt x="74" y="936"/>
                </a:lnTo>
                <a:lnTo>
                  <a:pt x="189" y="895"/>
                </a:lnTo>
                <a:lnTo>
                  <a:pt x="223" y="895"/>
                </a:lnTo>
                <a:lnTo>
                  <a:pt x="298" y="936"/>
                </a:lnTo>
                <a:lnTo>
                  <a:pt x="298" y="970"/>
                </a:lnTo>
                <a:lnTo>
                  <a:pt x="373" y="1085"/>
                </a:lnTo>
                <a:lnTo>
                  <a:pt x="413" y="1120"/>
                </a:lnTo>
                <a:lnTo>
                  <a:pt x="413" y="1194"/>
                </a:lnTo>
                <a:lnTo>
                  <a:pt x="413" y="1269"/>
                </a:lnTo>
                <a:lnTo>
                  <a:pt x="447" y="1309"/>
                </a:lnTo>
                <a:lnTo>
                  <a:pt x="447" y="1344"/>
                </a:lnTo>
                <a:lnTo>
                  <a:pt x="373" y="1384"/>
                </a:lnTo>
                <a:lnTo>
                  <a:pt x="373" y="1418"/>
                </a:lnTo>
                <a:lnTo>
                  <a:pt x="373" y="1493"/>
                </a:lnTo>
                <a:lnTo>
                  <a:pt x="338" y="1533"/>
                </a:lnTo>
                <a:lnTo>
                  <a:pt x="373" y="1567"/>
                </a:lnTo>
                <a:lnTo>
                  <a:pt x="373" y="1608"/>
                </a:lnTo>
                <a:lnTo>
                  <a:pt x="373" y="1682"/>
                </a:lnTo>
                <a:lnTo>
                  <a:pt x="373" y="1757"/>
                </a:lnTo>
                <a:lnTo>
                  <a:pt x="413" y="1832"/>
                </a:lnTo>
                <a:lnTo>
                  <a:pt x="447" y="1866"/>
                </a:lnTo>
                <a:lnTo>
                  <a:pt x="413" y="1941"/>
                </a:lnTo>
                <a:lnTo>
                  <a:pt x="447" y="1981"/>
                </a:lnTo>
                <a:lnTo>
                  <a:pt x="522" y="1981"/>
                </a:lnTo>
                <a:lnTo>
                  <a:pt x="522" y="2015"/>
                </a:lnTo>
                <a:lnTo>
                  <a:pt x="562" y="2015"/>
                </a:lnTo>
                <a:lnTo>
                  <a:pt x="637" y="1981"/>
                </a:lnTo>
                <a:lnTo>
                  <a:pt x="672" y="1906"/>
                </a:lnTo>
                <a:lnTo>
                  <a:pt x="672" y="1792"/>
                </a:lnTo>
                <a:lnTo>
                  <a:pt x="712" y="1717"/>
                </a:lnTo>
                <a:lnTo>
                  <a:pt x="746" y="1608"/>
                </a:lnTo>
                <a:lnTo>
                  <a:pt x="786" y="1567"/>
                </a:lnTo>
                <a:lnTo>
                  <a:pt x="861" y="1533"/>
                </a:lnTo>
                <a:lnTo>
                  <a:pt x="936" y="1493"/>
                </a:lnTo>
                <a:lnTo>
                  <a:pt x="970" y="1458"/>
                </a:lnTo>
                <a:lnTo>
                  <a:pt x="970" y="1384"/>
                </a:lnTo>
                <a:lnTo>
                  <a:pt x="1045" y="1344"/>
                </a:lnTo>
                <a:lnTo>
                  <a:pt x="1120" y="1269"/>
                </a:lnTo>
                <a:lnTo>
                  <a:pt x="1160" y="1269"/>
                </a:lnTo>
                <a:lnTo>
                  <a:pt x="1235" y="1194"/>
                </a:lnTo>
                <a:lnTo>
                  <a:pt x="1194" y="1160"/>
                </a:lnTo>
                <a:lnTo>
                  <a:pt x="1120" y="1160"/>
                </a:lnTo>
                <a:lnTo>
                  <a:pt x="1120" y="1120"/>
                </a:lnTo>
                <a:lnTo>
                  <a:pt x="1120" y="1085"/>
                </a:lnTo>
                <a:lnTo>
                  <a:pt x="1120" y="1045"/>
                </a:lnTo>
                <a:lnTo>
                  <a:pt x="1194" y="1085"/>
                </a:lnTo>
                <a:lnTo>
                  <a:pt x="1235" y="1085"/>
                </a:lnTo>
                <a:lnTo>
                  <a:pt x="1269" y="1085"/>
                </a:lnTo>
                <a:lnTo>
                  <a:pt x="1235" y="1010"/>
                </a:lnTo>
                <a:lnTo>
                  <a:pt x="1160" y="1010"/>
                </a:lnTo>
                <a:lnTo>
                  <a:pt x="1120" y="970"/>
                </a:lnTo>
                <a:lnTo>
                  <a:pt x="1120" y="936"/>
                </a:lnTo>
                <a:lnTo>
                  <a:pt x="1194" y="895"/>
                </a:lnTo>
                <a:lnTo>
                  <a:pt x="1160" y="861"/>
                </a:lnTo>
                <a:lnTo>
                  <a:pt x="1194" y="821"/>
                </a:lnTo>
                <a:lnTo>
                  <a:pt x="1194" y="786"/>
                </a:lnTo>
                <a:lnTo>
                  <a:pt x="1194" y="712"/>
                </a:lnTo>
                <a:lnTo>
                  <a:pt x="1160" y="637"/>
                </a:lnTo>
                <a:lnTo>
                  <a:pt x="1085" y="597"/>
                </a:lnTo>
                <a:lnTo>
                  <a:pt x="1120" y="522"/>
                </a:lnTo>
                <a:lnTo>
                  <a:pt x="1120" y="488"/>
                </a:lnTo>
                <a:lnTo>
                  <a:pt x="1085" y="488"/>
                </a:lnTo>
                <a:lnTo>
                  <a:pt x="1120" y="413"/>
                </a:lnTo>
                <a:lnTo>
                  <a:pt x="1160" y="373"/>
                </a:lnTo>
                <a:lnTo>
                  <a:pt x="1194" y="338"/>
                </a:lnTo>
                <a:lnTo>
                  <a:pt x="1160" y="338"/>
                </a:lnTo>
                <a:lnTo>
                  <a:pt x="1160" y="264"/>
                </a:lnTo>
                <a:lnTo>
                  <a:pt x="1120" y="264"/>
                </a:lnTo>
                <a:lnTo>
                  <a:pt x="1085" y="298"/>
                </a:lnTo>
                <a:lnTo>
                  <a:pt x="970" y="338"/>
                </a:lnTo>
                <a:lnTo>
                  <a:pt x="936" y="338"/>
                </a:lnTo>
                <a:lnTo>
                  <a:pt x="936" y="298"/>
                </a:lnTo>
                <a:lnTo>
                  <a:pt x="970" y="264"/>
                </a:lnTo>
                <a:lnTo>
                  <a:pt x="1010" y="264"/>
                </a:lnTo>
                <a:lnTo>
                  <a:pt x="970" y="224"/>
                </a:lnTo>
                <a:lnTo>
                  <a:pt x="936" y="264"/>
                </a:lnTo>
                <a:lnTo>
                  <a:pt x="896" y="264"/>
                </a:lnTo>
                <a:lnTo>
                  <a:pt x="896" y="224"/>
                </a:lnTo>
                <a:lnTo>
                  <a:pt x="896" y="189"/>
                </a:lnTo>
                <a:lnTo>
                  <a:pt x="861" y="189"/>
                </a:lnTo>
                <a:lnTo>
                  <a:pt x="936" y="149"/>
                </a:lnTo>
                <a:lnTo>
                  <a:pt x="1010" y="149"/>
                </a:lnTo>
                <a:lnTo>
                  <a:pt x="1085" y="114"/>
                </a:lnTo>
                <a:lnTo>
                  <a:pt x="1085" y="74"/>
                </a:lnTo>
                <a:lnTo>
                  <a:pt x="1010" y="74"/>
                </a:lnTo>
                <a:lnTo>
                  <a:pt x="936" y="0"/>
                </a:lnTo>
                <a:lnTo>
                  <a:pt x="861" y="0"/>
                </a:lnTo>
                <a:lnTo>
                  <a:pt x="786" y="0"/>
                </a:lnTo>
                <a:lnTo>
                  <a:pt x="746" y="0"/>
                </a:lnTo>
                <a:lnTo>
                  <a:pt x="746" y="74"/>
                </a:lnTo>
                <a:lnTo>
                  <a:pt x="672" y="74"/>
                </a:lnTo>
                <a:lnTo>
                  <a:pt x="637" y="74"/>
                </a:lnTo>
                <a:lnTo>
                  <a:pt x="637" y="114"/>
                </a:lnTo>
                <a:lnTo>
                  <a:pt x="597" y="149"/>
                </a:lnTo>
                <a:lnTo>
                  <a:pt x="597" y="189"/>
                </a:lnTo>
                <a:lnTo>
                  <a:pt x="562" y="149"/>
                </a:lnTo>
                <a:lnTo>
                  <a:pt x="562" y="189"/>
                </a:lnTo>
                <a:lnTo>
                  <a:pt x="562" y="224"/>
                </a:lnTo>
                <a:lnTo>
                  <a:pt x="562" y="224"/>
                </a:lnTo>
                <a:close/>
              </a:path>
            </a:pathLst>
          </a:custGeom>
          <a:solidFill>
            <a:srgbClr val="E6E6E6">
              <a:alpha val="100000"/>
            </a:srgbClr>
          </a:solidFill>
          <a:ln cap="flat">
            <a:noFill/>
            <a:prstDash val="solid"/>
            <a:miter lim="0"/>
          </a:ln>
        </p:spPr>
        <p:txBody>
          <a:bodyPr rtlCol="0"/>
          <a:lstStyle/>
          <a:p>
            <a:pPr algn="ctr"/>
            <a:endParaRPr lang="zh-CN" altLang="en-US"/>
          </a:p>
        </p:txBody>
      </p:sp>
      <p:sp>
        <p:nvSpPr>
          <p:cNvPr id="45" name="path"/>
          <p:cNvSpPr/>
          <p:nvPr/>
        </p:nvSpPr>
        <p:spPr>
          <a:xfrm>
            <a:off x="1351788" y="4259580"/>
            <a:ext cx="1540763" cy="2247900"/>
          </a:xfrm>
          <a:custGeom>
            <a:avLst/>
            <a:gdLst/>
            <a:ahLst/>
            <a:cxnLst/>
            <a:rect l="0" t="0" r="0" b="0"/>
            <a:pathLst>
              <a:path w="2426" h="3540">
                <a:moveTo>
                  <a:pt x="787" y="3240"/>
                </a:moveTo>
                <a:lnTo>
                  <a:pt x="746" y="3282"/>
                </a:lnTo>
                <a:lnTo>
                  <a:pt x="787" y="3316"/>
                </a:lnTo>
                <a:lnTo>
                  <a:pt x="820" y="3316"/>
                </a:lnTo>
                <a:lnTo>
                  <a:pt x="820" y="3282"/>
                </a:lnTo>
                <a:lnTo>
                  <a:pt x="861" y="3282"/>
                </a:lnTo>
                <a:lnTo>
                  <a:pt x="820" y="3240"/>
                </a:lnTo>
                <a:lnTo>
                  <a:pt x="787" y="3240"/>
                </a:lnTo>
                <a:close/>
              </a:path>
              <a:path w="2426" h="3540">
                <a:moveTo>
                  <a:pt x="597" y="3464"/>
                </a:moveTo>
                <a:lnTo>
                  <a:pt x="561" y="3391"/>
                </a:lnTo>
                <a:lnTo>
                  <a:pt x="523" y="3391"/>
                </a:lnTo>
                <a:lnTo>
                  <a:pt x="481" y="3431"/>
                </a:lnTo>
                <a:lnTo>
                  <a:pt x="481" y="3464"/>
                </a:lnTo>
                <a:lnTo>
                  <a:pt x="448" y="3464"/>
                </a:lnTo>
                <a:lnTo>
                  <a:pt x="448" y="3506"/>
                </a:lnTo>
                <a:lnTo>
                  <a:pt x="481" y="3506"/>
                </a:lnTo>
                <a:lnTo>
                  <a:pt x="523" y="3540"/>
                </a:lnTo>
                <a:lnTo>
                  <a:pt x="561" y="3540"/>
                </a:lnTo>
                <a:lnTo>
                  <a:pt x="597" y="3540"/>
                </a:lnTo>
                <a:lnTo>
                  <a:pt x="671" y="3540"/>
                </a:lnTo>
                <a:lnTo>
                  <a:pt x="630" y="3506"/>
                </a:lnTo>
                <a:lnTo>
                  <a:pt x="597" y="3464"/>
                </a:lnTo>
              </a:path>
              <a:path w="2426" h="3540">
                <a:moveTo>
                  <a:pt x="2386" y="1119"/>
                </a:moveTo>
                <a:lnTo>
                  <a:pt x="2351" y="1119"/>
                </a:lnTo>
                <a:lnTo>
                  <a:pt x="2314" y="1119"/>
                </a:lnTo>
                <a:lnTo>
                  <a:pt x="2202" y="1005"/>
                </a:lnTo>
                <a:lnTo>
                  <a:pt x="2165" y="970"/>
                </a:lnTo>
                <a:lnTo>
                  <a:pt x="2127" y="1005"/>
                </a:lnTo>
                <a:lnTo>
                  <a:pt x="2053" y="970"/>
                </a:lnTo>
                <a:lnTo>
                  <a:pt x="1938" y="970"/>
                </a:lnTo>
                <a:lnTo>
                  <a:pt x="1978" y="930"/>
                </a:lnTo>
                <a:lnTo>
                  <a:pt x="1938" y="930"/>
                </a:lnTo>
                <a:lnTo>
                  <a:pt x="1938" y="895"/>
                </a:lnTo>
                <a:lnTo>
                  <a:pt x="1906" y="852"/>
                </a:lnTo>
                <a:lnTo>
                  <a:pt x="1788" y="852"/>
                </a:lnTo>
                <a:lnTo>
                  <a:pt x="1714" y="895"/>
                </a:lnTo>
                <a:lnTo>
                  <a:pt x="1682" y="852"/>
                </a:lnTo>
                <a:lnTo>
                  <a:pt x="1714" y="852"/>
                </a:lnTo>
                <a:lnTo>
                  <a:pt x="1757" y="821"/>
                </a:lnTo>
                <a:lnTo>
                  <a:pt x="1714" y="821"/>
                </a:lnTo>
                <a:lnTo>
                  <a:pt x="1642" y="852"/>
                </a:lnTo>
                <a:lnTo>
                  <a:pt x="1567" y="852"/>
                </a:lnTo>
                <a:lnTo>
                  <a:pt x="1642" y="781"/>
                </a:lnTo>
                <a:lnTo>
                  <a:pt x="1682" y="821"/>
                </a:lnTo>
                <a:lnTo>
                  <a:pt x="1682" y="781"/>
                </a:lnTo>
                <a:lnTo>
                  <a:pt x="1642" y="781"/>
                </a:lnTo>
                <a:lnTo>
                  <a:pt x="1714" y="706"/>
                </a:lnTo>
                <a:lnTo>
                  <a:pt x="1682" y="672"/>
                </a:lnTo>
                <a:lnTo>
                  <a:pt x="1642" y="597"/>
                </a:lnTo>
                <a:lnTo>
                  <a:pt x="1607" y="557"/>
                </a:lnTo>
                <a:lnTo>
                  <a:pt x="1567" y="522"/>
                </a:lnTo>
                <a:lnTo>
                  <a:pt x="1530" y="522"/>
                </a:lnTo>
                <a:lnTo>
                  <a:pt x="1493" y="482"/>
                </a:lnTo>
                <a:lnTo>
                  <a:pt x="1418" y="448"/>
                </a:lnTo>
                <a:lnTo>
                  <a:pt x="1381" y="448"/>
                </a:lnTo>
                <a:lnTo>
                  <a:pt x="1309" y="448"/>
                </a:lnTo>
                <a:lnTo>
                  <a:pt x="1234" y="332"/>
                </a:lnTo>
                <a:lnTo>
                  <a:pt x="1116" y="258"/>
                </a:lnTo>
                <a:lnTo>
                  <a:pt x="1116" y="223"/>
                </a:lnTo>
                <a:lnTo>
                  <a:pt x="1042" y="149"/>
                </a:lnTo>
                <a:lnTo>
                  <a:pt x="746" y="109"/>
                </a:lnTo>
                <a:lnTo>
                  <a:pt x="712" y="74"/>
                </a:lnTo>
                <a:lnTo>
                  <a:pt x="631" y="37"/>
                </a:lnTo>
                <a:lnTo>
                  <a:pt x="597" y="74"/>
                </a:lnTo>
                <a:lnTo>
                  <a:pt x="562" y="109"/>
                </a:lnTo>
                <a:lnTo>
                  <a:pt x="597" y="149"/>
                </a:lnTo>
                <a:lnTo>
                  <a:pt x="562" y="183"/>
                </a:lnTo>
                <a:lnTo>
                  <a:pt x="562" y="149"/>
                </a:lnTo>
                <a:lnTo>
                  <a:pt x="522" y="74"/>
                </a:lnTo>
                <a:lnTo>
                  <a:pt x="562" y="0"/>
                </a:lnTo>
                <a:lnTo>
                  <a:pt x="522" y="0"/>
                </a:lnTo>
                <a:lnTo>
                  <a:pt x="338" y="74"/>
                </a:lnTo>
                <a:lnTo>
                  <a:pt x="338" y="109"/>
                </a:lnTo>
                <a:lnTo>
                  <a:pt x="301" y="183"/>
                </a:lnTo>
                <a:lnTo>
                  <a:pt x="258" y="183"/>
                </a:lnTo>
                <a:lnTo>
                  <a:pt x="223" y="258"/>
                </a:lnTo>
                <a:lnTo>
                  <a:pt x="258" y="373"/>
                </a:lnTo>
                <a:lnTo>
                  <a:pt x="223" y="373"/>
                </a:lnTo>
                <a:lnTo>
                  <a:pt x="223" y="448"/>
                </a:lnTo>
                <a:lnTo>
                  <a:pt x="109" y="522"/>
                </a:lnTo>
                <a:lnTo>
                  <a:pt x="74" y="557"/>
                </a:lnTo>
                <a:lnTo>
                  <a:pt x="37" y="672"/>
                </a:lnTo>
                <a:lnTo>
                  <a:pt x="37" y="746"/>
                </a:lnTo>
                <a:lnTo>
                  <a:pt x="74" y="706"/>
                </a:lnTo>
                <a:lnTo>
                  <a:pt x="74" y="781"/>
                </a:lnTo>
                <a:lnTo>
                  <a:pt x="0" y="821"/>
                </a:lnTo>
                <a:lnTo>
                  <a:pt x="0" y="930"/>
                </a:lnTo>
                <a:lnTo>
                  <a:pt x="74" y="970"/>
                </a:lnTo>
                <a:lnTo>
                  <a:pt x="74" y="1045"/>
                </a:lnTo>
                <a:lnTo>
                  <a:pt x="109" y="1045"/>
                </a:lnTo>
                <a:lnTo>
                  <a:pt x="109" y="1154"/>
                </a:lnTo>
                <a:lnTo>
                  <a:pt x="223" y="1266"/>
                </a:lnTo>
                <a:lnTo>
                  <a:pt x="223" y="1343"/>
                </a:lnTo>
                <a:lnTo>
                  <a:pt x="301" y="1453"/>
                </a:lnTo>
                <a:lnTo>
                  <a:pt x="447" y="1527"/>
                </a:lnTo>
                <a:lnTo>
                  <a:pt x="482" y="1599"/>
                </a:lnTo>
                <a:lnTo>
                  <a:pt x="482" y="1599"/>
                </a:lnTo>
                <a:lnTo>
                  <a:pt x="522" y="1642"/>
                </a:lnTo>
                <a:lnTo>
                  <a:pt x="482" y="1975"/>
                </a:lnTo>
                <a:lnTo>
                  <a:pt x="522" y="2012"/>
                </a:lnTo>
                <a:lnTo>
                  <a:pt x="447" y="2050"/>
                </a:lnTo>
                <a:lnTo>
                  <a:pt x="407" y="2199"/>
                </a:lnTo>
                <a:lnTo>
                  <a:pt x="447" y="2274"/>
                </a:lnTo>
                <a:lnTo>
                  <a:pt x="407" y="2495"/>
                </a:lnTo>
                <a:lnTo>
                  <a:pt x="338" y="2569"/>
                </a:lnTo>
                <a:lnTo>
                  <a:pt x="373" y="2644"/>
                </a:lnTo>
                <a:lnTo>
                  <a:pt x="373" y="2759"/>
                </a:lnTo>
                <a:lnTo>
                  <a:pt x="407" y="2796"/>
                </a:lnTo>
                <a:lnTo>
                  <a:pt x="407" y="2834"/>
                </a:lnTo>
                <a:lnTo>
                  <a:pt x="373" y="2871"/>
                </a:lnTo>
                <a:lnTo>
                  <a:pt x="407" y="2946"/>
                </a:lnTo>
                <a:lnTo>
                  <a:pt x="373" y="2983"/>
                </a:lnTo>
                <a:lnTo>
                  <a:pt x="301" y="3020"/>
                </a:lnTo>
                <a:lnTo>
                  <a:pt x="338" y="3058"/>
                </a:lnTo>
                <a:lnTo>
                  <a:pt x="338" y="3092"/>
                </a:lnTo>
                <a:lnTo>
                  <a:pt x="373" y="3092"/>
                </a:lnTo>
                <a:lnTo>
                  <a:pt x="338" y="3135"/>
                </a:lnTo>
                <a:lnTo>
                  <a:pt x="338" y="3210"/>
                </a:lnTo>
                <a:lnTo>
                  <a:pt x="338" y="3284"/>
                </a:lnTo>
                <a:lnTo>
                  <a:pt x="373" y="3316"/>
                </a:lnTo>
                <a:lnTo>
                  <a:pt x="373" y="3359"/>
                </a:lnTo>
                <a:lnTo>
                  <a:pt x="407" y="3359"/>
                </a:lnTo>
                <a:lnTo>
                  <a:pt x="447" y="3359"/>
                </a:lnTo>
                <a:lnTo>
                  <a:pt x="407" y="3391"/>
                </a:lnTo>
                <a:lnTo>
                  <a:pt x="447" y="3391"/>
                </a:lnTo>
                <a:lnTo>
                  <a:pt x="482" y="3359"/>
                </a:lnTo>
                <a:lnTo>
                  <a:pt x="522" y="3359"/>
                </a:lnTo>
                <a:lnTo>
                  <a:pt x="522" y="3316"/>
                </a:lnTo>
                <a:lnTo>
                  <a:pt x="522" y="3284"/>
                </a:lnTo>
                <a:lnTo>
                  <a:pt x="631" y="3167"/>
                </a:lnTo>
                <a:lnTo>
                  <a:pt x="631" y="3092"/>
                </a:lnTo>
                <a:lnTo>
                  <a:pt x="597" y="3092"/>
                </a:lnTo>
                <a:lnTo>
                  <a:pt x="597" y="3020"/>
                </a:lnTo>
                <a:lnTo>
                  <a:pt x="671" y="3020"/>
                </a:lnTo>
                <a:lnTo>
                  <a:pt x="712" y="2908"/>
                </a:lnTo>
                <a:lnTo>
                  <a:pt x="746" y="2908"/>
                </a:lnTo>
                <a:lnTo>
                  <a:pt x="746" y="2871"/>
                </a:lnTo>
                <a:lnTo>
                  <a:pt x="712" y="2871"/>
                </a:lnTo>
                <a:lnTo>
                  <a:pt x="746" y="2834"/>
                </a:lnTo>
                <a:lnTo>
                  <a:pt x="821" y="2796"/>
                </a:lnTo>
                <a:lnTo>
                  <a:pt x="861" y="2759"/>
                </a:lnTo>
                <a:lnTo>
                  <a:pt x="821" y="2722"/>
                </a:lnTo>
                <a:lnTo>
                  <a:pt x="970" y="2722"/>
                </a:lnTo>
                <a:lnTo>
                  <a:pt x="1042" y="2684"/>
                </a:lnTo>
                <a:lnTo>
                  <a:pt x="1085" y="2569"/>
                </a:lnTo>
                <a:lnTo>
                  <a:pt x="1010" y="2463"/>
                </a:lnTo>
                <a:lnTo>
                  <a:pt x="1085" y="2495"/>
                </a:lnTo>
                <a:lnTo>
                  <a:pt x="1194" y="2538"/>
                </a:lnTo>
                <a:lnTo>
                  <a:pt x="1269" y="2463"/>
                </a:lnTo>
                <a:lnTo>
                  <a:pt x="1360" y="2343"/>
                </a:lnTo>
                <a:lnTo>
                  <a:pt x="1343" y="2389"/>
                </a:lnTo>
                <a:lnTo>
                  <a:pt x="1381" y="2389"/>
                </a:lnTo>
                <a:lnTo>
                  <a:pt x="1530" y="2239"/>
                </a:lnTo>
                <a:lnTo>
                  <a:pt x="1567" y="2087"/>
                </a:lnTo>
                <a:lnTo>
                  <a:pt x="1714" y="2012"/>
                </a:lnTo>
                <a:lnTo>
                  <a:pt x="1757" y="2012"/>
                </a:lnTo>
                <a:lnTo>
                  <a:pt x="1831" y="1975"/>
                </a:lnTo>
                <a:lnTo>
                  <a:pt x="1906" y="1975"/>
                </a:lnTo>
                <a:lnTo>
                  <a:pt x="1938" y="1975"/>
                </a:lnTo>
                <a:lnTo>
                  <a:pt x="2090" y="1748"/>
                </a:lnTo>
                <a:lnTo>
                  <a:pt x="2127" y="1674"/>
                </a:lnTo>
                <a:lnTo>
                  <a:pt x="2165" y="1599"/>
                </a:lnTo>
                <a:lnTo>
                  <a:pt x="2165" y="1493"/>
                </a:lnTo>
                <a:lnTo>
                  <a:pt x="2202" y="1493"/>
                </a:lnTo>
                <a:lnTo>
                  <a:pt x="2351" y="1343"/>
                </a:lnTo>
                <a:lnTo>
                  <a:pt x="2386" y="1343"/>
                </a:lnTo>
                <a:lnTo>
                  <a:pt x="2426" y="1266"/>
                </a:lnTo>
                <a:lnTo>
                  <a:pt x="2426" y="1154"/>
                </a:lnTo>
                <a:lnTo>
                  <a:pt x="2386" y="1119"/>
                </a:lnTo>
              </a:path>
            </a:pathLst>
          </a:custGeom>
          <a:solidFill>
            <a:srgbClr val="E6E6E6">
              <a:alpha val="100000"/>
            </a:srgbClr>
          </a:solidFill>
          <a:ln cap="flat">
            <a:noFill/>
            <a:prstDash val="solid"/>
            <a:miter lim="0"/>
          </a:ln>
        </p:spPr>
        <p:txBody>
          <a:bodyPr rtlCol="0"/>
          <a:lstStyle/>
          <a:p>
            <a:pPr algn="ctr"/>
            <a:endParaRPr lang="zh-CN" altLang="en-US"/>
          </a:p>
        </p:txBody>
      </p:sp>
      <p:sp>
        <p:nvSpPr>
          <p:cNvPr id="46" name="path"/>
          <p:cNvSpPr/>
          <p:nvPr/>
        </p:nvSpPr>
        <p:spPr>
          <a:xfrm>
            <a:off x="294131" y="897636"/>
            <a:ext cx="2179319" cy="3389376"/>
          </a:xfrm>
          <a:custGeom>
            <a:avLst/>
            <a:gdLst/>
            <a:ahLst/>
            <a:cxnLst/>
            <a:rect l="0" t="0" r="0" b="0"/>
            <a:pathLst>
              <a:path w="3431" h="5337">
                <a:moveTo>
                  <a:pt x="3134" y="2652"/>
                </a:moveTo>
                <a:lnTo>
                  <a:pt x="3098" y="2652"/>
                </a:lnTo>
                <a:lnTo>
                  <a:pt x="3134" y="2611"/>
                </a:lnTo>
                <a:lnTo>
                  <a:pt x="3098" y="2578"/>
                </a:lnTo>
                <a:lnTo>
                  <a:pt x="3057" y="2536"/>
                </a:lnTo>
                <a:lnTo>
                  <a:pt x="2909" y="2652"/>
                </a:lnTo>
                <a:lnTo>
                  <a:pt x="2834" y="2652"/>
                </a:lnTo>
                <a:lnTo>
                  <a:pt x="2876" y="2611"/>
                </a:lnTo>
                <a:lnTo>
                  <a:pt x="2949" y="2536"/>
                </a:lnTo>
                <a:lnTo>
                  <a:pt x="3057" y="2426"/>
                </a:lnTo>
                <a:lnTo>
                  <a:pt x="3209" y="2426"/>
                </a:lnTo>
                <a:lnTo>
                  <a:pt x="3321" y="2387"/>
                </a:lnTo>
                <a:lnTo>
                  <a:pt x="3396" y="2314"/>
                </a:lnTo>
                <a:lnTo>
                  <a:pt x="3431" y="2278"/>
                </a:lnTo>
                <a:lnTo>
                  <a:pt x="3431" y="2239"/>
                </a:lnTo>
                <a:lnTo>
                  <a:pt x="3357" y="2203"/>
                </a:lnTo>
                <a:lnTo>
                  <a:pt x="3357" y="2128"/>
                </a:lnTo>
                <a:lnTo>
                  <a:pt x="3321" y="2090"/>
                </a:lnTo>
                <a:lnTo>
                  <a:pt x="3173" y="2090"/>
                </a:lnTo>
                <a:lnTo>
                  <a:pt x="3098" y="2014"/>
                </a:lnTo>
                <a:lnTo>
                  <a:pt x="3134" y="1939"/>
                </a:lnTo>
                <a:lnTo>
                  <a:pt x="3057" y="1906"/>
                </a:lnTo>
                <a:lnTo>
                  <a:pt x="2982" y="1790"/>
                </a:lnTo>
                <a:lnTo>
                  <a:pt x="2909" y="1906"/>
                </a:lnTo>
                <a:lnTo>
                  <a:pt x="2876" y="1906"/>
                </a:lnTo>
                <a:lnTo>
                  <a:pt x="2834" y="1864"/>
                </a:lnTo>
                <a:lnTo>
                  <a:pt x="2834" y="1757"/>
                </a:lnTo>
                <a:lnTo>
                  <a:pt x="2760" y="1715"/>
                </a:lnTo>
                <a:lnTo>
                  <a:pt x="2727" y="1682"/>
                </a:lnTo>
                <a:lnTo>
                  <a:pt x="2685" y="1642"/>
                </a:lnTo>
                <a:lnTo>
                  <a:pt x="2610" y="1642"/>
                </a:lnTo>
                <a:lnTo>
                  <a:pt x="2496" y="1642"/>
                </a:lnTo>
                <a:lnTo>
                  <a:pt x="2496" y="1757"/>
                </a:lnTo>
                <a:lnTo>
                  <a:pt x="2537" y="1790"/>
                </a:lnTo>
                <a:lnTo>
                  <a:pt x="2496" y="1864"/>
                </a:lnTo>
                <a:lnTo>
                  <a:pt x="2463" y="1906"/>
                </a:lnTo>
                <a:lnTo>
                  <a:pt x="2496" y="1906"/>
                </a:lnTo>
                <a:lnTo>
                  <a:pt x="2537" y="2054"/>
                </a:lnTo>
                <a:lnTo>
                  <a:pt x="2463" y="2128"/>
                </a:lnTo>
                <a:lnTo>
                  <a:pt x="2421" y="2203"/>
                </a:lnTo>
                <a:lnTo>
                  <a:pt x="2496" y="2239"/>
                </a:lnTo>
                <a:lnTo>
                  <a:pt x="2496" y="2352"/>
                </a:lnTo>
                <a:lnTo>
                  <a:pt x="2421" y="2352"/>
                </a:lnTo>
                <a:lnTo>
                  <a:pt x="2346" y="2239"/>
                </a:lnTo>
                <a:lnTo>
                  <a:pt x="2388" y="2203"/>
                </a:lnTo>
                <a:lnTo>
                  <a:pt x="2346" y="2164"/>
                </a:lnTo>
                <a:lnTo>
                  <a:pt x="2346" y="2090"/>
                </a:lnTo>
                <a:lnTo>
                  <a:pt x="2239" y="2090"/>
                </a:lnTo>
                <a:lnTo>
                  <a:pt x="2124" y="1981"/>
                </a:lnTo>
                <a:lnTo>
                  <a:pt x="1975" y="1906"/>
                </a:lnTo>
                <a:lnTo>
                  <a:pt x="1975" y="1831"/>
                </a:lnTo>
                <a:lnTo>
                  <a:pt x="1900" y="1757"/>
                </a:lnTo>
                <a:lnTo>
                  <a:pt x="1975" y="1642"/>
                </a:lnTo>
                <a:lnTo>
                  <a:pt x="2124" y="1531"/>
                </a:lnTo>
                <a:lnTo>
                  <a:pt x="2088" y="1492"/>
                </a:lnTo>
                <a:lnTo>
                  <a:pt x="2163" y="1492"/>
                </a:lnTo>
                <a:lnTo>
                  <a:pt x="2163" y="1457"/>
                </a:lnTo>
                <a:lnTo>
                  <a:pt x="2198" y="1492"/>
                </a:lnTo>
                <a:lnTo>
                  <a:pt x="2239" y="1418"/>
                </a:lnTo>
                <a:lnTo>
                  <a:pt x="2198" y="1382"/>
                </a:lnTo>
                <a:lnTo>
                  <a:pt x="2272" y="1382"/>
                </a:lnTo>
                <a:lnTo>
                  <a:pt x="2313" y="1343"/>
                </a:lnTo>
                <a:lnTo>
                  <a:pt x="2388" y="1343"/>
                </a:lnTo>
                <a:lnTo>
                  <a:pt x="2421" y="1270"/>
                </a:lnTo>
                <a:lnTo>
                  <a:pt x="2421" y="1160"/>
                </a:lnTo>
                <a:lnTo>
                  <a:pt x="2346" y="1118"/>
                </a:lnTo>
                <a:lnTo>
                  <a:pt x="2346" y="1195"/>
                </a:lnTo>
                <a:lnTo>
                  <a:pt x="2272" y="1270"/>
                </a:lnTo>
                <a:lnTo>
                  <a:pt x="2239" y="1195"/>
                </a:lnTo>
                <a:lnTo>
                  <a:pt x="2272" y="1195"/>
                </a:lnTo>
                <a:lnTo>
                  <a:pt x="2239" y="1160"/>
                </a:lnTo>
                <a:lnTo>
                  <a:pt x="2163" y="1160"/>
                </a:lnTo>
                <a:lnTo>
                  <a:pt x="2163" y="1085"/>
                </a:lnTo>
                <a:lnTo>
                  <a:pt x="2163" y="1043"/>
                </a:lnTo>
                <a:lnTo>
                  <a:pt x="2124" y="968"/>
                </a:lnTo>
                <a:lnTo>
                  <a:pt x="2088" y="1010"/>
                </a:lnTo>
                <a:lnTo>
                  <a:pt x="2124" y="1118"/>
                </a:lnTo>
                <a:lnTo>
                  <a:pt x="2088" y="1160"/>
                </a:lnTo>
                <a:lnTo>
                  <a:pt x="2088" y="1195"/>
                </a:lnTo>
                <a:lnTo>
                  <a:pt x="2049" y="1195"/>
                </a:lnTo>
                <a:lnTo>
                  <a:pt x="2013" y="1195"/>
                </a:lnTo>
                <a:lnTo>
                  <a:pt x="2049" y="1085"/>
                </a:lnTo>
                <a:lnTo>
                  <a:pt x="1975" y="1085"/>
                </a:lnTo>
                <a:lnTo>
                  <a:pt x="1975" y="1118"/>
                </a:lnTo>
                <a:lnTo>
                  <a:pt x="1939" y="1160"/>
                </a:lnTo>
                <a:lnTo>
                  <a:pt x="1864" y="1085"/>
                </a:lnTo>
                <a:lnTo>
                  <a:pt x="1791" y="1043"/>
                </a:lnTo>
                <a:lnTo>
                  <a:pt x="1791" y="1085"/>
                </a:lnTo>
                <a:lnTo>
                  <a:pt x="1716" y="1085"/>
                </a:lnTo>
                <a:lnTo>
                  <a:pt x="1716" y="1043"/>
                </a:lnTo>
                <a:lnTo>
                  <a:pt x="1600" y="968"/>
                </a:lnTo>
                <a:lnTo>
                  <a:pt x="1600" y="935"/>
                </a:lnTo>
                <a:lnTo>
                  <a:pt x="1525" y="895"/>
                </a:lnTo>
                <a:lnTo>
                  <a:pt x="1525" y="821"/>
                </a:lnTo>
                <a:lnTo>
                  <a:pt x="1452" y="746"/>
                </a:lnTo>
                <a:lnTo>
                  <a:pt x="1418" y="713"/>
                </a:lnTo>
                <a:lnTo>
                  <a:pt x="1418" y="671"/>
                </a:lnTo>
                <a:lnTo>
                  <a:pt x="1344" y="671"/>
                </a:lnTo>
                <a:lnTo>
                  <a:pt x="1344" y="635"/>
                </a:lnTo>
                <a:lnTo>
                  <a:pt x="1192" y="597"/>
                </a:lnTo>
                <a:lnTo>
                  <a:pt x="1154" y="488"/>
                </a:lnTo>
                <a:lnTo>
                  <a:pt x="1154" y="449"/>
                </a:lnTo>
                <a:lnTo>
                  <a:pt x="1118" y="374"/>
                </a:lnTo>
                <a:lnTo>
                  <a:pt x="1118" y="338"/>
                </a:lnTo>
                <a:lnTo>
                  <a:pt x="1044" y="264"/>
                </a:lnTo>
                <a:lnTo>
                  <a:pt x="1079" y="190"/>
                </a:lnTo>
                <a:lnTo>
                  <a:pt x="1006" y="116"/>
                </a:lnTo>
                <a:lnTo>
                  <a:pt x="895" y="74"/>
                </a:lnTo>
                <a:lnTo>
                  <a:pt x="779" y="0"/>
                </a:lnTo>
                <a:lnTo>
                  <a:pt x="704" y="116"/>
                </a:lnTo>
                <a:lnTo>
                  <a:pt x="704" y="149"/>
                </a:lnTo>
                <a:lnTo>
                  <a:pt x="671" y="190"/>
                </a:lnTo>
                <a:lnTo>
                  <a:pt x="631" y="149"/>
                </a:lnTo>
                <a:lnTo>
                  <a:pt x="631" y="116"/>
                </a:lnTo>
                <a:lnTo>
                  <a:pt x="598" y="41"/>
                </a:lnTo>
                <a:lnTo>
                  <a:pt x="523" y="41"/>
                </a:lnTo>
                <a:lnTo>
                  <a:pt x="523" y="149"/>
                </a:lnTo>
                <a:lnTo>
                  <a:pt x="523" y="224"/>
                </a:lnTo>
                <a:lnTo>
                  <a:pt x="482" y="224"/>
                </a:lnTo>
                <a:lnTo>
                  <a:pt x="371" y="149"/>
                </a:lnTo>
                <a:lnTo>
                  <a:pt x="185" y="224"/>
                </a:lnTo>
                <a:lnTo>
                  <a:pt x="185" y="300"/>
                </a:lnTo>
                <a:lnTo>
                  <a:pt x="223" y="300"/>
                </a:lnTo>
                <a:lnTo>
                  <a:pt x="149" y="374"/>
                </a:lnTo>
                <a:lnTo>
                  <a:pt x="185" y="374"/>
                </a:lnTo>
                <a:lnTo>
                  <a:pt x="185" y="413"/>
                </a:lnTo>
                <a:lnTo>
                  <a:pt x="223" y="488"/>
                </a:lnTo>
                <a:lnTo>
                  <a:pt x="0" y="488"/>
                </a:lnTo>
                <a:lnTo>
                  <a:pt x="259" y="562"/>
                </a:lnTo>
                <a:lnTo>
                  <a:pt x="407" y="597"/>
                </a:lnTo>
                <a:lnTo>
                  <a:pt x="332" y="635"/>
                </a:lnTo>
                <a:lnTo>
                  <a:pt x="371" y="671"/>
                </a:lnTo>
                <a:lnTo>
                  <a:pt x="482" y="671"/>
                </a:lnTo>
                <a:lnTo>
                  <a:pt x="482" y="635"/>
                </a:lnTo>
                <a:lnTo>
                  <a:pt x="523" y="671"/>
                </a:lnTo>
                <a:lnTo>
                  <a:pt x="523" y="713"/>
                </a:lnTo>
                <a:lnTo>
                  <a:pt x="523" y="788"/>
                </a:lnTo>
                <a:lnTo>
                  <a:pt x="598" y="821"/>
                </a:lnTo>
                <a:lnTo>
                  <a:pt x="598" y="895"/>
                </a:lnTo>
                <a:lnTo>
                  <a:pt x="598" y="968"/>
                </a:lnTo>
                <a:lnTo>
                  <a:pt x="598" y="1043"/>
                </a:lnTo>
                <a:lnTo>
                  <a:pt x="631" y="1085"/>
                </a:lnTo>
                <a:lnTo>
                  <a:pt x="671" y="1085"/>
                </a:lnTo>
                <a:lnTo>
                  <a:pt x="598" y="1234"/>
                </a:lnTo>
                <a:lnTo>
                  <a:pt x="598" y="1382"/>
                </a:lnTo>
                <a:lnTo>
                  <a:pt x="556" y="1457"/>
                </a:lnTo>
                <a:lnTo>
                  <a:pt x="598" y="1492"/>
                </a:lnTo>
                <a:lnTo>
                  <a:pt x="556" y="1682"/>
                </a:lnTo>
                <a:lnTo>
                  <a:pt x="556" y="1757"/>
                </a:lnTo>
                <a:lnTo>
                  <a:pt x="556" y="1790"/>
                </a:lnTo>
                <a:lnTo>
                  <a:pt x="556" y="1864"/>
                </a:lnTo>
                <a:lnTo>
                  <a:pt x="556" y="1906"/>
                </a:lnTo>
                <a:lnTo>
                  <a:pt x="598" y="1906"/>
                </a:lnTo>
                <a:lnTo>
                  <a:pt x="523" y="1864"/>
                </a:lnTo>
                <a:lnTo>
                  <a:pt x="482" y="1831"/>
                </a:lnTo>
                <a:lnTo>
                  <a:pt x="449" y="1939"/>
                </a:lnTo>
                <a:lnTo>
                  <a:pt x="371" y="2090"/>
                </a:lnTo>
                <a:lnTo>
                  <a:pt x="297" y="2128"/>
                </a:lnTo>
                <a:lnTo>
                  <a:pt x="259" y="2203"/>
                </a:lnTo>
                <a:lnTo>
                  <a:pt x="185" y="2239"/>
                </a:lnTo>
                <a:lnTo>
                  <a:pt x="149" y="2462"/>
                </a:lnTo>
                <a:lnTo>
                  <a:pt x="149" y="2685"/>
                </a:lnTo>
                <a:lnTo>
                  <a:pt x="223" y="2833"/>
                </a:lnTo>
                <a:lnTo>
                  <a:pt x="259" y="2875"/>
                </a:lnTo>
                <a:lnTo>
                  <a:pt x="259" y="2908"/>
                </a:lnTo>
                <a:lnTo>
                  <a:pt x="223" y="2985"/>
                </a:lnTo>
                <a:lnTo>
                  <a:pt x="297" y="3247"/>
                </a:lnTo>
                <a:lnTo>
                  <a:pt x="259" y="3283"/>
                </a:lnTo>
                <a:lnTo>
                  <a:pt x="223" y="3247"/>
                </a:lnTo>
                <a:lnTo>
                  <a:pt x="259" y="3399"/>
                </a:lnTo>
                <a:lnTo>
                  <a:pt x="297" y="3432"/>
                </a:lnTo>
                <a:lnTo>
                  <a:pt x="259" y="3547"/>
                </a:lnTo>
                <a:lnTo>
                  <a:pt x="371" y="3696"/>
                </a:lnTo>
                <a:lnTo>
                  <a:pt x="371" y="3622"/>
                </a:lnTo>
                <a:lnTo>
                  <a:pt x="332" y="3580"/>
                </a:lnTo>
                <a:lnTo>
                  <a:pt x="332" y="3505"/>
                </a:lnTo>
                <a:lnTo>
                  <a:pt x="332" y="3322"/>
                </a:lnTo>
                <a:lnTo>
                  <a:pt x="332" y="3283"/>
                </a:lnTo>
                <a:lnTo>
                  <a:pt x="297" y="3172"/>
                </a:lnTo>
                <a:lnTo>
                  <a:pt x="332" y="3060"/>
                </a:lnTo>
                <a:lnTo>
                  <a:pt x="407" y="3134"/>
                </a:lnTo>
                <a:lnTo>
                  <a:pt x="449" y="3357"/>
                </a:lnTo>
                <a:lnTo>
                  <a:pt x="449" y="3432"/>
                </a:lnTo>
                <a:lnTo>
                  <a:pt x="449" y="3505"/>
                </a:lnTo>
                <a:lnTo>
                  <a:pt x="482" y="3505"/>
                </a:lnTo>
                <a:lnTo>
                  <a:pt x="449" y="3547"/>
                </a:lnTo>
                <a:lnTo>
                  <a:pt x="523" y="3622"/>
                </a:lnTo>
                <a:lnTo>
                  <a:pt x="598" y="3880"/>
                </a:lnTo>
                <a:lnTo>
                  <a:pt x="523" y="3993"/>
                </a:lnTo>
                <a:lnTo>
                  <a:pt x="598" y="4183"/>
                </a:lnTo>
                <a:lnTo>
                  <a:pt x="704" y="4216"/>
                </a:lnTo>
                <a:lnTo>
                  <a:pt x="779" y="4326"/>
                </a:lnTo>
                <a:lnTo>
                  <a:pt x="1044" y="4476"/>
                </a:lnTo>
                <a:lnTo>
                  <a:pt x="1154" y="4476"/>
                </a:lnTo>
                <a:lnTo>
                  <a:pt x="1228" y="4555"/>
                </a:lnTo>
                <a:lnTo>
                  <a:pt x="1267" y="4629"/>
                </a:lnTo>
                <a:lnTo>
                  <a:pt x="1344" y="4698"/>
                </a:lnTo>
                <a:lnTo>
                  <a:pt x="1452" y="4740"/>
                </a:lnTo>
                <a:lnTo>
                  <a:pt x="1492" y="4781"/>
                </a:lnTo>
                <a:lnTo>
                  <a:pt x="1600" y="4814"/>
                </a:lnTo>
                <a:lnTo>
                  <a:pt x="1675" y="4962"/>
                </a:lnTo>
                <a:lnTo>
                  <a:pt x="1675" y="5004"/>
                </a:lnTo>
                <a:lnTo>
                  <a:pt x="1675" y="5037"/>
                </a:lnTo>
                <a:lnTo>
                  <a:pt x="1825" y="5189"/>
                </a:lnTo>
                <a:lnTo>
                  <a:pt x="1864" y="5189"/>
                </a:lnTo>
                <a:lnTo>
                  <a:pt x="2013" y="5301"/>
                </a:lnTo>
                <a:lnTo>
                  <a:pt x="2049" y="5262"/>
                </a:lnTo>
                <a:lnTo>
                  <a:pt x="1975" y="5226"/>
                </a:lnTo>
                <a:lnTo>
                  <a:pt x="2049" y="5226"/>
                </a:lnTo>
                <a:lnTo>
                  <a:pt x="2088" y="5189"/>
                </a:lnTo>
                <a:lnTo>
                  <a:pt x="2163" y="5262"/>
                </a:lnTo>
                <a:lnTo>
                  <a:pt x="2124" y="5301"/>
                </a:lnTo>
                <a:lnTo>
                  <a:pt x="2198" y="5337"/>
                </a:lnTo>
                <a:lnTo>
                  <a:pt x="2239" y="5337"/>
                </a:lnTo>
                <a:lnTo>
                  <a:pt x="2239" y="5226"/>
                </a:lnTo>
                <a:lnTo>
                  <a:pt x="2088" y="5153"/>
                </a:lnTo>
                <a:lnTo>
                  <a:pt x="1939" y="5189"/>
                </a:lnTo>
                <a:lnTo>
                  <a:pt x="1864" y="5112"/>
                </a:lnTo>
                <a:lnTo>
                  <a:pt x="1791" y="5079"/>
                </a:lnTo>
                <a:lnTo>
                  <a:pt x="1825" y="5004"/>
                </a:lnTo>
                <a:lnTo>
                  <a:pt x="1825" y="4924"/>
                </a:lnTo>
                <a:lnTo>
                  <a:pt x="1939" y="4814"/>
                </a:lnTo>
                <a:lnTo>
                  <a:pt x="1939" y="4781"/>
                </a:lnTo>
                <a:lnTo>
                  <a:pt x="1864" y="4740"/>
                </a:lnTo>
                <a:lnTo>
                  <a:pt x="1864" y="4698"/>
                </a:lnTo>
                <a:lnTo>
                  <a:pt x="1825" y="4698"/>
                </a:lnTo>
                <a:lnTo>
                  <a:pt x="1600" y="4665"/>
                </a:lnTo>
                <a:lnTo>
                  <a:pt x="1567" y="4629"/>
                </a:lnTo>
                <a:lnTo>
                  <a:pt x="1600" y="4590"/>
                </a:lnTo>
                <a:lnTo>
                  <a:pt x="1641" y="4516"/>
                </a:lnTo>
                <a:lnTo>
                  <a:pt x="1641" y="4476"/>
                </a:lnTo>
                <a:lnTo>
                  <a:pt x="1675" y="4443"/>
                </a:lnTo>
                <a:lnTo>
                  <a:pt x="1675" y="4368"/>
                </a:lnTo>
                <a:lnTo>
                  <a:pt x="1716" y="4326"/>
                </a:lnTo>
                <a:lnTo>
                  <a:pt x="1716" y="4252"/>
                </a:lnTo>
                <a:lnTo>
                  <a:pt x="1675" y="4252"/>
                </a:lnTo>
                <a:lnTo>
                  <a:pt x="1525" y="4252"/>
                </a:lnTo>
                <a:lnTo>
                  <a:pt x="1492" y="4368"/>
                </a:lnTo>
                <a:lnTo>
                  <a:pt x="1452" y="4407"/>
                </a:lnTo>
                <a:lnTo>
                  <a:pt x="1344" y="4368"/>
                </a:lnTo>
                <a:lnTo>
                  <a:pt x="1267" y="4368"/>
                </a:lnTo>
                <a:lnTo>
                  <a:pt x="1118" y="4293"/>
                </a:lnTo>
                <a:lnTo>
                  <a:pt x="1079" y="4252"/>
                </a:lnTo>
                <a:lnTo>
                  <a:pt x="1118" y="4143"/>
                </a:lnTo>
                <a:lnTo>
                  <a:pt x="1044" y="4029"/>
                </a:lnTo>
                <a:lnTo>
                  <a:pt x="1079" y="3955"/>
                </a:lnTo>
                <a:lnTo>
                  <a:pt x="1154" y="3880"/>
                </a:lnTo>
                <a:lnTo>
                  <a:pt x="1154" y="3844"/>
                </a:lnTo>
                <a:lnTo>
                  <a:pt x="1192" y="3696"/>
                </a:lnTo>
                <a:lnTo>
                  <a:pt x="1228" y="3654"/>
                </a:lnTo>
                <a:lnTo>
                  <a:pt x="1452" y="3654"/>
                </a:lnTo>
                <a:lnTo>
                  <a:pt x="1492" y="3654"/>
                </a:lnTo>
                <a:lnTo>
                  <a:pt x="1525" y="3696"/>
                </a:lnTo>
                <a:lnTo>
                  <a:pt x="1567" y="3696"/>
                </a:lnTo>
                <a:lnTo>
                  <a:pt x="1600" y="3729"/>
                </a:lnTo>
                <a:lnTo>
                  <a:pt x="1641" y="3729"/>
                </a:lnTo>
                <a:lnTo>
                  <a:pt x="1641" y="3771"/>
                </a:lnTo>
                <a:lnTo>
                  <a:pt x="1675" y="3729"/>
                </a:lnTo>
                <a:lnTo>
                  <a:pt x="1716" y="3771"/>
                </a:lnTo>
                <a:lnTo>
                  <a:pt x="1749" y="3771"/>
                </a:lnTo>
                <a:lnTo>
                  <a:pt x="1716" y="3696"/>
                </a:lnTo>
                <a:lnTo>
                  <a:pt x="1825" y="3729"/>
                </a:lnTo>
                <a:lnTo>
                  <a:pt x="1864" y="3696"/>
                </a:lnTo>
                <a:lnTo>
                  <a:pt x="1939" y="3729"/>
                </a:lnTo>
                <a:lnTo>
                  <a:pt x="1939" y="3771"/>
                </a:lnTo>
                <a:lnTo>
                  <a:pt x="2088" y="3804"/>
                </a:lnTo>
                <a:lnTo>
                  <a:pt x="2124" y="3844"/>
                </a:lnTo>
                <a:lnTo>
                  <a:pt x="2088" y="3993"/>
                </a:lnTo>
                <a:lnTo>
                  <a:pt x="2124" y="3993"/>
                </a:lnTo>
                <a:lnTo>
                  <a:pt x="2163" y="4068"/>
                </a:lnTo>
                <a:lnTo>
                  <a:pt x="2163" y="4143"/>
                </a:lnTo>
                <a:lnTo>
                  <a:pt x="2239" y="4104"/>
                </a:lnTo>
                <a:lnTo>
                  <a:pt x="2277" y="4029"/>
                </a:lnTo>
                <a:lnTo>
                  <a:pt x="2239" y="3771"/>
                </a:lnTo>
                <a:lnTo>
                  <a:pt x="2239" y="3696"/>
                </a:lnTo>
                <a:lnTo>
                  <a:pt x="2501" y="3505"/>
                </a:lnTo>
                <a:lnTo>
                  <a:pt x="2537" y="3432"/>
                </a:lnTo>
                <a:lnTo>
                  <a:pt x="2610" y="3432"/>
                </a:lnTo>
                <a:lnTo>
                  <a:pt x="2537" y="3322"/>
                </a:lnTo>
                <a:lnTo>
                  <a:pt x="2570" y="3283"/>
                </a:lnTo>
                <a:lnTo>
                  <a:pt x="2570" y="3322"/>
                </a:lnTo>
                <a:lnTo>
                  <a:pt x="2610" y="3283"/>
                </a:lnTo>
                <a:lnTo>
                  <a:pt x="2610" y="3247"/>
                </a:lnTo>
                <a:lnTo>
                  <a:pt x="2685" y="3172"/>
                </a:lnTo>
                <a:lnTo>
                  <a:pt x="2727" y="3097"/>
                </a:lnTo>
                <a:lnTo>
                  <a:pt x="2834" y="3060"/>
                </a:lnTo>
                <a:lnTo>
                  <a:pt x="2909" y="2985"/>
                </a:lnTo>
                <a:lnTo>
                  <a:pt x="2876" y="3024"/>
                </a:lnTo>
                <a:lnTo>
                  <a:pt x="2876" y="2985"/>
                </a:lnTo>
                <a:lnTo>
                  <a:pt x="2982" y="2875"/>
                </a:lnTo>
                <a:lnTo>
                  <a:pt x="3024" y="2875"/>
                </a:lnTo>
                <a:lnTo>
                  <a:pt x="3057" y="2833"/>
                </a:lnTo>
                <a:lnTo>
                  <a:pt x="3024" y="2833"/>
                </a:lnTo>
                <a:lnTo>
                  <a:pt x="2982" y="2759"/>
                </a:lnTo>
                <a:lnTo>
                  <a:pt x="3024" y="2833"/>
                </a:lnTo>
                <a:lnTo>
                  <a:pt x="3057" y="2833"/>
                </a:lnTo>
                <a:lnTo>
                  <a:pt x="3134" y="2800"/>
                </a:lnTo>
                <a:lnTo>
                  <a:pt x="3098" y="2875"/>
                </a:lnTo>
                <a:lnTo>
                  <a:pt x="3134" y="2908"/>
                </a:lnTo>
                <a:lnTo>
                  <a:pt x="3209" y="2800"/>
                </a:lnTo>
                <a:lnTo>
                  <a:pt x="3284" y="2759"/>
                </a:lnTo>
                <a:lnTo>
                  <a:pt x="3134" y="2685"/>
                </a:lnTo>
                <a:lnTo>
                  <a:pt x="3134" y="2652"/>
                </a:lnTo>
              </a:path>
              <a:path w="3431" h="5337">
                <a:moveTo>
                  <a:pt x="2088" y="4251"/>
                </a:moveTo>
                <a:lnTo>
                  <a:pt x="2239" y="4325"/>
                </a:lnTo>
                <a:lnTo>
                  <a:pt x="2278" y="4325"/>
                </a:lnTo>
                <a:lnTo>
                  <a:pt x="2347" y="4405"/>
                </a:lnTo>
                <a:lnTo>
                  <a:pt x="2347" y="4440"/>
                </a:lnTo>
                <a:lnTo>
                  <a:pt x="2570" y="4473"/>
                </a:lnTo>
                <a:lnTo>
                  <a:pt x="2611" y="4440"/>
                </a:lnTo>
                <a:lnTo>
                  <a:pt x="2537" y="4405"/>
                </a:lnTo>
                <a:lnTo>
                  <a:pt x="2537" y="4366"/>
                </a:lnTo>
                <a:lnTo>
                  <a:pt x="2388" y="4325"/>
                </a:lnTo>
                <a:lnTo>
                  <a:pt x="2314" y="4251"/>
                </a:lnTo>
                <a:lnTo>
                  <a:pt x="2088" y="4183"/>
                </a:lnTo>
                <a:lnTo>
                  <a:pt x="1939" y="4215"/>
                </a:lnTo>
                <a:lnTo>
                  <a:pt x="1900" y="4251"/>
                </a:lnTo>
                <a:lnTo>
                  <a:pt x="1975" y="4251"/>
                </a:lnTo>
                <a:lnTo>
                  <a:pt x="2050" y="4215"/>
                </a:lnTo>
                <a:lnTo>
                  <a:pt x="2088" y="4251"/>
                </a:lnTo>
                <a:close/>
              </a:path>
              <a:path w="3431" h="5337">
                <a:moveTo>
                  <a:pt x="2346" y="4555"/>
                </a:moveTo>
                <a:lnTo>
                  <a:pt x="2313" y="4516"/>
                </a:lnTo>
                <a:lnTo>
                  <a:pt x="2277" y="4516"/>
                </a:lnTo>
                <a:lnTo>
                  <a:pt x="2346" y="4591"/>
                </a:lnTo>
                <a:lnTo>
                  <a:pt x="2388" y="4591"/>
                </a:lnTo>
                <a:lnTo>
                  <a:pt x="2421" y="4591"/>
                </a:lnTo>
                <a:lnTo>
                  <a:pt x="2388" y="4555"/>
                </a:lnTo>
                <a:lnTo>
                  <a:pt x="2346" y="4555"/>
                </a:lnTo>
              </a:path>
              <a:path w="3431" h="5337">
                <a:moveTo>
                  <a:pt x="2047" y="4291"/>
                </a:moveTo>
                <a:lnTo>
                  <a:pt x="2012" y="4250"/>
                </a:lnTo>
                <a:lnTo>
                  <a:pt x="1975" y="4291"/>
                </a:lnTo>
                <a:lnTo>
                  <a:pt x="2047" y="4291"/>
                </a:lnTo>
              </a:path>
              <a:path w="3431" h="5337">
                <a:moveTo>
                  <a:pt x="2346" y="1491"/>
                </a:moveTo>
                <a:lnTo>
                  <a:pt x="2388" y="1529"/>
                </a:lnTo>
                <a:lnTo>
                  <a:pt x="2420" y="1564"/>
                </a:lnTo>
                <a:lnTo>
                  <a:pt x="2462" y="1529"/>
                </a:lnTo>
                <a:lnTo>
                  <a:pt x="2462" y="1491"/>
                </a:lnTo>
                <a:lnTo>
                  <a:pt x="2420" y="1491"/>
                </a:lnTo>
                <a:lnTo>
                  <a:pt x="2388" y="1456"/>
                </a:lnTo>
                <a:lnTo>
                  <a:pt x="2346" y="1418"/>
                </a:lnTo>
                <a:lnTo>
                  <a:pt x="2314" y="1418"/>
                </a:lnTo>
                <a:lnTo>
                  <a:pt x="2272" y="1491"/>
                </a:lnTo>
                <a:lnTo>
                  <a:pt x="2314" y="1564"/>
                </a:lnTo>
                <a:lnTo>
                  <a:pt x="2346" y="1529"/>
                </a:lnTo>
                <a:lnTo>
                  <a:pt x="2346" y="1491"/>
                </a:lnTo>
              </a:path>
              <a:path w="3431" h="5337">
                <a:moveTo>
                  <a:pt x="2876" y="4552"/>
                </a:moveTo>
                <a:lnTo>
                  <a:pt x="2876" y="4473"/>
                </a:lnTo>
                <a:lnTo>
                  <a:pt x="2760" y="4473"/>
                </a:lnTo>
                <a:lnTo>
                  <a:pt x="2726" y="4473"/>
                </a:lnTo>
                <a:lnTo>
                  <a:pt x="2685" y="4473"/>
                </a:lnTo>
                <a:lnTo>
                  <a:pt x="2610" y="4473"/>
                </a:lnTo>
                <a:lnTo>
                  <a:pt x="2685" y="4513"/>
                </a:lnTo>
                <a:lnTo>
                  <a:pt x="2651" y="4552"/>
                </a:lnTo>
                <a:lnTo>
                  <a:pt x="2610" y="4552"/>
                </a:lnTo>
                <a:lnTo>
                  <a:pt x="2536" y="4588"/>
                </a:lnTo>
                <a:lnTo>
                  <a:pt x="2610" y="4627"/>
                </a:lnTo>
                <a:lnTo>
                  <a:pt x="2651" y="4588"/>
                </a:lnTo>
                <a:lnTo>
                  <a:pt x="2726" y="4627"/>
                </a:lnTo>
                <a:lnTo>
                  <a:pt x="2760" y="4627"/>
                </a:lnTo>
                <a:lnTo>
                  <a:pt x="2801" y="4627"/>
                </a:lnTo>
                <a:lnTo>
                  <a:pt x="2834" y="4627"/>
                </a:lnTo>
                <a:lnTo>
                  <a:pt x="2876" y="4588"/>
                </a:lnTo>
                <a:lnTo>
                  <a:pt x="2950" y="4627"/>
                </a:lnTo>
                <a:lnTo>
                  <a:pt x="2983" y="4627"/>
                </a:lnTo>
                <a:lnTo>
                  <a:pt x="2950" y="4552"/>
                </a:lnTo>
                <a:lnTo>
                  <a:pt x="2876" y="4552"/>
                </a:lnTo>
              </a:path>
            </a:pathLst>
          </a:custGeom>
          <a:solidFill>
            <a:srgbClr val="E6E6E6">
              <a:alpha val="100000"/>
            </a:srgbClr>
          </a:solidFill>
          <a:ln cap="flat">
            <a:noFill/>
            <a:prstDash val="solid"/>
            <a:miter lim="0"/>
          </a:ln>
        </p:spPr>
        <p:txBody>
          <a:bodyPr rtlCol="0"/>
          <a:lstStyle/>
          <a:p>
            <a:pPr algn="ctr"/>
            <a:endParaRPr lang="zh-CN" altLang="en-US"/>
          </a:p>
        </p:txBody>
      </p:sp>
      <p:sp>
        <p:nvSpPr>
          <p:cNvPr id="47" name="path"/>
          <p:cNvSpPr/>
          <p:nvPr/>
        </p:nvSpPr>
        <p:spPr>
          <a:xfrm>
            <a:off x="1688591" y="1444752"/>
            <a:ext cx="499872" cy="521208"/>
          </a:xfrm>
          <a:custGeom>
            <a:avLst/>
            <a:gdLst/>
            <a:ahLst/>
            <a:cxnLst/>
            <a:rect l="0" t="0" r="0" b="0"/>
            <a:pathLst>
              <a:path w="787" h="820">
                <a:moveTo>
                  <a:pt x="298" y="73"/>
                </a:moveTo>
                <a:lnTo>
                  <a:pt x="223" y="32"/>
                </a:lnTo>
                <a:lnTo>
                  <a:pt x="148" y="32"/>
                </a:lnTo>
                <a:lnTo>
                  <a:pt x="148" y="106"/>
                </a:lnTo>
                <a:lnTo>
                  <a:pt x="115" y="73"/>
                </a:lnTo>
                <a:lnTo>
                  <a:pt x="115" y="32"/>
                </a:lnTo>
                <a:lnTo>
                  <a:pt x="115" y="0"/>
                </a:lnTo>
                <a:lnTo>
                  <a:pt x="73" y="32"/>
                </a:lnTo>
                <a:lnTo>
                  <a:pt x="40" y="32"/>
                </a:lnTo>
                <a:lnTo>
                  <a:pt x="0" y="73"/>
                </a:lnTo>
                <a:lnTo>
                  <a:pt x="73" y="147"/>
                </a:lnTo>
                <a:lnTo>
                  <a:pt x="40" y="147"/>
                </a:lnTo>
                <a:lnTo>
                  <a:pt x="73" y="222"/>
                </a:lnTo>
                <a:lnTo>
                  <a:pt x="148" y="222"/>
                </a:lnTo>
                <a:lnTo>
                  <a:pt x="265" y="297"/>
                </a:lnTo>
                <a:lnTo>
                  <a:pt x="265" y="255"/>
                </a:lnTo>
                <a:lnTo>
                  <a:pt x="265" y="181"/>
                </a:lnTo>
                <a:lnTo>
                  <a:pt x="298" y="222"/>
                </a:lnTo>
                <a:lnTo>
                  <a:pt x="298" y="255"/>
                </a:lnTo>
                <a:lnTo>
                  <a:pt x="413" y="297"/>
                </a:lnTo>
                <a:lnTo>
                  <a:pt x="373" y="333"/>
                </a:lnTo>
                <a:lnTo>
                  <a:pt x="455" y="408"/>
                </a:lnTo>
                <a:lnTo>
                  <a:pt x="455" y="445"/>
                </a:lnTo>
                <a:lnTo>
                  <a:pt x="413" y="445"/>
                </a:lnTo>
                <a:lnTo>
                  <a:pt x="455" y="556"/>
                </a:lnTo>
                <a:lnTo>
                  <a:pt x="413" y="556"/>
                </a:lnTo>
                <a:lnTo>
                  <a:pt x="340" y="556"/>
                </a:lnTo>
                <a:lnTo>
                  <a:pt x="340" y="669"/>
                </a:lnTo>
                <a:lnTo>
                  <a:pt x="413" y="669"/>
                </a:lnTo>
                <a:lnTo>
                  <a:pt x="455" y="631"/>
                </a:lnTo>
                <a:lnTo>
                  <a:pt x="530" y="747"/>
                </a:lnTo>
                <a:lnTo>
                  <a:pt x="563" y="747"/>
                </a:lnTo>
                <a:lnTo>
                  <a:pt x="605" y="780"/>
                </a:lnTo>
                <a:lnTo>
                  <a:pt x="754" y="820"/>
                </a:lnTo>
                <a:lnTo>
                  <a:pt x="754" y="780"/>
                </a:lnTo>
                <a:lnTo>
                  <a:pt x="696" y="727"/>
                </a:lnTo>
                <a:lnTo>
                  <a:pt x="754" y="747"/>
                </a:lnTo>
                <a:lnTo>
                  <a:pt x="754" y="705"/>
                </a:lnTo>
                <a:lnTo>
                  <a:pt x="713" y="669"/>
                </a:lnTo>
                <a:lnTo>
                  <a:pt x="713" y="631"/>
                </a:lnTo>
                <a:lnTo>
                  <a:pt x="638" y="595"/>
                </a:lnTo>
                <a:lnTo>
                  <a:pt x="680" y="556"/>
                </a:lnTo>
                <a:lnTo>
                  <a:pt x="638" y="520"/>
                </a:lnTo>
                <a:lnTo>
                  <a:pt x="754" y="556"/>
                </a:lnTo>
                <a:lnTo>
                  <a:pt x="754" y="520"/>
                </a:lnTo>
                <a:lnTo>
                  <a:pt x="787" y="520"/>
                </a:lnTo>
                <a:lnTo>
                  <a:pt x="787" y="445"/>
                </a:lnTo>
                <a:lnTo>
                  <a:pt x="713" y="445"/>
                </a:lnTo>
                <a:lnTo>
                  <a:pt x="680" y="408"/>
                </a:lnTo>
                <a:lnTo>
                  <a:pt x="605" y="372"/>
                </a:lnTo>
                <a:lnTo>
                  <a:pt x="563" y="333"/>
                </a:lnTo>
                <a:lnTo>
                  <a:pt x="605" y="297"/>
                </a:lnTo>
                <a:lnTo>
                  <a:pt x="563" y="222"/>
                </a:lnTo>
                <a:lnTo>
                  <a:pt x="488" y="222"/>
                </a:lnTo>
                <a:lnTo>
                  <a:pt x="413" y="181"/>
                </a:lnTo>
                <a:lnTo>
                  <a:pt x="413" y="106"/>
                </a:lnTo>
                <a:lnTo>
                  <a:pt x="340" y="147"/>
                </a:lnTo>
                <a:lnTo>
                  <a:pt x="340" y="106"/>
                </a:lnTo>
                <a:lnTo>
                  <a:pt x="265" y="106"/>
                </a:lnTo>
                <a:lnTo>
                  <a:pt x="265" y="73"/>
                </a:lnTo>
                <a:lnTo>
                  <a:pt x="298" y="73"/>
                </a:lnTo>
              </a:path>
            </a:pathLst>
          </a:custGeom>
          <a:solidFill>
            <a:srgbClr val="E6E6E6">
              <a:alpha val="100000"/>
            </a:srgbClr>
          </a:solidFill>
          <a:ln cap="flat">
            <a:noFill/>
            <a:prstDash val="solid"/>
            <a:miter lim="0"/>
          </a:ln>
        </p:spPr>
        <p:txBody>
          <a:bodyPr rtlCol="0"/>
          <a:lstStyle/>
          <a:p>
            <a:pPr algn="ctr"/>
            <a:endParaRPr lang="zh-CN" altLang="en-US"/>
          </a:p>
        </p:txBody>
      </p:sp>
      <p:sp>
        <p:nvSpPr>
          <p:cNvPr id="48" name="path"/>
          <p:cNvSpPr/>
          <p:nvPr/>
        </p:nvSpPr>
        <p:spPr>
          <a:xfrm>
            <a:off x="2403347" y="2342388"/>
            <a:ext cx="211836" cy="211836"/>
          </a:xfrm>
          <a:custGeom>
            <a:avLst/>
            <a:gdLst/>
            <a:ahLst/>
            <a:cxnLst/>
            <a:rect l="0" t="0" r="0" b="0"/>
            <a:pathLst>
              <a:path w="333" h="333">
                <a:moveTo>
                  <a:pt x="333" y="184"/>
                </a:moveTo>
                <a:lnTo>
                  <a:pt x="300" y="148"/>
                </a:lnTo>
                <a:lnTo>
                  <a:pt x="300" y="109"/>
                </a:lnTo>
                <a:lnTo>
                  <a:pt x="184" y="109"/>
                </a:lnTo>
                <a:lnTo>
                  <a:pt x="149" y="148"/>
                </a:lnTo>
                <a:lnTo>
                  <a:pt x="184" y="36"/>
                </a:lnTo>
                <a:lnTo>
                  <a:pt x="149" y="0"/>
                </a:lnTo>
                <a:lnTo>
                  <a:pt x="74" y="184"/>
                </a:lnTo>
                <a:lnTo>
                  <a:pt x="0" y="225"/>
                </a:lnTo>
                <a:lnTo>
                  <a:pt x="74" y="225"/>
                </a:lnTo>
                <a:lnTo>
                  <a:pt x="74" y="300"/>
                </a:lnTo>
                <a:lnTo>
                  <a:pt x="110" y="333"/>
                </a:lnTo>
                <a:lnTo>
                  <a:pt x="184" y="300"/>
                </a:lnTo>
                <a:lnTo>
                  <a:pt x="226" y="300"/>
                </a:lnTo>
                <a:lnTo>
                  <a:pt x="259" y="333"/>
                </a:lnTo>
                <a:lnTo>
                  <a:pt x="300" y="300"/>
                </a:lnTo>
                <a:lnTo>
                  <a:pt x="333" y="333"/>
                </a:lnTo>
                <a:lnTo>
                  <a:pt x="333" y="225"/>
                </a:lnTo>
                <a:lnTo>
                  <a:pt x="300" y="225"/>
                </a:lnTo>
                <a:lnTo>
                  <a:pt x="333" y="184"/>
                </a:lnTo>
              </a:path>
            </a:pathLst>
          </a:custGeom>
          <a:solidFill>
            <a:srgbClr val="E6E6E6">
              <a:alpha val="100000"/>
            </a:srgbClr>
          </a:solidFill>
          <a:ln cap="flat">
            <a:noFill/>
            <a:prstDash val="solid"/>
            <a:miter lim="0"/>
          </a:ln>
        </p:spPr>
        <p:txBody>
          <a:bodyPr rtlCol="0"/>
          <a:lstStyle/>
          <a:p>
            <a:pPr algn="ctr"/>
            <a:endParaRPr lang="zh-CN" altLang="en-US"/>
          </a:p>
        </p:txBody>
      </p:sp>
      <p:sp>
        <p:nvSpPr>
          <p:cNvPr id="49" name="textbox 49"/>
          <p:cNvSpPr/>
          <p:nvPr/>
        </p:nvSpPr>
        <p:spPr>
          <a:xfrm>
            <a:off x="230124" y="1836420"/>
            <a:ext cx="4067809" cy="4602479"/>
          </a:xfrm>
          <a:prstGeom prst="rect">
            <a:avLst/>
          </a:prstGeom>
          <a:solidFill>
            <a:srgbClr val="BFE1FF">
              <a:alpha val="49803"/>
            </a:srgbClr>
          </a:solidFill>
        </p:spPr>
        <p:txBody>
          <a:bodyPr vert="horz" wrap="square" lIns="0" tIns="0" rIns="0" bIns="0"/>
          <a:lstStyle/>
          <a:p>
            <a:pPr algn="l" rtl="0" eaLnBrk="0">
              <a:lnSpc>
                <a:spcPct val="100000"/>
              </a:lnSpc>
            </a:pPr>
            <a:endParaRPr lang="en-US" altLang="en-US" sz="700" dirty="0">
              <a:latin typeface="微软雅黑" panose="020B0503020204020204" charset="-122"/>
              <a:ea typeface="微软雅黑" panose="020B0503020204020204" charset="-122"/>
            </a:endParaRPr>
          </a:p>
          <a:p>
            <a:pPr marL="276225" indent="-190500" algn="l" rtl="0" eaLnBrk="0">
              <a:lnSpc>
                <a:spcPct val="103000"/>
              </a:lnSpc>
              <a:spcBef>
                <a:spcPts val="5"/>
              </a:spcBef>
            </a:pPr>
            <a:r>
              <a:rPr sz="1500" spc="9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乙方亚太卓越营销和销售咨询业务的</a:t>
            </a:r>
            <a:r>
              <a:rPr sz="1500" spc="30" dirty="0">
                <a:solidFill>
                  <a:srgbClr val="000000">
                    <a:alpha val="100000"/>
                  </a:srgbClr>
                </a:solidFill>
                <a:latin typeface="微软雅黑" panose="020B0503020204020204" charset="-122"/>
                <a:ea typeface="微软雅黑" panose="020B0503020204020204" charset="-122"/>
                <a:cs typeface="楷体" panose="02010609060101010101" charset="-122"/>
              </a:rPr>
              <a:t>负</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80" dirty="0">
                <a:solidFill>
                  <a:srgbClr val="000000">
                    <a:alpha val="100000"/>
                  </a:srgbClr>
                </a:solidFill>
                <a:latin typeface="微软雅黑" panose="020B0503020204020204" charset="-122"/>
                <a:ea typeface="微软雅黑" panose="020B0503020204020204" charset="-122"/>
                <a:cs typeface="楷体" panose="02010609060101010101" charset="-122"/>
              </a:rPr>
              <a:t>责人，服务乙方十多年，专注于化工</a:t>
            </a:r>
            <a:r>
              <a:rPr sz="1500" spc="50" dirty="0">
                <a:solidFill>
                  <a:srgbClr val="000000">
                    <a:alpha val="100000"/>
                  </a:srgbClr>
                </a:solidFill>
                <a:latin typeface="微软雅黑" panose="020B0503020204020204" charset="-122"/>
                <a:ea typeface="微软雅黑" panose="020B0503020204020204" charset="-122"/>
                <a:cs typeface="楷体" panose="02010609060101010101" charset="-122"/>
              </a:rPr>
              <a:t>、</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能源、基础材料、科技等行</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业</a:t>
            </a:r>
            <a:endParaRPr lang="en-US" altLang="en-US" sz="1500" dirty="0">
              <a:latin typeface="微软雅黑" panose="020B0503020204020204" charset="-122"/>
              <a:ea typeface="微软雅黑" panose="020B0503020204020204" charset="-122"/>
            </a:endParaRPr>
          </a:p>
          <a:p>
            <a:pPr marL="280670" indent="-194945" algn="l" rtl="0" eaLnBrk="0">
              <a:lnSpc>
                <a:spcPct val="103000"/>
              </a:lnSpc>
              <a:spcBef>
                <a:spcPts val="675"/>
              </a:spcBef>
            </a:pPr>
            <a:r>
              <a:rPr sz="1500" spc="7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70" dirty="0">
                <a:solidFill>
                  <a:srgbClr val="000000">
                    <a:alpha val="100000"/>
                  </a:srgbClr>
                </a:solidFill>
                <a:latin typeface="微软雅黑" panose="020B0503020204020204" charset="-122"/>
                <a:ea typeface="微软雅黑" panose="020B0503020204020204" charset="-122"/>
                <a:cs typeface="楷体" panose="02010609060101010101" charset="-122"/>
              </a:rPr>
              <a:t>协助化工企业设计营销战略和策略</a:t>
            </a:r>
            <a:r>
              <a:rPr sz="1500" spc="30" dirty="0">
                <a:solidFill>
                  <a:srgbClr val="000000">
                    <a:alpha val="100000"/>
                  </a:srgbClr>
                </a:solidFill>
                <a:latin typeface="微软雅黑" panose="020B0503020204020204" charset="-122"/>
                <a:ea typeface="微软雅黑" panose="020B0503020204020204" charset="-122"/>
                <a:cs typeface="楷体" panose="02010609060101010101" charset="-122"/>
              </a:rPr>
              <a:t>，</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包括定价系统设计、组织机制调整和</a:t>
            </a:r>
            <a:r>
              <a:rPr sz="1500" spc="50" dirty="0">
                <a:solidFill>
                  <a:srgbClr val="000000">
                    <a:alpha val="100000"/>
                  </a:srgbClr>
                </a:solidFill>
                <a:latin typeface="微软雅黑" panose="020B0503020204020204" charset="-122"/>
                <a:ea typeface="微软雅黑" panose="020B0503020204020204" charset="-122"/>
                <a:cs typeface="楷体" panose="02010609060101010101" charset="-122"/>
              </a:rPr>
              <a:t>业</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务 </a:t>
            </a:r>
            <a:r>
              <a:rPr sz="1500" spc="70" dirty="0">
                <a:solidFill>
                  <a:srgbClr val="000000">
                    <a:alpha val="100000"/>
                  </a:srgbClr>
                </a:solidFill>
                <a:latin typeface="微软雅黑" panose="020B0503020204020204" charset="-122"/>
                <a:ea typeface="微软雅黑" panose="020B0503020204020204" charset="-122"/>
                <a:cs typeface="楷体" panose="02010609060101010101" charset="-122"/>
              </a:rPr>
              <a:t>流程更</a:t>
            </a:r>
            <a:r>
              <a:rPr sz="1500" spc="60" dirty="0">
                <a:solidFill>
                  <a:srgbClr val="000000">
                    <a:alpha val="100000"/>
                  </a:srgbClr>
                </a:solidFill>
                <a:latin typeface="微软雅黑" panose="020B0503020204020204" charset="-122"/>
                <a:ea typeface="微软雅黑" panose="020B0503020204020204" charset="-122"/>
                <a:cs typeface="楷体" panose="02010609060101010101" charset="-122"/>
              </a:rPr>
              <a:t>新</a:t>
            </a:r>
            <a:endParaRPr lang="en-US" altLang="en-US" sz="1500" dirty="0">
              <a:latin typeface="微软雅黑" panose="020B0503020204020204" charset="-122"/>
              <a:ea typeface="微软雅黑" panose="020B0503020204020204" charset="-122"/>
            </a:endParaRPr>
          </a:p>
          <a:p>
            <a:pPr marL="271780" indent="-185420" algn="l" rtl="0" eaLnBrk="0">
              <a:lnSpc>
                <a:spcPct val="104000"/>
              </a:lnSpc>
              <a:spcBef>
                <a:spcPts val="710"/>
              </a:spcBef>
            </a:pPr>
            <a:r>
              <a:rPr sz="1500" spc="9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协助一跨国包装材料企业制定和全面执</a:t>
            </a:r>
            <a:r>
              <a:rPr sz="1500" spc="30" dirty="0">
                <a:solidFill>
                  <a:srgbClr val="000000">
                    <a:alpha val="100000"/>
                  </a:srgbClr>
                </a:solidFill>
                <a:latin typeface="微软雅黑" panose="020B0503020204020204" charset="-122"/>
                <a:ea typeface="微软雅黑" panose="020B0503020204020204" charset="-122"/>
                <a:cs typeface="楷体" panose="02010609060101010101" charset="-122"/>
              </a:rPr>
              <a:t>行</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卓越营销转型方案，包括销售团队能力</a:t>
            </a:r>
            <a:r>
              <a:rPr sz="1500" spc="30" dirty="0">
                <a:solidFill>
                  <a:srgbClr val="000000">
                    <a:alpha val="100000"/>
                  </a:srgbClr>
                </a:solidFill>
                <a:latin typeface="微软雅黑" panose="020B0503020204020204" charset="-122"/>
                <a:ea typeface="微软雅黑" panose="020B0503020204020204" charset="-122"/>
                <a:cs typeface="楷体" panose="02010609060101010101" charset="-122"/>
              </a:rPr>
              <a:t>建</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设和培训、产品战略制定和近期的转型</a:t>
            </a:r>
            <a:r>
              <a:rPr sz="1500" spc="30" dirty="0">
                <a:solidFill>
                  <a:srgbClr val="000000">
                    <a:alpha val="100000"/>
                  </a:srgbClr>
                </a:solidFill>
                <a:latin typeface="微软雅黑" panose="020B0503020204020204" charset="-122"/>
                <a:ea typeface="微软雅黑" panose="020B0503020204020204" charset="-122"/>
                <a:cs typeface="楷体" panose="02010609060101010101" charset="-122"/>
              </a:rPr>
              <a:t>实</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施计划制</a:t>
            </a:r>
            <a:r>
              <a:rPr sz="1500" spc="50" dirty="0">
                <a:solidFill>
                  <a:srgbClr val="000000">
                    <a:alpha val="100000"/>
                  </a:srgbClr>
                </a:solidFill>
                <a:latin typeface="微软雅黑" panose="020B0503020204020204" charset="-122"/>
                <a:ea typeface="微软雅黑" panose="020B0503020204020204" charset="-122"/>
                <a:cs typeface="楷体" panose="02010609060101010101" charset="-122"/>
              </a:rPr>
              <a:t>定</a:t>
            </a:r>
            <a:endParaRPr lang="en-US" altLang="en-US" sz="1500" dirty="0">
              <a:latin typeface="微软雅黑" panose="020B0503020204020204" charset="-122"/>
              <a:ea typeface="微软雅黑" panose="020B0503020204020204" charset="-122"/>
            </a:endParaRPr>
          </a:p>
          <a:p>
            <a:pPr marL="275590" indent="-189865" algn="l" rtl="0" eaLnBrk="0">
              <a:lnSpc>
                <a:spcPct val="105000"/>
              </a:lnSpc>
              <a:spcBef>
                <a:spcPts val="645"/>
              </a:spcBef>
            </a:pPr>
            <a:r>
              <a:rPr sz="1500" spc="9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协助一领先采矿工程企业设计中国产品</a:t>
            </a:r>
            <a:r>
              <a:rPr sz="1500" spc="30" dirty="0">
                <a:solidFill>
                  <a:srgbClr val="000000">
                    <a:alpha val="100000"/>
                  </a:srgbClr>
                </a:solidFill>
                <a:latin typeface="微软雅黑" panose="020B0503020204020204" charset="-122"/>
                <a:ea typeface="微软雅黑" panose="020B0503020204020204" charset="-122"/>
                <a:cs typeface="楷体" panose="02010609060101010101" charset="-122"/>
              </a:rPr>
              <a:t>上</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市营销的战略和策略，包括全面深入的</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市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场分析、售后网络设计和组织重组计划</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制 </a:t>
            </a:r>
            <a:r>
              <a:rPr sz="1500" spc="10" dirty="0">
                <a:solidFill>
                  <a:srgbClr val="000000">
                    <a:alpha val="100000"/>
                  </a:srgbClr>
                </a:solidFill>
                <a:latin typeface="微软雅黑" panose="020B0503020204020204" charset="-122"/>
                <a:ea typeface="微软雅黑" panose="020B0503020204020204" charset="-122"/>
                <a:cs typeface="楷体" panose="02010609060101010101" charset="-122"/>
              </a:rPr>
              <a:t>定</a:t>
            </a:r>
            <a:endParaRPr lang="en-US" altLang="en-US" sz="1500" dirty="0">
              <a:latin typeface="微软雅黑" panose="020B0503020204020204" charset="-122"/>
              <a:ea typeface="微软雅黑" panose="020B0503020204020204" charset="-122"/>
            </a:endParaRPr>
          </a:p>
          <a:p>
            <a:pPr algn="l" rtl="0" eaLnBrk="0">
              <a:lnSpc>
                <a:spcPct val="100000"/>
              </a:lnSpc>
            </a:pPr>
            <a:endParaRPr lang="en-US" altLang="en-US" sz="500" dirty="0">
              <a:latin typeface="微软雅黑" panose="020B0503020204020204" charset="-122"/>
              <a:ea typeface="微软雅黑" panose="020B0503020204020204" charset="-122"/>
            </a:endParaRPr>
          </a:p>
          <a:p>
            <a:pPr marL="273050" indent="-187325" algn="l" rtl="0" eaLnBrk="0">
              <a:lnSpc>
                <a:spcPct val="103000"/>
              </a:lnSpc>
              <a:spcBef>
                <a:spcPts val="0"/>
              </a:spcBef>
            </a:pPr>
            <a:r>
              <a:rPr sz="1500" spc="7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70" dirty="0">
                <a:solidFill>
                  <a:srgbClr val="000000">
                    <a:alpha val="100000"/>
                  </a:srgbClr>
                </a:solidFill>
                <a:latin typeface="微软雅黑" panose="020B0503020204020204" charset="-122"/>
                <a:ea typeface="微软雅黑" panose="020B0503020204020204" charset="-122"/>
                <a:cs typeface="楷体" panose="02010609060101010101" charset="-122"/>
              </a:rPr>
              <a:t>为一医疗器械公司设计销售、配送网络</a:t>
            </a:r>
            <a:r>
              <a:rPr sz="1500" spc="30" dirty="0">
                <a:solidFill>
                  <a:srgbClr val="000000">
                    <a:alpha val="100000"/>
                  </a:srgbClr>
                </a:solidFill>
                <a:latin typeface="微软雅黑" panose="020B0503020204020204" charset="-122"/>
                <a:ea typeface="微软雅黑" panose="020B0503020204020204" charset="-122"/>
                <a:cs typeface="楷体" panose="02010609060101010101" charset="-122"/>
              </a:rPr>
              <a:t>，</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60" dirty="0">
                <a:solidFill>
                  <a:srgbClr val="000000">
                    <a:alpha val="100000"/>
                  </a:srgbClr>
                </a:solidFill>
                <a:latin typeface="微软雅黑" panose="020B0503020204020204" charset="-122"/>
                <a:ea typeface="微软雅黑" panose="020B0503020204020204" charset="-122"/>
                <a:cs typeface="楷体" panose="02010609060101010101" charset="-122"/>
              </a:rPr>
              <a:t>包括评估市场增长潜力， 分析比较</a:t>
            </a:r>
            <a:r>
              <a:rPr sz="1500" spc="10" dirty="0">
                <a:solidFill>
                  <a:srgbClr val="000000">
                    <a:alpha val="100000"/>
                  </a:srgbClr>
                </a:solidFill>
                <a:latin typeface="微软雅黑" panose="020B0503020204020204" charset="-122"/>
                <a:ea typeface="微软雅黑" panose="020B0503020204020204" charset="-122"/>
                <a:cs typeface="楷体" panose="02010609060101010101" charset="-122"/>
              </a:rPr>
              <a:t>不</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同销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售配送模式和转型实施方</a:t>
            </a:r>
            <a:r>
              <a:rPr sz="1500" spc="30" dirty="0">
                <a:solidFill>
                  <a:srgbClr val="000000">
                    <a:alpha val="100000"/>
                  </a:srgbClr>
                </a:solidFill>
                <a:latin typeface="微软雅黑" panose="020B0503020204020204" charset="-122"/>
                <a:ea typeface="微软雅黑" panose="020B0503020204020204" charset="-122"/>
                <a:cs typeface="楷体" panose="02010609060101010101" charset="-122"/>
              </a:rPr>
              <a:t>案</a:t>
            </a:r>
            <a:endParaRPr lang="en-US" altLang="en-US" sz="1500" dirty="0">
              <a:latin typeface="微软雅黑" panose="020B0503020204020204" charset="-122"/>
              <a:ea typeface="微软雅黑" panose="020B0503020204020204" charset="-122"/>
            </a:endParaRPr>
          </a:p>
        </p:txBody>
      </p:sp>
      <p:sp>
        <p:nvSpPr>
          <p:cNvPr id="50" name="path"/>
          <p:cNvSpPr/>
          <p:nvPr/>
        </p:nvSpPr>
        <p:spPr>
          <a:xfrm>
            <a:off x="1478280" y="943356"/>
            <a:ext cx="188975" cy="143255"/>
          </a:xfrm>
          <a:custGeom>
            <a:avLst/>
            <a:gdLst/>
            <a:ahLst/>
            <a:cxnLst/>
            <a:rect l="0" t="0" r="0" b="0"/>
            <a:pathLst>
              <a:path w="297" h="225">
                <a:moveTo>
                  <a:pt x="148" y="149"/>
                </a:moveTo>
                <a:lnTo>
                  <a:pt x="184" y="116"/>
                </a:lnTo>
                <a:lnTo>
                  <a:pt x="184" y="149"/>
                </a:lnTo>
                <a:lnTo>
                  <a:pt x="223" y="116"/>
                </a:lnTo>
                <a:lnTo>
                  <a:pt x="259" y="74"/>
                </a:lnTo>
                <a:lnTo>
                  <a:pt x="297" y="41"/>
                </a:lnTo>
                <a:lnTo>
                  <a:pt x="223" y="0"/>
                </a:lnTo>
                <a:lnTo>
                  <a:pt x="184" y="41"/>
                </a:lnTo>
                <a:lnTo>
                  <a:pt x="148" y="74"/>
                </a:lnTo>
                <a:lnTo>
                  <a:pt x="110" y="41"/>
                </a:lnTo>
                <a:lnTo>
                  <a:pt x="74" y="116"/>
                </a:lnTo>
                <a:lnTo>
                  <a:pt x="35" y="149"/>
                </a:lnTo>
                <a:lnTo>
                  <a:pt x="0" y="189"/>
                </a:lnTo>
                <a:lnTo>
                  <a:pt x="0" y="225"/>
                </a:lnTo>
                <a:lnTo>
                  <a:pt x="74" y="189"/>
                </a:lnTo>
                <a:lnTo>
                  <a:pt x="148" y="149"/>
                </a:lnTo>
              </a:path>
            </a:pathLst>
          </a:custGeom>
          <a:solidFill>
            <a:srgbClr val="E6E6E6">
              <a:alpha val="100000"/>
            </a:srgbClr>
          </a:solidFill>
          <a:ln cap="flat">
            <a:noFill/>
            <a:prstDash val="solid"/>
            <a:miter lim="0"/>
          </a:ln>
        </p:spPr>
        <p:txBody>
          <a:bodyPr rtlCol="0"/>
          <a:lstStyle/>
          <a:p>
            <a:pPr algn="ctr"/>
            <a:endParaRPr lang="zh-CN" altLang="en-US"/>
          </a:p>
        </p:txBody>
      </p:sp>
      <p:sp>
        <p:nvSpPr>
          <p:cNvPr id="51" name="path"/>
          <p:cNvSpPr/>
          <p:nvPr/>
        </p:nvSpPr>
        <p:spPr>
          <a:xfrm>
            <a:off x="1263396" y="1039368"/>
            <a:ext cx="784859" cy="519683"/>
          </a:xfrm>
          <a:custGeom>
            <a:avLst/>
            <a:gdLst/>
            <a:ahLst/>
            <a:cxnLst/>
            <a:rect l="0" t="0" r="0" b="0"/>
            <a:pathLst>
              <a:path w="1235" h="818">
                <a:moveTo>
                  <a:pt x="1161" y="487"/>
                </a:moveTo>
                <a:lnTo>
                  <a:pt x="1201" y="446"/>
                </a:lnTo>
                <a:lnTo>
                  <a:pt x="1201" y="412"/>
                </a:lnTo>
                <a:lnTo>
                  <a:pt x="1235" y="372"/>
                </a:lnTo>
                <a:lnTo>
                  <a:pt x="1235" y="338"/>
                </a:lnTo>
                <a:lnTo>
                  <a:pt x="1201" y="297"/>
                </a:lnTo>
                <a:lnTo>
                  <a:pt x="1127" y="297"/>
                </a:lnTo>
                <a:lnTo>
                  <a:pt x="1087" y="263"/>
                </a:lnTo>
                <a:lnTo>
                  <a:pt x="1047" y="223"/>
                </a:lnTo>
                <a:lnTo>
                  <a:pt x="1047" y="189"/>
                </a:lnTo>
                <a:lnTo>
                  <a:pt x="1087" y="189"/>
                </a:lnTo>
                <a:lnTo>
                  <a:pt x="1127" y="189"/>
                </a:lnTo>
                <a:lnTo>
                  <a:pt x="1087" y="148"/>
                </a:lnTo>
                <a:lnTo>
                  <a:pt x="1127" y="148"/>
                </a:lnTo>
                <a:lnTo>
                  <a:pt x="1127" y="74"/>
                </a:lnTo>
                <a:lnTo>
                  <a:pt x="1087" y="74"/>
                </a:lnTo>
                <a:lnTo>
                  <a:pt x="1047" y="74"/>
                </a:lnTo>
                <a:lnTo>
                  <a:pt x="1012" y="74"/>
                </a:lnTo>
                <a:lnTo>
                  <a:pt x="1012" y="40"/>
                </a:lnTo>
                <a:lnTo>
                  <a:pt x="938" y="0"/>
                </a:lnTo>
                <a:lnTo>
                  <a:pt x="938" y="40"/>
                </a:lnTo>
                <a:lnTo>
                  <a:pt x="938" y="114"/>
                </a:lnTo>
                <a:lnTo>
                  <a:pt x="972" y="114"/>
                </a:lnTo>
                <a:lnTo>
                  <a:pt x="972" y="148"/>
                </a:lnTo>
                <a:lnTo>
                  <a:pt x="972" y="189"/>
                </a:lnTo>
                <a:lnTo>
                  <a:pt x="972" y="263"/>
                </a:lnTo>
                <a:lnTo>
                  <a:pt x="972" y="297"/>
                </a:lnTo>
                <a:lnTo>
                  <a:pt x="1012" y="338"/>
                </a:lnTo>
                <a:lnTo>
                  <a:pt x="1012" y="372"/>
                </a:lnTo>
                <a:lnTo>
                  <a:pt x="1012" y="412"/>
                </a:lnTo>
                <a:lnTo>
                  <a:pt x="1047" y="487"/>
                </a:lnTo>
                <a:lnTo>
                  <a:pt x="1087" y="487"/>
                </a:lnTo>
                <a:lnTo>
                  <a:pt x="1161" y="487"/>
                </a:lnTo>
                <a:lnTo>
                  <a:pt x="1161" y="487"/>
                </a:lnTo>
                <a:close/>
              </a:path>
              <a:path w="1235" h="818">
                <a:moveTo>
                  <a:pt x="115" y="445"/>
                </a:moveTo>
                <a:lnTo>
                  <a:pt x="223" y="445"/>
                </a:lnTo>
                <a:lnTo>
                  <a:pt x="190" y="297"/>
                </a:lnTo>
                <a:lnTo>
                  <a:pt x="148" y="297"/>
                </a:lnTo>
                <a:lnTo>
                  <a:pt x="74" y="370"/>
                </a:lnTo>
                <a:lnTo>
                  <a:pt x="0" y="409"/>
                </a:lnTo>
                <a:lnTo>
                  <a:pt x="0" y="487"/>
                </a:lnTo>
                <a:lnTo>
                  <a:pt x="74" y="487"/>
                </a:lnTo>
                <a:lnTo>
                  <a:pt x="115" y="445"/>
                </a:lnTo>
              </a:path>
              <a:path w="1235" h="818">
                <a:moveTo>
                  <a:pt x="373" y="520"/>
                </a:moveTo>
                <a:lnTo>
                  <a:pt x="338" y="595"/>
                </a:lnTo>
                <a:lnTo>
                  <a:pt x="338" y="520"/>
                </a:lnTo>
                <a:lnTo>
                  <a:pt x="265" y="520"/>
                </a:lnTo>
                <a:lnTo>
                  <a:pt x="223" y="487"/>
                </a:lnTo>
                <a:lnTo>
                  <a:pt x="148" y="487"/>
                </a:lnTo>
                <a:lnTo>
                  <a:pt x="115" y="520"/>
                </a:lnTo>
                <a:lnTo>
                  <a:pt x="115" y="595"/>
                </a:lnTo>
                <a:lnTo>
                  <a:pt x="148" y="636"/>
                </a:lnTo>
                <a:lnTo>
                  <a:pt x="74" y="636"/>
                </a:lnTo>
                <a:lnTo>
                  <a:pt x="148" y="670"/>
                </a:lnTo>
                <a:lnTo>
                  <a:pt x="148" y="743"/>
                </a:lnTo>
                <a:lnTo>
                  <a:pt x="265" y="785"/>
                </a:lnTo>
                <a:lnTo>
                  <a:pt x="338" y="818"/>
                </a:lnTo>
                <a:lnTo>
                  <a:pt x="412" y="818"/>
                </a:lnTo>
                <a:lnTo>
                  <a:pt x="373" y="785"/>
                </a:lnTo>
                <a:lnTo>
                  <a:pt x="412" y="785"/>
                </a:lnTo>
                <a:lnTo>
                  <a:pt x="373" y="670"/>
                </a:lnTo>
                <a:lnTo>
                  <a:pt x="412" y="561"/>
                </a:lnTo>
                <a:lnTo>
                  <a:pt x="373" y="520"/>
                </a:lnTo>
              </a:path>
              <a:path w="1235" h="818">
                <a:moveTo>
                  <a:pt x="522" y="712"/>
                </a:moveTo>
                <a:lnTo>
                  <a:pt x="561" y="671"/>
                </a:lnTo>
                <a:lnTo>
                  <a:pt x="561" y="561"/>
                </a:lnTo>
                <a:lnTo>
                  <a:pt x="522" y="561"/>
                </a:lnTo>
                <a:lnTo>
                  <a:pt x="487" y="595"/>
                </a:lnTo>
                <a:lnTo>
                  <a:pt x="448" y="595"/>
                </a:lnTo>
                <a:lnTo>
                  <a:pt x="487" y="671"/>
                </a:lnTo>
                <a:lnTo>
                  <a:pt x="487" y="712"/>
                </a:lnTo>
                <a:lnTo>
                  <a:pt x="522" y="712"/>
                </a:lnTo>
              </a:path>
              <a:path w="1235" h="818">
                <a:moveTo>
                  <a:pt x="595" y="594"/>
                </a:moveTo>
                <a:lnTo>
                  <a:pt x="595" y="669"/>
                </a:lnTo>
                <a:lnTo>
                  <a:pt x="634" y="669"/>
                </a:lnTo>
                <a:lnTo>
                  <a:pt x="712" y="594"/>
                </a:lnTo>
                <a:lnTo>
                  <a:pt x="671" y="561"/>
                </a:lnTo>
                <a:lnTo>
                  <a:pt x="634" y="561"/>
                </a:lnTo>
                <a:lnTo>
                  <a:pt x="595" y="594"/>
                </a:lnTo>
              </a:path>
              <a:path w="1235" h="818">
                <a:moveTo>
                  <a:pt x="671" y="410"/>
                </a:moveTo>
                <a:lnTo>
                  <a:pt x="635" y="410"/>
                </a:lnTo>
                <a:lnTo>
                  <a:pt x="671" y="445"/>
                </a:lnTo>
                <a:lnTo>
                  <a:pt x="671" y="561"/>
                </a:lnTo>
                <a:lnTo>
                  <a:pt x="935" y="561"/>
                </a:lnTo>
                <a:lnTo>
                  <a:pt x="935" y="520"/>
                </a:lnTo>
                <a:lnTo>
                  <a:pt x="786" y="487"/>
                </a:lnTo>
                <a:lnTo>
                  <a:pt x="671" y="410"/>
                </a:lnTo>
              </a:path>
              <a:path w="1235" h="818">
                <a:moveTo>
                  <a:pt x="487" y="372"/>
                </a:moveTo>
                <a:lnTo>
                  <a:pt x="448" y="337"/>
                </a:lnTo>
                <a:lnTo>
                  <a:pt x="338" y="297"/>
                </a:lnTo>
                <a:lnTo>
                  <a:pt x="300" y="337"/>
                </a:lnTo>
                <a:lnTo>
                  <a:pt x="300" y="372"/>
                </a:lnTo>
                <a:lnTo>
                  <a:pt x="338" y="412"/>
                </a:lnTo>
                <a:lnTo>
                  <a:pt x="374" y="412"/>
                </a:lnTo>
                <a:lnTo>
                  <a:pt x="448" y="448"/>
                </a:lnTo>
                <a:lnTo>
                  <a:pt x="487" y="372"/>
                </a:lnTo>
              </a:path>
              <a:path w="1235" h="818">
                <a:moveTo>
                  <a:pt x="595" y="487"/>
                </a:moveTo>
                <a:lnTo>
                  <a:pt x="560" y="445"/>
                </a:lnTo>
                <a:lnTo>
                  <a:pt x="595" y="445"/>
                </a:lnTo>
                <a:lnTo>
                  <a:pt x="560" y="371"/>
                </a:lnTo>
                <a:lnTo>
                  <a:pt x="522" y="410"/>
                </a:lnTo>
                <a:lnTo>
                  <a:pt x="487" y="445"/>
                </a:lnTo>
                <a:lnTo>
                  <a:pt x="522" y="445"/>
                </a:lnTo>
                <a:lnTo>
                  <a:pt x="522" y="487"/>
                </a:lnTo>
                <a:lnTo>
                  <a:pt x="560" y="487"/>
                </a:lnTo>
                <a:lnTo>
                  <a:pt x="595" y="487"/>
                </a:lnTo>
              </a:path>
              <a:path w="1235" h="818">
                <a:moveTo>
                  <a:pt x="598" y="188"/>
                </a:moveTo>
                <a:lnTo>
                  <a:pt x="598" y="115"/>
                </a:lnTo>
                <a:lnTo>
                  <a:pt x="562" y="115"/>
                </a:lnTo>
                <a:lnTo>
                  <a:pt x="523" y="150"/>
                </a:lnTo>
                <a:lnTo>
                  <a:pt x="523" y="188"/>
                </a:lnTo>
                <a:lnTo>
                  <a:pt x="487" y="188"/>
                </a:lnTo>
                <a:lnTo>
                  <a:pt x="487" y="224"/>
                </a:lnTo>
                <a:lnTo>
                  <a:pt x="523" y="262"/>
                </a:lnTo>
                <a:lnTo>
                  <a:pt x="487" y="297"/>
                </a:lnTo>
                <a:lnTo>
                  <a:pt x="487" y="335"/>
                </a:lnTo>
                <a:lnTo>
                  <a:pt x="562" y="335"/>
                </a:lnTo>
                <a:lnTo>
                  <a:pt x="637" y="297"/>
                </a:lnTo>
                <a:lnTo>
                  <a:pt x="673" y="297"/>
                </a:lnTo>
                <a:lnTo>
                  <a:pt x="714" y="297"/>
                </a:lnTo>
                <a:lnTo>
                  <a:pt x="747" y="262"/>
                </a:lnTo>
                <a:lnTo>
                  <a:pt x="714" y="224"/>
                </a:lnTo>
                <a:lnTo>
                  <a:pt x="747" y="188"/>
                </a:lnTo>
                <a:lnTo>
                  <a:pt x="789" y="150"/>
                </a:lnTo>
                <a:lnTo>
                  <a:pt x="747" y="115"/>
                </a:lnTo>
                <a:lnTo>
                  <a:pt x="714" y="115"/>
                </a:lnTo>
                <a:lnTo>
                  <a:pt x="714" y="188"/>
                </a:lnTo>
                <a:lnTo>
                  <a:pt x="673" y="188"/>
                </a:lnTo>
                <a:lnTo>
                  <a:pt x="637" y="188"/>
                </a:lnTo>
                <a:lnTo>
                  <a:pt x="598" y="188"/>
                </a:lnTo>
              </a:path>
            </a:pathLst>
          </a:custGeom>
          <a:solidFill>
            <a:srgbClr val="E6E6E6">
              <a:alpha val="100000"/>
            </a:srgbClr>
          </a:solidFill>
          <a:ln cap="flat">
            <a:noFill/>
            <a:prstDash val="solid"/>
            <a:miter lim="0"/>
          </a:ln>
        </p:spPr>
        <p:txBody>
          <a:bodyPr rtlCol="0"/>
          <a:lstStyle/>
          <a:p>
            <a:pPr algn="ctr"/>
            <a:endParaRPr lang="zh-CN" altLang="en-US"/>
          </a:p>
        </p:txBody>
      </p:sp>
      <p:sp>
        <p:nvSpPr>
          <p:cNvPr id="52" name="rect"/>
          <p:cNvSpPr/>
          <p:nvPr/>
        </p:nvSpPr>
        <p:spPr>
          <a:xfrm>
            <a:off x="1979676" y="992124"/>
            <a:ext cx="47244" cy="47244"/>
          </a:xfrm>
          <a:prstGeom prst="rect">
            <a:avLst/>
          </a:prstGeom>
          <a:solidFill>
            <a:srgbClr val="E6E6E6">
              <a:alpha val="100000"/>
            </a:srgbClr>
          </a:solidFill>
          <a:ln cap="flat">
            <a:noFill/>
            <a:prstDash val="solid"/>
            <a:miter lim="0"/>
          </a:ln>
        </p:spPr>
        <p:txBody>
          <a:bodyPr rtlCol="0"/>
          <a:lstStyle/>
          <a:p>
            <a:pPr algn="ctr"/>
            <a:endParaRPr lang="zh-CN" altLang="en-US"/>
          </a:p>
        </p:txBody>
      </p:sp>
      <p:sp>
        <p:nvSpPr>
          <p:cNvPr id="53" name="path"/>
          <p:cNvSpPr/>
          <p:nvPr/>
        </p:nvSpPr>
        <p:spPr>
          <a:xfrm>
            <a:off x="1382268" y="1158240"/>
            <a:ext cx="118871" cy="47244"/>
          </a:xfrm>
          <a:custGeom>
            <a:avLst/>
            <a:gdLst/>
            <a:ahLst/>
            <a:cxnLst/>
            <a:rect l="0" t="0" r="0" b="0"/>
            <a:pathLst>
              <a:path w="187" h="74">
                <a:moveTo>
                  <a:pt x="150" y="74"/>
                </a:moveTo>
                <a:lnTo>
                  <a:pt x="187" y="35"/>
                </a:lnTo>
                <a:lnTo>
                  <a:pt x="150" y="0"/>
                </a:lnTo>
                <a:lnTo>
                  <a:pt x="111" y="0"/>
                </a:lnTo>
                <a:lnTo>
                  <a:pt x="0" y="35"/>
                </a:lnTo>
                <a:lnTo>
                  <a:pt x="75" y="74"/>
                </a:lnTo>
                <a:lnTo>
                  <a:pt x="150" y="74"/>
                </a:lnTo>
              </a:path>
            </a:pathLst>
          </a:custGeom>
          <a:solidFill>
            <a:srgbClr val="E6E6E6">
              <a:alpha val="100000"/>
            </a:srgbClr>
          </a:solidFill>
          <a:ln cap="flat">
            <a:noFill/>
            <a:prstDash val="solid"/>
            <a:miter lim="0"/>
          </a:ln>
        </p:spPr>
        <p:txBody>
          <a:bodyPr rtlCol="0"/>
          <a:lstStyle/>
          <a:p>
            <a:pPr algn="ctr"/>
            <a:endParaRPr lang="zh-CN" altLang="en-US"/>
          </a:p>
        </p:txBody>
      </p:sp>
      <p:sp>
        <p:nvSpPr>
          <p:cNvPr id="54" name="path"/>
          <p:cNvSpPr/>
          <p:nvPr/>
        </p:nvSpPr>
        <p:spPr>
          <a:xfrm>
            <a:off x="2048255" y="612648"/>
            <a:ext cx="664464" cy="568451"/>
          </a:xfrm>
          <a:custGeom>
            <a:avLst/>
            <a:gdLst/>
            <a:ahLst/>
            <a:cxnLst/>
            <a:rect l="0" t="0" r="0" b="0"/>
            <a:pathLst>
              <a:path w="1046" h="895">
                <a:moveTo>
                  <a:pt x="40" y="786"/>
                </a:moveTo>
                <a:lnTo>
                  <a:pt x="74" y="820"/>
                </a:lnTo>
                <a:lnTo>
                  <a:pt x="115" y="820"/>
                </a:lnTo>
                <a:lnTo>
                  <a:pt x="149" y="820"/>
                </a:lnTo>
                <a:lnTo>
                  <a:pt x="149" y="895"/>
                </a:lnTo>
                <a:lnTo>
                  <a:pt x="224" y="895"/>
                </a:lnTo>
                <a:lnTo>
                  <a:pt x="264" y="895"/>
                </a:lnTo>
                <a:lnTo>
                  <a:pt x="339" y="895"/>
                </a:lnTo>
                <a:lnTo>
                  <a:pt x="373" y="895"/>
                </a:lnTo>
                <a:lnTo>
                  <a:pt x="413" y="860"/>
                </a:lnTo>
                <a:lnTo>
                  <a:pt x="339" y="786"/>
                </a:lnTo>
                <a:lnTo>
                  <a:pt x="339" y="745"/>
                </a:lnTo>
                <a:lnTo>
                  <a:pt x="448" y="820"/>
                </a:lnTo>
                <a:lnTo>
                  <a:pt x="448" y="786"/>
                </a:lnTo>
                <a:lnTo>
                  <a:pt x="523" y="711"/>
                </a:lnTo>
                <a:lnTo>
                  <a:pt x="598" y="711"/>
                </a:lnTo>
                <a:lnTo>
                  <a:pt x="638" y="671"/>
                </a:lnTo>
                <a:lnTo>
                  <a:pt x="598" y="596"/>
                </a:lnTo>
                <a:lnTo>
                  <a:pt x="598" y="562"/>
                </a:lnTo>
                <a:lnTo>
                  <a:pt x="638" y="522"/>
                </a:lnTo>
                <a:lnTo>
                  <a:pt x="598" y="487"/>
                </a:lnTo>
                <a:lnTo>
                  <a:pt x="638" y="487"/>
                </a:lnTo>
                <a:lnTo>
                  <a:pt x="712" y="447"/>
                </a:lnTo>
                <a:lnTo>
                  <a:pt x="822" y="413"/>
                </a:lnTo>
                <a:lnTo>
                  <a:pt x="897" y="338"/>
                </a:lnTo>
                <a:lnTo>
                  <a:pt x="971" y="263"/>
                </a:lnTo>
                <a:lnTo>
                  <a:pt x="1012" y="263"/>
                </a:lnTo>
                <a:lnTo>
                  <a:pt x="971" y="223"/>
                </a:lnTo>
                <a:lnTo>
                  <a:pt x="971" y="189"/>
                </a:lnTo>
                <a:lnTo>
                  <a:pt x="1012" y="189"/>
                </a:lnTo>
                <a:lnTo>
                  <a:pt x="1046" y="149"/>
                </a:lnTo>
                <a:lnTo>
                  <a:pt x="1012" y="114"/>
                </a:lnTo>
                <a:lnTo>
                  <a:pt x="937" y="74"/>
                </a:lnTo>
                <a:lnTo>
                  <a:pt x="862" y="40"/>
                </a:lnTo>
                <a:lnTo>
                  <a:pt x="862" y="74"/>
                </a:lnTo>
                <a:lnTo>
                  <a:pt x="787" y="0"/>
                </a:lnTo>
                <a:lnTo>
                  <a:pt x="747" y="0"/>
                </a:lnTo>
                <a:lnTo>
                  <a:pt x="672" y="0"/>
                </a:lnTo>
                <a:lnTo>
                  <a:pt x="638" y="40"/>
                </a:lnTo>
                <a:lnTo>
                  <a:pt x="598" y="74"/>
                </a:lnTo>
                <a:lnTo>
                  <a:pt x="563" y="40"/>
                </a:lnTo>
                <a:lnTo>
                  <a:pt x="488" y="40"/>
                </a:lnTo>
                <a:lnTo>
                  <a:pt x="488" y="74"/>
                </a:lnTo>
                <a:lnTo>
                  <a:pt x="488" y="114"/>
                </a:lnTo>
                <a:lnTo>
                  <a:pt x="448" y="114"/>
                </a:lnTo>
                <a:lnTo>
                  <a:pt x="413" y="189"/>
                </a:lnTo>
                <a:lnTo>
                  <a:pt x="413" y="223"/>
                </a:lnTo>
                <a:lnTo>
                  <a:pt x="448" y="263"/>
                </a:lnTo>
                <a:lnTo>
                  <a:pt x="523" y="263"/>
                </a:lnTo>
                <a:lnTo>
                  <a:pt x="523" y="298"/>
                </a:lnTo>
                <a:lnTo>
                  <a:pt x="598" y="298"/>
                </a:lnTo>
                <a:lnTo>
                  <a:pt x="563" y="338"/>
                </a:lnTo>
                <a:lnTo>
                  <a:pt x="488" y="338"/>
                </a:lnTo>
                <a:lnTo>
                  <a:pt x="448" y="338"/>
                </a:lnTo>
                <a:lnTo>
                  <a:pt x="413" y="372"/>
                </a:lnTo>
                <a:lnTo>
                  <a:pt x="413" y="447"/>
                </a:lnTo>
                <a:lnTo>
                  <a:pt x="448" y="447"/>
                </a:lnTo>
                <a:lnTo>
                  <a:pt x="373" y="413"/>
                </a:lnTo>
                <a:lnTo>
                  <a:pt x="339" y="372"/>
                </a:lnTo>
                <a:lnTo>
                  <a:pt x="339" y="413"/>
                </a:lnTo>
                <a:lnTo>
                  <a:pt x="298" y="447"/>
                </a:lnTo>
                <a:lnTo>
                  <a:pt x="298" y="487"/>
                </a:lnTo>
                <a:lnTo>
                  <a:pt x="339" y="522"/>
                </a:lnTo>
                <a:lnTo>
                  <a:pt x="298" y="562"/>
                </a:lnTo>
                <a:lnTo>
                  <a:pt x="339" y="596"/>
                </a:lnTo>
                <a:lnTo>
                  <a:pt x="298" y="596"/>
                </a:lnTo>
                <a:lnTo>
                  <a:pt x="264" y="596"/>
                </a:lnTo>
                <a:lnTo>
                  <a:pt x="189" y="636"/>
                </a:lnTo>
                <a:lnTo>
                  <a:pt x="149" y="636"/>
                </a:lnTo>
                <a:lnTo>
                  <a:pt x="149" y="671"/>
                </a:lnTo>
                <a:lnTo>
                  <a:pt x="189" y="671"/>
                </a:lnTo>
                <a:lnTo>
                  <a:pt x="149" y="671"/>
                </a:lnTo>
                <a:lnTo>
                  <a:pt x="115" y="671"/>
                </a:lnTo>
                <a:lnTo>
                  <a:pt x="74" y="711"/>
                </a:lnTo>
                <a:lnTo>
                  <a:pt x="74" y="636"/>
                </a:lnTo>
                <a:lnTo>
                  <a:pt x="40" y="671"/>
                </a:lnTo>
                <a:lnTo>
                  <a:pt x="40" y="711"/>
                </a:lnTo>
                <a:lnTo>
                  <a:pt x="0" y="745"/>
                </a:lnTo>
                <a:lnTo>
                  <a:pt x="40" y="786"/>
                </a:lnTo>
                <a:lnTo>
                  <a:pt x="40" y="786"/>
                </a:lnTo>
                <a:close/>
              </a:path>
              <a:path w="1046" h="895">
                <a:moveTo>
                  <a:pt x="74" y="563"/>
                </a:moveTo>
                <a:lnTo>
                  <a:pt x="149" y="523"/>
                </a:lnTo>
                <a:lnTo>
                  <a:pt x="189" y="523"/>
                </a:lnTo>
                <a:lnTo>
                  <a:pt x="189" y="489"/>
                </a:lnTo>
                <a:lnTo>
                  <a:pt x="223" y="448"/>
                </a:lnTo>
                <a:lnTo>
                  <a:pt x="223" y="414"/>
                </a:lnTo>
                <a:lnTo>
                  <a:pt x="223" y="339"/>
                </a:lnTo>
                <a:lnTo>
                  <a:pt x="263" y="339"/>
                </a:lnTo>
                <a:lnTo>
                  <a:pt x="263" y="298"/>
                </a:lnTo>
                <a:lnTo>
                  <a:pt x="223" y="339"/>
                </a:lnTo>
                <a:lnTo>
                  <a:pt x="223" y="264"/>
                </a:lnTo>
                <a:lnTo>
                  <a:pt x="223" y="189"/>
                </a:lnTo>
                <a:lnTo>
                  <a:pt x="189" y="189"/>
                </a:lnTo>
                <a:lnTo>
                  <a:pt x="189" y="224"/>
                </a:lnTo>
                <a:lnTo>
                  <a:pt x="114" y="224"/>
                </a:lnTo>
                <a:lnTo>
                  <a:pt x="74" y="298"/>
                </a:lnTo>
                <a:lnTo>
                  <a:pt x="74" y="339"/>
                </a:lnTo>
                <a:lnTo>
                  <a:pt x="74" y="373"/>
                </a:lnTo>
                <a:lnTo>
                  <a:pt x="40" y="373"/>
                </a:lnTo>
                <a:lnTo>
                  <a:pt x="114" y="414"/>
                </a:lnTo>
                <a:lnTo>
                  <a:pt x="114" y="448"/>
                </a:lnTo>
                <a:lnTo>
                  <a:pt x="40" y="448"/>
                </a:lnTo>
                <a:lnTo>
                  <a:pt x="0" y="489"/>
                </a:lnTo>
                <a:lnTo>
                  <a:pt x="0" y="523"/>
                </a:lnTo>
                <a:lnTo>
                  <a:pt x="0" y="563"/>
                </a:lnTo>
                <a:lnTo>
                  <a:pt x="40" y="563"/>
                </a:lnTo>
                <a:lnTo>
                  <a:pt x="74" y="563"/>
                </a:lnTo>
                <a:lnTo>
                  <a:pt x="74" y="563"/>
                </a:lnTo>
                <a:close/>
              </a:path>
            </a:pathLst>
          </a:custGeom>
          <a:solidFill>
            <a:srgbClr val="E6E6E6">
              <a:alpha val="100000"/>
            </a:srgbClr>
          </a:solidFill>
          <a:ln cap="flat">
            <a:noFill/>
            <a:prstDash val="solid"/>
            <a:miter lim="0"/>
          </a:ln>
        </p:spPr>
        <p:txBody>
          <a:bodyPr rtlCol="0"/>
          <a:lstStyle/>
          <a:p>
            <a:pPr algn="ctr"/>
            <a:endParaRPr lang="zh-CN" altLang="en-US"/>
          </a:p>
        </p:txBody>
      </p:sp>
      <p:sp>
        <p:nvSpPr>
          <p:cNvPr id="55" name="path"/>
          <p:cNvSpPr/>
          <p:nvPr/>
        </p:nvSpPr>
        <p:spPr>
          <a:xfrm>
            <a:off x="977646" y="810006"/>
            <a:ext cx="3320795" cy="929639"/>
          </a:xfrm>
          <a:custGeom>
            <a:avLst/>
            <a:gdLst/>
            <a:ahLst/>
            <a:cxnLst/>
            <a:rect l="0" t="0" r="0" b="0"/>
            <a:pathLst>
              <a:path w="5229" h="1463">
                <a:moveTo>
                  <a:pt x="0" y="0"/>
                </a:moveTo>
                <a:moveTo>
                  <a:pt x="0" y="0"/>
                </a:moveTo>
                <a:lnTo>
                  <a:pt x="4985" y="0"/>
                </a:lnTo>
                <a:cubicBezTo>
                  <a:pt x="5120" y="0"/>
                  <a:pt x="5229" y="109"/>
                  <a:pt x="5229" y="243"/>
                </a:cubicBezTo>
                <a:lnTo>
                  <a:pt x="5229" y="1463"/>
                </a:lnTo>
                <a:lnTo>
                  <a:pt x="0" y="1463"/>
                </a:lnTo>
                <a:lnTo>
                  <a:pt x="0" y="0"/>
                </a:lnTo>
                <a:close/>
              </a:path>
            </a:pathLst>
          </a:custGeom>
          <a:solidFill>
            <a:srgbClr val="00ADEF">
              <a:alpha val="100000"/>
            </a:srgbClr>
          </a:solidFill>
          <a:ln cap="flat">
            <a:noFill/>
            <a:prstDash val="solid"/>
            <a:miter lim="0"/>
          </a:ln>
        </p:spPr>
        <p:txBody>
          <a:bodyPr rtlCol="0"/>
          <a:lstStyle/>
          <a:p>
            <a:pPr algn="ctr"/>
            <a:endParaRPr lang="zh-CN" altLang="en-US"/>
          </a:p>
        </p:txBody>
      </p:sp>
      <p:sp>
        <p:nvSpPr>
          <p:cNvPr id="56" name="rect"/>
          <p:cNvSpPr/>
          <p:nvPr/>
        </p:nvSpPr>
        <p:spPr>
          <a:xfrm>
            <a:off x="2026920" y="754380"/>
            <a:ext cx="21335" cy="47244"/>
          </a:xfrm>
          <a:prstGeom prst="rect">
            <a:avLst/>
          </a:prstGeom>
          <a:solidFill>
            <a:srgbClr val="E6E6E6">
              <a:alpha val="100000"/>
            </a:srgbClr>
          </a:solidFill>
          <a:ln cap="flat">
            <a:noFill/>
            <a:prstDash val="solid"/>
            <a:miter lim="0"/>
          </a:ln>
        </p:spPr>
        <p:txBody>
          <a:bodyPr rtlCol="0"/>
          <a:lstStyle/>
          <a:p>
            <a:pPr algn="ctr"/>
            <a:endParaRPr lang="zh-CN" altLang="en-US"/>
          </a:p>
        </p:txBody>
      </p:sp>
      <p:sp>
        <p:nvSpPr>
          <p:cNvPr id="58" name="rect"/>
          <p:cNvSpPr/>
          <p:nvPr/>
        </p:nvSpPr>
        <p:spPr>
          <a:xfrm>
            <a:off x="5367528" y="810006"/>
            <a:ext cx="38100" cy="929639"/>
          </a:xfrm>
          <a:prstGeom prst="rect">
            <a:avLst/>
          </a:prstGeom>
          <a:solidFill>
            <a:srgbClr val="00ADEF">
              <a:alpha val="100000"/>
            </a:srgbClr>
          </a:solidFill>
          <a:ln cap="flat">
            <a:noFill/>
            <a:prstDash val="solid"/>
            <a:miter lim="0"/>
          </a:ln>
        </p:spPr>
        <p:txBody>
          <a:bodyPr rtlCol="0"/>
          <a:lstStyle/>
          <a:p>
            <a:pPr algn="ctr"/>
            <a:endParaRPr lang="zh-CN" altLang="en-US"/>
          </a:p>
        </p:txBody>
      </p:sp>
      <p:sp>
        <p:nvSpPr>
          <p:cNvPr id="61" name="textbox 61"/>
          <p:cNvSpPr/>
          <p:nvPr/>
        </p:nvSpPr>
        <p:spPr>
          <a:xfrm>
            <a:off x="123274" y="248992"/>
            <a:ext cx="2043429" cy="314325"/>
          </a:xfrm>
          <a:prstGeom prst="rect">
            <a:avLst/>
          </a:prstGeom>
        </p:spPr>
        <p:txBody>
          <a:bodyPr vert="horz" wrap="square" lIns="0" tIns="0" rIns="0" bIns="0"/>
          <a:lstStyle/>
          <a:p>
            <a:pPr algn="l" rtl="0" eaLnBrk="0">
              <a:lnSpc>
                <a:spcPct val="78000"/>
              </a:lnSpc>
            </a:pPr>
            <a:endParaRPr lang="en-US" altLang="en-US" sz="100" dirty="0">
              <a:latin typeface="微软雅黑" panose="020B0503020204020204" charset="-122"/>
              <a:ea typeface="微软雅黑" panose="020B0503020204020204" charset="-122"/>
            </a:endParaRPr>
          </a:p>
          <a:p>
            <a:pPr marL="12700" algn="l" rtl="0" eaLnBrk="0">
              <a:lnSpc>
                <a:spcPct val="95000"/>
              </a:lnSpc>
            </a:pPr>
            <a:r>
              <a:rPr sz="2000" spc="-20" dirty="0">
                <a:solidFill>
                  <a:srgbClr val="002960">
                    <a:alpha val="100000"/>
                  </a:srgbClr>
                </a:solidFill>
                <a:latin typeface="微软雅黑" panose="020B0503020204020204" charset="-122"/>
                <a:ea typeface="微软雅黑" panose="020B0503020204020204" charset="-122"/>
                <a:cs typeface="楷体" panose="02010609060101010101" charset="-122"/>
              </a:rPr>
              <a:t>乙方今天的</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团队</a:t>
            </a:r>
            <a:endParaRPr lang="en-US" altLang="en-US" sz="2000" dirty="0">
              <a:latin typeface="微软雅黑" panose="020B0503020204020204" charset="-122"/>
              <a:ea typeface="微软雅黑" panose="020B0503020204020204" charset="-122"/>
            </a:endParaRPr>
          </a:p>
        </p:txBody>
      </p:sp>
      <p:sp>
        <p:nvSpPr>
          <p:cNvPr id="62" name="textbox 62"/>
          <p:cNvSpPr/>
          <p:nvPr/>
        </p:nvSpPr>
        <p:spPr>
          <a:xfrm>
            <a:off x="8818509" y="1037437"/>
            <a:ext cx="114935" cy="1840229"/>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endParaRPr sz="600" spc="0" dirty="0">
              <a:solidFill>
                <a:srgbClr val="808080">
                  <a:alpha val="100000"/>
                </a:srgbClr>
              </a:solidFill>
              <a:latin typeface="Arial" panose="020B0604020202020204"/>
              <a:ea typeface="Arial" panose="020B0604020202020204"/>
              <a:cs typeface="Arial" panose="020B0604020202020204"/>
            </a:endParaRPr>
          </a:p>
        </p:txBody>
      </p:sp>
      <p:sp>
        <p:nvSpPr>
          <p:cNvPr id="64" name="rect"/>
          <p:cNvSpPr/>
          <p:nvPr/>
        </p:nvSpPr>
        <p:spPr>
          <a:xfrm>
            <a:off x="958596" y="810006"/>
            <a:ext cx="38100" cy="929639"/>
          </a:xfrm>
          <a:prstGeom prst="rect">
            <a:avLst/>
          </a:prstGeom>
          <a:solidFill>
            <a:srgbClr val="00ADEF">
              <a:alpha val="100000"/>
            </a:srgbClr>
          </a:solidFill>
          <a:ln cap="flat">
            <a:noFill/>
            <a:prstDash val="solid"/>
            <a:miter lim="0"/>
          </a:ln>
        </p:spPr>
        <p:txBody>
          <a:bodyPr rtlCol="0"/>
          <a:lstStyle/>
          <a:p>
            <a:pPr algn="ctr"/>
            <a:endParaRPr lang="zh-CN" altLang="en-US"/>
          </a:p>
        </p:txBody>
      </p:sp>
      <p:sp>
        <p:nvSpPr>
          <p:cNvPr id="65" name="textbox 65"/>
          <p:cNvSpPr/>
          <p:nvPr/>
        </p:nvSpPr>
        <p:spPr>
          <a:xfrm>
            <a:off x="8818435" y="4032021"/>
            <a:ext cx="114935" cy="262890"/>
          </a:xfrm>
          <a:prstGeom prst="rect">
            <a:avLst/>
          </a:prstGeom>
        </p:spPr>
        <p:txBody>
          <a:bodyPr vert="eaVert" wrap="square" lIns="0" tIns="0" rIns="0" bIns="0"/>
          <a:lstStyle/>
          <a:p>
            <a:pPr algn="l" rtl="0" eaLnBrk="0">
              <a:lnSpc>
                <a:spcPct val="85000"/>
              </a:lnSpc>
            </a:pPr>
            <a:endParaRPr lang="en-US" altLang="en-US" sz="100" dirty="0"/>
          </a:p>
          <a:p>
            <a:pPr marL="12700" algn="l" rtl="0" eaLnBrk="0">
              <a:lnSpc>
                <a:spcPct val="79000"/>
              </a:lnSpc>
            </a:pPr>
            <a:endParaRPr sz="600" spc="-10" dirty="0">
              <a:solidFill>
                <a:srgbClr val="808080">
                  <a:alpha val="100000"/>
                </a:srgbClr>
              </a:solidFill>
              <a:latin typeface="Arial" panose="020B0604020202020204"/>
              <a:ea typeface="Arial" panose="020B0604020202020204"/>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rect"/>
          <p:cNvSpPr/>
          <p:nvPr/>
        </p:nvSpPr>
        <p:spPr>
          <a:xfrm>
            <a:off x="4626863" y="3070860"/>
            <a:ext cx="2883408" cy="518159"/>
          </a:xfrm>
          <a:prstGeom prst="rect">
            <a:avLst/>
          </a:prstGeom>
          <a:solidFill>
            <a:srgbClr val="BFE1FF">
              <a:alpha val="100000"/>
            </a:srgbClr>
          </a:solidFill>
          <a:ln cap="flat">
            <a:noFill/>
            <a:prstDash val="solid"/>
            <a:miter lim="0"/>
          </a:ln>
        </p:spPr>
        <p:txBody>
          <a:bodyPr rtlCol="0"/>
          <a:lstStyle/>
          <a:p>
            <a:pPr algn="ctr"/>
            <a:endParaRPr lang="zh-CN" altLang="en-US"/>
          </a:p>
        </p:txBody>
      </p:sp>
      <p:sp>
        <p:nvSpPr>
          <p:cNvPr id="67" name="rect"/>
          <p:cNvSpPr/>
          <p:nvPr/>
        </p:nvSpPr>
        <p:spPr>
          <a:xfrm>
            <a:off x="4626863" y="2462784"/>
            <a:ext cx="2909315" cy="518160"/>
          </a:xfrm>
          <a:prstGeom prst="rect">
            <a:avLst/>
          </a:prstGeom>
          <a:solidFill>
            <a:srgbClr val="BFE1FF">
              <a:alpha val="100000"/>
            </a:srgbClr>
          </a:solidFill>
          <a:ln cap="flat">
            <a:noFill/>
            <a:prstDash val="solid"/>
            <a:miter lim="0"/>
          </a:ln>
        </p:spPr>
        <p:txBody>
          <a:bodyPr rtlCol="0"/>
          <a:lstStyle/>
          <a:p>
            <a:pPr algn="ctr"/>
            <a:endParaRPr lang="zh-CN" altLang="en-US"/>
          </a:p>
        </p:txBody>
      </p:sp>
      <p:pic>
        <p:nvPicPr>
          <p:cNvPr id="68" name="picture 68"/>
          <p:cNvPicPr>
            <a:picLocks noChangeAspect="1"/>
          </p:cNvPicPr>
          <p:nvPr/>
        </p:nvPicPr>
        <p:blipFill>
          <a:blip r:embed="rId1"/>
          <a:stretch>
            <a:fillRect/>
          </a:stretch>
        </p:blipFill>
        <p:spPr>
          <a:xfrm rot="21600000">
            <a:off x="569976" y="3651504"/>
            <a:ext cx="7336535" cy="515111"/>
          </a:xfrm>
          <a:prstGeom prst="rect">
            <a:avLst/>
          </a:prstGeom>
        </p:spPr>
      </p:pic>
      <p:pic>
        <p:nvPicPr>
          <p:cNvPr id="69" name="picture 69"/>
          <p:cNvPicPr>
            <a:picLocks noChangeAspect="1"/>
          </p:cNvPicPr>
          <p:nvPr/>
        </p:nvPicPr>
        <p:blipFill>
          <a:blip r:embed="rId2"/>
          <a:stretch>
            <a:fillRect/>
          </a:stretch>
        </p:blipFill>
        <p:spPr>
          <a:xfrm rot="21600000">
            <a:off x="1016508" y="1857756"/>
            <a:ext cx="3415283" cy="515111"/>
          </a:xfrm>
          <a:prstGeom prst="rect">
            <a:avLst/>
          </a:prstGeom>
        </p:spPr>
      </p:pic>
      <p:sp>
        <p:nvSpPr>
          <p:cNvPr id="70" name="rect"/>
          <p:cNvSpPr/>
          <p:nvPr/>
        </p:nvSpPr>
        <p:spPr>
          <a:xfrm>
            <a:off x="1043939" y="1263396"/>
            <a:ext cx="7313676" cy="516635"/>
          </a:xfrm>
          <a:prstGeom prst="rect">
            <a:avLst/>
          </a:prstGeom>
          <a:solidFill>
            <a:srgbClr val="BFE1FF">
              <a:alpha val="100000"/>
            </a:srgbClr>
          </a:solidFill>
          <a:ln cap="flat">
            <a:noFill/>
            <a:prstDash val="solid"/>
            <a:miter lim="0"/>
          </a:ln>
        </p:spPr>
        <p:txBody>
          <a:bodyPr rtlCol="0"/>
          <a:lstStyle/>
          <a:p>
            <a:pPr algn="ctr"/>
            <a:endParaRPr lang="zh-CN" altLang="en-US"/>
          </a:p>
        </p:txBody>
      </p:sp>
      <p:graphicFrame>
        <p:nvGraphicFramePr>
          <p:cNvPr id="71" name="table 71"/>
          <p:cNvGraphicFramePr>
            <a:graphicFrameLocks noGrp="1"/>
          </p:cNvGraphicFramePr>
          <p:nvPr/>
        </p:nvGraphicFramePr>
        <p:xfrm>
          <a:off x="469392" y="864108"/>
          <a:ext cx="8067675" cy="3348990"/>
        </p:xfrm>
        <a:graphic>
          <a:graphicData uri="http://schemas.openxmlformats.org/drawingml/2006/table">
            <a:tbl>
              <a:tblPr/>
              <a:tblGrid>
                <a:gridCol w="8067675"/>
              </a:tblGrid>
              <a:tr h="3348990">
                <a:tc>
                  <a:txBody>
                    <a:bodyPr/>
                    <a:lstStyle/>
                    <a:p>
                      <a:pPr algn="l" rtl="0" eaLnBrk="0">
                        <a:lnSpc>
                          <a:spcPct val="105000"/>
                        </a:lnSpc>
                      </a:pPr>
                      <a:endParaRPr lang="en-US" altLang="en-US" sz="700" dirty="0">
                        <a:latin typeface="微软雅黑" panose="020B0503020204020204" charset="-122"/>
                        <a:ea typeface="微软雅黑" panose="020B0503020204020204" charset="-122"/>
                      </a:endParaRPr>
                    </a:p>
                    <a:p>
                      <a:pPr marL="118745" algn="l" rtl="0" eaLnBrk="0">
                        <a:lnSpc>
                          <a:spcPts val="1825"/>
                        </a:lnSpc>
                        <a:spcBef>
                          <a:spcPts val="5"/>
                        </a:spcBef>
                      </a:pPr>
                      <a:r>
                        <a:rPr sz="1500" spc="8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关键能</a:t>
                      </a:r>
                      <a:r>
                        <a:rPr sz="1500" spc="4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力</a:t>
                      </a:r>
                      <a:endParaRPr lang="en-US" altLang="en-US" sz="1500" dirty="0">
                        <a:latin typeface="微软雅黑" panose="020B0503020204020204" charset="-122"/>
                        <a:ea typeface="微软雅黑" panose="020B0503020204020204" charset="-122"/>
                      </a:endParaRPr>
                    </a:p>
                    <a:p>
                      <a:pPr algn="l" rtl="0" eaLnBrk="0">
                        <a:lnSpc>
                          <a:spcPct val="126000"/>
                        </a:lnSpc>
                      </a:pPr>
                      <a:endParaRPr lang="en-US" altLang="en-US" sz="1000" dirty="0">
                        <a:latin typeface="微软雅黑" panose="020B0503020204020204" charset="-122"/>
                        <a:ea typeface="微软雅黑" panose="020B0503020204020204" charset="-122"/>
                      </a:endParaRPr>
                    </a:p>
                    <a:p>
                      <a:pPr marL="942975" algn="l" rtl="0" eaLnBrk="0">
                        <a:lnSpc>
                          <a:spcPct val="98000"/>
                        </a:lnSpc>
                        <a:spcBef>
                          <a:spcPts val="450"/>
                        </a:spcBef>
                      </a:pPr>
                      <a:r>
                        <a:rPr sz="1500" spc="11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战略营销和产品的市场导入模</a:t>
                      </a:r>
                      <a:r>
                        <a:rPr sz="1500" spc="2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式</a:t>
                      </a:r>
                      <a:endParaRPr lang="en-US" altLang="en-US" sz="1500" dirty="0">
                        <a:latin typeface="微软雅黑" panose="020B0503020204020204" charset="-122"/>
                        <a:ea typeface="微软雅黑" panose="020B0503020204020204" charset="-122"/>
                      </a:endParaRPr>
                    </a:p>
                    <a:p>
                      <a:pPr algn="l" rtl="0" eaLnBrk="0">
                        <a:lnSpc>
                          <a:spcPct val="184000"/>
                        </a:lnSpc>
                      </a:pPr>
                      <a:endParaRPr lang="en-US" altLang="en-US" sz="1000" dirty="0">
                        <a:latin typeface="微软雅黑" panose="020B0503020204020204" charset="-122"/>
                        <a:ea typeface="微软雅黑" panose="020B0503020204020204" charset="-122"/>
                      </a:endParaRPr>
                    </a:p>
                    <a:p>
                      <a:pPr marL="942975" algn="l" rtl="0" eaLnBrk="0">
                        <a:lnSpc>
                          <a:spcPct val="98000"/>
                        </a:lnSpc>
                        <a:spcBef>
                          <a:spcPts val="455"/>
                        </a:spcBef>
                      </a:pPr>
                      <a:r>
                        <a:rPr sz="1500" spc="12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产品和服务创</a:t>
                      </a:r>
                      <a:r>
                        <a:rPr sz="1500" spc="5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新</a:t>
                      </a:r>
                      <a:endParaRPr lang="en-US" altLang="en-US" sz="1500" dirty="0">
                        <a:latin typeface="微软雅黑" panose="020B0503020204020204" charset="-122"/>
                        <a:ea typeface="微软雅黑" panose="020B0503020204020204" charset="-122"/>
                      </a:endParaRPr>
                    </a:p>
                    <a:p>
                      <a:pPr algn="l" rtl="0" eaLnBrk="0">
                        <a:lnSpc>
                          <a:spcPct val="106000"/>
                        </a:lnSpc>
                      </a:pPr>
                      <a:endParaRPr lang="en-US" altLang="en-US" sz="1000" dirty="0">
                        <a:latin typeface="微软雅黑" panose="020B0503020204020204" charset="-122"/>
                        <a:ea typeface="微软雅黑" panose="020B0503020204020204" charset="-122"/>
                      </a:endParaRPr>
                    </a:p>
                    <a:p>
                      <a:pPr algn="l" rtl="0" eaLnBrk="0">
                        <a:lnSpc>
                          <a:spcPct val="106000"/>
                        </a:lnSpc>
                      </a:pPr>
                      <a:endParaRPr lang="en-US" altLang="en-US" sz="1000" dirty="0">
                        <a:latin typeface="微软雅黑" panose="020B0503020204020204" charset="-122"/>
                        <a:ea typeface="微软雅黑" panose="020B0503020204020204" charset="-122"/>
                      </a:endParaRPr>
                    </a:p>
                    <a:p>
                      <a:pPr marL="4577080" algn="l" rtl="0" eaLnBrk="0">
                        <a:lnSpc>
                          <a:spcPct val="98000"/>
                        </a:lnSpc>
                        <a:spcBef>
                          <a:spcPts val="455"/>
                        </a:spcBef>
                      </a:pPr>
                      <a:r>
                        <a:rPr sz="1500" spc="8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大客户管</a:t>
                      </a:r>
                      <a:r>
                        <a:rPr sz="1500" spc="3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理</a:t>
                      </a:r>
                      <a:endParaRPr lang="en-US" altLang="en-US" sz="1500" dirty="0">
                        <a:latin typeface="微软雅黑" panose="020B0503020204020204" charset="-122"/>
                        <a:ea typeface="微软雅黑" panose="020B0503020204020204" charset="-122"/>
                      </a:endParaRPr>
                    </a:p>
                    <a:p>
                      <a:pPr algn="l" rtl="0" eaLnBrk="0">
                        <a:lnSpc>
                          <a:spcPct val="107000"/>
                        </a:lnSpc>
                      </a:pPr>
                      <a:endParaRPr lang="en-US" altLang="en-US" sz="1000" dirty="0">
                        <a:latin typeface="微软雅黑" panose="020B0503020204020204" charset="-122"/>
                        <a:ea typeface="微软雅黑" panose="020B0503020204020204" charset="-122"/>
                      </a:endParaRPr>
                    </a:p>
                    <a:p>
                      <a:pPr algn="l" rtl="0" eaLnBrk="0">
                        <a:lnSpc>
                          <a:spcPct val="108000"/>
                        </a:lnSpc>
                      </a:pPr>
                      <a:endParaRPr lang="en-US" altLang="en-US" sz="1000" dirty="0">
                        <a:latin typeface="微软雅黑" panose="020B0503020204020204" charset="-122"/>
                        <a:ea typeface="微软雅黑" panose="020B0503020204020204" charset="-122"/>
                      </a:endParaRPr>
                    </a:p>
                    <a:p>
                      <a:pPr marL="4559935" algn="l" rtl="0" eaLnBrk="0">
                        <a:lnSpc>
                          <a:spcPct val="98000"/>
                        </a:lnSpc>
                        <a:spcBef>
                          <a:spcPts val="455"/>
                        </a:spcBef>
                      </a:pPr>
                      <a:r>
                        <a:rPr sz="1500" spc="11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销售队伍管</a:t>
                      </a:r>
                      <a:r>
                        <a:rPr sz="1500" spc="5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理</a:t>
                      </a:r>
                      <a:endParaRPr lang="en-US" altLang="en-US" sz="1500" dirty="0">
                        <a:latin typeface="微软雅黑" panose="020B0503020204020204" charset="-122"/>
                        <a:ea typeface="微软雅黑" panose="020B0503020204020204" charset="-122"/>
                      </a:endParaRPr>
                    </a:p>
                    <a:p>
                      <a:pPr algn="l" rtl="0" eaLnBrk="0">
                        <a:lnSpc>
                          <a:spcPct val="108000"/>
                        </a:lnSpc>
                      </a:pPr>
                      <a:endParaRPr lang="en-US" altLang="en-US" sz="1000" dirty="0">
                        <a:latin typeface="微软雅黑" panose="020B0503020204020204" charset="-122"/>
                        <a:ea typeface="微软雅黑" panose="020B0503020204020204" charset="-122"/>
                      </a:endParaRPr>
                    </a:p>
                    <a:p>
                      <a:pPr algn="l" rtl="0" eaLnBrk="0">
                        <a:lnSpc>
                          <a:spcPct val="108000"/>
                        </a:lnSpc>
                      </a:pPr>
                      <a:endParaRPr lang="en-US" altLang="en-US" sz="1000" dirty="0">
                        <a:latin typeface="微软雅黑" panose="020B0503020204020204" charset="-122"/>
                        <a:ea typeface="微软雅黑" panose="020B0503020204020204" charset="-122"/>
                      </a:endParaRPr>
                    </a:p>
                    <a:p>
                      <a:pPr algn="l" rtl="0" eaLnBrk="0">
                        <a:lnSpc>
                          <a:spcPct val="127000"/>
                        </a:lnSpc>
                      </a:pPr>
                      <a:endParaRPr lang="en-US" altLang="en-US" sz="300" dirty="0">
                        <a:latin typeface="微软雅黑" panose="020B0503020204020204" charset="-122"/>
                        <a:ea typeface="微软雅黑" panose="020B0503020204020204" charset="-122"/>
                      </a:endParaRPr>
                    </a:p>
                    <a:p>
                      <a:pPr marL="603885" algn="l" rtl="0" eaLnBrk="0">
                        <a:lnSpc>
                          <a:spcPct val="99000"/>
                        </a:lnSpc>
                        <a:spcBef>
                          <a:spcPts val="0"/>
                        </a:spcBef>
                      </a:pPr>
                      <a:r>
                        <a:rPr sz="1500" spc="11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销售和供应的战术优</a:t>
                      </a:r>
                      <a:r>
                        <a:rPr sz="1500" spc="9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化</a:t>
                      </a:r>
                      <a:endParaRPr lang="en-US" altLang="en-US" sz="1500" dirty="0">
                        <a:latin typeface="微软雅黑" panose="020B0503020204020204" charset="-122"/>
                        <a:ea typeface="微软雅黑" panose="020B0503020204020204" charset="-122"/>
                      </a:endParaRPr>
                    </a:p>
                  </a:txBody>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w="19050" cap="flat" cmpd="sng" algn="ctr">
                      <a:solidFill>
                        <a:srgbClr val="BFE1FF"/>
                      </a:solidFill>
                      <a:prstDash val="solid"/>
                      <a:round/>
                      <a:headEnd type="none" w="med" len="med"/>
                      <a:tailEnd type="none" w="med" len="med"/>
                    </a:lnT>
                    <a:lnB w="19050" cap="flat" cmpd="sng" algn="ctr">
                      <a:solidFill>
                        <a:srgbClr val="BFE1FF"/>
                      </a:solidFill>
                      <a:prstDash val="solid"/>
                      <a:round/>
                      <a:headEnd type="none" w="med" len="med"/>
                      <a:tailEnd type="none" w="med" len="med"/>
                    </a:lnB>
                  </a:tcPr>
                </a:tc>
              </a:tr>
            </a:tbl>
          </a:graphicData>
        </a:graphic>
      </p:graphicFrame>
      <p:graphicFrame>
        <p:nvGraphicFramePr>
          <p:cNvPr id="72" name="table 72"/>
          <p:cNvGraphicFramePr>
            <a:graphicFrameLocks noGrp="1"/>
          </p:cNvGraphicFramePr>
          <p:nvPr/>
        </p:nvGraphicFramePr>
        <p:xfrm>
          <a:off x="469392" y="4366260"/>
          <a:ext cx="8067675" cy="1612900"/>
        </p:xfrm>
        <a:graphic>
          <a:graphicData uri="http://schemas.openxmlformats.org/drawingml/2006/table">
            <a:tbl>
              <a:tblPr/>
              <a:tblGrid>
                <a:gridCol w="8067675"/>
              </a:tblGrid>
              <a:tr h="1612900">
                <a:tc>
                  <a:txBody>
                    <a:bodyPr/>
                    <a:lstStyle/>
                    <a:p>
                      <a:pPr algn="l" rtl="0" eaLnBrk="0">
                        <a:lnSpc>
                          <a:spcPct val="105000"/>
                        </a:lnSpc>
                      </a:pPr>
                      <a:endParaRPr lang="en-US" altLang="en-US" sz="700" dirty="0">
                        <a:latin typeface="微软雅黑" panose="020B0503020204020204" charset="-122"/>
                        <a:ea typeface="微软雅黑" panose="020B0503020204020204" charset="-122"/>
                      </a:endParaRPr>
                    </a:p>
                    <a:p>
                      <a:pPr marL="120015" algn="l" rtl="0" eaLnBrk="0">
                        <a:lnSpc>
                          <a:spcPct val="99000"/>
                        </a:lnSpc>
                        <a:spcBef>
                          <a:spcPts val="0"/>
                        </a:spcBef>
                      </a:pPr>
                      <a:r>
                        <a:rPr sz="1500" spc="8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支持因</a:t>
                      </a:r>
                      <a:r>
                        <a:rPr sz="1500" spc="4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素</a:t>
                      </a:r>
                      <a:endParaRPr lang="en-US" altLang="en-US" sz="1500" dirty="0">
                        <a:latin typeface="微软雅黑" panose="020B0503020204020204" charset="-122"/>
                        <a:ea typeface="微软雅黑" panose="020B0503020204020204" charset="-122"/>
                      </a:endParaRPr>
                    </a:p>
                  </a:txBody>
                  <a:tcPr marL="0" marR="0" marT="0" marB="0">
                    <a:lnL w="19050" cap="flat" cmpd="sng" algn="ctr">
                      <a:solidFill>
                        <a:srgbClr val="0065BD"/>
                      </a:solidFill>
                      <a:prstDash val="solid"/>
                      <a:round/>
                      <a:headEnd type="none" w="med" len="med"/>
                      <a:tailEnd type="none" w="med" len="med"/>
                    </a:lnL>
                    <a:lnR w="19050" cap="flat" cmpd="sng" algn="ctr">
                      <a:solidFill>
                        <a:srgbClr val="0065BD"/>
                      </a:solidFill>
                      <a:prstDash val="solid"/>
                      <a:round/>
                      <a:headEnd type="none" w="med" len="med"/>
                      <a:tailEnd type="none" w="med" len="med"/>
                    </a:lnR>
                    <a:lnT w="19050" cap="flat" cmpd="sng" algn="ctr">
                      <a:solidFill>
                        <a:srgbClr val="0065BD"/>
                      </a:solidFill>
                      <a:prstDash val="solid"/>
                      <a:round/>
                      <a:headEnd type="none" w="med" len="med"/>
                      <a:tailEnd type="none" w="med" len="med"/>
                    </a:lnT>
                    <a:lnB w="19050" cap="flat" cmpd="sng" algn="ctr">
                      <a:solidFill>
                        <a:srgbClr val="0065BD"/>
                      </a:solidFill>
                      <a:prstDash val="solid"/>
                      <a:round/>
                      <a:headEnd type="none" w="med" len="med"/>
                      <a:tailEnd type="none" w="med" len="med"/>
                    </a:lnB>
                  </a:tcPr>
                </a:tc>
              </a:tr>
            </a:tbl>
          </a:graphicData>
        </a:graphic>
      </p:graphicFrame>
      <p:pic>
        <p:nvPicPr>
          <p:cNvPr id="73" name="picture 73"/>
          <p:cNvPicPr>
            <a:picLocks noChangeAspect="1"/>
          </p:cNvPicPr>
          <p:nvPr/>
        </p:nvPicPr>
        <p:blipFill>
          <a:blip r:embed="rId3"/>
          <a:stretch>
            <a:fillRect/>
          </a:stretch>
        </p:blipFill>
        <p:spPr>
          <a:xfrm rot="21600000">
            <a:off x="4652771" y="4796028"/>
            <a:ext cx="3707892" cy="1075943"/>
          </a:xfrm>
          <a:prstGeom prst="rect">
            <a:avLst/>
          </a:prstGeom>
        </p:spPr>
      </p:pic>
      <p:graphicFrame>
        <p:nvGraphicFramePr>
          <p:cNvPr id="74" name="table 74"/>
          <p:cNvGraphicFramePr>
            <a:graphicFrameLocks noGrp="1"/>
          </p:cNvGraphicFramePr>
          <p:nvPr/>
        </p:nvGraphicFramePr>
        <p:xfrm>
          <a:off x="4694301" y="4800346"/>
          <a:ext cx="3667760" cy="1062355"/>
        </p:xfrm>
        <a:graphic>
          <a:graphicData uri="http://schemas.openxmlformats.org/drawingml/2006/table">
            <a:tbl>
              <a:tblPr/>
              <a:tblGrid>
                <a:gridCol w="333375"/>
                <a:gridCol w="2054860"/>
                <a:gridCol w="1279525"/>
              </a:tblGrid>
              <a:tr h="1062355">
                <a:tc>
                  <a:txBody>
                    <a:bodyPr/>
                    <a:lstStyle/>
                    <a:p>
                      <a:pPr algn="l" rtl="0" eaLnBrk="0">
                        <a:lnSpc>
                          <a:spcPct val="100000"/>
                        </a:lnSpc>
                      </a:pPr>
                      <a:endParaRPr lang="en-US" altLang="en-US" sz="1000" dirty="0">
                        <a:latin typeface="微软雅黑" panose="020B0503020204020204" charset="-122"/>
                        <a:ea typeface="微软雅黑" panose="020B0503020204020204" charset="-122"/>
                      </a:endParaRPr>
                    </a:p>
                  </a:txBody>
                  <a:tcPr marL="0" marR="0" marT="0" marB="0">
                    <a:lnL>
                      <a:noFill/>
                    </a:lnL>
                    <a:lnR>
                      <a:noFill/>
                    </a:lnR>
                    <a:lnT>
                      <a:noFill/>
                    </a:lnT>
                    <a:lnB>
                      <a:noFill/>
                    </a:lnB>
                  </a:tcPr>
                </a:tc>
                <a:tc>
                  <a:txBody>
                    <a:bodyPr/>
                    <a:lstStyle/>
                    <a:p>
                      <a:pPr algn="l" rtl="0" eaLnBrk="0">
                        <a:lnSpc>
                          <a:spcPct val="104000"/>
                        </a:lnSpc>
                      </a:pPr>
                      <a:endParaRPr lang="en-US" altLang="en-US" sz="1000" dirty="0">
                        <a:latin typeface="微软雅黑" panose="020B0503020204020204" charset="-122"/>
                        <a:ea typeface="微软雅黑" panose="020B0503020204020204" charset="-122"/>
                      </a:endParaRPr>
                    </a:p>
                    <a:p>
                      <a:pPr algn="l" rtl="0" eaLnBrk="0">
                        <a:lnSpc>
                          <a:spcPct val="7000"/>
                        </a:lnSpc>
                      </a:pPr>
                      <a:endParaRPr lang="en-US" altLang="en-US" sz="100" dirty="0">
                        <a:latin typeface="微软雅黑" panose="020B0503020204020204" charset="-122"/>
                        <a:ea typeface="微软雅黑" panose="020B0503020204020204" charset="-122"/>
                      </a:endParaRPr>
                    </a:p>
                    <a:p>
                      <a:pPr marL="44450" algn="l" rtl="0" eaLnBrk="0">
                        <a:lnSpc>
                          <a:spcPct val="98000"/>
                        </a:lnSpc>
                      </a:pPr>
                      <a:r>
                        <a:rPr sz="1500" spc="100" dirty="0">
                          <a:ln w="5791" cap="flat" cmpd="sng">
                            <a:solidFill>
                              <a:srgbClr val="FFFFFF">
                                <a:alpha val="100000"/>
                              </a:srgbClr>
                            </a:solidFill>
                            <a:prstDash val="solid"/>
                            <a:miter lim="10"/>
                          </a:ln>
                          <a:solidFill>
                            <a:srgbClr val="FFFFFF">
                              <a:alpha val="100000"/>
                            </a:srgbClr>
                          </a:solidFill>
                          <a:latin typeface="微软雅黑" panose="020B0503020204020204" charset="-122"/>
                          <a:ea typeface="微软雅黑" panose="020B0503020204020204" charset="-122"/>
                          <a:cs typeface="楷体" panose="02010609060101010101" charset="-122"/>
                        </a:rPr>
                        <a:t>绩效管</a:t>
                      </a:r>
                      <a:r>
                        <a:rPr sz="1500" spc="60" dirty="0">
                          <a:ln w="5791" cap="flat" cmpd="sng">
                            <a:solidFill>
                              <a:srgbClr val="FFFFFF">
                                <a:alpha val="100000"/>
                              </a:srgbClr>
                            </a:solidFill>
                            <a:prstDash val="solid"/>
                            <a:miter lim="10"/>
                          </a:ln>
                          <a:solidFill>
                            <a:srgbClr val="FFFFFF">
                              <a:alpha val="100000"/>
                            </a:srgbClr>
                          </a:solidFill>
                          <a:latin typeface="微软雅黑" panose="020B0503020204020204" charset="-122"/>
                          <a:ea typeface="微软雅黑" panose="020B0503020204020204" charset="-122"/>
                          <a:cs typeface="楷体" panose="02010609060101010101" charset="-122"/>
                        </a:rPr>
                        <a:t>理</a:t>
                      </a:r>
                      <a:endParaRPr lang="en-US" altLang="en-US" sz="1500" dirty="0">
                        <a:latin typeface="微软雅黑" panose="020B0503020204020204" charset="-122"/>
                        <a:ea typeface="微软雅黑" panose="020B0503020204020204" charset="-122"/>
                      </a:endParaRPr>
                    </a:p>
                    <a:p>
                      <a:pPr algn="l" rtl="0" eaLnBrk="0">
                        <a:lnSpc>
                          <a:spcPct val="181000"/>
                        </a:lnSpc>
                      </a:pPr>
                      <a:endParaRPr lang="en-US" altLang="en-US" sz="1000" dirty="0">
                        <a:latin typeface="微软雅黑" panose="020B0503020204020204" charset="-122"/>
                        <a:ea typeface="微软雅黑" panose="020B0503020204020204" charset="-122"/>
                      </a:endParaRPr>
                    </a:p>
                    <a:p>
                      <a:pPr algn="l" rtl="0" eaLnBrk="0">
                        <a:lnSpc>
                          <a:spcPct val="125000"/>
                        </a:lnSpc>
                      </a:pPr>
                      <a:endParaRPr lang="en-US" altLang="en-US" sz="300" dirty="0">
                        <a:latin typeface="微软雅黑" panose="020B0503020204020204" charset="-122"/>
                        <a:ea typeface="微软雅黑" panose="020B0503020204020204" charset="-122"/>
                      </a:endParaRPr>
                    </a:p>
                    <a:p>
                      <a:pPr marL="19050" algn="l" rtl="0" eaLnBrk="0">
                        <a:lnSpc>
                          <a:spcPct val="100000"/>
                        </a:lnSpc>
                        <a:spcBef>
                          <a:spcPts val="5"/>
                        </a:spcBef>
                      </a:pPr>
                      <a:r>
                        <a:rPr sz="1500" spc="110" dirty="0">
                          <a:ln w="5799" cap="flat" cmpd="sng">
                            <a:solidFill>
                              <a:srgbClr val="FFFFFF">
                                <a:alpha val="100000"/>
                              </a:srgbClr>
                            </a:solidFill>
                            <a:prstDash val="solid"/>
                            <a:miter lim="10"/>
                          </a:ln>
                          <a:solidFill>
                            <a:srgbClr val="FFFFFF">
                              <a:alpha val="100000"/>
                            </a:srgbClr>
                          </a:solidFill>
                          <a:latin typeface="微软雅黑" panose="020B0503020204020204" charset="-122"/>
                          <a:ea typeface="微软雅黑" panose="020B0503020204020204" charset="-122"/>
                          <a:cs typeface="楷体" panose="02010609060101010101" charset="-122"/>
                        </a:rPr>
                        <a:t>信息和分析工</a:t>
                      </a:r>
                      <a:r>
                        <a:rPr sz="1500" spc="100" dirty="0">
                          <a:ln w="5799" cap="flat" cmpd="sng">
                            <a:solidFill>
                              <a:srgbClr val="FFFFFF">
                                <a:alpha val="100000"/>
                              </a:srgbClr>
                            </a:solidFill>
                            <a:prstDash val="solid"/>
                            <a:miter lim="10"/>
                          </a:ln>
                          <a:solidFill>
                            <a:srgbClr val="FFFFFF">
                              <a:alpha val="100000"/>
                            </a:srgbClr>
                          </a:solidFill>
                          <a:latin typeface="微软雅黑" panose="020B0503020204020204" charset="-122"/>
                          <a:ea typeface="微软雅黑" panose="020B0503020204020204" charset="-122"/>
                          <a:cs typeface="楷体" panose="02010609060101010101" charset="-122"/>
                        </a:rPr>
                        <a:t>具</a:t>
                      </a:r>
                      <a:endParaRPr lang="en-US" altLang="en-US" sz="1500" dirty="0">
                        <a:latin typeface="微软雅黑" panose="020B0503020204020204" charset="-122"/>
                        <a:ea typeface="微软雅黑" panose="020B0503020204020204" charset="-122"/>
                      </a:endParaRPr>
                    </a:p>
                  </a:txBody>
                  <a:tcPr marL="0" marR="0" marT="0" marB="0">
                    <a:lnL>
                      <a:noFill/>
                    </a:lnL>
                    <a:lnR>
                      <a:noFill/>
                    </a:lnR>
                    <a:lnT>
                      <a:noFill/>
                    </a:lnT>
                    <a:lnB>
                      <a:noFill/>
                    </a:lnB>
                  </a:tcPr>
                </a:tc>
                <a:tc>
                  <a:txBody>
                    <a:bodyPr/>
                    <a:lstStyle/>
                    <a:p>
                      <a:pPr algn="l" rtl="0" eaLnBrk="0">
                        <a:lnSpc>
                          <a:spcPct val="100000"/>
                        </a:lnSpc>
                      </a:pPr>
                      <a:endParaRPr lang="en-US" altLang="en-US" sz="1000" dirty="0">
                        <a:ea typeface="微软雅黑" panose="020B0503020204020204" charset="-122"/>
                      </a:endParaRPr>
                    </a:p>
                  </a:txBody>
                  <a:tcPr marL="0" marR="0" marT="0" marB="0">
                    <a:lnL>
                      <a:noFill/>
                    </a:lnL>
                    <a:lnR>
                      <a:noFill/>
                    </a:lnR>
                    <a:lnT>
                      <a:noFill/>
                    </a:lnT>
                    <a:lnB>
                      <a:noFill/>
                    </a:lnB>
                  </a:tcPr>
                </a:tc>
              </a:tr>
            </a:tbl>
          </a:graphicData>
        </a:graphic>
      </p:graphicFrame>
      <p:pic>
        <p:nvPicPr>
          <p:cNvPr id="75" name="picture 75"/>
          <p:cNvPicPr>
            <a:picLocks noChangeAspect="1"/>
          </p:cNvPicPr>
          <p:nvPr/>
        </p:nvPicPr>
        <p:blipFill>
          <a:blip r:embed="rId4"/>
          <a:stretch>
            <a:fillRect/>
          </a:stretch>
        </p:blipFill>
        <p:spPr>
          <a:xfrm rot="21600000">
            <a:off x="605027" y="4791456"/>
            <a:ext cx="3803904" cy="516636"/>
          </a:xfrm>
          <a:prstGeom prst="rect">
            <a:avLst/>
          </a:prstGeom>
        </p:spPr>
      </p:pic>
      <p:graphicFrame>
        <p:nvGraphicFramePr>
          <p:cNvPr id="76" name="table 76"/>
          <p:cNvGraphicFramePr>
            <a:graphicFrameLocks noGrp="1"/>
          </p:cNvGraphicFramePr>
          <p:nvPr/>
        </p:nvGraphicFramePr>
        <p:xfrm>
          <a:off x="642937" y="4792726"/>
          <a:ext cx="3766818" cy="516255"/>
        </p:xfrm>
        <a:graphic>
          <a:graphicData uri="http://schemas.openxmlformats.org/drawingml/2006/table">
            <a:tbl>
              <a:tblPr/>
              <a:tblGrid>
                <a:gridCol w="351154"/>
                <a:gridCol w="2291079"/>
                <a:gridCol w="1124585"/>
              </a:tblGrid>
              <a:tr h="516255">
                <a:tc>
                  <a:txBody>
                    <a:bodyPr/>
                    <a:lstStyle/>
                    <a:p>
                      <a:pPr algn="l" rtl="0" eaLnBrk="0">
                        <a:lnSpc>
                          <a:spcPct val="100000"/>
                        </a:lnSpc>
                      </a:pPr>
                      <a:endParaRPr lang="en-US" altLang="en-US" sz="1000" dirty="0">
                        <a:latin typeface="微软雅黑" panose="020B0503020204020204" charset="-122"/>
                        <a:ea typeface="微软雅黑" panose="020B0503020204020204" charset="-122"/>
                      </a:endParaRPr>
                    </a:p>
                  </a:txBody>
                  <a:tcPr marL="0" marR="0" marT="0" marB="0">
                    <a:lnL>
                      <a:noFill/>
                    </a:lnL>
                    <a:lnR>
                      <a:noFill/>
                    </a:lnR>
                    <a:lnT>
                      <a:noFill/>
                    </a:lnT>
                    <a:lnB>
                      <a:noFill/>
                    </a:lnB>
                  </a:tcPr>
                </a:tc>
                <a:tc>
                  <a:txBody>
                    <a:bodyPr/>
                    <a:lstStyle/>
                    <a:p>
                      <a:pPr algn="l" rtl="0" eaLnBrk="0">
                        <a:lnSpc>
                          <a:spcPct val="106000"/>
                        </a:lnSpc>
                      </a:pPr>
                      <a:endParaRPr lang="en-US" altLang="en-US" sz="1000" dirty="0">
                        <a:latin typeface="微软雅黑" panose="020B0503020204020204" charset="-122"/>
                        <a:ea typeface="微软雅黑" panose="020B0503020204020204" charset="-122"/>
                      </a:endParaRPr>
                    </a:p>
                    <a:p>
                      <a:pPr marL="25400" algn="l" rtl="0" eaLnBrk="0">
                        <a:lnSpc>
                          <a:spcPct val="99000"/>
                        </a:lnSpc>
                        <a:spcBef>
                          <a:spcPts val="5"/>
                        </a:spcBef>
                      </a:pPr>
                      <a:r>
                        <a:rPr sz="1500" spc="100" dirty="0">
                          <a:ln w="5791" cap="flat" cmpd="sng">
                            <a:solidFill>
                              <a:srgbClr val="FFFFFF">
                                <a:alpha val="100000"/>
                              </a:srgbClr>
                            </a:solidFill>
                            <a:prstDash val="solid"/>
                            <a:miter lim="10"/>
                          </a:ln>
                          <a:solidFill>
                            <a:srgbClr val="FFFFFF">
                              <a:alpha val="100000"/>
                            </a:srgbClr>
                          </a:solidFill>
                          <a:latin typeface="微软雅黑" panose="020B0503020204020204" charset="-122"/>
                          <a:ea typeface="微软雅黑" panose="020B0503020204020204" charset="-122"/>
                          <a:cs typeface="楷体" panose="02010609060101010101" charset="-122"/>
                        </a:rPr>
                        <a:t>组织架构和关键角</a:t>
                      </a:r>
                      <a:r>
                        <a:rPr sz="1500" spc="90" dirty="0">
                          <a:ln w="5791" cap="flat" cmpd="sng">
                            <a:solidFill>
                              <a:srgbClr val="FFFFFF">
                                <a:alpha val="100000"/>
                              </a:srgbClr>
                            </a:solidFill>
                            <a:prstDash val="solid"/>
                            <a:miter lim="10"/>
                          </a:ln>
                          <a:solidFill>
                            <a:srgbClr val="FFFFFF">
                              <a:alpha val="100000"/>
                            </a:srgbClr>
                          </a:solidFill>
                          <a:latin typeface="微软雅黑" panose="020B0503020204020204" charset="-122"/>
                          <a:ea typeface="微软雅黑" panose="020B0503020204020204" charset="-122"/>
                          <a:cs typeface="楷体" panose="02010609060101010101" charset="-122"/>
                        </a:rPr>
                        <a:t>色</a:t>
                      </a:r>
                      <a:endParaRPr lang="en-US" altLang="en-US" sz="1500" dirty="0">
                        <a:latin typeface="微软雅黑" panose="020B0503020204020204" charset="-122"/>
                        <a:ea typeface="微软雅黑" panose="020B0503020204020204" charset="-122"/>
                      </a:endParaRPr>
                    </a:p>
                  </a:txBody>
                  <a:tcPr marL="0" marR="0" marT="0" marB="0">
                    <a:lnL>
                      <a:noFill/>
                    </a:lnL>
                    <a:lnR>
                      <a:noFill/>
                    </a:lnR>
                    <a:lnT>
                      <a:noFill/>
                    </a:lnT>
                    <a:lnB>
                      <a:noFill/>
                    </a:lnB>
                  </a:tcPr>
                </a:tc>
                <a:tc>
                  <a:txBody>
                    <a:bodyPr/>
                    <a:lstStyle/>
                    <a:p>
                      <a:pPr algn="l" rtl="0" eaLnBrk="0">
                        <a:lnSpc>
                          <a:spcPct val="100000"/>
                        </a:lnSpc>
                      </a:pPr>
                      <a:endParaRPr lang="en-US" altLang="en-US" sz="1000" dirty="0">
                        <a:ea typeface="微软雅黑" panose="020B0503020204020204" charset="-122"/>
                      </a:endParaRPr>
                    </a:p>
                  </a:txBody>
                  <a:tcPr marL="0" marR="0" marT="0" marB="0">
                    <a:lnL>
                      <a:noFill/>
                    </a:lnL>
                    <a:lnR>
                      <a:noFill/>
                    </a:lnR>
                    <a:lnT>
                      <a:noFill/>
                    </a:lnT>
                    <a:lnB>
                      <a:noFill/>
                    </a:lnB>
                  </a:tcPr>
                </a:tc>
              </a:tr>
            </a:tbl>
          </a:graphicData>
        </a:graphic>
      </p:graphicFrame>
      <p:pic>
        <p:nvPicPr>
          <p:cNvPr id="77" name="picture 77"/>
          <p:cNvPicPr>
            <a:picLocks noChangeAspect="1"/>
          </p:cNvPicPr>
          <p:nvPr/>
        </p:nvPicPr>
        <p:blipFill>
          <a:blip r:embed="rId5"/>
          <a:stretch>
            <a:fillRect/>
          </a:stretch>
        </p:blipFill>
        <p:spPr>
          <a:xfrm rot="21600000">
            <a:off x="1016508" y="3063240"/>
            <a:ext cx="3415283" cy="525779"/>
          </a:xfrm>
          <a:prstGeom prst="rect">
            <a:avLst/>
          </a:prstGeom>
        </p:spPr>
      </p:pic>
      <p:sp>
        <p:nvSpPr>
          <p:cNvPr id="78" name="rect"/>
          <p:cNvSpPr/>
          <p:nvPr/>
        </p:nvSpPr>
        <p:spPr>
          <a:xfrm>
            <a:off x="605027" y="5370576"/>
            <a:ext cx="3316223" cy="524256"/>
          </a:xfrm>
          <a:prstGeom prst="rect">
            <a:avLst/>
          </a:prstGeom>
          <a:solidFill>
            <a:srgbClr val="0065BD">
              <a:alpha val="100000"/>
            </a:srgbClr>
          </a:solidFill>
          <a:ln cap="flat">
            <a:noFill/>
            <a:prstDash val="solid"/>
            <a:miter lim="0"/>
          </a:ln>
        </p:spPr>
        <p:txBody>
          <a:bodyPr rtlCol="0"/>
          <a:lstStyle/>
          <a:p>
            <a:pPr algn="ctr"/>
            <a:endParaRPr lang="zh-CN" altLang="en-US"/>
          </a:p>
        </p:txBody>
      </p:sp>
      <p:graphicFrame>
        <p:nvGraphicFramePr>
          <p:cNvPr id="79" name="table 79"/>
          <p:cNvGraphicFramePr>
            <a:graphicFrameLocks noGrp="1"/>
          </p:cNvGraphicFramePr>
          <p:nvPr/>
        </p:nvGraphicFramePr>
        <p:xfrm>
          <a:off x="600455" y="5366004"/>
          <a:ext cx="3279140" cy="519430"/>
        </p:xfrm>
        <a:graphic>
          <a:graphicData uri="http://schemas.openxmlformats.org/drawingml/2006/table">
            <a:tbl>
              <a:tblPr/>
              <a:tblGrid>
                <a:gridCol w="3279140"/>
              </a:tblGrid>
              <a:tr h="519430">
                <a:tc>
                  <a:txBody>
                    <a:bodyPr/>
                    <a:lstStyle/>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0000"/>
                        </a:lnSpc>
                      </a:pPr>
                      <a:endParaRPr lang="en-US" altLang="en-US" sz="100" dirty="0">
                        <a:latin typeface="微软雅黑" panose="020B0503020204020204" charset="-122"/>
                        <a:ea typeface="微软雅黑" panose="020B0503020204020204" charset="-122"/>
                      </a:endParaRPr>
                    </a:p>
                    <a:p>
                      <a:pPr marL="396240" algn="l" rtl="0" eaLnBrk="0">
                        <a:lnSpc>
                          <a:spcPts val="1820"/>
                        </a:lnSpc>
                      </a:pPr>
                      <a:r>
                        <a:rPr sz="1500" spc="110" dirty="0">
                          <a:ln w="5791" cap="flat" cmpd="sng">
                            <a:solidFill>
                              <a:srgbClr val="FFFFFF">
                                <a:alpha val="100000"/>
                              </a:srgbClr>
                            </a:solidFill>
                            <a:prstDash val="solid"/>
                            <a:miter lim="10"/>
                          </a:ln>
                          <a:solidFill>
                            <a:srgbClr val="FFFFFF">
                              <a:alpha val="100000"/>
                            </a:srgbClr>
                          </a:solidFill>
                          <a:latin typeface="微软雅黑" panose="020B0503020204020204" charset="-122"/>
                          <a:ea typeface="微软雅黑" panose="020B0503020204020204" charset="-122"/>
                          <a:cs typeface="楷体" panose="02010609060101010101" charset="-122"/>
                        </a:rPr>
                        <a:t>人才、技能、思维和行</a:t>
                      </a:r>
                      <a:r>
                        <a:rPr sz="1500" spc="90" dirty="0">
                          <a:ln w="5791" cap="flat" cmpd="sng">
                            <a:solidFill>
                              <a:srgbClr val="FFFFFF">
                                <a:alpha val="100000"/>
                              </a:srgbClr>
                            </a:solidFill>
                            <a:prstDash val="solid"/>
                            <a:miter lim="10"/>
                          </a:ln>
                          <a:solidFill>
                            <a:srgbClr val="FFFFFF">
                              <a:alpha val="100000"/>
                            </a:srgbClr>
                          </a:solidFill>
                          <a:latin typeface="微软雅黑" panose="020B0503020204020204" charset="-122"/>
                          <a:ea typeface="微软雅黑" panose="020B0503020204020204" charset="-122"/>
                          <a:cs typeface="楷体" panose="02010609060101010101" charset="-122"/>
                        </a:rPr>
                        <a:t>为</a:t>
                      </a:r>
                      <a:endParaRPr lang="en-US" altLang="en-US" sz="1500" dirty="0">
                        <a:latin typeface="微软雅黑" panose="020B0503020204020204" charset="-122"/>
                        <a:ea typeface="微软雅黑" panose="020B0503020204020204" charset="-122"/>
                      </a:endParaRPr>
                    </a:p>
                  </a:txBody>
                  <a:tcPr marL="0" marR="0" marT="0" marB="0">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tcPr>
                </a:tc>
              </a:tr>
            </a:tbl>
          </a:graphicData>
        </a:graphic>
      </p:graphicFrame>
      <p:sp>
        <p:nvSpPr>
          <p:cNvPr id="80" name="rect"/>
          <p:cNvSpPr/>
          <p:nvPr/>
        </p:nvSpPr>
        <p:spPr>
          <a:xfrm>
            <a:off x="1016508" y="2462784"/>
            <a:ext cx="2959607" cy="516635"/>
          </a:xfrm>
          <a:prstGeom prst="rect">
            <a:avLst/>
          </a:prstGeom>
          <a:solidFill>
            <a:srgbClr val="BFE1FF">
              <a:alpha val="100000"/>
            </a:srgbClr>
          </a:solidFill>
          <a:ln cap="flat">
            <a:noFill/>
            <a:prstDash val="solid"/>
            <a:miter lim="0"/>
          </a:ln>
        </p:spPr>
        <p:txBody>
          <a:bodyPr rtlCol="0"/>
          <a:lstStyle/>
          <a:p>
            <a:pPr algn="ctr"/>
            <a:endParaRPr lang="zh-CN" altLang="en-US"/>
          </a:p>
        </p:txBody>
      </p:sp>
      <p:graphicFrame>
        <p:nvGraphicFramePr>
          <p:cNvPr id="81" name="table 81"/>
          <p:cNvGraphicFramePr>
            <a:graphicFrameLocks noGrp="1"/>
          </p:cNvGraphicFramePr>
          <p:nvPr/>
        </p:nvGraphicFramePr>
        <p:xfrm>
          <a:off x="1011936" y="2458212"/>
          <a:ext cx="2968625" cy="518795"/>
        </p:xfrm>
        <a:graphic>
          <a:graphicData uri="http://schemas.openxmlformats.org/drawingml/2006/table">
            <a:tbl>
              <a:tblPr/>
              <a:tblGrid>
                <a:gridCol w="2968625"/>
              </a:tblGrid>
              <a:tr h="518795">
                <a:tc>
                  <a:txBody>
                    <a:bodyPr/>
                    <a:lstStyle/>
                    <a:p>
                      <a:pPr algn="l" rtl="0" eaLnBrk="0">
                        <a:lnSpc>
                          <a:spcPct val="110000"/>
                        </a:lnSpc>
                      </a:pPr>
                      <a:endParaRPr lang="en-US" altLang="en-US" sz="1000" dirty="0">
                        <a:latin typeface="微软雅黑" panose="020B0503020204020204" charset="-122"/>
                        <a:ea typeface="微软雅黑" panose="020B0503020204020204" charset="-122"/>
                      </a:endParaRPr>
                    </a:p>
                    <a:p>
                      <a:pPr marL="373380" algn="l" rtl="0" eaLnBrk="0">
                        <a:lnSpc>
                          <a:spcPct val="98000"/>
                        </a:lnSpc>
                      </a:pPr>
                      <a:r>
                        <a:rPr sz="1500" spc="110" dirty="0">
                          <a:ln w="5799"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产品管</a:t>
                      </a:r>
                      <a:r>
                        <a:rPr sz="1500" spc="90" dirty="0">
                          <a:ln w="5799"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理</a:t>
                      </a:r>
                      <a:endParaRPr lang="en-US" altLang="en-US" sz="1500" dirty="0">
                        <a:latin typeface="微软雅黑" panose="020B0503020204020204" charset="-122"/>
                        <a:ea typeface="微软雅黑" panose="020B0503020204020204" charset="-122"/>
                      </a:endParaRPr>
                    </a:p>
                  </a:txBody>
                  <a:tcPr marL="0" marR="0" marT="0" marB="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r>
            </a:tbl>
          </a:graphicData>
        </a:graphic>
      </p:graphicFrame>
      <p:sp>
        <p:nvSpPr>
          <p:cNvPr id="82" name="rect"/>
          <p:cNvSpPr/>
          <p:nvPr/>
        </p:nvSpPr>
        <p:spPr>
          <a:xfrm>
            <a:off x="4629150" y="1857755"/>
            <a:ext cx="2884169" cy="524255"/>
          </a:xfrm>
          <a:prstGeom prst="rect">
            <a:avLst/>
          </a:prstGeom>
          <a:solidFill>
            <a:srgbClr val="BFE1FF">
              <a:alpha val="100000"/>
            </a:srgbClr>
          </a:solidFill>
          <a:ln cap="flat">
            <a:noFill/>
            <a:prstDash val="solid"/>
            <a:miter lim="0"/>
          </a:ln>
        </p:spPr>
        <p:txBody>
          <a:bodyPr rtlCol="0"/>
          <a:lstStyle/>
          <a:p>
            <a:pPr algn="ctr"/>
            <a:endParaRPr lang="zh-CN" altLang="en-US"/>
          </a:p>
        </p:txBody>
      </p:sp>
      <p:grpSp>
        <p:nvGrpSpPr>
          <p:cNvPr id="4" name="group 4"/>
          <p:cNvGrpSpPr/>
          <p:nvPr/>
        </p:nvGrpSpPr>
        <p:grpSpPr>
          <a:xfrm rot="21600000">
            <a:off x="4662551" y="1857756"/>
            <a:ext cx="2620644" cy="515111"/>
            <a:chOff x="0" y="0"/>
            <a:chExt cx="2620644" cy="515111"/>
          </a:xfrm>
        </p:grpSpPr>
        <p:sp>
          <p:nvSpPr>
            <p:cNvPr id="83" name="path"/>
            <p:cNvSpPr/>
            <p:nvPr/>
          </p:nvSpPr>
          <p:spPr>
            <a:xfrm>
              <a:off x="51180" y="0"/>
              <a:ext cx="2569463" cy="515111"/>
            </a:xfrm>
            <a:custGeom>
              <a:avLst/>
              <a:gdLst/>
              <a:ahLst/>
              <a:cxnLst/>
              <a:rect l="0" t="0" r="0" b="0"/>
              <a:pathLst>
                <a:path w="4046" h="811">
                  <a:moveTo>
                    <a:pt x="0" y="811"/>
                  </a:moveTo>
                  <a:lnTo>
                    <a:pt x="4046" y="811"/>
                  </a:lnTo>
                  <a:lnTo>
                    <a:pt x="4046" y="0"/>
                  </a:lnTo>
                  <a:lnTo>
                    <a:pt x="0" y="0"/>
                  </a:lnTo>
                  <a:lnTo>
                    <a:pt x="0" y="811"/>
                  </a:lnTo>
                  <a:close/>
                </a:path>
              </a:pathLst>
            </a:custGeom>
            <a:solidFill>
              <a:srgbClr val="BFE1FF">
                <a:alpha val="100000"/>
              </a:srgbClr>
            </a:solidFill>
            <a:ln cap="flat">
              <a:noFill/>
              <a:prstDash val="solid"/>
              <a:miter lim="0"/>
            </a:ln>
          </p:spPr>
          <p:txBody>
            <a:bodyPr rtlCol="0"/>
            <a:lstStyle/>
            <a:p>
              <a:pPr algn="ctr"/>
              <a:endParaRPr lang="zh-CN" altLang="en-US"/>
            </a:p>
          </p:txBody>
        </p:sp>
        <p:sp>
          <p:nvSpPr>
            <p:cNvPr id="84" name="path"/>
            <p:cNvSpPr/>
            <p:nvPr/>
          </p:nvSpPr>
          <p:spPr>
            <a:xfrm>
              <a:off x="0" y="110743"/>
              <a:ext cx="311150" cy="328676"/>
            </a:xfrm>
            <a:custGeom>
              <a:avLst/>
              <a:gdLst/>
              <a:ahLst/>
              <a:cxnLst/>
              <a:rect l="0" t="0" r="0" b="0"/>
              <a:pathLst>
                <a:path w="490" h="517">
                  <a:moveTo>
                    <a:pt x="306" y="8"/>
                  </a:moveTo>
                  <a:cubicBezTo>
                    <a:pt x="363" y="8"/>
                    <a:pt x="420" y="8"/>
                    <a:pt x="477" y="8"/>
                  </a:cubicBezTo>
                  <a:cubicBezTo>
                    <a:pt x="477" y="45"/>
                    <a:pt x="477" y="82"/>
                    <a:pt x="477" y="119"/>
                  </a:cubicBezTo>
                  <a:cubicBezTo>
                    <a:pt x="438" y="119"/>
                    <a:pt x="400" y="119"/>
                    <a:pt x="362" y="119"/>
                  </a:cubicBezTo>
                  <a:cubicBezTo>
                    <a:pt x="360" y="144"/>
                    <a:pt x="357" y="169"/>
                    <a:pt x="355" y="194"/>
                  </a:cubicBezTo>
                  <a:cubicBezTo>
                    <a:pt x="363" y="187"/>
                    <a:pt x="371" y="181"/>
                    <a:pt x="379" y="178"/>
                  </a:cubicBezTo>
                  <a:cubicBezTo>
                    <a:pt x="387" y="174"/>
                    <a:pt x="395" y="172"/>
                    <a:pt x="402" y="172"/>
                  </a:cubicBezTo>
                  <a:cubicBezTo>
                    <a:pt x="428" y="172"/>
                    <a:pt x="449" y="187"/>
                    <a:pt x="465" y="218"/>
                  </a:cubicBezTo>
                  <a:cubicBezTo>
                    <a:pt x="481" y="248"/>
                    <a:pt x="490" y="286"/>
                    <a:pt x="490" y="332"/>
                  </a:cubicBezTo>
                  <a:cubicBezTo>
                    <a:pt x="490" y="364"/>
                    <a:pt x="485" y="395"/>
                    <a:pt x="477" y="425"/>
                  </a:cubicBezTo>
                  <a:cubicBezTo>
                    <a:pt x="469" y="455"/>
                    <a:pt x="457" y="478"/>
                    <a:pt x="442" y="494"/>
                  </a:cubicBezTo>
                  <a:cubicBezTo>
                    <a:pt x="426" y="509"/>
                    <a:pt x="407" y="517"/>
                    <a:pt x="383" y="517"/>
                  </a:cubicBezTo>
                  <a:cubicBezTo>
                    <a:pt x="366" y="517"/>
                    <a:pt x="352" y="514"/>
                    <a:pt x="340" y="508"/>
                  </a:cubicBezTo>
                  <a:cubicBezTo>
                    <a:pt x="327" y="501"/>
                    <a:pt x="317" y="492"/>
                    <a:pt x="308" y="480"/>
                  </a:cubicBezTo>
                  <a:cubicBezTo>
                    <a:pt x="300" y="467"/>
                    <a:pt x="293" y="453"/>
                    <a:pt x="288" y="438"/>
                  </a:cubicBezTo>
                  <a:cubicBezTo>
                    <a:pt x="282" y="422"/>
                    <a:pt x="278" y="402"/>
                    <a:pt x="274" y="379"/>
                  </a:cubicBezTo>
                  <a:cubicBezTo>
                    <a:pt x="299" y="374"/>
                    <a:pt x="323" y="369"/>
                    <a:pt x="347" y="363"/>
                  </a:cubicBezTo>
                  <a:cubicBezTo>
                    <a:pt x="349" y="386"/>
                    <a:pt x="353" y="403"/>
                    <a:pt x="360" y="415"/>
                  </a:cubicBezTo>
                  <a:cubicBezTo>
                    <a:pt x="366" y="427"/>
                    <a:pt x="374" y="432"/>
                    <a:pt x="382" y="432"/>
                  </a:cubicBezTo>
                  <a:cubicBezTo>
                    <a:pt x="392" y="432"/>
                    <a:pt x="401" y="425"/>
                    <a:pt x="407" y="410"/>
                  </a:cubicBezTo>
                  <a:cubicBezTo>
                    <a:pt x="414" y="396"/>
                    <a:pt x="417" y="374"/>
                    <a:pt x="417" y="345"/>
                  </a:cubicBezTo>
                  <a:cubicBezTo>
                    <a:pt x="417" y="315"/>
                    <a:pt x="414" y="293"/>
                    <a:pt x="407" y="279"/>
                  </a:cubicBezTo>
                  <a:cubicBezTo>
                    <a:pt x="401" y="265"/>
                    <a:pt x="392" y="258"/>
                    <a:pt x="381" y="258"/>
                  </a:cubicBezTo>
                  <a:cubicBezTo>
                    <a:pt x="374" y="258"/>
                    <a:pt x="367" y="262"/>
                    <a:pt x="361" y="268"/>
                  </a:cubicBezTo>
                  <a:cubicBezTo>
                    <a:pt x="356" y="273"/>
                    <a:pt x="351" y="282"/>
                    <a:pt x="345" y="294"/>
                  </a:cubicBezTo>
                  <a:cubicBezTo>
                    <a:pt x="325" y="289"/>
                    <a:pt x="304" y="283"/>
                    <a:pt x="284" y="277"/>
                  </a:cubicBezTo>
                  <a:cubicBezTo>
                    <a:pt x="292" y="187"/>
                    <a:pt x="299" y="98"/>
                    <a:pt x="306" y="8"/>
                  </a:cubicBezTo>
                  <a:moveTo>
                    <a:pt x="130" y="0"/>
                  </a:moveTo>
                  <a:cubicBezTo>
                    <a:pt x="162" y="0"/>
                    <a:pt x="188" y="12"/>
                    <a:pt x="207" y="38"/>
                  </a:cubicBezTo>
                  <a:cubicBezTo>
                    <a:pt x="225" y="63"/>
                    <a:pt x="239" y="102"/>
                    <a:pt x="248" y="155"/>
                  </a:cubicBezTo>
                  <a:cubicBezTo>
                    <a:pt x="225" y="165"/>
                    <a:pt x="201" y="176"/>
                    <a:pt x="178" y="186"/>
                  </a:cubicBezTo>
                  <a:cubicBezTo>
                    <a:pt x="175" y="170"/>
                    <a:pt x="173" y="159"/>
                    <a:pt x="170" y="152"/>
                  </a:cubicBezTo>
                  <a:cubicBezTo>
                    <a:pt x="165" y="140"/>
                    <a:pt x="160" y="131"/>
                    <a:pt x="154" y="125"/>
                  </a:cubicBezTo>
                  <a:cubicBezTo>
                    <a:pt x="147" y="119"/>
                    <a:pt x="140" y="115"/>
                    <a:pt x="132" y="115"/>
                  </a:cubicBezTo>
                  <a:cubicBezTo>
                    <a:pt x="114" y="115"/>
                    <a:pt x="100" y="129"/>
                    <a:pt x="90" y="158"/>
                  </a:cubicBezTo>
                  <a:cubicBezTo>
                    <a:pt x="83" y="179"/>
                    <a:pt x="80" y="211"/>
                    <a:pt x="80" y="256"/>
                  </a:cubicBezTo>
                  <a:cubicBezTo>
                    <a:pt x="80" y="312"/>
                    <a:pt x="84" y="350"/>
                    <a:pt x="92" y="370"/>
                  </a:cubicBezTo>
                  <a:cubicBezTo>
                    <a:pt x="101" y="391"/>
                    <a:pt x="113" y="401"/>
                    <a:pt x="129" y="401"/>
                  </a:cubicBezTo>
                  <a:cubicBezTo>
                    <a:pt x="144" y="401"/>
                    <a:pt x="156" y="393"/>
                    <a:pt x="164" y="376"/>
                  </a:cubicBezTo>
                  <a:cubicBezTo>
                    <a:pt x="172" y="360"/>
                    <a:pt x="177" y="335"/>
                    <a:pt x="181" y="304"/>
                  </a:cubicBezTo>
                  <a:cubicBezTo>
                    <a:pt x="204" y="317"/>
                    <a:pt x="227" y="331"/>
                    <a:pt x="251" y="345"/>
                  </a:cubicBezTo>
                  <a:cubicBezTo>
                    <a:pt x="246" y="383"/>
                    <a:pt x="239" y="414"/>
                    <a:pt x="228" y="440"/>
                  </a:cubicBezTo>
                  <a:cubicBezTo>
                    <a:pt x="218" y="465"/>
                    <a:pt x="206" y="485"/>
                    <a:pt x="191" y="498"/>
                  </a:cubicBezTo>
                  <a:cubicBezTo>
                    <a:pt x="176" y="511"/>
                    <a:pt x="157" y="517"/>
                    <a:pt x="134" y="517"/>
                  </a:cubicBezTo>
                  <a:cubicBezTo>
                    <a:pt x="106" y="517"/>
                    <a:pt x="83" y="509"/>
                    <a:pt x="65" y="493"/>
                  </a:cubicBezTo>
                  <a:cubicBezTo>
                    <a:pt x="47" y="478"/>
                    <a:pt x="32" y="450"/>
                    <a:pt x="19" y="410"/>
                  </a:cubicBezTo>
                  <a:cubicBezTo>
                    <a:pt x="6" y="370"/>
                    <a:pt x="0" y="319"/>
                    <a:pt x="0" y="257"/>
                  </a:cubicBezTo>
                  <a:cubicBezTo>
                    <a:pt x="0" y="174"/>
                    <a:pt x="11" y="111"/>
                    <a:pt x="33" y="66"/>
                  </a:cubicBezTo>
                  <a:cubicBezTo>
                    <a:pt x="56" y="22"/>
                    <a:pt x="88" y="0"/>
                    <a:pt x="130" y="0"/>
                  </a:cubicBezTo>
                </a:path>
              </a:pathLst>
            </a:custGeom>
            <a:solidFill>
              <a:srgbClr val="002960">
                <a:alpha val="100000"/>
              </a:srgbClr>
            </a:solidFill>
            <a:ln cap="flat">
              <a:noFill/>
              <a:prstDash val="solid"/>
              <a:miter lim="0"/>
            </a:ln>
          </p:spPr>
          <p:txBody>
            <a:bodyPr rtlCol="0"/>
            <a:lstStyle/>
            <a:p>
              <a:pPr algn="ctr"/>
              <a:endParaRPr lang="zh-CN" altLang="en-US"/>
            </a:p>
          </p:txBody>
        </p:sp>
      </p:grpSp>
      <p:graphicFrame>
        <p:nvGraphicFramePr>
          <p:cNvPr id="85" name="table 85"/>
          <p:cNvGraphicFramePr>
            <a:graphicFrameLocks noGrp="1"/>
          </p:cNvGraphicFramePr>
          <p:nvPr/>
        </p:nvGraphicFramePr>
        <p:xfrm>
          <a:off x="4625340" y="1853184"/>
          <a:ext cx="2892425" cy="526415"/>
        </p:xfrm>
        <a:graphic>
          <a:graphicData uri="http://schemas.openxmlformats.org/drawingml/2006/table">
            <a:tbl>
              <a:tblPr/>
              <a:tblGrid>
                <a:gridCol w="2892425"/>
              </a:tblGrid>
              <a:tr h="526415">
                <a:tc>
                  <a:txBody>
                    <a:bodyPr/>
                    <a:lstStyle/>
                    <a:p>
                      <a:pPr algn="l" rtl="0" eaLnBrk="0">
                        <a:lnSpc>
                          <a:spcPct val="109000"/>
                        </a:lnSpc>
                      </a:pPr>
                      <a:endParaRPr lang="en-US" altLang="en-US" sz="1000" dirty="0">
                        <a:latin typeface="微软雅黑" panose="020B0503020204020204" charset="-122"/>
                        <a:ea typeface="微软雅黑" panose="020B0503020204020204" charset="-122"/>
                      </a:endParaRPr>
                    </a:p>
                    <a:p>
                      <a:pPr marL="421005" algn="l" rtl="0" eaLnBrk="0">
                        <a:lnSpc>
                          <a:spcPct val="98000"/>
                        </a:lnSpc>
                        <a:spcBef>
                          <a:spcPts val="5"/>
                        </a:spcBef>
                      </a:pPr>
                      <a:r>
                        <a:rPr sz="1500" spc="7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渠道管</a:t>
                      </a:r>
                      <a:r>
                        <a:rPr sz="1500" spc="6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理</a:t>
                      </a:r>
                      <a:endParaRPr lang="en-US" altLang="en-US" sz="1500" dirty="0">
                        <a:latin typeface="微软雅黑" panose="020B0503020204020204" charset="-122"/>
                        <a:ea typeface="微软雅黑" panose="020B0503020204020204" charset="-122"/>
                      </a:endParaRPr>
                    </a:p>
                  </a:txBody>
                  <a:tcPr marL="0" marR="0" marT="0" marB="0">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tcPr>
                </a:tc>
              </a:tr>
            </a:tbl>
          </a:graphicData>
        </a:graphic>
      </p:graphicFrame>
      <p:sp>
        <p:nvSpPr>
          <p:cNvPr id="86" name="rect"/>
          <p:cNvSpPr/>
          <p:nvPr/>
        </p:nvSpPr>
        <p:spPr>
          <a:xfrm>
            <a:off x="569976" y="1263396"/>
            <a:ext cx="399287" cy="2318004"/>
          </a:xfrm>
          <a:prstGeom prst="rect">
            <a:avLst/>
          </a:prstGeom>
          <a:solidFill>
            <a:srgbClr val="BFE1FF">
              <a:alpha val="100000"/>
            </a:srgbClr>
          </a:solidFill>
          <a:ln cap="flat">
            <a:noFill/>
            <a:prstDash val="solid"/>
            <a:miter lim="0"/>
          </a:ln>
        </p:spPr>
        <p:txBody>
          <a:bodyPr rtlCol="0"/>
          <a:lstStyle/>
          <a:p>
            <a:pPr algn="ctr"/>
            <a:endParaRPr lang="zh-CN" altLang="en-US"/>
          </a:p>
        </p:txBody>
      </p:sp>
      <p:sp>
        <p:nvSpPr>
          <p:cNvPr id="87" name="rect"/>
          <p:cNvSpPr/>
          <p:nvPr/>
        </p:nvSpPr>
        <p:spPr>
          <a:xfrm>
            <a:off x="7958327" y="1848611"/>
            <a:ext cx="399288" cy="2286000"/>
          </a:xfrm>
          <a:prstGeom prst="rect">
            <a:avLst/>
          </a:prstGeom>
          <a:solidFill>
            <a:srgbClr val="BFE1FF">
              <a:alpha val="100000"/>
            </a:srgbClr>
          </a:solidFill>
          <a:ln cap="flat">
            <a:noFill/>
            <a:prstDash val="solid"/>
            <a:miter lim="0"/>
          </a:ln>
        </p:spPr>
        <p:txBody>
          <a:bodyPr rtlCol="0"/>
          <a:lstStyle/>
          <a:p>
            <a:pPr algn="ctr"/>
            <a:endParaRPr lang="zh-CN" altLang="en-US"/>
          </a:p>
        </p:txBody>
      </p:sp>
      <p:sp>
        <p:nvSpPr>
          <p:cNvPr id="88" name="textbox 88"/>
          <p:cNvSpPr/>
          <p:nvPr/>
        </p:nvSpPr>
        <p:spPr>
          <a:xfrm>
            <a:off x="123274" y="248992"/>
            <a:ext cx="2804160" cy="311150"/>
          </a:xfrm>
          <a:prstGeom prst="rect">
            <a:avLst/>
          </a:prstGeom>
        </p:spPr>
        <p:txBody>
          <a:bodyPr vert="horz" wrap="square" lIns="0" tIns="0" rIns="0" bIns="0"/>
          <a:lstStyle/>
          <a:p>
            <a:pPr algn="l" rtl="0" eaLnBrk="0">
              <a:lnSpc>
                <a:spcPct val="78000"/>
              </a:lnSpc>
            </a:pPr>
            <a:endParaRPr lang="en-US" altLang="en-US" sz="100" dirty="0">
              <a:latin typeface="微软雅黑" panose="020B0503020204020204" charset="-122"/>
              <a:ea typeface="微软雅黑" panose="020B0503020204020204" charset="-122"/>
            </a:endParaRPr>
          </a:p>
          <a:p>
            <a:pPr marL="12700" algn="l" rtl="0" eaLnBrk="0">
              <a:lnSpc>
                <a:spcPct val="94000"/>
              </a:lnSpc>
            </a:pPr>
            <a:r>
              <a:rPr sz="2000" spc="-20" dirty="0">
                <a:solidFill>
                  <a:srgbClr val="002960">
                    <a:alpha val="100000"/>
                  </a:srgbClr>
                </a:solidFill>
                <a:latin typeface="微软雅黑" panose="020B0503020204020204" charset="-122"/>
                <a:ea typeface="微软雅黑" panose="020B0503020204020204" charset="-122"/>
                <a:cs typeface="楷体" panose="02010609060101010101" charset="-122"/>
              </a:rPr>
              <a:t>乙方卓越营</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销核心框架</a:t>
            </a:r>
            <a:endParaRPr lang="en-US" altLang="en-US" sz="2000" dirty="0">
              <a:latin typeface="微软雅黑" panose="020B0503020204020204" charset="-122"/>
              <a:ea typeface="微软雅黑" panose="020B0503020204020204" charset="-122"/>
            </a:endParaRPr>
          </a:p>
        </p:txBody>
      </p:sp>
      <p:pic>
        <p:nvPicPr>
          <p:cNvPr id="89" name="picture 89"/>
          <p:cNvPicPr>
            <a:picLocks noChangeAspect="1"/>
          </p:cNvPicPr>
          <p:nvPr>
            <p:custDataLst>
              <p:tags r:id="rId6"/>
            </p:custDataLst>
          </p:nvPr>
        </p:nvPicPr>
        <p:blipFill>
          <a:blip r:embed="rId7"/>
          <a:stretch>
            <a:fillRect/>
          </a:stretch>
        </p:blipFill>
        <p:spPr>
          <a:xfrm rot="21600000">
            <a:off x="3704844" y="5372100"/>
            <a:ext cx="688847" cy="518159"/>
          </a:xfrm>
          <a:prstGeom prst="rect">
            <a:avLst/>
          </a:prstGeom>
        </p:spPr>
      </p:pic>
      <p:pic>
        <p:nvPicPr>
          <p:cNvPr id="90" name="picture 90"/>
          <p:cNvPicPr>
            <a:picLocks noChangeAspect="1"/>
          </p:cNvPicPr>
          <p:nvPr>
            <p:custDataLst>
              <p:tags r:id="rId8"/>
            </p:custDataLst>
          </p:nvPr>
        </p:nvPicPr>
        <p:blipFill>
          <a:blip r:embed="rId9"/>
          <a:stretch>
            <a:fillRect/>
          </a:stretch>
        </p:blipFill>
        <p:spPr>
          <a:xfrm rot="21600000">
            <a:off x="7220711" y="3070860"/>
            <a:ext cx="685800" cy="518159"/>
          </a:xfrm>
          <a:prstGeom prst="rect">
            <a:avLst/>
          </a:prstGeom>
        </p:spPr>
      </p:pic>
      <p:pic>
        <p:nvPicPr>
          <p:cNvPr id="91" name="picture 91"/>
          <p:cNvPicPr>
            <a:picLocks noChangeAspect="1"/>
          </p:cNvPicPr>
          <p:nvPr>
            <p:custDataLst>
              <p:tags r:id="rId10"/>
            </p:custDataLst>
          </p:nvPr>
        </p:nvPicPr>
        <p:blipFill>
          <a:blip r:embed="rId11"/>
          <a:stretch>
            <a:fillRect/>
          </a:stretch>
        </p:blipFill>
        <p:spPr>
          <a:xfrm rot="21600000">
            <a:off x="3722242" y="4792726"/>
            <a:ext cx="687578" cy="516636"/>
          </a:xfrm>
          <a:prstGeom prst="rect">
            <a:avLst/>
          </a:prstGeom>
        </p:spPr>
      </p:pic>
      <p:pic>
        <p:nvPicPr>
          <p:cNvPr id="92" name="picture 92"/>
          <p:cNvPicPr>
            <a:picLocks noChangeAspect="1"/>
          </p:cNvPicPr>
          <p:nvPr>
            <p:custDataLst>
              <p:tags r:id="rId12"/>
            </p:custDataLst>
          </p:nvPr>
        </p:nvPicPr>
        <p:blipFill>
          <a:blip r:embed="rId13"/>
          <a:stretch>
            <a:fillRect/>
          </a:stretch>
        </p:blipFill>
        <p:spPr>
          <a:xfrm rot="21600000">
            <a:off x="7670292" y="1263396"/>
            <a:ext cx="687323" cy="516635"/>
          </a:xfrm>
          <a:prstGeom prst="rect">
            <a:avLst/>
          </a:prstGeom>
        </p:spPr>
      </p:pic>
      <p:pic>
        <p:nvPicPr>
          <p:cNvPr id="93" name="picture 93"/>
          <p:cNvPicPr>
            <a:picLocks noChangeAspect="1"/>
          </p:cNvPicPr>
          <p:nvPr>
            <p:custDataLst>
              <p:tags r:id="rId14"/>
            </p:custDataLst>
          </p:nvPr>
        </p:nvPicPr>
        <p:blipFill>
          <a:blip r:embed="rId15"/>
          <a:stretch>
            <a:fillRect/>
          </a:stretch>
        </p:blipFill>
        <p:spPr>
          <a:xfrm rot="21600000">
            <a:off x="3744467" y="2462784"/>
            <a:ext cx="687323" cy="516635"/>
          </a:xfrm>
          <a:prstGeom prst="rect">
            <a:avLst/>
          </a:prstGeom>
        </p:spPr>
      </p:pic>
      <p:pic>
        <p:nvPicPr>
          <p:cNvPr id="94" name="picture 94"/>
          <p:cNvPicPr>
            <a:picLocks noChangeAspect="1"/>
          </p:cNvPicPr>
          <p:nvPr>
            <p:custDataLst>
              <p:tags r:id="rId16"/>
            </p:custDataLst>
          </p:nvPr>
        </p:nvPicPr>
        <p:blipFill>
          <a:blip r:embed="rId11"/>
          <a:stretch>
            <a:fillRect/>
          </a:stretch>
        </p:blipFill>
        <p:spPr>
          <a:xfrm rot="21600000">
            <a:off x="7221981" y="3652393"/>
            <a:ext cx="686054" cy="515111"/>
          </a:xfrm>
          <a:prstGeom prst="rect">
            <a:avLst/>
          </a:prstGeom>
        </p:spPr>
      </p:pic>
      <p:pic>
        <p:nvPicPr>
          <p:cNvPr id="95" name="picture 95"/>
          <p:cNvPicPr>
            <a:picLocks noChangeAspect="1"/>
          </p:cNvPicPr>
          <p:nvPr>
            <p:custDataLst>
              <p:tags r:id="rId17"/>
            </p:custDataLst>
          </p:nvPr>
        </p:nvPicPr>
        <p:blipFill>
          <a:blip r:embed="rId18"/>
          <a:stretch>
            <a:fillRect/>
          </a:stretch>
        </p:blipFill>
        <p:spPr>
          <a:xfrm rot="21600000">
            <a:off x="7220711" y="2465832"/>
            <a:ext cx="685800" cy="515111"/>
          </a:xfrm>
          <a:prstGeom prst="rect">
            <a:avLst/>
          </a:prstGeom>
        </p:spPr>
      </p:pic>
      <p:pic>
        <p:nvPicPr>
          <p:cNvPr id="96" name="picture 96"/>
          <p:cNvPicPr>
            <a:picLocks noChangeAspect="1"/>
          </p:cNvPicPr>
          <p:nvPr>
            <p:custDataLst>
              <p:tags r:id="rId19"/>
            </p:custDataLst>
          </p:nvPr>
        </p:nvPicPr>
        <p:blipFill>
          <a:blip r:embed="rId20"/>
          <a:stretch>
            <a:fillRect/>
          </a:stretch>
        </p:blipFill>
        <p:spPr>
          <a:xfrm rot="21600000">
            <a:off x="7228331" y="1857756"/>
            <a:ext cx="685800" cy="515111"/>
          </a:xfrm>
          <a:prstGeom prst="rect">
            <a:avLst/>
          </a:prstGeom>
        </p:spPr>
      </p:pic>
      <p:pic>
        <p:nvPicPr>
          <p:cNvPr id="97" name="picture 97"/>
          <p:cNvPicPr>
            <a:picLocks noChangeAspect="1"/>
          </p:cNvPicPr>
          <p:nvPr>
            <p:custDataLst>
              <p:tags r:id="rId21"/>
            </p:custDataLst>
          </p:nvPr>
        </p:nvPicPr>
        <p:blipFill>
          <a:blip r:embed="rId22"/>
          <a:stretch>
            <a:fillRect/>
          </a:stretch>
        </p:blipFill>
        <p:spPr>
          <a:xfrm rot="21600000">
            <a:off x="7687056" y="4800346"/>
            <a:ext cx="675131" cy="509016"/>
          </a:xfrm>
          <a:prstGeom prst="rect">
            <a:avLst/>
          </a:prstGeom>
        </p:spPr>
      </p:pic>
      <p:pic>
        <p:nvPicPr>
          <p:cNvPr id="98" name="picture 98"/>
          <p:cNvPicPr>
            <a:picLocks noChangeAspect="1"/>
          </p:cNvPicPr>
          <p:nvPr>
            <p:custDataLst>
              <p:tags r:id="rId23"/>
            </p:custDataLst>
          </p:nvPr>
        </p:nvPicPr>
        <p:blipFill>
          <a:blip r:embed="rId22"/>
          <a:stretch>
            <a:fillRect/>
          </a:stretch>
        </p:blipFill>
        <p:spPr>
          <a:xfrm rot="21600000">
            <a:off x="7688580" y="5355082"/>
            <a:ext cx="673607" cy="507746"/>
          </a:xfrm>
          <a:prstGeom prst="rect">
            <a:avLst/>
          </a:prstGeom>
        </p:spPr>
      </p:pic>
      <p:sp>
        <p:nvSpPr>
          <p:cNvPr id="99" name="textbox 99"/>
          <p:cNvSpPr/>
          <p:nvPr/>
        </p:nvSpPr>
        <p:spPr>
          <a:xfrm rot="16200000">
            <a:off x="354861" y="2296565"/>
            <a:ext cx="831850" cy="279400"/>
          </a:xfrm>
          <a:prstGeom prst="rect">
            <a:avLst/>
          </a:prstGeom>
        </p:spPr>
        <p:txBody>
          <a:bodyPr vert="horz" wrap="square" lIns="0" tIns="0" rIns="0" bIns="0"/>
          <a:lstStyle/>
          <a:p>
            <a:pPr algn="l" rtl="0" eaLnBrk="0">
              <a:lnSpc>
                <a:spcPct val="82000"/>
              </a:lnSpc>
            </a:pPr>
            <a:endParaRPr lang="en-US" altLang="en-US" sz="100" dirty="0">
              <a:latin typeface="微软雅黑" panose="020B0503020204020204" charset="-122"/>
              <a:ea typeface="微软雅黑" panose="020B0503020204020204" charset="-122"/>
            </a:endParaRPr>
          </a:p>
          <a:p>
            <a:pPr marL="12700" algn="l" rtl="0" eaLnBrk="0">
              <a:lnSpc>
                <a:spcPct val="100000"/>
              </a:lnSpc>
            </a:pPr>
            <a:r>
              <a:rPr sz="1500" spc="9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市场营</a:t>
            </a:r>
            <a:r>
              <a:rPr sz="1500" spc="7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销</a:t>
            </a:r>
            <a:endParaRPr lang="en-US" altLang="en-US" sz="1500" dirty="0">
              <a:latin typeface="微软雅黑" panose="020B0503020204020204" charset="-122"/>
              <a:ea typeface="微软雅黑" panose="020B0503020204020204" charset="-122"/>
            </a:endParaRPr>
          </a:p>
        </p:txBody>
      </p:sp>
      <p:sp>
        <p:nvSpPr>
          <p:cNvPr id="100" name="textbox 100"/>
          <p:cNvSpPr/>
          <p:nvPr/>
        </p:nvSpPr>
        <p:spPr>
          <a:xfrm>
            <a:off x="1403128" y="3246125"/>
            <a:ext cx="828039" cy="250190"/>
          </a:xfrm>
          <a:prstGeom prst="rect">
            <a:avLst/>
          </a:prstGeom>
        </p:spPr>
        <p:txBody>
          <a:bodyPr vert="horz" wrap="square" lIns="0" tIns="0" rIns="0" bIns="0"/>
          <a:lstStyle/>
          <a:p>
            <a:pPr algn="l" rtl="0" eaLnBrk="0">
              <a:lnSpc>
                <a:spcPct val="87000"/>
              </a:lnSpc>
            </a:pPr>
            <a:endParaRPr lang="en-US" altLang="en-US" sz="100" dirty="0">
              <a:latin typeface="微软雅黑" panose="020B0503020204020204" charset="-122"/>
              <a:ea typeface="微软雅黑" panose="020B0503020204020204" charset="-122"/>
            </a:endParaRPr>
          </a:p>
          <a:p>
            <a:pPr marL="12700" algn="l" rtl="0" eaLnBrk="0">
              <a:lnSpc>
                <a:spcPct val="98000"/>
              </a:lnSpc>
            </a:pPr>
            <a:r>
              <a:rPr sz="1500" spc="8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定价管</a:t>
            </a:r>
            <a:r>
              <a:rPr sz="1500" spc="7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理</a:t>
            </a:r>
            <a:endParaRPr lang="en-US" altLang="en-US" sz="1500" dirty="0">
              <a:latin typeface="微软雅黑" panose="020B0503020204020204" charset="-122"/>
              <a:ea typeface="微软雅黑" panose="020B0503020204020204" charset="-122"/>
            </a:endParaRPr>
          </a:p>
        </p:txBody>
      </p:sp>
      <p:sp>
        <p:nvSpPr>
          <p:cNvPr id="101" name="textbox 101"/>
          <p:cNvSpPr/>
          <p:nvPr/>
        </p:nvSpPr>
        <p:spPr>
          <a:xfrm>
            <a:off x="8818509" y="1037437"/>
            <a:ext cx="114935" cy="1840229"/>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endParaRPr sz="600" spc="0" dirty="0">
              <a:solidFill>
                <a:srgbClr val="808080">
                  <a:alpha val="100000"/>
                </a:srgbClr>
              </a:solidFill>
              <a:latin typeface="Arial" panose="020B0604020202020204"/>
              <a:ea typeface="Arial" panose="020B0604020202020204"/>
              <a:cs typeface="Arial" panose="020B0604020202020204"/>
            </a:endParaRPr>
          </a:p>
        </p:txBody>
      </p:sp>
      <p:sp>
        <p:nvSpPr>
          <p:cNvPr id="103" name="path"/>
          <p:cNvSpPr/>
          <p:nvPr/>
        </p:nvSpPr>
        <p:spPr>
          <a:xfrm>
            <a:off x="639762" y="5472112"/>
            <a:ext cx="328129" cy="331787"/>
          </a:xfrm>
          <a:custGeom>
            <a:avLst/>
            <a:gdLst/>
            <a:ahLst/>
            <a:cxnLst/>
            <a:rect l="0" t="0" r="0" b="0"/>
            <a:pathLst>
              <a:path w="516" h="522">
                <a:moveTo>
                  <a:pt x="0" y="8"/>
                </a:moveTo>
                <a:cubicBezTo>
                  <a:pt x="80" y="8"/>
                  <a:pt x="160" y="8"/>
                  <a:pt x="240" y="8"/>
                </a:cubicBezTo>
                <a:cubicBezTo>
                  <a:pt x="240" y="45"/>
                  <a:pt x="240" y="81"/>
                  <a:pt x="240" y="118"/>
                </a:cubicBezTo>
                <a:cubicBezTo>
                  <a:pt x="190" y="118"/>
                  <a:pt x="140" y="118"/>
                  <a:pt x="89" y="118"/>
                </a:cubicBezTo>
                <a:cubicBezTo>
                  <a:pt x="89" y="145"/>
                  <a:pt x="89" y="172"/>
                  <a:pt x="89" y="200"/>
                </a:cubicBezTo>
                <a:cubicBezTo>
                  <a:pt x="136" y="200"/>
                  <a:pt x="183" y="200"/>
                  <a:pt x="229" y="200"/>
                </a:cubicBezTo>
                <a:cubicBezTo>
                  <a:pt x="229" y="235"/>
                  <a:pt x="229" y="269"/>
                  <a:pt x="229" y="304"/>
                </a:cubicBezTo>
                <a:cubicBezTo>
                  <a:pt x="183" y="304"/>
                  <a:pt x="136" y="304"/>
                  <a:pt x="89" y="304"/>
                </a:cubicBezTo>
                <a:cubicBezTo>
                  <a:pt x="89" y="338"/>
                  <a:pt x="89" y="372"/>
                  <a:pt x="89" y="406"/>
                </a:cubicBezTo>
                <a:cubicBezTo>
                  <a:pt x="141" y="406"/>
                  <a:pt x="193" y="406"/>
                  <a:pt x="244" y="406"/>
                </a:cubicBezTo>
                <a:cubicBezTo>
                  <a:pt x="244" y="444"/>
                  <a:pt x="244" y="483"/>
                  <a:pt x="244" y="522"/>
                </a:cubicBezTo>
                <a:cubicBezTo>
                  <a:pt x="163" y="522"/>
                  <a:pt x="81" y="522"/>
                  <a:pt x="0" y="522"/>
                </a:cubicBezTo>
                <a:cubicBezTo>
                  <a:pt x="0" y="351"/>
                  <a:pt x="0" y="180"/>
                  <a:pt x="0" y="8"/>
                </a:cubicBezTo>
                <a:moveTo>
                  <a:pt x="397" y="0"/>
                </a:moveTo>
                <a:cubicBezTo>
                  <a:pt x="426" y="0"/>
                  <a:pt x="448" y="5"/>
                  <a:pt x="463" y="17"/>
                </a:cubicBezTo>
                <a:cubicBezTo>
                  <a:pt x="479" y="28"/>
                  <a:pt x="491" y="46"/>
                  <a:pt x="501" y="69"/>
                </a:cubicBezTo>
                <a:cubicBezTo>
                  <a:pt x="510" y="93"/>
                  <a:pt x="514" y="120"/>
                  <a:pt x="514" y="149"/>
                </a:cubicBezTo>
                <a:cubicBezTo>
                  <a:pt x="514" y="180"/>
                  <a:pt x="509" y="210"/>
                  <a:pt x="499" y="239"/>
                </a:cubicBezTo>
                <a:cubicBezTo>
                  <a:pt x="488" y="267"/>
                  <a:pt x="470" y="299"/>
                  <a:pt x="442" y="333"/>
                </a:cubicBezTo>
                <a:cubicBezTo>
                  <a:pt x="426" y="352"/>
                  <a:pt x="415" y="367"/>
                  <a:pt x="410" y="374"/>
                </a:cubicBezTo>
                <a:cubicBezTo>
                  <a:pt x="404" y="382"/>
                  <a:pt x="398" y="393"/>
                  <a:pt x="390" y="406"/>
                </a:cubicBezTo>
                <a:cubicBezTo>
                  <a:pt x="432" y="406"/>
                  <a:pt x="474" y="406"/>
                  <a:pt x="516" y="406"/>
                </a:cubicBezTo>
                <a:cubicBezTo>
                  <a:pt x="516" y="444"/>
                  <a:pt x="516" y="483"/>
                  <a:pt x="516" y="522"/>
                </a:cubicBezTo>
                <a:cubicBezTo>
                  <a:pt x="436" y="522"/>
                  <a:pt x="355" y="522"/>
                  <a:pt x="274" y="522"/>
                </a:cubicBezTo>
                <a:cubicBezTo>
                  <a:pt x="277" y="480"/>
                  <a:pt x="285" y="440"/>
                  <a:pt x="299" y="403"/>
                </a:cubicBezTo>
                <a:cubicBezTo>
                  <a:pt x="314" y="366"/>
                  <a:pt x="339" y="321"/>
                  <a:pt x="379" y="271"/>
                </a:cubicBezTo>
                <a:cubicBezTo>
                  <a:pt x="402" y="240"/>
                  <a:pt x="417" y="216"/>
                  <a:pt x="424" y="200"/>
                </a:cubicBezTo>
                <a:cubicBezTo>
                  <a:pt x="431" y="184"/>
                  <a:pt x="434" y="169"/>
                  <a:pt x="434" y="154"/>
                </a:cubicBezTo>
                <a:cubicBezTo>
                  <a:pt x="434" y="138"/>
                  <a:pt x="431" y="125"/>
                  <a:pt x="424" y="114"/>
                </a:cubicBezTo>
                <a:cubicBezTo>
                  <a:pt x="417" y="103"/>
                  <a:pt x="409" y="97"/>
                  <a:pt x="399" y="97"/>
                </a:cubicBezTo>
                <a:cubicBezTo>
                  <a:pt x="389" y="97"/>
                  <a:pt x="381" y="103"/>
                  <a:pt x="374" y="114"/>
                </a:cubicBezTo>
                <a:cubicBezTo>
                  <a:pt x="367" y="126"/>
                  <a:pt x="363" y="146"/>
                  <a:pt x="361" y="175"/>
                </a:cubicBezTo>
                <a:cubicBezTo>
                  <a:pt x="334" y="171"/>
                  <a:pt x="307" y="167"/>
                  <a:pt x="280" y="164"/>
                </a:cubicBezTo>
                <a:cubicBezTo>
                  <a:pt x="283" y="123"/>
                  <a:pt x="289" y="92"/>
                  <a:pt x="298" y="69"/>
                </a:cubicBezTo>
                <a:cubicBezTo>
                  <a:pt x="306" y="47"/>
                  <a:pt x="318" y="29"/>
                  <a:pt x="333" y="18"/>
                </a:cubicBezTo>
                <a:cubicBezTo>
                  <a:pt x="349" y="6"/>
                  <a:pt x="370" y="0"/>
                  <a:pt x="397" y="0"/>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04" name="path"/>
          <p:cNvSpPr/>
          <p:nvPr/>
        </p:nvSpPr>
        <p:spPr>
          <a:xfrm>
            <a:off x="642937" y="4891023"/>
            <a:ext cx="325437" cy="330200"/>
          </a:xfrm>
          <a:custGeom>
            <a:avLst/>
            <a:gdLst/>
            <a:ahLst/>
            <a:cxnLst/>
            <a:rect l="0" t="0" r="0" b="0"/>
            <a:pathLst>
              <a:path w="512" h="520">
                <a:moveTo>
                  <a:pt x="0" y="8"/>
                </a:moveTo>
                <a:cubicBezTo>
                  <a:pt x="88" y="8"/>
                  <a:pt x="177" y="8"/>
                  <a:pt x="265" y="8"/>
                </a:cubicBezTo>
                <a:cubicBezTo>
                  <a:pt x="265" y="45"/>
                  <a:pt x="265" y="81"/>
                  <a:pt x="265" y="117"/>
                </a:cubicBezTo>
                <a:cubicBezTo>
                  <a:pt x="210" y="117"/>
                  <a:pt x="154" y="117"/>
                  <a:pt x="99" y="117"/>
                </a:cubicBezTo>
                <a:cubicBezTo>
                  <a:pt x="99" y="145"/>
                  <a:pt x="99" y="172"/>
                  <a:pt x="99" y="199"/>
                </a:cubicBezTo>
                <a:cubicBezTo>
                  <a:pt x="150" y="199"/>
                  <a:pt x="202" y="199"/>
                  <a:pt x="253" y="199"/>
                </a:cubicBezTo>
                <a:cubicBezTo>
                  <a:pt x="253" y="233"/>
                  <a:pt x="253" y="268"/>
                  <a:pt x="253" y="303"/>
                </a:cubicBezTo>
                <a:cubicBezTo>
                  <a:pt x="202" y="303"/>
                  <a:pt x="150" y="303"/>
                  <a:pt x="99" y="303"/>
                </a:cubicBezTo>
                <a:cubicBezTo>
                  <a:pt x="99" y="337"/>
                  <a:pt x="99" y="370"/>
                  <a:pt x="99" y="404"/>
                </a:cubicBezTo>
                <a:cubicBezTo>
                  <a:pt x="156" y="404"/>
                  <a:pt x="213" y="404"/>
                  <a:pt x="270" y="404"/>
                </a:cubicBezTo>
                <a:cubicBezTo>
                  <a:pt x="270" y="443"/>
                  <a:pt x="270" y="481"/>
                  <a:pt x="270" y="520"/>
                </a:cubicBezTo>
                <a:cubicBezTo>
                  <a:pt x="180" y="520"/>
                  <a:pt x="90" y="520"/>
                  <a:pt x="0" y="520"/>
                </a:cubicBezTo>
                <a:cubicBezTo>
                  <a:pt x="0" y="349"/>
                  <a:pt x="0" y="179"/>
                  <a:pt x="0" y="8"/>
                </a:cubicBezTo>
                <a:moveTo>
                  <a:pt x="438" y="0"/>
                </a:moveTo>
                <a:cubicBezTo>
                  <a:pt x="463" y="0"/>
                  <a:pt x="487" y="0"/>
                  <a:pt x="512" y="0"/>
                </a:cubicBezTo>
                <a:cubicBezTo>
                  <a:pt x="512" y="173"/>
                  <a:pt x="512" y="346"/>
                  <a:pt x="512" y="520"/>
                </a:cubicBezTo>
                <a:cubicBezTo>
                  <a:pt x="482" y="520"/>
                  <a:pt x="452" y="520"/>
                  <a:pt x="422" y="520"/>
                </a:cubicBezTo>
                <a:cubicBezTo>
                  <a:pt x="422" y="406"/>
                  <a:pt x="422" y="293"/>
                  <a:pt x="422" y="179"/>
                </a:cubicBezTo>
                <a:cubicBezTo>
                  <a:pt x="407" y="197"/>
                  <a:pt x="393" y="211"/>
                  <a:pt x="379" y="222"/>
                </a:cubicBezTo>
                <a:cubicBezTo>
                  <a:pt x="366" y="233"/>
                  <a:pt x="349" y="243"/>
                  <a:pt x="328" y="253"/>
                </a:cubicBezTo>
                <a:cubicBezTo>
                  <a:pt x="328" y="214"/>
                  <a:pt x="328" y="176"/>
                  <a:pt x="328" y="137"/>
                </a:cubicBezTo>
                <a:cubicBezTo>
                  <a:pt x="358" y="121"/>
                  <a:pt x="382" y="102"/>
                  <a:pt x="399" y="81"/>
                </a:cubicBezTo>
                <a:cubicBezTo>
                  <a:pt x="416" y="59"/>
                  <a:pt x="429" y="32"/>
                  <a:pt x="438" y="0"/>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05" name="path"/>
          <p:cNvSpPr/>
          <p:nvPr/>
        </p:nvSpPr>
        <p:spPr>
          <a:xfrm>
            <a:off x="1035050" y="1363726"/>
            <a:ext cx="312800" cy="330200"/>
          </a:xfrm>
          <a:custGeom>
            <a:avLst/>
            <a:gdLst/>
            <a:ahLst/>
            <a:cxnLst/>
            <a:rect l="0" t="0" r="0" b="0"/>
            <a:pathLst>
              <a:path w="492" h="520">
                <a:moveTo>
                  <a:pt x="426" y="0"/>
                </a:moveTo>
                <a:cubicBezTo>
                  <a:pt x="448" y="0"/>
                  <a:pt x="470" y="0"/>
                  <a:pt x="492" y="0"/>
                </a:cubicBezTo>
                <a:cubicBezTo>
                  <a:pt x="492" y="170"/>
                  <a:pt x="492" y="340"/>
                  <a:pt x="492" y="511"/>
                </a:cubicBezTo>
                <a:cubicBezTo>
                  <a:pt x="465" y="511"/>
                  <a:pt x="438" y="511"/>
                  <a:pt x="411" y="511"/>
                </a:cubicBezTo>
                <a:cubicBezTo>
                  <a:pt x="411" y="399"/>
                  <a:pt x="411" y="287"/>
                  <a:pt x="411" y="176"/>
                </a:cubicBezTo>
                <a:cubicBezTo>
                  <a:pt x="398" y="193"/>
                  <a:pt x="385" y="207"/>
                  <a:pt x="373" y="218"/>
                </a:cubicBezTo>
                <a:cubicBezTo>
                  <a:pt x="360" y="229"/>
                  <a:pt x="345" y="239"/>
                  <a:pt x="327" y="249"/>
                </a:cubicBezTo>
                <a:cubicBezTo>
                  <a:pt x="327" y="210"/>
                  <a:pt x="327" y="172"/>
                  <a:pt x="327" y="134"/>
                </a:cubicBezTo>
                <a:cubicBezTo>
                  <a:pt x="354" y="119"/>
                  <a:pt x="375" y="100"/>
                  <a:pt x="390" y="79"/>
                </a:cubicBezTo>
                <a:cubicBezTo>
                  <a:pt x="405" y="57"/>
                  <a:pt x="417" y="31"/>
                  <a:pt x="426" y="0"/>
                </a:cubicBezTo>
                <a:moveTo>
                  <a:pt x="145" y="0"/>
                </a:moveTo>
                <a:cubicBezTo>
                  <a:pt x="182" y="0"/>
                  <a:pt x="210" y="12"/>
                  <a:pt x="231" y="38"/>
                </a:cubicBezTo>
                <a:cubicBezTo>
                  <a:pt x="252" y="63"/>
                  <a:pt x="267" y="103"/>
                  <a:pt x="278" y="156"/>
                </a:cubicBezTo>
                <a:cubicBezTo>
                  <a:pt x="251" y="166"/>
                  <a:pt x="225" y="176"/>
                  <a:pt x="199" y="186"/>
                </a:cubicBezTo>
                <a:cubicBezTo>
                  <a:pt x="196" y="171"/>
                  <a:pt x="193" y="160"/>
                  <a:pt x="190" y="153"/>
                </a:cubicBezTo>
                <a:cubicBezTo>
                  <a:pt x="185" y="141"/>
                  <a:pt x="179" y="132"/>
                  <a:pt x="172" y="125"/>
                </a:cubicBezTo>
                <a:cubicBezTo>
                  <a:pt x="165" y="119"/>
                  <a:pt x="157" y="116"/>
                  <a:pt x="148" y="116"/>
                </a:cubicBezTo>
                <a:cubicBezTo>
                  <a:pt x="127" y="116"/>
                  <a:pt x="112" y="130"/>
                  <a:pt x="101" y="158"/>
                </a:cubicBezTo>
                <a:cubicBezTo>
                  <a:pt x="93" y="179"/>
                  <a:pt x="89" y="212"/>
                  <a:pt x="89" y="257"/>
                </a:cubicBezTo>
                <a:cubicBezTo>
                  <a:pt x="89" y="313"/>
                  <a:pt x="94" y="351"/>
                  <a:pt x="103" y="372"/>
                </a:cubicBezTo>
                <a:cubicBezTo>
                  <a:pt x="113" y="392"/>
                  <a:pt x="127" y="403"/>
                  <a:pt x="144" y="403"/>
                </a:cubicBezTo>
                <a:cubicBezTo>
                  <a:pt x="162" y="403"/>
                  <a:pt x="174" y="394"/>
                  <a:pt x="183" y="378"/>
                </a:cubicBezTo>
                <a:cubicBezTo>
                  <a:pt x="192" y="361"/>
                  <a:pt x="198" y="337"/>
                  <a:pt x="202" y="305"/>
                </a:cubicBezTo>
                <a:cubicBezTo>
                  <a:pt x="228" y="319"/>
                  <a:pt x="254" y="332"/>
                  <a:pt x="280" y="346"/>
                </a:cubicBezTo>
                <a:cubicBezTo>
                  <a:pt x="275" y="384"/>
                  <a:pt x="267" y="416"/>
                  <a:pt x="256" y="442"/>
                </a:cubicBezTo>
                <a:cubicBezTo>
                  <a:pt x="244" y="467"/>
                  <a:pt x="230" y="487"/>
                  <a:pt x="213" y="500"/>
                </a:cubicBezTo>
                <a:cubicBezTo>
                  <a:pt x="197" y="513"/>
                  <a:pt x="175" y="520"/>
                  <a:pt x="150" y="520"/>
                </a:cubicBezTo>
                <a:cubicBezTo>
                  <a:pt x="118" y="520"/>
                  <a:pt x="93" y="511"/>
                  <a:pt x="73" y="495"/>
                </a:cubicBezTo>
                <a:cubicBezTo>
                  <a:pt x="53" y="480"/>
                  <a:pt x="36" y="452"/>
                  <a:pt x="21" y="412"/>
                </a:cubicBezTo>
                <a:cubicBezTo>
                  <a:pt x="7" y="372"/>
                  <a:pt x="0" y="320"/>
                  <a:pt x="0" y="258"/>
                </a:cubicBezTo>
                <a:cubicBezTo>
                  <a:pt x="0" y="175"/>
                  <a:pt x="12" y="111"/>
                  <a:pt x="38" y="66"/>
                </a:cubicBezTo>
                <a:cubicBezTo>
                  <a:pt x="63" y="22"/>
                  <a:pt x="99" y="0"/>
                  <a:pt x="145" y="0"/>
                </a:cubicBezTo>
              </a:path>
            </a:pathLst>
          </a:custGeom>
          <a:solidFill>
            <a:srgbClr val="002960">
              <a:alpha val="100000"/>
            </a:srgbClr>
          </a:solidFill>
          <a:ln cap="flat">
            <a:noFill/>
            <a:prstDash val="solid"/>
            <a:miter lim="0"/>
          </a:ln>
        </p:spPr>
        <p:txBody>
          <a:bodyPr rtlCol="0"/>
          <a:lstStyle/>
          <a:p>
            <a:pPr algn="ctr"/>
            <a:endParaRPr lang="zh-CN" altLang="en-US"/>
          </a:p>
        </p:txBody>
      </p:sp>
      <p:sp>
        <p:nvSpPr>
          <p:cNvPr id="106" name="path"/>
          <p:cNvSpPr/>
          <p:nvPr/>
        </p:nvSpPr>
        <p:spPr>
          <a:xfrm>
            <a:off x="676275" y="3738498"/>
            <a:ext cx="312737" cy="328676"/>
          </a:xfrm>
          <a:custGeom>
            <a:avLst/>
            <a:gdLst/>
            <a:ahLst/>
            <a:cxnLst/>
            <a:rect l="0" t="0" r="0" b="0"/>
            <a:pathLst>
              <a:path w="492" h="517">
                <a:moveTo>
                  <a:pt x="385" y="281"/>
                </a:moveTo>
                <a:cubicBezTo>
                  <a:pt x="376" y="281"/>
                  <a:pt x="368" y="288"/>
                  <a:pt x="362" y="301"/>
                </a:cubicBezTo>
                <a:cubicBezTo>
                  <a:pt x="355" y="315"/>
                  <a:pt x="351" y="333"/>
                  <a:pt x="351" y="357"/>
                </a:cubicBezTo>
                <a:cubicBezTo>
                  <a:pt x="351" y="379"/>
                  <a:pt x="355" y="397"/>
                  <a:pt x="362" y="411"/>
                </a:cubicBezTo>
                <a:cubicBezTo>
                  <a:pt x="369" y="425"/>
                  <a:pt x="377" y="432"/>
                  <a:pt x="386" y="432"/>
                </a:cubicBezTo>
                <a:cubicBezTo>
                  <a:pt x="395" y="432"/>
                  <a:pt x="402" y="425"/>
                  <a:pt x="409" y="411"/>
                </a:cubicBezTo>
                <a:cubicBezTo>
                  <a:pt x="416" y="396"/>
                  <a:pt x="419" y="378"/>
                  <a:pt x="419" y="356"/>
                </a:cubicBezTo>
                <a:cubicBezTo>
                  <a:pt x="419" y="334"/>
                  <a:pt x="416" y="316"/>
                  <a:pt x="409" y="302"/>
                </a:cubicBezTo>
                <a:cubicBezTo>
                  <a:pt x="402" y="288"/>
                  <a:pt x="394" y="281"/>
                  <a:pt x="385" y="281"/>
                </a:cubicBezTo>
                <a:moveTo>
                  <a:pt x="385" y="84"/>
                </a:moveTo>
                <a:cubicBezTo>
                  <a:pt x="376" y="84"/>
                  <a:pt x="369" y="90"/>
                  <a:pt x="364" y="100"/>
                </a:cubicBezTo>
                <a:cubicBezTo>
                  <a:pt x="358" y="111"/>
                  <a:pt x="355" y="125"/>
                  <a:pt x="355" y="141"/>
                </a:cubicBezTo>
                <a:cubicBezTo>
                  <a:pt x="355" y="158"/>
                  <a:pt x="358" y="172"/>
                  <a:pt x="364" y="183"/>
                </a:cubicBezTo>
                <a:cubicBezTo>
                  <a:pt x="369" y="194"/>
                  <a:pt x="377" y="199"/>
                  <a:pt x="386" y="199"/>
                </a:cubicBezTo>
                <a:cubicBezTo>
                  <a:pt x="395" y="199"/>
                  <a:pt x="401" y="194"/>
                  <a:pt x="407" y="183"/>
                </a:cubicBezTo>
                <a:cubicBezTo>
                  <a:pt x="412" y="173"/>
                  <a:pt x="415" y="159"/>
                  <a:pt x="415" y="143"/>
                </a:cubicBezTo>
                <a:cubicBezTo>
                  <a:pt x="415" y="125"/>
                  <a:pt x="412" y="111"/>
                  <a:pt x="406" y="101"/>
                </a:cubicBezTo>
                <a:cubicBezTo>
                  <a:pt x="401" y="90"/>
                  <a:pt x="394" y="84"/>
                  <a:pt x="385" y="84"/>
                </a:cubicBezTo>
                <a:moveTo>
                  <a:pt x="381" y="0"/>
                </a:moveTo>
                <a:cubicBezTo>
                  <a:pt x="416" y="0"/>
                  <a:pt x="442" y="12"/>
                  <a:pt x="459" y="38"/>
                </a:cubicBezTo>
                <a:cubicBezTo>
                  <a:pt x="475" y="63"/>
                  <a:pt x="483" y="96"/>
                  <a:pt x="483" y="134"/>
                </a:cubicBezTo>
                <a:cubicBezTo>
                  <a:pt x="483" y="157"/>
                  <a:pt x="480" y="178"/>
                  <a:pt x="474" y="197"/>
                </a:cubicBezTo>
                <a:cubicBezTo>
                  <a:pt x="469" y="212"/>
                  <a:pt x="461" y="226"/>
                  <a:pt x="450" y="240"/>
                </a:cubicBezTo>
                <a:cubicBezTo>
                  <a:pt x="464" y="252"/>
                  <a:pt x="475" y="270"/>
                  <a:pt x="482" y="291"/>
                </a:cubicBezTo>
                <a:cubicBezTo>
                  <a:pt x="489" y="312"/>
                  <a:pt x="492" y="336"/>
                  <a:pt x="492" y="362"/>
                </a:cubicBezTo>
                <a:cubicBezTo>
                  <a:pt x="492" y="387"/>
                  <a:pt x="489" y="411"/>
                  <a:pt x="483" y="432"/>
                </a:cubicBezTo>
                <a:cubicBezTo>
                  <a:pt x="477" y="454"/>
                  <a:pt x="470" y="471"/>
                  <a:pt x="461" y="483"/>
                </a:cubicBezTo>
                <a:cubicBezTo>
                  <a:pt x="452" y="495"/>
                  <a:pt x="442" y="503"/>
                  <a:pt x="429" y="509"/>
                </a:cubicBezTo>
                <a:cubicBezTo>
                  <a:pt x="416" y="514"/>
                  <a:pt x="402" y="517"/>
                  <a:pt x="387" y="517"/>
                </a:cubicBezTo>
                <a:cubicBezTo>
                  <a:pt x="360" y="517"/>
                  <a:pt x="339" y="511"/>
                  <a:pt x="324" y="498"/>
                </a:cubicBezTo>
                <a:cubicBezTo>
                  <a:pt x="309" y="486"/>
                  <a:pt x="298" y="467"/>
                  <a:pt x="291" y="443"/>
                </a:cubicBezTo>
                <a:cubicBezTo>
                  <a:pt x="283" y="419"/>
                  <a:pt x="279" y="392"/>
                  <a:pt x="279" y="362"/>
                </a:cubicBezTo>
                <a:cubicBezTo>
                  <a:pt x="279" y="332"/>
                  <a:pt x="283" y="307"/>
                  <a:pt x="290" y="287"/>
                </a:cubicBezTo>
                <a:cubicBezTo>
                  <a:pt x="297" y="267"/>
                  <a:pt x="308" y="251"/>
                  <a:pt x="323" y="240"/>
                </a:cubicBezTo>
                <a:cubicBezTo>
                  <a:pt x="312" y="228"/>
                  <a:pt x="303" y="215"/>
                  <a:pt x="298" y="201"/>
                </a:cubicBezTo>
                <a:cubicBezTo>
                  <a:pt x="291" y="181"/>
                  <a:pt x="287" y="158"/>
                  <a:pt x="287" y="133"/>
                </a:cubicBezTo>
                <a:cubicBezTo>
                  <a:pt x="287" y="91"/>
                  <a:pt x="298" y="57"/>
                  <a:pt x="318" y="30"/>
                </a:cubicBezTo>
                <a:cubicBezTo>
                  <a:pt x="334" y="10"/>
                  <a:pt x="355" y="0"/>
                  <a:pt x="381" y="0"/>
                </a:cubicBezTo>
                <a:moveTo>
                  <a:pt x="131" y="0"/>
                </a:moveTo>
                <a:cubicBezTo>
                  <a:pt x="164" y="0"/>
                  <a:pt x="190" y="12"/>
                  <a:pt x="208" y="38"/>
                </a:cubicBezTo>
                <a:cubicBezTo>
                  <a:pt x="227" y="63"/>
                  <a:pt x="241" y="102"/>
                  <a:pt x="250" y="155"/>
                </a:cubicBezTo>
                <a:cubicBezTo>
                  <a:pt x="226" y="165"/>
                  <a:pt x="203" y="176"/>
                  <a:pt x="179" y="186"/>
                </a:cubicBezTo>
                <a:cubicBezTo>
                  <a:pt x="177" y="170"/>
                  <a:pt x="174" y="159"/>
                  <a:pt x="171" y="152"/>
                </a:cubicBezTo>
                <a:cubicBezTo>
                  <a:pt x="167" y="140"/>
                  <a:pt x="161" y="131"/>
                  <a:pt x="155" y="125"/>
                </a:cubicBezTo>
                <a:cubicBezTo>
                  <a:pt x="148" y="118"/>
                  <a:pt x="141" y="115"/>
                  <a:pt x="133" y="115"/>
                </a:cubicBezTo>
                <a:cubicBezTo>
                  <a:pt x="115" y="115"/>
                  <a:pt x="101" y="130"/>
                  <a:pt x="91" y="158"/>
                </a:cubicBezTo>
                <a:cubicBezTo>
                  <a:pt x="84" y="178"/>
                  <a:pt x="80" y="211"/>
                  <a:pt x="80" y="256"/>
                </a:cubicBezTo>
                <a:cubicBezTo>
                  <a:pt x="80" y="312"/>
                  <a:pt x="84" y="350"/>
                  <a:pt x="93" y="370"/>
                </a:cubicBezTo>
                <a:cubicBezTo>
                  <a:pt x="102" y="391"/>
                  <a:pt x="114" y="401"/>
                  <a:pt x="130" y="401"/>
                </a:cubicBezTo>
                <a:cubicBezTo>
                  <a:pt x="145" y="401"/>
                  <a:pt x="157" y="393"/>
                  <a:pt x="165" y="376"/>
                </a:cubicBezTo>
                <a:cubicBezTo>
                  <a:pt x="173" y="360"/>
                  <a:pt x="179" y="335"/>
                  <a:pt x="182" y="304"/>
                </a:cubicBezTo>
                <a:cubicBezTo>
                  <a:pt x="206" y="318"/>
                  <a:pt x="229" y="331"/>
                  <a:pt x="253" y="345"/>
                </a:cubicBezTo>
                <a:cubicBezTo>
                  <a:pt x="248" y="383"/>
                  <a:pt x="240" y="415"/>
                  <a:pt x="230" y="440"/>
                </a:cubicBezTo>
                <a:cubicBezTo>
                  <a:pt x="220" y="466"/>
                  <a:pt x="207" y="485"/>
                  <a:pt x="192" y="498"/>
                </a:cubicBezTo>
                <a:cubicBezTo>
                  <a:pt x="177" y="511"/>
                  <a:pt x="158" y="517"/>
                  <a:pt x="135" y="517"/>
                </a:cubicBezTo>
                <a:cubicBezTo>
                  <a:pt x="106" y="517"/>
                  <a:pt x="83" y="509"/>
                  <a:pt x="65" y="493"/>
                </a:cubicBezTo>
                <a:cubicBezTo>
                  <a:pt x="47" y="478"/>
                  <a:pt x="32" y="450"/>
                  <a:pt x="19" y="410"/>
                </a:cubicBezTo>
                <a:cubicBezTo>
                  <a:pt x="6" y="370"/>
                  <a:pt x="0" y="319"/>
                  <a:pt x="0" y="257"/>
                </a:cubicBezTo>
                <a:cubicBezTo>
                  <a:pt x="0" y="174"/>
                  <a:pt x="11" y="111"/>
                  <a:pt x="34" y="66"/>
                </a:cubicBezTo>
                <a:cubicBezTo>
                  <a:pt x="57" y="22"/>
                  <a:pt x="89" y="0"/>
                  <a:pt x="131" y="0"/>
                </a:cubicBezTo>
              </a:path>
            </a:pathLst>
          </a:custGeom>
          <a:solidFill>
            <a:srgbClr val="002960">
              <a:alpha val="100000"/>
            </a:srgbClr>
          </a:solidFill>
          <a:ln cap="flat">
            <a:noFill/>
            <a:prstDash val="solid"/>
            <a:miter lim="0"/>
          </a:ln>
        </p:spPr>
        <p:txBody>
          <a:bodyPr rtlCol="0"/>
          <a:lstStyle/>
          <a:p>
            <a:pPr algn="ctr"/>
            <a:endParaRPr lang="zh-CN" altLang="en-US"/>
          </a:p>
        </p:txBody>
      </p:sp>
      <p:sp>
        <p:nvSpPr>
          <p:cNvPr id="107" name="path"/>
          <p:cNvSpPr/>
          <p:nvPr/>
        </p:nvSpPr>
        <p:spPr>
          <a:xfrm>
            <a:off x="1039812" y="3186049"/>
            <a:ext cx="311213" cy="328675"/>
          </a:xfrm>
          <a:custGeom>
            <a:avLst/>
            <a:gdLst/>
            <a:ahLst/>
            <a:cxnLst/>
            <a:rect l="0" t="0" r="0" b="0"/>
            <a:pathLst>
              <a:path w="490" h="517">
                <a:moveTo>
                  <a:pt x="396" y="150"/>
                </a:moveTo>
                <a:cubicBezTo>
                  <a:pt x="373" y="202"/>
                  <a:pt x="350" y="255"/>
                  <a:pt x="328" y="307"/>
                </a:cubicBezTo>
                <a:cubicBezTo>
                  <a:pt x="350" y="307"/>
                  <a:pt x="373" y="307"/>
                  <a:pt x="396" y="307"/>
                </a:cubicBezTo>
                <a:cubicBezTo>
                  <a:pt x="396" y="255"/>
                  <a:pt x="396" y="202"/>
                  <a:pt x="396" y="150"/>
                </a:cubicBezTo>
                <a:moveTo>
                  <a:pt x="396" y="0"/>
                </a:moveTo>
                <a:cubicBezTo>
                  <a:pt x="416" y="0"/>
                  <a:pt x="437" y="0"/>
                  <a:pt x="457" y="0"/>
                </a:cubicBezTo>
                <a:cubicBezTo>
                  <a:pt x="457" y="102"/>
                  <a:pt x="457" y="205"/>
                  <a:pt x="457" y="307"/>
                </a:cubicBezTo>
                <a:cubicBezTo>
                  <a:pt x="468" y="307"/>
                  <a:pt x="479" y="307"/>
                  <a:pt x="490" y="307"/>
                </a:cubicBezTo>
                <a:cubicBezTo>
                  <a:pt x="490" y="343"/>
                  <a:pt x="490" y="379"/>
                  <a:pt x="490" y="415"/>
                </a:cubicBezTo>
                <a:cubicBezTo>
                  <a:pt x="479" y="415"/>
                  <a:pt x="468" y="415"/>
                  <a:pt x="457" y="415"/>
                </a:cubicBezTo>
                <a:cubicBezTo>
                  <a:pt x="457" y="446"/>
                  <a:pt x="457" y="477"/>
                  <a:pt x="457" y="508"/>
                </a:cubicBezTo>
                <a:cubicBezTo>
                  <a:pt x="437" y="508"/>
                  <a:pt x="416" y="508"/>
                  <a:pt x="396" y="508"/>
                </a:cubicBezTo>
                <a:cubicBezTo>
                  <a:pt x="396" y="477"/>
                  <a:pt x="396" y="446"/>
                  <a:pt x="396" y="415"/>
                </a:cubicBezTo>
                <a:cubicBezTo>
                  <a:pt x="353" y="415"/>
                  <a:pt x="310" y="415"/>
                  <a:pt x="267" y="415"/>
                </a:cubicBezTo>
                <a:cubicBezTo>
                  <a:pt x="267" y="377"/>
                  <a:pt x="267" y="339"/>
                  <a:pt x="267" y="301"/>
                </a:cubicBezTo>
                <a:cubicBezTo>
                  <a:pt x="310" y="200"/>
                  <a:pt x="353" y="100"/>
                  <a:pt x="396" y="0"/>
                </a:cubicBezTo>
                <a:moveTo>
                  <a:pt x="128" y="0"/>
                </a:moveTo>
                <a:cubicBezTo>
                  <a:pt x="161" y="0"/>
                  <a:pt x="186" y="12"/>
                  <a:pt x="204" y="38"/>
                </a:cubicBezTo>
                <a:cubicBezTo>
                  <a:pt x="223" y="63"/>
                  <a:pt x="236" y="102"/>
                  <a:pt x="245" y="155"/>
                </a:cubicBezTo>
                <a:cubicBezTo>
                  <a:pt x="222" y="165"/>
                  <a:pt x="199" y="175"/>
                  <a:pt x="176" y="186"/>
                </a:cubicBezTo>
                <a:cubicBezTo>
                  <a:pt x="173" y="170"/>
                  <a:pt x="171" y="159"/>
                  <a:pt x="168" y="152"/>
                </a:cubicBezTo>
                <a:cubicBezTo>
                  <a:pt x="163" y="140"/>
                  <a:pt x="158" y="131"/>
                  <a:pt x="152" y="125"/>
                </a:cubicBezTo>
                <a:cubicBezTo>
                  <a:pt x="145" y="119"/>
                  <a:pt x="138" y="115"/>
                  <a:pt x="130" y="115"/>
                </a:cubicBezTo>
                <a:cubicBezTo>
                  <a:pt x="112" y="115"/>
                  <a:pt x="99" y="130"/>
                  <a:pt x="89" y="158"/>
                </a:cubicBezTo>
                <a:cubicBezTo>
                  <a:pt x="82" y="179"/>
                  <a:pt x="78" y="211"/>
                  <a:pt x="78" y="256"/>
                </a:cubicBezTo>
                <a:cubicBezTo>
                  <a:pt x="78" y="311"/>
                  <a:pt x="83" y="350"/>
                  <a:pt x="91" y="370"/>
                </a:cubicBezTo>
                <a:cubicBezTo>
                  <a:pt x="100" y="391"/>
                  <a:pt x="112" y="401"/>
                  <a:pt x="128" y="401"/>
                </a:cubicBezTo>
                <a:cubicBezTo>
                  <a:pt x="143" y="401"/>
                  <a:pt x="154" y="393"/>
                  <a:pt x="162" y="376"/>
                </a:cubicBezTo>
                <a:cubicBezTo>
                  <a:pt x="169" y="360"/>
                  <a:pt x="175" y="335"/>
                  <a:pt x="179" y="304"/>
                </a:cubicBezTo>
                <a:cubicBezTo>
                  <a:pt x="202" y="317"/>
                  <a:pt x="225" y="331"/>
                  <a:pt x="248" y="345"/>
                </a:cubicBezTo>
                <a:cubicBezTo>
                  <a:pt x="243" y="383"/>
                  <a:pt x="236" y="415"/>
                  <a:pt x="226" y="440"/>
                </a:cubicBezTo>
                <a:cubicBezTo>
                  <a:pt x="216" y="465"/>
                  <a:pt x="203" y="485"/>
                  <a:pt x="189" y="498"/>
                </a:cubicBezTo>
                <a:cubicBezTo>
                  <a:pt x="174" y="511"/>
                  <a:pt x="155" y="517"/>
                  <a:pt x="132" y="517"/>
                </a:cubicBezTo>
                <a:cubicBezTo>
                  <a:pt x="104" y="517"/>
                  <a:pt x="82" y="509"/>
                  <a:pt x="64" y="493"/>
                </a:cubicBezTo>
                <a:cubicBezTo>
                  <a:pt x="47" y="477"/>
                  <a:pt x="31" y="450"/>
                  <a:pt x="19" y="410"/>
                </a:cubicBezTo>
                <a:cubicBezTo>
                  <a:pt x="6" y="370"/>
                  <a:pt x="0" y="319"/>
                  <a:pt x="0" y="257"/>
                </a:cubicBezTo>
                <a:cubicBezTo>
                  <a:pt x="0" y="174"/>
                  <a:pt x="11" y="111"/>
                  <a:pt x="33" y="66"/>
                </a:cubicBezTo>
                <a:cubicBezTo>
                  <a:pt x="56" y="22"/>
                  <a:pt x="87" y="0"/>
                  <a:pt x="128" y="0"/>
                </a:cubicBezTo>
              </a:path>
            </a:pathLst>
          </a:custGeom>
          <a:solidFill>
            <a:srgbClr val="002960">
              <a:alpha val="100000"/>
            </a:srgbClr>
          </a:solidFill>
          <a:ln cap="flat">
            <a:noFill/>
            <a:prstDash val="solid"/>
            <a:miter lim="0"/>
          </a:ln>
        </p:spPr>
        <p:txBody>
          <a:bodyPr rtlCol="0"/>
          <a:lstStyle/>
          <a:p>
            <a:pPr algn="ctr"/>
            <a:endParaRPr lang="zh-CN" altLang="en-US"/>
          </a:p>
        </p:txBody>
      </p:sp>
      <p:sp>
        <p:nvSpPr>
          <p:cNvPr id="108" name="path"/>
          <p:cNvSpPr/>
          <p:nvPr/>
        </p:nvSpPr>
        <p:spPr>
          <a:xfrm>
            <a:off x="4662551" y="3186049"/>
            <a:ext cx="311150" cy="328675"/>
          </a:xfrm>
          <a:custGeom>
            <a:avLst/>
            <a:gdLst/>
            <a:ahLst/>
            <a:cxnLst/>
            <a:rect l="0" t="0" r="0" b="0"/>
            <a:pathLst>
              <a:path w="490" h="517">
                <a:moveTo>
                  <a:pt x="279" y="8"/>
                </a:moveTo>
                <a:cubicBezTo>
                  <a:pt x="349" y="8"/>
                  <a:pt x="419" y="8"/>
                  <a:pt x="490" y="8"/>
                </a:cubicBezTo>
                <a:cubicBezTo>
                  <a:pt x="490" y="40"/>
                  <a:pt x="490" y="71"/>
                  <a:pt x="490" y="102"/>
                </a:cubicBezTo>
                <a:cubicBezTo>
                  <a:pt x="471" y="134"/>
                  <a:pt x="456" y="168"/>
                  <a:pt x="444" y="205"/>
                </a:cubicBezTo>
                <a:cubicBezTo>
                  <a:pt x="429" y="250"/>
                  <a:pt x="417" y="301"/>
                  <a:pt x="408" y="356"/>
                </a:cubicBezTo>
                <a:cubicBezTo>
                  <a:pt x="402" y="399"/>
                  <a:pt x="397" y="450"/>
                  <a:pt x="395" y="508"/>
                </a:cubicBezTo>
                <a:cubicBezTo>
                  <a:pt x="371" y="508"/>
                  <a:pt x="347" y="508"/>
                  <a:pt x="323" y="508"/>
                </a:cubicBezTo>
                <a:cubicBezTo>
                  <a:pt x="329" y="427"/>
                  <a:pt x="337" y="358"/>
                  <a:pt x="350" y="303"/>
                </a:cubicBezTo>
                <a:cubicBezTo>
                  <a:pt x="362" y="248"/>
                  <a:pt x="381" y="189"/>
                  <a:pt x="407" y="125"/>
                </a:cubicBezTo>
                <a:cubicBezTo>
                  <a:pt x="365" y="125"/>
                  <a:pt x="322" y="125"/>
                  <a:pt x="279" y="125"/>
                </a:cubicBezTo>
                <a:cubicBezTo>
                  <a:pt x="279" y="87"/>
                  <a:pt x="279" y="47"/>
                  <a:pt x="279" y="8"/>
                </a:cubicBezTo>
                <a:moveTo>
                  <a:pt x="130" y="0"/>
                </a:moveTo>
                <a:cubicBezTo>
                  <a:pt x="163" y="0"/>
                  <a:pt x="188" y="12"/>
                  <a:pt x="207" y="38"/>
                </a:cubicBezTo>
                <a:cubicBezTo>
                  <a:pt x="226" y="63"/>
                  <a:pt x="240" y="102"/>
                  <a:pt x="249" y="155"/>
                </a:cubicBezTo>
                <a:cubicBezTo>
                  <a:pt x="225" y="165"/>
                  <a:pt x="202" y="175"/>
                  <a:pt x="178" y="186"/>
                </a:cubicBezTo>
                <a:cubicBezTo>
                  <a:pt x="176" y="170"/>
                  <a:pt x="173" y="159"/>
                  <a:pt x="170" y="152"/>
                </a:cubicBezTo>
                <a:cubicBezTo>
                  <a:pt x="166" y="140"/>
                  <a:pt x="160" y="131"/>
                  <a:pt x="154" y="125"/>
                </a:cubicBezTo>
                <a:cubicBezTo>
                  <a:pt x="147" y="119"/>
                  <a:pt x="140" y="115"/>
                  <a:pt x="132" y="115"/>
                </a:cubicBezTo>
                <a:cubicBezTo>
                  <a:pt x="114" y="115"/>
                  <a:pt x="100" y="130"/>
                  <a:pt x="90" y="158"/>
                </a:cubicBezTo>
                <a:cubicBezTo>
                  <a:pt x="83" y="179"/>
                  <a:pt x="80" y="211"/>
                  <a:pt x="80" y="256"/>
                </a:cubicBezTo>
                <a:cubicBezTo>
                  <a:pt x="80" y="311"/>
                  <a:pt x="84" y="350"/>
                  <a:pt x="93" y="370"/>
                </a:cubicBezTo>
                <a:cubicBezTo>
                  <a:pt x="101" y="391"/>
                  <a:pt x="114" y="401"/>
                  <a:pt x="130" y="401"/>
                </a:cubicBezTo>
                <a:cubicBezTo>
                  <a:pt x="145" y="401"/>
                  <a:pt x="156" y="393"/>
                  <a:pt x="164" y="376"/>
                </a:cubicBezTo>
                <a:cubicBezTo>
                  <a:pt x="172" y="360"/>
                  <a:pt x="178" y="335"/>
                  <a:pt x="181" y="304"/>
                </a:cubicBezTo>
                <a:cubicBezTo>
                  <a:pt x="204" y="317"/>
                  <a:pt x="228" y="331"/>
                  <a:pt x="251" y="345"/>
                </a:cubicBezTo>
                <a:cubicBezTo>
                  <a:pt x="247" y="383"/>
                  <a:pt x="239" y="415"/>
                  <a:pt x="229" y="440"/>
                </a:cubicBezTo>
                <a:cubicBezTo>
                  <a:pt x="219" y="465"/>
                  <a:pt x="206" y="485"/>
                  <a:pt x="191" y="498"/>
                </a:cubicBezTo>
                <a:cubicBezTo>
                  <a:pt x="176" y="511"/>
                  <a:pt x="157" y="517"/>
                  <a:pt x="134" y="517"/>
                </a:cubicBezTo>
                <a:cubicBezTo>
                  <a:pt x="106" y="517"/>
                  <a:pt x="83" y="509"/>
                  <a:pt x="65" y="493"/>
                </a:cubicBezTo>
                <a:cubicBezTo>
                  <a:pt x="47" y="477"/>
                  <a:pt x="32" y="450"/>
                  <a:pt x="19" y="410"/>
                </a:cubicBezTo>
                <a:cubicBezTo>
                  <a:pt x="6" y="370"/>
                  <a:pt x="0" y="319"/>
                  <a:pt x="0" y="257"/>
                </a:cubicBezTo>
                <a:cubicBezTo>
                  <a:pt x="0" y="174"/>
                  <a:pt x="11" y="111"/>
                  <a:pt x="33" y="66"/>
                </a:cubicBezTo>
                <a:cubicBezTo>
                  <a:pt x="56" y="22"/>
                  <a:pt x="89" y="0"/>
                  <a:pt x="130" y="0"/>
                </a:cubicBezTo>
              </a:path>
            </a:pathLst>
          </a:custGeom>
          <a:solidFill>
            <a:srgbClr val="002960">
              <a:alpha val="100000"/>
            </a:srgbClr>
          </a:solidFill>
          <a:ln cap="flat">
            <a:noFill/>
            <a:prstDash val="solid"/>
            <a:miter lim="0"/>
          </a:ln>
        </p:spPr>
        <p:txBody>
          <a:bodyPr rtlCol="0"/>
          <a:lstStyle/>
          <a:p>
            <a:pPr algn="ctr"/>
            <a:endParaRPr lang="zh-CN" altLang="en-US"/>
          </a:p>
        </p:txBody>
      </p:sp>
      <p:sp>
        <p:nvSpPr>
          <p:cNvPr id="109" name="path"/>
          <p:cNvSpPr/>
          <p:nvPr/>
        </p:nvSpPr>
        <p:spPr>
          <a:xfrm>
            <a:off x="4697475" y="5465762"/>
            <a:ext cx="311150" cy="328612"/>
          </a:xfrm>
          <a:custGeom>
            <a:avLst/>
            <a:gdLst/>
            <a:ahLst/>
            <a:cxnLst/>
            <a:rect l="0" t="0" r="0" b="0"/>
            <a:pathLst>
              <a:path w="490" h="517">
                <a:moveTo>
                  <a:pt x="390" y="152"/>
                </a:moveTo>
                <a:cubicBezTo>
                  <a:pt x="366" y="205"/>
                  <a:pt x="342" y="259"/>
                  <a:pt x="318" y="312"/>
                </a:cubicBezTo>
                <a:cubicBezTo>
                  <a:pt x="342" y="312"/>
                  <a:pt x="366" y="312"/>
                  <a:pt x="390" y="312"/>
                </a:cubicBezTo>
                <a:cubicBezTo>
                  <a:pt x="390" y="259"/>
                  <a:pt x="390" y="205"/>
                  <a:pt x="390" y="152"/>
                </a:cubicBezTo>
                <a:moveTo>
                  <a:pt x="0" y="8"/>
                </a:moveTo>
                <a:cubicBezTo>
                  <a:pt x="74" y="8"/>
                  <a:pt x="149" y="8"/>
                  <a:pt x="224" y="8"/>
                </a:cubicBezTo>
                <a:cubicBezTo>
                  <a:pt x="224" y="44"/>
                  <a:pt x="224" y="81"/>
                  <a:pt x="224" y="117"/>
                </a:cubicBezTo>
                <a:cubicBezTo>
                  <a:pt x="177" y="117"/>
                  <a:pt x="130" y="117"/>
                  <a:pt x="83" y="117"/>
                </a:cubicBezTo>
                <a:cubicBezTo>
                  <a:pt x="83" y="144"/>
                  <a:pt x="83" y="171"/>
                  <a:pt x="83" y="198"/>
                </a:cubicBezTo>
                <a:cubicBezTo>
                  <a:pt x="127" y="198"/>
                  <a:pt x="170" y="198"/>
                  <a:pt x="213" y="198"/>
                </a:cubicBezTo>
                <a:cubicBezTo>
                  <a:pt x="213" y="232"/>
                  <a:pt x="213" y="267"/>
                  <a:pt x="213" y="301"/>
                </a:cubicBezTo>
                <a:cubicBezTo>
                  <a:pt x="170" y="301"/>
                  <a:pt x="127" y="301"/>
                  <a:pt x="83" y="301"/>
                </a:cubicBezTo>
                <a:cubicBezTo>
                  <a:pt x="83" y="335"/>
                  <a:pt x="83" y="368"/>
                  <a:pt x="83" y="402"/>
                </a:cubicBezTo>
                <a:cubicBezTo>
                  <a:pt x="131" y="402"/>
                  <a:pt x="179" y="402"/>
                  <a:pt x="228" y="402"/>
                </a:cubicBezTo>
                <a:cubicBezTo>
                  <a:pt x="228" y="440"/>
                  <a:pt x="228" y="479"/>
                  <a:pt x="228" y="517"/>
                </a:cubicBezTo>
                <a:cubicBezTo>
                  <a:pt x="152" y="517"/>
                  <a:pt x="76" y="517"/>
                  <a:pt x="0" y="517"/>
                </a:cubicBezTo>
                <a:cubicBezTo>
                  <a:pt x="0" y="347"/>
                  <a:pt x="0" y="178"/>
                  <a:pt x="0" y="8"/>
                </a:cubicBezTo>
                <a:moveTo>
                  <a:pt x="390" y="0"/>
                </a:moveTo>
                <a:cubicBezTo>
                  <a:pt x="412" y="0"/>
                  <a:pt x="434" y="0"/>
                  <a:pt x="456" y="0"/>
                </a:cubicBezTo>
                <a:cubicBezTo>
                  <a:pt x="456" y="104"/>
                  <a:pt x="456" y="208"/>
                  <a:pt x="456" y="312"/>
                </a:cubicBezTo>
                <a:cubicBezTo>
                  <a:pt x="467" y="312"/>
                  <a:pt x="478" y="312"/>
                  <a:pt x="490" y="312"/>
                </a:cubicBezTo>
                <a:cubicBezTo>
                  <a:pt x="490" y="349"/>
                  <a:pt x="490" y="385"/>
                  <a:pt x="490" y="422"/>
                </a:cubicBezTo>
                <a:cubicBezTo>
                  <a:pt x="478" y="422"/>
                  <a:pt x="467" y="422"/>
                  <a:pt x="456" y="422"/>
                </a:cubicBezTo>
                <a:cubicBezTo>
                  <a:pt x="456" y="454"/>
                  <a:pt x="456" y="485"/>
                  <a:pt x="456" y="517"/>
                </a:cubicBezTo>
                <a:cubicBezTo>
                  <a:pt x="434" y="517"/>
                  <a:pt x="412" y="517"/>
                  <a:pt x="390" y="517"/>
                </a:cubicBezTo>
                <a:cubicBezTo>
                  <a:pt x="390" y="485"/>
                  <a:pt x="390" y="454"/>
                  <a:pt x="390" y="422"/>
                </a:cubicBezTo>
                <a:cubicBezTo>
                  <a:pt x="344" y="422"/>
                  <a:pt x="299" y="422"/>
                  <a:pt x="253" y="422"/>
                </a:cubicBezTo>
                <a:cubicBezTo>
                  <a:pt x="253" y="383"/>
                  <a:pt x="253" y="344"/>
                  <a:pt x="253" y="306"/>
                </a:cubicBezTo>
                <a:cubicBezTo>
                  <a:pt x="299" y="204"/>
                  <a:pt x="344" y="102"/>
                  <a:pt x="390" y="0"/>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10" name="path"/>
          <p:cNvSpPr/>
          <p:nvPr/>
        </p:nvSpPr>
        <p:spPr>
          <a:xfrm>
            <a:off x="4694301" y="4894326"/>
            <a:ext cx="311150" cy="328549"/>
          </a:xfrm>
          <a:custGeom>
            <a:avLst/>
            <a:gdLst/>
            <a:ahLst/>
            <a:cxnLst/>
            <a:rect l="0" t="0" r="0" b="0"/>
            <a:pathLst>
              <a:path w="490" h="517">
                <a:moveTo>
                  <a:pt x="0" y="8"/>
                </a:moveTo>
                <a:cubicBezTo>
                  <a:pt x="75" y="8"/>
                  <a:pt x="151" y="8"/>
                  <a:pt x="227" y="8"/>
                </a:cubicBezTo>
                <a:cubicBezTo>
                  <a:pt x="227" y="43"/>
                  <a:pt x="227" y="79"/>
                  <a:pt x="227" y="115"/>
                </a:cubicBezTo>
                <a:cubicBezTo>
                  <a:pt x="179" y="115"/>
                  <a:pt x="132" y="115"/>
                  <a:pt x="84" y="115"/>
                </a:cubicBezTo>
                <a:cubicBezTo>
                  <a:pt x="84" y="141"/>
                  <a:pt x="84" y="168"/>
                  <a:pt x="84" y="194"/>
                </a:cubicBezTo>
                <a:cubicBezTo>
                  <a:pt x="128" y="194"/>
                  <a:pt x="172" y="194"/>
                  <a:pt x="216" y="194"/>
                </a:cubicBezTo>
                <a:cubicBezTo>
                  <a:pt x="216" y="228"/>
                  <a:pt x="216" y="262"/>
                  <a:pt x="216" y="296"/>
                </a:cubicBezTo>
                <a:cubicBezTo>
                  <a:pt x="172" y="296"/>
                  <a:pt x="128" y="296"/>
                  <a:pt x="84" y="296"/>
                </a:cubicBezTo>
                <a:cubicBezTo>
                  <a:pt x="84" y="329"/>
                  <a:pt x="84" y="362"/>
                  <a:pt x="84" y="395"/>
                </a:cubicBezTo>
                <a:cubicBezTo>
                  <a:pt x="133" y="395"/>
                  <a:pt x="182" y="395"/>
                  <a:pt x="231" y="395"/>
                </a:cubicBezTo>
                <a:cubicBezTo>
                  <a:pt x="231" y="433"/>
                  <a:pt x="231" y="471"/>
                  <a:pt x="231" y="508"/>
                </a:cubicBezTo>
                <a:cubicBezTo>
                  <a:pt x="154" y="508"/>
                  <a:pt x="76" y="508"/>
                  <a:pt x="0" y="508"/>
                </a:cubicBezTo>
                <a:cubicBezTo>
                  <a:pt x="0" y="342"/>
                  <a:pt x="0" y="175"/>
                  <a:pt x="0" y="8"/>
                </a:cubicBezTo>
                <a:moveTo>
                  <a:pt x="374" y="0"/>
                </a:moveTo>
                <a:cubicBezTo>
                  <a:pt x="410" y="0"/>
                  <a:pt x="435" y="12"/>
                  <a:pt x="451" y="36"/>
                </a:cubicBezTo>
                <a:cubicBezTo>
                  <a:pt x="467" y="60"/>
                  <a:pt x="475" y="91"/>
                  <a:pt x="475" y="128"/>
                </a:cubicBezTo>
                <a:cubicBezTo>
                  <a:pt x="475" y="149"/>
                  <a:pt x="472" y="169"/>
                  <a:pt x="466" y="187"/>
                </a:cubicBezTo>
                <a:cubicBezTo>
                  <a:pt x="459" y="204"/>
                  <a:pt x="449" y="219"/>
                  <a:pt x="436" y="232"/>
                </a:cubicBezTo>
                <a:cubicBezTo>
                  <a:pt x="447" y="237"/>
                  <a:pt x="455" y="243"/>
                  <a:pt x="460" y="249"/>
                </a:cubicBezTo>
                <a:cubicBezTo>
                  <a:pt x="470" y="260"/>
                  <a:pt x="477" y="273"/>
                  <a:pt x="482" y="290"/>
                </a:cubicBezTo>
                <a:cubicBezTo>
                  <a:pt x="487" y="307"/>
                  <a:pt x="490" y="327"/>
                  <a:pt x="490" y="350"/>
                </a:cubicBezTo>
                <a:cubicBezTo>
                  <a:pt x="490" y="379"/>
                  <a:pt x="485" y="407"/>
                  <a:pt x="477" y="434"/>
                </a:cubicBezTo>
                <a:cubicBezTo>
                  <a:pt x="468" y="460"/>
                  <a:pt x="456" y="481"/>
                  <a:pt x="441" y="495"/>
                </a:cubicBezTo>
                <a:cubicBezTo>
                  <a:pt x="425" y="510"/>
                  <a:pt x="404" y="517"/>
                  <a:pt x="379" y="517"/>
                </a:cubicBezTo>
                <a:cubicBezTo>
                  <a:pt x="354" y="517"/>
                  <a:pt x="334" y="512"/>
                  <a:pt x="320" y="501"/>
                </a:cubicBezTo>
                <a:cubicBezTo>
                  <a:pt x="305" y="490"/>
                  <a:pt x="293" y="475"/>
                  <a:pt x="284" y="454"/>
                </a:cubicBezTo>
                <a:cubicBezTo>
                  <a:pt x="275" y="433"/>
                  <a:pt x="267" y="408"/>
                  <a:pt x="262" y="376"/>
                </a:cubicBezTo>
                <a:cubicBezTo>
                  <a:pt x="288" y="370"/>
                  <a:pt x="313" y="364"/>
                  <a:pt x="339" y="358"/>
                </a:cubicBezTo>
                <a:cubicBezTo>
                  <a:pt x="342" y="386"/>
                  <a:pt x="346" y="405"/>
                  <a:pt x="353" y="416"/>
                </a:cubicBezTo>
                <a:cubicBezTo>
                  <a:pt x="359" y="427"/>
                  <a:pt x="367" y="432"/>
                  <a:pt x="377" y="432"/>
                </a:cubicBezTo>
                <a:cubicBezTo>
                  <a:pt x="387" y="432"/>
                  <a:pt x="395" y="426"/>
                  <a:pt x="402" y="412"/>
                </a:cubicBezTo>
                <a:cubicBezTo>
                  <a:pt x="409" y="398"/>
                  <a:pt x="412" y="380"/>
                  <a:pt x="412" y="357"/>
                </a:cubicBezTo>
                <a:cubicBezTo>
                  <a:pt x="412" y="334"/>
                  <a:pt x="409" y="316"/>
                  <a:pt x="403" y="303"/>
                </a:cubicBezTo>
                <a:cubicBezTo>
                  <a:pt x="396" y="291"/>
                  <a:pt x="387" y="284"/>
                  <a:pt x="376" y="284"/>
                </a:cubicBezTo>
                <a:cubicBezTo>
                  <a:pt x="370" y="284"/>
                  <a:pt x="362" y="287"/>
                  <a:pt x="351" y="292"/>
                </a:cubicBezTo>
                <a:cubicBezTo>
                  <a:pt x="353" y="259"/>
                  <a:pt x="354" y="226"/>
                  <a:pt x="355" y="193"/>
                </a:cubicBezTo>
                <a:cubicBezTo>
                  <a:pt x="360" y="194"/>
                  <a:pt x="363" y="195"/>
                  <a:pt x="365" y="195"/>
                </a:cubicBezTo>
                <a:cubicBezTo>
                  <a:pt x="375" y="195"/>
                  <a:pt x="383" y="189"/>
                  <a:pt x="390" y="177"/>
                </a:cubicBezTo>
                <a:cubicBezTo>
                  <a:pt x="397" y="166"/>
                  <a:pt x="400" y="152"/>
                  <a:pt x="400" y="136"/>
                </a:cubicBezTo>
                <a:cubicBezTo>
                  <a:pt x="400" y="121"/>
                  <a:pt x="398" y="108"/>
                  <a:pt x="393" y="100"/>
                </a:cubicBezTo>
                <a:cubicBezTo>
                  <a:pt x="388" y="90"/>
                  <a:pt x="381" y="86"/>
                  <a:pt x="372" y="86"/>
                </a:cubicBezTo>
                <a:cubicBezTo>
                  <a:pt x="363" y="86"/>
                  <a:pt x="356" y="91"/>
                  <a:pt x="350" y="101"/>
                </a:cubicBezTo>
                <a:cubicBezTo>
                  <a:pt x="344" y="111"/>
                  <a:pt x="341" y="128"/>
                  <a:pt x="339" y="153"/>
                </a:cubicBezTo>
                <a:cubicBezTo>
                  <a:pt x="315" y="145"/>
                  <a:pt x="291" y="137"/>
                  <a:pt x="267" y="129"/>
                </a:cubicBezTo>
                <a:cubicBezTo>
                  <a:pt x="273" y="87"/>
                  <a:pt x="284" y="55"/>
                  <a:pt x="301" y="33"/>
                </a:cubicBezTo>
                <a:cubicBezTo>
                  <a:pt x="318" y="11"/>
                  <a:pt x="342" y="0"/>
                  <a:pt x="374" y="0"/>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11" name="path"/>
          <p:cNvSpPr/>
          <p:nvPr/>
        </p:nvSpPr>
        <p:spPr>
          <a:xfrm>
            <a:off x="4662551" y="2576576"/>
            <a:ext cx="311150" cy="328548"/>
          </a:xfrm>
          <a:custGeom>
            <a:avLst/>
            <a:gdLst/>
            <a:ahLst/>
            <a:cxnLst/>
            <a:rect l="0" t="0" r="0" b="0"/>
            <a:pathLst>
              <a:path w="490" h="517">
                <a:moveTo>
                  <a:pt x="387" y="260"/>
                </a:moveTo>
                <a:cubicBezTo>
                  <a:pt x="377" y="260"/>
                  <a:pt x="369" y="268"/>
                  <a:pt x="362" y="282"/>
                </a:cubicBezTo>
                <a:cubicBezTo>
                  <a:pt x="355" y="296"/>
                  <a:pt x="352" y="317"/>
                  <a:pt x="352" y="343"/>
                </a:cubicBezTo>
                <a:cubicBezTo>
                  <a:pt x="352" y="370"/>
                  <a:pt x="356" y="392"/>
                  <a:pt x="363" y="407"/>
                </a:cubicBezTo>
                <a:cubicBezTo>
                  <a:pt x="370" y="422"/>
                  <a:pt x="378" y="430"/>
                  <a:pt x="388" y="430"/>
                </a:cubicBezTo>
                <a:cubicBezTo>
                  <a:pt x="398" y="430"/>
                  <a:pt x="406" y="423"/>
                  <a:pt x="412" y="409"/>
                </a:cubicBezTo>
                <a:cubicBezTo>
                  <a:pt x="418" y="395"/>
                  <a:pt x="422" y="375"/>
                  <a:pt x="422" y="347"/>
                </a:cubicBezTo>
                <a:cubicBezTo>
                  <a:pt x="422" y="319"/>
                  <a:pt x="418" y="297"/>
                  <a:pt x="412" y="283"/>
                </a:cubicBezTo>
                <a:cubicBezTo>
                  <a:pt x="405" y="268"/>
                  <a:pt x="397" y="260"/>
                  <a:pt x="387" y="260"/>
                </a:cubicBezTo>
                <a:moveTo>
                  <a:pt x="388" y="0"/>
                </a:moveTo>
                <a:cubicBezTo>
                  <a:pt x="408" y="0"/>
                  <a:pt x="424" y="4"/>
                  <a:pt x="436" y="13"/>
                </a:cubicBezTo>
                <a:cubicBezTo>
                  <a:pt x="448" y="22"/>
                  <a:pt x="458" y="36"/>
                  <a:pt x="466" y="54"/>
                </a:cubicBezTo>
                <a:cubicBezTo>
                  <a:pt x="474" y="71"/>
                  <a:pt x="480" y="94"/>
                  <a:pt x="484" y="120"/>
                </a:cubicBezTo>
                <a:cubicBezTo>
                  <a:pt x="460" y="126"/>
                  <a:pt x="436" y="132"/>
                  <a:pt x="413" y="138"/>
                </a:cubicBezTo>
                <a:cubicBezTo>
                  <a:pt x="411" y="118"/>
                  <a:pt x="408" y="105"/>
                  <a:pt x="403" y="97"/>
                </a:cubicBezTo>
                <a:cubicBezTo>
                  <a:pt x="399" y="89"/>
                  <a:pt x="393" y="85"/>
                  <a:pt x="387" y="85"/>
                </a:cubicBezTo>
                <a:cubicBezTo>
                  <a:pt x="375" y="85"/>
                  <a:pt x="366" y="96"/>
                  <a:pt x="360" y="119"/>
                </a:cubicBezTo>
                <a:cubicBezTo>
                  <a:pt x="355" y="135"/>
                  <a:pt x="352" y="170"/>
                  <a:pt x="350" y="224"/>
                </a:cubicBezTo>
                <a:cubicBezTo>
                  <a:pt x="358" y="207"/>
                  <a:pt x="367" y="195"/>
                  <a:pt x="376" y="187"/>
                </a:cubicBezTo>
                <a:cubicBezTo>
                  <a:pt x="385" y="178"/>
                  <a:pt x="395" y="174"/>
                  <a:pt x="407" y="174"/>
                </a:cubicBezTo>
                <a:cubicBezTo>
                  <a:pt x="430" y="174"/>
                  <a:pt x="450" y="190"/>
                  <a:pt x="465" y="222"/>
                </a:cubicBezTo>
                <a:cubicBezTo>
                  <a:pt x="482" y="254"/>
                  <a:pt x="490" y="294"/>
                  <a:pt x="490" y="343"/>
                </a:cubicBezTo>
                <a:cubicBezTo>
                  <a:pt x="490" y="376"/>
                  <a:pt x="485" y="407"/>
                  <a:pt x="477" y="434"/>
                </a:cubicBezTo>
                <a:cubicBezTo>
                  <a:pt x="469" y="461"/>
                  <a:pt x="458" y="482"/>
                  <a:pt x="444" y="496"/>
                </a:cubicBezTo>
                <a:cubicBezTo>
                  <a:pt x="430" y="510"/>
                  <a:pt x="412" y="517"/>
                  <a:pt x="390" y="517"/>
                </a:cubicBezTo>
                <a:cubicBezTo>
                  <a:pt x="365" y="517"/>
                  <a:pt x="344" y="508"/>
                  <a:pt x="328" y="491"/>
                </a:cubicBezTo>
                <a:cubicBezTo>
                  <a:pt x="313" y="474"/>
                  <a:pt x="300" y="447"/>
                  <a:pt x="291" y="410"/>
                </a:cubicBezTo>
                <a:cubicBezTo>
                  <a:pt x="282" y="372"/>
                  <a:pt x="277" y="322"/>
                  <a:pt x="277" y="261"/>
                </a:cubicBezTo>
                <a:cubicBezTo>
                  <a:pt x="277" y="170"/>
                  <a:pt x="287" y="104"/>
                  <a:pt x="306" y="62"/>
                </a:cubicBezTo>
                <a:cubicBezTo>
                  <a:pt x="326" y="20"/>
                  <a:pt x="353" y="0"/>
                  <a:pt x="388" y="0"/>
                </a:cubicBezTo>
                <a:moveTo>
                  <a:pt x="130" y="0"/>
                </a:moveTo>
                <a:cubicBezTo>
                  <a:pt x="162" y="0"/>
                  <a:pt x="188" y="12"/>
                  <a:pt x="206" y="38"/>
                </a:cubicBezTo>
                <a:cubicBezTo>
                  <a:pt x="225" y="63"/>
                  <a:pt x="238" y="102"/>
                  <a:pt x="247" y="155"/>
                </a:cubicBezTo>
                <a:cubicBezTo>
                  <a:pt x="224" y="165"/>
                  <a:pt x="201" y="175"/>
                  <a:pt x="177" y="185"/>
                </a:cubicBezTo>
                <a:cubicBezTo>
                  <a:pt x="175" y="170"/>
                  <a:pt x="172" y="159"/>
                  <a:pt x="170" y="152"/>
                </a:cubicBezTo>
                <a:cubicBezTo>
                  <a:pt x="165" y="140"/>
                  <a:pt x="160" y="131"/>
                  <a:pt x="153" y="125"/>
                </a:cubicBezTo>
                <a:cubicBezTo>
                  <a:pt x="147" y="118"/>
                  <a:pt x="140" y="115"/>
                  <a:pt x="132" y="115"/>
                </a:cubicBezTo>
                <a:cubicBezTo>
                  <a:pt x="113" y="115"/>
                  <a:pt x="100" y="129"/>
                  <a:pt x="90" y="157"/>
                </a:cubicBezTo>
                <a:cubicBezTo>
                  <a:pt x="83" y="178"/>
                  <a:pt x="79" y="211"/>
                  <a:pt x="79" y="256"/>
                </a:cubicBezTo>
                <a:cubicBezTo>
                  <a:pt x="79" y="311"/>
                  <a:pt x="83" y="350"/>
                  <a:pt x="92" y="370"/>
                </a:cubicBezTo>
                <a:cubicBezTo>
                  <a:pt x="101" y="390"/>
                  <a:pt x="113" y="401"/>
                  <a:pt x="129" y="401"/>
                </a:cubicBezTo>
                <a:cubicBezTo>
                  <a:pt x="144" y="401"/>
                  <a:pt x="155" y="392"/>
                  <a:pt x="163" y="376"/>
                </a:cubicBezTo>
                <a:cubicBezTo>
                  <a:pt x="171" y="359"/>
                  <a:pt x="177" y="335"/>
                  <a:pt x="180" y="303"/>
                </a:cubicBezTo>
                <a:cubicBezTo>
                  <a:pt x="203" y="317"/>
                  <a:pt x="227" y="331"/>
                  <a:pt x="250" y="344"/>
                </a:cubicBezTo>
                <a:cubicBezTo>
                  <a:pt x="245" y="382"/>
                  <a:pt x="238" y="414"/>
                  <a:pt x="228" y="440"/>
                </a:cubicBezTo>
                <a:cubicBezTo>
                  <a:pt x="218" y="465"/>
                  <a:pt x="205" y="484"/>
                  <a:pt x="190" y="497"/>
                </a:cubicBezTo>
                <a:cubicBezTo>
                  <a:pt x="175" y="510"/>
                  <a:pt x="156" y="517"/>
                  <a:pt x="133" y="517"/>
                </a:cubicBezTo>
                <a:cubicBezTo>
                  <a:pt x="105" y="517"/>
                  <a:pt x="82" y="509"/>
                  <a:pt x="65" y="493"/>
                </a:cubicBezTo>
                <a:cubicBezTo>
                  <a:pt x="47" y="477"/>
                  <a:pt x="32" y="450"/>
                  <a:pt x="19" y="410"/>
                </a:cubicBezTo>
                <a:cubicBezTo>
                  <a:pt x="6" y="370"/>
                  <a:pt x="0" y="319"/>
                  <a:pt x="0" y="257"/>
                </a:cubicBezTo>
                <a:cubicBezTo>
                  <a:pt x="0" y="174"/>
                  <a:pt x="11" y="110"/>
                  <a:pt x="33" y="66"/>
                </a:cubicBezTo>
                <a:cubicBezTo>
                  <a:pt x="56" y="22"/>
                  <a:pt x="88" y="0"/>
                  <a:pt x="130" y="0"/>
                </a:cubicBezTo>
              </a:path>
            </a:pathLst>
          </a:custGeom>
          <a:solidFill>
            <a:srgbClr val="002960">
              <a:alpha val="100000"/>
            </a:srgbClr>
          </a:solidFill>
          <a:ln cap="flat">
            <a:noFill/>
            <a:prstDash val="solid"/>
            <a:miter lim="0"/>
          </a:ln>
        </p:spPr>
        <p:txBody>
          <a:bodyPr rtlCol="0"/>
          <a:lstStyle/>
          <a:p>
            <a:pPr algn="ctr"/>
            <a:endParaRPr lang="zh-CN" altLang="en-US"/>
          </a:p>
        </p:txBody>
      </p:sp>
      <p:sp>
        <p:nvSpPr>
          <p:cNvPr id="112" name="path"/>
          <p:cNvSpPr/>
          <p:nvPr/>
        </p:nvSpPr>
        <p:spPr>
          <a:xfrm>
            <a:off x="1028700" y="1960626"/>
            <a:ext cx="301625" cy="328548"/>
          </a:xfrm>
          <a:custGeom>
            <a:avLst/>
            <a:gdLst/>
            <a:ahLst/>
            <a:cxnLst/>
            <a:rect l="0" t="0" r="0" b="0"/>
            <a:pathLst>
              <a:path w="475" h="517">
                <a:moveTo>
                  <a:pt x="371" y="0"/>
                </a:moveTo>
                <a:cubicBezTo>
                  <a:pt x="396" y="0"/>
                  <a:pt x="415" y="5"/>
                  <a:pt x="429" y="16"/>
                </a:cubicBezTo>
                <a:cubicBezTo>
                  <a:pt x="443" y="27"/>
                  <a:pt x="453" y="44"/>
                  <a:pt x="461" y="67"/>
                </a:cubicBezTo>
                <a:cubicBezTo>
                  <a:pt x="469" y="90"/>
                  <a:pt x="473" y="116"/>
                  <a:pt x="473" y="145"/>
                </a:cubicBezTo>
                <a:cubicBezTo>
                  <a:pt x="473" y="176"/>
                  <a:pt x="468" y="205"/>
                  <a:pt x="459" y="232"/>
                </a:cubicBezTo>
                <a:cubicBezTo>
                  <a:pt x="450" y="260"/>
                  <a:pt x="434" y="291"/>
                  <a:pt x="410" y="324"/>
                </a:cubicBezTo>
                <a:cubicBezTo>
                  <a:pt x="396" y="343"/>
                  <a:pt x="387" y="357"/>
                  <a:pt x="382" y="365"/>
                </a:cubicBezTo>
                <a:cubicBezTo>
                  <a:pt x="377" y="372"/>
                  <a:pt x="372" y="382"/>
                  <a:pt x="365" y="395"/>
                </a:cubicBezTo>
                <a:cubicBezTo>
                  <a:pt x="402" y="395"/>
                  <a:pt x="438" y="395"/>
                  <a:pt x="475" y="395"/>
                </a:cubicBezTo>
                <a:cubicBezTo>
                  <a:pt x="475" y="433"/>
                  <a:pt x="475" y="470"/>
                  <a:pt x="475" y="508"/>
                </a:cubicBezTo>
                <a:cubicBezTo>
                  <a:pt x="405" y="508"/>
                  <a:pt x="335" y="508"/>
                  <a:pt x="265" y="508"/>
                </a:cubicBezTo>
                <a:cubicBezTo>
                  <a:pt x="267" y="467"/>
                  <a:pt x="275" y="428"/>
                  <a:pt x="287" y="392"/>
                </a:cubicBezTo>
                <a:cubicBezTo>
                  <a:pt x="299" y="356"/>
                  <a:pt x="322" y="313"/>
                  <a:pt x="355" y="264"/>
                </a:cubicBezTo>
                <a:cubicBezTo>
                  <a:pt x="376" y="233"/>
                  <a:pt x="389" y="210"/>
                  <a:pt x="395" y="195"/>
                </a:cubicBezTo>
                <a:cubicBezTo>
                  <a:pt x="400" y="179"/>
                  <a:pt x="403" y="164"/>
                  <a:pt x="403" y="150"/>
                </a:cubicBezTo>
                <a:cubicBezTo>
                  <a:pt x="403" y="135"/>
                  <a:pt x="400" y="122"/>
                  <a:pt x="395" y="111"/>
                </a:cubicBezTo>
                <a:cubicBezTo>
                  <a:pt x="389" y="100"/>
                  <a:pt x="382" y="95"/>
                  <a:pt x="373" y="95"/>
                </a:cubicBezTo>
                <a:cubicBezTo>
                  <a:pt x="364" y="95"/>
                  <a:pt x="357" y="100"/>
                  <a:pt x="351" y="111"/>
                </a:cubicBezTo>
                <a:cubicBezTo>
                  <a:pt x="346" y="122"/>
                  <a:pt x="342" y="142"/>
                  <a:pt x="340" y="170"/>
                </a:cubicBezTo>
                <a:cubicBezTo>
                  <a:pt x="317" y="167"/>
                  <a:pt x="293" y="163"/>
                  <a:pt x="270" y="159"/>
                </a:cubicBezTo>
                <a:cubicBezTo>
                  <a:pt x="273" y="120"/>
                  <a:pt x="278" y="90"/>
                  <a:pt x="285" y="67"/>
                </a:cubicBezTo>
                <a:cubicBezTo>
                  <a:pt x="292" y="45"/>
                  <a:pt x="303" y="29"/>
                  <a:pt x="316" y="17"/>
                </a:cubicBezTo>
                <a:cubicBezTo>
                  <a:pt x="329" y="5"/>
                  <a:pt x="348" y="0"/>
                  <a:pt x="371" y="0"/>
                </a:cubicBezTo>
                <a:moveTo>
                  <a:pt x="127" y="0"/>
                </a:moveTo>
                <a:cubicBezTo>
                  <a:pt x="158" y="0"/>
                  <a:pt x="183" y="12"/>
                  <a:pt x="201" y="38"/>
                </a:cubicBezTo>
                <a:cubicBezTo>
                  <a:pt x="219" y="63"/>
                  <a:pt x="233" y="102"/>
                  <a:pt x="242" y="155"/>
                </a:cubicBezTo>
                <a:cubicBezTo>
                  <a:pt x="219" y="165"/>
                  <a:pt x="196" y="175"/>
                  <a:pt x="173" y="185"/>
                </a:cubicBezTo>
                <a:cubicBezTo>
                  <a:pt x="171" y="170"/>
                  <a:pt x="168" y="159"/>
                  <a:pt x="166" y="152"/>
                </a:cubicBezTo>
                <a:cubicBezTo>
                  <a:pt x="161" y="140"/>
                  <a:pt x="156" y="131"/>
                  <a:pt x="150" y="125"/>
                </a:cubicBezTo>
                <a:cubicBezTo>
                  <a:pt x="143" y="118"/>
                  <a:pt x="136" y="115"/>
                  <a:pt x="128" y="115"/>
                </a:cubicBezTo>
                <a:cubicBezTo>
                  <a:pt x="111" y="115"/>
                  <a:pt x="97" y="129"/>
                  <a:pt x="88" y="157"/>
                </a:cubicBezTo>
                <a:cubicBezTo>
                  <a:pt x="81" y="178"/>
                  <a:pt x="77" y="211"/>
                  <a:pt x="77" y="256"/>
                </a:cubicBezTo>
                <a:cubicBezTo>
                  <a:pt x="77" y="311"/>
                  <a:pt x="82" y="350"/>
                  <a:pt x="90" y="370"/>
                </a:cubicBezTo>
                <a:cubicBezTo>
                  <a:pt x="99" y="390"/>
                  <a:pt x="110" y="401"/>
                  <a:pt x="126" y="401"/>
                </a:cubicBezTo>
                <a:cubicBezTo>
                  <a:pt x="141" y="401"/>
                  <a:pt x="152" y="392"/>
                  <a:pt x="159" y="376"/>
                </a:cubicBezTo>
                <a:cubicBezTo>
                  <a:pt x="167" y="359"/>
                  <a:pt x="173" y="335"/>
                  <a:pt x="176" y="303"/>
                </a:cubicBezTo>
                <a:cubicBezTo>
                  <a:pt x="199" y="317"/>
                  <a:pt x="221" y="331"/>
                  <a:pt x="244" y="344"/>
                </a:cubicBezTo>
                <a:cubicBezTo>
                  <a:pt x="240" y="382"/>
                  <a:pt x="232" y="414"/>
                  <a:pt x="222" y="440"/>
                </a:cubicBezTo>
                <a:cubicBezTo>
                  <a:pt x="213" y="465"/>
                  <a:pt x="200" y="484"/>
                  <a:pt x="186" y="497"/>
                </a:cubicBezTo>
                <a:cubicBezTo>
                  <a:pt x="171" y="510"/>
                  <a:pt x="153" y="517"/>
                  <a:pt x="130" y="517"/>
                </a:cubicBezTo>
                <a:cubicBezTo>
                  <a:pt x="103" y="517"/>
                  <a:pt x="81" y="509"/>
                  <a:pt x="63" y="493"/>
                </a:cubicBezTo>
                <a:cubicBezTo>
                  <a:pt x="46" y="477"/>
                  <a:pt x="31" y="450"/>
                  <a:pt x="18" y="410"/>
                </a:cubicBezTo>
                <a:cubicBezTo>
                  <a:pt x="6" y="370"/>
                  <a:pt x="0" y="319"/>
                  <a:pt x="0" y="257"/>
                </a:cubicBezTo>
                <a:cubicBezTo>
                  <a:pt x="0" y="174"/>
                  <a:pt x="11" y="110"/>
                  <a:pt x="33" y="66"/>
                </a:cubicBezTo>
                <a:cubicBezTo>
                  <a:pt x="55" y="22"/>
                  <a:pt x="86" y="0"/>
                  <a:pt x="127" y="0"/>
                </a:cubicBezTo>
              </a:path>
            </a:pathLst>
          </a:custGeom>
          <a:solidFill>
            <a:srgbClr val="002960">
              <a:alpha val="100000"/>
            </a:srgbClr>
          </a:solidFill>
          <a:ln cap="flat">
            <a:noFill/>
            <a:prstDash val="solid"/>
            <a:miter lim="0"/>
          </a:ln>
        </p:spPr>
        <p:txBody>
          <a:bodyPr rtlCol="0"/>
          <a:lstStyle/>
          <a:p>
            <a:pPr algn="ctr"/>
            <a:endParaRPr lang="zh-CN" altLang="en-US"/>
          </a:p>
        </p:txBody>
      </p:sp>
      <p:sp>
        <p:nvSpPr>
          <p:cNvPr id="113" name="path"/>
          <p:cNvSpPr/>
          <p:nvPr/>
        </p:nvSpPr>
        <p:spPr>
          <a:xfrm>
            <a:off x="1028700" y="2567051"/>
            <a:ext cx="301625" cy="328548"/>
          </a:xfrm>
          <a:custGeom>
            <a:avLst/>
            <a:gdLst/>
            <a:ahLst/>
            <a:cxnLst/>
            <a:rect l="0" t="0" r="0" b="0"/>
            <a:pathLst>
              <a:path w="475" h="517">
                <a:moveTo>
                  <a:pt x="369" y="0"/>
                </a:moveTo>
                <a:cubicBezTo>
                  <a:pt x="401" y="0"/>
                  <a:pt x="425" y="12"/>
                  <a:pt x="440" y="36"/>
                </a:cubicBezTo>
                <a:cubicBezTo>
                  <a:pt x="454" y="60"/>
                  <a:pt x="462" y="91"/>
                  <a:pt x="462" y="128"/>
                </a:cubicBezTo>
                <a:cubicBezTo>
                  <a:pt x="462" y="149"/>
                  <a:pt x="459" y="169"/>
                  <a:pt x="453" y="187"/>
                </a:cubicBezTo>
                <a:cubicBezTo>
                  <a:pt x="447" y="204"/>
                  <a:pt x="438" y="219"/>
                  <a:pt x="426" y="233"/>
                </a:cubicBezTo>
                <a:cubicBezTo>
                  <a:pt x="436" y="237"/>
                  <a:pt x="443" y="243"/>
                  <a:pt x="448" y="249"/>
                </a:cubicBezTo>
                <a:cubicBezTo>
                  <a:pt x="457" y="260"/>
                  <a:pt x="463" y="273"/>
                  <a:pt x="468" y="290"/>
                </a:cubicBezTo>
                <a:cubicBezTo>
                  <a:pt x="472" y="307"/>
                  <a:pt x="475" y="327"/>
                  <a:pt x="475" y="350"/>
                </a:cubicBezTo>
                <a:cubicBezTo>
                  <a:pt x="475" y="379"/>
                  <a:pt x="471" y="407"/>
                  <a:pt x="463" y="434"/>
                </a:cubicBezTo>
                <a:cubicBezTo>
                  <a:pt x="455" y="460"/>
                  <a:pt x="444" y="481"/>
                  <a:pt x="430" y="495"/>
                </a:cubicBezTo>
                <a:cubicBezTo>
                  <a:pt x="416" y="510"/>
                  <a:pt x="397" y="517"/>
                  <a:pt x="373" y="517"/>
                </a:cubicBezTo>
                <a:cubicBezTo>
                  <a:pt x="351" y="517"/>
                  <a:pt x="333" y="512"/>
                  <a:pt x="319" y="501"/>
                </a:cubicBezTo>
                <a:cubicBezTo>
                  <a:pt x="306" y="490"/>
                  <a:pt x="295" y="475"/>
                  <a:pt x="287" y="454"/>
                </a:cubicBezTo>
                <a:cubicBezTo>
                  <a:pt x="278" y="433"/>
                  <a:pt x="272" y="407"/>
                  <a:pt x="267" y="376"/>
                </a:cubicBezTo>
                <a:cubicBezTo>
                  <a:pt x="291" y="370"/>
                  <a:pt x="314" y="364"/>
                  <a:pt x="337" y="358"/>
                </a:cubicBezTo>
                <a:cubicBezTo>
                  <a:pt x="340" y="386"/>
                  <a:pt x="344" y="405"/>
                  <a:pt x="350" y="416"/>
                </a:cubicBezTo>
                <a:cubicBezTo>
                  <a:pt x="355" y="427"/>
                  <a:pt x="363" y="432"/>
                  <a:pt x="372" y="432"/>
                </a:cubicBezTo>
                <a:cubicBezTo>
                  <a:pt x="381" y="432"/>
                  <a:pt x="389" y="425"/>
                  <a:pt x="395" y="412"/>
                </a:cubicBezTo>
                <a:cubicBezTo>
                  <a:pt x="401" y="398"/>
                  <a:pt x="404" y="380"/>
                  <a:pt x="404" y="357"/>
                </a:cubicBezTo>
                <a:cubicBezTo>
                  <a:pt x="404" y="334"/>
                  <a:pt x="401" y="316"/>
                  <a:pt x="395" y="303"/>
                </a:cubicBezTo>
                <a:cubicBezTo>
                  <a:pt x="389" y="291"/>
                  <a:pt x="381" y="284"/>
                  <a:pt x="371" y="284"/>
                </a:cubicBezTo>
                <a:cubicBezTo>
                  <a:pt x="366" y="284"/>
                  <a:pt x="358" y="287"/>
                  <a:pt x="348" y="292"/>
                </a:cubicBezTo>
                <a:cubicBezTo>
                  <a:pt x="350" y="259"/>
                  <a:pt x="351" y="226"/>
                  <a:pt x="352" y="193"/>
                </a:cubicBezTo>
                <a:cubicBezTo>
                  <a:pt x="356" y="194"/>
                  <a:pt x="359" y="195"/>
                  <a:pt x="361" y="195"/>
                </a:cubicBezTo>
                <a:cubicBezTo>
                  <a:pt x="370" y="195"/>
                  <a:pt x="378" y="189"/>
                  <a:pt x="384" y="177"/>
                </a:cubicBezTo>
                <a:cubicBezTo>
                  <a:pt x="390" y="166"/>
                  <a:pt x="393" y="152"/>
                  <a:pt x="393" y="136"/>
                </a:cubicBezTo>
                <a:cubicBezTo>
                  <a:pt x="393" y="121"/>
                  <a:pt x="391" y="109"/>
                  <a:pt x="386" y="100"/>
                </a:cubicBezTo>
                <a:cubicBezTo>
                  <a:pt x="382" y="90"/>
                  <a:pt x="375" y="86"/>
                  <a:pt x="367" y="86"/>
                </a:cubicBezTo>
                <a:cubicBezTo>
                  <a:pt x="359" y="86"/>
                  <a:pt x="353" y="91"/>
                  <a:pt x="347" y="101"/>
                </a:cubicBezTo>
                <a:cubicBezTo>
                  <a:pt x="342" y="111"/>
                  <a:pt x="339" y="128"/>
                  <a:pt x="337" y="153"/>
                </a:cubicBezTo>
                <a:cubicBezTo>
                  <a:pt x="315" y="145"/>
                  <a:pt x="293" y="137"/>
                  <a:pt x="271" y="129"/>
                </a:cubicBezTo>
                <a:cubicBezTo>
                  <a:pt x="277" y="87"/>
                  <a:pt x="287" y="55"/>
                  <a:pt x="303" y="33"/>
                </a:cubicBezTo>
                <a:cubicBezTo>
                  <a:pt x="318" y="11"/>
                  <a:pt x="340" y="0"/>
                  <a:pt x="369" y="0"/>
                </a:cubicBezTo>
                <a:moveTo>
                  <a:pt x="126" y="0"/>
                </a:moveTo>
                <a:cubicBezTo>
                  <a:pt x="158" y="0"/>
                  <a:pt x="183" y="12"/>
                  <a:pt x="201" y="38"/>
                </a:cubicBezTo>
                <a:cubicBezTo>
                  <a:pt x="219" y="63"/>
                  <a:pt x="232" y="102"/>
                  <a:pt x="241" y="155"/>
                </a:cubicBezTo>
                <a:cubicBezTo>
                  <a:pt x="218" y="165"/>
                  <a:pt x="195" y="175"/>
                  <a:pt x="173" y="185"/>
                </a:cubicBezTo>
                <a:cubicBezTo>
                  <a:pt x="170" y="170"/>
                  <a:pt x="168" y="159"/>
                  <a:pt x="165" y="152"/>
                </a:cubicBezTo>
                <a:cubicBezTo>
                  <a:pt x="161" y="140"/>
                  <a:pt x="155" y="131"/>
                  <a:pt x="149" y="125"/>
                </a:cubicBezTo>
                <a:cubicBezTo>
                  <a:pt x="143" y="118"/>
                  <a:pt x="136" y="115"/>
                  <a:pt x="128" y="115"/>
                </a:cubicBezTo>
                <a:cubicBezTo>
                  <a:pt x="111" y="115"/>
                  <a:pt x="97" y="129"/>
                  <a:pt x="88" y="157"/>
                </a:cubicBezTo>
                <a:cubicBezTo>
                  <a:pt x="81" y="178"/>
                  <a:pt x="77" y="211"/>
                  <a:pt x="77" y="256"/>
                </a:cubicBezTo>
                <a:cubicBezTo>
                  <a:pt x="77" y="311"/>
                  <a:pt x="81" y="350"/>
                  <a:pt x="90" y="370"/>
                </a:cubicBezTo>
                <a:cubicBezTo>
                  <a:pt x="98" y="391"/>
                  <a:pt x="110" y="401"/>
                  <a:pt x="125" y="401"/>
                </a:cubicBezTo>
                <a:cubicBezTo>
                  <a:pt x="140" y="401"/>
                  <a:pt x="151" y="393"/>
                  <a:pt x="159" y="376"/>
                </a:cubicBezTo>
                <a:cubicBezTo>
                  <a:pt x="167" y="359"/>
                  <a:pt x="172" y="335"/>
                  <a:pt x="176" y="304"/>
                </a:cubicBezTo>
                <a:cubicBezTo>
                  <a:pt x="198" y="317"/>
                  <a:pt x="221" y="331"/>
                  <a:pt x="243" y="345"/>
                </a:cubicBezTo>
                <a:cubicBezTo>
                  <a:pt x="239" y="383"/>
                  <a:pt x="232" y="414"/>
                  <a:pt x="222" y="440"/>
                </a:cubicBezTo>
                <a:cubicBezTo>
                  <a:pt x="212" y="465"/>
                  <a:pt x="200" y="485"/>
                  <a:pt x="185" y="497"/>
                </a:cubicBezTo>
                <a:cubicBezTo>
                  <a:pt x="171" y="511"/>
                  <a:pt x="152" y="517"/>
                  <a:pt x="130" y="517"/>
                </a:cubicBezTo>
                <a:cubicBezTo>
                  <a:pt x="103" y="517"/>
                  <a:pt x="80" y="509"/>
                  <a:pt x="63" y="493"/>
                </a:cubicBezTo>
                <a:cubicBezTo>
                  <a:pt x="46" y="477"/>
                  <a:pt x="31" y="450"/>
                  <a:pt x="18" y="410"/>
                </a:cubicBezTo>
                <a:cubicBezTo>
                  <a:pt x="6" y="370"/>
                  <a:pt x="0" y="319"/>
                  <a:pt x="0" y="257"/>
                </a:cubicBezTo>
                <a:cubicBezTo>
                  <a:pt x="0" y="174"/>
                  <a:pt x="11" y="111"/>
                  <a:pt x="33" y="66"/>
                </a:cubicBezTo>
                <a:cubicBezTo>
                  <a:pt x="55" y="22"/>
                  <a:pt x="86" y="0"/>
                  <a:pt x="126" y="0"/>
                </a:cubicBezTo>
              </a:path>
            </a:pathLst>
          </a:custGeom>
          <a:solidFill>
            <a:srgbClr val="002960">
              <a:alpha val="100000"/>
            </a:srgbClr>
          </a:solidFill>
          <a:ln cap="flat">
            <a:noFill/>
            <a:prstDash val="solid"/>
            <a:miter lim="0"/>
          </a:ln>
        </p:spPr>
        <p:txBody>
          <a:bodyPr rtlCol="0"/>
          <a:lstStyle/>
          <a:p>
            <a:pPr algn="ctr"/>
            <a:endParaRPr lang="zh-CN" altLang="en-US"/>
          </a:p>
        </p:txBody>
      </p:sp>
      <p:sp>
        <p:nvSpPr>
          <p:cNvPr id="114" name="textbox 114"/>
          <p:cNvSpPr/>
          <p:nvPr/>
        </p:nvSpPr>
        <p:spPr>
          <a:xfrm rot="16200000">
            <a:off x="7970385" y="2823411"/>
            <a:ext cx="427355" cy="276859"/>
          </a:xfrm>
          <a:prstGeom prst="rect">
            <a:avLst/>
          </a:prstGeom>
        </p:spPr>
        <p:txBody>
          <a:bodyPr vert="horz" wrap="square" lIns="0" tIns="0" rIns="0" bIns="0"/>
          <a:lstStyle/>
          <a:p>
            <a:pPr algn="l" rtl="0" eaLnBrk="0">
              <a:lnSpc>
                <a:spcPct val="89000"/>
              </a:lnSpc>
            </a:pPr>
            <a:endParaRPr lang="en-US" altLang="en-US" sz="100" dirty="0">
              <a:latin typeface="微软雅黑" panose="020B0503020204020204" charset="-122"/>
              <a:ea typeface="微软雅黑" panose="020B0503020204020204" charset="-122"/>
            </a:endParaRPr>
          </a:p>
          <a:p>
            <a:pPr marL="12700" algn="l" rtl="0" eaLnBrk="0">
              <a:lnSpc>
                <a:spcPct val="99000"/>
              </a:lnSpc>
            </a:pPr>
            <a:r>
              <a:rPr sz="1500" spc="90" dirty="0">
                <a:ln w="5799"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销</a:t>
            </a:r>
            <a:r>
              <a:rPr sz="1500" spc="70" dirty="0">
                <a:ln w="5799"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售</a:t>
            </a:r>
            <a:endParaRPr lang="en-US" altLang="en-US" sz="1500" dirty="0">
              <a:latin typeface="微软雅黑" panose="020B0503020204020204" charset="-122"/>
              <a:ea typeface="微软雅黑" panose="020B0503020204020204" charset="-122"/>
            </a:endParaRPr>
          </a:p>
        </p:txBody>
      </p:sp>
      <p:sp>
        <p:nvSpPr>
          <p:cNvPr id="115" name="textbox 115"/>
          <p:cNvSpPr/>
          <p:nvPr/>
        </p:nvSpPr>
        <p:spPr>
          <a:xfrm>
            <a:off x="8818435" y="4032021"/>
            <a:ext cx="114935" cy="262890"/>
          </a:xfrm>
          <a:prstGeom prst="rect">
            <a:avLst/>
          </a:prstGeom>
        </p:spPr>
        <p:txBody>
          <a:bodyPr vert="eaVert" wrap="square" lIns="0" tIns="0" rIns="0" bIns="0"/>
          <a:lstStyle/>
          <a:p>
            <a:pPr algn="l" rtl="0" eaLnBrk="0">
              <a:lnSpc>
                <a:spcPct val="85000"/>
              </a:lnSpc>
            </a:pPr>
            <a:endParaRPr lang="en-US" altLang="en-US" sz="100" dirty="0"/>
          </a:p>
          <a:p>
            <a:pPr marL="12700" algn="l" rtl="0" eaLnBrk="0">
              <a:lnSpc>
                <a:spcPct val="79000"/>
              </a:lnSpc>
            </a:pPr>
            <a:endParaRPr sz="600" spc="-10" dirty="0">
              <a:solidFill>
                <a:srgbClr val="808080">
                  <a:alpha val="100000"/>
                </a:srgbClr>
              </a:solidFill>
              <a:latin typeface="Arial" panose="020B0604020202020204"/>
              <a:ea typeface="Arial" panose="020B0604020202020204"/>
              <a:cs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6" name="table 116"/>
          <p:cNvGraphicFramePr>
            <a:graphicFrameLocks noGrp="1"/>
          </p:cNvGraphicFramePr>
          <p:nvPr/>
        </p:nvGraphicFramePr>
        <p:xfrm>
          <a:off x="3051048" y="1293114"/>
          <a:ext cx="5420357" cy="4348477"/>
        </p:xfrm>
        <a:graphic>
          <a:graphicData uri="http://schemas.openxmlformats.org/drawingml/2006/table">
            <a:tbl>
              <a:tblPr/>
              <a:tblGrid>
                <a:gridCol w="518159"/>
                <a:gridCol w="1113789"/>
                <a:gridCol w="1671320"/>
                <a:gridCol w="2117089"/>
              </a:tblGrid>
              <a:tr h="790575">
                <a:tc>
                  <a:txBody>
                    <a:bodyPr/>
                    <a:lstStyle/>
                    <a:p>
                      <a:pPr algn="l" rtl="0" eaLnBrk="0">
                        <a:lnSpc>
                          <a:spcPct val="100000"/>
                        </a:lnSpc>
                      </a:pPr>
                      <a:endParaRPr lang="en-US" altLang="en-US" sz="1000" dirty="0">
                        <a:latin typeface="微软雅黑" panose="020B0503020204020204" charset="-122"/>
                        <a:ea typeface="微软雅黑" panose="020B0503020204020204" charset="-122"/>
                      </a:endParaRPr>
                    </a:p>
                  </a:txBody>
                  <a:tcPr marL="0" marR="0" marT="0" marB="0">
                    <a:lnL>
                      <a:noFill/>
                    </a:lnL>
                    <a:lnR>
                      <a:noFill/>
                    </a:lnR>
                    <a:lnT>
                      <a:noFill/>
                    </a:lnT>
                    <a:lnB w="3175" cap="flat" cmpd="sng" algn="ctr">
                      <a:solidFill>
                        <a:srgbClr val="FFFFFF"/>
                      </a:solidFill>
                      <a:prstDash val="solid"/>
                      <a:round/>
                      <a:headEnd type="none" w="med" len="med"/>
                      <a:tailEnd type="none" w="med" len="med"/>
                    </a:lnB>
                  </a:tcPr>
                </a:tc>
                <a:tc rowSpan="3">
                  <a:txBody>
                    <a:bodyPr/>
                    <a:lstStyle/>
                    <a:p>
                      <a:pPr algn="l" rtl="0" eaLnBrk="0">
                        <a:lnSpc>
                          <a:spcPct val="112000"/>
                        </a:lnSpc>
                      </a:pPr>
                      <a:endParaRPr lang="en-US" altLang="en-US" sz="1000" dirty="0">
                        <a:latin typeface="微软雅黑" panose="020B0503020204020204" charset="-122"/>
                        <a:ea typeface="微软雅黑" panose="020B0503020204020204" charset="-122"/>
                      </a:endParaRPr>
                    </a:p>
                    <a:p>
                      <a:pPr algn="l" rtl="0" eaLnBrk="0">
                        <a:lnSpc>
                          <a:spcPct val="113000"/>
                        </a:lnSpc>
                      </a:pPr>
                      <a:endParaRPr lang="en-US" altLang="en-US" sz="1000" dirty="0">
                        <a:latin typeface="微软雅黑" panose="020B0503020204020204" charset="-122"/>
                        <a:ea typeface="微软雅黑" panose="020B0503020204020204" charset="-122"/>
                      </a:endParaRPr>
                    </a:p>
                    <a:p>
                      <a:pPr algn="l" rtl="0" eaLnBrk="0">
                        <a:lnSpc>
                          <a:spcPct val="113000"/>
                        </a:lnSpc>
                      </a:pPr>
                      <a:endParaRPr lang="en-US" altLang="en-US" sz="1000" dirty="0">
                        <a:latin typeface="微软雅黑" panose="020B0503020204020204" charset="-122"/>
                        <a:ea typeface="微软雅黑" panose="020B0503020204020204" charset="-122"/>
                      </a:endParaRPr>
                    </a:p>
                    <a:p>
                      <a:pPr algn="l" rtl="0" eaLnBrk="0">
                        <a:lnSpc>
                          <a:spcPct val="113000"/>
                        </a:lnSpc>
                      </a:pPr>
                      <a:endParaRPr lang="en-US" altLang="en-US" sz="1000" dirty="0">
                        <a:latin typeface="微软雅黑" panose="020B0503020204020204" charset="-122"/>
                        <a:ea typeface="微软雅黑" panose="020B0503020204020204" charset="-122"/>
                      </a:endParaRPr>
                    </a:p>
                    <a:p>
                      <a:pPr algn="l" rtl="0" eaLnBrk="0">
                        <a:lnSpc>
                          <a:spcPct val="113000"/>
                        </a:lnSpc>
                      </a:pPr>
                      <a:endParaRPr lang="en-US" altLang="en-US" sz="1000" dirty="0">
                        <a:latin typeface="微软雅黑" panose="020B0503020204020204" charset="-122"/>
                        <a:ea typeface="微软雅黑" panose="020B0503020204020204" charset="-122"/>
                      </a:endParaRPr>
                    </a:p>
                    <a:p>
                      <a:pPr algn="l" rtl="0" eaLnBrk="0">
                        <a:lnSpc>
                          <a:spcPct val="113000"/>
                        </a:lnSpc>
                      </a:pPr>
                      <a:endParaRPr lang="en-US" altLang="en-US" sz="1000" dirty="0">
                        <a:latin typeface="微软雅黑" panose="020B0503020204020204" charset="-122"/>
                        <a:ea typeface="微软雅黑" panose="020B0503020204020204" charset="-122"/>
                      </a:endParaRPr>
                    </a:p>
                    <a:p>
                      <a:pPr algn="l" rtl="0" eaLnBrk="0">
                        <a:lnSpc>
                          <a:spcPct val="6000"/>
                        </a:lnSpc>
                      </a:pPr>
                      <a:endParaRPr lang="en-US" altLang="en-US" sz="100" dirty="0">
                        <a:latin typeface="微软雅黑" panose="020B0503020204020204" charset="-122"/>
                        <a:ea typeface="微软雅黑" panose="020B0503020204020204" charset="-122"/>
                      </a:endParaRPr>
                    </a:p>
                    <a:p>
                      <a:pPr marL="74295" algn="l" rtl="0" eaLnBrk="0">
                        <a:lnSpc>
                          <a:spcPct val="84000"/>
                        </a:lnSpc>
                      </a:pPr>
                      <a:r>
                        <a:rPr sz="1300" spc="-10" dirty="0">
                          <a:solidFill>
                            <a:srgbClr val="000000">
                              <a:alpha val="100000"/>
                            </a:srgbClr>
                          </a:solidFill>
                          <a:latin typeface="微软雅黑" panose="020B0503020204020204" charset="-122"/>
                          <a:ea typeface="微软雅黑" panose="020B0503020204020204" charset="-122"/>
                          <a:cs typeface="Arial" panose="020B0604020202020204"/>
                        </a:rPr>
                        <a:t>10</a:t>
                      </a:r>
                      <a:endParaRPr lang="en-US" altLang="en-US" sz="1300" dirty="0">
                        <a:latin typeface="微软雅黑" panose="020B0503020204020204" charset="-122"/>
                        <a:ea typeface="微软雅黑" panose="020B0503020204020204" charset="-122"/>
                      </a:endParaRPr>
                    </a:p>
                  </a:txBody>
                  <a:tcPr marL="0" marR="0" marT="0" marB="0">
                    <a:lnL>
                      <a:noFill/>
                    </a:lnL>
                    <a:lnR>
                      <a:noFill/>
                    </a:lnR>
                    <a:lnT>
                      <a:noFill/>
                    </a:lnT>
                    <a:lnB w="3175" cap="flat" cmpd="sng" algn="ctr">
                      <a:solidFill>
                        <a:srgbClr val="FFFFFF"/>
                      </a:solidFill>
                      <a:prstDash val="solid"/>
                      <a:round/>
                      <a:headEnd type="none" w="med" len="med"/>
                      <a:tailEnd type="none" w="med" len="med"/>
                    </a:lnB>
                  </a:tcPr>
                </a:tc>
                <a:tc rowSpan="5">
                  <a:txBody>
                    <a:bodyPr/>
                    <a:lstStyle/>
                    <a:p>
                      <a:pPr algn="l" rtl="0" eaLnBrk="0">
                        <a:lnSpc>
                          <a:spcPct val="104000"/>
                        </a:lnSpc>
                      </a:pPr>
                      <a:endParaRPr lang="en-US" altLang="en-US" sz="1000" dirty="0">
                        <a:latin typeface="微软雅黑" panose="020B0503020204020204" charset="-122"/>
                        <a:ea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endParaRPr>
                    </a:p>
                    <a:p>
                      <a:pPr algn="l" rtl="0" eaLnBrk="0">
                        <a:lnSpc>
                          <a:spcPct val="105000"/>
                        </a:lnSpc>
                      </a:pPr>
                      <a:endParaRPr lang="en-US" altLang="en-US" sz="1000" dirty="0">
                        <a:latin typeface="微软雅黑" panose="020B0503020204020204" charset="-122"/>
                        <a:ea typeface="微软雅黑" panose="020B0503020204020204" charset="-122"/>
                      </a:endParaRPr>
                    </a:p>
                    <a:p>
                      <a:pPr algn="l" rtl="0" eaLnBrk="0">
                        <a:lnSpc>
                          <a:spcPct val="105000"/>
                        </a:lnSpc>
                      </a:pPr>
                      <a:endParaRPr lang="en-US" altLang="en-US" sz="1000" dirty="0">
                        <a:latin typeface="微软雅黑" panose="020B0503020204020204" charset="-122"/>
                        <a:ea typeface="微软雅黑" panose="020B0503020204020204" charset="-122"/>
                      </a:endParaRPr>
                    </a:p>
                    <a:p>
                      <a:pPr algn="l" rtl="0" eaLnBrk="0">
                        <a:lnSpc>
                          <a:spcPct val="105000"/>
                        </a:lnSpc>
                      </a:pPr>
                      <a:endParaRPr lang="en-US" altLang="en-US" sz="1000" dirty="0">
                        <a:latin typeface="微软雅黑" panose="020B0503020204020204" charset="-122"/>
                        <a:ea typeface="微软雅黑" panose="020B0503020204020204" charset="-122"/>
                      </a:endParaRPr>
                    </a:p>
                    <a:p>
                      <a:pPr algn="l" rtl="0" eaLnBrk="0">
                        <a:lnSpc>
                          <a:spcPct val="105000"/>
                        </a:lnSpc>
                      </a:pPr>
                      <a:endParaRPr lang="en-US" altLang="en-US" sz="1000" dirty="0">
                        <a:latin typeface="微软雅黑" panose="020B0503020204020204" charset="-122"/>
                        <a:ea typeface="微软雅黑" panose="020B0503020204020204" charset="-122"/>
                      </a:endParaRPr>
                    </a:p>
                    <a:p>
                      <a:pPr algn="l" rtl="0" eaLnBrk="0">
                        <a:lnSpc>
                          <a:spcPct val="105000"/>
                        </a:lnSpc>
                      </a:pPr>
                      <a:endParaRPr lang="en-US" altLang="en-US" sz="1000" dirty="0">
                        <a:latin typeface="微软雅黑" panose="020B0503020204020204" charset="-122"/>
                        <a:ea typeface="微软雅黑" panose="020B0503020204020204" charset="-122"/>
                      </a:endParaRPr>
                    </a:p>
                    <a:p>
                      <a:pPr marL="67310" algn="l" rtl="0" eaLnBrk="0">
                        <a:lnSpc>
                          <a:spcPct val="84000"/>
                        </a:lnSpc>
                      </a:pPr>
                      <a:r>
                        <a:rPr sz="1300" spc="30" dirty="0">
                          <a:solidFill>
                            <a:srgbClr val="000000">
                              <a:alpha val="100000"/>
                            </a:srgbClr>
                          </a:solidFill>
                          <a:latin typeface="微软雅黑" panose="020B0503020204020204" charset="-122"/>
                          <a:ea typeface="微软雅黑" panose="020B0503020204020204" charset="-122"/>
                          <a:cs typeface="Arial" panose="020B0604020202020204"/>
                        </a:rPr>
                        <a:t>3</a:t>
                      </a:r>
                      <a:r>
                        <a:rPr sz="1300" spc="20" dirty="0">
                          <a:solidFill>
                            <a:srgbClr val="000000">
                              <a:alpha val="100000"/>
                            </a:srgbClr>
                          </a:solidFill>
                          <a:latin typeface="微软雅黑" panose="020B0503020204020204" charset="-122"/>
                          <a:ea typeface="微软雅黑" panose="020B0503020204020204" charset="-122"/>
                          <a:cs typeface="Arial" panose="020B0604020202020204"/>
                        </a:rPr>
                        <a:t>2</a:t>
                      </a:r>
                      <a:endParaRPr lang="en-US" altLang="en-US" sz="1300" dirty="0">
                        <a:latin typeface="微软雅黑" panose="020B0503020204020204" charset="-122"/>
                        <a:ea typeface="微软雅黑" panose="020B0503020204020204" charset="-122"/>
                      </a:endParaRPr>
                    </a:p>
                  </a:txBody>
                  <a:tcPr marL="0" marR="0" marT="0" marB="0">
                    <a:lnL>
                      <a:noFill/>
                    </a:lnL>
                    <a:lnR>
                      <a:noFill/>
                    </a:lnR>
                    <a:lnT>
                      <a:noFill/>
                    </a:lnT>
                    <a:lnB w="3175" cap="flat" cmpd="sng" algn="ctr">
                      <a:solidFill>
                        <a:srgbClr val="FFFFFF"/>
                      </a:solidFill>
                      <a:prstDash val="solid"/>
                      <a:round/>
                      <a:headEnd type="none" w="med" len="med"/>
                      <a:tailEnd type="none" w="med" len="med"/>
                    </a:lnB>
                  </a:tcPr>
                </a:tc>
                <a:tc rowSpan="7">
                  <a:txBody>
                    <a:bodyPr/>
                    <a:lstStyle/>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6000"/>
                        </a:lnSpc>
                      </a:pPr>
                      <a:endParaRPr lang="en-US" altLang="en-US" sz="100" dirty="0">
                        <a:latin typeface="微软雅黑" panose="020B0503020204020204" charset="-122"/>
                        <a:ea typeface="微软雅黑" panose="020B0503020204020204" charset="-122"/>
                      </a:endParaRPr>
                    </a:p>
                    <a:p>
                      <a:pPr marL="57150" algn="l" rtl="0" eaLnBrk="0">
                        <a:lnSpc>
                          <a:spcPct val="84000"/>
                        </a:lnSpc>
                      </a:pPr>
                      <a:r>
                        <a:rPr sz="1300" spc="30" dirty="0">
                          <a:solidFill>
                            <a:srgbClr val="000000">
                              <a:alpha val="100000"/>
                            </a:srgbClr>
                          </a:solidFill>
                          <a:latin typeface="微软雅黑" panose="020B0503020204020204" charset="-122"/>
                          <a:ea typeface="微软雅黑" panose="020B0503020204020204" charset="-122"/>
                          <a:cs typeface="Arial" panose="020B0604020202020204"/>
                        </a:rPr>
                        <a:t>6</a:t>
                      </a:r>
                      <a:r>
                        <a:rPr sz="1300" spc="20" dirty="0">
                          <a:solidFill>
                            <a:srgbClr val="000000">
                              <a:alpha val="100000"/>
                            </a:srgbClr>
                          </a:solidFill>
                          <a:latin typeface="微软雅黑" panose="020B0503020204020204" charset="-122"/>
                          <a:ea typeface="微软雅黑" panose="020B0503020204020204" charset="-122"/>
                          <a:cs typeface="Arial" panose="020B0604020202020204"/>
                        </a:rPr>
                        <a:t>5</a:t>
                      </a:r>
                      <a:endParaRPr lang="en-US" altLang="en-US" sz="1300" dirty="0">
                        <a:latin typeface="微软雅黑" panose="020B0503020204020204" charset="-122"/>
                        <a:ea typeface="微软雅黑" panose="020B0503020204020204" charset="-122"/>
                      </a:endParaRPr>
                    </a:p>
                  </a:txBody>
                  <a:tcPr marL="0" marR="0" marT="0" marB="0">
                    <a:lnL>
                      <a:noFill/>
                    </a:lnL>
                    <a:lnR w="19050" cap="flat" cmpd="sng" algn="ctr">
                      <a:solidFill>
                        <a:srgbClr val="002960"/>
                      </a:solidFill>
                      <a:prstDash val="solid"/>
                      <a:round/>
                      <a:headEnd type="none" w="med" len="med"/>
                      <a:tailEnd type="none" w="med" len="med"/>
                    </a:lnR>
                    <a:lnT>
                      <a:noFill/>
                    </a:lnT>
                    <a:lnB w="3175" cap="flat" cmpd="sng" algn="ctr">
                      <a:solidFill>
                        <a:srgbClr val="002960"/>
                      </a:solidFill>
                      <a:prstDash val="solid"/>
                      <a:round/>
                      <a:headEnd type="none" w="med" len="med"/>
                      <a:tailEnd type="none" w="med" len="med"/>
                    </a:lnB>
                  </a:tcPr>
                </a:tc>
              </a:tr>
              <a:tr h="619125">
                <a:tc>
                  <a:txBody>
                    <a:bodyPr/>
                    <a:lstStyle/>
                    <a:p>
                      <a:pPr algn="l" rtl="0" eaLnBrk="0">
                        <a:lnSpc>
                          <a:spcPct val="100000"/>
                        </a:lnSpc>
                      </a:pPr>
                      <a:endParaRPr lang="en-US" altLang="en-US" sz="1000" dirty="0">
                        <a:ea typeface="微软雅黑" panose="020B0503020204020204" charset="-122"/>
                      </a:endParaRPr>
                    </a:p>
                  </a:txBody>
                  <a:tcPr marL="0" marR="0" marT="0" marB="0">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BFE1FF"/>
                    </a:solidFill>
                  </a:tcPr>
                </a:tc>
                <a:tc vMerge="1">
                  <a:tcPr marL="0" marR="0" marT="0" marB="0">
                    <a:lnL>
                      <a:noFill/>
                    </a:lnL>
                    <a:lnR>
                      <a:noFill/>
                    </a:lnR>
                    <a:lnT>
                      <a:noFill/>
                    </a:lnT>
                    <a:lnB w="3175" cap="flat" cmpd="sng" algn="ctr">
                      <a:solidFill>
                        <a:srgbClr val="FFFFFF"/>
                      </a:solidFill>
                      <a:prstDash val="solid"/>
                      <a:round/>
                      <a:headEnd type="none" w="med" len="med"/>
                      <a:tailEnd type="none" w="med" len="med"/>
                    </a:lnB>
                  </a:tcPr>
                </a:tc>
                <a:tc vMerge="1">
                  <a:tcPr marL="0" marR="0" marT="0" marB="0">
                    <a:lnL>
                      <a:noFill/>
                    </a:lnL>
                    <a:lnR>
                      <a:noFill/>
                    </a:lnR>
                    <a:lnT>
                      <a:noFill/>
                    </a:lnT>
                    <a:lnB w="3175" cap="flat" cmpd="sng" algn="ctr">
                      <a:solidFill>
                        <a:srgbClr val="FFFFFF"/>
                      </a:solidFill>
                      <a:prstDash val="solid"/>
                      <a:round/>
                      <a:headEnd type="none" w="med" len="med"/>
                      <a:tailEnd type="none" w="med" len="med"/>
                    </a:lnB>
                  </a:tcPr>
                </a:tc>
                <a:tc vMerge="1">
                  <a:tcPr marL="0" marR="0" marT="0" marB="0">
                    <a:lnL>
                      <a:noFill/>
                    </a:lnL>
                    <a:lnR w="19050" cap="flat" cmpd="sng" algn="ctr">
                      <a:solidFill>
                        <a:srgbClr val="002960"/>
                      </a:solidFill>
                      <a:prstDash val="solid"/>
                      <a:round/>
                      <a:headEnd type="none" w="med" len="med"/>
                      <a:tailEnd type="none" w="med" len="med"/>
                    </a:lnR>
                    <a:lnT>
                      <a:noFill/>
                    </a:lnT>
                    <a:lnB w="3175" cap="flat" cmpd="sng" algn="ctr">
                      <a:solidFill>
                        <a:srgbClr val="002960"/>
                      </a:solidFill>
                      <a:prstDash val="solid"/>
                      <a:round/>
                      <a:headEnd type="none" w="med" len="med"/>
                      <a:tailEnd type="none" w="med" len="med"/>
                    </a:lnB>
                  </a:tcPr>
                </a:tc>
              </a:tr>
              <a:tr h="247650">
                <a:tc>
                  <a:txBody>
                    <a:bodyPr/>
                    <a:lstStyle/>
                    <a:p>
                      <a:pPr algn="l" rtl="0" eaLnBrk="0">
                        <a:lnSpc>
                          <a:spcPct val="100000"/>
                        </a:lnSpc>
                      </a:pPr>
                      <a:endParaRPr lang="en-US" altLang="en-US" sz="1000" dirty="0">
                        <a:ea typeface="微软雅黑" panose="020B0503020204020204" charset="-122"/>
                      </a:endParaRPr>
                    </a:p>
                  </a:txBody>
                  <a:tcPr marL="0" marR="0" marT="0" marB="0">
                    <a:lnL w="12700" cap="flat" cmpd="sng" algn="ctr">
                      <a:solidFill>
                        <a:srgbClr val="808080"/>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vMerge="1">
                  <a:tcPr marL="0" marR="0" marT="0" marB="0">
                    <a:lnL>
                      <a:noFill/>
                    </a:lnL>
                    <a:lnR>
                      <a:noFill/>
                    </a:lnR>
                    <a:lnT>
                      <a:noFill/>
                    </a:lnT>
                    <a:lnB w="3175" cap="flat" cmpd="sng" algn="ctr">
                      <a:solidFill>
                        <a:srgbClr val="FFFFFF"/>
                      </a:solidFill>
                      <a:prstDash val="solid"/>
                      <a:round/>
                      <a:headEnd type="none" w="med" len="med"/>
                      <a:tailEnd type="none" w="med" len="med"/>
                    </a:lnB>
                  </a:tcPr>
                </a:tc>
                <a:tc vMerge="1">
                  <a:tcPr marL="0" marR="0" marT="0" marB="0">
                    <a:lnL>
                      <a:noFill/>
                    </a:lnL>
                    <a:lnR>
                      <a:noFill/>
                    </a:lnR>
                    <a:lnT>
                      <a:noFill/>
                    </a:lnT>
                    <a:lnB w="3175" cap="flat" cmpd="sng" algn="ctr">
                      <a:solidFill>
                        <a:srgbClr val="FFFFFF"/>
                      </a:solidFill>
                      <a:prstDash val="solid"/>
                      <a:round/>
                      <a:headEnd type="none" w="med" len="med"/>
                      <a:tailEnd type="none" w="med" len="med"/>
                    </a:lnB>
                  </a:tcPr>
                </a:tc>
                <a:tc vMerge="1">
                  <a:tcPr marL="0" marR="0" marT="0" marB="0">
                    <a:lnL>
                      <a:noFill/>
                    </a:lnL>
                    <a:lnR w="19050" cap="flat" cmpd="sng" algn="ctr">
                      <a:solidFill>
                        <a:srgbClr val="002960"/>
                      </a:solidFill>
                      <a:prstDash val="solid"/>
                      <a:round/>
                      <a:headEnd type="none" w="med" len="med"/>
                      <a:tailEnd type="none" w="med" len="med"/>
                    </a:lnR>
                    <a:lnT>
                      <a:noFill/>
                    </a:lnT>
                    <a:lnB w="3175" cap="flat" cmpd="sng" algn="ctr">
                      <a:solidFill>
                        <a:srgbClr val="002960"/>
                      </a:solidFill>
                      <a:prstDash val="solid"/>
                      <a:round/>
                      <a:headEnd type="none" w="med" len="med"/>
                      <a:tailEnd type="none" w="med" len="med"/>
                    </a:lnB>
                  </a:tcPr>
                </a:tc>
              </a:tr>
              <a:tr h="623569">
                <a:tc gridSpan="2">
                  <a:txBody>
                    <a:bodyPr/>
                    <a:lstStyle/>
                    <a:p>
                      <a:pPr algn="l" rtl="0" eaLnBrk="0">
                        <a:lnSpc>
                          <a:spcPct val="100000"/>
                        </a:lnSpc>
                      </a:pPr>
                      <a:endParaRPr lang="en-US" altLang="en-US" sz="1000" dirty="0">
                        <a:ea typeface="微软雅黑" panose="020B0503020204020204" charset="-122"/>
                      </a:endParaRPr>
                    </a:p>
                  </a:txBody>
                  <a:tcPr marL="0" marR="0" marT="0" marB="0">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BFE1FF"/>
                    </a:solidFill>
                  </a:tcPr>
                </a:tc>
                <a:tc hMerge="1">
                  <a:tcPr marL="0" marR="0" marT="0" marB="0">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BFE1FF"/>
                    </a:solidFill>
                  </a:tcPr>
                </a:tc>
                <a:tc vMerge="1">
                  <a:tcPr marL="0" marR="0" marT="0" marB="0">
                    <a:lnL>
                      <a:noFill/>
                    </a:lnL>
                    <a:lnR>
                      <a:noFill/>
                    </a:lnR>
                    <a:lnT>
                      <a:noFill/>
                    </a:lnT>
                    <a:lnB w="3175" cap="flat" cmpd="sng" algn="ctr">
                      <a:solidFill>
                        <a:srgbClr val="FFFFFF"/>
                      </a:solidFill>
                      <a:prstDash val="solid"/>
                      <a:round/>
                      <a:headEnd type="none" w="med" len="med"/>
                      <a:tailEnd type="none" w="med" len="med"/>
                    </a:lnB>
                  </a:tcPr>
                </a:tc>
                <a:tc vMerge="1">
                  <a:tcPr marL="0" marR="0" marT="0" marB="0">
                    <a:lnL>
                      <a:noFill/>
                    </a:lnL>
                    <a:lnR w="19050" cap="flat" cmpd="sng" algn="ctr">
                      <a:solidFill>
                        <a:srgbClr val="002960"/>
                      </a:solidFill>
                      <a:prstDash val="solid"/>
                      <a:round/>
                      <a:headEnd type="none" w="med" len="med"/>
                      <a:tailEnd type="none" w="med" len="med"/>
                    </a:lnR>
                    <a:lnT>
                      <a:noFill/>
                    </a:lnT>
                    <a:lnB w="3175" cap="flat" cmpd="sng" algn="ctr">
                      <a:solidFill>
                        <a:srgbClr val="002960"/>
                      </a:solidFill>
                      <a:prstDash val="solid"/>
                      <a:round/>
                      <a:headEnd type="none" w="med" len="med"/>
                      <a:tailEnd type="none" w="med" len="med"/>
                    </a:lnB>
                  </a:tcPr>
                </a:tc>
              </a:tr>
              <a:tr h="247650">
                <a:tc gridSpan="2">
                  <a:txBody>
                    <a:bodyPr/>
                    <a:lstStyle/>
                    <a:p>
                      <a:pPr algn="l" rtl="0" eaLnBrk="0">
                        <a:lnSpc>
                          <a:spcPct val="100000"/>
                        </a:lnSpc>
                      </a:pPr>
                      <a:endParaRPr lang="en-US" altLang="en-US" sz="1000" dirty="0">
                        <a:ea typeface="微软雅黑" panose="020B0503020204020204" charset="-122"/>
                      </a:endParaRPr>
                    </a:p>
                  </a:txBody>
                  <a:tcPr marL="0" marR="0" marT="0" marB="0">
                    <a:lnL w="12700" cap="flat" cmpd="sng" algn="ctr">
                      <a:solidFill>
                        <a:srgbClr val="808080"/>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hMerge="1">
                  <a:tcPr marL="0" marR="0" marT="0" marB="0">
                    <a:lnL w="12700" cap="flat" cmpd="sng" algn="ctr">
                      <a:solidFill>
                        <a:srgbClr val="808080"/>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vMerge="1">
                  <a:tcPr marL="0" marR="0" marT="0" marB="0">
                    <a:lnL>
                      <a:noFill/>
                    </a:lnL>
                    <a:lnR>
                      <a:noFill/>
                    </a:lnR>
                    <a:lnT>
                      <a:noFill/>
                    </a:lnT>
                    <a:lnB w="3175" cap="flat" cmpd="sng" algn="ctr">
                      <a:solidFill>
                        <a:srgbClr val="FFFFFF"/>
                      </a:solidFill>
                      <a:prstDash val="solid"/>
                      <a:round/>
                      <a:headEnd type="none" w="med" len="med"/>
                      <a:tailEnd type="none" w="med" len="med"/>
                    </a:lnB>
                  </a:tcPr>
                </a:tc>
                <a:tc vMerge="1">
                  <a:tcPr marL="0" marR="0" marT="0" marB="0">
                    <a:lnL>
                      <a:noFill/>
                    </a:lnL>
                    <a:lnR w="19050" cap="flat" cmpd="sng" algn="ctr">
                      <a:solidFill>
                        <a:srgbClr val="002960"/>
                      </a:solidFill>
                      <a:prstDash val="solid"/>
                      <a:round/>
                      <a:headEnd type="none" w="med" len="med"/>
                      <a:tailEnd type="none" w="med" len="med"/>
                    </a:lnR>
                    <a:lnT>
                      <a:noFill/>
                    </a:lnT>
                    <a:lnB w="3175" cap="flat" cmpd="sng" algn="ctr">
                      <a:solidFill>
                        <a:srgbClr val="002960"/>
                      </a:solidFill>
                      <a:prstDash val="solid"/>
                      <a:round/>
                      <a:headEnd type="none" w="med" len="med"/>
                      <a:tailEnd type="none" w="med" len="med"/>
                    </a:lnB>
                  </a:tcPr>
                </a:tc>
              </a:tr>
              <a:tr h="619125">
                <a:tc gridSpan="3">
                  <a:txBody>
                    <a:bodyPr/>
                    <a:lstStyle/>
                    <a:p>
                      <a:pPr algn="l" rtl="0" eaLnBrk="0">
                        <a:lnSpc>
                          <a:spcPct val="100000"/>
                        </a:lnSpc>
                      </a:pPr>
                      <a:endParaRPr lang="en-US" altLang="en-US" sz="1000" dirty="0">
                        <a:ea typeface="微软雅黑" panose="020B0503020204020204" charset="-122"/>
                      </a:endParaRPr>
                    </a:p>
                  </a:txBody>
                  <a:tcPr marL="0" marR="0" marT="0" marB="0">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002960"/>
                    </a:solidFill>
                  </a:tcPr>
                </a:tc>
                <a:tc hMerge="1">
                  <a:tcPr marL="0" marR="0" marT="0" marB="0">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002960"/>
                    </a:solidFill>
                  </a:tcPr>
                </a:tc>
                <a:tc hMerge="1">
                  <a:tcPr marL="0" marR="0" marT="0" marB="0">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002960"/>
                    </a:solidFill>
                  </a:tcPr>
                </a:tc>
                <a:tc vMerge="1">
                  <a:tcPr marL="0" marR="0" marT="0" marB="0">
                    <a:lnL>
                      <a:noFill/>
                    </a:lnL>
                    <a:lnR w="19050" cap="flat" cmpd="sng" algn="ctr">
                      <a:solidFill>
                        <a:srgbClr val="002960"/>
                      </a:solidFill>
                      <a:prstDash val="solid"/>
                      <a:round/>
                      <a:headEnd type="none" w="med" len="med"/>
                      <a:tailEnd type="none" w="med" len="med"/>
                    </a:lnR>
                    <a:lnT>
                      <a:noFill/>
                    </a:lnT>
                    <a:lnB w="3175" cap="flat" cmpd="sng" algn="ctr">
                      <a:solidFill>
                        <a:srgbClr val="002960"/>
                      </a:solidFill>
                      <a:prstDash val="solid"/>
                      <a:round/>
                      <a:headEnd type="none" w="med" len="med"/>
                      <a:tailEnd type="none" w="med" len="med"/>
                    </a:lnB>
                  </a:tcPr>
                </a:tc>
              </a:tr>
              <a:tr h="290194">
                <a:tc gridSpan="3">
                  <a:txBody>
                    <a:bodyPr/>
                    <a:lstStyle/>
                    <a:p>
                      <a:pPr algn="l" rtl="0" eaLnBrk="0">
                        <a:lnSpc>
                          <a:spcPct val="100000"/>
                        </a:lnSpc>
                      </a:pPr>
                      <a:endParaRPr lang="en-US" altLang="en-US" sz="1000" dirty="0">
                        <a:ea typeface="微软雅黑" panose="020B0503020204020204" charset="-122"/>
                      </a:endParaRPr>
                    </a:p>
                  </a:txBody>
                  <a:tcPr marL="0" marR="0" marT="0" marB="0">
                    <a:lnL>
                      <a:noFill/>
                    </a:lnL>
                    <a:lnR>
                      <a:noFill/>
                    </a:lnR>
                    <a:lnT w="3175" cap="flat" cmpd="sng" algn="ctr">
                      <a:solidFill>
                        <a:srgbClr val="FFFFFF"/>
                      </a:solidFill>
                      <a:prstDash val="solid"/>
                      <a:round/>
                      <a:headEnd type="none" w="med" len="med"/>
                      <a:tailEnd type="none" w="med" len="med"/>
                    </a:lnT>
                    <a:lnB w="3175" cap="flat" cmpd="sng" algn="ctr">
                      <a:solidFill>
                        <a:srgbClr val="002960"/>
                      </a:solidFill>
                      <a:prstDash val="solid"/>
                      <a:round/>
                      <a:headEnd type="none" w="med" len="med"/>
                      <a:tailEnd type="none" w="med" len="med"/>
                    </a:lnB>
                  </a:tcPr>
                </a:tc>
                <a:tc hMerge="1">
                  <a:tcPr marL="0" marR="0" marT="0" marB="0">
                    <a:lnL>
                      <a:noFill/>
                    </a:lnL>
                    <a:lnR>
                      <a:noFill/>
                    </a:lnR>
                    <a:lnT w="3175" cap="flat" cmpd="sng" algn="ctr">
                      <a:solidFill>
                        <a:srgbClr val="FFFFFF"/>
                      </a:solidFill>
                      <a:prstDash val="solid"/>
                      <a:round/>
                      <a:headEnd type="none" w="med" len="med"/>
                      <a:tailEnd type="none" w="med" len="med"/>
                    </a:lnT>
                    <a:lnB w="3175" cap="flat" cmpd="sng" algn="ctr">
                      <a:solidFill>
                        <a:srgbClr val="002960"/>
                      </a:solidFill>
                      <a:prstDash val="solid"/>
                      <a:round/>
                      <a:headEnd type="none" w="med" len="med"/>
                      <a:tailEnd type="none" w="med" len="med"/>
                    </a:lnB>
                  </a:tcPr>
                </a:tc>
                <a:tc hMerge="1">
                  <a:tcPr marL="0" marR="0" marT="0" marB="0">
                    <a:lnL>
                      <a:noFill/>
                    </a:lnL>
                    <a:lnR>
                      <a:noFill/>
                    </a:lnR>
                    <a:lnT w="3175" cap="flat" cmpd="sng" algn="ctr">
                      <a:solidFill>
                        <a:srgbClr val="FFFFFF"/>
                      </a:solidFill>
                      <a:prstDash val="solid"/>
                      <a:round/>
                      <a:headEnd type="none" w="med" len="med"/>
                      <a:tailEnd type="none" w="med" len="med"/>
                    </a:lnT>
                    <a:lnB w="3175" cap="flat" cmpd="sng" algn="ctr">
                      <a:solidFill>
                        <a:srgbClr val="002960"/>
                      </a:solidFill>
                      <a:prstDash val="solid"/>
                      <a:round/>
                      <a:headEnd type="none" w="med" len="med"/>
                      <a:tailEnd type="none" w="med" len="med"/>
                    </a:lnB>
                  </a:tcPr>
                </a:tc>
                <a:tc vMerge="1">
                  <a:tcPr marL="0" marR="0" marT="0" marB="0">
                    <a:lnL>
                      <a:noFill/>
                    </a:lnL>
                    <a:lnR w="19050" cap="flat" cmpd="sng" algn="ctr">
                      <a:solidFill>
                        <a:srgbClr val="002960"/>
                      </a:solidFill>
                      <a:prstDash val="solid"/>
                      <a:round/>
                      <a:headEnd type="none" w="med" len="med"/>
                      <a:tailEnd type="none" w="med" len="med"/>
                    </a:lnR>
                    <a:lnT>
                      <a:noFill/>
                    </a:lnT>
                    <a:lnB w="3175" cap="flat" cmpd="sng" algn="ctr">
                      <a:solidFill>
                        <a:srgbClr val="002960"/>
                      </a:solidFill>
                      <a:prstDash val="solid"/>
                      <a:round/>
                      <a:headEnd type="none" w="med" len="med"/>
                      <a:tailEnd type="none" w="med" len="med"/>
                    </a:lnB>
                  </a:tcPr>
                </a:tc>
              </a:tr>
              <a:tr h="910589">
                <a:tc gridSpan="2">
                  <a:txBody>
                    <a:bodyPr/>
                    <a:lstStyle/>
                    <a:p>
                      <a:pPr algn="l" rtl="0" eaLnBrk="0">
                        <a:lnSpc>
                          <a:spcPct val="105000"/>
                        </a:lnSpc>
                      </a:pPr>
                      <a:endParaRPr lang="en-US" altLang="en-US" sz="700" dirty="0">
                        <a:latin typeface="微软雅黑" panose="020B0503020204020204" charset="-122"/>
                        <a:ea typeface="微软雅黑" panose="020B0503020204020204" charset="-122"/>
                      </a:endParaRPr>
                    </a:p>
                    <a:p>
                      <a:pPr algn="l" rtl="0" eaLnBrk="0">
                        <a:lnSpc>
                          <a:spcPct val="6000"/>
                        </a:lnSpc>
                      </a:pPr>
                      <a:endParaRPr lang="en-US" altLang="en-US" sz="100" dirty="0">
                        <a:latin typeface="微软雅黑" panose="020B0503020204020204" charset="-122"/>
                        <a:ea typeface="微软雅黑" panose="020B0503020204020204" charset="-122"/>
                      </a:endParaRPr>
                    </a:p>
                    <a:p>
                      <a:pPr marL="165100" algn="l" rtl="0" eaLnBrk="0">
                        <a:lnSpc>
                          <a:spcPct val="89000"/>
                        </a:lnSpc>
                      </a:pPr>
                      <a:r>
                        <a:rPr sz="1500" spc="70" dirty="0">
                          <a:solidFill>
                            <a:srgbClr val="002960">
                              <a:alpha val="100000"/>
                            </a:srgbClr>
                          </a:solidFill>
                          <a:latin typeface="微软雅黑" panose="020B0503020204020204" charset="-122"/>
                          <a:ea typeface="微软雅黑" panose="020B0503020204020204" charset="-122"/>
                          <a:cs typeface="楷体" panose="02010609060101010101" charset="-122"/>
                        </a:rPr>
                        <a:t>吾听吾忘</a:t>
                      </a:r>
                      <a:r>
                        <a:rPr sz="1500" spc="60" dirty="0">
                          <a:solidFill>
                            <a:srgbClr val="002960">
                              <a:alpha val="100000"/>
                            </a:srgbClr>
                          </a:solidFill>
                          <a:latin typeface="微软雅黑" panose="020B0503020204020204" charset="-122"/>
                          <a:ea typeface="微软雅黑" panose="020B0503020204020204" charset="-122"/>
                          <a:cs typeface="楷体" panose="02010609060101010101" charset="-122"/>
                        </a:rPr>
                        <a:t>，</a:t>
                      </a:r>
                      <a:endParaRPr lang="en-US" altLang="en-US" sz="1500" dirty="0">
                        <a:latin typeface="微软雅黑" panose="020B0503020204020204" charset="-122"/>
                        <a:ea typeface="微软雅黑" panose="020B0503020204020204" charset="-122"/>
                      </a:endParaRPr>
                    </a:p>
                    <a:p>
                      <a:pPr marL="165100" algn="l" rtl="0" eaLnBrk="0">
                        <a:lnSpc>
                          <a:spcPts val="1920"/>
                        </a:lnSpc>
                      </a:pPr>
                      <a:r>
                        <a:rPr sz="1500" spc="70" dirty="0">
                          <a:solidFill>
                            <a:srgbClr val="002960">
                              <a:alpha val="100000"/>
                            </a:srgbClr>
                          </a:solidFill>
                          <a:latin typeface="微软雅黑" panose="020B0503020204020204" charset="-122"/>
                          <a:ea typeface="微软雅黑" panose="020B0503020204020204" charset="-122"/>
                          <a:cs typeface="楷体" panose="02010609060101010101" charset="-122"/>
                        </a:rPr>
                        <a:t>吾见吾记</a:t>
                      </a:r>
                      <a:r>
                        <a:rPr sz="1500" spc="50" dirty="0">
                          <a:solidFill>
                            <a:srgbClr val="002960">
                              <a:alpha val="100000"/>
                            </a:srgbClr>
                          </a:solidFill>
                          <a:latin typeface="微软雅黑" panose="020B0503020204020204" charset="-122"/>
                          <a:ea typeface="微软雅黑" panose="020B0503020204020204" charset="-122"/>
                          <a:cs typeface="楷体" panose="02010609060101010101" charset="-122"/>
                        </a:rPr>
                        <a:t>，</a:t>
                      </a:r>
                      <a:endParaRPr lang="en-US" altLang="en-US" sz="1500" dirty="0">
                        <a:latin typeface="微软雅黑" panose="020B0503020204020204" charset="-122"/>
                        <a:ea typeface="微软雅黑" panose="020B0503020204020204" charset="-122"/>
                      </a:endParaRPr>
                    </a:p>
                    <a:p>
                      <a:pPr marL="165100" algn="l" rtl="0" eaLnBrk="0">
                        <a:lnSpc>
                          <a:spcPts val="1920"/>
                        </a:lnSpc>
                      </a:pPr>
                      <a:r>
                        <a:rPr sz="1500" spc="70" dirty="0">
                          <a:solidFill>
                            <a:srgbClr val="002960">
                              <a:alpha val="100000"/>
                            </a:srgbClr>
                          </a:solidFill>
                          <a:latin typeface="微软雅黑" panose="020B0503020204020204" charset="-122"/>
                          <a:ea typeface="微软雅黑" panose="020B0503020204020204" charset="-122"/>
                          <a:cs typeface="楷体" panose="02010609060101010101" charset="-122"/>
                        </a:rPr>
                        <a:t>吾做吾悟</a:t>
                      </a:r>
                      <a:r>
                        <a:rPr sz="1500" spc="50" dirty="0">
                          <a:solidFill>
                            <a:srgbClr val="002960">
                              <a:alpha val="100000"/>
                            </a:srgbClr>
                          </a:solidFill>
                          <a:latin typeface="微软雅黑" panose="020B0503020204020204" charset="-122"/>
                          <a:ea typeface="微软雅黑" panose="020B0503020204020204" charset="-122"/>
                          <a:cs typeface="楷体" panose="02010609060101010101" charset="-122"/>
                        </a:rPr>
                        <a:t>。</a:t>
                      </a:r>
                      <a:endParaRPr lang="en-US" altLang="en-US" sz="1500" dirty="0">
                        <a:latin typeface="微软雅黑" panose="020B0503020204020204" charset="-122"/>
                        <a:ea typeface="微软雅黑" panose="020B0503020204020204" charset="-122"/>
                      </a:endParaRPr>
                    </a:p>
                  </a:txBody>
                  <a:tcPr marL="0" marR="0" marT="0" marB="0">
                    <a:lnL w="19050" cap="flat" cmpd="sng" algn="ctr">
                      <a:solidFill>
                        <a:srgbClr val="002960"/>
                      </a:solidFill>
                      <a:prstDash val="solid"/>
                      <a:round/>
                      <a:headEnd type="none" w="med" len="med"/>
                      <a:tailEnd type="none" w="med" len="med"/>
                    </a:lnL>
                    <a:lnR>
                      <a:noFill/>
                    </a:lnR>
                    <a:lnT w="3175" cap="flat" cmpd="sng" algn="ctr">
                      <a:solidFill>
                        <a:srgbClr val="002960"/>
                      </a:solidFill>
                      <a:prstDash val="solid"/>
                      <a:round/>
                      <a:headEnd type="none" w="med" len="med"/>
                      <a:tailEnd type="none" w="med" len="med"/>
                    </a:lnT>
                    <a:lnB w="3175" cap="flat" cmpd="sng" algn="ctr">
                      <a:solidFill>
                        <a:srgbClr val="002960"/>
                      </a:solidFill>
                      <a:prstDash val="solid"/>
                      <a:round/>
                      <a:headEnd type="none" w="med" len="med"/>
                      <a:tailEnd type="none" w="med" len="med"/>
                    </a:lnB>
                  </a:tcPr>
                </a:tc>
                <a:tc hMerge="1">
                  <a:tcPr marL="0" marR="0" marT="0" marB="0">
                    <a:lnL w="19050" cap="flat" cmpd="sng" algn="ctr">
                      <a:solidFill>
                        <a:srgbClr val="002960"/>
                      </a:solidFill>
                      <a:prstDash val="solid"/>
                      <a:round/>
                      <a:headEnd type="none" w="med" len="med"/>
                      <a:tailEnd type="none" w="med" len="med"/>
                    </a:lnL>
                    <a:lnR>
                      <a:noFill/>
                    </a:lnR>
                    <a:lnT w="3175" cap="flat" cmpd="sng" algn="ctr">
                      <a:solidFill>
                        <a:srgbClr val="002960"/>
                      </a:solidFill>
                      <a:prstDash val="solid"/>
                      <a:round/>
                      <a:headEnd type="none" w="med" len="med"/>
                      <a:tailEnd type="none" w="med" len="med"/>
                    </a:lnT>
                    <a:lnB w="3175" cap="flat" cmpd="sng" algn="ctr">
                      <a:solidFill>
                        <a:srgbClr val="002960"/>
                      </a:solidFill>
                      <a:prstDash val="solid"/>
                      <a:round/>
                      <a:headEnd type="none" w="med" len="med"/>
                      <a:tailEnd type="none" w="med" len="med"/>
                    </a:lnB>
                  </a:tcPr>
                </a:tc>
                <a:tc gridSpan="2">
                  <a:txBody>
                    <a:bodyPr/>
                    <a:lstStyle/>
                    <a:p>
                      <a:pPr algn="l" rtl="0" eaLnBrk="0">
                        <a:lnSpc>
                          <a:spcPct val="128000"/>
                        </a:lnSpc>
                      </a:pPr>
                      <a:endParaRPr lang="en-US" altLang="en-US" sz="1000" dirty="0">
                        <a:latin typeface="微软雅黑" panose="020B0503020204020204" charset="-122"/>
                        <a:ea typeface="微软雅黑" panose="020B0503020204020204" charset="-122"/>
                      </a:endParaRPr>
                    </a:p>
                    <a:p>
                      <a:pPr algn="l" rtl="0" eaLnBrk="0">
                        <a:lnSpc>
                          <a:spcPct val="128000"/>
                        </a:lnSpc>
                      </a:pPr>
                      <a:endParaRPr lang="en-US" altLang="en-US" sz="1000" dirty="0">
                        <a:latin typeface="微软雅黑" panose="020B0503020204020204" charset="-122"/>
                        <a:ea typeface="微软雅黑" panose="020B0503020204020204" charset="-122"/>
                      </a:endParaRPr>
                    </a:p>
                    <a:p>
                      <a:pPr algn="l" rtl="0" eaLnBrk="0">
                        <a:lnSpc>
                          <a:spcPct val="128000"/>
                        </a:lnSpc>
                      </a:pPr>
                      <a:endParaRPr lang="en-US" altLang="en-US" sz="1000" dirty="0">
                        <a:latin typeface="微软雅黑" panose="020B0503020204020204" charset="-122"/>
                        <a:ea typeface="微软雅黑" panose="020B0503020204020204" charset="-122"/>
                      </a:endParaRPr>
                    </a:p>
                    <a:p>
                      <a:pPr algn="l" rtl="0" eaLnBrk="0">
                        <a:lnSpc>
                          <a:spcPct val="8000"/>
                        </a:lnSpc>
                      </a:pPr>
                      <a:endParaRPr lang="en-US" altLang="en-US" sz="100" dirty="0">
                        <a:latin typeface="微软雅黑" panose="020B0503020204020204" charset="-122"/>
                        <a:ea typeface="微软雅黑" panose="020B0503020204020204" charset="-122"/>
                      </a:endParaRPr>
                    </a:p>
                    <a:p>
                      <a:pPr marL="1546225" algn="l" rtl="0" eaLnBrk="0">
                        <a:lnSpc>
                          <a:spcPct val="94000"/>
                        </a:lnSpc>
                      </a:pPr>
                      <a:r>
                        <a:rPr sz="1600" i="1" spc="230" dirty="0">
                          <a:solidFill>
                            <a:srgbClr val="808080">
                              <a:alpha val="100000"/>
                            </a:srgbClr>
                          </a:solidFill>
                          <a:latin typeface="微软雅黑" panose="020B0503020204020204" charset="-122"/>
                          <a:ea typeface="微软雅黑" panose="020B0503020204020204" charset="-122"/>
                          <a:cs typeface="楷体" panose="02010609060101010101" charset="-122"/>
                        </a:rPr>
                        <a:t>孔</a:t>
                      </a:r>
                      <a:r>
                        <a:rPr sz="1600" i="1" spc="210" dirty="0">
                          <a:solidFill>
                            <a:srgbClr val="808080">
                              <a:alpha val="100000"/>
                            </a:srgbClr>
                          </a:solidFill>
                          <a:latin typeface="微软雅黑" panose="020B0503020204020204" charset="-122"/>
                          <a:ea typeface="微软雅黑" panose="020B0503020204020204" charset="-122"/>
                          <a:cs typeface="楷体" panose="02010609060101010101" charset="-122"/>
                        </a:rPr>
                        <a:t>子</a:t>
                      </a:r>
                      <a:endParaRPr lang="en-US" altLang="en-US" sz="1600" dirty="0">
                        <a:latin typeface="微软雅黑" panose="020B0503020204020204" charset="-122"/>
                        <a:ea typeface="微软雅黑" panose="020B0503020204020204" charset="-122"/>
                      </a:endParaRPr>
                    </a:p>
                  </a:txBody>
                  <a:tcPr marL="0" marR="0" marT="0" marB="0">
                    <a:lnL>
                      <a:noFill/>
                    </a:lnL>
                    <a:lnR w="19050" cap="flat" cmpd="sng" algn="ctr">
                      <a:solidFill>
                        <a:srgbClr val="002960"/>
                      </a:solidFill>
                      <a:prstDash val="solid"/>
                      <a:round/>
                      <a:headEnd type="none" w="med" len="med"/>
                      <a:tailEnd type="none" w="med" len="med"/>
                    </a:lnR>
                    <a:lnT w="3175" cap="flat" cmpd="sng" algn="ctr">
                      <a:solidFill>
                        <a:srgbClr val="002960"/>
                      </a:solidFill>
                      <a:prstDash val="solid"/>
                      <a:round/>
                      <a:headEnd type="none" w="med" len="med"/>
                      <a:tailEnd type="none" w="med" len="med"/>
                    </a:lnT>
                    <a:lnB w="3175" cap="flat" cmpd="sng" algn="ctr">
                      <a:solidFill>
                        <a:srgbClr val="002960"/>
                      </a:solidFill>
                      <a:prstDash val="solid"/>
                      <a:round/>
                      <a:headEnd type="none" w="med" len="med"/>
                      <a:tailEnd type="none" w="med" len="med"/>
                    </a:lnB>
                  </a:tcPr>
                </a:tc>
                <a:tc hMerge="1">
                  <a:tcPr marL="0" marR="0" marT="0" marB="0">
                    <a:lnL>
                      <a:noFill/>
                    </a:lnL>
                    <a:lnR w="19050" cap="flat" cmpd="sng" algn="ctr">
                      <a:solidFill>
                        <a:srgbClr val="002960"/>
                      </a:solidFill>
                      <a:prstDash val="solid"/>
                      <a:round/>
                      <a:headEnd type="none" w="med" len="med"/>
                      <a:tailEnd type="none" w="med" len="med"/>
                    </a:lnR>
                    <a:lnT w="3175" cap="flat" cmpd="sng" algn="ctr">
                      <a:solidFill>
                        <a:srgbClr val="002960"/>
                      </a:solidFill>
                      <a:prstDash val="solid"/>
                      <a:round/>
                      <a:headEnd type="none" w="med" len="med"/>
                      <a:tailEnd type="none" w="med" len="med"/>
                    </a:lnT>
                    <a:lnB w="3175" cap="flat" cmpd="sng" algn="ctr">
                      <a:solidFill>
                        <a:srgbClr val="002960"/>
                      </a:solidFill>
                      <a:prstDash val="solid"/>
                      <a:round/>
                      <a:headEnd type="none" w="med" len="med"/>
                      <a:tailEnd type="none" w="med" len="med"/>
                    </a:lnB>
                  </a:tcPr>
                </a:tc>
              </a:tr>
            </a:tbl>
          </a:graphicData>
        </a:graphic>
      </p:graphicFrame>
      <p:grpSp>
        <p:nvGrpSpPr>
          <p:cNvPr id="6" name="group 6"/>
          <p:cNvGrpSpPr/>
          <p:nvPr/>
        </p:nvGrpSpPr>
        <p:grpSpPr>
          <a:xfrm rot="21600000">
            <a:off x="118872" y="1609344"/>
            <a:ext cx="2848355" cy="4187952"/>
            <a:chOff x="0" y="0"/>
            <a:chExt cx="2848355" cy="4187952"/>
          </a:xfrm>
        </p:grpSpPr>
        <p:pic>
          <p:nvPicPr>
            <p:cNvPr id="117" name="picture 117"/>
            <p:cNvPicPr>
              <a:picLocks noChangeAspect="1"/>
            </p:cNvPicPr>
            <p:nvPr/>
          </p:nvPicPr>
          <p:blipFill>
            <a:blip r:embed="rId1"/>
            <a:stretch>
              <a:fillRect/>
            </a:stretch>
          </p:blipFill>
          <p:spPr>
            <a:xfrm rot="21600000">
              <a:off x="0" y="0"/>
              <a:ext cx="2456687" cy="4187952"/>
            </a:xfrm>
            <a:prstGeom prst="rect">
              <a:avLst/>
            </a:prstGeom>
          </p:spPr>
        </p:pic>
        <p:sp>
          <p:nvSpPr>
            <p:cNvPr id="118" name="textbox 118"/>
            <p:cNvSpPr/>
            <p:nvPr/>
          </p:nvSpPr>
          <p:spPr>
            <a:xfrm>
              <a:off x="1896507" y="578099"/>
              <a:ext cx="841375" cy="2185035"/>
            </a:xfrm>
            <a:prstGeom prst="rect">
              <a:avLst/>
            </a:prstGeom>
          </p:spPr>
          <p:txBody>
            <a:bodyPr vert="horz" wrap="square" lIns="0" tIns="0" rIns="0" bIns="0"/>
            <a:lstStyle/>
            <a:p>
              <a:pPr algn="l" rtl="0" eaLnBrk="0">
                <a:lnSpc>
                  <a:spcPct val="85000"/>
                </a:lnSpc>
              </a:pPr>
              <a:endParaRPr lang="en-US" altLang="en-US" sz="100" dirty="0">
                <a:latin typeface="微软雅黑" panose="020B0503020204020204" charset="-122"/>
                <a:ea typeface="微软雅黑" panose="020B0503020204020204" charset="-122"/>
              </a:endParaRPr>
            </a:p>
            <a:p>
              <a:pPr marL="19685" algn="l" rtl="0" eaLnBrk="0">
                <a:lnSpc>
                  <a:spcPct val="96000"/>
                </a:lnSpc>
              </a:pPr>
              <a:r>
                <a:rPr sz="1400" spc="0" dirty="0">
                  <a:solidFill>
                    <a:srgbClr val="002960">
                      <a:alpha val="100000"/>
                    </a:srgbClr>
                  </a:solidFill>
                  <a:latin typeface="微软雅黑" panose="020B0503020204020204" charset="-122"/>
                  <a:ea typeface="微软雅黑" panose="020B0503020204020204" charset="-122"/>
                  <a:cs typeface="楷体" panose="02010609060101010101" charset="-122"/>
                </a:rPr>
                <a:t>听</a:t>
              </a:r>
              <a:endParaRPr lang="en-US" altLang="en-US" sz="1400" dirty="0">
                <a:latin typeface="微软雅黑" panose="020B0503020204020204" charset="-122"/>
                <a:ea typeface="微软雅黑" panose="020B0503020204020204" charset="-122"/>
              </a:endParaRPr>
            </a:p>
            <a:p>
              <a:pPr marL="116840" algn="l" rtl="0" eaLnBrk="0">
                <a:lnSpc>
                  <a:spcPct val="95000"/>
                </a:lnSpc>
                <a:spcBef>
                  <a:spcPts val="60"/>
                </a:spcBef>
              </a:pPr>
              <a:r>
                <a:rPr sz="1400" spc="-60" dirty="0">
                  <a:solidFill>
                    <a:srgbClr val="000000">
                      <a:alpha val="100000"/>
                    </a:srgbClr>
                  </a:solidFill>
                  <a:latin typeface="微软雅黑" panose="020B0503020204020204" charset="-122"/>
                  <a:ea typeface="微软雅黑" panose="020B0503020204020204" charset="-122"/>
                  <a:cs typeface="楷体" panose="02010609060101010101" charset="-122"/>
                </a:rPr>
                <a:t>(解释</a:t>
              </a:r>
              <a:r>
                <a:rPr sz="1400" spc="-40" dirty="0">
                  <a:solidFill>
                    <a:srgbClr val="000000">
                      <a:alpha val="100000"/>
                    </a:srgbClr>
                  </a:solidFill>
                  <a:latin typeface="微软雅黑" panose="020B0503020204020204" charset="-122"/>
                  <a:ea typeface="微软雅黑" panose="020B0503020204020204" charset="-122"/>
                  <a:cs typeface="楷体" panose="02010609060101010101" charset="-122"/>
                </a:rPr>
                <a:t>)</a:t>
              </a:r>
              <a:endParaRPr lang="en-US" altLang="en-US" sz="1400" dirty="0">
                <a:latin typeface="微软雅黑" panose="020B0503020204020204" charset="-122"/>
                <a:ea typeface="微软雅黑" panose="020B0503020204020204" charset="-122"/>
              </a:endParaRPr>
            </a:p>
            <a:p>
              <a:pPr algn="l" rtl="0" eaLnBrk="0">
                <a:lnSpc>
                  <a:spcPct val="130000"/>
                </a:lnSpc>
              </a:pPr>
              <a:endParaRPr lang="en-US" altLang="en-US" sz="1000" dirty="0">
                <a:latin typeface="微软雅黑" panose="020B0503020204020204" charset="-122"/>
                <a:ea typeface="微软雅黑" panose="020B0503020204020204" charset="-122"/>
              </a:endParaRPr>
            </a:p>
            <a:p>
              <a:pPr algn="l" rtl="0" eaLnBrk="0">
                <a:lnSpc>
                  <a:spcPct val="131000"/>
                </a:lnSpc>
              </a:pPr>
              <a:endParaRPr lang="en-US" altLang="en-US" sz="1000" dirty="0">
                <a:latin typeface="微软雅黑" panose="020B0503020204020204" charset="-122"/>
                <a:ea typeface="微软雅黑" panose="020B0503020204020204" charset="-122"/>
              </a:endParaRPr>
            </a:p>
            <a:p>
              <a:pPr marL="12700" algn="l" rtl="0" eaLnBrk="0">
                <a:lnSpc>
                  <a:spcPct val="96000"/>
                </a:lnSpc>
                <a:spcBef>
                  <a:spcPts val="425"/>
                </a:spcBef>
              </a:pPr>
              <a:r>
                <a:rPr sz="1400" spc="0" dirty="0">
                  <a:solidFill>
                    <a:srgbClr val="002960">
                      <a:alpha val="100000"/>
                    </a:srgbClr>
                  </a:solidFill>
                  <a:latin typeface="微软雅黑" panose="020B0503020204020204" charset="-122"/>
                  <a:ea typeface="微软雅黑" panose="020B0503020204020204" charset="-122"/>
                  <a:cs typeface="楷体" panose="02010609060101010101" charset="-122"/>
                </a:rPr>
                <a:t>看</a:t>
              </a:r>
              <a:endParaRPr lang="en-US" altLang="en-US" sz="1400" dirty="0">
                <a:latin typeface="微软雅黑" panose="020B0503020204020204" charset="-122"/>
                <a:ea typeface="微软雅黑" panose="020B0503020204020204" charset="-122"/>
              </a:endParaRPr>
            </a:p>
            <a:p>
              <a:pPr marL="116840" algn="l" rtl="0" eaLnBrk="0">
                <a:lnSpc>
                  <a:spcPct val="96000"/>
                </a:lnSpc>
                <a:spcBef>
                  <a:spcPts val="75"/>
                </a:spcBef>
              </a:pPr>
              <a:r>
                <a:rPr sz="1400" spc="-60" dirty="0">
                  <a:solidFill>
                    <a:srgbClr val="000000">
                      <a:alpha val="100000"/>
                    </a:srgbClr>
                  </a:solidFill>
                  <a:latin typeface="微软雅黑" panose="020B0503020204020204" charset="-122"/>
                  <a:ea typeface="微软雅黑" panose="020B0503020204020204" charset="-122"/>
                  <a:cs typeface="楷体" panose="02010609060101010101" charset="-122"/>
                </a:rPr>
                <a:t>(示例)</a:t>
              </a:r>
              <a:endParaRPr lang="en-US" altLang="en-US" sz="1400" dirty="0">
                <a:latin typeface="微软雅黑" panose="020B0503020204020204" charset="-122"/>
                <a:ea typeface="微软雅黑" panose="020B0503020204020204" charset="-122"/>
              </a:endParaRPr>
            </a:p>
            <a:p>
              <a:pPr algn="l" rtl="0" eaLnBrk="0">
                <a:lnSpc>
                  <a:spcPct val="178000"/>
                </a:lnSpc>
              </a:pPr>
              <a:endParaRPr lang="en-US" altLang="en-US" sz="1000" dirty="0">
                <a:latin typeface="微软雅黑" panose="020B0503020204020204" charset="-122"/>
                <a:ea typeface="微软雅黑" panose="020B0503020204020204" charset="-122"/>
              </a:endParaRPr>
            </a:p>
            <a:p>
              <a:pPr marL="765810" algn="l" rtl="0" eaLnBrk="0">
                <a:lnSpc>
                  <a:spcPts val="1160"/>
                </a:lnSpc>
                <a:spcBef>
                  <a:spcPts val="310"/>
                </a:spcBef>
                <a:tabLst>
                  <a:tab pos="827405" algn="l"/>
                </a:tabLst>
              </a:pPr>
              <a:r>
                <a:rPr sz="1000" u="sng" spc="0" dirty="0">
                  <a:solidFill>
                    <a:srgbClr val="000000">
                      <a:alpha val="100000"/>
                    </a:srgbClr>
                  </a:solidFill>
                  <a:latin typeface="微软雅黑" panose="020B0503020204020204" charset="-122"/>
                  <a:ea typeface="微软雅黑" panose="020B0503020204020204" charset="-122"/>
                  <a:cs typeface="Arial" panose="020B0604020202020204"/>
                </a:rPr>
                <a:t>	</a:t>
              </a:r>
              <a:endParaRPr lang="en-US" altLang="en-US" sz="1000" dirty="0">
                <a:latin typeface="微软雅黑" panose="020B0503020204020204" charset="-122"/>
                <a:ea typeface="微软雅黑" panose="020B0503020204020204" charset="-122"/>
              </a:endParaRPr>
            </a:p>
            <a:p>
              <a:pPr marL="16510" algn="l" rtl="0" eaLnBrk="0">
                <a:lnSpc>
                  <a:spcPts val="1605"/>
                </a:lnSpc>
              </a:pPr>
              <a:r>
                <a:rPr sz="1300" spc="40" dirty="0">
                  <a:solidFill>
                    <a:srgbClr val="002960">
                      <a:alpha val="100000"/>
                    </a:srgbClr>
                  </a:solidFill>
                  <a:latin typeface="微软雅黑" panose="020B0503020204020204" charset="-122"/>
                  <a:ea typeface="微软雅黑" panose="020B0503020204020204" charset="-122"/>
                  <a:cs typeface="楷体" panose="02010609060101010101" charset="-122"/>
                </a:rPr>
                <a:t>做</a:t>
              </a:r>
              <a:endParaRPr lang="en-US" altLang="en-US" sz="1300" dirty="0">
                <a:latin typeface="微软雅黑" panose="020B0503020204020204" charset="-122"/>
                <a:ea typeface="微软雅黑" panose="020B0503020204020204" charset="-122"/>
              </a:endParaRPr>
            </a:p>
            <a:p>
              <a:pPr marL="117475" algn="l" rtl="0" eaLnBrk="0">
                <a:lnSpc>
                  <a:spcPct val="97000"/>
                </a:lnSpc>
                <a:spcBef>
                  <a:spcPts val="30"/>
                </a:spcBef>
              </a:pPr>
              <a:r>
                <a:rPr sz="1400" spc="-60" dirty="0">
                  <a:solidFill>
                    <a:srgbClr val="000000">
                      <a:alpha val="100000"/>
                    </a:srgbClr>
                  </a:solidFill>
                  <a:latin typeface="微软雅黑" panose="020B0503020204020204" charset="-122"/>
                  <a:ea typeface="微软雅黑" panose="020B0503020204020204" charset="-122"/>
                  <a:cs typeface="楷体" panose="02010609060101010101" charset="-122"/>
                </a:rPr>
                <a:t>(体验)</a:t>
              </a:r>
              <a:endParaRPr lang="en-US" altLang="en-US" sz="1400" dirty="0">
                <a:latin typeface="微软雅黑" panose="020B0503020204020204" charset="-122"/>
                <a:ea typeface="微软雅黑" panose="020B0503020204020204" charset="-122"/>
              </a:endParaRPr>
            </a:p>
          </p:txBody>
        </p:sp>
        <p:pic>
          <p:nvPicPr>
            <p:cNvPr id="119" name="picture 119"/>
            <p:cNvPicPr>
              <a:picLocks noChangeAspect="1"/>
            </p:cNvPicPr>
            <p:nvPr/>
          </p:nvPicPr>
          <p:blipFill>
            <a:blip r:embed="rId2"/>
            <a:stretch>
              <a:fillRect/>
            </a:stretch>
          </p:blipFill>
          <p:spPr>
            <a:xfrm rot="21600000">
              <a:off x="872489" y="617220"/>
              <a:ext cx="698245" cy="903350"/>
            </a:xfrm>
            <a:prstGeom prst="rect">
              <a:avLst/>
            </a:prstGeom>
          </p:spPr>
        </p:pic>
        <p:pic>
          <p:nvPicPr>
            <p:cNvPr id="120" name="picture 120"/>
            <p:cNvPicPr>
              <a:picLocks noChangeAspect="1"/>
            </p:cNvPicPr>
            <p:nvPr/>
          </p:nvPicPr>
          <p:blipFill>
            <a:blip r:embed="rId3"/>
            <a:stretch>
              <a:fillRect/>
            </a:stretch>
          </p:blipFill>
          <p:spPr>
            <a:xfrm rot="21600000">
              <a:off x="1177289" y="2221484"/>
              <a:ext cx="380110" cy="168655"/>
            </a:xfrm>
            <a:prstGeom prst="rect">
              <a:avLst/>
            </a:prstGeom>
          </p:spPr>
        </p:pic>
        <p:sp>
          <p:nvSpPr>
            <p:cNvPr id="121" name="path"/>
            <p:cNvSpPr/>
            <p:nvPr/>
          </p:nvSpPr>
          <p:spPr>
            <a:xfrm>
              <a:off x="15239" y="4018788"/>
              <a:ext cx="2833116" cy="9144"/>
            </a:xfrm>
            <a:custGeom>
              <a:avLst/>
              <a:gdLst/>
              <a:ahLst/>
              <a:cxnLst/>
              <a:rect l="0" t="0" r="0" b="0"/>
              <a:pathLst>
                <a:path w="4461" h="14">
                  <a:moveTo>
                    <a:pt x="0" y="7"/>
                  </a:moveTo>
                  <a:lnTo>
                    <a:pt x="4461" y="7"/>
                  </a:lnTo>
                </a:path>
              </a:pathLst>
            </a:custGeom>
            <a:noFill/>
            <a:ln w="9143" cap="flat">
              <a:solidFill>
                <a:srgbClr val="000000">
                  <a:alpha val="100000"/>
                </a:srgbClr>
              </a:solidFill>
              <a:prstDash val="solid"/>
              <a:round/>
            </a:ln>
          </p:spPr>
          <p:txBody>
            <a:bodyPr rtlCol="0"/>
            <a:lstStyle/>
            <a:p>
              <a:pPr algn="ctr"/>
              <a:endParaRPr lang="zh-CN" altLang="en-US"/>
            </a:p>
          </p:txBody>
        </p:sp>
      </p:grpSp>
      <p:sp>
        <p:nvSpPr>
          <p:cNvPr id="122" name="textbox 122"/>
          <p:cNvSpPr/>
          <p:nvPr/>
        </p:nvSpPr>
        <p:spPr>
          <a:xfrm>
            <a:off x="152045" y="1024483"/>
            <a:ext cx="8259444" cy="682625"/>
          </a:xfrm>
          <a:prstGeom prst="rect">
            <a:avLst/>
          </a:prstGeom>
        </p:spPr>
        <p:txBody>
          <a:bodyPr vert="horz" wrap="square" lIns="0" tIns="0" rIns="0" bIns="0"/>
          <a:lstStyle/>
          <a:p>
            <a:pPr algn="l" rtl="0" eaLnBrk="0">
              <a:lnSpc>
                <a:spcPct val="76000"/>
              </a:lnSpc>
            </a:pPr>
            <a:endParaRPr lang="en-US" altLang="en-US" sz="100" dirty="0">
              <a:latin typeface="微软雅黑" panose="020B0503020204020204" charset="-122"/>
              <a:ea typeface="微软雅黑" panose="020B0503020204020204" charset="-122"/>
            </a:endParaRPr>
          </a:p>
          <a:p>
            <a:pPr marL="12700" algn="l" rtl="0" eaLnBrk="0">
              <a:lnSpc>
                <a:spcPct val="94000"/>
              </a:lnSpc>
              <a:tabLst>
                <a:tab pos="8245475" algn="l"/>
              </a:tabLst>
            </a:pPr>
            <a:r>
              <a:rPr sz="1800" i="1" u="sng" spc="-20" dirty="0">
                <a:solidFill>
                  <a:srgbClr val="002960">
                    <a:alpha val="100000"/>
                  </a:srgbClr>
                </a:solidFill>
                <a:latin typeface="微软雅黑" panose="020B0503020204020204" charset="-122"/>
                <a:ea typeface="微软雅黑" panose="020B0503020204020204" charset="-122"/>
                <a:cs typeface="楷体" panose="02010609060101010101" charset="-122"/>
              </a:rPr>
              <a:t>简单学习内容</a:t>
            </a:r>
            <a:r>
              <a:rPr sz="1800" i="1" u="sng" spc="-10" dirty="0">
                <a:solidFill>
                  <a:srgbClr val="002960">
                    <a:alpha val="100000"/>
                  </a:srgbClr>
                </a:solidFill>
                <a:latin typeface="微软雅黑" panose="020B0503020204020204" charset="-122"/>
                <a:ea typeface="微软雅黑" panose="020B0503020204020204" charset="-122"/>
                <a:cs typeface="楷体" panose="02010609060101010101" charset="-122"/>
              </a:rPr>
              <a:t>的</a:t>
            </a:r>
            <a:r>
              <a:rPr sz="1800" i="1" u="sng" spc="0" dirty="0">
                <a:solidFill>
                  <a:srgbClr val="002960">
                    <a:alpha val="100000"/>
                  </a:srgbClr>
                </a:solidFill>
                <a:latin typeface="微软雅黑" panose="020B0503020204020204" charset="-122"/>
                <a:ea typeface="微软雅黑" panose="020B0503020204020204" charset="-122"/>
                <a:cs typeface="楷体" panose="02010609060101010101" charset="-122"/>
              </a:rPr>
              <a:t>记忆率</a:t>
            </a:r>
            <a:r>
              <a:rPr sz="1800" i="1" u="sng" spc="0" baseline="29000" dirty="0">
                <a:solidFill>
                  <a:srgbClr val="002960">
                    <a:alpha val="100000"/>
                  </a:srgbClr>
                </a:solidFill>
                <a:latin typeface="微软雅黑" panose="020B0503020204020204" charset="-122"/>
                <a:ea typeface="微软雅黑" panose="020B0503020204020204" charset="-122"/>
                <a:cs typeface="Arial" panose="020B0604020202020204"/>
              </a:rPr>
              <a:t>1</a:t>
            </a:r>
            <a:r>
              <a:rPr sz="1100" u="sng" spc="0" dirty="0">
                <a:solidFill>
                  <a:srgbClr val="002960">
                    <a:alpha val="100000"/>
                  </a:srgbClr>
                </a:solidFill>
                <a:latin typeface="微软雅黑" panose="020B0503020204020204" charset="-122"/>
                <a:ea typeface="微软雅黑" panose="020B0503020204020204" charset="-122"/>
                <a:cs typeface="Arial" panose="020B0604020202020204"/>
              </a:rPr>
              <a:t>	</a:t>
            </a:r>
            <a:endParaRPr lang="en-US" altLang="en-US" sz="1100" dirty="0">
              <a:latin typeface="微软雅黑" panose="020B0503020204020204" charset="-122"/>
              <a:ea typeface="微软雅黑" panose="020B0503020204020204" charset="-122"/>
            </a:endParaRPr>
          </a:p>
          <a:p>
            <a:pPr algn="l" rtl="0" eaLnBrk="0">
              <a:lnSpc>
                <a:spcPct val="107000"/>
              </a:lnSpc>
            </a:pPr>
            <a:endParaRPr lang="en-US" altLang="en-US" sz="1000" dirty="0">
              <a:latin typeface="微软雅黑" panose="020B0503020204020204" charset="-122"/>
              <a:ea typeface="微软雅黑" panose="020B0503020204020204" charset="-122"/>
            </a:endParaRPr>
          </a:p>
          <a:p>
            <a:pPr algn="l" rtl="0" eaLnBrk="0">
              <a:lnSpc>
                <a:spcPct val="8000"/>
              </a:lnSpc>
            </a:pPr>
            <a:endParaRPr lang="en-US" altLang="en-US" sz="100" dirty="0">
              <a:latin typeface="微软雅黑" panose="020B0503020204020204" charset="-122"/>
              <a:ea typeface="微软雅黑" panose="020B0503020204020204" charset="-122"/>
            </a:endParaRPr>
          </a:p>
          <a:p>
            <a:pPr marL="1569085" algn="l" rtl="0" eaLnBrk="0">
              <a:lnSpc>
                <a:spcPts val="1855"/>
              </a:lnSpc>
            </a:pPr>
            <a:r>
              <a:rPr sz="1500" spc="100" dirty="0">
                <a:solidFill>
                  <a:srgbClr val="002960">
                    <a:alpha val="100000"/>
                  </a:srgbClr>
                </a:solidFill>
                <a:latin typeface="微软雅黑" panose="020B0503020204020204" charset="-122"/>
                <a:ea typeface="微软雅黑" panose="020B0503020204020204" charset="-122"/>
                <a:cs typeface="楷体" panose="02010609060101010101" charset="-122"/>
              </a:rPr>
              <a:t>学习方式     </a:t>
            </a:r>
            <a:r>
              <a:rPr sz="1500" spc="100" dirty="0">
                <a:solidFill>
                  <a:srgbClr val="002960">
                    <a:alpha val="100000"/>
                  </a:srgbClr>
                </a:solidFill>
                <a:latin typeface="微软雅黑" panose="020B0503020204020204" charset="-122"/>
                <a:ea typeface="微软雅黑" panose="020B0503020204020204" charset="-122"/>
                <a:cs typeface="Arial" panose="020B0604020202020204"/>
              </a:rPr>
              <a:t>3</a:t>
            </a:r>
            <a:r>
              <a:rPr sz="1500" spc="100" dirty="0">
                <a:solidFill>
                  <a:srgbClr val="002960">
                    <a:alpha val="100000"/>
                  </a:srgbClr>
                </a:solidFill>
                <a:latin typeface="微软雅黑" panose="020B0503020204020204" charset="-122"/>
                <a:ea typeface="微软雅黑" panose="020B0503020204020204" charset="-122"/>
                <a:cs typeface="楷体" panose="02010609060101010101" charset="-122"/>
              </a:rPr>
              <a:t>个月后的记忆率</a:t>
            </a:r>
            <a:r>
              <a:rPr sz="1500" spc="70" dirty="0">
                <a:solidFill>
                  <a:srgbClr val="002960">
                    <a:alpha val="100000"/>
                  </a:srgbClr>
                </a:solidFill>
                <a:latin typeface="微软雅黑" panose="020B0503020204020204" charset="-122"/>
                <a:ea typeface="微软雅黑" panose="020B0503020204020204" charset="-122"/>
                <a:cs typeface="楷体" panose="02010609060101010101" charset="-122"/>
              </a:rPr>
              <a:t>，</a:t>
            </a:r>
            <a:r>
              <a:rPr sz="1500" spc="0" dirty="0">
                <a:solidFill>
                  <a:srgbClr val="002960">
                    <a:alpha val="100000"/>
                  </a:srgbClr>
                </a:solidFill>
                <a:latin typeface="微软雅黑" panose="020B0503020204020204" charset="-122"/>
                <a:ea typeface="微软雅黑" panose="020B0503020204020204" charset="-122"/>
                <a:cs typeface="Arial" panose="020B0604020202020204"/>
              </a:rPr>
              <a:t>%</a:t>
            </a:r>
            <a:endParaRPr lang="en-US" altLang="en-US" sz="1500" dirty="0">
              <a:latin typeface="微软雅黑" panose="020B0503020204020204" charset="-122"/>
              <a:ea typeface="微软雅黑" panose="020B0503020204020204" charset="-122"/>
            </a:endParaRPr>
          </a:p>
        </p:txBody>
      </p:sp>
      <p:pic>
        <p:nvPicPr>
          <p:cNvPr id="123" name="picture 123"/>
          <p:cNvPicPr>
            <a:picLocks noChangeAspect="1"/>
          </p:cNvPicPr>
          <p:nvPr/>
        </p:nvPicPr>
        <p:blipFill>
          <a:blip r:embed="rId4"/>
          <a:stretch>
            <a:fillRect/>
          </a:stretch>
        </p:blipFill>
        <p:spPr>
          <a:xfrm rot="21600000">
            <a:off x="7246619" y="3724656"/>
            <a:ext cx="1202435" cy="1889760"/>
          </a:xfrm>
          <a:prstGeom prst="rect">
            <a:avLst/>
          </a:prstGeom>
        </p:spPr>
      </p:pic>
      <p:sp>
        <p:nvSpPr>
          <p:cNvPr id="124" name="textbox 124"/>
          <p:cNvSpPr/>
          <p:nvPr/>
        </p:nvSpPr>
        <p:spPr>
          <a:xfrm>
            <a:off x="186242" y="245689"/>
            <a:ext cx="5610859" cy="305434"/>
          </a:xfrm>
          <a:prstGeom prst="rect">
            <a:avLst/>
          </a:prstGeom>
        </p:spPr>
        <p:txBody>
          <a:bodyPr vert="horz" wrap="square" lIns="0" tIns="0" rIns="0" bIns="0"/>
          <a:lstStyle/>
          <a:p>
            <a:pPr algn="l" rtl="0" eaLnBrk="0">
              <a:lnSpc>
                <a:spcPct val="79000"/>
              </a:lnSpc>
            </a:pPr>
            <a:endParaRPr lang="en-US" altLang="en-US" sz="100" dirty="0">
              <a:latin typeface="微软雅黑" panose="020B0503020204020204" charset="-122"/>
              <a:ea typeface="微软雅黑" panose="020B0503020204020204" charset="-122"/>
            </a:endParaRPr>
          </a:p>
          <a:p>
            <a:pPr marL="12700" algn="l" rtl="0" eaLnBrk="0">
              <a:lnSpc>
                <a:spcPct val="92000"/>
              </a:lnSpc>
            </a:pPr>
            <a:r>
              <a:rPr sz="2000" spc="-10" dirty="0">
                <a:solidFill>
                  <a:srgbClr val="002960">
                    <a:alpha val="100000"/>
                  </a:srgbClr>
                </a:solidFill>
                <a:latin typeface="微软雅黑" panose="020B0503020204020204" charset="-122"/>
                <a:ea typeface="微软雅黑" panose="020B0503020204020204" charset="-122"/>
                <a:cs typeface="楷体" panose="02010609060101010101" charset="-122"/>
              </a:rPr>
              <a:t>在培训</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开始之前，我们需要提醒能力建设并不容易</a:t>
            </a:r>
            <a:endParaRPr lang="en-US" altLang="en-US" sz="2000" dirty="0">
              <a:latin typeface="微软雅黑" panose="020B0503020204020204" charset="-122"/>
              <a:ea typeface="微软雅黑" panose="020B0503020204020204" charset="-122"/>
            </a:endParaRPr>
          </a:p>
        </p:txBody>
      </p:sp>
      <p:sp>
        <p:nvSpPr>
          <p:cNvPr id="126" name="textbox 126"/>
          <p:cNvSpPr/>
          <p:nvPr/>
        </p:nvSpPr>
        <p:spPr>
          <a:xfrm>
            <a:off x="191587" y="6078885"/>
            <a:ext cx="3042285" cy="166370"/>
          </a:xfrm>
          <a:prstGeom prst="rect">
            <a:avLst/>
          </a:prstGeom>
        </p:spPr>
        <p:txBody>
          <a:bodyPr vert="horz" wrap="square" lIns="0" tIns="0" rIns="0" bIns="0"/>
          <a:lstStyle/>
          <a:p>
            <a:pPr algn="l" rtl="0" eaLnBrk="0">
              <a:lnSpc>
                <a:spcPct val="83000"/>
              </a:lnSpc>
            </a:pPr>
            <a:endParaRPr lang="en-US" altLang="en-US" sz="100" dirty="0"/>
          </a:p>
          <a:p>
            <a:pPr marL="12700" algn="l" rtl="0" eaLnBrk="0">
              <a:lnSpc>
                <a:spcPts val="1105"/>
              </a:lnSpc>
            </a:pPr>
            <a:r>
              <a:rPr sz="900" spc="80" dirty="0">
                <a:solidFill>
                  <a:srgbClr val="000000">
                    <a:alpha val="100000"/>
                  </a:srgbClr>
                </a:solidFill>
                <a:latin typeface="Arial" panose="020B0604020202020204"/>
                <a:ea typeface="Arial" panose="020B0604020202020204"/>
                <a:cs typeface="Arial" panose="020B0604020202020204"/>
              </a:rPr>
              <a:t>1 </a:t>
            </a:r>
            <a:r>
              <a:rPr sz="900" spc="80" dirty="0">
                <a:solidFill>
                  <a:srgbClr val="000000">
                    <a:alpha val="100000"/>
                  </a:srgbClr>
                </a:solidFill>
                <a:latin typeface="楷体" panose="02010609060101010101" charset="-122"/>
                <a:ea typeface="楷体" panose="02010609060101010101" charset="-122"/>
                <a:cs typeface="楷体" panose="02010609060101010101" charset="-122"/>
              </a:rPr>
              <a:t>数据来自具体实例： 分别给三个小组教简短的</a:t>
            </a:r>
            <a:r>
              <a:rPr sz="900" spc="10" dirty="0">
                <a:solidFill>
                  <a:srgbClr val="000000">
                    <a:alpha val="100000"/>
                  </a:srgbClr>
                </a:solidFill>
                <a:latin typeface="楷体" panose="02010609060101010101" charset="-122"/>
                <a:ea typeface="楷体" panose="02010609060101010101" charset="-122"/>
                <a:cs typeface="楷体" panose="02010609060101010101" charset="-122"/>
              </a:rPr>
              <a:t>信</a:t>
            </a:r>
            <a:r>
              <a:rPr sz="900" spc="0" dirty="0">
                <a:solidFill>
                  <a:srgbClr val="000000">
                    <a:alpha val="100000"/>
                  </a:srgbClr>
                </a:solidFill>
                <a:latin typeface="楷体" panose="02010609060101010101" charset="-122"/>
                <a:ea typeface="楷体" panose="02010609060101010101" charset="-122"/>
                <a:cs typeface="楷体" panose="02010609060101010101" charset="-122"/>
              </a:rPr>
              <a:t>息块</a:t>
            </a:r>
            <a:endParaRPr lang="en-US" altLang="en-US" sz="900" dirty="0"/>
          </a:p>
        </p:txBody>
      </p:sp>
      <p:sp>
        <p:nvSpPr>
          <p:cNvPr id="127" name="textbox 127"/>
          <p:cNvSpPr/>
          <p:nvPr/>
        </p:nvSpPr>
        <p:spPr>
          <a:xfrm>
            <a:off x="8818509" y="1037437"/>
            <a:ext cx="114935" cy="1840229"/>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endParaRPr sz="600" spc="0" dirty="0">
              <a:solidFill>
                <a:srgbClr val="808080">
                  <a:alpha val="100000"/>
                </a:srgbClr>
              </a:solidFill>
              <a:latin typeface="Arial" panose="020B0604020202020204"/>
              <a:ea typeface="Arial" panose="020B0604020202020204"/>
              <a:cs typeface="Arial" panose="020B0604020202020204"/>
            </a:endParaRPr>
          </a:p>
        </p:txBody>
      </p:sp>
      <p:sp>
        <p:nvSpPr>
          <p:cNvPr id="128" name="rect"/>
          <p:cNvSpPr/>
          <p:nvPr/>
        </p:nvSpPr>
        <p:spPr>
          <a:xfrm>
            <a:off x="3058667" y="1709928"/>
            <a:ext cx="3401567" cy="9143"/>
          </a:xfrm>
          <a:prstGeom prst="rect">
            <a:avLst/>
          </a:prstGeom>
          <a:solidFill>
            <a:srgbClr val="002960">
              <a:alpha val="100000"/>
            </a:srgbClr>
          </a:solidFill>
          <a:ln cap="flat">
            <a:noFill/>
            <a:prstDash val="solid"/>
            <a:miter lim="0"/>
          </a:ln>
        </p:spPr>
        <p:txBody>
          <a:bodyPr rtlCol="0"/>
          <a:lstStyle/>
          <a:p>
            <a:pPr algn="ctr"/>
            <a:endParaRPr lang="zh-CN" altLang="en-US"/>
          </a:p>
        </p:txBody>
      </p:sp>
      <p:sp>
        <p:nvSpPr>
          <p:cNvPr id="129" name="textbox 129"/>
          <p:cNvSpPr/>
          <p:nvPr/>
        </p:nvSpPr>
        <p:spPr>
          <a:xfrm>
            <a:off x="8818435" y="4032021"/>
            <a:ext cx="114935" cy="262890"/>
          </a:xfrm>
          <a:prstGeom prst="rect">
            <a:avLst/>
          </a:prstGeom>
        </p:spPr>
        <p:txBody>
          <a:bodyPr vert="eaVert" wrap="square" lIns="0" tIns="0" rIns="0" bIns="0"/>
          <a:lstStyle/>
          <a:p>
            <a:pPr algn="l" rtl="0" eaLnBrk="0">
              <a:lnSpc>
                <a:spcPct val="85000"/>
              </a:lnSpc>
            </a:pPr>
            <a:endParaRPr lang="en-US" altLang="en-US" sz="100" dirty="0"/>
          </a:p>
          <a:p>
            <a:pPr marL="12700" algn="l" rtl="0" eaLnBrk="0">
              <a:lnSpc>
                <a:spcPct val="79000"/>
              </a:lnSpc>
            </a:pPr>
            <a:endParaRPr sz="600" spc="-10" dirty="0">
              <a:solidFill>
                <a:srgbClr val="808080">
                  <a:alpha val="100000"/>
                </a:srgbClr>
              </a:solidFill>
              <a:latin typeface="Arial" panose="020B0604020202020204"/>
              <a:ea typeface="Arial" panose="020B0604020202020204"/>
              <a:cs typeface="Arial" panose="020B0604020202020204"/>
            </a:endParaRPr>
          </a:p>
        </p:txBody>
      </p:sp>
      <p:sp>
        <p:nvSpPr>
          <p:cNvPr id="130" name="rect"/>
          <p:cNvSpPr/>
          <p:nvPr/>
        </p:nvSpPr>
        <p:spPr>
          <a:xfrm>
            <a:off x="1702307" y="1709928"/>
            <a:ext cx="1269492" cy="9143"/>
          </a:xfrm>
          <a:prstGeom prst="rect">
            <a:avLst/>
          </a:prstGeom>
          <a:solidFill>
            <a:srgbClr val="002960">
              <a:alpha val="100000"/>
            </a:srgbClr>
          </a:solidFill>
          <a:ln cap="flat">
            <a:noFill/>
            <a:prstDash val="solid"/>
            <a:miter lim="0"/>
          </a:ln>
        </p:spPr>
        <p:txBody>
          <a:bodyPr rtlCol="0"/>
          <a:lstStyle/>
          <a:p>
            <a:pPr algn="ctr"/>
            <a:endParaRPr lang="zh-CN" altLang="en-US"/>
          </a:p>
        </p:txBody>
      </p:sp>
      <p:sp>
        <p:nvSpPr>
          <p:cNvPr id="132" name="path"/>
          <p:cNvSpPr/>
          <p:nvPr/>
        </p:nvSpPr>
        <p:spPr>
          <a:xfrm>
            <a:off x="3416808" y="4718304"/>
            <a:ext cx="13715" cy="54864"/>
          </a:xfrm>
          <a:custGeom>
            <a:avLst/>
            <a:gdLst/>
            <a:ahLst/>
            <a:cxnLst/>
            <a:rect l="0" t="0" r="0" b="0"/>
            <a:pathLst>
              <a:path w="21" h="86">
                <a:moveTo>
                  <a:pt x="0" y="86"/>
                </a:moveTo>
                <a:lnTo>
                  <a:pt x="21" y="86"/>
                </a:lnTo>
                <a:lnTo>
                  <a:pt x="21" y="0"/>
                </a:lnTo>
                <a:lnTo>
                  <a:pt x="0" y="0"/>
                </a:lnTo>
                <a:lnTo>
                  <a:pt x="0" y="86"/>
                </a:lnTo>
                <a:close/>
              </a:path>
            </a:pathLst>
          </a:custGeom>
          <a:solidFill>
            <a:srgbClr val="000000">
              <a:alpha val="100000"/>
            </a:srgbClr>
          </a:solidFill>
          <a:ln cap="flat">
            <a:noFill/>
            <a:prstDash val="solid"/>
            <a:miter lim="0"/>
          </a:ln>
        </p:spPr>
        <p:txBody>
          <a:bodyPr rtlCol="0"/>
          <a:lstStyle/>
          <a:p>
            <a:pPr algn="ctr"/>
            <a:endParaRPr lang="zh-CN" altLang="en-US"/>
          </a:p>
        </p:txBody>
      </p:sp>
      <p:sp>
        <p:nvSpPr>
          <p:cNvPr id="133" name="path"/>
          <p:cNvSpPr/>
          <p:nvPr/>
        </p:nvSpPr>
        <p:spPr>
          <a:xfrm>
            <a:off x="5362955" y="4718304"/>
            <a:ext cx="12191" cy="54864"/>
          </a:xfrm>
          <a:custGeom>
            <a:avLst/>
            <a:gdLst/>
            <a:ahLst/>
            <a:cxnLst/>
            <a:rect l="0" t="0" r="0" b="0"/>
            <a:pathLst>
              <a:path w="19" h="86">
                <a:moveTo>
                  <a:pt x="0" y="86"/>
                </a:moveTo>
                <a:lnTo>
                  <a:pt x="19" y="86"/>
                </a:lnTo>
                <a:lnTo>
                  <a:pt x="19" y="0"/>
                </a:lnTo>
                <a:lnTo>
                  <a:pt x="0" y="0"/>
                </a:lnTo>
                <a:lnTo>
                  <a:pt x="0" y="86"/>
                </a:lnTo>
                <a:close/>
              </a:path>
            </a:pathLst>
          </a:custGeom>
          <a:solidFill>
            <a:srgbClr val="000000">
              <a:alpha val="100000"/>
            </a:srgbClr>
          </a:solidFill>
          <a:ln cap="flat">
            <a:noFill/>
            <a:prstDash val="solid"/>
            <a:miter lim="0"/>
          </a:ln>
        </p:spPr>
        <p:txBody>
          <a:bodyPr rtlCol="0"/>
          <a:lstStyle/>
          <a:p>
            <a:pPr algn="ct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rect"/>
          <p:cNvSpPr/>
          <p:nvPr/>
        </p:nvSpPr>
        <p:spPr>
          <a:xfrm>
            <a:off x="0" y="0"/>
            <a:ext cx="8961119" cy="6720838"/>
          </a:xfrm>
          <a:prstGeom prst="rect">
            <a:avLst/>
          </a:prstGeom>
          <a:solidFill>
            <a:srgbClr val="00ADEF">
              <a:alpha val="100000"/>
            </a:srgbClr>
          </a:solidFill>
          <a:ln cap="flat">
            <a:noFill/>
            <a:prstDash val="solid"/>
            <a:miter lim="0"/>
          </a:ln>
        </p:spPr>
        <p:txBody>
          <a:bodyPr rtlCol="0"/>
          <a:lstStyle/>
          <a:p>
            <a:pPr algn="ctr"/>
            <a:endParaRPr lang="zh-CN" altLang="en-US"/>
          </a:p>
        </p:txBody>
      </p:sp>
      <p:sp>
        <p:nvSpPr>
          <p:cNvPr id="135" name="textbox 135"/>
          <p:cNvSpPr/>
          <p:nvPr/>
        </p:nvSpPr>
        <p:spPr>
          <a:xfrm>
            <a:off x="298490" y="3179602"/>
            <a:ext cx="1759585" cy="1092835"/>
          </a:xfrm>
          <a:prstGeom prst="rect">
            <a:avLst/>
          </a:prstGeom>
        </p:spPr>
        <p:txBody>
          <a:bodyPr vert="horz" wrap="square" lIns="0" tIns="0" rIns="0" bIns="0"/>
          <a:lstStyle/>
          <a:p>
            <a:pPr algn="l" rtl="0" eaLnBrk="0">
              <a:lnSpc>
                <a:spcPct val="92000"/>
              </a:lnSpc>
            </a:pPr>
            <a:endParaRPr lang="en-US" altLang="en-US" sz="100" dirty="0">
              <a:latin typeface="微软雅黑" panose="020B0503020204020204" charset="-122"/>
              <a:ea typeface="微软雅黑" panose="020B0503020204020204" charset="-122"/>
            </a:endParaRPr>
          </a:p>
          <a:p>
            <a:pPr marL="12700" algn="l" rtl="0" eaLnBrk="0">
              <a:lnSpc>
                <a:spcPct val="86000"/>
              </a:lnSpc>
            </a:pPr>
            <a:r>
              <a:rPr sz="2700" spc="40" dirty="0">
                <a:solidFill>
                  <a:srgbClr val="FFFFFF">
                    <a:alpha val="100000"/>
                  </a:srgbClr>
                </a:solidFill>
                <a:latin typeface="微软雅黑" panose="020B0503020204020204" charset="-122"/>
                <a:ea typeface="微软雅黑" panose="020B0503020204020204" charset="-122"/>
                <a:cs typeface="楷体" panose="02010609060101010101" charset="-122"/>
                <a:hlinkClick r:id="rId1" action="ppaction://hlinksldjump">
                  <a:extLst>
                    <a:ext uri="{DAF060AB-1E55-43B9-8AAB-6FB025537F2F}">
                      <wpsdc:hlinkClr xmlns:wpsdc="http://www.wps.cn/officeDocument/2017/drawingmlCustomData" val="FFFFFF"/>
                      <wpsdc:folHlinkClr xmlns:wpsdc="http://www.wps.cn/officeDocument/2017/drawingmlCustomData" val="FFFFFF"/>
                      <wpsdc:hlinkUnderline xmlns:wpsdc="http://www.wps.cn/officeDocument/2017/drawingmlCustomData" val="0"/>
                    </a:ext>
                  </a:extLst>
                </a:hlinkClick>
              </a:rPr>
              <a:t>大客户</a:t>
            </a:r>
            <a:r>
              <a:rPr sz="2700" spc="30" dirty="0">
                <a:solidFill>
                  <a:srgbClr val="FFFFFF">
                    <a:alpha val="100000"/>
                  </a:srgbClr>
                </a:solidFill>
                <a:latin typeface="微软雅黑" panose="020B0503020204020204" charset="-122"/>
                <a:ea typeface="微软雅黑" panose="020B0503020204020204" charset="-122"/>
                <a:cs typeface="楷体" panose="02010609060101010101" charset="-122"/>
              </a:rPr>
              <a:t>管</a:t>
            </a:r>
            <a:r>
              <a:rPr sz="2700" spc="0" dirty="0">
                <a:solidFill>
                  <a:srgbClr val="FFFFFF">
                    <a:alpha val="100000"/>
                  </a:srgbClr>
                </a:solidFill>
                <a:latin typeface="微软雅黑" panose="020B0503020204020204" charset="-122"/>
                <a:ea typeface="微软雅黑" panose="020B0503020204020204" charset="-122"/>
                <a:cs typeface="楷体" panose="02010609060101010101" charset="-122"/>
              </a:rPr>
              <a:t>理</a:t>
            </a:r>
            <a:endParaRPr lang="en-US" altLang="en-US" sz="2700" dirty="0">
              <a:latin typeface="微软雅黑" panose="020B0503020204020204" charset="-122"/>
              <a:ea typeface="微软雅黑" panose="020B0503020204020204" charset="-122"/>
            </a:endParaRPr>
          </a:p>
          <a:p>
            <a:pPr marL="12700" algn="l" rtl="0" eaLnBrk="0">
              <a:lnSpc>
                <a:spcPts val="5605"/>
              </a:lnSpc>
            </a:pPr>
            <a:r>
              <a:rPr sz="2700" spc="20" dirty="0">
                <a:solidFill>
                  <a:srgbClr val="FFFFFF">
                    <a:alpha val="100000"/>
                  </a:srgbClr>
                </a:solidFill>
                <a:latin typeface="微软雅黑" panose="020B0503020204020204" charset="-122"/>
                <a:ea typeface="微软雅黑" panose="020B0503020204020204" charset="-122"/>
                <a:cs typeface="楷体" panose="02010609060101010101" charset="-122"/>
                <a:hlinkClick r:id="rId1" action="ppaction://hlinksldjump">
                  <a:extLst>
                    <a:ext uri="{DAF060AB-1E55-43B9-8AAB-6FB025537F2F}">
                      <wpsdc:hlinkClr xmlns:wpsdc="http://www.wps.cn/officeDocument/2017/drawingmlCustomData" val="FFFFFF"/>
                      <wpsdc:folHlinkClr xmlns:wpsdc="http://www.wps.cn/officeDocument/2017/drawingmlCustomData" val="FFFFFF"/>
                      <wpsdc:hlinkUnderline xmlns:wpsdc="http://www.wps.cn/officeDocument/2017/drawingmlCustomData" val="0"/>
                    </a:ext>
                  </a:extLst>
                </a:hlinkClick>
              </a:rPr>
              <a:t>小组讨</a:t>
            </a:r>
            <a:r>
              <a:rPr sz="2700" spc="0" dirty="0">
                <a:solidFill>
                  <a:srgbClr val="FFFFFF">
                    <a:alpha val="100000"/>
                  </a:srgbClr>
                </a:solidFill>
                <a:latin typeface="微软雅黑" panose="020B0503020204020204" charset="-122"/>
                <a:ea typeface="微软雅黑" panose="020B0503020204020204" charset="-122"/>
                <a:cs typeface="楷体" panose="02010609060101010101" charset="-122"/>
              </a:rPr>
              <a:t>论</a:t>
            </a:r>
            <a:endParaRPr lang="en-US" altLang="en-US" sz="2700" dirty="0">
              <a:latin typeface="微软雅黑" panose="020B0503020204020204" charset="-122"/>
              <a:ea typeface="微软雅黑" panose="020B0503020204020204" charset="-122"/>
            </a:endParaRPr>
          </a:p>
        </p:txBody>
      </p:sp>
      <p:sp>
        <p:nvSpPr>
          <p:cNvPr id="136" name="textbox 136"/>
          <p:cNvSpPr/>
          <p:nvPr/>
        </p:nvSpPr>
        <p:spPr>
          <a:xfrm>
            <a:off x="262631" y="2466997"/>
            <a:ext cx="1441450" cy="429894"/>
          </a:xfrm>
          <a:prstGeom prst="rect">
            <a:avLst/>
          </a:prstGeom>
        </p:spPr>
        <p:txBody>
          <a:bodyPr vert="horz" wrap="square" lIns="0" tIns="0" rIns="0" bIns="0"/>
          <a:lstStyle/>
          <a:p>
            <a:pPr algn="l" rtl="0" eaLnBrk="0">
              <a:lnSpc>
                <a:spcPct val="90000"/>
              </a:lnSpc>
            </a:pPr>
            <a:endParaRPr lang="en-US" altLang="en-US" sz="100" dirty="0">
              <a:latin typeface="微软雅黑" panose="020B0503020204020204" charset="-122"/>
              <a:ea typeface="微软雅黑" panose="020B0503020204020204" charset="-122"/>
            </a:endParaRPr>
          </a:p>
          <a:p>
            <a:pPr marL="12700" algn="l" rtl="0" eaLnBrk="0">
              <a:lnSpc>
                <a:spcPct val="98000"/>
              </a:lnSpc>
            </a:pPr>
            <a:r>
              <a:rPr sz="2700" spc="90" dirty="0">
                <a:solidFill>
                  <a:srgbClr val="FFFFFF">
                    <a:alpha val="100000"/>
                  </a:srgbClr>
                </a:solidFill>
                <a:latin typeface="微软雅黑" panose="020B0503020204020204" charset="-122"/>
                <a:ea typeface="微软雅黑" panose="020B0503020204020204" charset="-122"/>
                <a:cs typeface="楷体" panose="02010609060101010101" charset="-122"/>
              </a:rPr>
              <a:t>客户细</a:t>
            </a:r>
            <a:r>
              <a:rPr sz="2700" spc="70" dirty="0">
                <a:solidFill>
                  <a:srgbClr val="FFFFFF">
                    <a:alpha val="100000"/>
                  </a:srgbClr>
                </a:solidFill>
                <a:latin typeface="微软雅黑" panose="020B0503020204020204" charset="-122"/>
                <a:ea typeface="微软雅黑" panose="020B0503020204020204" charset="-122"/>
                <a:cs typeface="楷体" panose="02010609060101010101" charset="-122"/>
              </a:rPr>
              <a:t>分</a:t>
            </a:r>
            <a:endParaRPr lang="en-US" altLang="en-US" sz="2700" dirty="0">
              <a:latin typeface="微软雅黑" panose="020B0503020204020204" charset="-122"/>
              <a:ea typeface="微软雅黑" panose="020B0503020204020204" charset="-122"/>
            </a:endParaRPr>
          </a:p>
        </p:txBody>
      </p:sp>
      <p:sp>
        <p:nvSpPr>
          <p:cNvPr id="137" name="textbox 137"/>
          <p:cNvSpPr/>
          <p:nvPr/>
        </p:nvSpPr>
        <p:spPr>
          <a:xfrm>
            <a:off x="8818509" y="1037437"/>
            <a:ext cx="114935" cy="1840229"/>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endParaRPr sz="600" spc="0" dirty="0">
              <a:solidFill>
                <a:srgbClr val="808080">
                  <a:alpha val="100000"/>
                </a:srgbClr>
              </a:solidFill>
              <a:latin typeface="Arial" panose="020B0604020202020204"/>
              <a:ea typeface="Arial" panose="020B0604020202020204"/>
              <a:cs typeface="Arial" panose="020B0604020202020204"/>
            </a:endParaRPr>
          </a:p>
        </p:txBody>
      </p:sp>
      <p:sp>
        <p:nvSpPr>
          <p:cNvPr id="138" name="textbox 138"/>
          <p:cNvSpPr/>
          <p:nvPr/>
        </p:nvSpPr>
        <p:spPr>
          <a:xfrm>
            <a:off x="150252" y="248992"/>
            <a:ext cx="490855" cy="312420"/>
          </a:xfrm>
          <a:prstGeom prst="rect">
            <a:avLst/>
          </a:prstGeom>
        </p:spPr>
        <p:txBody>
          <a:bodyPr vert="horz" wrap="square" lIns="0" tIns="0" rIns="0" bIns="0"/>
          <a:lstStyle/>
          <a:p>
            <a:pPr algn="l" rtl="0" eaLnBrk="0">
              <a:lnSpc>
                <a:spcPct val="85000"/>
              </a:lnSpc>
            </a:pPr>
            <a:endParaRPr lang="en-US" altLang="en-US" sz="100" dirty="0">
              <a:latin typeface="微软雅黑" panose="020B0503020204020204" charset="-122"/>
              <a:ea typeface="微软雅黑" panose="020B0503020204020204" charset="-122"/>
            </a:endParaRPr>
          </a:p>
          <a:p>
            <a:pPr marL="12700" algn="l" rtl="0" eaLnBrk="0">
              <a:lnSpc>
                <a:spcPct val="94000"/>
              </a:lnSpc>
            </a:pPr>
            <a:r>
              <a:rPr sz="2000" spc="-170" dirty="0">
                <a:solidFill>
                  <a:srgbClr val="FFFFFF">
                    <a:alpha val="100000"/>
                  </a:srgbClr>
                </a:solidFill>
                <a:latin typeface="微软雅黑" panose="020B0503020204020204" charset="-122"/>
                <a:ea typeface="微软雅黑" panose="020B0503020204020204" charset="-122"/>
                <a:cs typeface="楷体" panose="02010609060101010101" charset="-122"/>
              </a:rPr>
              <a:t>内容</a:t>
            </a:r>
            <a:endParaRPr lang="en-US" altLang="en-US" sz="2000" dirty="0">
              <a:latin typeface="微软雅黑" panose="020B0503020204020204" charset="-122"/>
              <a:ea typeface="微软雅黑" panose="020B0503020204020204" charset="-122"/>
            </a:endParaRPr>
          </a:p>
        </p:txBody>
      </p:sp>
      <p:sp>
        <p:nvSpPr>
          <p:cNvPr id="139" name="textbox 139"/>
          <p:cNvSpPr/>
          <p:nvPr/>
        </p:nvSpPr>
        <p:spPr>
          <a:xfrm>
            <a:off x="7457883" y="6522553"/>
            <a:ext cx="1177925" cy="124460"/>
          </a:xfrm>
          <a:prstGeom prst="rect">
            <a:avLst/>
          </a:prstGeom>
        </p:spPr>
        <p:txBody>
          <a:bodyPr vert="horz" wrap="square" lIns="0" tIns="0" rIns="0" bIns="0"/>
          <a:lstStyle/>
          <a:p>
            <a:pPr algn="l" rtl="0" eaLnBrk="0">
              <a:lnSpc>
                <a:spcPct val="84000"/>
              </a:lnSpc>
            </a:pPr>
            <a:endParaRPr lang="en-US" altLang="en-US" sz="100" dirty="0"/>
          </a:p>
          <a:p>
            <a:pPr marL="12700" algn="l" rtl="0" eaLnBrk="0">
              <a:lnSpc>
                <a:spcPct val="81000"/>
              </a:lnSpc>
            </a:pPr>
            <a:r>
              <a:rPr sz="800" spc="20" dirty="0">
                <a:solidFill>
                  <a:srgbClr val="FFFFFF">
                    <a:alpha val="100000"/>
                  </a:srgbClr>
                </a:solidFill>
                <a:latin typeface="Arial" panose="020B0604020202020204"/>
                <a:ea typeface="Arial" panose="020B0604020202020204"/>
                <a:cs typeface="Arial" panose="020B0604020202020204"/>
              </a:rPr>
              <a:t>   </a:t>
            </a:r>
            <a:r>
              <a:rPr sz="800" spc="0" dirty="0">
                <a:solidFill>
                  <a:srgbClr val="FFFFFF">
                    <a:alpha val="100000"/>
                  </a:srgbClr>
                </a:solidFill>
                <a:latin typeface="Arial" panose="020B0604020202020204"/>
                <a:ea typeface="Arial" panose="020B0604020202020204"/>
                <a:cs typeface="Arial" panose="020B0604020202020204"/>
              </a:rPr>
              <a:t>5</a:t>
            </a:r>
            <a:endParaRPr lang="en-US" altLang="en-US" sz="800" dirty="0"/>
          </a:p>
        </p:txBody>
      </p:sp>
      <p:sp>
        <p:nvSpPr>
          <p:cNvPr id="140" name="path"/>
          <p:cNvSpPr/>
          <p:nvPr/>
        </p:nvSpPr>
        <p:spPr>
          <a:xfrm>
            <a:off x="124968" y="2289048"/>
            <a:ext cx="2075687" cy="9143"/>
          </a:xfrm>
          <a:custGeom>
            <a:avLst/>
            <a:gdLst/>
            <a:ahLst/>
            <a:cxnLst/>
            <a:rect l="0" t="0" r="0" b="0"/>
            <a:pathLst>
              <a:path w="3268" h="14">
                <a:moveTo>
                  <a:pt x="3268" y="7"/>
                </a:moveTo>
                <a:lnTo>
                  <a:pt x="0" y="7"/>
                </a:lnTo>
              </a:path>
            </a:pathLst>
          </a:custGeom>
          <a:noFill/>
          <a:ln w="9143" cap="flat">
            <a:solidFill>
              <a:srgbClr val="FFFFFF">
                <a:alpha val="100000"/>
              </a:srgbClr>
            </a:solidFill>
            <a:prstDash val="solid"/>
            <a:round/>
          </a:ln>
        </p:spPr>
        <p:txBody>
          <a:bodyPr rtlCol="0"/>
          <a:lstStyle/>
          <a:p>
            <a:pPr algn="ctr"/>
            <a:endParaRPr lang="zh-CN" altLang="en-US"/>
          </a:p>
        </p:txBody>
      </p:sp>
      <p:sp>
        <p:nvSpPr>
          <p:cNvPr id="141" name="path"/>
          <p:cNvSpPr/>
          <p:nvPr/>
        </p:nvSpPr>
        <p:spPr>
          <a:xfrm>
            <a:off x="124968" y="3000756"/>
            <a:ext cx="2075687" cy="9143"/>
          </a:xfrm>
          <a:custGeom>
            <a:avLst/>
            <a:gdLst/>
            <a:ahLst/>
            <a:cxnLst/>
            <a:rect l="0" t="0" r="0" b="0"/>
            <a:pathLst>
              <a:path w="3268" h="14">
                <a:moveTo>
                  <a:pt x="0" y="7"/>
                </a:moveTo>
                <a:lnTo>
                  <a:pt x="3268" y="7"/>
                </a:lnTo>
              </a:path>
            </a:pathLst>
          </a:custGeom>
          <a:noFill/>
          <a:ln w="9143" cap="flat">
            <a:solidFill>
              <a:srgbClr val="FFFFFF">
                <a:alpha val="100000"/>
              </a:srgbClr>
            </a:solidFill>
            <a:prstDash val="solid"/>
            <a:round/>
          </a:ln>
        </p:spPr>
        <p:txBody>
          <a:bodyPr rtlCol="0"/>
          <a:lstStyle/>
          <a:p>
            <a:pPr algn="ctr"/>
            <a:endParaRPr lang="zh-CN" altLang="en-US"/>
          </a:p>
        </p:txBody>
      </p:sp>
      <p:sp>
        <p:nvSpPr>
          <p:cNvPr id="142" name="textbox 142"/>
          <p:cNvSpPr/>
          <p:nvPr/>
        </p:nvSpPr>
        <p:spPr>
          <a:xfrm>
            <a:off x="8818435" y="4032021"/>
            <a:ext cx="114935" cy="262890"/>
          </a:xfrm>
          <a:prstGeom prst="rect">
            <a:avLst/>
          </a:prstGeom>
        </p:spPr>
        <p:txBody>
          <a:bodyPr vert="eaVert" wrap="square" lIns="0" tIns="0" rIns="0" bIns="0"/>
          <a:lstStyle/>
          <a:p>
            <a:pPr algn="l" rtl="0" eaLnBrk="0">
              <a:lnSpc>
                <a:spcPct val="85000"/>
              </a:lnSpc>
            </a:pPr>
            <a:endParaRPr lang="en-US" altLang="en-US" sz="100" dirty="0"/>
          </a:p>
          <a:p>
            <a:pPr marL="12700" algn="l" rtl="0" eaLnBrk="0">
              <a:lnSpc>
                <a:spcPct val="79000"/>
              </a:lnSpc>
            </a:pPr>
            <a:endParaRPr sz="600" spc="-10" dirty="0">
              <a:solidFill>
                <a:srgbClr val="808080">
                  <a:alpha val="100000"/>
                </a:srgbClr>
              </a:solidFill>
              <a:latin typeface="Arial" panose="020B0604020202020204"/>
              <a:ea typeface="Arial" panose="020B0604020202020204"/>
              <a:cs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rot="21600000">
            <a:off x="5082540" y="2447544"/>
            <a:ext cx="2898647" cy="947927"/>
            <a:chOff x="0" y="0"/>
            <a:chExt cx="2898647" cy="947927"/>
          </a:xfrm>
        </p:grpSpPr>
        <p:sp>
          <p:nvSpPr>
            <p:cNvPr id="143" name="path"/>
            <p:cNvSpPr/>
            <p:nvPr/>
          </p:nvSpPr>
          <p:spPr>
            <a:xfrm>
              <a:off x="4571" y="4571"/>
              <a:ext cx="2889504" cy="938783"/>
            </a:xfrm>
            <a:custGeom>
              <a:avLst/>
              <a:gdLst/>
              <a:ahLst/>
              <a:cxnLst/>
              <a:rect l="0" t="0" r="0" b="0"/>
              <a:pathLst>
                <a:path w="4550" h="1478">
                  <a:moveTo>
                    <a:pt x="0" y="739"/>
                  </a:moveTo>
                  <a:cubicBezTo>
                    <a:pt x="0" y="330"/>
                    <a:pt x="1018" y="0"/>
                    <a:pt x="2275" y="0"/>
                  </a:cubicBezTo>
                  <a:cubicBezTo>
                    <a:pt x="3531" y="0"/>
                    <a:pt x="4550" y="330"/>
                    <a:pt x="4550" y="739"/>
                  </a:cubicBezTo>
                  <a:cubicBezTo>
                    <a:pt x="4550" y="1147"/>
                    <a:pt x="3531" y="1478"/>
                    <a:pt x="2275" y="1478"/>
                  </a:cubicBezTo>
                  <a:cubicBezTo>
                    <a:pt x="1018" y="1478"/>
                    <a:pt x="0" y="1147"/>
                    <a:pt x="0" y="739"/>
                  </a:cubicBezTo>
                </a:path>
              </a:pathLst>
            </a:custGeom>
            <a:solidFill>
              <a:srgbClr val="C5C5C5">
                <a:alpha val="100000"/>
              </a:srgbClr>
            </a:solidFill>
            <a:ln cap="flat">
              <a:noFill/>
              <a:prstDash val="solid"/>
              <a:miter lim="0"/>
            </a:ln>
          </p:spPr>
          <p:txBody>
            <a:bodyPr rtlCol="0"/>
            <a:lstStyle/>
            <a:p>
              <a:pPr algn="ctr"/>
              <a:endParaRPr lang="zh-CN" altLang="en-US"/>
            </a:p>
          </p:txBody>
        </p:sp>
        <p:sp>
          <p:nvSpPr>
            <p:cNvPr id="144" name="path"/>
            <p:cNvSpPr/>
            <p:nvPr/>
          </p:nvSpPr>
          <p:spPr>
            <a:xfrm>
              <a:off x="0" y="0"/>
              <a:ext cx="2898647" cy="947927"/>
            </a:xfrm>
            <a:custGeom>
              <a:avLst/>
              <a:gdLst/>
              <a:ahLst/>
              <a:cxnLst/>
              <a:rect l="0" t="0" r="0" b="0"/>
              <a:pathLst>
                <a:path w="4564" h="1492">
                  <a:moveTo>
                    <a:pt x="7" y="746"/>
                  </a:moveTo>
                  <a:cubicBezTo>
                    <a:pt x="7" y="338"/>
                    <a:pt x="1025" y="7"/>
                    <a:pt x="2282" y="7"/>
                  </a:cubicBezTo>
                  <a:cubicBezTo>
                    <a:pt x="3538" y="7"/>
                    <a:pt x="4557" y="338"/>
                    <a:pt x="4557" y="746"/>
                  </a:cubicBezTo>
                  <a:cubicBezTo>
                    <a:pt x="4557" y="1154"/>
                    <a:pt x="3538" y="1485"/>
                    <a:pt x="2282" y="1485"/>
                  </a:cubicBezTo>
                  <a:cubicBezTo>
                    <a:pt x="1025" y="1485"/>
                    <a:pt x="7" y="1154"/>
                    <a:pt x="7" y="746"/>
                  </a:cubicBezTo>
                </a:path>
              </a:pathLst>
            </a:custGeom>
            <a:noFill/>
            <a:ln w="9143" cap="flat">
              <a:solidFill>
                <a:srgbClr val="FFFFFF">
                  <a:alpha val="100000"/>
                </a:srgbClr>
              </a:solidFill>
              <a:prstDash val="solid"/>
              <a:round/>
            </a:ln>
          </p:spPr>
          <p:txBody>
            <a:bodyPr rtlCol="0"/>
            <a:lstStyle/>
            <a:p>
              <a:pPr algn="ctr"/>
              <a:endParaRPr lang="zh-CN" altLang="en-US"/>
            </a:p>
          </p:txBody>
        </p:sp>
      </p:grpSp>
      <p:grpSp>
        <p:nvGrpSpPr>
          <p:cNvPr id="10" name="group 10"/>
          <p:cNvGrpSpPr/>
          <p:nvPr/>
        </p:nvGrpSpPr>
        <p:grpSpPr>
          <a:xfrm rot="21600000">
            <a:off x="5294376" y="2795016"/>
            <a:ext cx="1149095" cy="470915"/>
            <a:chOff x="0" y="0"/>
            <a:chExt cx="1149095" cy="470915"/>
          </a:xfrm>
        </p:grpSpPr>
        <p:sp>
          <p:nvSpPr>
            <p:cNvPr id="145" name="path"/>
            <p:cNvSpPr/>
            <p:nvPr/>
          </p:nvSpPr>
          <p:spPr>
            <a:xfrm>
              <a:off x="4571" y="4571"/>
              <a:ext cx="1139951" cy="461772"/>
            </a:xfrm>
            <a:custGeom>
              <a:avLst/>
              <a:gdLst/>
              <a:ahLst/>
              <a:cxnLst/>
              <a:rect l="0" t="0" r="0" b="0"/>
              <a:pathLst>
                <a:path w="1795" h="727">
                  <a:moveTo>
                    <a:pt x="0" y="363"/>
                  </a:moveTo>
                  <a:cubicBezTo>
                    <a:pt x="0" y="162"/>
                    <a:pt x="401" y="0"/>
                    <a:pt x="897" y="0"/>
                  </a:cubicBezTo>
                  <a:cubicBezTo>
                    <a:pt x="1393" y="0"/>
                    <a:pt x="1795" y="162"/>
                    <a:pt x="1795" y="363"/>
                  </a:cubicBezTo>
                  <a:cubicBezTo>
                    <a:pt x="1795" y="564"/>
                    <a:pt x="1393" y="727"/>
                    <a:pt x="897" y="727"/>
                  </a:cubicBezTo>
                  <a:cubicBezTo>
                    <a:pt x="401" y="727"/>
                    <a:pt x="0" y="564"/>
                    <a:pt x="0" y="363"/>
                  </a:cubicBezTo>
                </a:path>
              </a:pathLst>
            </a:custGeom>
            <a:solidFill>
              <a:srgbClr val="00ADEF">
                <a:alpha val="100000"/>
              </a:srgbClr>
            </a:solidFill>
            <a:ln cap="flat">
              <a:noFill/>
              <a:prstDash val="solid"/>
              <a:miter lim="0"/>
            </a:ln>
          </p:spPr>
          <p:txBody>
            <a:bodyPr rtlCol="0"/>
            <a:lstStyle/>
            <a:p>
              <a:pPr algn="ctr"/>
              <a:endParaRPr lang="zh-CN" altLang="en-US"/>
            </a:p>
          </p:txBody>
        </p:sp>
        <p:sp>
          <p:nvSpPr>
            <p:cNvPr id="146" name="path"/>
            <p:cNvSpPr/>
            <p:nvPr/>
          </p:nvSpPr>
          <p:spPr>
            <a:xfrm>
              <a:off x="0" y="0"/>
              <a:ext cx="1149095" cy="470915"/>
            </a:xfrm>
            <a:custGeom>
              <a:avLst/>
              <a:gdLst/>
              <a:ahLst/>
              <a:cxnLst/>
              <a:rect l="0" t="0" r="0" b="0"/>
              <a:pathLst>
                <a:path w="1809" h="741">
                  <a:moveTo>
                    <a:pt x="7" y="370"/>
                  </a:moveTo>
                  <a:cubicBezTo>
                    <a:pt x="7" y="170"/>
                    <a:pt x="408" y="7"/>
                    <a:pt x="904" y="7"/>
                  </a:cubicBezTo>
                  <a:cubicBezTo>
                    <a:pt x="1400" y="7"/>
                    <a:pt x="1802" y="170"/>
                    <a:pt x="1802" y="370"/>
                  </a:cubicBezTo>
                  <a:cubicBezTo>
                    <a:pt x="1802" y="571"/>
                    <a:pt x="1400" y="734"/>
                    <a:pt x="904" y="734"/>
                  </a:cubicBezTo>
                  <a:cubicBezTo>
                    <a:pt x="408" y="734"/>
                    <a:pt x="7" y="571"/>
                    <a:pt x="7" y="370"/>
                  </a:cubicBezTo>
                </a:path>
              </a:pathLst>
            </a:custGeom>
            <a:noFill/>
            <a:ln w="9143" cap="flat">
              <a:solidFill>
                <a:srgbClr val="00ADEF">
                  <a:alpha val="100000"/>
                </a:srgbClr>
              </a:solidFill>
              <a:prstDash val="solid"/>
              <a:round/>
            </a:ln>
          </p:spPr>
          <p:txBody>
            <a:bodyPr rtlCol="0"/>
            <a:lstStyle/>
            <a:p>
              <a:pPr algn="ctr"/>
              <a:endParaRPr lang="zh-CN" altLang="en-US"/>
            </a:p>
          </p:txBody>
        </p:sp>
      </p:grpSp>
      <p:grpSp>
        <p:nvGrpSpPr>
          <p:cNvPr id="12" name="group 12"/>
          <p:cNvGrpSpPr/>
          <p:nvPr/>
        </p:nvGrpSpPr>
        <p:grpSpPr>
          <a:xfrm rot="21600000">
            <a:off x="5061203" y="5301996"/>
            <a:ext cx="2612136" cy="859535"/>
            <a:chOff x="0" y="0"/>
            <a:chExt cx="2612136" cy="859535"/>
          </a:xfrm>
        </p:grpSpPr>
        <p:sp>
          <p:nvSpPr>
            <p:cNvPr id="147" name="path"/>
            <p:cNvSpPr/>
            <p:nvPr/>
          </p:nvSpPr>
          <p:spPr>
            <a:xfrm>
              <a:off x="0" y="0"/>
              <a:ext cx="2612136" cy="859535"/>
            </a:xfrm>
            <a:custGeom>
              <a:avLst/>
              <a:gdLst/>
              <a:ahLst/>
              <a:cxnLst/>
              <a:rect l="0" t="0" r="0" b="0"/>
              <a:pathLst>
                <a:path w="4113" h="1353">
                  <a:moveTo>
                    <a:pt x="0" y="676"/>
                  </a:moveTo>
                  <a:cubicBezTo>
                    <a:pt x="0" y="303"/>
                    <a:pt x="920" y="0"/>
                    <a:pt x="2056" y="0"/>
                  </a:cubicBezTo>
                  <a:cubicBezTo>
                    <a:pt x="3192" y="0"/>
                    <a:pt x="4113" y="303"/>
                    <a:pt x="4113" y="676"/>
                  </a:cubicBezTo>
                  <a:cubicBezTo>
                    <a:pt x="4113" y="1050"/>
                    <a:pt x="3192" y="1353"/>
                    <a:pt x="2056" y="1353"/>
                  </a:cubicBezTo>
                  <a:cubicBezTo>
                    <a:pt x="920" y="1353"/>
                    <a:pt x="0" y="1050"/>
                    <a:pt x="0" y="676"/>
                  </a:cubicBezTo>
                </a:path>
              </a:pathLst>
            </a:custGeom>
            <a:solidFill>
              <a:srgbClr val="0065BD">
                <a:alpha val="100000"/>
              </a:srgbClr>
            </a:solidFill>
            <a:ln cap="flat">
              <a:noFill/>
              <a:prstDash val="solid"/>
              <a:miter lim="0"/>
            </a:ln>
          </p:spPr>
          <p:txBody>
            <a:bodyPr rtlCol="0"/>
            <a:lstStyle/>
            <a:p>
              <a:pPr algn="ctr"/>
              <a:endParaRPr lang="zh-CN" altLang="en-US"/>
            </a:p>
          </p:txBody>
        </p:sp>
        <p:sp>
          <p:nvSpPr>
            <p:cNvPr id="148" name="textbox 148"/>
            <p:cNvSpPr/>
            <p:nvPr/>
          </p:nvSpPr>
          <p:spPr>
            <a:xfrm>
              <a:off x="-12700" y="-12700"/>
              <a:ext cx="2637789" cy="902969"/>
            </a:xfrm>
            <a:prstGeom prst="rect">
              <a:avLst/>
            </a:prstGeom>
          </p:spPr>
          <p:txBody>
            <a:bodyPr vert="horz" wrap="square" lIns="0" tIns="0" rIns="0" bIns="0"/>
            <a:lstStyle/>
            <a:p>
              <a:pPr algn="l" rtl="0" eaLnBrk="0">
                <a:lnSpc>
                  <a:spcPct val="145000"/>
                </a:lnSpc>
              </a:pPr>
              <a:endParaRPr lang="en-US" altLang="en-US" sz="1000" dirty="0">
                <a:latin typeface="微软雅黑" panose="020B0503020204020204" charset="-122"/>
                <a:ea typeface="微软雅黑" panose="020B0503020204020204" charset="-122"/>
              </a:endParaRPr>
            </a:p>
            <a:p>
              <a:pPr algn="l" rtl="0" eaLnBrk="0">
                <a:lnSpc>
                  <a:spcPct val="146000"/>
                </a:lnSpc>
              </a:pPr>
              <a:endParaRPr lang="en-US" altLang="en-US" sz="1000" dirty="0">
                <a:latin typeface="微软雅黑" panose="020B0503020204020204" charset="-122"/>
                <a:ea typeface="微软雅黑" panose="020B0503020204020204" charset="-122"/>
              </a:endParaRPr>
            </a:p>
            <a:p>
              <a:pPr marL="701675" algn="l" rtl="0" eaLnBrk="0">
                <a:lnSpc>
                  <a:spcPct val="92000"/>
                </a:lnSpc>
                <a:spcBef>
                  <a:spcPts val="5"/>
                </a:spcBef>
              </a:pPr>
              <a:r>
                <a:rPr sz="1400" spc="-10" dirty="0">
                  <a:ln w="5094"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更高，</a:t>
              </a:r>
              <a:r>
                <a:rPr sz="1400" spc="0" dirty="0">
                  <a:ln w="5094"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效果更好</a:t>
              </a:r>
              <a:endParaRPr lang="en-US" altLang="en-US" sz="1400" dirty="0">
                <a:latin typeface="微软雅黑" panose="020B0503020204020204" charset="-122"/>
                <a:ea typeface="微软雅黑" panose="020B0503020204020204" charset="-122"/>
              </a:endParaRPr>
            </a:p>
          </p:txBody>
        </p:sp>
      </p:grpSp>
      <p:graphicFrame>
        <p:nvGraphicFramePr>
          <p:cNvPr id="149" name="table 149"/>
          <p:cNvGraphicFramePr>
            <a:graphicFrameLocks noGrp="1"/>
          </p:cNvGraphicFramePr>
          <p:nvPr/>
        </p:nvGraphicFramePr>
        <p:xfrm>
          <a:off x="4462272" y="870204"/>
          <a:ext cx="3811270" cy="4847781"/>
        </p:xfrm>
        <a:graphic>
          <a:graphicData uri="http://schemas.openxmlformats.org/drawingml/2006/table">
            <a:tbl>
              <a:tblPr/>
              <a:tblGrid>
                <a:gridCol w="3811270"/>
              </a:tblGrid>
              <a:tr h="4838065">
                <a:tc>
                  <a:txBody>
                    <a:bodyPr/>
                    <a:lstStyle/>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7000"/>
                        </a:lnSpc>
                      </a:pPr>
                      <a:endParaRPr lang="en-US" altLang="en-US" sz="100" dirty="0">
                        <a:latin typeface="微软雅黑" panose="020B0503020204020204" charset="-122"/>
                        <a:ea typeface="微软雅黑" panose="020B0503020204020204" charset="-122"/>
                      </a:endParaRPr>
                    </a:p>
                    <a:p>
                      <a:pPr marL="1876425" algn="l" rtl="0" eaLnBrk="0">
                        <a:lnSpc>
                          <a:spcPct val="95000"/>
                        </a:lnSpc>
                      </a:pPr>
                      <a:r>
                        <a:rPr sz="1400" spc="-2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市场</a:t>
                      </a:r>
                      <a:endParaRPr lang="en-US" altLang="en-US" sz="1400" dirty="0">
                        <a:latin typeface="微软雅黑" panose="020B0503020204020204" charset="-122"/>
                        <a:ea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endParaRPr>
                    </a:p>
                    <a:p>
                      <a:pPr marL="1059180" algn="l" rtl="0" eaLnBrk="0">
                        <a:lnSpc>
                          <a:spcPct val="95000"/>
                        </a:lnSpc>
                        <a:spcBef>
                          <a:spcPts val="425"/>
                        </a:spcBef>
                      </a:pPr>
                      <a:r>
                        <a:rPr sz="1400" spc="-7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客户群</a:t>
                      </a:r>
                      <a:r>
                        <a:rPr sz="1400" spc="-7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400" b="1" spc="-60" dirty="0">
                          <a:solidFill>
                            <a:srgbClr val="000000">
                              <a:alpha val="100000"/>
                            </a:srgbClr>
                          </a:solidFill>
                          <a:latin typeface="微软雅黑" panose="020B0503020204020204" charset="-122"/>
                          <a:ea typeface="微软雅黑" panose="020B0503020204020204" charset="-122"/>
                          <a:cs typeface="Arial" panose="020B0604020202020204"/>
                        </a:rPr>
                        <a:t>A</a:t>
                      </a:r>
                      <a:endParaRPr lang="en-US" altLang="en-US" sz="14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10000"/>
                        </a:lnSpc>
                      </a:pPr>
                      <a:endParaRPr lang="en-US" altLang="en-US" sz="1000" dirty="0">
                        <a:latin typeface="微软雅黑" panose="020B0503020204020204" charset="-122"/>
                        <a:ea typeface="微软雅黑" panose="020B0503020204020204" charset="-122"/>
                      </a:endParaRPr>
                    </a:p>
                    <a:p>
                      <a:pPr marL="213360" algn="l" rtl="0" eaLnBrk="0">
                        <a:lnSpc>
                          <a:spcPct val="95000"/>
                        </a:lnSpc>
                        <a:spcBef>
                          <a:spcPts val="425"/>
                        </a:spcBef>
                      </a:pPr>
                      <a:r>
                        <a:rPr sz="1400" spc="-2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以良好的客户细分为基础</a:t>
                      </a:r>
                      <a:r>
                        <a:rPr sz="1400" spc="-1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可</a:t>
                      </a:r>
                      <a:r>
                        <a:rPr sz="1400" spc="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以</a:t>
                      </a:r>
                      <a:endParaRPr lang="en-US" altLang="en-US" sz="1400" dirty="0">
                        <a:latin typeface="微软雅黑" panose="020B0503020204020204" charset="-122"/>
                        <a:ea typeface="微软雅黑" panose="020B0503020204020204" charset="-122"/>
                      </a:endParaRPr>
                    </a:p>
                    <a:p>
                      <a:pPr marL="196215" algn="l" rtl="0" eaLnBrk="0">
                        <a:lnSpc>
                          <a:spcPct val="92000"/>
                        </a:lnSpc>
                        <a:spcBef>
                          <a:spcPts val="420"/>
                        </a:spcBef>
                      </a:pPr>
                      <a:r>
                        <a:rPr sz="1400" spc="1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有的放矢，聚焦最具吸引力</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的客户</a:t>
                      </a:r>
                      <a:endParaRPr lang="en-US" altLang="en-US" sz="1400" dirty="0">
                        <a:latin typeface="微软雅黑" panose="020B0503020204020204" charset="-122"/>
                        <a:ea typeface="微软雅黑" panose="020B0503020204020204" charset="-122"/>
                      </a:endParaRPr>
                    </a:p>
                    <a:p>
                      <a:pPr marL="196215" algn="l" rtl="0" eaLnBrk="0">
                        <a:lnSpc>
                          <a:spcPct val="93000"/>
                        </a:lnSpc>
                        <a:spcBef>
                          <a:spcPts val="465"/>
                        </a:spcBef>
                      </a:pPr>
                      <a:r>
                        <a:rPr sz="1400" spc="1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为每个细分客户群制定最佳</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价值定位</a:t>
                      </a:r>
                      <a:endParaRPr lang="en-US" altLang="en-US" sz="1400" dirty="0">
                        <a:latin typeface="微软雅黑" panose="020B0503020204020204" charset="-122"/>
                        <a:ea typeface="微软雅黑" panose="020B0503020204020204" charset="-122"/>
                      </a:endParaRPr>
                    </a:p>
                    <a:p>
                      <a:pPr marL="396240" indent="-200025" algn="l" rtl="0" eaLnBrk="0">
                        <a:lnSpc>
                          <a:spcPct val="95000"/>
                        </a:lnSpc>
                        <a:spcBef>
                          <a:spcPts val="535"/>
                        </a:spcBef>
                      </a:pPr>
                      <a:r>
                        <a:rPr sz="1400" spc="1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针对每个细分客户群使用</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最合适的销售和  </a:t>
                      </a:r>
                      <a:r>
                        <a:rPr sz="1400" spc="-30" dirty="0">
                          <a:solidFill>
                            <a:srgbClr val="000000">
                              <a:alpha val="100000"/>
                            </a:srgbClr>
                          </a:solidFill>
                          <a:latin typeface="微软雅黑" panose="020B0503020204020204" charset="-122"/>
                          <a:ea typeface="微软雅黑" panose="020B0503020204020204" charset="-122"/>
                          <a:cs typeface="楷体" panose="02010609060101010101" charset="-122"/>
                        </a:rPr>
                        <a:t>沟通渠</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道</a:t>
                      </a:r>
                      <a:endParaRPr lang="en-US" altLang="en-US" sz="14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19000"/>
                        </a:lnSpc>
                      </a:pPr>
                      <a:endParaRPr lang="en-US" altLang="en-US" sz="300" dirty="0">
                        <a:latin typeface="微软雅黑" panose="020B0503020204020204" charset="-122"/>
                        <a:ea typeface="微软雅黑" panose="020B0503020204020204" charset="-122"/>
                      </a:endParaRPr>
                    </a:p>
                    <a:p>
                      <a:pPr marL="1116965" algn="l" rtl="0" eaLnBrk="0">
                        <a:lnSpc>
                          <a:spcPct val="83000"/>
                        </a:lnSpc>
                        <a:spcBef>
                          <a:spcPts val="0"/>
                        </a:spcBef>
                      </a:pPr>
                      <a:r>
                        <a:rPr sz="1400" spc="-10" dirty="0">
                          <a:ln w="5085"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这样市场营销的效</a:t>
                      </a:r>
                      <a:r>
                        <a:rPr sz="1400" spc="0" dirty="0">
                          <a:ln w="5085"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率</a:t>
                      </a:r>
                      <a:endParaRPr lang="en-US" altLang="en-US" sz="1400" dirty="0">
                        <a:latin typeface="微软雅黑" panose="020B0503020204020204" charset="-122"/>
                        <a:ea typeface="微软雅黑" panose="020B0503020204020204" charset="-122"/>
                      </a:endParaRPr>
                    </a:p>
                  </a:txBody>
                  <a:tcPr marL="0" marR="0" marT="0" marB="0">
                    <a:lnL w="19050" cap="flat" cmpd="sng" algn="ctr">
                      <a:solidFill>
                        <a:srgbClr val="0065BD"/>
                      </a:solidFill>
                      <a:prstDash val="solid"/>
                      <a:round/>
                      <a:headEnd type="none" w="med" len="med"/>
                      <a:tailEnd type="none" w="med" len="med"/>
                    </a:lnL>
                    <a:lnR w="19050" cap="flat" cmpd="sng" algn="ctr">
                      <a:solidFill>
                        <a:srgbClr val="0065BD"/>
                      </a:solidFill>
                      <a:prstDash val="solid"/>
                      <a:round/>
                      <a:headEnd type="none" w="med" len="med"/>
                      <a:tailEnd type="none" w="med" len="med"/>
                    </a:lnR>
                    <a:lnT w="19050" cap="flat" cmpd="sng" algn="ctr">
                      <a:solidFill>
                        <a:srgbClr val="0065BD"/>
                      </a:solidFill>
                      <a:prstDash val="solid"/>
                      <a:round/>
                      <a:headEnd type="none" w="med" len="med"/>
                      <a:tailEnd type="none" w="med" len="med"/>
                    </a:lnT>
                    <a:lnB w="19050" cap="flat" cmpd="sng" algn="ctr">
                      <a:solidFill>
                        <a:srgbClr val="0065BD"/>
                      </a:solidFill>
                      <a:prstDash val="solid"/>
                      <a:round/>
                      <a:headEnd type="none" w="med" len="med"/>
                      <a:tailEnd type="none" w="med" len="med"/>
                    </a:lnB>
                  </a:tcPr>
                </a:tc>
              </a:tr>
            </a:tbl>
          </a:graphicData>
        </a:graphic>
      </p:graphicFrame>
      <p:sp>
        <p:nvSpPr>
          <p:cNvPr id="150" name="path"/>
          <p:cNvSpPr/>
          <p:nvPr/>
        </p:nvSpPr>
        <p:spPr>
          <a:xfrm>
            <a:off x="593598" y="880110"/>
            <a:ext cx="3922776" cy="4828032"/>
          </a:xfrm>
          <a:custGeom>
            <a:avLst/>
            <a:gdLst/>
            <a:ahLst/>
            <a:cxnLst/>
            <a:rect l="0" t="0" r="0" b="0"/>
            <a:pathLst>
              <a:path w="6177" h="7603">
                <a:moveTo>
                  <a:pt x="0" y="0"/>
                </a:moveTo>
                <a:lnTo>
                  <a:pt x="5464" y="0"/>
                </a:lnTo>
                <a:lnTo>
                  <a:pt x="6177" y="3801"/>
                </a:lnTo>
                <a:lnTo>
                  <a:pt x="5464" y="7603"/>
                </a:lnTo>
                <a:lnTo>
                  <a:pt x="0" y="7603"/>
                </a:lnTo>
                <a:lnTo>
                  <a:pt x="0" y="0"/>
                </a:lnTo>
                <a:close/>
              </a:path>
            </a:pathLst>
          </a:custGeom>
          <a:solidFill>
            <a:srgbClr val="FFFFFF">
              <a:alpha val="100000"/>
            </a:srgbClr>
          </a:solidFill>
          <a:ln cap="flat">
            <a:noFill/>
            <a:prstDash val="solid"/>
            <a:miter lim="0"/>
          </a:ln>
        </p:spPr>
        <p:txBody>
          <a:bodyPr rtlCol="0"/>
          <a:lstStyle/>
          <a:p>
            <a:pPr algn="ctr"/>
            <a:endParaRPr lang="zh-CN" altLang="en-US"/>
          </a:p>
        </p:txBody>
      </p:sp>
      <p:grpSp>
        <p:nvGrpSpPr>
          <p:cNvPr id="14" name="group 14"/>
          <p:cNvGrpSpPr/>
          <p:nvPr/>
        </p:nvGrpSpPr>
        <p:grpSpPr>
          <a:xfrm rot="21600000">
            <a:off x="946404" y="2447544"/>
            <a:ext cx="2555747" cy="947927"/>
            <a:chOff x="0" y="0"/>
            <a:chExt cx="2555747" cy="947927"/>
          </a:xfrm>
        </p:grpSpPr>
        <p:sp>
          <p:nvSpPr>
            <p:cNvPr id="151" name="path"/>
            <p:cNvSpPr/>
            <p:nvPr/>
          </p:nvSpPr>
          <p:spPr>
            <a:xfrm>
              <a:off x="4572" y="4571"/>
              <a:ext cx="2546603" cy="938783"/>
            </a:xfrm>
            <a:custGeom>
              <a:avLst/>
              <a:gdLst/>
              <a:ahLst/>
              <a:cxnLst/>
              <a:rect l="0" t="0" r="0" b="0"/>
              <a:pathLst>
                <a:path w="4010" h="1478">
                  <a:moveTo>
                    <a:pt x="0" y="739"/>
                  </a:moveTo>
                  <a:cubicBezTo>
                    <a:pt x="0" y="330"/>
                    <a:pt x="897" y="0"/>
                    <a:pt x="2005" y="0"/>
                  </a:cubicBezTo>
                  <a:cubicBezTo>
                    <a:pt x="3112" y="0"/>
                    <a:pt x="4010" y="330"/>
                    <a:pt x="4010" y="739"/>
                  </a:cubicBezTo>
                  <a:cubicBezTo>
                    <a:pt x="4010" y="1147"/>
                    <a:pt x="3112" y="1478"/>
                    <a:pt x="2005" y="1478"/>
                  </a:cubicBezTo>
                  <a:cubicBezTo>
                    <a:pt x="897" y="1478"/>
                    <a:pt x="0" y="1147"/>
                    <a:pt x="0" y="739"/>
                  </a:cubicBezTo>
                </a:path>
              </a:pathLst>
            </a:custGeom>
            <a:solidFill>
              <a:srgbClr val="BFE1FF">
                <a:alpha val="100000"/>
              </a:srgbClr>
            </a:solidFill>
            <a:ln cap="flat">
              <a:noFill/>
              <a:prstDash val="solid"/>
              <a:miter lim="0"/>
            </a:ln>
          </p:spPr>
          <p:txBody>
            <a:bodyPr rtlCol="0"/>
            <a:lstStyle/>
            <a:p>
              <a:pPr algn="ctr"/>
              <a:endParaRPr lang="zh-CN" altLang="en-US"/>
            </a:p>
          </p:txBody>
        </p:sp>
        <p:sp>
          <p:nvSpPr>
            <p:cNvPr id="152" name="path"/>
            <p:cNvSpPr/>
            <p:nvPr/>
          </p:nvSpPr>
          <p:spPr>
            <a:xfrm>
              <a:off x="0" y="0"/>
              <a:ext cx="2555747" cy="947927"/>
            </a:xfrm>
            <a:custGeom>
              <a:avLst/>
              <a:gdLst/>
              <a:ahLst/>
              <a:cxnLst/>
              <a:rect l="0" t="0" r="0" b="0"/>
              <a:pathLst>
                <a:path w="4024" h="1492">
                  <a:moveTo>
                    <a:pt x="7" y="746"/>
                  </a:moveTo>
                  <a:cubicBezTo>
                    <a:pt x="7" y="338"/>
                    <a:pt x="904" y="7"/>
                    <a:pt x="2012" y="7"/>
                  </a:cubicBezTo>
                  <a:cubicBezTo>
                    <a:pt x="3119" y="7"/>
                    <a:pt x="4017" y="338"/>
                    <a:pt x="4017" y="746"/>
                  </a:cubicBezTo>
                  <a:cubicBezTo>
                    <a:pt x="4017" y="1154"/>
                    <a:pt x="3119" y="1485"/>
                    <a:pt x="2012" y="1485"/>
                  </a:cubicBezTo>
                  <a:cubicBezTo>
                    <a:pt x="904" y="1485"/>
                    <a:pt x="7" y="1154"/>
                    <a:pt x="7" y="746"/>
                  </a:cubicBezTo>
                </a:path>
              </a:pathLst>
            </a:custGeom>
            <a:noFill/>
            <a:ln w="9143" cap="flat">
              <a:solidFill>
                <a:srgbClr val="FFFFFF">
                  <a:alpha val="100000"/>
                </a:srgbClr>
              </a:solidFill>
              <a:prstDash val="solid"/>
              <a:round/>
            </a:ln>
          </p:spPr>
          <p:txBody>
            <a:bodyPr rtlCol="0"/>
            <a:lstStyle/>
            <a:p>
              <a:pPr algn="ctr"/>
              <a:endParaRPr lang="zh-CN" altLang="en-US"/>
            </a:p>
          </p:txBody>
        </p:sp>
      </p:grpSp>
      <p:graphicFrame>
        <p:nvGraphicFramePr>
          <p:cNvPr id="153" name="table 153"/>
          <p:cNvGraphicFramePr>
            <a:graphicFrameLocks noGrp="1"/>
          </p:cNvGraphicFramePr>
          <p:nvPr/>
        </p:nvGraphicFramePr>
        <p:xfrm>
          <a:off x="583692" y="870204"/>
          <a:ext cx="3479165" cy="4828540"/>
        </p:xfrm>
        <a:graphic>
          <a:graphicData uri="http://schemas.openxmlformats.org/drawingml/2006/table">
            <a:tbl>
              <a:tblPr/>
              <a:tblGrid>
                <a:gridCol w="3479165"/>
              </a:tblGrid>
              <a:tr h="4828540">
                <a:tc>
                  <a:txBody>
                    <a:bodyPr/>
                    <a:lstStyle/>
                    <a:p>
                      <a:pPr algn="l" rtl="0" eaLnBrk="0">
                        <a:lnSpc>
                          <a:spcPct val="107000"/>
                        </a:lnSpc>
                      </a:pPr>
                      <a:endParaRPr lang="en-US" altLang="en-US" sz="1000" dirty="0">
                        <a:latin typeface="微软雅黑" panose="020B0503020204020204" charset="-122"/>
                        <a:ea typeface="微软雅黑" panose="020B0503020204020204" charset="-122"/>
                      </a:endParaRPr>
                    </a:p>
                    <a:p>
                      <a:pPr algn="l" rtl="0" eaLnBrk="0">
                        <a:lnSpc>
                          <a:spcPct val="107000"/>
                        </a:lnSpc>
                      </a:pPr>
                      <a:endParaRPr lang="en-US" altLang="en-US" sz="1000" dirty="0">
                        <a:latin typeface="微软雅黑" panose="020B0503020204020204" charset="-122"/>
                        <a:ea typeface="微软雅黑" panose="020B0503020204020204" charset="-122"/>
                      </a:endParaRPr>
                    </a:p>
                    <a:p>
                      <a:pPr algn="l" rtl="0" eaLnBrk="0">
                        <a:lnSpc>
                          <a:spcPct val="107000"/>
                        </a:lnSpc>
                      </a:pPr>
                      <a:endParaRPr lang="en-US" altLang="en-US" sz="1000" dirty="0">
                        <a:latin typeface="微软雅黑" panose="020B0503020204020204" charset="-122"/>
                        <a:ea typeface="微软雅黑" panose="020B0503020204020204" charset="-122"/>
                      </a:endParaRPr>
                    </a:p>
                    <a:p>
                      <a:pPr algn="l" rtl="0" eaLnBrk="0">
                        <a:lnSpc>
                          <a:spcPct val="107000"/>
                        </a:lnSpc>
                      </a:pPr>
                      <a:endParaRPr lang="en-US" altLang="en-US" sz="1000" dirty="0">
                        <a:latin typeface="微软雅黑" panose="020B0503020204020204" charset="-122"/>
                        <a:ea typeface="微软雅黑" panose="020B0503020204020204" charset="-122"/>
                      </a:endParaRPr>
                    </a:p>
                    <a:p>
                      <a:pPr algn="l" rtl="0" eaLnBrk="0">
                        <a:lnSpc>
                          <a:spcPct val="107000"/>
                        </a:lnSpc>
                      </a:pPr>
                      <a:endParaRPr lang="en-US" altLang="en-US" sz="1000" dirty="0">
                        <a:latin typeface="微软雅黑" panose="020B0503020204020204" charset="-122"/>
                        <a:ea typeface="微软雅黑" panose="020B0503020204020204" charset="-122"/>
                      </a:endParaRPr>
                    </a:p>
                    <a:p>
                      <a:pPr algn="l" rtl="0" eaLnBrk="0">
                        <a:lnSpc>
                          <a:spcPct val="107000"/>
                        </a:lnSpc>
                      </a:pPr>
                      <a:endParaRPr lang="en-US" altLang="en-US" sz="1000" dirty="0">
                        <a:latin typeface="微软雅黑" panose="020B0503020204020204" charset="-122"/>
                        <a:ea typeface="微软雅黑" panose="020B0503020204020204" charset="-122"/>
                      </a:endParaRPr>
                    </a:p>
                    <a:p>
                      <a:pPr algn="l" rtl="0" eaLnBrk="0">
                        <a:lnSpc>
                          <a:spcPct val="108000"/>
                        </a:lnSpc>
                      </a:pPr>
                      <a:endParaRPr lang="en-US" altLang="en-US" sz="1000" dirty="0">
                        <a:latin typeface="微软雅黑" panose="020B0503020204020204" charset="-122"/>
                        <a:ea typeface="微软雅黑" panose="020B0503020204020204" charset="-122"/>
                      </a:endParaRPr>
                    </a:p>
                    <a:p>
                      <a:pPr algn="l" rtl="0" eaLnBrk="0">
                        <a:lnSpc>
                          <a:spcPct val="108000"/>
                        </a:lnSpc>
                      </a:pPr>
                      <a:endParaRPr lang="en-US" altLang="en-US" sz="1000" dirty="0">
                        <a:latin typeface="微软雅黑" panose="020B0503020204020204" charset="-122"/>
                        <a:ea typeface="微软雅黑" panose="020B0503020204020204" charset="-122"/>
                      </a:endParaRPr>
                    </a:p>
                    <a:p>
                      <a:pPr algn="l" rtl="0" eaLnBrk="0">
                        <a:lnSpc>
                          <a:spcPct val="108000"/>
                        </a:lnSpc>
                      </a:pPr>
                      <a:endParaRPr lang="en-US" altLang="en-US" sz="1000" dirty="0">
                        <a:latin typeface="微软雅黑" panose="020B0503020204020204" charset="-122"/>
                        <a:ea typeface="微软雅黑" panose="020B0503020204020204" charset="-122"/>
                      </a:endParaRPr>
                    </a:p>
                    <a:p>
                      <a:pPr algn="l" rtl="0" eaLnBrk="0">
                        <a:lnSpc>
                          <a:spcPct val="108000"/>
                        </a:lnSpc>
                      </a:pPr>
                      <a:endParaRPr lang="en-US" altLang="en-US" sz="1000" dirty="0">
                        <a:latin typeface="微软雅黑" panose="020B0503020204020204" charset="-122"/>
                        <a:ea typeface="微软雅黑" panose="020B0503020204020204" charset="-122"/>
                      </a:endParaRPr>
                    </a:p>
                    <a:p>
                      <a:pPr algn="l" rtl="0" eaLnBrk="0">
                        <a:lnSpc>
                          <a:spcPct val="108000"/>
                        </a:lnSpc>
                      </a:pPr>
                      <a:endParaRPr lang="en-US" altLang="en-US" sz="1000" dirty="0">
                        <a:latin typeface="微软雅黑" panose="020B0503020204020204" charset="-122"/>
                        <a:ea typeface="微软雅黑" panose="020B0503020204020204" charset="-122"/>
                      </a:endParaRPr>
                    </a:p>
                    <a:p>
                      <a:pPr algn="l" rtl="0" eaLnBrk="0">
                        <a:lnSpc>
                          <a:spcPct val="108000"/>
                        </a:lnSpc>
                      </a:pPr>
                      <a:endParaRPr lang="en-US" altLang="en-US" sz="1000" dirty="0">
                        <a:latin typeface="微软雅黑" panose="020B0503020204020204" charset="-122"/>
                        <a:ea typeface="微软雅黑" panose="020B0503020204020204" charset="-122"/>
                      </a:endParaRPr>
                    </a:p>
                    <a:p>
                      <a:pPr algn="l" rtl="0" eaLnBrk="0">
                        <a:lnSpc>
                          <a:spcPct val="9000"/>
                        </a:lnSpc>
                      </a:pPr>
                      <a:endParaRPr lang="en-US" altLang="en-US" sz="100" dirty="0">
                        <a:latin typeface="微软雅黑" panose="020B0503020204020204" charset="-122"/>
                        <a:ea typeface="微软雅黑" panose="020B0503020204020204" charset="-122"/>
                      </a:endParaRPr>
                    </a:p>
                    <a:p>
                      <a:pPr marL="1470660" algn="l" rtl="0" eaLnBrk="0">
                        <a:lnSpc>
                          <a:spcPct val="95000"/>
                        </a:lnSpc>
                      </a:pPr>
                      <a:r>
                        <a:rPr sz="1400" spc="-2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市场</a:t>
                      </a:r>
                      <a:endParaRPr lang="en-US" altLang="en-US" sz="1400" dirty="0">
                        <a:latin typeface="微软雅黑" panose="020B0503020204020204" charset="-122"/>
                        <a:ea typeface="微软雅黑" panose="020B0503020204020204" charset="-122"/>
                      </a:endParaRPr>
                    </a:p>
                    <a:p>
                      <a:pPr algn="l" rtl="0" eaLnBrk="0">
                        <a:lnSpc>
                          <a:spcPct val="146000"/>
                        </a:lnSpc>
                      </a:pPr>
                      <a:endParaRPr lang="en-US" altLang="en-US" sz="1000" dirty="0">
                        <a:latin typeface="微软雅黑" panose="020B0503020204020204" charset="-122"/>
                        <a:ea typeface="微软雅黑" panose="020B0503020204020204" charset="-122"/>
                      </a:endParaRPr>
                    </a:p>
                    <a:p>
                      <a:pPr algn="l" rtl="0" eaLnBrk="0">
                        <a:lnSpc>
                          <a:spcPct val="146000"/>
                        </a:lnSpc>
                      </a:pPr>
                      <a:endParaRPr lang="en-US" altLang="en-US" sz="1000" dirty="0">
                        <a:latin typeface="微软雅黑" panose="020B0503020204020204" charset="-122"/>
                        <a:ea typeface="微软雅黑" panose="020B0503020204020204" charset="-122"/>
                      </a:endParaRPr>
                    </a:p>
                    <a:p>
                      <a:pPr marL="173355" algn="l" rtl="0" eaLnBrk="0">
                        <a:lnSpc>
                          <a:spcPct val="93000"/>
                        </a:lnSpc>
                        <a:spcBef>
                          <a:spcPts val="430"/>
                        </a:spcBef>
                      </a:pPr>
                      <a:r>
                        <a:rPr sz="1400" spc="-2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没有针对性的使用</a:t>
                      </a:r>
                      <a:r>
                        <a:rPr sz="1400" spc="-1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营</a:t>
                      </a:r>
                      <a:r>
                        <a:rPr sz="1400" spc="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销工具会导致</a:t>
                      </a:r>
                      <a:endParaRPr lang="en-US" altLang="en-US" sz="1400" dirty="0">
                        <a:latin typeface="微软雅黑" panose="020B0503020204020204" charset="-122"/>
                        <a:ea typeface="微软雅黑" panose="020B0503020204020204" charset="-122"/>
                      </a:endParaRPr>
                    </a:p>
                    <a:p>
                      <a:pPr marL="352425" indent="-187325" algn="l" rtl="0" eaLnBrk="0">
                        <a:lnSpc>
                          <a:spcPct val="97000"/>
                        </a:lnSpc>
                        <a:spcBef>
                          <a:spcPts val="445"/>
                        </a:spcBef>
                      </a:pPr>
                      <a:r>
                        <a:rPr sz="1400" spc="2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无意识地选择</a:t>
                      </a:r>
                      <a:r>
                        <a:rPr sz="1400" spc="0" dirty="0">
                          <a:solidFill>
                            <a:srgbClr val="000000">
                              <a:alpha val="100000"/>
                            </a:srgbClr>
                          </a:solidFill>
                          <a:latin typeface="微软雅黑" panose="020B0503020204020204" charset="-122"/>
                          <a:ea typeface="微软雅黑" panose="020B0503020204020204" charset="-122"/>
                          <a:cs typeface="Arial" panose="020B0604020202020204"/>
                        </a:rPr>
                        <a:t>/</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关注市场的某些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部</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分</a:t>
                      </a:r>
                      <a:endParaRPr lang="en-US" altLang="en-US" sz="1400" dirty="0">
                        <a:latin typeface="微软雅黑" panose="020B0503020204020204" charset="-122"/>
                        <a:ea typeface="微软雅黑" panose="020B0503020204020204" charset="-122"/>
                      </a:endParaRPr>
                    </a:p>
                    <a:p>
                      <a:pPr marL="358775" indent="-193675" algn="l" rtl="0" eaLnBrk="0">
                        <a:lnSpc>
                          <a:spcPct val="95000"/>
                        </a:lnSpc>
                        <a:spcBef>
                          <a:spcPts val="500"/>
                        </a:spcBef>
                      </a:pPr>
                      <a:r>
                        <a:rPr sz="1400" spc="1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利用市场营销和销售工具</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随机应对客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户需求</a:t>
                      </a:r>
                      <a:endParaRPr lang="en-US" altLang="en-US" sz="1400" dirty="0">
                        <a:latin typeface="微软雅黑" panose="020B0503020204020204" charset="-122"/>
                        <a:ea typeface="微软雅黑" panose="020B0503020204020204" charset="-122"/>
                      </a:endParaRPr>
                    </a:p>
                    <a:p>
                      <a:pPr algn="l" rtl="0" eaLnBrk="0">
                        <a:lnSpc>
                          <a:spcPct val="123000"/>
                        </a:lnSpc>
                      </a:pPr>
                      <a:endParaRPr lang="en-US" altLang="en-US" sz="300" dirty="0">
                        <a:latin typeface="微软雅黑" panose="020B0503020204020204" charset="-122"/>
                        <a:ea typeface="微软雅黑" panose="020B0503020204020204" charset="-122"/>
                      </a:endParaRPr>
                    </a:p>
                    <a:p>
                      <a:pPr marL="165100" algn="l" rtl="0" eaLnBrk="0">
                        <a:lnSpc>
                          <a:spcPct val="93000"/>
                        </a:lnSpc>
                        <a:spcBef>
                          <a:spcPts val="0"/>
                        </a:spcBef>
                      </a:pPr>
                      <a:r>
                        <a:rPr sz="1400" spc="1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无法充分考虑并直接应对客</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户的需求</a:t>
                      </a:r>
                      <a:endParaRPr lang="en-US" altLang="en-US" sz="1400" dirty="0">
                        <a:latin typeface="微软雅黑" panose="020B0503020204020204" charset="-122"/>
                        <a:ea typeface="微软雅黑" panose="020B0503020204020204" charset="-122"/>
                      </a:endParaRPr>
                    </a:p>
                  </a:txBody>
                  <a:tcPr marL="0" marR="0" marT="0" marB="0">
                    <a:lnL w="19050" cap="flat" cmpd="sng" algn="ctr">
                      <a:solidFill>
                        <a:srgbClr val="BFE1FF"/>
                      </a:solidFill>
                      <a:prstDash val="solid"/>
                      <a:round/>
                      <a:headEnd type="none" w="med" len="med"/>
                      <a:tailEnd type="none" w="med" len="med"/>
                    </a:lnL>
                    <a:lnR>
                      <a:noFill/>
                    </a:lnR>
                    <a:lnT w="19050" cap="flat" cmpd="sng" algn="ctr">
                      <a:solidFill>
                        <a:srgbClr val="BFE1FF"/>
                      </a:solidFill>
                      <a:prstDash val="solid"/>
                      <a:round/>
                      <a:headEnd type="none" w="med" len="med"/>
                      <a:tailEnd type="none" w="med" len="med"/>
                    </a:lnT>
                    <a:lnB w="19050" cap="flat" cmpd="sng" algn="ctr">
                      <a:solidFill>
                        <a:srgbClr val="BFE1FF"/>
                      </a:solidFill>
                      <a:prstDash val="solid"/>
                      <a:round/>
                      <a:headEnd type="none" w="med" len="med"/>
                      <a:tailEnd type="none" w="med" len="med"/>
                    </a:lnB>
                  </a:tcPr>
                </a:tc>
              </a:tr>
            </a:tbl>
          </a:graphicData>
        </a:graphic>
      </p:graphicFrame>
      <p:sp>
        <p:nvSpPr>
          <p:cNvPr id="154" name="textbox 154"/>
          <p:cNvSpPr/>
          <p:nvPr/>
        </p:nvSpPr>
        <p:spPr>
          <a:xfrm>
            <a:off x="111566" y="248992"/>
            <a:ext cx="6880225" cy="305434"/>
          </a:xfrm>
          <a:prstGeom prst="rect">
            <a:avLst/>
          </a:prstGeom>
        </p:spPr>
        <p:txBody>
          <a:bodyPr vert="horz" wrap="square" lIns="0" tIns="0" rIns="0" bIns="0"/>
          <a:lstStyle/>
          <a:p>
            <a:pPr algn="l" rtl="0" eaLnBrk="0">
              <a:lnSpc>
                <a:spcPct val="79000"/>
              </a:lnSpc>
            </a:pPr>
            <a:endParaRPr lang="en-US" altLang="en-US" sz="100" dirty="0">
              <a:latin typeface="微软雅黑" panose="020B0503020204020204" charset="-122"/>
              <a:ea typeface="微软雅黑" panose="020B0503020204020204" charset="-122"/>
            </a:endParaRPr>
          </a:p>
          <a:p>
            <a:pPr marL="12700" algn="l" rtl="0" eaLnBrk="0">
              <a:lnSpc>
                <a:spcPct val="92000"/>
              </a:lnSpc>
            </a:pPr>
            <a:r>
              <a:rPr sz="2000" spc="-40" dirty="0">
                <a:solidFill>
                  <a:srgbClr val="002960">
                    <a:alpha val="100000"/>
                  </a:srgbClr>
                </a:solidFill>
                <a:latin typeface="微软雅黑" panose="020B0503020204020204" charset="-122"/>
                <a:ea typeface="微软雅黑" panose="020B0503020204020204" charset="-122"/>
                <a:cs typeface="楷体" panose="02010609060101010101" charset="-122"/>
              </a:rPr>
              <a:t>客户细分可以有的放矢地进行市场营销， 效率更高，效</a:t>
            </a:r>
            <a:r>
              <a:rPr sz="2000" spc="-30" dirty="0">
                <a:solidFill>
                  <a:srgbClr val="002960">
                    <a:alpha val="100000"/>
                  </a:srgbClr>
                </a:solidFill>
                <a:latin typeface="微软雅黑" panose="020B0503020204020204" charset="-122"/>
                <a:ea typeface="微软雅黑" panose="020B0503020204020204" charset="-122"/>
                <a:cs typeface="楷体" panose="02010609060101010101" charset="-122"/>
              </a:rPr>
              <a:t>果</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更好</a:t>
            </a:r>
            <a:endParaRPr lang="en-US" altLang="en-US" sz="2000" dirty="0">
              <a:latin typeface="微软雅黑" panose="020B0503020204020204" charset="-122"/>
              <a:ea typeface="微软雅黑" panose="020B0503020204020204" charset="-122"/>
            </a:endParaRPr>
          </a:p>
        </p:txBody>
      </p:sp>
      <p:sp>
        <p:nvSpPr>
          <p:cNvPr id="155" name="path"/>
          <p:cNvSpPr/>
          <p:nvPr/>
        </p:nvSpPr>
        <p:spPr>
          <a:xfrm>
            <a:off x="4053502" y="878282"/>
            <a:ext cx="472607" cy="2417671"/>
          </a:xfrm>
          <a:custGeom>
            <a:avLst/>
            <a:gdLst/>
            <a:ahLst/>
            <a:cxnLst/>
            <a:rect l="0" t="0" r="0" b="0"/>
            <a:pathLst>
              <a:path w="744" h="3807">
                <a:moveTo>
                  <a:pt x="15" y="2"/>
                </a:moveTo>
                <a:lnTo>
                  <a:pt x="728" y="3804"/>
                </a:lnTo>
              </a:path>
            </a:pathLst>
          </a:custGeom>
          <a:noFill/>
          <a:ln w="19811" cap="flat">
            <a:solidFill>
              <a:srgbClr val="BFE1FF">
                <a:alpha val="100000"/>
              </a:srgbClr>
            </a:solidFill>
            <a:prstDash val="solid"/>
            <a:miter lim="800000"/>
          </a:ln>
        </p:spPr>
        <p:txBody>
          <a:bodyPr rtlCol="0"/>
          <a:lstStyle/>
          <a:p>
            <a:pPr algn="ctr"/>
            <a:endParaRPr lang="zh-CN" altLang="en-US"/>
          </a:p>
        </p:txBody>
      </p:sp>
      <p:sp>
        <p:nvSpPr>
          <p:cNvPr id="156" name="textbox 156"/>
          <p:cNvSpPr/>
          <p:nvPr/>
        </p:nvSpPr>
        <p:spPr>
          <a:xfrm>
            <a:off x="4471415" y="879348"/>
            <a:ext cx="3792220" cy="457200"/>
          </a:xfrm>
          <a:prstGeom prst="rect">
            <a:avLst/>
          </a:prstGeom>
          <a:solidFill>
            <a:srgbClr val="0065BD"/>
          </a:solidFill>
        </p:spPr>
        <p:txBody>
          <a:bodyPr vert="horz" wrap="square" lIns="0" tIns="0" rIns="0" bIns="0"/>
          <a:lstStyle/>
          <a:p>
            <a:pPr algn="l" rtl="0" eaLnBrk="0">
              <a:lnSpc>
                <a:spcPct val="108000"/>
              </a:lnSpc>
            </a:pPr>
            <a:endParaRPr lang="en-US" altLang="en-US" sz="800" dirty="0">
              <a:latin typeface="微软雅黑" panose="020B0503020204020204" charset="-122"/>
              <a:ea typeface="微软雅黑" panose="020B0503020204020204" charset="-122"/>
            </a:endParaRPr>
          </a:p>
          <a:p>
            <a:pPr marL="85090" algn="l" rtl="0" eaLnBrk="0">
              <a:lnSpc>
                <a:spcPct val="96000"/>
              </a:lnSpc>
              <a:spcBef>
                <a:spcPts val="5"/>
              </a:spcBef>
            </a:pPr>
            <a:r>
              <a:rPr sz="1400" spc="-20" dirty="0">
                <a:ln w="5094"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经过细</a:t>
            </a:r>
            <a:r>
              <a:rPr sz="1400" spc="0" dirty="0">
                <a:ln w="5094"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分</a:t>
            </a:r>
            <a:endParaRPr lang="en-US" altLang="en-US" sz="1400" dirty="0">
              <a:latin typeface="微软雅黑" panose="020B0503020204020204" charset="-122"/>
              <a:ea typeface="微软雅黑" panose="020B0503020204020204" charset="-122"/>
            </a:endParaRPr>
          </a:p>
        </p:txBody>
      </p:sp>
      <p:sp>
        <p:nvSpPr>
          <p:cNvPr id="157" name="textbox 157"/>
          <p:cNvSpPr/>
          <p:nvPr/>
        </p:nvSpPr>
        <p:spPr>
          <a:xfrm>
            <a:off x="592836" y="879348"/>
            <a:ext cx="3543300" cy="452755"/>
          </a:xfrm>
          <a:prstGeom prst="rect">
            <a:avLst/>
          </a:prstGeom>
          <a:solidFill>
            <a:srgbClr val="BFE1FF"/>
          </a:solidFill>
        </p:spPr>
        <p:txBody>
          <a:bodyPr vert="horz" wrap="square" lIns="0" tIns="0" rIns="0" bIns="0"/>
          <a:lstStyle/>
          <a:p>
            <a:pPr algn="l" rtl="0" eaLnBrk="0">
              <a:lnSpc>
                <a:spcPct val="107000"/>
              </a:lnSpc>
            </a:pPr>
            <a:endParaRPr lang="en-US" altLang="en-US" sz="800" dirty="0">
              <a:latin typeface="微软雅黑" panose="020B0503020204020204" charset="-122"/>
              <a:ea typeface="微软雅黑" panose="020B0503020204020204" charset="-122"/>
            </a:endParaRPr>
          </a:p>
          <a:p>
            <a:pPr algn="l" rtl="0" eaLnBrk="0">
              <a:lnSpc>
                <a:spcPct val="7000"/>
              </a:lnSpc>
            </a:pPr>
            <a:endParaRPr lang="en-US" altLang="en-US" sz="100" dirty="0">
              <a:latin typeface="微软雅黑" panose="020B0503020204020204" charset="-122"/>
              <a:ea typeface="微软雅黑" panose="020B0503020204020204" charset="-122"/>
            </a:endParaRPr>
          </a:p>
          <a:p>
            <a:pPr marL="106045" algn="l" rtl="0" eaLnBrk="0">
              <a:lnSpc>
                <a:spcPct val="94000"/>
              </a:lnSpc>
            </a:pPr>
            <a:r>
              <a:rPr sz="1400" spc="-2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未经细分</a:t>
            </a:r>
            <a:endParaRPr lang="en-US" altLang="en-US" sz="1400" dirty="0">
              <a:latin typeface="微软雅黑" panose="020B0503020204020204" charset="-122"/>
              <a:ea typeface="微软雅黑" panose="020B0503020204020204" charset="-122"/>
            </a:endParaRPr>
          </a:p>
        </p:txBody>
      </p:sp>
      <p:sp>
        <p:nvSpPr>
          <p:cNvPr id="158" name="path"/>
          <p:cNvSpPr/>
          <p:nvPr/>
        </p:nvSpPr>
        <p:spPr>
          <a:xfrm>
            <a:off x="4053502" y="3292299"/>
            <a:ext cx="472607" cy="2417670"/>
          </a:xfrm>
          <a:custGeom>
            <a:avLst/>
            <a:gdLst/>
            <a:ahLst/>
            <a:cxnLst/>
            <a:rect l="0" t="0" r="0" b="0"/>
            <a:pathLst>
              <a:path w="744" h="3807">
                <a:moveTo>
                  <a:pt x="728" y="2"/>
                </a:moveTo>
                <a:lnTo>
                  <a:pt x="15" y="3804"/>
                </a:lnTo>
              </a:path>
            </a:pathLst>
          </a:custGeom>
          <a:noFill/>
          <a:ln w="19811" cap="flat">
            <a:solidFill>
              <a:srgbClr val="BFE1FF">
                <a:alpha val="100000"/>
              </a:srgbClr>
            </a:solidFill>
            <a:prstDash val="solid"/>
            <a:miter lim="800000"/>
          </a:ln>
        </p:spPr>
        <p:txBody>
          <a:bodyPr rtlCol="0"/>
          <a:lstStyle/>
          <a:p>
            <a:pPr algn="ctr"/>
            <a:endParaRPr lang="zh-CN" altLang="en-US"/>
          </a:p>
        </p:txBody>
      </p:sp>
      <p:sp>
        <p:nvSpPr>
          <p:cNvPr id="159" name="textbox 159"/>
          <p:cNvSpPr/>
          <p:nvPr/>
        </p:nvSpPr>
        <p:spPr>
          <a:xfrm>
            <a:off x="114849" y="6511311"/>
            <a:ext cx="8521065" cy="135889"/>
          </a:xfrm>
          <a:prstGeom prst="rect">
            <a:avLst/>
          </a:prstGeom>
        </p:spPr>
        <p:txBody>
          <a:bodyPr vert="horz" wrap="square" lIns="0" tIns="0" rIns="0" bIns="0"/>
          <a:lstStyle/>
          <a:p>
            <a:pPr algn="l" rtl="0" eaLnBrk="0">
              <a:lnSpc>
                <a:spcPct val="85000"/>
              </a:lnSpc>
            </a:pPr>
            <a:endParaRPr lang="en-US" altLang="en-US" sz="100" dirty="0"/>
          </a:p>
          <a:p>
            <a:pPr marL="12700" algn="l" rtl="0" eaLnBrk="0">
              <a:lnSpc>
                <a:spcPct val="90000"/>
              </a:lnSpc>
            </a:pPr>
            <a:r>
              <a:rPr sz="800" spc="10" dirty="0">
                <a:solidFill>
                  <a:srgbClr val="808080">
                    <a:alpha val="100000"/>
                  </a:srgbClr>
                </a:solidFill>
                <a:latin typeface="楷体" panose="02010609060101010101" charset="-122"/>
                <a:ea typeface="楷体" panose="02010609060101010101" charset="-122"/>
                <a:cs typeface="楷体" panose="02010609060101010101" charset="-122"/>
              </a:rPr>
              <a:t>资料来源：乙方                         </a:t>
            </a:r>
            <a:r>
              <a:rPr sz="800" spc="0" dirty="0">
                <a:solidFill>
                  <a:srgbClr val="808080">
                    <a:alpha val="100000"/>
                  </a:srgbClr>
                </a:solidFill>
                <a:latin typeface="楷体" panose="02010609060101010101" charset="-122"/>
                <a:ea typeface="楷体" panose="02010609060101010101" charset="-122"/>
                <a:cs typeface="楷体" panose="02010609060101010101" charset="-122"/>
              </a:rPr>
              <a:t>                                                                                                       </a:t>
            </a:r>
            <a:r>
              <a:rPr sz="800" spc="0" dirty="0">
                <a:solidFill>
                  <a:srgbClr val="808080">
                    <a:alpha val="100000"/>
                  </a:srgbClr>
                </a:solidFill>
                <a:latin typeface="Arial" panose="020B0604020202020204"/>
                <a:ea typeface="Arial" panose="020B0604020202020204"/>
                <a:cs typeface="Arial" panose="020B0604020202020204"/>
              </a:rPr>
              <a:t>   6</a:t>
            </a:r>
            <a:endParaRPr lang="en-US" altLang="en-US" sz="800" dirty="0"/>
          </a:p>
        </p:txBody>
      </p:sp>
      <p:sp>
        <p:nvSpPr>
          <p:cNvPr id="160" name="path"/>
          <p:cNvSpPr/>
          <p:nvPr/>
        </p:nvSpPr>
        <p:spPr>
          <a:xfrm>
            <a:off x="1741932" y="2040636"/>
            <a:ext cx="1178051" cy="656843"/>
          </a:xfrm>
          <a:custGeom>
            <a:avLst/>
            <a:gdLst/>
            <a:ahLst/>
            <a:cxnLst/>
            <a:rect l="0" t="0" r="0" b="0"/>
            <a:pathLst>
              <a:path w="1855" h="1034">
                <a:moveTo>
                  <a:pt x="1507" y="333"/>
                </a:moveTo>
                <a:cubicBezTo>
                  <a:pt x="1509" y="344"/>
                  <a:pt x="1516" y="364"/>
                  <a:pt x="1516" y="364"/>
                </a:cubicBezTo>
                <a:cubicBezTo>
                  <a:pt x="1516" y="364"/>
                  <a:pt x="1509" y="344"/>
                  <a:pt x="1507" y="333"/>
                </a:cubicBezTo>
                <a:moveTo>
                  <a:pt x="1598" y="271"/>
                </a:moveTo>
                <a:cubicBezTo>
                  <a:pt x="1600" y="281"/>
                  <a:pt x="1607" y="302"/>
                  <a:pt x="1607" y="302"/>
                </a:cubicBezTo>
                <a:cubicBezTo>
                  <a:pt x="1607" y="302"/>
                  <a:pt x="1600" y="281"/>
                  <a:pt x="1598" y="271"/>
                </a:cubicBezTo>
                <a:moveTo>
                  <a:pt x="1737" y="343"/>
                </a:moveTo>
                <a:cubicBezTo>
                  <a:pt x="1740" y="353"/>
                  <a:pt x="1747" y="374"/>
                  <a:pt x="1747" y="374"/>
                </a:cubicBezTo>
                <a:cubicBezTo>
                  <a:pt x="1747" y="374"/>
                  <a:pt x="1740" y="353"/>
                  <a:pt x="1737" y="343"/>
                </a:cubicBezTo>
                <a:moveTo>
                  <a:pt x="1547" y="520"/>
                </a:moveTo>
                <a:cubicBezTo>
                  <a:pt x="1550" y="530"/>
                  <a:pt x="1557" y="549"/>
                  <a:pt x="1557" y="549"/>
                </a:cubicBezTo>
                <a:cubicBezTo>
                  <a:pt x="1557" y="549"/>
                  <a:pt x="1550" y="530"/>
                  <a:pt x="1547" y="520"/>
                </a:cubicBezTo>
                <a:moveTo>
                  <a:pt x="1667" y="472"/>
                </a:moveTo>
                <a:cubicBezTo>
                  <a:pt x="1670" y="483"/>
                  <a:pt x="1677" y="504"/>
                  <a:pt x="1677" y="504"/>
                </a:cubicBezTo>
                <a:cubicBezTo>
                  <a:pt x="1677" y="504"/>
                  <a:pt x="1670" y="483"/>
                  <a:pt x="1667" y="472"/>
                </a:cubicBezTo>
                <a:moveTo>
                  <a:pt x="1521" y="681"/>
                </a:moveTo>
                <a:cubicBezTo>
                  <a:pt x="1523" y="692"/>
                  <a:pt x="1531" y="712"/>
                  <a:pt x="1531" y="712"/>
                </a:cubicBezTo>
                <a:cubicBezTo>
                  <a:pt x="1531" y="712"/>
                  <a:pt x="1523" y="692"/>
                  <a:pt x="1521" y="681"/>
                </a:cubicBezTo>
                <a:moveTo>
                  <a:pt x="1612" y="619"/>
                </a:moveTo>
                <a:cubicBezTo>
                  <a:pt x="1615" y="629"/>
                  <a:pt x="1622" y="650"/>
                  <a:pt x="1622" y="650"/>
                </a:cubicBezTo>
                <a:cubicBezTo>
                  <a:pt x="1622" y="650"/>
                  <a:pt x="1615" y="629"/>
                  <a:pt x="1612" y="619"/>
                </a:cubicBezTo>
                <a:moveTo>
                  <a:pt x="1751" y="691"/>
                </a:moveTo>
                <a:cubicBezTo>
                  <a:pt x="1754" y="701"/>
                  <a:pt x="1761" y="722"/>
                  <a:pt x="1761" y="722"/>
                </a:cubicBezTo>
                <a:cubicBezTo>
                  <a:pt x="1761" y="722"/>
                  <a:pt x="1754" y="701"/>
                  <a:pt x="1751" y="691"/>
                </a:cubicBezTo>
                <a:moveTo>
                  <a:pt x="1562" y="868"/>
                </a:moveTo>
                <a:cubicBezTo>
                  <a:pt x="1564" y="878"/>
                  <a:pt x="1571" y="897"/>
                  <a:pt x="1571" y="897"/>
                </a:cubicBezTo>
                <a:cubicBezTo>
                  <a:pt x="1571" y="897"/>
                  <a:pt x="1564" y="878"/>
                  <a:pt x="1562" y="868"/>
                </a:cubicBezTo>
                <a:moveTo>
                  <a:pt x="1682" y="820"/>
                </a:moveTo>
                <a:cubicBezTo>
                  <a:pt x="1684" y="831"/>
                  <a:pt x="1691" y="852"/>
                  <a:pt x="1691" y="852"/>
                </a:cubicBezTo>
                <a:cubicBezTo>
                  <a:pt x="1691" y="852"/>
                  <a:pt x="1684" y="831"/>
                  <a:pt x="1682" y="820"/>
                </a:cubicBezTo>
                <a:moveTo>
                  <a:pt x="1252" y="451"/>
                </a:moveTo>
                <a:cubicBezTo>
                  <a:pt x="1255" y="460"/>
                  <a:pt x="1262" y="480"/>
                  <a:pt x="1262" y="480"/>
                </a:cubicBezTo>
                <a:cubicBezTo>
                  <a:pt x="1262" y="480"/>
                  <a:pt x="1255" y="460"/>
                  <a:pt x="1252" y="451"/>
                </a:cubicBezTo>
                <a:moveTo>
                  <a:pt x="1341" y="388"/>
                </a:moveTo>
                <a:cubicBezTo>
                  <a:pt x="1343" y="399"/>
                  <a:pt x="1351" y="420"/>
                  <a:pt x="1351" y="420"/>
                </a:cubicBezTo>
                <a:cubicBezTo>
                  <a:pt x="1351" y="420"/>
                  <a:pt x="1343" y="399"/>
                  <a:pt x="1341" y="388"/>
                </a:cubicBezTo>
                <a:moveTo>
                  <a:pt x="1483" y="460"/>
                </a:moveTo>
                <a:cubicBezTo>
                  <a:pt x="1485" y="471"/>
                  <a:pt x="1492" y="492"/>
                  <a:pt x="1492" y="492"/>
                </a:cubicBezTo>
                <a:cubicBezTo>
                  <a:pt x="1492" y="492"/>
                  <a:pt x="1485" y="471"/>
                  <a:pt x="1483" y="460"/>
                </a:cubicBezTo>
                <a:moveTo>
                  <a:pt x="1291" y="635"/>
                </a:moveTo>
                <a:cubicBezTo>
                  <a:pt x="1294" y="646"/>
                  <a:pt x="1303" y="667"/>
                  <a:pt x="1303" y="667"/>
                </a:cubicBezTo>
                <a:cubicBezTo>
                  <a:pt x="1303" y="667"/>
                  <a:pt x="1294" y="646"/>
                  <a:pt x="1291" y="635"/>
                </a:cubicBezTo>
                <a:moveTo>
                  <a:pt x="1411" y="590"/>
                </a:moveTo>
                <a:cubicBezTo>
                  <a:pt x="1414" y="600"/>
                  <a:pt x="1423" y="619"/>
                  <a:pt x="1423" y="619"/>
                </a:cubicBezTo>
                <a:cubicBezTo>
                  <a:pt x="1423" y="619"/>
                  <a:pt x="1414" y="600"/>
                  <a:pt x="1411" y="590"/>
                </a:cubicBezTo>
                <a:moveTo>
                  <a:pt x="1178" y="799"/>
                </a:moveTo>
                <a:cubicBezTo>
                  <a:pt x="1180" y="808"/>
                  <a:pt x="1187" y="827"/>
                  <a:pt x="1187" y="827"/>
                </a:cubicBezTo>
                <a:cubicBezTo>
                  <a:pt x="1187" y="827"/>
                  <a:pt x="1180" y="808"/>
                  <a:pt x="1178" y="799"/>
                </a:cubicBezTo>
                <a:moveTo>
                  <a:pt x="1267" y="736"/>
                </a:moveTo>
                <a:cubicBezTo>
                  <a:pt x="1269" y="747"/>
                  <a:pt x="1276" y="767"/>
                  <a:pt x="1276" y="767"/>
                </a:cubicBezTo>
                <a:cubicBezTo>
                  <a:pt x="1276" y="767"/>
                  <a:pt x="1269" y="747"/>
                  <a:pt x="1267" y="736"/>
                </a:cubicBezTo>
                <a:moveTo>
                  <a:pt x="1406" y="808"/>
                </a:moveTo>
                <a:cubicBezTo>
                  <a:pt x="1409" y="819"/>
                  <a:pt x="1418" y="840"/>
                  <a:pt x="1418" y="840"/>
                </a:cubicBezTo>
                <a:cubicBezTo>
                  <a:pt x="1418" y="840"/>
                  <a:pt x="1409" y="819"/>
                  <a:pt x="1406" y="808"/>
                </a:cubicBezTo>
                <a:moveTo>
                  <a:pt x="1216" y="984"/>
                </a:moveTo>
                <a:cubicBezTo>
                  <a:pt x="1219" y="994"/>
                  <a:pt x="1226" y="1015"/>
                  <a:pt x="1226" y="1015"/>
                </a:cubicBezTo>
                <a:cubicBezTo>
                  <a:pt x="1226" y="1015"/>
                  <a:pt x="1219" y="994"/>
                  <a:pt x="1216" y="984"/>
                </a:cubicBezTo>
                <a:moveTo>
                  <a:pt x="1336" y="938"/>
                </a:moveTo>
                <a:cubicBezTo>
                  <a:pt x="1339" y="947"/>
                  <a:pt x="1346" y="967"/>
                  <a:pt x="1346" y="967"/>
                </a:cubicBezTo>
                <a:cubicBezTo>
                  <a:pt x="1346" y="967"/>
                  <a:pt x="1339" y="947"/>
                  <a:pt x="1336" y="938"/>
                </a:cubicBezTo>
                <a:moveTo>
                  <a:pt x="938" y="566"/>
                </a:moveTo>
                <a:cubicBezTo>
                  <a:pt x="940" y="576"/>
                  <a:pt x="947" y="597"/>
                  <a:pt x="947" y="597"/>
                </a:cubicBezTo>
                <a:cubicBezTo>
                  <a:pt x="947" y="597"/>
                  <a:pt x="940" y="576"/>
                  <a:pt x="938" y="566"/>
                </a:cubicBezTo>
                <a:moveTo>
                  <a:pt x="1027" y="504"/>
                </a:moveTo>
                <a:cubicBezTo>
                  <a:pt x="1029" y="514"/>
                  <a:pt x="1036" y="535"/>
                  <a:pt x="1036" y="535"/>
                </a:cubicBezTo>
                <a:cubicBezTo>
                  <a:pt x="1036" y="535"/>
                  <a:pt x="1029" y="514"/>
                  <a:pt x="1027" y="504"/>
                </a:cubicBezTo>
                <a:moveTo>
                  <a:pt x="1166" y="575"/>
                </a:moveTo>
                <a:cubicBezTo>
                  <a:pt x="1169" y="586"/>
                  <a:pt x="1178" y="607"/>
                  <a:pt x="1178" y="607"/>
                </a:cubicBezTo>
                <a:cubicBezTo>
                  <a:pt x="1178" y="607"/>
                  <a:pt x="1169" y="586"/>
                  <a:pt x="1166" y="575"/>
                </a:cubicBezTo>
                <a:moveTo>
                  <a:pt x="976" y="751"/>
                </a:moveTo>
                <a:cubicBezTo>
                  <a:pt x="979" y="761"/>
                  <a:pt x="986" y="782"/>
                  <a:pt x="986" y="782"/>
                </a:cubicBezTo>
                <a:cubicBezTo>
                  <a:pt x="986" y="782"/>
                  <a:pt x="979" y="761"/>
                  <a:pt x="976" y="751"/>
                </a:cubicBezTo>
                <a:moveTo>
                  <a:pt x="1096" y="705"/>
                </a:moveTo>
                <a:cubicBezTo>
                  <a:pt x="1099" y="715"/>
                  <a:pt x="1106" y="736"/>
                  <a:pt x="1106" y="736"/>
                </a:cubicBezTo>
                <a:cubicBezTo>
                  <a:pt x="1106" y="736"/>
                  <a:pt x="1099" y="715"/>
                  <a:pt x="1096" y="705"/>
                </a:cubicBezTo>
                <a:moveTo>
                  <a:pt x="1031" y="995"/>
                </a:moveTo>
                <a:cubicBezTo>
                  <a:pt x="1034" y="1006"/>
                  <a:pt x="1041" y="1027"/>
                  <a:pt x="1041" y="1027"/>
                </a:cubicBezTo>
                <a:cubicBezTo>
                  <a:pt x="1041" y="1027"/>
                  <a:pt x="1034" y="1006"/>
                  <a:pt x="1031" y="995"/>
                </a:cubicBezTo>
                <a:moveTo>
                  <a:pt x="832" y="964"/>
                </a:moveTo>
                <a:cubicBezTo>
                  <a:pt x="835" y="975"/>
                  <a:pt x="842" y="995"/>
                  <a:pt x="842" y="995"/>
                </a:cubicBezTo>
                <a:cubicBezTo>
                  <a:pt x="842" y="995"/>
                  <a:pt x="835" y="975"/>
                  <a:pt x="832" y="964"/>
                </a:cubicBezTo>
                <a:moveTo>
                  <a:pt x="967" y="477"/>
                </a:moveTo>
                <a:cubicBezTo>
                  <a:pt x="969" y="487"/>
                  <a:pt x="976" y="508"/>
                  <a:pt x="976" y="508"/>
                </a:cubicBezTo>
                <a:cubicBezTo>
                  <a:pt x="976" y="508"/>
                  <a:pt x="969" y="487"/>
                  <a:pt x="967" y="477"/>
                </a:cubicBezTo>
                <a:moveTo>
                  <a:pt x="657" y="482"/>
                </a:moveTo>
                <a:cubicBezTo>
                  <a:pt x="660" y="492"/>
                  <a:pt x="667" y="513"/>
                  <a:pt x="667" y="513"/>
                </a:cubicBezTo>
                <a:cubicBezTo>
                  <a:pt x="667" y="513"/>
                  <a:pt x="660" y="492"/>
                  <a:pt x="657" y="482"/>
                </a:cubicBezTo>
                <a:moveTo>
                  <a:pt x="487" y="566"/>
                </a:moveTo>
                <a:cubicBezTo>
                  <a:pt x="489" y="576"/>
                  <a:pt x="496" y="597"/>
                  <a:pt x="496" y="597"/>
                </a:cubicBezTo>
                <a:cubicBezTo>
                  <a:pt x="496" y="597"/>
                  <a:pt x="489" y="576"/>
                  <a:pt x="487" y="566"/>
                </a:cubicBezTo>
                <a:moveTo>
                  <a:pt x="767" y="422"/>
                </a:moveTo>
                <a:cubicBezTo>
                  <a:pt x="770" y="432"/>
                  <a:pt x="777" y="453"/>
                  <a:pt x="777" y="453"/>
                </a:cubicBezTo>
                <a:cubicBezTo>
                  <a:pt x="777" y="453"/>
                  <a:pt x="770" y="432"/>
                  <a:pt x="767" y="422"/>
                </a:cubicBezTo>
                <a:moveTo>
                  <a:pt x="1747" y="467"/>
                </a:moveTo>
                <a:cubicBezTo>
                  <a:pt x="1749" y="478"/>
                  <a:pt x="1756" y="499"/>
                  <a:pt x="1756" y="499"/>
                </a:cubicBezTo>
                <a:cubicBezTo>
                  <a:pt x="1756" y="499"/>
                  <a:pt x="1749" y="478"/>
                  <a:pt x="1747" y="467"/>
                </a:cubicBezTo>
                <a:moveTo>
                  <a:pt x="1838" y="405"/>
                </a:moveTo>
                <a:cubicBezTo>
                  <a:pt x="1840" y="415"/>
                  <a:pt x="1847" y="436"/>
                  <a:pt x="1847" y="436"/>
                </a:cubicBezTo>
                <a:cubicBezTo>
                  <a:pt x="1847" y="436"/>
                  <a:pt x="1840" y="415"/>
                  <a:pt x="1838" y="405"/>
                </a:cubicBezTo>
                <a:moveTo>
                  <a:pt x="952" y="367"/>
                </a:moveTo>
                <a:cubicBezTo>
                  <a:pt x="955" y="377"/>
                  <a:pt x="962" y="398"/>
                  <a:pt x="962" y="398"/>
                </a:cubicBezTo>
                <a:cubicBezTo>
                  <a:pt x="962" y="398"/>
                  <a:pt x="955" y="377"/>
                  <a:pt x="952" y="367"/>
                </a:cubicBezTo>
                <a:moveTo>
                  <a:pt x="1437" y="410"/>
                </a:moveTo>
                <a:cubicBezTo>
                  <a:pt x="1440" y="420"/>
                  <a:pt x="1447" y="441"/>
                  <a:pt x="1447" y="441"/>
                </a:cubicBezTo>
                <a:cubicBezTo>
                  <a:pt x="1447" y="441"/>
                  <a:pt x="1440" y="420"/>
                  <a:pt x="1437" y="410"/>
                </a:cubicBezTo>
                <a:moveTo>
                  <a:pt x="787" y="859"/>
                </a:moveTo>
                <a:cubicBezTo>
                  <a:pt x="789" y="869"/>
                  <a:pt x="796" y="890"/>
                  <a:pt x="796" y="890"/>
                </a:cubicBezTo>
                <a:cubicBezTo>
                  <a:pt x="796" y="890"/>
                  <a:pt x="789" y="869"/>
                  <a:pt x="787" y="859"/>
                </a:cubicBezTo>
                <a:moveTo>
                  <a:pt x="441" y="852"/>
                </a:moveTo>
                <a:cubicBezTo>
                  <a:pt x="443" y="862"/>
                  <a:pt x="451" y="883"/>
                  <a:pt x="451" y="883"/>
                </a:cubicBezTo>
                <a:cubicBezTo>
                  <a:pt x="451" y="883"/>
                  <a:pt x="443" y="862"/>
                  <a:pt x="441" y="852"/>
                </a:cubicBezTo>
                <a:moveTo>
                  <a:pt x="583" y="924"/>
                </a:moveTo>
                <a:cubicBezTo>
                  <a:pt x="585" y="934"/>
                  <a:pt x="592" y="955"/>
                  <a:pt x="592" y="955"/>
                </a:cubicBezTo>
                <a:cubicBezTo>
                  <a:pt x="592" y="955"/>
                  <a:pt x="585" y="934"/>
                  <a:pt x="583" y="924"/>
                </a:cubicBezTo>
                <a:moveTo>
                  <a:pt x="547" y="835"/>
                </a:moveTo>
                <a:cubicBezTo>
                  <a:pt x="549" y="844"/>
                  <a:pt x="556" y="864"/>
                  <a:pt x="556" y="864"/>
                </a:cubicBezTo>
                <a:cubicBezTo>
                  <a:pt x="556" y="864"/>
                  <a:pt x="549" y="844"/>
                  <a:pt x="547" y="835"/>
                </a:cubicBezTo>
                <a:moveTo>
                  <a:pt x="686" y="907"/>
                </a:moveTo>
                <a:cubicBezTo>
                  <a:pt x="689" y="917"/>
                  <a:pt x="698" y="938"/>
                  <a:pt x="698" y="938"/>
                </a:cubicBezTo>
                <a:cubicBezTo>
                  <a:pt x="698" y="938"/>
                  <a:pt x="689" y="917"/>
                  <a:pt x="686" y="907"/>
                </a:cubicBezTo>
                <a:moveTo>
                  <a:pt x="1281" y="7"/>
                </a:moveTo>
                <a:cubicBezTo>
                  <a:pt x="1283" y="17"/>
                  <a:pt x="1291" y="38"/>
                  <a:pt x="1291" y="38"/>
                </a:cubicBezTo>
                <a:cubicBezTo>
                  <a:pt x="1291" y="38"/>
                  <a:pt x="1283" y="17"/>
                  <a:pt x="1281" y="7"/>
                </a:cubicBezTo>
                <a:moveTo>
                  <a:pt x="1423" y="79"/>
                </a:moveTo>
                <a:cubicBezTo>
                  <a:pt x="1425" y="89"/>
                  <a:pt x="1432" y="110"/>
                  <a:pt x="1432" y="110"/>
                </a:cubicBezTo>
                <a:cubicBezTo>
                  <a:pt x="1432" y="110"/>
                  <a:pt x="1425" y="89"/>
                  <a:pt x="1423" y="79"/>
                </a:cubicBezTo>
                <a:moveTo>
                  <a:pt x="1447" y="184"/>
                </a:moveTo>
                <a:cubicBezTo>
                  <a:pt x="1449" y="195"/>
                  <a:pt x="1456" y="215"/>
                  <a:pt x="1456" y="215"/>
                </a:cubicBezTo>
                <a:cubicBezTo>
                  <a:pt x="1456" y="215"/>
                  <a:pt x="1449" y="195"/>
                  <a:pt x="1447" y="184"/>
                </a:cubicBezTo>
                <a:moveTo>
                  <a:pt x="1267" y="432"/>
                </a:moveTo>
                <a:cubicBezTo>
                  <a:pt x="1269" y="442"/>
                  <a:pt x="1276" y="463"/>
                  <a:pt x="1276" y="463"/>
                </a:cubicBezTo>
                <a:cubicBezTo>
                  <a:pt x="1276" y="463"/>
                  <a:pt x="1269" y="442"/>
                  <a:pt x="1267" y="432"/>
                </a:cubicBezTo>
                <a:moveTo>
                  <a:pt x="1387" y="386"/>
                </a:moveTo>
                <a:cubicBezTo>
                  <a:pt x="1389" y="396"/>
                  <a:pt x="1396" y="417"/>
                  <a:pt x="1396" y="417"/>
                </a:cubicBezTo>
                <a:cubicBezTo>
                  <a:pt x="1396" y="417"/>
                  <a:pt x="1389" y="396"/>
                  <a:pt x="1387" y="386"/>
                </a:cubicBezTo>
                <a:moveTo>
                  <a:pt x="1007" y="211"/>
                </a:moveTo>
                <a:cubicBezTo>
                  <a:pt x="1010" y="221"/>
                  <a:pt x="1017" y="242"/>
                  <a:pt x="1017" y="242"/>
                </a:cubicBezTo>
                <a:cubicBezTo>
                  <a:pt x="1017" y="242"/>
                  <a:pt x="1010" y="221"/>
                  <a:pt x="1007" y="211"/>
                </a:cubicBezTo>
                <a:moveTo>
                  <a:pt x="1096" y="148"/>
                </a:moveTo>
                <a:cubicBezTo>
                  <a:pt x="1099" y="159"/>
                  <a:pt x="1106" y="180"/>
                  <a:pt x="1106" y="180"/>
                </a:cubicBezTo>
                <a:cubicBezTo>
                  <a:pt x="1106" y="180"/>
                  <a:pt x="1099" y="159"/>
                  <a:pt x="1096" y="148"/>
                </a:cubicBezTo>
                <a:moveTo>
                  <a:pt x="1238" y="220"/>
                </a:moveTo>
                <a:cubicBezTo>
                  <a:pt x="1240" y="231"/>
                  <a:pt x="1247" y="252"/>
                  <a:pt x="1247" y="252"/>
                </a:cubicBezTo>
                <a:cubicBezTo>
                  <a:pt x="1247" y="252"/>
                  <a:pt x="1240" y="231"/>
                  <a:pt x="1238" y="220"/>
                </a:cubicBezTo>
                <a:moveTo>
                  <a:pt x="1166" y="350"/>
                </a:moveTo>
                <a:cubicBezTo>
                  <a:pt x="1169" y="360"/>
                  <a:pt x="1178" y="381"/>
                  <a:pt x="1178" y="381"/>
                </a:cubicBezTo>
                <a:cubicBezTo>
                  <a:pt x="1178" y="381"/>
                  <a:pt x="1169" y="360"/>
                  <a:pt x="1166" y="350"/>
                </a:cubicBezTo>
                <a:moveTo>
                  <a:pt x="1192" y="98"/>
                </a:moveTo>
                <a:cubicBezTo>
                  <a:pt x="1195" y="108"/>
                  <a:pt x="1202" y="129"/>
                  <a:pt x="1202" y="129"/>
                </a:cubicBezTo>
                <a:cubicBezTo>
                  <a:pt x="1202" y="129"/>
                  <a:pt x="1195" y="108"/>
                  <a:pt x="1192" y="98"/>
                </a:cubicBezTo>
                <a:moveTo>
                  <a:pt x="427" y="993"/>
                </a:moveTo>
                <a:cubicBezTo>
                  <a:pt x="429" y="1004"/>
                  <a:pt x="436" y="1024"/>
                  <a:pt x="436" y="1024"/>
                </a:cubicBezTo>
                <a:cubicBezTo>
                  <a:pt x="436" y="1024"/>
                  <a:pt x="429" y="1004"/>
                  <a:pt x="427" y="993"/>
                </a:cubicBezTo>
                <a:moveTo>
                  <a:pt x="206" y="957"/>
                </a:moveTo>
                <a:cubicBezTo>
                  <a:pt x="209" y="967"/>
                  <a:pt x="218" y="988"/>
                  <a:pt x="218" y="988"/>
                </a:cubicBezTo>
                <a:cubicBezTo>
                  <a:pt x="218" y="988"/>
                  <a:pt x="209" y="967"/>
                  <a:pt x="206" y="957"/>
                </a:cubicBezTo>
                <a:moveTo>
                  <a:pt x="321" y="614"/>
                </a:moveTo>
                <a:cubicBezTo>
                  <a:pt x="323" y="624"/>
                  <a:pt x="331" y="645"/>
                  <a:pt x="331" y="645"/>
                </a:cubicBezTo>
                <a:cubicBezTo>
                  <a:pt x="331" y="645"/>
                  <a:pt x="323" y="624"/>
                  <a:pt x="321" y="614"/>
                </a:cubicBezTo>
                <a:moveTo>
                  <a:pt x="463" y="686"/>
                </a:moveTo>
                <a:cubicBezTo>
                  <a:pt x="465" y="696"/>
                  <a:pt x="472" y="717"/>
                  <a:pt x="472" y="717"/>
                </a:cubicBezTo>
                <a:cubicBezTo>
                  <a:pt x="472" y="717"/>
                  <a:pt x="465" y="696"/>
                  <a:pt x="463" y="686"/>
                </a:cubicBezTo>
                <a:moveTo>
                  <a:pt x="487" y="792"/>
                </a:moveTo>
                <a:cubicBezTo>
                  <a:pt x="489" y="802"/>
                  <a:pt x="496" y="823"/>
                  <a:pt x="496" y="823"/>
                </a:cubicBezTo>
                <a:cubicBezTo>
                  <a:pt x="496" y="823"/>
                  <a:pt x="489" y="802"/>
                  <a:pt x="487" y="792"/>
                </a:cubicBezTo>
                <a:moveTo>
                  <a:pt x="47" y="818"/>
                </a:moveTo>
                <a:cubicBezTo>
                  <a:pt x="50" y="828"/>
                  <a:pt x="57" y="849"/>
                  <a:pt x="57" y="849"/>
                </a:cubicBezTo>
                <a:cubicBezTo>
                  <a:pt x="57" y="849"/>
                  <a:pt x="50" y="828"/>
                  <a:pt x="47" y="818"/>
                </a:cubicBezTo>
                <a:moveTo>
                  <a:pt x="136" y="755"/>
                </a:moveTo>
                <a:cubicBezTo>
                  <a:pt x="139" y="766"/>
                  <a:pt x="146" y="787"/>
                  <a:pt x="146" y="787"/>
                </a:cubicBezTo>
                <a:cubicBezTo>
                  <a:pt x="146" y="787"/>
                  <a:pt x="139" y="766"/>
                  <a:pt x="136" y="755"/>
                </a:cubicBezTo>
                <a:moveTo>
                  <a:pt x="278" y="827"/>
                </a:moveTo>
                <a:cubicBezTo>
                  <a:pt x="280" y="838"/>
                  <a:pt x="287" y="859"/>
                  <a:pt x="287" y="859"/>
                </a:cubicBezTo>
                <a:cubicBezTo>
                  <a:pt x="287" y="859"/>
                  <a:pt x="280" y="838"/>
                  <a:pt x="278" y="827"/>
                </a:cubicBezTo>
                <a:moveTo>
                  <a:pt x="232" y="707"/>
                </a:moveTo>
                <a:cubicBezTo>
                  <a:pt x="235" y="718"/>
                  <a:pt x="242" y="739"/>
                  <a:pt x="242" y="739"/>
                </a:cubicBezTo>
                <a:cubicBezTo>
                  <a:pt x="242" y="739"/>
                  <a:pt x="235" y="718"/>
                  <a:pt x="232" y="707"/>
                </a:cubicBezTo>
                <a:moveTo>
                  <a:pt x="631" y="573"/>
                </a:moveTo>
                <a:cubicBezTo>
                  <a:pt x="634" y="584"/>
                  <a:pt x="643" y="604"/>
                  <a:pt x="643" y="604"/>
                </a:cubicBezTo>
                <a:cubicBezTo>
                  <a:pt x="643" y="604"/>
                  <a:pt x="634" y="584"/>
                  <a:pt x="631" y="573"/>
                </a:cubicBezTo>
                <a:moveTo>
                  <a:pt x="772" y="645"/>
                </a:moveTo>
                <a:cubicBezTo>
                  <a:pt x="775" y="655"/>
                  <a:pt x="782" y="676"/>
                  <a:pt x="782" y="676"/>
                </a:cubicBezTo>
                <a:cubicBezTo>
                  <a:pt x="782" y="676"/>
                  <a:pt x="775" y="655"/>
                  <a:pt x="772" y="645"/>
                </a:cubicBezTo>
                <a:moveTo>
                  <a:pt x="796" y="751"/>
                </a:moveTo>
                <a:cubicBezTo>
                  <a:pt x="799" y="761"/>
                  <a:pt x="806" y="782"/>
                  <a:pt x="806" y="782"/>
                </a:cubicBezTo>
                <a:cubicBezTo>
                  <a:pt x="806" y="782"/>
                  <a:pt x="799" y="761"/>
                  <a:pt x="796" y="751"/>
                </a:cubicBezTo>
                <a:moveTo>
                  <a:pt x="357" y="777"/>
                </a:moveTo>
                <a:cubicBezTo>
                  <a:pt x="360" y="787"/>
                  <a:pt x="367" y="808"/>
                  <a:pt x="367" y="808"/>
                </a:cubicBezTo>
                <a:cubicBezTo>
                  <a:pt x="367" y="808"/>
                  <a:pt x="360" y="787"/>
                  <a:pt x="357" y="777"/>
                </a:cubicBezTo>
                <a:moveTo>
                  <a:pt x="446" y="715"/>
                </a:moveTo>
                <a:cubicBezTo>
                  <a:pt x="449" y="725"/>
                  <a:pt x="458" y="746"/>
                  <a:pt x="458" y="746"/>
                </a:cubicBezTo>
                <a:cubicBezTo>
                  <a:pt x="458" y="746"/>
                  <a:pt x="449" y="725"/>
                  <a:pt x="446" y="715"/>
                </a:cubicBezTo>
                <a:moveTo>
                  <a:pt x="587" y="787"/>
                </a:moveTo>
                <a:cubicBezTo>
                  <a:pt x="590" y="797"/>
                  <a:pt x="597" y="818"/>
                  <a:pt x="597" y="818"/>
                </a:cubicBezTo>
                <a:cubicBezTo>
                  <a:pt x="597" y="818"/>
                  <a:pt x="590" y="797"/>
                  <a:pt x="587" y="787"/>
                </a:cubicBezTo>
                <a:moveTo>
                  <a:pt x="542" y="667"/>
                </a:moveTo>
                <a:cubicBezTo>
                  <a:pt x="544" y="677"/>
                  <a:pt x="551" y="698"/>
                  <a:pt x="551" y="698"/>
                </a:cubicBezTo>
                <a:cubicBezTo>
                  <a:pt x="551" y="698"/>
                  <a:pt x="544" y="677"/>
                  <a:pt x="542" y="667"/>
                </a:cubicBezTo>
                <a:moveTo>
                  <a:pt x="1612" y="914"/>
                </a:moveTo>
                <a:cubicBezTo>
                  <a:pt x="1615" y="924"/>
                  <a:pt x="1622" y="945"/>
                  <a:pt x="1622" y="945"/>
                </a:cubicBezTo>
                <a:cubicBezTo>
                  <a:pt x="1622" y="945"/>
                  <a:pt x="1615" y="924"/>
                  <a:pt x="1612" y="914"/>
                </a:cubicBezTo>
                <a:moveTo>
                  <a:pt x="1751" y="986"/>
                </a:moveTo>
                <a:cubicBezTo>
                  <a:pt x="1754" y="996"/>
                  <a:pt x="1761" y="1017"/>
                  <a:pt x="1761" y="1017"/>
                </a:cubicBezTo>
                <a:cubicBezTo>
                  <a:pt x="1761" y="1017"/>
                  <a:pt x="1754" y="996"/>
                  <a:pt x="1751" y="986"/>
                </a:cubicBezTo>
                <a:moveTo>
                  <a:pt x="1747" y="787"/>
                </a:moveTo>
                <a:cubicBezTo>
                  <a:pt x="1749" y="797"/>
                  <a:pt x="1756" y="818"/>
                  <a:pt x="1756" y="818"/>
                </a:cubicBezTo>
                <a:cubicBezTo>
                  <a:pt x="1756" y="818"/>
                  <a:pt x="1749" y="797"/>
                  <a:pt x="1747" y="787"/>
                </a:cubicBezTo>
                <a:moveTo>
                  <a:pt x="1838" y="724"/>
                </a:moveTo>
                <a:cubicBezTo>
                  <a:pt x="1840" y="735"/>
                  <a:pt x="1847" y="755"/>
                  <a:pt x="1847" y="755"/>
                </a:cubicBezTo>
                <a:cubicBezTo>
                  <a:pt x="1847" y="755"/>
                  <a:pt x="1840" y="735"/>
                  <a:pt x="1838" y="724"/>
                </a:cubicBezTo>
                <a:moveTo>
                  <a:pt x="7" y="947"/>
                </a:moveTo>
                <a:cubicBezTo>
                  <a:pt x="9" y="958"/>
                  <a:pt x="16" y="979"/>
                  <a:pt x="16" y="979"/>
                </a:cubicBezTo>
                <a:cubicBezTo>
                  <a:pt x="16" y="979"/>
                  <a:pt x="9" y="958"/>
                  <a:pt x="7" y="947"/>
                </a:cubicBezTo>
              </a:path>
            </a:pathLst>
          </a:custGeom>
          <a:noFill/>
          <a:ln w="9143" cap="flat">
            <a:solidFill>
              <a:srgbClr val="000000">
                <a:alpha val="100000"/>
              </a:srgbClr>
            </a:solidFill>
            <a:prstDash val="solid"/>
            <a:round/>
          </a:ln>
        </p:spPr>
        <p:txBody>
          <a:bodyPr rtlCol="0"/>
          <a:lstStyle/>
          <a:p>
            <a:pPr algn="ctr"/>
            <a:endParaRPr lang="zh-CN" altLang="en-US"/>
          </a:p>
        </p:txBody>
      </p:sp>
      <p:grpSp>
        <p:nvGrpSpPr>
          <p:cNvPr id="16" name="group 16"/>
          <p:cNvGrpSpPr/>
          <p:nvPr/>
        </p:nvGrpSpPr>
        <p:grpSpPr>
          <a:xfrm rot="21600000">
            <a:off x="6621780" y="2795016"/>
            <a:ext cx="1147571" cy="470915"/>
            <a:chOff x="0" y="0"/>
            <a:chExt cx="1147571" cy="470915"/>
          </a:xfrm>
        </p:grpSpPr>
        <p:sp>
          <p:nvSpPr>
            <p:cNvPr id="161" name="path"/>
            <p:cNvSpPr/>
            <p:nvPr/>
          </p:nvSpPr>
          <p:spPr>
            <a:xfrm>
              <a:off x="4571" y="4571"/>
              <a:ext cx="1138428" cy="461772"/>
            </a:xfrm>
            <a:custGeom>
              <a:avLst/>
              <a:gdLst/>
              <a:ahLst/>
              <a:cxnLst/>
              <a:rect l="0" t="0" r="0" b="0"/>
              <a:pathLst>
                <a:path w="1792" h="727">
                  <a:moveTo>
                    <a:pt x="0" y="363"/>
                  </a:moveTo>
                  <a:cubicBezTo>
                    <a:pt x="0" y="162"/>
                    <a:pt x="401" y="0"/>
                    <a:pt x="896" y="0"/>
                  </a:cubicBezTo>
                  <a:cubicBezTo>
                    <a:pt x="1391" y="0"/>
                    <a:pt x="1792" y="162"/>
                    <a:pt x="1792" y="363"/>
                  </a:cubicBezTo>
                  <a:cubicBezTo>
                    <a:pt x="1792" y="564"/>
                    <a:pt x="1391" y="727"/>
                    <a:pt x="896" y="727"/>
                  </a:cubicBezTo>
                  <a:cubicBezTo>
                    <a:pt x="401" y="727"/>
                    <a:pt x="0" y="564"/>
                    <a:pt x="0" y="363"/>
                  </a:cubicBezTo>
                </a:path>
              </a:pathLst>
            </a:custGeom>
            <a:solidFill>
              <a:srgbClr val="0065BD">
                <a:alpha val="100000"/>
              </a:srgbClr>
            </a:solidFill>
            <a:ln cap="flat">
              <a:noFill/>
              <a:prstDash val="solid"/>
              <a:miter lim="0"/>
            </a:ln>
          </p:spPr>
          <p:txBody>
            <a:bodyPr rtlCol="0"/>
            <a:lstStyle/>
            <a:p>
              <a:pPr algn="ctr"/>
              <a:endParaRPr lang="zh-CN" altLang="en-US"/>
            </a:p>
          </p:txBody>
        </p:sp>
        <p:sp>
          <p:nvSpPr>
            <p:cNvPr id="162" name="path"/>
            <p:cNvSpPr/>
            <p:nvPr/>
          </p:nvSpPr>
          <p:spPr>
            <a:xfrm>
              <a:off x="0" y="0"/>
              <a:ext cx="1147571" cy="470915"/>
            </a:xfrm>
            <a:custGeom>
              <a:avLst/>
              <a:gdLst/>
              <a:ahLst/>
              <a:cxnLst/>
              <a:rect l="0" t="0" r="0" b="0"/>
              <a:pathLst>
                <a:path w="1807" h="741">
                  <a:moveTo>
                    <a:pt x="7" y="370"/>
                  </a:moveTo>
                  <a:cubicBezTo>
                    <a:pt x="7" y="170"/>
                    <a:pt x="408" y="7"/>
                    <a:pt x="903" y="7"/>
                  </a:cubicBezTo>
                  <a:cubicBezTo>
                    <a:pt x="1398" y="7"/>
                    <a:pt x="1800" y="170"/>
                    <a:pt x="1800" y="370"/>
                  </a:cubicBezTo>
                  <a:cubicBezTo>
                    <a:pt x="1800" y="571"/>
                    <a:pt x="1398" y="734"/>
                    <a:pt x="903" y="734"/>
                  </a:cubicBezTo>
                  <a:cubicBezTo>
                    <a:pt x="408" y="734"/>
                    <a:pt x="7" y="571"/>
                    <a:pt x="7" y="370"/>
                  </a:cubicBezTo>
                </a:path>
              </a:pathLst>
            </a:custGeom>
            <a:noFill/>
            <a:ln w="9143" cap="flat">
              <a:solidFill>
                <a:srgbClr val="0065BD">
                  <a:alpha val="100000"/>
                </a:srgbClr>
              </a:solidFill>
              <a:prstDash val="solid"/>
              <a:round/>
            </a:ln>
          </p:spPr>
          <p:txBody>
            <a:bodyPr rtlCol="0"/>
            <a:lstStyle/>
            <a:p>
              <a:pPr algn="ctr"/>
              <a:endParaRPr lang="zh-CN" altLang="en-US"/>
            </a:p>
          </p:txBody>
        </p:sp>
      </p:grpSp>
      <p:pic>
        <p:nvPicPr>
          <p:cNvPr id="163" name="picture 163"/>
          <p:cNvPicPr>
            <a:picLocks noChangeAspect="1"/>
          </p:cNvPicPr>
          <p:nvPr/>
        </p:nvPicPr>
        <p:blipFill>
          <a:blip r:embed="rId1"/>
          <a:stretch>
            <a:fillRect/>
          </a:stretch>
        </p:blipFill>
        <p:spPr>
          <a:xfrm rot="21600000">
            <a:off x="4994148" y="1435608"/>
            <a:ext cx="609600" cy="598932"/>
          </a:xfrm>
          <a:prstGeom prst="rect">
            <a:avLst/>
          </a:prstGeom>
        </p:spPr>
      </p:pic>
      <p:pic>
        <p:nvPicPr>
          <p:cNvPr id="164" name="picture 164"/>
          <p:cNvPicPr>
            <a:picLocks noChangeAspect="1"/>
          </p:cNvPicPr>
          <p:nvPr/>
        </p:nvPicPr>
        <p:blipFill>
          <a:blip r:embed="rId2"/>
          <a:stretch>
            <a:fillRect/>
          </a:stretch>
        </p:blipFill>
        <p:spPr>
          <a:xfrm rot="21600000">
            <a:off x="4995036" y="1435861"/>
            <a:ext cx="609600" cy="599313"/>
          </a:xfrm>
          <a:prstGeom prst="rect">
            <a:avLst/>
          </a:prstGeom>
        </p:spPr>
      </p:pic>
      <p:pic>
        <p:nvPicPr>
          <p:cNvPr id="165" name="picture 165"/>
          <p:cNvPicPr>
            <a:picLocks noChangeAspect="1"/>
          </p:cNvPicPr>
          <p:nvPr/>
        </p:nvPicPr>
        <p:blipFill>
          <a:blip r:embed="rId1"/>
          <a:stretch>
            <a:fillRect/>
          </a:stretch>
        </p:blipFill>
        <p:spPr>
          <a:xfrm rot="21600000">
            <a:off x="7475219" y="1435608"/>
            <a:ext cx="609600" cy="598932"/>
          </a:xfrm>
          <a:prstGeom prst="rect">
            <a:avLst/>
          </a:prstGeom>
        </p:spPr>
      </p:pic>
      <p:pic>
        <p:nvPicPr>
          <p:cNvPr id="166" name="picture 166"/>
          <p:cNvPicPr>
            <a:picLocks noChangeAspect="1"/>
          </p:cNvPicPr>
          <p:nvPr/>
        </p:nvPicPr>
        <p:blipFill>
          <a:blip r:embed="rId2"/>
          <a:stretch>
            <a:fillRect/>
          </a:stretch>
        </p:blipFill>
        <p:spPr>
          <a:xfrm rot="21600000">
            <a:off x="7476744" y="1435861"/>
            <a:ext cx="609600" cy="599313"/>
          </a:xfrm>
          <a:prstGeom prst="rect">
            <a:avLst/>
          </a:prstGeom>
        </p:spPr>
      </p:pic>
      <p:pic>
        <p:nvPicPr>
          <p:cNvPr id="167" name="picture 167"/>
          <p:cNvPicPr>
            <a:picLocks noChangeAspect="1"/>
          </p:cNvPicPr>
          <p:nvPr/>
        </p:nvPicPr>
        <p:blipFill>
          <a:blip r:embed="rId1"/>
          <a:stretch>
            <a:fillRect/>
          </a:stretch>
        </p:blipFill>
        <p:spPr>
          <a:xfrm rot="21600000">
            <a:off x="2688336" y="1591055"/>
            <a:ext cx="609599" cy="598932"/>
          </a:xfrm>
          <a:prstGeom prst="rect">
            <a:avLst/>
          </a:prstGeom>
        </p:spPr>
      </p:pic>
      <p:pic>
        <p:nvPicPr>
          <p:cNvPr id="168" name="picture 168"/>
          <p:cNvPicPr>
            <a:picLocks noChangeAspect="1"/>
          </p:cNvPicPr>
          <p:nvPr/>
        </p:nvPicPr>
        <p:blipFill>
          <a:blip r:embed="rId2"/>
          <a:stretch>
            <a:fillRect/>
          </a:stretch>
        </p:blipFill>
        <p:spPr>
          <a:xfrm rot="21600000">
            <a:off x="2688970" y="1591310"/>
            <a:ext cx="609600" cy="599312"/>
          </a:xfrm>
          <a:prstGeom prst="rect">
            <a:avLst/>
          </a:prstGeom>
        </p:spPr>
      </p:pic>
      <p:sp>
        <p:nvSpPr>
          <p:cNvPr id="169" name="textbox 169"/>
          <p:cNvSpPr/>
          <p:nvPr/>
        </p:nvSpPr>
        <p:spPr>
          <a:xfrm>
            <a:off x="8818509" y="1037437"/>
            <a:ext cx="114935" cy="1840229"/>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endParaRPr sz="600" spc="0" dirty="0">
              <a:solidFill>
                <a:srgbClr val="808080">
                  <a:alpha val="100000"/>
                </a:srgbClr>
              </a:solidFill>
              <a:latin typeface="Arial" panose="020B0604020202020204"/>
              <a:ea typeface="Arial" panose="020B0604020202020204"/>
              <a:cs typeface="Arial" panose="020B0604020202020204"/>
            </a:endParaRPr>
          </a:p>
        </p:txBody>
      </p:sp>
      <p:sp>
        <p:nvSpPr>
          <p:cNvPr id="170" name="textbox 170"/>
          <p:cNvSpPr/>
          <p:nvPr/>
        </p:nvSpPr>
        <p:spPr>
          <a:xfrm>
            <a:off x="6832356" y="2933949"/>
            <a:ext cx="732790" cy="229234"/>
          </a:xfrm>
          <a:prstGeom prst="rect">
            <a:avLst/>
          </a:prstGeom>
        </p:spPr>
        <p:txBody>
          <a:bodyPr vert="horz" wrap="square" lIns="0" tIns="0" rIns="0" bIns="0"/>
          <a:lstStyle/>
          <a:p>
            <a:pPr algn="l" rtl="0" eaLnBrk="0">
              <a:lnSpc>
                <a:spcPct val="90000"/>
              </a:lnSpc>
            </a:pPr>
            <a:endParaRPr lang="en-US" altLang="en-US" sz="100" dirty="0">
              <a:latin typeface="微软雅黑" panose="020B0503020204020204" charset="-122"/>
              <a:ea typeface="微软雅黑" panose="020B0503020204020204" charset="-122"/>
            </a:endParaRPr>
          </a:p>
          <a:p>
            <a:pPr marL="12700" algn="l" rtl="0" eaLnBrk="0">
              <a:lnSpc>
                <a:spcPct val="95000"/>
              </a:lnSpc>
            </a:pPr>
            <a:r>
              <a:rPr sz="1400" spc="-50" dirty="0">
                <a:ln w="5094"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客户群</a:t>
            </a:r>
            <a:r>
              <a:rPr sz="1400" spc="-50" dirty="0">
                <a:solidFill>
                  <a:srgbClr val="FFFFFF">
                    <a:alpha val="100000"/>
                  </a:srgbClr>
                </a:solidFill>
                <a:latin typeface="微软雅黑" panose="020B0503020204020204" charset="-122"/>
                <a:ea typeface="微软雅黑" panose="020B0503020204020204" charset="-122"/>
                <a:cs typeface="楷体" panose="02010609060101010101" charset="-122"/>
              </a:rPr>
              <a:t> </a:t>
            </a:r>
            <a:r>
              <a:rPr sz="1400" b="1" spc="-50" dirty="0">
                <a:solidFill>
                  <a:srgbClr val="FFFFFF">
                    <a:alpha val="100000"/>
                  </a:srgbClr>
                </a:solidFill>
                <a:latin typeface="微软雅黑" panose="020B0503020204020204" charset="-122"/>
                <a:ea typeface="微软雅黑" panose="020B0503020204020204" charset="-122"/>
                <a:cs typeface="Arial" panose="020B0604020202020204"/>
              </a:rPr>
              <a:t>B</a:t>
            </a:r>
            <a:endParaRPr lang="en-US" altLang="en-US" sz="1400" dirty="0">
              <a:latin typeface="微软雅黑" panose="020B0503020204020204" charset="-122"/>
              <a:ea typeface="微软雅黑" panose="020B0503020204020204" charset="-122"/>
            </a:endParaRPr>
          </a:p>
        </p:txBody>
      </p:sp>
      <p:sp>
        <p:nvSpPr>
          <p:cNvPr id="171" name="path"/>
          <p:cNvSpPr/>
          <p:nvPr/>
        </p:nvSpPr>
        <p:spPr>
          <a:xfrm>
            <a:off x="5719571" y="2302764"/>
            <a:ext cx="83820" cy="83819"/>
          </a:xfrm>
          <a:custGeom>
            <a:avLst/>
            <a:gdLst/>
            <a:ahLst/>
            <a:cxnLst/>
            <a:rect l="0" t="0" r="0" b="0"/>
            <a:pathLst>
              <a:path w="132" h="131">
                <a:moveTo>
                  <a:pt x="100" y="80"/>
                </a:moveTo>
                <a:cubicBezTo>
                  <a:pt x="100" y="108"/>
                  <a:pt x="78" y="131"/>
                  <a:pt x="50" y="131"/>
                </a:cubicBezTo>
                <a:cubicBezTo>
                  <a:pt x="22" y="131"/>
                  <a:pt x="0" y="108"/>
                  <a:pt x="0" y="80"/>
                </a:cubicBezTo>
                <a:cubicBezTo>
                  <a:pt x="0" y="51"/>
                  <a:pt x="22" y="28"/>
                  <a:pt x="50" y="28"/>
                </a:cubicBezTo>
                <a:cubicBezTo>
                  <a:pt x="78" y="28"/>
                  <a:pt x="100" y="51"/>
                  <a:pt x="100" y="80"/>
                </a:cubicBezTo>
              </a:path>
              <a:path w="132" h="131">
                <a:moveTo>
                  <a:pt x="132" y="51"/>
                </a:moveTo>
                <a:cubicBezTo>
                  <a:pt x="132" y="80"/>
                  <a:pt x="109" y="103"/>
                  <a:pt x="81" y="103"/>
                </a:cubicBezTo>
                <a:cubicBezTo>
                  <a:pt x="53" y="103"/>
                  <a:pt x="31" y="80"/>
                  <a:pt x="31" y="51"/>
                </a:cubicBezTo>
                <a:cubicBezTo>
                  <a:pt x="31" y="23"/>
                  <a:pt x="53" y="0"/>
                  <a:pt x="81" y="0"/>
                </a:cubicBezTo>
                <a:cubicBezTo>
                  <a:pt x="109" y="0"/>
                  <a:pt x="132" y="23"/>
                  <a:pt x="132" y="51"/>
                </a:cubicBezTo>
              </a:path>
            </a:pathLst>
          </a:custGeom>
          <a:solidFill>
            <a:srgbClr val="00ADEF">
              <a:alpha val="100000"/>
            </a:srgbClr>
          </a:solidFill>
          <a:ln cap="flat">
            <a:noFill/>
            <a:prstDash val="solid"/>
            <a:miter lim="0"/>
          </a:ln>
        </p:spPr>
        <p:txBody>
          <a:bodyPr rtlCol="0"/>
          <a:lstStyle/>
          <a:p>
            <a:pPr algn="ctr"/>
            <a:endParaRPr lang="zh-CN" altLang="en-US"/>
          </a:p>
        </p:txBody>
      </p:sp>
      <p:sp>
        <p:nvSpPr>
          <p:cNvPr id="172" name="path"/>
          <p:cNvSpPr/>
          <p:nvPr/>
        </p:nvSpPr>
        <p:spPr>
          <a:xfrm>
            <a:off x="5718047" y="2319528"/>
            <a:ext cx="67055" cy="68579"/>
          </a:xfrm>
          <a:custGeom>
            <a:avLst/>
            <a:gdLst/>
            <a:ahLst/>
            <a:cxnLst/>
            <a:rect l="0" t="0" r="0" b="0"/>
            <a:pathLst>
              <a:path w="105" h="107">
                <a:moveTo>
                  <a:pt x="103" y="54"/>
                </a:moveTo>
                <a:cubicBezTo>
                  <a:pt x="103" y="82"/>
                  <a:pt x="80" y="105"/>
                  <a:pt x="52" y="105"/>
                </a:cubicBezTo>
                <a:cubicBezTo>
                  <a:pt x="25" y="105"/>
                  <a:pt x="2" y="82"/>
                  <a:pt x="2" y="54"/>
                </a:cubicBezTo>
                <a:cubicBezTo>
                  <a:pt x="2" y="25"/>
                  <a:pt x="25" y="2"/>
                  <a:pt x="52" y="2"/>
                </a:cubicBezTo>
                <a:cubicBezTo>
                  <a:pt x="80" y="2"/>
                  <a:pt x="103" y="25"/>
                  <a:pt x="103" y="54"/>
                </a:cubicBezTo>
              </a:path>
            </a:pathLst>
          </a:custGeom>
          <a:noFill/>
          <a:ln w="3048" cap="flat">
            <a:solidFill>
              <a:srgbClr val="FFFFFF">
                <a:alpha val="100000"/>
              </a:srgbClr>
            </a:solidFill>
            <a:prstDash val="solid"/>
            <a:round/>
          </a:ln>
        </p:spPr>
        <p:txBody>
          <a:bodyPr rtlCol="0"/>
          <a:lstStyle/>
          <a:p>
            <a:pPr algn="ctr"/>
            <a:endParaRPr lang="zh-CN" altLang="en-US"/>
          </a:p>
        </p:txBody>
      </p:sp>
      <p:grpSp>
        <p:nvGrpSpPr>
          <p:cNvPr id="18" name="group 18"/>
          <p:cNvGrpSpPr/>
          <p:nvPr/>
        </p:nvGrpSpPr>
        <p:grpSpPr>
          <a:xfrm rot="21600000">
            <a:off x="5719571" y="2080260"/>
            <a:ext cx="350520" cy="289559"/>
            <a:chOff x="0" y="0"/>
            <a:chExt cx="350520" cy="289559"/>
          </a:xfrm>
        </p:grpSpPr>
        <p:sp>
          <p:nvSpPr>
            <p:cNvPr id="173" name="path"/>
            <p:cNvSpPr/>
            <p:nvPr/>
          </p:nvSpPr>
          <p:spPr>
            <a:xfrm>
              <a:off x="204216" y="73151"/>
              <a:ext cx="64007" cy="65532"/>
            </a:xfrm>
            <a:custGeom>
              <a:avLst/>
              <a:gdLst/>
              <a:ahLst/>
              <a:cxnLst/>
              <a:rect l="0" t="0" r="0" b="0"/>
              <a:pathLst>
                <a:path w="100" h="103">
                  <a:moveTo>
                    <a:pt x="100" y="51"/>
                  </a:moveTo>
                  <a:cubicBezTo>
                    <a:pt x="100" y="80"/>
                    <a:pt x="78" y="103"/>
                    <a:pt x="50" y="103"/>
                  </a:cubicBezTo>
                  <a:cubicBezTo>
                    <a:pt x="22" y="103"/>
                    <a:pt x="0" y="80"/>
                    <a:pt x="0" y="51"/>
                  </a:cubicBezTo>
                  <a:cubicBezTo>
                    <a:pt x="0" y="23"/>
                    <a:pt x="22" y="0"/>
                    <a:pt x="50" y="0"/>
                  </a:cubicBezTo>
                  <a:cubicBezTo>
                    <a:pt x="78" y="0"/>
                    <a:pt x="100" y="23"/>
                    <a:pt x="100" y="51"/>
                  </a:cubicBezTo>
                </a:path>
              </a:pathLst>
            </a:custGeom>
            <a:solidFill>
              <a:srgbClr val="00ADEF">
                <a:alpha val="100000"/>
              </a:srgbClr>
            </a:solidFill>
            <a:ln cap="flat">
              <a:noFill/>
              <a:prstDash val="solid"/>
              <a:miter lim="0"/>
            </a:ln>
          </p:spPr>
          <p:txBody>
            <a:bodyPr rtlCol="0"/>
            <a:lstStyle/>
            <a:p>
              <a:pPr algn="ctr"/>
              <a:endParaRPr lang="zh-CN" altLang="en-US"/>
            </a:p>
          </p:txBody>
        </p:sp>
        <p:sp>
          <p:nvSpPr>
            <p:cNvPr id="174" name="path"/>
            <p:cNvSpPr/>
            <p:nvPr/>
          </p:nvSpPr>
          <p:spPr>
            <a:xfrm>
              <a:off x="202692" y="71627"/>
              <a:ext cx="67055" cy="68580"/>
            </a:xfrm>
            <a:custGeom>
              <a:avLst/>
              <a:gdLst/>
              <a:ahLst/>
              <a:cxnLst/>
              <a:rect l="0" t="0" r="0" b="0"/>
              <a:pathLst>
                <a:path w="105" h="108">
                  <a:moveTo>
                    <a:pt x="103" y="54"/>
                  </a:moveTo>
                  <a:cubicBezTo>
                    <a:pt x="103" y="82"/>
                    <a:pt x="80" y="105"/>
                    <a:pt x="52" y="105"/>
                  </a:cubicBezTo>
                  <a:cubicBezTo>
                    <a:pt x="25" y="105"/>
                    <a:pt x="2" y="82"/>
                    <a:pt x="2" y="54"/>
                  </a:cubicBezTo>
                  <a:cubicBezTo>
                    <a:pt x="2" y="25"/>
                    <a:pt x="25" y="2"/>
                    <a:pt x="52" y="2"/>
                  </a:cubicBezTo>
                  <a:cubicBezTo>
                    <a:pt x="80" y="2"/>
                    <a:pt x="103" y="25"/>
                    <a:pt x="103" y="54"/>
                  </a:cubicBezTo>
                </a:path>
              </a:pathLst>
            </a:custGeom>
            <a:noFill/>
            <a:ln w="3048" cap="flat">
              <a:solidFill>
                <a:srgbClr val="FFFFFF">
                  <a:alpha val="100000"/>
                </a:srgbClr>
              </a:solidFill>
              <a:prstDash val="solid"/>
              <a:round/>
            </a:ln>
          </p:spPr>
          <p:txBody>
            <a:bodyPr rtlCol="0"/>
            <a:lstStyle/>
            <a:p>
              <a:pPr algn="ctr"/>
              <a:endParaRPr lang="zh-CN" altLang="en-US"/>
            </a:p>
          </p:txBody>
        </p:sp>
        <p:sp>
          <p:nvSpPr>
            <p:cNvPr id="175" name="path"/>
            <p:cNvSpPr/>
            <p:nvPr/>
          </p:nvSpPr>
          <p:spPr>
            <a:xfrm>
              <a:off x="99060" y="42671"/>
              <a:ext cx="62483" cy="65532"/>
            </a:xfrm>
            <a:custGeom>
              <a:avLst/>
              <a:gdLst/>
              <a:ahLst/>
              <a:cxnLst/>
              <a:rect l="0" t="0" r="0" b="0"/>
              <a:pathLst>
                <a:path w="98" h="103">
                  <a:moveTo>
                    <a:pt x="98" y="51"/>
                  </a:moveTo>
                  <a:cubicBezTo>
                    <a:pt x="98" y="80"/>
                    <a:pt x="76" y="103"/>
                    <a:pt x="49" y="103"/>
                  </a:cubicBezTo>
                  <a:cubicBezTo>
                    <a:pt x="22" y="103"/>
                    <a:pt x="0" y="80"/>
                    <a:pt x="0" y="51"/>
                  </a:cubicBezTo>
                  <a:cubicBezTo>
                    <a:pt x="0" y="23"/>
                    <a:pt x="22" y="0"/>
                    <a:pt x="49" y="0"/>
                  </a:cubicBezTo>
                  <a:cubicBezTo>
                    <a:pt x="76" y="0"/>
                    <a:pt x="98" y="23"/>
                    <a:pt x="98" y="51"/>
                  </a:cubicBezTo>
                </a:path>
              </a:pathLst>
            </a:custGeom>
            <a:solidFill>
              <a:srgbClr val="00ADEF">
                <a:alpha val="100000"/>
              </a:srgbClr>
            </a:solidFill>
            <a:ln cap="flat">
              <a:noFill/>
              <a:prstDash val="solid"/>
              <a:miter lim="0"/>
            </a:ln>
          </p:spPr>
          <p:txBody>
            <a:bodyPr rtlCol="0"/>
            <a:lstStyle/>
            <a:p>
              <a:pPr algn="ctr"/>
              <a:endParaRPr lang="zh-CN" altLang="en-US"/>
            </a:p>
          </p:txBody>
        </p:sp>
        <p:sp>
          <p:nvSpPr>
            <p:cNvPr id="176" name="path"/>
            <p:cNvSpPr/>
            <p:nvPr/>
          </p:nvSpPr>
          <p:spPr>
            <a:xfrm>
              <a:off x="97536" y="41147"/>
              <a:ext cx="65531" cy="68580"/>
            </a:xfrm>
            <a:custGeom>
              <a:avLst/>
              <a:gdLst/>
              <a:ahLst/>
              <a:cxnLst/>
              <a:rect l="0" t="0" r="0" b="0"/>
              <a:pathLst>
                <a:path w="103" h="108">
                  <a:moveTo>
                    <a:pt x="100" y="54"/>
                  </a:moveTo>
                  <a:cubicBezTo>
                    <a:pt x="100" y="82"/>
                    <a:pt x="78" y="105"/>
                    <a:pt x="51" y="105"/>
                  </a:cubicBezTo>
                  <a:cubicBezTo>
                    <a:pt x="24" y="105"/>
                    <a:pt x="2" y="82"/>
                    <a:pt x="2" y="54"/>
                  </a:cubicBezTo>
                  <a:cubicBezTo>
                    <a:pt x="2" y="25"/>
                    <a:pt x="24" y="2"/>
                    <a:pt x="51" y="2"/>
                  </a:cubicBezTo>
                  <a:cubicBezTo>
                    <a:pt x="78" y="2"/>
                    <a:pt x="100" y="25"/>
                    <a:pt x="100" y="54"/>
                  </a:cubicBezTo>
                </a:path>
              </a:pathLst>
            </a:custGeom>
            <a:noFill/>
            <a:ln w="3048" cap="flat">
              <a:solidFill>
                <a:srgbClr val="FFFFFF">
                  <a:alpha val="100000"/>
                </a:srgbClr>
              </a:solidFill>
              <a:prstDash val="solid"/>
              <a:round/>
            </a:ln>
          </p:spPr>
          <p:txBody>
            <a:bodyPr rtlCol="0"/>
            <a:lstStyle/>
            <a:p>
              <a:pPr algn="ctr"/>
              <a:endParaRPr lang="zh-CN" altLang="en-US"/>
            </a:p>
          </p:txBody>
        </p:sp>
        <p:sp>
          <p:nvSpPr>
            <p:cNvPr id="177" name="path"/>
            <p:cNvSpPr/>
            <p:nvPr/>
          </p:nvSpPr>
          <p:spPr>
            <a:xfrm>
              <a:off x="0" y="53339"/>
              <a:ext cx="172211" cy="169164"/>
            </a:xfrm>
            <a:custGeom>
              <a:avLst/>
              <a:gdLst/>
              <a:ahLst/>
              <a:cxnLst/>
              <a:rect l="0" t="0" r="0" b="0"/>
              <a:pathLst>
                <a:path w="271" h="266">
                  <a:moveTo>
                    <a:pt x="100" y="51"/>
                  </a:moveTo>
                  <a:cubicBezTo>
                    <a:pt x="100" y="80"/>
                    <a:pt x="78" y="103"/>
                    <a:pt x="50" y="103"/>
                  </a:cubicBezTo>
                  <a:cubicBezTo>
                    <a:pt x="22" y="103"/>
                    <a:pt x="0" y="80"/>
                    <a:pt x="0" y="51"/>
                  </a:cubicBezTo>
                  <a:cubicBezTo>
                    <a:pt x="0" y="23"/>
                    <a:pt x="22" y="0"/>
                    <a:pt x="50" y="0"/>
                  </a:cubicBezTo>
                  <a:cubicBezTo>
                    <a:pt x="78" y="0"/>
                    <a:pt x="100" y="23"/>
                    <a:pt x="100" y="51"/>
                  </a:cubicBezTo>
                </a:path>
                <a:path w="271" h="266">
                  <a:moveTo>
                    <a:pt x="271" y="214"/>
                  </a:moveTo>
                  <a:cubicBezTo>
                    <a:pt x="271" y="243"/>
                    <a:pt x="249" y="266"/>
                    <a:pt x="222" y="266"/>
                  </a:cubicBezTo>
                  <a:cubicBezTo>
                    <a:pt x="194" y="266"/>
                    <a:pt x="172" y="243"/>
                    <a:pt x="172" y="214"/>
                  </a:cubicBezTo>
                  <a:cubicBezTo>
                    <a:pt x="172" y="186"/>
                    <a:pt x="194" y="163"/>
                    <a:pt x="222" y="163"/>
                  </a:cubicBezTo>
                  <a:cubicBezTo>
                    <a:pt x="249" y="163"/>
                    <a:pt x="271" y="186"/>
                    <a:pt x="271" y="214"/>
                  </a:cubicBezTo>
                </a:path>
              </a:pathLst>
            </a:custGeom>
            <a:solidFill>
              <a:srgbClr val="00ADEF">
                <a:alpha val="100000"/>
              </a:srgbClr>
            </a:solidFill>
            <a:ln cap="flat">
              <a:noFill/>
              <a:prstDash val="solid"/>
              <a:miter lim="0"/>
            </a:ln>
          </p:spPr>
          <p:txBody>
            <a:bodyPr rtlCol="0"/>
            <a:lstStyle/>
            <a:p>
              <a:pPr algn="ctr"/>
              <a:endParaRPr lang="zh-CN" altLang="en-US"/>
            </a:p>
          </p:txBody>
        </p:sp>
        <p:sp>
          <p:nvSpPr>
            <p:cNvPr id="178" name="path"/>
            <p:cNvSpPr/>
            <p:nvPr/>
          </p:nvSpPr>
          <p:spPr>
            <a:xfrm>
              <a:off x="108204" y="155447"/>
              <a:ext cx="65531" cy="68580"/>
            </a:xfrm>
            <a:custGeom>
              <a:avLst/>
              <a:gdLst/>
              <a:ahLst/>
              <a:cxnLst/>
              <a:rect l="0" t="0" r="0" b="0"/>
              <a:pathLst>
                <a:path w="103" h="108">
                  <a:moveTo>
                    <a:pt x="100" y="54"/>
                  </a:moveTo>
                  <a:cubicBezTo>
                    <a:pt x="100" y="82"/>
                    <a:pt x="78" y="105"/>
                    <a:pt x="51" y="105"/>
                  </a:cubicBezTo>
                  <a:cubicBezTo>
                    <a:pt x="24" y="105"/>
                    <a:pt x="2" y="82"/>
                    <a:pt x="2" y="54"/>
                  </a:cubicBezTo>
                  <a:cubicBezTo>
                    <a:pt x="2" y="25"/>
                    <a:pt x="24" y="2"/>
                    <a:pt x="51" y="2"/>
                  </a:cubicBezTo>
                  <a:cubicBezTo>
                    <a:pt x="78" y="2"/>
                    <a:pt x="100" y="25"/>
                    <a:pt x="100" y="54"/>
                  </a:cubicBezTo>
                </a:path>
              </a:pathLst>
            </a:custGeom>
            <a:noFill/>
            <a:ln w="3048" cap="flat">
              <a:solidFill>
                <a:srgbClr val="FFFFFF">
                  <a:alpha val="100000"/>
                </a:srgbClr>
              </a:solidFill>
              <a:prstDash val="solid"/>
              <a:round/>
            </a:ln>
          </p:spPr>
          <p:txBody>
            <a:bodyPr rtlCol="0"/>
            <a:lstStyle/>
            <a:p>
              <a:pPr algn="ctr"/>
              <a:endParaRPr lang="zh-CN" altLang="en-US"/>
            </a:p>
          </p:txBody>
        </p:sp>
        <p:sp>
          <p:nvSpPr>
            <p:cNvPr id="179" name="path"/>
            <p:cNvSpPr/>
            <p:nvPr/>
          </p:nvSpPr>
          <p:spPr>
            <a:xfrm>
              <a:off x="147828" y="0"/>
              <a:ext cx="202691" cy="170688"/>
            </a:xfrm>
            <a:custGeom>
              <a:avLst/>
              <a:gdLst/>
              <a:ahLst/>
              <a:cxnLst/>
              <a:rect l="0" t="0" r="0" b="0"/>
              <a:pathLst>
                <a:path w="319" h="268">
                  <a:moveTo>
                    <a:pt x="98" y="51"/>
                  </a:moveTo>
                  <a:cubicBezTo>
                    <a:pt x="98" y="80"/>
                    <a:pt x="76" y="103"/>
                    <a:pt x="49" y="103"/>
                  </a:cubicBezTo>
                  <a:cubicBezTo>
                    <a:pt x="22" y="103"/>
                    <a:pt x="0" y="80"/>
                    <a:pt x="0" y="51"/>
                  </a:cubicBezTo>
                  <a:cubicBezTo>
                    <a:pt x="0" y="23"/>
                    <a:pt x="22" y="0"/>
                    <a:pt x="49" y="0"/>
                  </a:cubicBezTo>
                  <a:cubicBezTo>
                    <a:pt x="76" y="0"/>
                    <a:pt x="98" y="23"/>
                    <a:pt x="98" y="51"/>
                  </a:cubicBezTo>
                </a:path>
                <a:path w="319" h="268">
                  <a:moveTo>
                    <a:pt x="319" y="217"/>
                  </a:moveTo>
                  <a:cubicBezTo>
                    <a:pt x="319" y="245"/>
                    <a:pt x="296" y="268"/>
                    <a:pt x="268" y="268"/>
                  </a:cubicBezTo>
                  <a:cubicBezTo>
                    <a:pt x="240" y="268"/>
                    <a:pt x="218" y="245"/>
                    <a:pt x="218" y="217"/>
                  </a:cubicBezTo>
                  <a:cubicBezTo>
                    <a:pt x="218" y="188"/>
                    <a:pt x="240" y="165"/>
                    <a:pt x="268" y="165"/>
                  </a:cubicBezTo>
                  <a:cubicBezTo>
                    <a:pt x="296" y="165"/>
                    <a:pt x="319" y="188"/>
                    <a:pt x="319" y="217"/>
                  </a:cubicBezTo>
                </a:path>
              </a:pathLst>
            </a:custGeom>
            <a:solidFill>
              <a:srgbClr val="00ADEF">
                <a:alpha val="100000"/>
              </a:srgbClr>
            </a:solidFill>
            <a:ln cap="flat">
              <a:noFill/>
              <a:prstDash val="solid"/>
              <a:miter lim="0"/>
            </a:ln>
          </p:spPr>
          <p:txBody>
            <a:bodyPr rtlCol="0"/>
            <a:lstStyle/>
            <a:p>
              <a:pPr algn="ctr"/>
              <a:endParaRPr lang="zh-CN" altLang="en-US"/>
            </a:p>
          </p:txBody>
        </p:sp>
        <p:sp>
          <p:nvSpPr>
            <p:cNvPr id="180" name="path"/>
            <p:cNvSpPr/>
            <p:nvPr/>
          </p:nvSpPr>
          <p:spPr>
            <a:xfrm>
              <a:off x="18288" y="220980"/>
              <a:ext cx="67055" cy="68579"/>
            </a:xfrm>
            <a:custGeom>
              <a:avLst/>
              <a:gdLst/>
              <a:ahLst/>
              <a:cxnLst/>
              <a:rect l="0" t="0" r="0" b="0"/>
              <a:pathLst>
                <a:path w="105" h="107">
                  <a:moveTo>
                    <a:pt x="103" y="53"/>
                  </a:moveTo>
                  <a:cubicBezTo>
                    <a:pt x="103" y="82"/>
                    <a:pt x="80" y="105"/>
                    <a:pt x="52" y="105"/>
                  </a:cubicBezTo>
                  <a:cubicBezTo>
                    <a:pt x="25" y="105"/>
                    <a:pt x="2" y="82"/>
                    <a:pt x="2" y="53"/>
                  </a:cubicBezTo>
                  <a:cubicBezTo>
                    <a:pt x="2" y="25"/>
                    <a:pt x="25" y="2"/>
                    <a:pt x="52" y="2"/>
                  </a:cubicBezTo>
                  <a:cubicBezTo>
                    <a:pt x="80" y="2"/>
                    <a:pt x="103" y="25"/>
                    <a:pt x="103" y="53"/>
                  </a:cubicBezTo>
                </a:path>
              </a:pathLst>
            </a:custGeom>
            <a:noFill/>
            <a:ln w="3048" cap="flat">
              <a:solidFill>
                <a:srgbClr val="FFFFFF">
                  <a:alpha val="100000"/>
                </a:srgbClr>
              </a:solidFill>
              <a:prstDash val="solid"/>
              <a:round/>
            </a:ln>
          </p:spPr>
          <p:txBody>
            <a:bodyPr rtlCol="0"/>
            <a:lstStyle/>
            <a:p>
              <a:pPr algn="ctr"/>
              <a:endParaRPr lang="zh-CN" altLang="en-US"/>
            </a:p>
          </p:txBody>
        </p:sp>
        <p:sp>
          <p:nvSpPr>
            <p:cNvPr id="181" name="path"/>
            <p:cNvSpPr/>
            <p:nvPr/>
          </p:nvSpPr>
          <p:spPr>
            <a:xfrm>
              <a:off x="240791" y="170688"/>
              <a:ext cx="64008" cy="65532"/>
            </a:xfrm>
            <a:custGeom>
              <a:avLst/>
              <a:gdLst/>
              <a:ahLst/>
              <a:cxnLst/>
              <a:rect l="0" t="0" r="0" b="0"/>
              <a:pathLst>
                <a:path w="100" h="103">
                  <a:moveTo>
                    <a:pt x="100" y="51"/>
                  </a:moveTo>
                  <a:cubicBezTo>
                    <a:pt x="100" y="80"/>
                    <a:pt x="78" y="103"/>
                    <a:pt x="50" y="103"/>
                  </a:cubicBezTo>
                  <a:cubicBezTo>
                    <a:pt x="22" y="103"/>
                    <a:pt x="0" y="80"/>
                    <a:pt x="0" y="51"/>
                  </a:cubicBezTo>
                  <a:cubicBezTo>
                    <a:pt x="0" y="23"/>
                    <a:pt x="22" y="0"/>
                    <a:pt x="50" y="0"/>
                  </a:cubicBezTo>
                  <a:cubicBezTo>
                    <a:pt x="78" y="0"/>
                    <a:pt x="100" y="23"/>
                    <a:pt x="100" y="51"/>
                  </a:cubicBezTo>
                </a:path>
              </a:pathLst>
            </a:custGeom>
            <a:solidFill>
              <a:srgbClr val="00ADEF">
                <a:alpha val="100000"/>
              </a:srgbClr>
            </a:solidFill>
            <a:ln cap="flat">
              <a:noFill/>
              <a:prstDash val="solid"/>
              <a:miter lim="0"/>
            </a:ln>
          </p:spPr>
          <p:txBody>
            <a:bodyPr rtlCol="0"/>
            <a:lstStyle/>
            <a:p>
              <a:pPr algn="ctr"/>
              <a:endParaRPr lang="zh-CN" altLang="en-US"/>
            </a:p>
          </p:txBody>
        </p:sp>
        <p:sp>
          <p:nvSpPr>
            <p:cNvPr id="182" name="path"/>
            <p:cNvSpPr/>
            <p:nvPr/>
          </p:nvSpPr>
          <p:spPr>
            <a:xfrm>
              <a:off x="239267" y="169164"/>
              <a:ext cx="67055" cy="68579"/>
            </a:xfrm>
            <a:custGeom>
              <a:avLst/>
              <a:gdLst/>
              <a:ahLst/>
              <a:cxnLst/>
              <a:rect l="0" t="0" r="0" b="0"/>
              <a:pathLst>
                <a:path w="105" h="107">
                  <a:moveTo>
                    <a:pt x="103" y="54"/>
                  </a:moveTo>
                  <a:cubicBezTo>
                    <a:pt x="103" y="82"/>
                    <a:pt x="80" y="105"/>
                    <a:pt x="52" y="105"/>
                  </a:cubicBezTo>
                  <a:cubicBezTo>
                    <a:pt x="25" y="105"/>
                    <a:pt x="2" y="82"/>
                    <a:pt x="2" y="54"/>
                  </a:cubicBezTo>
                  <a:cubicBezTo>
                    <a:pt x="2" y="25"/>
                    <a:pt x="25" y="2"/>
                    <a:pt x="52" y="2"/>
                  </a:cubicBezTo>
                  <a:cubicBezTo>
                    <a:pt x="80" y="2"/>
                    <a:pt x="103" y="25"/>
                    <a:pt x="103" y="54"/>
                  </a:cubicBezTo>
                </a:path>
              </a:pathLst>
            </a:custGeom>
            <a:noFill/>
            <a:ln w="3048" cap="flat">
              <a:solidFill>
                <a:srgbClr val="FFFFFF">
                  <a:alpha val="100000"/>
                </a:srgbClr>
              </a:solidFill>
              <a:prstDash val="solid"/>
              <a:round/>
            </a:ln>
          </p:spPr>
          <p:txBody>
            <a:bodyPr rtlCol="0"/>
            <a:lstStyle/>
            <a:p>
              <a:pPr algn="ctr"/>
              <a:endParaRPr lang="zh-CN" altLang="en-US"/>
            </a:p>
          </p:txBody>
        </p:sp>
        <p:sp>
          <p:nvSpPr>
            <p:cNvPr id="183" name="path"/>
            <p:cNvSpPr/>
            <p:nvPr/>
          </p:nvSpPr>
          <p:spPr>
            <a:xfrm>
              <a:off x="166116" y="224027"/>
              <a:ext cx="64007" cy="65532"/>
            </a:xfrm>
            <a:custGeom>
              <a:avLst/>
              <a:gdLst/>
              <a:ahLst/>
              <a:cxnLst/>
              <a:rect l="0" t="0" r="0" b="0"/>
              <a:pathLst>
                <a:path w="100" h="103">
                  <a:moveTo>
                    <a:pt x="100" y="51"/>
                  </a:moveTo>
                  <a:cubicBezTo>
                    <a:pt x="100" y="80"/>
                    <a:pt x="78" y="103"/>
                    <a:pt x="50" y="103"/>
                  </a:cubicBezTo>
                  <a:cubicBezTo>
                    <a:pt x="22" y="103"/>
                    <a:pt x="0" y="80"/>
                    <a:pt x="0" y="51"/>
                  </a:cubicBezTo>
                  <a:cubicBezTo>
                    <a:pt x="0" y="23"/>
                    <a:pt x="22" y="0"/>
                    <a:pt x="50" y="0"/>
                  </a:cubicBezTo>
                  <a:cubicBezTo>
                    <a:pt x="78" y="0"/>
                    <a:pt x="100" y="23"/>
                    <a:pt x="100" y="51"/>
                  </a:cubicBezTo>
                </a:path>
              </a:pathLst>
            </a:custGeom>
            <a:solidFill>
              <a:srgbClr val="00ADEF">
                <a:alpha val="100000"/>
              </a:srgbClr>
            </a:solidFill>
            <a:ln cap="flat">
              <a:noFill/>
              <a:prstDash val="solid"/>
              <a:miter lim="0"/>
            </a:ln>
          </p:spPr>
          <p:txBody>
            <a:bodyPr rtlCol="0"/>
            <a:lstStyle/>
            <a:p>
              <a:pPr algn="ctr"/>
              <a:endParaRPr lang="zh-CN" altLang="en-US"/>
            </a:p>
          </p:txBody>
        </p:sp>
      </p:grpSp>
      <p:sp>
        <p:nvSpPr>
          <p:cNvPr id="184" name="path"/>
          <p:cNvSpPr/>
          <p:nvPr/>
        </p:nvSpPr>
        <p:spPr>
          <a:xfrm>
            <a:off x="5676900" y="2543556"/>
            <a:ext cx="227075" cy="211835"/>
          </a:xfrm>
          <a:custGeom>
            <a:avLst/>
            <a:gdLst/>
            <a:ahLst/>
            <a:cxnLst/>
            <a:rect l="0" t="0" r="0" b="0"/>
            <a:pathLst>
              <a:path w="357" h="333">
                <a:moveTo>
                  <a:pt x="213" y="173"/>
                </a:moveTo>
                <a:cubicBezTo>
                  <a:pt x="213" y="202"/>
                  <a:pt x="191" y="225"/>
                  <a:pt x="164" y="225"/>
                </a:cubicBezTo>
                <a:cubicBezTo>
                  <a:pt x="137" y="225"/>
                  <a:pt x="115" y="202"/>
                  <a:pt x="115" y="173"/>
                </a:cubicBezTo>
                <a:cubicBezTo>
                  <a:pt x="115" y="145"/>
                  <a:pt x="137" y="122"/>
                  <a:pt x="164" y="122"/>
                </a:cubicBezTo>
                <a:cubicBezTo>
                  <a:pt x="191" y="122"/>
                  <a:pt x="213" y="145"/>
                  <a:pt x="213" y="173"/>
                </a:cubicBezTo>
              </a:path>
              <a:path w="357" h="333">
                <a:moveTo>
                  <a:pt x="98" y="282"/>
                </a:moveTo>
                <a:cubicBezTo>
                  <a:pt x="98" y="310"/>
                  <a:pt x="76" y="333"/>
                  <a:pt x="49" y="333"/>
                </a:cubicBezTo>
                <a:cubicBezTo>
                  <a:pt x="22" y="333"/>
                  <a:pt x="0" y="310"/>
                  <a:pt x="0" y="282"/>
                </a:cubicBezTo>
                <a:cubicBezTo>
                  <a:pt x="0" y="253"/>
                  <a:pt x="22" y="230"/>
                  <a:pt x="49" y="230"/>
                </a:cubicBezTo>
                <a:cubicBezTo>
                  <a:pt x="76" y="230"/>
                  <a:pt x="98" y="253"/>
                  <a:pt x="98" y="282"/>
                </a:cubicBezTo>
              </a:path>
              <a:path w="357" h="333">
                <a:moveTo>
                  <a:pt x="357" y="51"/>
                </a:moveTo>
                <a:cubicBezTo>
                  <a:pt x="357" y="80"/>
                  <a:pt x="335" y="103"/>
                  <a:pt x="307" y="103"/>
                </a:cubicBezTo>
                <a:cubicBezTo>
                  <a:pt x="279" y="103"/>
                  <a:pt x="256" y="80"/>
                  <a:pt x="256" y="51"/>
                </a:cubicBezTo>
                <a:cubicBezTo>
                  <a:pt x="256" y="23"/>
                  <a:pt x="279" y="0"/>
                  <a:pt x="307" y="0"/>
                </a:cubicBezTo>
                <a:cubicBezTo>
                  <a:pt x="335" y="0"/>
                  <a:pt x="357" y="23"/>
                  <a:pt x="357" y="51"/>
                </a:cubicBezTo>
              </a:path>
            </a:pathLst>
          </a:custGeom>
          <a:solidFill>
            <a:srgbClr val="00ADEF">
              <a:alpha val="100000"/>
            </a:srgbClr>
          </a:solidFill>
          <a:ln cap="flat">
            <a:noFill/>
            <a:prstDash val="solid"/>
            <a:miter lim="0"/>
          </a:ln>
        </p:spPr>
        <p:txBody>
          <a:bodyPr rtlCol="0"/>
          <a:lstStyle/>
          <a:p>
            <a:pPr algn="ctr"/>
            <a:endParaRPr lang="zh-CN" altLang="en-US"/>
          </a:p>
        </p:txBody>
      </p:sp>
      <p:sp>
        <p:nvSpPr>
          <p:cNvPr id="185" name="path"/>
          <p:cNvSpPr/>
          <p:nvPr/>
        </p:nvSpPr>
        <p:spPr>
          <a:xfrm>
            <a:off x="7377684" y="2025396"/>
            <a:ext cx="251459" cy="163068"/>
          </a:xfrm>
          <a:custGeom>
            <a:avLst/>
            <a:gdLst/>
            <a:ahLst/>
            <a:cxnLst/>
            <a:rect l="0" t="0" r="0" b="0"/>
            <a:pathLst>
              <a:path w="395" h="256">
                <a:moveTo>
                  <a:pt x="0" y="165"/>
                </a:moveTo>
                <a:lnTo>
                  <a:pt x="100" y="165"/>
                </a:lnTo>
                <a:lnTo>
                  <a:pt x="100" y="62"/>
                </a:lnTo>
                <a:lnTo>
                  <a:pt x="0" y="62"/>
                </a:lnTo>
                <a:lnTo>
                  <a:pt x="0" y="165"/>
                </a:lnTo>
                <a:close/>
              </a:path>
              <a:path w="395" h="256">
                <a:moveTo>
                  <a:pt x="165" y="256"/>
                </a:moveTo>
                <a:lnTo>
                  <a:pt x="266" y="256"/>
                </a:lnTo>
                <a:lnTo>
                  <a:pt x="266" y="153"/>
                </a:lnTo>
                <a:lnTo>
                  <a:pt x="165" y="153"/>
                </a:lnTo>
                <a:lnTo>
                  <a:pt x="165" y="256"/>
                </a:lnTo>
                <a:close/>
              </a:path>
              <a:path w="395" h="256">
                <a:moveTo>
                  <a:pt x="295" y="175"/>
                </a:moveTo>
                <a:lnTo>
                  <a:pt x="395" y="175"/>
                </a:lnTo>
                <a:lnTo>
                  <a:pt x="395" y="72"/>
                </a:lnTo>
                <a:lnTo>
                  <a:pt x="295" y="72"/>
                </a:lnTo>
                <a:lnTo>
                  <a:pt x="295" y="175"/>
                </a:lnTo>
                <a:close/>
              </a:path>
              <a:path w="395" h="256">
                <a:moveTo>
                  <a:pt x="120" y="103"/>
                </a:moveTo>
                <a:lnTo>
                  <a:pt x="220" y="103"/>
                </a:lnTo>
                <a:lnTo>
                  <a:pt x="220" y="0"/>
                </a:lnTo>
                <a:lnTo>
                  <a:pt x="120" y="0"/>
                </a:lnTo>
                <a:lnTo>
                  <a:pt x="120" y="103"/>
                </a:lnTo>
                <a:close/>
              </a:path>
            </a:pathLst>
          </a:custGeom>
          <a:solidFill>
            <a:srgbClr val="0065BD">
              <a:alpha val="100000"/>
            </a:srgbClr>
          </a:solidFill>
          <a:ln cap="flat">
            <a:noFill/>
            <a:prstDash val="solid"/>
            <a:miter lim="0"/>
          </a:ln>
        </p:spPr>
        <p:txBody>
          <a:bodyPr rtlCol="0"/>
          <a:lstStyle/>
          <a:p>
            <a:pPr algn="ctr"/>
            <a:endParaRPr lang="zh-CN" altLang="en-US"/>
          </a:p>
        </p:txBody>
      </p:sp>
      <p:sp>
        <p:nvSpPr>
          <p:cNvPr id="186" name="path"/>
          <p:cNvSpPr/>
          <p:nvPr/>
        </p:nvSpPr>
        <p:spPr>
          <a:xfrm>
            <a:off x="7257288" y="2330196"/>
            <a:ext cx="220979" cy="184403"/>
          </a:xfrm>
          <a:custGeom>
            <a:avLst/>
            <a:gdLst/>
            <a:ahLst/>
            <a:cxnLst/>
            <a:rect l="0" t="0" r="0" b="0"/>
            <a:pathLst>
              <a:path w="347" h="290">
                <a:moveTo>
                  <a:pt x="0" y="103"/>
                </a:moveTo>
                <a:lnTo>
                  <a:pt x="100" y="103"/>
                </a:lnTo>
                <a:lnTo>
                  <a:pt x="100" y="0"/>
                </a:lnTo>
                <a:lnTo>
                  <a:pt x="0" y="0"/>
                </a:lnTo>
                <a:lnTo>
                  <a:pt x="0" y="103"/>
                </a:lnTo>
                <a:close/>
              </a:path>
              <a:path w="347" h="290">
                <a:moveTo>
                  <a:pt x="127" y="216"/>
                </a:moveTo>
                <a:lnTo>
                  <a:pt x="227" y="216"/>
                </a:lnTo>
                <a:lnTo>
                  <a:pt x="227" y="112"/>
                </a:lnTo>
                <a:lnTo>
                  <a:pt x="127" y="112"/>
                </a:lnTo>
                <a:lnTo>
                  <a:pt x="127" y="216"/>
                </a:lnTo>
                <a:close/>
              </a:path>
              <a:path w="347" h="290">
                <a:moveTo>
                  <a:pt x="247" y="290"/>
                </a:moveTo>
                <a:lnTo>
                  <a:pt x="347" y="290"/>
                </a:lnTo>
                <a:lnTo>
                  <a:pt x="347" y="187"/>
                </a:lnTo>
                <a:lnTo>
                  <a:pt x="247" y="187"/>
                </a:lnTo>
                <a:lnTo>
                  <a:pt x="247" y="290"/>
                </a:lnTo>
                <a:close/>
              </a:path>
            </a:pathLst>
          </a:custGeom>
          <a:solidFill>
            <a:srgbClr val="0065BD">
              <a:alpha val="100000"/>
            </a:srgbClr>
          </a:solidFill>
          <a:ln cap="flat">
            <a:noFill/>
            <a:prstDash val="solid"/>
            <a:miter lim="0"/>
          </a:ln>
        </p:spPr>
        <p:txBody>
          <a:bodyPr rtlCol="0"/>
          <a:lstStyle/>
          <a:p>
            <a:pPr algn="ctr"/>
            <a:endParaRPr lang="zh-CN" altLang="en-US"/>
          </a:p>
        </p:txBody>
      </p:sp>
      <p:sp>
        <p:nvSpPr>
          <p:cNvPr id="187" name="rect"/>
          <p:cNvSpPr/>
          <p:nvPr/>
        </p:nvSpPr>
        <p:spPr>
          <a:xfrm>
            <a:off x="5782055" y="2465832"/>
            <a:ext cx="62484" cy="65532"/>
          </a:xfrm>
          <a:prstGeom prst="rect">
            <a:avLst/>
          </a:prstGeom>
          <a:solidFill>
            <a:srgbClr val="00ADEF">
              <a:alpha val="100000"/>
            </a:srgbClr>
          </a:solidFill>
          <a:ln cap="flat">
            <a:noFill/>
            <a:prstDash val="solid"/>
            <a:miter lim="0"/>
          </a:ln>
        </p:spPr>
        <p:txBody>
          <a:bodyPr rtlCol="0"/>
          <a:lstStyle/>
          <a:p>
            <a:pPr algn="ctr"/>
            <a:endParaRPr lang="zh-CN" altLang="en-US"/>
          </a:p>
        </p:txBody>
      </p:sp>
      <p:sp>
        <p:nvSpPr>
          <p:cNvPr id="188" name="path"/>
          <p:cNvSpPr/>
          <p:nvPr/>
        </p:nvSpPr>
        <p:spPr>
          <a:xfrm>
            <a:off x="5748528" y="2464308"/>
            <a:ext cx="156971" cy="224027"/>
          </a:xfrm>
          <a:custGeom>
            <a:avLst/>
            <a:gdLst/>
            <a:ahLst/>
            <a:cxnLst/>
            <a:rect l="0" t="0" r="0" b="0"/>
            <a:pathLst>
              <a:path w="247" h="352">
                <a:moveTo>
                  <a:pt x="151" y="54"/>
                </a:moveTo>
                <a:cubicBezTo>
                  <a:pt x="151" y="82"/>
                  <a:pt x="129" y="105"/>
                  <a:pt x="102" y="105"/>
                </a:cubicBezTo>
                <a:cubicBezTo>
                  <a:pt x="74" y="105"/>
                  <a:pt x="52" y="82"/>
                  <a:pt x="52" y="54"/>
                </a:cubicBezTo>
                <a:cubicBezTo>
                  <a:pt x="52" y="25"/>
                  <a:pt x="74" y="2"/>
                  <a:pt x="102" y="2"/>
                </a:cubicBezTo>
                <a:cubicBezTo>
                  <a:pt x="129" y="2"/>
                  <a:pt x="151" y="25"/>
                  <a:pt x="151" y="54"/>
                </a:cubicBezTo>
                <a:moveTo>
                  <a:pt x="100" y="298"/>
                </a:moveTo>
                <a:cubicBezTo>
                  <a:pt x="100" y="327"/>
                  <a:pt x="78" y="350"/>
                  <a:pt x="51" y="350"/>
                </a:cubicBezTo>
                <a:cubicBezTo>
                  <a:pt x="24" y="350"/>
                  <a:pt x="2" y="327"/>
                  <a:pt x="2" y="298"/>
                </a:cubicBezTo>
                <a:cubicBezTo>
                  <a:pt x="2" y="270"/>
                  <a:pt x="24" y="247"/>
                  <a:pt x="51" y="247"/>
                </a:cubicBezTo>
                <a:cubicBezTo>
                  <a:pt x="78" y="247"/>
                  <a:pt x="100" y="270"/>
                  <a:pt x="100" y="298"/>
                </a:cubicBezTo>
                <a:moveTo>
                  <a:pt x="244" y="176"/>
                </a:moveTo>
                <a:cubicBezTo>
                  <a:pt x="244" y="204"/>
                  <a:pt x="222" y="227"/>
                  <a:pt x="194" y="227"/>
                </a:cubicBezTo>
                <a:cubicBezTo>
                  <a:pt x="166" y="227"/>
                  <a:pt x="143" y="204"/>
                  <a:pt x="143" y="176"/>
                </a:cubicBezTo>
                <a:cubicBezTo>
                  <a:pt x="143" y="147"/>
                  <a:pt x="166" y="124"/>
                  <a:pt x="194" y="124"/>
                </a:cubicBezTo>
                <a:cubicBezTo>
                  <a:pt x="222" y="124"/>
                  <a:pt x="244" y="147"/>
                  <a:pt x="244" y="176"/>
                </a:cubicBezTo>
              </a:path>
            </a:pathLst>
          </a:custGeom>
          <a:noFill/>
          <a:ln w="3048" cap="flat">
            <a:solidFill>
              <a:srgbClr val="FFFFFF">
                <a:alpha val="100000"/>
              </a:srgbClr>
            </a:solidFill>
            <a:prstDash val="solid"/>
            <a:round/>
          </a:ln>
        </p:spPr>
        <p:txBody>
          <a:bodyPr rtlCol="0"/>
          <a:lstStyle/>
          <a:p>
            <a:pPr algn="ctr"/>
            <a:endParaRPr lang="zh-CN" altLang="en-US"/>
          </a:p>
        </p:txBody>
      </p:sp>
      <p:sp>
        <p:nvSpPr>
          <p:cNvPr id="189" name="path"/>
          <p:cNvSpPr/>
          <p:nvPr/>
        </p:nvSpPr>
        <p:spPr>
          <a:xfrm>
            <a:off x="5812535" y="2724911"/>
            <a:ext cx="109727" cy="129540"/>
          </a:xfrm>
          <a:custGeom>
            <a:avLst/>
            <a:gdLst/>
            <a:ahLst/>
            <a:cxnLst/>
            <a:rect l="0" t="0" r="0" b="0"/>
            <a:pathLst>
              <a:path w="172" h="204">
                <a:moveTo>
                  <a:pt x="172" y="51"/>
                </a:moveTo>
                <a:cubicBezTo>
                  <a:pt x="172" y="80"/>
                  <a:pt x="150" y="103"/>
                  <a:pt x="123" y="103"/>
                </a:cubicBezTo>
                <a:cubicBezTo>
                  <a:pt x="96" y="103"/>
                  <a:pt x="74" y="80"/>
                  <a:pt x="74" y="51"/>
                </a:cubicBezTo>
                <a:cubicBezTo>
                  <a:pt x="74" y="23"/>
                  <a:pt x="96" y="0"/>
                  <a:pt x="123" y="0"/>
                </a:cubicBezTo>
                <a:cubicBezTo>
                  <a:pt x="150" y="0"/>
                  <a:pt x="172" y="23"/>
                  <a:pt x="172" y="51"/>
                </a:cubicBezTo>
              </a:path>
              <a:path w="172" h="204">
                <a:moveTo>
                  <a:pt x="100" y="152"/>
                </a:moveTo>
                <a:cubicBezTo>
                  <a:pt x="100" y="180"/>
                  <a:pt x="78" y="204"/>
                  <a:pt x="50" y="204"/>
                </a:cubicBezTo>
                <a:cubicBezTo>
                  <a:pt x="22" y="204"/>
                  <a:pt x="0" y="180"/>
                  <a:pt x="0" y="152"/>
                </a:cubicBezTo>
                <a:cubicBezTo>
                  <a:pt x="0" y="124"/>
                  <a:pt x="22" y="100"/>
                  <a:pt x="50" y="100"/>
                </a:cubicBezTo>
                <a:cubicBezTo>
                  <a:pt x="78" y="100"/>
                  <a:pt x="100" y="124"/>
                  <a:pt x="100" y="152"/>
                </a:cubicBezTo>
              </a:path>
            </a:pathLst>
          </a:custGeom>
          <a:solidFill>
            <a:srgbClr val="00ADEF">
              <a:alpha val="100000"/>
            </a:srgbClr>
          </a:solidFill>
          <a:ln cap="flat">
            <a:noFill/>
            <a:prstDash val="solid"/>
            <a:miter lim="0"/>
          </a:ln>
        </p:spPr>
        <p:txBody>
          <a:bodyPr rtlCol="0"/>
          <a:lstStyle/>
          <a:p>
            <a:pPr algn="ctr"/>
            <a:endParaRPr lang="zh-CN" altLang="en-US"/>
          </a:p>
        </p:txBody>
      </p:sp>
      <p:sp>
        <p:nvSpPr>
          <p:cNvPr id="190" name="rect"/>
          <p:cNvSpPr/>
          <p:nvPr/>
        </p:nvSpPr>
        <p:spPr>
          <a:xfrm>
            <a:off x="5725667" y="2799588"/>
            <a:ext cx="64007" cy="65532"/>
          </a:xfrm>
          <a:prstGeom prst="rect">
            <a:avLst/>
          </a:prstGeom>
          <a:solidFill>
            <a:srgbClr val="00ADEF">
              <a:alpha val="100000"/>
            </a:srgbClr>
          </a:solidFill>
          <a:ln cap="flat">
            <a:noFill/>
            <a:prstDash val="solid"/>
            <a:miter lim="0"/>
          </a:ln>
        </p:spPr>
        <p:txBody>
          <a:bodyPr rtlCol="0"/>
          <a:lstStyle/>
          <a:p>
            <a:pPr algn="ctr"/>
            <a:endParaRPr lang="zh-CN" altLang="en-US"/>
          </a:p>
        </p:txBody>
      </p:sp>
      <p:sp>
        <p:nvSpPr>
          <p:cNvPr id="191" name="path"/>
          <p:cNvSpPr/>
          <p:nvPr/>
        </p:nvSpPr>
        <p:spPr>
          <a:xfrm>
            <a:off x="5724144" y="2723388"/>
            <a:ext cx="199643" cy="143255"/>
          </a:xfrm>
          <a:custGeom>
            <a:avLst/>
            <a:gdLst/>
            <a:ahLst/>
            <a:cxnLst/>
            <a:rect l="0" t="0" r="0" b="0"/>
            <a:pathLst>
              <a:path w="314" h="225">
                <a:moveTo>
                  <a:pt x="311" y="54"/>
                </a:moveTo>
                <a:cubicBezTo>
                  <a:pt x="311" y="82"/>
                  <a:pt x="290" y="105"/>
                  <a:pt x="262" y="105"/>
                </a:cubicBezTo>
                <a:cubicBezTo>
                  <a:pt x="235" y="105"/>
                  <a:pt x="213" y="82"/>
                  <a:pt x="213" y="54"/>
                </a:cubicBezTo>
                <a:cubicBezTo>
                  <a:pt x="213" y="25"/>
                  <a:pt x="235" y="2"/>
                  <a:pt x="262" y="2"/>
                </a:cubicBezTo>
                <a:cubicBezTo>
                  <a:pt x="290" y="2"/>
                  <a:pt x="311" y="25"/>
                  <a:pt x="311" y="54"/>
                </a:cubicBezTo>
                <a:moveTo>
                  <a:pt x="240" y="154"/>
                </a:moveTo>
                <a:cubicBezTo>
                  <a:pt x="240" y="183"/>
                  <a:pt x="217" y="206"/>
                  <a:pt x="189" y="206"/>
                </a:cubicBezTo>
                <a:cubicBezTo>
                  <a:pt x="161" y="206"/>
                  <a:pt x="139" y="183"/>
                  <a:pt x="139" y="154"/>
                </a:cubicBezTo>
                <a:cubicBezTo>
                  <a:pt x="139" y="126"/>
                  <a:pt x="161" y="103"/>
                  <a:pt x="189" y="103"/>
                </a:cubicBezTo>
                <a:cubicBezTo>
                  <a:pt x="217" y="103"/>
                  <a:pt x="240" y="126"/>
                  <a:pt x="240" y="154"/>
                </a:cubicBezTo>
                <a:moveTo>
                  <a:pt x="103" y="171"/>
                </a:moveTo>
                <a:cubicBezTo>
                  <a:pt x="103" y="200"/>
                  <a:pt x="80" y="223"/>
                  <a:pt x="52" y="223"/>
                </a:cubicBezTo>
                <a:cubicBezTo>
                  <a:pt x="25" y="223"/>
                  <a:pt x="2" y="200"/>
                  <a:pt x="2" y="171"/>
                </a:cubicBezTo>
                <a:cubicBezTo>
                  <a:pt x="2" y="143"/>
                  <a:pt x="25" y="120"/>
                  <a:pt x="52" y="120"/>
                </a:cubicBezTo>
                <a:cubicBezTo>
                  <a:pt x="80" y="120"/>
                  <a:pt x="103" y="143"/>
                  <a:pt x="103" y="171"/>
                </a:cubicBezTo>
              </a:path>
            </a:pathLst>
          </a:custGeom>
          <a:noFill/>
          <a:ln w="3048" cap="flat">
            <a:solidFill>
              <a:srgbClr val="FFFFFF">
                <a:alpha val="100000"/>
              </a:srgbClr>
            </a:solidFill>
            <a:prstDash val="solid"/>
            <a:round/>
          </a:ln>
        </p:spPr>
        <p:txBody>
          <a:bodyPr rtlCol="0"/>
          <a:lstStyle/>
          <a:p>
            <a:pPr algn="ctr"/>
            <a:endParaRPr lang="zh-CN" altLang="en-US"/>
          </a:p>
        </p:txBody>
      </p:sp>
      <p:sp>
        <p:nvSpPr>
          <p:cNvPr id="192" name="path"/>
          <p:cNvSpPr/>
          <p:nvPr/>
        </p:nvSpPr>
        <p:spPr>
          <a:xfrm>
            <a:off x="5526023" y="2153411"/>
            <a:ext cx="169164" cy="137160"/>
          </a:xfrm>
          <a:custGeom>
            <a:avLst/>
            <a:gdLst/>
            <a:ahLst/>
            <a:cxnLst/>
            <a:rect l="0" t="0" r="0" b="0"/>
            <a:pathLst>
              <a:path w="266" h="216">
                <a:moveTo>
                  <a:pt x="266" y="164"/>
                </a:moveTo>
                <a:cubicBezTo>
                  <a:pt x="266" y="192"/>
                  <a:pt x="244" y="216"/>
                  <a:pt x="217" y="216"/>
                </a:cubicBezTo>
                <a:cubicBezTo>
                  <a:pt x="190" y="216"/>
                  <a:pt x="167" y="192"/>
                  <a:pt x="167" y="164"/>
                </a:cubicBezTo>
                <a:cubicBezTo>
                  <a:pt x="167" y="136"/>
                  <a:pt x="190" y="112"/>
                  <a:pt x="217" y="112"/>
                </a:cubicBezTo>
                <a:cubicBezTo>
                  <a:pt x="244" y="112"/>
                  <a:pt x="266" y="136"/>
                  <a:pt x="266" y="164"/>
                </a:cubicBezTo>
              </a:path>
              <a:path w="266" h="216">
                <a:moveTo>
                  <a:pt x="100" y="116"/>
                </a:moveTo>
                <a:cubicBezTo>
                  <a:pt x="100" y="144"/>
                  <a:pt x="78" y="167"/>
                  <a:pt x="50" y="167"/>
                </a:cubicBezTo>
                <a:cubicBezTo>
                  <a:pt x="22" y="167"/>
                  <a:pt x="0" y="144"/>
                  <a:pt x="0" y="116"/>
                </a:cubicBezTo>
                <a:cubicBezTo>
                  <a:pt x="0" y="87"/>
                  <a:pt x="22" y="64"/>
                  <a:pt x="50" y="64"/>
                </a:cubicBezTo>
                <a:cubicBezTo>
                  <a:pt x="78" y="64"/>
                  <a:pt x="100" y="87"/>
                  <a:pt x="100" y="116"/>
                </a:cubicBezTo>
              </a:path>
              <a:path w="266" h="216">
                <a:moveTo>
                  <a:pt x="177" y="51"/>
                </a:moveTo>
                <a:cubicBezTo>
                  <a:pt x="177" y="80"/>
                  <a:pt x="155" y="103"/>
                  <a:pt x="127" y="103"/>
                </a:cubicBezTo>
                <a:cubicBezTo>
                  <a:pt x="99" y="103"/>
                  <a:pt x="76" y="80"/>
                  <a:pt x="76" y="51"/>
                </a:cubicBezTo>
                <a:cubicBezTo>
                  <a:pt x="76" y="23"/>
                  <a:pt x="99" y="0"/>
                  <a:pt x="127" y="0"/>
                </a:cubicBezTo>
                <a:cubicBezTo>
                  <a:pt x="155" y="0"/>
                  <a:pt x="177" y="23"/>
                  <a:pt x="177" y="51"/>
                </a:cubicBezTo>
              </a:path>
            </a:pathLst>
          </a:custGeom>
          <a:solidFill>
            <a:srgbClr val="00ADEF">
              <a:alpha val="100000"/>
            </a:srgbClr>
          </a:solidFill>
          <a:ln cap="flat">
            <a:noFill/>
            <a:prstDash val="solid"/>
            <a:miter lim="0"/>
          </a:ln>
        </p:spPr>
        <p:txBody>
          <a:bodyPr rtlCol="0"/>
          <a:lstStyle/>
          <a:p>
            <a:pPr algn="ctr"/>
            <a:endParaRPr lang="zh-CN" altLang="en-US"/>
          </a:p>
        </p:txBody>
      </p:sp>
      <p:sp>
        <p:nvSpPr>
          <p:cNvPr id="193" name="rect"/>
          <p:cNvSpPr/>
          <p:nvPr/>
        </p:nvSpPr>
        <p:spPr>
          <a:xfrm>
            <a:off x="7443216" y="2552700"/>
            <a:ext cx="64007" cy="65532"/>
          </a:xfrm>
          <a:prstGeom prst="rect">
            <a:avLst/>
          </a:prstGeom>
          <a:solidFill>
            <a:srgbClr val="0065BD">
              <a:alpha val="100000"/>
            </a:srgbClr>
          </a:solidFill>
          <a:ln cap="flat">
            <a:noFill/>
            <a:prstDash val="solid"/>
            <a:miter lim="0"/>
          </a:ln>
        </p:spPr>
        <p:txBody>
          <a:bodyPr rtlCol="0"/>
          <a:lstStyle/>
          <a:p>
            <a:pPr algn="ctr"/>
            <a:endParaRPr lang="zh-CN" altLang="en-US"/>
          </a:p>
        </p:txBody>
      </p:sp>
      <p:sp>
        <p:nvSpPr>
          <p:cNvPr id="194" name="rect"/>
          <p:cNvSpPr/>
          <p:nvPr/>
        </p:nvSpPr>
        <p:spPr>
          <a:xfrm>
            <a:off x="7513319" y="2619755"/>
            <a:ext cx="64007" cy="65532"/>
          </a:xfrm>
          <a:prstGeom prst="rect">
            <a:avLst/>
          </a:prstGeom>
          <a:solidFill>
            <a:srgbClr val="0065BD">
              <a:alpha val="100000"/>
            </a:srgbClr>
          </a:solidFill>
          <a:ln cap="flat">
            <a:noFill/>
            <a:prstDash val="solid"/>
            <a:miter lim="0"/>
          </a:ln>
        </p:spPr>
        <p:txBody>
          <a:bodyPr rtlCol="0"/>
          <a:lstStyle/>
          <a:p>
            <a:pPr algn="ctr"/>
            <a:endParaRPr lang="zh-CN" altLang="en-US"/>
          </a:p>
        </p:txBody>
      </p:sp>
      <p:sp>
        <p:nvSpPr>
          <p:cNvPr id="195" name="path"/>
          <p:cNvSpPr/>
          <p:nvPr/>
        </p:nvSpPr>
        <p:spPr>
          <a:xfrm>
            <a:off x="7441692" y="2551176"/>
            <a:ext cx="137159" cy="135635"/>
          </a:xfrm>
          <a:custGeom>
            <a:avLst/>
            <a:gdLst/>
            <a:ahLst/>
            <a:cxnLst/>
            <a:rect l="0" t="0" r="0" b="0"/>
            <a:pathLst>
              <a:path w="215" h="213">
                <a:moveTo>
                  <a:pt x="2" y="105"/>
                </a:moveTo>
                <a:lnTo>
                  <a:pt x="103" y="105"/>
                </a:lnTo>
                <a:lnTo>
                  <a:pt x="103" y="2"/>
                </a:lnTo>
                <a:lnTo>
                  <a:pt x="2" y="2"/>
                </a:lnTo>
                <a:lnTo>
                  <a:pt x="2" y="105"/>
                </a:lnTo>
                <a:close/>
                <a:moveTo>
                  <a:pt x="112" y="211"/>
                </a:moveTo>
                <a:lnTo>
                  <a:pt x="213" y="211"/>
                </a:lnTo>
                <a:lnTo>
                  <a:pt x="213" y="107"/>
                </a:lnTo>
                <a:lnTo>
                  <a:pt x="112" y="107"/>
                </a:lnTo>
                <a:lnTo>
                  <a:pt x="112" y="211"/>
                </a:lnTo>
                <a:close/>
              </a:path>
            </a:pathLst>
          </a:custGeom>
          <a:noFill/>
          <a:ln w="3048" cap="flat">
            <a:solidFill>
              <a:srgbClr val="FFFFFF">
                <a:alpha val="100000"/>
              </a:srgbClr>
            </a:solidFill>
            <a:prstDash val="solid"/>
            <a:miter lim="800000"/>
          </a:ln>
        </p:spPr>
        <p:txBody>
          <a:bodyPr rtlCol="0"/>
          <a:lstStyle/>
          <a:p>
            <a:pPr algn="ctr"/>
            <a:endParaRPr lang="zh-CN" altLang="en-US"/>
          </a:p>
        </p:txBody>
      </p:sp>
      <p:sp>
        <p:nvSpPr>
          <p:cNvPr id="196" name="path"/>
          <p:cNvSpPr/>
          <p:nvPr/>
        </p:nvSpPr>
        <p:spPr>
          <a:xfrm>
            <a:off x="5515355" y="2688336"/>
            <a:ext cx="124967" cy="138683"/>
          </a:xfrm>
          <a:custGeom>
            <a:avLst/>
            <a:gdLst/>
            <a:ahLst/>
            <a:cxnLst/>
            <a:rect l="0" t="0" r="0" b="0"/>
            <a:pathLst>
              <a:path w="196" h="218">
                <a:moveTo>
                  <a:pt x="196" y="166"/>
                </a:moveTo>
                <a:cubicBezTo>
                  <a:pt x="196" y="195"/>
                  <a:pt x="174" y="218"/>
                  <a:pt x="146" y="218"/>
                </a:cubicBezTo>
                <a:cubicBezTo>
                  <a:pt x="118" y="218"/>
                  <a:pt x="95" y="195"/>
                  <a:pt x="95" y="166"/>
                </a:cubicBezTo>
                <a:cubicBezTo>
                  <a:pt x="95" y="138"/>
                  <a:pt x="118" y="115"/>
                  <a:pt x="146" y="115"/>
                </a:cubicBezTo>
                <a:cubicBezTo>
                  <a:pt x="174" y="115"/>
                  <a:pt x="196" y="138"/>
                  <a:pt x="196" y="166"/>
                </a:cubicBezTo>
              </a:path>
              <a:path w="196" h="218">
                <a:moveTo>
                  <a:pt x="98" y="51"/>
                </a:moveTo>
                <a:cubicBezTo>
                  <a:pt x="98" y="80"/>
                  <a:pt x="76" y="103"/>
                  <a:pt x="49" y="103"/>
                </a:cubicBezTo>
                <a:cubicBezTo>
                  <a:pt x="21" y="103"/>
                  <a:pt x="0" y="80"/>
                  <a:pt x="0" y="51"/>
                </a:cubicBezTo>
                <a:cubicBezTo>
                  <a:pt x="0" y="23"/>
                  <a:pt x="21" y="0"/>
                  <a:pt x="49" y="0"/>
                </a:cubicBezTo>
                <a:cubicBezTo>
                  <a:pt x="76" y="0"/>
                  <a:pt x="98" y="23"/>
                  <a:pt x="98" y="51"/>
                </a:cubicBezTo>
              </a:path>
            </a:pathLst>
          </a:custGeom>
          <a:solidFill>
            <a:srgbClr val="00ADEF">
              <a:alpha val="100000"/>
            </a:srgbClr>
          </a:solidFill>
          <a:ln cap="flat">
            <a:noFill/>
            <a:prstDash val="solid"/>
            <a:miter lim="0"/>
          </a:ln>
        </p:spPr>
        <p:txBody>
          <a:bodyPr rtlCol="0"/>
          <a:lstStyle/>
          <a:p>
            <a:pPr algn="ctr"/>
            <a:endParaRPr lang="zh-CN" altLang="en-US"/>
          </a:p>
        </p:txBody>
      </p:sp>
      <p:sp>
        <p:nvSpPr>
          <p:cNvPr id="197" name="path"/>
          <p:cNvSpPr/>
          <p:nvPr/>
        </p:nvSpPr>
        <p:spPr>
          <a:xfrm>
            <a:off x="5513832" y="2686812"/>
            <a:ext cx="128015" cy="141731"/>
          </a:xfrm>
          <a:custGeom>
            <a:avLst/>
            <a:gdLst/>
            <a:ahLst/>
            <a:cxnLst/>
            <a:rect l="0" t="0" r="0" b="0"/>
            <a:pathLst>
              <a:path w="201" h="223">
                <a:moveTo>
                  <a:pt x="199" y="169"/>
                </a:moveTo>
                <a:cubicBezTo>
                  <a:pt x="199" y="197"/>
                  <a:pt x="176" y="220"/>
                  <a:pt x="148" y="220"/>
                </a:cubicBezTo>
                <a:cubicBezTo>
                  <a:pt x="121" y="220"/>
                  <a:pt x="98" y="197"/>
                  <a:pt x="98" y="169"/>
                </a:cubicBezTo>
                <a:cubicBezTo>
                  <a:pt x="98" y="140"/>
                  <a:pt x="121" y="117"/>
                  <a:pt x="148" y="117"/>
                </a:cubicBezTo>
                <a:cubicBezTo>
                  <a:pt x="176" y="117"/>
                  <a:pt x="199" y="140"/>
                  <a:pt x="199" y="169"/>
                </a:cubicBezTo>
                <a:moveTo>
                  <a:pt x="100" y="53"/>
                </a:moveTo>
                <a:cubicBezTo>
                  <a:pt x="100" y="82"/>
                  <a:pt x="78" y="105"/>
                  <a:pt x="51" y="105"/>
                </a:cubicBezTo>
                <a:cubicBezTo>
                  <a:pt x="24" y="105"/>
                  <a:pt x="2" y="82"/>
                  <a:pt x="2" y="53"/>
                </a:cubicBezTo>
                <a:cubicBezTo>
                  <a:pt x="2" y="25"/>
                  <a:pt x="24" y="2"/>
                  <a:pt x="51" y="2"/>
                </a:cubicBezTo>
                <a:cubicBezTo>
                  <a:pt x="78" y="2"/>
                  <a:pt x="100" y="25"/>
                  <a:pt x="100" y="53"/>
                </a:cubicBezTo>
              </a:path>
            </a:pathLst>
          </a:custGeom>
          <a:noFill/>
          <a:ln w="3048" cap="flat">
            <a:solidFill>
              <a:srgbClr val="FFFFFF">
                <a:alpha val="100000"/>
              </a:srgbClr>
            </a:solidFill>
            <a:prstDash val="solid"/>
            <a:round/>
          </a:ln>
        </p:spPr>
        <p:txBody>
          <a:bodyPr rtlCol="0"/>
          <a:lstStyle/>
          <a:p>
            <a:pPr algn="ctr"/>
            <a:endParaRPr lang="zh-CN" altLang="en-US"/>
          </a:p>
        </p:txBody>
      </p:sp>
      <p:sp>
        <p:nvSpPr>
          <p:cNvPr id="198" name="path"/>
          <p:cNvSpPr/>
          <p:nvPr/>
        </p:nvSpPr>
        <p:spPr>
          <a:xfrm>
            <a:off x="7257288" y="2624328"/>
            <a:ext cx="132587" cy="126491"/>
          </a:xfrm>
          <a:custGeom>
            <a:avLst/>
            <a:gdLst/>
            <a:ahLst/>
            <a:cxnLst/>
            <a:rect l="0" t="0" r="0" b="0"/>
            <a:pathLst>
              <a:path w="208" h="199">
                <a:moveTo>
                  <a:pt x="0" y="199"/>
                </a:moveTo>
                <a:lnTo>
                  <a:pt x="100" y="199"/>
                </a:lnTo>
                <a:lnTo>
                  <a:pt x="100" y="95"/>
                </a:lnTo>
                <a:lnTo>
                  <a:pt x="0" y="95"/>
                </a:lnTo>
                <a:lnTo>
                  <a:pt x="0" y="199"/>
                </a:lnTo>
                <a:close/>
              </a:path>
              <a:path w="208" h="199">
                <a:moveTo>
                  <a:pt x="107" y="103"/>
                </a:moveTo>
                <a:lnTo>
                  <a:pt x="208" y="103"/>
                </a:lnTo>
                <a:lnTo>
                  <a:pt x="208" y="0"/>
                </a:lnTo>
                <a:lnTo>
                  <a:pt x="107" y="0"/>
                </a:lnTo>
                <a:lnTo>
                  <a:pt x="107" y="103"/>
                </a:lnTo>
                <a:close/>
              </a:path>
            </a:pathLst>
          </a:custGeom>
          <a:solidFill>
            <a:srgbClr val="0065BD">
              <a:alpha val="100000"/>
            </a:srgbClr>
          </a:solidFill>
          <a:ln cap="flat">
            <a:noFill/>
            <a:prstDash val="solid"/>
            <a:miter lim="0"/>
          </a:ln>
        </p:spPr>
        <p:txBody>
          <a:bodyPr rtlCol="0"/>
          <a:lstStyle/>
          <a:p>
            <a:pPr algn="ctr"/>
            <a:endParaRPr lang="zh-CN" altLang="en-US"/>
          </a:p>
        </p:txBody>
      </p:sp>
      <p:sp>
        <p:nvSpPr>
          <p:cNvPr id="199" name="path"/>
          <p:cNvSpPr/>
          <p:nvPr/>
        </p:nvSpPr>
        <p:spPr>
          <a:xfrm>
            <a:off x="7255764" y="2622804"/>
            <a:ext cx="135635" cy="129539"/>
          </a:xfrm>
          <a:custGeom>
            <a:avLst/>
            <a:gdLst/>
            <a:ahLst/>
            <a:cxnLst/>
            <a:rect l="0" t="0" r="0" b="0"/>
            <a:pathLst>
              <a:path w="213" h="203">
                <a:moveTo>
                  <a:pt x="2" y="201"/>
                </a:moveTo>
                <a:lnTo>
                  <a:pt x="103" y="201"/>
                </a:lnTo>
                <a:lnTo>
                  <a:pt x="103" y="98"/>
                </a:lnTo>
                <a:lnTo>
                  <a:pt x="2" y="98"/>
                </a:lnTo>
                <a:lnTo>
                  <a:pt x="2" y="201"/>
                </a:lnTo>
                <a:close/>
                <a:moveTo>
                  <a:pt x="110" y="105"/>
                </a:moveTo>
                <a:lnTo>
                  <a:pt x="211" y="105"/>
                </a:lnTo>
                <a:lnTo>
                  <a:pt x="211" y="2"/>
                </a:lnTo>
                <a:lnTo>
                  <a:pt x="110" y="2"/>
                </a:lnTo>
                <a:lnTo>
                  <a:pt x="110" y="105"/>
                </a:lnTo>
                <a:close/>
              </a:path>
            </a:pathLst>
          </a:custGeom>
          <a:noFill/>
          <a:ln w="3048" cap="flat">
            <a:solidFill>
              <a:srgbClr val="FFFFFF">
                <a:alpha val="100000"/>
              </a:srgbClr>
            </a:solidFill>
            <a:prstDash val="solid"/>
            <a:miter lim="800000"/>
          </a:ln>
        </p:spPr>
        <p:txBody>
          <a:bodyPr rtlCol="0"/>
          <a:lstStyle/>
          <a:p>
            <a:pPr algn="ctr"/>
            <a:endParaRPr lang="zh-CN" altLang="en-US"/>
          </a:p>
        </p:txBody>
      </p:sp>
      <p:sp>
        <p:nvSpPr>
          <p:cNvPr id="200" name="textbox 200"/>
          <p:cNvSpPr/>
          <p:nvPr/>
        </p:nvSpPr>
        <p:spPr>
          <a:xfrm>
            <a:off x="8818435" y="4032021"/>
            <a:ext cx="114935" cy="262890"/>
          </a:xfrm>
          <a:prstGeom prst="rect">
            <a:avLst/>
          </a:prstGeom>
        </p:spPr>
        <p:txBody>
          <a:bodyPr vert="eaVert" wrap="square" lIns="0" tIns="0" rIns="0" bIns="0"/>
          <a:lstStyle/>
          <a:p>
            <a:pPr algn="l" rtl="0" eaLnBrk="0">
              <a:lnSpc>
                <a:spcPct val="85000"/>
              </a:lnSpc>
            </a:pPr>
            <a:endParaRPr lang="en-US" altLang="en-US" sz="100" dirty="0"/>
          </a:p>
          <a:p>
            <a:pPr marL="12700" algn="l" rtl="0" eaLnBrk="0">
              <a:lnSpc>
                <a:spcPct val="79000"/>
              </a:lnSpc>
            </a:pPr>
            <a:endParaRPr sz="600" spc="-10" dirty="0">
              <a:solidFill>
                <a:srgbClr val="808080">
                  <a:alpha val="100000"/>
                </a:srgbClr>
              </a:solidFill>
              <a:latin typeface="Arial" panose="020B0604020202020204"/>
              <a:ea typeface="Arial" panose="020B0604020202020204"/>
              <a:cs typeface="Arial" panose="020B0604020202020204"/>
            </a:endParaRPr>
          </a:p>
        </p:txBody>
      </p:sp>
      <p:sp>
        <p:nvSpPr>
          <p:cNvPr id="201" name="path"/>
          <p:cNvSpPr/>
          <p:nvPr/>
        </p:nvSpPr>
        <p:spPr>
          <a:xfrm>
            <a:off x="7336535" y="2400300"/>
            <a:ext cx="143255" cy="115823"/>
          </a:xfrm>
          <a:custGeom>
            <a:avLst/>
            <a:gdLst/>
            <a:ahLst/>
            <a:cxnLst/>
            <a:rect l="0" t="0" r="0" b="0"/>
            <a:pathLst>
              <a:path w="225" h="182">
                <a:moveTo>
                  <a:pt x="2" y="105"/>
                </a:moveTo>
                <a:lnTo>
                  <a:pt x="103" y="105"/>
                </a:lnTo>
                <a:lnTo>
                  <a:pt x="103" y="2"/>
                </a:lnTo>
                <a:lnTo>
                  <a:pt x="2" y="2"/>
                </a:lnTo>
                <a:lnTo>
                  <a:pt x="2" y="105"/>
                </a:lnTo>
                <a:close/>
                <a:moveTo>
                  <a:pt x="122" y="179"/>
                </a:moveTo>
                <a:lnTo>
                  <a:pt x="223" y="179"/>
                </a:lnTo>
                <a:lnTo>
                  <a:pt x="223" y="76"/>
                </a:lnTo>
                <a:lnTo>
                  <a:pt x="122" y="76"/>
                </a:lnTo>
                <a:lnTo>
                  <a:pt x="122" y="179"/>
                </a:lnTo>
                <a:close/>
              </a:path>
            </a:pathLst>
          </a:custGeom>
          <a:noFill/>
          <a:ln w="3048" cap="flat">
            <a:solidFill>
              <a:srgbClr val="FFFFFF">
                <a:alpha val="100000"/>
              </a:srgbClr>
            </a:solidFill>
            <a:prstDash val="solid"/>
            <a:miter lim="800000"/>
          </a:ln>
        </p:spPr>
        <p:txBody>
          <a:bodyPr rtlCol="0"/>
          <a:lstStyle/>
          <a:p>
            <a:pPr algn="ctr"/>
            <a:endParaRPr lang="zh-CN" altLang="en-US"/>
          </a:p>
        </p:txBody>
      </p:sp>
      <p:sp>
        <p:nvSpPr>
          <p:cNvPr id="202" name="path"/>
          <p:cNvSpPr/>
          <p:nvPr/>
        </p:nvSpPr>
        <p:spPr>
          <a:xfrm>
            <a:off x="7464552" y="2743200"/>
            <a:ext cx="158495" cy="99060"/>
          </a:xfrm>
          <a:custGeom>
            <a:avLst/>
            <a:gdLst/>
            <a:ahLst/>
            <a:cxnLst/>
            <a:rect l="0" t="0" r="0" b="0"/>
            <a:pathLst>
              <a:path w="249" h="156">
                <a:moveTo>
                  <a:pt x="0" y="103"/>
                </a:moveTo>
                <a:lnTo>
                  <a:pt x="98" y="103"/>
                </a:lnTo>
                <a:lnTo>
                  <a:pt x="98" y="0"/>
                </a:lnTo>
                <a:lnTo>
                  <a:pt x="0" y="0"/>
                </a:lnTo>
                <a:lnTo>
                  <a:pt x="0" y="103"/>
                </a:lnTo>
                <a:close/>
              </a:path>
              <a:path w="249" h="156">
                <a:moveTo>
                  <a:pt x="148" y="156"/>
                </a:moveTo>
                <a:lnTo>
                  <a:pt x="249" y="156"/>
                </a:lnTo>
                <a:lnTo>
                  <a:pt x="249" y="52"/>
                </a:lnTo>
                <a:lnTo>
                  <a:pt x="148" y="52"/>
                </a:lnTo>
                <a:lnTo>
                  <a:pt x="148" y="156"/>
                </a:lnTo>
                <a:close/>
              </a:path>
            </a:pathLst>
          </a:custGeom>
          <a:solidFill>
            <a:srgbClr val="0065BD">
              <a:alpha val="100000"/>
            </a:srgbClr>
          </a:solidFill>
          <a:ln cap="flat">
            <a:noFill/>
            <a:prstDash val="solid"/>
            <a:miter lim="0"/>
          </a:ln>
        </p:spPr>
        <p:txBody>
          <a:bodyPr rtlCol="0"/>
          <a:lstStyle/>
          <a:p>
            <a:pPr algn="ctr"/>
            <a:endParaRPr lang="zh-CN" altLang="en-US"/>
          </a:p>
        </p:txBody>
      </p:sp>
      <p:sp>
        <p:nvSpPr>
          <p:cNvPr id="203" name="path"/>
          <p:cNvSpPr/>
          <p:nvPr/>
        </p:nvSpPr>
        <p:spPr>
          <a:xfrm>
            <a:off x="7463028" y="2741676"/>
            <a:ext cx="161543" cy="102108"/>
          </a:xfrm>
          <a:custGeom>
            <a:avLst/>
            <a:gdLst/>
            <a:ahLst/>
            <a:cxnLst/>
            <a:rect l="0" t="0" r="0" b="0"/>
            <a:pathLst>
              <a:path w="254" h="160">
                <a:moveTo>
                  <a:pt x="2" y="105"/>
                </a:moveTo>
                <a:lnTo>
                  <a:pt x="100" y="105"/>
                </a:lnTo>
                <a:lnTo>
                  <a:pt x="100" y="2"/>
                </a:lnTo>
                <a:lnTo>
                  <a:pt x="2" y="2"/>
                </a:lnTo>
                <a:lnTo>
                  <a:pt x="2" y="105"/>
                </a:lnTo>
                <a:close/>
                <a:moveTo>
                  <a:pt x="151" y="158"/>
                </a:moveTo>
                <a:lnTo>
                  <a:pt x="251" y="158"/>
                </a:lnTo>
                <a:lnTo>
                  <a:pt x="251" y="55"/>
                </a:lnTo>
                <a:lnTo>
                  <a:pt x="151" y="55"/>
                </a:lnTo>
                <a:lnTo>
                  <a:pt x="151" y="158"/>
                </a:lnTo>
                <a:close/>
              </a:path>
            </a:pathLst>
          </a:custGeom>
          <a:noFill/>
          <a:ln w="3048" cap="flat">
            <a:solidFill>
              <a:srgbClr val="FFFFFF">
                <a:alpha val="100000"/>
              </a:srgbClr>
            </a:solidFill>
            <a:prstDash val="solid"/>
            <a:miter lim="800000"/>
          </a:ln>
        </p:spPr>
        <p:txBody>
          <a:bodyPr rtlCol="0"/>
          <a:lstStyle/>
          <a:p>
            <a:pPr algn="ctr"/>
            <a:endParaRPr lang="zh-CN" altLang="en-US"/>
          </a:p>
        </p:txBody>
      </p:sp>
      <p:sp>
        <p:nvSpPr>
          <p:cNvPr id="204" name="path"/>
          <p:cNvSpPr/>
          <p:nvPr/>
        </p:nvSpPr>
        <p:spPr>
          <a:xfrm>
            <a:off x="5426963" y="2205228"/>
            <a:ext cx="71628" cy="208788"/>
          </a:xfrm>
          <a:custGeom>
            <a:avLst/>
            <a:gdLst/>
            <a:ahLst/>
            <a:cxnLst/>
            <a:rect l="0" t="0" r="0" b="0"/>
            <a:pathLst>
              <a:path w="112" h="328">
                <a:moveTo>
                  <a:pt x="100" y="51"/>
                </a:moveTo>
                <a:cubicBezTo>
                  <a:pt x="100" y="80"/>
                  <a:pt x="78" y="103"/>
                  <a:pt x="50" y="103"/>
                </a:cubicBezTo>
                <a:cubicBezTo>
                  <a:pt x="22" y="103"/>
                  <a:pt x="0" y="80"/>
                  <a:pt x="0" y="51"/>
                </a:cubicBezTo>
                <a:cubicBezTo>
                  <a:pt x="0" y="23"/>
                  <a:pt x="22" y="0"/>
                  <a:pt x="50" y="0"/>
                </a:cubicBezTo>
                <a:cubicBezTo>
                  <a:pt x="78" y="0"/>
                  <a:pt x="100" y="23"/>
                  <a:pt x="100" y="51"/>
                </a:cubicBezTo>
              </a:path>
              <a:path w="112" h="328">
                <a:moveTo>
                  <a:pt x="100" y="178"/>
                </a:moveTo>
                <a:cubicBezTo>
                  <a:pt x="100" y="207"/>
                  <a:pt x="78" y="230"/>
                  <a:pt x="50" y="230"/>
                </a:cubicBezTo>
                <a:cubicBezTo>
                  <a:pt x="22" y="230"/>
                  <a:pt x="0" y="207"/>
                  <a:pt x="0" y="178"/>
                </a:cubicBezTo>
                <a:cubicBezTo>
                  <a:pt x="0" y="150"/>
                  <a:pt x="22" y="127"/>
                  <a:pt x="50" y="127"/>
                </a:cubicBezTo>
                <a:cubicBezTo>
                  <a:pt x="78" y="127"/>
                  <a:pt x="100" y="150"/>
                  <a:pt x="100" y="178"/>
                </a:cubicBezTo>
              </a:path>
              <a:path w="112" h="328">
                <a:moveTo>
                  <a:pt x="112" y="277"/>
                </a:moveTo>
                <a:cubicBezTo>
                  <a:pt x="112" y="305"/>
                  <a:pt x="90" y="328"/>
                  <a:pt x="62" y="328"/>
                </a:cubicBezTo>
                <a:cubicBezTo>
                  <a:pt x="34" y="328"/>
                  <a:pt x="12" y="305"/>
                  <a:pt x="12" y="277"/>
                </a:cubicBezTo>
                <a:cubicBezTo>
                  <a:pt x="12" y="248"/>
                  <a:pt x="34" y="225"/>
                  <a:pt x="62" y="225"/>
                </a:cubicBezTo>
                <a:cubicBezTo>
                  <a:pt x="90" y="225"/>
                  <a:pt x="112" y="248"/>
                  <a:pt x="112" y="277"/>
                </a:cubicBezTo>
              </a:path>
            </a:pathLst>
          </a:custGeom>
          <a:solidFill>
            <a:srgbClr val="00ADEF">
              <a:alpha val="100000"/>
            </a:srgbClr>
          </a:solidFill>
          <a:ln cap="flat">
            <a:noFill/>
            <a:prstDash val="solid"/>
            <a:miter lim="0"/>
          </a:ln>
        </p:spPr>
        <p:txBody>
          <a:bodyPr rtlCol="0"/>
          <a:lstStyle/>
          <a:p>
            <a:pPr algn="ctr"/>
            <a:endParaRPr lang="zh-CN" altLang="en-US"/>
          </a:p>
        </p:txBody>
      </p:sp>
      <p:sp>
        <p:nvSpPr>
          <p:cNvPr id="205" name="path"/>
          <p:cNvSpPr/>
          <p:nvPr/>
        </p:nvSpPr>
        <p:spPr>
          <a:xfrm>
            <a:off x="6999731" y="2205228"/>
            <a:ext cx="92964" cy="160020"/>
          </a:xfrm>
          <a:custGeom>
            <a:avLst/>
            <a:gdLst/>
            <a:ahLst/>
            <a:cxnLst/>
            <a:rect l="0" t="0" r="0" b="0"/>
            <a:pathLst>
              <a:path w="146" h="252">
                <a:moveTo>
                  <a:pt x="0" y="103"/>
                </a:moveTo>
                <a:lnTo>
                  <a:pt x="100" y="103"/>
                </a:lnTo>
                <a:lnTo>
                  <a:pt x="100" y="0"/>
                </a:lnTo>
                <a:lnTo>
                  <a:pt x="0" y="0"/>
                </a:lnTo>
                <a:lnTo>
                  <a:pt x="0" y="103"/>
                </a:lnTo>
                <a:close/>
              </a:path>
              <a:path w="146" h="252">
                <a:moveTo>
                  <a:pt x="45" y="252"/>
                </a:moveTo>
                <a:lnTo>
                  <a:pt x="146" y="252"/>
                </a:lnTo>
                <a:lnTo>
                  <a:pt x="146" y="148"/>
                </a:lnTo>
                <a:lnTo>
                  <a:pt x="45" y="148"/>
                </a:lnTo>
                <a:lnTo>
                  <a:pt x="45" y="252"/>
                </a:lnTo>
                <a:close/>
              </a:path>
            </a:pathLst>
          </a:custGeom>
          <a:solidFill>
            <a:srgbClr val="0065BD">
              <a:alpha val="100000"/>
            </a:srgbClr>
          </a:solidFill>
          <a:ln cap="flat">
            <a:noFill/>
            <a:prstDash val="solid"/>
            <a:miter lim="0"/>
          </a:ln>
        </p:spPr>
        <p:txBody>
          <a:bodyPr rtlCol="0"/>
          <a:lstStyle/>
          <a:p>
            <a:pPr algn="ctr"/>
            <a:endParaRPr lang="zh-CN" altLang="en-US"/>
          </a:p>
        </p:txBody>
      </p:sp>
      <p:sp>
        <p:nvSpPr>
          <p:cNvPr id="206" name="rect"/>
          <p:cNvSpPr/>
          <p:nvPr/>
        </p:nvSpPr>
        <p:spPr>
          <a:xfrm>
            <a:off x="5894832" y="2400300"/>
            <a:ext cx="62483" cy="65532"/>
          </a:xfrm>
          <a:prstGeom prst="rect">
            <a:avLst/>
          </a:prstGeom>
          <a:solidFill>
            <a:srgbClr val="00ADEF">
              <a:alpha val="100000"/>
            </a:srgbClr>
          </a:solidFill>
          <a:ln cap="flat">
            <a:noFill/>
            <a:prstDash val="solid"/>
            <a:miter lim="0"/>
          </a:ln>
        </p:spPr>
        <p:txBody>
          <a:bodyPr rtlCol="0"/>
          <a:lstStyle/>
          <a:p>
            <a:pPr algn="ctr"/>
            <a:endParaRPr lang="zh-CN" altLang="en-US"/>
          </a:p>
        </p:txBody>
      </p:sp>
      <p:sp>
        <p:nvSpPr>
          <p:cNvPr id="207" name="rect"/>
          <p:cNvSpPr/>
          <p:nvPr/>
        </p:nvSpPr>
        <p:spPr>
          <a:xfrm>
            <a:off x="5992367" y="2418588"/>
            <a:ext cx="64007" cy="65532"/>
          </a:xfrm>
          <a:prstGeom prst="rect">
            <a:avLst/>
          </a:prstGeom>
          <a:solidFill>
            <a:srgbClr val="00ADEF">
              <a:alpha val="100000"/>
            </a:srgbClr>
          </a:solidFill>
          <a:ln cap="flat">
            <a:noFill/>
            <a:prstDash val="solid"/>
            <a:miter lim="0"/>
          </a:ln>
        </p:spPr>
        <p:txBody>
          <a:bodyPr rtlCol="0"/>
          <a:lstStyle/>
          <a:p>
            <a:pPr algn="ctr"/>
            <a:endParaRPr lang="zh-CN" altLang="en-US"/>
          </a:p>
        </p:txBody>
      </p:sp>
      <p:sp>
        <p:nvSpPr>
          <p:cNvPr id="208" name="path"/>
          <p:cNvSpPr/>
          <p:nvPr/>
        </p:nvSpPr>
        <p:spPr>
          <a:xfrm>
            <a:off x="5893308" y="2398776"/>
            <a:ext cx="164591" cy="86867"/>
          </a:xfrm>
          <a:custGeom>
            <a:avLst/>
            <a:gdLst/>
            <a:ahLst/>
            <a:cxnLst/>
            <a:rect l="0" t="0" r="0" b="0"/>
            <a:pathLst>
              <a:path w="259" h="136">
                <a:moveTo>
                  <a:pt x="256" y="82"/>
                </a:moveTo>
                <a:cubicBezTo>
                  <a:pt x="256" y="111"/>
                  <a:pt x="234" y="134"/>
                  <a:pt x="206" y="134"/>
                </a:cubicBezTo>
                <a:cubicBezTo>
                  <a:pt x="178" y="134"/>
                  <a:pt x="155" y="111"/>
                  <a:pt x="155" y="82"/>
                </a:cubicBezTo>
                <a:cubicBezTo>
                  <a:pt x="155" y="54"/>
                  <a:pt x="178" y="31"/>
                  <a:pt x="206" y="31"/>
                </a:cubicBezTo>
                <a:cubicBezTo>
                  <a:pt x="234" y="31"/>
                  <a:pt x="256" y="54"/>
                  <a:pt x="256" y="82"/>
                </a:cubicBezTo>
                <a:moveTo>
                  <a:pt x="100" y="54"/>
                </a:moveTo>
                <a:cubicBezTo>
                  <a:pt x="100" y="82"/>
                  <a:pt x="78" y="105"/>
                  <a:pt x="51" y="105"/>
                </a:cubicBezTo>
                <a:cubicBezTo>
                  <a:pt x="24" y="105"/>
                  <a:pt x="2" y="82"/>
                  <a:pt x="2" y="54"/>
                </a:cubicBezTo>
                <a:cubicBezTo>
                  <a:pt x="2" y="25"/>
                  <a:pt x="24" y="2"/>
                  <a:pt x="51" y="2"/>
                </a:cubicBezTo>
                <a:cubicBezTo>
                  <a:pt x="78" y="2"/>
                  <a:pt x="100" y="25"/>
                  <a:pt x="100" y="54"/>
                </a:cubicBezTo>
              </a:path>
            </a:pathLst>
          </a:custGeom>
          <a:noFill/>
          <a:ln w="3048" cap="flat">
            <a:solidFill>
              <a:srgbClr val="FFFFFF">
                <a:alpha val="100000"/>
              </a:srgbClr>
            </a:solidFill>
            <a:prstDash val="solid"/>
            <a:round/>
          </a:ln>
        </p:spPr>
        <p:txBody>
          <a:bodyPr rtlCol="0"/>
          <a:lstStyle/>
          <a:p>
            <a:pPr algn="ctr"/>
            <a:endParaRPr lang="zh-CN" altLang="en-US"/>
          </a:p>
        </p:txBody>
      </p:sp>
      <p:sp>
        <p:nvSpPr>
          <p:cNvPr id="209" name="path"/>
          <p:cNvSpPr/>
          <p:nvPr/>
        </p:nvSpPr>
        <p:spPr>
          <a:xfrm>
            <a:off x="6140195" y="2270760"/>
            <a:ext cx="88392" cy="155447"/>
          </a:xfrm>
          <a:custGeom>
            <a:avLst/>
            <a:gdLst/>
            <a:ahLst/>
            <a:cxnLst/>
            <a:rect l="0" t="0" r="0" b="0"/>
            <a:pathLst>
              <a:path w="139" h="244">
                <a:moveTo>
                  <a:pt x="139" y="51"/>
                </a:moveTo>
                <a:cubicBezTo>
                  <a:pt x="139" y="80"/>
                  <a:pt x="117" y="103"/>
                  <a:pt x="90" y="103"/>
                </a:cubicBezTo>
                <a:cubicBezTo>
                  <a:pt x="62" y="103"/>
                  <a:pt x="40" y="80"/>
                  <a:pt x="40" y="51"/>
                </a:cubicBezTo>
                <a:cubicBezTo>
                  <a:pt x="40" y="23"/>
                  <a:pt x="62" y="0"/>
                  <a:pt x="90" y="0"/>
                </a:cubicBezTo>
                <a:cubicBezTo>
                  <a:pt x="117" y="0"/>
                  <a:pt x="139" y="23"/>
                  <a:pt x="139" y="51"/>
                </a:cubicBezTo>
              </a:path>
              <a:path w="139" h="244">
                <a:moveTo>
                  <a:pt x="100" y="193"/>
                </a:moveTo>
                <a:cubicBezTo>
                  <a:pt x="100" y="221"/>
                  <a:pt x="78" y="244"/>
                  <a:pt x="50" y="244"/>
                </a:cubicBezTo>
                <a:cubicBezTo>
                  <a:pt x="22" y="244"/>
                  <a:pt x="0" y="221"/>
                  <a:pt x="0" y="193"/>
                </a:cubicBezTo>
                <a:cubicBezTo>
                  <a:pt x="0" y="164"/>
                  <a:pt x="22" y="141"/>
                  <a:pt x="50" y="141"/>
                </a:cubicBezTo>
                <a:cubicBezTo>
                  <a:pt x="78" y="141"/>
                  <a:pt x="100" y="164"/>
                  <a:pt x="100" y="193"/>
                </a:cubicBezTo>
              </a:path>
            </a:pathLst>
          </a:custGeom>
          <a:solidFill>
            <a:srgbClr val="00ADEF">
              <a:alpha val="100000"/>
            </a:srgbClr>
          </a:solidFill>
          <a:ln cap="flat">
            <a:noFill/>
            <a:prstDash val="solid"/>
            <a:miter lim="0"/>
          </a:ln>
        </p:spPr>
        <p:txBody>
          <a:bodyPr rtlCol="0"/>
          <a:lstStyle/>
          <a:p>
            <a:pPr algn="ctr"/>
            <a:endParaRPr lang="zh-CN" altLang="en-US"/>
          </a:p>
        </p:txBody>
      </p:sp>
      <p:sp>
        <p:nvSpPr>
          <p:cNvPr id="210" name="path"/>
          <p:cNvSpPr/>
          <p:nvPr/>
        </p:nvSpPr>
        <p:spPr>
          <a:xfrm>
            <a:off x="5541263" y="1949196"/>
            <a:ext cx="64008" cy="146303"/>
          </a:xfrm>
          <a:custGeom>
            <a:avLst/>
            <a:gdLst/>
            <a:ahLst/>
            <a:cxnLst/>
            <a:rect l="0" t="0" r="0" b="0"/>
            <a:pathLst>
              <a:path w="100" h="230">
                <a:moveTo>
                  <a:pt x="100" y="51"/>
                </a:moveTo>
                <a:cubicBezTo>
                  <a:pt x="100" y="80"/>
                  <a:pt x="78" y="103"/>
                  <a:pt x="50" y="103"/>
                </a:cubicBezTo>
                <a:cubicBezTo>
                  <a:pt x="22" y="103"/>
                  <a:pt x="0" y="80"/>
                  <a:pt x="0" y="51"/>
                </a:cubicBezTo>
                <a:cubicBezTo>
                  <a:pt x="0" y="23"/>
                  <a:pt x="22" y="0"/>
                  <a:pt x="50" y="0"/>
                </a:cubicBezTo>
                <a:cubicBezTo>
                  <a:pt x="78" y="0"/>
                  <a:pt x="100" y="23"/>
                  <a:pt x="100" y="51"/>
                </a:cubicBezTo>
              </a:path>
              <a:path w="100" h="230">
                <a:moveTo>
                  <a:pt x="100" y="178"/>
                </a:moveTo>
                <a:cubicBezTo>
                  <a:pt x="100" y="207"/>
                  <a:pt x="78" y="230"/>
                  <a:pt x="50" y="230"/>
                </a:cubicBezTo>
                <a:cubicBezTo>
                  <a:pt x="22" y="230"/>
                  <a:pt x="0" y="207"/>
                  <a:pt x="0" y="178"/>
                </a:cubicBezTo>
                <a:cubicBezTo>
                  <a:pt x="0" y="150"/>
                  <a:pt x="22" y="127"/>
                  <a:pt x="50" y="127"/>
                </a:cubicBezTo>
                <a:cubicBezTo>
                  <a:pt x="78" y="127"/>
                  <a:pt x="100" y="150"/>
                  <a:pt x="100" y="178"/>
                </a:cubicBezTo>
              </a:path>
            </a:pathLst>
          </a:custGeom>
          <a:solidFill>
            <a:srgbClr val="00ADEF">
              <a:alpha val="100000"/>
            </a:srgbClr>
          </a:solidFill>
          <a:ln cap="flat">
            <a:noFill/>
            <a:prstDash val="solid"/>
            <a:miter lim="0"/>
          </a:ln>
        </p:spPr>
        <p:txBody>
          <a:bodyPr rtlCol="0"/>
          <a:lstStyle/>
          <a:p>
            <a:pPr algn="ctr"/>
            <a:endParaRPr lang="zh-CN" altLang="en-US"/>
          </a:p>
        </p:txBody>
      </p:sp>
      <p:sp>
        <p:nvSpPr>
          <p:cNvPr id="211" name="path"/>
          <p:cNvSpPr/>
          <p:nvPr/>
        </p:nvSpPr>
        <p:spPr>
          <a:xfrm>
            <a:off x="5646420" y="2470404"/>
            <a:ext cx="74675" cy="115823"/>
          </a:xfrm>
          <a:custGeom>
            <a:avLst/>
            <a:gdLst/>
            <a:ahLst/>
            <a:cxnLst/>
            <a:rect l="0" t="0" r="0" b="0"/>
            <a:pathLst>
              <a:path w="117" h="182">
                <a:moveTo>
                  <a:pt x="117" y="51"/>
                </a:moveTo>
                <a:cubicBezTo>
                  <a:pt x="117" y="80"/>
                  <a:pt x="94" y="103"/>
                  <a:pt x="67" y="103"/>
                </a:cubicBezTo>
                <a:cubicBezTo>
                  <a:pt x="39" y="103"/>
                  <a:pt x="16" y="80"/>
                  <a:pt x="16" y="51"/>
                </a:cubicBezTo>
                <a:cubicBezTo>
                  <a:pt x="16" y="23"/>
                  <a:pt x="39" y="0"/>
                  <a:pt x="67" y="0"/>
                </a:cubicBezTo>
                <a:cubicBezTo>
                  <a:pt x="94" y="0"/>
                  <a:pt x="117" y="23"/>
                  <a:pt x="117" y="51"/>
                </a:cubicBezTo>
              </a:path>
              <a:path w="117" h="182">
                <a:moveTo>
                  <a:pt x="100" y="130"/>
                </a:moveTo>
                <a:cubicBezTo>
                  <a:pt x="100" y="159"/>
                  <a:pt x="78" y="182"/>
                  <a:pt x="50" y="182"/>
                </a:cubicBezTo>
                <a:cubicBezTo>
                  <a:pt x="22" y="182"/>
                  <a:pt x="0" y="159"/>
                  <a:pt x="0" y="130"/>
                </a:cubicBezTo>
                <a:cubicBezTo>
                  <a:pt x="0" y="102"/>
                  <a:pt x="22" y="79"/>
                  <a:pt x="50" y="79"/>
                </a:cubicBezTo>
                <a:cubicBezTo>
                  <a:pt x="78" y="79"/>
                  <a:pt x="100" y="102"/>
                  <a:pt x="100" y="130"/>
                </a:cubicBezTo>
              </a:path>
            </a:pathLst>
          </a:custGeom>
          <a:solidFill>
            <a:srgbClr val="00ADEF">
              <a:alpha val="100000"/>
            </a:srgbClr>
          </a:solidFill>
          <a:ln cap="flat">
            <a:noFill/>
            <a:prstDash val="solid"/>
            <a:miter lim="0"/>
          </a:ln>
        </p:spPr>
        <p:txBody>
          <a:bodyPr rtlCol="0"/>
          <a:lstStyle/>
          <a:p>
            <a:pPr algn="ctr"/>
            <a:endParaRPr lang="zh-CN" altLang="en-US"/>
          </a:p>
        </p:txBody>
      </p:sp>
      <p:sp>
        <p:nvSpPr>
          <p:cNvPr id="212" name="path"/>
          <p:cNvSpPr/>
          <p:nvPr/>
        </p:nvSpPr>
        <p:spPr>
          <a:xfrm>
            <a:off x="5644896" y="2468880"/>
            <a:ext cx="77723" cy="118871"/>
          </a:xfrm>
          <a:custGeom>
            <a:avLst/>
            <a:gdLst/>
            <a:ahLst/>
            <a:cxnLst/>
            <a:rect l="0" t="0" r="0" b="0"/>
            <a:pathLst>
              <a:path w="122" h="187">
                <a:moveTo>
                  <a:pt x="119" y="53"/>
                </a:moveTo>
                <a:cubicBezTo>
                  <a:pt x="119" y="82"/>
                  <a:pt x="97" y="105"/>
                  <a:pt x="69" y="105"/>
                </a:cubicBezTo>
                <a:cubicBezTo>
                  <a:pt x="41" y="105"/>
                  <a:pt x="19" y="82"/>
                  <a:pt x="19" y="53"/>
                </a:cubicBezTo>
                <a:cubicBezTo>
                  <a:pt x="19" y="25"/>
                  <a:pt x="41" y="2"/>
                  <a:pt x="69" y="2"/>
                </a:cubicBezTo>
                <a:cubicBezTo>
                  <a:pt x="97" y="2"/>
                  <a:pt x="119" y="25"/>
                  <a:pt x="119" y="53"/>
                </a:cubicBezTo>
                <a:moveTo>
                  <a:pt x="103" y="133"/>
                </a:moveTo>
                <a:cubicBezTo>
                  <a:pt x="103" y="161"/>
                  <a:pt x="80" y="184"/>
                  <a:pt x="52" y="184"/>
                </a:cubicBezTo>
                <a:cubicBezTo>
                  <a:pt x="25" y="184"/>
                  <a:pt x="2" y="161"/>
                  <a:pt x="2" y="133"/>
                </a:cubicBezTo>
                <a:cubicBezTo>
                  <a:pt x="2" y="104"/>
                  <a:pt x="25" y="81"/>
                  <a:pt x="52" y="81"/>
                </a:cubicBezTo>
                <a:cubicBezTo>
                  <a:pt x="80" y="81"/>
                  <a:pt x="103" y="104"/>
                  <a:pt x="103" y="133"/>
                </a:cubicBezTo>
              </a:path>
            </a:pathLst>
          </a:custGeom>
          <a:noFill/>
          <a:ln w="3048" cap="flat">
            <a:solidFill>
              <a:srgbClr val="FFFFFF">
                <a:alpha val="100000"/>
              </a:srgbClr>
            </a:solidFill>
            <a:prstDash val="solid"/>
            <a:round/>
          </a:ln>
        </p:spPr>
        <p:txBody>
          <a:bodyPr rtlCol="0"/>
          <a:lstStyle/>
          <a:p>
            <a:pPr algn="ctr"/>
            <a:endParaRPr lang="zh-CN" altLang="en-US"/>
          </a:p>
        </p:txBody>
      </p:sp>
      <p:sp>
        <p:nvSpPr>
          <p:cNvPr id="213" name="path"/>
          <p:cNvSpPr/>
          <p:nvPr/>
        </p:nvSpPr>
        <p:spPr>
          <a:xfrm>
            <a:off x="5524500" y="2193036"/>
            <a:ext cx="67055" cy="68579"/>
          </a:xfrm>
          <a:custGeom>
            <a:avLst/>
            <a:gdLst/>
            <a:ahLst/>
            <a:cxnLst/>
            <a:rect l="0" t="0" r="0" b="0"/>
            <a:pathLst>
              <a:path w="105" h="107">
                <a:moveTo>
                  <a:pt x="103" y="54"/>
                </a:moveTo>
                <a:cubicBezTo>
                  <a:pt x="103" y="82"/>
                  <a:pt x="80" y="105"/>
                  <a:pt x="52" y="105"/>
                </a:cubicBezTo>
                <a:cubicBezTo>
                  <a:pt x="25" y="105"/>
                  <a:pt x="2" y="82"/>
                  <a:pt x="2" y="54"/>
                </a:cubicBezTo>
                <a:cubicBezTo>
                  <a:pt x="2" y="25"/>
                  <a:pt x="25" y="2"/>
                  <a:pt x="52" y="2"/>
                </a:cubicBezTo>
                <a:cubicBezTo>
                  <a:pt x="80" y="2"/>
                  <a:pt x="103" y="25"/>
                  <a:pt x="103" y="54"/>
                </a:cubicBezTo>
              </a:path>
            </a:pathLst>
          </a:custGeom>
          <a:noFill/>
          <a:ln w="3048" cap="flat">
            <a:solidFill>
              <a:srgbClr val="FFFFFF">
                <a:alpha val="100000"/>
              </a:srgbClr>
            </a:solidFill>
            <a:prstDash val="solid"/>
            <a:round/>
          </a:ln>
        </p:spPr>
        <p:txBody>
          <a:bodyPr rtlCol="0"/>
          <a:lstStyle/>
          <a:p>
            <a:pPr algn="ctr"/>
            <a:endParaRPr lang="zh-CN" altLang="en-US"/>
          </a:p>
        </p:txBody>
      </p:sp>
      <p:sp>
        <p:nvSpPr>
          <p:cNvPr id="214" name="path"/>
          <p:cNvSpPr/>
          <p:nvPr/>
        </p:nvSpPr>
        <p:spPr>
          <a:xfrm>
            <a:off x="5573267" y="2151888"/>
            <a:ext cx="67055" cy="68580"/>
          </a:xfrm>
          <a:custGeom>
            <a:avLst/>
            <a:gdLst/>
            <a:ahLst/>
            <a:cxnLst/>
            <a:rect l="0" t="0" r="0" b="0"/>
            <a:pathLst>
              <a:path w="105" h="108">
                <a:moveTo>
                  <a:pt x="103" y="54"/>
                </a:moveTo>
                <a:cubicBezTo>
                  <a:pt x="103" y="82"/>
                  <a:pt x="80" y="105"/>
                  <a:pt x="52" y="105"/>
                </a:cubicBezTo>
                <a:cubicBezTo>
                  <a:pt x="25" y="105"/>
                  <a:pt x="2" y="82"/>
                  <a:pt x="2" y="54"/>
                </a:cubicBezTo>
                <a:cubicBezTo>
                  <a:pt x="2" y="25"/>
                  <a:pt x="25" y="2"/>
                  <a:pt x="52" y="2"/>
                </a:cubicBezTo>
                <a:cubicBezTo>
                  <a:pt x="80" y="2"/>
                  <a:pt x="103" y="25"/>
                  <a:pt x="103" y="54"/>
                </a:cubicBezTo>
              </a:path>
            </a:pathLst>
          </a:custGeom>
          <a:noFill/>
          <a:ln w="3048" cap="flat">
            <a:solidFill>
              <a:srgbClr val="FFFFFF">
                <a:alpha val="100000"/>
              </a:srgbClr>
            </a:solidFill>
            <a:prstDash val="solid"/>
            <a:round/>
          </a:ln>
        </p:spPr>
        <p:txBody>
          <a:bodyPr rtlCol="0"/>
          <a:lstStyle/>
          <a:p>
            <a:pPr algn="ctr"/>
            <a:endParaRPr lang="zh-CN" altLang="en-US"/>
          </a:p>
        </p:txBody>
      </p:sp>
      <p:sp>
        <p:nvSpPr>
          <p:cNvPr id="215" name="rect"/>
          <p:cNvSpPr/>
          <p:nvPr/>
        </p:nvSpPr>
        <p:spPr>
          <a:xfrm>
            <a:off x="5920740" y="2523744"/>
            <a:ext cx="64008" cy="65532"/>
          </a:xfrm>
          <a:prstGeom prst="rect">
            <a:avLst/>
          </a:prstGeom>
          <a:solidFill>
            <a:srgbClr val="00ADEF">
              <a:alpha val="100000"/>
            </a:srgbClr>
          </a:solidFill>
          <a:ln cap="flat">
            <a:noFill/>
            <a:prstDash val="solid"/>
            <a:miter lim="0"/>
          </a:ln>
        </p:spPr>
        <p:txBody>
          <a:bodyPr rtlCol="0"/>
          <a:lstStyle/>
          <a:p>
            <a:pPr algn="ctr"/>
            <a:endParaRPr lang="zh-CN" altLang="en-US"/>
          </a:p>
        </p:txBody>
      </p:sp>
      <p:sp>
        <p:nvSpPr>
          <p:cNvPr id="216" name="path"/>
          <p:cNvSpPr/>
          <p:nvPr/>
        </p:nvSpPr>
        <p:spPr>
          <a:xfrm>
            <a:off x="5919216" y="2522220"/>
            <a:ext cx="67055" cy="68579"/>
          </a:xfrm>
          <a:custGeom>
            <a:avLst/>
            <a:gdLst/>
            <a:ahLst/>
            <a:cxnLst/>
            <a:rect l="0" t="0" r="0" b="0"/>
            <a:pathLst>
              <a:path w="105" h="107">
                <a:moveTo>
                  <a:pt x="103" y="53"/>
                </a:moveTo>
                <a:cubicBezTo>
                  <a:pt x="103" y="82"/>
                  <a:pt x="80" y="105"/>
                  <a:pt x="52" y="105"/>
                </a:cubicBezTo>
                <a:cubicBezTo>
                  <a:pt x="24" y="105"/>
                  <a:pt x="2" y="82"/>
                  <a:pt x="2" y="53"/>
                </a:cubicBezTo>
                <a:cubicBezTo>
                  <a:pt x="2" y="25"/>
                  <a:pt x="24" y="2"/>
                  <a:pt x="52" y="2"/>
                </a:cubicBezTo>
                <a:cubicBezTo>
                  <a:pt x="80" y="2"/>
                  <a:pt x="103" y="25"/>
                  <a:pt x="103" y="53"/>
                </a:cubicBezTo>
              </a:path>
            </a:pathLst>
          </a:custGeom>
          <a:noFill/>
          <a:ln w="3048" cap="flat">
            <a:solidFill>
              <a:srgbClr val="FFFFFF">
                <a:alpha val="100000"/>
              </a:srgbClr>
            </a:solidFill>
            <a:prstDash val="solid"/>
            <a:round/>
          </a:ln>
        </p:spPr>
        <p:txBody>
          <a:bodyPr rtlCol="0"/>
          <a:lstStyle/>
          <a:p>
            <a:pPr algn="ctr"/>
            <a:endParaRPr lang="zh-CN" altLang="en-US"/>
          </a:p>
        </p:txBody>
      </p:sp>
      <p:sp>
        <p:nvSpPr>
          <p:cNvPr id="217" name="rect"/>
          <p:cNvSpPr/>
          <p:nvPr/>
        </p:nvSpPr>
        <p:spPr>
          <a:xfrm>
            <a:off x="5960363" y="2654808"/>
            <a:ext cx="64008" cy="65532"/>
          </a:xfrm>
          <a:prstGeom prst="rect">
            <a:avLst/>
          </a:prstGeom>
          <a:solidFill>
            <a:srgbClr val="00ADEF">
              <a:alpha val="100000"/>
            </a:srgbClr>
          </a:solidFill>
          <a:ln cap="flat">
            <a:noFill/>
            <a:prstDash val="solid"/>
            <a:miter lim="0"/>
          </a:ln>
        </p:spPr>
        <p:txBody>
          <a:bodyPr rtlCol="0"/>
          <a:lstStyle/>
          <a:p>
            <a:pPr algn="ctr"/>
            <a:endParaRPr lang="zh-CN" altLang="en-US"/>
          </a:p>
        </p:txBody>
      </p:sp>
      <p:sp>
        <p:nvSpPr>
          <p:cNvPr id="218" name="path"/>
          <p:cNvSpPr/>
          <p:nvPr/>
        </p:nvSpPr>
        <p:spPr>
          <a:xfrm>
            <a:off x="5958839" y="2653284"/>
            <a:ext cx="67055" cy="68579"/>
          </a:xfrm>
          <a:custGeom>
            <a:avLst/>
            <a:gdLst/>
            <a:ahLst/>
            <a:cxnLst/>
            <a:rect l="0" t="0" r="0" b="0"/>
            <a:pathLst>
              <a:path w="105" h="107">
                <a:moveTo>
                  <a:pt x="103" y="54"/>
                </a:moveTo>
                <a:cubicBezTo>
                  <a:pt x="103" y="82"/>
                  <a:pt x="80" y="105"/>
                  <a:pt x="52" y="105"/>
                </a:cubicBezTo>
                <a:cubicBezTo>
                  <a:pt x="25" y="105"/>
                  <a:pt x="2" y="82"/>
                  <a:pt x="2" y="54"/>
                </a:cubicBezTo>
                <a:cubicBezTo>
                  <a:pt x="2" y="25"/>
                  <a:pt x="25" y="2"/>
                  <a:pt x="52" y="2"/>
                </a:cubicBezTo>
                <a:cubicBezTo>
                  <a:pt x="80" y="2"/>
                  <a:pt x="103" y="25"/>
                  <a:pt x="103" y="54"/>
                </a:cubicBezTo>
              </a:path>
            </a:pathLst>
          </a:custGeom>
          <a:noFill/>
          <a:ln w="3048" cap="flat">
            <a:solidFill>
              <a:srgbClr val="FFFFFF">
                <a:alpha val="100000"/>
              </a:srgbClr>
            </a:solidFill>
            <a:prstDash val="solid"/>
            <a:round/>
          </a:ln>
        </p:spPr>
        <p:txBody>
          <a:bodyPr rtlCol="0"/>
          <a:lstStyle/>
          <a:p>
            <a:pPr algn="ctr"/>
            <a:endParaRPr lang="zh-CN" altLang="en-US"/>
          </a:p>
        </p:txBody>
      </p:sp>
      <p:sp>
        <p:nvSpPr>
          <p:cNvPr id="219" name="path"/>
          <p:cNvSpPr/>
          <p:nvPr/>
        </p:nvSpPr>
        <p:spPr>
          <a:xfrm>
            <a:off x="5425439" y="2284476"/>
            <a:ext cx="67055" cy="68579"/>
          </a:xfrm>
          <a:custGeom>
            <a:avLst/>
            <a:gdLst/>
            <a:ahLst/>
            <a:cxnLst/>
            <a:rect l="0" t="0" r="0" b="0"/>
            <a:pathLst>
              <a:path w="105" h="107">
                <a:moveTo>
                  <a:pt x="103" y="54"/>
                </a:moveTo>
                <a:cubicBezTo>
                  <a:pt x="103" y="82"/>
                  <a:pt x="80" y="105"/>
                  <a:pt x="52" y="105"/>
                </a:cubicBezTo>
                <a:cubicBezTo>
                  <a:pt x="25" y="105"/>
                  <a:pt x="2" y="82"/>
                  <a:pt x="2" y="54"/>
                </a:cubicBezTo>
                <a:cubicBezTo>
                  <a:pt x="2" y="25"/>
                  <a:pt x="25" y="2"/>
                  <a:pt x="52" y="2"/>
                </a:cubicBezTo>
                <a:cubicBezTo>
                  <a:pt x="80" y="2"/>
                  <a:pt x="103" y="25"/>
                  <a:pt x="103" y="54"/>
                </a:cubicBezTo>
              </a:path>
            </a:pathLst>
          </a:custGeom>
          <a:noFill/>
          <a:ln w="3048" cap="flat">
            <a:solidFill>
              <a:srgbClr val="FFFFFF">
                <a:alpha val="100000"/>
              </a:srgbClr>
            </a:solidFill>
            <a:prstDash val="solid"/>
            <a:round/>
          </a:ln>
        </p:spPr>
        <p:txBody>
          <a:bodyPr rtlCol="0"/>
          <a:lstStyle/>
          <a:p>
            <a:pPr algn="ctr"/>
            <a:endParaRPr lang="zh-CN" altLang="en-US"/>
          </a:p>
        </p:txBody>
      </p:sp>
      <p:grpSp>
        <p:nvGrpSpPr>
          <p:cNvPr id="20" name="group 20"/>
          <p:cNvGrpSpPr/>
          <p:nvPr/>
        </p:nvGrpSpPr>
        <p:grpSpPr>
          <a:xfrm rot="21600000">
            <a:off x="5649467" y="2052828"/>
            <a:ext cx="67055" cy="68579"/>
            <a:chOff x="0" y="0"/>
            <a:chExt cx="67055" cy="68579"/>
          </a:xfrm>
        </p:grpSpPr>
        <p:sp>
          <p:nvSpPr>
            <p:cNvPr id="220" name="path"/>
            <p:cNvSpPr/>
            <p:nvPr/>
          </p:nvSpPr>
          <p:spPr>
            <a:xfrm>
              <a:off x="1523" y="1523"/>
              <a:ext cx="64008" cy="65532"/>
            </a:xfrm>
            <a:custGeom>
              <a:avLst/>
              <a:gdLst/>
              <a:ahLst/>
              <a:cxnLst/>
              <a:rect l="0" t="0" r="0" b="0"/>
              <a:pathLst>
                <a:path w="100" h="103">
                  <a:moveTo>
                    <a:pt x="100" y="51"/>
                  </a:moveTo>
                  <a:cubicBezTo>
                    <a:pt x="100" y="80"/>
                    <a:pt x="78" y="103"/>
                    <a:pt x="50" y="103"/>
                  </a:cubicBezTo>
                  <a:cubicBezTo>
                    <a:pt x="22" y="103"/>
                    <a:pt x="0" y="80"/>
                    <a:pt x="0" y="51"/>
                  </a:cubicBezTo>
                  <a:cubicBezTo>
                    <a:pt x="0" y="23"/>
                    <a:pt x="22" y="0"/>
                    <a:pt x="50" y="0"/>
                  </a:cubicBezTo>
                  <a:cubicBezTo>
                    <a:pt x="78" y="0"/>
                    <a:pt x="100" y="23"/>
                    <a:pt x="100" y="51"/>
                  </a:cubicBezTo>
                </a:path>
              </a:pathLst>
            </a:custGeom>
            <a:solidFill>
              <a:srgbClr val="00ADEF">
                <a:alpha val="100000"/>
              </a:srgbClr>
            </a:solidFill>
            <a:ln cap="flat">
              <a:noFill/>
              <a:prstDash val="solid"/>
              <a:miter lim="0"/>
            </a:ln>
          </p:spPr>
          <p:txBody>
            <a:bodyPr rtlCol="0"/>
            <a:lstStyle/>
            <a:p>
              <a:pPr algn="ctr"/>
              <a:endParaRPr lang="zh-CN" altLang="en-US"/>
            </a:p>
          </p:txBody>
        </p:sp>
        <p:sp>
          <p:nvSpPr>
            <p:cNvPr id="221" name="path"/>
            <p:cNvSpPr/>
            <p:nvPr/>
          </p:nvSpPr>
          <p:spPr>
            <a:xfrm>
              <a:off x="0" y="0"/>
              <a:ext cx="67055" cy="68579"/>
            </a:xfrm>
            <a:custGeom>
              <a:avLst/>
              <a:gdLst/>
              <a:ahLst/>
              <a:cxnLst/>
              <a:rect l="0" t="0" r="0" b="0"/>
              <a:pathLst>
                <a:path w="105" h="107">
                  <a:moveTo>
                    <a:pt x="103" y="54"/>
                  </a:moveTo>
                  <a:cubicBezTo>
                    <a:pt x="103" y="82"/>
                    <a:pt x="80" y="105"/>
                    <a:pt x="52" y="105"/>
                  </a:cubicBezTo>
                  <a:cubicBezTo>
                    <a:pt x="25" y="105"/>
                    <a:pt x="2" y="82"/>
                    <a:pt x="2" y="54"/>
                  </a:cubicBezTo>
                  <a:cubicBezTo>
                    <a:pt x="2" y="25"/>
                    <a:pt x="25" y="2"/>
                    <a:pt x="52" y="2"/>
                  </a:cubicBezTo>
                  <a:cubicBezTo>
                    <a:pt x="80" y="2"/>
                    <a:pt x="103" y="25"/>
                    <a:pt x="103" y="54"/>
                  </a:cubicBezTo>
                </a:path>
              </a:pathLst>
            </a:custGeom>
            <a:noFill/>
            <a:ln w="3048" cap="flat">
              <a:solidFill>
                <a:srgbClr val="FFFFFF">
                  <a:alpha val="100000"/>
                </a:srgbClr>
              </a:solidFill>
              <a:prstDash val="solid"/>
              <a:round/>
            </a:ln>
          </p:spPr>
          <p:txBody>
            <a:bodyPr rtlCol="0"/>
            <a:lstStyle/>
            <a:p>
              <a:pPr algn="ctr"/>
              <a:endParaRPr lang="zh-CN" altLang="en-US"/>
            </a:p>
          </p:txBody>
        </p:sp>
      </p:grpSp>
      <p:sp>
        <p:nvSpPr>
          <p:cNvPr id="222" name="path"/>
          <p:cNvSpPr/>
          <p:nvPr/>
        </p:nvSpPr>
        <p:spPr>
          <a:xfrm>
            <a:off x="5433059" y="2346960"/>
            <a:ext cx="67055" cy="68579"/>
          </a:xfrm>
          <a:custGeom>
            <a:avLst/>
            <a:gdLst/>
            <a:ahLst/>
            <a:cxnLst/>
            <a:rect l="0" t="0" r="0" b="0"/>
            <a:pathLst>
              <a:path w="105" h="107">
                <a:moveTo>
                  <a:pt x="103" y="53"/>
                </a:moveTo>
                <a:cubicBezTo>
                  <a:pt x="103" y="82"/>
                  <a:pt x="80" y="105"/>
                  <a:pt x="52" y="105"/>
                </a:cubicBezTo>
                <a:cubicBezTo>
                  <a:pt x="25" y="105"/>
                  <a:pt x="2" y="82"/>
                  <a:pt x="2" y="53"/>
                </a:cubicBezTo>
                <a:cubicBezTo>
                  <a:pt x="2" y="25"/>
                  <a:pt x="25" y="2"/>
                  <a:pt x="52" y="2"/>
                </a:cubicBezTo>
                <a:cubicBezTo>
                  <a:pt x="80" y="2"/>
                  <a:pt x="103" y="25"/>
                  <a:pt x="103" y="53"/>
                </a:cubicBezTo>
              </a:path>
            </a:pathLst>
          </a:custGeom>
          <a:noFill/>
          <a:ln w="3048" cap="flat">
            <a:solidFill>
              <a:srgbClr val="FFFFFF">
                <a:alpha val="100000"/>
              </a:srgbClr>
            </a:solidFill>
            <a:prstDash val="solid"/>
            <a:round/>
          </a:ln>
        </p:spPr>
        <p:txBody>
          <a:bodyPr rtlCol="0"/>
          <a:lstStyle/>
          <a:p>
            <a:pPr algn="ctr"/>
            <a:endParaRPr lang="zh-CN" altLang="en-US"/>
          </a:p>
        </p:txBody>
      </p:sp>
      <p:sp>
        <p:nvSpPr>
          <p:cNvPr id="223" name="rect"/>
          <p:cNvSpPr/>
          <p:nvPr/>
        </p:nvSpPr>
        <p:spPr>
          <a:xfrm>
            <a:off x="5640323" y="1940052"/>
            <a:ext cx="64008" cy="65532"/>
          </a:xfrm>
          <a:prstGeom prst="rect">
            <a:avLst/>
          </a:prstGeom>
          <a:solidFill>
            <a:srgbClr val="00ADEF">
              <a:alpha val="100000"/>
            </a:srgbClr>
          </a:solidFill>
          <a:ln cap="flat">
            <a:noFill/>
            <a:prstDash val="solid"/>
            <a:miter lim="0"/>
          </a:ln>
        </p:spPr>
        <p:txBody>
          <a:bodyPr rtlCol="0"/>
          <a:lstStyle/>
          <a:p>
            <a:pPr algn="ctr"/>
            <a:endParaRPr lang="zh-CN" altLang="en-US"/>
          </a:p>
        </p:txBody>
      </p:sp>
      <p:sp>
        <p:nvSpPr>
          <p:cNvPr id="224" name="path"/>
          <p:cNvSpPr/>
          <p:nvPr/>
        </p:nvSpPr>
        <p:spPr>
          <a:xfrm>
            <a:off x="5638800" y="1938528"/>
            <a:ext cx="67055" cy="68579"/>
          </a:xfrm>
          <a:custGeom>
            <a:avLst/>
            <a:gdLst/>
            <a:ahLst/>
            <a:cxnLst/>
            <a:rect l="0" t="0" r="0" b="0"/>
            <a:pathLst>
              <a:path w="105" h="107">
                <a:moveTo>
                  <a:pt x="103" y="54"/>
                </a:moveTo>
                <a:cubicBezTo>
                  <a:pt x="103" y="82"/>
                  <a:pt x="80" y="105"/>
                  <a:pt x="52" y="105"/>
                </a:cubicBezTo>
                <a:cubicBezTo>
                  <a:pt x="25" y="105"/>
                  <a:pt x="2" y="82"/>
                  <a:pt x="2" y="54"/>
                </a:cubicBezTo>
                <a:cubicBezTo>
                  <a:pt x="2" y="25"/>
                  <a:pt x="25" y="2"/>
                  <a:pt x="52" y="2"/>
                </a:cubicBezTo>
                <a:cubicBezTo>
                  <a:pt x="80" y="2"/>
                  <a:pt x="103" y="25"/>
                  <a:pt x="103" y="54"/>
                </a:cubicBezTo>
              </a:path>
            </a:pathLst>
          </a:custGeom>
          <a:noFill/>
          <a:ln w="3048" cap="flat">
            <a:solidFill>
              <a:srgbClr val="FFFFFF">
                <a:alpha val="100000"/>
              </a:srgbClr>
            </a:solidFill>
            <a:prstDash val="solid"/>
            <a:round/>
          </a:ln>
        </p:spPr>
        <p:txBody>
          <a:bodyPr rtlCol="0"/>
          <a:lstStyle/>
          <a:p>
            <a:pPr algn="ctr"/>
            <a:endParaRPr lang="zh-CN" altLang="en-US"/>
          </a:p>
        </p:txBody>
      </p:sp>
      <p:sp>
        <p:nvSpPr>
          <p:cNvPr id="225" name="path"/>
          <p:cNvSpPr/>
          <p:nvPr/>
        </p:nvSpPr>
        <p:spPr>
          <a:xfrm>
            <a:off x="5539739" y="1947672"/>
            <a:ext cx="67055" cy="68579"/>
          </a:xfrm>
          <a:custGeom>
            <a:avLst/>
            <a:gdLst/>
            <a:ahLst/>
            <a:cxnLst/>
            <a:rect l="0" t="0" r="0" b="0"/>
            <a:pathLst>
              <a:path w="105" h="107">
                <a:moveTo>
                  <a:pt x="103" y="53"/>
                </a:moveTo>
                <a:cubicBezTo>
                  <a:pt x="103" y="82"/>
                  <a:pt x="80" y="105"/>
                  <a:pt x="52" y="105"/>
                </a:cubicBezTo>
                <a:cubicBezTo>
                  <a:pt x="25" y="105"/>
                  <a:pt x="2" y="82"/>
                  <a:pt x="2" y="53"/>
                </a:cubicBezTo>
                <a:cubicBezTo>
                  <a:pt x="2" y="25"/>
                  <a:pt x="25" y="2"/>
                  <a:pt x="52" y="2"/>
                </a:cubicBezTo>
                <a:cubicBezTo>
                  <a:pt x="80" y="2"/>
                  <a:pt x="103" y="25"/>
                  <a:pt x="103" y="53"/>
                </a:cubicBezTo>
              </a:path>
            </a:pathLst>
          </a:custGeom>
          <a:noFill/>
          <a:ln w="3048" cap="flat">
            <a:solidFill>
              <a:srgbClr val="FFFFFF">
                <a:alpha val="100000"/>
              </a:srgbClr>
            </a:solidFill>
            <a:prstDash val="solid"/>
            <a:round/>
          </a:ln>
        </p:spPr>
        <p:txBody>
          <a:bodyPr rtlCol="0"/>
          <a:lstStyle/>
          <a:p>
            <a:pPr algn="ctr"/>
            <a:endParaRPr lang="zh-CN" altLang="en-US"/>
          </a:p>
        </p:txBody>
      </p:sp>
      <p:sp>
        <p:nvSpPr>
          <p:cNvPr id="226" name="path"/>
          <p:cNvSpPr/>
          <p:nvPr/>
        </p:nvSpPr>
        <p:spPr>
          <a:xfrm>
            <a:off x="6004559" y="2183892"/>
            <a:ext cx="67055" cy="68579"/>
          </a:xfrm>
          <a:custGeom>
            <a:avLst/>
            <a:gdLst/>
            <a:ahLst/>
            <a:cxnLst/>
            <a:rect l="0" t="0" r="0" b="0"/>
            <a:pathLst>
              <a:path w="105" h="107">
                <a:moveTo>
                  <a:pt x="103" y="53"/>
                </a:moveTo>
                <a:cubicBezTo>
                  <a:pt x="103" y="82"/>
                  <a:pt x="80" y="105"/>
                  <a:pt x="52" y="105"/>
                </a:cubicBezTo>
                <a:cubicBezTo>
                  <a:pt x="25" y="105"/>
                  <a:pt x="2" y="82"/>
                  <a:pt x="2" y="53"/>
                </a:cubicBezTo>
                <a:cubicBezTo>
                  <a:pt x="2" y="25"/>
                  <a:pt x="25" y="2"/>
                  <a:pt x="52" y="2"/>
                </a:cubicBezTo>
                <a:cubicBezTo>
                  <a:pt x="80" y="2"/>
                  <a:pt x="103" y="25"/>
                  <a:pt x="103" y="53"/>
                </a:cubicBezTo>
              </a:path>
            </a:pathLst>
          </a:custGeom>
          <a:noFill/>
          <a:ln w="3048" cap="flat">
            <a:solidFill>
              <a:srgbClr val="FFFFFF">
                <a:alpha val="100000"/>
              </a:srgbClr>
            </a:solidFill>
            <a:prstDash val="solid"/>
            <a:round/>
          </a:ln>
        </p:spPr>
        <p:txBody>
          <a:bodyPr rtlCol="0"/>
          <a:lstStyle/>
          <a:p>
            <a:pPr algn="ctr"/>
            <a:endParaRPr lang="zh-CN" altLang="en-US"/>
          </a:p>
        </p:txBody>
      </p:sp>
      <p:sp>
        <p:nvSpPr>
          <p:cNvPr id="227" name="path"/>
          <p:cNvSpPr/>
          <p:nvPr/>
        </p:nvSpPr>
        <p:spPr>
          <a:xfrm>
            <a:off x="5425439" y="2203704"/>
            <a:ext cx="67055" cy="68579"/>
          </a:xfrm>
          <a:custGeom>
            <a:avLst/>
            <a:gdLst/>
            <a:ahLst/>
            <a:cxnLst/>
            <a:rect l="0" t="0" r="0" b="0"/>
            <a:pathLst>
              <a:path w="105" h="107">
                <a:moveTo>
                  <a:pt x="103" y="54"/>
                </a:moveTo>
                <a:cubicBezTo>
                  <a:pt x="103" y="82"/>
                  <a:pt x="80" y="105"/>
                  <a:pt x="52" y="105"/>
                </a:cubicBezTo>
                <a:cubicBezTo>
                  <a:pt x="25" y="105"/>
                  <a:pt x="2" y="82"/>
                  <a:pt x="2" y="54"/>
                </a:cubicBezTo>
                <a:cubicBezTo>
                  <a:pt x="2" y="25"/>
                  <a:pt x="25" y="2"/>
                  <a:pt x="52" y="2"/>
                </a:cubicBezTo>
                <a:cubicBezTo>
                  <a:pt x="80" y="2"/>
                  <a:pt x="103" y="25"/>
                  <a:pt x="103" y="54"/>
                </a:cubicBezTo>
              </a:path>
            </a:pathLst>
          </a:custGeom>
          <a:noFill/>
          <a:ln w="3048" cap="flat">
            <a:solidFill>
              <a:srgbClr val="FFFFFF">
                <a:alpha val="100000"/>
              </a:srgbClr>
            </a:solidFill>
            <a:prstDash val="solid"/>
            <a:round/>
          </a:ln>
        </p:spPr>
        <p:txBody>
          <a:bodyPr rtlCol="0"/>
          <a:lstStyle/>
          <a:p>
            <a:pPr algn="ctr"/>
            <a:endParaRPr lang="zh-CN" altLang="en-US"/>
          </a:p>
        </p:txBody>
      </p:sp>
      <p:sp>
        <p:nvSpPr>
          <p:cNvPr id="228" name="path"/>
          <p:cNvSpPr/>
          <p:nvPr/>
        </p:nvSpPr>
        <p:spPr>
          <a:xfrm>
            <a:off x="5718047" y="2132076"/>
            <a:ext cx="67055" cy="68579"/>
          </a:xfrm>
          <a:custGeom>
            <a:avLst/>
            <a:gdLst/>
            <a:ahLst/>
            <a:cxnLst/>
            <a:rect l="0" t="0" r="0" b="0"/>
            <a:pathLst>
              <a:path w="105" h="107">
                <a:moveTo>
                  <a:pt x="103" y="54"/>
                </a:moveTo>
                <a:cubicBezTo>
                  <a:pt x="103" y="82"/>
                  <a:pt x="80" y="105"/>
                  <a:pt x="52" y="105"/>
                </a:cubicBezTo>
                <a:cubicBezTo>
                  <a:pt x="25" y="105"/>
                  <a:pt x="2" y="82"/>
                  <a:pt x="2" y="54"/>
                </a:cubicBezTo>
                <a:cubicBezTo>
                  <a:pt x="2" y="25"/>
                  <a:pt x="25" y="2"/>
                  <a:pt x="52" y="2"/>
                </a:cubicBezTo>
                <a:cubicBezTo>
                  <a:pt x="80" y="2"/>
                  <a:pt x="103" y="25"/>
                  <a:pt x="103" y="54"/>
                </a:cubicBezTo>
              </a:path>
            </a:pathLst>
          </a:custGeom>
          <a:noFill/>
          <a:ln w="3048" cap="flat">
            <a:solidFill>
              <a:srgbClr val="FFFFFF">
                <a:alpha val="100000"/>
              </a:srgbClr>
            </a:solidFill>
            <a:prstDash val="solid"/>
            <a:round/>
          </a:ln>
        </p:spPr>
        <p:txBody>
          <a:bodyPr rtlCol="0"/>
          <a:lstStyle/>
          <a:p>
            <a:pPr algn="ctr"/>
            <a:endParaRPr lang="zh-CN" altLang="en-US"/>
          </a:p>
        </p:txBody>
      </p:sp>
      <p:sp>
        <p:nvSpPr>
          <p:cNvPr id="229" name="path"/>
          <p:cNvSpPr/>
          <p:nvPr/>
        </p:nvSpPr>
        <p:spPr>
          <a:xfrm>
            <a:off x="6138671" y="2359152"/>
            <a:ext cx="67055" cy="68579"/>
          </a:xfrm>
          <a:custGeom>
            <a:avLst/>
            <a:gdLst/>
            <a:ahLst/>
            <a:cxnLst/>
            <a:rect l="0" t="0" r="0" b="0"/>
            <a:pathLst>
              <a:path w="105" h="107">
                <a:moveTo>
                  <a:pt x="103" y="53"/>
                </a:moveTo>
                <a:cubicBezTo>
                  <a:pt x="103" y="82"/>
                  <a:pt x="80" y="105"/>
                  <a:pt x="52" y="105"/>
                </a:cubicBezTo>
                <a:cubicBezTo>
                  <a:pt x="25" y="105"/>
                  <a:pt x="2" y="82"/>
                  <a:pt x="2" y="53"/>
                </a:cubicBezTo>
                <a:cubicBezTo>
                  <a:pt x="2" y="25"/>
                  <a:pt x="25" y="2"/>
                  <a:pt x="52" y="2"/>
                </a:cubicBezTo>
                <a:cubicBezTo>
                  <a:pt x="80" y="2"/>
                  <a:pt x="103" y="25"/>
                  <a:pt x="103" y="53"/>
                </a:cubicBezTo>
              </a:path>
            </a:pathLst>
          </a:custGeom>
          <a:noFill/>
          <a:ln w="3048" cap="flat">
            <a:solidFill>
              <a:srgbClr val="FFFFFF">
                <a:alpha val="100000"/>
              </a:srgbClr>
            </a:solidFill>
            <a:prstDash val="solid"/>
            <a:round/>
          </a:ln>
        </p:spPr>
        <p:txBody>
          <a:bodyPr rtlCol="0"/>
          <a:lstStyle/>
          <a:p>
            <a:pPr algn="ctr"/>
            <a:endParaRPr lang="zh-CN" altLang="en-US"/>
          </a:p>
        </p:txBody>
      </p:sp>
      <p:sp>
        <p:nvSpPr>
          <p:cNvPr id="230" name="path"/>
          <p:cNvSpPr/>
          <p:nvPr/>
        </p:nvSpPr>
        <p:spPr>
          <a:xfrm>
            <a:off x="5539739" y="2028444"/>
            <a:ext cx="67055" cy="68579"/>
          </a:xfrm>
          <a:custGeom>
            <a:avLst/>
            <a:gdLst/>
            <a:ahLst/>
            <a:cxnLst/>
            <a:rect l="0" t="0" r="0" b="0"/>
            <a:pathLst>
              <a:path w="105" h="107">
                <a:moveTo>
                  <a:pt x="103" y="53"/>
                </a:moveTo>
                <a:cubicBezTo>
                  <a:pt x="103" y="82"/>
                  <a:pt x="80" y="105"/>
                  <a:pt x="52" y="105"/>
                </a:cubicBezTo>
                <a:cubicBezTo>
                  <a:pt x="25" y="105"/>
                  <a:pt x="2" y="82"/>
                  <a:pt x="2" y="53"/>
                </a:cubicBezTo>
                <a:cubicBezTo>
                  <a:pt x="2" y="25"/>
                  <a:pt x="25" y="2"/>
                  <a:pt x="52" y="2"/>
                </a:cubicBezTo>
                <a:cubicBezTo>
                  <a:pt x="80" y="2"/>
                  <a:pt x="103" y="25"/>
                  <a:pt x="103" y="53"/>
                </a:cubicBezTo>
              </a:path>
            </a:pathLst>
          </a:custGeom>
          <a:noFill/>
          <a:ln w="3048" cap="flat">
            <a:solidFill>
              <a:srgbClr val="FFFFFF">
                <a:alpha val="100000"/>
              </a:srgbClr>
            </a:solidFill>
            <a:prstDash val="solid"/>
            <a:round/>
          </a:ln>
        </p:spPr>
        <p:txBody>
          <a:bodyPr rtlCol="0"/>
          <a:lstStyle/>
          <a:p>
            <a:pPr algn="ctr"/>
            <a:endParaRPr lang="zh-CN" altLang="en-US"/>
          </a:p>
        </p:txBody>
      </p:sp>
      <p:sp>
        <p:nvSpPr>
          <p:cNvPr id="231" name="rect"/>
          <p:cNvSpPr/>
          <p:nvPr/>
        </p:nvSpPr>
        <p:spPr>
          <a:xfrm>
            <a:off x="5454395" y="2042160"/>
            <a:ext cx="64008" cy="65531"/>
          </a:xfrm>
          <a:prstGeom prst="rect">
            <a:avLst/>
          </a:prstGeom>
          <a:solidFill>
            <a:srgbClr val="00ADEF">
              <a:alpha val="100000"/>
            </a:srgbClr>
          </a:solidFill>
          <a:ln cap="flat">
            <a:noFill/>
            <a:prstDash val="solid"/>
            <a:miter lim="0"/>
          </a:ln>
        </p:spPr>
        <p:txBody>
          <a:bodyPr rtlCol="0"/>
          <a:lstStyle/>
          <a:p>
            <a:pPr algn="ctr"/>
            <a:endParaRPr lang="zh-CN" altLang="en-US"/>
          </a:p>
        </p:txBody>
      </p:sp>
      <p:sp>
        <p:nvSpPr>
          <p:cNvPr id="232" name="path"/>
          <p:cNvSpPr/>
          <p:nvPr/>
        </p:nvSpPr>
        <p:spPr>
          <a:xfrm>
            <a:off x="5452871" y="2040636"/>
            <a:ext cx="67055" cy="68579"/>
          </a:xfrm>
          <a:custGeom>
            <a:avLst/>
            <a:gdLst/>
            <a:ahLst/>
            <a:cxnLst/>
            <a:rect l="0" t="0" r="0" b="0"/>
            <a:pathLst>
              <a:path w="105" h="107">
                <a:moveTo>
                  <a:pt x="103" y="54"/>
                </a:moveTo>
                <a:cubicBezTo>
                  <a:pt x="103" y="82"/>
                  <a:pt x="80" y="105"/>
                  <a:pt x="52" y="105"/>
                </a:cubicBezTo>
                <a:cubicBezTo>
                  <a:pt x="25" y="105"/>
                  <a:pt x="2" y="82"/>
                  <a:pt x="2" y="54"/>
                </a:cubicBezTo>
                <a:cubicBezTo>
                  <a:pt x="2" y="25"/>
                  <a:pt x="25" y="2"/>
                  <a:pt x="52" y="2"/>
                </a:cubicBezTo>
                <a:cubicBezTo>
                  <a:pt x="80" y="2"/>
                  <a:pt x="103" y="25"/>
                  <a:pt x="103" y="54"/>
                </a:cubicBezTo>
              </a:path>
            </a:pathLst>
          </a:custGeom>
          <a:noFill/>
          <a:ln w="3048" cap="flat">
            <a:solidFill>
              <a:srgbClr val="FFFFFF">
                <a:alpha val="100000"/>
              </a:srgbClr>
            </a:solidFill>
            <a:prstDash val="solid"/>
            <a:round/>
          </a:ln>
        </p:spPr>
        <p:txBody>
          <a:bodyPr rtlCol="0"/>
          <a:lstStyle/>
          <a:p>
            <a:pPr algn="ctr"/>
            <a:endParaRPr lang="zh-CN" altLang="en-US"/>
          </a:p>
        </p:txBody>
      </p:sp>
      <p:sp>
        <p:nvSpPr>
          <p:cNvPr id="233" name="rect"/>
          <p:cNvSpPr/>
          <p:nvPr/>
        </p:nvSpPr>
        <p:spPr>
          <a:xfrm>
            <a:off x="7028688" y="2654808"/>
            <a:ext cx="64007" cy="65532"/>
          </a:xfrm>
          <a:prstGeom prst="rect">
            <a:avLst/>
          </a:prstGeom>
          <a:solidFill>
            <a:srgbClr val="0065BD">
              <a:alpha val="100000"/>
            </a:srgbClr>
          </a:solidFill>
          <a:ln cap="flat">
            <a:noFill/>
            <a:prstDash val="solid"/>
            <a:miter lim="0"/>
          </a:ln>
        </p:spPr>
        <p:txBody>
          <a:bodyPr rtlCol="0"/>
          <a:lstStyle/>
          <a:p>
            <a:pPr algn="ctr"/>
            <a:endParaRPr lang="zh-CN" altLang="en-US"/>
          </a:p>
        </p:txBody>
      </p:sp>
      <p:sp>
        <p:nvSpPr>
          <p:cNvPr id="234" name="path"/>
          <p:cNvSpPr/>
          <p:nvPr/>
        </p:nvSpPr>
        <p:spPr>
          <a:xfrm>
            <a:off x="7027164" y="2653284"/>
            <a:ext cx="67055" cy="68579"/>
          </a:xfrm>
          <a:custGeom>
            <a:avLst/>
            <a:gdLst/>
            <a:ahLst/>
            <a:cxnLst/>
            <a:rect l="0" t="0" r="0" b="0"/>
            <a:pathLst>
              <a:path w="105" h="107">
                <a:moveTo>
                  <a:pt x="2" y="105"/>
                </a:moveTo>
                <a:lnTo>
                  <a:pt x="103" y="105"/>
                </a:lnTo>
                <a:lnTo>
                  <a:pt x="103" y="2"/>
                </a:lnTo>
                <a:lnTo>
                  <a:pt x="2" y="2"/>
                </a:lnTo>
                <a:lnTo>
                  <a:pt x="2" y="105"/>
                </a:lnTo>
                <a:close/>
              </a:path>
            </a:pathLst>
          </a:custGeom>
          <a:noFill/>
          <a:ln w="3048" cap="flat">
            <a:solidFill>
              <a:srgbClr val="FFFFFF">
                <a:alpha val="100000"/>
              </a:srgbClr>
            </a:solidFill>
            <a:prstDash val="solid"/>
            <a:miter lim="800000"/>
          </a:ln>
        </p:spPr>
        <p:txBody>
          <a:bodyPr rtlCol="0"/>
          <a:lstStyle/>
          <a:p>
            <a:pPr algn="ctr"/>
            <a:endParaRPr lang="zh-CN" altLang="en-US"/>
          </a:p>
        </p:txBody>
      </p:sp>
      <p:grpSp>
        <p:nvGrpSpPr>
          <p:cNvPr id="22" name="group 22"/>
          <p:cNvGrpSpPr/>
          <p:nvPr/>
        </p:nvGrpSpPr>
        <p:grpSpPr>
          <a:xfrm rot="21600000">
            <a:off x="7443216" y="2269235"/>
            <a:ext cx="67055" cy="68579"/>
            <a:chOff x="0" y="0"/>
            <a:chExt cx="67055" cy="68579"/>
          </a:xfrm>
        </p:grpSpPr>
        <p:sp>
          <p:nvSpPr>
            <p:cNvPr id="235" name="path"/>
            <p:cNvSpPr/>
            <p:nvPr/>
          </p:nvSpPr>
          <p:spPr>
            <a:xfrm>
              <a:off x="1523" y="1523"/>
              <a:ext cx="64007" cy="65532"/>
            </a:xfrm>
            <a:custGeom>
              <a:avLst/>
              <a:gdLst/>
              <a:ahLst/>
              <a:cxnLst/>
              <a:rect l="0" t="0" r="0" b="0"/>
              <a:pathLst>
                <a:path w="100" h="103">
                  <a:moveTo>
                    <a:pt x="0" y="103"/>
                  </a:moveTo>
                  <a:lnTo>
                    <a:pt x="100" y="103"/>
                  </a:lnTo>
                  <a:lnTo>
                    <a:pt x="100" y="0"/>
                  </a:lnTo>
                  <a:lnTo>
                    <a:pt x="0" y="0"/>
                  </a:lnTo>
                  <a:lnTo>
                    <a:pt x="0" y="103"/>
                  </a:lnTo>
                  <a:close/>
                </a:path>
              </a:pathLst>
            </a:custGeom>
            <a:solidFill>
              <a:srgbClr val="0065BD">
                <a:alpha val="100000"/>
              </a:srgbClr>
            </a:solidFill>
            <a:ln cap="flat">
              <a:noFill/>
              <a:prstDash val="solid"/>
              <a:miter lim="0"/>
            </a:ln>
          </p:spPr>
          <p:txBody>
            <a:bodyPr rtlCol="0"/>
            <a:lstStyle/>
            <a:p>
              <a:pPr algn="ctr"/>
              <a:endParaRPr lang="zh-CN" altLang="en-US"/>
            </a:p>
          </p:txBody>
        </p:sp>
        <p:sp>
          <p:nvSpPr>
            <p:cNvPr id="236" name="path"/>
            <p:cNvSpPr/>
            <p:nvPr/>
          </p:nvSpPr>
          <p:spPr>
            <a:xfrm>
              <a:off x="0" y="0"/>
              <a:ext cx="67055" cy="68579"/>
            </a:xfrm>
            <a:custGeom>
              <a:avLst/>
              <a:gdLst/>
              <a:ahLst/>
              <a:cxnLst/>
              <a:rect l="0" t="0" r="0" b="0"/>
              <a:pathLst>
                <a:path w="105" h="107">
                  <a:moveTo>
                    <a:pt x="2" y="105"/>
                  </a:moveTo>
                  <a:lnTo>
                    <a:pt x="103" y="105"/>
                  </a:lnTo>
                  <a:lnTo>
                    <a:pt x="103" y="2"/>
                  </a:lnTo>
                  <a:lnTo>
                    <a:pt x="2" y="2"/>
                  </a:lnTo>
                  <a:lnTo>
                    <a:pt x="2" y="105"/>
                  </a:lnTo>
                  <a:close/>
                </a:path>
              </a:pathLst>
            </a:custGeom>
            <a:noFill/>
            <a:ln w="3048" cap="flat">
              <a:solidFill>
                <a:srgbClr val="FFFFFF">
                  <a:alpha val="100000"/>
                </a:srgbClr>
              </a:solidFill>
              <a:prstDash val="solid"/>
              <a:miter lim="800000"/>
            </a:ln>
          </p:spPr>
          <p:txBody>
            <a:bodyPr rtlCol="0"/>
            <a:lstStyle/>
            <a:p>
              <a:pPr algn="ctr"/>
              <a:endParaRPr lang="zh-CN" altLang="en-US"/>
            </a:p>
          </p:txBody>
        </p:sp>
      </p:grpSp>
      <p:sp>
        <p:nvSpPr>
          <p:cNvPr id="237" name="rect"/>
          <p:cNvSpPr/>
          <p:nvPr/>
        </p:nvSpPr>
        <p:spPr>
          <a:xfrm>
            <a:off x="7155180" y="2785872"/>
            <a:ext cx="64007" cy="65532"/>
          </a:xfrm>
          <a:prstGeom prst="rect">
            <a:avLst/>
          </a:prstGeom>
          <a:solidFill>
            <a:srgbClr val="0065BD">
              <a:alpha val="100000"/>
            </a:srgbClr>
          </a:solidFill>
          <a:ln cap="flat">
            <a:noFill/>
            <a:prstDash val="solid"/>
            <a:miter lim="0"/>
          </a:ln>
        </p:spPr>
        <p:txBody>
          <a:bodyPr rtlCol="0"/>
          <a:lstStyle/>
          <a:p>
            <a:pPr algn="ctr"/>
            <a:endParaRPr lang="zh-CN" altLang="en-US"/>
          </a:p>
        </p:txBody>
      </p:sp>
      <p:sp>
        <p:nvSpPr>
          <p:cNvPr id="238" name="path"/>
          <p:cNvSpPr/>
          <p:nvPr/>
        </p:nvSpPr>
        <p:spPr>
          <a:xfrm>
            <a:off x="7153656" y="2784348"/>
            <a:ext cx="67055" cy="68579"/>
          </a:xfrm>
          <a:custGeom>
            <a:avLst/>
            <a:gdLst/>
            <a:ahLst/>
            <a:cxnLst/>
            <a:rect l="0" t="0" r="0" b="0"/>
            <a:pathLst>
              <a:path w="105" h="107">
                <a:moveTo>
                  <a:pt x="2" y="105"/>
                </a:moveTo>
                <a:lnTo>
                  <a:pt x="103" y="105"/>
                </a:lnTo>
                <a:lnTo>
                  <a:pt x="103" y="2"/>
                </a:lnTo>
                <a:lnTo>
                  <a:pt x="2" y="2"/>
                </a:lnTo>
                <a:lnTo>
                  <a:pt x="2" y="105"/>
                </a:lnTo>
                <a:close/>
              </a:path>
            </a:pathLst>
          </a:custGeom>
          <a:noFill/>
          <a:ln w="3048" cap="flat">
            <a:solidFill>
              <a:srgbClr val="FFFFFF">
                <a:alpha val="100000"/>
              </a:srgbClr>
            </a:solidFill>
            <a:prstDash val="solid"/>
            <a:miter lim="800000"/>
          </a:ln>
        </p:spPr>
        <p:txBody>
          <a:bodyPr rtlCol="0"/>
          <a:lstStyle/>
          <a:p>
            <a:pPr algn="ctr"/>
            <a:endParaRPr lang="zh-CN" altLang="en-US"/>
          </a:p>
        </p:txBody>
      </p:sp>
      <p:grpSp>
        <p:nvGrpSpPr>
          <p:cNvPr id="24" name="group 24"/>
          <p:cNvGrpSpPr/>
          <p:nvPr/>
        </p:nvGrpSpPr>
        <p:grpSpPr>
          <a:xfrm rot="21600000">
            <a:off x="7363968" y="2199132"/>
            <a:ext cx="67055" cy="68579"/>
            <a:chOff x="0" y="0"/>
            <a:chExt cx="67055" cy="68579"/>
          </a:xfrm>
        </p:grpSpPr>
        <p:sp>
          <p:nvSpPr>
            <p:cNvPr id="239" name="path"/>
            <p:cNvSpPr/>
            <p:nvPr/>
          </p:nvSpPr>
          <p:spPr>
            <a:xfrm>
              <a:off x="1523" y="1523"/>
              <a:ext cx="64007" cy="65532"/>
            </a:xfrm>
            <a:custGeom>
              <a:avLst/>
              <a:gdLst/>
              <a:ahLst/>
              <a:cxnLst/>
              <a:rect l="0" t="0" r="0" b="0"/>
              <a:pathLst>
                <a:path w="100" h="103">
                  <a:moveTo>
                    <a:pt x="0" y="103"/>
                  </a:moveTo>
                  <a:lnTo>
                    <a:pt x="100" y="103"/>
                  </a:lnTo>
                  <a:lnTo>
                    <a:pt x="100" y="0"/>
                  </a:lnTo>
                  <a:lnTo>
                    <a:pt x="0" y="0"/>
                  </a:lnTo>
                  <a:lnTo>
                    <a:pt x="0" y="103"/>
                  </a:lnTo>
                  <a:close/>
                </a:path>
              </a:pathLst>
            </a:custGeom>
            <a:solidFill>
              <a:srgbClr val="0065BD">
                <a:alpha val="100000"/>
              </a:srgbClr>
            </a:solidFill>
            <a:ln cap="flat">
              <a:noFill/>
              <a:prstDash val="solid"/>
              <a:miter lim="0"/>
            </a:ln>
          </p:spPr>
          <p:txBody>
            <a:bodyPr rtlCol="0"/>
            <a:lstStyle/>
            <a:p>
              <a:pPr algn="ctr"/>
              <a:endParaRPr lang="zh-CN" altLang="en-US"/>
            </a:p>
          </p:txBody>
        </p:sp>
        <p:sp>
          <p:nvSpPr>
            <p:cNvPr id="240" name="path"/>
            <p:cNvSpPr/>
            <p:nvPr/>
          </p:nvSpPr>
          <p:spPr>
            <a:xfrm>
              <a:off x="0" y="0"/>
              <a:ext cx="67055" cy="68579"/>
            </a:xfrm>
            <a:custGeom>
              <a:avLst/>
              <a:gdLst/>
              <a:ahLst/>
              <a:cxnLst/>
              <a:rect l="0" t="0" r="0" b="0"/>
              <a:pathLst>
                <a:path w="105" h="107">
                  <a:moveTo>
                    <a:pt x="2" y="105"/>
                  </a:moveTo>
                  <a:lnTo>
                    <a:pt x="103" y="105"/>
                  </a:lnTo>
                  <a:lnTo>
                    <a:pt x="103" y="2"/>
                  </a:lnTo>
                  <a:lnTo>
                    <a:pt x="2" y="2"/>
                  </a:lnTo>
                  <a:lnTo>
                    <a:pt x="2" y="105"/>
                  </a:lnTo>
                  <a:close/>
                </a:path>
              </a:pathLst>
            </a:custGeom>
            <a:noFill/>
            <a:ln w="3048" cap="flat">
              <a:solidFill>
                <a:srgbClr val="FFFFFF">
                  <a:alpha val="100000"/>
                </a:srgbClr>
              </a:solidFill>
              <a:prstDash val="solid"/>
              <a:miter lim="800000"/>
            </a:ln>
          </p:spPr>
          <p:txBody>
            <a:bodyPr rtlCol="0"/>
            <a:lstStyle/>
            <a:p>
              <a:pPr algn="ctr"/>
              <a:endParaRPr lang="zh-CN" altLang="en-US"/>
            </a:p>
          </p:txBody>
        </p:sp>
      </p:grpSp>
      <p:sp>
        <p:nvSpPr>
          <p:cNvPr id="241" name="rect"/>
          <p:cNvSpPr/>
          <p:nvPr/>
        </p:nvSpPr>
        <p:spPr>
          <a:xfrm>
            <a:off x="7132319" y="2557272"/>
            <a:ext cx="64007" cy="65532"/>
          </a:xfrm>
          <a:prstGeom prst="rect">
            <a:avLst/>
          </a:prstGeom>
          <a:solidFill>
            <a:srgbClr val="0065BD">
              <a:alpha val="100000"/>
            </a:srgbClr>
          </a:solidFill>
          <a:ln cap="flat">
            <a:noFill/>
            <a:prstDash val="solid"/>
            <a:miter lim="0"/>
          </a:ln>
        </p:spPr>
        <p:txBody>
          <a:bodyPr rtlCol="0"/>
          <a:lstStyle/>
          <a:p>
            <a:pPr algn="ctr"/>
            <a:endParaRPr lang="zh-CN" altLang="en-US"/>
          </a:p>
        </p:txBody>
      </p:sp>
      <p:sp>
        <p:nvSpPr>
          <p:cNvPr id="242" name="path"/>
          <p:cNvSpPr/>
          <p:nvPr/>
        </p:nvSpPr>
        <p:spPr>
          <a:xfrm>
            <a:off x="7130795" y="2555748"/>
            <a:ext cx="67055" cy="68579"/>
          </a:xfrm>
          <a:custGeom>
            <a:avLst/>
            <a:gdLst/>
            <a:ahLst/>
            <a:cxnLst/>
            <a:rect l="0" t="0" r="0" b="0"/>
            <a:pathLst>
              <a:path w="105" h="107">
                <a:moveTo>
                  <a:pt x="2" y="105"/>
                </a:moveTo>
                <a:lnTo>
                  <a:pt x="103" y="105"/>
                </a:lnTo>
                <a:lnTo>
                  <a:pt x="103" y="2"/>
                </a:lnTo>
                <a:lnTo>
                  <a:pt x="2" y="2"/>
                </a:lnTo>
                <a:lnTo>
                  <a:pt x="2" y="105"/>
                </a:lnTo>
                <a:close/>
              </a:path>
            </a:pathLst>
          </a:custGeom>
          <a:noFill/>
          <a:ln w="3048" cap="flat">
            <a:solidFill>
              <a:srgbClr val="FFFFFF">
                <a:alpha val="100000"/>
              </a:srgbClr>
            </a:solidFill>
            <a:prstDash val="solid"/>
            <a:miter lim="800000"/>
          </a:ln>
        </p:spPr>
        <p:txBody>
          <a:bodyPr rtlCol="0"/>
          <a:lstStyle/>
          <a:p>
            <a:pPr algn="ctr"/>
            <a:endParaRPr lang="zh-CN" altLang="en-US"/>
          </a:p>
        </p:txBody>
      </p:sp>
      <p:sp>
        <p:nvSpPr>
          <p:cNvPr id="243" name="path"/>
          <p:cNvSpPr/>
          <p:nvPr/>
        </p:nvSpPr>
        <p:spPr>
          <a:xfrm>
            <a:off x="7376160" y="2063496"/>
            <a:ext cx="67055" cy="68579"/>
          </a:xfrm>
          <a:custGeom>
            <a:avLst/>
            <a:gdLst/>
            <a:ahLst/>
            <a:cxnLst/>
            <a:rect l="0" t="0" r="0" b="0"/>
            <a:pathLst>
              <a:path w="105" h="107">
                <a:moveTo>
                  <a:pt x="2" y="105"/>
                </a:moveTo>
                <a:lnTo>
                  <a:pt x="103" y="105"/>
                </a:lnTo>
                <a:lnTo>
                  <a:pt x="103" y="2"/>
                </a:lnTo>
                <a:lnTo>
                  <a:pt x="2" y="2"/>
                </a:lnTo>
                <a:lnTo>
                  <a:pt x="2" y="105"/>
                </a:lnTo>
                <a:close/>
              </a:path>
            </a:pathLst>
          </a:custGeom>
          <a:noFill/>
          <a:ln w="3048" cap="flat">
            <a:solidFill>
              <a:srgbClr val="FFFFFF">
                <a:alpha val="100000"/>
              </a:srgbClr>
            </a:solidFill>
            <a:prstDash val="solid"/>
            <a:miter lim="800000"/>
          </a:ln>
        </p:spPr>
        <p:txBody>
          <a:bodyPr rtlCol="0"/>
          <a:lstStyle/>
          <a:p>
            <a:pPr algn="ctr"/>
            <a:endParaRPr lang="zh-CN" altLang="en-US"/>
          </a:p>
        </p:txBody>
      </p:sp>
      <p:grpSp>
        <p:nvGrpSpPr>
          <p:cNvPr id="26" name="group 26"/>
          <p:cNvGrpSpPr/>
          <p:nvPr/>
        </p:nvGrpSpPr>
        <p:grpSpPr>
          <a:xfrm rot="21600000">
            <a:off x="7560564" y="2292096"/>
            <a:ext cx="67055" cy="68579"/>
            <a:chOff x="0" y="0"/>
            <a:chExt cx="67055" cy="68579"/>
          </a:xfrm>
        </p:grpSpPr>
        <p:sp>
          <p:nvSpPr>
            <p:cNvPr id="244" name="path"/>
            <p:cNvSpPr/>
            <p:nvPr/>
          </p:nvSpPr>
          <p:spPr>
            <a:xfrm>
              <a:off x="1523" y="1523"/>
              <a:ext cx="64007" cy="65532"/>
            </a:xfrm>
            <a:custGeom>
              <a:avLst/>
              <a:gdLst/>
              <a:ahLst/>
              <a:cxnLst/>
              <a:rect l="0" t="0" r="0" b="0"/>
              <a:pathLst>
                <a:path w="100" h="103">
                  <a:moveTo>
                    <a:pt x="0" y="103"/>
                  </a:moveTo>
                  <a:lnTo>
                    <a:pt x="100" y="103"/>
                  </a:lnTo>
                  <a:lnTo>
                    <a:pt x="100" y="0"/>
                  </a:lnTo>
                  <a:lnTo>
                    <a:pt x="0" y="0"/>
                  </a:lnTo>
                  <a:lnTo>
                    <a:pt x="0" y="103"/>
                  </a:lnTo>
                  <a:close/>
                </a:path>
              </a:pathLst>
            </a:custGeom>
            <a:solidFill>
              <a:srgbClr val="0065BD">
                <a:alpha val="100000"/>
              </a:srgbClr>
            </a:solidFill>
            <a:ln cap="flat">
              <a:noFill/>
              <a:prstDash val="solid"/>
              <a:miter lim="0"/>
            </a:ln>
          </p:spPr>
          <p:txBody>
            <a:bodyPr rtlCol="0"/>
            <a:lstStyle/>
            <a:p>
              <a:pPr algn="ctr"/>
              <a:endParaRPr lang="zh-CN" altLang="en-US"/>
            </a:p>
          </p:txBody>
        </p:sp>
        <p:sp>
          <p:nvSpPr>
            <p:cNvPr id="245" name="path"/>
            <p:cNvSpPr/>
            <p:nvPr/>
          </p:nvSpPr>
          <p:spPr>
            <a:xfrm>
              <a:off x="0" y="0"/>
              <a:ext cx="67055" cy="68579"/>
            </a:xfrm>
            <a:custGeom>
              <a:avLst/>
              <a:gdLst/>
              <a:ahLst/>
              <a:cxnLst/>
              <a:rect l="0" t="0" r="0" b="0"/>
              <a:pathLst>
                <a:path w="105" h="107">
                  <a:moveTo>
                    <a:pt x="2" y="105"/>
                  </a:moveTo>
                  <a:lnTo>
                    <a:pt x="103" y="105"/>
                  </a:lnTo>
                  <a:lnTo>
                    <a:pt x="103" y="2"/>
                  </a:lnTo>
                  <a:lnTo>
                    <a:pt x="2" y="2"/>
                  </a:lnTo>
                  <a:lnTo>
                    <a:pt x="2" y="105"/>
                  </a:lnTo>
                  <a:close/>
                </a:path>
              </a:pathLst>
            </a:custGeom>
            <a:noFill/>
            <a:ln w="3048" cap="flat">
              <a:solidFill>
                <a:srgbClr val="FFFFFF">
                  <a:alpha val="100000"/>
                </a:srgbClr>
              </a:solidFill>
              <a:prstDash val="solid"/>
              <a:miter lim="800000"/>
            </a:ln>
          </p:spPr>
          <p:txBody>
            <a:bodyPr rtlCol="0"/>
            <a:lstStyle/>
            <a:p>
              <a:pPr algn="ctr"/>
              <a:endParaRPr lang="zh-CN" altLang="en-US"/>
            </a:p>
          </p:txBody>
        </p:sp>
      </p:grpSp>
      <p:sp>
        <p:nvSpPr>
          <p:cNvPr id="246" name="path"/>
          <p:cNvSpPr/>
          <p:nvPr/>
        </p:nvSpPr>
        <p:spPr>
          <a:xfrm>
            <a:off x="5884164" y="2302764"/>
            <a:ext cx="67055" cy="68579"/>
          </a:xfrm>
          <a:custGeom>
            <a:avLst/>
            <a:gdLst/>
            <a:ahLst/>
            <a:cxnLst/>
            <a:rect l="0" t="0" r="0" b="0"/>
            <a:pathLst>
              <a:path w="105" h="107">
                <a:moveTo>
                  <a:pt x="103" y="54"/>
                </a:moveTo>
                <a:cubicBezTo>
                  <a:pt x="103" y="82"/>
                  <a:pt x="80" y="105"/>
                  <a:pt x="52" y="105"/>
                </a:cubicBezTo>
                <a:cubicBezTo>
                  <a:pt x="25" y="105"/>
                  <a:pt x="2" y="82"/>
                  <a:pt x="2" y="54"/>
                </a:cubicBezTo>
                <a:cubicBezTo>
                  <a:pt x="2" y="25"/>
                  <a:pt x="25" y="2"/>
                  <a:pt x="52" y="2"/>
                </a:cubicBezTo>
                <a:cubicBezTo>
                  <a:pt x="80" y="2"/>
                  <a:pt x="103" y="25"/>
                  <a:pt x="103" y="54"/>
                </a:cubicBezTo>
              </a:path>
            </a:pathLst>
          </a:custGeom>
          <a:noFill/>
          <a:ln w="3048" cap="flat">
            <a:solidFill>
              <a:srgbClr val="FFFFFF">
                <a:alpha val="100000"/>
              </a:srgbClr>
            </a:solidFill>
            <a:prstDash val="solid"/>
            <a:round/>
          </a:ln>
        </p:spPr>
        <p:txBody>
          <a:bodyPr rtlCol="0"/>
          <a:lstStyle/>
          <a:p>
            <a:pPr algn="ctr"/>
            <a:endParaRPr lang="zh-CN" altLang="en-US"/>
          </a:p>
        </p:txBody>
      </p:sp>
      <p:sp>
        <p:nvSpPr>
          <p:cNvPr id="247" name="path"/>
          <p:cNvSpPr/>
          <p:nvPr/>
        </p:nvSpPr>
        <p:spPr>
          <a:xfrm>
            <a:off x="7452360" y="2023872"/>
            <a:ext cx="67055" cy="68579"/>
          </a:xfrm>
          <a:custGeom>
            <a:avLst/>
            <a:gdLst/>
            <a:ahLst/>
            <a:cxnLst/>
            <a:rect l="0" t="0" r="0" b="0"/>
            <a:pathLst>
              <a:path w="105" h="107">
                <a:moveTo>
                  <a:pt x="2" y="105"/>
                </a:moveTo>
                <a:lnTo>
                  <a:pt x="103" y="105"/>
                </a:lnTo>
                <a:lnTo>
                  <a:pt x="103" y="2"/>
                </a:lnTo>
                <a:lnTo>
                  <a:pt x="2" y="2"/>
                </a:lnTo>
                <a:lnTo>
                  <a:pt x="2" y="105"/>
                </a:lnTo>
                <a:close/>
              </a:path>
            </a:pathLst>
          </a:custGeom>
          <a:noFill/>
          <a:ln w="3048" cap="flat">
            <a:solidFill>
              <a:srgbClr val="FFFFFF">
                <a:alpha val="100000"/>
              </a:srgbClr>
            </a:solidFill>
            <a:prstDash val="solid"/>
            <a:miter lim="800000"/>
          </a:ln>
        </p:spPr>
        <p:txBody>
          <a:bodyPr rtlCol="0"/>
          <a:lstStyle/>
          <a:p>
            <a:pPr algn="ctr"/>
            <a:endParaRPr lang="zh-CN" altLang="en-US"/>
          </a:p>
        </p:txBody>
      </p:sp>
      <p:sp>
        <p:nvSpPr>
          <p:cNvPr id="248" name="path"/>
          <p:cNvSpPr/>
          <p:nvPr/>
        </p:nvSpPr>
        <p:spPr>
          <a:xfrm>
            <a:off x="7027164" y="2298192"/>
            <a:ext cx="67055" cy="68579"/>
          </a:xfrm>
          <a:custGeom>
            <a:avLst/>
            <a:gdLst/>
            <a:ahLst/>
            <a:cxnLst/>
            <a:rect l="0" t="0" r="0" b="0"/>
            <a:pathLst>
              <a:path w="105" h="107">
                <a:moveTo>
                  <a:pt x="2" y="105"/>
                </a:moveTo>
                <a:lnTo>
                  <a:pt x="103" y="105"/>
                </a:lnTo>
                <a:lnTo>
                  <a:pt x="103" y="2"/>
                </a:lnTo>
                <a:lnTo>
                  <a:pt x="2" y="2"/>
                </a:lnTo>
                <a:lnTo>
                  <a:pt x="2" y="105"/>
                </a:lnTo>
                <a:close/>
              </a:path>
            </a:pathLst>
          </a:custGeom>
          <a:noFill/>
          <a:ln w="3048" cap="flat">
            <a:solidFill>
              <a:srgbClr val="FFFFFF">
                <a:alpha val="100000"/>
              </a:srgbClr>
            </a:solidFill>
            <a:prstDash val="solid"/>
            <a:miter lim="800000"/>
          </a:ln>
        </p:spPr>
        <p:txBody>
          <a:bodyPr rtlCol="0"/>
          <a:lstStyle/>
          <a:p>
            <a:pPr algn="ctr"/>
            <a:endParaRPr lang="zh-CN" altLang="en-US"/>
          </a:p>
        </p:txBody>
      </p:sp>
      <p:grpSp>
        <p:nvGrpSpPr>
          <p:cNvPr id="28" name="group 28"/>
          <p:cNvGrpSpPr/>
          <p:nvPr/>
        </p:nvGrpSpPr>
        <p:grpSpPr>
          <a:xfrm rot="21600000">
            <a:off x="7139940" y="2261616"/>
            <a:ext cx="67055" cy="68579"/>
            <a:chOff x="0" y="0"/>
            <a:chExt cx="67055" cy="68579"/>
          </a:xfrm>
        </p:grpSpPr>
        <p:sp>
          <p:nvSpPr>
            <p:cNvPr id="249" name="path"/>
            <p:cNvSpPr/>
            <p:nvPr/>
          </p:nvSpPr>
          <p:spPr>
            <a:xfrm>
              <a:off x="1523" y="1523"/>
              <a:ext cx="64007" cy="65532"/>
            </a:xfrm>
            <a:custGeom>
              <a:avLst/>
              <a:gdLst/>
              <a:ahLst/>
              <a:cxnLst/>
              <a:rect l="0" t="0" r="0" b="0"/>
              <a:pathLst>
                <a:path w="100" h="103">
                  <a:moveTo>
                    <a:pt x="0" y="103"/>
                  </a:moveTo>
                  <a:lnTo>
                    <a:pt x="100" y="103"/>
                  </a:lnTo>
                  <a:lnTo>
                    <a:pt x="100" y="0"/>
                  </a:lnTo>
                  <a:lnTo>
                    <a:pt x="0" y="0"/>
                  </a:lnTo>
                  <a:lnTo>
                    <a:pt x="0" y="103"/>
                  </a:lnTo>
                  <a:close/>
                </a:path>
              </a:pathLst>
            </a:custGeom>
            <a:solidFill>
              <a:srgbClr val="0065BD">
                <a:alpha val="100000"/>
              </a:srgbClr>
            </a:solidFill>
            <a:ln cap="flat">
              <a:noFill/>
              <a:prstDash val="solid"/>
              <a:miter lim="0"/>
            </a:ln>
          </p:spPr>
          <p:txBody>
            <a:bodyPr rtlCol="0"/>
            <a:lstStyle/>
            <a:p>
              <a:pPr algn="ctr"/>
              <a:endParaRPr lang="zh-CN" altLang="en-US"/>
            </a:p>
          </p:txBody>
        </p:sp>
        <p:sp>
          <p:nvSpPr>
            <p:cNvPr id="250" name="path"/>
            <p:cNvSpPr/>
            <p:nvPr/>
          </p:nvSpPr>
          <p:spPr>
            <a:xfrm>
              <a:off x="0" y="0"/>
              <a:ext cx="67055" cy="68579"/>
            </a:xfrm>
            <a:custGeom>
              <a:avLst/>
              <a:gdLst/>
              <a:ahLst/>
              <a:cxnLst/>
              <a:rect l="0" t="0" r="0" b="0"/>
              <a:pathLst>
                <a:path w="105" h="107">
                  <a:moveTo>
                    <a:pt x="2" y="105"/>
                  </a:moveTo>
                  <a:lnTo>
                    <a:pt x="103" y="105"/>
                  </a:lnTo>
                  <a:lnTo>
                    <a:pt x="103" y="2"/>
                  </a:lnTo>
                  <a:lnTo>
                    <a:pt x="2" y="2"/>
                  </a:lnTo>
                  <a:lnTo>
                    <a:pt x="2" y="105"/>
                  </a:lnTo>
                  <a:close/>
                </a:path>
              </a:pathLst>
            </a:custGeom>
            <a:noFill/>
            <a:ln w="3048" cap="flat">
              <a:solidFill>
                <a:srgbClr val="FFFFFF">
                  <a:alpha val="100000"/>
                </a:srgbClr>
              </a:solidFill>
              <a:prstDash val="solid"/>
              <a:miter lim="800000"/>
            </a:ln>
          </p:spPr>
          <p:txBody>
            <a:bodyPr rtlCol="0"/>
            <a:lstStyle/>
            <a:p>
              <a:pPr algn="ctr"/>
              <a:endParaRPr lang="zh-CN" altLang="en-US"/>
            </a:p>
          </p:txBody>
        </p:sp>
      </p:grpSp>
      <p:grpSp>
        <p:nvGrpSpPr>
          <p:cNvPr id="30" name="group 30"/>
          <p:cNvGrpSpPr/>
          <p:nvPr/>
        </p:nvGrpSpPr>
        <p:grpSpPr>
          <a:xfrm rot="21600000">
            <a:off x="7170420" y="2132076"/>
            <a:ext cx="67055" cy="68579"/>
            <a:chOff x="0" y="0"/>
            <a:chExt cx="67055" cy="68579"/>
          </a:xfrm>
        </p:grpSpPr>
        <p:sp>
          <p:nvSpPr>
            <p:cNvPr id="251" name="path"/>
            <p:cNvSpPr/>
            <p:nvPr/>
          </p:nvSpPr>
          <p:spPr>
            <a:xfrm>
              <a:off x="1523" y="1523"/>
              <a:ext cx="64007" cy="65532"/>
            </a:xfrm>
            <a:custGeom>
              <a:avLst/>
              <a:gdLst/>
              <a:ahLst/>
              <a:cxnLst/>
              <a:rect l="0" t="0" r="0" b="0"/>
              <a:pathLst>
                <a:path w="100" h="103">
                  <a:moveTo>
                    <a:pt x="0" y="103"/>
                  </a:moveTo>
                  <a:lnTo>
                    <a:pt x="100" y="103"/>
                  </a:lnTo>
                  <a:lnTo>
                    <a:pt x="100" y="0"/>
                  </a:lnTo>
                  <a:lnTo>
                    <a:pt x="0" y="0"/>
                  </a:lnTo>
                  <a:lnTo>
                    <a:pt x="0" y="103"/>
                  </a:lnTo>
                  <a:close/>
                </a:path>
              </a:pathLst>
            </a:custGeom>
            <a:solidFill>
              <a:srgbClr val="0065BD">
                <a:alpha val="100000"/>
              </a:srgbClr>
            </a:solidFill>
            <a:ln cap="flat">
              <a:noFill/>
              <a:prstDash val="solid"/>
              <a:miter lim="0"/>
            </a:ln>
          </p:spPr>
          <p:txBody>
            <a:bodyPr rtlCol="0"/>
            <a:lstStyle/>
            <a:p>
              <a:pPr algn="ctr"/>
              <a:endParaRPr lang="zh-CN" altLang="en-US"/>
            </a:p>
          </p:txBody>
        </p:sp>
        <p:sp>
          <p:nvSpPr>
            <p:cNvPr id="252" name="path"/>
            <p:cNvSpPr/>
            <p:nvPr/>
          </p:nvSpPr>
          <p:spPr>
            <a:xfrm>
              <a:off x="0" y="0"/>
              <a:ext cx="67055" cy="68579"/>
            </a:xfrm>
            <a:custGeom>
              <a:avLst/>
              <a:gdLst/>
              <a:ahLst/>
              <a:cxnLst/>
              <a:rect l="0" t="0" r="0" b="0"/>
              <a:pathLst>
                <a:path w="105" h="107">
                  <a:moveTo>
                    <a:pt x="2" y="105"/>
                  </a:moveTo>
                  <a:lnTo>
                    <a:pt x="103" y="105"/>
                  </a:lnTo>
                  <a:lnTo>
                    <a:pt x="103" y="2"/>
                  </a:lnTo>
                  <a:lnTo>
                    <a:pt x="2" y="2"/>
                  </a:lnTo>
                  <a:lnTo>
                    <a:pt x="2" y="105"/>
                  </a:lnTo>
                  <a:close/>
                </a:path>
              </a:pathLst>
            </a:custGeom>
            <a:noFill/>
            <a:ln w="3048" cap="flat">
              <a:solidFill>
                <a:srgbClr val="FFFFFF">
                  <a:alpha val="100000"/>
                </a:srgbClr>
              </a:solidFill>
              <a:prstDash val="solid"/>
              <a:miter lim="800000"/>
            </a:ln>
          </p:spPr>
          <p:txBody>
            <a:bodyPr rtlCol="0"/>
            <a:lstStyle/>
            <a:p>
              <a:pPr algn="ctr"/>
              <a:endParaRPr lang="zh-CN" altLang="en-US"/>
            </a:p>
          </p:txBody>
        </p:sp>
      </p:grpSp>
      <p:sp>
        <p:nvSpPr>
          <p:cNvPr id="253" name="path"/>
          <p:cNvSpPr/>
          <p:nvPr/>
        </p:nvSpPr>
        <p:spPr>
          <a:xfrm>
            <a:off x="7255764" y="2328672"/>
            <a:ext cx="67055" cy="68579"/>
          </a:xfrm>
          <a:custGeom>
            <a:avLst/>
            <a:gdLst/>
            <a:ahLst/>
            <a:cxnLst/>
            <a:rect l="0" t="0" r="0" b="0"/>
            <a:pathLst>
              <a:path w="105" h="107">
                <a:moveTo>
                  <a:pt x="2" y="105"/>
                </a:moveTo>
                <a:lnTo>
                  <a:pt x="103" y="105"/>
                </a:lnTo>
                <a:lnTo>
                  <a:pt x="103" y="2"/>
                </a:lnTo>
                <a:lnTo>
                  <a:pt x="2" y="2"/>
                </a:lnTo>
                <a:lnTo>
                  <a:pt x="2" y="105"/>
                </a:lnTo>
                <a:close/>
              </a:path>
            </a:pathLst>
          </a:custGeom>
          <a:noFill/>
          <a:ln w="3048" cap="flat">
            <a:solidFill>
              <a:srgbClr val="FFFFFF">
                <a:alpha val="100000"/>
              </a:srgbClr>
            </a:solidFill>
            <a:prstDash val="solid"/>
            <a:miter lim="800000"/>
          </a:ln>
        </p:spPr>
        <p:txBody>
          <a:bodyPr rtlCol="0"/>
          <a:lstStyle/>
          <a:p>
            <a:pPr algn="ctr"/>
            <a:endParaRPr lang="zh-CN" altLang="en-US"/>
          </a:p>
        </p:txBody>
      </p:sp>
      <p:sp>
        <p:nvSpPr>
          <p:cNvPr id="254" name="rect"/>
          <p:cNvSpPr/>
          <p:nvPr/>
        </p:nvSpPr>
        <p:spPr>
          <a:xfrm>
            <a:off x="7559040" y="2421636"/>
            <a:ext cx="64007" cy="65532"/>
          </a:xfrm>
          <a:prstGeom prst="rect">
            <a:avLst/>
          </a:prstGeom>
          <a:solidFill>
            <a:srgbClr val="0065BD">
              <a:alpha val="100000"/>
            </a:srgbClr>
          </a:solidFill>
          <a:ln cap="flat">
            <a:noFill/>
            <a:prstDash val="solid"/>
            <a:miter lim="0"/>
          </a:ln>
        </p:spPr>
        <p:txBody>
          <a:bodyPr rtlCol="0"/>
          <a:lstStyle/>
          <a:p>
            <a:pPr algn="ctr"/>
            <a:endParaRPr lang="zh-CN" altLang="en-US"/>
          </a:p>
        </p:txBody>
      </p:sp>
      <p:sp>
        <p:nvSpPr>
          <p:cNvPr id="255" name="path"/>
          <p:cNvSpPr/>
          <p:nvPr/>
        </p:nvSpPr>
        <p:spPr>
          <a:xfrm>
            <a:off x="7557516" y="2420112"/>
            <a:ext cx="67055" cy="68579"/>
          </a:xfrm>
          <a:custGeom>
            <a:avLst/>
            <a:gdLst/>
            <a:ahLst/>
            <a:cxnLst/>
            <a:rect l="0" t="0" r="0" b="0"/>
            <a:pathLst>
              <a:path w="105" h="107">
                <a:moveTo>
                  <a:pt x="2" y="105"/>
                </a:moveTo>
                <a:lnTo>
                  <a:pt x="103" y="105"/>
                </a:lnTo>
                <a:lnTo>
                  <a:pt x="103" y="2"/>
                </a:lnTo>
                <a:lnTo>
                  <a:pt x="2" y="2"/>
                </a:lnTo>
                <a:lnTo>
                  <a:pt x="2" y="105"/>
                </a:lnTo>
                <a:close/>
              </a:path>
            </a:pathLst>
          </a:custGeom>
          <a:noFill/>
          <a:ln w="3048" cap="flat">
            <a:solidFill>
              <a:srgbClr val="FFFFFF">
                <a:alpha val="100000"/>
              </a:srgbClr>
            </a:solidFill>
            <a:prstDash val="solid"/>
            <a:miter lim="800000"/>
          </a:ln>
        </p:spPr>
        <p:txBody>
          <a:bodyPr rtlCol="0"/>
          <a:lstStyle/>
          <a:p>
            <a:pPr algn="ctr"/>
            <a:endParaRPr lang="zh-CN" altLang="en-US"/>
          </a:p>
        </p:txBody>
      </p:sp>
      <p:sp>
        <p:nvSpPr>
          <p:cNvPr id="256" name="rect"/>
          <p:cNvSpPr/>
          <p:nvPr/>
        </p:nvSpPr>
        <p:spPr>
          <a:xfrm>
            <a:off x="7155180" y="2430779"/>
            <a:ext cx="64007" cy="65532"/>
          </a:xfrm>
          <a:prstGeom prst="rect">
            <a:avLst/>
          </a:prstGeom>
          <a:solidFill>
            <a:srgbClr val="0065BD">
              <a:alpha val="100000"/>
            </a:srgbClr>
          </a:solidFill>
          <a:ln cap="flat">
            <a:noFill/>
            <a:prstDash val="solid"/>
            <a:miter lim="0"/>
          </a:ln>
        </p:spPr>
        <p:txBody>
          <a:bodyPr rtlCol="0"/>
          <a:lstStyle/>
          <a:p>
            <a:pPr algn="ctr"/>
            <a:endParaRPr lang="zh-CN" altLang="en-US"/>
          </a:p>
        </p:txBody>
      </p:sp>
      <p:sp>
        <p:nvSpPr>
          <p:cNvPr id="257" name="path"/>
          <p:cNvSpPr/>
          <p:nvPr/>
        </p:nvSpPr>
        <p:spPr>
          <a:xfrm>
            <a:off x="7153656" y="2429255"/>
            <a:ext cx="67055" cy="68579"/>
          </a:xfrm>
          <a:custGeom>
            <a:avLst/>
            <a:gdLst/>
            <a:ahLst/>
            <a:cxnLst/>
            <a:rect l="0" t="0" r="0" b="0"/>
            <a:pathLst>
              <a:path w="105" h="107">
                <a:moveTo>
                  <a:pt x="2" y="105"/>
                </a:moveTo>
                <a:lnTo>
                  <a:pt x="103" y="105"/>
                </a:lnTo>
                <a:lnTo>
                  <a:pt x="103" y="2"/>
                </a:lnTo>
                <a:lnTo>
                  <a:pt x="2" y="2"/>
                </a:lnTo>
                <a:lnTo>
                  <a:pt x="2" y="105"/>
                </a:lnTo>
                <a:close/>
              </a:path>
            </a:pathLst>
          </a:custGeom>
          <a:noFill/>
          <a:ln w="3048" cap="flat">
            <a:solidFill>
              <a:srgbClr val="FFFFFF">
                <a:alpha val="100000"/>
              </a:srgbClr>
            </a:solidFill>
            <a:prstDash val="solid"/>
            <a:miter lim="800000"/>
          </a:ln>
        </p:spPr>
        <p:txBody>
          <a:bodyPr rtlCol="0"/>
          <a:lstStyle/>
          <a:p>
            <a:pPr algn="ctr"/>
            <a:endParaRPr lang="zh-CN" altLang="en-US"/>
          </a:p>
        </p:txBody>
      </p:sp>
      <p:sp>
        <p:nvSpPr>
          <p:cNvPr id="258" name="path"/>
          <p:cNvSpPr/>
          <p:nvPr/>
        </p:nvSpPr>
        <p:spPr>
          <a:xfrm>
            <a:off x="7481316" y="2121408"/>
            <a:ext cx="67055" cy="68579"/>
          </a:xfrm>
          <a:custGeom>
            <a:avLst/>
            <a:gdLst/>
            <a:ahLst/>
            <a:cxnLst/>
            <a:rect l="0" t="0" r="0" b="0"/>
            <a:pathLst>
              <a:path w="105" h="107">
                <a:moveTo>
                  <a:pt x="2" y="105"/>
                </a:moveTo>
                <a:lnTo>
                  <a:pt x="103" y="105"/>
                </a:lnTo>
                <a:lnTo>
                  <a:pt x="103" y="2"/>
                </a:lnTo>
                <a:lnTo>
                  <a:pt x="2" y="2"/>
                </a:lnTo>
                <a:lnTo>
                  <a:pt x="2" y="105"/>
                </a:lnTo>
                <a:close/>
              </a:path>
            </a:pathLst>
          </a:custGeom>
          <a:noFill/>
          <a:ln w="3048" cap="flat">
            <a:solidFill>
              <a:srgbClr val="FFFFFF">
                <a:alpha val="100000"/>
              </a:srgbClr>
            </a:solidFill>
            <a:prstDash val="solid"/>
            <a:miter lim="800000"/>
          </a:ln>
        </p:spPr>
        <p:txBody>
          <a:bodyPr rtlCol="0"/>
          <a:lstStyle/>
          <a:p>
            <a:pPr algn="ctr"/>
            <a:endParaRPr lang="zh-CN" altLang="en-US"/>
          </a:p>
        </p:txBody>
      </p:sp>
      <p:sp>
        <p:nvSpPr>
          <p:cNvPr id="259" name="path"/>
          <p:cNvSpPr/>
          <p:nvPr/>
        </p:nvSpPr>
        <p:spPr>
          <a:xfrm>
            <a:off x="6998207" y="2203704"/>
            <a:ext cx="67055" cy="68579"/>
          </a:xfrm>
          <a:custGeom>
            <a:avLst/>
            <a:gdLst/>
            <a:ahLst/>
            <a:cxnLst/>
            <a:rect l="0" t="0" r="0" b="0"/>
            <a:pathLst>
              <a:path w="105" h="107">
                <a:moveTo>
                  <a:pt x="2" y="105"/>
                </a:moveTo>
                <a:lnTo>
                  <a:pt x="103" y="105"/>
                </a:lnTo>
                <a:lnTo>
                  <a:pt x="103" y="2"/>
                </a:lnTo>
                <a:lnTo>
                  <a:pt x="2" y="2"/>
                </a:lnTo>
                <a:lnTo>
                  <a:pt x="2" y="105"/>
                </a:lnTo>
                <a:close/>
              </a:path>
            </a:pathLst>
          </a:custGeom>
          <a:noFill/>
          <a:ln w="3048" cap="flat">
            <a:solidFill>
              <a:srgbClr val="FFFFFF">
                <a:alpha val="100000"/>
              </a:srgbClr>
            </a:solidFill>
            <a:prstDash val="solid"/>
            <a:miter lim="800000"/>
          </a:ln>
        </p:spPr>
        <p:txBody>
          <a:bodyPr rtlCol="0"/>
          <a:lstStyle/>
          <a:p>
            <a:pPr algn="ctr"/>
            <a:endParaRPr lang="zh-CN" altLang="en-US"/>
          </a:p>
        </p:txBody>
      </p:sp>
      <p:sp>
        <p:nvSpPr>
          <p:cNvPr id="260" name="path"/>
          <p:cNvSpPr/>
          <p:nvPr/>
        </p:nvSpPr>
        <p:spPr>
          <a:xfrm>
            <a:off x="7563611" y="2069592"/>
            <a:ext cx="67055" cy="68579"/>
          </a:xfrm>
          <a:custGeom>
            <a:avLst/>
            <a:gdLst/>
            <a:ahLst/>
            <a:cxnLst/>
            <a:rect l="0" t="0" r="0" b="0"/>
            <a:pathLst>
              <a:path w="105" h="107">
                <a:moveTo>
                  <a:pt x="2" y="105"/>
                </a:moveTo>
                <a:lnTo>
                  <a:pt x="103" y="105"/>
                </a:lnTo>
                <a:lnTo>
                  <a:pt x="103" y="2"/>
                </a:lnTo>
                <a:lnTo>
                  <a:pt x="2" y="2"/>
                </a:lnTo>
                <a:lnTo>
                  <a:pt x="2" y="105"/>
                </a:lnTo>
                <a:close/>
              </a:path>
            </a:pathLst>
          </a:custGeom>
          <a:noFill/>
          <a:ln w="3048" cap="flat">
            <a:solidFill>
              <a:srgbClr val="FFFFFF">
                <a:alpha val="100000"/>
              </a:srgbClr>
            </a:solidFill>
            <a:prstDash val="solid"/>
            <a:miter lim="800000"/>
          </a:ln>
        </p:spPr>
        <p:txBody>
          <a:bodyPr rtlCol="0"/>
          <a:lstStyle/>
          <a:p>
            <a:pPr algn="ctr"/>
            <a:endParaRPr lang="zh-CN" altLang="en-US"/>
          </a:p>
        </p:txBody>
      </p:sp>
      <p:grpSp>
        <p:nvGrpSpPr>
          <p:cNvPr id="32" name="group 32"/>
          <p:cNvGrpSpPr/>
          <p:nvPr/>
        </p:nvGrpSpPr>
        <p:grpSpPr>
          <a:xfrm rot="21600000">
            <a:off x="7551420" y="2194559"/>
            <a:ext cx="67055" cy="67055"/>
            <a:chOff x="0" y="0"/>
            <a:chExt cx="67055" cy="67055"/>
          </a:xfrm>
        </p:grpSpPr>
        <p:sp>
          <p:nvSpPr>
            <p:cNvPr id="261" name="path"/>
            <p:cNvSpPr/>
            <p:nvPr/>
          </p:nvSpPr>
          <p:spPr>
            <a:xfrm>
              <a:off x="1523" y="1523"/>
              <a:ext cx="64007" cy="64008"/>
            </a:xfrm>
            <a:custGeom>
              <a:avLst/>
              <a:gdLst/>
              <a:ahLst/>
              <a:cxnLst/>
              <a:rect l="0" t="0" r="0" b="0"/>
              <a:pathLst>
                <a:path w="100" h="100">
                  <a:moveTo>
                    <a:pt x="0" y="100"/>
                  </a:moveTo>
                  <a:lnTo>
                    <a:pt x="100" y="100"/>
                  </a:lnTo>
                  <a:lnTo>
                    <a:pt x="100" y="0"/>
                  </a:lnTo>
                  <a:lnTo>
                    <a:pt x="0" y="0"/>
                  </a:lnTo>
                  <a:lnTo>
                    <a:pt x="0" y="100"/>
                  </a:lnTo>
                  <a:close/>
                </a:path>
              </a:pathLst>
            </a:custGeom>
            <a:solidFill>
              <a:srgbClr val="0065BD">
                <a:alpha val="100000"/>
              </a:srgbClr>
            </a:solidFill>
            <a:ln cap="flat">
              <a:noFill/>
              <a:prstDash val="solid"/>
              <a:miter lim="0"/>
            </a:ln>
          </p:spPr>
          <p:txBody>
            <a:bodyPr rtlCol="0"/>
            <a:lstStyle/>
            <a:p>
              <a:pPr algn="ctr"/>
              <a:endParaRPr lang="zh-CN" altLang="en-US"/>
            </a:p>
          </p:txBody>
        </p:sp>
        <p:sp>
          <p:nvSpPr>
            <p:cNvPr id="262" name="path"/>
            <p:cNvSpPr/>
            <p:nvPr/>
          </p:nvSpPr>
          <p:spPr>
            <a:xfrm>
              <a:off x="0" y="0"/>
              <a:ext cx="67055" cy="67055"/>
            </a:xfrm>
            <a:custGeom>
              <a:avLst/>
              <a:gdLst/>
              <a:ahLst/>
              <a:cxnLst/>
              <a:rect l="0" t="0" r="0" b="0"/>
              <a:pathLst>
                <a:path w="105" h="105">
                  <a:moveTo>
                    <a:pt x="2" y="103"/>
                  </a:moveTo>
                  <a:lnTo>
                    <a:pt x="103" y="103"/>
                  </a:lnTo>
                  <a:lnTo>
                    <a:pt x="103" y="2"/>
                  </a:lnTo>
                  <a:lnTo>
                    <a:pt x="2" y="2"/>
                  </a:lnTo>
                  <a:lnTo>
                    <a:pt x="2" y="103"/>
                  </a:lnTo>
                  <a:close/>
                </a:path>
              </a:pathLst>
            </a:custGeom>
            <a:noFill/>
            <a:ln w="3048" cap="flat">
              <a:solidFill>
                <a:srgbClr val="FFFFFF">
                  <a:alpha val="100000"/>
                </a:srgbClr>
              </a:solidFill>
              <a:prstDash val="solid"/>
              <a:miter lim="800000"/>
            </a:ln>
          </p:spPr>
          <p:txBody>
            <a:bodyPr rtlCol="0"/>
            <a:lstStyle/>
            <a:p>
              <a:pPr algn="ctr"/>
              <a:endParaRPr lang="zh-CN" altLang="en-US"/>
            </a:p>
          </p:txBody>
        </p:sp>
      </p:grpSp>
      <p:grpSp>
        <p:nvGrpSpPr>
          <p:cNvPr id="34" name="group 34"/>
          <p:cNvGrpSpPr/>
          <p:nvPr/>
        </p:nvGrpSpPr>
        <p:grpSpPr>
          <a:xfrm rot="21600000">
            <a:off x="5745479" y="1967484"/>
            <a:ext cx="65532" cy="68579"/>
            <a:chOff x="0" y="0"/>
            <a:chExt cx="65532" cy="68579"/>
          </a:xfrm>
        </p:grpSpPr>
        <p:sp>
          <p:nvSpPr>
            <p:cNvPr id="263" name="path"/>
            <p:cNvSpPr/>
            <p:nvPr/>
          </p:nvSpPr>
          <p:spPr>
            <a:xfrm>
              <a:off x="1523" y="1523"/>
              <a:ext cx="62484" cy="65532"/>
            </a:xfrm>
            <a:custGeom>
              <a:avLst/>
              <a:gdLst/>
              <a:ahLst/>
              <a:cxnLst/>
              <a:rect l="0" t="0" r="0" b="0"/>
              <a:pathLst>
                <a:path w="98" h="103">
                  <a:moveTo>
                    <a:pt x="98" y="51"/>
                  </a:moveTo>
                  <a:cubicBezTo>
                    <a:pt x="98" y="80"/>
                    <a:pt x="76" y="103"/>
                    <a:pt x="49" y="103"/>
                  </a:cubicBezTo>
                  <a:cubicBezTo>
                    <a:pt x="22" y="103"/>
                    <a:pt x="0" y="80"/>
                    <a:pt x="0" y="51"/>
                  </a:cubicBezTo>
                  <a:cubicBezTo>
                    <a:pt x="0" y="23"/>
                    <a:pt x="22" y="0"/>
                    <a:pt x="49" y="0"/>
                  </a:cubicBezTo>
                  <a:cubicBezTo>
                    <a:pt x="76" y="0"/>
                    <a:pt x="98" y="23"/>
                    <a:pt x="98" y="51"/>
                  </a:cubicBezTo>
                </a:path>
              </a:pathLst>
            </a:custGeom>
            <a:solidFill>
              <a:srgbClr val="00ADEF">
                <a:alpha val="100000"/>
              </a:srgbClr>
            </a:solidFill>
            <a:ln cap="flat">
              <a:noFill/>
              <a:prstDash val="solid"/>
              <a:miter lim="0"/>
            </a:ln>
          </p:spPr>
          <p:txBody>
            <a:bodyPr rtlCol="0"/>
            <a:lstStyle/>
            <a:p>
              <a:pPr algn="ctr"/>
              <a:endParaRPr lang="zh-CN" altLang="en-US"/>
            </a:p>
          </p:txBody>
        </p:sp>
        <p:sp>
          <p:nvSpPr>
            <p:cNvPr id="264" name="path"/>
            <p:cNvSpPr/>
            <p:nvPr/>
          </p:nvSpPr>
          <p:spPr>
            <a:xfrm>
              <a:off x="0" y="0"/>
              <a:ext cx="65532" cy="68579"/>
            </a:xfrm>
            <a:custGeom>
              <a:avLst/>
              <a:gdLst/>
              <a:ahLst/>
              <a:cxnLst/>
              <a:rect l="0" t="0" r="0" b="0"/>
              <a:pathLst>
                <a:path w="103" h="107">
                  <a:moveTo>
                    <a:pt x="100" y="54"/>
                  </a:moveTo>
                  <a:cubicBezTo>
                    <a:pt x="100" y="82"/>
                    <a:pt x="78" y="105"/>
                    <a:pt x="51" y="105"/>
                  </a:cubicBezTo>
                  <a:cubicBezTo>
                    <a:pt x="24" y="105"/>
                    <a:pt x="2" y="82"/>
                    <a:pt x="2" y="54"/>
                  </a:cubicBezTo>
                  <a:cubicBezTo>
                    <a:pt x="2" y="25"/>
                    <a:pt x="24" y="2"/>
                    <a:pt x="51" y="2"/>
                  </a:cubicBezTo>
                  <a:cubicBezTo>
                    <a:pt x="78" y="2"/>
                    <a:pt x="100" y="25"/>
                    <a:pt x="100" y="54"/>
                  </a:cubicBezTo>
                </a:path>
              </a:pathLst>
            </a:custGeom>
            <a:noFill/>
            <a:ln w="3048" cap="flat">
              <a:solidFill>
                <a:srgbClr val="FFFFFF">
                  <a:alpha val="100000"/>
                </a:srgbClr>
              </a:solidFill>
              <a:prstDash val="solid"/>
              <a:round/>
            </a:ln>
          </p:spPr>
          <p:txBody>
            <a:bodyPr rtlCol="0"/>
            <a:lstStyle/>
            <a:p>
              <a:pPr algn="ctr"/>
              <a:endParaRPr lang="zh-CN" altLang="en-US"/>
            </a:p>
          </p:txBody>
        </p:sp>
      </p:grpSp>
      <p:sp>
        <p:nvSpPr>
          <p:cNvPr id="265" name="path"/>
          <p:cNvSpPr/>
          <p:nvPr/>
        </p:nvSpPr>
        <p:spPr>
          <a:xfrm>
            <a:off x="5631179" y="2223516"/>
            <a:ext cx="65532" cy="68579"/>
          </a:xfrm>
          <a:custGeom>
            <a:avLst/>
            <a:gdLst/>
            <a:ahLst/>
            <a:cxnLst/>
            <a:rect l="0" t="0" r="0" b="0"/>
            <a:pathLst>
              <a:path w="103" h="107">
                <a:moveTo>
                  <a:pt x="100" y="54"/>
                </a:moveTo>
                <a:cubicBezTo>
                  <a:pt x="100" y="82"/>
                  <a:pt x="78" y="105"/>
                  <a:pt x="51" y="105"/>
                </a:cubicBezTo>
                <a:cubicBezTo>
                  <a:pt x="24" y="105"/>
                  <a:pt x="2" y="82"/>
                  <a:pt x="2" y="54"/>
                </a:cubicBezTo>
                <a:cubicBezTo>
                  <a:pt x="2" y="25"/>
                  <a:pt x="24" y="2"/>
                  <a:pt x="51" y="2"/>
                </a:cubicBezTo>
                <a:cubicBezTo>
                  <a:pt x="78" y="2"/>
                  <a:pt x="100" y="25"/>
                  <a:pt x="100" y="54"/>
                </a:cubicBezTo>
              </a:path>
            </a:pathLst>
          </a:custGeom>
          <a:noFill/>
          <a:ln w="3048" cap="flat">
            <a:solidFill>
              <a:srgbClr val="FFFFFF">
                <a:alpha val="100000"/>
              </a:srgbClr>
            </a:solidFill>
            <a:prstDash val="solid"/>
            <a:round/>
          </a:ln>
        </p:spPr>
        <p:txBody>
          <a:bodyPr rtlCol="0"/>
          <a:lstStyle/>
          <a:p>
            <a:pPr algn="ctr"/>
            <a:endParaRPr lang="zh-CN" altLang="en-US"/>
          </a:p>
        </p:txBody>
      </p:sp>
      <p:sp>
        <p:nvSpPr>
          <p:cNvPr id="266" name="rect"/>
          <p:cNvSpPr/>
          <p:nvPr/>
        </p:nvSpPr>
        <p:spPr>
          <a:xfrm>
            <a:off x="5518403" y="2478024"/>
            <a:ext cx="62484" cy="65532"/>
          </a:xfrm>
          <a:prstGeom prst="rect">
            <a:avLst/>
          </a:prstGeom>
          <a:solidFill>
            <a:srgbClr val="00ADEF">
              <a:alpha val="100000"/>
            </a:srgbClr>
          </a:solidFill>
          <a:ln cap="flat">
            <a:noFill/>
            <a:prstDash val="solid"/>
            <a:miter lim="0"/>
          </a:ln>
        </p:spPr>
        <p:txBody>
          <a:bodyPr rtlCol="0"/>
          <a:lstStyle/>
          <a:p>
            <a:pPr algn="ctr"/>
            <a:endParaRPr lang="zh-CN" altLang="en-US"/>
          </a:p>
        </p:txBody>
      </p:sp>
      <p:sp>
        <p:nvSpPr>
          <p:cNvPr id="267" name="path"/>
          <p:cNvSpPr/>
          <p:nvPr/>
        </p:nvSpPr>
        <p:spPr>
          <a:xfrm>
            <a:off x="5516879" y="2476500"/>
            <a:ext cx="65532" cy="68579"/>
          </a:xfrm>
          <a:custGeom>
            <a:avLst/>
            <a:gdLst/>
            <a:ahLst/>
            <a:cxnLst/>
            <a:rect l="0" t="0" r="0" b="0"/>
            <a:pathLst>
              <a:path w="103" h="107">
                <a:moveTo>
                  <a:pt x="100" y="53"/>
                </a:moveTo>
                <a:cubicBezTo>
                  <a:pt x="100" y="82"/>
                  <a:pt x="78" y="105"/>
                  <a:pt x="51" y="105"/>
                </a:cubicBezTo>
                <a:cubicBezTo>
                  <a:pt x="24" y="105"/>
                  <a:pt x="2" y="82"/>
                  <a:pt x="2" y="53"/>
                </a:cubicBezTo>
                <a:cubicBezTo>
                  <a:pt x="2" y="25"/>
                  <a:pt x="24" y="2"/>
                  <a:pt x="51" y="2"/>
                </a:cubicBezTo>
                <a:cubicBezTo>
                  <a:pt x="78" y="2"/>
                  <a:pt x="100" y="25"/>
                  <a:pt x="100" y="53"/>
                </a:cubicBezTo>
              </a:path>
            </a:pathLst>
          </a:custGeom>
          <a:noFill/>
          <a:ln w="3048" cap="flat">
            <a:solidFill>
              <a:srgbClr val="FFFFFF">
                <a:alpha val="100000"/>
              </a:srgbClr>
            </a:solidFill>
            <a:prstDash val="solid"/>
            <a:round/>
          </a:ln>
        </p:spPr>
        <p:txBody>
          <a:bodyPr rtlCol="0"/>
          <a:lstStyle/>
          <a:p>
            <a:pPr algn="ctr"/>
            <a:endParaRPr lang="zh-CN" altLang="en-US"/>
          </a:p>
        </p:txBody>
      </p:sp>
      <p:grpSp>
        <p:nvGrpSpPr>
          <p:cNvPr id="36" name="group 36"/>
          <p:cNvGrpSpPr/>
          <p:nvPr/>
        </p:nvGrpSpPr>
        <p:grpSpPr>
          <a:xfrm rot="21600000">
            <a:off x="5588508" y="2334767"/>
            <a:ext cx="65531" cy="68580"/>
            <a:chOff x="0" y="0"/>
            <a:chExt cx="65531" cy="68580"/>
          </a:xfrm>
        </p:grpSpPr>
        <p:sp>
          <p:nvSpPr>
            <p:cNvPr id="268" name="path"/>
            <p:cNvSpPr/>
            <p:nvPr/>
          </p:nvSpPr>
          <p:spPr>
            <a:xfrm>
              <a:off x="1523" y="1523"/>
              <a:ext cx="62483" cy="65532"/>
            </a:xfrm>
            <a:custGeom>
              <a:avLst/>
              <a:gdLst/>
              <a:ahLst/>
              <a:cxnLst/>
              <a:rect l="0" t="0" r="0" b="0"/>
              <a:pathLst>
                <a:path w="98" h="103">
                  <a:moveTo>
                    <a:pt x="98" y="51"/>
                  </a:moveTo>
                  <a:cubicBezTo>
                    <a:pt x="98" y="80"/>
                    <a:pt x="76" y="103"/>
                    <a:pt x="49" y="103"/>
                  </a:cubicBezTo>
                  <a:cubicBezTo>
                    <a:pt x="22" y="103"/>
                    <a:pt x="0" y="80"/>
                    <a:pt x="0" y="51"/>
                  </a:cubicBezTo>
                  <a:cubicBezTo>
                    <a:pt x="0" y="23"/>
                    <a:pt x="22" y="0"/>
                    <a:pt x="49" y="0"/>
                  </a:cubicBezTo>
                  <a:cubicBezTo>
                    <a:pt x="76" y="0"/>
                    <a:pt x="98" y="23"/>
                    <a:pt x="98" y="51"/>
                  </a:cubicBezTo>
                </a:path>
              </a:pathLst>
            </a:custGeom>
            <a:solidFill>
              <a:srgbClr val="00ADEF">
                <a:alpha val="100000"/>
              </a:srgbClr>
            </a:solidFill>
            <a:ln cap="flat">
              <a:noFill/>
              <a:prstDash val="solid"/>
              <a:miter lim="0"/>
            </a:ln>
          </p:spPr>
          <p:txBody>
            <a:bodyPr rtlCol="0"/>
            <a:lstStyle/>
            <a:p>
              <a:pPr algn="ctr"/>
              <a:endParaRPr lang="zh-CN" altLang="en-US"/>
            </a:p>
          </p:txBody>
        </p:sp>
        <p:sp>
          <p:nvSpPr>
            <p:cNvPr id="269" name="path"/>
            <p:cNvSpPr/>
            <p:nvPr/>
          </p:nvSpPr>
          <p:spPr>
            <a:xfrm>
              <a:off x="0" y="0"/>
              <a:ext cx="65531" cy="68580"/>
            </a:xfrm>
            <a:custGeom>
              <a:avLst/>
              <a:gdLst/>
              <a:ahLst/>
              <a:cxnLst/>
              <a:rect l="0" t="0" r="0" b="0"/>
              <a:pathLst>
                <a:path w="103" h="108">
                  <a:moveTo>
                    <a:pt x="100" y="54"/>
                  </a:moveTo>
                  <a:cubicBezTo>
                    <a:pt x="100" y="82"/>
                    <a:pt x="78" y="105"/>
                    <a:pt x="51" y="105"/>
                  </a:cubicBezTo>
                  <a:cubicBezTo>
                    <a:pt x="24" y="105"/>
                    <a:pt x="2" y="82"/>
                    <a:pt x="2" y="54"/>
                  </a:cubicBezTo>
                  <a:cubicBezTo>
                    <a:pt x="2" y="25"/>
                    <a:pt x="24" y="2"/>
                    <a:pt x="51" y="2"/>
                  </a:cubicBezTo>
                  <a:cubicBezTo>
                    <a:pt x="78" y="2"/>
                    <a:pt x="100" y="25"/>
                    <a:pt x="100" y="54"/>
                  </a:cubicBezTo>
                </a:path>
              </a:pathLst>
            </a:custGeom>
            <a:noFill/>
            <a:ln w="3048" cap="flat">
              <a:solidFill>
                <a:srgbClr val="FFFFFF">
                  <a:alpha val="100000"/>
                </a:srgbClr>
              </a:solidFill>
              <a:prstDash val="solid"/>
              <a:round/>
            </a:ln>
          </p:spPr>
          <p:txBody>
            <a:bodyPr rtlCol="0"/>
            <a:lstStyle/>
            <a:p>
              <a:pPr algn="ctr"/>
              <a:endParaRPr lang="zh-CN" altLang="en-US"/>
            </a:p>
          </p:txBody>
        </p:sp>
      </p:grpSp>
      <p:sp>
        <p:nvSpPr>
          <p:cNvPr id="270" name="rect"/>
          <p:cNvSpPr/>
          <p:nvPr/>
        </p:nvSpPr>
        <p:spPr>
          <a:xfrm>
            <a:off x="6096000" y="2534411"/>
            <a:ext cx="62483" cy="65532"/>
          </a:xfrm>
          <a:prstGeom prst="rect">
            <a:avLst/>
          </a:prstGeom>
          <a:solidFill>
            <a:srgbClr val="00ADEF">
              <a:alpha val="100000"/>
            </a:srgbClr>
          </a:solidFill>
          <a:ln cap="flat">
            <a:noFill/>
            <a:prstDash val="solid"/>
            <a:miter lim="0"/>
          </a:ln>
        </p:spPr>
        <p:txBody>
          <a:bodyPr rtlCol="0"/>
          <a:lstStyle/>
          <a:p>
            <a:pPr algn="ctr"/>
            <a:endParaRPr lang="zh-CN" altLang="en-US"/>
          </a:p>
        </p:txBody>
      </p:sp>
      <p:sp>
        <p:nvSpPr>
          <p:cNvPr id="271" name="path"/>
          <p:cNvSpPr/>
          <p:nvPr/>
        </p:nvSpPr>
        <p:spPr>
          <a:xfrm>
            <a:off x="6094476" y="2532888"/>
            <a:ext cx="65531" cy="68580"/>
          </a:xfrm>
          <a:custGeom>
            <a:avLst/>
            <a:gdLst/>
            <a:ahLst/>
            <a:cxnLst/>
            <a:rect l="0" t="0" r="0" b="0"/>
            <a:pathLst>
              <a:path w="103" h="108">
                <a:moveTo>
                  <a:pt x="100" y="54"/>
                </a:moveTo>
                <a:cubicBezTo>
                  <a:pt x="100" y="82"/>
                  <a:pt x="78" y="105"/>
                  <a:pt x="51" y="105"/>
                </a:cubicBezTo>
                <a:cubicBezTo>
                  <a:pt x="24" y="105"/>
                  <a:pt x="2" y="82"/>
                  <a:pt x="2" y="54"/>
                </a:cubicBezTo>
                <a:cubicBezTo>
                  <a:pt x="2" y="25"/>
                  <a:pt x="24" y="2"/>
                  <a:pt x="51" y="2"/>
                </a:cubicBezTo>
                <a:cubicBezTo>
                  <a:pt x="78" y="2"/>
                  <a:pt x="100" y="25"/>
                  <a:pt x="100" y="54"/>
                </a:cubicBezTo>
              </a:path>
            </a:pathLst>
          </a:custGeom>
          <a:noFill/>
          <a:ln w="3048" cap="flat">
            <a:solidFill>
              <a:srgbClr val="FFFFFF">
                <a:alpha val="100000"/>
              </a:srgbClr>
            </a:solidFill>
            <a:prstDash val="solid"/>
            <a:round/>
          </a:ln>
        </p:spPr>
        <p:txBody>
          <a:bodyPr rtlCol="0"/>
          <a:lstStyle/>
          <a:p>
            <a:pPr algn="ctr"/>
            <a:endParaRPr lang="zh-CN" altLang="en-US"/>
          </a:p>
        </p:txBody>
      </p:sp>
      <p:sp>
        <p:nvSpPr>
          <p:cNvPr id="272" name="path"/>
          <p:cNvSpPr/>
          <p:nvPr/>
        </p:nvSpPr>
        <p:spPr>
          <a:xfrm>
            <a:off x="6164579" y="2269236"/>
            <a:ext cx="65532" cy="68579"/>
          </a:xfrm>
          <a:custGeom>
            <a:avLst/>
            <a:gdLst/>
            <a:ahLst/>
            <a:cxnLst/>
            <a:rect l="0" t="0" r="0" b="0"/>
            <a:pathLst>
              <a:path w="103" h="107">
                <a:moveTo>
                  <a:pt x="100" y="54"/>
                </a:moveTo>
                <a:cubicBezTo>
                  <a:pt x="100" y="82"/>
                  <a:pt x="78" y="105"/>
                  <a:pt x="51" y="105"/>
                </a:cubicBezTo>
                <a:cubicBezTo>
                  <a:pt x="24" y="105"/>
                  <a:pt x="2" y="82"/>
                  <a:pt x="2" y="54"/>
                </a:cubicBezTo>
                <a:cubicBezTo>
                  <a:pt x="2" y="25"/>
                  <a:pt x="24" y="2"/>
                  <a:pt x="51" y="2"/>
                </a:cubicBezTo>
                <a:cubicBezTo>
                  <a:pt x="78" y="2"/>
                  <a:pt x="100" y="25"/>
                  <a:pt x="100" y="54"/>
                </a:cubicBezTo>
              </a:path>
            </a:pathLst>
          </a:custGeom>
          <a:noFill/>
          <a:ln w="3048" cap="flat">
            <a:solidFill>
              <a:srgbClr val="FFFFFF">
                <a:alpha val="100000"/>
              </a:srgbClr>
            </a:solidFill>
            <a:prstDash val="solid"/>
            <a:round/>
          </a:ln>
        </p:spPr>
        <p:txBody>
          <a:bodyPr rtlCol="0"/>
          <a:lstStyle/>
          <a:p>
            <a:pPr algn="ctr"/>
            <a:endParaRPr lang="zh-CN" altLang="en-US"/>
          </a:p>
        </p:txBody>
      </p:sp>
      <p:grpSp>
        <p:nvGrpSpPr>
          <p:cNvPr id="38" name="group 38"/>
          <p:cNvGrpSpPr/>
          <p:nvPr/>
        </p:nvGrpSpPr>
        <p:grpSpPr>
          <a:xfrm rot="21600000">
            <a:off x="7281672" y="1944624"/>
            <a:ext cx="65531" cy="68579"/>
            <a:chOff x="0" y="0"/>
            <a:chExt cx="65531" cy="68579"/>
          </a:xfrm>
        </p:grpSpPr>
        <p:sp>
          <p:nvSpPr>
            <p:cNvPr id="273" name="path"/>
            <p:cNvSpPr/>
            <p:nvPr/>
          </p:nvSpPr>
          <p:spPr>
            <a:xfrm>
              <a:off x="1523" y="1523"/>
              <a:ext cx="62483" cy="65532"/>
            </a:xfrm>
            <a:custGeom>
              <a:avLst/>
              <a:gdLst/>
              <a:ahLst/>
              <a:cxnLst/>
              <a:rect l="0" t="0" r="0" b="0"/>
              <a:pathLst>
                <a:path w="98" h="103">
                  <a:moveTo>
                    <a:pt x="0" y="103"/>
                  </a:moveTo>
                  <a:lnTo>
                    <a:pt x="98" y="103"/>
                  </a:lnTo>
                  <a:lnTo>
                    <a:pt x="98" y="0"/>
                  </a:lnTo>
                  <a:lnTo>
                    <a:pt x="0" y="0"/>
                  </a:lnTo>
                  <a:lnTo>
                    <a:pt x="0" y="103"/>
                  </a:lnTo>
                  <a:close/>
                </a:path>
              </a:pathLst>
            </a:custGeom>
            <a:solidFill>
              <a:srgbClr val="0065BD">
                <a:alpha val="100000"/>
              </a:srgbClr>
            </a:solidFill>
            <a:ln cap="flat">
              <a:noFill/>
              <a:prstDash val="solid"/>
              <a:miter lim="0"/>
            </a:ln>
          </p:spPr>
          <p:txBody>
            <a:bodyPr rtlCol="0"/>
            <a:lstStyle/>
            <a:p>
              <a:pPr algn="ctr"/>
              <a:endParaRPr lang="zh-CN" altLang="en-US"/>
            </a:p>
          </p:txBody>
        </p:sp>
        <p:sp>
          <p:nvSpPr>
            <p:cNvPr id="274" name="path"/>
            <p:cNvSpPr/>
            <p:nvPr/>
          </p:nvSpPr>
          <p:spPr>
            <a:xfrm>
              <a:off x="0" y="0"/>
              <a:ext cx="65531" cy="68579"/>
            </a:xfrm>
            <a:custGeom>
              <a:avLst/>
              <a:gdLst/>
              <a:ahLst/>
              <a:cxnLst/>
              <a:rect l="0" t="0" r="0" b="0"/>
              <a:pathLst>
                <a:path w="103" h="107">
                  <a:moveTo>
                    <a:pt x="2" y="105"/>
                  </a:moveTo>
                  <a:lnTo>
                    <a:pt x="100" y="105"/>
                  </a:lnTo>
                  <a:lnTo>
                    <a:pt x="100" y="2"/>
                  </a:lnTo>
                  <a:lnTo>
                    <a:pt x="2" y="2"/>
                  </a:lnTo>
                  <a:lnTo>
                    <a:pt x="2" y="105"/>
                  </a:lnTo>
                  <a:close/>
                </a:path>
              </a:pathLst>
            </a:custGeom>
            <a:noFill/>
            <a:ln w="3048" cap="flat">
              <a:solidFill>
                <a:srgbClr val="FFFFFF">
                  <a:alpha val="100000"/>
                </a:srgbClr>
              </a:solidFill>
              <a:prstDash val="solid"/>
              <a:miter lim="800000"/>
            </a:ln>
          </p:spPr>
          <p:txBody>
            <a:bodyPr rtlCol="0"/>
            <a:lstStyle/>
            <a:p>
              <a:pPr algn="ctr"/>
              <a:endParaRPr lang="zh-CN" altLang="en-US"/>
            </a:p>
          </p:txBody>
        </p:sp>
      </p:grpSp>
      <p:grpSp>
        <p:nvGrpSpPr>
          <p:cNvPr id="40" name="group 40"/>
          <p:cNvGrpSpPr/>
          <p:nvPr/>
        </p:nvGrpSpPr>
        <p:grpSpPr>
          <a:xfrm rot="21600000">
            <a:off x="7281672" y="2189988"/>
            <a:ext cx="65531" cy="68579"/>
            <a:chOff x="0" y="0"/>
            <a:chExt cx="65531" cy="68579"/>
          </a:xfrm>
        </p:grpSpPr>
        <p:sp>
          <p:nvSpPr>
            <p:cNvPr id="275" name="path"/>
            <p:cNvSpPr/>
            <p:nvPr/>
          </p:nvSpPr>
          <p:spPr>
            <a:xfrm>
              <a:off x="1523" y="1523"/>
              <a:ext cx="62483" cy="65532"/>
            </a:xfrm>
            <a:custGeom>
              <a:avLst/>
              <a:gdLst/>
              <a:ahLst/>
              <a:cxnLst/>
              <a:rect l="0" t="0" r="0" b="0"/>
              <a:pathLst>
                <a:path w="98" h="103">
                  <a:moveTo>
                    <a:pt x="0" y="103"/>
                  </a:moveTo>
                  <a:lnTo>
                    <a:pt x="98" y="103"/>
                  </a:lnTo>
                  <a:lnTo>
                    <a:pt x="98" y="0"/>
                  </a:lnTo>
                  <a:lnTo>
                    <a:pt x="0" y="0"/>
                  </a:lnTo>
                  <a:lnTo>
                    <a:pt x="0" y="103"/>
                  </a:lnTo>
                  <a:close/>
                </a:path>
              </a:pathLst>
            </a:custGeom>
            <a:solidFill>
              <a:srgbClr val="0065BD">
                <a:alpha val="100000"/>
              </a:srgbClr>
            </a:solidFill>
            <a:ln cap="flat">
              <a:noFill/>
              <a:prstDash val="solid"/>
              <a:miter lim="0"/>
            </a:ln>
          </p:spPr>
          <p:txBody>
            <a:bodyPr rtlCol="0"/>
            <a:lstStyle/>
            <a:p>
              <a:pPr algn="ctr"/>
              <a:endParaRPr lang="zh-CN" altLang="en-US"/>
            </a:p>
          </p:txBody>
        </p:sp>
        <p:sp>
          <p:nvSpPr>
            <p:cNvPr id="276" name="path"/>
            <p:cNvSpPr/>
            <p:nvPr/>
          </p:nvSpPr>
          <p:spPr>
            <a:xfrm>
              <a:off x="0" y="0"/>
              <a:ext cx="65531" cy="68579"/>
            </a:xfrm>
            <a:custGeom>
              <a:avLst/>
              <a:gdLst/>
              <a:ahLst/>
              <a:cxnLst/>
              <a:rect l="0" t="0" r="0" b="0"/>
              <a:pathLst>
                <a:path w="103" h="107">
                  <a:moveTo>
                    <a:pt x="2" y="105"/>
                  </a:moveTo>
                  <a:lnTo>
                    <a:pt x="100" y="105"/>
                  </a:lnTo>
                  <a:lnTo>
                    <a:pt x="100" y="2"/>
                  </a:lnTo>
                  <a:lnTo>
                    <a:pt x="2" y="2"/>
                  </a:lnTo>
                  <a:lnTo>
                    <a:pt x="2" y="105"/>
                  </a:lnTo>
                  <a:close/>
                </a:path>
              </a:pathLst>
            </a:custGeom>
            <a:noFill/>
            <a:ln w="3048" cap="flat">
              <a:solidFill>
                <a:srgbClr val="FFFFFF">
                  <a:alpha val="100000"/>
                </a:srgbClr>
              </a:solidFill>
              <a:prstDash val="solid"/>
              <a:miter lim="800000"/>
            </a:ln>
          </p:spPr>
          <p:txBody>
            <a:bodyPr rtlCol="0"/>
            <a:lstStyle/>
            <a:p>
              <a:pPr algn="ctr"/>
              <a:endParaRPr lang="zh-CN" altLang="en-US"/>
            </a:p>
          </p:txBody>
        </p:sp>
      </p:grpSp>
      <p:grpSp>
        <p:nvGrpSpPr>
          <p:cNvPr id="42" name="group 42"/>
          <p:cNvGrpSpPr/>
          <p:nvPr/>
        </p:nvGrpSpPr>
        <p:grpSpPr>
          <a:xfrm rot="21600000">
            <a:off x="7272528" y="2078735"/>
            <a:ext cx="65531" cy="68579"/>
            <a:chOff x="0" y="0"/>
            <a:chExt cx="65531" cy="68579"/>
          </a:xfrm>
        </p:grpSpPr>
        <p:sp>
          <p:nvSpPr>
            <p:cNvPr id="277" name="path"/>
            <p:cNvSpPr/>
            <p:nvPr/>
          </p:nvSpPr>
          <p:spPr>
            <a:xfrm>
              <a:off x="1523" y="1523"/>
              <a:ext cx="62483" cy="65532"/>
            </a:xfrm>
            <a:custGeom>
              <a:avLst/>
              <a:gdLst/>
              <a:ahLst/>
              <a:cxnLst/>
              <a:rect l="0" t="0" r="0" b="0"/>
              <a:pathLst>
                <a:path w="98" h="103">
                  <a:moveTo>
                    <a:pt x="0" y="103"/>
                  </a:moveTo>
                  <a:lnTo>
                    <a:pt x="98" y="103"/>
                  </a:lnTo>
                  <a:lnTo>
                    <a:pt x="98" y="0"/>
                  </a:lnTo>
                  <a:lnTo>
                    <a:pt x="0" y="0"/>
                  </a:lnTo>
                  <a:lnTo>
                    <a:pt x="0" y="103"/>
                  </a:lnTo>
                  <a:close/>
                </a:path>
              </a:pathLst>
            </a:custGeom>
            <a:solidFill>
              <a:srgbClr val="0065BD">
                <a:alpha val="100000"/>
              </a:srgbClr>
            </a:solidFill>
            <a:ln cap="flat">
              <a:noFill/>
              <a:prstDash val="solid"/>
              <a:miter lim="0"/>
            </a:ln>
          </p:spPr>
          <p:txBody>
            <a:bodyPr rtlCol="0"/>
            <a:lstStyle/>
            <a:p>
              <a:pPr algn="ctr"/>
              <a:endParaRPr lang="zh-CN" altLang="en-US"/>
            </a:p>
          </p:txBody>
        </p:sp>
        <p:sp>
          <p:nvSpPr>
            <p:cNvPr id="278" name="path"/>
            <p:cNvSpPr/>
            <p:nvPr/>
          </p:nvSpPr>
          <p:spPr>
            <a:xfrm>
              <a:off x="0" y="0"/>
              <a:ext cx="65531" cy="68579"/>
            </a:xfrm>
            <a:custGeom>
              <a:avLst/>
              <a:gdLst/>
              <a:ahLst/>
              <a:cxnLst/>
              <a:rect l="0" t="0" r="0" b="0"/>
              <a:pathLst>
                <a:path w="103" h="107">
                  <a:moveTo>
                    <a:pt x="2" y="105"/>
                  </a:moveTo>
                  <a:lnTo>
                    <a:pt x="100" y="105"/>
                  </a:lnTo>
                  <a:lnTo>
                    <a:pt x="100" y="2"/>
                  </a:lnTo>
                  <a:lnTo>
                    <a:pt x="2" y="2"/>
                  </a:lnTo>
                  <a:lnTo>
                    <a:pt x="2" y="105"/>
                  </a:lnTo>
                  <a:close/>
                </a:path>
              </a:pathLst>
            </a:custGeom>
            <a:noFill/>
            <a:ln w="3048" cap="flat">
              <a:solidFill>
                <a:srgbClr val="FFFFFF">
                  <a:alpha val="100000"/>
                </a:srgbClr>
              </a:solidFill>
              <a:prstDash val="solid"/>
              <a:miter lim="800000"/>
            </a:ln>
          </p:spPr>
          <p:txBody>
            <a:bodyPr rtlCol="0"/>
            <a:lstStyle/>
            <a:p>
              <a:pPr algn="ctr"/>
              <a:endParaRPr lang="zh-CN" altLang="en-US"/>
            </a:p>
          </p:txBody>
        </p:sp>
      </p:grpSp>
      <p:sp>
        <p:nvSpPr>
          <p:cNvPr id="279" name="rect"/>
          <p:cNvSpPr/>
          <p:nvPr/>
        </p:nvSpPr>
        <p:spPr>
          <a:xfrm>
            <a:off x="7010400" y="2773679"/>
            <a:ext cx="62483" cy="65532"/>
          </a:xfrm>
          <a:prstGeom prst="rect">
            <a:avLst/>
          </a:prstGeom>
          <a:solidFill>
            <a:srgbClr val="0065BD">
              <a:alpha val="100000"/>
            </a:srgbClr>
          </a:solidFill>
          <a:ln cap="flat">
            <a:noFill/>
            <a:prstDash val="solid"/>
            <a:miter lim="0"/>
          </a:ln>
        </p:spPr>
        <p:txBody>
          <a:bodyPr rtlCol="0"/>
          <a:lstStyle/>
          <a:p>
            <a:pPr algn="ctr"/>
            <a:endParaRPr lang="zh-CN" altLang="en-US"/>
          </a:p>
        </p:txBody>
      </p:sp>
      <p:sp>
        <p:nvSpPr>
          <p:cNvPr id="280" name="path"/>
          <p:cNvSpPr/>
          <p:nvPr/>
        </p:nvSpPr>
        <p:spPr>
          <a:xfrm>
            <a:off x="7008876" y="2772155"/>
            <a:ext cx="65531" cy="68579"/>
          </a:xfrm>
          <a:custGeom>
            <a:avLst/>
            <a:gdLst/>
            <a:ahLst/>
            <a:cxnLst/>
            <a:rect l="0" t="0" r="0" b="0"/>
            <a:pathLst>
              <a:path w="103" h="107">
                <a:moveTo>
                  <a:pt x="2" y="105"/>
                </a:moveTo>
                <a:lnTo>
                  <a:pt x="100" y="105"/>
                </a:lnTo>
                <a:lnTo>
                  <a:pt x="100" y="2"/>
                </a:lnTo>
                <a:lnTo>
                  <a:pt x="2" y="2"/>
                </a:lnTo>
                <a:lnTo>
                  <a:pt x="2" y="105"/>
                </a:lnTo>
                <a:close/>
              </a:path>
            </a:pathLst>
          </a:custGeom>
          <a:noFill/>
          <a:ln w="3048" cap="flat">
            <a:solidFill>
              <a:srgbClr val="FFFFFF">
                <a:alpha val="100000"/>
              </a:srgbClr>
            </a:solidFill>
            <a:prstDash val="solid"/>
            <a:miter lim="800000"/>
          </a:ln>
        </p:spPr>
        <p:txBody>
          <a:bodyPr rtlCol="0"/>
          <a:lstStyle/>
          <a:p>
            <a:pPr algn="ctr"/>
            <a:endParaRPr lang="zh-CN" altLang="en-US"/>
          </a:p>
        </p:txBody>
      </p:sp>
      <p:sp>
        <p:nvSpPr>
          <p:cNvPr id="281" name="rect"/>
          <p:cNvSpPr/>
          <p:nvPr/>
        </p:nvSpPr>
        <p:spPr>
          <a:xfrm>
            <a:off x="7010400" y="2418588"/>
            <a:ext cx="62483" cy="65532"/>
          </a:xfrm>
          <a:prstGeom prst="rect">
            <a:avLst/>
          </a:prstGeom>
          <a:solidFill>
            <a:srgbClr val="0065BD">
              <a:alpha val="100000"/>
            </a:srgbClr>
          </a:solidFill>
          <a:ln cap="flat">
            <a:noFill/>
            <a:prstDash val="solid"/>
            <a:miter lim="0"/>
          </a:ln>
        </p:spPr>
        <p:txBody>
          <a:bodyPr rtlCol="0"/>
          <a:lstStyle/>
          <a:p>
            <a:pPr algn="ctr"/>
            <a:endParaRPr lang="zh-CN" altLang="en-US"/>
          </a:p>
        </p:txBody>
      </p:sp>
      <p:sp>
        <p:nvSpPr>
          <p:cNvPr id="282" name="path"/>
          <p:cNvSpPr/>
          <p:nvPr/>
        </p:nvSpPr>
        <p:spPr>
          <a:xfrm>
            <a:off x="7008876" y="2417064"/>
            <a:ext cx="65531" cy="68579"/>
          </a:xfrm>
          <a:custGeom>
            <a:avLst/>
            <a:gdLst/>
            <a:ahLst/>
            <a:cxnLst/>
            <a:rect l="0" t="0" r="0" b="0"/>
            <a:pathLst>
              <a:path w="103" h="107">
                <a:moveTo>
                  <a:pt x="2" y="105"/>
                </a:moveTo>
                <a:lnTo>
                  <a:pt x="100" y="105"/>
                </a:lnTo>
                <a:lnTo>
                  <a:pt x="100" y="2"/>
                </a:lnTo>
                <a:lnTo>
                  <a:pt x="2" y="2"/>
                </a:lnTo>
                <a:lnTo>
                  <a:pt x="2" y="105"/>
                </a:lnTo>
                <a:close/>
              </a:path>
            </a:pathLst>
          </a:custGeom>
          <a:noFill/>
          <a:ln w="3048" cap="flat">
            <a:solidFill>
              <a:srgbClr val="FFFFFF">
                <a:alpha val="100000"/>
              </a:srgbClr>
            </a:solidFill>
            <a:prstDash val="solid"/>
            <a:miter lim="800000"/>
          </a:ln>
        </p:spPr>
        <p:txBody>
          <a:bodyPr rtlCol="0"/>
          <a:lstStyle/>
          <a:p>
            <a:pPr algn="ctr"/>
            <a:endParaRPr lang="zh-CN" altLang="en-US"/>
          </a:p>
        </p:txBody>
      </p:sp>
      <p:grpSp>
        <p:nvGrpSpPr>
          <p:cNvPr id="44" name="group 44"/>
          <p:cNvGrpSpPr/>
          <p:nvPr/>
        </p:nvGrpSpPr>
        <p:grpSpPr>
          <a:xfrm rot="21600000">
            <a:off x="7427976" y="1918716"/>
            <a:ext cx="65531" cy="68579"/>
            <a:chOff x="0" y="0"/>
            <a:chExt cx="65531" cy="68579"/>
          </a:xfrm>
        </p:grpSpPr>
        <p:sp>
          <p:nvSpPr>
            <p:cNvPr id="283" name="path"/>
            <p:cNvSpPr/>
            <p:nvPr/>
          </p:nvSpPr>
          <p:spPr>
            <a:xfrm>
              <a:off x="1523" y="1523"/>
              <a:ext cx="62483" cy="65532"/>
            </a:xfrm>
            <a:custGeom>
              <a:avLst/>
              <a:gdLst/>
              <a:ahLst/>
              <a:cxnLst/>
              <a:rect l="0" t="0" r="0" b="0"/>
              <a:pathLst>
                <a:path w="98" h="103">
                  <a:moveTo>
                    <a:pt x="0" y="103"/>
                  </a:moveTo>
                  <a:lnTo>
                    <a:pt x="98" y="103"/>
                  </a:lnTo>
                  <a:lnTo>
                    <a:pt x="98" y="0"/>
                  </a:lnTo>
                  <a:lnTo>
                    <a:pt x="0" y="0"/>
                  </a:lnTo>
                  <a:lnTo>
                    <a:pt x="0" y="103"/>
                  </a:lnTo>
                  <a:close/>
                </a:path>
              </a:pathLst>
            </a:custGeom>
            <a:solidFill>
              <a:srgbClr val="0065BD">
                <a:alpha val="100000"/>
              </a:srgbClr>
            </a:solidFill>
            <a:ln cap="flat">
              <a:noFill/>
              <a:prstDash val="solid"/>
              <a:miter lim="0"/>
            </a:ln>
          </p:spPr>
          <p:txBody>
            <a:bodyPr rtlCol="0"/>
            <a:lstStyle/>
            <a:p>
              <a:pPr algn="ctr"/>
              <a:endParaRPr lang="zh-CN" altLang="en-US"/>
            </a:p>
          </p:txBody>
        </p:sp>
        <p:sp>
          <p:nvSpPr>
            <p:cNvPr id="284" name="path"/>
            <p:cNvSpPr/>
            <p:nvPr/>
          </p:nvSpPr>
          <p:spPr>
            <a:xfrm>
              <a:off x="0" y="0"/>
              <a:ext cx="65531" cy="68579"/>
            </a:xfrm>
            <a:custGeom>
              <a:avLst/>
              <a:gdLst/>
              <a:ahLst/>
              <a:cxnLst/>
              <a:rect l="0" t="0" r="0" b="0"/>
              <a:pathLst>
                <a:path w="103" h="107">
                  <a:moveTo>
                    <a:pt x="2" y="105"/>
                  </a:moveTo>
                  <a:lnTo>
                    <a:pt x="100" y="105"/>
                  </a:lnTo>
                  <a:lnTo>
                    <a:pt x="100" y="2"/>
                  </a:lnTo>
                  <a:lnTo>
                    <a:pt x="2" y="2"/>
                  </a:lnTo>
                  <a:lnTo>
                    <a:pt x="2" y="105"/>
                  </a:lnTo>
                  <a:close/>
                </a:path>
              </a:pathLst>
            </a:custGeom>
            <a:noFill/>
            <a:ln w="3048" cap="flat">
              <a:solidFill>
                <a:srgbClr val="FFFFFF">
                  <a:alpha val="100000"/>
                </a:srgbClr>
              </a:solidFill>
              <a:prstDash val="solid"/>
              <a:miter lim="800000"/>
            </a:ln>
          </p:spPr>
          <p:txBody>
            <a:bodyPr rtlCol="0"/>
            <a:lstStyle/>
            <a:p>
              <a:pPr algn="ctr"/>
              <a:endParaRPr lang="zh-CN" altLang="en-US"/>
            </a:p>
          </p:txBody>
        </p:sp>
      </p:grpSp>
      <p:grpSp>
        <p:nvGrpSpPr>
          <p:cNvPr id="46" name="group 46"/>
          <p:cNvGrpSpPr/>
          <p:nvPr/>
        </p:nvGrpSpPr>
        <p:grpSpPr>
          <a:xfrm rot="21600000">
            <a:off x="7167372" y="2020824"/>
            <a:ext cx="65531" cy="68579"/>
            <a:chOff x="0" y="0"/>
            <a:chExt cx="65531" cy="68579"/>
          </a:xfrm>
        </p:grpSpPr>
        <p:sp>
          <p:nvSpPr>
            <p:cNvPr id="285" name="path"/>
            <p:cNvSpPr/>
            <p:nvPr/>
          </p:nvSpPr>
          <p:spPr>
            <a:xfrm>
              <a:off x="1523" y="1523"/>
              <a:ext cx="62483" cy="65532"/>
            </a:xfrm>
            <a:custGeom>
              <a:avLst/>
              <a:gdLst/>
              <a:ahLst/>
              <a:cxnLst/>
              <a:rect l="0" t="0" r="0" b="0"/>
              <a:pathLst>
                <a:path w="98" h="103">
                  <a:moveTo>
                    <a:pt x="0" y="103"/>
                  </a:moveTo>
                  <a:lnTo>
                    <a:pt x="98" y="103"/>
                  </a:lnTo>
                  <a:lnTo>
                    <a:pt x="98" y="0"/>
                  </a:lnTo>
                  <a:lnTo>
                    <a:pt x="0" y="0"/>
                  </a:lnTo>
                  <a:lnTo>
                    <a:pt x="0" y="103"/>
                  </a:lnTo>
                  <a:close/>
                </a:path>
              </a:pathLst>
            </a:custGeom>
            <a:solidFill>
              <a:srgbClr val="0065BD">
                <a:alpha val="100000"/>
              </a:srgbClr>
            </a:solidFill>
            <a:ln cap="flat">
              <a:noFill/>
              <a:prstDash val="solid"/>
              <a:miter lim="0"/>
            </a:ln>
          </p:spPr>
          <p:txBody>
            <a:bodyPr rtlCol="0"/>
            <a:lstStyle/>
            <a:p>
              <a:pPr algn="ctr"/>
              <a:endParaRPr lang="zh-CN" altLang="en-US"/>
            </a:p>
          </p:txBody>
        </p:sp>
        <p:sp>
          <p:nvSpPr>
            <p:cNvPr id="286" name="path"/>
            <p:cNvSpPr/>
            <p:nvPr/>
          </p:nvSpPr>
          <p:spPr>
            <a:xfrm>
              <a:off x="0" y="0"/>
              <a:ext cx="65531" cy="68579"/>
            </a:xfrm>
            <a:custGeom>
              <a:avLst/>
              <a:gdLst/>
              <a:ahLst/>
              <a:cxnLst/>
              <a:rect l="0" t="0" r="0" b="0"/>
              <a:pathLst>
                <a:path w="103" h="107">
                  <a:moveTo>
                    <a:pt x="2" y="105"/>
                  </a:moveTo>
                  <a:lnTo>
                    <a:pt x="100" y="105"/>
                  </a:lnTo>
                  <a:lnTo>
                    <a:pt x="100" y="2"/>
                  </a:lnTo>
                  <a:lnTo>
                    <a:pt x="2" y="2"/>
                  </a:lnTo>
                  <a:lnTo>
                    <a:pt x="2" y="105"/>
                  </a:lnTo>
                  <a:close/>
                </a:path>
              </a:pathLst>
            </a:custGeom>
            <a:noFill/>
            <a:ln w="3048" cap="flat">
              <a:solidFill>
                <a:srgbClr val="FFFFFF">
                  <a:alpha val="100000"/>
                </a:srgbClr>
              </a:solidFill>
              <a:prstDash val="solid"/>
              <a:miter lim="800000"/>
            </a:ln>
          </p:spPr>
          <p:txBody>
            <a:bodyPr rtlCol="0"/>
            <a:lstStyle/>
            <a:p>
              <a:pPr algn="ctr"/>
              <a:endParaRPr lang="zh-CN" altLang="en-US"/>
            </a:p>
          </p:txBody>
        </p:sp>
      </p:grpSp>
      <p:sp>
        <p:nvSpPr>
          <p:cNvPr id="287" name="rect"/>
          <p:cNvSpPr/>
          <p:nvPr/>
        </p:nvSpPr>
        <p:spPr>
          <a:xfrm>
            <a:off x="7348727" y="2796540"/>
            <a:ext cx="62483" cy="65532"/>
          </a:xfrm>
          <a:prstGeom prst="rect">
            <a:avLst/>
          </a:prstGeom>
          <a:solidFill>
            <a:srgbClr val="0065BD">
              <a:alpha val="100000"/>
            </a:srgbClr>
          </a:solidFill>
          <a:ln cap="flat">
            <a:noFill/>
            <a:prstDash val="solid"/>
            <a:miter lim="0"/>
          </a:ln>
        </p:spPr>
        <p:txBody>
          <a:bodyPr rtlCol="0"/>
          <a:lstStyle/>
          <a:p>
            <a:pPr algn="ctr"/>
            <a:endParaRPr lang="zh-CN" altLang="en-US"/>
          </a:p>
        </p:txBody>
      </p:sp>
      <p:sp>
        <p:nvSpPr>
          <p:cNvPr id="288" name="path"/>
          <p:cNvSpPr/>
          <p:nvPr/>
        </p:nvSpPr>
        <p:spPr>
          <a:xfrm>
            <a:off x="7347203" y="2795016"/>
            <a:ext cx="65531" cy="68579"/>
          </a:xfrm>
          <a:custGeom>
            <a:avLst/>
            <a:gdLst/>
            <a:ahLst/>
            <a:cxnLst/>
            <a:rect l="0" t="0" r="0" b="0"/>
            <a:pathLst>
              <a:path w="103" h="107">
                <a:moveTo>
                  <a:pt x="2" y="105"/>
                </a:moveTo>
                <a:lnTo>
                  <a:pt x="100" y="105"/>
                </a:lnTo>
                <a:lnTo>
                  <a:pt x="100" y="2"/>
                </a:lnTo>
                <a:lnTo>
                  <a:pt x="2" y="2"/>
                </a:lnTo>
                <a:lnTo>
                  <a:pt x="2" y="105"/>
                </a:lnTo>
                <a:close/>
              </a:path>
            </a:pathLst>
          </a:custGeom>
          <a:noFill/>
          <a:ln w="3048" cap="flat">
            <a:solidFill>
              <a:srgbClr val="FFFFFF">
                <a:alpha val="100000"/>
              </a:srgbClr>
            </a:solidFill>
            <a:prstDash val="solid"/>
            <a:miter lim="800000"/>
          </a:ln>
        </p:spPr>
        <p:txBody>
          <a:bodyPr rtlCol="0"/>
          <a:lstStyle/>
          <a:p>
            <a:pPr algn="ctr"/>
            <a:endParaRPr lang="zh-CN" altLang="en-US"/>
          </a:p>
        </p:txBody>
      </p:sp>
      <p:sp>
        <p:nvSpPr>
          <p:cNvPr id="289" name="path"/>
          <p:cNvSpPr/>
          <p:nvPr/>
        </p:nvSpPr>
        <p:spPr>
          <a:xfrm>
            <a:off x="5675376" y="2688336"/>
            <a:ext cx="65531" cy="68579"/>
          </a:xfrm>
          <a:custGeom>
            <a:avLst/>
            <a:gdLst/>
            <a:ahLst/>
            <a:cxnLst/>
            <a:rect l="0" t="0" r="0" b="0"/>
            <a:pathLst>
              <a:path w="103" h="107">
                <a:moveTo>
                  <a:pt x="100" y="54"/>
                </a:moveTo>
                <a:cubicBezTo>
                  <a:pt x="100" y="82"/>
                  <a:pt x="78" y="105"/>
                  <a:pt x="51" y="105"/>
                </a:cubicBezTo>
                <a:cubicBezTo>
                  <a:pt x="24" y="105"/>
                  <a:pt x="2" y="82"/>
                  <a:pt x="2" y="54"/>
                </a:cubicBezTo>
                <a:cubicBezTo>
                  <a:pt x="2" y="25"/>
                  <a:pt x="24" y="2"/>
                  <a:pt x="51" y="2"/>
                </a:cubicBezTo>
                <a:cubicBezTo>
                  <a:pt x="78" y="2"/>
                  <a:pt x="100" y="25"/>
                  <a:pt x="100" y="54"/>
                </a:cubicBezTo>
              </a:path>
            </a:pathLst>
          </a:custGeom>
          <a:noFill/>
          <a:ln w="3048" cap="flat">
            <a:solidFill>
              <a:srgbClr val="FFFFFF">
                <a:alpha val="100000"/>
              </a:srgbClr>
            </a:solidFill>
            <a:prstDash val="solid"/>
            <a:round/>
          </a:ln>
        </p:spPr>
        <p:txBody>
          <a:bodyPr rtlCol="0"/>
          <a:lstStyle/>
          <a:p>
            <a:pPr algn="ctr"/>
            <a:endParaRPr lang="zh-CN" altLang="en-US"/>
          </a:p>
        </p:txBody>
      </p:sp>
      <p:sp>
        <p:nvSpPr>
          <p:cNvPr id="290" name="path"/>
          <p:cNvSpPr/>
          <p:nvPr/>
        </p:nvSpPr>
        <p:spPr>
          <a:xfrm>
            <a:off x="5865876" y="2078736"/>
            <a:ext cx="65531" cy="68579"/>
          </a:xfrm>
          <a:custGeom>
            <a:avLst/>
            <a:gdLst/>
            <a:ahLst/>
            <a:cxnLst/>
            <a:rect l="0" t="0" r="0" b="0"/>
            <a:pathLst>
              <a:path w="103" h="107">
                <a:moveTo>
                  <a:pt x="100" y="54"/>
                </a:moveTo>
                <a:cubicBezTo>
                  <a:pt x="100" y="82"/>
                  <a:pt x="78" y="105"/>
                  <a:pt x="51" y="105"/>
                </a:cubicBezTo>
                <a:cubicBezTo>
                  <a:pt x="24" y="105"/>
                  <a:pt x="2" y="82"/>
                  <a:pt x="2" y="54"/>
                </a:cubicBezTo>
                <a:cubicBezTo>
                  <a:pt x="2" y="25"/>
                  <a:pt x="24" y="2"/>
                  <a:pt x="51" y="2"/>
                </a:cubicBezTo>
                <a:cubicBezTo>
                  <a:pt x="78" y="2"/>
                  <a:pt x="100" y="25"/>
                  <a:pt x="100" y="54"/>
                </a:cubicBezTo>
              </a:path>
            </a:pathLst>
          </a:custGeom>
          <a:noFill/>
          <a:ln w="3048" cap="flat">
            <a:solidFill>
              <a:srgbClr val="FFFFFF">
                <a:alpha val="100000"/>
              </a:srgbClr>
            </a:solidFill>
            <a:prstDash val="solid"/>
            <a:round/>
          </a:ln>
        </p:spPr>
        <p:txBody>
          <a:bodyPr rtlCol="0"/>
          <a:lstStyle/>
          <a:p>
            <a:pPr algn="ct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1" name="table 291"/>
          <p:cNvGraphicFramePr>
            <a:graphicFrameLocks noGrp="1"/>
          </p:cNvGraphicFramePr>
          <p:nvPr/>
        </p:nvGraphicFramePr>
        <p:xfrm>
          <a:off x="4494276" y="1135379"/>
          <a:ext cx="4245609" cy="4834890"/>
        </p:xfrm>
        <a:graphic>
          <a:graphicData uri="http://schemas.openxmlformats.org/drawingml/2006/table">
            <a:tbl>
              <a:tblPr/>
              <a:tblGrid>
                <a:gridCol w="4245609"/>
              </a:tblGrid>
              <a:tr h="4834890">
                <a:tc>
                  <a:txBody>
                    <a:bodyPr/>
                    <a:lstStyle/>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marL="120015" algn="l" rtl="0" eaLnBrk="0">
                        <a:lnSpc>
                          <a:spcPct val="100000"/>
                        </a:lnSpc>
                        <a:spcBef>
                          <a:spcPts val="5"/>
                        </a:spcBef>
                      </a:pPr>
                      <a:r>
                        <a:rPr sz="1500" spc="7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70" dirty="0">
                          <a:ln w="5799"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过于复</a:t>
                      </a:r>
                      <a:r>
                        <a:rPr sz="1500" spc="60" dirty="0">
                          <a:ln w="5799"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杂</a:t>
                      </a:r>
                      <a:endParaRPr lang="en-US" altLang="en-US" sz="1500" dirty="0">
                        <a:latin typeface="微软雅黑" panose="020B0503020204020204" charset="-122"/>
                        <a:ea typeface="微软雅黑" panose="020B0503020204020204" charset="-122"/>
                      </a:endParaRPr>
                    </a:p>
                    <a:p>
                      <a:pPr marL="570230" indent="-269875" algn="l" rtl="0" eaLnBrk="0">
                        <a:lnSpc>
                          <a:spcPct val="100000"/>
                        </a:lnSpc>
                        <a:spcBef>
                          <a:spcPts val="705"/>
                        </a:spcBef>
                      </a:pPr>
                      <a:r>
                        <a:rPr sz="1500" spc="11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10" dirty="0">
                          <a:solidFill>
                            <a:srgbClr val="000000">
                              <a:alpha val="100000"/>
                            </a:srgbClr>
                          </a:solidFill>
                          <a:latin typeface="微软雅黑" panose="020B0503020204020204" charset="-122"/>
                          <a:ea typeface="微软雅黑" panose="020B0503020204020204" charset="-122"/>
                          <a:cs typeface="楷体" panose="02010609060101010101" charset="-122"/>
                        </a:rPr>
                        <a:t>公司里有太多客户细分方法，市场</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部</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和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销售部对客户细分的标准和用法不统</a:t>
                      </a:r>
                      <a:r>
                        <a:rPr sz="1500" spc="30" dirty="0">
                          <a:solidFill>
                            <a:srgbClr val="000000">
                              <a:alpha val="100000"/>
                            </a:srgbClr>
                          </a:solidFill>
                          <a:latin typeface="微软雅黑" panose="020B0503020204020204" charset="-122"/>
                          <a:ea typeface="微软雅黑" panose="020B0503020204020204" charset="-122"/>
                          <a:cs typeface="楷体" panose="02010609060101010101" charset="-122"/>
                        </a:rPr>
                        <a:t>一</a:t>
                      </a:r>
                      <a:endParaRPr lang="en-US" altLang="en-US" sz="1500" dirty="0">
                        <a:latin typeface="微软雅黑" panose="020B0503020204020204" charset="-122"/>
                        <a:ea typeface="微软雅黑" panose="020B0503020204020204" charset="-122"/>
                      </a:endParaRPr>
                    </a:p>
                    <a:p>
                      <a:pPr marL="581025" indent="-280670" algn="l" rtl="0" eaLnBrk="0">
                        <a:lnSpc>
                          <a:spcPct val="102000"/>
                        </a:lnSpc>
                        <a:spcBef>
                          <a:spcPts val="725"/>
                        </a:spcBef>
                      </a:pPr>
                      <a:r>
                        <a:rPr sz="1500" spc="11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10" dirty="0">
                          <a:solidFill>
                            <a:srgbClr val="000000">
                              <a:alpha val="100000"/>
                            </a:srgbClr>
                          </a:solidFill>
                          <a:latin typeface="微软雅黑" panose="020B0503020204020204" charset="-122"/>
                          <a:ea typeface="微软雅黑" panose="020B0503020204020204" charset="-122"/>
                          <a:cs typeface="楷体" panose="02010609060101010101" charset="-122"/>
                        </a:rPr>
                        <a:t>对客户需求理解非常深入细致，甚</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至</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关  </a:t>
                      </a:r>
                      <a:r>
                        <a:rPr sz="1500" spc="50" dirty="0">
                          <a:solidFill>
                            <a:srgbClr val="000000">
                              <a:alpha val="100000"/>
                            </a:srgbClr>
                          </a:solidFill>
                          <a:latin typeface="微软雅黑" panose="020B0503020204020204" charset="-122"/>
                          <a:ea typeface="微软雅黑" panose="020B0503020204020204" charset="-122"/>
                          <a:cs typeface="楷体" panose="02010609060101010101" charset="-122"/>
                        </a:rPr>
                        <a:t>注到单个客户的多样化需求， 导致</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过于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复杂的客户细分和繁杂低效的客户</a:t>
                      </a:r>
                      <a:r>
                        <a:rPr sz="1500" spc="40" dirty="0">
                          <a:solidFill>
                            <a:srgbClr val="000000">
                              <a:alpha val="100000"/>
                            </a:srgbClr>
                          </a:solidFill>
                          <a:latin typeface="微软雅黑" panose="020B0503020204020204" charset="-122"/>
                          <a:ea typeface="微软雅黑" panose="020B0503020204020204" charset="-122"/>
                          <a:cs typeface="楷体" panose="02010609060101010101" charset="-122"/>
                        </a:rPr>
                        <a:t>管</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理</a:t>
                      </a:r>
                      <a:endParaRPr lang="en-US" altLang="en-US" sz="1500" dirty="0">
                        <a:latin typeface="微软雅黑" panose="020B0503020204020204" charset="-122"/>
                        <a:ea typeface="微软雅黑" panose="020B0503020204020204" charset="-122"/>
                      </a:endParaRPr>
                    </a:p>
                    <a:p>
                      <a:pPr marL="120015" algn="l" rtl="0" eaLnBrk="0">
                        <a:lnSpc>
                          <a:spcPct val="99000"/>
                        </a:lnSpc>
                        <a:spcBef>
                          <a:spcPts val="1115"/>
                        </a:spcBef>
                      </a:pPr>
                      <a:r>
                        <a:rPr sz="1500" spc="9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9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对销售的意义不</a:t>
                      </a:r>
                      <a:r>
                        <a:rPr sz="1500" spc="4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大</a:t>
                      </a:r>
                      <a:endParaRPr lang="en-US" altLang="en-US" sz="1500" dirty="0">
                        <a:latin typeface="微软雅黑" panose="020B0503020204020204" charset="-122"/>
                        <a:ea typeface="微软雅黑" panose="020B0503020204020204" charset="-122"/>
                      </a:endParaRPr>
                    </a:p>
                    <a:p>
                      <a:pPr marL="300355" algn="l" rtl="0" eaLnBrk="0">
                        <a:lnSpc>
                          <a:spcPct val="99000"/>
                        </a:lnSpc>
                        <a:spcBef>
                          <a:spcPts val="620"/>
                        </a:spcBef>
                      </a:pPr>
                      <a:r>
                        <a:rPr sz="1500" spc="8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80" dirty="0">
                          <a:solidFill>
                            <a:srgbClr val="000000">
                              <a:alpha val="100000"/>
                            </a:srgbClr>
                          </a:solidFill>
                          <a:latin typeface="微软雅黑" panose="020B0503020204020204" charset="-122"/>
                          <a:ea typeface="微软雅黑" panose="020B0503020204020204" charset="-122"/>
                          <a:cs typeface="楷体" panose="02010609060101010101" charset="-122"/>
                        </a:rPr>
                        <a:t>不能解决销售资源分配的</a:t>
                      </a:r>
                      <a:r>
                        <a:rPr sz="1500" spc="70" dirty="0">
                          <a:solidFill>
                            <a:srgbClr val="000000">
                              <a:alpha val="100000"/>
                            </a:srgbClr>
                          </a:solidFill>
                          <a:latin typeface="微软雅黑" panose="020B0503020204020204" charset="-122"/>
                          <a:ea typeface="微软雅黑" panose="020B0503020204020204" charset="-122"/>
                          <a:cs typeface="楷体" panose="02010609060101010101" charset="-122"/>
                        </a:rPr>
                        <a:t>问</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题</a:t>
                      </a:r>
                      <a:endParaRPr lang="en-US" altLang="en-US" sz="1500" dirty="0">
                        <a:latin typeface="微软雅黑" panose="020B0503020204020204" charset="-122"/>
                        <a:ea typeface="微软雅黑" panose="020B0503020204020204" charset="-122"/>
                      </a:endParaRPr>
                    </a:p>
                    <a:p>
                      <a:pPr marL="592455" indent="-292100" algn="l" rtl="0" eaLnBrk="0">
                        <a:lnSpc>
                          <a:spcPct val="105000"/>
                        </a:lnSpc>
                        <a:spcBef>
                          <a:spcPts val="615"/>
                        </a:spcBef>
                      </a:pPr>
                      <a:r>
                        <a:rPr sz="1500" spc="3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30" dirty="0">
                          <a:solidFill>
                            <a:srgbClr val="000000">
                              <a:alpha val="100000"/>
                            </a:srgbClr>
                          </a:solidFill>
                          <a:latin typeface="微软雅黑" panose="020B0503020204020204" charset="-122"/>
                          <a:ea typeface="微软雅黑" panose="020B0503020204020204" charset="-122"/>
                          <a:cs typeface="楷体" panose="02010609060101010101" charset="-122"/>
                        </a:rPr>
                        <a:t>太理论化， 没有反应实际销售中的 “</a:t>
                      </a:r>
                      <a:r>
                        <a:rPr sz="1500" spc="10" dirty="0">
                          <a:solidFill>
                            <a:srgbClr val="000000">
                              <a:alpha val="100000"/>
                            </a:srgbClr>
                          </a:solidFill>
                          <a:latin typeface="微软雅黑" panose="020B0503020204020204" charset="-122"/>
                          <a:ea typeface="微软雅黑" panose="020B0503020204020204" charset="-122"/>
                          <a:cs typeface="楷体" panose="02010609060101010101" charset="-122"/>
                        </a:rPr>
                        <a:t>自</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280" dirty="0">
                          <a:solidFill>
                            <a:srgbClr val="000000">
                              <a:alpha val="100000"/>
                            </a:srgbClr>
                          </a:solidFill>
                          <a:latin typeface="微软雅黑" panose="020B0503020204020204" charset="-122"/>
                          <a:ea typeface="微软雅黑" panose="020B0503020204020204" charset="-122"/>
                          <a:cs typeface="楷体" panose="02010609060101010101" charset="-122"/>
                        </a:rPr>
                        <a:t>由度</a:t>
                      </a:r>
                      <a:r>
                        <a:rPr sz="1500" spc="250" dirty="0">
                          <a:solidFill>
                            <a:srgbClr val="000000">
                              <a:alpha val="100000"/>
                            </a:srgbClr>
                          </a:solidFill>
                          <a:latin typeface="微软雅黑" panose="020B0503020204020204" charset="-122"/>
                          <a:ea typeface="微软雅黑" panose="020B0503020204020204" charset="-122"/>
                          <a:cs typeface="楷体" panose="02010609060101010101" charset="-122"/>
                        </a:rPr>
                        <a:t>”</a:t>
                      </a:r>
                      <a:endParaRPr lang="en-US" altLang="en-US" sz="1500" dirty="0">
                        <a:latin typeface="微软雅黑" panose="020B0503020204020204" charset="-122"/>
                        <a:ea typeface="微软雅黑" panose="020B0503020204020204" charset="-122"/>
                      </a:endParaRPr>
                    </a:p>
                    <a:p>
                      <a:pPr algn="l" rtl="0" eaLnBrk="0">
                        <a:lnSpc>
                          <a:spcPct val="107000"/>
                        </a:lnSpc>
                      </a:pPr>
                      <a:endParaRPr lang="en-US" altLang="en-US" sz="500" dirty="0">
                        <a:latin typeface="微软雅黑" panose="020B0503020204020204" charset="-122"/>
                        <a:ea typeface="微软雅黑" panose="020B0503020204020204" charset="-122"/>
                      </a:endParaRPr>
                    </a:p>
                    <a:p>
                      <a:pPr marL="570230" indent="-269875" algn="l" rtl="0" eaLnBrk="0">
                        <a:lnSpc>
                          <a:spcPct val="100000"/>
                        </a:lnSpc>
                        <a:spcBef>
                          <a:spcPts val="0"/>
                        </a:spcBef>
                      </a:pPr>
                      <a:r>
                        <a:rPr sz="1500" spc="5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50" dirty="0">
                          <a:solidFill>
                            <a:srgbClr val="000000">
                              <a:alpha val="100000"/>
                            </a:srgbClr>
                          </a:solidFill>
                          <a:latin typeface="微软雅黑" panose="020B0503020204020204" charset="-122"/>
                          <a:ea typeface="微软雅黑" panose="020B0503020204020204" charset="-122"/>
                          <a:cs typeface="楷体" panose="02010609060101010101" charset="-122"/>
                        </a:rPr>
                        <a:t>市场和研发团队主导了客户细分</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的制定，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销售的声音没有得到体</a:t>
                      </a:r>
                      <a:r>
                        <a:rPr sz="1500" spc="30" dirty="0">
                          <a:solidFill>
                            <a:srgbClr val="000000">
                              <a:alpha val="100000"/>
                            </a:srgbClr>
                          </a:solidFill>
                          <a:latin typeface="微软雅黑" panose="020B0503020204020204" charset="-122"/>
                          <a:ea typeface="微软雅黑" panose="020B0503020204020204" charset="-122"/>
                          <a:cs typeface="楷体" panose="02010609060101010101" charset="-122"/>
                        </a:rPr>
                        <a:t>现</a:t>
                      </a:r>
                      <a:endParaRPr lang="en-US" altLang="en-US" sz="1500" dirty="0">
                        <a:latin typeface="微软雅黑" panose="020B0503020204020204" charset="-122"/>
                        <a:ea typeface="微软雅黑" panose="020B0503020204020204" charset="-122"/>
                      </a:endParaRPr>
                    </a:p>
                  </a:txBody>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w="19050" cap="flat" cmpd="sng" algn="ctr">
                      <a:solidFill>
                        <a:srgbClr val="BFE1FF"/>
                      </a:solidFill>
                      <a:prstDash val="solid"/>
                      <a:round/>
                      <a:headEnd type="none" w="med" len="med"/>
                      <a:tailEnd type="none" w="med" len="med"/>
                    </a:lnT>
                    <a:lnB w="19050" cap="flat" cmpd="sng" algn="ctr">
                      <a:solidFill>
                        <a:srgbClr val="BFE1FF"/>
                      </a:solidFill>
                      <a:prstDash val="solid"/>
                      <a:round/>
                      <a:headEnd type="none" w="med" len="med"/>
                      <a:tailEnd type="none" w="med" len="med"/>
                    </a:lnB>
                  </a:tcPr>
                </a:tc>
              </a:tr>
            </a:tbl>
          </a:graphicData>
        </a:graphic>
      </p:graphicFrame>
      <p:grpSp>
        <p:nvGrpSpPr>
          <p:cNvPr id="48" name="group 48"/>
          <p:cNvGrpSpPr/>
          <p:nvPr/>
        </p:nvGrpSpPr>
        <p:grpSpPr>
          <a:xfrm rot="21600000">
            <a:off x="774050" y="2953272"/>
            <a:ext cx="2610777" cy="2612026"/>
            <a:chOff x="0" y="0"/>
            <a:chExt cx="2610777" cy="2612026"/>
          </a:xfrm>
        </p:grpSpPr>
        <p:sp>
          <p:nvSpPr>
            <p:cNvPr id="292" name="path"/>
            <p:cNvSpPr/>
            <p:nvPr/>
          </p:nvSpPr>
          <p:spPr>
            <a:xfrm>
              <a:off x="1300600" y="0"/>
              <a:ext cx="1310176" cy="2545139"/>
            </a:xfrm>
            <a:custGeom>
              <a:avLst/>
              <a:gdLst/>
              <a:ahLst/>
              <a:cxnLst/>
              <a:rect l="0" t="0" r="0" b="0"/>
              <a:pathLst>
                <a:path w="2063" h="4008">
                  <a:moveTo>
                    <a:pt x="633" y="4004"/>
                  </a:moveTo>
                  <a:cubicBezTo>
                    <a:pt x="1481" y="3734"/>
                    <a:pt x="2059" y="2947"/>
                    <a:pt x="2059" y="2054"/>
                  </a:cubicBezTo>
                  <a:cubicBezTo>
                    <a:pt x="2059" y="921"/>
                    <a:pt x="1136" y="7"/>
                    <a:pt x="3" y="7"/>
                  </a:cubicBezTo>
                  <a:cubicBezTo>
                    <a:pt x="3" y="0"/>
                    <a:pt x="3" y="7"/>
                    <a:pt x="3" y="7"/>
                  </a:cubicBezTo>
                  <a:lnTo>
                    <a:pt x="3" y="2054"/>
                  </a:lnTo>
                  <a:lnTo>
                    <a:pt x="633" y="4004"/>
                  </a:lnTo>
                  <a:close/>
                </a:path>
              </a:pathLst>
            </a:custGeom>
            <a:solidFill>
              <a:srgbClr val="00ADEF">
                <a:alpha val="100000"/>
              </a:srgbClr>
            </a:solidFill>
            <a:ln w="4755" cap="flat">
              <a:solidFill>
                <a:srgbClr val="FFFFFF">
                  <a:alpha val="100000"/>
                </a:srgbClr>
              </a:solidFill>
              <a:prstDash val="solid"/>
              <a:round/>
            </a:ln>
          </p:spPr>
          <p:txBody>
            <a:bodyPr rtlCol="0"/>
            <a:lstStyle/>
            <a:p>
              <a:pPr algn="ctr"/>
              <a:endParaRPr lang="zh-CN" altLang="en-US"/>
            </a:p>
          </p:txBody>
        </p:sp>
        <p:sp>
          <p:nvSpPr>
            <p:cNvPr id="293" name="path"/>
            <p:cNvSpPr/>
            <p:nvPr/>
          </p:nvSpPr>
          <p:spPr>
            <a:xfrm>
              <a:off x="0" y="539965"/>
              <a:ext cx="1705492" cy="2072060"/>
            </a:xfrm>
            <a:custGeom>
              <a:avLst/>
              <a:gdLst/>
              <a:ahLst/>
              <a:cxnLst/>
              <a:rect l="0" t="0" r="0" b="0"/>
              <a:pathLst>
                <a:path w="2685" h="3263">
                  <a:moveTo>
                    <a:pt x="393" y="3"/>
                  </a:moveTo>
                  <a:cubicBezTo>
                    <a:pt x="138" y="349"/>
                    <a:pt x="3" y="769"/>
                    <a:pt x="3" y="1204"/>
                  </a:cubicBezTo>
                  <a:cubicBezTo>
                    <a:pt x="3" y="2336"/>
                    <a:pt x="918" y="3259"/>
                    <a:pt x="2051" y="3259"/>
                  </a:cubicBezTo>
                  <a:cubicBezTo>
                    <a:pt x="2261" y="3259"/>
                    <a:pt x="2479" y="3221"/>
                    <a:pt x="2682" y="3154"/>
                  </a:cubicBezTo>
                  <a:lnTo>
                    <a:pt x="2051" y="1204"/>
                  </a:lnTo>
                  <a:lnTo>
                    <a:pt x="393" y="3"/>
                  </a:lnTo>
                  <a:close/>
                </a:path>
              </a:pathLst>
            </a:custGeom>
            <a:solidFill>
              <a:srgbClr val="0065BD">
                <a:alpha val="100000"/>
              </a:srgbClr>
            </a:solidFill>
            <a:ln w="4755" cap="flat">
              <a:solidFill>
                <a:srgbClr val="FFFFFF">
                  <a:alpha val="100000"/>
                </a:srgbClr>
              </a:solidFill>
              <a:prstDash val="solid"/>
              <a:round/>
            </a:ln>
          </p:spPr>
          <p:txBody>
            <a:bodyPr rtlCol="0"/>
            <a:lstStyle/>
            <a:p>
              <a:pPr algn="ctr"/>
              <a:endParaRPr lang="zh-CN" altLang="en-US"/>
            </a:p>
          </p:txBody>
        </p:sp>
        <p:sp>
          <p:nvSpPr>
            <p:cNvPr id="294" name="path"/>
            <p:cNvSpPr/>
            <p:nvPr/>
          </p:nvSpPr>
          <p:spPr>
            <a:xfrm>
              <a:off x="247627" y="2124"/>
              <a:ext cx="1057729" cy="1304979"/>
            </a:xfrm>
            <a:custGeom>
              <a:avLst/>
              <a:gdLst/>
              <a:ahLst/>
              <a:cxnLst/>
              <a:rect l="0" t="0" r="0" b="0"/>
              <a:pathLst>
                <a:path w="1665" h="2055">
                  <a:moveTo>
                    <a:pt x="1661" y="3"/>
                  </a:moveTo>
                  <a:cubicBezTo>
                    <a:pt x="1001" y="3"/>
                    <a:pt x="386" y="318"/>
                    <a:pt x="3" y="850"/>
                  </a:cubicBezTo>
                  <a:lnTo>
                    <a:pt x="1661" y="2051"/>
                  </a:lnTo>
                  <a:lnTo>
                    <a:pt x="1661" y="3"/>
                  </a:lnTo>
                  <a:close/>
                </a:path>
              </a:pathLst>
            </a:custGeom>
            <a:solidFill>
              <a:srgbClr val="00ADEF">
                <a:alpha val="100000"/>
              </a:srgbClr>
            </a:solidFill>
            <a:ln w="4755" cap="flat">
              <a:solidFill>
                <a:srgbClr val="FFFFFF">
                  <a:alpha val="100000"/>
                </a:srgbClr>
              </a:solidFill>
              <a:prstDash val="solid"/>
              <a:round/>
            </a:ln>
          </p:spPr>
          <p:txBody>
            <a:bodyPr rtlCol="0"/>
            <a:lstStyle/>
            <a:p>
              <a:pPr algn="ctr"/>
              <a:endParaRPr lang="zh-CN" altLang="en-US"/>
            </a:p>
          </p:txBody>
        </p:sp>
      </p:grpSp>
      <p:graphicFrame>
        <p:nvGraphicFramePr>
          <p:cNvPr id="295" name="table 295"/>
          <p:cNvGraphicFramePr>
            <a:graphicFrameLocks noGrp="1"/>
          </p:cNvGraphicFramePr>
          <p:nvPr/>
        </p:nvGraphicFramePr>
        <p:xfrm>
          <a:off x="187452" y="1135379"/>
          <a:ext cx="4245609" cy="4834890"/>
        </p:xfrm>
        <a:graphic>
          <a:graphicData uri="http://schemas.openxmlformats.org/drawingml/2006/table">
            <a:tbl>
              <a:tblPr/>
              <a:tblGrid>
                <a:gridCol w="4245609"/>
              </a:tblGrid>
              <a:tr h="4834890">
                <a:tc>
                  <a:txBody>
                    <a:bodyPr/>
                    <a:lstStyle/>
                    <a:p>
                      <a:pPr algn="l" rtl="0" eaLnBrk="0">
                        <a:lnSpc>
                          <a:spcPct val="100000"/>
                        </a:lnSpc>
                      </a:pPr>
                      <a:endParaRPr lang="en-US" altLang="en-US" sz="1000" dirty="0">
                        <a:latin typeface="微软雅黑" panose="020B0503020204020204" charset="-122"/>
                        <a:ea typeface="微软雅黑" panose="020B0503020204020204" charset="-122"/>
                      </a:endParaRPr>
                    </a:p>
                    <a:p>
                      <a:pPr algn="l" rtl="0" eaLnBrk="0">
                        <a:lnSpc>
                          <a:spcPct val="100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9000"/>
                        </a:lnSpc>
                      </a:pPr>
                      <a:endParaRPr lang="en-US" altLang="en-US" sz="100" dirty="0">
                        <a:latin typeface="微软雅黑" panose="020B0503020204020204" charset="-122"/>
                        <a:ea typeface="微软雅黑" panose="020B0503020204020204" charset="-122"/>
                      </a:endParaRPr>
                    </a:p>
                    <a:p>
                      <a:pPr marL="730885" algn="l" rtl="0" eaLnBrk="0">
                        <a:lnSpc>
                          <a:spcPct val="100000"/>
                        </a:lnSpc>
                      </a:pPr>
                      <a:r>
                        <a:rPr sz="1500" spc="80" dirty="0">
                          <a:solidFill>
                            <a:srgbClr val="000000">
                              <a:alpha val="100000"/>
                            </a:srgbClr>
                          </a:solidFill>
                          <a:latin typeface="微软雅黑" panose="020B0503020204020204" charset="-122"/>
                          <a:ea typeface="微软雅黑" panose="020B0503020204020204" charset="-122"/>
                          <a:cs typeface="楷体" panose="02010609060101010101" charset="-122"/>
                        </a:rPr>
                        <a:t>不确</a:t>
                      </a:r>
                      <a:r>
                        <a:rPr sz="1500" spc="50" dirty="0">
                          <a:solidFill>
                            <a:srgbClr val="000000">
                              <a:alpha val="100000"/>
                            </a:srgbClr>
                          </a:solidFill>
                          <a:latin typeface="微软雅黑" panose="020B0503020204020204" charset="-122"/>
                          <a:ea typeface="微软雅黑" panose="020B0503020204020204" charset="-122"/>
                          <a:cs typeface="楷体" panose="02010609060101010101" charset="-122"/>
                        </a:rPr>
                        <a:t>定</a:t>
                      </a:r>
                      <a:endParaRPr lang="en-US" altLang="en-US" sz="1500" dirty="0">
                        <a:latin typeface="微软雅黑" panose="020B0503020204020204" charset="-122"/>
                        <a:ea typeface="微软雅黑" panose="020B0503020204020204" charset="-122"/>
                      </a:endParaRPr>
                    </a:p>
                    <a:p>
                      <a:pPr marL="1287780" algn="l" rtl="0" eaLnBrk="0">
                        <a:lnSpc>
                          <a:spcPct val="84000"/>
                        </a:lnSpc>
                        <a:spcBef>
                          <a:spcPts val="1025"/>
                        </a:spcBef>
                      </a:pPr>
                      <a:r>
                        <a:rPr sz="1500" spc="-20" dirty="0">
                          <a:solidFill>
                            <a:srgbClr val="FFFFFF">
                              <a:alpha val="100000"/>
                            </a:srgbClr>
                          </a:solidFill>
                          <a:latin typeface="微软雅黑" panose="020B0503020204020204" charset="-122"/>
                          <a:ea typeface="微软雅黑" panose="020B0503020204020204" charset="-122"/>
                          <a:cs typeface="Arial" panose="020B0604020202020204"/>
                        </a:rPr>
                        <a:t>15</a:t>
                      </a:r>
                      <a:endParaRPr lang="en-US" altLang="en-US" sz="1500" dirty="0">
                        <a:latin typeface="微软雅黑" panose="020B0503020204020204" charset="-122"/>
                        <a:ea typeface="微软雅黑" panose="020B0503020204020204" charset="-122"/>
                      </a:endParaRPr>
                    </a:p>
                    <a:p>
                      <a:pPr algn="l" rtl="0" eaLnBrk="0">
                        <a:lnSpc>
                          <a:spcPct val="105000"/>
                        </a:lnSpc>
                      </a:pPr>
                      <a:endParaRPr lang="en-US" altLang="en-US" sz="1000" dirty="0">
                        <a:latin typeface="微软雅黑" panose="020B0503020204020204" charset="-122"/>
                        <a:ea typeface="微软雅黑" panose="020B0503020204020204" charset="-122"/>
                      </a:endParaRPr>
                    </a:p>
                    <a:p>
                      <a:pPr algn="l" rtl="0" eaLnBrk="0">
                        <a:lnSpc>
                          <a:spcPct val="105000"/>
                        </a:lnSpc>
                      </a:pPr>
                      <a:endParaRPr lang="en-US" altLang="en-US" sz="1000" dirty="0">
                        <a:latin typeface="微软雅黑" panose="020B0503020204020204" charset="-122"/>
                        <a:ea typeface="微软雅黑" panose="020B0503020204020204" charset="-122"/>
                      </a:endParaRPr>
                    </a:p>
                    <a:p>
                      <a:pPr marL="3255645" indent="-5715" algn="l" rtl="0" eaLnBrk="0">
                        <a:lnSpc>
                          <a:spcPct val="113000"/>
                        </a:lnSpc>
                        <a:spcBef>
                          <a:spcPts val="455"/>
                        </a:spcBef>
                      </a:pP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认为结</a:t>
                      </a:r>
                      <a:r>
                        <a:rPr sz="1500" spc="80" dirty="0">
                          <a:solidFill>
                            <a:srgbClr val="000000">
                              <a:alpha val="100000"/>
                            </a:srgbClr>
                          </a:solidFill>
                          <a:latin typeface="微软雅黑" panose="020B0503020204020204" charset="-122"/>
                          <a:ea typeface="微软雅黑" panose="020B0503020204020204" charset="-122"/>
                          <a:cs typeface="楷体" panose="02010609060101010101" charset="-122"/>
                        </a:rPr>
                        <a:t>果</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70" dirty="0">
                          <a:solidFill>
                            <a:srgbClr val="000000">
                              <a:alpha val="100000"/>
                            </a:srgbClr>
                          </a:solidFill>
                          <a:latin typeface="微软雅黑" panose="020B0503020204020204" charset="-122"/>
                          <a:ea typeface="微软雅黑" panose="020B0503020204020204" charset="-122"/>
                          <a:cs typeface="楷体" panose="02010609060101010101" charset="-122"/>
                        </a:rPr>
                        <a:t>失</a:t>
                      </a:r>
                      <a:r>
                        <a:rPr sz="1500" spc="50" dirty="0">
                          <a:solidFill>
                            <a:srgbClr val="000000">
                              <a:alpha val="100000"/>
                            </a:srgbClr>
                          </a:solidFill>
                          <a:latin typeface="微软雅黑" panose="020B0503020204020204" charset="-122"/>
                          <a:ea typeface="微软雅黑" panose="020B0503020204020204" charset="-122"/>
                          <a:cs typeface="楷体" panose="02010609060101010101" charset="-122"/>
                        </a:rPr>
                        <a:t>败</a:t>
                      </a:r>
                      <a:endParaRPr lang="en-US" altLang="en-US" sz="1500" dirty="0">
                        <a:latin typeface="微软雅黑" panose="020B0503020204020204" charset="-122"/>
                        <a:ea typeface="微软雅黑" panose="020B0503020204020204" charset="-122"/>
                      </a:endParaRPr>
                    </a:p>
                    <a:p>
                      <a:pPr algn="l" rtl="0" eaLnBrk="0">
                        <a:lnSpc>
                          <a:spcPct val="113000"/>
                        </a:lnSpc>
                      </a:pPr>
                      <a:endParaRPr lang="en-US" altLang="en-US" sz="1000" dirty="0">
                        <a:latin typeface="微软雅黑" panose="020B0503020204020204" charset="-122"/>
                        <a:ea typeface="微软雅黑" panose="020B0503020204020204" charset="-122"/>
                      </a:endParaRPr>
                    </a:p>
                    <a:p>
                      <a:pPr algn="l" rtl="0" eaLnBrk="0">
                        <a:lnSpc>
                          <a:spcPct val="114000"/>
                        </a:lnSpc>
                      </a:pPr>
                      <a:endParaRPr lang="en-US" altLang="en-US" sz="1000" dirty="0">
                        <a:latin typeface="微软雅黑" panose="020B0503020204020204" charset="-122"/>
                        <a:ea typeface="微软雅黑" panose="020B0503020204020204" charset="-122"/>
                      </a:endParaRPr>
                    </a:p>
                    <a:p>
                      <a:pPr algn="l" rtl="0" eaLnBrk="0">
                        <a:lnSpc>
                          <a:spcPct val="114000"/>
                        </a:lnSpc>
                      </a:pPr>
                      <a:endParaRPr lang="en-US" altLang="en-US" sz="1000" dirty="0">
                        <a:latin typeface="微软雅黑" panose="020B0503020204020204" charset="-122"/>
                        <a:ea typeface="微软雅黑" panose="020B0503020204020204" charset="-122"/>
                      </a:endParaRPr>
                    </a:p>
                    <a:p>
                      <a:pPr marL="869315" algn="l" rtl="0" eaLnBrk="0">
                        <a:lnSpc>
                          <a:spcPct val="84000"/>
                        </a:lnSpc>
                        <a:spcBef>
                          <a:spcPts val="460"/>
                        </a:spcBef>
                      </a:pPr>
                      <a:r>
                        <a:rPr sz="1500" spc="50" dirty="0">
                          <a:solidFill>
                            <a:srgbClr val="FFFFFF">
                              <a:alpha val="100000"/>
                            </a:srgbClr>
                          </a:solidFill>
                          <a:latin typeface="微软雅黑" panose="020B0503020204020204" charset="-122"/>
                          <a:ea typeface="微软雅黑" panose="020B0503020204020204" charset="-122"/>
                          <a:cs typeface="Arial" panose="020B0604020202020204"/>
                        </a:rPr>
                        <a:t>4</a:t>
                      </a:r>
                      <a:r>
                        <a:rPr sz="1500" spc="30" dirty="0">
                          <a:solidFill>
                            <a:srgbClr val="FFFFFF">
                              <a:alpha val="100000"/>
                            </a:srgbClr>
                          </a:solidFill>
                          <a:latin typeface="微软雅黑" panose="020B0503020204020204" charset="-122"/>
                          <a:ea typeface="微软雅黑" panose="020B0503020204020204" charset="-122"/>
                          <a:cs typeface="Arial" panose="020B0604020202020204"/>
                        </a:rPr>
                        <a:t>0</a:t>
                      </a:r>
                      <a:endParaRPr lang="en-US" altLang="en-US" sz="1500" dirty="0">
                        <a:latin typeface="微软雅黑" panose="020B0503020204020204" charset="-122"/>
                        <a:ea typeface="微软雅黑" panose="020B0503020204020204" charset="-122"/>
                      </a:endParaRPr>
                    </a:p>
                    <a:p>
                      <a:pPr algn="l" rtl="0" eaLnBrk="0">
                        <a:lnSpc>
                          <a:spcPct val="111000"/>
                        </a:lnSpc>
                      </a:pPr>
                      <a:endParaRPr lang="en-US" altLang="en-US" sz="1000" dirty="0">
                        <a:latin typeface="微软雅黑" panose="020B0503020204020204" charset="-122"/>
                        <a:ea typeface="微软雅黑" panose="020B0503020204020204" charset="-122"/>
                      </a:endParaRPr>
                    </a:p>
                    <a:p>
                      <a:pPr marL="179070" algn="l" rtl="0" eaLnBrk="0">
                        <a:lnSpc>
                          <a:spcPct val="89000"/>
                        </a:lnSpc>
                        <a:spcBef>
                          <a:spcPts val="460"/>
                        </a:spcBef>
                      </a:pP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认为结</a:t>
                      </a:r>
                      <a:r>
                        <a:rPr sz="1500" spc="80" dirty="0">
                          <a:solidFill>
                            <a:srgbClr val="000000">
                              <a:alpha val="100000"/>
                            </a:srgbClr>
                          </a:solidFill>
                          <a:latin typeface="微软雅黑" panose="020B0503020204020204" charset="-122"/>
                          <a:ea typeface="微软雅黑" panose="020B0503020204020204" charset="-122"/>
                          <a:cs typeface="楷体" panose="02010609060101010101" charset="-122"/>
                        </a:rPr>
                        <a:t>果</a:t>
                      </a:r>
                      <a:endParaRPr lang="en-US" altLang="en-US" sz="1500" dirty="0">
                        <a:latin typeface="微软雅黑" panose="020B0503020204020204" charset="-122"/>
                        <a:ea typeface="微软雅黑" panose="020B0503020204020204" charset="-122"/>
                      </a:endParaRPr>
                    </a:p>
                    <a:p>
                      <a:pPr marL="183515" algn="l" rtl="0" eaLnBrk="0">
                        <a:lnSpc>
                          <a:spcPts val="1920"/>
                        </a:lnSpc>
                      </a:pPr>
                      <a:r>
                        <a:rPr sz="1500" spc="70" dirty="0">
                          <a:solidFill>
                            <a:srgbClr val="000000">
                              <a:alpha val="100000"/>
                            </a:srgbClr>
                          </a:solidFill>
                          <a:latin typeface="微软雅黑" panose="020B0503020204020204" charset="-122"/>
                          <a:ea typeface="微软雅黑" panose="020B0503020204020204" charset="-122"/>
                          <a:cs typeface="楷体" panose="02010609060101010101" charset="-122"/>
                        </a:rPr>
                        <a:t>成</a:t>
                      </a:r>
                      <a:r>
                        <a:rPr sz="1500" spc="60" dirty="0">
                          <a:solidFill>
                            <a:srgbClr val="000000">
                              <a:alpha val="100000"/>
                            </a:srgbClr>
                          </a:solidFill>
                          <a:latin typeface="微软雅黑" panose="020B0503020204020204" charset="-122"/>
                          <a:ea typeface="微软雅黑" panose="020B0503020204020204" charset="-122"/>
                          <a:cs typeface="楷体" panose="02010609060101010101" charset="-122"/>
                        </a:rPr>
                        <a:t>功</a:t>
                      </a:r>
                      <a:endParaRPr lang="en-US" altLang="en-US" sz="1500" dirty="0">
                        <a:latin typeface="微软雅黑" panose="020B0503020204020204" charset="-122"/>
                        <a:ea typeface="微软雅黑" panose="020B0503020204020204" charset="-122"/>
                      </a:endParaRPr>
                    </a:p>
                  </a:txBody>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w="19050" cap="flat" cmpd="sng" algn="ctr">
                      <a:solidFill>
                        <a:srgbClr val="BFE1FF"/>
                      </a:solidFill>
                      <a:prstDash val="solid"/>
                      <a:round/>
                      <a:headEnd type="none" w="med" len="med"/>
                      <a:tailEnd type="none" w="med" len="med"/>
                    </a:lnT>
                    <a:lnB w="19050" cap="flat" cmpd="sng" algn="ctr">
                      <a:solidFill>
                        <a:srgbClr val="BFE1FF"/>
                      </a:solidFill>
                      <a:prstDash val="solid"/>
                      <a:round/>
                      <a:headEnd type="none" w="med" len="med"/>
                      <a:tailEnd type="none" w="med" len="med"/>
                    </a:lnB>
                  </a:tcPr>
                </a:tc>
              </a:tr>
            </a:tbl>
          </a:graphicData>
        </a:graphic>
      </p:graphicFrame>
      <p:sp>
        <p:nvSpPr>
          <p:cNvPr id="297" name="path"/>
          <p:cNvSpPr/>
          <p:nvPr/>
        </p:nvSpPr>
        <p:spPr>
          <a:xfrm>
            <a:off x="1394460" y="3584448"/>
            <a:ext cx="1371600" cy="1371600"/>
          </a:xfrm>
          <a:custGeom>
            <a:avLst/>
            <a:gdLst/>
            <a:ahLst/>
            <a:cxnLst/>
            <a:rect l="0" t="0" r="0" b="0"/>
            <a:pathLst>
              <a:path w="2160" h="2160">
                <a:moveTo>
                  <a:pt x="0" y="1080"/>
                </a:moveTo>
                <a:cubicBezTo>
                  <a:pt x="0" y="483"/>
                  <a:pt x="483" y="0"/>
                  <a:pt x="1080" y="0"/>
                </a:cubicBezTo>
                <a:cubicBezTo>
                  <a:pt x="1676" y="0"/>
                  <a:pt x="2160" y="483"/>
                  <a:pt x="2160" y="1080"/>
                </a:cubicBezTo>
                <a:cubicBezTo>
                  <a:pt x="2160" y="1676"/>
                  <a:pt x="1676" y="2160"/>
                  <a:pt x="1080" y="2160"/>
                </a:cubicBezTo>
                <a:cubicBezTo>
                  <a:pt x="483" y="2160"/>
                  <a:pt x="0" y="1676"/>
                  <a:pt x="0" y="1080"/>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298" name="textbox 298"/>
          <p:cNvSpPr/>
          <p:nvPr/>
        </p:nvSpPr>
        <p:spPr>
          <a:xfrm>
            <a:off x="196595" y="1144523"/>
            <a:ext cx="4226559" cy="410844"/>
          </a:xfrm>
          <a:prstGeom prst="rect">
            <a:avLst/>
          </a:prstGeom>
          <a:solidFill>
            <a:srgbClr val="BFE1FF"/>
          </a:solidFill>
        </p:spPr>
        <p:txBody>
          <a:bodyPr vert="horz" wrap="square" lIns="0" tIns="0" rIns="0" bIns="0"/>
          <a:lstStyle/>
          <a:p>
            <a:pPr algn="l" rtl="0" eaLnBrk="0">
              <a:lnSpc>
                <a:spcPct val="109000"/>
              </a:lnSpc>
            </a:pPr>
            <a:endParaRPr lang="en-US" altLang="en-US" sz="600" dirty="0">
              <a:latin typeface="微软雅黑" panose="020B0503020204020204" charset="-122"/>
              <a:ea typeface="微软雅黑" panose="020B0503020204020204" charset="-122"/>
            </a:endParaRPr>
          </a:p>
          <a:p>
            <a:pPr marL="88265" algn="l" rtl="0" eaLnBrk="0">
              <a:lnSpc>
                <a:spcPct val="97000"/>
              </a:lnSpc>
              <a:spcBef>
                <a:spcPts val="0"/>
              </a:spcBef>
            </a:pPr>
            <a:r>
              <a:rPr sz="1500" b="1" spc="80" dirty="0">
                <a:solidFill>
                  <a:srgbClr val="000000">
                    <a:alpha val="100000"/>
                  </a:srgbClr>
                </a:solidFill>
                <a:latin typeface="微软雅黑" panose="020B0503020204020204" charset="-122"/>
                <a:ea typeface="微软雅黑" panose="020B0503020204020204" charset="-122"/>
                <a:cs typeface="Arial" panose="020B0604020202020204"/>
              </a:rPr>
              <a:t>10</a:t>
            </a:r>
            <a:r>
              <a:rPr sz="1500" spc="8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家企业当中有</a:t>
            </a:r>
            <a:r>
              <a:rPr sz="1500" b="1" spc="80" dirty="0">
                <a:solidFill>
                  <a:srgbClr val="000000">
                    <a:alpha val="100000"/>
                  </a:srgbClr>
                </a:solidFill>
                <a:latin typeface="微软雅黑" panose="020B0503020204020204" charset="-122"/>
                <a:ea typeface="微软雅黑" panose="020B0503020204020204" charset="-122"/>
                <a:cs typeface="Arial" panose="020B0604020202020204"/>
              </a:rPr>
              <a:t>9</a:t>
            </a:r>
            <a:r>
              <a:rPr sz="1500" spc="8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家都有客户细分</a:t>
            </a:r>
            <a:r>
              <a:rPr sz="1600" spc="80" baseline="29000" dirty="0">
                <a:solidFill>
                  <a:srgbClr val="000000">
                    <a:alpha val="100000"/>
                  </a:srgbClr>
                </a:solidFill>
                <a:latin typeface="微软雅黑" panose="020B0503020204020204" charset="-122"/>
                <a:ea typeface="微软雅黑" panose="020B0503020204020204" charset="-122"/>
                <a:cs typeface="Arial" panose="020B0604020202020204"/>
              </a:rPr>
              <a:t>1</a:t>
            </a:r>
            <a:r>
              <a:rPr sz="1000" spc="80" dirty="0">
                <a:solidFill>
                  <a:srgbClr val="000000">
                    <a:alpha val="100000"/>
                  </a:srgbClr>
                </a:solidFill>
                <a:latin typeface="微软雅黑" panose="020B0503020204020204" charset="-122"/>
                <a:ea typeface="微软雅黑" panose="020B0503020204020204" charset="-122"/>
                <a:cs typeface="Arial" panose="020B0604020202020204"/>
              </a:rPr>
              <a:t> </a:t>
            </a:r>
            <a:r>
              <a:rPr sz="1500" spc="8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，其中</a:t>
            </a:r>
            <a:r>
              <a:rPr sz="1500" spc="4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b="1" spc="0" dirty="0">
                <a:solidFill>
                  <a:srgbClr val="000000">
                    <a:alpha val="100000"/>
                  </a:srgbClr>
                </a:solidFill>
                <a:latin typeface="微软雅黑" panose="020B0503020204020204" charset="-122"/>
                <a:ea typeface="微软雅黑" panose="020B0503020204020204" charset="-122"/>
                <a:cs typeface="Arial" panose="020B0604020202020204"/>
              </a:rPr>
              <a:t>…</a:t>
            </a:r>
            <a:endParaRPr lang="en-US" altLang="en-US" sz="1500" dirty="0">
              <a:latin typeface="微软雅黑" panose="020B0503020204020204" charset="-122"/>
              <a:ea typeface="微软雅黑" panose="020B0503020204020204" charset="-122"/>
            </a:endParaRPr>
          </a:p>
        </p:txBody>
      </p:sp>
      <p:sp>
        <p:nvSpPr>
          <p:cNvPr id="299" name="textbox 299"/>
          <p:cNvSpPr/>
          <p:nvPr/>
        </p:nvSpPr>
        <p:spPr>
          <a:xfrm>
            <a:off x="4503420" y="1144523"/>
            <a:ext cx="4226559" cy="417830"/>
          </a:xfrm>
          <a:prstGeom prst="rect">
            <a:avLst/>
          </a:prstGeom>
          <a:solidFill>
            <a:srgbClr val="BFE1FF"/>
          </a:solidFill>
        </p:spPr>
        <p:txBody>
          <a:bodyPr vert="horz" wrap="square" lIns="0" tIns="0" rIns="0" bIns="0"/>
          <a:lstStyle/>
          <a:p>
            <a:pPr algn="l" rtl="0" eaLnBrk="0">
              <a:lnSpc>
                <a:spcPct val="109000"/>
              </a:lnSpc>
            </a:pPr>
            <a:endParaRPr lang="en-US" altLang="en-US" sz="600" dirty="0">
              <a:latin typeface="微软雅黑" panose="020B0503020204020204" charset="-122"/>
              <a:ea typeface="微软雅黑" panose="020B0503020204020204" charset="-122"/>
            </a:endParaRPr>
          </a:p>
          <a:p>
            <a:pPr marL="84455" algn="l" rtl="0" eaLnBrk="0">
              <a:lnSpc>
                <a:spcPct val="100000"/>
              </a:lnSpc>
            </a:pPr>
            <a:r>
              <a:rPr sz="1500" spc="10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一般失败的原</a:t>
            </a:r>
            <a:r>
              <a:rPr sz="1500" spc="8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因</a:t>
            </a:r>
            <a:endParaRPr lang="en-US" altLang="en-US" sz="1500" dirty="0">
              <a:latin typeface="微软雅黑" panose="020B0503020204020204" charset="-122"/>
              <a:ea typeface="微软雅黑" panose="020B0503020204020204" charset="-122"/>
            </a:endParaRPr>
          </a:p>
        </p:txBody>
      </p:sp>
      <p:sp>
        <p:nvSpPr>
          <p:cNvPr id="300" name="textbox 300"/>
          <p:cNvSpPr/>
          <p:nvPr/>
        </p:nvSpPr>
        <p:spPr>
          <a:xfrm>
            <a:off x="123274" y="248992"/>
            <a:ext cx="5829300" cy="308609"/>
          </a:xfrm>
          <a:prstGeom prst="rect">
            <a:avLst/>
          </a:prstGeom>
        </p:spPr>
        <p:txBody>
          <a:bodyPr vert="horz" wrap="square" lIns="0" tIns="0" rIns="0" bIns="0"/>
          <a:lstStyle/>
          <a:p>
            <a:pPr algn="l" rtl="0" eaLnBrk="0">
              <a:lnSpc>
                <a:spcPct val="79000"/>
              </a:lnSpc>
            </a:pPr>
            <a:endParaRPr lang="en-US" altLang="en-US" sz="100" dirty="0">
              <a:latin typeface="微软雅黑" panose="020B0503020204020204" charset="-122"/>
              <a:ea typeface="微软雅黑" panose="020B0503020204020204" charset="-122"/>
            </a:endParaRPr>
          </a:p>
          <a:p>
            <a:pPr marL="12700" algn="l" rtl="0" eaLnBrk="0">
              <a:lnSpc>
                <a:spcPct val="93000"/>
              </a:lnSpc>
            </a:pPr>
            <a:r>
              <a:rPr sz="2000" spc="-10" dirty="0">
                <a:solidFill>
                  <a:srgbClr val="002960">
                    <a:alpha val="100000"/>
                  </a:srgbClr>
                </a:solidFill>
                <a:latin typeface="微软雅黑" panose="020B0503020204020204" charset="-122"/>
                <a:ea typeface="微软雅黑" panose="020B0503020204020204" charset="-122"/>
                <a:cs typeface="楷体" panose="02010609060101010101" charset="-122"/>
              </a:rPr>
              <a:t>绝大多数</a:t>
            </a:r>
            <a:r>
              <a:rPr sz="2000" spc="0" dirty="0">
                <a:solidFill>
                  <a:srgbClr val="002960">
                    <a:alpha val="100000"/>
                  </a:srgbClr>
                </a:solidFill>
                <a:latin typeface="微软雅黑" panose="020B0503020204020204" charset="-122"/>
                <a:ea typeface="微软雅黑" panose="020B0503020204020204" charset="-122"/>
                <a:cs typeface="Arial" panose="020B0604020202020204"/>
              </a:rPr>
              <a:t>B</a:t>
            </a:r>
            <a:r>
              <a:rPr sz="2000" spc="-10" dirty="0">
                <a:solidFill>
                  <a:srgbClr val="002960">
                    <a:alpha val="100000"/>
                  </a:srgbClr>
                </a:solidFill>
                <a:latin typeface="微软雅黑" panose="020B0503020204020204" charset="-122"/>
                <a:ea typeface="微软雅黑" panose="020B0503020204020204" charset="-122"/>
                <a:cs typeface="Arial" panose="020B0604020202020204"/>
              </a:rPr>
              <a:t>2</a:t>
            </a:r>
            <a:r>
              <a:rPr sz="2000" spc="0" dirty="0">
                <a:solidFill>
                  <a:srgbClr val="002960">
                    <a:alpha val="100000"/>
                  </a:srgbClr>
                </a:solidFill>
                <a:latin typeface="微软雅黑" panose="020B0503020204020204" charset="-122"/>
                <a:ea typeface="微软雅黑" panose="020B0503020204020204" charset="-122"/>
                <a:cs typeface="Arial" panose="020B0604020202020204"/>
              </a:rPr>
              <a:t>B</a:t>
            </a:r>
            <a:r>
              <a:rPr sz="2000" spc="-10" dirty="0">
                <a:solidFill>
                  <a:srgbClr val="002960">
                    <a:alpha val="100000"/>
                  </a:srgbClr>
                </a:solidFill>
                <a:latin typeface="微软雅黑" panose="020B0503020204020204" charset="-122"/>
                <a:ea typeface="微软雅黑" panose="020B0503020204020204" charset="-122"/>
                <a:cs typeface="楷体" panose="02010609060101010101" charset="-122"/>
              </a:rPr>
              <a:t>企业在客</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户细分上并没有达到预期效果</a:t>
            </a:r>
            <a:endParaRPr lang="en-US" altLang="en-US" sz="2000" dirty="0">
              <a:latin typeface="微软雅黑" panose="020B0503020204020204" charset="-122"/>
              <a:ea typeface="微软雅黑" panose="020B0503020204020204" charset="-122"/>
            </a:endParaRPr>
          </a:p>
        </p:txBody>
      </p:sp>
      <p:pic>
        <p:nvPicPr>
          <p:cNvPr id="301" name="picture 301"/>
          <p:cNvPicPr>
            <a:picLocks noChangeAspect="1"/>
          </p:cNvPicPr>
          <p:nvPr/>
        </p:nvPicPr>
        <p:blipFill>
          <a:blip r:embed="rId1"/>
          <a:stretch>
            <a:fillRect/>
          </a:stretch>
        </p:blipFill>
        <p:spPr>
          <a:xfrm rot="21600000">
            <a:off x="1856232" y="2522220"/>
            <a:ext cx="76200" cy="647700"/>
          </a:xfrm>
          <a:prstGeom prst="rect">
            <a:avLst/>
          </a:prstGeom>
        </p:spPr>
      </p:pic>
      <p:pic>
        <p:nvPicPr>
          <p:cNvPr id="302" name="picture 302"/>
          <p:cNvPicPr>
            <a:picLocks noChangeAspect="1"/>
          </p:cNvPicPr>
          <p:nvPr/>
        </p:nvPicPr>
        <p:blipFill>
          <a:blip r:embed="rId2"/>
          <a:stretch>
            <a:fillRect/>
          </a:stretch>
        </p:blipFill>
        <p:spPr>
          <a:xfrm rot="21600000">
            <a:off x="2426207" y="2522220"/>
            <a:ext cx="76200" cy="647700"/>
          </a:xfrm>
          <a:prstGeom prst="rect">
            <a:avLst/>
          </a:prstGeom>
        </p:spPr>
      </p:pic>
      <p:graphicFrame>
        <p:nvGraphicFramePr>
          <p:cNvPr id="303" name="table 303"/>
          <p:cNvGraphicFramePr>
            <a:graphicFrameLocks noGrp="1"/>
          </p:cNvGraphicFramePr>
          <p:nvPr/>
        </p:nvGraphicFramePr>
        <p:xfrm>
          <a:off x="1432559" y="1883664"/>
          <a:ext cx="1513205" cy="639445"/>
        </p:xfrm>
        <a:graphic>
          <a:graphicData uri="http://schemas.openxmlformats.org/drawingml/2006/table">
            <a:tbl>
              <a:tblPr/>
              <a:tblGrid>
                <a:gridCol w="1513205"/>
              </a:tblGrid>
              <a:tr h="639445">
                <a:tc>
                  <a:txBody>
                    <a:bodyPr/>
                    <a:lstStyle/>
                    <a:p>
                      <a:pPr algn="l" rtl="0" eaLnBrk="0">
                        <a:lnSpc>
                          <a:spcPct val="107000"/>
                        </a:lnSpc>
                      </a:pPr>
                      <a:endParaRPr lang="en-US" altLang="en-US" sz="500" dirty="0">
                        <a:latin typeface="微软雅黑" panose="020B0503020204020204" charset="-122"/>
                        <a:ea typeface="微软雅黑" panose="020B0503020204020204" charset="-122"/>
                      </a:endParaRPr>
                    </a:p>
                    <a:p>
                      <a:pPr marL="460375" indent="-335915" algn="l" rtl="0" eaLnBrk="0">
                        <a:lnSpc>
                          <a:spcPct val="109000"/>
                        </a:lnSpc>
                        <a:spcBef>
                          <a:spcPts val="5"/>
                        </a:spcBef>
                      </a:pPr>
                      <a:r>
                        <a:rPr sz="1500" spc="18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a:t>
                      </a:r>
                      <a:r>
                        <a:rPr sz="1500" b="1" spc="180" dirty="0">
                          <a:solidFill>
                            <a:srgbClr val="000000">
                              <a:alpha val="100000"/>
                            </a:srgbClr>
                          </a:solidFill>
                          <a:latin typeface="微软雅黑" panose="020B0503020204020204" charset="-122"/>
                          <a:ea typeface="微软雅黑" panose="020B0503020204020204" charset="-122"/>
                          <a:cs typeface="Arial" panose="020B0604020202020204"/>
                        </a:rPr>
                        <a:t>60%</a:t>
                      </a:r>
                      <a:r>
                        <a:rPr sz="1500" spc="180" dirty="0">
                          <a:solidFill>
                            <a:srgbClr val="000000">
                              <a:alpha val="100000"/>
                            </a:srgbClr>
                          </a:solidFill>
                          <a:latin typeface="微软雅黑" panose="020B0503020204020204" charset="-122"/>
                          <a:ea typeface="微软雅黑" panose="020B0503020204020204" charset="-122"/>
                          <a:cs typeface="Arial" panose="020B0604020202020204"/>
                        </a:rPr>
                        <a:t> </a:t>
                      </a:r>
                      <a:r>
                        <a:rPr sz="1500" spc="18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对效</a:t>
                      </a:r>
                      <a:r>
                        <a:rPr sz="1500" spc="10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果</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9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不满</a:t>
                      </a:r>
                      <a:r>
                        <a:rPr sz="1500" spc="6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意</a:t>
                      </a:r>
                      <a:endParaRPr lang="en-US" altLang="en-US" sz="1500" dirty="0">
                        <a:latin typeface="微软雅黑" panose="020B0503020204020204" charset="-122"/>
                        <a:ea typeface="微软雅黑" panose="020B0503020204020204" charset="-122"/>
                      </a:endParaRPr>
                    </a:p>
                  </a:txBody>
                  <a:tcPr marL="0" marR="0" marT="0" marB="0">
                    <a:lnL w="6350" cap="flat" cmpd="sng" algn="ctr">
                      <a:solidFill>
                        <a:srgbClr val="B3B3B3"/>
                      </a:solidFill>
                      <a:prstDash val="solid"/>
                      <a:round/>
                      <a:headEnd type="none" w="med" len="med"/>
                      <a:tailEnd type="none" w="med" len="med"/>
                    </a:lnL>
                    <a:lnR w="6350" cap="flat" cmpd="sng" algn="ctr">
                      <a:solidFill>
                        <a:srgbClr val="B3B3B3"/>
                      </a:solidFill>
                      <a:prstDash val="solid"/>
                      <a:round/>
                      <a:headEnd type="none" w="med" len="med"/>
                      <a:tailEnd type="none" w="med" len="med"/>
                    </a:lnR>
                    <a:lnT w="6350" cap="flat" cmpd="sng" algn="ctr">
                      <a:solidFill>
                        <a:srgbClr val="B3B3B3"/>
                      </a:solidFill>
                      <a:prstDash val="solid"/>
                      <a:round/>
                      <a:headEnd type="none" w="med" len="med"/>
                      <a:tailEnd type="none" w="med" len="med"/>
                    </a:lnT>
                    <a:lnB w="6350" cap="flat" cmpd="sng" algn="ctr">
                      <a:solidFill>
                        <a:srgbClr val="B3B3B3"/>
                      </a:solidFill>
                      <a:prstDash val="solid"/>
                      <a:round/>
                      <a:headEnd type="none" w="med" len="med"/>
                      <a:tailEnd type="none" w="med" len="med"/>
                    </a:lnB>
                  </a:tcPr>
                </a:tc>
              </a:tr>
            </a:tbl>
          </a:graphicData>
        </a:graphic>
      </p:graphicFrame>
      <p:sp>
        <p:nvSpPr>
          <p:cNvPr id="304" name="textbox 304"/>
          <p:cNvSpPr/>
          <p:nvPr/>
        </p:nvSpPr>
        <p:spPr>
          <a:xfrm>
            <a:off x="8818509" y="1037437"/>
            <a:ext cx="114935" cy="1840229"/>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endParaRPr sz="600" spc="0" dirty="0">
              <a:solidFill>
                <a:srgbClr val="808080">
                  <a:alpha val="100000"/>
                </a:srgbClr>
              </a:solidFill>
              <a:latin typeface="Arial" panose="020B0604020202020204"/>
              <a:ea typeface="Arial" panose="020B0604020202020204"/>
              <a:cs typeface="Arial" panose="020B0604020202020204"/>
            </a:endParaRPr>
          </a:p>
        </p:txBody>
      </p:sp>
      <p:sp>
        <p:nvSpPr>
          <p:cNvPr id="305" name="textbox 305"/>
          <p:cNvSpPr/>
          <p:nvPr/>
        </p:nvSpPr>
        <p:spPr>
          <a:xfrm>
            <a:off x="3092549" y="3995743"/>
            <a:ext cx="248920" cy="216534"/>
          </a:xfrm>
          <a:prstGeom prst="rect">
            <a:avLst/>
          </a:prstGeom>
        </p:spPr>
        <p:txBody>
          <a:bodyPr vert="horz" wrap="square" lIns="0" tIns="0" rIns="0" bIns="0"/>
          <a:lstStyle/>
          <a:p>
            <a:pPr algn="l" rtl="0" eaLnBrk="0">
              <a:lnSpc>
                <a:spcPct val="77000"/>
              </a:lnSpc>
            </a:pPr>
            <a:endParaRPr lang="en-US" altLang="en-US" sz="100" dirty="0">
              <a:latin typeface="微软雅黑" panose="020B0503020204020204" charset="-122"/>
              <a:ea typeface="微软雅黑" panose="020B0503020204020204" charset="-122"/>
            </a:endParaRPr>
          </a:p>
          <a:p>
            <a:pPr marL="12700" algn="l" rtl="0" eaLnBrk="0">
              <a:lnSpc>
                <a:spcPct val="84000"/>
              </a:lnSpc>
            </a:pPr>
            <a:r>
              <a:rPr sz="1500" spc="50" dirty="0">
                <a:solidFill>
                  <a:srgbClr val="FFFFFF">
                    <a:alpha val="100000"/>
                  </a:srgbClr>
                </a:solidFill>
                <a:latin typeface="微软雅黑" panose="020B0503020204020204" charset="-122"/>
                <a:ea typeface="微软雅黑" panose="020B0503020204020204" charset="-122"/>
                <a:cs typeface="Arial" panose="020B0604020202020204"/>
              </a:rPr>
              <a:t>4</a:t>
            </a:r>
            <a:r>
              <a:rPr sz="1500" spc="30" dirty="0">
                <a:solidFill>
                  <a:srgbClr val="FFFFFF">
                    <a:alpha val="100000"/>
                  </a:srgbClr>
                </a:solidFill>
                <a:latin typeface="微软雅黑" panose="020B0503020204020204" charset="-122"/>
                <a:ea typeface="微软雅黑" panose="020B0503020204020204" charset="-122"/>
                <a:cs typeface="Arial" panose="020B0604020202020204"/>
              </a:rPr>
              <a:t>5</a:t>
            </a:r>
            <a:endParaRPr lang="en-US" altLang="en-US" sz="1500" dirty="0">
              <a:latin typeface="微软雅黑" panose="020B0503020204020204" charset="-122"/>
              <a:ea typeface="微软雅黑" panose="020B0503020204020204" charset="-122"/>
            </a:endParaRPr>
          </a:p>
        </p:txBody>
      </p:sp>
      <p:sp>
        <p:nvSpPr>
          <p:cNvPr id="306" name="textbox 306"/>
          <p:cNvSpPr/>
          <p:nvPr/>
        </p:nvSpPr>
        <p:spPr>
          <a:xfrm>
            <a:off x="8818435" y="4032021"/>
            <a:ext cx="114935" cy="262890"/>
          </a:xfrm>
          <a:prstGeom prst="rect">
            <a:avLst/>
          </a:prstGeom>
        </p:spPr>
        <p:txBody>
          <a:bodyPr vert="eaVert" wrap="square" lIns="0" tIns="0" rIns="0" bIns="0"/>
          <a:lstStyle/>
          <a:p>
            <a:pPr algn="l" rtl="0" eaLnBrk="0">
              <a:lnSpc>
                <a:spcPct val="85000"/>
              </a:lnSpc>
            </a:pPr>
            <a:endParaRPr lang="en-US" altLang="en-US" sz="100" dirty="0"/>
          </a:p>
          <a:p>
            <a:pPr marL="12700" algn="l" rtl="0" eaLnBrk="0">
              <a:lnSpc>
                <a:spcPct val="79000"/>
              </a:lnSpc>
            </a:pPr>
            <a:endParaRPr sz="600" spc="-10" dirty="0">
              <a:solidFill>
                <a:srgbClr val="808080">
                  <a:alpha val="100000"/>
                </a:srgbClr>
              </a:solidFill>
              <a:latin typeface="Arial" panose="020B0604020202020204"/>
              <a:ea typeface="Arial" panose="020B0604020202020204"/>
              <a:cs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rect"/>
          <p:cNvSpPr/>
          <p:nvPr/>
        </p:nvSpPr>
        <p:spPr>
          <a:xfrm>
            <a:off x="2972561" y="3370326"/>
            <a:ext cx="2667000" cy="2241804"/>
          </a:xfrm>
          <a:prstGeom prst="rect">
            <a:avLst/>
          </a:prstGeom>
          <a:solidFill>
            <a:srgbClr val="CCCCCC">
              <a:alpha val="100000"/>
            </a:srgbClr>
          </a:solidFill>
          <a:ln cap="flat">
            <a:noFill/>
            <a:prstDash val="solid"/>
            <a:miter lim="0"/>
          </a:ln>
        </p:spPr>
        <p:txBody>
          <a:bodyPr rtlCol="0"/>
          <a:lstStyle/>
          <a:p>
            <a:pPr algn="ctr"/>
            <a:endParaRPr lang="zh-CN" altLang="en-US"/>
          </a:p>
        </p:txBody>
      </p:sp>
      <p:graphicFrame>
        <p:nvGraphicFramePr>
          <p:cNvPr id="308" name="table 308"/>
          <p:cNvGraphicFramePr>
            <a:graphicFrameLocks noGrp="1"/>
          </p:cNvGraphicFramePr>
          <p:nvPr/>
        </p:nvGraphicFramePr>
        <p:xfrm>
          <a:off x="2797301" y="1082040"/>
          <a:ext cx="5553708" cy="4704713"/>
        </p:xfrm>
        <a:graphic>
          <a:graphicData uri="http://schemas.openxmlformats.org/drawingml/2006/table">
            <a:tbl>
              <a:tblPr/>
              <a:tblGrid>
                <a:gridCol w="1161414"/>
                <a:gridCol w="678180"/>
                <a:gridCol w="1019810"/>
                <a:gridCol w="1022985"/>
                <a:gridCol w="212089"/>
                <a:gridCol w="1459230"/>
              </a:tblGrid>
              <a:tr h="795019">
                <a:tc rowSpan="2" gridSpan="2">
                  <a:txBody>
                    <a:bodyPr/>
                    <a:lstStyle/>
                    <a:p>
                      <a:pPr algn="l" rtl="0" eaLnBrk="0">
                        <a:lnSpc>
                          <a:spcPct val="153000"/>
                        </a:lnSpc>
                      </a:pPr>
                      <a:endParaRPr lang="en-US" altLang="en-US" sz="1000" dirty="0">
                        <a:latin typeface="微软雅黑" panose="020B0503020204020204" charset="-122"/>
                        <a:ea typeface="微软雅黑" panose="020B0503020204020204" charset="-122"/>
                      </a:endParaRPr>
                    </a:p>
                    <a:p>
                      <a:pPr marL="270510" algn="l" rtl="0" eaLnBrk="0">
                        <a:lnSpc>
                          <a:spcPts val="1810"/>
                        </a:lnSpc>
                        <a:spcBef>
                          <a:spcPts val="0"/>
                        </a:spcBef>
                      </a:pPr>
                      <a:r>
                        <a:rPr sz="1500" spc="110" dirty="0">
                          <a:ln w="5799" cap="flat" cmpd="sng">
                            <a:solidFill>
                              <a:srgbClr val="FFFFFF">
                                <a:alpha val="100000"/>
                              </a:srgbClr>
                            </a:solidFill>
                            <a:prstDash val="solid"/>
                            <a:miter lim="8"/>
                          </a:ln>
                          <a:solidFill>
                            <a:srgbClr val="FFFFFF">
                              <a:alpha val="100000"/>
                            </a:srgbClr>
                          </a:solidFill>
                          <a:latin typeface="微软雅黑" panose="020B0503020204020204" charset="-122"/>
                          <a:ea typeface="微软雅黑" panose="020B0503020204020204" charset="-122"/>
                          <a:cs typeface="楷体" panose="02010609060101010101" charset="-122"/>
                        </a:rPr>
                        <a:t>进攻型客</a:t>
                      </a:r>
                      <a:r>
                        <a:rPr sz="1500" spc="60" dirty="0">
                          <a:ln w="5799" cap="flat" cmpd="sng">
                            <a:solidFill>
                              <a:srgbClr val="FFFFFF">
                                <a:alpha val="100000"/>
                              </a:srgbClr>
                            </a:solidFill>
                            <a:prstDash val="solid"/>
                            <a:miter lim="8"/>
                          </a:ln>
                          <a:solidFill>
                            <a:srgbClr val="FFFFFF">
                              <a:alpha val="100000"/>
                            </a:srgbClr>
                          </a:solidFill>
                          <a:latin typeface="微软雅黑" panose="020B0503020204020204" charset="-122"/>
                          <a:ea typeface="微软雅黑" panose="020B0503020204020204" charset="-122"/>
                          <a:cs typeface="楷体" panose="02010609060101010101" charset="-122"/>
                        </a:rPr>
                        <a:t>户</a:t>
                      </a:r>
                      <a:endParaRPr lang="en-US" altLang="en-US" sz="15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25000"/>
                        </a:lnSpc>
                      </a:pPr>
                      <a:endParaRPr lang="en-US" altLang="en-US" sz="300" dirty="0">
                        <a:latin typeface="微软雅黑" panose="020B0503020204020204" charset="-122"/>
                        <a:ea typeface="微软雅黑" panose="020B0503020204020204" charset="-122"/>
                      </a:endParaRPr>
                    </a:p>
                    <a:p>
                      <a:pPr marL="265430" algn="l" rtl="0" eaLnBrk="0">
                        <a:lnSpc>
                          <a:spcPct val="99000"/>
                        </a:lnSpc>
                        <a:spcBef>
                          <a:spcPts val="0"/>
                        </a:spcBef>
                      </a:pPr>
                      <a:r>
                        <a:rPr sz="1500" spc="110" dirty="0">
                          <a:solidFill>
                            <a:srgbClr val="FFFFFF">
                              <a:alpha val="100000"/>
                            </a:srgbClr>
                          </a:solidFill>
                          <a:latin typeface="微软雅黑" panose="020B0503020204020204" charset="-122"/>
                          <a:ea typeface="微软雅黑" panose="020B0503020204020204" charset="-122"/>
                          <a:cs typeface="楷体" panose="02010609060101010101" charset="-122"/>
                        </a:rPr>
                        <a:t>服务水</a:t>
                      </a:r>
                      <a:r>
                        <a:rPr sz="1500" spc="80" dirty="0">
                          <a:solidFill>
                            <a:srgbClr val="FFFFFF">
                              <a:alpha val="100000"/>
                            </a:srgbClr>
                          </a:solidFill>
                          <a:latin typeface="微软雅黑" panose="020B0503020204020204" charset="-122"/>
                          <a:ea typeface="微软雅黑" panose="020B0503020204020204" charset="-122"/>
                          <a:cs typeface="楷体" panose="02010609060101010101" charset="-122"/>
                        </a:rPr>
                        <a:t>平</a:t>
                      </a:r>
                      <a:endParaRPr lang="en-US" altLang="en-US" sz="1500" dirty="0">
                        <a:latin typeface="微软雅黑" panose="020B0503020204020204" charset="-122"/>
                        <a:ea typeface="微软雅黑" panose="020B0503020204020204" charset="-122"/>
                      </a:endParaRPr>
                    </a:p>
                  </a:txBody>
                  <a:tcPr marL="0" marR="0" marT="0" marB="0">
                    <a:lnL w="76200" cap="flat" cmpd="sng" algn="ctr">
                      <a:solidFill>
                        <a:srgbClr val="808080"/>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0065BD"/>
                    </a:solidFill>
                  </a:tcPr>
                </a:tc>
                <a:tc rowSpan="2" hMerge="1">
                  <a:tcPr marL="0" marR="0" marT="0" marB="0">
                    <a:lnL w="76200" cap="flat" cmpd="sng" algn="ctr">
                      <a:solidFill>
                        <a:srgbClr val="808080"/>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0065BD"/>
                    </a:solidFill>
                  </a:tcPr>
                </a:tc>
                <a:tc rowSpan="2">
                  <a:txBody>
                    <a:bodyPr/>
                    <a:lstStyle/>
                    <a:p>
                      <a:pPr algn="l" rtl="0" eaLnBrk="0">
                        <a:lnSpc>
                          <a:spcPct val="100000"/>
                        </a:lnSpc>
                      </a:pPr>
                      <a:endParaRPr lang="en-US" altLang="en-US" sz="1000" dirty="0">
                        <a:ea typeface="微软雅黑" panose="020B0503020204020204" charset="-122"/>
                      </a:endParaRPr>
                    </a:p>
                  </a:txBody>
                  <a:tcPr marL="0" marR="0" marT="0" marB="0">
                    <a:lnL>
                      <a:noFill/>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0065BD"/>
                    </a:solidFill>
                  </a:tcPr>
                </a:tc>
                <a:tc gridSpan="3">
                  <a:txBody>
                    <a:bodyPr/>
                    <a:lstStyle/>
                    <a:p>
                      <a:pPr algn="l" rtl="0" eaLnBrk="0">
                        <a:lnSpc>
                          <a:spcPct val="153000"/>
                        </a:lnSpc>
                      </a:pPr>
                      <a:endParaRPr lang="en-US" altLang="en-US" sz="1000" dirty="0">
                        <a:latin typeface="微软雅黑" panose="020B0503020204020204" charset="-122"/>
                        <a:ea typeface="微软雅黑" panose="020B0503020204020204" charset="-122"/>
                      </a:endParaRPr>
                    </a:p>
                    <a:p>
                      <a:pPr marL="114300" algn="l" rtl="0" eaLnBrk="0">
                        <a:lnSpc>
                          <a:spcPts val="1810"/>
                        </a:lnSpc>
                        <a:spcBef>
                          <a:spcPts val="0"/>
                        </a:spcBef>
                      </a:pPr>
                      <a:r>
                        <a:rPr sz="1500" spc="100" dirty="0">
                          <a:ln w="5799"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优先型客</a:t>
                      </a:r>
                      <a:r>
                        <a:rPr sz="1500" spc="90" dirty="0">
                          <a:ln w="5799"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户</a:t>
                      </a:r>
                      <a:endParaRPr lang="en-US" altLang="en-US" sz="1500" dirty="0">
                        <a:latin typeface="微软雅黑" panose="020B0503020204020204" charset="-122"/>
                        <a:ea typeface="微软雅黑" panose="020B0503020204020204" charset="-122"/>
                      </a:endParaRPr>
                    </a:p>
                  </a:txBody>
                  <a:tcPr marL="0" marR="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a:noFill/>
                    </a:lnB>
                    <a:solidFill>
                      <a:srgbClr val="BFE1FF"/>
                    </a:solidFill>
                  </a:tcPr>
                </a:tc>
                <a:tc hMerge="1">
                  <a:tcPr marL="0" marR="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a:noFill/>
                    </a:lnB>
                    <a:solidFill>
                      <a:srgbClr val="BFE1FF"/>
                    </a:solidFill>
                  </a:tcPr>
                </a:tc>
                <a:tc hMerge="1">
                  <a:tcPr marL="0" marR="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a:noFill/>
                    </a:lnB>
                    <a:solidFill>
                      <a:srgbClr val="BFE1FF"/>
                    </a:solidFill>
                  </a:tcPr>
                </a:tc>
              </a:tr>
              <a:tr h="1457960">
                <a:tc vMerge="1" gridSpan="2">
                  <a:tcPr marL="0" marR="0" marT="0" marB="0">
                    <a:lnL w="76200" cap="flat" cmpd="sng" algn="ctr">
                      <a:solidFill>
                        <a:srgbClr val="808080"/>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vMerge="1" hMerge="1">
                  <a:tcPr marL="0" marR="0" marT="0" marB="0">
                    <a:lnL w="76200" cap="flat" cmpd="sng" algn="ctr">
                      <a:solidFill>
                        <a:srgbClr val="808080"/>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vMerge="1">
                  <a:tcPr marL="0" marR="0" marT="0" marB="0">
                    <a:lnL>
                      <a:noFill/>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a:txBody>
                    <a:bodyPr/>
                    <a:lstStyle/>
                    <a:p>
                      <a:pPr algn="l" rtl="0" eaLnBrk="0">
                        <a:lnSpc>
                          <a:spcPct val="104000"/>
                        </a:lnSpc>
                      </a:pPr>
                      <a:endParaRPr lang="en-US" altLang="en-US" sz="1000" dirty="0">
                        <a:latin typeface="微软雅黑" panose="020B0503020204020204" charset="-122"/>
                        <a:ea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endParaRPr>
                    </a:p>
                    <a:p>
                      <a:pPr algn="l" rtl="0" eaLnBrk="0">
                        <a:lnSpc>
                          <a:spcPct val="105000"/>
                        </a:lnSpc>
                      </a:pPr>
                      <a:endParaRPr lang="en-US" altLang="en-US" sz="1000" dirty="0">
                        <a:latin typeface="微软雅黑" panose="020B0503020204020204" charset="-122"/>
                        <a:ea typeface="微软雅黑" panose="020B0503020204020204" charset="-122"/>
                      </a:endParaRPr>
                    </a:p>
                    <a:p>
                      <a:pPr algn="l" rtl="0" eaLnBrk="0">
                        <a:lnSpc>
                          <a:spcPct val="105000"/>
                        </a:lnSpc>
                      </a:pPr>
                      <a:endParaRPr lang="en-US" altLang="en-US" sz="1000" dirty="0">
                        <a:latin typeface="微软雅黑" panose="020B0503020204020204" charset="-122"/>
                        <a:ea typeface="微软雅黑" panose="020B0503020204020204" charset="-122"/>
                      </a:endParaRPr>
                    </a:p>
                    <a:p>
                      <a:pPr algn="l" rtl="0" eaLnBrk="0">
                        <a:lnSpc>
                          <a:spcPct val="105000"/>
                        </a:lnSpc>
                      </a:pPr>
                      <a:endParaRPr lang="en-US" altLang="en-US" sz="1000" dirty="0">
                        <a:latin typeface="微软雅黑" panose="020B0503020204020204" charset="-122"/>
                        <a:ea typeface="微软雅黑" panose="020B0503020204020204" charset="-122"/>
                      </a:endParaRPr>
                    </a:p>
                    <a:p>
                      <a:pPr algn="l" rtl="0" eaLnBrk="0">
                        <a:lnSpc>
                          <a:spcPct val="105000"/>
                        </a:lnSpc>
                      </a:pPr>
                      <a:endParaRPr lang="en-US" altLang="en-US" sz="1000" dirty="0">
                        <a:latin typeface="微软雅黑" panose="020B0503020204020204" charset="-122"/>
                        <a:ea typeface="微软雅黑" panose="020B0503020204020204" charset="-122"/>
                      </a:endParaRPr>
                    </a:p>
                    <a:p>
                      <a:pPr algn="l" rtl="0" eaLnBrk="0">
                        <a:lnSpc>
                          <a:spcPct val="105000"/>
                        </a:lnSpc>
                      </a:pPr>
                      <a:endParaRPr lang="en-US" altLang="en-US" sz="1000" dirty="0">
                        <a:latin typeface="微软雅黑" panose="020B0503020204020204" charset="-122"/>
                        <a:ea typeface="微软雅黑" panose="020B0503020204020204" charset="-122"/>
                      </a:endParaRPr>
                    </a:p>
                    <a:p>
                      <a:pPr marL="161290" algn="l" rtl="0" eaLnBrk="0">
                        <a:lnSpc>
                          <a:spcPct val="99000"/>
                        </a:lnSpc>
                        <a:spcBef>
                          <a:spcPts val="0"/>
                        </a:spcBef>
                      </a:pPr>
                      <a:r>
                        <a:rPr sz="1500" spc="110" dirty="0">
                          <a:solidFill>
                            <a:srgbClr val="000000">
                              <a:alpha val="100000"/>
                            </a:srgbClr>
                          </a:solidFill>
                          <a:latin typeface="微软雅黑" panose="020B0503020204020204" charset="-122"/>
                          <a:ea typeface="微软雅黑" panose="020B0503020204020204" charset="-122"/>
                          <a:cs typeface="楷体" panose="02010609060101010101" charset="-122"/>
                        </a:rPr>
                        <a:t>服务水</a:t>
                      </a:r>
                      <a:r>
                        <a:rPr sz="1500" spc="80" dirty="0">
                          <a:solidFill>
                            <a:srgbClr val="000000">
                              <a:alpha val="100000"/>
                            </a:srgbClr>
                          </a:solidFill>
                          <a:latin typeface="微软雅黑" panose="020B0503020204020204" charset="-122"/>
                          <a:ea typeface="微软雅黑" panose="020B0503020204020204" charset="-122"/>
                          <a:cs typeface="楷体" panose="02010609060101010101" charset="-122"/>
                        </a:rPr>
                        <a:t>平</a:t>
                      </a:r>
                      <a:endParaRPr lang="en-US" altLang="en-US" sz="1500" dirty="0">
                        <a:latin typeface="微软雅黑" panose="020B0503020204020204" charset="-122"/>
                        <a:ea typeface="微软雅黑" panose="020B0503020204020204" charset="-122"/>
                      </a:endParaRPr>
                    </a:p>
                  </a:txBody>
                  <a:tcPr marL="0" marR="0" marT="0" marB="0">
                    <a:lnL w="19050" cap="flat" cmpd="sng" algn="ctr">
                      <a:solidFill>
                        <a:srgbClr val="FFFFFF"/>
                      </a:solidFill>
                      <a:prstDash val="solid"/>
                      <a:round/>
                      <a:headEnd type="none" w="med" len="med"/>
                      <a:tailEnd type="none" w="med" len="med"/>
                    </a:lnL>
                    <a:lnR>
                      <a:noFill/>
                    </a:lnR>
                    <a:lnT>
                      <a:noFill/>
                    </a:lnT>
                    <a:lnB w="3175" cap="flat" cmpd="sng" algn="ctr">
                      <a:solidFill>
                        <a:srgbClr val="FFFFFF"/>
                      </a:solidFill>
                      <a:prstDash val="solid"/>
                      <a:round/>
                      <a:headEnd type="none" w="med" len="med"/>
                      <a:tailEnd type="none" w="med" len="med"/>
                    </a:lnB>
                    <a:solidFill>
                      <a:srgbClr val="BFE1FF"/>
                    </a:solidFill>
                  </a:tcPr>
                </a:tc>
                <a:tc gridSpan="2">
                  <a:txBody>
                    <a:bodyPr/>
                    <a:lstStyle/>
                    <a:p>
                      <a:pPr algn="l" rtl="0" eaLnBrk="0">
                        <a:lnSpc>
                          <a:spcPct val="100000"/>
                        </a:lnSpc>
                      </a:pPr>
                      <a:endParaRPr lang="en-US" altLang="en-US" sz="1000" dirty="0">
                        <a:ea typeface="微软雅黑" panose="020B0503020204020204" charset="-122"/>
                      </a:endParaRPr>
                    </a:p>
                  </a:txBody>
                  <a:tcPr marL="0" marR="0" marT="0" marB="0">
                    <a:lnL>
                      <a:noFill/>
                    </a:lnL>
                    <a:lnR w="19050" cap="flat" cmpd="sng" algn="ctr">
                      <a:solidFill>
                        <a:srgbClr val="FFFFFF"/>
                      </a:solidFill>
                      <a:prstDash val="solid"/>
                      <a:round/>
                      <a:headEnd type="none" w="med" len="med"/>
                      <a:tailEnd type="none" w="med" len="med"/>
                    </a:lnR>
                    <a:lnT>
                      <a:noFill/>
                    </a:lnT>
                    <a:lnB w="3175" cap="flat" cmpd="sng" algn="ctr">
                      <a:solidFill>
                        <a:srgbClr val="FFFFFF"/>
                      </a:solidFill>
                      <a:prstDash val="solid"/>
                      <a:round/>
                      <a:headEnd type="none" w="med" len="med"/>
                      <a:tailEnd type="none" w="med" len="med"/>
                    </a:lnB>
                    <a:solidFill>
                      <a:srgbClr val="BFE1FF"/>
                    </a:solidFill>
                  </a:tcPr>
                </a:tc>
                <a:tc hMerge="1">
                  <a:tcPr marL="0" marR="0" marT="0" marB="0">
                    <a:lnL>
                      <a:noFill/>
                    </a:lnL>
                    <a:lnR w="19050" cap="flat" cmpd="sng" algn="ctr">
                      <a:solidFill>
                        <a:srgbClr val="FFFFFF"/>
                      </a:solidFill>
                      <a:prstDash val="solid"/>
                      <a:round/>
                      <a:headEnd type="none" w="med" len="med"/>
                      <a:tailEnd type="none" w="med" len="med"/>
                    </a:lnR>
                    <a:lnT>
                      <a:noFill/>
                    </a:lnT>
                    <a:lnB w="3175" cap="flat" cmpd="sng" algn="ctr">
                      <a:solidFill>
                        <a:srgbClr val="FFFFFF"/>
                      </a:solidFill>
                      <a:prstDash val="solid"/>
                      <a:round/>
                      <a:headEnd type="none" w="med" len="med"/>
                      <a:tailEnd type="none" w="med" len="med"/>
                    </a:lnB>
                    <a:solidFill>
                      <a:srgbClr val="BFE1FF"/>
                    </a:solidFill>
                  </a:tcPr>
                </a:tc>
              </a:tr>
              <a:tr h="1500505">
                <a:tc>
                  <a:txBody>
                    <a:bodyPr/>
                    <a:lstStyle/>
                    <a:p>
                      <a:pPr algn="l" rtl="0" eaLnBrk="0">
                        <a:lnSpc>
                          <a:spcPct val="160000"/>
                        </a:lnSpc>
                      </a:pPr>
                      <a:endParaRPr lang="en-US" altLang="en-US" sz="1000" dirty="0">
                        <a:latin typeface="微软雅黑" panose="020B0503020204020204" charset="-122"/>
                        <a:ea typeface="微软雅黑" panose="020B0503020204020204" charset="-122"/>
                      </a:endParaRPr>
                    </a:p>
                    <a:p>
                      <a:pPr marL="278765" algn="l" rtl="0" eaLnBrk="0">
                        <a:lnSpc>
                          <a:spcPct val="100000"/>
                        </a:lnSpc>
                        <a:spcBef>
                          <a:spcPts val="0"/>
                        </a:spcBef>
                      </a:pPr>
                      <a:r>
                        <a:rPr sz="1500" spc="90" dirty="0">
                          <a:ln w="5791"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普通客</a:t>
                      </a:r>
                      <a:r>
                        <a:rPr sz="1500" spc="50" dirty="0">
                          <a:ln w="5791"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户</a:t>
                      </a:r>
                      <a:endParaRPr lang="en-US" altLang="en-US" sz="1500" dirty="0">
                        <a:latin typeface="微软雅黑" panose="020B0503020204020204" charset="-122"/>
                        <a:ea typeface="微软雅黑" panose="020B0503020204020204" charset="-122"/>
                      </a:endParaRPr>
                    </a:p>
                  </a:txBody>
                  <a:tcPr marL="0" marR="0" marT="0" marB="0">
                    <a:lnL w="76200" cap="flat" cmpd="sng" algn="ctr">
                      <a:solidFill>
                        <a:srgbClr val="808080"/>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a:noFill/>
                    </a:lnB>
                  </a:tcPr>
                </a:tc>
                <a:tc>
                  <a:txBody>
                    <a:bodyPr/>
                    <a:lstStyle/>
                    <a:p>
                      <a:pPr algn="l" rtl="0" eaLnBrk="0">
                        <a:lnSpc>
                          <a:spcPct val="100000"/>
                        </a:lnSpc>
                      </a:pPr>
                      <a:endParaRPr lang="en-US" altLang="en-US" sz="1000" dirty="0">
                        <a:ea typeface="微软雅黑" panose="020B0503020204020204" charset="-122"/>
                      </a:endParaRPr>
                    </a:p>
                  </a:txBody>
                  <a:tcPr marL="0" marR="0" marT="0" marB="0">
                    <a:lnL>
                      <a:noFill/>
                    </a:lnL>
                    <a:lnR>
                      <a:noFill/>
                    </a:lnR>
                    <a:lnT w="3175" cap="flat" cmpd="sng" algn="ctr">
                      <a:solidFill>
                        <a:srgbClr val="FFFFFF"/>
                      </a:solidFill>
                      <a:prstDash val="solid"/>
                      <a:round/>
                      <a:headEnd type="none" w="med" len="med"/>
                      <a:tailEnd type="none" w="med" len="med"/>
                    </a:lnT>
                    <a:lnB>
                      <a:noFill/>
                    </a:lnB>
                  </a:tcPr>
                </a:tc>
                <a:tc>
                  <a:txBody>
                    <a:bodyPr/>
                    <a:lstStyle/>
                    <a:p>
                      <a:pPr algn="l" rtl="0" eaLnBrk="0">
                        <a:lnSpc>
                          <a:spcPct val="100000"/>
                        </a:lnSpc>
                      </a:pPr>
                      <a:endParaRPr lang="en-US" altLang="en-US" sz="1000" dirty="0">
                        <a:ea typeface="微软雅黑" panose="020B0503020204020204" charset="-122"/>
                      </a:endParaRPr>
                    </a:p>
                  </a:txBody>
                  <a:tcPr marL="0" marR="0" marT="0" marB="0">
                    <a:lnL>
                      <a:noFill/>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a:noFill/>
                    </a:lnB>
                  </a:tcPr>
                </a:tc>
                <a:tc rowSpan="2" gridSpan="2">
                  <a:txBody>
                    <a:bodyPr/>
                    <a:lstStyle/>
                    <a:p>
                      <a:pPr algn="l" rtl="0" eaLnBrk="0">
                        <a:lnSpc>
                          <a:spcPct val="161000"/>
                        </a:lnSpc>
                      </a:pPr>
                      <a:endParaRPr lang="en-US" altLang="en-US" sz="1000" dirty="0">
                        <a:latin typeface="微软雅黑" panose="020B0503020204020204" charset="-122"/>
                        <a:ea typeface="微软雅黑" panose="020B0503020204020204" charset="-122"/>
                      </a:endParaRPr>
                    </a:p>
                    <a:p>
                      <a:pPr marL="128270" algn="l" rtl="0" eaLnBrk="0">
                        <a:lnSpc>
                          <a:spcPct val="98000"/>
                        </a:lnSpc>
                        <a:spcBef>
                          <a:spcPts val="5"/>
                        </a:spcBef>
                      </a:pPr>
                      <a:r>
                        <a:rPr sz="1500" spc="80" dirty="0">
                          <a:ln w="5791" cap="flat" cmpd="sng">
                            <a:solidFill>
                              <a:srgbClr val="FFFFFF">
                                <a:alpha val="100000"/>
                              </a:srgbClr>
                            </a:solidFill>
                            <a:prstDash val="solid"/>
                            <a:miter lim="8"/>
                          </a:ln>
                          <a:solidFill>
                            <a:srgbClr val="FFFFFF">
                              <a:alpha val="100000"/>
                            </a:srgbClr>
                          </a:solidFill>
                          <a:latin typeface="微软雅黑" panose="020B0503020204020204" charset="-122"/>
                          <a:ea typeface="微软雅黑" panose="020B0503020204020204" charset="-122"/>
                          <a:cs typeface="楷体" panose="02010609060101010101" charset="-122"/>
                        </a:rPr>
                        <a:t>防守型客</a:t>
                      </a:r>
                      <a:r>
                        <a:rPr sz="1500" spc="60" dirty="0">
                          <a:ln w="5791" cap="flat" cmpd="sng">
                            <a:solidFill>
                              <a:srgbClr val="FFFFFF">
                                <a:alpha val="100000"/>
                              </a:srgbClr>
                            </a:solidFill>
                            <a:prstDash val="solid"/>
                            <a:miter lim="8"/>
                          </a:ln>
                          <a:solidFill>
                            <a:srgbClr val="FFFFFF">
                              <a:alpha val="100000"/>
                            </a:srgbClr>
                          </a:solidFill>
                          <a:latin typeface="微软雅黑" panose="020B0503020204020204" charset="-122"/>
                          <a:ea typeface="微软雅黑" panose="020B0503020204020204" charset="-122"/>
                          <a:cs typeface="楷体" panose="02010609060101010101" charset="-122"/>
                        </a:rPr>
                        <a:t>户</a:t>
                      </a:r>
                      <a:endParaRPr lang="en-US" altLang="en-US" sz="15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endParaRPr>
                    </a:p>
                    <a:p>
                      <a:pPr algn="l" rtl="0" eaLnBrk="0">
                        <a:lnSpc>
                          <a:spcPct val="127000"/>
                        </a:lnSpc>
                      </a:pPr>
                      <a:endParaRPr lang="en-US" altLang="en-US" sz="300" dirty="0">
                        <a:latin typeface="微软雅黑" panose="020B0503020204020204" charset="-122"/>
                        <a:ea typeface="微软雅黑" panose="020B0503020204020204" charset="-122"/>
                      </a:endParaRPr>
                    </a:p>
                    <a:p>
                      <a:pPr marL="161290" algn="l" rtl="0" eaLnBrk="0">
                        <a:lnSpc>
                          <a:spcPct val="99000"/>
                        </a:lnSpc>
                        <a:spcBef>
                          <a:spcPts val="0"/>
                        </a:spcBef>
                      </a:pPr>
                      <a:r>
                        <a:rPr sz="1500" spc="110" dirty="0">
                          <a:solidFill>
                            <a:srgbClr val="FFFFFF">
                              <a:alpha val="100000"/>
                            </a:srgbClr>
                          </a:solidFill>
                          <a:latin typeface="微软雅黑" panose="020B0503020204020204" charset="-122"/>
                          <a:ea typeface="微软雅黑" panose="020B0503020204020204" charset="-122"/>
                          <a:cs typeface="楷体" panose="02010609060101010101" charset="-122"/>
                        </a:rPr>
                        <a:t>服务水</a:t>
                      </a:r>
                      <a:r>
                        <a:rPr sz="1500" spc="80" dirty="0">
                          <a:solidFill>
                            <a:srgbClr val="FFFFFF">
                              <a:alpha val="100000"/>
                            </a:srgbClr>
                          </a:solidFill>
                          <a:latin typeface="微软雅黑" panose="020B0503020204020204" charset="-122"/>
                          <a:ea typeface="微软雅黑" panose="020B0503020204020204" charset="-122"/>
                          <a:cs typeface="楷体" panose="02010609060101010101" charset="-122"/>
                        </a:rPr>
                        <a:t>平</a:t>
                      </a:r>
                      <a:endParaRPr lang="en-US" altLang="en-US" sz="1500" dirty="0">
                        <a:latin typeface="微软雅黑" panose="020B0503020204020204" charset="-122"/>
                        <a:ea typeface="微软雅黑" panose="020B0503020204020204" charset="-122"/>
                      </a:endParaRPr>
                    </a:p>
                  </a:txBody>
                  <a:tcPr marL="0" marR="0" marT="0" marB="0">
                    <a:lnL w="19050"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00ADEF"/>
                    </a:solidFill>
                  </a:tcPr>
                </a:tc>
                <a:tc rowSpan="2" hMerge="1">
                  <a:tcPr marL="0" marR="0" marT="0" marB="0">
                    <a:lnL w="19050"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00ADEF"/>
                    </a:solidFill>
                  </a:tcPr>
                </a:tc>
                <a:tc rowSpan="2">
                  <a:txBody>
                    <a:bodyPr/>
                    <a:lstStyle/>
                    <a:p>
                      <a:pPr algn="l" rtl="0" eaLnBrk="0">
                        <a:lnSpc>
                          <a:spcPct val="100000"/>
                        </a:lnSpc>
                      </a:pPr>
                      <a:endParaRPr lang="en-US" altLang="en-US" sz="1000" dirty="0">
                        <a:ea typeface="微软雅黑" panose="020B0503020204020204" charset="-122"/>
                      </a:endParaRPr>
                    </a:p>
                  </a:txBody>
                  <a:tcPr marL="0" marR="0" marT="0" marB="0">
                    <a:lnL>
                      <a:noFill/>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00ADEF"/>
                    </a:solidFill>
                  </a:tcPr>
                </a:tc>
              </a:tr>
              <a:tr h="775969">
                <a:tc gridSpan="3">
                  <a:txBody>
                    <a:bodyPr/>
                    <a:lstStyle/>
                    <a:p>
                      <a:pPr algn="l" rtl="0" eaLnBrk="0">
                        <a:lnSpc>
                          <a:spcPct val="144000"/>
                        </a:lnSpc>
                      </a:pPr>
                      <a:endParaRPr lang="en-US" altLang="en-US" sz="1000" dirty="0">
                        <a:latin typeface="微软雅黑" panose="020B0503020204020204" charset="-122"/>
                        <a:ea typeface="微软雅黑" panose="020B0503020204020204" charset="-122"/>
                      </a:endParaRPr>
                    </a:p>
                    <a:p>
                      <a:pPr algn="l" rtl="0" eaLnBrk="0">
                        <a:lnSpc>
                          <a:spcPct val="145000"/>
                        </a:lnSpc>
                      </a:pPr>
                      <a:endParaRPr lang="en-US" altLang="en-US" sz="1000" dirty="0">
                        <a:latin typeface="微软雅黑" panose="020B0503020204020204" charset="-122"/>
                        <a:ea typeface="微软雅黑" panose="020B0503020204020204" charset="-122"/>
                      </a:endParaRPr>
                    </a:p>
                    <a:p>
                      <a:pPr algn="l" rtl="0" eaLnBrk="0">
                        <a:lnSpc>
                          <a:spcPct val="8000"/>
                        </a:lnSpc>
                      </a:pPr>
                      <a:endParaRPr lang="en-US" altLang="en-US" sz="100" dirty="0">
                        <a:latin typeface="微软雅黑" panose="020B0503020204020204" charset="-122"/>
                        <a:ea typeface="微软雅黑" panose="020B0503020204020204" charset="-122"/>
                      </a:endParaRPr>
                    </a:p>
                    <a:p>
                      <a:pPr marL="265430" algn="l" rtl="0" eaLnBrk="0">
                        <a:lnSpc>
                          <a:spcPct val="99000"/>
                        </a:lnSpc>
                      </a:pPr>
                      <a:r>
                        <a:rPr sz="1500" spc="110" dirty="0">
                          <a:solidFill>
                            <a:srgbClr val="000000">
                              <a:alpha val="100000"/>
                            </a:srgbClr>
                          </a:solidFill>
                          <a:latin typeface="微软雅黑" panose="020B0503020204020204" charset="-122"/>
                          <a:ea typeface="微软雅黑" panose="020B0503020204020204" charset="-122"/>
                          <a:cs typeface="楷体" panose="02010609060101010101" charset="-122"/>
                        </a:rPr>
                        <a:t>服务水</a:t>
                      </a:r>
                      <a:r>
                        <a:rPr sz="1500" spc="80" dirty="0">
                          <a:solidFill>
                            <a:srgbClr val="000000">
                              <a:alpha val="100000"/>
                            </a:srgbClr>
                          </a:solidFill>
                          <a:latin typeface="微软雅黑" panose="020B0503020204020204" charset="-122"/>
                          <a:ea typeface="微软雅黑" panose="020B0503020204020204" charset="-122"/>
                          <a:cs typeface="楷体" panose="02010609060101010101" charset="-122"/>
                        </a:rPr>
                        <a:t>平</a:t>
                      </a:r>
                      <a:endParaRPr lang="en-US" altLang="en-US" sz="1500" dirty="0">
                        <a:latin typeface="微软雅黑" panose="020B0503020204020204" charset="-122"/>
                        <a:ea typeface="微软雅黑" panose="020B0503020204020204" charset="-122"/>
                      </a:endParaRPr>
                    </a:p>
                  </a:txBody>
                  <a:tcPr marL="0" marR="0" marT="0" marB="0">
                    <a:lnL w="76200" cap="flat" cmpd="sng" algn="ctr">
                      <a:solidFill>
                        <a:srgbClr val="808080"/>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3175" cap="flat" cmpd="sng" algn="ctr">
                      <a:solidFill>
                        <a:srgbClr val="FFFFFF"/>
                      </a:solidFill>
                      <a:prstDash val="solid"/>
                      <a:round/>
                      <a:headEnd type="none" w="med" len="med"/>
                      <a:tailEnd type="none" w="med" len="med"/>
                    </a:lnB>
                  </a:tcPr>
                </a:tc>
                <a:tc hMerge="1">
                  <a:tcPr marL="0" marR="0" marT="0" marB="0">
                    <a:lnL w="76200" cap="flat" cmpd="sng" algn="ctr">
                      <a:solidFill>
                        <a:srgbClr val="808080"/>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3175" cap="flat" cmpd="sng" algn="ctr">
                      <a:solidFill>
                        <a:srgbClr val="FFFFFF"/>
                      </a:solidFill>
                      <a:prstDash val="solid"/>
                      <a:round/>
                      <a:headEnd type="none" w="med" len="med"/>
                      <a:tailEnd type="none" w="med" len="med"/>
                    </a:lnB>
                  </a:tcPr>
                </a:tc>
                <a:tc hMerge="1">
                  <a:tcPr marL="0" marR="0" marT="0" marB="0">
                    <a:lnL w="76200" cap="flat" cmpd="sng" algn="ctr">
                      <a:solidFill>
                        <a:srgbClr val="808080"/>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3175" cap="flat" cmpd="sng" algn="ctr">
                      <a:solidFill>
                        <a:srgbClr val="FFFFFF"/>
                      </a:solidFill>
                      <a:prstDash val="solid"/>
                      <a:round/>
                      <a:headEnd type="none" w="med" len="med"/>
                      <a:tailEnd type="none" w="med" len="med"/>
                    </a:lnB>
                  </a:tcPr>
                </a:tc>
                <a:tc vMerge="1" gridSpan="2">
                  <a:tcPr marL="0" marR="0" marT="0" marB="0">
                    <a:lnL w="19050"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vMerge="1" hMerge="1">
                  <a:tcPr marL="0" marR="0" marT="0" marB="0">
                    <a:lnL w="19050"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vMerge="1">
                  <a:tcPr marL="0" marR="0" marT="0" marB="0">
                    <a:lnL>
                      <a:noFill/>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r>
              <a:tr h="175260">
                <a:tc gridSpan="6">
                  <a:txBody>
                    <a:bodyPr/>
                    <a:lstStyle/>
                    <a:p>
                      <a:pPr algn="l" rtl="0" eaLnBrk="0">
                        <a:lnSpc>
                          <a:spcPct val="100000"/>
                        </a:lnSpc>
                      </a:pPr>
                      <a:endParaRPr lang="en-US" altLang="en-US" sz="1000" dirty="0">
                        <a:ea typeface="微软雅黑" panose="020B0503020204020204" charset="-122"/>
                      </a:endParaRPr>
                    </a:p>
                  </a:txBody>
                  <a:tcPr marL="0" marR="0" marT="0" marB="0">
                    <a:lnL w="76200" cap="flat" cmpd="sng" algn="ctr">
                      <a:solidFill>
                        <a:srgbClr val="808080"/>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hMerge="1">
                  <a:tcPr marL="0" marR="0" marT="0" marB="0">
                    <a:lnL w="76200" cap="flat" cmpd="sng" algn="ctr">
                      <a:solidFill>
                        <a:srgbClr val="808080"/>
                      </a:solidFill>
                      <a:prstDash val="solid"/>
                      <a:round/>
                      <a:headEnd type="none" w="med" len="med"/>
                      <a:tailEnd type="none" w="med" len="med"/>
                    </a:lnL>
                    <a:lnR>
                      <a:noFill/>
                    </a:lnR>
                    <a:lnT w="3175" cap="flat" cmpd="sng" algn="ctr">
                      <a:solidFill>
                        <a:srgbClr val="808080"/>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hMerge="1">
                  <a:tcPr marL="0" marR="0" marT="0" marB="0">
                    <a:lnL w="76200" cap="flat" cmpd="sng" algn="ctr">
                      <a:solidFill>
                        <a:srgbClr val="808080"/>
                      </a:solidFill>
                      <a:prstDash val="solid"/>
                      <a:round/>
                      <a:headEnd type="none" w="med" len="med"/>
                      <a:tailEnd type="none" w="med" len="med"/>
                    </a:lnL>
                    <a:lnR>
                      <a:noFill/>
                    </a:lnR>
                    <a:lnT w="3175" cap="flat" cmpd="sng" algn="ctr">
                      <a:solidFill>
                        <a:srgbClr val="808080"/>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hMerge="1">
                  <a:tcPr marL="0" marR="0" marT="0" marB="0">
                    <a:lnL w="76200" cap="flat" cmpd="sng" algn="ctr">
                      <a:solidFill>
                        <a:srgbClr val="808080"/>
                      </a:solidFill>
                      <a:prstDash val="solid"/>
                      <a:round/>
                      <a:headEnd type="none" w="med" len="med"/>
                      <a:tailEnd type="none" w="med" len="med"/>
                    </a:lnL>
                    <a:lnR>
                      <a:noFill/>
                    </a:lnR>
                    <a:lnT w="3175" cap="flat" cmpd="sng" algn="ctr">
                      <a:solidFill>
                        <a:srgbClr val="808080"/>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hMerge="1">
                  <a:tcPr marL="0" marR="0" marT="0" marB="0">
                    <a:lnL w="76200" cap="flat" cmpd="sng" algn="ctr">
                      <a:solidFill>
                        <a:srgbClr val="808080"/>
                      </a:solidFill>
                      <a:prstDash val="solid"/>
                      <a:round/>
                      <a:headEnd type="none" w="med" len="med"/>
                      <a:tailEnd type="none" w="med" len="med"/>
                    </a:lnL>
                    <a:lnR>
                      <a:noFill/>
                    </a:lnR>
                    <a:lnT w="3175" cap="flat" cmpd="sng" algn="ctr">
                      <a:solidFill>
                        <a:srgbClr val="808080"/>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hMerge="1">
                  <a:tcPr marL="0" marR="0" marT="0" marB="0">
                    <a:lnL w="76200" cap="flat" cmpd="sng" algn="ctr">
                      <a:solidFill>
                        <a:srgbClr val="808080"/>
                      </a:solidFill>
                      <a:prstDash val="solid"/>
                      <a:round/>
                      <a:headEnd type="none" w="med" len="med"/>
                      <a:tailEnd type="none" w="med" len="med"/>
                    </a:lnL>
                    <a:lnR>
                      <a:noFill/>
                    </a:lnR>
                    <a:lnT w="3175" cap="flat" cmpd="sng" algn="ctr">
                      <a:solidFill>
                        <a:srgbClr val="808080"/>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r>
            </a:tbl>
          </a:graphicData>
        </a:graphic>
      </p:graphicFrame>
      <p:sp>
        <p:nvSpPr>
          <p:cNvPr id="309" name="textbox 309"/>
          <p:cNvSpPr/>
          <p:nvPr/>
        </p:nvSpPr>
        <p:spPr>
          <a:xfrm>
            <a:off x="104694" y="248992"/>
            <a:ext cx="5003800" cy="316229"/>
          </a:xfrm>
          <a:prstGeom prst="rect">
            <a:avLst/>
          </a:prstGeom>
        </p:spPr>
        <p:txBody>
          <a:bodyPr vert="horz" wrap="square" lIns="0" tIns="0" rIns="0" bIns="0"/>
          <a:lstStyle/>
          <a:p>
            <a:pPr algn="l" rtl="0" eaLnBrk="0">
              <a:lnSpc>
                <a:spcPct val="91000"/>
              </a:lnSpc>
            </a:pPr>
            <a:endParaRPr lang="en-US" altLang="en-US" sz="100" dirty="0">
              <a:latin typeface="微软雅黑" panose="020B0503020204020204" charset="-122"/>
              <a:ea typeface="微软雅黑" panose="020B0503020204020204" charset="-122"/>
            </a:endParaRPr>
          </a:p>
          <a:p>
            <a:pPr marL="139700" algn="l" rtl="0" eaLnBrk="0">
              <a:lnSpc>
                <a:spcPct val="95000"/>
              </a:lnSpc>
            </a:pPr>
            <a:r>
              <a:rPr sz="2000" spc="-50" dirty="0">
                <a:solidFill>
                  <a:srgbClr val="002960">
                    <a:alpha val="100000"/>
                  </a:srgbClr>
                </a:solidFill>
                <a:latin typeface="微软雅黑" panose="020B0503020204020204" charset="-122"/>
                <a:ea typeface="微软雅黑" panose="020B0503020204020204" charset="-122"/>
                <a:cs typeface="楷体" panose="02010609060101010101" charset="-122"/>
              </a:rPr>
              <a:t>【案例</a:t>
            </a:r>
            <a:r>
              <a:rPr sz="2000" spc="-50" dirty="0">
                <a:solidFill>
                  <a:srgbClr val="002960">
                    <a:alpha val="100000"/>
                  </a:srgbClr>
                </a:solidFill>
                <a:latin typeface="微软雅黑" panose="020B0503020204020204" charset="-122"/>
                <a:ea typeface="微软雅黑" panose="020B0503020204020204" charset="-122"/>
                <a:cs typeface="Arial" panose="020B0604020202020204"/>
              </a:rPr>
              <a:t>1</a:t>
            </a:r>
            <a:r>
              <a:rPr sz="2000" spc="-50" dirty="0">
                <a:solidFill>
                  <a:srgbClr val="002960">
                    <a:alpha val="100000"/>
                  </a:srgbClr>
                </a:solidFill>
                <a:latin typeface="微软雅黑" panose="020B0503020204020204" charset="-122"/>
                <a:ea typeface="微软雅黑" panose="020B0503020204020204" charset="-122"/>
                <a:cs typeface="楷体" panose="02010609060101010101" charset="-122"/>
              </a:rPr>
              <a:t>】某公司根据客户行为进行客户</a:t>
            </a:r>
            <a:r>
              <a:rPr sz="2000" spc="-20" dirty="0">
                <a:solidFill>
                  <a:srgbClr val="002960">
                    <a:alpha val="100000"/>
                  </a:srgbClr>
                </a:solidFill>
                <a:latin typeface="微软雅黑" panose="020B0503020204020204" charset="-122"/>
                <a:ea typeface="微软雅黑" panose="020B0503020204020204" charset="-122"/>
                <a:cs typeface="楷体" panose="02010609060101010101" charset="-122"/>
              </a:rPr>
              <a:t>分</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群</a:t>
            </a:r>
            <a:endParaRPr lang="en-US" altLang="en-US" sz="2000" dirty="0">
              <a:latin typeface="微软雅黑" panose="020B0503020204020204" charset="-122"/>
              <a:ea typeface="微软雅黑" panose="020B0503020204020204" charset="-122"/>
            </a:endParaRPr>
          </a:p>
        </p:txBody>
      </p:sp>
      <p:sp>
        <p:nvSpPr>
          <p:cNvPr id="310" name="textbox 310"/>
          <p:cNvSpPr/>
          <p:nvPr/>
        </p:nvSpPr>
        <p:spPr>
          <a:xfrm>
            <a:off x="454073" y="1136908"/>
            <a:ext cx="2236470" cy="495934"/>
          </a:xfrm>
          <a:prstGeom prst="rect">
            <a:avLst/>
          </a:prstGeom>
        </p:spPr>
        <p:txBody>
          <a:bodyPr vert="horz" wrap="square" lIns="0" tIns="0" rIns="0" bIns="0"/>
          <a:lstStyle/>
          <a:p>
            <a:pPr algn="l" rtl="0" eaLnBrk="0">
              <a:lnSpc>
                <a:spcPct val="82000"/>
              </a:lnSpc>
            </a:pPr>
            <a:endParaRPr lang="en-US" altLang="en-US" sz="100" dirty="0">
              <a:latin typeface="微软雅黑" panose="020B0503020204020204" charset="-122"/>
              <a:ea typeface="微软雅黑" panose="020B0503020204020204" charset="-122"/>
            </a:endParaRPr>
          </a:p>
          <a:p>
            <a:pPr algn="r" rtl="0" eaLnBrk="0">
              <a:lnSpc>
                <a:spcPct val="99000"/>
              </a:lnSpc>
            </a:pPr>
            <a:r>
              <a:rPr sz="1500" spc="90" dirty="0">
                <a:ln w="5791"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未来价值贡</a:t>
            </a:r>
            <a:r>
              <a:rPr sz="1500" spc="70" dirty="0">
                <a:ln w="5791"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献</a:t>
            </a:r>
            <a:endParaRPr lang="en-US" altLang="en-US" sz="1500" dirty="0">
              <a:latin typeface="微软雅黑" panose="020B0503020204020204" charset="-122"/>
              <a:ea typeface="微软雅黑" panose="020B0503020204020204" charset="-122"/>
            </a:endParaRPr>
          </a:p>
          <a:p>
            <a:pPr marL="111125" algn="l" rtl="0" eaLnBrk="0">
              <a:lnSpc>
                <a:spcPct val="99000"/>
              </a:lnSpc>
              <a:spcBef>
                <a:spcPts val="140"/>
              </a:spcBef>
            </a:pPr>
            <a:r>
              <a:rPr sz="1500" spc="10" dirty="0">
                <a:solidFill>
                  <a:srgbClr val="808080">
                    <a:alpha val="100000"/>
                  </a:srgbClr>
                </a:solidFill>
                <a:latin typeface="微软雅黑" panose="020B0503020204020204" charset="-122"/>
                <a:ea typeface="微软雅黑" panose="020B0503020204020204" charset="-122"/>
                <a:cs typeface="楷体" panose="02010609060101010101" charset="-122"/>
              </a:rPr>
              <a:t>(未来销量</a:t>
            </a:r>
            <a:r>
              <a:rPr sz="1500" spc="0" dirty="0">
                <a:solidFill>
                  <a:srgbClr val="808080">
                    <a:alpha val="100000"/>
                  </a:srgbClr>
                </a:solidFill>
                <a:latin typeface="微软雅黑" panose="020B0503020204020204" charset="-122"/>
                <a:ea typeface="微软雅黑" panose="020B0503020204020204" charset="-122"/>
                <a:cs typeface="楷体" panose="02010609060101010101" charset="-122"/>
              </a:rPr>
              <a:t> </a:t>
            </a:r>
            <a:r>
              <a:rPr sz="1500" spc="0" dirty="0">
                <a:solidFill>
                  <a:srgbClr val="808080">
                    <a:alpha val="100000"/>
                  </a:srgbClr>
                </a:solidFill>
                <a:latin typeface="微软雅黑" panose="020B0503020204020204" charset="-122"/>
                <a:ea typeface="微软雅黑" panose="020B0503020204020204" charset="-122"/>
                <a:cs typeface="Arial" panose="020B0604020202020204"/>
              </a:rPr>
              <a:t>–  </a:t>
            </a:r>
            <a:r>
              <a:rPr sz="1500" spc="0" dirty="0">
                <a:solidFill>
                  <a:srgbClr val="808080">
                    <a:alpha val="100000"/>
                  </a:srgbClr>
                </a:solidFill>
                <a:latin typeface="微软雅黑" panose="020B0503020204020204" charset="-122"/>
                <a:ea typeface="微软雅黑" panose="020B0503020204020204" charset="-122"/>
                <a:cs typeface="楷体" panose="02010609060101010101" charset="-122"/>
              </a:rPr>
              <a:t>目前销量)</a:t>
            </a:r>
            <a:endParaRPr lang="en-US" altLang="en-US" sz="1500" dirty="0">
              <a:latin typeface="微软雅黑" panose="020B0503020204020204" charset="-122"/>
              <a:ea typeface="微软雅黑" panose="020B0503020204020204" charset="-122"/>
            </a:endParaRPr>
          </a:p>
        </p:txBody>
      </p:sp>
      <p:sp>
        <p:nvSpPr>
          <p:cNvPr id="311" name="textbox 311"/>
          <p:cNvSpPr/>
          <p:nvPr/>
        </p:nvSpPr>
        <p:spPr>
          <a:xfrm>
            <a:off x="7098542" y="5828110"/>
            <a:ext cx="1218564" cy="498475"/>
          </a:xfrm>
          <a:prstGeom prst="rect">
            <a:avLst/>
          </a:prstGeom>
        </p:spPr>
        <p:txBody>
          <a:bodyPr vert="horz" wrap="square" lIns="0" tIns="0" rIns="0" bIns="0"/>
          <a:lstStyle/>
          <a:p>
            <a:pPr algn="l" rtl="0" eaLnBrk="0">
              <a:lnSpc>
                <a:spcPct val="87000"/>
              </a:lnSpc>
            </a:pPr>
            <a:endParaRPr lang="en-US" altLang="en-US" sz="100" dirty="0">
              <a:latin typeface="微软雅黑" panose="020B0503020204020204" charset="-122"/>
              <a:ea typeface="微软雅黑" panose="020B0503020204020204" charset="-122"/>
            </a:endParaRPr>
          </a:p>
          <a:p>
            <a:pPr marL="31750" algn="l" rtl="0" eaLnBrk="0">
              <a:lnSpc>
                <a:spcPct val="100000"/>
              </a:lnSpc>
            </a:pPr>
            <a:r>
              <a:rPr sz="1500" spc="50" dirty="0">
                <a:ln w="5791"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目前价值</a:t>
            </a:r>
            <a:r>
              <a:rPr sz="1500" spc="40" dirty="0">
                <a:ln w="5791"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贡</a:t>
            </a:r>
            <a:r>
              <a:rPr sz="1500" spc="0" dirty="0">
                <a:ln w="5791"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献</a:t>
            </a:r>
            <a:endParaRPr lang="en-US" altLang="en-US" sz="1500" dirty="0">
              <a:latin typeface="微软雅黑" panose="020B0503020204020204" charset="-122"/>
              <a:ea typeface="微软雅黑" panose="020B0503020204020204" charset="-122"/>
            </a:endParaRPr>
          </a:p>
          <a:p>
            <a:pPr marL="111125" algn="l" rtl="0" eaLnBrk="0">
              <a:lnSpc>
                <a:spcPct val="100000"/>
              </a:lnSpc>
              <a:spcBef>
                <a:spcPts val="120"/>
              </a:spcBef>
            </a:pPr>
            <a:r>
              <a:rPr sz="1500" spc="50" dirty="0">
                <a:solidFill>
                  <a:srgbClr val="808080">
                    <a:alpha val="100000"/>
                  </a:srgbClr>
                </a:solidFill>
                <a:latin typeface="微软雅黑" panose="020B0503020204020204" charset="-122"/>
                <a:ea typeface="微软雅黑" panose="020B0503020204020204" charset="-122"/>
                <a:cs typeface="楷体" panose="02010609060101010101" charset="-122"/>
              </a:rPr>
              <a:t>(目前毛利</a:t>
            </a:r>
            <a:r>
              <a:rPr sz="1500" spc="30" dirty="0">
                <a:solidFill>
                  <a:srgbClr val="808080">
                    <a:alpha val="100000"/>
                  </a:srgbClr>
                </a:solidFill>
                <a:latin typeface="微软雅黑" panose="020B0503020204020204" charset="-122"/>
                <a:ea typeface="微软雅黑" panose="020B0503020204020204" charset="-122"/>
                <a:cs typeface="楷体" panose="02010609060101010101" charset="-122"/>
              </a:rPr>
              <a:t>)</a:t>
            </a:r>
            <a:endParaRPr lang="en-US" altLang="en-US" sz="1500" dirty="0">
              <a:latin typeface="微软雅黑" panose="020B0503020204020204" charset="-122"/>
              <a:ea typeface="微软雅黑" panose="020B0503020204020204" charset="-122"/>
            </a:endParaRPr>
          </a:p>
        </p:txBody>
      </p:sp>
      <p:sp>
        <p:nvSpPr>
          <p:cNvPr id="312" name="textbox 312"/>
          <p:cNvSpPr/>
          <p:nvPr/>
        </p:nvSpPr>
        <p:spPr>
          <a:xfrm>
            <a:off x="1027937" y="5346217"/>
            <a:ext cx="937260" cy="440690"/>
          </a:xfrm>
          <a:prstGeom prst="rect">
            <a:avLst/>
          </a:prstGeom>
        </p:spPr>
        <p:txBody>
          <a:bodyPr vert="horz" wrap="square" lIns="0" tIns="0" rIns="0" bIns="0"/>
          <a:lstStyle/>
          <a:p>
            <a:pPr algn="l" rtl="0" eaLnBrk="0">
              <a:lnSpc>
                <a:spcPct val="86000"/>
              </a:lnSpc>
            </a:pPr>
            <a:endParaRPr lang="en-US" altLang="en-US" sz="100" dirty="0">
              <a:latin typeface="微软雅黑" panose="020B0503020204020204" charset="-122"/>
              <a:ea typeface="微软雅黑" panose="020B0503020204020204" charset="-122"/>
            </a:endParaRPr>
          </a:p>
          <a:p>
            <a:pPr marL="12700" algn="l" rtl="0" eaLnBrk="0">
              <a:lnSpc>
                <a:spcPct val="95000"/>
              </a:lnSpc>
            </a:pPr>
            <a:r>
              <a:rPr sz="1200" spc="-10" dirty="0">
                <a:solidFill>
                  <a:srgbClr val="000000">
                    <a:alpha val="100000"/>
                  </a:srgbClr>
                </a:solidFill>
                <a:latin typeface="微软雅黑" panose="020B0503020204020204" charset="-122"/>
                <a:ea typeface="微软雅黑" panose="020B0503020204020204" charset="-122"/>
                <a:cs typeface="楷体" panose="02010609060101010101" charset="-122"/>
              </a:rPr>
              <a:t>客户</a:t>
            </a:r>
            <a:endParaRPr lang="en-US" altLang="en-US" sz="1200" dirty="0">
              <a:latin typeface="微软雅黑" panose="020B0503020204020204" charset="-122"/>
              <a:ea typeface="微软雅黑" panose="020B0503020204020204" charset="-122"/>
            </a:endParaRPr>
          </a:p>
          <a:p>
            <a:pPr algn="l" rtl="0" eaLnBrk="0">
              <a:lnSpc>
                <a:spcPct val="116000"/>
              </a:lnSpc>
            </a:pPr>
            <a:endParaRPr lang="en-US" altLang="en-US" sz="400" dirty="0">
              <a:latin typeface="微软雅黑" panose="020B0503020204020204" charset="-122"/>
              <a:ea typeface="微软雅黑" panose="020B0503020204020204" charset="-122"/>
            </a:endParaRPr>
          </a:p>
          <a:p>
            <a:pPr marL="13970" algn="l" rtl="0" eaLnBrk="0">
              <a:lnSpc>
                <a:spcPct val="93000"/>
              </a:lnSpc>
              <a:spcBef>
                <a:spcPts val="0"/>
              </a:spcBef>
            </a:pPr>
            <a:r>
              <a:rPr sz="1200" spc="-10" dirty="0">
                <a:solidFill>
                  <a:srgbClr val="000000">
                    <a:alpha val="100000"/>
                  </a:srgbClr>
                </a:solidFill>
                <a:latin typeface="微软雅黑" panose="020B0503020204020204" charset="-122"/>
                <a:ea typeface="微软雅黑" panose="020B0503020204020204" charset="-122"/>
                <a:cs typeface="楷体" panose="02010609060101010101" charset="-122"/>
              </a:rPr>
              <a:t>基础服</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务水平</a:t>
            </a:r>
            <a:endParaRPr lang="en-US" altLang="en-US" sz="1200" dirty="0">
              <a:latin typeface="微软雅黑" panose="020B0503020204020204" charset="-122"/>
              <a:ea typeface="微软雅黑" panose="020B0503020204020204" charset="-122"/>
            </a:endParaRPr>
          </a:p>
        </p:txBody>
      </p:sp>
      <p:sp>
        <p:nvSpPr>
          <p:cNvPr id="313" name="textbox 313"/>
          <p:cNvSpPr/>
          <p:nvPr/>
        </p:nvSpPr>
        <p:spPr>
          <a:xfrm>
            <a:off x="8818509" y="1037437"/>
            <a:ext cx="114935" cy="1840229"/>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endParaRPr sz="600" spc="0" dirty="0">
              <a:solidFill>
                <a:srgbClr val="808080">
                  <a:alpha val="100000"/>
                </a:srgbClr>
              </a:solidFill>
              <a:latin typeface="Arial" panose="020B0604020202020204"/>
              <a:ea typeface="Arial" panose="020B0604020202020204"/>
              <a:cs typeface="Arial" panose="020B0604020202020204"/>
            </a:endParaRPr>
          </a:p>
        </p:txBody>
      </p:sp>
      <p:grpSp>
        <p:nvGrpSpPr>
          <p:cNvPr id="50" name="group 50"/>
          <p:cNvGrpSpPr/>
          <p:nvPr/>
        </p:nvGrpSpPr>
        <p:grpSpPr>
          <a:xfrm rot="21600000">
            <a:off x="5216652" y="3217164"/>
            <a:ext cx="326135" cy="333755"/>
            <a:chOff x="0" y="0"/>
            <a:chExt cx="326135" cy="333755"/>
          </a:xfrm>
        </p:grpSpPr>
        <p:sp>
          <p:nvSpPr>
            <p:cNvPr id="315" name="path"/>
            <p:cNvSpPr/>
            <p:nvPr/>
          </p:nvSpPr>
          <p:spPr>
            <a:xfrm>
              <a:off x="9905" y="9905"/>
              <a:ext cx="306323" cy="313944"/>
            </a:xfrm>
            <a:custGeom>
              <a:avLst/>
              <a:gdLst/>
              <a:ahLst/>
              <a:cxnLst/>
              <a:rect l="0" t="0" r="0" b="0"/>
              <a:pathLst>
                <a:path w="482" h="494">
                  <a:moveTo>
                    <a:pt x="0" y="247"/>
                  </a:moveTo>
                  <a:cubicBezTo>
                    <a:pt x="0" y="110"/>
                    <a:pt x="107" y="0"/>
                    <a:pt x="241" y="0"/>
                  </a:cubicBezTo>
                  <a:cubicBezTo>
                    <a:pt x="374" y="0"/>
                    <a:pt x="482" y="110"/>
                    <a:pt x="482" y="247"/>
                  </a:cubicBezTo>
                  <a:cubicBezTo>
                    <a:pt x="482" y="383"/>
                    <a:pt x="374" y="494"/>
                    <a:pt x="241" y="494"/>
                  </a:cubicBezTo>
                  <a:cubicBezTo>
                    <a:pt x="107" y="494"/>
                    <a:pt x="0" y="383"/>
                    <a:pt x="0" y="247"/>
                  </a:cubicBezTo>
                </a:path>
              </a:pathLst>
            </a:custGeom>
            <a:solidFill>
              <a:srgbClr val="001F48">
                <a:alpha val="100000"/>
              </a:srgbClr>
            </a:solidFill>
            <a:ln cap="flat">
              <a:noFill/>
              <a:prstDash val="solid"/>
              <a:miter lim="0"/>
            </a:ln>
          </p:spPr>
          <p:txBody>
            <a:bodyPr rtlCol="0"/>
            <a:lstStyle/>
            <a:p>
              <a:pPr algn="ctr"/>
              <a:endParaRPr lang="zh-CN" altLang="en-US"/>
            </a:p>
          </p:txBody>
        </p:sp>
        <p:sp>
          <p:nvSpPr>
            <p:cNvPr id="316" name="path"/>
            <p:cNvSpPr/>
            <p:nvPr/>
          </p:nvSpPr>
          <p:spPr>
            <a:xfrm>
              <a:off x="0" y="0"/>
              <a:ext cx="326135" cy="333755"/>
            </a:xfrm>
            <a:custGeom>
              <a:avLst/>
              <a:gdLst/>
              <a:ahLst/>
              <a:cxnLst/>
              <a:rect l="0" t="0" r="0" b="0"/>
              <a:pathLst>
                <a:path w="513" h="525">
                  <a:moveTo>
                    <a:pt x="15" y="262"/>
                  </a:moveTo>
                  <a:cubicBezTo>
                    <a:pt x="15" y="126"/>
                    <a:pt x="123" y="15"/>
                    <a:pt x="256" y="15"/>
                  </a:cubicBezTo>
                  <a:cubicBezTo>
                    <a:pt x="390" y="15"/>
                    <a:pt x="497" y="126"/>
                    <a:pt x="497" y="262"/>
                  </a:cubicBezTo>
                  <a:cubicBezTo>
                    <a:pt x="497" y="399"/>
                    <a:pt x="390" y="510"/>
                    <a:pt x="256" y="510"/>
                  </a:cubicBezTo>
                  <a:cubicBezTo>
                    <a:pt x="123" y="510"/>
                    <a:pt x="15" y="399"/>
                    <a:pt x="15" y="262"/>
                  </a:cubicBezTo>
                </a:path>
              </a:pathLst>
            </a:custGeom>
            <a:noFill/>
            <a:ln w="19811" cap="flat">
              <a:solidFill>
                <a:srgbClr val="FFFFFF">
                  <a:alpha val="100000"/>
                </a:srgbClr>
              </a:solidFill>
              <a:prstDash val="solid"/>
              <a:miter lim="800000"/>
            </a:ln>
          </p:spPr>
          <p:txBody>
            <a:bodyPr rtlCol="0"/>
            <a:lstStyle/>
            <a:p>
              <a:pPr algn="ctr"/>
              <a:endParaRPr lang="zh-CN" altLang="en-US"/>
            </a:p>
          </p:txBody>
        </p:sp>
      </p:grpSp>
      <p:grpSp>
        <p:nvGrpSpPr>
          <p:cNvPr id="52" name="group 52"/>
          <p:cNvGrpSpPr/>
          <p:nvPr/>
        </p:nvGrpSpPr>
        <p:grpSpPr>
          <a:xfrm rot="21600000">
            <a:off x="6998207" y="4189476"/>
            <a:ext cx="324612" cy="333755"/>
            <a:chOff x="0" y="0"/>
            <a:chExt cx="324612" cy="333755"/>
          </a:xfrm>
        </p:grpSpPr>
        <p:sp>
          <p:nvSpPr>
            <p:cNvPr id="317" name="path"/>
            <p:cNvSpPr/>
            <p:nvPr/>
          </p:nvSpPr>
          <p:spPr>
            <a:xfrm>
              <a:off x="9906" y="9905"/>
              <a:ext cx="304800" cy="313943"/>
            </a:xfrm>
            <a:custGeom>
              <a:avLst/>
              <a:gdLst/>
              <a:ahLst/>
              <a:cxnLst/>
              <a:rect l="0" t="0" r="0" b="0"/>
              <a:pathLst>
                <a:path w="480" h="494">
                  <a:moveTo>
                    <a:pt x="0" y="247"/>
                  </a:moveTo>
                  <a:cubicBezTo>
                    <a:pt x="0" y="110"/>
                    <a:pt x="107" y="0"/>
                    <a:pt x="240" y="0"/>
                  </a:cubicBezTo>
                  <a:cubicBezTo>
                    <a:pt x="372" y="0"/>
                    <a:pt x="480" y="110"/>
                    <a:pt x="480" y="247"/>
                  </a:cubicBezTo>
                  <a:cubicBezTo>
                    <a:pt x="480" y="383"/>
                    <a:pt x="372" y="494"/>
                    <a:pt x="240" y="494"/>
                  </a:cubicBezTo>
                  <a:cubicBezTo>
                    <a:pt x="107" y="494"/>
                    <a:pt x="0" y="383"/>
                    <a:pt x="0" y="247"/>
                  </a:cubicBezTo>
                </a:path>
              </a:pathLst>
            </a:custGeom>
            <a:solidFill>
              <a:srgbClr val="002960">
                <a:alpha val="100000"/>
              </a:srgbClr>
            </a:solidFill>
            <a:ln cap="flat">
              <a:noFill/>
              <a:prstDash val="solid"/>
              <a:miter lim="0"/>
            </a:ln>
          </p:spPr>
          <p:txBody>
            <a:bodyPr rtlCol="0"/>
            <a:lstStyle/>
            <a:p>
              <a:pPr algn="ctr"/>
              <a:endParaRPr lang="zh-CN" altLang="en-US"/>
            </a:p>
          </p:txBody>
        </p:sp>
        <p:sp>
          <p:nvSpPr>
            <p:cNvPr id="318" name="path"/>
            <p:cNvSpPr/>
            <p:nvPr/>
          </p:nvSpPr>
          <p:spPr>
            <a:xfrm>
              <a:off x="0" y="0"/>
              <a:ext cx="324612" cy="333755"/>
            </a:xfrm>
            <a:custGeom>
              <a:avLst/>
              <a:gdLst/>
              <a:ahLst/>
              <a:cxnLst/>
              <a:rect l="0" t="0" r="0" b="0"/>
              <a:pathLst>
                <a:path w="511" h="525">
                  <a:moveTo>
                    <a:pt x="15" y="262"/>
                  </a:moveTo>
                  <a:cubicBezTo>
                    <a:pt x="15" y="126"/>
                    <a:pt x="123" y="15"/>
                    <a:pt x="255" y="15"/>
                  </a:cubicBezTo>
                  <a:cubicBezTo>
                    <a:pt x="388" y="15"/>
                    <a:pt x="495" y="126"/>
                    <a:pt x="495" y="262"/>
                  </a:cubicBezTo>
                  <a:cubicBezTo>
                    <a:pt x="495" y="399"/>
                    <a:pt x="388" y="509"/>
                    <a:pt x="255" y="509"/>
                  </a:cubicBezTo>
                  <a:cubicBezTo>
                    <a:pt x="123" y="509"/>
                    <a:pt x="15" y="399"/>
                    <a:pt x="15" y="262"/>
                  </a:cubicBezTo>
                </a:path>
              </a:pathLst>
            </a:custGeom>
            <a:noFill/>
            <a:ln w="19811" cap="flat">
              <a:solidFill>
                <a:srgbClr val="FFFFFF">
                  <a:alpha val="100000"/>
                </a:srgbClr>
              </a:solidFill>
              <a:prstDash val="solid"/>
              <a:miter lim="800000"/>
            </a:ln>
          </p:spPr>
          <p:txBody>
            <a:bodyPr rtlCol="0"/>
            <a:lstStyle/>
            <a:p>
              <a:pPr algn="ctr"/>
              <a:endParaRPr lang="zh-CN" altLang="en-US"/>
            </a:p>
          </p:txBody>
        </p:sp>
      </p:grpSp>
      <p:grpSp>
        <p:nvGrpSpPr>
          <p:cNvPr id="54" name="group 54"/>
          <p:cNvGrpSpPr/>
          <p:nvPr/>
        </p:nvGrpSpPr>
        <p:grpSpPr>
          <a:xfrm rot="21600000">
            <a:off x="6726935" y="2235708"/>
            <a:ext cx="324612" cy="333755"/>
            <a:chOff x="0" y="0"/>
            <a:chExt cx="324612" cy="333755"/>
          </a:xfrm>
        </p:grpSpPr>
        <p:sp>
          <p:nvSpPr>
            <p:cNvPr id="319" name="path"/>
            <p:cNvSpPr/>
            <p:nvPr/>
          </p:nvSpPr>
          <p:spPr>
            <a:xfrm>
              <a:off x="9906" y="9905"/>
              <a:ext cx="304800" cy="313943"/>
            </a:xfrm>
            <a:custGeom>
              <a:avLst/>
              <a:gdLst/>
              <a:ahLst/>
              <a:cxnLst/>
              <a:rect l="0" t="0" r="0" b="0"/>
              <a:pathLst>
                <a:path w="480" h="494">
                  <a:moveTo>
                    <a:pt x="0" y="247"/>
                  </a:moveTo>
                  <a:cubicBezTo>
                    <a:pt x="0" y="110"/>
                    <a:pt x="107" y="0"/>
                    <a:pt x="240" y="0"/>
                  </a:cubicBezTo>
                  <a:cubicBezTo>
                    <a:pt x="372" y="0"/>
                    <a:pt x="480" y="110"/>
                    <a:pt x="480" y="247"/>
                  </a:cubicBezTo>
                  <a:cubicBezTo>
                    <a:pt x="480" y="383"/>
                    <a:pt x="372" y="494"/>
                    <a:pt x="240" y="494"/>
                  </a:cubicBezTo>
                  <a:cubicBezTo>
                    <a:pt x="107" y="494"/>
                    <a:pt x="0" y="383"/>
                    <a:pt x="0" y="247"/>
                  </a:cubicBezTo>
                </a:path>
              </a:pathLst>
            </a:custGeom>
            <a:solidFill>
              <a:srgbClr val="002960">
                <a:alpha val="100000"/>
              </a:srgbClr>
            </a:solidFill>
            <a:ln cap="flat">
              <a:noFill/>
              <a:prstDash val="solid"/>
              <a:miter lim="0"/>
            </a:ln>
          </p:spPr>
          <p:txBody>
            <a:bodyPr rtlCol="0"/>
            <a:lstStyle/>
            <a:p>
              <a:pPr algn="ctr"/>
              <a:endParaRPr lang="zh-CN" altLang="en-US"/>
            </a:p>
          </p:txBody>
        </p:sp>
        <p:sp>
          <p:nvSpPr>
            <p:cNvPr id="320" name="path"/>
            <p:cNvSpPr/>
            <p:nvPr/>
          </p:nvSpPr>
          <p:spPr>
            <a:xfrm>
              <a:off x="0" y="0"/>
              <a:ext cx="324612" cy="333755"/>
            </a:xfrm>
            <a:custGeom>
              <a:avLst/>
              <a:gdLst/>
              <a:ahLst/>
              <a:cxnLst/>
              <a:rect l="0" t="0" r="0" b="0"/>
              <a:pathLst>
                <a:path w="511" h="525">
                  <a:moveTo>
                    <a:pt x="15" y="262"/>
                  </a:moveTo>
                  <a:cubicBezTo>
                    <a:pt x="15" y="126"/>
                    <a:pt x="123" y="15"/>
                    <a:pt x="255" y="15"/>
                  </a:cubicBezTo>
                  <a:cubicBezTo>
                    <a:pt x="388" y="15"/>
                    <a:pt x="495" y="126"/>
                    <a:pt x="495" y="262"/>
                  </a:cubicBezTo>
                  <a:cubicBezTo>
                    <a:pt x="495" y="399"/>
                    <a:pt x="388" y="509"/>
                    <a:pt x="255" y="509"/>
                  </a:cubicBezTo>
                  <a:cubicBezTo>
                    <a:pt x="123" y="509"/>
                    <a:pt x="15" y="399"/>
                    <a:pt x="15" y="262"/>
                  </a:cubicBezTo>
                </a:path>
              </a:pathLst>
            </a:custGeom>
            <a:noFill/>
            <a:ln w="19811" cap="flat">
              <a:solidFill>
                <a:srgbClr val="FFFFFF">
                  <a:alpha val="100000"/>
                </a:srgbClr>
              </a:solidFill>
              <a:prstDash val="solid"/>
              <a:miter lim="800000"/>
            </a:ln>
          </p:spPr>
          <p:txBody>
            <a:bodyPr rtlCol="0"/>
            <a:lstStyle/>
            <a:p>
              <a:pPr algn="ctr"/>
              <a:endParaRPr lang="zh-CN" altLang="en-US"/>
            </a:p>
          </p:txBody>
        </p:sp>
      </p:grpSp>
      <p:grpSp>
        <p:nvGrpSpPr>
          <p:cNvPr id="56" name="group 56"/>
          <p:cNvGrpSpPr/>
          <p:nvPr/>
        </p:nvGrpSpPr>
        <p:grpSpPr>
          <a:xfrm rot="21600000">
            <a:off x="5189219" y="2427732"/>
            <a:ext cx="324611" cy="333755"/>
            <a:chOff x="0" y="0"/>
            <a:chExt cx="324611" cy="333755"/>
          </a:xfrm>
        </p:grpSpPr>
        <p:sp>
          <p:nvSpPr>
            <p:cNvPr id="321" name="path"/>
            <p:cNvSpPr/>
            <p:nvPr/>
          </p:nvSpPr>
          <p:spPr>
            <a:xfrm>
              <a:off x="9905" y="9905"/>
              <a:ext cx="304800" cy="313944"/>
            </a:xfrm>
            <a:custGeom>
              <a:avLst/>
              <a:gdLst/>
              <a:ahLst/>
              <a:cxnLst/>
              <a:rect l="0" t="0" r="0" b="0"/>
              <a:pathLst>
                <a:path w="480" h="494">
                  <a:moveTo>
                    <a:pt x="0" y="247"/>
                  </a:moveTo>
                  <a:cubicBezTo>
                    <a:pt x="0" y="110"/>
                    <a:pt x="107" y="0"/>
                    <a:pt x="240" y="0"/>
                  </a:cubicBezTo>
                  <a:cubicBezTo>
                    <a:pt x="372" y="0"/>
                    <a:pt x="480" y="110"/>
                    <a:pt x="480" y="247"/>
                  </a:cubicBezTo>
                  <a:cubicBezTo>
                    <a:pt x="480" y="383"/>
                    <a:pt x="372" y="494"/>
                    <a:pt x="240" y="494"/>
                  </a:cubicBezTo>
                  <a:cubicBezTo>
                    <a:pt x="107" y="494"/>
                    <a:pt x="0" y="383"/>
                    <a:pt x="0" y="247"/>
                  </a:cubicBezTo>
                </a:path>
              </a:pathLst>
            </a:custGeom>
            <a:solidFill>
              <a:srgbClr val="002960">
                <a:alpha val="100000"/>
              </a:srgbClr>
            </a:solidFill>
            <a:ln cap="flat">
              <a:noFill/>
              <a:prstDash val="solid"/>
              <a:miter lim="0"/>
            </a:ln>
          </p:spPr>
          <p:txBody>
            <a:bodyPr rtlCol="0"/>
            <a:lstStyle/>
            <a:p>
              <a:pPr algn="ctr"/>
              <a:endParaRPr lang="zh-CN" altLang="en-US"/>
            </a:p>
          </p:txBody>
        </p:sp>
        <p:sp>
          <p:nvSpPr>
            <p:cNvPr id="322" name="path"/>
            <p:cNvSpPr/>
            <p:nvPr/>
          </p:nvSpPr>
          <p:spPr>
            <a:xfrm>
              <a:off x="0" y="0"/>
              <a:ext cx="324611" cy="333755"/>
            </a:xfrm>
            <a:custGeom>
              <a:avLst/>
              <a:gdLst/>
              <a:ahLst/>
              <a:cxnLst/>
              <a:rect l="0" t="0" r="0" b="0"/>
              <a:pathLst>
                <a:path w="511" h="525">
                  <a:moveTo>
                    <a:pt x="15" y="262"/>
                  </a:moveTo>
                  <a:cubicBezTo>
                    <a:pt x="15" y="126"/>
                    <a:pt x="123" y="15"/>
                    <a:pt x="255" y="15"/>
                  </a:cubicBezTo>
                  <a:cubicBezTo>
                    <a:pt x="388" y="15"/>
                    <a:pt x="495" y="126"/>
                    <a:pt x="495" y="262"/>
                  </a:cubicBezTo>
                  <a:cubicBezTo>
                    <a:pt x="495" y="399"/>
                    <a:pt x="388" y="510"/>
                    <a:pt x="255" y="510"/>
                  </a:cubicBezTo>
                  <a:cubicBezTo>
                    <a:pt x="123" y="510"/>
                    <a:pt x="15" y="399"/>
                    <a:pt x="15" y="262"/>
                  </a:cubicBezTo>
                </a:path>
              </a:pathLst>
            </a:custGeom>
            <a:noFill/>
            <a:ln w="19811" cap="flat">
              <a:solidFill>
                <a:srgbClr val="FFFFFF">
                  <a:alpha val="100000"/>
                </a:srgbClr>
              </a:solidFill>
              <a:prstDash val="solid"/>
              <a:miter lim="800000"/>
            </a:ln>
          </p:spPr>
          <p:txBody>
            <a:bodyPr rtlCol="0"/>
            <a:lstStyle/>
            <a:p>
              <a:pPr algn="ctr"/>
              <a:endParaRPr lang="zh-CN" altLang="en-US"/>
            </a:p>
          </p:txBody>
        </p:sp>
      </p:grpSp>
      <p:grpSp>
        <p:nvGrpSpPr>
          <p:cNvPr id="58" name="group 58"/>
          <p:cNvGrpSpPr/>
          <p:nvPr/>
        </p:nvGrpSpPr>
        <p:grpSpPr>
          <a:xfrm rot="21600000">
            <a:off x="4038600" y="4059936"/>
            <a:ext cx="324611" cy="333755"/>
            <a:chOff x="0" y="0"/>
            <a:chExt cx="324611" cy="333755"/>
          </a:xfrm>
        </p:grpSpPr>
        <p:sp>
          <p:nvSpPr>
            <p:cNvPr id="323" name="path"/>
            <p:cNvSpPr/>
            <p:nvPr/>
          </p:nvSpPr>
          <p:spPr>
            <a:xfrm>
              <a:off x="9905" y="9905"/>
              <a:ext cx="304800" cy="313943"/>
            </a:xfrm>
            <a:custGeom>
              <a:avLst/>
              <a:gdLst/>
              <a:ahLst/>
              <a:cxnLst/>
              <a:rect l="0" t="0" r="0" b="0"/>
              <a:pathLst>
                <a:path w="480" h="494">
                  <a:moveTo>
                    <a:pt x="0" y="247"/>
                  </a:moveTo>
                  <a:cubicBezTo>
                    <a:pt x="0" y="110"/>
                    <a:pt x="107" y="0"/>
                    <a:pt x="240" y="0"/>
                  </a:cubicBezTo>
                  <a:cubicBezTo>
                    <a:pt x="372" y="0"/>
                    <a:pt x="480" y="110"/>
                    <a:pt x="480" y="247"/>
                  </a:cubicBezTo>
                  <a:cubicBezTo>
                    <a:pt x="480" y="383"/>
                    <a:pt x="372" y="494"/>
                    <a:pt x="240" y="494"/>
                  </a:cubicBezTo>
                  <a:cubicBezTo>
                    <a:pt x="107" y="494"/>
                    <a:pt x="0" y="383"/>
                    <a:pt x="0" y="247"/>
                  </a:cubicBezTo>
                </a:path>
              </a:pathLst>
            </a:custGeom>
            <a:solidFill>
              <a:srgbClr val="002960">
                <a:alpha val="100000"/>
              </a:srgbClr>
            </a:solidFill>
            <a:ln cap="flat">
              <a:noFill/>
              <a:prstDash val="solid"/>
              <a:miter lim="0"/>
            </a:ln>
          </p:spPr>
          <p:txBody>
            <a:bodyPr rtlCol="0"/>
            <a:lstStyle/>
            <a:p>
              <a:pPr algn="ctr"/>
              <a:endParaRPr lang="zh-CN" altLang="en-US"/>
            </a:p>
          </p:txBody>
        </p:sp>
        <p:sp>
          <p:nvSpPr>
            <p:cNvPr id="324" name="path"/>
            <p:cNvSpPr/>
            <p:nvPr/>
          </p:nvSpPr>
          <p:spPr>
            <a:xfrm>
              <a:off x="0" y="0"/>
              <a:ext cx="324611" cy="333755"/>
            </a:xfrm>
            <a:custGeom>
              <a:avLst/>
              <a:gdLst/>
              <a:ahLst/>
              <a:cxnLst/>
              <a:rect l="0" t="0" r="0" b="0"/>
              <a:pathLst>
                <a:path w="511" h="525">
                  <a:moveTo>
                    <a:pt x="15" y="262"/>
                  </a:moveTo>
                  <a:cubicBezTo>
                    <a:pt x="15" y="126"/>
                    <a:pt x="122" y="15"/>
                    <a:pt x="255" y="15"/>
                  </a:cubicBezTo>
                  <a:cubicBezTo>
                    <a:pt x="388" y="15"/>
                    <a:pt x="495" y="126"/>
                    <a:pt x="495" y="262"/>
                  </a:cubicBezTo>
                  <a:cubicBezTo>
                    <a:pt x="495" y="399"/>
                    <a:pt x="388" y="509"/>
                    <a:pt x="255" y="509"/>
                  </a:cubicBezTo>
                  <a:cubicBezTo>
                    <a:pt x="122" y="509"/>
                    <a:pt x="15" y="399"/>
                    <a:pt x="15" y="262"/>
                  </a:cubicBezTo>
                </a:path>
              </a:pathLst>
            </a:custGeom>
            <a:noFill/>
            <a:ln w="19811" cap="flat">
              <a:solidFill>
                <a:srgbClr val="FFFFFF">
                  <a:alpha val="100000"/>
                </a:srgbClr>
              </a:solidFill>
              <a:prstDash val="solid"/>
              <a:miter lim="800000"/>
            </a:ln>
          </p:spPr>
          <p:txBody>
            <a:bodyPr rtlCol="0"/>
            <a:lstStyle/>
            <a:p>
              <a:pPr algn="ctr"/>
              <a:endParaRPr lang="zh-CN" altLang="en-US"/>
            </a:p>
          </p:txBody>
        </p:sp>
      </p:grpSp>
      <p:grpSp>
        <p:nvGrpSpPr>
          <p:cNvPr id="60" name="group 60"/>
          <p:cNvGrpSpPr/>
          <p:nvPr/>
        </p:nvGrpSpPr>
        <p:grpSpPr>
          <a:xfrm rot="21600000">
            <a:off x="3648455" y="2235708"/>
            <a:ext cx="324611" cy="333755"/>
            <a:chOff x="0" y="0"/>
            <a:chExt cx="324611" cy="333755"/>
          </a:xfrm>
        </p:grpSpPr>
        <p:sp>
          <p:nvSpPr>
            <p:cNvPr id="325" name="path"/>
            <p:cNvSpPr/>
            <p:nvPr/>
          </p:nvSpPr>
          <p:spPr>
            <a:xfrm>
              <a:off x="9905" y="9905"/>
              <a:ext cx="304800" cy="313943"/>
            </a:xfrm>
            <a:custGeom>
              <a:avLst/>
              <a:gdLst/>
              <a:ahLst/>
              <a:cxnLst/>
              <a:rect l="0" t="0" r="0" b="0"/>
              <a:pathLst>
                <a:path w="480" h="494">
                  <a:moveTo>
                    <a:pt x="0" y="247"/>
                  </a:moveTo>
                  <a:cubicBezTo>
                    <a:pt x="0" y="110"/>
                    <a:pt x="107" y="0"/>
                    <a:pt x="240" y="0"/>
                  </a:cubicBezTo>
                  <a:cubicBezTo>
                    <a:pt x="372" y="0"/>
                    <a:pt x="480" y="110"/>
                    <a:pt x="480" y="247"/>
                  </a:cubicBezTo>
                  <a:cubicBezTo>
                    <a:pt x="480" y="383"/>
                    <a:pt x="372" y="494"/>
                    <a:pt x="240" y="494"/>
                  </a:cubicBezTo>
                  <a:cubicBezTo>
                    <a:pt x="107" y="494"/>
                    <a:pt x="0" y="383"/>
                    <a:pt x="0" y="247"/>
                  </a:cubicBezTo>
                </a:path>
              </a:pathLst>
            </a:custGeom>
            <a:solidFill>
              <a:srgbClr val="001F48">
                <a:alpha val="100000"/>
              </a:srgbClr>
            </a:solidFill>
            <a:ln cap="flat">
              <a:noFill/>
              <a:prstDash val="solid"/>
              <a:miter lim="0"/>
            </a:ln>
          </p:spPr>
          <p:txBody>
            <a:bodyPr rtlCol="0"/>
            <a:lstStyle/>
            <a:p>
              <a:pPr algn="ctr"/>
              <a:endParaRPr lang="zh-CN" altLang="en-US"/>
            </a:p>
          </p:txBody>
        </p:sp>
        <p:sp>
          <p:nvSpPr>
            <p:cNvPr id="326" name="path"/>
            <p:cNvSpPr/>
            <p:nvPr/>
          </p:nvSpPr>
          <p:spPr>
            <a:xfrm>
              <a:off x="0" y="0"/>
              <a:ext cx="324611" cy="333755"/>
            </a:xfrm>
            <a:custGeom>
              <a:avLst/>
              <a:gdLst/>
              <a:ahLst/>
              <a:cxnLst/>
              <a:rect l="0" t="0" r="0" b="0"/>
              <a:pathLst>
                <a:path w="511" h="525">
                  <a:moveTo>
                    <a:pt x="15" y="262"/>
                  </a:moveTo>
                  <a:cubicBezTo>
                    <a:pt x="15" y="126"/>
                    <a:pt x="122" y="15"/>
                    <a:pt x="255" y="15"/>
                  </a:cubicBezTo>
                  <a:cubicBezTo>
                    <a:pt x="388" y="15"/>
                    <a:pt x="495" y="126"/>
                    <a:pt x="495" y="262"/>
                  </a:cubicBezTo>
                  <a:cubicBezTo>
                    <a:pt x="495" y="399"/>
                    <a:pt x="388" y="509"/>
                    <a:pt x="255" y="509"/>
                  </a:cubicBezTo>
                  <a:cubicBezTo>
                    <a:pt x="122" y="509"/>
                    <a:pt x="15" y="399"/>
                    <a:pt x="15" y="262"/>
                  </a:cubicBezTo>
                </a:path>
              </a:pathLst>
            </a:custGeom>
            <a:noFill/>
            <a:ln w="19811" cap="flat">
              <a:solidFill>
                <a:srgbClr val="FFFFFF">
                  <a:alpha val="100000"/>
                </a:srgbClr>
              </a:solidFill>
              <a:prstDash val="solid"/>
              <a:miter lim="800000"/>
            </a:ln>
          </p:spPr>
          <p:txBody>
            <a:bodyPr rtlCol="0"/>
            <a:lstStyle/>
            <a:p>
              <a:pPr algn="ctr"/>
              <a:endParaRPr lang="zh-CN" altLang="en-US"/>
            </a:p>
          </p:txBody>
        </p:sp>
      </p:grpSp>
      <p:sp>
        <p:nvSpPr>
          <p:cNvPr id="327" name="path"/>
          <p:cNvSpPr/>
          <p:nvPr/>
        </p:nvSpPr>
        <p:spPr>
          <a:xfrm>
            <a:off x="680339" y="5590159"/>
            <a:ext cx="219455" cy="219455"/>
          </a:xfrm>
          <a:custGeom>
            <a:avLst/>
            <a:gdLst/>
            <a:ahLst/>
            <a:cxnLst/>
            <a:rect l="0" t="0" r="0" b="0"/>
            <a:pathLst>
              <a:path w="345" h="345">
                <a:moveTo>
                  <a:pt x="7" y="338"/>
                </a:moveTo>
                <a:lnTo>
                  <a:pt x="338" y="338"/>
                </a:lnTo>
                <a:lnTo>
                  <a:pt x="338" y="7"/>
                </a:lnTo>
                <a:lnTo>
                  <a:pt x="7" y="7"/>
                </a:lnTo>
                <a:lnTo>
                  <a:pt x="7" y="338"/>
                </a:lnTo>
                <a:close/>
              </a:path>
            </a:pathLst>
          </a:custGeom>
          <a:noFill/>
          <a:ln w="9143" cap="flat">
            <a:solidFill>
              <a:srgbClr val="002960">
                <a:alpha val="100000"/>
              </a:srgbClr>
            </a:solidFill>
            <a:prstDash val="solid"/>
            <a:round/>
          </a:ln>
        </p:spPr>
        <p:txBody>
          <a:bodyPr rtlCol="0"/>
          <a:lstStyle/>
          <a:p>
            <a:pPr algn="ctr"/>
            <a:endParaRPr lang="zh-CN" altLang="en-US"/>
          </a:p>
        </p:txBody>
      </p:sp>
      <p:grpSp>
        <p:nvGrpSpPr>
          <p:cNvPr id="62" name="group 62"/>
          <p:cNvGrpSpPr/>
          <p:nvPr/>
        </p:nvGrpSpPr>
        <p:grpSpPr>
          <a:xfrm rot="21600000">
            <a:off x="680339" y="5323459"/>
            <a:ext cx="219454" cy="217931"/>
            <a:chOff x="0" y="0"/>
            <a:chExt cx="219454" cy="217931"/>
          </a:xfrm>
        </p:grpSpPr>
        <p:sp>
          <p:nvSpPr>
            <p:cNvPr id="328" name="path"/>
            <p:cNvSpPr/>
            <p:nvPr/>
          </p:nvSpPr>
          <p:spPr>
            <a:xfrm>
              <a:off x="4571" y="4571"/>
              <a:ext cx="210311" cy="208788"/>
            </a:xfrm>
            <a:custGeom>
              <a:avLst/>
              <a:gdLst/>
              <a:ahLst/>
              <a:cxnLst/>
              <a:rect l="0" t="0" r="0" b="0"/>
              <a:pathLst>
                <a:path w="331" h="328">
                  <a:moveTo>
                    <a:pt x="0" y="164"/>
                  </a:moveTo>
                  <a:cubicBezTo>
                    <a:pt x="0" y="73"/>
                    <a:pt x="74" y="0"/>
                    <a:pt x="165" y="0"/>
                  </a:cubicBezTo>
                  <a:cubicBezTo>
                    <a:pt x="257" y="0"/>
                    <a:pt x="331" y="73"/>
                    <a:pt x="331" y="164"/>
                  </a:cubicBezTo>
                  <a:cubicBezTo>
                    <a:pt x="331" y="255"/>
                    <a:pt x="257" y="328"/>
                    <a:pt x="165" y="328"/>
                  </a:cubicBezTo>
                  <a:cubicBezTo>
                    <a:pt x="74" y="328"/>
                    <a:pt x="0" y="255"/>
                    <a:pt x="0" y="164"/>
                  </a:cubicBezTo>
                </a:path>
              </a:pathLst>
            </a:custGeom>
            <a:solidFill>
              <a:srgbClr val="002960">
                <a:alpha val="100000"/>
              </a:srgbClr>
            </a:solidFill>
            <a:ln cap="flat">
              <a:noFill/>
              <a:prstDash val="solid"/>
              <a:miter lim="0"/>
            </a:ln>
          </p:spPr>
          <p:txBody>
            <a:bodyPr rtlCol="0"/>
            <a:lstStyle/>
            <a:p>
              <a:pPr algn="ctr"/>
              <a:endParaRPr lang="zh-CN" altLang="en-US"/>
            </a:p>
          </p:txBody>
        </p:sp>
        <p:sp>
          <p:nvSpPr>
            <p:cNvPr id="329" name="path"/>
            <p:cNvSpPr/>
            <p:nvPr/>
          </p:nvSpPr>
          <p:spPr>
            <a:xfrm>
              <a:off x="0" y="0"/>
              <a:ext cx="219454" cy="217931"/>
            </a:xfrm>
            <a:custGeom>
              <a:avLst/>
              <a:gdLst/>
              <a:ahLst/>
              <a:cxnLst/>
              <a:rect l="0" t="0" r="0" b="0"/>
              <a:pathLst>
                <a:path w="345" h="343">
                  <a:moveTo>
                    <a:pt x="7" y="171"/>
                  </a:moveTo>
                  <a:cubicBezTo>
                    <a:pt x="7" y="80"/>
                    <a:pt x="81" y="7"/>
                    <a:pt x="172" y="7"/>
                  </a:cubicBezTo>
                  <a:cubicBezTo>
                    <a:pt x="264" y="7"/>
                    <a:pt x="338" y="80"/>
                    <a:pt x="338" y="171"/>
                  </a:cubicBezTo>
                  <a:cubicBezTo>
                    <a:pt x="338" y="262"/>
                    <a:pt x="264" y="335"/>
                    <a:pt x="172" y="335"/>
                  </a:cubicBezTo>
                  <a:cubicBezTo>
                    <a:pt x="81" y="335"/>
                    <a:pt x="7" y="262"/>
                    <a:pt x="7" y="171"/>
                  </a:cubicBezTo>
                </a:path>
              </a:pathLst>
            </a:custGeom>
            <a:noFill/>
            <a:ln w="9143" cap="flat">
              <a:solidFill>
                <a:srgbClr val="FFFFFF">
                  <a:alpha val="100000"/>
                </a:srgbClr>
              </a:solidFill>
              <a:prstDash val="solid"/>
              <a:round/>
            </a:ln>
          </p:spPr>
          <p:txBody>
            <a:bodyPr rtlCol="0"/>
            <a:lstStyle/>
            <a:p>
              <a:pPr algn="ctr"/>
              <a:endParaRPr lang="zh-CN" altLang="en-US"/>
            </a:p>
          </p:txBody>
        </p:sp>
      </p:grpSp>
      <p:sp>
        <p:nvSpPr>
          <p:cNvPr id="330" name="textbox 330"/>
          <p:cNvSpPr/>
          <p:nvPr/>
        </p:nvSpPr>
        <p:spPr>
          <a:xfrm>
            <a:off x="8818435" y="4032021"/>
            <a:ext cx="114935" cy="262890"/>
          </a:xfrm>
          <a:prstGeom prst="rect">
            <a:avLst/>
          </a:prstGeom>
        </p:spPr>
        <p:txBody>
          <a:bodyPr vert="eaVert" wrap="square" lIns="0" tIns="0" rIns="0" bIns="0"/>
          <a:lstStyle/>
          <a:p>
            <a:pPr algn="l" rtl="0" eaLnBrk="0">
              <a:lnSpc>
                <a:spcPct val="85000"/>
              </a:lnSpc>
            </a:pPr>
            <a:endParaRPr lang="en-US" altLang="en-US" sz="100" dirty="0"/>
          </a:p>
          <a:p>
            <a:pPr marL="12700" algn="l" rtl="0" eaLnBrk="0">
              <a:lnSpc>
                <a:spcPct val="79000"/>
              </a:lnSpc>
            </a:pPr>
            <a:endParaRPr sz="600" spc="-10" dirty="0">
              <a:solidFill>
                <a:srgbClr val="808080">
                  <a:alpha val="100000"/>
                </a:srgbClr>
              </a:solidFill>
              <a:latin typeface="Arial" panose="020B0604020202020204"/>
              <a:ea typeface="Arial" panose="020B0604020202020204"/>
              <a:cs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1" name="picture 331"/>
          <p:cNvPicPr>
            <a:picLocks noChangeAspect="1"/>
          </p:cNvPicPr>
          <p:nvPr/>
        </p:nvPicPr>
        <p:blipFill>
          <a:blip r:embed="rId1"/>
          <a:stretch>
            <a:fillRect/>
          </a:stretch>
        </p:blipFill>
        <p:spPr>
          <a:xfrm rot="21600000">
            <a:off x="365759" y="995172"/>
            <a:ext cx="8182356" cy="5012435"/>
          </a:xfrm>
          <a:prstGeom prst="rect">
            <a:avLst/>
          </a:prstGeom>
        </p:spPr>
      </p:pic>
      <p:sp>
        <p:nvSpPr>
          <p:cNvPr id="332" name="path"/>
          <p:cNvSpPr/>
          <p:nvPr/>
        </p:nvSpPr>
        <p:spPr>
          <a:xfrm>
            <a:off x="391668" y="1021080"/>
            <a:ext cx="8075676" cy="4905755"/>
          </a:xfrm>
          <a:custGeom>
            <a:avLst/>
            <a:gdLst/>
            <a:ahLst/>
            <a:cxnLst/>
            <a:rect l="0" t="0" r="0" b="0"/>
            <a:pathLst>
              <a:path w="12717" h="7725">
                <a:moveTo>
                  <a:pt x="15" y="7710"/>
                </a:moveTo>
                <a:lnTo>
                  <a:pt x="12701" y="7710"/>
                </a:lnTo>
                <a:lnTo>
                  <a:pt x="12701" y="15"/>
                </a:lnTo>
                <a:lnTo>
                  <a:pt x="15" y="15"/>
                </a:lnTo>
                <a:lnTo>
                  <a:pt x="15" y="7710"/>
                </a:lnTo>
                <a:close/>
              </a:path>
            </a:pathLst>
          </a:custGeom>
          <a:noFill/>
          <a:ln w="19811" cap="flat">
            <a:solidFill>
              <a:srgbClr val="C5C5C5">
                <a:alpha val="100000"/>
              </a:srgbClr>
            </a:solidFill>
            <a:prstDash val="solid"/>
            <a:miter lim="1000000"/>
          </a:ln>
        </p:spPr>
        <p:txBody>
          <a:bodyPr rtlCol="0"/>
          <a:lstStyle/>
          <a:p>
            <a:pPr algn="ctr"/>
            <a:endParaRPr lang="zh-CN" altLang="en-US"/>
          </a:p>
        </p:txBody>
      </p:sp>
      <p:grpSp>
        <p:nvGrpSpPr>
          <p:cNvPr id="64" name="group 64"/>
          <p:cNvGrpSpPr/>
          <p:nvPr/>
        </p:nvGrpSpPr>
        <p:grpSpPr>
          <a:xfrm rot="21600000">
            <a:off x="615696" y="1453896"/>
            <a:ext cx="7716011" cy="3092196"/>
            <a:chOff x="0" y="0"/>
            <a:chExt cx="7716011" cy="3092196"/>
          </a:xfrm>
        </p:grpSpPr>
        <p:sp>
          <p:nvSpPr>
            <p:cNvPr id="333" name="path"/>
            <p:cNvSpPr/>
            <p:nvPr/>
          </p:nvSpPr>
          <p:spPr>
            <a:xfrm>
              <a:off x="0" y="0"/>
              <a:ext cx="3211067" cy="2790444"/>
            </a:xfrm>
            <a:custGeom>
              <a:avLst/>
              <a:gdLst/>
              <a:ahLst/>
              <a:cxnLst/>
              <a:rect l="0" t="0" r="0" b="0"/>
              <a:pathLst>
                <a:path w="5056" h="4394">
                  <a:moveTo>
                    <a:pt x="0" y="4394"/>
                  </a:moveTo>
                  <a:lnTo>
                    <a:pt x="5056" y="4394"/>
                  </a:lnTo>
                  <a:lnTo>
                    <a:pt x="5056" y="0"/>
                  </a:lnTo>
                  <a:lnTo>
                    <a:pt x="0" y="0"/>
                  </a:lnTo>
                  <a:lnTo>
                    <a:pt x="0" y="4394"/>
                  </a:lnTo>
                  <a:close/>
                </a:path>
              </a:pathLst>
            </a:custGeom>
            <a:solidFill>
              <a:srgbClr val="C9F0FF">
                <a:alpha val="100000"/>
              </a:srgbClr>
            </a:solidFill>
            <a:ln cap="flat">
              <a:noFill/>
              <a:prstDash val="solid"/>
              <a:miter lim="0"/>
            </a:ln>
          </p:spPr>
          <p:txBody>
            <a:bodyPr rtlCol="0"/>
            <a:lstStyle/>
            <a:p>
              <a:pPr algn="ctr"/>
              <a:endParaRPr lang="zh-CN" altLang="en-US"/>
            </a:p>
          </p:txBody>
        </p:sp>
        <p:sp>
          <p:nvSpPr>
            <p:cNvPr id="334" name="path"/>
            <p:cNvSpPr/>
            <p:nvPr/>
          </p:nvSpPr>
          <p:spPr>
            <a:xfrm>
              <a:off x="3221735" y="0"/>
              <a:ext cx="4494275" cy="2790444"/>
            </a:xfrm>
            <a:custGeom>
              <a:avLst/>
              <a:gdLst/>
              <a:ahLst/>
              <a:cxnLst/>
              <a:rect l="0" t="0" r="0" b="0"/>
              <a:pathLst>
                <a:path w="7077" h="4394">
                  <a:moveTo>
                    <a:pt x="0" y="4394"/>
                  </a:moveTo>
                  <a:lnTo>
                    <a:pt x="7077" y="4394"/>
                  </a:lnTo>
                  <a:lnTo>
                    <a:pt x="7077" y="0"/>
                  </a:lnTo>
                  <a:lnTo>
                    <a:pt x="0" y="0"/>
                  </a:lnTo>
                  <a:lnTo>
                    <a:pt x="0" y="4394"/>
                  </a:lnTo>
                  <a:close/>
                </a:path>
              </a:pathLst>
            </a:custGeom>
            <a:solidFill>
              <a:srgbClr val="93E1FF">
                <a:alpha val="100000"/>
              </a:srgbClr>
            </a:solidFill>
            <a:ln cap="flat">
              <a:noFill/>
              <a:prstDash val="solid"/>
              <a:miter lim="0"/>
            </a:ln>
          </p:spPr>
          <p:txBody>
            <a:bodyPr rtlCol="0"/>
            <a:lstStyle/>
            <a:p>
              <a:pPr algn="ctr"/>
              <a:endParaRPr lang="zh-CN" altLang="en-US"/>
            </a:p>
          </p:txBody>
        </p:sp>
        <p:sp>
          <p:nvSpPr>
            <p:cNvPr id="335" name="path"/>
            <p:cNvSpPr/>
            <p:nvPr/>
          </p:nvSpPr>
          <p:spPr>
            <a:xfrm>
              <a:off x="0" y="2790444"/>
              <a:ext cx="3211067" cy="301751"/>
            </a:xfrm>
            <a:custGeom>
              <a:avLst/>
              <a:gdLst/>
              <a:ahLst/>
              <a:cxnLst/>
              <a:rect l="0" t="0" r="0" b="0"/>
              <a:pathLst>
                <a:path w="5056" h="475">
                  <a:moveTo>
                    <a:pt x="0" y="475"/>
                  </a:moveTo>
                  <a:lnTo>
                    <a:pt x="5056" y="475"/>
                  </a:lnTo>
                  <a:lnTo>
                    <a:pt x="5056" y="0"/>
                  </a:lnTo>
                  <a:lnTo>
                    <a:pt x="0" y="0"/>
                  </a:lnTo>
                  <a:lnTo>
                    <a:pt x="0" y="475"/>
                  </a:lnTo>
                  <a:close/>
                </a:path>
              </a:pathLst>
            </a:custGeom>
            <a:solidFill>
              <a:srgbClr val="FFE38B">
                <a:alpha val="100000"/>
              </a:srgbClr>
            </a:solidFill>
            <a:ln cap="flat">
              <a:noFill/>
              <a:prstDash val="solid"/>
              <a:miter lim="0"/>
            </a:ln>
          </p:spPr>
          <p:txBody>
            <a:bodyPr rtlCol="0"/>
            <a:lstStyle/>
            <a:p>
              <a:pPr algn="ctr"/>
              <a:endParaRPr lang="zh-CN" altLang="en-US"/>
            </a:p>
          </p:txBody>
        </p:sp>
        <p:sp>
          <p:nvSpPr>
            <p:cNvPr id="336" name="path"/>
            <p:cNvSpPr/>
            <p:nvPr/>
          </p:nvSpPr>
          <p:spPr>
            <a:xfrm>
              <a:off x="3221735" y="2790444"/>
              <a:ext cx="4494275" cy="301751"/>
            </a:xfrm>
            <a:custGeom>
              <a:avLst/>
              <a:gdLst/>
              <a:ahLst/>
              <a:cxnLst/>
              <a:rect l="0" t="0" r="0" b="0"/>
              <a:pathLst>
                <a:path w="7077" h="475">
                  <a:moveTo>
                    <a:pt x="0" y="475"/>
                  </a:moveTo>
                  <a:lnTo>
                    <a:pt x="7077" y="475"/>
                  </a:lnTo>
                  <a:lnTo>
                    <a:pt x="7077" y="0"/>
                  </a:lnTo>
                  <a:lnTo>
                    <a:pt x="0" y="0"/>
                  </a:lnTo>
                  <a:lnTo>
                    <a:pt x="0" y="475"/>
                  </a:lnTo>
                  <a:close/>
                </a:path>
              </a:pathLst>
            </a:custGeom>
            <a:solidFill>
              <a:srgbClr val="BFE1FF">
                <a:alpha val="100000"/>
              </a:srgbClr>
            </a:solidFill>
            <a:ln cap="flat">
              <a:noFill/>
              <a:prstDash val="solid"/>
              <a:miter lim="0"/>
            </a:ln>
          </p:spPr>
          <p:txBody>
            <a:bodyPr rtlCol="0"/>
            <a:lstStyle/>
            <a:p>
              <a:pPr algn="ctr"/>
              <a:endParaRPr lang="zh-CN" altLang="en-US"/>
            </a:p>
          </p:txBody>
        </p:sp>
      </p:grpSp>
      <p:grpSp>
        <p:nvGrpSpPr>
          <p:cNvPr id="66" name="group 66"/>
          <p:cNvGrpSpPr/>
          <p:nvPr/>
        </p:nvGrpSpPr>
        <p:grpSpPr>
          <a:xfrm rot="21600000">
            <a:off x="635508" y="1450848"/>
            <a:ext cx="7734300" cy="3122675"/>
            <a:chOff x="0" y="0"/>
            <a:chExt cx="7734300" cy="3122675"/>
          </a:xfrm>
        </p:grpSpPr>
        <p:sp>
          <p:nvSpPr>
            <p:cNvPr id="337" name="path"/>
            <p:cNvSpPr/>
            <p:nvPr/>
          </p:nvSpPr>
          <p:spPr>
            <a:xfrm>
              <a:off x="0" y="2100072"/>
              <a:ext cx="7719060" cy="1007363"/>
            </a:xfrm>
            <a:custGeom>
              <a:avLst/>
              <a:gdLst/>
              <a:ahLst/>
              <a:cxnLst/>
              <a:rect l="0" t="0" r="0" b="0"/>
              <a:pathLst>
                <a:path w="12156" h="1586">
                  <a:moveTo>
                    <a:pt x="2800" y="1580"/>
                  </a:moveTo>
                  <a:lnTo>
                    <a:pt x="2800" y="1487"/>
                  </a:lnTo>
                  <a:moveTo>
                    <a:pt x="1687" y="1580"/>
                  </a:moveTo>
                  <a:lnTo>
                    <a:pt x="1687" y="1487"/>
                  </a:lnTo>
                  <a:moveTo>
                    <a:pt x="1120" y="1580"/>
                  </a:moveTo>
                  <a:lnTo>
                    <a:pt x="1120" y="1487"/>
                  </a:lnTo>
                  <a:moveTo>
                    <a:pt x="3355" y="1580"/>
                  </a:moveTo>
                  <a:lnTo>
                    <a:pt x="3355" y="1487"/>
                  </a:lnTo>
                  <a:moveTo>
                    <a:pt x="4468" y="1580"/>
                  </a:moveTo>
                  <a:lnTo>
                    <a:pt x="4468" y="1487"/>
                  </a:lnTo>
                  <a:moveTo>
                    <a:pt x="3907" y="1580"/>
                  </a:moveTo>
                  <a:lnTo>
                    <a:pt x="3907" y="1487"/>
                  </a:lnTo>
                  <a:moveTo>
                    <a:pt x="5020" y="1580"/>
                  </a:moveTo>
                  <a:lnTo>
                    <a:pt x="5020" y="1487"/>
                  </a:lnTo>
                  <a:moveTo>
                    <a:pt x="2239" y="1580"/>
                  </a:moveTo>
                  <a:lnTo>
                    <a:pt x="2239" y="1487"/>
                  </a:lnTo>
                  <a:moveTo>
                    <a:pt x="568" y="1580"/>
                  </a:moveTo>
                  <a:lnTo>
                    <a:pt x="568" y="1487"/>
                  </a:lnTo>
                  <a:moveTo>
                    <a:pt x="11599" y="1580"/>
                  </a:moveTo>
                  <a:lnTo>
                    <a:pt x="11599" y="1487"/>
                  </a:lnTo>
                  <a:moveTo>
                    <a:pt x="6520" y="1580"/>
                  </a:moveTo>
                  <a:lnTo>
                    <a:pt x="6520" y="1487"/>
                  </a:lnTo>
                  <a:moveTo>
                    <a:pt x="8740" y="1580"/>
                  </a:moveTo>
                  <a:lnTo>
                    <a:pt x="8740" y="1487"/>
                  </a:lnTo>
                  <a:moveTo>
                    <a:pt x="8188" y="1580"/>
                  </a:moveTo>
                  <a:lnTo>
                    <a:pt x="8188" y="1487"/>
                  </a:lnTo>
                  <a:moveTo>
                    <a:pt x="10480" y="1580"/>
                  </a:moveTo>
                  <a:lnTo>
                    <a:pt x="10480" y="1487"/>
                  </a:lnTo>
                  <a:moveTo>
                    <a:pt x="5968" y="1580"/>
                  </a:moveTo>
                  <a:lnTo>
                    <a:pt x="5968" y="1487"/>
                  </a:lnTo>
                  <a:moveTo>
                    <a:pt x="11035" y="1580"/>
                  </a:moveTo>
                  <a:lnTo>
                    <a:pt x="11035" y="1487"/>
                  </a:lnTo>
                  <a:moveTo>
                    <a:pt x="9367" y="1580"/>
                  </a:moveTo>
                  <a:lnTo>
                    <a:pt x="9367" y="1487"/>
                  </a:lnTo>
                  <a:moveTo>
                    <a:pt x="9919" y="1580"/>
                  </a:moveTo>
                  <a:lnTo>
                    <a:pt x="9919" y="1487"/>
                  </a:lnTo>
                  <a:moveTo>
                    <a:pt x="5587" y="1580"/>
                  </a:moveTo>
                  <a:lnTo>
                    <a:pt x="5587" y="1487"/>
                  </a:lnTo>
                  <a:moveTo>
                    <a:pt x="7639" y="1580"/>
                  </a:moveTo>
                  <a:lnTo>
                    <a:pt x="7639" y="1487"/>
                  </a:lnTo>
                  <a:moveTo>
                    <a:pt x="7087" y="1580"/>
                  </a:moveTo>
                  <a:lnTo>
                    <a:pt x="7087" y="1487"/>
                  </a:lnTo>
                  <a:moveTo>
                    <a:pt x="7" y="1580"/>
                  </a:moveTo>
                  <a:lnTo>
                    <a:pt x="7" y="1487"/>
                  </a:lnTo>
                  <a:moveTo>
                    <a:pt x="7" y="7"/>
                  </a:moveTo>
                  <a:lnTo>
                    <a:pt x="99" y="7"/>
                  </a:lnTo>
                  <a:moveTo>
                    <a:pt x="12148" y="1580"/>
                  </a:moveTo>
                  <a:lnTo>
                    <a:pt x="12148" y="1487"/>
                  </a:lnTo>
                  <a:moveTo>
                    <a:pt x="7" y="1579"/>
                  </a:moveTo>
                  <a:lnTo>
                    <a:pt x="99" y="1579"/>
                  </a:lnTo>
                  <a:moveTo>
                    <a:pt x="7" y="787"/>
                  </a:moveTo>
                  <a:lnTo>
                    <a:pt x="99" y="787"/>
                  </a:lnTo>
                </a:path>
              </a:pathLst>
            </a:custGeom>
            <a:noFill/>
            <a:ln w="9143" cap="flat">
              <a:solidFill>
                <a:srgbClr val="808080">
                  <a:alpha val="100000"/>
                </a:srgbClr>
              </a:solidFill>
              <a:prstDash val="solid"/>
              <a:round/>
            </a:ln>
          </p:spPr>
          <p:txBody>
            <a:bodyPr rtlCol="0"/>
            <a:lstStyle/>
            <a:p>
              <a:pPr algn="ctr"/>
              <a:endParaRPr lang="zh-CN" altLang="en-US"/>
            </a:p>
          </p:txBody>
        </p:sp>
        <p:sp>
          <p:nvSpPr>
            <p:cNvPr id="338" name="path"/>
            <p:cNvSpPr/>
            <p:nvPr/>
          </p:nvSpPr>
          <p:spPr>
            <a:xfrm>
              <a:off x="9144" y="0"/>
              <a:ext cx="7725155" cy="3122675"/>
            </a:xfrm>
            <a:custGeom>
              <a:avLst/>
              <a:gdLst/>
              <a:ahLst/>
              <a:cxnLst/>
              <a:rect l="0" t="0" r="0" b="0"/>
              <a:pathLst>
                <a:path w="12165" h="4917">
                  <a:moveTo>
                    <a:pt x="9" y="4907"/>
                  </a:moveTo>
                  <a:lnTo>
                    <a:pt x="12155" y="4907"/>
                  </a:lnTo>
                  <a:lnTo>
                    <a:pt x="12155" y="9"/>
                  </a:lnTo>
                  <a:lnTo>
                    <a:pt x="9" y="9"/>
                  </a:lnTo>
                  <a:lnTo>
                    <a:pt x="9" y="4907"/>
                  </a:lnTo>
                  <a:close/>
                  <a:moveTo>
                    <a:pt x="9" y="4907"/>
                  </a:moveTo>
                  <a:lnTo>
                    <a:pt x="9" y="9"/>
                  </a:lnTo>
                  <a:moveTo>
                    <a:pt x="9" y="4907"/>
                  </a:moveTo>
                  <a:lnTo>
                    <a:pt x="12155" y="4907"/>
                  </a:lnTo>
                </a:path>
              </a:pathLst>
            </a:custGeom>
            <a:noFill/>
            <a:ln w="12192" cap="flat">
              <a:solidFill>
                <a:srgbClr val="808080">
                  <a:alpha val="100000"/>
                </a:srgbClr>
              </a:solidFill>
              <a:prstDash val="solid"/>
              <a:round/>
            </a:ln>
          </p:spPr>
          <p:txBody>
            <a:bodyPr rtlCol="0"/>
            <a:lstStyle/>
            <a:p>
              <a:pPr algn="ctr"/>
              <a:endParaRPr lang="zh-CN" altLang="en-US"/>
            </a:p>
          </p:txBody>
        </p:sp>
      </p:grpSp>
      <p:pic>
        <p:nvPicPr>
          <p:cNvPr id="339" name="picture 339"/>
          <p:cNvPicPr>
            <a:picLocks noChangeAspect="1"/>
          </p:cNvPicPr>
          <p:nvPr/>
        </p:nvPicPr>
        <p:blipFill>
          <a:blip r:embed="rId2"/>
          <a:stretch>
            <a:fillRect/>
          </a:stretch>
        </p:blipFill>
        <p:spPr>
          <a:xfrm rot="21600000">
            <a:off x="608584" y="3868293"/>
            <a:ext cx="749807" cy="726567"/>
          </a:xfrm>
          <a:prstGeom prst="rect">
            <a:avLst/>
          </a:prstGeom>
        </p:spPr>
      </p:pic>
      <p:pic>
        <p:nvPicPr>
          <p:cNvPr id="340" name="picture 340"/>
          <p:cNvPicPr>
            <a:picLocks noChangeAspect="1"/>
          </p:cNvPicPr>
          <p:nvPr/>
        </p:nvPicPr>
        <p:blipFill>
          <a:blip r:embed="rId3"/>
          <a:stretch>
            <a:fillRect/>
          </a:stretch>
        </p:blipFill>
        <p:spPr>
          <a:xfrm rot="21600000">
            <a:off x="1565655" y="4189857"/>
            <a:ext cx="272795" cy="176783"/>
          </a:xfrm>
          <a:prstGeom prst="rect">
            <a:avLst/>
          </a:prstGeom>
        </p:spPr>
      </p:pic>
      <p:pic>
        <p:nvPicPr>
          <p:cNvPr id="341" name="picture 341"/>
          <p:cNvPicPr>
            <a:picLocks noChangeAspect="1"/>
          </p:cNvPicPr>
          <p:nvPr/>
        </p:nvPicPr>
        <p:blipFill>
          <a:blip r:embed="rId4"/>
          <a:stretch>
            <a:fillRect/>
          </a:stretch>
        </p:blipFill>
        <p:spPr>
          <a:xfrm rot="21600000">
            <a:off x="1210563" y="4028313"/>
            <a:ext cx="166116" cy="228600"/>
          </a:xfrm>
          <a:prstGeom prst="rect">
            <a:avLst/>
          </a:prstGeom>
        </p:spPr>
      </p:pic>
      <p:pic>
        <p:nvPicPr>
          <p:cNvPr id="342" name="picture 342"/>
          <p:cNvPicPr>
            <a:picLocks noChangeAspect="1"/>
          </p:cNvPicPr>
          <p:nvPr/>
        </p:nvPicPr>
        <p:blipFill>
          <a:blip r:embed="rId5"/>
          <a:stretch>
            <a:fillRect/>
          </a:stretch>
        </p:blipFill>
        <p:spPr>
          <a:xfrm rot="21600000">
            <a:off x="2777235" y="4194429"/>
            <a:ext cx="176783" cy="103632"/>
          </a:xfrm>
          <a:prstGeom prst="rect">
            <a:avLst/>
          </a:prstGeom>
        </p:spPr>
      </p:pic>
      <p:pic>
        <p:nvPicPr>
          <p:cNvPr id="343" name="picture 343"/>
          <p:cNvPicPr>
            <a:picLocks noChangeAspect="1"/>
          </p:cNvPicPr>
          <p:nvPr/>
        </p:nvPicPr>
        <p:blipFill>
          <a:blip r:embed="rId6"/>
          <a:stretch>
            <a:fillRect/>
          </a:stretch>
        </p:blipFill>
        <p:spPr>
          <a:xfrm rot="21600000">
            <a:off x="2585211" y="4176141"/>
            <a:ext cx="128016" cy="100583"/>
          </a:xfrm>
          <a:prstGeom prst="rect">
            <a:avLst/>
          </a:prstGeom>
        </p:spPr>
      </p:pic>
      <p:pic>
        <p:nvPicPr>
          <p:cNvPr id="344" name="picture 344"/>
          <p:cNvPicPr>
            <a:picLocks noChangeAspect="1"/>
          </p:cNvPicPr>
          <p:nvPr/>
        </p:nvPicPr>
        <p:blipFill>
          <a:blip r:embed="rId7"/>
          <a:stretch>
            <a:fillRect/>
          </a:stretch>
        </p:blipFill>
        <p:spPr>
          <a:xfrm rot="21600000">
            <a:off x="3034792" y="3606165"/>
            <a:ext cx="187451" cy="876300"/>
          </a:xfrm>
          <a:prstGeom prst="rect">
            <a:avLst/>
          </a:prstGeom>
        </p:spPr>
      </p:pic>
      <p:pic>
        <p:nvPicPr>
          <p:cNvPr id="345" name="picture 345"/>
          <p:cNvPicPr>
            <a:picLocks noChangeAspect="1"/>
          </p:cNvPicPr>
          <p:nvPr/>
        </p:nvPicPr>
        <p:blipFill>
          <a:blip r:embed="rId8"/>
          <a:stretch>
            <a:fillRect/>
          </a:stretch>
        </p:blipFill>
        <p:spPr>
          <a:xfrm rot="21600000">
            <a:off x="4726432" y="4026789"/>
            <a:ext cx="254507" cy="294132"/>
          </a:xfrm>
          <a:prstGeom prst="rect">
            <a:avLst/>
          </a:prstGeom>
        </p:spPr>
      </p:pic>
      <p:pic>
        <p:nvPicPr>
          <p:cNvPr id="346" name="picture 346"/>
          <p:cNvPicPr>
            <a:picLocks noChangeAspect="1"/>
          </p:cNvPicPr>
          <p:nvPr/>
        </p:nvPicPr>
        <p:blipFill>
          <a:blip r:embed="rId9"/>
          <a:stretch>
            <a:fillRect/>
          </a:stretch>
        </p:blipFill>
        <p:spPr>
          <a:xfrm rot="21600000">
            <a:off x="1931415" y="4173093"/>
            <a:ext cx="195072" cy="297179"/>
          </a:xfrm>
          <a:prstGeom prst="rect">
            <a:avLst/>
          </a:prstGeom>
        </p:spPr>
      </p:pic>
      <p:pic>
        <p:nvPicPr>
          <p:cNvPr id="347" name="picture 347"/>
          <p:cNvPicPr>
            <a:picLocks noChangeAspect="1"/>
          </p:cNvPicPr>
          <p:nvPr/>
        </p:nvPicPr>
        <p:blipFill>
          <a:blip r:embed="rId10"/>
          <a:stretch>
            <a:fillRect/>
          </a:stretch>
        </p:blipFill>
        <p:spPr>
          <a:xfrm rot="21600000">
            <a:off x="2131060" y="4212717"/>
            <a:ext cx="85344" cy="85344"/>
          </a:xfrm>
          <a:prstGeom prst="rect">
            <a:avLst/>
          </a:prstGeom>
        </p:spPr>
      </p:pic>
      <p:pic>
        <p:nvPicPr>
          <p:cNvPr id="348" name="picture 348"/>
          <p:cNvPicPr>
            <a:picLocks noChangeAspect="1"/>
          </p:cNvPicPr>
          <p:nvPr/>
        </p:nvPicPr>
        <p:blipFill>
          <a:blip r:embed="rId11"/>
          <a:stretch>
            <a:fillRect/>
          </a:stretch>
        </p:blipFill>
        <p:spPr>
          <a:xfrm rot="21600000">
            <a:off x="2277364" y="4131945"/>
            <a:ext cx="228599" cy="166115"/>
          </a:xfrm>
          <a:prstGeom prst="rect">
            <a:avLst/>
          </a:prstGeom>
        </p:spPr>
      </p:pic>
      <p:sp>
        <p:nvSpPr>
          <p:cNvPr id="349" name="path"/>
          <p:cNvSpPr/>
          <p:nvPr/>
        </p:nvSpPr>
        <p:spPr>
          <a:xfrm>
            <a:off x="708659" y="1453896"/>
            <a:ext cx="7642225" cy="3100323"/>
          </a:xfrm>
          <a:custGeom>
            <a:avLst/>
            <a:gdLst/>
            <a:ahLst/>
            <a:cxnLst/>
            <a:rect l="0" t="0" r="0" b="0"/>
            <a:pathLst>
              <a:path w="12035" h="4882">
                <a:moveTo>
                  <a:pt x="4905" y="4882"/>
                </a:moveTo>
                <a:lnTo>
                  <a:pt x="4905" y="0"/>
                </a:lnTo>
                <a:moveTo>
                  <a:pt x="0" y="4416"/>
                </a:moveTo>
                <a:lnTo>
                  <a:pt x="12035" y="4416"/>
                </a:lnTo>
              </a:path>
            </a:pathLst>
          </a:custGeom>
          <a:noFill/>
          <a:ln w="9143" cap="flat">
            <a:solidFill>
              <a:srgbClr val="808080">
                <a:alpha val="100000"/>
              </a:srgbClr>
            </a:solidFill>
            <a:prstDash val="solid"/>
            <a:round/>
          </a:ln>
        </p:spPr>
        <p:txBody>
          <a:bodyPr rtlCol="0"/>
          <a:lstStyle/>
          <a:p>
            <a:pPr algn="ctr"/>
            <a:endParaRPr lang="zh-CN" altLang="en-US"/>
          </a:p>
        </p:txBody>
      </p:sp>
      <p:pic>
        <p:nvPicPr>
          <p:cNvPr id="350" name="picture 350"/>
          <p:cNvPicPr>
            <a:picLocks noChangeAspect="1"/>
          </p:cNvPicPr>
          <p:nvPr/>
        </p:nvPicPr>
        <p:blipFill>
          <a:blip r:embed="rId12"/>
          <a:stretch>
            <a:fillRect/>
          </a:stretch>
        </p:blipFill>
        <p:spPr>
          <a:xfrm rot="21600000">
            <a:off x="3840988" y="2554605"/>
            <a:ext cx="85343" cy="85343"/>
          </a:xfrm>
          <a:prstGeom prst="rect">
            <a:avLst/>
          </a:prstGeom>
        </p:spPr>
      </p:pic>
      <p:sp>
        <p:nvSpPr>
          <p:cNvPr id="351" name="path"/>
          <p:cNvSpPr/>
          <p:nvPr/>
        </p:nvSpPr>
        <p:spPr>
          <a:xfrm>
            <a:off x="440436" y="1362455"/>
            <a:ext cx="3403092" cy="2852928"/>
          </a:xfrm>
          <a:custGeom>
            <a:avLst/>
            <a:gdLst/>
            <a:ahLst/>
            <a:cxnLst/>
            <a:rect l="0" t="0" r="0" b="0"/>
            <a:pathLst>
              <a:path w="5359" h="4492">
                <a:moveTo>
                  <a:pt x="9" y="4483"/>
                </a:moveTo>
                <a:lnTo>
                  <a:pt x="5349" y="4483"/>
                </a:lnTo>
                <a:lnTo>
                  <a:pt x="5349" y="9"/>
                </a:lnTo>
                <a:lnTo>
                  <a:pt x="9" y="9"/>
                </a:lnTo>
                <a:lnTo>
                  <a:pt x="9" y="4483"/>
                </a:lnTo>
                <a:close/>
              </a:path>
            </a:pathLst>
          </a:custGeom>
          <a:noFill/>
          <a:ln w="12192" cap="flat">
            <a:solidFill>
              <a:srgbClr val="FF0000">
                <a:alpha val="100000"/>
              </a:srgbClr>
            </a:solidFill>
            <a:prstDash val="dash"/>
            <a:miter lim="800000"/>
          </a:ln>
        </p:spPr>
        <p:txBody>
          <a:bodyPr rtlCol="0"/>
          <a:lstStyle/>
          <a:p>
            <a:pPr algn="ctr"/>
            <a:endParaRPr lang="zh-CN" altLang="en-US"/>
          </a:p>
        </p:txBody>
      </p:sp>
      <p:grpSp>
        <p:nvGrpSpPr>
          <p:cNvPr id="68" name="group 68"/>
          <p:cNvGrpSpPr/>
          <p:nvPr/>
        </p:nvGrpSpPr>
        <p:grpSpPr>
          <a:xfrm rot="21600000">
            <a:off x="2275332" y="5434584"/>
            <a:ext cx="4361687" cy="949451"/>
            <a:chOff x="0" y="0"/>
            <a:chExt cx="4361687" cy="949451"/>
          </a:xfrm>
        </p:grpSpPr>
        <p:pic>
          <p:nvPicPr>
            <p:cNvPr id="352" name="picture 352"/>
            <p:cNvPicPr>
              <a:picLocks noChangeAspect="1"/>
            </p:cNvPicPr>
            <p:nvPr/>
          </p:nvPicPr>
          <p:blipFill>
            <a:blip r:embed="rId13"/>
            <a:stretch>
              <a:fillRect/>
            </a:stretch>
          </p:blipFill>
          <p:spPr>
            <a:xfrm rot="21600000">
              <a:off x="0" y="0"/>
              <a:ext cx="4361687" cy="949451"/>
            </a:xfrm>
            <a:prstGeom prst="rect">
              <a:avLst/>
            </a:prstGeom>
          </p:spPr>
        </p:pic>
        <p:sp>
          <p:nvSpPr>
            <p:cNvPr id="353" name="textbox 353"/>
            <p:cNvSpPr/>
            <p:nvPr/>
          </p:nvSpPr>
          <p:spPr>
            <a:xfrm>
              <a:off x="-12700" y="-12700"/>
              <a:ext cx="4387215" cy="1005205"/>
            </a:xfrm>
            <a:prstGeom prst="rect">
              <a:avLst/>
            </a:prstGeom>
          </p:spPr>
          <p:txBody>
            <a:bodyPr vert="horz" wrap="square" lIns="0" tIns="0" rIns="0" bIns="0"/>
            <a:lstStyle/>
            <a:p>
              <a:pPr algn="l" rtl="0" eaLnBrk="0">
                <a:lnSpc>
                  <a:spcPct val="131000"/>
                </a:lnSpc>
              </a:pPr>
              <a:endParaRPr lang="en-US" altLang="en-US" sz="1000" dirty="0">
                <a:latin typeface="微软雅黑" panose="020B0503020204020204" charset="-122"/>
                <a:ea typeface="微软雅黑" panose="020B0503020204020204" charset="-122"/>
              </a:endParaRPr>
            </a:p>
            <a:p>
              <a:pPr algn="l" rtl="0" eaLnBrk="0">
                <a:lnSpc>
                  <a:spcPct val="132000"/>
                </a:lnSpc>
              </a:pPr>
              <a:endParaRPr lang="en-US" altLang="en-US" sz="1000" dirty="0">
                <a:latin typeface="微软雅黑" panose="020B0503020204020204" charset="-122"/>
                <a:ea typeface="微软雅黑" panose="020B0503020204020204" charset="-122"/>
              </a:endParaRPr>
            </a:p>
            <a:p>
              <a:pPr marL="163830" algn="l" rtl="0" eaLnBrk="0">
                <a:lnSpc>
                  <a:spcPct val="82000"/>
                </a:lnSpc>
                <a:spcBef>
                  <a:spcPts val="5"/>
                </a:spcBef>
              </a:pPr>
              <a:r>
                <a:rPr sz="1700" spc="-1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我们的资源</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分配该如何调整</a:t>
              </a:r>
              <a:r>
                <a:rPr sz="1400" spc="0" dirty="0">
                  <a:solidFill>
                    <a:srgbClr val="000000">
                      <a:alpha val="100000"/>
                    </a:srgbClr>
                  </a:solidFill>
                  <a:latin typeface="微软雅黑" panose="020B0503020204020204" charset="-122"/>
                  <a:ea typeface="微软雅黑" panose="020B0503020204020204" charset="-122"/>
                  <a:cs typeface="Arial" panose="020B0604020202020204"/>
                </a:rPr>
                <a:t>?</a:t>
              </a:r>
              <a:endParaRPr lang="en-US" altLang="en-US" sz="1400" dirty="0">
                <a:latin typeface="微软雅黑" panose="020B0503020204020204" charset="-122"/>
                <a:ea typeface="微软雅黑" panose="020B0503020204020204" charset="-122"/>
              </a:endParaRPr>
            </a:p>
            <a:p>
              <a:pPr marL="163830" algn="l" rtl="0" eaLnBrk="0">
                <a:lnSpc>
                  <a:spcPct val="85000"/>
                </a:lnSpc>
                <a:spcBef>
                  <a:spcPts val="5"/>
                </a:spcBef>
              </a:pPr>
              <a:r>
                <a:rPr sz="1700" spc="-1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我们是否具</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备所需的能力</a:t>
              </a:r>
              <a:r>
                <a:rPr sz="1400" spc="0" dirty="0">
                  <a:solidFill>
                    <a:srgbClr val="000000">
                      <a:alpha val="100000"/>
                    </a:srgbClr>
                  </a:solidFill>
                  <a:latin typeface="微软雅黑" panose="020B0503020204020204" charset="-122"/>
                  <a:ea typeface="微软雅黑" panose="020B0503020204020204" charset="-122"/>
                  <a:cs typeface="Arial" panose="020B0604020202020204"/>
                </a:rPr>
                <a:t>?</a:t>
              </a:r>
              <a:endParaRPr lang="en-US" altLang="en-US" sz="1400" dirty="0">
                <a:latin typeface="微软雅黑" panose="020B0503020204020204" charset="-122"/>
                <a:ea typeface="微软雅黑" panose="020B0503020204020204" charset="-122"/>
              </a:endParaRPr>
            </a:p>
          </p:txBody>
        </p:sp>
      </p:grpSp>
      <p:sp>
        <p:nvSpPr>
          <p:cNvPr id="354" name="path"/>
          <p:cNvSpPr/>
          <p:nvPr/>
        </p:nvSpPr>
        <p:spPr>
          <a:xfrm>
            <a:off x="2301239" y="5460492"/>
            <a:ext cx="4255007" cy="842772"/>
          </a:xfrm>
          <a:custGeom>
            <a:avLst/>
            <a:gdLst/>
            <a:ahLst/>
            <a:cxnLst/>
            <a:rect l="0" t="0" r="0" b="0"/>
            <a:pathLst>
              <a:path w="6700" h="1327">
                <a:moveTo>
                  <a:pt x="15" y="1311"/>
                </a:moveTo>
                <a:lnTo>
                  <a:pt x="6685" y="1311"/>
                </a:lnTo>
                <a:lnTo>
                  <a:pt x="6685" y="15"/>
                </a:lnTo>
                <a:lnTo>
                  <a:pt x="15" y="15"/>
                </a:lnTo>
                <a:lnTo>
                  <a:pt x="15" y="1311"/>
                </a:lnTo>
                <a:close/>
              </a:path>
            </a:pathLst>
          </a:custGeom>
          <a:noFill/>
          <a:ln w="19811" cap="flat">
            <a:solidFill>
              <a:srgbClr val="0065BD">
                <a:alpha val="100000"/>
              </a:srgbClr>
            </a:solidFill>
            <a:prstDash val="solid"/>
            <a:miter lim="800000"/>
          </a:ln>
        </p:spPr>
        <p:txBody>
          <a:bodyPr rtlCol="0"/>
          <a:lstStyle/>
          <a:p>
            <a:pPr algn="ctr"/>
            <a:endParaRPr lang="zh-CN" altLang="en-US"/>
          </a:p>
        </p:txBody>
      </p:sp>
      <p:sp>
        <p:nvSpPr>
          <p:cNvPr id="355" name="textbox 355"/>
          <p:cNvSpPr/>
          <p:nvPr/>
        </p:nvSpPr>
        <p:spPr>
          <a:xfrm>
            <a:off x="102235" y="215900"/>
            <a:ext cx="6235700" cy="323215"/>
          </a:xfrm>
          <a:prstGeom prst="rect">
            <a:avLst/>
          </a:prstGeom>
        </p:spPr>
        <p:txBody>
          <a:bodyPr vert="horz" wrap="square" lIns="0" tIns="0" rIns="0" bIns="0"/>
          <a:lstStyle/>
          <a:p>
            <a:pPr algn="l" rtl="0" eaLnBrk="0">
              <a:lnSpc>
                <a:spcPct val="74000"/>
              </a:lnSpc>
            </a:pPr>
            <a:endParaRPr lang="en-US" altLang="en-US" sz="100" dirty="0">
              <a:latin typeface="微软雅黑" panose="020B0503020204020204" charset="-122"/>
              <a:ea typeface="微软雅黑" panose="020B0503020204020204" charset="-122"/>
            </a:endParaRPr>
          </a:p>
          <a:p>
            <a:pPr marL="139700" algn="l" rtl="0" eaLnBrk="0">
              <a:lnSpc>
                <a:spcPct val="98000"/>
              </a:lnSpc>
            </a:pPr>
            <a:r>
              <a:rPr sz="2000" spc="-30" dirty="0">
                <a:solidFill>
                  <a:srgbClr val="002960">
                    <a:alpha val="100000"/>
                  </a:srgbClr>
                </a:solidFill>
                <a:latin typeface="微软雅黑" panose="020B0503020204020204" charset="-122"/>
                <a:ea typeface="微软雅黑" panose="020B0503020204020204" charset="-122"/>
                <a:cs typeface="楷体" panose="02010609060101010101" charset="-122"/>
              </a:rPr>
              <a:t>【案例</a:t>
            </a:r>
            <a:r>
              <a:rPr sz="2000" spc="-30" dirty="0">
                <a:solidFill>
                  <a:srgbClr val="002960">
                    <a:alpha val="100000"/>
                  </a:srgbClr>
                </a:solidFill>
                <a:latin typeface="微软雅黑" panose="020B0503020204020204" charset="-122"/>
                <a:ea typeface="微软雅黑" panose="020B0503020204020204" charset="-122"/>
                <a:cs typeface="Arial" panose="020B0604020202020204"/>
              </a:rPr>
              <a:t>1</a:t>
            </a:r>
            <a:r>
              <a:rPr sz="2000" spc="-30" dirty="0">
                <a:solidFill>
                  <a:srgbClr val="002960">
                    <a:alpha val="100000"/>
                  </a:srgbClr>
                </a:solidFill>
                <a:latin typeface="微软雅黑" panose="020B0503020204020204" charset="-122"/>
                <a:ea typeface="微软雅黑" panose="020B0503020204020204" charset="-122"/>
                <a:cs typeface="楷体" panose="02010609060101010101" charset="-122"/>
              </a:rPr>
              <a:t>】进攻型客户占未来潜在增长的</a:t>
            </a:r>
            <a:r>
              <a:rPr sz="2000" spc="-30" dirty="0">
                <a:solidFill>
                  <a:srgbClr val="002960">
                    <a:alpha val="100000"/>
                  </a:srgbClr>
                </a:solidFill>
                <a:latin typeface="微软雅黑" panose="020B0503020204020204" charset="-122"/>
                <a:ea typeface="微软雅黑" panose="020B0503020204020204" charset="-122"/>
                <a:cs typeface="Arial" panose="020B0604020202020204"/>
              </a:rPr>
              <a:t>58%</a:t>
            </a:r>
            <a:r>
              <a:rPr sz="2000" spc="-30" dirty="0">
                <a:solidFill>
                  <a:srgbClr val="002960">
                    <a:alpha val="100000"/>
                  </a:srgbClr>
                </a:solidFill>
                <a:latin typeface="微软雅黑" panose="020B0503020204020204" charset="-122"/>
                <a:ea typeface="微软雅黑" panose="020B0503020204020204" charset="-122"/>
                <a:cs typeface="楷体" panose="02010609060101010101" charset="-122"/>
              </a:rPr>
              <a:t>，被该企业选为未来</a:t>
            </a:r>
            <a:r>
              <a:rPr sz="2000" spc="-30" dirty="0">
                <a:solidFill>
                  <a:srgbClr val="002960">
                    <a:alpha val="100000"/>
                  </a:srgbClr>
                </a:solidFill>
                <a:latin typeface="微软雅黑" panose="020B0503020204020204" charset="-122"/>
                <a:ea typeface="微软雅黑" panose="020B0503020204020204" charset="-122"/>
                <a:cs typeface="Arial" panose="020B0604020202020204"/>
              </a:rPr>
              <a:t>3</a:t>
            </a:r>
            <a:r>
              <a:rPr sz="2000" spc="-10" dirty="0">
                <a:solidFill>
                  <a:srgbClr val="002960">
                    <a:alpha val="100000"/>
                  </a:srgbClr>
                </a:solidFill>
                <a:latin typeface="微软雅黑" panose="020B0503020204020204" charset="-122"/>
                <a:ea typeface="微软雅黑" panose="020B0503020204020204" charset="-122"/>
                <a:cs typeface="楷体" panose="02010609060101010101" charset="-122"/>
              </a:rPr>
              <a:t>年</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的重点</a:t>
            </a:r>
            <a:endParaRPr lang="en-US" altLang="en-US" sz="2000" dirty="0">
              <a:latin typeface="微软雅黑" panose="020B0503020204020204" charset="-122"/>
              <a:ea typeface="微软雅黑" panose="020B0503020204020204" charset="-122"/>
            </a:endParaRPr>
          </a:p>
        </p:txBody>
      </p:sp>
      <p:sp>
        <p:nvSpPr>
          <p:cNvPr id="356" name="rect"/>
          <p:cNvSpPr/>
          <p:nvPr/>
        </p:nvSpPr>
        <p:spPr>
          <a:xfrm>
            <a:off x="2310383" y="5469635"/>
            <a:ext cx="4235195" cy="307848"/>
          </a:xfrm>
          <a:prstGeom prst="rect">
            <a:avLst/>
          </a:prstGeom>
          <a:solidFill>
            <a:srgbClr val="0065BD">
              <a:alpha val="100000"/>
            </a:srgbClr>
          </a:solidFill>
          <a:ln cap="flat">
            <a:noFill/>
            <a:prstDash val="solid"/>
            <a:miter lim="0"/>
          </a:ln>
        </p:spPr>
        <p:txBody>
          <a:bodyPr rtlCol="0"/>
          <a:lstStyle/>
          <a:p>
            <a:pPr algn="ctr"/>
            <a:endParaRPr lang="zh-CN" altLang="en-US"/>
          </a:p>
        </p:txBody>
      </p:sp>
      <p:graphicFrame>
        <p:nvGraphicFramePr>
          <p:cNvPr id="357" name="table 357"/>
          <p:cNvGraphicFramePr>
            <a:graphicFrameLocks noGrp="1"/>
          </p:cNvGraphicFramePr>
          <p:nvPr/>
        </p:nvGraphicFramePr>
        <p:xfrm>
          <a:off x="2831591" y="1769364"/>
          <a:ext cx="644525" cy="781684"/>
        </p:xfrm>
        <a:graphic>
          <a:graphicData uri="http://schemas.openxmlformats.org/drawingml/2006/table">
            <a:tbl>
              <a:tblPr/>
              <a:tblGrid>
                <a:gridCol w="644525"/>
              </a:tblGrid>
              <a:tr h="781684">
                <a:tc>
                  <a:txBody>
                    <a:bodyPr/>
                    <a:lstStyle/>
                    <a:p>
                      <a:pPr algn="l" rtl="0" eaLnBrk="0">
                        <a:lnSpc>
                          <a:spcPct val="100000"/>
                        </a:lnSpc>
                      </a:pPr>
                      <a:endParaRPr lang="en-US" altLang="en-US" sz="1000" dirty="0">
                        <a:latin typeface="微软雅黑" panose="020B0503020204020204" charset="-122"/>
                        <a:ea typeface="微软雅黑" panose="020B0503020204020204" charset="-122"/>
                      </a:endParaRPr>
                    </a:p>
                  </a:txBody>
                  <a:tcPr marL="0" marR="0" marT="0" marB="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3175" cap="flat" cmpd="sng" algn="ctr">
                      <a:solidFill>
                        <a:srgbClr val="808080"/>
                      </a:solidFill>
                      <a:prstDash val="solid"/>
                      <a:round/>
                      <a:headEnd type="none" w="med" len="med"/>
                      <a:tailEnd type="none" w="med" len="med"/>
                    </a:lnT>
                    <a:lnB w="22225" cap="flat" cmpd="sng" algn="ctr">
                      <a:solidFill>
                        <a:srgbClr val="808080"/>
                      </a:solidFill>
                      <a:prstDash val="solid"/>
                      <a:round/>
                      <a:headEnd type="none" w="med" len="med"/>
                      <a:tailEnd type="none" w="med" len="med"/>
                    </a:lnB>
                  </a:tcPr>
                </a:tc>
              </a:tr>
            </a:tbl>
          </a:graphicData>
        </a:graphic>
      </p:graphicFrame>
      <p:graphicFrame>
        <p:nvGraphicFramePr>
          <p:cNvPr id="358" name="table 358"/>
          <p:cNvGraphicFramePr>
            <a:graphicFrameLocks noGrp="1"/>
          </p:cNvGraphicFramePr>
          <p:nvPr/>
        </p:nvGraphicFramePr>
        <p:xfrm>
          <a:off x="5262372" y="4934711"/>
          <a:ext cx="1075690" cy="365760"/>
        </p:xfrm>
        <a:graphic>
          <a:graphicData uri="http://schemas.openxmlformats.org/drawingml/2006/table">
            <a:tbl>
              <a:tblPr/>
              <a:tblGrid>
                <a:gridCol w="1075690"/>
              </a:tblGrid>
              <a:tr h="365760">
                <a:tc>
                  <a:txBody>
                    <a:bodyPr/>
                    <a:lstStyle/>
                    <a:p>
                      <a:pPr algn="l" rtl="0" eaLnBrk="0">
                        <a:lnSpc>
                          <a:spcPct val="106000"/>
                        </a:lnSpc>
                      </a:pPr>
                      <a:endParaRPr lang="en-US" altLang="en-US" sz="600" dirty="0">
                        <a:latin typeface="微软雅黑" panose="020B0503020204020204" charset="-122"/>
                        <a:ea typeface="微软雅黑" panose="020B0503020204020204" charset="-122"/>
                      </a:endParaRPr>
                    </a:p>
                    <a:p>
                      <a:pPr marL="130175" algn="l" rtl="0" eaLnBrk="0">
                        <a:lnSpc>
                          <a:spcPct val="93000"/>
                        </a:lnSpc>
                        <a:spcBef>
                          <a:spcPts val="5"/>
                        </a:spcBef>
                      </a:pPr>
                      <a:r>
                        <a:rPr sz="1400" spc="-30" dirty="0">
                          <a:ln w="5094" cap="flat" cmpd="sng">
                            <a:solidFill>
                              <a:srgbClr val="002960">
                                <a:alpha val="100000"/>
                              </a:srgbClr>
                            </a:solidFill>
                            <a:prstDash val="solid"/>
                            <a:miter lim="8"/>
                          </a:ln>
                          <a:solidFill>
                            <a:srgbClr val="002960">
                              <a:alpha val="100000"/>
                            </a:srgbClr>
                          </a:solidFill>
                          <a:latin typeface="微软雅黑" panose="020B0503020204020204" charset="-122"/>
                          <a:ea typeface="微软雅黑" panose="020B0503020204020204" charset="-122"/>
                          <a:cs typeface="楷体" panose="02010609060101010101" charset="-122"/>
                        </a:rPr>
                        <a:t>防守型客</a:t>
                      </a:r>
                      <a:r>
                        <a:rPr sz="1400" spc="-10" dirty="0">
                          <a:ln w="5094" cap="flat" cmpd="sng">
                            <a:solidFill>
                              <a:srgbClr val="002960">
                                <a:alpha val="100000"/>
                              </a:srgbClr>
                            </a:solidFill>
                            <a:prstDash val="solid"/>
                            <a:miter lim="8"/>
                          </a:ln>
                          <a:solidFill>
                            <a:srgbClr val="002960">
                              <a:alpha val="100000"/>
                            </a:srgbClr>
                          </a:solidFill>
                          <a:latin typeface="微软雅黑" panose="020B0503020204020204" charset="-122"/>
                          <a:ea typeface="微软雅黑" panose="020B0503020204020204" charset="-122"/>
                          <a:cs typeface="楷体" panose="02010609060101010101" charset="-122"/>
                        </a:rPr>
                        <a:t>户</a:t>
                      </a:r>
                      <a:endParaRPr lang="en-US" altLang="en-US" sz="1400" dirty="0">
                        <a:latin typeface="微软雅黑" panose="020B0503020204020204" charset="-122"/>
                        <a:ea typeface="微软雅黑" panose="020B0503020204020204" charset="-122"/>
                      </a:endParaRPr>
                    </a:p>
                  </a:txBody>
                  <a:tcPr marL="0" marR="0" marT="0" marB="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a:noFill/>
                    </a:lnT>
                    <a:lnB w="6350" cap="flat" cmpd="sng" algn="ctr">
                      <a:solidFill>
                        <a:srgbClr val="808080"/>
                      </a:solidFill>
                      <a:prstDash val="solid"/>
                      <a:round/>
                      <a:headEnd type="none" w="med" len="med"/>
                      <a:tailEnd type="none" w="med" len="med"/>
                    </a:lnB>
                  </a:tcPr>
                </a:tc>
              </a:tr>
            </a:tbl>
          </a:graphicData>
        </a:graphic>
      </p:graphicFrame>
      <p:sp>
        <p:nvSpPr>
          <p:cNvPr id="359" name="rect"/>
          <p:cNvSpPr/>
          <p:nvPr/>
        </p:nvSpPr>
        <p:spPr>
          <a:xfrm>
            <a:off x="2924555" y="1769364"/>
            <a:ext cx="460247" cy="766572"/>
          </a:xfrm>
          <a:prstGeom prst="rect">
            <a:avLst/>
          </a:prstGeom>
          <a:solidFill>
            <a:srgbClr val="0065BD">
              <a:alpha val="100000"/>
            </a:srgbClr>
          </a:solidFill>
          <a:ln cap="flat">
            <a:noFill/>
            <a:prstDash val="solid"/>
            <a:miter lim="0"/>
          </a:ln>
        </p:spPr>
        <p:txBody>
          <a:bodyPr rtlCol="0"/>
          <a:lstStyle/>
          <a:p>
            <a:pPr algn="ctr"/>
            <a:endParaRPr lang="zh-CN" altLang="en-US"/>
          </a:p>
        </p:txBody>
      </p:sp>
      <p:graphicFrame>
        <p:nvGraphicFramePr>
          <p:cNvPr id="360" name="table 360"/>
          <p:cNvGraphicFramePr>
            <a:graphicFrameLocks noGrp="1"/>
          </p:cNvGraphicFramePr>
          <p:nvPr/>
        </p:nvGraphicFramePr>
        <p:xfrm>
          <a:off x="986027" y="4934711"/>
          <a:ext cx="906145" cy="365760"/>
        </p:xfrm>
        <a:graphic>
          <a:graphicData uri="http://schemas.openxmlformats.org/drawingml/2006/table">
            <a:tbl>
              <a:tblPr/>
              <a:tblGrid>
                <a:gridCol w="906145"/>
              </a:tblGrid>
              <a:tr h="365760">
                <a:tc>
                  <a:txBody>
                    <a:bodyPr/>
                    <a:lstStyle/>
                    <a:p>
                      <a:pPr algn="l" rtl="0" eaLnBrk="0">
                        <a:lnSpc>
                          <a:spcPct val="107000"/>
                        </a:lnSpc>
                      </a:pPr>
                      <a:endParaRPr lang="en-US" altLang="en-US" sz="600" dirty="0">
                        <a:latin typeface="微软雅黑" panose="020B0503020204020204" charset="-122"/>
                        <a:ea typeface="微软雅黑" panose="020B0503020204020204" charset="-122"/>
                      </a:endParaRPr>
                    </a:p>
                    <a:p>
                      <a:pPr marL="88265" algn="l" rtl="0" eaLnBrk="0">
                        <a:lnSpc>
                          <a:spcPct val="94000"/>
                        </a:lnSpc>
                        <a:spcBef>
                          <a:spcPts val="0"/>
                        </a:spcBef>
                      </a:pPr>
                      <a:r>
                        <a:rPr sz="1400" spc="-20" dirty="0">
                          <a:ln w="5094" cap="flat" cmpd="sng">
                            <a:solidFill>
                              <a:srgbClr val="002960">
                                <a:alpha val="100000"/>
                              </a:srgbClr>
                            </a:solidFill>
                            <a:prstDash val="solid"/>
                            <a:miter lim="8"/>
                          </a:ln>
                          <a:solidFill>
                            <a:srgbClr val="002960">
                              <a:alpha val="100000"/>
                            </a:srgbClr>
                          </a:solidFill>
                          <a:latin typeface="微软雅黑" panose="020B0503020204020204" charset="-122"/>
                          <a:ea typeface="微软雅黑" panose="020B0503020204020204" charset="-122"/>
                          <a:cs typeface="楷体" panose="02010609060101010101" charset="-122"/>
                        </a:rPr>
                        <a:t>普通客</a:t>
                      </a:r>
                      <a:r>
                        <a:rPr sz="1400" spc="0" dirty="0">
                          <a:ln w="5094" cap="flat" cmpd="sng">
                            <a:solidFill>
                              <a:srgbClr val="002960">
                                <a:alpha val="100000"/>
                              </a:srgbClr>
                            </a:solidFill>
                            <a:prstDash val="solid"/>
                            <a:miter lim="8"/>
                          </a:ln>
                          <a:solidFill>
                            <a:srgbClr val="002960">
                              <a:alpha val="100000"/>
                            </a:srgbClr>
                          </a:solidFill>
                          <a:latin typeface="微软雅黑" panose="020B0503020204020204" charset="-122"/>
                          <a:ea typeface="微软雅黑" panose="020B0503020204020204" charset="-122"/>
                          <a:cs typeface="楷体" panose="02010609060101010101" charset="-122"/>
                        </a:rPr>
                        <a:t>户</a:t>
                      </a:r>
                      <a:endParaRPr lang="en-US" altLang="en-US" sz="1400" dirty="0">
                        <a:latin typeface="微软雅黑" panose="020B0503020204020204" charset="-122"/>
                        <a:ea typeface="微软雅黑" panose="020B0503020204020204" charset="-122"/>
                      </a:endParaRPr>
                    </a:p>
                  </a:txBody>
                  <a:tcPr marL="0" marR="0" marT="0" marB="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a:noFill/>
                    </a:lnT>
                    <a:lnB w="6350" cap="flat" cmpd="sng" algn="ctr">
                      <a:solidFill>
                        <a:srgbClr val="808080"/>
                      </a:solidFill>
                      <a:prstDash val="solid"/>
                      <a:round/>
                      <a:headEnd type="none" w="med" len="med"/>
                      <a:tailEnd type="none" w="med" len="med"/>
                    </a:lnB>
                  </a:tcPr>
                </a:tc>
              </a:tr>
            </a:tbl>
          </a:graphicData>
        </a:graphic>
      </p:graphicFrame>
      <p:graphicFrame>
        <p:nvGraphicFramePr>
          <p:cNvPr id="361" name="table 361"/>
          <p:cNvGraphicFramePr>
            <a:graphicFrameLocks noGrp="1"/>
          </p:cNvGraphicFramePr>
          <p:nvPr/>
        </p:nvGraphicFramePr>
        <p:xfrm>
          <a:off x="4241291" y="2054352"/>
          <a:ext cx="644525" cy="490220"/>
        </p:xfrm>
        <a:graphic>
          <a:graphicData uri="http://schemas.openxmlformats.org/drawingml/2006/table">
            <a:tbl>
              <a:tblPr/>
              <a:tblGrid>
                <a:gridCol w="644525"/>
              </a:tblGrid>
              <a:tr h="490220">
                <a:tc>
                  <a:txBody>
                    <a:bodyPr/>
                    <a:lstStyle/>
                    <a:p>
                      <a:pPr algn="l" rtl="0" eaLnBrk="0">
                        <a:lnSpc>
                          <a:spcPct val="100000"/>
                        </a:lnSpc>
                      </a:pPr>
                      <a:endParaRPr lang="en-US" altLang="en-US" sz="1000" dirty="0">
                        <a:latin typeface="微软雅黑" panose="020B0503020204020204" charset="-122"/>
                        <a:ea typeface="微软雅黑" panose="020B0503020204020204" charset="-122"/>
                      </a:endParaRPr>
                    </a:p>
                  </a:txBody>
                  <a:tcPr marL="0" marR="0" marT="0" marB="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22225" cap="flat" cmpd="sng" algn="ctr">
                      <a:solidFill>
                        <a:srgbClr val="808080"/>
                      </a:solidFill>
                      <a:prstDash val="solid"/>
                      <a:round/>
                      <a:headEnd type="none" w="med" len="med"/>
                      <a:tailEnd type="none" w="med" len="med"/>
                    </a:lnB>
                  </a:tcPr>
                </a:tc>
              </a:tr>
            </a:tbl>
          </a:graphicData>
        </a:graphic>
      </p:graphicFrame>
      <p:sp>
        <p:nvSpPr>
          <p:cNvPr id="362" name="textbox 362"/>
          <p:cNvSpPr/>
          <p:nvPr/>
        </p:nvSpPr>
        <p:spPr>
          <a:xfrm>
            <a:off x="641696" y="1104260"/>
            <a:ext cx="1536700" cy="221615"/>
          </a:xfrm>
          <a:prstGeom prst="rect">
            <a:avLst/>
          </a:prstGeom>
        </p:spPr>
        <p:txBody>
          <a:bodyPr vert="horz" wrap="square" lIns="0" tIns="0" rIns="0" bIns="0"/>
          <a:lstStyle/>
          <a:p>
            <a:pPr algn="l" rtl="0" eaLnBrk="0">
              <a:lnSpc>
                <a:spcPct val="80000"/>
              </a:lnSpc>
            </a:pPr>
            <a:endParaRPr lang="en-US" altLang="en-US" sz="100" dirty="0">
              <a:latin typeface="微软雅黑" panose="020B0503020204020204" charset="-122"/>
              <a:ea typeface="微软雅黑" panose="020B0503020204020204" charset="-122"/>
            </a:endParaRPr>
          </a:p>
          <a:p>
            <a:pPr marL="12700" algn="l" rtl="0" eaLnBrk="0">
              <a:lnSpc>
                <a:spcPct val="92000"/>
              </a:lnSpc>
            </a:pPr>
            <a:r>
              <a:rPr sz="1400" spc="-10" dirty="0">
                <a:ln w="5094" cap="flat" cmpd="sng">
                  <a:solidFill>
                    <a:srgbClr val="002960">
                      <a:alpha val="100000"/>
                    </a:srgbClr>
                  </a:solidFill>
                  <a:prstDash val="solid"/>
                  <a:round/>
                </a:ln>
                <a:solidFill>
                  <a:srgbClr val="002960">
                    <a:alpha val="100000"/>
                  </a:srgbClr>
                </a:solidFill>
                <a:latin typeface="微软雅黑" panose="020B0503020204020204" charset="-122"/>
                <a:ea typeface="微软雅黑" panose="020B0503020204020204" charset="-122"/>
                <a:cs typeface="楷体" panose="02010609060101010101" charset="-122"/>
              </a:rPr>
              <a:t>未来价值</a:t>
            </a:r>
            <a:r>
              <a:rPr sz="1400" b="1" spc="-10" dirty="0">
                <a:solidFill>
                  <a:srgbClr val="002960">
                    <a:alpha val="100000"/>
                  </a:srgbClr>
                </a:solidFill>
                <a:latin typeface="微软雅黑" panose="020B0503020204020204" charset="-122"/>
                <a:ea typeface="微软雅黑" panose="020B0503020204020204" charset="-122"/>
                <a:cs typeface="Arial" panose="020B0604020202020204"/>
              </a:rPr>
              <a:t>,</a:t>
            </a:r>
            <a:r>
              <a:rPr sz="1400" spc="-1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10" dirty="0">
                <a:ln w="5094" cap="flat" cmpd="sng">
                  <a:solidFill>
                    <a:srgbClr val="002960">
                      <a:alpha val="100000"/>
                    </a:srgbClr>
                  </a:solidFill>
                  <a:prstDash val="solid"/>
                  <a:round/>
                </a:ln>
                <a:solidFill>
                  <a:srgbClr val="002960">
                    <a:alpha val="100000"/>
                  </a:srgbClr>
                </a:solidFill>
                <a:latin typeface="微软雅黑" panose="020B0503020204020204" charset="-122"/>
                <a:ea typeface="微软雅黑" panose="020B0503020204020204" charset="-122"/>
                <a:cs typeface="楷体" panose="02010609060101010101" charset="-122"/>
              </a:rPr>
              <a:t>百万单</a:t>
            </a:r>
            <a:r>
              <a:rPr sz="1400" spc="0" dirty="0">
                <a:ln w="5094" cap="flat" cmpd="sng">
                  <a:solidFill>
                    <a:srgbClr val="002960">
                      <a:alpha val="100000"/>
                    </a:srgbClr>
                  </a:solidFill>
                  <a:prstDash val="solid"/>
                  <a:round/>
                </a:ln>
                <a:solidFill>
                  <a:srgbClr val="002960">
                    <a:alpha val="100000"/>
                  </a:srgbClr>
                </a:solidFill>
                <a:latin typeface="微软雅黑" panose="020B0503020204020204" charset="-122"/>
                <a:ea typeface="微软雅黑" panose="020B0503020204020204" charset="-122"/>
                <a:cs typeface="楷体" panose="02010609060101010101" charset="-122"/>
              </a:rPr>
              <a:t>位</a:t>
            </a:r>
            <a:endParaRPr lang="en-US" altLang="en-US" sz="1400" dirty="0">
              <a:latin typeface="微软雅黑" panose="020B0503020204020204" charset="-122"/>
              <a:ea typeface="微软雅黑" panose="020B0503020204020204" charset="-122"/>
            </a:endParaRPr>
          </a:p>
        </p:txBody>
      </p:sp>
      <p:sp>
        <p:nvSpPr>
          <p:cNvPr id="363" name="textbox 363"/>
          <p:cNvSpPr/>
          <p:nvPr/>
        </p:nvSpPr>
        <p:spPr>
          <a:xfrm>
            <a:off x="6459047" y="4689597"/>
            <a:ext cx="1522730" cy="221615"/>
          </a:xfrm>
          <a:prstGeom prst="rect">
            <a:avLst/>
          </a:prstGeom>
        </p:spPr>
        <p:txBody>
          <a:bodyPr vert="horz" wrap="square" lIns="0" tIns="0" rIns="0" bIns="0"/>
          <a:lstStyle/>
          <a:p>
            <a:pPr algn="l" rtl="0" eaLnBrk="0">
              <a:lnSpc>
                <a:spcPct val="80000"/>
              </a:lnSpc>
            </a:pPr>
            <a:endParaRPr lang="en-US" altLang="en-US" sz="100" dirty="0">
              <a:latin typeface="微软雅黑" panose="020B0503020204020204" charset="-122"/>
              <a:ea typeface="微软雅黑" panose="020B0503020204020204" charset="-122"/>
            </a:endParaRPr>
          </a:p>
          <a:p>
            <a:pPr marL="12700" algn="l" rtl="0" eaLnBrk="0">
              <a:lnSpc>
                <a:spcPct val="92000"/>
              </a:lnSpc>
            </a:pPr>
            <a:r>
              <a:rPr sz="1400" spc="-20" dirty="0">
                <a:ln w="5094" cap="flat" cmpd="sng">
                  <a:solidFill>
                    <a:srgbClr val="002960">
                      <a:alpha val="100000"/>
                    </a:srgbClr>
                  </a:solidFill>
                  <a:prstDash val="solid"/>
                  <a:miter lim="8"/>
                </a:ln>
                <a:solidFill>
                  <a:srgbClr val="002960">
                    <a:alpha val="100000"/>
                  </a:srgbClr>
                </a:solidFill>
                <a:latin typeface="微软雅黑" panose="020B0503020204020204" charset="-122"/>
                <a:ea typeface="微软雅黑" panose="020B0503020204020204" charset="-122"/>
                <a:cs typeface="楷体" panose="02010609060101010101" charset="-122"/>
              </a:rPr>
              <a:t>当前价值</a:t>
            </a:r>
            <a:r>
              <a:rPr sz="1400" b="1" spc="-20" dirty="0">
                <a:solidFill>
                  <a:srgbClr val="002960">
                    <a:alpha val="100000"/>
                  </a:srgbClr>
                </a:solidFill>
                <a:latin typeface="微软雅黑" panose="020B0503020204020204" charset="-122"/>
                <a:ea typeface="微软雅黑" panose="020B0503020204020204" charset="-122"/>
                <a:cs typeface="Arial" panose="020B0604020202020204"/>
              </a:rPr>
              <a:t>,</a:t>
            </a:r>
            <a:r>
              <a:rPr sz="1400" spc="-2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20" dirty="0">
                <a:solidFill>
                  <a:srgbClr val="808080">
                    <a:alpha val="100000"/>
                  </a:srgbClr>
                </a:solidFill>
                <a:latin typeface="微软雅黑" panose="020B0503020204020204" charset="-122"/>
                <a:ea typeface="微软雅黑" panose="020B0503020204020204" charset="-122"/>
                <a:cs typeface="楷体" panose="02010609060101010101" charset="-122"/>
              </a:rPr>
              <a:t>百万欧元</a:t>
            </a:r>
            <a:endParaRPr lang="en-US" altLang="en-US" sz="1400" dirty="0">
              <a:latin typeface="微软雅黑" panose="020B0503020204020204" charset="-122"/>
              <a:ea typeface="微软雅黑" panose="020B0503020204020204" charset="-122"/>
            </a:endParaRPr>
          </a:p>
        </p:txBody>
      </p:sp>
      <p:sp>
        <p:nvSpPr>
          <p:cNvPr id="364" name="rect"/>
          <p:cNvSpPr/>
          <p:nvPr/>
        </p:nvSpPr>
        <p:spPr>
          <a:xfrm>
            <a:off x="4334255" y="2060448"/>
            <a:ext cx="460247" cy="475488"/>
          </a:xfrm>
          <a:prstGeom prst="rect">
            <a:avLst/>
          </a:prstGeom>
          <a:solidFill>
            <a:srgbClr val="0065BD">
              <a:alpha val="100000"/>
            </a:srgbClr>
          </a:solidFill>
          <a:ln cap="flat">
            <a:noFill/>
            <a:prstDash val="solid"/>
            <a:miter lim="0"/>
          </a:ln>
        </p:spPr>
        <p:txBody>
          <a:bodyPr rtlCol="0"/>
          <a:lstStyle/>
          <a:p>
            <a:pPr algn="ctr"/>
            <a:endParaRPr lang="zh-CN" altLang="en-US"/>
          </a:p>
        </p:txBody>
      </p:sp>
      <p:pic>
        <p:nvPicPr>
          <p:cNvPr id="365" name="picture 365"/>
          <p:cNvPicPr>
            <a:picLocks noChangeAspect="1"/>
          </p:cNvPicPr>
          <p:nvPr/>
        </p:nvPicPr>
        <p:blipFill>
          <a:blip r:embed="rId14"/>
          <a:stretch>
            <a:fillRect/>
          </a:stretch>
        </p:blipFill>
        <p:spPr>
          <a:xfrm rot="21600000">
            <a:off x="4350003" y="2792349"/>
            <a:ext cx="85343" cy="85343"/>
          </a:xfrm>
          <a:prstGeom prst="rect">
            <a:avLst/>
          </a:prstGeom>
        </p:spPr>
      </p:pic>
      <p:grpSp>
        <p:nvGrpSpPr>
          <p:cNvPr id="70" name="group 70"/>
          <p:cNvGrpSpPr/>
          <p:nvPr/>
        </p:nvGrpSpPr>
        <p:grpSpPr>
          <a:xfrm rot="21600000">
            <a:off x="4236719" y="2566416"/>
            <a:ext cx="626364" cy="269747"/>
            <a:chOff x="0" y="0"/>
            <a:chExt cx="626364" cy="269747"/>
          </a:xfrm>
        </p:grpSpPr>
        <p:sp>
          <p:nvSpPr>
            <p:cNvPr id="366" name="path"/>
            <p:cNvSpPr/>
            <p:nvPr/>
          </p:nvSpPr>
          <p:spPr>
            <a:xfrm>
              <a:off x="9905" y="9905"/>
              <a:ext cx="606552" cy="249935"/>
            </a:xfrm>
            <a:custGeom>
              <a:avLst/>
              <a:gdLst/>
              <a:ahLst/>
              <a:cxnLst/>
              <a:rect l="0" t="0" r="0" b="0"/>
              <a:pathLst>
                <a:path w="955" h="393">
                  <a:moveTo>
                    <a:pt x="0" y="196"/>
                  </a:moveTo>
                  <a:cubicBezTo>
                    <a:pt x="0" y="88"/>
                    <a:pt x="213" y="0"/>
                    <a:pt x="477" y="0"/>
                  </a:cubicBezTo>
                  <a:cubicBezTo>
                    <a:pt x="741" y="0"/>
                    <a:pt x="955" y="88"/>
                    <a:pt x="955" y="196"/>
                  </a:cubicBezTo>
                  <a:cubicBezTo>
                    <a:pt x="955" y="305"/>
                    <a:pt x="741" y="393"/>
                    <a:pt x="477" y="393"/>
                  </a:cubicBezTo>
                  <a:cubicBezTo>
                    <a:pt x="213" y="393"/>
                    <a:pt x="0" y="305"/>
                    <a:pt x="0" y="196"/>
                  </a:cubicBezTo>
                </a:path>
              </a:pathLst>
            </a:custGeom>
            <a:solidFill>
              <a:srgbClr val="0065BD">
                <a:alpha val="100000"/>
              </a:srgbClr>
            </a:solidFill>
            <a:ln cap="flat">
              <a:noFill/>
              <a:prstDash val="solid"/>
              <a:miter lim="0"/>
            </a:ln>
          </p:spPr>
          <p:txBody>
            <a:bodyPr rtlCol="0"/>
            <a:lstStyle/>
            <a:p>
              <a:pPr algn="ctr"/>
              <a:endParaRPr lang="zh-CN" altLang="en-US"/>
            </a:p>
          </p:txBody>
        </p:sp>
        <p:sp>
          <p:nvSpPr>
            <p:cNvPr id="367" name="path"/>
            <p:cNvSpPr/>
            <p:nvPr/>
          </p:nvSpPr>
          <p:spPr>
            <a:xfrm>
              <a:off x="0" y="0"/>
              <a:ext cx="626364" cy="269747"/>
            </a:xfrm>
            <a:custGeom>
              <a:avLst/>
              <a:gdLst/>
              <a:ahLst/>
              <a:cxnLst/>
              <a:rect l="0" t="0" r="0" b="0"/>
              <a:pathLst>
                <a:path w="986" h="424">
                  <a:moveTo>
                    <a:pt x="15" y="212"/>
                  </a:moveTo>
                  <a:cubicBezTo>
                    <a:pt x="15" y="103"/>
                    <a:pt x="229" y="15"/>
                    <a:pt x="493" y="15"/>
                  </a:cubicBezTo>
                  <a:cubicBezTo>
                    <a:pt x="757" y="15"/>
                    <a:pt x="970" y="103"/>
                    <a:pt x="970" y="212"/>
                  </a:cubicBezTo>
                  <a:cubicBezTo>
                    <a:pt x="970" y="320"/>
                    <a:pt x="757" y="409"/>
                    <a:pt x="493" y="409"/>
                  </a:cubicBezTo>
                  <a:cubicBezTo>
                    <a:pt x="229" y="409"/>
                    <a:pt x="15" y="320"/>
                    <a:pt x="15" y="212"/>
                  </a:cubicBezTo>
                </a:path>
              </a:pathLst>
            </a:custGeom>
            <a:noFill/>
            <a:ln w="19811" cap="flat">
              <a:solidFill>
                <a:srgbClr val="FFFFFF">
                  <a:alpha val="100000"/>
                </a:srgbClr>
              </a:solidFill>
              <a:prstDash val="solid"/>
              <a:round/>
            </a:ln>
          </p:spPr>
          <p:txBody>
            <a:bodyPr rtlCol="0"/>
            <a:lstStyle/>
            <a:p>
              <a:pPr algn="ctr"/>
              <a:endParaRPr lang="zh-CN" altLang="en-US"/>
            </a:p>
          </p:txBody>
        </p:sp>
      </p:grpSp>
      <p:grpSp>
        <p:nvGrpSpPr>
          <p:cNvPr id="72" name="group 72"/>
          <p:cNvGrpSpPr/>
          <p:nvPr/>
        </p:nvGrpSpPr>
        <p:grpSpPr>
          <a:xfrm rot="21600000">
            <a:off x="2828544" y="2566416"/>
            <a:ext cx="626364" cy="269747"/>
            <a:chOff x="0" y="0"/>
            <a:chExt cx="626364" cy="269747"/>
          </a:xfrm>
        </p:grpSpPr>
        <p:grpSp>
          <p:nvGrpSpPr>
            <p:cNvPr id="74" name="group 74"/>
            <p:cNvGrpSpPr/>
            <p:nvPr/>
          </p:nvGrpSpPr>
          <p:grpSpPr>
            <a:xfrm rot="21600000">
              <a:off x="0" y="0"/>
              <a:ext cx="626364" cy="269747"/>
              <a:chOff x="0" y="0"/>
              <a:chExt cx="626364" cy="269747"/>
            </a:xfrm>
          </p:grpSpPr>
          <p:sp>
            <p:nvSpPr>
              <p:cNvPr id="368" name="path"/>
              <p:cNvSpPr/>
              <p:nvPr/>
            </p:nvSpPr>
            <p:spPr>
              <a:xfrm>
                <a:off x="9905" y="9905"/>
                <a:ext cx="606552" cy="249935"/>
              </a:xfrm>
              <a:custGeom>
                <a:avLst/>
                <a:gdLst/>
                <a:ahLst/>
                <a:cxnLst/>
                <a:rect l="0" t="0" r="0" b="0"/>
                <a:pathLst>
                  <a:path w="955" h="393">
                    <a:moveTo>
                      <a:pt x="0" y="196"/>
                    </a:moveTo>
                    <a:cubicBezTo>
                      <a:pt x="0" y="88"/>
                      <a:pt x="213" y="0"/>
                      <a:pt x="477" y="0"/>
                    </a:cubicBezTo>
                    <a:cubicBezTo>
                      <a:pt x="741" y="0"/>
                      <a:pt x="955" y="88"/>
                      <a:pt x="955" y="196"/>
                    </a:cubicBezTo>
                    <a:cubicBezTo>
                      <a:pt x="955" y="305"/>
                      <a:pt x="741" y="393"/>
                      <a:pt x="477" y="393"/>
                    </a:cubicBezTo>
                    <a:cubicBezTo>
                      <a:pt x="213" y="393"/>
                      <a:pt x="0" y="305"/>
                      <a:pt x="0" y="196"/>
                    </a:cubicBezTo>
                  </a:path>
                </a:pathLst>
              </a:custGeom>
              <a:solidFill>
                <a:srgbClr val="0065BD">
                  <a:alpha val="100000"/>
                </a:srgbClr>
              </a:solidFill>
              <a:ln cap="flat">
                <a:noFill/>
                <a:prstDash val="solid"/>
                <a:miter lim="0"/>
              </a:ln>
            </p:spPr>
            <p:txBody>
              <a:bodyPr rtlCol="0"/>
              <a:lstStyle/>
              <a:p>
                <a:pPr algn="ctr"/>
                <a:endParaRPr lang="zh-CN" altLang="en-US"/>
              </a:p>
            </p:txBody>
          </p:sp>
          <p:sp>
            <p:nvSpPr>
              <p:cNvPr id="369" name="path"/>
              <p:cNvSpPr/>
              <p:nvPr/>
            </p:nvSpPr>
            <p:spPr>
              <a:xfrm>
                <a:off x="0" y="0"/>
                <a:ext cx="626364" cy="269747"/>
              </a:xfrm>
              <a:custGeom>
                <a:avLst/>
                <a:gdLst/>
                <a:ahLst/>
                <a:cxnLst/>
                <a:rect l="0" t="0" r="0" b="0"/>
                <a:pathLst>
                  <a:path w="986" h="424">
                    <a:moveTo>
                      <a:pt x="15" y="212"/>
                    </a:moveTo>
                    <a:cubicBezTo>
                      <a:pt x="15" y="103"/>
                      <a:pt x="229" y="15"/>
                      <a:pt x="493" y="15"/>
                    </a:cubicBezTo>
                    <a:cubicBezTo>
                      <a:pt x="757" y="15"/>
                      <a:pt x="970" y="103"/>
                      <a:pt x="970" y="212"/>
                    </a:cubicBezTo>
                    <a:cubicBezTo>
                      <a:pt x="970" y="320"/>
                      <a:pt x="757" y="409"/>
                      <a:pt x="493" y="409"/>
                    </a:cubicBezTo>
                    <a:cubicBezTo>
                      <a:pt x="229" y="409"/>
                      <a:pt x="15" y="320"/>
                      <a:pt x="15" y="212"/>
                    </a:cubicBezTo>
                  </a:path>
                </a:pathLst>
              </a:custGeom>
              <a:noFill/>
              <a:ln w="19811" cap="flat">
                <a:solidFill>
                  <a:srgbClr val="FFFFFF">
                    <a:alpha val="100000"/>
                  </a:srgbClr>
                </a:solidFill>
                <a:prstDash val="solid"/>
                <a:round/>
              </a:ln>
            </p:spPr>
            <p:txBody>
              <a:bodyPr rtlCol="0"/>
              <a:lstStyle/>
              <a:p>
                <a:pPr algn="ctr"/>
                <a:endParaRPr lang="zh-CN" altLang="en-US"/>
              </a:p>
            </p:txBody>
          </p:sp>
        </p:grpSp>
        <p:sp>
          <p:nvSpPr>
            <p:cNvPr id="370" name="textbox 370"/>
            <p:cNvSpPr/>
            <p:nvPr/>
          </p:nvSpPr>
          <p:spPr>
            <a:xfrm>
              <a:off x="-12700" y="-12700"/>
              <a:ext cx="652144" cy="335915"/>
            </a:xfrm>
            <a:prstGeom prst="rect">
              <a:avLst/>
            </a:prstGeom>
          </p:spPr>
          <p:txBody>
            <a:bodyPr vert="horz" wrap="square" lIns="0" tIns="0" rIns="0" bIns="0"/>
            <a:lstStyle/>
            <a:p>
              <a:pPr algn="l" rtl="0" eaLnBrk="0">
                <a:lnSpc>
                  <a:spcPct val="111000"/>
                </a:lnSpc>
              </a:pPr>
              <a:endParaRPr lang="en-US" altLang="en-US" sz="500" dirty="0">
                <a:latin typeface="微软雅黑" panose="020B0503020204020204" charset="-122"/>
                <a:ea typeface="微软雅黑" panose="020B0503020204020204" charset="-122"/>
              </a:endParaRPr>
            </a:p>
            <a:p>
              <a:pPr marL="232410" algn="l" rtl="0" eaLnBrk="0">
                <a:lnSpc>
                  <a:spcPct val="80000"/>
                </a:lnSpc>
                <a:spcBef>
                  <a:spcPts val="5"/>
                </a:spcBef>
              </a:pPr>
              <a:r>
                <a:rPr sz="1400" b="1" spc="-20" dirty="0">
                  <a:solidFill>
                    <a:srgbClr val="FFFFFF">
                      <a:alpha val="100000"/>
                    </a:srgbClr>
                  </a:solidFill>
                  <a:latin typeface="微软雅黑" panose="020B0503020204020204" charset="-122"/>
                  <a:ea typeface="微软雅黑" panose="020B0503020204020204" charset="-122"/>
                  <a:cs typeface="Arial" panose="020B0604020202020204"/>
                </a:rPr>
                <a:t>3</a:t>
              </a:r>
              <a:r>
                <a:rPr sz="1400" b="1" spc="-10" dirty="0">
                  <a:solidFill>
                    <a:srgbClr val="FFFFFF">
                      <a:alpha val="100000"/>
                    </a:srgbClr>
                  </a:solidFill>
                  <a:latin typeface="微软雅黑" panose="020B0503020204020204" charset="-122"/>
                  <a:ea typeface="微软雅黑" panose="020B0503020204020204" charset="-122"/>
                  <a:cs typeface="Arial" panose="020B0604020202020204"/>
                </a:rPr>
                <a:t>1</a:t>
              </a:r>
              <a:endParaRPr lang="en-US" altLang="en-US" sz="1400" dirty="0">
                <a:latin typeface="微软雅黑" panose="020B0503020204020204" charset="-122"/>
                <a:ea typeface="微软雅黑" panose="020B0503020204020204" charset="-122"/>
              </a:endParaRPr>
            </a:p>
          </p:txBody>
        </p:sp>
      </p:grpSp>
      <p:grpSp>
        <p:nvGrpSpPr>
          <p:cNvPr id="76" name="group 76"/>
          <p:cNvGrpSpPr/>
          <p:nvPr/>
        </p:nvGrpSpPr>
        <p:grpSpPr>
          <a:xfrm rot="21600000">
            <a:off x="2778252" y="5113020"/>
            <a:ext cx="617219" cy="259080"/>
            <a:chOff x="0" y="0"/>
            <a:chExt cx="617219" cy="259080"/>
          </a:xfrm>
        </p:grpSpPr>
        <p:grpSp>
          <p:nvGrpSpPr>
            <p:cNvPr id="78" name="group 78"/>
            <p:cNvGrpSpPr/>
            <p:nvPr/>
          </p:nvGrpSpPr>
          <p:grpSpPr>
            <a:xfrm rot="21600000">
              <a:off x="0" y="0"/>
              <a:ext cx="617219" cy="259080"/>
              <a:chOff x="0" y="0"/>
              <a:chExt cx="617219" cy="259080"/>
            </a:xfrm>
          </p:grpSpPr>
          <p:sp>
            <p:nvSpPr>
              <p:cNvPr id="371" name="path"/>
              <p:cNvSpPr/>
              <p:nvPr/>
            </p:nvSpPr>
            <p:spPr>
              <a:xfrm>
                <a:off x="4572" y="4572"/>
                <a:ext cx="608075" cy="249936"/>
              </a:xfrm>
              <a:custGeom>
                <a:avLst/>
                <a:gdLst/>
                <a:ahLst/>
                <a:cxnLst/>
                <a:rect l="0" t="0" r="0" b="0"/>
                <a:pathLst>
                  <a:path w="957" h="393">
                    <a:moveTo>
                      <a:pt x="0" y="196"/>
                    </a:moveTo>
                    <a:cubicBezTo>
                      <a:pt x="0" y="88"/>
                      <a:pt x="214" y="0"/>
                      <a:pt x="478" y="0"/>
                    </a:cubicBezTo>
                    <a:cubicBezTo>
                      <a:pt x="743" y="0"/>
                      <a:pt x="957" y="88"/>
                      <a:pt x="957" y="196"/>
                    </a:cubicBezTo>
                    <a:cubicBezTo>
                      <a:pt x="957" y="305"/>
                      <a:pt x="743" y="393"/>
                      <a:pt x="478" y="393"/>
                    </a:cubicBezTo>
                    <a:cubicBezTo>
                      <a:pt x="214" y="393"/>
                      <a:pt x="0" y="305"/>
                      <a:pt x="0" y="196"/>
                    </a:cubicBezTo>
                  </a:path>
                </a:pathLst>
              </a:custGeom>
              <a:solidFill>
                <a:srgbClr val="0065BD">
                  <a:alpha val="100000"/>
                </a:srgbClr>
              </a:solidFill>
              <a:ln cap="flat">
                <a:noFill/>
                <a:prstDash val="solid"/>
                <a:miter lim="0"/>
              </a:ln>
            </p:spPr>
            <p:txBody>
              <a:bodyPr rtlCol="0"/>
              <a:lstStyle/>
              <a:p>
                <a:pPr algn="ctr"/>
                <a:endParaRPr lang="zh-CN" altLang="en-US"/>
              </a:p>
            </p:txBody>
          </p:sp>
          <p:sp>
            <p:nvSpPr>
              <p:cNvPr id="372" name="path"/>
              <p:cNvSpPr/>
              <p:nvPr/>
            </p:nvSpPr>
            <p:spPr>
              <a:xfrm>
                <a:off x="0" y="0"/>
                <a:ext cx="617219" cy="259080"/>
              </a:xfrm>
              <a:custGeom>
                <a:avLst/>
                <a:gdLst/>
                <a:ahLst/>
                <a:cxnLst/>
                <a:rect l="0" t="0" r="0" b="0"/>
                <a:pathLst>
                  <a:path w="971" h="408">
                    <a:moveTo>
                      <a:pt x="7" y="203"/>
                    </a:moveTo>
                    <a:cubicBezTo>
                      <a:pt x="7" y="95"/>
                      <a:pt x="221" y="7"/>
                      <a:pt x="485" y="7"/>
                    </a:cubicBezTo>
                    <a:cubicBezTo>
                      <a:pt x="750" y="7"/>
                      <a:pt x="964" y="95"/>
                      <a:pt x="964" y="203"/>
                    </a:cubicBezTo>
                    <a:cubicBezTo>
                      <a:pt x="964" y="312"/>
                      <a:pt x="750" y="400"/>
                      <a:pt x="485" y="400"/>
                    </a:cubicBezTo>
                    <a:cubicBezTo>
                      <a:pt x="221" y="400"/>
                      <a:pt x="7" y="312"/>
                      <a:pt x="7" y="203"/>
                    </a:cubicBezTo>
                  </a:path>
                </a:pathLst>
              </a:custGeom>
              <a:noFill/>
              <a:ln w="9143" cap="flat">
                <a:solidFill>
                  <a:srgbClr val="FFFFFF">
                    <a:alpha val="100000"/>
                  </a:srgbClr>
                </a:solidFill>
                <a:prstDash val="solid"/>
                <a:round/>
              </a:ln>
            </p:spPr>
            <p:txBody>
              <a:bodyPr rtlCol="0"/>
              <a:lstStyle/>
              <a:p>
                <a:pPr algn="ctr"/>
                <a:endParaRPr lang="zh-CN" altLang="en-US"/>
              </a:p>
            </p:txBody>
          </p:sp>
        </p:grpSp>
        <p:sp>
          <p:nvSpPr>
            <p:cNvPr id="373" name="textbox 373"/>
            <p:cNvSpPr/>
            <p:nvPr/>
          </p:nvSpPr>
          <p:spPr>
            <a:xfrm>
              <a:off x="-12700" y="-12700"/>
              <a:ext cx="642619" cy="325120"/>
            </a:xfrm>
            <a:prstGeom prst="rect">
              <a:avLst/>
            </a:prstGeom>
          </p:spPr>
          <p:txBody>
            <a:bodyPr vert="horz" wrap="square" lIns="0" tIns="0" rIns="0" bIns="0"/>
            <a:lstStyle/>
            <a:p>
              <a:pPr algn="l" rtl="0" eaLnBrk="0">
                <a:lnSpc>
                  <a:spcPct val="105000"/>
                </a:lnSpc>
              </a:pPr>
              <a:endParaRPr lang="en-US" altLang="en-US" sz="500" dirty="0">
                <a:latin typeface="微软雅黑" panose="020B0503020204020204" charset="-122"/>
                <a:ea typeface="微软雅黑" panose="020B0503020204020204" charset="-122"/>
              </a:endParaRPr>
            </a:p>
            <a:p>
              <a:pPr marL="226060" algn="l" rtl="0" eaLnBrk="0">
                <a:lnSpc>
                  <a:spcPct val="80000"/>
                </a:lnSpc>
                <a:spcBef>
                  <a:spcPts val="5"/>
                </a:spcBef>
              </a:pPr>
              <a:r>
                <a:rPr sz="1400" b="1" spc="-10" dirty="0">
                  <a:solidFill>
                    <a:srgbClr val="FFFFFF">
                      <a:alpha val="100000"/>
                    </a:srgbClr>
                  </a:solidFill>
                  <a:latin typeface="微软雅黑" panose="020B0503020204020204" charset="-122"/>
                  <a:ea typeface="微软雅黑" panose="020B0503020204020204" charset="-122"/>
                  <a:cs typeface="Arial" panose="020B0604020202020204"/>
                </a:rPr>
                <a:t>49</a:t>
              </a:r>
              <a:endParaRPr lang="en-US" altLang="en-US" sz="1400" dirty="0">
                <a:latin typeface="微软雅黑" panose="020B0503020204020204" charset="-122"/>
                <a:ea typeface="微软雅黑" panose="020B0503020204020204" charset="-122"/>
              </a:endParaRPr>
            </a:p>
          </p:txBody>
        </p:sp>
      </p:grpSp>
      <p:grpSp>
        <p:nvGrpSpPr>
          <p:cNvPr id="80" name="group 80"/>
          <p:cNvGrpSpPr/>
          <p:nvPr/>
        </p:nvGrpSpPr>
        <p:grpSpPr>
          <a:xfrm rot="21600000">
            <a:off x="4245864" y="5113020"/>
            <a:ext cx="615695" cy="259080"/>
            <a:chOff x="0" y="0"/>
            <a:chExt cx="615695" cy="259080"/>
          </a:xfrm>
        </p:grpSpPr>
        <p:grpSp>
          <p:nvGrpSpPr>
            <p:cNvPr id="82" name="group 82"/>
            <p:cNvGrpSpPr/>
            <p:nvPr/>
          </p:nvGrpSpPr>
          <p:grpSpPr>
            <a:xfrm rot="21600000">
              <a:off x="0" y="0"/>
              <a:ext cx="615695" cy="259080"/>
              <a:chOff x="0" y="0"/>
              <a:chExt cx="615695" cy="259080"/>
            </a:xfrm>
          </p:grpSpPr>
          <p:sp>
            <p:nvSpPr>
              <p:cNvPr id="374" name="path"/>
              <p:cNvSpPr/>
              <p:nvPr/>
            </p:nvSpPr>
            <p:spPr>
              <a:xfrm>
                <a:off x="4571" y="4572"/>
                <a:ext cx="606552" cy="249936"/>
              </a:xfrm>
              <a:custGeom>
                <a:avLst/>
                <a:gdLst/>
                <a:ahLst/>
                <a:cxnLst/>
                <a:rect l="0" t="0" r="0" b="0"/>
                <a:pathLst>
                  <a:path w="955" h="393">
                    <a:moveTo>
                      <a:pt x="0" y="196"/>
                    </a:moveTo>
                    <a:cubicBezTo>
                      <a:pt x="0" y="88"/>
                      <a:pt x="213" y="0"/>
                      <a:pt x="477" y="0"/>
                    </a:cubicBezTo>
                    <a:cubicBezTo>
                      <a:pt x="741" y="0"/>
                      <a:pt x="955" y="88"/>
                      <a:pt x="955" y="196"/>
                    </a:cubicBezTo>
                    <a:cubicBezTo>
                      <a:pt x="955" y="305"/>
                      <a:pt x="741" y="393"/>
                      <a:pt x="477" y="393"/>
                    </a:cubicBezTo>
                    <a:cubicBezTo>
                      <a:pt x="213" y="393"/>
                      <a:pt x="0" y="305"/>
                      <a:pt x="0" y="196"/>
                    </a:cubicBezTo>
                  </a:path>
                </a:pathLst>
              </a:custGeom>
              <a:solidFill>
                <a:srgbClr val="0065BD">
                  <a:alpha val="100000"/>
                </a:srgbClr>
              </a:solidFill>
              <a:ln cap="flat">
                <a:noFill/>
                <a:prstDash val="solid"/>
                <a:miter lim="0"/>
              </a:ln>
            </p:spPr>
            <p:txBody>
              <a:bodyPr rtlCol="0"/>
              <a:lstStyle/>
              <a:p>
                <a:pPr algn="ctr"/>
                <a:endParaRPr lang="zh-CN" altLang="en-US"/>
              </a:p>
            </p:txBody>
          </p:sp>
          <p:sp>
            <p:nvSpPr>
              <p:cNvPr id="375" name="path"/>
              <p:cNvSpPr/>
              <p:nvPr/>
            </p:nvSpPr>
            <p:spPr>
              <a:xfrm>
                <a:off x="0" y="0"/>
                <a:ext cx="615695" cy="259080"/>
              </a:xfrm>
              <a:custGeom>
                <a:avLst/>
                <a:gdLst/>
                <a:ahLst/>
                <a:cxnLst/>
                <a:rect l="0" t="0" r="0" b="0"/>
                <a:pathLst>
                  <a:path w="969" h="408">
                    <a:moveTo>
                      <a:pt x="7" y="203"/>
                    </a:moveTo>
                    <a:cubicBezTo>
                      <a:pt x="7" y="95"/>
                      <a:pt x="220" y="7"/>
                      <a:pt x="484" y="7"/>
                    </a:cubicBezTo>
                    <a:cubicBezTo>
                      <a:pt x="748" y="7"/>
                      <a:pt x="962" y="95"/>
                      <a:pt x="962" y="203"/>
                    </a:cubicBezTo>
                    <a:cubicBezTo>
                      <a:pt x="962" y="312"/>
                      <a:pt x="748" y="400"/>
                      <a:pt x="484" y="400"/>
                    </a:cubicBezTo>
                    <a:cubicBezTo>
                      <a:pt x="220" y="400"/>
                      <a:pt x="7" y="312"/>
                      <a:pt x="7" y="203"/>
                    </a:cubicBezTo>
                  </a:path>
                </a:pathLst>
              </a:custGeom>
              <a:noFill/>
              <a:ln w="9143" cap="flat">
                <a:solidFill>
                  <a:srgbClr val="FFFFFF">
                    <a:alpha val="100000"/>
                  </a:srgbClr>
                </a:solidFill>
                <a:prstDash val="solid"/>
                <a:round/>
              </a:ln>
            </p:spPr>
            <p:txBody>
              <a:bodyPr rtlCol="0"/>
              <a:lstStyle/>
              <a:p>
                <a:pPr algn="ctr"/>
                <a:endParaRPr lang="zh-CN" altLang="en-US"/>
              </a:p>
            </p:txBody>
          </p:sp>
        </p:grpSp>
        <p:sp>
          <p:nvSpPr>
            <p:cNvPr id="376" name="textbox 376"/>
            <p:cNvSpPr/>
            <p:nvPr/>
          </p:nvSpPr>
          <p:spPr>
            <a:xfrm>
              <a:off x="-12700" y="-12700"/>
              <a:ext cx="641350" cy="327659"/>
            </a:xfrm>
            <a:prstGeom prst="rect">
              <a:avLst/>
            </a:prstGeom>
          </p:spPr>
          <p:txBody>
            <a:bodyPr vert="horz" wrap="square" lIns="0" tIns="0" rIns="0" bIns="0"/>
            <a:lstStyle/>
            <a:p>
              <a:pPr algn="l" rtl="0" eaLnBrk="0">
                <a:lnSpc>
                  <a:spcPct val="108000"/>
                </a:lnSpc>
              </a:pPr>
              <a:endParaRPr lang="en-US" altLang="en-US" sz="500" dirty="0">
                <a:latin typeface="微软雅黑" panose="020B0503020204020204" charset="-122"/>
                <a:ea typeface="微软雅黑" panose="020B0503020204020204" charset="-122"/>
              </a:endParaRPr>
            </a:p>
            <a:p>
              <a:pPr marL="278765" algn="l" rtl="0" eaLnBrk="0">
                <a:lnSpc>
                  <a:spcPct val="79000"/>
                </a:lnSpc>
                <a:spcBef>
                  <a:spcPts val="5"/>
                </a:spcBef>
              </a:pPr>
              <a:r>
                <a:rPr sz="1400" b="1" spc="0" dirty="0">
                  <a:solidFill>
                    <a:srgbClr val="FFFFFF">
                      <a:alpha val="100000"/>
                    </a:srgbClr>
                  </a:solidFill>
                  <a:latin typeface="微软雅黑" panose="020B0503020204020204" charset="-122"/>
                  <a:ea typeface="微软雅黑" panose="020B0503020204020204" charset="-122"/>
                  <a:cs typeface="Arial" panose="020B0604020202020204"/>
                </a:rPr>
                <a:t>7</a:t>
              </a:r>
              <a:endParaRPr lang="en-US" altLang="en-US" sz="1400" dirty="0">
                <a:latin typeface="微软雅黑" panose="020B0503020204020204" charset="-122"/>
                <a:ea typeface="微软雅黑" panose="020B0503020204020204" charset="-122"/>
              </a:endParaRPr>
            </a:p>
          </p:txBody>
        </p:sp>
      </p:grpSp>
      <p:sp>
        <p:nvSpPr>
          <p:cNvPr id="377" name="textbox 377"/>
          <p:cNvSpPr/>
          <p:nvPr/>
        </p:nvSpPr>
        <p:spPr>
          <a:xfrm>
            <a:off x="728815" y="1504437"/>
            <a:ext cx="910589" cy="229234"/>
          </a:xfrm>
          <a:prstGeom prst="rect">
            <a:avLst/>
          </a:prstGeom>
        </p:spPr>
        <p:txBody>
          <a:bodyPr vert="horz" wrap="square" lIns="0" tIns="0" rIns="0" bIns="0"/>
          <a:lstStyle/>
          <a:p>
            <a:pPr algn="l" rtl="0" eaLnBrk="0">
              <a:lnSpc>
                <a:spcPct val="90000"/>
              </a:lnSpc>
            </a:pPr>
            <a:endParaRPr lang="en-US" altLang="en-US" sz="100" dirty="0">
              <a:latin typeface="微软雅黑" panose="020B0503020204020204" charset="-122"/>
              <a:ea typeface="微软雅黑" panose="020B0503020204020204" charset="-122"/>
            </a:endParaRPr>
          </a:p>
          <a:p>
            <a:pPr marL="12700" algn="l" rtl="0" eaLnBrk="0">
              <a:lnSpc>
                <a:spcPct val="95000"/>
              </a:lnSpc>
            </a:pPr>
            <a:r>
              <a:rPr sz="1400" spc="-10" dirty="0">
                <a:ln w="5094" cap="flat" cmpd="sng">
                  <a:solidFill>
                    <a:srgbClr val="002960">
                      <a:alpha val="100000"/>
                    </a:srgbClr>
                  </a:solidFill>
                  <a:prstDash val="solid"/>
                  <a:round/>
                </a:ln>
                <a:solidFill>
                  <a:srgbClr val="002960">
                    <a:alpha val="100000"/>
                  </a:srgbClr>
                </a:solidFill>
                <a:latin typeface="微软雅黑" panose="020B0503020204020204" charset="-122"/>
                <a:ea typeface="微软雅黑" panose="020B0503020204020204" charset="-122"/>
                <a:cs typeface="楷体" panose="02010609060101010101" charset="-122"/>
              </a:rPr>
              <a:t>进攻型</a:t>
            </a:r>
            <a:r>
              <a:rPr sz="1400" spc="0" dirty="0">
                <a:ln w="5094" cap="flat" cmpd="sng">
                  <a:solidFill>
                    <a:srgbClr val="002960">
                      <a:alpha val="100000"/>
                    </a:srgbClr>
                  </a:solidFill>
                  <a:prstDash val="solid"/>
                  <a:round/>
                </a:ln>
                <a:solidFill>
                  <a:srgbClr val="002960">
                    <a:alpha val="100000"/>
                  </a:srgbClr>
                </a:solidFill>
                <a:latin typeface="微软雅黑" panose="020B0503020204020204" charset="-122"/>
                <a:ea typeface="微软雅黑" panose="020B0503020204020204" charset="-122"/>
                <a:cs typeface="楷体" panose="02010609060101010101" charset="-122"/>
              </a:rPr>
              <a:t>客户</a:t>
            </a:r>
            <a:endParaRPr lang="en-US" altLang="en-US" sz="1400" dirty="0">
              <a:latin typeface="微软雅黑" panose="020B0503020204020204" charset="-122"/>
              <a:ea typeface="微软雅黑" panose="020B0503020204020204" charset="-122"/>
            </a:endParaRPr>
          </a:p>
        </p:txBody>
      </p:sp>
      <p:sp>
        <p:nvSpPr>
          <p:cNvPr id="378" name="textbox 378"/>
          <p:cNvSpPr/>
          <p:nvPr/>
        </p:nvSpPr>
        <p:spPr>
          <a:xfrm>
            <a:off x="7171835" y="1504437"/>
            <a:ext cx="909319" cy="229234"/>
          </a:xfrm>
          <a:prstGeom prst="rect">
            <a:avLst/>
          </a:prstGeom>
        </p:spPr>
        <p:txBody>
          <a:bodyPr vert="horz" wrap="square" lIns="0" tIns="0" rIns="0" bIns="0"/>
          <a:lstStyle/>
          <a:p>
            <a:pPr algn="l" rtl="0" eaLnBrk="0">
              <a:lnSpc>
                <a:spcPct val="90000"/>
              </a:lnSpc>
            </a:pPr>
            <a:endParaRPr lang="en-US" altLang="en-US" sz="100" dirty="0">
              <a:latin typeface="微软雅黑" panose="020B0503020204020204" charset="-122"/>
              <a:ea typeface="微软雅黑" panose="020B0503020204020204" charset="-122"/>
            </a:endParaRPr>
          </a:p>
          <a:p>
            <a:pPr marL="12700" algn="l" rtl="0" eaLnBrk="0">
              <a:lnSpc>
                <a:spcPct val="95000"/>
              </a:lnSpc>
            </a:pPr>
            <a:r>
              <a:rPr sz="1400" spc="-10" dirty="0">
                <a:ln w="5094" cap="flat" cmpd="sng">
                  <a:solidFill>
                    <a:srgbClr val="002960">
                      <a:alpha val="100000"/>
                    </a:srgbClr>
                  </a:solidFill>
                  <a:prstDash val="solid"/>
                  <a:round/>
                </a:ln>
                <a:solidFill>
                  <a:srgbClr val="002960">
                    <a:alpha val="100000"/>
                  </a:srgbClr>
                </a:solidFill>
                <a:latin typeface="微软雅黑" panose="020B0503020204020204" charset="-122"/>
                <a:ea typeface="微软雅黑" panose="020B0503020204020204" charset="-122"/>
                <a:cs typeface="楷体" panose="02010609060101010101" charset="-122"/>
              </a:rPr>
              <a:t>优先型客</a:t>
            </a:r>
            <a:r>
              <a:rPr sz="1400" spc="0" dirty="0">
                <a:ln w="5094" cap="flat" cmpd="sng">
                  <a:solidFill>
                    <a:srgbClr val="002960">
                      <a:alpha val="100000"/>
                    </a:srgbClr>
                  </a:solidFill>
                  <a:prstDash val="solid"/>
                  <a:round/>
                </a:ln>
                <a:solidFill>
                  <a:srgbClr val="002960">
                    <a:alpha val="100000"/>
                  </a:srgbClr>
                </a:solidFill>
                <a:latin typeface="微软雅黑" panose="020B0503020204020204" charset="-122"/>
                <a:ea typeface="微软雅黑" panose="020B0503020204020204" charset="-122"/>
                <a:cs typeface="楷体" panose="02010609060101010101" charset="-122"/>
              </a:rPr>
              <a:t>户</a:t>
            </a:r>
            <a:endParaRPr lang="en-US" altLang="en-US" sz="1400" dirty="0">
              <a:latin typeface="微软雅黑" panose="020B0503020204020204" charset="-122"/>
              <a:ea typeface="微软雅黑" panose="020B0503020204020204" charset="-122"/>
            </a:endParaRPr>
          </a:p>
        </p:txBody>
      </p:sp>
      <p:sp>
        <p:nvSpPr>
          <p:cNvPr id="379" name="textbox 379"/>
          <p:cNvSpPr/>
          <p:nvPr/>
        </p:nvSpPr>
        <p:spPr>
          <a:xfrm>
            <a:off x="8818509" y="1037437"/>
            <a:ext cx="114935" cy="1840229"/>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endParaRPr sz="600" spc="0" dirty="0">
              <a:solidFill>
                <a:srgbClr val="808080">
                  <a:alpha val="100000"/>
                </a:srgbClr>
              </a:solidFill>
              <a:latin typeface="Arial" panose="020B0604020202020204"/>
              <a:ea typeface="Arial" panose="020B0604020202020204"/>
              <a:cs typeface="Arial" panose="020B0604020202020204"/>
            </a:endParaRPr>
          </a:p>
        </p:txBody>
      </p:sp>
      <p:sp>
        <p:nvSpPr>
          <p:cNvPr id="380" name="textbox 380"/>
          <p:cNvSpPr/>
          <p:nvPr/>
        </p:nvSpPr>
        <p:spPr>
          <a:xfrm>
            <a:off x="4660681" y="710112"/>
            <a:ext cx="1019175" cy="168275"/>
          </a:xfrm>
          <a:prstGeom prst="rect">
            <a:avLst/>
          </a:prstGeom>
        </p:spPr>
        <p:txBody>
          <a:bodyPr vert="horz" wrap="square" lIns="0" tIns="0" rIns="0" bIns="0"/>
          <a:lstStyle/>
          <a:p>
            <a:pPr algn="l" rtl="0" eaLnBrk="0">
              <a:lnSpc>
                <a:spcPct val="83000"/>
              </a:lnSpc>
            </a:pPr>
            <a:endParaRPr lang="en-US" altLang="en-US" sz="100" dirty="0">
              <a:latin typeface="微软雅黑" panose="020B0503020204020204" charset="-122"/>
              <a:ea typeface="微软雅黑" panose="020B0503020204020204" charset="-122"/>
            </a:endParaRPr>
          </a:p>
          <a:p>
            <a:pPr marL="12700" algn="l" rtl="0" eaLnBrk="0">
              <a:lnSpc>
                <a:spcPts val="1125"/>
              </a:lnSpc>
            </a:pPr>
            <a:r>
              <a:rPr sz="900" spc="80" dirty="0">
                <a:solidFill>
                  <a:srgbClr val="000000">
                    <a:alpha val="100000"/>
                  </a:srgbClr>
                </a:solidFill>
                <a:latin typeface="微软雅黑" panose="020B0503020204020204" charset="-122"/>
                <a:ea typeface="微软雅黑" panose="020B0503020204020204" charset="-122"/>
                <a:cs typeface="楷体" panose="02010609060101010101" charset="-122"/>
              </a:rPr>
              <a:t>占客户总数百分</a:t>
            </a:r>
            <a:r>
              <a:rPr sz="900" spc="60" dirty="0">
                <a:solidFill>
                  <a:srgbClr val="000000">
                    <a:alpha val="100000"/>
                  </a:srgbClr>
                </a:solidFill>
                <a:latin typeface="微软雅黑" panose="020B0503020204020204" charset="-122"/>
                <a:ea typeface="微软雅黑" panose="020B0503020204020204" charset="-122"/>
                <a:cs typeface="楷体" panose="02010609060101010101" charset="-122"/>
              </a:rPr>
              <a:t>比</a:t>
            </a:r>
            <a:endParaRPr lang="en-US" altLang="en-US" sz="900" dirty="0">
              <a:latin typeface="微软雅黑" panose="020B0503020204020204" charset="-122"/>
              <a:ea typeface="微软雅黑" panose="020B0503020204020204" charset="-122"/>
            </a:endParaRPr>
          </a:p>
        </p:txBody>
      </p:sp>
      <p:sp>
        <p:nvSpPr>
          <p:cNvPr id="381" name="textbox 381"/>
          <p:cNvSpPr/>
          <p:nvPr/>
        </p:nvSpPr>
        <p:spPr>
          <a:xfrm>
            <a:off x="6937537" y="710112"/>
            <a:ext cx="1019175" cy="166370"/>
          </a:xfrm>
          <a:prstGeom prst="rect">
            <a:avLst/>
          </a:prstGeom>
        </p:spPr>
        <p:txBody>
          <a:bodyPr vert="horz" wrap="square" lIns="0" tIns="0" rIns="0" bIns="0"/>
          <a:lstStyle/>
          <a:p>
            <a:pPr algn="l" rtl="0" eaLnBrk="0">
              <a:lnSpc>
                <a:spcPct val="83000"/>
              </a:lnSpc>
            </a:pPr>
            <a:endParaRPr lang="en-US" altLang="en-US" sz="100" dirty="0">
              <a:latin typeface="微软雅黑" panose="020B0503020204020204" charset="-122"/>
              <a:ea typeface="微软雅黑" panose="020B0503020204020204" charset="-122"/>
            </a:endParaRPr>
          </a:p>
          <a:p>
            <a:pPr marL="12700" algn="l" rtl="0" eaLnBrk="0">
              <a:lnSpc>
                <a:spcPts val="1105"/>
              </a:lnSpc>
            </a:pPr>
            <a:r>
              <a:rPr sz="900" spc="80" dirty="0">
                <a:solidFill>
                  <a:srgbClr val="000000">
                    <a:alpha val="100000"/>
                  </a:srgbClr>
                </a:solidFill>
                <a:latin typeface="微软雅黑" panose="020B0503020204020204" charset="-122"/>
                <a:ea typeface="微软雅黑" panose="020B0503020204020204" charset="-122"/>
                <a:cs typeface="楷体" panose="02010609060101010101" charset="-122"/>
              </a:rPr>
              <a:t>占未来价值百分</a:t>
            </a:r>
            <a:r>
              <a:rPr sz="900" spc="60" dirty="0">
                <a:solidFill>
                  <a:srgbClr val="000000">
                    <a:alpha val="100000"/>
                  </a:srgbClr>
                </a:solidFill>
                <a:latin typeface="微软雅黑" panose="020B0503020204020204" charset="-122"/>
                <a:ea typeface="微软雅黑" panose="020B0503020204020204" charset="-122"/>
                <a:cs typeface="楷体" panose="02010609060101010101" charset="-122"/>
              </a:rPr>
              <a:t>比</a:t>
            </a:r>
            <a:endParaRPr lang="en-US" altLang="en-US" sz="900" dirty="0">
              <a:latin typeface="微软雅黑" panose="020B0503020204020204" charset="-122"/>
              <a:ea typeface="微软雅黑" panose="020B0503020204020204" charset="-122"/>
            </a:endParaRPr>
          </a:p>
        </p:txBody>
      </p:sp>
      <p:sp>
        <p:nvSpPr>
          <p:cNvPr id="382" name="textbox 382"/>
          <p:cNvSpPr/>
          <p:nvPr/>
        </p:nvSpPr>
        <p:spPr>
          <a:xfrm>
            <a:off x="7457883" y="6522553"/>
            <a:ext cx="1177925" cy="124460"/>
          </a:xfrm>
          <a:prstGeom prst="rect">
            <a:avLst/>
          </a:prstGeom>
        </p:spPr>
        <p:txBody>
          <a:bodyPr vert="horz" wrap="square" lIns="0" tIns="0" rIns="0" bIns="0"/>
          <a:lstStyle/>
          <a:p>
            <a:pPr algn="l" rtl="0" eaLnBrk="0">
              <a:lnSpc>
                <a:spcPct val="84000"/>
              </a:lnSpc>
            </a:pPr>
            <a:endParaRPr lang="en-US" altLang="en-US" sz="100" dirty="0"/>
          </a:p>
          <a:p>
            <a:pPr marL="12700" algn="l" rtl="0" eaLnBrk="0">
              <a:lnSpc>
                <a:spcPct val="81000"/>
              </a:lnSpc>
            </a:pPr>
            <a:r>
              <a:rPr sz="800" spc="20" dirty="0">
                <a:solidFill>
                  <a:srgbClr val="808080">
                    <a:alpha val="100000"/>
                  </a:srgbClr>
                </a:solidFill>
                <a:latin typeface="Arial" panose="020B0604020202020204"/>
                <a:ea typeface="Arial" panose="020B0604020202020204"/>
                <a:cs typeface="Arial" panose="020B0604020202020204"/>
              </a:rPr>
              <a:t>   </a:t>
            </a:r>
            <a:r>
              <a:rPr sz="800" spc="0" dirty="0">
                <a:solidFill>
                  <a:srgbClr val="808080">
                    <a:alpha val="100000"/>
                  </a:srgbClr>
                </a:solidFill>
                <a:latin typeface="Arial" panose="020B0604020202020204"/>
                <a:ea typeface="Arial" panose="020B0604020202020204"/>
                <a:cs typeface="Arial" panose="020B0604020202020204"/>
              </a:rPr>
              <a:t>9</a:t>
            </a:r>
            <a:endParaRPr lang="en-US" altLang="en-US" sz="800" dirty="0"/>
          </a:p>
        </p:txBody>
      </p:sp>
      <p:sp>
        <p:nvSpPr>
          <p:cNvPr id="383" name="rect"/>
          <p:cNvSpPr/>
          <p:nvPr/>
        </p:nvSpPr>
        <p:spPr>
          <a:xfrm>
            <a:off x="2866644" y="4945380"/>
            <a:ext cx="460247" cy="77723"/>
          </a:xfrm>
          <a:prstGeom prst="rect">
            <a:avLst/>
          </a:prstGeom>
          <a:solidFill>
            <a:srgbClr val="0065BD">
              <a:alpha val="100000"/>
            </a:srgbClr>
          </a:solidFill>
          <a:ln cap="flat">
            <a:noFill/>
            <a:prstDash val="solid"/>
            <a:miter lim="0"/>
          </a:ln>
        </p:spPr>
        <p:txBody>
          <a:bodyPr rtlCol="0"/>
          <a:lstStyle/>
          <a:p>
            <a:pPr algn="ctr"/>
            <a:endParaRPr lang="zh-CN" altLang="en-US"/>
          </a:p>
        </p:txBody>
      </p:sp>
      <p:grpSp>
        <p:nvGrpSpPr>
          <p:cNvPr id="84" name="group 84"/>
          <p:cNvGrpSpPr/>
          <p:nvPr/>
        </p:nvGrpSpPr>
        <p:grpSpPr>
          <a:xfrm rot="21600000">
            <a:off x="2775204" y="4939284"/>
            <a:ext cx="643127" cy="102107"/>
            <a:chOff x="0" y="0"/>
            <a:chExt cx="643127" cy="102107"/>
          </a:xfrm>
        </p:grpSpPr>
        <p:sp>
          <p:nvSpPr>
            <p:cNvPr id="384" name="path"/>
            <p:cNvSpPr/>
            <p:nvPr/>
          </p:nvSpPr>
          <p:spPr>
            <a:xfrm>
              <a:off x="85344" y="0"/>
              <a:ext cx="472439" cy="89915"/>
            </a:xfrm>
            <a:custGeom>
              <a:avLst/>
              <a:gdLst/>
              <a:ahLst/>
              <a:cxnLst/>
              <a:rect l="0" t="0" r="0" b="0"/>
              <a:pathLst>
                <a:path w="743" h="141">
                  <a:moveTo>
                    <a:pt x="9" y="131"/>
                  </a:moveTo>
                  <a:lnTo>
                    <a:pt x="734" y="131"/>
                  </a:lnTo>
                  <a:lnTo>
                    <a:pt x="734" y="9"/>
                  </a:lnTo>
                  <a:lnTo>
                    <a:pt x="9" y="9"/>
                  </a:lnTo>
                  <a:lnTo>
                    <a:pt x="9" y="131"/>
                  </a:lnTo>
                  <a:close/>
                </a:path>
              </a:pathLst>
            </a:custGeom>
            <a:noFill/>
            <a:ln w="12192" cap="flat">
              <a:solidFill>
                <a:srgbClr val="808080">
                  <a:alpha val="100000"/>
                </a:srgbClr>
              </a:solidFill>
              <a:prstDash val="solid"/>
              <a:round/>
            </a:ln>
          </p:spPr>
          <p:txBody>
            <a:bodyPr rtlCol="0"/>
            <a:lstStyle/>
            <a:p>
              <a:pPr algn="ctr"/>
              <a:endParaRPr lang="zh-CN" altLang="en-US"/>
            </a:p>
          </p:txBody>
        </p:sp>
        <p:sp>
          <p:nvSpPr>
            <p:cNvPr id="385" name="path"/>
            <p:cNvSpPr/>
            <p:nvPr/>
          </p:nvSpPr>
          <p:spPr>
            <a:xfrm>
              <a:off x="0" y="65531"/>
              <a:ext cx="643127" cy="36576"/>
            </a:xfrm>
            <a:custGeom>
              <a:avLst/>
              <a:gdLst/>
              <a:ahLst/>
              <a:cxnLst/>
              <a:rect l="0" t="0" r="0" b="0"/>
              <a:pathLst>
                <a:path w="1012" h="57">
                  <a:moveTo>
                    <a:pt x="0" y="28"/>
                  </a:moveTo>
                  <a:lnTo>
                    <a:pt x="1012" y="28"/>
                  </a:lnTo>
                </a:path>
              </a:pathLst>
            </a:custGeom>
            <a:noFill/>
            <a:ln w="36575" cap="flat">
              <a:solidFill>
                <a:srgbClr val="808080">
                  <a:alpha val="100000"/>
                </a:srgbClr>
              </a:solidFill>
              <a:prstDash val="solid"/>
              <a:round/>
            </a:ln>
          </p:spPr>
          <p:txBody>
            <a:bodyPr rtlCol="0"/>
            <a:lstStyle/>
            <a:p>
              <a:pPr algn="ctr"/>
              <a:endParaRPr lang="zh-CN" altLang="en-US"/>
            </a:p>
          </p:txBody>
        </p:sp>
      </p:grpSp>
      <p:grpSp>
        <p:nvGrpSpPr>
          <p:cNvPr id="86" name="group 86"/>
          <p:cNvGrpSpPr/>
          <p:nvPr/>
        </p:nvGrpSpPr>
        <p:grpSpPr>
          <a:xfrm rot="21600000">
            <a:off x="4271772" y="701040"/>
            <a:ext cx="355091" cy="184403"/>
            <a:chOff x="0" y="0"/>
            <a:chExt cx="355091" cy="184403"/>
          </a:xfrm>
        </p:grpSpPr>
        <p:grpSp>
          <p:nvGrpSpPr>
            <p:cNvPr id="88" name="group 88"/>
            <p:cNvGrpSpPr/>
            <p:nvPr/>
          </p:nvGrpSpPr>
          <p:grpSpPr>
            <a:xfrm rot="21600000">
              <a:off x="0" y="0"/>
              <a:ext cx="355091" cy="184403"/>
              <a:chOff x="0" y="0"/>
              <a:chExt cx="355091" cy="184403"/>
            </a:xfrm>
          </p:grpSpPr>
          <p:sp>
            <p:nvSpPr>
              <p:cNvPr id="386" name="path"/>
              <p:cNvSpPr/>
              <p:nvPr/>
            </p:nvSpPr>
            <p:spPr>
              <a:xfrm>
                <a:off x="4571" y="4571"/>
                <a:ext cx="345947" cy="175260"/>
              </a:xfrm>
              <a:custGeom>
                <a:avLst/>
                <a:gdLst/>
                <a:ahLst/>
                <a:cxnLst/>
                <a:rect l="0" t="0" r="0" b="0"/>
                <a:pathLst>
                  <a:path w="544" h="276">
                    <a:moveTo>
                      <a:pt x="0" y="137"/>
                    </a:moveTo>
                    <a:cubicBezTo>
                      <a:pt x="0" y="61"/>
                      <a:pt x="121" y="0"/>
                      <a:pt x="272" y="0"/>
                    </a:cubicBezTo>
                    <a:cubicBezTo>
                      <a:pt x="422" y="0"/>
                      <a:pt x="544" y="61"/>
                      <a:pt x="544" y="137"/>
                    </a:cubicBezTo>
                    <a:cubicBezTo>
                      <a:pt x="544" y="214"/>
                      <a:pt x="422" y="276"/>
                      <a:pt x="272" y="276"/>
                    </a:cubicBezTo>
                    <a:cubicBezTo>
                      <a:pt x="121" y="276"/>
                      <a:pt x="0" y="214"/>
                      <a:pt x="0" y="137"/>
                    </a:cubicBezTo>
                  </a:path>
                </a:pathLst>
              </a:custGeom>
              <a:solidFill>
                <a:srgbClr val="0065BD">
                  <a:alpha val="100000"/>
                </a:srgbClr>
              </a:solidFill>
              <a:ln cap="flat">
                <a:noFill/>
                <a:prstDash val="solid"/>
                <a:miter lim="0"/>
              </a:ln>
            </p:spPr>
            <p:txBody>
              <a:bodyPr rtlCol="0"/>
              <a:lstStyle/>
              <a:p>
                <a:pPr algn="ctr"/>
                <a:endParaRPr lang="zh-CN" altLang="en-US"/>
              </a:p>
            </p:txBody>
          </p:sp>
          <p:sp>
            <p:nvSpPr>
              <p:cNvPr id="387" name="path"/>
              <p:cNvSpPr/>
              <p:nvPr/>
            </p:nvSpPr>
            <p:spPr>
              <a:xfrm>
                <a:off x="0" y="0"/>
                <a:ext cx="355091" cy="184403"/>
              </a:xfrm>
              <a:custGeom>
                <a:avLst/>
                <a:gdLst/>
                <a:ahLst/>
                <a:cxnLst/>
                <a:rect l="0" t="0" r="0" b="0"/>
                <a:pathLst>
                  <a:path w="559" h="290">
                    <a:moveTo>
                      <a:pt x="7" y="145"/>
                    </a:moveTo>
                    <a:cubicBezTo>
                      <a:pt x="7" y="69"/>
                      <a:pt x="129" y="7"/>
                      <a:pt x="279" y="7"/>
                    </a:cubicBezTo>
                    <a:cubicBezTo>
                      <a:pt x="429" y="7"/>
                      <a:pt x="551" y="69"/>
                      <a:pt x="551" y="145"/>
                    </a:cubicBezTo>
                    <a:cubicBezTo>
                      <a:pt x="551" y="221"/>
                      <a:pt x="429" y="283"/>
                      <a:pt x="279" y="283"/>
                    </a:cubicBezTo>
                    <a:cubicBezTo>
                      <a:pt x="129" y="283"/>
                      <a:pt x="7" y="221"/>
                      <a:pt x="7" y="145"/>
                    </a:cubicBezTo>
                  </a:path>
                </a:pathLst>
              </a:custGeom>
              <a:noFill/>
              <a:ln w="9143" cap="flat">
                <a:solidFill>
                  <a:srgbClr val="FFFFFF">
                    <a:alpha val="100000"/>
                  </a:srgbClr>
                </a:solidFill>
                <a:prstDash val="solid"/>
                <a:round/>
              </a:ln>
            </p:spPr>
            <p:txBody>
              <a:bodyPr rtlCol="0"/>
              <a:lstStyle/>
              <a:p>
                <a:pPr algn="ctr"/>
                <a:endParaRPr lang="zh-CN" altLang="en-US"/>
              </a:p>
            </p:txBody>
          </p:sp>
        </p:grpSp>
        <p:sp>
          <p:nvSpPr>
            <p:cNvPr id="388" name="textbox 388"/>
            <p:cNvSpPr/>
            <p:nvPr/>
          </p:nvSpPr>
          <p:spPr>
            <a:xfrm>
              <a:off x="-12700" y="-12700"/>
              <a:ext cx="381000" cy="237490"/>
            </a:xfrm>
            <a:prstGeom prst="rect">
              <a:avLst/>
            </a:prstGeom>
          </p:spPr>
          <p:txBody>
            <a:bodyPr vert="horz" wrap="square" lIns="0" tIns="0" rIns="0" bIns="0"/>
            <a:lstStyle/>
            <a:p>
              <a:pPr algn="l" rtl="0" eaLnBrk="0">
                <a:lnSpc>
                  <a:spcPct val="102000"/>
                </a:lnSpc>
              </a:pPr>
              <a:endParaRPr lang="en-US" altLang="en-US" sz="400" dirty="0">
                <a:latin typeface="微软雅黑" panose="020B0503020204020204" charset="-122"/>
                <a:ea typeface="微软雅黑" panose="020B0503020204020204" charset="-122"/>
              </a:endParaRPr>
            </a:p>
            <a:p>
              <a:pPr marL="130810" algn="l" rtl="0" eaLnBrk="0">
                <a:lnSpc>
                  <a:spcPct val="86000"/>
                </a:lnSpc>
                <a:spcBef>
                  <a:spcPts val="5"/>
                </a:spcBef>
              </a:pPr>
              <a:r>
                <a:rPr sz="900" b="1" spc="60" dirty="0">
                  <a:solidFill>
                    <a:srgbClr val="FFFFFF">
                      <a:alpha val="100000"/>
                    </a:srgbClr>
                  </a:solidFill>
                  <a:latin typeface="微软雅黑" panose="020B0503020204020204" charset="-122"/>
                  <a:ea typeface="微软雅黑" panose="020B0503020204020204" charset="-122"/>
                  <a:cs typeface="Arial" panose="020B0604020202020204"/>
                </a:rPr>
                <a:t>X</a:t>
              </a:r>
              <a:endParaRPr lang="en-US" altLang="en-US" sz="900" dirty="0">
                <a:latin typeface="微软雅黑" panose="020B0503020204020204" charset="-122"/>
                <a:ea typeface="微软雅黑" panose="020B0503020204020204" charset="-122"/>
              </a:endParaRPr>
            </a:p>
          </p:txBody>
        </p:sp>
      </p:grpSp>
      <p:sp>
        <p:nvSpPr>
          <p:cNvPr id="389" name="textbox 389"/>
          <p:cNvSpPr/>
          <p:nvPr/>
        </p:nvSpPr>
        <p:spPr>
          <a:xfrm>
            <a:off x="2349898" y="5526883"/>
            <a:ext cx="375920" cy="231140"/>
          </a:xfrm>
          <a:prstGeom prst="rect">
            <a:avLst/>
          </a:prstGeom>
        </p:spPr>
        <p:txBody>
          <a:bodyPr vert="horz" wrap="square" lIns="0" tIns="0" rIns="0" bIns="0"/>
          <a:lstStyle/>
          <a:p>
            <a:pPr algn="l" rtl="0" eaLnBrk="0">
              <a:lnSpc>
                <a:spcPct val="89000"/>
              </a:lnSpc>
            </a:pPr>
            <a:endParaRPr lang="en-US" altLang="en-US" sz="100" dirty="0">
              <a:latin typeface="微软雅黑" panose="020B0503020204020204" charset="-122"/>
              <a:ea typeface="微软雅黑" panose="020B0503020204020204" charset="-122"/>
            </a:endParaRPr>
          </a:p>
          <a:p>
            <a:pPr marL="12700" algn="l" rtl="0" eaLnBrk="0">
              <a:lnSpc>
                <a:spcPct val="96000"/>
              </a:lnSpc>
            </a:pPr>
            <a:r>
              <a:rPr sz="1400" spc="-20" dirty="0">
                <a:ln w="5094" cap="flat" cmpd="sng">
                  <a:solidFill>
                    <a:srgbClr val="FFFFFF">
                      <a:alpha val="100000"/>
                    </a:srgbClr>
                  </a:solidFill>
                  <a:prstDash val="solid"/>
                  <a:miter lim="8"/>
                </a:ln>
                <a:solidFill>
                  <a:srgbClr val="FFFFFF">
                    <a:alpha val="100000"/>
                  </a:srgbClr>
                </a:solidFill>
                <a:latin typeface="微软雅黑" panose="020B0503020204020204" charset="-122"/>
                <a:ea typeface="微软雅黑" panose="020B0503020204020204" charset="-122"/>
                <a:cs typeface="楷体" panose="02010609060101010101" charset="-122"/>
              </a:rPr>
              <a:t>启</a:t>
            </a:r>
            <a:r>
              <a:rPr sz="1400" spc="-10" dirty="0">
                <a:ln w="5094" cap="flat" cmpd="sng">
                  <a:solidFill>
                    <a:srgbClr val="FFFFFF">
                      <a:alpha val="100000"/>
                    </a:srgbClr>
                  </a:solidFill>
                  <a:prstDash val="solid"/>
                  <a:miter lim="8"/>
                </a:ln>
                <a:solidFill>
                  <a:srgbClr val="FFFFFF">
                    <a:alpha val="100000"/>
                  </a:srgbClr>
                </a:solidFill>
                <a:latin typeface="微软雅黑" panose="020B0503020204020204" charset="-122"/>
                <a:ea typeface="微软雅黑" panose="020B0503020204020204" charset="-122"/>
                <a:cs typeface="楷体" panose="02010609060101010101" charset="-122"/>
              </a:rPr>
              <a:t>示</a:t>
            </a:r>
            <a:endParaRPr lang="en-US" altLang="en-US" sz="1400" dirty="0">
              <a:latin typeface="微软雅黑" panose="020B0503020204020204" charset="-122"/>
              <a:ea typeface="微软雅黑" panose="020B0503020204020204" charset="-122"/>
            </a:endParaRPr>
          </a:p>
        </p:txBody>
      </p:sp>
      <p:graphicFrame>
        <p:nvGraphicFramePr>
          <p:cNvPr id="390" name="table 390"/>
          <p:cNvGraphicFramePr>
            <a:graphicFrameLocks noGrp="1"/>
          </p:cNvGraphicFramePr>
          <p:nvPr/>
        </p:nvGraphicFramePr>
        <p:xfrm>
          <a:off x="6501384" y="714755"/>
          <a:ext cx="310514" cy="171450"/>
        </p:xfrm>
        <a:graphic>
          <a:graphicData uri="http://schemas.openxmlformats.org/drawingml/2006/table">
            <a:tbl>
              <a:tblPr/>
              <a:tblGrid>
                <a:gridCol w="310514"/>
              </a:tblGrid>
              <a:tr h="171450">
                <a:tc>
                  <a:txBody>
                    <a:bodyPr/>
                    <a:lstStyle/>
                    <a:p>
                      <a:pPr algn="l" rtl="0" eaLnBrk="0">
                        <a:lnSpc>
                          <a:spcPct val="100000"/>
                        </a:lnSpc>
                      </a:pPr>
                      <a:endParaRPr lang="en-US" altLang="en-US" sz="1000" dirty="0">
                        <a:latin typeface="微软雅黑" panose="020B0503020204020204" charset="-122"/>
                        <a:ea typeface="微软雅黑" panose="020B0503020204020204" charset="-122"/>
                      </a:endParaRPr>
                    </a:p>
                  </a:txBody>
                  <a:tcPr marL="0" marR="0" marT="0" marB="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bl>
          </a:graphicData>
        </a:graphic>
      </p:graphicFrame>
      <p:pic>
        <p:nvPicPr>
          <p:cNvPr id="391" name="picture 391"/>
          <p:cNvPicPr>
            <a:picLocks noChangeAspect="1"/>
          </p:cNvPicPr>
          <p:nvPr/>
        </p:nvPicPr>
        <p:blipFill>
          <a:blip r:embed="rId15"/>
          <a:stretch>
            <a:fillRect/>
          </a:stretch>
        </p:blipFill>
        <p:spPr>
          <a:xfrm rot="21600000">
            <a:off x="608584" y="2332101"/>
            <a:ext cx="85344" cy="185927"/>
          </a:xfrm>
          <a:prstGeom prst="rect">
            <a:avLst/>
          </a:prstGeom>
        </p:spPr>
      </p:pic>
      <p:grpSp>
        <p:nvGrpSpPr>
          <p:cNvPr id="90" name="group 90"/>
          <p:cNvGrpSpPr/>
          <p:nvPr/>
        </p:nvGrpSpPr>
        <p:grpSpPr>
          <a:xfrm rot="21600000">
            <a:off x="564208" y="1988978"/>
            <a:ext cx="148694" cy="365442"/>
            <a:chOff x="0" y="0"/>
            <a:chExt cx="148694" cy="365442"/>
          </a:xfrm>
        </p:grpSpPr>
        <p:sp>
          <p:nvSpPr>
            <p:cNvPr id="392" name="path"/>
            <p:cNvSpPr/>
            <p:nvPr/>
          </p:nvSpPr>
          <p:spPr>
            <a:xfrm>
              <a:off x="1195" y="4412"/>
              <a:ext cx="146304" cy="356616"/>
            </a:xfrm>
            <a:custGeom>
              <a:avLst/>
              <a:gdLst/>
              <a:ahLst/>
              <a:cxnLst/>
              <a:rect l="0" t="0" r="0" b="0"/>
              <a:pathLst>
                <a:path w="230" h="561">
                  <a:moveTo>
                    <a:pt x="0" y="472"/>
                  </a:moveTo>
                  <a:lnTo>
                    <a:pt x="230" y="410"/>
                  </a:lnTo>
                  <a:lnTo>
                    <a:pt x="230" y="499"/>
                  </a:lnTo>
                  <a:lnTo>
                    <a:pt x="0" y="561"/>
                  </a:lnTo>
                  <a:lnTo>
                    <a:pt x="0" y="472"/>
                  </a:lnTo>
                  <a:close/>
                </a:path>
                <a:path w="230" h="561">
                  <a:moveTo>
                    <a:pt x="0" y="63"/>
                  </a:moveTo>
                  <a:lnTo>
                    <a:pt x="230" y="0"/>
                  </a:lnTo>
                  <a:lnTo>
                    <a:pt x="230" y="90"/>
                  </a:lnTo>
                  <a:lnTo>
                    <a:pt x="0" y="153"/>
                  </a:lnTo>
                  <a:lnTo>
                    <a:pt x="0" y="63"/>
                  </a:lnTo>
                  <a:close/>
                </a:path>
                <a:path w="230" h="561">
                  <a:moveTo>
                    <a:pt x="0" y="268"/>
                  </a:moveTo>
                  <a:lnTo>
                    <a:pt x="230" y="206"/>
                  </a:lnTo>
                  <a:lnTo>
                    <a:pt x="230" y="295"/>
                  </a:lnTo>
                  <a:lnTo>
                    <a:pt x="0" y="357"/>
                  </a:lnTo>
                  <a:lnTo>
                    <a:pt x="0" y="268"/>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393" name="path"/>
            <p:cNvSpPr/>
            <p:nvPr/>
          </p:nvSpPr>
          <p:spPr>
            <a:xfrm>
              <a:off x="0" y="0"/>
              <a:ext cx="148694" cy="365442"/>
            </a:xfrm>
            <a:custGeom>
              <a:avLst/>
              <a:gdLst/>
              <a:ahLst/>
              <a:cxnLst/>
              <a:rect l="0" t="0" r="0" b="0"/>
              <a:pathLst>
                <a:path w="234" h="575">
                  <a:moveTo>
                    <a:pt x="1" y="69"/>
                  </a:moveTo>
                  <a:lnTo>
                    <a:pt x="232" y="6"/>
                  </a:lnTo>
                  <a:moveTo>
                    <a:pt x="1" y="364"/>
                  </a:moveTo>
                  <a:lnTo>
                    <a:pt x="232" y="302"/>
                  </a:lnTo>
                  <a:moveTo>
                    <a:pt x="1" y="275"/>
                  </a:moveTo>
                  <a:lnTo>
                    <a:pt x="232" y="213"/>
                  </a:lnTo>
                  <a:moveTo>
                    <a:pt x="1" y="479"/>
                  </a:moveTo>
                  <a:lnTo>
                    <a:pt x="232" y="417"/>
                  </a:lnTo>
                  <a:moveTo>
                    <a:pt x="1" y="160"/>
                  </a:moveTo>
                  <a:lnTo>
                    <a:pt x="232" y="98"/>
                  </a:lnTo>
                  <a:moveTo>
                    <a:pt x="1" y="568"/>
                  </a:moveTo>
                  <a:lnTo>
                    <a:pt x="232" y="506"/>
                  </a:lnTo>
                </a:path>
              </a:pathLst>
            </a:custGeom>
            <a:noFill/>
            <a:ln w="9143" cap="flat">
              <a:solidFill>
                <a:srgbClr val="808080">
                  <a:alpha val="100000"/>
                </a:srgbClr>
              </a:solidFill>
              <a:prstDash val="solid"/>
              <a:round/>
            </a:ln>
          </p:spPr>
          <p:txBody>
            <a:bodyPr rtlCol="0"/>
            <a:lstStyle/>
            <a:p>
              <a:pPr algn="ctr"/>
              <a:endParaRPr lang="zh-CN" altLang="en-US"/>
            </a:p>
          </p:txBody>
        </p:sp>
      </p:grpSp>
      <p:pic>
        <p:nvPicPr>
          <p:cNvPr id="394" name="picture 394"/>
          <p:cNvPicPr>
            <a:picLocks noChangeAspect="1"/>
          </p:cNvPicPr>
          <p:nvPr/>
        </p:nvPicPr>
        <p:blipFill>
          <a:blip r:embed="rId16"/>
          <a:stretch>
            <a:fillRect/>
          </a:stretch>
        </p:blipFill>
        <p:spPr>
          <a:xfrm rot="21600000">
            <a:off x="5418328" y="3193161"/>
            <a:ext cx="147827" cy="365759"/>
          </a:xfrm>
          <a:prstGeom prst="rect">
            <a:avLst/>
          </a:prstGeom>
        </p:spPr>
      </p:pic>
      <p:sp>
        <p:nvSpPr>
          <p:cNvPr id="395" name="rect"/>
          <p:cNvSpPr/>
          <p:nvPr/>
        </p:nvSpPr>
        <p:spPr>
          <a:xfrm>
            <a:off x="6507480" y="716280"/>
            <a:ext cx="298704" cy="170688"/>
          </a:xfrm>
          <a:prstGeom prst="rect">
            <a:avLst/>
          </a:prstGeom>
          <a:solidFill>
            <a:srgbClr val="0065BD">
              <a:alpha val="100000"/>
            </a:srgbClr>
          </a:solidFill>
          <a:ln cap="flat">
            <a:noFill/>
            <a:prstDash val="solid"/>
            <a:miter lim="0"/>
          </a:ln>
        </p:spPr>
        <p:txBody>
          <a:bodyPr rtlCol="0"/>
          <a:lstStyle/>
          <a:p>
            <a:pPr algn="ctr"/>
            <a:endParaRPr lang="zh-CN" altLang="en-US"/>
          </a:p>
        </p:txBody>
      </p:sp>
      <p:pic>
        <p:nvPicPr>
          <p:cNvPr id="396" name="picture 396"/>
          <p:cNvPicPr>
            <a:picLocks noChangeAspect="1"/>
          </p:cNvPicPr>
          <p:nvPr/>
        </p:nvPicPr>
        <p:blipFill>
          <a:blip r:embed="rId17"/>
          <a:stretch>
            <a:fillRect/>
          </a:stretch>
        </p:blipFill>
        <p:spPr>
          <a:xfrm rot="21600000">
            <a:off x="608584" y="1772793"/>
            <a:ext cx="85344" cy="85343"/>
          </a:xfrm>
          <a:prstGeom prst="rect">
            <a:avLst/>
          </a:prstGeom>
        </p:spPr>
      </p:pic>
      <p:sp>
        <p:nvSpPr>
          <p:cNvPr id="397" name="path"/>
          <p:cNvSpPr/>
          <p:nvPr/>
        </p:nvSpPr>
        <p:spPr>
          <a:xfrm>
            <a:off x="640080" y="1836420"/>
            <a:ext cx="58737" cy="847343"/>
          </a:xfrm>
          <a:custGeom>
            <a:avLst/>
            <a:gdLst/>
            <a:ahLst/>
            <a:cxnLst/>
            <a:rect l="0" t="0" r="0" b="0"/>
            <a:pathLst>
              <a:path w="92" h="1334">
                <a:moveTo>
                  <a:pt x="0" y="7"/>
                </a:moveTo>
                <a:lnTo>
                  <a:pt x="92" y="7"/>
                </a:lnTo>
                <a:moveTo>
                  <a:pt x="0" y="1327"/>
                </a:moveTo>
                <a:lnTo>
                  <a:pt x="92" y="1327"/>
                </a:lnTo>
              </a:path>
            </a:pathLst>
          </a:custGeom>
          <a:noFill/>
          <a:ln w="9143" cap="flat">
            <a:solidFill>
              <a:srgbClr val="808080">
                <a:alpha val="100000"/>
              </a:srgbClr>
            </a:solidFill>
            <a:prstDash val="solid"/>
            <a:round/>
          </a:ln>
        </p:spPr>
        <p:txBody>
          <a:bodyPr rtlCol="0"/>
          <a:lstStyle/>
          <a:p>
            <a:pPr algn="ctr"/>
            <a:endParaRPr lang="zh-CN" altLang="en-US"/>
          </a:p>
        </p:txBody>
      </p:sp>
      <p:pic>
        <p:nvPicPr>
          <p:cNvPr id="398" name="picture 398"/>
          <p:cNvPicPr>
            <a:picLocks noChangeAspect="1"/>
          </p:cNvPicPr>
          <p:nvPr/>
        </p:nvPicPr>
        <p:blipFill>
          <a:blip r:embed="rId18"/>
          <a:stretch>
            <a:fillRect/>
          </a:stretch>
        </p:blipFill>
        <p:spPr>
          <a:xfrm rot="21600000">
            <a:off x="5724144" y="4445508"/>
            <a:ext cx="76200" cy="554227"/>
          </a:xfrm>
          <a:prstGeom prst="rect">
            <a:avLst/>
          </a:prstGeom>
        </p:spPr>
      </p:pic>
      <p:pic>
        <p:nvPicPr>
          <p:cNvPr id="399" name="picture 399"/>
          <p:cNvPicPr>
            <a:picLocks noChangeAspect="1"/>
          </p:cNvPicPr>
          <p:nvPr/>
        </p:nvPicPr>
        <p:blipFill>
          <a:blip r:embed="rId19"/>
          <a:stretch>
            <a:fillRect/>
          </a:stretch>
        </p:blipFill>
        <p:spPr>
          <a:xfrm rot="21600000">
            <a:off x="1407159" y="4430648"/>
            <a:ext cx="85344" cy="85344"/>
          </a:xfrm>
          <a:prstGeom prst="rect">
            <a:avLst/>
          </a:prstGeom>
        </p:spPr>
      </p:pic>
      <p:pic>
        <p:nvPicPr>
          <p:cNvPr id="400" name="picture 400"/>
          <p:cNvPicPr>
            <a:picLocks noChangeAspect="1"/>
          </p:cNvPicPr>
          <p:nvPr/>
        </p:nvPicPr>
        <p:blipFill>
          <a:blip r:embed="rId20"/>
          <a:stretch>
            <a:fillRect/>
          </a:stretch>
        </p:blipFill>
        <p:spPr>
          <a:xfrm rot="21600000">
            <a:off x="1403603" y="4445508"/>
            <a:ext cx="76200" cy="554227"/>
          </a:xfrm>
          <a:prstGeom prst="rect">
            <a:avLst/>
          </a:prstGeom>
        </p:spPr>
      </p:pic>
      <p:pic>
        <p:nvPicPr>
          <p:cNvPr id="401" name="picture 401"/>
          <p:cNvPicPr>
            <a:picLocks noChangeAspect="1"/>
          </p:cNvPicPr>
          <p:nvPr/>
        </p:nvPicPr>
        <p:blipFill>
          <a:blip r:embed="rId21"/>
          <a:stretch>
            <a:fillRect/>
          </a:stretch>
        </p:blipFill>
        <p:spPr>
          <a:xfrm rot="21600000">
            <a:off x="608584" y="2830449"/>
            <a:ext cx="85344" cy="106679"/>
          </a:xfrm>
          <a:prstGeom prst="rect">
            <a:avLst/>
          </a:prstGeom>
        </p:spPr>
      </p:pic>
      <p:pic>
        <p:nvPicPr>
          <p:cNvPr id="402" name="picture 402"/>
          <p:cNvPicPr>
            <a:picLocks noChangeAspect="1"/>
          </p:cNvPicPr>
          <p:nvPr/>
        </p:nvPicPr>
        <p:blipFill>
          <a:blip r:embed="rId22"/>
          <a:stretch>
            <a:fillRect/>
          </a:stretch>
        </p:blipFill>
        <p:spPr>
          <a:xfrm rot="21600000">
            <a:off x="608584" y="3004185"/>
            <a:ext cx="85344" cy="85343"/>
          </a:xfrm>
          <a:prstGeom prst="rect">
            <a:avLst/>
          </a:prstGeom>
        </p:spPr>
      </p:pic>
      <p:grpSp>
        <p:nvGrpSpPr>
          <p:cNvPr id="92" name="group 92"/>
          <p:cNvGrpSpPr/>
          <p:nvPr/>
        </p:nvGrpSpPr>
        <p:grpSpPr>
          <a:xfrm rot="21600000">
            <a:off x="564208" y="2895759"/>
            <a:ext cx="148694" cy="258761"/>
            <a:chOff x="0" y="0"/>
            <a:chExt cx="148694" cy="258761"/>
          </a:xfrm>
        </p:grpSpPr>
        <p:sp>
          <p:nvSpPr>
            <p:cNvPr id="403" name="path"/>
            <p:cNvSpPr/>
            <p:nvPr/>
          </p:nvSpPr>
          <p:spPr>
            <a:xfrm>
              <a:off x="1195" y="4412"/>
              <a:ext cx="146304" cy="249935"/>
            </a:xfrm>
            <a:custGeom>
              <a:avLst/>
              <a:gdLst/>
              <a:ahLst/>
              <a:cxnLst/>
              <a:rect l="0" t="0" r="0" b="0"/>
              <a:pathLst>
                <a:path w="230" h="393">
                  <a:moveTo>
                    <a:pt x="0" y="304"/>
                  </a:moveTo>
                  <a:lnTo>
                    <a:pt x="230" y="242"/>
                  </a:lnTo>
                  <a:lnTo>
                    <a:pt x="230" y="331"/>
                  </a:lnTo>
                  <a:lnTo>
                    <a:pt x="0" y="393"/>
                  </a:lnTo>
                  <a:lnTo>
                    <a:pt x="0" y="304"/>
                  </a:lnTo>
                  <a:close/>
                </a:path>
                <a:path w="230" h="393">
                  <a:moveTo>
                    <a:pt x="0" y="61"/>
                  </a:moveTo>
                  <a:lnTo>
                    <a:pt x="230" y="0"/>
                  </a:lnTo>
                  <a:lnTo>
                    <a:pt x="230" y="89"/>
                  </a:lnTo>
                  <a:lnTo>
                    <a:pt x="0" y="151"/>
                  </a:lnTo>
                  <a:lnTo>
                    <a:pt x="0" y="61"/>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404" name="path"/>
            <p:cNvSpPr/>
            <p:nvPr/>
          </p:nvSpPr>
          <p:spPr>
            <a:xfrm>
              <a:off x="0" y="0"/>
              <a:ext cx="148694" cy="258761"/>
            </a:xfrm>
            <a:custGeom>
              <a:avLst/>
              <a:gdLst/>
              <a:ahLst/>
              <a:cxnLst/>
              <a:rect l="0" t="0" r="0" b="0"/>
              <a:pathLst>
                <a:path w="234" h="407">
                  <a:moveTo>
                    <a:pt x="1" y="311"/>
                  </a:moveTo>
                  <a:lnTo>
                    <a:pt x="232" y="249"/>
                  </a:lnTo>
                  <a:moveTo>
                    <a:pt x="1" y="158"/>
                  </a:moveTo>
                  <a:lnTo>
                    <a:pt x="232" y="95"/>
                  </a:lnTo>
                  <a:moveTo>
                    <a:pt x="1" y="69"/>
                  </a:moveTo>
                  <a:lnTo>
                    <a:pt x="232" y="6"/>
                  </a:lnTo>
                  <a:moveTo>
                    <a:pt x="1" y="400"/>
                  </a:moveTo>
                  <a:lnTo>
                    <a:pt x="232" y="338"/>
                  </a:lnTo>
                </a:path>
              </a:pathLst>
            </a:custGeom>
            <a:noFill/>
            <a:ln w="9143" cap="flat">
              <a:solidFill>
                <a:srgbClr val="808080">
                  <a:alpha val="100000"/>
                </a:srgbClr>
              </a:solidFill>
              <a:prstDash val="solid"/>
              <a:round/>
            </a:ln>
          </p:spPr>
          <p:txBody>
            <a:bodyPr rtlCol="0"/>
            <a:lstStyle/>
            <a:p>
              <a:pPr algn="ctr"/>
              <a:endParaRPr lang="zh-CN" altLang="en-US"/>
            </a:p>
          </p:txBody>
        </p:sp>
      </p:grpSp>
      <p:pic>
        <p:nvPicPr>
          <p:cNvPr id="405" name="picture 405"/>
          <p:cNvPicPr>
            <a:picLocks noChangeAspect="1"/>
          </p:cNvPicPr>
          <p:nvPr/>
        </p:nvPicPr>
        <p:blipFill>
          <a:blip r:embed="rId23"/>
          <a:stretch>
            <a:fillRect/>
          </a:stretch>
        </p:blipFill>
        <p:spPr>
          <a:xfrm rot="21600000">
            <a:off x="1654048" y="4456557"/>
            <a:ext cx="239267" cy="138302"/>
          </a:xfrm>
          <a:prstGeom prst="rect">
            <a:avLst/>
          </a:prstGeom>
        </p:spPr>
      </p:pic>
      <p:sp>
        <p:nvSpPr>
          <p:cNvPr id="406" name="textbox 406"/>
          <p:cNvSpPr/>
          <p:nvPr/>
        </p:nvSpPr>
        <p:spPr>
          <a:xfrm>
            <a:off x="4445503" y="1847027"/>
            <a:ext cx="216534" cy="196214"/>
          </a:xfrm>
          <a:prstGeom prst="rect">
            <a:avLst/>
          </a:prstGeom>
        </p:spPr>
        <p:txBody>
          <a:bodyPr vert="horz" wrap="square" lIns="0" tIns="0" rIns="0" bIns="0"/>
          <a:lstStyle/>
          <a:p>
            <a:pPr algn="l" rtl="0" eaLnBrk="0">
              <a:lnSpc>
                <a:spcPct val="84000"/>
              </a:lnSpc>
            </a:pPr>
            <a:endParaRPr lang="en-US" altLang="en-US" sz="100" dirty="0">
              <a:latin typeface="微软雅黑" panose="020B0503020204020204" charset="-122"/>
              <a:ea typeface="微软雅黑" panose="020B0503020204020204" charset="-122"/>
            </a:endParaRPr>
          </a:p>
          <a:p>
            <a:pPr marL="12700" algn="l" rtl="0" eaLnBrk="0">
              <a:lnSpc>
                <a:spcPct val="80000"/>
              </a:lnSpc>
            </a:pPr>
            <a:r>
              <a:rPr sz="1400" spc="-20" dirty="0">
                <a:solidFill>
                  <a:srgbClr val="000000">
                    <a:alpha val="100000"/>
                  </a:srgbClr>
                </a:solidFill>
                <a:latin typeface="微软雅黑" panose="020B0503020204020204" charset="-122"/>
                <a:ea typeface="微软雅黑" panose="020B0503020204020204" charset="-122"/>
                <a:cs typeface="Arial" panose="020B0604020202020204"/>
              </a:rPr>
              <a:t>3</a:t>
            </a:r>
            <a:r>
              <a:rPr sz="1400" spc="-10" dirty="0">
                <a:solidFill>
                  <a:srgbClr val="000000">
                    <a:alpha val="100000"/>
                  </a:srgbClr>
                </a:solidFill>
                <a:latin typeface="微软雅黑" panose="020B0503020204020204" charset="-122"/>
                <a:ea typeface="微软雅黑" panose="020B0503020204020204" charset="-122"/>
                <a:cs typeface="Arial" panose="020B0604020202020204"/>
              </a:rPr>
              <a:t>6</a:t>
            </a:r>
            <a:endParaRPr lang="en-US" altLang="en-US" sz="1400" dirty="0">
              <a:latin typeface="微软雅黑" panose="020B0503020204020204" charset="-122"/>
              <a:ea typeface="微软雅黑" panose="020B0503020204020204" charset="-122"/>
            </a:endParaRPr>
          </a:p>
        </p:txBody>
      </p:sp>
      <p:sp>
        <p:nvSpPr>
          <p:cNvPr id="407" name="textbox 407"/>
          <p:cNvSpPr/>
          <p:nvPr/>
        </p:nvSpPr>
        <p:spPr>
          <a:xfrm>
            <a:off x="3035422" y="1551625"/>
            <a:ext cx="216534" cy="196214"/>
          </a:xfrm>
          <a:prstGeom prst="rect">
            <a:avLst/>
          </a:prstGeom>
        </p:spPr>
        <p:txBody>
          <a:bodyPr vert="horz" wrap="square" lIns="0" tIns="0" rIns="0" bIns="0"/>
          <a:lstStyle/>
          <a:p>
            <a:pPr algn="l" rtl="0" eaLnBrk="0">
              <a:lnSpc>
                <a:spcPct val="83000"/>
              </a:lnSpc>
            </a:pPr>
            <a:endParaRPr lang="en-US" altLang="en-US" sz="100" dirty="0">
              <a:latin typeface="微软雅黑" panose="020B0503020204020204" charset="-122"/>
              <a:ea typeface="微软雅黑" panose="020B0503020204020204" charset="-122"/>
            </a:endParaRPr>
          </a:p>
          <a:p>
            <a:pPr marL="12700" algn="l" rtl="0" eaLnBrk="0">
              <a:lnSpc>
                <a:spcPct val="80000"/>
              </a:lnSpc>
            </a:pPr>
            <a:r>
              <a:rPr sz="1400" spc="-20" dirty="0">
                <a:solidFill>
                  <a:srgbClr val="000000">
                    <a:alpha val="100000"/>
                  </a:srgbClr>
                </a:solidFill>
                <a:latin typeface="微软雅黑" panose="020B0503020204020204" charset="-122"/>
                <a:ea typeface="微软雅黑" panose="020B0503020204020204" charset="-122"/>
                <a:cs typeface="Arial" panose="020B0604020202020204"/>
              </a:rPr>
              <a:t>5</a:t>
            </a:r>
            <a:r>
              <a:rPr sz="1400" spc="-10" dirty="0">
                <a:solidFill>
                  <a:srgbClr val="000000">
                    <a:alpha val="100000"/>
                  </a:srgbClr>
                </a:solidFill>
                <a:latin typeface="微软雅黑" panose="020B0503020204020204" charset="-122"/>
                <a:ea typeface="微软雅黑" panose="020B0503020204020204" charset="-122"/>
                <a:cs typeface="Arial" panose="020B0604020202020204"/>
              </a:rPr>
              <a:t>8</a:t>
            </a:r>
            <a:endParaRPr lang="en-US" altLang="en-US" sz="1400" dirty="0">
              <a:latin typeface="微软雅黑" panose="020B0503020204020204" charset="-122"/>
              <a:ea typeface="微软雅黑" panose="020B0503020204020204" charset="-122"/>
            </a:endParaRPr>
          </a:p>
        </p:txBody>
      </p:sp>
      <p:sp>
        <p:nvSpPr>
          <p:cNvPr id="408" name="textbox 408"/>
          <p:cNvSpPr/>
          <p:nvPr/>
        </p:nvSpPr>
        <p:spPr>
          <a:xfrm>
            <a:off x="4451212" y="2626045"/>
            <a:ext cx="209550" cy="196214"/>
          </a:xfrm>
          <a:prstGeom prst="rect">
            <a:avLst/>
          </a:prstGeom>
        </p:spPr>
        <p:txBody>
          <a:bodyPr vert="horz" wrap="square" lIns="0" tIns="0" rIns="0" bIns="0"/>
          <a:lstStyle/>
          <a:p>
            <a:pPr algn="l" rtl="0" eaLnBrk="0">
              <a:lnSpc>
                <a:spcPct val="83000"/>
              </a:lnSpc>
            </a:pPr>
            <a:endParaRPr lang="en-US" altLang="en-US" sz="100" dirty="0">
              <a:latin typeface="微软雅黑" panose="020B0503020204020204" charset="-122"/>
              <a:ea typeface="微软雅黑" panose="020B0503020204020204" charset="-122"/>
            </a:endParaRPr>
          </a:p>
          <a:p>
            <a:pPr marL="12700" algn="l" rtl="0" eaLnBrk="0">
              <a:lnSpc>
                <a:spcPct val="80000"/>
              </a:lnSpc>
            </a:pPr>
            <a:r>
              <a:rPr sz="1400" b="1" spc="-30" dirty="0">
                <a:solidFill>
                  <a:srgbClr val="FFFFFF">
                    <a:alpha val="100000"/>
                  </a:srgbClr>
                </a:solidFill>
                <a:latin typeface="微软雅黑" panose="020B0503020204020204" charset="-122"/>
                <a:ea typeface="微软雅黑" panose="020B0503020204020204" charset="-122"/>
                <a:cs typeface="Arial" panose="020B0604020202020204"/>
              </a:rPr>
              <a:t>13</a:t>
            </a:r>
            <a:endParaRPr lang="en-US" altLang="en-US" sz="1400" dirty="0">
              <a:latin typeface="微软雅黑" panose="020B0503020204020204" charset="-122"/>
              <a:ea typeface="微软雅黑" panose="020B0503020204020204" charset="-122"/>
            </a:endParaRPr>
          </a:p>
        </p:txBody>
      </p:sp>
      <p:pic>
        <p:nvPicPr>
          <p:cNvPr id="409" name="picture 409"/>
          <p:cNvPicPr>
            <a:picLocks noChangeAspect="1"/>
          </p:cNvPicPr>
          <p:nvPr/>
        </p:nvPicPr>
        <p:blipFill>
          <a:blip r:embed="rId24"/>
          <a:stretch>
            <a:fillRect/>
          </a:stretch>
        </p:blipFill>
        <p:spPr>
          <a:xfrm rot="21600000">
            <a:off x="5610352" y="3365373"/>
            <a:ext cx="214883" cy="111251"/>
          </a:xfrm>
          <a:prstGeom prst="rect">
            <a:avLst/>
          </a:prstGeom>
        </p:spPr>
      </p:pic>
      <p:sp>
        <p:nvSpPr>
          <p:cNvPr id="410" name="rect"/>
          <p:cNvSpPr/>
          <p:nvPr/>
        </p:nvSpPr>
        <p:spPr>
          <a:xfrm>
            <a:off x="4241291" y="5004816"/>
            <a:ext cx="644652" cy="36576"/>
          </a:xfrm>
          <a:prstGeom prst="rect">
            <a:avLst/>
          </a:prstGeom>
          <a:solidFill>
            <a:srgbClr val="808080">
              <a:alpha val="100000"/>
            </a:srgbClr>
          </a:solidFill>
          <a:ln cap="flat">
            <a:noFill/>
            <a:prstDash val="solid"/>
            <a:miter lim="0"/>
          </a:ln>
        </p:spPr>
        <p:txBody>
          <a:bodyPr rtlCol="0"/>
          <a:lstStyle/>
          <a:p>
            <a:pPr algn="ctr"/>
            <a:endParaRPr lang="zh-CN" altLang="en-US"/>
          </a:p>
        </p:txBody>
      </p:sp>
      <p:pic>
        <p:nvPicPr>
          <p:cNvPr id="411" name="picture 411"/>
          <p:cNvPicPr>
            <a:picLocks noChangeAspect="1"/>
          </p:cNvPicPr>
          <p:nvPr/>
        </p:nvPicPr>
        <p:blipFill>
          <a:blip r:embed="rId25"/>
          <a:stretch>
            <a:fillRect/>
          </a:stretch>
        </p:blipFill>
        <p:spPr>
          <a:xfrm rot="21600000">
            <a:off x="7094728" y="1772793"/>
            <a:ext cx="272795" cy="85343"/>
          </a:xfrm>
          <a:prstGeom prst="rect">
            <a:avLst/>
          </a:prstGeom>
        </p:spPr>
      </p:pic>
      <p:pic>
        <p:nvPicPr>
          <p:cNvPr id="412" name="picture 412"/>
          <p:cNvPicPr>
            <a:picLocks noChangeAspect="1"/>
          </p:cNvPicPr>
          <p:nvPr/>
        </p:nvPicPr>
        <p:blipFill>
          <a:blip r:embed="rId26"/>
          <a:stretch>
            <a:fillRect/>
          </a:stretch>
        </p:blipFill>
        <p:spPr>
          <a:xfrm rot="21600000">
            <a:off x="4450588" y="4487036"/>
            <a:ext cx="196595" cy="107823"/>
          </a:xfrm>
          <a:prstGeom prst="rect">
            <a:avLst/>
          </a:prstGeom>
        </p:spPr>
      </p:pic>
      <p:pic>
        <p:nvPicPr>
          <p:cNvPr id="413" name="picture 413"/>
          <p:cNvPicPr>
            <a:picLocks noChangeAspect="1"/>
          </p:cNvPicPr>
          <p:nvPr/>
        </p:nvPicPr>
        <p:blipFill>
          <a:blip r:embed="rId27"/>
          <a:stretch>
            <a:fillRect/>
          </a:stretch>
        </p:blipFill>
        <p:spPr>
          <a:xfrm rot="21600000">
            <a:off x="2336800" y="4429125"/>
            <a:ext cx="123444" cy="165735"/>
          </a:xfrm>
          <a:prstGeom prst="rect">
            <a:avLst/>
          </a:prstGeom>
        </p:spPr>
      </p:pic>
      <p:pic>
        <p:nvPicPr>
          <p:cNvPr id="414" name="picture 414"/>
          <p:cNvPicPr>
            <a:picLocks noChangeAspect="1"/>
          </p:cNvPicPr>
          <p:nvPr/>
        </p:nvPicPr>
        <p:blipFill>
          <a:blip r:embed="rId28"/>
          <a:stretch>
            <a:fillRect/>
          </a:stretch>
        </p:blipFill>
        <p:spPr>
          <a:xfrm rot="21600000">
            <a:off x="2594355" y="4461129"/>
            <a:ext cx="146303" cy="133731"/>
          </a:xfrm>
          <a:prstGeom prst="rect">
            <a:avLst/>
          </a:prstGeom>
        </p:spPr>
      </p:pic>
      <p:pic>
        <p:nvPicPr>
          <p:cNvPr id="415" name="picture 415"/>
          <p:cNvPicPr>
            <a:picLocks noChangeAspect="1"/>
          </p:cNvPicPr>
          <p:nvPr/>
        </p:nvPicPr>
        <p:blipFill>
          <a:blip r:embed="rId29"/>
          <a:stretch>
            <a:fillRect/>
          </a:stretch>
        </p:blipFill>
        <p:spPr>
          <a:xfrm rot="21600000">
            <a:off x="3222244" y="4480941"/>
            <a:ext cx="160019" cy="113919"/>
          </a:xfrm>
          <a:prstGeom prst="rect">
            <a:avLst/>
          </a:prstGeom>
        </p:spPr>
      </p:pic>
      <p:sp>
        <p:nvSpPr>
          <p:cNvPr id="416" name="textbox 416"/>
          <p:cNvSpPr/>
          <p:nvPr/>
        </p:nvSpPr>
        <p:spPr>
          <a:xfrm>
            <a:off x="8756015" y="3786505"/>
            <a:ext cx="76200" cy="508635"/>
          </a:xfrm>
          <a:prstGeom prst="rect">
            <a:avLst/>
          </a:prstGeom>
        </p:spPr>
        <p:txBody>
          <a:bodyPr vert="eaVert" wrap="square" lIns="0" tIns="0" rIns="0" bIns="0"/>
          <a:lstStyle/>
          <a:p>
            <a:pPr algn="l" rtl="0" eaLnBrk="0">
              <a:lnSpc>
                <a:spcPct val="85000"/>
              </a:lnSpc>
            </a:pPr>
            <a:endParaRPr lang="en-US" altLang="en-US" sz="100" dirty="0"/>
          </a:p>
          <a:p>
            <a:pPr marL="12700" algn="l" rtl="0" eaLnBrk="0">
              <a:lnSpc>
                <a:spcPct val="79000"/>
              </a:lnSpc>
            </a:pPr>
            <a:endParaRPr sz="600" spc="-10" dirty="0">
              <a:solidFill>
                <a:srgbClr val="808080">
                  <a:alpha val="100000"/>
                </a:srgbClr>
              </a:solidFill>
              <a:latin typeface="Arial" panose="020B0604020202020204"/>
              <a:ea typeface="Arial" panose="020B0604020202020204"/>
              <a:cs typeface="Arial" panose="020B0604020202020204"/>
            </a:endParaRPr>
          </a:p>
        </p:txBody>
      </p:sp>
      <p:pic>
        <p:nvPicPr>
          <p:cNvPr id="417" name="picture 417"/>
          <p:cNvPicPr>
            <a:picLocks noChangeAspect="1"/>
          </p:cNvPicPr>
          <p:nvPr/>
        </p:nvPicPr>
        <p:blipFill>
          <a:blip r:embed="rId30"/>
          <a:stretch>
            <a:fillRect/>
          </a:stretch>
        </p:blipFill>
        <p:spPr>
          <a:xfrm rot="21600000">
            <a:off x="608584" y="3700653"/>
            <a:ext cx="85344" cy="85344"/>
          </a:xfrm>
          <a:prstGeom prst="rect">
            <a:avLst/>
          </a:prstGeom>
        </p:spPr>
      </p:pic>
      <p:grpSp>
        <p:nvGrpSpPr>
          <p:cNvPr id="94" name="group 94"/>
          <p:cNvGrpSpPr/>
          <p:nvPr/>
        </p:nvGrpSpPr>
        <p:grpSpPr>
          <a:xfrm rot="21600000">
            <a:off x="564208" y="3740055"/>
            <a:ext cx="148694" cy="106362"/>
            <a:chOff x="0" y="0"/>
            <a:chExt cx="148694" cy="106362"/>
          </a:xfrm>
        </p:grpSpPr>
        <p:sp>
          <p:nvSpPr>
            <p:cNvPr id="418" name="path"/>
            <p:cNvSpPr/>
            <p:nvPr/>
          </p:nvSpPr>
          <p:spPr>
            <a:xfrm>
              <a:off x="1195" y="4413"/>
              <a:ext cx="146304" cy="97535"/>
            </a:xfrm>
            <a:custGeom>
              <a:avLst/>
              <a:gdLst/>
              <a:ahLst/>
              <a:cxnLst/>
              <a:rect l="0" t="0" r="0" b="0"/>
              <a:pathLst>
                <a:path w="230" h="153">
                  <a:moveTo>
                    <a:pt x="0" y="63"/>
                  </a:moveTo>
                  <a:lnTo>
                    <a:pt x="230" y="0"/>
                  </a:lnTo>
                  <a:lnTo>
                    <a:pt x="230" y="90"/>
                  </a:lnTo>
                  <a:lnTo>
                    <a:pt x="0" y="153"/>
                  </a:lnTo>
                  <a:lnTo>
                    <a:pt x="0" y="63"/>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419" name="path"/>
            <p:cNvSpPr/>
            <p:nvPr/>
          </p:nvSpPr>
          <p:spPr>
            <a:xfrm>
              <a:off x="0" y="0"/>
              <a:ext cx="148694" cy="106362"/>
            </a:xfrm>
            <a:custGeom>
              <a:avLst/>
              <a:gdLst/>
              <a:ahLst/>
              <a:cxnLst/>
              <a:rect l="0" t="0" r="0" b="0"/>
              <a:pathLst>
                <a:path w="234" h="167">
                  <a:moveTo>
                    <a:pt x="1" y="160"/>
                  </a:moveTo>
                  <a:lnTo>
                    <a:pt x="232" y="98"/>
                  </a:lnTo>
                  <a:moveTo>
                    <a:pt x="1" y="69"/>
                  </a:moveTo>
                  <a:lnTo>
                    <a:pt x="232" y="6"/>
                  </a:lnTo>
                </a:path>
              </a:pathLst>
            </a:custGeom>
            <a:noFill/>
            <a:ln w="9143" cap="flat">
              <a:solidFill>
                <a:srgbClr val="808080">
                  <a:alpha val="100000"/>
                </a:srgbClr>
              </a:solidFill>
              <a:prstDash val="solid"/>
              <a:round/>
            </a:ln>
          </p:spPr>
          <p:txBody>
            <a:bodyPr rtlCol="0"/>
            <a:lstStyle/>
            <a:p>
              <a:pPr algn="ctr"/>
              <a:endParaRPr lang="zh-CN" altLang="en-US"/>
            </a:p>
          </p:txBody>
        </p:sp>
      </p:grpSp>
      <p:grpSp>
        <p:nvGrpSpPr>
          <p:cNvPr id="96" name="group 96"/>
          <p:cNvGrpSpPr/>
          <p:nvPr/>
        </p:nvGrpSpPr>
        <p:grpSpPr>
          <a:xfrm rot="21600000">
            <a:off x="564208" y="1691799"/>
            <a:ext cx="148694" cy="106362"/>
            <a:chOff x="0" y="0"/>
            <a:chExt cx="148694" cy="106362"/>
          </a:xfrm>
        </p:grpSpPr>
        <p:sp>
          <p:nvSpPr>
            <p:cNvPr id="420" name="path"/>
            <p:cNvSpPr/>
            <p:nvPr/>
          </p:nvSpPr>
          <p:spPr>
            <a:xfrm>
              <a:off x="1195" y="4412"/>
              <a:ext cx="146304" cy="97536"/>
            </a:xfrm>
            <a:custGeom>
              <a:avLst/>
              <a:gdLst/>
              <a:ahLst/>
              <a:cxnLst/>
              <a:rect l="0" t="0" r="0" b="0"/>
              <a:pathLst>
                <a:path w="230" h="153">
                  <a:moveTo>
                    <a:pt x="0" y="63"/>
                  </a:moveTo>
                  <a:lnTo>
                    <a:pt x="230" y="0"/>
                  </a:lnTo>
                  <a:lnTo>
                    <a:pt x="230" y="90"/>
                  </a:lnTo>
                  <a:lnTo>
                    <a:pt x="0" y="153"/>
                  </a:lnTo>
                  <a:lnTo>
                    <a:pt x="0" y="63"/>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421" name="path"/>
            <p:cNvSpPr/>
            <p:nvPr/>
          </p:nvSpPr>
          <p:spPr>
            <a:xfrm>
              <a:off x="0" y="0"/>
              <a:ext cx="148694" cy="106362"/>
            </a:xfrm>
            <a:custGeom>
              <a:avLst/>
              <a:gdLst/>
              <a:ahLst/>
              <a:cxnLst/>
              <a:rect l="0" t="0" r="0" b="0"/>
              <a:pathLst>
                <a:path w="234" h="167">
                  <a:moveTo>
                    <a:pt x="1" y="69"/>
                  </a:moveTo>
                  <a:lnTo>
                    <a:pt x="232" y="6"/>
                  </a:lnTo>
                  <a:moveTo>
                    <a:pt x="1" y="160"/>
                  </a:moveTo>
                  <a:lnTo>
                    <a:pt x="232" y="98"/>
                  </a:lnTo>
                </a:path>
              </a:pathLst>
            </a:custGeom>
            <a:noFill/>
            <a:ln w="9143" cap="flat">
              <a:solidFill>
                <a:srgbClr val="808080">
                  <a:alpha val="100000"/>
                </a:srgbClr>
              </a:solidFill>
              <a:prstDash val="solid"/>
              <a:round/>
            </a:ln>
          </p:spPr>
          <p:txBody>
            <a:bodyPr rtlCol="0"/>
            <a:lstStyle/>
            <a:p>
              <a:pPr algn="ctr"/>
              <a:endParaRPr lang="zh-CN" altLang="en-US"/>
            </a:p>
          </p:txBody>
        </p:sp>
      </p:grpSp>
      <p:pic>
        <p:nvPicPr>
          <p:cNvPr id="422" name="picture 422"/>
          <p:cNvPicPr>
            <a:picLocks noChangeAspect="1"/>
          </p:cNvPicPr>
          <p:nvPr/>
        </p:nvPicPr>
        <p:blipFill>
          <a:blip r:embed="rId31"/>
          <a:stretch>
            <a:fillRect/>
          </a:stretch>
        </p:blipFill>
        <p:spPr>
          <a:xfrm rot="21600000">
            <a:off x="6506464" y="4509897"/>
            <a:ext cx="85343" cy="84963"/>
          </a:xfrm>
          <a:prstGeom prst="rect">
            <a:avLst/>
          </a:prstGeom>
        </p:spPr>
      </p:pic>
      <p:grpSp>
        <p:nvGrpSpPr>
          <p:cNvPr id="98" name="group 98"/>
          <p:cNvGrpSpPr/>
          <p:nvPr/>
        </p:nvGrpSpPr>
        <p:grpSpPr>
          <a:xfrm rot="21600000">
            <a:off x="6408578" y="4471744"/>
            <a:ext cx="106361" cy="148694"/>
            <a:chOff x="0" y="0"/>
            <a:chExt cx="106361" cy="148694"/>
          </a:xfrm>
        </p:grpSpPr>
        <p:sp>
          <p:nvSpPr>
            <p:cNvPr id="423" name="path"/>
            <p:cNvSpPr/>
            <p:nvPr/>
          </p:nvSpPr>
          <p:spPr>
            <a:xfrm>
              <a:off x="4412" y="1195"/>
              <a:ext cx="97535" cy="146304"/>
            </a:xfrm>
            <a:custGeom>
              <a:avLst/>
              <a:gdLst/>
              <a:ahLst/>
              <a:cxnLst/>
              <a:rect l="0" t="0" r="0" b="0"/>
              <a:pathLst>
                <a:path w="153" h="230">
                  <a:moveTo>
                    <a:pt x="153" y="0"/>
                  </a:moveTo>
                  <a:lnTo>
                    <a:pt x="90" y="230"/>
                  </a:lnTo>
                  <a:lnTo>
                    <a:pt x="0" y="230"/>
                  </a:lnTo>
                  <a:lnTo>
                    <a:pt x="63" y="0"/>
                  </a:lnTo>
                  <a:lnTo>
                    <a:pt x="153" y="0"/>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424" name="path"/>
            <p:cNvSpPr/>
            <p:nvPr/>
          </p:nvSpPr>
          <p:spPr>
            <a:xfrm>
              <a:off x="0" y="0"/>
              <a:ext cx="106361" cy="148694"/>
            </a:xfrm>
            <a:custGeom>
              <a:avLst/>
              <a:gdLst/>
              <a:ahLst/>
              <a:cxnLst/>
              <a:rect l="0" t="0" r="0" b="0"/>
              <a:pathLst>
                <a:path w="167" h="234">
                  <a:moveTo>
                    <a:pt x="69" y="1"/>
                  </a:moveTo>
                  <a:lnTo>
                    <a:pt x="6" y="232"/>
                  </a:lnTo>
                  <a:moveTo>
                    <a:pt x="160" y="1"/>
                  </a:moveTo>
                  <a:lnTo>
                    <a:pt x="98" y="232"/>
                  </a:lnTo>
                </a:path>
              </a:pathLst>
            </a:custGeom>
            <a:noFill/>
            <a:ln w="9143" cap="flat">
              <a:solidFill>
                <a:srgbClr val="808080">
                  <a:alpha val="100000"/>
                </a:srgbClr>
              </a:solidFill>
              <a:prstDash val="solid"/>
              <a:round/>
            </a:ln>
          </p:spPr>
          <p:txBody>
            <a:bodyPr rtlCol="0"/>
            <a:lstStyle/>
            <a:p>
              <a:pPr algn="ctr"/>
              <a:endParaRPr lang="zh-CN" altLang="en-US"/>
            </a:p>
          </p:txBody>
        </p:sp>
      </p:grpSp>
      <p:grpSp>
        <p:nvGrpSpPr>
          <p:cNvPr id="100" name="group 100"/>
          <p:cNvGrpSpPr/>
          <p:nvPr/>
        </p:nvGrpSpPr>
        <p:grpSpPr>
          <a:xfrm rot="21600000">
            <a:off x="5515515" y="4471744"/>
            <a:ext cx="104837" cy="148694"/>
            <a:chOff x="0" y="0"/>
            <a:chExt cx="104837" cy="148694"/>
          </a:xfrm>
        </p:grpSpPr>
        <p:sp>
          <p:nvSpPr>
            <p:cNvPr id="425" name="path"/>
            <p:cNvSpPr/>
            <p:nvPr/>
          </p:nvSpPr>
          <p:spPr>
            <a:xfrm>
              <a:off x="4412" y="1195"/>
              <a:ext cx="96011" cy="146304"/>
            </a:xfrm>
            <a:custGeom>
              <a:avLst/>
              <a:gdLst/>
              <a:ahLst/>
              <a:cxnLst/>
              <a:rect l="0" t="0" r="0" b="0"/>
              <a:pathLst>
                <a:path w="151" h="230">
                  <a:moveTo>
                    <a:pt x="151" y="0"/>
                  </a:moveTo>
                  <a:lnTo>
                    <a:pt x="89" y="230"/>
                  </a:lnTo>
                  <a:lnTo>
                    <a:pt x="0" y="230"/>
                  </a:lnTo>
                  <a:lnTo>
                    <a:pt x="62" y="0"/>
                  </a:lnTo>
                  <a:lnTo>
                    <a:pt x="151" y="0"/>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426" name="path"/>
            <p:cNvSpPr/>
            <p:nvPr/>
          </p:nvSpPr>
          <p:spPr>
            <a:xfrm>
              <a:off x="0" y="0"/>
              <a:ext cx="104837" cy="148694"/>
            </a:xfrm>
            <a:custGeom>
              <a:avLst/>
              <a:gdLst/>
              <a:ahLst/>
              <a:cxnLst/>
              <a:rect l="0" t="0" r="0" b="0"/>
              <a:pathLst>
                <a:path w="165" h="234">
                  <a:moveTo>
                    <a:pt x="158" y="1"/>
                  </a:moveTo>
                  <a:lnTo>
                    <a:pt x="95" y="232"/>
                  </a:lnTo>
                  <a:moveTo>
                    <a:pt x="69" y="1"/>
                  </a:moveTo>
                  <a:lnTo>
                    <a:pt x="6" y="232"/>
                  </a:lnTo>
                </a:path>
              </a:pathLst>
            </a:custGeom>
            <a:noFill/>
            <a:ln w="9143" cap="flat">
              <a:solidFill>
                <a:srgbClr val="808080">
                  <a:alpha val="100000"/>
                </a:srgbClr>
              </a:solidFill>
              <a:prstDash val="solid"/>
              <a:round/>
            </a:ln>
          </p:spPr>
          <p:txBody>
            <a:bodyPr rtlCol="0"/>
            <a:lstStyle/>
            <a:p>
              <a:pPr algn="ctr"/>
              <a:endParaRPr lang="zh-CN" altLang="en-US"/>
            </a:p>
          </p:txBody>
        </p:sp>
      </p:grpSp>
      <p:grpSp>
        <p:nvGrpSpPr>
          <p:cNvPr id="102" name="group 102"/>
          <p:cNvGrpSpPr/>
          <p:nvPr/>
        </p:nvGrpSpPr>
        <p:grpSpPr>
          <a:xfrm rot="21600000">
            <a:off x="4256690" y="4471744"/>
            <a:ext cx="104837" cy="148694"/>
            <a:chOff x="0" y="0"/>
            <a:chExt cx="104837" cy="148694"/>
          </a:xfrm>
        </p:grpSpPr>
        <p:sp>
          <p:nvSpPr>
            <p:cNvPr id="427" name="path"/>
            <p:cNvSpPr/>
            <p:nvPr/>
          </p:nvSpPr>
          <p:spPr>
            <a:xfrm>
              <a:off x="4412" y="1195"/>
              <a:ext cx="96011" cy="146304"/>
            </a:xfrm>
            <a:custGeom>
              <a:avLst/>
              <a:gdLst/>
              <a:ahLst/>
              <a:cxnLst/>
              <a:rect l="0" t="0" r="0" b="0"/>
              <a:pathLst>
                <a:path w="151" h="230">
                  <a:moveTo>
                    <a:pt x="151" y="0"/>
                  </a:moveTo>
                  <a:lnTo>
                    <a:pt x="89" y="230"/>
                  </a:lnTo>
                  <a:lnTo>
                    <a:pt x="0" y="230"/>
                  </a:lnTo>
                  <a:lnTo>
                    <a:pt x="62" y="0"/>
                  </a:lnTo>
                  <a:lnTo>
                    <a:pt x="151" y="0"/>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428" name="path"/>
            <p:cNvSpPr/>
            <p:nvPr/>
          </p:nvSpPr>
          <p:spPr>
            <a:xfrm>
              <a:off x="0" y="0"/>
              <a:ext cx="104837" cy="148694"/>
            </a:xfrm>
            <a:custGeom>
              <a:avLst/>
              <a:gdLst/>
              <a:ahLst/>
              <a:cxnLst/>
              <a:rect l="0" t="0" r="0" b="0"/>
              <a:pathLst>
                <a:path w="165" h="234">
                  <a:moveTo>
                    <a:pt x="158" y="1"/>
                  </a:moveTo>
                  <a:lnTo>
                    <a:pt x="95" y="232"/>
                  </a:lnTo>
                  <a:moveTo>
                    <a:pt x="69" y="1"/>
                  </a:moveTo>
                  <a:lnTo>
                    <a:pt x="6" y="232"/>
                  </a:lnTo>
                </a:path>
              </a:pathLst>
            </a:custGeom>
            <a:noFill/>
            <a:ln w="9143" cap="flat">
              <a:solidFill>
                <a:srgbClr val="808080">
                  <a:alpha val="100000"/>
                </a:srgbClr>
              </a:solidFill>
              <a:prstDash val="solid"/>
              <a:round/>
            </a:ln>
          </p:spPr>
          <p:txBody>
            <a:bodyPr rtlCol="0"/>
            <a:lstStyle/>
            <a:p>
              <a:pPr algn="ctr"/>
              <a:endParaRPr lang="zh-CN" altLang="en-US"/>
            </a:p>
          </p:txBody>
        </p:sp>
      </p:grpSp>
      <p:sp>
        <p:nvSpPr>
          <p:cNvPr id="429" name="rect"/>
          <p:cNvSpPr/>
          <p:nvPr/>
        </p:nvSpPr>
        <p:spPr>
          <a:xfrm>
            <a:off x="6448044" y="868680"/>
            <a:ext cx="417575" cy="36576"/>
          </a:xfrm>
          <a:prstGeom prst="rect">
            <a:avLst/>
          </a:prstGeom>
          <a:solidFill>
            <a:srgbClr val="808080">
              <a:alpha val="100000"/>
            </a:srgbClr>
          </a:solidFill>
          <a:ln cap="flat">
            <a:noFill/>
            <a:prstDash val="solid"/>
            <a:miter lim="0"/>
          </a:ln>
        </p:spPr>
        <p:txBody>
          <a:bodyPr rtlCol="0"/>
          <a:lstStyle/>
          <a:p>
            <a:pPr algn="ctr"/>
            <a:endParaRPr lang="zh-CN" altLang="en-US"/>
          </a:p>
        </p:txBody>
      </p:sp>
      <p:pic>
        <p:nvPicPr>
          <p:cNvPr id="430" name="picture 430"/>
          <p:cNvPicPr>
            <a:picLocks noChangeAspect="1"/>
          </p:cNvPicPr>
          <p:nvPr/>
        </p:nvPicPr>
        <p:blipFill>
          <a:blip r:embed="rId32"/>
          <a:stretch>
            <a:fillRect/>
          </a:stretch>
        </p:blipFill>
        <p:spPr>
          <a:xfrm rot="21600000">
            <a:off x="608584" y="3517772"/>
            <a:ext cx="85344" cy="169164"/>
          </a:xfrm>
          <a:prstGeom prst="rect">
            <a:avLst/>
          </a:prstGeom>
        </p:spPr>
      </p:pic>
      <p:pic>
        <p:nvPicPr>
          <p:cNvPr id="431" name="picture 431"/>
          <p:cNvPicPr>
            <a:picLocks noChangeAspect="1"/>
          </p:cNvPicPr>
          <p:nvPr/>
        </p:nvPicPr>
        <p:blipFill>
          <a:blip r:embed="rId33"/>
          <a:stretch>
            <a:fillRect/>
          </a:stretch>
        </p:blipFill>
        <p:spPr>
          <a:xfrm rot="21600000">
            <a:off x="1318767" y="4285869"/>
            <a:ext cx="111252" cy="124968"/>
          </a:xfrm>
          <a:prstGeom prst="rect">
            <a:avLst/>
          </a:prstGeom>
        </p:spPr>
      </p:pic>
      <p:sp>
        <p:nvSpPr>
          <p:cNvPr id="432" name="textbox 432"/>
          <p:cNvSpPr/>
          <p:nvPr/>
        </p:nvSpPr>
        <p:spPr>
          <a:xfrm>
            <a:off x="3043345" y="4699574"/>
            <a:ext cx="118110" cy="196214"/>
          </a:xfrm>
          <a:prstGeom prst="rect">
            <a:avLst/>
          </a:prstGeom>
        </p:spPr>
        <p:txBody>
          <a:bodyPr vert="horz" wrap="square" lIns="0" tIns="0" rIns="0" bIns="0"/>
          <a:lstStyle/>
          <a:p>
            <a:pPr algn="l" rtl="0" eaLnBrk="0">
              <a:lnSpc>
                <a:spcPct val="83000"/>
              </a:lnSpc>
            </a:pPr>
            <a:endParaRPr lang="en-US" altLang="en-US" sz="100" dirty="0">
              <a:latin typeface="微软雅黑" panose="020B0503020204020204" charset="-122"/>
              <a:ea typeface="微软雅黑" panose="020B0503020204020204" charset="-122"/>
            </a:endParaRPr>
          </a:p>
          <a:p>
            <a:pPr marL="12700" algn="l" rtl="0" eaLnBrk="0">
              <a:lnSpc>
                <a:spcPct val="80000"/>
              </a:lnSpc>
            </a:pPr>
            <a:r>
              <a:rPr sz="1400" spc="0" dirty="0">
                <a:solidFill>
                  <a:srgbClr val="000000">
                    <a:alpha val="100000"/>
                  </a:srgbClr>
                </a:solidFill>
                <a:latin typeface="微软雅黑" panose="020B0503020204020204" charset="-122"/>
                <a:ea typeface="微软雅黑" panose="020B0503020204020204" charset="-122"/>
                <a:cs typeface="Arial" panose="020B0604020202020204"/>
              </a:rPr>
              <a:t>6</a:t>
            </a:r>
            <a:endParaRPr lang="en-US" altLang="en-US" sz="1400" dirty="0">
              <a:latin typeface="微软雅黑" panose="020B0503020204020204" charset="-122"/>
              <a:ea typeface="微软雅黑" panose="020B0503020204020204" charset="-122"/>
            </a:endParaRPr>
          </a:p>
        </p:txBody>
      </p:sp>
      <p:sp>
        <p:nvSpPr>
          <p:cNvPr id="433" name="textbox 433"/>
          <p:cNvSpPr/>
          <p:nvPr/>
        </p:nvSpPr>
        <p:spPr>
          <a:xfrm>
            <a:off x="4511290" y="4775266"/>
            <a:ext cx="117475" cy="196214"/>
          </a:xfrm>
          <a:prstGeom prst="rect">
            <a:avLst/>
          </a:prstGeom>
        </p:spPr>
        <p:txBody>
          <a:bodyPr vert="horz" wrap="square" lIns="0" tIns="0" rIns="0" bIns="0"/>
          <a:lstStyle/>
          <a:p>
            <a:pPr algn="l" rtl="0" eaLnBrk="0">
              <a:lnSpc>
                <a:spcPct val="83000"/>
              </a:lnSpc>
            </a:pPr>
            <a:endParaRPr lang="en-US" altLang="en-US" sz="100" dirty="0">
              <a:latin typeface="微软雅黑" panose="020B0503020204020204" charset="-122"/>
              <a:ea typeface="微软雅黑" panose="020B0503020204020204" charset="-122"/>
            </a:endParaRPr>
          </a:p>
          <a:p>
            <a:pPr marL="12700" algn="l" rtl="0" eaLnBrk="0">
              <a:lnSpc>
                <a:spcPct val="80000"/>
              </a:lnSpc>
            </a:pPr>
            <a:r>
              <a:rPr sz="1400" spc="0" dirty="0">
                <a:solidFill>
                  <a:srgbClr val="000000">
                    <a:alpha val="100000"/>
                  </a:srgbClr>
                </a:solidFill>
                <a:latin typeface="微软雅黑" panose="020B0503020204020204" charset="-122"/>
                <a:ea typeface="微软雅黑" panose="020B0503020204020204" charset="-122"/>
                <a:cs typeface="Arial" panose="020B0604020202020204"/>
              </a:rPr>
              <a:t>0</a:t>
            </a:r>
            <a:endParaRPr lang="en-US" altLang="en-US" sz="1400" dirty="0">
              <a:latin typeface="微软雅黑" panose="020B0503020204020204" charset="-122"/>
              <a:ea typeface="微软雅黑" panose="020B0503020204020204" charset="-122"/>
            </a:endParaRPr>
          </a:p>
        </p:txBody>
      </p:sp>
      <p:sp>
        <p:nvSpPr>
          <p:cNvPr id="434" name="rect"/>
          <p:cNvSpPr/>
          <p:nvPr/>
        </p:nvSpPr>
        <p:spPr>
          <a:xfrm>
            <a:off x="5266944" y="4930140"/>
            <a:ext cx="1066800" cy="9144"/>
          </a:xfrm>
          <a:prstGeom prst="rect">
            <a:avLst/>
          </a:prstGeom>
          <a:solidFill>
            <a:srgbClr val="808080">
              <a:alpha val="100000"/>
            </a:srgbClr>
          </a:solidFill>
          <a:ln cap="flat">
            <a:noFill/>
            <a:prstDash val="solid"/>
            <a:miter lim="0"/>
          </a:ln>
        </p:spPr>
        <p:txBody>
          <a:bodyPr rtlCol="0"/>
          <a:lstStyle/>
          <a:p>
            <a:pPr algn="ctr"/>
            <a:endParaRPr lang="zh-CN" altLang="en-US"/>
          </a:p>
        </p:txBody>
      </p:sp>
      <p:sp>
        <p:nvSpPr>
          <p:cNvPr id="435" name="rect"/>
          <p:cNvSpPr/>
          <p:nvPr/>
        </p:nvSpPr>
        <p:spPr>
          <a:xfrm>
            <a:off x="1916175" y="4525136"/>
            <a:ext cx="134112" cy="69723"/>
          </a:xfrm>
          <a:prstGeom prst="rect">
            <a:avLst/>
          </a:prstGeom>
          <a:solidFill>
            <a:srgbClr val="002960">
              <a:alpha val="96470"/>
            </a:srgbClr>
          </a:solidFill>
          <a:ln cap="flat">
            <a:noFill/>
            <a:prstDash val="solid"/>
            <a:miter lim="0"/>
          </a:ln>
        </p:spPr>
        <p:txBody>
          <a:bodyPr rtlCol="0"/>
          <a:lstStyle/>
          <a:p>
            <a:pPr algn="ctr"/>
            <a:endParaRPr lang="zh-CN" altLang="en-US"/>
          </a:p>
        </p:txBody>
      </p:sp>
      <p:pic>
        <p:nvPicPr>
          <p:cNvPr id="436" name="picture 436"/>
          <p:cNvPicPr>
            <a:picLocks noChangeAspect="1"/>
          </p:cNvPicPr>
          <p:nvPr/>
        </p:nvPicPr>
        <p:blipFill>
          <a:blip r:embed="rId34"/>
          <a:stretch>
            <a:fillRect/>
          </a:stretch>
        </p:blipFill>
        <p:spPr>
          <a:xfrm rot="21600000">
            <a:off x="608584" y="2699385"/>
            <a:ext cx="85344" cy="103632"/>
          </a:xfrm>
          <a:prstGeom prst="rect">
            <a:avLst/>
          </a:prstGeom>
        </p:spPr>
      </p:pic>
      <p:sp>
        <p:nvSpPr>
          <p:cNvPr id="437" name="rect"/>
          <p:cNvSpPr/>
          <p:nvPr/>
        </p:nvSpPr>
        <p:spPr>
          <a:xfrm>
            <a:off x="990600" y="4930140"/>
            <a:ext cx="897635" cy="9144"/>
          </a:xfrm>
          <a:prstGeom prst="rect">
            <a:avLst/>
          </a:prstGeom>
          <a:solidFill>
            <a:srgbClr val="808080">
              <a:alpha val="100000"/>
            </a:srgbClr>
          </a:solidFill>
          <a:ln cap="flat">
            <a:noFill/>
            <a:prstDash val="solid"/>
            <a:miter lim="0"/>
          </a:ln>
        </p:spPr>
        <p:txBody>
          <a:bodyPr rtlCol="0"/>
          <a:lstStyle/>
          <a:p>
            <a:pPr algn="ctr"/>
            <a:endParaRPr lang="zh-CN" altLang="en-US"/>
          </a:p>
        </p:txBody>
      </p:sp>
      <p:pic>
        <p:nvPicPr>
          <p:cNvPr id="438" name="picture 438"/>
          <p:cNvPicPr>
            <a:picLocks noChangeAspect="1"/>
          </p:cNvPicPr>
          <p:nvPr/>
        </p:nvPicPr>
        <p:blipFill>
          <a:blip r:embed="rId35"/>
          <a:stretch>
            <a:fillRect/>
          </a:stretch>
        </p:blipFill>
        <p:spPr>
          <a:xfrm rot="21600000">
            <a:off x="2028952" y="3659505"/>
            <a:ext cx="85344" cy="85344"/>
          </a:xfrm>
          <a:prstGeom prst="rect">
            <a:avLst/>
          </a:prstGeom>
        </p:spPr>
      </p:pic>
      <p:pic>
        <p:nvPicPr>
          <p:cNvPr id="439" name="picture 439"/>
          <p:cNvPicPr>
            <a:picLocks noChangeAspect="1"/>
          </p:cNvPicPr>
          <p:nvPr/>
        </p:nvPicPr>
        <p:blipFill>
          <a:blip r:embed="rId36"/>
          <a:stretch>
            <a:fillRect/>
          </a:stretch>
        </p:blipFill>
        <p:spPr>
          <a:xfrm rot="21600000">
            <a:off x="1807972" y="4089272"/>
            <a:ext cx="85344" cy="85344"/>
          </a:xfrm>
          <a:prstGeom prst="rect">
            <a:avLst/>
          </a:prstGeom>
        </p:spPr>
      </p:pic>
      <p:pic>
        <p:nvPicPr>
          <p:cNvPr id="440" name="picture 440"/>
          <p:cNvPicPr>
            <a:picLocks noChangeAspect="1"/>
          </p:cNvPicPr>
          <p:nvPr/>
        </p:nvPicPr>
        <p:blipFill>
          <a:blip r:embed="rId37"/>
          <a:stretch>
            <a:fillRect/>
          </a:stretch>
        </p:blipFill>
        <p:spPr>
          <a:xfrm rot="21600000">
            <a:off x="2751327" y="3529965"/>
            <a:ext cx="85344" cy="85344"/>
          </a:xfrm>
          <a:prstGeom prst="rect">
            <a:avLst/>
          </a:prstGeom>
        </p:spPr>
      </p:pic>
      <p:pic>
        <p:nvPicPr>
          <p:cNvPr id="441" name="picture 441"/>
          <p:cNvPicPr>
            <a:picLocks noChangeAspect="1"/>
          </p:cNvPicPr>
          <p:nvPr/>
        </p:nvPicPr>
        <p:blipFill>
          <a:blip r:embed="rId38"/>
          <a:stretch>
            <a:fillRect/>
          </a:stretch>
        </p:blipFill>
        <p:spPr>
          <a:xfrm rot="21600000">
            <a:off x="1835404" y="3661029"/>
            <a:ext cx="85344" cy="85344"/>
          </a:xfrm>
          <a:prstGeom prst="rect">
            <a:avLst/>
          </a:prstGeom>
        </p:spPr>
      </p:pic>
      <p:pic>
        <p:nvPicPr>
          <p:cNvPr id="442" name="picture 442"/>
          <p:cNvPicPr>
            <a:picLocks noChangeAspect="1"/>
          </p:cNvPicPr>
          <p:nvPr/>
        </p:nvPicPr>
        <p:blipFill>
          <a:blip r:embed="rId39"/>
          <a:stretch>
            <a:fillRect/>
          </a:stretch>
        </p:blipFill>
        <p:spPr>
          <a:xfrm rot="21600000">
            <a:off x="2487675" y="4377308"/>
            <a:ext cx="85344" cy="85344"/>
          </a:xfrm>
          <a:prstGeom prst="rect">
            <a:avLst/>
          </a:prstGeom>
        </p:spPr>
      </p:pic>
      <p:pic>
        <p:nvPicPr>
          <p:cNvPr id="443" name="picture 443"/>
          <p:cNvPicPr>
            <a:picLocks noChangeAspect="1"/>
          </p:cNvPicPr>
          <p:nvPr/>
        </p:nvPicPr>
        <p:blipFill>
          <a:blip r:embed="rId40"/>
          <a:stretch>
            <a:fillRect/>
          </a:stretch>
        </p:blipFill>
        <p:spPr>
          <a:xfrm rot="21600000">
            <a:off x="1195324" y="3862197"/>
            <a:ext cx="85344" cy="85344"/>
          </a:xfrm>
          <a:prstGeom prst="rect">
            <a:avLst/>
          </a:prstGeom>
        </p:spPr>
      </p:pic>
      <p:pic>
        <p:nvPicPr>
          <p:cNvPr id="444" name="picture 444"/>
          <p:cNvPicPr>
            <a:picLocks noChangeAspect="1"/>
          </p:cNvPicPr>
          <p:nvPr/>
        </p:nvPicPr>
        <p:blipFill>
          <a:blip r:embed="rId41"/>
          <a:stretch>
            <a:fillRect/>
          </a:stretch>
        </p:blipFill>
        <p:spPr>
          <a:xfrm rot="21600000">
            <a:off x="1103883" y="4066413"/>
            <a:ext cx="85344" cy="85344"/>
          </a:xfrm>
          <a:prstGeom prst="rect">
            <a:avLst/>
          </a:prstGeom>
        </p:spPr>
      </p:pic>
      <p:pic>
        <p:nvPicPr>
          <p:cNvPr id="445" name="picture 445"/>
          <p:cNvPicPr>
            <a:picLocks noChangeAspect="1"/>
          </p:cNvPicPr>
          <p:nvPr/>
        </p:nvPicPr>
        <p:blipFill>
          <a:blip r:embed="rId42"/>
          <a:stretch>
            <a:fillRect/>
          </a:stretch>
        </p:blipFill>
        <p:spPr>
          <a:xfrm rot="21600000">
            <a:off x="1937511" y="3831717"/>
            <a:ext cx="85344" cy="85344"/>
          </a:xfrm>
          <a:prstGeom prst="rect">
            <a:avLst/>
          </a:prstGeom>
        </p:spPr>
      </p:pic>
      <p:pic>
        <p:nvPicPr>
          <p:cNvPr id="446" name="picture 446"/>
          <p:cNvPicPr>
            <a:picLocks noChangeAspect="1"/>
          </p:cNvPicPr>
          <p:nvPr/>
        </p:nvPicPr>
        <p:blipFill>
          <a:blip r:embed="rId43"/>
          <a:stretch>
            <a:fillRect/>
          </a:stretch>
        </p:blipFill>
        <p:spPr>
          <a:xfrm rot="21600000">
            <a:off x="2155444" y="4043553"/>
            <a:ext cx="85344" cy="85344"/>
          </a:xfrm>
          <a:prstGeom prst="rect">
            <a:avLst/>
          </a:prstGeom>
        </p:spPr>
      </p:pic>
      <p:pic>
        <p:nvPicPr>
          <p:cNvPr id="447" name="picture 447"/>
          <p:cNvPicPr>
            <a:picLocks noChangeAspect="1"/>
          </p:cNvPicPr>
          <p:nvPr/>
        </p:nvPicPr>
        <p:blipFill>
          <a:blip r:embed="rId44"/>
          <a:stretch>
            <a:fillRect/>
          </a:stretch>
        </p:blipFill>
        <p:spPr>
          <a:xfrm rot="21600000">
            <a:off x="1542796" y="4049648"/>
            <a:ext cx="85343" cy="85344"/>
          </a:xfrm>
          <a:prstGeom prst="rect">
            <a:avLst/>
          </a:prstGeom>
        </p:spPr>
      </p:pic>
      <p:pic>
        <p:nvPicPr>
          <p:cNvPr id="448" name="picture 448"/>
          <p:cNvPicPr>
            <a:picLocks noChangeAspect="1"/>
          </p:cNvPicPr>
          <p:nvPr/>
        </p:nvPicPr>
        <p:blipFill>
          <a:blip r:embed="rId45"/>
          <a:stretch>
            <a:fillRect/>
          </a:stretch>
        </p:blipFill>
        <p:spPr>
          <a:xfrm rot="21600000">
            <a:off x="3728211" y="3621405"/>
            <a:ext cx="85343" cy="85344"/>
          </a:xfrm>
          <a:prstGeom prst="rect">
            <a:avLst/>
          </a:prstGeom>
        </p:spPr>
      </p:pic>
      <p:pic>
        <p:nvPicPr>
          <p:cNvPr id="449" name="picture 449"/>
          <p:cNvPicPr>
            <a:picLocks noChangeAspect="1"/>
          </p:cNvPicPr>
          <p:nvPr/>
        </p:nvPicPr>
        <p:blipFill>
          <a:blip r:embed="rId46"/>
          <a:stretch>
            <a:fillRect/>
          </a:stretch>
        </p:blipFill>
        <p:spPr>
          <a:xfrm rot="21600000">
            <a:off x="6242811" y="4387977"/>
            <a:ext cx="85343" cy="85344"/>
          </a:xfrm>
          <a:prstGeom prst="rect">
            <a:avLst/>
          </a:prstGeom>
        </p:spPr>
      </p:pic>
      <p:sp>
        <p:nvSpPr>
          <p:cNvPr id="450" name="rect"/>
          <p:cNvSpPr/>
          <p:nvPr/>
        </p:nvSpPr>
        <p:spPr>
          <a:xfrm>
            <a:off x="826516" y="3331845"/>
            <a:ext cx="85344" cy="85343"/>
          </a:xfrm>
          <a:prstGeom prst="rect">
            <a:avLst/>
          </a:prstGeom>
          <a:solidFill>
            <a:srgbClr val="002960">
              <a:alpha val="96078"/>
            </a:srgbClr>
          </a:solidFill>
          <a:ln cap="flat">
            <a:noFill/>
            <a:prstDash val="solid"/>
            <a:miter lim="0"/>
          </a:ln>
        </p:spPr>
        <p:txBody>
          <a:bodyPr rtlCol="0"/>
          <a:lstStyle/>
          <a:p>
            <a:pPr algn="ctr"/>
            <a:endParaRPr lang="zh-CN" altLang="en-US"/>
          </a:p>
        </p:txBody>
      </p:sp>
      <p:pic>
        <p:nvPicPr>
          <p:cNvPr id="451" name="picture 451"/>
          <p:cNvPicPr>
            <a:picLocks noChangeAspect="1"/>
          </p:cNvPicPr>
          <p:nvPr/>
        </p:nvPicPr>
        <p:blipFill>
          <a:blip r:embed="rId47"/>
          <a:stretch>
            <a:fillRect/>
          </a:stretch>
        </p:blipFill>
        <p:spPr>
          <a:xfrm rot="21600000">
            <a:off x="945388" y="3321177"/>
            <a:ext cx="85344" cy="85343"/>
          </a:xfrm>
          <a:prstGeom prst="rect">
            <a:avLst/>
          </a:prstGeom>
        </p:spPr>
      </p:pic>
      <p:pic>
        <p:nvPicPr>
          <p:cNvPr id="452" name="picture 452"/>
          <p:cNvPicPr>
            <a:picLocks noChangeAspect="1"/>
          </p:cNvPicPr>
          <p:nvPr/>
        </p:nvPicPr>
        <p:blipFill>
          <a:blip r:embed="rId48"/>
          <a:stretch>
            <a:fillRect/>
          </a:stretch>
        </p:blipFill>
        <p:spPr>
          <a:xfrm rot="21600000">
            <a:off x="5098288" y="4415408"/>
            <a:ext cx="85343" cy="85344"/>
          </a:xfrm>
          <a:prstGeom prst="rect">
            <a:avLst/>
          </a:prstGeom>
        </p:spPr>
      </p:pic>
      <p:pic>
        <p:nvPicPr>
          <p:cNvPr id="453" name="picture 453"/>
          <p:cNvPicPr>
            <a:picLocks noChangeAspect="1"/>
          </p:cNvPicPr>
          <p:nvPr/>
        </p:nvPicPr>
        <p:blipFill>
          <a:blip r:embed="rId49"/>
          <a:stretch>
            <a:fillRect/>
          </a:stretch>
        </p:blipFill>
        <p:spPr>
          <a:xfrm rot="21600000">
            <a:off x="608584" y="3191637"/>
            <a:ext cx="85344" cy="85343"/>
          </a:xfrm>
          <a:prstGeom prst="rect">
            <a:avLst/>
          </a:prstGeom>
        </p:spPr>
      </p:pic>
      <p:pic>
        <p:nvPicPr>
          <p:cNvPr id="454" name="picture 454"/>
          <p:cNvPicPr>
            <a:picLocks noChangeAspect="1"/>
          </p:cNvPicPr>
          <p:nvPr/>
        </p:nvPicPr>
        <p:blipFill>
          <a:blip r:embed="rId50"/>
          <a:stretch>
            <a:fillRect/>
          </a:stretch>
        </p:blipFill>
        <p:spPr>
          <a:xfrm rot="21600000">
            <a:off x="608584" y="3301365"/>
            <a:ext cx="85344" cy="85343"/>
          </a:xfrm>
          <a:prstGeom prst="rect">
            <a:avLst/>
          </a:prstGeom>
        </p:spPr>
      </p:pic>
      <p:pic>
        <p:nvPicPr>
          <p:cNvPr id="455" name="picture 455"/>
          <p:cNvPicPr>
            <a:picLocks noChangeAspect="1"/>
          </p:cNvPicPr>
          <p:nvPr/>
        </p:nvPicPr>
        <p:blipFill>
          <a:blip r:embed="rId51"/>
          <a:stretch>
            <a:fillRect/>
          </a:stretch>
        </p:blipFill>
        <p:spPr>
          <a:xfrm rot="21600000">
            <a:off x="1265427" y="2629281"/>
            <a:ext cx="85344" cy="85343"/>
          </a:xfrm>
          <a:prstGeom prst="rect">
            <a:avLst/>
          </a:prstGeom>
        </p:spPr>
      </p:pic>
      <p:pic>
        <p:nvPicPr>
          <p:cNvPr id="456" name="picture 456"/>
          <p:cNvPicPr>
            <a:picLocks noChangeAspect="1"/>
          </p:cNvPicPr>
          <p:nvPr/>
        </p:nvPicPr>
        <p:blipFill>
          <a:blip r:embed="rId52"/>
          <a:stretch>
            <a:fillRect/>
          </a:stretch>
        </p:blipFill>
        <p:spPr>
          <a:xfrm rot="21600000">
            <a:off x="1942083" y="3138297"/>
            <a:ext cx="85344" cy="85343"/>
          </a:xfrm>
          <a:prstGeom prst="rect">
            <a:avLst/>
          </a:prstGeom>
        </p:spPr>
      </p:pic>
      <p:pic>
        <p:nvPicPr>
          <p:cNvPr id="457" name="picture 457"/>
          <p:cNvPicPr>
            <a:picLocks noChangeAspect="1"/>
          </p:cNvPicPr>
          <p:nvPr/>
        </p:nvPicPr>
        <p:blipFill>
          <a:blip r:embed="rId50"/>
          <a:stretch>
            <a:fillRect/>
          </a:stretch>
        </p:blipFill>
        <p:spPr>
          <a:xfrm rot="21600000">
            <a:off x="608584" y="1891665"/>
            <a:ext cx="85344" cy="85343"/>
          </a:xfrm>
          <a:prstGeom prst="rect">
            <a:avLst/>
          </a:prstGeom>
        </p:spPr>
      </p:pic>
      <p:pic>
        <p:nvPicPr>
          <p:cNvPr id="458" name="picture 458"/>
          <p:cNvPicPr>
            <a:picLocks noChangeAspect="1"/>
          </p:cNvPicPr>
          <p:nvPr/>
        </p:nvPicPr>
        <p:blipFill>
          <a:blip r:embed="rId53"/>
          <a:stretch>
            <a:fillRect/>
          </a:stretch>
        </p:blipFill>
        <p:spPr>
          <a:xfrm rot="21600000">
            <a:off x="3970528" y="3625977"/>
            <a:ext cx="85343" cy="85344"/>
          </a:xfrm>
          <a:prstGeom prst="rect">
            <a:avLst/>
          </a:prstGeom>
        </p:spPr>
      </p:pic>
      <p:sp>
        <p:nvSpPr>
          <p:cNvPr id="459" name="rect"/>
          <p:cNvSpPr/>
          <p:nvPr/>
        </p:nvSpPr>
        <p:spPr>
          <a:xfrm>
            <a:off x="6375400" y="3560445"/>
            <a:ext cx="85343" cy="85344"/>
          </a:xfrm>
          <a:prstGeom prst="rect">
            <a:avLst/>
          </a:prstGeom>
          <a:solidFill>
            <a:srgbClr val="002960">
              <a:alpha val="96078"/>
            </a:srgbClr>
          </a:solidFill>
          <a:ln cap="flat">
            <a:noFill/>
            <a:prstDash val="solid"/>
            <a:miter lim="0"/>
          </a:ln>
        </p:spPr>
        <p:txBody>
          <a:bodyPr rtlCol="0"/>
          <a:lstStyle/>
          <a:p>
            <a:pPr algn="ctr"/>
            <a:endParaRPr lang="zh-CN" altLang="en-US"/>
          </a:p>
        </p:txBody>
      </p:sp>
      <p:pic>
        <p:nvPicPr>
          <p:cNvPr id="460" name="picture 460"/>
          <p:cNvPicPr>
            <a:picLocks noChangeAspect="1"/>
          </p:cNvPicPr>
          <p:nvPr/>
        </p:nvPicPr>
        <p:blipFill>
          <a:blip r:embed="rId54"/>
          <a:stretch>
            <a:fillRect/>
          </a:stretch>
        </p:blipFill>
        <p:spPr>
          <a:xfrm rot="21600000">
            <a:off x="3903472" y="4025265"/>
            <a:ext cx="85343" cy="85344"/>
          </a:xfrm>
          <a:prstGeom prst="rect">
            <a:avLst/>
          </a:prstGeom>
        </p:spPr>
      </p:pic>
      <p:pic>
        <p:nvPicPr>
          <p:cNvPr id="461" name="picture 461"/>
          <p:cNvPicPr>
            <a:picLocks noChangeAspect="1"/>
          </p:cNvPicPr>
          <p:nvPr/>
        </p:nvPicPr>
        <p:blipFill>
          <a:blip r:embed="rId55"/>
          <a:stretch>
            <a:fillRect/>
          </a:stretch>
        </p:blipFill>
        <p:spPr>
          <a:xfrm rot="21600000">
            <a:off x="3656584" y="4447413"/>
            <a:ext cx="85343" cy="85344"/>
          </a:xfrm>
          <a:prstGeom prst="rect">
            <a:avLst/>
          </a:prstGeom>
        </p:spPr>
      </p:pic>
      <p:pic>
        <p:nvPicPr>
          <p:cNvPr id="462" name="picture 462"/>
          <p:cNvPicPr>
            <a:picLocks noChangeAspect="1"/>
          </p:cNvPicPr>
          <p:nvPr/>
        </p:nvPicPr>
        <p:blipFill>
          <a:blip r:embed="rId56"/>
          <a:stretch>
            <a:fillRect/>
          </a:stretch>
        </p:blipFill>
        <p:spPr>
          <a:xfrm rot="21600000">
            <a:off x="1620519" y="2982849"/>
            <a:ext cx="85343" cy="85343"/>
          </a:xfrm>
          <a:prstGeom prst="rect">
            <a:avLst/>
          </a:prstGeom>
        </p:spPr>
      </p:pic>
      <p:pic>
        <p:nvPicPr>
          <p:cNvPr id="463" name="picture 463"/>
          <p:cNvPicPr>
            <a:picLocks noChangeAspect="1"/>
          </p:cNvPicPr>
          <p:nvPr/>
        </p:nvPicPr>
        <p:blipFill>
          <a:blip r:embed="rId57"/>
          <a:stretch>
            <a:fillRect/>
          </a:stretch>
        </p:blipFill>
        <p:spPr>
          <a:xfrm rot="21600000">
            <a:off x="5169916" y="3392805"/>
            <a:ext cx="85343" cy="85343"/>
          </a:xfrm>
          <a:prstGeom prst="rect">
            <a:avLst/>
          </a:prstGeom>
        </p:spPr>
      </p:pic>
      <p:sp>
        <p:nvSpPr>
          <p:cNvPr id="464" name="rect"/>
          <p:cNvSpPr/>
          <p:nvPr/>
        </p:nvSpPr>
        <p:spPr>
          <a:xfrm>
            <a:off x="8051800" y="2441829"/>
            <a:ext cx="85343" cy="85343"/>
          </a:xfrm>
          <a:prstGeom prst="rect">
            <a:avLst/>
          </a:prstGeom>
          <a:solidFill>
            <a:srgbClr val="002960">
              <a:alpha val="96078"/>
            </a:srgbClr>
          </a:solidFill>
          <a:ln cap="flat">
            <a:noFill/>
            <a:prstDash val="solid"/>
            <a:miter lim="0"/>
          </a:ln>
        </p:spPr>
        <p:txBody>
          <a:bodyPr rtlCol="0"/>
          <a:lstStyle/>
          <a:p>
            <a:pPr algn="ctr"/>
            <a:endParaRPr lang="zh-CN" altLang="en-US"/>
          </a:p>
        </p:txBody>
      </p:sp>
      <p:pic>
        <p:nvPicPr>
          <p:cNvPr id="465" name="picture 465"/>
          <p:cNvPicPr>
            <a:picLocks noChangeAspect="1"/>
          </p:cNvPicPr>
          <p:nvPr/>
        </p:nvPicPr>
        <p:blipFill>
          <a:blip r:embed="rId58"/>
          <a:stretch>
            <a:fillRect/>
          </a:stretch>
        </p:blipFill>
        <p:spPr>
          <a:xfrm rot="21600000">
            <a:off x="4218940" y="2071497"/>
            <a:ext cx="85343" cy="85343"/>
          </a:xfrm>
          <a:prstGeom prst="rect">
            <a:avLst/>
          </a:prstGeom>
        </p:spPr>
      </p:pic>
      <p:sp>
        <p:nvSpPr>
          <p:cNvPr id="466" name="rect"/>
          <p:cNvSpPr/>
          <p:nvPr/>
        </p:nvSpPr>
        <p:spPr>
          <a:xfrm>
            <a:off x="8051800" y="2202561"/>
            <a:ext cx="85343" cy="85343"/>
          </a:xfrm>
          <a:prstGeom prst="rect">
            <a:avLst/>
          </a:prstGeom>
          <a:solidFill>
            <a:srgbClr val="002960">
              <a:alpha val="96078"/>
            </a:srgbClr>
          </a:solidFill>
          <a:ln cap="flat">
            <a:noFill/>
            <a:prstDash val="solid"/>
            <a:miter lim="0"/>
          </a:ln>
        </p:spPr>
        <p:txBody>
          <a:bodyPr rtlCol="0"/>
          <a:lstStyle/>
          <a:p>
            <a:pPr algn="ctr"/>
            <a:endParaRPr lang="zh-CN" altLang="en-US"/>
          </a:p>
        </p:txBody>
      </p:sp>
      <p:pic>
        <p:nvPicPr>
          <p:cNvPr id="467" name="picture 467"/>
          <p:cNvPicPr>
            <a:picLocks noChangeAspect="1"/>
          </p:cNvPicPr>
          <p:nvPr/>
        </p:nvPicPr>
        <p:blipFill>
          <a:blip r:embed="rId59"/>
          <a:stretch>
            <a:fillRect/>
          </a:stretch>
        </p:blipFill>
        <p:spPr>
          <a:xfrm rot="21600000">
            <a:off x="8051800" y="1940433"/>
            <a:ext cx="85343" cy="85343"/>
          </a:xfrm>
          <a:prstGeom prst="rect">
            <a:avLst/>
          </a:prstGeom>
        </p:spPr>
      </p:pic>
      <p:sp>
        <p:nvSpPr>
          <p:cNvPr id="468" name="rect"/>
          <p:cNvSpPr/>
          <p:nvPr/>
        </p:nvSpPr>
        <p:spPr>
          <a:xfrm>
            <a:off x="3584956" y="1641729"/>
            <a:ext cx="85343" cy="85343"/>
          </a:xfrm>
          <a:prstGeom prst="rect">
            <a:avLst/>
          </a:prstGeom>
          <a:solidFill>
            <a:srgbClr val="002960">
              <a:alpha val="96470"/>
            </a:srgbClr>
          </a:solidFill>
          <a:ln cap="flat">
            <a:noFill/>
            <a:prstDash val="solid"/>
            <a:miter lim="0"/>
          </a:ln>
        </p:spPr>
        <p:txBody>
          <a:bodyPr rtlCol="0"/>
          <a:lstStyle/>
          <a:p>
            <a:pPr algn="ctr"/>
            <a:endParaRPr lang="zh-CN" altLang="en-US"/>
          </a:p>
        </p:txBody>
      </p:sp>
      <p:pic>
        <p:nvPicPr>
          <p:cNvPr id="469" name="picture 469"/>
          <p:cNvPicPr>
            <a:picLocks noChangeAspect="1"/>
          </p:cNvPicPr>
          <p:nvPr/>
        </p:nvPicPr>
        <p:blipFill>
          <a:blip r:embed="rId60"/>
          <a:stretch>
            <a:fillRect/>
          </a:stretch>
        </p:blipFill>
        <p:spPr>
          <a:xfrm rot="21600000">
            <a:off x="4634991" y="1772793"/>
            <a:ext cx="85343" cy="85343"/>
          </a:xfrm>
          <a:prstGeom prst="rect">
            <a:avLst/>
          </a:prstGeom>
        </p:spPr>
      </p:pic>
      <p:pic>
        <p:nvPicPr>
          <p:cNvPr id="470" name="picture 470"/>
          <p:cNvPicPr>
            <a:picLocks noChangeAspect="1"/>
          </p:cNvPicPr>
          <p:nvPr/>
        </p:nvPicPr>
        <p:blipFill>
          <a:blip r:embed="rId59"/>
          <a:stretch>
            <a:fillRect/>
          </a:stretch>
        </p:blipFill>
        <p:spPr>
          <a:xfrm rot="21600000">
            <a:off x="8051800" y="3007233"/>
            <a:ext cx="85343" cy="85343"/>
          </a:xfrm>
          <a:prstGeom prst="rect">
            <a:avLst/>
          </a:prstGeom>
        </p:spPr>
      </p:pic>
      <p:pic>
        <p:nvPicPr>
          <p:cNvPr id="471" name="picture 471"/>
          <p:cNvPicPr>
            <a:picLocks noChangeAspect="1"/>
          </p:cNvPicPr>
          <p:nvPr/>
        </p:nvPicPr>
        <p:blipFill>
          <a:blip r:embed="rId61"/>
          <a:stretch>
            <a:fillRect/>
          </a:stretch>
        </p:blipFill>
        <p:spPr>
          <a:xfrm rot="21600000">
            <a:off x="2778760" y="4523613"/>
            <a:ext cx="85344" cy="71247"/>
          </a:xfrm>
          <a:prstGeom prst="rect">
            <a:avLst/>
          </a:prstGeom>
        </p:spPr>
      </p:pic>
      <p:sp>
        <p:nvSpPr>
          <p:cNvPr id="472" name="rect"/>
          <p:cNvSpPr/>
          <p:nvPr/>
        </p:nvSpPr>
        <p:spPr>
          <a:xfrm>
            <a:off x="2198115" y="4525136"/>
            <a:ext cx="85344" cy="69723"/>
          </a:xfrm>
          <a:prstGeom prst="rect">
            <a:avLst/>
          </a:prstGeom>
          <a:solidFill>
            <a:srgbClr val="002960">
              <a:alpha val="96078"/>
            </a:srgbClr>
          </a:solidFill>
          <a:ln cap="flat">
            <a:noFill/>
            <a:prstDash val="solid"/>
            <a:miter lim="0"/>
          </a:ln>
        </p:spPr>
        <p:txBody>
          <a:bodyPr rtlCol="0"/>
          <a:lstStyle/>
          <a:p>
            <a:pPr algn="ctr"/>
            <a:endParaRPr lang="zh-CN" altLang="en-US"/>
          </a:p>
        </p:txBody>
      </p:sp>
      <p:sp>
        <p:nvSpPr>
          <p:cNvPr id="473" name="rect"/>
          <p:cNvSpPr/>
          <p:nvPr/>
        </p:nvSpPr>
        <p:spPr>
          <a:xfrm>
            <a:off x="8051800" y="4525136"/>
            <a:ext cx="85343" cy="69723"/>
          </a:xfrm>
          <a:prstGeom prst="rect">
            <a:avLst/>
          </a:prstGeom>
          <a:solidFill>
            <a:srgbClr val="002960">
              <a:alpha val="96078"/>
            </a:srgbClr>
          </a:solidFill>
          <a:ln cap="flat">
            <a:noFill/>
            <a:prstDash val="solid"/>
            <a:miter lim="0"/>
          </a:ln>
        </p:spPr>
        <p:txBody>
          <a:bodyPr rtlCol="0"/>
          <a:lstStyle/>
          <a:p>
            <a:pPr algn="ctr"/>
            <a:endParaRPr lang="zh-CN" altLang="en-US"/>
          </a:p>
        </p:txBody>
      </p:sp>
      <p:sp>
        <p:nvSpPr>
          <p:cNvPr id="474" name="rect"/>
          <p:cNvSpPr/>
          <p:nvPr/>
        </p:nvSpPr>
        <p:spPr>
          <a:xfrm>
            <a:off x="3962908" y="4525136"/>
            <a:ext cx="85343" cy="69723"/>
          </a:xfrm>
          <a:prstGeom prst="rect">
            <a:avLst/>
          </a:prstGeom>
          <a:solidFill>
            <a:srgbClr val="002960">
              <a:alpha val="96078"/>
            </a:srgbClr>
          </a:solidFill>
          <a:ln cap="flat">
            <a:noFill/>
            <a:prstDash val="solid"/>
            <a:miter lim="0"/>
          </a:ln>
        </p:spPr>
        <p:txBody>
          <a:bodyPr rtlCol="0"/>
          <a:lstStyle/>
          <a:p>
            <a:pPr algn="ctr"/>
            <a:endParaRPr lang="zh-CN" altLang="en-US"/>
          </a:p>
        </p:txBody>
      </p:sp>
      <p:sp>
        <p:nvSpPr>
          <p:cNvPr id="475" name="path"/>
          <p:cNvSpPr/>
          <p:nvPr/>
        </p:nvSpPr>
        <p:spPr>
          <a:xfrm>
            <a:off x="640080" y="1449324"/>
            <a:ext cx="58737" cy="9143"/>
          </a:xfrm>
          <a:custGeom>
            <a:avLst/>
            <a:gdLst/>
            <a:ahLst/>
            <a:cxnLst/>
            <a:rect l="0" t="0" r="0" b="0"/>
            <a:pathLst>
              <a:path w="92" h="14">
                <a:moveTo>
                  <a:pt x="0" y="7"/>
                </a:moveTo>
                <a:lnTo>
                  <a:pt x="92" y="7"/>
                </a:lnTo>
              </a:path>
            </a:pathLst>
          </a:custGeom>
          <a:noFill/>
          <a:ln w="9143" cap="flat">
            <a:solidFill>
              <a:srgbClr val="808080">
                <a:alpha val="100000"/>
              </a:srgbClr>
            </a:solidFill>
            <a:prstDash val="solid"/>
            <a:round/>
          </a:ln>
        </p:spPr>
        <p:txBody>
          <a:bodyPr rtlCol="0"/>
          <a:lstStyle/>
          <a:p>
            <a:pPr algn="ct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6" name="table 476"/>
          <p:cNvGraphicFramePr>
            <a:graphicFrameLocks noGrp="1"/>
          </p:cNvGraphicFramePr>
          <p:nvPr/>
        </p:nvGraphicFramePr>
        <p:xfrm>
          <a:off x="1426463" y="964691"/>
          <a:ext cx="7116445" cy="2431414"/>
        </p:xfrm>
        <a:graphic>
          <a:graphicData uri="http://schemas.openxmlformats.org/drawingml/2006/table">
            <a:tbl>
              <a:tblPr/>
              <a:tblGrid>
                <a:gridCol w="3536315"/>
                <a:gridCol w="43815"/>
                <a:gridCol w="3536315"/>
              </a:tblGrid>
              <a:tr h="2431414">
                <a:tc>
                  <a:txBody>
                    <a:bodyPr/>
                    <a:lstStyle/>
                    <a:p>
                      <a:pPr algn="l" rtl="0" eaLnBrk="0">
                        <a:lnSpc>
                          <a:spcPct val="122000"/>
                        </a:lnSpc>
                      </a:pPr>
                      <a:endParaRPr lang="en-US" altLang="en-US" sz="1000" dirty="0">
                        <a:latin typeface="微软雅黑" panose="020B0503020204020204" charset="-122"/>
                        <a:ea typeface="微软雅黑" panose="020B0503020204020204" charset="-122"/>
                      </a:endParaRPr>
                    </a:p>
                    <a:p>
                      <a:pPr algn="l" rtl="0" eaLnBrk="0">
                        <a:lnSpc>
                          <a:spcPct val="122000"/>
                        </a:lnSpc>
                      </a:pPr>
                      <a:endParaRPr lang="en-US" altLang="en-US" sz="1000" dirty="0">
                        <a:latin typeface="微软雅黑" panose="020B0503020204020204" charset="-122"/>
                        <a:ea typeface="微软雅黑" panose="020B0503020204020204" charset="-122"/>
                      </a:endParaRPr>
                    </a:p>
                    <a:p>
                      <a:pPr algn="l" rtl="0" eaLnBrk="0">
                        <a:lnSpc>
                          <a:spcPct val="6000"/>
                        </a:lnSpc>
                      </a:pPr>
                      <a:endParaRPr lang="en-US" altLang="en-US" sz="100" dirty="0">
                        <a:latin typeface="微软雅黑" panose="020B0503020204020204" charset="-122"/>
                        <a:ea typeface="微软雅黑" panose="020B0503020204020204" charset="-122"/>
                      </a:endParaRPr>
                    </a:p>
                    <a:p>
                      <a:pPr marL="133985" algn="l" rtl="0" eaLnBrk="0">
                        <a:lnSpc>
                          <a:spcPts val="1810"/>
                        </a:lnSpc>
                      </a:pPr>
                      <a:r>
                        <a:rPr sz="1500" spc="110" dirty="0">
                          <a:ln w="5791" cap="flat" cmpd="sng">
                            <a:solidFill>
                              <a:srgbClr val="002960">
                                <a:alpha val="100000"/>
                              </a:srgbClr>
                            </a:solidFill>
                            <a:prstDash val="solid"/>
                            <a:miter lim="10"/>
                          </a:ln>
                          <a:solidFill>
                            <a:srgbClr val="002960">
                              <a:alpha val="100000"/>
                            </a:srgbClr>
                          </a:solidFill>
                          <a:latin typeface="微软雅黑" panose="020B0503020204020204" charset="-122"/>
                          <a:ea typeface="微软雅黑" panose="020B0503020204020204" charset="-122"/>
                          <a:cs typeface="楷体" panose="02010609060101010101" charset="-122"/>
                        </a:rPr>
                        <a:t>进攻型客</a:t>
                      </a:r>
                      <a:r>
                        <a:rPr sz="1500" spc="70" dirty="0">
                          <a:ln w="5791" cap="flat" cmpd="sng">
                            <a:solidFill>
                              <a:srgbClr val="002960">
                                <a:alpha val="100000"/>
                              </a:srgbClr>
                            </a:solidFill>
                            <a:prstDash val="solid"/>
                            <a:miter lim="10"/>
                          </a:ln>
                          <a:solidFill>
                            <a:srgbClr val="002960">
                              <a:alpha val="100000"/>
                            </a:srgbClr>
                          </a:solidFill>
                          <a:latin typeface="微软雅黑" panose="020B0503020204020204" charset="-122"/>
                          <a:ea typeface="微软雅黑" panose="020B0503020204020204" charset="-122"/>
                          <a:cs typeface="楷体" panose="02010609060101010101" charset="-122"/>
                        </a:rPr>
                        <a:t>户</a:t>
                      </a:r>
                      <a:endParaRPr lang="en-US" altLang="en-US" sz="1500" dirty="0">
                        <a:latin typeface="微软雅黑" panose="020B0503020204020204" charset="-122"/>
                        <a:ea typeface="微软雅黑" panose="020B0503020204020204" charset="-122"/>
                      </a:endParaRPr>
                    </a:p>
                  </a:txBody>
                  <a:tcPr marL="0" marR="0" marT="0" marB="0">
                    <a:lnL w="19050" cap="flat" cmpd="sng" algn="ctr">
                      <a:solidFill>
                        <a:srgbClr val="C5C5C5"/>
                      </a:solidFill>
                      <a:prstDash val="solid"/>
                      <a:round/>
                      <a:headEnd type="none" w="med" len="med"/>
                      <a:tailEnd type="none" w="med" len="med"/>
                    </a:lnL>
                    <a:lnR w="19050" cap="flat" cmpd="sng" algn="ctr">
                      <a:solidFill>
                        <a:srgbClr val="C5C5C5"/>
                      </a:solidFill>
                      <a:prstDash val="solid"/>
                      <a:round/>
                      <a:headEnd type="none" w="med" len="med"/>
                      <a:tailEnd type="none" w="med" len="med"/>
                    </a:lnR>
                    <a:lnT w="3175" cap="flat" cmpd="sng" algn="ctr">
                      <a:solidFill>
                        <a:srgbClr val="C5C5C5"/>
                      </a:solidFill>
                      <a:prstDash val="solid"/>
                      <a:round/>
                      <a:headEnd type="none" w="med" len="med"/>
                      <a:tailEnd type="none" w="med" len="med"/>
                    </a:lnT>
                    <a:lnB>
                      <a:noFill/>
                    </a:lnB>
                  </a:tcPr>
                </a:tc>
                <a:tc>
                  <a:txBody>
                    <a:bodyPr/>
                    <a:lstStyle/>
                    <a:p>
                      <a:pPr algn="l" rtl="0" eaLnBrk="0">
                        <a:lnSpc>
                          <a:spcPct val="100000"/>
                        </a:lnSpc>
                      </a:pPr>
                      <a:endParaRPr lang="en-US" altLang="en-US" sz="1000" dirty="0">
                        <a:ea typeface="微软雅黑" panose="020B0503020204020204" charset="-122"/>
                      </a:endParaRPr>
                    </a:p>
                  </a:txBody>
                  <a:tcPr marL="0" marR="0" marT="0" marB="0">
                    <a:lnL w="19050" cap="flat" cmpd="sng" algn="ctr">
                      <a:solidFill>
                        <a:srgbClr val="C5C5C5"/>
                      </a:solidFill>
                      <a:prstDash val="solid"/>
                      <a:round/>
                      <a:headEnd type="none" w="med" len="med"/>
                      <a:tailEnd type="none" w="med" len="med"/>
                    </a:lnL>
                    <a:lnR w="19050" cap="flat" cmpd="sng" algn="ctr">
                      <a:solidFill>
                        <a:srgbClr val="C5C5C5"/>
                      </a:solidFill>
                      <a:prstDash val="solid"/>
                      <a:round/>
                      <a:headEnd type="none" w="med" len="med"/>
                      <a:tailEnd type="none" w="med" len="med"/>
                    </a:lnR>
                    <a:lnT w="3175" cap="flat" cmpd="sng" algn="ctr">
                      <a:solidFill>
                        <a:srgbClr val="C5C5C5"/>
                      </a:solidFill>
                      <a:prstDash val="solid"/>
                      <a:round/>
                      <a:headEnd type="none" w="med" len="med"/>
                      <a:tailEnd type="none" w="med" len="med"/>
                    </a:lnT>
                    <a:lnB>
                      <a:noFill/>
                    </a:lnB>
                  </a:tcPr>
                </a:tc>
                <a:tc>
                  <a:txBody>
                    <a:bodyPr/>
                    <a:lstStyle/>
                    <a:p>
                      <a:pPr algn="l" rtl="0" eaLnBrk="0">
                        <a:lnSpc>
                          <a:spcPct val="122000"/>
                        </a:lnSpc>
                      </a:pPr>
                      <a:endParaRPr lang="en-US" altLang="en-US" sz="1000" dirty="0">
                        <a:latin typeface="微软雅黑" panose="020B0503020204020204" charset="-122"/>
                        <a:ea typeface="微软雅黑" panose="020B0503020204020204" charset="-122"/>
                      </a:endParaRPr>
                    </a:p>
                    <a:p>
                      <a:pPr algn="l" rtl="0" eaLnBrk="0">
                        <a:lnSpc>
                          <a:spcPct val="122000"/>
                        </a:lnSpc>
                      </a:pPr>
                      <a:endParaRPr lang="en-US" altLang="en-US" sz="1000" dirty="0">
                        <a:latin typeface="微软雅黑" panose="020B0503020204020204" charset="-122"/>
                        <a:ea typeface="微软雅黑" panose="020B0503020204020204" charset="-122"/>
                      </a:endParaRPr>
                    </a:p>
                    <a:p>
                      <a:pPr algn="l" rtl="0" eaLnBrk="0">
                        <a:lnSpc>
                          <a:spcPct val="6000"/>
                        </a:lnSpc>
                      </a:pPr>
                      <a:endParaRPr lang="en-US" altLang="en-US" sz="100" dirty="0">
                        <a:latin typeface="微软雅黑" panose="020B0503020204020204" charset="-122"/>
                        <a:ea typeface="微软雅黑" panose="020B0503020204020204" charset="-122"/>
                      </a:endParaRPr>
                    </a:p>
                    <a:p>
                      <a:pPr marL="127000" algn="l" rtl="0" eaLnBrk="0">
                        <a:lnSpc>
                          <a:spcPts val="1810"/>
                        </a:lnSpc>
                      </a:pPr>
                      <a:r>
                        <a:rPr sz="1500" spc="100" dirty="0">
                          <a:ln w="5791" cap="flat" cmpd="sng">
                            <a:solidFill>
                              <a:srgbClr val="002960">
                                <a:alpha val="100000"/>
                              </a:srgbClr>
                            </a:solidFill>
                            <a:prstDash val="solid"/>
                            <a:miter lim="10"/>
                          </a:ln>
                          <a:solidFill>
                            <a:srgbClr val="002960">
                              <a:alpha val="100000"/>
                            </a:srgbClr>
                          </a:solidFill>
                          <a:latin typeface="微软雅黑" panose="020B0503020204020204" charset="-122"/>
                          <a:ea typeface="微软雅黑" panose="020B0503020204020204" charset="-122"/>
                          <a:cs typeface="楷体" panose="02010609060101010101" charset="-122"/>
                        </a:rPr>
                        <a:t>优先型客</a:t>
                      </a:r>
                      <a:r>
                        <a:rPr sz="1500" spc="90" dirty="0">
                          <a:ln w="5791" cap="flat" cmpd="sng">
                            <a:solidFill>
                              <a:srgbClr val="002960">
                                <a:alpha val="100000"/>
                              </a:srgbClr>
                            </a:solidFill>
                            <a:prstDash val="solid"/>
                            <a:miter lim="10"/>
                          </a:ln>
                          <a:solidFill>
                            <a:srgbClr val="002960">
                              <a:alpha val="100000"/>
                            </a:srgbClr>
                          </a:solidFill>
                          <a:latin typeface="微软雅黑" panose="020B0503020204020204" charset="-122"/>
                          <a:ea typeface="微软雅黑" panose="020B0503020204020204" charset="-122"/>
                          <a:cs typeface="楷体" panose="02010609060101010101" charset="-122"/>
                        </a:rPr>
                        <a:t>户</a:t>
                      </a:r>
                      <a:endParaRPr lang="en-US" altLang="en-US" sz="1500" dirty="0">
                        <a:latin typeface="微软雅黑" panose="020B0503020204020204" charset="-122"/>
                        <a:ea typeface="微软雅黑" panose="020B0503020204020204" charset="-122"/>
                      </a:endParaRPr>
                    </a:p>
                  </a:txBody>
                  <a:tcPr marL="0" marR="0" marT="0" marB="0">
                    <a:lnL w="19050" cap="flat" cmpd="sng" algn="ctr">
                      <a:solidFill>
                        <a:srgbClr val="C5C5C5"/>
                      </a:solidFill>
                      <a:prstDash val="solid"/>
                      <a:round/>
                      <a:headEnd type="none" w="med" len="med"/>
                      <a:tailEnd type="none" w="med" len="med"/>
                    </a:lnL>
                    <a:lnR w="19050" cap="flat" cmpd="sng" algn="ctr">
                      <a:solidFill>
                        <a:srgbClr val="C5C5C5"/>
                      </a:solidFill>
                      <a:prstDash val="solid"/>
                      <a:round/>
                      <a:headEnd type="none" w="med" len="med"/>
                      <a:tailEnd type="none" w="med" len="med"/>
                    </a:lnR>
                    <a:lnT w="3175" cap="flat" cmpd="sng" algn="ctr">
                      <a:solidFill>
                        <a:srgbClr val="C5C5C5"/>
                      </a:solidFill>
                      <a:prstDash val="solid"/>
                      <a:round/>
                      <a:headEnd type="none" w="med" len="med"/>
                      <a:tailEnd type="none" w="med" len="med"/>
                    </a:lnT>
                    <a:lnB>
                      <a:noFill/>
                    </a:lnB>
                  </a:tcPr>
                </a:tc>
              </a:tr>
            </a:tbl>
          </a:graphicData>
        </a:graphic>
      </p:graphicFrame>
      <p:graphicFrame>
        <p:nvGraphicFramePr>
          <p:cNvPr id="477" name="table 477"/>
          <p:cNvGraphicFramePr>
            <a:graphicFrameLocks noGrp="1"/>
          </p:cNvGraphicFramePr>
          <p:nvPr/>
        </p:nvGraphicFramePr>
        <p:xfrm>
          <a:off x="4997196" y="3424428"/>
          <a:ext cx="3545839" cy="2421889"/>
        </p:xfrm>
        <a:graphic>
          <a:graphicData uri="http://schemas.openxmlformats.org/drawingml/2006/table">
            <a:tbl>
              <a:tblPr/>
              <a:tblGrid>
                <a:gridCol w="3545839"/>
              </a:tblGrid>
              <a:tr h="2421889">
                <a:tc>
                  <a:txBody>
                    <a:bodyPr/>
                    <a:lstStyle/>
                    <a:p>
                      <a:pPr algn="l" rtl="0" eaLnBrk="0">
                        <a:lnSpc>
                          <a:spcPct val="117000"/>
                        </a:lnSpc>
                      </a:pPr>
                      <a:endParaRPr lang="en-US" altLang="en-US" sz="1000" dirty="0">
                        <a:latin typeface="微软雅黑" panose="020B0503020204020204" charset="-122"/>
                        <a:ea typeface="微软雅黑" panose="020B0503020204020204" charset="-122"/>
                      </a:endParaRPr>
                    </a:p>
                    <a:p>
                      <a:pPr algn="l" rtl="0" eaLnBrk="0">
                        <a:lnSpc>
                          <a:spcPct val="118000"/>
                        </a:lnSpc>
                      </a:pPr>
                      <a:endParaRPr lang="en-US" altLang="en-US" sz="1000" dirty="0">
                        <a:latin typeface="微软雅黑" panose="020B0503020204020204" charset="-122"/>
                        <a:ea typeface="微软雅黑" panose="020B0503020204020204" charset="-122"/>
                      </a:endParaRPr>
                    </a:p>
                    <a:p>
                      <a:pPr marL="149860" algn="l" rtl="0" eaLnBrk="0">
                        <a:lnSpc>
                          <a:spcPct val="98000"/>
                        </a:lnSpc>
                        <a:spcBef>
                          <a:spcPts val="0"/>
                        </a:spcBef>
                      </a:pPr>
                      <a:r>
                        <a:rPr sz="1500" spc="80" dirty="0">
                          <a:ln w="5791" cap="flat" cmpd="sng">
                            <a:solidFill>
                              <a:srgbClr val="002960">
                                <a:alpha val="100000"/>
                              </a:srgbClr>
                            </a:solidFill>
                            <a:prstDash val="solid"/>
                            <a:miter lim="10"/>
                          </a:ln>
                          <a:solidFill>
                            <a:srgbClr val="002960">
                              <a:alpha val="100000"/>
                            </a:srgbClr>
                          </a:solidFill>
                          <a:latin typeface="微软雅黑" panose="020B0503020204020204" charset="-122"/>
                          <a:ea typeface="微软雅黑" panose="020B0503020204020204" charset="-122"/>
                          <a:cs typeface="楷体" panose="02010609060101010101" charset="-122"/>
                        </a:rPr>
                        <a:t>防守型客</a:t>
                      </a:r>
                      <a:r>
                        <a:rPr sz="1500" spc="60" dirty="0">
                          <a:ln w="5791" cap="flat" cmpd="sng">
                            <a:solidFill>
                              <a:srgbClr val="002960">
                                <a:alpha val="100000"/>
                              </a:srgbClr>
                            </a:solidFill>
                            <a:prstDash val="solid"/>
                            <a:miter lim="10"/>
                          </a:ln>
                          <a:solidFill>
                            <a:srgbClr val="002960">
                              <a:alpha val="100000"/>
                            </a:srgbClr>
                          </a:solidFill>
                          <a:latin typeface="微软雅黑" panose="020B0503020204020204" charset="-122"/>
                          <a:ea typeface="微软雅黑" panose="020B0503020204020204" charset="-122"/>
                          <a:cs typeface="楷体" panose="02010609060101010101" charset="-122"/>
                        </a:rPr>
                        <a:t>户</a:t>
                      </a:r>
                      <a:endParaRPr lang="en-US" altLang="en-US" sz="1500" dirty="0">
                        <a:latin typeface="微软雅黑" panose="020B0503020204020204" charset="-122"/>
                        <a:ea typeface="微软雅黑" panose="020B0503020204020204" charset="-122"/>
                      </a:endParaRPr>
                    </a:p>
                  </a:txBody>
                  <a:tcPr marL="0" marR="0" marT="0" marB="0">
                    <a:lnL w="19050" cap="flat" cmpd="sng" algn="ctr">
                      <a:solidFill>
                        <a:srgbClr val="C5C5C5"/>
                      </a:solidFill>
                      <a:prstDash val="solid"/>
                      <a:round/>
                      <a:headEnd type="none" w="med" len="med"/>
                      <a:tailEnd type="none" w="med" len="med"/>
                    </a:lnL>
                    <a:lnR w="19050" cap="flat" cmpd="sng" algn="ctr">
                      <a:solidFill>
                        <a:srgbClr val="C5C5C5"/>
                      </a:solidFill>
                      <a:prstDash val="solid"/>
                      <a:round/>
                      <a:headEnd type="none" w="med" len="med"/>
                      <a:tailEnd type="none" w="med" len="med"/>
                    </a:lnR>
                    <a:lnT w="19050" cap="flat" cmpd="sng" algn="ctr">
                      <a:solidFill>
                        <a:srgbClr val="C5C5C5"/>
                      </a:solidFill>
                      <a:prstDash val="solid"/>
                      <a:round/>
                      <a:headEnd type="none" w="med" len="med"/>
                      <a:tailEnd type="none" w="med" len="med"/>
                    </a:lnT>
                    <a:lnB w="19050" cap="flat" cmpd="sng" algn="ctr">
                      <a:solidFill>
                        <a:srgbClr val="C5C5C5"/>
                      </a:solidFill>
                      <a:prstDash val="solid"/>
                      <a:round/>
                      <a:headEnd type="none" w="med" len="med"/>
                      <a:tailEnd type="none" w="med" len="med"/>
                    </a:lnB>
                  </a:tcPr>
                </a:tc>
              </a:tr>
            </a:tbl>
          </a:graphicData>
        </a:graphic>
      </p:graphicFrame>
      <p:graphicFrame>
        <p:nvGraphicFramePr>
          <p:cNvPr id="478" name="table 478"/>
          <p:cNvGraphicFramePr>
            <a:graphicFrameLocks noGrp="1"/>
          </p:cNvGraphicFramePr>
          <p:nvPr/>
        </p:nvGraphicFramePr>
        <p:xfrm>
          <a:off x="1426463" y="3424428"/>
          <a:ext cx="3545839" cy="2421889"/>
        </p:xfrm>
        <a:graphic>
          <a:graphicData uri="http://schemas.openxmlformats.org/drawingml/2006/table">
            <a:tbl>
              <a:tblPr/>
              <a:tblGrid>
                <a:gridCol w="3545839"/>
              </a:tblGrid>
              <a:tr h="2421889">
                <a:tc>
                  <a:txBody>
                    <a:bodyPr/>
                    <a:lstStyle/>
                    <a:p>
                      <a:pPr algn="l" rtl="0" eaLnBrk="0">
                        <a:lnSpc>
                          <a:spcPct val="117000"/>
                        </a:lnSpc>
                      </a:pPr>
                      <a:endParaRPr lang="en-US" altLang="en-US" sz="1000" dirty="0">
                        <a:latin typeface="微软雅黑" panose="020B0503020204020204" charset="-122"/>
                        <a:ea typeface="微软雅黑" panose="020B0503020204020204" charset="-122"/>
                      </a:endParaRPr>
                    </a:p>
                    <a:p>
                      <a:pPr algn="l" rtl="0" eaLnBrk="0">
                        <a:lnSpc>
                          <a:spcPct val="117000"/>
                        </a:lnSpc>
                      </a:pPr>
                      <a:endParaRPr lang="en-US" altLang="en-US" sz="1000" dirty="0">
                        <a:latin typeface="微软雅黑" panose="020B0503020204020204" charset="-122"/>
                        <a:ea typeface="微软雅黑" panose="020B0503020204020204" charset="-122"/>
                      </a:endParaRPr>
                    </a:p>
                    <a:p>
                      <a:pPr marL="141605" algn="l" rtl="0" eaLnBrk="0">
                        <a:lnSpc>
                          <a:spcPct val="100000"/>
                        </a:lnSpc>
                        <a:spcBef>
                          <a:spcPts val="0"/>
                        </a:spcBef>
                      </a:pPr>
                      <a:r>
                        <a:rPr sz="1500" spc="90" dirty="0">
                          <a:ln w="5791" cap="flat" cmpd="sng">
                            <a:solidFill>
                              <a:srgbClr val="002960">
                                <a:alpha val="100000"/>
                              </a:srgbClr>
                            </a:solidFill>
                            <a:prstDash val="solid"/>
                            <a:miter lim="10"/>
                          </a:ln>
                          <a:solidFill>
                            <a:srgbClr val="002960">
                              <a:alpha val="100000"/>
                            </a:srgbClr>
                          </a:solidFill>
                          <a:latin typeface="微软雅黑" panose="020B0503020204020204" charset="-122"/>
                          <a:ea typeface="微软雅黑" panose="020B0503020204020204" charset="-122"/>
                          <a:cs typeface="楷体" panose="02010609060101010101" charset="-122"/>
                        </a:rPr>
                        <a:t>普通客</a:t>
                      </a:r>
                      <a:r>
                        <a:rPr sz="1500" spc="50" dirty="0">
                          <a:ln w="5791" cap="flat" cmpd="sng">
                            <a:solidFill>
                              <a:srgbClr val="002960">
                                <a:alpha val="100000"/>
                              </a:srgbClr>
                            </a:solidFill>
                            <a:prstDash val="solid"/>
                            <a:miter lim="10"/>
                          </a:ln>
                          <a:solidFill>
                            <a:srgbClr val="002960">
                              <a:alpha val="100000"/>
                            </a:srgbClr>
                          </a:solidFill>
                          <a:latin typeface="微软雅黑" panose="020B0503020204020204" charset="-122"/>
                          <a:ea typeface="微软雅黑" panose="020B0503020204020204" charset="-122"/>
                          <a:cs typeface="楷体" panose="02010609060101010101" charset="-122"/>
                        </a:rPr>
                        <a:t>户</a:t>
                      </a:r>
                      <a:endParaRPr lang="en-US" altLang="en-US" sz="1500" dirty="0">
                        <a:latin typeface="微软雅黑" panose="020B0503020204020204" charset="-122"/>
                        <a:ea typeface="微软雅黑" panose="020B0503020204020204" charset="-122"/>
                      </a:endParaRPr>
                    </a:p>
                  </a:txBody>
                  <a:tcPr marL="0" marR="0" marT="0" marB="0">
                    <a:lnL w="19050" cap="flat" cmpd="sng" algn="ctr">
                      <a:solidFill>
                        <a:srgbClr val="C5C5C5"/>
                      </a:solidFill>
                      <a:prstDash val="solid"/>
                      <a:round/>
                      <a:headEnd type="none" w="med" len="med"/>
                      <a:tailEnd type="none" w="med" len="med"/>
                    </a:lnL>
                    <a:lnR w="19050" cap="flat" cmpd="sng" algn="ctr">
                      <a:solidFill>
                        <a:srgbClr val="C5C5C5"/>
                      </a:solidFill>
                      <a:prstDash val="solid"/>
                      <a:round/>
                      <a:headEnd type="none" w="med" len="med"/>
                      <a:tailEnd type="none" w="med" len="med"/>
                    </a:lnR>
                    <a:lnT w="19050" cap="flat" cmpd="sng" algn="ctr">
                      <a:solidFill>
                        <a:srgbClr val="C5C5C5"/>
                      </a:solidFill>
                      <a:prstDash val="solid"/>
                      <a:round/>
                      <a:headEnd type="none" w="med" len="med"/>
                      <a:tailEnd type="none" w="med" len="med"/>
                    </a:lnT>
                    <a:lnB w="19050" cap="flat" cmpd="sng" algn="ctr">
                      <a:solidFill>
                        <a:srgbClr val="C5C5C5"/>
                      </a:solidFill>
                      <a:prstDash val="solid"/>
                      <a:round/>
                      <a:headEnd type="none" w="med" len="med"/>
                      <a:tailEnd type="none" w="med" len="med"/>
                    </a:lnB>
                  </a:tcPr>
                </a:tc>
              </a:tr>
            </a:tbl>
          </a:graphicData>
        </a:graphic>
      </p:graphicFrame>
      <p:sp>
        <p:nvSpPr>
          <p:cNvPr id="479" name="textbox 479"/>
          <p:cNvSpPr/>
          <p:nvPr/>
        </p:nvSpPr>
        <p:spPr>
          <a:xfrm>
            <a:off x="5125211" y="2336292"/>
            <a:ext cx="3289300" cy="886460"/>
          </a:xfrm>
          <a:prstGeom prst="rect">
            <a:avLst/>
          </a:prstGeom>
          <a:solidFill>
            <a:srgbClr val="E6E6E6"/>
          </a:solidFill>
        </p:spPr>
        <p:txBody>
          <a:bodyPr vert="horz" wrap="square" lIns="0" tIns="0" rIns="0" bIns="0"/>
          <a:lstStyle/>
          <a:p>
            <a:pPr algn="l" rtl="0" eaLnBrk="0">
              <a:lnSpc>
                <a:spcPct val="126000"/>
              </a:lnSpc>
            </a:pPr>
            <a:endParaRPr lang="en-US" altLang="en-US" sz="1000" dirty="0">
              <a:latin typeface="微软雅黑" panose="020B0503020204020204" charset="-122"/>
              <a:ea typeface="微软雅黑" panose="020B0503020204020204" charset="-122"/>
            </a:endParaRPr>
          </a:p>
          <a:p>
            <a:pPr algn="l" rtl="0" eaLnBrk="0">
              <a:lnSpc>
                <a:spcPct val="6000"/>
              </a:lnSpc>
            </a:pPr>
            <a:endParaRPr lang="en-US" altLang="en-US" sz="100" dirty="0">
              <a:latin typeface="微软雅黑" panose="020B0503020204020204" charset="-122"/>
              <a:ea typeface="微软雅黑" panose="020B0503020204020204" charset="-122"/>
            </a:endParaRPr>
          </a:p>
          <a:p>
            <a:pPr marL="85725" indent="-9525" algn="l" rtl="0" eaLnBrk="0">
              <a:lnSpc>
                <a:spcPct val="108000"/>
              </a:lnSpc>
            </a:pP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路径图应该包括增长战略和行动</a:t>
            </a:r>
            <a:r>
              <a:rPr sz="1500" spc="50" dirty="0">
                <a:solidFill>
                  <a:srgbClr val="000000">
                    <a:alpha val="100000"/>
                  </a:srgbClr>
                </a:solidFill>
                <a:latin typeface="微软雅黑" panose="020B0503020204020204" charset="-122"/>
                <a:ea typeface="微软雅黑" panose="020B0503020204020204" charset="-122"/>
                <a:cs typeface="楷体" panose="02010609060101010101" charset="-122"/>
              </a:rPr>
              <a:t>计</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划</a:t>
            </a:r>
            <a:endParaRPr lang="en-US" altLang="en-US" sz="1500" dirty="0">
              <a:latin typeface="微软雅黑" panose="020B0503020204020204" charset="-122"/>
              <a:ea typeface="微软雅黑" panose="020B0503020204020204" charset="-122"/>
            </a:endParaRPr>
          </a:p>
        </p:txBody>
      </p:sp>
      <p:sp>
        <p:nvSpPr>
          <p:cNvPr id="480" name="textbox 480"/>
          <p:cNvSpPr/>
          <p:nvPr/>
        </p:nvSpPr>
        <p:spPr>
          <a:xfrm>
            <a:off x="5125211" y="4832604"/>
            <a:ext cx="3289300" cy="885189"/>
          </a:xfrm>
          <a:prstGeom prst="rect">
            <a:avLst/>
          </a:prstGeom>
          <a:solidFill>
            <a:srgbClr val="E6E6E6"/>
          </a:solidFill>
        </p:spPr>
        <p:txBody>
          <a:bodyPr vert="horz" wrap="square" lIns="0" tIns="0" rIns="0" bIns="0"/>
          <a:lstStyle/>
          <a:p>
            <a:pPr algn="l" rtl="0" eaLnBrk="0">
              <a:lnSpc>
                <a:spcPct val="125000"/>
              </a:lnSpc>
            </a:pPr>
            <a:endParaRPr lang="en-US" altLang="en-US" sz="1000" dirty="0">
              <a:latin typeface="微软雅黑" panose="020B0503020204020204" charset="-122"/>
              <a:ea typeface="微软雅黑" panose="020B0503020204020204" charset="-122"/>
            </a:endParaRPr>
          </a:p>
          <a:p>
            <a:pPr algn="l" rtl="0" eaLnBrk="0">
              <a:lnSpc>
                <a:spcPct val="10000"/>
              </a:lnSpc>
            </a:pPr>
            <a:endParaRPr lang="en-US" altLang="en-US" sz="100" dirty="0">
              <a:latin typeface="微软雅黑" panose="020B0503020204020204" charset="-122"/>
              <a:ea typeface="微软雅黑" panose="020B0503020204020204" charset="-122"/>
            </a:endParaRPr>
          </a:p>
          <a:p>
            <a:pPr marL="85090" indent="-8890" algn="l" rtl="0" eaLnBrk="0">
              <a:lnSpc>
                <a:spcPct val="108000"/>
              </a:lnSpc>
            </a:pP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路径图应该包括保持份额和利润</a:t>
            </a:r>
            <a:r>
              <a:rPr sz="1500" spc="60" dirty="0">
                <a:solidFill>
                  <a:srgbClr val="000000">
                    <a:alpha val="100000"/>
                  </a:srgbClr>
                </a:solidFill>
                <a:latin typeface="微软雅黑" panose="020B0503020204020204" charset="-122"/>
                <a:ea typeface="微软雅黑" panose="020B0503020204020204" charset="-122"/>
                <a:cs typeface="楷体" panose="02010609060101010101" charset="-122"/>
              </a:rPr>
              <a:t>的</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80" dirty="0">
                <a:solidFill>
                  <a:srgbClr val="000000">
                    <a:alpha val="100000"/>
                  </a:srgbClr>
                </a:solidFill>
                <a:latin typeface="微软雅黑" panose="020B0503020204020204" charset="-122"/>
                <a:ea typeface="微软雅黑" panose="020B0503020204020204" charset="-122"/>
                <a:cs typeface="楷体" panose="02010609060101010101" charset="-122"/>
              </a:rPr>
              <a:t>行动计</a:t>
            </a:r>
            <a:r>
              <a:rPr sz="1500" spc="60" dirty="0">
                <a:solidFill>
                  <a:srgbClr val="000000">
                    <a:alpha val="100000"/>
                  </a:srgbClr>
                </a:solidFill>
                <a:latin typeface="微软雅黑" panose="020B0503020204020204" charset="-122"/>
                <a:ea typeface="微软雅黑" panose="020B0503020204020204" charset="-122"/>
                <a:cs typeface="楷体" panose="02010609060101010101" charset="-122"/>
              </a:rPr>
              <a:t>划</a:t>
            </a:r>
            <a:endParaRPr lang="en-US" altLang="en-US" sz="1500" dirty="0">
              <a:latin typeface="微软雅黑" panose="020B0503020204020204" charset="-122"/>
              <a:ea typeface="微软雅黑" panose="020B0503020204020204" charset="-122"/>
            </a:endParaRPr>
          </a:p>
        </p:txBody>
      </p:sp>
      <p:sp>
        <p:nvSpPr>
          <p:cNvPr id="481" name="textbox 481"/>
          <p:cNvSpPr/>
          <p:nvPr/>
        </p:nvSpPr>
        <p:spPr>
          <a:xfrm>
            <a:off x="1554480" y="2336292"/>
            <a:ext cx="3289300" cy="883919"/>
          </a:xfrm>
          <a:prstGeom prst="rect">
            <a:avLst/>
          </a:prstGeom>
          <a:solidFill>
            <a:srgbClr val="E6E6E6"/>
          </a:solidFill>
        </p:spPr>
        <p:txBody>
          <a:bodyPr vert="horz" wrap="square" lIns="0" tIns="0" rIns="0" bIns="0"/>
          <a:lstStyle/>
          <a:p>
            <a:pPr algn="l" rtl="0" eaLnBrk="0">
              <a:lnSpc>
                <a:spcPct val="128000"/>
              </a:lnSpc>
            </a:pPr>
            <a:endParaRPr lang="en-US" altLang="en-US" sz="1000" dirty="0">
              <a:latin typeface="微软雅黑" panose="020B0503020204020204" charset="-122"/>
              <a:ea typeface="微软雅黑" panose="020B0503020204020204" charset="-122"/>
            </a:endParaRPr>
          </a:p>
          <a:p>
            <a:pPr marL="87630" indent="-12065" algn="l" rtl="0" eaLnBrk="0">
              <a:lnSpc>
                <a:spcPct val="107000"/>
              </a:lnSpc>
              <a:spcBef>
                <a:spcPts val="0"/>
              </a:spcBef>
            </a:pP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路径图应该包括提升份额或者新</a:t>
            </a:r>
            <a:r>
              <a:rPr sz="1500" spc="50" dirty="0">
                <a:solidFill>
                  <a:srgbClr val="000000">
                    <a:alpha val="100000"/>
                  </a:srgbClr>
                </a:solidFill>
                <a:latin typeface="微软雅黑" panose="020B0503020204020204" charset="-122"/>
                <a:ea typeface="微软雅黑" panose="020B0503020204020204" charset="-122"/>
                <a:cs typeface="楷体" panose="02010609060101010101" charset="-122"/>
              </a:rPr>
              <a:t>客</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户开发的行动计</a:t>
            </a:r>
            <a:r>
              <a:rPr sz="1500" spc="40" dirty="0">
                <a:solidFill>
                  <a:srgbClr val="000000">
                    <a:alpha val="100000"/>
                  </a:srgbClr>
                </a:solidFill>
                <a:latin typeface="微软雅黑" panose="020B0503020204020204" charset="-122"/>
                <a:ea typeface="微软雅黑" panose="020B0503020204020204" charset="-122"/>
                <a:cs typeface="楷体" panose="02010609060101010101" charset="-122"/>
              </a:rPr>
              <a:t>划</a:t>
            </a:r>
            <a:endParaRPr lang="en-US" altLang="en-US" sz="1500" dirty="0">
              <a:latin typeface="微软雅黑" panose="020B0503020204020204" charset="-122"/>
              <a:ea typeface="微软雅黑" panose="020B0503020204020204" charset="-122"/>
            </a:endParaRPr>
          </a:p>
        </p:txBody>
      </p:sp>
      <p:sp>
        <p:nvSpPr>
          <p:cNvPr id="482" name="textbox 482"/>
          <p:cNvSpPr/>
          <p:nvPr/>
        </p:nvSpPr>
        <p:spPr>
          <a:xfrm>
            <a:off x="1554480" y="4832604"/>
            <a:ext cx="3289300" cy="885189"/>
          </a:xfrm>
          <a:prstGeom prst="rect">
            <a:avLst/>
          </a:prstGeom>
          <a:solidFill>
            <a:srgbClr val="E6E6E6"/>
          </a:solidFill>
        </p:spPr>
        <p:txBody>
          <a:bodyPr vert="horz" wrap="square" lIns="0" tIns="0" rIns="0" bIns="0"/>
          <a:lstStyle/>
          <a:p>
            <a:pPr algn="l" rtl="0" eaLnBrk="0">
              <a:lnSpc>
                <a:spcPct val="125000"/>
              </a:lnSpc>
            </a:pPr>
            <a:endParaRPr lang="en-US" altLang="en-US" sz="1000" dirty="0">
              <a:latin typeface="微软雅黑" panose="020B0503020204020204" charset="-122"/>
              <a:ea typeface="微软雅黑" panose="020B0503020204020204" charset="-122"/>
            </a:endParaRPr>
          </a:p>
          <a:p>
            <a:pPr algn="l" rtl="0" eaLnBrk="0">
              <a:lnSpc>
                <a:spcPct val="10000"/>
              </a:lnSpc>
            </a:pPr>
            <a:endParaRPr lang="en-US" altLang="en-US" sz="100" dirty="0">
              <a:latin typeface="微软雅黑" panose="020B0503020204020204" charset="-122"/>
              <a:ea typeface="微软雅黑" panose="020B0503020204020204" charset="-122"/>
            </a:endParaRPr>
          </a:p>
          <a:p>
            <a:pPr marL="81280" indent="-5715" algn="l" rtl="0" eaLnBrk="0">
              <a:lnSpc>
                <a:spcPct val="108000"/>
              </a:lnSpc>
            </a:pP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路径图应该包括减低服务成本的</a:t>
            </a:r>
            <a:r>
              <a:rPr sz="1500" spc="60" dirty="0">
                <a:solidFill>
                  <a:srgbClr val="000000">
                    <a:alpha val="100000"/>
                  </a:srgbClr>
                </a:solidFill>
                <a:latin typeface="微软雅黑" panose="020B0503020204020204" charset="-122"/>
                <a:ea typeface="微软雅黑" panose="020B0503020204020204" charset="-122"/>
                <a:cs typeface="楷体" panose="02010609060101010101" charset="-122"/>
              </a:rPr>
              <a:t>行</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80" dirty="0">
                <a:solidFill>
                  <a:srgbClr val="000000">
                    <a:alpha val="100000"/>
                  </a:srgbClr>
                </a:solidFill>
                <a:latin typeface="微软雅黑" panose="020B0503020204020204" charset="-122"/>
                <a:ea typeface="微软雅黑" panose="020B0503020204020204" charset="-122"/>
                <a:cs typeface="楷体" panose="02010609060101010101" charset="-122"/>
              </a:rPr>
              <a:t>动计</a:t>
            </a:r>
            <a:r>
              <a:rPr sz="1500" spc="70" dirty="0">
                <a:solidFill>
                  <a:srgbClr val="000000">
                    <a:alpha val="100000"/>
                  </a:srgbClr>
                </a:solidFill>
                <a:latin typeface="微软雅黑" panose="020B0503020204020204" charset="-122"/>
                <a:ea typeface="微软雅黑" panose="020B0503020204020204" charset="-122"/>
                <a:cs typeface="楷体" panose="02010609060101010101" charset="-122"/>
              </a:rPr>
              <a:t>划</a:t>
            </a:r>
            <a:endParaRPr lang="en-US" altLang="en-US" sz="1500" dirty="0">
              <a:latin typeface="微软雅黑" panose="020B0503020204020204" charset="-122"/>
              <a:ea typeface="微软雅黑" panose="020B0503020204020204" charset="-122"/>
            </a:endParaRPr>
          </a:p>
        </p:txBody>
      </p:sp>
      <p:sp>
        <p:nvSpPr>
          <p:cNvPr id="483" name="textbox 483"/>
          <p:cNvSpPr/>
          <p:nvPr/>
        </p:nvSpPr>
        <p:spPr>
          <a:xfrm>
            <a:off x="5125211" y="1626108"/>
            <a:ext cx="3289300" cy="630555"/>
          </a:xfrm>
          <a:prstGeom prst="rect">
            <a:avLst/>
          </a:prstGeom>
          <a:solidFill>
            <a:srgbClr val="E6E6E6"/>
          </a:solidFill>
        </p:spPr>
        <p:txBody>
          <a:bodyPr vert="horz" wrap="square" lIns="0" tIns="0" rIns="0" bIns="0"/>
          <a:lstStyle/>
          <a:p>
            <a:pPr algn="l" rtl="0" eaLnBrk="0">
              <a:lnSpc>
                <a:spcPct val="142000"/>
              </a:lnSpc>
            </a:pPr>
            <a:endParaRPr lang="en-US" altLang="en-US" sz="1000" dirty="0">
              <a:latin typeface="微软雅黑" panose="020B0503020204020204" charset="-122"/>
              <a:ea typeface="微软雅黑" panose="020B0503020204020204" charset="-122"/>
            </a:endParaRPr>
          </a:p>
          <a:p>
            <a:pPr marL="109855" algn="l" rtl="0" eaLnBrk="0">
              <a:lnSpc>
                <a:spcPct val="97000"/>
              </a:lnSpc>
              <a:spcBef>
                <a:spcPts val="5"/>
              </a:spcBef>
            </a:pPr>
            <a:r>
              <a:rPr sz="1500" spc="70" dirty="0">
                <a:ln w="5799" cap="flat" cmpd="sng">
                  <a:solidFill>
                    <a:srgbClr val="002960">
                      <a:alpha val="100000"/>
                    </a:srgbClr>
                  </a:solidFill>
                  <a:prstDash val="solid"/>
                  <a:miter lim="10"/>
                </a:ln>
                <a:solidFill>
                  <a:srgbClr val="002960">
                    <a:alpha val="100000"/>
                  </a:srgbClr>
                </a:solidFill>
                <a:latin typeface="微软雅黑" panose="020B0503020204020204" charset="-122"/>
                <a:ea typeface="微软雅黑" panose="020B0503020204020204" charset="-122"/>
                <a:cs typeface="楷体" panose="02010609060101010101" charset="-122"/>
              </a:rPr>
              <a:t>占整体资源的</a:t>
            </a:r>
            <a:r>
              <a:rPr sz="1500" b="1" spc="70" dirty="0">
                <a:solidFill>
                  <a:srgbClr val="002960">
                    <a:alpha val="100000"/>
                  </a:srgbClr>
                </a:solidFill>
                <a:latin typeface="微软雅黑" panose="020B0503020204020204" charset="-122"/>
                <a:ea typeface="微软雅黑" panose="020B0503020204020204" charset="-122"/>
                <a:cs typeface="Arial" panose="020B0604020202020204"/>
              </a:rPr>
              <a:t>50-60%</a:t>
            </a:r>
            <a:r>
              <a:rPr sz="1500" spc="7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70" dirty="0">
                <a:solidFill>
                  <a:srgbClr val="000000">
                    <a:alpha val="100000"/>
                  </a:srgbClr>
                </a:solidFill>
                <a:latin typeface="微软雅黑" panose="020B0503020204020204" charset="-122"/>
                <a:ea typeface="微软雅黑" panose="020B0503020204020204" charset="-122"/>
                <a:cs typeface="Arial" panose="020B0604020202020204"/>
              </a:rPr>
              <a:t>(</a:t>
            </a:r>
            <a:r>
              <a:rPr sz="1500" spc="70" dirty="0">
                <a:solidFill>
                  <a:srgbClr val="000000">
                    <a:alpha val="100000"/>
                  </a:srgbClr>
                </a:solidFill>
                <a:latin typeface="微软雅黑" panose="020B0503020204020204" charset="-122"/>
                <a:ea typeface="微软雅黑" panose="020B0503020204020204" charset="-122"/>
                <a:cs typeface="楷体" panose="02010609060101010101" charset="-122"/>
              </a:rPr>
              <a:t>时间和资金</a:t>
            </a:r>
            <a:r>
              <a:rPr sz="1500" spc="30" dirty="0">
                <a:solidFill>
                  <a:srgbClr val="000000">
                    <a:alpha val="100000"/>
                  </a:srgbClr>
                </a:solidFill>
                <a:latin typeface="微软雅黑" panose="020B0503020204020204" charset="-122"/>
                <a:ea typeface="微软雅黑" panose="020B0503020204020204" charset="-122"/>
                <a:cs typeface="Arial" panose="020B0604020202020204"/>
              </a:rPr>
              <a:t>)</a:t>
            </a:r>
            <a:endParaRPr lang="en-US" altLang="en-US" sz="1500" dirty="0">
              <a:latin typeface="微软雅黑" panose="020B0503020204020204" charset="-122"/>
              <a:ea typeface="微软雅黑" panose="020B0503020204020204" charset="-122"/>
            </a:endParaRPr>
          </a:p>
        </p:txBody>
      </p:sp>
      <p:sp>
        <p:nvSpPr>
          <p:cNvPr id="484" name="textbox 484"/>
          <p:cNvSpPr/>
          <p:nvPr/>
        </p:nvSpPr>
        <p:spPr>
          <a:xfrm>
            <a:off x="1554480" y="1626108"/>
            <a:ext cx="3289300" cy="630555"/>
          </a:xfrm>
          <a:prstGeom prst="rect">
            <a:avLst/>
          </a:prstGeom>
          <a:solidFill>
            <a:srgbClr val="E6E6E6"/>
          </a:solidFill>
        </p:spPr>
        <p:txBody>
          <a:bodyPr vert="horz" wrap="square" lIns="0" tIns="0" rIns="0" bIns="0"/>
          <a:lstStyle/>
          <a:p>
            <a:pPr algn="l" rtl="0" eaLnBrk="0">
              <a:lnSpc>
                <a:spcPct val="142000"/>
              </a:lnSpc>
            </a:pPr>
            <a:endParaRPr lang="en-US" altLang="en-US" sz="1000" dirty="0">
              <a:latin typeface="微软雅黑" panose="020B0503020204020204" charset="-122"/>
              <a:ea typeface="微软雅黑" panose="020B0503020204020204" charset="-122"/>
            </a:endParaRPr>
          </a:p>
          <a:p>
            <a:pPr marL="109220" algn="l" rtl="0" eaLnBrk="0">
              <a:lnSpc>
                <a:spcPct val="97000"/>
              </a:lnSpc>
              <a:spcBef>
                <a:spcPts val="5"/>
              </a:spcBef>
            </a:pPr>
            <a:r>
              <a:rPr sz="1500" spc="70" dirty="0">
                <a:solidFill>
                  <a:srgbClr val="002960">
                    <a:alpha val="100000"/>
                  </a:srgbClr>
                </a:solidFill>
                <a:latin typeface="微软雅黑" panose="020B0503020204020204" charset="-122"/>
                <a:ea typeface="微软雅黑" panose="020B0503020204020204" charset="-122"/>
                <a:cs typeface="楷体" panose="02010609060101010101" charset="-122"/>
              </a:rPr>
              <a:t>占整体资源的</a:t>
            </a:r>
            <a:r>
              <a:rPr sz="1500" spc="70" dirty="0">
                <a:solidFill>
                  <a:srgbClr val="002960">
                    <a:alpha val="100000"/>
                  </a:srgbClr>
                </a:solidFill>
                <a:latin typeface="微软雅黑" panose="020B0503020204020204" charset="-122"/>
                <a:ea typeface="微软雅黑" panose="020B0503020204020204" charset="-122"/>
                <a:cs typeface="Arial" panose="020B0604020202020204"/>
              </a:rPr>
              <a:t>20-30% </a:t>
            </a:r>
            <a:r>
              <a:rPr sz="1500" spc="70" dirty="0">
                <a:solidFill>
                  <a:srgbClr val="000000">
                    <a:alpha val="100000"/>
                  </a:srgbClr>
                </a:solidFill>
                <a:latin typeface="微软雅黑" panose="020B0503020204020204" charset="-122"/>
                <a:ea typeface="微软雅黑" panose="020B0503020204020204" charset="-122"/>
                <a:cs typeface="Arial" panose="020B0604020202020204"/>
              </a:rPr>
              <a:t>(</a:t>
            </a:r>
            <a:r>
              <a:rPr sz="1500" spc="70" dirty="0">
                <a:solidFill>
                  <a:srgbClr val="000000">
                    <a:alpha val="100000"/>
                  </a:srgbClr>
                </a:solidFill>
                <a:latin typeface="微软雅黑" panose="020B0503020204020204" charset="-122"/>
                <a:ea typeface="微软雅黑" panose="020B0503020204020204" charset="-122"/>
                <a:cs typeface="楷体" panose="02010609060101010101" charset="-122"/>
              </a:rPr>
              <a:t>主要是时</a:t>
            </a:r>
            <a:r>
              <a:rPr sz="1500" spc="30" dirty="0">
                <a:solidFill>
                  <a:srgbClr val="000000">
                    <a:alpha val="100000"/>
                  </a:srgbClr>
                </a:solidFill>
                <a:latin typeface="微软雅黑" panose="020B0503020204020204" charset="-122"/>
                <a:ea typeface="微软雅黑" panose="020B0503020204020204" charset="-122"/>
                <a:cs typeface="楷体" panose="02010609060101010101" charset="-122"/>
              </a:rPr>
              <a:t>间</a:t>
            </a:r>
            <a:r>
              <a:rPr sz="1500" spc="0" dirty="0">
                <a:solidFill>
                  <a:srgbClr val="000000">
                    <a:alpha val="100000"/>
                  </a:srgbClr>
                </a:solidFill>
                <a:latin typeface="微软雅黑" panose="020B0503020204020204" charset="-122"/>
                <a:ea typeface="微软雅黑" panose="020B0503020204020204" charset="-122"/>
                <a:cs typeface="Arial" panose="020B0604020202020204"/>
              </a:rPr>
              <a:t>)</a:t>
            </a:r>
            <a:endParaRPr lang="en-US" altLang="en-US" sz="1500" dirty="0">
              <a:latin typeface="微软雅黑" panose="020B0503020204020204" charset="-122"/>
              <a:ea typeface="微软雅黑" panose="020B0503020204020204" charset="-122"/>
            </a:endParaRPr>
          </a:p>
        </p:txBody>
      </p:sp>
      <p:sp>
        <p:nvSpPr>
          <p:cNvPr id="485" name="textbox 485"/>
          <p:cNvSpPr/>
          <p:nvPr/>
        </p:nvSpPr>
        <p:spPr>
          <a:xfrm>
            <a:off x="5125211" y="4122420"/>
            <a:ext cx="3289300" cy="629284"/>
          </a:xfrm>
          <a:prstGeom prst="rect">
            <a:avLst/>
          </a:prstGeom>
          <a:solidFill>
            <a:srgbClr val="E6E6E6"/>
          </a:solidFill>
        </p:spPr>
        <p:txBody>
          <a:bodyPr vert="horz" wrap="square" lIns="0" tIns="0" rIns="0" bIns="0"/>
          <a:lstStyle/>
          <a:p>
            <a:pPr algn="l" rtl="0" eaLnBrk="0">
              <a:lnSpc>
                <a:spcPct val="142000"/>
              </a:lnSpc>
            </a:pPr>
            <a:endParaRPr lang="en-US" altLang="en-US" sz="1000" dirty="0">
              <a:latin typeface="微软雅黑" panose="020B0503020204020204" charset="-122"/>
              <a:ea typeface="微软雅黑" panose="020B0503020204020204" charset="-122"/>
            </a:endParaRPr>
          </a:p>
          <a:p>
            <a:pPr marL="109855" algn="l" rtl="0" eaLnBrk="0">
              <a:lnSpc>
                <a:spcPct val="97000"/>
              </a:lnSpc>
              <a:spcBef>
                <a:spcPts val="5"/>
              </a:spcBef>
            </a:pPr>
            <a:r>
              <a:rPr sz="1500" spc="70" dirty="0">
                <a:solidFill>
                  <a:srgbClr val="002960">
                    <a:alpha val="100000"/>
                  </a:srgbClr>
                </a:solidFill>
                <a:latin typeface="微软雅黑" panose="020B0503020204020204" charset="-122"/>
                <a:ea typeface="微软雅黑" panose="020B0503020204020204" charset="-122"/>
                <a:cs typeface="楷体" panose="02010609060101010101" charset="-122"/>
              </a:rPr>
              <a:t>占整体资源的</a:t>
            </a:r>
            <a:r>
              <a:rPr sz="1500" spc="70" dirty="0">
                <a:solidFill>
                  <a:srgbClr val="002960">
                    <a:alpha val="100000"/>
                  </a:srgbClr>
                </a:solidFill>
                <a:latin typeface="微软雅黑" panose="020B0503020204020204" charset="-122"/>
                <a:ea typeface="微软雅黑" panose="020B0503020204020204" charset="-122"/>
                <a:cs typeface="Arial" panose="020B0604020202020204"/>
              </a:rPr>
              <a:t>20-30% </a:t>
            </a:r>
            <a:r>
              <a:rPr sz="1500" spc="70" dirty="0">
                <a:solidFill>
                  <a:srgbClr val="000000">
                    <a:alpha val="100000"/>
                  </a:srgbClr>
                </a:solidFill>
                <a:latin typeface="微软雅黑" panose="020B0503020204020204" charset="-122"/>
                <a:ea typeface="微软雅黑" panose="020B0503020204020204" charset="-122"/>
                <a:cs typeface="Arial" panose="020B0604020202020204"/>
              </a:rPr>
              <a:t>(</a:t>
            </a:r>
            <a:r>
              <a:rPr sz="1500" spc="70" dirty="0">
                <a:solidFill>
                  <a:srgbClr val="000000">
                    <a:alpha val="100000"/>
                  </a:srgbClr>
                </a:solidFill>
                <a:latin typeface="微软雅黑" panose="020B0503020204020204" charset="-122"/>
                <a:ea typeface="微软雅黑" panose="020B0503020204020204" charset="-122"/>
                <a:cs typeface="楷体" panose="02010609060101010101" charset="-122"/>
              </a:rPr>
              <a:t>主要是资</a:t>
            </a:r>
            <a:r>
              <a:rPr sz="1500" spc="30" dirty="0">
                <a:solidFill>
                  <a:srgbClr val="000000">
                    <a:alpha val="100000"/>
                  </a:srgbClr>
                </a:solidFill>
                <a:latin typeface="微软雅黑" panose="020B0503020204020204" charset="-122"/>
                <a:ea typeface="微软雅黑" panose="020B0503020204020204" charset="-122"/>
                <a:cs typeface="楷体" panose="02010609060101010101" charset="-122"/>
              </a:rPr>
              <a:t>金</a:t>
            </a:r>
            <a:r>
              <a:rPr sz="1500" spc="0" dirty="0">
                <a:solidFill>
                  <a:srgbClr val="000000">
                    <a:alpha val="100000"/>
                  </a:srgbClr>
                </a:solidFill>
                <a:latin typeface="微软雅黑" panose="020B0503020204020204" charset="-122"/>
                <a:ea typeface="微软雅黑" panose="020B0503020204020204" charset="-122"/>
                <a:cs typeface="Arial" panose="020B0604020202020204"/>
              </a:rPr>
              <a:t>)</a:t>
            </a:r>
            <a:endParaRPr lang="en-US" altLang="en-US" sz="1500" dirty="0">
              <a:latin typeface="微软雅黑" panose="020B0503020204020204" charset="-122"/>
              <a:ea typeface="微软雅黑" panose="020B0503020204020204" charset="-122"/>
            </a:endParaRPr>
          </a:p>
        </p:txBody>
      </p:sp>
      <p:sp>
        <p:nvSpPr>
          <p:cNvPr id="486" name="textbox 486"/>
          <p:cNvSpPr/>
          <p:nvPr/>
        </p:nvSpPr>
        <p:spPr>
          <a:xfrm>
            <a:off x="1554480" y="4122420"/>
            <a:ext cx="3289300" cy="648334"/>
          </a:xfrm>
          <a:prstGeom prst="rect">
            <a:avLst/>
          </a:prstGeom>
          <a:solidFill>
            <a:srgbClr val="E6E6E6"/>
          </a:solidFill>
        </p:spPr>
        <p:txBody>
          <a:bodyPr vert="horz" wrap="square" lIns="0" tIns="0" rIns="0" bIns="0"/>
          <a:lstStyle/>
          <a:p>
            <a:pPr algn="l" rtl="0" eaLnBrk="0">
              <a:lnSpc>
                <a:spcPct val="142000"/>
              </a:lnSpc>
            </a:pPr>
            <a:endParaRPr lang="en-US" altLang="en-US" sz="1000" dirty="0">
              <a:latin typeface="微软雅黑" panose="020B0503020204020204" charset="-122"/>
              <a:ea typeface="微软雅黑" panose="020B0503020204020204" charset="-122"/>
            </a:endParaRPr>
          </a:p>
          <a:p>
            <a:pPr marL="109220" algn="l" rtl="0" eaLnBrk="0">
              <a:lnSpc>
                <a:spcPts val="1900"/>
              </a:lnSpc>
              <a:spcBef>
                <a:spcPts val="0"/>
              </a:spcBef>
            </a:pPr>
            <a:r>
              <a:rPr sz="1500" spc="20" dirty="0">
                <a:solidFill>
                  <a:srgbClr val="002960">
                    <a:alpha val="100000"/>
                  </a:srgbClr>
                </a:solidFill>
                <a:latin typeface="微软雅黑" panose="020B0503020204020204" charset="-122"/>
                <a:ea typeface="微软雅黑" panose="020B0503020204020204" charset="-122"/>
                <a:cs typeface="楷体" panose="02010609060101010101" charset="-122"/>
              </a:rPr>
              <a:t>占整体资源的</a:t>
            </a:r>
            <a:r>
              <a:rPr sz="1500" spc="20" dirty="0">
                <a:solidFill>
                  <a:srgbClr val="002960">
                    <a:alpha val="100000"/>
                  </a:srgbClr>
                </a:solidFill>
                <a:latin typeface="微软雅黑" panose="020B0503020204020204" charset="-122"/>
                <a:ea typeface="微软雅黑" panose="020B0503020204020204" charset="-122"/>
                <a:cs typeface="Arial" panose="020B0604020202020204"/>
              </a:rPr>
              <a:t>5- 1</a:t>
            </a:r>
            <a:r>
              <a:rPr sz="1500" spc="0" dirty="0">
                <a:solidFill>
                  <a:srgbClr val="002960">
                    <a:alpha val="100000"/>
                  </a:srgbClr>
                </a:solidFill>
                <a:latin typeface="微软雅黑" panose="020B0503020204020204" charset="-122"/>
                <a:ea typeface="微软雅黑" panose="020B0503020204020204" charset="-122"/>
                <a:cs typeface="Arial" panose="020B0604020202020204"/>
              </a:rPr>
              <a:t>0%</a:t>
            </a:r>
            <a:endParaRPr lang="en-US" altLang="en-US" sz="1500" dirty="0">
              <a:latin typeface="微软雅黑" panose="020B0503020204020204" charset="-122"/>
              <a:ea typeface="微软雅黑" panose="020B0503020204020204" charset="-122"/>
            </a:endParaRPr>
          </a:p>
        </p:txBody>
      </p:sp>
      <p:sp>
        <p:nvSpPr>
          <p:cNvPr id="487" name="textbox 487"/>
          <p:cNvSpPr/>
          <p:nvPr/>
        </p:nvSpPr>
        <p:spPr>
          <a:xfrm>
            <a:off x="104694" y="248992"/>
            <a:ext cx="5767070" cy="316229"/>
          </a:xfrm>
          <a:prstGeom prst="rect">
            <a:avLst/>
          </a:prstGeom>
        </p:spPr>
        <p:txBody>
          <a:bodyPr vert="horz" wrap="square" lIns="0" tIns="0" rIns="0" bIns="0"/>
          <a:lstStyle/>
          <a:p>
            <a:pPr algn="l" rtl="0" eaLnBrk="0">
              <a:lnSpc>
                <a:spcPct val="91000"/>
              </a:lnSpc>
            </a:pPr>
            <a:endParaRPr lang="en-US" altLang="en-US" sz="100" dirty="0">
              <a:latin typeface="微软雅黑" panose="020B0503020204020204" charset="-122"/>
              <a:ea typeface="微软雅黑" panose="020B0503020204020204" charset="-122"/>
            </a:endParaRPr>
          </a:p>
          <a:p>
            <a:pPr marL="139700" algn="l" rtl="0" eaLnBrk="0">
              <a:lnSpc>
                <a:spcPct val="95000"/>
              </a:lnSpc>
            </a:pPr>
            <a:r>
              <a:rPr sz="2000" spc="-40" dirty="0">
                <a:solidFill>
                  <a:srgbClr val="002960">
                    <a:alpha val="100000"/>
                  </a:srgbClr>
                </a:solidFill>
                <a:latin typeface="微软雅黑" panose="020B0503020204020204" charset="-122"/>
                <a:ea typeface="微软雅黑" panose="020B0503020204020204" charset="-122"/>
                <a:cs typeface="楷体" panose="02010609060101010101" charset="-122"/>
              </a:rPr>
              <a:t>【案例</a:t>
            </a:r>
            <a:r>
              <a:rPr sz="2000" spc="-40" dirty="0">
                <a:solidFill>
                  <a:srgbClr val="002960">
                    <a:alpha val="100000"/>
                  </a:srgbClr>
                </a:solidFill>
                <a:latin typeface="微软雅黑" panose="020B0503020204020204" charset="-122"/>
                <a:ea typeface="微软雅黑" panose="020B0503020204020204" charset="-122"/>
                <a:cs typeface="Arial" panose="020B0604020202020204"/>
              </a:rPr>
              <a:t>1</a:t>
            </a:r>
            <a:r>
              <a:rPr sz="2000" spc="-40" dirty="0">
                <a:solidFill>
                  <a:srgbClr val="002960">
                    <a:alpha val="100000"/>
                  </a:srgbClr>
                </a:solidFill>
                <a:latin typeface="微软雅黑" panose="020B0503020204020204" charset="-122"/>
                <a:ea typeface="微软雅黑" panose="020B0503020204020204" charset="-122"/>
                <a:cs typeface="楷体" panose="02010609060101010101" charset="-122"/>
              </a:rPr>
              <a:t>】这种客户细分对销售的指导意义非常明</a:t>
            </a:r>
            <a:r>
              <a:rPr sz="2000" spc="-30" dirty="0">
                <a:solidFill>
                  <a:srgbClr val="002960">
                    <a:alpha val="100000"/>
                  </a:srgbClr>
                </a:solidFill>
                <a:latin typeface="微软雅黑" panose="020B0503020204020204" charset="-122"/>
                <a:ea typeface="微软雅黑" panose="020B0503020204020204" charset="-122"/>
                <a:cs typeface="楷体" panose="02010609060101010101" charset="-122"/>
              </a:rPr>
              <a:t>显</a:t>
            </a:r>
            <a:endParaRPr lang="en-US" altLang="en-US" sz="2000" dirty="0">
              <a:latin typeface="微软雅黑" panose="020B0503020204020204" charset="-122"/>
              <a:ea typeface="微软雅黑" panose="020B0503020204020204" charset="-122"/>
            </a:endParaRPr>
          </a:p>
        </p:txBody>
      </p:sp>
      <p:pic>
        <p:nvPicPr>
          <p:cNvPr id="488" name="picture 488"/>
          <p:cNvPicPr>
            <a:picLocks noChangeAspect="1"/>
          </p:cNvPicPr>
          <p:nvPr/>
        </p:nvPicPr>
        <p:blipFill>
          <a:blip r:embed="rId1"/>
          <a:stretch>
            <a:fillRect/>
          </a:stretch>
        </p:blipFill>
        <p:spPr>
          <a:xfrm rot="21600000">
            <a:off x="1255013" y="5958840"/>
            <a:ext cx="7382255" cy="86868"/>
          </a:xfrm>
          <a:prstGeom prst="rect">
            <a:avLst/>
          </a:prstGeom>
        </p:spPr>
      </p:pic>
      <p:pic>
        <p:nvPicPr>
          <p:cNvPr id="489" name="picture 489"/>
          <p:cNvPicPr>
            <a:picLocks noChangeAspect="1"/>
          </p:cNvPicPr>
          <p:nvPr/>
        </p:nvPicPr>
        <p:blipFill>
          <a:blip r:embed="rId2"/>
          <a:stretch>
            <a:fillRect/>
          </a:stretch>
        </p:blipFill>
        <p:spPr>
          <a:xfrm rot="21600000">
            <a:off x="1210055" y="887730"/>
            <a:ext cx="86867" cy="5120639"/>
          </a:xfrm>
          <a:prstGeom prst="rect">
            <a:avLst/>
          </a:prstGeom>
        </p:spPr>
      </p:pic>
      <p:sp>
        <p:nvSpPr>
          <p:cNvPr id="490" name="textbox 490"/>
          <p:cNvSpPr/>
          <p:nvPr/>
        </p:nvSpPr>
        <p:spPr>
          <a:xfrm>
            <a:off x="170951" y="1193042"/>
            <a:ext cx="825500" cy="252095"/>
          </a:xfrm>
          <a:prstGeom prst="rect">
            <a:avLst/>
          </a:prstGeom>
        </p:spPr>
        <p:txBody>
          <a:bodyPr vert="horz" wrap="square" lIns="0" tIns="0" rIns="0" bIns="0"/>
          <a:lstStyle/>
          <a:p>
            <a:pPr algn="l" rtl="0" eaLnBrk="0">
              <a:lnSpc>
                <a:spcPct val="82000"/>
              </a:lnSpc>
            </a:pPr>
            <a:endParaRPr lang="en-US" altLang="en-US" sz="100" dirty="0">
              <a:latin typeface="微软雅黑" panose="020B0503020204020204" charset="-122"/>
              <a:ea typeface="微软雅黑" panose="020B0503020204020204" charset="-122"/>
            </a:endParaRPr>
          </a:p>
          <a:p>
            <a:pPr marL="12700" algn="l" rtl="0" eaLnBrk="0">
              <a:lnSpc>
                <a:spcPct val="99000"/>
              </a:lnSpc>
            </a:pPr>
            <a:r>
              <a:rPr sz="1500" spc="80" dirty="0">
                <a:ln w="5791" cap="flat" cmpd="sng">
                  <a:solidFill>
                    <a:srgbClr val="002960">
                      <a:alpha val="100000"/>
                    </a:srgbClr>
                  </a:solidFill>
                  <a:prstDash val="solid"/>
                  <a:miter lim="10"/>
                </a:ln>
                <a:solidFill>
                  <a:srgbClr val="002960">
                    <a:alpha val="100000"/>
                  </a:srgbClr>
                </a:solidFill>
                <a:latin typeface="微软雅黑" panose="020B0503020204020204" charset="-122"/>
                <a:ea typeface="微软雅黑" panose="020B0503020204020204" charset="-122"/>
                <a:cs typeface="楷体" panose="02010609060101010101" charset="-122"/>
              </a:rPr>
              <a:t>未来价</a:t>
            </a:r>
            <a:r>
              <a:rPr sz="1500" spc="50" dirty="0">
                <a:ln w="5791" cap="flat" cmpd="sng">
                  <a:solidFill>
                    <a:srgbClr val="002960">
                      <a:alpha val="100000"/>
                    </a:srgbClr>
                  </a:solidFill>
                  <a:prstDash val="solid"/>
                  <a:miter lim="10"/>
                </a:ln>
                <a:solidFill>
                  <a:srgbClr val="002960">
                    <a:alpha val="100000"/>
                  </a:srgbClr>
                </a:solidFill>
                <a:latin typeface="微软雅黑" panose="020B0503020204020204" charset="-122"/>
                <a:ea typeface="微软雅黑" panose="020B0503020204020204" charset="-122"/>
                <a:cs typeface="楷体" panose="02010609060101010101" charset="-122"/>
              </a:rPr>
              <a:t>值</a:t>
            </a:r>
            <a:endParaRPr lang="en-US" altLang="en-US" sz="1500" dirty="0">
              <a:latin typeface="微软雅黑" panose="020B0503020204020204" charset="-122"/>
              <a:ea typeface="微软雅黑" panose="020B0503020204020204" charset="-122"/>
            </a:endParaRPr>
          </a:p>
        </p:txBody>
      </p:sp>
      <p:sp>
        <p:nvSpPr>
          <p:cNvPr id="491" name="textbox 491"/>
          <p:cNvSpPr/>
          <p:nvPr/>
        </p:nvSpPr>
        <p:spPr>
          <a:xfrm>
            <a:off x="7690277" y="6087800"/>
            <a:ext cx="809625" cy="254634"/>
          </a:xfrm>
          <a:prstGeom prst="rect">
            <a:avLst/>
          </a:prstGeom>
        </p:spPr>
        <p:txBody>
          <a:bodyPr vert="horz" wrap="square" lIns="0" tIns="0" rIns="0" bIns="0"/>
          <a:lstStyle/>
          <a:p>
            <a:pPr algn="l" rtl="0" eaLnBrk="0">
              <a:lnSpc>
                <a:spcPct val="87000"/>
              </a:lnSpc>
            </a:pPr>
            <a:endParaRPr lang="en-US" altLang="en-US" sz="100" dirty="0">
              <a:latin typeface="微软雅黑" panose="020B0503020204020204" charset="-122"/>
              <a:ea typeface="微软雅黑" panose="020B0503020204020204" charset="-122"/>
            </a:endParaRPr>
          </a:p>
          <a:p>
            <a:pPr marL="12700" algn="l" rtl="0" eaLnBrk="0">
              <a:lnSpc>
                <a:spcPct val="100000"/>
              </a:lnSpc>
            </a:pPr>
            <a:r>
              <a:rPr sz="1500" spc="50" dirty="0">
                <a:ln w="5791" cap="flat" cmpd="sng">
                  <a:solidFill>
                    <a:srgbClr val="002960">
                      <a:alpha val="100000"/>
                    </a:srgbClr>
                  </a:solidFill>
                  <a:prstDash val="solid"/>
                  <a:miter lim="10"/>
                </a:ln>
                <a:solidFill>
                  <a:srgbClr val="002960">
                    <a:alpha val="100000"/>
                  </a:srgbClr>
                </a:solidFill>
                <a:latin typeface="微软雅黑" panose="020B0503020204020204" charset="-122"/>
                <a:ea typeface="微软雅黑" panose="020B0503020204020204" charset="-122"/>
                <a:cs typeface="楷体" panose="02010609060101010101" charset="-122"/>
              </a:rPr>
              <a:t>当前价</a:t>
            </a:r>
            <a:r>
              <a:rPr sz="1500" spc="20" dirty="0">
                <a:ln w="5791" cap="flat" cmpd="sng">
                  <a:solidFill>
                    <a:srgbClr val="002960">
                      <a:alpha val="100000"/>
                    </a:srgbClr>
                  </a:solidFill>
                  <a:prstDash val="solid"/>
                  <a:miter lim="10"/>
                </a:ln>
                <a:solidFill>
                  <a:srgbClr val="002960">
                    <a:alpha val="100000"/>
                  </a:srgbClr>
                </a:solidFill>
                <a:latin typeface="微软雅黑" panose="020B0503020204020204" charset="-122"/>
                <a:ea typeface="微软雅黑" panose="020B0503020204020204" charset="-122"/>
                <a:cs typeface="楷体" panose="02010609060101010101" charset="-122"/>
              </a:rPr>
              <a:t>值</a:t>
            </a:r>
            <a:endParaRPr lang="en-US" altLang="en-US" sz="1500" dirty="0">
              <a:latin typeface="微软雅黑" panose="020B0503020204020204" charset="-122"/>
              <a:ea typeface="微软雅黑" panose="020B0503020204020204" charset="-122"/>
            </a:endParaRPr>
          </a:p>
        </p:txBody>
      </p:sp>
      <p:sp>
        <p:nvSpPr>
          <p:cNvPr id="492" name="path"/>
          <p:cNvSpPr/>
          <p:nvPr/>
        </p:nvSpPr>
        <p:spPr>
          <a:xfrm>
            <a:off x="1436369" y="3386328"/>
            <a:ext cx="7097268" cy="19811"/>
          </a:xfrm>
          <a:custGeom>
            <a:avLst/>
            <a:gdLst/>
            <a:ahLst/>
            <a:cxnLst/>
            <a:rect l="0" t="0" r="0" b="0"/>
            <a:pathLst>
              <a:path w="11176" h="31">
                <a:moveTo>
                  <a:pt x="0" y="15"/>
                </a:moveTo>
                <a:lnTo>
                  <a:pt x="5553" y="15"/>
                </a:lnTo>
                <a:moveTo>
                  <a:pt x="5623" y="15"/>
                </a:moveTo>
                <a:lnTo>
                  <a:pt x="11176" y="15"/>
                </a:lnTo>
              </a:path>
            </a:pathLst>
          </a:custGeom>
          <a:noFill/>
          <a:ln w="19811" cap="flat">
            <a:solidFill>
              <a:srgbClr val="C5C5C5">
                <a:alpha val="100000"/>
              </a:srgbClr>
            </a:solidFill>
            <a:prstDash val="solid"/>
            <a:miter lim="1000000"/>
          </a:ln>
        </p:spPr>
        <p:txBody>
          <a:bodyPr rtlCol="0"/>
          <a:lstStyle/>
          <a:p>
            <a:pPr algn="ct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6" name="table 496"/>
          <p:cNvGraphicFramePr>
            <a:graphicFrameLocks noGrp="1"/>
          </p:cNvGraphicFramePr>
          <p:nvPr/>
        </p:nvGraphicFramePr>
        <p:xfrm>
          <a:off x="109728" y="1025652"/>
          <a:ext cx="8691244" cy="5210809"/>
        </p:xfrm>
        <a:graphic>
          <a:graphicData uri="http://schemas.openxmlformats.org/drawingml/2006/table">
            <a:tbl>
              <a:tblPr/>
              <a:tblGrid>
                <a:gridCol w="8691244"/>
              </a:tblGrid>
              <a:tr h="5210809">
                <a:tc>
                  <a:txBody>
                    <a:bodyPr/>
                    <a:lstStyle/>
                    <a:p>
                      <a:pPr algn="l" rtl="0" eaLnBrk="0">
                        <a:lnSpc>
                          <a:spcPct val="148000"/>
                        </a:lnSpc>
                      </a:pPr>
                      <a:endParaRPr lang="en-US" altLang="en-US" sz="1000" dirty="0">
                        <a:latin typeface="微软雅黑" panose="020B0503020204020204" charset="-122"/>
                        <a:ea typeface="微软雅黑" panose="020B0503020204020204" charset="-122"/>
                      </a:endParaRPr>
                    </a:p>
                    <a:p>
                      <a:pPr algn="l" rtl="0" eaLnBrk="0">
                        <a:lnSpc>
                          <a:spcPct val="149000"/>
                        </a:lnSpc>
                      </a:pPr>
                      <a:endParaRPr lang="en-US" altLang="en-US" sz="1000" dirty="0">
                        <a:latin typeface="微软雅黑" panose="020B0503020204020204" charset="-122"/>
                        <a:ea typeface="微软雅黑" panose="020B0503020204020204" charset="-122"/>
                      </a:endParaRPr>
                    </a:p>
                    <a:p>
                      <a:pPr marL="4224655" algn="l" rtl="0" eaLnBrk="0">
                        <a:lnSpc>
                          <a:spcPct val="102000"/>
                        </a:lnSpc>
                        <a:tabLst>
                          <a:tab pos="4657725" algn="l"/>
                        </a:tabLst>
                      </a:pPr>
                      <a:r>
                        <a:rPr sz="900" u="dotted" spc="0" dirty="0">
                          <a:solidFill>
                            <a:srgbClr val="000000">
                              <a:alpha val="100000"/>
                            </a:srgbClr>
                          </a:solidFill>
                          <a:uFill>
                            <a:solidFill>
                              <a:srgbClr val="808080"/>
                            </a:solidFill>
                          </a:uFill>
                          <a:latin typeface="微软雅黑" panose="020B0503020204020204" charset="-122"/>
                          <a:ea typeface="微软雅黑" panose="020B0503020204020204" charset="-122"/>
                          <a:cs typeface="楷体" panose="02010609060101010101" charset="-122"/>
                        </a:rPr>
                        <a:t>	</a:t>
                      </a:r>
                      <a:r>
                        <a:rPr sz="900" spc="100" dirty="0">
                          <a:solidFill>
                            <a:srgbClr val="000000">
                              <a:alpha val="100000"/>
                            </a:srgbClr>
                          </a:solidFill>
                          <a:latin typeface="微软雅黑" panose="020B0503020204020204" charset="-122"/>
                          <a:ea typeface="微软雅黑" panose="020B0503020204020204" charset="-122"/>
                          <a:cs typeface="楷体" panose="02010609060101010101" charset="-122"/>
                        </a:rPr>
                        <a:t>平均客户与大客</a:t>
                      </a:r>
                      <a:r>
                        <a:rPr sz="900" spc="50" dirty="0">
                          <a:solidFill>
                            <a:srgbClr val="000000">
                              <a:alpha val="100000"/>
                            </a:srgbClr>
                          </a:solidFill>
                          <a:latin typeface="微软雅黑" panose="020B0503020204020204" charset="-122"/>
                          <a:ea typeface="微软雅黑" panose="020B0503020204020204" charset="-122"/>
                          <a:cs typeface="楷体" panose="02010609060101010101" charset="-122"/>
                        </a:rPr>
                        <a:t>户</a:t>
                      </a:r>
                      <a:endParaRPr lang="en-US" altLang="en-US" sz="900" dirty="0">
                        <a:latin typeface="微软雅黑" panose="020B0503020204020204" charset="-122"/>
                        <a:ea typeface="微软雅黑" panose="020B0503020204020204" charset="-122"/>
                      </a:endParaRPr>
                    </a:p>
                    <a:p>
                      <a:pPr marL="4660265" algn="l" rtl="0" eaLnBrk="0">
                        <a:lnSpc>
                          <a:spcPct val="85000"/>
                        </a:lnSpc>
                        <a:spcBef>
                          <a:spcPts val="50"/>
                        </a:spcBef>
                      </a:pPr>
                      <a:r>
                        <a:rPr sz="900" spc="90" dirty="0">
                          <a:solidFill>
                            <a:srgbClr val="000000">
                              <a:alpha val="100000"/>
                            </a:srgbClr>
                          </a:solidFill>
                          <a:latin typeface="微软雅黑" panose="020B0503020204020204" charset="-122"/>
                          <a:ea typeface="微软雅黑" panose="020B0503020204020204" charset="-122"/>
                          <a:cs typeface="楷体" panose="02010609060101010101" charset="-122"/>
                        </a:rPr>
                        <a:t>经理比</a:t>
                      </a:r>
                      <a:r>
                        <a:rPr sz="900" spc="50" dirty="0">
                          <a:solidFill>
                            <a:srgbClr val="000000">
                              <a:alpha val="100000"/>
                            </a:srgbClr>
                          </a:solidFill>
                          <a:latin typeface="微软雅黑" panose="020B0503020204020204" charset="-122"/>
                          <a:ea typeface="微软雅黑" panose="020B0503020204020204" charset="-122"/>
                          <a:cs typeface="楷体" panose="02010609060101010101" charset="-122"/>
                        </a:rPr>
                        <a:t>例</a:t>
                      </a:r>
                      <a:endParaRPr lang="en-US" altLang="en-US" sz="900" dirty="0">
                        <a:latin typeface="微软雅黑" panose="020B0503020204020204" charset="-122"/>
                        <a:ea typeface="微软雅黑" panose="020B0503020204020204" charset="-122"/>
                      </a:endParaRPr>
                    </a:p>
                    <a:p>
                      <a:pPr marL="80010" algn="l" rtl="0" eaLnBrk="0">
                        <a:lnSpc>
                          <a:spcPts val="1345"/>
                        </a:lnSpc>
                      </a:pPr>
                      <a:r>
                        <a:rPr sz="1100" spc="100" dirty="0">
                          <a:solidFill>
                            <a:srgbClr val="808080">
                              <a:alpha val="100000"/>
                            </a:srgbClr>
                          </a:solidFill>
                          <a:latin typeface="微软雅黑" panose="020B0503020204020204" charset="-122"/>
                          <a:ea typeface="微软雅黑" panose="020B0503020204020204" charset="-122"/>
                          <a:cs typeface="楷体" panose="02010609060101010101" charset="-122"/>
                        </a:rPr>
                        <a:t>客户增长贡献率</a:t>
                      </a:r>
                      <a:r>
                        <a:rPr sz="1100" spc="60" dirty="0">
                          <a:solidFill>
                            <a:srgbClr val="808080">
                              <a:alpha val="100000"/>
                            </a:srgbClr>
                          </a:solidFill>
                          <a:latin typeface="微软雅黑" panose="020B0503020204020204" charset="-122"/>
                          <a:ea typeface="微软雅黑" panose="020B0503020204020204" charset="-122"/>
                          <a:cs typeface="Arial" panose="020B0604020202020204"/>
                        </a:rPr>
                        <a:t>%</a:t>
                      </a:r>
                      <a:endParaRPr lang="en-US" altLang="en-US" sz="1100" dirty="0">
                        <a:latin typeface="微软雅黑" panose="020B0503020204020204" charset="-122"/>
                        <a:ea typeface="微软雅黑" panose="020B0503020204020204" charset="-122"/>
                      </a:endParaRPr>
                    </a:p>
                    <a:p>
                      <a:pPr algn="l" rtl="0" eaLnBrk="0">
                        <a:lnSpc>
                          <a:spcPct val="100000"/>
                        </a:lnSpc>
                      </a:pPr>
                      <a:endParaRPr lang="en-US" altLang="en-US" sz="1000" dirty="0">
                        <a:latin typeface="微软雅黑" panose="020B0503020204020204" charset="-122"/>
                        <a:ea typeface="微软雅黑" panose="020B0503020204020204" charset="-122"/>
                      </a:endParaRPr>
                    </a:p>
                    <a:p>
                      <a:pPr algn="l" rtl="0" eaLnBrk="0">
                        <a:lnSpc>
                          <a:spcPct val="100000"/>
                        </a:lnSpc>
                      </a:pPr>
                      <a:endParaRPr lang="en-US" altLang="en-US" sz="1000" dirty="0">
                        <a:latin typeface="微软雅黑" panose="020B0503020204020204" charset="-122"/>
                        <a:ea typeface="微软雅黑" panose="020B0503020204020204" charset="-122"/>
                      </a:endParaRPr>
                    </a:p>
                    <a:p>
                      <a:pPr algn="l" rtl="0" eaLnBrk="0">
                        <a:lnSpc>
                          <a:spcPct val="100000"/>
                        </a:lnSpc>
                      </a:pPr>
                      <a:endParaRPr lang="en-US" altLang="en-US" sz="1000" dirty="0">
                        <a:latin typeface="微软雅黑" panose="020B0503020204020204" charset="-122"/>
                        <a:ea typeface="微软雅黑" panose="020B0503020204020204" charset="-122"/>
                      </a:endParaRPr>
                    </a:p>
                    <a:p>
                      <a:pPr algn="l" rtl="0" eaLnBrk="0">
                        <a:lnSpc>
                          <a:spcPct val="100000"/>
                        </a:lnSpc>
                      </a:pPr>
                      <a:endParaRPr lang="en-US" altLang="en-US" sz="1000" dirty="0">
                        <a:latin typeface="微软雅黑" panose="020B0503020204020204" charset="-122"/>
                        <a:ea typeface="微软雅黑" panose="020B0503020204020204" charset="-122"/>
                      </a:endParaRPr>
                    </a:p>
                    <a:p>
                      <a:pPr algn="l" rtl="0" eaLnBrk="0">
                        <a:lnSpc>
                          <a:spcPct val="100000"/>
                        </a:lnSpc>
                      </a:pPr>
                      <a:endParaRPr lang="en-US" altLang="en-US" sz="1000" dirty="0">
                        <a:latin typeface="微软雅黑" panose="020B0503020204020204" charset="-122"/>
                        <a:ea typeface="微软雅黑" panose="020B0503020204020204" charset="-122"/>
                      </a:endParaRPr>
                    </a:p>
                    <a:p>
                      <a:pPr algn="l" rtl="0" eaLnBrk="0">
                        <a:lnSpc>
                          <a:spcPct val="100000"/>
                        </a:lnSpc>
                      </a:pPr>
                      <a:endParaRPr lang="en-US" altLang="en-US" sz="1000" dirty="0">
                        <a:latin typeface="微软雅黑" panose="020B0503020204020204" charset="-122"/>
                        <a:ea typeface="微软雅黑" panose="020B0503020204020204" charset="-122"/>
                      </a:endParaRPr>
                    </a:p>
                    <a:p>
                      <a:pPr algn="l" rtl="0" eaLnBrk="0">
                        <a:lnSpc>
                          <a:spcPct val="100000"/>
                        </a:lnSpc>
                      </a:pPr>
                      <a:endParaRPr lang="en-US" altLang="en-US" sz="1000" dirty="0">
                        <a:latin typeface="微软雅黑" panose="020B0503020204020204" charset="-122"/>
                        <a:ea typeface="微软雅黑" panose="020B0503020204020204" charset="-122"/>
                      </a:endParaRPr>
                    </a:p>
                    <a:p>
                      <a:pPr algn="l" rtl="0" eaLnBrk="0">
                        <a:lnSpc>
                          <a:spcPct val="100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marL="8018145" algn="l" rtl="0" eaLnBrk="0">
                        <a:lnSpc>
                          <a:spcPct val="87000"/>
                        </a:lnSpc>
                        <a:spcBef>
                          <a:spcPts val="355"/>
                        </a:spcBef>
                      </a:pPr>
                      <a:r>
                        <a:rPr sz="1800" b="1" spc="20" baseline="-6000" dirty="0">
                          <a:solidFill>
                            <a:srgbClr val="808080">
                              <a:alpha val="100000"/>
                            </a:srgbClr>
                          </a:solidFill>
                          <a:latin typeface="微软雅黑" panose="020B0503020204020204" charset="-122"/>
                          <a:ea typeface="微软雅黑" panose="020B0503020204020204" charset="-122"/>
                          <a:cs typeface="Arial" panose="020B0604020202020204"/>
                        </a:rPr>
                        <a:t>8</a:t>
                      </a:r>
                      <a:r>
                        <a:rPr sz="1200" b="1" spc="10" baseline="22000" dirty="0">
                          <a:solidFill>
                            <a:srgbClr val="808080">
                              <a:alpha val="100000"/>
                            </a:srgbClr>
                          </a:solidFill>
                          <a:latin typeface="微软雅黑" panose="020B0503020204020204" charset="-122"/>
                          <a:ea typeface="微软雅黑" panose="020B0503020204020204" charset="-122"/>
                          <a:cs typeface="Arial" panose="020B0604020202020204"/>
                        </a:rPr>
                        <a:t>1</a:t>
                      </a:r>
                      <a:endParaRPr lang="en-US" altLang="en-US" sz="780" dirty="0">
                        <a:latin typeface="微软雅黑" panose="020B0503020204020204" charset="-122"/>
                        <a:ea typeface="微软雅黑" panose="020B0503020204020204" charset="-122"/>
                      </a:endParaRPr>
                    </a:p>
                    <a:p>
                      <a:pPr algn="r" rtl="0" eaLnBrk="0">
                        <a:lnSpc>
                          <a:spcPct val="93000"/>
                        </a:lnSpc>
                        <a:spcBef>
                          <a:spcPts val="145"/>
                        </a:spcBef>
                      </a:pPr>
                      <a:r>
                        <a:rPr sz="1200" spc="-40" dirty="0">
                          <a:ln w="4354" cap="flat" cmpd="sng">
                            <a:solidFill>
                              <a:srgbClr val="808080">
                                <a:alpha val="100000"/>
                              </a:srgbClr>
                            </a:solidFill>
                            <a:prstDash val="solid"/>
                            <a:round/>
                          </a:ln>
                          <a:solidFill>
                            <a:srgbClr val="808080">
                              <a:alpha val="100000"/>
                            </a:srgbClr>
                          </a:solidFill>
                          <a:latin typeface="微软雅黑" panose="020B0503020204020204" charset="-122"/>
                          <a:ea typeface="微软雅黑" panose="020B0503020204020204" charset="-122"/>
                          <a:cs typeface="楷体" panose="02010609060101010101" charset="-122"/>
                        </a:rPr>
                        <a:t>(行业平均</a:t>
                      </a:r>
                      <a:r>
                        <a:rPr sz="1200" spc="-30" dirty="0">
                          <a:ln w="4354" cap="flat" cmpd="sng">
                            <a:solidFill>
                              <a:srgbClr val="808080">
                                <a:alpha val="100000"/>
                              </a:srgbClr>
                            </a:solidFill>
                            <a:prstDash val="solid"/>
                            <a:round/>
                          </a:ln>
                          <a:solidFill>
                            <a:srgbClr val="808080">
                              <a:alpha val="100000"/>
                            </a:srgbClr>
                          </a:solidFill>
                          <a:latin typeface="微软雅黑" panose="020B0503020204020204" charset="-122"/>
                          <a:ea typeface="微软雅黑" panose="020B0503020204020204" charset="-122"/>
                          <a:cs typeface="楷体" panose="02010609060101010101" charset="-122"/>
                        </a:rPr>
                        <a:t>)</a:t>
                      </a:r>
                      <a:endParaRPr lang="en-US" altLang="en-US" sz="1200" dirty="0">
                        <a:latin typeface="微软雅黑" panose="020B0503020204020204" charset="-122"/>
                        <a:ea typeface="微软雅黑" panose="020B0503020204020204" charset="-122"/>
                      </a:endParaRPr>
                    </a:p>
                    <a:p>
                      <a:pPr marL="8134350" algn="l" rtl="0" eaLnBrk="0">
                        <a:lnSpc>
                          <a:spcPct val="80000"/>
                        </a:lnSpc>
                        <a:spcBef>
                          <a:spcPts val="1485"/>
                        </a:spcBef>
                      </a:pPr>
                      <a:r>
                        <a:rPr sz="1200" b="1" spc="0" dirty="0">
                          <a:solidFill>
                            <a:srgbClr val="002960">
                              <a:alpha val="100000"/>
                            </a:srgbClr>
                          </a:solidFill>
                          <a:latin typeface="微软雅黑" panose="020B0503020204020204" charset="-122"/>
                          <a:ea typeface="微软雅黑" panose="020B0503020204020204" charset="-122"/>
                          <a:cs typeface="Arial" panose="020B0604020202020204"/>
                        </a:rPr>
                        <a:t>6</a:t>
                      </a:r>
                      <a:endParaRPr lang="en-US" altLang="en-US" sz="1200" dirty="0">
                        <a:latin typeface="微软雅黑" panose="020B0503020204020204" charset="-122"/>
                        <a:ea typeface="微软雅黑" panose="020B0503020204020204" charset="-122"/>
                      </a:endParaRPr>
                    </a:p>
                    <a:p>
                      <a:pPr algn="r" rtl="0" eaLnBrk="0">
                        <a:lnSpc>
                          <a:spcPct val="93000"/>
                        </a:lnSpc>
                        <a:spcBef>
                          <a:spcPts val="140"/>
                        </a:spcBef>
                      </a:pPr>
                      <a:r>
                        <a:rPr sz="1200" spc="-40" dirty="0">
                          <a:ln w="4354" cap="flat" cmpd="sng">
                            <a:solidFill>
                              <a:srgbClr val="002960">
                                <a:alpha val="100000"/>
                              </a:srgbClr>
                            </a:solidFill>
                            <a:prstDash val="solid"/>
                            <a:round/>
                          </a:ln>
                          <a:solidFill>
                            <a:srgbClr val="002960">
                              <a:alpha val="100000"/>
                            </a:srgbClr>
                          </a:solidFill>
                          <a:latin typeface="微软雅黑" panose="020B0503020204020204" charset="-122"/>
                          <a:ea typeface="微软雅黑" panose="020B0503020204020204" charset="-122"/>
                          <a:cs typeface="楷体" panose="02010609060101010101" charset="-122"/>
                        </a:rPr>
                        <a:t>(自身平均</a:t>
                      </a:r>
                      <a:r>
                        <a:rPr sz="1200" spc="-30" dirty="0">
                          <a:ln w="4354" cap="flat" cmpd="sng">
                            <a:solidFill>
                              <a:srgbClr val="002960">
                                <a:alpha val="100000"/>
                              </a:srgbClr>
                            </a:solidFill>
                            <a:prstDash val="solid"/>
                            <a:round/>
                          </a:ln>
                          <a:solidFill>
                            <a:srgbClr val="002960">
                              <a:alpha val="100000"/>
                            </a:srgbClr>
                          </a:solidFill>
                          <a:latin typeface="微软雅黑" panose="020B0503020204020204" charset="-122"/>
                          <a:ea typeface="微软雅黑" panose="020B0503020204020204" charset="-122"/>
                          <a:cs typeface="楷体" panose="02010609060101010101" charset="-122"/>
                        </a:rPr>
                        <a:t>)</a:t>
                      </a:r>
                      <a:endParaRPr lang="en-US" altLang="en-US" sz="1200" dirty="0">
                        <a:latin typeface="微软雅黑" panose="020B0503020204020204" charset="-122"/>
                        <a:ea typeface="微软雅黑" panose="020B0503020204020204" charset="-122"/>
                      </a:endParaRPr>
                    </a:p>
                  </a:txBody>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w="19050" cap="flat" cmpd="sng" algn="ctr">
                      <a:solidFill>
                        <a:srgbClr val="BFE1FF"/>
                      </a:solidFill>
                      <a:prstDash val="solid"/>
                      <a:round/>
                      <a:headEnd type="none" w="med" len="med"/>
                      <a:tailEnd type="none" w="med" len="med"/>
                    </a:lnT>
                    <a:lnB w="19050" cap="flat" cmpd="sng" algn="ctr">
                      <a:solidFill>
                        <a:srgbClr val="BFE1FF"/>
                      </a:solidFill>
                      <a:prstDash val="solid"/>
                      <a:round/>
                      <a:headEnd type="none" w="med" len="med"/>
                      <a:tailEnd type="none" w="med" len="med"/>
                    </a:lnB>
                  </a:tcPr>
                </a:tc>
              </a:tr>
            </a:tbl>
          </a:graphicData>
        </a:graphic>
      </p:graphicFrame>
      <p:grpSp>
        <p:nvGrpSpPr>
          <p:cNvPr id="104" name="group 104"/>
          <p:cNvGrpSpPr/>
          <p:nvPr/>
        </p:nvGrpSpPr>
        <p:grpSpPr>
          <a:xfrm rot="21600000">
            <a:off x="549402" y="1943861"/>
            <a:ext cx="7184135" cy="4206240"/>
            <a:chOff x="0" y="0"/>
            <a:chExt cx="7184135" cy="4206240"/>
          </a:xfrm>
        </p:grpSpPr>
        <p:sp>
          <p:nvSpPr>
            <p:cNvPr id="497" name="path"/>
            <p:cNvSpPr/>
            <p:nvPr/>
          </p:nvSpPr>
          <p:spPr>
            <a:xfrm>
              <a:off x="5356859" y="0"/>
              <a:ext cx="1827276" cy="4206240"/>
            </a:xfrm>
            <a:custGeom>
              <a:avLst/>
              <a:gdLst/>
              <a:ahLst/>
              <a:cxnLst/>
              <a:rect l="0" t="0" r="0" b="0"/>
              <a:pathLst>
                <a:path w="2877" h="6624">
                  <a:moveTo>
                    <a:pt x="0" y="6624"/>
                  </a:moveTo>
                  <a:lnTo>
                    <a:pt x="2877" y="6624"/>
                  </a:lnTo>
                  <a:lnTo>
                    <a:pt x="2877" y="0"/>
                  </a:lnTo>
                  <a:lnTo>
                    <a:pt x="0" y="0"/>
                  </a:lnTo>
                  <a:lnTo>
                    <a:pt x="0" y="6624"/>
                  </a:lnTo>
                  <a:close/>
                </a:path>
              </a:pathLst>
            </a:custGeom>
            <a:solidFill>
              <a:srgbClr val="C9F0FF">
                <a:alpha val="100000"/>
              </a:srgbClr>
            </a:solidFill>
            <a:ln cap="flat">
              <a:noFill/>
              <a:prstDash val="solid"/>
              <a:miter lim="0"/>
            </a:ln>
          </p:spPr>
          <p:txBody>
            <a:bodyPr rtlCol="0"/>
            <a:lstStyle/>
            <a:p>
              <a:pPr algn="ctr"/>
              <a:endParaRPr lang="zh-CN" altLang="en-US"/>
            </a:p>
          </p:txBody>
        </p:sp>
        <p:sp>
          <p:nvSpPr>
            <p:cNvPr id="498" name="path"/>
            <p:cNvSpPr/>
            <p:nvPr/>
          </p:nvSpPr>
          <p:spPr>
            <a:xfrm>
              <a:off x="3575303" y="0"/>
              <a:ext cx="1746503" cy="4206240"/>
            </a:xfrm>
            <a:custGeom>
              <a:avLst/>
              <a:gdLst/>
              <a:ahLst/>
              <a:cxnLst/>
              <a:rect l="0" t="0" r="0" b="0"/>
              <a:pathLst>
                <a:path w="2750" h="6624">
                  <a:moveTo>
                    <a:pt x="0" y="6624"/>
                  </a:moveTo>
                  <a:lnTo>
                    <a:pt x="2750" y="6624"/>
                  </a:lnTo>
                  <a:lnTo>
                    <a:pt x="2750" y="0"/>
                  </a:lnTo>
                  <a:lnTo>
                    <a:pt x="0" y="0"/>
                  </a:lnTo>
                  <a:lnTo>
                    <a:pt x="0" y="6624"/>
                  </a:lnTo>
                  <a:close/>
                </a:path>
              </a:pathLst>
            </a:custGeom>
            <a:solidFill>
              <a:srgbClr val="FFFFCC">
                <a:alpha val="100000"/>
              </a:srgbClr>
            </a:solidFill>
            <a:ln cap="flat">
              <a:noFill/>
              <a:prstDash val="solid"/>
              <a:miter lim="0"/>
            </a:ln>
          </p:spPr>
          <p:txBody>
            <a:bodyPr rtlCol="0"/>
            <a:lstStyle/>
            <a:p>
              <a:pPr algn="ctr"/>
              <a:endParaRPr lang="zh-CN" altLang="en-US"/>
            </a:p>
          </p:txBody>
        </p:sp>
        <p:sp>
          <p:nvSpPr>
            <p:cNvPr id="499" name="path"/>
            <p:cNvSpPr/>
            <p:nvPr/>
          </p:nvSpPr>
          <p:spPr>
            <a:xfrm>
              <a:off x="0" y="0"/>
              <a:ext cx="3544823" cy="4206240"/>
            </a:xfrm>
            <a:custGeom>
              <a:avLst/>
              <a:gdLst/>
              <a:ahLst/>
              <a:cxnLst/>
              <a:rect l="0" t="0" r="0" b="0"/>
              <a:pathLst>
                <a:path w="5582" h="6624">
                  <a:moveTo>
                    <a:pt x="0" y="6624"/>
                  </a:moveTo>
                  <a:lnTo>
                    <a:pt x="5582" y="6624"/>
                  </a:lnTo>
                  <a:lnTo>
                    <a:pt x="5582" y="0"/>
                  </a:lnTo>
                  <a:lnTo>
                    <a:pt x="0" y="0"/>
                  </a:lnTo>
                  <a:lnTo>
                    <a:pt x="0" y="6624"/>
                  </a:lnTo>
                  <a:close/>
                </a:path>
              </a:pathLst>
            </a:custGeom>
            <a:solidFill>
              <a:srgbClr val="E6E6E6">
                <a:alpha val="61960"/>
              </a:srgbClr>
            </a:solidFill>
            <a:ln cap="flat">
              <a:noFill/>
              <a:prstDash val="solid"/>
              <a:miter lim="0"/>
            </a:ln>
          </p:spPr>
          <p:txBody>
            <a:bodyPr rtlCol="0"/>
            <a:lstStyle/>
            <a:p>
              <a:pPr algn="ctr"/>
              <a:endParaRPr lang="zh-CN" altLang="en-US"/>
            </a:p>
          </p:txBody>
        </p:sp>
        <p:sp>
          <p:nvSpPr>
            <p:cNvPr id="500" name="path"/>
            <p:cNvSpPr/>
            <p:nvPr/>
          </p:nvSpPr>
          <p:spPr>
            <a:xfrm>
              <a:off x="2048255" y="620267"/>
              <a:ext cx="2968751" cy="510540"/>
            </a:xfrm>
            <a:custGeom>
              <a:avLst/>
              <a:gdLst/>
              <a:ahLst/>
              <a:cxnLst/>
              <a:rect l="0" t="0" r="0" b="0"/>
              <a:pathLst>
                <a:path w="4675" h="804">
                  <a:moveTo>
                    <a:pt x="0" y="804"/>
                  </a:moveTo>
                  <a:lnTo>
                    <a:pt x="4675" y="804"/>
                  </a:lnTo>
                  <a:lnTo>
                    <a:pt x="4675" y="0"/>
                  </a:lnTo>
                  <a:lnTo>
                    <a:pt x="0" y="0"/>
                  </a:lnTo>
                  <a:lnTo>
                    <a:pt x="0" y="804"/>
                  </a:lnTo>
                  <a:close/>
                </a:path>
              </a:pathLst>
            </a:custGeom>
            <a:solidFill>
              <a:srgbClr val="FFFFFF">
                <a:alpha val="100000"/>
              </a:srgbClr>
            </a:solidFill>
            <a:ln cap="flat">
              <a:noFill/>
              <a:prstDash val="solid"/>
              <a:miter lim="0"/>
            </a:ln>
          </p:spPr>
          <p:txBody>
            <a:bodyPr rtlCol="0"/>
            <a:lstStyle/>
            <a:p>
              <a:pPr algn="ctr"/>
              <a:endParaRPr lang="zh-CN" altLang="en-US"/>
            </a:p>
          </p:txBody>
        </p:sp>
      </p:grpSp>
      <p:grpSp>
        <p:nvGrpSpPr>
          <p:cNvPr id="106" name="group 106"/>
          <p:cNvGrpSpPr/>
          <p:nvPr/>
        </p:nvGrpSpPr>
        <p:grpSpPr>
          <a:xfrm rot="21600000">
            <a:off x="3608832" y="4924044"/>
            <a:ext cx="425196" cy="419099"/>
            <a:chOff x="0" y="0"/>
            <a:chExt cx="425196" cy="419099"/>
          </a:xfrm>
        </p:grpSpPr>
        <p:sp>
          <p:nvSpPr>
            <p:cNvPr id="501" name="path"/>
            <p:cNvSpPr/>
            <p:nvPr/>
          </p:nvSpPr>
          <p:spPr>
            <a:xfrm>
              <a:off x="6096" y="211835"/>
              <a:ext cx="419100" cy="207263"/>
            </a:xfrm>
            <a:custGeom>
              <a:avLst/>
              <a:gdLst/>
              <a:ahLst/>
              <a:cxnLst/>
              <a:rect l="0" t="0" r="0" b="0"/>
              <a:pathLst>
                <a:path w="660" h="326">
                  <a:moveTo>
                    <a:pt x="0" y="326"/>
                  </a:moveTo>
                  <a:lnTo>
                    <a:pt x="660" y="326"/>
                  </a:lnTo>
                  <a:lnTo>
                    <a:pt x="660" y="0"/>
                  </a:lnTo>
                  <a:lnTo>
                    <a:pt x="0" y="0"/>
                  </a:lnTo>
                  <a:lnTo>
                    <a:pt x="0" y="326"/>
                  </a:lnTo>
                  <a:close/>
                </a:path>
              </a:pathLst>
            </a:custGeom>
            <a:solidFill>
              <a:srgbClr val="CCCCCC">
                <a:alpha val="100000"/>
              </a:srgbClr>
            </a:solidFill>
            <a:ln cap="flat">
              <a:noFill/>
              <a:prstDash val="solid"/>
              <a:miter lim="0"/>
            </a:ln>
          </p:spPr>
          <p:txBody>
            <a:bodyPr rtlCol="0"/>
            <a:lstStyle/>
            <a:p>
              <a:pPr algn="ctr"/>
              <a:endParaRPr lang="zh-CN" altLang="en-US"/>
            </a:p>
          </p:txBody>
        </p:sp>
        <p:sp>
          <p:nvSpPr>
            <p:cNvPr id="502" name="path"/>
            <p:cNvSpPr/>
            <p:nvPr/>
          </p:nvSpPr>
          <p:spPr>
            <a:xfrm>
              <a:off x="0" y="205739"/>
              <a:ext cx="425196" cy="213360"/>
            </a:xfrm>
            <a:custGeom>
              <a:avLst/>
              <a:gdLst/>
              <a:ahLst/>
              <a:cxnLst/>
              <a:rect l="0" t="0" r="0" b="0"/>
              <a:pathLst>
                <a:path w="669" h="336">
                  <a:moveTo>
                    <a:pt x="669" y="9"/>
                  </a:moveTo>
                  <a:lnTo>
                    <a:pt x="9" y="9"/>
                  </a:lnTo>
                  <a:lnTo>
                    <a:pt x="9" y="336"/>
                  </a:lnTo>
                  <a:close/>
                </a:path>
              </a:pathLst>
            </a:custGeom>
            <a:noFill/>
            <a:ln w="12192" cap="flat">
              <a:solidFill>
                <a:srgbClr val="FFFFFF">
                  <a:alpha val="100000"/>
                </a:srgbClr>
              </a:solidFill>
              <a:prstDash val="solid"/>
              <a:round/>
            </a:ln>
          </p:spPr>
          <p:txBody>
            <a:bodyPr rtlCol="0"/>
            <a:lstStyle/>
            <a:p>
              <a:pPr algn="ctr"/>
              <a:endParaRPr lang="zh-CN" altLang="en-US"/>
            </a:p>
          </p:txBody>
        </p:sp>
        <p:sp>
          <p:nvSpPr>
            <p:cNvPr id="503" name="path"/>
            <p:cNvSpPr/>
            <p:nvPr/>
          </p:nvSpPr>
          <p:spPr>
            <a:xfrm>
              <a:off x="6096" y="6095"/>
              <a:ext cx="419100" cy="205739"/>
            </a:xfrm>
            <a:custGeom>
              <a:avLst/>
              <a:gdLst/>
              <a:ahLst/>
              <a:cxnLst/>
              <a:rect l="0" t="0" r="0" b="0"/>
              <a:pathLst>
                <a:path w="660" h="323">
                  <a:moveTo>
                    <a:pt x="0" y="323"/>
                  </a:moveTo>
                  <a:lnTo>
                    <a:pt x="660" y="323"/>
                  </a:lnTo>
                  <a:lnTo>
                    <a:pt x="660" y="0"/>
                  </a:lnTo>
                  <a:lnTo>
                    <a:pt x="0" y="0"/>
                  </a:lnTo>
                  <a:lnTo>
                    <a:pt x="0" y="323"/>
                  </a:lnTo>
                  <a:close/>
                </a:path>
              </a:pathLst>
            </a:custGeom>
            <a:solidFill>
              <a:srgbClr val="CCCCCC">
                <a:alpha val="100000"/>
              </a:srgbClr>
            </a:solidFill>
            <a:ln cap="flat">
              <a:noFill/>
              <a:prstDash val="solid"/>
              <a:miter lim="0"/>
            </a:ln>
          </p:spPr>
          <p:txBody>
            <a:bodyPr rtlCol="0"/>
            <a:lstStyle/>
            <a:p>
              <a:pPr algn="ctr"/>
              <a:endParaRPr lang="zh-CN" altLang="en-US"/>
            </a:p>
          </p:txBody>
        </p:sp>
        <p:sp>
          <p:nvSpPr>
            <p:cNvPr id="504" name="path"/>
            <p:cNvSpPr/>
            <p:nvPr/>
          </p:nvSpPr>
          <p:spPr>
            <a:xfrm>
              <a:off x="0" y="0"/>
              <a:ext cx="425196" cy="217931"/>
            </a:xfrm>
            <a:custGeom>
              <a:avLst/>
              <a:gdLst/>
              <a:ahLst/>
              <a:cxnLst/>
              <a:rect l="0" t="0" r="0" b="0"/>
              <a:pathLst>
                <a:path w="669" h="343">
                  <a:moveTo>
                    <a:pt x="9" y="333"/>
                  </a:moveTo>
                  <a:lnTo>
                    <a:pt x="669" y="333"/>
                  </a:lnTo>
                  <a:moveTo>
                    <a:pt x="669" y="9"/>
                  </a:moveTo>
                  <a:lnTo>
                    <a:pt x="9" y="9"/>
                  </a:lnTo>
                  <a:lnTo>
                    <a:pt x="9" y="333"/>
                  </a:lnTo>
                  <a:close/>
                </a:path>
              </a:pathLst>
            </a:custGeom>
            <a:noFill/>
            <a:ln w="12192" cap="flat">
              <a:solidFill>
                <a:srgbClr val="FFFFFF">
                  <a:alpha val="100000"/>
                </a:srgbClr>
              </a:solidFill>
              <a:prstDash val="solid"/>
              <a:round/>
            </a:ln>
          </p:spPr>
          <p:txBody>
            <a:bodyPr rtlCol="0"/>
            <a:lstStyle/>
            <a:p>
              <a:pPr algn="ctr"/>
              <a:endParaRPr lang="zh-CN" altLang="en-US"/>
            </a:p>
          </p:txBody>
        </p:sp>
      </p:grpSp>
      <p:sp>
        <p:nvSpPr>
          <p:cNvPr id="505" name="rect"/>
          <p:cNvSpPr/>
          <p:nvPr/>
        </p:nvSpPr>
        <p:spPr>
          <a:xfrm>
            <a:off x="5861303" y="1943861"/>
            <a:ext cx="19811" cy="4206240"/>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506" name="rect"/>
          <p:cNvSpPr/>
          <p:nvPr/>
        </p:nvSpPr>
        <p:spPr>
          <a:xfrm>
            <a:off x="5963411" y="3692652"/>
            <a:ext cx="419100" cy="413004"/>
          </a:xfrm>
          <a:prstGeom prst="rect">
            <a:avLst/>
          </a:prstGeom>
          <a:solidFill>
            <a:srgbClr val="CCCCCC">
              <a:alpha val="100000"/>
            </a:srgbClr>
          </a:solidFill>
          <a:ln cap="flat">
            <a:noFill/>
            <a:prstDash val="solid"/>
            <a:miter lim="0"/>
          </a:ln>
        </p:spPr>
        <p:txBody>
          <a:bodyPr rtlCol="0"/>
          <a:lstStyle/>
          <a:p>
            <a:pPr algn="ctr"/>
            <a:endParaRPr lang="zh-CN" altLang="en-US"/>
          </a:p>
        </p:txBody>
      </p:sp>
      <p:sp>
        <p:nvSpPr>
          <p:cNvPr id="507" name="rect"/>
          <p:cNvSpPr/>
          <p:nvPr/>
        </p:nvSpPr>
        <p:spPr>
          <a:xfrm>
            <a:off x="5963411" y="3279648"/>
            <a:ext cx="419100" cy="413004"/>
          </a:xfrm>
          <a:prstGeom prst="rect">
            <a:avLst/>
          </a:prstGeom>
          <a:solidFill>
            <a:srgbClr val="0065BD">
              <a:alpha val="100000"/>
            </a:srgbClr>
          </a:solidFill>
          <a:ln cap="flat">
            <a:noFill/>
            <a:prstDash val="solid"/>
            <a:miter lim="0"/>
          </a:ln>
        </p:spPr>
        <p:txBody>
          <a:bodyPr rtlCol="0"/>
          <a:lstStyle/>
          <a:p>
            <a:pPr algn="ctr"/>
            <a:endParaRPr lang="zh-CN" altLang="en-US"/>
          </a:p>
        </p:txBody>
      </p:sp>
      <p:graphicFrame>
        <p:nvGraphicFramePr>
          <p:cNvPr id="508" name="table 508"/>
          <p:cNvGraphicFramePr>
            <a:graphicFrameLocks noGrp="1"/>
          </p:cNvGraphicFramePr>
          <p:nvPr>
            <p:custDataLst>
              <p:tags r:id="rId1"/>
            </p:custDataLst>
          </p:nvPr>
        </p:nvGraphicFramePr>
        <p:xfrm>
          <a:off x="539496" y="1933955"/>
          <a:ext cx="7203432" cy="4225919"/>
        </p:xfrm>
        <a:graphic>
          <a:graphicData uri="http://schemas.openxmlformats.org/drawingml/2006/table">
            <a:tbl>
              <a:tblPr/>
              <a:tblGrid>
                <a:gridCol w="557530"/>
                <a:gridCol w="169545"/>
                <a:gridCol w="419100"/>
                <a:gridCol w="167639"/>
                <a:gridCol w="419100"/>
                <a:gridCol w="167639"/>
                <a:gridCol w="157479"/>
                <a:gridCol w="261619"/>
                <a:gridCol w="671194"/>
                <a:gridCol w="572769"/>
                <a:gridCol w="517525"/>
                <a:gridCol w="754380"/>
                <a:gridCol w="191135"/>
                <a:gridCol w="339725"/>
                <a:gridCol w="476250"/>
                <a:gridCol w="670559"/>
                <a:gridCol w="690244"/>
              </a:tblGrid>
              <a:tr h="317500">
                <a:tc>
                  <a:txBody>
                    <a:bodyPr/>
                    <a:lstStyle/>
                    <a:p>
                      <a:pPr algn="l" rtl="0" eaLnBrk="0">
                        <a:lnSpc>
                          <a:spcPct val="108000"/>
                        </a:lnSpc>
                      </a:pPr>
                      <a:endParaRPr lang="en-US" altLang="en-US" sz="800" dirty="0">
                        <a:latin typeface="微软雅黑" panose="020B0503020204020204" charset="-122"/>
                        <a:ea typeface="微软雅黑" panose="020B0503020204020204" charset="-122"/>
                      </a:endParaRPr>
                    </a:p>
                    <a:p>
                      <a:pPr algn="l" rtl="0" eaLnBrk="0">
                        <a:lnSpc>
                          <a:spcPct val="7000"/>
                        </a:lnSpc>
                      </a:pPr>
                      <a:endParaRPr lang="en-US" altLang="en-US" sz="100" dirty="0">
                        <a:latin typeface="微软雅黑" panose="020B0503020204020204" charset="-122"/>
                        <a:ea typeface="微软雅黑" panose="020B0503020204020204" charset="-122"/>
                      </a:endParaRPr>
                    </a:p>
                    <a:p>
                      <a:pPr marL="285115" algn="l" rtl="0" eaLnBrk="0">
                        <a:lnSpc>
                          <a:spcPct val="80000"/>
                        </a:lnSpc>
                      </a:pPr>
                      <a:r>
                        <a:rPr sz="1200" b="1" spc="-30" dirty="0">
                          <a:solidFill>
                            <a:srgbClr val="002960">
                              <a:alpha val="100000"/>
                            </a:srgbClr>
                          </a:solidFill>
                          <a:latin typeface="微软雅黑" panose="020B0503020204020204" charset="-122"/>
                          <a:ea typeface="微软雅黑" panose="020B0503020204020204" charset="-122"/>
                          <a:cs typeface="Arial" panose="020B0604020202020204"/>
                        </a:rPr>
                        <a:t>1</a:t>
                      </a:r>
                      <a:r>
                        <a:rPr sz="1200" b="1" spc="-20" dirty="0">
                          <a:solidFill>
                            <a:srgbClr val="002960">
                              <a:alpha val="100000"/>
                            </a:srgbClr>
                          </a:solidFill>
                          <a:latin typeface="微软雅黑" panose="020B0503020204020204" charset="-122"/>
                          <a:ea typeface="微软雅黑" panose="020B0503020204020204" charset="-122"/>
                          <a:cs typeface="Arial" panose="020B0604020202020204"/>
                        </a:rPr>
                        <a:t>5</a:t>
                      </a:r>
                      <a:endParaRPr lang="en-US" altLang="en-US" sz="1200" dirty="0">
                        <a:latin typeface="微软雅黑" panose="020B0503020204020204" charset="-122"/>
                        <a:ea typeface="微软雅黑" panose="020B0503020204020204" charset="-122"/>
                      </a:endParaRPr>
                    </a:p>
                  </a:txBody>
                  <a:tcPr marL="0" marR="0" marT="0" marB="0">
                    <a:lnL w="19050"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rowSpan="5" gridSpan="6">
                  <a:txBody>
                    <a:bodyPr/>
                    <a:lstStyle/>
                    <a:p>
                      <a:pPr algn="l" rtl="0" eaLnBrk="0">
                        <a:lnSpc>
                          <a:spcPct val="101000"/>
                        </a:lnSpc>
                      </a:pPr>
                      <a:endParaRPr lang="en-US" altLang="en-US" sz="900" dirty="0">
                        <a:latin typeface="微软雅黑" panose="020B0503020204020204" charset="-122"/>
                        <a:ea typeface="微软雅黑" panose="020B0503020204020204" charset="-122"/>
                      </a:endParaRPr>
                    </a:p>
                    <a:p>
                      <a:pPr algn="r" rtl="0" eaLnBrk="0">
                        <a:lnSpc>
                          <a:spcPts val="1350"/>
                        </a:lnSpc>
                        <a:spcBef>
                          <a:spcPts val="5"/>
                        </a:spcBef>
                      </a:pPr>
                      <a:r>
                        <a:rPr sz="1000" spc="20" dirty="0">
                          <a:ln w="3948" cap="flat" cmpd="sng">
                            <a:solidFill>
                              <a:srgbClr val="002960">
                                <a:alpha val="100000"/>
                              </a:srgbClr>
                            </a:solidFill>
                            <a:prstDash val="solid"/>
                            <a:round/>
                          </a:ln>
                          <a:solidFill>
                            <a:srgbClr val="002960">
                              <a:alpha val="100000"/>
                            </a:srgbClr>
                          </a:solidFill>
                          <a:latin typeface="微软雅黑" panose="020B0503020204020204" charset="-122"/>
                          <a:ea typeface="微软雅黑" panose="020B0503020204020204" charset="-122"/>
                          <a:cs typeface="楷体" panose="02010609060101010101" charset="-122"/>
                        </a:rPr>
                        <a:t>区域</a:t>
                      </a:r>
                      <a:r>
                        <a:rPr sz="1000" b="1" spc="10" dirty="0">
                          <a:solidFill>
                            <a:srgbClr val="002960">
                              <a:alpha val="100000"/>
                            </a:srgbClr>
                          </a:solidFill>
                          <a:latin typeface="微软雅黑" panose="020B0503020204020204" charset="-122"/>
                          <a:ea typeface="微软雅黑" panose="020B0503020204020204" charset="-122"/>
                          <a:cs typeface="Arial" panose="020B0604020202020204"/>
                        </a:rPr>
                        <a:t>1</a:t>
                      </a:r>
                      <a:endParaRPr lang="en-US" altLang="en-US" sz="10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10000"/>
                        </a:lnSpc>
                      </a:pPr>
                      <a:endParaRPr lang="en-US" altLang="en-US" sz="1000" dirty="0">
                        <a:latin typeface="微软雅黑" panose="020B0503020204020204" charset="-122"/>
                        <a:ea typeface="微软雅黑" panose="020B0503020204020204" charset="-122"/>
                      </a:endParaRPr>
                    </a:p>
                    <a:p>
                      <a:pPr algn="l" rtl="0" eaLnBrk="0">
                        <a:lnSpc>
                          <a:spcPct val="110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300" dirty="0">
                        <a:latin typeface="微软雅黑" panose="020B0503020204020204" charset="-122"/>
                        <a:ea typeface="微软雅黑" panose="020B0503020204020204" charset="-122"/>
                      </a:endParaRPr>
                    </a:p>
                    <a:p>
                      <a:pPr marL="330835" algn="l" rtl="0" eaLnBrk="0">
                        <a:lnSpc>
                          <a:spcPct val="80000"/>
                        </a:lnSpc>
                        <a:spcBef>
                          <a:spcPts val="0"/>
                        </a:spcBef>
                      </a:pPr>
                      <a:r>
                        <a:rPr sz="1200" b="1" spc="0" dirty="0">
                          <a:solidFill>
                            <a:srgbClr val="002960">
                              <a:alpha val="100000"/>
                            </a:srgbClr>
                          </a:solidFill>
                          <a:latin typeface="微软雅黑" panose="020B0503020204020204" charset="-122"/>
                          <a:ea typeface="微软雅黑" panose="020B0503020204020204" charset="-122"/>
                          <a:cs typeface="Arial" panose="020B0604020202020204"/>
                        </a:rPr>
                        <a:t>9</a:t>
                      </a:r>
                      <a:endParaRPr lang="en-US" altLang="en-US" sz="1200" dirty="0">
                        <a:latin typeface="微软雅黑" panose="020B0503020204020204" charset="-122"/>
                        <a:ea typeface="微软雅黑" panose="020B0503020204020204" charset="-122"/>
                      </a:endParaRPr>
                    </a:p>
                  </a:txBody>
                  <a:tcPr marL="0" marR="0" marT="0" marB="0">
                    <a:lnL w="9525" cap="flat" cmpd="sng" algn="ctr">
                      <a:no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rowSpan="5" h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rowSpan="5" h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rowSpan="5" h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rowSpan="5" h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rowSpan="5" h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rowSpan="2" gridSpan="3">
                  <a:txBody>
                    <a:bodyPr/>
                    <a:lstStyle/>
                    <a:p>
                      <a:pPr algn="l" rtl="0" eaLnBrk="0">
                        <a:lnSpc>
                          <a:spcPct val="100000"/>
                        </a:lnSpc>
                      </a:pPr>
                      <a:endParaRPr lang="en-US" altLang="en-US" sz="1000" dirty="0">
                        <a:ea typeface="微软雅黑" panose="020B0503020204020204" charset="-122"/>
                      </a:endParaRPr>
                    </a:p>
                  </a:txBody>
                  <a:tcPr marL="0" marR="0" marT="0" marB="0">
                    <a:lnL>
                      <a:noFill/>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0065BD"/>
                      </a:solidFill>
                      <a:prstDash val="solid"/>
                      <a:round/>
                      <a:headEnd type="none" w="med" len="med"/>
                      <a:tailEnd type="none" w="med" len="med"/>
                    </a:lnB>
                  </a:tcPr>
                </a:tc>
                <a:tc rowSpan="2" hMerge="1">
                  <a:tcPr marL="0" marR="0" marT="0" marB="0">
                    <a:lnL>
                      <a:noFill/>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0065BD"/>
                      </a:solidFill>
                      <a:prstDash val="solid"/>
                      <a:round/>
                      <a:headEnd type="none" w="med" len="med"/>
                      <a:tailEnd type="none" w="med" len="med"/>
                    </a:lnB>
                  </a:tcPr>
                </a:tc>
                <a:tc rowSpan="2" hMerge="1">
                  <a:tcPr marL="0" marR="0" marT="0" marB="0">
                    <a:lnL>
                      <a:noFill/>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0065BD"/>
                      </a:solidFill>
                      <a:prstDash val="solid"/>
                      <a:round/>
                      <a:headEnd type="none" w="med" len="med"/>
                      <a:tailEnd type="none" w="med" len="med"/>
                    </a:lnB>
                  </a:tcPr>
                </a:tc>
                <a:tc rowSpan="2" gridSpan="4">
                  <a:txBody>
                    <a:bodyPr/>
                    <a:lstStyle/>
                    <a:p>
                      <a:pPr algn="l" rtl="0" eaLnBrk="0">
                        <a:lnSpc>
                          <a:spcPct val="101000"/>
                        </a:lnSpc>
                      </a:pPr>
                      <a:endParaRPr lang="en-US" altLang="en-US" sz="900" dirty="0">
                        <a:latin typeface="微软雅黑" panose="020B0503020204020204" charset="-122"/>
                        <a:ea typeface="微软雅黑" panose="020B0503020204020204" charset="-122"/>
                      </a:endParaRPr>
                    </a:p>
                    <a:p>
                      <a:pPr marL="792480" algn="l" rtl="0" eaLnBrk="0">
                        <a:lnSpc>
                          <a:spcPct val="96000"/>
                        </a:lnSpc>
                      </a:pPr>
                      <a:r>
                        <a:rPr sz="1200" spc="-70" dirty="0">
                          <a:ln w="4354" cap="flat" cmpd="sng">
                            <a:solidFill>
                              <a:srgbClr val="002960">
                                <a:alpha val="100000"/>
                              </a:srgbClr>
                            </a:solidFill>
                            <a:prstDash val="solid"/>
                            <a:round/>
                          </a:ln>
                          <a:solidFill>
                            <a:srgbClr val="002960">
                              <a:alpha val="100000"/>
                            </a:srgbClr>
                          </a:solidFill>
                          <a:latin typeface="微软雅黑" panose="020B0503020204020204" charset="-122"/>
                          <a:ea typeface="微软雅黑" panose="020B0503020204020204" charset="-122"/>
                          <a:cs typeface="楷体" panose="02010609060101010101" charset="-122"/>
                        </a:rPr>
                        <a:t>区域</a:t>
                      </a:r>
                      <a:r>
                        <a:rPr sz="1200" b="1" spc="-60" dirty="0">
                          <a:solidFill>
                            <a:srgbClr val="002960">
                              <a:alpha val="100000"/>
                            </a:srgbClr>
                          </a:solidFill>
                          <a:latin typeface="微软雅黑" panose="020B0503020204020204" charset="-122"/>
                          <a:ea typeface="微软雅黑" panose="020B0503020204020204" charset="-122"/>
                          <a:cs typeface="Arial" panose="020B0604020202020204"/>
                        </a:rPr>
                        <a:t>2</a:t>
                      </a:r>
                      <a:endParaRPr lang="en-US" altLang="en-US" sz="1200" dirty="0">
                        <a:latin typeface="微软雅黑" panose="020B0503020204020204" charset="-122"/>
                        <a:ea typeface="微软雅黑" panose="020B0503020204020204" charset="-122"/>
                      </a:endParaRPr>
                    </a:p>
                  </a:txBody>
                  <a:tcPr marL="0" marR="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0065BD"/>
                      </a:solidFill>
                      <a:prstDash val="solid"/>
                      <a:round/>
                      <a:headEnd type="none" w="med" len="med"/>
                      <a:tailEnd type="none" w="med" len="med"/>
                    </a:lnB>
                  </a:tcPr>
                </a:tc>
                <a:tc rowSpan="2" hMerge="1">
                  <a:tcPr marL="0" marR="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0065BD"/>
                      </a:solidFill>
                      <a:prstDash val="solid"/>
                      <a:round/>
                      <a:headEnd type="none" w="med" len="med"/>
                      <a:tailEnd type="none" w="med" len="med"/>
                    </a:lnB>
                  </a:tcPr>
                </a:tc>
                <a:tc rowSpan="2" hMerge="1">
                  <a:tcPr marL="0" marR="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0065BD"/>
                      </a:solidFill>
                      <a:prstDash val="solid"/>
                      <a:round/>
                      <a:headEnd type="none" w="med" len="med"/>
                      <a:tailEnd type="none" w="med" len="med"/>
                    </a:lnB>
                  </a:tcPr>
                </a:tc>
                <a:tc rowSpan="2" hMerge="1">
                  <a:tcPr marL="0" marR="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0065BD"/>
                      </a:solidFill>
                      <a:prstDash val="solid"/>
                      <a:round/>
                      <a:headEnd type="none" w="med" len="med"/>
                      <a:tailEnd type="none" w="med" len="med"/>
                    </a:lnB>
                  </a:tcPr>
                </a:tc>
                <a:tc rowSpan="4">
                  <a:txBody>
                    <a:bodyPr/>
                    <a:lstStyle/>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10000"/>
                        </a:lnSpc>
                      </a:pPr>
                      <a:endParaRPr lang="en-US" altLang="en-US" sz="1000" dirty="0">
                        <a:latin typeface="微软雅黑" panose="020B0503020204020204" charset="-122"/>
                        <a:ea typeface="微软雅黑" panose="020B0503020204020204" charset="-122"/>
                      </a:endParaRPr>
                    </a:p>
                    <a:p>
                      <a:pPr algn="l" rtl="0" eaLnBrk="0">
                        <a:lnSpc>
                          <a:spcPct val="110000"/>
                        </a:lnSpc>
                      </a:pPr>
                      <a:endParaRPr lang="en-US" altLang="en-US" sz="1000" dirty="0">
                        <a:latin typeface="微软雅黑" panose="020B0503020204020204" charset="-122"/>
                        <a:ea typeface="微软雅黑" panose="020B0503020204020204" charset="-122"/>
                      </a:endParaRPr>
                    </a:p>
                    <a:p>
                      <a:pPr marL="175895" algn="l" rtl="0" eaLnBrk="0">
                        <a:lnSpc>
                          <a:spcPct val="80000"/>
                        </a:lnSpc>
                        <a:spcBef>
                          <a:spcPts val="5"/>
                        </a:spcBef>
                      </a:pPr>
                      <a:r>
                        <a:rPr sz="1200" b="1" spc="-30" dirty="0">
                          <a:solidFill>
                            <a:srgbClr val="002960">
                              <a:alpha val="100000"/>
                            </a:srgbClr>
                          </a:solidFill>
                          <a:latin typeface="微软雅黑" panose="020B0503020204020204" charset="-122"/>
                          <a:ea typeface="微软雅黑" panose="020B0503020204020204" charset="-122"/>
                          <a:cs typeface="Arial" panose="020B0604020202020204"/>
                        </a:rPr>
                        <a:t>1</a:t>
                      </a:r>
                      <a:r>
                        <a:rPr sz="1200" b="1" spc="-20" dirty="0">
                          <a:solidFill>
                            <a:srgbClr val="002960">
                              <a:alpha val="100000"/>
                            </a:srgbClr>
                          </a:solidFill>
                          <a:latin typeface="微软雅黑" panose="020B0503020204020204" charset="-122"/>
                          <a:ea typeface="微软雅黑" panose="020B0503020204020204" charset="-122"/>
                          <a:cs typeface="Arial" panose="020B0604020202020204"/>
                        </a:rPr>
                        <a:t>0</a:t>
                      </a:r>
                      <a:endParaRPr lang="en-US" altLang="en-US" sz="1200" dirty="0">
                        <a:latin typeface="微软雅黑" panose="020B0503020204020204" charset="-122"/>
                        <a:ea typeface="微软雅黑" panose="020B0503020204020204" charset="-122"/>
                      </a:endParaRPr>
                    </a:p>
                  </a:txBody>
                  <a:tcPr marL="0" marR="0" marT="0" marB="0">
                    <a:lnL w="19050"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rowSpan="5" gridSpan="2">
                  <a:txBody>
                    <a:bodyPr/>
                    <a:lstStyle/>
                    <a:p>
                      <a:pPr algn="l" rtl="0" eaLnBrk="0">
                        <a:lnSpc>
                          <a:spcPct val="101000"/>
                        </a:lnSpc>
                      </a:pPr>
                      <a:endParaRPr lang="en-US" altLang="en-US" sz="900" dirty="0">
                        <a:latin typeface="微软雅黑" panose="020B0503020204020204" charset="-122"/>
                        <a:ea typeface="微软雅黑" panose="020B0503020204020204" charset="-122"/>
                      </a:endParaRPr>
                    </a:p>
                    <a:p>
                      <a:pPr marL="318135" algn="l" rtl="0" eaLnBrk="0">
                        <a:lnSpc>
                          <a:spcPct val="96000"/>
                        </a:lnSpc>
                      </a:pPr>
                      <a:r>
                        <a:rPr sz="1200" spc="-70" dirty="0">
                          <a:ln w="4354" cap="flat" cmpd="sng">
                            <a:solidFill>
                              <a:srgbClr val="002960">
                                <a:alpha val="100000"/>
                              </a:srgbClr>
                            </a:solidFill>
                            <a:prstDash val="solid"/>
                            <a:round/>
                          </a:ln>
                          <a:solidFill>
                            <a:srgbClr val="002960">
                              <a:alpha val="100000"/>
                            </a:srgbClr>
                          </a:solidFill>
                          <a:latin typeface="微软雅黑" panose="020B0503020204020204" charset="-122"/>
                          <a:ea typeface="微软雅黑" panose="020B0503020204020204" charset="-122"/>
                          <a:cs typeface="楷体" panose="02010609060101010101" charset="-122"/>
                        </a:rPr>
                        <a:t>区域</a:t>
                      </a:r>
                      <a:r>
                        <a:rPr sz="1200" b="1" spc="-60" dirty="0">
                          <a:solidFill>
                            <a:srgbClr val="002960">
                              <a:alpha val="100000"/>
                            </a:srgbClr>
                          </a:solidFill>
                          <a:latin typeface="微软雅黑" panose="020B0503020204020204" charset="-122"/>
                          <a:ea typeface="微软雅黑" panose="020B0503020204020204" charset="-122"/>
                          <a:cs typeface="Arial" panose="020B0604020202020204"/>
                        </a:rPr>
                        <a:t>3</a:t>
                      </a:r>
                      <a:endParaRPr lang="en-US" altLang="en-US" sz="1200" dirty="0">
                        <a:latin typeface="微软雅黑" panose="020B0503020204020204" charset="-122"/>
                        <a:ea typeface="微软雅黑" panose="020B0503020204020204" charset="-122"/>
                      </a:endParaRPr>
                    </a:p>
                  </a:txBody>
                  <a:tcPr marL="0" marR="0" marT="0" marB="0">
                    <a:lnL>
                      <a:noFill/>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rowSpan="5" hMerge="1">
                  <a:tcPr marL="0" marR="0" marT="0" marB="0">
                    <a:lnL>
                      <a:noFill/>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r>
              <a:tr h="312420">
                <a:tc rowSpan="13">
                  <a:txBody>
                    <a:bodyPr/>
                    <a:lstStyle/>
                    <a:p>
                      <a:pPr algn="l" rtl="0" eaLnBrk="0">
                        <a:lnSpc>
                          <a:spcPct val="100000"/>
                        </a:lnSpc>
                      </a:pPr>
                      <a:endParaRPr lang="en-US" altLang="en-US" sz="1000" dirty="0">
                        <a:ea typeface="微软雅黑" panose="020B0503020204020204" charset="-122"/>
                      </a:endParaRPr>
                    </a:p>
                  </a:txBody>
                  <a:tcPr marL="0" marR="0" marT="0" marB="0">
                    <a:lnL w="19050"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vMerge="1" gridSpan="6">
                  <a:tcPr marL="0" marR="0" marT="0" marB="0">
                    <a:lnL w="9525"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gridSpan="3">
                  <a:tcPr marL="0" marR="0" marT="0" marB="0">
                    <a:lnL>
                      <a:noFill/>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0065BD"/>
                      </a:solidFill>
                      <a:prstDash val="solid"/>
                      <a:round/>
                      <a:headEnd type="none" w="med" len="med"/>
                      <a:tailEnd type="none" w="med" len="med"/>
                    </a:lnB>
                  </a:tcPr>
                </a:tc>
                <a:tc vMerge="1" hMerge="1">
                  <a:tcPr marL="0" marR="0" marT="0" marB="0">
                    <a:lnL>
                      <a:noFill/>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0065BD"/>
                      </a:solidFill>
                      <a:prstDash val="solid"/>
                      <a:round/>
                      <a:headEnd type="none" w="med" len="med"/>
                      <a:tailEnd type="none" w="med" len="med"/>
                    </a:lnB>
                  </a:tcPr>
                </a:tc>
                <a:tc vMerge="1" hMerge="1">
                  <a:tcPr marL="0" marR="0" marT="0" marB="0">
                    <a:lnL>
                      <a:noFill/>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0065BD"/>
                      </a:solidFill>
                      <a:prstDash val="solid"/>
                      <a:round/>
                      <a:headEnd type="none" w="med" len="med"/>
                      <a:tailEnd type="none" w="med" len="med"/>
                    </a:lnB>
                  </a:tcPr>
                </a:tc>
                <a:tc vMerge="1" gridSpan="4">
                  <a:tcPr marL="0" marR="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0065BD"/>
                      </a:solidFill>
                      <a:prstDash val="solid"/>
                      <a:round/>
                      <a:headEnd type="none" w="med" len="med"/>
                      <a:tailEnd type="none" w="med" len="med"/>
                    </a:lnB>
                  </a:tcPr>
                </a:tc>
                <a:tc vMerge="1" hMerge="1">
                  <a:tcPr marL="0" marR="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0065BD"/>
                      </a:solidFill>
                      <a:prstDash val="solid"/>
                      <a:round/>
                      <a:headEnd type="none" w="med" len="med"/>
                      <a:tailEnd type="none" w="med" len="med"/>
                    </a:lnB>
                  </a:tcPr>
                </a:tc>
                <a:tc vMerge="1" hMerge="1">
                  <a:tcPr marL="0" marR="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0065BD"/>
                      </a:solidFill>
                      <a:prstDash val="solid"/>
                      <a:round/>
                      <a:headEnd type="none" w="med" len="med"/>
                      <a:tailEnd type="none" w="med" len="med"/>
                    </a:lnB>
                  </a:tcPr>
                </a:tc>
                <a:tc vMerge="1" hMerge="1">
                  <a:tcPr marL="0" marR="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0065BD"/>
                      </a:solidFill>
                      <a:prstDash val="solid"/>
                      <a:round/>
                      <a:headEnd type="none" w="med" len="med"/>
                      <a:tailEnd type="none" w="med" len="med"/>
                    </a:lnB>
                  </a:tcPr>
                </a:tc>
                <a:tc vMerge="1">
                  <a:tcPr marL="0" marR="0" marT="0" marB="0">
                    <a:lnL w="19050"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vMerge="1" gridSpan="2">
                  <a:tcPr marL="0" marR="0" marT="0" marB="0">
                    <a:lnL>
                      <a:noFill/>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a:noFill/>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r>
              <a:tr h="510540">
                <a:tc vMerge="1">
                  <a:tcPr marL="0" marR="0" marT="0" marB="0">
                    <a:lnL w="19050"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vMerge="1" gridSpan="6">
                  <a:tcPr marL="0" marR="0" marT="0" marB="0">
                    <a:lnL w="9525"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gridSpan="3">
                  <a:txBody>
                    <a:bodyPr/>
                    <a:lstStyle/>
                    <a:p>
                      <a:pPr algn="l" rtl="0" eaLnBrk="0">
                        <a:lnSpc>
                          <a:spcPct val="103000"/>
                        </a:lnSpc>
                      </a:pPr>
                      <a:endParaRPr lang="en-US" altLang="en-US" sz="500" dirty="0">
                        <a:latin typeface="微软雅黑" panose="020B0503020204020204" charset="-122"/>
                        <a:ea typeface="微软雅黑" panose="020B0503020204020204" charset="-122"/>
                      </a:endParaRPr>
                    </a:p>
                    <a:p>
                      <a:pPr marL="269240" indent="-187960" algn="l" rtl="0" eaLnBrk="0">
                        <a:lnSpc>
                          <a:spcPct val="99000"/>
                        </a:lnSpc>
                        <a:spcBef>
                          <a:spcPts val="5"/>
                        </a:spcBef>
                      </a:pPr>
                      <a:r>
                        <a:rPr sz="1200" spc="0" dirty="0">
                          <a:solidFill>
                            <a:srgbClr val="002960">
                              <a:alpha val="100000"/>
                            </a:srgbClr>
                          </a:solidFill>
                          <a:latin typeface="微软雅黑" panose="020B0503020204020204" charset="-122"/>
                          <a:ea typeface="微软雅黑" panose="020B0503020204020204" charset="-122"/>
                          <a:cs typeface="Arial" panose="020B0604020202020204"/>
                        </a:rPr>
                        <a:t>▪   </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只有少数大客户经 </a:t>
                      </a:r>
                      <a:r>
                        <a:rPr sz="1200" spc="-10" dirty="0">
                          <a:solidFill>
                            <a:srgbClr val="000000">
                              <a:alpha val="100000"/>
                            </a:srgbClr>
                          </a:solidFill>
                          <a:latin typeface="微软雅黑" panose="020B0503020204020204" charset="-122"/>
                          <a:ea typeface="微软雅黑" panose="020B0503020204020204" charset="-122"/>
                          <a:cs typeface="楷体" panose="02010609060101010101" charset="-122"/>
                        </a:rPr>
                        <a:t>售增长，且</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相比其</a:t>
                      </a:r>
                      <a:endParaRPr lang="en-US" altLang="en-US" sz="1200" dirty="0">
                        <a:latin typeface="微软雅黑" panose="020B0503020204020204" charset="-122"/>
                        <a:ea typeface="微软雅黑" panose="020B0503020204020204" charset="-122"/>
                      </a:endParaRPr>
                    </a:p>
                  </a:txBody>
                  <a:tcPr marL="0" marR="0" marT="0" marB="0">
                    <a:lnL w="19050" cap="flat" cmpd="sng" algn="ctr">
                      <a:solidFill>
                        <a:srgbClr val="0065BD"/>
                      </a:solidFill>
                      <a:prstDash val="solid"/>
                      <a:round/>
                      <a:headEnd type="none" w="med" len="med"/>
                      <a:tailEnd type="none" w="med" len="med"/>
                    </a:lnL>
                    <a:lnR w="19050" cap="flat" cmpd="sng" algn="ctr">
                      <a:solidFill>
                        <a:srgbClr val="0065BD"/>
                      </a:solidFill>
                      <a:prstDash val="solid"/>
                      <a:round/>
                      <a:headEnd type="none" w="med" len="med"/>
                      <a:tailEnd type="none" w="med" len="med"/>
                    </a:lnR>
                    <a:lnT w="3175" cap="flat" cmpd="sng" algn="ctr">
                      <a:solidFill>
                        <a:srgbClr val="0065BD"/>
                      </a:solidFill>
                      <a:prstDash val="solid"/>
                      <a:round/>
                      <a:headEnd type="none" w="med" len="med"/>
                      <a:tailEnd type="none" w="med" len="med"/>
                    </a:lnT>
                    <a:lnB w="3175" cap="flat" cmpd="sng" algn="ctr">
                      <a:solidFill>
                        <a:srgbClr val="0065BD"/>
                      </a:solidFill>
                      <a:prstDash val="solid"/>
                      <a:round/>
                      <a:headEnd type="none" w="med" len="med"/>
                      <a:tailEnd type="none" w="med" len="med"/>
                    </a:lnB>
                  </a:tcPr>
                </a:tc>
                <a:tc hMerge="1">
                  <a:tcPr marL="0" marR="0" marT="0" marB="0">
                    <a:lnL w="19050" cap="flat" cmpd="sng" algn="ctr">
                      <a:solidFill>
                        <a:srgbClr val="0065BD"/>
                      </a:solidFill>
                      <a:prstDash val="solid"/>
                      <a:round/>
                      <a:headEnd type="none" w="med" len="med"/>
                      <a:tailEnd type="none" w="med" len="med"/>
                    </a:lnL>
                    <a:lnR w="19050" cap="flat" cmpd="sng" algn="ctr">
                      <a:solidFill>
                        <a:srgbClr val="0065BD"/>
                      </a:solidFill>
                      <a:prstDash val="solid"/>
                      <a:round/>
                      <a:headEnd type="none" w="med" len="med"/>
                      <a:tailEnd type="none" w="med" len="med"/>
                    </a:lnR>
                    <a:lnT w="3175" cap="flat" cmpd="sng" algn="ctr">
                      <a:solidFill>
                        <a:srgbClr val="0065BD"/>
                      </a:solidFill>
                      <a:prstDash val="solid"/>
                      <a:round/>
                      <a:headEnd type="none" w="med" len="med"/>
                      <a:tailEnd type="none" w="med" len="med"/>
                    </a:lnT>
                    <a:lnB w="3175" cap="flat" cmpd="sng" algn="ctr">
                      <a:solidFill>
                        <a:srgbClr val="0065BD"/>
                      </a:solidFill>
                      <a:prstDash val="solid"/>
                      <a:round/>
                      <a:headEnd type="none" w="med" len="med"/>
                      <a:tailEnd type="none" w="med" len="med"/>
                    </a:lnB>
                  </a:tcPr>
                </a:tc>
                <a:tc hMerge="1">
                  <a:tcPr marL="0" marR="0" marT="0" marB="0">
                    <a:lnL w="19050" cap="flat" cmpd="sng" algn="ctr">
                      <a:solidFill>
                        <a:srgbClr val="0065BD"/>
                      </a:solidFill>
                      <a:prstDash val="solid"/>
                      <a:round/>
                      <a:headEnd type="none" w="med" len="med"/>
                      <a:tailEnd type="none" w="med" len="med"/>
                    </a:lnL>
                    <a:lnR w="19050" cap="flat" cmpd="sng" algn="ctr">
                      <a:solidFill>
                        <a:srgbClr val="0065BD"/>
                      </a:solidFill>
                      <a:prstDash val="solid"/>
                      <a:round/>
                      <a:headEnd type="none" w="med" len="med"/>
                      <a:tailEnd type="none" w="med" len="med"/>
                    </a:lnR>
                    <a:lnT w="3175" cap="flat" cmpd="sng" algn="ctr">
                      <a:solidFill>
                        <a:srgbClr val="0065BD"/>
                      </a:solidFill>
                      <a:prstDash val="solid"/>
                      <a:round/>
                      <a:headEnd type="none" w="med" len="med"/>
                      <a:tailEnd type="none" w="med" len="med"/>
                    </a:lnT>
                    <a:lnB w="3175" cap="flat" cmpd="sng" algn="ctr">
                      <a:solidFill>
                        <a:srgbClr val="0065BD"/>
                      </a:solidFill>
                      <a:prstDash val="solid"/>
                      <a:round/>
                      <a:headEnd type="none" w="med" len="med"/>
                      <a:tailEnd type="none" w="med" len="med"/>
                    </a:lnB>
                  </a:tcPr>
                </a:tc>
                <a:tc gridSpan="3">
                  <a:txBody>
                    <a:bodyPr/>
                    <a:lstStyle/>
                    <a:p>
                      <a:pPr algn="l" rtl="0" eaLnBrk="0">
                        <a:lnSpc>
                          <a:spcPct val="102000"/>
                        </a:lnSpc>
                      </a:pPr>
                      <a:endParaRPr lang="en-US" altLang="en-US" sz="500" dirty="0">
                        <a:latin typeface="微软雅黑" panose="020B0503020204020204" charset="-122"/>
                        <a:ea typeface="微软雅黑" panose="020B0503020204020204" charset="-122"/>
                      </a:endParaRPr>
                    </a:p>
                    <a:p>
                      <a:pPr algn="l" rtl="0" eaLnBrk="0">
                        <a:lnSpc>
                          <a:spcPct val="109000"/>
                        </a:lnSpc>
                        <a:spcBef>
                          <a:spcPts val="5"/>
                        </a:spcBef>
                      </a:pPr>
                      <a:r>
                        <a:rPr sz="1100" spc="80" dirty="0">
                          <a:solidFill>
                            <a:srgbClr val="000000">
                              <a:alpha val="100000"/>
                            </a:srgbClr>
                          </a:solidFill>
                          <a:latin typeface="微软雅黑" panose="020B0503020204020204" charset="-122"/>
                          <a:ea typeface="微软雅黑" panose="020B0503020204020204" charset="-122"/>
                          <a:cs typeface="楷体" panose="02010609060101010101" charset="-122"/>
                        </a:rPr>
                        <a:t>理实现进攻性客户</a:t>
                      </a:r>
                      <a:r>
                        <a:rPr sz="1100" spc="70" dirty="0">
                          <a:solidFill>
                            <a:srgbClr val="000000">
                              <a:alpha val="100000"/>
                            </a:srgbClr>
                          </a:solidFill>
                          <a:latin typeface="微软雅黑" panose="020B0503020204020204" charset="-122"/>
                          <a:ea typeface="微软雅黑" panose="020B0503020204020204" charset="-122"/>
                          <a:cs typeface="楷体" panose="02010609060101010101" charset="-122"/>
                        </a:rPr>
                        <a:t>销</a:t>
                      </a:r>
                      <a:r>
                        <a:rPr sz="11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100" spc="80" dirty="0">
                          <a:solidFill>
                            <a:srgbClr val="000000">
                              <a:alpha val="100000"/>
                            </a:srgbClr>
                          </a:solidFill>
                          <a:latin typeface="微软雅黑" panose="020B0503020204020204" charset="-122"/>
                          <a:ea typeface="微软雅黑" panose="020B0503020204020204" charset="-122"/>
                          <a:cs typeface="楷体" panose="02010609060101010101" charset="-122"/>
                        </a:rPr>
                        <a:t>他客户类型增长有</a:t>
                      </a:r>
                      <a:r>
                        <a:rPr sz="1100" spc="70" dirty="0">
                          <a:solidFill>
                            <a:srgbClr val="000000">
                              <a:alpha val="100000"/>
                            </a:srgbClr>
                          </a:solidFill>
                          <a:latin typeface="微软雅黑" panose="020B0503020204020204" charset="-122"/>
                          <a:ea typeface="微软雅黑" panose="020B0503020204020204" charset="-122"/>
                          <a:cs typeface="楷体" panose="02010609060101010101" charset="-122"/>
                        </a:rPr>
                        <a:t>限</a:t>
                      </a:r>
                      <a:endParaRPr lang="en-US" altLang="en-US" sz="1100" dirty="0">
                        <a:latin typeface="微软雅黑" panose="020B0503020204020204" charset="-122"/>
                        <a:ea typeface="微软雅黑" panose="020B0503020204020204" charset="-122"/>
                      </a:endParaRPr>
                    </a:p>
                  </a:txBody>
                  <a:tcPr marL="0" marR="0" marT="0" marB="0">
                    <a:lnL w="19050" cap="flat" cmpd="sng" algn="ctr">
                      <a:solidFill>
                        <a:srgbClr val="0065BD"/>
                      </a:solidFill>
                      <a:prstDash val="solid"/>
                      <a:round/>
                      <a:headEnd type="none" w="med" len="med"/>
                      <a:tailEnd type="none" w="med" len="med"/>
                    </a:lnL>
                    <a:lnR w="19050" cap="flat" cmpd="sng" algn="ctr">
                      <a:solidFill>
                        <a:srgbClr val="0065BD"/>
                      </a:solidFill>
                      <a:prstDash val="solid"/>
                      <a:round/>
                      <a:headEnd type="none" w="med" len="med"/>
                      <a:tailEnd type="none" w="med" len="med"/>
                    </a:lnR>
                    <a:lnT w="3175" cap="flat" cmpd="sng" algn="ctr">
                      <a:solidFill>
                        <a:srgbClr val="0065BD"/>
                      </a:solidFill>
                      <a:prstDash val="solid"/>
                      <a:round/>
                      <a:headEnd type="none" w="med" len="med"/>
                      <a:tailEnd type="none" w="med" len="med"/>
                    </a:lnT>
                    <a:lnB w="3175" cap="flat" cmpd="sng" algn="ctr">
                      <a:solidFill>
                        <a:srgbClr val="0065BD"/>
                      </a:solidFill>
                      <a:prstDash val="solid"/>
                      <a:round/>
                      <a:headEnd type="none" w="med" len="med"/>
                      <a:tailEnd type="none" w="med" len="med"/>
                    </a:lnB>
                  </a:tcPr>
                </a:tc>
                <a:tc hMerge="1">
                  <a:tcPr marL="0" marR="0" marT="0" marB="0">
                    <a:lnL w="19050" cap="flat" cmpd="sng" algn="ctr">
                      <a:solidFill>
                        <a:srgbClr val="0065BD"/>
                      </a:solidFill>
                      <a:prstDash val="solid"/>
                      <a:round/>
                      <a:headEnd type="none" w="med" len="med"/>
                      <a:tailEnd type="none" w="med" len="med"/>
                    </a:lnL>
                    <a:lnR w="19050" cap="flat" cmpd="sng" algn="ctr">
                      <a:solidFill>
                        <a:srgbClr val="0065BD"/>
                      </a:solidFill>
                      <a:prstDash val="solid"/>
                      <a:round/>
                      <a:headEnd type="none" w="med" len="med"/>
                      <a:tailEnd type="none" w="med" len="med"/>
                    </a:lnR>
                    <a:lnT w="3175" cap="flat" cmpd="sng" algn="ctr">
                      <a:solidFill>
                        <a:srgbClr val="0065BD"/>
                      </a:solidFill>
                      <a:prstDash val="solid"/>
                      <a:round/>
                      <a:headEnd type="none" w="med" len="med"/>
                      <a:tailEnd type="none" w="med" len="med"/>
                    </a:lnT>
                    <a:lnB w="3175" cap="flat" cmpd="sng" algn="ctr">
                      <a:solidFill>
                        <a:srgbClr val="0065BD"/>
                      </a:solidFill>
                      <a:prstDash val="solid"/>
                      <a:round/>
                      <a:headEnd type="none" w="med" len="med"/>
                      <a:tailEnd type="none" w="med" len="med"/>
                    </a:lnB>
                  </a:tcPr>
                </a:tc>
                <a:tc hMerge="1">
                  <a:tcPr marL="0" marR="0" marT="0" marB="0">
                    <a:lnL w="19050" cap="flat" cmpd="sng" algn="ctr">
                      <a:solidFill>
                        <a:srgbClr val="0065BD"/>
                      </a:solidFill>
                      <a:prstDash val="solid"/>
                      <a:round/>
                      <a:headEnd type="none" w="med" len="med"/>
                      <a:tailEnd type="none" w="med" len="med"/>
                    </a:lnL>
                    <a:lnR w="19050" cap="flat" cmpd="sng" algn="ctr">
                      <a:solidFill>
                        <a:srgbClr val="0065BD"/>
                      </a:solidFill>
                      <a:prstDash val="solid"/>
                      <a:round/>
                      <a:headEnd type="none" w="med" len="med"/>
                      <a:tailEnd type="none" w="med" len="med"/>
                    </a:lnR>
                    <a:lnT w="3175" cap="flat" cmpd="sng" algn="ctr">
                      <a:solidFill>
                        <a:srgbClr val="0065BD"/>
                      </a:solidFill>
                      <a:prstDash val="solid"/>
                      <a:round/>
                      <a:headEnd type="none" w="med" len="med"/>
                      <a:tailEnd type="none" w="med" len="med"/>
                    </a:lnT>
                    <a:lnB w="3175" cap="flat" cmpd="sng" algn="ctr">
                      <a:solidFill>
                        <a:srgbClr val="0065BD"/>
                      </a:solidFill>
                      <a:prstDash val="solid"/>
                      <a:round/>
                      <a:headEnd type="none" w="med" len="med"/>
                      <a:tailEnd type="none" w="med" len="med"/>
                    </a:lnB>
                  </a:tcPr>
                </a:tc>
                <a:tc>
                  <a:txBody>
                    <a:bodyPr/>
                    <a:lstStyle/>
                    <a:p>
                      <a:pPr algn="l" rtl="0" eaLnBrk="0">
                        <a:lnSpc>
                          <a:spcPct val="100000"/>
                        </a:lnSpc>
                      </a:pPr>
                      <a:endParaRPr lang="en-US" altLang="en-US" sz="1000" dirty="0">
                        <a:ea typeface="微软雅黑" panose="020B0503020204020204" charset="-122"/>
                      </a:endParaRPr>
                    </a:p>
                  </a:txBody>
                  <a:tcPr marL="0" marR="0" marT="0" marB="0">
                    <a:lnL w="19050" cap="flat" cmpd="sng" algn="ctr">
                      <a:solidFill>
                        <a:srgbClr val="0065BD"/>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a:noFill/>
                    </a:lnB>
                  </a:tcPr>
                </a:tc>
                <a:tc vMerge="1">
                  <a:tcPr marL="0" marR="0" marT="0" marB="0">
                    <a:lnL w="19050"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vMerge="1" gridSpan="2">
                  <a:tcPr marL="0" marR="0" marT="0" marB="0">
                    <a:lnL>
                      <a:noFill/>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a:noFill/>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r>
              <a:tr h="205104">
                <a:tc vMerge="1">
                  <a:tcPr marL="0" marR="0" marT="0" marB="0">
                    <a:lnL w="19050"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vMerge="1" gridSpan="6">
                  <a:tcPr marL="0" marR="0" marT="0" marB="0">
                    <a:lnL w="9525"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rowSpan="2" gridSpan="3">
                  <a:txBody>
                    <a:bodyPr/>
                    <a:lstStyle/>
                    <a:p>
                      <a:pPr algn="l" rtl="0" eaLnBrk="0">
                        <a:lnSpc>
                          <a:spcPct val="100000"/>
                        </a:lnSpc>
                      </a:pPr>
                      <a:endParaRPr lang="en-US" altLang="en-US" sz="1000" dirty="0">
                        <a:ea typeface="微软雅黑" panose="020B0503020204020204" charset="-122"/>
                      </a:endParaRPr>
                    </a:p>
                  </a:txBody>
                  <a:tcPr marL="0" marR="0" marT="0" marB="0">
                    <a:lnL>
                      <a:noFill/>
                    </a:lnL>
                    <a:lnR w="19050" cap="flat" cmpd="sng" algn="ctr">
                      <a:solidFill>
                        <a:srgbClr val="FFFFFF"/>
                      </a:solidFill>
                      <a:prstDash val="solid"/>
                      <a:round/>
                      <a:headEnd type="none" w="med" len="med"/>
                      <a:tailEnd type="none" w="med" len="med"/>
                    </a:lnR>
                    <a:lnT w="3175" cap="flat" cmpd="sng" algn="ctr">
                      <a:solidFill>
                        <a:srgbClr val="0065BD"/>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rowSpan="2" hMerge="1">
                  <a:tcPr marL="0" marR="0" marT="0" marB="0">
                    <a:lnL>
                      <a:noFill/>
                    </a:lnL>
                    <a:lnR w="19050" cap="flat" cmpd="sng" algn="ctr">
                      <a:solidFill>
                        <a:srgbClr val="FFFFFF"/>
                      </a:solidFill>
                      <a:prstDash val="solid"/>
                      <a:round/>
                      <a:headEnd type="none" w="med" len="med"/>
                      <a:tailEnd type="none" w="med" len="med"/>
                    </a:lnR>
                    <a:lnT w="3175" cap="flat" cmpd="sng" algn="ctr">
                      <a:solidFill>
                        <a:srgbClr val="0065BD"/>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rowSpan="2" hMerge="1">
                  <a:tcPr marL="0" marR="0" marT="0" marB="0">
                    <a:lnL>
                      <a:noFill/>
                    </a:lnL>
                    <a:lnR w="19050" cap="flat" cmpd="sng" algn="ctr">
                      <a:solidFill>
                        <a:srgbClr val="FFFFFF"/>
                      </a:solidFill>
                      <a:prstDash val="solid"/>
                      <a:round/>
                      <a:headEnd type="none" w="med" len="med"/>
                      <a:tailEnd type="none" w="med" len="med"/>
                    </a:lnR>
                    <a:lnT w="3175" cap="flat" cmpd="sng" algn="ctr">
                      <a:solidFill>
                        <a:srgbClr val="0065BD"/>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rowSpan="2" gridSpan="4">
                  <a:txBody>
                    <a:bodyPr/>
                    <a:lstStyle/>
                    <a:p>
                      <a:pPr algn="l" rtl="0" eaLnBrk="0">
                        <a:lnSpc>
                          <a:spcPct val="100000"/>
                        </a:lnSpc>
                      </a:pPr>
                      <a:endParaRPr lang="en-US" altLang="en-US" sz="1000" dirty="0">
                        <a:ea typeface="微软雅黑" panose="020B0503020204020204" charset="-122"/>
                      </a:endParaRPr>
                    </a:p>
                  </a:txBody>
                  <a:tcPr marL="0" marR="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0065BD"/>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rowSpan="2" hMerge="1">
                  <a:tcPr marL="0" marR="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0065BD"/>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rowSpan="2" hMerge="1">
                  <a:tcPr marL="0" marR="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0065BD"/>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rowSpan="2" hMerge="1">
                  <a:tcPr marL="0" marR="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0065BD"/>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a:tcPr marL="0" marR="0" marT="0" marB="0">
                    <a:lnL w="19050"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vMerge="1" gridSpan="2">
                  <a:tcPr marL="0" marR="0" marT="0" marB="0">
                    <a:lnL>
                      <a:noFill/>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a:noFill/>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r>
              <a:tr h="277494">
                <a:tc vMerge="1">
                  <a:tcPr marL="0" marR="0" marT="0" marB="0">
                    <a:lnL w="19050"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vMerge="1" gridSpan="6">
                  <a:tcPr marL="0" marR="0" marT="0" marB="0">
                    <a:lnL w="9525"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gridSpan="3">
                  <a:tcPr marL="0" marR="0" marT="0" marB="0">
                    <a:lnL>
                      <a:noFill/>
                    </a:lnL>
                    <a:lnR w="19050" cap="flat" cmpd="sng" algn="ctr">
                      <a:solidFill>
                        <a:srgbClr val="FFFFFF"/>
                      </a:solidFill>
                      <a:prstDash val="solid"/>
                      <a:round/>
                      <a:headEnd type="none" w="med" len="med"/>
                      <a:tailEnd type="none" w="med" len="med"/>
                    </a:lnR>
                    <a:lnT w="3175" cap="flat" cmpd="sng" algn="ctr">
                      <a:solidFill>
                        <a:srgbClr val="0065BD"/>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a:noFill/>
                    </a:lnL>
                    <a:lnR w="19050" cap="flat" cmpd="sng" algn="ctr">
                      <a:solidFill>
                        <a:srgbClr val="FFFFFF"/>
                      </a:solidFill>
                      <a:prstDash val="solid"/>
                      <a:round/>
                      <a:headEnd type="none" w="med" len="med"/>
                      <a:tailEnd type="none" w="med" len="med"/>
                    </a:lnR>
                    <a:lnT w="3175" cap="flat" cmpd="sng" algn="ctr">
                      <a:solidFill>
                        <a:srgbClr val="0065BD"/>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a:noFill/>
                    </a:lnL>
                    <a:lnR w="19050" cap="flat" cmpd="sng" algn="ctr">
                      <a:solidFill>
                        <a:srgbClr val="FFFFFF"/>
                      </a:solidFill>
                      <a:prstDash val="solid"/>
                      <a:round/>
                      <a:headEnd type="none" w="med" len="med"/>
                      <a:tailEnd type="none" w="med" len="med"/>
                    </a:lnR>
                    <a:lnT w="3175" cap="flat" cmpd="sng" algn="ctr">
                      <a:solidFill>
                        <a:srgbClr val="0065BD"/>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gridSpan="4">
                  <a:tcPr marL="0" marR="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0065BD"/>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0065BD"/>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0065BD"/>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0065BD"/>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a:txBody>
                    <a:bodyPr/>
                    <a:lstStyle/>
                    <a:p>
                      <a:pPr algn="l" rtl="0" eaLnBrk="0">
                        <a:lnSpc>
                          <a:spcPct val="100000"/>
                        </a:lnSpc>
                      </a:pPr>
                      <a:endParaRPr lang="en-US" altLang="en-US" sz="1000" dirty="0">
                        <a:ea typeface="微软雅黑" panose="020B0503020204020204" charset="-122"/>
                      </a:endParaRPr>
                    </a:p>
                  </a:txBody>
                  <a:tcPr marL="0" marR="0" marT="0" marB="0">
                    <a:lnL w="19050"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gridSpan="2">
                  <a:tcPr marL="0" marR="0" marT="0" marB="0">
                    <a:lnL>
                      <a:noFill/>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a:noFill/>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r>
              <a:tr h="135889">
                <a:tc vMerge="1">
                  <a:tcPr marL="0" marR="0" marT="0" marB="0">
                    <a:lnL w="19050"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rowSpan="2">
                  <a:txBody>
                    <a:bodyPr/>
                    <a:lstStyle/>
                    <a:p>
                      <a:pPr algn="l" rtl="0" eaLnBrk="0">
                        <a:lnSpc>
                          <a:spcPct val="100000"/>
                        </a:lnSpc>
                      </a:pPr>
                      <a:endParaRPr lang="en-US" altLang="en-US" sz="1000" dirty="0">
                        <a:ea typeface="微软雅黑" panose="020B0503020204020204" charset="-122"/>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rowSpan="2">
                  <a:txBody>
                    <a:bodyPr/>
                    <a:lstStyle/>
                    <a:p>
                      <a:pPr algn="l" rtl="0" eaLnBrk="0">
                        <a:lnSpc>
                          <a:spcPct val="100000"/>
                        </a:lnSpc>
                      </a:pPr>
                      <a:endParaRPr lang="en-US" altLang="en-US" sz="1000" dirty="0">
                        <a:ea typeface="微软雅黑" panose="020B0503020204020204" charset="-122"/>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solidFill>
                      <a:srgbClr val="0065BD"/>
                    </a:solidFill>
                  </a:tcPr>
                </a:tc>
                <a:tc rowSpan="2" gridSpan="7">
                  <a:txBody>
                    <a:bodyPr/>
                    <a:lstStyle/>
                    <a:p>
                      <a:pPr algn="l" rtl="0" eaLnBrk="0">
                        <a:lnSpc>
                          <a:spcPct val="110000"/>
                        </a:lnSpc>
                      </a:pPr>
                      <a:endParaRPr lang="en-US" altLang="en-US" sz="900" dirty="0">
                        <a:latin typeface="微软雅黑" panose="020B0503020204020204" charset="-122"/>
                        <a:ea typeface="微软雅黑" panose="020B0503020204020204" charset="-122"/>
                      </a:endParaRPr>
                    </a:p>
                    <a:p>
                      <a:pPr algn="l" rtl="0" eaLnBrk="0">
                        <a:lnSpc>
                          <a:spcPct val="6000"/>
                        </a:lnSpc>
                      </a:pPr>
                      <a:endParaRPr lang="en-US" altLang="en-US" sz="100" dirty="0">
                        <a:latin typeface="微软雅黑" panose="020B0503020204020204" charset="-122"/>
                        <a:ea typeface="微软雅黑" panose="020B0503020204020204" charset="-122"/>
                      </a:endParaRPr>
                    </a:p>
                    <a:p>
                      <a:pPr marL="347345" algn="l" rtl="0" eaLnBrk="0">
                        <a:lnSpc>
                          <a:spcPct val="79000"/>
                        </a:lnSpc>
                      </a:pPr>
                      <a:r>
                        <a:rPr sz="1200" b="1" spc="0" dirty="0">
                          <a:solidFill>
                            <a:srgbClr val="002960">
                              <a:alpha val="100000"/>
                            </a:srgbClr>
                          </a:solidFill>
                          <a:latin typeface="微软雅黑" panose="020B0503020204020204" charset="-122"/>
                          <a:ea typeface="微软雅黑" panose="020B0503020204020204" charset="-122"/>
                          <a:cs typeface="Arial" panose="020B0604020202020204"/>
                        </a:rPr>
                        <a:t>7</a:t>
                      </a:r>
                      <a:endParaRPr lang="en-US" altLang="en-US" sz="1200" dirty="0">
                        <a:latin typeface="微软雅黑" panose="020B0503020204020204" charset="-122"/>
                        <a:ea typeface="微软雅黑" panose="020B0503020204020204" charset="-122"/>
                      </a:endParaRPr>
                    </a:p>
                  </a:txBody>
                  <a:tcPr marL="0" marR="0" marT="0" marB="0">
                    <a:lnL w="9525"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rowSpan="2" hMerge="1">
                  <a:tcPr marL="0" marR="0" marT="0" marB="0">
                    <a:lnL w="9525"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rowSpan="2" hMerge="1">
                  <a:tcPr marL="0" marR="0" marT="0" marB="0">
                    <a:lnL w="9525"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rowSpan="2" hMerge="1">
                  <a:tcPr marL="0" marR="0" marT="0" marB="0">
                    <a:lnL w="9525"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rowSpan="2" hMerge="1">
                  <a:tcPr marL="0" marR="0" marT="0" marB="0">
                    <a:lnL w="9525"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rowSpan="2" hMerge="1">
                  <a:tcPr marL="0" marR="0" marT="0" marB="0">
                    <a:lnL w="9525"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rowSpan="2" hMerge="1">
                  <a:tcPr marL="0" marR="0" marT="0" marB="0">
                    <a:lnL w="9525"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rowSpan="2" gridSpan="4">
                  <a:txBody>
                    <a:bodyPr/>
                    <a:lstStyle/>
                    <a:p>
                      <a:pPr algn="l" rtl="0" eaLnBrk="0">
                        <a:lnSpc>
                          <a:spcPct val="100000"/>
                        </a:lnSpc>
                      </a:pPr>
                      <a:endParaRPr lang="en-US" altLang="en-US" sz="1000" dirty="0">
                        <a:ea typeface="微软雅黑" panose="020B0503020204020204" charset="-122"/>
                      </a:endParaRPr>
                    </a:p>
                  </a:txBody>
                  <a:tcPr marL="0" marR="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rowSpan="2" hMerge="1">
                  <a:tcPr marL="0" marR="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rowSpan="2" hMerge="1">
                  <a:tcPr marL="0" marR="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rowSpan="2" hMerge="1">
                  <a:tcPr marL="0" marR="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a:txBody>
                    <a:bodyPr/>
                    <a:lstStyle/>
                    <a:p>
                      <a:pPr algn="l" rtl="0" eaLnBrk="0">
                        <a:lnSpc>
                          <a:spcPts val="1070"/>
                        </a:lnSpc>
                      </a:pPr>
                      <a:endParaRPr lang="en-US" altLang="en-US" sz="800" dirty="0">
                        <a:ea typeface="微软雅黑" panose="020B0503020204020204" charset="-122"/>
                      </a:endParaRPr>
                    </a:p>
                  </a:txBody>
                  <a:tcPr marL="0" marR="0" marT="0" marB="0">
                    <a:lnL w="19050"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FFFFFF"/>
                      </a:solidFill>
                      <a:prstDash val="solid"/>
                      <a:round/>
                      <a:headEnd type="none" w="med" len="med"/>
                      <a:tailEnd type="none" w="med" len="med"/>
                    </a:lnB>
                  </a:tcPr>
                </a:tc>
                <a:tc rowSpan="2" gridSpan="2">
                  <a:txBody>
                    <a:bodyPr/>
                    <a:lstStyle/>
                    <a:p>
                      <a:pPr algn="l" rtl="0" eaLnBrk="0">
                        <a:lnSpc>
                          <a:spcPct val="100000"/>
                        </a:lnSpc>
                      </a:pPr>
                      <a:endParaRPr lang="en-US" altLang="en-US" sz="1000" dirty="0">
                        <a:ea typeface="微软雅黑" panose="020B0503020204020204" charset="-122"/>
                      </a:endParaRPr>
                    </a:p>
                  </a:txBody>
                  <a:tcPr marL="0" marR="0" marT="0" marB="0">
                    <a:lnL w="9525"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rowSpan="2" hMerge="1">
                  <a:tcPr marL="0" marR="0" marT="0" marB="0">
                    <a:lnL w="9525"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r>
              <a:tr h="263525">
                <a:tc vMerge="1">
                  <a:tcPr marL="0" marR="0" marT="0" marB="0">
                    <a:lnL w="19050"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vMerge="1" gridSpan="7">
                  <a:tcPr marL="0" marR="0" marT="0" marB="0">
                    <a:lnL w="9525"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w="9525"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w="9525"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w="9525"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w="9525"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w="9525"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w="9525"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vMerge="1" gridSpan="4">
                  <a:tcPr marL="0" marR="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a:txBody>
                    <a:bodyPr/>
                    <a:lstStyle/>
                    <a:p>
                      <a:pPr algn="l" rtl="0" eaLnBrk="0">
                        <a:lnSpc>
                          <a:spcPct val="100000"/>
                        </a:lnSpc>
                      </a:pPr>
                      <a:endParaRPr lang="en-US" altLang="en-US" sz="1000" dirty="0">
                        <a:ea typeface="微软雅黑" panose="020B0503020204020204" charset="-122"/>
                      </a:endParaRPr>
                    </a:p>
                  </a:txBody>
                  <a:tcPr marL="0" marR="0" marT="0" marB="0">
                    <a:lnL w="19050"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dash"/>
                      <a:round/>
                      <a:headEnd type="none" w="med" len="med"/>
                      <a:tailEnd type="none" w="med" len="med"/>
                    </a:lnB>
                  </a:tcPr>
                </a:tc>
                <a:tc vMerge="1" gridSpan="2">
                  <a:tcPr marL="0" marR="0" marT="0" marB="0">
                    <a:lnL w="9525"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vMerge="1" hMerge="1">
                  <a:tcPr marL="0" marR="0" marT="0" marB="0">
                    <a:lnL w="9525"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r>
              <a:tr h="149225">
                <a:tc vMerge="1">
                  <a:tcPr marL="0" marR="0" marT="0" marB="0">
                    <a:lnL w="19050"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rowSpan="7">
                  <a:txBody>
                    <a:bodyPr/>
                    <a:lstStyle/>
                    <a:p>
                      <a:pPr algn="l" rtl="0" eaLnBrk="0">
                        <a:lnSpc>
                          <a:spcPct val="100000"/>
                        </a:lnSpc>
                      </a:pPr>
                      <a:endParaRPr lang="en-US" altLang="en-US" sz="1000" dirty="0">
                        <a:ea typeface="微软雅黑" panose="020B0503020204020204" charset="-122"/>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rowSpan="2">
                  <a:txBody>
                    <a:bodyPr/>
                    <a:lstStyle/>
                    <a:p>
                      <a:pPr algn="l" rtl="0" eaLnBrk="0">
                        <a:lnSpc>
                          <a:spcPct val="100000"/>
                        </a:lnSpc>
                      </a:pPr>
                      <a:endParaRPr lang="en-US" altLang="en-US" sz="1000" dirty="0">
                        <a:ea typeface="微软雅黑" panose="020B0503020204020204" charset="-122"/>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FFFFFF"/>
                      </a:solidFill>
                      <a:prstDash val="solid"/>
                      <a:round/>
                      <a:headEnd type="none" w="med" len="med"/>
                      <a:tailEnd type="none" w="med" len="med"/>
                    </a:lnB>
                    <a:solidFill>
                      <a:srgbClr val="0065BD"/>
                    </a:solidFill>
                  </a:tcPr>
                </a:tc>
                <a:tc rowSpan="7">
                  <a:txBody>
                    <a:bodyPr/>
                    <a:lstStyle/>
                    <a:p>
                      <a:pPr algn="l" rtl="0" eaLnBrk="0">
                        <a:lnSpc>
                          <a:spcPct val="100000"/>
                        </a:lnSpc>
                      </a:pPr>
                      <a:endParaRPr lang="en-US" altLang="en-US" sz="1000" dirty="0">
                        <a:ea typeface="微软雅黑" panose="020B0503020204020204" charset="-122"/>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rowSpan="3">
                  <a:txBody>
                    <a:bodyPr/>
                    <a:lstStyle/>
                    <a:p>
                      <a:pPr algn="l" rtl="0" eaLnBrk="0">
                        <a:lnSpc>
                          <a:spcPct val="100000"/>
                        </a:lnSpc>
                      </a:pPr>
                      <a:endParaRPr lang="en-US" altLang="en-US" sz="1000" dirty="0">
                        <a:ea typeface="微软雅黑" panose="020B0503020204020204" charset="-122"/>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FFFFFF"/>
                      </a:solidFill>
                      <a:prstDash val="solid"/>
                      <a:round/>
                      <a:headEnd type="none" w="med" len="med"/>
                      <a:tailEnd type="none" w="med" len="med"/>
                    </a:lnB>
                    <a:solidFill>
                      <a:srgbClr val="CCCCCC"/>
                    </a:solidFill>
                  </a:tcPr>
                </a:tc>
                <a:tc rowSpan="2" gridSpan="3">
                  <a:txBody>
                    <a:bodyPr/>
                    <a:lstStyle/>
                    <a:p>
                      <a:pPr algn="l" rtl="0" eaLnBrk="0">
                        <a:lnSpc>
                          <a:spcPct val="106000"/>
                        </a:lnSpc>
                      </a:pPr>
                      <a:endParaRPr lang="en-US" altLang="en-US" sz="1000" dirty="0">
                        <a:latin typeface="微软雅黑" panose="020B0503020204020204" charset="-122"/>
                        <a:ea typeface="微软雅黑" panose="020B0503020204020204" charset="-122"/>
                      </a:endParaRPr>
                    </a:p>
                    <a:p>
                      <a:pPr algn="l" rtl="0" eaLnBrk="0">
                        <a:lnSpc>
                          <a:spcPct val="8000"/>
                        </a:lnSpc>
                      </a:pPr>
                      <a:endParaRPr lang="en-US" altLang="en-US" sz="100" dirty="0">
                        <a:latin typeface="微软雅黑" panose="020B0503020204020204" charset="-122"/>
                        <a:ea typeface="微软雅黑" panose="020B0503020204020204" charset="-122"/>
                      </a:endParaRPr>
                    </a:p>
                    <a:p>
                      <a:pPr marL="349250" algn="l" rtl="0" eaLnBrk="0">
                        <a:lnSpc>
                          <a:spcPct val="79000"/>
                        </a:lnSpc>
                      </a:pPr>
                      <a:r>
                        <a:rPr sz="1200" b="1" spc="0" dirty="0">
                          <a:solidFill>
                            <a:srgbClr val="002960">
                              <a:alpha val="100000"/>
                            </a:srgbClr>
                          </a:solidFill>
                          <a:latin typeface="微软雅黑" panose="020B0503020204020204" charset="-122"/>
                          <a:ea typeface="微软雅黑" panose="020B0503020204020204" charset="-122"/>
                          <a:cs typeface="Arial" panose="020B0604020202020204"/>
                        </a:rPr>
                        <a:t>5</a:t>
                      </a:r>
                      <a:endParaRPr lang="en-US" altLang="en-US" sz="1200" dirty="0">
                        <a:latin typeface="微软雅黑" panose="020B0503020204020204" charset="-122"/>
                        <a:ea typeface="微软雅黑" panose="020B0503020204020204" charset="-122"/>
                      </a:endParaRPr>
                    </a:p>
                  </a:txBody>
                  <a:tcPr marL="0" marR="0" marT="0" marB="0">
                    <a:lnL w="9525" cap="flat" cmpd="sng" algn="ctr">
                      <a:solidFill>
                        <a:srgbClr val="FFFFFF"/>
                      </a:solidFill>
                      <a:prstDash val="solid"/>
                      <a:round/>
                      <a:headEnd type="none" w="med" len="med"/>
                      <a:tailEnd type="none" w="med" len="med"/>
                    </a:lnL>
                    <a:lnR>
                      <a:noFill/>
                    </a:lnR>
                    <a:lnT w="3175" cap="flat" cmpd="sng" algn="ctr">
                      <a:solidFill>
                        <a:srgbClr val="808080"/>
                      </a:solidFill>
                      <a:prstDash val="dash"/>
                      <a:round/>
                      <a:headEnd type="none" w="med" len="med"/>
                      <a:tailEnd type="none" w="med" len="med"/>
                    </a:lnT>
                    <a:lnB w="3175" cap="flat" cmpd="sng" algn="ctr">
                      <a:solidFill>
                        <a:srgbClr val="FFFFFF"/>
                      </a:solidFill>
                      <a:prstDash val="solid"/>
                      <a:round/>
                      <a:headEnd type="none" w="med" len="med"/>
                      <a:tailEnd type="none" w="med" len="med"/>
                    </a:lnB>
                  </a:tcPr>
                </a:tc>
                <a:tc rowSpan="2" h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808080"/>
                      </a:solidFill>
                      <a:prstDash val="dash"/>
                      <a:round/>
                      <a:headEnd type="none" w="med" len="med"/>
                      <a:tailEnd type="none" w="med" len="med"/>
                    </a:lnT>
                    <a:lnB w="3175" cap="flat" cmpd="sng" algn="ctr">
                      <a:solidFill>
                        <a:srgbClr val="FFFFFF"/>
                      </a:solidFill>
                      <a:prstDash val="solid"/>
                      <a:round/>
                      <a:headEnd type="none" w="med" len="med"/>
                      <a:tailEnd type="none" w="med" len="med"/>
                    </a:lnB>
                  </a:tcPr>
                </a:tc>
                <a:tc rowSpan="2" h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808080"/>
                      </a:solidFill>
                      <a:prstDash val="dash"/>
                      <a:round/>
                      <a:headEnd type="none" w="med" len="med"/>
                      <a:tailEnd type="none" w="med" len="med"/>
                    </a:lnT>
                    <a:lnB w="3175" cap="flat" cmpd="sng" algn="ctr">
                      <a:solidFill>
                        <a:srgbClr val="FFFFFF"/>
                      </a:solidFill>
                      <a:prstDash val="solid"/>
                      <a:round/>
                      <a:headEnd type="none" w="med" len="med"/>
                      <a:tailEnd type="none" w="med" len="med"/>
                    </a:lnB>
                  </a:tcPr>
                </a:tc>
                <a:tc rowSpan="7">
                  <a:txBody>
                    <a:bodyPr/>
                    <a:lstStyle/>
                    <a:p>
                      <a:pPr algn="l" rtl="0" eaLnBrk="0">
                        <a:lnSpc>
                          <a:spcPct val="130000"/>
                        </a:lnSpc>
                      </a:pPr>
                      <a:endParaRPr lang="en-US" altLang="en-US" sz="1000" dirty="0">
                        <a:latin typeface="微软雅黑" panose="020B0503020204020204" charset="-122"/>
                        <a:ea typeface="微软雅黑" panose="020B0503020204020204" charset="-122"/>
                      </a:endParaRPr>
                    </a:p>
                    <a:p>
                      <a:pPr algn="l" rtl="0" eaLnBrk="0">
                        <a:lnSpc>
                          <a:spcPct val="130000"/>
                        </a:lnSpc>
                      </a:pPr>
                      <a:endParaRPr lang="en-US" altLang="en-US" sz="1000" dirty="0">
                        <a:latin typeface="微软雅黑" panose="020B0503020204020204" charset="-122"/>
                        <a:ea typeface="微软雅黑" panose="020B0503020204020204" charset="-122"/>
                      </a:endParaRPr>
                    </a:p>
                    <a:p>
                      <a:pPr algn="l" rtl="0" eaLnBrk="0">
                        <a:lnSpc>
                          <a:spcPct val="9000"/>
                        </a:lnSpc>
                      </a:pPr>
                      <a:endParaRPr lang="en-US" altLang="en-US" sz="100" dirty="0">
                        <a:latin typeface="微软雅黑" panose="020B0503020204020204" charset="-122"/>
                        <a:ea typeface="微软雅黑" panose="020B0503020204020204" charset="-122"/>
                      </a:endParaRPr>
                    </a:p>
                    <a:p>
                      <a:pPr marL="332740" algn="l" rtl="0" eaLnBrk="0">
                        <a:lnSpc>
                          <a:spcPct val="80000"/>
                        </a:lnSpc>
                      </a:pPr>
                      <a:r>
                        <a:rPr sz="1200" b="1" spc="0" dirty="0">
                          <a:solidFill>
                            <a:srgbClr val="002960">
                              <a:alpha val="100000"/>
                            </a:srgbClr>
                          </a:solidFill>
                          <a:latin typeface="微软雅黑" panose="020B0503020204020204" charset="-122"/>
                          <a:ea typeface="微软雅黑" panose="020B0503020204020204" charset="-122"/>
                          <a:cs typeface="Arial" panose="020B0604020202020204"/>
                        </a:rPr>
                        <a:t>4</a:t>
                      </a:r>
                      <a:endParaRPr lang="en-US" altLang="en-US" sz="1200" dirty="0">
                        <a:latin typeface="微软雅黑" panose="020B0503020204020204" charset="-122"/>
                        <a:ea typeface="微软雅黑" panose="020B0503020204020204" charset="-122"/>
                      </a:endParaRPr>
                    </a:p>
                  </a:txBody>
                  <a:tcPr marL="0" marR="0" marT="0" marB="0">
                    <a:lnL w="9525" cap="flat" cmpd="sng" algn="ctr">
                      <a:noFill/>
                      <a:prstDash val="solid"/>
                      <a:round/>
                      <a:headEnd type="none" w="med" len="med"/>
                      <a:tailEnd type="none" w="med" len="med"/>
                    </a:lnL>
                    <a:lnR>
                      <a:noFill/>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rowSpan="7">
                  <a:txBody>
                    <a:bodyPr/>
                    <a:lstStyle/>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000"/>
                        </a:lnSpc>
                      </a:pPr>
                      <a:endParaRPr lang="en-US" altLang="en-US" sz="100" dirty="0">
                        <a:latin typeface="微软雅黑" panose="020B0503020204020204" charset="-122"/>
                        <a:ea typeface="微软雅黑" panose="020B0503020204020204" charset="-122"/>
                      </a:endParaRPr>
                    </a:p>
                    <a:p>
                      <a:pPr marL="243840" algn="l" rtl="0" eaLnBrk="0">
                        <a:lnSpc>
                          <a:spcPct val="80000"/>
                        </a:lnSpc>
                      </a:pPr>
                      <a:r>
                        <a:rPr sz="1200" b="1" spc="0" dirty="0">
                          <a:solidFill>
                            <a:srgbClr val="002960">
                              <a:alpha val="100000"/>
                            </a:srgbClr>
                          </a:solidFill>
                          <a:latin typeface="微软雅黑" panose="020B0503020204020204" charset="-122"/>
                          <a:ea typeface="微软雅黑" panose="020B0503020204020204" charset="-122"/>
                          <a:cs typeface="Arial" panose="020B0604020202020204"/>
                        </a:rPr>
                        <a:t>2</a:t>
                      </a:r>
                      <a:endParaRPr lang="en-US" altLang="en-US" sz="1200" dirty="0">
                        <a:latin typeface="微软雅黑" panose="020B0503020204020204" charset="-122"/>
                        <a:ea typeface="微软雅黑" panose="020B0503020204020204" charset="-122"/>
                      </a:endParaRPr>
                    </a:p>
                  </a:txBody>
                  <a:tcPr marL="0" marR="0" marT="0" marB="0">
                    <a:lnL>
                      <a:noFill/>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rowSpan="2">
                  <a:txBody>
                    <a:bodyPr/>
                    <a:lstStyle/>
                    <a:p>
                      <a:pPr algn="l" rtl="0" eaLnBrk="0">
                        <a:lnSpc>
                          <a:spcPct val="112000"/>
                        </a:lnSpc>
                      </a:pPr>
                      <a:endParaRPr lang="en-US" altLang="en-US" sz="1000" dirty="0">
                        <a:latin typeface="微软雅黑" panose="020B0503020204020204" charset="-122"/>
                        <a:ea typeface="微软雅黑" panose="020B0503020204020204" charset="-122"/>
                      </a:endParaRPr>
                    </a:p>
                    <a:p>
                      <a:pPr algn="l" rtl="0" eaLnBrk="0">
                        <a:lnSpc>
                          <a:spcPct val="8000"/>
                        </a:lnSpc>
                      </a:pPr>
                      <a:endParaRPr lang="en-US" altLang="en-US" sz="100" dirty="0">
                        <a:latin typeface="微软雅黑" panose="020B0503020204020204" charset="-122"/>
                        <a:ea typeface="微软雅黑" panose="020B0503020204020204" charset="-122"/>
                      </a:endParaRPr>
                    </a:p>
                    <a:p>
                      <a:pPr marL="262255" algn="l" rtl="0" eaLnBrk="0">
                        <a:lnSpc>
                          <a:spcPct val="79000"/>
                        </a:lnSpc>
                      </a:pPr>
                      <a:r>
                        <a:rPr sz="1200" b="1" spc="0" dirty="0">
                          <a:solidFill>
                            <a:srgbClr val="002960">
                              <a:alpha val="100000"/>
                            </a:srgbClr>
                          </a:solidFill>
                          <a:latin typeface="微软雅黑" panose="020B0503020204020204" charset="-122"/>
                          <a:ea typeface="微软雅黑" panose="020B0503020204020204" charset="-122"/>
                          <a:cs typeface="Arial" panose="020B0604020202020204"/>
                        </a:rPr>
                        <a:t>5</a:t>
                      </a:r>
                      <a:endParaRPr lang="en-US" altLang="en-US" sz="1200" dirty="0">
                        <a:latin typeface="微软雅黑" panose="020B0503020204020204" charset="-122"/>
                        <a:ea typeface="微软雅黑" panose="020B0503020204020204" charset="-122"/>
                      </a:endParaRPr>
                    </a:p>
                  </a:txBody>
                  <a:tcPr marL="0" marR="0" marT="0" marB="0">
                    <a:lnL w="19050" cap="flat" cmpd="sng" algn="ctr">
                      <a:solidFill>
                        <a:srgbClr val="FFFFFF"/>
                      </a:solidFill>
                      <a:prstDash val="solid"/>
                      <a:round/>
                      <a:headEnd type="none" w="med" len="med"/>
                      <a:tailEnd type="none" w="med" len="med"/>
                    </a:lnL>
                    <a:lnR>
                      <a:noFill/>
                    </a:lnR>
                    <a:lnT w="3175" cap="flat" cmpd="sng" algn="ctr">
                      <a:solidFill>
                        <a:srgbClr val="808080"/>
                      </a:solidFill>
                      <a:prstDash val="dash"/>
                      <a:round/>
                      <a:headEnd type="none" w="med" len="med"/>
                      <a:tailEnd type="none" w="med" len="med"/>
                    </a:lnT>
                    <a:lnB w="3175" cap="flat" cmpd="sng" algn="ctr">
                      <a:solidFill>
                        <a:srgbClr val="FFFFFF"/>
                      </a:solidFill>
                      <a:prstDash val="solid"/>
                      <a:round/>
                      <a:headEnd type="none" w="med" len="med"/>
                      <a:tailEnd type="none" w="med" len="med"/>
                    </a:lnB>
                  </a:tcPr>
                </a:tc>
                <a:tc rowSpan="7">
                  <a:txBody>
                    <a:bodyPr/>
                    <a:lstStyle/>
                    <a:p>
                      <a:pPr algn="l" rtl="0" eaLnBrk="0">
                        <a:lnSpc>
                          <a:spcPct val="123000"/>
                        </a:lnSpc>
                      </a:pPr>
                      <a:endParaRPr lang="en-US" altLang="en-US" sz="1000" dirty="0">
                        <a:latin typeface="微软雅黑" panose="020B0503020204020204" charset="-122"/>
                        <a:ea typeface="微软雅黑" panose="020B0503020204020204" charset="-122"/>
                      </a:endParaRPr>
                    </a:p>
                    <a:p>
                      <a:pPr algn="l" rtl="0" eaLnBrk="0">
                        <a:lnSpc>
                          <a:spcPct val="123000"/>
                        </a:lnSpc>
                      </a:pPr>
                      <a:endParaRPr lang="en-US" altLang="en-US" sz="1000" dirty="0">
                        <a:latin typeface="微软雅黑" panose="020B0503020204020204" charset="-122"/>
                        <a:ea typeface="微软雅黑" panose="020B0503020204020204" charset="-122"/>
                      </a:endParaRPr>
                    </a:p>
                    <a:p>
                      <a:pPr marL="329565" algn="l" rtl="0" eaLnBrk="0">
                        <a:lnSpc>
                          <a:spcPct val="80000"/>
                        </a:lnSpc>
                        <a:spcBef>
                          <a:spcPts val="5"/>
                        </a:spcBef>
                      </a:pPr>
                      <a:r>
                        <a:rPr sz="1200" b="1" spc="0" dirty="0">
                          <a:solidFill>
                            <a:srgbClr val="002960">
                              <a:alpha val="100000"/>
                            </a:srgbClr>
                          </a:solidFill>
                          <a:latin typeface="微软雅黑" panose="020B0503020204020204" charset="-122"/>
                          <a:ea typeface="微软雅黑" panose="020B0503020204020204" charset="-122"/>
                          <a:cs typeface="Arial" panose="020B0604020202020204"/>
                        </a:rPr>
                        <a:t>4</a:t>
                      </a:r>
                      <a:endParaRPr lang="en-US" altLang="en-US" sz="1200" dirty="0">
                        <a:latin typeface="微软雅黑" panose="020B0503020204020204" charset="-122"/>
                        <a:ea typeface="微软雅黑" panose="020B0503020204020204" charset="-122"/>
                      </a:endParaRPr>
                    </a:p>
                  </a:txBody>
                  <a:tcPr marL="0" marR="0" marT="0" marB="0">
                    <a:lnL w="9525" cap="flat" cmpd="sng" algn="ctr">
                      <a:no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rowSpan="2" gridSpan="2">
                  <a:txBody>
                    <a:bodyPr/>
                    <a:lstStyle/>
                    <a:p>
                      <a:pPr algn="l" rtl="0" eaLnBrk="0">
                        <a:lnSpc>
                          <a:spcPct val="112000"/>
                        </a:lnSpc>
                      </a:pPr>
                      <a:endParaRPr lang="en-US" altLang="en-US" sz="1000" dirty="0">
                        <a:latin typeface="微软雅黑" panose="020B0503020204020204" charset="-122"/>
                        <a:ea typeface="微软雅黑" panose="020B0503020204020204" charset="-122"/>
                      </a:endParaRPr>
                    </a:p>
                    <a:p>
                      <a:pPr algn="l" rtl="0" eaLnBrk="0">
                        <a:lnSpc>
                          <a:spcPct val="8000"/>
                        </a:lnSpc>
                      </a:pPr>
                      <a:endParaRPr lang="en-US" altLang="en-US" sz="100" dirty="0">
                        <a:latin typeface="微软雅黑" panose="020B0503020204020204" charset="-122"/>
                        <a:ea typeface="微软雅黑" panose="020B0503020204020204" charset="-122"/>
                      </a:endParaRPr>
                    </a:p>
                    <a:p>
                      <a:pPr marL="153035" algn="l" rtl="0" eaLnBrk="0">
                        <a:lnSpc>
                          <a:spcPct val="79000"/>
                        </a:lnSpc>
                      </a:pPr>
                      <a:r>
                        <a:rPr sz="1200" b="1" spc="0" dirty="0">
                          <a:solidFill>
                            <a:srgbClr val="002960">
                              <a:alpha val="100000"/>
                            </a:srgbClr>
                          </a:solidFill>
                          <a:latin typeface="微软雅黑" panose="020B0503020204020204" charset="-122"/>
                          <a:ea typeface="微软雅黑" panose="020B0503020204020204" charset="-122"/>
                          <a:cs typeface="Arial" panose="020B0604020202020204"/>
                        </a:rPr>
                        <a:t>5</a:t>
                      </a:r>
                      <a:endParaRPr lang="en-US" altLang="en-US" sz="1200" dirty="0">
                        <a:latin typeface="微软雅黑" panose="020B0503020204020204" charset="-122"/>
                        <a:ea typeface="微软雅黑" panose="020B0503020204020204" charset="-122"/>
                      </a:endParaRPr>
                    </a:p>
                  </a:txBody>
                  <a:tcPr marL="0" marR="0" marT="0" marB="0">
                    <a:lnL w="9525"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FFFFFF"/>
                      </a:solidFill>
                      <a:prstDash val="solid"/>
                      <a:round/>
                      <a:headEnd type="none" w="med" len="med"/>
                      <a:tailEnd type="none" w="med" len="med"/>
                    </a:lnB>
                  </a:tcPr>
                </a:tc>
                <a:tc rowSpan="2" hMerge="1">
                  <a:tcPr marL="0" marR="0" marT="0" marB="0">
                    <a:lnL>
                      <a:noFill/>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FFFFFF"/>
                      </a:solidFill>
                      <a:prstDash val="solid"/>
                      <a:round/>
                      <a:headEnd type="none" w="med" len="med"/>
                      <a:tailEnd type="none" w="med" len="med"/>
                    </a:lnB>
                  </a:tcPr>
                </a:tc>
                <a:tc>
                  <a:txBody>
                    <a:bodyPr/>
                    <a:lstStyle/>
                    <a:p>
                      <a:pPr algn="l" rtl="0" eaLnBrk="0">
                        <a:lnSpc>
                          <a:spcPts val="1175"/>
                        </a:lnSpc>
                      </a:pPr>
                      <a:endParaRPr lang="en-US" altLang="en-US" sz="900" dirty="0">
                        <a:ea typeface="微软雅黑" panose="020B0503020204020204" charset="-122"/>
                      </a:endParaRPr>
                    </a:p>
                  </a:txBody>
                  <a:tcPr marL="0" marR="0" marT="0" marB="0">
                    <a:lnL w="19050"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FFFFFF"/>
                      </a:solidFill>
                      <a:prstDash val="solid"/>
                      <a:round/>
                      <a:headEnd type="none" w="med" len="med"/>
                      <a:tailEnd type="none" w="med" len="med"/>
                    </a:lnB>
                  </a:tcPr>
                </a:tc>
                <a:tc rowSpan="7">
                  <a:txBody>
                    <a:bodyPr/>
                    <a:lstStyle/>
                    <a:p>
                      <a:pPr algn="l" rtl="0" eaLnBrk="0">
                        <a:lnSpc>
                          <a:spcPct val="120000"/>
                        </a:lnSpc>
                      </a:pPr>
                      <a:endParaRPr lang="en-US" altLang="en-US" sz="1000" dirty="0">
                        <a:latin typeface="微软雅黑" panose="020B0503020204020204" charset="-122"/>
                        <a:ea typeface="微软雅黑" panose="020B0503020204020204" charset="-122"/>
                      </a:endParaRPr>
                    </a:p>
                    <a:p>
                      <a:pPr algn="l" rtl="0" eaLnBrk="0">
                        <a:lnSpc>
                          <a:spcPct val="121000"/>
                        </a:lnSpc>
                      </a:pPr>
                      <a:endParaRPr lang="en-US" altLang="en-US" sz="1000" dirty="0">
                        <a:latin typeface="微软雅黑" panose="020B0503020204020204" charset="-122"/>
                        <a:ea typeface="微软雅黑" panose="020B0503020204020204" charset="-122"/>
                      </a:endParaRPr>
                    </a:p>
                    <a:p>
                      <a:pPr marL="330835" algn="l" rtl="0" eaLnBrk="0">
                        <a:lnSpc>
                          <a:spcPct val="80000"/>
                        </a:lnSpc>
                        <a:spcBef>
                          <a:spcPts val="5"/>
                        </a:spcBef>
                      </a:pPr>
                      <a:r>
                        <a:rPr sz="1200" b="1" spc="0" dirty="0">
                          <a:solidFill>
                            <a:srgbClr val="002960">
                              <a:alpha val="100000"/>
                            </a:srgbClr>
                          </a:solidFill>
                          <a:latin typeface="微软雅黑" panose="020B0503020204020204" charset="-122"/>
                          <a:ea typeface="微软雅黑" panose="020B0503020204020204" charset="-122"/>
                          <a:cs typeface="Arial" panose="020B0604020202020204"/>
                        </a:rPr>
                        <a:t>4</a:t>
                      </a:r>
                      <a:endParaRPr lang="en-US" altLang="en-US" sz="1200" dirty="0">
                        <a:latin typeface="微软雅黑" panose="020B0503020204020204" charset="-122"/>
                        <a:ea typeface="微软雅黑" panose="020B0503020204020204" charset="-122"/>
                      </a:endParaRPr>
                    </a:p>
                  </a:txBody>
                  <a:tcPr marL="0" marR="0" marT="0" marB="0">
                    <a:lnL w="9525" cap="flat" cmpd="sng" algn="ctr">
                      <a:solidFill>
                        <a:srgbClr val="FFFFFF"/>
                      </a:solidFill>
                      <a:prstDash val="solid"/>
                      <a:round/>
                      <a:headEnd type="none" w="med" len="med"/>
                      <a:tailEnd type="none" w="med" len="med"/>
                    </a:lnL>
                    <a:lnR>
                      <a:noFill/>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rowSpan="7">
                  <a:txBody>
                    <a:bodyPr/>
                    <a:lstStyle/>
                    <a:p>
                      <a:pPr algn="l" rtl="0" eaLnBrk="0">
                        <a:lnSpc>
                          <a:spcPct val="120000"/>
                        </a:lnSpc>
                      </a:pPr>
                      <a:endParaRPr lang="en-US" altLang="en-US" sz="1000" dirty="0">
                        <a:latin typeface="微软雅黑" panose="020B0503020204020204" charset="-122"/>
                        <a:ea typeface="微软雅黑" panose="020B0503020204020204" charset="-122"/>
                      </a:endParaRPr>
                    </a:p>
                    <a:p>
                      <a:pPr algn="l" rtl="0" eaLnBrk="0">
                        <a:lnSpc>
                          <a:spcPct val="121000"/>
                        </a:lnSpc>
                      </a:pPr>
                      <a:endParaRPr lang="en-US" altLang="en-US" sz="1000" dirty="0">
                        <a:latin typeface="微软雅黑" panose="020B0503020204020204" charset="-122"/>
                        <a:ea typeface="微软雅黑" panose="020B0503020204020204" charset="-122"/>
                      </a:endParaRPr>
                    </a:p>
                    <a:p>
                      <a:pPr marL="234315" algn="l" rtl="0" eaLnBrk="0">
                        <a:lnSpc>
                          <a:spcPct val="80000"/>
                        </a:lnSpc>
                        <a:spcBef>
                          <a:spcPts val="5"/>
                        </a:spcBef>
                      </a:pPr>
                      <a:r>
                        <a:rPr sz="1200" b="1" spc="0" dirty="0">
                          <a:solidFill>
                            <a:srgbClr val="002960">
                              <a:alpha val="100000"/>
                            </a:srgbClr>
                          </a:solidFill>
                          <a:latin typeface="微软雅黑" panose="020B0503020204020204" charset="-122"/>
                          <a:ea typeface="微软雅黑" panose="020B0503020204020204" charset="-122"/>
                          <a:cs typeface="Arial" panose="020B0604020202020204"/>
                        </a:rPr>
                        <a:t>4</a:t>
                      </a:r>
                      <a:endParaRPr lang="en-US" altLang="en-US" sz="1200" dirty="0">
                        <a:latin typeface="微软雅黑" panose="020B0503020204020204" charset="-122"/>
                        <a:ea typeface="微软雅黑" panose="020B0503020204020204" charset="-122"/>
                      </a:endParaRPr>
                    </a:p>
                  </a:txBody>
                  <a:tcPr marL="0" marR="0" marT="0" marB="0">
                    <a:lnL>
                      <a:noFill/>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r>
              <a:tr h="205740">
                <a:tc vMerge="1">
                  <a:tcPr marL="0" marR="0" marT="0" marB="0">
                    <a:lnL w="19050"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FFFFFF"/>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FFFFFF"/>
                      </a:solidFill>
                      <a:prstDash val="solid"/>
                      <a:round/>
                      <a:headEnd type="none" w="med" len="med"/>
                      <a:tailEnd type="none" w="med" len="med"/>
                    </a:lnB>
                  </a:tcPr>
                </a:tc>
                <a:tc vMerge="1" gridSpan="3">
                  <a:tcPr marL="0" marR="0" marT="0" marB="0">
                    <a:lnL w="9525" cap="flat" cmpd="sng" algn="ctr">
                      <a:solidFill>
                        <a:srgbClr val="FFFFFF"/>
                      </a:solidFill>
                      <a:prstDash val="solid"/>
                      <a:round/>
                      <a:headEnd type="none" w="med" len="med"/>
                      <a:tailEnd type="none" w="med" len="med"/>
                    </a:lnL>
                    <a:lnR>
                      <a:noFill/>
                    </a:lnR>
                    <a:lnT w="3175" cap="flat" cmpd="sng" algn="ctr">
                      <a:solidFill>
                        <a:srgbClr val="808080"/>
                      </a:solidFill>
                      <a:prstDash val="dash"/>
                      <a:round/>
                      <a:headEnd type="none" w="med" len="med"/>
                      <a:tailEnd type="none" w="med" len="med"/>
                    </a:lnT>
                    <a:lnB w="3175" cap="flat" cmpd="sng" algn="ctr">
                      <a:solidFill>
                        <a:srgbClr val="FFFFFF"/>
                      </a:solidFill>
                      <a:prstDash val="solid"/>
                      <a:round/>
                      <a:headEnd type="none" w="med" len="med"/>
                      <a:tailEnd type="none" w="med" len="med"/>
                    </a:lnB>
                  </a:tcPr>
                </a:tc>
                <a:tc vMerge="1" h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808080"/>
                      </a:solidFill>
                      <a:prstDash val="dash"/>
                      <a:round/>
                      <a:headEnd type="none" w="med" len="med"/>
                      <a:tailEnd type="none" w="med" len="med"/>
                    </a:lnT>
                    <a:lnB w="3175" cap="flat" cmpd="sng" algn="ctr">
                      <a:solidFill>
                        <a:srgbClr val="FFFFFF"/>
                      </a:solidFill>
                      <a:prstDash val="solid"/>
                      <a:round/>
                      <a:headEnd type="none" w="med" len="med"/>
                      <a:tailEnd type="none" w="med" len="med"/>
                    </a:lnB>
                  </a:tcPr>
                </a:tc>
                <a:tc vMerge="1" h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808080"/>
                      </a:solidFill>
                      <a:prstDash val="dash"/>
                      <a:round/>
                      <a:headEnd type="none" w="med" len="med"/>
                      <a:tailEnd type="none" w="med" len="med"/>
                    </a:lnT>
                    <a:lnB w="3175" cap="flat" cmpd="sng" algn="ctr">
                      <a:solidFill>
                        <a:srgbClr val="FFFFFF"/>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a:noFill/>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19050" cap="flat" cmpd="sng" algn="ctr">
                      <a:solidFill>
                        <a:srgbClr val="FFFFFF"/>
                      </a:solidFill>
                      <a:prstDash val="solid"/>
                      <a:round/>
                      <a:headEnd type="none" w="med" len="med"/>
                      <a:tailEnd type="none" w="med" len="med"/>
                    </a:lnL>
                    <a:lnR>
                      <a:noFill/>
                    </a:lnR>
                    <a:lnT w="3175" cap="flat" cmpd="sng" algn="ctr">
                      <a:solidFill>
                        <a:srgbClr val="808080"/>
                      </a:solidFill>
                      <a:prstDash val="dash"/>
                      <a:round/>
                      <a:headEnd type="none" w="med" len="med"/>
                      <a:tailEnd type="none" w="med" len="med"/>
                    </a:lnT>
                    <a:lnB w="3175" cap="flat" cmpd="sng" algn="ctr">
                      <a:solidFill>
                        <a:srgbClr val="FFFFFF"/>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vMerge="1" gridSpan="2">
                  <a:tcPr marL="0" marR="0" marT="0" marB="0">
                    <a:lnL>
                      <a:noFill/>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FFFFFF"/>
                      </a:solidFill>
                      <a:prstDash val="solid"/>
                      <a:round/>
                      <a:headEnd type="none" w="med" len="med"/>
                      <a:tailEnd type="none" w="med" len="med"/>
                    </a:lnB>
                  </a:tcPr>
                </a:tc>
                <a:tc vMerge="1" hMerge="1">
                  <a:tcPr marL="0" marR="0" marT="0" marB="0">
                    <a:lnL>
                      <a:noFill/>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FFFFFF"/>
                      </a:solidFill>
                      <a:prstDash val="solid"/>
                      <a:round/>
                      <a:headEnd type="none" w="med" len="med"/>
                      <a:tailEnd type="none" w="med" len="med"/>
                    </a:lnB>
                  </a:tcPr>
                </a:tc>
                <a:tc rowSpan="6">
                  <a:txBody>
                    <a:bodyPr/>
                    <a:lstStyle/>
                    <a:p>
                      <a:pPr algn="l" rtl="0" eaLnBrk="0">
                        <a:lnSpc>
                          <a:spcPct val="100000"/>
                        </a:lnSpc>
                      </a:pPr>
                      <a:endParaRPr lang="en-US" altLang="en-US" sz="1000" dirty="0">
                        <a:ea typeface="微软雅黑" panose="020B0503020204020204" charset="-122"/>
                      </a:endParaRPr>
                    </a:p>
                  </a:txBody>
                  <a:tcPr marL="0" marR="0" marT="0" marB="0">
                    <a:lnL w="19050"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solidFill>
                      <a:srgbClr val="CCCCCC"/>
                    </a:solidFill>
                  </a:tcPr>
                </a:tc>
                <a:tc v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a:noFill/>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r>
              <a:tr h="205739">
                <a:tc vMerge="1">
                  <a:tcPr marL="0" marR="0" marT="0" marB="0">
                    <a:lnL w="19050"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rowSpan="2">
                  <a:txBody>
                    <a:bodyPr/>
                    <a:lstStyle/>
                    <a:p>
                      <a:pPr algn="l" rtl="0" eaLnBrk="0">
                        <a:lnSpc>
                          <a:spcPct val="100000"/>
                        </a:lnSpc>
                      </a:pPr>
                      <a:endParaRPr lang="en-US" altLang="en-US" sz="1000" dirty="0">
                        <a:ea typeface="微软雅黑" panose="020B0503020204020204" charset="-122"/>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CCCCCC"/>
                    </a:solidFill>
                  </a:tcPr>
                </a:tc>
                <a:tc v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FFFFFF"/>
                      </a:solidFill>
                      <a:prstDash val="solid"/>
                      <a:round/>
                      <a:headEnd type="none" w="med" len="med"/>
                      <a:tailEnd type="none" w="med" len="med"/>
                    </a:lnB>
                  </a:tcPr>
                </a:tc>
                <a:tc rowSpan="5">
                  <a:txBody>
                    <a:bodyPr/>
                    <a:lstStyle/>
                    <a:p>
                      <a:pPr algn="l" rtl="0" eaLnBrk="0">
                        <a:lnSpc>
                          <a:spcPct val="100000"/>
                        </a:lnSpc>
                      </a:pPr>
                      <a:endParaRPr lang="en-US" altLang="en-US" sz="1000" dirty="0">
                        <a:ea typeface="微软雅黑" panose="020B0503020204020204" charset="-122"/>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rowSpan="2" gridSpan="2">
                  <a:txBody>
                    <a:bodyPr/>
                    <a:lstStyle/>
                    <a:p>
                      <a:pPr algn="l" rtl="0" eaLnBrk="0">
                        <a:lnSpc>
                          <a:spcPct val="100000"/>
                        </a:lnSpc>
                      </a:pPr>
                      <a:endParaRPr lang="en-US" altLang="en-US" sz="1000" dirty="0">
                        <a:ea typeface="微软雅黑" panose="020B0503020204020204" charset="-122"/>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CCCCCC"/>
                    </a:solidFill>
                  </a:tcPr>
                </a:tc>
                <a:tc rowSpan="2" h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CCCCCC"/>
                    </a:solidFill>
                  </a:tcPr>
                </a:tc>
                <a:tc v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a:noFill/>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a:txBody>
                    <a:bodyPr/>
                    <a:lstStyle/>
                    <a:p>
                      <a:pPr algn="l" rtl="0" eaLnBrk="0">
                        <a:lnSpc>
                          <a:spcPct val="100000"/>
                        </a:lnSpc>
                      </a:pPr>
                      <a:endParaRPr lang="en-US" altLang="en-US" sz="1000" dirty="0">
                        <a:ea typeface="微软雅黑" panose="020B0503020204020204" charset="-122"/>
                      </a:endParaRPr>
                    </a:p>
                  </a:txBody>
                  <a:tcPr marL="0" marR="0" marT="0" marB="0">
                    <a:lnL w="19050"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0065BD"/>
                    </a:solidFill>
                  </a:tcPr>
                </a:tc>
                <a:tc v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gridSpan="2">
                  <a:txBody>
                    <a:bodyPr/>
                    <a:lstStyle/>
                    <a:p>
                      <a:pPr algn="l" rtl="0" eaLnBrk="0">
                        <a:lnSpc>
                          <a:spcPct val="100000"/>
                        </a:lnSpc>
                      </a:pPr>
                      <a:endParaRPr lang="en-US" altLang="en-US" sz="1000" dirty="0">
                        <a:ea typeface="微软雅黑" panose="020B0503020204020204" charset="-122"/>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h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vMerge="1">
                  <a:tcPr marL="0" marR="0" marT="0" marB="0">
                    <a:lnL w="19050"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a:noFill/>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r>
              <a:tr h="207009">
                <a:tc vMerge="1">
                  <a:tcPr marL="0" marR="0" marT="0" marB="0">
                    <a:lnL w="19050"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rowSpan="4">
                  <a:txBody>
                    <a:bodyPr/>
                    <a:lstStyle/>
                    <a:p>
                      <a:pPr algn="l" rtl="0" eaLnBrk="0">
                        <a:lnSpc>
                          <a:spcPct val="100000"/>
                        </a:lnSpc>
                      </a:pPr>
                      <a:endParaRPr lang="en-US" altLang="en-US" sz="1000" dirty="0">
                        <a:ea typeface="微软雅黑" panose="020B0503020204020204" charset="-122"/>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solidFill>
                      <a:srgbClr val="CCCCCC"/>
                    </a:solidFill>
                  </a:tcPr>
                </a:tc>
                <a:tc v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a:noFill/>
                    </a:lnT>
                    <a:lnB w="3175" cap="flat" cmpd="sng" algn="ctr">
                      <a:solidFill>
                        <a:srgbClr val="808080"/>
                      </a:solidFill>
                      <a:prstDash val="solid"/>
                      <a:round/>
                      <a:headEnd type="none" w="med" len="med"/>
                      <a:tailEnd type="none" w="med" len="med"/>
                    </a:lnB>
                  </a:tcPr>
                </a:tc>
                <a:tc vMerge="1" gridSpan="2">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vMerge="1" h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a:noFill/>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rowSpan="4">
                  <a:txBody>
                    <a:bodyPr/>
                    <a:lstStyle/>
                    <a:p>
                      <a:pPr algn="l" rtl="0" eaLnBrk="0">
                        <a:lnSpc>
                          <a:spcPct val="100000"/>
                        </a:lnSpc>
                      </a:pPr>
                      <a:endParaRPr lang="en-US" altLang="en-US" sz="1000" dirty="0">
                        <a:ea typeface="微软雅黑" panose="020B0503020204020204" charset="-122"/>
                      </a:endParaRPr>
                    </a:p>
                  </a:txBody>
                  <a:tcPr marL="0" marR="0" marT="0" marB="0">
                    <a:lnL w="19050"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solidFill>
                      <a:srgbClr val="CCCCCC"/>
                    </a:solidFill>
                  </a:tcPr>
                </a:tc>
                <a:tc v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gridSpan="2">
                  <a:txBody>
                    <a:bodyPr/>
                    <a:lstStyle/>
                    <a:p>
                      <a:pPr algn="l" rtl="0" eaLnBrk="0">
                        <a:lnSpc>
                          <a:spcPct val="100000"/>
                        </a:lnSpc>
                      </a:pPr>
                      <a:endParaRPr lang="en-US" altLang="en-US" sz="1000" dirty="0">
                        <a:ea typeface="微软雅黑" panose="020B0503020204020204" charset="-122"/>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h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vMerge="1">
                  <a:tcPr marL="0" marR="0" marT="0" marB="0">
                    <a:lnL w="19050"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a:noFill/>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r>
              <a:tr h="205740">
                <a:tc vMerge="1">
                  <a:tcPr marL="0" marR="0" marT="0" marB="0">
                    <a:lnL w="19050"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rowSpan="3">
                  <a:txBody>
                    <a:bodyPr/>
                    <a:lstStyle/>
                    <a:p>
                      <a:pPr algn="l" rtl="0" eaLnBrk="0">
                        <a:lnSpc>
                          <a:spcPct val="100000"/>
                        </a:lnSpc>
                      </a:pPr>
                      <a:endParaRPr lang="en-US" altLang="en-US" sz="1000" dirty="0">
                        <a:ea typeface="微软雅黑" panose="020B0503020204020204" charset="-122"/>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solidFill>
                      <a:srgbClr val="CCCCCC"/>
                    </a:solidFill>
                  </a:tcPr>
                </a:tc>
                <a:tc v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a:noFill/>
                    </a:lnT>
                    <a:lnB w="3175" cap="flat" cmpd="sng" algn="ctr">
                      <a:solidFill>
                        <a:srgbClr val="808080"/>
                      </a:solidFill>
                      <a:prstDash val="solid"/>
                      <a:round/>
                      <a:headEnd type="none" w="med" len="med"/>
                      <a:tailEnd type="none" w="med" len="med"/>
                    </a:lnB>
                  </a:tcPr>
                </a:tc>
                <a:tc gridSpan="2">
                  <a:txBody>
                    <a:bodyPr/>
                    <a:lstStyle/>
                    <a:p>
                      <a:pPr algn="l" rtl="0" eaLnBrk="0">
                        <a:lnSpc>
                          <a:spcPct val="100000"/>
                        </a:lnSpc>
                      </a:pPr>
                      <a:endParaRPr lang="en-US" altLang="en-US" sz="1000" dirty="0">
                        <a:ea typeface="微软雅黑" panose="020B0503020204020204" charset="-122"/>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CCCCCC"/>
                    </a:solidFill>
                  </a:tcPr>
                </a:tc>
                <a:tc h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CCCCCC"/>
                    </a:solidFill>
                  </a:tcPr>
                </a:tc>
                <a:tc v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a:noFill/>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19050"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rowSpan="2" gridSpan="2">
                  <a:txBody>
                    <a:bodyPr/>
                    <a:lstStyle/>
                    <a:p>
                      <a:pPr algn="l" rtl="0" eaLnBrk="0">
                        <a:lnSpc>
                          <a:spcPct val="100000"/>
                        </a:lnSpc>
                      </a:pPr>
                      <a:endParaRPr lang="en-US" altLang="en-US" sz="1000" dirty="0">
                        <a:ea typeface="微软雅黑" panose="020B0503020204020204" charset="-122"/>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rowSpan="2" h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vMerge="1">
                  <a:tcPr marL="0" marR="0" marT="0" marB="0">
                    <a:lnL w="19050"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a:noFill/>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r>
              <a:tr h="205739">
                <a:tc vMerge="1">
                  <a:tcPr marL="0" marR="0" marT="0" marB="0">
                    <a:lnL w="19050"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a:noFill/>
                    </a:lnT>
                    <a:lnB w="3175" cap="flat" cmpd="sng" algn="ctr">
                      <a:solidFill>
                        <a:srgbClr val="808080"/>
                      </a:solidFill>
                      <a:prstDash val="solid"/>
                      <a:round/>
                      <a:headEnd type="none" w="med" len="med"/>
                      <a:tailEnd type="none" w="med" len="med"/>
                    </a:lnB>
                  </a:tcPr>
                </a:tc>
                <a:tc rowSpan="2" gridSpan="2">
                  <a:txBody>
                    <a:bodyPr/>
                    <a:lstStyle/>
                    <a:p>
                      <a:pPr algn="l" rtl="0" eaLnBrk="0">
                        <a:lnSpc>
                          <a:spcPct val="100000"/>
                        </a:lnSpc>
                      </a:pPr>
                      <a:endParaRPr lang="en-US" altLang="en-US" sz="1000" dirty="0">
                        <a:ea typeface="微软雅黑" panose="020B0503020204020204" charset="-122"/>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solidFill>
                      <a:srgbClr val="CCCCCC"/>
                    </a:solidFill>
                  </a:tcPr>
                </a:tc>
                <a:tc rowSpan="2" h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solidFill>
                      <a:srgbClr val="CCCCCC"/>
                    </a:solidFill>
                  </a:tcPr>
                </a:tc>
                <a:tc v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a:noFill/>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19050"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vMerge="1" gridSpan="2">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vMerge="1" h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vMerge="1">
                  <a:tcPr marL="0" marR="0" marT="0" marB="0">
                    <a:lnL w="19050"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a:noFill/>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r>
              <a:tr h="206375">
                <a:tc vMerge="1">
                  <a:tcPr marL="0" marR="0" marT="0" marB="0">
                    <a:lnL w="19050"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a:noFill/>
                    </a:lnT>
                    <a:lnB w="3175" cap="flat" cmpd="sng" algn="ctr">
                      <a:solidFill>
                        <a:srgbClr val="808080"/>
                      </a:solidFill>
                      <a:prstDash val="solid"/>
                      <a:round/>
                      <a:headEnd type="none" w="med" len="med"/>
                      <a:tailEnd type="none" w="med" len="med"/>
                    </a:lnB>
                  </a:tcPr>
                </a:tc>
                <a:tc vMerge="1" gridSpan="2">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vMerge="1" h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a:noFill/>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19050"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gridSpan="2">
                  <a:txBody>
                    <a:bodyPr/>
                    <a:lstStyle/>
                    <a:p>
                      <a:pPr algn="l" rtl="0" eaLnBrk="0">
                        <a:lnSpc>
                          <a:spcPct val="100000"/>
                        </a:lnSpc>
                      </a:pPr>
                      <a:endParaRPr lang="en-US" altLang="en-US" sz="1000" dirty="0">
                        <a:ea typeface="微软雅黑" panose="020B0503020204020204" charset="-122"/>
                      </a:endParaRPr>
                    </a:p>
                  </a:txBody>
                  <a:tcPr marL="0" marR="0" marT="0" marB="0">
                    <a:lnL w="9525"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hMerge="1">
                  <a:tcPr marL="0" marR="0" marT="0" marB="0">
                    <a:lnL w="9525"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19050"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w="9525" cap="flat" cmpd="sng" algn="ctr">
                      <a:solidFill>
                        <a:srgbClr val="FFFFFF"/>
                      </a:solidFill>
                      <a:prstDash val="solid"/>
                      <a:round/>
                      <a:headEnd type="none" w="med" len="med"/>
                      <a:tailEnd type="none" w="med" len="med"/>
                    </a:lnL>
                    <a:lnR>
                      <a:noFill/>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c vMerge="1">
                  <a:tcPr marL="0" marR="0" marT="0" marB="0">
                    <a:lnL>
                      <a:noFill/>
                    </a:lnL>
                    <a:lnR w="19050" cap="flat" cmpd="sng" algn="ctr">
                      <a:solidFill>
                        <a:srgbClr val="FFFF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solid"/>
                      <a:round/>
                      <a:headEnd type="none" w="med" len="med"/>
                      <a:tailEnd type="none" w="med" len="med"/>
                    </a:lnB>
                  </a:tcPr>
                </a:tc>
              </a:tr>
              <a:tr h="817880">
                <a:tc>
                  <a:txBody>
                    <a:bodyPr/>
                    <a:lstStyle/>
                    <a:p>
                      <a:pPr algn="l" rtl="0" eaLnBrk="0">
                        <a:lnSpc>
                          <a:spcPct val="199000"/>
                        </a:lnSpc>
                      </a:pPr>
                      <a:endParaRPr lang="en-US" altLang="en-US" sz="1000" dirty="0">
                        <a:latin typeface="微软雅黑" panose="020B0503020204020204" charset="-122"/>
                        <a:ea typeface="微软雅黑" panose="020B0503020204020204" charset="-122"/>
                      </a:endParaRPr>
                    </a:p>
                    <a:p>
                      <a:pPr algn="l" rtl="0" eaLnBrk="0">
                        <a:lnSpc>
                          <a:spcPct val="8000"/>
                        </a:lnSpc>
                      </a:pPr>
                      <a:endParaRPr lang="en-US" altLang="en-US" sz="100" dirty="0">
                        <a:latin typeface="微软雅黑" panose="020B0503020204020204" charset="-122"/>
                        <a:ea typeface="微软雅黑" panose="020B0503020204020204" charset="-122"/>
                      </a:endParaRPr>
                    </a:p>
                    <a:p>
                      <a:pPr marL="155575" algn="l" rtl="0" eaLnBrk="0">
                        <a:lnSpc>
                          <a:spcPct val="80000"/>
                        </a:lnSpc>
                      </a:pPr>
                      <a:r>
                        <a:rPr sz="1200" spc="0" dirty="0">
                          <a:solidFill>
                            <a:srgbClr val="000000">
                              <a:alpha val="100000"/>
                            </a:srgbClr>
                          </a:solidFill>
                          <a:latin typeface="微软雅黑" panose="020B0503020204020204" charset="-122"/>
                          <a:ea typeface="微软雅黑" panose="020B0503020204020204" charset="-122"/>
                          <a:cs typeface="Arial" panose="020B0604020202020204"/>
                        </a:rPr>
                        <a:t>KAM</a:t>
                      </a:r>
                      <a:r>
                        <a:rPr sz="1200" spc="30" dirty="0">
                          <a:solidFill>
                            <a:srgbClr val="000000">
                              <a:alpha val="100000"/>
                            </a:srgbClr>
                          </a:solidFill>
                          <a:latin typeface="微软雅黑" panose="020B0503020204020204" charset="-122"/>
                          <a:ea typeface="微软雅黑" panose="020B0503020204020204" charset="-122"/>
                          <a:cs typeface="Arial" panose="020B0604020202020204"/>
                        </a:rPr>
                        <a:t> </a:t>
                      </a:r>
                      <a:r>
                        <a:rPr sz="1200" spc="10" dirty="0">
                          <a:solidFill>
                            <a:srgbClr val="000000">
                              <a:alpha val="100000"/>
                            </a:srgbClr>
                          </a:solidFill>
                          <a:latin typeface="微软雅黑" panose="020B0503020204020204" charset="-122"/>
                          <a:ea typeface="微软雅黑" panose="020B0503020204020204" charset="-122"/>
                          <a:cs typeface="Arial" panose="020B0604020202020204"/>
                        </a:rPr>
                        <a:t>1</a:t>
                      </a:r>
                      <a:endParaRPr lang="en-US" altLang="en-US" sz="1200" dirty="0">
                        <a:latin typeface="微软雅黑" panose="020B0503020204020204" charset="-122"/>
                        <a:ea typeface="微软雅黑" panose="020B0503020204020204" charset="-122"/>
                      </a:endParaRPr>
                    </a:p>
                  </a:txBody>
                  <a:tcPr marL="0" marR="0" marT="0" marB="0" vert="vert270">
                    <a:lnL w="19050" cap="flat" cmpd="sng" algn="ctr">
                      <a:solidFill>
                        <a:srgbClr val="FFFFFF"/>
                      </a:solidFill>
                      <a:prstDash val="solid"/>
                      <a:round/>
                      <a:headEnd type="none" w="med" len="med"/>
                      <a:tailEnd type="none" w="med" len="med"/>
                    </a:lnL>
                    <a:lnR>
                      <a:noFill/>
                    </a:lnR>
                    <a:lnT w="3175" cap="flat" cmpd="sng" algn="ctr">
                      <a:solidFill>
                        <a:srgbClr val="808080"/>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gridSpan="2">
                  <a:txBody>
                    <a:bodyPr/>
                    <a:lstStyle/>
                    <a:p>
                      <a:pPr algn="l" rtl="0" eaLnBrk="0">
                        <a:lnSpc>
                          <a:spcPct val="110000"/>
                        </a:lnSpc>
                      </a:pPr>
                      <a:endParaRPr lang="en-US" altLang="en-US" sz="1000" dirty="0">
                        <a:latin typeface="微软雅黑" panose="020B0503020204020204" charset="-122"/>
                        <a:ea typeface="微软雅黑" panose="020B0503020204020204" charset="-122"/>
                      </a:endParaRPr>
                    </a:p>
                    <a:p>
                      <a:pPr algn="l" rtl="0" eaLnBrk="0">
                        <a:lnSpc>
                          <a:spcPct val="111000"/>
                        </a:lnSpc>
                      </a:pPr>
                      <a:endParaRPr lang="en-US" altLang="en-US" sz="1000" dirty="0">
                        <a:latin typeface="微软雅黑" panose="020B0503020204020204" charset="-122"/>
                        <a:ea typeface="微软雅黑" panose="020B0503020204020204" charset="-122"/>
                      </a:endParaRPr>
                    </a:p>
                    <a:p>
                      <a:pPr marL="155575" algn="l" rtl="0" eaLnBrk="0">
                        <a:lnSpc>
                          <a:spcPct val="80000"/>
                        </a:lnSpc>
                        <a:spcBef>
                          <a:spcPts val="5"/>
                        </a:spcBef>
                      </a:pPr>
                      <a:r>
                        <a:rPr sz="1200" spc="-20" dirty="0">
                          <a:solidFill>
                            <a:srgbClr val="000000">
                              <a:alpha val="100000"/>
                            </a:srgbClr>
                          </a:solidFill>
                          <a:latin typeface="微软雅黑" panose="020B0503020204020204" charset="-122"/>
                          <a:ea typeface="微软雅黑" panose="020B0503020204020204" charset="-122"/>
                          <a:cs typeface="Arial" panose="020B0604020202020204"/>
                        </a:rPr>
                        <a:t>K</a:t>
                      </a:r>
                      <a:r>
                        <a:rPr sz="1200" spc="0" dirty="0">
                          <a:solidFill>
                            <a:srgbClr val="000000">
                              <a:alpha val="100000"/>
                            </a:srgbClr>
                          </a:solidFill>
                          <a:latin typeface="微软雅黑" panose="020B0503020204020204" charset="-122"/>
                          <a:ea typeface="微软雅黑" panose="020B0503020204020204" charset="-122"/>
                          <a:cs typeface="Arial" panose="020B0604020202020204"/>
                        </a:rPr>
                        <a:t>AM</a:t>
                      </a:r>
                      <a:r>
                        <a:rPr sz="1200" spc="-20" dirty="0">
                          <a:solidFill>
                            <a:srgbClr val="000000">
                              <a:alpha val="100000"/>
                            </a:srgbClr>
                          </a:solidFill>
                          <a:latin typeface="微软雅黑" panose="020B0503020204020204" charset="-122"/>
                          <a:ea typeface="微软雅黑" panose="020B0503020204020204" charset="-122"/>
                          <a:cs typeface="Arial" panose="020B0604020202020204"/>
                        </a:rPr>
                        <a:t> 2</a:t>
                      </a:r>
                      <a:endParaRPr lang="en-US" altLang="en-US" sz="1200" dirty="0">
                        <a:latin typeface="微软雅黑" panose="020B0503020204020204" charset="-122"/>
                        <a:ea typeface="微软雅黑" panose="020B0503020204020204" charset="-122"/>
                      </a:endParaRPr>
                    </a:p>
                  </a:txBody>
                  <a:tcPr marL="0" marR="0" marT="0" marB="0" vert="vert270">
                    <a:lnL>
                      <a:noFill/>
                    </a:lnL>
                    <a:lnR>
                      <a:noFill/>
                    </a:lnR>
                    <a:lnT w="3175" cap="flat" cmpd="sng" algn="ctr">
                      <a:solidFill>
                        <a:srgbClr val="808080"/>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hMerge="1">
                  <a:tcPr marL="0" marR="0" marT="0" marB="0" vert="vert270">
                    <a:lnL>
                      <a:noFill/>
                    </a:lnL>
                    <a:lnR>
                      <a:noFill/>
                    </a:lnR>
                    <a:lnT w="3175" cap="flat" cmpd="sng" algn="ctr">
                      <a:solidFill>
                        <a:srgbClr val="808080"/>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gridSpan="2">
                  <a:txBody>
                    <a:bodyPr/>
                    <a:lstStyle/>
                    <a:p>
                      <a:pPr algn="l" rtl="0" eaLnBrk="0">
                        <a:lnSpc>
                          <a:spcPct val="111000"/>
                        </a:lnSpc>
                      </a:pPr>
                      <a:endParaRPr lang="en-US" altLang="en-US" sz="1000" dirty="0">
                        <a:latin typeface="微软雅黑" panose="020B0503020204020204" charset="-122"/>
                        <a:ea typeface="微软雅黑" panose="020B0503020204020204" charset="-122"/>
                      </a:endParaRPr>
                    </a:p>
                    <a:p>
                      <a:pPr algn="l" rtl="0" eaLnBrk="0">
                        <a:lnSpc>
                          <a:spcPct val="111000"/>
                        </a:lnSpc>
                      </a:pPr>
                      <a:endParaRPr lang="en-US" altLang="en-US" sz="1000" dirty="0">
                        <a:latin typeface="微软雅黑" panose="020B0503020204020204" charset="-122"/>
                        <a:ea typeface="微软雅黑" panose="020B0503020204020204" charset="-122"/>
                      </a:endParaRPr>
                    </a:p>
                    <a:p>
                      <a:pPr algn="l" rtl="0" eaLnBrk="0">
                        <a:lnSpc>
                          <a:spcPct val="8000"/>
                        </a:lnSpc>
                      </a:pPr>
                      <a:endParaRPr lang="en-US" altLang="en-US" sz="100" dirty="0">
                        <a:latin typeface="微软雅黑" panose="020B0503020204020204" charset="-122"/>
                        <a:ea typeface="微软雅黑" panose="020B0503020204020204" charset="-122"/>
                      </a:endParaRPr>
                    </a:p>
                    <a:p>
                      <a:pPr marL="155575" algn="l" rtl="0" eaLnBrk="0">
                        <a:lnSpc>
                          <a:spcPct val="80000"/>
                        </a:lnSpc>
                      </a:pPr>
                      <a:r>
                        <a:rPr sz="1200" spc="-10" dirty="0">
                          <a:solidFill>
                            <a:srgbClr val="000000">
                              <a:alpha val="100000"/>
                            </a:srgbClr>
                          </a:solidFill>
                          <a:latin typeface="微软雅黑" panose="020B0503020204020204" charset="-122"/>
                          <a:ea typeface="微软雅黑" panose="020B0503020204020204" charset="-122"/>
                          <a:cs typeface="Arial" panose="020B0604020202020204"/>
                        </a:rPr>
                        <a:t>KA</a:t>
                      </a:r>
                      <a:r>
                        <a:rPr sz="1200" spc="0" dirty="0">
                          <a:solidFill>
                            <a:srgbClr val="000000">
                              <a:alpha val="100000"/>
                            </a:srgbClr>
                          </a:solidFill>
                          <a:latin typeface="微软雅黑" panose="020B0503020204020204" charset="-122"/>
                          <a:ea typeface="微软雅黑" panose="020B0503020204020204" charset="-122"/>
                          <a:cs typeface="Arial" panose="020B0604020202020204"/>
                        </a:rPr>
                        <a:t>M</a:t>
                      </a:r>
                      <a:r>
                        <a:rPr sz="1200" spc="-10" dirty="0">
                          <a:solidFill>
                            <a:srgbClr val="000000">
                              <a:alpha val="100000"/>
                            </a:srgbClr>
                          </a:solidFill>
                          <a:latin typeface="微软雅黑" panose="020B0503020204020204" charset="-122"/>
                          <a:ea typeface="微软雅黑" panose="020B0503020204020204" charset="-122"/>
                          <a:cs typeface="Arial" panose="020B0604020202020204"/>
                        </a:rPr>
                        <a:t> 3</a:t>
                      </a:r>
                      <a:endParaRPr lang="en-US" altLang="en-US" sz="1200" dirty="0">
                        <a:latin typeface="微软雅黑" panose="020B0503020204020204" charset="-122"/>
                        <a:ea typeface="微软雅黑" panose="020B0503020204020204" charset="-122"/>
                      </a:endParaRPr>
                    </a:p>
                  </a:txBody>
                  <a:tcPr marL="0" marR="0" marT="0" marB="0" vert="vert270">
                    <a:lnL>
                      <a:noFill/>
                    </a:lnL>
                    <a:lnR>
                      <a:noFill/>
                    </a:lnR>
                    <a:lnT w="3175" cap="flat" cmpd="sng" algn="ctr">
                      <a:solidFill>
                        <a:srgbClr val="808080"/>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hMerge="1">
                  <a:tcPr marL="0" marR="0" marT="0" marB="0" vert="vert270">
                    <a:lnL>
                      <a:noFill/>
                    </a:lnL>
                    <a:lnR>
                      <a:noFill/>
                    </a:lnR>
                    <a:lnT w="3175" cap="flat" cmpd="sng" algn="ctr">
                      <a:solidFill>
                        <a:srgbClr val="808080"/>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gridSpan="3">
                  <a:txBody>
                    <a:bodyPr/>
                    <a:lstStyle/>
                    <a:p>
                      <a:pPr algn="l" rtl="0" eaLnBrk="0">
                        <a:lnSpc>
                          <a:spcPct val="112000"/>
                        </a:lnSpc>
                      </a:pPr>
                      <a:endParaRPr lang="en-US" altLang="en-US" sz="1000" dirty="0">
                        <a:latin typeface="微软雅黑" panose="020B0503020204020204" charset="-122"/>
                        <a:ea typeface="微软雅黑" panose="020B0503020204020204" charset="-122"/>
                      </a:endParaRPr>
                    </a:p>
                    <a:p>
                      <a:pPr algn="l" rtl="0" eaLnBrk="0">
                        <a:lnSpc>
                          <a:spcPct val="113000"/>
                        </a:lnSpc>
                      </a:pPr>
                      <a:endParaRPr lang="en-US" altLang="en-US" sz="1000" dirty="0">
                        <a:latin typeface="微软雅黑" panose="020B0503020204020204" charset="-122"/>
                        <a:ea typeface="微软雅黑" panose="020B0503020204020204" charset="-122"/>
                      </a:endParaRPr>
                    </a:p>
                    <a:p>
                      <a:pPr marL="155575" algn="l" rtl="0" eaLnBrk="0">
                        <a:lnSpc>
                          <a:spcPct val="80000"/>
                        </a:lnSpc>
                        <a:spcBef>
                          <a:spcPts val="5"/>
                        </a:spcBef>
                      </a:pPr>
                      <a:r>
                        <a:rPr sz="1200" spc="-20" dirty="0">
                          <a:solidFill>
                            <a:srgbClr val="000000">
                              <a:alpha val="100000"/>
                            </a:srgbClr>
                          </a:solidFill>
                          <a:latin typeface="微软雅黑" panose="020B0503020204020204" charset="-122"/>
                          <a:ea typeface="微软雅黑" panose="020B0503020204020204" charset="-122"/>
                          <a:cs typeface="Arial" panose="020B0604020202020204"/>
                        </a:rPr>
                        <a:t>KA</a:t>
                      </a:r>
                      <a:r>
                        <a:rPr sz="1200" spc="0" dirty="0">
                          <a:solidFill>
                            <a:srgbClr val="000000">
                              <a:alpha val="100000"/>
                            </a:srgbClr>
                          </a:solidFill>
                          <a:latin typeface="微软雅黑" panose="020B0503020204020204" charset="-122"/>
                          <a:ea typeface="微软雅黑" panose="020B0503020204020204" charset="-122"/>
                          <a:cs typeface="Arial" panose="020B0604020202020204"/>
                        </a:rPr>
                        <a:t>M</a:t>
                      </a:r>
                      <a:r>
                        <a:rPr sz="1200" spc="-20" dirty="0">
                          <a:solidFill>
                            <a:srgbClr val="000000">
                              <a:alpha val="100000"/>
                            </a:srgbClr>
                          </a:solidFill>
                          <a:latin typeface="微软雅黑" panose="020B0503020204020204" charset="-122"/>
                          <a:ea typeface="微软雅黑" panose="020B0503020204020204" charset="-122"/>
                          <a:cs typeface="Arial" panose="020B0604020202020204"/>
                        </a:rPr>
                        <a:t> 4</a:t>
                      </a:r>
                      <a:endParaRPr lang="en-US" altLang="en-US" sz="1200" dirty="0">
                        <a:latin typeface="微软雅黑" panose="020B0503020204020204" charset="-122"/>
                        <a:ea typeface="微软雅黑" panose="020B0503020204020204" charset="-122"/>
                      </a:endParaRPr>
                    </a:p>
                  </a:txBody>
                  <a:tcPr marL="0" marR="0" marT="0" marB="0" vert="vert270">
                    <a:lnL>
                      <a:noFill/>
                    </a:lnL>
                    <a:lnR>
                      <a:noFill/>
                    </a:lnR>
                    <a:lnT w="3175" cap="flat" cmpd="sng" algn="ctr">
                      <a:solidFill>
                        <a:srgbClr val="808080"/>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hMerge="1">
                  <a:tcPr marL="0" marR="0" marT="0" marB="0" vert="vert270">
                    <a:lnL>
                      <a:noFill/>
                    </a:lnL>
                    <a:lnR>
                      <a:noFill/>
                    </a:lnR>
                    <a:lnT w="3175" cap="flat" cmpd="sng" algn="ctr">
                      <a:solidFill>
                        <a:srgbClr val="808080"/>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hMerge="1">
                  <a:tcPr marL="0" marR="0" marT="0" marB="0" vert="vert270">
                    <a:lnL>
                      <a:noFill/>
                    </a:lnL>
                    <a:lnR>
                      <a:noFill/>
                    </a:lnR>
                    <a:lnT w="3175" cap="flat" cmpd="sng" algn="ctr">
                      <a:solidFill>
                        <a:srgbClr val="808080"/>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a:txBody>
                    <a:bodyPr/>
                    <a:lstStyle/>
                    <a:p>
                      <a:pPr algn="l" rtl="0" eaLnBrk="0">
                        <a:lnSpc>
                          <a:spcPct val="113000"/>
                        </a:lnSpc>
                      </a:pPr>
                      <a:endParaRPr lang="en-US" altLang="en-US" sz="1000" dirty="0">
                        <a:latin typeface="微软雅黑" panose="020B0503020204020204" charset="-122"/>
                        <a:ea typeface="微软雅黑" panose="020B0503020204020204" charset="-122"/>
                      </a:endParaRPr>
                    </a:p>
                    <a:p>
                      <a:pPr algn="l" rtl="0" eaLnBrk="0">
                        <a:lnSpc>
                          <a:spcPct val="114000"/>
                        </a:lnSpc>
                      </a:pPr>
                      <a:endParaRPr lang="en-US" altLang="en-US" sz="1000" dirty="0">
                        <a:latin typeface="微软雅黑" panose="020B0503020204020204" charset="-122"/>
                        <a:ea typeface="微软雅黑" panose="020B0503020204020204" charset="-122"/>
                      </a:endParaRPr>
                    </a:p>
                    <a:p>
                      <a:pPr algn="l" rtl="0" eaLnBrk="0">
                        <a:lnSpc>
                          <a:spcPct val="7000"/>
                        </a:lnSpc>
                      </a:pPr>
                      <a:endParaRPr lang="en-US" altLang="en-US" sz="100" dirty="0">
                        <a:latin typeface="微软雅黑" panose="020B0503020204020204" charset="-122"/>
                        <a:ea typeface="微软雅黑" panose="020B0503020204020204" charset="-122"/>
                      </a:endParaRPr>
                    </a:p>
                    <a:p>
                      <a:pPr marL="155575" algn="l" rtl="0" eaLnBrk="0">
                        <a:lnSpc>
                          <a:spcPct val="80000"/>
                        </a:lnSpc>
                      </a:pPr>
                      <a:r>
                        <a:rPr sz="1200" spc="-10" dirty="0">
                          <a:solidFill>
                            <a:srgbClr val="000000">
                              <a:alpha val="100000"/>
                            </a:srgbClr>
                          </a:solidFill>
                          <a:latin typeface="微软雅黑" panose="020B0503020204020204" charset="-122"/>
                          <a:ea typeface="微软雅黑" panose="020B0503020204020204" charset="-122"/>
                          <a:cs typeface="Arial" panose="020B0604020202020204"/>
                        </a:rPr>
                        <a:t>KA</a:t>
                      </a:r>
                      <a:r>
                        <a:rPr sz="1200" spc="0" dirty="0">
                          <a:solidFill>
                            <a:srgbClr val="000000">
                              <a:alpha val="100000"/>
                            </a:srgbClr>
                          </a:solidFill>
                          <a:latin typeface="微软雅黑" panose="020B0503020204020204" charset="-122"/>
                          <a:ea typeface="微软雅黑" panose="020B0503020204020204" charset="-122"/>
                          <a:cs typeface="Arial" panose="020B0604020202020204"/>
                        </a:rPr>
                        <a:t>M</a:t>
                      </a:r>
                      <a:r>
                        <a:rPr sz="1200" spc="-10" dirty="0">
                          <a:solidFill>
                            <a:srgbClr val="000000">
                              <a:alpha val="100000"/>
                            </a:srgbClr>
                          </a:solidFill>
                          <a:latin typeface="微软雅黑" panose="020B0503020204020204" charset="-122"/>
                          <a:ea typeface="微软雅黑" panose="020B0503020204020204" charset="-122"/>
                          <a:cs typeface="Arial" panose="020B0604020202020204"/>
                        </a:rPr>
                        <a:t> 5</a:t>
                      </a:r>
                      <a:endParaRPr lang="en-US" altLang="en-US" sz="1200" dirty="0">
                        <a:latin typeface="微软雅黑" panose="020B0503020204020204" charset="-122"/>
                        <a:ea typeface="微软雅黑" panose="020B0503020204020204" charset="-122"/>
                      </a:endParaRPr>
                    </a:p>
                  </a:txBody>
                  <a:tcPr marL="0" marR="0" marT="0" marB="0" vert="vert270">
                    <a:lnL>
                      <a:noFill/>
                    </a:lnL>
                    <a:lnR>
                      <a:noFill/>
                    </a:lnR>
                    <a:lnT w="3175" cap="flat" cmpd="sng" algn="ctr">
                      <a:solidFill>
                        <a:srgbClr val="808080"/>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a:txBody>
                    <a:bodyPr/>
                    <a:lstStyle/>
                    <a:p>
                      <a:pPr algn="l" rtl="0" eaLnBrk="0">
                        <a:lnSpc>
                          <a:spcPct val="174000"/>
                        </a:lnSpc>
                      </a:pPr>
                      <a:endParaRPr lang="en-US" altLang="en-US" sz="1000" dirty="0">
                        <a:latin typeface="微软雅黑" panose="020B0503020204020204" charset="-122"/>
                        <a:ea typeface="微软雅黑" panose="020B0503020204020204" charset="-122"/>
                      </a:endParaRPr>
                    </a:p>
                    <a:p>
                      <a:pPr algn="l" rtl="0" eaLnBrk="0">
                        <a:lnSpc>
                          <a:spcPct val="8000"/>
                        </a:lnSpc>
                      </a:pPr>
                      <a:endParaRPr lang="en-US" altLang="en-US" sz="100" dirty="0">
                        <a:latin typeface="微软雅黑" panose="020B0503020204020204" charset="-122"/>
                        <a:ea typeface="微软雅黑" panose="020B0503020204020204" charset="-122"/>
                      </a:endParaRPr>
                    </a:p>
                    <a:p>
                      <a:pPr marL="155575" algn="l" rtl="0" eaLnBrk="0">
                        <a:lnSpc>
                          <a:spcPct val="80000"/>
                        </a:lnSpc>
                      </a:pPr>
                      <a:r>
                        <a:rPr sz="1200" spc="-10" dirty="0">
                          <a:solidFill>
                            <a:srgbClr val="000000">
                              <a:alpha val="100000"/>
                            </a:srgbClr>
                          </a:solidFill>
                          <a:latin typeface="微软雅黑" panose="020B0503020204020204" charset="-122"/>
                          <a:ea typeface="微软雅黑" panose="020B0503020204020204" charset="-122"/>
                          <a:cs typeface="Arial" panose="020B0604020202020204"/>
                        </a:rPr>
                        <a:t>KAM 6</a:t>
                      </a:r>
                      <a:endParaRPr lang="en-US" altLang="en-US" sz="1200" dirty="0">
                        <a:latin typeface="微软雅黑" panose="020B0503020204020204" charset="-122"/>
                        <a:ea typeface="微软雅黑" panose="020B0503020204020204" charset="-122"/>
                      </a:endParaRPr>
                    </a:p>
                  </a:txBody>
                  <a:tcPr marL="0" marR="0" marT="0" marB="0" vert="vert270">
                    <a:lnL>
                      <a:noFill/>
                    </a:lnL>
                    <a:lnR w="19050" cap="flat" cmpd="sng" algn="ctr">
                      <a:solidFill>
                        <a:srgbClr val="FFFFFF"/>
                      </a:solidFill>
                      <a:prstDash val="solid"/>
                      <a:round/>
                      <a:headEnd type="none" w="med" len="med"/>
                      <a:tailEnd type="none" w="med" len="med"/>
                    </a:lnR>
                    <a:lnT w="3175" cap="flat" cmpd="sng" algn="ctr">
                      <a:solidFill>
                        <a:srgbClr val="808080"/>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a:txBody>
                    <a:bodyPr/>
                    <a:lstStyle/>
                    <a:p>
                      <a:pPr algn="l" rtl="0" eaLnBrk="0">
                        <a:lnSpc>
                          <a:spcPct val="186000"/>
                        </a:lnSpc>
                      </a:pPr>
                      <a:endParaRPr lang="en-US" altLang="en-US" sz="1000" dirty="0">
                        <a:latin typeface="微软雅黑" panose="020B0503020204020204" charset="-122"/>
                        <a:ea typeface="微软雅黑" panose="020B0503020204020204" charset="-122"/>
                      </a:endParaRPr>
                    </a:p>
                    <a:p>
                      <a:pPr marL="155575" algn="l" rtl="0" eaLnBrk="0">
                        <a:lnSpc>
                          <a:spcPct val="80000"/>
                        </a:lnSpc>
                        <a:spcBef>
                          <a:spcPts val="5"/>
                        </a:spcBef>
                      </a:pPr>
                      <a:r>
                        <a:rPr sz="1200" spc="0" dirty="0">
                          <a:solidFill>
                            <a:srgbClr val="000000">
                              <a:alpha val="100000"/>
                            </a:srgbClr>
                          </a:solidFill>
                          <a:latin typeface="微软雅黑" panose="020B0503020204020204" charset="-122"/>
                          <a:ea typeface="微软雅黑" panose="020B0503020204020204" charset="-122"/>
                          <a:cs typeface="Arial" panose="020B0604020202020204"/>
                        </a:rPr>
                        <a:t>KAM</a:t>
                      </a:r>
                      <a:r>
                        <a:rPr sz="1200" spc="30" dirty="0">
                          <a:solidFill>
                            <a:srgbClr val="000000">
                              <a:alpha val="100000"/>
                            </a:srgbClr>
                          </a:solidFill>
                          <a:latin typeface="微软雅黑" panose="020B0503020204020204" charset="-122"/>
                          <a:ea typeface="微软雅黑" panose="020B0503020204020204" charset="-122"/>
                          <a:cs typeface="Arial" panose="020B0604020202020204"/>
                        </a:rPr>
                        <a:t> </a:t>
                      </a:r>
                      <a:r>
                        <a:rPr sz="1200" spc="10" dirty="0">
                          <a:solidFill>
                            <a:srgbClr val="000000">
                              <a:alpha val="100000"/>
                            </a:srgbClr>
                          </a:solidFill>
                          <a:latin typeface="微软雅黑" panose="020B0503020204020204" charset="-122"/>
                          <a:ea typeface="微软雅黑" panose="020B0503020204020204" charset="-122"/>
                          <a:cs typeface="Arial" panose="020B0604020202020204"/>
                        </a:rPr>
                        <a:t>1</a:t>
                      </a:r>
                      <a:endParaRPr lang="en-US" altLang="en-US" sz="1200" dirty="0">
                        <a:latin typeface="微软雅黑" panose="020B0503020204020204" charset="-122"/>
                        <a:ea typeface="微软雅黑" panose="020B0503020204020204" charset="-122"/>
                      </a:endParaRPr>
                    </a:p>
                  </a:txBody>
                  <a:tcPr marL="0" marR="0" marT="0" marB="0" vert="vert270">
                    <a:lnL w="19050" cap="flat" cmpd="sng" algn="ctr">
                      <a:solidFill>
                        <a:srgbClr val="FFFFFF"/>
                      </a:solidFill>
                      <a:prstDash val="solid"/>
                      <a:round/>
                      <a:headEnd type="none" w="med" len="med"/>
                      <a:tailEnd type="none" w="med" len="med"/>
                    </a:lnL>
                    <a:lnR>
                      <a:noFill/>
                    </a:lnR>
                    <a:lnT w="3175" cap="flat" cmpd="sng" algn="ctr">
                      <a:solidFill>
                        <a:srgbClr val="808080"/>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a:txBody>
                    <a:bodyPr/>
                    <a:lstStyle/>
                    <a:p>
                      <a:pPr algn="l" rtl="0" eaLnBrk="0">
                        <a:lnSpc>
                          <a:spcPct val="117000"/>
                        </a:lnSpc>
                      </a:pPr>
                      <a:endParaRPr lang="en-US" altLang="en-US" sz="1000" dirty="0">
                        <a:latin typeface="微软雅黑" panose="020B0503020204020204" charset="-122"/>
                        <a:ea typeface="微软雅黑" panose="020B0503020204020204" charset="-122"/>
                      </a:endParaRPr>
                    </a:p>
                    <a:p>
                      <a:pPr algn="l" rtl="0" eaLnBrk="0">
                        <a:lnSpc>
                          <a:spcPct val="117000"/>
                        </a:lnSpc>
                      </a:pPr>
                      <a:endParaRPr lang="en-US" altLang="en-US" sz="1000" dirty="0">
                        <a:latin typeface="微软雅黑" panose="020B0503020204020204" charset="-122"/>
                        <a:ea typeface="微软雅黑" panose="020B0503020204020204" charset="-122"/>
                      </a:endParaRPr>
                    </a:p>
                    <a:p>
                      <a:pPr marL="155575" algn="l" rtl="0" eaLnBrk="0">
                        <a:lnSpc>
                          <a:spcPct val="80000"/>
                        </a:lnSpc>
                        <a:spcBef>
                          <a:spcPts val="5"/>
                        </a:spcBef>
                      </a:pPr>
                      <a:r>
                        <a:rPr sz="1200" spc="-20" dirty="0">
                          <a:solidFill>
                            <a:srgbClr val="000000">
                              <a:alpha val="100000"/>
                            </a:srgbClr>
                          </a:solidFill>
                          <a:latin typeface="微软雅黑" panose="020B0503020204020204" charset="-122"/>
                          <a:ea typeface="微软雅黑" panose="020B0503020204020204" charset="-122"/>
                          <a:cs typeface="Arial" panose="020B0604020202020204"/>
                        </a:rPr>
                        <a:t>K</a:t>
                      </a:r>
                      <a:r>
                        <a:rPr sz="1200" spc="0" dirty="0">
                          <a:solidFill>
                            <a:srgbClr val="000000">
                              <a:alpha val="100000"/>
                            </a:srgbClr>
                          </a:solidFill>
                          <a:latin typeface="微软雅黑" panose="020B0503020204020204" charset="-122"/>
                          <a:ea typeface="微软雅黑" panose="020B0503020204020204" charset="-122"/>
                          <a:cs typeface="Arial" panose="020B0604020202020204"/>
                        </a:rPr>
                        <a:t>AM</a:t>
                      </a:r>
                      <a:r>
                        <a:rPr sz="1200" spc="-20" dirty="0">
                          <a:solidFill>
                            <a:srgbClr val="000000">
                              <a:alpha val="100000"/>
                            </a:srgbClr>
                          </a:solidFill>
                          <a:latin typeface="微软雅黑" panose="020B0503020204020204" charset="-122"/>
                          <a:ea typeface="微软雅黑" panose="020B0503020204020204" charset="-122"/>
                          <a:cs typeface="Arial" panose="020B0604020202020204"/>
                        </a:rPr>
                        <a:t> 2</a:t>
                      </a:r>
                      <a:endParaRPr lang="en-US" altLang="en-US" sz="1200" dirty="0">
                        <a:latin typeface="微软雅黑" panose="020B0503020204020204" charset="-122"/>
                        <a:ea typeface="微软雅黑" panose="020B0503020204020204" charset="-122"/>
                      </a:endParaRPr>
                    </a:p>
                  </a:txBody>
                  <a:tcPr marL="0" marR="0" marT="0" marB="0" vert="vert270">
                    <a:lnL>
                      <a:noFill/>
                    </a:lnL>
                    <a:lnR>
                      <a:noFill/>
                    </a:lnR>
                    <a:lnT w="3175" cap="flat" cmpd="sng" algn="ctr">
                      <a:solidFill>
                        <a:srgbClr val="808080"/>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gridSpan="2">
                  <a:txBody>
                    <a:bodyPr/>
                    <a:lstStyle/>
                    <a:p>
                      <a:pPr algn="l" rtl="0" eaLnBrk="0">
                        <a:lnSpc>
                          <a:spcPct val="126000"/>
                        </a:lnSpc>
                      </a:pPr>
                      <a:endParaRPr lang="en-US" altLang="en-US" sz="1000" dirty="0">
                        <a:latin typeface="微软雅黑" panose="020B0503020204020204" charset="-122"/>
                        <a:ea typeface="微软雅黑" panose="020B0503020204020204" charset="-122"/>
                      </a:endParaRPr>
                    </a:p>
                    <a:p>
                      <a:pPr algn="l" rtl="0" eaLnBrk="0">
                        <a:lnSpc>
                          <a:spcPct val="9000"/>
                        </a:lnSpc>
                      </a:pPr>
                      <a:endParaRPr lang="en-US" altLang="en-US" sz="100" dirty="0">
                        <a:latin typeface="微软雅黑" panose="020B0503020204020204" charset="-122"/>
                        <a:ea typeface="微软雅黑" panose="020B0503020204020204" charset="-122"/>
                      </a:endParaRPr>
                    </a:p>
                    <a:p>
                      <a:pPr marL="155575" algn="l" rtl="0" eaLnBrk="0">
                        <a:lnSpc>
                          <a:spcPct val="80000"/>
                        </a:lnSpc>
                      </a:pPr>
                      <a:r>
                        <a:rPr sz="1200" spc="-10" dirty="0">
                          <a:solidFill>
                            <a:srgbClr val="000000">
                              <a:alpha val="100000"/>
                            </a:srgbClr>
                          </a:solidFill>
                          <a:latin typeface="微软雅黑" panose="020B0503020204020204" charset="-122"/>
                          <a:ea typeface="微软雅黑" panose="020B0503020204020204" charset="-122"/>
                          <a:cs typeface="Arial" panose="020B0604020202020204"/>
                        </a:rPr>
                        <a:t>KA</a:t>
                      </a:r>
                      <a:r>
                        <a:rPr sz="1200" spc="0" dirty="0">
                          <a:solidFill>
                            <a:srgbClr val="000000">
                              <a:alpha val="100000"/>
                            </a:srgbClr>
                          </a:solidFill>
                          <a:latin typeface="微软雅黑" panose="020B0503020204020204" charset="-122"/>
                          <a:ea typeface="微软雅黑" panose="020B0503020204020204" charset="-122"/>
                          <a:cs typeface="Arial" panose="020B0604020202020204"/>
                        </a:rPr>
                        <a:t>M</a:t>
                      </a:r>
                      <a:r>
                        <a:rPr sz="1200" spc="-10" dirty="0">
                          <a:solidFill>
                            <a:srgbClr val="000000">
                              <a:alpha val="100000"/>
                            </a:srgbClr>
                          </a:solidFill>
                          <a:latin typeface="微软雅黑" panose="020B0503020204020204" charset="-122"/>
                          <a:ea typeface="微软雅黑" panose="020B0503020204020204" charset="-122"/>
                          <a:cs typeface="Arial" panose="020B0604020202020204"/>
                        </a:rPr>
                        <a:t> 3</a:t>
                      </a:r>
                      <a:endParaRPr lang="en-US" altLang="en-US" sz="1200" dirty="0">
                        <a:latin typeface="微软雅黑" panose="020B0503020204020204" charset="-122"/>
                        <a:ea typeface="微软雅黑" panose="020B0503020204020204" charset="-122"/>
                      </a:endParaRPr>
                    </a:p>
                  </a:txBody>
                  <a:tcPr marL="0" marR="0" marT="0" marB="0" vert="vert270">
                    <a:lnL>
                      <a:noFill/>
                    </a:lnL>
                    <a:lnR w="19050" cap="flat" cmpd="sng" algn="ctr">
                      <a:solidFill>
                        <a:srgbClr val="FFFFFF"/>
                      </a:solidFill>
                      <a:prstDash val="solid"/>
                      <a:round/>
                      <a:headEnd type="none" w="med" len="med"/>
                      <a:tailEnd type="none" w="med" len="med"/>
                    </a:lnR>
                    <a:lnT w="3175" cap="flat" cmpd="sng" algn="ctr">
                      <a:solidFill>
                        <a:srgbClr val="808080"/>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hMerge="1">
                  <a:tcPr marL="0" marR="0" marT="0" marB="0" vert="vert270">
                    <a:lnL>
                      <a:noFill/>
                    </a:lnL>
                    <a:lnR w="19050" cap="flat" cmpd="sng" algn="ctr">
                      <a:solidFill>
                        <a:srgbClr val="FFFFFF"/>
                      </a:solidFill>
                      <a:prstDash val="solid"/>
                      <a:round/>
                      <a:headEnd type="none" w="med" len="med"/>
                      <a:tailEnd type="none" w="med" len="med"/>
                    </a:lnR>
                    <a:lnT w="3175" cap="flat" cmpd="sng" algn="ctr">
                      <a:solidFill>
                        <a:srgbClr val="808080"/>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a:txBody>
                    <a:bodyPr/>
                    <a:lstStyle/>
                    <a:p>
                      <a:pPr algn="l" rtl="0" eaLnBrk="0">
                        <a:lnSpc>
                          <a:spcPct val="165000"/>
                        </a:lnSpc>
                      </a:pPr>
                      <a:endParaRPr lang="en-US" altLang="en-US" sz="1000" dirty="0">
                        <a:latin typeface="微软雅黑" panose="020B0503020204020204" charset="-122"/>
                        <a:ea typeface="微软雅黑" panose="020B0503020204020204" charset="-122"/>
                      </a:endParaRPr>
                    </a:p>
                    <a:p>
                      <a:pPr algn="l" rtl="0" eaLnBrk="0">
                        <a:lnSpc>
                          <a:spcPct val="9000"/>
                        </a:lnSpc>
                      </a:pPr>
                      <a:endParaRPr lang="en-US" altLang="en-US" sz="100" dirty="0">
                        <a:latin typeface="微软雅黑" panose="020B0503020204020204" charset="-122"/>
                        <a:ea typeface="微软雅黑" panose="020B0503020204020204" charset="-122"/>
                      </a:endParaRPr>
                    </a:p>
                    <a:p>
                      <a:pPr marL="155575" algn="l" rtl="0" eaLnBrk="0">
                        <a:lnSpc>
                          <a:spcPct val="80000"/>
                        </a:lnSpc>
                      </a:pPr>
                      <a:r>
                        <a:rPr sz="1200" spc="0" dirty="0">
                          <a:solidFill>
                            <a:srgbClr val="000000">
                              <a:alpha val="100000"/>
                            </a:srgbClr>
                          </a:solidFill>
                          <a:latin typeface="微软雅黑" panose="020B0503020204020204" charset="-122"/>
                          <a:ea typeface="微软雅黑" panose="020B0503020204020204" charset="-122"/>
                          <a:cs typeface="Arial" panose="020B0604020202020204"/>
                        </a:rPr>
                        <a:t>KAM</a:t>
                      </a:r>
                      <a:r>
                        <a:rPr sz="1200" spc="30" dirty="0">
                          <a:solidFill>
                            <a:srgbClr val="000000">
                              <a:alpha val="100000"/>
                            </a:srgbClr>
                          </a:solidFill>
                          <a:latin typeface="微软雅黑" panose="020B0503020204020204" charset="-122"/>
                          <a:ea typeface="微软雅黑" panose="020B0503020204020204" charset="-122"/>
                          <a:cs typeface="Arial" panose="020B0604020202020204"/>
                        </a:rPr>
                        <a:t> </a:t>
                      </a:r>
                      <a:r>
                        <a:rPr sz="1200" spc="10" dirty="0">
                          <a:solidFill>
                            <a:srgbClr val="000000">
                              <a:alpha val="100000"/>
                            </a:srgbClr>
                          </a:solidFill>
                          <a:latin typeface="微软雅黑" panose="020B0503020204020204" charset="-122"/>
                          <a:ea typeface="微软雅黑" panose="020B0503020204020204" charset="-122"/>
                          <a:cs typeface="Arial" panose="020B0604020202020204"/>
                        </a:rPr>
                        <a:t>1</a:t>
                      </a:r>
                      <a:endParaRPr lang="en-US" altLang="en-US" sz="1200" dirty="0">
                        <a:latin typeface="微软雅黑" panose="020B0503020204020204" charset="-122"/>
                        <a:ea typeface="微软雅黑" panose="020B0503020204020204" charset="-122"/>
                      </a:endParaRPr>
                    </a:p>
                  </a:txBody>
                  <a:tcPr marL="0" marR="0" marT="0" marB="0" vert="vert270">
                    <a:lnL w="19050" cap="flat" cmpd="sng" algn="ctr">
                      <a:solidFill>
                        <a:srgbClr val="FFFFFF"/>
                      </a:solidFill>
                      <a:prstDash val="solid"/>
                      <a:round/>
                      <a:headEnd type="none" w="med" len="med"/>
                      <a:tailEnd type="none" w="med" len="med"/>
                    </a:lnL>
                    <a:lnR>
                      <a:noFill/>
                    </a:lnR>
                    <a:lnT w="3175" cap="flat" cmpd="sng" algn="ctr">
                      <a:solidFill>
                        <a:srgbClr val="808080"/>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a:txBody>
                    <a:bodyPr/>
                    <a:lstStyle/>
                    <a:p>
                      <a:pPr algn="l" rtl="0" eaLnBrk="0">
                        <a:lnSpc>
                          <a:spcPct val="120000"/>
                        </a:lnSpc>
                      </a:pPr>
                      <a:endParaRPr lang="en-US" altLang="en-US" sz="1000" dirty="0">
                        <a:latin typeface="微软雅黑" panose="020B0503020204020204" charset="-122"/>
                        <a:ea typeface="微软雅黑" panose="020B0503020204020204" charset="-122"/>
                      </a:endParaRPr>
                    </a:p>
                    <a:p>
                      <a:pPr algn="l" rtl="0" eaLnBrk="0">
                        <a:lnSpc>
                          <a:spcPct val="121000"/>
                        </a:lnSpc>
                      </a:pPr>
                      <a:endParaRPr lang="en-US" altLang="en-US" sz="1000" dirty="0">
                        <a:latin typeface="微软雅黑" panose="020B0503020204020204" charset="-122"/>
                        <a:ea typeface="微软雅黑" panose="020B0503020204020204" charset="-122"/>
                      </a:endParaRPr>
                    </a:p>
                    <a:p>
                      <a:pPr marL="155575" algn="l" rtl="0" eaLnBrk="0">
                        <a:lnSpc>
                          <a:spcPct val="80000"/>
                        </a:lnSpc>
                      </a:pPr>
                      <a:r>
                        <a:rPr sz="1200" spc="-20" dirty="0">
                          <a:solidFill>
                            <a:srgbClr val="000000">
                              <a:alpha val="100000"/>
                            </a:srgbClr>
                          </a:solidFill>
                          <a:latin typeface="微软雅黑" panose="020B0503020204020204" charset="-122"/>
                          <a:ea typeface="微软雅黑" panose="020B0503020204020204" charset="-122"/>
                          <a:cs typeface="Arial" panose="020B0604020202020204"/>
                        </a:rPr>
                        <a:t>K</a:t>
                      </a:r>
                      <a:r>
                        <a:rPr sz="1200" spc="0" dirty="0">
                          <a:solidFill>
                            <a:srgbClr val="000000">
                              <a:alpha val="100000"/>
                            </a:srgbClr>
                          </a:solidFill>
                          <a:latin typeface="微软雅黑" panose="020B0503020204020204" charset="-122"/>
                          <a:ea typeface="微软雅黑" panose="020B0503020204020204" charset="-122"/>
                          <a:cs typeface="Arial" panose="020B0604020202020204"/>
                        </a:rPr>
                        <a:t>AM</a:t>
                      </a:r>
                      <a:r>
                        <a:rPr sz="1200" spc="-20" dirty="0">
                          <a:solidFill>
                            <a:srgbClr val="000000">
                              <a:alpha val="100000"/>
                            </a:srgbClr>
                          </a:solidFill>
                          <a:latin typeface="微软雅黑" panose="020B0503020204020204" charset="-122"/>
                          <a:ea typeface="微软雅黑" panose="020B0503020204020204" charset="-122"/>
                          <a:cs typeface="Arial" panose="020B0604020202020204"/>
                        </a:rPr>
                        <a:t> 2</a:t>
                      </a:r>
                      <a:endParaRPr lang="en-US" altLang="en-US" sz="1200" dirty="0">
                        <a:latin typeface="微软雅黑" panose="020B0503020204020204" charset="-122"/>
                        <a:ea typeface="微软雅黑" panose="020B0503020204020204" charset="-122"/>
                      </a:endParaRPr>
                    </a:p>
                  </a:txBody>
                  <a:tcPr marL="0" marR="0" marT="0" marB="0" vert="vert270">
                    <a:lnL>
                      <a:noFill/>
                    </a:lnL>
                    <a:lnR>
                      <a:noFill/>
                    </a:lnR>
                    <a:lnT w="3175" cap="flat" cmpd="sng" algn="ctr">
                      <a:solidFill>
                        <a:srgbClr val="808080"/>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a:txBody>
                    <a:bodyPr/>
                    <a:lstStyle/>
                    <a:p>
                      <a:pPr algn="l" rtl="0" eaLnBrk="0">
                        <a:lnSpc>
                          <a:spcPct val="188000"/>
                        </a:lnSpc>
                      </a:pPr>
                      <a:endParaRPr lang="en-US" altLang="en-US" sz="1000" dirty="0">
                        <a:latin typeface="微软雅黑" panose="020B0503020204020204" charset="-122"/>
                        <a:ea typeface="微软雅黑" panose="020B0503020204020204" charset="-122"/>
                      </a:endParaRPr>
                    </a:p>
                    <a:p>
                      <a:pPr marL="155575" algn="l" rtl="0" eaLnBrk="0">
                        <a:lnSpc>
                          <a:spcPct val="80000"/>
                        </a:lnSpc>
                        <a:spcBef>
                          <a:spcPts val="5"/>
                        </a:spcBef>
                      </a:pPr>
                      <a:r>
                        <a:rPr sz="1200" spc="-10" dirty="0">
                          <a:solidFill>
                            <a:srgbClr val="000000">
                              <a:alpha val="100000"/>
                            </a:srgbClr>
                          </a:solidFill>
                          <a:latin typeface="微软雅黑" panose="020B0503020204020204" charset="-122"/>
                          <a:ea typeface="微软雅黑" panose="020B0503020204020204" charset="-122"/>
                          <a:cs typeface="Arial" panose="020B0604020202020204"/>
                        </a:rPr>
                        <a:t>KA</a:t>
                      </a:r>
                      <a:r>
                        <a:rPr sz="1200" spc="0" dirty="0">
                          <a:solidFill>
                            <a:srgbClr val="000000">
                              <a:alpha val="100000"/>
                            </a:srgbClr>
                          </a:solidFill>
                          <a:latin typeface="微软雅黑" panose="020B0503020204020204" charset="-122"/>
                          <a:ea typeface="微软雅黑" panose="020B0503020204020204" charset="-122"/>
                          <a:cs typeface="Arial" panose="020B0604020202020204"/>
                        </a:rPr>
                        <a:t>M</a:t>
                      </a:r>
                      <a:r>
                        <a:rPr sz="1200" spc="-10" dirty="0">
                          <a:solidFill>
                            <a:srgbClr val="000000">
                              <a:alpha val="100000"/>
                            </a:srgbClr>
                          </a:solidFill>
                          <a:latin typeface="微软雅黑" panose="020B0503020204020204" charset="-122"/>
                          <a:ea typeface="微软雅黑" panose="020B0503020204020204" charset="-122"/>
                          <a:cs typeface="Arial" panose="020B0604020202020204"/>
                        </a:rPr>
                        <a:t> 3</a:t>
                      </a:r>
                      <a:endParaRPr lang="en-US" altLang="en-US" sz="1200" dirty="0">
                        <a:latin typeface="微软雅黑" panose="020B0503020204020204" charset="-122"/>
                        <a:ea typeface="微软雅黑" panose="020B0503020204020204" charset="-122"/>
                      </a:endParaRPr>
                    </a:p>
                  </a:txBody>
                  <a:tcPr marL="0" marR="0" marT="0" marB="0" vert="vert270">
                    <a:lnL>
                      <a:noFill/>
                    </a:lnL>
                    <a:lnR w="19050" cap="flat" cmpd="sng" algn="ctr">
                      <a:solidFill>
                        <a:srgbClr val="FFFFFF"/>
                      </a:solidFill>
                      <a:prstDash val="solid"/>
                      <a:round/>
                      <a:headEnd type="none" w="med" len="med"/>
                      <a:tailEnd type="none" w="med" len="med"/>
                    </a:lnR>
                    <a:lnT w="3175" cap="flat" cmpd="sng" algn="ctr">
                      <a:solidFill>
                        <a:srgbClr val="808080"/>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r>
            </a:tbl>
          </a:graphicData>
        </a:graphic>
      </p:graphicFrame>
      <p:sp>
        <p:nvSpPr>
          <p:cNvPr id="509" name="textbox 509"/>
          <p:cNvSpPr/>
          <p:nvPr/>
        </p:nvSpPr>
        <p:spPr>
          <a:xfrm>
            <a:off x="104775" y="248920"/>
            <a:ext cx="6375400" cy="615315"/>
          </a:xfrm>
          <a:prstGeom prst="rect">
            <a:avLst/>
          </a:prstGeom>
        </p:spPr>
        <p:txBody>
          <a:bodyPr vert="horz" wrap="square" lIns="0" tIns="0" rIns="0" bIns="0"/>
          <a:lstStyle/>
          <a:p>
            <a:pPr algn="l" rtl="0" eaLnBrk="0">
              <a:lnSpc>
                <a:spcPct val="72000"/>
              </a:lnSpc>
            </a:pPr>
            <a:endParaRPr lang="en-US" altLang="en-US" sz="100" dirty="0">
              <a:latin typeface="微软雅黑" panose="020B0503020204020204" charset="-122"/>
              <a:ea typeface="微软雅黑" panose="020B0503020204020204" charset="-122"/>
            </a:endParaRPr>
          </a:p>
          <a:p>
            <a:pPr marL="35560" indent="104140" algn="l" rtl="0" eaLnBrk="0">
              <a:lnSpc>
                <a:spcPct val="97000"/>
              </a:lnSpc>
            </a:pPr>
            <a:r>
              <a:rPr sz="2000" spc="-30" dirty="0">
                <a:solidFill>
                  <a:srgbClr val="002960">
                    <a:alpha val="100000"/>
                  </a:srgbClr>
                </a:solidFill>
                <a:latin typeface="微软雅黑" panose="020B0503020204020204" charset="-122"/>
                <a:ea typeface="微软雅黑" panose="020B0503020204020204" charset="-122"/>
                <a:cs typeface="楷体" panose="02010609060101010101" charset="-122"/>
              </a:rPr>
              <a:t>【案例</a:t>
            </a:r>
            <a:r>
              <a:rPr sz="2000" spc="-30" dirty="0">
                <a:solidFill>
                  <a:srgbClr val="002960">
                    <a:alpha val="100000"/>
                  </a:srgbClr>
                </a:solidFill>
                <a:latin typeface="微软雅黑" panose="020B0503020204020204" charset="-122"/>
                <a:ea typeface="微软雅黑" panose="020B0503020204020204" charset="-122"/>
                <a:cs typeface="Arial" panose="020B0604020202020204"/>
              </a:rPr>
              <a:t>1</a:t>
            </a:r>
            <a:r>
              <a:rPr sz="2000" spc="-30" dirty="0">
                <a:solidFill>
                  <a:srgbClr val="002960">
                    <a:alpha val="100000"/>
                  </a:srgbClr>
                </a:solidFill>
                <a:latin typeface="微软雅黑" panose="020B0503020204020204" charset="-122"/>
                <a:ea typeface="微软雅黑" panose="020B0503020204020204" charset="-122"/>
                <a:cs typeface="楷体" panose="02010609060101010101" charset="-122"/>
              </a:rPr>
              <a:t>】但实际结果与预期差别较大，虽然部分客户实现了增长，</a:t>
            </a:r>
            <a:r>
              <a:rPr sz="2000" spc="-20" dirty="0">
                <a:solidFill>
                  <a:srgbClr val="002960">
                    <a:alpha val="100000"/>
                  </a:srgbClr>
                </a:solidFill>
                <a:latin typeface="微软雅黑" panose="020B0503020204020204" charset="-122"/>
                <a:ea typeface="微软雅黑" panose="020B0503020204020204" charset="-122"/>
                <a:cs typeface="楷体" panose="02010609060101010101" charset="-122"/>
              </a:rPr>
              <a:t>但</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仍有许 </a:t>
            </a:r>
            <a:r>
              <a:rPr sz="2000" spc="-20" dirty="0">
                <a:solidFill>
                  <a:srgbClr val="002960">
                    <a:alpha val="100000"/>
                  </a:srgbClr>
                </a:solidFill>
                <a:latin typeface="微软雅黑" panose="020B0503020204020204" charset="-122"/>
                <a:ea typeface="微软雅黑" panose="020B0503020204020204" charset="-122"/>
                <a:cs typeface="楷体" panose="02010609060101010101" charset="-122"/>
              </a:rPr>
              <a:t>多进攻型客户没有</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实现销售提升</a:t>
            </a:r>
            <a:endParaRPr lang="en-US" altLang="en-US" sz="2000" dirty="0">
              <a:latin typeface="微软雅黑" panose="020B0503020204020204" charset="-122"/>
              <a:ea typeface="微软雅黑" panose="020B0503020204020204" charset="-122"/>
            </a:endParaRPr>
          </a:p>
        </p:txBody>
      </p:sp>
      <p:sp>
        <p:nvSpPr>
          <p:cNvPr id="510" name="textbox 510"/>
          <p:cNvSpPr/>
          <p:nvPr/>
        </p:nvSpPr>
        <p:spPr>
          <a:xfrm>
            <a:off x="118872" y="1034796"/>
            <a:ext cx="8671559" cy="335279"/>
          </a:xfrm>
          <a:prstGeom prst="rect">
            <a:avLst/>
          </a:prstGeom>
          <a:solidFill>
            <a:srgbClr val="BFE1FF"/>
          </a:solidFill>
        </p:spPr>
        <p:txBody>
          <a:bodyPr vert="horz" wrap="square" lIns="0" tIns="0" rIns="0" bIns="0"/>
          <a:lstStyle/>
          <a:p>
            <a:pPr algn="l" rtl="0" eaLnBrk="0">
              <a:lnSpc>
                <a:spcPct val="111000"/>
              </a:lnSpc>
            </a:pPr>
            <a:endParaRPr lang="en-US" altLang="en-US" sz="500" dirty="0">
              <a:latin typeface="微软雅黑" panose="020B0503020204020204" charset="-122"/>
              <a:ea typeface="微软雅黑" panose="020B0503020204020204" charset="-122"/>
            </a:endParaRPr>
          </a:p>
          <a:p>
            <a:pPr marL="85090" algn="l" rtl="0" eaLnBrk="0">
              <a:lnSpc>
                <a:spcPct val="94000"/>
              </a:lnSpc>
              <a:spcBef>
                <a:spcPts val="0"/>
              </a:spcBef>
            </a:pPr>
            <a:r>
              <a:rPr sz="1200" spc="-10" dirty="0">
                <a:ln w="4354" cap="flat" cmpd="sng">
                  <a:solidFill>
                    <a:srgbClr val="002960">
                      <a:alpha val="100000"/>
                    </a:srgbClr>
                  </a:solidFill>
                  <a:prstDash val="solid"/>
                  <a:round/>
                </a:ln>
                <a:solidFill>
                  <a:srgbClr val="002960">
                    <a:alpha val="100000"/>
                  </a:srgbClr>
                </a:solidFill>
                <a:latin typeface="微软雅黑" panose="020B0503020204020204" charset="-122"/>
                <a:ea typeface="微软雅黑" panose="020B0503020204020204" charset="-122"/>
                <a:cs typeface="楷体" panose="02010609060101010101" charset="-122"/>
              </a:rPr>
              <a:t>细分客户群体对增长的</a:t>
            </a:r>
            <a:r>
              <a:rPr sz="1200" spc="0" dirty="0">
                <a:ln w="4354" cap="flat" cmpd="sng">
                  <a:solidFill>
                    <a:srgbClr val="002960">
                      <a:alpha val="100000"/>
                    </a:srgbClr>
                  </a:solidFill>
                  <a:prstDash val="solid"/>
                  <a:round/>
                </a:ln>
                <a:solidFill>
                  <a:srgbClr val="002960">
                    <a:alpha val="100000"/>
                  </a:srgbClr>
                </a:solidFill>
                <a:latin typeface="微软雅黑" panose="020B0503020204020204" charset="-122"/>
                <a:ea typeface="微软雅黑" panose="020B0503020204020204" charset="-122"/>
                <a:cs typeface="楷体" panose="02010609060101010101" charset="-122"/>
              </a:rPr>
              <a:t>贡献率</a:t>
            </a:r>
            <a:endParaRPr lang="en-US" altLang="en-US" sz="1200" dirty="0">
              <a:latin typeface="微软雅黑" panose="020B0503020204020204" charset="-122"/>
              <a:ea typeface="微软雅黑" panose="020B0503020204020204" charset="-122"/>
            </a:endParaRPr>
          </a:p>
        </p:txBody>
      </p:sp>
      <p:sp>
        <p:nvSpPr>
          <p:cNvPr id="511" name="textbox 511"/>
          <p:cNvSpPr/>
          <p:nvPr/>
        </p:nvSpPr>
        <p:spPr>
          <a:xfrm>
            <a:off x="5958332" y="1436624"/>
            <a:ext cx="2682239" cy="393065"/>
          </a:xfrm>
          <a:prstGeom prst="rect">
            <a:avLst/>
          </a:prstGeom>
        </p:spPr>
        <p:txBody>
          <a:bodyPr vert="horz" wrap="square" lIns="0" tIns="0" rIns="0" bIns="0"/>
          <a:lstStyle/>
          <a:p>
            <a:pPr algn="l" rtl="0" eaLnBrk="0">
              <a:lnSpc>
                <a:spcPct val="105000"/>
              </a:lnSpc>
            </a:pPr>
            <a:endParaRPr lang="en-US" altLang="en-US" sz="200" dirty="0">
              <a:latin typeface="微软雅黑" panose="020B0503020204020204" charset="-122"/>
              <a:ea typeface="微软雅黑" panose="020B0503020204020204" charset="-122"/>
            </a:endParaRPr>
          </a:p>
          <a:p>
            <a:pPr marL="158750" algn="l" rtl="0" eaLnBrk="0">
              <a:lnSpc>
                <a:spcPts val="1125"/>
              </a:lnSpc>
              <a:tabLst>
                <a:tab pos="260350" algn="l"/>
              </a:tabLst>
            </a:pPr>
            <a:r>
              <a:rPr sz="9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900" spc="100" dirty="0">
                <a:solidFill>
                  <a:srgbClr val="000000">
                    <a:alpha val="100000"/>
                  </a:srgbClr>
                </a:solidFill>
                <a:latin typeface="微软雅黑" panose="020B0503020204020204" charset="-122"/>
                <a:ea typeface="微软雅黑" panose="020B0503020204020204" charset="-122"/>
                <a:cs typeface="楷体" panose="02010609060101010101" charset="-122"/>
              </a:rPr>
              <a:t>进攻型客</a:t>
            </a:r>
            <a:r>
              <a:rPr sz="900" spc="70" dirty="0">
                <a:solidFill>
                  <a:srgbClr val="000000">
                    <a:alpha val="100000"/>
                  </a:srgbClr>
                </a:solidFill>
                <a:latin typeface="微软雅黑" panose="020B0503020204020204" charset="-122"/>
                <a:ea typeface="微软雅黑" panose="020B0503020204020204" charset="-122"/>
                <a:cs typeface="楷体" panose="02010609060101010101" charset="-122"/>
              </a:rPr>
              <a:t>户</a:t>
            </a:r>
            <a:endParaRPr lang="en-US" altLang="en-US" sz="900" dirty="0">
              <a:latin typeface="微软雅黑" panose="020B0503020204020204" charset="-122"/>
              <a:ea typeface="微软雅黑" panose="020B0503020204020204" charset="-122"/>
            </a:endParaRPr>
          </a:p>
          <a:p>
            <a:pPr algn="l" rtl="0" eaLnBrk="0">
              <a:lnSpc>
                <a:spcPct val="110000"/>
              </a:lnSpc>
            </a:pPr>
            <a:endParaRPr lang="en-US" altLang="en-US" sz="400" dirty="0">
              <a:latin typeface="微软雅黑" panose="020B0503020204020204" charset="-122"/>
              <a:ea typeface="微软雅黑" panose="020B0503020204020204" charset="-122"/>
            </a:endParaRPr>
          </a:p>
          <a:p>
            <a:pPr marL="158750" algn="l" rtl="0" eaLnBrk="0">
              <a:lnSpc>
                <a:spcPts val="1085"/>
              </a:lnSpc>
              <a:spcBef>
                <a:spcPts val="5"/>
              </a:spcBef>
              <a:tabLst>
                <a:tab pos="263525" algn="l"/>
              </a:tabLst>
            </a:pPr>
            <a:r>
              <a:rPr sz="9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900" spc="70" dirty="0">
                <a:solidFill>
                  <a:srgbClr val="000000">
                    <a:alpha val="100000"/>
                  </a:srgbClr>
                </a:solidFill>
                <a:latin typeface="微软雅黑" panose="020B0503020204020204" charset="-122"/>
                <a:ea typeface="微软雅黑" panose="020B0503020204020204" charset="-122"/>
                <a:cs typeface="楷体" panose="02010609060101010101" charset="-122"/>
              </a:rPr>
              <a:t>其他客户，包括普通， 优先型，防守型客</a:t>
            </a:r>
            <a:r>
              <a:rPr sz="900" spc="50" dirty="0">
                <a:solidFill>
                  <a:srgbClr val="000000">
                    <a:alpha val="100000"/>
                  </a:srgbClr>
                </a:solidFill>
                <a:latin typeface="微软雅黑" panose="020B0503020204020204" charset="-122"/>
                <a:ea typeface="微软雅黑" panose="020B0503020204020204" charset="-122"/>
                <a:cs typeface="楷体" panose="02010609060101010101" charset="-122"/>
              </a:rPr>
              <a:t>户</a:t>
            </a:r>
            <a:endParaRPr lang="en-US" altLang="en-US" sz="900" dirty="0">
              <a:latin typeface="微软雅黑" panose="020B0503020204020204" charset="-122"/>
              <a:ea typeface="微软雅黑" panose="020B0503020204020204" charset="-122"/>
            </a:endParaRPr>
          </a:p>
        </p:txBody>
      </p:sp>
      <p:grpSp>
        <p:nvGrpSpPr>
          <p:cNvPr id="108" name="group 108"/>
          <p:cNvGrpSpPr/>
          <p:nvPr/>
        </p:nvGrpSpPr>
        <p:grpSpPr>
          <a:xfrm rot="21600000">
            <a:off x="5971032" y="1656588"/>
            <a:ext cx="146303" cy="147827"/>
            <a:chOff x="0" y="0"/>
            <a:chExt cx="146303" cy="147827"/>
          </a:xfrm>
        </p:grpSpPr>
        <p:sp>
          <p:nvSpPr>
            <p:cNvPr id="512" name="path"/>
            <p:cNvSpPr/>
            <p:nvPr/>
          </p:nvSpPr>
          <p:spPr>
            <a:xfrm>
              <a:off x="4571" y="4571"/>
              <a:ext cx="137159" cy="138684"/>
            </a:xfrm>
            <a:custGeom>
              <a:avLst/>
              <a:gdLst/>
              <a:ahLst/>
              <a:cxnLst/>
              <a:rect l="0" t="0" r="0" b="0"/>
              <a:pathLst>
                <a:path w="215" h="218">
                  <a:moveTo>
                    <a:pt x="0" y="218"/>
                  </a:moveTo>
                  <a:lnTo>
                    <a:pt x="215" y="218"/>
                  </a:lnTo>
                  <a:lnTo>
                    <a:pt x="215" y="0"/>
                  </a:lnTo>
                  <a:lnTo>
                    <a:pt x="0" y="0"/>
                  </a:lnTo>
                  <a:lnTo>
                    <a:pt x="0" y="218"/>
                  </a:lnTo>
                  <a:close/>
                </a:path>
              </a:pathLst>
            </a:custGeom>
            <a:solidFill>
              <a:srgbClr val="CCCCCC">
                <a:alpha val="100000"/>
              </a:srgbClr>
            </a:solidFill>
            <a:ln cap="flat">
              <a:noFill/>
              <a:prstDash val="solid"/>
              <a:miter lim="0"/>
            </a:ln>
          </p:spPr>
          <p:txBody>
            <a:bodyPr rtlCol="0"/>
            <a:lstStyle/>
            <a:p>
              <a:pPr algn="ctr"/>
              <a:endParaRPr lang="zh-CN" altLang="en-US"/>
            </a:p>
          </p:txBody>
        </p:sp>
        <p:sp>
          <p:nvSpPr>
            <p:cNvPr id="513" name="path"/>
            <p:cNvSpPr/>
            <p:nvPr/>
          </p:nvSpPr>
          <p:spPr>
            <a:xfrm>
              <a:off x="0" y="0"/>
              <a:ext cx="146303" cy="147827"/>
            </a:xfrm>
            <a:custGeom>
              <a:avLst/>
              <a:gdLst/>
              <a:ahLst/>
              <a:cxnLst/>
              <a:rect l="0" t="0" r="0" b="0"/>
              <a:pathLst>
                <a:path w="230" h="232">
                  <a:moveTo>
                    <a:pt x="7" y="225"/>
                  </a:moveTo>
                  <a:lnTo>
                    <a:pt x="223" y="225"/>
                  </a:lnTo>
                  <a:lnTo>
                    <a:pt x="223" y="7"/>
                  </a:lnTo>
                  <a:lnTo>
                    <a:pt x="7" y="7"/>
                  </a:lnTo>
                  <a:lnTo>
                    <a:pt x="7" y="225"/>
                  </a:lnTo>
                  <a:close/>
                </a:path>
              </a:pathLst>
            </a:custGeom>
            <a:noFill/>
            <a:ln w="9143" cap="flat">
              <a:solidFill>
                <a:srgbClr val="FFFFFF">
                  <a:alpha val="100000"/>
                </a:srgbClr>
              </a:solidFill>
              <a:prstDash val="solid"/>
              <a:round/>
            </a:ln>
          </p:spPr>
          <p:txBody>
            <a:bodyPr rtlCol="0"/>
            <a:lstStyle/>
            <a:p>
              <a:pPr algn="ctr"/>
              <a:endParaRPr lang="zh-CN" altLang="en-US"/>
            </a:p>
          </p:txBody>
        </p:sp>
      </p:grpSp>
      <p:grpSp>
        <p:nvGrpSpPr>
          <p:cNvPr id="110" name="group 110"/>
          <p:cNvGrpSpPr/>
          <p:nvPr/>
        </p:nvGrpSpPr>
        <p:grpSpPr>
          <a:xfrm rot="21600000">
            <a:off x="5971032" y="1449324"/>
            <a:ext cx="146303" cy="146303"/>
            <a:chOff x="0" y="0"/>
            <a:chExt cx="146303" cy="146303"/>
          </a:xfrm>
        </p:grpSpPr>
        <p:sp>
          <p:nvSpPr>
            <p:cNvPr id="514" name="path"/>
            <p:cNvSpPr/>
            <p:nvPr/>
          </p:nvSpPr>
          <p:spPr>
            <a:xfrm>
              <a:off x="4571" y="4571"/>
              <a:ext cx="137159" cy="137159"/>
            </a:xfrm>
            <a:custGeom>
              <a:avLst/>
              <a:gdLst/>
              <a:ahLst/>
              <a:cxnLst/>
              <a:rect l="0" t="0" r="0" b="0"/>
              <a:pathLst>
                <a:path w="215" h="215">
                  <a:moveTo>
                    <a:pt x="0" y="215"/>
                  </a:moveTo>
                  <a:lnTo>
                    <a:pt x="215" y="215"/>
                  </a:lnTo>
                  <a:lnTo>
                    <a:pt x="215" y="0"/>
                  </a:lnTo>
                  <a:lnTo>
                    <a:pt x="0" y="0"/>
                  </a:lnTo>
                  <a:lnTo>
                    <a:pt x="0" y="215"/>
                  </a:lnTo>
                  <a:close/>
                </a:path>
              </a:pathLst>
            </a:custGeom>
            <a:solidFill>
              <a:srgbClr val="0065BD">
                <a:alpha val="100000"/>
              </a:srgbClr>
            </a:solidFill>
            <a:ln cap="flat">
              <a:noFill/>
              <a:prstDash val="solid"/>
              <a:miter lim="0"/>
            </a:ln>
          </p:spPr>
          <p:txBody>
            <a:bodyPr rtlCol="0"/>
            <a:lstStyle/>
            <a:p>
              <a:pPr algn="ctr"/>
              <a:endParaRPr lang="zh-CN" altLang="en-US"/>
            </a:p>
          </p:txBody>
        </p:sp>
        <p:sp>
          <p:nvSpPr>
            <p:cNvPr id="515" name="path"/>
            <p:cNvSpPr/>
            <p:nvPr/>
          </p:nvSpPr>
          <p:spPr>
            <a:xfrm>
              <a:off x="0" y="0"/>
              <a:ext cx="146303" cy="146303"/>
            </a:xfrm>
            <a:custGeom>
              <a:avLst/>
              <a:gdLst/>
              <a:ahLst/>
              <a:cxnLst/>
              <a:rect l="0" t="0" r="0" b="0"/>
              <a:pathLst>
                <a:path w="230" h="230">
                  <a:moveTo>
                    <a:pt x="7" y="223"/>
                  </a:moveTo>
                  <a:lnTo>
                    <a:pt x="223" y="223"/>
                  </a:lnTo>
                  <a:lnTo>
                    <a:pt x="223" y="7"/>
                  </a:lnTo>
                  <a:lnTo>
                    <a:pt x="7" y="7"/>
                  </a:lnTo>
                  <a:lnTo>
                    <a:pt x="7" y="223"/>
                  </a:lnTo>
                  <a:close/>
                </a:path>
              </a:pathLst>
            </a:custGeom>
            <a:noFill/>
            <a:ln w="9143" cap="flat">
              <a:solidFill>
                <a:srgbClr val="FFFFFF">
                  <a:alpha val="100000"/>
                </a:srgbClr>
              </a:solidFill>
              <a:prstDash val="solid"/>
              <a:round/>
            </a:ln>
          </p:spPr>
          <p:txBody>
            <a:bodyPr rtlCol="0"/>
            <a:lstStyle/>
            <a:p>
              <a:pPr algn="ctr"/>
              <a:endParaRPr lang="zh-CN" altLang="en-US"/>
            </a:p>
          </p:txBody>
        </p:sp>
      </p:grpSp>
      <p:sp>
        <p:nvSpPr>
          <p:cNvPr id="517" name="rect"/>
          <p:cNvSpPr/>
          <p:nvPr/>
        </p:nvSpPr>
        <p:spPr>
          <a:xfrm>
            <a:off x="678180" y="3486911"/>
            <a:ext cx="419100" cy="1856232"/>
          </a:xfrm>
          <a:prstGeom prst="rect">
            <a:avLst/>
          </a:prstGeom>
          <a:solidFill>
            <a:srgbClr val="CCCCCC">
              <a:alpha val="100000"/>
            </a:srgbClr>
          </a:solidFill>
          <a:ln cap="flat">
            <a:noFill/>
            <a:prstDash val="solid"/>
            <a:miter lim="0"/>
          </a:ln>
        </p:spPr>
        <p:txBody>
          <a:bodyPr rtlCol="0"/>
          <a:lstStyle/>
          <a:p>
            <a:pPr algn="ctr"/>
            <a:endParaRPr lang="zh-CN" altLang="en-US"/>
          </a:p>
        </p:txBody>
      </p:sp>
      <p:pic>
        <p:nvPicPr>
          <p:cNvPr id="518" name="picture 518"/>
          <p:cNvPicPr>
            <a:picLocks noChangeAspect="1"/>
          </p:cNvPicPr>
          <p:nvPr/>
        </p:nvPicPr>
        <p:blipFill>
          <a:blip r:embed="rId2"/>
          <a:stretch>
            <a:fillRect/>
          </a:stretch>
        </p:blipFill>
        <p:spPr>
          <a:xfrm rot="21600000">
            <a:off x="678180" y="3480816"/>
            <a:ext cx="419100" cy="12192"/>
          </a:xfrm>
          <a:prstGeom prst="rect">
            <a:avLst/>
          </a:prstGeom>
        </p:spPr>
      </p:pic>
      <p:sp>
        <p:nvSpPr>
          <p:cNvPr id="519" name="rect"/>
          <p:cNvSpPr/>
          <p:nvPr/>
        </p:nvSpPr>
        <p:spPr>
          <a:xfrm>
            <a:off x="678180" y="2249423"/>
            <a:ext cx="419100" cy="1237488"/>
          </a:xfrm>
          <a:prstGeom prst="rect">
            <a:avLst/>
          </a:prstGeom>
          <a:solidFill>
            <a:srgbClr val="CCCCCC">
              <a:alpha val="100000"/>
            </a:srgbClr>
          </a:solidFill>
          <a:ln cap="flat">
            <a:noFill/>
            <a:prstDash val="solid"/>
            <a:miter lim="0"/>
          </a:ln>
        </p:spPr>
        <p:txBody>
          <a:bodyPr rtlCol="0"/>
          <a:lstStyle/>
          <a:p>
            <a:pPr algn="ctr"/>
            <a:endParaRPr lang="zh-CN" altLang="en-US"/>
          </a:p>
        </p:txBody>
      </p:sp>
      <p:sp>
        <p:nvSpPr>
          <p:cNvPr id="520" name="textbox 520"/>
          <p:cNvSpPr/>
          <p:nvPr/>
        </p:nvSpPr>
        <p:spPr>
          <a:xfrm>
            <a:off x="117606" y="6309533"/>
            <a:ext cx="4195445" cy="144779"/>
          </a:xfrm>
          <a:prstGeom prst="rect">
            <a:avLst/>
          </a:prstGeom>
        </p:spPr>
        <p:txBody>
          <a:bodyPr vert="horz" wrap="square" lIns="0" tIns="0" rIns="0" bIns="0"/>
          <a:lstStyle/>
          <a:p>
            <a:pPr algn="l" rtl="0" eaLnBrk="0">
              <a:lnSpc>
                <a:spcPct val="81000"/>
              </a:lnSpc>
            </a:pPr>
            <a:endParaRPr lang="en-US" altLang="en-US" sz="100" dirty="0"/>
          </a:p>
          <a:p>
            <a:pPr marL="12700" algn="l" rtl="0" eaLnBrk="0">
              <a:lnSpc>
                <a:spcPct val="98000"/>
              </a:lnSpc>
            </a:pPr>
            <a:r>
              <a:rPr sz="800" spc="-10" dirty="0">
                <a:solidFill>
                  <a:srgbClr val="808080">
                    <a:alpha val="100000"/>
                  </a:srgbClr>
                </a:solidFill>
                <a:latin typeface="Arial" panose="020B0604020202020204"/>
                <a:ea typeface="Arial" panose="020B0604020202020204"/>
                <a:cs typeface="Arial" panose="020B0604020202020204"/>
              </a:rPr>
              <a:t>1 </a:t>
            </a:r>
            <a:r>
              <a:rPr sz="800" spc="-10" dirty="0">
                <a:solidFill>
                  <a:srgbClr val="808080">
                    <a:alpha val="100000"/>
                  </a:srgbClr>
                </a:solidFill>
                <a:latin typeface="楷体" panose="02010609060101010101" charset="-122"/>
                <a:ea typeface="楷体" panose="02010609060101010101" charset="-122"/>
                <a:cs typeface="楷体" panose="02010609060101010101" charset="-122"/>
              </a:rPr>
              <a:t>包括国家 </a:t>
            </a:r>
            <a:r>
              <a:rPr sz="800" spc="0" dirty="0">
                <a:solidFill>
                  <a:srgbClr val="808080">
                    <a:alpha val="100000"/>
                  </a:srgbClr>
                </a:solidFill>
                <a:latin typeface="Arial" panose="020B0604020202020204"/>
                <a:ea typeface="Arial" panose="020B0604020202020204"/>
                <a:cs typeface="Arial" panose="020B0604020202020204"/>
              </a:rPr>
              <a:t>A</a:t>
            </a:r>
            <a:r>
              <a:rPr sz="800" spc="-10" dirty="0">
                <a:solidFill>
                  <a:srgbClr val="808080">
                    <a:alpha val="100000"/>
                  </a:srgbClr>
                </a:solidFill>
                <a:latin typeface="Arial" panose="020B0604020202020204"/>
                <a:ea typeface="Arial" panose="020B0604020202020204"/>
                <a:cs typeface="Arial" panose="020B0604020202020204"/>
              </a:rPr>
              <a:t>, </a:t>
            </a:r>
            <a:r>
              <a:rPr sz="800" spc="0" dirty="0">
                <a:solidFill>
                  <a:srgbClr val="808080">
                    <a:alpha val="100000"/>
                  </a:srgbClr>
                </a:solidFill>
                <a:latin typeface="Arial" panose="020B0604020202020204"/>
                <a:ea typeface="Arial" panose="020B0604020202020204"/>
                <a:cs typeface="Arial" panose="020B0604020202020204"/>
              </a:rPr>
              <a:t>B</a:t>
            </a:r>
            <a:r>
              <a:rPr sz="800" spc="-10" dirty="0">
                <a:solidFill>
                  <a:srgbClr val="808080">
                    <a:alpha val="100000"/>
                  </a:srgbClr>
                </a:solidFill>
                <a:latin typeface="Arial" panose="020B0604020202020204"/>
                <a:ea typeface="Arial" panose="020B0604020202020204"/>
                <a:cs typeface="Arial" panose="020B0604020202020204"/>
              </a:rPr>
              <a:t>, </a:t>
            </a:r>
            <a:r>
              <a:rPr sz="800" spc="0" dirty="0">
                <a:solidFill>
                  <a:srgbClr val="808080">
                    <a:alpha val="100000"/>
                  </a:srgbClr>
                </a:solidFill>
                <a:latin typeface="Arial" panose="020B0604020202020204"/>
                <a:ea typeface="Arial" panose="020B0604020202020204"/>
                <a:cs typeface="Arial" panose="020B0604020202020204"/>
              </a:rPr>
              <a:t>C</a:t>
            </a:r>
            <a:r>
              <a:rPr sz="800" spc="-10" dirty="0">
                <a:solidFill>
                  <a:srgbClr val="808080">
                    <a:alpha val="100000"/>
                  </a:srgbClr>
                </a:solidFill>
                <a:latin typeface="Arial" panose="020B0604020202020204"/>
                <a:ea typeface="Arial" panose="020B0604020202020204"/>
                <a:cs typeface="Arial" panose="020B0604020202020204"/>
              </a:rPr>
              <a:t>; 2 </a:t>
            </a:r>
            <a:r>
              <a:rPr sz="800" spc="0" dirty="0">
                <a:solidFill>
                  <a:srgbClr val="808080">
                    <a:alpha val="100000"/>
                  </a:srgbClr>
                </a:solidFill>
                <a:latin typeface="楷体" panose="02010609060101010101" charset="-122"/>
                <a:ea typeface="楷体" panose="02010609060101010101" charset="-122"/>
                <a:cs typeface="楷体" panose="02010609060101010101" charset="-122"/>
              </a:rPr>
              <a:t>假设全年</a:t>
            </a:r>
            <a:r>
              <a:rPr sz="800" spc="0" dirty="0">
                <a:solidFill>
                  <a:srgbClr val="808080">
                    <a:alpha val="100000"/>
                  </a:srgbClr>
                </a:solidFill>
                <a:latin typeface="Arial" panose="020B0604020202020204"/>
                <a:ea typeface="Arial" panose="020B0604020202020204"/>
                <a:cs typeface="Arial" panose="020B0604020202020204"/>
              </a:rPr>
              <a:t>220</a:t>
            </a:r>
            <a:r>
              <a:rPr sz="800" spc="0" dirty="0">
                <a:solidFill>
                  <a:srgbClr val="808080">
                    <a:alpha val="100000"/>
                  </a:srgbClr>
                </a:solidFill>
                <a:latin typeface="楷体" panose="02010609060101010101" charset="-122"/>
                <a:ea typeface="楷体" panose="02010609060101010101" charset="-122"/>
                <a:cs typeface="楷体" panose="02010609060101010101" charset="-122"/>
              </a:rPr>
              <a:t>个工作日</a:t>
            </a:r>
            <a:r>
              <a:rPr sz="800" spc="0" dirty="0">
                <a:solidFill>
                  <a:srgbClr val="808080">
                    <a:alpha val="100000"/>
                  </a:srgbClr>
                </a:solidFill>
                <a:latin typeface="Arial" panose="020B0604020202020204"/>
                <a:ea typeface="Arial" panose="020B0604020202020204"/>
                <a:cs typeface="Arial" panose="020B0604020202020204"/>
              </a:rPr>
              <a:t>, 30%</a:t>
            </a:r>
            <a:r>
              <a:rPr sz="800" spc="0" dirty="0">
                <a:solidFill>
                  <a:srgbClr val="808080">
                    <a:alpha val="100000"/>
                  </a:srgbClr>
                </a:solidFill>
                <a:latin typeface="楷体" panose="02010609060101010101" charset="-122"/>
                <a:ea typeface="楷体" panose="02010609060101010101" charset="-122"/>
                <a:cs typeface="楷体" panose="02010609060101010101" charset="-122"/>
              </a:rPr>
              <a:t>的时间用于服务客户</a:t>
            </a:r>
            <a:r>
              <a:rPr sz="800" spc="0" dirty="0">
                <a:solidFill>
                  <a:srgbClr val="808080">
                    <a:alpha val="100000"/>
                  </a:srgbClr>
                </a:solidFill>
                <a:latin typeface="Arial" panose="020B0604020202020204"/>
                <a:ea typeface="Arial" panose="020B0604020202020204"/>
                <a:cs typeface="Arial" panose="020B0604020202020204"/>
              </a:rPr>
              <a:t>, </a:t>
            </a:r>
            <a:r>
              <a:rPr sz="800" spc="0" dirty="0">
                <a:solidFill>
                  <a:srgbClr val="808080">
                    <a:alpha val="100000"/>
                  </a:srgbClr>
                </a:solidFill>
                <a:latin typeface="楷体" panose="02010609060101010101" charset="-122"/>
                <a:ea typeface="楷体" panose="02010609060101010101" charset="-122"/>
                <a:cs typeface="楷体" panose="02010609060101010101" charset="-122"/>
              </a:rPr>
              <a:t>每个平均客户拜访</a:t>
            </a:r>
            <a:r>
              <a:rPr sz="800" spc="0" dirty="0">
                <a:solidFill>
                  <a:srgbClr val="808080">
                    <a:alpha val="100000"/>
                  </a:srgbClr>
                </a:solidFill>
                <a:latin typeface="Arial" panose="020B0604020202020204"/>
                <a:ea typeface="Arial" panose="020B0604020202020204"/>
                <a:cs typeface="Arial" panose="020B0604020202020204"/>
              </a:rPr>
              <a:t>8</a:t>
            </a:r>
            <a:r>
              <a:rPr sz="800" spc="0" dirty="0">
                <a:solidFill>
                  <a:srgbClr val="808080">
                    <a:alpha val="100000"/>
                  </a:srgbClr>
                </a:solidFill>
                <a:latin typeface="楷体" panose="02010609060101010101" charset="-122"/>
                <a:ea typeface="楷体" panose="02010609060101010101" charset="-122"/>
                <a:cs typeface="楷体" panose="02010609060101010101" charset="-122"/>
              </a:rPr>
              <a:t>次</a:t>
            </a:r>
            <a:endParaRPr lang="en-US" altLang="en-US" sz="800" dirty="0"/>
          </a:p>
        </p:txBody>
      </p:sp>
      <p:graphicFrame>
        <p:nvGraphicFramePr>
          <p:cNvPr id="521" name="table 521"/>
          <p:cNvGraphicFramePr>
            <a:graphicFrameLocks noGrp="1"/>
          </p:cNvGraphicFramePr>
          <p:nvPr/>
        </p:nvGraphicFramePr>
        <p:xfrm>
          <a:off x="4782311" y="4511040"/>
          <a:ext cx="431165" cy="831848"/>
        </p:xfrm>
        <a:graphic>
          <a:graphicData uri="http://schemas.openxmlformats.org/drawingml/2006/table">
            <a:tbl>
              <a:tblPr/>
              <a:tblGrid>
                <a:gridCol w="431165"/>
              </a:tblGrid>
              <a:tr h="213359">
                <a:tc>
                  <a:txBody>
                    <a:bodyPr/>
                    <a:lstStyle/>
                    <a:p>
                      <a:pPr algn="l" rtl="0" eaLnBrk="0">
                        <a:lnSpc>
                          <a:spcPct val="100000"/>
                        </a:lnSpc>
                      </a:pPr>
                      <a:endParaRPr lang="en-US" altLang="en-US" sz="1000" dirty="0">
                        <a:latin typeface="微软雅黑" panose="020B0503020204020204" charset="-122"/>
                        <a:ea typeface="微软雅黑" panose="020B0503020204020204" charset="-122"/>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0065BD"/>
                    </a:solidFill>
                  </a:tcPr>
                </a:tc>
              </a:tr>
              <a:tr h="205739">
                <a:tc>
                  <a:txBody>
                    <a:bodyPr/>
                    <a:lstStyle/>
                    <a:p>
                      <a:pPr algn="l" rtl="0" eaLnBrk="0">
                        <a:lnSpc>
                          <a:spcPct val="100000"/>
                        </a:lnSpc>
                      </a:pPr>
                      <a:endParaRPr lang="en-US" altLang="en-US" sz="1000" dirty="0">
                        <a:ea typeface="微软雅黑" panose="020B0503020204020204" charset="-122"/>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CCCCCC"/>
                    </a:solidFill>
                  </a:tcPr>
                </a:tc>
              </a:tr>
              <a:tr h="412750">
                <a:tc>
                  <a:txBody>
                    <a:bodyPr/>
                    <a:lstStyle/>
                    <a:p>
                      <a:pPr algn="l" rtl="0" eaLnBrk="0">
                        <a:lnSpc>
                          <a:spcPct val="100000"/>
                        </a:lnSpc>
                      </a:pPr>
                      <a:endParaRPr lang="en-US" altLang="en-US" sz="1000" dirty="0">
                        <a:ea typeface="微软雅黑" panose="020B0503020204020204" charset="-122"/>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a:noFill/>
                    </a:lnB>
                    <a:solidFill>
                      <a:srgbClr val="CCCCCC"/>
                    </a:solidFill>
                  </a:tcPr>
                </a:tc>
              </a:tr>
            </a:tbl>
          </a:graphicData>
        </a:graphic>
      </p:graphicFrame>
      <p:graphicFrame>
        <p:nvGraphicFramePr>
          <p:cNvPr id="522" name="table 522"/>
          <p:cNvGraphicFramePr>
            <a:graphicFrameLocks noGrp="1"/>
          </p:cNvGraphicFramePr>
          <p:nvPr/>
        </p:nvGraphicFramePr>
        <p:xfrm>
          <a:off x="3020568" y="4511040"/>
          <a:ext cx="431165" cy="831848"/>
        </p:xfrm>
        <a:graphic>
          <a:graphicData uri="http://schemas.openxmlformats.org/drawingml/2006/table">
            <a:tbl>
              <a:tblPr/>
              <a:tblGrid>
                <a:gridCol w="431165"/>
              </a:tblGrid>
              <a:tr h="419100">
                <a:tc>
                  <a:txBody>
                    <a:bodyPr/>
                    <a:lstStyle/>
                    <a:p>
                      <a:pPr algn="l" rtl="0" eaLnBrk="0">
                        <a:lnSpc>
                          <a:spcPct val="100000"/>
                        </a:lnSpc>
                      </a:pPr>
                      <a:endParaRPr lang="en-US" altLang="en-US" sz="1000" dirty="0">
                        <a:latin typeface="微软雅黑" panose="020B0503020204020204" charset="-122"/>
                        <a:ea typeface="微软雅黑" panose="020B0503020204020204" charset="-122"/>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CCCCCC"/>
                    </a:solidFill>
                  </a:tcPr>
                </a:tc>
              </a:tr>
              <a:tr h="205739">
                <a:tc>
                  <a:txBody>
                    <a:bodyPr/>
                    <a:lstStyle/>
                    <a:p>
                      <a:pPr algn="l" rtl="0" eaLnBrk="0">
                        <a:lnSpc>
                          <a:spcPct val="100000"/>
                        </a:lnSpc>
                      </a:pPr>
                      <a:endParaRPr lang="en-US" altLang="en-US" sz="1000" dirty="0">
                        <a:ea typeface="微软雅黑" panose="020B0503020204020204" charset="-122"/>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CCCCCC"/>
                    </a:solidFill>
                  </a:tcPr>
                </a:tc>
              </a:tr>
              <a:tr h="207009">
                <a:tc>
                  <a:txBody>
                    <a:bodyPr/>
                    <a:lstStyle/>
                    <a:p>
                      <a:pPr algn="l" rtl="0" eaLnBrk="0">
                        <a:lnSpc>
                          <a:spcPct val="100000"/>
                        </a:lnSpc>
                      </a:pPr>
                      <a:endParaRPr lang="en-US" altLang="en-US" sz="1000" dirty="0">
                        <a:ea typeface="微软雅黑" panose="020B0503020204020204" charset="-122"/>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a:noFill/>
                    </a:lnB>
                    <a:solidFill>
                      <a:srgbClr val="CCCCCC"/>
                    </a:solidFill>
                  </a:tcPr>
                </a:tc>
              </a:tr>
            </a:tbl>
          </a:graphicData>
        </a:graphic>
      </p:graphicFrame>
      <p:graphicFrame>
        <p:nvGraphicFramePr>
          <p:cNvPr id="523" name="table 523"/>
          <p:cNvGraphicFramePr>
            <a:graphicFrameLocks noGrp="1"/>
          </p:cNvGraphicFramePr>
          <p:nvPr/>
        </p:nvGraphicFramePr>
        <p:xfrm>
          <a:off x="7130796" y="4511040"/>
          <a:ext cx="431165" cy="831849"/>
        </p:xfrm>
        <a:graphic>
          <a:graphicData uri="http://schemas.openxmlformats.org/drawingml/2006/table">
            <a:tbl>
              <a:tblPr/>
              <a:tblGrid>
                <a:gridCol w="431165"/>
              </a:tblGrid>
              <a:tr h="624840">
                <a:tc>
                  <a:txBody>
                    <a:bodyPr/>
                    <a:lstStyle/>
                    <a:p>
                      <a:pPr algn="l" rtl="0" eaLnBrk="0">
                        <a:lnSpc>
                          <a:spcPct val="100000"/>
                        </a:lnSpc>
                      </a:pPr>
                      <a:endParaRPr lang="en-US" altLang="en-US" sz="1000" dirty="0">
                        <a:latin typeface="微软雅黑" panose="020B0503020204020204" charset="-122"/>
                        <a:ea typeface="微软雅黑" panose="020B0503020204020204" charset="-122"/>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CCCCCC"/>
                    </a:solidFill>
                  </a:tcPr>
                </a:tc>
              </a:tr>
              <a:tr h="207009">
                <a:tc>
                  <a:txBody>
                    <a:bodyPr/>
                    <a:lstStyle/>
                    <a:p>
                      <a:pPr algn="l" rtl="0" eaLnBrk="0">
                        <a:lnSpc>
                          <a:spcPct val="100000"/>
                        </a:lnSpc>
                      </a:pPr>
                      <a:endParaRPr lang="en-US" altLang="en-US" sz="1000" dirty="0">
                        <a:ea typeface="微软雅黑" panose="020B0503020204020204" charset="-122"/>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a:noFill/>
                    </a:lnB>
                    <a:solidFill>
                      <a:srgbClr val="CCCCCC"/>
                    </a:solidFill>
                  </a:tcPr>
                </a:tc>
              </a:tr>
            </a:tbl>
          </a:graphicData>
        </a:graphic>
      </p:graphicFrame>
      <p:graphicFrame>
        <p:nvGraphicFramePr>
          <p:cNvPr id="524" name="table 524"/>
          <p:cNvGraphicFramePr>
            <a:graphicFrameLocks noGrp="1"/>
          </p:cNvGraphicFramePr>
          <p:nvPr/>
        </p:nvGraphicFramePr>
        <p:xfrm>
          <a:off x="6544056" y="4511040"/>
          <a:ext cx="431165" cy="831849"/>
        </p:xfrm>
        <a:graphic>
          <a:graphicData uri="http://schemas.openxmlformats.org/drawingml/2006/table">
            <a:tbl>
              <a:tblPr/>
              <a:tblGrid>
                <a:gridCol w="431165"/>
              </a:tblGrid>
              <a:tr h="213359">
                <a:tc>
                  <a:txBody>
                    <a:bodyPr/>
                    <a:lstStyle/>
                    <a:p>
                      <a:pPr algn="l" rtl="0" eaLnBrk="0">
                        <a:lnSpc>
                          <a:spcPct val="100000"/>
                        </a:lnSpc>
                      </a:pPr>
                      <a:endParaRPr lang="en-US" altLang="en-US" sz="1000" dirty="0">
                        <a:latin typeface="微软雅黑" panose="020B0503020204020204" charset="-122"/>
                        <a:ea typeface="微软雅黑" panose="020B0503020204020204" charset="-122"/>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CCCCCC"/>
                    </a:solidFill>
                  </a:tcPr>
                </a:tc>
              </a:tr>
              <a:tr h="618490">
                <a:tc>
                  <a:txBody>
                    <a:bodyPr/>
                    <a:lstStyle/>
                    <a:p>
                      <a:pPr algn="l" rtl="0" eaLnBrk="0">
                        <a:lnSpc>
                          <a:spcPct val="100000"/>
                        </a:lnSpc>
                      </a:pPr>
                      <a:endParaRPr lang="en-US" altLang="en-US" sz="1000" dirty="0">
                        <a:ea typeface="微软雅黑" panose="020B0503020204020204" charset="-122"/>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a:noFill/>
                    </a:lnB>
                    <a:solidFill>
                      <a:srgbClr val="CCCCCC"/>
                    </a:solidFill>
                  </a:tcPr>
                </a:tc>
              </a:tr>
            </a:tbl>
          </a:graphicData>
        </a:graphic>
      </p:graphicFrame>
      <p:sp>
        <p:nvSpPr>
          <p:cNvPr id="525" name="rect"/>
          <p:cNvSpPr/>
          <p:nvPr/>
        </p:nvSpPr>
        <p:spPr>
          <a:xfrm>
            <a:off x="5375148" y="4724400"/>
            <a:ext cx="419100" cy="411480"/>
          </a:xfrm>
          <a:prstGeom prst="rect">
            <a:avLst/>
          </a:prstGeom>
          <a:solidFill>
            <a:srgbClr val="CCCCCC">
              <a:alpha val="100000"/>
            </a:srgbClr>
          </a:solidFill>
          <a:ln cap="flat">
            <a:noFill/>
            <a:prstDash val="solid"/>
            <a:miter lim="0"/>
          </a:ln>
        </p:spPr>
        <p:txBody>
          <a:bodyPr rtlCol="0"/>
          <a:lstStyle/>
          <a:p>
            <a:pPr algn="ctr"/>
            <a:endParaRPr lang="zh-CN" altLang="en-US"/>
          </a:p>
        </p:txBody>
      </p:sp>
      <p:sp>
        <p:nvSpPr>
          <p:cNvPr id="526" name="textbox 526"/>
          <p:cNvSpPr/>
          <p:nvPr/>
        </p:nvSpPr>
        <p:spPr>
          <a:xfrm>
            <a:off x="8818509" y="1037437"/>
            <a:ext cx="114935" cy="1840229"/>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endParaRPr sz="600" spc="0" dirty="0">
              <a:solidFill>
                <a:srgbClr val="808080">
                  <a:alpha val="100000"/>
                </a:srgbClr>
              </a:solidFill>
              <a:latin typeface="Arial" panose="020B0604020202020204"/>
              <a:ea typeface="Arial" panose="020B0604020202020204"/>
              <a:cs typeface="Arial" panose="020B0604020202020204"/>
            </a:endParaRPr>
          </a:p>
        </p:txBody>
      </p:sp>
      <p:sp>
        <p:nvSpPr>
          <p:cNvPr id="527" name="rect"/>
          <p:cNvSpPr/>
          <p:nvPr/>
        </p:nvSpPr>
        <p:spPr>
          <a:xfrm>
            <a:off x="5375148" y="5135880"/>
            <a:ext cx="419100" cy="207263"/>
          </a:xfrm>
          <a:prstGeom prst="rect">
            <a:avLst/>
          </a:prstGeom>
          <a:solidFill>
            <a:srgbClr val="CCCCCC">
              <a:alpha val="100000"/>
            </a:srgbClr>
          </a:solidFill>
          <a:ln cap="flat">
            <a:noFill/>
            <a:prstDash val="solid"/>
            <a:miter lim="0"/>
          </a:ln>
        </p:spPr>
        <p:txBody>
          <a:bodyPr rtlCol="0"/>
          <a:lstStyle/>
          <a:p>
            <a:pPr algn="ctr"/>
            <a:endParaRPr lang="zh-CN" altLang="en-US"/>
          </a:p>
        </p:txBody>
      </p:sp>
      <p:sp>
        <p:nvSpPr>
          <p:cNvPr id="528" name="rect"/>
          <p:cNvSpPr/>
          <p:nvPr/>
        </p:nvSpPr>
        <p:spPr>
          <a:xfrm>
            <a:off x="5375148" y="4517136"/>
            <a:ext cx="419100" cy="207263"/>
          </a:xfrm>
          <a:prstGeom prst="rect">
            <a:avLst/>
          </a:prstGeom>
          <a:solidFill>
            <a:srgbClr val="CCCCCC">
              <a:alpha val="100000"/>
            </a:srgbClr>
          </a:solidFill>
          <a:ln cap="flat">
            <a:noFill/>
            <a:prstDash val="solid"/>
            <a:miter lim="0"/>
          </a:ln>
        </p:spPr>
        <p:txBody>
          <a:bodyPr rtlCol="0"/>
          <a:lstStyle/>
          <a:p>
            <a:pPr algn="ctr"/>
            <a:endParaRPr lang="zh-CN" altLang="en-US"/>
          </a:p>
        </p:txBody>
      </p:sp>
      <p:sp>
        <p:nvSpPr>
          <p:cNvPr id="529" name="rect"/>
          <p:cNvSpPr/>
          <p:nvPr/>
        </p:nvSpPr>
        <p:spPr>
          <a:xfrm>
            <a:off x="5375148" y="4311396"/>
            <a:ext cx="419100" cy="205739"/>
          </a:xfrm>
          <a:prstGeom prst="rect">
            <a:avLst/>
          </a:prstGeom>
          <a:solidFill>
            <a:srgbClr val="0065BD">
              <a:alpha val="100000"/>
            </a:srgbClr>
          </a:solidFill>
          <a:ln cap="flat">
            <a:noFill/>
            <a:prstDash val="solid"/>
            <a:miter lim="0"/>
          </a:ln>
        </p:spPr>
        <p:txBody>
          <a:bodyPr rtlCol="0"/>
          <a:lstStyle/>
          <a:p>
            <a:pPr algn="ctr"/>
            <a:endParaRPr lang="zh-CN" altLang="en-US"/>
          </a:p>
        </p:txBody>
      </p:sp>
      <p:sp>
        <p:nvSpPr>
          <p:cNvPr id="530" name="textbox 530"/>
          <p:cNvSpPr/>
          <p:nvPr/>
        </p:nvSpPr>
        <p:spPr>
          <a:xfrm>
            <a:off x="187705" y="2048307"/>
            <a:ext cx="492125" cy="200660"/>
          </a:xfrm>
          <a:prstGeom prst="rect">
            <a:avLst/>
          </a:prstGeom>
        </p:spPr>
        <p:txBody>
          <a:bodyPr vert="horz" wrap="square" lIns="0" tIns="0" rIns="0" bIns="0"/>
          <a:lstStyle/>
          <a:p>
            <a:pPr algn="l" rtl="0" eaLnBrk="0">
              <a:lnSpc>
                <a:spcPct val="79000"/>
              </a:lnSpc>
            </a:pPr>
            <a:endParaRPr lang="en-US" altLang="en-US" sz="100" dirty="0"/>
          </a:p>
          <a:p>
            <a:pPr marL="12700" algn="l" rtl="0" eaLnBrk="0">
              <a:lnSpc>
                <a:spcPct val="81000"/>
              </a:lnSpc>
            </a:pPr>
            <a:r>
              <a:rPr sz="1200" b="1" spc="-20" dirty="0">
                <a:solidFill>
                  <a:srgbClr val="002960">
                    <a:alpha val="100000"/>
                  </a:srgbClr>
                </a:solidFill>
                <a:latin typeface="Arial" panose="020B0604020202020204"/>
                <a:ea typeface="Arial" panose="020B0604020202020204"/>
                <a:cs typeface="Arial" panose="020B0604020202020204"/>
              </a:rPr>
              <a:t>100%</a:t>
            </a:r>
            <a:r>
              <a:rPr sz="1200" b="1" spc="-10" dirty="0">
                <a:solidFill>
                  <a:srgbClr val="002960">
                    <a:alpha val="100000"/>
                  </a:srgbClr>
                </a:solidFill>
                <a:latin typeface="Arial" panose="020B0604020202020204"/>
                <a:ea typeface="Arial" panose="020B0604020202020204"/>
                <a:cs typeface="Arial" panose="020B0604020202020204"/>
              </a:rPr>
              <a:t>=</a:t>
            </a:r>
            <a:endParaRPr lang="en-US" altLang="en-US" sz="1200" dirty="0"/>
          </a:p>
        </p:txBody>
      </p:sp>
      <p:pic>
        <p:nvPicPr>
          <p:cNvPr id="531" name="picture 531"/>
          <p:cNvPicPr>
            <a:picLocks noChangeAspect="1"/>
          </p:cNvPicPr>
          <p:nvPr/>
        </p:nvPicPr>
        <p:blipFill>
          <a:blip r:embed="rId3"/>
          <a:stretch>
            <a:fillRect/>
          </a:stretch>
        </p:blipFill>
        <p:spPr>
          <a:xfrm rot="21600000">
            <a:off x="7725156" y="3474720"/>
            <a:ext cx="128015" cy="166116"/>
          </a:xfrm>
          <a:prstGeom prst="rect">
            <a:avLst/>
          </a:prstGeom>
        </p:spPr>
      </p:pic>
      <p:sp>
        <p:nvSpPr>
          <p:cNvPr id="532" name="path"/>
          <p:cNvSpPr/>
          <p:nvPr/>
        </p:nvSpPr>
        <p:spPr>
          <a:xfrm>
            <a:off x="7725156" y="3880104"/>
            <a:ext cx="128015" cy="152400"/>
          </a:xfrm>
          <a:custGeom>
            <a:avLst/>
            <a:gdLst/>
            <a:ahLst/>
            <a:cxnLst/>
            <a:rect l="0" t="0" r="0" b="0"/>
            <a:pathLst>
              <a:path w="201" h="240">
                <a:moveTo>
                  <a:pt x="201" y="240"/>
                </a:moveTo>
                <a:lnTo>
                  <a:pt x="201" y="240"/>
                </a:lnTo>
                <a:lnTo>
                  <a:pt x="201" y="240"/>
                </a:lnTo>
                <a:lnTo>
                  <a:pt x="0" y="120"/>
                </a:lnTo>
                <a:lnTo>
                  <a:pt x="201" y="0"/>
                </a:lnTo>
                <a:lnTo>
                  <a:pt x="201" y="0"/>
                </a:lnTo>
                <a:lnTo>
                  <a:pt x="201" y="0"/>
                </a:lnTo>
                <a:lnTo>
                  <a:pt x="201" y="240"/>
                </a:lnTo>
                <a:close/>
              </a:path>
            </a:pathLst>
          </a:custGeom>
          <a:solidFill>
            <a:srgbClr val="002960">
              <a:alpha val="100000"/>
            </a:srgbClr>
          </a:solidFill>
          <a:ln cap="flat">
            <a:noFill/>
            <a:prstDash val="solid"/>
            <a:miter lim="0"/>
          </a:ln>
        </p:spPr>
        <p:txBody>
          <a:bodyPr rtlCol="0"/>
          <a:lstStyle/>
          <a:p>
            <a:pPr algn="ctr"/>
            <a:endParaRPr lang="zh-CN" altLang="en-US"/>
          </a:p>
        </p:txBody>
      </p:sp>
      <p:sp>
        <p:nvSpPr>
          <p:cNvPr id="533" name="textbox 533"/>
          <p:cNvSpPr/>
          <p:nvPr/>
        </p:nvSpPr>
        <p:spPr>
          <a:xfrm>
            <a:off x="8818435" y="4032021"/>
            <a:ext cx="114935" cy="262890"/>
          </a:xfrm>
          <a:prstGeom prst="rect">
            <a:avLst/>
          </a:prstGeom>
        </p:spPr>
        <p:txBody>
          <a:bodyPr vert="eaVert" wrap="square" lIns="0" tIns="0" rIns="0" bIns="0"/>
          <a:lstStyle/>
          <a:p>
            <a:pPr algn="l" rtl="0" eaLnBrk="0">
              <a:lnSpc>
                <a:spcPct val="85000"/>
              </a:lnSpc>
            </a:pPr>
            <a:endParaRPr lang="en-US" altLang="en-US" sz="100" dirty="0"/>
          </a:p>
          <a:p>
            <a:pPr marL="12700" algn="l" rtl="0" eaLnBrk="0">
              <a:lnSpc>
                <a:spcPct val="79000"/>
              </a:lnSpc>
            </a:pPr>
            <a:endParaRPr sz="600" spc="-10" dirty="0">
              <a:solidFill>
                <a:srgbClr val="808080">
                  <a:alpha val="100000"/>
                </a:srgbClr>
              </a:solidFill>
              <a:latin typeface="Arial" panose="020B0604020202020204"/>
              <a:ea typeface="Arial" panose="020B0604020202020204"/>
              <a:cs typeface="Arial" panose="020B0604020202020204"/>
            </a:endParaRPr>
          </a:p>
        </p:txBody>
      </p:sp>
      <p:sp>
        <p:nvSpPr>
          <p:cNvPr id="534" name="path"/>
          <p:cNvSpPr/>
          <p:nvPr/>
        </p:nvSpPr>
        <p:spPr>
          <a:xfrm>
            <a:off x="1266443" y="3480816"/>
            <a:ext cx="419100" cy="12191"/>
          </a:xfrm>
          <a:custGeom>
            <a:avLst/>
            <a:gdLst/>
            <a:ahLst/>
            <a:cxnLst/>
            <a:rect l="0" t="0" r="0" b="0"/>
            <a:pathLst>
              <a:path w="660" h="19">
                <a:moveTo>
                  <a:pt x="660" y="9"/>
                </a:moveTo>
                <a:lnTo>
                  <a:pt x="0" y="9"/>
                </a:lnTo>
              </a:path>
            </a:pathLst>
          </a:custGeom>
          <a:noFill/>
          <a:ln w="12192" cap="flat">
            <a:solidFill>
              <a:srgbClr val="FFFFFF">
                <a:alpha val="100000"/>
              </a:srgbClr>
            </a:solidFill>
            <a:prstDash val="solid"/>
            <a:round/>
          </a:ln>
        </p:spPr>
        <p:txBody>
          <a:bodyPr rtlCol="0"/>
          <a:lstStyle/>
          <a:p>
            <a:pPr algn="ctr"/>
            <a:endParaRPr lang="zh-CN" altLang="en-US"/>
          </a:p>
        </p:txBody>
      </p:sp>
      <p:sp>
        <p:nvSpPr>
          <p:cNvPr id="535" name="path"/>
          <p:cNvSpPr/>
          <p:nvPr/>
        </p:nvSpPr>
        <p:spPr>
          <a:xfrm>
            <a:off x="1853183" y="3892296"/>
            <a:ext cx="419100" cy="12191"/>
          </a:xfrm>
          <a:custGeom>
            <a:avLst/>
            <a:gdLst/>
            <a:ahLst/>
            <a:cxnLst/>
            <a:rect l="0" t="0" r="0" b="0"/>
            <a:pathLst>
              <a:path w="660" h="19">
                <a:moveTo>
                  <a:pt x="660" y="9"/>
                </a:moveTo>
                <a:lnTo>
                  <a:pt x="0" y="9"/>
                </a:lnTo>
              </a:path>
            </a:pathLst>
          </a:custGeom>
          <a:noFill/>
          <a:ln w="12192" cap="flat">
            <a:solidFill>
              <a:srgbClr val="FFFFFF">
                <a:alpha val="100000"/>
              </a:srgbClr>
            </a:solidFill>
            <a:prstDash val="solid"/>
            <a:round/>
          </a:ln>
        </p:spPr>
        <p:txBody>
          <a:bodyPr rtlCol="0"/>
          <a:lstStyle/>
          <a:p>
            <a:pPr algn="ctr"/>
            <a:endParaRPr lang="zh-CN" altLang="en-US"/>
          </a:p>
        </p:txBody>
      </p:sp>
      <p:sp>
        <p:nvSpPr>
          <p:cNvPr id="536" name="rect"/>
          <p:cNvSpPr/>
          <p:nvPr/>
        </p:nvSpPr>
        <p:spPr>
          <a:xfrm>
            <a:off x="5788152" y="4724400"/>
            <a:ext cx="12192" cy="411480"/>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537" name="rect"/>
          <p:cNvSpPr/>
          <p:nvPr/>
        </p:nvSpPr>
        <p:spPr>
          <a:xfrm>
            <a:off x="5788152" y="5135880"/>
            <a:ext cx="12192" cy="207263"/>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538" name="rect"/>
          <p:cNvSpPr/>
          <p:nvPr/>
        </p:nvSpPr>
        <p:spPr>
          <a:xfrm>
            <a:off x="5788152" y="4517136"/>
            <a:ext cx="12192" cy="207263"/>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539" name="rect"/>
          <p:cNvSpPr/>
          <p:nvPr/>
        </p:nvSpPr>
        <p:spPr>
          <a:xfrm>
            <a:off x="5788152" y="4311396"/>
            <a:ext cx="12192" cy="205739"/>
          </a:xfrm>
          <a:prstGeom prst="rect">
            <a:avLst/>
          </a:prstGeom>
          <a:solidFill>
            <a:srgbClr val="FFFFFF">
              <a:alpha val="100000"/>
            </a:srgbClr>
          </a:solidFill>
          <a:ln cap="flat">
            <a:noFill/>
            <a:prstDash val="solid"/>
            <a:miter lim="0"/>
          </a:ln>
        </p:spPr>
        <p:txBody>
          <a:bodyPr rtlCol="0"/>
          <a:lstStyle/>
          <a:p>
            <a:pPr algn="ct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 name="group 112"/>
          <p:cNvGrpSpPr/>
          <p:nvPr/>
        </p:nvGrpSpPr>
        <p:grpSpPr>
          <a:xfrm rot="21600000">
            <a:off x="1556003" y="1392936"/>
            <a:ext cx="1937004" cy="4841747"/>
            <a:chOff x="0" y="0"/>
            <a:chExt cx="1937004" cy="4841747"/>
          </a:xfrm>
        </p:grpSpPr>
        <p:pic>
          <p:nvPicPr>
            <p:cNvPr id="540" name="picture 540"/>
            <p:cNvPicPr>
              <a:picLocks noChangeAspect="1"/>
            </p:cNvPicPr>
            <p:nvPr/>
          </p:nvPicPr>
          <p:blipFill>
            <a:blip r:embed="rId1"/>
            <a:stretch>
              <a:fillRect/>
            </a:stretch>
          </p:blipFill>
          <p:spPr>
            <a:xfrm rot="21600000">
              <a:off x="0" y="0"/>
              <a:ext cx="1937004" cy="4841747"/>
            </a:xfrm>
            <a:prstGeom prst="rect">
              <a:avLst/>
            </a:prstGeom>
          </p:spPr>
        </p:pic>
        <p:sp>
          <p:nvSpPr>
            <p:cNvPr id="541" name="textbox 541"/>
            <p:cNvSpPr/>
            <p:nvPr/>
          </p:nvSpPr>
          <p:spPr>
            <a:xfrm>
              <a:off x="-12700" y="-12700"/>
              <a:ext cx="1962785" cy="4890134"/>
            </a:xfrm>
            <a:prstGeom prst="rect">
              <a:avLst/>
            </a:prstGeom>
          </p:spPr>
          <p:txBody>
            <a:bodyPr vert="horz" wrap="square" lIns="0" tIns="0" rIns="0" bIns="0"/>
            <a:lstStyle/>
            <a:p>
              <a:pPr algn="l" rtl="0" eaLnBrk="0">
                <a:lnSpc>
                  <a:spcPct val="104000"/>
                </a:lnSpc>
              </a:pPr>
              <a:endParaRPr lang="en-US" altLang="en-US" sz="1000" dirty="0">
                <a:latin typeface="微软雅黑" panose="020B0503020204020204" charset="-122"/>
                <a:ea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endParaRPr>
            </a:p>
            <a:p>
              <a:pPr algn="l" rtl="0" eaLnBrk="0">
                <a:lnSpc>
                  <a:spcPct val="105000"/>
                </a:lnSpc>
              </a:pPr>
              <a:endParaRPr lang="en-US" altLang="en-US" sz="1000" dirty="0">
                <a:latin typeface="微软雅黑" panose="020B0503020204020204" charset="-122"/>
                <a:ea typeface="微软雅黑" panose="020B0503020204020204" charset="-122"/>
              </a:endParaRPr>
            </a:p>
            <a:p>
              <a:pPr algn="l" rtl="0" eaLnBrk="0">
                <a:lnSpc>
                  <a:spcPct val="105000"/>
                </a:lnSpc>
              </a:pPr>
              <a:endParaRPr lang="en-US" altLang="en-US" sz="1000" dirty="0">
                <a:latin typeface="微软雅黑" panose="020B0503020204020204" charset="-122"/>
                <a:ea typeface="微软雅黑" panose="020B0503020204020204" charset="-122"/>
              </a:endParaRPr>
            </a:p>
            <a:p>
              <a:pPr algn="l" rtl="0" eaLnBrk="0">
                <a:lnSpc>
                  <a:spcPct val="105000"/>
                </a:lnSpc>
              </a:pPr>
              <a:endParaRPr lang="en-US" altLang="en-US" sz="1000" dirty="0">
                <a:latin typeface="微软雅黑" panose="020B0503020204020204" charset="-122"/>
                <a:ea typeface="微软雅黑" panose="020B0503020204020204" charset="-122"/>
              </a:endParaRPr>
            </a:p>
            <a:p>
              <a:pPr algn="l" rtl="0" eaLnBrk="0">
                <a:lnSpc>
                  <a:spcPct val="105000"/>
                </a:lnSpc>
              </a:pPr>
              <a:endParaRPr lang="en-US" altLang="en-US" sz="1000" dirty="0">
                <a:latin typeface="微软雅黑" panose="020B0503020204020204" charset="-122"/>
                <a:ea typeface="微软雅黑" panose="020B0503020204020204" charset="-122"/>
              </a:endParaRPr>
            </a:p>
            <a:p>
              <a:pPr algn="l" rtl="0" eaLnBrk="0">
                <a:lnSpc>
                  <a:spcPct val="105000"/>
                </a:lnSpc>
              </a:pPr>
              <a:endParaRPr lang="en-US" altLang="en-US" sz="1000" dirty="0">
                <a:latin typeface="微软雅黑" panose="020B0503020204020204" charset="-122"/>
                <a:ea typeface="微软雅黑" panose="020B0503020204020204" charset="-122"/>
              </a:endParaRPr>
            </a:p>
            <a:p>
              <a:pPr marL="668020" algn="l" rtl="0" eaLnBrk="0">
                <a:lnSpc>
                  <a:spcPct val="99000"/>
                </a:lnSpc>
                <a:spcBef>
                  <a:spcPts val="5"/>
                </a:spcBef>
              </a:pPr>
              <a:r>
                <a:rPr sz="1500" spc="30" dirty="0">
                  <a:ln w="5799" cap="flat" cmpd="sng">
                    <a:solidFill>
                      <a:srgbClr val="002960">
                        <a:alpha val="100000"/>
                      </a:srgbClr>
                    </a:solidFill>
                    <a:prstDash val="solid"/>
                    <a:miter lim="8"/>
                  </a:ln>
                  <a:solidFill>
                    <a:srgbClr val="002960">
                      <a:alpha val="100000"/>
                    </a:srgbClr>
                  </a:solidFill>
                  <a:latin typeface="微软雅黑" panose="020B0503020204020204" charset="-122"/>
                  <a:ea typeface="微软雅黑" panose="020B0503020204020204" charset="-122"/>
                  <a:cs typeface="楷体" panose="02010609060101010101" charset="-122"/>
                </a:rPr>
                <a:t>需</a:t>
              </a:r>
              <a:r>
                <a:rPr sz="1500" spc="20" dirty="0">
                  <a:ln w="5799" cap="flat" cmpd="sng">
                    <a:solidFill>
                      <a:srgbClr val="002960">
                        <a:alpha val="100000"/>
                      </a:srgbClr>
                    </a:solidFill>
                    <a:prstDash val="solid"/>
                    <a:miter lim="8"/>
                  </a:ln>
                  <a:solidFill>
                    <a:srgbClr val="002960">
                      <a:alpha val="100000"/>
                    </a:srgbClr>
                  </a:solidFill>
                  <a:latin typeface="微软雅黑" panose="020B0503020204020204" charset="-122"/>
                  <a:ea typeface="微软雅黑" panose="020B0503020204020204" charset="-122"/>
                  <a:cs typeface="楷体" panose="02010609060101010101" charset="-122"/>
                </a:rPr>
                <a:t>求</a:t>
              </a:r>
              <a:endParaRPr lang="en-US" altLang="en-US" sz="1500" dirty="0">
                <a:latin typeface="微软雅黑" panose="020B0503020204020204" charset="-122"/>
                <a:ea typeface="微软雅黑" panose="020B0503020204020204" charset="-122"/>
              </a:endParaRPr>
            </a:p>
          </p:txBody>
        </p:sp>
      </p:grpSp>
      <p:pic>
        <p:nvPicPr>
          <p:cNvPr id="542" name="picture 542"/>
          <p:cNvPicPr>
            <a:picLocks noChangeAspect="1"/>
          </p:cNvPicPr>
          <p:nvPr/>
        </p:nvPicPr>
        <p:blipFill>
          <a:blip r:embed="rId2"/>
          <a:stretch>
            <a:fillRect/>
          </a:stretch>
        </p:blipFill>
        <p:spPr>
          <a:xfrm rot="21600000">
            <a:off x="425958" y="2756916"/>
            <a:ext cx="2273045" cy="2121407"/>
          </a:xfrm>
          <a:prstGeom prst="rect">
            <a:avLst/>
          </a:prstGeom>
        </p:spPr>
      </p:pic>
      <p:sp>
        <p:nvSpPr>
          <p:cNvPr id="543" name="textbox 543"/>
          <p:cNvSpPr/>
          <p:nvPr/>
        </p:nvSpPr>
        <p:spPr>
          <a:xfrm>
            <a:off x="156845" y="285115"/>
            <a:ext cx="6733540" cy="610235"/>
          </a:xfrm>
          <a:prstGeom prst="rect">
            <a:avLst/>
          </a:prstGeom>
        </p:spPr>
        <p:txBody>
          <a:bodyPr vert="horz" wrap="square" lIns="0" tIns="0" rIns="0" bIns="0"/>
          <a:lstStyle/>
          <a:p>
            <a:pPr algn="l" rtl="0" eaLnBrk="0">
              <a:lnSpc>
                <a:spcPct val="79000"/>
              </a:lnSpc>
            </a:pPr>
            <a:endParaRPr lang="en-US" altLang="en-US" sz="100" dirty="0">
              <a:latin typeface="微软雅黑" panose="020B0503020204020204" charset="-122"/>
              <a:ea typeface="微软雅黑" panose="020B0503020204020204" charset="-122"/>
            </a:endParaRPr>
          </a:p>
          <a:p>
            <a:pPr marL="15240" indent="124460" algn="l" rtl="0" eaLnBrk="0">
              <a:lnSpc>
                <a:spcPct val="96000"/>
              </a:lnSpc>
            </a:pPr>
            <a:r>
              <a:rPr sz="1600" spc="-80" dirty="0">
                <a:solidFill>
                  <a:srgbClr val="002960">
                    <a:alpha val="100000"/>
                  </a:srgbClr>
                </a:solidFill>
                <a:latin typeface="微软雅黑" panose="020B0503020204020204" charset="-122"/>
                <a:ea typeface="微软雅黑" panose="020B0503020204020204" charset="-122"/>
                <a:cs typeface="楷体" panose="02010609060101010101" charset="-122"/>
              </a:rPr>
              <a:t>【案例</a:t>
            </a:r>
            <a:r>
              <a:rPr sz="1600" spc="-80" dirty="0">
                <a:solidFill>
                  <a:srgbClr val="002960">
                    <a:alpha val="100000"/>
                  </a:srgbClr>
                </a:solidFill>
                <a:latin typeface="微软雅黑" panose="020B0503020204020204" charset="-122"/>
                <a:ea typeface="微软雅黑" panose="020B0503020204020204" charset="-122"/>
                <a:cs typeface="Arial" panose="020B0604020202020204"/>
              </a:rPr>
              <a:t>1</a:t>
            </a:r>
            <a:r>
              <a:rPr sz="1600" spc="-80" dirty="0">
                <a:solidFill>
                  <a:srgbClr val="002960">
                    <a:alpha val="100000"/>
                  </a:srgbClr>
                </a:solidFill>
                <a:latin typeface="微软雅黑" panose="020B0503020204020204" charset="-122"/>
                <a:ea typeface="微软雅黑" panose="020B0503020204020204" charset="-122"/>
                <a:cs typeface="楷体" panose="02010609060101010101" charset="-122"/>
              </a:rPr>
              <a:t>】其主要原因在于没有将客户需求充分考虑进来， 同为进攻型客</a:t>
            </a:r>
            <a:r>
              <a:rPr sz="1600" spc="-30" dirty="0">
                <a:solidFill>
                  <a:srgbClr val="002960">
                    <a:alpha val="100000"/>
                  </a:srgbClr>
                </a:solidFill>
                <a:latin typeface="微软雅黑" panose="020B0503020204020204" charset="-122"/>
                <a:ea typeface="微软雅黑" panose="020B0503020204020204" charset="-122"/>
                <a:cs typeface="楷体" panose="02010609060101010101" charset="-122"/>
              </a:rPr>
              <a:t>户</a:t>
            </a:r>
            <a:r>
              <a:rPr sz="1600" spc="0" dirty="0">
                <a:solidFill>
                  <a:srgbClr val="002960">
                    <a:alpha val="100000"/>
                  </a:srgbClr>
                </a:solidFill>
                <a:latin typeface="微软雅黑" panose="020B0503020204020204" charset="-122"/>
                <a:ea typeface="微软雅黑" panose="020B0503020204020204" charset="-122"/>
                <a:cs typeface="楷体" panose="02010609060101010101" charset="-122"/>
              </a:rPr>
              <a:t>， </a:t>
            </a:r>
            <a:r>
              <a:rPr sz="1600" spc="-40" dirty="0">
                <a:solidFill>
                  <a:srgbClr val="002960">
                    <a:alpha val="100000"/>
                  </a:srgbClr>
                </a:solidFill>
                <a:latin typeface="微软雅黑" panose="020B0503020204020204" charset="-122"/>
                <a:ea typeface="微软雅黑" panose="020B0503020204020204" charset="-122"/>
                <a:cs typeface="楷体" panose="02010609060101010101" charset="-122"/>
              </a:rPr>
              <a:t>但客户需求存在较大差异， 导致销售人员的销售方法没</a:t>
            </a:r>
            <a:r>
              <a:rPr sz="1600" spc="0" dirty="0">
                <a:solidFill>
                  <a:srgbClr val="002960">
                    <a:alpha val="100000"/>
                  </a:srgbClr>
                </a:solidFill>
                <a:latin typeface="微软雅黑" panose="020B0503020204020204" charset="-122"/>
                <a:ea typeface="微软雅黑" panose="020B0503020204020204" charset="-122"/>
                <a:cs typeface="楷体" panose="02010609060101010101" charset="-122"/>
              </a:rPr>
              <a:t>能真正打动客户</a:t>
            </a:r>
            <a:endParaRPr lang="en-US" altLang="en-US" sz="1600" spc="0" dirty="0">
              <a:solidFill>
                <a:srgbClr val="002960">
                  <a:alpha val="100000"/>
                </a:srgbClr>
              </a:solidFill>
              <a:latin typeface="微软雅黑" panose="020B0503020204020204" charset="-122"/>
              <a:ea typeface="微软雅黑" panose="020B0503020204020204" charset="-122"/>
              <a:cs typeface="楷体" panose="02010609060101010101" charset="-122"/>
            </a:endParaRPr>
          </a:p>
        </p:txBody>
      </p:sp>
      <p:graphicFrame>
        <p:nvGraphicFramePr>
          <p:cNvPr id="544" name="table 544"/>
          <p:cNvGraphicFramePr>
            <a:graphicFrameLocks noGrp="1"/>
          </p:cNvGraphicFramePr>
          <p:nvPr/>
        </p:nvGraphicFramePr>
        <p:xfrm>
          <a:off x="4715255" y="3842004"/>
          <a:ext cx="3811270" cy="1155700"/>
        </p:xfrm>
        <a:graphic>
          <a:graphicData uri="http://schemas.openxmlformats.org/drawingml/2006/table">
            <a:tbl>
              <a:tblPr/>
              <a:tblGrid>
                <a:gridCol w="3811270"/>
              </a:tblGrid>
              <a:tr h="1155700">
                <a:tc>
                  <a:txBody>
                    <a:bodyPr/>
                    <a:lstStyle/>
                    <a:p>
                      <a:pPr algn="l" rtl="0" eaLnBrk="0">
                        <a:lnSpc>
                          <a:spcPct val="114000"/>
                        </a:lnSpc>
                      </a:pPr>
                      <a:endParaRPr lang="en-US" altLang="en-US" sz="500" dirty="0">
                        <a:latin typeface="微软雅黑" panose="020B0503020204020204" charset="-122"/>
                        <a:ea typeface="微软雅黑" panose="020B0503020204020204" charset="-122"/>
                      </a:endParaRPr>
                    </a:p>
                    <a:p>
                      <a:pPr marL="86360" algn="l" rtl="0" eaLnBrk="0">
                        <a:lnSpc>
                          <a:spcPct val="100000"/>
                        </a:lnSpc>
                        <a:spcBef>
                          <a:spcPts val="0"/>
                        </a:spcBef>
                      </a:pPr>
                      <a:r>
                        <a:rPr sz="1500" spc="100" dirty="0">
                          <a:ln w="5791" cap="flat" cmpd="sng">
                            <a:solidFill>
                              <a:srgbClr val="002960">
                                <a:alpha val="100000"/>
                              </a:srgbClr>
                            </a:solidFill>
                            <a:prstDash val="solid"/>
                            <a:miter lim="8"/>
                          </a:ln>
                          <a:solidFill>
                            <a:srgbClr val="002960">
                              <a:alpha val="100000"/>
                            </a:srgbClr>
                          </a:solidFill>
                          <a:latin typeface="微软雅黑" panose="020B0503020204020204" charset="-122"/>
                          <a:ea typeface="微软雅黑" panose="020B0503020204020204" charset="-122"/>
                          <a:cs typeface="楷体" panose="02010609060101010101" charset="-122"/>
                        </a:rPr>
                        <a:t>卓越运营</a:t>
                      </a:r>
                      <a:r>
                        <a:rPr sz="1500" spc="90" dirty="0">
                          <a:ln w="5791" cap="flat" cmpd="sng">
                            <a:solidFill>
                              <a:srgbClr val="002960">
                                <a:alpha val="100000"/>
                              </a:srgbClr>
                            </a:solidFill>
                            <a:prstDash val="solid"/>
                            <a:miter lim="8"/>
                          </a:ln>
                          <a:solidFill>
                            <a:srgbClr val="002960">
                              <a:alpha val="100000"/>
                            </a:srgbClr>
                          </a:solidFill>
                          <a:latin typeface="微软雅黑" panose="020B0503020204020204" charset="-122"/>
                          <a:ea typeface="微软雅黑" panose="020B0503020204020204" charset="-122"/>
                          <a:cs typeface="楷体" panose="02010609060101010101" charset="-122"/>
                        </a:rPr>
                        <a:t>型</a:t>
                      </a:r>
                      <a:endParaRPr lang="en-US" altLang="en-US" sz="1500" dirty="0">
                        <a:latin typeface="微软雅黑" panose="020B0503020204020204" charset="-122"/>
                        <a:ea typeface="微软雅黑" panose="020B0503020204020204" charset="-122"/>
                      </a:endParaRPr>
                    </a:p>
                    <a:p>
                      <a:pPr marL="85725" indent="6985" algn="l" rtl="0" eaLnBrk="0">
                        <a:lnSpc>
                          <a:spcPct val="106000"/>
                        </a:lnSpc>
                        <a:spcBef>
                          <a:spcPts val="295"/>
                        </a:spcBef>
                      </a:pP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利用成本优化，为客户提供具有竞</a:t>
                      </a:r>
                      <a:r>
                        <a:rPr sz="1500" spc="80" dirty="0">
                          <a:solidFill>
                            <a:srgbClr val="000000">
                              <a:alpha val="100000"/>
                            </a:srgbClr>
                          </a:solidFill>
                          <a:latin typeface="微软雅黑" panose="020B0503020204020204" charset="-122"/>
                          <a:ea typeface="微软雅黑" panose="020B0503020204020204" charset="-122"/>
                          <a:cs typeface="楷体" panose="02010609060101010101" charset="-122"/>
                        </a:rPr>
                        <a:t>争</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力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且性价比高的科技产</a:t>
                      </a:r>
                      <a:r>
                        <a:rPr sz="1500" spc="50" dirty="0">
                          <a:solidFill>
                            <a:srgbClr val="000000">
                              <a:alpha val="100000"/>
                            </a:srgbClr>
                          </a:solidFill>
                          <a:latin typeface="微软雅黑" panose="020B0503020204020204" charset="-122"/>
                          <a:ea typeface="微软雅黑" panose="020B0503020204020204" charset="-122"/>
                          <a:cs typeface="楷体" panose="02010609060101010101" charset="-122"/>
                        </a:rPr>
                        <a:t>品</a:t>
                      </a:r>
                      <a:endParaRPr lang="en-US" altLang="en-US" sz="1500" dirty="0">
                        <a:latin typeface="微软雅黑" panose="020B0503020204020204" charset="-122"/>
                        <a:ea typeface="微软雅黑" panose="020B0503020204020204" charset="-122"/>
                      </a:endParaRPr>
                    </a:p>
                    <a:p>
                      <a:pPr marL="158115" algn="l" rtl="0" eaLnBrk="0">
                        <a:lnSpc>
                          <a:spcPct val="91000"/>
                        </a:lnSpc>
                        <a:spcBef>
                          <a:spcPts val="460"/>
                        </a:spcBef>
                      </a:pPr>
                      <a:r>
                        <a:rPr sz="1500" i="1" spc="30" dirty="0">
                          <a:solidFill>
                            <a:srgbClr val="000000">
                              <a:alpha val="100000"/>
                            </a:srgbClr>
                          </a:solidFill>
                          <a:latin typeface="微软雅黑" panose="020B0503020204020204" charset="-122"/>
                          <a:ea typeface="微软雅黑" panose="020B0503020204020204" charset="-122"/>
                          <a:cs typeface="Arial" panose="020B0604020202020204"/>
                        </a:rPr>
                        <a:t>“</a:t>
                      </a:r>
                      <a:r>
                        <a:rPr sz="1600" i="1" spc="30" dirty="0">
                          <a:solidFill>
                            <a:srgbClr val="000000">
                              <a:alpha val="100000"/>
                            </a:srgbClr>
                          </a:solidFill>
                          <a:latin typeface="微软雅黑" panose="020B0503020204020204" charset="-122"/>
                          <a:ea typeface="微软雅黑" panose="020B0503020204020204" charset="-122"/>
                          <a:cs typeface="楷体" panose="02010609060101010101" charset="-122"/>
                        </a:rPr>
                        <a:t>我们的产品，性价比最高</a:t>
                      </a:r>
                      <a:r>
                        <a:rPr sz="1500" i="1" spc="0" dirty="0">
                          <a:solidFill>
                            <a:srgbClr val="000000">
                              <a:alpha val="100000"/>
                            </a:srgbClr>
                          </a:solidFill>
                          <a:latin typeface="微软雅黑" panose="020B0503020204020204" charset="-122"/>
                          <a:ea typeface="微软雅黑" panose="020B0503020204020204" charset="-122"/>
                          <a:cs typeface="Arial" panose="020B0604020202020204"/>
                        </a:rPr>
                        <a:t>”</a:t>
                      </a:r>
                      <a:endParaRPr lang="en-US" altLang="en-US" sz="1500" dirty="0">
                        <a:latin typeface="微软雅黑" panose="020B0503020204020204" charset="-122"/>
                        <a:ea typeface="微软雅黑" panose="020B0503020204020204" charset="-122"/>
                      </a:endParaRPr>
                    </a:p>
                  </a:txBody>
                  <a:tcPr marL="0" marR="0" marT="0" marB="0">
                    <a:lnL w="19050" cap="flat" cmpd="sng" algn="ctr">
                      <a:solidFill>
                        <a:srgbClr val="C5C5C5"/>
                      </a:solidFill>
                      <a:prstDash val="solid"/>
                      <a:round/>
                      <a:headEnd type="none" w="med" len="med"/>
                      <a:tailEnd type="none" w="med" len="med"/>
                    </a:lnL>
                    <a:lnR w="19050" cap="flat" cmpd="sng" algn="ctr">
                      <a:solidFill>
                        <a:srgbClr val="C5C5C5"/>
                      </a:solidFill>
                      <a:prstDash val="solid"/>
                      <a:round/>
                      <a:headEnd type="none" w="med" len="med"/>
                      <a:tailEnd type="none" w="med" len="med"/>
                    </a:lnR>
                    <a:lnT w="19050" cap="flat" cmpd="sng" algn="ctr">
                      <a:solidFill>
                        <a:srgbClr val="C5C5C5"/>
                      </a:solidFill>
                      <a:prstDash val="solid"/>
                      <a:round/>
                      <a:headEnd type="none" w="med" len="med"/>
                      <a:tailEnd type="none" w="med" len="med"/>
                    </a:lnT>
                    <a:lnB w="19050" cap="flat" cmpd="sng" algn="ctr">
                      <a:solidFill>
                        <a:srgbClr val="C5C5C5"/>
                      </a:solidFill>
                      <a:prstDash val="solid"/>
                      <a:round/>
                      <a:headEnd type="none" w="med" len="med"/>
                      <a:tailEnd type="none" w="med" len="med"/>
                    </a:lnB>
                  </a:tcPr>
                </a:tc>
              </a:tr>
            </a:tbl>
          </a:graphicData>
        </a:graphic>
      </p:graphicFrame>
      <p:graphicFrame>
        <p:nvGraphicFramePr>
          <p:cNvPr id="545" name="table 545"/>
          <p:cNvGraphicFramePr>
            <a:graphicFrameLocks noGrp="1"/>
          </p:cNvGraphicFramePr>
          <p:nvPr/>
        </p:nvGraphicFramePr>
        <p:xfrm>
          <a:off x="4715255" y="5084064"/>
          <a:ext cx="3811270" cy="1155700"/>
        </p:xfrm>
        <a:graphic>
          <a:graphicData uri="http://schemas.openxmlformats.org/drawingml/2006/table">
            <a:tbl>
              <a:tblPr/>
              <a:tblGrid>
                <a:gridCol w="3811270"/>
              </a:tblGrid>
              <a:tr h="1155700">
                <a:tc>
                  <a:txBody>
                    <a:bodyPr/>
                    <a:lstStyle/>
                    <a:p>
                      <a:pPr algn="l" rtl="0" eaLnBrk="0">
                        <a:lnSpc>
                          <a:spcPct val="113000"/>
                        </a:lnSpc>
                      </a:pPr>
                      <a:endParaRPr lang="en-US" altLang="en-US" sz="500" dirty="0">
                        <a:latin typeface="微软雅黑" panose="020B0503020204020204" charset="-122"/>
                        <a:ea typeface="微软雅黑" panose="020B0503020204020204" charset="-122"/>
                      </a:endParaRPr>
                    </a:p>
                    <a:p>
                      <a:pPr marL="84455" algn="l" rtl="0" eaLnBrk="0">
                        <a:lnSpc>
                          <a:spcPct val="99000"/>
                        </a:lnSpc>
                        <a:spcBef>
                          <a:spcPts val="5"/>
                        </a:spcBef>
                      </a:pPr>
                      <a:r>
                        <a:rPr sz="1500" spc="110" dirty="0">
                          <a:ln w="5799" cap="flat" cmpd="sng">
                            <a:solidFill>
                              <a:srgbClr val="002960">
                                <a:alpha val="100000"/>
                              </a:srgbClr>
                            </a:solidFill>
                            <a:prstDash val="solid"/>
                            <a:miter lim="8"/>
                          </a:ln>
                          <a:solidFill>
                            <a:srgbClr val="002960">
                              <a:alpha val="100000"/>
                            </a:srgbClr>
                          </a:solidFill>
                          <a:latin typeface="微软雅黑" panose="020B0503020204020204" charset="-122"/>
                          <a:ea typeface="微软雅黑" panose="020B0503020204020204" charset="-122"/>
                          <a:cs typeface="楷体" panose="02010609060101010101" charset="-122"/>
                        </a:rPr>
                        <a:t>价格领导</a:t>
                      </a:r>
                      <a:r>
                        <a:rPr sz="1500" spc="70" dirty="0">
                          <a:ln w="5799" cap="flat" cmpd="sng">
                            <a:solidFill>
                              <a:srgbClr val="002960">
                                <a:alpha val="100000"/>
                              </a:srgbClr>
                            </a:solidFill>
                            <a:prstDash val="solid"/>
                            <a:miter lim="8"/>
                          </a:ln>
                          <a:solidFill>
                            <a:srgbClr val="002960">
                              <a:alpha val="100000"/>
                            </a:srgbClr>
                          </a:solidFill>
                          <a:latin typeface="微软雅黑" panose="020B0503020204020204" charset="-122"/>
                          <a:ea typeface="微软雅黑" panose="020B0503020204020204" charset="-122"/>
                          <a:cs typeface="楷体" panose="02010609060101010101" charset="-122"/>
                        </a:rPr>
                        <a:t>型</a:t>
                      </a:r>
                      <a:endParaRPr lang="en-US" altLang="en-US" sz="1500" dirty="0">
                        <a:latin typeface="微软雅黑" panose="020B0503020204020204" charset="-122"/>
                        <a:ea typeface="微软雅黑" panose="020B0503020204020204" charset="-122"/>
                      </a:endParaRPr>
                    </a:p>
                    <a:p>
                      <a:pPr marL="83185" indent="9525" algn="l" rtl="0" eaLnBrk="0">
                        <a:lnSpc>
                          <a:spcPct val="106000"/>
                        </a:lnSpc>
                        <a:spcBef>
                          <a:spcPts val="320"/>
                        </a:spcBef>
                      </a:pPr>
                      <a:r>
                        <a:rPr sz="1500" spc="50" dirty="0">
                          <a:solidFill>
                            <a:srgbClr val="000000">
                              <a:alpha val="100000"/>
                            </a:srgbClr>
                          </a:solidFill>
                          <a:latin typeface="微软雅黑" panose="020B0503020204020204" charset="-122"/>
                          <a:ea typeface="微软雅黑" panose="020B0503020204020204" charset="-122"/>
                          <a:cs typeface="楷体" panose="02010609060101010101" charset="-122"/>
                        </a:rPr>
                        <a:t>利用量产达到成本优化， 为客户提</a:t>
                      </a:r>
                      <a:r>
                        <a:rPr sz="1500" spc="30" dirty="0">
                          <a:solidFill>
                            <a:srgbClr val="000000">
                              <a:alpha val="100000"/>
                            </a:srgbClr>
                          </a:solidFill>
                          <a:latin typeface="微软雅黑" panose="020B0503020204020204" charset="-122"/>
                          <a:ea typeface="微软雅黑" panose="020B0503020204020204" charset="-122"/>
                          <a:cs typeface="楷体" panose="02010609060101010101" charset="-122"/>
                        </a:rPr>
                        <a:t>供</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最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便宜的产品与服</a:t>
                      </a:r>
                      <a:r>
                        <a:rPr sz="1500" spc="60" dirty="0">
                          <a:solidFill>
                            <a:srgbClr val="000000">
                              <a:alpha val="100000"/>
                            </a:srgbClr>
                          </a:solidFill>
                          <a:latin typeface="微软雅黑" panose="020B0503020204020204" charset="-122"/>
                          <a:ea typeface="微软雅黑" panose="020B0503020204020204" charset="-122"/>
                          <a:cs typeface="楷体" panose="02010609060101010101" charset="-122"/>
                        </a:rPr>
                        <a:t>务</a:t>
                      </a:r>
                      <a:endParaRPr lang="en-US" altLang="en-US" sz="1500" dirty="0">
                        <a:latin typeface="微软雅黑" panose="020B0503020204020204" charset="-122"/>
                        <a:ea typeface="微软雅黑" panose="020B0503020204020204" charset="-122"/>
                      </a:endParaRPr>
                    </a:p>
                    <a:p>
                      <a:pPr marL="158115" algn="l" rtl="0" eaLnBrk="0">
                        <a:lnSpc>
                          <a:spcPct val="91000"/>
                        </a:lnSpc>
                        <a:spcBef>
                          <a:spcPts val="460"/>
                        </a:spcBef>
                      </a:pPr>
                      <a:r>
                        <a:rPr sz="1500" i="1" spc="40" dirty="0">
                          <a:solidFill>
                            <a:srgbClr val="000000">
                              <a:alpha val="100000"/>
                            </a:srgbClr>
                          </a:solidFill>
                          <a:latin typeface="微软雅黑" panose="020B0503020204020204" charset="-122"/>
                          <a:ea typeface="微软雅黑" panose="020B0503020204020204" charset="-122"/>
                          <a:cs typeface="Arial" panose="020B0604020202020204"/>
                        </a:rPr>
                        <a:t>“</a:t>
                      </a:r>
                      <a:r>
                        <a:rPr sz="1600" i="1" spc="40" dirty="0">
                          <a:solidFill>
                            <a:srgbClr val="000000">
                              <a:alpha val="100000"/>
                            </a:srgbClr>
                          </a:solidFill>
                          <a:latin typeface="微软雅黑" panose="020B0503020204020204" charset="-122"/>
                          <a:ea typeface="微软雅黑" panose="020B0503020204020204" charset="-122"/>
                          <a:cs typeface="楷体" panose="02010609060101010101" charset="-122"/>
                        </a:rPr>
                        <a:t>保证低价，无与伦</a:t>
                      </a:r>
                      <a:r>
                        <a:rPr sz="1600" i="1" spc="0" dirty="0">
                          <a:solidFill>
                            <a:srgbClr val="000000">
                              <a:alpha val="100000"/>
                            </a:srgbClr>
                          </a:solidFill>
                          <a:latin typeface="微软雅黑" panose="020B0503020204020204" charset="-122"/>
                          <a:ea typeface="微软雅黑" panose="020B0503020204020204" charset="-122"/>
                          <a:cs typeface="楷体" panose="02010609060101010101" charset="-122"/>
                        </a:rPr>
                        <a:t>比</a:t>
                      </a:r>
                      <a:r>
                        <a:rPr sz="1500" i="1" spc="0" dirty="0">
                          <a:solidFill>
                            <a:srgbClr val="000000">
                              <a:alpha val="100000"/>
                            </a:srgbClr>
                          </a:solidFill>
                          <a:latin typeface="微软雅黑" panose="020B0503020204020204" charset="-122"/>
                          <a:ea typeface="微软雅黑" panose="020B0503020204020204" charset="-122"/>
                          <a:cs typeface="Arial" panose="020B0604020202020204"/>
                        </a:rPr>
                        <a:t>”</a:t>
                      </a:r>
                      <a:endParaRPr lang="en-US" altLang="en-US" sz="1500" dirty="0">
                        <a:latin typeface="微软雅黑" panose="020B0503020204020204" charset="-122"/>
                        <a:ea typeface="微软雅黑" panose="020B0503020204020204" charset="-122"/>
                      </a:endParaRPr>
                    </a:p>
                  </a:txBody>
                  <a:tcPr marL="0" marR="0" marT="0" marB="0">
                    <a:lnL w="19050" cap="flat" cmpd="sng" algn="ctr">
                      <a:solidFill>
                        <a:srgbClr val="C5C5C5"/>
                      </a:solidFill>
                      <a:prstDash val="solid"/>
                      <a:round/>
                      <a:headEnd type="none" w="med" len="med"/>
                      <a:tailEnd type="none" w="med" len="med"/>
                    </a:lnL>
                    <a:lnR w="19050" cap="flat" cmpd="sng" algn="ctr">
                      <a:solidFill>
                        <a:srgbClr val="C5C5C5"/>
                      </a:solidFill>
                      <a:prstDash val="solid"/>
                      <a:round/>
                      <a:headEnd type="none" w="med" len="med"/>
                      <a:tailEnd type="none" w="med" len="med"/>
                    </a:lnR>
                    <a:lnT w="19050" cap="flat" cmpd="sng" algn="ctr">
                      <a:solidFill>
                        <a:srgbClr val="C5C5C5"/>
                      </a:solidFill>
                      <a:prstDash val="solid"/>
                      <a:round/>
                      <a:headEnd type="none" w="med" len="med"/>
                      <a:tailEnd type="none" w="med" len="med"/>
                    </a:lnT>
                    <a:lnB w="19050" cap="flat" cmpd="sng" algn="ctr">
                      <a:solidFill>
                        <a:srgbClr val="C5C5C5"/>
                      </a:solidFill>
                      <a:prstDash val="solid"/>
                      <a:round/>
                      <a:headEnd type="none" w="med" len="med"/>
                      <a:tailEnd type="none" w="med" len="med"/>
                    </a:lnB>
                  </a:tcPr>
                </a:tc>
              </a:tr>
            </a:tbl>
          </a:graphicData>
        </a:graphic>
      </p:graphicFrame>
      <p:graphicFrame>
        <p:nvGraphicFramePr>
          <p:cNvPr id="546" name="table 546"/>
          <p:cNvGraphicFramePr>
            <a:graphicFrameLocks noGrp="1"/>
          </p:cNvGraphicFramePr>
          <p:nvPr/>
        </p:nvGraphicFramePr>
        <p:xfrm>
          <a:off x="4715255" y="1357884"/>
          <a:ext cx="3811270" cy="1155700"/>
        </p:xfrm>
        <a:graphic>
          <a:graphicData uri="http://schemas.openxmlformats.org/drawingml/2006/table">
            <a:tbl>
              <a:tblPr/>
              <a:tblGrid>
                <a:gridCol w="3811270"/>
              </a:tblGrid>
              <a:tr h="1155700">
                <a:tc>
                  <a:txBody>
                    <a:bodyPr/>
                    <a:lstStyle/>
                    <a:p>
                      <a:pPr algn="l" rtl="0" eaLnBrk="0">
                        <a:lnSpc>
                          <a:spcPct val="115000"/>
                        </a:lnSpc>
                      </a:pPr>
                      <a:endParaRPr lang="en-US" altLang="en-US" sz="500" dirty="0">
                        <a:latin typeface="微软雅黑" panose="020B0503020204020204" charset="-122"/>
                        <a:ea typeface="微软雅黑" panose="020B0503020204020204" charset="-122"/>
                      </a:endParaRPr>
                    </a:p>
                    <a:p>
                      <a:pPr marL="89535" algn="l" rtl="0" eaLnBrk="0">
                        <a:lnSpc>
                          <a:spcPct val="99000"/>
                        </a:lnSpc>
                      </a:pPr>
                      <a:r>
                        <a:rPr sz="1500" spc="90" dirty="0">
                          <a:ln w="5791" cap="flat" cmpd="sng">
                            <a:solidFill>
                              <a:srgbClr val="002960">
                                <a:alpha val="100000"/>
                              </a:srgbClr>
                            </a:solidFill>
                            <a:prstDash val="solid"/>
                            <a:miter lim="8"/>
                          </a:ln>
                          <a:solidFill>
                            <a:srgbClr val="002960">
                              <a:alpha val="100000"/>
                            </a:srgbClr>
                          </a:solidFill>
                          <a:latin typeface="微软雅黑" panose="020B0503020204020204" charset="-122"/>
                          <a:ea typeface="微软雅黑" panose="020B0503020204020204" charset="-122"/>
                          <a:cs typeface="楷体" panose="02010609060101010101" charset="-122"/>
                        </a:rPr>
                        <a:t>创新</a:t>
                      </a:r>
                      <a:r>
                        <a:rPr sz="1500" spc="60" dirty="0">
                          <a:ln w="5791" cap="flat" cmpd="sng">
                            <a:solidFill>
                              <a:srgbClr val="002960">
                                <a:alpha val="100000"/>
                              </a:srgbClr>
                            </a:solidFill>
                            <a:prstDash val="solid"/>
                            <a:miter lim="8"/>
                          </a:ln>
                          <a:solidFill>
                            <a:srgbClr val="002960">
                              <a:alpha val="100000"/>
                            </a:srgbClr>
                          </a:solidFill>
                          <a:latin typeface="微软雅黑" panose="020B0503020204020204" charset="-122"/>
                          <a:ea typeface="微软雅黑" panose="020B0503020204020204" charset="-122"/>
                          <a:cs typeface="楷体" panose="02010609060101010101" charset="-122"/>
                        </a:rPr>
                        <a:t>型</a:t>
                      </a:r>
                      <a:endParaRPr lang="en-US" altLang="en-US" sz="1500" dirty="0">
                        <a:latin typeface="微软雅黑" panose="020B0503020204020204" charset="-122"/>
                        <a:ea typeface="微软雅黑" panose="020B0503020204020204" charset="-122"/>
                      </a:endParaRPr>
                    </a:p>
                    <a:p>
                      <a:pPr marL="106045" indent="-8255" algn="l" rtl="0" eaLnBrk="0">
                        <a:lnSpc>
                          <a:spcPct val="107000"/>
                        </a:lnSpc>
                        <a:spcBef>
                          <a:spcPts val="305"/>
                        </a:spcBef>
                      </a:pP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与客户共同研发行业尖端科技以支</a:t>
                      </a:r>
                      <a:r>
                        <a:rPr sz="1500" spc="40" dirty="0">
                          <a:solidFill>
                            <a:srgbClr val="000000">
                              <a:alpha val="100000"/>
                            </a:srgbClr>
                          </a:solidFill>
                          <a:latin typeface="微软雅黑" panose="020B0503020204020204" charset="-122"/>
                          <a:ea typeface="微软雅黑" panose="020B0503020204020204" charset="-122"/>
                          <a:cs typeface="楷体" panose="02010609060101010101" charset="-122"/>
                        </a:rPr>
                        <a:t>持</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较   </a:t>
                      </a:r>
                      <a:r>
                        <a:rPr sz="1500" spc="80" dirty="0">
                          <a:solidFill>
                            <a:srgbClr val="000000">
                              <a:alpha val="100000"/>
                            </a:srgbClr>
                          </a:solidFill>
                          <a:latin typeface="微软雅黑" panose="020B0503020204020204" charset="-122"/>
                          <a:ea typeface="微软雅黑" panose="020B0503020204020204" charset="-122"/>
                          <a:cs typeface="楷体" panose="02010609060101010101" charset="-122"/>
                        </a:rPr>
                        <a:t>高的定价区</a:t>
                      </a:r>
                      <a:r>
                        <a:rPr sz="1500" spc="30" dirty="0">
                          <a:solidFill>
                            <a:srgbClr val="000000">
                              <a:alpha val="100000"/>
                            </a:srgbClr>
                          </a:solidFill>
                          <a:latin typeface="微软雅黑" panose="020B0503020204020204" charset="-122"/>
                          <a:ea typeface="微软雅黑" panose="020B0503020204020204" charset="-122"/>
                          <a:cs typeface="楷体" panose="02010609060101010101" charset="-122"/>
                        </a:rPr>
                        <a:t>间</a:t>
                      </a:r>
                      <a:endParaRPr lang="en-US" altLang="en-US" sz="1500" dirty="0">
                        <a:latin typeface="微软雅黑" panose="020B0503020204020204" charset="-122"/>
                        <a:ea typeface="微软雅黑" panose="020B0503020204020204" charset="-122"/>
                      </a:endParaRPr>
                    </a:p>
                    <a:p>
                      <a:pPr marL="101600" algn="l" rtl="0" eaLnBrk="0">
                        <a:lnSpc>
                          <a:spcPct val="93000"/>
                        </a:lnSpc>
                        <a:spcBef>
                          <a:spcPts val="425"/>
                        </a:spcBef>
                      </a:pPr>
                      <a:r>
                        <a:rPr sz="1500" i="1" spc="30" dirty="0">
                          <a:solidFill>
                            <a:srgbClr val="000000">
                              <a:alpha val="100000"/>
                            </a:srgbClr>
                          </a:solidFill>
                          <a:latin typeface="微软雅黑" panose="020B0503020204020204" charset="-122"/>
                          <a:ea typeface="微软雅黑" panose="020B0503020204020204" charset="-122"/>
                          <a:cs typeface="Arial" panose="020B0604020202020204"/>
                        </a:rPr>
                        <a:t>“</a:t>
                      </a:r>
                      <a:r>
                        <a:rPr sz="1600" i="1" spc="30" dirty="0">
                          <a:solidFill>
                            <a:srgbClr val="000000">
                              <a:alpha val="100000"/>
                            </a:srgbClr>
                          </a:solidFill>
                          <a:latin typeface="微软雅黑" panose="020B0503020204020204" charset="-122"/>
                          <a:ea typeface="微软雅黑" panose="020B0503020204020204" charset="-122"/>
                          <a:cs typeface="楷体" panose="02010609060101010101" charset="-122"/>
                        </a:rPr>
                        <a:t>我们制定行业未来的趋</a:t>
                      </a:r>
                      <a:r>
                        <a:rPr sz="1600" i="1" spc="20" dirty="0">
                          <a:solidFill>
                            <a:srgbClr val="000000">
                              <a:alpha val="100000"/>
                            </a:srgbClr>
                          </a:solidFill>
                          <a:latin typeface="微软雅黑" panose="020B0503020204020204" charset="-122"/>
                          <a:ea typeface="微软雅黑" panose="020B0503020204020204" charset="-122"/>
                          <a:cs typeface="楷体" panose="02010609060101010101" charset="-122"/>
                        </a:rPr>
                        <a:t>势</a:t>
                      </a:r>
                      <a:r>
                        <a:rPr sz="1500" i="1" spc="0" dirty="0">
                          <a:solidFill>
                            <a:srgbClr val="000000">
                              <a:alpha val="100000"/>
                            </a:srgbClr>
                          </a:solidFill>
                          <a:latin typeface="微软雅黑" panose="020B0503020204020204" charset="-122"/>
                          <a:ea typeface="微软雅黑" panose="020B0503020204020204" charset="-122"/>
                          <a:cs typeface="Arial" panose="020B0604020202020204"/>
                        </a:rPr>
                        <a:t>”</a:t>
                      </a:r>
                      <a:endParaRPr lang="en-US" altLang="en-US" sz="1500" dirty="0">
                        <a:latin typeface="微软雅黑" panose="020B0503020204020204" charset="-122"/>
                        <a:ea typeface="微软雅黑" panose="020B0503020204020204" charset="-122"/>
                      </a:endParaRPr>
                    </a:p>
                  </a:txBody>
                  <a:tcPr marL="0" marR="0" marT="0" marB="0">
                    <a:lnL w="19050" cap="flat" cmpd="sng" algn="ctr">
                      <a:solidFill>
                        <a:srgbClr val="C5C5C5"/>
                      </a:solidFill>
                      <a:prstDash val="solid"/>
                      <a:round/>
                      <a:headEnd type="none" w="med" len="med"/>
                      <a:tailEnd type="none" w="med" len="med"/>
                    </a:lnL>
                    <a:lnR w="19050" cap="flat" cmpd="sng" algn="ctr">
                      <a:solidFill>
                        <a:srgbClr val="C5C5C5"/>
                      </a:solidFill>
                      <a:prstDash val="solid"/>
                      <a:round/>
                      <a:headEnd type="none" w="med" len="med"/>
                      <a:tailEnd type="none" w="med" len="med"/>
                    </a:lnR>
                    <a:lnT w="19050" cap="flat" cmpd="sng" algn="ctr">
                      <a:solidFill>
                        <a:srgbClr val="C5C5C5"/>
                      </a:solidFill>
                      <a:prstDash val="solid"/>
                      <a:round/>
                      <a:headEnd type="none" w="med" len="med"/>
                      <a:tailEnd type="none" w="med" len="med"/>
                    </a:lnT>
                    <a:lnB w="19050" cap="flat" cmpd="sng" algn="ctr">
                      <a:solidFill>
                        <a:srgbClr val="C5C5C5"/>
                      </a:solidFill>
                      <a:prstDash val="solid"/>
                      <a:round/>
                      <a:headEnd type="none" w="med" len="med"/>
                      <a:tailEnd type="none" w="med" len="med"/>
                    </a:lnB>
                  </a:tcPr>
                </a:tc>
              </a:tr>
            </a:tbl>
          </a:graphicData>
        </a:graphic>
      </p:graphicFrame>
      <p:graphicFrame>
        <p:nvGraphicFramePr>
          <p:cNvPr id="547" name="table 547"/>
          <p:cNvGraphicFramePr>
            <a:graphicFrameLocks noGrp="1"/>
          </p:cNvGraphicFramePr>
          <p:nvPr/>
        </p:nvGraphicFramePr>
        <p:xfrm>
          <a:off x="4715255" y="2599944"/>
          <a:ext cx="3811270" cy="1155700"/>
        </p:xfrm>
        <a:graphic>
          <a:graphicData uri="http://schemas.openxmlformats.org/drawingml/2006/table">
            <a:tbl>
              <a:tblPr/>
              <a:tblGrid>
                <a:gridCol w="3811270"/>
              </a:tblGrid>
              <a:tr h="1155700">
                <a:tc>
                  <a:txBody>
                    <a:bodyPr/>
                    <a:lstStyle/>
                    <a:p>
                      <a:pPr algn="l" rtl="0" eaLnBrk="0">
                        <a:lnSpc>
                          <a:spcPct val="115000"/>
                        </a:lnSpc>
                      </a:pPr>
                      <a:endParaRPr lang="en-US" altLang="en-US" sz="500" dirty="0">
                        <a:latin typeface="微软雅黑" panose="020B0503020204020204" charset="-122"/>
                        <a:ea typeface="微软雅黑" panose="020B0503020204020204" charset="-122"/>
                      </a:endParaRPr>
                    </a:p>
                    <a:p>
                      <a:pPr marL="99060" algn="l" rtl="0" eaLnBrk="0">
                        <a:lnSpc>
                          <a:spcPct val="98000"/>
                        </a:lnSpc>
                        <a:spcBef>
                          <a:spcPts val="0"/>
                        </a:spcBef>
                      </a:pPr>
                      <a:r>
                        <a:rPr sz="1500" spc="60" dirty="0">
                          <a:ln w="5799" cap="flat" cmpd="sng">
                            <a:solidFill>
                              <a:srgbClr val="002960">
                                <a:alpha val="100000"/>
                              </a:srgbClr>
                            </a:solidFill>
                            <a:prstDash val="solid"/>
                            <a:miter lim="8"/>
                          </a:ln>
                          <a:solidFill>
                            <a:srgbClr val="002960">
                              <a:alpha val="100000"/>
                            </a:srgbClr>
                          </a:solidFill>
                          <a:latin typeface="微软雅黑" panose="020B0503020204020204" charset="-122"/>
                          <a:ea typeface="微软雅黑" panose="020B0503020204020204" charset="-122"/>
                          <a:cs typeface="楷体" panose="02010609060101010101" charset="-122"/>
                        </a:rPr>
                        <a:t>关系</a:t>
                      </a:r>
                      <a:r>
                        <a:rPr sz="1500" spc="50" dirty="0">
                          <a:ln w="5799" cap="flat" cmpd="sng">
                            <a:solidFill>
                              <a:srgbClr val="002960">
                                <a:alpha val="100000"/>
                              </a:srgbClr>
                            </a:solidFill>
                            <a:prstDash val="solid"/>
                            <a:miter lim="8"/>
                          </a:ln>
                          <a:solidFill>
                            <a:srgbClr val="002960">
                              <a:alpha val="100000"/>
                            </a:srgbClr>
                          </a:solidFill>
                          <a:latin typeface="微软雅黑" panose="020B0503020204020204" charset="-122"/>
                          <a:ea typeface="微软雅黑" panose="020B0503020204020204" charset="-122"/>
                          <a:cs typeface="楷体" panose="02010609060101010101" charset="-122"/>
                        </a:rPr>
                        <a:t>型</a:t>
                      </a:r>
                      <a:endParaRPr lang="en-US" altLang="en-US" sz="1500" dirty="0">
                        <a:latin typeface="微软雅黑" panose="020B0503020204020204" charset="-122"/>
                        <a:ea typeface="微软雅黑" panose="020B0503020204020204" charset="-122"/>
                      </a:endParaRPr>
                    </a:p>
                    <a:p>
                      <a:pPr marL="95250" indent="-2540" algn="l" rtl="0" eaLnBrk="0">
                        <a:lnSpc>
                          <a:spcPct val="107000"/>
                        </a:lnSpc>
                        <a:spcBef>
                          <a:spcPts val="325"/>
                        </a:spcBef>
                      </a:pP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利用稳固且深刻的客户了解与关系</a:t>
                      </a:r>
                      <a:r>
                        <a:rPr sz="1500" spc="80" dirty="0">
                          <a:solidFill>
                            <a:srgbClr val="000000">
                              <a:alpha val="100000"/>
                            </a:srgbClr>
                          </a:solidFill>
                          <a:latin typeface="微软雅黑" panose="020B0503020204020204" charset="-122"/>
                          <a:ea typeface="微软雅黑" panose="020B0503020204020204" charset="-122"/>
                          <a:cs typeface="楷体" panose="02010609060101010101" charset="-122"/>
                        </a:rPr>
                        <a:t>为</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客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户提供定制化解决方</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案</a:t>
                      </a:r>
                      <a:endParaRPr lang="en-US" altLang="en-US" sz="1500" dirty="0">
                        <a:latin typeface="微软雅黑" panose="020B0503020204020204" charset="-122"/>
                        <a:ea typeface="微软雅黑" panose="020B0503020204020204" charset="-122"/>
                      </a:endParaRPr>
                    </a:p>
                    <a:p>
                      <a:pPr marL="101600" algn="l" rtl="0" eaLnBrk="0">
                        <a:lnSpc>
                          <a:spcPct val="93000"/>
                        </a:lnSpc>
                        <a:spcBef>
                          <a:spcPts val="415"/>
                        </a:spcBef>
                      </a:pPr>
                      <a:r>
                        <a:rPr sz="1500" i="1" spc="30" dirty="0">
                          <a:solidFill>
                            <a:srgbClr val="000000">
                              <a:alpha val="100000"/>
                            </a:srgbClr>
                          </a:solidFill>
                          <a:latin typeface="微软雅黑" panose="020B0503020204020204" charset="-122"/>
                          <a:ea typeface="微软雅黑" panose="020B0503020204020204" charset="-122"/>
                          <a:cs typeface="Arial" panose="020B0604020202020204"/>
                        </a:rPr>
                        <a:t>“</a:t>
                      </a:r>
                      <a:r>
                        <a:rPr sz="1600" i="1" spc="30" dirty="0">
                          <a:solidFill>
                            <a:srgbClr val="000000">
                              <a:alpha val="100000"/>
                            </a:srgbClr>
                          </a:solidFill>
                          <a:latin typeface="微软雅黑" panose="020B0503020204020204" charset="-122"/>
                          <a:ea typeface="微软雅黑" panose="020B0503020204020204" charset="-122"/>
                          <a:cs typeface="楷体" panose="02010609060101010101" charset="-122"/>
                        </a:rPr>
                        <a:t>我们可以满足客户的任</a:t>
                      </a:r>
                      <a:r>
                        <a:rPr sz="1600" i="1" spc="20" dirty="0">
                          <a:solidFill>
                            <a:srgbClr val="000000">
                              <a:alpha val="100000"/>
                            </a:srgbClr>
                          </a:solidFill>
                          <a:latin typeface="微软雅黑" panose="020B0503020204020204" charset="-122"/>
                          <a:ea typeface="微软雅黑" panose="020B0503020204020204" charset="-122"/>
                          <a:cs typeface="楷体" panose="02010609060101010101" charset="-122"/>
                        </a:rPr>
                        <a:t>何</a:t>
                      </a:r>
                      <a:r>
                        <a:rPr sz="1600" i="1" spc="0" dirty="0">
                          <a:solidFill>
                            <a:srgbClr val="000000">
                              <a:alpha val="100000"/>
                            </a:srgbClr>
                          </a:solidFill>
                          <a:latin typeface="微软雅黑" panose="020B0503020204020204" charset="-122"/>
                          <a:ea typeface="微软雅黑" panose="020B0503020204020204" charset="-122"/>
                          <a:cs typeface="楷体" panose="02010609060101010101" charset="-122"/>
                        </a:rPr>
                        <a:t>需求</a:t>
                      </a:r>
                      <a:r>
                        <a:rPr sz="1500" i="1" spc="0" dirty="0">
                          <a:solidFill>
                            <a:srgbClr val="000000">
                              <a:alpha val="100000"/>
                            </a:srgbClr>
                          </a:solidFill>
                          <a:latin typeface="微软雅黑" panose="020B0503020204020204" charset="-122"/>
                          <a:ea typeface="微软雅黑" panose="020B0503020204020204" charset="-122"/>
                          <a:cs typeface="Arial" panose="020B0604020202020204"/>
                        </a:rPr>
                        <a:t>”</a:t>
                      </a:r>
                      <a:endParaRPr lang="en-US" altLang="en-US" sz="1500" dirty="0">
                        <a:latin typeface="微软雅黑" panose="020B0503020204020204" charset="-122"/>
                        <a:ea typeface="微软雅黑" panose="020B0503020204020204" charset="-122"/>
                      </a:endParaRPr>
                    </a:p>
                  </a:txBody>
                  <a:tcPr marL="0" marR="0" marT="0" marB="0">
                    <a:lnL w="19050" cap="flat" cmpd="sng" algn="ctr">
                      <a:solidFill>
                        <a:srgbClr val="C5C5C5"/>
                      </a:solidFill>
                      <a:prstDash val="solid"/>
                      <a:round/>
                      <a:headEnd type="none" w="med" len="med"/>
                      <a:tailEnd type="none" w="med" len="med"/>
                    </a:lnL>
                    <a:lnR w="19050" cap="flat" cmpd="sng" algn="ctr">
                      <a:solidFill>
                        <a:srgbClr val="C5C5C5"/>
                      </a:solidFill>
                      <a:prstDash val="solid"/>
                      <a:round/>
                      <a:headEnd type="none" w="med" len="med"/>
                      <a:tailEnd type="none" w="med" len="med"/>
                    </a:lnR>
                    <a:lnT w="19050" cap="flat" cmpd="sng" algn="ctr">
                      <a:solidFill>
                        <a:srgbClr val="C5C5C5"/>
                      </a:solidFill>
                      <a:prstDash val="solid"/>
                      <a:round/>
                      <a:headEnd type="none" w="med" len="med"/>
                      <a:tailEnd type="none" w="med" len="med"/>
                    </a:lnT>
                    <a:lnB w="19050" cap="flat" cmpd="sng" algn="ctr">
                      <a:solidFill>
                        <a:srgbClr val="C5C5C5"/>
                      </a:solidFill>
                      <a:prstDash val="solid"/>
                      <a:round/>
                      <a:headEnd type="none" w="med" len="med"/>
                      <a:tailEnd type="none" w="med" len="med"/>
                    </a:lnB>
                  </a:tcPr>
                </a:tc>
              </a:tr>
            </a:tbl>
          </a:graphicData>
        </a:graphic>
      </p:graphicFrame>
      <p:pic>
        <p:nvPicPr>
          <p:cNvPr id="548" name="picture 548"/>
          <p:cNvPicPr>
            <a:picLocks noChangeAspect="1"/>
          </p:cNvPicPr>
          <p:nvPr/>
        </p:nvPicPr>
        <p:blipFill>
          <a:blip r:embed="rId3"/>
          <a:stretch>
            <a:fillRect/>
          </a:stretch>
        </p:blipFill>
        <p:spPr>
          <a:xfrm rot="21600000">
            <a:off x="3508248" y="2609088"/>
            <a:ext cx="1152144" cy="1155192"/>
          </a:xfrm>
          <a:prstGeom prst="rect">
            <a:avLst/>
          </a:prstGeom>
        </p:spPr>
      </p:pic>
      <p:pic>
        <p:nvPicPr>
          <p:cNvPr id="549" name="picture 549"/>
          <p:cNvPicPr>
            <a:picLocks noChangeAspect="1"/>
          </p:cNvPicPr>
          <p:nvPr/>
        </p:nvPicPr>
        <p:blipFill>
          <a:blip r:embed="rId4"/>
          <a:stretch>
            <a:fillRect/>
          </a:stretch>
        </p:blipFill>
        <p:spPr>
          <a:xfrm rot="21600000">
            <a:off x="3508248" y="5093208"/>
            <a:ext cx="1152144" cy="1155192"/>
          </a:xfrm>
          <a:prstGeom prst="rect">
            <a:avLst/>
          </a:prstGeom>
        </p:spPr>
      </p:pic>
      <p:pic>
        <p:nvPicPr>
          <p:cNvPr id="550" name="picture 550"/>
          <p:cNvPicPr>
            <a:picLocks noChangeAspect="1"/>
          </p:cNvPicPr>
          <p:nvPr/>
        </p:nvPicPr>
        <p:blipFill>
          <a:blip r:embed="rId5"/>
          <a:stretch>
            <a:fillRect/>
          </a:stretch>
        </p:blipFill>
        <p:spPr>
          <a:xfrm rot="21600000">
            <a:off x="3508248" y="3851148"/>
            <a:ext cx="1152144" cy="1155191"/>
          </a:xfrm>
          <a:prstGeom prst="rect">
            <a:avLst/>
          </a:prstGeom>
        </p:spPr>
      </p:pic>
      <p:pic>
        <p:nvPicPr>
          <p:cNvPr id="551" name="picture 551"/>
          <p:cNvPicPr>
            <a:picLocks noChangeAspect="1"/>
          </p:cNvPicPr>
          <p:nvPr/>
        </p:nvPicPr>
        <p:blipFill>
          <a:blip r:embed="rId6"/>
          <a:stretch>
            <a:fillRect/>
          </a:stretch>
        </p:blipFill>
        <p:spPr>
          <a:xfrm rot="21600000">
            <a:off x="3508248" y="1394459"/>
            <a:ext cx="1152144" cy="1100328"/>
          </a:xfrm>
          <a:prstGeom prst="rect">
            <a:avLst/>
          </a:prstGeom>
        </p:spPr>
      </p:pic>
      <p:sp>
        <p:nvSpPr>
          <p:cNvPr id="553" name="textbox 553"/>
          <p:cNvSpPr/>
          <p:nvPr/>
        </p:nvSpPr>
        <p:spPr>
          <a:xfrm>
            <a:off x="3500871" y="1031752"/>
            <a:ext cx="1247775" cy="258445"/>
          </a:xfrm>
          <a:prstGeom prst="rect">
            <a:avLst/>
          </a:prstGeom>
        </p:spPr>
        <p:txBody>
          <a:bodyPr vert="horz" wrap="square" lIns="0" tIns="0" rIns="0" bIns="0"/>
          <a:lstStyle/>
          <a:p>
            <a:pPr algn="l" rtl="0" eaLnBrk="0">
              <a:lnSpc>
                <a:spcPct val="83000"/>
              </a:lnSpc>
            </a:pPr>
            <a:endParaRPr lang="en-US" altLang="en-US" sz="100" dirty="0">
              <a:latin typeface="微软雅黑" panose="020B0503020204020204" charset="-122"/>
              <a:ea typeface="微软雅黑" panose="020B0503020204020204" charset="-122"/>
            </a:endParaRPr>
          </a:p>
          <a:p>
            <a:pPr marL="12700" algn="l" rtl="0" eaLnBrk="0">
              <a:lnSpc>
                <a:spcPts val="1830"/>
              </a:lnSpc>
            </a:pPr>
            <a:r>
              <a:rPr sz="1500" spc="110" dirty="0">
                <a:ln w="5791" cap="flat" cmpd="sng">
                  <a:solidFill>
                    <a:srgbClr val="002960">
                      <a:alpha val="100000"/>
                    </a:srgbClr>
                  </a:solidFill>
                  <a:prstDash val="solid"/>
                  <a:round/>
                </a:ln>
                <a:solidFill>
                  <a:srgbClr val="002960">
                    <a:alpha val="100000"/>
                  </a:srgbClr>
                </a:solidFill>
                <a:latin typeface="微软雅黑" panose="020B0503020204020204" charset="-122"/>
                <a:ea typeface="微软雅黑" panose="020B0503020204020204" charset="-122"/>
                <a:cs typeface="楷体" panose="02010609060101010101" charset="-122"/>
              </a:rPr>
              <a:t>价值定位概</a:t>
            </a:r>
            <a:r>
              <a:rPr sz="1500" spc="70" dirty="0">
                <a:ln w="5791" cap="flat" cmpd="sng">
                  <a:solidFill>
                    <a:srgbClr val="002960">
                      <a:alpha val="100000"/>
                    </a:srgbClr>
                  </a:solidFill>
                  <a:prstDash val="solid"/>
                  <a:round/>
                </a:ln>
                <a:solidFill>
                  <a:srgbClr val="002960">
                    <a:alpha val="100000"/>
                  </a:srgbClr>
                </a:solidFill>
                <a:latin typeface="微软雅黑" panose="020B0503020204020204" charset="-122"/>
                <a:ea typeface="微软雅黑" panose="020B0503020204020204" charset="-122"/>
                <a:cs typeface="楷体" panose="02010609060101010101" charset="-122"/>
              </a:rPr>
              <a:t>念</a:t>
            </a:r>
            <a:endParaRPr lang="en-US" altLang="en-US" sz="1500" dirty="0">
              <a:latin typeface="微软雅黑" panose="020B0503020204020204" charset="-122"/>
              <a:ea typeface="微软雅黑" panose="020B0503020204020204" charset="-122"/>
            </a:endParaRPr>
          </a:p>
        </p:txBody>
      </p:sp>
      <p:sp>
        <p:nvSpPr>
          <p:cNvPr id="554" name="textbox 554"/>
          <p:cNvSpPr/>
          <p:nvPr/>
        </p:nvSpPr>
        <p:spPr>
          <a:xfrm>
            <a:off x="8818509" y="1037437"/>
            <a:ext cx="114935" cy="1840229"/>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endParaRPr sz="600" spc="0" dirty="0">
              <a:solidFill>
                <a:srgbClr val="808080">
                  <a:alpha val="100000"/>
                </a:srgbClr>
              </a:solidFill>
              <a:latin typeface="Arial" panose="020B0604020202020204"/>
              <a:ea typeface="Arial" panose="020B0604020202020204"/>
              <a:cs typeface="Arial" panose="020B0604020202020204"/>
            </a:endParaRPr>
          </a:p>
        </p:txBody>
      </p:sp>
      <p:sp>
        <p:nvSpPr>
          <p:cNvPr id="555" name="path"/>
          <p:cNvSpPr/>
          <p:nvPr/>
        </p:nvSpPr>
        <p:spPr>
          <a:xfrm>
            <a:off x="3508248" y="1275588"/>
            <a:ext cx="5007355" cy="9143"/>
          </a:xfrm>
          <a:custGeom>
            <a:avLst/>
            <a:gdLst/>
            <a:ahLst/>
            <a:cxnLst/>
            <a:rect l="0" t="0" r="0" b="0"/>
            <a:pathLst>
              <a:path w="7885" h="14">
                <a:moveTo>
                  <a:pt x="0" y="7"/>
                </a:moveTo>
                <a:lnTo>
                  <a:pt x="7885" y="7"/>
                </a:lnTo>
              </a:path>
            </a:pathLst>
          </a:custGeom>
          <a:noFill/>
          <a:ln w="9143" cap="flat">
            <a:solidFill>
              <a:srgbClr val="002960">
                <a:alpha val="100000"/>
              </a:srgbClr>
            </a:solidFill>
            <a:prstDash val="solid"/>
            <a:round/>
          </a:ln>
        </p:spPr>
        <p:txBody>
          <a:bodyPr rtlCol="0"/>
          <a:lstStyle/>
          <a:p>
            <a:pPr algn="ctr"/>
            <a:endParaRPr lang="zh-CN" altLang="en-US"/>
          </a:p>
        </p:txBody>
      </p:sp>
      <p:sp>
        <p:nvSpPr>
          <p:cNvPr id="556" name="path"/>
          <p:cNvSpPr/>
          <p:nvPr/>
        </p:nvSpPr>
        <p:spPr>
          <a:xfrm>
            <a:off x="416052" y="2766822"/>
            <a:ext cx="19811" cy="2101595"/>
          </a:xfrm>
          <a:custGeom>
            <a:avLst/>
            <a:gdLst/>
            <a:ahLst/>
            <a:cxnLst/>
            <a:rect l="0" t="0" r="0" b="0"/>
            <a:pathLst>
              <a:path w="31" h="3309">
                <a:moveTo>
                  <a:pt x="15" y="0"/>
                </a:moveTo>
                <a:lnTo>
                  <a:pt x="15" y="1656"/>
                </a:lnTo>
                <a:close/>
                <a:moveTo>
                  <a:pt x="15" y="1655"/>
                </a:moveTo>
                <a:lnTo>
                  <a:pt x="15" y="3309"/>
                </a:lnTo>
                <a:close/>
              </a:path>
            </a:pathLst>
          </a:custGeom>
          <a:noFill/>
          <a:ln w="19811" cap="flat">
            <a:solidFill>
              <a:srgbClr val="FFFFFF">
                <a:alpha val="100000"/>
              </a:srgbClr>
            </a:solidFill>
            <a:prstDash val="solid"/>
            <a:miter lim="800000"/>
          </a:ln>
        </p:spPr>
        <p:txBody>
          <a:bodyPr rtlCol="0"/>
          <a:lstStyle/>
          <a:p>
            <a:pPr algn="ctr"/>
            <a:endParaRPr lang="zh-CN" altLang="en-US"/>
          </a:p>
        </p:txBody>
      </p:sp>
      <p:sp>
        <p:nvSpPr>
          <p:cNvPr id="557" name="textbox 557"/>
          <p:cNvSpPr/>
          <p:nvPr/>
        </p:nvSpPr>
        <p:spPr>
          <a:xfrm>
            <a:off x="8818435" y="4032021"/>
            <a:ext cx="114935" cy="262890"/>
          </a:xfrm>
          <a:prstGeom prst="rect">
            <a:avLst/>
          </a:prstGeom>
        </p:spPr>
        <p:txBody>
          <a:bodyPr vert="eaVert" wrap="square" lIns="0" tIns="0" rIns="0" bIns="0"/>
          <a:lstStyle/>
          <a:p>
            <a:pPr algn="l" rtl="0" eaLnBrk="0">
              <a:lnSpc>
                <a:spcPct val="85000"/>
              </a:lnSpc>
            </a:pPr>
            <a:endParaRPr lang="en-US" altLang="en-US" sz="100" dirty="0"/>
          </a:p>
          <a:p>
            <a:pPr marL="12700" algn="l" rtl="0" eaLnBrk="0">
              <a:lnSpc>
                <a:spcPct val="79000"/>
              </a:lnSpc>
            </a:pPr>
            <a:endParaRPr sz="600" spc="-10" dirty="0">
              <a:solidFill>
                <a:srgbClr val="808080">
                  <a:alpha val="100000"/>
                </a:srgbClr>
              </a:solidFill>
              <a:latin typeface="Arial" panose="020B0604020202020204"/>
              <a:ea typeface="Arial" panose="020B0604020202020204"/>
              <a:cs typeface="Arial" panose="020B06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8" name="table 558"/>
          <p:cNvGraphicFramePr>
            <a:graphicFrameLocks noGrp="1"/>
          </p:cNvGraphicFramePr>
          <p:nvPr/>
        </p:nvGraphicFramePr>
        <p:xfrm>
          <a:off x="2186173" y="3477768"/>
          <a:ext cx="6416040" cy="1155064"/>
        </p:xfrm>
        <a:graphic>
          <a:graphicData uri="http://schemas.openxmlformats.org/drawingml/2006/table">
            <a:tbl>
              <a:tblPr/>
              <a:tblGrid>
                <a:gridCol w="2314575"/>
                <a:gridCol w="4101465"/>
              </a:tblGrid>
              <a:tr h="1155064">
                <a:tc>
                  <a:txBody>
                    <a:bodyPr/>
                    <a:lstStyle/>
                    <a:p>
                      <a:pPr algn="l" rtl="0" eaLnBrk="0">
                        <a:lnSpc>
                          <a:spcPct val="130000"/>
                        </a:lnSpc>
                      </a:pPr>
                      <a:endParaRPr lang="en-US" altLang="en-US" sz="1000" dirty="0">
                        <a:latin typeface="微软雅黑" panose="020B0503020204020204" charset="-122"/>
                        <a:ea typeface="微软雅黑" panose="020B0503020204020204" charset="-122"/>
                      </a:endParaRPr>
                    </a:p>
                    <a:p>
                      <a:pPr algn="l" rtl="0" eaLnBrk="0">
                        <a:lnSpc>
                          <a:spcPct val="9000"/>
                        </a:lnSpc>
                      </a:pPr>
                      <a:endParaRPr lang="en-US" altLang="en-US" sz="100" dirty="0">
                        <a:latin typeface="微软雅黑" panose="020B0503020204020204" charset="-122"/>
                        <a:ea typeface="微软雅黑" panose="020B0503020204020204" charset="-122"/>
                      </a:endParaRPr>
                    </a:p>
                    <a:p>
                      <a:pPr marL="212725" indent="-194945" algn="l" rtl="0" eaLnBrk="0">
                        <a:lnSpc>
                          <a:spcPct val="88000"/>
                        </a:lnSpc>
                      </a:pPr>
                      <a:r>
                        <a:rPr sz="2000" spc="10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在销售领域给予最少</a:t>
                      </a:r>
                      <a:r>
                        <a:rPr sz="1500" spc="10" dirty="0">
                          <a:solidFill>
                            <a:srgbClr val="000000">
                              <a:alpha val="100000"/>
                            </a:srgbClr>
                          </a:solidFill>
                          <a:latin typeface="微软雅黑" panose="020B0503020204020204" charset="-122"/>
                          <a:ea typeface="微软雅黑" panose="020B0503020204020204" charset="-122"/>
                          <a:cs typeface="楷体" panose="02010609060101010101" charset="-122"/>
                        </a:rPr>
                        <a:t>的</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30" dirty="0">
                          <a:solidFill>
                            <a:srgbClr val="000000">
                              <a:alpha val="100000"/>
                            </a:srgbClr>
                          </a:solidFill>
                          <a:latin typeface="微软雅黑" panose="020B0503020204020204" charset="-122"/>
                          <a:ea typeface="微软雅黑" panose="020B0503020204020204" charset="-122"/>
                          <a:cs typeface="楷体" panose="02010609060101010101" charset="-122"/>
                        </a:rPr>
                        <a:t>关</a:t>
                      </a:r>
                      <a:r>
                        <a:rPr sz="1500" spc="20" dirty="0">
                          <a:solidFill>
                            <a:srgbClr val="000000">
                              <a:alpha val="100000"/>
                            </a:srgbClr>
                          </a:solidFill>
                          <a:latin typeface="微软雅黑" panose="020B0503020204020204" charset="-122"/>
                          <a:ea typeface="微软雅黑" panose="020B0503020204020204" charset="-122"/>
                          <a:cs typeface="楷体" panose="02010609060101010101" charset="-122"/>
                        </a:rPr>
                        <a:t>注</a:t>
                      </a:r>
                      <a:endParaRPr lang="en-US" altLang="en-US" sz="1500" dirty="0">
                        <a:latin typeface="微软雅黑" panose="020B0503020204020204" charset="-122"/>
                        <a:ea typeface="微软雅黑" panose="020B0503020204020204" charset="-122"/>
                      </a:endParaRPr>
                    </a:p>
                    <a:p>
                      <a:pPr marL="17780" algn="l" rtl="0" eaLnBrk="0">
                        <a:lnSpc>
                          <a:spcPct val="79000"/>
                        </a:lnSpc>
                        <a:spcBef>
                          <a:spcPts val="55"/>
                        </a:spcBef>
                      </a:pPr>
                      <a:r>
                        <a:rPr sz="2000" spc="10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派销售新手负</a:t>
                      </a:r>
                      <a:r>
                        <a:rPr sz="1500" spc="10" dirty="0">
                          <a:solidFill>
                            <a:srgbClr val="000000">
                              <a:alpha val="100000"/>
                            </a:srgbClr>
                          </a:solidFill>
                          <a:latin typeface="微软雅黑" panose="020B0503020204020204" charset="-122"/>
                          <a:ea typeface="微软雅黑" panose="020B0503020204020204" charset="-122"/>
                          <a:cs typeface="楷体" panose="02010609060101010101" charset="-122"/>
                        </a:rPr>
                        <a:t>责</a:t>
                      </a:r>
                      <a:endParaRPr lang="en-US" altLang="en-US" sz="1500" dirty="0">
                        <a:latin typeface="微软雅黑" panose="020B0503020204020204" charset="-122"/>
                        <a:ea typeface="微软雅黑" panose="020B0503020204020204" charset="-122"/>
                      </a:endParaRPr>
                    </a:p>
                  </a:txBody>
                  <a:tcPr marL="0" marR="0" marT="0" marB="0">
                    <a:lnL>
                      <a:noFill/>
                    </a:lnL>
                    <a:lnR>
                      <a:noFill/>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a:txBody>
                    <a:bodyPr/>
                    <a:lstStyle/>
                    <a:p>
                      <a:pPr algn="l" rtl="0" eaLnBrk="0">
                        <a:lnSpc>
                          <a:spcPct val="113000"/>
                        </a:lnSpc>
                      </a:pPr>
                      <a:endParaRPr lang="en-US" altLang="en-US" sz="1000" dirty="0">
                        <a:latin typeface="微软雅黑" panose="020B0503020204020204" charset="-122"/>
                        <a:ea typeface="微软雅黑" panose="020B0503020204020204" charset="-122"/>
                      </a:endParaRPr>
                    </a:p>
                    <a:p>
                      <a:pPr marL="367030" indent="-180975" algn="l" rtl="0" eaLnBrk="0">
                        <a:lnSpc>
                          <a:spcPct val="91000"/>
                        </a:lnSpc>
                        <a:spcBef>
                          <a:spcPts val="0"/>
                        </a:spcBef>
                      </a:pPr>
                      <a:r>
                        <a:rPr sz="2000" spc="10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化工公司发现小客户缺乏内部专家，所</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以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更愿意雇请可以提供咨询服务的供应</a:t>
                      </a:r>
                      <a:r>
                        <a:rPr sz="1500" spc="40" dirty="0">
                          <a:solidFill>
                            <a:srgbClr val="000000">
                              <a:alpha val="100000"/>
                            </a:srgbClr>
                          </a:solidFill>
                          <a:latin typeface="微软雅黑" panose="020B0503020204020204" charset="-122"/>
                          <a:ea typeface="微软雅黑" panose="020B0503020204020204" charset="-122"/>
                          <a:cs typeface="楷体" panose="02010609060101010101" charset="-122"/>
                        </a:rPr>
                        <a:t>商</a:t>
                      </a:r>
                      <a:endParaRPr lang="en-US" altLang="en-US" sz="1500" dirty="0">
                        <a:latin typeface="微软雅黑" panose="020B0503020204020204" charset="-122"/>
                        <a:ea typeface="微软雅黑" panose="020B0503020204020204" charset="-122"/>
                      </a:endParaRPr>
                    </a:p>
                  </a:txBody>
                  <a:tcPr marL="0" marR="0" marT="0" marB="0">
                    <a:lnL>
                      <a:noFill/>
                    </a:lnL>
                    <a:lnR>
                      <a:noFill/>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r>
            </a:tbl>
          </a:graphicData>
        </a:graphic>
      </p:graphicFrame>
      <p:graphicFrame>
        <p:nvGraphicFramePr>
          <p:cNvPr id="559" name="table 559"/>
          <p:cNvGraphicFramePr>
            <a:graphicFrameLocks noGrp="1"/>
          </p:cNvGraphicFramePr>
          <p:nvPr/>
        </p:nvGraphicFramePr>
        <p:xfrm>
          <a:off x="2203863" y="2531876"/>
          <a:ext cx="6313804" cy="690372"/>
        </p:xfrm>
        <a:graphic>
          <a:graphicData uri="http://schemas.openxmlformats.org/drawingml/2006/table">
            <a:tbl>
              <a:tblPr/>
              <a:tblGrid>
                <a:gridCol w="2141220"/>
                <a:gridCol w="4172584"/>
              </a:tblGrid>
              <a:tr h="690244">
                <a:tc>
                  <a:txBody>
                    <a:bodyPr/>
                    <a:lstStyle/>
                    <a:p>
                      <a:pPr algn="l" rtl="0" eaLnBrk="0">
                        <a:lnSpc>
                          <a:spcPct val="80000"/>
                        </a:lnSpc>
                      </a:pPr>
                      <a:r>
                        <a:rPr sz="2000" spc="10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大量的和客户面</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谈</a:t>
                      </a:r>
                      <a:endParaRPr lang="en-US" altLang="en-US" sz="1500" dirty="0">
                        <a:latin typeface="微软雅黑" panose="020B0503020204020204" charset="-122"/>
                        <a:ea typeface="微软雅黑" panose="020B0503020204020204" charset="-122"/>
                      </a:endParaRPr>
                    </a:p>
                    <a:p>
                      <a:pPr algn="l" rtl="0" eaLnBrk="0">
                        <a:lnSpc>
                          <a:spcPct val="79000"/>
                        </a:lnSpc>
                        <a:spcBef>
                          <a:spcPts val="10"/>
                        </a:spcBef>
                      </a:pPr>
                      <a:r>
                        <a:rPr sz="2000" spc="10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尝试提供增值服</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务</a:t>
                      </a:r>
                      <a:endParaRPr lang="en-US" altLang="en-US" sz="1500" dirty="0">
                        <a:latin typeface="微软雅黑" panose="020B0503020204020204" charset="-122"/>
                        <a:ea typeface="微软雅黑" panose="020B0503020204020204" charset="-122"/>
                      </a:endParaRPr>
                    </a:p>
                  </a:txBody>
                  <a:tcPr marL="0" marR="0" marT="0" marB="0">
                    <a:lnL>
                      <a:noFill/>
                    </a:lnL>
                    <a:lnR>
                      <a:noFill/>
                    </a:lnR>
                    <a:lnT>
                      <a:noFill/>
                    </a:lnT>
                    <a:lnB>
                      <a:noFill/>
                    </a:lnB>
                  </a:tcPr>
                </a:tc>
                <a:tc>
                  <a:txBody>
                    <a:bodyPr/>
                    <a:lstStyle/>
                    <a:p>
                      <a:pPr algn="l" rtl="0" eaLnBrk="0">
                        <a:lnSpc>
                          <a:spcPct val="80000"/>
                        </a:lnSpc>
                      </a:pPr>
                      <a:endParaRPr lang="en-US" altLang="en-US" sz="100" dirty="0">
                        <a:latin typeface="微软雅黑" panose="020B0503020204020204" charset="-122"/>
                        <a:ea typeface="微软雅黑" panose="020B0503020204020204" charset="-122"/>
                      </a:endParaRPr>
                    </a:p>
                    <a:p>
                      <a:pPr marL="528320" indent="-186690" algn="l" rtl="0" eaLnBrk="0">
                        <a:lnSpc>
                          <a:spcPct val="89000"/>
                        </a:lnSpc>
                      </a:pPr>
                      <a:r>
                        <a:rPr sz="2000" spc="10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大客户购买时的主要考虑是快速精简的</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订 </a:t>
                      </a:r>
                      <a:r>
                        <a:rPr sz="1500" spc="50" dirty="0">
                          <a:solidFill>
                            <a:srgbClr val="000000">
                              <a:alpha val="100000"/>
                            </a:srgbClr>
                          </a:solidFill>
                          <a:latin typeface="微软雅黑" panose="020B0503020204020204" charset="-122"/>
                          <a:ea typeface="微软雅黑" panose="020B0503020204020204" charset="-122"/>
                          <a:cs typeface="楷体" panose="02010609060101010101" charset="-122"/>
                        </a:rPr>
                        <a:t>购服务， 因而电脑硬件生产商开发了交</a:t>
                      </a:r>
                      <a:r>
                        <a:rPr sz="1500" spc="40" dirty="0">
                          <a:solidFill>
                            <a:srgbClr val="000000">
                              <a:alpha val="100000"/>
                            </a:srgbClr>
                          </a:solidFill>
                          <a:latin typeface="微软雅黑" panose="020B0503020204020204" charset="-122"/>
                          <a:ea typeface="微软雅黑" panose="020B0503020204020204" charset="-122"/>
                          <a:cs typeface="楷体" panose="02010609060101010101" charset="-122"/>
                        </a:rPr>
                        <a:t>易</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型的外联</a:t>
                      </a:r>
                      <a:r>
                        <a:rPr sz="1500" spc="80" dirty="0">
                          <a:solidFill>
                            <a:srgbClr val="000000">
                              <a:alpha val="100000"/>
                            </a:srgbClr>
                          </a:solidFill>
                          <a:latin typeface="微软雅黑" panose="020B0503020204020204" charset="-122"/>
                          <a:ea typeface="微软雅黑" panose="020B0503020204020204" charset="-122"/>
                          <a:cs typeface="楷体" panose="02010609060101010101" charset="-122"/>
                        </a:rPr>
                        <a:t>网</a:t>
                      </a:r>
                      <a:endParaRPr lang="en-US" altLang="en-US" sz="1500" dirty="0">
                        <a:latin typeface="微软雅黑" panose="020B0503020204020204" charset="-122"/>
                        <a:ea typeface="微软雅黑" panose="020B0503020204020204" charset="-122"/>
                      </a:endParaRPr>
                    </a:p>
                  </a:txBody>
                  <a:tcPr marL="0" marR="0" marT="0" marB="0">
                    <a:lnL>
                      <a:noFill/>
                    </a:lnL>
                    <a:lnR>
                      <a:noFill/>
                    </a:lnR>
                    <a:lnT>
                      <a:noFill/>
                    </a:lnT>
                    <a:lnB>
                      <a:noFill/>
                    </a:lnB>
                  </a:tcPr>
                </a:tc>
              </a:tr>
            </a:tbl>
          </a:graphicData>
        </a:graphic>
      </p:graphicFrame>
      <p:sp>
        <p:nvSpPr>
          <p:cNvPr id="560" name="textbox 560"/>
          <p:cNvSpPr/>
          <p:nvPr/>
        </p:nvSpPr>
        <p:spPr>
          <a:xfrm>
            <a:off x="4674013" y="4796667"/>
            <a:ext cx="3919220" cy="729615"/>
          </a:xfrm>
          <a:prstGeom prst="rect">
            <a:avLst/>
          </a:prstGeom>
        </p:spPr>
        <p:txBody>
          <a:bodyPr vert="horz" wrap="square" lIns="0" tIns="0" rIns="0" bIns="0"/>
          <a:lstStyle/>
          <a:p>
            <a:pPr algn="l" rtl="0" eaLnBrk="0">
              <a:lnSpc>
                <a:spcPct val="102000"/>
              </a:lnSpc>
            </a:pPr>
            <a:endParaRPr lang="en-US" altLang="en-US" sz="100" dirty="0">
              <a:latin typeface="微软雅黑" panose="020B0503020204020204" charset="-122"/>
              <a:ea typeface="微软雅黑" panose="020B0503020204020204" charset="-122"/>
            </a:endParaRPr>
          </a:p>
          <a:p>
            <a:pPr marL="189865" indent="-177165" algn="l" rtl="0" eaLnBrk="0">
              <a:lnSpc>
                <a:spcPct val="92000"/>
              </a:lnSpc>
            </a:pPr>
            <a:r>
              <a:rPr sz="2000" spc="10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电脑硬件生产商发现很多客户起初购买</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台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式电脑</a:t>
            </a:r>
            <a:r>
              <a:rPr sz="1500" spc="100" dirty="0">
                <a:solidFill>
                  <a:srgbClr val="000000">
                    <a:alpha val="100000"/>
                  </a:srgbClr>
                </a:solidFill>
                <a:latin typeface="微软雅黑" panose="020B0503020204020204" charset="-122"/>
                <a:ea typeface="微软雅黑" panose="020B0503020204020204" charset="-122"/>
                <a:cs typeface="Arial" panose="020B0604020202020204"/>
              </a:rPr>
              <a:t>/</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电邮服务器时需要咨询，但之后</a:t>
            </a:r>
            <a:r>
              <a:rPr sz="1500" spc="40" dirty="0">
                <a:solidFill>
                  <a:srgbClr val="000000">
                    <a:alpha val="100000"/>
                  </a:srgbClr>
                </a:solidFill>
                <a:latin typeface="微软雅黑" panose="020B0503020204020204" charset="-122"/>
                <a:ea typeface="微软雅黑" panose="020B0503020204020204" charset="-122"/>
                <a:cs typeface="楷体" panose="02010609060101010101" charset="-122"/>
              </a:rPr>
              <a:t>则</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倾向于使用交易性的外联网进行订</a:t>
            </a:r>
            <a:r>
              <a:rPr sz="1500" spc="70" dirty="0">
                <a:solidFill>
                  <a:srgbClr val="000000">
                    <a:alpha val="100000"/>
                  </a:srgbClr>
                </a:solidFill>
                <a:latin typeface="微软雅黑" panose="020B0503020204020204" charset="-122"/>
                <a:ea typeface="微软雅黑" panose="020B0503020204020204" charset="-122"/>
                <a:cs typeface="楷体" panose="02010609060101010101" charset="-122"/>
              </a:rPr>
              <a:t>购</a:t>
            </a:r>
            <a:endParaRPr lang="en-US" altLang="en-US" sz="1500" dirty="0">
              <a:latin typeface="微软雅黑" panose="020B0503020204020204" charset="-122"/>
              <a:ea typeface="微软雅黑" panose="020B0503020204020204" charset="-122"/>
            </a:endParaRPr>
          </a:p>
        </p:txBody>
      </p:sp>
      <p:sp>
        <p:nvSpPr>
          <p:cNvPr id="561" name="textbox 561"/>
          <p:cNvSpPr/>
          <p:nvPr/>
        </p:nvSpPr>
        <p:spPr>
          <a:xfrm>
            <a:off x="4674013" y="1396624"/>
            <a:ext cx="3856990" cy="729615"/>
          </a:xfrm>
          <a:prstGeom prst="rect">
            <a:avLst/>
          </a:prstGeom>
        </p:spPr>
        <p:txBody>
          <a:bodyPr vert="horz" wrap="square" lIns="0" tIns="0" rIns="0" bIns="0"/>
          <a:lstStyle/>
          <a:p>
            <a:pPr algn="l" rtl="0" eaLnBrk="0">
              <a:lnSpc>
                <a:spcPct val="102000"/>
              </a:lnSpc>
            </a:pPr>
            <a:endParaRPr lang="en-US" altLang="en-US" sz="100" dirty="0">
              <a:latin typeface="微软雅黑" panose="020B0503020204020204" charset="-122"/>
              <a:ea typeface="微软雅黑" panose="020B0503020204020204" charset="-122"/>
            </a:endParaRPr>
          </a:p>
          <a:p>
            <a:pPr marL="194945" indent="-182245" algn="l" rtl="0" eaLnBrk="0">
              <a:lnSpc>
                <a:spcPct val="92000"/>
              </a:lnSpc>
            </a:pPr>
            <a:r>
              <a:rPr sz="2000" spc="10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电信服务提供商发现，大客户的议价能</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力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和购买组合导致他们的盈利空间不大，</a:t>
            </a:r>
            <a:r>
              <a:rPr sz="1500" spc="30" dirty="0">
                <a:solidFill>
                  <a:srgbClr val="000000">
                    <a:alpha val="100000"/>
                  </a:srgbClr>
                </a:solidFill>
                <a:latin typeface="微软雅黑" panose="020B0503020204020204" charset="-122"/>
                <a:ea typeface="微软雅黑" panose="020B0503020204020204" charset="-122"/>
                <a:cs typeface="楷体" panose="02010609060101010101" charset="-122"/>
              </a:rPr>
              <a:t>因</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此把销售重点转向了中小客</a:t>
            </a:r>
            <a:r>
              <a:rPr sz="1500" spc="70" dirty="0">
                <a:solidFill>
                  <a:srgbClr val="000000">
                    <a:alpha val="100000"/>
                  </a:srgbClr>
                </a:solidFill>
                <a:latin typeface="微软雅黑" panose="020B0503020204020204" charset="-122"/>
                <a:ea typeface="微软雅黑" panose="020B0503020204020204" charset="-122"/>
                <a:cs typeface="楷体" panose="02010609060101010101" charset="-122"/>
              </a:rPr>
              <a:t>户</a:t>
            </a:r>
            <a:endParaRPr lang="en-US" altLang="en-US" sz="1500" dirty="0">
              <a:latin typeface="微软雅黑" panose="020B0503020204020204" charset="-122"/>
              <a:ea typeface="微软雅黑" panose="020B0503020204020204" charset="-122"/>
            </a:endParaRPr>
          </a:p>
        </p:txBody>
      </p:sp>
      <p:sp>
        <p:nvSpPr>
          <p:cNvPr id="562" name="textbox 562"/>
          <p:cNvSpPr/>
          <p:nvPr/>
        </p:nvSpPr>
        <p:spPr>
          <a:xfrm>
            <a:off x="245363" y="4771644"/>
            <a:ext cx="1724025" cy="1330325"/>
          </a:xfrm>
          <a:prstGeom prst="rect">
            <a:avLst/>
          </a:prstGeom>
          <a:solidFill>
            <a:srgbClr val="BFE1FF"/>
          </a:solidFill>
        </p:spPr>
        <p:txBody>
          <a:bodyPr vert="horz" wrap="square" lIns="0" tIns="0" rIns="0" bIns="0"/>
          <a:lstStyle/>
          <a:p>
            <a:pPr algn="l" rtl="0" eaLnBrk="0">
              <a:lnSpc>
                <a:spcPct val="108000"/>
              </a:lnSpc>
            </a:pPr>
            <a:endParaRPr lang="en-US" altLang="en-US" sz="1000" dirty="0">
              <a:latin typeface="微软雅黑" panose="020B0503020204020204" charset="-122"/>
              <a:ea typeface="微软雅黑" panose="020B0503020204020204" charset="-122"/>
            </a:endParaRPr>
          </a:p>
          <a:p>
            <a:pPr marL="76835" algn="l" rtl="0" eaLnBrk="0">
              <a:lnSpc>
                <a:spcPct val="108000"/>
              </a:lnSpc>
              <a:spcBef>
                <a:spcPts val="5"/>
              </a:spcBef>
            </a:pPr>
            <a:r>
              <a:rPr sz="1500" spc="11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客户不是纯粹</a:t>
            </a:r>
            <a:r>
              <a:rPr sz="1500" spc="8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的</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11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交易型客户，</a:t>
            </a:r>
            <a:r>
              <a:rPr sz="1500" spc="8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就</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110" dirty="0">
                <a:ln w="5799"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是纯粹的咨询</a:t>
            </a:r>
            <a:r>
              <a:rPr sz="1500" spc="80" dirty="0">
                <a:ln w="5799"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型</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10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客</a:t>
            </a:r>
            <a:r>
              <a:rPr sz="1500" spc="8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户</a:t>
            </a:r>
            <a:endParaRPr lang="en-US" altLang="en-US" sz="1500" dirty="0">
              <a:latin typeface="微软雅黑" panose="020B0503020204020204" charset="-122"/>
              <a:ea typeface="微软雅黑" panose="020B0503020204020204" charset="-122"/>
            </a:endParaRPr>
          </a:p>
        </p:txBody>
      </p:sp>
      <p:sp>
        <p:nvSpPr>
          <p:cNvPr id="563" name="textbox 563"/>
          <p:cNvSpPr/>
          <p:nvPr/>
        </p:nvSpPr>
        <p:spPr>
          <a:xfrm>
            <a:off x="2191163" y="4785999"/>
            <a:ext cx="2232660" cy="984250"/>
          </a:xfrm>
          <a:prstGeom prst="rect">
            <a:avLst/>
          </a:prstGeom>
        </p:spPr>
        <p:txBody>
          <a:bodyPr vert="horz" wrap="square" lIns="0" tIns="0" rIns="0" bIns="0"/>
          <a:lstStyle/>
          <a:p>
            <a:pPr algn="l" rtl="0" eaLnBrk="0">
              <a:lnSpc>
                <a:spcPct val="96000"/>
              </a:lnSpc>
            </a:pPr>
            <a:endParaRPr lang="en-US" altLang="en-US" sz="100" dirty="0">
              <a:latin typeface="微软雅黑" panose="020B0503020204020204" charset="-122"/>
              <a:ea typeface="微软雅黑" panose="020B0503020204020204" charset="-122"/>
            </a:endParaRPr>
          </a:p>
          <a:p>
            <a:pPr marL="189230" indent="-176530" algn="l" rtl="0" eaLnBrk="0">
              <a:lnSpc>
                <a:spcPct val="89000"/>
              </a:lnSpc>
            </a:pPr>
            <a:r>
              <a:rPr sz="2000" spc="10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对一位客户只用一</a:t>
            </a:r>
            <a:r>
              <a:rPr sz="1500" spc="10" dirty="0">
                <a:solidFill>
                  <a:srgbClr val="000000">
                    <a:alpha val="100000"/>
                  </a:srgbClr>
                </a:solidFill>
                <a:latin typeface="微软雅黑" panose="020B0503020204020204" charset="-122"/>
                <a:ea typeface="微软雅黑" panose="020B0503020204020204" charset="-122"/>
                <a:cs typeface="楷体" panose="02010609060101010101" charset="-122"/>
              </a:rPr>
              <a:t>种</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模</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式</a:t>
            </a:r>
            <a:endParaRPr lang="en-US" altLang="en-US" sz="1500" dirty="0">
              <a:latin typeface="微软雅黑" panose="020B0503020204020204" charset="-122"/>
              <a:ea typeface="微软雅黑" panose="020B0503020204020204" charset="-122"/>
            </a:endParaRPr>
          </a:p>
          <a:p>
            <a:pPr marL="203200" indent="-190500" algn="l" rtl="0" eaLnBrk="0">
              <a:lnSpc>
                <a:spcPct val="86000"/>
              </a:lnSpc>
              <a:spcBef>
                <a:spcPts val="185"/>
              </a:spcBef>
            </a:pPr>
            <a:r>
              <a:rPr sz="2000" spc="10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并没有试图要将客户</a:t>
            </a:r>
            <a:r>
              <a:rPr sz="1500" spc="10" dirty="0">
                <a:solidFill>
                  <a:srgbClr val="000000">
                    <a:alpha val="100000"/>
                  </a:srgbClr>
                </a:solidFill>
                <a:latin typeface="微软雅黑" panose="020B0503020204020204" charset="-122"/>
                <a:ea typeface="微软雅黑" panose="020B0503020204020204" charset="-122"/>
                <a:cs typeface="楷体" panose="02010609060101010101" charset="-122"/>
              </a:rPr>
              <a:t>升</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70" dirty="0">
                <a:solidFill>
                  <a:srgbClr val="000000">
                    <a:alpha val="100000"/>
                  </a:srgbClr>
                </a:solidFill>
                <a:latin typeface="微软雅黑" panose="020B0503020204020204" charset="-122"/>
                <a:ea typeface="微软雅黑" panose="020B0503020204020204" charset="-122"/>
                <a:cs typeface="楷体" panose="02010609060101010101" charset="-122"/>
              </a:rPr>
              <a:t>级或降</a:t>
            </a:r>
            <a:r>
              <a:rPr sz="1500" spc="60" dirty="0">
                <a:solidFill>
                  <a:srgbClr val="000000">
                    <a:alpha val="100000"/>
                  </a:srgbClr>
                </a:solidFill>
                <a:latin typeface="微软雅黑" panose="020B0503020204020204" charset="-122"/>
                <a:ea typeface="微软雅黑" panose="020B0503020204020204" charset="-122"/>
                <a:cs typeface="楷体" panose="02010609060101010101" charset="-122"/>
              </a:rPr>
              <a:t>级</a:t>
            </a:r>
            <a:endParaRPr lang="en-US" altLang="en-US" sz="1500" dirty="0">
              <a:latin typeface="微软雅黑" panose="020B0503020204020204" charset="-122"/>
              <a:ea typeface="微软雅黑" panose="020B0503020204020204" charset="-122"/>
            </a:endParaRPr>
          </a:p>
        </p:txBody>
      </p:sp>
      <p:sp>
        <p:nvSpPr>
          <p:cNvPr id="564" name="textbox 564"/>
          <p:cNvSpPr/>
          <p:nvPr/>
        </p:nvSpPr>
        <p:spPr>
          <a:xfrm>
            <a:off x="2191163" y="1385955"/>
            <a:ext cx="2237104" cy="760094"/>
          </a:xfrm>
          <a:prstGeom prst="rect">
            <a:avLst/>
          </a:prstGeom>
        </p:spPr>
        <p:txBody>
          <a:bodyPr vert="horz" wrap="square" lIns="0" tIns="0" rIns="0" bIns="0"/>
          <a:lstStyle/>
          <a:p>
            <a:pPr algn="l" rtl="0" eaLnBrk="0">
              <a:lnSpc>
                <a:spcPct val="87000"/>
              </a:lnSpc>
            </a:pPr>
            <a:endParaRPr lang="en-US" altLang="en-US" sz="100" dirty="0">
              <a:latin typeface="微软雅黑" panose="020B0503020204020204" charset="-122"/>
              <a:ea typeface="微软雅黑" panose="020B0503020204020204" charset="-122"/>
            </a:endParaRPr>
          </a:p>
          <a:p>
            <a:pPr marL="12700" algn="l" rtl="0" eaLnBrk="0">
              <a:lnSpc>
                <a:spcPct val="78000"/>
              </a:lnSpc>
            </a:pPr>
            <a:r>
              <a:rPr sz="2000" spc="10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派遣最能干的销售人</a:t>
            </a:r>
            <a:r>
              <a:rPr sz="1500" spc="40" dirty="0">
                <a:solidFill>
                  <a:srgbClr val="000000">
                    <a:alpha val="100000"/>
                  </a:srgbClr>
                </a:solidFill>
                <a:latin typeface="微软雅黑" panose="020B0503020204020204" charset="-122"/>
                <a:ea typeface="微软雅黑" panose="020B0503020204020204" charset="-122"/>
                <a:cs typeface="楷体" panose="02010609060101010101" charset="-122"/>
              </a:rPr>
              <a:t>员</a:t>
            </a:r>
            <a:endParaRPr lang="en-US" altLang="en-US" sz="1500" dirty="0">
              <a:latin typeface="微软雅黑" panose="020B0503020204020204" charset="-122"/>
              <a:ea typeface="微软雅黑" panose="020B0503020204020204" charset="-122"/>
            </a:endParaRPr>
          </a:p>
          <a:p>
            <a:pPr marL="12700" algn="l" rtl="0" eaLnBrk="0">
              <a:lnSpc>
                <a:spcPct val="78000"/>
              </a:lnSpc>
              <a:spcBef>
                <a:spcPts val="50"/>
              </a:spcBef>
            </a:pPr>
            <a:r>
              <a:rPr sz="2000" spc="10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投入最多时</a:t>
            </a:r>
            <a:r>
              <a:rPr sz="1500" spc="50" dirty="0">
                <a:solidFill>
                  <a:srgbClr val="000000">
                    <a:alpha val="100000"/>
                  </a:srgbClr>
                </a:solidFill>
                <a:latin typeface="微软雅黑" panose="020B0503020204020204" charset="-122"/>
                <a:ea typeface="微软雅黑" panose="020B0503020204020204" charset="-122"/>
                <a:cs typeface="楷体" panose="02010609060101010101" charset="-122"/>
              </a:rPr>
              <a:t>间</a:t>
            </a:r>
            <a:endParaRPr lang="en-US" altLang="en-US" sz="1500" dirty="0">
              <a:latin typeface="微软雅黑" panose="020B0503020204020204" charset="-122"/>
              <a:ea typeface="微软雅黑" panose="020B0503020204020204" charset="-122"/>
            </a:endParaRPr>
          </a:p>
          <a:p>
            <a:pPr marL="12700" algn="l" rtl="0" eaLnBrk="0">
              <a:lnSpc>
                <a:spcPct val="81000"/>
              </a:lnSpc>
              <a:spcBef>
                <a:spcPts val="40"/>
              </a:spcBef>
            </a:pPr>
            <a:r>
              <a:rPr sz="2000" spc="9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不计代</a:t>
            </a:r>
            <a:r>
              <a:rPr sz="1500" spc="60" dirty="0">
                <a:solidFill>
                  <a:srgbClr val="000000">
                    <a:alpha val="100000"/>
                  </a:srgbClr>
                </a:solidFill>
                <a:latin typeface="微软雅黑" panose="020B0503020204020204" charset="-122"/>
                <a:ea typeface="微软雅黑" panose="020B0503020204020204" charset="-122"/>
                <a:cs typeface="楷体" panose="02010609060101010101" charset="-122"/>
              </a:rPr>
              <a:t>价</a:t>
            </a:r>
            <a:endParaRPr lang="en-US" altLang="en-US" sz="1500" dirty="0">
              <a:latin typeface="微软雅黑" panose="020B0503020204020204" charset="-122"/>
              <a:ea typeface="微软雅黑" panose="020B0503020204020204" charset="-122"/>
            </a:endParaRPr>
          </a:p>
        </p:txBody>
      </p:sp>
      <p:sp>
        <p:nvSpPr>
          <p:cNvPr id="565" name="textbox 565"/>
          <p:cNvSpPr/>
          <p:nvPr/>
        </p:nvSpPr>
        <p:spPr>
          <a:xfrm>
            <a:off x="245363" y="3639311"/>
            <a:ext cx="1724025" cy="859789"/>
          </a:xfrm>
          <a:prstGeom prst="rect">
            <a:avLst/>
          </a:prstGeom>
          <a:solidFill>
            <a:srgbClr val="BFE1FF"/>
          </a:solidFill>
        </p:spPr>
        <p:txBody>
          <a:bodyPr vert="horz" wrap="square" lIns="0" tIns="0" rIns="0" bIns="0"/>
          <a:lstStyle/>
          <a:p>
            <a:pPr algn="l" rtl="0" eaLnBrk="0">
              <a:lnSpc>
                <a:spcPct val="129000"/>
              </a:lnSpc>
            </a:pPr>
            <a:endParaRPr lang="en-US" altLang="en-US" sz="1000" dirty="0">
              <a:latin typeface="微软雅黑" panose="020B0503020204020204" charset="-122"/>
              <a:ea typeface="微软雅黑" panose="020B0503020204020204" charset="-122"/>
            </a:endParaRPr>
          </a:p>
          <a:p>
            <a:pPr algn="l" rtl="0" eaLnBrk="0">
              <a:lnSpc>
                <a:spcPct val="9000"/>
              </a:lnSpc>
            </a:pPr>
            <a:endParaRPr lang="en-US" altLang="en-US" sz="100" dirty="0">
              <a:latin typeface="微软雅黑" panose="020B0503020204020204" charset="-122"/>
              <a:ea typeface="微软雅黑" panose="020B0503020204020204" charset="-122"/>
            </a:endParaRPr>
          </a:p>
          <a:p>
            <a:pPr marL="97155" algn="l" rtl="0" eaLnBrk="0">
              <a:lnSpc>
                <a:spcPct val="95000"/>
              </a:lnSpc>
            </a:pPr>
            <a:r>
              <a:rPr sz="1500" spc="6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小客户</a:t>
            </a:r>
            <a:r>
              <a:rPr sz="1500" b="1" spc="50" dirty="0">
                <a:solidFill>
                  <a:srgbClr val="000000">
                    <a:alpha val="100000"/>
                  </a:srgbClr>
                </a:solidFill>
                <a:latin typeface="微软雅黑" panose="020B0503020204020204" charset="-122"/>
                <a:ea typeface="微软雅黑" panose="020B0503020204020204" charset="-122"/>
                <a:cs typeface="Arial" panose="020B0604020202020204"/>
              </a:rPr>
              <a:t>=</a:t>
            </a:r>
            <a:endParaRPr lang="en-US" altLang="en-US" sz="1500" dirty="0">
              <a:latin typeface="微软雅黑" panose="020B0503020204020204" charset="-122"/>
              <a:ea typeface="微软雅黑" panose="020B0503020204020204" charset="-122"/>
            </a:endParaRPr>
          </a:p>
          <a:p>
            <a:pPr marL="86995" algn="l" rtl="0" eaLnBrk="0">
              <a:lnSpc>
                <a:spcPts val="2025"/>
              </a:lnSpc>
            </a:pPr>
            <a:r>
              <a:rPr sz="1500" spc="9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交易型客</a:t>
            </a:r>
            <a:r>
              <a:rPr sz="1500" spc="7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户</a:t>
            </a:r>
            <a:endParaRPr lang="en-US" altLang="en-US" sz="1500" dirty="0">
              <a:latin typeface="微软雅黑" panose="020B0503020204020204" charset="-122"/>
              <a:ea typeface="微软雅黑" panose="020B0503020204020204" charset="-122"/>
            </a:endParaRPr>
          </a:p>
        </p:txBody>
      </p:sp>
      <p:sp>
        <p:nvSpPr>
          <p:cNvPr id="566" name="textbox 566"/>
          <p:cNvSpPr/>
          <p:nvPr/>
        </p:nvSpPr>
        <p:spPr>
          <a:xfrm>
            <a:off x="245363" y="1373124"/>
            <a:ext cx="1724025" cy="856614"/>
          </a:xfrm>
          <a:prstGeom prst="rect">
            <a:avLst/>
          </a:prstGeom>
          <a:solidFill>
            <a:srgbClr val="BFE1FF"/>
          </a:solidFill>
        </p:spPr>
        <p:txBody>
          <a:bodyPr vert="horz" wrap="square" lIns="0" tIns="0" rIns="0" bIns="0"/>
          <a:lstStyle/>
          <a:p>
            <a:pPr algn="l" rtl="0" eaLnBrk="0">
              <a:lnSpc>
                <a:spcPct val="129000"/>
              </a:lnSpc>
            </a:pPr>
            <a:endParaRPr lang="en-US" altLang="en-US" sz="1000" dirty="0">
              <a:latin typeface="微软雅黑" panose="020B0503020204020204" charset="-122"/>
              <a:ea typeface="微软雅黑" panose="020B0503020204020204" charset="-122"/>
            </a:endParaRPr>
          </a:p>
          <a:p>
            <a:pPr algn="l" rtl="0" eaLnBrk="0">
              <a:lnSpc>
                <a:spcPct val="8000"/>
              </a:lnSpc>
            </a:pPr>
            <a:endParaRPr lang="en-US" altLang="en-US" sz="100" dirty="0">
              <a:latin typeface="微软雅黑" panose="020B0503020204020204" charset="-122"/>
              <a:ea typeface="微软雅黑" panose="020B0503020204020204" charset="-122"/>
            </a:endParaRPr>
          </a:p>
          <a:p>
            <a:pPr marL="97155" algn="l" rtl="0" eaLnBrk="0">
              <a:lnSpc>
                <a:spcPts val="1920"/>
              </a:lnSpc>
            </a:pPr>
            <a:r>
              <a:rPr sz="1500" spc="6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大客户</a:t>
            </a:r>
            <a:r>
              <a:rPr sz="1500" b="1" spc="50" dirty="0">
                <a:solidFill>
                  <a:srgbClr val="000000">
                    <a:alpha val="100000"/>
                  </a:srgbClr>
                </a:solidFill>
                <a:latin typeface="微软雅黑" panose="020B0503020204020204" charset="-122"/>
                <a:ea typeface="微软雅黑" panose="020B0503020204020204" charset="-122"/>
                <a:cs typeface="Arial" panose="020B0604020202020204"/>
              </a:rPr>
              <a:t>=</a:t>
            </a:r>
            <a:endParaRPr lang="en-US" altLang="en-US" sz="1500" dirty="0">
              <a:latin typeface="微软雅黑" panose="020B0503020204020204" charset="-122"/>
              <a:ea typeface="微软雅黑" panose="020B0503020204020204" charset="-122"/>
            </a:endParaRPr>
          </a:p>
          <a:p>
            <a:pPr marL="81280" algn="l" rtl="0" eaLnBrk="0">
              <a:lnSpc>
                <a:spcPct val="99000"/>
              </a:lnSpc>
              <a:spcBef>
                <a:spcPts val="5"/>
              </a:spcBef>
            </a:pPr>
            <a:r>
              <a:rPr sz="1500" spc="11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有利可图的客</a:t>
            </a:r>
            <a:r>
              <a:rPr sz="1500" spc="4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户</a:t>
            </a:r>
            <a:endParaRPr lang="en-US" altLang="en-US" sz="1500" dirty="0">
              <a:latin typeface="微软雅黑" panose="020B0503020204020204" charset="-122"/>
              <a:ea typeface="微软雅黑" panose="020B0503020204020204" charset="-122"/>
            </a:endParaRPr>
          </a:p>
        </p:txBody>
      </p:sp>
      <p:sp>
        <p:nvSpPr>
          <p:cNvPr id="567" name="textbox 567"/>
          <p:cNvSpPr/>
          <p:nvPr/>
        </p:nvSpPr>
        <p:spPr>
          <a:xfrm>
            <a:off x="245363" y="2505456"/>
            <a:ext cx="1724025" cy="858519"/>
          </a:xfrm>
          <a:prstGeom prst="rect">
            <a:avLst/>
          </a:prstGeom>
          <a:solidFill>
            <a:srgbClr val="BFE1FF"/>
          </a:solidFill>
        </p:spPr>
        <p:txBody>
          <a:bodyPr vert="horz" wrap="square" lIns="0" tIns="0" rIns="0" bIns="0"/>
          <a:lstStyle/>
          <a:p>
            <a:pPr algn="l" rtl="0" eaLnBrk="0">
              <a:lnSpc>
                <a:spcPct val="130000"/>
              </a:lnSpc>
            </a:pPr>
            <a:endParaRPr lang="en-US" altLang="en-US" sz="1000" dirty="0">
              <a:latin typeface="微软雅黑" panose="020B0503020204020204" charset="-122"/>
              <a:ea typeface="微软雅黑" panose="020B0503020204020204" charset="-122"/>
            </a:endParaRPr>
          </a:p>
          <a:p>
            <a:pPr marL="97155" algn="l" rtl="0" eaLnBrk="0">
              <a:lnSpc>
                <a:spcPct val="95000"/>
              </a:lnSpc>
              <a:spcBef>
                <a:spcPts val="5"/>
              </a:spcBef>
            </a:pPr>
            <a:r>
              <a:rPr sz="1500" spc="6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大客户</a:t>
            </a:r>
            <a:r>
              <a:rPr sz="1500" b="1" spc="50" dirty="0">
                <a:solidFill>
                  <a:srgbClr val="000000">
                    <a:alpha val="100000"/>
                  </a:srgbClr>
                </a:solidFill>
                <a:latin typeface="微软雅黑" panose="020B0503020204020204" charset="-122"/>
                <a:ea typeface="微软雅黑" panose="020B0503020204020204" charset="-122"/>
                <a:cs typeface="Arial" panose="020B0604020202020204"/>
              </a:rPr>
              <a:t>=</a:t>
            </a:r>
            <a:endParaRPr lang="en-US" altLang="en-US" sz="1500" dirty="0">
              <a:latin typeface="微软雅黑" panose="020B0503020204020204" charset="-122"/>
              <a:ea typeface="微软雅黑" panose="020B0503020204020204" charset="-122"/>
            </a:endParaRPr>
          </a:p>
          <a:p>
            <a:pPr marL="88900" algn="l" rtl="0" eaLnBrk="0">
              <a:lnSpc>
                <a:spcPts val="2015"/>
              </a:lnSpc>
            </a:pPr>
            <a:r>
              <a:rPr sz="1500" spc="9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咨询型客</a:t>
            </a:r>
            <a:r>
              <a:rPr sz="1500" spc="5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户</a:t>
            </a:r>
            <a:endParaRPr lang="en-US" altLang="en-US" sz="1500" dirty="0">
              <a:latin typeface="微软雅黑" panose="020B0503020204020204" charset="-122"/>
              <a:ea typeface="微软雅黑" panose="020B0503020204020204" charset="-122"/>
            </a:endParaRPr>
          </a:p>
        </p:txBody>
      </p:sp>
      <p:sp>
        <p:nvSpPr>
          <p:cNvPr id="568" name="textbox 568"/>
          <p:cNvSpPr/>
          <p:nvPr/>
        </p:nvSpPr>
        <p:spPr>
          <a:xfrm>
            <a:off x="114366" y="248992"/>
            <a:ext cx="4337050" cy="310515"/>
          </a:xfrm>
          <a:prstGeom prst="rect">
            <a:avLst/>
          </a:prstGeom>
        </p:spPr>
        <p:txBody>
          <a:bodyPr vert="horz" wrap="square" lIns="0" tIns="0" rIns="0" bIns="0"/>
          <a:lstStyle/>
          <a:p>
            <a:pPr algn="l" rtl="0" eaLnBrk="0">
              <a:lnSpc>
                <a:spcPct val="92000"/>
              </a:lnSpc>
            </a:pPr>
            <a:endParaRPr lang="en-US" altLang="en-US" sz="100" dirty="0">
              <a:latin typeface="微软雅黑" panose="020B0503020204020204" charset="-122"/>
              <a:ea typeface="微软雅黑" panose="020B0503020204020204" charset="-122"/>
            </a:endParaRPr>
          </a:p>
          <a:p>
            <a:pPr marL="12700" algn="l" rtl="0" eaLnBrk="0">
              <a:lnSpc>
                <a:spcPct val="93000"/>
              </a:lnSpc>
            </a:pPr>
            <a:r>
              <a:rPr sz="2000" spc="-10" dirty="0">
                <a:solidFill>
                  <a:srgbClr val="002960">
                    <a:alpha val="100000"/>
                  </a:srgbClr>
                </a:solidFill>
                <a:latin typeface="微软雅黑" panose="020B0503020204020204" charset="-122"/>
                <a:ea typeface="微软雅黑" panose="020B0503020204020204" charset="-122"/>
                <a:cs typeface="楷体" panose="02010609060101010101" charset="-122"/>
              </a:rPr>
              <a:t>缺乏客户洞</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察可能导致错误的战略战术</a:t>
            </a:r>
            <a:endParaRPr lang="en-US" altLang="en-US" sz="2000" dirty="0">
              <a:latin typeface="微软雅黑" panose="020B0503020204020204" charset="-122"/>
              <a:ea typeface="微软雅黑" panose="020B0503020204020204" charset="-122"/>
            </a:endParaRPr>
          </a:p>
        </p:txBody>
      </p:sp>
      <p:sp>
        <p:nvSpPr>
          <p:cNvPr id="569" name="textbox 569"/>
          <p:cNvSpPr/>
          <p:nvPr/>
        </p:nvSpPr>
        <p:spPr>
          <a:xfrm>
            <a:off x="258610" y="986921"/>
            <a:ext cx="4831715" cy="250825"/>
          </a:xfrm>
          <a:prstGeom prst="rect">
            <a:avLst/>
          </a:prstGeom>
        </p:spPr>
        <p:txBody>
          <a:bodyPr vert="horz" wrap="square" lIns="0" tIns="0" rIns="0" bIns="0"/>
          <a:lstStyle/>
          <a:p>
            <a:pPr algn="l" rtl="0" eaLnBrk="0">
              <a:lnSpc>
                <a:spcPct val="77000"/>
              </a:lnSpc>
            </a:pPr>
            <a:endParaRPr lang="en-US" altLang="en-US" sz="100" dirty="0">
              <a:latin typeface="微软雅黑" panose="020B0503020204020204" charset="-122"/>
              <a:ea typeface="微软雅黑" panose="020B0503020204020204" charset="-122"/>
            </a:endParaRPr>
          </a:p>
          <a:p>
            <a:pPr marL="12700" algn="l" rtl="0" eaLnBrk="0">
              <a:lnSpc>
                <a:spcPct val="99000"/>
              </a:lnSpc>
            </a:pPr>
            <a:r>
              <a:rPr sz="1500" spc="9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常见假设</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9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导致的相应销售行为</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7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反例</a:t>
            </a:r>
            <a:endParaRPr lang="en-US" altLang="en-US" sz="1500" dirty="0">
              <a:latin typeface="微软雅黑" panose="020B0503020204020204" charset="-122"/>
              <a:ea typeface="微软雅黑" panose="020B0503020204020204" charset="-122"/>
            </a:endParaRPr>
          </a:p>
        </p:txBody>
      </p:sp>
      <p:sp>
        <p:nvSpPr>
          <p:cNvPr id="570" name="textbox 570"/>
          <p:cNvSpPr/>
          <p:nvPr/>
        </p:nvSpPr>
        <p:spPr>
          <a:xfrm>
            <a:off x="114849" y="6511311"/>
            <a:ext cx="8577580" cy="135889"/>
          </a:xfrm>
          <a:prstGeom prst="rect">
            <a:avLst/>
          </a:prstGeom>
        </p:spPr>
        <p:txBody>
          <a:bodyPr vert="horz" wrap="square" lIns="0" tIns="0" rIns="0" bIns="0"/>
          <a:lstStyle/>
          <a:p>
            <a:pPr algn="l" rtl="0" eaLnBrk="0">
              <a:lnSpc>
                <a:spcPct val="85000"/>
              </a:lnSpc>
            </a:pPr>
            <a:endParaRPr lang="en-US" altLang="en-US" sz="100" dirty="0"/>
          </a:p>
          <a:p>
            <a:pPr marL="12700" algn="l" rtl="0" eaLnBrk="0">
              <a:lnSpc>
                <a:spcPct val="90000"/>
              </a:lnSpc>
            </a:pPr>
            <a:r>
              <a:rPr sz="800" spc="10" dirty="0">
                <a:solidFill>
                  <a:srgbClr val="808080">
                    <a:alpha val="100000"/>
                  </a:srgbClr>
                </a:solidFill>
                <a:latin typeface="楷体" panose="02010609060101010101" charset="-122"/>
                <a:ea typeface="楷体" panose="02010609060101010101" charset="-122"/>
                <a:cs typeface="楷体" panose="02010609060101010101" charset="-122"/>
              </a:rPr>
              <a:t>资料来源：乙方                           </a:t>
            </a:r>
            <a:r>
              <a:rPr sz="800" spc="0" dirty="0">
                <a:solidFill>
                  <a:srgbClr val="808080">
                    <a:alpha val="100000"/>
                  </a:srgbClr>
                </a:solidFill>
                <a:latin typeface="楷体" panose="02010609060101010101" charset="-122"/>
                <a:ea typeface="楷体" panose="02010609060101010101" charset="-122"/>
                <a:cs typeface="楷体" panose="02010609060101010101" charset="-122"/>
              </a:rPr>
              <a:t>                                                                                                     </a:t>
            </a:r>
            <a:r>
              <a:rPr sz="800" spc="0" dirty="0">
                <a:solidFill>
                  <a:srgbClr val="808080">
                    <a:alpha val="100000"/>
                  </a:srgbClr>
                </a:solidFill>
                <a:latin typeface="Arial" panose="020B0604020202020204"/>
                <a:ea typeface="Arial" panose="020B0604020202020204"/>
                <a:cs typeface="Arial" panose="020B0604020202020204"/>
              </a:rPr>
              <a:t>   13</a:t>
            </a:r>
            <a:endParaRPr lang="en-US" altLang="en-US" sz="800" dirty="0"/>
          </a:p>
        </p:txBody>
      </p:sp>
      <p:sp>
        <p:nvSpPr>
          <p:cNvPr id="571" name="rect"/>
          <p:cNvSpPr/>
          <p:nvPr/>
        </p:nvSpPr>
        <p:spPr>
          <a:xfrm>
            <a:off x="2186175" y="2345435"/>
            <a:ext cx="6416044" cy="21336"/>
          </a:xfrm>
          <a:prstGeom prst="rect">
            <a:avLst/>
          </a:prstGeom>
          <a:solidFill>
            <a:srgbClr val="808080">
              <a:alpha val="100000"/>
            </a:srgbClr>
          </a:solidFill>
          <a:ln cap="flat">
            <a:noFill/>
            <a:prstDash val="solid"/>
            <a:miter lim="0"/>
          </a:ln>
        </p:spPr>
        <p:txBody>
          <a:bodyPr rtlCol="0"/>
          <a:lstStyle/>
          <a:p>
            <a:pPr algn="ctr"/>
            <a:endParaRPr lang="zh-CN" altLang="en-US"/>
          </a:p>
        </p:txBody>
      </p:sp>
      <p:sp>
        <p:nvSpPr>
          <p:cNvPr id="572" name="textbox 572"/>
          <p:cNvSpPr/>
          <p:nvPr/>
        </p:nvSpPr>
        <p:spPr>
          <a:xfrm>
            <a:off x="8818509" y="1037437"/>
            <a:ext cx="114935" cy="1840229"/>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endParaRPr sz="600" spc="0" dirty="0">
              <a:solidFill>
                <a:srgbClr val="808080">
                  <a:alpha val="100000"/>
                </a:srgbClr>
              </a:solidFill>
              <a:latin typeface="Arial" panose="020B0604020202020204"/>
              <a:ea typeface="Arial" panose="020B0604020202020204"/>
              <a:cs typeface="Arial" panose="020B0604020202020204"/>
            </a:endParaRPr>
          </a:p>
        </p:txBody>
      </p:sp>
      <p:sp>
        <p:nvSpPr>
          <p:cNvPr id="573" name="path"/>
          <p:cNvSpPr/>
          <p:nvPr/>
        </p:nvSpPr>
        <p:spPr>
          <a:xfrm>
            <a:off x="245363" y="1266444"/>
            <a:ext cx="8365235" cy="9143"/>
          </a:xfrm>
          <a:custGeom>
            <a:avLst/>
            <a:gdLst/>
            <a:ahLst/>
            <a:cxnLst/>
            <a:rect l="0" t="0" r="0" b="0"/>
            <a:pathLst>
              <a:path w="13173" h="14">
                <a:moveTo>
                  <a:pt x="0" y="7"/>
                </a:moveTo>
                <a:lnTo>
                  <a:pt x="13173" y="7"/>
                </a:lnTo>
              </a:path>
            </a:pathLst>
          </a:custGeom>
          <a:noFill/>
          <a:ln w="9143" cap="flat">
            <a:solidFill>
              <a:srgbClr val="808080">
                <a:alpha val="100000"/>
              </a:srgbClr>
            </a:solidFill>
            <a:prstDash val="solid"/>
            <a:round/>
          </a:ln>
        </p:spPr>
        <p:txBody>
          <a:bodyPr rtlCol="0"/>
          <a:lstStyle/>
          <a:p>
            <a:pPr algn="ctr"/>
            <a:endParaRPr lang="zh-CN" altLang="en-US"/>
          </a:p>
        </p:txBody>
      </p:sp>
      <p:sp>
        <p:nvSpPr>
          <p:cNvPr id="574" name="textbox 574"/>
          <p:cNvSpPr/>
          <p:nvPr/>
        </p:nvSpPr>
        <p:spPr>
          <a:xfrm>
            <a:off x="8818435" y="4032021"/>
            <a:ext cx="114935" cy="262890"/>
          </a:xfrm>
          <a:prstGeom prst="rect">
            <a:avLst/>
          </a:prstGeom>
        </p:spPr>
        <p:txBody>
          <a:bodyPr vert="eaVert" wrap="square" lIns="0" tIns="0" rIns="0" bIns="0"/>
          <a:lstStyle/>
          <a:p>
            <a:pPr algn="l" rtl="0" eaLnBrk="0">
              <a:lnSpc>
                <a:spcPct val="85000"/>
              </a:lnSpc>
            </a:pPr>
            <a:endParaRPr lang="en-US" altLang="en-US" sz="100" dirty="0"/>
          </a:p>
          <a:p>
            <a:pPr marL="12700" algn="l" rtl="0" eaLnBrk="0">
              <a:lnSpc>
                <a:spcPct val="79000"/>
              </a:lnSpc>
            </a:pPr>
            <a:endParaRPr sz="600" spc="-10" dirty="0">
              <a:solidFill>
                <a:srgbClr val="808080">
                  <a:alpha val="100000"/>
                </a:srgbClr>
              </a:solidFill>
              <a:latin typeface="Arial" panose="020B0604020202020204"/>
              <a:ea typeface="Arial" panose="020B0604020202020204"/>
              <a:cs typeface="Arial" panose="020B0604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75" name="table 575"/>
          <p:cNvGraphicFramePr>
            <a:graphicFrameLocks noGrp="1"/>
          </p:cNvGraphicFramePr>
          <p:nvPr/>
        </p:nvGraphicFramePr>
        <p:xfrm>
          <a:off x="4067555" y="1171955"/>
          <a:ext cx="4404359" cy="1554479"/>
        </p:xfrm>
        <a:graphic>
          <a:graphicData uri="http://schemas.openxmlformats.org/drawingml/2006/table">
            <a:tbl>
              <a:tblPr/>
              <a:tblGrid>
                <a:gridCol w="4404359"/>
              </a:tblGrid>
              <a:tr h="442594">
                <a:tc>
                  <a:txBody>
                    <a:bodyPr/>
                    <a:lstStyle/>
                    <a:p>
                      <a:pPr algn="l" rtl="0" eaLnBrk="0">
                        <a:lnSpc>
                          <a:spcPct val="111000"/>
                        </a:lnSpc>
                      </a:pPr>
                      <a:endParaRPr lang="en-US" altLang="en-US" sz="600" dirty="0">
                        <a:latin typeface="微软雅黑" panose="020B0503020204020204" charset="-122"/>
                        <a:ea typeface="微软雅黑" panose="020B0503020204020204" charset="-122"/>
                      </a:endParaRPr>
                    </a:p>
                    <a:p>
                      <a:pPr marL="102870" algn="l" rtl="0" eaLnBrk="0">
                        <a:lnSpc>
                          <a:spcPct val="94000"/>
                        </a:lnSpc>
                        <a:spcBef>
                          <a:spcPts val="5"/>
                        </a:spcBef>
                      </a:pPr>
                      <a:r>
                        <a:rPr sz="1400" spc="-40" dirty="0">
                          <a:ln w="5094"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用户分</a:t>
                      </a:r>
                      <a:r>
                        <a:rPr sz="1400" spc="-30" dirty="0">
                          <a:ln w="5094"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析</a:t>
                      </a:r>
                      <a:endParaRPr lang="en-US" altLang="en-US" sz="1400" dirty="0">
                        <a:latin typeface="微软雅黑" panose="020B0503020204020204" charset="-122"/>
                        <a:ea typeface="微软雅黑" panose="020B0503020204020204" charset="-122"/>
                      </a:endParaRPr>
                    </a:p>
                  </a:txBody>
                  <a:tcPr marL="0" marR="0" marT="0" marB="0">
                    <a:lnL>
                      <a:noFill/>
                    </a:lnL>
                    <a:lnR>
                      <a:noFill/>
                    </a:lnR>
                    <a:lnT>
                      <a:noFill/>
                    </a:lnT>
                    <a:lnB w="3175" cap="flat" cmpd="sng" algn="ctr">
                      <a:solidFill>
                        <a:srgbClr val="00ADEF"/>
                      </a:solidFill>
                      <a:prstDash val="solid"/>
                      <a:round/>
                      <a:headEnd type="none" w="med" len="med"/>
                      <a:tailEnd type="none" w="med" len="med"/>
                    </a:lnB>
                    <a:solidFill>
                      <a:srgbClr val="00ADEF"/>
                    </a:solidFill>
                  </a:tcPr>
                </a:tc>
              </a:tr>
              <a:tr h="1111885">
                <a:tc>
                  <a:txBody>
                    <a:bodyPr/>
                    <a:lstStyle/>
                    <a:p>
                      <a:pPr algn="l" rtl="0" eaLnBrk="0">
                        <a:lnSpc>
                          <a:spcPct val="103000"/>
                        </a:lnSpc>
                      </a:pPr>
                      <a:endParaRPr lang="en-US" altLang="en-US" sz="600" dirty="0">
                        <a:latin typeface="微软雅黑" panose="020B0503020204020204" charset="-122"/>
                        <a:ea typeface="微软雅黑" panose="020B0503020204020204" charset="-122"/>
                      </a:endParaRPr>
                    </a:p>
                    <a:p>
                      <a:pPr marL="88900" algn="l" rtl="0" eaLnBrk="0">
                        <a:lnSpc>
                          <a:spcPct val="95000"/>
                        </a:lnSpc>
                        <a:spcBef>
                          <a:spcPts val="5"/>
                        </a:spcBef>
                      </a:pP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农民主要依</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靠卖玉米为生</a:t>
                      </a:r>
                      <a:endParaRPr lang="en-US" altLang="en-US" sz="1400" dirty="0">
                        <a:latin typeface="微软雅黑" panose="020B0503020204020204" charset="-122"/>
                        <a:ea typeface="微软雅黑" panose="020B0503020204020204" charset="-122"/>
                      </a:endParaRPr>
                    </a:p>
                    <a:p>
                      <a:pPr marL="95250" algn="l" rtl="0" eaLnBrk="0">
                        <a:lnSpc>
                          <a:spcPct val="92000"/>
                        </a:lnSpc>
                        <a:spcBef>
                          <a:spcPts val="80"/>
                        </a:spcBef>
                      </a:pPr>
                      <a:r>
                        <a:rPr sz="1400" spc="-3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30" dirty="0">
                          <a:solidFill>
                            <a:srgbClr val="000000">
                              <a:alpha val="100000"/>
                            </a:srgbClr>
                          </a:solidFill>
                          <a:latin typeface="微软雅黑" panose="020B0503020204020204" charset="-122"/>
                          <a:ea typeface="微软雅黑" panose="020B0503020204020204" charset="-122"/>
                          <a:cs typeface="楷体" panose="02010609060101010101" charset="-122"/>
                        </a:rPr>
                        <a:t>产出的玉米一般用于出售， 而</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不</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是用作饲料</a:t>
                      </a:r>
                      <a:endParaRPr lang="en-US" altLang="en-US" sz="1400" dirty="0">
                        <a:latin typeface="微软雅黑" panose="020B0503020204020204" charset="-122"/>
                        <a:ea typeface="微软雅黑" panose="020B0503020204020204" charset="-122"/>
                      </a:endParaRPr>
                    </a:p>
                    <a:p>
                      <a:pPr marL="95250" algn="l" rtl="0" eaLnBrk="0">
                        <a:lnSpc>
                          <a:spcPct val="93000"/>
                        </a:lnSpc>
                        <a:spcBef>
                          <a:spcPts val="140"/>
                        </a:spcBef>
                      </a:pPr>
                      <a:r>
                        <a:rPr sz="1400" spc="4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40" dirty="0">
                          <a:solidFill>
                            <a:srgbClr val="000000">
                              <a:alpha val="100000"/>
                            </a:srgbClr>
                          </a:solidFill>
                          <a:latin typeface="微软雅黑" panose="020B0503020204020204" charset="-122"/>
                          <a:ea typeface="微软雅黑" panose="020B0503020204020204" charset="-122"/>
                          <a:cs typeface="楷体" panose="02010609060101010101" charset="-122"/>
                        </a:rPr>
                        <a:t>玉米为主要农作物(玉米占总耕地比例高</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a:t>
                      </a:r>
                      <a:endParaRPr lang="en-US" altLang="en-US" sz="1400" dirty="0">
                        <a:latin typeface="微软雅黑" panose="020B0503020204020204" charset="-122"/>
                        <a:ea typeface="微软雅黑" panose="020B0503020204020204" charset="-122"/>
                      </a:endParaRPr>
                    </a:p>
                  </a:txBody>
                  <a:tcPr marL="0" marR="0" marT="0" marB="0">
                    <a:lnL w="19050" cap="flat" cmpd="sng" algn="ctr">
                      <a:solidFill>
                        <a:srgbClr val="00ADEF"/>
                      </a:solidFill>
                      <a:prstDash val="solid"/>
                      <a:round/>
                      <a:headEnd type="none" w="med" len="med"/>
                      <a:tailEnd type="none" w="med" len="med"/>
                    </a:lnL>
                    <a:lnR w="19050" cap="flat" cmpd="sng" algn="ctr">
                      <a:solidFill>
                        <a:srgbClr val="00ADEF"/>
                      </a:solidFill>
                      <a:prstDash val="solid"/>
                      <a:round/>
                      <a:headEnd type="none" w="med" len="med"/>
                      <a:tailEnd type="none" w="med" len="med"/>
                    </a:lnR>
                    <a:lnT w="3175" cap="flat" cmpd="sng" algn="ctr">
                      <a:solidFill>
                        <a:srgbClr val="00ADEF"/>
                      </a:solidFill>
                      <a:prstDash val="solid"/>
                      <a:round/>
                      <a:headEnd type="none" w="med" len="med"/>
                      <a:tailEnd type="none" w="med" len="med"/>
                    </a:lnT>
                    <a:lnB w="3175" cap="flat" cmpd="sng" algn="ctr">
                      <a:solidFill>
                        <a:srgbClr val="00ADEF"/>
                      </a:solidFill>
                      <a:prstDash val="solid"/>
                      <a:round/>
                      <a:headEnd type="none" w="med" len="med"/>
                      <a:tailEnd type="none" w="med" len="med"/>
                    </a:lnB>
                  </a:tcPr>
                </a:tc>
              </a:tr>
            </a:tbl>
          </a:graphicData>
        </a:graphic>
      </p:graphicFrame>
      <p:graphicFrame>
        <p:nvGraphicFramePr>
          <p:cNvPr id="576" name="table 576"/>
          <p:cNvGraphicFramePr>
            <a:graphicFrameLocks noGrp="1"/>
          </p:cNvGraphicFramePr>
          <p:nvPr/>
        </p:nvGraphicFramePr>
        <p:xfrm>
          <a:off x="4067555" y="4032504"/>
          <a:ext cx="4404360" cy="1102360"/>
        </p:xfrm>
        <a:graphic>
          <a:graphicData uri="http://schemas.openxmlformats.org/drawingml/2006/table">
            <a:tbl>
              <a:tblPr/>
              <a:tblGrid>
                <a:gridCol w="4404360"/>
              </a:tblGrid>
              <a:tr h="1102360">
                <a:tc>
                  <a:txBody>
                    <a:bodyPr/>
                    <a:lstStyle/>
                    <a:p>
                      <a:pPr algn="l" rtl="0" eaLnBrk="0">
                        <a:lnSpc>
                          <a:spcPct val="113000"/>
                        </a:lnSpc>
                      </a:pPr>
                      <a:endParaRPr lang="en-US" altLang="en-US" sz="600" dirty="0">
                        <a:latin typeface="微软雅黑" panose="020B0503020204020204" charset="-122"/>
                        <a:ea typeface="微软雅黑" panose="020B0503020204020204" charset="-122"/>
                      </a:endParaRPr>
                    </a:p>
                    <a:p>
                      <a:pPr marL="104140" algn="l" rtl="0" eaLnBrk="0">
                        <a:lnSpc>
                          <a:spcPct val="92000"/>
                        </a:lnSpc>
                        <a:spcBef>
                          <a:spcPts val="5"/>
                        </a:spcBef>
                      </a:pP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小型的传统农民，农场管理不够机械化</a:t>
                      </a:r>
                      <a:endParaRPr lang="en-US" altLang="en-US" sz="1400" dirty="0">
                        <a:latin typeface="微软雅黑" panose="020B0503020204020204" charset="-122"/>
                        <a:ea typeface="微软雅黑" panose="020B0503020204020204" charset="-122"/>
                      </a:endParaRPr>
                    </a:p>
                    <a:p>
                      <a:pPr marL="95250" algn="l" rtl="0" eaLnBrk="0">
                        <a:lnSpc>
                          <a:spcPct val="95000"/>
                        </a:lnSpc>
                        <a:spcBef>
                          <a:spcPts val="145"/>
                        </a:spcBef>
                      </a:pPr>
                      <a:r>
                        <a:rPr sz="1400" spc="2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在</a:t>
                      </a:r>
                      <a:r>
                        <a:rPr sz="1400" spc="0" dirty="0">
                          <a:solidFill>
                            <a:srgbClr val="000000">
                              <a:alpha val="100000"/>
                            </a:srgbClr>
                          </a:solidFill>
                          <a:latin typeface="微软雅黑" panose="020B0503020204020204" charset="-122"/>
                          <a:ea typeface="微软雅黑" panose="020B0503020204020204" charset="-122"/>
                          <a:cs typeface="Arial" panose="020B0604020202020204"/>
                        </a:rPr>
                        <a:t>JV</a:t>
                      </a:r>
                      <a:r>
                        <a:rPr sz="1400" spc="20" dirty="0">
                          <a:solidFill>
                            <a:srgbClr val="000000">
                              <a:alpha val="100000"/>
                            </a:srgbClr>
                          </a:solidFill>
                          <a:latin typeface="微软雅黑" panose="020B0503020204020204" charset="-122"/>
                          <a:ea typeface="微软雅黑" panose="020B0503020204020204" charset="-122"/>
                          <a:cs typeface="Arial" panose="020B0604020202020204"/>
                        </a:rPr>
                        <a:t>1</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地区比较</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多</a:t>
                      </a:r>
                      <a:endParaRPr lang="en-US" altLang="en-US" sz="1400" dirty="0">
                        <a:latin typeface="微软雅黑" panose="020B0503020204020204" charset="-122"/>
                        <a:ea typeface="微软雅黑" panose="020B0503020204020204" charset="-122"/>
                      </a:endParaRPr>
                    </a:p>
                    <a:p>
                      <a:pPr marL="95250" algn="l" rtl="0" eaLnBrk="0">
                        <a:lnSpc>
                          <a:spcPct val="92000"/>
                        </a:lnSpc>
                        <a:spcBef>
                          <a:spcPts val="75"/>
                        </a:spcBef>
                      </a:pPr>
                      <a:r>
                        <a:rPr sz="1400" spc="-1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通常是小型农场 </a:t>
                      </a:r>
                      <a:r>
                        <a:rPr sz="1400" spc="-10" dirty="0">
                          <a:solidFill>
                            <a:srgbClr val="000000">
                              <a:alpha val="100000"/>
                            </a:srgbClr>
                          </a:solidFill>
                          <a:latin typeface="微软雅黑" panose="020B0503020204020204" charset="-122"/>
                          <a:ea typeface="微软雅黑" panose="020B0503020204020204" charset="-122"/>
                          <a:cs typeface="Arial" panose="020B0604020202020204"/>
                        </a:rPr>
                        <a:t>(&lt;6.</a:t>
                      </a:r>
                      <a:r>
                        <a:rPr sz="1400" spc="0" dirty="0">
                          <a:solidFill>
                            <a:srgbClr val="000000">
                              <a:alpha val="100000"/>
                            </a:srgbClr>
                          </a:solidFill>
                          <a:latin typeface="微软雅黑" panose="020B0503020204020204" charset="-122"/>
                          <a:ea typeface="微软雅黑" panose="020B0503020204020204" charset="-122"/>
                          <a:cs typeface="Arial" panose="020B0604020202020204"/>
                        </a:rPr>
                        <a:t>5</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亩</a:t>
                      </a:r>
                      <a:r>
                        <a:rPr sz="1400" spc="0" dirty="0">
                          <a:solidFill>
                            <a:srgbClr val="000000">
                              <a:alpha val="100000"/>
                            </a:srgbClr>
                          </a:solidFill>
                          <a:latin typeface="微软雅黑" panose="020B0503020204020204" charset="-122"/>
                          <a:ea typeface="微软雅黑" panose="020B0503020204020204" charset="-122"/>
                          <a:cs typeface="Arial" panose="020B0604020202020204"/>
                        </a:rPr>
                        <a:t>)</a:t>
                      </a:r>
                      <a:endParaRPr lang="en-US" altLang="en-US" sz="1400" dirty="0">
                        <a:latin typeface="微软雅黑" panose="020B0503020204020204" charset="-122"/>
                        <a:ea typeface="微软雅黑" panose="020B0503020204020204" charset="-122"/>
                      </a:endParaRPr>
                    </a:p>
                    <a:p>
                      <a:pPr marL="95250" algn="l" rtl="0" eaLnBrk="0">
                        <a:lnSpc>
                          <a:spcPct val="93000"/>
                        </a:lnSpc>
                        <a:spcBef>
                          <a:spcPts val="145"/>
                        </a:spcBef>
                      </a:pPr>
                      <a:r>
                        <a:rPr sz="1400" spc="2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主要使用</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背</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包喷雾器</a:t>
                      </a:r>
                      <a:endParaRPr lang="en-US" altLang="en-US" sz="1400" dirty="0">
                        <a:latin typeface="微软雅黑" panose="020B0503020204020204" charset="-122"/>
                        <a:ea typeface="微软雅黑" panose="020B0503020204020204" charset="-122"/>
                      </a:endParaRPr>
                    </a:p>
                  </a:txBody>
                  <a:tcPr marL="0" marR="0" marT="0" marB="0">
                    <a:lnL w="19050" cap="flat" cmpd="sng" algn="ctr">
                      <a:solidFill>
                        <a:srgbClr val="00ADEF"/>
                      </a:solidFill>
                      <a:prstDash val="solid"/>
                      <a:round/>
                      <a:headEnd type="none" w="med" len="med"/>
                      <a:tailEnd type="none" w="med" len="med"/>
                    </a:lnL>
                    <a:lnR w="19050" cap="flat" cmpd="sng" algn="ctr">
                      <a:solidFill>
                        <a:srgbClr val="00ADEF"/>
                      </a:solidFill>
                      <a:prstDash val="solid"/>
                      <a:round/>
                      <a:headEnd type="none" w="med" len="med"/>
                      <a:tailEnd type="none" w="med" len="med"/>
                    </a:lnR>
                    <a:lnT w="19050" cap="flat" cmpd="sng" algn="ctr">
                      <a:solidFill>
                        <a:srgbClr val="00ADEF"/>
                      </a:solidFill>
                      <a:prstDash val="solid"/>
                      <a:round/>
                      <a:headEnd type="none" w="med" len="med"/>
                      <a:tailEnd type="none" w="med" len="med"/>
                    </a:lnT>
                    <a:lnB w="19050" cap="flat" cmpd="sng" algn="ctr">
                      <a:solidFill>
                        <a:srgbClr val="00ADEF"/>
                      </a:solidFill>
                      <a:prstDash val="solid"/>
                      <a:round/>
                      <a:headEnd type="none" w="med" len="med"/>
                      <a:tailEnd type="none" w="med" len="med"/>
                    </a:lnB>
                  </a:tcPr>
                </a:tc>
              </a:tr>
            </a:tbl>
          </a:graphicData>
        </a:graphic>
      </p:graphicFrame>
      <p:graphicFrame>
        <p:nvGraphicFramePr>
          <p:cNvPr id="577" name="table 577"/>
          <p:cNvGraphicFramePr>
            <a:graphicFrameLocks noGrp="1"/>
          </p:cNvGraphicFramePr>
          <p:nvPr/>
        </p:nvGraphicFramePr>
        <p:xfrm>
          <a:off x="4067555" y="5245608"/>
          <a:ext cx="4404360" cy="1102360"/>
        </p:xfrm>
        <a:graphic>
          <a:graphicData uri="http://schemas.openxmlformats.org/drawingml/2006/table">
            <a:tbl>
              <a:tblPr/>
              <a:tblGrid>
                <a:gridCol w="4404360"/>
              </a:tblGrid>
              <a:tr h="1102360">
                <a:tc>
                  <a:txBody>
                    <a:bodyPr/>
                    <a:lstStyle/>
                    <a:p>
                      <a:pPr algn="l" rtl="0" eaLnBrk="0">
                        <a:lnSpc>
                          <a:spcPct val="114000"/>
                        </a:lnSpc>
                      </a:pPr>
                      <a:endParaRPr lang="en-US" altLang="en-US" sz="600" dirty="0">
                        <a:latin typeface="微软雅黑" panose="020B0503020204020204" charset="-122"/>
                        <a:ea typeface="微软雅黑" panose="020B0503020204020204" charset="-122"/>
                      </a:endParaRPr>
                    </a:p>
                    <a:p>
                      <a:pPr marL="87630" algn="l" rtl="0" eaLnBrk="0">
                        <a:lnSpc>
                          <a:spcPct val="93000"/>
                        </a:lnSpc>
                        <a:spcBef>
                          <a:spcPts val="5"/>
                        </a:spcBef>
                      </a:pP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种植玉</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米主要用作饲料而不是出售</a:t>
                      </a:r>
                      <a:endParaRPr lang="en-US" altLang="en-US" sz="1400" dirty="0">
                        <a:latin typeface="微软雅黑" panose="020B0503020204020204" charset="-122"/>
                        <a:ea typeface="微软雅黑" panose="020B0503020204020204" charset="-122"/>
                      </a:endParaRPr>
                    </a:p>
                    <a:p>
                      <a:pPr marL="95250" algn="l" rtl="0" eaLnBrk="0">
                        <a:lnSpc>
                          <a:spcPct val="93000"/>
                        </a:lnSpc>
                        <a:spcBef>
                          <a:spcPts val="120"/>
                        </a:spcBef>
                      </a:pPr>
                      <a:r>
                        <a:rPr sz="1400" spc="1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产出的玉米主要用作饲料使</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用</a:t>
                      </a:r>
                      <a:endParaRPr lang="en-US" altLang="en-US" sz="1400" dirty="0">
                        <a:latin typeface="微软雅黑" panose="020B0503020204020204" charset="-122"/>
                        <a:ea typeface="微软雅黑" panose="020B0503020204020204" charset="-122"/>
                      </a:endParaRPr>
                    </a:p>
                    <a:p>
                      <a:pPr marL="285115" indent="-189865" algn="l" rtl="0" eaLnBrk="0">
                        <a:lnSpc>
                          <a:spcPct val="97000"/>
                        </a:lnSpc>
                        <a:spcBef>
                          <a:spcPts val="120"/>
                        </a:spcBef>
                      </a:pPr>
                      <a:r>
                        <a:rPr sz="1400" spc="2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高龄的种植户(</a:t>
                      </a:r>
                      <a:r>
                        <a:rPr sz="1400" spc="20" dirty="0">
                          <a:solidFill>
                            <a:srgbClr val="000000">
                              <a:alpha val="100000"/>
                            </a:srgbClr>
                          </a:solidFill>
                          <a:latin typeface="微软雅黑" panose="020B0503020204020204" charset="-122"/>
                          <a:ea typeface="微软雅黑" panose="020B0503020204020204" charset="-122"/>
                          <a:cs typeface="Arial" panose="020B0604020202020204"/>
                        </a:rPr>
                        <a:t>&gt;55</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岁)占比较高， 且种</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植经验比较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丰富</a:t>
                      </a:r>
                      <a:endParaRPr lang="en-US" altLang="en-US" sz="1400" dirty="0">
                        <a:latin typeface="微软雅黑" panose="020B0503020204020204" charset="-122"/>
                        <a:ea typeface="微软雅黑" panose="020B0503020204020204" charset="-122"/>
                      </a:endParaRPr>
                    </a:p>
                  </a:txBody>
                  <a:tcPr marL="0" marR="0" marT="0" marB="0">
                    <a:lnL w="19050" cap="flat" cmpd="sng" algn="ctr">
                      <a:solidFill>
                        <a:srgbClr val="00ADEF"/>
                      </a:solidFill>
                      <a:prstDash val="solid"/>
                      <a:round/>
                      <a:headEnd type="none" w="med" len="med"/>
                      <a:tailEnd type="none" w="med" len="med"/>
                    </a:lnL>
                    <a:lnR w="19050" cap="flat" cmpd="sng" algn="ctr">
                      <a:solidFill>
                        <a:srgbClr val="00ADEF"/>
                      </a:solidFill>
                      <a:prstDash val="solid"/>
                      <a:round/>
                      <a:headEnd type="none" w="med" len="med"/>
                      <a:tailEnd type="none" w="med" len="med"/>
                    </a:lnR>
                    <a:lnT w="19050" cap="flat" cmpd="sng" algn="ctr">
                      <a:solidFill>
                        <a:srgbClr val="00ADEF"/>
                      </a:solidFill>
                      <a:prstDash val="solid"/>
                      <a:round/>
                      <a:headEnd type="none" w="med" len="med"/>
                      <a:tailEnd type="none" w="med" len="med"/>
                    </a:lnT>
                    <a:lnB w="19050" cap="flat" cmpd="sng" algn="ctr">
                      <a:solidFill>
                        <a:srgbClr val="00ADEF"/>
                      </a:solidFill>
                      <a:prstDash val="solid"/>
                      <a:round/>
                      <a:headEnd type="none" w="med" len="med"/>
                      <a:tailEnd type="none" w="med" len="med"/>
                    </a:lnB>
                  </a:tcPr>
                </a:tc>
              </a:tr>
            </a:tbl>
          </a:graphicData>
        </a:graphic>
      </p:graphicFrame>
      <p:graphicFrame>
        <p:nvGraphicFramePr>
          <p:cNvPr id="578" name="table 578"/>
          <p:cNvGraphicFramePr>
            <a:graphicFrameLocks noGrp="1"/>
          </p:cNvGraphicFramePr>
          <p:nvPr/>
        </p:nvGraphicFramePr>
        <p:xfrm>
          <a:off x="4067555" y="2819400"/>
          <a:ext cx="4404360" cy="1100454"/>
        </p:xfrm>
        <a:graphic>
          <a:graphicData uri="http://schemas.openxmlformats.org/drawingml/2006/table">
            <a:tbl>
              <a:tblPr/>
              <a:tblGrid>
                <a:gridCol w="4404360"/>
              </a:tblGrid>
              <a:tr h="1100454">
                <a:tc>
                  <a:txBody>
                    <a:bodyPr/>
                    <a:lstStyle/>
                    <a:p>
                      <a:pPr algn="l" rtl="0" eaLnBrk="0">
                        <a:lnSpc>
                          <a:spcPct val="112000"/>
                        </a:lnSpc>
                      </a:pPr>
                      <a:endParaRPr lang="en-US" altLang="en-US" sz="600" dirty="0">
                        <a:latin typeface="微软雅黑" panose="020B0503020204020204" charset="-122"/>
                        <a:ea typeface="微软雅黑" panose="020B0503020204020204" charset="-122"/>
                      </a:endParaRPr>
                    </a:p>
                    <a:p>
                      <a:pPr marL="87630" algn="l" rtl="0" eaLnBrk="0">
                        <a:lnSpc>
                          <a:spcPct val="92000"/>
                        </a:lnSpc>
                        <a:spcBef>
                          <a:spcPts val="5"/>
                        </a:spcBef>
                      </a:pP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较大型的</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现代农民，农场管理更为机械化</a:t>
                      </a:r>
                      <a:endParaRPr lang="en-US" altLang="en-US" sz="1400" dirty="0">
                        <a:latin typeface="微软雅黑" panose="020B0503020204020204" charset="-122"/>
                        <a:ea typeface="微软雅黑" panose="020B0503020204020204" charset="-122"/>
                      </a:endParaRPr>
                    </a:p>
                    <a:p>
                      <a:pPr marL="95250" algn="l" rtl="0" eaLnBrk="0">
                        <a:lnSpc>
                          <a:spcPct val="94000"/>
                        </a:lnSpc>
                        <a:spcBef>
                          <a:spcPts val="140"/>
                        </a:spcBef>
                      </a:pPr>
                      <a:r>
                        <a:rPr sz="1400" spc="8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80" dirty="0">
                          <a:solidFill>
                            <a:srgbClr val="000000">
                              <a:alpha val="100000"/>
                            </a:srgbClr>
                          </a:solidFill>
                          <a:latin typeface="微软雅黑" panose="020B0503020204020204" charset="-122"/>
                          <a:ea typeface="微软雅黑" panose="020B0503020204020204" charset="-122"/>
                          <a:cs typeface="楷体" panose="02010609060101010101" charset="-122"/>
                        </a:rPr>
                        <a:t>通常拥有较大的农场(</a:t>
                      </a:r>
                      <a:r>
                        <a:rPr sz="1400" spc="80" dirty="0">
                          <a:solidFill>
                            <a:srgbClr val="000000">
                              <a:alpha val="100000"/>
                            </a:srgbClr>
                          </a:solidFill>
                          <a:latin typeface="微软雅黑" panose="020B0503020204020204" charset="-122"/>
                          <a:ea typeface="微软雅黑" panose="020B0503020204020204" charset="-122"/>
                          <a:cs typeface="Arial" panose="020B0604020202020204"/>
                        </a:rPr>
                        <a:t>&gt;15</a:t>
                      </a:r>
                      <a:r>
                        <a:rPr sz="1400" spc="80" dirty="0">
                          <a:solidFill>
                            <a:srgbClr val="000000">
                              <a:alpha val="100000"/>
                            </a:srgbClr>
                          </a:solidFill>
                          <a:latin typeface="微软雅黑" panose="020B0503020204020204" charset="-122"/>
                          <a:ea typeface="微软雅黑" panose="020B0503020204020204" charset="-122"/>
                          <a:cs typeface="楷体" panose="02010609060101010101" charset="-122"/>
                        </a:rPr>
                        <a:t>亩)和玉米地(</a:t>
                      </a:r>
                      <a:r>
                        <a:rPr sz="1400" spc="80" dirty="0">
                          <a:solidFill>
                            <a:srgbClr val="000000">
                              <a:alpha val="100000"/>
                            </a:srgbClr>
                          </a:solidFill>
                          <a:latin typeface="微软雅黑" panose="020B0503020204020204" charset="-122"/>
                          <a:ea typeface="微软雅黑" panose="020B0503020204020204" charset="-122"/>
                          <a:cs typeface="Arial" panose="020B0604020202020204"/>
                        </a:rPr>
                        <a:t>&gt;23</a:t>
                      </a:r>
                      <a:r>
                        <a:rPr sz="1400" spc="80" dirty="0">
                          <a:solidFill>
                            <a:srgbClr val="000000">
                              <a:alpha val="100000"/>
                            </a:srgbClr>
                          </a:solidFill>
                          <a:latin typeface="微软雅黑" panose="020B0503020204020204" charset="-122"/>
                          <a:ea typeface="微软雅黑" panose="020B0503020204020204" charset="-122"/>
                          <a:cs typeface="楷体" panose="02010609060101010101" charset="-122"/>
                        </a:rPr>
                        <a:t>亩</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a:t>
                      </a:r>
                      <a:endParaRPr lang="en-US" altLang="en-US" sz="1400" dirty="0">
                        <a:latin typeface="微软雅黑" panose="020B0503020204020204" charset="-122"/>
                        <a:ea typeface="微软雅黑" panose="020B0503020204020204" charset="-122"/>
                      </a:endParaRPr>
                    </a:p>
                    <a:p>
                      <a:pPr marL="95250" algn="l" rtl="0" eaLnBrk="0">
                        <a:lnSpc>
                          <a:spcPct val="93000"/>
                        </a:lnSpc>
                        <a:spcBef>
                          <a:spcPts val="105"/>
                        </a:spcBef>
                      </a:pPr>
                      <a:r>
                        <a:rPr sz="1400" spc="2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主要使用</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拖</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拉机喷雾器</a:t>
                      </a:r>
                      <a:endParaRPr lang="en-US" altLang="en-US" sz="1400" dirty="0">
                        <a:latin typeface="微软雅黑" panose="020B0503020204020204" charset="-122"/>
                        <a:ea typeface="微软雅黑" panose="020B0503020204020204" charset="-122"/>
                      </a:endParaRPr>
                    </a:p>
                  </a:txBody>
                  <a:tcPr marL="0" marR="0" marT="0" marB="0">
                    <a:lnL w="19050" cap="flat" cmpd="sng" algn="ctr">
                      <a:solidFill>
                        <a:srgbClr val="00ADEF"/>
                      </a:solidFill>
                      <a:prstDash val="solid"/>
                      <a:round/>
                      <a:headEnd type="none" w="med" len="med"/>
                      <a:tailEnd type="none" w="med" len="med"/>
                    </a:lnL>
                    <a:lnR w="19050" cap="flat" cmpd="sng" algn="ctr">
                      <a:solidFill>
                        <a:srgbClr val="00ADEF"/>
                      </a:solidFill>
                      <a:prstDash val="solid"/>
                      <a:round/>
                      <a:headEnd type="none" w="med" len="med"/>
                      <a:tailEnd type="none" w="med" len="med"/>
                    </a:lnR>
                    <a:lnT w="19050" cap="flat" cmpd="sng" algn="ctr">
                      <a:solidFill>
                        <a:srgbClr val="00ADEF"/>
                      </a:solidFill>
                      <a:prstDash val="solid"/>
                      <a:round/>
                      <a:headEnd type="none" w="med" len="med"/>
                      <a:tailEnd type="none" w="med" len="med"/>
                    </a:lnT>
                    <a:lnB w="19050" cap="flat" cmpd="sng" algn="ctr">
                      <a:solidFill>
                        <a:srgbClr val="00ADEF"/>
                      </a:solidFill>
                      <a:prstDash val="solid"/>
                      <a:round/>
                      <a:headEnd type="none" w="med" len="med"/>
                      <a:tailEnd type="none" w="med" len="med"/>
                    </a:lnB>
                  </a:tcPr>
                </a:tc>
              </a:tr>
            </a:tbl>
          </a:graphicData>
        </a:graphic>
      </p:graphicFrame>
      <p:sp>
        <p:nvSpPr>
          <p:cNvPr id="579" name="textbox 579"/>
          <p:cNvSpPr/>
          <p:nvPr/>
        </p:nvSpPr>
        <p:spPr>
          <a:xfrm>
            <a:off x="104775" y="248920"/>
            <a:ext cx="6774815" cy="622935"/>
          </a:xfrm>
          <a:prstGeom prst="rect">
            <a:avLst/>
          </a:prstGeom>
        </p:spPr>
        <p:txBody>
          <a:bodyPr vert="horz" wrap="square" lIns="0" tIns="0" rIns="0" bIns="0"/>
          <a:lstStyle/>
          <a:p>
            <a:pPr algn="l" rtl="0" eaLnBrk="0">
              <a:lnSpc>
                <a:spcPct val="79000"/>
              </a:lnSpc>
            </a:pPr>
            <a:endParaRPr lang="en-US" altLang="en-US" sz="100" dirty="0">
              <a:latin typeface="微软雅黑" panose="020B0503020204020204" charset="-122"/>
              <a:ea typeface="微软雅黑" panose="020B0503020204020204" charset="-122"/>
            </a:endParaRPr>
          </a:p>
          <a:p>
            <a:pPr marL="26670" indent="113030" algn="l" rtl="0" eaLnBrk="0">
              <a:lnSpc>
                <a:spcPct val="96000"/>
              </a:lnSpc>
            </a:pPr>
            <a:r>
              <a:rPr spc="-30" dirty="0">
                <a:solidFill>
                  <a:srgbClr val="002960">
                    <a:alpha val="100000"/>
                  </a:srgbClr>
                </a:solidFill>
                <a:latin typeface="微软雅黑" panose="020B0503020204020204" charset="-122"/>
                <a:ea typeface="微软雅黑" panose="020B0503020204020204" charset="-122"/>
                <a:cs typeface="楷体" panose="02010609060101010101" charset="-122"/>
              </a:rPr>
              <a:t>【案例</a:t>
            </a:r>
            <a:r>
              <a:rPr spc="-30" dirty="0">
                <a:solidFill>
                  <a:srgbClr val="002960">
                    <a:alpha val="100000"/>
                  </a:srgbClr>
                </a:solidFill>
                <a:latin typeface="微软雅黑" panose="020B0503020204020204" charset="-122"/>
                <a:ea typeface="微软雅黑" panose="020B0503020204020204" charset="-122"/>
                <a:cs typeface="Arial" panose="020B0604020202020204"/>
              </a:rPr>
              <a:t>2</a:t>
            </a:r>
            <a:r>
              <a:rPr spc="-30" dirty="0">
                <a:solidFill>
                  <a:srgbClr val="002960">
                    <a:alpha val="100000"/>
                  </a:srgbClr>
                </a:solidFill>
                <a:latin typeface="微软雅黑" panose="020B0503020204020204" charset="-122"/>
                <a:ea typeface="微软雅黑" panose="020B0503020204020204" charset="-122"/>
                <a:cs typeface="楷体" panose="02010609060101010101" charset="-122"/>
              </a:rPr>
              <a:t>】通过对中国某地区玉米种植户的大数据分析，我们发现大致 </a:t>
            </a:r>
            <a:r>
              <a:rPr sz="600" u="sng" spc="-30" dirty="0">
                <a:solidFill>
                  <a:srgbClr val="808080">
                    <a:alpha val="100000"/>
                  </a:srgbClr>
                </a:solidFill>
                <a:latin typeface="微软雅黑" panose="020B0503020204020204" charset="-122"/>
                <a:ea typeface="微软雅黑" panose="020B0503020204020204" charset="-122"/>
                <a:cs typeface="楷体" panose="02010609060101010101" charset="-122"/>
              </a:rPr>
              <a:t> </a:t>
            </a:r>
            <a:r>
              <a:rPr spc="-10" dirty="0">
                <a:solidFill>
                  <a:srgbClr val="002960">
                    <a:alpha val="100000"/>
                  </a:srgbClr>
                </a:solidFill>
                <a:latin typeface="微软雅黑" panose="020B0503020204020204" charset="-122"/>
                <a:ea typeface="微软雅黑" panose="020B0503020204020204" charset="-122"/>
                <a:cs typeface="楷体" panose="02010609060101010101" charset="-122"/>
              </a:rPr>
              <a:t>上有四种类型的玉</a:t>
            </a:r>
            <a:r>
              <a:rPr spc="0" dirty="0">
                <a:solidFill>
                  <a:srgbClr val="002960">
                    <a:alpha val="100000"/>
                  </a:srgbClr>
                </a:solidFill>
                <a:latin typeface="微软雅黑" panose="020B0503020204020204" charset="-122"/>
                <a:ea typeface="微软雅黑" panose="020B0503020204020204" charset="-122"/>
                <a:cs typeface="楷体" panose="02010609060101010101" charset="-122"/>
              </a:rPr>
              <a:t>米种植户，他们有非常不同的诉求</a:t>
            </a:r>
            <a:endParaRPr lang="en-US" altLang="en-US" spc="0" dirty="0">
              <a:solidFill>
                <a:srgbClr val="002960">
                  <a:alpha val="100000"/>
                </a:srgbClr>
              </a:solidFill>
              <a:latin typeface="微软雅黑" panose="020B0503020204020204" charset="-122"/>
              <a:ea typeface="微软雅黑" panose="020B0503020204020204" charset="-122"/>
              <a:cs typeface="楷体" panose="02010609060101010101" charset="-122"/>
            </a:endParaRPr>
          </a:p>
        </p:txBody>
      </p:sp>
      <p:graphicFrame>
        <p:nvGraphicFramePr>
          <p:cNvPr id="581" name="table 581"/>
          <p:cNvGraphicFramePr>
            <a:graphicFrameLocks noGrp="1"/>
          </p:cNvGraphicFramePr>
          <p:nvPr/>
        </p:nvGraphicFramePr>
        <p:xfrm>
          <a:off x="1982723" y="1604772"/>
          <a:ext cx="2012950" cy="1102359"/>
        </p:xfrm>
        <a:graphic>
          <a:graphicData uri="http://schemas.openxmlformats.org/drawingml/2006/table">
            <a:tbl>
              <a:tblPr/>
              <a:tblGrid>
                <a:gridCol w="2012950"/>
              </a:tblGrid>
              <a:tr h="1102359">
                <a:tc>
                  <a:txBody>
                    <a:bodyPr/>
                    <a:lstStyle/>
                    <a:p>
                      <a:pPr algn="l" rtl="0" eaLnBrk="0">
                        <a:lnSpc>
                          <a:spcPct val="115000"/>
                        </a:lnSpc>
                      </a:pPr>
                      <a:endParaRPr lang="en-US" altLang="en-US" sz="600" dirty="0">
                        <a:latin typeface="微软雅黑" panose="020B0503020204020204" charset="-122"/>
                        <a:ea typeface="微软雅黑" panose="020B0503020204020204" charset="-122"/>
                      </a:endParaRPr>
                    </a:p>
                    <a:p>
                      <a:pPr marL="95250" algn="l" rtl="0" eaLnBrk="0">
                        <a:lnSpc>
                          <a:spcPct val="95000"/>
                        </a:lnSpc>
                        <a:spcBef>
                          <a:spcPts val="0"/>
                        </a:spcBef>
                      </a:pPr>
                      <a:r>
                        <a:rPr sz="1400" spc="2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玉米能卖好</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价钱</a:t>
                      </a:r>
                      <a:endParaRPr lang="en-US" altLang="en-US" sz="1400" dirty="0">
                        <a:latin typeface="微软雅黑" panose="020B0503020204020204" charset="-122"/>
                        <a:ea typeface="微软雅黑" panose="020B0503020204020204" charset="-122"/>
                      </a:endParaRPr>
                    </a:p>
                    <a:p>
                      <a:pPr marL="95250" algn="l" rtl="0" eaLnBrk="0">
                        <a:lnSpc>
                          <a:spcPct val="95000"/>
                        </a:lnSpc>
                        <a:spcBef>
                          <a:spcPts val="75"/>
                        </a:spcBef>
                      </a:pPr>
                      <a:r>
                        <a:rPr sz="1400" spc="2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玉米种子价格</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合理</a:t>
                      </a:r>
                      <a:endParaRPr lang="en-US" altLang="en-US" sz="1400" dirty="0">
                        <a:latin typeface="微软雅黑" panose="020B0503020204020204" charset="-122"/>
                        <a:ea typeface="微软雅黑" panose="020B0503020204020204" charset="-122"/>
                      </a:endParaRPr>
                    </a:p>
                  </a:txBody>
                  <a:tcPr marL="0" marR="0" marT="0" marB="0">
                    <a:lnL w="19050" cap="flat" cmpd="sng" algn="ctr">
                      <a:solidFill>
                        <a:srgbClr val="C5C5C5"/>
                      </a:solidFill>
                      <a:prstDash val="solid"/>
                      <a:round/>
                      <a:headEnd type="none" w="med" len="med"/>
                      <a:tailEnd type="none" w="med" len="med"/>
                    </a:lnL>
                    <a:lnR w="19050" cap="flat" cmpd="sng" algn="ctr">
                      <a:solidFill>
                        <a:srgbClr val="C5C5C5"/>
                      </a:solidFill>
                      <a:prstDash val="solid"/>
                      <a:round/>
                      <a:headEnd type="none" w="med" len="med"/>
                      <a:tailEnd type="none" w="med" len="med"/>
                    </a:lnR>
                    <a:lnT w="19050" cap="flat" cmpd="sng" algn="ctr">
                      <a:solidFill>
                        <a:srgbClr val="C5C5C5"/>
                      </a:solidFill>
                      <a:prstDash val="solid"/>
                      <a:round/>
                      <a:headEnd type="none" w="med" len="med"/>
                      <a:tailEnd type="none" w="med" len="med"/>
                    </a:lnT>
                    <a:lnB w="19050" cap="flat" cmpd="sng" algn="ctr">
                      <a:solidFill>
                        <a:srgbClr val="C5C5C5"/>
                      </a:solidFill>
                      <a:prstDash val="solid"/>
                      <a:round/>
                      <a:headEnd type="none" w="med" len="med"/>
                      <a:tailEnd type="none" w="med" len="med"/>
                    </a:lnB>
                  </a:tcPr>
                </a:tc>
              </a:tr>
            </a:tbl>
          </a:graphicData>
        </a:graphic>
      </p:graphicFrame>
      <p:graphicFrame>
        <p:nvGraphicFramePr>
          <p:cNvPr id="582" name="table 582"/>
          <p:cNvGraphicFramePr>
            <a:graphicFrameLocks noGrp="1"/>
          </p:cNvGraphicFramePr>
          <p:nvPr/>
        </p:nvGraphicFramePr>
        <p:xfrm>
          <a:off x="1996439" y="4032504"/>
          <a:ext cx="2000885" cy="1102360"/>
        </p:xfrm>
        <a:graphic>
          <a:graphicData uri="http://schemas.openxmlformats.org/drawingml/2006/table">
            <a:tbl>
              <a:tblPr/>
              <a:tblGrid>
                <a:gridCol w="2000885"/>
              </a:tblGrid>
              <a:tr h="1102360">
                <a:tc>
                  <a:txBody>
                    <a:bodyPr/>
                    <a:lstStyle/>
                    <a:p>
                      <a:pPr algn="l" rtl="0" eaLnBrk="0">
                        <a:lnSpc>
                          <a:spcPct val="114000"/>
                        </a:lnSpc>
                      </a:pPr>
                      <a:endParaRPr lang="en-US" altLang="en-US" sz="600" dirty="0">
                        <a:latin typeface="微软雅黑" panose="020B0503020204020204" charset="-122"/>
                        <a:ea typeface="微软雅黑" panose="020B0503020204020204" charset="-122"/>
                      </a:endParaRPr>
                    </a:p>
                    <a:p>
                      <a:pPr marL="94615" algn="l" rtl="0" eaLnBrk="0">
                        <a:lnSpc>
                          <a:spcPct val="96000"/>
                        </a:lnSpc>
                        <a:spcBef>
                          <a:spcPts val="5"/>
                        </a:spcBef>
                      </a:pPr>
                      <a:r>
                        <a:rPr sz="1400" spc="4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40" dirty="0">
                          <a:solidFill>
                            <a:srgbClr val="000000">
                              <a:alpha val="100000"/>
                            </a:srgbClr>
                          </a:solidFill>
                          <a:latin typeface="微软雅黑" panose="020B0503020204020204" charset="-122"/>
                          <a:ea typeface="微软雅黑" panose="020B0503020204020204" charset="-122"/>
                          <a:cs typeface="楷体" panose="02010609060101010101" charset="-122"/>
                        </a:rPr>
                        <a:t>抗</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病</a:t>
                      </a:r>
                      <a:endParaRPr lang="en-US" altLang="en-US" sz="1400" dirty="0">
                        <a:latin typeface="微软雅黑" panose="020B0503020204020204" charset="-122"/>
                        <a:ea typeface="微软雅黑" panose="020B0503020204020204" charset="-122"/>
                      </a:endParaRPr>
                    </a:p>
                    <a:p>
                      <a:pPr marL="94615" algn="l" rtl="0" eaLnBrk="0">
                        <a:lnSpc>
                          <a:spcPct val="97000"/>
                        </a:lnSpc>
                        <a:spcBef>
                          <a:spcPts val="65"/>
                        </a:spcBef>
                      </a:pPr>
                      <a:r>
                        <a:rPr sz="1400" spc="4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40" dirty="0">
                          <a:solidFill>
                            <a:srgbClr val="000000">
                              <a:alpha val="100000"/>
                            </a:srgbClr>
                          </a:solidFill>
                          <a:latin typeface="微软雅黑" panose="020B0503020204020204" charset="-122"/>
                          <a:ea typeface="微软雅黑" panose="020B0503020204020204" charset="-122"/>
                          <a:cs typeface="楷体" panose="02010609060101010101" charset="-122"/>
                        </a:rPr>
                        <a:t>抗</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虫</a:t>
                      </a:r>
                      <a:endParaRPr lang="en-US" altLang="en-US" sz="1400" dirty="0">
                        <a:latin typeface="微软雅黑" panose="020B0503020204020204" charset="-122"/>
                        <a:ea typeface="微软雅黑" panose="020B0503020204020204" charset="-122"/>
                      </a:endParaRPr>
                    </a:p>
                  </a:txBody>
                  <a:tcPr marL="0" marR="0" marT="0" marB="0">
                    <a:lnL w="19050" cap="flat" cmpd="sng" algn="ctr">
                      <a:solidFill>
                        <a:srgbClr val="C5C5C5"/>
                      </a:solidFill>
                      <a:prstDash val="solid"/>
                      <a:round/>
                      <a:headEnd type="none" w="med" len="med"/>
                      <a:tailEnd type="none" w="med" len="med"/>
                    </a:lnL>
                    <a:lnR w="19050" cap="flat" cmpd="sng" algn="ctr">
                      <a:solidFill>
                        <a:srgbClr val="C5C5C5"/>
                      </a:solidFill>
                      <a:prstDash val="solid"/>
                      <a:round/>
                      <a:headEnd type="none" w="med" len="med"/>
                      <a:tailEnd type="none" w="med" len="med"/>
                    </a:lnR>
                    <a:lnT w="19050" cap="flat" cmpd="sng" algn="ctr">
                      <a:solidFill>
                        <a:srgbClr val="C5C5C5"/>
                      </a:solidFill>
                      <a:prstDash val="solid"/>
                      <a:round/>
                      <a:headEnd type="none" w="med" len="med"/>
                      <a:tailEnd type="none" w="med" len="med"/>
                    </a:lnT>
                    <a:lnB w="19050" cap="flat" cmpd="sng" algn="ctr">
                      <a:solidFill>
                        <a:srgbClr val="C5C5C5"/>
                      </a:solidFill>
                      <a:prstDash val="solid"/>
                      <a:round/>
                      <a:headEnd type="none" w="med" len="med"/>
                      <a:tailEnd type="none" w="med" len="med"/>
                    </a:lnB>
                  </a:tcPr>
                </a:tc>
              </a:tr>
            </a:tbl>
          </a:graphicData>
        </a:graphic>
      </p:graphicFrame>
      <p:graphicFrame>
        <p:nvGraphicFramePr>
          <p:cNvPr id="583" name="table 583"/>
          <p:cNvGraphicFramePr>
            <a:graphicFrameLocks noGrp="1"/>
          </p:cNvGraphicFramePr>
          <p:nvPr/>
        </p:nvGraphicFramePr>
        <p:xfrm>
          <a:off x="1996439" y="5245608"/>
          <a:ext cx="2000885" cy="1102360"/>
        </p:xfrm>
        <a:graphic>
          <a:graphicData uri="http://schemas.openxmlformats.org/drawingml/2006/table">
            <a:tbl>
              <a:tblPr/>
              <a:tblGrid>
                <a:gridCol w="2000885"/>
              </a:tblGrid>
              <a:tr h="1102360">
                <a:tc>
                  <a:txBody>
                    <a:bodyPr/>
                    <a:lstStyle/>
                    <a:p>
                      <a:pPr algn="l" rtl="0" eaLnBrk="0">
                        <a:lnSpc>
                          <a:spcPct val="114000"/>
                        </a:lnSpc>
                      </a:pPr>
                      <a:endParaRPr lang="en-US" altLang="en-US" sz="600" dirty="0">
                        <a:latin typeface="微软雅黑" panose="020B0503020204020204" charset="-122"/>
                        <a:ea typeface="微软雅黑" panose="020B0503020204020204" charset="-122"/>
                      </a:endParaRPr>
                    </a:p>
                    <a:p>
                      <a:pPr marL="94615" algn="l" rtl="0" eaLnBrk="0">
                        <a:lnSpc>
                          <a:spcPct val="94000"/>
                        </a:lnSpc>
                        <a:spcBef>
                          <a:spcPts val="5"/>
                        </a:spcBef>
                      </a:pPr>
                      <a:r>
                        <a:rPr sz="1400" spc="2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种子的外观</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好</a:t>
                      </a:r>
                      <a:endParaRPr lang="en-US" altLang="en-US" sz="1400" dirty="0">
                        <a:latin typeface="微软雅黑" panose="020B0503020204020204" charset="-122"/>
                        <a:ea typeface="微软雅黑" panose="020B0503020204020204" charset="-122"/>
                      </a:endParaRPr>
                    </a:p>
                    <a:p>
                      <a:pPr marL="94615" algn="l" rtl="0" eaLnBrk="0">
                        <a:lnSpc>
                          <a:spcPct val="96000"/>
                        </a:lnSpc>
                        <a:spcBef>
                          <a:spcPts val="100"/>
                        </a:spcBef>
                      </a:pPr>
                      <a:r>
                        <a:rPr sz="1400" spc="3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30" dirty="0">
                          <a:solidFill>
                            <a:srgbClr val="000000">
                              <a:alpha val="100000"/>
                            </a:srgbClr>
                          </a:solidFill>
                          <a:latin typeface="微软雅黑" panose="020B0503020204020204" charset="-122"/>
                          <a:ea typeface="微软雅黑" panose="020B0503020204020204" charset="-122"/>
                          <a:cs typeface="楷体" panose="02010609060101010101" charset="-122"/>
                        </a:rPr>
                        <a:t>硬粒</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性</a:t>
                      </a:r>
                      <a:endParaRPr lang="en-US" altLang="en-US" sz="1400" dirty="0">
                        <a:latin typeface="微软雅黑" panose="020B0503020204020204" charset="-122"/>
                        <a:ea typeface="微软雅黑" panose="020B0503020204020204" charset="-122"/>
                      </a:endParaRPr>
                    </a:p>
                    <a:p>
                      <a:pPr marL="94615" algn="l" rtl="0" eaLnBrk="0">
                        <a:lnSpc>
                          <a:spcPct val="95000"/>
                        </a:lnSpc>
                        <a:spcBef>
                          <a:spcPts val="60"/>
                        </a:spcBef>
                      </a:pPr>
                      <a:r>
                        <a:rPr sz="1400" spc="3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30" dirty="0">
                          <a:solidFill>
                            <a:srgbClr val="000000">
                              <a:alpha val="100000"/>
                            </a:srgbClr>
                          </a:solidFill>
                          <a:latin typeface="微软雅黑" panose="020B0503020204020204" charset="-122"/>
                          <a:ea typeface="微软雅黑" panose="020B0503020204020204" charset="-122"/>
                          <a:cs typeface="楷体" panose="02010609060101010101" charset="-122"/>
                        </a:rPr>
                        <a:t>包衣</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的</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种子</a:t>
                      </a:r>
                      <a:endParaRPr lang="en-US" altLang="en-US" sz="1400" dirty="0">
                        <a:latin typeface="微软雅黑" panose="020B0503020204020204" charset="-122"/>
                        <a:ea typeface="微软雅黑" panose="020B0503020204020204" charset="-122"/>
                      </a:endParaRPr>
                    </a:p>
                  </a:txBody>
                  <a:tcPr marL="0" marR="0" marT="0" marB="0">
                    <a:lnL w="19050" cap="flat" cmpd="sng" algn="ctr">
                      <a:solidFill>
                        <a:srgbClr val="C5C5C5"/>
                      </a:solidFill>
                      <a:prstDash val="solid"/>
                      <a:round/>
                      <a:headEnd type="none" w="med" len="med"/>
                      <a:tailEnd type="none" w="med" len="med"/>
                    </a:lnL>
                    <a:lnR w="19050" cap="flat" cmpd="sng" algn="ctr">
                      <a:solidFill>
                        <a:srgbClr val="C5C5C5"/>
                      </a:solidFill>
                      <a:prstDash val="solid"/>
                      <a:round/>
                      <a:headEnd type="none" w="med" len="med"/>
                      <a:tailEnd type="none" w="med" len="med"/>
                    </a:lnR>
                    <a:lnT w="19050" cap="flat" cmpd="sng" algn="ctr">
                      <a:solidFill>
                        <a:srgbClr val="C5C5C5"/>
                      </a:solidFill>
                      <a:prstDash val="solid"/>
                      <a:round/>
                      <a:headEnd type="none" w="med" len="med"/>
                      <a:tailEnd type="none" w="med" len="med"/>
                    </a:lnT>
                    <a:lnB w="19050" cap="flat" cmpd="sng" algn="ctr">
                      <a:solidFill>
                        <a:srgbClr val="C5C5C5"/>
                      </a:solidFill>
                      <a:prstDash val="solid"/>
                      <a:round/>
                      <a:headEnd type="none" w="med" len="med"/>
                      <a:tailEnd type="none" w="med" len="med"/>
                    </a:lnB>
                  </a:tcPr>
                </a:tc>
              </a:tr>
            </a:tbl>
          </a:graphicData>
        </a:graphic>
      </p:graphicFrame>
      <p:graphicFrame>
        <p:nvGraphicFramePr>
          <p:cNvPr id="584" name="table 584"/>
          <p:cNvGraphicFramePr>
            <a:graphicFrameLocks noGrp="1"/>
          </p:cNvGraphicFramePr>
          <p:nvPr/>
        </p:nvGraphicFramePr>
        <p:xfrm>
          <a:off x="1996439" y="2819400"/>
          <a:ext cx="2000885" cy="1100454"/>
        </p:xfrm>
        <a:graphic>
          <a:graphicData uri="http://schemas.openxmlformats.org/drawingml/2006/table">
            <a:tbl>
              <a:tblPr/>
              <a:tblGrid>
                <a:gridCol w="2000885"/>
              </a:tblGrid>
              <a:tr h="1100454">
                <a:tc>
                  <a:txBody>
                    <a:bodyPr/>
                    <a:lstStyle/>
                    <a:p>
                      <a:pPr algn="l" rtl="0" eaLnBrk="0">
                        <a:lnSpc>
                          <a:spcPct val="112000"/>
                        </a:lnSpc>
                      </a:pPr>
                      <a:endParaRPr lang="en-US" altLang="en-US" sz="600" dirty="0">
                        <a:latin typeface="微软雅黑" panose="020B0503020204020204" charset="-122"/>
                        <a:ea typeface="微软雅黑" panose="020B0503020204020204" charset="-122"/>
                      </a:endParaRPr>
                    </a:p>
                    <a:p>
                      <a:pPr marL="94615" algn="l" rtl="0" eaLnBrk="0">
                        <a:lnSpc>
                          <a:spcPct val="100000"/>
                        </a:lnSpc>
                        <a:spcBef>
                          <a:spcPts val="5"/>
                        </a:spcBef>
                      </a:pPr>
                      <a:r>
                        <a:rPr sz="1400" spc="-2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出苗率</a:t>
                      </a:r>
                      <a:r>
                        <a:rPr sz="1400" spc="-20" dirty="0">
                          <a:solidFill>
                            <a:srgbClr val="000000">
                              <a:alpha val="100000"/>
                            </a:srgbClr>
                          </a:solidFill>
                          <a:latin typeface="微软雅黑" panose="020B0503020204020204" charset="-122"/>
                          <a:ea typeface="微软雅黑" panose="020B0503020204020204" charset="-122"/>
                          <a:cs typeface="Arial" panose="020B0604020202020204"/>
                        </a:rPr>
                        <a:t>/</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发芽</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率</a:t>
                      </a:r>
                      <a:endParaRPr lang="en-US" altLang="en-US" sz="1400" dirty="0">
                        <a:latin typeface="微软雅黑" panose="020B0503020204020204" charset="-122"/>
                        <a:ea typeface="微软雅黑" panose="020B0503020204020204" charset="-122"/>
                      </a:endParaRPr>
                    </a:p>
                    <a:p>
                      <a:pPr marL="94615" algn="l" rtl="0" eaLnBrk="0">
                        <a:lnSpc>
                          <a:spcPct val="96000"/>
                        </a:lnSpc>
                        <a:spcBef>
                          <a:spcPts val="5"/>
                        </a:spcBef>
                      </a:pPr>
                      <a:r>
                        <a:rPr sz="1400" spc="3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30" dirty="0">
                          <a:solidFill>
                            <a:srgbClr val="000000">
                              <a:alpha val="100000"/>
                            </a:srgbClr>
                          </a:solidFill>
                          <a:latin typeface="微软雅黑" panose="020B0503020204020204" charset="-122"/>
                          <a:ea typeface="微软雅黑" panose="020B0503020204020204" charset="-122"/>
                          <a:cs typeface="楷体" panose="02010609060101010101" charset="-122"/>
                        </a:rPr>
                        <a:t>硬粒</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性</a:t>
                      </a:r>
                      <a:endParaRPr lang="en-US" altLang="en-US" sz="1400" dirty="0">
                        <a:latin typeface="微软雅黑" panose="020B0503020204020204" charset="-122"/>
                        <a:ea typeface="微软雅黑" panose="020B0503020204020204" charset="-122"/>
                      </a:endParaRPr>
                    </a:p>
                    <a:p>
                      <a:pPr marL="94615" algn="l" rtl="0" eaLnBrk="0">
                        <a:lnSpc>
                          <a:spcPct val="100000"/>
                        </a:lnSpc>
                        <a:spcBef>
                          <a:spcPts val="65"/>
                        </a:spcBef>
                      </a:pPr>
                      <a:r>
                        <a:rPr sz="1400" spc="2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结实率</a:t>
                      </a:r>
                      <a:r>
                        <a:rPr sz="1400" spc="20" dirty="0">
                          <a:solidFill>
                            <a:srgbClr val="000000">
                              <a:alpha val="100000"/>
                            </a:srgbClr>
                          </a:solidFill>
                          <a:latin typeface="微软雅黑" panose="020B0503020204020204" charset="-122"/>
                          <a:ea typeface="微软雅黑" panose="020B0503020204020204" charset="-122"/>
                          <a:cs typeface="Arial" panose="020B0604020202020204"/>
                        </a:rPr>
                        <a:t>/</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出籽</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率</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高</a:t>
                      </a:r>
                      <a:endParaRPr lang="en-US" altLang="en-US" sz="1400" dirty="0">
                        <a:latin typeface="微软雅黑" panose="020B0503020204020204" charset="-122"/>
                        <a:ea typeface="微软雅黑" panose="020B0503020204020204" charset="-122"/>
                      </a:endParaRPr>
                    </a:p>
                    <a:p>
                      <a:pPr marL="94615" algn="l" rtl="0" eaLnBrk="0">
                        <a:lnSpc>
                          <a:spcPct val="93000"/>
                        </a:lnSpc>
                        <a:spcBef>
                          <a:spcPts val="5"/>
                        </a:spcBef>
                      </a:pPr>
                      <a:r>
                        <a:rPr sz="1400" spc="2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不同年份</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的</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产量稳定</a:t>
                      </a:r>
                      <a:endParaRPr lang="en-US" altLang="en-US" sz="1400" dirty="0">
                        <a:latin typeface="微软雅黑" panose="020B0503020204020204" charset="-122"/>
                        <a:ea typeface="微软雅黑" panose="020B0503020204020204" charset="-122"/>
                      </a:endParaRPr>
                    </a:p>
                  </a:txBody>
                  <a:tcPr marL="0" marR="0" marT="0" marB="0">
                    <a:lnL w="19050" cap="flat" cmpd="sng" algn="ctr">
                      <a:solidFill>
                        <a:srgbClr val="C5C5C5"/>
                      </a:solidFill>
                      <a:prstDash val="solid"/>
                      <a:round/>
                      <a:headEnd type="none" w="med" len="med"/>
                      <a:tailEnd type="none" w="med" len="med"/>
                    </a:lnL>
                    <a:lnR w="19050" cap="flat" cmpd="sng" algn="ctr">
                      <a:solidFill>
                        <a:srgbClr val="C5C5C5"/>
                      </a:solidFill>
                      <a:prstDash val="solid"/>
                      <a:round/>
                      <a:headEnd type="none" w="med" len="med"/>
                      <a:tailEnd type="none" w="med" len="med"/>
                    </a:lnR>
                    <a:lnT w="19050" cap="flat" cmpd="sng" algn="ctr">
                      <a:solidFill>
                        <a:srgbClr val="C5C5C5"/>
                      </a:solidFill>
                      <a:prstDash val="solid"/>
                      <a:round/>
                      <a:headEnd type="none" w="med" len="med"/>
                      <a:tailEnd type="none" w="med" len="med"/>
                    </a:lnT>
                    <a:lnB w="19050" cap="flat" cmpd="sng" algn="ctr">
                      <a:solidFill>
                        <a:srgbClr val="C5C5C5"/>
                      </a:solidFill>
                      <a:prstDash val="solid"/>
                      <a:round/>
                      <a:headEnd type="none" w="med" len="med"/>
                      <a:tailEnd type="none" w="med" len="med"/>
                    </a:lnB>
                  </a:tcPr>
                </a:tc>
              </a:tr>
            </a:tbl>
          </a:graphicData>
        </a:graphic>
      </p:graphicFrame>
      <p:pic>
        <p:nvPicPr>
          <p:cNvPr id="585" name="picture 585"/>
          <p:cNvPicPr>
            <a:picLocks noChangeAspect="1"/>
          </p:cNvPicPr>
          <p:nvPr/>
        </p:nvPicPr>
        <p:blipFill>
          <a:blip r:embed="rId1"/>
          <a:stretch>
            <a:fillRect/>
          </a:stretch>
        </p:blipFill>
        <p:spPr>
          <a:xfrm rot="21600000">
            <a:off x="597408" y="2830068"/>
            <a:ext cx="1303019" cy="1138427"/>
          </a:xfrm>
          <a:prstGeom prst="rect">
            <a:avLst/>
          </a:prstGeom>
        </p:spPr>
      </p:pic>
      <p:graphicFrame>
        <p:nvGraphicFramePr>
          <p:cNvPr id="586" name="table 586"/>
          <p:cNvGraphicFramePr>
            <a:graphicFrameLocks noGrp="1"/>
          </p:cNvGraphicFramePr>
          <p:nvPr/>
        </p:nvGraphicFramePr>
        <p:xfrm>
          <a:off x="588263" y="2819400"/>
          <a:ext cx="1322705" cy="1129664"/>
        </p:xfrm>
        <a:graphic>
          <a:graphicData uri="http://schemas.openxmlformats.org/drawingml/2006/table">
            <a:tbl>
              <a:tblPr/>
              <a:tblGrid>
                <a:gridCol w="1322705"/>
              </a:tblGrid>
              <a:tr h="1129664">
                <a:tc>
                  <a:txBody>
                    <a:bodyPr/>
                    <a:lstStyle/>
                    <a:p>
                      <a:pPr algn="l" rtl="0" eaLnBrk="0">
                        <a:lnSpc>
                          <a:spcPct val="100000"/>
                        </a:lnSpc>
                      </a:pPr>
                      <a:endParaRPr lang="en-US" altLang="en-US" sz="1000" dirty="0">
                        <a:latin typeface="微软雅黑" panose="020B0503020204020204" charset="-122"/>
                        <a:ea typeface="微软雅黑" panose="020B0503020204020204" charset="-122"/>
                      </a:endParaRPr>
                    </a:p>
                    <a:p>
                      <a:pPr algn="l" rtl="0" eaLnBrk="0">
                        <a:lnSpc>
                          <a:spcPct val="100000"/>
                        </a:lnSpc>
                      </a:pPr>
                      <a:endParaRPr lang="en-US" altLang="en-US" sz="1000" dirty="0">
                        <a:latin typeface="微软雅黑" panose="020B0503020204020204" charset="-122"/>
                        <a:ea typeface="微软雅黑" panose="020B0503020204020204" charset="-122"/>
                      </a:endParaRPr>
                    </a:p>
                    <a:p>
                      <a:pPr algn="l" rtl="0" eaLnBrk="0">
                        <a:lnSpc>
                          <a:spcPct val="100000"/>
                        </a:lnSpc>
                      </a:pPr>
                      <a:endParaRPr lang="en-US" altLang="en-US" sz="1000" dirty="0">
                        <a:latin typeface="微软雅黑" panose="020B0503020204020204" charset="-122"/>
                        <a:ea typeface="微软雅黑" panose="020B0503020204020204" charset="-122"/>
                      </a:endParaRPr>
                    </a:p>
                    <a:p>
                      <a:pPr algn="l" rtl="0" eaLnBrk="0">
                        <a:lnSpc>
                          <a:spcPct val="100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6000"/>
                        </a:lnSpc>
                      </a:pPr>
                      <a:endParaRPr lang="en-US" altLang="en-US" sz="100" dirty="0">
                        <a:latin typeface="微软雅黑" panose="020B0503020204020204" charset="-122"/>
                        <a:ea typeface="微软雅黑" panose="020B0503020204020204" charset="-122"/>
                      </a:endParaRPr>
                    </a:p>
                    <a:p>
                      <a:pPr marL="140335" algn="l" rtl="0" eaLnBrk="0">
                        <a:lnSpc>
                          <a:spcPct val="93000"/>
                        </a:lnSpc>
                      </a:pPr>
                      <a:r>
                        <a:rPr sz="1400" spc="-2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生产力驱动</a:t>
                      </a:r>
                      <a:r>
                        <a:rPr sz="1400" spc="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者</a:t>
                      </a:r>
                      <a:endParaRPr lang="en-US" altLang="en-US" sz="1400" dirty="0">
                        <a:latin typeface="微软雅黑" panose="020B0503020204020204" charset="-122"/>
                        <a:ea typeface="微软雅黑" panose="020B0503020204020204" charset="-122"/>
                      </a:endParaRPr>
                    </a:p>
                  </a:txBody>
                  <a:tcPr marL="0" marR="0" marT="0" marB="0">
                    <a:lnL w="19050" cap="flat" cmpd="sng" algn="ctr">
                      <a:solidFill>
                        <a:srgbClr val="C5C5C5"/>
                      </a:solidFill>
                      <a:prstDash val="solid"/>
                      <a:round/>
                      <a:headEnd type="none" w="med" len="med"/>
                      <a:tailEnd type="none" w="med" len="med"/>
                    </a:lnL>
                    <a:lnR w="19050" cap="flat" cmpd="sng" algn="ctr">
                      <a:solidFill>
                        <a:srgbClr val="C5C5C5"/>
                      </a:solidFill>
                      <a:prstDash val="solid"/>
                      <a:round/>
                      <a:headEnd type="none" w="med" len="med"/>
                      <a:tailEnd type="none" w="med" len="med"/>
                    </a:lnR>
                    <a:lnT w="19050" cap="flat" cmpd="sng" algn="ctr">
                      <a:solidFill>
                        <a:srgbClr val="C5C5C5"/>
                      </a:solidFill>
                      <a:prstDash val="solid"/>
                      <a:round/>
                      <a:headEnd type="none" w="med" len="med"/>
                      <a:tailEnd type="none" w="med" len="med"/>
                    </a:lnT>
                    <a:lnB w="19050" cap="flat" cmpd="sng" algn="ctr">
                      <a:solidFill>
                        <a:srgbClr val="C5C5C5"/>
                      </a:solidFill>
                      <a:prstDash val="solid"/>
                      <a:round/>
                      <a:headEnd type="none" w="med" len="med"/>
                      <a:tailEnd type="none" w="med" len="med"/>
                    </a:lnB>
                  </a:tcPr>
                </a:tc>
              </a:tr>
            </a:tbl>
          </a:graphicData>
        </a:graphic>
      </p:graphicFrame>
      <p:pic>
        <p:nvPicPr>
          <p:cNvPr id="587" name="picture 587"/>
          <p:cNvPicPr>
            <a:picLocks noChangeAspect="1"/>
          </p:cNvPicPr>
          <p:nvPr/>
        </p:nvPicPr>
        <p:blipFill>
          <a:blip r:embed="rId2"/>
          <a:stretch>
            <a:fillRect/>
          </a:stretch>
        </p:blipFill>
        <p:spPr>
          <a:xfrm rot="21600000">
            <a:off x="597408" y="4012692"/>
            <a:ext cx="1303019" cy="1138427"/>
          </a:xfrm>
          <a:prstGeom prst="rect">
            <a:avLst/>
          </a:prstGeom>
        </p:spPr>
      </p:pic>
      <p:graphicFrame>
        <p:nvGraphicFramePr>
          <p:cNvPr id="588" name="table 588"/>
          <p:cNvGraphicFramePr>
            <a:graphicFrameLocks noGrp="1"/>
          </p:cNvGraphicFramePr>
          <p:nvPr/>
        </p:nvGraphicFramePr>
        <p:xfrm>
          <a:off x="588263" y="4012692"/>
          <a:ext cx="1322705" cy="1141159"/>
        </p:xfrm>
        <a:graphic>
          <a:graphicData uri="http://schemas.openxmlformats.org/drawingml/2006/table">
            <a:tbl>
              <a:tblPr/>
              <a:tblGrid>
                <a:gridCol w="1322705"/>
              </a:tblGrid>
              <a:tr h="1122044">
                <a:tc>
                  <a:txBody>
                    <a:bodyPr/>
                    <a:lstStyle/>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8000"/>
                        </a:lnSpc>
                      </a:pPr>
                      <a:endParaRPr lang="en-US" altLang="en-US" sz="100" dirty="0">
                        <a:latin typeface="微软雅黑" panose="020B0503020204020204" charset="-122"/>
                        <a:ea typeface="微软雅黑" panose="020B0503020204020204" charset="-122"/>
                      </a:endParaRPr>
                    </a:p>
                    <a:p>
                      <a:pPr marL="220345" algn="l" rtl="0" eaLnBrk="0">
                        <a:lnSpc>
                          <a:spcPct val="95000"/>
                        </a:lnSpc>
                      </a:pPr>
                      <a:r>
                        <a:rPr sz="1400" spc="-1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风险</a:t>
                      </a:r>
                      <a:r>
                        <a:rPr sz="1400" spc="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规避者</a:t>
                      </a:r>
                      <a:endParaRPr lang="en-US" altLang="en-US" sz="1400" dirty="0">
                        <a:latin typeface="微软雅黑" panose="020B0503020204020204" charset="-122"/>
                        <a:ea typeface="微软雅黑" panose="020B0503020204020204" charset="-122"/>
                      </a:endParaRPr>
                    </a:p>
                  </a:txBody>
                  <a:tcPr marL="0" marR="0" marT="0" marB="0">
                    <a:lnL w="19050" cap="flat" cmpd="sng" algn="ctr">
                      <a:solidFill>
                        <a:srgbClr val="C5C5C5"/>
                      </a:solidFill>
                      <a:prstDash val="solid"/>
                      <a:round/>
                      <a:headEnd type="none" w="med" len="med"/>
                      <a:tailEnd type="none" w="med" len="med"/>
                    </a:lnL>
                    <a:lnR w="19050" cap="flat" cmpd="sng" algn="ctr">
                      <a:solidFill>
                        <a:srgbClr val="C5C5C5"/>
                      </a:solidFill>
                      <a:prstDash val="solid"/>
                      <a:round/>
                      <a:headEnd type="none" w="med" len="med"/>
                      <a:tailEnd type="none" w="med" len="med"/>
                    </a:lnR>
                    <a:lnT w="19050" cap="flat" cmpd="sng" algn="ctr">
                      <a:solidFill>
                        <a:srgbClr val="C5C5C5"/>
                      </a:solidFill>
                      <a:prstDash val="solid"/>
                      <a:round/>
                      <a:headEnd type="none" w="med" len="med"/>
                      <a:tailEnd type="none" w="med" len="med"/>
                    </a:lnT>
                    <a:lnB w="19050" cap="flat" cmpd="sng" algn="ctr">
                      <a:solidFill>
                        <a:srgbClr val="C5C5C5"/>
                      </a:solidFill>
                      <a:prstDash val="solid"/>
                      <a:round/>
                      <a:headEnd type="none" w="med" len="med"/>
                      <a:tailEnd type="none" w="med" len="med"/>
                    </a:lnB>
                  </a:tcPr>
                </a:tc>
              </a:tr>
            </a:tbl>
          </a:graphicData>
        </a:graphic>
      </p:graphicFrame>
      <p:pic>
        <p:nvPicPr>
          <p:cNvPr id="589" name="picture 589"/>
          <p:cNvPicPr>
            <a:picLocks noChangeAspect="1"/>
          </p:cNvPicPr>
          <p:nvPr/>
        </p:nvPicPr>
        <p:blipFill>
          <a:blip r:embed="rId3"/>
          <a:stretch>
            <a:fillRect/>
          </a:stretch>
        </p:blipFill>
        <p:spPr>
          <a:xfrm rot="21600000">
            <a:off x="597408" y="1601723"/>
            <a:ext cx="1303019" cy="1138428"/>
          </a:xfrm>
          <a:prstGeom prst="rect">
            <a:avLst/>
          </a:prstGeom>
        </p:spPr>
      </p:pic>
      <p:graphicFrame>
        <p:nvGraphicFramePr>
          <p:cNvPr id="590" name="table 590"/>
          <p:cNvGraphicFramePr>
            <a:graphicFrameLocks noGrp="1"/>
          </p:cNvGraphicFramePr>
          <p:nvPr/>
        </p:nvGraphicFramePr>
        <p:xfrm>
          <a:off x="588263" y="1601723"/>
          <a:ext cx="1322705" cy="1126236"/>
        </p:xfrm>
        <a:graphic>
          <a:graphicData uri="http://schemas.openxmlformats.org/drawingml/2006/table">
            <a:tbl>
              <a:tblPr/>
              <a:tblGrid>
                <a:gridCol w="1322705"/>
              </a:tblGrid>
              <a:tr h="1118870">
                <a:tc>
                  <a:txBody>
                    <a:bodyPr/>
                    <a:lstStyle/>
                    <a:p>
                      <a:pPr algn="l" rtl="0" eaLnBrk="0">
                        <a:lnSpc>
                          <a:spcPct val="100000"/>
                        </a:lnSpc>
                      </a:pPr>
                      <a:endParaRPr lang="en-US" altLang="en-US" sz="1000" dirty="0">
                        <a:latin typeface="微软雅黑" panose="020B0503020204020204" charset="-122"/>
                        <a:ea typeface="微软雅黑" panose="020B0503020204020204" charset="-122"/>
                      </a:endParaRPr>
                    </a:p>
                    <a:p>
                      <a:pPr algn="l" rtl="0" eaLnBrk="0">
                        <a:lnSpc>
                          <a:spcPct val="100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6000"/>
                        </a:lnSpc>
                      </a:pPr>
                      <a:endParaRPr lang="en-US" altLang="en-US" sz="100" dirty="0">
                        <a:latin typeface="微软雅黑" panose="020B0503020204020204" charset="-122"/>
                        <a:ea typeface="微软雅黑" panose="020B0503020204020204" charset="-122"/>
                      </a:endParaRPr>
                    </a:p>
                    <a:p>
                      <a:pPr marL="227330" algn="l" rtl="0" eaLnBrk="0">
                        <a:lnSpc>
                          <a:spcPct val="96000"/>
                        </a:lnSpc>
                      </a:pPr>
                      <a:r>
                        <a:rPr sz="1400" spc="-2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利润驱动</a:t>
                      </a:r>
                      <a:r>
                        <a:rPr sz="1400" spc="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者</a:t>
                      </a:r>
                      <a:endParaRPr lang="en-US" altLang="en-US" sz="1400" dirty="0">
                        <a:latin typeface="微软雅黑" panose="020B0503020204020204" charset="-122"/>
                        <a:ea typeface="微软雅黑" panose="020B0503020204020204" charset="-122"/>
                      </a:endParaRPr>
                    </a:p>
                  </a:txBody>
                  <a:tcPr marL="0" marR="0" marT="0" marB="0">
                    <a:lnL w="19050" cap="flat" cmpd="sng" algn="ctr">
                      <a:solidFill>
                        <a:srgbClr val="C5C5C5"/>
                      </a:solidFill>
                      <a:prstDash val="solid"/>
                      <a:round/>
                      <a:headEnd type="none" w="med" len="med"/>
                      <a:tailEnd type="none" w="med" len="med"/>
                    </a:lnL>
                    <a:lnR w="19050" cap="flat" cmpd="sng" algn="ctr">
                      <a:solidFill>
                        <a:srgbClr val="C5C5C5"/>
                      </a:solidFill>
                      <a:prstDash val="solid"/>
                      <a:round/>
                      <a:headEnd type="none" w="med" len="med"/>
                      <a:tailEnd type="none" w="med" len="med"/>
                    </a:lnR>
                    <a:lnT w="19050" cap="flat" cmpd="sng" algn="ctr">
                      <a:solidFill>
                        <a:srgbClr val="C5C5C5"/>
                      </a:solidFill>
                      <a:prstDash val="solid"/>
                      <a:round/>
                      <a:headEnd type="none" w="med" len="med"/>
                      <a:tailEnd type="none" w="med" len="med"/>
                    </a:lnT>
                    <a:lnB w="19050" cap="flat" cmpd="sng" algn="ctr">
                      <a:solidFill>
                        <a:srgbClr val="C5C5C5"/>
                      </a:solidFill>
                      <a:prstDash val="solid"/>
                      <a:round/>
                      <a:headEnd type="none" w="med" len="med"/>
                      <a:tailEnd type="none" w="med" len="med"/>
                    </a:lnB>
                  </a:tcPr>
                </a:tc>
              </a:tr>
            </a:tbl>
          </a:graphicData>
        </a:graphic>
      </p:graphicFrame>
      <p:pic>
        <p:nvPicPr>
          <p:cNvPr id="591" name="picture 591"/>
          <p:cNvPicPr>
            <a:picLocks noChangeAspect="1"/>
          </p:cNvPicPr>
          <p:nvPr/>
        </p:nvPicPr>
        <p:blipFill>
          <a:blip r:embed="rId4"/>
          <a:stretch>
            <a:fillRect/>
          </a:stretch>
        </p:blipFill>
        <p:spPr>
          <a:xfrm rot="21600000">
            <a:off x="586740" y="5279136"/>
            <a:ext cx="1252727" cy="1138427"/>
          </a:xfrm>
          <a:prstGeom prst="rect">
            <a:avLst/>
          </a:prstGeom>
        </p:spPr>
      </p:pic>
      <p:pic>
        <p:nvPicPr>
          <p:cNvPr id="592" name="picture 592"/>
          <p:cNvPicPr>
            <a:picLocks noChangeAspect="1"/>
          </p:cNvPicPr>
          <p:nvPr/>
        </p:nvPicPr>
        <p:blipFill>
          <a:blip r:embed="rId5"/>
          <a:stretch>
            <a:fillRect/>
          </a:stretch>
        </p:blipFill>
        <p:spPr>
          <a:xfrm rot="21600000">
            <a:off x="597408" y="6140196"/>
            <a:ext cx="1303019" cy="216408"/>
          </a:xfrm>
          <a:prstGeom prst="rect">
            <a:avLst/>
          </a:prstGeom>
        </p:spPr>
      </p:pic>
      <p:graphicFrame>
        <p:nvGraphicFramePr>
          <p:cNvPr id="593" name="table 593"/>
          <p:cNvGraphicFramePr>
            <a:graphicFrameLocks noGrp="1"/>
          </p:cNvGraphicFramePr>
          <p:nvPr/>
        </p:nvGraphicFramePr>
        <p:xfrm>
          <a:off x="588263" y="5245608"/>
          <a:ext cx="1322705" cy="1117410"/>
        </p:xfrm>
        <a:graphic>
          <a:graphicData uri="http://schemas.openxmlformats.org/drawingml/2006/table">
            <a:tbl>
              <a:tblPr/>
              <a:tblGrid>
                <a:gridCol w="1322705"/>
              </a:tblGrid>
              <a:tr h="1102360">
                <a:tc>
                  <a:txBody>
                    <a:bodyPr/>
                    <a:lstStyle/>
                    <a:p>
                      <a:pPr algn="l" rtl="0" eaLnBrk="0">
                        <a:lnSpc>
                          <a:spcPct val="100000"/>
                        </a:lnSpc>
                      </a:pPr>
                      <a:endParaRPr lang="en-US" altLang="en-US" sz="1000" dirty="0">
                        <a:latin typeface="微软雅黑" panose="020B0503020204020204" charset="-122"/>
                        <a:ea typeface="微软雅黑" panose="020B0503020204020204" charset="-122"/>
                      </a:endParaRPr>
                    </a:p>
                    <a:p>
                      <a:pPr algn="l" rtl="0" eaLnBrk="0">
                        <a:lnSpc>
                          <a:spcPct val="100000"/>
                        </a:lnSpc>
                      </a:pPr>
                      <a:endParaRPr lang="en-US" altLang="en-US" sz="1000" dirty="0">
                        <a:latin typeface="微软雅黑" panose="020B0503020204020204" charset="-122"/>
                        <a:ea typeface="微软雅黑" panose="020B0503020204020204" charset="-122"/>
                      </a:endParaRPr>
                    </a:p>
                    <a:p>
                      <a:pPr algn="l" rtl="0" eaLnBrk="0">
                        <a:lnSpc>
                          <a:spcPct val="100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marL="226695" algn="l" rtl="0" eaLnBrk="0">
                        <a:lnSpc>
                          <a:spcPct val="93000"/>
                        </a:lnSpc>
                        <a:spcBef>
                          <a:spcPts val="5"/>
                        </a:spcBef>
                      </a:pPr>
                      <a:r>
                        <a:rPr sz="1400" spc="-2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饲料生</a:t>
                      </a:r>
                      <a:r>
                        <a:rPr sz="1400" spc="-1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产</a:t>
                      </a:r>
                      <a:r>
                        <a:rPr sz="1400" spc="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者</a:t>
                      </a:r>
                      <a:endParaRPr lang="en-US" altLang="en-US" sz="1400" dirty="0">
                        <a:latin typeface="微软雅黑" panose="020B0503020204020204" charset="-122"/>
                        <a:ea typeface="微软雅黑" panose="020B0503020204020204" charset="-122"/>
                      </a:endParaRPr>
                    </a:p>
                  </a:txBody>
                  <a:tcPr marL="0" marR="0" marT="0" marB="0">
                    <a:lnL w="19050" cap="flat" cmpd="sng" algn="ctr">
                      <a:solidFill>
                        <a:srgbClr val="C5C5C5"/>
                      </a:solidFill>
                      <a:prstDash val="solid"/>
                      <a:round/>
                      <a:headEnd type="none" w="med" len="med"/>
                      <a:tailEnd type="none" w="med" len="med"/>
                    </a:lnL>
                    <a:lnR w="19050" cap="flat" cmpd="sng" algn="ctr">
                      <a:solidFill>
                        <a:srgbClr val="C5C5C5"/>
                      </a:solidFill>
                      <a:prstDash val="solid"/>
                      <a:round/>
                      <a:headEnd type="none" w="med" len="med"/>
                      <a:tailEnd type="none" w="med" len="med"/>
                    </a:lnR>
                    <a:lnT w="19050" cap="flat" cmpd="sng" algn="ctr">
                      <a:solidFill>
                        <a:srgbClr val="C5C5C5"/>
                      </a:solidFill>
                      <a:prstDash val="solid"/>
                      <a:round/>
                      <a:headEnd type="none" w="med" len="med"/>
                      <a:tailEnd type="none" w="med" len="med"/>
                    </a:lnT>
                    <a:lnB w="19050" cap="flat" cmpd="sng" algn="ctr">
                      <a:solidFill>
                        <a:srgbClr val="C5C5C5"/>
                      </a:solidFill>
                      <a:prstDash val="solid"/>
                      <a:round/>
                      <a:headEnd type="none" w="med" len="med"/>
                      <a:tailEnd type="none" w="med" len="med"/>
                    </a:lnB>
                  </a:tcPr>
                </a:tc>
              </a:tr>
            </a:tbl>
          </a:graphicData>
        </a:graphic>
      </p:graphicFrame>
      <p:sp>
        <p:nvSpPr>
          <p:cNvPr id="594" name="textbox 594"/>
          <p:cNvSpPr/>
          <p:nvPr/>
        </p:nvSpPr>
        <p:spPr>
          <a:xfrm>
            <a:off x="114849" y="6511311"/>
            <a:ext cx="8577580" cy="135889"/>
          </a:xfrm>
          <a:prstGeom prst="rect">
            <a:avLst/>
          </a:prstGeom>
        </p:spPr>
        <p:txBody>
          <a:bodyPr vert="horz" wrap="square" lIns="0" tIns="0" rIns="0" bIns="0"/>
          <a:lstStyle/>
          <a:p>
            <a:pPr algn="l" rtl="0" eaLnBrk="0">
              <a:lnSpc>
                <a:spcPct val="85000"/>
              </a:lnSpc>
            </a:pPr>
            <a:endParaRPr lang="en-US" altLang="en-US" sz="100" dirty="0"/>
          </a:p>
          <a:p>
            <a:pPr marL="12700" algn="l" rtl="0" eaLnBrk="0">
              <a:lnSpc>
                <a:spcPct val="90000"/>
              </a:lnSpc>
            </a:pPr>
            <a:r>
              <a:rPr sz="800" spc="10" dirty="0">
                <a:solidFill>
                  <a:srgbClr val="808080">
                    <a:alpha val="100000"/>
                  </a:srgbClr>
                </a:solidFill>
                <a:latin typeface="楷体" panose="02010609060101010101" charset="-122"/>
                <a:ea typeface="楷体" panose="02010609060101010101" charset="-122"/>
                <a:cs typeface="楷体" panose="02010609060101010101" charset="-122"/>
              </a:rPr>
              <a:t>资料来源：乙方                           </a:t>
            </a:r>
            <a:r>
              <a:rPr sz="800" spc="0" dirty="0">
                <a:solidFill>
                  <a:srgbClr val="808080">
                    <a:alpha val="100000"/>
                  </a:srgbClr>
                </a:solidFill>
                <a:latin typeface="楷体" panose="02010609060101010101" charset="-122"/>
                <a:ea typeface="楷体" panose="02010609060101010101" charset="-122"/>
                <a:cs typeface="楷体" panose="02010609060101010101" charset="-122"/>
              </a:rPr>
              <a:t>                                                                                                     </a:t>
            </a:r>
            <a:r>
              <a:rPr sz="800" spc="0" dirty="0">
                <a:solidFill>
                  <a:srgbClr val="808080">
                    <a:alpha val="100000"/>
                  </a:srgbClr>
                </a:solidFill>
                <a:latin typeface="Arial" panose="020B0604020202020204"/>
                <a:ea typeface="Arial" panose="020B0604020202020204"/>
                <a:cs typeface="Arial" panose="020B0604020202020204"/>
              </a:rPr>
              <a:t>   14</a:t>
            </a:r>
            <a:endParaRPr lang="en-US" altLang="en-US" sz="800" dirty="0"/>
          </a:p>
        </p:txBody>
      </p:sp>
      <p:sp>
        <p:nvSpPr>
          <p:cNvPr id="595" name="textbox 595"/>
          <p:cNvSpPr/>
          <p:nvPr/>
        </p:nvSpPr>
        <p:spPr>
          <a:xfrm>
            <a:off x="1990344" y="1171955"/>
            <a:ext cx="1995170" cy="393065"/>
          </a:xfrm>
          <a:prstGeom prst="rect">
            <a:avLst/>
          </a:prstGeom>
          <a:solidFill>
            <a:srgbClr val="C5C5C5"/>
          </a:solidFill>
        </p:spPr>
        <p:txBody>
          <a:bodyPr vert="horz" wrap="square" lIns="0" tIns="0" rIns="0" bIns="0"/>
          <a:lstStyle/>
          <a:p>
            <a:pPr algn="l" rtl="0" eaLnBrk="0">
              <a:lnSpc>
                <a:spcPct val="110000"/>
              </a:lnSpc>
            </a:pPr>
            <a:endParaRPr lang="en-US" altLang="en-US" sz="600" dirty="0">
              <a:latin typeface="微软雅黑" panose="020B0503020204020204" charset="-122"/>
              <a:ea typeface="微软雅黑" panose="020B0503020204020204" charset="-122"/>
            </a:endParaRPr>
          </a:p>
          <a:p>
            <a:pPr marL="89535" algn="l" rtl="0" eaLnBrk="0">
              <a:lnSpc>
                <a:spcPct val="94000"/>
              </a:lnSpc>
              <a:spcBef>
                <a:spcPts val="5"/>
              </a:spcBef>
            </a:pPr>
            <a:r>
              <a:rPr sz="1400" spc="-20" dirty="0">
                <a:ln w="5094"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关键购买因素</a:t>
            </a:r>
            <a:endParaRPr lang="en-US" altLang="en-US" sz="1400" dirty="0">
              <a:latin typeface="微软雅黑" panose="020B0503020204020204" charset="-122"/>
              <a:ea typeface="微软雅黑" panose="020B0503020204020204" charset="-122"/>
            </a:endParaRPr>
          </a:p>
        </p:txBody>
      </p:sp>
      <p:sp>
        <p:nvSpPr>
          <p:cNvPr id="596" name="textbox 596"/>
          <p:cNvSpPr/>
          <p:nvPr/>
        </p:nvSpPr>
        <p:spPr>
          <a:xfrm>
            <a:off x="582168" y="1171955"/>
            <a:ext cx="1320164" cy="396240"/>
          </a:xfrm>
          <a:prstGeom prst="rect">
            <a:avLst/>
          </a:prstGeom>
          <a:solidFill>
            <a:srgbClr val="C5C5C5"/>
          </a:solidFill>
        </p:spPr>
        <p:txBody>
          <a:bodyPr vert="horz" wrap="square" lIns="0" tIns="0" rIns="0" bIns="0"/>
          <a:lstStyle/>
          <a:p>
            <a:pPr algn="l" rtl="0" eaLnBrk="0">
              <a:lnSpc>
                <a:spcPct val="111000"/>
              </a:lnSpc>
            </a:pPr>
            <a:endParaRPr lang="en-US" altLang="en-US" sz="600" dirty="0">
              <a:latin typeface="微软雅黑" panose="020B0503020204020204" charset="-122"/>
              <a:ea typeface="微软雅黑" panose="020B0503020204020204" charset="-122"/>
            </a:endParaRPr>
          </a:p>
          <a:p>
            <a:pPr marL="92710" algn="l" rtl="0" eaLnBrk="0">
              <a:lnSpc>
                <a:spcPct val="95000"/>
              </a:lnSpc>
              <a:spcBef>
                <a:spcPts val="5"/>
              </a:spcBef>
            </a:pPr>
            <a:r>
              <a:rPr sz="1400" spc="-4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用户类</a:t>
            </a:r>
            <a:r>
              <a:rPr sz="1400" spc="-3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型</a:t>
            </a:r>
            <a:endParaRPr lang="en-US" altLang="en-US" sz="1400" dirty="0">
              <a:latin typeface="微软雅黑" panose="020B0503020204020204" charset="-122"/>
              <a:ea typeface="微软雅黑" panose="020B0503020204020204" charset="-122"/>
            </a:endParaRPr>
          </a:p>
        </p:txBody>
      </p:sp>
      <p:sp>
        <p:nvSpPr>
          <p:cNvPr id="597" name="path"/>
          <p:cNvSpPr/>
          <p:nvPr/>
        </p:nvSpPr>
        <p:spPr>
          <a:xfrm>
            <a:off x="1990344" y="923544"/>
            <a:ext cx="1994915" cy="179832"/>
          </a:xfrm>
          <a:custGeom>
            <a:avLst/>
            <a:gdLst/>
            <a:ahLst/>
            <a:cxnLst/>
            <a:rect l="0" t="0" r="0" b="0"/>
            <a:pathLst>
              <a:path w="3141" h="283">
                <a:moveTo>
                  <a:pt x="2615" y="0"/>
                </a:moveTo>
                <a:lnTo>
                  <a:pt x="3141" y="283"/>
                </a:lnTo>
                <a:lnTo>
                  <a:pt x="2885" y="283"/>
                </a:lnTo>
                <a:lnTo>
                  <a:pt x="2615" y="283"/>
                </a:lnTo>
                <a:lnTo>
                  <a:pt x="0" y="283"/>
                </a:lnTo>
                <a:lnTo>
                  <a:pt x="0" y="182"/>
                </a:lnTo>
                <a:lnTo>
                  <a:pt x="2615" y="182"/>
                </a:lnTo>
                <a:lnTo>
                  <a:pt x="2615" y="0"/>
                </a:lnTo>
                <a:close/>
              </a:path>
            </a:pathLst>
          </a:custGeom>
          <a:solidFill>
            <a:srgbClr val="C5C5C5">
              <a:alpha val="100000"/>
            </a:srgbClr>
          </a:solidFill>
          <a:ln cap="flat">
            <a:noFill/>
            <a:prstDash val="solid"/>
            <a:miter lim="0"/>
          </a:ln>
        </p:spPr>
        <p:txBody>
          <a:bodyPr rtlCol="0"/>
          <a:lstStyle/>
          <a:p>
            <a:pPr algn="ctr"/>
            <a:endParaRPr lang="zh-CN" altLang="en-US"/>
          </a:p>
        </p:txBody>
      </p:sp>
      <p:sp>
        <p:nvSpPr>
          <p:cNvPr id="598" name="path"/>
          <p:cNvSpPr/>
          <p:nvPr/>
        </p:nvSpPr>
        <p:spPr>
          <a:xfrm>
            <a:off x="4076700" y="1039368"/>
            <a:ext cx="4384547" cy="64008"/>
          </a:xfrm>
          <a:custGeom>
            <a:avLst/>
            <a:gdLst/>
            <a:ahLst/>
            <a:cxnLst/>
            <a:rect l="0" t="0" r="0" b="0"/>
            <a:pathLst>
              <a:path w="6904" h="100">
                <a:moveTo>
                  <a:pt x="0" y="100"/>
                </a:moveTo>
                <a:lnTo>
                  <a:pt x="6904" y="100"/>
                </a:lnTo>
                <a:lnTo>
                  <a:pt x="6904" y="0"/>
                </a:lnTo>
                <a:lnTo>
                  <a:pt x="0" y="0"/>
                </a:lnTo>
                <a:lnTo>
                  <a:pt x="0" y="100"/>
                </a:lnTo>
                <a:close/>
              </a:path>
            </a:pathLst>
          </a:custGeom>
          <a:solidFill>
            <a:srgbClr val="00ADEF">
              <a:alpha val="100000"/>
            </a:srgbClr>
          </a:solidFill>
          <a:ln cap="flat">
            <a:noFill/>
            <a:prstDash val="solid"/>
            <a:miter lim="0"/>
          </a:ln>
        </p:spPr>
        <p:txBody>
          <a:bodyPr rtlCol="0"/>
          <a:lstStyle/>
          <a:p>
            <a:pPr algn="ctr"/>
            <a:endParaRPr lang="zh-CN" altLang="en-US"/>
          </a:p>
        </p:txBody>
      </p:sp>
      <p:sp>
        <p:nvSpPr>
          <p:cNvPr id="599" name="textbox 599"/>
          <p:cNvSpPr/>
          <p:nvPr/>
        </p:nvSpPr>
        <p:spPr>
          <a:xfrm>
            <a:off x="8818509" y="1037437"/>
            <a:ext cx="114935" cy="1840229"/>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endParaRPr sz="600" spc="0" dirty="0">
              <a:solidFill>
                <a:srgbClr val="808080">
                  <a:alpha val="100000"/>
                </a:srgbClr>
              </a:solidFill>
              <a:latin typeface="Arial" panose="020B0604020202020204"/>
              <a:ea typeface="Arial" panose="020B0604020202020204"/>
              <a:cs typeface="Arial" panose="020B0604020202020204"/>
            </a:endParaRPr>
          </a:p>
        </p:txBody>
      </p:sp>
      <p:sp>
        <p:nvSpPr>
          <p:cNvPr id="600" name="textbox 600"/>
          <p:cNvSpPr/>
          <p:nvPr/>
        </p:nvSpPr>
        <p:spPr>
          <a:xfrm>
            <a:off x="8818435" y="4032021"/>
            <a:ext cx="114935" cy="262890"/>
          </a:xfrm>
          <a:prstGeom prst="rect">
            <a:avLst/>
          </a:prstGeom>
        </p:spPr>
        <p:txBody>
          <a:bodyPr vert="eaVert" wrap="square" lIns="0" tIns="0" rIns="0" bIns="0"/>
          <a:lstStyle/>
          <a:p>
            <a:pPr algn="l" rtl="0" eaLnBrk="0">
              <a:lnSpc>
                <a:spcPct val="85000"/>
              </a:lnSpc>
            </a:pPr>
            <a:endParaRPr lang="en-US" altLang="en-US" sz="100" dirty="0"/>
          </a:p>
          <a:p>
            <a:pPr marL="12700" algn="l" rtl="0" eaLnBrk="0">
              <a:lnSpc>
                <a:spcPct val="79000"/>
              </a:lnSpc>
            </a:pPr>
            <a:endParaRPr sz="600" spc="-10" dirty="0">
              <a:solidFill>
                <a:srgbClr val="808080">
                  <a:alpha val="100000"/>
                </a:srgbClr>
              </a:solidFill>
              <a:latin typeface="Arial" panose="020B0604020202020204"/>
              <a:ea typeface="Arial" panose="020B0604020202020204"/>
              <a:cs typeface="Arial" panose="020B060402020202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4" name="group 114"/>
          <p:cNvGrpSpPr/>
          <p:nvPr/>
        </p:nvGrpSpPr>
        <p:grpSpPr>
          <a:xfrm rot="21600000">
            <a:off x="6050279" y="1409700"/>
            <a:ext cx="2639567" cy="5044439"/>
            <a:chOff x="0" y="0"/>
            <a:chExt cx="2639567" cy="5044439"/>
          </a:xfrm>
        </p:grpSpPr>
        <p:pic>
          <p:nvPicPr>
            <p:cNvPr id="601" name="picture 601"/>
            <p:cNvPicPr>
              <a:picLocks noChangeAspect="1"/>
            </p:cNvPicPr>
            <p:nvPr/>
          </p:nvPicPr>
          <p:blipFill>
            <a:blip r:embed="rId1"/>
            <a:stretch>
              <a:fillRect/>
            </a:stretch>
          </p:blipFill>
          <p:spPr>
            <a:xfrm rot="21600000">
              <a:off x="0" y="0"/>
              <a:ext cx="2639567" cy="5044439"/>
            </a:xfrm>
            <a:prstGeom prst="rect">
              <a:avLst/>
            </a:prstGeom>
          </p:spPr>
        </p:pic>
        <p:sp>
          <p:nvSpPr>
            <p:cNvPr id="602" name="textbox 602"/>
            <p:cNvSpPr/>
            <p:nvPr/>
          </p:nvSpPr>
          <p:spPr>
            <a:xfrm>
              <a:off x="114452" y="49300"/>
              <a:ext cx="2309495" cy="3404234"/>
            </a:xfrm>
            <a:prstGeom prst="rect">
              <a:avLst/>
            </a:prstGeom>
          </p:spPr>
          <p:txBody>
            <a:bodyPr vert="horz" wrap="square" lIns="0" tIns="0" rIns="0" bIns="0"/>
            <a:lstStyle/>
            <a:p>
              <a:pPr algn="l" rtl="0" eaLnBrk="0">
                <a:lnSpc>
                  <a:spcPct val="86000"/>
                </a:lnSpc>
              </a:pPr>
              <a:endParaRPr lang="en-US" altLang="en-US" sz="100" dirty="0">
                <a:latin typeface="微软雅黑" panose="020B0503020204020204" charset="-122"/>
                <a:ea typeface="微软雅黑" panose="020B0503020204020204" charset="-122"/>
              </a:endParaRPr>
            </a:p>
            <a:p>
              <a:pPr marL="17780" algn="l" rtl="0" eaLnBrk="0">
                <a:lnSpc>
                  <a:spcPct val="94000"/>
                </a:lnSpc>
              </a:pPr>
              <a:r>
                <a:rPr sz="1200" spc="-20" dirty="0">
                  <a:ln w="4354" cap="flat" cmpd="sng">
                    <a:solidFill>
                      <a:srgbClr val="002960">
                        <a:alpha val="100000"/>
                      </a:srgbClr>
                    </a:solidFill>
                    <a:prstDash val="solid"/>
                    <a:miter lim="10"/>
                  </a:ln>
                  <a:solidFill>
                    <a:srgbClr val="002960">
                      <a:alpha val="100000"/>
                    </a:srgbClr>
                  </a:solidFill>
                  <a:latin typeface="微软雅黑" panose="020B0503020204020204" charset="-122"/>
                  <a:ea typeface="微软雅黑" panose="020B0503020204020204" charset="-122"/>
                  <a:cs typeface="楷体" panose="02010609060101010101" charset="-122"/>
                </a:rPr>
                <a:t>分级</a:t>
              </a:r>
              <a:r>
                <a:rPr sz="1200" spc="-10" dirty="0">
                  <a:ln w="4354" cap="flat" cmpd="sng">
                    <a:solidFill>
                      <a:srgbClr val="002960">
                        <a:alpha val="100000"/>
                      </a:srgbClr>
                    </a:solidFill>
                    <a:prstDash val="solid"/>
                    <a:miter lim="10"/>
                  </a:ln>
                  <a:solidFill>
                    <a:srgbClr val="002960">
                      <a:alpha val="100000"/>
                    </a:srgbClr>
                  </a:solidFill>
                  <a:latin typeface="微软雅黑" panose="020B0503020204020204" charset="-122"/>
                  <a:ea typeface="微软雅黑" panose="020B0503020204020204" charset="-122"/>
                  <a:cs typeface="楷体" panose="02010609060101010101" charset="-122"/>
                </a:rPr>
                <a:t>分</a:t>
              </a:r>
              <a:r>
                <a:rPr sz="1200" spc="0" dirty="0">
                  <a:ln w="4354" cap="flat" cmpd="sng">
                    <a:solidFill>
                      <a:srgbClr val="002960">
                        <a:alpha val="100000"/>
                      </a:srgbClr>
                    </a:solidFill>
                    <a:prstDash val="solid"/>
                    <a:miter lim="10"/>
                  </a:ln>
                  <a:solidFill>
                    <a:srgbClr val="002960">
                      <a:alpha val="100000"/>
                    </a:srgbClr>
                  </a:solidFill>
                  <a:latin typeface="微软雅黑" panose="020B0503020204020204" charset="-122"/>
                  <a:ea typeface="微软雅黑" panose="020B0503020204020204" charset="-122"/>
                  <a:cs typeface="楷体" panose="02010609060101010101" charset="-122"/>
                </a:rPr>
                <a:t>析</a:t>
              </a:r>
              <a:endParaRPr lang="en-US" altLang="en-US" sz="1200" dirty="0">
                <a:latin typeface="微软雅黑" panose="020B0503020204020204" charset="-122"/>
                <a:ea typeface="微软雅黑" panose="020B0503020204020204" charset="-122"/>
              </a:endParaRPr>
            </a:p>
            <a:p>
              <a:pPr marL="12700" indent="10160" algn="l" rtl="0" eaLnBrk="0">
                <a:lnSpc>
                  <a:spcPct val="109000"/>
                </a:lnSpc>
                <a:spcBef>
                  <a:spcPts val="140"/>
                </a:spcBef>
                <a:tabLst>
                  <a:tab pos="67310" algn="l"/>
                </a:tabLst>
              </a:pP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200" spc="-20" dirty="0">
                  <a:solidFill>
                    <a:srgbClr val="000000">
                      <a:alpha val="100000"/>
                    </a:srgbClr>
                  </a:solidFill>
                  <a:latin typeface="微软雅黑" panose="020B0503020204020204" charset="-122"/>
                  <a:ea typeface="微软雅黑" panose="020B0503020204020204" charset="-122"/>
                  <a:cs typeface="楷体" panose="02010609060101010101" charset="-122"/>
                </a:rPr>
                <a:t> 确保在客户分类</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时考虑到玉米种 </a:t>
              </a:r>
              <a:r>
                <a:rPr sz="1200" spc="-10" dirty="0">
                  <a:solidFill>
                    <a:srgbClr val="000000">
                      <a:alpha val="100000"/>
                    </a:srgbClr>
                  </a:solidFill>
                  <a:latin typeface="微软雅黑" panose="020B0503020204020204" charset="-122"/>
                  <a:ea typeface="微软雅黑" panose="020B0503020204020204" charset="-122"/>
                  <a:cs typeface="楷体" panose="02010609060101010101" charset="-122"/>
                </a:rPr>
                <a:t>植户</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的的主要购买态度和对产品特 </a:t>
              </a:r>
              <a:r>
                <a:rPr sz="1200" spc="-10" dirty="0">
                  <a:solidFill>
                    <a:srgbClr val="000000">
                      <a:alpha val="100000"/>
                    </a:srgbClr>
                  </a:solidFill>
                  <a:latin typeface="微软雅黑" panose="020B0503020204020204" charset="-122"/>
                  <a:ea typeface="微软雅黑" panose="020B0503020204020204" charset="-122"/>
                  <a:cs typeface="楷体" panose="02010609060101010101" charset="-122"/>
                </a:rPr>
                <a:t>性的</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偏好</a:t>
              </a:r>
              <a:endParaRPr lang="en-US" altLang="en-US" sz="12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marL="23495" algn="l" rtl="0" eaLnBrk="0">
                <a:lnSpc>
                  <a:spcPct val="98000"/>
                </a:lnSpc>
                <a:spcBef>
                  <a:spcPts val="360"/>
                </a:spcBef>
              </a:pPr>
              <a:r>
                <a:rPr sz="1200" b="1" spc="-10" dirty="0">
                  <a:solidFill>
                    <a:srgbClr val="002960">
                      <a:alpha val="100000"/>
                    </a:srgbClr>
                  </a:solidFill>
                  <a:latin typeface="微软雅黑" panose="020B0503020204020204" charset="-122"/>
                  <a:ea typeface="微软雅黑" panose="020B0503020204020204" charset="-122"/>
                  <a:cs typeface="Arial" panose="020B0604020202020204"/>
                </a:rPr>
                <a:t>K-me</a:t>
              </a:r>
              <a:r>
                <a:rPr sz="1200" b="1" spc="0" dirty="0">
                  <a:solidFill>
                    <a:srgbClr val="002960">
                      <a:alpha val="100000"/>
                    </a:srgbClr>
                  </a:solidFill>
                  <a:latin typeface="微软雅黑" panose="020B0503020204020204" charset="-122"/>
                  <a:ea typeface="微软雅黑" panose="020B0503020204020204" charset="-122"/>
                  <a:cs typeface="Arial" panose="020B0604020202020204"/>
                </a:rPr>
                <a:t>ans</a:t>
              </a:r>
              <a:r>
                <a:rPr sz="1200" spc="-10" dirty="0">
                  <a:ln w="4354" cap="flat" cmpd="sng">
                    <a:solidFill>
                      <a:srgbClr val="002960">
                        <a:alpha val="100000"/>
                      </a:srgbClr>
                    </a:solidFill>
                    <a:prstDash val="solid"/>
                    <a:miter lim="10"/>
                  </a:ln>
                  <a:solidFill>
                    <a:srgbClr val="002960">
                      <a:alpha val="100000"/>
                    </a:srgbClr>
                  </a:solidFill>
                  <a:latin typeface="微软雅黑" panose="020B0503020204020204" charset="-122"/>
                  <a:ea typeface="微软雅黑" panose="020B0503020204020204" charset="-122"/>
                  <a:cs typeface="楷体" panose="02010609060101010101" charset="-122"/>
                </a:rPr>
                <a:t>聚类算法</a:t>
              </a:r>
              <a:endParaRPr lang="en-US" altLang="en-US" sz="1200" dirty="0">
                <a:latin typeface="微软雅黑" panose="020B0503020204020204" charset="-122"/>
                <a:ea typeface="微软雅黑" panose="020B0503020204020204" charset="-122"/>
              </a:endParaRPr>
            </a:p>
            <a:p>
              <a:pPr marL="133350" indent="-109855" algn="l" rtl="0" eaLnBrk="0">
                <a:lnSpc>
                  <a:spcPct val="84000"/>
                </a:lnSpc>
                <a:spcBef>
                  <a:spcPts val="75"/>
                </a:spcBef>
              </a:pPr>
              <a:r>
                <a:rPr sz="1500" spc="-10" dirty="0">
                  <a:solidFill>
                    <a:srgbClr val="002960">
                      <a:alpha val="100000"/>
                    </a:srgbClr>
                  </a:solidFill>
                  <a:latin typeface="微软雅黑" panose="020B0503020204020204" charset="-122"/>
                  <a:ea typeface="微软雅黑" panose="020B0503020204020204" charset="-122"/>
                  <a:cs typeface="Arial" panose="020B0604020202020204"/>
                </a:rPr>
                <a:t>▪ </a:t>
              </a:r>
              <a:r>
                <a:rPr sz="1200" spc="-10" dirty="0">
                  <a:solidFill>
                    <a:srgbClr val="000000">
                      <a:alpha val="100000"/>
                    </a:srgbClr>
                  </a:solidFill>
                  <a:latin typeface="微软雅黑" panose="020B0503020204020204" charset="-122"/>
                  <a:ea typeface="微软雅黑" panose="020B0503020204020204" charset="-122"/>
                  <a:cs typeface="楷体" panose="02010609060101010101" charset="-122"/>
                </a:rPr>
                <a:t>使客户分类的清晰度和对营</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销策 </a:t>
              </a:r>
              <a:r>
                <a:rPr sz="1200" spc="-10" dirty="0">
                  <a:solidFill>
                    <a:srgbClr val="000000">
                      <a:alpha val="100000"/>
                    </a:srgbClr>
                  </a:solidFill>
                  <a:latin typeface="微软雅黑" panose="020B0503020204020204" charset="-122"/>
                  <a:ea typeface="微软雅黑" panose="020B0503020204020204" charset="-122"/>
                  <a:cs typeface="楷体" panose="02010609060101010101" charset="-122"/>
                </a:rPr>
                <a:t>略的指导价</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值最大化</a:t>
              </a:r>
              <a:endParaRPr lang="en-US" altLang="en-US" sz="1200" dirty="0">
                <a:latin typeface="微软雅黑" panose="020B0503020204020204" charset="-122"/>
                <a:ea typeface="微软雅黑" panose="020B0503020204020204" charset="-122"/>
              </a:endParaRPr>
            </a:p>
          </p:txBody>
        </p:sp>
        <p:pic>
          <p:nvPicPr>
            <p:cNvPr id="603" name="picture 603"/>
            <p:cNvPicPr>
              <a:picLocks noChangeAspect="1"/>
            </p:cNvPicPr>
            <p:nvPr/>
          </p:nvPicPr>
          <p:blipFill>
            <a:blip r:embed="rId2"/>
            <a:stretch>
              <a:fillRect/>
            </a:stretch>
          </p:blipFill>
          <p:spPr>
            <a:xfrm rot="21600000">
              <a:off x="137541" y="303777"/>
              <a:ext cx="44284" cy="117735"/>
            </a:xfrm>
            <a:prstGeom prst="rect">
              <a:avLst/>
            </a:prstGeom>
          </p:spPr>
        </p:pic>
      </p:grpSp>
      <p:grpSp>
        <p:nvGrpSpPr>
          <p:cNvPr id="116" name="group 116"/>
          <p:cNvGrpSpPr/>
          <p:nvPr/>
        </p:nvGrpSpPr>
        <p:grpSpPr>
          <a:xfrm rot="21600000">
            <a:off x="3488435" y="1409700"/>
            <a:ext cx="2154935" cy="3808476"/>
            <a:chOff x="0" y="0"/>
            <a:chExt cx="2154935" cy="3808476"/>
          </a:xfrm>
        </p:grpSpPr>
        <p:pic>
          <p:nvPicPr>
            <p:cNvPr id="604" name="picture 604"/>
            <p:cNvPicPr>
              <a:picLocks noChangeAspect="1"/>
            </p:cNvPicPr>
            <p:nvPr/>
          </p:nvPicPr>
          <p:blipFill>
            <a:blip r:embed="rId3"/>
            <a:stretch>
              <a:fillRect/>
            </a:stretch>
          </p:blipFill>
          <p:spPr>
            <a:xfrm rot="21600000">
              <a:off x="0" y="0"/>
              <a:ext cx="2154935" cy="3808476"/>
            </a:xfrm>
            <a:prstGeom prst="rect">
              <a:avLst/>
            </a:prstGeom>
          </p:spPr>
        </p:pic>
        <p:sp>
          <p:nvSpPr>
            <p:cNvPr id="605" name="textbox 605"/>
            <p:cNvSpPr/>
            <p:nvPr/>
          </p:nvSpPr>
          <p:spPr>
            <a:xfrm>
              <a:off x="-12700" y="-12700"/>
              <a:ext cx="2180589" cy="3856354"/>
            </a:xfrm>
            <a:prstGeom prst="rect">
              <a:avLst/>
            </a:prstGeom>
          </p:spPr>
          <p:txBody>
            <a:bodyPr vert="horz" wrap="square" lIns="0" tIns="0" rIns="0" bIns="0"/>
            <a:lstStyle/>
            <a:p>
              <a:pPr algn="l" rtl="0" eaLnBrk="0">
                <a:lnSpc>
                  <a:spcPct val="110000"/>
                </a:lnSpc>
              </a:pPr>
              <a:endParaRPr lang="en-US" altLang="en-US" sz="600" dirty="0">
                <a:latin typeface="微软雅黑" panose="020B0503020204020204" charset="-122"/>
                <a:ea typeface="微软雅黑" panose="020B0503020204020204" charset="-122"/>
              </a:endParaRPr>
            </a:p>
            <a:p>
              <a:pPr marL="109855" algn="l" rtl="0" eaLnBrk="0">
                <a:lnSpc>
                  <a:spcPct val="94000"/>
                </a:lnSpc>
                <a:spcBef>
                  <a:spcPts val="0"/>
                </a:spcBef>
              </a:pPr>
              <a:r>
                <a:rPr sz="1200" spc="-20" dirty="0">
                  <a:solidFill>
                    <a:srgbClr val="002960">
                      <a:alpha val="100000"/>
                    </a:srgbClr>
                  </a:solidFill>
                  <a:latin typeface="微软雅黑" panose="020B0503020204020204" charset="-122"/>
                  <a:ea typeface="微软雅黑" panose="020B0503020204020204" charset="-122"/>
                  <a:cs typeface="Arial" panose="020B0604020202020204"/>
                </a:rPr>
                <a:t>9</a:t>
              </a:r>
              <a:r>
                <a:rPr sz="1200" spc="-20" dirty="0">
                  <a:solidFill>
                    <a:srgbClr val="002960">
                      <a:alpha val="100000"/>
                    </a:srgbClr>
                  </a:solidFill>
                  <a:latin typeface="微软雅黑" panose="020B0503020204020204" charset="-122"/>
                  <a:ea typeface="微软雅黑" panose="020B0503020204020204" charset="-122"/>
                  <a:cs typeface="楷体" panose="02010609060101010101" charset="-122"/>
                </a:rPr>
                <a:t>个</a:t>
              </a:r>
              <a:r>
                <a:rPr sz="1200" spc="-10" dirty="0">
                  <a:solidFill>
                    <a:srgbClr val="002960">
                      <a:alpha val="100000"/>
                    </a:srgbClr>
                  </a:solidFill>
                  <a:latin typeface="微软雅黑" panose="020B0503020204020204" charset="-122"/>
                  <a:ea typeface="微软雅黑" panose="020B0503020204020204" charset="-122"/>
                  <a:cs typeface="楷体" panose="02010609060101010101" charset="-122"/>
                </a:rPr>
                <a:t>变</a:t>
              </a:r>
              <a:r>
                <a:rPr sz="1200" spc="0" dirty="0">
                  <a:solidFill>
                    <a:srgbClr val="002960">
                      <a:alpha val="100000"/>
                    </a:srgbClr>
                  </a:solidFill>
                  <a:latin typeface="微软雅黑" panose="020B0503020204020204" charset="-122"/>
                  <a:ea typeface="微软雅黑" panose="020B0503020204020204" charset="-122"/>
                  <a:cs typeface="楷体" panose="02010609060101010101" charset="-122"/>
                </a:rPr>
                <a:t>量</a:t>
              </a:r>
              <a:endParaRPr lang="en-US" altLang="en-US" sz="1200" dirty="0">
                <a:latin typeface="微软雅黑" panose="020B0503020204020204" charset="-122"/>
                <a:ea typeface="微软雅黑" panose="020B0503020204020204" charset="-122"/>
              </a:endParaRPr>
            </a:p>
            <a:p>
              <a:pPr marL="116205" algn="l" rtl="0" eaLnBrk="0">
                <a:lnSpc>
                  <a:spcPct val="100000"/>
                </a:lnSpc>
                <a:spcBef>
                  <a:spcPts val="450"/>
                </a:spcBef>
                <a:tabLst>
                  <a:tab pos="160020" algn="l"/>
                </a:tabLst>
              </a:pP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200" spc="-20" dirty="0">
                  <a:solidFill>
                    <a:srgbClr val="000000">
                      <a:alpha val="100000"/>
                    </a:srgbClr>
                  </a:solidFill>
                  <a:latin typeface="微软雅黑" panose="020B0503020204020204" charset="-122"/>
                  <a:ea typeface="微软雅黑" panose="020B0503020204020204" charset="-122"/>
                  <a:cs typeface="楷体" panose="02010609060101010101" charset="-122"/>
                </a:rPr>
                <a:t> 出苗率</a:t>
              </a:r>
              <a:r>
                <a:rPr sz="1200" spc="-20" dirty="0">
                  <a:solidFill>
                    <a:srgbClr val="000000">
                      <a:alpha val="100000"/>
                    </a:srgbClr>
                  </a:solidFill>
                  <a:latin typeface="微软雅黑" panose="020B0503020204020204" charset="-122"/>
                  <a:ea typeface="微软雅黑" panose="020B0503020204020204" charset="-122"/>
                  <a:cs typeface="Arial" panose="020B0604020202020204"/>
                </a:rPr>
                <a:t>/</a:t>
              </a:r>
              <a:r>
                <a:rPr sz="1200" spc="-20" dirty="0">
                  <a:solidFill>
                    <a:srgbClr val="000000">
                      <a:alpha val="100000"/>
                    </a:srgbClr>
                  </a:solidFill>
                  <a:latin typeface="微软雅黑" panose="020B0503020204020204" charset="-122"/>
                  <a:ea typeface="微软雅黑" panose="020B0503020204020204" charset="-122"/>
                  <a:cs typeface="楷体" panose="02010609060101010101" charset="-122"/>
                </a:rPr>
                <a:t>发芽</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率</a:t>
              </a:r>
              <a:endParaRPr lang="en-US" altLang="en-US" sz="1200" dirty="0">
                <a:latin typeface="微软雅黑" panose="020B0503020204020204" charset="-122"/>
                <a:ea typeface="微软雅黑" panose="020B0503020204020204" charset="-122"/>
              </a:endParaRPr>
            </a:p>
            <a:p>
              <a:pPr marL="116205" algn="l" rtl="0" eaLnBrk="0">
                <a:lnSpc>
                  <a:spcPct val="89000"/>
                </a:lnSpc>
                <a:spcBef>
                  <a:spcPts val="370"/>
                </a:spcBef>
                <a:tabLst>
                  <a:tab pos="160020" algn="l"/>
                </a:tabLst>
              </a:pP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200" spc="-20" dirty="0">
                  <a:solidFill>
                    <a:srgbClr val="000000">
                      <a:alpha val="100000"/>
                    </a:srgbClr>
                  </a:solidFill>
                  <a:latin typeface="微软雅黑" panose="020B0503020204020204" charset="-122"/>
                  <a:ea typeface="微软雅黑" panose="020B0503020204020204" charset="-122"/>
                  <a:cs typeface="楷体" panose="02010609060101010101" charset="-122"/>
                </a:rPr>
                <a:t> 结实率</a:t>
              </a:r>
              <a:r>
                <a:rPr sz="1200" spc="-20" dirty="0">
                  <a:solidFill>
                    <a:srgbClr val="000000">
                      <a:alpha val="100000"/>
                    </a:srgbClr>
                  </a:solidFill>
                  <a:latin typeface="微软雅黑" panose="020B0503020204020204" charset="-122"/>
                  <a:ea typeface="微软雅黑" panose="020B0503020204020204" charset="-122"/>
                  <a:cs typeface="Arial" panose="020B0604020202020204"/>
                </a:rPr>
                <a:t>/</a:t>
              </a:r>
              <a:r>
                <a:rPr sz="1200" spc="-20" dirty="0">
                  <a:solidFill>
                    <a:srgbClr val="000000">
                      <a:alpha val="100000"/>
                    </a:srgbClr>
                  </a:solidFill>
                  <a:latin typeface="微软雅黑" panose="020B0503020204020204" charset="-122"/>
                  <a:ea typeface="微软雅黑" panose="020B0503020204020204" charset="-122"/>
                  <a:cs typeface="楷体" panose="02010609060101010101" charset="-122"/>
                </a:rPr>
                <a:t>出籽</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率高</a:t>
              </a:r>
              <a:endParaRPr lang="en-US" altLang="en-US" sz="1200" dirty="0">
                <a:latin typeface="微软雅黑" panose="020B0503020204020204" charset="-122"/>
                <a:ea typeface="微软雅黑" panose="020B0503020204020204" charset="-122"/>
              </a:endParaRPr>
            </a:p>
            <a:p>
              <a:pPr marL="116205" algn="l" rtl="0" eaLnBrk="0">
                <a:lnSpc>
                  <a:spcPts val="1715"/>
                </a:lnSpc>
                <a:tabLst>
                  <a:tab pos="160020" algn="l"/>
                </a:tabLst>
              </a:pP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200" spc="-20" dirty="0">
                  <a:solidFill>
                    <a:srgbClr val="000000">
                      <a:alpha val="100000"/>
                    </a:srgbClr>
                  </a:solidFill>
                  <a:latin typeface="微软雅黑" panose="020B0503020204020204" charset="-122"/>
                  <a:ea typeface="微软雅黑" panose="020B0503020204020204" charset="-122"/>
                  <a:cs typeface="楷体" panose="02010609060101010101" charset="-122"/>
                </a:rPr>
                <a:t> 不同年份的</a:t>
              </a:r>
              <a:r>
                <a:rPr sz="1200" spc="-10" dirty="0">
                  <a:solidFill>
                    <a:srgbClr val="000000">
                      <a:alpha val="100000"/>
                    </a:srgbClr>
                  </a:solidFill>
                  <a:latin typeface="微软雅黑" panose="020B0503020204020204" charset="-122"/>
                  <a:ea typeface="微软雅黑" panose="020B0503020204020204" charset="-122"/>
                  <a:cs typeface="楷体" panose="02010609060101010101" charset="-122"/>
                </a:rPr>
                <a:t>产</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量稳定</a:t>
              </a:r>
              <a:endParaRPr lang="en-US" altLang="en-US" sz="1200" dirty="0">
                <a:latin typeface="微软雅黑" panose="020B0503020204020204" charset="-122"/>
                <a:ea typeface="微软雅黑" panose="020B0503020204020204" charset="-122"/>
              </a:endParaRPr>
            </a:p>
            <a:p>
              <a:pPr marL="116205" algn="l" rtl="0" eaLnBrk="0">
                <a:lnSpc>
                  <a:spcPts val="1800"/>
                </a:lnSpc>
                <a:tabLst>
                  <a:tab pos="160020" algn="l"/>
                </a:tabLst>
              </a:pP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200" spc="-40" dirty="0">
                  <a:solidFill>
                    <a:srgbClr val="000000">
                      <a:alpha val="100000"/>
                    </a:srgbClr>
                  </a:solidFill>
                  <a:latin typeface="微软雅黑" panose="020B0503020204020204" charset="-122"/>
                  <a:ea typeface="微软雅黑" panose="020B0503020204020204" charset="-122"/>
                  <a:cs typeface="楷体" panose="02010609060101010101" charset="-122"/>
                </a:rPr>
                <a:t> 抗虫</a:t>
              </a:r>
              <a:endParaRPr lang="en-US" altLang="en-US" sz="1200" dirty="0">
                <a:latin typeface="微软雅黑" panose="020B0503020204020204" charset="-122"/>
                <a:ea typeface="微软雅黑" panose="020B0503020204020204" charset="-122"/>
              </a:endParaRPr>
            </a:p>
            <a:p>
              <a:pPr marL="116205" algn="l" rtl="0" eaLnBrk="0">
                <a:lnSpc>
                  <a:spcPct val="94000"/>
                </a:lnSpc>
                <a:spcBef>
                  <a:spcPts val="600"/>
                </a:spcBef>
                <a:tabLst>
                  <a:tab pos="160020" algn="l"/>
                </a:tabLst>
              </a:pP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200" spc="-20" dirty="0">
                  <a:solidFill>
                    <a:srgbClr val="000000">
                      <a:alpha val="100000"/>
                    </a:srgbClr>
                  </a:solidFill>
                  <a:latin typeface="微软雅黑" panose="020B0503020204020204" charset="-122"/>
                  <a:ea typeface="微软雅黑" panose="020B0503020204020204" charset="-122"/>
                  <a:cs typeface="楷体" panose="02010609060101010101" charset="-122"/>
                </a:rPr>
                <a:t> 种子的外观</a:t>
              </a:r>
              <a:r>
                <a:rPr sz="1200" spc="-10" dirty="0">
                  <a:solidFill>
                    <a:srgbClr val="000000">
                      <a:alpha val="100000"/>
                    </a:srgbClr>
                  </a:solidFill>
                  <a:latin typeface="微软雅黑" panose="020B0503020204020204" charset="-122"/>
                  <a:ea typeface="微软雅黑" panose="020B0503020204020204" charset="-122"/>
                  <a:cs typeface="楷体" panose="02010609060101010101" charset="-122"/>
                </a:rPr>
                <a:t>好</a:t>
              </a:r>
              <a:endParaRPr lang="en-US" altLang="en-US" sz="1200" dirty="0">
                <a:latin typeface="微软雅黑" panose="020B0503020204020204" charset="-122"/>
                <a:ea typeface="微软雅黑" panose="020B0503020204020204" charset="-122"/>
              </a:endParaRPr>
            </a:p>
            <a:p>
              <a:pPr marL="116205" algn="l" rtl="0" eaLnBrk="0">
                <a:lnSpc>
                  <a:spcPct val="96000"/>
                </a:lnSpc>
                <a:spcBef>
                  <a:spcPts val="445"/>
                </a:spcBef>
                <a:tabLst>
                  <a:tab pos="160020" algn="l"/>
                </a:tabLst>
              </a:pP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200" spc="-40" dirty="0">
                  <a:solidFill>
                    <a:srgbClr val="000000">
                      <a:alpha val="100000"/>
                    </a:srgbClr>
                  </a:solidFill>
                  <a:latin typeface="微软雅黑" panose="020B0503020204020204" charset="-122"/>
                  <a:ea typeface="微软雅黑" panose="020B0503020204020204" charset="-122"/>
                  <a:cs typeface="楷体" panose="02010609060101010101" charset="-122"/>
                </a:rPr>
                <a:t> 硬粒</a:t>
              </a:r>
              <a:r>
                <a:rPr sz="1200" spc="-20" dirty="0">
                  <a:solidFill>
                    <a:srgbClr val="000000">
                      <a:alpha val="100000"/>
                    </a:srgbClr>
                  </a:solidFill>
                  <a:latin typeface="微软雅黑" panose="020B0503020204020204" charset="-122"/>
                  <a:ea typeface="微软雅黑" panose="020B0503020204020204" charset="-122"/>
                  <a:cs typeface="楷体" panose="02010609060101010101" charset="-122"/>
                </a:rPr>
                <a:t>性</a:t>
              </a:r>
              <a:endParaRPr lang="en-US" altLang="en-US" sz="1200" dirty="0">
                <a:latin typeface="微软雅黑" panose="020B0503020204020204" charset="-122"/>
                <a:ea typeface="微软雅黑" panose="020B0503020204020204" charset="-122"/>
              </a:endParaRPr>
            </a:p>
            <a:p>
              <a:pPr marL="116205" algn="l" rtl="0" eaLnBrk="0">
                <a:lnSpc>
                  <a:spcPct val="95000"/>
                </a:lnSpc>
                <a:spcBef>
                  <a:spcPts val="415"/>
                </a:spcBef>
                <a:tabLst>
                  <a:tab pos="160020" algn="l"/>
                </a:tabLst>
              </a:pP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200" spc="-20" dirty="0">
                  <a:solidFill>
                    <a:srgbClr val="000000">
                      <a:alpha val="100000"/>
                    </a:srgbClr>
                  </a:solidFill>
                  <a:latin typeface="微软雅黑" panose="020B0503020204020204" charset="-122"/>
                  <a:ea typeface="微软雅黑" panose="020B0503020204020204" charset="-122"/>
                  <a:cs typeface="楷体" panose="02010609060101010101" charset="-122"/>
                </a:rPr>
                <a:t> 包衣的种子</a:t>
              </a:r>
              <a:endParaRPr lang="en-US" altLang="en-US" sz="1200" dirty="0">
                <a:latin typeface="微软雅黑" panose="020B0503020204020204" charset="-122"/>
                <a:ea typeface="微软雅黑" panose="020B0503020204020204" charset="-122"/>
              </a:endParaRPr>
            </a:p>
            <a:p>
              <a:pPr marL="116205" algn="l" rtl="0" eaLnBrk="0">
                <a:lnSpc>
                  <a:spcPct val="83000"/>
                </a:lnSpc>
                <a:spcBef>
                  <a:spcPts val="445"/>
                </a:spcBef>
                <a:tabLst>
                  <a:tab pos="160020" algn="l"/>
                </a:tabLst>
              </a:pP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200" spc="-20" dirty="0">
                  <a:solidFill>
                    <a:srgbClr val="000000">
                      <a:alpha val="100000"/>
                    </a:srgbClr>
                  </a:solidFill>
                  <a:latin typeface="微软雅黑" panose="020B0503020204020204" charset="-122"/>
                  <a:ea typeface="微软雅黑" panose="020B0503020204020204" charset="-122"/>
                  <a:cs typeface="楷体" panose="02010609060101010101" charset="-122"/>
                </a:rPr>
                <a:t> 玉米能卖好</a:t>
              </a:r>
              <a:r>
                <a:rPr sz="1200" spc="-10" dirty="0">
                  <a:solidFill>
                    <a:srgbClr val="000000">
                      <a:alpha val="100000"/>
                    </a:srgbClr>
                  </a:solidFill>
                  <a:latin typeface="微软雅黑" panose="020B0503020204020204" charset="-122"/>
                  <a:ea typeface="微软雅黑" panose="020B0503020204020204" charset="-122"/>
                  <a:cs typeface="楷体" panose="02010609060101010101" charset="-122"/>
                </a:rPr>
                <a:t>价</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钱</a:t>
              </a:r>
              <a:endParaRPr lang="en-US" altLang="en-US" sz="1200" dirty="0">
                <a:latin typeface="微软雅黑" panose="020B0503020204020204" charset="-122"/>
                <a:ea typeface="微软雅黑" panose="020B0503020204020204" charset="-122"/>
              </a:endParaRPr>
            </a:p>
            <a:p>
              <a:pPr marL="116205" algn="l" rtl="0" eaLnBrk="0">
                <a:lnSpc>
                  <a:spcPts val="1800"/>
                </a:lnSpc>
                <a:tabLst>
                  <a:tab pos="160020" algn="l"/>
                </a:tabLst>
              </a:pP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200" spc="-20" dirty="0">
                  <a:solidFill>
                    <a:srgbClr val="000000">
                      <a:alpha val="100000"/>
                    </a:srgbClr>
                  </a:solidFill>
                  <a:latin typeface="微软雅黑" panose="020B0503020204020204" charset="-122"/>
                  <a:ea typeface="微软雅黑" panose="020B0503020204020204" charset="-122"/>
                  <a:cs typeface="楷体" panose="02010609060101010101" charset="-122"/>
                </a:rPr>
                <a:t> 玉米种子价</a:t>
              </a:r>
              <a:r>
                <a:rPr sz="1200" spc="-10" dirty="0">
                  <a:solidFill>
                    <a:srgbClr val="000000">
                      <a:alpha val="100000"/>
                    </a:srgbClr>
                  </a:solidFill>
                  <a:latin typeface="微软雅黑" panose="020B0503020204020204" charset="-122"/>
                  <a:ea typeface="微软雅黑" panose="020B0503020204020204" charset="-122"/>
                  <a:cs typeface="楷体" panose="02010609060101010101" charset="-122"/>
                </a:rPr>
                <a:t>格</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合理</a:t>
              </a:r>
              <a:endParaRPr lang="en-US" altLang="en-US" sz="1200" dirty="0">
                <a:latin typeface="微软雅黑" panose="020B0503020204020204" charset="-122"/>
                <a:ea typeface="微软雅黑" panose="020B0503020204020204" charset="-122"/>
              </a:endParaRPr>
            </a:p>
            <a:p>
              <a:pPr algn="l" rtl="0" eaLnBrk="0">
                <a:lnSpc>
                  <a:spcPct val="170000"/>
                </a:lnSpc>
              </a:pPr>
              <a:endParaRPr lang="en-US" altLang="en-US" sz="1000" dirty="0">
                <a:latin typeface="微软雅黑" panose="020B0503020204020204" charset="-122"/>
                <a:ea typeface="微软雅黑" panose="020B0503020204020204" charset="-122"/>
              </a:endParaRPr>
            </a:p>
            <a:p>
              <a:pPr marL="109855" algn="l" rtl="0" eaLnBrk="0">
                <a:lnSpc>
                  <a:spcPct val="83000"/>
                </a:lnSpc>
                <a:spcBef>
                  <a:spcPts val="365"/>
                </a:spcBef>
              </a:pPr>
              <a:r>
                <a:rPr sz="1200" spc="-10" dirty="0">
                  <a:solidFill>
                    <a:srgbClr val="000000">
                      <a:alpha val="100000"/>
                    </a:srgbClr>
                  </a:solidFill>
                  <a:latin typeface="微软雅黑" panose="020B0503020204020204" charset="-122"/>
                  <a:ea typeface="微软雅黑" panose="020B0503020204020204" charset="-122"/>
                  <a:cs typeface="Arial" panose="020B0604020202020204"/>
                </a:rPr>
                <a:t>3</a:t>
              </a:r>
              <a:r>
                <a:rPr sz="1200" spc="-10" dirty="0">
                  <a:solidFill>
                    <a:srgbClr val="000000">
                      <a:alpha val="100000"/>
                    </a:srgbClr>
                  </a:solidFill>
                  <a:latin typeface="微软雅黑" panose="020B0503020204020204" charset="-122"/>
                  <a:ea typeface="微软雅黑" panose="020B0503020204020204" charset="-122"/>
                  <a:cs typeface="楷体" panose="02010609060101010101" charset="-122"/>
                </a:rPr>
                <a:t>个协变量</a:t>
              </a:r>
              <a:endParaRPr lang="en-US" altLang="en-US" sz="1200" dirty="0">
                <a:latin typeface="微软雅黑" panose="020B0503020204020204" charset="-122"/>
                <a:ea typeface="微软雅黑" panose="020B0503020204020204" charset="-122"/>
              </a:endParaRPr>
            </a:p>
            <a:p>
              <a:pPr marL="116205" algn="l" rtl="0" eaLnBrk="0">
                <a:lnSpc>
                  <a:spcPts val="1800"/>
                </a:lnSpc>
                <a:tabLst>
                  <a:tab pos="160020" algn="l"/>
                </a:tabLst>
              </a:pP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200" spc="-30" dirty="0">
                  <a:solidFill>
                    <a:srgbClr val="000000">
                      <a:alpha val="100000"/>
                    </a:srgbClr>
                  </a:solidFill>
                  <a:latin typeface="微软雅黑" panose="020B0503020204020204" charset="-122"/>
                  <a:ea typeface="微软雅黑" panose="020B0503020204020204" charset="-122"/>
                  <a:cs typeface="楷体" panose="02010609060101010101" charset="-122"/>
                </a:rPr>
                <a:t> 品牌</a:t>
              </a:r>
              <a:endParaRPr lang="en-US" altLang="en-US" sz="1200" dirty="0">
                <a:latin typeface="微软雅黑" panose="020B0503020204020204" charset="-122"/>
                <a:ea typeface="微软雅黑" panose="020B0503020204020204" charset="-122"/>
              </a:endParaRPr>
            </a:p>
            <a:p>
              <a:pPr marL="116205" algn="l" rtl="0" eaLnBrk="0">
                <a:lnSpc>
                  <a:spcPts val="1800"/>
                </a:lnSpc>
                <a:tabLst>
                  <a:tab pos="160020" algn="l"/>
                </a:tabLst>
              </a:pP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200" spc="-30" dirty="0">
                  <a:solidFill>
                    <a:srgbClr val="000000">
                      <a:alpha val="100000"/>
                    </a:srgbClr>
                  </a:solidFill>
                  <a:latin typeface="微软雅黑" panose="020B0503020204020204" charset="-122"/>
                  <a:ea typeface="微软雅黑" panose="020B0503020204020204" charset="-122"/>
                  <a:cs typeface="楷体" panose="02010609060101010101" charset="-122"/>
                </a:rPr>
                <a:t> 用</a:t>
              </a:r>
              <a:r>
                <a:rPr sz="1200" spc="-10" dirty="0">
                  <a:solidFill>
                    <a:srgbClr val="000000">
                      <a:alpha val="100000"/>
                    </a:srgbClr>
                  </a:solidFill>
                  <a:latin typeface="微软雅黑" panose="020B0503020204020204" charset="-122"/>
                  <a:ea typeface="微软雅黑" panose="020B0503020204020204" charset="-122"/>
                  <a:cs typeface="楷体" panose="02010609060101010101" charset="-122"/>
                </a:rPr>
                <a:t>法</a:t>
              </a:r>
              <a:endParaRPr lang="en-US" altLang="en-US" sz="1200" dirty="0">
                <a:latin typeface="微软雅黑" panose="020B0503020204020204" charset="-122"/>
                <a:ea typeface="微软雅黑" panose="020B0503020204020204" charset="-122"/>
              </a:endParaRPr>
            </a:p>
            <a:p>
              <a:pPr algn="l" rtl="0" eaLnBrk="0">
                <a:lnSpc>
                  <a:spcPct val="123000"/>
                </a:lnSpc>
              </a:pPr>
              <a:endParaRPr lang="en-US" altLang="en-US" sz="400" dirty="0">
                <a:latin typeface="微软雅黑" panose="020B0503020204020204" charset="-122"/>
                <a:ea typeface="微软雅黑" panose="020B0503020204020204" charset="-122"/>
              </a:endParaRPr>
            </a:p>
            <a:p>
              <a:pPr marL="116205" algn="l" rtl="0" eaLnBrk="0">
                <a:lnSpc>
                  <a:spcPct val="96000"/>
                </a:lnSpc>
                <a:spcBef>
                  <a:spcPts val="5"/>
                </a:spcBef>
                <a:tabLst>
                  <a:tab pos="160020" algn="l"/>
                </a:tabLst>
              </a:pP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200" spc="-20" dirty="0">
                  <a:solidFill>
                    <a:srgbClr val="000000">
                      <a:alpha val="100000"/>
                    </a:srgbClr>
                  </a:solidFill>
                  <a:latin typeface="微软雅黑" panose="020B0503020204020204" charset="-122"/>
                  <a:ea typeface="微软雅黑" panose="020B0503020204020204" charset="-122"/>
                  <a:cs typeface="楷体" panose="02010609060101010101" charset="-122"/>
                </a:rPr>
                <a:t> 玉米地大小</a:t>
              </a:r>
              <a:endParaRPr lang="en-US" altLang="en-US" sz="1200" dirty="0">
                <a:latin typeface="微软雅黑" panose="020B0503020204020204" charset="-122"/>
                <a:ea typeface="微软雅黑" panose="020B0503020204020204" charset="-122"/>
              </a:endParaRPr>
            </a:p>
          </p:txBody>
        </p:sp>
        <p:pic>
          <p:nvPicPr>
            <p:cNvPr id="606" name="picture 606"/>
            <p:cNvPicPr>
              <a:picLocks noChangeAspect="1"/>
            </p:cNvPicPr>
            <p:nvPr/>
          </p:nvPicPr>
          <p:blipFill>
            <a:blip r:embed="rId4"/>
            <a:stretch>
              <a:fillRect/>
            </a:stretch>
          </p:blipFill>
          <p:spPr>
            <a:xfrm rot="21600000">
              <a:off x="103352" y="3303625"/>
              <a:ext cx="44196" cy="117500"/>
            </a:xfrm>
            <a:prstGeom prst="rect">
              <a:avLst/>
            </a:prstGeom>
          </p:spPr>
        </p:pic>
        <p:pic>
          <p:nvPicPr>
            <p:cNvPr id="607" name="picture 607"/>
            <p:cNvPicPr>
              <a:picLocks noChangeAspect="1"/>
            </p:cNvPicPr>
            <p:nvPr/>
          </p:nvPicPr>
          <p:blipFill>
            <a:blip r:embed="rId4"/>
            <a:stretch>
              <a:fillRect/>
            </a:stretch>
          </p:blipFill>
          <p:spPr>
            <a:xfrm rot="21600000">
              <a:off x="103352" y="3075025"/>
              <a:ext cx="44196" cy="117500"/>
            </a:xfrm>
            <a:prstGeom prst="rect">
              <a:avLst/>
            </a:prstGeom>
          </p:spPr>
        </p:pic>
        <p:pic>
          <p:nvPicPr>
            <p:cNvPr id="608" name="picture 608"/>
            <p:cNvPicPr>
              <a:picLocks noChangeAspect="1"/>
            </p:cNvPicPr>
            <p:nvPr/>
          </p:nvPicPr>
          <p:blipFill>
            <a:blip r:embed="rId5"/>
            <a:stretch>
              <a:fillRect/>
            </a:stretch>
          </p:blipFill>
          <p:spPr>
            <a:xfrm rot="21600000">
              <a:off x="103378" y="2845809"/>
              <a:ext cx="44284" cy="117735"/>
            </a:xfrm>
            <a:prstGeom prst="rect">
              <a:avLst/>
            </a:prstGeom>
          </p:spPr>
        </p:pic>
        <p:pic>
          <p:nvPicPr>
            <p:cNvPr id="609" name="picture 609"/>
            <p:cNvPicPr>
              <a:picLocks noChangeAspect="1"/>
            </p:cNvPicPr>
            <p:nvPr/>
          </p:nvPicPr>
          <p:blipFill>
            <a:blip r:embed="rId4"/>
            <a:stretch>
              <a:fillRect/>
            </a:stretch>
          </p:blipFill>
          <p:spPr>
            <a:xfrm rot="21600000">
              <a:off x="103352" y="2160244"/>
              <a:ext cx="44196" cy="117500"/>
            </a:xfrm>
            <a:prstGeom prst="rect">
              <a:avLst/>
            </a:prstGeom>
          </p:spPr>
        </p:pic>
        <p:pic>
          <p:nvPicPr>
            <p:cNvPr id="610" name="picture 610"/>
            <p:cNvPicPr>
              <a:picLocks noChangeAspect="1"/>
            </p:cNvPicPr>
            <p:nvPr/>
          </p:nvPicPr>
          <p:blipFill>
            <a:blip r:embed="rId4"/>
            <a:stretch>
              <a:fillRect/>
            </a:stretch>
          </p:blipFill>
          <p:spPr>
            <a:xfrm rot="21600000">
              <a:off x="103352" y="1931644"/>
              <a:ext cx="44196" cy="117500"/>
            </a:xfrm>
            <a:prstGeom prst="rect">
              <a:avLst/>
            </a:prstGeom>
          </p:spPr>
        </p:pic>
        <p:pic>
          <p:nvPicPr>
            <p:cNvPr id="611" name="picture 611"/>
            <p:cNvPicPr>
              <a:picLocks noChangeAspect="1"/>
            </p:cNvPicPr>
            <p:nvPr/>
          </p:nvPicPr>
          <p:blipFill>
            <a:blip r:embed="rId5"/>
            <a:stretch>
              <a:fillRect/>
            </a:stretch>
          </p:blipFill>
          <p:spPr>
            <a:xfrm rot="21600000">
              <a:off x="103378" y="1702555"/>
              <a:ext cx="44284" cy="117735"/>
            </a:xfrm>
            <a:prstGeom prst="rect">
              <a:avLst/>
            </a:prstGeom>
          </p:spPr>
        </p:pic>
        <p:pic>
          <p:nvPicPr>
            <p:cNvPr id="612" name="picture 612"/>
            <p:cNvPicPr>
              <a:picLocks noChangeAspect="1"/>
            </p:cNvPicPr>
            <p:nvPr/>
          </p:nvPicPr>
          <p:blipFill>
            <a:blip r:embed="rId4"/>
            <a:stretch>
              <a:fillRect/>
            </a:stretch>
          </p:blipFill>
          <p:spPr>
            <a:xfrm rot="21600000">
              <a:off x="103352" y="1474190"/>
              <a:ext cx="44196" cy="117500"/>
            </a:xfrm>
            <a:prstGeom prst="rect">
              <a:avLst/>
            </a:prstGeom>
          </p:spPr>
        </p:pic>
        <p:pic>
          <p:nvPicPr>
            <p:cNvPr id="613" name="picture 613"/>
            <p:cNvPicPr>
              <a:picLocks noChangeAspect="1"/>
            </p:cNvPicPr>
            <p:nvPr/>
          </p:nvPicPr>
          <p:blipFill>
            <a:blip r:embed="rId4"/>
            <a:stretch>
              <a:fillRect/>
            </a:stretch>
          </p:blipFill>
          <p:spPr>
            <a:xfrm rot="21600000">
              <a:off x="103352" y="1245590"/>
              <a:ext cx="44196" cy="117500"/>
            </a:xfrm>
            <a:prstGeom prst="rect">
              <a:avLst/>
            </a:prstGeom>
          </p:spPr>
        </p:pic>
        <p:pic>
          <p:nvPicPr>
            <p:cNvPr id="614" name="picture 614"/>
            <p:cNvPicPr>
              <a:picLocks noChangeAspect="1"/>
            </p:cNvPicPr>
            <p:nvPr/>
          </p:nvPicPr>
          <p:blipFill>
            <a:blip r:embed="rId4"/>
            <a:stretch>
              <a:fillRect/>
            </a:stretch>
          </p:blipFill>
          <p:spPr>
            <a:xfrm rot="21600000">
              <a:off x="103352" y="1016990"/>
              <a:ext cx="44196" cy="117500"/>
            </a:xfrm>
            <a:prstGeom prst="rect">
              <a:avLst/>
            </a:prstGeom>
          </p:spPr>
        </p:pic>
        <p:pic>
          <p:nvPicPr>
            <p:cNvPr id="615" name="picture 615"/>
            <p:cNvPicPr>
              <a:picLocks noChangeAspect="1"/>
            </p:cNvPicPr>
            <p:nvPr/>
          </p:nvPicPr>
          <p:blipFill>
            <a:blip r:embed="rId4"/>
            <a:stretch>
              <a:fillRect/>
            </a:stretch>
          </p:blipFill>
          <p:spPr>
            <a:xfrm rot="21600000">
              <a:off x="103352" y="788390"/>
              <a:ext cx="44196" cy="117500"/>
            </a:xfrm>
            <a:prstGeom prst="rect">
              <a:avLst/>
            </a:prstGeom>
          </p:spPr>
        </p:pic>
        <p:pic>
          <p:nvPicPr>
            <p:cNvPr id="616" name="picture 616"/>
            <p:cNvPicPr>
              <a:picLocks noChangeAspect="1"/>
            </p:cNvPicPr>
            <p:nvPr/>
          </p:nvPicPr>
          <p:blipFill>
            <a:blip r:embed="rId4"/>
            <a:stretch>
              <a:fillRect/>
            </a:stretch>
          </p:blipFill>
          <p:spPr>
            <a:xfrm rot="21600000">
              <a:off x="103352" y="559790"/>
              <a:ext cx="44196" cy="117500"/>
            </a:xfrm>
            <a:prstGeom prst="rect">
              <a:avLst/>
            </a:prstGeom>
          </p:spPr>
        </p:pic>
        <p:pic>
          <p:nvPicPr>
            <p:cNvPr id="617" name="picture 617"/>
            <p:cNvPicPr>
              <a:picLocks noChangeAspect="1"/>
            </p:cNvPicPr>
            <p:nvPr/>
          </p:nvPicPr>
          <p:blipFill>
            <a:blip r:embed="rId6"/>
            <a:stretch>
              <a:fillRect/>
            </a:stretch>
          </p:blipFill>
          <p:spPr>
            <a:xfrm rot="21600000">
              <a:off x="103352" y="330809"/>
              <a:ext cx="44196" cy="117500"/>
            </a:xfrm>
            <a:prstGeom prst="rect">
              <a:avLst/>
            </a:prstGeom>
          </p:spPr>
        </p:pic>
      </p:grpSp>
      <p:grpSp>
        <p:nvGrpSpPr>
          <p:cNvPr id="118" name="group 118"/>
          <p:cNvGrpSpPr/>
          <p:nvPr/>
        </p:nvGrpSpPr>
        <p:grpSpPr>
          <a:xfrm rot="21600000">
            <a:off x="169164" y="3645408"/>
            <a:ext cx="2334767" cy="2863596"/>
            <a:chOff x="0" y="0"/>
            <a:chExt cx="2334767" cy="2863596"/>
          </a:xfrm>
        </p:grpSpPr>
        <p:pic>
          <p:nvPicPr>
            <p:cNvPr id="618" name="picture 618"/>
            <p:cNvPicPr>
              <a:picLocks noChangeAspect="1"/>
            </p:cNvPicPr>
            <p:nvPr/>
          </p:nvPicPr>
          <p:blipFill>
            <a:blip r:embed="rId7"/>
            <a:stretch>
              <a:fillRect/>
            </a:stretch>
          </p:blipFill>
          <p:spPr>
            <a:xfrm rot="21600000">
              <a:off x="0" y="0"/>
              <a:ext cx="2334767" cy="2863596"/>
            </a:xfrm>
            <a:prstGeom prst="rect">
              <a:avLst/>
            </a:prstGeom>
          </p:spPr>
        </p:pic>
        <p:sp>
          <p:nvSpPr>
            <p:cNvPr id="619" name="textbox 619"/>
            <p:cNvSpPr/>
            <p:nvPr/>
          </p:nvSpPr>
          <p:spPr>
            <a:xfrm>
              <a:off x="-12700" y="-12700"/>
              <a:ext cx="2360295" cy="2908935"/>
            </a:xfrm>
            <a:prstGeom prst="rect">
              <a:avLst/>
            </a:prstGeom>
          </p:spPr>
          <p:txBody>
            <a:bodyPr vert="horz" wrap="square" lIns="0" tIns="0" rIns="0" bIns="0"/>
            <a:lstStyle/>
            <a:p>
              <a:pPr algn="l" rtl="0" eaLnBrk="0">
                <a:lnSpc>
                  <a:spcPct val="115000"/>
                </a:lnSpc>
              </a:pPr>
              <a:endParaRPr lang="en-US" altLang="en-US" sz="500" dirty="0">
                <a:latin typeface="微软雅黑" panose="020B0503020204020204" charset="-122"/>
                <a:ea typeface="微软雅黑" panose="020B0503020204020204" charset="-122"/>
              </a:endParaRPr>
            </a:p>
            <a:p>
              <a:pPr marL="92710" algn="l" rtl="0" eaLnBrk="0">
                <a:lnSpc>
                  <a:spcPct val="93000"/>
                </a:lnSpc>
                <a:spcBef>
                  <a:spcPts val="5"/>
                </a:spcBef>
              </a:pPr>
              <a:r>
                <a:rPr sz="1200" spc="-10" dirty="0">
                  <a:ln w="4354" cap="flat" cmpd="sng">
                    <a:solidFill>
                      <a:srgbClr val="002960">
                        <a:alpha val="100000"/>
                      </a:srgbClr>
                    </a:solidFill>
                    <a:prstDash val="solid"/>
                    <a:miter lim="10"/>
                  </a:ln>
                  <a:solidFill>
                    <a:srgbClr val="002960">
                      <a:alpha val="100000"/>
                    </a:srgbClr>
                  </a:solidFill>
                  <a:latin typeface="微软雅黑" panose="020B0503020204020204" charset="-122"/>
                  <a:ea typeface="微软雅黑" panose="020B0503020204020204" charset="-122"/>
                  <a:cs typeface="楷体" panose="02010609060101010101" charset="-122"/>
                </a:rPr>
                <a:t>两种不同玉米品种的相关性</a:t>
              </a:r>
              <a:r>
                <a:rPr sz="1200" spc="0" dirty="0">
                  <a:ln w="4354" cap="flat" cmpd="sng">
                    <a:solidFill>
                      <a:srgbClr val="002960">
                        <a:alpha val="100000"/>
                      </a:srgbClr>
                    </a:solidFill>
                    <a:prstDash val="solid"/>
                    <a:miter lim="10"/>
                  </a:ln>
                  <a:solidFill>
                    <a:srgbClr val="002960">
                      <a:alpha val="100000"/>
                    </a:srgbClr>
                  </a:solidFill>
                  <a:latin typeface="微软雅黑" panose="020B0503020204020204" charset="-122"/>
                  <a:ea typeface="微软雅黑" panose="020B0503020204020204" charset="-122"/>
                  <a:cs typeface="楷体" panose="02010609060101010101" charset="-122"/>
                </a:rPr>
                <a:t>分析</a:t>
              </a:r>
              <a:endParaRPr lang="en-US" altLang="en-US" sz="1200" dirty="0">
                <a:latin typeface="微软雅黑" panose="020B0503020204020204" charset="-122"/>
                <a:ea typeface="微软雅黑" panose="020B0503020204020204" charset="-122"/>
              </a:endParaRPr>
            </a:p>
            <a:p>
              <a:pPr marL="127635" algn="l" rtl="0" eaLnBrk="0">
                <a:lnSpc>
                  <a:spcPct val="95000"/>
                </a:lnSpc>
                <a:spcBef>
                  <a:spcPts val="325"/>
                </a:spcBef>
                <a:tabLst>
                  <a:tab pos="172085" algn="l"/>
                </a:tabLst>
              </a:pP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200" spc="-20" dirty="0">
                  <a:solidFill>
                    <a:srgbClr val="000000">
                      <a:alpha val="100000"/>
                    </a:srgbClr>
                  </a:solidFill>
                  <a:latin typeface="微软雅黑" panose="020B0503020204020204" charset="-122"/>
                  <a:ea typeface="微软雅黑" panose="020B0503020204020204" charset="-122"/>
                  <a:cs typeface="楷体" panose="02010609060101010101" charset="-122"/>
                </a:rPr>
                <a:t> 用户认知度和</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使用情况</a:t>
              </a:r>
              <a:endParaRPr lang="en-US" altLang="en-US" sz="1200" dirty="0">
                <a:latin typeface="微软雅黑" panose="020B0503020204020204" charset="-122"/>
                <a:ea typeface="微软雅黑" panose="020B0503020204020204" charset="-122"/>
              </a:endParaRPr>
            </a:p>
            <a:p>
              <a:pPr marL="234950" indent="-107315" algn="l" rtl="0" eaLnBrk="0">
                <a:lnSpc>
                  <a:spcPct val="109000"/>
                </a:lnSpc>
                <a:spcBef>
                  <a:spcPts val="170"/>
                </a:spcBef>
                <a:tabLst>
                  <a:tab pos="172085" algn="l"/>
                </a:tabLst>
              </a:pP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200" spc="-10" dirty="0">
                  <a:solidFill>
                    <a:srgbClr val="000000">
                      <a:alpha val="100000"/>
                    </a:srgbClr>
                  </a:solidFill>
                  <a:latin typeface="微软雅黑" panose="020B0503020204020204" charset="-122"/>
                  <a:ea typeface="微软雅黑" panose="020B0503020204020204" charset="-122"/>
                  <a:cs typeface="楷体" panose="02010609060101010101" charset="-122"/>
                </a:rPr>
                <a:t> 利用当前和未来种植户进行最</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200" spc="-10" dirty="0">
                  <a:solidFill>
                    <a:srgbClr val="000000">
                      <a:alpha val="100000"/>
                    </a:srgbClr>
                  </a:solidFill>
                  <a:latin typeface="微软雅黑" panose="020B0503020204020204" charset="-122"/>
                  <a:ea typeface="微软雅黑" panose="020B0503020204020204" charset="-122"/>
                  <a:cs typeface="楷体" panose="02010609060101010101" charset="-122"/>
                </a:rPr>
                <a:t>后一轮的</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检查分析</a:t>
              </a:r>
              <a:endParaRPr lang="en-US" altLang="en-US" sz="1200" dirty="0">
                <a:latin typeface="微软雅黑" panose="020B0503020204020204" charset="-122"/>
                <a:ea typeface="微软雅黑" panose="020B0503020204020204" charset="-122"/>
              </a:endParaRPr>
            </a:p>
          </p:txBody>
        </p:sp>
        <p:pic>
          <p:nvPicPr>
            <p:cNvPr id="620" name="picture 620"/>
            <p:cNvPicPr>
              <a:picLocks noChangeAspect="1"/>
            </p:cNvPicPr>
            <p:nvPr/>
          </p:nvPicPr>
          <p:blipFill>
            <a:blip r:embed="rId8"/>
            <a:stretch>
              <a:fillRect/>
            </a:stretch>
          </p:blipFill>
          <p:spPr>
            <a:xfrm rot="21600000">
              <a:off x="115214" y="529564"/>
              <a:ext cx="44195" cy="117500"/>
            </a:xfrm>
            <a:prstGeom prst="rect">
              <a:avLst/>
            </a:prstGeom>
          </p:spPr>
        </p:pic>
        <p:pic>
          <p:nvPicPr>
            <p:cNvPr id="621" name="picture 621"/>
            <p:cNvPicPr>
              <a:picLocks noChangeAspect="1"/>
            </p:cNvPicPr>
            <p:nvPr/>
          </p:nvPicPr>
          <p:blipFill>
            <a:blip r:embed="rId8"/>
            <a:stretch>
              <a:fillRect/>
            </a:stretch>
          </p:blipFill>
          <p:spPr>
            <a:xfrm rot="21600000">
              <a:off x="115214" y="300964"/>
              <a:ext cx="44195" cy="117500"/>
            </a:xfrm>
            <a:prstGeom prst="rect">
              <a:avLst/>
            </a:prstGeom>
          </p:spPr>
        </p:pic>
      </p:grpSp>
      <p:grpSp>
        <p:nvGrpSpPr>
          <p:cNvPr id="120" name="group 120"/>
          <p:cNvGrpSpPr/>
          <p:nvPr/>
        </p:nvGrpSpPr>
        <p:grpSpPr>
          <a:xfrm rot="21600000">
            <a:off x="169164" y="1397508"/>
            <a:ext cx="2334767" cy="1994915"/>
            <a:chOff x="0" y="0"/>
            <a:chExt cx="2334767" cy="1994915"/>
          </a:xfrm>
        </p:grpSpPr>
        <p:pic>
          <p:nvPicPr>
            <p:cNvPr id="622" name="picture 622"/>
            <p:cNvPicPr>
              <a:picLocks noChangeAspect="1"/>
            </p:cNvPicPr>
            <p:nvPr/>
          </p:nvPicPr>
          <p:blipFill>
            <a:blip r:embed="rId9"/>
            <a:stretch>
              <a:fillRect/>
            </a:stretch>
          </p:blipFill>
          <p:spPr>
            <a:xfrm rot="21600000">
              <a:off x="0" y="0"/>
              <a:ext cx="2334767" cy="1994915"/>
            </a:xfrm>
            <a:prstGeom prst="rect">
              <a:avLst/>
            </a:prstGeom>
          </p:spPr>
        </p:pic>
        <p:sp>
          <p:nvSpPr>
            <p:cNvPr id="623" name="textbox 623"/>
            <p:cNvSpPr/>
            <p:nvPr/>
          </p:nvSpPr>
          <p:spPr>
            <a:xfrm>
              <a:off x="-12700" y="-12700"/>
              <a:ext cx="2360295" cy="2040254"/>
            </a:xfrm>
            <a:prstGeom prst="rect">
              <a:avLst/>
            </a:prstGeom>
          </p:spPr>
          <p:txBody>
            <a:bodyPr vert="horz" wrap="square" lIns="0" tIns="0" rIns="0" bIns="0"/>
            <a:lstStyle/>
            <a:p>
              <a:pPr algn="l" rtl="0" eaLnBrk="0">
                <a:lnSpc>
                  <a:spcPct val="112000"/>
                </a:lnSpc>
              </a:pPr>
              <a:endParaRPr lang="en-US" altLang="en-US" sz="700" dirty="0">
                <a:latin typeface="微软雅黑" panose="020B0503020204020204" charset="-122"/>
                <a:ea typeface="微软雅黑" panose="020B0503020204020204" charset="-122"/>
              </a:endParaRPr>
            </a:p>
            <a:p>
              <a:pPr marL="91440" algn="l" rtl="0" eaLnBrk="0">
                <a:lnSpc>
                  <a:spcPct val="94000"/>
                </a:lnSpc>
                <a:spcBef>
                  <a:spcPts val="5"/>
                </a:spcBef>
              </a:pPr>
              <a:r>
                <a:rPr sz="1200" spc="40" dirty="0">
                  <a:ln w="4354" cap="flat" cmpd="sng">
                    <a:solidFill>
                      <a:srgbClr val="002960">
                        <a:alpha val="100000"/>
                      </a:srgbClr>
                    </a:solidFill>
                    <a:prstDash val="solid"/>
                    <a:miter lim="10"/>
                  </a:ln>
                  <a:solidFill>
                    <a:srgbClr val="002960">
                      <a:alpha val="100000"/>
                    </a:srgbClr>
                  </a:solidFill>
                  <a:latin typeface="微软雅黑" panose="020B0503020204020204" charset="-122"/>
                  <a:ea typeface="微软雅黑" panose="020B0503020204020204" charset="-122"/>
                  <a:cs typeface="楷体" panose="02010609060101010101" charset="-122"/>
                </a:rPr>
                <a:t>关键购买因素(</a:t>
              </a:r>
              <a:r>
                <a:rPr sz="1200" b="1" spc="40" dirty="0">
                  <a:solidFill>
                    <a:srgbClr val="002960">
                      <a:alpha val="100000"/>
                    </a:srgbClr>
                  </a:solidFill>
                  <a:latin typeface="微软雅黑" panose="020B0503020204020204" charset="-122"/>
                  <a:ea typeface="微软雅黑" panose="020B0503020204020204" charset="-122"/>
                  <a:cs typeface="Arial" panose="020B0604020202020204"/>
                </a:rPr>
                <a:t>17</a:t>
              </a:r>
              <a:r>
                <a:rPr sz="1200" spc="40" dirty="0">
                  <a:ln w="4354" cap="flat" cmpd="sng">
                    <a:solidFill>
                      <a:srgbClr val="002960">
                        <a:alpha val="100000"/>
                      </a:srgbClr>
                    </a:solidFill>
                    <a:prstDash val="solid"/>
                    <a:miter lim="10"/>
                  </a:ln>
                  <a:solidFill>
                    <a:srgbClr val="002960">
                      <a:alpha val="100000"/>
                    </a:srgbClr>
                  </a:solidFill>
                  <a:latin typeface="微软雅黑" panose="020B0503020204020204" charset="-122"/>
                  <a:ea typeface="微软雅黑" panose="020B0503020204020204" charset="-122"/>
                  <a:cs typeface="楷体" panose="02010609060101010101" charset="-122"/>
                </a:rPr>
                <a:t>项</a:t>
              </a:r>
              <a:r>
                <a:rPr sz="1200" spc="30" dirty="0">
                  <a:ln w="4354" cap="flat" cmpd="sng">
                    <a:solidFill>
                      <a:srgbClr val="002960">
                        <a:alpha val="100000"/>
                      </a:srgbClr>
                    </a:solidFill>
                    <a:prstDash val="solid"/>
                    <a:miter lim="10"/>
                  </a:ln>
                  <a:solidFill>
                    <a:srgbClr val="002960">
                      <a:alpha val="100000"/>
                    </a:srgbClr>
                  </a:solidFill>
                  <a:latin typeface="微软雅黑" panose="020B0503020204020204" charset="-122"/>
                  <a:ea typeface="微软雅黑" panose="020B0503020204020204" charset="-122"/>
                  <a:cs typeface="楷体" panose="02010609060101010101" charset="-122"/>
                </a:rPr>
                <a:t>)</a:t>
              </a:r>
              <a:endParaRPr lang="en-US" altLang="en-US" sz="1200" dirty="0">
                <a:latin typeface="微软雅黑" panose="020B0503020204020204" charset="-122"/>
                <a:ea typeface="微软雅黑" panose="020B0503020204020204" charset="-122"/>
              </a:endParaRPr>
            </a:p>
          </p:txBody>
        </p:sp>
      </p:grpSp>
      <p:sp>
        <p:nvSpPr>
          <p:cNvPr id="624" name="textbox 624"/>
          <p:cNvSpPr/>
          <p:nvPr/>
        </p:nvSpPr>
        <p:spPr>
          <a:xfrm>
            <a:off x="104775" y="248920"/>
            <a:ext cx="6839585" cy="615950"/>
          </a:xfrm>
          <a:prstGeom prst="rect">
            <a:avLst/>
          </a:prstGeom>
        </p:spPr>
        <p:txBody>
          <a:bodyPr vert="horz" wrap="square" lIns="0" tIns="0" rIns="0" bIns="0"/>
          <a:lstStyle/>
          <a:p>
            <a:pPr algn="l" rtl="0" eaLnBrk="0">
              <a:lnSpc>
                <a:spcPct val="78000"/>
              </a:lnSpc>
            </a:pPr>
            <a:endParaRPr lang="en-US" altLang="en-US" sz="100" dirty="0">
              <a:latin typeface="微软雅黑" panose="020B0503020204020204" charset="-122"/>
              <a:ea typeface="微软雅黑" panose="020B0503020204020204" charset="-122"/>
            </a:endParaRPr>
          </a:p>
          <a:p>
            <a:pPr marL="23495" indent="116205" algn="l" rtl="0" eaLnBrk="0">
              <a:lnSpc>
                <a:spcPct val="97000"/>
              </a:lnSpc>
            </a:pPr>
            <a:r>
              <a:rPr sz="2000" spc="-40" dirty="0">
                <a:solidFill>
                  <a:srgbClr val="002960">
                    <a:alpha val="100000"/>
                  </a:srgbClr>
                </a:solidFill>
                <a:latin typeface="微软雅黑" panose="020B0503020204020204" charset="-122"/>
                <a:ea typeface="微软雅黑" panose="020B0503020204020204" charset="-122"/>
                <a:cs typeface="楷体" panose="02010609060101010101" charset="-122"/>
              </a:rPr>
              <a:t>【案例</a:t>
            </a:r>
            <a:r>
              <a:rPr sz="2000" spc="-40" dirty="0">
                <a:solidFill>
                  <a:srgbClr val="002960">
                    <a:alpha val="100000"/>
                  </a:srgbClr>
                </a:solidFill>
                <a:latin typeface="微软雅黑" panose="020B0503020204020204" charset="-122"/>
                <a:ea typeface="微软雅黑" panose="020B0503020204020204" charset="-122"/>
                <a:cs typeface="Arial" panose="020B0604020202020204"/>
              </a:rPr>
              <a:t>2</a:t>
            </a:r>
            <a:r>
              <a:rPr sz="2000" spc="-40" dirty="0">
                <a:solidFill>
                  <a:srgbClr val="002960">
                    <a:alpha val="100000"/>
                  </a:srgbClr>
                </a:solidFill>
                <a:latin typeface="微软雅黑" panose="020B0503020204020204" charset="-122"/>
                <a:ea typeface="微软雅黑" panose="020B0503020204020204" charset="-122"/>
                <a:cs typeface="楷体" panose="02010609060101010101" charset="-122"/>
              </a:rPr>
              <a:t>】但是这一分析的背后是全面深入的玉米种</a:t>
            </a:r>
            <a:r>
              <a:rPr sz="2000" spc="-30" dirty="0">
                <a:solidFill>
                  <a:srgbClr val="002960">
                    <a:alpha val="100000"/>
                  </a:srgbClr>
                </a:solidFill>
                <a:latin typeface="微软雅黑" panose="020B0503020204020204" charset="-122"/>
                <a:ea typeface="微软雅黑" panose="020B0503020204020204" charset="-122"/>
                <a:cs typeface="楷体" panose="02010609060101010101" charset="-122"/>
              </a:rPr>
              <a:t>植</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户调研和基于海 </a:t>
            </a:r>
            <a:r>
              <a:rPr sz="2000" spc="-10" dirty="0">
                <a:solidFill>
                  <a:srgbClr val="002960">
                    <a:alpha val="100000"/>
                  </a:srgbClr>
                </a:solidFill>
                <a:latin typeface="微软雅黑" panose="020B0503020204020204" charset="-122"/>
                <a:ea typeface="微软雅黑" panose="020B0503020204020204" charset="-122"/>
                <a:cs typeface="楷体" panose="02010609060101010101" charset="-122"/>
              </a:rPr>
              <a:t>量数据的统计</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与逻辑分析</a:t>
            </a:r>
            <a:endParaRPr lang="en-US" altLang="en-US" sz="2000" dirty="0">
              <a:latin typeface="微软雅黑" panose="020B0503020204020204" charset="-122"/>
              <a:ea typeface="微软雅黑" panose="020B0503020204020204" charset="-122"/>
            </a:endParaRPr>
          </a:p>
        </p:txBody>
      </p:sp>
      <p:sp>
        <p:nvSpPr>
          <p:cNvPr id="625" name="textbox 625"/>
          <p:cNvSpPr/>
          <p:nvPr/>
        </p:nvSpPr>
        <p:spPr>
          <a:xfrm>
            <a:off x="6053328" y="1086611"/>
            <a:ext cx="2628900" cy="328295"/>
          </a:xfrm>
          <a:prstGeom prst="rect">
            <a:avLst/>
          </a:prstGeom>
          <a:solidFill>
            <a:srgbClr val="0065BD"/>
          </a:solidFill>
        </p:spPr>
        <p:txBody>
          <a:bodyPr vert="horz" wrap="square" lIns="0" tIns="0" rIns="0" bIns="0"/>
          <a:lstStyle/>
          <a:p>
            <a:pPr algn="l" rtl="0" eaLnBrk="0">
              <a:lnSpc>
                <a:spcPct val="106000"/>
              </a:lnSpc>
            </a:pPr>
            <a:endParaRPr lang="en-US" altLang="en-US" sz="500" dirty="0">
              <a:latin typeface="微软雅黑" panose="020B0503020204020204" charset="-122"/>
              <a:ea typeface="微软雅黑" panose="020B0503020204020204" charset="-122"/>
            </a:endParaRPr>
          </a:p>
          <a:p>
            <a:pPr marL="82550" algn="l" rtl="0" eaLnBrk="0">
              <a:lnSpc>
                <a:spcPct val="93000"/>
              </a:lnSpc>
              <a:spcBef>
                <a:spcPts val="5"/>
              </a:spcBef>
            </a:pPr>
            <a:r>
              <a:rPr sz="1200" spc="-20" dirty="0">
                <a:ln w="4354" cap="flat" cmpd="sng">
                  <a:solidFill>
                    <a:srgbClr val="FFFFFF">
                      <a:alpha val="100000"/>
                    </a:srgbClr>
                  </a:solidFill>
                  <a:prstDash val="solid"/>
                  <a:miter lim="10"/>
                </a:ln>
                <a:solidFill>
                  <a:srgbClr val="FFFFFF">
                    <a:alpha val="100000"/>
                  </a:srgbClr>
                </a:solidFill>
                <a:latin typeface="微软雅黑" panose="020B0503020204020204" charset="-122"/>
                <a:ea typeface="微软雅黑" panose="020B0503020204020204" charset="-122"/>
                <a:cs typeface="楷体" panose="02010609060101010101" charset="-122"/>
              </a:rPr>
              <a:t>聚类分</a:t>
            </a:r>
            <a:r>
              <a:rPr sz="1200" spc="-10" dirty="0">
                <a:ln w="4354" cap="flat" cmpd="sng">
                  <a:solidFill>
                    <a:srgbClr val="FFFFFF">
                      <a:alpha val="100000"/>
                    </a:srgbClr>
                  </a:solidFill>
                  <a:prstDash val="solid"/>
                  <a:miter lim="10"/>
                </a:ln>
                <a:solidFill>
                  <a:srgbClr val="FFFFFF">
                    <a:alpha val="100000"/>
                  </a:srgbClr>
                </a:solidFill>
                <a:latin typeface="微软雅黑" panose="020B0503020204020204" charset="-122"/>
                <a:ea typeface="微软雅黑" panose="020B0503020204020204" charset="-122"/>
                <a:cs typeface="楷体" panose="02010609060101010101" charset="-122"/>
              </a:rPr>
              <a:t>析</a:t>
            </a:r>
            <a:endParaRPr lang="en-US" altLang="en-US" sz="1200" dirty="0">
              <a:latin typeface="微软雅黑" panose="020B0503020204020204" charset="-122"/>
              <a:ea typeface="微软雅黑" panose="020B0503020204020204" charset="-122"/>
            </a:endParaRPr>
          </a:p>
        </p:txBody>
      </p:sp>
      <p:sp>
        <p:nvSpPr>
          <p:cNvPr id="626" name="textbox 626"/>
          <p:cNvSpPr/>
          <p:nvPr/>
        </p:nvSpPr>
        <p:spPr>
          <a:xfrm>
            <a:off x="178307" y="1086611"/>
            <a:ext cx="2326004" cy="330834"/>
          </a:xfrm>
          <a:prstGeom prst="rect">
            <a:avLst/>
          </a:prstGeom>
          <a:solidFill>
            <a:srgbClr val="BFE1FF"/>
          </a:solidFill>
        </p:spPr>
        <p:txBody>
          <a:bodyPr vert="horz" wrap="square" lIns="0" tIns="0" rIns="0" bIns="0"/>
          <a:lstStyle/>
          <a:p>
            <a:pPr algn="l" rtl="0" eaLnBrk="0">
              <a:lnSpc>
                <a:spcPct val="107000"/>
              </a:lnSpc>
            </a:pPr>
            <a:endParaRPr lang="en-US" altLang="en-US" sz="500" dirty="0"/>
          </a:p>
          <a:p>
            <a:pPr marL="98425" algn="l" rtl="0" eaLnBrk="0">
              <a:lnSpc>
                <a:spcPct val="94000"/>
              </a:lnSpc>
              <a:spcBef>
                <a:spcPts val="5"/>
              </a:spcBef>
            </a:pPr>
            <a:r>
              <a:rPr sz="1200" spc="-40" dirty="0">
                <a:ln w="4354" cap="flat" cmpd="sng">
                  <a:solidFill>
                    <a:srgbClr val="002960">
                      <a:alpha val="100000"/>
                    </a:srgbClr>
                  </a:solidFill>
                  <a:prstDash val="solid"/>
                  <a:miter lim="10"/>
                </a:ln>
                <a:solidFill>
                  <a:srgbClr val="002960">
                    <a:alpha val="100000"/>
                  </a:srgbClr>
                </a:solidFill>
                <a:latin typeface="楷体" panose="02010609060101010101" charset="-122"/>
                <a:ea typeface="楷体" panose="02010609060101010101" charset="-122"/>
                <a:cs typeface="楷体" panose="02010609060101010101" charset="-122"/>
              </a:rPr>
              <a:t>因素分析</a:t>
            </a:r>
            <a:endParaRPr lang="en-US" altLang="en-US" sz="1200" dirty="0"/>
          </a:p>
        </p:txBody>
      </p:sp>
      <p:sp>
        <p:nvSpPr>
          <p:cNvPr id="627" name="rect"/>
          <p:cNvSpPr/>
          <p:nvPr/>
        </p:nvSpPr>
        <p:spPr>
          <a:xfrm>
            <a:off x="3488435" y="1386840"/>
            <a:ext cx="2154935" cy="64008"/>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628" name="textbox 628"/>
          <p:cNvSpPr/>
          <p:nvPr/>
        </p:nvSpPr>
        <p:spPr>
          <a:xfrm>
            <a:off x="3497579" y="1086611"/>
            <a:ext cx="2146300" cy="332740"/>
          </a:xfrm>
          <a:prstGeom prst="rect">
            <a:avLst/>
          </a:prstGeom>
          <a:solidFill>
            <a:srgbClr val="BFE1FF"/>
          </a:solidFill>
        </p:spPr>
        <p:txBody>
          <a:bodyPr vert="horz" wrap="square" lIns="0" tIns="0" rIns="0" bIns="0"/>
          <a:lstStyle/>
          <a:p>
            <a:pPr algn="l" rtl="0" eaLnBrk="0">
              <a:lnSpc>
                <a:spcPct val="108000"/>
              </a:lnSpc>
            </a:pPr>
            <a:endParaRPr lang="en-US" altLang="en-US" sz="500" dirty="0">
              <a:latin typeface="微软雅黑" panose="020B0503020204020204" charset="-122"/>
              <a:ea typeface="微软雅黑" panose="020B0503020204020204" charset="-122"/>
            </a:endParaRPr>
          </a:p>
          <a:p>
            <a:pPr marL="77470" algn="l" rtl="0" eaLnBrk="0">
              <a:lnSpc>
                <a:spcPct val="95000"/>
              </a:lnSpc>
              <a:spcBef>
                <a:spcPts val="0"/>
              </a:spcBef>
            </a:pPr>
            <a:r>
              <a:rPr sz="1200" spc="-10" dirty="0">
                <a:ln w="4354" cap="flat" cmpd="sng">
                  <a:solidFill>
                    <a:srgbClr val="002960">
                      <a:alpha val="100000"/>
                    </a:srgbClr>
                  </a:solidFill>
                  <a:prstDash val="solid"/>
                  <a:miter lim="10"/>
                </a:ln>
                <a:solidFill>
                  <a:srgbClr val="002960">
                    <a:alpha val="100000"/>
                  </a:srgbClr>
                </a:solidFill>
                <a:latin typeface="微软雅黑" panose="020B0503020204020204" charset="-122"/>
                <a:ea typeface="微软雅黑" panose="020B0503020204020204" charset="-122"/>
                <a:cs typeface="楷体" panose="02010609060101010101" charset="-122"/>
              </a:rPr>
              <a:t>种植户的</a:t>
            </a:r>
            <a:r>
              <a:rPr sz="1200" spc="0" dirty="0">
                <a:ln w="4354" cap="flat" cmpd="sng">
                  <a:solidFill>
                    <a:srgbClr val="002960">
                      <a:alpha val="100000"/>
                    </a:srgbClr>
                  </a:solidFill>
                  <a:prstDash val="solid"/>
                  <a:miter lim="10"/>
                </a:ln>
                <a:solidFill>
                  <a:srgbClr val="002960">
                    <a:alpha val="100000"/>
                  </a:srgbClr>
                </a:solidFill>
                <a:latin typeface="微软雅黑" panose="020B0503020204020204" charset="-122"/>
                <a:ea typeface="微软雅黑" panose="020B0503020204020204" charset="-122"/>
                <a:cs typeface="楷体" panose="02010609060101010101" charset="-122"/>
              </a:rPr>
              <a:t>行为和特征</a:t>
            </a:r>
            <a:endParaRPr lang="en-US" altLang="en-US" sz="1200" dirty="0">
              <a:latin typeface="微软雅黑" panose="020B0503020204020204" charset="-122"/>
              <a:ea typeface="微软雅黑" panose="020B0503020204020204" charset="-122"/>
            </a:endParaRPr>
          </a:p>
        </p:txBody>
      </p:sp>
      <p:grpSp>
        <p:nvGrpSpPr>
          <p:cNvPr id="122" name="group 122"/>
          <p:cNvGrpSpPr/>
          <p:nvPr/>
        </p:nvGrpSpPr>
        <p:grpSpPr>
          <a:xfrm rot="21600000">
            <a:off x="2548127" y="4003706"/>
            <a:ext cx="893502" cy="728155"/>
            <a:chOff x="0" y="0"/>
            <a:chExt cx="893502" cy="728155"/>
          </a:xfrm>
        </p:grpSpPr>
        <p:sp>
          <p:nvSpPr>
            <p:cNvPr id="629" name="path"/>
            <p:cNvSpPr/>
            <p:nvPr/>
          </p:nvSpPr>
          <p:spPr>
            <a:xfrm>
              <a:off x="9905" y="6699"/>
              <a:ext cx="876299" cy="714755"/>
            </a:xfrm>
            <a:custGeom>
              <a:avLst/>
              <a:gdLst/>
              <a:ahLst/>
              <a:cxnLst/>
              <a:rect l="0" t="0" r="0" b="0"/>
              <a:pathLst>
                <a:path w="1379" h="1125">
                  <a:moveTo>
                    <a:pt x="0" y="168"/>
                  </a:moveTo>
                  <a:lnTo>
                    <a:pt x="863" y="168"/>
                  </a:lnTo>
                  <a:lnTo>
                    <a:pt x="863" y="0"/>
                  </a:lnTo>
                  <a:lnTo>
                    <a:pt x="1379" y="562"/>
                  </a:lnTo>
                  <a:lnTo>
                    <a:pt x="863" y="1125"/>
                  </a:lnTo>
                  <a:lnTo>
                    <a:pt x="863" y="956"/>
                  </a:lnTo>
                  <a:lnTo>
                    <a:pt x="0" y="956"/>
                  </a:lnTo>
                  <a:lnTo>
                    <a:pt x="0" y="168"/>
                  </a:lnTo>
                  <a:close/>
                </a:path>
              </a:pathLst>
            </a:custGeom>
            <a:solidFill>
              <a:srgbClr val="BFE1FF">
                <a:alpha val="100000"/>
              </a:srgbClr>
            </a:solidFill>
            <a:ln cap="flat">
              <a:noFill/>
              <a:prstDash val="solid"/>
              <a:miter lim="0"/>
            </a:ln>
          </p:spPr>
          <p:txBody>
            <a:bodyPr rtlCol="0"/>
            <a:lstStyle/>
            <a:p>
              <a:pPr algn="ctr"/>
              <a:endParaRPr lang="zh-CN" altLang="en-US"/>
            </a:p>
          </p:txBody>
        </p:sp>
        <p:sp>
          <p:nvSpPr>
            <p:cNvPr id="630" name="path"/>
            <p:cNvSpPr/>
            <p:nvPr/>
          </p:nvSpPr>
          <p:spPr>
            <a:xfrm>
              <a:off x="0" y="103982"/>
              <a:ext cx="558038" cy="520191"/>
            </a:xfrm>
            <a:custGeom>
              <a:avLst/>
              <a:gdLst/>
              <a:ahLst/>
              <a:cxnLst/>
              <a:rect l="0" t="0" r="0" b="0"/>
              <a:pathLst>
                <a:path w="878" h="819">
                  <a:moveTo>
                    <a:pt x="15" y="15"/>
                  </a:moveTo>
                  <a:lnTo>
                    <a:pt x="878" y="15"/>
                  </a:lnTo>
                  <a:moveTo>
                    <a:pt x="878" y="803"/>
                  </a:moveTo>
                  <a:lnTo>
                    <a:pt x="15" y="803"/>
                  </a:lnTo>
                  <a:lnTo>
                    <a:pt x="15" y="15"/>
                  </a:lnTo>
                  <a:close/>
                </a:path>
              </a:pathLst>
            </a:custGeom>
            <a:noFill/>
            <a:ln w="19811" cap="flat">
              <a:solidFill>
                <a:srgbClr val="FFFFFF">
                  <a:alpha val="100000"/>
                </a:srgbClr>
              </a:solidFill>
              <a:prstDash val="solid"/>
              <a:miter lim="1000000"/>
            </a:ln>
          </p:spPr>
          <p:txBody>
            <a:bodyPr rtlCol="0"/>
            <a:lstStyle/>
            <a:p>
              <a:pPr algn="ctr"/>
              <a:endParaRPr lang="zh-CN" altLang="en-US"/>
            </a:p>
          </p:txBody>
        </p:sp>
        <p:sp>
          <p:nvSpPr>
            <p:cNvPr id="631" name="path"/>
            <p:cNvSpPr/>
            <p:nvPr/>
          </p:nvSpPr>
          <p:spPr>
            <a:xfrm>
              <a:off x="550741" y="0"/>
              <a:ext cx="342760" cy="728155"/>
            </a:xfrm>
            <a:custGeom>
              <a:avLst/>
              <a:gdLst/>
              <a:ahLst/>
              <a:cxnLst/>
              <a:rect l="0" t="0" r="0" b="0"/>
              <a:pathLst>
                <a:path w="539" h="1146">
                  <a:moveTo>
                    <a:pt x="11" y="10"/>
                  </a:moveTo>
                  <a:lnTo>
                    <a:pt x="528" y="573"/>
                  </a:lnTo>
                  <a:lnTo>
                    <a:pt x="11" y="1136"/>
                  </a:lnTo>
                </a:path>
              </a:pathLst>
            </a:custGeom>
            <a:noFill/>
            <a:ln w="19811" cap="flat">
              <a:solidFill>
                <a:srgbClr val="FFFFFF">
                  <a:alpha val="100000"/>
                </a:srgbClr>
              </a:solidFill>
              <a:prstDash val="solid"/>
              <a:miter lim="1000000"/>
            </a:ln>
          </p:spPr>
          <p:txBody>
            <a:bodyPr rtlCol="0"/>
            <a:lstStyle/>
            <a:p>
              <a:pPr algn="ctr"/>
              <a:endParaRPr lang="zh-CN" altLang="en-US"/>
            </a:p>
          </p:txBody>
        </p:sp>
        <p:sp>
          <p:nvSpPr>
            <p:cNvPr id="632" name="rect"/>
            <p:cNvSpPr/>
            <p:nvPr/>
          </p:nvSpPr>
          <p:spPr>
            <a:xfrm>
              <a:off x="47244" y="179673"/>
              <a:ext cx="676656" cy="370332"/>
            </a:xfrm>
            <a:prstGeom prst="rect">
              <a:avLst/>
            </a:prstGeom>
            <a:solidFill>
              <a:srgbClr val="BFE1FF">
                <a:alpha val="100000"/>
              </a:srgbClr>
            </a:solidFill>
            <a:ln cap="flat">
              <a:noFill/>
              <a:prstDash val="solid"/>
              <a:miter lim="0"/>
            </a:ln>
          </p:spPr>
          <p:txBody>
            <a:bodyPr rtlCol="0"/>
            <a:lstStyle/>
            <a:p>
              <a:pPr algn="ctr"/>
              <a:endParaRPr lang="zh-CN" altLang="en-US"/>
            </a:p>
          </p:txBody>
        </p:sp>
        <p:sp>
          <p:nvSpPr>
            <p:cNvPr id="633" name="textbox 633"/>
            <p:cNvSpPr/>
            <p:nvPr/>
          </p:nvSpPr>
          <p:spPr>
            <a:xfrm>
              <a:off x="41732" y="189097"/>
              <a:ext cx="476250" cy="381000"/>
            </a:xfrm>
            <a:prstGeom prst="rect">
              <a:avLst/>
            </a:prstGeom>
          </p:spPr>
          <p:txBody>
            <a:bodyPr vert="horz" wrap="square" lIns="0" tIns="0" rIns="0" bIns="0"/>
            <a:lstStyle/>
            <a:p>
              <a:pPr algn="l" rtl="0" eaLnBrk="0">
                <a:lnSpc>
                  <a:spcPct val="86000"/>
                </a:lnSpc>
              </a:pPr>
              <a:endParaRPr lang="en-US" altLang="en-US" sz="100" dirty="0">
                <a:latin typeface="微软雅黑" panose="020B0503020204020204" charset="-122"/>
                <a:ea typeface="微软雅黑" panose="020B0503020204020204" charset="-122"/>
              </a:endParaRPr>
            </a:p>
            <a:p>
              <a:pPr marL="13970" indent="-1270" algn="l" rtl="0" eaLnBrk="0">
                <a:lnSpc>
                  <a:spcPct val="97000"/>
                </a:lnSpc>
              </a:pPr>
              <a:r>
                <a:rPr sz="1200" spc="-20" dirty="0">
                  <a:ln w="4354" cap="flat" cmpd="sng">
                    <a:solidFill>
                      <a:srgbClr val="002960">
                        <a:alpha val="100000"/>
                      </a:srgbClr>
                    </a:solidFill>
                    <a:prstDash val="solid"/>
                    <a:miter lim="10"/>
                  </a:ln>
                  <a:solidFill>
                    <a:srgbClr val="002960">
                      <a:alpha val="100000"/>
                    </a:srgbClr>
                  </a:solidFill>
                  <a:latin typeface="微软雅黑" panose="020B0503020204020204" charset="-122"/>
                  <a:ea typeface="微软雅黑" panose="020B0503020204020204" charset="-122"/>
                  <a:cs typeface="楷体" panose="02010609060101010101" charset="-122"/>
                </a:rPr>
                <a:t>相关性</a:t>
              </a:r>
              <a:r>
                <a:rPr sz="1200" spc="0" dirty="0">
                  <a:solidFill>
                    <a:srgbClr val="002960">
                      <a:alpha val="100000"/>
                    </a:srgbClr>
                  </a:solidFill>
                  <a:latin typeface="微软雅黑" panose="020B0503020204020204" charset="-122"/>
                  <a:ea typeface="微软雅黑" panose="020B0503020204020204" charset="-122"/>
                  <a:cs typeface="楷体" panose="02010609060101010101" charset="-122"/>
                </a:rPr>
                <a:t> </a:t>
              </a:r>
              <a:r>
                <a:rPr sz="1200" spc="-20" dirty="0">
                  <a:ln w="4354" cap="flat" cmpd="sng">
                    <a:solidFill>
                      <a:srgbClr val="002960">
                        <a:alpha val="100000"/>
                      </a:srgbClr>
                    </a:solidFill>
                    <a:prstDash val="solid"/>
                    <a:miter lim="10"/>
                  </a:ln>
                  <a:solidFill>
                    <a:srgbClr val="002960">
                      <a:alpha val="100000"/>
                    </a:srgbClr>
                  </a:solidFill>
                  <a:latin typeface="微软雅黑" panose="020B0503020204020204" charset="-122"/>
                  <a:ea typeface="微软雅黑" panose="020B0503020204020204" charset="-122"/>
                  <a:cs typeface="楷体" panose="02010609060101010101" charset="-122"/>
                </a:rPr>
                <a:t>分析</a:t>
              </a:r>
              <a:endParaRPr lang="en-US" altLang="en-US" sz="1200" dirty="0">
                <a:latin typeface="微软雅黑" panose="020B0503020204020204" charset="-122"/>
                <a:ea typeface="微软雅黑" panose="020B0503020204020204" charset="-122"/>
              </a:endParaRPr>
            </a:p>
          </p:txBody>
        </p:sp>
        <p:sp>
          <p:nvSpPr>
            <p:cNvPr id="634" name="path"/>
            <p:cNvSpPr/>
            <p:nvPr/>
          </p:nvSpPr>
          <p:spPr>
            <a:xfrm>
              <a:off x="548132" y="6699"/>
              <a:ext cx="19811" cy="107188"/>
            </a:xfrm>
            <a:custGeom>
              <a:avLst/>
              <a:gdLst/>
              <a:ahLst/>
              <a:cxnLst/>
              <a:rect l="0" t="0" r="0" b="0"/>
              <a:pathLst>
                <a:path w="31" h="168">
                  <a:moveTo>
                    <a:pt x="15" y="168"/>
                  </a:moveTo>
                  <a:lnTo>
                    <a:pt x="15" y="0"/>
                  </a:lnTo>
                </a:path>
              </a:pathLst>
            </a:custGeom>
            <a:noFill/>
            <a:ln w="19811" cap="flat">
              <a:solidFill>
                <a:srgbClr val="FFFFFF">
                  <a:alpha val="100000"/>
                </a:srgbClr>
              </a:solidFill>
              <a:prstDash val="solid"/>
              <a:miter lim="1000000"/>
            </a:ln>
          </p:spPr>
          <p:txBody>
            <a:bodyPr rtlCol="0"/>
            <a:lstStyle/>
            <a:p>
              <a:pPr algn="ctr"/>
              <a:endParaRPr lang="zh-CN" altLang="en-US"/>
            </a:p>
          </p:txBody>
        </p:sp>
        <p:sp>
          <p:nvSpPr>
            <p:cNvPr id="635" name="path"/>
            <p:cNvSpPr/>
            <p:nvPr/>
          </p:nvSpPr>
          <p:spPr>
            <a:xfrm>
              <a:off x="548132" y="614267"/>
              <a:ext cx="19811" cy="107188"/>
            </a:xfrm>
            <a:custGeom>
              <a:avLst/>
              <a:gdLst/>
              <a:ahLst/>
              <a:cxnLst/>
              <a:rect l="0" t="0" r="0" b="0"/>
              <a:pathLst>
                <a:path w="31" h="168">
                  <a:moveTo>
                    <a:pt x="15" y="168"/>
                  </a:moveTo>
                  <a:lnTo>
                    <a:pt x="15" y="0"/>
                  </a:lnTo>
                </a:path>
              </a:pathLst>
            </a:custGeom>
            <a:noFill/>
            <a:ln w="19811" cap="flat">
              <a:solidFill>
                <a:srgbClr val="FFFFFF">
                  <a:alpha val="100000"/>
                </a:srgbClr>
              </a:solidFill>
              <a:prstDash val="solid"/>
              <a:miter lim="1000000"/>
            </a:ln>
          </p:spPr>
          <p:txBody>
            <a:bodyPr rtlCol="0"/>
            <a:lstStyle/>
            <a:p>
              <a:pPr algn="ctr"/>
              <a:endParaRPr lang="zh-CN" altLang="en-US"/>
            </a:p>
          </p:txBody>
        </p:sp>
      </p:grpSp>
      <p:sp>
        <p:nvSpPr>
          <p:cNvPr id="636" name="path"/>
          <p:cNvSpPr/>
          <p:nvPr/>
        </p:nvSpPr>
        <p:spPr>
          <a:xfrm>
            <a:off x="2585466" y="1780794"/>
            <a:ext cx="876299" cy="713232"/>
          </a:xfrm>
          <a:custGeom>
            <a:avLst/>
            <a:gdLst/>
            <a:ahLst/>
            <a:cxnLst/>
            <a:rect l="0" t="0" r="0" b="0"/>
            <a:pathLst>
              <a:path w="1379" h="1123">
                <a:moveTo>
                  <a:pt x="0" y="168"/>
                </a:moveTo>
                <a:lnTo>
                  <a:pt x="865" y="168"/>
                </a:lnTo>
                <a:lnTo>
                  <a:pt x="865" y="0"/>
                </a:lnTo>
                <a:lnTo>
                  <a:pt x="1379" y="561"/>
                </a:lnTo>
                <a:lnTo>
                  <a:pt x="865" y="1123"/>
                </a:lnTo>
                <a:lnTo>
                  <a:pt x="865" y="954"/>
                </a:lnTo>
                <a:lnTo>
                  <a:pt x="0" y="954"/>
                </a:lnTo>
                <a:lnTo>
                  <a:pt x="0" y="168"/>
                </a:lnTo>
                <a:close/>
              </a:path>
            </a:pathLst>
          </a:custGeom>
          <a:solidFill>
            <a:srgbClr val="BFE1FF">
              <a:alpha val="100000"/>
            </a:srgbClr>
          </a:solidFill>
          <a:ln cap="flat">
            <a:noFill/>
            <a:prstDash val="solid"/>
            <a:miter lim="0"/>
          </a:ln>
        </p:spPr>
        <p:txBody>
          <a:bodyPr rtlCol="0"/>
          <a:lstStyle/>
          <a:p>
            <a:pPr algn="ctr"/>
            <a:endParaRPr lang="zh-CN" altLang="en-US"/>
          </a:p>
        </p:txBody>
      </p:sp>
      <p:pic>
        <p:nvPicPr>
          <p:cNvPr id="637" name="picture 637"/>
          <p:cNvPicPr>
            <a:picLocks noChangeAspect="1"/>
          </p:cNvPicPr>
          <p:nvPr/>
        </p:nvPicPr>
        <p:blipFill>
          <a:blip r:embed="rId10"/>
          <a:stretch>
            <a:fillRect/>
          </a:stretch>
        </p:blipFill>
        <p:spPr>
          <a:xfrm rot="21600000">
            <a:off x="178307" y="909828"/>
            <a:ext cx="2325624" cy="134111"/>
          </a:xfrm>
          <a:prstGeom prst="rect">
            <a:avLst/>
          </a:prstGeom>
        </p:spPr>
      </p:pic>
      <p:sp>
        <p:nvSpPr>
          <p:cNvPr id="638" name="path"/>
          <p:cNvSpPr/>
          <p:nvPr/>
        </p:nvSpPr>
        <p:spPr>
          <a:xfrm>
            <a:off x="2575560" y="1877822"/>
            <a:ext cx="559435" cy="519175"/>
          </a:xfrm>
          <a:custGeom>
            <a:avLst/>
            <a:gdLst/>
            <a:ahLst/>
            <a:cxnLst/>
            <a:rect l="0" t="0" r="0" b="0"/>
            <a:pathLst>
              <a:path w="881" h="817">
                <a:moveTo>
                  <a:pt x="15" y="15"/>
                </a:moveTo>
                <a:lnTo>
                  <a:pt x="881" y="15"/>
                </a:lnTo>
                <a:moveTo>
                  <a:pt x="881" y="801"/>
                </a:moveTo>
                <a:lnTo>
                  <a:pt x="15" y="801"/>
                </a:lnTo>
                <a:lnTo>
                  <a:pt x="15" y="15"/>
                </a:lnTo>
                <a:close/>
              </a:path>
            </a:pathLst>
          </a:custGeom>
          <a:noFill/>
          <a:ln w="19811" cap="flat">
            <a:solidFill>
              <a:srgbClr val="FFFFFF">
                <a:alpha val="100000"/>
              </a:srgbClr>
            </a:solidFill>
            <a:prstDash val="solid"/>
            <a:miter lim="1000000"/>
          </a:ln>
        </p:spPr>
        <p:txBody>
          <a:bodyPr rtlCol="0"/>
          <a:lstStyle/>
          <a:p>
            <a:pPr algn="ctr"/>
            <a:endParaRPr lang="zh-CN" altLang="en-US"/>
          </a:p>
        </p:txBody>
      </p:sp>
      <p:pic>
        <p:nvPicPr>
          <p:cNvPr id="639" name="picture 639"/>
          <p:cNvPicPr>
            <a:picLocks noChangeAspect="1"/>
          </p:cNvPicPr>
          <p:nvPr/>
        </p:nvPicPr>
        <p:blipFill>
          <a:blip r:embed="rId11"/>
          <a:stretch>
            <a:fillRect/>
          </a:stretch>
        </p:blipFill>
        <p:spPr>
          <a:xfrm rot="21600000">
            <a:off x="3497579" y="909828"/>
            <a:ext cx="2145791" cy="134111"/>
          </a:xfrm>
          <a:prstGeom prst="rect">
            <a:avLst/>
          </a:prstGeom>
        </p:spPr>
      </p:pic>
      <p:grpSp>
        <p:nvGrpSpPr>
          <p:cNvPr id="124" name="group 124"/>
          <p:cNvGrpSpPr/>
          <p:nvPr/>
        </p:nvGrpSpPr>
        <p:grpSpPr>
          <a:xfrm rot="21600000">
            <a:off x="5670803" y="1921009"/>
            <a:ext cx="351475" cy="576058"/>
            <a:chOff x="0" y="0"/>
            <a:chExt cx="351475" cy="576058"/>
          </a:xfrm>
        </p:grpSpPr>
        <p:sp>
          <p:nvSpPr>
            <p:cNvPr id="640" name="path"/>
            <p:cNvSpPr/>
            <p:nvPr/>
          </p:nvSpPr>
          <p:spPr>
            <a:xfrm>
              <a:off x="9905" y="6089"/>
              <a:ext cx="333755" cy="563879"/>
            </a:xfrm>
            <a:custGeom>
              <a:avLst/>
              <a:gdLst/>
              <a:ahLst/>
              <a:cxnLst/>
              <a:rect l="0" t="0" r="0" b="0"/>
              <a:pathLst>
                <a:path w="525" h="887">
                  <a:moveTo>
                    <a:pt x="0" y="133"/>
                  </a:moveTo>
                  <a:lnTo>
                    <a:pt x="179" y="133"/>
                  </a:lnTo>
                  <a:lnTo>
                    <a:pt x="179" y="0"/>
                  </a:lnTo>
                  <a:lnTo>
                    <a:pt x="525" y="443"/>
                  </a:lnTo>
                  <a:lnTo>
                    <a:pt x="179" y="887"/>
                  </a:lnTo>
                  <a:lnTo>
                    <a:pt x="179" y="754"/>
                  </a:lnTo>
                  <a:lnTo>
                    <a:pt x="0" y="754"/>
                  </a:lnTo>
                  <a:lnTo>
                    <a:pt x="0" y="133"/>
                  </a:lnTo>
                  <a:close/>
                </a:path>
              </a:pathLst>
            </a:custGeom>
            <a:solidFill>
              <a:srgbClr val="BFE1FF">
                <a:alpha val="100000"/>
              </a:srgbClr>
            </a:solidFill>
            <a:ln cap="flat">
              <a:noFill/>
              <a:prstDash val="solid"/>
              <a:miter lim="0"/>
            </a:ln>
          </p:spPr>
          <p:txBody>
            <a:bodyPr rtlCol="0"/>
            <a:lstStyle/>
            <a:p>
              <a:pPr algn="ctr"/>
              <a:endParaRPr lang="zh-CN" altLang="en-US"/>
            </a:p>
          </p:txBody>
        </p:sp>
        <p:sp>
          <p:nvSpPr>
            <p:cNvPr id="641" name="path"/>
            <p:cNvSpPr/>
            <p:nvPr/>
          </p:nvSpPr>
          <p:spPr>
            <a:xfrm>
              <a:off x="0" y="0"/>
              <a:ext cx="351475" cy="576058"/>
            </a:xfrm>
            <a:custGeom>
              <a:avLst/>
              <a:gdLst/>
              <a:ahLst/>
              <a:cxnLst/>
              <a:rect l="0" t="0" r="0" b="0"/>
              <a:pathLst>
                <a:path w="553" h="907">
                  <a:moveTo>
                    <a:pt x="15" y="142"/>
                  </a:moveTo>
                  <a:lnTo>
                    <a:pt x="195" y="142"/>
                  </a:lnTo>
                  <a:lnTo>
                    <a:pt x="195" y="9"/>
                  </a:lnTo>
                  <a:lnTo>
                    <a:pt x="541" y="453"/>
                  </a:lnTo>
                  <a:lnTo>
                    <a:pt x="195" y="897"/>
                  </a:lnTo>
                  <a:lnTo>
                    <a:pt x="195" y="764"/>
                  </a:lnTo>
                  <a:lnTo>
                    <a:pt x="15" y="764"/>
                  </a:lnTo>
                  <a:lnTo>
                    <a:pt x="15" y="142"/>
                  </a:lnTo>
                  <a:close/>
                </a:path>
              </a:pathLst>
            </a:custGeom>
            <a:noFill/>
            <a:ln w="19811" cap="flat">
              <a:solidFill>
                <a:srgbClr val="FFFFFF">
                  <a:alpha val="100000"/>
                </a:srgbClr>
              </a:solidFill>
              <a:prstDash val="solid"/>
              <a:miter lim="1000000"/>
            </a:ln>
          </p:spPr>
          <p:txBody>
            <a:bodyPr rtlCol="0"/>
            <a:lstStyle/>
            <a:p>
              <a:pPr algn="ctr"/>
              <a:endParaRPr lang="zh-CN" altLang="en-US"/>
            </a:p>
          </p:txBody>
        </p:sp>
      </p:grpSp>
      <p:sp>
        <p:nvSpPr>
          <p:cNvPr id="642" name="textbox 642"/>
          <p:cNvSpPr/>
          <p:nvPr/>
        </p:nvSpPr>
        <p:spPr>
          <a:xfrm>
            <a:off x="8818509" y="1037437"/>
            <a:ext cx="114935" cy="1840229"/>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endParaRPr sz="600" spc="0" dirty="0">
              <a:solidFill>
                <a:srgbClr val="808080">
                  <a:alpha val="100000"/>
                </a:srgbClr>
              </a:solidFill>
              <a:latin typeface="Arial" panose="020B0604020202020204"/>
              <a:ea typeface="Arial" panose="020B0604020202020204"/>
              <a:cs typeface="Arial" panose="020B0604020202020204"/>
            </a:endParaRPr>
          </a:p>
        </p:txBody>
      </p:sp>
      <p:sp>
        <p:nvSpPr>
          <p:cNvPr id="643" name="rect"/>
          <p:cNvSpPr/>
          <p:nvPr/>
        </p:nvSpPr>
        <p:spPr>
          <a:xfrm>
            <a:off x="2633472" y="2045208"/>
            <a:ext cx="615695" cy="185928"/>
          </a:xfrm>
          <a:prstGeom prst="rect">
            <a:avLst/>
          </a:prstGeom>
          <a:solidFill>
            <a:srgbClr val="BFE1FF">
              <a:alpha val="100000"/>
            </a:srgbClr>
          </a:solidFill>
          <a:ln cap="flat">
            <a:noFill/>
            <a:prstDash val="solid"/>
            <a:miter lim="0"/>
          </a:ln>
        </p:spPr>
        <p:txBody>
          <a:bodyPr rtlCol="0"/>
          <a:lstStyle/>
          <a:p>
            <a:pPr algn="ctr"/>
            <a:endParaRPr lang="zh-CN" altLang="en-US"/>
          </a:p>
        </p:txBody>
      </p:sp>
      <p:sp>
        <p:nvSpPr>
          <p:cNvPr id="644" name="textbox 644"/>
          <p:cNvSpPr/>
          <p:nvPr/>
        </p:nvSpPr>
        <p:spPr>
          <a:xfrm>
            <a:off x="2647010" y="2053107"/>
            <a:ext cx="835025" cy="197485"/>
          </a:xfrm>
          <a:prstGeom prst="rect">
            <a:avLst/>
          </a:prstGeom>
        </p:spPr>
        <p:txBody>
          <a:bodyPr vert="horz" wrap="square" lIns="0" tIns="0" rIns="0" bIns="0"/>
          <a:lstStyle/>
          <a:p>
            <a:pPr algn="l" rtl="0" eaLnBrk="0">
              <a:lnSpc>
                <a:spcPct val="82000"/>
              </a:lnSpc>
            </a:pPr>
            <a:endParaRPr lang="en-US" altLang="en-US" sz="100" dirty="0">
              <a:latin typeface="微软雅黑" panose="020B0503020204020204" charset="-122"/>
              <a:ea typeface="微软雅黑" panose="020B0503020204020204" charset="-122"/>
            </a:endParaRPr>
          </a:p>
          <a:p>
            <a:pPr marL="12700" algn="l" rtl="0" eaLnBrk="0">
              <a:lnSpc>
                <a:spcPct val="94000"/>
              </a:lnSpc>
            </a:pPr>
            <a:r>
              <a:rPr sz="1200" spc="-60" dirty="0">
                <a:ln w="4354" cap="flat" cmpd="sng">
                  <a:solidFill>
                    <a:srgbClr val="002960">
                      <a:alpha val="100000"/>
                    </a:srgbClr>
                  </a:solidFill>
                  <a:prstDash val="solid"/>
                  <a:miter lim="10"/>
                </a:ln>
                <a:solidFill>
                  <a:srgbClr val="002960">
                    <a:alpha val="100000"/>
                  </a:srgbClr>
                </a:solidFill>
                <a:latin typeface="微软雅黑" panose="020B0503020204020204" charset="-122"/>
                <a:ea typeface="微软雅黑" panose="020B0503020204020204" charset="-122"/>
                <a:cs typeface="楷体" panose="02010609060101010101" charset="-122"/>
              </a:rPr>
              <a:t>因素分</a:t>
            </a:r>
            <a:r>
              <a:rPr sz="1200" spc="-30" dirty="0">
                <a:ln w="4354" cap="flat" cmpd="sng">
                  <a:solidFill>
                    <a:srgbClr val="002960">
                      <a:alpha val="100000"/>
                    </a:srgbClr>
                  </a:solidFill>
                  <a:prstDash val="solid"/>
                  <a:miter lim="10"/>
                </a:ln>
                <a:solidFill>
                  <a:srgbClr val="002960">
                    <a:alpha val="100000"/>
                  </a:srgbClr>
                </a:solidFill>
                <a:latin typeface="微软雅黑" panose="020B0503020204020204" charset="-122"/>
                <a:ea typeface="微软雅黑" panose="020B0503020204020204" charset="-122"/>
                <a:cs typeface="楷体" panose="02010609060101010101" charset="-122"/>
              </a:rPr>
              <a:t>析</a:t>
            </a:r>
            <a:r>
              <a:rPr sz="1200" spc="0" dirty="0">
                <a:solidFill>
                  <a:srgbClr val="002960">
                    <a:alpha val="100000"/>
                  </a:srgbClr>
                </a:solidFill>
                <a:latin typeface="微软雅黑" panose="020B0503020204020204" charset="-122"/>
                <a:ea typeface="微软雅黑" panose="020B0503020204020204" charset="-122"/>
                <a:cs typeface="楷体" panose="02010609060101010101" charset="-122"/>
              </a:rPr>
              <a:t>  </a:t>
            </a:r>
            <a:endParaRPr lang="en-US" altLang="en-US" sz="1200" dirty="0">
              <a:latin typeface="微软雅黑" panose="020B0503020204020204" charset="-122"/>
              <a:ea typeface="微软雅黑" panose="020B0503020204020204" charset="-122"/>
            </a:endParaRPr>
          </a:p>
        </p:txBody>
      </p:sp>
      <p:sp>
        <p:nvSpPr>
          <p:cNvPr id="645" name="textbox 645"/>
          <p:cNvSpPr/>
          <p:nvPr/>
        </p:nvSpPr>
        <p:spPr>
          <a:xfrm>
            <a:off x="7457883" y="6522553"/>
            <a:ext cx="1234439" cy="124460"/>
          </a:xfrm>
          <a:prstGeom prst="rect">
            <a:avLst/>
          </a:prstGeom>
        </p:spPr>
        <p:txBody>
          <a:bodyPr vert="horz" wrap="square" lIns="0" tIns="0" rIns="0" bIns="0"/>
          <a:lstStyle/>
          <a:p>
            <a:pPr algn="l" rtl="0" eaLnBrk="0">
              <a:lnSpc>
                <a:spcPct val="84000"/>
              </a:lnSpc>
            </a:pPr>
            <a:endParaRPr lang="en-US" altLang="en-US" sz="100" dirty="0"/>
          </a:p>
          <a:p>
            <a:pPr marL="12700" algn="l" rtl="0" eaLnBrk="0">
              <a:lnSpc>
                <a:spcPct val="81000"/>
              </a:lnSpc>
            </a:pPr>
            <a:r>
              <a:rPr sz="800" spc="20" dirty="0">
                <a:solidFill>
                  <a:srgbClr val="808080">
                    <a:alpha val="100000"/>
                  </a:srgbClr>
                </a:solidFill>
                <a:latin typeface="Arial" panose="020B0604020202020204"/>
                <a:ea typeface="Arial" panose="020B0604020202020204"/>
                <a:cs typeface="Arial" panose="020B0604020202020204"/>
              </a:rPr>
              <a:t>   </a:t>
            </a:r>
            <a:r>
              <a:rPr sz="800" spc="10" dirty="0">
                <a:solidFill>
                  <a:srgbClr val="808080">
                    <a:alpha val="100000"/>
                  </a:srgbClr>
                </a:solidFill>
                <a:latin typeface="Arial" panose="020B0604020202020204"/>
                <a:ea typeface="Arial" panose="020B0604020202020204"/>
                <a:cs typeface="Arial" panose="020B0604020202020204"/>
              </a:rPr>
              <a:t>1</a:t>
            </a:r>
            <a:r>
              <a:rPr sz="800" spc="0" dirty="0">
                <a:solidFill>
                  <a:srgbClr val="808080">
                    <a:alpha val="100000"/>
                  </a:srgbClr>
                </a:solidFill>
                <a:latin typeface="Arial" panose="020B0604020202020204"/>
                <a:ea typeface="Arial" panose="020B0604020202020204"/>
                <a:cs typeface="Arial" panose="020B0604020202020204"/>
              </a:rPr>
              <a:t>5</a:t>
            </a:r>
            <a:endParaRPr lang="en-US" altLang="en-US" sz="800" dirty="0"/>
          </a:p>
        </p:txBody>
      </p:sp>
      <p:sp>
        <p:nvSpPr>
          <p:cNvPr id="646" name="textbox 646"/>
          <p:cNvSpPr/>
          <p:nvPr/>
        </p:nvSpPr>
        <p:spPr>
          <a:xfrm>
            <a:off x="7904099" y="707516"/>
            <a:ext cx="778509" cy="202564"/>
          </a:xfrm>
          <a:prstGeom prst="rect">
            <a:avLst/>
          </a:prstGeom>
        </p:spPr>
        <p:txBody>
          <a:bodyPr vert="horz" wrap="square" lIns="0" tIns="0" rIns="0" bIns="0"/>
          <a:lstStyle/>
          <a:p>
            <a:pPr algn="l" rtl="0" eaLnBrk="0">
              <a:lnSpc>
                <a:spcPct val="163000"/>
              </a:lnSpc>
            </a:pPr>
            <a:endParaRPr lang="en-US" altLang="en-US" sz="100" dirty="0"/>
          </a:p>
          <a:p>
            <a:pPr marL="21590" algn="l" rtl="0" eaLnBrk="0">
              <a:lnSpc>
                <a:spcPct val="95000"/>
              </a:lnSpc>
              <a:tabLst>
                <a:tab pos="59055" algn="l"/>
              </a:tabLst>
            </a:pPr>
            <a:r>
              <a:rPr sz="800" u="sng" spc="0" dirty="0">
                <a:solidFill>
                  <a:srgbClr val="808080">
                    <a:alpha val="100000"/>
                  </a:srgbClr>
                </a:solidFill>
                <a:latin typeface="楷体" panose="02010609060101010101" charset="-122"/>
                <a:ea typeface="楷体" panose="02010609060101010101" charset="-122"/>
                <a:cs typeface="楷体" panose="02010609060101010101" charset="-122"/>
              </a:rPr>
              <a:t>	</a:t>
            </a:r>
            <a:r>
              <a:rPr sz="800" u="sng" spc="-10" dirty="0">
                <a:solidFill>
                  <a:srgbClr val="808080">
                    <a:alpha val="100000"/>
                  </a:srgbClr>
                </a:solidFill>
                <a:latin typeface="楷体" panose="02010609060101010101" charset="-122"/>
                <a:ea typeface="楷体" panose="02010609060101010101" charset="-122"/>
                <a:cs typeface="楷体" panose="02010609060101010101" charset="-122"/>
              </a:rPr>
              <a:t>乙方客</a:t>
            </a:r>
            <a:r>
              <a:rPr sz="800" u="sng" spc="0" dirty="0">
                <a:solidFill>
                  <a:srgbClr val="808080">
                    <a:alpha val="100000"/>
                  </a:srgbClr>
                </a:solidFill>
                <a:latin typeface="楷体" panose="02010609060101010101" charset="-122"/>
                <a:ea typeface="楷体" panose="02010609060101010101" charset="-122"/>
                <a:cs typeface="楷体" panose="02010609060101010101" charset="-122"/>
              </a:rPr>
              <a:t>户案例</a:t>
            </a:r>
            <a:endParaRPr lang="en-US" altLang="en-US" sz="800" dirty="0"/>
          </a:p>
        </p:txBody>
      </p:sp>
      <p:sp>
        <p:nvSpPr>
          <p:cNvPr id="648" name="rect"/>
          <p:cNvSpPr/>
          <p:nvPr/>
        </p:nvSpPr>
        <p:spPr>
          <a:xfrm>
            <a:off x="6044183" y="1409700"/>
            <a:ext cx="2638044" cy="41147"/>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649" name="rect"/>
          <p:cNvSpPr/>
          <p:nvPr/>
        </p:nvSpPr>
        <p:spPr>
          <a:xfrm>
            <a:off x="169164" y="1409700"/>
            <a:ext cx="2334767" cy="41147"/>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650" name="textbox 650"/>
          <p:cNvSpPr/>
          <p:nvPr/>
        </p:nvSpPr>
        <p:spPr>
          <a:xfrm>
            <a:off x="114849" y="6511311"/>
            <a:ext cx="831214" cy="140335"/>
          </a:xfrm>
          <a:prstGeom prst="rect">
            <a:avLst/>
          </a:prstGeom>
        </p:spPr>
        <p:txBody>
          <a:bodyPr vert="horz" wrap="square" lIns="0" tIns="0" rIns="0" bIns="0"/>
          <a:lstStyle/>
          <a:p>
            <a:pPr algn="l" rtl="0" eaLnBrk="0">
              <a:lnSpc>
                <a:spcPct val="83000"/>
              </a:lnSpc>
            </a:pPr>
            <a:endParaRPr lang="en-US" altLang="en-US" sz="100" dirty="0"/>
          </a:p>
          <a:p>
            <a:pPr marL="12700" algn="l" rtl="0" eaLnBrk="0">
              <a:lnSpc>
                <a:spcPct val="94000"/>
              </a:lnSpc>
            </a:pPr>
            <a:r>
              <a:rPr sz="800" spc="-10" dirty="0">
                <a:solidFill>
                  <a:srgbClr val="808080">
                    <a:alpha val="100000"/>
                  </a:srgbClr>
                </a:solidFill>
                <a:latin typeface="楷体" panose="02010609060101010101" charset="-122"/>
                <a:ea typeface="楷体" panose="02010609060101010101" charset="-122"/>
                <a:cs typeface="楷体" panose="02010609060101010101" charset="-122"/>
              </a:rPr>
              <a:t>资料来源：乙方</a:t>
            </a:r>
            <a:endParaRPr lang="en-US" altLang="en-US" sz="800" dirty="0"/>
          </a:p>
        </p:txBody>
      </p:sp>
      <p:sp>
        <p:nvSpPr>
          <p:cNvPr id="651" name="textbox 651"/>
          <p:cNvSpPr/>
          <p:nvPr/>
        </p:nvSpPr>
        <p:spPr>
          <a:xfrm>
            <a:off x="8818435" y="4032021"/>
            <a:ext cx="114935" cy="262890"/>
          </a:xfrm>
          <a:prstGeom prst="rect">
            <a:avLst/>
          </a:prstGeom>
        </p:spPr>
        <p:txBody>
          <a:bodyPr vert="eaVert" wrap="square" lIns="0" tIns="0" rIns="0" bIns="0"/>
          <a:lstStyle/>
          <a:p>
            <a:pPr algn="l" rtl="0" eaLnBrk="0">
              <a:lnSpc>
                <a:spcPct val="85000"/>
              </a:lnSpc>
            </a:pPr>
            <a:endParaRPr lang="en-US" altLang="en-US" sz="100" dirty="0"/>
          </a:p>
          <a:p>
            <a:pPr marL="12700" algn="l" rtl="0" eaLnBrk="0">
              <a:lnSpc>
                <a:spcPct val="79000"/>
              </a:lnSpc>
            </a:pPr>
            <a:endParaRPr sz="600" spc="-10" dirty="0">
              <a:solidFill>
                <a:srgbClr val="808080">
                  <a:alpha val="100000"/>
                </a:srgbClr>
              </a:solidFill>
              <a:latin typeface="Arial" panose="020B0604020202020204"/>
              <a:ea typeface="Arial" panose="020B0604020202020204"/>
              <a:cs typeface="Arial" panose="020B0604020202020204"/>
            </a:endParaRPr>
          </a:p>
        </p:txBody>
      </p:sp>
      <p:sp>
        <p:nvSpPr>
          <p:cNvPr id="652" name="path"/>
          <p:cNvSpPr/>
          <p:nvPr/>
        </p:nvSpPr>
        <p:spPr>
          <a:xfrm>
            <a:off x="3125089" y="2387091"/>
            <a:ext cx="19811" cy="106934"/>
          </a:xfrm>
          <a:custGeom>
            <a:avLst/>
            <a:gdLst/>
            <a:ahLst/>
            <a:cxnLst/>
            <a:rect l="0" t="0" r="0" b="0"/>
            <a:pathLst>
              <a:path w="31" h="168">
                <a:moveTo>
                  <a:pt x="15" y="168"/>
                </a:moveTo>
                <a:lnTo>
                  <a:pt x="15" y="0"/>
                </a:lnTo>
              </a:path>
            </a:pathLst>
          </a:custGeom>
          <a:noFill/>
          <a:ln w="19811" cap="flat">
            <a:solidFill>
              <a:srgbClr val="FFFFFF">
                <a:alpha val="100000"/>
              </a:srgbClr>
            </a:solidFill>
            <a:prstDash val="solid"/>
            <a:miter lim="1000000"/>
          </a:ln>
        </p:spPr>
        <p:txBody>
          <a:bodyPr rtlCol="0"/>
          <a:lstStyle/>
          <a:p>
            <a:pPr algn="ctr"/>
            <a:endParaRPr lang="zh-CN" altLang="en-US"/>
          </a:p>
        </p:txBody>
      </p:sp>
      <p:sp>
        <p:nvSpPr>
          <p:cNvPr id="653" name="path"/>
          <p:cNvSpPr/>
          <p:nvPr/>
        </p:nvSpPr>
        <p:spPr>
          <a:xfrm>
            <a:off x="3125089" y="1780794"/>
            <a:ext cx="19811" cy="106933"/>
          </a:xfrm>
          <a:custGeom>
            <a:avLst/>
            <a:gdLst/>
            <a:ahLst/>
            <a:cxnLst/>
            <a:rect l="0" t="0" r="0" b="0"/>
            <a:pathLst>
              <a:path w="31" h="168">
                <a:moveTo>
                  <a:pt x="15" y="168"/>
                </a:moveTo>
                <a:lnTo>
                  <a:pt x="15" y="0"/>
                </a:lnTo>
              </a:path>
            </a:pathLst>
          </a:custGeom>
          <a:noFill/>
          <a:ln w="19811" cap="flat">
            <a:solidFill>
              <a:srgbClr val="FFFFFF">
                <a:alpha val="100000"/>
              </a:srgbClr>
            </a:solidFill>
            <a:prstDash val="solid"/>
            <a:miter lim="1000000"/>
          </a:ln>
        </p:spPr>
        <p:txBody>
          <a:bodyPr rtlCol="0"/>
          <a:lstStyle/>
          <a:p>
            <a:pPr algn="ct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54" name="table 654"/>
          <p:cNvGraphicFramePr>
            <a:graphicFrameLocks noGrp="1"/>
          </p:cNvGraphicFramePr>
          <p:nvPr/>
        </p:nvGraphicFramePr>
        <p:xfrm>
          <a:off x="5943600" y="3352800"/>
          <a:ext cx="2819400" cy="2677795"/>
        </p:xfrm>
        <a:graphic>
          <a:graphicData uri="http://schemas.openxmlformats.org/drawingml/2006/table">
            <a:tbl>
              <a:tblPr/>
              <a:tblGrid>
                <a:gridCol w="2819400"/>
              </a:tblGrid>
              <a:tr h="2677795">
                <a:tc>
                  <a:txBody>
                    <a:bodyPr/>
                    <a:lstStyle/>
                    <a:p>
                      <a:pPr algn="l" rtl="0" eaLnBrk="0">
                        <a:lnSpc>
                          <a:spcPct val="108000"/>
                        </a:lnSpc>
                      </a:pPr>
                      <a:endParaRPr lang="en-US" altLang="en-US" sz="10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0000"/>
                        </a:lnSpc>
                      </a:pPr>
                      <a:endParaRPr lang="en-US" altLang="en-US" sz="100" dirty="0">
                        <a:latin typeface="微软雅黑" panose="020B0503020204020204" charset="-122"/>
                        <a:ea typeface="微软雅黑" panose="020B0503020204020204" charset="-122"/>
                      </a:endParaRPr>
                    </a:p>
                    <a:p>
                      <a:pPr marL="93345" algn="l" rtl="0" eaLnBrk="0">
                        <a:lnSpc>
                          <a:spcPct val="82000"/>
                        </a:lnSpc>
                      </a:pPr>
                      <a:r>
                        <a:rPr sz="1700" spc="-2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协调下</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游</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客户活动</a:t>
                      </a:r>
                      <a:endParaRPr lang="en-US" altLang="en-US" sz="1400" dirty="0">
                        <a:latin typeface="微软雅黑" panose="020B0503020204020204" charset="-122"/>
                        <a:ea typeface="微软雅黑" panose="020B0503020204020204" charset="-122"/>
                      </a:endParaRPr>
                    </a:p>
                    <a:p>
                      <a:pPr marL="276860" indent="-183515" algn="l" rtl="0" eaLnBrk="0">
                        <a:lnSpc>
                          <a:spcPct val="87000"/>
                        </a:lnSpc>
                        <a:spcBef>
                          <a:spcPts val="55"/>
                        </a:spcBef>
                      </a:pPr>
                      <a:r>
                        <a:rPr sz="1700" spc="-1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降低交易成本和巩固客户关</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系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是主要</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目标</a:t>
                      </a:r>
                      <a:endParaRPr lang="en-US" altLang="en-US" sz="1400" dirty="0">
                        <a:latin typeface="微软雅黑" panose="020B0503020204020204" charset="-122"/>
                        <a:ea typeface="微软雅黑" panose="020B0503020204020204" charset="-122"/>
                      </a:endParaRPr>
                    </a:p>
                    <a:p>
                      <a:pPr marL="93345" algn="l" rtl="0" eaLnBrk="0">
                        <a:lnSpc>
                          <a:spcPct val="82000"/>
                        </a:lnSpc>
                        <a:spcBef>
                          <a:spcPts val="85"/>
                        </a:spcBef>
                      </a:pPr>
                      <a:r>
                        <a:rPr sz="1700" spc="-1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与一些客户建立密切</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关系</a:t>
                      </a:r>
                      <a:r>
                        <a:rPr sz="1400" spc="0" dirty="0">
                          <a:solidFill>
                            <a:srgbClr val="000000">
                              <a:alpha val="100000"/>
                            </a:srgbClr>
                          </a:solidFill>
                          <a:latin typeface="微软雅黑" panose="020B0503020204020204" charset="-122"/>
                          <a:ea typeface="微软雅黑" panose="020B0503020204020204" charset="-122"/>
                          <a:cs typeface="Arial" panose="020B0604020202020204"/>
                        </a:rPr>
                        <a:t>/</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合作</a:t>
                      </a:r>
                      <a:endParaRPr lang="en-US" altLang="en-US" sz="1400" dirty="0">
                        <a:latin typeface="微软雅黑" panose="020B0503020204020204" charset="-122"/>
                        <a:ea typeface="微软雅黑" panose="020B0503020204020204" charset="-122"/>
                      </a:endParaRPr>
                    </a:p>
                    <a:p>
                      <a:pPr marL="93345" algn="l" rtl="0" eaLnBrk="0">
                        <a:lnSpc>
                          <a:spcPct val="80000"/>
                        </a:lnSpc>
                        <a:spcBef>
                          <a:spcPts val="10"/>
                        </a:spcBef>
                      </a:pPr>
                      <a:r>
                        <a:rPr sz="1700" spc="-2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需要大量</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的</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下游专有技术</a:t>
                      </a:r>
                      <a:endParaRPr lang="en-US" altLang="en-US" sz="1400" dirty="0">
                        <a:latin typeface="微软雅黑" panose="020B0503020204020204" charset="-122"/>
                        <a:ea typeface="微软雅黑" panose="020B0503020204020204" charset="-122"/>
                      </a:endParaRPr>
                    </a:p>
                    <a:p>
                      <a:pPr marL="93345" algn="l" rtl="0" eaLnBrk="0">
                        <a:lnSpc>
                          <a:spcPct val="80000"/>
                        </a:lnSpc>
                        <a:spcBef>
                          <a:spcPts val="40"/>
                        </a:spcBef>
                      </a:pPr>
                      <a:r>
                        <a:rPr sz="1700" spc="4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40" dirty="0">
                          <a:solidFill>
                            <a:srgbClr val="000000">
                              <a:alpha val="100000"/>
                            </a:srgbClr>
                          </a:solidFill>
                          <a:latin typeface="微软雅黑" panose="020B0503020204020204" charset="-122"/>
                          <a:ea typeface="微软雅黑" panose="020B0503020204020204" charset="-122"/>
                          <a:cs typeface="楷体" panose="02010609060101010101" charset="-122"/>
                        </a:rPr>
                        <a:t>供应商承担运</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作</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风险</a:t>
                      </a:r>
                      <a:endParaRPr lang="en-US" altLang="en-US" sz="1400" dirty="0">
                        <a:latin typeface="微软雅黑" panose="020B0503020204020204" charset="-122"/>
                        <a:ea typeface="微软雅黑" panose="020B0503020204020204" charset="-122"/>
                      </a:endParaRPr>
                    </a:p>
                  </a:txBody>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w="19050" cap="flat" cmpd="sng" algn="ctr">
                      <a:solidFill>
                        <a:srgbClr val="BFE1FF"/>
                      </a:solidFill>
                      <a:prstDash val="solid"/>
                      <a:round/>
                      <a:headEnd type="none" w="med" len="med"/>
                      <a:tailEnd type="none" w="med" len="med"/>
                    </a:lnT>
                    <a:lnB w="19050" cap="flat" cmpd="sng" algn="ctr">
                      <a:solidFill>
                        <a:srgbClr val="BFE1FF"/>
                      </a:solidFill>
                      <a:prstDash val="solid"/>
                      <a:round/>
                      <a:headEnd type="none" w="med" len="med"/>
                      <a:tailEnd type="none" w="med" len="med"/>
                    </a:lnB>
                  </a:tcPr>
                </a:tc>
              </a:tr>
            </a:tbl>
          </a:graphicData>
        </a:graphic>
      </p:graphicFrame>
      <p:graphicFrame>
        <p:nvGraphicFramePr>
          <p:cNvPr id="655" name="table 655"/>
          <p:cNvGraphicFramePr>
            <a:graphicFrameLocks noGrp="1"/>
          </p:cNvGraphicFramePr>
          <p:nvPr/>
        </p:nvGraphicFramePr>
        <p:xfrm>
          <a:off x="3076955" y="3352800"/>
          <a:ext cx="2817495" cy="2677795"/>
        </p:xfrm>
        <a:graphic>
          <a:graphicData uri="http://schemas.openxmlformats.org/drawingml/2006/table">
            <a:tbl>
              <a:tblPr/>
              <a:tblGrid>
                <a:gridCol w="2817495"/>
              </a:tblGrid>
              <a:tr h="2677795">
                <a:tc>
                  <a:txBody>
                    <a:bodyPr/>
                    <a:lstStyle/>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marL="90170" algn="l" rtl="0" eaLnBrk="0">
                        <a:lnSpc>
                          <a:spcPct val="80000"/>
                        </a:lnSpc>
                        <a:spcBef>
                          <a:spcPts val="0"/>
                        </a:spcBef>
                      </a:pPr>
                      <a:r>
                        <a:rPr sz="1700" spc="3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30" dirty="0">
                          <a:solidFill>
                            <a:srgbClr val="000000">
                              <a:alpha val="100000"/>
                            </a:srgbClr>
                          </a:solidFill>
                          <a:latin typeface="微软雅黑" panose="020B0503020204020204" charset="-122"/>
                          <a:ea typeface="微软雅黑" panose="020B0503020204020204" charset="-122"/>
                          <a:cs typeface="楷体" panose="02010609060101010101" charset="-122"/>
                        </a:rPr>
                        <a:t>客户导向型的产品和</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服务</a:t>
                      </a:r>
                      <a:endParaRPr lang="en-US" altLang="en-US" sz="1400" dirty="0">
                        <a:latin typeface="微软雅黑" panose="020B0503020204020204" charset="-122"/>
                        <a:ea typeface="微软雅黑" panose="020B0503020204020204" charset="-122"/>
                      </a:endParaRPr>
                    </a:p>
                    <a:p>
                      <a:pPr marL="90170" algn="l" rtl="0" eaLnBrk="0">
                        <a:lnSpc>
                          <a:spcPct val="81000"/>
                        </a:lnSpc>
                        <a:spcBef>
                          <a:spcPts val="50"/>
                        </a:spcBef>
                      </a:pPr>
                      <a:r>
                        <a:rPr sz="1700" spc="-1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投资于为客户制定解决方</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案</a:t>
                      </a:r>
                      <a:endParaRPr lang="en-US" altLang="en-US" sz="1400" dirty="0">
                        <a:latin typeface="微软雅黑" panose="020B0503020204020204" charset="-122"/>
                        <a:ea typeface="微软雅黑" panose="020B0503020204020204" charset="-122"/>
                      </a:endParaRPr>
                    </a:p>
                    <a:p>
                      <a:pPr marL="300355" indent="-210185" algn="l" rtl="0" eaLnBrk="0">
                        <a:lnSpc>
                          <a:spcPct val="86000"/>
                        </a:lnSpc>
                        <a:spcBef>
                          <a:spcPts val="65"/>
                        </a:spcBef>
                      </a:pPr>
                      <a:r>
                        <a:rPr sz="1700" spc="-1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与客户建立“肩并肩”合作</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关  系</a:t>
                      </a:r>
                      <a:endParaRPr lang="en-US" altLang="en-US" sz="1400" dirty="0">
                        <a:latin typeface="微软雅黑" panose="020B0503020204020204" charset="-122"/>
                        <a:ea typeface="微软雅黑" panose="020B0503020204020204" charset="-122"/>
                      </a:endParaRPr>
                    </a:p>
                    <a:p>
                      <a:pPr marL="277495" indent="-187325" algn="l" rtl="0" eaLnBrk="0">
                        <a:lnSpc>
                          <a:spcPct val="87000"/>
                        </a:lnSpc>
                        <a:spcBef>
                          <a:spcPts val="180"/>
                        </a:spcBef>
                      </a:pPr>
                      <a:r>
                        <a:rPr sz="1700" spc="3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30" dirty="0">
                          <a:solidFill>
                            <a:srgbClr val="000000">
                              <a:alpha val="100000"/>
                            </a:srgbClr>
                          </a:solidFill>
                          <a:latin typeface="微软雅黑" panose="020B0503020204020204" charset="-122"/>
                          <a:ea typeface="微软雅黑" panose="020B0503020204020204" charset="-122"/>
                          <a:cs typeface="楷体" panose="02010609060101010101" charset="-122"/>
                        </a:rPr>
                        <a:t>价值营销、销售及</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定</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价技巧十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分关</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键</a:t>
                      </a:r>
                      <a:endParaRPr lang="en-US" altLang="en-US" sz="1400" dirty="0">
                        <a:latin typeface="微软雅黑" panose="020B0503020204020204" charset="-122"/>
                        <a:ea typeface="微软雅黑" panose="020B0503020204020204" charset="-122"/>
                      </a:endParaRPr>
                    </a:p>
                  </a:txBody>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w="19050" cap="flat" cmpd="sng" algn="ctr">
                      <a:solidFill>
                        <a:srgbClr val="BFE1FF"/>
                      </a:solidFill>
                      <a:prstDash val="solid"/>
                      <a:round/>
                      <a:headEnd type="none" w="med" len="med"/>
                      <a:tailEnd type="none" w="med" len="med"/>
                    </a:lnT>
                    <a:lnB w="19050" cap="flat" cmpd="sng" algn="ctr">
                      <a:solidFill>
                        <a:srgbClr val="BFE1FF"/>
                      </a:solidFill>
                      <a:prstDash val="solid"/>
                      <a:round/>
                      <a:headEnd type="none" w="med" len="med"/>
                      <a:tailEnd type="none" w="med" len="med"/>
                    </a:lnB>
                  </a:tcPr>
                </a:tc>
              </a:tr>
            </a:tbl>
          </a:graphicData>
        </a:graphic>
      </p:graphicFrame>
      <p:sp>
        <p:nvSpPr>
          <p:cNvPr id="656" name="rect"/>
          <p:cNvSpPr/>
          <p:nvPr/>
        </p:nvSpPr>
        <p:spPr>
          <a:xfrm>
            <a:off x="214884" y="3467100"/>
            <a:ext cx="2799587" cy="580644"/>
          </a:xfrm>
          <a:prstGeom prst="rect">
            <a:avLst/>
          </a:prstGeom>
          <a:solidFill>
            <a:srgbClr val="BFE1FF">
              <a:alpha val="100000"/>
            </a:srgbClr>
          </a:solidFill>
          <a:ln cap="flat">
            <a:noFill/>
            <a:prstDash val="solid"/>
            <a:miter lim="0"/>
          </a:ln>
        </p:spPr>
        <p:txBody>
          <a:bodyPr rtlCol="0"/>
          <a:lstStyle/>
          <a:p>
            <a:pPr algn="ctr"/>
            <a:endParaRPr lang="zh-CN" altLang="en-US"/>
          </a:p>
        </p:txBody>
      </p:sp>
      <p:graphicFrame>
        <p:nvGraphicFramePr>
          <p:cNvPr id="657" name="table 657"/>
          <p:cNvGraphicFramePr>
            <a:graphicFrameLocks noGrp="1"/>
          </p:cNvGraphicFramePr>
          <p:nvPr/>
        </p:nvGraphicFramePr>
        <p:xfrm>
          <a:off x="205739" y="3369564"/>
          <a:ext cx="2818764" cy="2668269"/>
        </p:xfrm>
        <a:graphic>
          <a:graphicData uri="http://schemas.openxmlformats.org/drawingml/2006/table">
            <a:tbl>
              <a:tblPr/>
              <a:tblGrid>
                <a:gridCol w="813435"/>
                <a:gridCol w="2005329"/>
              </a:tblGrid>
              <a:tr h="778509">
                <a:tc>
                  <a:txBody>
                    <a:bodyPr/>
                    <a:lstStyle/>
                    <a:p>
                      <a:pPr algn="l" rtl="0" eaLnBrk="0">
                        <a:lnSpc>
                          <a:spcPct val="100000"/>
                        </a:lnSpc>
                      </a:pPr>
                      <a:endParaRPr lang="en-US" altLang="en-US" sz="1000" dirty="0">
                        <a:latin typeface="微软雅黑" panose="020B0503020204020204" charset="-122"/>
                        <a:ea typeface="微软雅黑" panose="020B0503020204020204" charset="-122"/>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99000"/>
                        </a:lnSpc>
                      </a:pPr>
                      <a:endParaRPr lang="en-US" altLang="en-US" sz="1000" dirty="0">
                        <a:latin typeface="微软雅黑" panose="020B0503020204020204" charset="-122"/>
                        <a:ea typeface="微软雅黑" panose="020B0503020204020204" charset="-122"/>
                      </a:endParaRPr>
                    </a:p>
                    <a:p>
                      <a:pPr algn="l" rtl="0" eaLnBrk="0">
                        <a:lnSpc>
                          <a:spcPct val="9000"/>
                        </a:lnSpc>
                      </a:pPr>
                      <a:endParaRPr lang="en-US" altLang="en-US" sz="100" dirty="0">
                        <a:latin typeface="微软雅黑" panose="020B0503020204020204" charset="-122"/>
                        <a:ea typeface="微软雅黑" panose="020B0503020204020204" charset="-122"/>
                      </a:endParaRPr>
                    </a:p>
                    <a:p>
                      <a:pPr marL="89535" algn="l" rtl="0" eaLnBrk="0">
                        <a:lnSpc>
                          <a:spcPct val="94000"/>
                        </a:lnSpc>
                      </a:pPr>
                      <a:r>
                        <a:rPr sz="1400" spc="-20" dirty="0">
                          <a:ln w="5094"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创新</a:t>
                      </a:r>
                      <a:r>
                        <a:rPr sz="1400" spc="0" dirty="0">
                          <a:ln w="5094"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型</a:t>
                      </a:r>
                      <a:endParaRPr lang="en-US" altLang="en-US" sz="1400" dirty="0">
                        <a:latin typeface="微软雅黑" panose="020B0503020204020204" charset="-122"/>
                        <a:ea typeface="微软雅黑" panose="020B0503020204020204" charset="-122"/>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BFE1FF"/>
                      </a:solidFill>
                      <a:prstDash val="solid"/>
                      <a:round/>
                      <a:headEnd type="none" w="med" len="med"/>
                      <a:tailEnd type="none" w="med" len="med"/>
                    </a:lnR>
                    <a:lnT w="3175" cap="flat" cmpd="sng" algn="ctr">
                      <a:solidFill>
                        <a:srgbClr val="BFE1FF"/>
                      </a:solidFill>
                      <a:prstDash val="solid"/>
                      <a:round/>
                      <a:headEnd type="none" w="med" len="med"/>
                      <a:tailEnd type="none" w="med" len="med"/>
                    </a:lnT>
                    <a:lnB>
                      <a:noFill/>
                    </a:lnB>
                  </a:tcPr>
                </a:tc>
              </a:tr>
              <a:tr h="1889760">
                <a:tc gridSpan="2">
                  <a:txBody>
                    <a:bodyPr/>
                    <a:lstStyle/>
                    <a:p>
                      <a:pPr algn="l" rtl="0" eaLnBrk="0">
                        <a:lnSpc>
                          <a:spcPct val="131000"/>
                        </a:lnSpc>
                      </a:pPr>
                      <a:endParaRPr lang="en-US" altLang="en-US" sz="1000" dirty="0">
                        <a:latin typeface="微软雅黑" panose="020B0503020204020204" charset="-122"/>
                        <a:ea typeface="微软雅黑" panose="020B0503020204020204" charset="-122"/>
                      </a:endParaRPr>
                    </a:p>
                    <a:p>
                      <a:pPr algn="l" rtl="0" eaLnBrk="0">
                        <a:lnSpc>
                          <a:spcPct val="10000"/>
                        </a:lnSpc>
                      </a:pPr>
                      <a:endParaRPr lang="en-US" altLang="en-US" sz="100" dirty="0">
                        <a:latin typeface="微软雅黑" panose="020B0503020204020204" charset="-122"/>
                        <a:ea typeface="微软雅黑" panose="020B0503020204020204" charset="-122"/>
                      </a:endParaRPr>
                    </a:p>
                    <a:p>
                      <a:pPr marL="143510" algn="l" rtl="0" eaLnBrk="0">
                        <a:lnSpc>
                          <a:spcPct val="81000"/>
                        </a:lnSpc>
                      </a:pPr>
                      <a:r>
                        <a:rPr sz="1700" spc="-2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创新开</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发</a:t>
                      </a:r>
                      <a:endParaRPr lang="en-US" altLang="en-US" sz="1400" dirty="0">
                        <a:latin typeface="微软雅黑" panose="020B0503020204020204" charset="-122"/>
                        <a:ea typeface="微软雅黑" panose="020B0503020204020204" charset="-122"/>
                      </a:endParaRPr>
                    </a:p>
                    <a:p>
                      <a:pPr marL="143510" algn="l" rtl="0" eaLnBrk="0">
                        <a:lnSpc>
                          <a:spcPct val="80000"/>
                        </a:lnSpc>
                        <a:spcBef>
                          <a:spcPts val="35"/>
                        </a:spcBef>
                      </a:pPr>
                      <a:r>
                        <a:rPr sz="1700" spc="3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30" dirty="0">
                          <a:solidFill>
                            <a:srgbClr val="000000">
                              <a:alpha val="100000"/>
                            </a:srgbClr>
                          </a:solidFill>
                          <a:latin typeface="微软雅黑" panose="020B0503020204020204" charset="-122"/>
                          <a:ea typeface="微软雅黑" panose="020B0503020204020204" charset="-122"/>
                          <a:cs typeface="楷体" panose="02010609060101010101" charset="-122"/>
                        </a:rPr>
                        <a:t>持续创新能够创造高</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性能产品</a:t>
                      </a:r>
                      <a:endParaRPr lang="en-US" altLang="en-US" sz="1400" dirty="0">
                        <a:latin typeface="微软雅黑" panose="020B0503020204020204" charset="-122"/>
                        <a:ea typeface="微软雅黑" panose="020B0503020204020204" charset="-122"/>
                      </a:endParaRPr>
                    </a:p>
                    <a:p>
                      <a:pPr marL="143510" algn="l" rtl="0" eaLnBrk="0">
                        <a:lnSpc>
                          <a:spcPct val="80000"/>
                        </a:lnSpc>
                        <a:spcBef>
                          <a:spcPts val="50"/>
                        </a:spcBef>
                      </a:pPr>
                      <a:r>
                        <a:rPr sz="1700" spc="4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40" dirty="0">
                          <a:solidFill>
                            <a:srgbClr val="000000">
                              <a:alpha val="100000"/>
                            </a:srgbClr>
                          </a:solidFill>
                          <a:latin typeface="微软雅黑" panose="020B0503020204020204" charset="-122"/>
                          <a:ea typeface="微软雅黑" panose="020B0503020204020204" charset="-122"/>
                          <a:cs typeface="楷体" panose="02010609060101010101" charset="-122"/>
                        </a:rPr>
                        <a:t>知识产权保护</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度</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高</a:t>
                      </a:r>
                      <a:endParaRPr lang="en-US" altLang="en-US" sz="1400" dirty="0">
                        <a:latin typeface="微软雅黑" panose="020B0503020204020204" charset="-122"/>
                        <a:ea typeface="微软雅黑" panose="020B0503020204020204" charset="-122"/>
                      </a:endParaRPr>
                    </a:p>
                    <a:p>
                      <a:pPr marL="323850" indent="-180340" algn="l" rtl="0" eaLnBrk="0">
                        <a:lnSpc>
                          <a:spcPct val="87000"/>
                        </a:lnSpc>
                        <a:spcBef>
                          <a:spcPts val="95"/>
                        </a:spcBef>
                      </a:pPr>
                      <a:r>
                        <a:rPr sz="1700" spc="7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70" dirty="0">
                          <a:solidFill>
                            <a:srgbClr val="000000">
                              <a:alpha val="100000"/>
                            </a:srgbClr>
                          </a:solidFill>
                          <a:latin typeface="微软雅黑" panose="020B0503020204020204" charset="-122"/>
                          <a:ea typeface="微软雅黑" panose="020B0503020204020204" charset="-122"/>
                          <a:cs typeface="楷体" panose="02010609060101010101" charset="-122"/>
                        </a:rPr>
                        <a:t>研发技术是关键(包括产权</a:t>
                      </a:r>
                      <a:r>
                        <a:rPr sz="1400" spc="40" dirty="0">
                          <a:solidFill>
                            <a:srgbClr val="000000">
                              <a:alpha val="100000"/>
                            </a:srgbClr>
                          </a:solidFill>
                          <a:latin typeface="微软雅黑" panose="020B0503020204020204" charset="-122"/>
                          <a:ea typeface="微软雅黑" panose="020B0503020204020204" charset="-122"/>
                          <a:cs typeface="楷体" panose="02010609060101010101" charset="-122"/>
                        </a:rPr>
                        <a:t>授</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400" spc="-60" dirty="0">
                          <a:solidFill>
                            <a:srgbClr val="000000">
                              <a:alpha val="100000"/>
                            </a:srgbClr>
                          </a:solidFill>
                          <a:latin typeface="微软雅黑" panose="020B0503020204020204" charset="-122"/>
                          <a:ea typeface="微软雅黑" panose="020B0503020204020204" charset="-122"/>
                          <a:cs typeface="楷体" panose="02010609060101010101" charset="-122"/>
                        </a:rPr>
                        <a:t>权</a:t>
                      </a:r>
                      <a:r>
                        <a:rPr sz="1400" spc="-50" dirty="0">
                          <a:solidFill>
                            <a:srgbClr val="000000">
                              <a:alpha val="100000"/>
                            </a:srgbClr>
                          </a:solidFill>
                          <a:latin typeface="微软雅黑" panose="020B0503020204020204" charset="-122"/>
                          <a:ea typeface="微软雅黑" panose="020B0503020204020204" charset="-122"/>
                          <a:cs typeface="楷体" panose="02010609060101010101" charset="-122"/>
                        </a:rPr>
                        <a:t>)</a:t>
                      </a:r>
                      <a:endParaRPr lang="en-US" altLang="en-US" sz="1400" dirty="0">
                        <a:latin typeface="微软雅黑" panose="020B0503020204020204" charset="-122"/>
                        <a:ea typeface="微软雅黑" panose="020B0503020204020204" charset="-122"/>
                      </a:endParaRPr>
                    </a:p>
                  </a:txBody>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BFE1FF"/>
                      </a:solidFill>
                      <a:prstDash val="solid"/>
                      <a:round/>
                      <a:headEnd type="none" w="med" len="med"/>
                      <a:tailEnd type="none" w="med" len="med"/>
                    </a:lnB>
                  </a:tcPr>
                </a:tc>
                <a:tc hMerge="1">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a:noFill/>
                    </a:lnT>
                    <a:lnB w="3175" cap="flat" cmpd="sng" algn="ctr">
                      <a:solidFill>
                        <a:srgbClr val="BFE1FF"/>
                      </a:solidFill>
                      <a:prstDash val="solid"/>
                      <a:round/>
                      <a:headEnd type="none" w="med" len="med"/>
                      <a:tailEnd type="none" w="med" len="med"/>
                    </a:lnB>
                  </a:tcPr>
                </a:tc>
              </a:tr>
            </a:tbl>
          </a:graphicData>
        </a:graphic>
      </p:graphicFrame>
      <p:sp>
        <p:nvSpPr>
          <p:cNvPr id="658" name="rect"/>
          <p:cNvSpPr/>
          <p:nvPr/>
        </p:nvSpPr>
        <p:spPr>
          <a:xfrm>
            <a:off x="219456" y="1060704"/>
            <a:ext cx="2798064" cy="580644"/>
          </a:xfrm>
          <a:prstGeom prst="rect">
            <a:avLst/>
          </a:prstGeom>
          <a:solidFill>
            <a:srgbClr val="BFE1FF">
              <a:alpha val="100000"/>
            </a:srgbClr>
          </a:solidFill>
          <a:ln cap="flat">
            <a:noFill/>
            <a:prstDash val="solid"/>
            <a:miter lim="0"/>
          </a:ln>
        </p:spPr>
        <p:txBody>
          <a:bodyPr rtlCol="0"/>
          <a:lstStyle/>
          <a:p>
            <a:pPr algn="ctr"/>
            <a:endParaRPr lang="zh-CN" altLang="en-US"/>
          </a:p>
        </p:txBody>
      </p:sp>
      <p:graphicFrame>
        <p:nvGraphicFramePr>
          <p:cNvPr id="659" name="table 659"/>
          <p:cNvGraphicFramePr>
            <a:graphicFrameLocks noGrp="1"/>
          </p:cNvGraphicFramePr>
          <p:nvPr/>
        </p:nvGraphicFramePr>
        <p:xfrm>
          <a:off x="205739" y="978408"/>
          <a:ext cx="2818764" cy="2290444"/>
        </p:xfrm>
        <a:graphic>
          <a:graphicData uri="http://schemas.openxmlformats.org/drawingml/2006/table">
            <a:tbl>
              <a:tblPr/>
              <a:tblGrid>
                <a:gridCol w="813435"/>
                <a:gridCol w="2005329"/>
              </a:tblGrid>
              <a:tr h="734694">
                <a:tc>
                  <a:txBody>
                    <a:bodyPr/>
                    <a:lstStyle/>
                    <a:p>
                      <a:pPr algn="l" rtl="0" eaLnBrk="0">
                        <a:lnSpc>
                          <a:spcPct val="100000"/>
                        </a:lnSpc>
                      </a:pPr>
                      <a:endParaRPr lang="en-US" altLang="en-US" sz="1000" dirty="0">
                        <a:latin typeface="微软雅黑" panose="020B0503020204020204" charset="-122"/>
                        <a:ea typeface="微软雅黑" panose="020B0503020204020204" charset="-122"/>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88000"/>
                        </a:lnSpc>
                      </a:pPr>
                      <a:endParaRPr lang="en-US" altLang="en-US" sz="1000" dirty="0">
                        <a:latin typeface="微软雅黑" panose="020B0503020204020204" charset="-122"/>
                        <a:ea typeface="微软雅黑" panose="020B0503020204020204" charset="-122"/>
                      </a:endParaRPr>
                    </a:p>
                    <a:p>
                      <a:pPr marL="93345" algn="l" rtl="0" eaLnBrk="0">
                        <a:lnSpc>
                          <a:spcPct val="96000"/>
                        </a:lnSpc>
                        <a:spcBef>
                          <a:spcPts val="5"/>
                        </a:spcBef>
                      </a:pPr>
                      <a:r>
                        <a:rPr sz="1400" spc="-20" dirty="0">
                          <a:ln w="5103"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交易型</a:t>
                      </a:r>
                      <a:endParaRPr lang="en-US" altLang="en-US" sz="1400" dirty="0">
                        <a:latin typeface="微软雅黑" panose="020B0503020204020204" charset="-122"/>
                        <a:ea typeface="微软雅黑" panose="020B0503020204020204" charset="-122"/>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BFE1FF"/>
                      </a:solidFill>
                      <a:prstDash val="solid"/>
                      <a:round/>
                      <a:headEnd type="none" w="med" len="med"/>
                      <a:tailEnd type="none" w="med" len="med"/>
                    </a:lnR>
                    <a:lnT w="3175" cap="flat" cmpd="sng" algn="ctr">
                      <a:solidFill>
                        <a:srgbClr val="BFE1FF"/>
                      </a:solidFill>
                      <a:prstDash val="solid"/>
                      <a:round/>
                      <a:headEnd type="none" w="med" len="med"/>
                      <a:tailEnd type="none" w="med" len="med"/>
                    </a:lnT>
                    <a:lnB>
                      <a:noFill/>
                    </a:lnB>
                  </a:tcPr>
                </a:tc>
              </a:tr>
              <a:tr h="1555750">
                <a:tc gridSpan="2">
                  <a:txBody>
                    <a:bodyPr/>
                    <a:lstStyle/>
                    <a:p>
                      <a:pPr algn="l" rtl="0" eaLnBrk="0">
                        <a:lnSpc>
                          <a:spcPct val="147000"/>
                        </a:lnSpc>
                      </a:pPr>
                      <a:endParaRPr lang="en-US" altLang="en-US" sz="1000" dirty="0">
                        <a:latin typeface="微软雅黑" panose="020B0503020204020204" charset="-122"/>
                        <a:ea typeface="微软雅黑" panose="020B0503020204020204" charset="-122"/>
                      </a:endParaRPr>
                    </a:p>
                    <a:p>
                      <a:pPr marL="93980" algn="l" rtl="0" eaLnBrk="0">
                        <a:lnSpc>
                          <a:spcPct val="80000"/>
                        </a:lnSpc>
                        <a:spcBef>
                          <a:spcPts val="5"/>
                        </a:spcBef>
                      </a:pPr>
                      <a:r>
                        <a:rPr sz="1700" spc="-2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大量的匿</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名买卖关系</a:t>
                      </a:r>
                      <a:endParaRPr lang="en-US" altLang="en-US" sz="1400" dirty="0">
                        <a:latin typeface="微软雅黑" panose="020B0503020204020204" charset="-122"/>
                        <a:ea typeface="微软雅黑" panose="020B0503020204020204" charset="-122"/>
                      </a:endParaRPr>
                    </a:p>
                    <a:p>
                      <a:pPr marL="93980" algn="l" rtl="0" eaLnBrk="0">
                        <a:lnSpc>
                          <a:spcPct val="81000"/>
                        </a:lnSpc>
                        <a:spcBef>
                          <a:spcPts val="50"/>
                        </a:spcBef>
                      </a:pPr>
                      <a:r>
                        <a:rPr sz="1700" spc="-2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现货市场</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行为</a:t>
                      </a:r>
                      <a:endParaRPr lang="en-US" altLang="en-US" sz="1400" dirty="0">
                        <a:latin typeface="微软雅黑" panose="020B0503020204020204" charset="-122"/>
                        <a:ea typeface="微软雅黑" panose="020B0503020204020204" charset="-122"/>
                      </a:endParaRPr>
                    </a:p>
                    <a:p>
                      <a:pPr marL="93980" algn="l" rtl="0" eaLnBrk="0">
                        <a:lnSpc>
                          <a:spcPct val="81000"/>
                        </a:lnSpc>
                        <a:spcBef>
                          <a:spcPts val="15"/>
                        </a:spcBef>
                      </a:pPr>
                      <a:r>
                        <a:rPr sz="1700" spc="4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40" dirty="0">
                          <a:solidFill>
                            <a:srgbClr val="000000">
                              <a:alpha val="100000"/>
                            </a:srgbClr>
                          </a:solidFill>
                          <a:latin typeface="微软雅黑" panose="020B0503020204020204" charset="-122"/>
                          <a:ea typeface="微软雅黑" panose="020B0503020204020204" charset="-122"/>
                          <a:cs typeface="楷体" panose="02010609060101010101" charset="-122"/>
                        </a:rPr>
                        <a:t>容易更换供应</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商</a:t>
                      </a:r>
                      <a:endParaRPr lang="en-US" altLang="en-US" sz="1400" dirty="0">
                        <a:latin typeface="微软雅黑" panose="020B0503020204020204" charset="-122"/>
                        <a:ea typeface="微软雅黑" panose="020B0503020204020204" charset="-122"/>
                      </a:endParaRPr>
                    </a:p>
                    <a:p>
                      <a:pPr marL="93980" algn="l" rtl="0" eaLnBrk="0">
                        <a:lnSpc>
                          <a:spcPct val="82000"/>
                        </a:lnSpc>
                        <a:spcBef>
                          <a:spcPts val="25"/>
                        </a:spcBef>
                      </a:pPr>
                      <a:r>
                        <a:rPr sz="1700" spc="5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50" dirty="0">
                          <a:solidFill>
                            <a:srgbClr val="000000">
                              <a:alpha val="100000"/>
                            </a:srgbClr>
                          </a:solidFill>
                          <a:latin typeface="微软雅黑" panose="020B0503020204020204" charset="-122"/>
                          <a:ea typeface="微软雅黑" panose="020B0503020204020204" charset="-122"/>
                          <a:cs typeface="楷体" panose="02010609060101010101" charset="-122"/>
                        </a:rPr>
                        <a:t>价格指数明</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确</a:t>
                      </a:r>
                      <a:endParaRPr lang="en-US" altLang="en-US" sz="1400" dirty="0">
                        <a:latin typeface="微软雅黑" panose="020B0503020204020204" charset="-122"/>
                        <a:ea typeface="微软雅黑" panose="020B0503020204020204" charset="-122"/>
                      </a:endParaRPr>
                    </a:p>
                  </a:txBody>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BFE1FF"/>
                      </a:solidFill>
                      <a:prstDash val="solid"/>
                      <a:round/>
                      <a:headEnd type="none" w="med" len="med"/>
                      <a:tailEnd type="none" w="med" len="med"/>
                    </a:lnB>
                  </a:tcPr>
                </a:tc>
                <a:tc hMerge="1">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a:noFill/>
                    </a:lnT>
                    <a:lnB w="3175" cap="flat" cmpd="sng" algn="ctr">
                      <a:solidFill>
                        <a:srgbClr val="BFE1FF"/>
                      </a:solidFill>
                      <a:prstDash val="solid"/>
                      <a:round/>
                      <a:headEnd type="none" w="med" len="med"/>
                      <a:tailEnd type="none" w="med" len="med"/>
                    </a:lnB>
                  </a:tcPr>
                </a:tc>
              </a:tr>
            </a:tbl>
          </a:graphicData>
        </a:graphic>
      </p:graphicFrame>
      <p:graphicFrame>
        <p:nvGraphicFramePr>
          <p:cNvPr id="660" name="table 660"/>
          <p:cNvGraphicFramePr>
            <a:graphicFrameLocks noGrp="1"/>
          </p:cNvGraphicFramePr>
          <p:nvPr/>
        </p:nvGraphicFramePr>
        <p:xfrm>
          <a:off x="5943600" y="989076"/>
          <a:ext cx="2819400" cy="2260600"/>
        </p:xfrm>
        <a:graphic>
          <a:graphicData uri="http://schemas.openxmlformats.org/drawingml/2006/table">
            <a:tbl>
              <a:tblPr/>
              <a:tblGrid>
                <a:gridCol w="2819400"/>
              </a:tblGrid>
              <a:tr h="2260600">
                <a:tc>
                  <a:txBody>
                    <a:bodyPr/>
                    <a:lstStyle/>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endParaRPr>
                    </a:p>
                    <a:p>
                      <a:pPr marL="91440" algn="l" rtl="0" eaLnBrk="0">
                        <a:lnSpc>
                          <a:spcPct val="85000"/>
                        </a:lnSpc>
                        <a:spcBef>
                          <a:spcPts val="0"/>
                        </a:spcBef>
                      </a:pPr>
                      <a:r>
                        <a:rPr sz="1700" spc="3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30" dirty="0">
                          <a:solidFill>
                            <a:srgbClr val="000000">
                              <a:alpha val="100000"/>
                            </a:srgbClr>
                          </a:solidFill>
                          <a:latin typeface="微软雅黑" panose="020B0503020204020204" charset="-122"/>
                          <a:ea typeface="微软雅黑" panose="020B0503020204020204" charset="-122"/>
                          <a:cs typeface="楷体" panose="02010609060101010101" charset="-122"/>
                        </a:rPr>
                        <a:t>产品</a:t>
                      </a:r>
                      <a:r>
                        <a:rPr sz="1400" spc="30" dirty="0">
                          <a:solidFill>
                            <a:srgbClr val="000000">
                              <a:alpha val="100000"/>
                            </a:srgbClr>
                          </a:solidFill>
                          <a:latin typeface="微软雅黑" panose="020B0503020204020204" charset="-122"/>
                          <a:ea typeface="微软雅黑" panose="020B0503020204020204" charset="-122"/>
                          <a:cs typeface="Arial" panose="020B0604020202020204"/>
                        </a:rPr>
                        <a:t>/</a:t>
                      </a:r>
                      <a:r>
                        <a:rPr sz="1400" spc="30" dirty="0">
                          <a:solidFill>
                            <a:srgbClr val="000000">
                              <a:alpha val="100000"/>
                            </a:srgbClr>
                          </a:solidFill>
                          <a:latin typeface="微软雅黑" panose="020B0503020204020204" charset="-122"/>
                          <a:ea typeface="微软雅黑" panose="020B0503020204020204" charset="-122"/>
                          <a:cs typeface="楷体" panose="02010609060101010101" charset="-122"/>
                        </a:rPr>
                        <a:t>服务模式大规模</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定制</a:t>
                      </a:r>
                      <a:endParaRPr lang="en-US" altLang="en-US" sz="1400" dirty="0">
                        <a:latin typeface="微软雅黑" panose="020B0503020204020204" charset="-122"/>
                        <a:ea typeface="微软雅黑" panose="020B0503020204020204" charset="-122"/>
                      </a:endParaRPr>
                    </a:p>
                    <a:p>
                      <a:pPr marL="288925" indent="-197485" algn="l" rtl="0" eaLnBrk="0">
                        <a:lnSpc>
                          <a:spcPct val="86000"/>
                        </a:lnSpc>
                        <a:spcBef>
                          <a:spcPts val="20"/>
                        </a:spcBef>
                      </a:pPr>
                      <a:r>
                        <a:rPr sz="1700" spc="5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50" dirty="0">
                          <a:solidFill>
                            <a:srgbClr val="000000">
                              <a:alpha val="100000"/>
                            </a:srgbClr>
                          </a:solidFill>
                          <a:latin typeface="微软雅黑" panose="020B0503020204020204" charset="-122"/>
                          <a:ea typeface="微软雅黑" panose="020B0503020204020204" charset="-122"/>
                          <a:cs typeface="楷体" panose="02010609060101010101" charset="-122"/>
                        </a:rPr>
                        <a:t>客户能建立自己的产品组合</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(目 </a:t>
                      </a:r>
                      <a:r>
                        <a:rPr sz="1400" spc="-70" dirty="0">
                          <a:solidFill>
                            <a:srgbClr val="000000">
                              <a:alpha val="100000"/>
                            </a:srgbClr>
                          </a:solidFill>
                          <a:latin typeface="微软雅黑" panose="020B0503020204020204" charset="-122"/>
                          <a:ea typeface="微软雅黑" panose="020B0503020204020204" charset="-122"/>
                          <a:cs typeface="楷体" panose="02010609060101010101" charset="-122"/>
                        </a:rPr>
                        <a:t>录选择</a:t>
                      </a:r>
                      <a:r>
                        <a:rPr sz="1400" spc="-40" dirty="0">
                          <a:solidFill>
                            <a:srgbClr val="000000">
                              <a:alpha val="100000"/>
                            </a:srgbClr>
                          </a:solidFill>
                          <a:latin typeface="微软雅黑" panose="020B0503020204020204" charset="-122"/>
                          <a:ea typeface="微软雅黑" panose="020B0503020204020204" charset="-122"/>
                          <a:cs typeface="楷体" panose="02010609060101010101" charset="-122"/>
                        </a:rPr>
                        <a:t>)</a:t>
                      </a:r>
                      <a:endParaRPr lang="en-US" altLang="en-US" sz="1400" dirty="0">
                        <a:latin typeface="微软雅黑" panose="020B0503020204020204" charset="-122"/>
                        <a:ea typeface="微软雅黑" panose="020B0503020204020204" charset="-122"/>
                      </a:endParaRPr>
                    </a:p>
                  </a:txBody>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w="19050" cap="flat" cmpd="sng" algn="ctr">
                      <a:solidFill>
                        <a:srgbClr val="BFE1FF"/>
                      </a:solidFill>
                      <a:prstDash val="solid"/>
                      <a:round/>
                      <a:headEnd type="none" w="med" len="med"/>
                      <a:tailEnd type="none" w="med" len="med"/>
                    </a:lnT>
                    <a:lnB w="19050" cap="flat" cmpd="sng" algn="ctr">
                      <a:solidFill>
                        <a:srgbClr val="BFE1FF"/>
                      </a:solidFill>
                      <a:prstDash val="solid"/>
                      <a:round/>
                      <a:headEnd type="none" w="med" len="med"/>
                      <a:tailEnd type="none" w="med" len="med"/>
                    </a:lnB>
                  </a:tcPr>
                </a:tc>
              </a:tr>
            </a:tbl>
          </a:graphicData>
        </a:graphic>
      </p:graphicFrame>
      <p:graphicFrame>
        <p:nvGraphicFramePr>
          <p:cNvPr id="661" name="table 661"/>
          <p:cNvGraphicFramePr>
            <a:graphicFrameLocks noGrp="1"/>
          </p:cNvGraphicFramePr>
          <p:nvPr/>
        </p:nvGraphicFramePr>
        <p:xfrm>
          <a:off x="3076955" y="989076"/>
          <a:ext cx="2817495" cy="2260600"/>
        </p:xfrm>
        <a:graphic>
          <a:graphicData uri="http://schemas.openxmlformats.org/drawingml/2006/table">
            <a:tbl>
              <a:tblPr/>
              <a:tblGrid>
                <a:gridCol w="2817495"/>
              </a:tblGrid>
              <a:tr h="2260600">
                <a:tc>
                  <a:txBody>
                    <a:bodyPr/>
                    <a:lstStyle/>
                    <a:p>
                      <a:pPr algn="l" rtl="0" eaLnBrk="0">
                        <a:lnSpc>
                          <a:spcPct val="104000"/>
                        </a:lnSpc>
                      </a:pPr>
                      <a:endParaRPr lang="en-US" altLang="en-US" sz="1000" dirty="0">
                        <a:latin typeface="微软雅黑" panose="020B0503020204020204" charset="-122"/>
                        <a:ea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endParaRPr>
                    </a:p>
                    <a:p>
                      <a:pPr algn="l" rtl="0" eaLnBrk="0">
                        <a:lnSpc>
                          <a:spcPct val="105000"/>
                        </a:lnSpc>
                      </a:pPr>
                      <a:endParaRPr lang="en-US" altLang="en-US" sz="1000" dirty="0">
                        <a:latin typeface="微软雅黑" panose="020B0503020204020204" charset="-122"/>
                        <a:ea typeface="微软雅黑" panose="020B0503020204020204" charset="-122"/>
                      </a:endParaRPr>
                    </a:p>
                    <a:p>
                      <a:pPr algn="l" rtl="0" eaLnBrk="0">
                        <a:lnSpc>
                          <a:spcPct val="105000"/>
                        </a:lnSpc>
                      </a:pPr>
                      <a:endParaRPr lang="en-US" altLang="en-US" sz="1000" dirty="0">
                        <a:latin typeface="微软雅黑" panose="020B0503020204020204" charset="-122"/>
                        <a:ea typeface="微软雅黑" panose="020B0503020204020204" charset="-122"/>
                      </a:endParaRPr>
                    </a:p>
                    <a:p>
                      <a:pPr algn="l" rtl="0" eaLnBrk="0">
                        <a:lnSpc>
                          <a:spcPct val="105000"/>
                        </a:lnSpc>
                      </a:pPr>
                      <a:endParaRPr lang="en-US" altLang="en-US" sz="1000" dirty="0">
                        <a:latin typeface="微软雅黑" panose="020B0503020204020204" charset="-122"/>
                        <a:ea typeface="微软雅黑" panose="020B0503020204020204" charset="-122"/>
                      </a:endParaRPr>
                    </a:p>
                    <a:p>
                      <a:pPr marL="285115" indent="-194945" algn="l" rtl="0" eaLnBrk="0">
                        <a:lnSpc>
                          <a:spcPct val="88000"/>
                        </a:lnSpc>
                        <a:spcBef>
                          <a:spcPts val="0"/>
                        </a:spcBef>
                      </a:pPr>
                      <a:r>
                        <a:rPr sz="1700" spc="-1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可靠供应商：供应的可靠性</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是  </a:t>
                      </a:r>
                      <a:r>
                        <a:rPr sz="1400" spc="-40" dirty="0">
                          <a:solidFill>
                            <a:srgbClr val="000000">
                              <a:alpha val="100000"/>
                            </a:srgbClr>
                          </a:solidFill>
                          <a:latin typeface="微软雅黑" panose="020B0503020204020204" charset="-122"/>
                          <a:ea typeface="微软雅黑" panose="020B0503020204020204" charset="-122"/>
                          <a:cs typeface="楷体" panose="02010609060101010101" charset="-122"/>
                        </a:rPr>
                        <a:t>关</a:t>
                      </a:r>
                      <a:r>
                        <a:rPr sz="1400" spc="-30" dirty="0">
                          <a:solidFill>
                            <a:srgbClr val="000000">
                              <a:alpha val="100000"/>
                            </a:srgbClr>
                          </a:solidFill>
                          <a:latin typeface="微软雅黑" panose="020B0503020204020204" charset="-122"/>
                          <a:ea typeface="微软雅黑" panose="020B0503020204020204" charset="-122"/>
                          <a:cs typeface="楷体" panose="02010609060101010101" charset="-122"/>
                        </a:rPr>
                        <a:t>键</a:t>
                      </a:r>
                      <a:endParaRPr lang="en-US" altLang="en-US" sz="1400" dirty="0">
                        <a:latin typeface="微软雅黑" panose="020B0503020204020204" charset="-122"/>
                        <a:ea typeface="微软雅黑" panose="020B0503020204020204" charset="-122"/>
                      </a:endParaRPr>
                    </a:p>
                    <a:p>
                      <a:pPr marL="90170" algn="l" rtl="0" eaLnBrk="0">
                        <a:lnSpc>
                          <a:spcPct val="83000"/>
                        </a:lnSpc>
                        <a:spcBef>
                          <a:spcPts val="15"/>
                        </a:spcBef>
                      </a:pPr>
                      <a:r>
                        <a:rPr sz="1700" spc="4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40" dirty="0">
                          <a:solidFill>
                            <a:srgbClr val="000000">
                              <a:alpha val="100000"/>
                            </a:srgbClr>
                          </a:solidFill>
                          <a:latin typeface="微软雅黑" panose="020B0503020204020204" charset="-122"/>
                          <a:ea typeface="微软雅黑" panose="020B0503020204020204" charset="-122"/>
                          <a:cs typeface="楷体" panose="02010609060101010101" charset="-122"/>
                        </a:rPr>
                        <a:t>价值</a:t>
                      </a:r>
                      <a:r>
                        <a:rPr sz="1400" spc="40" dirty="0">
                          <a:solidFill>
                            <a:srgbClr val="000000">
                              <a:alpha val="100000"/>
                            </a:srgbClr>
                          </a:solidFill>
                          <a:latin typeface="微软雅黑" panose="020B0503020204020204" charset="-122"/>
                          <a:ea typeface="微软雅黑" panose="020B0503020204020204" charset="-122"/>
                          <a:cs typeface="Arial" panose="020B0604020202020204"/>
                        </a:rPr>
                        <a:t>/</a:t>
                      </a:r>
                      <a:r>
                        <a:rPr sz="1400" spc="40" dirty="0">
                          <a:solidFill>
                            <a:srgbClr val="000000">
                              <a:alpha val="100000"/>
                            </a:srgbClr>
                          </a:solidFill>
                          <a:latin typeface="微软雅黑" panose="020B0503020204020204" charset="-122"/>
                          <a:ea typeface="微软雅黑" panose="020B0503020204020204" charset="-122"/>
                          <a:cs typeface="楷体" panose="02010609060101010101" charset="-122"/>
                        </a:rPr>
                        <a:t>特性明确</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的产品</a:t>
                      </a:r>
                      <a:endParaRPr lang="en-US" altLang="en-US" sz="1400" dirty="0">
                        <a:latin typeface="微软雅黑" panose="020B0503020204020204" charset="-122"/>
                        <a:ea typeface="微软雅黑" panose="020B0503020204020204" charset="-122"/>
                      </a:endParaRPr>
                    </a:p>
                    <a:p>
                      <a:pPr marL="90170" algn="l" rtl="0" eaLnBrk="0">
                        <a:lnSpc>
                          <a:spcPct val="85000"/>
                        </a:lnSpc>
                      </a:pPr>
                      <a:r>
                        <a:rPr sz="1700" spc="4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40" dirty="0">
                          <a:solidFill>
                            <a:srgbClr val="000000">
                              <a:alpha val="100000"/>
                            </a:srgbClr>
                          </a:solidFill>
                          <a:latin typeface="微软雅黑" panose="020B0503020204020204" charset="-122"/>
                          <a:ea typeface="微软雅黑" panose="020B0503020204020204" charset="-122"/>
                          <a:cs typeface="楷体" panose="02010609060101010101" charset="-122"/>
                        </a:rPr>
                        <a:t>产品</a:t>
                      </a:r>
                      <a:r>
                        <a:rPr sz="1400" spc="40" dirty="0">
                          <a:solidFill>
                            <a:srgbClr val="000000">
                              <a:alpha val="100000"/>
                            </a:srgbClr>
                          </a:solidFill>
                          <a:latin typeface="微软雅黑" panose="020B0503020204020204" charset="-122"/>
                          <a:ea typeface="微软雅黑" panose="020B0503020204020204" charset="-122"/>
                          <a:cs typeface="Arial" panose="020B0604020202020204"/>
                        </a:rPr>
                        <a:t>/</a:t>
                      </a:r>
                      <a:r>
                        <a:rPr sz="1400" spc="40" dirty="0">
                          <a:solidFill>
                            <a:srgbClr val="000000">
                              <a:alpha val="100000"/>
                            </a:srgbClr>
                          </a:solidFill>
                          <a:latin typeface="微软雅黑" panose="020B0503020204020204" charset="-122"/>
                          <a:ea typeface="微软雅黑" panose="020B0503020204020204" charset="-122"/>
                          <a:cs typeface="楷体" panose="02010609060101010101" charset="-122"/>
                        </a:rPr>
                        <a:t>服务差异</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化有限</a:t>
                      </a:r>
                      <a:endParaRPr lang="en-US" altLang="en-US" sz="1400" dirty="0">
                        <a:latin typeface="微软雅黑" panose="020B0503020204020204" charset="-122"/>
                        <a:ea typeface="微软雅黑" panose="020B0503020204020204" charset="-122"/>
                      </a:endParaRPr>
                    </a:p>
                  </a:txBody>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w="19050" cap="flat" cmpd="sng" algn="ctr">
                      <a:solidFill>
                        <a:srgbClr val="BFE1FF"/>
                      </a:solidFill>
                      <a:prstDash val="solid"/>
                      <a:round/>
                      <a:headEnd type="none" w="med" len="med"/>
                      <a:tailEnd type="none" w="med" len="med"/>
                    </a:lnT>
                    <a:lnB w="19050" cap="flat" cmpd="sng" algn="ctr">
                      <a:solidFill>
                        <a:srgbClr val="BFE1FF"/>
                      </a:solidFill>
                      <a:prstDash val="solid"/>
                      <a:round/>
                      <a:headEnd type="none" w="med" len="med"/>
                      <a:tailEnd type="none" w="med" len="med"/>
                    </a:lnB>
                  </a:tcPr>
                </a:tc>
              </a:tr>
            </a:tbl>
          </a:graphicData>
        </a:graphic>
      </p:graphicFrame>
      <p:sp>
        <p:nvSpPr>
          <p:cNvPr id="662" name="textbox 662"/>
          <p:cNvSpPr/>
          <p:nvPr/>
        </p:nvSpPr>
        <p:spPr>
          <a:xfrm>
            <a:off x="5952744" y="1060704"/>
            <a:ext cx="2799714" cy="605155"/>
          </a:xfrm>
          <a:prstGeom prst="rect">
            <a:avLst/>
          </a:prstGeom>
          <a:solidFill>
            <a:srgbClr val="BFE1FF"/>
          </a:solidFill>
        </p:spPr>
        <p:txBody>
          <a:bodyPr vert="horz" wrap="square" lIns="0" tIns="0" rIns="0" bIns="0"/>
          <a:lstStyle/>
          <a:p>
            <a:pPr algn="l" rtl="0" eaLnBrk="0">
              <a:lnSpc>
                <a:spcPct val="134000"/>
              </a:lnSpc>
            </a:pPr>
            <a:endParaRPr lang="en-US" altLang="en-US" sz="1000" dirty="0">
              <a:latin typeface="微软雅黑" panose="020B0503020204020204" charset="-122"/>
              <a:ea typeface="微软雅黑" panose="020B0503020204020204" charset="-122"/>
            </a:endParaRPr>
          </a:p>
          <a:p>
            <a:pPr algn="l" rtl="0" eaLnBrk="0">
              <a:lnSpc>
                <a:spcPct val="8000"/>
              </a:lnSpc>
            </a:pPr>
            <a:endParaRPr lang="en-US" altLang="en-US" sz="100" dirty="0">
              <a:latin typeface="微软雅黑" panose="020B0503020204020204" charset="-122"/>
              <a:ea typeface="微软雅黑" panose="020B0503020204020204" charset="-122"/>
            </a:endParaRPr>
          </a:p>
          <a:p>
            <a:pPr marL="861060" algn="l" rtl="0" eaLnBrk="0">
              <a:lnSpc>
                <a:spcPct val="95000"/>
              </a:lnSpc>
            </a:pPr>
            <a:r>
              <a:rPr sz="1400" spc="-10" dirty="0">
                <a:ln w="5103"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标准化定</a:t>
            </a:r>
            <a:r>
              <a:rPr sz="1400" spc="0" dirty="0">
                <a:ln w="5103"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制型</a:t>
            </a:r>
            <a:endParaRPr lang="en-US" altLang="en-US" sz="1400" dirty="0">
              <a:latin typeface="微软雅黑" panose="020B0503020204020204" charset="-122"/>
              <a:ea typeface="微软雅黑" panose="020B0503020204020204" charset="-122"/>
            </a:endParaRPr>
          </a:p>
        </p:txBody>
      </p:sp>
      <p:sp>
        <p:nvSpPr>
          <p:cNvPr id="663" name="textbox 663"/>
          <p:cNvSpPr/>
          <p:nvPr/>
        </p:nvSpPr>
        <p:spPr>
          <a:xfrm>
            <a:off x="5952744" y="3470148"/>
            <a:ext cx="2799714" cy="607694"/>
          </a:xfrm>
          <a:prstGeom prst="rect">
            <a:avLst/>
          </a:prstGeom>
          <a:solidFill>
            <a:srgbClr val="BFE1FF"/>
          </a:solidFill>
        </p:spPr>
        <p:txBody>
          <a:bodyPr vert="horz" wrap="square" lIns="0" tIns="0" rIns="0" bIns="0"/>
          <a:lstStyle/>
          <a:p>
            <a:pPr algn="l" rtl="0" eaLnBrk="0">
              <a:lnSpc>
                <a:spcPct val="133000"/>
              </a:lnSpc>
            </a:pPr>
            <a:endParaRPr lang="en-US" altLang="en-US" sz="1000" dirty="0">
              <a:latin typeface="微软雅黑" panose="020B0503020204020204" charset="-122"/>
              <a:ea typeface="微软雅黑" panose="020B0503020204020204" charset="-122"/>
            </a:endParaRPr>
          </a:p>
          <a:p>
            <a:pPr algn="l" rtl="0" eaLnBrk="0">
              <a:lnSpc>
                <a:spcPct val="8000"/>
              </a:lnSpc>
            </a:pPr>
            <a:endParaRPr lang="en-US" altLang="en-US" sz="100" dirty="0">
              <a:latin typeface="微软雅黑" panose="020B0503020204020204" charset="-122"/>
              <a:ea typeface="微软雅黑" panose="020B0503020204020204" charset="-122"/>
            </a:endParaRPr>
          </a:p>
          <a:p>
            <a:pPr marL="1153160" algn="l" rtl="0" eaLnBrk="0">
              <a:lnSpc>
                <a:spcPct val="96000"/>
              </a:lnSpc>
            </a:pPr>
            <a:r>
              <a:rPr sz="1400" spc="-10" dirty="0">
                <a:ln w="5094"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价值</a:t>
            </a:r>
            <a:r>
              <a:rPr sz="1400" spc="0" dirty="0">
                <a:ln w="5094"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链整合型</a:t>
            </a:r>
            <a:endParaRPr lang="en-US" altLang="en-US" sz="1400" dirty="0">
              <a:latin typeface="微软雅黑" panose="020B0503020204020204" charset="-122"/>
              <a:ea typeface="微软雅黑" panose="020B0503020204020204" charset="-122"/>
            </a:endParaRPr>
          </a:p>
        </p:txBody>
      </p:sp>
      <p:sp>
        <p:nvSpPr>
          <p:cNvPr id="664" name="textbox 664"/>
          <p:cNvSpPr/>
          <p:nvPr/>
        </p:nvSpPr>
        <p:spPr>
          <a:xfrm>
            <a:off x="3086100" y="3467100"/>
            <a:ext cx="2798445" cy="602615"/>
          </a:xfrm>
          <a:prstGeom prst="rect">
            <a:avLst/>
          </a:prstGeom>
          <a:solidFill>
            <a:srgbClr val="BFE1FF"/>
          </a:solidFill>
        </p:spPr>
        <p:txBody>
          <a:bodyPr vert="horz" wrap="square" lIns="0" tIns="0" rIns="0" bIns="0"/>
          <a:lstStyle/>
          <a:p>
            <a:pPr algn="l" rtl="0" eaLnBrk="0">
              <a:lnSpc>
                <a:spcPct val="135000"/>
              </a:lnSpc>
            </a:pPr>
            <a:endParaRPr lang="en-US" altLang="en-US" sz="1000" dirty="0">
              <a:latin typeface="微软雅黑" panose="020B0503020204020204" charset="-122"/>
              <a:ea typeface="微软雅黑" panose="020B0503020204020204" charset="-122"/>
            </a:endParaRPr>
          </a:p>
          <a:p>
            <a:pPr marL="983615" algn="l" rtl="0" eaLnBrk="0">
              <a:lnSpc>
                <a:spcPct val="94000"/>
              </a:lnSpc>
              <a:spcBef>
                <a:spcPts val="5"/>
              </a:spcBef>
            </a:pPr>
            <a:r>
              <a:rPr sz="1400" spc="-10" dirty="0">
                <a:ln w="5094"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量身定制</a:t>
            </a:r>
            <a:r>
              <a:rPr sz="1400" spc="0" dirty="0">
                <a:ln w="5094"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型</a:t>
            </a:r>
            <a:endParaRPr lang="en-US" altLang="en-US" sz="1400" dirty="0">
              <a:latin typeface="微软雅黑" panose="020B0503020204020204" charset="-122"/>
              <a:ea typeface="微软雅黑" panose="020B0503020204020204" charset="-122"/>
            </a:endParaRPr>
          </a:p>
        </p:txBody>
      </p:sp>
      <p:sp>
        <p:nvSpPr>
          <p:cNvPr id="665" name="textbox 665"/>
          <p:cNvSpPr/>
          <p:nvPr/>
        </p:nvSpPr>
        <p:spPr>
          <a:xfrm>
            <a:off x="3086100" y="1060704"/>
            <a:ext cx="2798445" cy="605790"/>
          </a:xfrm>
          <a:prstGeom prst="rect">
            <a:avLst/>
          </a:prstGeom>
          <a:solidFill>
            <a:srgbClr val="BFE1FF"/>
          </a:solidFill>
        </p:spPr>
        <p:txBody>
          <a:bodyPr vert="horz" wrap="square" lIns="0" tIns="0" rIns="0" bIns="0"/>
          <a:lstStyle/>
          <a:p>
            <a:pPr algn="l" rtl="0" eaLnBrk="0">
              <a:lnSpc>
                <a:spcPct val="135000"/>
              </a:lnSpc>
            </a:pPr>
            <a:endParaRPr lang="en-US" altLang="en-US" sz="1000" dirty="0">
              <a:latin typeface="微软雅黑" panose="020B0503020204020204" charset="-122"/>
              <a:ea typeface="微软雅黑" panose="020B0503020204020204" charset="-122"/>
            </a:endParaRPr>
          </a:p>
          <a:p>
            <a:pPr marL="876935" algn="l" rtl="0" eaLnBrk="0">
              <a:lnSpc>
                <a:spcPct val="95000"/>
              </a:lnSpc>
              <a:spcBef>
                <a:spcPts val="5"/>
              </a:spcBef>
            </a:pPr>
            <a:r>
              <a:rPr sz="1400" spc="-30" dirty="0">
                <a:ln w="5103"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可靠</a:t>
            </a:r>
            <a:r>
              <a:rPr sz="1400" spc="-10" dirty="0">
                <a:ln w="5103"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型</a:t>
            </a:r>
            <a:endParaRPr lang="en-US" altLang="en-US" sz="1400" dirty="0">
              <a:latin typeface="微软雅黑" panose="020B0503020204020204" charset="-122"/>
              <a:ea typeface="微软雅黑" panose="020B0503020204020204" charset="-122"/>
            </a:endParaRPr>
          </a:p>
        </p:txBody>
      </p:sp>
      <p:sp>
        <p:nvSpPr>
          <p:cNvPr id="666" name="textbox 666"/>
          <p:cNvSpPr/>
          <p:nvPr/>
        </p:nvSpPr>
        <p:spPr>
          <a:xfrm>
            <a:off x="112330" y="248992"/>
            <a:ext cx="6370320" cy="310515"/>
          </a:xfrm>
          <a:prstGeom prst="rect">
            <a:avLst/>
          </a:prstGeom>
        </p:spPr>
        <p:txBody>
          <a:bodyPr vert="horz" wrap="square" lIns="0" tIns="0" rIns="0" bIns="0"/>
          <a:lstStyle/>
          <a:p>
            <a:pPr algn="l" rtl="0" eaLnBrk="0">
              <a:lnSpc>
                <a:spcPct val="92000"/>
              </a:lnSpc>
            </a:pPr>
            <a:endParaRPr lang="en-US" altLang="en-US" sz="100" dirty="0">
              <a:latin typeface="微软雅黑" panose="020B0503020204020204" charset="-122"/>
              <a:ea typeface="微软雅黑" panose="020B0503020204020204" charset="-122"/>
            </a:endParaRPr>
          </a:p>
          <a:p>
            <a:pPr marL="12700" algn="l" rtl="0" eaLnBrk="0">
              <a:lnSpc>
                <a:spcPct val="93000"/>
              </a:lnSpc>
            </a:pPr>
            <a:r>
              <a:rPr sz="2000" spc="-10" dirty="0">
                <a:solidFill>
                  <a:srgbClr val="002960">
                    <a:alpha val="100000"/>
                  </a:srgbClr>
                </a:solidFill>
                <a:latin typeface="微软雅黑" panose="020B0503020204020204" charset="-122"/>
                <a:ea typeface="微软雅黑" panose="020B0503020204020204" charset="-122"/>
                <a:cs typeface="楷体" panose="02010609060101010101" charset="-122"/>
              </a:rPr>
              <a:t>化工企业</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根据客户细分需求对六种客户互动模型进行定义</a:t>
            </a:r>
            <a:endParaRPr lang="en-US" altLang="en-US" sz="2000" dirty="0">
              <a:latin typeface="微软雅黑" panose="020B0503020204020204" charset="-122"/>
              <a:ea typeface="微软雅黑" panose="020B0503020204020204" charset="-122"/>
            </a:endParaRPr>
          </a:p>
        </p:txBody>
      </p:sp>
      <p:sp>
        <p:nvSpPr>
          <p:cNvPr id="667" name="textbox 667"/>
          <p:cNvSpPr/>
          <p:nvPr/>
        </p:nvSpPr>
        <p:spPr>
          <a:xfrm>
            <a:off x="114849" y="6511311"/>
            <a:ext cx="8577580" cy="135889"/>
          </a:xfrm>
          <a:prstGeom prst="rect">
            <a:avLst/>
          </a:prstGeom>
        </p:spPr>
        <p:txBody>
          <a:bodyPr vert="horz" wrap="square" lIns="0" tIns="0" rIns="0" bIns="0"/>
          <a:lstStyle/>
          <a:p>
            <a:pPr algn="l" rtl="0" eaLnBrk="0">
              <a:lnSpc>
                <a:spcPct val="85000"/>
              </a:lnSpc>
            </a:pPr>
            <a:endParaRPr lang="en-US" altLang="en-US" sz="100" dirty="0"/>
          </a:p>
          <a:p>
            <a:pPr marL="12700" algn="l" rtl="0" eaLnBrk="0">
              <a:lnSpc>
                <a:spcPct val="90000"/>
              </a:lnSpc>
            </a:pPr>
            <a:r>
              <a:rPr sz="800" spc="-10" dirty="0">
                <a:solidFill>
                  <a:srgbClr val="808080">
                    <a:alpha val="100000"/>
                  </a:srgbClr>
                </a:solidFill>
                <a:latin typeface="楷体" panose="02010609060101010101" charset="-122"/>
                <a:ea typeface="楷体" panose="02010609060101010101" charset="-122"/>
                <a:cs typeface="楷体" panose="02010609060101010101" charset="-122"/>
              </a:rPr>
              <a:t>资料来源： 乙方 </a:t>
            </a:r>
            <a:r>
              <a:rPr sz="800" spc="-10" dirty="0">
                <a:solidFill>
                  <a:srgbClr val="808080">
                    <a:alpha val="100000"/>
                  </a:srgbClr>
                </a:solidFill>
                <a:latin typeface="Arial" panose="020B0604020202020204"/>
                <a:ea typeface="Arial" panose="020B0604020202020204"/>
                <a:cs typeface="Arial" panose="020B0604020202020204"/>
              </a:rPr>
              <a:t>– </a:t>
            </a:r>
            <a:r>
              <a:rPr sz="800" spc="-10" dirty="0">
                <a:solidFill>
                  <a:srgbClr val="808080">
                    <a:alpha val="100000"/>
                  </a:srgbClr>
                </a:solidFill>
                <a:latin typeface="楷体" panose="02010609060101010101" charset="-122"/>
                <a:ea typeface="楷体" panose="02010609060101010101" charset="-122"/>
                <a:cs typeface="楷体" panose="02010609060101010101" charset="-122"/>
              </a:rPr>
              <a:t>市场营销和销售业务部          </a:t>
            </a:r>
            <a:r>
              <a:rPr sz="800" spc="0" dirty="0">
                <a:solidFill>
                  <a:srgbClr val="808080">
                    <a:alpha val="100000"/>
                  </a:srgbClr>
                </a:solidFill>
                <a:latin typeface="楷体" panose="02010609060101010101" charset="-122"/>
                <a:ea typeface="楷体" panose="02010609060101010101" charset="-122"/>
                <a:cs typeface="楷体" panose="02010609060101010101" charset="-122"/>
              </a:rPr>
              <a:t>                                                                                                </a:t>
            </a:r>
            <a:r>
              <a:rPr sz="800" spc="0" dirty="0">
                <a:solidFill>
                  <a:srgbClr val="808080">
                    <a:alpha val="100000"/>
                  </a:srgbClr>
                </a:solidFill>
                <a:latin typeface="Arial" panose="020B0604020202020204"/>
                <a:ea typeface="Arial" panose="020B0604020202020204"/>
                <a:cs typeface="Arial" panose="020B0604020202020204"/>
              </a:rPr>
              <a:t>   16</a:t>
            </a:r>
            <a:endParaRPr lang="en-US" altLang="en-US" sz="800" dirty="0"/>
          </a:p>
        </p:txBody>
      </p:sp>
      <p:pic>
        <p:nvPicPr>
          <p:cNvPr id="668" name="picture 668"/>
          <p:cNvPicPr>
            <a:picLocks noChangeAspect="1"/>
          </p:cNvPicPr>
          <p:nvPr/>
        </p:nvPicPr>
        <p:blipFill>
          <a:blip r:embed="rId1"/>
          <a:stretch>
            <a:fillRect/>
          </a:stretch>
        </p:blipFill>
        <p:spPr>
          <a:xfrm rot="21600000">
            <a:off x="6010655" y="3352800"/>
            <a:ext cx="1063751" cy="812291"/>
          </a:xfrm>
          <a:prstGeom prst="rect">
            <a:avLst/>
          </a:prstGeom>
        </p:spPr>
      </p:pic>
      <p:pic>
        <p:nvPicPr>
          <p:cNvPr id="669" name="picture 669"/>
          <p:cNvPicPr>
            <a:picLocks noChangeAspect="1"/>
          </p:cNvPicPr>
          <p:nvPr/>
        </p:nvPicPr>
        <p:blipFill>
          <a:blip r:embed="rId2"/>
          <a:stretch>
            <a:fillRect/>
          </a:stretch>
        </p:blipFill>
        <p:spPr>
          <a:xfrm rot="21600000">
            <a:off x="3153155" y="3352800"/>
            <a:ext cx="897635" cy="812291"/>
          </a:xfrm>
          <a:prstGeom prst="rect">
            <a:avLst/>
          </a:prstGeom>
        </p:spPr>
      </p:pic>
      <p:pic>
        <p:nvPicPr>
          <p:cNvPr id="670" name="picture 670"/>
          <p:cNvPicPr>
            <a:picLocks noChangeAspect="1"/>
          </p:cNvPicPr>
          <p:nvPr/>
        </p:nvPicPr>
        <p:blipFill>
          <a:blip r:embed="rId3"/>
          <a:stretch>
            <a:fillRect/>
          </a:stretch>
        </p:blipFill>
        <p:spPr>
          <a:xfrm rot="21600000">
            <a:off x="6010655" y="989076"/>
            <a:ext cx="733044" cy="885444"/>
          </a:xfrm>
          <a:prstGeom prst="rect">
            <a:avLst/>
          </a:prstGeom>
        </p:spPr>
      </p:pic>
      <p:pic>
        <p:nvPicPr>
          <p:cNvPr id="671" name="picture 671"/>
          <p:cNvPicPr>
            <a:picLocks noChangeAspect="1"/>
          </p:cNvPicPr>
          <p:nvPr/>
        </p:nvPicPr>
        <p:blipFill>
          <a:blip r:embed="rId4"/>
          <a:stretch>
            <a:fillRect/>
          </a:stretch>
        </p:blipFill>
        <p:spPr>
          <a:xfrm rot="21600000">
            <a:off x="3153155" y="989076"/>
            <a:ext cx="742188" cy="867155"/>
          </a:xfrm>
          <a:prstGeom prst="rect">
            <a:avLst/>
          </a:prstGeom>
        </p:spPr>
      </p:pic>
      <p:pic>
        <p:nvPicPr>
          <p:cNvPr id="672" name="picture 672"/>
          <p:cNvPicPr>
            <a:picLocks noChangeAspect="1"/>
          </p:cNvPicPr>
          <p:nvPr/>
        </p:nvPicPr>
        <p:blipFill>
          <a:blip r:embed="rId5"/>
          <a:stretch>
            <a:fillRect/>
          </a:stretch>
        </p:blipFill>
        <p:spPr>
          <a:xfrm rot="21600000">
            <a:off x="292608" y="3369564"/>
            <a:ext cx="726947" cy="771144"/>
          </a:xfrm>
          <a:prstGeom prst="rect">
            <a:avLst/>
          </a:prstGeom>
        </p:spPr>
      </p:pic>
      <p:pic>
        <p:nvPicPr>
          <p:cNvPr id="673" name="picture 673"/>
          <p:cNvPicPr>
            <a:picLocks noChangeAspect="1"/>
          </p:cNvPicPr>
          <p:nvPr/>
        </p:nvPicPr>
        <p:blipFill>
          <a:blip r:embed="rId6"/>
          <a:stretch>
            <a:fillRect/>
          </a:stretch>
        </p:blipFill>
        <p:spPr>
          <a:xfrm rot="21600000">
            <a:off x="292608" y="989076"/>
            <a:ext cx="726947" cy="723900"/>
          </a:xfrm>
          <a:prstGeom prst="rect">
            <a:avLst/>
          </a:prstGeom>
        </p:spPr>
      </p:pic>
      <p:sp>
        <p:nvSpPr>
          <p:cNvPr id="674" name="textbox 674"/>
          <p:cNvSpPr/>
          <p:nvPr/>
        </p:nvSpPr>
        <p:spPr>
          <a:xfrm>
            <a:off x="8818509" y="1037437"/>
            <a:ext cx="114935" cy="1840229"/>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endParaRPr sz="600" spc="0" dirty="0">
              <a:solidFill>
                <a:srgbClr val="808080">
                  <a:alpha val="100000"/>
                </a:srgbClr>
              </a:solidFill>
              <a:latin typeface="Arial" panose="020B0604020202020204"/>
              <a:ea typeface="Arial" panose="020B0604020202020204"/>
              <a:cs typeface="Arial" panose="020B0604020202020204"/>
            </a:endParaRPr>
          </a:p>
        </p:txBody>
      </p:sp>
      <p:sp>
        <p:nvSpPr>
          <p:cNvPr id="675" name="textbox 675"/>
          <p:cNvSpPr/>
          <p:nvPr/>
        </p:nvSpPr>
        <p:spPr>
          <a:xfrm>
            <a:off x="8818435" y="4032021"/>
            <a:ext cx="114935" cy="262890"/>
          </a:xfrm>
          <a:prstGeom prst="rect">
            <a:avLst/>
          </a:prstGeom>
        </p:spPr>
        <p:txBody>
          <a:bodyPr vert="eaVert" wrap="square" lIns="0" tIns="0" rIns="0" bIns="0"/>
          <a:lstStyle/>
          <a:p>
            <a:pPr algn="l" rtl="0" eaLnBrk="0">
              <a:lnSpc>
                <a:spcPct val="85000"/>
              </a:lnSpc>
            </a:pPr>
            <a:endParaRPr lang="en-US" altLang="en-US" sz="100" dirty="0"/>
          </a:p>
          <a:p>
            <a:pPr marL="12700" algn="l" rtl="0" eaLnBrk="0">
              <a:lnSpc>
                <a:spcPct val="79000"/>
              </a:lnSpc>
            </a:pPr>
            <a:endParaRPr sz="600" spc="-10" dirty="0">
              <a:solidFill>
                <a:srgbClr val="808080">
                  <a:alpha val="100000"/>
                </a:srgbClr>
              </a:solidFill>
              <a:latin typeface="Arial" panose="020B0604020202020204"/>
              <a:ea typeface="Arial" panose="020B0604020202020204"/>
              <a:cs typeface="Arial" panose="020B060402020202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6" name="group 126"/>
          <p:cNvGrpSpPr/>
          <p:nvPr/>
        </p:nvGrpSpPr>
        <p:grpSpPr>
          <a:xfrm rot="21600000">
            <a:off x="1717547" y="1642871"/>
            <a:ext cx="6262116" cy="2350008"/>
            <a:chOff x="0" y="0"/>
            <a:chExt cx="6262116" cy="2350008"/>
          </a:xfrm>
        </p:grpSpPr>
        <p:grpSp>
          <p:nvGrpSpPr>
            <p:cNvPr id="128" name="group 128"/>
            <p:cNvGrpSpPr/>
            <p:nvPr/>
          </p:nvGrpSpPr>
          <p:grpSpPr>
            <a:xfrm rot="21600000">
              <a:off x="0" y="0"/>
              <a:ext cx="6262116" cy="2350008"/>
              <a:chOff x="0" y="0"/>
              <a:chExt cx="6262116" cy="2350008"/>
            </a:xfrm>
          </p:grpSpPr>
          <p:sp>
            <p:nvSpPr>
              <p:cNvPr id="676" name="path"/>
              <p:cNvSpPr/>
              <p:nvPr/>
            </p:nvSpPr>
            <p:spPr>
              <a:xfrm>
                <a:off x="0" y="0"/>
                <a:ext cx="6262116" cy="2350008"/>
              </a:xfrm>
              <a:custGeom>
                <a:avLst/>
                <a:gdLst/>
                <a:ahLst/>
                <a:cxnLst/>
                <a:rect l="0" t="0" r="0" b="0"/>
                <a:pathLst>
                  <a:path w="9861" h="3700">
                    <a:moveTo>
                      <a:pt x="2493" y="3686"/>
                    </a:moveTo>
                    <a:lnTo>
                      <a:pt x="4876" y="3686"/>
                    </a:lnTo>
                    <a:lnTo>
                      <a:pt x="4876" y="0"/>
                    </a:lnTo>
                    <a:lnTo>
                      <a:pt x="2493" y="0"/>
                    </a:lnTo>
                    <a:lnTo>
                      <a:pt x="2493" y="3686"/>
                    </a:lnTo>
                    <a:close/>
                  </a:path>
                  <a:path w="9861" h="3700">
                    <a:moveTo>
                      <a:pt x="0" y="3700"/>
                    </a:moveTo>
                    <a:lnTo>
                      <a:pt x="2383" y="3700"/>
                    </a:lnTo>
                    <a:lnTo>
                      <a:pt x="2383" y="16"/>
                    </a:lnTo>
                    <a:lnTo>
                      <a:pt x="0" y="16"/>
                    </a:lnTo>
                    <a:lnTo>
                      <a:pt x="0" y="3700"/>
                    </a:lnTo>
                    <a:close/>
                  </a:path>
                  <a:path w="9861" h="3700">
                    <a:moveTo>
                      <a:pt x="4987" y="3686"/>
                    </a:moveTo>
                    <a:lnTo>
                      <a:pt x="7370" y="3686"/>
                    </a:lnTo>
                    <a:lnTo>
                      <a:pt x="7370" y="0"/>
                    </a:lnTo>
                    <a:lnTo>
                      <a:pt x="4987" y="0"/>
                    </a:lnTo>
                    <a:lnTo>
                      <a:pt x="4987" y="3686"/>
                    </a:lnTo>
                    <a:close/>
                  </a:path>
                  <a:path w="9861" h="3700">
                    <a:moveTo>
                      <a:pt x="7480" y="3686"/>
                    </a:moveTo>
                    <a:lnTo>
                      <a:pt x="9861" y="3686"/>
                    </a:lnTo>
                    <a:lnTo>
                      <a:pt x="9861" y="0"/>
                    </a:lnTo>
                    <a:lnTo>
                      <a:pt x="7480" y="0"/>
                    </a:lnTo>
                    <a:lnTo>
                      <a:pt x="7480" y="3686"/>
                    </a:lnTo>
                    <a:close/>
                  </a:path>
                </a:pathLst>
              </a:custGeom>
              <a:solidFill>
                <a:srgbClr val="E6E6E6">
                  <a:alpha val="100000"/>
                </a:srgbClr>
              </a:solidFill>
              <a:ln cap="flat">
                <a:noFill/>
                <a:prstDash val="solid"/>
                <a:miter lim="0"/>
              </a:ln>
            </p:spPr>
            <p:txBody>
              <a:bodyPr rtlCol="0"/>
              <a:lstStyle/>
              <a:p>
                <a:pPr algn="ctr"/>
                <a:endParaRPr lang="zh-CN" altLang="en-US"/>
              </a:p>
            </p:txBody>
          </p:sp>
          <p:sp>
            <p:nvSpPr>
              <p:cNvPr id="677" name="path"/>
              <p:cNvSpPr/>
              <p:nvPr/>
            </p:nvSpPr>
            <p:spPr>
              <a:xfrm>
                <a:off x="42672" y="53340"/>
                <a:ext cx="6179820" cy="2260091"/>
              </a:xfrm>
              <a:custGeom>
                <a:avLst/>
                <a:gdLst/>
                <a:ahLst/>
                <a:cxnLst/>
                <a:rect l="0" t="0" r="0" b="0"/>
                <a:pathLst>
                  <a:path w="9732" h="3559">
                    <a:moveTo>
                      <a:pt x="2486" y="3539"/>
                    </a:moveTo>
                    <a:lnTo>
                      <a:pt x="4744" y="3539"/>
                    </a:lnTo>
                    <a:lnTo>
                      <a:pt x="4744" y="2752"/>
                    </a:lnTo>
                    <a:lnTo>
                      <a:pt x="2486" y="2752"/>
                    </a:lnTo>
                    <a:lnTo>
                      <a:pt x="2486" y="3539"/>
                    </a:lnTo>
                    <a:close/>
                  </a:path>
                  <a:path w="9732" h="3559">
                    <a:moveTo>
                      <a:pt x="2498" y="2651"/>
                    </a:moveTo>
                    <a:lnTo>
                      <a:pt x="4754" y="2651"/>
                    </a:lnTo>
                    <a:lnTo>
                      <a:pt x="4754" y="1845"/>
                    </a:lnTo>
                    <a:lnTo>
                      <a:pt x="2498" y="1845"/>
                    </a:lnTo>
                    <a:lnTo>
                      <a:pt x="2498" y="2651"/>
                    </a:lnTo>
                    <a:close/>
                  </a:path>
                  <a:path w="9732" h="3559">
                    <a:moveTo>
                      <a:pt x="4980" y="3559"/>
                    </a:moveTo>
                    <a:lnTo>
                      <a:pt x="7238" y="3559"/>
                    </a:lnTo>
                    <a:lnTo>
                      <a:pt x="7238" y="2745"/>
                    </a:lnTo>
                    <a:lnTo>
                      <a:pt x="4980" y="2745"/>
                    </a:lnTo>
                    <a:lnTo>
                      <a:pt x="4980" y="3559"/>
                    </a:lnTo>
                    <a:close/>
                  </a:path>
                  <a:path w="9732" h="3559">
                    <a:moveTo>
                      <a:pt x="4980" y="2644"/>
                    </a:moveTo>
                    <a:lnTo>
                      <a:pt x="7238" y="2644"/>
                    </a:lnTo>
                    <a:lnTo>
                      <a:pt x="7238" y="1828"/>
                    </a:lnTo>
                    <a:lnTo>
                      <a:pt x="4980" y="1828"/>
                    </a:lnTo>
                    <a:lnTo>
                      <a:pt x="4980" y="2644"/>
                    </a:lnTo>
                    <a:close/>
                  </a:path>
                  <a:path w="9732" h="3559">
                    <a:moveTo>
                      <a:pt x="4980" y="813"/>
                    </a:moveTo>
                    <a:lnTo>
                      <a:pt x="7238" y="813"/>
                    </a:lnTo>
                    <a:lnTo>
                      <a:pt x="7238" y="0"/>
                    </a:lnTo>
                    <a:lnTo>
                      <a:pt x="4980" y="0"/>
                    </a:lnTo>
                    <a:lnTo>
                      <a:pt x="4980" y="813"/>
                    </a:lnTo>
                    <a:close/>
                  </a:path>
                  <a:path w="9732" h="3559">
                    <a:moveTo>
                      <a:pt x="4980" y="1730"/>
                    </a:moveTo>
                    <a:lnTo>
                      <a:pt x="7238" y="1730"/>
                    </a:lnTo>
                    <a:lnTo>
                      <a:pt x="7238" y="914"/>
                    </a:lnTo>
                    <a:lnTo>
                      <a:pt x="4980" y="914"/>
                    </a:lnTo>
                    <a:lnTo>
                      <a:pt x="4980" y="1730"/>
                    </a:lnTo>
                    <a:close/>
                  </a:path>
                  <a:path w="9732" h="3559">
                    <a:moveTo>
                      <a:pt x="7487" y="3559"/>
                    </a:moveTo>
                    <a:lnTo>
                      <a:pt x="9732" y="3559"/>
                    </a:lnTo>
                    <a:lnTo>
                      <a:pt x="9732" y="2752"/>
                    </a:lnTo>
                    <a:lnTo>
                      <a:pt x="7487" y="2752"/>
                    </a:lnTo>
                    <a:lnTo>
                      <a:pt x="7487" y="3559"/>
                    </a:lnTo>
                    <a:close/>
                  </a:path>
                  <a:path w="9732" h="3559">
                    <a:moveTo>
                      <a:pt x="7473" y="2651"/>
                    </a:moveTo>
                    <a:lnTo>
                      <a:pt x="9732" y="2651"/>
                    </a:lnTo>
                    <a:lnTo>
                      <a:pt x="9732" y="1845"/>
                    </a:lnTo>
                    <a:lnTo>
                      <a:pt x="7473" y="1845"/>
                    </a:lnTo>
                    <a:lnTo>
                      <a:pt x="7473" y="2651"/>
                    </a:lnTo>
                    <a:close/>
                  </a:path>
                  <a:path w="9732" h="3559">
                    <a:moveTo>
                      <a:pt x="7478" y="837"/>
                    </a:moveTo>
                    <a:lnTo>
                      <a:pt x="9732" y="837"/>
                    </a:lnTo>
                    <a:lnTo>
                      <a:pt x="9732" y="28"/>
                    </a:lnTo>
                    <a:lnTo>
                      <a:pt x="7478" y="28"/>
                    </a:lnTo>
                    <a:lnTo>
                      <a:pt x="7478" y="837"/>
                    </a:lnTo>
                    <a:close/>
                  </a:path>
                  <a:path w="9732" h="3559">
                    <a:moveTo>
                      <a:pt x="7480" y="1744"/>
                    </a:moveTo>
                    <a:lnTo>
                      <a:pt x="9731" y="1744"/>
                    </a:lnTo>
                    <a:lnTo>
                      <a:pt x="9731" y="935"/>
                    </a:lnTo>
                    <a:lnTo>
                      <a:pt x="7480" y="935"/>
                    </a:lnTo>
                    <a:lnTo>
                      <a:pt x="7480" y="1744"/>
                    </a:lnTo>
                    <a:close/>
                  </a:path>
                  <a:path w="9732" h="3559">
                    <a:moveTo>
                      <a:pt x="2486" y="815"/>
                    </a:moveTo>
                    <a:lnTo>
                      <a:pt x="4744" y="815"/>
                    </a:lnTo>
                    <a:lnTo>
                      <a:pt x="4744" y="28"/>
                    </a:lnTo>
                    <a:lnTo>
                      <a:pt x="2486" y="28"/>
                    </a:lnTo>
                    <a:lnTo>
                      <a:pt x="2486" y="815"/>
                    </a:lnTo>
                    <a:close/>
                  </a:path>
                  <a:path w="9732" h="3559">
                    <a:moveTo>
                      <a:pt x="0" y="3539"/>
                    </a:moveTo>
                    <a:lnTo>
                      <a:pt x="2256" y="3539"/>
                    </a:lnTo>
                    <a:lnTo>
                      <a:pt x="2256" y="2752"/>
                    </a:lnTo>
                    <a:lnTo>
                      <a:pt x="0" y="2752"/>
                    </a:lnTo>
                    <a:lnTo>
                      <a:pt x="0" y="3539"/>
                    </a:lnTo>
                    <a:close/>
                  </a:path>
                </a:pathLst>
              </a:custGeom>
              <a:solidFill>
                <a:srgbClr val="00ADEF">
                  <a:alpha val="100000"/>
                </a:srgbClr>
              </a:solidFill>
              <a:ln cap="flat">
                <a:noFill/>
                <a:prstDash val="solid"/>
                <a:miter lim="0"/>
              </a:ln>
            </p:spPr>
            <p:txBody>
              <a:bodyPr rtlCol="0"/>
              <a:lstStyle/>
              <a:p>
                <a:pPr algn="ctr"/>
                <a:endParaRPr lang="zh-CN" altLang="en-US"/>
              </a:p>
            </p:txBody>
          </p:sp>
        </p:grpSp>
        <p:sp>
          <p:nvSpPr>
            <p:cNvPr id="678" name="textbox 678"/>
            <p:cNvSpPr/>
            <p:nvPr/>
          </p:nvSpPr>
          <p:spPr>
            <a:xfrm>
              <a:off x="3249534" y="213609"/>
              <a:ext cx="1252219" cy="1983104"/>
            </a:xfrm>
            <a:prstGeom prst="rect">
              <a:avLst/>
            </a:prstGeom>
          </p:spPr>
          <p:txBody>
            <a:bodyPr vert="horz" wrap="square" lIns="0" tIns="0" rIns="0" bIns="0"/>
            <a:lstStyle/>
            <a:p>
              <a:pPr algn="l" rtl="0" eaLnBrk="0">
                <a:lnSpc>
                  <a:spcPct val="86000"/>
                </a:lnSpc>
              </a:pPr>
              <a:endParaRPr lang="en-US" altLang="en-US" sz="100" dirty="0">
                <a:latin typeface="微软雅黑" panose="020B0503020204020204" charset="-122"/>
                <a:ea typeface="微软雅黑" panose="020B0503020204020204" charset="-122"/>
              </a:endParaRPr>
            </a:p>
            <a:p>
              <a:pPr marL="12700" algn="l" rtl="0" eaLnBrk="0">
                <a:lnSpc>
                  <a:spcPct val="93000"/>
                </a:lnSpc>
              </a:pPr>
              <a:r>
                <a:rPr sz="1400" spc="-30" dirty="0">
                  <a:solidFill>
                    <a:srgbClr val="000000">
                      <a:alpha val="100000"/>
                    </a:srgbClr>
                  </a:solidFill>
                  <a:latin typeface="微软雅黑" panose="020B0503020204020204" charset="-122"/>
                  <a:ea typeface="微软雅黑" panose="020B0503020204020204" charset="-122"/>
                  <a:cs typeface="楷体" panose="02010609060101010101" charset="-122"/>
                </a:rPr>
                <a:t>大客户管理</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小组</a:t>
              </a:r>
              <a:endParaRPr lang="en-US" altLang="en-US" sz="1400" dirty="0">
                <a:latin typeface="微软雅黑" panose="020B0503020204020204" charset="-122"/>
                <a:ea typeface="微软雅黑" panose="020B0503020204020204" charset="-122"/>
              </a:endParaRPr>
            </a:p>
            <a:p>
              <a:pPr algn="l" rtl="0" eaLnBrk="0">
                <a:lnSpc>
                  <a:spcPct val="148000"/>
                </a:lnSpc>
              </a:pPr>
              <a:endParaRPr lang="en-US" altLang="en-US" sz="1000" dirty="0">
                <a:latin typeface="微软雅黑" panose="020B0503020204020204" charset="-122"/>
                <a:ea typeface="微软雅黑" panose="020B0503020204020204" charset="-122"/>
              </a:endParaRPr>
            </a:p>
            <a:p>
              <a:pPr marL="31750" algn="l" rtl="0" eaLnBrk="0">
                <a:lnSpc>
                  <a:spcPct val="84000"/>
                </a:lnSpc>
                <a:spcBef>
                  <a:spcPts val="420"/>
                </a:spcBef>
              </a:pP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技术咨询型</a:t>
              </a:r>
              <a:endParaRPr lang="en-US" altLang="en-US" sz="1400" dirty="0">
                <a:latin typeface="微软雅黑" panose="020B0503020204020204" charset="-122"/>
                <a:ea typeface="微软雅黑" panose="020B0503020204020204" charset="-122"/>
              </a:endParaRPr>
            </a:p>
            <a:p>
              <a:pPr marL="29210" algn="l" rtl="0" eaLnBrk="0">
                <a:lnSpc>
                  <a:spcPts val="1855"/>
                </a:lnSpc>
              </a:pP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销</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售</a:t>
              </a:r>
              <a:endParaRPr lang="en-US" altLang="en-US" sz="1400" dirty="0">
                <a:latin typeface="微软雅黑" panose="020B0503020204020204" charset="-122"/>
                <a:ea typeface="微软雅黑" panose="020B0503020204020204" charset="-122"/>
              </a:endParaRPr>
            </a:p>
            <a:p>
              <a:pPr algn="l" rtl="0" eaLnBrk="0">
                <a:lnSpc>
                  <a:spcPct val="147000"/>
                </a:lnSpc>
              </a:pPr>
              <a:endParaRPr lang="en-US" altLang="en-US" sz="1000" dirty="0">
                <a:latin typeface="微软雅黑" panose="020B0503020204020204" charset="-122"/>
                <a:ea typeface="微软雅黑" panose="020B0503020204020204" charset="-122"/>
              </a:endParaRPr>
            </a:p>
            <a:p>
              <a:pPr marL="26670" algn="l" rtl="0" eaLnBrk="0">
                <a:lnSpc>
                  <a:spcPct val="95000"/>
                </a:lnSpc>
                <a:spcBef>
                  <a:spcPts val="425"/>
                </a:spcBef>
              </a:pP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应用</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培训</a:t>
              </a:r>
              <a:endParaRPr lang="en-US" altLang="en-US" sz="1400" dirty="0">
                <a:latin typeface="微软雅黑" panose="020B0503020204020204" charset="-122"/>
                <a:ea typeface="微软雅黑" panose="020B0503020204020204" charset="-122"/>
              </a:endParaRPr>
            </a:p>
            <a:p>
              <a:pPr algn="l" rtl="0" eaLnBrk="0">
                <a:lnSpc>
                  <a:spcPct val="106000"/>
                </a:lnSpc>
              </a:pPr>
              <a:endParaRPr lang="en-US" altLang="en-US" sz="1000" dirty="0">
                <a:latin typeface="微软雅黑" panose="020B0503020204020204" charset="-122"/>
                <a:ea typeface="微软雅黑" panose="020B0503020204020204" charset="-122"/>
              </a:endParaRPr>
            </a:p>
            <a:p>
              <a:pPr algn="l" rtl="0" eaLnBrk="0">
                <a:lnSpc>
                  <a:spcPct val="106000"/>
                </a:lnSpc>
              </a:pPr>
              <a:endParaRPr lang="en-US" altLang="en-US" sz="1000" dirty="0">
                <a:latin typeface="微软雅黑" panose="020B0503020204020204" charset="-122"/>
                <a:ea typeface="微软雅黑" panose="020B0503020204020204" charset="-122"/>
              </a:endParaRPr>
            </a:p>
            <a:p>
              <a:pPr algn="l" rtl="0" eaLnBrk="0">
                <a:lnSpc>
                  <a:spcPct val="118000"/>
                </a:lnSpc>
              </a:pPr>
              <a:endParaRPr lang="en-US" altLang="en-US" sz="300" dirty="0">
                <a:latin typeface="微软雅黑" panose="020B0503020204020204" charset="-122"/>
                <a:ea typeface="微软雅黑" panose="020B0503020204020204" charset="-122"/>
              </a:endParaRPr>
            </a:p>
            <a:p>
              <a:pPr marL="26670" algn="l" rtl="0" eaLnBrk="0">
                <a:lnSpc>
                  <a:spcPct val="97000"/>
                </a:lnSpc>
                <a:spcBef>
                  <a:spcPts val="0"/>
                </a:spcBef>
              </a:pP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价</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值定价</a:t>
              </a:r>
              <a:endParaRPr lang="en-US" altLang="en-US" sz="1400" dirty="0">
                <a:latin typeface="微软雅黑" panose="020B0503020204020204" charset="-122"/>
                <a:ea typeface="微软雅黑" panose="020B0503020204020204" charset="-122"/>
              </a:endParaRPr>
            </a:p>
          </p:txBody>
        </p:sp>
      </p:grpSp>
      <p:grpSp>
        <p:nvGrpSpPr>
          <p:cNvPr id="130" name="group 130"/>
          <p:cNvGrpSpPr/>
          <p:nvPr/>
        </p:nvGrpSpPr>
        <p:grpSpPr>
          <a:xfrm rot="21600000">
            <a:off x="1717547" y="4096511"/>
            <a:ext cx="6265163" cy="1496568"/>
            <a:chOff x="0" y="0"/>
            <a:chExt cx="6265163" cy="1496568"/>
          </a:xfrm>
        </p:grpSpPr>
        <p:grpSp>
          <p:nvGrpSpPr>
            <p:cNvPr id="132" name="group 132"/>
            <p:cNvGrpSpPr/>
            <p:nvPr/>
          </p:nvGrpSpPr>
          <p:grpSpPr>
            <a:xfrm rot="21600000">
              <a:off x="0" y="0"/>
              <a:ext cx="6265163" cy="1496568"/>
              <a:chOff x="0" y="0"/>
              <a:chExt cx="6265163" cy="1496568"/>
            </a:xfrm>
          </p:grpSpPr>
          <p:sp>
            <p:nvSpPr>
              <p:cNvPr id="679" name="path"/>
              <p:cNvSpPr/>
              <p:nvPr/>
            </p:nvSpPr>
            <p:spPr>
              <a:xfrm>
                <a:off x="0" y="0"/>
                <a:ext cx="6265163" cy="1496568"/>
              </a:xfrm>
              <a:custGeom>
                <a:avLst/>
                <a:gdLst/>
                <a:ahLst/>
                <a:cxnLst/>
                <a:rect l="0" t="0" r="0" b="0"/>
                <a:pathLst>
                  <a:path w="9866" h="2356">
                    <a:moveTo>
                      <a:pt x="0" y="2356"/>
                    </a:moveTo>
                    <a:lnTo>
                      <a:pt x="9866" y="2356"/>
                    </a:lnTo>
                    <a:lnTo>
                      <a:pt x="9866" y="0"/>
                    </a:lnTo>
                    <a:lnTo>
                      <a:pt x="0" y="0"/>
                    </a:lnTo>
                    <a:lnTo>
                      <a:pt x="0" y="2356"/>
                    </a:lnTo>
                    <a:close/>
                  </a:path>
                </a:pathLst>
              </a:custGeom>
              <a:solidFill>
                <a:srgbClr val="E6E6E6">
                  <a:alpha val="100000"/>
                </a:srgbClr>
              </a:solidFill>
              <a:ln cap="flat">
                <a:noFill/>
                <a:prstDash val="solid"/>
                <a:miter lim="0"/>
              </a:ln>
            </p:spPr>
            <p:txBody>
              <a:bodyPr rtlCol="0"/>
              <a:lstStyle/>
              <a:p>
                <a:pPr algn="ctr"/>
                <a:endParaRPr lang="zh-CN" altLang="en-US"/>
              </a:p>
            </p:txBody>
          </p:sp>
          <p:sp>
            <p:nvSpPr>
              <p:cNvPr id="680" name="path"/>
              <p:cNvSpPr/>
              <p:nvPr/>
            </p:nvSpPr>
            <p:spPr>
              <a:xfrm>
                <a:off x="73152" y="51816"/>
                <a:ext cx="6118859" cy="1394460"/>
              </a:xfrm>
              <a:custGeom>
                <a:avLst/>
                <a:gdLst/>
                <a:ahLst/>
                <a:cxnLst/>
                <a:rect l="0" t="0" r="0" b="0"/>
                <a:pathLst>
                  <a:path w="9635" h="2196">
                    <a:moveTo>
                      <a:pt x="0" y="501"/>
                    </a:moveTo>
                    <a:lnTo>
                      <a:pt x="9635" y="501"/>
                    </a:lnTo>
                    <a:lnTo>
                      <a:pt x="9635" y="0"/>
                    </a:lnTo>
                    <a:lnTo>
                      <a:pt x="0" y="0"/>
                    </a:lnTo>
                    <a:lnTo>
                      <a:pt x="0" y="501"/>
                    </a:lnTo>
                    <a:close/>
                  </a:path>
                  <a:path w="9635" h="2196">
                    <a:moveTo>
                      <a:pt x="0" y="1065"/>
                    </a:moveTo>
                    <a:lnTo>
                      <a:pt x="9635" y="1065"/>
                    </a:lnTo>
                    <a:lnTo>
                      <a:pt x="9635" y="566"/>
                    </a:lnTo>
                    <a:lnTo>
                      <a:pt x="0" y="566"/>
                    </a:lnTo>
                    <a:lnTo>
                      <a:pt x="0" y="1065"/>
                    </a:lnTo>
                    <a:close/>
                  </a:path>
                  <a:path w="9635" h="2196">
                    <a:moveTo>
                      <a:pt x="0" y="1629"/>
                    </a:moveTo>
                    <a:lnTo>
                      <a:pt x="9635" y="1629"/>
                    </a:lnTo>
                    <a:lnTo>
                      <a:pt x="9635" y="1130"/>
                    </a:lnTo>
                    <a:lnTo>
                      <a:pt x="0" y="1130"/>
                    </a:lnTo>
                    <a:lnTo>
                      <a:pt x="0" y="1629"/>
                    </a:lnTo>
                    <a:close/>
                  </a:path>
                  <a:path w="9635" h="2196">
                    <a:moveTo>
                      <a:pt x="0" y="2196"/>
                    </a:moveTo>
                    <a:lnTo>
                      <a:pt x="9635" y="2196"/>
                    </a:lnTo>
                    <a:lnTo>
                      <a:pt x="9635" y="1694"/>
                    </a:lnTo>
                    <a:lnTo>
                      <a:pt x="0" y="1694"/>
                    </a:lnTo>
                    <a:lnTo>
                      <a:pt x="0" y="2196"/>
                    </a:lnTo>
                    <a:close/>
                  </a:path>
                </a:pathLst>
              </a:custGeom>
              <a:solidFill>
                <a:srgbClr val="00ADEF">
                  <a:alpha val="100000"/>
                </a:srgbClr>
              </a:solidFill>
              <a:ln cap="flat">
                <a:noFill/>
                <a:prstDash val="solid"/>
                <a:miter lim="0"/>
              </a:ln>
            </p:spPr>
            <p:txBody>
              <a:bodyPr rtlCol="0"/>
              <a:lstStyle/>
              <a:p>
                <a:pPr algn="ctr"/>
                <a:endParaRPr lang="zh-CN" altLang="en-US"/>
              </a:p>
            </p:txBody>
          </p:sp>
        </p:grpSp>
        <p:sp>
          <p:nvSpPr>
            <p:cNvPr id="681" name="textbox 681"/>
            <p:cNvSpPr/>
            <p:nvPr/>
          </p:nvSpPr>
          <p:spPr>
            <a:xfrm>
              <a:off x="-12700" y="-12700"/>
              <a:ext cx="6290945" cy="1544955"/>
            </a:xfrm>
            <a:prstGeom prst="rect">
              <a:avLst/>
            </a:prstGeom>
          </p:spPr>
          <p:txBody>
            <a:bodyPr vert="horz" wrap="square" lIns="0" tIns="0" rIns="0" bIns="0"/>
            <a:lstStyle/>
            <a:p>
              <a:pPr algn="l" rtl="0" eaLnBrk="0">
                <a:lnSpc>
                  <a:spcPct val="100000"/>
                </a:lnSpc>
              </a:pPr>
              <a:endParaRPr lang="en-US" altLang="en-US" sz="900" dirty="0">
                <a:latin typeface="微软雅黑" panose="020B0503020204020204" charset="-122"/>
                <a:ea typeface="微软雅黑" panose="020B0503020204020204" charset="-122"/>
              </a:endParaRPr>
            </a:p>
            <a:p>
              <a:pPr marL="179070" algn="l" rtl="0" eaLnBrk="0">
                <a:lnSpc>
                  <a:spcPct val="94000"/>
                </a:lnSpc>
                <a:spcBef>
                  <a:spcPts val="0"/>
                </a:spcBef>
              </a:pP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交易型销</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售</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流程</a:t>
              </a:r>
              <a:endParaRPr lang="en-US" altLang="en-US" sz="1400" dirty="0">
                <a:latin typeface="微软雅黑" panose="020B0503020204020204" charset="-122"/>
                <a:ea typeface="微软雅黑" panose="020B0503020204020204" charset="-122"/>
              </a:endParaRPr>
            </a:p>
            <a:p>
              <a:pPr marL="170180" algn="l" rtl="0" eaLnBrk="0">
                <a:lnSpc>
                  <a:spcPct val="95000"/>
                </a:lnSpc>
                <a:spcBef>
                  <a:spcPts val="1245"/>
                </a:spcBef>
              </a:pP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客户咨</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询和直接营销</a:t>
              </a:r>
              <a:endParaRPr lang="en-US" altLang="en-US" sz="1400" dirty="0">
                <a:latin typeface="微软雅黑" panose="020B0503020204020204" charset="-122"/>
                <a:ea typeface="微软雅黑" panose="020B0503020204020204" charset="-122"/>
              </a:endParaRPr>
            </a:p>
            <a:p>
              <a:pPr marL="178435" algn="l" rtl="0" eaLnBrk="0">
                <a:lnSpc>
                  <a:spcPct val="93000"/>
                </a:lnSpc>
                <a:spcBef>
                  <a:spcPts val="1230"/>
                </a:spcBef>
              </a:pP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订单到交付流程管</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理</a:t>
              </a:r>
              <a:endParaRPr lang="en-US" altLang="en-US" sz="1400" dirty="0">
                <a:latin typeface="微软雅黑" panose="020B0503020204020204" charset="-122"/>
                <a:ea typeface="微软雅黑" panose="020B0503020204020204" charset="-122"/>
              </a:endParaRPr>
            </a:p>
            <a:p>
              <a:pPr algn="l" rtl="0" eaLnBrk="0">
                <a:lnSpc>
                  <a:spcPct val="105000"/>
                </a:lnSpc>
              </a:pPr>
              <a:endParaRPr lang="en-US" altLang="en-US" sz="1000" dirty="0">
                <a:latin typeface="微软雅黑" panose="020B0503020204020204" charset="-122"/>
                <a:ea typeface="微软雅黑" panose="020B0503020204020204" charset="-122"/>
              </a:endParaRPr>
            </a:p>
            <a:p>
              <a:pPr marL="173355" algn="l" rtl="0" eaLnBrk="0">
                <a:lnSpc>
                  <a:spcPct val="94000"/>
                </a:lnSpc>
                <a:spcBef>
                  <a:spcPts val="5"/>
                </a:spcBef>
              </a:pP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销售执行</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流程</a:t>
              </a:r>
              <a:endParaRPr lang="en-US" altLang="en-US" sz="1400" dirty="0">
                <a:latin typeface="微软雅黑" panose="020B0503020204020204" charset="-122"/>
                <a:ea typeface="微软雅黑" panose="020B0503020204020204" charset="-122"/>
              </a:endParaRPr>
            </a:p>
          </p:txBody>
        </p:sp>
      </p:grpSp>
      <p:sp>
        <p:nvSpPr>
          <p:cNvPr id="682" name="textbox 682"/>
          <p:cNvSpPr/>
          <p:nvPr/>
        </p:nvSpPr>
        <p:spPr>
          <a:xfrm>
            <a:off x="8818435" y="1037437"/>
            <a:ext cx="114935" cy="474980"/>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r>
              <a:rPr sz="600" spc="-10" dirty="0">
                <a:solidFill>
                  <a:srgbClr val="808080">
                    <a:alpha val="100000"/>
                  </a:srgbClr>
                </a:solidFill>
                <a:latin typeface="Arial" panose="020B0604020202020204"/>
                <a:ea typeface="Arial" panose="020B0604020202020204"/>
                <a:cs typeface="Arial" panose="020B0604020202020204"/>
              </a:rPr>
              <a:t>Las</a:t>
            </a:r>
            <a:r>
              <a:rPr sz="600" spc="0" dirty="0">
                <a:solidFill>
                  <a:srgbClr val="808080">
                    <a:alpha val="100000"/>
                  </a:srgbClr>
                </a:solidFill>
                <a:latin typeface="Arial" panose="020B0604020202020204"/>
                <a:ea typeface="Arial" panose="020B0604020202020204"/>
                <a:cs typeface="Arial" panose="020B0604020202020204"/>
              </a:rPr>
              <a:t>t</a:t>
            </a:r>
            <a:r>
              <a:rPr sz="600" spc="-10" dirty="0">
                <a:solidFill>
                  <a:srgbClr val="808080">
                    <a:alpha val="100000"/>
                  </a:srgbClr>
                </a:solidFill>
                <a:latin typeface="Arial" panose="020B0604020202020204"/>
                <a:ea typeface="Arial" panose="020B0604020202020204"/>
                <a:cs typeface="Arial" panose="020B0604020202020204"/>
              </a:rPr>
              <a:t> </a:t>
            </a:r>
            <a:r>
              <a:rPr sz="600" spc="0" dirty="0">
                <a:solidFill>
                  <a:srgbClr val="808080">
                    <a:alpha val="100000"/>
                  </a:srgbClr>
                </a:solidFill>
                <a:latin typeface="Arial" panose="020B0604020202020204"/>
                <a:ea typeface="Arial" panose="020B0604020202020204"/>
                <a:cs typeface="Arial" panose="020B0604020202020204"/>
              </a:rPr>
              <a:t>Modified</a:t>
            </a:r>
            <a:endParaRPr lang="en-US" altLang="en-US" sz="600" dirty="0"/>
          </a:p>
        </p:txBody>
      </p:sp>
      <p:pic>
        <p:nvPicPr>
          <p:cNvPr id="683" name="picture 683"/>
          <p:cNvPicPr>
            <a:picLocks noChangeAspect="1"/>
          </p:cNvPicPr>
          <p:nvPr/>
        </p:nvPicPr>
        <p:blipFill>
          <a:blip r:embed="rId1"/>
          <a:stretch>
            <a:fillRect/>
          </a:stretch>
        </p:blipFill>
        <p:spPr>
          <a:xfrm rot="21600000">
            <a:off x="0" y="963168"/>
            <a:ext cx="8961119" cy="623315"/>
          </a:xfrm>
          <a:prstGeom prst="rect">
            <a:avLst/>
          </a:prstGeom>
        </p:spPr>
      </p:pic>
      <p:sp>
        <p:nvSpPr>
          <p:cNvPr id="684" name="textbox 684"/>
          <p:cNvSpPr/>
          <p:nvPr/>
        </p:nvSpPr>
        <p:spPr>
          <a:xfrm>
            <a:off x="6519054" y="1870832"/>
            <a:ext cx="1283335" cy="2057400"/>
          </a:xfrm>
          <a:prstGeom prst="rect">
            <a:avLst/>
          </a:prstGeom>
        </p:spPr>
        <p:txBody>
          <a:bodyPr vert="horz" wrap="square" lIns="0" tIns="0" rIns="0" bIns="0"/>
          <a:lstStyle/>
          <a:p>
            <a:pPr algn="l" rtl="0" eaLnBrk="0">
              <a:lnSpc>
                <a:spcPct val="86000"/>
              </a:lnSpc>
            </a:pPr>
            <a:endParaRPr lang="en-US" altLang="en-US" sz="100" dirty="0">
              <a:latin typeface="微软雅黑" panose="020B0503020204020204" charset="-122"/>
              <a:ea typeface="微软雅黑" panose="020B0503020204020204" charset="-122"/>
            </a:endParaRPr>
          </a:p>
          <a:p>
            <a:pPr marL="45085" algn="l" rtl="0" eaLnBrk="0">
              <a:lnSpc>
                <a:spcPct val="93000"/>
              </a:lnSpc>
            </a:pPr>
            <a:r>
              <a:rPr sz="1400" spc="-30" dirty="0">
                <a:solidFill>
                  <a:srgbClr val="000000">
                    <a:alpha val="100000"/>
                  </a:srgbClr>
                </a:solidFill>
                <a:latin typeface="微软雅黑" panose="020B0503020204020204" charset="-122"/>
                <a:ea typeface="微软雅黑" panose="020B0503020204020204" charset="-122"/>
                <a:cs typeface="楷体" panose="02010609060101010101" charset="-122"/>
              </a:rPr>
              <a:t>大客户管理</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小</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组</a:t>
            </a:r>
            <a:endParaRPr lang="en-US" altLang="en-US" sz="1400" dirty="0">
              <a:latin typeface="微软雅黑" panose="020B0503020204020204" charset="-122"/>
              <a:ea typeface="微软雅黑" panose="020B0503020204020204" charset="-122"/>
            </a:endParaRPr>
          </a:p>
          <a:p>
            <a:pPr algn="l" rtl="0" eaLnBrk="0">
              <a:lnSpc>
                <a:spcPct val="130000"/>
              </a:lnSpc>
            </a:pPr>
            <a:endParaRPr lang="en-US" altLang="en-US" sz="1000" dirty="0">
              <a:latin typeface="微软雅黑" panose="020B0503020204020204" charset="-122"/>
              <a:ea typeface="微软雅黑" panose="020B0503020204020204" charset="-122"/>
            </a:endParaRPr>
          </a:p>
          <a:p>
            <a:pPr marL="12700" indent="9525" algn="l" rtl="0" eaLnBrk="0">
              <a:lnSpc>
                <a:spcPct val="104000"/>
              </a:lnSpc>
              <a:spcBef>
                <a:spcPts val="430"/>
              </a:spcBef>
            </a:pP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最终用户导向</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销</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售</a:t>
            </a:r>
            <a:endParaRPr lang="en-US" altLang="en-US" sz="1400" dirty="0">
              <a:latin typeface="微软雅黑" panose="020B0503020204020204" charset="-122"/>
              <a:ea typeface="微软雅黑" panose="020B0503020204020204" charset="-122"/>
            </a:endParaRPr>
          </a:p>
          <a:p>
            <a:pPr algn="l" rtl="0" eaLnBrk="0">
              <a:lnSpc>
                <a:spcPct val="141000"/>
              </a:lnSpc>
            </a:pPr>
            <a:endParaRPr lang="en-US" altLang="en-US" sz="1000" dirty="0">
              <a:latin typeface="微软雅黑" panose="020B0503020204020204" charset="-122"/>
              <a:ea typeface="微软雅黑" panose="020B0503020204020204" charset="-122"/>
            </a:endParaRPr>
          </a:p>
          <a:p>
            <a:pPr marL="43180" algn="l" rtl="0" eaLnBrk="0">
              <a:lnSpc>
                <a:spcPct val="95000"/>
              </a:lnSpc>
              <a:spcBef>
                <a:spcPts val="420"/>
              </a:spcBef>
            </a:pP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应用</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开发支持</a:t>
            </a:r>
            <a:endParaRPr lang="en-US" altLang="en-US" sz="1400" dirty="0">
              <a:latin typeface="微软雅黑" panose="020B0503020204020204" charset="-122"/>
              <a:ea typeface="微软雅黑" panose="020B0503020204020204" charset="-122"/>
            </a:endParaRPr>
          </a:p>
          <a:p>
            <a:pPr algn="l" rtl="0" eaLnBrk="0">
              <a:lnSpc>
                <a:spcPct val="130000"/>
              </a:lnSpc>
            </a:pPr>
            <a:endParaRPr lang="en-US" altLang="en-US" sz="1000" dirty="0">
              <a:latin typeface="微软雅黑" panose="020B0503020204020204" charset="-122"/>
              <a:ea typeface="微软雅黑" panose="020B0503020204020204" charset="-122"/>
            </a:endParaRPr>
          </a:p>
          <a:p>
            <a:pPr marL="21590" algn="l" rtl="0" eaLnBrk="0">
              <a:lnSpc>
                <a:spcPct val="84000"/>
              </a:lnSpc>
              <a:spcBef>
                <a:spcPts val="420"/>
              </a:spcBef>
            </a:pP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联合</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市场</a:t>
            </a:r>
            <a:endParaRPr lang="en-US" altLang="en-US" sz="1400" dirty="0">
              <a:latin typeface="微软雅黑" panose="020B0503020204020204" charset="-122"/>
              <a:ea typeface="微软雅黑" panose="020B0503020204020204" charset="-122"/>
            </a:endParaRPr>
          </a:p>
          <a:p>
            <a:pPr marL="29210" algn="l" rtl="0" eaLnBrk="0">
              <a:lnSpc>
                <a:spcPts val="1850"/>
              </a:lnSpc>
            </a:pP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拓展团</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队</a:t>
            </a:r>
            <a:endParaRPr lang="en-US" altLang="en-US" sz="1400" dirty="0">
              <a:latin typeface="微软雅黑" panose="020B0503020204020204" charset="-122"/>
              <a:ea typeface="微软雅黑" panose="020B0503020204020204" charset="-122"/>
            </a:endParaRPr>
          </a:p>
        </p:txBody>
      </p:sp>
      <p:sp>
        <p:nvSpPr>
          <p:cNvPr id="685" name="textbox 685"/>
          <p:cNvSpPr/>
          <p:nvPr/>
        </p:nvSpPr>
        <p:spPr>
          <a:xfrm>
            <a:off x="638556" y="1650492"/>
            <a:ext cx="1039494" cy="2372360"/>
          </a:xfrm>
          <a:prstGeom prst="rect">
            <a:avLst/>
          </a:prstGeom>
          <a:solidFill>
            <a:srgbClr val="C5C5C5"/>
          </a:solidFill>
        </p:spPr>
        <p:txBody>
          <a:bodyPr vert="horz" wrap="square" lIns="0" tIns="0" rIns="0" bIns="0"/>
          <a:lstStyle/>
          <a:p>
            <a:pPr algn="l" rtl="0" eaLnBrk="0">
              <a:lnSpc>
                <a:spcPct val="107000"/>
              </a:lnSpc>
            </a:pPr>
            <a:endParaRPr lang="en-US" altLang="en-US" sz="1000" dirty="0">
              <a:latin typeface="微软雅黑" panose="020B0503020204020204" charset="-122"/>
              <a:ea typeface="微软雅黑" panose="020B0503020204020204" charset="-122"/>
            </a:endParaRPr>
          </a:p>
          <a:p>
            <a:pPr algn="l" rtl="0" eaLnBrk="0">
              <a:lnSpc>
                <a:spcPct val="107000"/>
              </a:lnSpc>
            </a:pPr>
            <a:endParaRPr lang="en-US" altLang="en-US" sz="1000" dirty="0">
              <a:latin typeface="微软雅黑" panose="020B0503020204020204" charset="-122"/>
              <a:ea typeface="微软雅黑" panose="020B0503020204020204" charset="-122"/>
            </a:endParaRPr>
          </a:p>
          <a:p>
            <a:pPr algn="l" rtl="0" eaLnBrk="0">
              <a:lnSpc>
                <a:spcPct val="107000"/>
              </a:lnSpc>
            </a:pPr>
            <a:endParaRPr lang="en-US" altLang="en-US" sz="1000" dirty="0">
              <a:latin typeface="微软雅黑" panose="020B0503020204020204" charset="-122"/>
              <a:ea typeface="微软雅黑" panose="020B0503020204020204" charset="-122"/>
            </a:endParaRPr>
          </a:p>
          <a:p>
            <a:pPr algn="l" rtl="0" eaLnBrk="0">
              <a:lnSpc>
                <a:spcPct val="108000"/>
              </a:lnSpc>
            </a:pPr>
            <a:endParaRPr lang="en-US" altLang="en-US" sz="1000" dirty="0">
              <a:latin typeface="微软雅黑" panose="020B0503020204020204" charset="-122"/>
              <a:ea typeface="微软雅黑" panose="020B0503020204020204" charset="-122"/>
            </a:endParaRPr>
          </a:p>
          <a:p>
            <a:pPr algn="l" rtl="0" eaLnBrk="0">
              <a:lnSpc>
                <a:spcPct val="108000"/>
              </a:lnSpc>
            </a:pPr>
            <a:endParaRPr lang="en-US" altLang="en-US" sz="1000" dirty="0">
              <a:latin typeface="微软雅黑" panose="020B0503020204020204" charset="-122"/>
              <a:ea typeface="微软雅黑" panose="020B0503020204020204" charset="-122"/>
            </a:endParaRPr>
          </a:p>
          <a:p>
            <a:pPr algn="l" rtl="0" eaLnBrk="0">
              <a:lnSpc>
                <a:spcPct val="108000"/>
              </a:lnSpc>
            </a:pPr>
            <a:endParaRPr lang="en-US" altLang="en-US" sz="1000" dirty="0">
              <a:latin typeface="微软雅黑" panose="020B0503020204020204" charset="-122"/>
              <a:ea typeface="微软雅黑" panose="020B0503020204020204" charset="-122"/>
            </a:endParaRPr>
          </a:p>
          <a:p>
            <a:pPr marL="78740" algn="l" rtl="0" eaLnBrk="0">
              <a:lnSpc>
                <a:spcPct val="84000"/>
              </a:lnSpc>
              <a:spcBef>
                <a:spcPts val="5"/>
              </a:spcBef>
            </a:pP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前端</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销</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售</a:t>
            </a:r>
            <a:endParaRPr lang="en-US" altLang="en-US" sz="1400" dirty="0">
              <a:latin typeface="微软雅黑" panose="020B0503020204020204" charset="-122"/>
              <a:ea typeface="微软雅黑" panose="020B0503020204020204" charset="-122"/>
            </a:endParaRPr>
          </a:p>
          <a:p>
            <a:pPr marL="69850" algn="l" rtl="0" eaLnBrk="0">
              <a:lnSpc>
                <a:spcPts val="1770"/>
              </a:lnSpc>
            </a:pP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模块</a:t>
            </a:r>
            <a:endParaRPr lang="en-US" altLang="en-US" sz="1400" dirty="0">
              <a:latin typeface="微软雅黑" panose="020B0503020204020204" charset="-122"/>
              <a:ea typeface="微软雅黑" panose="020B0503020204020204" charset="-122"/>
            </a:endParaRPr>
          </a:p>
        </p:txBody>
      </p:sp>
      <p:sp>
        <p:nvSpPr>
          <p:cNvPr id="686" name="textbox 686"/>
          <p:cNvSpPr/>
          <p:nvPr/>
        </p:nvSpPr>
        <p:spPr>
          <a:xfrm>
            <a:off x="117420" y="248992"/>
            <a:ext cx="8636000" cy="325120"/>
          </a:xfrm>
          <a:prstGeom prst="rect">
            <a:avLst/>
          </a:prstGeom>
        </p:spPr>
        <p:txBody>
          <a:bodyPr vert="horz" wrap="square" lIns="0" tIns="0" rIns="0" bIns="0"/>
          <a:lstStyle/>
          <a:p>
            <a:pPr algn="l" rtl="0" eaLnBrk="0">
              <a:lnSpc>
                <a:spcPct val="85000"/>
              </a:lnSpc>
            </a:pPr>
            <a:endParaRPr lang="en-US" altLang="en-US" sz="100" dirty="0">
              <a:latin typeface="微软雅黑" panose="020B0503020204020204" charset="-122"/>
              <a:ea typeface="微软雅黑" panose="020B0503020204020204" charset="-122"/>
            </a:endParaRPr>
          </a:p>
          <a:p>
            <a:pPr marL="12700" algn="l" rtl="0" eaLnBrk="0">
              <a:lnSpc>
                <a:spcPct val="94000"/>
              </a:lnSpc>
            </a:pPr>
            <a:r>
              <a:rPr sz="2000" spc="10" dirty="0">
                <a:solidFill>
                  <a:srgbClr val="002960">
                    <a:alpha val="100000"/>
                  </a:srgbClr>
                </a:solidFill>
                <a:latin typeface="微软雅黑" panose="020B0503020204020204" charset="-122"/>
                <a:ea typeface="微软雅黑" panose="020B0503020204020204" charset="-122"/>
                <a:cs typeface="楷体" panose="02010609060101010101" charset="-122"/>
              </a:rPr>
              <a:t>有效的“</a:t>
            </a:r>
            <a:r>
              <a:rPr sz="2000" spc="10" dirty="0">
                <a:solidFill>
                  <a:srgbClr val="002960">
                    <a:alpha val="100000"/>
                  </a:srgbClr>
                </a:solidFill>
                <a:latin typeface="微软雅黑" panose="020B0503020204020204" charset="-122"/>
                <a:ea typeface="微软雅黑" panose="020B0503020204020204" charset="-122"/>
                <a:cs typeface="Arial" panose="020B0604020202020204"/>
              </a:rPr>
              <a:t>2.0</a:t>
            </a:r>
            <a:r>
              <a:rPr sz="2000" spc="10" dirty="0">
                <a:solidFill>
                  <a:srgbClr val="002960">
                    <a:alpha val="100000"/>
                  </a:srgbClr>
                </a:solidFill>
                <a:latin typeface="微软雅黑" panose="020B0503020204020204" charset="-122"/>
                <a:ea typeface="微软雅黑" panose="020B0503020204020204" charset="-122"/>
                <a:cs typeface="楷体" panose="02010609060101010101" charset="-122"/>
              </a:rPr>
              <a:t>版”客户分类可以让企业精准</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设置销售团队             </a:t>
            </a:r>
            <a:endParaRPr lang="en-US" altLang="en-US" sz="780" dirty="0">
              <a:latin typeface="微软雅黑" panose="020B0503020204020204" charset="-122"/>
              <a:ea typeface="微软雅黑" panose="020B0503020204020204" charset="-122"/>
            </a:endParaRPr>
          </a:p>
        </p:txBody>
      </p:sp>
      <p:sp>
        <p:nvSpPr>
          <p:cNvPr id="687" name="path"/>
          <p:cNvSpPr/>
          <p:nvPr/>
        </p:nvSpPr>
        <p:spPr>
          <a:xfrm>
            <a:off x="7987284" y="784351"/>
            <a:ext cx="9143" cy="150748"/>
          </a:xfrm>
          <a:custGeom>
            <a:avLst/>
            <a:gdLst/>
            <a:ahLst/>
            <a:cxnLst/>
            <a:rect l="0" t="0" r="0" b="0"/>
            <a:pathLst>
              <a:path w="14" h="237">
                <a:moveTo>
                  <a:pt x="7" y="0"/>
                </a:moveTo>
                <a:lnTo>
                  <a:pt x="7" y="237"/>
                </a:lnTo>
              </a:path>
            </a:pathLst>
          </a:custGeom>
          <a:noFill/>
          <a:ln w="9143" cap="flat">
            <a:solidFill>
              <a:srgbClr val="808080">
                <a:alpha val="100000"/>
              </a:srgbClr>
            </a:solidFill>
            <a:prstDash val="solid"/>
            <a:round/>
          </a:ln>
        </p:spPr>
        <p:txBody>
          <a:bodyPr rtlCol="0"/>
          <a:lstStyle/>
          <a:p>
            <a:pPr algn="ctr"/>
            <a:endParaRPr lang="zh-CN" altLang="en-US"/>
          </a:p>
        </p:txBody>
      </p:sp>
      <p:sp>
        <p:nvSpPr>
          <p:cNvPr id="688" name="textbox 688"/>
          <p:cNvSpPr/>
          <p:nvPr/>
        </p:nvSpPr>
        <p:spPr>
          <a:xfrm>
            <a:off x="638556" y="4096511"/>
            <a:ext cx="1039494" cy="1519555"/>
          </a:xfrm>
          <a:prstGeom prst="rect">
            <a:avLst/>
          </a:prstGeom>
          <a:solidFill>
            <a:srgbClr val="C5C5C5"/>
          </a:solidFill>
        </p:spPr>
        <p:txBody>
          <a:bodyPr vert="horz" wrap="square" lIns="0" tIns="0" rIns="0" bIns="0"/>
          <a:lstStyle/>
          <a:p>
            <a:pPr algn="l" rtl="0" eaLnBrk="0">
              <a:lnSpc>
                <a:spcPct val="129000"/>
              </a:lnSpc>
            </a:pPr>
            <a:endParaRPr lang="en-US" altLang="en-US" sz="1000" dirty="0">
              <a:latin typeface="微软雅黑" panose="020B0503020204020204" charset="-122"/>
              <a:ea typeface="微软雅黑" panose="020B0503020204020204" charset="-122"/>
            </a:endParaRPr>
          </a:p>
          <a:p>
            <a:pPr algn="l" rtl="0" eaLnBrk="0">
              <a:lnSpc>
                <a:spcPct val="129000"/>
              </a:lnSpc>
            </a:pPr>
            <a:endParaRPr lang="en-US" altLang="en-US" sz="1000" dirty="0">
              <a:latin typeface="微软雅黑" panose="020B0503020204020204" charset="-122"/>
              <a:ea typeface="微软雅黑" panose="020B0503020204020204" charset="-122"/>
            </a:endParaRPr>
          </a:p>
          <a:p>
            <a:pPr algn="l" rtl="0" eaLnBrk="0">
              <a:lnSpc>
                <a:spcPct val="130000"/>
              </a:lnSpc>
            </a:pPr>
            <a:endParaRPr lang="en-US" altLang="en-US" sz="1000" dirty="0">
              <a:latin typeface="微软雅黑" panose="020B0503020204020204" charset="-122"/>
              <a:ea typeface="微软雅黑" panose="020B0503020204020204" charset="-122"/>
            </a:endParaRPr>
          </a:p>
          <a:p>
            <a:pPr algn="l" rtl="0" eaLnBrk="0">
              <a:lnSpc>
                <a:spcPct val="7000"/>
              </a:lnSpc>
            </a:pPr>
            <a:endParaRPr lang="en-US" altLang="en-US" sz="100" dirty="0">
              <a:latin typeface="微软雅黑" panose="020B0503020204020204" charset="-122"/>
              <a:ea typeface="微软雅黑" panose="020B0503020204020204" charset="-122"/>
            </a:endParaRPr>
          </a:p>
          <a:p>
            <a:pPr marL="74930" algn="l" rtl="0" eaLnBrk="0">
              <a:lnSpc>
                <a:spcPct val="94000"/>
              </a:lnSpc>
            </a:pP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精益后</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台</a:t>
            </a:r>
            <a:endParaRPr lang="en-US" altLang="en-US" sz="1400" dirty="0">
              <a:latin typeface="微软雅黑" panose="020B0503020204020204" charset="-122"/>
              <a:ea typeface="微软雅黑" panose="020B0503020204020204" charset="-122"/>
            </a:endParaRPr>
          </a:p>
        </p:txBody>
      </p:sp>
      <p:sp>
        <p:nvSpPr>
          <p:cNvPr id="689" name="textbox 689"/>
          <p:cNvSpPr/>
          <p:nvPr/>
        </p:nvSpPr>
        <p:spPr>
          <a:xfrm>
            <a:off x="3378960" y="2927599"/>
            <a:ext cx="1282700" cy="1021080"/>
          </a:xfrm>
          <a:prstGeom prst="rect">
            <a:avLst/>
          </a:prstGeom>
        </p:spPr>
        <p:txBody>
          <a:bodyPr vert="horz" wrap="square" lIns="0" tIns="0" rIns="0" bIns="0"/>
          <a:lstStyle/>
          <a:p>
            <a:pPr algn="l" rtl="0" eaLnBrk="0">
              <a:lnSpc>
                <a:spcPct val="71000"/>
              </a:lnSpc>
            </a:pPr>
            <a:endParaRPr lang="en-US" altLang="en-US" sz="100" dirty="0">
              <a:latin typeface="微软雅黑" panose="020B0503020204020204" charset="-122"/>
              <a:ea typeface="微软雅黑" panose="020B0503020204020204" charset="-122"/>
            </a:endParaRPr>
          </a:p>
          <a:p>
            <a:pPr marL="26670" indent="1270" algn="l" rtl="0" eaLnBrk="0">
              <a:lnSpc>
                <a:spcPct val="98000"/>
              </a:lnSpc>
            </a:pP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低成本</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、标准化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应</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用支持</a:t>
            </a:r>
            <a:endParaRPr lang="en-US" altLang="en-US" sz="1400" dirty="0">
              <a:latin typeface="微软雅黑" panose="020B0503020204020204" charset="-122"/>
              <a:ea typeface="微软雅黑" panose="020B0503020204020204" charset="-122"/>
            </a:endParaRPr>
          </a:p>
          <a:p>
            <a:pPr algn="l" rtl="0" eaLnBrk="0">
              <a:lnSpc>
                <a:spcPct val="104000"/>
              </a:lnSpc>
            </a:pPr>
            <a:endParaRPr lang="en-US" altLang="en-US" sz="800" dirty="0">
              <a:latin typeface="微软雅黑" panose="020B0503020204020204" charset="-122"/>
              <a:ea typeface="微软雅黑" panose="020B0503020204020204" charset="-122"/>
            </a:endParaRPr>
          </a:p>
          <a:p>
            <a:pPr marL="12700" indent="8255" algn="l" rtl="0" eaLnBrk="0">
              <a:lnSpc>
                <a:spcPct val="106000"/>
              </a:lnSpc>
              <a:spcBef>
                <a:spcPts val="0"/>
              </a:spcBef>
            </a:pPr>
            <a:r>
              <a:rPr sz="1400" spc="-30" dirty="0">
                <a:solidFill>
                  <a:srgbClr val="000000">
                    <a:alpha val="100000"/>
                  </a:srgbClr>
                </a:solidFill>
                <a:latin typeface="微软雅黑" panose="020B0503020204020204" charset="-122"/>
                <a:ea typeface="微软雅黑" panose="020B0503020204020204" charset="-122"/>
                <a:cs typeface="楷体" panose="02010609060101010101" charset="-122"/>
              </a:rPr>
              <a:t>关注交易</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定</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价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执</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行</a:t>
            </a:r>
            <a:endParaRPr lang="en-US" altLang="en-US" sz="1400" dirty="0">
              <a:latin typeface="微软雅黑" panose="020B0503020204020204" charset="-122"/>
              <a:ea typeface="微软雅黑" panose="020B0503020204020204" charset="-122"/>
            </a:endParaRPr>
          </a:p>
        </p:txBody>
      </p:sp>
      <p:sp>
        <p:nvSpPr>
          <p:cNvPr id="690" name="textbox 690"/>
          <p:cNvSpPr/>
          <p:nvPr/>
        </p:nvSpPr>
        <p:spPr>
          <a:xfrm>
            <a:off x="114849" y="6511311"/>
            <a:ext cx="8577580" cy="135889"/>
          </a:xfrm>
          <a:prstGeom prst="rect">
            <a:avLst/>
          </a:prstGeom>
        </p:spPr>
        <p:txBody>
          <a:bodyPr vert="horz" wrap="square" lIns="0" tIns="0" rIns="0" bIns="0"/>
          <a:lstStyle/>
          <a:p>
            <a:pPr algn="l" rtl="0" eaLnBrk="0">
              <a:lnSpc>
                <a:spcPct val="85000"/>
              </a:lnSpc>
            </a:pPr>
            <a:endParaRPr lang="en-US" altLang="en-US" sz="100" dirty="0"/>
          </a:p>
          <a:p>
            <a:pPr marL="12700" algn="l" rtl="0" eaLnBrk="0">
              <a:lnSpc>
                <a:spcPct val="90000"/>
              </a:lnSpc>
            </a:pPr>
            <a:r>
              <a:rPr sz="800" spc="10" dirty="0">
                <a:solidFill>
                  <a:srgbClr val="808080">
                    <a:alpha val="100000"/>
                  </a:srgbClr>
                </a:solidFill>
                <a:latin typeface="楷体" panose="02010609060101010101" charset="-122"/>
                <a:ea typeface="楷体" panose="02010609060101010101" charset="-122"/>
                <a:cs typeface="楷体" panose="02010609060101010101" charset="-122"/>
              </a:rPr>
              <a:t>资料来源：乙方                           </a:t>
            </a:r>
            <a:r>
              <a:rPr sz="800" spc="0" dirty="0">
                <a:solidFill>
                  <a:srgbClr val="808080">
                    <a:alpha val="100000"/>
                  </a:srgbClr>
                </a:solidFill>
                <a:latin typeface="楷体" panose="02010609060101010101" charset="-122"/>
                <a:ea typeface="楷体" panose="02010609060101010101" charset="-122"/>
                <a:cs typeface="楷体" panose="02010609060101010101" charset="-122"/>
              </a:rPr>
              <a:t>                                                                                                     </a:t>
            </a:r>
            <a:r>
              <a:rPr sz="800" spc="0" dirty="0">
                <a:solidFill>
                  <a:srgbClr val="808080">
                    <a:alpha val="100000"/>
                  </a:srgbClr>
                </a:solidFill>
                <a:latin typeface="Arial" panose="020B0604020202020204"/>
                <a:ea typeface="Arial" panose="020B0604020202020204"/>
                <a:cs typeface="Arial" panose="020B0604020202020204"/>
              </a:rPr>
              <a:t>   17</a:t>
            </a:r>
            <a:endParaRPr lang="en-US" altLang="en-US" sz="800" dirty="0"/>
          </a:p>
        </p:txBody>
      </p:sp>
      <p:sp>
        <p:nvSpPr>
          <p:cNvPr id="691" name="textbox 691"/>
          <p:cNvSpPr/>
          <p:nvPr/>
        </p:nvSpPr>
        <p:spPr>
          <a:xfrm>
            <a:off x="631487" y="5777124"/>
            <a:ext cx="1087755" cy="610869"/>
          </a:xfrm>
          <a:prstGeom prst="rect">
            <a:avLst/>
          </a:prstGeom>
        </p:spPr>
        <p:txBody>
          <a:bodyPr vert="horz" wrap="square" lIns="0" tIns="0" rIns="0" bIns="0"/>
          <a:lstStyle/>
          <a:p>
            <a:pPr algn="l" rtl="0" eaLnBrk="0">
              <a:lnSpc>
                <a:spcPct val="28000"/>
              </a:lnSpc>
            </a:pPr>
            <a:endParaRPr lang="en-US" altLang="en-US" sz="100" dirty="0"/>
          </a:p>
          <a:p>
            <a:pPr marL="19685" indent="-6985" algn="l" rtl="0" eaLnBrk="0">
              <a:lnSpc>
                <a:spcPct val="92000"/>
              </a:lnSpc>
            </a:pPr>
            <a:r>
              <a:rPr sz="1400" spc="-10" dirty="0">
                <a:solidFill>
                  <a:srgbClr val="000000">
                    <a:alpha val="100000"/>
                  </a:srgbClr>
                </a:solidFill>
                <a:latin typeface="楷体" panose="02010609060101010101" charset="-122"/>
                <a:ea typeface="楷体" panose="02010609060101010101" charset="-122"/>
                <a:cs typeface="楷体" panose="02010609060101010101" charset="-122"/>
              </a:rPr>
              <a:t>销售和营</a:t>
            </a:r>
            <a:r>
              <a:rPr sz="1400" spc="0" dirty="0">
                <a:solidFill>
                  <a:srgbClr val="000000">
                    <a:alpha val="100000"/>
                  </a:srgbClr>
                </a:solidFill>
                <a:latin typeface="楷体" panose="02010609060101010101" charset="-122"/>
                <a:ea typeface="楷体" panose="02010609060101010101" charset="-122"/>
                <a:cs typeface="楷体" panose="02010609060101010101" charset="-122"/>
              </a:rPr>
              <a:t>销成 </a:t>
            </a:r>
            <a:r>
              <a:rPr sz="1400" spc="-40" dirty="0">
                <a:solidFill>
                  <a:srgbClr val="000000">
                    <a:alpha val="100000"/>
                  </a:srgbClr>
                </a:solidFill>
                <a:latin typeface="楷体" panose="02010609060101010101" charset="-122"/>
                <a:ea typeface="楷体" panose="02010609060101010101" charset="-122"/>
                <a:cs typeface="楷体" panose="02010609060101010101" charset="-122"/>
              </a:rPr>
              <a:t>本目</a:t>
            </a:r>
            <a:r>
              <a:rPr sz="1400" spc="-20" dirty="0">
                <a:solidFill>
                  <a:srgbClr val="000000">
                    <a:alpha val="100000"/>
                  </a:srgbClr>
                </a:solidFill>
                <a:latin typeface="楷体" panose="02010609060101010101" charset="-122"/>
                <a:ea typeface="楷体" panose="02010609060101010101" charset="-122"/>
                <a:cs typeface="楷体" panose="02010609060101010101" charset="-122"/>
              </a:rPr>
              <a:t>标</a:t>
            </a:r>
            <a:endParaRPr lang="en-US" altLang="en-US" sz="1400" dirty="0"/>
          </a:p>
          <a:p>
            <a:pPr marL="38735" algn="l" rtl="0" eaLnBrk="0">
              <a:lnSpc>
                <a:spcPct val="94000"/>
              </a:lnSpc>
              <a:spcBef>
                <a:spcPts val="0"/>
              </a:spcBef>
            </a:pPr>
            <a:r>
              <a:rPr sz="1400" spc="-40" dirty="0">
                <a:solidFill>
                  <a:srgbClr val="000000">
                    <a:alpha val="100000"/>
                  </a:srgbClr>
                </a:solidFill>
                <a:latin typeface="楷体" panose="02010609060101010101" charset="-122"/>
                <a:ea typeface="楷体" panose="02010609060101010101" charset="-122"/>
                <a:cs typeface="楷体" panose="02010609060101010101" charset="-122"/>
              </a:rPr>
              <a:t>占销售百分比</a:t>
            </a:r>
            <a:endParaRPr lang="en-US" altLang="en-US" sz="1400" dirty="0"/>
          </a:p>
        </p:txBody>
      </p:sp>
      <p:sp>
        <p:nvSpPr>
          <p:cNvPr id="692" name="textbox 692"/>
          <p:cNvSpPr/>
          <p:nvPr/>
        </p:nvSpPr>
        <p:spPr>
          <a:xfrm>
            <a:off x="4934044" y="1239515"/>
            <a:ext cx="2494279" cy="229234"/>
          </a:xfrm>
          <a:prstGeom prst="rect">
            <a:avLst/>
          </a:prstGeom>
        </p:spPr>
        <p:txBody>
          <a:bodyPr vert="horz" wrap="square" lIns="0" tIns="0" rIns="0" bIns="0"/>
          <a:lstStyle/>
          <a:p>
            <a:pPr algn="l" rtl="0" eaLnBrk="0">
              <a:lnSpc>
                <a:spcPct val="90000"/>
              </a:lnSpc>
            </a:pPr>
            <a:endParaRPr lang="en-US" altLang="en-US" sz="100" dirty="0">
              <a:latin typeface="微软雅黑" panose="020B0503020204020204" charset="-122"/>
              <a:ea typeface="微软雅黑" panose="020B0503020204020204" charset="-122"/>
            </a:endParaRPr>
          </a:p>
          <a:p>
            <a:pPr marL="12700" algn="l" rtl="0" eaLnBrk="0">
              <a:lnSpc>
                <a:spcPct val="95000"/>
              </a:lnSpc>
            </a:pPr>
            <a:r>
              <a:rPr sz="1400" spc="40" dirty="0">
                <a:solidFill>
                  <a:srgbClr val="000000">
                    <a:alpha val="100000"/>
                  </a:srgbClr>
                </a:solidFill>
                <a:latin typeface="微软雅黑" panose="020B0503020204020204" charset="-122"/>
                <a:ea typeface="微软雅黑" panose="020B0503020204020204" charset="-122"/>
                <a:cs typeface="楷体" panose="02010609060101010101" charset="-122"/>
              </a:rPr>
              <a:t>定制方案提供者   价值链</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伙</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伴</a:t>
            </a:r>
            <a:endParaRPr lang="en-US" altLang="en-US" sz="1400" dirty="0">
              <a:latin typeface="微软雅黑" panose="020B0503020204020204" charset="-122"/>
              <a:ea typeface="微软雅黑" panose="020B0503020204020204" charset="-122"/>
            </a:endParaRPr>
          </a:p>
        </p:txBody>
      </p:sp>
      <p:sp>
        <p:nvSpPr>
          <p:cNvPr id="693" name="textbox 693"/>
          <p:cNvSpPr/>
          <p:nvPr/>
        </p:nvSpPr>
        <p:spPr>
          <a:xfrm>
            <a:off x="1798572" y="3503925"/>
            <a:ext cx="1085850" cy="445134"/>
          </a:xfrm>
          <a:prstGeom prst="rect">
            <a:avLst/>
          </a:prstGeom>
        </p:spPr>
        <p:txBody>
          <a:bodyPr vert="horz" wrap="square" lIns="0" tIns="0" rIns="0" bIns="0"/>
          <a:lstStyle/>
          <a:p>
            <a:pPr algn="l" rtl="0" eaLnBrk="0">
              <a:lnSpc>
                <a:spcPct val="91000"/>
              </a:lnSpc>
            </a:pPr>
            <a:endParaRPr lang="en-US" altLang="en-US" sz="100" dirty="0">
              <a:latin typeface="微软雅黑" panose="020B0503020204020204" charset="-122"/>
              <a:ea typeface="微软雅黑" panose="020B0503020204020204" charset="-122"/>
            </a:endParaRPr>
          </a:p>
          <a:p>
            <a:pPr marL="12700" indent="8255" algn="l" rtl="0" eaLnBrk="0">
              <a:lnSpc>
                <a:spcPct val="98000"/>
              </a:lnSpc>
            </a:pPr>
            <a:r>
              <a:rPr sz="1400" spc="-30" dirty="0">
                <a:solidFill>
                  <a:srgbClr val="000000">
                    <a:alpha val="100000"/>
                  </a:srgbClr>
                </a:solidFill>
                <a:latin typeface="微软雅黑" panose="020B0503020204020204" charset="-122"/>
                <a:ea typeface="微软雅黑" panose="020B0503020204020204" charset="-122"/>
                <a:cs typeface="楷体" panose="02010609060101010101" charset="-122"/>
              </a:rPr>
              <a:t>关注交易</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定</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价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执</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行</a:t>
            </a:r>
            <a:endParaRPr lang="en-US" altLang="en-US" sz="1400" dirty="0">
              <a:latin typeface="微软雅黑" panose="020B0503020204020204" charset="-122"/>
              <a:ea typeface="微软雅黑" panose="020B0503020204020204" charset="-122"/>
            </a:endParaRPr>
          </a:p>
        </p:txBody>
      </p:sp>
      <p:sp>
        <p:nvSpPr>
          <p:cNvPr id="694" name="textbox 694"/>
          <p:cNvSpPr/>
          <p:nvPr/>
        </p:nvSpPr>
        <p:spPr>
          <a:xfrm>
            <a:off x="1787397" y="1143503"/>
            <a:ext cx="1094105" cy="417830"/>
          </a:xfrm>
          <a:prstGeom prst="rect">
            <a:avLst/>
          </a:prstGeom>
        </p:spPr>
        <p:txBody>
          <a:bodyPr vert="horz" wrap="square" lIns="0" tIns="0" rIns="0" bIns="0"/>
          <a:lstStyle/>
          <a:p>
            <a:pPr algn="l" rtl="0" eaLnBrk="0">
              <a:lnSpc>
                <a:spcPct val="25000"/>
              </a:lnSpc>
            </a:pPr>
            <a:endParaRPr lang="en-US" altLang="en-US" sz="100" dirty="0">
              <a:latin typeface="微软雅黑" panose="020B0503020204020204" charset="-122"/>
              <a:ea typeface="微软雅黑" panose="020B0503020204020204" charset="-122"/>
            </a:endParaRPr>
          </a:p>
          <a:p>
            <a:pPr marL="12700" indent="5715" algn="l" rtl="0" eaLnBrk="0">
              <a:lnSpc>
                <a:spcPct val="94000"/>
              </a:lnSpc>
            </a:pP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精益基础</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产品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供</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货商</a:t>
            </a:r>
            <a:endParaRPr lang="en-US" altLang="en-US" sz="1400" dirty="0">
              <a:latin typeface="微软雅黑" panose="020B0503020204020204" charset="-122"/>
              <a:ea typeface="微软雅黑" panose="020B0503020204020204" charset="-122"/>
            </a:endParaRPr>
          </a:p>
        </p:txBody>
      </p:sp>
      <p:sp>
        <p:nvSpPr>
          <p:cNvPr id="695" name="textbox 695"/>
          <p:cNvSpPr/>
          <p:nvPr/>
        </p:nvSpPr>
        <p:spPr>
          <a:xfrm>
            <a:off x="3370579" y="1143503"/>
            <a:ext cx="915669" cy="417830"/>
          </a:xfrm>
          <a:prstGeom prst="rect">
            <a:avLst/>
          </a:prstGeom>
        </p:spPr>
        <p:txBody>
          <a:bodyPr vert="horz" wrap="square" lIns="0" tIns="0" rIns="0" bIns="0"/>
          <a:lstStyle/>
          <a:p>
            <a:pPr algn="l" rtl="0" eaLnBrk="0">
              <a:lnSpc>
                <a:spcPct val="25000"/>
              </a:lnSpc>
            </a:pPr>
            <a:endParaRPr lang="en-US" altLang="en-US" sz="100" dirty="0">
              <a:latin typeface="微软雅黑" panose="020B0503020204020204" charset="-122"/>
              <a:ea typeface="微软雅黑" panose="020B0503020204020204" charset="-122"/>
            </a:endParaRPr>
          </a:p>
          <a:p>
            <a:pPr marL="12700" indent="6350" algn="l" rtl="0" eaLnBrk="0">
              <a:lnSpc>
                <a:spcPct val="94000"/>
              </a:lnSpc>
            </a:pP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优质标准化</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供</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货商</a:t>
            </a:r>
            <a:endParaRPr lang="en-US" altLang="en-US" sz="1400" dirty="0">
              <a:latin typeface="微软雅黑" panose="020B0503020204020204" charset="-122"/>
              <a:ea typeface="微软雅黑" panose="020B0503020204020204" charset="-122"/>
            </a:endParaRPr>
          </a:p>
        </p:txBody>
      </p:sp>
      <p:sp>
        <p:nvSpPr>
          <p:cNvPr id="696" name="textbox 696"/>
          <p:cNvSpPr/>
          <p:nvPr/>
        </p:nvSpPr>
        <p:spPr>
          <a:xfrm>
            <a:off x="3380386" y="1878071"/>
            <a:ext cx="1084580" cy="226695"/>
          </a:xfrm>
          <a:prstGeom prst="rect">
            <a:avLst/>
          </a:prstGeom>
        </p:spPr>
        <p:txBody>
          <a:bodyPr vert="horz" wrap="square" lIns="0" tIns="0" rIns="0" bIns="0"/>
          <a:lstStyle/>
          <a:p>
            <a:pPr algn="l" rtl="0" eaLnBrk="0">
              <a:lnSpc>
                <a:spcPct val="85000"/>
              </a:lnSpc>
            </a:pPr>
            <a:endParaRPr lang="en-US" altLang="en-US" sz="100" dirty="0">
              <a:latin typeface="微软雅黑" panose="020B0503020204020204" charset="-122"/>
              <a:ea typeface="微软雅黑" panose="020B0503020204020204" charset="-122"/>
            </a:endParaRPr>
          </a:p>
          <a:p>
            <a:pPr marL="12700" algn="l" rtl="0" eaLnBrk="0">
              <a:lnSpc>
                <a:spcPct val="94000"/>
              </a:lnSpc>
            </a:pP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一般销</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售</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团队</a:t>
            </a:r>
            <a:endParaRPr lang="en-US" altLang="en-US" sz="1400" dirty="0">
              <a:latin typeface="微软雅黑" panose="020B0503020204020204" charset="-122"/>
              <a:ea typeface="微软雅黑" panose="020B0503020204020204" charset="-122"/>
            </a:endParaRPr>
          </a:p>
        </p:txBody>
      </p:sp>
      <p:grpSp>
        <p:nvGrpSpPr>
          <p:cNvPr id="134" name="group 134"/>
          <p:cNvGrpSpPr/>
          <p:nvPr/>
        </p:nvGrpSpPr>
        <p:grpSpPr>
          <a:xfrm rot="21600000">
            <a:off x="3738371" y="5931408"/>
            <a:ext cx="640080" cy="274319"/>
            <a:chOff x="0" y="0"/>
            <a:chExt cx="640080" cy="274319"/>
          </a:xfrm>
        </p:grpSpPr>
        <p:sp>
          <p:nvSpPr>
            <p:cNvPr id="697" name="path"/>
            <p:cNvSpPr/>
            <p:nvPr/>
          </p:nvSpPr>
          <p:spPr>
            <a:xfrm>
              <a:off x="0" y="0"/>
              <a:ext cx="640080" cy="274319"/>
            </a:xfrm>
            <a:custGeom>
              <a:avLst/>
              <a:gdLst/>
              <a:ahLst/>
              <a:cxnLst/>
              <a:rect l="0" t="0" r="0" b="0"/>
              <a:pathLst>
                <a:path w="1008" h="431">
                  <a:moveTo>
                    <a:pt x="0" y="215"/>
                  </a:moveTo>
                  <a:cubicBezTo>
                    <a:pt x="0" y="96"/>
                    <a:pt x="225" y="0"/>
                    <a:pt x="504" y="0"/>
                  </a:cubicBezTo>
                  <a:cubicBezTo>
                    <a:pt x="782" y="0"/>
                    <a:pt x="1008" y="96"/>
                    <a:pt x="1008" y="215"/>
                  </a:cubicBezTo>
                  <a:cubicBezTo>
                    <a:pt x="1008" y="335"/>
                    <a:pt x="782" y="431"/>
                    <a:pt x="504" y="431"/>
                  </a:cubicBezTo>
                  <a:cubicBezTo>
                    <a:pt x="225" y="431"/>
                    <a:pt x="0" y="335"/>
                    <a:pt x="0" y="215"/>
                  </a:cubicBezTo>
                </a:path>
              </a:pathLst>
            </a:custGeom>
            <a:solidFill>
              <a:srgbClr val="0065BD">
                <a:alpha val="100000"/>
              </a:srgbClr>
            </a:solidFill>
            <a:ln cap="flat">
              <a:noFill/>
              <a:prstDash val="solid"/>
              <a:miter lim="0"/>
            </a:ln>
          </p:spPr>
          <p:txBody>
            <a:bodyPr rtlCol="0"/>
            <a:lstStyle/>
            <a:p>
              <a:pPr algn="ctr"/>
              <a:endParaRPr lang="zh-CN" altLang="en-US"/>
            </a:p>
          </p:txBody>
        </p:sp>
        <p:sp>
          <p:nvSpPr>
            <p:cNvPr id="698" name="textbox 698"/>
            <p:cNvSpPr/>
            <p:nvPr/>
          </p:nvSpPr>
          <p:spPr>
            <a:xfrm>
              <a:off x="-12700" y="-12700"/>
              <a:ext cx="666115" cy="342900"/>
            </a:xfrm>
            <a:prstGeom prst="rect">
              <a:avLst/>
            </a:prstGeom>
          </p:spPr>
          <p:txBody>
            <a:bodyPr vert="horz" wrap="square" lIns="0" tIns="0" rIns="0" bIns="0"/>
            <a:lstStyle/>
            <a:p>
              <a:pPr algn="l" rtl="0" eaLnBrk="0">
                <a:lnSpc>
                  <a:spcPct val="101000"/>
                </a:lnSpc>
              </a:pPr>
              <a:endParaRPr lang="en-US" altLang="en-US" sz="500" dirty="0"/>
            </a:p>
            <a:p>
              <a:pPr marL="285750" algn="l" rtl="0" eaLnBrk="0">
                <a:lnSpc>
                  <a:spcPct val="80000"/>
                </a:lnSpc>
                <a:spcBef>
                  <a:spcPts val="5"/>
                </a:spcBef>
              </a:pPr>
              <a:r>
                <a:rPr sz="1400" spc="0" dirty="0">
                  <a:solidFill>
                    <a:srgbClr val="FFFFFF">
                      <a:alpha val="100000"/>
                    </a:srgbClr>
                  </a:solidFill>
                  <a:latin typeface="Arial" panose="020B0604020202020204"/>
                  <a:ea typeface="Arial" panose="020B0604020202020204"/>
                  <a:cs typeface="Arial" panose="020B0604020202020204"/>
                </a:rPr>
                <a:t>4</a:t>
              </a:r>
              <a:endParaRPr lang="en-US" altLang="en-US" sz="1400" dirty="0"/>
            </a:p>
          </p:txBody>
        </p:sp>
      </p:grpSp>
      <p:grpSp>
        <p:nvGrpSpPr>
          <p:cNvPr id="136" name="group 136"/>
          <p:cNvGrpSpPr/>
          <p:nvPr/>
        </p:nvGrpSpPr>
        <p:grpSpPr>
          <a:xfrm rot="21600000">
            <a:off x="6903719" y="5931408"/>
            <a:ext cx="640080" cy="274319"/>
            <a:chOff x="0" y="0"/>
            <a:chExt cx="640080" cy="274319"/>
          </a:xfrm>
        </p:grpSpPr>
        <p:sp>
          <p:nvSpPr>
            <p:cNvPr id="699" name="path"/>
            <p:cNvSpPr/>
            <p:nvPr/>
          </p:nvSpPr>
          <p:spPr>
            <a:xfrm>
              <a:off x="0" y="0"/>
              <a:ext cx="640080" cy="274319"/>
            </a:xfrm>
            <a:custGeom>
              <a:avLst/>
              <a:gdLst/>
              <a:ahLst/>
              <a:cxnLst/>
              <a:rect l="0" t="0" r="0" b="0"/>
              <a:pathLst>
                <a:path w="1008" h="431">
                  <a:moveTo>
                    <a:pt x="0" y="215"/>
                  </a:moveTo>
                  <a:cubicBezTo>
                    <a:pt x="0" y="96"/>
                    <a:pt x="225" y="0"/>
                    <a:pt x="504" y="0"/>
                  </a:cubicBezTo>
                  <a:cubicBezTo>
                    <a:pt x="782" y="0"/>
                    <a:pt x="1008" y="96"/>
                    <a:pt x="1008" y="215"/>
                  </a:cubicBezTo>
                  <a:cubicBezTo>
                    <a:pt x="1008" y="335"/>
                    <a:pt x="782" y="431"/>
                    <a:pt x="504" y="431"/>
                  </a:cubicBezTo>
                  <a:cubicBezTo>
                    <a:pt x="225" y="431"/>
                    <a:pt x="0" y="335"/>
                    <a:pt x="0" y="215"/>
                  </a:cubicBezTo>
                </a:path>
              </a:pathLst>
            </a:custGeom>
            <a:solidFill>
              <a:srgbClr val="0065BD">
                <a:alpha val="100000"/>
              </a:srgbClr>
            </a:solidFill>
            <a:ln cap="flat">
              <a:noFill/>
              <a:prstDash val="solid"/>
              <a:miter lim="0"/>
            </a:ln>
          </p:spPr>
          <p:txBody>
            <a:bodyPr rtlCol="0"/>
            <a:lstStyle/>
            <a:p>
              <a:pPr algn="ctr"/>
              <a:endParaRPr lang="zh-CN" altLang="en-US"/>
            </a:p>
          </p:txBody>
        </p:sp>
        <p:sp>
          <p:nvSpPr>
            <p:cNvPr id="700" name="textbox 700"/>
            <p:cNvSpPr/>
            <p:nvPr/>
          </p:nvSpPr>
          <p:spPr>
            <a:xfrm>
              <a:off x="-12700" y="-12700"/>
              <a:ext cx="666115" cy="340359"/>
            </a:xfrm>
            <a:prstGeom prst="rect">
              <a:avLst/>
            </a:prstGeom>
          </p:spPr>
          <p:txBody>
            <a:bodyPr vert="horz" wrap="square" lIns="0" tIns="0" rIns="0" bIns="0"/>
            <a:lstStyle/>
            <a:p>
              <a:pPr algn="l" rtl="0" eaLnBrk="0">
                <a:lnSpc>
                  <a:spcPct val="101000"/>
                </a:lnSpc>
              </a:pPr>
              <a:endParaRPr lang="en-US" altLang="en-US" sz="500" dirty="0"/>
            </a:p>
            <a:p>
              <a:pPr marL="254000" algn="l" rtl="0" eaLnBrk="0">
                <a:lnSpc>
                  <a:spcPct val="80000"/>
                </a:lnSpc>
                <a:spcBef>
                  <a:spcPts val="5"/>
                </a:spcBef>
              </a:pPr>
              <a:r>
                <a:rPr sz="1400" spc="-40" dirty="0">
                  <a:solidFill>
                    <a:srgbClr val="FFFFFF">
                      <a:alpha val="100000"/>
                    </a:srgbClr>
                  </a:solidFill>
                  <a:latin typeface="Arial" panose="020B0604020202020204"/>
                  <a:ea typeface="Arial" panose="020B0604020202020204"/>
                  <a:cs typeface="Arial" panose="020B0604020202020204"/>
                </a:rPr>
                <a:t>10</a:t>
              </a:r>
              <a:endParaRPr lang="en-US" altLang="en-US" sz="1400" dirty="0"/>
            </a:p>
          </p:txBody>
        </p:sp>
      </p:grpSp>
      <p:grpSp>
        <p:nvGrpSpPr>
          <p:cNvPr id="138" name="group 138"/>
          <p:cNvGrpSpPr/>
          <p:nvPr/>
        </p:nvGrpSpPr>
        <p:grpSpPr>
          <a:xfrm rot="21600000">
            <a:off x="2153411" y="5931408"/>
            <a:ext cx="640079" cy="274319"/>
            <a:chOff x="0" y="0"/>
            <a:chExt cx="640079" cy="274319"/>
          </a:xfrm>
        </p:grpSpPr>
        <p:sp>
          <p:nvSpPr>
            <p:cNvPr id="701" name="path"/>
            <p:cNvSpPr/>
            <p:nvPr/>
          </p:nvSpPr>
          <p:spPr>
            <a:xfrm>
              <a:off x="0" y="0"/>
              <a:ext cx="640079" cy="274319"/>
            </a:xfrm>
            <a:custGeom>
              <a:avLst/>
              <a:gdLst/>
              <a:ahLst/>
              <a:cxnLst/>
              <a:rect l="0" t="0" r="0" b="0"/>
              <a:pathLst>
                <a:path w="1007" h="431">
                  <a:moveTo>
                    <a:pt x="0" y="215"/>
                  </a:moveTo>
                  <a:cubicBezTo>
                    <a:pt x="0" y="96"/>
                    <a:pt x="225" y="0"/>
                    <a:pt x="503" y="0"/>
                  </a:cubicBezTo>
                  <a:cubicBezTo>
                    <a:pt x="782" y="0"/>
                    <a:pt x="1007" y="96"/>
                    <a:pt x="1007" y="215"/>
                  </a:cubicBezTo>
                  <a:cubicBezTo>
                    <a:pt x="1007" y="335"/>
                    <a:pt x="782" y="431"/>
                    <a:pt x="503" y="431"/>
                  </a:cubicBezTo>
                  <a:cubicBezTo>
                    <a:pt x="225" y="431"/>
                    <a:pt x="0" y="335"/>
                    <a:pt x="0" y="215"/>
                  </a:cubicBezTo>
                </a:path>
              </a:pathLst>
            </a:custGeom>
            <a:solidFill>
              <a:srgbClr val="0065BD">
                <a:alpha val="100000"/>
              </a:srgbClr>
            </a:solidFill>
            <a:ln cap="flat">
              <a:noFill/>
              <a:prstDash val="solid"/>
              <a:miter lim="0"/>
            </a:ln>
          </p:spPr>
          <p:txBody>
            <a:bodyPr rtlCol="0"/>
            <a:lstStyle/>
            <a:p>
              <a:pPr algn="ctr"/>
              <a:endParaRPr lang="zh-CN" altLang="en-US"/>
            </a:p>
          </p:txBody>
        </p:sp>
        <p:sp>
          <p:nvSpPr>
            <p:cNvPr id="702" name="textbox 702"/>
            <p:cNvSpPr/>
            <p:nvPr/>
          </p:nvSpPr>
          <p:spPr>
            <a:xfrm>
              <a:off x="-12700" y="-12700"/>
              <a:ext cx="665480" cy="342900"/>
            </a:xfrm>
            <a:prstGeom prst="rect">
              <a:avLst/>
            </a:prstGeom>
          </p:spPr>
          <p:txBody>
            <a:bodyPr vert="horz" wrap="square" lIns="0" tIns="0" rIns="0" bIns="0"/>
            <a:lstStyle/>
            <a:p>
              <a:pPr algn="l" rtl="0" eaLnBrk="0">
                <a:lnSpc>
                  <a:spcPct val="101000"/>
                </a:lnSpc>
              </a:pPr>
              <a:endParaRPr lang="en-US" altLang="en-US" sz="500" dirty="0"/>
            </a:p>
            <a:p>
              <a:pPr marL="288925" algn="l" rtl="0" eaLnBrk="0">
                <a:lnSpc>
                  <a:spcPct val="80000"/>
                </a:lnSpc>
                <a:spcBef>
                  <a:spcPts val="5"/>
                </a:spcBef>
              </a:pPr>
              <a:r>
                <a:rPr sz="1400" spc="0" dirty="0">
                  <a:solidFill>
                    <a:srgbClr val="FFFFFF">
                      <a:alpha val="100000"/>
                    </a:srgbClr>
                  </a:solidFill>
                  <a:latin typeface="Arial" panose="020B0604020202020204"/>
                  <a:ea typeface="Arial" panose="020B0604020202020204"/>
                  <a:cs typeface="Arial" panose="020B0604020202020204"/>
                </a:rPr>
                <a:t>2</a:t>
              </a:r>
              <a:endParaRPr lang="en-US" altLang="en-US" sz="1400" dirty="0"/>
            </a:p>
          </p:txBody>
        </p:sp>
      </p:grpSp>
      <p:grpSp>
        <p:nvGrpSpPr>
          <p:cNvPr id="140" name="group 140"/>
          <p:cNvGrpSpPr/>
          <p:nvPr/>
        </p:nvGrpSpPr>
        <p:grpSpPr>
          <a:xfrm rot="21600000">
            <a:off x="5320283" y="5931408"/>
            <a:ext cx="640079" cy="274319"/>
            <a:chOff x="0" y="0"/>
            <a:chExt cx="640079" cy="274319"/>
          </a:xfrm>
        </p:grpSpPr>
        <p:sp>
          <p:nvSpPr>
            <p:cNvPr id="703" name="path"/>
            <p:cNvSpPr/>
            <p:nvPr/>
          </p:nvSpPr>
          <p:spPr>
            <a:xfrm>
              <a:off x="0" y="0"/>
              <a:ext cx="640079" cy="274319"/>
            </a:xfrm>
            <a:custGeom>
              <a:avLst/>
              <a:gdLst/>
              <a:ahLst/>
              <a:cxnLst/>
              <a:rect l="0" t="0" r="0" b="0"/>
              <a:pathLst>
                <a:path w="1007" h="431">
                  <a:moveTo>
                    <a:pt x="0" y="215"/>
                  </a:moveTo>
                  <a:cubicBezTo>
                    <a:pt x="0" y="96"/>
                    <a:pt x="225" y="0"/>
                    <a:pt x="504" y="0"/>
                  </a:cubicBezTo>
                  <a:cubicBezTo>
                    <a:pt x="782" y="0"/>
                    <a:pt x="1007" y="96"/>
                    <a:pt x="1007" y="215"/>
                  </a:cubicBezTo>
                  <a:cubicBezTo>
                    <a:pt x="1007" y="335"/>
                    <a:pt x="782" y="431"/>
                    <a:pt x="504" y="431"/>
                  </a:cubicBezTo>
                  <a:cubicBezTo>
                    <a:pt x="225" y="431"/>
                    <a:pt x="0" y="335"/>
                    <a:pt x="0" y="215"/>
                  </a:cubicBezTo>
                </a:path>
              </a:pathLst>
            </a:custGeom>
            <a:solidFill>
              <a:srgbClr val="0065BD">
                <a:alpha val="100000"/>
              </a:srgbClr>
            </a:solidFill>
            <a:ln cap="flat">
              <a:noFill/>
              <a:prstDash val="solid"/>
              <a:miter lim="0"/>
            </a:ln>
          </p:spPr>
          <p:txBody>
            <a:bodyPr rtlCol="0"/>
            <a:lstStyle/>
            <a:p>
              <a:pPr algn="ctr"/>
              <a:endParaRPr lang="zh-CN" altLang="en-US"/>
            </a:p>
          </p:txBody>
        </p:sp>
        <p:sp>
          <p:nvSpPr>
            <p:cNvPr id="704" name="textbox 704"/>
            <p:cNvSpPr/>
            <p:nvPr/>
          </p:nvSpPr>
          <p:spPr>
            <a:xfrm>
              <a:off x="-12700" y="-12700"/>
              <a:ext cx="665480" cy="342900"/>
            </a:xfrm>
            <a:prstGeom prst="rect">
              <a:avLst/>
            </a:prstGeom>
          </p:spPr>
          <p:txBody>
            <a:bodyPr vert="horz" wrap="square" lIns="0" tIns="0" rIns="0" bIns="0"/>
            <a:lstStyle/>
            <a:p>
              <a:pPr algn="l" rtl="0" eaLnBrk="0">
                <a:lnSpc>
                  <a:spcPct val="104000"/>
                </a:lnSpc>
              </a:pPr>
              <a:endParaRPr lang="en-US" altLang="en-US" sz="500" dirty="0"/>
            </a:p>
            <a:p>
              <a:pPr marL="293370" algn="l" rtl="0" eaLnBrk="0">
                <a:lnSpc>
                  <a:spcPct val="79000"/>
                </a:lnSpc>
                <a:spcBef>
                  <a:spcPts val="5"/>
                </a:spcBef>
              </a:pPr>
              <a:r>
                <a:rPr sz="1400" spc="0" dirty="0">
                  <a:solidFill>
                    <a:srgbClr val="FFFFFF">
                      <a:alpha val="100000"/>
                    </a:srgbClr>
                  </a:solidFill>
                  <a:latin typeface="Arial" panose="020B0604020202020204"/>
                  <a:ea typeface="Arial" panose="020B0604020202020204"/>
                  <a:cs typeface="Arial" panose="020B0604020202020204"/>
                </a:rPr>
                <a:t>7</a:t>
              </a:r>
              <a:endParaRPr lang="en-US" altLang="en-US" sz="1400" dirty="0"/>
            </a:p>
          </p:txBody>
        </p:sp>
      </p:grpSp>
      <p:sp>
        <p:nvSpPr>
          <p:cNvPr id="705" name="path"/>
          <p:cNvSpPr/>
          <p:nvPr/>
        </p:nvSpPr>
        <p:spPr>
          <a:xfrm>
            <a:off x="639318" y="5669280"/>
            <a:ext cx="7309103" cy="19811"/>
          </a:xfrm>
          <a:custGeom>
            <a:avLst/>
            <a:gdLst/>
            <a:ahLst/>
            <a:cxnLst/>
            <a:rect l="0" t="0" r="0" b="0"/>
            <a:pathLst>
              <a:path w="11510" h="31">
                <a:moveTo>
                  <a:pt x="0" y="15"/>
                </a:moveTo>
                <a:lnTo>
                  <a:pt x="11510" y="15"/>
                </a:lnTo>
              </a:path>
            </a:pathLst>
          </a:custGeom>
          <a:noFill/>
          <a:ln w="19811" cap="flat">
            <a:solidFill>
              <a:srgbClr val="808080">
                <a:alpha val="100000"/>
              </a:srgbClr>
            </a:solidFill>
            <a:prstDash val="dash"/>
            <a:round/>
          </a:ln>
        </p:spPr>
        <p:txBody>
          <a:bodyPr rtlCol="0"/>
          <a:lstStyle/>
          <a:p>
            <a:pPr algn="ctr"/>
            <a:endParaRPr lang="zh-CN" altLang="en-US"/>
          </a:p>
        </p:txBody>
      </p:sp>
      <p:sp>
        <p:nvSpPr>
          <p:cNvPr id="706" name="textbox 706"/>
          <p:cNvSpPr/>
          <p:nvPr/>
        </p:nvSpPr>
        <p:spPr>
          <a:xfrm>
            <a:off x="8818509" y="1509649"/>
            <a:ext cx="114935" cy="1368425"/>
          </a:xfrm>
          <a:prstGeom prst="rect">
            <a:avLst/>
          </a:prstGeom>
        </p:spPr>
        <p:txBody>
          <a:bodyPr vert="eaVert" wrap="square" lIns="0" tIns="0" rIns="0" bIns="0"/>
          <a:lstStyle/>
          <a:p>
            <a:pPr algn="l" rtl="0" eaLnBrk="0">
              <a:lnSpc>
                <a:spcPct val="79000"/>
              </a:lnSpc>
            </a:pPr>
            <a:endParaRPr lang="en-US" altLang="en-US" sz="100" dirty="0"/>
          </a:p>
          <a:p>
            <a:pPr marL="12700" algn="l" rtl="0" eaLnBrk="0">
              <a:lnSpc>
                <a:spcPct val="80000"/>
              </a:lnSpc>
            </a:pPr>
            <a:r>
              <a:rPr sz="600" spc="10" dirty="0">
                <a:solidFill>
                  <a:srgbClr val="808080">
                    <a:alpha val="100000"/>
                  </a:srgbClr>
                </a:solidFill>
                <a:latin typeface="Arial" panose="020B0604020202020204"/>
                <a:ea typeface="Arial" panose="020B0604020202020204"/>
                <a:cs typeface="Arial" panose="020B0604020202020204"/>
              </a:rPr>
              <a:t>6</a:t>
            </a:r>
            <a:r>
              <a:rPr sz="600" spc="0" dirty="0">
                <a:solidFill>
                  <a:srgbClr val="808080">
                    <a:alpha val="100000"/>
                  </a:srgbClr>
                </a:solidFill>
                <a:latin typeface="Arial" panose="020B0604020202020204"/>
                <a:ea typeface="Arial" panose="020B0604020202020204"/>
                <a:cs typeface="Arial" panose="020B0604020202020204"/>
              </a:rPr>
              <a:t>/7/2017 3:10 PM China Standard Time</a:t>
            </a:r>
            <a:endParaRPr lang="en-US" altLang="en-US" sz="600" dirty="0"/>
          </a:p>
        </p:txBody>
      </p:sp>
      <p:sp>
        <p:nvSpPr>
          <p:cNvPr id="707" name="rect"/>
          <p:cNvSpPr/>
          <p:nvPr/>
        </p:nvSpPr>
        <p:spPr>
          <a:xfrm>
            <a:off x="0" y="960120"/>
            <a:ext cx="8961119" cy="6095"/>
          </a:xfrm>
          <a:prstGeom prst="rect">
            <a:avLst/>
          </a:prstGeom>
          <a:solidFill>
            <a:srgbClr val="00ADEF">
              <a:alpha val="100000"/>
            </a:srgbClr>
          </a:solidFill>
          <a:ln cap="flat">
            <a:noFill/>
            <a:prstDash val="solid"/>
            <a:miter lim="0"/>
          </a:ln>
        </p:spPr>
        <p:txBody>
          <a:bodyPr rtlCol="0"/>
          <a:lstStyle/>
          <a:p>
            <a:pPr algn="ctr"/>
            <a:endParaRPr lang="zh-CN" altLang="en-US"/>
          </a:p>
        </p:txBody>
      </p:sp>
      <p:sp>
        <p:nvSpPr>
          <p:cNvPr id="708" name="textbox 708"/>
          <p:cNvSpPr/>
          <p:nvPr/>
        </p:nvSpPr>
        <p:spPr>
          <a:xfrm>
            <a:off x="8818435" y="4032021"/>
            <a:ext cx="114935" cy="262890"/>
          </a:xfrm>
          <a:prstGeom prst="rect">
            <a:avLst/>
          </a:prstGeom>
        </p:spPr>
        <p:txBody>
          <a:bodyPr vert="eaVert" wrap="square" lIns="0" tIns="0" rIns="0" bIns="0"/>
          <a:lstStyle/>
          <a:p>
            <a:pPr algn="l" rtl="0" eaLnBrk="0">
              <a:lnSpc>
                <a:spcPct val="85000"/>
              </a:lnSpc>
            </a:pPr>
            <a:endParaRPr lang="en-US" altLang="en-US" sz="100" dirty="0"/>
          </a:p>
          <a:p>
            <a:pPr marL="12700" algn="l" rtl="0" eaLnBrk="0">
              <a:lnSpc>
                <a:spcPct val="79000"/>
              </a:lnSpc>
            </a:pPr>
            <a:endParaRPr sz="600" spc="-10" dirty="0">
              <a:solidFill>
                <a:srgbClr val="808080">
                  <a:alpha val="100000"/>
                </a:srgbClr>
              </a:solidFill>
              <a:latin typeface="Arial" panose="020B0604020202020204"/>
              <a:ea typeface="Arial" panose="020B0604020202020204"/>
              <a:cs typeface="Arial" panose="020B060402020202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09" name="table 709"/>
          <p:cNvGraphicFramePr>
            <a:graphicFrameLocks noGrp="1"/>
          </p:cNvGraphicFramePr>
          <p:nvPr/>
        </p:nvGraphicFramePr>
        <p:xfrm>
          <a:off x="3185160" y="1336548"/>
          <a:ext cx="5273040" cy="4273550"/>
        </p:xfrm>
        <a:graphic>
          <a:graphicData uri="http://schemas.openxmlformats.org/drawingml/2006/table">
            <a:tbl>
              <a:tblPr/>
              <a:tblGrid>
                <a:gridCol w="5273040"/>
              </a:tblGrid>
              <a:tr h="4273550">
                <a:tc>
                  <a:txBody>
                    <a:bodyPr/>
                    <a:lstStyle/>
                    <a:p>
                      <a:pPr algn="l" rtl="0" eaLnBrk="0">
                        <a:lnSpc>
                          <a:spcPct val="100000"/>
                        </a:lnSpc>
                      </a:pPr>
                      <a:endParaRPr lang="en-US" altLang="en-US" sz="1000" dirty="0">
                        <a:latin typeface="微软雅黑" panose="020B0503020204020204" charset="-122"/>
                        <a:ea typeface="微软雅黑" panose="020B0503020204020204" charset="-122"/>
                      </a:endParaRPr>
                    </a:p>
                    <a:p>
                      <a:pPr algn="l" rtl="0" eaLnBrk="0">
                        <a:lnSpc>
                          <a:spcPct val="100000"/>
                        </a:lnSpc>
                      </a:pPr>
                      <a:endParaRPr lang="en-US" altLang="en-US" sz="1000" dirty="0">
                        <a:latin typeface="微软雅黑" panose="020B0503020204020204" charset="-122"/>
                        <a:ea typeface="微软雅黑" panose="020B0503020204020204" charset="-122"/>
                      </a:endParaRPr>
                    </a:p>
                    <a:p>
                      <a:pPr algn="l" rtl="0" eaLnBrk="0">
                        <a:lnSpc>
                          <a:spcPct val="100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marL="476250" algn="l" rtl="0" eaLnBrk="0">
                        <a:lnSpc>
                          <a:spcPts val="1880"/>
                        </a:lnSpc>
                        <a:spcBef>
                          <a:spcPts val="5"/>
                        </a:spcBef>
                      </a:pP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更好的量身定制产品及服务</a:t>
                      </a:r>
                      <a:r>
                        <a:rPr sz="1500" spc="100" dirty="0">
                          <a:solidFill>
                            <a:srgbClr val="000000">
                              <a:alpha val="100000"/>
                            </a:srgbClr>
                          </a:solidFill>
                          <a:latin typeface="微软雅黑" panose="020B0503020204020204" charset="-122"/>
                          <a:ea typeface="微软雅黑" panose="020B0503020204020204" charset="-122"/>
                          <a:cs typeface="Arial" panose="020B0604020202020204"/>
                        </a:rPr>
                        <a:t>/</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开发新产</a:t>
                      </a:r>
                      <a:r>
                        <a:rPr sz="1500" spc="20" dirty="0">
                          <a:solidFill>
                            <a:srgbClr val="000000">
                              <a:alpha val="100000"/>
                            </a:srgbClr>
                          </a:solidFill>
                          <a:latin typeface="微软雅黑" panose="020B0503020204020204" charset="-122"/>
                          <a:ea typeface="微软雅黑" panose="020B0503020204020204" charset="-122"/>
                          <a:cs typeface="楷体" panose="02010609060101010101" charset="-122"/>
                        </a:rPr>
                        <a:t>品</a:t>
                      </a:r>
                      <a:endParaRPr lang="en-US" altLang="en-US" sz="1500" dirty="0">
                        <a:latin typeface="微软雅黑" panose="020B0503020204020204" charset="-122"/>
                        <a:ea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endParaRPr>
                    </a:p>
                    <a:p>
                      <a:pPr marL="473710" algn="l" rtl="0" eaLnBrk="0">
                        <a:lnSpc>
                          <a:spcPct val="97000"/>
                        </a:lnSpc>
                        <a:spcBef>
                          <a:spcPts val="460"/>
                        </a:spcBef>
                      </a:pPr>
                      <a:r>
                        <a:rPr sz="1500" spc="70" dirty="0">
                          <a:solidFill>
                            <a:srgbClr val="000000">
                              <a:alpha val="100000"/>
                            </a:srgbClr>
                          </a:solidFill>
                          <a:latin typeface="微软雅黑" panose="020B0503020204020204" charset="-122"/>
                          <a:ea typeface="微软雅黑" panose="020B0503020204020204" charset="-122"/>
                          <a:cs typeface="楷体" panose="02010609060101010101" charset="-122"/>
                        </a:rPr>
                        <a:t>根据特定客户制定相应的价格， 允许价格</a:t>
                      </a:r>
                      <a:r>
                        <a:rPr sz="1500" spc="20" dirty="0">
                          <a:solidFill>
                            <a:srgbClr val="000000">
                              <a:alpha val="100000"/>
                            </a:srgbClr>
                          </a:solidFill>
                          <a:latin typeface="微软雅黑" panose="020B0503020204020204" charset="-122"/>
                          <a:ea typeface="微软雅黑" panose="020B0503020204020204" charset="-122"/>
                          <a:cs typeface="楷体" panose="02010609060101010101" charset="-122"/>
                        </a:rPr>
                        <a:t>差</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异化</a:t>
                      </a:r>
                      <a:endParaRPr lang="en-US" altLang="en-US" sz="1500" dirty="0">
                        <a:latin typeface="微软雅黑" panose="020B0503020204020204" charset="-122"/>
                        <a:ea typeface="微软雅黑" panose="020B0503020204020204" charset="-122"/>
                      </a:endParaRPr>
                    </a:p>
                    <a:p>
                      <a:pPr algn="l" rtl="0" eaLnBrk="0">
                        <a:lnSpc>
                          <a:spcPct val="123000"/>
                        </a:lnSpc>
                      </a:pPr>
                      <a:endParaRPr lang="en-US" altLang="en-US" sz="1000" dirty="0">
                        <a:latin typeface="微软雅黑" panose="020B0503020204020204" charset="-122"/>
                        <a:ea typeface="微软雅黑" panose="020B0503020204020204" charset="-122"/>
                      </a:endParaRPr>
                    </a:p>
                    <a:p>
                      <a:pPr marL="473710" algn="l" rtl="0" eaLnBrk="0">
                        <a:lnSpc>
                          <a:spcPct val="97000"/>
                        </a:lnSpc>
                        <a:spcBef>
                          <a:spcPts val="450"/>
                        </a:spcBef>
                      </a:pPr>
                      <a:r>
                        <a:rPr sz="1500" spc="140" dirty="0">
                          <a:solidFill>
                            <a:srgbClr val="000000">
                              <a:alpha val="100000"/>
                            </a:srgbClr>
                          </a:solidFill>
                          <a:latin typeface="微软雅黑" panose="020B0503020204020204" charset="-122"/>
                          <a:ea typeface="微软雅黑" panose="020B0503020204020204" charset="-122"/>
                          <a:cs typeface="楷体" panose="02010609060101010101" charset="-122"/>
                        </a:rPr>
                        <a:t>根据不同客户群更合理的分配资源(如，销售</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团</a:t>
                      </a:r>
                      <a:endParaRPr lang="en-US" altLang="en-US" sz="1500" dirty="0">
                        <a:latin typeface="微软雅黑" panose="020B0503020204020204" charset="-122"/>
                        <a:ea typeface="微软雅黑" panose="020B0503020204020204" charset="-122"/>
                      </a:endParaRPr>
                    </a:p>
                    <a:p>
                      <a:pPr marL="498475" algn="l" rtl="0" eaLnBrk="0">
                        <a:lnSpc>
                          <a:spcPts val="1820"/>
                        </a:lnSpc>
                        <a:spcBef>
                          <a:spcPts val="95"/>
                        </a:spcBef>
                      </a:pPr>
                      <a:r>
                        <a:rPr sz="1500" spc="40" dirty="0">
                          <a:solidFill>
                            <a:srgbClr val="000000">
                              <a:alpha val="100000"/>
                            </a:srgbClr>
                          </a:solidFill>
                          <a:latin typeface="微软雅黑" panose="020B0503020204020204" charset="-122"/>
                          <a:ea typeface="微软雅黑" panose="020B0503020204020204" charset="-122"/>
                          <a:cs typeface="楷体" panose="02010609060101010101" charset="-122"/>
                        </a:rPr>
                        <a:t>队、交付代表</a:t>
                      </a:r>
                      <a:r>
                        <a:rPr sz="1500" spc="20" dirty="0">
                          <a:solidFill>
                            <a:srgbClr val="000000">
                              <a:alpha val="100000"/>
                            </a:srgbClr>
                          </a:solidFill>
                          <a:latin typeface="微软雅黑" panose="020B0503020204020204" charset="-122"/>
                          <a:ea typeface="微软雅黑" panose="020B0503020204020204" charset="-122"/>
                          <a:cs typeface="楷体" panose="02010609060101010101" charset="-122"/>
                        </a:rPr>
                        <a:t>)</a:t>
                      </a:r>
                      <a:endParaRPr lang="en-US" altLang="en-US" sz="1500" dirty="0">
                        <a:latin typeface="微软雅黑" panose="020B0503020204020204" charset="-122"/>
                        <a:ea typeface="微软雅黑" panose="020B0503020204020204" charset="-122"/>
                      </a:endParaRPr>
                    </a:p>
                    <a:p>
                      <a:pPr algn="l" rtl="0" eaLnBrk="0">
                        <a:lnSpc>
                          <a:spcPct val="105000"/>
                        </a:lnSpc>
                      </a:pPr>
                      <a:endParaRPr lang="en-US" altLang="en-US" sz="1000" dirty="0">
                        <a:latin typeface="微软雅黑" panose="020B0503020204020204" charset="-122"/>
                        <a:ea typeface="微软雅黑" panose="020B0503020204020204" charset="-122"/>
                      </a:endParaRPr>
                    </a:p>
                    <a:p>
                      <a:pPr algn="l" rtl="0" eaLnBrk="0">
                        <a:lnSpc>
                          <a:spcPct val="106000"/>
                        </a:lnSpc>
                      </a:pPr>
                      <a:endParaRPr lang="en-US" altLang="en-US" sz="1000" dirty="0">
                        <a:latin typeface="微软雅黑" panose="020B0503020204020204" charset="-122"/>
                        <a:ea typeface="微软雅黑" panose="020B0503020204020204" charset="-122"/>
                      </a:endParaRPr>
                    </a:p>
                    <a:p>
                      <a:pPr algn="l" rtl="0" eaLnBrk="0">
                        <a:lnSpc>
                          <a:spcPct val="106000"/>
                        </a:lnSpc>
                      </a:pPr>
                      <a:endParaRPr lang="en-US" altLang="en-US" sz="1000" dirty="0">
                        <a:latin typeface="微软雅黑" panose="020B0503020204020204" charset="-122"/>
                        <a:ea typeface="微软雅黑" panose="020B0503020204020204" charset="-122"/>
                      </a:endParaRPr>
                    </a:p>
                    <a:p>
                      <a:pPr algn="l" rtl="0" eaLnBrk="0">
                        <a:lnSpc>
                          <a:spcPct val="106000"/>
                        </a:lnSpc>
                      </a:pPr>
                      <a:endParaRPr lang="en-US" altLang="en-US" sz="1000" dirty="0">
                        <a:latin typeface="微软雅黑" panose="020B0503020204020204" charset="-122"/>
                        <a:ea typeface="微软雅黑" panose="020B0503020204020204" charset="-122"/>
                      </a:endParaRPr>
                    </a:p>
                    <a:p>
                      <a:pPr algn="l" rtl="0" eaLnBrk="0">
                        <a:lnSpc>
                          <a:spcPct val="106000"/>
                        </a:lnSpc>
                      </a:pPr>
                      <a:endParaRPr lang="en-US" altLang="en-US" sz="1000" dirty="0">
                        <a:latin typeface="微软雅黑" panose="020B0503020204020204" charset="-122"/>
                        <a:ea typeface="微软雅黑" panose="020B0503020204020204" charset="-122"/>
                      </a:endParaRPr>
                    </a:p>
                    <a:p>
                      <a:pPr algn="l" rtl="0" eaLnBrk="0">
                        <a:lnSpc>
                          <a:spcPct val="106000"/>
                        </a:lnSpc>
                      </a:pPr>
                      <a:endParaRPr lang="en-US" altLang="en-US" sz="1000" dirty="0">
                        <a:latin typeface="微软雅黑" panose="020B0503020204020204" charset="-122"/>
                        <a:ea typeface="微软雅黑" panose="020B0503020204020204" charset="-122"/>
                      </a:endParaRPr>
                    </a:p>
                    <a:p>
                      <a:pPr algn="l" rtl="0" eaLnBrk="0">
                        <a:lnSpc>
                          <a:spcPct val="106000"/>
                        </a:lnSpc>
                      </a:pPr>
                      <a:endParaRPr lang="en-US" altLang="en-US" sz="1000" dirty="0">
                        <a:latin typeface="微软雅黑" panose="020B0503020204020204" charset="-122"/>
                        <a:ea typeface="微软雅黑" panose="020B0503020204020204" charset="-122"/>
                      </a:endParaRPr>
                    </a:p>
                    <a:p>
                      <a:pPr algn="l" rtl="0" eaLnBrk="0">
                        <a:lnSpc>
                          <a:spcPct val="106000"/>
                        </a:lnSpc>
                      </a:pPr>
                      <a:endParaRPr lang="en-US" altLang="en-US" sz="1000" dirty="0">
                        <a:latin typeface="微软雅黑" panose="020B0503020204020204" charset="-122"/>
                        <a:ea typeface="微软雅黑" panose="020B0503020204020204" charset="-122"/>
                      </a:endParaRPr>
                    </a:p>
                    <a:p>
                      <a:pPr algn="l" rtl="0" eaLnBrk="0">
                        <a:lnSpc>
                          <a:spcPct val="106000"/>
                        </a:lnSpc>
                      </a:pPr>
                      <a:endParaRPr lang="en-US" altLang="en-US" sz="1000" dirty="0">
                        <a:latin typeface="微软雅黑" panose="020B0503020204020204" charset="-122"/>
                        <a:ea typeface="微软雅黑" panose="020B0503020204020204" charset="-122"/>
                      </a:endParaRPr>
                    </a:p>
                    <a:p>
                      <a:pPr algn="l" rtl="0" eaLnBrk="0">
                        <a:lnSpc>
                          <a:spcPct val="106000"/>
                        </a:lnSpc>
                      </a:pPr>
                      <a:endParaRPr lang="en-US" altLang="en-US" sz="1000" dirty="0">
                        <a:latin typeface="微软雅黑" panose="020B0503020204020204" charset="-122"/>
                        <a:ea typeface="微软雅黑" panose="020B0503020204020204" charset="-122"/>
                      </a:endParaRPr>
                    </a:p>
                    <a:p>
                      <a:pPr algn="l" rtl="0" eaLnBrk="0">
                        <a:lnSpc>
                          <a:spcPct val="106000"/>
                        </a:lnSpc>
                      </a:pPr>
                      <a:endParaRPr lang="en-US" altLang="en-US" sz="1000" dirty="0">
                        <a:latin typeface="微软雅黑" panose="020B0503020204020204" charset="-122"/>
                        <a:ea typeface="微软雅黑" panose="020B0503020204020204" charset="-122"/>
                      </a:endParaRPr>
                    </a:p>
                    <a:p>
                      <a:pPr algn="l" rtl="0" eaLnBrk="0">
                        <a:lnSpc>
                          <a:spcPct val="126000"/>
                        </a:lnSpc>
                      </a:pPr>
                      <a:endParaRPr lang="en-US" altLang="en-US" sz="300" dirty="0">
                        <a:latin typeface="微软雅黑" panose="020B0503020204020204" charset="-122"/>
                        <a:ea typeface="微软雅黑" panose="020B0503020204020204" charset="-122"/>
                      </a:endParaRPr>
                    </a:p>
                    <a:p>
                      <a:pPr marL="476250" algn="l" rtl="0" eaLnBrk="0">
                        <a:lnSpc>
                          <a:spcPct val="97000"/>
                        </a:lnSpc>
                        <a:spcBef>
                          <a:spcPts val="5"/>
                        </a:spcBef>
                      </a:pPr>
                      <a:r>
                        <a:rPr sz="1500" spc="130" dirty="0">
                          <a:solidFill>
                            <a:srgbClr val="000000">
                              <a:alpha val="100000"/>
                            </a:srgbClr>
                          </a:solidFill>
                          <a:latin typeface="微软雅黑" panose="020B0503020204020204" charset="-122"/>
                          <a:ea typeface="微软雅黑" panose="020B0503020204020204" charset="-122"/>
                          <a:cs typeface="楷体" panose="02010609060101010101" charset="-122"/>
                        </a:rPr>
                        <a:t>更好的识别盈利增长机遇(如，潜在客户群</a:t>
                      </a:r>
                      <a:r>
                        <a:rPr sz="1500" spc="10" dirty="0">
                          <a:solidFill>
                            <a:srgbClr val="000000">
                              <a:alpha val="100000"/>
                            </a:srgbClr>
                          </a:solidFill>
                          <a:latin typeface="微软雅黑" panose="020B0503020204020204" charset="-122"/>
                          <a:ea typeface="微软雅黑" panose="020B0503020204020204" charset="-122"/>
                          <a:cs typeface="楷体" panose="02010609060101010101" charset="-122"/>
                        </a:rPr>
                        <a:t>)</a:t>
                      </a:r>
                      <a:endParaRPr lang="en-US" altLang="en-US" sz="1500" dirty="0">
                        <a:latin typeface="微软雅黑" panose="020B0503020204020204" charset="-122"/>
                        <a:ea typeface="微软雅黑" panose="020B0503020204020204" charset="-122"/>
                      </a:endParaRPr>
                    </a:p>
                  </a:txBody>
                  <a:tcPr marL="0" marR="0" marT="0" marB="0">
                    <a:lnL w="19050" cap="flat" cmpd="sng" algn="ctr">
                      <a:solidFill>
                        <a:srgbClr val="C5C5C5"/>
                      </a:solidFill>
                      <a:prstDash val="solid"/>
                      <a:round/>
                      <a:headEnd type="none" w="med" len="med"/>
                      <a:tailEnd type="none" w="med" len="med"/>
                    </a:lnL>
                    <a:lnR w="19050" cap="flat" cmpd="sng" algn="ctr">
                      <a:solidFill>
                        <a:srgbClr val="C5C5C5"/>
                      </a:solidFill>
                      <a:prstDash val="solid"/>
                      <a:round/>
                      <a:headEnd type="none" w="med" len="med"/>
                      <a:tailEnd type="none" w="med" len="med"/>
                    </a:lnR>
                    <a:lnT w="19050" cap="flat" cmpd="sng" algn="ctr">
                      <a:solidFill>
                        <a:srgbClr val="C5C5C5"/>
                      </a:solidFill>
                      <a:prstDash val="solid"/>
                      <a:round/>
                      <a:headEnd type="none" w="med" len="med"/>
                      <a:tailEnd type="none" w="med" len="med"/>
                    </a:lnT>
                    <a:lnB w="19050" cap="flat" cmpd="sng" algn="ctr">
                      <a:solidFill>
                        <a:srgbClr val="C5C5C5"/>
                      </a:solidFill>
                      <a:prstDash val="solid"/>
                      <a:round/>
                      <a:headEnd type="none" w="med" len="med"/>
                      <a:tailEnd type="none" w="med" len="med"/>
                    </a:lnB>
                  </a:tcPr>
                </a:tc>
              </a:tr>
            </a:tbl>
          </a:graphicData>
        </a:graphic>
      </p:graphicFrame>
      <p:graphicFrame>
        <p:nvGraphicFramePr>
          <p:cNvPr id="710" name="table 710"/>
          <p:cNvGraphicFramePr>
            <a:graphicFrameLocks noGrp="1"/>
          </p:cNvGraphicFramePr>
          <p:nvPr/>
        </p:nvGraphicFramePr>
        <p:xfrm>
          <a:off x="504444" y="2080260"/>
          <a:ext cx="2582545" cy="3127375"/>
        </p:xfrm>
        <a:graphic>
          <a:graphicData uri="http://schemas.openxmlformats.org/drawingml/2006/table">
            <a:tbl>
              <a:tblPr/>
              <a:tblGrid>
                <a:gridCol w="2582545"/>
              </a:tblGrid>
              <a:tr h="3127375">
                <a:tc>
                  <a:txBody>
                    <a:bodyPr/>
                    <a:lstStyle/>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8000"/>
                        </a:lnSpc>
                      </a:pPr>
                      <a:endParaRPr lang="en-US" altLang="en-US" sz="100" dirty="0">
                        <a:latin typeface="微软雅黑" panose="020B0503020204020204" charset="-122"/>
                        <a:ea typeface="微软雅黑" panose="020B0503020204020204" charset="-122"/>
                      </a:endParaRPr>
                    </a:p>
                    <a:p>
                      <a:pPr marL="354965" indent="-183515" algn="l" rtl="0" eaLnBrk="0">
                        <a:lnSpc>
                          <a:spcPct val="96000"/>
                        </a:lnSpc>
                      </a:pPr>
                      <a:r>
                        <a:rPr sz="2000" spc="10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根据对客户的深入了</a:t>
                      </a:r>
                      <a:r>
                        <a:rPr sz="1500" spc="10" dirty="0">
                          <a:solidFill>
                            <a:srgbClr val="000000">
                              <a:alpha val="100000"/>
                            </a:srgbClr>
                          </a:solidFill>
                          <a:latin typeface="微软雅黑" panose="020B0503020204020204" charset="-122"/>
                          <a:ea typeface="微软雅黑" panose="020B0503020204020204" charset="-122"/>
                          <a:cs typeface="楷体" panose="02010609060101010101" charset="-122"/>
                        </a:rPr>
                        <a:t>解</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所进行的客户细分能</a:t>
                      </a:r>
                      <a:r>
                        <a:rPr sz="1500" spc="30" dirty="0">
                          <a:solidFill>
                            <a:srgbClr val="000000">
                              <a:alpha val="100000"/>
                            </a:srgbClr>
                          </a:solidFill>
                          <a:latin typeface="微软雅黑" panose="020B0503020204020204" charset="-122"/>
                          <a:ea typeface="微软雅黑" panose="020B0503020204020204" charset="-122"/>
                          <a:cs typeface="楷体" panose="02010609060101010101" charset="-122"/>
                        </a:rPr>
                        <a:t>够</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通过增加销售和降低</a:t>
                      </a:r>
                      <a:r>
                        <a:rPr sz="1500" spc="30" dirty="0">
                          <a:solidFill>
                            <a:srgbClr val="000000">
                              <a:alpha val="100000"/>
                            </a:srgbClr>
                          </a:solidFill>
                          <a:latin typeface="微软雅黑" panose="020B0503020204020204" charset="-122"/>
                          <a:ea typeface="微软雅黑" panose="020B0503020204020204" charset="-122"/>
                          <a:cs typeface="楷体" panose="02010609060101010101" charset="-122"/>
                        </a:rPr>
                        <a:t>成</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本来实现盈利增</a:t>
                      </a:r>
                      <a:r>
                        <a:rPr sz="1500" spc="20" dirty="0">
                          <a:solidFill>
                            <a:srgbClr val="000000">
                              <a:alpha val="100000"/>
                            </a:srgbClr>
                          </a:solidFill>
                          <a:latin typeface="微软雅黑" panose="020B0503020204020204" charset="-122"/>
                          <a:ea typeface="微软雅黑" panose="020B0503020204020204" charset="-122"/>
                          <a:cs typeface="楷体" panose="02010609060101010101" charset="-122"/>
                        </a:rPr>
                        <a:t>长</a:t>
                      </a:r>
                      <a:endParaRPr lang="en-US" altLang="en-US" sz="15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marL="353060" indent="-182245" algn="l" rtl="0" eaLnBrk="0">
                        <a:lnSpc>
                          <a:spcPct val="92000"/>
                        </a:lnSpc>
                        <a:spcBef>
                          <a:spcPts val="5"/>
                        </a:spcBef>
                      </a:pPr>
                      <a:r>
                        <a:rPr sz="2000" spc="10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负责客户分析的团队</a:t>
                      </a:r>
                      <a:r>
                        <a:rPr sz="1500" spc="10" dirty="0">
                          <a:solidFill>
                            <a:srgbClr val="000000">
                              <a:alpha val="100000"/>
                            </a:srgbClr>
                          </a:solidFill>
                          <a:latin typeface="微软雅黑" panose="020B0503020204020204" charset="-122"/>
                          <a:ea typeface="微软雅黑" panose="020B0503020204020204" charset="-122"/>
                          <a:cs typeface="楷体" panose="02010609060101010101" charset="-122"/>
                        </a:rPr>
                        <a:t>可</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以为客户细分提供数</a:t>
                      </a:r>
                      <a:r>
                        <a:rPr sz="1500" spc="40" dirty="0">
                          <a:solidFill>
                            <a:srgbClr val="000000">
                              <a:alpha val="100000"/>
                            </a:srgbClr>
                          </a:solidFill>
                          <a:latin typeface="微软雅黑" panose="020B0503020204020204" charset="-122"/>
                          <a:ea typeface="微软雅黑" panose="020B0503020204020204" charset="-122"/>
                          <a:cs typeface="楷体" panose="02010609060101010101" charset="-122"/>
                        </a:rPr>
                        <a:t>据</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和分析工</a:t>
                      </a:r>
                      <a:r>
                        <a:rPr sz="1500" spc="50" dirty="0">
                          <a:solidFill>
                            <a:srgbClr val="000000">
                              <a:alpha val="100000"/>
                            </a:srgbClr>
                          </a:solidFill>
                          <a:latin typeface="微软雅黑" panose="020B0503020204020204" charset="-122"/>
                          <a:ea typeface="微软雅黑" panose="020B0503020204020204" charset="-122"/>
                          <a:cs typeface="楷体" panose="02010609060101010101" charset="-122"/>
                        </a:rPr>
                        <a:t>具</a:t>
                      </a:r>
                      <a:endParaRPr lang="en-US" altLang="en-US" sz="1500" dirty="0">
                        <a:latin typeface="微软雅黑" panose="020B0503020204020204" charset="-122"/>
                        <a:ea typeface="微软雅黑" panose="020B0503020204020204" charset="-122"/>
                      </a:endParaRPr>
                    </a:p>
                  </a:txBody>
                  <a:tcPr marL="0" marR="0" marT="0" marB="0">
                    <a:lnL w="19050" cap="flat" cmpd="sng" algn="ctr">
                      <a:solidFill>
                        <a:srgbClr val="0065BD"/>
                      </a:solidFill>
                      <a:prstDash val="solid"/>
                      <a:round/>
                      <a:headEnd type="none" w="med" len="med"/>
                      <a:tailEnd type="none" w="med" len="med"/>
                    </a:lnL>
                    <a:lnR w="19050" cap="flat" cmpd="sng" algn="ctr">
                      <a:solidFill>
                        <a:srgbClr val="0065BD"/>
                      </a:solidFill>
                      <a:prstDash val="solid"/>
                      <a:round/>
                      <a:headEnd type="none" w="med" len="med"/>
                      <a:tailEnd type="none" w="med" len="med"/>
                    </a:lnR>
                    <a:lnT w="19050" cap="flat" cmpd="sng" algn="ctr">
                      <a:solidFill>
                        <a:srgbClr val="0065BD"/>
                      </a:solidFill>
                      <a:prstDash val="solid"/>
                      <a:round/>
                      <a:headEnd type="none" w="med" len="med"/>
                      <a:tailEnd type="none" w="med" len="med"/>
                    </a:lnT>
                    <a:lnB w="19050" cap="flat" cmpd="sng" algn="ctr">
                      <a:solidFill>
                        <a:srgbClr val="0065BD"/>
                      </a:solidFill>
                      <a:prstDash val="solid"/>
                      <a:round/>
                      <a:headEnd type="none" w="med" len="med"/>
                      <a:tailEnd type="none" w="med" len="med"/>
                    </a:lnB>
                  </a:tcPr>
                </a:tc>
              </a:tr>
            </a:tbl>
          </a:graphicData>
        </a:graphic>
      </p:graphicFrame>
      <p:grpSp>
        <p:nvGrpSpPr>
          <p:cNvPr id="142" name="group 142"/>
          <p:cNvGrpSpPr/>
          <p:nvPr/>
        </p:nvGrpSpPr>
        <p:grpSpPr>
          <a:xfrm rot="21600000">
            <a:off x="3297935" y="3523488"/>
            <a:ext cx="266700" cy="265175"/>
            <a:chOff x="0" y="0"/>
            <a:chExt cx="266700" cy="265175"/>
          </a:xfrm>
        </p:grpSpPr>
        <p:sp>
          <p:nvSpPr>
            <p:cNvPr id="711" name="path"/>
            <p:cNvSpPr/>
            <p:nvPr/>
          </p:nvSpPr>
          <p:spPr>
            <a:xfrm>
              <a:off x="9905" y="9905"/>
              <a:ext cx="246888" cy="245363"/>
            </a:xfrm>
            <a:custGeom>
              <a:avLst/>
              <a:gdLst/>
              <a:ahLst/>
              <a:cxnLst/>
              <a:rect l="0" t="0" r="0" b="0"/>
              <a:pathLst>
                <a:path w="388" h="386">
                  <a:moveTo>
                    <a:pt x="0" y="193"/>
                  </a:moveTo>
                  <a:cubicBezTo>
                    <a:pt x="0" y="86"/>
                    <a:pt x="87" y="0"/>
                    <a:pt x="194" y="0"/>
                  </a:cubicBezTo>
                  <a:cubicBezTo>
                    <a:pt x="301" y="0"/>
                    <a:pt x="388" y="86"/>
                    <a:pt x="388" y="193"/>
                  </a:cubicBezTo>
                  <a:cubicBezTo>
                    <a:pt x="388" y="300"/>
                    <a:pt x="301" y="386"/>
                    <a:pt x="194" y="386"/>
                  </a:cubicBezTo>
                  <a:cubicBezTo>
                    <a:pt x="87" y="386"/>
                    <a:pt x="0" y="300"/>
                    <a:pt x="0" y="193"/>
                  </a:cubicBezTo>
                </a:path>
              </a:pathLst>
            </a:custGeom>
            <a:solidFill>
              <a:srgbClr val="0065BD">
                <a:alpha val="100000"/>
              </a:srgbClr>
            </a:solidFill>
            <a:ln cap="flat">
              <a:noFill/>
              <a:prstDash val="solid"/>
              <a:miter lim="0"/>
            </a:ln>
          </p:spPr>
          <p:txBody>
            <a:bodyPr rtlCol="0"/>
            <a:lstStyle/>
            <a:p>
              <a:pPr algn="ctr"/>
              <a:endParaRPr lang="zh-CN" altLang="en-US"/>
            </a:p>
          </p:txBody>
        </p:sp>
        <p:sp>
          <p:nvSpPr>
            <p:cNvPr id="712" name="path"/>
            <p:cNvSpPr/>
            <p:nvPr/>
          </p:nvSpPr>
          <p:spPr>
            <a:xfrm>
              <a:off x="0" y="0"/>
              <a:ext cx="266700" cy="265175"/>
            </a:xfrm>
            <a:custGeom>
              <a:avLst/>
              <a:gdLst/>
              <a:ahLst/>
              <a:cxnLst/>
              <a:rect l="0" t="0" r="0" b="0"/>
              <a:pathLst>
                <a:path w="420" h="417">
                  <a:moveTo>
                    <a:pt x="15" y="208"/>
                  </a:moveTo>
                  <a:cubicBezTo>
                    <a:pt x="15" y="101"/>
                    <a:pt x="102" y="15"/>
                    <a:pt x="210" y="15"/>
                  </a:cubicBezTo>
                  <a:cubicBezTo>
                    <a:pt x="317" y="15"/>
                    <a:pt x="404" y="101"/>
                    <a:pt x="404" y="208"/>
                  </a:cubicBezTo>
                  <a:cubicBezTo>
                    <a:pt x="404" y="315"/>
                    <a:pt x="317" y="401"/>
                    <a:pt x="210" y="401"/>
                  </a:cubicBezTo>
                  <a:cubicBezTo>
                    <a:pt x="102" y="401"/>
                    <a:pt x="15" y="315"/>
                    <a:pt x="15" y="208"/>
                  </a:cubicBezTo>
                </a:path>
              </a:pathLst>
            </a:custGeom>
            <a:noFill/>
            <a:ln w="19811" cap="flat">
              <a:solidFill>
                <a:srgbClr val="FFFFFF">
                  <a:alpha val="100000"/>
                </a:srgbClr>
              </a:solidFill>
              <a:prstDash val="solid"/>
              <a:round/>
            </a:ln>
          </p:spPr>
          <p:txBody>
            <a:bodyPr rtlCol="0"/>
            <a:lstStyle/>
            <a:p>
              <a:pPr algn="ctr"/>
              <a:endParaRPr lang="zh-CN" altLang="en-US"/>
            </a:p>
          </p:txBody>
        </p:sp>
      </p:grpSp>
      <p:grpSp>
        <p:nvGrpSpPr>
          <p:cNvPr id="144" name="group 144"/>
          <p:cNvGrpSpPr/>
          <p:nvPr/>
        </p:nvGrpSpPr>
        <p:grpSpPr>
          <a:xfrm rot="21600000">
            <a:off x="3297935" y="4677156"/>
            <a:ext cx="266700" cy="265175"/>
            <a:chOff x="0" y="0"/>
            <a:chExt cx="266700" cy="265175"/>
          </a:xfrm>
        </p:grpSpPr>
        <p:sp>
          <p:nvSpPr>
            <p:cNvPr id="713" name="path"/>
            <p:cNvSpPr/>
            <p:nvPr/>
          </p:nvSpPr>
          <p:spPr>
            <a:xfrm>
              <a:off x="9905" y="9905"/>
              <a:ext cx="246888" cy="245363"/>
            </a:xfrm>
            <a:custGeom>
              <a:avLst/>
              <a:gdLst/>
              <a:ahLst/>
              <a:cxnLst/>
              <a:rect l="0" t="0" r="0" b="0"/>
              <a:pathLst>
                <a:path w="388" h="386">
                  <a:moveTo>
                    <a:pt x="0" y="193"/>
                  </a:moveTo>
                  <a:cubicBezTo>
                    <a:pt x="0" y="86"/>
                    <a:pt x="87" y="0"/>
                    <a:pt x="194" y="0"/>
                  </a:cubicBezTo>
                  <a:cubicBezTo>
                    <a:pt x="301" y="0"/>
                    <a:pt x="388" y="86"/>
                    <a:pt x="388" y="193"/>
                  </a:cubicBezTo>
                  <a:cubicBezTo>
                    <a:pt x="388" y="300"/>
                    <a:pt x="301" y="386"/>
                    <a:pt x="194" y="386"/>
                  </a:cubicBezTo>
                  <a:cubicBezTo>
                    <a:pt x="87" y="386"/>
                    <a:pt x="0" y="300"/>
                    <a:pt x="0" y="193"/>
                  </a:cubicBezTo>
                </a:path>
              </a:pathLst>
            </a:custGeom>
            <a:solidFill>
              <a:srgbClr val="0065BD">
                <a:alpha val="100000"/>
              </a:srgbClr>
            </a:solidFill>
            <a:ln cap="flat">
              <a:noFill/>
              <a:prstDash val="solid"/>
              <a:miter lim="0"/>
            </a:ln>
          </p:spPr>
          <p:txBody>
            <a:bodyPr rtlCol="0"/>
            <a:lstStyle/>
            <a:p>
              <a:pPr algn="ctr"/>
              <a:endParaRPr lang="zh-CN" altLang="en-US"/>
            </a:p>
          </p:txBody>
        </p:sp>
        <p:sp>
          <p:nvSpPr>
            <p:cNvPr id="714" name="path"/>
            <p:cNvSpPr/>
            <p:nvPr/>
          </p:nvSpPr>
          <p:spPr>
            <a:xfrm>
              <a:off x="0" y="0"/>
              <a:ext cx="266700" cy="265175"/>
            </a:xfrm>
            <a:custGeom>
              <a:avLst/>
              <a:gdLst/>
              <a:ahLst/>
              <a:cxnLst/>
              <a:rect l="0" t="0" r="0" b="0"/>
              <a:pathLst>
                <a:path w="420" h="417">
                  <a:moveTo>
                    <a:pt x="15" y="208"/>
                  </a:moveTo>
                  <a:cubicBezTo>
                    <a:pt x="15" y="101"/>
                    <a:pt x="102" y="15"/>
                    <a:pt x="210" y="15"/>
                  </a:cubicBezTo>
                  <a:cubicBezTo>
                    <a:pt x="317" y="15"/>
                    <a:pt x="404" y="101"/>
                    <a:pt x="404" y="208"/>
                  </a:cubicBezTo>
                  <a:cubicBezTo>
                    <a:pt x="404" y="315"/>
                    <a:pt x="317" y="401"/>
                    <a:pt x="210" y="401"/>
                  </a:cubicBezTo>
                  <a:cubicBezTo>
                    <a:pt x="102" y="401"/>
                    <a:pt x="15" y="315"/>
                    <a:pt x="15" y="208"/>
                  </a:cubicBezTo>
                </a:path>
              </a:pathLst>
            </a:custGeom>
            <a:noFill/>
            <a:ln w="19811" cap="flat">
              <a:solidFill>
                <a:srgbClr val="FFFFFF">
                  <a:alpha val="100000"/>
                </a:srgbClr>
              </a:solidFill>
              <a:prstDash val="solid"/>
              <a:round/>
            </a:ln>
          </p:spPr>
          <p:txBody>
            <a:bodyPr rtlCol="0"/>
            <a:lstStyle/>
            <a:p>
              <a:pPr algn="ctr"/>
              <a:endParaRPr lang="zh-CN" altLang="en-US"/>
            </a:p>
          </p:txBody>
        </p:sp>
      </p:grpSp>
      <p:grpSp>
        <p:nvGrpSpPr>
          <p:cNvPr id="146" name="group 146"/>
          <p:cNvGrpSpPr/>
          <p:nvPr/>
        </p:nvGrpSpPr>
        <p:grpSpPr>
          <a:xfrm rot="21600000">
            <a:off x="3297935" y="3977640"/>
            <a:ext cx="266700" cy="266700"/>
            <a:chOff x="0" y="0"/>
            <a:chExt cx="266700" cy="266700"/>
          </a:xfrm>
        </p:grpSpPr>
        <p:sp>
          <p:nvSpPr>
            <p:cNvPr id="715" name="path"/>
            <p:cNvSpPr/>
            <p:nvPr/>
          </p:nvSpPr>
          <p:spPr>
            <a:xfrm>
              <a:off x="9905" y="9905"/>
              <a:ext cx="246888" cy="246888"/>
            </a:xfrm>
            <a:custGeom>
              <a:avLst/>
              <a:gdLst/>
              <a:ahLst/>
              <a:cxnLst/>
              <a:rect l="0" t="0" r="0" b="0"/>
              <a:pathLst>
                <a:path w="388" h="388">
                  <a:moveTo>
                    <a:pt x="0" y="194"/>
                  </a:moveTo>
                  <a:cubicBezTo>
                    <a:pt x="0" y="86"/>
                    <a:pt x="87" y="0"/>
                    <a:pt x="194" y="0"/>
                  </a:cubicBezTo>
                  <a:cubicBezTo>
                    <a:pt x="301" y="0"/>
                    <a:pt x="388" y="86"/>
                    <a:pt x="388" y="194"/>
                  </a:cubicBezTo>
                  <a:cubicBezTo>
                    <a:pt x="388" y="301"/>
                    <a:pt x="301" y="388"/>
                    <a:pt x="194" y="388"/>
                  </a:cubicBezTo>
                  <a:cubicBezTo>
                    <a:pt x="87" y="388"/>
                    <a:pt x="0" y="301"/>
                    <a:pt x="0" y="194"/>
                  </a:cubicBezTo>
                </a:path>
              </a:pathLst>
            </a:custGeom>
            <a:solidFill>
              <a:srgbClr val="0065BD">
                <a:alpha val="100000"/>
              </a:srgbClr>
            </a:solidFill>
            <a:ln cap="flat">
              <a:noFill/>
              <a:prstDash val="solid"/>
              <a:miter lim="0"/>
            </a:ln>
          </p:spPr>
          <p:txBody>
            <a:bodyPr rtlCol="0"/>
            <a:lstStyle/>
            <a:p>
              <a:pPr algn="ctr"/>
              <a:endParaRPr lang="zh-CN" altLang="en-US"/>
            </a:p>
          </p:txBody>
        </p:sp>
        <p:sp>
          <p:nvSpPr>
            <p:cNvPr id="716" name="path"/>
            <p:cNvSpPr/>
            <p:nvPr/>
          </p:nvSpPr>
          <p:spPr>
            <a:xfrm>
              <a:off x="0" y="0"/>
              <a:ext cx="266700" cy="266700"/>
            </a:xfrm>
            <a:custGeom>
              <a:avLst/>
              <a:gdLst/>
              <a:ahLst/>
              <a:cxnLst/>
              <a:rect l="0" t="0" r="0" b="0"/>
              <a:pathLst>
                <a:path w="420" h="420">
                  <a:moveTo>
                    <a:pt x="15" y="210"/>
                  </a:moveTo>
                  <a:cubicBezTo>
                    <a:pt x="15" y="102"/>
                    <a:pt x="102" y="15"/>
                    <a:pt x="210" y="15"/>
                  </a:cubicBezTo>
                  <a:cubicBezTo>
                    <a:pt x="317" y="15"/>
                    <a:pt x="404" y="102"/>
                    <a:pt x="404" y="210"/>
                  </a:cubicBezTo>
                  <a:cubicBezTo>
                    <a:pt x="404" y="317"/>
                    <a:pt x="317" y="404"/>
                    <a:pt x="210" y="404"/>
                  </a:cubicBezTo>
                  <a:cubicBezTo>
                    <a:pt x="102" y="404"/>
                    <a:pt x="15" y="317"/>
                    <a:pt x="15" y="210"/>
                  </a:cubicBezTo>
                </a:path>
              </a:pathLst>
            </a:custGeom>
            <a:noFill/>
            <a:ln w="19811" cap="flat">
              <a:solidFill>
                <a:srgbClr val="FFFFFF">
                  <a:alpha val="100000"/>
                </a:srgbClr>
              </a:solidFill>
              <a:prstDash val="solid"/>
              <a:round/>
            </a:ln>
          </p:spPr>
          <p:txBody>
            <a:bodyPr rtlCol="0"/>
            <a:lstStyle/>
            <a:p>
              <a:pPr algn="ctr"/>
              <a:endParaRPr lang="zh-CN" altLang="en-US"/>
            </a:p>
          </p:txBody>
        </p:sp>
      </p:grpSp>
      <p:graphicFrame>
        <p:nvGraphicFramePr>
          <p:cNvPr id="717" name="table 717"/>
          <p:cNvGraphicFramePr>
            <a:graphicFrameLocks noGrp="1"/>
          </p:cNvGraphicFramePr>
          <p:nvPr/>
        </p:nvGraphicFramePr>
        <p:xfrm>
          <a:off x="3297935" y="3418332"/>
          <a:ext cx="4959349" cy="1628775"/>
        </p:xfrm>
        <a:graphic>
          <a:graphicData uri="http://schemas.openxmlformats.org/drawingml/2006/table">
            <a:tbl>
              <a:tblPr/>
              <a:tblGrid>
                <a:gridCol w="314959"/>
                <a:gridCol w="4644390"/>
              </a:tblGrid>
              <a:tr h="465455">
                <a:tc>
                  <a:txBody>
                    <a:bodyPr/>
                    <a:lstStyle/>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9000"/>
                        </a:lnSpc>
                      </a:pPr>
                      <a:endParaRPr lang="en-US" altLang="en-US" sz="100" dirty="0">
                        <a:latin typeface="微软雅黑" panose="020B0503020204020204" charset="-122"/>
                        <a:ea typeface="微软雅黑" panose="020B0503020204020204" charset="-122"/>
                      </a:endParaRPr>
                    </a:p>
                    <a:p>
                      <a:pPr marL="80010" algn="l" rtl="0" eaLnBrk="0">
                        <a:lnSpc>
                          <a:spcPct val="84000"/>
                        </a:lnSpc>
                      </a:pPr>
                      <a:r>
                        <a:rPr sz="1500" spc="30" dirty="0">
                          <a:solidFill>
                            <a:srgbClr val="FFFFFF">
                              <a:alpha val="100000"/>
                            </a:srgbClr>
                          </a:solidFill>
                          <a:latin typeface="微软雅黑" panose="020B0503020204020204" charset="-122"/>
                          <a:ea typeface="微软雅黑" panose="020B0503020204020204" charset="-122"/>
                          <a:cs typeface="Arial" panose="020B0604020202020204"/>
                        </a:rPr>
                        <a:t>4</a:t>
                      </a:r>
                      <a:endParaRPr lang="en-US" altLang="en-US" sz="1500" dirty="0">
                        <a:latin typeface="微软雅黑" panose="020B0503020204020204" charset="-122"/>
                        <a:ea typeface="微软雅黑" panose="020B0503020204020204" charset="-122"/>
                      </a:endParaRPr>
                    </a:p>
                  </a:txBody>
                  <a:tcPr marL="0" marR="0" marT="0" marB="0">
                    <a:lnL>
                      <a:noFill/>
                    </a:lnL>
                    <a:lnR>
                      <a:noFill/>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a:txBody>
                    <a:bodyPr/>
                    <a:lstStyle/>
                    <a:p>
                      <a:pPr algn="l" rtl="0" eaLnBrk="0">
                        <a:lnSpc>
                          <a:spcPct val="102000"/>
                        </a:lnSpc>
                      </a:pPr>
                      <a:endParaRPr lang="en-US" altLang="en-US" sz="900" dirty="0">
                        <a:latin typeface="微软雅黑" panose="020B0503020204020204" charset="-122"/>
                        <a:ea typeface="微软雅黑" panose="020B0503020204020204" charset="-122"/>
                      </a:endParaRPr>
                    </a:p>
                    <a:p>
                      <a:pPr marL="48260" algn="l" rtl="0" eaLnBrk="0">
                        <a:lnSpc>
                          <a:spcPct val="99000"/>
                        </a:lnSpc>
                        <a:spcBef>
                          <a:spcPts val="5"/>
                        </a:spcBef>
                      </a:pP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更好地服务或回避特定客户</a:t>
                      </a:r>
                      <a:r>
                        <a:rPr sz="1500" spc="40" dirty="0">
                          <a:solidFill>
                            <a:srgbClr val="000000">
                              <a:alpha val="100000"/>
                            </a:srgbClr>
                          </a:solidFill>
                          <a:latin typeface="微软雅黑" panose="020B0503020204020204" charset="-122"/>
                          <a:ea typeface="微软雅黑" panose="020B0503020204020204" charset="-122"/>
                          <a:cs typeface="楷体" panose="02010609060101010101" charset="-122"/>
                        </a:rPr>
                        <a:t>群</a:t>
                      </a:r>
                      <a:endParaRPr lang="en-US" altLang="en-US" sz="1500" dirty="0">
                        <a:latin typeface="微软雅黑" panose="020B0503020204020204" charset="-122"/>
                        <a:ea typeface="微软雅黑" panose="020B0503020204020204" charset="-122"/>
                      </a:endParaRPr>
                    </a:p>
                  </a:txBody>
                  <a:tcPr marL="0" marR="0" marT="0" marB="0">
                    <a:lnL>
                      <a:noFill/>
                    </a:lnL>
                    <a:lnR>
                      <a:noFill/>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r>
              <a:tr h="697865">
                <a:tc>
                  <a:txBody>
                    <a:bodyPr/>
                    <a:lstStyle/>
                    <a:p>
                      <a:pPr algn="l" rtl="0" eaLnBrk="0">
                        <a:lnSpc>
                          <a:spcPct val="105000"/>
                        </a:lnSpc>
                      </a:pPr>
                      <a:endParaRPr lang="en-US" altLang="en-US" sz="1000" dirty="0">
                        <a:latin typeface="微软雅黑" panose="020B0503020204020204" charset="-122"/>
                        <a:ea typeface="微软雅黑" panose="020B0503020204020204" charset="-122"/>
                      </a:endParaRPr>
                    </a:p>
                    <a:p>
                      <a:pPr marL="85725" algn="l" rtl="0" eaLnBrk="0">
                        <a:lnSpc>
                          <a:spcPct val="83000"/>
                        </a:lnSpc>
                      </a:pPr>
                      <a:r>
                        <a:rPr sz="1500" spc="0" dirty="0">
                          <a:solidFill>
                            <a:srgbClr val="FFFFFF">
                              <a:alpha val="100000"/>
                            </a:srgbClr>
                          </a:solidFill>
                          <a:latin typeface="微软雅黑" panose="020B0503020204020204" charset="-122"/>
                          <a:ea typeface="微软雅黑" panose="020B0503020204020204" charset="-122"/>
                          <a:cs typeface="Arial" panose="020B0604020202020204"/>
                        </a:rPr>
                        <a:t>5</a:t>
                      </a:r>
                      <a:endParaRPr lang="en-US" altLang="en-US" sz="1500" dirty="0">
                        <a:latin typeface="微软雅黑" panose="020B0503020204020204" charset="-122"/>
                        <a:ea typeface="微软雅黑" panose="020B0503020204020204" charset="-122"/>
                      </a:endParaRPr>
                    </a:p>
                  </a:txBody>
                  <a:tcPr marL="0" marR="0" marT="0" marB="0">
                    <a:lnL>
                      <a:noFill/>
                    </a:lnL>
                    <a:lnR>
                      <a:noFill/>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a:txBody>
                    <a:bodyPr/>
                    <a:lstStyle/>
                    <a:p>
                      <a:pPr algn="l" rtl="0" eaLnBrk="0">
                        <a:lnSpc>
                          <a:spcPct val="108000"/>
                        </a:lnSpc>
                      </a:pPr>
                      <a:endParaRPr lang="en-US" altLang="en-US" sz="700" dirty="0">
                        <a:latin typeface="微软雅黑" panose="020B0503020204020204" charset="-122"/>
                        <a:ea typeface="微软雅黑" panose="020B0503020204020204" charset="-122"/>
                      </a:endParaRPr>
                    </a:p>
                    <a:p>
                      <a:pPr marL="60325" indent="-13970" algn="l" rtl="0" eaLnBrk="0">
                        <a:lnSpc>
                          <a:spcPct val="105000"/>
                        </a:lnSpc>
                        <a:spcBef>
                          <a:spcPts val="5"/>
                        </a:spcBef>
                      </a:pPr>
                      <a:r>
                        <a:rPr sz="1500" spc="70" dirty="0">
                          <a:solidFill>
                            <a:srgbClr val="000000">
                              <a:alpha val="100000"/>
                            </a:srgbClr>
                          </a:solidFill>
                          <a:latin typeface="微软雅黑" panose="020B0503020204020204" charset="-122"/>
                          <a:ea typeface="微软雅黑" panose="020B0503020204020204" charset="-122"/>
                          <a:cs typeface="楷体" panose="02010609060101010101" charset="-122"/>
                        </a:rPr>
                        <a:t>根据具体客户群， 进一步明确产品的规格和</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服务的 </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细则，调整产品、服务以及成</a:t>
                      </a:r>
                      <a:r>
                        <a:rPr sz="1500" spc="80" dirty="0">
                          <a:solidFill>
                            <a:srgbClr val="000000">
                              <a:alpha val="100000"/>
                            </a:srgbClr>
                          </a:solidFill>
                          <a:latin typeface="微软雅黑" panose="020B0503020204020204" charset="-122"/>
                          <a:ea typeface="微软雅黑" panose="020B0503020204020204" charset="-122"/>
                          <a:cs typeface="楷体" panose="02010609060101010101" charset="-122"/>
                        </a:rPr>
                        <a:t>本</a:t>
                      </a:r>
                      <a:endParaRPr lang="en-US" altLang="en-US" sz="1500" dirty="0">
                        <a:latin typeface="微软雅黑" panose="020B0503020204020204" charset="-122"/>
                        <a:ea typeface="微软雅黑" panose="020B0503020204020204" charset="-122"/>
                      </a:endParaRPr>
                    </a:p>
                  </a:txBody>
                  <a:tcPr marL="0" marR="0" marT="0" marB="0">
                    <a:lnL>
                      <a:noFill/>
                    </a:lnL>
                    <a:lnR>
                      <a:noFill/>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r>
              <a:tr h="465455">
                <a:tc>
                  <a:txBody>
                    <a:bodyPr/>
                    <a:lstStyle/>
                    <a:p>
                      <a:pPr algn="l" rtl="0" eaLnBrk="0">
                        <a:lnSpc>
                          <a:spcPct val="104000"/>
                        </a:lnSpc>
                      </a:pPr>
                      <a:endParaRPr lang="en-US" altLang="en-US" sz="1000" dirty="0">
                        <a:latin typeface="微软雅黑" panose="020B0503020204020204" charset="-122"/>
                        <a:ea typeface="微软雅黑" panose="020B0503020204020204" charset="-122"/>
                      </a:endParaRPr>
                    </a:p>
                    <a:p>
                      <a:pPr marL="85090" algn="l" rtl="0" eaLnBrk="0">
                        <a:lnSpc>
                          <a:spcPct val="84000"/>
                        </a:lnSpc>
                      </a:pPr>
                      <a:r>
                        <a:rPr sz="1500" spc="0" dirty="0">
                          <a:solidFill>
                            <a:srgbClr val="FFFFFF">
                              <a:alpha val="100000"/>
                            </a:srgbClr>
                          </a:solidFill>
                          <a:latin typeface="微软雅黑" panose="020B0503020204020204" charset="-122"/>
                          <a:ea typeface="微软雅黑" panose="020B0503020204020204" charset="-122"/>
                          <a:cs typeface="Arial" panose="020B0604020202020204"/>
                        </a:rPr>
                        <a:t>6</a:t>
                      </a:r>
                      <a:endParaRPr lang="en-US" altLang="en-US" sz="1500" dirty="0">
                        <a:latin typeface="微软雅黑" panose="020B0503020204020204" charset="-122"/>
                        <a:ea typeface="微软雅黑" panose="020B0503020204020204" charset="-122"/>
                      </a:endParaRPr>
                    </a:p>
                  </a:txBody>
                  <a:tcPr marL="0" marR="0" marT="0" marB="0">
                    <a:lnL>
                      <a:noFill/>
                    </a:lnL>
                    <a:lnR>
                      <a:noFill/>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a:txBody>
                    <a:bodyPr/>
                    <a:lstStyle/>
                    <a:p>
                      <a:pPr algn="l" rtl="0" eaLnBrk="0">
                        <a:lnSpc>
                          <a:spcPct val="107000"/>
                        </a:lnSpc>
                      </a:pPr>
                      <a:endParaRPr lang="en-US" altLang="en-US" sz="800" dirty="0">
                        <a:latin typeface="微软雅黑" panose="020B0503020204020204" charset="-122"/>
                        <a:ea typeface="微软雅黑" panose="020B0503020204020204" charset="-122"/>
                      </a:endParaRPr>
                    </a:p>
                    <a:p>
                      <a:pPr algn="l" rtl="0" eaLnBrk="0">
                        <a:lnSpc>
                          <a:spcPct val="8000"/>
                        </a:lnSpc>
                      </a:pPr>
                      <a:endParaRPr lang="en-US" altLang="en-US" sz="100" dirty="0">
                        <a:latin typeface="微软雅黑" panose="020B0503020204020204" charset="-122"/>
                        <a:ea typeface="微软雅黑" panose="020B0503020204020204" charset="-122"/>
                      </a:endParaRPr>
                    </a:p>
                    <a:p>
                      <a:pPr marL="48260" algn="l" rtl="0" eaLnBrk="0">
                        <a:lnSpc>
                          <a:spcPct val="98000"/>
                        </a:lnSpc>
                      </a:pP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更好的利用不同渠</a:t>
                      </a:r>
                      <a:r>
                        <a:rPr sz="1500" spc="50" dirty="0">
                          <a:solidFill>
                            <a:srgbClr val="000000">
                              <a:alpha val="100000"/>
                            </a:srgbClr>
                          </a:solidFill>
                          <a:latin typeface="微软雅黑" panose="020B0503020204020204" charset="-122"/>
                          <a:ea typeface="微软雅黑" panose="020B0503020204020204" charset="-122"/>
                          <a:cs typeface="楷体" panose="02010609060101010101" charset="-122"/>
                        </a:rPr>
                        <a:t>道</a:t>
                      </a:r>
                      <a:endParaRPr lang="en-US" altLang="en-US" sz="1500" dirty="0">
                        <a:latin typeface="微软雅黑" panose="020B0503020204020204" charset="-122"/>
                        <a:ea typeface="微软雅黑" panose="020B0503020204020204" charset="-122"/>
                      </a:endParaRPr>
                    </a:p>
                  </a:txBody>
                  <a:tcPr marL="0" marR="0" marT="0" marB="0">
                    <a:lnL>
                      <a:noFill/>
                    </a:lnL>
                    <a:lnR>
                      <a:noFill/>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r>
            </a:tbl>
          </a:graphicData>
        </a:graphic>
      </p:graphicFrame>
      <p:sp>
        <p:nvSpPr>
          <p:cNvPr id="718" name="textbox 718"/>
          <p:cNvSpPr/>
          <p:nvPr/>
        </p:nvSpPr>
        <p:spPr>
          <a:xfrm>
            <a:off x="3194304" y="1345692"/>
            <a:ext cx="5253354" cy="419734"/>
          </a:xfrm>
          <a:prstGeom prst="rect">
            <a:avLst/>
          </a:prstGeom>
          <a:solidFill>
            <a:srgbClr val="C5C5C5"/>
          </a:solidFill>
        </p:spPr>
        <p:txBody>
          <a:bodyPr vert="horz" wrap="square" lIns="0" tIns="0" rIns="0" bIns="0"/>
          <a:lstStyle/>
          <a:p>
            <a:pPr algn="l" rtl="0" eaLnBrk="0">
              <a:lnSpc>
                <a:spcPct val="113000"/>
              </a:lnSpc>
            </a:pPr>
            <a:endParaRPr lang="en-US" altLang="en-US" sz="600" dirty="0">
              <a:latin typeface="微软雅黑" panose="020B0503020204020204" charset="-122"/>
              <a:ea typeface="微软雅黑" panose="020B0503020204020204" charset="-122"/>
            </a:endParaRPr>
          </a:p>
          <a:p>
            <a:pPr marL="76835" algn="l" rtl="0" eaLnBrk="0">
              <a:lnSpc>
                <a:spcPct val="98000"/>
              </a:lnSpc>
              <a:spcBef>
                <a:spcPts val="0"/>
              </a:spcBef>
            </a:pPr>
            <a:r>
              <a:rPr sz="1500" spc="11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客户细分可能带来的</a:t>
            </a:r>
            <a:r>
              <a:rPr sz="1500" b="1" spc="110" dirty="0">
                <a:solidFill>
                  <a:srgbClr val="000000">
                    <a:alpha val="100000"/>
                  </a:srgbClr>
                </a:solidFill>
                <a:latin typeface="微软雅黑" panose="020B0503020204020204" charset="-122"/>
                <a:ea typeface="微软雅黑" panose="020B0503020204020204" charset="-122"/>
                <a:cs typeface="Arial" panose="020B0604020202020204"/>
              </a:rPr>
              <a:t>7</a:t>
            </a:r>
            <a:r>
              <a:rPr sz="1500" spc="11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种盈利增长方</a:t>
            </a:r>
            <a:r>
              <a:rPr sz="1500" spc="8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式</a:t>
            </a:r>
            <a:endParaRPr lang="en-US" altLang="en-US" sz="1500" dirty="0">
              <a:latin typeface="微软雅黑" panose="020B0503020204020204" charset="-122"/>
              <a:ea typeface="微软雅黑" panose="020B0503020204020204" charset="-122"/>
            </a:endParaRPr>
          </a:p>
        </p:txBody>
      </p:sp>
      <p:sp>
        <p:nvSpPr>
          <p:cNvPr id="719" name="textbox 719"/>
          <p:cNvSpPr/>
          <p:nvPr/>
        </p:nvSpPr>
        <p:spPr>
          <a:xfrm>
            <a:off x="117420" y="248992"/>
            <a:ext cx="5857875" cy="308609"/>
          </a:xfrm>
          <a:prstGeom prst="rect">
            <a:avLst/>
          </a:prstGeom>
        </p:spPr>
        <p:txBody>
          <a:bodyPr vert="horz" wrap="square" lIns="0" tIns="0" rIns="0" bIns="0"/>
          <a:lstStyle/>
          <a:p>
            <a:pPr algn="l" rtl="0" eaLnBrk="0">
              <a:lnSpc>
                <a:spcPct val="79000"/>
              </a:lnSpc>
            </a:pPr>
            <a:endParaRPr lang="en-US" altLang="en-US" sz="100" dirty="0">
              <a:latin typeface="微软雅黑" panose="020B0503020204020204" charset="-122"/>
              <a:ea typeface="微软雅黑" panose="020B0503020204020204" charset="-122"/>
            </a:endParaRPr>
          </a:p>
          <a:p>
            <a:pPr marL="12700" algn="l" rtl="0" eaLnBrk="0">
              <a:lnSpc>
                <a:spcPct val="93000"/>
              </a:lnSpc>
            </a:pPr>
            <a:r>
              <a:rPr sz="2000" spc="-10" dirty="0">
                <a:solidFill>
                  <a:srgbClr val="002960">
                    <a:alpha val="100000"/>
                  </a:srgbClr>
                </a:solidFill>
                <a:latin typeface="微软雅黑" panose="020B0503020204020204" charset="-122"/>
                <a:ea typeface="微软雅黑" panose="020B0503020204020204" charset="-122"/>
                <a:cs typeface="楷体" panose="02010609060101010101" charset="-122"/>
              </a:rPr>
              <a:t>有效地客户细分能</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帮助我们了解客户并实现盈利增长</a:t>
            </a:r>
            <a:endParaRPr lang="en-US" altLang="en-US" sz="2000" dirty="0">
              <a:latin typeface="微软雅黑" panose="020B0503020204020204" charset="-122"/>
              <a:ea typeface="微软雅黑" panose="020B0503020204020204" charset="-122"/>
            </a:endParaRPr>
          </a:p>
        </p:txBody>
      </p:sp>
      <p:sp>
        <p:nvSpPr>
          <p:cNvPr id="720" name="textbox 720"/>
          <p:cNvSpPr/>
          <p:nvPr/>
        </p:nvSpPr>
        <p:spPr>
          <a:xfrm>
            <a:off x="114849" y="6511311"/>
            <a:ext cx="8577580" cy="135889"/>
          </a:xfrm>
          <a:prstGeom prst="rect">
            <a:avLst/>
          </a:prstGeom>
        </p:spPr>
        <p:txBody>
          <a:bodyPr vert="horz" wrap="square" lIns="0" tIns="0" rIns="0" bIns="0"/>
          <a:lstStyle/>
          <a:p>
            <a:pPr algn="l" rtl="0" eaLnBrk="0">
              <a:lnSpc>
                <a:spcPct val="85000"/>
              </a:lnSpc>
            </a:pPr>
            <a:endParaRPr lang="en-US" altLang="en-US" sz="100" dirty="0"/>
          </a:p>
          <a:p>
            <a:pPr marL="12700" algn="l" rtl="0" eaLnBrk="0">
              <a:lnSpc>
                <a:spcPct val="90000"/>
              </a:lnSpc>
            </a:pPr>
            <a:r>
              <a:rPr sz="800" spc="10" dirty="0">
                <a:solidFill>
                  <a:srgbClr val="808080">
                    <a:alpha val="100000"/>
                  </a:srgbClr>
                </a:solidFill>
                <a:latin typeface="楷体" panose="02010609060101010101" charset="-122"/>
                <a:ea typeface="楷体" panose="02010609060101010101" charset="-122"/>
                <a:cs typeface="楷体" panose="02010609060101010101" charset="-122"/>
              </a:rPr>
              <a:t>资料来源：乙方                           </a:t>
            </a:r>
            <a:r>
              <a:rPr sz="800" spc="0" dirty="0">
                <a:solidFill>
                  <a:srgbClr val="808080">
                    <a:alpha val="100000"/>
                  </a:srgbClr>
                </a:solidFill>
                <a:latin typeface="楷体" panose="02010609060101010101" charset="-122"/>
                <a:ea typeface="楷体" panose="02010609060101010101" charset="-122"/>
                <a:cs typeface="楷体" panose="02010609060101010101" charset="-122"/>
              </a:rPr>
              <a:t>                                                                                                     </a:t>
            </a:r>
            <a:r>
              <a:rPr sz="800" spc="0" dirty="0">
                <a:solidFill>
                  <a:srgbClr val="808080">
                    <a:alpha val="100000"/>
                  </a:srgbClr>
                </a:solidFill>
                <a:latin typeface="Arial" panose="020B0604020202020204"/>
                <a:ea typeface="Arial" panose="020B0604020202020204"/>
                <a:cs typeface="Arial" panose="020B0604020202020204"/>
              </a:rPr>
              <a:t>   18</a:t>
            </a:r>
            <a:endParaRPr lang="en-US" altLang="en-US" sz="800" dirty="0"/>
          </a:p>
        </p:txBody>
      </p:sp>
      <p:sp>
        <p:nvSpPr>
          <p:cNvPr id="721" name="path"/>
          <p:cNvSpPr/>
          <p:nvPr/>
        </p:nvSpPr>
        <p:spPr>
          <a:xfrm>
            <a:off x="513588" y="1908048"/>
            <a:ext cx="2563367" cy="128016"/>
          </a:xfrm>
          <a:custGeom>
            <a:avLst/>
            <a:gdLst/>
            <a:ahLst/>
            <a:cxnLst/>
            <a:rect l="0" t="0" r="0" b="0"/>
            <a:pathLst>
              <a:path w="4036" h="201">
                <a:moveTo>
                  <a:pt x="0" y="201"/>
                </a:moveTo>
                <a:lnTo>
                  <a:pt x="4036" y="201"/>
                </a:lnTo>
                <a:lnTo>
                  <a:pt x="3660" y="0"/>
                </a:lnTo>
                <a:lnTo>
                  <a:pt x="3755" y="130"/>
                </a:lnTo>
                <a:lnTo>
                  <a:pt x="92" y="130"/>
                </a:lnTo>
                <a:lnTo>
                  <a:pt x="0" y="201"/>
                </a:lnTo>
                <a:close/>
              </a:path>
            </a:pathLst>
          </a:custGeom>
          <a:solidFill>
            <a:srgbClr val="0065BD">
              <a:alpha val="100000"/>
            </a:srgbClr>
          </a:solidFill>
          <a:ln cap="flat">
            <a:noFill/>
            <a:prstDash val="solid"/>
            <a:miter lim="0"/>
          </a:ln>
        </p:spPr>
        <p:txBody>
          <a:bodyPr rtlCol="0"/>
          <a:lstStyle/>
          <a:p>
            <a:pPr algn="ctr"/>
            <a:endParaRPr lang="zh-CN" altLang="en-US"/>
          </a:p>
        </p:txBody>
      </p:sp>
      <p:sp>
        <p:nvSpPr>
          <p:cNvPr id="722" name="textbox 722"/>
          <p:cNvSpPr/>
          <p:nvPr/>
        </p:nvSpPr>
        <p:spPr>
          <a:xfrm>
            <a:off x="8818509" y="1037437"/>
            <a:ext cx="114935" cy="1840229"/>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endParaRPr sz="600" spc="0" dirty="0">
              <a:solidFill>
                <a:srgbClr val="808080">
                  <a:alpha val="100000"/>
                </a:srgbClr>
              </a:solidFill>
              <a:latin typeface="Arial" panose="020B0604020202020204"/>
              <a:ea typeface="Arial" panose="020B0604020202020204"/>
              <a:cs typeface="Arial" panose="020B0604020202020204"/>
            </a:endParaRPr>
          </a:p>
        </p:txBody>
      </p:sp>
      <p:sp>
        <p:nvSpPr>
          <p:cNvPr id="723" name="path"/>
          <p:cNvSpPr/>
          <p:nvPr/>
        </p:nvSpPr>
        <p:spPr>
          <a:xfrm>
            <a:off x="3307841" y="2263140"/>
            <a:ext cx="4949952" cy="19811"/>
          </a:xfrm>
          <a:custGeom>
            <a:avLst/>
            <a:gdLst/>
            <a:ahLst/>
            <a:cxnLst/>
            <a:rect l="0" t="0" r="0" b="0"/>
            <a:pathLst>
              <a:path w="7795" h="31">
                <a:moveTo>
                  <a:pt x="0" y="15"/>
                </a:moveTo>
                <a:lnTo>
                  <a:pt x="7795" y="15"/>
                </a:lnTo>
              </a:path>
            </a:pathLst>
          </a:custGeom>
          <a:noFill/>
          <a:ln w="19811" cap="flat">
            <a:solidFill>
              <a:srgbClr val="808080">
                <a:alpha val="100000"/>
              </a:srgbClr>
            </a:solidFill>
            <a:prstDash val="dash"/>
            <a:round/>
          </a:ln>
        </p:spPr>
        <p:txBody>
          <a:bodyPr rtlCol="0"/>
          <a:lstStyle/>
          <a:p>
            <a:pPr algn="ctr"/>
            <a:endParaRPr lang="zh-CN" altLang="en-US"/>
          </a:p>
        </p:txBody>
      </p:sp>
      <p:sp>
        <p:nvSpPr>
          <p:cNvPr id="724" name="path"/>
          <p:cNvSpPr/>
          <p:nvPr/>
        </p:nvSpPr>
        <p:spPr>
          <a:xfrm>
            <a:off x="3307841" y="2718816"/>
            <a:ext cx="4949952" cy="19811"/>
          </a:xfrm>
          <a:custGeom>
            <a:avLst/>
            <a:gdLst/>
            <a:ahLst/>
            <a:cxnLst/>
            <a:rect l="0" t="0" r="0" b="0"/>
            <a:pathLst>
              <a:path w="7795" h="31">
                <a:moveTo>
                  <a:pt x="0" y="15"/>
                </a:moveTo>
                <a:lnTo>
                  <a:pt x="7795" y="15"/>
                </a:lnTo>
              </a:path>
            </a:pathLst>
          </a:custGeom>
          <a:noFill/>
          <a:ln w="19811" cap="flat">
            <a:solidFill>
              <a:srgbClr val="808080">
                <a:alpha val="100000"/>
              </a:srgbClr>
            </a:solidFill>
            <a:prstDash val="dash"/>
            <a:round/>
          </a:ln>
        </p:spPr>
        <p:txBody>
          <a:bodyPr rtlCol="0"/>
          <a:lstStyle/>
          <a:p>
            <a:pPr algn="ctr"/>
            <a:endParaRPr lang="zh-CN" altLang="en-US"/>
          </a:p>
        </p:txBody>
      </p:sp>
      <p:grpSp>
        <p:nvGrpSpPr>
          <p:cNvPr id="148" name="group 148"/>
          <p:cNvGrpSpPr/>
          <p:nvPr/>
        </p:nvGrpSpPr>
        <p:grpSpPr>
          <a:xfrm rot="21600000">
            <a:off x="3297935" y="1912620"/>
            <a:ext cx="266700" cy="266700"/>
            <a:chOff x="0" y="0"/>
            <a:chExt cx="266700" cy="266700"/>
          </a:xfrm>
        </p:grpSpPr>
        <p:sp>
          <p:nvSpPr>
            <p:cNvPr id="725" name="path"/>
            <p:cNvSpPr/>
            <p:nvPr/>
          </p:nvSpPr>
          <p:spPr>
            <a:xfrm>
              <a:off x="9905" y="9905"/>
              <a:ext cx="246888" cy="246888"/>
            </a:xfrm>
            <a:custGeom>
              <a:avLst/>
              <a:gdLst/>
              <a:ahLst/>
              <a:cxnLst/>
              <a:rect l="0" t="0" r="0" b="0"/>
              <a:pathLst>
                <a:path w="388" h="388">
                  <a:moveTo>
                    <a:pt x="0" y="194"/>
                  </a:moveTo>
                  <a:cubicBezTo>
                    <a:pt x="0" y="86"/>
                    <a:pt x="87" y="0"/>
                    <a:pt x="194" y="0"/>
                  </a:cubicBezTo>
                  <a:cubicBezTo>
                    <a:pt x="301" y="0"/>
                    <a:pt x="388" y="86"/>
                    <a:pt x="388" y="194"/>
                  </a:cubicBezTo>
                  <a:cubicBezTo>
                    <a:pt x="388" y="301"/>
                    <a:pt x="301" y="388"/>
                    <a:pt x="194" y="388"/>
                  </a:cubicBezTo>
                  <a:cubicBezTo>
                    <a:pt x="87" y="388"/>
                    <a:pt x="0" y="301"/>
                    <a:pt x="0" y="194"/>
                  </a:cubicBezTo>
                </a:path>
              </a:pathLst>
            </a:custGeom>
            <a:solidFill>
              <a:srgbClr val="0065BD">
                <a:alpha val="100000"/>
              </a:srgbClr>
            </a:solidFill>
            <a:ln cap="flat">
              <a:noFill/>
              <a:prstDash val="solid"/>
              <a:miter lim="0"/>
            </a:ln>
          </p:spPr>
          <p:txBody>
            <a:bodyPr rtlCol="0"/>
            <a:lstStyle/>
            <a:p>
              <a:pPr algn="ctr"/>
              <a:endParaRPr lang="zh-CN" altLang="en-US"/>
            </a:p>
          </p:txBody>
        </p:sp>
        <p:sp>
          <p:nvSpPr>
            <p:cNvPr id="726" name="path"/>
            <p:cNvSpPr/>
            <p:nvPr/>
          </p:nvSpPr>
          <p:spPr>
            <a:xfrm>
              <a:off x="0" y="0"/>
              <a:ext cx="266700" cy="266700"/>
            </a:xfrm>
            <a:custGeom>
              <a:avLst/>
              <a:gdLst/>
              <a:ahLst/>
              <a:cxnLst/>
              <a:rect l="0" t="0" r="0" b="0"/>
              <a:pathLst>
                <a:path w="420" h="420">
                  <a:moveTo>
                    <a:pt x="15" y="209"/>
                  </a:moveTo>
                  <a:cubicBezTo>
                    <a:pt x="15" y="102"/>
                    <a:pt x="102" y="15"/>
                    <a:pt x="210" y="15"/>
                  </a:cubicBezTo>
                  <a:cubicBezTo>
                    <a:pt x="317" y="15"/>
                    <a:pt x="404" y="102"/>
                    <a:pt x="404" y="209"/>
                  </a:cubicBezTo>
                  <a:cubicBezTo>
                    <a:pt x="404" y="317"/>
                    <a:pt x="317" y="404"/>
                    <a:pt x="210" y="404"/>
                  </a:cubicBezTo>
                  <a:cubicBezTo>
                    <a:pt x="102" y="404"/>
                    <a:pt x="15" y="317"/>
                    <a:pt x="15" y="209"/>
                  </a:cubicBezTo>
                </a:path>
              </a:pathLst>
            </a:custGeom>
            <a:noFill/>
            <a:ln w="19811" cap="flat">
              <a:solidFill>
                <a:srgbClr val="FFFFFF">
                  <a:alpha val="100000"/>
                </a:srgbClr>
              </a:solidFill>
              <a:prstDash val="solid"/>
              <a:round/>
            </a:ln>
          </p:spPr>
          <p:txBody>
            <a:bodyPr rtlCol="0"/>
            <a:lstStyle/>
            <a:p>
              <a:pPr algn="ctr"/>
              <a:endParaRPr lang="zh-CN" altLang="en-US"/>
            </a:p>
          </p:txBody>
        </p:sp>
      </p:grpSp>
      <p:grpSp>
        <p:nvGrpSpPr>
          <p:cNvPr id="150" name="group 150"/>
          <p:cNvGrpSpPr/>
          <p:nvPr/>
        </p:nvGrpSpPr>
        <p:grpSpPr>
          <a:xfrm rot="21600000">
            <a:off x="3297935" y="2368296"/>
            <a:ext cx="266700" cy="266700"/>
            <a:chOff x="0" y="0"/>
            <a:chExt cx="266700" cy="266700"/>
          </a:xfrm>
        </p:grpSpPr>
        <p:sp>
          <p:nvSpPr>
            <p:cNvPr id="727" name="path"/>
            <p:cNvSpPr/>
            <p:nvPr/>
          </p:nvSpPr>
          <p:spPr>
            <a:xfrm>
              <a:off x="9905" y="9905"/>
              <a:ext cx="246888" cy="246888"/>
            </a:xfrm>
            <a:custGeom>
              <a:avLst/>
              <a:gdLst/>
              <a:ahLst/>
              <a:cxnLst/>
              <a:rect l="0" t="0" r="0" b="0"/>
              <a:pathLst>
                <a:path w="388" h="388">
                  <a:moveTo>
                    <a:pt x="0" y="194"/>
                  </a:moveTo>
                  <a:cubicBezTo>
                    <a:pt x="0" y="87"/>
                    <a:pt x="87" y="0"/>
                    <a:pt x="194" y="0"/>
                  </a:cubicBezTo>
                  <a:cubicBezTo>
                    <a:pt x="301" y="0"/>
                    <a:pt x="388" y="87"/>
                    <a:pt x="388" y="194"/>
                  </a:cubicBezTo>
                  <a:cubicBezTo>
                    <a:pt x="388" y="301"/>
                    <a:pt x="301" y="388"/>
                    <a:pt x="194" y="388"/>
                  </a:cubicBezTo>
                  <a:cubicBezTo>
                    <a:pt x="87" y="388"/>
                    <a:pt x="0" y="301"/>
                    <a:pt x="0" y="194"/>
                  </a:cubicBezTo>
                </a:path>
              </a:pathLst>
            </a:custGeom>
            <a:solidFill>
              <a:srgbClr val="0065BD">
                <a:alpha val="100000"/>
              </a:srgbClr>
            </a:solidFill>
            <a:ln cap="flat">
              <a:noFill/>
              <a:prstDash val="solid"/>
              <a:miter lim="0"/>
            </a:ln>
          </p:spPr>
          <p:txBody>
            <a:bodyPr rtlCol="0"/>
            <a:lstStyle/>
            <a:p>
              <a:pPr algn="ctr"/>
              <a:endParaRPr lang="zh-CN" altLang="en-US"/>
            </a:p>
          </p:txBody>
        </p:sp>
        <p:sp>
          <p:nvSpPr>
            <p:cNvPr id="728" name="path"/>
            <p:cNvSpPr/>
            <p:nvPr/>
          </p:nvSpPr>
          <p:spPr>
            <a:xfrm>
              <a:off x="0" y="0"/>
              <a:ext cx="266700" cy="266700"/>
            </a:xfrm>
            <a:custGeom>
              <a:avLst/>
              <a:gdLst/>
              <a:ahLst/>
              <a:cxnLst/>
              <a:rect l="0" t="0" r="0" b="0"/>
              <a:pathLst>
                <a:path w="420" h="420">
                  <a:moveTo>
                    <a:pt x="15" y="210"/>
                  </a:moveTo>
                  <a:cubicBezTo>
                    <a:pt x="15" y="102"/>
                    <a:pt x="102" y="15"/>
                    <a:pt x="210" y="15"/>
                  </a:cubicBezTo>
                  <a:cubicBezTo>
                    <a:pt x="317" y="15"/>
                    <a:pt x="404" y="102"/>
                    <a:pt x="404" y="210"/>
                  </a:cubicBezTo>
                  <a:cubicBezTo>
                    <a:pt x="404" y="317"/>
                    <a:pt x="317" y="404"/>
                    <a:pt x="210" y="404"/>
                  </a:cubicBezTo>
                  <a:cubicBezTo>
                    <a:pt x="102" y="404"/>
                    <a:pt x="15" y="317"/>
                    <a:pt x="15" y="210"/>
                  </a:cubicBezTo>
                </a:path>
              </a:pathLst>
            </a:custGeom>
            <a:noFill/>
            <a:ln w="19811" cap="flat">
              <a:solidFill>
                <a:srgbClr val="FFFFFF">
                  <a:alpha val="100000"/>
                </a:srgbClr>
              </a:solidFill>
              <a:prstDash val="solid"/>
              <a:round/>
            </a:ln>
          </p:spPr>
          <p:txBody>
            <a:bodyPr rtlCol="0"/>
            <a:lstStyle/>
            <a:p>
              <a:pPr algn="ctr"/>
              <a:endParaRPr lang="zh-CN" altLang="en-US"/>
            </a:p>
          </p:txBody>
        </p:sp>
      </p:grpSp>
      <p:grpSp>
        <p:nvGrpSpPr>
          <p:cNvPr id="152" name="group 152"/>
          <p:cNvGrpSpPr/>
          <p:nvPr/>
        </p:nvGrpSpPr>
        <p:grpSpPr>
          <a:xfrm rot="21600000">
            <a:off x="3297935" y="2823972"/>
            <a:ext cx="266700" cy="266700"/>
            <a:chOff x="0" y="0"/>
            <a:chExt cx="266700" cy="266700"/>
          </a:xfrm>
        </p:grpSpPr>
        <p:sp>
          <p:nvSpPr>
            <p:cNvPr id="729" name="path"/>
            <p:cNvSpPr/>
            <p:nvPr/>
          </p:nvSpPr>
          <p:spPr>
            <a:xfrm>
              <a:off x="9905" y="9905"/>
              <a:ext cx="246888" cy="246888"/>
            </a:xfrm>
            <a:custGeom>
              <a:avLst/>
              <a:gdLst/>
              <a:ahLst/>
              <a:cxnLst/>
              <a:rect l="0" t="0" r="0" b="0"/>
              <a:pathLst>
                <a:path w="388" h="388">
                  <a:moveTo>
                    <a:pt x="0" y="194"/>
                  </a:moveTo>
                  <a:cubicBezTo>
                    <a:pt x="0" y="86"/>
                    <a:pt x="87" y="0"/>
                    <a:pt x="194" y="0"/>
                  </a:cubicBezTo>
                  <a:cubicBezTo>
                    <a:pt x="301" y="0"/>
                    <a:pt x="388" y="86"/>
                    <a:pt x="388" y="194"/>
                  </a:cubicBezTo>
                  <a:cubicBezTo>
                    <a:pt x="388" y="301"/>
                    <a:pt x="301" y="388"/>
                    <a:pt x="194" y="388"/>
                  </a:cubicBezTo>
                  <a:cubicBezTo>
                    <a:pt x="87" y="388"/>
                    <a:pt x="0" y="301"/>
                    <a:pt x="0" y="194"/>
                  </a:cubicBezTo>
                </a:path>
              </a:pathLst>
            </a:custGeom>
            <a:solidFill>
              <a:srgbClr val="0065BD">
                <a:alpha val="100000"/>
              </a:srgbClr>
            </a:solidFill>
            <a:ln cap="flat">
              <a:noFill/>
              <a:prstDash val="solid"/>
              <a:miter lim="0"/>
            </a:ln>
          </p:spPr>
          <p:txBody>
            <a:bodyPr rtlCol="0"/>
            <a:lstStyle/>
            <a:p>
              <a:pPr algn="ctr"/>
              <a:endParaRPr lang="zh-CN" altLang="en-US"/>
            </a:p>
          </p:txBody>
        </p:sp>
        <p:sp>
          <p:nvSpPr>
            <p:cNvPr id="730" name="path"/>
            <p:cNvSpPr/>
            <p:nvPr/>
          </p:nvSpPr>
          <p:spPr>
            <a:xfrm>
              <a:off x="0" y="0"/>
              <a:ext cx="266700" cy="266700"/>
            </a:xfrm>
            <a:custGeom>
              <a:avLst/>
              <a:gdLst/>
              <a:ahLst/>
              <a:cxnLst/>
              <a:rect l="0" t="0" r="0" b="0"/>
              <a:pathLst>
                <a:path w="420" h="420">
                  <a:moveTo>
                    <a:pt x="15" y="210"/>
                  </a:moveTo>
                  <a:cubicBezTo>
                    <a:pt x="15" y="102"/>
                    <a:pt x="102" y="15"/>
                    <a:pt x="210" y="15"/>
                  </a:cubicBezTo>
                  <a:cubicBezTo>
                    <a:pt x="317" y="15"/>
                    <a:pt x="404" y="102"/>
                    <a:pt x="404" y="210"/>
                  </a:cubicBezTo>
                  <a:cubicBezTo>
                    <a:pt x="404" y="317"/>
                    <a:pt x="317" y="404"/>
                    <a:pt x="210" y="404"/>
                  </a:cubicBezTo>
                  <a:cubicBezTo>
                    <a:pt x="102" y="404"/>
                    <a:pt x="15" y="317"/>
                    <a:pt x="15" y="210"/>
                  </a:cubicBezTo>
                </a:path>
              </a:pathLst>
            </a:custGeom>
            <a:noFill/>
            <a:ln w="19811" cap="flat">
              <a:solidFill>
                <a:srgbClr val="FFFFFF">
                  <a:alpha val="100000"/>
                </a:srgbClr>
              </a:solidFill>
              <a:prstDash val="solid"/>
              <a:round/>
            </a:ln>
          </p:spPr>
          <p:txBody>
            <a:bodyPr rtlCol="0"/>
            <a:lstStyle/>
            <a:p>
              <a:pPr algn="ctr"/>
              <a:endParaRPr lang="zh-CN" altLang="en-US"/>
            </a:p>
          </p:txBody>
        </p:sp>
      </p:grpSp>
      <p:grpSp>
        <p:nvGrpSpPr>
          <p:cNvPr id="154" name="group 154"/>
          <p:cNvGrpSpPr/>
          <p:nvPr/>
        </p:nvGrpSpPr>
        <p:grpSpPr>
          <a:xfrm rot="21600000">
            <a:off x="3297935" y="5132832"/>
            <a:ext cx="266700" cy="265175"/>
            <a:chOff x="0" y="0"/>
            <a:chExt cx="266700" cy="265175"/>
          </a:xfrm>
        </p:grpSpPr>
        <p:sp>
          <p:nvSpPr>
            <p:cNvPr id="731" name="path"/>
            <p:cNvSpPr/>
            <p:nvPr/>
          </p:nvSpPr>
          <p:spPr>
            <a:xfrm>
              <a:off x="9905" y="9905"/>
              <a:ext cx="246888" cy="245363"/>
            </a:xfrm>
            <a:custGeom>
              <a:avLst/>
              <a:gdLst/>
              <a:ahLst/>
              <a:cxnLst/>
              <a:rect l="0" t="0" r="0" b="0"/>
              <a:pathLst>
                <a:path w="388" h="386">
                  <a:moveTo>
                    <a:pt x="0" y="193"/>
                  </a:moveTo>
                  <a:cubicBezTo>
                    <a:pt x="0" y="86"/>
                    <a:pt x="87" y="0"/>
                    <a:pt x="194" y="0"/>
                  </a:cubicBezTo>
                  <a:cubicBezTo>
                    <a:pt x="301" y="0"/>
                    <a:pt x="388" y="86"/>
                    <a:pt x="388" y="193"/>
                  </a:cubicBezTo>
                  <a:cubicBezTo>
                    <a:pt x="388" y="300"/>
                    <a:pt x="301" y="386"/>
                    <a:pt x="194" y="386"/>
                  </a:cubicBezTo>
                  <a:cubicBezTo>
                    <a:pt x="87" y="386"/>
                    <a:pt x="0" y="300"/>
                    <a:pt x="0" y="193"/>
                  </a:cubicBezTo>
                </a:path>
              </a:pathLst>
            </a:custGeom>
            <a:solidFill>
              <a:srgbClr val="0065BD">
                <a:alpha val="100000"/>
              </a:srgbClr>
            </a:solidFill>
            <a:ln cap="flat">
              <a:noFill/>
              <a:prstDash val="solid"/>
              <a:miter lim="0"/>
            </a:ln>
          </p:spPr>
          <p:txBody>
            <a:bodyPr rtlCol="0"/>
            <a:lstStyle/>
            <a:p>
              <a:pPr algn="ctr"/>
              <a:endParaRPr lang="zh-CN" altLang="en-US"/>
            </a:p>
          </p:txBody>
        </p:sp>
        <p:sp>
          <p:nvSpPr>
            <p:cNvPr id="732" name="path"/>
            <p:cNvSpPr/>
            <p:nvPr/>
          </p:nvSpPr>
          <p:spPr>
            <a:xfrm>
              <a:off x="0" y="0"/>
              <a:ext cx="266700" cy="265175"/>
            </a:xfrm>
            <a:custGeom>
              <a:avLst/>
              <a:gdLst/>
              <a:ahLst/>
              <a:cxnLst/>
              <a:rect l="0" t="0" r="0" b="0"/>
              <a:pathLst>
                <a:path w="420" h="417">
                  <a:moveTo>
                    <a:pt x="15" y="208"/>
                  </a:moveTo>
                  <a:cubicBezTo>
                    <a:pt x="15" y="101"/>
                    <a:pt x="102" y="15"/>
                    <a:pt x="210" y="15"/>
                  </a:cubicBezTo>
                  <a:cubicBezTo>
                    <a:pt x="317" y="15"/>
                    <a:pt x="404" y="101"/>
                    <a:pt x="404" y="208"/>
                  </a:cubicBezTo>
                  <a:cubicBezTo>
                    <a:pt x="404" y="315"/>
                    <a:pt x="317" y="401"/>
                    <a:pt x="210" y="401"/>
                  </a:cubicBezTo>
                  <a:cubicBezTo>
                    <a:pt x="102" y="401"/>
                    <a:pt x="15" y="315"/>
                    <a:pt x="15" y="208"/>
                  </a:cubicBezTo>
                </a:path>
              </a:pathLst>
            </a:custGeom>
            <a:noFill/>
            <a:ln w="19811" cap="flat">
              <a:solidFill>
                <a:srgbClr val="FFFFFF">
                  <a:alpha val="100000"/>
                </a:srgbClr>
              </a:solidFill>
              <a:prstDash val="solid"/>
              <a:round/>
            </a:ln>
          </p:spPr>
          <p:txBody>
            <a:bodyPr rtlCol="0"/>
            <a:lstStyle/>
            <a:p>
              <a:pPr algn="ctr"/>
              <a:endParaRPr lang="zh-CN" altLang="en-US"/>
            </a:p>
          </p:txBody>
        </p:sp>
      </p:grpSp>
      <p:sp>
        <p:nvSpPr>
          <p:cNvPr id="733" name="textbox 733"/>
          <p:cNvSpPr/>
          <p:nvPr/>
        </p:nvSpPr>
        <p:spPr>
          <a:xfrm>
            <a:off x="8818435" y="4032021"/>
            <a:ext cx="114935" cy="262890"/>
          </a:xfrm>
          <a:prstGeom prst="rect">
            <a:avLst/>
          </a:prstGeom>
        </p:spPr>
        <p:txBody>
          <a:bodyPr vert="eaVert" wrap="square" lIns="0" tIns="0" rIns="0" bIns="0"/>
          <a:lstStyle/>
          <a:p>
            <a:pPr algn="l" rtl="0" eaLnBrk="0">
              <a:lnSpc>
                <a:spcPct val="85000"/>
              </a:lnSpc>
            </a:pPr>
            <a:endParaRPr lang="en-US" altLang="en-US" sz="100" dirty="0"/>
          </a:p>
          <a:p>
            <a:pPr marL="12700" algn="l" rtl="0" eaLnBrk="0">
              <a:lnSpc>
                <a:spcPct val="79000"/>
              </a:lnSpc>
            </a:pPr>
            <a:endParaRPr sz="600" spc="-10" dirty="0">
              <a:solidFill>
                <a:srgbClr val="808080">
                  <a:alpha val="100000"/>
                </a:srgbClr>
              </a:solidFill>
              <a:latin typeface="Arial" panose="020B0604020202020204"/>
              <a:ea typeface="Arial" panose="020B0604020202020204"/>
              <a:cs typeface="Arial" panose="020B0604020202020204"/>
            </a:endParaRPr>
          </a:p>
        </p:txBody>
      </p:sp>
      <p:sp>
        <p:nvSpPr>
          <p:cNvPr id="734" name="textbox 734"/>
          <p:cNvSpPr/>
          <p:nvPr/>
        </p:nvSpPr>
        <p:spPr>
          <a:xfrm>
            <a:off x="3368202" y="2419283"/>
            <a:ext cx="132714" cy="217170"/>
          </a:xfrm>
          <a:prstGeom prst="rect">
            <a:avLst/>
          </a:prstGeom>
        </p:spPr>
        <p:txBody>
          <a:bodyPr vert="horz" wrap="square" lIns="0" tIns="0" rIns="0" bIns="0"/>
          <a:lstStyle/>
          <a:p>
            <a:pPr algn="l" rtl="0" eaLnBrk="0">
              <a:lnSpc>
                <a:spcPct val="80000"/>
              </a:lnSpc>
            </a:pPr>
            <a:endParaRPr lang="en-US" altLang="en-US" sz="100" dirty="0">
              <a:latin typeface="微软雅黑" panose="020B0503020204020204" charset="-122"/>
              <a:ea typeface="微软雅黑" panose="020B0503020204020204" charset="-122"/>
            </a:endParaRPr>
          </a:p>
          <a:p>
            <a:pPr marL="12700" algn="l" rtl="0" eaLnBrk="0">
              <a:lnSpc>
                <a:spcPct val="84000"/>
              </a:lnSpc>
            </a:pPr>
            <a:r>
              <a:rPr sz="1500" spc="0" dirty="0">
                <a:solidFill>
                  <a:srgbClr val="FFFFFF">
                    <a:alpha val="100000"/>
                  </a:srgbClr>
                </a:solidFill>
                <a:latin typeface="微软雅黑" panose="020B0503020204020204" charset="-122"/>
                <a:ea typeface="微软雅黑" panose="020B0503020204020204" charset="-122"/>
                <a:cs typeface="Arial" panose="020B0604020202020204"/>
              </a:rPr>
              <a:t>2</a:t>
            </a:r>
            <a:endParaRPr lang="en-US" altLang="en-US" sz="1500" dirty="0">
              <a:latin typeface="微软雅黑" panose="020B0503020204020204" charset="-122"/>
              <a:ea typeface="微软雅黑" panose="020B0503020204020204" charset="-122"/>
            </a:endParaRPr>
          </a:p>
        </p:txBody>
      </p:sp>
      <p:sp>
        <p:nvSpPr>
          <p:cNvPr id="735" name="textbox 735"/>
          <p:cNvSpPr/>
          <p:nvPr/>
        </p:nvSpPr>
        <p:spPr>
          <a:xfrm>
            <a:off x="3370838" y="2874959"/>
            <a:ext cx="130175" cy="217170"/>
          </a:xfrm>
          <a:prstGeom prst="rect">
            <a:avLst/>
          </a:prstGeom>
        </p:spPr>
        <p:txBody>
          <a:bodyPr vert="horz" wrap="square" lIns="0" tIns="0" rIns="0" bIns="0"/>
          <a:lstStyle/>
          <a:p>
            <a:pPr algn="l" rtl="0" eaLnBrk="0">
              <a:lnSpc>
                <a:spcPct val="80000"/>
              </a:lnSpc>
            </a:pPr>
            <a:endParaRPr lang="en-US" altLang="en-US" sz="100" dirty="0">
              <a:latin typeface="微软雅黑" panose="020B0503020204020204" charset="-122"/>
              <a:ea typeface="微软雅黑" panose="020B0503020204020204" charset="-122"/>
            </a:endParaRPr>
          </a:p>
          <a:p>
            <a:pPr marL="12700" algn="l" rtl="0" eaLnBrk="0">
              <a:lnSpc>
                <a:spcPct val="84000"/>
              </a:lnSpc>
            </a:pPr>
            <a:r>
              <a:rPr sz="1500" spc="0" dirty="0">
                <a:solidFill>
                  <a:srgbClr val="FFFFFF">
                    <a:alpha val="100000"/>
                  </a:srgbClr>
                </a:solidFill>
                <a:latin typeface="微软雅黑" panose="020B0503020204020204" charset="-122"/>
                <a:ea typeface="微软雅黑" panose="020B0503020204020204" charset="-122"/>
                <a:cs typeface="Arial" panose="020B0604020202020204"/>
              </a:rPr>
              <a:t>3</a:t>
            </a:r>
            <a:endParaRPr lang="en-US" altLang="en-US" sz="1500" dirty="0">
              <a:latin typeface="微软雅黑" panose="020B0503020204020204" charset="-122"/>
              <a:ea typeface="微软雅黑" panose="020B0503020204020204" charset="-122"/>
            </a:endParaRPr>
          </a:p>
        </p:txBody>
      </p:sp>
      <p:sp>
        <p:nvSpPr>
          <p:cNvPr id="736" name="textbox 736"/>
          <p:cNvSpPr/>
          <p:nvPr/>
        </p:nvSpPr>
        <p:spPr>
          <a:xfrm>
            <a:off x="3371851" y="5186251"/>
            <a:ext cx="128904" cy="214629"/>
          </a:xfrm>
          <a:prstGeom prst="rect">
            <a:avLst/>
          </a:prstGeom>
        </p:spPr>
        <p:txBody>
          <a:bodyPr vert="horz" wrap="square" lIns="0" tIns="0" rIns="0" bIns="0"/>
          <a:lstStyle/>
          <a:p>
            <a:pPr algn="l" rtl="0" eaLnBrk="0">
              <a:lnSpc>
                <a:spcPct val="79000"/>
              </a:lnSpc>
            </a:pPr>
            <a:endParaRPr lang="en-US" altLang="en-US" sz="100" dirty="0">
              <a:latin typeface="微软雅黑" panose="020B0503020204020204" charset="-122"/>
              <a:ea typeface="微软雅黑" panose="020B0503020204020204" charset="-122"/>
            </a:endParaRPr>
          </a:p>
          <a:p>
            <a:pPr marL="12700" algn="l" rtl="0" eaLnBrk="0">
              <a:lnSpc>
                <a:spcPct val="83000"/>
              </a:lnSpc>
            </a:pPr>
            <a:r>
              <a:rPr sz="1500" spc="0" dirty="0">
                <a:solidFill>
                  <a:srgbClr val="FFFFFF">
                    <a:alpha val="100000"/>
                  </a:srgbClr>
                </a:solidFill>
                <a:latin typeface="微软雅黑" panose="020B0503020204020204" charset="-122"/>
                <a:ea typeface="微软雅黑" panose="020B0503020204020204" charset="-122"/>
                <a:cs typeface="Arial" panose="020B0604020202020204"/>
              </a:rPr>
              <a:t>7</a:t>
            </a:r>
            <a:endParaRPr lang="en-US" altLang="en-US" sz="1500" dirty="0">
              <a:latin typeface="微软雅黑" panose="020B0503020204020204" charset="-122"/>
              <a:ea typeface="微软雅黑" panose="020B0503020204020204" charset="-122"/>
            </a:endParaRPr>
          </a:p>
        </p:txBody>
      </p:sp>
      <p:sp>
        <p:nvSpPr>
          <p:cNvPr id="737" name="textbox 737"/>
          <p:cNvSpPr/>
          <p:nvPr/>
        </p:nvSpPr>
        <p:spPr>
          <a:xfrm>
            <a:off x="3384418" y="1963607"/>
            <a:ext cx="116204" cy="213995"/>
          </a:xfrm>
          <a:prstGeom prst="rect">
            <a:avLst/>
          </a:prstGeom>
        </p:spPr>
        <p:txBody>
          <a:bodyPr vert="horz" wrap="square" lIns="0" tIns="0" rIns="0" bIns="0"/>
          <a:lstStyle/>
          <a:p>
            <a:pPr algn="l" rtl="0" eaLnBrk="0">
              <a:lnSpc>
                <a:spcPct val="88000"/>
              </a:lnSpc>
            </a:pPr>
            <a:endParaRPr lang="en-US" altLang="en-US" sz="100" dirty="0">
              <a:latin typeface="微软雅黑" panose="020B0503020204020204" charset="-122"/>
              <a:ea typeface="微软雅黑" panose="020B0503020204020204" charset="-122"/>
            </a:endParaRPr>
          </a:p>
          <a:p>
            <a:pPr marL="12700" algn="l" rtl="0" eaLnBrk="0">
              <a:lnSpc>
                <a:spcPct val="88000"/>
              </a:lnSpc>
            </a:pPr>
            <a:r>
              <a:rPr sz="1400" spc="-70" dirty="0">
                <a:solidFill>
                  <a:srgbClr val="FFFFFF">
                    <a:alpha val="100000"/>
                  </a:srgbClr>
                </a:solidFill>
                <a:latin typeface="微软雅黑" panose="020B0503020204020204" charset="-122"/>
                <a:ea typeface="微软雅黑" panose="020B0503020204020204" charset="-122"/>
                <a:cs typeface="Arial" panose="020B0604020202020204"/>
              </a:rPr>
              <a:t>1</a:t>
            </a:r>
            <a:endParaRPr lang="en-US" altLang="en-US" sz="1400" dirty="0">
              <a:latin typeface="微软雅黑" panose="020B0503020204020204" charset="-122"/>
              <a:ea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 name="rect"/>
          <p:cNvSpPr/>
          <p:nvPr/>
        </p:nvSpPr>
        <p:spPr>
          <a:xfrm>
            <a:off x="0" y="0"/>
            <a:ext cx="8961119" cy="6720838"/>
          </a:xfrm>
          <a:prstGeom prst="rect">
            <a:avLst/>
          </a:prstGeom>
          <a:solidFill>
            <a:srgbClr val="00ADEF">
              <a:alpha val="100000"/>
            </a:srgbClr>
          </a:solidFill>
          <a:ln cap="flat">
            <a:noFill/>
            <a:prstDash val="solid"/>
            <a:miter lim="0"/>
          </a:ln>
        </p:spPr>
        <p:txBody>
          <a:bodyPr rtlCol="0"/>
          <a:lstStyle/>
          <a:p>
            <a:pPr algn="ctr"/>
            <a:endParaRPr lang="zh-CN" altLang="en-US"/>
          </a:p>
        </p:txBody>
      </p:sp>
      <p:sp>
        <p:nvSpPr>
          <p:cNvPr id="739" name="textbox 739"/>
          <p:cNvSpPr/>
          <p:nvPr/>
        </p:nvSpPr>
        <p:spPr>
          <a:xfrm>
            <a:off x="298490" y="3179602"/>
            <a:ext cx="1759585" cy="420369"/>
          </a:xfrm>
          <a:prstGeom prst="rect">
            <a:avLst/>
          </a:prstGeom>
        </p:spPr>
        <p:txBody>
          <a:bodyPr vert="horz" wrap="square" lIns="0" tIns="0" rIns="0" bIns="0"/>
          <a:lstStyle/>
          <a:p>
            <a:pPr algn="l" rtl="0" eaLnBrk="0">
              <a:lnSpc>
                <a:spcPct val="80000"/>
              </a:lnSpc>
            </a:pPr>
            <a:endParaRPr lang="en-US" altLang="en-US" sz="100" dirty="0">
              <a:latin typeface="微软雅黑" panose="020B0503020204020204" charset="-122"/>
              <a:ea typeface="微软雅黑" panose="020B0503020204020204" charset="-122"/>
            </a:endParaRPr>
          </a:p>
          <a:p>
            <a:pPr marL="12700" algn="l" rtl="0" eaLnBrk="0">
              <a:lnSpc>
                <a:spcPct val="96000"/>
              </a:lnSpc>
            </a:pPr>
            <a:r>
              <a:rPr sz="2700" spc="40" dirty="0">
                <a:solidFill>
                  <a:srgbClr val="FFFFFF">
                    <a:alpha val="100000"/>
                  </a:srgbClr>
                </a:solidFill>
                <a:latin typeface="微软雅黑" panose="020B0503020204020204" charset="-122"/>
                <a:ea typeface="微软雅黑" panose="020B0503020204020204" charset="-122"/>
                <a:cs typeface="楷体" panose="02010609060101010101" charset="-122"/>
              </a:rPr>
              <a:t>大客户</a:t>
            </a:r>
            <a:r>
              <a:rPr sz="2700" spc="30" dirty="0">
                <a:solidFill>
                  <a:srgbClr val="FFFFFF">
                    <a:alpha val="100000"/>
                  </a:srgbClr>
                </a:solidFill>
                <a:latin typeface="微软雅黑" panose="020B0503020204020204" charset="-122"/>
                <a:ea typeface="微软雅黑" panose="020B0503020204020204" charset="-122"/>
                <a:cs typeface="楷体" panose="02010609060101010101" charset="-122"/>
              </a:rPr>
              <a:t>管</a:t>
            </a:r>
            <a:r>
              <a:rPr sz="2700" spc="0" dirty="0">
                <a:solidFill>
                  <a:srgbClr val="FFFFFF">
                    <a:alpha val="100000"/>
                  </a:srgbClr>
                </a:solidFill>
                <a:latin typeface="微软雅黑" panose="020B0503020204020204" charset="-122"/>
                <a:ea typeface="微软雅黑" panose="020B0503020204020204" charset="-122"/>
                <a:cs typeface="楷体" panose="02010609060101010101" charset="-122"/>
              </a:rPr>
              <a:t>理</a:t>
            </a:r>
            <a:endParaRPr lang="en-US" altLang="en-US" sz="2700" dirty="0">
              <a:latin typeface="微软雅黑" panose="020B0503020204020204" charset="-122"/>
              <a:ea typeface="微软雅黑" panose="020B0503020204020204" charset="-122"/>
            </a:endParaRPr>
          </a:p>
        </p:txBody>
      </p:sp>
      <p:sp>
        <p:nvSpPr>
          <p:cNvPr id="740" name="textbox 740"/>
          <p:cNvSpPr/>
          <p:nvPr/>
        </p:nvSpPr>
        <p:spPr>
          <a:xfrm>
            <a:off x="262631" y="2466997"/>
            <a:ext cx="1441450" cy="429894"/>
          </a:xfrm>
          <a:prstGeom prst="rect">
            <a:avLst/>
          </a:prstGeom>
        </p:spPr>
        <p:txBody>
          <a:bodyPr vert="horz" wrap="square" lIns="0" tIns="0" rIns="0" bIns="0"/>
          <a:lstStyle/>
          <a:p>
            <a:pPr algn="l" rtl="0" eaLnBrk="0">
              <a:lnSpc>
                <a:spcPct val="90000"/>
              </a:lnSpc>
            </a:pPr>
            <a:endParaRPr lang="en-US" altLang="en-US" sz="100" dirty="0">
              <a:latin typeface="微软雅黑" panose="020B0503020204020204" charset="-122"/>
              <a:ea typeface="微软雅黑" panose="020B0503020204020204" charset="-122"/>
            </a:endParaRPr>
          </a:p>
          <a:p>
            <a:pPr marL="12700" algn="l" rtl="0" eaLnBrk="0">
              <a:lnSpc>
                <a:spcPct val="98000"/>
              </a:lnSpc>
            </a:pPr>
            <a:r>
              <a:rPr sz="2700" spc="90" dirty="0">
                <a:solidFill>
                  <a:srgbClr val="FFFFFF">
                    <a:alpha val="100000"/>
                  </a:srgbClr>
                </a:solidFill>
                <a:latin typeface="微软雅黑" panose="020B0503020204020204" charset="-122"/>
                <a:ea typeface="微软雅黑" panose="020B0503020204020204" charset="-122"/>
                <a:cs typeface="楷体" panose="02010609060101010101" charset="-122"/>
                <a:hlinkClick r:id="rId1" action="ppaction://hlinksldjump">
                  <a:extLst>
                    <a:ext uri="{DAF060AB-1E55-43B9-8AAB-6FB025537F2F}">
                      <wpsdc:hlinkClr xmlns:wpsdc="http://www.wps.cn/officeDocument/2017/drawingmlCustomData" val="FFFFFF"/>
                      <wpsdc:folHlinkClr xmlns:wpsdc="http://www.wps.cn/officeDocument/2017/drawingmlCustomData" val="FFFFFF"/>
                      <wpsdc:hlinkUnderline xmlns:wpsdc="http://www.wps.cn/officeDocument/2017/drawingmlCustomData" val="0"/>
                    </a:ext>
                  </a:extLst>
                </a:hlinkClick>
              </a:rPr>
              <a:t>客户细</a:t>
            </a:r>
            <a:r>
              <a:rPr sz="2700" spc="70" dirty="0">
                <a:solidFill>
                  <a:srgbClr val="FFFFFF">
                    <a:alpha val="100000"/>
                  </a:srgbClr>
                </a:solidFill>
                <a:latin typeface="微软雅黑" panose="020B0503020204020204" charset="-122"/>
                <a:ea typeface="微软雅黑" panose="020B0503020204020204" charset="-122"/>
                <a:cs typeface="楷体" panose="02010609060101010101" charset="-122"/>
              </a:rPr>
              <a:t>分</a:t>
            </a:r>
            <a:endParaRPr lang="en-US" altLang="en-US" sz="2700" dirty="0">
              <a:latin typeface="微软雅黑" panose="020B0503020204020204" charset="-122"/>
              <a:ea typeface="微软雅黑" panose="020B0503020204020204" charset="-122"/>
            </a:endParaRPr>
          </a:p>
        </p:txBody>
      </p:sp>
      <p:sp>
        <p:nvSpPr>
          <p:cNvPr id="741" name="textbox 741"/>
          <p:cNvSpPr/>
          <p:nvPr/>
        </p:nvSpPr>
        <p:spPr>
          <a:xfrm>
            <a:off x="298527" y="3891302"/>
            <a:ext cx="1405255" cy="429894"/>
          </a:xfrm>
          <a:prstGeom prst="rect">
            <a:avLst/>
          </a:prstGeom>
        </p:spPr>
        <p:txBody>
          <a:bodyPr vert="horz" wrap="square" lIns="0" tIns="0" rIns="0" bIns="0"/>
          <a:lstStyle/>
          <a:p>
            <a:pPr algn="l" rtl="0" eaLnBrk="0">
              <a:lnSpc>
                <a:spcPct val="90000"/>
              </a:lnSpc>
            </a:pPr>
            <a:endParaRPr lang="en-US" altLang="en-US" sz="100" dirty="0">
              <a:latin typeface="微软雅黑" panose="020B0503020204020204" charset="-122"/>
              <a:ea typeface="微软雅黑" panose="020B0503020204020204" charset="-122"/>
            </a:endParaRPr>
          </a:p>
          <a:p>
            <a:pPr marL="12700" algn="l" rtl="0" eaLnBrk="0">
              <a:lnSpc>
                <a:spcPct val="98000"/>
              </a:lnSpc>
            </a:pPr>
            <a:r>
              <a:rPr sz="2700" spc="20" dirty="0">
                <a:solidFill>
                  <a:srgbClr val="FFFFFF">
                    <a:alpha val="100000"/>
                  </a:srgbClr>
                </a:solidFill>
                <a:latin typeface="微软雅黑" panose="020B0503020204020204" charset="-122"/>
                <a:ea typeface="微软雅黑" panose="020B0503020204020204" charset="-122"/>
                <a:cs typeface="楷体" panose="02010609060101010101" charset="-122"/>
                <a:hlinkClick r:id="rId2" action="ppaction://hlinksldjump">
                  <a:extLst>
                    <a:ext uri="{DAF060AB-1E55-43B9-8AAB-6FB025537F2F}">
                      <wpsdc:hlinkClr xmlns:wpsdc="http://www.wps.cn/officeDocument/2017/drawingmlCustomData" val="FFFFFF"/>
                      <wpsdc:folHlinkClr xmlns:wpsdc="http://www.wps.cn/officeDocument/2017/drawingmlCustomData" val="FFFFFF"/>
                      <wpsdc:hlinkUnderline xmlns:wpsdc="http://www.wps.cn/officeDocument/2017/drawingmlCustomData" val="0"/>
                    </a:ext>
                  </a:extLst>
                </a:hlinkClick>
              </a:rPr>
              <a:t>小组讨</a:t>
            </a:r>
            <a:r>
              <a:rPr sz="2700" spc="0" dirty="0">
                <a:solidFill>
                  <a:srgbClr val="FFFFFF">
                    <a:alpha val="100000"/>
                  </a:srgbClr>
                </a:solidFill>
                <a:latin typeface="微软雅黑" panose="020B0503020204020204" charset="-122"/>
                <a:ea typeface="微软雅黑" panose="020B0503020204020204" charset="-122"/>
                <a:cs typeface="楷体" panose="02010609060101010101" charset="-122"/>
              </a:rPr>
              <a:t>论</a:t>
            </a:r>
            <a:endParaRPr lang="en-US" altLang="en-US" sz="2700" dirty="0">
              <a:latin typeface="微软雅黑" panose="020B0503020204020204" charset="-122"/>
              <a:ea typeface="微软雅黑" panose="020B0503020204020204" charset="-122"/>
            </a:endParaRPr>
          </a:p>
        </p:txBody>
      </p:sp>
      <p:sp>
        <p:nvSpPr>
          <p:cNvPr id="742" name="textbox 742"/>
          <p:cNvSpPr/>
          <p:nvPr/>
        </p:nvSpPr>
        <p:spPr>
          <a:xfrm>
            <a:off x="119380" y="279400"/>
            <a:ext cx="1825625" cy="322580"/>
          </a:xfrm>
          <a:prstGeom prst="rect">
            <a:avLst/>
          </a:prstGeom>
        </p:spPr>
        <p:txBody>
          <a:bodyPr vert="horz" wrap="square" lIns="0" tIns="0" rIns="0" bIns="0"/>
          <a:lstStyle/>
          <a:p>
            <a:pPr algn="l" rtl="0" eaLnBrk="0">
              <a:lnSpc>
                <a:spcPct val="77000"/>
              </a:lnSpc>
            </a:pPr>
            <a:endParaRPr lang="en-US" altLang="en-US" sz="100" dirty="0">
              <a:latin typeface="微软雅黑" panose="020B0503020204020204" charset="-122"/>
              <a:ea typeface="微软雅黑" panose="020B0503020204020204" charset="-122"/>
            </a:endParaRPr>
          </a:p>
          <a:p>
            <a:pPr marL="12700" algn="l" rtl="0" eaLnBrk="0">
              <a:lnSpc>
                <a:spcPct val="81000"/>
              </a:lnSpc>
            </a:pPr>
            <a:r>
              <a:rPr sz="2000" spc="-20" dirty="0">
                <a:solidFill>
                  <a:srgbClr val="FFFFFF">
                    <a:alpha val="100000"/>
                  </a:srgbClr>
                </a:solidFill>
                <a:latin typeface="微软雅黑" panose="020B0503020204020204" charset="-122"/>
                <a:ea typeface="微软雅黑" panose="020B0503020204020204" charset="-122"/>
                <a:cs typeface="Arial" panose="020B0604020202020204"/>
              </a:rPr>
              <a:t>Cont</a:t>
            </a:r>
            <a:r>
              <a:rPr sz="2000" spc="-10" dirty="0">
                <a:solidFill>
                  <a:srgbClr val="FFFFFF">
                    <a:alpha val="100000"/>
                  </a:srgbClr>
                </a:solidFill>
                <a:latin typeface="微软雅黑" panose="020B0503020204020204" charset="-122"/>
                <a:ea typeface="微软雅黑" panose="020B0503020204020204" charset="-122"/>
                <a:cs typeface="Arial" panose="020B0604020202020204"/>
              </a:rPr>
              <a:t>e</a:t>
            </a:r>
            <a:r>
              <a:rPr sz="2000" spc="0" dirty="0">
                <a:solidFill>
                  <a:srgbClr val="FFFFFF">
                    <a:alpha val="100000"/>
                  </a:srgbClr>
                </a:solidFill>
                <a:latin typeface="微软雅黑" panose="020B0503020204020204" charset="-122"/>
                <a:ea typeface="微软雅黑" panose="020B0503020204020204" charset="-122"/>
                <a:cs typeface="Arial" panose="020B0604020202020204"/>
              </a:rPr>
              <a:t>nts</a:t>
            </a:r>
            <a:endParaRPr lang="en-US" altLang="en-US" sz="2000" dirty="0">
              <a:latin typeface="微软雅黑" panose="020B0503020204020204" charset="-122"/>
              <a:ea typeface="微软雅黑" panose="020B0503020204020204" charset="-122"/>
            </a:endParaRPr>
          </a:p>
        </p:txBody>
      </p:sp>
      <p:sp>
        <p:nvSpPr>
          <p:cNvPr id="743" name="textbox 743"/>
          <p:cNvSpPr/>
          <p:nvPr/>
        </p:nvSpPr>
        <p:spPr>
          <a:xfrm>
            <a:off x="8818509" y="1037437"/>
            <a:ext cx="114935" cy="1840229"/>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endParaRPr sz="600" spc="0" dirty="0">
              <a:solidFill>
                <a:srgbClr val="808080">
                  <a:alpha val="100000"/>
                </a:srgbClr>
              </a:solidFill>
              <a:latin typeface="Arial" panose="020B0604020202020204"/>
              <a:ea typeface="Arial" panose="020B0604020202020204"/>
              <a:cs typeface="Arial" panose="020B0604020202020204"/>
            </a:endParaRPr>
          </a:p>
        </p:txBody>
      </p:sp>
      <p:sp>
        <p:nvSpPr>
          <p:cNvPr id="744" name="textbox 744"/>
          <p:cNvSpPr/>
          <p:nvPr/>
        </p:nvSpPr>
        <p:spPr>
          <a:xfrm>
            <a:off x="7457883" y="6522553"/>
            <a:ext cx="1234439" cy="124460"/>
          </a:xfrm>
          <a:prstGeom prst="rect">
            <a:avLst/>
          </a:prstGeom>
        </p:spPr>
        <p:txBody>
          <a:bodyPr vert="horz" wrap="square" lIns="0" tIns="0" rIns="0" bIns="0"/>
          <a:lstStyle/>
          <a:p>
            <a:pPr algn="l" rtl="0" eaLnBrk="0">
              <a:lnSpc>
                <a:spcPct val="84000"/>
              </a:lnSpc>
            </a:pPr>
            <a:endParaRPr lang="en-US" altLang="en-US" sz="100" dirty="0"/>
          </a:p>
          <a:p>
            <a:pPr marL="12700" algn="l" rtl="0" eaLnBrk="0">
              <a:lnSpc>
                <a:spcPct val="81000"/>
              </a:lnSpc>
            </a:pPr>
            <a:r>
              <a:rPr sz="800" spc="20" dirty="0">
                <a:solidFill>
                  <a:srgbClr val="FFFFFF">
                    <a:alpha val="100000"/>
                  </a:srgbClr>
                </a:solidFill>
                <a:latin typeface="Arial" panose="020B0604020202020204"/>
                <a:ea typeface="Arial" panose="020B0604020202020204"/>
                <a:cs typeface="Arial" panose="020B0604020202020204"/>
              </a:rPr>
              <a:t>   </a:t>
            </a:r>
            <a:r>
              <a:rPr sz="800" spc="10" dirty="0">
                <a:solidFill>
                  <a:srgbClr val="FFFFFF">
                    <a:alpha val="100000"/>
                  </a:srgbClr>
                </a:solidFill>
                <a:latin typeface="Arial" panose="020B0604020202020204"/>
                <a:ea typeface="Arial" panose="020B0604020202020204"/>
                <a:cs typeface="Arial" panose="020B0604020202020204"/>
              </a:rPr>
              <a:t>1</a:t>
            </a:r>
            <a:r>
              <a:rPr sz="800" spc="0" dirty="0">
                <a:solidFill>
                  <a:srgbClr val="FFFFFF">
                    <a:alpha val="100000"/>
                  </a:srgbClr>
                </a:solidFill>
                <a:latin typeface="Arial" panose="020B0604020202020204"/>
                <a:ea typeface="Arial" panose="020B0604020202020204"/>
                <a:cs typeface="Arial" panose="020B0604020202020204"/>
              </a:rPr>
              <a:t>9</a:t>
            </a:r>
            <a:endParaRPr lang="en-US" altLang="en-US" sz="800" dirty="0"/>
          </a:p>
        </p:txBody>
      </p:sp>
      <p:sp>
        <p:nvSpPr>
          <p:cNvPr id="745" name="path"/>
          <p:cNvSpPr/>
          <p:nvPr/>
        </p:nvSpPr>
        <p:spPr>
          <a:xfrm>
            <a:off x="124968" y="3712464"/>
            <a:ext cx="2075687" cy="9144"/>
          </a:xfrm>
          <a:custGeom>
            <a:avLst/>
            <a:gdLst/>
            <a:ahLst/>
            <a:cxnLst/>
            <a:rect l="0" t="0" r="0" b="0"/>
            <a:pathLst>
              <a:path w="3268" h="14">
                <a:moveTo>
                  <a:pt x="0" y="7"/>
                </a:moveTo>
                <a:lnTo>
                  <a:pt x="3268" y="7"/>
                </a:lnTo>
              </a:path>
            </a:pathLst>
          </a:custGeom>
          <a:noFill/>
          <a:ln w="9143" cap="flat">
            <a:solidFill>
              <a:srgbClr val="FFFFFF">
                <a:alpha val="100000"/>
              </a:srgbClr>
            </a:solidFill>
            <a:prstDash val="solid"/>
            <a:round/>
          </a:ln>
        </p:spPr>
        <p:txBody>
          <a:bodyPr rtlCol="0"/>
          <a:lstStyle/>
          <a:p>
            <a:pPr algn="ctr"/>
            <a:endParaRPr lang="zh-CN" altLang="en-US"/>
          </a:p>
        </p:txBody>
      </p:sp>
      <p:sp>
        <p:nvSpPr>
          <p:cNvPr id="746" name="path"/>
          <p:cNvSpPr/>
          <p:nvPr/>
        </p:nvSpPr>
        <p:spPr>
          <a:xfrm>
            <a:off x="124968" y="3000756"/>
            <a:ext cx="2075687" cy="9143"/>
          </a:xfrm>
          <a:custGeom>
            <a:avLst/>
            <a:gdLst/>
            <a:ahLst/>
            <a:cxnLst/>
            <a:rect l="0" t="0" r="0" b="0"/>
            <a:pathLst>
              <a:path w="3268" h="14">
                <a:moveTo>
                  <a:pt x="3268" y="7"/>
                </a:moveTo>
                <a:lnTo>
                  <a:pt x="0" y="7"/>
                </a:lnTo>
              </a:path>
            </a:pathLst>
          </a:custGeom>
          <a:noFill/>
          <a:ln w="9143" cap="flat">
            <a:solidFill>
              <a:srgbClr val="FFFFFF">
                <a:alpha val="100000"/>
              </a:srgbClr>
            </a:solidFill>
            <a:prstDash val="solid"/>
            <a:round/>
          </a:ln>
        </p:spPr>
        <p:txBody>
          <a:bodyPr rtlCol="0"/>
          <a:lstStyle/>
          <a:p>
            <a:pPr algn="ctr"/>
            <a:endParaRPr lang="zh-CN" altLang="en-US"/>
          </a:p>
        </p:txBody>
      </p:sp>
      <p:sp>
        <p:nvSpPr>
          <p:cNvPr id="747" name="textbox 747"/>
          <p:cNvSpPr/>
          <p:nvPr/>
        </p:nvSpPr>
        <p:spPr>
          <a:xfrm>
            <a:off x="8818435" y="4032021"/>
            <a:ext cx="114935" cy="262890"/>
          </a:xfrm>
          <a:prstGeom prst="rect">
            <a:avLst/>
          </a:prstGeom>
        </p:spPr>
        <p:txBody>
          <a:bodyPr vert="eaVert" wrap="square" lIns="0" tIns="0" rIns="0" bIns="0"/>
          <a:lstStyle/>
          <a:p>
            <a:pPr algn="l" rtl="0" eaLnBrk="0">
              <a:lnSpc>
                <a:spcPct val="85000"/>
              </a:lnSpc>
            </a:pPr>
            <a:endParaRPr lang="en-US" altLang="en-US" sz="100" dirty="0"/>
          </a:p>
          <a:p>
            <a:pPr marL="12700" algn="l" rtl="0" eaLnBrk="0">
              <a:lnSpc>
                <a:spcPct val="79000"/>
              </a:lnSpc>
            </a:pPr>
            <a:endParaRPr sz="600" spc="-10" dirty="0">
              <a:solidFill>
                <a:srgbClr val="808080">
                  <a:alpha val="100000"/>
                </a:srgbClr>
              </a:solidFill>
              <a:latin typeface="Arial" panose="020B0604020202020204"/>
              <a:ea typeface="Arial" panose="020B0604020202020204"/>
              <a:cs typeface="Arial" panose="020B060402020202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48" name="table 748"/>
          <p:cNvGraphicFramePr>
            <a:graphicFrameLocks noGrp="1"/>
          </p:cNvGraphicFramePr>
          <p:nvPr/>
        </p:nvGraphicFramePr>
        <p:xfrm>
          <a:off x="348995" y="1143000"/>
          <a:ext cx="1670050" cy="854075"/>
        </p:xfrm>
        <a:graphic>
          <a:graphicData uri="http://schemas.openxmlformats.org/drawingml/2006/table">
            <a:tbl>
              <a:tblPr/>
              <a:tblGrid>
                <a:gridCol w="1670050"/>
              </a:tblGrid>
              <a:tr h="854075">
                <a:tc>
                  <a:txBody>
                    <a:bodyPr/>
                    <a:lstStyle/>
                    <a:p>
                      <a:pPr algn="l" rtl="0" eaLnBrk="0">
                        <a:lnSpc>
                          <a:spcPct val="110000"/>
                        </a:lnSpc>
                      </a:pPr>
                      <a:endParaRPr lang="en-US" altLang="en-US" sz="1000" dirty="0">
                        <a:latin typeface="微软雅黑" panose="020B0503020204020204" charset="-122"/>
                        <a:ea typeface="微软雅黑" panose="020B0503020204020204" charset="-122"/>
                      </a:endParaRPr>
                    </a:p>
                    <a:p>
                      <a:pPr algn="l" rtl="0" eaLnBrk="0">
                        <a:lnSpc>
                          <a:spcPct val="111000"/>
                        </a:lnSpc>
                      </a:pPr>
                      <a:endParaRPr lang="en-US" altLang="en-US" sz="1000" dirty="0">
                        <a:latin typeface="微软雅黑" panose="020B0503020204020204" charset="-122"/>
                        <a:ea typeface="微软雅黑" panose="020B0503020204020204" charset="-122"/>
                      </a:endParaRPr>
                    </a:p>
                    <a:p>
                      <a:pPr marL="716915" algn="l" rtl="0" eaLnBrk="0">
                        <a:lnSpc>
                          <a:spcPct val="95000"/>
                        </a:lnSpc>
                        <a:spcBef>
                          <a:spcPts val="0"/>
                        </a:spcBef>
                      </a:pPr>
                      <a:r>
                        <a:rPr sz="1400" spc="-4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大客户选</a:t>
                      </a:r>
                      <a:r>
                        <a:rPr sz="1400" spc="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择</a:t>
                      </a:r>
                      <a:endParaRPr lang="en-US" altLang="en-US" sz="1400" dirty="0">
                        <a:latin typeface="微软雅黑" panose="020B0503020204020204" charset="-122"/>
                        <a:ea typeface="微软雅黑" panose="020B0503020204020204" charset="-122"/>
                      </a:endParaRPr>
                    </a:p>
                  </a:txBody>
                  <a:tcPr marL="0" marR="0" marT="0" marB="0">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E6E6E6"/>
                    </a:solidFill>
                  </a:tcPr>
                </a:tc>
              </a:tr>
            </a:tbl>
          </a:graphicData>
        </a:graphic>
      </p:graphicFrame>
      <p:grpSp>
        <p:nvGrpSpPr>
          <p:cNvPr id="156" name="group 156"/>
          <p:cNvGrpSpPr/>
          <p:nvPr/>
        </p:nvGrpSpPr>
        <p:grpSpPr>
          <a:xfrm rot="21600000">
            <a:off x="149352" y="1254252"/>
            <a:ext cx="259079" cy="257555"/>
            <a:chOff x="0" y="0"/>
            <a:chExt cx="259079" cy="257555"/>
          </a:xfrm>
        </p:grpSpPr>
        <p:sp>
          <p:nvSpPr>
            <p:cNvPr id="749" name="path"/>
            <p:cNvSpPr/>
            <p:nvPr/>
          </p:nvSpPr>
          <p:spPr>
            <a:xfrm>
              <a:off x="4571" y="4571"/>
              <a:ext cx="249935" cy="248411"/>
            </a:xfrm>
            <a:custGeom>
              <a:avLst/>
              <a:gdLst/>
              <a:ahLst/>
              <a:cxnLst/>
              <a:rect l="0" t="0" r="0" b="0"/>
              <a:pathLst>
                <a:path w="393" h="391">
                  <a:moveTo>
                    <a:pt x="0" y="195"/>
                  </a:moveTo>
                  <a:cubicBezTo>
                    <a:pt x="0" y="87"/>
                    <a:pt x="88" y="0"/>
                    <a:pt x="196" y="0"/>
                  </a:cubicBezTo>
                  <a:cubicBezTo>
                    <a:pt x="305" y="0"/>
                    <a:pt x="393" y="87"/>
                    <a:pt x="393" y="195"/>
                  </a:cubicBezTo>
                  <a:cubicBezTo>
                    <a:pt x="393" y="303"/>
                    <a:pt x="305" y="391"/>
                    <a:pt x="196" y="391"/>
                  </a:cubicBezTo>
                  <a:cubicBezTo>
                    <a:pt x="88" y="391"/>
                    <a:pt x="0" y="303"/>
                    <a:pt x="0" y="195"/>
                  </a:cubicBezTo>
                </a:path>
              </a:pathLst>
            </a:custGeom>
            <a:solidFill>
              <a:srgbClr val="0065BD">
                <a:alpha val="100000"/>
              </a:srgbClr>
            </a:solidFill>
            <a:ln cap="flat">
              <a:noFill/>
              <a:prstDash val="solid"/>
              <a:miter lim="0"/>
            </a:ln>
          </p:spPr>
          <p:txBody>
            <a:bodyPr rtlCol="0"/>
            <a:lstStyle/>
            <a:p>
              <a:pPr algn="ctr"/>
              <a:endParaRPr lang="zh-CN" altLang="en-US"/>
            </a:p>
          </p:txBody>
        </p:sp>
        <p:sp>
          <p:nvSpPr>
            <p:cNvPr id="750" name="path"/>
            <p:cNvSpPr/>
            <p:nvPr/>
          </p:nvSpPr>
          <p:spPr>
            <a:xfrm>
              <a:off x="0" y="0"/>
              <a:ext cx="259079" cy="257555"/>
            </a:xfrm>
            <a:custGeom>
              <a:avLst/>
              <a:gdLst/>
              <a:ahLst/>
              <a:cxnLst/>
              <a:rect l="0" t="0" r="0" b="0"/>
              <a:pathLst>
                <a:path w="407" h="405">
                  <a:moveTo>
                    <a:pt x="7" y="202"/>
                  </a:moveTo>
                  <a:cubicBezTo>
                    <a:pt x="7" y="94"/>
                    <a:pt x="95" y="7"/>
                    <a:pt x="203" y="7"/>
                  </a:cubicBezTo>
                  <a:cubicBezTo>
                    <a:pt x="312" y="7"/>
                    <a:pt x="400" y="94"/>
                    <a:pt x="400" y="202"/>
                  </a:cubicBezTo>
                  <a:cubicBezTo>
                    <a:pt x="400" y="310"/>
                    <a:pt x="312" y="398"/>
                    <a:pt x="203" y="398"/>
                  </a:cubicBezTo>
                  <a:cubicBezTo>
                    <a:pt x="95" y="398"/>
                    <a:pt x="7" y="310"/>
                    <a:pt x="7" y="202"/>
                  </a:cubicBezTo>
                </a:path>
              </a:pathLst>
            </a:custGeom>
            <a:noFill/>
            <a:ln w="9143" cap="flat">
              <a:solidFill>
                <a:srgbClr val="808080">
                  <a:alpha val="100000"/>
                </a:srgbClr>
              </a:solidFill>
              <a:prstDash val="solid"/>
              <a:round/>
            </a:ln>
          </p:spPr>
          <p:txBody>
            <a:bodyPr rtlCol="0"/>
            <a:lstStyle/>
            <a:p>
              <a:pPr algn="ctr"/>
              <a:endParaRPr lang="zh-CN" altLang="en-US"/>
            </a:p>
          </p:txBody>
        </p:sp>
      </p:grpSp>
      <p:graphicFrame>
        <p:nvGraphicFramePr>
          <p:cNvPr id="751" name="table 751"/>
          <p:cNvGraphicFramePr>
            <a:graphicFrameLocks noGrp="1"/>
          </p:cNvGraphicFramePr>
          <p:nvPr/>
        </p:nvGraphicFramePr>
        <p:xfrm>
          <a:off x="348995" y="2150364"/>
          <a:ext cx="1670050" cy="1081404"/>
        </p:xfrm>
        <a:graphic>
          <a:graphicData uri="http://schemas.openxmlformats.org/drawingml/2006/table">
            <a:tbl>
              <a:tblPr/>
              <a:tblGrid>
                <a:gridCol w="1670050"/>
              </a:tblGrid>
              <a:tr h="1081404">
                <a:tc>
                  <a:txBody>
                    <a:bodyPr/>
                    <a:lstStyle/>
                    <a:p>
                      <a:pPr algn="l" rtl="0" eaLnBrk="0">
                        <a:lnSpc>
                          <a:spcPct val="159000"/>
                        </a:lnSpc>
                      </a:pPr>
                      <a:endParaRPr lang="en-US" altLang="en-US" sz="1000" dirty="0">
                        <a:latin typeface="微软雅黑" panose="020B0503020204020204" charset="-122"/>
                        <a:ea typeface="微软雅黑" panose="020B0503020204020204" charset="-122"/>
                      </a:endParaRPr>
                    </a:p>
                    <a:p>
                      <a:pPr marL="710565" indent="1905" algn="l" rtl="0" eaLnBrk="0">
                        <a:lnSpc>
                          <a:spcPct val="103000"/>
                        </a:lnSpc>
                        <a:spcBef>
                          <a:spcPts val="5"/>
                        </a:spcBef>
                      </a:pPr>
                      <a:r>
                        <a:rPr sz="1400" spc="-30" dirty="0">
                          <a:ln w="5103"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准确的价</a:t>
                      </a:r>
                      <a:r>
                        <a:rPr sz="1400" spc="-10" dirty="0">
                          <a:ln w="5103"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值</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400" spc="-3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定位</a:t>
                      </a:r>
                      <a:endParaRPr lang="en-US" altLang="en-US" sz="1400" dirty="0">
                        <a:latin typeface="微软雅黑" panose="020B0503020204020204" charset="-122"/>
                        <a:ea typeface="微软雅黑" panose="020B0503020204020204" charset="-122"/>
                      </a:endParaRPr>
                    </a:p>
                  </a:txBody>
                  <a:tcPr marL="0" marR="0" marT="0" marB="0">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E6E6E6"/>
                    </a:solidFill>
                  </a:tcPr>
                </a:tc>
              </a:tr>
            </a:tbl>
          </a:graphicData>
        </a:graphic>
      </p:graphicFrame>
      <p:grpSp>
        <p:nvGrpSpPr>
          <p:cNvPr id="158" name="group 158"/>
          <p:cNvGrpSpPr/>
          <p:nvPr/>
        </p:nvGrpSpPr>
        <p:grpSpPr>
          <a:xfrm rot="21600000">
            <a:off x="149352" y="2318004"/>
            <a:ext cx="259079" cy="259079"/>
            <a:chOff x="0" y="0"/>
            <a:chExt cx="259079" cy="259079"/>
          </a:xfrm>
        </p:grpSpPr>
        <p:sp>
          <p:nvSpPr>
            <p:cNvPr id="752" name="path"/>
            <p:cNvSpPr/>
            <p:nvPr/>
          </p:nvSpPr>
          <p:spPr>
            <a:xfrm>
              <a:off x="4571" y="4571"/>
              <a:ext cx="249935" cy="249935"/>
            </a:xfrm>
            <a:custGeom>
              <a:avLst/>
              <a:gdLst/>
              <a:ahLst/>
              <a:cxnLst/>
              <a:rect l="0" t="0" r="0" b="0"/>
              <a:pathLst>
                <a:path w="393" h="393">
                  <a:moveTo>
                    <a:pt x="0" y="196"/>
                  </a:moveTo>
                  <a:cubicBezTo>
                    <a:pt x="0" y="88"/>
                    <a:pt x="88" y="0"/>
                    <a:pt x="196" y="0"/>
                  </a:cubicBezTo>
                  <a:cubicBezTo>
                    <a:pt x="305" y="0"/>
                    <a:pt x="393" y="88"/>
                    <a:pt x="393" y="196"/>
                  </a:cubicBezTo>
                  <a:cubicBezTo>
                    <a:pt x="393" y="305"/>
                    <a:pt x="305" y="393"/>
                    <a:pt x="196" y="393"/>
                  </a:cubicBezTo>
                  <a:cubicBezTo>
                    <a:pt x="88" y="393"/>
                    <a:pt x="0" y="305"/>
                    <a:pt x="0" y="196"/>
                  </a:cubicBezTo>
                </a:path>
              </a:pathLst>
            </a:custGeom>
            <a:solidFill>
              <a:srgbClr val="0065BD">
                <a:alpha val="100000"/>
              </a:srgbClr>
            </a:solidFill>
            <a:ln cap="flat">
              <a:noFill/>
              <a:prstDash val="solid"/>
              <a:miter lim="0"/>
            </a:ln>
          </p:spPr>
          <p:txBody>
            <a:bodyPr rtlCol="0"/>
            <a:lstStyle/>
            <a:p>
              <a:pPr algn="ctr"/>
              <a:endParaRPr lang="zh-CN" altLang="en-US"/>
            </a:p>
          </p:txBody>
        </p:sp>
        <p:sp>
          <p:nvSpPr>
            <p:cNvPr id="753" name="path"/>
            <p:cNvSpPr/>
            <p:nvPr/>
          </p:nvSpPr>
          <p:spPr>
            <a:xfrm>
              <a:off x="0" y="0"/>
              <a:ext cx="259079" cy="259079"/>
            </a:xfrm>
            <a:custGeom>
              <a:avLst/>
              <a:gdLst/>
              <a:ahLst/>
              <a:cxnLst/>
              <a:rect l="0" t="0" r="0" b="0"/>
              <a:pathLst>
                <a:path w="407" h="407">
                  <a:moveTo>
                    <a:pt x="7" y="203"/>
                  </a:moveTo>
                  <a:cubicBezTo>
                    <a:pt x="7" y="95"/>
                    <a:pt x="95" y="7"/>
                    <a:pt x="203" y="7"/>
                  </a:cubicBezTo>
                  <a:cubicBezTo>
                    <a:pt x="312" y="7"/>
                    <a:pt x="400" y="95"/>
                    <a:pt x="400" y="203"/>
                  </a:cubicBezTo>
                  <a:cubicBezTo>
                    <a:pt x="400" y="312"/>
                    <a:pt x="312" y="400"/>
                    <a:pt x="203" y="400"/>
                  </a:cubicBezTo>
                  <a:cubicBezTo>
                    <a:pt x="95" y="400"/>
                    <a:pt x="7" y="312"/>
                    <a:pt x="7" y="203"/>
                  </a:cubicBezTo>
                </a:path>
              </a:pathLst>
            </a:custGeom>
            <a:noFill/>
            <a:ln w="9143" cap="flat">
              <a:solidFill>
                <a:srgbClr val="808080">
                  <a:alpha val="100000"/>
                </a:srgbClr>
              </a:solidFill>
              <a:prstDash val="solid"/>
              <a:round/>
            </a:ln>
          </p:spPr>
          <p:txBody>
            <a:bodyPr rtlCol="0"/>
            <a:lstStyle/>
            <a:p>
              <a:pPr algn="ctr"/>
              <a:endParaRPr lang="zh-CN" altLang="en-US"/>
            </a:p>
          </p:txBody>
        </p:sp>
      </p:grpSp>
      <p:graphicFrame>
        <p:nvGraphicFramePr>
          <p:cNvPr id="754" name="table 754"/>
          <p:cNvGraphicFramePr>
            <a:graphicFrameLocks noGrp="1"/>
          </p:cNvGraphicFramePr>
          <p:nvPr/>
        </p:nvGraphicFramePr>
        <p:xfrm>
          <a:off x="348995" y="3320796"/>
          <a:ext cx="1670050" cy="828675"/>
        </p:xfrm>
        <a:graphic>
          <a:graphicData uri="http://schemas.openxmlformats.org/drawingml/2006/table">
            <a:tbl>
              <a:tblPr/>
              <a:tblGrid>
                <a:gridCol w="1670050"/>
              </a:tblGrid>
              <a:tr h="828675">
                <a:tc>
                  <a:txBody>
                    <a:bodyPr/>
                    <a:lstStyle/>
                    <a:p>
                      <a:pPr algn="l" rtl="0" eaLnBrk="0">
                        <a:lnSpc>
                          <a:spcPct val="129000"/>
                        </a:lnSpc>
                      </a:pPr>
                      <a:endParaRPr lang="en-US" altLang="en-US" sz="1000" dirty="0">
                        <a:latin typeface="微软雅黑" panose="020B0503020204020204" charset="-122"/>
                        <a:ea typeface="微软雅黑" panose="020B0503020204020204" charset="-122"/>
                      </a:endParaRPr>
                    </a:p>
                    <a:p>
                      <a:pPr marL="708660" indent="-10795" algn="l" rtl="0" eaLnBrk="0">
                        <a:lnSpc>
                          <a:spcPct val="102000"/>
                        </a:lnSpc>
                        <a:spcBef>
                          <a:spcPts val="5"/>
                        </a:spcBef>
                      </a:pPr>
                      <a:r>
                        <a:rPr sz="1400" spc="-1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严</a:t>
                      </a:r>
                      <a:r>
                        <a:rPr sz="1400" spc="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格的大客</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400" spc="-3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户规</a:t>
                      </a:r>
                      <a:r>
                        <a:rPr sz="1400" spc="-1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划</a:t>
                      </a:r>
                      <a:endParaRPr lang="en-US" altLang="en-US" sz="1400" dirty="0">
                        <a:latin typeface="微软雅黑" panose="020B0503020204020204" charset="-122"/>
                        <a:ea typeface="微软雅黑" panose="020B0503020204020204" charset="-122"/>
                      </a:endParaRPr>
                    </a:p>
                  </a:txBody>
                  <a:tcPr marL="0" marR="0" marT="0" marB="0">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E6E6E6"/>
                    </a:solidFill>
                  </a:tcPr>
                </a:tc>
              </a:tr>
            </a:tbl>
          </a:graphicData>
        </a:graphic>
      </p:graphicFrame>
      <p:grpSp>
        <p:nvGrpSpPr>
          <p:cNvPr id="160" name="group 160"/>
          <p:cNvGrpSpPr/>
          <p:nvPr/>
        </p:nvGrpSpPr>
        <p:grpSpPr>
          <a:xfrm rot="21600000">
            <a:off x="149352" y="3430524"/>
            <a:ext cx="259079" cy="257555"/>
            <a:chOff x="0" y="0"/>
            <a:chExt cx="259079" cy="257555"/>
          </a:xfrm>
        </p:grpSpPr>
        <p:sp>
          <p:nvSpPr>
            <p:cNvPr id="755" name="path"/>
            <p:cNvSpPr/>
            <p:nvPr/>
          </p:nvSpPr>
          <p:spPr>
            <a:xfrm>
              <a:off x="4571" y="4571"/>
              <a:ext cx="249935" cy="248411"/>
            </a:xfrm>
            <a:custGeom>
              <a:avLst/>
              <a:gdLst/>
              <a:ahLst/>
              <a:cxnLst/>
              <a:rect l="0" t="0" r="0" b="0"/>
              <a:pathLst>
                <a:path w="393" h="391">
                  <a:moveTo>
                    <a:pt x="0" y="195"/>
                  </a:moveTo>
                  <a:cubicBezTo>
                    <a:pt x="0" y="87"/>
                    <a:pt x="88" y="0"/>
                    <a:pt x="196" y="0"/>
                  </a:cubicBezTo>
                  <a:cubicBezTo>
                    <a:pt x="305" y="0"/>
                    <a:pt x="393" y="87"/>
                    <a:pt x="393" y="195"/>
                  </a:cubicBezTo>
                  <a:cubicBezTo>
                    <a:pt x="393" y="303"/>
                    <a:pt x="305" y="391"/>
                    <a:pt x="196" y="391"/>
                  </a:cubicBezTo>
                  <a:cubicBezTo>
                    <a:pt x="88" y="391"/>
                    <a:pt x="0" y="303"/>
                    <a:pt x="0" y="195"/>
                  </a:cubicBezTo>
                </a:path>
              </a:pathLst>
            </a:custGeom>
            <a:solidFill>
              <a:srgbClr val="0065BD">
                <a:alpha val="100000"/>
              </a:srgbClr>
            </a:solidFill>
            <a:ln cap="flat">
              <a:noFill/>
              <a:prstDash val="solid"/>
              <a:miter lim="0"/>
            </a:ln>
          </p:spPr>
          <p:txBody>
            <a:bodyPr rtlCol="0"/>
            <a:lstStyle/>
            <a:p>
              <a:pPr algn="ctr"/>
              <a:endParaRPr lang="zh-CN" altLang="en-US"/>
            </a:p>
          </p:txBody>
        </p:sp>
        <p:sp>
          <p:nvSpPr>
            <p:cNvPr id="756" name="path"/>
            <p:cNvSpPr/>
            <p:nvPr/>
          </p:nvSpPr>
          <p:spPr>
            <a:xfrm>
              <a:off x="0" y="0"/>
              <a:ext cx="259079" cy="257555"/>
            </a:xfrm>
            <a:custGeom>
              <a:avLst/>
              <a:gdLst/>
              <a:ahLst/>
              <a:cxnLst/>
              <a:rect l="0" t="0" r="0" b="0"/>
              <a:pathLst>
                <a:path w="407" h="405">
                  <a:moveTo>
                    <a:pt x="7" y="202"/>
                  </a:moveTo>
                  <a:cubicBezTo>
                    <a:pt x="7" y="94"/>
                    <a:pt x="95" y="7"/>
                    <a:pt x="203" y="7"/>
                  </a:cubicBezTo>
                  <a:cubicBezTo>
                    <a:pt x="312" y="7"/>
                    <a:pt x="400" y="94"/>
                    <a:pt x="400" y="202"/>
                  </a:cubicBezTo>
                  <a:cubicBezTo>
                    <a:pt x="400" y="310"/>
                    <a:pt x="312" y="398"/>
                    <a:pt x="203" y="398"/>
                  </a:cubicBezTo>
                  <a:cubicBezTo>
                    <a:pt x="95" y="398"/>
                    <a:pt x="7" y="310"/>
                    <a:pt x="7" y="202"/>
                  </a:cubicBezTo>
                </a:path>
              </a:pathLst>
            </a:custGeom>
            <a:noFill/>
            <a:ln w="9143" cap="flat">
              <a:solidFill>
                <a:srgbClr val="808080">
                  <a:alpha val="100000"/>
                </a:srgbClr>
              </a:solidFill>
              <a:prstDash val="solid"/>
              <a:round/>
            </a:ln>
          </p:spPr>
          <p:txBody>
            <a:bodyPr rtlCol="0"/>
            <a:lstStyle/>
            <a:p>
              <a:pPr algn="ctr"/>
              <a:endParaRPr lang="zh-CN" altLang="en-US"/>
            </a:p>
          </p:txBody>
        </p:sp>
      </p:grpSp>
      <p:graphicFrame>
        <p:nvGraphicFramePr>
          <p:cNvPr id="757" name="table 757"/>
          <p:cNvGraphicFramePr>
            <a:graphicFrameLocks noGrp="1"/>
          </p:cNvGraphicFramePr>
          <p:nvPr/>
        </p:nvGraphicFramePr>
        <p:xfrm>
          <a:off x="139028" y="261692"/>
          <a:ext cx="8601074" cy="5998843"/>
        </p:xfrm>
        <a:graphic>
          <a:graphicData uri="http://schemas.openxmlformats.org/drawingml/2006/table">
            <a:tbl>
              <a:tblPr/>
              <a:tblGrid>
                <a:gridCol w="1971039"/>
                <a:gridCol w="2369185"/>
                <a:gridCol w="25400"/>
                <a:gridCol w="25400"/>
                <a:gridCol w="4210050"/>
              </a:tblGrid>
              <a:tr h="808354">
                <a:tc gridSpan="5">
                  <a:txBody>
                    <a:bodyPr/>
                    <a:lstStyle/>
                    <a:p>
                      <a:pPr algn="l" rtl="0" eaLnBrk="0">
                        <a:lnSpc>
                          <a:spcPct val="93000"/>
                        </a:lnSpc>
                        <a:spcBef>
                          <a:spcPts val="0"/>
                        </a:spcBef>
                      </a:pPr>
                      <a:r>
                        <a:rPr sz="2000" spc="-20" dirty="0">
                          <a:solidFill>
                            <a:srgbClr val="002960">
                              <a:alpha val="100000"/>
                            </a:srgbClr>
                          </a:solidFill>
                          <a:latin typeface="微软雅黑" panose="020B0503020204020204" charset="-122"/>
                          <a:ea typeface="微软雅黑" panose="020B0503020204020204" charset="-122"/>
                          <a:cs typeface="楷体" panose="02010609060101010101" charset="-122"/>
                        </a:rPr>
                        <a:t>实现成功大客户</a:t>
                      </a:r>
                      <a:r>
                        <a:rPr sz="2000" spc="-10" dirty="0">
                          <a:solidFill>
                            <a:srgbClr val="002960">
                              <a:alpha val="100000"/>
                            </a:srgbClr>
                          </a:solidFill>
                          <a:latin typeface="微软雅黑" panose="020B0503020204020204" charset="-122"/>
                          <a:ea typeface="微软雅黑" panose="020B0503020204020204" charset="-122"/>
                          <a:cs typeface="楷体" panose="02010609060101010101" charset="-122"/>
                        </a:rPr>
                        <a:t>管</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理的关键要素</a:t>
                      </a:r>
                      <a:endParaRPr lang="en-US" altLang="en-US" sz="2000" dirty="0">
                        <a:latin typeface="微软雅黑" panose="020B0503020204020204" charset="-122"/>
                        <a:ea typeface="微软雅黑" panose="020B0503020204020204" charset="-122"/>
                      </a:endParaRPr>
                    </a:p>
                    <a:p>
                      <a:pPr algn="l" rtl="0" eaLnBrk="0">
                        <a:lnSpc>
                          <a:spcPct val="146000"/>
                        </a:lnSpc>
                      </a:pPr>
                      <a:endParaRPr lang="en-US" altLang="en-US" sz="1000" dirty="0">
                        <a:latin typeface="微软雅黑" panose="020B0503020204020204" charset="-122"/>
                        <a:ea typeface="微软雅黑" panose="020B0503020204020204" charset="-122"/>
                      </a:endParaRPr>
                    </a:p>
                    <a:p>
                      <a:pPr algn="l" rtl="0" eaLnBrk="0">
                        <a:lnSpc>
                          <a:spcPct val="118000"/>
                        </a:lnSpc>
                      </a:pPr>
                      <a:endParaRPr lang="en-US" altLang="en-US" sz="300" dirty="0">
                        <a:latin typeface="微软雅黑" panose="020B0503020204020204" charset="-122"/>
                        <a:ea typeface="微软雅黑" panose="020B0503020204020204" charset="-122"/>
                      </a:endParaRPr>
                    </a:p>
                    <a:p>
                      <a:pPr marL="2051050" algn="l" rtl="0" eaLnBrk="0">
                        <a:lnSpc>
                          <a:spcPct val="93000"/>
                        </a:lnSpc>
                        <a:spcBef>
                          <a:spcPts val="0"/>
                        </a:spcBef>
                      </a:pPr>
                      <a:r>
                        <a:rPr sz="1400" spc="-10" dirty="0">
                          <a:ln w="5094"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基本</a:t>
                      </a:r>
                      <a:r>
                        <a:rPr sz="1400" spc="0" dirty="0">
                          <a:ln w="5094"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水平</a:t>
                      </a:r>
                      <a:endParaRPr lang="en-US" altLang="en-US" sz="1400" dirty="0">
                        <a:latin typeface="微软雅黑" panose="020B0503020204020204" charset="-122"/>
                        <a:ea typeface="微软雅黑" panose="020B0503020204020204" charset="-122"/>
                      </a:endParaRPr>
                    </a:p>
                  </a:txBody>
                  <a:tcPr marL="0" marR="0" marT="275" marB="0">
                    <a:lnL>
                      <a:noFill/>
                    </a:lnL>
                    <a:lnR>
                      <a:noFill/>
                    </a:lnR>
                    <a:lnT>
                      <a:noFill/>
                    </a:lnT>
                    <a:lnB w="3175" cap="flat" cmpd="sng" algn="ctr">
                      <a:solidFill>
                        <a:srgbClr val="808080"/>
                      </a:solidFill>
                      <a:prstDash val="solid"/>
                      <a:round/>
                      <a:headEnd type="none" w="med" len="med"/>
                      <a:tailEnd type="none" w="med" len="med"/>
                    </a:lnB>
                  </a:tcPr>
                </a:tc>
                <a:tc hMerge="1">
                  <a:tcPr marL="0" marR="0" marT="0" marB="0">
                    <a:lnL>
                      <a:noFill/>
                    </a:lnL>
                    <a:lnR>
                      <a:noFill/>
                    </a:lnR>
                    <a:lnT>
                      <a:noFill/>
                    </a:lnT>
                    <a:lnB w="3175" cap="flat" cmpd="sng" algn="ctr">
                      <a:solidFill>
                        <a:srgbClr val="808080"/>
                      </a:solidFill>
                      <a:prstDash val="solid"/>
                      <a:round/>
                      <a:headEnd type="none" w="med" len="med"/>
                      <a:tailEnd type="none" w="med" len="med"/>
                    </a:lnB>
                  </a:tcPr>
                </a:tc>
                <a:tc hMerge="1">
                  <a:tcPr marL="0" marR="0" marT="0" marB="0">
                    <a:lnL>
                      <a:noFill/>
                    </a:lnL>
                    <a:lnR>
                      <a:noFill/>
                    </a:lnR>
                    <a:lnT>
                      <a:noFill/>
                    </a:lnT>
                    <a:lnB w="3175" cap="flat" cmpd="sng" algn="ctr">
                      <a:solidFill>
                        <a:srgbClr val="808080"/>
                      </a:solidFill>
                      <a:prstDash val="solid"/>
                      <a:round/>
                      <a:headEnd type="none" w="med" len="med"/>
                      <a:tailEnd type="none" w="med" len="med"/>
                    </a:lnB>
                  </a:tcPr>
                </a:tc>
                <a:tc hMerge="1">
                  <a:tcPr marL="0" marR="0" marT="0" marB="0">
                    <a:lnL>
                      <a:noFill/>
                    </a:lnL>
                    <a:lnR>
                      <a:noFill/>
                    </a:lnR>
                    <a:lnT>
                      <a:noFill/>
                    </a:lnT>
                    <a:lnB w="3175" cap="flat" cmpd="sng" algn="ctr">
                      <a:solidFill>
                        <a:srgbClr val="808080"/>
                      </a:solidFill>
                      <a:prstDash val="solid"/>
                      <a:round/>
                      <a:headEnd type="none" w="med" len="med"/>
                      <a:tailEnd type="none" w="med" len="med"/>
                    </a:lnB>
                  </a:tcPr>
                </a:tc>
                <a:tc hMerge="1">
                  <a:tcPr marL="0" marR="0" marT="0" marB="0">
                    <a:lnL>
                      <a:noFill/>
                    </a:lnL>
                    <a:lnR>
                      <a:noFill/>
                    </a:lnR>
                    <a:lnT>
                      <a:noFill/>
                    </a:lnT>
                    <a:lnB w="3175" cap="flat" cmpd="sng" algn="ctr">
                      <a:solidFill>
                        <a:srgbClr val="808080"/>
                      </a:solidFill>
                      <a:prstDash val="solid"/>
                      <a:round/>
                      <a:headEnd type="none" w="med" len="med"/>
                      <a:tailEnd type="none" w="med" len="med"/>
                    </a:lnB>
                  </a:tcPr>
                </a:tc>
              </a:tr>
              <a:tr h="1008380">
                <a:tc>
                  <a:txBody>
                    <a:bodyPr/>
                    <a:lstStyle/>
                    <a:p>
                      <a:pPr algn="l" rtl="0" eaLnBrk="0">
                        <a:lnSpc>
                          <a:spcPct val="100000"/>
                        </a:lnSpc>
                      </a:pPr>
                      <a:endParaRPr lang="en-US" altLang="en-US" sz="1000" dirty="0">
                        <a:ea typeface="微软雅黑" panose="020B0503020204020204" charset="-122"/>
                      </a:endParaRPr>
                    </a:p>
                  </a:txBody>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a:txBody>
                    <a:bodyPr/>
                    <a:lstStyle/>
                    <a:p>
                      <a:pPr algn="l" rtl="0" eaLnBrk="0">
                        <a:lnSpc>
                          <a:spcPct val="110000"/>
                        </a:lnSpc>
                      </a:pPr>
                      <a:endParaRPr lang="en-US" altLang="en-US" sz="600" dirty="0">
                        <a:latin typeface="微软雅黑" panose="020B0503020204020204" charset="-122"/>
                        <a:ea typeface="微软雅黑" panose="020B0503020204020204" charset="-122"/>
                      </a:endParaRPr>
                    </a:p>
                    <a:p>
                      <a:pPr marL="90805" algn="l" rtl="0" eaLnBrk="0">
                        <a:lnSpc>
                          <a:spcPct val="80000"/>
                        </a:lnSpc>
                        <a:spcBef>
                          <a:spcPts val="5"/>
                        </a:spcBef>
                      </a:pPr>
                      <a:r>
                        <a:rPr sz="1700" spc="3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30" dirty="0">
                          <a:solidFill>
                            <a:srgbClr val="000000">
                              <a:alpha val="100000"/>
                            </a:srgbClr>
                          </a:solidFill>
                          <a:latin typeface="微软雅黑" panose="020B0503020204020204" charset="-122"/>
                          <a:ea typeface="微软雅黑" panose="020B0503020204020204" charset="-122"/>
                          <a:cs typeface="楷体" panose="02010609060101010101" charset="-122"/>
                        </a:rPr>
                        <a:t>保证大客户管理系统</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到位</a:t>
                      </a:r>
                      <a:endParaRPr lang="en-US" altLang="en-US" sz="1400" dirty="0">
                        <a:latin typeface="微软雅黑" panose="020B0503020204020204" charset="-122"/>
                        <a:ea typeface="微软雅黑" panose="020B0503020204020204" charset="-122"/>
                      </a:endParaRPr>
                    </a:p>
                    <a:p>
                      <a:pPr marL="277495" indent="-186690" algn="l" rtl="0" eaLnBrk="0">
                        <a:lnSpc>
                          <a:spcPct val="89000"/>
                        </a:lnSpc>
                        <a:spcBef>
                          <a:spcPts val="105"/>
                        </a:spcBef>
                      </a:pPr>
                      <a:r>
                        <a:rPr sz="1700" spc="3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30" dirty="0">
                          <a:solidFill>
                            <a:srgbClr val="000000">
                              <a:alpha val="100000"/>
                            </a:srgbClr>
                          </a:solidFill>
                          <a:latin typeface="微软雅黑" panose="020B0503020204020204" charset="-122"/>
                          <a:ea typeface="微软雅黑" panose="020B0503020204020204" charset="-122"/>
                          <a:cs typeface="楷体" panose="02010609060101010101" charset="-122"/>
                        </a:rPr>
                        <a:t>根据客户规模确定客</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户优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先级</a:t>
                      </a:r>
                      <a:endParaRPr lang="en-US" altLang="en-US" sz="1400" dirty="0">
                        <a:latin typeface="微软雅黑" panose="020B0503020204020204" charset="-122"/>
                        <a:ea typeface="微软雅黑" panose="020B0503020204020204" charset="-122"/>
                      </a:endParaRPr>
                    </a:p>
                  </a:txBody>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gridSpan="3">
                  <a:txBody>
                    <a:bodyPr/>
                    <a:lstStyle/>
                    <a:p>
                      <a:pPr algn="l" rtl="0" eaLnBrk="0">
                        <a:lnSpc>
                          <a:spcPct val="110000"/>
                        </a:lnSpc>
                      </a:pPr>
                      <a:endParaRPr lang="en-US" altLang="en-US" sz="600" dirty="0">
                        <a:latin typeface="微软雅黑" panose="020B0503020204020204" charset="-122"/>
                        <a:ea typeface="微软雅黑" panose="020B0503020204020204" charset="-122"/>
                      </a:endParaRPr>
                    </a:p>
                    <a:p>
                      <a:pPr marL="194945" algn="l" rtl="0" eaLnBrk="0">
                        <a:lnSpc>
                          <a:spcPct val="80000"/>
                        </a:lnSpc>
                        <a:spcBef>
                          <a:spcPts val="5"/>
                        </a:spcBef>
                      </a:pPr>
                      <a:r>
                        <a:rPr sz="1700" spc="2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将现有及潜在客户都纳入考虑范</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围</a:t>
                      </a:r>
                      <a:endParaRPr lang="en-US" altLang="en-US" sz="1400" dirty="0">
                        <a:latin typeface="微软雅黑" panose="020B0503020204020204" charset="-122"/>
                        <a:ea typeface="微软雅黑" panose="020B0503020204020204" charset="-122"/>
                      </a:endParaRPr>
                    </a:p>
                    <a:p>
                      <a:pPr marL="386715" indent="-191770" algn="l" rtl="0" eaLnBrk="0">
                        <a:lnSpc>
                          <a:spcPct val="87000"/>
                        </a:lnSpc>
                        <a:spcBef>
                          <a:spcPts val="30"/>
                        </a:spcBef>
                      </a:pPr>
                      <a:r>
                        <a:rPr sz="1700" spc="-2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根据全面的指标确立客户优先级： 例如规模</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利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润，战略吻合度，以及供</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应商服务客户的能力</a:t>
                      </a:r>
                      <a:endParaRPr lang="en-US" altLang="en-US" sz="1400" dirty="0">
                        <a:latin typeface="微软雅黑" panose="020B0503020204020204" charset="-122"/>
                        <a:ea typeface="微软雅黑" panose="020B0503020204020204" charset="-122"/>
                      </a:endParaRPr>
                    </a:p>
                  </a:txBody>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hMerge="1">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hMerge="1">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r>
              <a:tr h="1202055">
                <a:tc>
                  <a:txBody>
                    <a:bodyPr/>
                    <a:lstStyle/>
                    <a:p>
                      <a:pPr algn="l" rtl="0" eaLnBrk="0">
                        <a:lnSpc>
                          <a:spcPct val="100000"/>
                        </a:lnSpc>
                      </a:pPr>
                      <a:endParaRPr lang="en-US" altLang="en-US" sz="1000" dirty="0">
                        <a:ea typeface="微软雅黑" panose="020B0503020204020204" charset="-122"/>
                      </a:endParaRPr>
                    </a:p>
                  </a:txBody>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a:txBody>
                    <a:bodyPr/>
                    <a:lstStyle/>
                    <a:p>
                      <a:pPr algn="l" rtl="0" eaLnBrk="0">
                        <a:lnSpc>
                          <a:spcPct val="101000"/>
                        </a:lnSpc>
                      </a:pPr>
                      <a:endParaRPr lang="en-US" altLang="en-US" sz="500" dirty="0">
                        <a:latin typeface="微软雅黑" panose="020B0503020204020204" charset="-122"/>
                        <a:ea typeface="微软雅黑" panose="020B0503020204020204" charset="-122"/>
                      </a:endParaRPr>
                    </a:p>
                    <a:p>
                      <a:pPr marL="274955" indent="-184150" algn="l" rtl="0" eaLnBrk="0">
                        <a:lnSpc>
                          <a:spcPct val="97000"/>
                        </a:lnSpc>
                        <a:spcBef>
                          <a:spcPts val="5"/>
                        </a:spcBef>
                      </a:pPr>
                      <a:r>
                        <a:rPr sz="1700" spc="-2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能够定性</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的</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定位和沟通自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身产品在性</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能、价值方面 </a:t>
                      </a:r>
                      <a:r>
                        <a:rPr sz="1400" spc="-70" dirty="0">
                          <a:solidFill>
                            <a:srgbClr val="000000">
                              <a:alpha val="100000"/>
                            </a:srgbClr>
                          </a:solidFill>
                          <a:latin typeface="微软雅黑" panose="020B0503020204020204" charset="-122"/>
                          <a:ea typeface="微软雅黑" panose="020B0503020204020204" charset="-122"/>
                          <a:cs typeface="楷体" panose="02010609060101010101" charset="-122"/>
                        </a:rPr>
                        <a:t>的优势， 但并不总是</a:t>
                      </a:r>
                      <a:r>
                        <a:rPr sz="1400" spc="-50" dirty="0">
                          <a:solidFill>
                            <a:srgbClr val="000000">
                              <a:alpha val="100000"/>
                            </a:srgbClr>
                          </a:solidFill>
                          <a:latin typeface="微软雅黑" panose="020B0503020204020204" charset="-122"/>
                          <a:ea typeface="微软雅黑" panose="020B0503020204020204" charset="-122"/>
                          <a:cs typeface="楷体" panose="02010609060101010101" charset="-122"/>
                        </a:rPr>
                        <a:t>能</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够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量化</a:t>
                      </a:r>
                      <a:endParaRPr lang="en-US" altLang="en-US" sz="1400" dirty="0">
                        <a:latin typeface="微软雅黑" panose="020B0503020204020204" charset="-122"/>
                        <a:ea typeface="微软雅黑" panose="020B0503020204020204" charset="-122"/>
                      </a:endParaRPr>
                    </a:p>
                  </a:txBody>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gridSpan="3">
                  <a:txBody>
                    <a:bodyPr/>
                    <a:lstStyle/>
                    <a:p>
                      <a:pPr algn="l" rtl="0" eaLnBrk="0">
                        <a:lnSpc>
                          <a:spcPct val="109000"/>
                        </a:lnSpc>
                      </a:pPr>
                      <a:endParaRPr lang="en-US" altLang="en-US" sz="600" dirty="0">
                        <a:latin typeface="微软雅黑" panose="020B0503020204020204" charset="-122"/>
                        <a:ea typeface="微软雅黑" panose="020B0503020204020204" charset="-122"/>
                      </a:endParaRPr>
                    </a:p>
                    <a:p>
                      <a:pPr marL="194945" algn="l" rtl="0" eaLnBrk="0">
                        <a:lnSpc>
                          <a:spcPct val="81000"/>
                        </a:lnSpc>
                        <a:spcBef>
                          <a:spcPts val="5"/>
                        </a:spcBef>
                      </a:pPr>
                      <a:r>
                        <a:rPr sz="1700" spc="3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30" dirty="0">
                          <a:solidFill>
                            <a:srgbClr val="000000">
                              <a:alpha val="100000"/>
                            </a:srgbClr>
                          </a:solidFill>
                          <a:latin typeface="微软雅黑" panose="020B0503020204020204" charset="-122"/>
                          <a:ea typeface="微软雅黑" panose="020B0503020204020204" charset="-122"/>
                          <a:cs typeface="楷体" panose="02010609060101010101" charset="-122"/>
                        </a:rPr>
                        <a:t>对大客户进行全面分</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析</a:t>
                      </a:r>
                      <a:endParaRPr lang="en-US" altLang="en-US" sz="1400" dirty="0">
                        <a:latin typeface="微软雅黑" panose="020B0503020204020204" charset="-122"/>
                        <a:ea typeface="微软雅黑" panose="020B0503020204020204" charset="-122"/>
                      </a:endParaRPr>
                    </a:p>
                    <a:p>
                      <a:pPr marL="387350" indent="-192405" algn="l" rtl="0" eaLnBrk="0">
                        <a:lnSpc>
                          <a:spcPct val="86000"/>
                        </a:lnSpc>
                        <a:spcBef>
                          <a:spcPts val="85"/>
                        </a:spcBef>
                      </a:pPr>
                      <a:r>
                        <a:rPr sz="1700" spc="-2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量化产品重要的性能和价值优势， 并</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根据谈判需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求有选择性的与客户沟通</a:t>
                      </a:r>
                      <a:endParaRPr lang="en-US" altLang="en-US" sz="1400" dirty="0">
                        <a:latin typeface="微软雅黑" panose="020B0503020204020204" charset="-122"/>
                        <a:ea typeface="微软雅黑" panose="020B0503020204020204" charset="-122"/>
                      </a:endParaRPr>
                    </a:p>
                    <a:p>
                      <a:pPr marL="375285" indent="-180340" algn="l" rtl="0" eaLnBrk="0">
                        <a:lnSpc>
                          <a:spcPct val="87000"/>
                        </a:lnSpc>
                        <a:spcBef>
                          <a:spcPts val="140"/>
                        </a:spcBef>
                      </a:pPr>
                      <a:r>
                        <a:rPr sz="1700" spc="-4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40" dirty="0">
                          <a:solidFill>
                            <a:srgbClr val="000000">
                              <a:alpha val="100000"/>
                            </a:srgbClr>
                          </a:solidFill>
                          <a:latin typeface="微软雅黑" panose="020B0503020204020204" charset="-122"/>
                          <a:ea typeface="微软雅黑" panose="020B0503020204020204" charset="-122"/>
                          <a:cs typeface="楷体" panose="02010609060101010101" charset="-122"/>
                        </a:rPr>
                        <a:t>通过内部培训， 提高和客户的议价及谈</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判</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能力；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例如</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通过角色扮演提高谈判能力</a:t>
                      </a:r>
                      <a:endParaRPr lang="en-US" altLang="en-US" sz="1400" dirty="0">
                        <a:latin typeface="微软雅黑" panose="020B0503020204020204" charset="-122"/>
                        <a:ea typeface="微软雅黑" panose="020B0503020204020204" charset="-122"/>
                      </a:endParaRPr>
                    </a:p>
                  </a:txBody>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hMerge="1">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hMerge="1">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r>
              <a:tr h="948055">
                <a:tc>
                  <a:txBody>
                    <a:bodyPr/>
                    <a:lstStyle/>
                    <a:p>
                      <a:pPr algn="l" rtl="0" eaLnBrk="0">
                        <a:lnSpc>
                          <a:spcPct val="100000"/>
                        </a:lnSpc>
                      </a:pPr>
                      <a:endParaRPr lang="en-US" altLang="en-US" sz="1000" dirty="0">
                        <a:ea typeface="微软雅黑" panose="020B0503020204020204" charset="-122"/>
                      </a:endParaRPr>
                    </a:p>
                  </a:txBody>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gridSpan="2">
                  <a:txBody>
                    <a:bodyPr/>
                    <a:lstStyle/>
                    <a:p>
                      <a:pPr algn="l" rtl="0" eaLnBrk="0">
                        <a:lnSpc>
                          <a:spcPct val="109000"/>
                        </a:lnSpc>
                      </a:pPr>
                      <a:endParaRPr lang="en-US" altLang="en-US" sz="400" dirty="0">
                        <a:latin typeface="微软雅黑" panose="020B0503020204020204" charset="-122"/>
                        <a:ea typeface="微软雅黑" panose="020B0503020204020204" charset="-122"/>
                      </a:endParaRPr>
                    </a:p>
                    <a:p>
                      <a:pPr marL="90805" algn="l" rtl="0" eaLnBrk="0">
                        <a:lnSpc>
                          <a:spcPct val="82000"/>
                        </a:lnSpc>
                        <a:spcBef>
                          <a:spcPts val="0"/>
                        </a:spcBef>
                      </a:pPr>
                      <a:r>
                        <a:rPr sz="1700" spc="-2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标准的</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模</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板</a:t>
                      </a:r>
                      <a:endParaRPr lang="en-US" altLang="en-US" sz="1400" dirty="0">
                        <a:latin typeface="微软雅黑" panose="020B0503020204020204" charset="-122"/>
                        <a:ea typeface="微软雅黑" panose="020B0503020204020204" charset="-122"/>
                      </a:endParaRPr>
                    </a:p>
                    <a:p>
                      <a:pPr marL="287020" indent="-196215" algn="l" rtl="0" eaLnBrk="0">
                        <a:lnSpc>
                          <a:spcPct val="86000"/>
                        </a:lnSpc>
                        <a:spcBef>
                          <a:spcPts val="65"/>
                        </a:spcBef>
                      </a:pPr>
                      <a:r>
                        <a:rPr sz="1700" spc="-2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清晰的、</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根</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据业务需求不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断更新的业绩评</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审流程</a:t>
                      </a:r>
                      <a:endParaRPr lang="en-US" altLang="en-US" sz="1400" dirty="0">
                        <a:latin typeface="微软雅黑" panose="020B0503020204020204" charset="-122"/>
                        <a:ea typeface="微软雅黑" panose="020B0503020204020204" charset="-122"/>
                      </a:endParaRPr>
                    </a:p>
                  </a:txBody>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hMerge="1">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gridSpan="2">
                  <a:txBody>
                    <a:bodyPr/>
                    <a:lstStyle/>
                    <a:p>
                      <a:pPr algn="l" rtl="0" eaLnBrk="0">
                        <a:lnSpc>
                          <a:spcPct val="100000"/>
                        </a:lnSpc>
                      </a:pPr>
                      <a:endParaRPr lang="en-US" altLang="en-US" sz="300" dirty="0">
                        <a:latin typeface="微软雅黑" panose="020B0503020204020204" charset="-122"/>
                        <a:ea typeface="微软雅黑" panose="020B0503020204020204" charset="-122"/>
                      </a:endParaRPr>
                    </a:p>
                    <a:p>
                      <a:pPr marL="362585" indent="-180340" algn="l" rtl="0" eaLnBrk="0">
                        <a:lnSpc>
                          <a:spcPct val="94000"/>
                        </a:lnSpc>
                        <a:spcBef>
                          <a:spcPts val="0"/>
                        </a:spcBef>
                      </a:pPr>
                      <a:r>
                        <a:rPr sz="1700" spc="-1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通过制定标准化的工具，不</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断的能力建设，使自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身团</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队有能力对潜在的商机进行系统全面的分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析，</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识别优化不同商机并制定相应的实施规划</a:t>
                      </a:r>
                      <a:endParaRPr lang="en-US" altLang="en-US" sz="1400" dirty="0">
                        <a:latin typeface="微软雅黑" panose="020B0503020204020204" charset="-122"/>
                        <a:ea typeface="微软雅黑" panose="020B0503020204020204" charset="-122"/>
                      </a:endParaRPr>
                    </a:p>
                  </a:txBody>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hMerge="1">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r>
              <a:tr h="1051560">
                <a:tc>
                  <a:txBody>
                    <a:bodyPr/>
                    <a:lstStyle/>
                    <a:p>
                      <a:pPr algn="l" rtl="0" eaLnBrk="0">
                        <a:lnSpc>
                          <a:spcPct val="100000"/>
                        </a:lnSpc>
                      </a:pPr>
                      <a:endParaRPr lang="en-US" altLang="en-US" sz="1000" dirty="0">
                        <a:ea typeface="微软雅黑" panose="020B0503020204020204" charset="-122"/>
                      </a:endParaRPr>
                    </a:p>
                  </a:txBody>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gridSpan="3">
                  <a:txBody>
                    <a:bodyPr/>
                    <a:lstStyle/>
                    <a:p>
                      <a:pPr algn="l" rtl="0" eaLnBrk="0">
                        <a:lnSpc>
                          <a:spcPct val="115000"/>
                        </a:lnSpc>
                      </a:pPr>
                      <a:endParaRPr lang="en-US" altLang="en-US" sz="600" dirty="0">
                        <a:latin typeface="微软雅黑" panose="020B0503020204020204" charset="-122"/>
                        <a:ea typeface="微软雅黑" panose="020B0503020204020204" charset="-122"/>
                      </a:endParaRPr>
                    </a:p>
                    <a:p>
                      <a:pPr marL="273685" indent="-182880" algn="l" rtl="0" eaLnBrk="0">
                        <a:lnSpc>
                          <a:spcPct val="86000"/>
                        </a:lnSpc>
                      </a:pPr>
                      <a:r>
                        <a:rPr sz="1700" spc="-2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大客户团</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队</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收集来自多个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职能部门</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的信息输入</a:t>
                      </a:r>
                      <a:endParaRPr lang="en-US" altLang="en-US" sz="1400" dirty="0">
                        <a:latin typeface="微软雅黑" panose="020B0503020204020204" charset="-122"/>
                        <a:ea typeface="微软雅黑" panose="020B0503020204020204" charset="-122"/>
                      </a:endParaRPr>
                    </a:p>
                    <a:p>
                      <a:pPr marL="281940" indent="-191135" algn="l" rtl="0" eaLnBrk="0">
                        <a:lnSpc>
                          <a:spcPct val="86000"/>
                        </a:lnSpc>
                        <a:spcBef>
                          <a:spcPts val="150"/>
                        </a:spcBef>
                      </a:pPr>
                      <a:r>
                        <a:rPr sz="1700" spc="-1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大客户团队主要注重与客</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户关系的管</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理</a:t>
                      </a:r>
                      <a:endParaRPr lang="en-US" altLang="en-US" sz="1400" dirty="0">
                        <a:latin typeface="微软雅黑" panose="020B0503020204020204" charset="-122"/>
                        <a:ea typeface="微软雅黑" panose="020B0503020204020204" charset="-122"/>
                      </a:endParaRPr>
                    </a:p>
                  </a:txBody>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hMerge="1">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hMerge="1">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a:txBody>
                    <a:bodyPr/>
                    <a:lstStyle/>
                    <a:p>
                      <a:pPr algn="l" rtl="0" eaLnBrk="0">
                        <a:lnSpc>
                          <a:spcPct val="113000"/>
                        </a:lnSpc>
                      </a:pPr>
                      <a:endParaRPr lang="en-US" altLang="en-US" sz="600" dirty="0">
                        <a:latin typeface="微软雅黑" panose="020B0503020204020204" charset="-122"/>
                        <a:ea typeface="微软雅黑" panose="020B0503020204020204" charset="-122"/>
                      </a:endParaRPr>
                    </a:p>
                    <a:p>
                      <a:pPr marL="363855" indent="-194310" algn="l" rtl="0" eaLnBrk="0">
                        <a:lnSpc>
                          <a:spcPct val="86000"/>
                        </a:lnSpc>
                        <a:spcBef>
                          <a:spcPts val="5"/>
                        </a:spcBef>
                      </a:pPr>
                      <a:r>
                        <a:rPr sz="1700" spc="-1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相关的职能部门间都有明确的</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大客户管理职责和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清晰的大客户</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管</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理目标</a:t>
                      </a:r>
                      <a:endParaRPr lang="en-US" altLang="en-US" sz="1400" dirty="0">
                        <a:latin typeface="微软雅黑" panose="020B0503020204020204" charset="-122"/>
                        <a:ea typeface="微软雅黑" panose="020B0503020204020204" charset="-122"/>
                      </a:endParaRPr>
                    </a:p>
                    <a:p>
                      <a:pPr marL="169545" algn="l" rtl="0" eaLnBrk="0">
                        <a:lnSpc>
                          <a:spcPct val="81000"/>
                        </a:lnSpc>
                        <a:spcBef>
                          <a:spcPts val="110"/>
                        </a:spcBef>
                      </a:pPr>
                      <a:r>
                        <a:rPr sz="1700" spc="3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30" dirty="0">
                          <a:solidFill>
                            <a:srgbClr val="000000">
                              <a:alpha val="100000"/>
                            </a:srgbClr>
                          </a:solidFill>
                          <a:latin typeface="微软雅黑" panose="020B0503020204020204" charset="-122"/>
                          <a:ea typeface="微软雅黑" panose="020B0503020204020204" charset="-122"/>
                          <a:cs typeface="楷体" panose="02010609060101010101" charset="-122"/>
                        </a:rPr>
                        <a:t>各部门间联合制定战</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略</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规划</a:t>
                      </a:r>
                      <a:endParaRPr lang="en-US" altLang="en-US" sz="1400" dirty="0">
                        <a:latin typeface="微软雅黑" panose="020B0503020204020204" charset="-122"/>
                        <a:ea typeface="微软雅黑" panose="020B0503020204020204" charset="-122"/>
                      </a:endParaRPr>
                    </a:p>
                    <a:p>
                      <a:pPr marL="169545" algn="l" rtl="0" eaLnBrk="0">
                        <a:lnSpc>
                          <a:spcPct val="80000"/>
                        </a:lnSpc>
                        <a:spcBef>
                          <a:spcPts val="40"/>
                        </a:spcBef>
                      </a:pPr>
                      <a:r>
                        <a:rPr sz="1700" spc="-1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与大客户建立长期的多层</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次的关系</a:t>
                      </a:r>
                      <a:endParaRPr lang="en-US" altLang="en-US" sz="1400" dirty="0">
                        <a:latin typeface="微软雅黑" panose="020B0503020204020204" charset="-122"/>
                        <a:ea typeface="微软雅黑" panose="020B0503020204020204" charset="-122"/>
                      </a:endParaRPr>
                    </a:p>
                  </a:txBody>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r>
              <a:tr h="980439">
                <a:tc>
                  <a:txBody>
                    <a:bodyPr/>
                    <a:lstStyle/>
                    <a:p>
                      <a:pPr algn="l" rtl="0" eaLnBrk="0">
                        <a:lnSpc>
                          <a:spcPct val="100000"/>
                        </a:lnSpc>
                      </a:pPr>
                      <a:endParaRPr lang="en-US" altLang="en-US" sz="1000" dirty="0">
                        <a:ea typeface="微软雅黑" panose="020B0503020204020204" charset="-122"/>
                      </a:endParaRPr>
                    </a:p>
                  </a:txBody>
                  <a:tcPr marL="0" marR="0" marT="0" marB="0">
                    <a:lnL>
                      <a:noFill/>
                    </a:lnL>
                    <a:lnR>
                      <a:noFill/>
                    </a:lnR>
                    <a:lnT w="3175" cap="flat" cmpd="sng" algn="ctr">
                      <a:solidFill>
                        <a:srgbClr val="808080"/>
                      </a:solidFill>
                      <a:prstDash val="solid"/>
                      <a:round/>
                      <a:headEnd type="none" w="med" len="med"/>
                      <a:tailEnd type="none" w="med" len="med"/>
                    </a:lnT>
                    <a:lnB>
                      <a:noFill/>
                    </a:lnB>
                  </a:tcPr>
                </a:tc>
                <a:tc>
                  <a:txBody>
                    <a:bodyPr/>
                    <a:lstStyle/>
                    <a:p>
                      <a:pPr algn="l" rtl="0" eaLnBrk="0">
                        <a:lnSpc>
                          <a:spcPct val="123000"/>
                        </a:lnSpc>
                      </a:pPr>
                      <a:endParaRPr lang="en-US" altLang="en-US" sz="400" dirty="0">
                        <a:latin typeface="微软雅黑" panose="020B0503020204020204" charset="-122"/>
                        <a:ea typeface="微软雅黑" panose="020B0503020204020204" charset="-122"/>
                      </a:endParaRPr>
                    </a:p>
                    <a:p>
                      <a:pPr marL="281940" indent="-191135" algn="l" rtl="0" eaLnBrk="0">
                        <a:lnSpc>
                          <a:spcPct val="96000"/>
                        </a:lnSpc>
                        <a:spcBef>
                          <a:spcPts val="0"/>
                        </a:spcBef>
                      </a:pPr>
                      <a:r>
                        <a:rPr sz="1700" spc="3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30" dirty="0">
                          <a:solidFill>
                            <a:srgbClr val="000000">
                              <a:alpha val="100000"/>
                            </a:srgbClr>
                          </a:solidFill>
                          <a:latin typeface="微软雅黑" panose="020B0503020204020204" charset="-122"/>
                          <a:ea typeface="微软雅黑" panose="020B0503020204020204" charset="-122"/>
                          <a:cs typeface="楷体" panose="02010609060101010101" charset="-122"/>
                        </a:rPr>
                        <a:t>每年跟踪并更新标准</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化的 </a:t>
                      </a:r>
                      <a:r>
                        <a:rPr sz="1400" spc="60" dirty="0">
                          <a:solidFill>
                            <a:srgbClr val="000000">
                              <a:alpha val="100000"/>
                            </a:srgbClr>
                          </a:solidFill>
                          <a:latin typeface="微软雅黑" panose="020B0503020204020204" charset="-122"/>
                          <a:ea typeface="微软雅黑" panose="020B0503020204020204" charset="-122"/>
                          <a:cs typeface="楷体" panose="02010609060101010101" charset="-122"/>
                        </a:rPr>
                        <a:t>关键绩效指标(利润</a:t>
                      </a:r>
                      <a:r>
                        <a:rPr sz="1400" spc="50" dirty="0">
                          <a:solidFill>
                            <a:srgbClr val="000000">
                              <a:alpha val="100000"/>
                            </a:srgbClr>
                          </a:solidFill>
                          <a:latin typeface="微软雅黑" panose="020B0503020204020204" charset="-122"/>
                          <a:ea typeface="微软雅黑" panose="020B0503020204020204" charset="-122"/>
                          <a:cs typeface="楷体" panose="02010609060101010101" charset="-122"/>
                        </a:rPr>
                        <a:t>和</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400" spc="-70" dirty="0">
                          <a:solidFill>
                            <a:srgbClr val="000000">
                              <a:alpha val="100000"/>
                            </a:srgbClr>
                          </a:solidFill>
                          <a:latin typeface="微软雅黑" panose="020B0503020204020204" charset="-122"/>
                          <a:ea typeface="微软雅黑" panose="020B0503020204020204" charset="-122"/>
                          <a:cs typeface="楷体" panose="02010609060101010101" charset="-122"/>
                        </a:rPr>
                        <a:t>收入</a:t>
                      </a:r>
                      <a:r>
                        <a:rPr sz="1400" spc="-50" dirty="0">
                          <a:solidFill>
                            <a:srgbClr val="000000">
                              <a:alpha val="100000"/>
                            </a:srgbClr>
                          </a:solidFill>
                          <a:latin typeface="微软雅黑" panose="020B0503020204020204" charset="-122"/>
                          <a:ea typeface="微软雅黑" panose="020B0503020204020204" charset="-122"/>
                          <a:cs typeface="楷体" panose="02010609060101010101" charset="-122"/>
                        </a:rPr>
                        <a:t>)</a:t>
                      </a:r>
                      <a:endParaRPr lang="en-US" altLang="en-US" sz="1400" dirty="0">
                        <a:latin typeface="微软雅黑" panose="020B0503020204020204" charset="-122"/>
                        <a:ea typeface="微软雅黑" panose="020B0503020204020204" charset="-122"/>
                      </a:endParaRPr>
                    </a:p>
                  </a:txBody>
                  <a:tcPr marL="0" marR="0" marT="0" marB="0">
                    <a:lnL>
                      <a:noFill/>
                    </a:lnL>
                    <a:lnR>
                      <a:noFill/>
                    </a:lnR>
                    <a:lnT w="3175" cap="flat" cmpd="sng" algn="ctr">
                      <a:solidFill>
                        <a:srgbClr val="808080"/>
                      </a:solidFill>
                      <a:prstDash val="solid"/>
                      <a:round/>
                      <a:headEnd type="none" w="med" len="med"/>
                      <a:tailEnd type="none" w="med" len="med"/>
                    </a:lnT>
                    <a:lnB>
                      <a:noFill/>
                    </a:lnB>
                  </a:tcPr>
                </a:tc>
                <a:tc gridSpan="3">
                  <a:txBody>
                    <a:bodyPr/>
                    <a:lstStyle/>
                    <a:p>
                      <a:pPr algn="l" rtl="0" eaLnBrk="0">
                        <a:lnSpc>
                          <a:spcPct val="116000"/>
                        </a:lnSpc>
                      </a:pPr>
                      <a:endParaRPr lang="en-US" altLang="en-US" sz="600" dirty="0">
                        <a:latin typeface="微软雅黑" panose="020B0503020204020204" charset="-122"/>
                        <a:ea typeface="微软雅黑" panose="020B0503020204020204" charset="-122"/>
                      </a:endParaRPr>
                    </a:p>
                    <a:p>
                      <a:pPr marL="389890" indent="-194945" algn="l" rtl="0" eaLnBrk="0">
                        <a:lnSpc>
                          <a:spcPct val="87000"/>
                        </a:lnSpc>
                        <a:spcBef>
                          <a:spcPts val="0"/>
                        </a:spcBef>
                      </a:pPr>
                      <a:r>
                        <a:rPr sz="1700" spc="-2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跟踪因客户而异的关键绩效指标， 包</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括服务层面 </a:t>
                      </a:r>
                      <a:r>
                        <a:rPr sz="1400" spc="-30" dirty="0">
                          <a:solidFill>
                            <a:srgbClr val="000000">
                              <a:alpha val="100000"/>
                            </a:srgbClr>
                          </a:solidFill>
                          <a:latin typeface="微软雅黑" panose="020B0503020204020204" charset="-122"/>
                          <a:ea typeface="微软雅黑" panose="020B0503020204020204" charset="-122"/>
                          <a:cs typeface="楷体" panose="02010609060101010101" charset="-122"/>
                        </a:rPr>
                        <a:t>的指标</a:t>
                      </a:r>
                      <a:endParaRPr lang="en-US" altLang="en-US" sz="1400" dirty="0">
                        <a:latin typeface="微软雅黑" panose="020B0503020204020204" charset="-122"/>
                        <a:ea typeface="微软雅黑" panose="020B0503020204020204" charset="-122"/>
                      </a:endParaRPr>
                    </a:p>
                    <a:p>
                      <a:pPr marL="194945" algn="l" rtl="0" eaLnBrk="0">
                        <a:lnSpc>
                          <a:spcPct val="80000"/>
                        </a:lnSpc>
                        <a:spcBef>
                          <a:spcPts val="70"/>
                        </a:spcBef>
                      </a:pPr>
                      <a:r>
                        <a:rPr sz="1700" spc="-2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大客户与</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高</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级管理层对话</a:t>
                      </a:r>
                      <a:endParaRPr lang="en-US" altLang="en-US" sz="1400" dirty="0">
                        <a:latin typeface="微软雅黑" panose="020B0503020204020204" charset="-122"/>
                        <a:ea typeface="微软雅黑" panose="020B0503020204020204" charset="-122"/>
                      </a:endParaRPr>
                    </a:p>
                    <a:p>
                      <a:pPr marL="194945" algn="l" rtl="0" eaLnBrk="0">
                        <a:lnSpc>
                          <a:spcPct val="82000"/>
                        </a:lnSpc>
                        <a:spcBef>
                          <a:spcPts val="35"/>
                        </a:spcBef>
                      </a:pPr>
                      <a:r>
                        <a:rPr sz="1700" spc="-1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注重为客户提供卓越的价</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值</a:t>
                      </a:r>
                      <a:endParaRPr lang="en-US" altLang="en-US" sz="1400" dirty="0">
                        <a:latin typeface="微软雅黑" panose="020B0503020204020204" charset="-122"/>
                        <a:ea typeface="微软雅黑" panose="020B0503020204020204" charset="-122"/>
                      </a:endParaRPr>
                    </a:p>
                  </a:txBody>
                  <a:tcPr marL="0" marR="0" marT="0" marB="0">
                    <a:lnL>
                      <a:noFill/>
                    </a:lnL>
                    <a:lnR>
                      <a:noFill/>
                    </a:lnR>
                    <a:lnT w="3175" cap="flat" cmpd="sng" algn="ctr">
                      <a:solidFill>
                        <a:srgbClr val="808080"/>
                      </a:solidFill>
                      <a:prstDash val="solid"/>
                      <a:round/>
                      <a:headEnd type="none" w="med" len="med"/>
                      <a:tailEnd type="none" w="med" len="med"/>
                    </a:lnT>
                    <a:lnB>
                      <a:noFill/>
                    </a:lnB>
                  </a:tcPr>
                </a:tc>
                <a:tc hMerge="1">
                  <a:tcPr marL="0" marR="0" marT="0" marB="0">
                    <a:lnL>
                      <a:noFill/>
                    </a:lnL>
                    <a:lnR>
                      <a:noFill/>
                    </a:lnR>
                    <a:lnT w="3175" cap="flat" cmpd="sng" algn="ctr">
                      <a:solidFill>
                        <a:srgbClr val="808080"/>
                      </a:solidFill>
                      <a:prstDash val="solid"/>
                      <a:round/>
                      <a:headEnd type="none" w="med" len="med"/>
                      <a:tailEnd type="none" w="med" len="med"/>
                    </a:lnT>
                    <a:lnB>
                      <a:noFill/>
                    </a:lnB>
                  </a:tcPr>
                </a:tc>
                <a:tc hMerge="1">
                  <a:tcPr marL="0" marR="0" marT="0" marB="0">
                    <a:lnL>
                      <a:noFill/>
                    </a:lnL>
                    <a:lnR>
                      <a:noFill/>
                    </a:lnR>
                    <a:lnT w="3175" cap="flat" cmpd="sng" algn="ctr">
                      <a:solidFill>
                        <a:srgbClr val="808080"/>
                      </a:solidFill>
                      <a:prstDash val="solid"/>
                      <a:round/>
                      <a:headEnd type="none" w="med" len="med"/>
                      <a:tailEnd type="none" w="med" len="med"/>
                    </a:lnT>
                    <a:lnB>
                      <a:noFill/>
                    </a:lnB>
                  </a:tcPr>
                </a:tc>
              </a:tr>
            </a:tbl>
          </a:graphicData>
        </a:graphic>
      </p:graphicFrame>
      <p:graphicFrame>
        <p:nvGraphicFramePr>
          <p:cNvPr id="758" name="table 758"/>
          <p:cNvGraphicFramePr>
            <a:graphicFrameLocks noGrp="1"/>
          </p:cNvGraphicFramePr>
          <p:nvPr/>
        </p:nvGraphicFramePr>
        <p:xfrm>
          <a:off x="348995" y="4299204"/>
          <a:ext cx="1670050" cy="902969"/>
        </p:xfrm>
        <a:graphic>
          <a:graphicData uri="http://schemas.openxmlformats.org/drawingml/2006/table">
            <a:tbl>
              <a:tblPr/>
              <a:tblGrid>
                <a:gridCol w="1670050"/>
              </a:tblGrid>
              <a:tr h="902969">
                <a:tc>
                  <a:txBody>
                    <a:bodyPr/>
                    <a:lstStyle/>
                    <a:p>
                      <a:pPr algn="l" rtl="0" eaLnBrk="0">
                        <a:lnSpc>
                          <a:spcPct val="145000"/>
                        </a:lnSpc>
                      </a:pPr>
                      <a:endParaRPr lang="en-US" altLang="en-US" sz="1000" dirty="0">
                        <a:latin typeface="微软雅黑" panose="020B0503020204020204" charset="-122"/>
                        <a:ea typeface="微软雅黑" panose="020B0503020204020204" charset="-122"/>
                      </a:endParaRPr>
                    </a:p>
                    <a:p>
                      <a:pPr marL="716280" indent="-17145" algn="l" rtl="0" eaLnBrk="0">
                        <a:lnSpc>
                          <a:spcPct val="105000"/>
                        </a:lnSpc>
                        <a:spcBef>
                          <a:spcPts val="5"/>
                        </a:spcBef>
                      </a:pPr>
                      <a:r>
                        <a:rPr sz="1400" spc="-1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合适的</a:t>
                      </a:r>
                      <a:r>
                        <a:rPr sz="1400" spc="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跨职</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400" spc="-4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能团</a:t>
                      </a:r>
                      <a:r>
                        <a:rPr sz="1400" spc="-2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队</a:t>
                      </a:r>
                      <a:endParaRPr lang="en-US" altLang="en-US" sz="1400" dirty="0">
                        <a:latin typeface="微软雅黑" panose="020B0503020204020204" charset="-122"/>
                        <a:ea typeface="微软雅黑" panose="020B0503020204020204" charset="-122"/>
                      </a:endParaRPr>
                    </a:p>
                  </a:txBody>
                  <a:tcPr marL="0" marR="0" marT="0" marB="0">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E6E6E6"/>
                    </a:solidFill>
                  </a:tcPr>
                </a:tc>
              </a:tr>
            </a:tbl>
          </a:graphicData>
        </a:graphic>
      </p:graphicFrame>
      <p:graphicFrame>
        <p:nvGraphicFramePr>
          <p:cNvPr id="759" name="table 759"/>
          <p:cNvGraphicFramePr>
            <a:graphicFrameLocks noGrp="1"/>
          </p:cNvGraphicFramePr>
          <p:nvPr/>
        </p:nvGraphicFramePr>
        <p:xfrm>
          <a:off x="348995" y="5350764"/>
          <a:ext cx="1670050" cy="902969"/>
        </p:xfrm>
        <a:graphic>
          <a:graphicData uri="http://schemas.openxmlformats.org/drawingml/2006/table">
            <a:tbl>
              <a:tblPr/>
              <a:tblGrid>
                <a:gridCol w="1670050"/>
              </a:tblGrid>
              <a:tr h="902969">
                <a:tc>
                  <a:txBody>
                    <a:bodyPr/>
                    <a:lstStyle/>
                    <a:p>
                      <a:pPr algn="l" rtl="0" eaLnBrk="0">
                        <a:lnSpc>
                          <a:spcPct val="153000"/>
                        </a:lnSpc>
                      </a:pPr>
                      <a:endParaRPr lang="en-US" altLang="en-US" sz="1000" dirty="0">
                        <a:latin typeface="微软雅黑" panose="020B0503020204020204" charset="-122"/>
                        <a:ea typeface="微软雅黑" panose="020B0503020204020204" charset="-122"/>
                      </a:endParaRPr>
                    </a:p>
                    <a:p>
                      <a:pPr algn="l" rtl="0" eaLnBrk="0">
                        <a:lnSpc>
                          <a:spcPct val="9000"/>
                        </a:lnSpc>
                      </a:pPr>
                      <a:endParaRPr lang="en-US" altLang="en-US" sz="100" dirty="0">
                        <a:latin typeface="微软雅黑" panose="020B0503020204020204" charset="-122"/>
                        <a:ea typeface="微软雅黑" panose="020B0503020204020204" charset="-122"/>
                      </a:endParaRPr>
                    </a:p>
                    <a:p>
                      <a:pPr marL="709295" indent="2540" algn="l" rtl="0" eaLnBrk="0">
                        <a:lnSpc>
                          <a:spcPct val="102000"/>
                        </a:lnSpc>
                      </a:pPr>
                      <a:r>
                        <a:rPr sz="1400" spc="-3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关注绩效</a:t>
                      </a:r>
                      <a:r>
                        <a:rPr sz="1400" spc="-1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和</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400" spc="-2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可持续性</a:t>
                      </a:r>
                      <a:endParaRPr lang="en-US" altLang="en-US" sz="1400" dirty="0">
                        <a:latin typeface="微软雅黑" panose="020B0503020204020204" charset="-122"/>
                        <a:ea typeface="微软雅黑" panose="020B0503020204020204" charset="-122"/>
                      </a:endParaRPr>
                    </a:p>
                  </a:txBody>
                  <a:tcPr marL="0" marR="0" marT="0" marB="0">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E6E6E6"/>
                    </a:solidFill>
                  </a:tcPr>
                </a:tc>
              </a:tr>
            </a:tbl>
          </a:graphicData>
        </a:graphic>
      </p:graphicFrame>
      <p:sp>
        <p:nvSpPr>
          <p:cNvPr id="760" name="textbox 760"/>
          <p:cNvSpPr/>
          <p:nvPr/>
        </p:nvSpPr>
        <p:spPr>
          <a:xfrm>
            <a:off x="114849" y="6511311"/>
            <a:ext cx="8577580" cy="135889"/>
          </a:xfrm>
          <a:prstGeom prst="rect">
            <a:avLst/>
          </a:prstGeom>
        </p:spPr>
        <p:txBody>
          <a:bodyPr vert="horz" wrap="square" lIns="0" tIns="0" rIns="0" bIns="0"/>
          <a:lstStyle/>
          <a:p>
            <a:pPr algn="l" rtl="0" eaLnBrk="0">
              <a:lnSpc>
                <a:spcPct val="85000"/>
              </a:lnSpc>
            </a:pPr>
            <a:endParaRPr lang="en-US" altLang="en-US" sz="100" dirty="0"/>
          </a:p>
          <a:p>
            <a:pPr marL="12700" algn="l" rtl="0" eaLnBrk="0">
              <a:lnSpc>
                <a:spcPct val="90000"/>
              </a:lnSpc>
            </a:pPr>
            <a:r>
              <a:rPr sz="800" spc="10" dirty="0">
                <a:solidFill>
                  <a:srgbClr val="808080">
                    <a:alpha val="100000"/>
                  </a:srgbClr>
                </a:solidFill>
                <a:latin typeface="楷体" panose="02010609060101010101" charset="-122"/>
                <a:ea typeface="楷体" panose="02010609060101010101" charset="-122"/>
                <a:cs typeface="楷体" panose="02010609060101010101" charset="-122"/>
              </a:rPr>
              <a:t>资料来源：乙方                        </a:t>
            </a:r>
            <a:r>
              <a:rPr sz="800" spc="0" dirty="0">
                <a:solidFill>
                  <a:srgbClr val="808080">
                    <a:alpha val="100000"/>
                  </a:srgbClr>
                </a:solidFill>
                <a:latin typeface="楷体" panose="02010609060101010101" charset="-122"/>
                <a:ea typeface="楷体" panose="02010609060101010101" charset="-122"/>
                <a:cs typeface="楷体" panose="02010609060101010101" charset="-122"/>
              </a:rPr>
              <a:t>                                                                                                        </a:t>
            </a:r>
            <a:r>
              <a:rPr sz="800" spc="0" dirty="0">
                <a:solidFill>
                  <a:srgbClr val="808080">
                    <a:alpha val="100000"/>
                  </a:srgbClr>
                </a:solidFill>
                <a:latin typeface="Arial" panose="020B0604020202020204"/>
                <a:ea typeface="Arial" panose="020B0604020202020204"/>
                <a:cs typeface="Arial" panose="020B0604020202020204"/>
              </a:rPr>
              <a:t>   20</a:t>
            </a:r>
            <a:endParaRPr lang="en-US" altLang="en-US" sz="800" dirty="0"/>
          </a:p>
        </p:txBody>
      </p:sp>
      <p:pic>
        <p:nvPicPr>
          <p:cNvPr id="761" name="picture 761"/>
          <p:cNvPicPr>
            <a:picLocks noChangeAspect="1"/>
          </p:cNvPicPr>
          <p:nvPr/>
        </p:nvPicPr>
        <p:blipFill>
          <a:blip r:embed="rId1"/>
          <a:stretch>
            <a:fillRect/>
          </a:stretch>
        </p:blipFill>
        <p:spPr>
          <a:xfrm rot="21600000">
            <a:off x="480059" y="3437590"/>
            <a:ext cx="459228" cy="602533"/>
          </a:xfrm>
          <a:prstGeom prst="rect">
            <a:avLst/>
          </a:prstGeom>
        </p:spPr>
      </p:pic>
      <p:grpSp>
        <p:nvGrpSpPr>
          <p:cNvPr id="162" name="group 162"/>
          <p:cNvGrpSpPr/>
          <p:nvPr/>
        </p:nvGrpSpPr>
        <p:grpSpPr>
          <a:xfrm rot="21600000">
            <a:off x="471228" y="1290207"/>
            <a:ext cx="464122" cy="565469"/>
            <a:chOff x="0" y="0"/>
            <a:chExt cx="464122" cy="565469"/>
          </a:xfrm>
        </p:grpSpPr>
        <p:sp>
          <p:nvSpPr>
            <p:cNvPr id="762" name="path"/>
            <p:cNvSpPr/>
            <p:nvPr/>
          </p:nvSpPr>
          <p:spPr>
            <a:xfrm>
              <a:off x="78561" y="0"/>
              <a:ext cx="371462" cy="565469"/>
            </a:xfrm>
            <a:custGeom>
              <a:avLst/>
              <a:gdLst/>
              <a:ahLst/>
              <a:cxnLst/>
              <a:rect l="0" t="0" r="0" b="0"/>
              <a:pathLst>
                <a:path w="584" h="890">
                  <a:moveTo>
                    <a:pt x="310" y="853"/>
                  </a:moveTo>
                  <a:lnTo>
                    <a:pt x="301" y="848"/>
                  </a:lnTo>
                  <a:lnTo>
                    <a:pt x="292" y="841"/>
                  </a:lnTo>
                  <a:lnTo>
                    <a:pt x="284" y="835"/>
                  </a:lnTo>
                  <a:lnTo>
                    <a:pt x="275" y="829"/>
                  </a:lnTo>
                  <a:lnTo>
                    <a:pt x="266" y="822"/>
                  </a:lnTo>
                  <a:lnTo>
                    <a:pt x="257" y="814"/>
                  </a:lnTo>
                  <a:lnTo>
                    <a:pt x="249" y="807"/>
                  </a:lnTo>
                  <a:lnTo>
                    <a:pt x="240" y="799"/>
                  </a:lnTo>
                  <a:lnTo>
                    <a:pt x="231" y="791"/>
                  </a:lnTo>
                  <a:lnTo>
                    <a:pt x="223" y="782"/>
                  </a:lnTo>
                  <a:lnTo>
                    <a:pt x="214" y="773"/>
                  </a:lnTo>
                  <a:lnTo>
                    <a:pt x="206" y="764"/>
                  </a:lnTo>
                  <a:lnTo>
                    <a:pt x="197" y="755"/>
                  </a:lnTo>
                  <a:lnTo>
                    <a:pt x="189" y="745"/>
                  </a:lnTo>
                  <a:lnTo>
                    <a:pt x="181" y="735"/>
                  </a:lnTo>
                  <a:lnTo>
                    <a:pt x="173" y="724"/>
                  </a:lnTo>
                  <a:lnTo>
                    <a:pt x="165" y="714"/>
                  </a:lnTo>
                  <a:lnTo>
                    <a:pt x="157" y="703"/>
                  </a:lnTo>
                  <a:lnTo>
                    <a:pt x="149" y="692"/>
                  </a:lnTo>
                  <a:lnTo>
                    <a:pt x="141" y="680"/>
                  </a:lnTo>
                  <a:lnTo>
                    <a:pt x="134" y="669"/>
                  </a:lnTo>
                  <a:lnTo>
                    <a:pt x="126" y="657"/>
                  </a:lnTo>
                  <a:lnTo>
                    <a:pt x="119" y="645"/>
                  </a:lnTo>
                  <a:lnTo>
                    <a:pt x="112" y="632"/>
                  </a:lnTo>
                  <a:lnTo>
                    <a:pt x="105" y="620"/>
                  </a:lnTo>
                  <a:lnTo>
                    <a:pt x="98" y="607"/>
                  </a:lnTo>
                  <a:lnTo>
                    <a:pt x="91" y="594"/>
                  </a:lnTo>
                  <a:lnTo>
                    <a:pt x="84" y="581"/>
                  </a:lnTo>
                  <a:lnTo>
                    <a:pt x="78" y="567"/>
                  </a:lnTo>
                  <a:lnTo>
                    <a:pt x="72" y="553"/>
                  </a:lnTo>
                  <a:lnTo>
                    <a:pt x="66" y="540"/>
                  </a:lnTo>
                  <a:lnTo>
                    <a:pt x="60" y="525"/>
                  </a:lnTo>
                  <a:lnTo>
                    <a:pt x="49" y="496"/>
                  </a:lnTo>
                  <a:lnTo>
                    <a:pt x="38" y="466"/>
                  </a:lnTo>
                  <a:lnTo>
                    <a:pt x="29" y="436"/>
                  </a:lnTo>
                  <a:lnTo>
                    <a:pt x="21" y="407"/>
                  </a:lnTo>
                  <a:lnTo>
                    <a:pt x="15" y="379"/>
                  </a:lnTo>
                  <a:lnTo>
                    <a:pt x="9" y="350"/>
                  </a:lnTo>
                  <a:lnTo>
                    <a:pt x="5" y="323"/>
                  </a:lnTo>
                  <a:lnTo>
                    <a:pt x="2" y="296"/>
                  </a:lnTo>
                  <a:lnTo>
                    <a:pt x="0" y="269"/>
                  </a:lnTo>
                  <a:lnTo>
                    <a:pt x="0" y="244"/>
                  </a:lnTo>
                  <a:lnTo>
                    <a:pt x="0" y="219"/>
                  </a:lnTo>
                  <a:lnTo>
                    <a:pt x="2" y="195"/>
                  </a:lnTo>
                  <a:lnTo>
                    <a:pt x="5" y="172"/>
                  </a:lnTo>
                  <a:lnTo>
                    <a:pt x="9" y="151"/>
                  </a:lnTo>
                  <a:lnTo>
                    <a:pt x="14" y="130"/>
                  </a:lnTo>
                  <a:lnTo>
                    <a:pt x="20" y="111"/>
                  </a:lnTo>
                  <a:lnTo>
                    <a:pt x="24" y="101"/>
                  </a:lnTo>
                  <a:lnTo>
                    <a:pt x="28" y="92"/>
                  </a:lnTo>
                  <a:lnTo>
                    <a:pt x="32" y="83"/>
                  </a:lnTo>
                  <a:lnTo>
                    <a:pt x="37" y="75"/>
                  </a:lnTo>
                  <a:lnTo>
                    <a:pt x="42" y="67"/>
                  </a:lnTo>
                  <a:lnTo>
                    <a:pt x="47" y="59"/>
                  </a:lnTo>
                  <a:lnTo>
                    <a:pt x="52" y="52"/>
                  </a:lnTo>
                  <a:lnTo>
                    <a:pt x="58" y="45"/>
                  </a:lnTo>
                  <a:lnTo>
                    <a:pt x="64" y="39"/>
                  </a:lnTo>
                  <a:lnTo>
                    <a:pt x="70" y="33"/>
                  </a:lnTo>
                  <a:lnTo>
                    <a:pt x="77" y="28"/>
                  </a:lnTo>
                  <a:lnTo>
                    <a:pt x="84" y="22"/>
                  </a:lnTo>
                  <a:lnTo>
                    <a:pt x="91" y="18"/>
                  </a:lnTo>
                  <a:lnTo>
                    <a:pt x="98" y="14"/>
                  </a:lnTo>
                  <a:lnTo>
                    <a:pt x="106" y="10"/>
                  </a:lnTo>
                  <a:lnTo>
                    <a:pt x="114" y="7"/>
                  </a:lnTo>
                  <a:lnTo>
                    <a:pt x="127" y="4"/>
                  </a:lnTo>
                  <a:lnTo>
                    <a:pt x="139" y="1"/>
                  </a:lnTo>
                  <a:lnTo>
                    <a:pt x="152" y="0"/>
                  </a:lnTo>
                  <a:lnTo>
                    <a:pt x="165" y="0"/>
                  </a:lnTo>
                  <a:lnTo>
                    <a:pt x="178" y="1"/>
                  </a:lnTo>
                  <a:lnTo>
                    <a:pt x="191" y="3"/>
                  </a:lnTo>
                  <a:lnTo>
                    <a:pt x="205" y="6"/>
                  </a:lnTo>
                  <a:lnTo>
                    <a:pt x="219" y="10"/>
                  </a:lnTo>
                  <a:lnTo>
                    <a:pt x="233" y="15"/>
                  </a:lnTo>
                  <a:lnTo>
                    <a:pt x="247" y="21"/>
                  </a:lnTo>
                  <a:lnTo>
                    <a:pt x="261" y="28"/>
                  </a:lnTo>
                  <a:lnTo>
                    <a:pt x="275" y="36"/>
                  </a:lnTo>
                  <a:lnTo>
                    <a:pt x="289" y="46"/>
                  </a:lnTo>
                  <a:lnTo>
                    <a:pt x="303" y="56"/>
                  </a:lnTo>
                  <a:lnTo>
                    <a:pt x="317" y="66"/>
                  </a:lnTo>
                  <a:lnTo>
                    <a:pt x="330" y="78"/>
                  </a:lnTo>
                  <a:lnTo>
                    <a:pt x="344" y="90"/>
                  </a:lnTo>
                  <a:lnTo>
                    <a:pt x="358" y="104"/>
                  </a:lnTo>
                  <a:lnTo>
                    <a:pt x="372" y="118"/>
                  </a:lnTo>
                  <a:lnTo>
                    <a:pt x="385" y="133"/>
                  </a:lnTo>
                  <a:lnTo>
                    <a:pt x="398" y="149"/>
                  </a:lnTo>
                  <a:lnTo>
                    <a:pt x="412" y="165"/>
                  </a:lnTo>
                  <a:lnTo>
                    <a:pt x="424" y="182"/>
                  </a:lnTo>
                  <a:lnTo>
                    <a:pt x="437" y="200"/>
                  </a:lnTo>
                  <a:lnTo>
                    <a:pt x="449" y="218"/>
                  </a:lnTo>
                  <a:lnTo>
                    <a:pt x="461" y="237"/>
                  </a:lnTo>
                  <a:lnTo>
                    <a:pt x="473" y="257"/>
                  </a:lnTo>
                  <a:lnTo>
                    <a:pt x="484" y="277"/>
                  </a:lnTo>
                  <a:lnTo>
                    <a:pt x="494" y="298"/>
                  </a:lnTo>
                  <a:lnTo>
                    <a:pt x="505" y="319"/>
                  </a:lnTo>
                  <a:lnTo>
                    <a:pt x="515" y="341"/>
                  </a:lnTo>
                  <a:lnTo>
                    <a:pt x="524" y="364"/>
                  </a:lnTo>
                  <a:lnTo>
                    <a:pt x="534" y="389"/>
                  </a:lnTo>
                  <a:lnTo>
                    <a:pt x="543" y="414"/>
                  </a:lnTo>
                  <a:lnTo>
                    <a:pt x="551" y="440"/>
                  </a:lnTo>
                  <a:lnTo>
                    <a:pt x="559" y="465"/>
                  </a:lnTo>
                  <a:lnTo>
                    <a:pt x="565" y="490"/>
                  </a:lnTo>
                  <a:lnTo>
                    <a:pt x="570" y="514"/>
                  </a:lnTo>
                  <a:lnTo>
                    <a:pt x="575" y="538"/>
                  </a:lnTo>
                  <a:lnTo>
                    <a:pt x="579" y="562"/>
                  </a:lnTo>
                  <a:lnTo>
                    <a:pt x="581" y="585"/>
                  </a:lnTo>
                  <a:lnTo>
                    <a:pt x="583" y="608"/>
                  </a:lnTo>
                  <a:lnTo>
                    <a:pt x="584" y="630"/>
                  </a:lnTo>
                  <a:lnTo>
                    <a:pt x="584" y="651"/>
                  </a:lnTo>
                  <a:lnTo>
                    <a:pt x="584" y="672"/>
                  </a:lnTo>
                  <a:lnTo>
                    <a:pt x="583" y="693"/>
                  </a:lnTo>
                  <a:lnTo>
                    <a:pt x="580" y="712"/>
                  </a:lnTo>
                  <a:lnTo>
                    <a:pt x="577" y="731"/>
                  </a:lnTo>
                  <a:lnTo>
                    <a:pt x="574" y="745"/>
                  </a:lnTo>
                  <a:lnTo>
                    <a:pt x="570" y="759"/>
                  </a:lnTo>
                  <a:lnTo>
                    <a:pt x="566" y="772"/>
                  </a:lnTo>
                  <a:lnTo>
                    <a:pt x="562" y="784"/>
                  </a:lnTo>
                  <a:lnTo>
                    <a:pt x="557" y="796"/>
                  </a:lnTo>
                  <a:lnTo>
                    <a:pt x="552" y="808"/>
                  </a:lnTo>
                  <a:lnTo>
                    <a:pt x="546" y="818"/>
                  </a:lnTo>
                  <a:lnTo>
                    <a:pt x="539" y="828"/>
                  </a:lnTo>
                  <a:lnTo>
                    <a:pt x="532" y="837"/>
                  </a:lnTo>
                  <a:lnTo>
                    <a:pt x="525" y="846"/>
                  </a:lnTo>
                  <a:lnTo>
                    <a:pt x="517" y="854"/>
                  </a:lnTo>
                  <a:lnTo>
                    <a:pt x="508" y="862"/>
                  </a:lnTo>
                  <a:lnTo>
                    <a:pt x="500" y="868"/>
                  </a:lnTo>
                  <a:lnTo>
                    <a:pt x="490" y="874"/>
                  </a:lnTo>
                  <a:lnTo>
                    <a:pt x="480" y="878"/>
                  </a:lnTo>
                  <a:lnTo>
                    <a:pt x="470" y="882"/>
                  </a:lnTo>
                  <a:lnTo>
                    <a:pt x="461" y="885"/>
                  </a:lnTo>
                  <a:lnTo>
                    <a:pt x="452" y="887"/>
                  </a:lnTo>
                  <a:lnTo>
                    <a:pt x="442" y="889"/>
                  </a:lnTo>
                  <a:lnTo>
                    <a:pt x="432" y="890"/>
                  </a:lnTo>
                  <a:lnTo>
                    <a:pt x="423" y="890"/>
                  </a:lnTo>
                  <a:lnTo>
                    <a:pt x="413" y="890"/>
                  </a:lnTo>
                  <a:lnTo>
                    <a:pt x="403" y="889"/>
                  </a:lnTo>
                  <a:lnTo>
                    <a:pt x="393" y="887"/>
                  </a:lnTo>
                  <a:lnTo>
                    <a:pt x="383" y="885"/>
                  </a:lnTo>
                  <a:lnTo>
                    <a:pt x="373" y="882"/>
                  </a:lnTo>
                  <a:lnTo>
                    <a:pt x="362" y="878"/>
                  </a:lnTo>
                  <a:lnTo>
                    <a:pt x="352" y="874"/>
                  </a:lnTo>
                  <a:lnTo>
                    <a:pt x="341" y="870"/>
                  </a:lnTo>
                  <a:lnTo>
                    <a:pt x="331" y="865"/>
                  </a:lnTo>
                  <a:lnTo>
                    <a:pt x="320" y="859"/>
                  </a:lnTo>
                  <a:lnTo>
                    <a:pt x="310" y="853"/>
                  </a:lnTo>
                  <a:close/>
                </a:path>
              </a:pathLst>
            </a:custGeom>
            <a:solidFill>
              <a:srgbClr val="A0D1FF">
                <a:alpha val="100000"/>
              </a:srgbClr>
            </a:solidFill>
            <a:ln cap="flat">
              <a:noFill/>
              <a:prstDash val="solid"/>
              <a:miter lim="0"/>
            </a:ln>
          </p:spPr>
          <p:txBody>
            <a:bodyPr rtlCol="0"/>
            <a:lstStyle/>
            <a:p>
              <a:pPr algn="ctr"/>
              <a:endParaRPr lang="zh-CN" altLang="en-US"/>
            </a:p>
          </p:txBody>
        </p:sp>
        <p:sp>
          <p:nvSpPr>
            <p:cNvPr id="763" name="path"/>
            <p:cNvSpPr/>
            <p:nvPr/>
          </p:nvSpPr>
          <p:spPr>
            <a:xfrm>
              <a:off x="0" y="6475"/>
              <a:ext cx="464122" cy="513757"/>
            </a:xfrm>
            <a:custGeom>
              <a:avLst/>
              <a:gdLst/>
              <a:ahLst/>
              <a:cxnLst/>
              <a:rect l="0" t="0" r="0" b="0"/>
              <a:pathLst>
                <a:path w="730" h="809">
                  <a:moveTo>
                    <a:pt x="413" y="748"/>
                  </a:moveTo>
                  <a:lnTo>
                    <a:pt x="425" y="752"/>
                  </a:lnTo>
                  <a:lnTo>
                    <a:pt x="438" y="753"/>
                  </a:lnTo>
                  <a:lnTo>
                    <a:pt x="452" y="751"/>
                  </a:lnTo>
                  <a:lnTo>
                    <a:pt x="466" y="745"/>
                  </a:lnTo>
                  <a:lnTo>
                    <a:pt x="480" y="736"/>
                  </a:lnTo>
                  <a:lnTo>
                    <a:pt x="494" y="725"/>
                  </a:lnTo>
                  <a:lnTo>
                    <a:pt x="510" y="711"/>
                  </a:lnTo>
                  <a:lnTo>
                    <a:pt x="524" y="695"/>
                  </a:lnTo>
                  <a:lnTo>
                    <a:pt x="539" y="675"/>
                  </a:lnTo>
                  <a:lnTo>
                    <a:pt x="554" y="654"/>
                  </a:lnTo>
                  <a:lnTo>
                    <a:pt x="569" y="630"/>
                  </a:lnTo>
                  <a:lnTo>
                    <a:pt x="583" y="605"/>
                  </a:lnTo>
                  <a:lnTo>
                    <a:pt x="597" y="578"/>
                  </a:lnTo>
                  <a:lnTo>
                    <a:pt x="610" y="549"/>
                  </a:lnTo>
                  <a:lnTo>
                    <a:pt x="623" y="518"/>
                  </a:lnTo>
                  <a:lnTo>
                    <a:pt x="634" y="486"/>
                  </a:lnTo>
                  <a:lnTo>
                    <a:pt x="645" y="453"/>
                  </a:lnTo>
                  <a:lnTo>
                    <a:pt x="654" y="421"/>
                  </a:lnTo>
                  <a:lnTo>
                    <a:pt x="662" y="389"/>
                  </a:lnTo>
                  <a:lnTo>
                    <a:pt x="668" y="358"/>
                  </a:lnTo>
                  <a:lnTo>
                    <a:pt x="673" y="328"/>
                  </a:lnTo>
                  <a:lnTo>
                    <a:pt x="676" y="299"/>
                  </a:lnTo>
                  <a:lnTo>
                    <a:pt x="678" y="271"/>
                  </a:lnTo>
                  <a:lnTo>
                    <a:pt x="679" y="245"/>
                  </a:lnTo>
                  <a:lnTo>
                    <a:pt x="678" y="220"/>
                  </a:lnTo>
                  <a:lnTo>
                    <a:pt x="676" y="198"/>
                  </a:lnTo>
                  <a:lnTo>
                    <a:pt x="672" y="178"/>
                  </a:lnTo>
                  <a:lnTo>
                    <a:pt x="666" y="159"/>
                  </a:lnTo>
                  <a:lnTo>
                    <a:pt x="660" y="143"/>
                  </a:lnTo>
                  <a:lnTo>
                    <a:pt x="652" y="130"/>
                  </a:lnTo>
                  <a:lnTo>
                    <a:pt x="642" y="120"/>
                  </a:lnTo>
                  <a:lnTo>
                    <a:pt x="631" y="113"/>
                  </a:lnTo>
                  <a:lnTo>
                    <a:pt x="627" y="111"/>
                  </a:lnTo>
                  <a:lnTo>
                    <a:pt x="622" y="110"/>
                  </a:lnTo>
                  <a:lnTo>
                    <a:pt x="617" y="108"/>
                  </a:lnTo>
                  <a:lnTo>
                    <a:pt x="613" y="108"/>
                  </a:lnTo>
                  <a:lnTo>
                    <a:pt x="608" y="108"/>
                  </a:lnTo>
                  <a:lnTo>
                    <a:pt x="603" y="109"/>
                  </a:lnTo>
                  <a:lnTo>
                    <a:pt x="597" y="110"/>
                  </a:lnTo>
                  <a:lnTo>
                    <a:pt x="592" y="111"/>
                  </a:lnTo>
                  <a:lnTo>
                    <a:pt x="587" y="113"/>
                  </a:lnTo>
                  <a:lnTo>
                    <a:pt x="582" y="115"/>
                  </a:lnTo>
                  <a:lnTo>
                    <a:pt x="576" y="118"/>
                  </a:lnTo>
                  <a:lnTo>
                    <a:pt x="571" y="121"/>
                  </a:lnTo>
                  <a:lnTo>
                    <a:pt x="565" y="125"/>
                  </a:lnTo>
                  <a:lnTo>
                    <a:pt x="560" y="129"/>
                  </a:lnTo>
                  <a:lnTo>
                    <a:pt x="554" y="133"/>
                  </a:lnTo>
                  <a:lnTo>
                    <a:pt x="548" y="138"/>
                  </a:lnTo>
                  <a:lnTo>
                    <a:pt x="556" y="129"/>
                  </a:lnTo>
                  <a:lnTo>
                    <a:pt x="565" y="122"/>
                  </a:lnTo>
                  <a:lnTo>
                    <a:pt x="573" y="114"/>
                  </a:lnTo>
                  <a:lnTo>
                    <a:pt x="581" y="108"/>
                  </a:lnTo>
                  <a:lnTo>
                    <a:pt x="589" y="102"/>
                  </a:lnTo>
                  <a:lnTo>
                    <a:pt x="597" y="97"/>
                  </a:lnTo>
                  <a:lnTo>
                    <a:pt x="606" y="93"/>
                  </a:lnTo>
                  <a:lnTo>
                    <a:pt x="613" y="89"/>
                  </a:lnTo>
                  <a:lnTo>
                    <a:pt x="621" y="87"/>
                  </a:lnTo>
                  <a:lnTo>
                    <a:pt x="629" y="85"/>
                  </a:lnTo>
                  <a:lnTo>
                    <a:pt x="636" y="83"/>
                  </a:lnTo>
                  <a:lnTo>
                    <a:pt x="644" y="83"/>
                  </a:lnTo>
                  <a:lnTo>
                    <a:pt x="651" y="83"/>
                  </a:lnTo>
                  <a:lnTo>
                    <a:pt x="658" y="84"/>
                  </a:lnTo>
                  <a:lnTo>
                    <a:pt x="665" y="86"/>
                  </a:lnTo>
                  <a:lnTo>
                    <a:pt x="671" y="89"/>
                  </a:lnTo>
                  <a:lnTo>
                    <a:pt x="684" y="97"/>
                  </a:lnTo>
                  <a:lnTo>
                    <a:pt x="696" y="110"/>
                  </a:lnTo>
                  <a:lnTo>
                    <a:pt x="706" y="124"/>
                  </a:lnTo>
                  <a:lnTo>
                    <a:pt x="714" y="142"/>
                  </a:lnTo>
                  <a:lnTo>
                    <a:pt x="720" y="163"/>
                  </a:lnTo>
                  <a:lnTo>
                    <a:pt x="726" y="187"/>
                  </a:lnTo>
                  <a:lnTo>
                    <a:pt x="729" y="212"/>
                  </a:lnTo>
                  <a:lnTo>
                    <a:pt x="730" y="240"/>
                  </a:lnTo>
                  <a:lnTo>
                    <a:pt x="730" y="269"/>
                  </a:lnTo>
                  <a:lnTo>
                    <a:pt x="729" y="301"/>
                  </a:lnTo>
                  <a:lnTo>
                    <a:pt x="725" y="333"/>
                  </a:lnTo>
                  <a:lnTo>
                    <a:pt x="720" y="367"/>
                  </a:lnTo>
                  <a:lnTo>
                    <a:pt x="713" y="402"/>
                  </a:lnTo>
                  <a:lnTo>
                    <a:pt x="705" y="438"/>
                  </a:lnTo>
                  <a:lnTo>
                    <a:pt x="695" y="474"/>
                  </a:lnTo>
                  <a:lnTo>
                    <a:pt x="683" y="511"/>
                  </a:lnTo>
                  <a:lnTo>
                    <a:pt x="676" y="529"/>
                  </a:lnTo>
                  <a:lnTo>
                    <a:pt x="670" y="547"/>
                  </a:lnTo>
                  <a:lnTo>
                    <a:pt x="663" y="565"/>
                  </a:lnTo>
                  <a:lnTo>
                    <a:pt x="656" y="582"/>
                  </a:lnTo>
                  <a:lnTo>
                    <a:pt x="648" y="598"/>
                  </a:lnTo>
                  <a:lnTo>
                    <a:pt x="641" y="614"/>
                  </a:lnTo>
                  <a:lnTo>
                    <a:pt x="633" y="630"/>
                  </a:lnTo>
                  <a:lnTo>
                    <a:pt x="625" y="645"/>
                  </a:lnTo>
                  <a:lnTo>
                    <a:pt x="617" y="659"/>
                  </a:lnTo>
                  <a:lnTo>
                    <a:pt x="609" y="674"/>
                  </a:lnTo>
                  <a:lnTo>
                    <a:pt x="600" y="687"/>
                  </a:lnTo>
                  <a:lnTo>
                    <a:pt x="592" y="699"/>
                  </a:lnTo>
                  <a:lnTo>
                    <a:pt x="583" y="712"/>
                  </a:lnTo>
                  <a:lnTo>
                    <a:pt x="575" y="723"/>
                  </a:lnTo>
                  <a:lnTo>
                    <a:pt x="566" y="734"/>
                  </a:lnTo>
                  <a:lnTo>
                    <a:pt x="557" y="744"/>
                  </a:lnTo>
                  <a:lnTo>
                    <a:pt x="548" y="754"/>
                  </a:lnTo>
                  <a:lnTo>
                    <a:pt x="540" y="763"/>
                  </a:lnTo>
                  <a:lnTo>
                    <a:pt x="531" y="771"/>
                  </a:lnTo>
                  <a:lnTo>
                    <a:pt x="522" y="778"/>
                  </a:lnTo>
                  <a:lnTo>
                    <a:pt x="514" y="785"/>
                  </a:lnTo>
                  <a:lnTo>
                    <a:pt x="505" y="791"/>
                  </a:lnTo>
                  <a:lnTo>
                    <a:pt x="497" y="796"/>
                  </a:lnTo>
                  <a:lnTo>
                    <a:pt x="488" y="800"/>
                  </a:lnTo>
                  <a:lnTo>
                    <a:pt x="480" y="803"/>
                  </a:lnTo>
                  <a:lnTo>
                    <a:pt x="472" y="806"/>
                  </a:lnTo>
                  <a:lnTo>
                    <a:pt x="464" y="808"/>
                  </a:lnTo>
                  <a:lnTo>
                    <a:pt x="456" y="809"/>
                  </a:lnTo>
                  <a:lnTo>
                    <a:pt x="448" y="808"/>
                  </a:lnTo>
                  <a:lnTo>
                    <a:pt x="441" y="807"/>
                  </a:lnTo>
                  <a:lnTo>
                    <a:pt x="433" y="805"/>
                  </a:lnTo>
                  <a:lnTo>
                    <a:pt x="426" y="802"/>
                  </a:lnTo>
                  <a:lnTo>
                    <a:pt x="419" y="798"/>
                  </a:lnTo>
                  <a:lnTo>
                    <a:pt x="413" y="793"/>
                  </a:lnTo>
                  <a:lnTo>
                    <a:pt x="407" y="788"/>
                  </a:lnTo>
                  <a:lnTo>
                    <a:pt x="401" y="781"/>
                  </a:lnTo>
                  <a:lnTo>
                    <a:pt x="396" y="774"/>
                  </a:lnTo>
                  <a:lnTo>
                    <a:pt x="391" y="765"/>
                  </a:lnTo>
                  <a:lnTo>
                    <a:pt x="387" y="756"/>
                  </a:lnTo>
                  <a:lnTo>
                    <a:pt x="383" y="747"/>
                  </a:lnTo>
                  <a:lnTo>
                    <a:pt x="380" y="736"/>
                  </a:lnTo>
                  <a:lnTo>
                    <a:pt x="377" y="725"/>
                  </a:lnTo>
                  <a:lnTo>
                    <a:pt x="374" y="713"/>
                  </a:lnTo>
                  <a:lnTo>
                    <a:pt x="372" y="701"/>
                  </a:lnTo>
                  <a:lnTo>
                    <a:pt x="370" y="688"/>
                  </a:lnTo>
                  <a:lnTo>
                    <a:pt x="369" y="675"/>
                  </a:lnTo>
                  <a:lnTo>
                    <a:pt x="368" y="660"/>
                  </a:lnTo>
                  <a:lnTo>
                    <a:pt x="367" y="646"/>
                  </a:lnTo>
                  <a:lnTo>
                    <a:pt x="370" y="665"/>
                  </a:lnTo>
                  <a:lnTo>
                    <a:pt x="373" y="682"/>
                  </a:lnTo>
                  <a:lnTo>
                    <a:pt x="377" y="698"/>
                  </a:lnTo>
                  <a:lnTo>
                    <a:pt x="382" y="712"/>
                  </a:lnTo>
                  <a:lnTo>
                    <a:pt x="388" y="724"/>
                  </a:lnTo>
                  <a:lnTo>
                    <a:pt x="395" y="734"/>
                  </a:lnTo>
                  <a:lnTo>
                    <a:pt x="404" y="743"/>
                  </a:lnTo>
                  <a:lnTo>
                    <a:pt x="413" y="748"/>
                  </a:lnTo>
                  <a:close/>
                </a:path>
                <a:path w="730" h="809">
                  <a:moveTo>
                    <a:pt x="423" y="612"/>
                  </a:moveTo>
                  <a:lnTo>
                    <a:pt x="430" y="614"/>
                  </a:lnTo>
                  <a:lnTo>
                    <a:pt x="438" y="614"/>
                  </a:lnTo>
                  <a:lnTo>
                    <a:pt x="446" y="613"/>
                  </a:lnTo>
                  <a:lnTo>
                    <a:pt x="454" y="610"/>
                  </a:lnTo>
                  <a:lnTo>
                    <a:pt x="463" y="604"/>
                  </a:lnTo>
                  <a:lnTo>
                    <a:pt x="472" y="597"/>
                  </a:lnTo>
                  <a:lnTo>
                    <a:pt x="481" y="589"/>
                  </a:lnTo>
                  <a:lnTo>
                    <a:pt x="490" y="578"/>
                  </a:lnTo>
                  <a:lnTo>
                    <a:pt x="499" y="567"/>
                  </a:lnTo>
                  <a:lnTo>
                    <a:pt x="508" y="553"/>
                  </a:lnTo>
                  <a:lnTo>
                    <a:pt x="517" y="539"/>
                  </a:lnTo>
                  <a:lnTo>
                    <a:pt x="525" y="524"/>
                  </a:lnTo>
                  <a:lnTo>
                    <a:pt x="534" y="507"/>
                  </a:lnTo>
                  <a:lnTo>
                    <a:pt x="542" y="489"/>
                  </a:lnTo>
                  <a:lnTo>
                    <a:pt x="549" y="470"/>
                  </a:lnTo>
                  <a:lnTo>
                    <a:pt x="556" y="451"/>
                  </a:lnTo>
                  <a:lnTo>
                    <a:pt x="568" y="411"/>
                  </a:lnTo>
                  <a:lnTo>
                    <a:pt x="577" y="372"/>
                  </a:lnTo>
                  <a:lnTo>
                    <a:pt x="582" y="337"/>
                  </a:lnTo>
                  <a:lnTo>
                    <a:pt x="584" y="304"/>
                  </a:lnTo>
                  <a:lnTo>
                    <a:pt x="582" y="275"/>
                  </a:lnTo>
                  <a:lnTo>
                    <a:pt x="577" y="252"/>
                  </a:lnTo>
                  <a:lnTo>
                    <a:pt x="568" y="234"/>
                  </a:lnTo>
                  <a:lnTo>
                    <a:pt x="556" y="223"/>
                  </a:lnTo>
                  <a:lnTo>
                    <a:pt x="550" y="221"/>
                  </a:lnTo>
                  <a:lnTo>
                    <a:pt x="545" y="221"/>
                  </a:lnTo>
                  <a:lnTo>
                    <a:pt x="539" y="221"/>
                  </a:lnTo>
                  <a:lnTo>
                    <a:pt x="532" y="223"/>
                  </a:lnTo>
                  <a:lnTo>
                    <a:pt x="526" y="225"/>
                  </a:lnTo>
                  <a:lnTo>
                    <a:pt x="520" y="229"/>
                  </a:lnTo>
                  <a:lnTo>
                    <a:pt x="513" y="233"/>
                  </a:lnTo>
                  <a:lnTo>
                    <a:pt x="506" y="239"/>
                  </a:lnTo>
                  <a:lnTo>
                    <a:pt x="511" y="234"/>
                  </a:lnTo>
                  <a:lnTo>
                    <a:pt x="516" y="229"/>
                  </a:lnTo>
                  <a:lnTo>
                    <a:pt x="521" y="225"/>
                  </a:lnTo>
                  <a:lnTo>
                    <a:pt x="526" y="221"/>
                  </a:lnTo>
                  <a:lnTo>
                    <a:pt x="531" y="217"/>
                  </a:lnTo>
                  <a:lnTo>
                    <a:pt x="535" y="214"/>
                  </a:lnTo>
                  <a:lnTo>
                    <a:pt x="540" y="211"/>
                  </a:lnTo>
                  <a:lnTo>
                    <a:pt x="545" y="209"/>
                  </a:lnTo>
                  <a:lnTo>
                    <a:pt x="550" y="207"/>
                  </a:lnTo>
                  <a:lnTo>
                    <a:pt x="554" y="206"/>
                  </a:lnTo>
                  <a:lnTo>
                    <a:pt x="559" y="205"/>
                  </a:lnTo>
                  <a:lnTo>
                    <a:pt x="563" y="205"/>
                  </a:lnTo>
                  <a:lnTo>
                    <a:pt x="568" y="205"/>
                  </a:lnTo>
                  <a:lnTo>
                    <a:pt x="572" y="206"/>
                  </a:lnTo>
                  <a:lnTo>
                    <a:pt x="576" y="207"/>
                  </a:lnTo>
                  <a:lnTo>
                    <a:pt x="580" y="208"/>
                  </a:lnTo>
                  <a:lnTo>
                    <a:pt x="594" y="221"/>
                  </a:lnTo>
                  <a:lnTo>
                    <a:pt x="605" y="241"/>
                  </a:lnTo>
                  <a:lnTo>
                    <a:pt x="612" y="268"/>
                  </a:lnTo>
                  <a:lnTo>
                    <a:pt x="615" y="300"/>
                  </a:lnTo>
                  <a:lnTo>
                    <a:pt x="613" y="337"/>
                  </a:lnTo>
                  <a:lnTo>
                    <a:pt x="608" y="378"/>
                  </a:lnTo>
                  <a:lnTo>
                    <a:pt x="599" y="421"/>
                  </a:lnTo>
                  <a:lnTo>
                    <a:pt x="585" y="466"/>
                  </a:lnTo>
                  <a:lnTo>
                    <a:pt x="577" y="488"/>
                  </a:lnTo>
                  <a:lnTo>
                    <a:pt x="569" y="509"/>
                  </a:lnTo>
                  <a:lnTo>
                    <a:pt x="559" y="529"/>
                  </a:lnTo>
                  <a:lnTo>
                    <a:pt x="550" y="548"/>
                  </a:lnTo>
                  <a:lnTo>
                    <a:pt x="540" y="565"/>
                  </a:lnTo>
                  <a:lnTo>
                    <a:pt x="530" y="581"/>
                  </a:lnTo>
                  <a:lnTo>
                    <a:pt x="520" y="596"/>
                  </a:lnTo>
                  <a:lnTo>
                    <a:pt x="509" y="609"/>
                  </a:lnTo>
                  <a:lnTo>
                    <a:pt x="498" y="620"/>
                  </a:lnTo>
                  <a:lnTo>
                    <a:pt x="488" y="630"/>
                  </a:lnTo>
                  <a:lnTo>
                    <a:pt x="478" y="637"/>
                  </a:lnTo>
                  <a:lnTo>
                    <a:pt x="467" y="643"/>
                  </a:lnTo>
                  <a:lnTo>
                    <a:pt x="458" y="646"/>
                  </a:lnTo>
                  <a:lnTo>
                    <a:pt x="448" y="648"/>
                  </a:lnTo>
                  <a:lnTo>
                    <a:pt x="439" y="648"/>
                  </a:lnTo>
                  <a:lnTo>
                    <a:pt x="430" y="645"/>
                  </a:lnTo>
                  <a:lnTo>
                    <a:pt x="422" y="639"/>
                  </a:lnTo>
                  <a:lnTo>
                    <a:pt x="415" y="632"/>
                  </a:lnTo>
                  <a:lnTo>
                    <a:pt x="409" y="622"/>
                  </a:lnTo>
                  <a:lnTo>
                    <a:pt x="405" y="611"/>
                  </a:lnTo>
                  <a:lnTo>
                    <a:pt x="401" y="598"/>
                  </a:lnTo>
                  <a:lnTo>
                    <a:pt x="398" y="583"/>
                  </a:lnTo>
                  <a:lnTo>
                    <a:pt x="396" y="567"/>
                  </a:lnTo>
                  <a:lnTo>
                    <a:pt x="395" y="549"/>
                  </a:lnTo>
                  <a:lnTo>
                    <a:pt x="397" y="561"/>
                  </a:lnTo>
                  <a:lnTo>
                    <a:pt x="399" y="571"/>
                  </a:lnTo>
                  <a:lnTo>
                    <a:pt x="401" y="581"/>
                  </a:lnTo>
                  <a:lnTo>
                    <a:pt x="404" y="589"/>
                  </a:lnTo>
                  <a:lnTo>
                    <a:pt x="408" y="597"/>
                  </a:lnTo>
                  <a:lnTo>
                    <a:pt x="412" y="603"/>
                  </a:lnTo>
                  <a:lnTo>
                    <a:pt x="417" y="608"/>
                  </a:lnTo>
                  <a:lnTo>
                    <a:pt x="423" y="612"/>
                  </a:lnTo>
                  <a:close/>
                </a:path>
                <a:path w="730" h="809">
                  <a:moveTo>
                    <a:pt x="434" y="477"/>
                  </a:moveTo>
                  <a:lnTo>
                    <a:pt x="433" y="467"/>
                  </a:lnTo>
                  <a:lnTo>
                    <a:pt x="433" y="455"/>
                  </a:lnTo>
                  <a:lnTo>
                    <a:pt x="436" y="442"/>
                  </a:lnTo>
                  <a:lnTo>
                    <a:pt x="439" y="427"/>
                  </a:lnTo>
                  <a:lnTo>
                    <a:pt x="443" y="412"/>
                  </a:lnTo>
                  <a:lnTo>
                    <a:pt x="448" y="397"/>
                  </a:lnTo>
                  <a:lnTo>
                    <a:pt x="454" y="382"/>
                  </a:lnTo>
                  <a:lnTo>
                    <a:pt x="461" y="368"/>
                  </a:lnTo>
                  <a:lnTo>
                    <a:pt x="468" y="355"/>
                  </a:lnTo>
                  <a:lnTo>
                    <a:pt x="475" y="345"/>
                  </a:lnTo>
                  <a:lnTo>
                    <a:pt x="482" y="337"/>
                  </a:lnTo>
                  <a:lnTo>
                    <a:pt x="488" y="332"/>
                  </a:lnTo>
                  <a:lnTo>
                    <a:pt x="494" y="329"/>
                  </a:lnTo>
                  <a:lnTo>
                    <a:pt x="499" y="330"/>
                  </a:lnTo>
                  <a:lnTo>
                    <a:pt x="503" y="334"/>
                  </a:lnTo>
                  <a:lnTo>
                    <a:pt x="506" y="341"/>
                  </a:lnTo>
                  <a:lnTo>
                    <a:pt x="507" y="352"/>
                  </a:lnTo>
                  <a:lnTo>
                    <a:pt x="507" y="364"/>
                  </a:lnTo>
                  <a:lnTo>
                    <a:pt x="505" y="378"/>
                  </a:lnTo>
                  <a:lnTo>
                    <a:pt x="501" y="393"/>
                  </a:lnTo>
                  <a:lnTo>
                    <a:pt x="497" y="408"/>
                  </a:lnTo>
                  <a:lnTo>
                    <a:pt x="491" y="424"/>
                  </a:lnTo>
                  <a:lnTo>
                    <a:pt x="485" y="440"/>
                  </a:lnTo>
                  <a:lnTo>
                    <a:pt x="478" y="455"/>
                  </a:lnTo>
                  <a:lnTo>
                    <a:pt x="470" y="467"/>
                  </a:lnTo>
                  <a:lnTo>
                    <a:pt x="463" y="477"/>
                  </a:lnTo>
                  <a:lnTo>
                    <a:pt x="456" y="484"/>
                  </a:lnTo>
                  <a:lnTo>
                    <a:pt x="450" y="489"/>
                  </a:lnTo>
                  <a:lnTo>
                    <a:pt x="445" y="491"/>
                  </a:lnTo>
                  <a:lnTo>
                    <a:pt x="440" y="489"/>
                  </a:lnTo>
                  <a:lnTo>
                    <a:pt x="436" y="484"/>
                  </a:lnTo>
                  <a:lnTo>
                    <a:pt x="434" y="477"/>
                  </a:lnTo>
                  <a:close/>
                </a:path>
                <a:path w="730" h="809">
                  <a:moveTo>
                    <a:pt x="228" y="199"/>
                  </a:moveTo>
                  <a:lnTo>
                    <a:pt x="209" y="186"/>
                  </a:lnTo>
                  <a:lnTo>
                    <a:pt x="190" y="173"/>
                  </a:lnTo>
                  <a:lnTo>
                    <a:pt x="174" y="160"/>
                  </a:lnTo>
                  <a:lnTo>
                    <a:pt x="159" y="148"/>
                  </a:lnTo>
                  <a:lnTo>
                    <a:pt x="145" y="137"/>
                  </a:lnTo>
                  <a:lnTo>
                    <a:pt x="132" y="127"/>
                  </a:lnTo>
                  <a:lnTo>
                    <a:pt x="121" y="117"/>
                  </a:lnTo>
                  <a:lnTo>
                    <a:pt x="111" y="108"/>
                  </a:lnTo>
                  <a:lnTo>
                    <a:pt x="102" y="100"/>
                  </a:lnTo>
                  <a:lnTo>
                    <a:pt x="95" y="93"/>
                  </a:lnTo>
                  <a:lnTo>
                    <a:pt x="89" y="87"/>
                  </a:lnTo>
                  <a:lnTo>
                    <a:pt x="83" y="81"/>
                  </a:lnTo>
                  <a:lnTo>
                    <a:pt x="80" y="77"/>
                  </a:lnTo>
                  <a:lnTo>
                    <a:pt x="77" y="75"/>
                  </a:lnTo>
                  <a:lnTo>
                    <a:pt x="75" y="73"/>
                  </a:lnTo>
                  <a:lnTo>
                    <a:pt x="74" y="72"/>
                  </a:lnTo>
                  <a:lnTo>
                    <a:pt x="75" y="72"/>
                  </a:lnTo>
                  <a:lnTo>
                    <a:pt x="77" y="73"/>
                  </a:lnTo>
                  <a:lnTo>
                    <a:pt x="80" y="74"/>
                  </a:lnTo>
                  <a:lnTo>
                    <a:pt x="83" y="75"/>
                  </a:lnTo>
                  <a:lnTo>
                    <a:pt x="89" y="77"/>
                  </a:lnTo>
                  <a:lnTo>
                    <a:pt x="95" y="80"/>
                  </a:lnTo>
                  <a:lnTo>
                    <a:pt x="102" y="83"/>
                  </a:lnTo>
                  <a:lnTo>
                    <a:pt x="110" y="86"/>
                  </a:lnTo>
                  <a:lnTo>
                    <a:pt x="120" y="91"/>
                  </a:lnTo>
                  <a:lnTo>
                    <a:pt x="130" y="97"/>
                  </a:lnTo>
                  <a:lnTo>
                    <a:pt x="141" y="103"/>
                  </a:lnTo>
                  <a:lnTo>
                    <a:pt x="154" y="110"/>
                  </a:lnTo>
                  <a:lnTo>
                    <a:pt x="167" y="119"/>
                  </a:lnTo>
                  <a:lnTo>
                    <a:pt x="182" y="128"/>
                  </a:lnTo>
                  <a:lnTo>
                    <a:pt x="197" y="139"/>
                  </a:lnTo>
                  <a:lnTo>
                    <a:pt x="214" y="150"/>
                  </a:lnTo>
                  <a:lnTo>
                    <a:pt x="222" y="157"/>
                  </a:lnTo>
                  <a:lnTo>
                    <a:pt x="231" y="164"/>
                  </a:lnTo>
                  <a:lnTo>
                    <a:pt x="241" y="172"/>
                  </a:lnTo>
                  <a:lnTo>
                    <a:pt x="251" y="180"/>
                  </a:lnTo>
                  <a:lnTo>
                    <a:pt x="261" y="189"/>
                  </a:lnTo>
                  <a:lnTo>
                    <a:pt x="271" y="198"/>
                  </a:lnTo>
                  <a:lnTo>
                    <a:pt x="282" y="207"/>
                  </a:lnTo>
                  <a:lnTo>
                    <a:pt x="293" y="217"/>
                  </a:lnTo>
                  <a:lnTo>
                    <a:pt x="303" y="227"/>
                  </a:lnTo>
                  <a:lnTo>
                    <a:pt x="315" y="238"/>
                  </a:lnTo>
                  <a:lnTo>
                    <a:pt x="326" y="248"/>
                  </a:lnTo>
                  <a:lnTo>
                    <a:pt x="337" y="259"/>
                  </a:lnTo>
                  <a:lnTo>
                    <a:pt x="348" y="269"/>
                  </a:lnTo>
                  <a:lnTo>
                    <a:pt x="359" y="280"/>
                  </a:lnTo>
                  <a:lnTo>
                    <a:pt x="370" y="291"/>
                  </a:lnTo>
                  <a:lnTo>
                    <a:pt x="380" y="301"/>
                  </a:lnTo>
                  <a:lnTo>
                    <a:pt x="390" y="311"/>
                  </a:lnTo>
                  <a:lnTo>
                    <a:pt x="400" y="321"/>
                  </a:lnTo>
                  <a:lnTo>
                    <a:pt x="410" y="331"/>
                  </a:lnTo>
                  <a:lnTo>
                    <a:pt x="419" y="340"/>
                  </a:lnTo>
                  <a:lnTo>
                    <a:pt x="428" y="349"/>
                  </a:lnTo>
                  <a:lnTo>
                    <a:pt x="436" y="357"/>
                  </a:lnTo>
                  <a:lnTo>
                    <a:pt x="443" y="365"/>
                  </a:lnTo>
                  <a:lnTo>
                    <a:pt x="450" y="372"/>
                  </a:lnTo>
                  <a:lnTo>
                    <a:pt x="457" y="379"/>
                  </a:lnTo>
                  <a:lnTo>
                    <a:pt x="463" y="385"/>
                  </a:lnTo>
                  <a:lnTo>
                    <a:pt x="468" y="390"/>
                  </a:lnTo>
                  <a:lnTo>
                    <a:pt x="472" y="394"/>
                  </a:lnTo>
                  <a:lnTo>
                    <a:pt x="475" y="398"/>
                  </a:lnTo>
                  <a:lnTo>
                    <a:pt x="478" y="400"/>
                  </a:lnTo>
                  <a:lnTo>
                    <a:pt x="479" y="402"/>
                  </a:lnTo>
                  <a:lnTo>
                    <a:pt x="480" y="402"/>
                  </a:lnTo>
                  <a:lnTo>
                    <a:pt x="479" y="402"/>
                  </a:lnTo>
                  <a:lnTo>
                    <a:pt x="478" y="401"/>
                  </a:lnTo>
                  <a:lnTo>
                    <a:pt x="476" y="399"/>
                  </a:lnTo>
                  <a:lnTo>
                    <a:pt x="473" y="397"/>
                  </a:lnTo>
                  <a:lnTo>
                    <a:pt x="470" y="394"/>
                  </a:lnTo>
                  <a:lnTo>
                    <a:pt x="466" y="390"/>
                  </a:lnTo>
                  <a:lnTo>
                    <a:pt x="461" y="386"/>
                  </a:lnTo>
                  <a:lnTo>
                    <a:pt x="455" y="381"/>
                  </a:lnTo>
                  <a:lnTo>
                    <a:pt x="449" y="376"/>
                  </a:lnTo>
                  <a:lnTo>
                    <a:pt x="443" y="370"/>
                  </a:lnTo>
                  <a:lnTo>
                    <a:pt x="436" y="364"/>
                  </a:lnTo>
                  <a:lnTo>
                    <a:pt x="428" y="358"/>
                  </a:lnTo>
                  <a:lnTo>
                    <a:pt x="420" y="350"/>
                  </a:lnTo>
                  <a:lnTo>
                    <a:pt x="412" y="343"/>
                  </a:lnTo>
                  <a:lnTo>
                    <a:pt x="403" y="336"/>
                  </a:lnTo>
                  <a:lnTo>
                    <a:pt x="394" y="328"/>
                  </a:lnTo>
                  <a:lnTo>
                    <a:pt x="384" y="320"/>
                  </a:lnTo>
                  <a:lnTo>
                    <a:pt x="374" y="312"/>
                  </a:lnTo>
                  <a:lnTo>
                    <a:pt x="364" y="304"/>
                  </a:lnTo>
                  <a:lnTo>
                    <a:pt x="354" y="296"/>
                  </a:lnTo>
                  <a:lnTo>
                    <a:pt x="344" y="287"/>
                  </a:lnTo>
                  <a:lnTo>
                    <a:pt x="333" y="279"/>
                  </a:lnTo>
                  <a:lnTo>
                    <a:pt x="323" y="270"/>
                  </a:lnTo>
                  <a:lnTo>
                    <a:pt x="312" y="262"/>
                  </a:lnTo>
                  <a:lnTo>
                    <a:pt x="301" y="253"/>
                  </a:lnTo>
                  <a:lnTo>
                    <a:pt x="291" y="245"/>
                  </a:lnTo>
                  <a:lnTo>
                    <a:pt x="280" y="237"/>
                  </a:lnTo>
                  <a:lnTo>
                    <a:pt x="269" y="229"/>
                  </a:lnTo>
                  <a:lnTo>
                    <a:pt x="258" y="221"/>
                  </a:lnTo>
                  <a:lnTo>
                    <a:pt x="248" y="213"/>
                  </a:lnTo>
                  <a:lnTo>
                    <a:pt x="238" y="206"/>
                  </a:lnTo>
                  <a:lnTo>
                    <a:pt x="228" y="199"/>
                  </a:lnTo>
                  <a:close/>
                </a:path>
                <a:path w="730" h="809">
                  <a:moveTo>
                    <a:pt x="109" y="96"/>
                  </a:moveTo>
                  <a:lnTo>
                    <a:pt x="109" y="85"/>
                  </a:lnTo>
                  <a:lnTo>
                    <a:pt x="108" y="64"/>
                  </a:lnTo>
                  <a:lnTo>
                    <a:pt x="105" y="42"/>
                  </a:lnTo>
                  <a:lnTo>
                    <a:pt x="101" y="25"/>
                  </a:lnTo>
                  <a:lnTo>
                    <a:pt x="97" y="20"/>
                  </a:lnTo>
                  <a:lnTo>
                    <a:pt x="92" y="15"/>
                  </a:lnTo>
                  <a:lnTo>
                    <a:pt x="87" y="12"/>
                  </a:lnTo>
                  <a:lnTo>
                    <a:pt x="81" y="8"/>
                  </a:lnTo>
                  <a:lnTo>
                    <a:pt x="76" y="6"/>
                  </a:lnTo>
                  <a:lnTo>
                    <a:pt x="72" y="5"/>
                  </a:lnTo>
                  <a:lnTo>
                    <a:pt x="69" y="4"/>
                  </a:lnTo>
                  <a:lnTo>
                    <a:pt x="67" y="4"/>
                  </a:lnTo>
                  <a:lnTo>
                    <a:pt x="109" y="96"/>
                  </a:lnTo>
                  <a:close/>
                </a:path>
                <a:path w="730" h="809">
                  <a:moveTo>
                    <a:pt x="86" y="0"/>
                  </a:moveTo>
                  <a:lnTo>
                    <a:pt x="87" y="0"/>
                  </a:lnTo>
                  <a:lnTo>
                    <a:pt x="88" y="0"/>
                  </a:lnTo>
                  <a:lnTo>
                    <a:pt x="90" y="1"/>
                  </a:lnTo>
                  <a:lnTo>
                    <a:pt x="93" y="2"/>
                  </a:lnTo>
                  <a:lnTo>
                    <a:pt x="96" y="4"/>
                  </a:lnTo>
                  <a:lnTo>
                    <a:pt x="100" y="5"/>
                  </a:lnTo>
                  <a:lnTo>
                    <a:pt x="104" y="7"/>
                  </a:lnTo>
                  <a:lnTo>
                    <a:pt x="109" y="9"/>
                  </a:lnTo>
                  <a:lnTo>
                    <a:pt x="114" y="12"/>
                  </a:lnTo>
                  <a:lnTo>
                    <a:pt x="120" y="14"/>
                  </a:lnTo>
                  <a:lnTo>
                    <a:pt x="126" y="17"/>
                  </a:lnTo>
                  <a:lnTo>
                    <a:pt x="132" y="20"/>
                  </a:lnTo>
                  <a:lnTo>
                    <a:pt x="138" y="23"/>
                  </a:lnTo>
                  <a:lnTo>
                    <a:pt x="144" y="26"/>
                  </a:lnTo>
                  <a:lnTo>
                    <a:pt x="150" y="29"/>
                  </a:lnTo>
                  <a:lnTo>
                    <a:pt x="156" y="32"/>
                  </a:lnTo>
                  <a:lnTo>
                    <a:pt x="162" y="35"/>
                  </a:lnTo>
                  <a:lnTo>
                    <a:pt x="168" y="38"/>
                  </a:lnTo>
                  <a:lnTo>
                    <a:pt x="173" y="40"/>
                  </a:lnTo>
                  <a:lnTo>
                    <a:pt x="179" y="44"/>
                  </a:lnTo>
                  <a:lnTo>
                    <a:pt x="185" y="47"/>
                  </a:lnTo>
                  <a:lnTo>
                    <a:pt x="190" y="51"/>
                  </a:lnTo>
                  <a:lnTo>
                    <a:pt x="195" y="55"/>
                  </a:lnTo>
                  <a:lnTo>
                    <a:pt x="199" y="61"/>
                  </a:lnTo>
                  <a:lnTo>
                    <a:pt x="207" y="75"/>
                  </a:lnTo>
                  <a:lnTo>
                    <a:pt x="212" y="93"/>
                  </a:lnTo>
                  <a:lnTo>
                    <a:pt x="216" y="110"/>
                  </a:lnTo>
                  <a:lnTo>
                    <a:pt x="219" y="128"/>
                  </a:lnTo>
                  <a:lnTo>
                    <a:pt x="220" y="145"/>
                  </a:lnTo>
                  <a:lnTo>
                    <a:pt x="220" y="158"/>
                  </a:lnTo>
                  <a:lnTo>
                    <a:pt x="220" y="168"/>
                  </a:lnTo>
                  <a:lnTo>
                    <a:pt x="220" y="173"/>
                  </a:lnTo>
                  <a:lnTo>
                    <a:pt x="162" y="59"/>
                  </a:lnTo>
                  <a:lnTo>
                    <a:pt x="86" y="0"/>
                  </a:lnTo>
                  <a:close/>
                </a:path>
                <a:path w="730" h="809">
                  <a:moveTo>
                    <a:pt x="113" y="94"/>
                  </a:moveTo>
                  <a:lnTo>
                    <a:pt x="110" y="97"/>
                  </a:lnTo>
                  <a:lnTo>
                    <a:pt x="105" y="100"/>
                  </a:lnTo>
                  <a:lnTo>
                    <a:pt x="98" y="103"/>
                  </a:lnTo>
                  <a:lnTo>
                    <a:pt x="90" y="107"/>
                  </a:lnTo>
                  <a:lnTo>
                    <a:pt x="81" y="111"/>
                  </a:lnTo>
                  <a:lnTo>
                    <a:pt x="72" y="114"/>
                  </a:lnTo>
                  <a:lnTo>
                    <a:pt x="64" y="116"/>
                  </a:lnTo>
                  <a:lnTo>
                    <a:pt x="58" y="117"/>
                  </a:lnTo>
                  <a:lnTo>
                    <a:pt x="52" y="116"/>
                  </a:lnTo>
                  <a:lnTo>
                    <a:pt x="46" y="114"/>
                  </a:lnTo>
                  <a:lnTo>
                    <a:pt x="40" y="112"/>
                  </a:lnTo>
                  <a:lnTo>
                    <a:pt x="35" y="109"/>
                  </a:lnTo>
                  <a:lnTo>
                    <a:pt x="31" y="106"/>
                  </a:lnTo>
                  <a:lnTo>
                    <a:pt x="27" y="104"/>
                  </a:lnTo>
                  <a:lnTo>
                    <a:pt x="25" y="102"/>
                  </a:lnTo>
                  <a:lnTo>
                    <a:pt x="24" y="101"/>
                  </a:lnTo>
                  <a:lnTo>
                    <a:pt x="113" y="94"/>
                  </a:lnTo>
                  <a:close/>
                </a:path>
                <a:path w="730" h="809">
                  <a:moveTo>
                    <a:pt x="38" y="122"/>
                  </a:moveTo>
                  <a:lnTo>
                    <a:pt x="39" y="123"/>
                  </a:lnTo>
                  <a:lnTo>
                    <a:pt x="42" y="126"/>
                  </a:lnTo>
                  <a:lnTo>
                    <a:pt x="47" y="131"/>
                  </a:lnTo>
                  <a:lnTo>
                    <a:pt x="54" y="138"/>
                  </a:lnTo>
                  <a:lnTo>
                    <a:pt x="62" y="145"/>
                  </a:lnTo>
                  <a:lnTo>
                    <a:pt x="71" y="153"/>
                  </a:lnTo>
                  <a:lnTo>
                    <a:pt x="81" y="160"/>
                  </a:lnTo>
                  <a:lnTo>
                    <a:pt x="93" y="168"/>
                  </a:lnTo>
                  <a:lnTo>
                    <a:pt x="98" y="171"/>
                  </a:lnTo>
                  <a:lnTo>
                    <a:pt x="105" y="175"/>
                  </a:lnTo>
                  <a:lnTo>
                    <a:pt x="111" y="179"/>
                  </a:lnTo>
                  <a:lnTo>
                    <a:pt x="118" y="183"/>
                  </a:lnTo>
                  <a:lnTo>
                    <a:pt x="124" y="186"/>
                  </a:lnTo>
                  <a:lnTo>
                    <a:pt x="131" y="188"/>
                  </a:lnTo>
                  <a:lnTo>
                    <a:pt x="137" y="190"/>
                  </a:lnTo>
                  <a:lnTo>
                    <a:pt x="144" y="191"/>
                  </a:lnTo>
                  <a:lnTo>
                    <a:pt x="151" y="191"/>
                  </a:lnTo>
                  <a:lnTo>
                    <a:pt x="158" y="191"/>
                  </a:lnTo>
                  <a:lnTo>
                    <a:pt x="165" y="191"/>
                  </a:lnTo>
                  <a:lnTo>
                    <a:pt x="172" y="191"/>
                  </a:lnTo>
                  <a:lnTo>
                    <a:pt x="179" y="190"/>
                  </a:lnTo>
                  <a:lnTo>
                    <a:pt x="186" y="189"/>
                  </a:lnTo>
                  <a:lnTo>
                    <a:pt x="192" y="188"/>
                  </a:lnTo>
                  <a:lnTo>
                    <a:pt x="197" y="187"/>
                  </a:lnTo>
                  <a:lnTo>
                    <a:pt x="203" y="186"/>
                  </a:lnTo>
                  <a:lnTo>
                    <a:pt x="207" y="185"/>
                  </a:lnTo>
                  <a:lnTo>
                    <a:pt x="212" y="184"/>
                  </a:lnTo>
                  <a:lnTo>
                    <a:pt x="216" y="183"/>
                  </a:lnTo>
                  <a:lnTo>
                    <a:pt x="219" y="182"/>
                  </a:lnTo>
                  <a:lnTo>
                    <a:pt x="221" y="181"/>
                  </a:lnTo>
                  <a:lnTo>
                    <a:pt x="223" y="180"/>
                  </a:lnTo>
                  <a:lnTo>
                    <a:pt x="224" y="180"/>
                  </a:lnTo>
                  <a:lnTo>
                    <a:pt x="118" y="168"/>
                  </a:lnTo>
                  <a:lnTo>
                    <a:pt x="38" y="122"/>
                  </a:lnTo>
                  <a:close/>
                </a:path>
                <a:path w="730" h="809">
                  <a:moveTo>
                    <a:pt x="219" y="378"/>
                  </a:moveTo>
                  <a:lnTo>
                    <a:pt x="197" y="372"/>
                  </a:lnTo>
                  <a:lnTo>
                    <a:pt x="176" y="367"/>
                  </a:lnTo>
                  <a:lnTo>
                    <a:pt x="157" y="362"/>
                  </a:lnTo>
                  <a:lnTo>
                    <a:pt x="140" y="356"/>
                  </a:lnTo>
                  <a:lnTo>
                    <a:pt x="124" y="351"/>
                  </a:lnTo>
                  <a:lnTo>
                    <a:pt x="109" y="346"/>
                  </a:lnTo>
                  <a:lnTo>
                    <a:pt x="96" y="341"/>
                  </a:lnTo>
                  <a:lnTo>
                    <a:pt x="84" y="336"/>
                  </a:lnTo>
                  <a:lnTo>
                    <a:pt x="74" y="332"/>
                  </a:lnTo>
                  <a:lnTo>
                    <a:pt x="64" y="328"/>
                  </a:lnTo>
                  <a:lnTo>
                    <a:pt x="57" y="325"/>
                  </a:lnTo>
                  <a:lnTo>
                    <a:pt x="51" y="322"/>
                  </a:lnTo>
                  <a:lnTo>
                    <a:pt x="46" y="319"/>
                  </a:lnTo>
                  <a:lnTo>
                    <a:pt x="42" y="317"/>
                  </a:lnTo>
                  <a:lnTo>
                    <a:pt x="40" y="317"/>
                  </a:lnTo>
                  <a:lnTo>
                    <a:pt x="40" y="316"/>
                  </a:lnTo>
                  <a:lnTo>
                    <a:pt x="40" y="316"/>
                  </a:lnTo>
                  <a:lnTo>
                    <a:pt x="42" y="316"/>
                  </a:lnTo>
                  <a:lnTo>
                    <a:pt x="45" y="316"/>
                  </a:lnTo>
                  <a:lnTo>
                    <a:pt x="49" y="315"/>
                  </a:lnTo>
                  <a:lnTo>
                    <a:pt x="54" y="315"/>
                  </a:lnTo>
                  <a:lnTo>
                    <a:pt x="61" y="315"/>
                  </a:lnTo>
                  <a:lnTo>
                    <a:pt x="69" y="316"/>
                  </a:lnTo>
                  <a:lnTo>
                    <a:pt x="77" y="316"/>
                  </a:lnTo>
                  <a:lnTo>
                    <a:pt x="87" y="317"/>
                  </a:lnTo>
                  <a:lnTo>
                    <a:pt x="98" y="318"/>
                  </a:lnTo>
                  <a:lnTo>
                    <a:pt x="111" y="320"/>
                  </a:lnTo>
                  <a:lnTo>
                    <a:pt x="125" y="322"/>
                  </a:lnTo>
                  <a:lnTo>
                    <a:pt x="140" y="325"/>
                  </a:lnTo>
                  <a:lnTo>
                    <a:pt x="156" y="328"/>
                  </a:lnTo>
                  <a:lnTo>
                    <a:pt x="173" y="332"/>
                  </a:lnTo>
                  <a:lnTo>
                    <a:pt x="192" y="337"/>
                  </a:lnTo>
                  <a:lnTo>
                    <a:pt x="202" y="340"/>
                  </a:lnTo>
                  <a:lnTo>
                    <a:pt x="212" y="343"/>
                  </a:lnTo>
                  <a:lnTo>
                    <a:pt x="223" y="346"/>
                  </a:lnTo>
                  <a:lnTo>
                    <a:pt x="233" y="349"/>
                  </a:lnTo>
                  <a:lnTo>
                    <a:pt x="244" y="353"/>
                  </a:lnTo>
                  <a:lnTo>
                    <a:pt x="255" y="357"/>
                  </a:lnTo>
                  <a:lnTo>
                    <a:pt x="266" y="360"/>
                  </a:lnTo>
                  <a:lnTo>
                    <a:pt x="278" y="364"/>
                  </a:lnTo>
                  <a:lnTo>
                    <a:pt x="289" y="368"/>
                  </a:lnTo>
                  <a:lnTo>
                    <a:pt x="300" y="373"/>
                  </a:lnTo>
                  <a:lnTo>
                    <a:pt x="311" y="377"/>
                  </a:lnTo>
                  <a:lnTo>
                    <a:pt x="323" y="381"/>
                  </a:lnTo>
                  <a:lnTo>
                    <a:pt x="334" y="385"/>
                  </a:lnTo>
                  <a:lnTo>
                    <a:pt x="344" y="389"/>
                  </a:lnTo>
                  <a:lnTo>
                    <a:pt x="355" y="394"/>
                  </a:lnTo>
                  <a:lnTo>
                    <a:pt x="366" y="398"/>
                  </a:lnTo>
                  <a:lnTo>
                    <a:pt x="376" y="402"/>
                  </a:lnTo>
                  <a:lnTo>
                    <a:pt x="386" y="406"/>
                  </a:lnTo>
                  <a:lnTo>
                    <a:pt x="395" y="409"/>
                  </a:lnTo>
                  <a:lnTo>
                    <a:pt x="404" y="413"/>
                  </a:lnTo>
                  <a:lnTo>
                    <a:pt x="413" y="416"/>
                  </a:lnTo>
                  <a:lnTo>
                    <a:pt x="421" y="419"/>
                  </a:lnTo>
                  <a:lnTo>
                    <a:pt x="428" y="423"/>
                  </a:lnTo>
                  <a:lnTo>
                    <a:pt x="435" y="426"/>
                  </a:lnTo>
                  <a:lnTo>
                    <a:pt x="441" y="428"/>
                  </a:lnTo>
                  <a:lnTo>
                    <a:pt x="447" y="431"/>
                  </a:lnTo>
                  <a:lnTo>
                    <a:pt x="452" y="432"/>
                  </a:lnTo>
                  <a:lnTo>
                    <a:pt x="456" y="434"/>
                  </a:lnTo>
                  <a:lnTo>
                    <a:pt x="459" y="435"/>
                  </a:lnTo>
                  <a:lnTo>
                    <a:pt x="461" y="436"/>
                  </a:lnTo>
                  <a:lnTo>
                    <a:pt x="463" y="437"/>
                  </a:lnTo>
                  <a:lnTo>
                    <a:pt x="463" y="437"/>
                  </a:lnTo>
                  <a:lnTo>
                    <a:pt x="463" y="437"/>
                  </a:lnTo>
                  <a:lnTo>
                    <a:pt x="462" y="437"/>
                  </a:lnTo>
                  <a:lnTo>
                    <a:pt x="460" y="436"/>
                  </a:lnTo>
                  <a:lnTo>
                    <a:pt x="457" y="436"/>
                  </a:lnTo>
                  <a:lnTo>
                    <a:pt x="454" y="435"/>
                  </a:lnTo>
                  <a:lnTo>
                    <a:pt x="451" y="434"/>
                  </a:lnTo>
                  <a:lnTo>
                    <a:pt x="446" y="433"/>
                  </a:lnTo>
                  <a:lnTo>
                    <a:pt x="442" y="432"/>
                  </a:lnTo>
                  <a:lnTo>
                    <a:pt x="436" y="431"/>
                  </a:lnTo>
                  <a:lnTo>
                    <a:pt x="430" y="429"/>
                  </a:lnTo>
                  <a:lnTo>
                    <a:pt x="424" y="427"/>
                  </a:lnTo>
                  <a:lnTo>
                    <a:pt x="417" y="426"/>
                  </a:lnTo>
                  <a:lnTo>
                    <a:pt x="410" y="424"/>
                  </a:lnTo>
                  <a:lnTo>
                    <a:pt x="402" y="422"/>
                  </a:lnTo>
                  <a:lnTo>
                    <a:pt x="394" y="420"/>
                  </a:lnTo>
                  <a:lnTo>
                    <a:pt x="386" y="418"/>
                  </a:lnTo>
                  <a:lnTo>
                    <a:pt x="377" y="416"/>
                  </a:lnTo>
                  <a:lnTo>
                    <a:pt x="368" y="414"/>
                  </a:lnTo>
                  <a:lnTo>
                    <a:pt x="358" y="411"/>
                  </a:lnTo>
                  <a:lnTo>
                    <a:pt x="349" y="409"/>
                  </a:lnTo>
                  <a:lnTo>
                    <a:pt x="339" y="406"/>
                  </a:lnTo>
                  <a:lnTo>
                    <a:pt x="329" y="404"/>
                  </a:lnTo>
                  <a:lnTo>
                    <a:pt x="318" y="401"/>
                  </a:lnTo>
                  <a:lnTo>
                    <a:pt x="308" y="399"/>
                  </a:lnTo>
                  <a:lnTo>
                    <a:pt x="296" y="396"/>
                  </a:lnTo>
                  <a:lnTo>
                    <a:pt x="286" y="394"/>
                  </a:lnTo>
                  <a:lnTo>
                    <a:pt x="275" y="391"/>
                  </a:lnTo>
                  <a:lnTo>
                    <a:pt x="264" y="388"/>
                  </a:lnTo>
                  <a:lnTo>
                    <a:pt x="252" y="386"/>
                  </a:lnTo>
                  <a:lnTo>
                    <a:pt x="241" y="383"/>
                  </a:lnTo>
                  <a:lnTo>
                    <a:pt x="230" y="380"/>
                  </a:lnTo>
                  <a:lnTo>
                    <a:pt x="219" y="378"/>
                  </a:lnTo>
                  <a:close/>
                </a:path>
                <a:path w="730" h="809">
                  <a:moveTo>
                    <a:pt x="79" y="326"/>
                  </a:moveTo>
                  <a:lnTo>
                    <a:pt x="78" y="321"/>
                  </a:lnTo>
                  <a:lnTo>
                    <a:pt x="76" y="314"/>
                  </a:lnTo>
                  <a:lnTo>
                    <a:pt x="73" y="305"/>
                  </a:lnTo>
                  <a:lnTo>
                    <a:pt x="69" y="295"/>
                  </a:lnTo>
                  <a:lnTo>
                    <a:pt x="65" y="284"/>
                  </a:lnTo>
                  <a:lnTo>
                    <a:pt x="61" y="275"/>
                  </a:lnTo>
                  <a:lnTo>
                    <a:pt x="56" y="267"/>
                  </a:lnTo>
                  <a:lnTo>
                    <a:pt x="52" y="261"/>
                  </a:lnTo>
                  <a:lnTo>
                    <a:pt x="47" y="258"/>
                  </a:lnTo>
                  <a:lnTo>
                    <a:pt x="41" y="255"/>
                  </a:lnTo>
                  <a:lnTo>
                    <a:pt x="35" y="254"/>
                  </a:lnTo>
                  <a:lnTo>
                    <a:pt x="29" y="253"/>
                  </a:lnTo>
                  <a:lnTo>
                    <a:pt x="24" y="253"/>
                  </a:lnTo>
                  <a:lnTo>
                    <a:pt x="19" y="253"/>
                  </a:lnTo>
                  <a:lnTo>
                    <a:pt x="16" y="254"/>
                  </a:lnTo>
                  <a:lnTo>
                    <a:pt x="15" y="254"/>
                  </a:lnTo>
                  <a:lnTo>
                    <a:pt x="79" y="326"/>
                  </a:lnTo>
                  <a:close/>
                </a:path>
                <a:path w="730" h="809">
                  <a:moveTo>
                    <a:pt x="32" y="243"/>
                  </a:moveTo>
                  <a:lnTo>
                    <a:pt x="32" y="243"/>
                  </a:lnTo>
                  <a:lnTo>
                    <a:pt x="33" y="243"/>
                  </a:lnTo>
                  <a:lnTo>
                    <a:pt x="36" y="243"/>
                  </a:lnTo>
                  <a:lnTo>
                    <a:pt x="38" y="243"/>
                  </a:lnTo>
                  <a:lnTo>
                    <a:pt x="42" y="243"/>
                  </a:lnTo>
                  <a:lnTo>
                    <a:pt x="46" y="243"/>
                  </a:lnTo>
                  <a:lnTo>
                    <a:pt x="51" y="243"/>
                  </a:lnTo>
                  <a:lnTo>
                    <a:pt x="56" y="243"/>
                  </a:lnTo>
                  <a:lnTo>
                    <a:pt x="62" y="244"/>
                  </a:lnTo>
                  <a:lnTo>
                    <a:pt x="67" y="244"/>
                  </a:lnTo>
                  <a:lnTo>
                    <a:pt x="73" y="244"/>
                  </a:lnTo>
                  <a:lnTo>
                    <a:pt x="80" y="244"/>
                  </a:lnTo>
                  <a:lnTo>
                    <a:pt x="86" y="245"/>
                  </a:lnTo>
                  <a:lnTo>
                    <a:pt x="93" y="245"/>
                  </a:lnTo>
                  <a:lnTo>
                    <a:pt x="99" y="246"/>
                  </a:lnTo>
                  <a:lnTo>
                    <a:pt x="106" y="247"/>
                  </a:lnTo>
                  <a:lnTo>
                    <a:pt x="112" y="247"/>
                  </a:lnTo>
                  <a:lnTo>
                    <a:pt x="119" y="248"/>
                  </a:lnTo>
                  <a:lnTo>
                    <a:pt x="125" y="248"/>
                  </a:lnTo>
                  <a:lnTo>
                    <a:pt x="131" y="248"/>
                  </a:lnTo>
                  <a:lnTo>
                    <a:pt x="138" y="249"/>
                  </a:lnTo>
                  <a:lnTo>
                    <a:pt x="144" y="251"/>
                  </a:lnTo>
                  <a:lnTo>
                    <a:pt x="149" y="253"/>
                  </a:lnTo>
                  <a:lnTo>
                    <a:pt x="154" y="257"/>
                  </a:lnTo>
                  <a:lnTo>
                    <a:pt x="165" y="268"/>
                  </a:lnTo>
                  <a:lnTo>
                    <a:pt x="175" y="282"/>
                  </a:lnTo>
                  <a:lnTo>
                    <a:pt x="184" y="298"/>
                  </a:lnTo>
                  <a:lnTo>
                    <a:pt x="191" y="314"/>
                  </a:lnTo>
                  <a:lnTo>
                    <a:pt x="197" y="329"/>
                  </a:lnTo>
                  <a:lnTo>
                    <a:pt x="201" y="341"/>
                  </a:lnTo>
                  <a:lnTo>
                    <a:pt x="203" y="351"/>
                  </a:lnTo>
                  <a:lnTo>
                    <a:pt x="204" y="355"/>
                  </a:lnTo>
                  <a:lnTo>
                    <a:pt x="119" y="269"/>
                  </a:lnTo>
                  <a:lnTo>
                    <a:pt x="32" y="243"/>
                  </a:lnTo>
                  <a:close/>
                </a:path>
                <a:path w="730" h="809">
                  <a:moveTo>
                    <a:pt x="82" y="322"/>
                  </a:moveTo>
                  <a:lnTo>
                    <a:pt x="80" y="325"/>
                  </a:lnTo>
                  <a:lnTo>
                    <a:pt x="76" y="331"/>
                  </a:lnTo>
                  <a:lnTo>
                    <a:pt x="70" y="337"/>
                  </a:lnTo>
                  <a:lnTo>
                    <a:pt x="63" y="344"/>
                  </a:lnTo>
                  <a:lnTo>
                    <a:pt x="56" y="350"/>
                  </a:lnTo>
                  <a:lnTo>
                    <a:pt x="49" y="357"/>
                  </a:lnTo>
                  <a:lnTo>
                    <a:pt x="42" y="362"/>
                  </a:lnTo>
                  <a:lnTo>
                    <a:pt x="36" y="365"/>
                  </a:lnTo>
                  <a:lnTo>
                    <a:pt x="30" y="367"/>
                  </a:lnTo>
                  <a:lnTo>
                    <a:pt x="24" y="367"/>
                  </a:lnTo>
                  <a:lnTo>
                    <a:pt x="18" y="367"/>
                  </a:lnTo>
                  <a:lnTo>
                    <a:pt x="12" y="367"/>
                  </a:lnTo>
                  <a:lnTo>
                    <a:pt x="7" y="366"/>
                  </a:lnTo>
                  <a:lnTo>
                    <a:pt x="3" y="365"/>
                  </a:lnTo>
                  <a:lnTo>
                    <a:pt x="1" y="364"/>
                  </a:lnTo>
                  <a:lnTo>
                    <a:pt x="0" y="364"/>
                  </a:lnTo>
                  <a:lnTo>
                    <a:pt x="82" y="322"/>
                  </a:lnTo>
                  <a:close/>
                </a:path>
                <a:path w="730" h="809">
                  <a:moveTo>
                    <a:pt x="18" y="377"/>
                  </a:moveTo>
                  <a:lnTo>
                    <a:pt x="19" y="377"/>
                  </a:lnTo>
                  <a:lnTo>
                    <a:pt x="20" y="378"/>
                  </a:lnTo>
                  <a:lnTo>
                    <a:pt x="21" y="379"/>
                  </a:lnTo>
                  <a:lnTo>
                    <a:pt x="24" y="380"/>
                  </a:lnTo>
                  <a:lnTo>
                    <a:pt x="26" y="381"/>
                  </a:lnTo>
                  <a:lnTo>
                    <a:pt x="29" y="383"/>
                  </a:lnTo>
                  <a:lnTo>
                    <a:pt x="33" y="385"/>
                  </a:lnTo>
                  <a:lnTo>
                    <a:pt x="37" y="386"/>
                  </a:lnTo>
                  <a:lnTo>
                    <a:pt x="42" y="388"/>
                  </a:lnTo>
                  <a:lnTo>
                    <a:pt x="47" y="390"/>
                  </a:lnTo>
                  <a:lnTo>
                    <a:pt x="52" y="392"/>
                  </a:lnTo>
                  <a:lnTo>
                    <a:pt x="57" y="394"/>
                  </a:lnTo>
                  <a:lnTo>
                    <a:pt x="63" y="396"/>
                  </a:lnTo>
                  <a:lnTo>
                    <a:pt x="70" y="398"/>
                  </a:lnTo>
                  <a:lnTo>
                    <a:pt x="76" y="399"/>
                  </a:lnTo>
                  <a:lnTo>
                    <a:pt x="82" y="400"/>
                  </a:lnTo>
                  <a:lnTo>
                    <a:pt x="89" y="402"/>
                  </a:lnTo>
                  <a:lnTo>
                    <a:pt x="96" y="402"/>
                  </a:lnTo>
                  <a:lnTo>
                    <a:pt x="103" y="404"/>
                  </a:lnTo>
                  <a:lnTo>
                    <a:pt x="110" y="404"/>
                  </a:lnTo>
                  <a:lnTo>
                    <a:pt x="117" y="405"/>
                  </a:lnTo>
                  <a:lnTo>
                    <a:pt x="124" y="404"/>
                  </a:lnTo>
                  <a:lnTo>
                    <a:pt x="131" y="404"/>
                  </a:lnTo>
                  <a:lnTo>
                    <a:pt x="137" y="402"/>
                  </a:lnTo>
                  <a:lnTo>
                    <a:pt x="144" y="399"/>
                  </a:lnTo>
                  <a:lnTo>
                    <a:pt x="151" y="397"/>
                  </a:lnTo>
                  <a:lnTo>
                    <a:pt x="158" y="394"/>
                  </a:lnTo>
                  <a:lnTo>
                    <a:pt x="164" y="390"/>
                  </a:lnTo>
                  <a:lnTo>
                    <a:pt x="170" y="387"/>
                  </a:lnTo>
                  <a:lnTo>
                    <a:pt x="176" y="384"/>
                  </a:lnTo>
                  <a:lnTo>
                    <a:pt x="182" y="381"/>
                  </a:lnTo>
                  <a:lnTo>
                    <a:pt x="187" y="378"/>
                  </a:lnTo>
                  <a:lnTo>
                    <a:pt x="192" y="375"/>
                  </a:lnTo>
                  <a:lnTo>
                    <a:pt x="196" y="372"/>
                  </a:lnTo>
                  <a:lnTo>
                    <a:pt x="200" y="370"/>
                  </a:lnTo>
                  <a:lnTo>
                    <a:pt x="203" y="367"/>
                  </a:lnTo>
                  <a:lnTo>
                    <a:pt x="206" y="365"/>
                  </a:lnTo>
                  <a:lnTo>
                    <a:pt x="207" y="363"/>
                  </a:lnTo>
                  <a:lnTo>
                    <a:pt x="209" y="362"/>
                  </a:lnTo>
                  <a:lnTo>
                    <a:pt x="210" y="361"/>
                  </a:lnTo>
                  <a:lnTo>
                    <a:pt x="106" y="390"/>
                  </a:lnTo>
                  <a:lnTo>
                    <a:pt x="18" y="377"/>
                  </a:lnTo>
                  <a:close/>
                </a:path>
              </a:pathLst>
            </a:custGeom>
            <a:solidFill>
              <a:srgbClr val="000000">
                <a:alpha val="100000"/>
              </a:srgbClr>
            </a:solidFill>
            <a:ln cap="flat">
              <a:noFill/>
              <a:prstDash val="solid"/>
              <a:miter lim="0"/>
            </a:ln>
          </p:spPr>
          <p:txBody>
            <a:bodyPr rtlCol="0"/>
            <a:lstStyle/>
            <a:p>
              <a:pPr algn="ctr"/>
              <a:endParaRPr lang="zh-CN" altLang="en-US"/>
            </a:p>
          </p:txBody>
        </p:sp>
      </p:grpSp>
      <p:grpSp>
        <p:nvGrpSpPr>
          <p:cNvPr id="164" name="group 164"/>
          <p:cNvGrpSpPr/>
          <p:nvPr/>
        </p:nvGrpSpPr>
        <p:grpSpPr>
          <a:xfrm rot="21600000">
            <a:off x="467868" y="4502556"/>
            <a:ext cx="481098" cy="499728"/>
            <a:chOff x="0" y="0"/>
            <a:chExt cx="481098" cy="499728"/>
          </a:xfrm>
        </p:grpSpPr>
        <p:sp>
          <p:nvSpPr>
            <p:cNvPr id="764" name="path"/>
            <p:cNvSpPr/>
            <p:nvPr/>
          </p:nvSpPr>
          <p:spPr>
            <a:xfrm>
              <a:off x="392215" y="280820"/>
              <a:ext cx="88332" cy="116369"/>
            </a:xfrm>
            <a:custGeom>
              <a:avLst/>
              <a:gdLst/>
              <a:ahLst/>
              <a:cxnLst/>
              <a:rect l="0" t="0" r="0" b="0"/>
              <a:pathLst>
                <a:path w="139" h="183">
                  <a:moveTo>
                    <a:pt x="0" y="34"/>
                  </a:moveTo>
                  <a:lnTo>
                    <a:pt x="104" y="0"/>
                  </a:lnTo>
                  <a:lnTo>
                    <a:pt x="139" y="3"/>
                  </a:lnTo>
                  <a:lnTo>
                    <a:pt x="132" y="120"/>
                  </a:lnTo>
                  <a:lnTo>
                    <a:pt x="70" y="176"/>
                  </a:lnTo>
                  <a:lnTo>
                    <a:pt x="50" y="183"/>
                  </a:lnTo>
                  <a:lnTo>
                    <a:pt x="16" y="173"/>
                  </a:lnTo>
                  <a:lnTo>
                    <a:pt x="0" y="34"/>
                  </a:lnTo>
                  <a:close/>
                </a:path>
              </a:pathLst>
            </a:custGeom>
            <a:solidFill>
              <a:srgbClr val="D99966">
                <a:alpha val="100000"/>
              </a:srgbClr>
            </a:solidFill>
            <a:ln cap="flat">
              <a:noFill/>
              <a:prstDash val="solid"/>
              <a:miter lim="0"/>
            </a:ln>
          </p:spPr>
          <p:txBody>
            <a:bodyPr rtlCol="0"/>
            <a:lstStyle/>
            <a:p>
              <a:pPr algn="ctr"/>
              <a:endParaRPr lang="zh-CN" altLang="en-US"/>
            </a:p>
          </p:txBody>
        </p:sp>
        <p:sp>
          <p:nvSpPr>
            <p:cNvPr id="765" name="path"/>
            <p:cNvSpPr/>
            <p:nvPr/>
          </p:nvSpPr>
          <p:spPr>
            <a:xfrm>
              <a:off x="221562" y="85620"/>
              <a:ext cx="186751" cy="181806"/>
            </a:xfrm>
            <a:custGeom>
              <a:avLst/>
              <a:gdLst/>
              <a:ahLst/>
              <a:cxnLst/>
              <a:rect l="0" t="0" r="0" b="0"/>
              <a:pathLst>
                <a:path w="294" h="286">
                  <a:moveTo>
                    <a:pt x="176" y="32"/>
                  </a:moveTo>
                  <a:lnTo>
                    <a:pt x="195" y="8"/>
                  </a:lnTo>
                  <a:lnTo>
                    <a:pt x="230" y="0"/>
                  </a:lnTo>
                  <a:lnTo>
                    <a:pt x="294" y="33"/>
                  </a:lnTo>
                  <a:lnTo>
                    <a:pt x="237" y="186"/>
                  </a:lnTo>
                  <a:lnTo>
                    <a:pt x="183" y="165"/>
                  </a:lnTo>
                  <a:lnTo>
                    <a:pt x="176" y="32"/>
                  </a:lnTo>
                  <a:close/>
                </a:path>
                <a:path w="294" h="286">
                  <a:moveTo>
                    <a:pt x="0" y="221"/>
                  </a:moveTo>
                  <a:lnTo>
                    <a:pt x="10" y="210"/>
                  </a:lnTo>
                  <a:lnTo>
                    <a:pt x="33" y="216"/>
                  </a:lnTo>
                  <a:lnTo>
                    <a:pt x="31" y="260"/>
                  </a:lnTo>
                  <a:lnTo>
                    <a:pt x="20" y="286"/>
                  </a:lnTo>
                  <a:lnTo>
                    <a:pt x="11" y="285"/>
                  </a:lnTo>
                  <a:lnTo>
                    <a:pt x="0" y="221"/>
                  </a:lnTo>
                  <a:close/>
                </a:path>
              </a:pathLst>
            </a:custGeom>
            <a:solidFill>
              <a:srgbClr val="E5E5FF">
                <a:alpha val="100000"/>
              </a:srgbClr>
            </a:solidFill>
            <a:ln cap="flat">
              <a:noFill/>
              <a:prstDash val="solid"/>
              <a:miter lim="0"/>
            </a:ln>
          </p:spPr>
          <p:txBody>
            <a:bodyPr rtlCol="0"/>
            <a:lstStyle/>
            <a:p>
              <a:pPr algn="ctr"/>
              <a:endParaRPr lang="zh-CN" altLang="en-US"/>
            </a:p>
          </p:txBody>
        </p:sp>
        <p:sp>
          <p:nvSpPr>
            <p:cNvPr id="766" name="path"/>
            <p:cNvSpPr/>
            <p:nvPr/>
          </p:nvSpPr>
          <p:spPr>
            <a:xfrm>
              <a:off x="183950" y="217809"/>
              <a:ext cx="47903" cy="50485"/>
            </a:xfrm>
            <a:custGeom>
              <a:avLst/>
              <a:gdLst/>
              <a:ahLst/>
              <a:cxnLst/>
              <a:rect l="0" t="0" r="0" b="0"/>
              <a:pathLst>
                <a:path w="75" h="79">
                  <a:moveTo>
                    <a:pt x="5" y="28"/>
                  </a:moveTo>
                  <a:lnTo>
                    <a:pt x="22" y="17"/>
                  </a:lnTo>
                  <a:lnTo>
                    <a:pt x="37" y="7"/>
                  </a:lnTo>
                  <a:lnTo>
                    <a:pt x="55" y="0"/>
                  </a:lnTo>
                  <a:lnTo>
                    <a:pt x="69" y="12"/>
                  </a:lnTo>
                  <a:lnTo>
                    <a:pt x="75" y="30"/>
                  </a:lnTo>
                  <a:lnTo>
                    <a:pt x="75" y="56"/>
                  </a:lnTo>
                  <a:lnTo>
                    <a:pt x="73" y="78"/>
                  </a:lnTo>
                  <a:lnTo>
                    <a:pt x="53" y="73"/>
                  </a:lnTo>
                  <a:lnTo>
                    <a:pt x="37" y="79"/>
                  </a:lnTo>
                  <a:lnTo>
                    <a:pt x="15" y="77"/>
                  </a:lnTo>
                  <a:lnTo>
                    <a:pt x="0" y="64"/>
                  </a:lnTo>
                  <a:lnTo>
                    <a:pt x="5" y="28"/>
                  </a:lnTo>
                  <a:close/>
                </a:path>
              </a:pathLst>
            </a:custGeom>
            <a:solidFill>
              <a:srgbClr val="FFC4B8">
                <a:alpha val="100000"/>
              </a:srgbClr>
            </a:solidFill>
            <a:ln cap="flat">
              <a:noFill/>
              <a:prstDash val="solid"/>
              <a:miter lim="0"/>
            </a:ln>
          </p:spPr>
          <p:txBody>
            <a:bodyPr rtlCol="0"/>
            <a:lstStyle/>
            <a:p>
              <a:pPr algn="ctr"/>
              <a:endParaRPr lang="zh-CN" altLang="en-US"/>
            </a:p>
          </p:txBody>
        </p:sp>
        <p:sp>
          <p:nvSpPr>
            <p:cNvPr id="767" name="path"/>
            <p:cNvSpPr/>
            <p:nvPr/>
          </p:nvSpPr>
          <p:spPr>
            <a:xfrm>
              <a:off x="54267" y="89573"/>
              <a:ext cx="141847" cy="172589"/>
            </a:xfrm>
            <a:custGeom>
              <a:avLst/>
              <a:gdLst/>
              <a:ahLst/>
              <a:cxnLst/>
              <a:rect l="0" t="0" r="0" b="0"/>
              <a:pathLst>
                <a:path w="223" h="271">
                  <a:moveTo>
                    <a:pt x="203" y="220"/>
                  </a:moveTo>
                  <a:lnTo>
                    <a:pt x="223" y="226"/>
                  </a:lnTo>
                  <a:lnTo>
                    <a:pt x="210" y="271"/>
                  </a:lnTo>
                  <a:lnTo>
                    <a:pt x="198" y="266"/>
                  </a:lnTo>
                  <a:lnTo>
                    <a:pt x="203" y="220"/>
                  </a:lnTo>
                  <a:close/>
                </a:path>
                <a:path w="223" h="271">
                  <a:moveTo>
                    <a:pt x="0" y="24"/>
                  </a:moveTo>
                  <a:lnTo>
                    <a:pt x="18" y="0"/>
                  </a:lnTo>
                  <a:lnTo>
                    <a:pt x="73" y="29"/>
                  </a:lnTo>
                  <a:lnTo>
                    <a:pt x="101" y="47"/>
                  </a:lnTo>
                  <a:lnTo>
                    <a:pt x="75" y="142"/>
                  </a:lnTo>
                  <a:lnTo>
                    <a:pt x="23" y="109"/>
                  </a:lnTo>
                  <a:lnTo>
                    <a:pt x="0" y="24"/>
                  </a:lnTo>
                  <a:close/>
                </a:path>
              </a:pathLst>
            </a:custGeom>
            <a:solidFill>
              <a:srgbClr val="E5E5FF">
                <a:alpha val="100000"/>
              </a:srgbClr>
            </a:solidFill>
            <a:ln cap="flat">
              <a:noFill/>
              <a:prstDash val="solid"/>
              <a:miter lim="0"/>
            </a:ln>
          </p:spPr>
          <p:txBody>
            <a:bodyPr rtlCol="0"/>
            <a:lstStyle/>
            <a:p>
              <a:pPr algn="ctr"/>
              <a:endParaRPr lang="zh-CN" altLang="en-US"/>
            </a:p>
          </p:txBody>
        </p:sp>
        <p:sp>
          <p:nvSpPr>
            <p:cNvPr id="768" name="path"/>
            <p:cNvSpPr/>
            <p:nvPr/>
          </p:nvSpPr>
          <p:spPr>
            <a:xfrm>
              <a:off x="51647" y="22832"/>
              <a:ext cx="331031" cy="84530"/>
            </a:xfrm>
            <a:custGeom>
              <a:avLst/>
              <a:gdLst/>
              <a:ahLst/>
              <a:cxnLst/>
              <a:rect l="0" t="0" r="0" b="0"/>
              <a:pathLst>
                <a:path w="521" h="133">
                  <a:moveTo>
                    <a:pt x="445" y="0"/>
                  </a:moveTo>
                  <a:lnTo>
                    <a:pt x="435" y="49"/>
                  </a:lnTo>
                  <a:lnTo>
                    <a:pt x="446" y="100"/>
                  </a:lnTo>
                  <a:lnTo>
                    <a:pt x="472" y="130"/>
                  </a:lnTo>
                  <a:lnTo>
                    <a:pt x="495" y="128"/>
                  </a:lnTo>
                  <a:lnTo>
                    <a:pt x="503" y="87"/>
                  </a:lnTo>
                  <a:lnTo>
                    <a:pt x="521" y="61"/>
                  </a:lnTo>
                  <a:lnTo>
                    <a:pt x="476" y="4"/>
                  </a:lnTo>
                  <a:lnTo>
                    <a:pt x="445" y="0"/>
                  </a:lnTo>
                  <a:close/>
                </a:path>
                <a:path w="521" h="133">
                  <a:moveTo>
                    <a:pt x="63" y="2"/>
                  </a:moveTo>
                  <a:lnTo>
                    <a:pt x="75" y="28"/>
                  </a:lnTo>
                  <a:lnTo>
                    <a:pt x="80" y="71"/>
                  </a:lnTo>
                  <a:lnTo>
                    <a:pt x="61" y="133"/>
                  </a:lnTo>
                  <a:lnTo>
                    <a:pt x="46" y="133"/>
                  </a:lnTo>
                  <a:lnTo>
                    <a:pt x="16" y="109"/>
                  </a:lnTo>
                  <a:lnTo>
                    <a:pt x="0" y="66"/>
                  </a:lnTo>
                  <a:lnTo>
                    <a:pt x="0" y="32"/>
                  </a:lnTo>
                  <a:lnTo>
                    <a:pt x="43" y="3"/>
                  </a:lnTo>
                  <a:lnTo>
                    <a:pt x="63" y="2"/>
                  </a:lnTo>
                  <a:close/>
                </a:path>
              </a:pathLst>
            </a:custGeom>
            <a:solidFill>
              <a:srgbClr val="FFC4B8">
                <a:alpha val="100000"/>
              </a:srgbClr>
            </a:solidFill>
            <a:ln cap="flat">
              <a:noFill/>
              <a:prstDash val="solid"/>
              <a:miter lim="0"/>
            </a:ln>
          </p:spPr>
          <p:txBody>
            <a:bodyPr rtlCol="0"/>
            <a:lstStyle/>
            <a:p>
              <a:pPr algn="ctr"/>
              <a:endParaRPr lang="zh-CN" altLang="en-US"/>
            </a:p>
          </p:txBody>
        </p:sp>
        <p:sp>
          <p:nvSpPr>
            <p:cNvPr id="769" name="path"/>
            <p:cNvSpPr/>
            <p:nvPr/>
          </p:nvSpPr>
          <p:spPr>
            <a:xfrm>
              <a:off x="0" y="0"/>
              <a:ext cx="481098" cy="499728"/>
            </a:xfrm>
            <a:custGeom>
              <a:avLst/>
              <a:gdLst/>
              <a:ahLst/>
              <a:cxnLst/>
              <a:rect l="0" t="0" r="0" b="0"/>
              <a:pathLst>
                <a:path w="757" h="786">
                  <a:moveTo>
                    <a:pt x="562" y="0"/>
                  </a:moveTo>
                  <a:lnTo>
                    <a:pt x="525" y="36"/>
                  </a:lnTo>
                  <a:lnTo>
                    <a:pt x="562" y="52"/>
                  </a:lnTo>
                  <a:lnTo>
                    <a:pt x="575" y="86"/>
                  </a:lnTo>
                  <a:lnTo>
                    <a:pt x="599" y="95"/>
                  </a:lnTo>
                  <a:lnTo>
                    <a:pt x="578" y="129"/>
                  </a:lnTo>
                  <a:lnTo>
                    <a:pt x="625" y="98"/>
                  </a:lnTo>
                  <a:lnTo>
                    <a:pt x="607" y="77"/>
                  </a:lnTo>
                  <a:lnTo>
                    <a:pt x="628" y="42"/>
                  </a:lnTo>
                  <a:lnTo>
                    <a:pt x="596" y="52"/>
                  </a:lnTo>
                  <a:lnTo>
                    <a:pt x="604" y="6"/>
                  </a:lnTo>
                  <a:lnTo>
                    <a:pt x="598" y="11"/>
                  </a:lnTo>
                  <a:lnTo>
                    <a:pt x="592" y="15"/>
                  </a:lnTo>
                  <a:lnTo>
                    <a:pt x="585" y="19"/>
                  </a:lnTo>
                  <a:lnTo>
                    <a:pt x="579" y="23"/>
                  </a:lnTo>
                  <a:lnTo>
                    <a:pt x="574" y="26"/>
                  </a:lnTo>
                  <a:lnTo>
                    <a:pt x="571" y="27"/>
                  </a:lnTo>
                  <a:lnTo>
                    <a:pt x="572" y="24"/>
                  </a:lnTo>
                  <a:lnTo>
                    <a:pt x="574" y="15"/>
                  </a:lnTo>
                  <a:lnTo>
                    <a:pt x="570" y="7"/>
                  </a:lnTo>
                  <a:lnTo>
                    <a:pt x="565" y="1"/>
                  </a:lnTo>
                  <a:lnTo>
                    <a:pt x="562" y="0"/>
                  </a:lnTo>
                  <a:close/>
                </a:path>
                <a:path w="757" h="786">
                  <a:moveTo>
                    <a:pt x="545" y="161"/>
                  </a:moveTo>
                  <a:lnTo>
                    <a:pt x="574" y="161"/>
                  </a:lnTo>
                  <a:lnTo>
                    <a:pt x="564" y="196"/>
                  </a:lnTo>
                  <a:lnTo>
                    <a:pt x="573" y="277"/>
                  </a:lnTo>
                  <a:lnTo>
                    <a:pt x="540" y="348"/>
                  </a:lnTo>
                  <a:lnTo>
                    <a:pt x="550" y="209"/>
                  </a:lnTo>
                  <a:lnTo>
                    <a:pt x="553" y="196"/>
                  </a:lnTo>
                  <a:lnTo>
                    <a:pt x="545" y="161"/>
                  </a:lnTo>
                  <a:close/>
                </a:path>
                <a:path w="757" h="786">
                  <a:moveTo>
                    <a:pt x="596" y="143"/>
                  </a:moveTo>
                  <a:lnTo>
                    <a:pt x="546" y="327"/>
                  </a:lnTo>
                  <a:lnTo>
                    <a:pt x="535" y="155"/>
                  </a:lnTo>
                  <a:lnTo>
                    <a:pt x="496" y="182"/>
                  </a:lnTo>
                  <a:lnTo>
                    <a:pt x="491" y="199"/>
                  </a:lnTo>
                  <a:lnTo>
                    <a:pt x="485" y="217"/>
                  </a:lnTo>
                  <a:lnTo>
                    <a:pt x="481" y="228"/>
                  </a:lnTo>
                  <a:lnTo>
                    <a:pt x="477" y="239"/>
                  </a:lnTo>
                  <a:lnTo>
                    <a:pt x="473" y="251"/>
                  </a:lnTo>
                  <a:lnTo>
                    <a:pt x="468" y="262"/>
                  </a:lnTo>
                  <a:lnTo>
                    <a:pt x="463" y="274"/>
                  </a:lnTo>
                  <a:lnTo>
                    <a:pt x="457" y="284"/>
                  </a:lnTo>
                  <a:lnTo>
                    <a:pt x="452" y="295"/>
                  </a:lnTo>
                  <a:lnTo>
                    <a:pt x="446" y="304"/>
                  </a:lnTo>
                  <a:lnTo>
                    <a:pt x="442" y="308"/>
                  </a:lnTo>
                  <a:lnTo>
                    <a:pt x="439" y="311"/>
                  </a:lnTo>
                  <a:lnTo>
                    <a:pt x="433" y="318"/>
                  </a:lnTo>
                  <a:lnTo>
                    <a:pt x="427" y="322"/>
                  </a:lnTo>
                  <a:lnTo>
                    <a:pt x="420" y="327"/>
                  </a:lnTo>
                  <a:lnTo>
                    <a:pt x="414" y="330"/>
                  </a:lnTo>
                  <a:lnTo>
                    <a:pt x="407" y="334"/>
                  </a:lnTo>
                  <a:lnTo>
                    <a:pt x="395" y="339"/>
                  </a:lnTo>
                  <a:lnTo>
                    <a:pt x="383" y="342"/>
                  </a:lnTo>
                  <a:lnTo>
                    <a:pt x="359" y="346"/>
                  </a:lnTo>
                  <a:lnTo>
                    <a:pt x="369" y="362"/>
                  </a:lnTo>
                  <a:lnTo>
                    <a:pt x="374" y="377"/>
                  </a:lnTo>
                  <a:lnTo>
                    <a:pt x="373" y="392"/>
                  </a:lnTo>
                  <a:lnTo>
                    <a:pt x="364" y="415"/>
                  </a:lnTo>
                  <a:lnTo>
                    <a:pt x="362" y="425"/>
                  </a:lnTo>
                  <a:lnTo>
                    <a:pt x="373" y="422"/>
                  </a:lnTo>
                  <a:lnTo>
                    <a:pt x="385" y="417"/>
                  </a:lnTo>
                  <a:lnTo>
                    <a:pt x="399" y="411"/>
                  </a:lnTo>
                  <a:lnTo>
                    <a:pt x="407" y="407"/>
                  </a:lnTo>
                  <a:lnTo>
                    <a:pt x="414" y="403"/>
                  </a:lnTo>
                  <a:lnTo>
                    <a:pt x="423" y="398"/>
                  </a:lnTo>
                  <a:lnTo>
                    <a:pt x="431" y="393"/>
                  </a:lnTo>
                  <a:lnTo>
                    <a:pt x="439" y="388"/>
                  </a:lnTo>
                  <a:lnTo>
                    <a:pt x="446" y="382"/>
                  </a:lnTo>
                  <a:lnTo>
                    <a:pt x="453" y="376"/>
                  </a:lnTo>
                  <a:lnTo>
                    <a:pt x="459" y="370"/>
                  </a:lnTo>
                  <a:lnTo>
                    <a:pt x="465" y="363"/>
                  </a:lnTo>
                  <a:lnTo>
                    <a:pt x="470" y="356"/>
                  </a:lnTo>
                  <a:lnTo>
                    <a:pt x="480" y="340"/>
                  </a:lnTo>
                  <a:lnTo>
                    <a:pt x="487" y="323"/>
                  </a:lnTo>
                  <a:lnTo>
                    <a:pt x="494" y="306"/>
                  </a:lnTo>
                  <a:lnTo>
                    <a:pt x="498" y="291"/>
                  </a:lnTo>
                  <a:lnTo>
                    <a:pt x="501" y="279"/>
                  </a:lnTo>
                  <a:lnTo>
                    <a:pt x="504" y="268"/>
                  </a:lnTo>
                  <a:lnTo>
                    <a:pt x="507" y="441"/>
                  </a:lnTo>
                  <a:lnTo>
                    <a:pt x="586" y="698"/>
                  </a:lnTo>
                  <a:lnTo>
                    <a:pt x="549" y="747"/>
                  </a:lnTo>
                  <a:lnTo>
                    <a:pt x="620" y="713"/>
                  </a:lnTo>
                  <a:lnTo>
                    <a:pt x="594" y="525"/>
                  </a:lnTo>
                  <a:lnTo>
                    <a:pt x="641" y="719"/>
                  </a:lnTo>
                  <a:lnTo>
                    <a:pt x="617" y="772"/>
                  </a:lnTo>
                  <a:lnTo>
                    <a:pt x="675" y="722"/>
                  </a:lnTo>
                  <a:lnTo>
                    <a:pt x="673" y="621"/>
                  </a:lnTo>
                  <a:lnTo>
                    <a:pt x="648" y="611"/>
                  </a:lnTo>
                  <a:lnTo>
                    <a:pt x="628" y="478"/>
                  </a:lnTo>
                  <a:lnTo>
                    <a:pt x="657" y="466"/>
                  </a:lnTo>
                  <a:lnTo>
                    <a:pt x="646" y="339"/>
                  </a:lnTo>
                  <a:lnTo>
                    <a:pt x="654" y="282"/>
                  </a:lnTo>
                  <a:lnTo>
                    <a:pt x="678" y="357"/>
                  </a:lnTo>
                  <a:lnTo>
                    <a:pt x="687" y="432"/>
                  </a:lnTo>
                  <a:lnTo>
                    <a:pt x="707" y="432"/>
                  </a:lnTo>
                  <a:lnTo>
                    <a:pt x="718" y="364"/>
                  </a:lnTo>
                  <a:lnTo>
                    <a:pt x="720" y="316"/>
                  </a:lnTo>
                  <a:lnTo>
                    <a:pt x="716" y="286"/>
                  </a:lnTo>
                  <a:lnTo>
                    <a:pt x="709" y="258"/>
                  </a:lnTo>
                  <a:lnTo>
                    <a:pt x="705" y="245"/>
                  </a:lnTo>
                  <a:lnTo>
                    <a:pt x="700" y="233"/>
                  </a:lnTo>
                  <a:lnTo>
                    <a:pt x="696" y="222"/>
                  </a:lnTo>
                  <a:lnTo>
                    <a:pt x="690" y="212"/>
                  </a:lnTo>
                  <a:lnTo>
                    <a:pt x="685" y="203"/>
                  </a:lnTo>
                  <a:lnTo>
                    <a:pt x="682" y="199"/>
                  </a:lnTo>
                  <a:lnTo>
                    <a:pt x="679" y="195"/>
                  </a:lnTo>
                  <a:lnTo>
                    <a:pt x="676" y="191"/>
                  </a:lnTo>
                  <a:lnTo>
                    <a:pt x="673" y="187"/>
                  </a:lnTo>
                  <a:lnTo>
                    <a:pt x="668" y="181"/>
                  </a:lnTo>
                  <a:lnTo>
                    <a:pt x="663" y="175"/>
                  </a:lnTo>
                  <a:lnTo>
                    <a:pt x="658" y="170"/>
                  </a:lnTo>
                  <a:lnTo>
                    <a:pt x="653" y="167"/>
                  </a:lnTo>
                  <a:lnTo>
                    <a:pt x="650" y="163"/>
                  </a:lnTo>
                  <a:lnTo>
                    <a:pt x="635" y="162"/>
                  </a:lnTo>
                  <a:lnTo>
                    <a:pt x="609" y="187"/>
                  </a:lnTo>
                  <a:lnTo>
                    <a:pt x="616" y="215"/>
                  </a:lnTo>
                  <a:lnTo>
                    <a:pt x="586" y="281"/>
                  </a:lnTo>
                  <a:lnTo>
                    <a:pt x="607" y="214"/>
                  </a:lnTo>
                  <a:lnTo>
                    <a:pt x="599" y="183"/>
                  </a:lnTo>
                  <a:lnTo>
                    <a:pt x="625" y="158"/>
                  </a:lnTo>
                  <a:lnTo>
                    <a:pt x="596" y="143"/>
                  </a:lnTo>
                  <a:close/>
                </a:path>
                <a:path w="757" h="786">
                  <a:moveTo>
                    <a:pt x="634" y="482"/>
                  </a:moveTo>
                  <a:lnTo>
                    <a:pt x="673" y="484"/>
                  </a:lnTo>
                  <a:lnTo>
                    <a:pt x="757" y="443"/>
                  </a:lnTo>
                  <a:lnTo>
                    <a:pt x="754" y="580"/>
                  </a:lnTo>
                  <a:lnTo>
                    <a:pt x="687" y="619"/>
                  </a:lnTo>
                  <a:lnTo>
                    <a:pt x="683" y="555"/>
                  </a:lnTo>
                  <a:lnTo>
                    <a:pt x="749" y="520"/>
                  </a:lnTo>
                  <a:lnTo>
                    <a:pt x="676" y="536"/>
                  </a:lnTo>
                  <a:lnTo>
                    <a:pt x="673" y="506"/>
                  </a:lnTo>
                  <a:lnTo>
                    <a:pt x="634" y="482"/>
                  </a:lnTo>
                  <a:close/>
                </a:path>
                <a:path w="757" h="786">
                  <a:moveTo>
                    <a:pt x="92" y="156"/>
                  </a:moveTo>
                  <a:lnTo>
                    <a:pt x="39" y="185"/>
                  </a:lnTo>
                  <a:lnTo>
                    <a:pt x="36" y="420"/>
                  </a:lnTo>
                  <a:lnTo>
                    <a:pt x="8" y="582"/>
                  </a:lnTo>
                  <a:lnTo>
                    <a:pt x="0" y="722"/>
                  </a:lnTo>
                  <a:lnTo>
                    <a:pt x="54" y="772"/>
                  </a:lnTo>
                  <a:lnTo>
                    <a:pt x="37" y="709"/>
                  </a:lnTo>
                  <a:lnTo>
                    <a:pt x="86" y="525"/>
                  </a:lnTo>
                  <a:lnTo>
                    <a:pt x="54" y="709"/>
                  </a:lnTo>
                  <a:lnTo>
                    <a:pt x="121" y="747"/>
                  </a:lnTo>
                  <a:lnTo>
                    <a:pt x="92" y="695"/>
                  </a:lnTo>
                  <a:lnTo>
                    <a:pt x="167" y="457"/>
                  </a:lnTo>
                  <a:lnTo>
                    <a:pt x="167" y="358"/>
                  </a:lnTo>
                  <a:lnTo>
                    <a:pt x="173" y="363"/>
                  </a:lnTo>
                  <a:lnTo>
                    <a:pt x="180" y="368"/>
                  </a:lnTo>
                  <a:lnTo>
                    <a:pt x="190" y="375"/>
                  </a:lnTo>
                  <a:lnTo>
                    <a:pt x="196" y="378"/>
                  </a:lnTo>
                  <a:lnTo>
                    <a:pt x="202" y="382"/>
                  </a:lnTo>
                  <a:lnTo>
                    <a:pt x="208" y="386"/>
                  </a:lnTo>
                  <a:lnTo>
                    <a:pt x="215" y="390"/>
                  </a:lnTo>
                  <a:lnTo>
                    <a:pt x="222" y="393"/>
                  </a:lnTo>
                  <a:lnTo>
                    <a:pt x="229" y="396"/>
                  </a:lnTo>
                  <a:lnTo>
                    <a:pt x="245" y="403"/>
                  </a:lnTo>
                  <a:lnTo>
                    <a:pt x="258" y="408"/>
                  </a:lnTo>
                  <a:lnTo>
                    <a:pt x="269" y="411"/>
                  </a:lnTo>
                  <a:lnTo>
                    <a:pt x="284" y="413"/>
                  </a:lnTo>
                  <a:lnTo>
                    <a:pt x="293" y="410"/>
                  </a:lnTo>
                  <a:lnTo>
                    <a:pt x="293" y="364"/>
                  </a:lnTo>
                  <a:lnTo>
                    <a:pt x="290" y="362"/>
                  </a:lnTo>
                  <a:lnTo>
                    <a:pt x="279" y="357"/>
                  </a:lnTo>
                  <a:lnTo>
                    <a:pt x="272" y="353"/>
                  </a:lnTo>
                  <a:lnTo>
                    <a:pt x="264" y="349"/>
                  </a:lnTo>
                  <a:lnTo>
                    <a:pt x="255" y="344"/>
                  </a:lnTo>
                  <a:lnTo>
                    <a:pt x="245" y="338"/>
                  </a:lnTo>
                  <a:lnTo>
                    <a:pt x="235" y="332"/>
                  </a:lnTo>
                  <a:lnTo>
                    <a:pt x="224" y="326"/>
                  </a:lnTo>
                  <a:lnTo>
                    <a:pt x="214" y="319"/>
                  </a:lnTo>
                  <a:lnTo>
                    <a:pt x="203" y="312"/>
                  </a:lnTo>
                  <a:lnTo>
                    <a:pt x="198" y="308"/>
                  </a:lnTo>
                  <a:lnTo>
                    <a:pt x="193" y="304"/>
                  </a:lnTo>
                  <a:lnTo>
                    <a:pt x="188" y="300"/>
                  </a:lnTo>
                  <a:lnTo>
                    <a:pt x="183" y="296"/>
                  </a:lnTo>
                  <a:lnTo>
                    <a:pt x="178" y="292"/>
                  </a:lnTo>
                  <a:lnTo>
                    <a:pt x="174" y="288"/>
                  </a:lnTo>
                  <a:lnTo>
                    <a:pt x="169" y="284"/>
                  </a:lnTo>
                  <a:lnTo>
                    <a:pt x="165" y="280"/>
                  </a:lnTo>
                  <a:lnTo>
                    <a:pt x="157" y="271"/>
                  </a:lnTo>
                  <a:lnTo>
                    <a:pt x="153" y="266"/>
                  </a:lnTo>
                  <a:lnTo>
                    <a:pt x="150" y="261"/>
                  </a:lnTo>
                  <a:lnTo>
                    <a:pt x="146" y="257"/>
                  </a:lnTo>
                  <a:lnTo>
                    <a:pt x="143" y="252"/>
                  </a:lnTo>
                  <a:lnTo>
                    <a:pt x="139" y="246"/>
                  </a:lnTo>
                  <a:lnTo>
                    <a:pt x="136" y="242"/>
                  </a:lnTo>
                  <a:lnTo>
                    <a:pt x="123" y="221"/>
                  </a:lnTo>
                  <a:lnTo>
                    <a:pt x="113" y="201"/>
                  </a:lnTo>
                  <a:lnTo>
                    <a:pt x="104" y="183"/>
                  </a:lnTo>
                  <a:lnTo>
                    <a:pt x="97" y="169"/>
                  </a:lnTo>
                  <a:lnTo>
                    <a:pt x="92" y="156"/>
                  </a:lnTo>
                  <a:close/>
                </a:path>
                <a:path w="757" h="786">
                  <a:moveTo>
                    <a:pt x="126" y="167"/>
                  </a:moveTo>
                  <a:lnTo>
                    <a:pt x="142" y="169"/>
                  </a:lnTo>
                  <a:lnTo>
                    <a:pt x="138" y="193"/>
                  </a:lnTo>
                  <a:lnTo>
                    <a:pt x="150" y="233"/>
                  </a:lnTo>
                  <a:lnTo>
                    <a:pt x="135" y="301"/>
                  </a:lnTo>
                  <a:lnTo>
                    <a:pt x="126" y="258"/>
                  </a:lnTo>
                  <a:lnTo>
                    <a:pt x="136" y="220"/>
                  </a:lnTo>
                  <a:lnTo>
                    <a:pt x="129" y="193"/>
                  </a:lnTo>
                  <a:lnTo>
                    <a:pt x="126" y="167"/>
                  </a:lnTo>
                  <a:close/>
                </a:path>
                <a:path w="757" h="786">
                  <a:moveTo>
                    <a:pt x="158" y="169"/>
                  </a:moveTo>
                  <a:lnTo>
                    <a:pt x="150" y="290"/>
                  </a:lnTo>
                  <a:lnTo>
                    <a:pt x="171" y="310"/>
                  </a:lnTo>
                  <a:lnTo>
                    <a:pt x="194" y="192"/>
                  </a:lnTo>
                  <a:lnTo>
                    <a:pt x="176" y="179"/>
                  </a:lnTo>
                  <a:lnTo>
                    <a:pt x="167" y="202"/>
                  </a:lnTo>
                  <a:lnTo>
                    <a:pt x="168" y="224"/>
                  </a:lnTo>
                  <a:lnTo>
                    <a:pt x="159" y="242"/>
                  </a:lnTo>
                  <a:lnTo>
                    <a:pt x="162" y="217"/>
                  </a:lnTo>
                  <a:lnTo>
                    <a:pt x="159" y="193"/>
                  </a:lnTo>
                  <a:lnTo>
                    <a:pt x="168" y="178"/>
                  </a:lnTo>
                  <a:lnTo>
                    <a:pt x="158" y="169"/>
                  </a:lnTo>
                  <a:close/>
                </a:path>
                <a:path w="757" h="786">
                  <a:moveTo>
                    <a:pt x="150" y="34"/>
                  </a:moveTo>
                  <a:lnTo>
                    <a:pt x="115" y="0"/>
                  </a:lnTo>
                  <a:lnTo>
                    <a:pt x="111" y="18"/>
                  </a:lnTo>
                  <a:lnTo>
                    <a:pt x="107" y="29"/>
                  </a:lnTo>
                  <a:lnTo>
                    <a:pt x="104" y="31"/>
                  </a:lnTo>
                  <a:lnTo>
                    <a:pt x="104" y="36"/>
                  </a:lnTo>
                  <a:lnTo>
                    <a:pt x="106" y="47"/>
                  </a:lnTo>
                  <a:lnTo>
                    <a:pt x="80" y="15"/>
                  </a:lnTo>
                  <a:lnTo>
                    <a:pt x="81" y="50"/>
                  </a:lnTo>
                  <a:lnTo>
                    <a:pt x="52" y="43"/>
                  </a:lnTo>
                  <a:lnTo>
                    <a:pt x="74" y="72"/>
                  </a:lnTo>
                  <a:lnTo>
                    <a:pt x="48" y="92"/>
                  </a:lnTo>
                  <a:lnTo>
                    <a:pt x="53" y="95"/>
                  </a:lnTo>
                  <a:lnTo>
                    <a:pt x="59" y="98"/>
                  </a:lnTo>
                  <a:lnTo>
                    <a:pt x="65" y="102"/>
                  </a:lnTo>
                  <a:lnTo>
                    <a:pt x="72" y="105"/>
                  </a:lnTo>
                  <a:lnTo>
                    <a:pt x="78" y="109"/>
                  </a:lnTo>
                  <a:lnTo>
                    <a:pt x="86" y="113"/>
                  </a:lnTo>
                  <a:lnTo>
                    <a:pt x="88" y="110"/>
                  </a:lnTo>
                  <a:lnTo>
                    <a:pt x="87" y="102"/>
                  </a:lnTo>
                  <a:lnTo>
                    <a:pt x="84" y="90"/>
                  </a:lnTo>
                  <a:lnTo>
                    <a:pt x="116" y="85"/>
                  </a:lnTo>
                  <a:lnTo>
                    <a:pt x="115" y="56"/>
                  </a:lnTo>
                  <a:lnTo>
                    <a:pt x="150" y="34"/>
                  </a:lnTo>
                  <a:close/>
                </a:path>
                <a:path w="757" h="786">
                  <a:moveTo>
                    <a:pt x="343" y="353"/>
                  </a:moveTo>
                  <a:lnTo>
                    <a:pt x="319" y="364"/>
                  </a:lnTo>
                  <a:lnTo>
                    <a:pt x="311" y="373"/>
                  </a:lnTo>
                  <a:lnTo>
                    <a:pt x="330" y="373"/>
                  </a:lnTo>
                  <a:lnTo>
                    <a:pt x="345" y="380"/>
                  </a:lnTo>
                  <a:lnTo>
                    <a:pt x="355" y="394"/>
                  </a:lnTo>
                  <a:lnTo>
                    <a:pt x="359" y="378"/>
                  </a:lnTo>
                  <a:lnTo>
                    <a:pt x="345" y="365"/>
                  </a:lnTo>
                  <a:lnTo>
                    <a:pt x="343" y="353"/>
                  </a:lnTo>
                  <a:close/>
                </a:path>
                <a:path w="757" h="786">
                  <a:moveTo>
                    <a:pt x="295" y="412"/>
                  </a:moveTo>
                  <a:lnTo>
                    <a:pt x="317" y="430"/>
                  </a:lnTo>
                  <a:lnTo>
                    <a:pt x="338" y="430"/>
                  </a:lnTo>
                  <a:lnTo>
                    <a:pt x="354" y="415"/>
                  </a:lnTo>
                  <a:lnTo>
                    <a:pt x="345" y="405"/>
                  </a:lnTo>
                  <a:lnTo>
                    <a:pt x="340" y="394"/>
                  </a:lnTo>
                  <a:lnTo>
                    <a:pt x="331" y="405"/>
                  </a:lnTo>
                  <a:lnTo>
                    <a:pt x="333" y="414"/>
                  </a:lnTo>
                  <a:lnTo>
                    <a:pt x="322" y="418"/>
                  </a:lnTo>
                  <a:lnTo>
                    <a:pt x="295" y="412"/>
                  </a:lnTo>
                  <a:close/>
                </a:path>
                <a:path w="757" h="786">
                  <a:moveTo>
                    <a:pt x="132" y="735"/>
                  </a:moveTo>
                  <a:lnTo>
                    <a:pt x="141" y="729"/>
                  </a:lnTo>
                  <a:lnTo>
                    <a:pt x="151" y="724"/>
                  </a:lnTo>
                  <a:lnTo>
                    <a:pt x="165" y="718"/>
                  </a:lnTo>
                  <a:lnTo>
                    <a:pt x="182" y="713"/>
                  </a:lnTo>
                  <a:lnTo>
                    <a:pt x="201" y="709"/>
                  </a:lnTo>
                  <a:lnTo>
                    <a:pt x="244" y="709"/>
                  </a:lnTo>
                  <a:lnTo>
                    <a:pt x="267" y="712"/>
                  </a:lnTo>
                  <a:lnTo>
                    <a:pt x="290" y="714"/>
                  </a:lnTo>
                  <a:lnTo>
                    <a:pt x="330" y="711"/>
                  </a:lnTo>
                  <a:lnTo>
                    <a:pt x="357" y="705"/>
                  </a:lnTo>
                  <a:lnTo>
                    <a:pt x="364" y="702"/>
                  </a:lnTo>
                  <a:lnTo>
                    <a:pt x="366" y="699"/>
                  </a:lnTo>
                  <a:lnTo>
                    <a:pt x="359" y="695"/>
                  </a:lnTo>
                  <a:lnTo>
                    <a:pt x="345" y="689"/>
                  </a:lnTo>
                  <a:lnTo>
                    <a:pt x="327" y="682"/>
                  </a:lnTo>
                  <a:lnTo>
                    <a:pt x="310" y="676"/>
                  </a:lnTo>
                  <a:lnTo>
                    <a:pt x="297" y="670"/>
                  </a:lnTo>
                  <a:lnTo>
                    <a:pt x="292" y="664"/>
                  </a:lnTo>
                  <a:lnTo>
                    <a:pt x="295" y="662"/>
                  </a:lnTo>
                  <a:lnTo>
                    <a:pt x="301" y="660"/>
                  </a:lnTo>
                  <a:lnTo>
                    <a:pt x="326" y="658"/>
                  </a:lnTo>
                  <a:lnTo>
                    <a:pt x="404" y="660"/>
                  </a:lnTo>
                  <a:lnTo>
                    <a:pt x="483" y="666"/>
                  </a:lnTo>
                  <a:lnTo>
                    <a:pt x="543" y="678"/>
                  </a:lnTo>
                  <a:lnTo>
                    <a:pt x="558" y="684"/>
                  </a:lnTo>
                  <a:lnTo>
                    <a:pt x="561" y="688"/>
                  </a:lnTo>
                  <a:lnTo>
                    <a:pt x="560" y="692"/>
                  </a:lnTo>
                  <a:lnTo>
                    <a:pt x="556" y="696"/>
                  </a:lnTo>
                  <a:lnTo>
                    <a:pt x="549" y="699"/>
                  </a:lnTo>
                  <a:lnTo>
                    <a:pt x="531" y="703"/>
                  </a:lnTo>
                  <a:lnTo>
                    <a:pt x="484" y="707"/>
                  </a:lnTo>
                  <a:lnTo>
                    <a:pt x="442" y="711"/>
                  </a:lnTo>
                  <a:lnTo>
                    <a:pt x="432" y="715"/>
                  </a:lnTo>
                  <a:lnTo>
                    <a:pt x="431" y="720"/>
                  </a:lnTo>
                  <a:lnTo>
                    <a:pt x="435" y="723"/>
                  </a:lnTo>
                  <a:lnTo>
                    <a:pt x="442" y="726"/>
                  </a:lnTo>
                  <a:lnTo>
                    <a:pt x="460" y="732"/>
                  </a:lnTo>
                  <a:lnTo>
                    <a:pt x="480" y="737"/>
                  </a:lnTo>
                  <a:lnTo>
                    <a:pt x="501" y="743"/>
                  </a:lnTo>
                  <a:lnTo>
                    <a:pt x="525" y="753"/>
                  </a:lnTo>
                  <a:lnTo>
                    <a:pt x="525" y="755"/>
                  </a:lnTo>
                  <a:lnTo>
                    <a:pt x="522" y="758"/>
                  </a:lnTo>
                  <a:lnTo>
                    <a:pt x="503" y="763"/>
                  </a:lnTo>
                  <a:lnTo>
                    <a:pt x="472" y="768"/>
                  </a:lnTo>
                  <a:lnTo>
                    <a:pt x="436" y="773"/>
                  </a:lnTo>
                  <a:lnTo>
                    <a:pt x="396" y="779"/>
                  </a:lnTo>
                  <a:lnTo>
                    <a:pt x="356" y="783"/>
                  </a:lnTo>
                  <a:lnTo>
                    <a:pt x="320" y="786"/>
                  </a:lnTo>
                  <a:lnTo>
                    <a:pt x="289" y="786"/>
                  </a:lnTo>
                  <a:lnTo>
                    <a:pt x="267" y="784"/>
                  </a:lnTo>
                  <a:lnTo>
                    <a:pt x="257" y="777"/>
                  </a:lnTo>
                  <a:lnTo>
                    <a:pt x="258" y="770"/>
                  </a:lnTo>
                  <a:lnTo>
                    <a:pt x="261" y="767"/>
                  </a:lnTo>
                  <a:lnTo>
                    <a:pt x="265" y="766"/>
                  </a:lnTo>
                  <a:lnTo>
                    <a:pt x="278" y="763"/>
                  </a:lnTo>
                  <a:lnTo>
                    <a:pt x="294" y="761"/>
                  </a:lnTo>
                  <a:lnTo>
                    <a:pt x="328" y="756"/>
                  </a:lnTo>
                  <a:lnTo>
                    <a:pt x="355" y="745"/>
                  </a:lnTo>
                  <a:lnTo>
                    <a:pt x="358" y="739"/>
                  </a:lnTo>
                  <a:lnTo>
                    <a:pt x="352" y="736"/>
                  </a:lnTo>
                  <a:lnTo>
                    <a:pt x="318" y="736"/>
                  </a:lnTo>
                  <a:lnTo>
                    <a:pt x="270" y="738"/>
                  </a:lnTo>
                  <a:lnTo>
                    <a:pt x="226" y="735"/>
                  </a:lnTo>
                  <a:lnTo>
                    <a:pt x="210" y="733"/>
                  </a:lnTo>
                  <a:lnTo>
                    <a:pt x="196" y="735"/>
                  </a:lnTo>
                  <a:lnTo>
                    <a:pt x="175" y="746"/>
                  </a:lnTo>
                  <a:lnTo>
                    <a:pt x="167" y="751"/>
                  </a:lnTo>
                  <a:lnTo>
                    <a:pt x="160" y="755"/>
                  </a:lnTo>
                  <a:lnTo>
                    <a:pt x="153" y="755"/>
                  </a:lnTo>
                  <a:lnTo>
                    <a:pt x="146" y="752"/>
                  </a:lnTo>
                  <a:lnTo>
                    <a:pt x="132" y="737"/>
                  </a:lnTo>
                  <a:lnTo>
                    <a:pt x="132" y="735"/>
                  </a:lnTo>
                  <a:close/>
                </a:path>
              </a:pathLst>
            </a:custGeom>
            <a:solidFill>
              <a:srgbClr val="000000">
                <a:alpha val="100000"/>
              </a:srgbClr>
            </a:solidFill>
            <a:ln cap="flat">
              <a:noFill/>
              <a:prstDash val="solid"/>
              <a:miter lim="0"/>
            </a:ln>
          </p:spPr>
          <p:txBody>
            <a:bodyPr rtlCol="0"/>
            <a:lstStyle/>
            <a:p>
              <a:pPr algn="ctr"/>
              <a:endParaRPr lang="zh-CN" altLang="en-US"/>
            </a:p>
          </p:txBody>
        </p:sp>
      </p:grpSp>
      <p:grpSp>
        <p:nvGrpSpPr>
          <p:cNvPr id="166" name="group 166"/>
          <p:cNvGrpSpPr/>
          <p:nvPr/>
        </p:nvGrpSpPr>
        <p:grpSpPr>
          <a:xfrm rot="21600000">
            <a:off x="437544" y="2402558"/>
            <a:ext cx="510199" cy="431827"/>
            <a:chOff x="0" y="0"/>
            <a:chExt cx="510199" cy="431827"/>
          </a:xfrm>
        </p:grpSpPr>
        <p:sp>
          <p:nvSpPr>
            <p:cNvPr id="770" name="path"/>
            <p:cNvSpPr/>
            <p:nvPr/>
          </p:nvSpPr>
          <p:spPr>
            <a:xfrm>
              <a:off x="238227" y="79131"/>
              <a:ext cx="260116" cy="336494"/>
            </a:xfrm>
            <a:custGeom>
              <a:avLst/>
              <a:gdLst/>
              <a:ahLst/>
              <a:cxnLst/>
              <a:rect l="0" t="0" r="0" b="0"/>
              <a:pathLst>
                <a:path w="409" h="529">
                  <a:moveTo>
                    <a:pt x="82" y="22"/>
                  </a:moveTo>
                  <a:lnTo>
                    <a:pt x="93" y="46"/>
                  </a:lnTo>
                  <a:lnTo>
                    <a:pt x="92" y="46"/>
                  </a:lnTo>
                  <a:lnTo>
                    <a:pt x="90" y="47"/>
                  </a:lnTo>
                  <a:lnTo>
                    <a:pt x="86" y="48"/>
                  </a:lnTo>
                  <a:lnTo>
                    <a:pt x="82" y="51"/>
                  </a:lnTo>
                  <a:lnTo>
                    <a:pt x="78" y="54"/>
                  </a:lnTo>
                  <a:lnTo>
                    <a:pt x="75" y="60"/>
                  </a:lnTo>
                  <a:lnTo>
                    <a:pt x="72" y="68"/>
                  </a:lnTo>
                  <a:lnTo>
                    <a:pt x="71" y="78"/>
                  </a:lnTo>
                  <a:lnTo>
                    <a:pt x="72" y="80"/>
                  </a:lnTo>
                  <a:lnTo>
                    <a:pt x="74" y="83"/>
                  </a:lnTo>
                  <a:lnTo>
                    <a:pt x="76" y="88"/>
                  </a:lnTo>
                  <a:lnTo>
                    <a:pt x="80" y="93"/>
                  </a:lnTo>
                  <a:lnTo>
                    <a:pt x="85" y="97"/>
                  </a:lnTo>
                  <a:lnTo>
                    <a:pt x="91" y="99"/>
                  </a:lnTo>
                  <a:lnTo>
                    <a:pt x="97" y="99"/>
                  </a:lnTo>
                  <a:lnTo>
                    <a:pt x="105" y="94"/>
                  </a:lnTo>
                  <a:lnTo>
                    <a:pt x="106" y="93"/>
                  </a:lnTo>
                  <a:lnTo>
                    <a:pt x="111" y="89"/>
                  </a:lnTo>
                  <a:lnTo>
                    <a:pt x="115" y="84"/>
                  </a:lnTo>
                  <a:lnTo>
                    <a:pt x="120" y="77"/>
                  </a:lnTo>
                  <a:lnTo>
                    <a:pt x="122" y="69"/>
                  </a:lnTo>
                  <a:lnTo>
                    <a:pt x="119" y="60"/>
                  </a:lnTo>
                  <a:lnTo>
                    <a:pt x="111" y="50"/>
                  </a:lnTo>
                  <a:lnTo>
                    <a:pt x="96" y="39"/>
                  </a:lnTo>
                  <a:lnTo>
                    <a:pt x="90" y="17"/>
                  </a:lnTo>
                  <a:lnTo>
                    <a:pt x="91" y="16"/>
                  </a:lnTo>
                  <a:lnTo>
                    <a:pt x="95" y="14"/>
                  </a:lnTo>
                  <a:lnTo>
                    <a:pt x="101" y="11"/>
                  </a:lnTo>
                  <a:lnTo>
                    <a:pt x="109" y="8"/>
                  </a:lnTo>
                  <a:lnTo>
                    <a:pt x="119" y="5"/>
                  </a:lnTo>
                  <a:lnTo>
                    <a:pt x="129" y="2"/>
                  </a:lnTo>
                  <a:lnTo>
                    <a:pt x="140" y="0"/>
                  </a:lnTo>
                  <a:lnTo>
                    <a:pt x="152" y="0"/>
                  </a:lnTo>
                  <a:lnTo>
                    <a:pt x="152" y="1"/>
                  </a:lnTo>
                  <a:lnTo>
                    <a:pt x="153" y="7"/>
                  </a:lnTo>
                  <a:lnTo>
                    <a:pt x="155" y="15"/>
                  </a:lnTo>
                  <a:lnTo>
                    <a:pt x="158" y="27"/>
                  </a:lnTo>
                  <a:lnTo>
                    <a:pt x="164" y="42"/>
                  </a:lnTo>
                  <a:lnTo>
                    <a:pt x="171" y="59"/>
                  </a:lnTo>
                  <a:lnTo>
                    <a:pt x="180" y="79"/>
                  </a:lnTo>
                  <a:lnTo>
                    <a:pt x="192" y="101"/>
                  </a:lnTo>
                  <a:lnTo>
                    <a:pt x="206" y="125"/>
                  </a:lnTo>
                  <a:lnTo>
                    <a:pt x="223" y="151"/>
                  </a:lnTo>
                  <a:lnTo>
                    <a:pt x="244" y="178"/>
                  </a:lnTo>
                  <a:lnTo>
                    <a:pt x="269" y="207"/>
                  </a:lnTo>
                  <a:lnTo>
                    <a:pt x="298" y="236"/>
                  </a:lnTo>
                  <a:lnTo>
                    <a:pt x="330" y="267"/>
                  </a:lnTo>
                  <a:lnTo>
                    <a:pt x="367" y="299"/>
                  </a:lnTo>
                  <a:lnTo>
                    <a:pt x="409" y="331"/>
                  </a:lnTo>
                  <a:lnTo>
                    <a:pt x="408" y="332"/>
                  </a:lnTo>
                  <a:lnTo>
                    <a:pt x="404" y="334"/>
                  </a:lnTo>
                  <a:lnTo>
                    <a:pt x="399" y="338"/>
                  </a:lnTo>
                  <a:lnTo>
                    <a:pt x="391" y="344"/>
                  </a:lnTo>
                  <a:lnTo>
                    <a:pt x="382" y="351"/>
                  </a:lnTo>
                  <a:lnTo>
                    <a:pt x="371" y="360"/>
                  </a:lnTo>
                  <a:lnTo>
                    <a:pt x="360" y="370"/>
                  </a:lnTo>
                  <a:lnTo>
                    <a:pt x="347" y="383"/>
                  </a:lnTo>
                  <a:lnTo>
                    <a:pt x="334" y="396"/>
                  </a:lnTo>
                  <a:lnTo>
                    <a:pt x="320" y="411"/>
                  </a:lnTo>
                  <a:lnTo>
                    <a:pt x="307" y="427"/>
                  </a:lnTo>
                  <a:lnTo>
                    <a:pt x="293" y="445"/>
                  </a:lnTo>
                  <a:lnTo>
                    <a:pt x="279" y="464"/>
                  </a:lnTo>
                  <a:lnTo>
                    <a:pt x="266" y="485"/>
                  </a:lnTo>
                  <a:lnTo>
                    <a:pt x="254" y="506"/>
                  </a:lnTo>
                  <a:lnTo>
                    <a:pt x="243" y="529"/>
                  </a:lnTo>
                  <a:lnTo>
                    <a:pt x="241" y="527"/>
                  </a:lnTo>
                  <a:lnTo>
                    <a:pt x="235" y="522"/>
                  </a:lnTo>
                  <a:lnTo>
                    <a:pt x="226" y="512"/>
                  </a:lnTo>
                  <a:lnTo>
                    <a:pt x="214" y="499"/>
                  </a:lnTo>
                  <a:lnTo>
                    <a:pt x="199" y="482"/>
                  </a:lnTo>
                  <a:lnTo>
                    <a:pt x="183" y="463"/>
                  </a:lnTo>
                  <a:lnTo>
                    <a:pt x="165" y="440"/>
                  </a:lnTo>
                  <a:lnTo>
                    <a:pt x="146" y="414"/>
                  </a:lnTo>
                  <a:lnTo>
                    <a:pt x="125" y="385"/>
                  </a:lnTo>
                  <a:lnTo>
                    <a:pt x="105" y="353"/>
                  </a:lnTo>
                  <a:lnTo>
                    <a:pt x="85" y="319"/>
                  </a:lnTo>
                  <a:lnTo>
                    <a:pt x="65" y="283"/>
                  </a:lnTo>
                  <a:lnTo>
                    <a:pt x="46" y="244"/>
                  </a:lnTo>
                  <a:lnTo>
                    <a:pt x="29" y="203"/>
                  </a:lnTo>
                  <a:lnTo>
                    <a:pt x="13" y="160"/>
                  </a:lnTo>
                  <a:lnTo>
                    <a:pt x="0" y="116"/>
                  </a:lnTo>
                  <a:lnTo>
                    <a:pt x="0" y="115"/>
                  </a:lnTo>
                  <a:lnTo>
                    <a:pt x="2" y="112"/>
                  </a:lnTo>
                  <a:lnTo>
                    <a:pt x="4" y="108"/>
                  </a:lnTo>
                  <a:lnTo>
                    <a:pt x="7" y="104"/>
                  </a:lnTo>
                  <a:lnTo>
                    <a:pt x="10" y="98"/>
                  </a:lnTo>
                  <a:lnTo>
                    <a:pt x="15" y="91"/>
                  </a:lnTo>
                  <a:lnTo>
                    <a:pt x="20" y="83"/>
                  </a:lnTo>
                  <a:lnTo>
                    <a:pt x="25" y="75"/>
                  </a:lnTo>
                  <a:lnTo>
                    <a:pt x="32" y="67"/>
                  </a:lnTo>
                  <a:lnTo>
                    <a:pt x="38" y="59"/>
                  </a:lnTo>
                  <a:lnTo>
                    <a:pt x="45" y="51"/>
                  </a:lnTo>
                  <a:lnTo>
                    <a:pt x="52" y="44"/>
                  </a:lnTo>
                  <a:lnTo>
                    <a:pt x="59" y="37"/>
                  </a:lnTo>
                  <a:lnTo>
                    <a:pt x="67" y="31"/>
                  </a:lnTo>
                  <a:lnTo>
                    <a:pt x="75" y="26"/>
                  </a:lnTo>
                  <a:lnTo>
                    <a:pt x="82" y="22"/>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771" name="path"/>
            <p:cNvSpPr/>
            <p:nvPr/>
          </p:nvSpPr>
          <p:spPr>
            <a:xfrm>
              <a:off x="0" y="0"/>
              <a:ext cx="304157" cy="130228"/>
            </a:xfrm>
            <a:custGeom>
              <a:avLst/>
              <a:gdLst/>
              <a:ahLst/>
              <a:cxnLst/>
              <a:rect l="0" t="0" r="0" b="0"/>
              <a:pathLst>
                <a:path w="478" h="205">
                  <a:moveTo>
                    <a:pt x="454" y="199"/>
                  </a:moveTo>
                  <a:lnTo>
                    <a:pt x="459" y="197"/>
                  </a:lnTo>
                  <a:lnTo>
                    <a:pt x="465" y="195"/>
                  </a:lnTo>
                  <a:lnTo>
                    <a:pt x="469" y="193"/>
                  </a:lnTo>
                  <a:lnTo>
                    <a:pt x="473" y="189"/>
                  </a:lnTo>
                  <a:lnTo>
                    <a:pt x="476" y="185"/>
                  </a:lnTo>
                  <a:lnTo>
                    <a:pt x="478" y="180"/>
                  </a:lnTo>
                  <a:lnTo>
                    <a:pt x="478" y="173"/>
                  </a:lnTo>
                  <a:lnTo>
                    <a:pt x="478" y="166"/>
                  </a:lnTo>
                  <a:lnTo>
                    <a:pt x="476" y="156"/>
                  </a:lnTo>
                  <a:lnTo>
                    <a:pt x="472" y="146"/>
                  </a:lnTo>
                  <a:lnTo>
                    <a:pt x="466" y="138"/>
                  </a:lnTo>
                  <a:lnTo>
                    <a:pt x="459" y="131"/>
                  </a:lnTo>
                  <a:lnTo>
                    <a:pt x="452" y="125"/>
                  </a:lnTo>
                  <a:lnTo>
                    <a:pt x="444" y="120"/>
                  </a:lnTo>
                  <a:lnTo>
                    <a:pt x="435" y="116"/>
                  </a:lnTo>
                  <a:lnTo>
                    <a:pt x="428" y="113"/>
                  </a:lnTo>
                  <a:lnTo>
                    <a:pt x="426" y="114"/>
                  </a:lnTo>
                  <a:lnTo>
                    <a:pt x="424" y="116"/>
                  </a:lnTo>
                  <a:lnTo>
                    <a:pt x="423" y="119"/>
                  </a:lnTo>
                  <a:lnTo>
                    <a:pt x="424" y="121"/>
                  </a:lnTo>
                  <a:lnTo>
                    <a:pt x="428" y="124"/>
                  </a:lnTo>
                  <a:lnTo>
                    <a:pt x="432" y="128"/>
                  </a:lnTo>
                  <a:lnTo>
                    <a:pt x="436" y="132"/>
                  </a:lnTo>
                  <a:lnTo>
                    <a:pt x="440" y="136"/>
                  </a:lnTo>
                  <a:lnTo>
                    <a:pt x="443" y="141"/>
                  </a:lnTo>
                  <a:lnTo>
                    <a:pt x="446" y="145"/>
                  </a:lnTo>
                  <a:lnTo>
                    <a:pt x="450" y="150"/>
                  </a:lnTo>
                  <a:lnTo>
                    <a:pt x="453" y="155"/>
                  </a:lnTo>
                  <a:lnTo>
                    <a:pt x="456" y="159"/>
                  </a:lnTo>
                  <a:lnTo>
                    <a:pt x="458" y="164"/>
                  </a:lnTo>
                  <a:lnTo>
                    <a:pt x="461" y="169"/>
                  </a:lnTo>
                  <a:lnTo>
                    <a:pt x="463" y="174"/>
                  </a:lnTo>
                  <a:lnTo>
                    <a:pt x="464" y="179"/>
                  </a:lnTo>
                  <a:lnTo>
                    <a:pt x="465" y="183"/>
                  </a:lnTo>
                  <a:lnTo>
                    <a:pt x="464" y="185"/>
                  </a:lnTo>
                  <a:lnTo>
                    <a:pt x="463" y="188"/>
                  </a:lnTo>
                  <a:lnTo>
                    <a:pt x="462" y="191"/>
                  </a:lnTo>
                  <a:lnTo>
                    <a:pt x="460" y="194"/>
                  </a:lnTo>
                  <a:lnTo>
                    <a:pt x="457" y="196"/>
                  </a:lnTo>
                  <a:lnTo>
                    <a:pt x="454" y="198"/>
                  </a:lnTo>
                  <a:lnTo>
                    <a:pt x="454" y="198"/>
                  </a:lnTo>
                  <a:lnTo>
                    <a:pt x="454" y="198"/>
                  </a:lnTo>
                  <a:lnTo>
                    <a:pt x="454" y="199"/>
                  </a:lnTo>
                  <a:lnTo>
                    <a:pt x="454" y="199"/>
                  </a:lnTo>
                  <a:close/>
                </a:path>
                <a:path w="478" h="205">
                  <a:moveTo>
                    <a:pt x="0" y="201"/>
                  </a:moveTo>
                  <a:lnTo>
                    <a:pt x="7" y="203"/>
                  </a:lnTo>
                  <a:lnTo>
                    <a:pt x="14" y="204"/>
                  </a:lnTo>
                  <a:lnTo>
                    <a:pt x="21" y="205"/>
                  </a:lnTo>
                  <a:lnTo>
                    <a:pt x="27" y="204"/>
                  </a:lnTo>
                  <a:lnTo>
                    <a:pt x="34" y="203"/>
                  </a:lnTo>
                  <a:lnTo>
                    <a:pt x="40" y="202"/>
                  </a:lnTo>
                  <a:lnTo>
                    <a:pt x="46" y="199"/>
                  </a:lnTo>
                  <a:lnTo>
                    <a:pt x="52" y="196"/>
                  </a:lnTo>
                  <a:lnTo>
                    <a:pt x="58" y="192"/>
                  </a:lnTo>
                  <a:lnTo>
                    <a:pt x="64" y="188"/>
                  </a:lnTo>
                  <a:lnTo>
                    <a:pt x="69" y="183"/>
                  </a:lnTo>
                  <a:lnTo>
                    <a:pt x="74" y="178"/>
                  </a:lnTo>
                  <a:lnTo>
                    <a:pt x="79" y="172"/>
                  </a:lnTo>
                  <a:lnTo>
                    <a:pt x="83" y="165"/>
                  </a:lnTo>
                  <a:lnTo>
                    <a:pt x="88" y="158"/>
                  </a:lnTo>
                  <a:lnTo>
                    <a:pt x="92" y="151"/>
                  </a:lnTo>
                  <a:lnTo>
                    <a:pt x="98" y="139"/>
                  </a:lnTo>
                  <a:lnTo>
                    <a:pt x="105" y="127"/>
                  </a:lnTo>
                  <a:lnTo>
                    <a:pt x="112" y="115"/>
                  </a:lnTo>
                  <a:lnTo>
                    <a:pt x="119" y="104"/>
                  </a:lnTo>
                  <a:lnTo>
                    <a:pt x="126" y="93"/>
                  </a:lnTo>
                  <a:lnTo>
                    <a:pt x="134" y="82"/>
                  </a:lnTo>
                  <a:lnTo>
                    <a:pt x="142" y="73"/>
                  </a:lnTo>
                  <a:lnTo>
                    <a:pt x="151" y="63"/>
                  </a:lnTo>
                  <a:lnTo>
                    <a:pt x="160" y="54"/>
                  </a:lnTo>
                  <a:lnTo>
                    <a:pt x="169" y="47"/>
                  </a:lnTo>
                  <a:lnTo>
                    <a:pt x="179" y="40"/>
                  </a:lnTo>
                  <a:lnTo>
                    <a:pt x="189" y="34"/>
                  </a:lnTo>
                  <a:lnTo>
                    <a:pt x="200" y="30"/>
                  </a:lnTo>
                  <a:lnTo>
                    <a:pt x="211" y="27"/>
                  </a:lnTo>
                  <a:lnTo>
                    <a:pt x="223" y="25"/>
                  </a:lnTo>
                  <a:lnTo>
                    <a:pt x="235" y="25"/>
                  </a:lnTo>
                  <a:lnTo>
                    <a:pt x="241" y="25"/>
                  </a:lnTo>
                  <a:lnTo>
                    <a:pt x="248" y="26"/>
                  </a:lnTo>
                  <a:lnTo>
                    <a:pt x="254" y="28"/>
                  </a:lnTo>
                  <a:lnTo>
                    <a:pt x="261" y="30"/>
                  </a:lnTo>
                  <a:lnTo>
                    <a:pt x="267" y="32"/>
                  </a:lnTo>
                  <a:lnTo>
                    <a:pt x="273" y="35"/>
                  </a:lnTo>
                  <a:lnTo>
                    <a:pt x="279" y="39"/>
                  </a:lnTo>
                  <a:lnTo>
                    <a:pt x="285" y="42"/>
                  </a:lnTo>
                  <a:lnTo>
                    <a:pt x="292" y="48"/>
                  </a:lnTo>
                  <a:lnTo>
                    <a:pt x="298" y="53"/>
                  </a:lnTo>
                  <a:lnTo>
                    <a:pt x="303" y="60"/>
                  </a:lnTo>
                  <a:lnTo>
                    <a:pt x="307" y="68"/>
                  </a:lnTo>
                  <a:lnTo>
                    <a:pt x="310" y="77"/>
                  </a:lnTo>
                  <a:lnTo>
                    <a:pt x="313" y="85"/>
                  </a:lnTo>
                  <a:lnTo>
                    <a:pt x="315" y="95"/>
                  </a:lnTo>
                  <a:lnTo>
                    <a:pt x="318" y="105"/>
                  </a:lnTo>
                  <a:lnTo>
                    <a:pt x="321" y="115"/>
                  </a:lnTo>
                  <a:lnTo>
                    <a:pt x="324" y="125"/>
                  </a:lnTo>
                  <a:lnTo>
                    <a:pt x="328" y="135"/>
                  </a:lnTo>
                  <a:lnTo>
                    <a:pt x="333" y="144"/>
                  </a:lnTo>
                  <a:lnTo>
                    <a:pt x="339" y="152"/>
                  </a:lnTo>
                  <a:lnTo>
                    <a:pt x="345" y="157"/>
                  </a:lnTo>
                  <a:lnTo>
                    <a:pt x="353" y="161"/>
                  </a:lnTo>
                  <a:lnTo>
                    <a:pt x="362" y="162"/>
                  </a:lnTo>
                  <a:lnTo>
                    <a:pt x="369" y="161"/>
                  </a:lnTo>
                  <a:lnTo>
                    <a:pt x="377" y="160"/>
                  </a:lnTo>
                  <a:lnTo>
                    <a:pt x="384" y="157"/>
                  </a:lnTo>
                  <a:lnTo>
                    <a:pt x="391" y="155"/>
                  </a:lnTo>
                  <a:lnTo>
                    <a:pt x="397" y="151"/>
                  </a:lnTo>
                  <a:lnTo>
                    <a:pt x="403" y="145"/>
                  </a:lnTo>
                  <a:lnTo>
                    <a:pt x="409" y="139"/>
                  </a:lnTo>
                  <a:lnTo>
                    <a:pt x="413" y="132"/>
                  </a:lnTo>
                  <a:lnTo>
                    <a:pt x="413" y="131"/>
                  </a:lnTo>
                  <a:lnTo>
                    <a:pt x="413" y="131"/>
                  </a:lnTo>
                  <a:lnTo>
                    <a:pt x="412" y="131"/>
                  </a:lnTo>
                  <a:lnTo>
                    <a:pt x="412" y="132"/>
                  </a:lnTo>
                  <a:lnTo>
                    <a:pt x="406" y="140"/>
                  </a:lnTo>
                  <a:lnTo>
                    <a:pt x="399" y="146"/>
                  </a:lnTo>
                  <a:lnTo>
                    <a:pt x="391" y="151"/>
                  </a:lnTo>
                  <a:lnTo>
                    <a:pt x="383" y="155"/>
                  </a:lnTo>
                  <a:lnTo>
                    <a:pt x="375" y="156"/>
                  </a:lnTo>
                  <a:lnTo>
                    <a:pt x="366" y="156"/>
                  </a:lnTo>
                  <a:lnTo>
                    <a:pt x="357" y="154"/>
                  </a:lnTo>
                  <a:lnTo>
                    <a:pt x="350" y="150"/>
                  </a:lnTo>
                  <a:lnTo>
                    <a:pt x="344" y="144"/>
                  </a:lnTo>
                  <a:lnTo>
                    <a:pt x="339" y="136"/>
                  </a:lnTo>
                  <a:lnTo>
                    <a:pt x="335" y="126"/>
                  </a:lnTo>
                  <a:lnTo>
                    <a:pt x="333" y="116"/>
                  </a:lnTo>
                  <a:lnTo>
                    <a:pt x="330" y="105"/>
                  </a:lnTo>
                  <a:lnTo>
                    <a:pt x="329" y="94"/>
                  </a:lnTo>
                  <a:lnTo>
                    <a:pt x="328" y="84"/>
                  </a:lnTo>
                  <a:lnTo>
                    <a:pt x="326" y="75"/>
                  </a:lnTo>
                  <a:lnTo>
                    <a:pt x="325" y="69"/>
                  </a:lnTo>
                  <a:lnTo>
                    <a:pt x="324" y="62"/>
                  </a:lnTo>
                  <a:lnTo>
                    <a:pt x="322" y="57"/>
                  </a:lnTo>
                  <a:lnTo>
                    <a:pt x="320" y="51"/>
                  </a:lnTo>
                  <a:lnTo>
                    <a:pt x="318" y="47"/>
                  </a:lnTo>
                  <a:lnTo>
                    <a:pt x="315" y="42"/>
                  </a:lnTo>
                  <a:lnTo>
                    <a:pt x="313" y="37"/>
                  </a:lnTo>
                  <a:lnTo>
                    <a:pt x="309" y="32"/>
                  </a:lnTo>
                  <a:lnTo>
                    <a:pt x="305" y="28"/>
                  </a:lnTo>
                  <a:lnTo>
                    <a:pt x="300" y="24"/>
                  </a:lnTo>
                  <a:lnTo>
                    <a:pt x="296" y="20"/>
                  </a:lnTo>
                  <a:lnTo>
                    <a:pt x="291" y="16"/>
                  </a:lnTo>
                  <a:lnTo>
                    <a:pt x="286" y="13"/>
                  </a:lnTo>
                  <a:lnTo>
                    <a:pt x="281" y="10"/>
                  </a:lnTo>
                  <a:lnTo>
                    <a:pt x="275" y="8"/>
                  </a:lnTo>
                  <a:lnTo>
                    <a:pt x="270" y="6"/>
                  </a:lnTo>
                  <a:lnTo>
                    <a:pt x="264" y="4"/>
                  </a:lnTo>
                  <a:lnTo>
                    <a:pt x="259" y="2"/>
                  </a:lnTo>
                  <a:lnTo>
                    <a:pt x="253" y="1"/>
                  </a:lnTo>
                  <a:lnTo>
                    <a:pt x="248" y="0"/>
                  </a:lnTo>
                  <a:lnTo>
                    <a:pt x="242" y="0"/>
                  </a:lnTo>
                  <a:lnTo>
                    <a:pt x="236" y="0"/>
                  </a:lnTo>
                  <a:lnTo>
                    <a:pt x="231" y="0"/>
                  </a:lnTo>
                  <a:lnTo>
                    <a:pt x="225" y="0"/>
                  </a:lnTo>
                  <a:lnTo>
                    <a:pt x="218" y="0"/>
                  </a:lnTo>
                  <a:lnTo>
                    <a:pt x="210" y="1"/>
                  </a:lnTo>
                  <a:lnTo>
                    <a:pt x="203" y="3"/>
                  </a:lnTo>
                  <a:lnTo>
                    <a:pt x="195" y="6"/>
                  </a:lnTo>
                  <a:lnTo>
                    <a:pt x="189" y="9"/>
                  </a:lnTo>
                  <a:lnTo>
                    <a:pt x="181" y="12"/>
                  </a:lnTo>
                  <a:lnTo>
                    <a:pt x="175" y="16"/>
                  </a:lnTo>
                  <a:lnTo>
                    <a:pt x="168" y="21"/>
                  </a:lnTo>
                  <a:lnTo>
                    <a:pt x="161" y="25"/>
                  </a:lnTo>
                  <a:lnTo>
                    <a:pt x="155" y="30"/>
                  </a:lnTo>
                  <a:lnTo>
                    <a:pt x="149" y="35"/>
                  </a:lnTo>
                  <a:lnTo>
                    <a:pt x="143" y="41"/>
                  </a:lnTo>
                  <a:lnTo>
                    <a:pt x="137" y="47"/>
                  </a:lnTo>
                  <a:lnTo>
                    <a:pt x="131" y="53"/>
                  </a:lnTo>
                  <a:lnTo>
                    <a:pt x="126" y="60"/>
                  </a:lnTo>
                  <a:lnTo>
                    <a:pt x="121" y="67"/>
                  </a:lnTo>
                  <a:lnTo>
                    <a:pt x="114" y="77"/>
                  </a:lnTo>
                  <a:lnTo>
                    <a:pt x="107" y="88"/>
                  </a:lnTo>
                  <a:lnTo>
                    <a:pt x="101" y="100"/>
                  </a:lnTo>
                  <a:lnTo>
                    <a:pt x="96" y="112"/>
                  </a:lnTo>
                  <a:lnTo>
                    <a:pt x="90" y="125"/>
                  </a:lnTo>
                  <a:lnTo>
                    <a:pt x="85" y="137"/>
                  </a:lnTo>
                  <a:lnTo>
                    <a:pt x="80" y="149"/>
                  </a:lnTo>
                  <a:lnTo>
                    <a:pt x="74" y="160"/>
                  </a:lnTo>
                  <a:lnTo>
                    <a:pt x="68" y="171"/>
                  </a:lnTo>
                  <a:lnTo>
                    <a:pt x="61" y="180"/>
                  </a:lnTo>
                  <a:lnTo>
                    <a:pt x="53" y="188"/>
                  </a:lnTo>
                  <a:lnTo>
                    <a:pt x="45" y="195"/>
                  </a:lnTo>
                  <a:lnTo>
                    <a:pt x="36" y="200"/>
                  </a:lnTo>
                  <a:lnTo>
                    <a:pt x="25" y="203"/>
                  </a:lnTo>
                  <a:lnTo>
                    <a:pt x="13" y="203"/>
                  </a:lnTo>
                  <a:lnTo>
                    <a:pt x="0" y="201"/>
                  </a:lnTo>
                  <a:lnTo>
                    <a:pt x="0" y="201"/>
                  </a:lnTo>
                  <a:lnTo>
                    <a:pt x="0" y="201"/>
                  </a:lnTo>
                  <a:lnTo>
                    <a:pt x="0" y="201"/>
                  </a:lnTo>
                  <a:lnTo>
                    <a:pt x="0" y="201"/>
                  </a:lnTo>
                  <a:close/>
                </a:path>
                <a:path w="478" h="205">
                  <a:moveTo>
                    <a:pt x="405" y="105"/>
                  </a:moveTo>
                  <a:lnTo>
                    <a:pt x="401" y="110"/>
                  </a:lnTo>
                  <a:lnTo>
                    <a:pt x="399" y="117"/>
                  </a:lnTo>
                  <a:lnTo>
                    <a:pt x="397" y="124"/>
                  </a:lnTo>
                  <a:lnTo>
                    <a:pt x="395" y="131"/>
                  </a:lnTo>
                  <a:lnTo>
                    <a:pt x="395" y="135"/>
                  </a:lnTo>
                  <a:lnTo>
                    <a:pt x="395" y="140"/>
                  </a:lnTo>
                  <a:lnTo>
                    <a:pt x="396" y="144"/>
                  </a:lnTo>
                  <a:lnTo>
                    <a:pt x="397" y="149"/>
                  </a:lnTo>
                  <a:lnTo>
                    <a:pt x="399" y="152"/>
                  </a:lnTo>
                  <a:lnTo>
                    <a:pt x="402" y="155"/>
                  </a:lnTo>
                  <a:lnTo>
                    <a:pt x="405" y="156"/>
                  </a:lnTo>
                  <a:lnTo>
                    <a:pt x="409" y="155"/>
                  </a:lnTo>
                  <a:lnTo>
                    <a:pt x="412" y="154"/>
                  </a:lnTo>
                  <a:lnTo>
                    <a:pt x="414" y="151"/>
                  </a:lnTo>
                  <a:lnTo>
                    <a:pt x="415" y="147"/>
                  </a:lnTo>
                  <a:lnTo>
                    <a:pt x="414" y="144"/>
                  </a:lnTo>
                  <a:lnTo>
                    <a:pt x="413" y="142"/>
                  </a:lnTo>
                  <a:lnTo>
                    <a:pt x="411" y="141"/>
                  </a:lnTo>
                  <a:lnTo>
                    <a:pt x="409" y="140"/>
                  </a:lnTo>
                  <a:lnTo>
                    <a:pt x="407" y="139"/>
                  </a:lnTo>
                  <a:lnTo>
                    <a:pt x="405" y="138"/>
                  </a:lnTo>
                  <a:lnTo>
                    <a:pt x="403" y="136"/>
                  </a:lnTo>
                  <a:lnTo>
                    <a:pt x="402" y="133"/>
                  </a:lnTo>
                  <a:lnTo>
                    <a:pt x="401" y="131"/>
                  </a:lnTo>
                  <a:lnTo>
                    <a:pt x="400" y="125"/>
                  </a:lnTo>
                  <a:lnTo>
                    <a:pt x="400" y="118"/>
                  </a:lnTo>
                  <a:lnTo>
                    <a:pt x="402" y="111"/>
                  </a:lnTo>
                  <a:lnTo>
                    <a:pt x="405" y="106"/>
                  </a:lnTo>
                  <a:lnTo>
                    <a:pt x="405" y="105"/>
                  </a:lnTo>
                  <a:lnTo>
                    <a:pt x="405" y="105"/>
                  </a:lnTo>
                  <a:lnTo>
                    <a:pt x="405" y="105"/>
                  </a:lnTo>
                  <a:lnTo>
                    <a:pt x="405" y="105"/>
                  </a:lnTo>
                  <a:close/>
                </a:path>
                <a:path w="478" h="205">
                  <a:moveTo>
                    <a:pt x="425" y="104"/>
                  </a:moveTo>
                  <a:lnTo>
                    <a:pt x="422" y="104"/>
                  </a:lnTo>
                  <a:lnTo>
                    <a:pt x="420" y="105"/>
                  </a:lnTo>
                  <a:lnTo>
                    <a:pt x="418" y="107"/>
                  </a:lnTo>
                  <a:lnTo>
                    <a:pt x="416" y="109"/>
                  </a:lnTo>
                  <a:lnTo>
                    <a:pt x="414" y="111"/>
                  </a:lnTo>
                  <a:lnTo>
                    <a:pt x="413" y="113"/>
                  </a:lnTo>
                  <a:lnTo>
                    <a:pt x="412" y="116"/>
                  </a:lnTo>
                  <a:lnTo>
                    <a:pt x="411" y="119"/>
                  </a:lnTo>
                  <a:lnTo>
                    <a:pt x="410" y="123"/>
                  </a:lnTo>
                  <a:lnTo>
                    <a:pt x="410" y="127"/>
                  </a:lnTo>
                  <a:lnTo>
                    <a:pt x="410" y="130"/>
                  </a:lnTo>
                  <a:lnTo>
                    <a:pt x="411" y="134"/>
                  </a:lnTo>
                  <a:lnTo>
                    <a:pt x="412" y="139"/>
                  </a:lnTo>
                  <a:lnTo>
                    <a:pt x="415" y="141"/>
                  </a:lnTo>
                  <a:lnTo>
                    <a:pt x="418" y="141"/>
                  </a:lnTo>
                  <a:lnTo>
                    <a:pt x="422" y="141"/>
                  </a:lnTo>
                  <a:lnTo>
                    <a:pt x="424" y="139"/>
                  </a:lnTo>
                  <a:lnTo>
                    <a:pt x="427" y="137"/>
                  </a:lnTo>
                  <a:lnTo>
                    <a:pt x="428" y="134"/>
                  </a:lnTo>
                  <a:lnTo>
                    <a:pt x="427" y="131"/>
                  </a:lnTo>
                  <a:lnTo>
                    <a:pt x="425" y="130"/>
                  </a:lnTo>
                  <a:lnTo>
                    <a:pt x="423" y="126"/>
                  </a:lnTo>
                  <a:lnTo>
                    <a:pt x="420" y="123"/>
                  </a:lnTo>
                  <a:lnTo>
                    <a:pt x="418" y="120"/>
                  </a:lnTo>
                  <a:lnTo>
                    <a:pt x="416" y="115"/>
                  </a:lnTo>
                  <a:lnTo>
                    <a:pt x="418" y="110"/>
                  </a:lnTo>
                  <a:lnTo>
                    <a:pt x="421" y="106"/>
                  </a:lnTo>
                  <a:lnTo>
                    <a:pt x="425" y="104"/>
                  </a:lnTo>
                  <a:lnTo>
                    <a:pt x="425" y="104"/>
                  </a:lnTo>
                  <a:lnTo>
                    <a:pt x="425" y="104"/>
                  </a:lnTo>
                  <a:lnTo>
                    <a:pt x="425" y="104"/>
                  </a:lnTo>
                  <a:lnTo>
                    <a:pt x="425" y="104"/>
                  </a:lnTo>
                  <a:close/>
                </a:path>
              </a:pathLst>
            </a:custGeom>
            <a:solidFill>
              <a:srgbClr val="000000">
                <a:alpha val="100000"/>
              </a:srgbClr>
            </a:solidFill>
            <a:ln cap="flat">
              <a:noFill/>
              <a:prstDash val="solid"/>
              <a:miter lim="0"/>
            </a:ln>
          </p:spPr>
          <p:txBody>
            <a:bodyPr rtlCol="0"/>
            <a:lstStyle/>
            <a:p>
              <a:pPr algn="ctr"/>
              <a:endParaRPr lang="zh-CN" altLang="en-US"/>
            </a:p>
          </p:txBody>
        </p:sp>
        <p:sp>
          <p:nvSpPr>
            <p:cNvPr id="772" name="path"/>
            <p:cNvSpPr/>
            <p:nvPr/>
          </p:nvSpPr>
          <p:spPr>
            <a:xfrm>
              <a:off x="316263" y="167616"/>
              <a:ext cx="111519" cy="167935"/>
            </a:xfrm>
            <a:custGeom>
              <a:avLst/>
              <a:gdLst/>
              <a:ahLst/>
              <a:cxnLst/>
              <a:rect l="0" t="0" r="0" b="0"/>
              <a:pathLst>
                <a:path w="175" h="264">
                  <a:moveTo>
                    <a:pt x="65" y="45"/>
                  </a:moveTo>
                  <a:lnTo>
                    <a:pt x="56" y="45"/>
                  </a:lnTo>
                  <a:lnTo>
                    <a:pt x="48" y="47"/>
                  </a:lnTo>
                  <a:lnTo>
                    <a:pt x="40" y="50"/>
                  </a:lnTo>
                  <a:lnTo>
                    <a:pt x="32" y="55"/>
                  </a:lnTo>
                  <a:lnTo>
                    <a:pt x="25" y="61"/>
                  </a:lnTo>
                  <a:lnTo>
                    <a:pt x="19" y="68"/>
                  </a:lnTo>
                  <a:lnTo>
                    <a:pt x="14" y="77"/>
                  </a:lnTo>
                  <a:lnTo>
                    <a:pt x="10" y="86"/>
                  </a:lnTo>
                  <a:lnTo>
                    <a:pt x="8" y="94"/>
                  </a:lnTo>
                  <a:lnTo>
                    <a:pt x="5" y="104"/>
                  </a:lnTo>
                  <a:lnTo>
                    <a:pt x="3" y="116"/>
                  </a:lnTo>
                  <a:lnTo>
                    <a:pt x="2" y="128"/>
                  </a:lnTo>
                  <a:lnTo>
                    <a:pt x="3" y="139"/>
                  </a:lnTo>
                  <a:lnTo>
                    <a:pt x="6" y="148"/>
                  </a:lnTo>
                  <a:lnTo>
                    <a:pt x="12" y="154"/>
                  </a:lnTo>
                  <a:lnTo>
                    <a:pt x="21" y="157"/>
                  </a:lnTo>
                  <a:lnTo>
                    <a:pt x="27" y="156"/>
                  </a:lnTo>
                  <a:lnTo>
                    <a:pt x="33" y="154"/>
                  </a:lnTo>
                  <a:lnTo>
                    <a:pt x="39" y="152"/>
                  </a:lnTo>
                  <a:lnTo>
                    <a:pt x="44" y="148"/>
                  </a:lnTo>
                  <a:lnTo>
                    <a:pt x="49" y="144"/>
                  </a:lnTo>
                  <a:lnTo>
                    <a:pt x="54" y="140"/>
                  </a:lnTo>
                  <a:lnTo>
                    <a:pt x="59" y="135"/>
                  </a:lnTo>
                  <a:lnTo>
                    <a:pt x="64" y="130"/>
                  </a:lnTo>
                  <a:lnTo>
                    <a:pt x="69" y="125"/>
                  </a:lnTo>
                  <a:lnTo>
                    <a:pt x="74" y="121"/>
                  </a:lnTo>
                  <a:lnTo>
                    <a:pt x="79" y="116"/>
                  </a:lnTo>
                  <a:lnTo>
                    <a:pt x="84" y="112"/>
                  </a:lnTo>
                  <a:lnTo>
                    <a:pt x="89" y="108"/>
                  </a:lnTo>
                  <a:lnTo>
                    <a:pt x="95" y="105"/>
                  </a:lnTo>
                  <a:lnTo>
                    <a:pt x="101" y="104"/>
                  </a:lnTo>
                  <a:lnTo>
                    <a:pt x="107" y="103"/>
                  </a:lnTo>
                  <a:lnTo>
                    <a:pt x="113" y="103"/>
                  </a:lnTo>
                  <a:lnTo>
                    <a:pt x="118" y="104"/>
                  </a:lnTo>
                  <a:lnTo>
                    <a:pt x="122" y="107"/>
                  </a:lnTo>
                  <a:lnTo>
                    <a:pt x="126" y="111"/>
                  </a:lnTo>
                  <a:lnTo>
                    <a:pt x="131" y="115"/>
                  </a:lnTo>
                  <a:lnTo>
                    <a:pt x="134" y="120"/>
                  </a:lnTo>
                  <a:lnTo>
                    <a:pt x="137" y="126"/>
                  </a:lnTo>
                  <a:lnTo>
                    <a:pt x="139" y="131"/>
                  </a:lnTo>
                  <a:lnTo>
                    <a:pt x="142" y="140"/>
                  </a:lnTo>
                  <a:lnTo>
                    <a:pt x="143" y="150"/>
                  </a:lnTo>
                  <a:lnTo>
                    <a:pt x="142" y="160"/>
                  </a:lnTo>
                  <a:lnTo>
                    <a:pt x="139" y="170"/>
                  </a:lnTo>
                  <a:lnTo>
                    <a:pt x="135" y="179"/>
                  </a:lnTo>
                  <a:lnTo>
                    <a:pt x="131" y="188"/>
                  </a:lnTo>
                  <a:lnTo>
                    <a:pt x="126" y="196"/>
                  </a:lnTo>
                  <a:lnTo>
                    <a:pt x="121" y="204"/>
                  </a:lnTo>
                  <a:lnTo>
                    <a:pt x="118" y="208"/>
                  </a:lnTo>
                  <a:lnTo>
                    <a:pt x="114" y="212"/>
                  </a:lnTo>
                  <a:lnTo>
                    <a:pt x="111" y="216"/>
                  </a:lnTo>
                  <a:lnTo>
                    <a:pt x="107" y="220"/>
                  </a:lnTo>
                  <a:lnTo>
                    <a:pt x="103" y="223"/>
                  </a:lnTo>
                  <a:lnTo>
                    <a:pt x="99" y="226"/>
                  </a:lnTo>
                  <a:lnTo>
                    <a:pt x="94" y="229"/>
                  </a:lnTo>
                  <a:lnTo>
                    <a:pt x="90" y="232"/>
                  </a:lnTo>
                  <a:lnTo>
                    <a:pt x="86" y="234"/>
                  </a:lnTo>
                  <a:lnTo>
                    <a:pt x="81" y="236"/>
                  </a:lnTo>
                  <a:lnTo>
                    <a:pt x="77" y="237"/>
                  </a:lnTo>
                  <a:lnTo>
                    <a:pt x="72" y="238"/>
                  </a:lnTo>
                  <a:lnTo>
                    <a:pt x="67" y="239"/>
                  </a:lnTo>
                  <a:lnTo>
                    <a:pt x="62" y="240"/>
                  </a:lnTo>
                  <a:lnTo>
                    <a:pt x="57" y="240"/>
                  </a:lnTo>
                  <a:lnTo>
                    <a:pt x="53" y="240"/>
                  </a:lnTo>
                  <a:lnTo>
                    <a:pt x="52" y="240"/>
                  </a:lnTo>
                  <a:lnTo>
                    <a:pt x="51" y="241"/>
                  </a:lnTo>
                  <a:lnTo>
                    <a:pt x="51" y="242"/>
                  </a:lnTo>
                  <a:lnTo>
                    <a:pt x="52" y="243"/>
                  </a:lnTo>
                  <a:lnTo>
                    <a:pt x="62" y="245"/>
                  </a:lnTo>
                  <a:lnTo>
                    <a:pt x="72" y="244"/>
                  </a:lnTo>
                  <a:lnTo>
                    <a:pt x="82" y="243"/>
                  </a:lnTo>
                  <a:lnTo>
                    <a:pt x="92" y="240"/>
                  </a:lnTo>
                  <a:lnTo>
                    <a:pt x="101" y="236"/>
                  </a:lnTo>
                  <a:lnTo>
                    <a:pt x="110" y="230"/>
                  </a:lnTo>
                  <a:lnTo>
                    <a:pt x="119" y="223"/>
                  </a:lnTo>
                  <a:lnTo>
                    <a:pt x="126" y="215"/>
                  </a:lnTo>
                  <a:lnTo>
                    <a:pt x="133" y="207"/>
                  </a:lnTo>
                  <a:lnTo>
                    <a:pt x="140" y="197"/>
                  </a:lnTo>
                  <a:lnTo>
                    <a:pt x="145" y="186"/>
                  </a:lnTo>
                  <a:lnTo>
                    <a:pt x="149" y="176"/>
                  </a:lnTo>
                  <a:lnTo>
                    <a:pt x="152" y="164"/>
                  </a:lnTo>
                  <a:lnTo>
                    <a:pt x="154" y="152"/>
                  </a:lnTo>
                  <a:lnTo>
                    <a:pt x="155" y="139"/>
                  </a:lnTo>
                  <a:lnTo>
                    <a:pt x="155" y="127"/>
                  </a:lnTo>
                  <a:lnTo>
                    <a:pt x="152" y="114"/>
                  </a:lnTo>
                  <a:lnTo>
                    <a:pt x="147" y="103"/>
                  </a:lnTo>
                  <a:lnTo>
                    <a:pt x="141" y="94"/>
                  </a:lnTo>
                  <a:lnTo>
                    <a:pt x="133" y="88"/>
                  </a:lnTo>
                  <a:lnTo>
                    <a:pt x="123" y="83"/>
                  </a:lnTo>
                  <a:lnTo>
                    <a:pt x="113" y="80"/>
                  </a:lnTo>
                  <a:lnTo>
                    <a:pt x="104" y="80"/>
                  </a:lnTo>
                  <a:lnTo>
                    <a:pt x="94" y="82"/>
                  </a:lnTo>
                  <a:lnTo>
                    <a:pt x="88" y="84"/>
                  </a:lnTo>
                  <a:lnTo>
                    <a:pt x="83" y="88"/>
                  </a:lnTo>
                  <a:lnTo>
                    <a:pt x="77" y="93"/>
                  </a:lnTo>
                  <a:lnTo>
                    <a:pt x="72" y="98"/>
                  </a:lnTo>
                  <a:lnTo>
                    <a:pt x="67" y="103"/>
                  </a:lnTo>
                  <a:lnTo>
                    <a:pt x="62" y="109"/>
                  </a:lnTo>
                  <a:lnTo>
                    <a:pt x="58" y="114"/>
                  </a:lnTo>
                  <a:lnTo>
                    <a:pt x="53" y="119"/>
                  </a:lnTo>
                  <a:lnTo>
                    <a:pt x="46" y="125"/>
                  </a:lnTo>
                  <a:lnTo>
                    <a:pt x="38" y="130"/>
                  </a:lnTo>
                  <a:lnTo>
                    <a:pt x="30" y="133"/>
                  </a:lnTo>
                  <a:lnTo>
                    <a:pt x="23" y="135"/>
                  </a:lnTo>
                  <a:lnTo>
                    <a:pt x="17" y="133"/>
                  </a:lnTo>
                  <a:lnTo>
                    <a:pt x="12" y="127"/>
                  </a:lnTo>
                  <a:lnTo>
                    <a:pt x="11" y="115"/>
                  </a:lnTo>
                  <a:lnTo>
                    <a:pt x="12" y="97"/>
                  </a:lnTo>
                  <a:lnTo>
                    <a:pt x="15" y="86"/>
                  </a:lnTo>
                  <a:lnTo>
                    <a:pt x="19" y="76"/>
                  </a:lnTo>
                  <a:lnTo>
                    <a:pt x="25" y="67"/>
                  </a:lnTo>
                  <a:lnTo>
                    <a:pt x="31" y="59"/>
                  </a:lnTo>
                  <a:lnTo>
                    <a:pt x="39" y="53"/>
                  </a:lnTo>
                  <a:lnTo>
                    <a:pt x="47" y="49"/>
                  </a:lnTo>
                  <a:lnTo>
                    <a:pt x="56" y="46"/>
                  </a:lnTo>
                  <a:lnTo>
                    <a:pt x="65" y="45"/>
                  </a:lnTo>
                  <a:lnTo>
                    <a:pt x="65" y="45"/>
                  </a:lnTo>
                  <a:lnTo>
                    <a:pt x="65" y="45"/>
                  </a:lnTo>
                  <a:lnTo>
                    <a:pt x="65" y="45"/>
                  </a:lnTo>
                  <a:lnTo>
                    <a:pt x="65" y="45"/>
                  </a:lnTo>
                  <a:close/>
                </a:path>
                <a:path w="175" h="264">
                  <a:moveTo>
                    <a:pt x="0" y="18"/>
                  </a:moveTo>
                  <a:lnTo>
                    <a:pt x="3" y="28"/>
                  </a:lnTo>
                  <a:lnTo>
                    <a:pt x="6" y="38"/>
                  </a:lnTo>
                  <a:lnTo>
                    <a:pt x="10" y="48"/>
                  </a:lnTo>
                  <a:lnTo>
                    <a:pt x="14" y="58"/>
                  </a:lnTo>
                  <a:lnTo>
                    <a:pt x="17" y="68"/>
                  </a:lnTo>
                  <a:lnTo>
                    <a:pt x="21" y="78"/>
                  </a:lnTo>
                  <a:lnTo>
                    <a:pt x="25" y="87"/>
                  </a:lnTo>
                  <a:lnTo>
                    <a:pt x="30" y="97"/>
                  </a:lnTo>
                  <a:lnTo>
                    <a:pt x="34" y="106"/>
                  </a:lnTo>
                  <a:lnTo>
                    <a:pt x="39" y="115"/>
                  </a:lnTo>
                  <a:lnTo>
                    <a:pt x="44" y="125"/>
                  </a:lnTo>
                  <a:lnTo>
                    <a:pt x="49" y="133"/>
                  </a:lnTo>
                  <a:lnTo>
                    <a:pt x="53" y="143"/>
                  </a:lnTo>
                  <a:lnTo>
                    <a:pt x="59" y="152"/>
                  </a:lnTo>
                  <a:lnTo>
                    <a:pt x="64" y="160"/>
                  </a:lnTo>
                  <a:lnTo>
                    <a:pt x="69" y="169"/>
                  </a:lnTo>
                  <a:lnTo>
                    <a:pt x="73" y="176"/>
                  </a:lnTo>
                  <a:lnTo>
                    <a:pt x="78" y="183"/>
                  </a:lnTo>
                  <a:lnTo>
                    <a:pt x="82" y="189"/>
                  </a:lnTo>
                  <a:lnTo>
                    <a:pt x="86" y="196"/>
                  </a:lnTo>
                  <a:lnTo>
                    <a:pt x="91" y="202"/>
                  </a:lnTo>
                  <a:lnTo>
                    <a:pt x="96" y="209"/>
                  </a:lnTo>
                  <a:lnTo>
                    <a:pt x="100" y="215"/>
                  </a:lnTo>
                  <a:lnTo>
                    <a:pt x="105" y="221"/>
                  </a:lnTo>
                  <a:lnTo>
                    <a:pt x="109" y="227"/>
                  </a:lnTo>
                  <a:lnTo>
                    <a:pt x="114" y="234"/>
                  </a:lnTo>
                  <a:lnTo>
                    <a:pt x="118" y="240"/>
                  </a:lnTo>
                  <a:lnTo>
                    <a:pt x="123" y="246"/>
                  </a:lnTo>
                  <a:lnTo>
                    <a:pt x="128" y="252"/>
                  </a:lnTo>
                  <a:lnTo>
                    <a:pt x="133" y="257"/>
                  </a:lnTo>
                  <a:lnTo>
                    <a:pt x="139" y="261"/>
                  </a:lnTo>
                  <a:lnTo>
                    <a:pt x="145" y="264"/>
                  </a:lnTo>
                  <a:lnTo>
                    <a:pt x="148" y="263"/>
                  </a:lnTo>
                  <a:lnTo>
                    <a:pt x="151" y="261"/>
                  </a:lnTo>
                  <a:lnTo>
                    <a:pt x="152" y="257"/>
                  </a:lnTo>
                  <a:lnTo>
                    <a:pt x="152" y="253"/>
                  </a:lnTo>
                  <a:lnTo>
                    <a:pt x="147" y="247"/>
                  </a:lnTo>
                  <a:lnTo>
                    <a:pt x="142" y="241"/>
                  </a:lnTo>
                  <a:lnTo>
                    <a:pt x="137" y="236"/>
                  </a:lnTo>
                  <a:lnTo>
                    <a:pt x="133" y="230"/>
                  </a:lnTo>
                  <a:lnTo>
                    <a:pt x="128" y="224"/>
                  </a:lnTo>
                  <a:lnTo>
                    <a:pt x="123" y="218"/>
                  </a:lnTo>
                  <a:lnTo>
                    <a:pt x="118" y="213"/>
                  </a:lnTo>
                  <a:lnTo>
                    <a:pt x="113" y="208"/>
                  </a:lnTo>
                  <a:lnTo>
                    <a:pt x="108" y="202"/>
                  </a:lnTo>
                  <a:lnTo>
                    <a:pt x="103" y="196"/>
                  </a:lnTo>
                  <a:lnTo>
                    <a:pt x="98" y="191"/>
                  </a:lnTo>
                  <a:lnTo>
                    <a:pt x="94" y="185"/>
                  </a:lnTo>
                  <a:lnTo>
                    <a:pt x="89" y="179"/>
                  </a:lnTo>
                  <a:lnTo>
                    <a:pt x="84" y="174"/>
                  </a:lnTo>
                  <a:lnTo>
                    <a:pt x="80" y="167"/>
                  </a:lnTo>
                  <a:lnTo>
                    <a:pt x="75" y="161"/>
                  </a:lnTo>
                  <a:lnTo>
                    <a:pt x="70" y="153"/>
                  </a:lnTo>
                  <a:lnTo>
                    <a:pt x="64" y="145"/>
                  </a:lnTo>
                  <a:lnTo>
                    <a:pt x="58" y="136"/>
                  </a:lnTo>
                  <a:lnTo>
                    <a:pt x="53" y="128"/>
                  </a:lnTo>
                  <a:lnTo>
                    <a:pt x="48" y="119"/>
                  </a:lnTo>
                  <a:lnTo>
                    <a:pt x="42" y="111"/>
                  </a:lnTo>
                  <a:lnTo>
                    <a:pt x="38" y="102"/>
                  </a:lnTo>
                  <a:lnTo>
                    <a:pt x="33" y="93"/>
                  </a:lnTo>
                  <a:lnTo>
                    <a:pt x="28" y="84"/>
                  </a:lnTo>
                  <a:lnTo>
                    <a:pt x="24" y="75"/>
                  </a:lnTo>
                  <a:lnTo>
                    <a:pt x="19" y="66"/>
                  </a:lnTo>
                  <a:lnTo>
                    <a:pt x="15" y="57"/>
                  </a:lnTo>
                  <a:lnTo>
                    <a:pt x="11" y="47"/>
                  </a:lnTo>
                  <a:lnTo>
                    <a:pt x="7" y="37"/>
                  </a:lnTo>
                  <a:lnTo>
                    <a:pt x="4" y="27"/>
                  </a:lnTo>
                  <a:lnTo>
                    <a:pt x="0" y="18"/>
                  </a:lnTo>
                  <a:lnTo>
                    <a:pt x="0" y="18"/>
                  </a:lnTo>
                  <a:lnTo>
                    <a:pt x="0" y="18"/>
                  </a:lnTo>
                  <a:lnTo>
                    <a:pt x="0" y="18"/>
                  </a:lnTo>
                  <a:lnTo>
                    <a:pt x="0" y="18"/>
                  </a:lnTo>
                  <a:close/>
                </a:path>
                <a:path w="175" h="264">
                  <a:moveTo>
                    <a:pt x="21" y="0"/>
                  </a:moveTo>
                  <a:lnTo>
                    <a:pt x="26" y="17"/>
                  </a:lnTo>
                  <a:lnTo>
                    <a:pt x="32" y="33"/>
                  </a:lnTo>
                  <a:lnTo>
                    <a:pt x="39" y="50"/>
                  </a:lnTo>
                  <a:lnTo>
                    <a:pt x="47" y="66"/>
                  </a:lnTo>
                  <a:lnTo>
                    <a:pt x="55" y="82"/>
                  </a:lnTo>
                  <a:lnTo>
                    <a:pt x="63" y="98"/>
                  </a:lnTo>
                  <a:lnTo>
                    <a:pt x="72" y="113"/>
                  </a:lnTo>
                  <a:lnTo>
                    <a:pt x="82" y="129"/>
                  </a:lnTo>
                  <a:lnTo>
                    <a:pt x="92" y="143"/>
                  </a:lnTo>
                  <a:lnTo>
                    <a:pt x="102" y="157"/>
                  </a:lnTo>
                  <a:lnTo>
                    <a:pt x="112" y="171"/>
                  </a:lnTo>
                  <a:lnTo>
                    <a:pt x="123" y="184"/>
                  </a:lnTo>
                  <a:lnTo>
                    <a:pt x="135" y="197"/>
                  </a:lnTo>
                  <a:lnTo>
                    <a:pt x="146" y="209"/>
                  </a:lnTo>
                  <a:lnTo>
                    <a:pt x="158" y="220"/>
                  </a:lnTo>
                  <a:lnTo>
                    <a:pt x="169" y="231"/>
                  </a:lnTo>
                  <a:lnTo>
                    <a:pt x="172" y="232"/>
                  </a:lnTo>
                  <a:lnTo>
                    <a:pt x="174" y="229"/>
                  </a:lnTo>
                  <a:lnTo>
                    <a:pt x="175" y="225"/>
                  </a:lnTo>
                  <a:lnTo>
                    <a:pt x="174" y="222"/>
                  </a:lnTo>
                  <a:lnTo>
                    <a:pt x="169" y="215"/>
                  </a:lnTo>
                  <a:lnTo>
                    <a:pt x="165" y="210"/>
                  </a:lnTo>
                  <a:lnTo>
                    <a:pt x="160" y="204"/>
                  </a:lnTo>
                  <a:lnTo>
                    <a:pt x="155" y="198"/>
                  </a:lnTo>
                  <a:lnTo>
                    <a:pt x="150" y="192"/>
                  </a:lnTo>
                  <a:lnTo>
                    <a:pt x="145" y="186"/>
                  </a:lnTo>
                  <a:lnTo>
                    <a:pt x="139" y="181"/>
                  </a:lnTo>
                  <a:lnTo>
                    <a:pt x="134" y="175"/>
                  </a:lnTo>
                  <a:lnTo>
                    <a:pt x="129" y="169"/>
                  </a:lnTo>
                  <a:lnTo>
                    <a:pt x="124" y="164"/>
                  </a:lnTo>
                  <a:lnTo>
                    <a:pt x="119" y="158"/>
                  </a:lnTo>
                  <a:lnTo>
                    <a:pt x="113" y="153"/>
                  </a:lnTo>
                  <a:lnTo>
                    <a:pt x="109" y="147"/>
                  </a:lnTo>
                  <a:lnTo>
                    <a:pt x="103" y="141"/>
                  </a:lnTo>
                  <a:lnTo>
                    <a:pt x="98" y="135"/>
                  </a:lnTo>
                  <a:lnTo>
                    <a:pt x="94" y="130"/>
                  </a:lnTo>
                  <a:lnTo>
                    <a:pt x="88" y="122"/>
                  </a:lnTo>
                  <a:lnTo>
                    <a:pt x="82" y="115"/>
                  </a:lnTo>
                  <a:lnTo>
                    <a:pt x="77" y="108"/>
                  </a:lnTo>
                  <a:lnTo>
                    <a:pt x="72" y="100"/>
                  </a:lnTo>
                  <a:lnTo>
                    <a:pt x="66" y="93"/>
                  </a:lnTo>
                  <a:lnTo>
                    <a:pt x="62" y="85"/>
                  </a:lnTo>
                  <a:lnTo>
                    <a:pt x="57" y="77"/>
                  </a:lnTo>
                  <a:lnTo>
                    <a:pt x="52" y="69"/>
                  </a:lnTo>
                  <a:lnTo>
                    <a:pt x="48" y="60"/>
                  </a:lnTo>
                  <a:lnTo>
                    <a:pt x="43" y="52"/>
                  </a:lnTo>
                  <a:lnTo>
                    <a:pt x="39" y="44"/>
                  </a:lnTo>
                  <a:lnTo>
                    <a:pt x="35" y="35"/>
                  </a:lnTo>
                  <a:lnTo>
                    <a:pt x="32" y="26"/>
                  </a:lnTo>
                  <a:lnTo>
                    <a:pt x="28" y="18"/>
                  </a:lnTo>
                  <a:lnTo>
                    <a:pt x="24" y="9"/>
                  </a:lnTo>
                  <a:lnTo>
                    <a:pt x="21" y="0"/>
                  </a:lnTo>
                  <a:lnTo>
                    <a:pt x="21" y="0"/>
                  </a:lnTo>
                  <a:lnTo>
                    <a:pt x="21" y="0"/>
                  </a:lnTo>
                  <a:lnTo>
                    <a:pt x="21" y="0"/>
                  </a:lnTo>
                  <a:lnTo>
                    <a:pt x="21" y="0"/>
                  </a:lnTo>
                  <a:close/>
                </a:path>
                <a:path w="175" h="264">
                  <a:moveTo>
                    <a:pt x="26" y="59"/>
                  </a:moveTo>
                  <a:lnTo>
                    <a:pt x="30" y="58"/>
                  </a:lnTo>
                  <a:lnTo>
                    <a:pt x="34" y="56"/>
                  </a:lnTo>
                  <a:lnTo>
                    <a:pt x="38" y="55"/>
                  </a:lnTo>
                  <a:lnTo>
                    <a:pt x="42" y="54"/>
                  </a:lnTo>
                  <a:lnTo>
                    <a:pt x="46" y="53"/>
                  </a:lnTo>
                  <a:lnTo>
                    <a:pt x="50" y="52"/>
                  </a:lnTo>
                  <a:lnTo>
                    <a:pt x="54" y="52"/>
                  </a:lnTo>
                  <a:lnTo>
                    <a:pt x="58" y="52"/>
                  </a:lnTo>
                  <a:lnTo>
                    <a:pt x="62" y="53"/>
                  </a:lnTo>
                  <a:lnTo>
                    <a:pt x="65" y="53"/>
                  </a:lnTo>
                  <a:lnTo>
                    <a:pt x="68" y="54"/>
                  </a:lnTo>
                  <a:lnTo>
                    <a:pt x="72" y="54"/>
                  </a:lnTo>
                  <a:lnTo>
                    <a:pt x="75" y="55"/>
                  </a:lnTo>
                  <a:lnTo>
                    <a:pt x="79" y="55"/>
                  </a:lnTo>
                  <a:lnTo>
                    <a:pt x="82" y="55"/>
                  </a:lnTo>
                  <a:lnTo>
                    <a:pt x="85" y="55"/>
                  </a:lnTo>
                  <a:lnTo>
                    <a:pt x="88" y="54"/>
                  </a:lnTo>
                  <a:lnTo>
                    <a:pt x="90" y="53"/>
                  </a:lnTo>
                  <a:lnTo>
                    <a:pt x="92" y="50"/>
                  </a:lnTo>
                  <a:lnTo>
                    <a:pt x="92" y="48"/>
                  </a:lnTo>
                  <a:lnTo>
                    <a:pt x="89" y="45"/>
                  </a:lnTo>
                  <a:lnTo>
                    <a:pt x="86" y="43"/>
                  </a:lnTo>
                  <a:lnTo>
                    <a:pt x="82" y="42"/>
                  </a:lnTo>
                  <a:lnTo>
                    <a:pt x="79" y="42"/>
                  </a:lnTo>
                  <a:lnTo>
                    <a:pt x="75" y="42"/>
                  </a:lnTo>
                  <a:lnTo>
                    <a:pt x="71" y="43"/>
                  </a:lnTo>
                  <a:lnTo>
                    <a:pt x="67" y="44"/>
                  </a:lnTo>
                  <a:lnTo>
                    <a:pt x="64" y="44"/>
                  </a:lnTo>
                  <a:lnTo>
                    <a:pt x="59" y="45"/>
                  </a:lnTo>
                  <a:lnTo>
                    <a:pt x="54" y="47"/>
                  </a:lnTo>
                  <a:lnTo>
                    <a:pt x="49" y="48"/>
                  </a:lnTo>
                  <a:lnTo>
                    <a:pt x="45" y="50"/>
                  </a:lnTo>
                  <a:lnTo>
                    <a:pt x="40" y="52"/>
                  </a:lnTo>
                  <a:lnTo>
                    <a:pt x="35" y="54"/>
                  </a:lnTo>
                  <a:lnTo>
                    <a:pt x="31" y="56"/>
                  </a:lnTo>
                  <a:lnTo>
                    <a:pt x="26" y="59"/>
                  </a:lnTo>
                  <a:lnTo>
                    <a:pt x="26" y="59"/>
                  </a:lnTo>
                  <a:lnTo>
                    <a:pt x="26" y="59"/>
                  </a:lnTo>
                  <a:lnTo>
                    <a:pt x="26" y="59"/>
                  </a:lnTo>
                  <a:lnTo>
                    <a:pt x="26" y="59"/>
                  </a:lnTo>
                  <a:close/>
                </a:path>
              </a:pathLst>
            </a:custGeom>
            <a:solidFill>
              <a:srgbClr val="3AB200">
                <a:alpha val="100000"/>
              </a:srgbClr>
            </a:solidFill>
            <a:ln cap="flat">
              <a:noFill/>
              <a:prstDash val="solid"/>
              <a:miter lim="0"/>
            </a:ln>
          </p:spPr>
          <p:txBody>
            <a:bodyPr rtlCol="0"/>
            <a:lstStyle/>
            <a:p>
              <a:pPr algn="ctr"/>
              <a:endParaRPr lang="zh-CN" altLang="en-US"/>
            </a:p>
          </p:txBody>
        </p:sp>
        <p:sp>
          <p:nvSpPr>
            <p:cNvPr id="773" name="path"/>
            <p:cNvSpPr/>
            <p:nvPr/>
          </p:nvSpPr>
          <p:spPr>
            <a:xfrm>
              <a:off x="232303" y="70405"/>
              <a:ext cx="277896" cy="361422"/>
            </a:xfrm>
            <a:custGeom>
              <a:avLst/>
              <a:gdLst/>
              <a:ahLst/>
              <a:cxnLst/>
              <a:rect l="0" t="0" r="0" b="0"/>
              <a:pathLst>
                <a:path w="437" h="569">
                  <a:moveTo>
                    <a:pt x="3" y="101"/>
                  </a:moveTo>
                  <a:lnTo>
                    <a:pt x="11" y="135"/>
                  </a:lnTo>
                  <a:lnTo>
                    <a:pt x="21" y="169"/>
                  </a:lnTo>
                  <a:lnTo>
                    <a:pt x="32" y="202"/>
                  </a:lnTo>
                  <a:lnTo>
                    <a:pt x="43" y="235"/>
                  </a:lnTo>
                  <a:lnTo>
                    <a:pt x="56" y="267"/>
                  </a:lnTo>
                  <a:lnTo>
                    <a:pt x="70" y="299"/>
                  </a:lnTo>
                  <a:lnTo>
                    <a:pt x="85" y="331"/>
                  </a:lnTo>
                  <a:lnTo>
                    <a:pt x="101" y="361"/>
                  </a:lnTo>
                  <a:lnTo>
                    <a:pt x="119" y="390"/>
                  </a:lnTo>
                  <a:lnTo>
                    <a:pt x="137" y="419"/>
                  </a:lnTo>
                  <a:lnTo>
                    <a:pt x="156" y="446"/>
                  </a:lnTo>
                  <a:lnTo>
                    <a:pt x="176" y="472"/>
                  </a:lnTo>
                  <a:lnTo>
                    <a:pt x="197" y="497"/>
                  </a:lnTo>
                  <a:lnTo>
                    <a:pt x="219" y="521"/>
                  </a:lnTo>
                  <a:lnTo>
                    <a:pt x="242" y="543"/>
                  </a:lnTo>
                  <a:lnTo>
                    <a:pt x="266" y="564"/>
                  </a:lnTo>
                  <a:lnTo>
                    <a:pt x="268" y="564"/>
                  </a:lnTo>
                  <a:lnTo>
                    <a:pt x="271" y="562"/>
                  </a:lnTo>
                  <a:lnTo>
                    <a:pt x="273" y="559"/>
                  </a:lnTo>
                  <a:lnTo>
                    <a:pt x="272" y="556"/>
                  </a:lnTo>
                  <a:lnTo>
                    <a:pt x="265" y="547"/>
                  </a:lnTo>
                  <a:lnTo>
                    <a:pt x="257" y="537"/>
                  </a:lnTo>
                  <a:lnTo>
                    <a:pt x="249" y="527"/>
                  </a:lnTo>
                  <a:lnTo>
                    <a:pt x="241" y="518"/>
                  </a:lnTo>
                  <a:lnTo>
                    <a:pt x="233" y="509"/>
                  </a:lnTo>
                  <a:lnTo>
                    <a:pt x="225" y="499"/>
                  </a:lnTo>
                  <a:lnTo>
                    <a:pt x="217" y="490"/>
                  </a:lnTo>
                  <a:lnTo>
                    <a:pt x="209" y="481"/>
                  </a:lnTo>
                  <a:lnTo>
                    <a:pt x="201" y="472"/>
                  </a:lnTo>
                  <a:lnTo>
                    <a:pt x="193" y="462"/>
                  </a:lnTo>
                  <a:lnTo>
                    <a:pt x="186" y="452"/>
                  </a:lnTo>
                  <a:lnTo>
                    <a:pt x="178" y="443"/>
                  </a:lnTo>
                  <a:lnTo>
                    <a:pt x="170" y="433"/>
                  </a:lnTo>
                  <a:lnTo>
                    <a:pt x="163" y="423"/>
                  </a:lnTo>
                  <a:lnTo>
                    <a:pt x="155" y="414"/>
                  </a:lnTo>
                  <a:lnTo>
                    <a:pt x="148" y="404"/>
                  </a:lnTo>
                  <a:lnTo>
                    <a:pt x="135" y="387"/>
                  </a:lnTo>
                  <a:lnTo>
                    <a:pt x="124" y="370"/>
                  </a:lnTo>
                  <a:lnTo>
                    <a:pt x="113" y="353"/>
                  </a:lnTo>
                  <a:lnTo>
                    <a:pt x="102" y="335"/>
                  </a:lnTo>
                  <a:lnTo>
                    <a:pt x="91" y="317"/>
                  </a:lnTo>
                  <a:lnTo>
                    <a:pt x="81" y="299"/>
                  </a:lnTo>
                  <a:lnTo>
                    <a:pt x="71" y="280"/>
                  </a:lnTo>
                  <a:lnTo>
                    <a:pt x="62" y="262"/>
                  </a:lnTo>
                  <a:lnTo>
                    <a:pt x="53" y="242"/>
                  </a:lnTo>
                  <a:lnTo>
                    <a:pt x="45" y="223"/>
                  </a:lnTo>
                  <a:lnTo>
                    <a:pt x="36" y="203"/>
                  </a:lnTo>
                  <a:lnTo>
                    <a:pt x="29" y="183"/>
                  </a:lnTo>
                  <a:lnTo>
                    <a:pt x="22" y="163"/>
                  </a:lnTo>
                  <a:lnTo>
                    <a:pt x="15" y="142"/>
                  </a:lnTo>
                  <a:lnTo>
                    <a:pt x="9" y="121"/>
                  </a:lnTo>
                  <a:lnTo>
                    <a:pt x="3" y="100"/>
                  </a:lnTo>
                  <a:lnTo>
                    <a:pt x="3" y="100"/>
                  </a:lnTo>
                  <a:lnTo>
                    <a:pt x="3" y="100"/>
                  </a:lnTo>
                  <a:lnTo>
                    <a:pt x="3" y="101"/>
                  </a:lnTo>
                  <a:lnTo>
                    <a:pt x="3" y="101"/>
                  </a:lnTo>
                  <a:close/>
                </a:path>
                <a:path w="437" h="569">
                  <a:moveTo>
                    <a:pt x="166" y="0"/>
                  </a:moveTo>
                  <a:lnTo>
                    <a:pt x="169" y="13"/>
                  </a:lnTo>
                  <a:lnTo>
                    <a:pt x="173" y="26"/>
                  </a:lnTo>
                  <a:lnTo>
                    <a:pt x="177" y="39"/>
                  </a:lnTo>
                  <a:lnTo>
                    <a:pt x="181" y="52"/>
                  </a:lnTo>
                  <a:lnTo>
                    <a:pt x="186" y="64"/>
                  </a:lnTo>
                  <a:lnTo>
                    <a:pt x="191" y="77"/>
                  </a:lnTo>
                  <a:lnTo>
                    <a:pt x="197" y="89"/>
                  </a:lnTo>
                  <a:lnTo>
                    <a:pt x="203" y="101"/>
                  </a:lnTo>
                  <a:lnTo>
                    <a:pt x="209" y="112"/>
                  </a:lnTo>
                  <a:lnTo>
                    <a:pt x="216" y="123"/>
                  </a:lnTo>
                  <a:lnTo>
                    <a:pt x="223" y="134"/>
                  </a:lnTo>
                  <a:lnTo>
                    <a:pt x="229" y="145"/>
                  </a:lnTo>
                  <a:lnTo>
                    <a:pt x="237" y="156"/>
                  </a:lnTo>
                  <a:lnTo>
                    <a:pt x="244" y="166"/>
                  </a:lnTo>
                  <a:lnTo>
                    <a:pt x="252" y="176"/>
                  </a:lnTo>
                  <a:lnTo>
                    <a:pt x="260" y="185"/>
                  </a:lnTo>
                  <a:lnTo>
                    <a:pt x="270" y="197"/>
                  </a:lnTo>
                  <a:lnTo>
                    <a:pt x="281" y="210"/>
                  </a:lnTo>
                  <a:lnTo>
                    <a:pt x="291" y="221"/>
                  </a:lnTo>
                  <a:lnTo>
                    <a:pt x="301" y="233"/>
                  </a:lnTo>
                  <a:lnTo>
                    <a:pt x="311" y="245"/>
                  </a:lnTo>
                  <a:lnTo>
                    <a:pt x="322" y="256"/>
                  </a:lnTo>
                  <a:lnTo>
                    <a:pt x="332" y="267"/>
                  </a:lnTo>
                  <a:lnTo>
                    <a:pt x="343" y="278"/>
                  </a:lnTo>
                  <a:lnTo>
                    <a:pt x="354" y="289"/>
                  </a:lnTo>
                  <a:lnTo>
                    <a:pt x="365" y="300"/>
                  </a:lnTo>
                  <a:lnTo>
                    <a:pt x="375" y="310"/>
                  </a:lnTo>
                  <a:lnTo>
                    <a:pt x="387" y="320"/>
                  </a:lnTo>
                  <a:lnTo>
                    <a:pt x="398" y="330"/>
                  </a:lnTo>
                  <a:lnTo>
                    <a:pt x="410" y="340"/>
                  </a:lnTo>
                  <a:lnTo>
                    <a:pt x="422" y="349"/>
                  </a:lnTo>
                  <a:lnTo>
                    <a:pt x="434" y="358"/>
                  </a:lnTo>
                  <a:lnTo>
                    <a:pt x="436" y="358"/>
                  </a:lnTo>
                  <a:lnTo>
                    <a:pt x="437" y="356"/>
                  </a:lnTo>
                  <a:lnTo>
                    <a:pt x="437" y="354"/>
                  </a:lnTo>
                  <a:lnTo>
                    <a:pt x="437" y="352"/>
                  </a:lnTo>
                  <a:lnTo>
                    <a:pt x="427" y="343"/>
                  </a:lnTo>
                  <a:lnTo>
                    <a:pt x="418" y="334"/>
                  </a:lnTo>
                  <a:lnTo>
                    <a:pt x="408" y="325"/>
                  </a:lnTo>
                  <a:lnTo>
                    <a:pt x="398" y="316"/>
                  </a:lnTo>
                  <a:lnTo>
                    <a:pt x="388" y="307"/>
                  </a:lnTo>
                  <a:lnTo>
                    <a:pt x="378" y="298"/>
                  </a:lnTo>
                  <a:lnTo>
                    <a:pt x="368" y="289"/>
                  </a:lnTo>
                  <a:lnTo>
                    <a:pt x="358" y="280"/>
                  </a:lnTo>
                  <a:lnTo>
                    <a:pt x="349" y="270"/>
                  </a:lnTo>
                  <a:lnTo>
                    <a:pt x="339" y="261"/>
                  </a:lnTo>
                  <a:lnTo>
                    <a:pt x="329" y="251"/>
                  </a:lnTo>
                  <a:lnTo>
                    <a:pt x="319" y="241"/>
                  </a:lnTo>
                  <a:lnTo>
                    <a:pt x="309" y="232"/>
                  </a:lnTo>
                  <a:lnTo>
                    <a:pt x="300" y="221"/>
                  </a:lnTo>
                  <a:lnTo>
                    <a:pt x="291" y="211"/>
                  </a:lnTo>
                  <a:lnTo>
                    <a:pt x="281" y="201"/>
                  </a:lnTo>
                  <a:lnTo>
                    <a:pt x="272" y="190"/>
                  </a:lnTo>
                  <a:lnTo>
                    <a:pt x="263" y="179"/>
                  </a:lnTo>
                  <a:lnTo>
                    <a:pt x="254" y="168"/>
                  </a:lnTo>
                  <a:lnTo>
                    <a:pt x="246" y="157"/>
                  </a:lnTo>
                  <a:lnTo>
                    <a:pt x="238" y="145"/>
                  </a:lnTo>
                  <a:lnTo>
                    <a:pt x="229" y="133"/>
                  </a:lnTo>
                  <a:lnTo>
                    <a:pt x="222" y="121"/>
                  </a:lnTo>
                  <a:lnTo>
                    <a:pt x="214" y="109"/>
                  </a:lnTo>
                  <a:lnTo>
                    <a:pt x="207" y="97"/>
                  </a:lnTo>
                  <a:lnTo>
                    <a:pt x="200" y="83"/>
                  </a:lnTo>
                  <a:lnTo>
                    <a:pt x="193" y="70"/>
                  </a:lnTo>
                  <a:lnTo>
                    <a:pt x="187" y="57"/>
                  </a:lnTo>
                  <a:lnTo>
                    <a:pt x="181" y="43"/>
                  </a:lnTo>
                  <a:lnTo>
                    <a:pt x="176" y="29"/>
                  </a:lnTo>
                  <a:lnTo>
                    <a:pt x="171" y="14"/>
                  </a:lnTo>
                  <a:lnTo>
                    <a:pt x="166" y="0"/>
                  </a:lnTo>
                  <a:lnTo>
                    <a:pt x="166" y="0"/>
                  </a:lnTo>
                  <a:lnTo>
                    <a:pt x="166" y="0"/>
                  </a:lnTo>
                  <a:lnTo>
                    <a:pt x="166" y="0"/>
                  </a:lnTo>
                  <a:lnTo>
                    <a:pt x="166" y="0"/>
                  </a:lnTo>
                  <a:close/>
                </a:path>
                <a:path w="437" h="569">
                  <a:moveTo>
                    <a:pt x="102" y="59"/>
                  </a:moveTo>
                  <a:lnTo>
                    <a:pt x="98" y="60"/>
                  </a:lnTo>
                  <a:lnTo>
                    <a:pt x="94" y="61"/>
                  </a:lnTo>
                  <a:lnTo>
                    <a:pt x="91" y="63"/>
                  </a:lnTo>
                  <a:lnTo>
                    <a:pt x="88" y="65"/>
                  </a:lnTo>
                  <a:lnTo>
                    <a:pt x="85" y="68"/>
                  </a:lnTo>
                  <a:lnTo>
                    <a:pt x="83" y="72"/>
                  </a:lnTo>
                  <a:lnTo>
                    <a:pt x="81" y="76"/>
                  </a:lnTo>
                  <a:lnTo>
                    <a:pt x="80" y="81"/>
                  </a:lnTo>
                  <a:lnTo>
                    <a:pt x="79" y="87"/>
                  </a:lnTo>
                  <a:lnTo>
                    <a:pt x="79" y="93"/>
                  </a:lnTo>
                  <a:lnTo>
                    <a:pt x="81" y="99"/>
                  </a:lnTo>
                  <a:lnTo>
                    <a:pt x="83" y="104"/>
                  </a:lnTo>
                  <a:lnTo>
                    <a:pt x="86" y="109"/>
                  </a:lnTo>
                  <a:lnTo>
                    <a:pt x="90" y="113"/>
                  </a:lnTo>
                  <a:lnTo>
                    <a:pt x="95" y="116"/>
                  </a:lnTo>
                  <a:lnTo>
                    <a:pt x="99" y="118"/>
                  </a:lnTo>
                  <a:lnTo>
                    <a:pt x="105" y="119"/>
                  </a:lnTo>
                  <a:lnTo>
                    <a:pt x="109" y="119"/>
                  </a:lnTo>
                  <a:lnTo>
                    <a:pt x="114" y="118"/>
                  </a:lnTo>
                  <a:lnTo>
                    <a:pt x="119" y="116"/>
                  </a:lnTo>
                  <a:lnTo>
                    <a:pt x="124" y="113"/>
                  </a:lnTo>
                  <a:lnTo>
                    <a:pt x="128" y="109"/>
                  </a:lnTo>
                  <a:lnTo>
                    <a:pt x="131" y="104"/>
                  </a:lnTo>
                  <a:lnTo>
                    <a:pt x="133" y="99"/>
                  </a:lnTo>
                  <a:lnTo>
                    <a:pt x="134" y="94"/>
                  </a:lnTo>
                  <a:lnTo>
                    <a:pt x="134" y="87"/>
                  </a:lnTo>
                  <a:lnTo>
                    <a:pt x="133" y="81"/>
                  </a:lnTo>
                  <a:lnTo>
                    <a:pt x="132" y="76"/>
                  </a:lnTo>
                  <a:lnTo>
                    <a:pt x="131" y="73"/>
                  </a:lnTo>
                  <a:lnTo>
                    <a:pt x="129" y="71"/>
                  </a:lnTo>
                  <a:lnTo>
                    <a:pt x="128" y="69"/>
                  </a:lnTo>
                  <a:lnTo>
                    <a:pt x="126" y="67"/>
                  </a:lnTo>
                  <a:lnTo>
                    <a:pt x="123" y="65"/>
                  </a:lnTo>
                  <a:lnTo>
                    <a:pt x="121" y="63"/>
                  </a:lnTo>
                  <a:lnTo>
                    <a:pt x="118" y="62"/>
                  </a:lnTo>
                  <a:lnTo>
                    <a:pt x="116" y="61"/>
                  </a:lnTo>
                  <a:lnTo>
                    <a:pt x="115" y="61"/>
                  </a:lnTo>
                  <a:lnTo>
                    <a:pt x="114" y="62"/>
                  </a:lnTo>
                  <a:lnTo>
                    <a:pt x="113" y="64"/>
                  </a:lnTo>
                  <a:lnTo>
                    <a:pt x="114" y="65"/>
                  </a:lnTo>
                  <a:lnTo>
                    <a:pt x="116" y="67"/>
                  </a:lnTo>
                  <a:lnTo>
                    <a:pt x="118" y="69"/>
                  </a:lnTo>
                  <a:lnTo>
                    <a:pt x="120" y="72"/>
                  </a:lnTo>
                  <a:lnTo>
                    <a:pt x="122" y="74"/>
                  </a:lnTo>
                  <a:lnTo>
                    <a:pt x="126" y="81"/>
                  </a:lnTo>
                  <a:lnTo>
                    <a:pt x="127" y="87"/>
                  </a:lnTo>
                  <a:lnTo>
                    <a:pt x="125" y="93"/>
                  </a:lnTo>
                  <a:lnTo>
                    <a:pt x="122" y="97"/>
                  </a:lnTo>
                  <a:lnTo>
                    <a:pt x="118" y="101"/>
                  </a:lnTo>
                  <a:lnTo>
                    <a:pt x="114" y="104"/>
                  </a:lnTo>
                  <a:lnTo>
                    <a:pt x="111" y="105"/>
                  </a:lnTo>
                  <a:lnTo>
                    <a:pt x="109" y="106"/>
                  </a:lnTo>
                  <a:lnTo>
                    <a:pt x="106" y="106"/>
                  </a:lnTo>
                  <a:lnTo>
                    <a:pt x="103" y="106"/>
                  </a:lnTo>
                  <a:lnTo>
                    <a:pt x="100" y="105"/>
                  </a:lnTo>
                  <a:lnTo>
                    <a:pt x="97" y="104"/>
                  </a:lnTo>
                  <a:lnTo>
                    <a:pt x="94" y="104"/>
                  </a:lnTo>
                  <a:lnTo>
                    <a:pt x="92" y="102"/>
                  </a:lnTo>
                  <a:lnTo>
                    <a:pt x="89" y="100"/>
                  </a:lnTo>
                  <a:lnTo>
                    <a:pt x="87" y="97"/>
                  </a:lnTo>
                  <a:lnTo>
                    <a:pt x="83" y="91"/>
                  </a:lnTo>
                  <a:lnTo>
                    <a:pt x="82" y="85"/>
                  </a:lnTo>
                  <a:lnTo>
                    <a:pt x="82" y="79"/>
                  </a:lnTo>
                  <a:lnTo>
                    <a:pt x="85" y="74"/>
                  </a:lnTo>
                  <a:lnTo>
                    <a:pt x="88" y="68"/>
                  </a:lnTo>
                  <a:lnTo>
                    <a:pt x="92" y="64"/>
                  </a:lnTo>
                  <a:lnTo>
                    <a:pt x="97" y="61"/>
                  </a:lnTo>
                  <a:lnTo>
                    <a:pt x="102" y="60"/>
                  </a:lnTo>
                  <a:lnTo>
                    <a:pt x="102" y="60"/>
                  </a:lnTo>
                  <a:lnTo>
                    <a:pt x="102" y="59"/>
                  </a:lnTo>
                  <a:lnTo>
                    <a:pt x="102" y="59"/>
                  </a:lnTo>
                  <a:lnTo>
                    <a:pt x="102" y="59"/>
                  </a:lnTo>
                  <a:close/>
                </a:path>
                <a:path w="437" h="569">
                  <a:moveTo>
                    <a:pt x="436" y="341"/>
                  </a:moveTo>
                  <a:lnTo>
                    <a:pt x="431" y="343"/>
                  </a:lnTo>
                  <a:lnTo>
                    <a:pt x="425" y="345"/>
                  </a:lnTo>
                  <a:lnTo>
                    <a:pt x="420" y="349"/>
                  </a:lnTo>
                  <a:lnTo>
                    <a:pt x="415" y="353"/>
                  </a:lnTo>
                  <a:lnTo>
                    <a:pt x="410" y="357"/>
                  </a:lnTo>
                  <a:lnTo>
                    <a:pt x="405" y="361"/>
                  </a:lnTo>
                  <a:lnTo>
                    <a:pt x="401" y="365"/>
                  </a:lnTo>
                  <a:lnTo>
                    <a:pt x="396" y="369"/>
                  </a:lnTo>
                  <a:lnTo>
                    <a:pt x="392" y="372"/>
                  </a:lnTo>
                  <a:lnTo>
                    <a:pt x="388" y="376"/>
                  </a:lnTo>
                  <a:lnTo>
                    <a:pt x="384" y="379"/>
                  </a:lnTo>
                  <a:lnTo>
                    <a:pt x="379" y="383"/>
                  </a:lnTo>
                  <a:lnTo>
                    <a:pt x="375" y="387"/>
                  </a:lnTo>
                  <a:lnTo>
                    <a:pt x="371" y="390"/>
                  </a:lnTo>
                  <a:lnTo>
                    <a:pt x="367" y="394"/>
                  </a:lnTo>
                  <a:lnTo>
                    <a:pt x="363" y="397"/>
                  </a:lnTo>
                  <a:lnTo>
                    <a:pt x="358" y="401"/>
                  </a:lnTo>
                  <a:lnTo>
                    <a:pt x="354" y="405"/>
                  </a:lnTo>
                  <a:lnTo>
                    <a:pt x="350" y="409"/>
                  </a:lnTo>
                  <a:lnTo>
                    <a:pt x="346" y="413"/>
                  </a:lnTo>
                  <a:lnTo>
                    <a:pt x="342" y="417"/>
                  </a:lnTo>
                  <a:lnTo>
                    <a:pt x="338" y="420"/>
                  </a:lnTo>
                  <a:lnTo>
                    <a:pt x="334" y="424"/>
                  </a:lnTo>
                  <a:lnTo>
                    <a:pt x="330" y="428"/>
                  </a:lnTo>
                  <a:lnTo>
                    <a:pt x="322" y="435"/>
                  </a:lnTo>
                  <a:lnTo>
                    <a:pt x="315" y="443"/>
                  </a:lnTo>
                  <a:lnTo>
                    <a:pt x="307" y="450"/>
                  </a:lnTo>
                  <a:lnTo>
                    <a:pt x="300" y="458"/>
                  </a:lnTo>
                  <a:lnTo>
                    <a:pt x="293" y="467"/>
                  </a:lnTo>
                  <a:lnTo>
                    <a:pt x="286" y="475"/>
                  </a:lnTo>
                  <a:lnTo>
                    <a:pt x="279" y="484"/>
                  </a:lnTo>
                  <a:lnTo>
                    <a:pt x="273" y="493"/>
                  </a:lnTo>
                  <a:lnTo>
                    <a:pt x="268" y="500"/>
                  </a:lnTo>
                  <a:lnTo>
                    <a:pt x="263" y="508"/>
                  </a:lnTo>
                  <a:lnTo>
                    <a:pt x="257" y="518"/>
                  </a:lnTo>
                  <a:lnTo>
                    <a:pt x="252" y="527"/>
                  </a:lnTo>
                  <a:lnTo>
                    <a:pt x="247" y="537"/>
                  </a:lnTo>
                  <a:lnTo>
                    <a:pt x="244" y="548"/>
                  </a:lnTo>
                  <a:lnTo>
                    <a:pt x="243" y="557"/>
                  </a:lnTo>
                  <a:lnTo>
                    <a:pt x="245" y="566"/>
                  </a:lnTo>
                  <a:lnTo>
                    <a:pt x="247" y="569"/>
                  </a:lnTo>
                  <a:lnTo>
                    <a:pt x="250" y="568"/>
                  </a:lnTo>
                  <a:lnTo>
                    <a:pt x="253" y="565"/>
                  </a:lnTo>
                  <a:lnTo>
                    <a:pt x="255" y="563"/>
                  </a:lnTo>
                  <a:lnTo>
                    <a:pt x="259" y="555"/>
                  </a:lnTo>
                  <a:lnTo>
                    <a:pt x="264" y="547"/>
                  </a:lnTo>
                  <a:lnTo>
                    <a:pt x="268" y="539"/>
                  </a:lnTo>
                  <a:lnTo>
                    <a:pt x="272" y="531"/>
                  </a:lnTo>
                  <a:lnTo>
                    <a:pt x="276" y="523"/>
                  </a:lnTo>
                  <a:lnTo>
                    <a:pt x="281" y="515"/>
                  </a:lnTo>
                  <a:lnTo>
                    <a:pt x="285" y="507"/>
                  </a:lnTo>
                  <a:lnTo>
                    <a:pt x="290" y="499"/>
                  </a:lnTo>
                  <a:lnTo>
                    <a:pt x="294" y="492"/>
                  </a:lnTo>
                  <a:lnTo>
                    <a:pt x="298" y="484"/>
                  </a:lnTo>
                  <a:lnTo>
                    <a:pt x="303" y="477"/>
                  </a:lnTo>
                  <a:lnTo>
                    <a:pt x="308" y="470"/>
                  </a:lnTo>
                  <a:lnTo>
                    <a:pt x="313" y="462"/>
                  </a:lnTo>
                  <a:lnTo>
                    <a:pt x="318" y="455"/>
                  </a:lnTo>
                  <a:lnTo>
                    <a:pt x="324" y="448"/>
                  </a:lnTo>
                  <a:lnTo>
                    <a:pt x="329" y="441"/>
                  </a:lnTo>
                  <a:lnTo>
                    <a:pt x="337" y="433"/>
                  </a:lnTo>
                  <a:lnTo>
                    <a:pt x="344" y="424"/>
                  </a:lnTo>
                  <a:lnTo>
                    <a:pt x="352" y="417"/>
                  </a:lnTo>
                  <a:lnTo>
                    <a:pt x="360" y="409"/>
                  </a:lnTo>
                  <a:lnTo>
                    <a:pt x="368" y="402"/>
                  </a:lnTo>
                  <a:lnTo>
                    <a:pt x="376" y="395"/>
                  </a:lnTo>
                  <a:lnTo>
                    <a:pt x="384" y="388"/>
                  </a:lnTo>
                  <a:lnTo>
                    <a:pt x="392" y="380"/>
                  </a:lnTo>
                  <a:lnTo>
                    <a:pt x="397" y="376"/>
                  </a:lnTo>
                  <a:lnTo>
                    <a:pt x="402" y="370"/>
                  </a:lnTo>
                  <a:lnTo>
                    <a:pt x="407" y="366"/>
                  </a:lnTo>
                  <a:lnTo>
                    <a:pt x="413" y="360"/>
                  </a:lnTo>
                  <a:lnTo>
                    <a:pt x="418" y="355"/>
                  </a:lnTo>
                  <a:lnTo>
                    <a:pt x="425" y="350"/>
                  </a:lnTo>
                  <a:lnTo>
                    <a:pt x="430" y="345"/>
                  </a:lnTo>
                  <a:lnTo>
                    <a:pt x="436" y="341"/>
                  </a:lnTo>
                  <a:lnTo>
                    <a:pt x="436" y="341"/>
                  </a:lnTo>
                  <a:lnTo>
                    <a:pt x="436" y="341"/>
                  </a:lnTo>
                  <a:lnTo>
                    <a:pt x="436" y="341"/>
                  </a:lnTo>
                  <a:lnTo>
                    <a:pt x="436" y="341"/>
                  </a:lnTo>
                  <a:close/>
                </a:path>
                <a:path w="437" h="569">
                  <a:moveTo>
                    <a:pt x="182" y="92"/>
                  </a:moveTo>
                  <a:lnTo>
                    <a:pt x="176" y="95"/>
                  </a:lnTo>
                  <a:lnTo>
                    <a:pt x="171" y="97"/>
                  </a:lnTo>
                  <a:lnTo>
                    <a:pt x="166" y="99"/>
                  </a:lnTo>
                  <a:lnTo>
                    <a:pt x="161" y="102"/>
                  </a:lnTo>
                  <a:lnTo>
                    <a:pt x="155" y="104"/>
                  </a:lnTo>
                  <a:lnTo>
                    <a:pt x="150" y="107"/>
                  </a:lnTo>
                  <a:lnTo>
                    <a:pt x="145" y="110"/>
                  </a:lnTo>
                  <a:lnTo>
                    <a:pt x="140" y="112"/>
                  </a:lnTo>
                  <a:lnTo>
                    <a:pt x="135" y="115"/>
                  </a:lnTo>
                  <a:lnTo>
                    <a:pt x="130" y="119"/>
                  </a:lnTo>
                  <a:lnTo>
                    <a:pt x="125" y="122"/>
                  </a:lnTo>
                  <a:lnTo>
                    <a:pt x="120" y="125"/>
                  </a:lnTo>
                  <a:lnTo>
                    <a:pt x="115" y="129"/>
                  </a:lnTo>
                  <a:lnTo>
                    <a:pt x="110" y="132"/>
                  </a:lnTo>
                  <a:lnTo>
                    <a:pt x="106" y="136"/>
                  </a:lnTo>
                  <a:lnTo>
                    <a:pt x="101" y="140"/>
                  </a:lnTo>
                  <a:lnTo>
                    <a:pt x="96" y="144"/>
                  </a:lnTo>
                  <a:lnTo>
                    <a:pt x="92" y="148"/>
                  </a:lnTo>
                  <a:lnTo>
                    <a:pt x="87" y="152"/>
                  </a:lnTo>
                  <a:lnTo>
                    <a:pt x="82" y="157"/>
                  </a:lnTo>
                  <a:lnTo>
                    <a:pt x="77" y="161"/>
                  </a:lnTo>
                  <a:lnTo>
                    <a:pt x="73" y="166"/>
                  </a:lnTo>
                  <a:lnTo>
                    <a:pt x="68" y="171"/>
                  </a:lnTo>
                  <a:lnTo>
                    <a:pt x="63" y="176"/>
                  </a:lnTo>
                  <a:lnTo>
                    <a:pt x="59" y="181"/>
                  </a:lnTo>
                  <a:lnTo>
                    <a:pt x="54" y="186"/>
                  </a:lnTo>
                  <a:lnTo>
                    <a:pt x="50" y="191"/>
                  </a:lnTo>
                  <a:lnTo>
                    <a:pt x="46" y="197"/>
                  </a:lnTo>
                  <a:lnTo>
                    <a:pt x="42" y="202"/>
                  </a:lnTo>
                  <a:lnTo>
                    <a:pt x="38" y="208"/>
                  </a:lnTo>
                  <a:lnTo>
                    <a:pt x="35" y="213"/>
                  </a:lnTo>
                  <a:lnTo>
                    <a:pt x="32" y="219"/>
                  </a:lnTo>
                  <a:lnTo>
                    <a:pt x="31" y="221"/>
                  </a:lnTo>
                  <a:lnTo>
                    <a:pt x="31" y="222"/>
                  </a:lnTo>
                  <a:lnTo>
                    <a:pt x="32" y="223"/>
                  </a:lnTo>
                  <a:lnTo>
                    <a:pt x="34" y="222"/>
                  </a:lnTo>
                  <a:lnTo>
                    <a:pt x="42" y="211"/>
                  </a:lnTo>
                  <a:lnTo>
                    <a:pt x="50" y="201"/>
                  </a:lnTo>
                  <a:lnTo>
                    <a:pt x="58" y="191"/>
                  </a:lnTo>
                  <a:lnTo>
                    <a:pt x="67" y="182"/>
                  </a:lnTo>
                  <a:lnTo>
                    <a:pt x="75" y="172"/>
                  </a:lnTo>
                  <a:lnTo>
                    <a:pt x="84" y="163"/>
                  </a:lnTo>
                  <a:lnTo>
                    <a:pt x="92" y="154"/>
                  </a:lnTo>
                  <a:lnTo>
                    <a:pt x="101" y="146"/>
                  </a:lnTo>
                  <a:lnTo>
                    <a:pt x="110" y="138"/>
                  </a:lnTo>
                  <a:lnTo>
                    <a:pt x="120" y="130"/>
                  </a:lnTo>
                  <a:lnTo>
                    <a:pt x="129" y="123"/>
                  </a:lnTo>
                  <a:lnTo>
                    <a:pt x="139" y="116"/>
                  </a:lnTo>
                  <a:lnTo>
                    <a:pt x="149" y="109"/>
                  </a:lnTo>
                  <a:lnTo>
                    <a:pt x="159" y="104"/>
                  </a:lnTo>
                  <a:lnTo>
                    <a:pt x="170" y="98"/>
                  </a:lnTo>
                  <a:lnTo>
                    <a:pt x="181" y="93"/>
                  </a:lnTo>
                  <a:lnTo>
                    <a:pt x="182" y="93"/>
                  </a:lnTo>
                  <a:lnTo>
                    <a:pt x="182" y="92"/>
                  </a:lnTo>
                  <a:lnTo>
                    <a:pt x="182" y="92"/>
                  </a:lnTo>
                  <a:lnTo>
                    <a:pt x="182" y="92"/>
                  </a:lnTo>
                  <a:close/>
                </a:path>
                <a:path w="437" h="569">
                  <a:moveTo>
                    <a:pt x="176" y="4"/>
                  </a:moveTo>
                  <a:lnTo>
                    <a:pt x="163" y="5"/>
                  </a:lnTo>
                  <a:lnTo>
                    <a:pt x="149" y="7"/>
                  </a:lnTo>
                  <a:lnTo>
                    <a:pt x="135" y="10"/>
                  </a:lnTo>
                  <a:lnTo>
                    <a:pt x="122" y="14"/>
                  </a:lnTo>
                  <a:lnTo>
                    <a:pt x="109" y="20"/>
                  </a:lnTo>
                  <a:lnTo>
                    <a:pt x="96" y="26"/>
                  </a:lnTo>
                  <a:lnTo>
                    <a:pt x="83" y="33"/>
                  </a:lnTo>
                  <a:lnTo>
                    <a:pt x="70" y="42"/>
                  </a:lnTo>
                  <a:lnTo>
                    <a:pt x="59" y="51"/>
                  </a:lnTo>
                  <a:lnTo>
                    <a:pt x="48" y="61"/>
                  </a:lnTo>
                  <a:lnTo>
                    <a:pt x="38" y="73"/>
                  </a:lnTo>
                  <a:lnTo>
                    <a:pt x="28" y="85"/>
                  </a:lnTo>
                  <a:lnTo>
                    <a:pt x="19" y="98"/>
                  </a:lnTo>
                  <a:lnTo>
                    <a:pt x="12" y="112"/>
                  </a:lnTo>
                  <a:lnTo>
                    <a:pt x="5" y="127"/>
                  </a:lnTo>
                  <a:lnTo>
                    <a:pt x="0" y="143"/>
                  </a:lnTo>
                  <a:lnTo>
                    <a:pt x="0" y="146"/>
                  </a:lnTo>
                  <a:lnTo>
                    <a:pt x="2" y="147"/>
                  </a:lnTo>
                  <a:lnTo>
                    <a:pt x="4" y="146"/>
                  </a:lnTo>
                  <a:lnTo>
                    <a:pt x="6" y="144"/>
                  </a:lnTo>
                  <a:lnTo>
                    <a:pt x="12" y="132"/>
                  </a:lnTo>
                  <a:lnTo>
                    <a:pt x="19" y="121"/>
                  </a:lnTo>
                  <a:lnTo>
                    <a:pt x="25" y="109"/>
                  </a:lnTo>
                  <a:lnTo>
                    <a:pt x="32" y="98"/>
                  </a:lnTo>
                  <a:lnTo>
                    <a:pt x="40" y="87"/>
                  </a:lnTo>
                  <a:lnTo>
                    <a:pt x="47" y="76"/>
                  </a:lnTo>
                  <a:lnTo>
                    <a:pt x="55" y="66"/>
                  </a:lnTo>
                  <a:lnTo>
                    <a:pt x="63" y="56"/>
                  </a:lnTo>
                  <a:lnTo>
                    <a:pt x="68" y="51"/>
                  </a:lnTo>
                  <a:lnTo>
                    <a:pt x="74" y="45"/>
                  </a:lnTo>
                  <a:lnTo>
                    <a:pt x="81" y="40"/>
                  </a:lnTo>
                  <a:lnTo>
                    <a:pt x="87" y="35"/>
                  </a:lnTo>
                  <a:lnTo>
                    <a:pt x="94" y="31"/>
                  </a:lnTo>
                  <a:lnTo>
                    <a:pt x="101" y="27"/>
                  </a:lnTo>
                  <a:lnTo>
                    <a:pt x="109" y="23"/>
                  </a:lnTo>
                  <a:lnTo>
                    <a:pt x="116" y="20"/>
                  </a:lnTo>
                  <a:lnTo>
                    <a:pt x="124" y="17"/>
                  </a:lnTo>
                  <a:lnTo>
                    <a:pt x="131" y="14"/>
                  </a:lnTo>
                  <a:lnTo>
                    <a:pt x="139" y="11"/>
                  </a:lnTo>
                  <a:lnTo>
                    <a:pt x="147" y="9"/>
                  </a:lnTo>
                  <a:lnTo>
                    <a:pt x="154" y="7"/>
                  </a:lnTo>
                  <a:lnTo>
                    <a:pt x="162" y="6"/>
                  </a:lnTo>
                  <a:lnTo>
                    <a:pt x="169" y="5"/>
                  </a:lnTo>
                  <a:lnTo>
                    <a:pt x="176" y="4"/>
                  </a:lnTo>
                  <a:lnTo>
                    <a:pt x="176" y="4"/>
                  </a:lnTo>
                  <a:lnTo>
                    <a:pt x="176" y="4"/>
                  </a:lnTo>
                  <a:lnTo>
                    <a:pt x="176" y="4"/>
                  </a:lnTo>
                  <a:lnTo>
                    <a:pt x="176" y="4"/>
                  </a:lnTo>
                  <a:close/>
                </a:path>
                <a:path w="437" h="569">
                  <a:moveTo>
                    <a:pt x="38" y="253"/>
                  </a:moveTo>
                  <a:lnTo>
                    <a:pt x="45" y="238"/>
                  </a:lnTo>
                  <a:lnTo>
                    <a:pt x="52" y="224"/>
                  </a:lnTo>
                  <a:lnTo>
                    <a:pt x="60" y="210"/>
                  </a:lnTo>
                  <a:lnTo>
                    <a:pt x="69" y="197"/>
                  </a:lnTo>
                  <a:lnTo>
                    <a:pt x="79" y="184"/>
                  </a:lnTo>
                  <a:lnTo>
                    <a:pt x="89" y="172"/>
                  </a:lnTo>
                  <a:lnTo>
                    <a:pt x="100" y="160"/>
                  </a:lnTo>
                  <a:lnTo>
                    <a:pt x="111" y="150"/>
                  </a:lnTo>
                  <a:lnTo>
                    <a:pt x="122" y="140"/>
                  </a:lnTo>
                  <a:lnTo>
                    <a:pt x="135" y="132"/>
                  </a:lnTo>
                  <a:lnTo>
                    <a:pt x="147" y="125"/>
                  </a:lnTo>
                  <a:lnTo>
                    <a:pt x="160" y="118"/>
                  </a:lnTo>
                  <a:lnTo>
                    <a:pt x="173" y="113"/>
                  </a:lnTo>
                  <a:lnTo>
                    <a:pt x="187" y="109"/>
                  </a:lnTo>
                  <a:lnTo>
                    <a:pt x="201" y="107"/>
                  </a:lnTo>
                  <a:lnTo>
                    <a:pt x="214" y="106"/>
                  </a:lnTo>
                  <a:lnTo>
                    <a:pt x="216" y="106"/>
                  </a:lnTo>
                  <a:lnTo>
                    <a:pt x="216" y="104"/>
                  </a:lnTo>
                  <a:lnTo>
                    <a:pt x="217" y="103"/>
                  </a:lnTo>
                  <a:lnTo>
                    <a:pt x="216" y="102"/>
                  </a:lnTo>
                  <a:lnTo>
                    <a:pt x="211" y="100"/>
                  </a:lnTo>
                  <a:lnTo>
                    <a:pt x="205" y="99"/>
                  </a:lnTo>
                  <a:lnTo>
                    <a:pt x="198" y="99"/>
                  </a:lnTo>
                  <a:lnTo>
                    <a:pt x="192" y="99"/>
                  </a:lnTo>
                  <a:lnTo>
                    <a:pt x="185" y="100"/>
                  </a:lnTo>
                  <a:lnTo>
                    <a:pt x="179" y="102"/>
                  </a:lnTo>
                  <a:lnTo>
                    <a:pt x="172" y="104"/>
                  </a:lnTo>
                  <a:lnTo>
                    <a:pt x="165" y="107"/>
                  </a:lnTo>
                  <a:lnTo>
                    <a:pt x="159" y="110"/>
                  </a:lnTo>
                  <a:lnTo>
                    <a:pt x="152" y="114"/>
                  </a:lnTo>
                  <a:lnTo>
                    <a:pt x="146" y="118"/>
                  </a:lnTo>
                  <a:lnTo>
                    <a:pt x="140" y="122"/>
                  </a:lnTo>
                  <a:lnTo>
                    <a:pt x="134" y="126"/>
                  </a:lnTo>
                  <a:lnTo>
                    <a:pt x="129" y="130"/>
                  </a:lnTo>
                  <a:lnTo>
                    <a:pt x="124" y="134"/>
                  </a:lnTo>
                  <a:lnTo>
                    <a:pt x="119" y="138"/>
                  </a:lnTo>
                  <a:lnTo>
                    <a:pt x="113" y="144"/>
                  </a:lnTo>
                  <a:lnTo>
                    <a:pt x="107" y="150"/>
                  </a:lnTo>
                  <a:lnTo>
                    <a:pt x="100" y="156"/>
                  </a:lnTo>
                  <a:lnTo>
                    <a:pt x="94" y="162"/>
                  </a:lnTo>
                  <a:lnTo>
                    <a:pt x="89" y="169"/>
                  </a:lnTo>
                  <a:lnTo>
                    <a:pt x="83" y="176"/>
                  </a:lnTo>
                  <a:lnTo>
                    <a:pt x="78" y="183"/>
                  </a:lnTo>
                  <a:lnTo>
                    <a:pt x="73" y="189"/>
                  </a:lnTo>
                  <a:lnTo>
                    <a:pt x="68" y="197"/>
                  </a:lnTo>
                  <a:lnTo>
                    <a:pt x="63" y="204"/>
                  </a:lnTo>
                  <a:lnTo>
                    <a:pt x="58" y="211"/>
                  </a:lnTo>
                  <a:lnTo>
                    <a:pt x="53" y="219"/>
                  </a:lnTo>
                  <a:lnTo>
                    <a:pt x="49" y="228"/>
                  </a:lnTo>
                  <a:lnTo>
                    <a:pt x="45" y="236"/>
                  </a:lnTo>
                  <a:lnTo>
                    <a:pt x="41" y="244"/>
                  </a:lnTo>
                  <a:lnTo>
                    <a:pt x="38" y="253"/>
                  </a:lnTo>
                  <a:lnTo>
                    <a:pt x="38" y="254"/>
                  </a:lnTo>
                  <a:lnTo>
                    <a:pt x="38" y="254"/>
                  </a:lnTo>
                  <a:lnTo>
                    <a:pt x="38" y="254"/>
                  </a:lnTo>
                  <a:lnTo>
                    <a:pt x="38" y="253"/>
                  </a:lnTo>
                  <a:close/>
                </a:path>
              </a:pathLst>
            </a:custGeom>
            <a:solidFill>
              <a:srgbClr val="000000">
                <a:alpha val="100000"/>
              </a:srgbClr>
            </a:solidFill>
            <a:ln cap="flat">
              <a:noFill/>
              <a:prstDash val="solid"/>
              <a:miter lim="0"/>
            </a:ln>
          </p:spPr>
          <p:txBody>
            <a:bodyPr rtlCol="0"/>
            <a:lstStyle/>
            <a:p>
              <a:pPr algn="ctr"/>
              <a:endParaRPr lang="zh-CN" altLang="en-US"/>
            </a:p>
          </p:txBody>
        </p:sp>
      </p:grpSp>
      <p:grpSp>
        <p:nvGrpSpPr>
          <p:cNvPr id="168" name="group 168"/>
          <p:cNvGrpSpPr/>
          <p:nvPr/>
        </p:nvGrpSpPr>
        <p:grpSpPr>
          <a:xfrm rot="21600000">
            <a:off x="458723" y="5654424"/>
            <a:ext cx="499215" cy="381427"/>
            <a:chOff x="0" y="0"/>
            <a:chExt cx="499215" cy="381427"/>
          </a:xfrm>
        </p:grpSpPr>
        <p:sp>
          <p:nvSpPr>
            <p:cNvPr id="774" name="path"/>
            <p:cNvSpPr/>
            <p:nvPr/>
          </p:nvSpPr>
          <p:spPr>
            <a:xfrm>
              <a:off x="13520" y="4060"/>
              <a:ext cx="444431" cy="355169"/>
            </a:xfrm>
            <a:custGeom>
              <a:avLst/>
              <a:gdLst/>
              <a:ahLst/>
              <a:cxnLst/>
              <a:rect l="0" t="0" r="0" b="0"/>
              <a:pathLst>
                <a:path w="699" h="559">
                  <a:moveTo>
                    <a:pt x="0" y="222"/>
                  </a:moveTo>
                  <a:lnTo>
                    <a:pt x="174" y="53"/>
                  </a:lnTo>
                  <a:lnTo>
                    <a:pt x="279" y="5"/>
                  </a:lnTo>
                  <a:lnTo>
                    <a:pt x="357" y="0"/>
                  </a:lnTo>
                  <a:lnTo>
                    <a:pt x="446" y="26"/>
                  </a:lnTo>
                  <a:lnTo>
                    <a:pt x="557" y="97"/>
                  </a:lnTo>
                  <a:lnTo>
                    <a:pt x="619" y="164"/>
                  </a:lnTo>
                  <a:lnTo>
                    <a:pt x="665" y="222"/>
                  </a:lnTo>
                  <a:lnTo>
                    <a:pt x="697" y="303"/>
                  </a:lnTo>
                  <a:lnTo>
                    <a:pt x="699" y="433"/>
                  </a:lnTo>
                  <a:lnTo>
                    <a:pt x="629" y="549"/>
                  </a:lnTo>
                  <a:lnTo>
                    <a:pt x="518" y="559"/>
                  </a:lnTo>
                  <a:lnTo>
                    <a:pt x="403" y="479"/>
                  </a:lnTo>
                  <a:lnTo>
                    <a:pt x="308" y="405"/>
                  </a:lnTo>
                  <a:lnTo>
                    <a:pt x="248" y="462"/>
                  </a:lnTo>
                  <a:lnTo>
                    <a:pt x="0" y="222"/>
                  </a:lnTo>
                  <a:close/>
                </a:path>
              </a:pathLst>
            </a:custGeom>
            <a:solidFill>
              <a:srgbClr val="E5E5FF">
                <a:alpha val="100000"/>
              </a:srgbClr>
            </a:solidFill>
            <a:ln cap="flat">
              <a:noFill/>
              <a:prstDash val="solid"/>
              <a:miter lim="0"/>
            </a:ln>
          </p:spPr>
          <p:txBody>
            <a:bodyPr rtlCol="0"/>
            <a:lstStyle/>
            <a:p>
              <a:pPr algn="ctr"/>
              <a:endParaRPr lang="zh-CN" altLang="en-US"/>
            </a:p>
          </p:txBody>
        </p:sp>
        <p:sp>
          <p:nvSpPr>
            <p:cNvPr id="775" name="path"/>
            <p:cNvSpPr/>
            <p:nvPr/>
          </p:nvSpPr>
          <p:spPr>
            <a:xfrm>
              <a:off x="0" y="0"/>
              <a:ext cx="499215" cy="381427"/>
            </a:xfrm>
            <a:custGeom>
              <a:avLst/>
              <a:gdLst/>
              <a:ahLst/>
              <a:cxnLst/>
              <a:rect l="0" t="0" r="0" b="0"/>
              <a:pathLst>
                <a:path w="786" h="600">
                  <a:moveTo>
                    <a:pt x="0" y="203"/>
                  </a:moveTo>
                  <a:lnTo>
                    <a:pt x="104" y="110"/>
                  </a:lnTo>
                  <a:lnTo>
                    <a:pt x="188" y="46"/>
                  </a:lnTo>
                  <a:lnTo>
                    <a:pt x="270" y="12"/>
                  </a:lnTo>
                  <a:lnTo>
                    <a:pt x="360" y="0"/>
                  </a:lnTo>
                  <a:lnTo>
                    <a:pt x="448" y="14"/>
                  </a:lnTo>
                  <a:lnTo>
                    <a:pt x="535" y="59"/>
                  </a:lnTo>
                  <a:lnTo>
                    <a:pt x="614" y="116"/>
                  </a:lnTo>
                  <a:lnTo>
                    <a:pt x="654" y="176"/>
                  </a:lnTo>
                  <a:lnTo>
                    <a:pt x="594" y="167"/>
                  </a:lnTo>
                  <a:lnTo>
                    <a:pt x="541" y="100"/>
                  </a:lnTo>
                  <a:lnTo>
                    <a:pt x="466" y="46"/>
                  </a:lnTo>
                  <a:lnTo>
                    <a:pt x="381" y="27"/>
                  </a:lnTo>
                  <a:lnTo>
                    <a:pt x="313" y="32"/>
                  </a:lnTo>
                  <a:lnTo>
                    <a:pt x="239" y="59"/>
                  </a:lnTo>
                  <a:lnTo>
                    <a:pt x="165" y="116"/>
                  </a:lnTo>
                  <a:lnTo>
                    <a:pt x="47" y="231"/>
                  </a:lnTo>
                  <a:lnTo>
                    <a:pt x="268" y="390"/>
                  </a:lnTo>
                  <a:lnTo>
                    <a:pt x="271" y="486"/>
                  </a:lnTo>
                  <a:lnTo>
                    <a:pt x="0" y="294"/>
                  </a:lnTo>
                  <a:lnTo>
                    <a:pt x="0" y="203"/>
                  </a:lnTo>
                  <a:close/>
                </a:path>
                <a:path w="786" h="600">
                  <a:moveTo>
                    <a:pt x="255" y="407"/>
                  </a:moveTo>
                  <a:lnTo>
                    <a:pt x="402" y="242"/>
                  </a:lnTo>
                  <a:lnTo>
                    <a:pt x="477" y="182"/>
                  </a:lnTo>
                  <a:lnTo>
                    <a:pt x="526" y="161"/>
                  </a:lnTo>
                  <a:lnTo>
                    <a:pt x="596" y="142"/>
                  </a:lnTo>
                  <a:lnTo>
                    <a:pt x="619" y="171"/>
                  </a:lnTo>
                  <a:lnTo>
                    <a:pt x="544" y="176"/>
                  </a:lnTo>
                  <a:lnTo>
                    <a:pt x="484" y="218"/>
                  </a:lnTo>
                  <a:lnTo>
                    <a:pt x="414" y="278"/>
                  </a:lnTo>
                  <a:lnTo>
                    <a:pt x="259" y="433"/>
                  </a:lnTo>
                  <a:lnTo>
                    <a:pt x="255" y="407"/>
                  </a:lnTo>
                  <a:close/>
                </a:path>
                <a:path w="786" h="600">
                  <a:moveTo>
                    <a:pt x="264" y="462"/>
                  </a:moveTo>
                  <a:lnTo>
                    <a:pt x="362" y="369"/>
                  </a:lnTo>
                  <a:lnTo>
                    <a:pt x="409" y="320"/>
                  </a:lnTo>
                  <a:lnTo>
                    <a:pt x="444" y="297"/>
                  </a:lnTo>
                  <a:lnTo>
                    <a:pt x="483" y="278"/>
                  </a:lnTo>
                  <a:lnTo>
                    <a:pt x="520" y="273"/>
                  </a:lnTo>
                  <a:lnTo>
                    <a:pt x="555" y="290"/>
                  </a:lnTo>
                  <a:lnTo>
                    <a:pt x="517" y="356"/>
                  </a:lnTo>
                  <a:lnTo>
                    <a:pt x="501" y="420"/>
                  </a:lnTo>
                  <a:lnTo>
                    <a:pt x="509" y="488"/>
                  </a:lnTo>
                  <a:lnTo>
                    <a:pt x="538" y="520"/>
                  </a:lnTo>
                  <a:lnTo>
                    <a:pt x="574" y="534"/>
                  </a:lnTo>
                  <a:lnTo>
                    <a:pt x="623" y="522"/>
                  </a:lnTo>
                  <a:lnTo>
                    <a:pt x="666" y="473"/>
                  </a:lnTo>
                  <a:lnTo>
                    <a:pt x="688" y="412"/>
                  </a:lnTo>
                  <a:lnTo>
                    <a:pt x="697" y="335"/>
                  </a:lnTo>
                  <a:lnTo>
                    <a:pt x="687" y="263"/>
                  </a:lnTo>
                  <a:lnTo>
                    <a:pt x="661" y="199"/>
                  </a:lnTo>
                  <a:lnTo>
                    <a:pt x="598" y="161"/>
                  </a:lnTo>
                  <a:lnTo>
                    <a:pt x="587" y="108"/>
                  </a:lnTo>
                  <a:lnTo>
                    <a:pt x="648" y="152"/>
                  </a:lnTo>
                  <a:lnTo>
                    <a:pt x="693" y="210"/>
                  </a:lnTo>
                  <a:lnTo>
                    <a:pt x="726" y="271"/>
                  </a:lnTo>
                  <a:lnTo>
                    <a:pt x="739" y="362"/>
                  </a:lnTo>
                  <a:lnTo>
                    <a:pt x="742" y="424"/>
                  </a:lnTo>
                  <a:lnTo>
                    <a:pt x="735" y="477"/>
                  </a:lnTo>
                  <a:lnTo>
                    <a:pt x="704" y="536"/>
                  </a:lnTo>
                  <a:lnTo>
                    <a:pt x="670" y="572"/>
                  </a:lnTo>
                  <a:lnTo>
                    <a:pt x="630" y="600"/>
                  </a:lnTo>
                  <a:lnTo>
                    <a:pt x="571" y="600"/>
                  </a:lnTo>
                  <a:lnTo>
                    <a:pt x="517" y="587"/>
                  </a:lnTo>
                  <a:lnTo>
                    <a:pt x="475" y="559"/>
                  </a:lnTo>
                  <a:lnTo>
                    <a:pt x="358" y="449"/>
                  </a:lnTo>
                  <a:lnTo>
                    <a:pt x="380" y="426"/>
                  </a:lnTo>
                  <a:lnTo>
                    <a:pt x="475" y="496"/>
                  </a:lnTo>
                  <a:lnTo>
                    <a:pt x="466" y="435"/>
                  </a:lnTo>
                  <a:lnTo>
                    <a:pt x="473" y="373"/>
                  </a:lnTo>
                  <a:lnTo>
                    <a:pt x="502" y="307"/>
                  </a:lnTo>
                  <a:lnTo>
                    <a:pt x="462" y="313"/>
                  </a:lnTo>
                  <a:lnTo>
                    <a:pt x="403" y="365"/>
                  </a:lnTo>
                  <a:lnTo>
                    <a:pt x="342" y="414"/>
                  </a:lnTo>
                  <a:lnTo>
                    <a:pt x="268" y="491"/>
                  </a:lnTo>
                  <a:lnTo>
                    <a:pt x="264" y="462"/>
                  </a:lnTo>
                  <a:close/>
                </a:path>
                <a:path w="786" h="600">
                  <a:moveTo>
                    <a:pt x="242" y="125"/>
                  </a:moveTo>
                  <a:lnTo>
                    <a:pt x="373" y="229"/>
                  </a:lnTo>
                  <a:lnTo>
                    <a:pt x="448" y="158"/>
                  </a:lnTo>
                  <a:lnTo>
                    <a:pt x="383" y="82"/>
                  </a:lnTo>
                  <a:lnTo>
                    <a:pt x="336" y="67"/>
                  </a:lnTo>
                  <a:lnTo>
                    <a:pt x="409" y="146"/>
                  </a:lnTo>
                  <a:lnTo>
                    <a:pt x="336" y="129"/>
                  </a:lnTo>
                  <a:lnTo>
                    <a:pt x="282" y="129"/>
                  </a:lnTo>
                  <a:lnTo>
                    <a:pt x="315" y="67"/>
                  </a:lnTo>
                  <a:lnTo>
                    <a:pt x="242" y="125"/>
                  </a:lnTo>
                  <a:close/>
                </a:path>
                <a:path w="786" h="600">
                  <a:moveTo>
                    <a:pt x="651" y="163"/>
                  </a:moveTo>
                  <a:lnTo>
                    <a:pt x="672" y="106"/>
                  </a:lnTo>
                  <a:lnTo>
                    <a:pt x="721" y="78"/>
                  </a:lnTo>
                  <a:lnTo>
                    <a:pt x="769" y="89"/>
                  </a:lnTo>
                  <a:lnTo>
                    <a:pt x="786" y="123"/>
                  </a:lnTo>
                  <a:lnTo>
                    <a:pt x="782" y="184"/>
                  </a:lnTo>
                  <a:lnTo>
                    <a:pt x="750" y="218"/>
                  </a:lnTo>
                  <a:lnTo>
                    <a:pt x="677" y="220"/>
                  </a:lnTo>
                  <a:lnTo>
                    <a:pt x="677" y="197"/>
                  </a:lnTo>
                  <a:lnTo>
                    <a:pt x="724" y="186"/>
                  </a:lnTo>
                  <a:lnTo>
                    <a:pt x="740" y="163"/>
                  </a:lnTo>
                  <a:lnTo>
                    <a:pt x="740" y="121"/>
                  </a:lnTo>
                  <a:lnTo>
                    <a:pt x="713" y="110"/>
                  </a:lnTo>
                  <a:lnTo>
                    <a:pt x="683" y="134"/>
                  </a:lnTo>
                  <a:lnTo>
                    <a:pt x="669" y="180"/>
                  </a:lnTo>
                  <a:lnTo>
                    <a:pt x="651" y="163"/>
                  </a:lnTo>
                  <a:close/>
                </a:path>
              </a:pathLst>
            </a:custGeom>
            <a:solidFill>
              <a:srgbClr val="000000">
                <a:alpha val="100000"/>
              </a:srgbClr>
            </a:solidFill>
            <a:ln cap="flat">
              <a:noFill/>
              <a:prstDash val="solid"/>
              <a:miter lim="0"/>
            </a:ln>
          </p:spPr>
          <p:txBody>
            <a:bodyPr rtlCol="0"/>
            <a:lstStyle/>
            <a:p>
              <a:pPr algn="ctr"/>
              <a:endParaRPr lang="zh-CN" altLang="en-US"/>
            </a:p>
          </p:txBody>
        </p:sp>
      </p:grpSp>
      <p:sp>
        <p:nvSpPr>
          <p:cNvPr id="776" name="textbox 776"/>
          <p:cNvSpPr/>
          <p:nvPr/>
        </p:nvSpPr>
        <p:spPr>
          <a:xfrm>
            <a:off x="4650347" y="808223"/>
            <a:ext cx="910589" cy="224154"/>
          </a:xfrm>
          <a:prstGeom prst="rect">
            <a:avLst/>
          </a:prstGeom>
        </p:spPr>
        <p:txBody>
          <a:bodyPr vert="horz" wrap="square" lIns="0" tIns="0" rIns="0" bIns="0"/>
          <a:lstStyle/>
          <a:p>
            <a:pPr algn="l" rtl="0" eaLnBrk="0">
              <a:lnSpc>
                <a:spcPct val="86000"/>
              </a:lnSpc>
            </a:pPr>
            <a:endParaRPr lang="en-US" altLang="en-US" sz="100" dirty="0">
              <a:latin typeface="微软雅黑" panose="020B0503020204020204" charset="-122"/>
              <a:ea typeface="微软雅黑" panose="020B0503020204020204" charset="-122"/>
            </a:endParaRPr>
          </a:p>
          <a:p>
            <a:pPr marL="12700" algn="l" rtl="0" eaLnBrk="0">
              <a:lnSpc>
                <a:spcPct val="93000"/>
              </a:lnSpc>
            </a:pPr>
            <a:r>
              <a:rPr sz="1400" spc="-10" dirty="0">
                <a:ln w="5094"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世界级</a:t>
            </a:r>
            <a:r>
              <a:rPr sz="1400" spc="0" dirty="0">
                <a:ln w="5094"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水平</a:t>
            </a:r>
            <a:endParaRPr lang="en-US" altLang="en-US" sz="1400" dirty="0">
              <a:latin typeface="微软雅黑" panose="020B0503020204020204" charset="-122"/>
              <a:ea typeface="微软雅黑" panose="020B0503020204020204" charset="-122"/>
            </a:endParaRPr>
          </a:p>
        </p:txBody>
      </p:sp>
      <p:sp>
        <p:nvSpPr>
          <p:cNvPr id="777" name="textbox 777"/>
          <p:cNvSpPr/>
          <p:nvPr/>
        </p:nvSpPr>
        <p:spPr>
          <a:xfrm>
            <a:off x="8818509" y="1037437"/>
            <a:ext cx="114935" cy="1840229"/>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endParaRPr sz="600" spc="0" dirty="0">
              <a:solidFill>
                <a:srgbClr val="808080">
                  <a:alpha val="100000"/>
                </a:srgbClr>
              </a:solidFill>
              <a:latin typeface="Arial" panose="020B0604020202020204"/>
              <a:ea typeface="Arial" panose="020B0604020202020204"/>
              <a:cs typeface="Arial" panose="020B0604020202020204"/>
            </a:endParaRPr>
          </a:p>
        </p:txBody>
      </p:sp>
      <p:sp>
        <p:nvSpPr>
          <p:cNvPr id="778" name="textbox 778"/>
          <p:cNvSpPr/>
          <p:nvPr/>
        </p:nvSpPr>
        <p:spPr>
          <a:xfrm>
            <a:off x="8818435" y="4032021"/>
            <a:ext cx="114935" cy="262890"/>
          </a:xfrm>
          <a:prstGeom prst="rect">
            <a:avLst/>
          </a:prstGeom>
        </p:spPr>
        <p:txBody>
          <a:bodyPr vert="eaVert" wrap="square" lIns="0" tIns="0" rIns="0" bIns="0"/>
          <a:lstStyle/>
          <a:p>
            <a:pPr algn="l" rtl="0" eaLnBrk="0">
              <a:lnSpc>
                <a:spcPct val="85000"/>
              </a:lnSpc>
            </a:pPr>
            <a:endParaRPr lang="en-US" altLang="en-US" sz="100" dirty="0"/>
          </a:p>
          <a:p>
            <a:pPr marL="12700" algn="l" rtl="0" eaLnBrk="0">
              <a:lnSpc>
                <a:spcPct val="79000"/>
              </a:lnSpc>
            </a:pPr>
            <a:endParaRPr sz="600" spc="-10" dirty="0">
              <a:solidFill>
                <a:srgbClr val="808080">
                  <a:alpha val="100000"/>
                </a:srgbClr>
              </a:solidFill>
              <a:latin typeface="Arial" panose="020B0604020202020204"/>
              <a:ea typeface="Arial" panose="020B0604020202020204"/>
              <a:cs typeface="Arial" panose="020B0604020202020204"/>
            </a:endParaRPr>
          </a:p>
        </p:txBody>
      </p:sp>
      <p:sp>
        <p:nvSpPr>
          <p:cNvPr id="779" name="textbox 779"/>
          <p:cNvSpPr/>
          <p:nvPr/>
        </p:nvSpPr>
        <p:spPr>
          <a:xfrm>
            <a:off x="221272" y="2373061"/>
            <a:ext cx="120650" cy="196850"/>
          </a:xfrm>
          <a:prstGeom prst="rect">
            <a:avLst/>
          </a:prstGeom>
        </p:spPr>
        <p:txBody>
          <a:bodyPr vert="horz" wrap="square" lIns="0" tIns="0" rIns="0" bIns="0"/>
          <a:lstStyle/>
          <a:p>
            <a:pPr algn="l" rtl="0" eaLnBrk="0">
              <a:lnSpc>
                <a:spcPct val="85000"/>
              </a:lnSpc>
            </a:pPr>
            <a:endParaRPr lang="en-US" altLang="en-US" sz="100" dirty="0"/>
          </a:p>
          <a:p>
            <a:pPr marL="12700" algn="l" rtl="0" eaLnBrk="0">
              <a:lnSpc>
                <a:spcPct val="80000"/>
              </a:lnSpc>
            </a:pPr>
            <a:r>
              <a:rPr sz="1400" b="1" spc="0" dirty="0">
                <a:solidFill>
                  <a:srgbClr val="FFFFFF">
                    <a:alpha val="100000"/>
                  </a:srgbClr>
                </a:solidFill>
                <a:latin typeface="Arial" panose="020B0604020202020204"/>
                <a:ea typeface="Arial" panose="020B0604020202020204"/>
                <a:cs typeface="Arial" panose="020B0604020202020204"/>
              </a:rPr>
              <a:t>2</a:t>
            </a:r>
            <a:endParaRPr lang="en-US" altLang="en-US" sz="1400" dirty="0"/>
          </a:p>
        </p:txBody>
      </p:sp>
      <p:sp>
        <p:nvSpPr>
          <p:cNvPr id="780" name="textbox 780"/>
          <p:cNvSpPr/>
          <p:nvPr/>
        </p:nvSpPr>
        <p:spPr>
          <a:xfrm>
            <a:off x="223590" y="3484692"/>
            <a:ext cx="118110" cy="196214"/>
          </a:xfrm>
          <a:prstGeom prst="rect">
            <a:avLst/>
          </a:prstGeom>
        </p:spPr>
        <p:txBody>
          <a:bodyPr vert="horz" wrap="square" lIns="0" tIns="0" rIns="0" bIns="0"/>
          <a:lstStyle/>
          <a:p>
            <a:pPr algn="l" rtl="0" eaLnBrk="0">
              <a:lnSpc>
                <a:spcPct val="83000"/>
              </a:lnSpc>
            </a:pPr>
            <a:endParaRPr lang="en-US" altLang="en-US" sz="100" dirty="0"/>
          </a:p>
          <a:p>
            <a:pPr marL="12700" algn="l" rtl="0" eaLnBrk="0">
              <a:lnSpc>
                <a:spcPct val="80000"/>
              </a:lnSpc>
            </a:pPr>
            <a:r>
              <a:rPr sz="1400" b="1" spc="0" dirty="0">
                <a:solidFill>
                  <a:srgbClr val="FFFFFF">
                    <a:alpha val="100000"/>
                  </a:srgbClr>
                </a:solidFill>
                <a:latin typeface="Arial" panose="020B0604020202020204"/>
                <a:ea typeface="Arial" panose="020B0604020202020204"/>
                <a:cs typeface="Arial" panose="020B0604020202020204"/>
              </a:rPr>
              <a:t>3</a:t>
            </a:r>
            <a:endParaRPr lang="en-US" altLang="en-US" sz="1400" dirty="0"/>
          </a:p>
        </p:txBody>
      </p:sp>
      <p:sp>
        <p:nvSpPr>
          <p:cNvPr id="781" name="textbox 781"/>
          <p:cNvSpPr/>
          <p:nvPr/>
        </p:nvSpPr>
        <p:spPr>
          <a:xfrm>
            <a:off x="230900" y="1308420"/>
            <a:ext cx="110489" cy="193675"/>
          </a:xfrm>
          <a:prstGeom prst="rect">
            <a:avLst/>
          </a:prstGeom>
        </p:spPr>
        <p:txBody>
          <a:bodyPr vert="horz" wrap="square" lIns="0" tIns="0" rIns="0" bIns="0"/>
          <a:lstStyle/>
          <a:p>
            <a:pPr algn="l" rtl="0" eaLnBrk="0">
              <a:lnSpc>
                <a:spcPct val="80000"/>
              </a:lnSpc>
            </a:pPr>
            <a:endParaRPr lang="en-US" altLang="en-US" sz="100" dirty="0"/>
          </a:p>
          <a:p>
            <a:pPr marL="12700" algn="l" rtl="0" eaLnBrk="0">
              <a:lnSpc>
                <a:spcPct val="85000"/>
              </a:lnSpc>
            </a:pPr>
            <a:r>
              <a:rPr sz="1300" b="1" spc="-60" dirty="0">
                <a:solidFill>
                  <a:srgbClr val="FFFFFF">
                    <a:alpha val="100000"/>
                  </a:srgbClr>
                </a:solidFill>
                <a:latin typeface="Arial" panose="020B0604020202020204"/>
                <a:ea typeface="Arial" panose="020B0604020202020204"/>
                <a:cs typeface="Arial" panose="020B0604020202020204"/>
              </a:rPr>
              <a:t>1</a:t>
            </a:r>
            <a:endParaRPr lang="en-US" altLang="en-US" sz="1300" dirty="0"/>
          </a:p>
        </p:txBody>
      </p:sp>
      <p:sp>
        <p:nvSpPr>
          <p:cNvPr id="782" name="path"/>
          <p:cNvSpPr/>
          <p:nvPr/>
        </p:nvSpPr>
        <p:spPr>
          <a:xfrm>
            <a:off x="812336" y="5599032"/>
            <a:ext cx="97409" cy="101411"/>
          </a:xfrm>
          <a:custGeom>
            <a:avLst/>
            <a:gdLst/>
            <a:ahLst/>
            <a:cxnLst/>
            <a:rect l="0" t="0" r="0" b="0"/>
            <a:pathLst>
              <a:path w="153" h="159">
                <a:moveTo>
                  <a:pt x="0" y="89"/>
                </a:moveTo>
                <a:lnTo>
                  <a:pt x="75" y="0"/>
                </a:lnTo>
                <a:lnTo>
                  <a:pt x="61" y="61"/>
                </a:lnTo>
                <a:lnTo>
                  <a:pt x="23" y="101"/>
                </a:lnTo>
                <a:lnTo>
                  <a:pt x="0" y="89"/>
                </a:lnTo>
                <a:close/>
              </a:path>
              <a:path w="153" h="159">
                <a:moveTo>
                  <a:pt x="70" y="144"/>
                </a:moveTo>
                <a:lnTo>
                  <a:pt x="153" y="91"/>
                </a:lnTo>
                <a:lnTo>
                  <a:pt x="126" y="134"/>
                </a:lnTo>
                <a:lnTo>
                  <a:pt x="81" y="159"/>
                </a:lnTo>
                <a:lnTo>
                  <a:pt x="70" y="144"/>
                </a:lnTo>
                <a:close/>
              </a:path>
            </a:pathLst>
          </a:custGeom>
          <a:solidFill>
            <a:srgbClr val="000000">
              <a:alpha val="100000"/>
            </a:srgbClr>
          </a:solidFill>
          <a:ln cap="flat">
            <a:noFill/>
            <a:prstDash val="solid"/>
            <a:miter lim="0"/>
          </a:ln>
        </p:spPr>
        <p:txBody>
          <a:bodyPr rtlCol="0"/>
          <a:lstStyle/>
          <a:p>
            <a:pPr algn="ctr"/>
            <a:endParaRPr lang="zh-CN" altLang="en-US"/>
          </a:p>
        </p:txBody>
      </p:sp>
      <p:sp>
        <p:nvSpPr>
          <p:cNvPr id="783" name="path"/>
          <p:cNvSpPr/>
          <p:nvPr/>
        </p:nvSpPr>
        <p:spPr>
          <a:xfrm>
            <a:off x="785984" y="5573367"/>
            <a:ext cx="22878" cy="70468"/>
          </a:xfrm>
          <a:custGeom>
            <a:avLst/>
            <a:gdLst/>
            <a:ahLst/>
            <a:cxnLst/>
            <a:rect l="0" t="0" r="0" b="0"/>
            <a:pathLst>
              <a:path w="36" h="110">
                <a:moveTo>
                  <a:pt x="0" y="104"/>
                </a:moveTo>
                <a:lnTo>
                  <a:pt x="30" y="0"/>
                </a:lnTo>
                <a:lnTo>
                  <a:pt x="36" y="66"/>
                </a:lnTo>
                <a:lnTo>
                  <a:pt x="20" y="110"/>
                </a:lnTo>
                <a:lnTo>
                  <a:pt x="0" y="104"/>
                </a:lnTo>
                <a:close/>
              </a:path>
            </a:pathLst>
          </a:custGeom>
          <a:solidFill>
            <a:srgbClr val="000000">
              <a:alpha val="100000"/>
            </a:srgbClr>
          </a:solidFill>
          <a:ln cap="flat">
            <a:noFill/>
            <a:prstDash val="solid"/>
            <a:miter lim="0"/>
          </a:ln>
        </p:spPr>
        <p:txBody>
          <a:bodyPr rtlCol="0"/>
          <a:lstStyle/>
          <a:p>
            <a:pPr algn="ct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4" name="picture 784"/>
          <p:cNvPicPr>
            <a:picLocks noChangeAspect="1"/>
          </p:cNvPicPr>
          <p:nvPr/>
        </p:nvPicPr>
        <p:blipFill>
          <a:blip r:embed="rId1"/>
          <a:stretch>
            <a:fillRect/>
          </a:stretch>
        </p:blipFill>
        <p:spPr>
          <a:xfrm rot="21600000">
            <a:off x="1129283" y="1421900"/>
            <a:ext cx="4913301" cy="1252461"/>
          </a:xfrm>
          <a:prstGeom prst="rect">
            <a:avLst/>
          </a:prstGeom>
        </p:spPr>
      </p:pic>
      <p:pic>
        <p:nvPicPr>
          <p:cNvPr id="785" name="picture 785"/>
          <p:cNvPicPr>
            <a:picLocks noChangeAspect="1"/>
          </p:cNvPicPr>
          <p:nvPr/>
        </p:nvPicPr>
        <p:blipFill>
          <a:blip r:embed="rId2"/>
          <a:stretch>
            <a:fillRect/>
          </a:stretch>
        </p:blipFill>
        <p:spPr>
          <a:xfrm rot="21600000">
            <a:off x="1129283" y="1978873"/>
            <a:ext cx="4913301" cy="3877858"/>
          </a:xfrm>
          <a:prstGeom prst="rect">
            <a:avLst/>
          </a:prstGeom>
        </p:spPr>
      </p:pic>
      <p:pic>
        <p:nvPicPr>
          <p:cNvPr id="786" name="picture 786"/>
          <p:cNvPicPr>
            <a:picLocks noChangeAspect="1"/>
          </p:cNvPicPr>
          <p:nvPr/>
        </p:nvPicPr>
        <p:blipFill>
          <a:blip r:embed="rId3"/>
          <a:stretch>
            <a:fillRect/>
          </a:stretch>
        </p:blipFill>
        <p:spPr>
          <a:xfrm rot="21600000">
            <a:off x="3615686" y="2674362"/>
            <a:ext cx="2089997" cy="2948871"/>
          </a:xfrm>
          <a:prstGeom prst="rect">
            <a:avLst/>
          </a:prstGeom>
        </p:spPr>
      </p:pic>
      <p:graphicFrame>
        <p:nvGraphicFramePr>
          <p:cNvPr id="787" name="table 787"/>
          <p:cNvGraphicFramePr>
            <a:graphicFrameLocks noGrp="1"/>
          </p:cNvGraphicFramePr>
          <p:nvPr/>
        </p:nvGraphicFramePr>
        <p:xfrm>
          <a:off x="624840" y="844296"/>
          <a:ext cx="6700519" cy="5175884"/>
        </p:xfrm>
        <a:graphic>
          <a:graphicData uri="http://schemas.openxmlformats.org/drawingml/2006/table">
            <a:tbl>
              <a:tblPr/>
              <a:tblGrid>
                <a:gridCol w="6700519"/>
              </a:tblGrid>
              <a:tr h="5175884">
                <a:tc>
                  <a:txBody>
                    <a:bodyPr/>
                    <a:lstStyle/>
                    <a:p>
                      <a:pPr algn="l" rtl="0" eaLnBrk="0">
                        <a:lnSpc>
                          <a:spcPct val="108000"/>
                        </a:lnSpc>
                      </a:pPr>
                      <a:endParaRPr lang="en-US" altLang="en-US" sz="1000" dirty="0">
                        <a:latin typeface="微软雅黑" panose="020B0503020204020204" charset="-122"/>
                        <a:ea typeface="微软雅黑" panose="020B0503020204020204" charset="-122"/>
                      </a:endParaRPr>
                    </a:p>
                    <a:p>
                      <a:pPr algn="l" rtl="0" eaLnBrk="0">
                        <a:lnSpc>
                          <a:spcPct val="108000"/>
                        </a:lnSpc>
                      </a:pPr>
                      <a:endParaRPr lang="en-US" altLang="en-US" sz="1000" dirty="0">
                        <a:latin typeface="微软雅黑" panose="020B0503020204020204" charset="-122"/>
                        <a:ea typeface="微软雅黑" panose="020B0503020204020204" charset="-122"/>
                      </a:endParaRPr>
                    </a:p>
                    <a:p>
                      <a:pPr algn="l" rtl="0" eaLnBrk="0">
                        <a:lnSpc>
                          <a:spcPct val="108000"/>
                        </a:lnSpc>
                      </a:pPr>
                      <a:endParaRPr lang="en-US" altLang="en-US" sz="1000" dirty="0">
                        <a:latin typeface="微软雅黑" panose="020B0503020204020204" charset="-122"/>
                        <a:ea typeface="微软雅黑" panose="020B0503020204020204" charset="-122"/>
                      </a:endParaRPr>
                    </a:p>
                    <a:p>
                      <a:pPr algn="l" rtl="0" eaLnBrk="0">
                        <a:lnSpc>
                          <a:spcPct val="108000"/>
                        </a:lnSpc>
                      </a:pPr>
                      <a:endParaRPr lang="en-US" altLang="en-US" sz="10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9000"/>
                        </a:lnSpc>
                      </a:pPr>
                      <a:endParaRPr lang="en-US" altLang="en-US" sz="100" dirty="0">
                        <a:latin typeface="微软雅黑" panose="020B0503020204020204" charset="-122"/>
                        <a:ea typeface="微软雅黑" panose="020B0503020204020204" charset="-122"/>
                      </a:endParaRPr>
                    </a:p>
                    <a:p>
                      <a:pPr marL="716915" algn="l" rtl="0" eaLnBrk="0">
                        <a:lnSpc>
                          <a:spcPct val="89000"/>
                        </a:lnSpc>
                      </a:pPr>
                      <a:r>
                        <a:rPr sz="1400" spc="180" dirty="0">
                          <a:ln w="5428" cap="flat" cmpd="sng">
                            <a:solidFill>
                              <a:srgbClr val="FFFFFF">
                                <a:alpha val="100000"/>
                              </a:srgbClr>
                            </a:solidFill>
                            <a:prstDash val="solid"/>
                            <a:miter lim="10"/>
                          </a:ln>
                          <a:solidFill>
                            <a:srgbClr val="FFFFFF">
                              <a:alpha val="100000"/>
                            </a:srgbClr>
                          </a:solidFill>
                          <a:latin typeface="微软雅黑" panose="020B0503020204020204" charset="-122"/>
                          <a:ea typeface="微软雅黑" panose="020B0503020204020204" charset="-122"/>
                          <a:cs typeface="楷体" panose="02010609060101010101" charset="-122"/>
                        </a:rPr>
                        <a:t>常用的大客</a:t>
                      </a:r>
                      <a:r>
                        <a:rPr sz="1400" spc="150" dirty="0">
                          <a:ln w="5428" cap="flat" cmpd="sng">
                            <a:solidFill>
                              <a:srgbClr val="FFFFFF">
                                <a:alpha val="100000"/>
                              </a:srgbClr>
                            </a:solidFill>
                            <a:prstDash val="solid"/>
                            <a:miter lim="10"/>
                          </a:ln>
                          <a:solidFill>
                            <a:srgbClr val="FFFFFF">
                              <a:alpha val="100000"/>
                            </a:srgbClr>
                          </a:solidFill>
                          <a:latin typeface="微软雅黑" panose="020B0503020204020204" charset="-122"/>
                          <a:ea typeface="微软雅黑" panose="020B0503020204020204" charset="-122"/>
                          <a:cs typeface="楷体" panose="02010609060101010101" charset="-122"/>
                        </a:rPr>
                        <a:t>户</a:t>
                      </a:r>
                      <a:endParaRPr lang="en-US" altLang="en-US" sz="1400" dirty="0">
                        <a:latin typeface="微软雅黑" panose="020B0503020204020204" charset="-122"/>
                        <a:ea typeface="微软雅黑" panose="020B0503020204020204" charset="-122"/>
                      </a:endParaRPr>
                    </a:p>
                    <a:p>
                      <a:pPr marL="713740" algn="l" rtl="0" eaLnBrk="0">
                        <a:lnSpc>
                          <a:spcPts val="1720"/>
                        </a:lnSpc>
                      </a:pPr>
                      <a:r>
                        <a:rPr sz="1400" spc="170" dirty="0">
                          <a:ln w="5428" cap="flat" cmpd="sng">
                            <a:solidFill>
                              <a:srgbClr val="FFFFFF">
                                <a:alpha val="100000"/>
                              </a:srgbClr>
                            </a:solidFill>
                            <a:prstDash val="solid"/>
                            <a:miter lim="10"/>
                          </a:ln>
                          <a:solidFill>
                            <a:srgbClr val="FFFFFF">
                              <a:alpha val="100000"/>
                            </a:srgbClr>
                          </a:solidFill>
                          <a:latin typeface="微软雅黑" panose="020B0503020204020204" charset="-122"/>
                          <a:ea typeface="微软雅黑" panose="020B0503020204020204" charset="-122"/>
                          <a:cs typeface="楷体" panose="02010609060101010101" charset="-122"/>
                        </a:rPr>
                        <a:t>筛选标</a:t>
                      </a:r>
                      <a:r>
                        <a:rPr sz="1400" spc="140" dirty="0">
                          <a:ln w="5428" cap="flat" cmpd="sng">
                            <a:solidFill>
                              <a:srgbClr val="FFFFFF">
                                <a:alpha val="100000"/>
                              </a:srgbClr>
                            </a:solidFill>
                            <a:prstDash val="solid"/>
                            <a:miter lim="10"/>
                          </a:ln>
                          <a:solidFill>
                            <a:srgbClr val="FFFFFF">
                              <a:alpha val="100000"/>
                            </a:srgbClr>
                          </a:solidFill>
                          <a:latin typeface="微软雅黑" panose="020B0503020204020204" charset="-122"/>
                          <a:ea typeface="微软雅黑" panose="020B0503020204020204" charset="-122"/>
                          <a:cs typeface="楷体" panose="02010609060101010101" charset="-122"/>
                        </a:rPr>
                        <a:t>准</a:t>
                      </a:r>
                      <a:endParaRPr lang="en-US" altLang="en-US" sz="1400" dirty="0">
                        <a:latin typeface="微软雅黑" panose="020B0503020204020204" charset="-122"/>
                        <a:ea typeface="微软雅黑" panose="020B0503020204020204" charset="-122"/>
                      </a:endParaRPr>
                    </a:p>
                    <a:p>
                      <a:pPr marL="3726180" algn="l" rtl="0" eaLnBrk="0">
                        <a:lnSpc>
                          <a:spcPts val="1610"/>
                        </a:lnSpc>
                      </a:pPr>
                      <a:r>
                        <a:rPr sz="1300" spc="260" dirty="0">
                          <a:ln w="501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收</a:t>
                      </a:r>
                      <a:r>
                        <a:rPr sz="1300" spc="240" dirty="0">
                          <a:ln w="501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入</a:t>
                      </a:r>
                      <a:endParaRPr lang="en-US" altLang="en-US" sz="1300" dirty="0">
                        <a:latin typeface="微软雅黑" panose="020B0503020204020204" charset="-122"/>
                        <a:ea typeface="微软雅黑" panose="020B0503020204020204" charset="-122"/>
                      </a:endParaRPr>
                    </a:p>
                    <a:p>
                      <a:pPr algn="l" rtl="0" eaLnBrk="0">
                        <a:lnSpc>
                          <a:spcPct val="195000"/>
                        </a:lnSpc>
                      </a:pPr>
                      <a:endParaRPr lang="en-US" altLang="en-US" sz="1000" dirty="0">
                        <a:latin typeface="微软雅黑" panose="020B0503020204020204" charset="-122"/>
                        <a:ea typeface="微软雅黑" panose="020B0503020204020204" charset="-122"/>
                      </a:endParaRPr>
                    </a:p>
                    <a:p>
                      <a:pPr marL="3141980" algn="l" rtl="0" eaLnBrk="0">
                        <a:lnSpc>
                          <a:spcPct val="99000"/>
                        </a:lnSpc>
                        <a:spcBef>
                          <a:spcPts val="455"/>
                        </a:spcBef>
                      </a:pPr>
                      <a:r>
                        <a:rPr sz="1500" spc="100" dirty="0">
                          <a:ln w="5791" cap="flat" cmpd="sng">
                            <a:solidFill>
                              <a:srgbClr val="FFFFFF">
                                <a:alpha val="100000"/>
                              </a:srgbClr>
                            </a:solidFill>
                            <a:prstDash val="solid"/>
                            <a:miter lim="10"/>
                          </a:ln>
                          <a:solidFill>
                            <a:srgbClr val="FFFFFF">
                              <a:alpha val="100000"/>
                            </a:srgbClr>
                          </a:solidFill>
                          <a:latin typeface="微软雅黑" panose="020B0503020204020204" charset="-122"/>
                          <a:ea typeface="微软雅黑" panose="020B0503020204020204" charset="-122"/>
                          <a:cs typeface="楷体" panose="02010609060101010101" charset="-122"/>
                        </a:rPr>
                        <a:t>销售增长潜</a:t>
                      </a:r>
                      <a:r>
                        <a:rPr sz="1500" spc="90" dirty="0">
                          <a:ln w="5791" cap="flat" cmpd="sng">
                            <a:solidFill>
                              <a:srgbClr val="FFFFFF">
                                <a:alpha val="100000"/>
                              </a:srgbClr>
                            </a:solidFill>
                            <a:prstDash val="solid"/>
                            <a:miter lim="10"/>
                          </a:ln>
                          <a:solidFill>
                            <a:srgbClr val="FFFFFF">
                              <a:alpha val="100000"/>
                            </a:srgbClr>
                          </a:solidFill>
                          <a:latin typeface="微软雅黑" panose="020B0503020204020204" charset="-122"/>
                          <a:ea typeface="微软雅黑" panose="020B0503020204020204" charset="-122"/>
                          <a:cs typeface="楷体" panose="02010609060101010101" charset="-122"/>
                        </a:rPr>
                        <a:t>力</a:t>
                      </a:r>
                      <a:endParaRPr lang="en-US" altLang="en-US" sz="1500" dirty="0">
                        <a:latin typeface="微软雅黑" panose="020B0503020204020204" charset="-122"/>
                        <a:ea typeface="微软雅黑" panose="020B0503020204020204" charset="-122"/>
                      </a:endParaRPr>
                    </a:p>
                    <a:p>
                      <a:pPr algn="l" rtl="0" eaLnBrk="0">
                        <a:lnSpc>
                          <a:spcPct val="134000"/>
                        </a:lnSpc>
                      </a:pPr>
                      <a:endParaRPr lang="en-US" altLang="en-US" sz="1000" dirty="0">
                        <a:latin typeface="微软雅黑" panose="020B0503020204020204" charset="-122"/>
                        <a:ea typeface="微软雅黑" panose="020B0503020204020204" charset="-122"/>
                      </a:endParaRPr>
                    </a:p>
                    <a:p>
                      <a:pPr marL="2859405" algn="l" rtl="0" eaLnBrk="0">
                        <a:lnSpc>
                          <a:spcPct val="99000"/>
                        </a:lnSpc>
                        <a:spcBef>
                          <a:spcPts val="450"/>
                        </a:spcBef>
                      </a:pPr>
                      <a:r>
                        <a:rPr sz="1500" spc="90" dirty="0">
                          <a:ln w="5791" cap="flat" cmpd="sng">
                            <a:solidFill>
                              <a:srgbClr val="FFFFFF">
                                <a:alpha val="100000"/>
                              </a:srgbClr>
                            </a:solidFill>
                            <a:prstDash val="solid"/>
                            <a:miter lim="10"/>
                          </a:ln>
                          <a:solidFill>
                            <a:srgbClr val="FFFFFF">
                              <a:alpha val="100000"/>
                            </a:srgbClr>
                          </a:solidFill>
                          <a:latin typeface="微软雅黑" panose="020B0503020204020204" charset="-122"/>
                          <a:ea typeface="微软雅黑" panose="020B0503020204020204" charset="-122"/>
                          <a:cs typeface="楷体" panose="02010609060101010101" charset="-122"/>
                        </a:rPr>
                        <a:t>当前和潜在钱包份</a:t>
                      </a:r>
                      <a:r>
                        <a:rPr sz="1500" spc="20" dirty="0">
                          <a:ln w="5791" cap="flat" cmpd="sng">
                            <a:solidFill>
                              <a:srgbClr val="FFFFFF">
                                <a:alpha val="100000"/>
                              </a:srgbClr>
                            </a:solidFill>
                            <a:prstDash val="solid"/>
                            <a:miter lim="10"/>
                          </a:ln>
                          <a:solidFill>
                            <a:srgbClr val="FFFFFF">
                              <a:alpha val="100000"/>
                            </a:srgbClr>
                          </a:solidFill>
                          <a:latin typeface="微软雅黑" panose="020B0503020204020204" charset="-122"/>
                          <a:ea typeface="微软雅黑" panose="020B0503020204020204" charset="-122"/>
                          <a:cs typeface="楷体" panose="02010609060101010101" charset="-122"/>
                        </a:rPr>
                        <a:t>额</a:t>
                      </a:r>
                      <a:endParaRPr lang="en-US" altLang="en-US" sz="1500" dirty="0">
                        <a:latin typeface="微软雅黑" panose="020B0503020204020204" charset="-122"/>
                        <a:ea typeface="微软雅黑" panose="020B0503020204020204" charset="-122"/>
                      </a:endParaRPr>
                    </a:p>
                    <a:p>
                      <a:pPr algn="l" rtl="0" eaLnBrk="0">
                        <a:lnSpc>
                          <a:spcPct val="134000"/>
                        </a:lnSpc>
                      </a:pPr>
                      <a:endParaRPr lang="en-US" altLang="en-US" sz="1000" dirty="0">
                        <a:latin typeface="微软雅黑" panose="020B0503020204020204" charset="-122"/>
                        <a:ea typeface="微软雅黑" panose="020B0503020204020204" charset="-122"/>
                      </a:endParaRPr>
                    </a:p>
                    <a:p>
                      <a:pPr marL="2654935" algn="l" rtl="0" eaLnBrk="0">
                        <a:lnSpc>
                          <a:spcPct val="99000"/>
                        </a:lnSpc>
                        <a:spcBef>
                          <a:spcPts val="450"/>
                        </a:spcBef>
                      </a:pPr>
                      <a:r>
                        <a:rPr sz="1500" spc="90" dirty="0">
                          <a:ln w="5791" cap="flat" cmpd="sng">
                            <a:solidFill>
                              <a:srgbClr val="FFFFFF">
                                <a:alpha val="100000"/>
                              </a:srgbClr>
                            </a:solidFill>
                            <a:prstDash val="solid"/>
                            <a:miter lim="10"/>
                          </a:ln>
                          <a:solidFill>
                            <a:srgbClr val="FFFFFF">
                              <a:alpha val="100000"/>
                            </a:srgbClr>
                          </a:solidFill>
                          <a:latin typeface="微软雅黑" panose="020B0503020204020204" charset="-122"/>
                          <a:ea typeface="微软雅黑" panose="020B0503020204020204" charset="-122"/>
                          <a:cs typeface="楷体" panose="02010609060101010101" charset="-122"/>
                        </a:rPr>
                        <a:t>当前和未来预计的利润</a:t>
                      </a:r>
                      <a:r>
                        <a:rPr sz="1500" spc="50" dirty="0">
                          <a:ln w="5791" cap="flat" cmpd="sng">
                            <a:solidFill>
                              <a:srgbClr val="FFFFFF">
                                <a:alpha val="100000"/>
                              </a:srgbClr>
                            </a:solidFill>
                            <a:prstDash val="solid"/>
                            <a:miter lim="10"/>
                          </a:ln>
                          <a:solidFill>
                            <a:srgbClr val="FFFFFF">
                              <a:alpha val="100000"/>
                            </a:srgbClr>
                          </a:solidFill>
                          <a:latin typeface="微软雅黑" panose="020B0503020204020204" charset="-122"/>
                          <a:ea typeface="微软雅黑" panose="020B0503020204020204" charset="-122"/>
                          <a:cs typeface="楷体" panose="02010609060101010101" charset="-122"/>
                        </a:rPr>
                        <a:t>率</a:t>
                      </a:r>
                      <a:endParaRPr lang="en-US" altLang="en-US" sz="1500" dirty="0">
                        <a:latin typeface="微软雅黑" panose="020B0503020204020204" charset="-122"/>
                        <a:ea typeface="微软雅黑" panose="020B0503020204020204" charset="-122"/>
                      </a:endParaRPr>
                    </a:p>
                    <a:p>
                      <a:pPr algn="l" rtl="0" eaLnBrk="0">
                        <a:lnSpc>
                          <a:spcPct val="134000"/>
                        </a:lnSpc>
                      </a:pPr>
                      <a:endParaRPr lang="en-US" altLang="en-US" sz="1000" dirty="0">
                        <a:latin typeface="微软雅黑" panose="020B0503020204020204" charset="-122"/>
                        <a:ea typeface="微软雅黑" panose="020B0503020204020204" charset="-122"/>
                      </a:endParaRPr>
                    </a:p>
                    <a:p>
                      <a:pPr marL="2420620" algn="l" rtl="0" eaLnBrk="0">
                        <a:lnSpc>
                          <a:spcPct val="98000"/>
                        </a:lnSpc>
                        <a:spcBef>
                          <a:spcPts val="455"/>
                        </a:spcBef>
                      </a:pPr>
                      <a:r>
                        <a:rPr sz="1500" spc="110" dirty="0">
                          <a:ln w="5799" cap="flat" cmpd="sng">
                            <a:solidFill>
                              <a:srgbClr val="FFFFFF">
                                <a:alpha val="100000"/>
                              </a:srgbClr>
                            </a:solidFill>
                            <a:prstDash val="solid"/>
                            <a:miter lim="10"/>
                          </a:ln>
                          <a:solidFill>
                            <a:srgbClr val="FFFFFF">
                              <a:alpha val="100000"/>
                            </a:srgbClr>
                          </a:solidFill>
                          <a:latin typeface="微软雅黑" panose="020B0503020204020204" charset="-122"/>
                          <a:ea typeface="微软雅黑" panose="020B0503020204020204" charset="-122"/>
                          <a:cs typeface="楷体" panose="02010609060101010101" charset="-122"/>
                        </a:rPr>
                        <a:t>客户建立合作伙伴关系的意</a:t>
                      </a:r>
                      <a:r>
                        <a:rPr sz="1500" spc="80" dirty="0">
                          <a:ln w="5799" cap="flat" cmpd="sng">
                            <a:solidFill>
                              <a:srgbClr val="FFFFFF">
                                <a:alpha val="100000"/>
                              </a:srgbClr>
                            </a:solidFill>
                            <a:prstDash val="solid"/>
                            <a:miter lim="10"/>
                          </a:ln>
                          <a:solidFill>
                            <a:srgbClr val="FFFFFF">
                              <a:alpha val="100000"/>
                            </a:srgbClr>
                          </a:solidFill>
                          <a:latin typeface="微软雅黑" panose="020B0503020204020204" charset="-122"/>
                          <a:ea typeface="微软雅黑" panose="020B0503020204020204" charset="-122"/>
                          <a:cs typeface="楷体" panose="02010609060101010101" charset="-122"/>
                        </a:rPr>
                        <a:t>愿</a:t>
                      </a:r>
                      <a:endParaRPr lang="en-US" altLang="en-US" sz="1500" dirty="0">
                        <a:latin typeface="微软雅黑" panose="020B0503020204020204" charset="-122"/>
                        <a:ea typeface="微软雅黑" panose="020B0503020204020204" charset="-122"/>
                      </a:endParaRPr>
                    </a:p>
                    <a:p>
                      <a:pPr algn="l" rtl="0" eaLnBrk="0">
                        <a:lnSpc>
                          <a:spcPct val="135000"/>
                        </a:lnSpc>
                      </a:pPr>
                      <a:endParaRPr lang="en-US" altLang="en-US" sz="1000" dirty="0">
                        <a:latin typeface="微软雅黑" panose="020B0503020204020204" charset="-122"/>
                        <a:ea typeface="微软雅黑" panose="020B0503020204020204" charset="-122"/>
                      </a:endParaRPr>
                    </a:p>
                    <a:p>
                      <a:pPr algn="l" rtl="0" eaLnBrk="0">
                        <a:lnSpc>
                          <a:spcPct val="127000"/>
                        </a:lnSpc>
                      </a:pPr>
                      <a:endParaRPr lang="en-US" altLang="en-US" sz="300" dirty="0">
                        <a:latin typeface="微软雅黑" panose="020B0503020204020204" charset="-122"/>
                        <a:ea typeface="微软雅黑" panose="020B0503020204020204" charset="-122"/>
                      </a:endParaRPr>
                    </a:p>
                    <a:p>
                      <a:pPr marL="3043555" algn="l" rtl="0" eaLnBrk="0">
                        <a:lnSpc>
                          <a:spcPct val="99000"/>
                        </a:lnSpc>
                        <a:spcBef>
                          <a:spcPts val="0"/>
                        </a:spcBef>
                      </a:pPr>
                      <a:r>
                        <a:rPr sz="1500" spc="100" dirty="0">
                          <a:ln w="5791" cap="flat" cmpd="sng">
                            <a:solidFill>
                              <a:srgbClr val="FFFFFF">
                                <a:alpha val="100000"/>
                              </a:srgbClr>
                            </a:solidFill>
                            <a:prstDash val="solid"/>
                            <a:miter lim="10"/>
                          </a:ln>
                          <a:solidFill>
                            <a:srgbClr val="FFFFFF">
                              <a:alpha val="100000"/>
                            </a:srgbClr>
                          </a:solidFill>
                          <a:latin typeface="微软雅黑" panose="020B0503020204020204" charset="-122"/>
                          <a:ea typeface="微软雅黑" panose="020B0503020204020204" charset="-122"/>
                          <a:cs typeface="楷体" panose="02010609060101010101" charset="-122"/>
                        </a:rPr>
                        <a:t>竞争格局的特</a:t>
                      </a:r>
                      <a:r>
                        <a:rPr sz="1500" spc="70" dirty="0">
                          <a:ln w="5791" cap="flat" cmpd="sng">
                            <a:solidFill>
                              <a:srgbClr val="FFFFFF">
                                <a:alpha val="100000"/>
                              </a:srgbClr>
                            </a:solidFill>
                            <a:prstDash val="solid"/>
                            <a:miter lim="10"/>
                          </a:ln>
                          <a:solidFill>
                            <a:srgbClr val="FFFFFF">
                              <a:alpha val="100000"/>
                            </a:srgbClr>
                          </a:solidFill>
                          <a:latin typeface="微软雅黑" panose="020B0503020204020204" charset="-122"/>
                          <a:ea typeface="微软雅黑" panose="020B0503020204020204" charset="-122"/>
                          <a:cs typeface="楷体" panose="02010609060101010101" charset="-122"/>
                        </a:rPr>
                        <a:t>点</a:t>
                      </a:r>
                      <a:endParaRPr lang="en-US" altLang="en-US" sz="1500" dirty="0">
                        <a:latin typeface="微软雅黑" panose="020B0503020204020204" charset="-122"/>
                        <a:ea typeface="微软雅黑" panose="020B0503020204020204" charset="-122"/>
                      </a:endParaRPr>
                    </a:p>
                  </a:txBody>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w="19050" cap="flat" cmpd="sng" algn="ctr">
                      <a:solidFill>
                        <a:srgbClr val="BFE1FF"/>
                      </a:solidFill>
                      <a:prstDash val="solid"/>
                      <a:round/>
                      <a:headEnd type="none" w="med" len="med"/>
                      <a:tailEnd type="none" w="med" len="med"/>
                    </a:lnT>
                    <a:lnB w="19050" cap="flat" cmpd="sng" algn="ctr">
                      <a:solidFill>
                        <a:srgbClr val="BFE1FF"/>
                      </a:solidFill>
                      <a:prstDash val="solid"/>
                      <a:round/>
                      <a:headEnd type="none" w="med" len="med"/>
                      <a:tailEnd type="none" w="med" len="med"/>
                    </a:lnB>
                  </a:tcPr>
                </a:tc>
              </a:tr>
            </a:tbl>
          </a:graphicData>
        </a:graphic>
      </p:graphicFrame>
      <p:sp>
        <p:nvSpPr>
          <p:cNvPr id="788" name="textbox 788"/>
          <p:cNvSpPr/>
          <p:nvPr/>
        </p:nvSpPr>
        <p:spPr>
          <a:xfrm>
            <a:off x="6598919" y="1740408"/>
            <a:ext cx="1640204" cy="3429000"/>
          </a:xfrm>
          <a:prstGeom prst="rect">
            <a:avLst/>
          </a:prstGeom>
          <a:solidFill>
            <a:srgbClr val="0065BD"/>
          </a:solidFill>
        </p:spPr>
        <p:txBody>
          <a:bodyPr vert="horz" wrap="square" lIns="0" tIns="0" rIns="0" bIns="0"/>
          <a:lstStyle/>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10000"/>
              </a:lnSpc>
            </a:pPr>
            <a:endParaRPr lang="en-US" altLang="en-US" sz="1000" dirty="0">
              <a:latin typeface="微软雅黑" panose="020B0503020204020204" charset="-122"/>
              <a:ea typeface="微软雅黑" panose="020B0503020204020204" charset="-122"/>
            </a:endParaRPr>
          </a:p>
          <a:p>
            <a:pPr algn="l" rtl="0" eaLnBrk="0">
              <a:lnSpc>
                <a:spcPct val="110000"/>
              </a:lnSpc>
            </a:pPr>
            <a:endParaRPr lang="en-US" altLang="en-US" sz="1000" dirty="0">
              <a:latin typeface="微软雅黑" panose="020B0503020204020204" charset="-122"/>
              <a:ea typeface="微软雅黑" panose="020B0503020204020204" charset="-122"/>
            </a:endParaRPr>
          </a:p>
          <a:p>
            <a:pPr algn="l" rtl="0" eaLnBrk="0">
              <a:lnSpc>
                <a:spcPct val="110000"/>
              </a:lnSpc>
            </a:pPr>
            <a:endParaRPr lang="en-US" altLang="en-US" sz="1000" dirty="0">
              <a:latin typeface="微软雅黑" panose="020B0503020204020204" charset="-122"/>
              <a:ea typeface="微软雅黑" panose="020B0503020204020204" charset="-122"/>
            </a:endParaRPr>
          </a:p>
          <a:p>
            <a:pPr algn="l" rtl="0" eaLnBrk="0">
              <a:lnSpc>
                <a:spcPct val="110000"/>
              </a:lnSpc>
            </a:pPr>
            <a:endParaRPr lang="en-US" altLang="en-US" sz="1000" dirty="0">
              <a:latin typeface="微软雅黑" panose="020B0503020204020204" charset="-122"/>
              <a:ea typeface="微软雅黑" panose="020B0503020204020204" charset="-122"/>
            </a:endParaRPr>
          </a:p>
          <a:p>
            <a:pPr algn="l" rtl="0" eaLnBrk="0">
              <a:lnSpc>
                <a:spcPct val="110000"/>
              </a:lnSpc>
            </a:pPr>
            <a:endParaRPr lang="en-US" altLang="en-US" sz="1000" dirty="0">
              <a:latin typeface="微软雅黑" panose="020B0503020204020204" charset="-122"/>
              <a:ea typeface="微软雅黑" panose="020B0503020204020204" charset="-122"/>
            </a:endParaRPr>
          </a:p>
          <a:p>
            <a:pPr algn="l" rtl="0" eaLnBrk="0">
              <a:lnSpc>
                <a:spcPct val="110000"/>
              </a:lnSpc>
            </a:pPr>
            <a:endParaRPr lang="en-US" altLang="en-US" sz="1000" dirty="0">
              <a:latin typeface="微软雅黑" panose="020B0503020204020204" charset="-122"/>
              <a:ea typeface="微软雅黑" panose="020B0503020204020204" charset="-122"/>
            </a:endParaRPr>
          </a:p>
          <a:p>
            <a:pPr marL="76835" indent="4445" algn="l" rtl="0" eaLnBrk="0">
              <a:lnSpc>
                <a:spcPct val="108000"/>
              </a:lnSpc>
              <a:spcBef>
                <a:spcPts val="5"/>
              </a:spcBef>
            </a:pPr>
            <a:r>
              <a:rPr sz="1500" spc="110" dirty="0">
                <a:ln w="5799"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选择标准仅仅</a:t>
            </a:r>
            <a:r>
              <a:rPr sz="1500" spc="40" dirty="0">
                <a:ln w="5799"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注</a:t>
            </a:r>
            <a:r>
              <a:rPr sz="1500" spc="0" dirty="0">
                <a:solidFill>
                  <a:srgbClr val="FFFFFF">
                    <a:alpha val="100000"/>
                  </a:srgbClr>
                </a:solidFill>
                <a:latin typeface="微软雅黑" panose="020B0503020204020204" charset="-122"/>
                <a:ea typeface="微软雅黑" panose="020B0503020204020204" charset="-122"/>
                <a:cs typeface="楷体" panose="02010609060101010101" charset="-122"/>
              </a:rPr>
              <a:t> </a:t>
            </a:r>
            <a:r>
              <a:rPr sz="1500" spc="110" dirty="0">
                <a:ln w="5791"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重收入，忽视</a:t>
            </a:r>
            <a:r>
              <a:rPr sz="1500" spc="80" dirty="0">
                <a:ln w="5791"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潜</a:t>
            </a:r>
            <a:r>
              <a:rPr sz="1500" spc="0" dirty="0">
                <a:solidFill>
                  <a:srgbClr val="FFFFFF">
                    <a:alpha val="100000"/>
                  </a:srgbClr>
                </a:solidFill>
                <a:latin typeface="微软雅黑" panose="020B0503020204020204" charset="-122"/>
                <a:ea typeface="微软雅黑" panose="020B0503020204020204" charset="-122"/>
                <a:cs typeface="楷体" panose="02010609060101010101" charset="-122"/>
              </a:rPr>
              <a:t> </a:t>
            </a:r>
            <a:r>
              <a:rPr sz="1500" spc="100" dirty="0">
                <a:ln w="5791"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在的机</a:t>
            </a:r>
            <a:r>
              <a:rPr sz="1500" spc="90" dirty="0">
                <a:ln w="5791"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会</a:t>
            </a:r>
            <a:endParaRPr lang="en-US" altLang="en-US" sz="1500" dirty="0">
              <a:latin typeface="微软雅黑" panose="020B0503020204020204" charset="-122"/>
              <a:ea typeface="微软雅黑" panose="020B0503020204020204" charset="-122"/>
            </a:endParaRPr>
          </a:p>
        </p:txBody>
      </p:sp>
      <p:sp>
        <p:nvSpPr>
          <p:cNvPr id="789" name="textbox 789"/>
          <p:cNvSpPr/>
          <p:nvPr/>
        </p:nvSpPr>
        <p:spPr>
          <a:xfrm>
            <a:off x="633984" y="853440"/>
            <a:ext cx="6681469" cy="415290"/>
          </a:xfrm>
          <a:prstGeom prst="rect">
            <a:avLst/>
          </a:prstGeom>
          <a:solidFill>
            <a:srgbClr val="BFE1FF"/>
          </a:solidFill>
        </p:spPr>
        <p:txBody>
          <a:bodyPr vert="horz" wrap="square" lIns="0" tIns="0" rIns="0" bIns="0"/>
          <a:lstStyle/>
          <a:p>
            <a:pPr algn="l" rtl="0" eaLnBrk="0">
              <a:lnSpc>
                <a:spcPct val="109000"/>
              </a:lnSpc>
            </a:pPr>
            <a:endParaRPr lang="en-US" altLang="en-US" sz="600" dirty="0">
              <a:latin typeface="微软雅黑" panose="020B0503020204020204" charset="-122"/>
              <a:ea typeface="微软雅黑" panose="020B0503020204020204" charset="-122"/>
            </a:endParaRPr>
          </a:p>
          <a:p>
            <a:pPr marL="95885" algn="l" rtl="0" eaLnBrk="0">
              <a:lnSpc>
                <a:spcPct val="99000"/>
              </a:lnSpc>
              <a:spcBef>
                <a:spcPts val="0"/>
              </a:spcBef>
            </a:pPr>
            <a:r>
              <a:rPr sz="1500" spc="9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大客户筛选标</a:t>
            </a:r>
            <a:r>
              <a:rPr sz="1500" spc="4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准</a:t>
            </a:r>
            <a:endParaRPr lang="en-US" altLang="en-US" sz="1500" dirty="0">
              <a:latin typeface="微软雅黑" panose="020B0503020204020204" charset="-122"/>
              <a:ea typeface="微软雅黑" panose="020B0503020204020204" charset="-122"/>
            </a:endParaRPr>
          </a:p>
        </p:txBody>
      </p:sp>
      <p:sp>
        <p:nvSpPr>
          <p:cNvPr id="790" name="textbox 790"/>
          <p:cNvSpPr/>
          <p:nvPr/>
        </p:nvSpPr>
        <p:spPr>
          <a:xfrm>
            <a:off x="459740" y="248920"/>
            <a:ext cx="6395720" cy="309245"/>
          </a:xfrm>
          <a:prstGeom prst="rect">
            <a:avLst/>
          </a:prstGeom>
        </p:spPr>
        <p:txBody>
          <a:bodyPr vert="horz" wrap="square" lIns="0" tIns="0" rIns="0" bIns="0"/>
          <a:lstStyle/>
          <a:p>
            <a:pPr algn="l" rtl="0" eaLnBrk="0">
              <a:lnSpc>
                <a:spcPct val="85000"/>
              </a:lnSpc>
            </a:pPr>
            <a:endParaRPr lang="en-US" altLang="en-US" sz="100" dirty="0">
              <a:latin typeface="微软雅黑" panose="020B0503020204020204" charset="-122"/>
              <a:ea typeface="微软雅黑" panose="020B0503020204020204" charset="-122"/>
            </a:endParaRPr>
          </a:p>
          <a:p>
            <a:pPr marL="12700" algn="l" rtl="0" eaLnBrk="0">
              <a:lnSpc>
                <a:spcPct val="93000"/>
              </a:lnSpc>
            </a:pPr>
            <a:r>
              <a:rPr sz="2000" spc="-10" dirty="0">
                <a:solidFill>
                  <a:srgbClr val="002960">
                    <a:alpha val="100000"/>
                  </a:srgbClr>
                </a:solidFill>
                <a:latin typeface="微软雅黑" panose="020B0503020204020204" charset="-122"/>
                <a:ea typeface="微软雅黑" panose="020B0503020204020204" charset="-122"/>
                <a:cs typeface="楷体" panose="02010609060101010101" charset="-122"/>
              </a:rPr>
              <a:t>现在大多数企业仅</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仅将收入多少而非客户潜力作为大客户的筛选标准</a:t>
            </a:r>
            <a:endParaRPr lang="en-US" altLang="en-US" sz="2000" dirty="0">
              <a:latin typeface="微软雅黑" panose="020B0503020204020204" charset="-122"/>
              <a:ea typeface="微软雅黑" panose="020B0503020204020204" charset="-122"/>
            </a:endParaRPr>
          </a:p>
        </p:txBody>
      </p:sp>
      <p:sp>
        <p:nvSpPr>
          <p:cNvPr id="792" name="textbox 792"/>
          <p:cNvSpPr/>
          <p:nvPr/>
        </p:nvSpPr>
        <p:spPr>
          <a:xfrm>
            <a:off x="1365390" y="3976501"/>
            <a:ext cx="1236980" cy="485140"/>
          </a:xfrm>
          <a:prstGeom prst="rect">
            <a:avLst/>
          </a:prstGeom>
        </p:spPr>
        <p:txBody>
          <a:bodyPr vert="horz" wrap="square" lIns="0" tIns="0" rIns="0" bIns="0"/>
          <a:lstStyle/>
          <a:p>
            <a:pPr algn="l" rtl="0" eaLnBrk="0">
              <a:lnSpc>
                <a:spcPct val="97000"/>
              </a:lnSpc>
            </a:pPr>
            <a:endParaRPr lang="en-US" altLang="en-US" sz="100" dirty="0">
              <a:latin typeface="微软雅黑" panose="020B0503020204020204" charset="-122"/>
              <a:ea typeface="微软雅黑" panose="020B0503020204020204" charset="-122"/>
            </a:endParaRPr>
          </a:p>
          <a:p>
            <a:pPr marL="17780" indent="-5080" algn="l" rtl="0" eaLnBrk="0">
              <a:lnSpc>
                <a:spcPct val="100000"/>
              </a:lnSpc>
            </a:pPr>
            <a:r>
              <a:rPr sz="1500" spc="90" dirty="0">
                <a:ln w="5791" cap="flat" cmpd="sng">
                  <a:solidFill>
                    <a:srgbClr val="FFFFFF">
                      <a:alpha val="100000"/>
                    </a:srgbClr>
                  </a:solidFill>
                  <a:prstDash val="solid"/>
                  <a:miter lim="10"/>
                </a:ln>
                <a:solidFill>
                  <a:srgbClr val="FFFFFF">
                    <a:alpha val="100000"/>
                  </a:srgbClr>
                </a:solidFill>
                <a:latin typeface="微软雅黑" panose="020B0503020204020204" charset="-122"/>
                <a:ea typeface="微软雅黑" panose="020B0503020204020204" charset="-122"/>
                <a:cs typeface="楷体" panose="02010609060101010101" charset="-122"/>
              </a:rPr>
              <a:t>我们通常忽</a:t>
            </a:r>
            <a:r>
              <a:rPr sz="1500" spc="80" dirty="0">
                <a:ln w="5791" cap="flat" cmpd="sng">
                  <a:solidFill>
                    <a:srgbClr val="FFFFFF">
                      <a:alpha val="100000"/>
                    </a:srgbClr>
                  </a:solidFill>
                  <a:prstDash val="solid"/>
                  <a:miter lim="10"/>
                </a:ln>
                <a:solidFill>
                  <a:srgbClr val="FFFFFF">
                    <a:alpha val="100000"/>
                  </a:srgbClr>
                </a:solidFill>
                <a:latin typeface="微软雅黑" panose="020B0503020204020204" charset="-122"/>
                <a:ea typeface="微软雅黑" panose="020B0503020204020204" charset="-122"/>
                <a:cs typeface="楷体" panose="02010609060101010101" charset="-122"/>
              </a:rPr>
              <a:t>略</a:t>
            </a:r>
            <a:r>
              <a:rPr sz="1500" spc="0" dirty="0">
                <a:solidFill>
                  <a:srgbClr val="FFFFFF">
                    <a:alpha val="100000"/>
                  </a:srgbClr>
                </a:solidFill>
                <a:latin typeface="微软雅黑" panose="020B0503020204020204" charset="-122"/>
                <a:ea typeface="微软雅黑" panose="020B0503020204020204" charset="-122"/>
                <a:cs typeface="楷体" panose="02010609060101010101" charset="-122"/>
              </a:rPr>
              <a:t> </a:t>
            </a:r>
            <a:r>
              <a:rPr sz="1500" spc="60" dirty="0">
                <a:ln w="5791" cap="flat" cmpd="sng">
                  <a:solidFill>
                    <a:srgbClr val="FFFFFF">
                      <a:alpha val="100000"/>
                    </a:srgbClr>
                  </a:solidFill>
                  <a:prstDash val="solid"/>
                  <a:miter lim="10"/>
                </a:ln>
                <a:solidFill>
                  <a:srgbClr val="FFFFFF">
                    <a:alpha val="100000"/>
                  </a:srgbClr>
                </a:solidFill>
                <a:latin typeface="微软雅黑" panose="020B0503020204020204" charset="-122"/>
                <a:ea typeface="微软雅黑" panose="020B0503020204020204" charset="-122"/>
                <a:cs typeface="楷体" panose="02010609060101010101" charset="-122"/>
              </a:rPr>
              <a:t>的部</a:t>
            </a:r>
            <a:r>
              <a:rPr sz="1500" spc="40" dirty="0">
                <a:ln w="5791" cap="flat" cmpd="sng">
                  <a:solidFill>
                    <a:srgbClr val="FFFFFF">
                      <a:alpha val="100000"/>
                    </a:srgbClr>
                  </a:solidFill>
                  <a:prstDash val="solid"/>
                  <a:miter lim="10"/>
                </a:ln>
                <a:solidFill>
                  <a:srgbClr val="FFFFFF">
                    <a:alpha val="100000"/>
                  </a:srgbClr>
                </a:solidFill>
                <a:latin typeface="微软雅黑" panose="020B0503020204020204" charset="-122"/>
                <a:ea typeface="微软雅黑" panose="020B0503020204020204" charset="-122"/>
                <a:cs typeface="楷体" panose="02010609060101010101" charset="-122"/>
              </a:rPr>
              <a:t>分</a:t>
            </a:r>
            <a:endParaRPr lang="en-US" altLang="en-US" sz="1500" dirty="0">
              <a:latin typeface="微软雅黑" panose="020B0503020204020204" charset="-122"/>
              <a:ea typeface="微软雅黑" panose="020B0503020204020204" charset="-122"/>
            </a:endParaRPr>
          </a:p>
        </p:txBody>
      </p:sp>
      <p:pic>
        <p:nvPicPr>
          <p:cNvPr id="793" name="picture 793"/>
          <p:cNvPicPr>
            <a:picLocks noChangeAspect="1"/>
          </p:cNvPicPr>
          <p:nvPr/>
        </p:nvPicPr>
        <p:blipFill>
          <a:blip r:embed="rId4"/>
          <a:stretch>
            <a:fillRect/>
          </a:stretch>
        </p:blipFill>
        <p:spPr>
          <a:xfrm rot="21600000">
            <a:off x="1129283" y="2645650"/>
            <a:ext cx="4913301" cy="80509"/>
          </a:xfrm>
          <a:prstGeom prst="rect">
            <a:avLst/>
          </a:prstGeom>
        </p:spPr>
      </p:pic>
      <p:sp>
        <p:nvSpPr>
          <p:cNvPr id="794" name="path"/>
          <p:cNvSpPr/>
          <p:nvPr/>
        </p:nvSpPr>
        <p:spPr>
          <a:xfrm>
            <a:off x="2815082" y="2747772"/>
            <a:ext cx="109473" cy="2895599"/>
          </a:xfrm>
          <a:custGeom>
            <a:avLst/>
            <a:gdLst/>
            <a:ahLst/>
            <a:cxnLst/>
            <a:rect l="0" t="0" r="0" b="0"/>
            <a:pathLst>
              <a:path w="172" h="4559">
                <a:moveTo>
                  <a:pt x="172" y="7"/>
                </a:moveTo>
                <a:lnTo>
                  <a:pt x="7" y="7"/>
                </a:lnTo>
                <a:lnTo>
                  <a:pt x="7" y="2220"/>
                </a:lnTo>
                <a:moveTo>
                  <a:pt x="7" y="2339"/>
                </a:moveTo>
                <a:lnTo>
                  <a:pt x="7" y="4552"/>
                </a:lnTo>
                <a:lnTo>
                  <a:pt x="172" y="4552"/>
                </a:lnTo>
              </a:path>
            </a:pathLst>
          </a:custGeom>
          <a:noFill/>
          <a:ln w="9143" cap="flat">
            <a:solidFill>
              <a:srgbClr val="FFFFFF">
                <a:alpha val="100000"/>
              </a:srgbClr>
            </a:solidFill>
            <a:prstDash val="solid"/>
            <a:round/>
          </a:ln>
        </p:spPr>
        <p:txBody>
          <a:bodyPr rtlCol="0"/>
          <a:lstStyle/>
          <a:p>
            <a:pPr algn="ctr"/>
            <a:endParaRPr lang="zh-CN" altLang="en-US"/>
          </a:p>
        </p:txBody>
      </p:sp>
      <p:sp>
        <p:nvSpPr>
          <p:cNvPr id="795" name="textbox 795"/>
          <p:cNvSpPr/>
          <p:nvPr/>
        </p:nvSpPr>
        <p:spPr>
          <a:xfrm>
            <a:off x="8818509" y="1037437"/>
            <a:ext cx="114935" cy="1840229"/>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endParaRPr sz="600" spc="0" dirty="0">
              <a:solidFill>
                <a:srgbClr val="808080">
                  <a:alpha val="100000"/>
                </a:srgbClr>
              </a:solidFill>
              <a:latin typeface="Arial" panose="020B0604020202020204"/>
              <a:ea typeface="Arial" panose="020B0604020202020204"/>
              <a:cs typeface="Arial" panose="020B0604020202020204"/>
            </a:endParaRPr>
          </a:p>
        </p:txBody>
      </p:sp>
      <p:sp>
        <p:nvSpPr>
          <p:cNvPr id="796" name="path"/>
          <p:cNvSpPr/>
          <p:nvPr/>
        </p:nvSpPr>
        <p:spPr>
          <a:xfrm>
            <a:off x="2814573" y="1548384"/>
            <a:ext cx="109982" cy="973835"/>
          </a:xfrm>
          <a:custGeom>
            <a:avLst/>
            <a:gdLst/>
            <a:ahLst/>
            <a:cxnLst/>
            <a:rect l="0" t="0" r="0" b="0"/>
            <a:pathLst>
              <a:path w="173" h="1533">
                <a:moveTo>
                  <a:pt x="173" y="7"/>
                </a:moveTo>
                <a:lnTo>
                  <a:pt x="7" y="7"/>
                </a:lnTo>
                <a:lnTo>
                  <a:pt x="7" y="703"/>
                </a:lnTo>
                <a:moveTo>
                  <a:pt x="7" y="830"/>
                </a:moveTo>
                <a:lnTo>
                  <a:pt x="7" y="1526"/>
                </a:lnTo>
                <a:lnTo>
                  <a:pt x="173" y="1526"/>
                </a:lnTo>
              </a:path>
            </a:pathLst>
          </a:custGeom>
          <a:noFill/>
          <a:ln w="9143" cap="flat">
            <a:solidFill>
              <a:srgbClr val="FFFFFF">
                <a:alpha val="100000"/>
              </a:srgbClr>
            </a:solidFill>
            <a:prstDash val="solid"/>
            <a:round/>
          </a:ln>
        </p:spPr>
        <p:txBody>
          <a:bodyPr rtlCol="0"/>
          <a:lstStyle/>
          <a:p>
            <a:pPr algn="ctr"/>
            <a:endParaRPr lang="zh-CN" altLang="en-US"/>
          </a:p>
        </p:txBody>
      </p:sp>
      <p:grpSp>
        <p:nvGrpSpPr>
          <p:cNvPr id="170" name="group 170"/>
          <p:cNvGrpSpPr/>
          <p:nvPr/>
        </p:nvGrpSpPr>
        <p:grpSpPr>
          <a:xfrm rot="21600000">
            <a:off x="118872" y="230124"/>
            <a:ext cx="292608" cy="292607"/>
            <a:chOff x="0" y="0"/>
            <a:chExt cx="292608" cy="292607"/>
          </a:xfrm>
        </p:grpSpPr>
        <p:sp>
          <p:nvSpPr>
            <p:cNvPr id="797" name="path"/>
            <p:cNvSpPr/>
            <p:nvPr/>
          </p:nvSpPr>
          <p:spPr>
            <a:xfrm>
              <a:off x="0" y="0"/>
              <a:ext cx="292608" cy="292607"/>
            </a:xfrm>
            <a:custGeom>
              <a:avLst/>
              <a:gdLst/>
              <a:ahLst/>
              <a:cxnLst/>
              <a:rect l="0" t="0" r="0" b="0"/>
              <a:pathLst>
                <a:path w="460" h="460">
                  <a:moveTo>
                    <a:pt x="0" y="230"/>
                  </a:moveTo>
                  <a:cubicBezTo>
                    <a:pt x="0" y="103"/>
                    <a:pt x="103" y="0"/>
                    <a:pt x="230" y="0"/>
                  </a:cubicBezTo>
                  <a:cubicBezTo>
                    <a:pt x="357" y="0"/>
                    <a:pt x="460" y="103"/>
                    <a:pt x="460" y="230"/>
                  </a:cubicBezTo>
                  <a:cubicBezTo>
                    <a:pt x="460" y="357"/>
                    <a:pt x="357" y="460"/>
                    <a:pt x="230" y="460"/>
                  </a:cubicBezTo>
                  <a:cubicBezTo>
                    <a:pt x="103" y="460"/>
                    <a:pt x="0" y="357"/>
                    <a:pt x="0" y="230"/>
                  </a:cubicBezTo>
                </a:path>
              </a:pathLst>
            </a:custGeom>
            <a:solidFill>
              <a:srgbClr val="0065BD">
                <a:alpha val="100000"/>
              </a:srgbClr>
            </a:solidFill>
            <a:ln cap="flat">
              <a:noFill/>
              <a:prstDash val="solid"/>
              <a:miter lim="0"/>
            </a:ln>
          </p:spPr>
          <p:txBody>
            <a:bodyPr rtlCol="0"/>
            <a:lstStyle/>
            <a:p>
              <a:pPr algn="ctr"/>
              <a:endParaRPr lang="zh-CN" altLang="en-US"/>
            </a:p>
          </p:txBody>
        </p:sp>
        <p:sp>
          <p:nvSpPr>
            <p:cNvPr id="798" name="textbox 798"/>
            <p:cNvSpPr/>
            <p:nvPr/>
          </p:nvSpPr>
          <p:spPr>
            <a:xfrm>
              <a:off x="-12700" y="-12699"/>
              <a:ext cx="318134" cy="373379"/>
            </a:xfrm>
            <a:prstGeom prst="rect">
              <a:avLst/>
            </a:prstGeom>
          </p:spPr>
          <p:txBody>
            <a:bodyPr vert="horz" wrap="square" lIns="0" tIns="0" rIns="0" bIns="0"/>
            <a:lstStyle/>
            <a:p>
              <a:pPr algn="l" rtl="0" eaLnBrk="0">
                <a:lnSpc>
                  <a:spcPct val="124000"/>
                </a:lnSpc>
              </a:pPr>
              <a:endParaRPr lang="en-US" altLang="en-US" sz="400" dirty="0">
                <a:latin typeface="微软雅黑" panose="020B0503020204020204" charset="-122"/>
                <a:ea typeface="微软雅黑" panose="020B0503020204020204" charset="-122"/>
              </a:endParaRPr>
            </a:p>
            <a:p>
              <a:pPr marL="111760" algn="l" rtl="0" eaLnBrk="0">
                <a:lnSpc>
                  <a:spcPct val="83000"/>
                </a:lnSpc>
                <a:spcBef>
                  <a:spcPts val="5"/>
                </a:spcBef>
              </a:pPr>
              <a:r>
                <a:rPr sz="1800" b="1" spc="0" dirty="0">
                  <a:solidFill>
                    <a:srgbClr val="FFFFFF">
                      <a:alpha val="100000"/>
                    </a:srgbClr>
                  </a:solidFill>
                  <a:latin typeface="微软雅黑" panose="020B0503020204020204" charset="-122"/>
                  <a:ea typeface="微软雅黑" panose="020B0503020204020204" charset="-122"/>
                  <a:cs typeface="Arial" panose="020B0604020202020204"/>
                </a:rPr>
                <a:t>1</a:t>
              </a:r>
              <a:endParaRPr lang="en-US" altLang="en-US" sz="1800" dirty="0">
                <a:latin typeface="微软雅黑" panose="020B0503020204020204" charset="-122"/>
                <a:ea typeface="微软雅黑" panose="020B0503020204020204" charset="-122"/>
              </a:endParaRPr>
            </a:p>
          </p:txBody>
        </p:sp>
      </p:grpSp>
      <p:sp>
        <p:nvSpPr>
          <p:cNvPr id="799" name="textbox 799"/>
          <p:cNvSpPr/>
          <p:nvPr/>
        </p:nvSpPr>
        <p:spPr>
          <a:xfrm>
            <a:off x="8818435" y="4032021"/>
            <a:ext cx="114935" cy="262890"/>
          </a:xfrm>
          <a:prstGeom prst="rect">
            <a:avLst/>
          </a:prstGeom>
        </p:spPr>
        <p:txBody>
          <a:bodyPr vert="eaVert" wrap="square" lIns="0" tIns="0" rIns="0" bIns="0"/>
          <a:lstStyle/>
          <a:p>
            <a:pPr algn="l" rtl="0" eaLnBrk="0">
              <a:lnSpc>
                <a:spcPct val="85000"/>
              </a:lnSpc>
            </a:pPr>
            <a:endParaRPr lang="en-US" altLang="en-US" sz="100" dirty="0"/>
          </a:p>
          <a:p>
            <a:pPr marL="12700" algn="l" rtl="0" eaLnBrk="0">
              <a:lnSpc>
                <a:spcPct val="79000"/>
              </a:lnSpc>
            </a:pPr>
            <a:endParaRPr sz="600" spc="-10" dirty="0">
              <a:solidFill>
                <a:srgbClr val="808080">
                  <a:alpha val="100000"/>
                </a:srgbClr>
              </a:solidFill>
              <a:latin typeface="Arial" panose="020B0604020202020204"/>
              <a:ea typeface="Arial" panose="020B0604020202020204"/>
              <a:cs typeface="Arial" panose="020B0604020202020204"/>
            </a:endParaRPr>
          </a:p>
        </p:txBody>
      </p:sp>
      <p:sp>
        <p:nvSpPr>
          <p:cNvPr id="801" name="path"/>
          <p:cNvSpPr/>
          <p:nvPr/>
        </p:nvSpPr>
        <p:spPr>
          <a:xfrm>
            <a:off x="2735090" y="1991192"/>
            <a:ext cx="86069" cy="88602"/>
          </a:xfrm>
          <a:custGeom>
            <a:avLst/>
            <a:gdLst/>
            <a:ahLst/>
            <a:cxnLst/>
            <a:rect l="0" t="0" r="0" b="0"/>
            <a:pathLst>
              <a:path w="135" h="139">
                <a:moveTo>
                  <a:pt x="132" y="6"/>
                </a:moveTo>
                <a:lnTo>
                  <a:pt x="3" y="69"/>
                </a:lnTo>
                <a:lnTo>
                  <a:pt x="132" y="133"/>
                </a:lnTo>
              </a:path>
            </a:pathLst>
          </a:custGeom>
          <a:noFill/>
          <a:ln w="9143" cap="flat">
            <a:solidFill>
              <a:srgbClr val="FFFFFF">
                <a:alpha val="100000"/>
              </a:srgbClr>
            </a:solidFill>
            <a:prstDash val="solid"/>
            <a:round/>
          </a:ln>
        </p:spPr>
        <p:txBody>
          <a:bodyPr rtlCol="0"/>
          <a:lstStyle/>
          <a:p>
            <a:pPr algn="ctr"/>
            <a:endParaRPr lang="zh-CN" altLang="en-US"/>
          </a:p>
        </p:txBody>
      </p:sp>
      <p:sp>
        <p:nvSpPr>
          <p:cNvPr id="802" name="path"/>
          <p:cNvSpPr/>
          <p:nvPr/>
        </p:nvSpPr>
        <p:spPr>
          <a:xfrm>
            <a:off x="2735209" y="4153819"/>
            <a:ext cx="86339" cy="83505"/>
          </a:xfrm>
          <a:custGeom>
            <a:avLst/>
            <a:gdLst/>
            <a:ahLst/>
            <a:cxnLst/>
            <a:rect l="0" t="0" r="0" b="0"/>
            <a:pathLst>
              <a:path w="135" h="131">
                <a:moveTo>
                  <a:pt x="132" y="6"/>
                </a:moveTo>
                <a:lnTo>
                  <a:pt x="2" y="65"/>
                </a:lnTo>
                <a:lnTo>
                  <a:pt x="132" y="124"/>
                </a:lnTo>
              </a:path>
            </a:pathLst>
          </a:custGeom>
          <a:noFill/>
          <a:ln w="9143" cap="flat">
            <a:solidFill>
              <a:srgbClr val="FFFFFF">
                <a:alpha val="100000"/>
              </a:srgbClr>
            </a:solidFill>
            <a:prstDash val="solid"/>
            <a:round/>
          </a:ln>
        </p:spPr>
        <p:txBody>
          <a:bodyPr rtlCol="0"/>
          <a:lstStyle/>
          <a:p>
            <a:pPr algn="ct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03" name="table 803"/>
          <p:cNvGraphicFramePr>
            <a:graphicFrameLocks noGrp="1"/>
          </p:cNvGraphicFramePr>
          <p:nvPr/>
        </p:nvGraphicFramePr>
        <p:xfrm>
          <a:off x="452628" y="922020"/>
          <a:ext cx="8194040" cy="5236209"/>
        </p:xfrm>
        <a:graphic>
          <a:graphicData uri="http://schemas.openxmlformats.org/drawingml/2006/table">
            <a:tbl>
              <a:tblPr/>
              <a:tblGrid>
                <a:gridCol w="4001770"/>
                <a:gridCol w="581659"/>
                <a:gridCol w="727075"/>
                <a:gridCol w="2883535"/>
              </a:tblGrid>
              <a:tr h="464819">
                <a:tc gridSpan="4">
                  <a:txBody>
                    <a:bodyPr/>
                    <a:lstStyle/>
                    <a:p>
                      <a:pPr algn="l" rtl="0" eaLnBrk="0">
                        <a:lnSpc>
                          <a:spcPct val="126000"/>
                        </a:lnSpc>
                      </a:pPr>
                      <a:endParaRPr lang="en-US" altLang="en-US" sz="1000" dirty="0">
                        <a:latin typeface="微软雅黑" panose="020B0503020204020204" charset="-122"/>
                        <a:ea typeface="微软雅黑" panose="020B0503020204020204" charset="-122"/>
                      </a:endParaRPr>
                    </a:p>
                    <a:p>
                      <a:pPr marL="4854575" algn="l" rtl="0" eaLnBrk="0">
                        <a:lnSpc>
                          <a:spcPts val="1810"/>
                        </a:lnSpc>
                        <a:spcBef>
                          <a:spcPts val="0"/>
                        </a:spcBef>
                      </a:pPr>
                      <a:r>
                        <a:rPr sz="1500" spc="100" dirty="0">
                          <a:ln w="5799"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客户层</a:t>
                      </a:r>
                      <a:r>
                        <a:rPr sz="1500" spc="90" dirty="0">
                          <a:ln w="5799"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级</a:t>
                      </a:r>
                      <a:endParaRPr lang="en-US" altLang="en-US" sz="1500" dirty="0">
                        <a:latin typeface="微软雅黑" panose="020B0503020204020204" charset="-122"/>
                        <a:ea typeface="微软雅黑" panose="020B0503020204020204" charset="-122"/>
                      </a:endParaRPr>
                    </a:p>
                  </a:txBody>
                  <a:tcPr marL="0" marR="0" marT="0" marB="0">
                    <a:lnL w="19050" cap="flat" cmpd="sng" algn="ctr">
                      <a:solidFill>
                        <a:srgbClr val="C5C5C5"/>
                      </a:solidFill>
                      <a:prstDash val="solid"/>
                      <a:round/>
                      <a:headEnd type="none" w="med" len="med"/>
                      <a:tailEnd type="none" w="med" len="med"/>
                    </a:lnL>
                    <a:lnR w="19050" cap="flat" cmpd="sng" algn="ctr">
                      <a:solidFill>
                        <a:srgbClr val="C5C5C5"/>
                      </a:solidFill>
                      <a:prstDash val="solid"/>
                      <a:round/>
                      <a:headEnd type="none" w="med" len="med"/>
                      <a:tailEnd type="none" w="med" len="med"/>
                    </a:lnR>
                    <a:lnT w="3175" cap="flat" cmpd="sng" algn="ctr">
                      <a:solidFill>
                        <a:srgbClr val="C5C5C5"/>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hMerge="1">
                  <a:tcPr marL="0" marR="0" marT="0" marB="0">
                    <a:lnL w="19050" cap="flat" cmpd="sng" algn="ctr">
                      <a:solidFill>
                        <a:srgbClr val="C5C5C5"/>
                      </a:solidFill>
                      <a:prstDash val="solid"/>
                      <a:round/>
                      <a:headEnd type="none" w="med" len="med"/>
                      <a:tailEnd type="none" w="med" len="med"/>
                    </a:lnL>
                    <a:lnR w="19050" cap="flat" cmpd="sng" algn="ctr">
                      <a:solidFill>
                        <a:srgbClr val="C5C5C5"/>
                      </a:solidFill>
                      <a:prstDash val="solid"/>
                      <a:round/>
                      <a:headEnd type="none" w="med" len="med"/>
                      <a:tailEnd type="none" w="med" len="med"/>
                    </a:lnR>
                    <a:lnT w="3175" cap="flat" cmpd="sng" algn="ctr">
                      <a:solidFill>
                        <a:srgbClr val="C5C5C5"/>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hMerge="1">
                  <a:tcPr marL="0" marR="0" marT="0" marB="0">
                    <a:lnL w="19050" cap="flat" cmpd="sng" algn="ctr">
                      <a:solidFill>
                        <a:srgbClr val="C5C5C5"/>
                      </a:solidFill>
                      <a:prstDash val="solid"/>
                      <a:round/>
                      <a:headEnd type="none" w="med" len="med"/>
                      <a:tailEnd type="none" w="med" len="med"/>
                    </a:lnL>
                    <a:lnR w="19050" cap="flat" cmpd="sng" algn="ctr">
                      <a:solidFill>
                        <a:srgbClr val="C5C5C5"/>
                      </a:solidFill>
                      <a:prstDash val="solid"/>
                      <a:round/>
                      <a:headEnd type="none" w="med" len="med"/>
                      <a:tailEnd type="none" w="med" len="med"/>
                    </a:lnR>
                    <a:lnT w="3175" cap="flat" cmpd="sng" algn="ctr">
                      <a:solidFill>
                        <a:srgbClr val="C5C5C5"/>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hMerge="1">
                  <a:tcPr marL="0" marR="0" marT="0" marB="0">
                    <a:lnL w="19050" cap="flat" cmpd="sng" algn="ctr">
                      <a:solidFill>
                        <a:srgbClr val="C5C5C5"/>
                      </a:solidFill>
                      <a:prstDash val="solid"/>
                      <a:round/>
                      <a:headEnd type="none" w="med" len="med"/>
                      <a:tailEnd type="none" w="med" len="med"/>
                    </a:lnL>
                    <a:lnR w="19050" cap="flat" cmpd="sng" algn="ctr">
                      <a:solidFill>
                        <a:srgbClr val="C5C5C5"/>
                      </a:solidFill>
                      <a:prstDash val="solid"/>
                      <a:round/>
                      <a:headEnd type="none" w="med" len="med"/>
                      <a:tailEnd type="none" w="med" len="med"/>
                    </a:lnR>
                    <a:lnT w="3175" cap="flat" cmpd="sng" algn="ctr">
                      <a:solidFill>
                        <a:srgbClr val="C5C5C5"/>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r>
              <a:tr h="667384">
                <a:tc>
                  <a:txBody>
                    <a:bodyPr/>
                    <a:lstStyle/>
                    <a:p>
                      <a:pPr algn="l" rtl="0" eaLnBrk="0">
                        <a:lnSpc>
                          <a:spcPct val="102000"/>
                        </a:lnSpc>
                      </a:pPr>
                      <a:endParaRPr lang="en-US" altLang="en-US" sz="900" dirty="0">
                        <a:latin typeface="微软雅黑" panose="020B0503020204020204" charset="-122"/>
                        <a:ea typeface="微软雅黑" panose="020B0503020204020204" charset="-122"/>
                      </a:endParaRPr>
                    </a:p>
                    <a:p>
                      <a:pPr marL="1919605" indent="-186055" algn="l" rtl="0" eaLnBrk="0">
                        <a:lnSpc>
                          <a:spcPct val="108000"/>
                        </a:lnSpc>
                        <a:spcBef>
                          <a:spcPts val="5"/>
                        </a:spcBef>
                      </a:pPr>
                      <a:r>
                        <a:rPr sz="1500" spc="8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80" dirty="0">
                          <a:solidFill>
                            <a:srgbClr val="000000">
                              <a:alpha val="100000"/>
                            </a:srgbClr>
                          </a:solidFill>
                          <a:latin typeface="微软雅黑" panose="020B0503020204020204" charset="-122"/>
                          <a:ea typeface="微软雅黑" panose="020B0503020204020204" charset="-122"/>
                          <a:cs typeface="楷体" panose="02010609060101010101" charset="-122"/>
                        </a:rPr>
                        <a:t>客户对产品的总需</a:t>
                      </a:r>
                      <a:r>
                        <a:rPr sz="1500" spc="60" dirty="0">
                          <a:solidFill>
                            <a:srgbClr val="000000">
                              <a:alpha val="100000"/>
                            </a:srgbClr>
                          </a:solidFill>
                          <a:latin typeface="微软雅黑" panose="020B0503020204020204" charset="-122"/>
                          <a:ea typeface="微软雅黑" panose="020B0503020204020204" charset="-122"/>
                          <a:cs typeface="楷体" panose="02010609060101010101" charset="-122"/>
                        </a:rPr>
                        <a:t>求</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70" dirty="0">
                          <a:solidFill>
                            <a:srgbClr val="000000">
                              <a:alpha val="100000"/>
                            </a:srgbClr>
                          </a:solidFill>
                          <a:latin typeface="微软雅黑" panose="020B0503020204020204" charset="-122"/>
                          <a:ea typeface="微软雅黑" panose="020B0503020204020204" charset="-122"/>
                          <a:cs typeface="楷体" panose="02010609060101010101" charset="-122"/>
                        </a:rPr>
                        <a:t>量多大</a:t>
                      </a:r>
                      <a:r>
                        <a:rPr sz="1500" spc="30" dirty="0">
                          <a:solidFill>
                            <a:srgbClr val="000000">
                              <a:alpha val="100000"/>
                            </a:srgbClr>
                          </a:solidFill>
                          <a:latin typeface="微软雅黑" panose="020B0503020204020204" charset="-122"/>
                          <a:ea typeface="微软雅黑" panose="020B0503020204020204" charset="-122"/>
                          <a:cs typeface="楷体" panose="02010609060101010101" charset="-122"/>
                        </a:rPr>
                        <a:t>？</a:t>
                      </a:r>
                      <a:endParaRPr lang="en-US" altLang="en-US" sz="1500" dirty="0">
                        <a:latin typeface="微软雅黑" panose="020B0503020204020204" charset="-122"/>
                        <a:ea typeface="微软雅黑" panose="020B0503020204020204" charset="-122"/>
                      </a:endParaRPr>
                    </a:p>
                  </a:txBody>
                  <a:tcPr marL="0" marR="0" marT="0" marB="0">
                    <a:lnL w="19050" cap="flat" cmpd="sng" algn="ctr">
                      <a:solidFill>
                        <a:srgbClr val="C5C5C5"/>
                      </a:solidFill>
                      <a:prstDash val="solid"/>
                      <a:round/>
                      <a:headEnd type="none" w="med" len="med"/>
                      <a:tailEnd type="none" w="med" len="med"/>
                    </a:lnL>
                    <a:lnR>
                      <a:noFill/>
                    </a:lnR>
                    <a:lnT w="3175" cap="flat" cmpd="sng" algn="ctr">
                      <a:solidFill>
                        <a:srgbClr val="808080"/>
                      </a:solidFill>
                      <a:prstDash val="solid"/>
                      <a:round/>
                      <a:headEnd type="none" w="med" len="med"/>
                      <a:tailEnd type="none" w="med" len="med"/>
                    </a:lnT>
                    <a:lnB>
                      <a:noFill/>
                    </a:lnB>
                  </a:tcPr>
                </a:tc>
                <a:tc rowSpan="5">
                  <a:txBody>
                    <a:bodyPr/>
                    <a:lstStyle/>
                    <a:p>
                      <a:pPr algn="l" rtl="0" eaLnBrk="0">
                        <a:lnSpc>
                          <a:spcPct val="100000"/>
                        </a:lnSpc>
                      </a:pPr>
                      <a:endParaRPr lang="en-US" altLang="en-US" sz="1000" dirty="0">
                        <a:ea typeface="微软雅黑" panose="020B0503020204020204" charset="-122"/>
                      </a:endParaRPr>
                    </a:p>
                  </a:txBody>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C5C5C5"/>
                      </a:solidFill>
                      <a:prstDash val="solid"/>
                      <a:round/>
                      <a:headEnd type="none" w="med" len="med"/>
                      <a:tailEnd type="none" w="med" len="med"/>
                    </a:lnB>
                  </a:tcPr>
                </a:tc>
                <a:tc rowSpan="2">
                  <a:txBody>
                    <a:bodyPr/>
                    <a:lstStyle/>
                    <a:p>
                      <a:pPr algn="l" rtl="0" eaLnBrk="0">
                        <a:lnSpc>
                          <a:spcPct val="111000"/>
                        </a:lnSpc>
                      </a:pPr>
                      <a:endParaRPr lang="en-US" altLang="en-US" sz="1000" dirty="0">
                        <a:latin typeface="微软雅黑" panose="020B0503020204020204" charset="-122"/>
                        <a:ea typeface="微软雅黑" panose="020B0503020204020204" charset="-122"/>
                      </a:endParaRPr>
                    </a:p>
                    <a:p>
                      <a:pPr algn="l" rtl="0" eaLnBrk="0">
                        <a:lnSpc>
                          <a:spcPct val="112000"/>
                        </a:lnSpc>
                      </a:pPr>
                      <a:endParaRPr lang="en-US" altLang="en-US" sz="1000" dirty="0">
                        <a:latin typeface="微软雅黑" panose="020B0503020204020204" charset="-122"/>
                        <a:ea typeface="微软雅黑" panose="020B0503020204020204" charset="-122"/>
                      </a:endParaRPr>
                    </a:p>
                    <a:p>
                      <a:pPr algn="l" rtl="0" eaLnBrk="0">
                        <a:lnSpc>
                          <a:spcPct val="112000"/>
                        </a:lnSpc>
                      </a:pPr>
                      <a:endParaRPr lang="en-US" altLang="en-US" sz="1000" dirty="0">
                        <a:latin typeface="微软雅黑" panose="020B0503020204020204" charset="-122"/>
                        <a:ea typeface="微软雅黑" panose="020B0503020204020204" charset="-122"/>
                      </a:endParaRPr>
                    </a:p>
                    <a:p>
                      <a:pPr algn="l" rtl="0" eaLnBrk="0">
                        <a:lnSpc>
                          <a:spcPct val="112000"/>
                        </a:lnSpc>
                      </a:pPr>
                      <a:endParaRPr lang="en-US" altLang="en-US" sz="1000" dirty="0">
                        <a:latin typeface="微软雅黑" panose="020B0503020204020204" charset="-122"/>
                        <a:ea typeface="微软雅黑" panose="020B0503020204020204" charset="-122"/>
                      </a:endParaRPr>
                    </a:p>
                    <a:p>
                      <a:pPr marL="269240" indent="-635" algn="l" rtl="0" eaLnBrk="0">
                        <a:lnSpc>
                          <a:spcPct val="107000"/>
                        </a:lnSpc>
                      </a:pPr>
                      <a:r>
                        <a:rPr sz="1500" spc="10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粮</a:t>
                      </a:r>
                      <a:r>
                        <a:rPr sz="1500" spc="9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仓</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10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客</a:t>
                      </a:r>
                      <a:r>
                        <a:rPr sz="1500" spc="8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户</a:t>
                      </a:r>
                      <a:endParaRPr lang="en-US" altLang="en-US" sz="1500" dirty="0">
                        <a:latin typeface="微软雅黑" panose="020B0503020204020204" charset="-122"/>
                        <a:ea typeface="微软雅黑" panose="020B0503020204020204" charset="-122"/>
                      </a:endParaRPr>
                    </a:p>
                  </a:txBody>
                  <a:tcPr marL="0" marR="0" marT="0" marB="0">
                    <a:lnL>
                      <a:noFill/>
                    </a:lnL>
                    <a:lnR>
                      <a:noFill/>
                    </a:lnR>
                    <a:lnT w="3175" cap="flat" cmpd="sng" algn="ctr">
                      <a:solidFill>
                        <a:srgbClr val="808080"/>
                      </a:solidFill>
                      <a:prstDash val="solid"/>
                      <a:round/>
                      <a:headEnd type="none" w="med" len="med"/>
                      <a:tailEnd type="none" w="med" len="med"/>
                    </a:lnT>
                    <a:lnB>
                      <a:noFill/>
                    </a:lnB>
                  </a:tcPr>
                </a:tc>
                <a:tc rowSpan="5">
                  <a:txBody>
                    <a:bodyPr/>
                    <a:lstStyle/>
                    <a:p>
                      <a:pPr algn="l" rtl="0" eaLnBrk="0">
                        <a:lnSpc>
                          <a:spcPct val="120000"/>
                        </a:lnSpc>
                      </a:pPr>
                      <a:endParaRPr lang="en-US" altLang="en-US" sz="1000" dirty="0">
                        <a:latin typeface="微软雅黑" panose="020B0503020204020204" charset="-122"/>
                        <a:ea typeface="微软雅黑" panose="020B0503020204020204" charset="-122"/>
                      </a:endParaRPr>
                    </a:p>
                    <a:p>
                      <a:pPr algn="l" rtl="0" eaLnBrk="0">
                        <a:lnSpc>
                          <a:spcPct val="120000"/>
                        </a:lnSpc>
                      </a:pPr>
                      <a:endParaRPr lang="en-US" altLang="en-US" sz="1000" dirty="0">
                        <a:latin typeface="微软雅黑" panose="020B0503020204020204" charset="-122"/>
                        <a:ea typeface="微软雅黑" panose="020B0503020204020204" charset="-122"/>
                      </a:endParaRPr>
                    </a:p>
                    <a:p>
                      <a:pPr marL="1616710" indent="6985" algn="l" rtl="0" eaLnBrk="0">
                        <a:lnSpc>
                          <a:spcPct val="102000"/>
                        </a:lnSpc>
                        <a:spcBef>
                          <a:spcPts val="0"/>
                        </a:spcBef>
                      </a:pPr>
                      <a:r>
                        <a:rPr sz="1500" spc="50" dirty="0">
                          <a:ln w="571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大、</a:t>
                      </a:r>
                      <a:r>
                        <a:rPr sz="1500" spc="20" dirty="0">
                          <a:ln w="571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稳</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80" dirty="0">
                          <a:ln w="571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定、利</a:t>
                      </a:r>
                      <a:r>
                        <a:rPr sz="1500" spc="50" dirty="0">
                          <a:ln w="571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润</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0" dirty="0">
                          <a:ln w="571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高</a:t>
                      </a:r>
                      <a:endParaRPr lang="en-US" altLang="en-US" sz="1500" dirty="0">
                        <a:latin typeface="微软雅黑" panose="020B0503020204020204" charset="-122"/>
                        <a:ea typeface="微软雅黑" panose="020B0503020204020204" charset="-122"/>
                      </a:endParaRPr>
                    </a:p>
                    <a:p>
                      <a:pPr marL="1610995" indent="13335" algn="l" rtl="0" eaLnBrk="0">
                        <a:lnSpc>
                          <a:spcPct val="103000"/>
                        </a:lnSpc>
                        <a:spcBef>
                          <a:spcPts val="50"/>
                        </a:spcBef>
                      </a:pPr>
                      <a:r>
                        <a:rPr sz="1500" spc="50" dirty="0">
                          <a:ln w="5746"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大、</a:t>
                      </a:r>
                      <a:r>
                        <a:rPr sz="1500" spc="20" dirty="0">
                          <a:ln w="5746"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稳</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90" dirty="0">
                          <a:ln w="5746"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定、利</a:t>
                      </a:r>
                      <a:r>
                        <a:rPr sz="1500" spc="70" dirty="0">
                          <a:ln w="5746"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润</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70" dirty="0">
                          <a:ln w="5746"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一</a:t>
                      </a:r>
                      <a:r>
                        <a:rPr sz="1500" spc="50" dirty="0">
                          <a:ln w="5746"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般</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90" dirty="0">
                          <a:ln w="5746"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大、不</a:t>
                      </a:r>
                      <a:r>
                        <a:rPr sz="1500" spc="70" dirty="0">
                          <a:ln w="5746"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稳</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0" dirty="0">
                          <a:ln w="5746"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定</a:t>
                      </a:r>
                      <a:endParaRPr lang="en-US" altLang="en-US" sz="1500" dirty="0">
                        <a:latin typeface="微软雅黑" panose="020B0503020204020204" charset="-122"/>
                        <a:ea typeface="微软雅黑" panose="020B0503020204020204" charset="-122"/>
                      </a:endParaRPr>
                    </a:p>
                    <a:p>
                      <a:pPr marL="1616710" indent="13970" algn="l" rtl="0" eaLnBrk="0">
                        <a:lnSpc>
                          <a:spcPct val="101000"/>
                        </a:lnSpc>
                        <a:spcBef>
                          <a:spcPts val="1235"/>
                        </a:spcBef>
                      </a:pPr>
                      <a:r>
                        <a:rPr sz="1500" spc="30" dirty="0">
                          <a:ln w="5657"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中、</a:t>
                      </a:r>
                      <a:r>
                        <a:rPr sz="1500" spc="10" dirty="0">
                          <a:ln w="5657"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稳</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80" dirty="0">
                          <a:ln w="5657"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定、利</a:t>
                      </a:r>
                      <a:r>
                        <a:rPr sz="1500" spc="50" dirty="0">
                          <a:ln w="5657"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润</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0" dirty="0">
                          <a:ln w="5657"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高</a:t>
                      </a:r>
                      <a:endParaRPr lang="en-US" altLang="en-US" sz="1500" dirty="0">
                        <a:latin typeface="微软雅黑" panose="020B0503020204020204" charset="-122"/>
                        <a:ea typeface="微软雅黑" panose="020B0503020204020204" charset="-122"/>
                      </a:endParaRPr>
                    </a:p>
                    <a:p>
                      <a:pPr marL="1610995" indent="20320" algn="l" rtl="0" eaLnBrk="0">
                        <a:lnSpc>
                          <a:spcPct val="102000"/>
                        </a:lnSpc>
                        <a:spcBef>
                          <a:spcPts val="5"/>
                        </a:spcBef>
                      </a:pPr>
                      <a:r>
                        <a:rPr sz="1500" spc="30" dirty="0">
                          <a:ln w="5657"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中、</a:t>
                      </a:r>
                      <a:r>
                        <a:rPr sz="1500" spc="10" dirty="0">
                          <a:ln w="5657"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稳</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90" dirty="0">
                          <a:ln w="5657"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定、利</a:t>
                      </a:r>
                      <a:r>
                        <a:rPr sz="1500" spc="70" dirty="0">
                          <a:ln w="5657"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润</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70" dirty="0">
                          <a:ln w="5657"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一</a:t>
                      </a:r>
                      <a:r>
                        <a:rPr sz="1500" spc="50" dirty="0">
                          <a:ln w="5657"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般</a:t>
                      </a:r>
                      <a:endParaRPr lang="en-US" altLang="en-US" sz="1500" dirty="0">
                        <a:latin typeface="微软雅黑" panose="020B0503020204020204" charset="-122"/>
                        <a:ea typeface="微软雅黑" panose="020B0503020204020204" charset="-122"/>
                      </a:endParaRPr>
                    </a:p>
                    <a:p>
                      <a:pPr algn="l" rtl="0" eaLnBrk="0">
                        <a:lnSpc>
                          <a:spcPct val="158000"/>
                        </a:lnSpc>
                      </a:pPr>
                      <a:endParaRPr lang="en-US" altLang="en-US" sz="1000" dirty="0">
                        <a:latin typeface="微软雅黑" panose="020B0503020204020204" charset="-122"/>
                        <a:ea typeface="微软雅黑" panose="020B0503020204020204" charset="-122"/>
                      </a:endParaRPr>
                    </a:p>
                    <a:p>
                      <a:pPr algn="l" rtl="0" eaLnBrk="0">
                        <a:lnSpc>
                          <a:spcPct val="127000"/>
                        </a:lnSpc>
                      </a:pPr>
                      <a:endParaRPr lang="en-US" altLang="en-US" sz="300" dirty="0">
                        <a:latin typeface="微软雅黑" panose="020B0503020204020204" charset="-122"/>
                        <a:ea typeface="微软雅黑" panose="020B0503020204020204" charset="-122"/>
                      </a:endParaRPr>
                    </a:p>
                    <a:p>
                      <a:pPr marL="1609090" algn="l" rtl="0" eaLnBrk="0">
                        <a:lnSpc>
                          <a:spcPts val="1810"/>
                        </a:lnSpc>
                        <a:spcBef>
                          <a:spcPts val="5"/>
                        </a:spcBef>
                      </a:pPr>
                      <a:r>
                        <a:rPr sz="1500" spc="9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投机客</a:t>
                      </a:r>
                      <a:r>
                        <a:rPr sz="1500" spc="8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户</a:t>
                      </a:r>
                      <a:endParaRPr lang="en-US" altLang="en-US" sz="1500" dirty="0">
                        <a:latin typeface="微软雅黑" panose="020B0503020204020204" charset="-122"/>
                        <a:ea typeface="微软雅黑" panose="020B0503020204020204" charset="-122"/>
                      </a:endParaRPr>
                    </a:p>
                  </a:txBody>
                  <a:tcPr marL="0" marR="0" marT="0" marB="0">
                    <a:lnL>
                      <a:noFill/>
                    </a:lnL>
                    <a:lnR w="19050" cap="flat" cmpd="sng" algn="ctr">
                      <a:solidFill>
                        <a:srgbClr val="C5C5C5"/>
                      </a:solidFill>
                      <a:prstDash val="solid"/>
                      <a:round/>
                      <a:headEnd type="none" w="med" len="med"/>
                      <a:tailEnd type="none" w="med" len="med"/>
                    </a:lnR>
                    <a:lnT w="3175" cap="flat" cmpd="sng" algn="ctr">
                      <a:solidFill>
                        <a:srgbClr val="808080"/>
                      </a:solidFill>
                      <a:prstDash val="solid"/>
                      <a:round/>
                      <a:headEnd type="none" w="med" len="med"/>
                      <a:tailEnd type="none" w="med" len="med"/>
                    </a:lnT>
                    <a:lnB w="3175" cap="flat" cmpd="sng" algn="ctr">
                      <a:solidFill>
                        <a:srgbClr val="C5C5C5"/>
                      </a:solidFill>
                      <a:prstDash val="solid"/>
                      <a:round/>
                      <a:headEnd type="none" w="med" len="med"/>
                      <a:tailEnd type="none" w="med" len="med"/>
                    </a:lnB>
                  </a:tcPr>
                </a:tc>
              </a:tr>
              <a:tr h="1096010">
                <a:tc rowSpan="3">
                  <a:txBody>
                    <a:bodyPr/>
                    <a:lstStyle/>
                    <a:p>
                      <a:pPr algn="l" rtl="0" eaLnBrk="0">
                        <a:lnSpc>
                          <a:spcPct val="100000"/>
                        </a:lnSpc>
                      </a:pPr>
                      <a:endParaRPr lang="en-US" altLang="en-US" sz="1000" dirty="0">
                        <a:ea typeface="微软雅黑" panose="020B0503020204020204" charset="-122"/>
                      </a:endParaRPr>
                    </a:p>
                  </a:txBody>
                  <a:tcPr marL="0" marR="0" marT="0" marB="0">
                    <a:lnL w="19050" cap="flat" cmpd="sng" algn="ctr">
                      <a:solidFill>
                        <a:srgbClr val="C5C5C5"/>
                      </a:solidFill>
                      <a:prstDash val="solid"/>
                      <a:round/>
                      <a:headEnd type="none" w="med" len="med"/>
                      <a:tailEnd type="none" w="med" len="med"/>
                    </a:lnL>
                    <a:lnR>
                      <a:noFill/>
                    </a:lnR>
                    <a:lnT>
                      <a:noFill/>
                    </a:lnT>
                    <a:lnB>
                      <a:noFill/>
                    </a:lnB>
                  </a:tcPr>
                </a:tc>
                <a:tc vMerge="1">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C5C5C5"/>
                      </a:solidFill>
                      <a:prstDash val="solid"/>
                      <a:round/>
                      <a:headEnd type="none" w="med" len="med"/>
                      <a:tailEnd type="none" w="med" len="med"/>
                    </a:lnB>
                  </a:tcPr>
                </a:tc>
                <a:tc vMerge="1">
                  <a:tcPr marL="0" marR="0" marT="0" marB="0">
                    <a:lnL>
                      <a:noFill/>
                    </a:lnL>
                    <a:lnR>
                      <a:noFill/>
                    </a:lnR>
                    <a:lnT w="3175" cap="flat" cmpd="sng" algn="ctr">
                      <a:solidFill>
                        <a:srgbClr val="808080"/>
                      </a:solidFill>
                      <a:prstDash val="solid"/>
                      <a:round/>
                      <a:headEnd type="none" w="med" len="med"/>
                      <a:tailEnd type="none" w="med" len="med"/>
                    </a:lnT>
                    <a:lnB>
                      <a:noFill/>
                    </a:lnB>
                  </a:tcPr>
                </a:tc>
                <a:tc vMerge="1">
                  <a:tcPr marL="0" marR="0" marT="0" marB="0">
                    <a:lnL>
                      <a:noFill/>
                    </a:lnL>
                    <a:lnR w="19050" cap="flat" cmpd="sng" algn="ctr">
                      <a:solidFill>
                        <a:srgbClr val="C5C5C5"/>
                      </a:solidFill>
                      <a:prstDash val="solid"/>
                      <a:round/>
                      <a:headEnd type="none" w="med" len="med"/>
                      <a:tailEnd type="none" w="med" len="med"/>
                    </a:lnR>
                    <a:lnT w="3175" cap="flat" cmpd="sng" algn="ctr">
                      <a:solidFill>
                        <a:srgbClr val="808080"/>
                      </a:solidFill>
                      <a:prstDash val="solid"/>
                      <a:round/>
                      <a:headEnd type="none" w="med" len="med"/>
                      <a:tailEnd type="none" w="med" len="med"/>
                    </a:lnT>
                    <a:lnB w="3175" cap="flat" cmpd="sng" algn="ctr">
                      <a:solidFill>
                        <a:srgbClr val="C5C5C5"/>
                      </a:solidFill>
                      <a:prstDash val="solid"/>
                      <a:round/>
                      <a:headEnd type="none" w="med" len="med"/>
                      <a:tailEnd type="none" w="med" len="med"/>
                    </a:lnB>
                  </a:tcPr>
                </a:tc>
              </a:tr>
              <a:tr h="1554480">
                <a:tc vMerge="1">
                  <a:tcPr marL="0" marR="0" marT="0" marB="0">
                    <a:lnL w="19050" cap="flat" cmpd="sng" algn="ctr">
                      <a:solidFill>
                        <a:srgbClr val="C5C5C5"/>
                      </a:solidFill>
                      <a:prstDash val="solid"/>
                      <a:round/>
                      <a:headEnd type="none" w="med" len="med"/>
                      <a:tailEnd type="none" w="med" len="med"/>
                    </a:lnL>
                    <a:lnR>
                      <a:noFill/>
                    </a:lnR>
                    <a:lnT>
                      <a:noFill/>
                    </a:lnT>
                    <a:lnB>
                      <a:noFill/>
                    </a:lnB>
                  </a:tcPr>
                </a:tc>
                <a:tc vMerge="1">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C5C5C5"/>
                      </a:solidFill>
                      <a:prstDash val="solid"/>
                      <a:round/>
                      <a:headEnd type="none" w="med" len="med"/>
                      <a:tailEnd type="none" w="med" len="med"/>
                    </a:lnB>
                  </a:tcPr>
                </a:tc>
                <a:tc>
                  <a:txBody>
                    <a:bodyPr/>
                    <a:lstStyle/>
                    <a:p>
                      <a:pPr algn="l" rtl="0" eaLnBrk="0">
                        <a:lnSpc>
                          <a:spcPct val="130000"/>
                        </a:lnSpc>
                      </a:pPr>
                      <a:endParaRPr lang="en-US" altLang="en-US" sz="1000" dirty="0">
                        <a:latin typeface="微软雅黑" panose="020B0503020204020204" charset="-122"/>
                        <a:ea typeface="微软雅黑" panose="020B0503020204020204" charset="-122"/>
                      </a:endParaRPr>
                    </a:p>
                    <a:p>
                      <a:pPr algn="l" rtl="0" eaLnBrk="0">
                        <a:lnSpc>
                          <a:spcPct val="130000"/>
                        </a:lnSpc>
                      </a:pPr>
                      <a:endParaRPr lang="en-US" altLang="en-US" sz="1000" dirty="0">
                        <a:latin typeface="微软雅黑" panose="020B0503020204020204" charset="-122"/>
                        <a:ea typeface="微软雅黑" panose="020B0503020204020204" charset="-122"/>
                      </a:endParaRPr>
                    </a:p>
                    <a:p>
                      <a:pPr algn="l" rtl="0" eaLnBrk="0">
                        <a:lnSpc>
                          <a:spcPct val="130000"/>
                        </a:lnSpc>
                      </a:pPr>
                      <a:endParaRPr lang="en-US" altLang="en-US" sz="1000" dirty="0">
                        <a:latin typeface="微软雅黑" panose="020B0503020204020204" charset="-122"/>
                        <a:ea typeface="微软雅黑" panose="020B0503020204020204" charset="-122"/>
                      </a:endParaRPr>
                    </a:p>
                    <a:p>
                      <a:pPr marL="269240" indent="15240" algn="l" rtl="0" eaLnBrk="0">
                        <a:lnSpc>
                          <a:spcPct val="107000"/>
                        </a:lnSpc>
                        <a:spcBef>
                          <a:spcPts val="0"/>
                        </a:spcBef>
                      </a:pPr>
                      <a:r>
                        <a:rPr sz="1500" spc="4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关</a:t>
                      </a:r>
                      <a:r>
                        <a:rPr sz="1500" spc="2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注</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10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客</a:t>
                      </a:r>
                      <a:r>
                        <a:rPr sz="1500" spc="8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户</a:t>
                      </a:r>
                      <a:endParaRPr lang="en-US" altLang="en-US" sz="1500" dirty="0">
                        <a:latin typeface="微软雅黑" panose="020B0503020204020204" charset="-122"/>
                        <a:ea typeface="微软雅黑" panose="020B0503020204020204" charset="-122"/>
                      </a:endParaRPr>
                    </a:p>
                  </a:txBody>
                  <a:tcPr marL="0" marR="0" marT="0" marB="0">
                    <a:lnL>
                      <a:noFill/>
                    </a:lnL>
                    <a:lnR>
                      <a:noFill/>
                    </a:lnR>
                    <a:lnT>
                      <a:noFill/>
                    </a:lnT>
                    <a:lnB>
                      <a:noFill/>
                    </a:lnB>
                  </a:tcPr>
                </a:tc>
                <a:tc vMerge="1">
                  <a:tcPr marL="0" marR="0" marT="0" marB="0">
                    <a:lnL>
                      <a:noFill/>
                    </a:lnL>
                    <a:lnR w="19050" cap="flat" cmpd="sng" algn="ctr">
                      <a:solidFill>
                        <a:srgbClr val="C5C5C5"/>
                      </a:solidFill>
                      <a:prstDash val="solid"/>
                      <a:round/>
                      <a:headEnd type="none" w="med" len="med"/>
                      <a:tailEnd type="none" w="med" len="med"/>
                    </a:lnR>
                    <a:lnT w="3175" cap="flat" cmpd="sng" algn="ctr">
                      <a:solidFill>
                        <a:srgbClr val="808080"/>
                      </a:solidFill>
                      <a:prstDash val="solid"/>
                      <a:round/>
                      <a:headEnd type="none" w="med" len="med"/>
                      <a:tailEnd type="none" w="med" len="med"/>
                    </a:lnT>
                    <a:lnB w="3175" cap="flat" cmpd="sng" algn="ctr">
                      <a:solidFill>
                        <a:srgbClr val="C5C5C5"/>
                      </a:solidFill>
                      <a:prstDash val="solid"/>
                      <a:round/>
                      <a:headEnd type="none" w="med" len="med"/>
                      <a:tailEnd type="none" w="med" len="med"/>
                    </a:lnB>
                  </a:tcPr>
                </a:tc>
              </a:tr>
              <a:tr h="154304">
                <a:tc vMerge="1">
                  <a:tcPr marL="0" marR="0" marT="0" marB="0">
                    <a:lnL w="19050" cap="flat" cmpd="sng" algn="ctr">
                      <a:solidFill>
                        <a:srgbClr val="C5C5C5"/>
                      </a:solidFill>
                      <a:prstDash val="solid"/>
                      <a:round/>
                      <a:headEnd type="none" w="med" len="med"/>
                      <a:tailEnd type="none" w="med" len="med"/>
                    </a:lnL>
                    <a:lnR>
                      <a:noFill/>
                    </a:lnR>
                    <a:lnT>
                      <a:noFill/>
                    </a:lnT>
                    <a:lnB>
                      <a:noFill/>
                    </a:lnB>
                  </a:tcPr>
                </a:tc>
                <a:tc vMerge="1">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C5C5C5"/>
                      </a:solidFill>
                      <a:prstDash val="solid"/>
                      <a:round/>
                      <a:headEnd type="none" w="med" len="med"/>
                      <a:tailEnd type="none" w="med" len="med"/>
                    </a:lnB>
                  </a:tcPr>
                </a:tc>
                <a:tc rowSpan="2">
                  <a:txBody>
                    <a:bodyPr/>
                    <a:lstStyle/>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marL="269875" indent="-199390" algn="l" rtl="0" eaLnBrk="0">
                        <a:lnSpc>
                          <a:spcPct val="107000"/>
                        </a:lnSpc>
                        <a:spcBef>
                          <a:spcPts val="5"/>
                        </a:spcBef>
                      </a:pPr>
                      <a:r>
                        <a:rPr sz="1500" spc="9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非关</a:t>
                      </a:r>
                      <a:r>
                        <a:rPr sz="1500" spc="7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注</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10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客</a:t>
                      </a:r>
                      <a:r>
                        <a:rPr sz="1500" spc="8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户</a:t>
                      </a:r>
                      <a:endParaRPr lang="en-US" altLang="en-US" sz="1500" dirty="0">
                        <a:latin typeface="微软雅黑" panose="020B0503020204020204" charset="-122"/>
                        <a:ea typeface="微软雅黑" panose="020B0503020204020204" charset="-122"/>
                      </a:endParaRPr>
                    </a:p>
                  </a:txBody>
                  <a:tcPr marL="0" marR="0" marT="0" marB="0">
                    <a:lnL>
                      <a:noFill/>
                    </a:lnL>
                    <a:lnR>
                      <a:noFill/>
                    </a:lnR>
                    <a:lnT>
                      <a:noFill/>
                    </a:lnT>
                    <a:lnB w="3175" cap="flat" cmpd="sng" algn="ctr">
                      <a:solidFill>
                        <a:srgbClr val="C5C5C5"/>
                      </a:solidFill>
                      <a:prstDash val="solid"/>
                      <a:round/>
                      <a:headEnd type="none" w="med" len="med"/>
                      <a:tailEnd type="none" w="med" len="med"/>
                    </a:lnB>
                  </a:tcPr>
                </a:tc>
                <a:tc vMerge="1">
                  <a:tcPr marL="0" marR="0" marT="0" marB="0">
                    <a:lnL>
                      <a:noFill/>
                    </a:lnL>
                    <a:lnR w="19050" cap="flat" cmpd="sng" algn="ctr">
                      <a:solidFill>
                        <a:srgbClr val="C5C5C5"/>
                      </a:solidFill>
                      <a:prstDash val="solid"/>
                      <a:round/>
                      <a:headEnd type="none" w="med" len="med"/>
                      <a:tailEnd type="none" w="med" len="med"/>
                    </a:lnR>
                    <a:lnT w="3175" cap="flat" cmpd="sng" algn="ctr">
                      <a:solidFill>
                        <a:srgbClr val="808080"/>
                      </a:solidFill>
                      <a:prstDash val="solid"/>
                      <a:round/>
                      <a:headEnd type="none" w="med" len="med"/>
                      <a:tailEnd type="none" w="med" len="med"/>
                    </a:lnT>
                    <a:lnB w="3175" cap="flat" cmpd="sng" algn="ctr">
                      <a:solidFill>
                        <a:srgbClr val="C5C5C5"/>
                      </a:solidFill>
                      <a:prstDash val="solid"/>
                      <a:round/>
                      <a:headEnd type="none" w="med" len="med"/>
                      <a:tailEnd type="none" w="med" len="med"/>
                    </a:lnB>
                  </a:tcPr>
                </a:tc>
              </a:tr>
              <a:tr h="1299210">
                <a:tc>
                  <a:txBody>
                    <a:bodyPr/>
                    <a:lstStyle/>
                    <a:p>
                      <a:pPr algn="l" rtl="0" eaLnBrk="0">
                        <a:lnSpc>
                          <a:spcPct val="110000"/>
                        </a:lnSpc>
                      </a:pPr>
                      <a:endParaRPr lang="en-US" altLang="en-US" sz="400" dirty="0">
                        <a:latin typeface="微软雅黑" panose="020B0503020204020204" charset="-122"/>
                        <a:ea typeface="微软雅黑" panose="020B0503020204020204" charset="-122"/>
                      </a:endParaRPr>
                    </a:p>
                    <a:p>
                      <a:pPr marL="1733550" algn="l" rtl="0" eaLnBrk="0">
                        <a:lnSpc>
                          <a:spcPct val="99000"/>
                        </a:lnSpc>
                        <a:spcBef>
                          <a:spcPts val="5"/>
                        </a:spcBef>
                      </a:pPr>
                      <a:r>
                        <a:rPr sz="1500" spc="8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80" dirty="0">
                          <a:solidFill>
                            <a:srgbClr val="000000">
                              <a:alpha val="100000"/>
                            </a:srgbClr>
                          </a:solidFill>
                          <a:latin typeface="微软雅黑" panose="020B0503020204020204" charset="-122"/>
                          <a:ea typeface="微软雅黑" panose="020B0503020204020204" charset="-122"/>
                          <a:cs typeface="楷体" panose="02010609060101010101" charset="-122"/>
                        </a:rPr>
                        <a:t>提高钱包份额的潜</a:t>
                      </a:r>
                      <a:r>
                        <a:rPr sz="1500" spc="60" dirty="0">
                          <a:solidFill>
                            <a:srgbClr val="000000">
                              <a:alpha val="100000"/>
                            </a:srgbClr>
                          </a:solidFill>
                          <a:latin typeface="微软雅黑" panose="020B0503020204020204" charset="-122"/>
                          <a:ea typeface="微软雅黑" panose="020B0503020204020204" charset="-122"/>
                          <a:cs typeface="楷体" panose="02010609060101010101" charset="-122"/>
                        </a:rPr>
                        <a:t>力</a:t>
                      </a:r>
                      <a:endParaRPr lang="en-US" altLang="en-US" sz="1500" dirty="0">
                        <a:latin typeface="微软雅黑" panose="020B0503020204020204" charset="-122"/>
                        <a:ea typeface="微软雅黑" panose="020B0503020204020204" charset="-122"/>
                      </a:endParaRPr>
                    </a:p>
                    <a:p>
                      <a:pPr algn="l" rtl="0" eaLnBrk="0">
                        <a:lnSpc>
                          <a:spcPct val="101000"/>
                        </a:lnSpc>
                      </a:pPr>
                      <a:endParaRPr lang="en-US" altLang="en-US" sz="900" dirty="0">
                        <a:latin typeface="微软雅黑" panose="020B0503020204020204" charset="-122"/>
                        <a:ea typeface="微软雅黑" panose="020B0503020204020204" charset="-122"/>
                      </a:endParaRPr>
                    </a:p>
                    <a:p>
                      <a:pPr marL="1924685" indent="-191135" algn="l" rtl="0" eaLnBrk="0">
                        <a:lnSpc>
                          <a:spcPct val="103000"/>
                        </a:lnSpc>
                        <a:spcBef>
                          <a:spcPts val="0"/>
                        </a:spcBef>
                      </a:pPr>
                      <a:r>
                        <a:rPr sz="1500" spc="8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80" dirty="0">
                          <a:solidFill>
                            <a:srgbClr val="000000">
                              <a:alpha val="100000"/>
                            </a:srgbClr>
                          </a:solidFill>
                          <a:latin typeface="微软雅黑" panose="020B0503020204020204" charset="-122"/>
                          <a:ea typeface="微软雅黑" panose="020B0503020204020204" charset="-122"/>
                          <a:cs typeface="楷体" panose="02010609060101010101" charset="-122"/>
                        </a:rPr>
                        <a:t>客户本身业务增</a:t>
                      </a:r>
                      <a:r>
                        <a:rPr sz="1500" spc="30" dirty="0">
                          <a:solidFill>
                            <a:srgbClr val="000000">
                              <a:alpha val="100000"/>
                            </a:srgbClr>
                          </a:solidFill>
                          <a:latin typeface="微软雅黑" panose="020B0503020204020204" charset="-122"/>
                          <a:ea typeface="微软雅黑" panose="020B0503020204020204" charset="-122"/>
                          <a:cs typeface="楷体" panose="02010609060101010101" charset="-122"/>
                        </a:rPr>
                        <a:t>长</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60" dirty="0">
                          <a:solidFill>
                            <a:srgbClr val="000000">
                              <a:alpha val="100000"/>
                            </a:srgbClr>
                          </a:solidFill>
                          <a:latin typeface="微软雅黑" panose="020B0503020204020204" charset="-122"/>
                          <a:ea typeface="微软雅黑" panose="020B0503020204020204" charset="-122"/>
                          <a:cs typeface="楷体" panose="02010609060101010101" charset="-122"/>
                        </a:rPr>
                        <a:t>潜</a:t>
                      </a:r>
                      <a:r>
                        <a:rPr sz="1500" spc="40" dirty="0">
                          <a:solidFill>
                            <a:srgbClr val="000000">
                              <a:alpha val="100000"/>
                            </a:srgbClr>
                          </a:solidFill>
                          <a:latin typeface="微软雅黑" panose="020B0503020204020204" charset="-122"/>
                          <a:ea typeface="微软雅黑" panose="020B0503020204020204" charset="-122"/>
                          <a:cs typeface="楷体" panose="02010609060101010101" charset="-122"/>
                        </a:rPr>
                        <a:t>力</a:t>
                      </a:r>
                      <a:endParaRPr lang="en-US" altLang="en-US" sz="1500" dirty="0">
                        <a:latin typeface="微软雅黑" panose="020B0503020204020204" charset="-122"/>
                        <a:ea typeface="微软雅黑" panose="020B0503020204020204" charset="-122"/>
                      </a:endParaRPr>
                    </a:p>
                  </a:txBody>
                  <a:tcPr marL="0" marR="0" marT="0" marB="0">
                    <a:lnL w="19050" cap="flat" cmpd="sng" algn="ctr">
                      <a:solidFill>
                        <a:srgbClr val="C5C5C5"/>
                      </a:solidFill>
                      <a:prstDash val="solid"/>
                      <a:round/>
                      <a:headEnd type="none" w="med" len="med"/>
                      <a:tailEnd type="none" w="med" len="med"/>
                    </a:lnL>
                    <a:lnR>
                      <a:noFill/>
                    </a:lnR>
                    <a:lnT>
                      <a:noFill/>
                    </a:lnT>
                    <a:lnB w="3175" cap="flat" cmpd="sng" algn="ctr">
                      <a:solidFill>
                        <a:srgbClr val="C5C5C5"/>
                      </a:solidFill>
                      <a:prstDash val="solid"/>
                      <a:round/>
                      <a:headEnd type="none" w="med" len="med"/>
                      <a:tailEnd type="none" w="med" len="med"/>
                    </a:lnB>
                  </a:tcPr>
                </a:tc>
                <a:tc vMerge="1">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C5C5C5"/>
                      </a:solidFill>
                      <a:prstDash val="solid"/>
                      <a:round/>
                      <a:headEnd type="none" w="med" len="med"/>
                      <a:tailEnd type="none" w="med" len="med"/>
                    </a:lnB>
                  </a:tcPr>
                </a:tc>
                <a:tc vMerge="1">
                  <a:tcPr marL="0" marR="0" marT="0" marB="0">
                    <a:lnL>
                      <a:noFill/>
                    </a:lnL>
                    <a:lnR>
                      <a:noFill/>
                    </a:lnR>
                    <a:lnT>
                      <a:noFill/>
                    </a:lnT>
                    <a:lnB w="3175" cap="flat" cmpd="sng" algn="ctr">
                      <a:solidFill>
                        <a:srgbClr val="C5C5C5"/>
                      </a:solidFill>
                      <a:prstDash val="solid"/>
                      <a:round/>
                      <a:headEnd type="none" w="med" len="med"/>
                      <a:tailEnd type="none" w="med" len="med"/>
                    </a:lnB>
                  </a:tcPr>
                </a:tc>
                <a:tc vMerge="1">
                  <a:tcPr marL="0" marR="0" marT="0" marB="0">
                    <a:lnL>
                      <a:noFill/>
                    </a:lnL>
                    <a:lnR w="19050" cap="flat" cmpd="sng" algn="ctr">
                      <a:solidFill>
                        <a:srgbClr val="C5C5C5"/>
                      </a:solidFill>
                      <a:prstDash val="solid"/>
                      <a:round/>
                      <a:headEnd type="none" w="med" len="med"/>
                      <a:tailEnd type="none" w="med" len="med"/>
                    </a:lnR>
                    <a:lnT w="3175" cap="flat" cmpd="sng" algn="ctr">
                      <a:solidFill>
                        <a:srgbClr val="808080"/>
                      </a:solidFill>
                      <a:prstDash val="solid"/>
                      <a:round/>
                      <a:headEnd type="none" w="med" len="med"/>
                      <a:tailEnd type="none" w="med" len="med"/>
                    </a:lnT>
                    <a:lnB w="3175" cap="flat" cmpd="sng" algn="ctr">
                      <a:solidFill>
                        <a:srgbClr val="C5C5C5"/>
                      </a:solidFill>
                      <a:prstDash val="solid"/>
                      <a:round/>
                      <a:headEnd type="none" w="med" len="med"/>
                      <a:tailEnd type="none" w="med" len="med"/>
                    </a:lnB>
                  </a:tcPr>
                </a:tc>
              </a:tr>
            </a:tbl>
          </a:graphicData>
        </a:graphic>
      </p:graphicFrame>
      <p:sp>
        <p:nvSpPr>
          <p:cNvPr id="804" name="rect"/>
          <p:cNvSpPr/>
          <p:nvPr/>
        </p:nvSpPr>
        <p:spPr>
          <a:xfrm>
            <a:off x="813816" y="2196084"/>
            <a:ext cx="1243583" cy="1229867"/>
          </a:xfrm>
          <a:prstGeom prst="rect">
            <a:avLst/>
          </a:prstGeom>
          <a:solidFill>
            <a:srgbClr val="BFE1FF">
              <a:alpha val="100000"/>
            </a:srgbClr>
          </a:solidFill>
          <a:ln cap="flat">
            <a:noFill/>
            <a:prstDash val="solid"/>
            <a:miter lim="0"/>
          </a:ln>
        </p:spPr>
        <p:txBody>
          <a:bodyPr rtlCol="0"/>
          <a:lstStyle/>
          <a:p>
            <a:pPr algn="ctr"/>
            <a:endParaRPr lang="zh-CN" altLang="en-US"/>
          </a:p>
        </p:txBody>
      </p:sp>
      <p:sp>
        <p:nvSpPr>
          <p:cNvPr id="805" name="rect"/>
          <p:cNvSpPr/>
          <p:nvPr/>
        </p:nvSpPr>
        <p:spPr>
          <a:xfrm>
            <a:off x="813816" y="3608832"/>
            <a:ext cx="1243583" cy="1107948"/>
          </a:xfrm>
          <a:prstGeom prst="rect">
            <a:avLst/>
          </a:prstGeom>
          <a:solidFill>
            <a:srgbClr val="BFE1FF">
              <a:alpha val="100000"/>
            </a:srgbClr>
          </a:solidFill>
          <a:ln cap="flat">
            <a:noFill/>
            <a:prstDash val="solid"/>
            <a:miter lim="0"/>
          </a:ln>
        </p:spPr>
        <p:txBody>
          <a:bodyPr rtlCol="0"/>
          <a:lstStyle/>
          <a:p>
            <a:pPr algn="ctr"/>
            <a:endParaRPr lang="zh-CN" altLang="en-US"/>
          </a:p>
        </p:txBody>
      </p:sp>
      <p:graphicFrame>
        <p:nvGraphicFramePr>
          <p:cNvPr id="806" name="table 806"/>
          <p:cNvGraphicFramePr>
            <a:graphicFrameLocks noGrp="1"/>
          </p:cNvGraphicFramePr>
          <p:nvPr/>
        </p:nvGraphicFramePr>
        <p:xfrm>
          <a:off x="813816" y="2095500"/>
          <a:ext cx="3472815" cy="2722880"/>
        </p:xfrm>
        <a:graphic>
          <a:graphicData uri="http://schemas.openxmlformats.org/drawingml/2006/table">
            <a:tbl>
              <a:tblPr/>
              <a:tblGrid>
                <a:gridCol w="974090"/>
                <a:gridCol w="2498725"/>
              </a:tblGrid>
              <a:tr h="653415">
                <a:tc rowSpan="3">
                  <a:txBody>
                    <a:bodyPr/>
                    <a:lstStyle/>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marL="85090" algn="l" rtl="0" eaLnBrk="0">
                        <a:lnSpc>
                          <a:spcPct val="99000"/>
                        </a:lnSpc>
                        <a:spcBef>
                          <a:spcPts val="0"/>
                        </a:spcBef>
                      </a:pPr>
                      <a:r>
                        <a:rPr sz="1500" spc="8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利润</a:t>
                      </a:r>
                      <a:r>
                        <a:rPr sz="1500" spc="6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率</a:t>
                      </a:r>
                      <a:endParaRPr lang="en-US" altLang="en-US" sz="1500" dirty="0">
                        <a:latin typeface="微软雅黑" panose="020B0503020204020204" charset="-122"/>
                        <a:ea typeface="微软雅黑" panose="020B0503020204020204" charset="-122"/>
                      </a:endParaRPr>
                    </a:p>
                    <a:p>
                      <a:pPr marL="91440" algn="l" rtl="0" eaLnBrk="0">
                        <a:lnSpc>
                          <a:spcPts val="1825"/>
                        </a:lnSpc>
                        <a:spcBef>
                          <a:spcPts val="135"/>
                        </a:spcBef>
                      </a:pPr>
                      <a:r>
                        <a:rPr sz="1500" spc="50" dirty="0">
                          <a:solidFill>
                            <a:srgbClr val="000000">
                              <a:alpha val="100000"/>
                            </a:srgbClr>
                          </a:solidFill>
                          <a:latin typeface="微软雅黑" panose="020B0503020204020204" charset="-122"/>
                          <a:ea typeface="微软雅黑" panose="020B0503020204020204" charset="-122"/>
                          <a:cs typeface="楷体" panose="02010609060101010101" charset="-122"/>
                        </a:rPr>
                        <a:t>百分</a:t>
                      </a:r>
                      <a:r>
                        <a:rPr sz="1500" spc="40" dirty="0">
                          <a:solidFill>
                            <a:srgbClr val="000000">
                              <a:alpha val="100000"/>
                            </a:srgbClr>
                          </a:solidFill>
                          <a:latin typeface="微软雅黑" panose="020B0503020204020204" charset="-122"/>
                          <a:ea typeface="微软雅黑" panose="020B0503020204020204" charset="-122"/>
                          <a:cs typeface="楷体" panose="02010609060101010101" charset="-122"/>
                        </a:rPr>
                        <a:t>比</a:t>
                      </a:r>
                      <a:endParaRPr lang="en-US" altLang="en-US" sz="1500" dirty="0">
                        <a:latin typeface="微软雅黑" panose="020B0503020204020204" charset="-122"/>
                        <a:ea typeface="微软雅黑" panose="020B0503020204020204" charset="-122"/>
                      </a:endParaRPr>
                    </a:p>
                  </a:txBody>
                  <a:tcPr marL="0" marR="0" marT="0" marB="0">
                    <a:lnL>
                      <a:noFill/>
                    </a:lnL>
                    <a:lnR>
                      <a:noFill/>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a:txBody>
                    <a:bodyPr/>
                    <a:lstStyle/>
                    <a:p>
                      <a:pPr algn="l" rtl="0" eaLnBrk="0">
                        <a:lnSpc>
                          <a:spcPct val="104000"/>
                        </a:lnSpc>
                      </a:pPr>
                      <a:endParaRPr lang="en-US" altLang="en-US" sz="700" dirty="0">
                        <a:latin typeface="微软雅黑" panose="020B0503020204020204" charset="-122"/>
                        <a:ea typeface="微软雅黑" panose="020B0503020204020204" charset="-122"/>
                      </a:endParaRPr>
                    </a:p>
                    <a:p>
                      <a:pPr marL="603250" indent="-205105" algn="l" rtl="0" eaLnBrk="0">
                        <a:lnSpc>
                          <a:spcPct val="107000"/>
                        </a:lnSpc>
                        <a:spcBef>
                          <a:spcPts val="5"/>
                        </a:spcBef>
                      </a:pPr>
                      <a:r>
                        <a:rPr sz="1500" spc="8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80" dirty="0">
                          <a:solidFill>
                            <a:srgbClr val="000000">
                              <a:alpha val="100000"/>
                            </a:srgbClr>
                          </a:solidFill>
                          <a:latin typeface="微软雅黑" panose="020B0503020204020204" charset="-122"/>
                          <a:ea typeface="微软雅黑" panose="020B0503020204020204" charset="-122"/>
                          <a:cs typeface="楷体" panose="02010609060101010101" charset="-122"/>
                        </a:rPr>
                        <a:t>对高利润产品的采</a:t>
                      </a:r>
                      <a:r>
                        <a:rPr sz="1500" spc="60" dirty="0">
                          <a:solidFill>
                            <a:srgbClr val="000000">
                              <a:alpha val="100000"/>
                            </a:srgbClr>
                          </a:solidFill>
                          <a:latin typeface="微软雅黑" panose="020B0503020204020204" charset="-122"/>
                          <a:ea typeface="微软雅黑" panose="020B0503020204020204" charset="-122"/>
                          <a:cs typeface="楷体" panose="02010609060101010101" charset="-122"/>
                        </a:rPr>
                        <a:t>购</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10" dirty="0">
                          <a:solidFill>
                            <a:srgbClr val="000000">
                              <a:alpha val="100000"/>
                            </a:srgbClr>
                          </a:solidFill>
                          <a:latin typeface="微软雅黑" panose="020B0503020204020204" charset="-122"/>
                          <a:ea typeface="微软雅黑" panose="020B0503020204020204" charset="-122"/>
                          <a:cs typeface="楷体" panose="02010609060101010101" charset="-122"/>
                        </a:rPr>
                        <a:t>比</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例？</a:t>
                      </a:r>
                      <a:endParaRPr lang="en-US" altLang="en-US" sz="1500" dirty="0">
                        <a:latin typeface="微软雅黑" panose="020B0503020204020204" charset="-122"/>
                        <a:ea typeface="微软雅黑" panose="020B0503020204020204" charset="-122"/>
                      </a:endParaRPr>
                    </a:p>
                  </a:txBody>
                  <a:tcPr marL="0" marR="0" marT="0" marB="0">
                    <a:lnL>
                      <a:noFill/>
                    </a:lnL>
                    <a:lnR>
                      <a:noFill/>
                    </a:lnR>
                    <a:lnT w="3175" cap="flat" cmpd="sng" algn="ctr">
                      <a:solidFill>
                        <a:srgbClr val="808080"/>
                      </a:solidFill>
                      <a:prstDash val="dash"/>
                      <a:round/>
                      <a:headEnd type="none" w="med" len="med"/>
                      <a:tailEnd type="none" w="med" len="med"/>
                    </a:lnT>
                    <a:lnB>
                      <a:noFill/>
                    </a:lnB>
                  </a:tcPr>
                </a:tc>
              </a:tr>
              <a:tr h="363854">
                <a:tc vMerge="1">
                  <a:tcPr marL="0" marR="0" marT="0" marB="0">
                    <a:lnL>
                      <a:noFill/>
                    </a:lnL>
                    <a:lnR>
                      <a:noFill/>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a:txBody>
                    <a:bodyPr/>
                    <a:lstStyle/>
                    <a:p>
                      <a:pPr algn="l" rtl="0" eaLnBrk="0">
                        <a:lnSpc>
                          <a:spcPct val="108000"/>
                        </a:lnSpc>
                      </a:pPr>
                      <a:endParaRPr lang="en-US" altLang="en-US" sz="500" dirty="0">
                        <a:latin typeface="微软雅黑" panose="020B0503020204020204" charset="-122"/>
                        <a:ea typeface="微软雅黑" panose="020B0503020204020204" charset="-122"/>
                      </a:endParaRPr>
                    </a:p>
                    <a:p>
                      <a:pPr marL="398145" algn="l" rtl="0" eaLnBrk="0">
                        <a:lnSpc>
                          <a:spcPct val="100000"/>
                        </a:lnSpc>
                        <a:spcBef>
                          <a:spcPts val="5"/>
                        </a:spcBef>
                      </a:pPr>
                      <a:r>
                        <a:rPr sz="1500" spc="7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70" dirty="0">
                          <a:solidFill>
                            <a:srgbClr val="000000">
                              <a:alpha val="100000"/>
                            </a:srgbClr>
                          </a:solidFill>
                          <a:latin typeface="微软雅黑" panose="020B0503020204020204" charset="-122"/>
                          <a:ea typeface="微软雅黑" panose="020B0503020204020204" charset="-122"/>
                          <a:cs typeface="楷体" panose="02010609060101010101" charset="-122"/>
                        </a:rPr>
                        <a:t>高利润客</a:t>
                      </a:r>
                      <a:r>
                        <a:rPr sz="1500" spc="60" dirty="0">
                          <a:solidFill>
                            <a:srgbClr val="000000">
                              <a:alpha val="100000"/>
                            </a:srgbClr>
                          </a:solidFill>
                          <a:latin typeface="微软雅黑" panose="020B0503020204020204" charset="-122"/>
                          <a:ea typeface="微软雅黑" panose="020B0503020204020204" charset="-122"/>
                          <a:cs typeface="楷体" panose="02010609060101010101" charset="-122"/>
                        </a:rPr>
                        <a:t>户</a:t>
                      </a:r>
                      <a:endParaRPr lang="en-US" altLang="en-US" sz="1500" dirty="0">
                        <a:latin typeface="微软雅黑" panose="020B0503020204020204" charset="-122"/>
                        <a:ea typeface="微软雅黑" panose="020B0503020204020204" charset="-122"/>
                      </a:endParaRPr>
                    </a:p>
                  </a:txBody>
                  <a:tcPr marL="0" marR="0" marT="0" marB="0">
                    <a:lnL>
                      <a:noFill/>
                    </a:lnL>
                    <a:lnR>
                      <a:noFill/>
                    </a:lnR>
                    <a:lnT>
                      <a:noFill/>
                    </a:lnT>
                    <a:lnB>
                      <a:noFill/>
                    </a:lnB>
                  </a:tcPr>
                </a:tc>
              </a:tr>
              <a:tr h="405129">
                <a:tc vMerge="1">
                  <a:tcPr marL="0" marR="0" marT="0" marB="0">
                    <a:lnL>
                      <a:noFill/>
                    </a:lnL>
                    <a:lnR>
                      <a:noFill/>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a:txBody>
                    <a:bodyPr/>
                    <a:lstStyle/>
                    <a:p>
                      <a:pPr algn="l" rtl="0" eaLnBrk="0">
                        <a:lnSpc>
                          <a:spcPct val="111000"/>
                        </a:lnSpc>
                      </a:pPr>
                      <a:endParaRPr lang="en-US" altLang="en-US" sz="500" dirty="0">
                        <a:latin typeface="微软雅黑" panose="020B0503020204020204" charset="-122"/>
                        <a:ea typeface="微软雅黑" panose="020B0503020204020204" charset="-122"/>
                      </a:endParaRPr>
                    </a:p>
                    <a:p>
                      <a:pPr marL="398145" algn="l" rtl="0" eaLnBrk="0">
                        <a:lnSpc>
                          <a:spcPct val="99000"/>
                        </a:lnSpc>
                        <a:spcBef>
                          <a:spcPts val="5"/>
                        </a:spcBef>
                      </a:pPr>
                      <a:r>
                        <a:rPr sz="1500" spc="7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70" dirty="0">
                          <a:solidFill>
                            <a:srgbClr val="000000">
                              <a:alpha val="100000"/>
                            </a:srgbClr>
                          </a:solidFill>
                          <a:latin typeface="微软雅黑" panose="020B0503020204020204" charset="-122"/>
                          <a:ea typeface="微软雅黑" panose="020B0503020204020204" charset="-122"/>
                          <a:cs typeface="楷体" panose="02010609060101010101" charset="-122"/>
                        </a:rPr>
                        <a:t>交叉销售的机会</a:t>
                      </a:r>
                      <a:r>
                        <a:rPr sz="1500" spc="30" dirty="0">
                          <a:solidFill>
                            <a:srgbClr val="000000">
                              <a:alpha val="100000"/>
                            </a:srgbClr>
                          </a:solidFill>
                          <a:latin typeface="微软雅黑" panose="020B0503020204020204" charset="-122"/>
                          <a:ea typeface="微软雅黑" panose="020B0503020204020204" charset="-122"/>
                          <a:cs typeface="楷体" panose="02010609060101010101" charset="-122"/>
                        </a:rPr>
                        <a:t>？</a:t>
                      </a:r>
                      <a:endParaRPr lang="en-US" altLang="en-US" sz="1500" dirty="0">
                        <a:latin typeface="微软雅黑" panose="020B0503020204020204" charset="-122"/>
                        <a:ea typeface="微软雅黑" panose="020B0503020204020204" charset="-122"/>
                      </a:endParaRPr>
                    </a:p>
                  </a:txBody>
                  <a:tcPr marL="0" marR="0" marT="0" marB="0">
                    <a:lnL>
                      <a:noFill/>
                    </a:lnL>
                    <a:lnR>
                      <a:noFill/>
                    </a:lnR>
                    <a:lnT>
                      <a:noFill/>
                    </a:lnT>
                    <a:lnB w="3175" cap="flat" cmpd="sng" algn="ctr">
                      <a:solidFill>
                        <a:srgbClr val="808080"/>
                      </a:solidFill>
                      <a:prstDash val="dash"/>
                      <a:round/>
                      <a:headEnd type="none" w="med" len="med"/>
                      <a:tailEnd type="none" w="med" len="med"/>
                    </a:lnB>
                  </a:tcPr>
                </a:tc>
              </a:tr>
              <a:tr h="648334">
                <a:tc rowSpan="2">
                  <a:txBody>
                    <a:bodyPr/>
                    <a:lstStyle/>
                    <a:p>
                      <a:pPr algn="l" rtl="0" eaLnBrk="0">
                        <a:lnSpc>
                          <a:spcPct val="140000"/>
                        </a:lnSpc>
                      </a:pPr>
                      <a:endParaRPr lang="en-US" altLang="en-US" sz="1000" dirty="0">
                        <a:latin typeface="微软雅黑" panose="020B0503020204020204" charset="-122"/>
                        <a:ea typeface="微软雅黑" panose="020B0503020204020204" charset="-122"/>
                      </a:endParaRPr>
                    </a:p>
                    <a:p>
                      <a:pPr algn="l" rtl="0" eaLnBrk="0">
                        <a:lnSpc>
                          <a:spcPct val="140000"/>
                        </a:lnSpc>
                      </a:pPr>
                      <a:endParaRPr lang="en-US" altLang="en-US" sz="1000" dirty="0">
                        <a:latin typeface="微软雅黑" panose="020B0503020204020204" charset="-122"/>
                        <a:ea typeface="微软雅黑" panose="020B0503020204020204" charset="-122"/>
                      </a:endParaRPr>
                    </a:p>
                    <a:p>
                      <a:pPr marL="76835" algn="l" rtl="0" eaLnBrk="0">
                        <a:lnSpc>
                          <a:spcPct val="89000"/>
                        </a:lnSpc>
                        <a:spcBef>
                          <a:spcPts val="5"/>
                        </a:spcBef>
                      </a:pPr>
                      <a:r>
                        <a:rPr sz="1500" spc="10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采</a:t>
                      </a:r>
                      <a:r>
                        <a:rPr sz="1500" spc="8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购</a:t>
                      </a:r>
                      <a:endParaRPr lang="en-US" altLang="en-US" sz="1500" dirty="0">
                        <a:latin typeface="微软雅黑" panose="020B0503020204020204" charset="-122"/>
                        <a:ea typeface="微软雅黑" panose="020B0503020204020204" charset="-122"/>
                      </a:endParaRPr>
                    </a:p>
                    <a:p>
                      <a:pPr marL="79375" algn="l" rtl="0" eaLnBrk="0">
                        <a:lnSpc>
                          <a:spcPts val="1920"/>
                        </a:lnSpc>
                      </a:pPr>
                      <a:r>
                        <a:rPr sz="1500" spc="9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稳定</a:t>
                      </a:r>
                      <a:r>
                        <a:rPr sz="1500" spc="8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性</a:t>
                      </a:r>
                      <a:endParaRPr lang="en-US" altLang="en-US" sz="1500" dirty="0">
                        <a:latin typeface="微软雅黑" panose="020B0503020204020204" charset="-122"/>
                        <a:ea typeface="微软雅黑" panose="020B0503020204020204" charset="-122"/>
                      </a:endParaRPr>
                    </a:p>
                  </a:txBody>
                  <a:tcPr marL="0" marR="0" marT="0" marB="0">
                    <a:lnL>
                      <a:noFill/>
                    </a:lnL>
                    <a:lnR>
                      <a:noFill/>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a:txBody>
                    <a:bodyPr/>
                    <a:lstStyle/>
                    <a:p>
                      <a:pPr algn="l" rtl="0" eaLnBrk="0">
                        <a:lnSpc>
                          <a:spcPct val="108000"/>
                        </a:lnSpc>
                      </a:pPr>
                      <a:endParaRPr lang="en-US" altLang="en-US" sz="600" dirty="0">
                        <a:latin typeface="微软雅黑" panose="020B0503020204020204" charset="-122"/>
                        <a:ea typeface="微软雅黑" panose="020B0503020204020204" charset="-122"/>
                      </a:endParaRPr>
                    </a:p>
                    <a:p>
                      <a:pPr marL="584200" indent="-186055" algn="l" rtl="0" eaLnBrk="0">
                        <a:lnSpc>
                          <a:spcPct val="107000"/>
                        </a:lnSpc>
                        <a:spcBef>
                          <a:spcPts val="5"/>
                        </a:spcBef>
                      </a:pPr>
                      <a:r>
                        <a:rPr sz="1500" spc="8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80" dirty="0">
                          <a:solidFill>
                            <a:srgbClr val="000000">
                              <a:alpha val="100000"/>
                            </a:srgbClr>
                          </a:solidFill>
                          <a:latin typeface="微软雅黑" panose="020B0503020204020204" charset="-122"/>
                          <a:ea typeface="微软雅黑" panose="020B0503020204020204" charset="-122"/>
                          <a:cs typeface="楷体" panose="02010609060101010101" charset="-122"/>
                        </a:rPr>
                        <a:t>客户是否定期、定</a:t>
                      </a:r>
                      <a:r>
                        <a:rPr sz="1500" spc="60" dirty="0">
                          <a:solidFill>
                            <a:srgbClr val="000000">
                              <a:alpha val="100000"/>
                            </a:srgbClr>
                          </a:solidFill>
                          <a:latin typeface="微软雅黑" panose="020B0503020204020204" charset="-122"/>
                          <a:ea typeface="微软雅黑" panose="020B0503020204020204" charset="-122"/>
                          <a:cs typeface="楷体" panose="02010609060101010101" charset="-122"/>
                        </a:rPr>
                        <a:t>量</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稳定的下单和收货</a:t>
                      </a:r>
                      <a:r>
                        <a:rPr sz="1500" spc="10" dirty="0">
                          <a:solidFill>
                            <a:srgbClr val="000000">
                              <a:alpha val="100000"/>
                            </a:srgbClr>
                          </a:solidFill>
                          <a:latin typeface="微软雅黑" panose="020B0503020204020204" charset="-122"/>
                          <a:ea typeface="微软雅黑" panose="020B0503020204020204" charset="-122"/>
                          <a:cs typeface="楷体" panose="02010609060101010101" charset="-122"/>
                        </a:rPr>
                        <a:t>？</a:t>
                      </a:r>
                      <a:endParaRPr lang="en-US" altLang="en-US" sz="1500" dirty="0">
                        <a:latin typeface="微软雅黑" panose="020B0503020204020204" charset="-122"/>
                        <a:ea typeface="微软雅黑" panose="020B0503020204020204" charset="-122"/>
                      </a:endParaRPr>
                    </a:p>
                  </a:txBody>
                  <a:tcPr marL="0" marR="0" marT="0" marB="0">
                    <a:lnL>
                      <a:noFill/>
                    </a:lnL>
                    <a:lnR>
                      <a:noFill/>
                    </a:lnR>
                    <a:lnT w="3175" cap="flat" cmpd="sng" algn="ctr">
                      <a:solidFill>
                        <a:srgbClr val="808080"/>
                      </a:solidFill>
                      <a:prstDash val="dash"/>
                      <a:round/>
                      <a:headEnd type="none" w="med" len="med"/>
                      <a:tailEnd type="none" w="med" len="med"/>
                    </a:lnT>
                    <a:lnB>
                      <a:noFill/>
                    </a:lnB>
                  </a:tcPr>
                </a:tc>
              </a:tr>
              <a:tr h="652144">
                <a:tc vMerge="1">
                  <a:tcPr marL="0" marR="0" marT="0" marB="0">
                    <a:lnL>
                      <a:noFill/>
                    </a:lnL>
                    <a:lnR>
                      <a:noFill/>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a:txBody>
                    <a:bodyPr/>
                    <a:lstStyle/>
                    <a:p>
                      <a:pPr algn="l" rtl="0" eaLnBrk="0">
                        <a:lnSpc>
                          <a:spcPct val="103000"/>
                        </a:lnSpc>
                      </a:pPr>
                      <a:endParaRPr lang="en-US" altLang="en-US" sz="400" dirty="0">
                        <a:latin typeface="微软雅黑" panose="020B0503020204020204" charset="-122"/>
                        <a:ea typeface="微软雅黑" panose="020B0503020204020204" charset="-122"/>
                      </a:endParaRPr>
                    </a:p>
                    <a:p>
                      <a:pPr marL="596900" indent="-198755" algn="l" rtl="0" eaLnBrk="0">
                        <a:lnSpc>
                          <a:spcPct val="106000"/>
                        </a:lnSpc>
                        <a:spcBef>
                          <a:spcPts val="5"/>
                        </a:spcBef>
                      </a:pPr>
                      <a:r>
                        <a:rPr sz="1500" spc="8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80" dirty="0">
                          <a:solidFill>
                            <a:srgbClr val="000000">
                              <a:alpha val="100000"/>
                            </a:srgbClr>
                          </a:solidFill>
                          <a:latin typeface="微软雅黑" panose="020B0503020204020204" charset="-122"/>
                          <a:ea typeface="微软雅黑" panose="020B0503020204020204" charset="-122"/>
                          <a:cs typeface="楷体" panose="02010609060101010101" charset="-122"/>
                        </a:rPr>
                        <a:t>市场下滑对集团订</a:t>
                      </a:r>
                      <a:r>
                        <a:rPr sz="1500" spc="60" dirty="0">
                          <a:solidFill>
                            <a:srgbClr val="000000">
                              <a:alpha val="100000"/>
                            </a:srgbClr>
                          </a:solidFill>
                          <a:latin typeface="微软雅黑" panose="020B0503020204020204" charset="-122"/>
                          <a:ea typeface="微软雅黑" panose="020B0503020204020204" charset="-122"/>
                          <a:cs typeface="楷体" panose="02010609060101010101" charset="-122"/>
                        </a:rPr>
                        <a:t>单</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50" dirty="0">
                          <a:solidFill>
                            <a:srgbClr val="000000">
                              <a:alpha val="100000"/>
                            </a:srgbClr>
                          </a:solidFill>
                          <a:latin typeface="微软雅黑" panose="020B0503020204020204" charset="-122"/>
                          <a:ea typeface="微软雅黑" panose="020B0503020204020204" charset="-122"/>
                          <a:cs typeface="楷体" panose="02010609060101010101" charset="-122"/>
                        </a:rPr>
                        <a:t>的影</a:t>
                      </a:r>
                      <a:r>
                        <a:rPr sz="1500" spc="40" dirty="0">
                          <a:solidFill>
                            <a:srgbClr val="000000">
                              <a:alpha val="100000"/>
                            </a:srgbClr>
                          </a:solidFill>
                          <a:latin typeface="微软雅黑" panose="020B0503020204020204" charset="-122"/>
                          <a:ea typeface="微软雅黑" panose="020B0503020204020204" charset="-122"/>
                          <a:cs typeface="楷体" panose="02010609060101010101" charset="-122"/>
                        </a:rPr>
                        <a:t>响</a:t>
                      </a:r>
                      <a:endParaRPr lang="en-US" altLang="en-US" sz="1500" dirty="0">
                        <a:latin typeface="微软雅黑" panose="020B0503020204020204" charset="-122"/>
                        <a:ea typeface="微软雅黑" panose="020B0503020204020204" charset="-122"/>
                      </a:endParaRPr>
                    </a:p>
                  </a:txBody>
                  <a:tcPr marL="0" marR="0" marT="0" marB="0">
                    <a:lnL>
                      <a:noFill/>
                    </a:lnL>
                    <a:lnR>
                      <a:noFill/>
                    </a:lnR>
                    <a:lnT>
                      <a:noFill/>
                    </a:lnT>
                    <a:lnB w="3175" cap="flat" cmpd="sng" algn="ctr">
                      <a:solidFill>
                        <a:srgbClr val="808080"/>
                      </a:solidFill>
                      <a:prstDash val="dash"/>
                      <a:round/>
                      <a:headEnd type="none" w="med" len="med"/>
                      <a:tailEnd type="none" w="med" len="med"/>
                    </a:lnB>
                  </a:tcPr>
                </a:tc>
              </a:tr>
            </a:tbl>
          </a:graphicData>
        </a:graphic>
      </p:graphicFrame>
      <p:grpSp>
        <p:nvGrpSpPr>
          <p:cNvPr id="172" name="group 172"/>
          <p:cNvGrpSpPr/>
          <p:nvPr/>
        </p:nvGrpSpPr>
        <p:grpSpPr>
          <a:xfrm rot="21600000">
            <a:off x="6100852" y="1690496"/>
            <a:ext cx="1109750" cy="4144388"/>
            <a:chOff x="0" y="0"/>
            <a:chExt cx="1109750" cy="4144388"/>
          </a:xfrm>
        </p:grpSpPr>
        <p:sp>
          <p:nvSpPr>
            <p:cNvPr id="807" name="path"/>
            <p:cNvSpPr/>
            <p:nvPr/>
          </p:nvSpPr>
          <p:spPr>
            <a:xfrm>
              <a:off x="0" y="3725350"/>
              <a:ext cx="1109750" cy="419037"/>
            </a:xfrm>
            <a:custGeom>
              <a:avLst/>
              <a:gdLst/>
              <a:ahLst/>
              <a:cxnLst/>
              <a:rect l="0" t="0" r="0" b="0"/>
              <a:pathLst>
                <a:path w="1747" h="659">
                  <a:moveTo>
                    <a:pt x="3" y="656"/>
                  </a:moveTo>
                  <a:moveTo>
                    <a:pt x="3" y="656"/>
                  </a:moveTo>
                  <a:lnTo>
                    <a:pt x="1743" y="656"/>
                  </a:lnTo>
                  <a:lnTo>
                    <a:pt x="1743" y="3"/>
                  </a:lnTo>
                  <a:lnTo>
                    <a:pt x="3" y="3"/>
                  </a:lnTo>
                  <a:lnTo>
                    <a:pt x="3" y="656"/>
                  </a:lnTo>
                  <a:close/>
                </a:path>
              </a:pathLst>
            </a:custGeom>
            <a:solidFill>
              <a:srgbClr val="127494">
                <a:alpha val="100000"/>
              </a:srgbClr>
            </a:solidFill>
            <a:ln cap="flat">
              <a:noFill/>
              <a:prstDash val="solid"/>
              <a:miter lim="0"/>
            </a:ln>
          </p:spPr>
          <p:txBody>
            <a:bodyPr rtlCol="0"/>
            <a:lstStyle/>
            <a:p>
              <a:pPr algn="ctr"/>
              <a:endParaRPr lang="zh-CN" altLang="en-US"/>
            </a:p>
          </p:txBody>
        </p:sp>
        <p:sp>
          <p:nvSpPr>
            <p:cNvPr id="808" name="path"/>
            <p:cNvSpPr/>
            <p:nvPr/>
          </p:nvSpPr>
          <p:spPr>
            <a:xfrm>
              <a:off x="0" y="3310747"/>
              <a:ext cx="1109750" cy="419355"/>
            </a:xfrm>
            <a:custGeom>
              <a:avLst/>
              <a:gdLst/>
              <a:ahLst/>
              <a:cxnLst/>
              <a:rect l="0" t="0" r="0" b="0"/>
              <a:pathLst>
                <a:path w="1747" h="660">
                  <a:moveTo>
                    <a:pt x="3" y="656"/>
                  </a:moveTo>
                  <a:moveTo>
                    <a:pt x="3" y="656"/>
                  </a:moveTo>
                  <a:lnTo>
                    <a:pt x="1743" y="656"/>
                  </a:lnTo>
                  <a:lnTo>
                    <a:pt x="1743" y="3"/>
                  </a:lnTo>
                  <a:lnTo>
                    <a:pt x="3" y="3"/>
                  </a:lnTo>
                  <a:lnTo>
                    <a:pt x="3" y="656"/>
                  </a:lnTo>
                  <a:close/>
                </a:path>
              </a:pathLst>
            </a:custGeom>
            <a:solidFill>
              <a:srgbClr val="009AA6">
                <a:alpha val="100000"/>
              </a:srgbClr>
            </a:solidFill>
            <a:ln cap="flat">
              <a:noFill/>
              <a:prstDash val="solid"/>
              <a:miter lim="0"/>
            </a:ln>
          </p:spPr>
          <p:txBody>
            <a:bodyPr rtlCol="0"/>
            <a:lstStyle/>
            <a:p>
              <a:pPr algn="ctr"/>
              <a:endParaRPr lang="zh-CN" altLang="en-US"/>
            </a:p>
          </p:txBody>
        </p:sp>
        <p:sp>
          <p:nvSpPr>
            <p:cNvPr id="809" name="path"/>
            <p:cNvSpPr/>
            <p:nvPr/>
          </p:nvSpPr>
          <p:spPr>
            <a:xfrm>
              <a:off x="0" y="2691548"/>
              <a:ext cx="1109750" cy="623957"/>
            </a:xfrm>
            <a:custGeom>
              <a:avLst/>
              <a:gdLst/>
              <a:ahLst/>
              <a:cxnLst/>
              <a:rect l="0" t="0" r="0" b="0"/>
              <a:pathLst>
                <a:path w="1747" h="982">
                  <a:moveTo>
                    <a:pt x="3" y="978"/>
                  </a:moveTo>
                  <a:moveTo>
                    <a:pt x="3" y="978"/>
                  </a:moveTo>
                  <a:lnTo>
                    <a:pt x="1743" y="978"/>
                  </a:lnTo>
                  <a:lnTo>
                    <a:pt x="1743" y="3"/>
                  </a:lnTo>
                  <a:lnTo>
                    <a:pt x="3" y="3"/>
                  </a:lnTo>
                  <a:lnTo>
                    <a:pt x="3" y="978"/>
                  </a:lnTo>
                  <a:close/>
                </a:path>
              </a:pathLst>
            </a:custGeom>
            <a:solidFill>
              <a:srgbClr val="808080">
                <a:alpha val="100000"/>
              </a:srgbClr>
            </a:solidFill>
            <a:ln cap="flat">
              <a:noFill/>
              <a:prstDash val="solid"/>
              <a:miter lim="0"/>
            </a:ln>
          </p:spPr>
          <p:txBody>
            <a:bodyPr rtlCol="0"/>
            <a:lstStyle/>
            <a:p>
              <a:pPr algn="ctr"/>
              <a:endParaRPr lang="zh-CN" altLang="en-US"/>
            </a:p>
          </p:txBody>
        </p:sp>
        <p:sp>
          <p:nvSpPr>
            <p:cNvPr id="810" name="path"/>
            <p:cNvSpPr/>
            <p:nvPr/>
          </p:nvSpPr>
          <p:spPr>
            <a:xfrm>
              <a:off x="0" y="2067591"/>
              <a:ext cx="1109750" cy="628715"/>
            </a:xfrm>
            <a:custGeom>
              <a:avLst/>
              <a:gdLst/>
              <a:ahLst/>
              <a:cxnLst/>
              <a:rect l="0" t="0" r="0" b="0"/>
              <a:pathLst>
                <a:path w="1747" h="990">
                  <a:moveTo>
                    <a:pt x="3" y="986"/>
                  </a:moveTo>
                  <a:moveTo>
                    <a:pt x="3" y="986"/>
                  </a:moveTo>
                  <a:lnTo>
                    <a:pt x="1743" y="986"/>
                  </a:lnTo>
                  <a:lnTo>
                    <a:pt x="1743" y="3"/>
                  </a:lnTo>
                  <a:lnTo>
                    <a:pt x="3" y="3"/>
                  </a:lnTo>
                  <a:lnTo>
                    <a:pt x="3" y="986"/>
                  </a:lnTo>
                  <a:close/>
                </a:path>
              </a:pathLst>
            </a:custGeom>
            <a:solidFill>
              <a:srgbClr val="002960">
                <a:alpha val="100000"/>
              </a:srgbClr>
            </a:solidFill>
            <a:ln cap="flat">
              <a:noFill/>
              <a:prstDash val="solid"/>
              <a:miter lim="0"/>
            </a:ln>
          </p:spPr>
          <p:txBody>
            <a:bodyPr rtlCol="0"/>
            <a:lstStyle/>
            <a:p>
              <a:pPr algn="ctr"/>
              <a:endParaRPr lang="zh-CN" altLang="en-US"/>
            </a:p>
          </p:txBody>
        </p:sp>
        <p:sp>
          <p:nvSpPr>
            <p:cNvPr id="811" name="path"/>
            <p:cNvSpPr/>
            <p:nvPr/>
          </p:nvSpPr>
          <p:spPr>
            <a:xfrm>
              <a:off x="0" y="1243536"/>
              <a:ext cx="1109749" cy="828876"/>
            </a:xfrm>
            <a:custGeom>
              <a:avLst/>
              <a:gdLst/>
              <a:ahLst/>
              <a:cxnLst/>
              <a:rect l="0" t="0" r="0" b="0"/>
              <a:pathLst>
                <a:path w="1747" h="1305">
                  <a:moveTo>
                    <a:pt x="3" y="1301"/>
                  </a:moveTo>
                  <a:moveTo>
                    <a:pt x="3" y="1301"/>
                  </a:moveTo>
                  <a:lnTo>
                    <a:pt x="1743" y="1301"/>
                  </a:lnTo>
                  <a:lnTo>
                    <a:pt x="1743" y="3"/>
                  </a:lnTo>
                  <a:lnTo>
                    <a:pt x="3" y="3"/>
                  </a:lnTo>
                  <a:lnTo>
                    <a:pt x="3" y="1301"/>
                  </a:lnTo>
                  <a:close/>
                </a:path>
              </a:pathLst>
            </a:custGeom>
            <a:solidFill>
              <a:srgbClr val="0065BD">
                <a:alpha val="100000"/>
              </a:srgbClr>
            </a:solidFill>
            <a:ln cap="flat">
              <a:noFill/>
              <a:prstDash val="solid"/>
              <a:miter lim="0"/>
            </a:ln>
          </p:spPr>
          <p:txBody>
            <a:bodyPr rtlCol="0"/>
            <a:lstStyle/>
            <a:p>
              <a:pPr algn="ctr"/>
              <a:endParaRPr lang="zh-CN" altLang="en-US"/>
            </a:p>
          </p:txBody>
        </p:sp>
        <p:sp>
          <p:nvSpPr>
            <p:cNvPr id="812" name="path"/>
            <p:cNvSpPr/>
            <p:nvPr/>
          </p:nvSpPr>
          <p:spPr>
            <a:xfrm>
              <a:off x="0" y="619579"/>
              <a:ext cx="1109749" cy="628715"/>
            </a:xfrm>
            <a:custGeom>
              <a:avLst/>
              <a:gdLst/>
              <a:ahLst/>
              <a:cxnLst/>
              <a:rect l="0" t="0" r="0" b="0"/>
              <a:pathLst>
                <a:path w="1747" h="990">
                  <a:moveTo>
                    <a:pt x="3" y="986"/>
                  </a:moveTo>
                  <a:moveTo>
                    <a:pt x="3" y="986"/>
                  </a:moveTo>
                  <a:lnTo>
                    <a:pt x="1743" y="986"/>
                  </a:lnTo>
                  <a:lnTo>
                    <a:pt x="1743" y="3"/>
                  </a:lnTo>
                  <a:lnTo>
                    <a:pt x="3" y="3"/>
                  </a:lnTo>
                  <a:lnTo>
                    <a:pt x="3" y="986"/>
                  </a:lnTo>
                  <a:close/>
                </a:path>
              </a:pathLst>
            </a:custGeom>
            <a:solidFill>
              <a:srgbClr val="00ADEF">
                <a:alpha val="100000"/>
              </a:srgbClr>
            </a:solidFill>
            <a:ln cap="flat">
              <a:noFill/>
              <a:prstDash val="solid"/>
              <a:miter lim="0"/>
            </a:ln>
          </p:spPr>
          <p:txBody>
            <a:bodyPr rtlCol="0"/>
            <a:lstStyle/>
            <a:p>
              <a:pPr algn="ctr"/>
              <a:endParaRPr lang="zh-CN" altLang="en-US"/>
            </a:p>
          </p:txBody>
        </p:sp>
        <p:sp>
          <p:nvSpPr>
            <p:cNvPr id="813" name="path"/>
            <p:cNvSpPr/>
            <p:nvPr/>
          </p:nvSpPr>
          <p:spPr>
            <a:xfrm>
              <a:off x="0" y="0"/>
              <a:ext cx="1109749" cy="624274"/>
            </a:xfrm>
            <a:custGeom>
              <a:avLst/>
              <a:gdLst/>
              <a:ahLst/>
              <a:cxnLst/>
              <a:rect l="0" t="0" r="0" b="0"/>
              <a:pathLst>
                <a:path w="1747" h="983">
                  <a:moveTo>
                    <a:pt x="3" y="979"/>
                  </a:moveTo>
                  <a:moveTo>
                    <a:pt x="3" y="979"/>
                  </a:moveTo>
                  <a:lnTo>
                    <a:pt x="1743" y="979"/>
                  </a:lnTo>
                  <a:lnTo>
                    <a:pt x="1743" y="3"/>
                  </a:lnTo>
                  <a:lnTo>
                    <a:pt x="3" y="3"/>
                  </a:lnTo>
                  <a:lnTo>
                    <a:pt x="3" y="979"/>
                  </a:lnTo>
                  <a:close/>
                </a:path>
              </a:pathLst>
            </a:custGeom>
            <a:solidFill>
              <a:srgbClr val="BFE1FF">
                <a:alpha val="100000"/>
              </a:srgbClr>
            </a:solidFill>
            <a:ln cap="flat">
              <a:noFill/>
              <a:prstDash val="solid"/>
              <a:miter lim="0"/>
            </a:ln>
          </p:spPr>
          <p:txBody>
            <a:bodyPr rtlCol="0"/>
            <a:lstStyle/>
            <a:p>
              <a:pPr algn="ctr"/>
              <a:endParaRPr lang="zh-CN" altLang="en-US"/>
            </a:p>
          </p:txBody>
        </p:sp>
      </p:grpSp>
      <p:pic>
        <p:nvPicPr>
          <p:cNvPr id="814" name="picture 814"/>
          <p:cNvPicPr>
            <a:picLocks noChangeAspect="1"/>
          </p:cNvPicPr>
          <p:nvPr/>
        </p:nvPicPr>
        <p:blipFill>
          <a:blip r:embed="rId1"/>
          <a:stretch>
            <a:fillRect/>
          </a:stretch>
        </p:blipFill>
        <p:spPr>
          <a:xfrm rot="21600000">
            <a:off x="5881684" y="1690496"/>
            <a:ext cx="1548075" cy="4146767"/>
          </a:xfrm>
          <a:prstGeom prst="rect">
            <a:avLst/>
          </a:prstGeom>
        </p:spPr>
      </p:pic>
      <p:sp>
        <p:nvSpPr>
          <p:cNvPr id="815" name="textbox 815"/>
          <p:cNvSpPr/>
          <p:nvPr/>
        </p:nvSpPr>
        <p:spPr>
          <a:xfrm>
            <a:off x="473502" y="248992"/>
            <a:ext cx="6663690" cy="310515"/>
          </a:xfrm>
          <a:prstGeom prst="rect">
            <a:avLst/>
          </a:prstGeom>
        </p:spPr>
        <p:txBody>
          <a:bodyPr vert="horz" wrap="square" lIns="0" tIns="0" rIns="0" bIns="0"/>
          <a:lstStyle/>
          <a:p>
            <a:pPr algn="l" rtl="0" eaLnBrk="0">
              <a:lnSpc>
                <a:spcPct val="92000"/>
              </a:lnSpc>
            </a:pPr>
            <a:endParaRPr lang="en-US" altLang="en-US" sz="100" dirty="0">
              <a:latin typeface="微软雅黑" panose="020B0503020204020204" charset="-122"/>
              <a:ea typeface="微软雅黑" panose="020B0503020204020204" charset="-122"/>
            </a:endParaRPr>
          </a:p>
          <a:p>
            <a:pPr marL="139700" algn="l" rtl="0" eaLnBrk="0">
              <a:lnSpc>
                <a:spcPct val="93000"/>
              </a:lnSpc>
            </a:pPr>
            <a:r>
              <a:rPr sz="2000" spc="-50" dirty="0">
                <a:solidFill>
                  <a:srgbClr val="002960">
                    <a:alpha val="100000"/>
                  </a:srgbClr>
                </a:solidFill>
                <a:latin typeface="微软雅黑" panose="020B0503020204020204" charset="-122"/>
                <a:ea typeface="微软雅黑" panose="020B0503020204020204" charset="-122"/>
                <a:cs typeface="楷体" panose="02010609060101010101" charset="-122"/>
              </a:rPr>
              <a:t>【案例】哪些客户对我们是最重要的 </a:t>
            </a:r>
            <a:r>
              <a:rPr sz="2000" spc="-50" dirty="0">
                <a:solidFill>
                  <a:srgbClr val="002960">
                    <a:alpha val="100000"/>
                  </a:srgbClr>
                </a:solidFill>
                <a:latin typeface="微软雅黑" panose="020B0503020204020204" charset="-122"/>
                <a:ea typeface="微软雅黑" panose="020B0503020204020204" charset="-122"/>
                <a:cs typeface="Arial" panose="020B0604020202020204"/>
              </a:rPr>
              <a:t>– </a:t>
            </a:r>
            <a:r>
              <a:rPr sz="2000" spc="-50" dirty="0">
                <a:solidFill>
                  <a:srgbClr val="002960">
                    <a:alpha val="100000"/>
                  </a:srgbClr>
                </a:solidFill>
                <a:latin typeface="微软雅黑" panose="020B0503020204020204" charset="-122"/>
                <a:ea typeface="微软雅黑" panose="020B0503020204020204" charset="-122"/>
                <a:cs typeface="楷体" panose="02010609060101010101" charset="-122"/>
              </a:rPr>
              <a:t>某精细化工企业案例</a:t>
            </a:r>
            <a:endParaRPr lang="en-US" altLang="en-US" sz="2000" dirty="0">
              <a:latin typeface="微软雅黑" panose="020B0503020204020204" charset="-122"/>
              <a:ea typeface="微软雅黑" panose="020B0503020204020204" charset="-122"/>
            </a:endParaRPr>
          </a:p>
        </p:txBody>
      </p:sp>
      <p:sp>
        <p:nvSpPr>
          <p:cNvPr id="816" name="textbox 816"/>
          <p:cNvSpPr/>
          <p:nvPr/>
        </p:nvSpPr>
        <p:spPr>
          <a:xfrm>
            <a:off x="813816" y="4899660"/>
            <a:ext cx="1243964" cy="886460"/>
          </a:xfrm>
          <a:prstGeom prst="rect">
            <a:avLst/>
          </a:prstGeom>
          <a:solidFill>
            <a:srgbClr val="BFE1FF"/>
          </a:solidFill>
        </p:spPr>
        <p:txBody>
          <a:bodyPr vert="horz" wrap="square" lIns="0" tIns="0" rIns="0" bIns="0"/>
          <a:lstStyle/>
          <a:p>
            <a:pPr algn="l" rtl="0" eaLnBrk="0">
              <a:lnSpc>
                <a:spcPct val="110000"/>
              </a:lnSpc>
            </a:pPr>
            <a:endParaRPr lang="en-US" altLang="en-US" sz="1000" dirty="0">
              <a:latin typeface="微软雅黑" panose="020B0503020204020204" charset="-122"/>
              <a:ea typeface="微软雅黑" panose="020B0503020204020204" charset="-122"/>
            </a:endParaRPr>
          </a:p>
          <a:p>
            <a:pPr algn="l" rtl="0" eaLnBrk="0">
              <a:lnSpc>
                <a:spcPct val="110000"/>
              </a:lnSpc>
            </a:pPr>
            <a:endParaRPr lang="en-US" altLang="en-US" sz="1000" dirty="0">
              <a:latin typeface="微软雅黑" panose="020B0503020204020204" charset="-122"/>
              <a:ea typeface="微软雅黑" panose="020B0503020204020204" charset="-122"/>
            </a:endParaRPr>
          </a:p>
          <a:p>
            <a:pPr marL="81915" algn="l" rtl="0" eaLnBrk="0">
              <a:lnSpc>
                <a:spcPct val="99000"/>
              </a:lnSpc>
              <a:spcBef>
                <a:spcPts val="5"/>
              </a:spcBef>
            </a:pPr>
            <a:r>
              <a:rPr sz="1500" spc="90" dirty="0">
                <a:ln w="5799"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增长潜</a:t>
            </a:r>
            <a:r>
              <a:rPr sz="1500" spc="80" dirty="0">
                <a:ln w="5799"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力</a:t>
            </a:r>
            <a:endParaRPr lang="en-US" altLang="en-US" sz="1500" dirty="0">
              <a:latin typeface="微软雅黑" panose="020B0503020204020204" charset="-122"/>
              <a:ea typeface="微软雅黑" panose="020B0503020204020204" charset="-122"/>
            </a:endParaRPr>
          </a:p>
        </p:txBody>
      </p:sp>
      <p:pic>
        <p:nvPicPr>
          <p:cNvPr id="817" name="picture 817"/>
          <p:cNvPicPr>
            <a:picLocks noChangeAspect="1"/>
          </p:cNvPicPr>
          <p:nvPr/>
        </p:nvPicPr>
        <p:blipFill>
          <a:blip r:embed="rId2"/>
          <a:stretch>
            <a:fillRect/>
          </a:stretch>
        </p:blipFill>
        <p:spPr>
          <a:xfrm rot="21600000">
            <a:off x="4622291" y="2095500"/>
            <a:ext cx="344423" cy="3090672"/>
          </a:xfrm>
          <a:prstGeom prst="rect">
            <a:avLst/>
          </a:prstGeom>
        </p:spPr>
      </p:pic>
      <p:sp>
        <p:nvSpPr>
          <p:cNvPr id="819" name="textbox 819"/>
          <p:cNvSpPr/>
          <p:nvPr/>
        </p:nvSpPr>
        <p:spPr>
          <a:xfrm>
            <a:off x="813816" y="1520952"/>
            <a:ext cx="1243964" cy="514984"/>
          </a:xfrm>
          <a:prstGeom prst="rect">
            <a:avLst/>
          </a:prstGeom>
          <a:solidFill>
            <a:srgbClr val="BFE1FF"/>
          </a:solidFill>
        </p:spPr>
        <p:txBody>
          <a:bodyPr vert="horz" wrap="square" lIns="0" tIns="0" rIns="0" bIns="0"/>
          <a:lstStyle/>
          <a:p>
            <a:pPr algn="l" rtl="0" eaLnBrk="0">
              <a:lnSpc>
                <a:spcPct val="108000"/>
              </a:lnSpc>
            </a:pPr>
            <a:endParaRPr lang="en-US" altLang="en-US" sz="900" dirty="0">
              <a:latin typeface="微软雅黑" panose="020B0503020204020204" charset="-122"/>
              <a:ea typeface="微软雅黑" panose="020B0503020204020204" charset="-122"/>
            </a:endParaRPr>
          </a:p>
          <a:p>
            <a:pPr marL="92710" algn="l" rtl="0" eaLnBrk="0">
              <a:lnSpc>
                <a:spcPct val="99000"/>
              </a:lnSpc>
              <a:spcBef>
                <a:spcPts val="5"/>
              </a:spcBef>
            </a:pPr>
            <a:r>
              <a:rPr sz="1500" spc="7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总需求</a:t>
            </a:r>
            <a:r>
              <a:rPr sz="1500" spc="6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量</a:t>
            </a:r>
            <a:endParaRPr lang="en-US" altLang="en-US" sz="1500" dirty="0">
              <a:latin typeface="微软雅黑" panose="020B0503020204020204" charset="-122"/>
              <a:ea typeface="微软雅黑" panose="020B0503020204020204" charset="-122"/>
            </a:endParaRPr>
          </a:p>
        </p:txBody>
      </p:sp>
      <p:sp>
        <p:nvSpPr>
          <p:cNvPr id="820" name="path"/>
          <p:cNvSpPr/>
          <p:nvPr/>
        </p:nvSpPr>
        <p:spPr>
          <a:xfrm>
            <a:off x="5817048" y="2227138"/>
            <a:ext cx="85453" cy="3261014"/>
          </a:xfrm>
          <a:custGeom>
            <a:avLst/>
            <a:gdLst/>
            <a:ahLst/>
            <a:cxnLst/>
            <a:rect l="0" t="0" r="0" b="0"/>
            <a:pathLst>
              <a:path w="134" h="5135">
                <a:moveTo>
                  <a:pt x="129" y="5"/>
                </a:moveTo>
                <a:lnTo>
                  <a:pt x="4" y="120"/>
                </a:lnTo>
                <a:lnTo>
                  <a:pt x="129" y="235"/>
                </a:lnTo>
                <a:moveTo>
                  <a:pt x="129" y="2645"/>
                </a:moveTo>
                <a:lnTo>
                  <a:pt x="4" y="2760"/>
                </a:lnTo>
                <a:lnTo>
                  <a:pt x="129" y="2875"/>
                </a:lnTo>
                <a:moveTo>
                  <a:pt x="129" y="4900"/>
                </a:moveTo>
                <a:lnTo>
                  <a:pt x="4" y="5015"/>
                </a:lnTo>
                <a:lnTo>
                  <a:pt x="129" y="5130"/>
                </a:lnTo>
              </a:path>
            </a:pathLst>
          </a:custGeom>
          <a:noFill/>
          <a:ln w="9143" cap="flat">
            <a:solidFill>
              <a:srgbClr val="808080">
                <a:alpha val="100000"/>
              </a:srgbClr>
            </a:solidFill>
            <a:prstDash val="solid"/>
            <a:round/>
          </a:ln>
        </p:spPr>
        <p:txBody>
          <a:bodyPr rtlCol="0"/>
          <a:lstStyle/>
          <a:p>
            <a:pPr algn="ctr"/>
            <a:endParaRPr lang="zh-CN" altLang="en-US"/>
          </a:p>
        </p:txBody>
      </p:sp>
      <p:sp>
        <p:nvSpPr>
          <p:cNvPr id="821" name="path"/>
          <p:cNvSpPr/>
          <p:nvPr/>
        </p:nvSpPr>
        <p:spPr>
          <a:xfrm>
            <a:off x="5894451" y="2376551"/>
            <a:ext cx="107060" cy="1530350"/>
          </a:xfrm>
          <a:custGeom>
            <a:avLst/>
            <a:gdLst/>
            <a:ahLst/>
            <a:cxnLst/>
            <a:rect l="0" t="0" r="0" b="0"/>
            <a:pathLst>
              <a:path w="168" h="2410">
                <a:moveTo>
                  <a:pt x="7" y="0"/>
                </a:moveTo>
                <a:lnTo>
                  <a:pt x="7" y="822"/>
                </a:lnTo>
                <a:lnTo>
                  <a:pt x="168" y="822"/>
                </a:lnTo>
                <a:moveTo>
                  <a:pt x="168" y="990"/>
                </a:moveTo>
                <a:lnTo>
                  <a:pt x="7" y="990"/>
                </a:lnTo>
                <a:lnTo>
                  <a:pt x="7" y="2410"/>
                </a:lnTo>
              </a:path>
            </a:pathLst>
          </a:custGeom>
          <a:noFill/>
          <a:ln w="9143" cap="flat">
            <a:solidFill>
              <a:srgbClr val="808080">
                <a:alpha val="100000"/>
              </a:srgbClr>
            </a:solidFill>
            <a:prstDash val="solid"/>
            <a:round/>
          </a:ln>
        </p:spPr>
        <p:txBody>
          <a:bodyPr rtlCol="0"/>
          <a:lstStyle/>
          <a:p>
            <a:pPr algn="ctr"/>
            <a:endParaRPr lang="zh-CN" altLang="en-US"/>
          </a:p>
        </p:txBody>
      </p:sp>
      <p:sp>
        <p:nvSpPr>
          <p:cNvPr id="822" name="textbox 822"/>
          <p:cNvSpPr/>
          <p:nvPr/>
        </p:nvSpPr>
        <p:spPr>
          <a:xfrm>
            <a:off x="7374523" y="5057906"/>
            <a:ext cx="817880" cy="255270"/>
          </a:xfrm>
          <a:prstGeom prst="rect">
            <a:avLst/>
          </a:prstGeom>
        </p:spPr>
        <p:txBody>
          <a:bodyPr vert="horz" wrap="square" lIns="0" tIns="0" rIns="0" bIns="0"/>
          <a:lstStyle/>
          <a:p>
            <a:pPr algn="l" rtl="0" eaLnBrk="0">
              <a:lnSpc>
                <a:spcPct val="83000"/>
              </a:lnSpc>
            </a:pPr>
            <a:endParaRPr lang="en-US" altLang="en-US" sz="100" dirty="0">
              <a:latin typeface="微软雅黑" panose="020B0503020204020204" charset="-122"/>
              <a:ea typeface="微软雅黑" panose="020B0503020204020204" charset="-122"/>
            </a:endParaRPr>
          </a:p>
          <a:p>
            <a:pPr marL="12700" algn="l" rtl="0" eaLnBrk="0">
              <a:lnSpc>
                <a:spcPts val="1810"/>
              </a:lnSpc>
            </a:pPr>
            <a:r>
              <a:rPr sz="1500" spc="6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小型客</a:t>
            </a:r>
            <a:r>
              <a:rPr sz="1500" spc="5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户</a:t>
            </a:r>
            <a:endParaRPr lang="en-US" altLang="en-US" sz="1500" dirty="0">
              <a:latin typeface="微软雅黑" panose="020B0503020204020204" charset="-122"/>
              <a:ea typeface="微软雅黑" panose="020B0503020204020204" charset="-122"/>
            </a:endParaRPr>
          </a:p>
        </p:txBody>
      </p:sp>
      <p:sp>
        <p:nvSpPr>
          <p:cNvPr id="823" name="textbox 823"/>
          <p:cNvSpPr/>
          <p:nvPr/>
        </p:nvSpPr>
        <p:spPr>
          <a:xfrm>
            <a:off x="8818509" y="1037437"/>
            <a:ext cx="114935" cy="1840229"/>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endParaRPr sz="600" spc="0" dirty="0">
              <a:solidFill>
                <a:srgbClr val="808080">
                  <a:alpha val="100000"/>
                </a:srgbClr>
              </a:solidFill>
              <a:latin typeface="Arial" panose="020B0604020202020204"/>
              <a:ea typeface="Arial" panose="020B0604020202020204"/>
              <a:cs typeface="Arial" panose="020B0604020202020204"/>
            </a:endParaRPr>
          </a:p>
        </p:txBody>
      </p:sp>
      <p:grpSp>
        <p:nvGrpSpPr>
          <p:cNvPr id="174" name="group 174"/>
          <p:cNvGrpSpPr/>
          <p:nvPr/>
        </p:nvGrpSpPr>
        <p:grpSpPr>
          <a:xfrm rot="21600000">
            <a:off x="106679" y="217932"/>
            <a:ext cx="329184" cy="329183"/>
            <a:chOff x="0" y="0"/>
            <a:chExt cx="329184" cy="329183"/>
          </a:xfrm>
        </p:grpSpPr>
        <p:sp>
          <p:nvSpPr>
            <p:cNvPr id="824" name="path"/>
            <p:cNvSpPr/>
            <p:nvPr/>
          </p:nvSpPr>
          <p:spPr>
            <a:xfrm>
              <a:off x="0" y="0"/>
              <a:ext cx="329184" cy="329183"/>
            </a:xfrm>
            <a:custGeom>
              <a:avLst/>
              <a:gdLst/>
              <a:ahLst/>
              <a:cxnLst/>
              <a:rect l="0" t="0" r="0" b="0"/>
              <a:pathLst>
                <a:path w="518" h="518">
                  <a:moveTo>
                    <a:pt x="0" y="259"/>
                  </a:moveTo>
                  <a:cubicBezTo>
                    <a:pt x="0" y="115"/>
                    <a:pt x="116" y="0"/>
                    <a:pt x="259" y="0"/>
                  </a:cubicBezTo>
                  <a:cubicBezTo>
                    <a:pt x="402" y="0"/>
                    <a:pt x="518" y="115"/>
                    <a:pt x="518" y="259"/>
                  </a:cubicBezTo>
                  <a:cubicBezTo>
                    <a:pt x="518" y="402"/>
                    <a:pt x="402" y="518"/>
                    <a:pt x="259" y="518"/>
                  </a:cubicBezTo>
                  <a:cubicBezTo>
                    <a:pt x="116" y="518"/>
                    <a:pt x="0" y="402"/>
                    <a:pt x="0" y="259"/>
                  </a:cubicBezTo>
                </a:path>
              </a:pathLst>
            </a:custGeom>
            <a:solidFill>
              <a:srgbClr val="0065BD">
                <a:alpha val="100000"/>
              </a:srgbClr>
            </a:solidFill>
            <a:ln cap="flat">
              <a:noFill/>
              <a:prstDash val="solid"/>
              <a:miter lim="0"/>
            </a:ln>
          </p:spPr>
          <p:txBody>
            <a:bodyPr rtlCol="0"/>
            <a:lstStyle/>
            <a:p>
              <a:pPr algn="ctr"/>
              <a:endParaRPr lang="zh-CN" altLang="en-US"/>
            </a:p>
          </p:txBody>
        </p:sp>
        <p:sp>
          <p:nvSpPr>
            <p:cNvPr id="825" name="textbox 825"/>
            <p:cNvSpPr/>
            <p:nvPr/>
          </p:nvSpPr>
          <p:spPr>
            <a:xfrm>
              <a:off x="-12700" y="-12700"/>
              <a:ext cx="354965" cy="409575"/>
            </a:xfrm>
            <a:prstGeom prst="rect">
              <a:avLst/>
            </a:prstGeom>
          </p:spPr>
          <p:txBody>
            <a:bodyPr vert="horz" wrap="square" lIns="0" tIns="0" rIns="0" bIns="0"/>
            <a:lstStyle/>
            <a:p>
              <a:pPr algn="l" rtl="0" eaLnBrk="0">
                <a:lnSpc>
                  <a:spcPct val="103000"/>
                </a:lnSpc>
              </a:pPr>
              <a:endParaRPr lang="en-US" altLang="en-US" sz="600" dirty="0">
                <a:latin typeface="微软雅黑" panose="020B0503020204020204" charset="-122"/>
                <a:ea typeface="微软雅黑" panose="020B0503020204020204" charset="-122"/>
              </a:endParaRPr>
            </a:p>
            <a:p>
              <a:pPr marL="129540" algn="l" rtl="0" eaLnBrk="0">
                <a:lnSpc>
                  <a:spcPct val="83000"/>
                </a:lnSpc>
                <a:spcBef>
                  <a:spcPts val="5"/>
                </a:spcBef>
              </a:pPr>
              <a:r>
                <a:rPr sz="1800" b="1" spc="0" dirty="0">
                  <a:solidFill>
                    <a:srgbClr val="FFFFFF">
                      <a:alpha val="100000"/>
                    </a:srgbClr>
                  </a:solidFill>
                  <a:latin typeface="微软雅黑" panose="020B0503020204020204" charset="-122"/>
                  <a:ea typeface="微软雅黑" panose="020B0503020204020204" charset="-122"/>
                  <a:cs typeface="Arial" panose="020B0604020202020204"/>
                </a:rPr>
                <a:t>1</a:t>
              </a:r>
              <a:endParaRPr lang="en-US" altLang="en-US" sz="1800" dirty="0">
                <a:latin typeface="微软雅黑" panose="020B0503020204020204" charset="-122"/>
                <a:ea typeface="微软雅黑" panose="020B0503020204020204" charset="-122"/>
              </a:endParaRPr>
            </a:p>
          </p:txBody>
        </p:sp>
      </p:grpSp>
      <p:sp>
        <p:nvSpPr>
          <p:cNvPr id="826" name="path"/>
          <p:cNvSpPr/>
          <p:nvPr/>
        </p:nvSpPr>
        <p:spPr>
          <a:xfrm>
            <a:off x="5894451" y="4052951"/>
            <a:ext cx="107060" cy="906145"/>
          </a:xfrm>
          <a:custGeom>
            <a:avLst/>
            <a:gdLst/>
            <a:ahLst/>
            <a:cxnLst/>
            <a:rect l="0" t="0" r="0" b="0"/>
            <a:pathLst>
              <a:path w="168" h="1427">
                <a:moveTo>
                  <a:pt x="7" y="0"/>
                </a:moveTo>
                <a:lnTo>
                  <a:pt x="7" y="1419"/>
                </a:lnTo>
                <a:lnTo>
                  <a:pt x="168" y="1419"/>
                </a:lnTo>
              </a:path>
            </a:pathLst>
          </a:custGeom>
          <a:noFill/>
          <a:ln w="9143" cap="flat">
            <a:solidFill>
              <a:srgbClr val="808080">
                <a:alpha val="100000"/>
              </a:srgbClr>
            </a:solidFill>
            <a:prstDash val="solid"/>
            <a:round/>
          </a:ln>
        </p:spPr>
        <p:txBody>
          <a:bodyPr rtlCol="0"/>
          <a:lstStyle/>
          <a:p>
            <a:pPr algn="ctr"/>
            <a:endParaRPr lang="zh-CN" altLang="en-US"/>
          </a:p>
        </p:txBody>
      </p:sp>
      <p:sp>
        <p:nvSpPr>
          <p:cNvPr id="827" name="path"/>
          <p:cNvSpPr/>
          <p:nvPr/>
        </p:nvSpPr>
        <p:spPr>
          <a:xfrm>
            <a:off x="5894832" y="1703832"/>
            <a:ext cx="106679" cy="526668"/>
          </a:xfrm>
          <a:custGeom>
            <a:avLst/>
            <a:gdLst/>
            <a:ahLst/>
            <a:cxnLst/>
            <a:rect l="0" t="0" r="0" b="0"/>
            <a:pathLst>
              <a:path w="167" h="829">
                <a:moveTo>
                  <a:pt x="167" y="7"/>
                </a:moveTo>
                <a:lnTo>
                  <a:pt x="7" y="7"/>
                </a:lnTo>
                <a:lnTo>
                  <a:pt x="7" y="829"/>
                </a:lnTo>
              </a:path>
            </a:pathLst>
          </a:custGeom>
          <a:noFill/>
          <a:ln w="9143" cap="flat">
            <a:solidFill>
              <a:srgbClr val="808080">
                <a:alpha val="100000"/>
              </a:srgbClr>
            </a:solidFill>
            <a:prstDash val="solid"/>
            <a:round/>
          </a:ln>
        </p:spPr>
        <p:txBody>
          <a:bodyPr rtlCol="0"/>
          <a:lstStyle/>
          <a:p>
            <a:pPr algn="ctr"/>
            <a:endParaRPr lang="zh-CN" altLang="en-US"/>
          </a:p>
        </p:txBody>
      </p:sp>
      <p:sp>
        <p:nvSpPr>
          <p:cNvPr id="828" name="path"/>
          <p:cNvSpPr/>
          <p:nvPr/>
        </p:nvSpPr>
        <p:spPr>
          <a:xfrm>
            <a:off x="5894451" y="5056632"/>
            <a:ext cx="107060" cy="282067"/>
          </a:xfrm>
          <a:custGeom>
            <a:avLst/>
            <a:gdLst/>
            <a:ahLst/>
            <a:cxnLst/>
            <a:rect l="0" t="0" r="0" b="0"/>
            <a:pathLst>
              <a:path w="168" h="444">
                <a:moveTo>
                  <a:pt x="168" y="7"/>
                </a:moveTo>
                <a:lnTo>
                  <a:pt x="7" y="7"/>
                </a:lnTo>
                <a:lnTo>
                  <a:pt x="7" y="444"/>
                </a:lnTo>
              </a:path>
            </a:pathLst>
          </a:custGeom>
          <a:noFill/>
          <a:ln w="9143" cap="flat">
            <a:solidFill>
              <a:srgbClr val="808080">
                <a:alpha val="100000"/>
              </a:srgbClr>
            </a:solidFill>
            <a:prstDash val="solid"/>
            <a:round/>
          </a:ln>
        </p:spPr>
        <p:txBody>
          <a:bodyPr rtlCol="0"/>
          <a:lstStyle/>
          <a:p>
            <a:pPr algn="ctr"/>
            <a:endParaRPr lang="zh-CN" altLang="en-US"/>
          </a:p>
        </p:txBody>
      </p:sp>
      <p:sp>
        <p:nvSpPr>
          <p:cNvPr id="829" name="path"/>
          <p:cNvSpPr/>
          <p:nvPr/>
        </p:nvSpPr>
        <p:spPr>
          <a:xfrm>
            <a:off x="5894451" y="5484800"/>
            <a:ext cx="107060" cy="282016"/>
          </a:xfrm>
          <a:custGeom>
            <a:avLst/>
            <a:gdLst/>
            <a:ahLst/>
            <a:cxnLst/>
            <a:rect l="0" t="0" r="0" b="0"/>
            <a:pathLst>
              <a:path w="168" h="444">
                <a:moveTo>
                  <a:pt x="7" y="0"/>
                </a:moveTo>
                <a:lnTo>
                  <a:pt x="7" y="436"/>
                </a:lnTo>
                <a:lnTo>
                  <a:pt x="168" y="436"/>
                </a:lnTo>
              </a:path>
            </a:pathLst>
          </a:custGeom>
          <a:noFill/>
          <a:ln w="9143" cap="flat">
            <a:solidFill>
              <a:srgbClr val="808080">
                <a:alpha val="100000"/>
              </a:srgbClr>
            </a:solidFill>
            <a:prstDash val="solid"/>
            <a:round/>
          </a:ln>
        </p:spPr>
        <p:txBody>
          <a:bodyPr rtlCol="0"/>
          <a:lstStyle/>
          <a:p>
            <a:pPr algn="ctr"/>
            <a:endParaRPr lang="zh-CN" altLang="en-US"/>
          </a:p>
        </p:txBody>
      </p:sp>
      <p:sp>
        <p:nvSpPr>
          <p:cNvPr id="830" name="textbox 830"/>
          <p:cNvSpPr/>
          <p:nvPr/>
        </p:nvSpPr>
        <p:spPr>
          <a:xfrm>
            <a:off x="8818435" y="4032021"/>
            <a:ext cx="114935" cy="262890"/>
          </a:xfrm>
          <a:prstGeom prst="rect">
            <a:avLst/>
          </a:prstGeom>
        </p:spPr>
        <p:txBody>
          <a:bodyPr vert="eaVert" wrap="square" lIns="0" tIns="0" rIns="0" bIns="0"/>
          <a:lstStyle/>
          <a:p>
            <a:pPr algn="l" rtl="0" eaLnBrk="0">
              <a:lnSpc>
                <a:spcPct val="85000"/>
              </a:lnSpc>
            </a:pPr>
            <a:endParaRPr lang="en-US" altLang="en-US" sz="100" dirty="0"/>
          </a:p>
          <a:p>
            <a:pPr marL="12700" algn="l" rtl="0" eaLnBrk="0">
              <a:lnSpc>
                <a:spcPct val="79000"/>
              </a:lnSpc>
            </a:pPr>
            <a:endParaRPr sz="600" spc="-10" dirty="0">
              <a:solidFill>
                <a:srgbClr val="808080">
                  <a:alpha val="100000"/>
                </a:srgbClr>
              </a:solidFill>
              <a:latin typeface="Arial" panose="020B0604020202020204"/>
              <a:ea typeface="Arial" panose="020B0604020202020204"/>
              <a:cs typeface="Arial" panose="020B060402020202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 name="textbox 831"/>
          <p:cNvSpPr/>
          <p:nvPr/>
        </p:nvSpPr>
        <p:spPr>
          <a:xfrm>
            <a:off x="118872" y="798576"/>
            <a:ext cx="8569959" cy="1640839"/>
          </a:xfrm>
          <a:prstGeom prst="rect">
            <a:avLst/>
          </a:prstGeom>
          <a:solidFill>
            <a:srgbClr val="BFE1FF"/>
          </a:solidFill>
        </p:spPr>
        <p:txBody>
          <a:bodyPr vert="horz" wrap="square" lIns="0" tIns="0" rIns="0" bIns="0"/>
          <a:lstStyle/>
          <a:p>
            <a:pPr algn="l" rtl="0" eaLnBrk="0">
              <a:lnSpc>
                <a:spcPct val="109000"/>
              </a:lnSpc>
            </a:pPr>
            <a:endParaRPr lang="en-US" altLang="en-US" sz="600" dirty="0">
              <a:latin typeface="微软雅黑" panose="020B0503020204020204" charset="-122"/>
              <a:ea typeface="微软雅黑" panose="020B0503020204020204" charset="-122"/>
            </a:endParaRPr>
          </a:p>
          <a:p>
            <a:pPr marL="2742565" algn="l" rtl="0" eaLnBrk="0">
              <a:lnSpc>
                <a:spcPct val="96000"/>
              </a:lnSpc>
              <a:spcBef>
                <a:spcPts val="5"/>
              </a:spcBef>
            </a:pPr>
            <a:r>
              <a:rPr sz="2400" b="1" spc="0" baseline="4000" dirty="0">
                <a:solidFill>
                  <a:srgbClr val="FFFFFF">
                    <a:alpha val="100000"/>
                  </a:srgbClr>
                </a:solidFill>
                <a:latin typeface="微软雅黑" panose="020B0503020204020204" charset="-122"/>
                <a:ea typeface="微软雅黑" panose="020B0503020204020204" charset="-122"/>
                <a:cs typeface="Arial" panose="020B0604020202020204"/>
              </a:rPr>
              <a:t>a</a:t>
            </a:r>
            <a:r>
              <a:rPr sz="1500" spc="140" dirty="0">
                <a:solidFill>
                  <a:srgbClr val="FFFFFF">
                    <a:alpha val="100000"/>
                  </a:srgbClr>
                </a:solidFill>
                <a:latin typeface="微软雅黑" panose="020B0503020204020204" charset="-122"/>
                <a:ea typeface="微软雅黑" panose="020B0503020204020204" charset="-122"/>
                <a:cs typeface="Arial" panose="020B0604020202020204"/>
              </a:rPr>
              <a:t> </a:t>
            </a:r>
            <a:r>
              <a:rPr sz="1500" spc="140" dirty="0">
                <a:ln w="5799"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客户背</a:t>
            </a:r>
            <a:r>
              <a:rPr sz="1500" spc="90" dirty="0">
                <a:ln w="5799"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景</a:t>
            </a:r>
            <a:endParaRPr lang="en-US" altLang="en-US" sz="1500" dirty="0">
              <a:latin typeface="微软雅黑" panose="020B0503020204020204" charset="-122"/>
              <a:ea typeface="微软雅黑" panose="020B0503020204020204" charset="-122"/>
            </a:endParaRPr>
          </a:p>
          <a:p>
            <a:pPr marL="2720340" algn="l" rtl="0" eaLnBrk="0">
              <a:lnSpc>
                <a:spcPct val="79000"/>
              </a:lnSpc>
              <a:spcBef>
                <a:spcPts val="125"/>
              </a:spcBef>
            </a:pPr>
            <a:r>
              <a:rPr sz="2000" spc="10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客户的市场现状与未来趋</a:t>
            </a:r>
            <a:r>
              <a:rPr sz="1500" spc="10" dirty="0">
                <a:solidFill>
                  <a:srgbClr val="000000">
                    <a:alpha val="100000"/>
                  </a:srgbClr>
                </a:solidFill>
                <a:latin typeface="微软雅黑" panose="020B0503020204020204" charset="-122"/>
                <a:ea typeface="微软雅黑" panose="020B0503020204020204" charset="-122"/>
                <a:cs typeface="楷体" panose="02010609060101010101" charset="-122"/>
              </a:rPr>
              <a:t>势</a:t>
            </a:r>
            <a:endParaRPr lang="en-US" altLang="en-US" sz="1500" dirty="0">
              <a:latin typeface="微软雅黑" panose="020B0503020204020204" charset="-122"/>
              <a:ea typeface="微软雅黑" panose="020B0503020204020204" charset="-122"/>
            </a:endParaRPr>
          </a:p>
          <a:p>
            <a:pPr marL="2720340" algn="l" rtl="0" eaLnBrk="0">
              <a:lnSpc>
                <a:spcPct val="79000"/>
              </a:lnSpc>
              <a:spcBef>
                <a:spcPts val="30"/>
              </a:spcBef>
            </a:pPr>
            <a:r>
              <a:rPr sz="2000" spc="10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客户的业务重点与战</a:t>
            </a:r>
            <a:r>
              <a:rPr sz="1500" spc="10" dirty="0">
                <a:solidFill>
                  <a:srgbClr val="000000">
                    <a:alpha val="100000"/>
                  </a:srgbClr>
                </a:solidFill>
                <a:latin typeface="微软雅黑" panose="020B0503020204020204" charset="-122"/>
                <a:ea typeface="微软雅黑" panose="020B0503020204020204" charset="-122"/>
                <a:cs typeface="楷体" panose="02010609060101010101" charset="-122"/>
              </a:rPr>
              <a:t>略</a:t>
            </a:r>
            <a:endParaRPr lang="en-US" altLang="en-US" sz="1500" dirty="0">
              <a:latin typeface="微软雅黑" panose="020B0503020204020204" charset="-122"/>
              <a:ea typeface="微软雅黑" panose="020B0503020204020204" charset="-122"/>
            </a:endParaRPr>
          </a:p>
          <a:p>
            <a:pPr marL="2720340" algn="l" rtl="0" eaLnBrk="0">
              <a:lnSpc>
                <a:spcPct val="79000"/>
              </a:lnSpc>
              <a:spcBef>
                <a:spcPts val="20"/>
              </a:spcBef>
            </a:pPr>
            <a:r>
              <a:rPr sz="2000" spc="10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未来可能的趋势性变</a:t>
            </a:r>
            <a:r>
              <a:rPr sz="1500" spc="10" dirty="0">
                <a:solidFill>
                  <a:srgbClr val="000000">
                    <a:alpha val="100000"/>
                  </a:srgbClr>
                </a:solidFill>
                <a:latin typeface="微软雅黑" panose="020B0503020204020204" charset="-122"/>
                <a:ea typeface="微软雅黑" panose="020B0503020204020204" charset="-122"/>
                <a:cs typeface="楷体" panose="02010609060101010101" charset="-122"/>
              </a:rPr>
              <a:t>化</a:t>
            </a:r>
            <a:endParaRPr lang="en-US" altLang="en-US" sz="1500" dirty="0">
              <a:latin typeface="微软雅黑" panose="020B0503020204020204" charset="-122"/>
              <a:ea typeface="微软雅黑" panose="020B0503020204020204" charset="-122"/>
            </a:endParaRPr>
          </a:p>
        </p:txBody>
      </p:sp>
      <p:grpSp>
        <p:nvGrpSpPr>
          <p:cNvPr id="176" name="group 176"/>
          <p:cNvGrpSpPr/>
          <p:nvPr/>
        </p:nvGrpSpPr>
        <p:grpSpPr>
          <a:xfrm rot="21600000">
            <a:off x="4431791" y="4312920"/>
            <a:ext cx="4256532" cy="1706879"/>
            <a:chOff x="0" y="0"/>
            <a:chExt cx="4256532" cy="1706879"/>
          </a:xfrm>
        </p:grpSpPr>
        <p:sp>
          <p:nvSpPr>
            <p:cNvPr id="832" name="rect"/>
            <p:cNvSpPr/>
            <p:nvPr/>
          </p:nvSpPr>
          <p:spPr>
            <a:xfrm>
              <a:off x="0" y="0"/>
              <a:ext cx="4256532" cy="1706879"/>
            </a:xfrm>
            <a:prstGeom prst="rect">
              <a:avLst/>
            </a:prstGeom>
            <a:solidFill>
              <a:srgbClr val="BFE1FF">
                <a:alpha val="100000"/>
              </a:srgbClr>
            </a:solidFill>
            <a:ln cap="flat">
              <a:noFill/>
              <a:prstDash val="solid"/>
              <a:miter lim="0"/>
            </a:ln>
          </p:spPr>
          <p:txBody>
            <a:bodyPr rtlCol="0"/>
            <a:lstStyle/>
            <a:p>
              <a:pPr algn="ctr"/>
              <a:endParaRPr lang="zh-CN" altLang="en-US"/>
            </a:p>
          </p:txBody>
        </p:sp>
        <p:sp>
          <p:nvSpPr>
            <p:cNvPr id="833" name="textbox 833"/>
            <p:cNvSpPr/>
            <p:nvPr/>
          </p:nvSpPr>
          <p:spPr>
            <a:xfrm>
              <a:off x="1649404" y="106684"/>
              <a:ext cx="2474595" cy="1483994"/>
            </a:xfrm>
            <a:prstGeom prst="rect">
              <a:avLst/>
            </a:prstGeom>
          </p:spPr>
          <p:txBody>
            <a:bodyPr vert="horz" wrap="square" lIns="0" tIns="0" rIns="0" bIns="0"/>
            <a:lstStyle/>
            <a:p>
              <a:pPr algn="l" rtl="0" eaLnBrk="0">
                <a:lnSpc>
                  <a:spcPct val="83000"/>
                </a:lnSpc>
              </a:pPr>
              <a:endParaRPr lang="en-US" altLang="en-US" sz="100" dirty="0">
                <a:latin typeface="微软雅黑" panose="020B0503020204020204" charset="-122"/>
                <a:ea typeface="微软雅黑" panose="020B0503020204020204" charset="-122"/>
              </a:endParaRPr>
            </a:p>
            <a:p>
              <a:pPr marL="12700" algn="l" rtl="0" eaLnBrk="0">
                <a:lnSpc>
                  <a:spcPts val="1820"/>
                </a:lnSpc>
              </a:pPr>
              <a:r>
                <a:rPr sz="1500" b="1" spc="0" dirty="0">
                  <a:solidFill>
                    <a:srgbClr val="D9D9D9">
                      <a:alpha val="100000"/>
                    </a:srgbClr>
                  </a:solidFill>
                  <a:latin typeface="微软雅黑" panose="020B0503020204020204" charset="-122"/>
                  <a:ea typeface="微软雅黑" panose="020B0503020204020204" charset="-122"/>
                  <a:cs typeface="Arial" panose="020B0604020202020204"/>
                </a:rPr>
                <a:t>d</a:t>
              </a:r>
              <a:r>
                <a:rPr sz="1500" spc="80" dirty="0">
                  <a:solidFill>
                    <a:srgbClr val="D9D9D9">
                      <a:alpha val="100000"/>
                    </a:srgbClr>
                  </a:solidFill>
                  <a:latin typeface="微软雅黑" panose="020B0503020204020204" charset="-122"/>
                  <a:ea typeface="微软雅黑" panose="020B0503020204020204" charset="-122"/>
                  <a:cs typeface="Arial" panose="020B0604020202020204"/>
                </a:rPr>
                <a:t>  </a:t>
              </a:r>
              <a:r>
                <a:rPr sz="1500" spc="8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客户需</a:t>
              </a:r>
              <a:r>
                <a:rPr sz="1500" spc="4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求</a:t>
              </a:r>
              <a:endParaRPr lang="en-US" altLang="en-US" sz="1500" dirty="0">
                <a:latin typeface="微软雅黑" panose="020B0503020204020204" charset="-122"/>
                <a:ea typeface="微软雅黑" panose="020B0503020204020204" charset="-122"/>
              </a:endParaRPr>
            </a:p>
            <a:p>
              <a:pPr marL="254635" algn="l" rtl="0" eaLnBrk="0">
                <a:lnSpc>
                  <a:spcPct val="79000"/>
                </a:lnSpc>
                <a:spcBef>
                  <a:spcPts val="100"/>
                </a:spcBef>
              </a:pPr>
              <a:r>
                <a:rPr sz="2000" spc="10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大客户的需求与期</a:t>
              </a:r>
              <a:r>
                <a:rPr sz="1500" spc="50" dirty="0">
                  <a:solidFill>
                    <a:srgbClr val="000000">
                      <a:alpha val="100000"/>
                    </a:srgbClr>
                  </a:solidFill>
                  <a:latin typeface="微软雅黑" panose="020B0503020204020204" charset="-122"/>
                  <a:ea typeface="微软雅黑" panose="020B0503020204020204" charset="-122"/>
                  <a:cs typeface="楷体" panose="02010609060101010101" charset="-122"/>
                </a:rPr>
                <a:t>望</a:t>
              </a:r>
              <a:endParaRPr lang="en-US" altLang="en-US" sz="1500" dirty="0">
                <a:latin typeface="微软雅黑" panose="020B0503020204020204" charset="-122"/>
                <a:ea typeface="微软雅黑" panose="020B0503020204020204" charset="-122"/>
              </a:endParaRPr>
            </a:p>
            <a:p>
              <a:pPr marL="447040" indent="-192405" algn="l" rtl="0" eaLnBrk="0">
                <a:lnSpc>
                  <a:spcPct val="86000"/>
                </a:lnSpc>
                <a:spcBef>
                  <a:spcPts val="125"/>
                </a:spcBef>
              </a:pPr>
              <a:r>
                <a:rPr sz="2000" spc="3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30" dirty="0">
                  <a:solidFill>
                    <a:srgbClr val="000000">
                      <a:alpha val="100000"/>
                    </a:srgbClr>
                  </a:solidFill>
                  <a:latin typeface="微软雅黑" panose="020B0503020204020204" charset="-122"/>
                  <a:ea typeface="微软雅黑" panose="020B0503020204020204" charset="-122"/>
                  <a:cs typeface="楷体" panose="02010609060101010101" charset="-122"/>
                </a:rPr>
                <a:t>在客户眼中， 我们与</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竞 </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争对手的相对表</a:t>
              </a:r>
              <a:r>
                <a:rPr sz="1500" spc="20" dirty="0">
                  <a:solidFill>
                    <a:srgbClr val="000000">
                      <a:alpha val="100000"/>
                    </a:srgbClr>
                  </a:solidFill>
                  <a:latin typeface="微软雅黑" panose="020B0503020204020204" charset="-122"/>
                  <a:ea typeface="微软雅黑" panose="020B0503020204020204" charset="-122"/>
                  <a:cs typeface="楷体" panose="02010609060101010101" charset="-122"/>
                </a:rPr>
                <a:t>现</a:t>
              </a:r>
              <a:endParaRPr lang="en-US" altLang="en-US" sz="1500" dirty="0">
                <a:latin typeface="微软雅黑" panose="020B0503020204020204" charset="-122"/>
                <a:ea typeface="微软雅黑" panose="020B0503020204020204" charset="-122"/>
              </a:endParaRPr>
            </a:p>
            <a:p>
              <a:pPr marL="450215" indent="-195580" algn="l" rtl="0" eaLnBrk="0">
                <a:lnSpc>
                  <a:spcPct val="88000"/>
                </a:lnSpc>
                <a:spcBef>
                  <a:spcPts val="240"/>
                </a:spcBef>
              </a:pPr>
              <a:r>
                <a:rPr sz="2000" spc="10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客户认为我们需要提</a:t>
              </a:r>
              <a:r>
                <a:rPr sz="1500" spc="10" dirty="0">
                  <a:solidFill>
                    <a:srgbClr val="000000">
                      <a:alpha val="100000"/>
                    </a:srgbClr>
                  </a:solidFill>
                  <a:latin typeface="微软雅黑" panose="020B0503020204020204" charset="-122"/>
                  <a:ea typeface="微软雅黑" panose="020B0503020204020204" charset="-122"/>
                  <a:cs typeface="楷体" panose="02010609060101010101" charset="-122"/>
                </a:rPr>
                <a:t>高</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50" dirty="0">
                  <a:solidFill>
                    <a:srgbClr val="000000">
                      <a:alpha val="100000"/>
                    </a:srgbClr>
                  </a:solidFill>
                  <a:latin typeface="微软雅黑" panose="020B0503020204020204" charset="-122"/>
                  <a:ea typeface="微软雅黑" panose="020B0503020204020204" charset="-122"/>
                  <a:cs typeface="楷体" panose="02010609060101010101" charset="-122"/>
                </a:rPr>
                <a:t>的方</a:t>
              </a:r>
              <a:r>
                <a:rPr sz="1500" spc="40" dirty="0">
                  <a:solidFill>
                    <a:srgbClr val="000000">
                      <a:alpha val="100000"/>
                    </a:srgbClr>
                  </a:solidFill>
                  <a:latin typeface="微软雅黑" panose="020B0503020204020204" charset="-122"/>
                  <a:ea typeface="微软雅黑" panose="020B0503020204020204" charset="-122"/>
                  <a:cs typeface="楷体" panose="02010609060101010101" charset="-122"/>
                </a:rPr>
                <a:t>面</a:t>
              </a:r>
              <a:endParaRPr lang="en-US" altLang="en-US" sz="1500" dirty="0">
                <a:latin typeface="微软雅黑" panose="020B0503020204020204" charset="-122"/>
                <a:ea typeface="微软雅黑" panose="020B0503020204020204" charset="-122"/>
              </a:endParaRPr>
            </a:p>
          </p:txBody>
        </p:sp>
        <p:sp>
          <p:nvSpPr>
            <p:cNvPr id="834" name="path"/>
            <p:cNvSpPr/>
            <p:nvPr/>
          </p:nvSpPr>
          <p:spPr>
            <a:xfrm>
              <a:off x="606933" y="444753"/>
              <a:ext cx="344550" cy="450850"/>
            </a:xfrm>
            <a:custGeom>
              <a:avLst/>
              <a:gdLst/>
              <a:ahLst/>
              <a:cxnLst/>
              <a:rect l="0" t="0" r="0" b="0"/>
              <a:pathLst>
                <a:path w="542" h="710">
                  <a:moveTo>
                    <a:pt x="314" y="209"/>
                  </a:moveTo>
                  <a:cubicBezTo>
                    <a:pt x="258" y="282"/>
                    <a:pt x="203" y="356"/>
                    <a:pt x="148" y="429"/>
                  </a:cubicBezTo>
                  <a:cubicBezTo>
                    <a:pt x="203" y="429"/>
                    <a:pt x="258" y="429"/>
                    <a:pt x="314" y="429"/>
                  </a:cubicBezTo>
                  <a:cubicBezTo>
                    <a:pt x="314" y="356"/>
                    <a:pt x="314" y="282"/>
                    <a:pt x="314" y="209"/>
                  </a:cubicBezTo>
                  <a:moveTo>
                    <a:pt x="314" y="0"/>
                  </a:moveTo>
                  <a:cubicBezTo>
                    <a:pt x="364" y="0"/>
                    <a:pt x="414" y="0"/>
                    <a:pt x="464" y="0"/>
                  </a:cubicBezTo>
                  <a:cubicBezTo>
                    <a:pt x="464" y="143"/>
                    <a:pt x="464" y="286"/>
                    <a:pt x="464" y="429"/>
                  </a:cubicBezTo>
                  <a:cubicBezTo>
                    <a:pt x="490" y="429"/>
                    <a:pt x="516" y="429"/>
                    <a:pt x="542" y="429"/>
                  </a:cubicBezTo>
                  <a:cubicBezTo>
                    <a:pt x="542" y="479"/>
                    <a:pt x="542" y="529"/>
                    <a:pt x="542" y="579"/>
                  </a:cubicBezTo>
                  <a:cubicBezTo>
                    <a:pt x="516" y="579"/>
                    <a:pt x="490" y="579"/>
                    <a:pt x="464" y="579"/>
                  </a:cubicBezTo>
                  <a:cubicBezTo>
                    <a:pt x="464" y="623"/>
                    <a:pt x="464" y="666"/>
                    <a:pt x="464" y="710"/>
                  </a:cubicBezTo>
                  <a:cubicBezTo>
                    <a:pt x="414" y="710"/>
                    <a:pt x="364" y="710"/>
                    <a:pt x="314" y="710"/>
                  </a:cubicBezTo>
                  <a:cubicBezTo>
                    <a:pt x="314" y="666"/>
                    <a:pt x="314" y="623"/>
                    <a:pt x="314" y="579"/>
                  </a:cubicBezTo>
                  <a:cubicBezTo>
                    <a:pt x="209" y="579"/>
                    <a:pt x="104" y="579"/>
                    <a:pt x="0" y="579"/>
                  </a:cubicBezTo>
                  <a:cubicBezTo>
                    <a:pt x="0" y="526"/>
                    <a:pt x="0" y="473"/>
                    <a:pt x="0" y="420"/>
                  </a:cubicBezTo>
                  <a:cubicBezTo>
                    <a:pt x="104" y="280"/>
                    <a:pt x="209" y="140"/>
                    <a:pt x="314" y="0"/>
                  </a:cubicBezTo>
                </a:path>
              </a:pathLst>
            </a:custGeom>
            <a:solidFill>
              <a:srgbClr val="C5C5C5">
                <a:alpha val="100000"/>
              </a:srgbClr>
            </a:solidFill>
            <a:ln cap="flat">
              <a:noFill/>
              <a:prstDash val="solid"/>
              <a:miter lim="0"/>
            </a:ln>
          </p:spPr>
          <p:txBody>
            <a:bodyPr rtlCol="0"/>
            <a:lstStyle/>
            <a:p>
              <a:pPr algn="ctr"/>
              <a:endParaRPr lang="zh-CN" altLang="en-US"/>
            </a:p>
          </p:txBody>
        </p:sp>
      </p:grpSp>
      <p:grpSp>
        <p:nvGrpSpPr>
          <p:cNvPr id="178" name="group 178"/>
          <p:cNvGrpSpPr/>
          <p:nvPr/>
        </p:nvGrpSpPr>
        <p:grpSpPr>
          <a:xfrm rot="21600000">
            <a:off x="118872" y="4312920"/>
            <a:ext cx="4195571" cy="1706879"/>
            <a:chOff x="0" y="0"/>
            <a:chExt cx="4195571" cy="1706879"/>
          </a:xfrm>
        </p:grpSpPr>
        <p:sp>
          <p:nvSpPr>
            <p:cNvPr id="835" name="rect"/>
            <p:cNvSpPr/>
            <p:nvPr/>
          </p:nvSpPr>
          <p:spPr>
            <a:xfrm>
              <a:off x="0" y="0"/>
              <a:ext cx="4195571" cy="1706879"/>
            </a:xfrm>
            <a:prstGeom prst="rect">
              <a:avLst/>
            </a:prstGeom>
            <a:solidFill>
              <a:srgbClr val="BFE1FF">
                <a:alpha val="100000"/>
              </a:srgbClr>
            </a:solidFill>
            <a:ln cap="flat">
              <a:noFill/>
              <a:prstDash val="solid"/>
              <a:miter lim="0"/>
            </a:ln>
          </p:spPr>
          <p:txBody>
            <a:bodyPr rtlCol="0"/>
            <a:lstStyle/>
            <a:p>
              <a:pPr algn="ctr"/>
              <a:endParaRPr lang="zh-CN" altLang="en-US"/>
            </a:p>
          </p:txBody>
        </p:sp>
        <p:sp>
          <p:nvSpPr>
            <p:cNvPr id="836" name="textbox 836"/>
            <p:cNvSpPr/>
            <p:nvPr/>
          </p:nvSpPr>
          <p:spPr>
            <a:xfrm>
              <a:off x="401309" y="106684"/>
              <a:ext cx="2246629" cy="1477010"/>
            </a:xfrm>
            <a:prstGeom prst="rect">
              <a:avLst/>
            </a:prstGeom>
          </p:spPr>
          <p:txBody>
            <a:bodyPr vert="horz" wrap="square" lIns="0" tIns="0" rIns="0" bIns="0"/>
            <a:lstStyle/>
            <a:p>
              <a:pPr algn="l" rtl="0" eaLnBrk="0">
                <a:lnSpc>
                  <a:spcPct val="87000"/>
                </a:lnSpc>
              </a:pPr>
              <a:endParaRPr lang="en-US" altLang="en-US" sz="100" dirty="0">
                <a:latin typeface="微软雅黑" panose="020B0503020204020204" charset="-122"/>
                <a:ea typeface="微软雅黑" panose="020B0503020204020204" charset="-122"/>
              </a:endParaRPr>
            </a:p>
            <a:p>
              <a:pPr marL="12700" algn="l" rtl="0" eaLnBrk="0">
                <a:lnSpc>
                  <a:spcPct val="98000"/>
                </a:lnSpc>
              </a:pPr>
              <a:r>
                <a:rPr sz="1500" spc="11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客户关系与决策流</a:t>
              </a:r>
              <a:r>
                <a:rPr sz="1500" spc="8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程</a:t>
              </a:r>
              <a:endParaRPr lang="en-US" altLang="en-US" sz="1500" dirty="0">
                <a:latin typeface="微软雅黑" panose="020B0503020204020204" charset="-122"/>
                <a:ea typeface="微软雅黑" panose="020B0503020204020204" charset="-122"/>
              </a:endParaRPr>
            </a:p>
            <a:p>
              <a:pPr marL="26670" algn="l" rtl="0" eaLnBrk="0">
                <a:lnSpc>
                  <a:spcPct val="79000"/>
                </a:lnSpc>
                <a:spcBef>
                  <a:spcPts val="150"/>
                </a:spcBef>
              </a:pPr>
              <a:r>
                <a:rPr sz="2000" spc="10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客户决策流</a:t>
              </a:r>
              <a:r>
                <a:rPr sz="1500" spc="50" dirty="0">
                  <a:solidFill>
                    <a:srgbClr val="000000">
                      <a:alpha val="100000"/>
                    </a:srgbClr>
                  </a:solidFill>
                  <a:latin typeface="微软雅黑" panose="020B0503020204020204" charset="-122"/>
                  <a:ea typeface="微软雅黑" panose="020B0503020204020204" charset="-122"/>
                  <a:cs typeface="楷体" panose="02010609060101010101" charset="-122"/>
                </a:rPr>
                <a:t>程</a:t>
              </a:r>
              <a:endParaRPr lang="en-US" altLang="en-US" sz="1500" dirty="0">
                <a:latin typeface="微软雅黑" panose="020B0503020204020204" charset="-122"/>
                <a:ea typeface="微软雅黑" panose="020B0503020204020204" charset="-122"/>
              </a:endParaRPr>
            </a:p>
            <a:p>
              <a:pPr marL="26670" algn="l" rtl="0" eaLnBrk="0">
                <a:lnSpc>
                  <a:spcPct val="79000"/>
                </a:lnSpc>
                <a:spcBef>
                  <a:spcPts val="25"/>
                </a:spcBef>
              </a:pPr>
              <a:r>
                <a:rPr sz="2000" spc="10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关键决策者及相关动</a:t>
              </a:r>
              <a:r>
                <a:rPr sz="1500" spc="10" dirty="0">
                  <a:solidFill>
                    <a:srgbClr val="000000">
                      <a:alpha val="100000"/>
                    </a:srgbClr>
                  </a:solidFill>
                  <a:latin typeface="微软雅黑" panose="020B0503020204020204" charset="-122"/>
                  <a:ea typeface="微软雅黑" panose="020B0503020204020204" charset="-122"/>
                  <a:cs typeface="楷体" panose="02010609060101010101" charset="-122"/>
                </a:rPr>
                <a:t>态</a:t>
              </a:r>
              <a:endParaRPr lang="en-US" altLang="en-US" sz="1500" dirty="0">
                <a:latin typeface="微软雅黑" panose="020B0503020204020204" charset="-122"/>
                <a:ea typeface="微软雅黑" panose="020B0503020204020204" charset="-122"/>
              </a:endParaRPr>
            </a:p>
            <a:p>
              <a:pPr marL="26670" algn="l" rtl="0" eaLnBrk="0">
                <a:lnSpc>
                  <a:spcPct val="79000"/>
                </a:lnSpc>
                <a:spcBef>
                  <a:spcPts val="35"/>
                </a:spcBef>
              </a:pPr>
              <a:r>
                <a:rPr sz="2000" spc="10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客户的组织架</a:t>
              </a:r>
              <a:r>
                <a:rPr sz="1500" spc="10" dirty="0">
                  <a:solidFill>
                    <a:srgbClr val="000000">
                      <a:alpha val="100000"/>
                    </a:srgbClr>
                  </a:solidFill>
                  <a:latin typeface="微软雅黑" panose="020B0503020204020204" charset="-122"/>
                  <a:ea typeface="微软雅黑" panose="020B0503020204020204" charset="-122"/>
                  <a:cs typeface="楷体" panose="02010609060101010101" charset="-122"/>
                </a:rPr>
                <a:t>构</a:t>
              </a:r>
              <a:endParaRPr lang="en-US" altLang="en-US" sz="1500" dirty="0">
                <a:latin typeface="微软雅黑" panose="020B0503020204020204" charset="-122"/>
                <a:ea typeface="微软雅黑" panose="020B0503020204020204" charset="-122"/>
              </a:endParaRPr>
            </a:p>
            <a:p>
              <a:pPr marL="213995" indent="-187960" algn="l" rtl="0" eaLnBrk="0">
                <a:lnSpc>
                  <a:spcPct val="89000"/>
                </a:lnSpc>
                <a:spcBef>
                  <a:spcPts val="30"/>
                </a:spcBef>
              </a:pPr>
              <a:r>
                <a:rPr sz="2000" spc="10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管理客户关系所需</a:t>
              </a:r>
              <a:r>
                <a:rPr sz="1500" spc="10" dirty="0">
                  <a:solidFill>
                    <a:srgbClr val="000000">
                      <a:alpha val="100000"/>
                    </a:srgbClr>
                  </a:solidFill>
                  <a:latin typeface="微软雅黑" panose="020B0503020204020204" charset="-122"/>
                  <a:ea typeface="微软雅黑" panose="020B0503020204020204" charset="-122"/>
                  <a:cs typeface="楷体" panose="02010609060101010101" charset="-122"/>
                </a:rPr>
                <a:t>的</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60" dirty="0">
                  <a:solidFill>
                    <a:srgbClr val="000000">
                      <a:alpha val="100000"/>
                    </a:srgbClr>
                  </a:solidFill>
                  <a:latin typeface="微软雅黑" panose="020B0503020204020204" charset="-122"/>
                  <a:ea typeface="微软雅黑" panose="020B0503020204020204" charset="-122"/>
                  <a:cs typeface="楷体" panose="02010609060101010101" charset="-122"/>
                </a:rPr>
                <a:t>行</a:t>
              </a:r>
              <a:r>
                <a:rPr sz="1500" spc="40" dirty="0">
                  <a:solidFill>
                    <a:srgbClr val="000000">
                      <a:alpha val="100000"/>
                    </a:srgbClr>
                  </a:solidFill>
                  <a:latin typeface="微软雅黑" panose="020B0503020204020204" charset="-122"/>
                  <a:ea typeface="微软雅黑" panose="020B0503020204020204" charset="-122"/>
                  <a:cs typeface="楷体" panose="02010609060101010101" charset="-122"/>
                </a:rPr>
                <a:t>动</a:t>
              </a:r>
              <a:endParaRPr lang="en-US" altLang="en-US" sz="1500" dirty="0">
                <a:latin typeface="微软雅黑" panose="020B0503020204020204" charset="-122"/>
                <a:ea typeface="微软雅黑" panose="020B0503020204020204" charset="-122"/>
              </a:endParaRPr>
            </a:p>
          </p:txBody>
        </p:sp>
        <p:sp>
          <p:nvSpPr>
            <p:cNvPr id="837" name="path"/>
            <p:cNvSpPr/>
            <p:nvPr/>
          </p:nvSpPr>
          <p:spPr>
            <a:xfrm>
              <a:off x="3248279" y="444753"/>
              <a:ext cx="346074" cy="450850"/>
            </a:xfrm>
            <a:custGeom>
              <a:avLst/>
              <a:gdLst/>
              <a:ahLst/>
              <a:cxnLst/>
              <a:rect l="0" t="0" r="0" b="0"/>
              <a:pathLst>
                <a:path w="544" h="710">
                  <a:moveTo>
                    <a:pt x="266" y="0"/>
                  </a:moveTo>
                  <a:cubicBezTo>
                    <a:pt x="352" y="0"/>
                    <a:pt x="415" y="16"/>
                    <a:pt x="453" y="50"/>
                  </a:cubicBezTo>
                  <a:cubicBezTo>
                    <a:pt x="492" y="83"/>
                    <a:pt x="511" y="125"/>
                    <a:pt x="511" y="176"/>
                  </a:cubicBezTo>
                  <a:cubicBezTo>
                    <a:pt x="511" y="205"/>
                    <a:pt x="503" y="232"/>
                    <a:pt x="487" y="256"/>
                  </a:cubicBezTo>
                  <a:cubicBezTo>
                    <a:pt x="472" y="280"/>
                    <a:pt x="448" y="301"/>
                    <a:pt x="416" y="320"/>
                  </a:cubicBezTo>
                  <a:cubicBezTo>
                    <a:pt x="442" y="326"/>
                    <a:pt x="462" y="334"/>
                    <a:pt x="475" y="343"/>
                  </a:cubicBezTo>
                  <a:cubicBezTo>
                    <a:pt x="497" y="357"/>
                    <a:pt x="514" y="375"/>
                    <a:pt x="526" y="398"/>
                  </a:cubicBezTo>
                  <a:cubicBezTo>
                    <a:pt x="538" y="421"/>
                    <a:pt x="544" y="448"/>
                    <a:pt x="544" y="480"/>
                  </a:cubicBezTo>
                  <a:cubicBezTo>
                    <a:pt x="544" y="520"/>
                    <a:pt x="534" y="559"/>
                    <a:pt x="514" y="595"/>
                  </a:cubicBezTo>
                  <a:cubicBezTo>
                    <a:pt x="494" y="632"/>
                    <a:pt x="465" y="660"/>
                    <a:pt x="427" y="680"/>
                  </a:cubicBezTo>
                  <a:cubicBezTo>
                    <a:pt x="390" y="700"/>
                    <a:pt x="340" y="710"/>
                    <a:pt x="278" y="710"/>
                  </a:cubicBezTo>
                  <a:cubicBezTo>
                    <a:pt x="218" y="710"/>
                    <a:pt x="171" y="702"/>
                    <a:pt x="136" y="688"/>
                  </a:cubicBezTo>
                  <a:cubicBezTo>
                    <a:pt x="102" y="673"/>
                    <a:pt x="73" y="651"/>
                    <a:pt x="51" y="623"/>
                  </a:cubicBezTo>
                  <a:cubicBezTo>
                    <a:pt x="28" y="595"/>
                    <a:pt x="12" y="560"/>
                    <a:pt x="0" y="517"/>
                  </a:cubicBezTo>
                  <a:cubicBezTo>
                    <a:pt x="60" y="508"/>
                    <a:pt x="122" y="500"/>
                    <a:pt x="182" y="491"/>
                  </a:cubicBezTo>
                  <a:cubicBezTo>
                    <a:pt x="190" y="530"/>
                    <a:pt x="201" y="556"/>
                    <a:pt x="216" y="571"/>
                  </a:cubicBezTo>
                  <a:cubicBezTo>
                    <a:pt x="231" y="586"/>
                    <a:pt x="250" y="593"/>
                    <a:pt x="274" y="593"/>
                  </a:cubicBezTo>
                  <a:cubicBezTo>
                    <a:pt x="298" y="593"/>
                    <a:pt x="319" y="584"/>
                    <a:pt x="335" y="565"/>
                  </a:cubicBezTo>
                  <a:cubicBezTo>
                    <a:pt x="352" y="547"/>
                    <a:pt x="360" y="522"/>
                    <a:pt x="360" y="491"/>
                  </a:cubicBezTo>
                  <a:cubicBezTo>
                    <a:pt x="360" y="458"/>
                    <a:pt x="352" y="434"/>
                    <a:pt x="336" y="417"/>
                  </a:cubicBezTo>
                  <a:cubicBezTo>
                    <a:pt x="320" y="399"/>
                    <a:pt x="299" y="390"/>
                    <a:pt x="272" y="390"/>
                  </a:cubicBezTo>
                  <a:cubicBezTo>
                    <a:pt x="258" y="390"/>
                    <a:pt x="238" y="394"/>
                    <a:pt x="213" y="402"/>
                  </a:cubicBezTo>
                  <a:cubicBezTo>
                    <a:pt x="216" y="356"/>
                    <a:pt x="219" y="311"/>
                    <a:pt x="222" y="265"/>
                  </a:cubicBezTo>
                  <a:cubicBezTo>
                    <a:pt x="232" y="267"/>
                    <a:pt x="240" y="267"/>
                    <a:pt x="246" y="267"/>
                  </a:cubicBezTo>
                  <a:cubicBezTo>
                    <a:pt x="270" y="267"/>
                    <a:pt x="290" y="260"/>
                    <a:pt x="306" y="244"/>
                  </a:cubicBezTo>
                  <a:cubicBezTo>
                    <a:pt x="322" y="228"/>
                    <a:pt x="330" y="209"/>
                    <a:pt x="330" y="187"/>
                  </a:cubicBezTo>
                  <a:cubicBezTo>
                    <a:pt x="330" y="166"/>
                    <a:pt x="324" y="149"/>
                    <a:pt x="312" y="137"/>
                  </a:cubicBezTo>
                  <a:cubicBezTo>
                    <a:pt x="300" y="124"/>
                    <a:pt x="284" y="118"/>
                    <a:pt x="263" y="118"/>
                  </a:cubicBezTo>
                  <a:cubicBezTo>
                    <a:pt x="241" y="118"/>
                    <a:pt x="223" y="125"/>
                    <a:pt x="210" y="138"/>
                  </a:cubicBezTo>
                  <a:cubicBezTo>
                    <a:pt x="196" y="152"/>
                    <a:pt x="187" y="176"/>
                    <a:pt x="182" y="210"/>
                  </a:cubicBezTo>
                  <a:cubicBezTo>
                    <a:pt x="125" y="199"/>
                    <a:pt x="67" y="188"/>
                    <a:pt x="9" y="177"/>
                  </a:cubicBezTo>
                  <a:cubicBezTo>
                    <a:pt x="24" y="120"/>
                    <a:pt x="51" y="76"/>
                    <a:pt x="92" y="46"/>
                  </a:cubicBezTo>
                  <a:cubicBezTo>
                    <a:pt x="133" y="15"/>
                    <a:pt x="191" y="0"/>
                    <a:pt x="266" y="0"/>
                  </a:cubicBezTo>
                </a:path>
              </a:pathLst>
            </a:custGeom>
            <a:solidFill>
              <a:srgbClr val="C5C5C5">
                <a:alpha val="100000"/>
              </a:srgbClr>
            </a:solidFill>
            <a:ln cap="flat">
              <a:noFill/>
              <a:prstDash val="solid"/>
              <a:miter lim="0"/>
            </a:ln>
          </p:spPr>
          <p:txBody>
            <a:bodyPr rtlCol="0"/>
            <a:lstStyle/>
            <a:p>
              <a:pPr algn="ctr"/>
              <a:endParaRPr lang="zh-CN" altLang="en-US"/>
            </a:p>
          </p:txBody>
        </p:sp>
        <p:sp>
          <p:nvSpPr>
            <p:cNvPr id="838" name="path"/>
            <p:cNvSpPr/>
            <p:nvPr/>
          </p:nvSpPr>
          <p:spPr>
            <a:xfrm>
              <a:off x="74675" y="73151"/>
              <a:ext cx="246888" cy="246888"/>
            </a:xfrm>
            <a:custGeom>
              <a:avLst/>
              <a:gdLst/>
              <a:ahLst/>
              <a:cxnLst/>
              <a:rect l="0" t="0" r="0" b="0"/>
              <a:pathLst>
                <a:path w="388" h="388">
                  <a:moveTo>
                    <a:pt x="0" y="194"/>
                  </a:moveTo>
                  <a:cubicBezTo>
                    <a:pt x="0" y="87"/>
                    <a:pt x="87" y="0"/>
                    <a:pt x="194" y="0"/>
                  </a:cubicBezTo>
                  <a:cubicBezTo>
                    <a:pt x="301" y="0"/>
                    <a:pt x="388" y="87"/>
                    <a:pt x="388" y="194"/>
                  </a:cubicBezTo>
                  <a:cubicBezTo>
                    <a:pt x="388" y="301"/>
                    <a:pt x="301" y="388"/>
                    <a:pt x="194" y="388"/>
                  </a:cubicBezTo>
                  <a:cubicBezTo>
                    <a:pt x="87" y="388"/>
                    <a:pt x="0" y="301"/>
                    <a:pt x="0" y="194"/>
                  </a:cubicBezTo>
                </a:path>
              </a:pathLst>
            </a:custGeom>
            <a:solidFill>
              <a:srgbClr val="0065BD">
                <a:alpha val="100000"/>
              </a:srgbClr>
            </a:solidFill>
            <a:ln cap="flat">
              <a:noFill/>
              <a:prstDash val="solid"/>
              <a:miter lim="0"/>
            </a:ln>
          </p:spPr>
          <p:txBody>
            <a:bodyPr rtlCol="0"/>
            <a:lstStyle/>
            <a:p>
              <a:pPr algn="ctr"/>
              <a:endParaRPr lang="zh-CN" altLang="en-US"/>
            </a:p>
          </p:txBody>
        </p:sp>
      </p:grpSp>
      <p:sp>
        <p:nvSpPr>
          <p:cNvPr id="839" name="path"/>
          <p:cNvSpPr/>
          <p:nvPr/>
        </p:nvSpPr>
        <p:spPr>
          <a:xfrm>
            <a:off x="4273550" y="2139950"/>
            <a:ext cx="212725" cy="450850"/>
          </a:xfrm>
          <a:custGeom>
            <a:avLst/>
            <a:gdLst/>
            <a:ahLst/>
            <a:cxnLst/>
            <a:rect l="0" t="0" r="0" b="0"/>
            <a:pathLst>
              <a:path w="335" h="710">
                <a:moveTo>
                  <a:pt x="200" y="0"/>
                </a:moveTo>
                <a:cubicBezTo>
                  <a:pt x="245" y="0"/>
                  <a:pt x="290" y="0"/>
                  <a:pt x="335" y="0"/>
                </a:cubicBezTo>
                <a:cubicBezTo>
                  <a:pt x="335" y="236"/>
                  <a:pt x="335" y="473"/>
                  <a:pt x="335" y="710"/>
                </a:cubicBezTo>
                <a:cubicBezTo>
                  <a:pt x="280" y="710"/>
                  <a:pt x="225" y="710"/>
                  <a:pt x="170" y="710"/>
                </a:cubicBezTo>
                <a:cubicBezTo>
                  <a:pt x="170" y="555"/>
                  <a:pt x="170" y="399"/>
                  <a:pt x="170" y="244"/>
                </a:cubicBezTo>
                <a:cubicBezTo>
                  <a:pt x="144" y="268"/>
                  <a:pt x="118" y="288"/>
                  <a:pt x="93" y="303"/>
                </a:cubicBezTo>
                <a:cubicBezTo>
                  <a:pt x="68" y="318"/>
                  <a:pt x="37" y="332"/>
                  <a:pt x="0" y="346"/>
                </a:cubicBezTo>
                <a:cubicBezTo>
                  <a:pt x="0" y="293"/>
                  <a:pt x="0" y="240"/>
                  <a:pt x="0" y="187"/>
                </a:cubicBezTo>
                <a:cubicBezTo>
                  <a:pt x="55" y="165"/>
                  <a:pt x="98" y="140"/>
                  <a:pt x="128" y="110"/>
                </a:cubicBezTo>
                <a:cubicBezTo>
                  <a:pt x="159" y="80"/>
                  <a:pt x="183" y="43"/>
                  <a:pt x="200" y="0"/>
                </a:cubicBezTo>
              </a:path>
            </a:pathLst>
          </a:custGeom>
          <a:solidFill>
            <a:srgbClr val="C5C5C5">
              <a:alpha val="100000"/>
            </a:srgbClr>
          </a:solidFill>
          <a:ln cap="flat">
            <a:noFill/>
            <a:prstDash val="solid"/>
            <a:miter lim="0"/>
          </a:ln>
        </p:spPr>
        <p:txBody>
          <a:bodyPr rtlCol="0"/>
          <a:lstStyle/>
          <a:p>
            <a:pPr algn="ctr"/>
            <a:endParaRPr lang="zh-CN" altLang="en-US"/>
          </a:p>
        </p:txBody>
      </p:sp>
      <p:sp>
        <p:nvSpPr>
          <p:cNvPr id="840" name="path"/>
          <p:cNvSpPr/>
          <p:nvPr/>
        </p:nvSpPr>
        <p:spPr>
          <a:xfrm>
            <a:off x="3442715" y="1828800"/>
            <a:ext cx="1876044" cy="1501140"/>
          </a:xfrm>
          <a:custGeom>
            <a:avLst/>
            <a:gdLst/>
            <a:ahLst/>
            <a:cxnLst/>
            <a:rect l="0" t="0" r="0" b="0"/>
            <a:pathLst>
              <a:path w="2954" h="2364">
                <a:moveTo>
                  <a:pt x="1932" y="2300"/>
                </a:moveTo>
                <a:lnTo>
                  <a:pt x="2954" y="966"/>
                </a:lnTo>
                <a:lnTo>
                  <a:pt x="1501" y="0"/>
                </a:lnTo>
                <a:lnTo>
                  <a:pt x="0" y="1007"/>
                </a:lnTo>
                <a:lnTo>
                  <a:pt x="1007" y="2364"/>
                </a:lnTo>
              </a:path>
            </a:pathLst>
          </a:custGeom>
          <a:solidFill>
            <a:srgbClr val="00ADEF">
              <a:alpha val="100000"/>
            </a:srgbClr>
          </a:solidFill>
          <a:ln cap="flat">
            <a:noFill/>
            <a:prstDash val="solid"/>
            <a:miter lim="0"/>
          </a:ln>
        </p:spPr>
        <p:txBody>
          <a:bodyPr rtlCol="0"/>
          <a:lstStyle/>
          <a:p>
            <a:pPr algn="ctr"/>
            <a:endParaRPr lang="zh-CN" altLang="en-US"/>
          </a:p>
        </p:txBody>
      </p:sp>
      <p:grpSp>
        <p:nvGrpSpPr>
          <p:cNvPr id="180" name="group 180"/>
          <p:cNvGrpSpPr/>
          <p:nvPr/>
        </p:nvGrpSpPr>
        <p:grpSpPr>
          <a:xfrm rot="21600000">
            <a:off x="5417820" y="2525268"/>
            <a:ext cx="3270503" cy="1709927"/>
            <a:chOff x="0" y="0"/>
            <a:chExt cx="3270503" cy="1709927"/>
          </a:xfrm>
        </p:grpSpPr>
        <p:sp>
          <p:nvSpPr>
            <p:cNvPr id="841" name="path"/>
            <p:cNvSpPr/>
            <p:nvPr/>
          </p:nvSpPr>
          <p:spPr>
            <a:xfrm>
              <a:off x="0" y="0"/>
              <a:ext cx="3270503" cy="1709927"/>
            </a:xfrm>
            <a:custGeom>
              <a:avLst/>
              <a:gdLst/>
              <a:ahLst/>
              <a:cxnLst/>
              <a:rect l="0" t="0" r="0" b="0"/>
              <a:pathLst>
                <a:path w="5150" h="2692">
                  <a:moveTo>
                    <a:pt x="0" y="0"/>
                  </a:moveTo>
                  <a:lnTo>
                    <a:pt x="5150" y="0"/>
                  </a:lnTo>
                  <a:lnTo>
                    <a:pt x="5150" y="2692"/>
                  </a:lnTo>
                  <a:lnTo>
                    <a:pt x="919" y="2692"/>
                  </a:lnTo>
                  <a:lnTo>
                    <a:pt x="0" y="0"/>
                  </a:lnTo>
                  <a:close/>
                </a:path>
              </a:pathLst>
            </a:custGeom>
            <a:solidFill>
              <a:srgbClr val="BFE1FF">
                <a:alpha val="100000"/>
              </a:srgbClr>
            </a:solidFill>
            <a:ln cap="flat">
              <a:noFill/>
              <a:prstDash val="solid"/>
              <a:miter lim="0"/>
            </a:ln>
          </p:spPr>
          <p:txBody>
            <a:bodyPr rtlCol="0"/>
            <a:lstStyle/>
            <a:p>
              <a:pPr algn="ctr"/>
              <a:endParaRPr lang="zh-CN" altLang="en-US"/>
            </a:p>
          </p:txBody>
        </p:sp>
        <p:sp>
          <p:nvSpPr>
            <p:cNvPr id="842" name="textbox 842"/>
            <p:cNvSpPr/>
            <p:nvPr/>
          </p:nvSpPr>
          <p:spPr>
            <a:xfrm>
              <a:off x="1105185" y="661420"/>
              <a:ext cx="2030095" cy="756284"/>
            </a:xfrm>
            <a:prstGeom prst="rect">
              <a:avLst/>
            </a:prstGeom>
          </p:spPr>
          <p:txBody>
            <a:bodyPr vert="horz" wrap="square" lIns="0" tIns="0" rIns="0" bIns="0"/>
            <a:lstStyle/>
            <a:p>
              <a:pPr algn="l" rtl="0" eaLnBrk="0">
                <a:lnSpc>
                  <a:spcPct val="77000"/>
                </a:lnSpc>
              </a:pPr>
              <a:endParaRPr lang="en-US" altLang="en-US" sz="100" dirty="0">
                <a:latin typeface="微软雅黑" panose="020B0503020204020204" charset="-122"/>
                <a:ea typeface="微软雅黑" panose="020B0503020204020204" charset="-122"/>
              </a:endParaRPr>
            </a:p>
            <a:p>
              <a:pPr marL="222250" algn="l" rtl="0" eaLnBrk="0">
                <a:lnSpc>
                  <a:spcPct val="99000"/>
                </a:lnSpc>
              </a:pPr>
              <a:r>
                <a:rPr sz="1500" spc="70" dirty="0">
                  <a:solidFill>
                    <a:srgbClr val="000000">
                      <a:alpha val="100000"/>
                    </a:srgbClr>
                  </a:solidFill>
                  <a:latin typeface="微软雅黑" panose="020B0503020204020204" charset="-122"/>
                  <a:ea typeface="微软雅黑" panose="020B0503020204020204" charset="-122"/>
                  <a:cs typeface="楷体" panose="02010609060101010101" charset="-122"/>
                </a:rPr>
                <a:t>因素会导致客户流</a:t>
              </a:r>
              <a:r>
                <a:rPr sz="1500" spc="60" dirty="0">
                  <a:solidFill>
                    <a:srgbClr val="000000">
                      <a:alpha val="100000"/>
                    </a:srgbClr>
                  </a:solidFill>
                  <a:latin typeface="微软雅黑" panose="020B0503020204020204" charset="-122"/>
                  <a:ea typeface="微软雅黑" panose="020B0503020204020204" charset="-122"/>
                  <a:cs typeface="楷体" panose="02010609060101010101" charset="-122"/>
                </a:rPr>
                <a:t>失</a:t>
              </a:r>
              <a:endParaRPr lang="en-US" altLang="en-US" sz="1500" dirty="0">
                <a:latin typeface="微软雅黑" panose="020B0503020204020204" charset="-122"/>
                <a:ea typeface="微软雅黑" panose="020B0503020204020204" charset="-122"/>
              </a:endParaRPr>
            </a:p>
            <a:p>
              <a:pPr marL="12700" algn="l" rtl="0" eaLnBrk="0">
                <a:lnSpc>
                  <a:spcPct val="79000"/>
                </a:lnSpc>
                <a:spcBef>
                  <a:spcPts val="155"/>
                </a:spcBef>
              </a:pPr>
              <a:r>
                <a:rPr sz="2000" spc="10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失标和中标分</a:t>
              </a:r>
              <a:r>
                <a:rPr sz="1500" spc="10" dirty="0">
                  <a:solidFill>
                    <a:srgbClr val="000000">
                      <a:alpha val="100000"/>
                    </a:srgbClr>
                  </a:solidFill>
                  <a:latin typeface="微软雅黑" panose="020B0503020204020204" charset="-122"/>
                  <a:ea typeface="微软雅黑" panose="020B0503020204020204" charset="-122"/>
                  <a:cs typeface="楷体" panose="02010609060101010101" charset="-122"/>
                </a:rPr>
                <a:t>析</a:t>
              </a:r>
              <a:endParaRPr lang="en-US" altLang="en-US" sz="1500" dirty="0">
                <a:latin typeface="微软雅黑" panose="020B0503020204020204" charset="-122"/>
                <a:ea typeface="微软雅黑" panose="020B0503020204020204" charset="-122"/>
              </a:endParaRPr>
            </a:p>
            <a:p>
              <a:pPr marL="12700" algn="l" rtl="0" eaLnBrk="0">
                <a:lnSpc>
                  <a:spcPct val="80000"/>
                </a:lnSpc>
                <a:spcBef>
                  <a:spcPts val="5"/>
                </a:spcBef>
              </a:pPr>
              <a:r>
                <a:rPr sz="2000" spc="16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0" dirty="0">
                  <a:solidFill>
                    <a:srgbClr val="000000">
                      <a:alpha val="100000"/>
                    </a:srgbClr>
                  </a:solidFill>
                  <a:latin typeface="微软雅黑" panose="020B0503020204020204" charset="-122"/>
                  <a:ea typeface="微软雅黑" panose="020B0503020204020204" charset="-122"/>
                  <a:cs typeface="Arial" panose="020B0604020202020204"/>
                </a:rPr>
                <a:t>SWOT</a:t>
              </a:r>
              <a:r>
                <a:rPr sz="1500" spc="160" dirty="0">
                  <a:solidFill>
                    <a:srgbClr val="000000">
                      <a:alpha val="100000"/>
                    </a:srgbClr>
                  </a:solidFill>
                  <a:latin typeface="微软雅黑" panose="020B0503020204020204" charset="-122"/>
                  <a:ea typeface="微软雅黑" panose="020B0503020204020204" charset="-122"/>
                  <a:cs typeface="楷体" panose="02010609060101010101" charset="-122"/>
                </a:rPr>
                <a:t>分</a:t>
              </a:r>
              <a:r>
                <a:rPr sz="1500" spc="130" dirty="0">
                  <a:solidFill>
                    <a:srgbClr val="000000">
                      <a:alpha val="100000"/>
                    </a:srgbClr>
                  </a:solidFill>
                  <a:latin typeface="微软雅黑" panose="020B0503020204020204" charset="-122"/>
                  <a:ea typeface="微软雅黑" panose="020B0503020204020204" charset="-122"/>
                  <a:cs typeface="楷体" panose="02010609060101010101" charset="-122"/>
                </a:rPr>
                <a:t>析</a:t>
              </a:r>
              <a:endParaRPr lang="en-US" altLang="en-US" sz="1500" dirty="0">
                <a:latin typeface="微软雅黑" panose="020B0503020204020204" charset="-122"/>
                <a:ea typeface="微软雅黑" panose="020B0503020204020204" charset="-122"/>
              </a:endParaRPr>
            </a:p>
          </p:txBody>
        </p:sp>
        <p:sp>
          <p:nvSpPr>
            <p:cNvPr id="843" name="path"/>
            <p:cNvSpPr/>
            <p:nvPr/>
          </p:nvSpPr>
          <p:spPr>
            <a:xfrm>
              <a:off x="105155" y="562482"/>
              <a:ext cx="346075" cy="450850"/>
            </a:xfrm>
            <a:custGeom>
              <a:avLst/>
              <a:gdLst/>
              <a:ahLst/>
              <a:cxnLst/>
              <a:rect l="0" t="0" r="0" b="0"/>
              <a:pathLst>
                <a:path w="545" h="710">
                  <a:moveTo>
                    <a:pt x="81" y="0"/>
                  </a:moveTo>
                  <a:cubicBezTo>
                    <a:pt x="225" y="0"/>
                    <a:pt x="369" y="0"/>
                    <a:pt x="513" y="0"/>
                  </a:cubicBezTo>
                  <a:cubicBezTo>
                    <a:pt x="513" y="51"/>
                    <a:pt x="513" y="103"/>
                    <a:pt x="513" y="154"/>
                  </a:cubicBezTo>
                  <a:cubicBezTo>
                    <a:pt x="416" y="154"/>
                    <a:pt x="318" y="154"/>
                    <a:pt x="220" y="154"/>
                  </a:cubicBezTo>
                  <a:cubicBezTo>
                    <a:pt x="215" y="189"/>
                    <a:pt x="210" y="224"/>
                    <a:pt x="205" y="259"/>
                  </a:cubicBezTo>
                  <a:cubicBezTo>
                    <a:pt x="225" y="249"/>
                    <a:pt x="245" y="241"/>
                    <a:pt x="265" y="236"/>
                  </a:cubicBezTo>
                  <a:cubicBezTo>
                    <a:pt x="285" y="231"/>
                    <a:pt x="304" y="229"/>
                    <a:pt x="324" y="229"/>
                  </a:cubicBezTo>
                  <a:cubicBezTo>
                    <a:pt x="389" y="229"/>
                    <a:pt x="442" y="250"/>
                    <a:pt x="483" y="292"/>
                  </a:cubicBezTo>
                  <a:cubicBezTo>
                    <a:pt x="524" y="334"/>
                    <a:pt x="545" y="387"/>
                    <a:pt x="545" y="451"/>
                  </a:cubicBezTo>
                  <a:cubicBezTo>
                    <a:pt x="545" y="496"/>
                    <a:pt x="534" y="540"/>
                    <a:pt x="513" y="581"/>
                  </a:cubicBezTo>
                  <a:cubicBezTo>
                    <a:pt x="492" y="623"/>
                    <a:pt x="462" y="655"/>
                    <a:pt x="424" y="677"/>
                  </a:cubicBezTo>
                  <a:cubicBezTo>
                    <a:pt x="385" y="698"/>
                    <a:pt x="336" y="710"/>
                    <a:pt x="275" y="710"/>
                  </a:cubicBezTo>
                  <a:cubicBezTo>
                    <a:pt x="232" y="710"/>
                    <a:pt x="195" y="705"/>
                    <a:pt x="164" y="696"/>
                  </a:cubicBezTo>
                  <a:cubicBezTo>
                    <a:pt x="133" y="687"/>
                    <a:pt x="107" y="675"/>
                    <a:pt x="86" y="657"/>
                  </a:cubicBezTo>
                  <a:cubicBezTo>
                    <a:pt x="64" y="640"/>
                    <a:pt x="46" y="620"/>
                    <a:pt x="33" y="599"/>
                  </a:cubicBezTo>
                  <a:cubicBezTo>
                    <a:pt x="20" y="577"/>
                    <a:pt x="8" y="549"/>
                    <a:pt x="0" y="517"/>
                  </a:cubicBezTo>
                  <a:cubicBezTo>
                    <a:pt x="61" y="510"/>
                    <a:pt x="122" y="502"/>
                    <a:pt x="184" y="495"/>
                  </a:cubicBezTo>
                  <a:cubicBezTo>
                    <a:pt x="188" y="527"/>
                    <a:pt x="199" y="551"/>
                    <a:pt x="215" y="567"/>
                  </a:cubicBezTo>
                  <a:cubicBezTo>
                    <a:pt x="231" y="583"/>
                    <a:pt x="251" y="591"/>
                    <a:pt x="274" y="591"/>
                  </a:cubicBezTo>
                  <a:cubicBezTo>
                    <a:pt x="299" y="591"/>
                    <a:pt x="320" y="581"/>
                    <a:pt x="336" y="561"/>
                  </a:cubicBezTo>
                  <a:cubicBezTo>
                    <a:pt x="353" y="540"/>
                    <a:pt x="361" y="510"/>
                    <a:pt x="361" y="469"/>
                  </a:cubicBezTo>
                  <a:cubicBezTo>
                    <a:pt x="361" y="427"/>
                    <a:pt x="353" y="397"/>
                    <a:pt x="336" y="377"/>
                  </a:cubicBezTo>
                  <a:cubicBezTo>
                    <a:pt x="319" y="358"/>
                    <a:pt x="297" y="349"/>
                    <a:pt x="270" y="349"/>
                  </a:cubicBezTo>
                  <a:cubicBezTo>
                    <a:pt x="252" y="349"/>
                    <a:pt x="235" y="353"/>
                    <a:pt x="219" y="362"/>
                  </a:cubicBezTo>
                  <a:cubicBezTo>
                    <a:pt x="206" y="369"/>
                    <a:pt x="193" y="381"/>
                    <a:pt x="178" y="399"/>
                  </a:cubicBezTo>
                  <a:cubicBezTo>
                    <a:pt x="127" y="391"/>
                    <a:pt x="75" y="383"/>
                    <a:pt x="23" y="375"/>
                  </a:cubicBezTo>
                  <a:cubicBezTo>
                    <a:pt x="42" y="250"/>
                    <a:pt x="62" y="125"/>
                    <a:pt x="81" y="0"/>
                  </a:cubicBezTo>
                </a:path>
              </a:pathLst>
            </a:custGeom>
            <a:solidFill>
              <a:srgbClr val="C5C5C5">
                <a:alpha val="100000"/>
              </a:srgbClr>
            </a:solidFill>
            <a:ln cap="flat">
              <a:noFill/>
              <a:prstDash val="solid"/>
              <a:miter lim="0"/>
            </a:ln>
          </p:spPr>
          <p:txBody>
            <a:bodyPr rtlCol="0"/>
            <a:lstStyle/>
            <a:p>
              <a:pPr algn="ctr"/>
              <a:endParaRPr lang="zh-CN" altLang="en-US"/>
            </a:p>
          </p:txBody>
        </p:sp>
      </p:grpSp>
      <p:sp>
        <p:nvSpPr>
          <p:cNvPr id="844" name="path"/>
          <p:cNvSpPr/>
          <p:nvPr/>
        </p:nvSpPr>
        <p:spPr>
          <a:xfrm>
            <a:off x="4428744" y="2506980"/>
            <a:ext cx="1961388" cy="2910839"/>
          </a:xfrm>
          <a:custGeom>
            <a:avLst/>
            <a:gdLst/>
            <a:ahLst/>
            <a:cxnLst/>
            <a:rect l="0" t="0" r="0" b="0"/>
            <a:pathLst>
              <a:path w="3088" h="4583">
                <a:moveTo>
                  <a:pt x="524" y="2464"/>
                </a:moveTo>
                <a:lnTo>
                  <a:pt x="2431" y="2972"/>
                </a:lnTo>
                <a:lnTo>
                  <a:pt x="1834" y="4583"/>
                </a:lnTo>
                <a:lnTo>
                  <a:pt x="5" y="4578"/>
                </a:lnTo>
                <a:lnTo>
                  <a:pt x="0" y="2931"/>
                </a:lnTo>
              </a:path>
              <a:path w="3088" h="4583">
                <a:moveTo>
                  <a:pt x="917" y="2265"/>
                </a:moveTo>
                <a:lnTo>
                  <a:pt x="2495" y="2738"/>
                </a:lnTo>
                <a:lnTo>
                  <a:pt x="3088" y="1039"/>
                </a:lnTo>
                <a:lnTo>
                  <a:pt x="1577" y="0"/>
                </a:lnTo>
                <a:lnTo>
                  <a:pt x="575" y="1357"/>
                </a:lnTo>
              </a:path>
            </a:pathLst>
          </a:custGeom>
          <a:solidFill>
            <a:srgbClr val="00ADEF">
              <a:alpha val="100000"/>
            </a:srgbClr>
          </a:solidFill>
          <a:ln cap="flat">
            <a:noFill/>
            <a:prstDash val="solid"/>
            <a:miter lim="0"/>
          </a:ln>
        </p:spPr>
        <p:txBody>
          <a:bodyPr rtlCol="0"/>
          <a:lstStyle/>
          <a:p>
            <a:pPr algn="ctr"/>
            <a:endParaRPr lang="zh-CN" altLang="en-US"/>
          </a:p>
        </p:txBody>
      </p:sp>
      <p:grpSp>
        <p:nvGrpSpPr>
          <p:cNvPr id="182" name="group 182"/>
          <p:cNvGrpSpPr/>
          <p:nvPr/>
        </p:nvGrpSpPr>
        <p:grpSpPr>
          <a:xfrm rot="21600000">
            <a:off x="118872" y="2525268"/>
            <a:ext cx="3224783" cy="1709927"/>
            <a:chOff x="0" y="0"/>
            <a:chExt cx="3224783" cy="1709927"/>
          </a:xfrm>
        </p:grpSpPr>
        <p:sp>
          <p:nvSpPr>
            <p:cNvPr id="845" name="path"/>
            <p:cNvSpPr/>
            <p:nvPr/>
          </p:nvSpPr>
          <p:spPr>
            <a:xfrm>
              <a:off x="0" y="0"/>
              <a:ext cx="3224783" cy="1709927"/>
            </a:xfrm>
            <a:custGeom>
              <a:avLst/>
              <a:gdLst/>
              <a:ahLst/>
              <a:cxnLst/>
              <a:rect l="0" t="0" r="0" b="0"/>
              <a:pathLst>
                <a:path w="5078" h="2692">
                  <a:moveTo>
                    <a:pt x="5078" y="0"/>
                  </a:moveTo>
                  <a:lnTo>
                    <a:pt x="0" y="0"/>
                  </a:lnTo>
                  <a:lnTo>
                    <a:pt x="0" y="2692"/>
                  </a:lnTo>
                  <a:lnTo>
                    <a:pt x="4171" y="2692"/>
                  </a:lnTo>
                  <a:lnTo>
                    <a:pt x="5078" y="0"/>
                  </a:lnTo>
                  <a:close/>
                </a:path>
              </a:pathLst>
            </a:custGeom>
            <a:solidFill>
              <a:srgbClr val="BFE1FF">
                <a:alpha val="100000"/>
              </a:srgbClr>
            </a:solidFill>
            <a:ln cap="flat">
              <a:noFill/>
              <a:prstDash val="solid"/>
              <a:miter lim="0"/>
            </a:ln>
          </p:spPr>
          <p:txBody>
            <a:bodyPr rtlCol="0"/>
            <a:lstStyle/>
            <a:p>
              <a:pPr algn="ctr"/>
              <a:endParaRPr lang="zh-CN" altLang="en-US"/>
            </a:p>
          </p:txBody>
        </p:sp>
        <p:sp>
          <p:nvSpPr>
            <p:cNvPr id="846" name="textbox 846"/>
            <p:cNvSpPr/>
            <p:nvPr/>
          </p:nvSpPr>
          <p:spPr>
            <a:xfrm>
              <a:off x="415068" y="655062"/>
              <a:ext cx="1421130" cy="518794"/>
            </a:xfrm>
            <a:prstGeom prst="rect">
              <a:avLst/>
            </a:prstGeom>
          </p:spPr>
          <p:txBody>
            <a:bodyPr vert="horz" wrap="square" lIns="0" tIns="0" rIns="0" bIns="0"/>
            <a:lstStyle/>
            <a:p>
              <a:pPr algn="l" rtl="0" eaLnBrk="0">
                <a:lnSpc>
                  <a:spcPct val="79000"/>
                </a:lnSpc>
              </a:pPr>
              <a:endParaRPr lang="en-US" altLang="en-US" sz="100" dirty="0">
                <a:latin typeface="微软雅黑" panose="020B0503020204020204" charset="-122"/>
                <a:ea typeface="微软雅黑" panose="020B0503020204020204" charset="-122"/>
              </a:endParaRPr>
            </a:p>
            <a:p>
              <a:pPr marL="12700" algn="l" rtl="0" eaLnBrk="0">
                <a:lnSpc>
                  <a:spcPct val="80000"/>
                </a:lnSpc>
              </a:pPr>
              <a:r>
                <a:rPr sz="2000" spc="10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你的落袋利</a:t>
              </a:r>
              <a:r>
                <a:rPr sz="1500" spc="20" dirty="0">
                  <a:solidFill>
                    <a:srgbClr val="000000">
                      <a:alpha val="100000"/>
                    </a:srgbClr>
                  </a:solidFill>
                  <a:latin typeface="微软雅黑" panose="020B0503020204020204" charset="-122"/>
                  <a:ea typeface="微软雅黑" panose="020B0503020204020204" charset="-122"/>
                  <a:cs typeface="楷体" panose="02010609060101010101" charset="-122"/>
                </a:rPr>
                <a:t>润</a:t>
              </a:r>
              <a:endParaRPr lang="en-US" altLang="en-US" sz="1500" dirty="0">
                <a:latin typeface="微软雅黑" panose="020B0503020204020204" charset="-122"/>
                <a:ea typeface="微软雅黑" panose="020B0503020204020204" charset="-122"/>
              </a:endParaRPr>
            </a:p>
            <a:p>
              <a:pPr marL="12700" algn="l" rtl="0" eaLnBrk="0">
                <a:lnSpc>
                  <a:spcPct val="82000"/>
                </a:lnSpc>
                <a:spcBef>
                  <a:spcPts val="0"/>
                </a:spcBef>
              </a:pPr>
              <a:r>
                <a:rPr sz="2000" spc="9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钱包份</a:t>
              </a:r>
              <a:r>
                <a:rPr sz="1500" spc="80" dirty="0">
                  <a:solidFill>
                    <a:srgbClr val="000000">
                      <a:alpha val="100000"/>
                    </a:srgbClr>
                  </a:solidFill>
                  <a:latin typeface="微软雅黑" panose="020B0503020204020204" charset="-122"/>
                  <a:ea typeface="微软雅黑" panose="020B0503020204020204" charset="-122"/>
                  <a:cs typeface="楷体" panose="02010609060101010101" charset="-122"/>
                </a:rPr>
                <a:t>额</a:t>
              </a:r>
              <a:endParaRPr lang="en-US" altLang="en-US" sz="1500" dirty="0">
                <a:latin typeface="微软雅黑" panose="020B0503020204020204" charset="-122"/>
                <a:ea typeface="微软雅黑" panose="020B0503020204020204" charset="-122"/>
              </a:endParaRPr>
            </a:p>
          </p:txBody>
        </p:sp>
        <p:sp>
          <p:nvSpPr>
            <p:cNvPr id="847" name="path"/>
            <p:cNvSpPr/>
            <p:nvPr/>
          </p:nvSpPr>
          <p:spPr>
            <a:xfrm>
              <a:off x="2813304" y="562482"/>
              <a:ext cx="346075" cy="450850"/>
            </a:xfrm>
            <a:custGeom>
              <a:avLst/>
              <a:gdLst/>
              <a:ahLst/>
              <a:cxnLst/>
              <a:rect l="0" t="0" r="0" b="0"/>
              <a:pathLst>
                <a:path w="545" h="710">
                  <a:moveTo>
                    <a:pt x="276" y="0"/>
                  </a:moveTo>
                  <a:cubicBezTo>
                    <a:pt x="340" y="0"/>
                    <a:pt x="390" y="7"/>
                    <a:pt x="426" y="23"/>
                  </a:cubicBezTo>
                  <a:cubicBezTo>
                    <a:pt x="461" y="38"/>
                    <a:pt x="489" y="62"/>
                    <a:pt x="509" y="95"/>
                  </a:cubicBezTo>
                  <a:cubicBezTo>
                    <a:pt x="530" y="127"/>
                    <a:pt x="540" y="163"/>
                    <a:pt x="540" y="203"/>
                  </a:cubicBezTo>
                  <a:cubicBezTo>
                    <a:pt x="540" y="245"/>
                    <a:pt x="528" y="286"/>
                    <a:pt x="505" y="325"/>
                  </a:cubicBezTo>
                  <a:cubicBezTo>
                    <a:pt x="481" y="363"/>
                    <a:pt x="439" y="406"/>
                    <a:pt x="378" y="452"/>
                  </a:cubicBezTo>
                  <a:cubicBezTo>
                    <a:pt x="341" y="479"/>
                    <a:pt x="316" y="498"/>
                    <a:pt x="304" y="509"/>
                  </a:cubicBezTo>
                  <a:cubicBezTo>
                    <a:pt x="292" y="520"/>
                    <a:pt x="277" y="534"/>
                    <a:pt x="261" y="551"/>
                  </a:cubicBezTo>
                  <a:cubicBezTo>
                    <a:pt x="355" y="551"/>
                    <a:pt x="450" y="551"/>
                    <a:pt x="545" y="551"/>
                  </a:cubicBezTo>
                  <a:cubicBezTo>
                    <a:pt x="545" y="604"/>
                    <a:pt x="545" y="657"/>
                    <a:pt x="545" y="710"/>
                  </a:cubicBezTo>
                  <a:cubicBezTo>
                    <a:pt x="363" y="710"/>
                    <a:pt x="181" y="710"/>
                    <a:pt x="0" y="710"/>
                  </a:cubicBezTo>
                  <a:cubicBezTo>
                    <a:pt x="6" y="652"/>
                    <a:pt x="25" y="598"/>
                    <a:pt x="56" y="547"/>
                  </a:cubicBezTo>
                  <a:cubicBezTo>
                    <a:pt x="88" y="497"/>
                    <a:pt x="147" y="437"/>
                    <a:pt x="235" y="368"/>
                  </a:cubicBezTo>
                  <a:cubicBezTo>
                    <a:pt x="288" y="326"/>
                    <a:pt x="322" y="294"/>
                    <a:pt x="336" y="272"/>
                  </a:cubicBezTo>
                  <a:cubicBezTo>
                    <a:pt x="351" y="250"/>
                    <a:pt x="359" y="229"/>
                    <a:pt x="359" y="210"/>
                  </a:cubicBezTo>
                  <a:cubicBezTo>
                    <a:pt x="359" y="188"/>
                    <a:pt x="351" y="170"/>
                    <a:pt x="337" y="155"/>
                  </a:cubicBezTo>
                  <a:cubicBezTo>
                    <a:pt x="322" y="140"/>
                    <a:pt x="303" y="132"/>
                    <a:pt x="281" y="132"/>
                  </a:cubicBezTo>
                  <a:cubicBezTo>
                    <a:pt x="258" y="132"/>
                    <a:pt x="239" y="140"/>
                    <a:pt x="225" y="155"/>
                  </a:cubicBezTo>
                  <a:cubicBezTo>
                    <a:pt x="210" y="171"/>
                    <a:pt x="200" y="199"/>
                    <a:pt x="195" y="238"/>
                  </a:cubicBezTo>
                  <a:cubicBezTo>
                    <a:pt x="134" y="233"/>
                    <a:pt x="73" y="227"/>
                    <a:pt x="13" y="222"/>
                  </a:cubicBezTo>
                  <a:cubicBezTo>
                    <a:pt x="20" y="168"/>
                    <a:pt x="33" y="125"/>
                    <a:pt x="52" y="95"/>
                  </a:cubicBezTo>
                  <a:cubicBezTo>
                    <a:pt x="71" y="64"/>
                    <a:pt x="98" y="40"/>
                    <a:pt x="132" y="24"/>
                  </a:cubicBezTo>
                  <a:cubicBezTo>
                    <a:pt x="167" y="7"/>
                    <a:pt x="215" y="0"/>
                    <a:pt x="276" y="0"/>
                  </a:cubicBezTo>
                </a:path>
              </a:pathLst>
            </a:custGeom>
            <a:solidFill>
              <a:srgbClr val="C5C5C5">
                <a:alpha val="100000"/>
              </a:srgbClr>
            </a:solidFill>
            <a:ln cap="flat">
              <a:noFill/>
              <a:prstDash val="solid"/>
              <a:miter lim="0"/>
            </a:ln>
          </p:spPr>
          <p:txBody>
            <a:bodyPr rtlCol="0"/>
            <a:lstStyle/>
            <a:p>
              <a:pPr algn="ctr"/>
              <a:endParaRPr lang="zh-CN" altLang="en-US"/>
            </a:p>
          </p:txBody>
        </p:sp>
      </p:grpSp>
      <p:sp>
        <p:nvSpPr>
          <p:cNvPr id="848" name="path"/>
          <p:cNvSpPr/>
          <p:nvPr/>
        </p:nvSpPr>
        <p:spPr>
          <a:xfrm>
            <a:off x="2417064" y="2531364"/>
            <a:ext cx="1901951" cy="2886455"/>
          </a:xfrm>
          <a:custGeom>
            <a:avLst/>
            <a:gdLst/>
            <a:ahLst/>
            <a:cxnLst/>
            <a:rect l="0" t="0" r="0" b="0"/>
            <a:pathLst>
              <a:path w="2995" h="4545">
                <a:moveTo>
                  <a:pt x="2500" y="1520"/>
                </a:moveTo>
                <a:lnTo>
                  <a:pt x="1467" y="0"/>
                </a:lnTo>
                <a:lnTo>
                  <a:pt x="0" y="1016"/>
                </a:lnTo>
                <a:lnTo>
                  <a:pt x="573" y="2678"/>
                </a:lnTo>
                <a:lnTo>
                  <a:pt x="2192" y="2184"/>
                </a:lnTo>
              </a:path>
              <a:path w="2995" h="4545">
                <a:moveTo>
                  <a:pt x="2477" y="2366"/>
                </a:moveTo>
                <a:lnTo>
                  <a:pt x="595" y="2888"/>
                </a:lnTo>
                <a:lnTo>
                  <a:pt x="1184" y="4545"/>
                </a:lnTo>
                <a:lnTo>
                  <a:pt x="2989" y="4540"/>
                </a:lnTo>
                <a:lnTo>
                  <a:pt x="2995" y="2846"/>
                </a:lnTo>
              </a:path>
            </a:pathLst>
          </a:custGeom>
          <a:solidFill>
            <a:srgbClr val="00ADEF">
              <a:alpha val="100000"/>
            </a:srgbClr>
          </a:solidFill>
          <a:ln cap="flat">
            <a:noFill/>
            <a:prstDash val="solid"/>
            <a:miter lim="0"/>
          </a:ln>
        </p:spPr>
        <p:txBody>
          <a:bodyPr rtlCol="0"/>
          <a:lstStyle/>
          <a:p>
            <a:pPr algn="ctr"/>
            <a:endParaRPr lang="zh-CN" altLang="en-US"/>
          </a:p>
        </p:txBody>
      </p:sp>
      <p:pic>
        <p:nvPicPr>
          <p:cNvPr id="849" name="picture 849"/>
          <p:cNvPicPr>
            <a:picLocks noChangeAspect="1"/>
          </p:cNvPicPr>
          <p:nvPr/>
        </p:nvPicPr>
        <p:blipFill>
          <a:blip r:embed="rId1"/>
          <a:stretch>
            <a:fillRect/>
          </a:stretch>
        </p:blipFill>
        <p:spPr>
          <a:xfrm rot="21600000">
            <a:off x="3361944" y="2769108"/>
            <a:ext cx="2077211" cy="2142743"/>
          </a:xfrm>
          <a:prstGeom prst="rect">
            <a:avLst/>
          </a:prstGeom>
        </p:spPr>
      </p:pic>
      <p:sp>
        <p:nvSpPr>
          <p:cNvPr id="850" name="textbox 850"/>
          <p:cNvSpPr/>
          <p:nvPr/>
        </p:nvSpPr>
        <p:spPr>
          <a:xfrm>
            <a:off x="256540" y="240030"/>
            <a:ext cx="6668135" cy="305435"/>
          </a:xfrm>
          <a:prstGeom prst="rect">
            <a:avLst/>
          </a:prstGeom>
        </p:spPr>
        <p:txBody>
          <a:bodyPr vert="horz" wrap="square" lIns="0" tIns="0" rIns="0" bIns="0"/>
          <a:lstStyle/>
          <a:p>
            <a:pPr algn="l" rtl="0" eaLnBrk="0">
              <a:lnSpc>
                <a:spcPct val="79000"/>
              </a:lnSpc>
            </a:pPr>
            <a:endParaRPr lang="en-US" altLang="en-US" sz="100" dirty="0">
              <a:latin typeface="微软雅黑" panose="020B0503020204020204" charset="-122"/>
              <a:ea typeface="微软雅黑" panose="020B0503020204020204" charset="-122"/>
            </a:endParaRPr>
          </a:p>
          <a:p>
            <a:pPr marL="12700" algn="l" rtl="0" eaLnBrk="0">
              <a:lnSpc>
                <a:spcPct val="92000"/>
              </a:lnSpc>
            </a:pPr>
            <a:r>
              <a:rPr sz="2900" b="1" spc="-40" baseline="4000" dirty="0">
                <a:solidFill>
                  <a:srgbClr val="D9D9D9">
                    <a:alpha val="100000"/>
                  </a:srgbClr>
                </a:solidFill>
                <a:latin typeface="微软雅黑" panose="020B0503020204020204" charset="-122"/>
                <a:ea typeface="微软雅黑" panose="020B0503020204020204" charset="-122"/>
                <a:cs typeface="Arial" panose="020B0604020202020204"/>
              </a:rPr>
              <a:t>2</a:t>
            </a:r>
            <a:r>
              <a:rPr sz="1800" spc="-40" dirty="0">
                <a:solidFill>
                  <a:srgbClr val="D9D9D9">
                    <a:alpha val="100000"/>
                  </a:srgbClr>
                </a:solidFill>
                <a:latin typeface="微软雅黑" panose="020B0503020204020204" charset="-122"/>
                <a:ea typeface="微软雅黑" panose="020B0503020204020204" charset="-122"/>
                <a:cs typeface="Arial" panose="020B0604020202020204"/>
              </a:rPr>
              <a:t>  </a:t>
            </a:r>
            <a:r>
              <a:rPr sz="2000" spc="-40" dirty="0">
                <a:solidFill>
                  <a:srgbClr val="002960">
                    <a:alpha val="100000"/>
                  </a:srgbClr>
                </a:solidFill>
                <a:latin typeface="微软雅黑" panose="020B0503020204020204" charset="-122"/>
                <a:ea typeface="微软雅黑" panose="020B0503020204020204" charset="-122"/>
                <a:cs typeface="楷体" panose="02010609060101010101" charset="-122"/>
              </a:rPr>
              <a:t>对大客户的分析，可以从五个方面展开， 以建立一</a:t>
            </a:r>
            <a:r>
              <a:rPr sz="2000" spc="-10" dirty="0">
                <a:solidFill>
                  <a:srgbClr val="002960">
                    <a:alpha val="100000"/>
                  </a:srgbClr>
                </a:solidFill>
                <a:latin typeface="微软雅黑" panose="020B0503020204020204" charset="-122"/>
                <a:ea typeface="微软雅黑" panose="020B0503020204020204" charset="-122"/>
                <a:cs typeface="楷体" panose="02010609060101010101" charset="-122"/>
              </a:rPr>
              <a:t>个</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全面深入的了解</a:t>
            </a:r>
            <a:endParaRPr lang="en-US" altLang="en-US" sz="2000" dirty="0">
              <a:latin typeface="微软雅黑" panose="020B0503020204020204" charset="-122"/>
              <a:ea typeface="微软雅黑" panose="020B0503020204020204" charset="-122"/>
            </a:endParaRPr>
          </a:p>
        </p:txBody>
      </p:sp>
      <p:sp>
        <p:nvSpPr>
          <p:cNvPr id="851" name="textbox 851"/>
          <p:cNvSpPr/>
          <p:nvPr/>
        </p:nvSpPr>
        <p:spPr>
          <a:xfrm>
            <a:off x="6304669" y="2698754"/>
            <a:ext cx="2248535" cy="516890"/>
          </a:xfrm>
          <a:prstGeom prst="rect">
            <a:avLst/>
          </a:prstGeom>
        </p:spPr>
        <p:txBody>
          <a:bodyPr vert="horz" wrap="square" lIns="0" tIns="0" rIns="0" bIns="0"/>
          <a:lstStyle/>
          <a:p>
            <a:pPr algn="l" rtl="0" eaLnBrk="0">
              <a:lnSpc>
                <a:spcPct val="83000"/>
              </a:lnSpc>
            </a:pPr>
            <a:endParaRPr lang="en-US" altLang="en-US" sz="100" dirty="0">
              <a:latin typeface="微软雅黑" panose="020B0503020204020204" charset="-122"/>
              <a:ea typeface="微软雅黑" panose="020B0503020204020204" charset="-122"/>
            </a:endParaRPr>
          </a:p>
          <a:p>
            <a:pPr marL="12700" algn="l" rtl="0" eaLnBrk="0">
              <a:lnSpc>
                <a:spcPts val="1825"/>
              </a:lnSpc>
            </a:pPr>
            <a:r>
              <a:rPr sz="1500" b="1" spc="0" dirty="0">
                <a:solidFill>
                  <a:srgbClr val="D9D9D9">
                    <a:alpha val="100000"/>
                  </a:srgbClr>
                </a:solidFill>
                <a:latin typeface="微软雅黑" panose="020B0503020204020204" charset="-122"/>
                <a:ea typeface="微软雅黑" panose="020B0503020204020204" charset="-122"/>
                <a:cs typeface="Arial" panose="020B0604020202020204"/>
              </a:rPr>
              <a:t>e</a:t>
            </a:r>
            <a:r>
              <a:rPr sz="1500" spc="160" dirty="0">
                <a:solidFill>
                  <a:srgbClr val="D9D9D9">
                    <a:alpha val="100000"/>
                  </a:srgbClr>
                </a:solidFill>
                <a:latin typeface="微软雅黑" panose="020B0503020204020204" charset="-122"/>
                <a:ea typeface="微软雅黑" panose="020B0503020204020204" charset="-122"/>
                <a:cs typeface="Arial" panose="020B0604020202020204"/>
              </a:rPr>
              <a:t> </a:t>
            </a:r>
            <a:r>
              <a:rPr sz="1500" spc="16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风险评</a:t>
            </a:r>
            <a:r>
              <a:rPr sz="1500" spc="11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估</a:t>
            </a:r>
            <a:endParaRPr lang="en-US" altLang="en-US" sz="1500" dirty="0">
              <a:latin typeface="微软雅黑" panose="020B0503020204020204" charset="-122"/>
              <a:ea typeface="微软雅黑" panose="020B0503020204020204" charset="-122"/>
            </a:endParaRPr>
          </a:p>
          <a:p>
            <a:pPr marL="231140" algn="l" rtl="0" eaLnBrk="0">
              <a:lnSpc>
                <a:spcPct val="77000"/>
              </a:lnSpc>
              <a:spcBef>
                <a:spcPts val="195"/>
              </a:spcBef>
            </a:pPr>
            <a:r>
              <a:rPr sz="2000" spc="10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竞争者和客户的哪</a:t>
            </a:r>
            <a:r>
              <a:rPr sz="1500" spc="10" dirty="0">
                <a:solidFill>
                  <a:srgbClr val="000000">
                    <a:alpha val="100000"/>
                  </a:srgbClr>
                </a:solidFill>
                <a:latin typeface="微软雅黑" panose="020B0503020204020204" charset="-122"/>
                <a:ea typeface="微软雅黑" panose="020B0503020204020204" charset="-122"/>
                <a:cs typeface="楷体" panose="02010609060101010101" charset="-122"/>
              </a:rPr>
              <a:t>些</a:t>
            </a:r>
            <a:endParaRPr lang="en-US" altLang="en-US" sz="1500" dirty="0">
              <a:latin typeface="微软雅黑" panose="020B0503020204020204" charset="-122"/>
              <a:ea typeface="微软雅黑" panose="020B0503020204020204" charset="-122"/>
            </a:endParaRPr>
          </a:p>
        </p:txBody>
      </p:sp>
      <p:sp>
        <p:nvSpPr>
          <p:cNvPr id="853" name="textbox 853"/>
          <p:cNvSpPr/>
          <p:nvPr/>
        </p:nvSpPr>
        <p:spPr>
          <a:xfrm>
            <a:off x="520181" y="2692913"/>
            <a:ext cx="1438910" cy="511809"/>
          </a:xfrm>
          <a:prstGeom prst="rect">
            <a:avLst/>
          </a:prstGeom>
        </p:spPr>
        <p:txBody>
          <a:bodyPr vert="horz" wrap="square" lIns="0" tIns="0" rIns="0" bIns="0"/>
          <a:lstStyle/>
          <a:p>
            <a:pPr algn="l" rtl="0" eaLnBrk="0">
              <a:lnSpc>
                <a:spcPct val="87000"/>
              </a:lnSpc>
            </a:pPr>
            <a:endParaRPr lang="en-US" altLang="en-US" sz="100" dirty="0">
              <a:latin typeface="微软雅黑" panose="020B0503020204020204" charset="-122"/>
              <a:ea typeface="微软雅黑" panose="020B0503020204020204" charset="-122"/>
            </a:endParaRPr>
          </a:p>
          <a:p>
            <a:pPr marL="12700" algn="l" rtl="0" eaLnBrk="0">
              <a:lnSpc>
                <a:spcPct val="99000"/>
              </a:lnSpc>
            </a:pPr>
            <a:r>
              <a:rPr sz="1500" spc="11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客户经济指</a:t>
            </a:r>
            <a:r>
              <a:rPr sz="1500" spc="7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标</a:t>
            </a:r>
            <a:endParaRPr lang="en-US" altLang="en-US" sz="1500" dirty="0">
              <a:latin typeface="微软雅黑" panose="020B0503020204020204" charset="-122"/>
              <a:ea typeface="微软雅黑" panose="020B0503020204020204" charset="-122"/>
            </a:endParaRPr>
          </a:p>
          <a:p>
            <a:pPr marL="26670" algn="l" rtl="0" eaLnBrk="0">
              <a:lnSpc>
                <a:spcPct val="79000"/>
              </a:lnSpc>
              <a:spcBef>
                <a:spcPts val="145"/>
              </a:spcBef>
            </a:pPr>
            <a:r>
              <a:rPr sz="2000" spc="10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历史销售数</a:t>
            </a:r>
            <a:r>
              <a:rPr sz="1500" spc="50" dirty="0">
                <a:solidFill>
                  <a:srgbClr val="000000">
                    <a:alpha val="100000"/>
                  </a:srgbClr>
                </a:solidFill>
                <a:latin typeface="微软雅黑" panose="020B0503020204020204" charset="-122"/>
                <a:ea typeface="微软雅黑" panose="020B0503020204020204" charset="-122"/>
                <a:cs typeface="楷体" panose="02010609060101010101" charset="-122"/>
              </a:rPr>
              <a:t>据</a:t>
            </a:r>
            <a:endParaRPr lang="en-US" altLang="en-US" sz="1500" dirty="0">
              <a:latin typeface="微软雅黑" panose="020B0503020204020204" charset="-122"/>
              <a:ea typeface="微软雅黑" panose="020B0503020204020204" charset="-122"/>
            </a:endParaRPr>
          </a:p>
        </p:txBody>
      </p:sp>
      <p:sp>
        <p:nvSpPr>
          <p:cNvPr id="854" name="textbox 854"/>
          <p:cNvSpPr/>
          <p:nvPr/>
        </p:nvSpPr>
        <p:spPr>
          <a:xfrm>
            <a:off x="3714673" y="4138299"/>
            <a:ext cx="628015" cy="497205"/>
          </a:xfrm>
          <a:prstGeom prst="rect">
            <a:avLst/>
          </a:prstGeom>
        </p:spPr>
        <p:txBody>
          <a:bodyPr vert="horz" wrap="square" lIns="0" tIns="0" rIns="0" bIns="0"/>
          <a:lstStyle/>
          <a:p>
            <a:pPr algn="l" rtl="0" eaLnBrk="0">
              <a:lnSpc>
                <a:spcPct val="87000"/>
              </a:lnSpc>
            </a:pPr>
            <a:endParaRPr lang="en-US" altLang="en-US" sz="100" dirty="0">
              <a:latin typeface="微软雅黑" panose="020B0503020204020204" charset="-122"/>
              <a:ea typeface="微软雅黑" panose="020B0503020204020204" charset="-122"/>
            </a:endParaRPr>
          </a:p>
          <a:p>
            <a:pPr marL="12700" indent="13970" algn="l" rtl="0" eaLnBrk="0">
              <a:lnSpc>
                <a:spcPct val="103000"/>
              </a:lnSpc>
            </a:pPr>
            <a:r>
              <a:rPr sz="1500" spc="5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大客</a:t>
            </a:r>
            <a:r>
              <a:rPr sz="1500" spc="2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户</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7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分</a:t>
            </a:r>
            <a:r>
              <a:rPr sz="1500" spc="6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析</a:t>
            </a:r>
            <a:endParaRPr lang="en-US" altLang="en-US" sz="1500" dirty="0">
              <a:latin typeface="微软雅黑" panose="020B0503020204020204" charset="-122"/>
              <a:ea typeface="微软雅黑" panose="020B0503020204020204" charset="-122"/>
            </a:endParaRPr>
          </a:p>
        </p:txBody>
      </p:sp>
      <p:sp>
        <p:nvSpPr>
          <p:cNvPr id="855" name="textbox 855"/>
          <p:cNvSpPr/>
          <p:nvPr/>
        </p:nvSpPr>
        <p:spPr>
          <a:xfrm>
            <a:off x="8818509" y="1037437"/>
            <a:ext cx="114935" cy="1840229"/>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endParaRPr sz="600" spc="0" dirty="0">
              <a:solidFill>
                <a:srgbClr val="808080">
                  <a:alpha val="100000"/>
                </a:srgbClr>
              </a:solidFill>
              <a:latin typeface="Arial" panose="020B0604020202020204"/>
              <a:ea typeface="Arial" panose="020B0604020202020204"/>
              <a:cs typeface="Arial" panose="020B0604020202020204"/>
            </a:endParaRPr>
          </a:p>
        </p:txBody>
      </p:sp>
      <p:grpSp>
        <p:nvGrpSpPr>
          <p:cNvPr id="184" name="group 184"/>
          <p:cNvGrpSpPr/>
          <p:nvPr/>
        </p:nvGrpSpPr>
        <p:grpSpPr>
          <a:xfrm rot="21600000">
            <a:off x="193547" y="2677668"/>
            <a:ext cx="246888" cy="246888"/>
            <a:chOff x="0" y="0"/>
            <a:chExt cx="246888" cy="246888"/>
          </a:xfrm>
        </p:grpSpPr>
        <p:sp>
          <p:nvSpPr>
            <p:cNvPr id="856" name="path"/>
            <p:cNvSpPr/>
            <p:nvPr/>
          </p:nvSpPr>
          <p:spPr>
            <a:xfrm>
              <a:off x="0" y="0"/>
              <a:ext cx="246888" cy="246888"/>
            </a:xfrm>
            <a:custGeom>
              <a:avLst/>
              <a:gdLst/>
              <a:ahLst/>
              <a:cxnLst/>
              <a:rect l="0" t="0" r="0" b="0"/>
              <a:pathLst>
                <a:path w="388" h="388">
                  <a:moveTo>
                    <a:pt x="0" y="194"/>
                  </a:moveTo>
                  <a:cubicBezTo>
                    <a:pt x="0" y="86"/>
                    <a:pt x="87" y="0"/>
                    <a:pt x="194" y="0"/>
                  </a:cubicBezTo>
                  <a:cubicBezTo>
                    <a:pt x="301" y="0"/>
                    <a:pt x="388" y="86"/>
                    <a:pt x="388" y="194"/>
                  </a:cubicBezTo>
                  <a:cubicBezTo>
                    <a:pt x="388" y="301"/>
                    <a:pt x="301" y="388"/>
                    <a:pt x="194" y="388"/>
                  </a:cubicBezTo>
                  <a:cubicBezTo>
                    <a:pt x="87" y="388"/>
                    <a:pt x="0" y="301"/>
                    <a:pt x="0" y="194"/>
                  </a:cubicBezTo>
                </a:path>
              </a:pathLst>
            </a:custGeom>
            <a:solidFill>
              <a:srgbClr val="0065BD">
                <a:alpha val="100000"/>
              </a:srgbClr>
            </a:solidFill>
            <a:ln cap="flat">
              <a:noFill/>
              <a:prstDash val="solid"/>
              <a:miter lim="0"/>
            </a:ln>
          </p:spPr>
          <p:txBody>
            <a:bodyPr rtlCol="0"/>
            <a:lstStyle/>
            <a:p>
              <a:pPr algn="ctr"/>
              <a:endParaRPr lang="zh-CN" altLang="en-US"/>
            </a:p>
          </p:txBody>
        </p:sp>
        <p:sp>
          <p:nvSpPr>
            <p:cNvPr id="857" name="textbox 857"/>
            <p:cNvSpPr/>
            <p:nvPr/>
          </p:nvSpPr>
          <p:spPr>
            <a:xfrm>
              <a:off x="-12700" y="-12700"/>
              <a:ext cx="272415" cy="316229"/>
            </a:xfrm>
            <a:prstGeom prst="rect">
              <a:avLst/>
            </a:prstGeom>
          </p:spPr>
          <p:txBody>
            <a:bodyPr vert="horz" wrap="square" lIns="0" tIns="0" rIns="0" bIns="0"/>
            <a:lstStyle/>
            <a:p>
              <a:pPr algn="l" rtl="0" eaLnBrk="0">
                <a:lnSpc>
                  <a:spcPct val="108000"/>
                </a:lnSpc>
              </a:pPr>
              <a:endParaRPr lang="en-US" altLang="en-US" sz="400" dirty="0">
                <a:latin typeface="微软雅黑" panose="020B0503020204020204" charset="-122"/>
                <a:ea typeface="微软雅黑" panose="020B0503020204020204" charset="-122"/>
              </a:endParaRPr>
            </a:p>
            <a:p>
              <a:pPr marL="88900" algn="l" rtl="0" eaLnBrk="0">
                <a:lnSpc>
                  <a:spcPts val="1840"/>
                </a:lnSpc>
                <a:spcBef>
                  <a:spcPts val="0"/>
                </a:spcBef>
              </a:pPr>
              <a:r>
                <a:rPr sz="1500" b="1" spc="0" dirty="0">
                  <a:solidFill>
                    <a:srgbClr val="FFFFFF">
                      <a:alpha val="100000"/>
                    </a:srgbClr>
                  </a:solidFill>
                  <a:latin typeface="微软雅黑" panose="020B0503020204020204" charset="-122"/>
                  <a:ea typeface="微软雅黑" panose="020B0503020204020204" charset="-122"/>
                  <a:cs typeface="Arial" panose="020B0604020202020204"/>
                </a:rPr>
                <a:t>b</a:t>
              </a:r>
              <a:endParaRPr lang="en-US" altLang="en-US" sz="1500" dirty="0">
                <a:latin typeface="微软雅黑" panose="020B0503020204020204" charset="-122"/>
                <a:ea typeface="微软雅黑" panose="020B0503020204020204" charset="-122"/>
              </a:endParaRPr>
            </a:p>
          </p:txBody>
        </p:sp>
      </p:grpSp>
      <p:sp>
        <p:nvSpPr>
          <p:cNvPr id="858" name="textbox 858"/>
          <p:cNvSpPr/>
          <p:nvPr/>
        </p:nvSpPr>
        <p:spPr>
          <a:xfrm>
            <a:off x="256734" y="4426504"/>
            <a:ext cx="130175" cy="259715"/>
          </a:xfrm>
          <a:prstGeom prst="rect">
            <a:avLst/>
          </a:prstGeom>
        </p:spPr>
        <p:txBody>
          <a:bodyPr vert="horz" wrap="square" lIns="0" tIns="0" rIns="0" bIns="0"/>
          <a:lstStyle/>
          <a:p>
            <a:pPr algn="l" rtl="0" eaLnBrk="0">
              <a:lnSpc>
                <a:spcPct val="83000"/>
              </a:lnSpc>
            </a:pPr>
            <a:endParaRPr lang="en-US" altLang="en-US" sz="100" dirty="0">
              <a:latin typeface="微软雅黑" panose="020B0503020204020204" charset="-122"/>
              <a:ea typeface="微软雅黑" panose="020B0503020204020204" charset="-122"/>
            </a:endParaRPr>
          </a:p>
          <a:p>
            <a:pPr marL="12700" algn="l" rtl="0" eaLnBrk="0">
              <a:lnSpc>
                <a:spcPts val="1840"/>
              </a:lnSpc>
            </a:pPr>
            <a:r>
              <a:rPr sz="1500" b="1" spc="0" dirty="0">
                <a:solidFill>
                  <a:srgbClr val="FFFFFF">
                    <a:alpha val="100000"/>
                  </a:srgbClr>
                </a:solidFill>
                <a:latin typeface="微软雅黑" panose="020B0503020204020204" charset="-122"/>
                <a:ea typeface="微软雅黑" panose="020B0503020204020204" charset="-122"/>
                <a:cs typeface="Arial" panose="020B0604020202020204"/>
              </a:rPr>
              <a:t>c</a:t>
            </a:r>
            <a:endParaRPr lang="en-US" altLang="en-US" sz="1500" dirty="0">
              <a:latin typeface="微软雅黑" panose="020B0503020204020204" charset="-122"/>
              <a:ea typeface="微软雅黑" panose="020B0503020204020204" charset="-122"/>
            </a:endParaRPr>
          </a:p>
        </p:txBody>
      </p:sp>
      <p:sp>
        <p:nvSpPr>
          <p:cNvPr id="859" name="textbox 859"/>
          <p:cNvSpPr/>
          <p:nvPr/>
        </p:nvSpPr>
        <p:spPr>
          <a:xfrm>
            <a:off x="8818435" y="4032021"/>
            <a:ext cx="114935" cy="262890"/>
          </a:xfrm>
          <a:prstGeom prst="rect">
            <a:avLst/>
          </a:prstGeom>
        </p:spPr>
        <p:txBody>
          <a:bodyPr vert="eaVert" wrap="square" lIns="0" tIns="0" rIns="0" bIns="0"/>
          <a:lstStyle/>
          <a:p>
            <a:pPr algn="l" rtl="0" eaLnBrk="0">
              <a:lnSpc>
                <a:spcPct val="85000"/>
              </a:lnSpc>
            </a:pPr>
            <a:endParaRPr lang="en-US" altLang="en-US" sz="100" dirty="0"/>
          </a:p>
          <a:p>
            <a:pPr marL="12700" algn="l" rtl="0" eaLnBrk="0">
              <a:lnSpc>
                <a:spcPct val="79000"/>
              </a:lnSpc>
            </a:pPr>
            <a:endParaRPr sz="600" spc="-10" dirty="0">
              <a:solidFill>
                <a:srgbClr val="808080">
                  <a:alpha val="100000"/>
                </a:srgbClr>
              </a:solidFill>
              <a:latin typeface="Arial" panose="020B0604020202020204"/>
              <a:ea typeface="Arial" panose="020B0604020202020204"/>
              <a:cs typeface="Arial" panose="020B060402020202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 name="textbox 860"/>
          <p:cNvSpPr/>
          <p:nvPr/>
        </p:nvSpPr>
        <p:spPr>
          <a:xfrm>
            <a:off x="8818509" y="1037437"/>
            <a:ext cx="114935" cy="3257550"/>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r>
              <a:rPr sz="600" spc="0" dirty="0">
                <a:solidFill>
                  <a:srgbClr val="808080">
                    <a:alpha val="100000"/>
                  </a:srgbClr>
                </a:solidFill>
                <a:latin typeface="Arial" panose="020B0604020202020204"/>
                <a:ea typeface="Arial" panose="020B0604020202020204"/>
                <a:cs typeface="Arial" panose="020B0604020202020204"/>
              </a:rPr>
              <a:t>                                                       </a:t>
            </a:r>
            <a:endParaRPr lang="en-US" altLang="en-US" sz="600" dirty="0"/>
          </a:p>
        </p:txBody>
      </p:sp>
      <p:pic>
        <p:nvPicPr>
          <p:cNvPr id="861" name="picture 861"/>
          <p:cNvPicPr>
            <a:picLocks noChangeAspect="1"/>
          </p:cNvPicPr>
          <p:nvPr/>
        </p:nvPicPr>
        <p:blipFill>
          <a:blip r:embed="rId1"/>
          <a:stretch>
            <a:fillRect/>
          </a:stretch>
        </p:blipFill>
        <p:spPr>
          <a:xfrm rot="21600000">
            <a:off x="0" y="720852"/>
            <a:ext cx="8961119" cy="5809488"/>
          </a:xfrm>
          <a:prstGeom prst="rect">
            <a:avLst/>
          </a:prstGeom>
        </p:spPr>
      </p:pic>
      <p:sp>
        <p:nvSpPr>
          <p:cNvPr id="862" name="textbox 862"/>
          <p:cNvSpPr/>
          <p:nvPr/>
        </p:nvSpPr>
        <p:spPr>
          <a:xfrm>
            <a:off x="449894" y="248992"/>
            <a:ext cx="3354704" cy="309245"/>
          </a:xfrm>
          <a:prstGeom prst="rect">
            <a:avLst/>
          </a:prstGeom>
        </p:spPr>
        <p:txBody>
          <a:bodyPr vert="horz" wrap="square" lIns="0" tIns="0" rIns="0" bIns="0"/>
          <a:lstStyle/>
          <a:p>
            <a:pPr algn="l" rtl="0" eaLnBrk="0">
              <a:lnSpc>
                <a:spcPct val="85000"/>
              </a:lnSpc>
            </a:pPr>
            <a:endParaRPr lang="en-US" altLang="en-US" sz="100" dirty="0">
              <a:latin typeface="微软雅黑" panose="020B0503020204020204" charset="-122"/>
              <a:ea typeface="微软雅黑" panose="020B0503020204020204" charset="-122"/>
            </a:endParaRPr>
          </a:p>
          <a:p>
            <a:pPr marL="12700" algn="l" rtl="0" eaLnBrk="0">
              <a:lnSpc>
                <a:spcPct val="93000"/>
              </a:lnSpc>
            </a:pPr>
            <a:r>
              <a:rPr sz="2000" spc="-40" dirty="0">
                <a:solidFill>
                  <a:srgbClr val="002960">
                    <a:alpha val="100000"/>
                  </a:srgbClr>
                </a:solidFill>
                <a:latin typeface="微软雅黑" panose="020B0503020204020204" charset="-122"/>
                <a:ea typeface="微软雅黑" panose="020B0503020204020204" charset="-122"/>
                <a:cs typeface="楷体" panose="02010609060101010101" charset="-122"/>
              </a:rPr>
              <a:t>客户基本信息样本 </a:t>
            </a:r>
            <a:r>
              <a:rPr sz="2000" spc="-40" dirty="0">
                <a:solidFill>
                  <a:srgbClr val="002960">
                    <a:alpha val="100000"/>
                  </a:srgbClr>
                </a:solidFill>
                <a:latin typeface="微软雅黑" panose="020B0503020204020204" charset="-122"/>
                <a:ea typeface="微软雅黑" panose="020B0503020204020204" charset="-122"/>
                <a:cs typeface="Arial" panose="020B0604020202020204"/>
              </a:rPr>
              <a:t>– </a:t>
            </a:r>
            <a:r>
              <a:rPr sz="2000" spc="-20" dirty="0">
                <a:solidFill>
                  <a:srgbClr val="002960">
                    <a:alpha val="100000"/>
                  </a:srgbClr>
                </a:solidFill>
                <a:latin typeface="微软雅黑" panose="020B0503020204020204" charset="-122"/>
                <a:ea typeface="微软雅黑" panose="020B0503020204020204" charset="-122"/>
                <a:cs typeface="楷体" panose="02010609060101010101" charset="-122"/>
              </a:rPr>
              <a:t>详</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细说明</a:t>
            </a:r>
            <a:endParaRPr lang="en-US" altLang="en-US" sz="2000" dirty="0">
              <a:latin typeface="微软雅黑" panose="020B0503020204020204" charset="-122"/>
              <a:ea typeface="微软雅黑" panose="020B0503020204020204" charset="-122"/>
            </a:endParaRPr>
          </a:p>
        </p:txBody>
      </p:sp>
      <p:grpSp>
        <p:nvGrpSpPr>
          <p:cNvPr id="186" name="group 186"/>
          <p:cNvGrpSpPr/>
          <p:nvPr/>
        </p:nvGrpSpPr>
        <p:grpSpPr>
          <a:xfrm rot="21600000">
            <a:off x="8145780" y="1133855"/>
            <a:ext cx="726947" cy="656844"/>
            <a:chOff x="0" y="0"/>
            <a:chExt cx="726947" cy="656844"/>
          </a:xfrm>
        </p:grpSpPr>
        <p:sp>
          <p:nvSpPr>
            <p:cNvPr id="863" name="path"/>
            <p:cNvSpPr/>
            <p:nvPr/>
          </p:nvSpPr>
          <p:spPr>
            <a:xfrm>
              <a:off x="187451" y="0"/>
              <a:ext cx="342900" cy="274320"/>
            </a:xfrm>
            <a:custGeom>
              <a:avLst/>
              <a:gdLst/>
              <a:ahLst/>
              <a:cxnLst/>
              <a:rect l="0" t="0" r="0" b="0"/>
              <a:pathLst>
                <a:path w="540" h="432">
                  <a:moveTo>
                    <a:pt x="353" y="420"/>
                  </a:moveTo>
                  <a:lnTo>
                    <a:pt x="540" y="176"/>
                  </a:lnTo>
                  <a:lnTo>
                    <a:pt x="274" y="0"/>
                  </a:lnTo>
                  <a:lnTo>
                    <a:pt x="0" y="184"/>
                  </a:lnTo>
                  <a:lnTo>
                    <a:pt x="184" y="432"/>
                  </a:lnTo>
                </a:path>
              </a:pathLst>
            </a:custGeom>
            <a:solidFill>
              <a:srgbClr val="0065BD">
                <a:alpha val="100000"/>
              </a:srgbClr>
            </a:solidFill>
            <a:ln cap="flat">
              <a:noFill/>
              <a:prstDash val="solid"/>
              <a:miter lim="0"/>
            </a:ln>
          </p:spPr>
          <p:txBody>
            <a:bodyPr rtlCol="0"/>
            <a:lstStyle/>
            <a:p>
              <a:pPr algn="ctr"/>
              <a:endParaRPr lang="zh-CN" altLang="en-US"/>
            </a:p>
          </p:txBody>
        </p:sp>
        <p:sp>
          <p:nvSpPr>
            <p:cNvPr id="864" name="path"/>
            <p:cNvSpPr/>
            <p:nvPr/>
          </p:nvSpPr>
          <p:spPr>
            <a:xfrm>
              <a:off x="0" y="123444"/>
              <a:ext cx="726947" cy="533400"/>
            </a:xfrm>
            <a:custGeom>
              <a:avLst/>
              <a:gdLst/>
              <a:ahLst/>
              <a:cxnLst/>
              <a:rect l="0" t="0" r="0" b="0"/>
              <a:pathLst>
                <a:path w="1144" h="840">
                  <a:moveTo>
                    <a:pt x="674" y="453"/>
                  </a:moveTo>
                  <a:lnTo>
                    <a:pt x="1024" y="546"/>
                  </a:lnTo>
                  <a:lnTo>
                    <a:pt x="915" y="840"/>
                  </a:lnTo>
                  <a:lnTo>
                    <a:pt x="579" y="839"/>
                  </a:lnTo>
                  <a:lnTo>
                    <a:pt x="578" y="538"/>
                  </a:lnTo>
                </a:path>
                <a:path w="1144" h="840">
                  <a:moveTo>
                    <a:pt x="746" y="415"/>
                  </a:moveTo>
                  <a:lnTo>
                    <a:pt x="1035" y="501"/>
                  </a:lnTo>
                  <a:lnTo>
                    <a:pt x="1144" y="190"/>
                  </a:lnTo>
                  <a:lnTo>
                    <a:pt x="867" y="0"/>
                  </a:lnTo>
                  <a:lnTo>
                    <a:pt x="683" y="248"/>
                  </a:lnTo>
                </a:path>
                <a:path w="1144" h="840">
                  <a:moveTo>
                    <a:pt x="455" y="285"/>
                  </a:moveTo>
                  <a:lnTo>
                    <a:pt x="267" y="7"/>
                  </a:lnTo>
                  <a:lnTo>
                    <a:pt x="0" y="193"/>
                  </a:lnTo>
                  <a:lnTo>
                    <a:pt x="104" y="496"/>
                  </a:lnTo>
                  <a:lnTo>
                    <a:pt x="399" y="406"/>
                  </a:lnTo>
                </a:path>
                <a:path w="1144" h="840">
                  <a:moveTo>
                    <a:pt x="452" y="439"/>
                  </a:moveTo>
                  <a:lnTo>
                    <a:pt x="110" y="535"/>
                  </a:lnTo>
                  <a:lnTo>
                    <a:pt x="217" y="840"/>
                  </a:lnTo>
                  <a:lnTo>
                    <a:pt x="546" y="839"/>
                  </a:lnTo>
                  <a:lnTo>
                    <a:pt x="547" y="527"/>
                  </a:lnTo>
                </a:path>
              </a:pathLst>
            </a:custGeom>
            <a:solidFill>
              <a:srgbClr val="C5C5C5">
                <a:alpha val="100000"/>
              </a:srgbClr>
            </a:solidFill>
            <a:ln cap="flat">
              <a:noFill/>
              <a:prstDash val="solid"/>
              <a:miter lim="0"/>
            </a:ln>
          </p:spPr>
          <p:txBody>
            <a:bodyPr rtlCol="0"/>
            <a:lstStyle/>
            <a:p>
              <a:pPr algn="ctr"/>
              <a:endParaRPr lang="zh-CN" altLang="en-US"/>
            </a:p>
          </p:txBody>
        </p:sp>
      </p:grpSp>
      <p:sp>
        <p:nvSpPr>
          <p:cNvPr id="865" name="textbox 865"/>
          <p:cNvSpPr/>
          <p:nvPr/>
        </p:nvSpPr>
        <p:spPr>
          <a:xfrm>
            <a:off x="6863588" y="1558544"/>
            <a:ext cx="1263650" cy="273050"/>
          </a:xfrm>
          <a:prstGeom prst="rect">
            <a:avLst/>
          </a:prstGeom>
        </p:spPr>
        <p:txBody>
          <a:bodyPr vert="horz" wrap="square" lIns="0" tIns="0" rIns="0" bIns="0"/>
          <a:lstStyle/>
          <a:p>
            <a:pPr algn="l" rtl="0" eaLnBrk="0">
              <a:lnSpc>
                <a:spcPct val="105000"/>
              </a:lnSpc>
            </a:pPr>
            <a:endParaRPr lang="en-US" altLang="en-US" sz="200" dirty="0"/>
          </a:p>
          <a:p>
            <a:pPr marL="64770" algn="l" rtl="0" eaLnBrk="0">
              <a:lnSpc>
                <a:spcPct val="95000"/>
              </a:lnSpc>
              <a:spcBef>
                <a:spcPts val="0"/>
              </a:spcBef>
            </a:pPr>
            <a:r>
              <a:rPr sz="1200" u="sng" spc="-10" dirty="0">
                <a:solidFill>
                  <a:srgbClr val="808080">
                    <a:alpha val="100000"/>
                  </a:srgbClr>
                </a:solidFill>
                <a:latin typeface="Arial" panose="020B0604020202020204"/>
                <a:ea typeface="Arial" panose="020B0604020202020204"/>
                <a:cs typeface="Arial" panose="020B0604020202020204"/>
              </a:rPr>
              <a:t>CHEME</a:t>
            </a:r>
            <a:r>
              <a:rPr sz="1200" u="sng" spc="0" dirty="0">
                <a:solidFill>
                  <a:srgbClr val="808080">
                    <a:alpha val="100000"/>
                  </a:srgbClr>
                </a:solidFill>
                <a:latin typeface="Arial" panose="020B0604020202020204"/>
                <a:ea typeface="Arial" panose="020B0604020202020204"/>
                <a:cs typeface="Arial" panose="020B0604020202020204"/>
              </a:rPr>
              <a:t>URO</a:t>
            </a:r>
            <a:r>
              <a:rPr sz="1200" u="sng" spc="-10" dirty="0">
                <a:solidFill>
                  <a:srgbClr val="808080">
                    <a:alpha val="100000"/>
                  </a:srgbClr>
                </a:solidFill>
                <a:latin typeface="楷体" panose="02010609060101010101" charset="-122"/>
                <a:ea typeface="楷体" panose="02010609060101010101" charset="-122"/>
                <a:cs typeface="楷体" panose="02010609060101010101" charset="-122"/>
              </a:rPr>
              <a:t>案例</a:t>
            </a:r>
            <a:endParaRPr lang="en-US" altLang="en-US" sz="1200" dirty="0"/>
          </a:p>
        </p:txBody>
      </p:sp>
      <p:sp>
        <p:nvSpPr>
          <p:cNvPr id="866" name="path"/>
          <p:cNvSpPr/>
          <p:nvPr/>
        </p:nvSpPr>
        <p:spPr>
          <a:xfrm>
            <a:off x="6876288" y="1571244"/>
            <a:ext cx="9143" cy="212724"/>
          </a:xfrm>
          <a:custGeom>
            <a:avLst/>
            <a:gdLst/>
            <a:ahLst/>
            <a:cxnLst/>
            <a:rect l="0" t="0" r="0" b="0"/>
            <a:pathLst>
              <a:path w="14" h="334">
                <a:moveTo>
                  <a:pt x="7" y="0"/>
                </a:moveTo>
                <a:lnTo>
                  <a:pt x="7" y="334"/>
                </a:lnTo>
              </a:path>
            </a:pathLst>
          </a:custGeom>
          <a:noFill/>
          <a:ln w="9143" cap="flat">
            <a:solidFill>
              <a:srgbClr val="808080">
                <a:alpha val="100000"/>
              </a:srgbClr>
            </a:solidFill>
            <a:prstDash val="solid"/>
            <a:round/>
          </a:ln>
        </p:spPr>
        <p:txBody>
          <a:bodyPr rtlCol="0"/>
          <a:lstStyle/>
          <a:p>
            <a:pPr algn="ctr"/>
            <a:endParaRPr lang="zh-CN" altLang="en-US"/>
          </a:p>
        </p:txBody>
      </p:sp>
      <p:grpSp>
        <p:nvGrpSpPr>
          <p:cNvPr id="188" name="group 188"/>
          <p:cNvGrpSpPr/>
          <p:nvPr/>
        </p:nvGrpSpPr>
        <p:grpSpPr>
          <a:xfrm rot="21600000">
            <a:off x="118872" y="230124"/>
            <a:ext cx="292608" cy="292607"/>
            <a:chOff x="0" y="0"/>
            <a:chExt cx="292608" cy="292607"/>
          </a:xfrm>
        </p:grpSpPr>
        <p:sp>
          <p:nvSpPr>
            <p:cNvPr id="868" name="path"/>
            <p:cNvSpPr/>
            <p:nvPr/>
          </p:nvSpPr>
          <p:spPr>
            <a:xfrm>
              <a:off x="0" y="0"/>
              <a:ext cx="292608" cy="292607"/>
            </a:xfrm>
            <a:custGeom>
              <a:avLst/>
              <a:gdLst/>
              <a:ahLst/>
              <a:cxnLst/>
              <a:rect l="0" t="0" r="0" b="0"/>
              <a:pathLst>
                <a:path w="460" h="460">
                  <a:moveTo>
                    <a:pt x="0" y="230"/>
                  </a:moveTo>
                  <a:cubicBezTo>
                    <a:pt x="0" y="103"/>
                    <a:pt x="103" y="0"/>
                    <a:pt x="230" y="0"/>
                  </a:cubicBezTo>
                  <a:cubicBezTo>
                    <a:pt x="357" y="0"/>
                    <a:pt x="460" y="103"/>
                    <a:pt x="460" y="230"/>
                  </a:cubicBezTo>
                  <a:cubicBezTo>
                    <a:pt x="460" y="357"/>
                    <a:pt x="357" y="460"/>
                    <a:pt x="230" y="460"/>
                  </a:cubicBezTo>
                  <a:cubicBezTo>
                    <a:pt x="103" y="460"/>
                    <a:pt x="0" y="357"/>
                    <a:pt x="0" y="230"/>
                  </a:cubicBezTo>
                </a:path>
              </a:pathLst>
            </a:custGeom>
            <a:solidFill>
              <a:srgbClr val="0065BD">
                <a:alpha val="100000"/>
              </a:srgbClr>
            </a:solidFill>
            <a:ln cap="flat">
              <a:noFill/>
              <a:prstDash val="solid"/>
              <a:miter lim="0"/>
            </a:ln>
          </p:spPr>
          <p:txBody>
            <a:bodyPr rtlCol="0"/>
            <a:lstStyle/>
            <a:p>
              <a:pPr algn="ctr"/>
              <a:endParaRPr lang="zh-CN" altLang="en-US"/>
            </a:p>
          </p:txBody>
        </p:sp>
        <p:sp>
          <p:nvSpPr>
            <p:cNvPr id="869" name="textbox 869"/>
            <p:cNvSpPr/>
            <p:nvPr/>
          </p:nvSpPr>
          <p:spPr>
            <a:xfrm>
              <a:off x="-12700" y="-12699"/>
              <a:ext cx="318134" cy="367665"/>
            </a:xfrm>
            <a:prstGeom prst="rect">
              <a:avLst/>
            </a:prstGeom>
          </p:spPr>
          <p:txBody>
            <a:bodyPr vert="horz" wrap="square" lIns="0" tIns="0" rIns="0" bIns="0"/>
            <a:lstStyle/>
            <a:p>
              <a:pPr algn="l" rtl="0" eaLnBrk="0">
                <a:lnSpc>
                  <a:spcPct val="110000"/>
                </a:lnSpc>
              </a:pPr>
              <a:endParaRPr lang="en-US" altLang="en-US" sz="500" dirty="0">
                <a:latin typeface="微软雅黑" panose="020B0503020204020204" charset="-122"/>
                <a:ea typeface="微软雅黑" panose="020B0503020204020204" charset="-122"/>
              </a:endParaRPr>
            </a:p>
            <a:p>
              <a:pPr marL="45085" algn="l" rtl="0" eaLnBrk="0">
                <a:lnSpc>
                  <a:spcPct val="80000"/>
                </a:lnSpc>
                <a:spcBef>
                  <a:spcPts val="5"/>
                </a:spcBef>
              </a:pPr>
              <a:r>
                <a:rPr sz="1700" b="1" spc="-10" dirty="0">
                  <a:solidFill>
                    <a:srgbClr val="FFFFFF">
                      <a:alpha val="100000"/>
                    </a:srgbClr>
                  </a:solidFill>
                  <a:latin typeface="微软雅黑" panose="020B0503020204020204" charset="-122"/>
                  <a:ea typeface="微软雅黑" panose="020B0503020204020204" charset="-122"/>
                  <a:cs typeface="Arial" panose="020B0604020202020204"/>
                </a:rPr>
                <a:t>2a</a:t>
              </a:r>
              <a:endParaRPr lang="en-US" altLang="en-US" sz="1700" dirty="0">
                <a:latin typeface="微软雅黑" panose="020B0503020204020204" charset="-122"/>
                <a:ea typeface="微软雅黑" panose="020B0503020204020204" charset="-122"/>
              </a:endParaRPr>
            </a:p>
          </p:txBody>
        </p:sp>
      </p:grpSp>
      <p:sp>
        <p:nvSpPr>
          <p:cNvPr id="870" name="textbox 870"/>
          <p:cNvSpPr/>
          <p:nvPr/>
        </p:nvSpPr>
        <p:spPr>
          <a:xfrm>
            <a:off x="114849" y="6511311"/>
            <a:ext cx="831214" cy="140335"/>
          </a:xfrm>
          <a:prstGeom prst="rect">
            <a:avLst/>
          </a:prstGeom>
        </p:spPr>
        <p:txBody>
          <a:bodyPr vert="horz" wrap="square" lIns="0" tIns="0" rIns="0" bIns="0"/>
          <a:lstStyle/>
          <a:p>
            <a:pPr algn="l" rtl="0" eaLnBrk="0">
              <a:lnSpc>
                <a:spcPct val="83000"/>
              </a:lnSpc>
            </a:pPr>
            <a:endParaRPr lang="en-US" altLang="en-US" sz="100" dirty="0"/>
          </a:p>
          <a:p>
            <a:pPr marL="12700" algn="l" rtl="0" eaLnBrk="0">
              <a:lnSpc>
                <a:spcPct val="94000"/>
              </a:lnSpc>
            </a:pPr>
            <a:r>
              <a:rPr sz="800" spc="-10" dirty="0">
                <a:solidFill>
                  <a:srgbClr val="808080">
                    <a:alpha val="100000"/>
                  </a:srgbClr>
                </a:solidFill>
                <a:latin typeface="楷体" panose="02010609060101010101" charset="-122"/>
                <a:ea typeface="楷体" panose="02010609060101010101" charset="-122"/>
                <a:cs typeface="楷体" panose="02010609060101010101" charset="-122"/>
              </a:rPr>
              <a:t>资料来源：乙方</a:t>
            </a:r>
            <a:endParaRPr lang="en-US" alt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71" name="table 871"/>
          <p:cNvGraphicFramePr>
            <a:graphicFrameLocks noGrp="1"/>
          </p:cNvGraphicFramePr>
          <p:nvPr/>
        </p:nvGraphicFramePr>
        <p:xfrm>
          <a:off x="341375" y="1013460"/>
          <a:ext cx="4020184" cy="2419984"/>
        </p:xfrm>
        <a:graphic>
          <a:graphicData uri="http://schemas.openxmlformats.org/drawingml/2006/table">
            <a:tbl>
              <a:tblPr/>
              <a:tblGrid>
                <a:gridCol w="4020184"/>
              </a:tblGrid>
              <a:tr h="2400934">
                <a:tc>
                  <a:txBody>
                    <a:bodyPr/>
                    <a:lstStyle/>
                    <a:p>
                      <a:pPr algn="l" rtl="0" eaLnBrk="0">
                        <a:lnSpc>
                          <a:spcPct val="100000"/>
                        </a:lnSpc>
                      </a:pPr>
                      <a:endParaRPr lang="en-US" altLang="en-US" sz="1000" dirty="0">
                        <a:latin typeface="微软雅黑" panose="020B0503020204020204" charset="-122"/>
                        <a:ea typeface="微软雅黑" panose="020B0503020204020204" charset="-122"/>
                      </a:endParaRPr>
                    </a:p>
                  </a:txBody>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w="19050" cap="flat" cmpd="sng" algn="ctr">
                      <a:solidFill>
                        <a:srgbClr val="BFE1FF"/>
                      </a:solidFill>
                      <a:prstDash val="solid"/>
                      <a:round/>
                      <a:headEnd type="none" w="med" len="med"/>
                      <a:tailEnd type="none" w="med" len="med"/>
                    </a:lnT>
                    <a:lnB>
                      <a:noFill/>
                    </a:lnB>
                  </a:tcPr>
                </a:tc>
              </a:tr>
            </a:tbl>
          </a:graphicData>
        </a:graphic>
      </p:graphicFrame>
      <p:grpSp>
        <p:nvGrpSpPr>
          <p:cNvPr id="190" name="group 190"/>
          <p:cNvGrpSpPr/>
          <p:nvPr/>
        </p:nvGrpSpPr>
        <p:grpSpPr>
          <a:xfrm rot="21600000">
            <a:off x="800100" y="4088892"/>
            <a:ext cx="2874264" cy="1828800"/>
            <a:chOff x="0" y="0"/>
            <a:chExt cx="2874264" cy="1828800"/>
          </a:xfrm>
        </p:grpSpPr>
        <p:sp>
          <p:nvSpPr>
            <p:cNvPr id="872" name="path"/>
            <p:cNvSpPr/>
            <p:nvPr/>
          </p:nvSpPr>
          <p:spPr>
            <a:xfrm>
              <a:off x="0" y="0"/>
              <a:ext cx="2874264" cy="1828800"/>
            </a:xfrm>
            <a:custGeom>
              <a:avLst/>
              <a:gdLst/>
              <a:ahLst/>
              <a:cxnLst/>
              <a:rect l="0" t="0" r="0" b="0"/>
              <a:pathLst>
                <a:path w="4526" h="2880">
                  <a:moveTo>
                    <a:pt x="0" y="2880"/>
                  </a:moveTo>
                  <a:lnTo>
                    <a:pt x="4526" y="2880"/>
                  </a:lnTo>
                  <a:lnTo>
                    <a:pt x="4526" y="0"/>
                  </a:lnTo>
                  <a:lnTo>
                    <a:pt x="0" y="0"/>
                  </a:lnTo>
                  <a:lnTo>
                    <a:pt x="0" y="2880"/>
                  </a:lnTo>
                  <a:close/>
                </a:path>
              </a:pathLst>
            </a:custGeom>
            <a:solidFill>
              <a:srgbClr val="C5C5C5">
                <a:alpha val="100000"/>
              </a:srgbClr>
            </a:solidFill>
            <a:ln cap="flat">
              <a:noFill/>
              <a:prstDash val="solid"/>
              <a:miter lim="0"/>
            </a:ln>
          </p:spPr>
          <p:txBody>
            <a:bodyPr rtlCol="0"/>
            <a:lstStyle/>
            <a:p>
              <a:pPr algn="ctr"/>
              <a:endParaRPr lang="zh-CN" altLang="en-US"/>
            </a:p>
          </p:txBody>
        </p:sp>
        <p:sp>
          <p:nvSpPr>
            <p:cNvPr id="873" name="path"/>
            <p:cNvSpPr/>
            <p:nvPr/>
          </p:nvSpPr>
          <p:spPr>
            <a:xfrm>
              <a:off x="228527" y="359880"/>
              <a:ext cx="368076" cy="1406918"/>
            </a:xfrm>
            <a:custGeom>
              <a:avLst/>
              <a:gdLst/>
              <a:ahLst/>
              <a:cxnLst/>
              <a:rect l="0" t="0" r="0" b="0"/>
              <a:pathLst>
                <a:path w="579" h="2215">
                  <a:moveTo>
                    <a:pt x="2" y="2212"/>
                  </a:moveTo>
                  <a:moveTo>
                    <a:pt x="2" y="2212"/>
                  </a:moveTo>
                  <a:lnTo>
                    <a:pt x="151" y="2212"/>
                  </a:lnTo>
                  <a:lnTo>
                    <a:pt x="151" y="3"/>
                  </a:lnTo>
                  <a:lnTo>
                    <a:pt x="2" y="3"/>
                  </a:lnTo>
                  <a:lnTo>
                    <a:pt x="2" y="2212"/>
                  </a:lnTo>
                  <a:close/>
                </a:path>
                <a:path w="579" h="2215">
                  <a:moveTo>
                    <a:pt x="212" y="512"/>
                  </a:moveTo>
                  <a:moveTo>
                    <a:pt x="212" y="512"/>
                  </a:moveTo>
                  <a:lnTo>
                    <a:pt x="366" y="512"/>
                  </a:lnTo>
                  <a:lnTo>
                    <a:pt x="366" y="3"/>
                  </a:lnTo>
                  <a:lnTo>
                    <a:pt x="212" y="3"/>
                  </a:lnTo>
                  <a:lnTo>
                    <a:pt x="212" y="512"/>
                  </a:lnTo>
                  <a:close/>
                </a:path>
                <a:path w="579" h="2215">
                  <a:moveTo>
                    <a:pt x="427" y="2212"/>
                  </a:moveTo>
                  <a:moveTo>
                    <a:pt x="427" y="2212"/>
                  </a:moveTo>
                  <a:lnTo>
                    <a:pt x="577" y="2212"/>
                  </a:lnTo>
                  <a:lnTo>
                    <a:pt x="577" y="512"/>
                  </a:lnTo>
                  <a:lnTo>
                    <a:pt x="427" y="512"/>
                  </a:lnTo>
                  <a:lnTo>
                    <a:pt x="427" y="2212"/>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874" name="path"/>
            <p:cNvSpPr/>
            <p:nvPr/>
          </p:nvSpPr>
          <p:spPr>
            <a:xfrm>
              <a:off x="632175" y="683213"/>
              <a:ext cx="370961" cy="96156"/>
            </a:xfrm>
            <a:custGeom>
              <a:avLst/>
              <a:gdLst/>
              <a:ahLst/>
              <a:cxnLst/>
              <a:rect l="0" t="0" r="0" b="0"/>
              <a:pathLst>
                <a:path w="584" h="151">
                  <a:moveTo>
                    <a:pt x="2" y="99"/>
                  </a:moveTo>
                  <a:lnTo>
                    <a:pt x="156" y="99"/>
                  </a:lnTo>
                  <a:lnTo>
                    <a:pt x="156" y="3"/>
                  </a:lnTo>
                  <a:lnTo>
                    <a:pt x="2" y="3"/>
                  </a:lnTo>
                  <a:lnTo>
                    <a:pt x="2" y="99"/>
                  </a:lnTo>
                  <a:close/>
                </a:path>
                <a:path w="584" h="151">
                  <a:moveTo>
                    <a:pt x="427" y="147"/>
                  </a:moveTo>
                  <a:lnTo>
                    <a:pt x="581" y="147"/>
                  </a:lnTo>
                  <a:lnTo>
                    <a:pt x="581" y="113"/>
                  </a:lnTo>
                  <a:lnTo>
                    <a:pt x="427" y="113"/>
                  </a:lnTo>
                  <a:lnTo>
                    <a:pt x="427" y="147"/>
                  </a:lnTo>
                  <a:close/>
                </a:path>
              </a:pathLst>
            </a:custGeom>
            <a:solidFill>
              <a:srgbClr val="FFFFFF">
                <a:alpha val="100000"/>
              </a:srgbClr>
            </a:solidFill>
            <a:ln w="3661" cap="flat">
              <a:solidFill>
                <a:srgbClr val="000000">
                  <a:alpha val="100000"/>
                </a:srgbClr>
              </a:solidFill>
              <a:prstDash val="solid"/>
              <a:round/>
            </a:ln>
          </p:spPr>
          <p:txBody>
            <a:bodyPr rtlCol="0"/>
            <a:lstStyle/>
            <a:p>
              <a:pPr algn="ctr"/>
              <a:endParaRPr lang="zh-CN" altLang="en-US"/>
            </a:p>
          </p:txBody>
        </p:sp>
        <p:sp>
          <p:nvSpPr>
            <p:cNvPr id="875" name="path"/>
            <p:cNvSpPr/>
            <p:nvPr/>
          </p:nvSpPr>
          <p:spPr>
            <a:xfrm>
              <a:off x="1305878" y="783733"/>
              <a:ext cx="504437" cy="983064"/>
            </a:xfrm>
            <a:custGeom>
              <a:avLst/>
              <a:gdLst/>
              <a:ahLst/>
              <a:cxnLst/>
              <a:rect l="0" t="0" r="0" b="0"/>
              <a:pathLst>
                <a:path w="794" h="1548">
                  <a:moveTo>
                    <a:pt x="2" y="1544"/>
                  </a:moveTo>
                  <a:moveTo>
                    <a:pt x="2" y="1544"/>
                  </a:moveTo>
                  <a:lnTo>
                    <a:pt x="156" y="1544"/>
                  </a:lnTo>
                  <a:lnTo>
                    <a:pt x="156" y="3"/>
                  </a:lnTo>
                  <a:lnTo>
                    <a:pt x="2" y="3"/>
                  </a:lnTo>
                  <a:lnTo>
                    <a:pt x="2" y="1544"/>
                  </a:lnTo>
                  <a:close/>
                </a:path>
                <a:path w="794" h="1548">
                  <a:moveTo>
                    <a:pt x="217" y="760"/>
                  </a:moveTo>
                  <a:moveTo>
                    <a:pt x="217" y="760"/>
                  </a:moveTo>
                  <a:lnTo>
                    <a:pt x="366" y="760"/>
                  </a:lnTo>
                  <a:lnTo>
                    <a:pt x="366" y="3"/>
                  </a:lnTo>
                  <a:lnTo>
                    <a:pt x="217" y="3"/>
                  </a:lnTo>
                  <a:lnTo>
                    <a:pt x="217" y="760"/>
                  </a:lnTo>
                  <a:close/>
                </a:path>
                <a:path w="794" h="1548">
                  <a:moveTo>
                    <a:pt x="642" y="1544"/>
                  </a:moveTo>
                  <a:moveTo>
                    <a:pt x="642" y="1544"/>
                  </a:moveTo>
                  <a:lnTo>
                    <a:pt x="792" y="1544"/>
                  </a:lnTo>
                  <a:lnTo>
                    <a:pt x="792" y="774"/>
                  </a:lnTo>
                  <a:lnTo>
                    <a:pt x="642" y="774"/>
                  </a:lnTo>
                  <a:lnTo>
                    <a:pt x="642" y="1544"/>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876" name="path"/>
            <p:cNvSpPr/>
            <p:nvPr/>
          </p:nvSpPr>
          <p:spPr>
            <a:xfrm>
              <a:off x="1845986" y="1273086"/>
              <a:ext cx="97922" cy="39374"/>
            </a:xfrm>
            <a:custGeom>
              <a:avLst/>
              <a:gdLst/>
              <a:ahLst/>
              <a:cxnLst/>
              <a:rect l="0" t="0" r="0" b="0"/>
              <a:pathLst>
                <a:path w="154" h="62">
                  <a:moveTo>
                    <a:pt x="2" y="58"/>
                  </a:moveTo>
                  <a:lnTo>
                    <a:pt x="151" y="58"/>
                  </a:lnTo>
                  <a:lnTo>
                    <a:pt x="151" y="3"/>
                  </a:lnTo>
                  <a:lnTo>
                    <a:pt x="2" y="3"/>
                  </a:lnTo>
                  <a:lnTo>
                    <a:pt x="2" y="58"/>
                  </a:lnTo>
                  <a:close/>
                </a:path>
              </a:pathLst>
            </a:custGeom>
            <a:solidFill>
              <a:srgbClr val="FFFFFF">
                <a:alpha val="100000"/>
              </a:srgbClr>
            </a:solidFill>
            <a:ln w="3661" cap="flat">
              <a:solidFill>
                <a:srgbClr val="000000">
                  <a:alpha val="100000"/>
                </a:srgbClr>
              </a:solidFill>
              <a:prstDash val="solid"/>
              <a:round/>
            </a:ln>
          </p:spPr>
          <p:txBody>
            <a:bodyPr rtlCol="0"/>
            <a:lstStyle/>
            <a:p>
              <a:pPr algn="ctr"/>
              <a:endParaRPr lang="zh-CN" altLang="en-US"/>
            </a:p>
          </p:txBody>
        </p:sp>
        <p:sp>
          <p:nvSpPr>
            <p:cNvPr id="877" name="path"/>
            <p:cNvSpPr/>
            <p:nvPr/>
          </p:nvSpPr>
          <p:spPr>
            <a:xfrm>
              <a:off x="2249536" y="1312461"/>
              <a:ext cx="100887" cy="275188"/>
            </a:xfrm>
            <a:custGeom>
              <a:avLst/>
              <a:gdLst/>
              <a:ahLst/>
              <a:cxnLst/>
              <a:rect l="0" t="0" r="0" b="0"/>
              <a:pathLst>
                <a:path w="158" h="433">
                  <a:moveTo>
                    <a:pt x="2" y="429"/>
                  </a:moveTo>
                  <a:moveTo>
                    <a:pt x="2" y="429"/>
                  </a:moveTo>
                  <a:lnTo>
                    <a:pt x="156" y="429"/>
                  </a:lnTo>
                  <a:lnTo>
                    <a:pt x="156" y="3"/>
                  </a:lnTo>
                  <a:lnTo>
                    <a:pt x="2" y="3"/>
                  </a:lnTo>
                  <a:lnTo>
                    <a:pt x="2" y="429"/>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878" name="path"/>
            <p:cNvSpPr/>
            <p:nvPr/>
          </p:nvSpPr>
          <p:spPr>
            <a:xfrm>
              <a:off x="2386095" y="1583291"/>
              <a:ext cx="367997" cy="183507"/>
            </a:xfrm>
            <a:custGeom>
              <a:avLst/>
              <a:gdLst/>
              <a:ahLst/>
              <a:cxnLst/>
              <a:rect l="0" t="0" r="0" b="0"/>
              <a:pathLst>
                <a:path w="579" h="288">
                  <a:moveTo>
                    <a:pt x="2" y="120"/>
                  </a:moveTo>
                  <a:lnTo>
                    <a:pt x="151" y="120"/>
                  </a:lnTo>
                  <a:lnTo>
                    <a:pt x="151" y="3"/>
                  </a:lnTo>
                  <a:lnTo>
                    <a:pt x="2" y="3"/>
                  </a:lnTo>
                  <a:lnTo>
                    <a:pt x="2" y="120"/>
                  </a:lnTo>
                  <a:close/>
                </a:path>
                <a:path w="579" h="288">
                  <a:moveTo>
                    <a:pt x="212" y="230"/>
                  </a:moveTo>
                  <a:lnTo>
                    <a:pt x="366" y="230"/>
                  </a:lnTo>
                  <a:lnTo>
                    <a:pt x="366" y="120"/>
                  </a:lnTo>
                  <a:lnTo>
                    <a:pt x="212" y="120"/>
                  </a:lnTo>
                  <a:lnTo>
                    <a:pt x="212" y="230"/>
                  </a:lnTo>
                  <a:close/>
                </a:path>
                <a:path w="579" h="288">
                  <a:moveTo>
                    <a:pt x="427" y="285"/>
                  </a:moveTo>
                  <a:lnTo>
                    <a:pt x="577" y="285"/>
                  </a:lnTo>
                  <a:lnTo>
                    <a:pt x="577" y="230"/>
                  </a:lnTo>
                  <a:lnTo>
                    <a:pt x="427" y="230"/>
                  </a:lnTo>
                  <a:lnTo>
                    <a:pt x="427" y="285"/>
                  </a:lnTo>
                  <a:close/>
                </a:path>
              </a:pathLst>
            </a:custGeom>
            <a:solidFill>
              <a:srgbClr val="FFFFFF">
                <a:alpha val="100000"/>
              </a:srgbClr>
            </a:solidFill>
            <a:ln w="3661" cap="flat">
              <a:solidFill>
                <a:srgbClr val="000000">
                  <a:alpha val="100000"/>
                </a:srgbClr>
              </a:solidFill>
              <a:prstDash val="solid"/>
              <a:round/>
            </a:ln>
          </p:spPr>
          <p:txBody>
            <a:bodyPr rtlCol="0"/>
            <a:lstStyle/>
            <a:p>
              <a:pPr algn="ctr"/>
              <a:endParaRPr lang="zh-CN" altLang="en-US"/>
            </a:p>
          </p:txBody>
        </p:sp>
        <p:sp>
          <p:nvSpPr>
            <p:cNvPr id="879" name="path"/>
            <p:cNvSpPr/>
            <p:nvPr/>
          </p:nvSpPr>
          <p:spPr>
            <a:xfrm>
              <a:off x="450522" y="675714"/>
              <a:ext cx="2220331" cy="1055906"/>
            </a:xfrm>
            <a:custGeom>
              <a:avLst/>
              <a:gdLst/>
              <a:ahLst/>
              <a:cxnLst/>
              <a:rect l="0" t="0" r="0" b="0"/>
              <a:pathLst>
                <a:path w="3496" h="1662">
                  <a:moveTo>
                    <a:pt x="12" y="11"/>
                  </a:moveTo>
                  <a:lnTo>
                    <a:pt x="109" y="11"/>
                  </a:lnTo>
                  <a:moveTo>
                    <a:pt x="428" y="105"/>
                  </a:moveTo>
                  <a:lnTo>
                    <a:pt x="524" y="105"/>
                  </a:lnTo>
                  <a:moveTo>
                    <a:pt x="638" y="120"/>
                  </a:moveTo>
                  <a:lnTo>
                    <a:pt x="734" y="120"/>
                  </a:lnTo>
                  <a:moveTo>
                    <a:pt x="852" y="154"/>
                  </a:moveTo>
                  <a:lnTo>
                    <a:pt x="948" y="154"/>
                  </a:lnTo>
                  <a:moveTo>
                    <a:pt x="1137" y="158"/>
                  </a:moveTo>
                  <a:lnTo>
                    <a:pt x="1234" y="158"/>
                  </a:lnTo>
                  <a:moveTo>
                    <a:pt x="2539" y="996"/>
                  </a:moveTo>
                  <a:lnTo>
                    <a:pt x="2636" y="996"/>
                  </a:lnTo>
                  <a:moveTo>
                    <a:pt x="1695" y="925"/>
                  </a:moveTo>
                  <a:lnTo>
                    <a:pt x="1792" y="925"/>
                  </a:lnTo>
                  <a:moveTo>
                    <a:pt x="1918" y="936"/>
                  </a:moveTo>
                  <a:lnTo>
                    <a:pt x="2014" y="936"/>
                  </a:lnTo>
                  <a:moveTo>
                    <a:pt x="3387" y="1651"/>
                  </a:moveTo>
                  <a:lnTo>
                    <a:pt x="3483" y="1651"/>
                  </a:lnTo>
                  <a:moveTo>
                    <a:pt x="2031" y="936"/>
                  </a:moveTo>
                  <a:lnTo>
                    <a:pt x="2128" y="936"/>
                  </a:lnTo>
                  <a:moveTo>
                    <a:pt x="2950" y="1429"/>
                  </a:moveTo>
                  <a:lnTo>
                    <a:pt x="3047" y="1429"/>
                  </a:lnTo>
                  <a:moveTo>
                    <a:pt x="3177" y="1538"/>
                  </a:moveTo>
                  <a:lnTo>
                    <a:pt x="3274" y="1538"/>
                  </a:lnTo>
                  <a:moveTo>
                    <a:pt x="214" y="11"/>
                  </a:moveTo>
                  <a:lnTo>
                    <a:pt x="310" y="11"/>
                  </a:lnTo>
                  <a:moveTo>
                    <a:pt x="1057" y="161"/>
                  </a:moveTo>
                  <a:lnTo>
                    <a:pt x="1154" y="161"/>
                  </a:lnTo>
                  <a:moveTo>
                    <a:pt x="1255" y="165"/>
                  </a:moveTo>
                  <a:lnTo>
                    <a:pt x="1355" y="165"/>
                  </a:lnTo>
                  <a:moveTo>
                    <a:pt x="1473" y="165"/>
                  </a:moveTo>
                  <a:lnTo>
                    <a:pt x="1574" y="165"/>
                  </a:lnTo>
                  <a:moveTo>
                    <a:pt x="2119" y="936"/>
                  </a:moveTo>
                  <a:lnTo>
                    <a:pt x="2216" y="936"/>
                  </a:lnTo>
                  <a:moveTo>
                    <a:pt x="2333" y="989"/>
                  </a:moveTo>
                  <a:lnTo>
                    <a:pt x="2430" y="989"/>
                  </a:lnTo>
                  <a:moveTo>
                    <a:pt x="2749" y="1000"/>
                  </a:moveTo>
                  <a:lnTo>
                    <a:pt x="2845" y="1000"/>
                  </a:lnTo>
                </a:path>
              </a:pathLst>
            </a:custGeom>
            <a:noFill/>
            <a:ln w="15163" cap="rnd">
              <a:solidFill>
                <a:srgbClr val="000000">
                  <a:alpha val="100000"/>
                </a:srgbClr>
              </a:solidFill>
              <a:prstDash val="solid"/>
              <a:round/>
            </a:ln>
          </p:spPr>
          <p:txBody>
            <a:bodyPr rtlCol="0"/>
            <a:lstStyle/>
            <a:p>
              <a:pPr algn="ctr"/>
              <a:endParaRPr lang="zh-CN" altLang="en-US"/>
            </a:p>
          </p:txBody>
        </p:sp>
        <p:sp>
          <p:nvSpPr>
            <p:cNvPr id="880" name="path"/>
            <p:cNvSpPr/>
            <p:nvPr/>
          </p:nvSpPr>
          <p:spPr>
            <a:xfrm>
              <a:off x="228527" y="359880"/>
              <a:ext cx="368076" cy="1406918"/>
            </a:xfrm>
            <a:custGeom>
              <a:avLst/>
              <a:gdLst/>
              <a:ahLst/>
              <a:cxnLst/>
              <a:rect l="0" t="0" r="0" b="0"/>
              <a:pathLst>
                <a:path w="579" h="2215">
                  <a:moveTo>
                    <a:pt x="2" y="2212"/>
                  </a:moveTo>
                  <a:moveTo>
                    <a:pt x="2" y="2212"/>
                  </a:moveTo>
                  <a:lnTo>
                    <a:pt x="151" y="2212"/>
                  </a:lnTo>
                  <a:lnTo>
                    <a:pt x="151" y="3"/>
                  </a:lnTo>
                  <a:lnTo>
                    <a:pt x="2" y="3"/>
                  </a:lnTo>
                  <a:lnTo>
                    <a:pt x="2" y="2212"/>
                  </a:lnTo>
                  <a:close/>
                </a:path>
                <a:path w="579" h="2215">
                  <a:moveTo>
                    <a:pt x="212" y="512"/>
                  </a:moveTo>
                  <a:moveTo>
                    <a:pt x="212" y="512"/>
                  </a:moveTo>
                  <a:lnTo>
                    <a:pt x="366" y="512"/>
                  </a:lnTo>
                  <a:lnTo>
                    <a:pt x="366" y="3"/>
                  </a:lnTo>
                  <a:lnTo>
                    <a:pt x="212" y="3"/>
                  </a:lnTo>
                  <a:lnTo>
                    <a:pt x="212" y="512"/>
                  </a:lnTo>
                  <a:close/>
                </a:path>
                <a:path w="579" h="2215">
                  <a:moveTo>
                    <a:pt x="427" y="2212"/>
                  </a:moveTo>
                  <a:moveTo>
                    <a:pt x="427" y="2212"/>
                  </a:moveTo>
                  <a:lnTo>
                    <a:pt x="577" y="2212"/>
                  </a:lnTo>
                  <a:lnTo>
                    <a:pt x="577" y="512"/>
                  </a:lnTo>
                  <a:lnTo>
                    <a:pt x="427" y="512"/>
                  </a:lnTo>
                  <a:lnTo>
                    <a:pt x="427" y="2212"/>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881" name="path"/>
            <p:cNvSpPr/>
            <p:nvPr/>
          </p:nvSpPr>
          <p:spPr>
            <a:xfrm>
              <a:off x="632175" y="683213"/>
              <a:ext cx="370961" cy="96156"/>
            </a:xfrm>
            <a:custGeom>
              <a:avLst/>
              <a:gdLst/>
              <a:ahLst/>
              <a:cxnLst/>
              <a:rect l="0" t="0" r="0" b="0"/>
              <a:pathLst>
                <a:path w="584" h="151">
                  <a:moveTo>
                    <a:pt x="2" y="99"/>
                  </a:moveTo>
                  <a:lnTo>
                    <a:pt x="156" y="99"/>
                  </a:lnTo>
                  <a:lnTo>
                    <a:pt x="156" y="3"/>
                  </a:lnTo>
                  <a:lnTo>
                    <a:pt x="2" y="3"/>
                  </a:lnTo>
                  <a:lnTo>
                    <a:pt x="2" y="99"/>
                  </a:lnTo>
                  <a:close/>
                </a:path>
                <a:path w="584" h="151">
                  <a:moveTo>
                    <a:pt x="427" y="147"/>
                  </a:moveTo>
                  <a:lnTo>
                    <a:pt x="581" y="147"/>
                  </a:lnTo>
                  <a:lnTo>
                    <a:pt x="581" y="113"/>
                  </a:lnTo>
                  <a:lnTo>
                    <a:pt x="427" y="113"/>
                  </a:lnTo>
                  <a:lnTo>
                    <a:pt x="427" y="147"/>
                  </a:lnTo>
                  <a:close/>
                </a:path>
              </a:pathLst>
            </a:custGeom>
            <a:solidFill>
              <a:srgbClr val="FFFFFF">
                <a:alpha val="100000"/>
              </a:srgbClr>
            </a:solidFill>
            <a:ln w="3661" cap="rnd">
              <a:solidFill>
                <a:srgbClr val="000000">
                  <a:alpha val="100000"/>
                </a:srgbClr>
              </a:solidFill>
              <a:prstDash val="solid"/>
              <a:round/>
            </a:ln>
          </p:spPr>
          <p:txBody>
            <a:bodyPr rtlCol="0"/>
            <a:lstStyle/>
            <a:p>
              <a:pPr algn="ctr"/>
              <a:endParaRPr lang="zh-CN" altLang="en-US"/>
            </a:p>
          </p:txBody>
        </p:sp>
        <p:sp>
          <p:nvSpPr>
            <p:cNvPr id="882" name="path"/>
            <p:cNvSpPr/>
            <p:nvPr/>
          </p:nvSpPr>
          <p:spPr>
            <a:xfrm>
              <a:off x="1305878" y="783733"/>
              <a:ext cx="504437" cy="983064"/>
            </a:xfrm>
            <a:custGeom>
              <a:avLst/>
              <a:gdLst/>
              <a:ahLst/>
              <a:cxnLst/>
              <a:rect l="0" t="0" r="0" b="0"/>
              <a:pathLst>
                <a:path w="794" h="1548">
                  <a:moveTo>
                    <a:pt x="2" y="1544"/>
                  </a:moveTo>
                  <a:moveTo>
                    <a:pt x="2" y="1544"/>
                  </a:moveTo>
                  <a:lnTo>
                    <a:pt x="156" y="1544"/>
                  </a:lnTo>
                  <a:lnTo>
                    <a:pt x="156" y="3"/>
                  </a:lnTo>
                  <a:lnTo>
                    <a:pt x="2" y="3"/>
                  </a:lnTo>
                  <a:lnTo>
                    <a:pt x="2" y="1544"/>
                  </a:lnTo>
                  <a:close/>
                </a:path>
                <a:path w="794" h="1548">
                  <a:moveTo>
                    <a:pt x="217" y="760"/>
                  </a:moveTo>
                  <a:moveTo>
                    <a:pt x="217" y="760"/>
                  </a:moveTo>
                  <a:lnTo>
                    <a:pt x="366" y="760"/>
                  </a:lnTo>
                  <a:lnTo>
                    <a:pt x="366" y="3"/>
                  </a:lnTo>
                  <a:lnTo>
                    <a:pt x="217" y="3"/>
                  </a:lnTo>
                  <a:lnTo>
                    <a:pt x="217" y="760"/>
                  </a:lnTo>
                  <a:close/>
                </a:path>
                <a:path w="794" h="1548">
                  <a:moveTo>
                    <a:pt x="642" y="1544"/>
                  </a:moveTo>
                  <a:moveTo>
                    <a:pt x="642" y="1544"/>
                  </a:moveTo>
                  <a:lnTo>
                    <a:pt x="792" y="1544"/>
                  </a:lnTo>
                  <a:lnTo>
                    <a:pt x="792" y="774"/>
                  </a:lnTo>
                  <a:lnTo>
                    <a:pt x="642" y="774"/>
                  </a:lnTo>
                  <a:lnTo>
                    <a:pt x="642" y="1544"/>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883" name="path"/>
            <p:cNvSpPr/>
            <p:nvPr/>
          </p:nvSpPr>
          <p:spPr>
            <a:xfrm>
              <a:off x="1845986" y="1273086"/>
              <a:ext cx="97922" cy="39374"/>
            </a:xfrm>
            <a:custGeom>
              <a:avLst/>
              <a:gdLst/>
              <a:ahLst/>
              <a:cxnLst/>
              <a:rect l="0" t="0" r="0" b="0"/>
              <a:pathLst>
                <a:path w="154" h="62">
                  <a:moveTo>
                    <a:pt x="2" y="58"/>
                  </a:moveTo>
                  <a:lnTo>
                    <a:pt x="151" y="58"/>
                  </a:lnTo>
                  <a:lnTo>
                    <a:pt x="151" y="3"/>
                  </a:lnTo>
                  <a:lnTo>
                    <a:pt x="2" y="3"/>
                  </a:lnTo>
                  <a:lnTo>
                    <a:pt x="2" y="58"/>
                  </a:lnTo>
                  <a:close/>
                </a:path>
              </a:pathLst>
            </a:custGeom>
            <a:solidFill>
              <a:srgbClr val="FFFFFF">
                <a:alpha val="100000"/>
              </a:srgbClr>
            </a:solidFill>
            <a:ln w="3661" cap="rnd">
              <a:solidFill>
                <a:srgbClr val="000000">
                  <a:alpha val="100000"/>
                </a:srgbClr>
              </a:solidFill>
              <a:prstDash val="solid"/>
              <a:round/>
            </a:ln>
          </p:spPr>
          <p:txBody>
            <a:bodyPr rtlCol="0"/>
            <a:lstStyle/>
            <a:p>
              <a:pPr algn="ctr"/>
              <a:endParaRPr lang="zh-CN" altLang="en-US"/>
            </a:p>
          </p:txBody>
        </p:sp>
        <p:sp>
          <p:nvSpPr>
            <p:cNvPr id="884" name="path"/>
            <p:cNvSpPr/>
            <p:nvPr/>
          </p:nvSpPr>
          <p:spPr>
            <a:xfrm>
              <a:off x="2249536" y="1312461"/>
              <a:ext cx="100887" cy="275188"/>
            </a:xfrm>
            <a:custGeom>
              <a:avLst/>
              <a:gdLst/>
              <a:ahLst/>
              <a:cxnLst/>
              <a:rect l="0" t="0" r="0" b="0"/>
              <a:pathLst>
                <a:path w="158" h="433">
                  <a:moveTo>
                    <a:pt x="2" y="429"/>
                  </a:moveTo>
                  <a:moveTo>
                    <a:pt x="2" y="429"/>
                  </a:moveTo>
                  <a:lnTo>
                    <a:pt x="156" y="429"/>
                  </a:lnTo>
                  <a:lnTo>
                    <a:pt x="156" y="3"/>
                  </a:lnTo>
                  <a:lnTo>
                    <a:pt x="2" y="3"/>
                  </a:lnTo>
                  <a:lnTo>
                    <a:pt x="2" y="429"/>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885" name="path"/>
            <p:cNvSpPr/>
            <p:nvPr/>
          </p:nvSpPr>
          <p:spPr>
            <a:xfrm>
              <a:off x="2386095" y="1583291"/>
              <a:ext cx="367997" cy="183507"/>
            </a:xfrm>
            <a:custGeom>
              <a:avLst/>
              <a:gdLst/>
              <a:ahLst/>
              <a:cxnLst/>
              <a:rect l="0" t="0" r="0" b="0"/>
              <a:pathLst>
                <a:path w="579" h="288">
                  <a:moveTo>
                    <a:pt x="2" y="120"/>
                  </a:moveTo>
                  <a:lnTo>
                    <a:pt x="151" y="120"/>
                  </a:lnTo>
                  <a:lnTo>
                    <a:pt x="151" y="3"/>
                  </a:lnTo>
                  <a:lnTo>
                    <a:pt x="2" y="3"/>
                  </a:lnTo>
                  <a:lnTo>
                    <a:pt x="2" y="120"/>
                  </a:lnTo>
                  <a:close/>
                </a:path>
                <a:path w="579" h="288">
                  <a:moveTo>
                    <a:pt x="212" y="230"/>
                  </a:moveTo>
                  <a:lnTo>
                    <a:pt x="366" y="230"/>
                  </a:lnTo>
                  <a:lnTo>
                    <a:pt x="366" y="120"/>
                  </a:lnTo>
                  <a:lnTo>
                    <a:pt x="212" y="120"/>
                  </a:lnTo>
                  <a:lnTo>
                    <a:pt x="212" y="230"/>
                  </a:lnTo>
                  <a:close/>
                </a:path>
                <a:path w="579" h="288">
                  <a:moveTo>
                    <a:pt x="427" y="285"/>
                  </a:moveTo>
                  <a:lnTo>
                    <a:pt x="577" y="285"/>
                  </a:lnTo>
                  <a:lnTo>
                    <a:pt x="577" y="230"/>
                  </a:lnTo>
                  <a:lnTo>
                    <a:pt x="427" y="230"/>
                  </a:lnTo>
                  <a:lnTo>
                    <a:pt x="427" y="285"/>
                  </a:lnTo>
                  <a:close/>
                </a:path>
              </a:pathLst>
            </a:custGeom>
            <a:solidFill>
              <a:srgbClr val="FFFFFF">
                <a:alpha val="100000"/>
              </a:srgbClr>
            </a:solidFill>
            <a:ln w="3661" cap="rnd">
              <a:solidFill>
                <a:srgbClr val="000000">
                  <a:alpha val="100000"/>
                </a:srgbClr>
              </a:solidFill>
              <a:prstDash val="solid"/>
              <a:round/>
            </a:ln>
          </p:spPr>
          <p:txBody>
            <a:bodyPr rtlCol="0"/>
            <a:lstStyle/>
            <a:p>
              <a:pPr algn="ctr"/>
              <a:endParaRPr lang="zh-CN" altLang="en-US"/>
            </a:p>
          </p:txBody>
        </p:sp>
        <p:sp>
          <p:nvSpPr>
            <p:cNvPr id="886" name="path"/>
            <p:cNvSpPr/>
            <p:nvPr/>
          </p:nvSpPr>
          <p:spPr>
            <a:xfrm>
              <a:off x="450522" y="675714"/>
              <a:ext cx="2220331" cy="1055906"/>
            </a:xfrm>
            <a:custGeom>
              <a:avLst/>
              <a:gdLst/>
              <a:ahLst/>
              <a:cxnLst/>
              <a:rect l="0" t="0" r="0" b="0"/>
              <a:pathLst>
                <a:path w="3496" h="1662">
                  <a:moveTo>
                    <a:pt x="12" y="11"/>
                  </a:moveTo>
                  <a:lnTo>
                    <a:pt x="109" y="11"/>
                  </a:lnTo>
                  <a:moveTo>
                    <a:pt x="428" y="105"/>
                  </a:moveTo>
                  <a:lnTo>
                    <a:pt x="524" y="105"/>
                  </a:lnTo>
                  <a:moveTo>
                    <a:pt x="638" y="120"/>
                  </a:moveTo>
                  <a:lnTo>
                    <a:pt x="734" y="120"/>
                  </a:lnTo>
                  <a:moveTo>
                    <a:pt x="852" y="154"/>
                  </a:moveTo>
                  <a:lnTo>
                    <a:pt x="948" y="154"/>
                  </a:lnTo>
                  <a:moveTo>
                    <a:pt x="1137" y="158"/>
                  </a:moveTo>
                  <a:lnTo>
                    <a:pt x="1234" y="158"/>
                  </a:lnTo>
                  <a:moveTo>
                    <a:pt x="2539" y="996"/>
                  </a:moveTo>
                  <a:lnTo>
                    <a:pt x="2636" y="996"/>
                  </a:lnTo>
                  <a:moveTo>
                    <a:pt x="1695" y="925"/>
                  </a:moveTo>
                  <a:lnTo>
                    <a:pt x="1792" y="925"/>
                  </a:lnTo>
                  <a:moveTo>
                    <a:pt x="1918" y="936"/>
                  </a:moveTo>
                  <a:lnTo>
                    <a:pt x="2014" y="936"/>
                  </a:lnTo>
                  <a:moveTo>
                    <a:pt x="3387" y="1651"/>
                  </a:moveTo>
                  <a:lnTo>
                    <a:pt x="3483" y="1651"/>
                  </a:lnTo>
                  <a:moveTo>
                    <a:pt x="2031" y="936"/>
                  </a:moveTo>
                  <a:lnTo>
                    <a:pt x="2128" y="936"/>
                  </a:lnTo>
                  <a:moveTo>
                    <a:pt x="2950" y="1429"/>
                  </a:moveTo>
                  <a:lnTo>
                    <a:pt x="3047" y="1429"/>
                  </a:lnTo>
                  <a:moveTo>
                    <a:pt x="3177" y="1538"/>
                  </a:moveTo>
                  <a:lnTo>
                    <a:pt x="3274" y="1538"/>
                  </a:lnTo>
                  <a:moveTo>
                    <a:pt x="214" y="11"/>
                  </a:moveTo>
                  <a:lnTo>
                    <a:pt x="310" y="11"/>
                  </a:lnTo>
                  <a:moveTo>
                    <a:pt x="1057" y="161"/>
                  </a:moveTo>
                  <a:lnTo>
                    <a:pt x="1154" y="161"/>
                  </a:lnTo>
                  <a:moveTo>
                    <a:pt x="1255" y="165"/>
                  </a:moveTo>
                  <a:lnTo>
                    <a:pt x="1355" y="165"/>
                  </a:lnTo>
                  <a:moveTo>
                    <a:pt x="1473" y="165"/>
                  </a:moveTo>
                  <a:lnTo>
                    <a:pt x="1574" y="165"/>
                  </a:lnTo>
                  <a:moveTo>
                    <a:pt x="2119" y="936"/>
                  </a:moveTo>
                  <a:lnTo>
                    <a:pt x="2216" y="936"/>
                  </a:lnTo>
                  <a:moveTo>
                    <a:pt x="2333" y="989"/>
                  </a:moveTo>
                  <a:lnTo>
                    <a:pt x="2430" y="989"/>
                  </a:lnTo>
                  <a:moveTo>
                    <a:pt x="2749" y="1000"/>
                  </a:moveTo>
                  <a:lnTo>
                    <a:pt x="2845" y="1000"/>
                  </a:lnTo>
                </a:path>
              </a:pathLst>
            </a:custGeom>
            <a:noFill/>
            <a:ln w="15163" cap="rnd">
              <a:solidFill>
                <a:srgbClr val="000000">
                  <a:alpha val="100000"/>
                </a:srgbClr>
              </a:solidFill>
              <a:prstDash val="solid"/>
              <a:round/>
            </a:ln>
          </p:spPr>
          <p:txBody>
            <a:bodyPr rtlCol="0"/>
            <a:lstStyle/>
            <a:p>
              <a:pPr algn="ctr"/>
              <a:endParaRPr lang="zh-CN" altLang="en-US"/>
            </a:p>
          </p:txBody>
        </p:sp>
      </p:grpSp>
      <p:pic>
        <p:nvPicPr>
          <p:cNvPr id="887" name="picture 887"/>
          <p:cNvPicPr>
            <a:picLocks noChangeAspect="1"/>
          </p:cNvPicPr>
          <p:nvPr/>
        </p:nvPicPr>
        <p:blipFill>
          <a:blip r:embed="rId1"/>
          <a:stretch>
            <a:fillRect/>
          </a:stretch>
        </p:blipFill>
        <p:spPr>
          <a:xfrm rot="21600000">
            <a:off x="341375" y="3589020"/>
            <a:ext cx="4020311" cy="2420111"/>
          </a:xfrm>
          <a:prstGeom prst="rect">
            <a:avLst/>
          </a:prstGeom>
        </p:spPr>
      </p:pic>
      <p:sp>
        <p:nvSpPr>
          <p:cNvPr id="888" name="rect"/>
          <p:cNvSpPr/>
          <p:nvPr/>
        </p:nvSpPr>
        <p:spPr>
          <a:xfrm>
            <a:off x="350520" y="3598164"/>
            <a:ext cx="4000500" cy="391667"/>
          </a:xfrm>
          <a:prstGeom prst="rect">
            <a:avLst/>
          </a:prstGeom>
          <a:solidFill>
            <a:srgbClr val="BFE1FF">
              <a:alpha val="100000"/>
            </a:srgbClr>
          </a:solidFill>
          <a:ln cap="flat">
            <a:noFill/>
            <a:prstDash val="solid"/>
            <a:miter lim="0"/>
          </a:ln>
        </p:spPr>
        <p:txBody>
          <a:bodyPr rtlCol="0"/>
          <a:lstStyle/>
          <a:p>
            <a:pPr algn="ctr"/>
            <a:endParaRPr lang="zh-CN" altLang="en-US"/>
          </a:p>
        </p:txBody>
      </p:sp>
      <p:sp>
        <p:nvSpPr>
          <p:cNvPr id="889" name="textbox 889"/>
          <p:cNvSpPr/>
          <p:nvPr/>
        </p:nvSpPr>
        <p:spPr>
          <a:xfrm>
            <a:off x="328675" y="3576320"/>
            <a:ext cx="4046220" cy="2470785"/>
          </a:xfrm>
          <a:prstGeom prst="rect">
            <a:avLst/>
          </a:prstGeom>
        </p:spPr>
        <p:txBody>
          <a:bodyPr vert="horz" wrap="square" lIns="0" tIns="0" rIns="0" bIns="0"/>
          <a:lstStyle/>
          <a:p>
            <a:pPr algn="l" rtl="0" eaLnBrk="0">
              <a:lnSpc>
                <a:spcPct val="100000"/>
              </a:lnSpc>
            </a:pPr>
            <a:endParaRPr lang="en-US" altLang="en-US" sz="800" dirty="0">
              <a:latin typeface="微软雅黑" panose="020B0503020204020204" charset="-122"/>
              <a:ea typeface="微软雅黑" panose="020B0503020204020204" charset="-122"/>
            </a:endParaRPr>
          </a:p>
          <a:p>
            <a:pPr marL="118745" algn="l" rtl="0" eaLnBrk="0">
              <a:lnSpc>
                <a:spcPct val="100000"/>
              </a:lnSpc>
            </a:pPr>
            <a:r>
              <a:rPr sz="1500" spc="6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落袋利</a:t>
            </a:r>
            <a:r>
              <a:rPr sz="1500" spc="5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润</a:t>
            </a:r>
            <a:endParaRPr lang="en-US" altLang="en-US" sz="1500" dirty="0">
              <a:latin typeface="微软雅黑" panose="020B0503020204020204" charset="-122"/>
              <a:ea typeface="微软雅黑" panose="020B0503020204020204" charset="-122"/>
            </a:endParaRPr>
          </a:p>
        </p:txBody>
      </p:sp>
      <p:graphicFrame>
        <p:nvGraphicFramePr>
          <p:cNvPr id="890" name="table 890"/>
          <p:cNvGraphicFramePr>
            <a:graphicFrameLocks noGrp="1"/>
          </p:cNvGraphicFramePr>
          <p:nvPr/>
        </p:nvGraphicFramePr>
        <p:xfrm>
          <a:off x="4474464" y="1013460"/>
          <a:ext cx="4020184" cy="2419984"/>
        </p:xfrm>
        <a:graphic>
          <a:graphicData uri="http://schemas.openxmlformats.org/drawingml/2006/table">
            <a:tbl>
              <a:tblPr/>
              <a:tblGrid>
                <a:gridCol w="4020184"/>
              </a:tblGrid>
              <a:tr h="2400934">
                <a:tc>
                  <a:txBody>
                    <a:bodyPr/>
                    <a:lstStyle/>
                    <a:p>
                      <a:pPr algn="l" rtl="0" eaLnBrk="0">
                        <a:lnSpc>
                          <a:spcPct val="100000"/>
                        </a:lnSpc>
                      </a:pPr>
                      <a:endParaRPr lang="en-US" altLang="en-US" sz="1000" dirty="0">
                        <a:latin typeface="微软雅黑" panose="020B0503020204020204" charset="-122"/>
                        <a:ea typeface="微软雅黑" panose="020B0503020204020204" charset="-122"/>
                      </a:endParaRPr>
                    </a:p>
                  </a:txBody>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w="19050" cap="flat" cmpd="sng" algn="ctr">
                      <a:solidFill>
                        <a:srgbClr val="BFE1FF"/>
                      </a:solidFill>
                      <a:prstDash val="solid"/>
                      <a:round/>
                      <a:headEnd type="none" w="med" len="med"/>
                      <a:tailEnd type="none" w="med" len="med"/>
                    </a:lnT>
                    <a:lnB w="19050" cap="flat" cmpd="sng" algn="ctr">
                      <a:solidFill>
                        <a:srgbClr val="BFE1FF"/>
                      </a:solidFill>
                      <a:prstDash val="solid"/>
                      <a:round/>
                      <a:headEnd type="none" w="med" len="med"/>
                      <a:tailEnd type="none" w="med" len="med"/>
                    </a:lnB>
                  </a:tcPr>
                </a:tc>
              </a:tr>
            </a:tbl>
          </a:graphicData>
        </a:graphic>
      </p:graphicFrame>
      <p:graphicFrame>
        <p:nvGraphicFramePr>
          <p:cNvPr id="891" name="table 891"/>
          <p:cNvGraphicFramePr>
            <a:graphicFrameLocks noGrp="1"/>
          </p:cNvGraphicFramePr>
          <p:nvPr/>
        </p:nvGraphicFramePr>
        <p:xfrm>
          <a:off x="4474464" y="3589020"/>
          <a:ext cx="4020184" cy="2419985"/>
        </p:xfrm>
        <a:graphic>
          <a:graphicData uri="http://schemas.openxmlformats.org/drawingml/2006/table">
            <a:tbl>
              <a:tblPr/>
              <a:tblGrid>
                <a:gridCol w="4020184"/>
              </a:tblGrid>
              <a:tr h="2400935">
                <a:tc>
                  <a:txBody>
                    <a:bodyPr/>
                    <a:lstStyle/>
                    <a:p>
                      <a:pPr algn="l" rtl="0" eaLnBrk="0">
                        <a:lnSpc>
                          <a:spcPct val="128000"/>
                        </a:lnSpc>
                      </a:pPr>
                      <a:endParaRPr lang="en-US" altLang="en-US" sz="1000" dirty="0">
                        <a:latin typeface="微软雅黑" panose="020B0503020204020204" charset="-122"/>
                        <a:ea typeface="微软雅黑" panose="020B0503020204020204" charset="-122"/>
                      </a:endParaRPr>
                    </a:p>
                    <a:p>
                      <a:pPr algn="l" rtl="0" eaLnBrk="0">
                        <a:lnSpc>
                          <a:spcPct val="128000"/>
                        </a:lnSpc>
                      </a:pPr>
                      <a:endParaRPr lang="en-US" altLang="en-US" sz="1000" dirty="0">
                        <a:latin typeface="微软雅黑" panose="020B0503020204020204" charset="-122"/>
                        <a:ea typeface="微软雅黑" panose="020B0503020204020204" charset="-122"/>
                      </a:endParaRPr>
                    </a:p>
                    <a:p>
                      <a:pPr algn="l" rtl="0" eaLnBrk="0">
                        <a:lnSpc>
                          <a:spcPct val="128000"/>
                        </a:lnSpc>
                      </a:pPr>
                      <a:endParaRPr lang="en-US" altLang="en-US" sz="1000" dirty="0">
                        <a:latin typeface="微软雅黑" panose="020B0503020204020204" charset="-122"/>
                        <a:ea typeface="微软雅黑" panose="020B0503020204020204" charset="-122"/>
                      </a:endParaRPr>
                    </a:p>
                    <a:p>
                      <a:pPr marL="591820" algn="l" rtl="0" eaLnBrk="0">
                        <a:lnSpc>
                          <a:spcPts val="1125"/>
                        </a:lnSpc>
                      </a:pPr>
                      <a:r>
                        <a:rPr sz="900" spc="40" dirty="0">
                          <a:solidFill>
                            <a:srgbClr val="000000">
                              <a:alpha val="100000"/>
                            </a:srgbClr>
                          </a:solidFill>
                          <a:latin typeface="微软雅黑" panose="020B0503020204020204" charset="-122"/>
                          <a:ea typeface="微软雅黑" panose="020B0503020204020204" charset="-122"/>
                          <a:cs typeface="Arial" panose="020B0604020202020204"/>
                        </a:rPr>
                        <a:t>100% </a:t>
                      </a:r>
                      <a:r>
                        <a:rPr sz="900" spc="0" dirty="0">
                          <a:solidFill>
                            <a:srgbClr val="000000">
                              <a:alpha val="100000"/>
                            </a:srgbClr>
                          </a:solidFill>
                          <a:latin typeface="微软雅黑" panose="020B0503020204020204" charset="-122"/>
                          <a:ea typeface="微软雅黑" panose="020B0503020204020204" charset="-122"/>
                          <a:cs typeface="Arial" panose="020B0604020202020204"/>
                        </a:rPr>
                        <a:t>=</a:t>
                      </a:r>
                      <a:endParaRPr lang="en-US" altLang="en-US" sz="900" dirty="0">
                        <a:latin typeface="微软雅黑" panose="020B0503020204020204" charset="-122"/>
                        <a:ea typeface="微软雅黑" panose="020B0503020204020204" charset="-122"/>
                      </a:endParaRPr>
                    </a:p>
                    <a:p>
                      <a:pPr marL="441325" algn="l" rtl="0" eaLnBrk="0">
                        <a:lnSpc>
                          <a:spcPct val="92000"/>
                        </a:lnSpc>
                        <a:spcBef>
                          <a:spcPts val="570"/>
                        </a:spcBef>
                      </a:pPr>
                      <a:r>
                        <a:rPr sz="900" spc="110" dirty="0">
                          <a:solidFill>
                            <a:srgbClr val="000000">
                              <a:alpha val="100000"/>
                            </a:srgbClr>
                          </a:solidFill>
                          <a:latin typeface="微软雅黑" panose="020B0503020204020204" charset="-122"/>
                          <a:ea typeface="微软雅黑" panose="020B0503020204020204" charset="-122"/>
                          <a:cs typeface="楷体" panose="02010609060101010101" charset="-122"/>
                        </a:rPr>
                        <a:t>竞争</a:t>
                      </a:r>
                      <a:r>
                        <a:rPr sz="900" spc="100" dirty="0">
                          <a:solidFill>
                            <a:srgbClr val="000000">
                              <a:alpha val="100000"/>
                            </a:srgbClr>
                          </a:solidFill>
                          <a:latin typeface="微软雅黑" panose="020B0503020204020204" charset="-122"/>
                          <a:ea typeface="微软雅黑" panose="020B0503020204020204" charset="-122"/>
                          <a:cs typeface="楷体" panose="02010609060101010101" charset="-122"/>
                        </a:rPr>
                        <a:t>者</a:t>
                      </a:r>
                      <a:r>
                        <a:rPr sz="900" spc="0" dirty="0">
                          <a:solidFill>
                            <a:srgbClr val="000000">
                              <a:alpha val="100000"/>
                            </a:srgbClr>
                          </a:solidFill>
                          <a:latin typeface="微软雅黑" panose="020B0503020204020204" charset="-122"/>
                          <a:ea typeface="微软雅黑" panose="020B0503020204020204" charset="-122"/>
                          <a:cs typeface="Arial" panose="020B0604020202020204"/>
                        </a:rPr>
                        <a:t>A</a:t>
                      </a:r>
                      <a:endParaRPr lang="en-US" altLang="en-US" sz="900" dirty="0">
                        <a:latin typeface="微软雅黑" panose="020B0503020204020204" charset="-122"/>
                        <a:ea typeface="微软雅黑" panose="020B0503020204020204" charset="-122"/>
                      </a:endParaRPr>
                    </a:p>
                    <a:p>
                      <a:pPr marL="441325" algn="l" rtl="0" eaLnBrk="0">
                        <a:lnSpc>
                          <a:spcPts val="3125"/>
                        </a:lnSpc>
                      </a:pPr>
                      <a:r>
                        <a:rPr sz="900" spc="110" dirty="0">
                          <a:solidFill>
                            <a:srgbClr val="000000">
                              <a:alpha val="100000"/>
                            </a:srgbClr>
                          </a:solidFill>
                          <a:latin typeface="微软雅黑" panose="020B0503020204020204" charset="-122"/>
                          <a:ea typeface="微软雅黑" panose="020B0503020204020204" charset="-122"/>
                          <a:cs typeface="楷体" panose="02010609060101010101" charset="-122"/>
                        </a:rPr>
                        <a:t>竞争</a:t>
                      </a:r>
                      <a:r>
                        <a:rPr sz="900" spc="100" dirty="0">
                          <a:solidFill>
                            <a:srgbClr val="000000">
                              <a:alpha val="100000"/>
                            </a:srgbClr>
                          </a:solidFill>
                          <a:latin typeface="微软雅黑" panose="020B0503020204020204" charset="-122"/>
                          <a:ea typeface="微软雅黑" panose="020B0503020204020204" charset="-122"/>
                          <a:cs typeface="楷体" panose="02010609060101010101" charset="-122"/>
                        </a:rPr>
                        <a:t>者</a:t>
                      </a:r>
                      <a:r>
                        <a:rPr sz="900" spc="0" dirty="0">
                          <a:solidFill>
                            <a:srgbClr val="000000">
                              <a:alpha val="100000"/>
                            </a:srgbClr>
                          </a:solidFill>
                          <a:latin typeface="微软雅黑" panose="020B0503020204020204" charset="-122"/>
                          <a:ea typeface="微软雅黑" panose="020B0503020204020204" charset="-122"/>
                          <a:cs typeface="Arial" panose="020B0604020202020204"/>
                        </a:rPr>
                        <a:t>B</a:t>
                      </a:r>
                      <a:endParaRPr lang="en-US" altLang="en-US" sz="900" dirty="0">
                        <a:latin typeface="微软雅黑" panose="020B0503020204020204" charset="-122"/>
                        <a:ea typeface="微软雅黑" panose="020B0503020204020204" charset="-122"/>
                      </a:endParaRPr>
                    </a:p>
                    <a:p>
                      <a:pPr algn="l" rtl="0" eaLnBrk="0">
                        <a:lnSpc>
                          <a:spcPct val="160000"/>
                        </a:lnSpc>
                      </a:pPr>
                      <a:endParaRPr lang="en-US" altLang="en-US" sz="1000" dirty="0">
                        <a:latin typeface="微软雅黑" panose="020B0503020204020204" charset="-122"/>
                        <a:ea typeface="微软雅黑" panose="020B0503020204020204" charset="-122"/>
                      </a:endParaRPr>
                    </a:p>
                    <a:p>
                      <a:pPr marL="441325" algn="l" rtl="0" eaLnBrk="0">
                        <a:lnSpc>
                          <a:spcPct val="92000"/>
                        </a:lnSpc>
                        <a:spcBef>
                          <a:spcPts val="275"/>
                        </a:spcBef>
                      </a:pPr>
                      <a:r>
                        <a:rPr sz="900" spc="120" dirty="0">
                          <a:solidFill>
                            <a:srgbClr val="000000">
                              <a:alpha val="100000"/>
                            </a:srgbClr>
                          </a:solidFill>
                          <a:latin typeface="微软雅黑" panose="020B0503020204020204" charset="-122"/>
                          <a:ea typeface="微软雅黑" panose="020B0503020204020204" charset="-122"/>
                          <a:cs typeface="楷体" panose="02010609060101010101" charset="-122"/>
                        </a:rPr>
                        <a:t>竞争</a:t>
                      </a:r>
                      <a:r>
                        <a:rPr sz="900" spc="90" dirty="0">
                          <a:solidFill>
                            <a:srgbClr val="000000">
                              <a:alpha val="100000"/>
                            </a:srgbClr>
                          </a:solidFill>
                          <a:latin typeface="微软雅黑" panose="020B0503020204020204" charset="-122"/>
                          <a:ea typeface="微软雅黑" panose="020B0503020204020204" charset="-122"/>
                          <a:cs typeface="楷体" panose="02010609060101010101" charset="-122"/>
                        </a:rPr>
                        <a:t>者</a:t>
                      </a:r>
                      <a:r>
                        <a:rPr sz="900" spc="0" dirty="0">
                          <a:solidFill>
                            <a:srgbClr val="000000">
                              <a:alpha val="100000"/>
                            </a:srgbClr>
                          </a:solidFill>
                          <a:latin typeface="微软雅黑" panose="020B0503020204020204" charset="-122"/>
                          <a:ea typeface="微软雅黑" panose="020B0503020204020204" charset="-122"/>
                          <a:cs typeface="Arial" panose="020B0604020202020204"/>
                        </a:rPr>
                        <a:t>C</a:t>
                      </a:r>
                      <a:endParaRPr lang="en-US" altLang="en-US" sz="900" dirty="0">
                        <a:latin typeface="微软雅黑" panose="020B0503020204020204" charset="-122"/>
                        <a:ea typeface="微软雅黑" panose="020B0503020204020204" charset="-122"/>
                      </a:endParaRPr>
                    </a:p>
                    <a:p>
                      <a:pPr marL="443230" algn="l" rtl="0" eaLnBrk="0">
                        <a:lnSpc>
                          <a:spcPts val="2090"/>
                        </a:lnSpc>
                      </a:pPr>
                      <a:r>
                        <a:rPr sz="900" spc="70" dirty="0">
                          <a:solidFill>
                            <a:srgbClr val="000000">
                              <a:alpha val="100000"/>
                            </a:srgbClr>
                          </a:solidFill>
                          <a:latin typeface="微软雅黑" panose="020B0503020204020204" charset="-122"/>
                          <a:ea typeface="微软雅黑" panose="020B0503020204020204" charset="-122"/>
                          <a:cs typeface="楷体" panose="02010609060101010101" charset="-122"/>
                        </a:rPr>
                        <a:t>华</a:t>
                      </a:r>
                      <a:r>
                        <a:rPr sz="900" spc="50" dirty="0">
                          <a:solidFill>
                            <a:srgbClr val="000000">
                              <a:alpha val="100000"/>
                            </a:srgbClr>
                          </a:solidFill>
                          <a:latin typeface="微软雅黑" panose="020B0503020204020204" charset="-122"/>
                          <a:ea typeface="微软雅黑" panose="020B0503020204020204" charset="-122"/>
                          <a:cs typeface="楷体" panose="02010609060101010101" charset="-122"/>
                        </a:rPr>
                        <a:t>谊</a:t>
                      </a:r>
                      <a:endParaRPr lang="en-US" altLang="en-US" sz="900" dirty="0">
                        <a:latin typeface="微软雅黑" panose="020B0503020204020204" charset="-122"/>
                        <a:ea typeface="微软雅黑" panose="020B0503020204020204" charset="-122"/>
                      </a:endParaRPr>
                    </a:p>
                    <a:p>
                      <a:pPr algn="l" rtl="0" eaLnBrk="0">
                        <a:lnSpc>
                          <a:spcPct val="112000"/>
                        </a:lnSpc>
                      </a:pPr>
                      <a:endParaRPr lang="en-US" altLang="en-US" sz="1000" dirty="0">
                        <a:latin typeface="微软雅黑" panose="020B0503020204020204" charset="-122"/>
                        <a:ea typeface="微软雅黑" panose="020B0503020204020204" charset="-122"/>
                      </a:endParaRPr>
                    </a:p>
                    <a:p>
                      <a:pPr algn="l" rtl="0" eaLnBrk="0">
                        <a:lnSpc>
                          <a:spcPct val="114000"/>
                        </a:lnSpc>
                      </a:pPr>
                      <a:endParaRPr lang="en-US" altLang="en-US" sz="200" dirty="0">
                        <a:latin typeface="微软雅黑" panose="020B0503020204020204" charset="-122"/>
                        <a:ea typeface="微软雅黑" panose="020B0503020204020204" charset="-122"/>
                      </a:endParaRPr>
                    </a:p>
                    <a:p>
                      <a:pPr marL="1064895" algn="l" rtl="0" eaLnBrk="0">
                        <a:lnSpc>
                          <a:spcPts val="1125"/>
                        </a:lnSpc>
                      </a:pPr>
                      <a:r>
                        <a:rPr sz="900" spc="50" dirty="0">
                          <a:solidFill>
                            <a:srgbClr val="000000">
                              <a:alpha val="100000"/>
                            </a:srgbClr>
                          </a:solidFill>
                          <a:latin typeface="微软雅黑" panose="020B0503020204020204" charset="-122"/>
                          <a:ea typeface="微软雅黑" panose="020B0503020204020204" charset="-122"/>
                          <a:cs typeface="楷体" panose="02010609060101010101" charset="-122"/>
                        </a:rPr>
                        <a:t>大客户甲      大客户乙     </a:t>
                      </a:r>
                      <a:r>
                        <a:rPr sz="900" spc="3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900" spc="0" dirty="0">
                          <a:solidFill>
                            <a:srgbClr val="000000">
                              <a:alpha val="100000"/>
                            </a:srgbClr>
                          </a:solidFill>
                          <a:latin typeface="微软雅黑" panose="020B0503020204020204" charset="-122"/>
                          <a:ea typeface="微软雅黑" panose="020B0503020204020204" charset="-122"/>
                          <a:cs typeface="楷体" panose="02010609060101010101" charset="-122"/>
                        </a:rPr>
                        <a:t>大客户丙</a:t>
                      </a:r>
                      <a:endParaRPr lang="en-US" altLang="en-US" sz="900" dirty="0">
                        <a:latin typeface="微软雅黑" panose="020B0503020204020204" charset="-122"/>
                        <a:ea typeface="微软雅黑" panose="020B0503020204020204" charset="-122"/>
                      </a:endParaRPr>
                    </a:p>
                  </a:txBody>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w="19050" cap="flat" cmpd="sng" algn="ctr">
                      <a:solidFill>
                        <a:srgbClr val="BFE1FF"/>
                      </a:solidFill>
                      <a:prstDash val="solid"/>
                      <a:round/>
                      <a:headEnd type="none" w="med" len="med"/>
                      <a:tailEnd type="none" w="med" len="med"/>
                    </a:lnT>
                    <a:lnB w="19050" cap="flat" cmpd="sng" algn="ctr">
                      <a:solidFill>
                        <a:srgbClr val="BFE1FF"/>
                      </a:solidFill>
                      <a:prstDash val="solid"/>
                      <a:round/>
                      <a:headEnd type="none" w="med" len="med"/>
                      <a:tailEnd type="none" w="med" len="med"/>
                    </a:lnB>
                  </a:tcPr>
                </a:tc>
              </a:tr>
            </a:tbl>
          </a:graphicData>
        </a:graphic>
      </p:graphicFrame>
      <p:pic>
        <p:nvPicPr>
          <p:cNvPr id="892" name="picture 892"/>
          <p:cNvPicPr>
            <a:picLocks noChangeAspect="1"/>
          </p:cNvPicPr>
          <p:nvPr/>
        </p:nvPicPr>
        <p:blipFill>
          <a:blip r:embed="rId2"/>
          <a:stretch>
            <a:fillRect/>
          </a:stretch>
        </p:blipFill>
        <p:spPr>
          <a:xfrm rot="21600000">
            <a:off x="2043948" y="2855771"/>
            <a:ext cx="113236" cy="229735"/>
          </a:xfrm>
          <a:prstGeom prst="rect">
            <a:avLst/>
          </a:prstGeom>
        </p:spPr>
      </p:pic>
      <p:pic>
        <p:nvPicPr>
          <p:cNvPr id="893" name="picture 893"/>
          <p:cNvPicPr>
            <a:picLocks noChangeAspect="1"/>
          </p:cNvPicPr>
          <p:nvPr/>
        </p:nvPicPr>
        <p:blipFill>
          <a:blip r:embed="rId3"/>
          <a:stretch>
            <a:fillRect/>
          </a:stretch>
        </p:blipFill>
        <p:spPr>
          <a:xfrm rot="21600000">
            <a:off x="2425505" y="2856264"/>
            <a:ext cx="112842" cy="229242"/>
          </a:xfrm>
          <a:prstGeom prst="rect">
            <a:avLst/>
          </a:prstGeom>
        </p:spPr>
      </p:pic>
      <p:sp>
        <p:nvSpPr>
          <p:cNvPr id="894" name="rect"/>
          <p:cNvSpPr/>
          <p:nvPr/>
        </p:nvSpPr>
        <p:spPr>
          <a:xfrm>
            <a:off x="3187839" y="2924367"/>
            <a:ext cx="112743" cy="161139"/>
          </a:xfrm>
          <a:prstGeom prst="rect">
            <a:avLst/>
          </a:prstGeom>
          <a:solidFill>
            <a:srgbClr val="FF0000">
              <a:alpha val="100000"/>
            </a:srgbClr>
          </a:solidFill>
          <a:ln cap="flat">
            <a:noFill/>
            <a:prstDash val="solid"/>
            <a:miter lim="0"/>
          </a:ln>
        </p:spPr>
        <p:txBody>
          <a:bodyPr rtlCol="0"/>
          <a:lstStyle/>
          <a:p>
            <a:pPr algn="ctr"/>
            <a:endParaRPr lang="zh-CN" altLang="en-US"/>
          </a:p>
        </p:txBody>
      </p:sp>
      <p:sp>
        <p:nvSpPr>
          <p:cNvPr id="895" name="rect"/>
          <p:cNvSpPr/>
          <p:nvPr/>
        </p:nvSpPr>
        <p:spPr>
          <a:xfrm>
            <a:off x="2534392" y="1986315"/>
            <a:ext cx="112744" cy="1099191"/>
          </a:xfrm>
          <a:prstGeom prst="rect">
            <a:avLst/>
          </a:prstGeom>
          <a:solidFill>
            <a:srgbClr val="0000FF">
              <a:alpha val="100000"/>
            </a:srgbClr>
          </a:solidFill>
          <a:ln cap="flat">
            <a:noFill/>
            <a:prstDash val="solid"/>
            <a:miter lim="0"/>
          </a:ln>
        </p:spPr>
        <p:txBody>
          <a:bodyPr rtlCol="0"/>
          <a:lstStyle/>
          <a:p>
            <a:pPr algn="ctr"/>
            <a:endParaRPr lang="zh-CN" altLang="en-US"/>
          </a:p>
        </p:txBody>
      </p:sp>
      <p:sp>
        <p:nvSpPr>
          <p:cNvPr id="896" name="rect"/>
          <p:cNvSpPr/>
          <p:nvPr/>
        </p:nvSpPr>
        <p:spPr>
          <a:xfrm>
            <a:off x="3296644" y="2507391"/>
            <a:ext cx="112743" cy="578115"/>
          </a:xfrm>
          <a:prstGeom prst="rect">
            <a:avLst/>
          </a:prstGeom>
          <a:solidFill>
            <a:srgbClr val="0000FF">
              <a:alpha val="100000"/>
            </a:srgbClr>
          </a:solidFill>
          <a:ln cap="flat">
            <a:noFill/>
            <a:prstDash val="solid"/>
            <a:miter lim="0"/>
          </a:ln>
        </p:spPr>
        <p:txBody>
          <a:bodyPr rtlCol="0"/>
          <a:lstStyle/>
          <a:p>
            <a:pPr algn="ctr"/>
            <a:endParaRPr lang="zh-CN" altLang="en-US"/>
          </a:p>
        </p:txBody>
      </p:sp>
      <p:graphicFrame>
        <p:nvGraphicFramePr>
          <p:cNvPr id="897" name="table 897"/>
          <p:cNvGraphicFramePr>
            <a:graphicFrameLocks noGrp="1"/>
          </p:cNvGraphicFramePr>
          <p:nvPr/>
        </p:nvGraphicFramePr>
        <p:xfrm>
          <a:off x="350520" y="1022604"/>
          <a:ext cx="4001134" cy="2410459"/>
        </p:xfrm>
        <a:graphic>
          <a:graphicData uri="http://schemas.openxmlformats.org/drawingml/2006/table">
            <a:tbl>
              <a:tblPr/>
              <a:tblGrid>
                <a:gridCol w="845819"/>
                <a:gridCol w="300989"/>
                <a:gridCol w="163195"/>
                <a:gridCol w="106679"/>
                <a:gridCol w="114935"/>
                <a:gridCol w="163830"/>
                <a:gridCol w="107314"/>
                <a:gridCol w="110489"/>
                <a:gridCol w="154939"/>
                <a:gridCol w="116839"/>
                <a:gridCol w="107950"/>
                <a:gridCol w="161289"/>
                <a:gridCol w="111125"/>
                <a:gridCol w="109855"/>
                <a:gridCol w="163830"/>
                <a:gridCol w="107314"/>
                <a:gridCol w="151129"/>
                <a:gridCol w="903605"/>
              </a:tblGrid>
              <a:tr h="388619">
                <a:tc gridSpan="18">
                  <a:txBody>
                    <a:bodyPr/>
                    <a:lstStyle/>
                    <a:p>
                      <a:pPr algn="l" rtl="0" eaLnBrk="0">
                        <a:lnSpc>
                          <a:spcPct val="109000"/>
                        </a:lnSpc>
                      </a:pPr>
                      <a:endParaRPr lang="en-US" altLang="en-US" sz="600" dirty="0">
                        <a:latin typeface="微软雅黑" panose="020B0503020204020204" charset="-122"/>
                        <a:ea typeface="微软雅黑" panose="020B0503020204020204" charset="-122"/>
                      </a:endParaRPr>
                    </a:p>
                    <a:p>
                      <a:pPr marL="74930" algn="l" rtl="0" eaLnBrk="0">
                        <a:lnSpc>
                          <a:spcPct val="99000"/>
                        </a:lnSpc>
                        <a:spcBef>
                          <a:spcPts val="5"/>
                        </a:spcBef>
                      </a:pPr>
                      <a:r>
                        <a:rPr sz="1500" spc="11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历史及预测的销售数</a:t>
                      </a:r>
                      <a:r>
                        <a:rPr sz="1500" spc="9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据</a:t>
                      </a:r>
                      <a:endParaRPr lang="en-US" altLang="en-US" sz="1500" dirty="0">
                        <a:latin typeface="微软雅黑" panose="020B0503020204020204" charset="-122"/>
                        <a:ea typeface="微软雅黑" panose="020B0503020204020204" charset="-122"/>
                      </a:endParaRPr>
                    </a:p>
                  </a:txBody>
                  <a:tcPr marL="0" marR="0" marT="0" marB="0">
                    <a:lnL>
                      <a:noFill/>
                    </a:lnL>
                    <a:lnR>
                      <a:noFill/>
                    </a:lnR>
                    <a:lnT>
                      <a:noFill/>
                    </a:lnT>
                    <a:lnB>
                      <a:noFill/>
                    </a:lnB>
                    <a:solidFill>
                      <a:srgbClr val="BFE1FF"/>
                    </a:solidFill>
                  </a:tcPr>
                </a:tc>
                <a:tc hMerge="1">
                  <a:tcPr marL="0" marR="0" marT="0" marB="0">
                    <a:lnL>
                      <a:noFill/>
                    </a:lnL>
                    <a:lnR>
                      <a:noFill/>
                    </a:lnR>
                    <a:lnT>
                      <a:noFill/>
                    </a:lnT>
                    <a:lnB>
                      <a:noFill/>
                    </a:lnB>
                    <a:solidFill>
                      <a:srgbClr val="BFE1FF"/>
                    </a:solidFill>
                  </a:tcPr>
                </a:tc>
                <a:tc hMerge="1">
                  <a:tcPr marL="0" marR="0" marT="0" marB="0">
                    <a:lnL>
                      <a:noFill/>
                    </a:lnL>
                    <a:lnR>
                      <a:noFill/>
                    </a:lnR>
                    <a:lnT>
                      <a:noFill/>
                    </a:lnT>
                    <a:lnB>
                      <a:noFill/>
                    </a:lnB>
                    <a:solidFill>
                      <a:srgbClr val="BFE1FF"/>
                    </a:solidFill>
                  </a:tcPr>
                </a:tc>
                <a:tc hMerge="1">
                  <a:tcPr marL="0" marR="0" marT="0" marB="0">
                    <a:lnL>
                      <a:noFill/>
                    </a:lnL>
                    <a:lnR>
                      <a:noFill/>
                    </a:lnR>
                    <a:lnT>
                      <a:noFill/>
                    </a:lnT>
                    <a:lnB>
                      <a:noFill/>
                    </a:lnB>
                    <a:solidFill>
                      <a:srgbClr val="BFE1FF"/>
                    </a:solidFill>
                  </a:tcPr>
                </a:tc>
                <a:tc hMerge="1">
                  <a:tcPr marL="0" marR="0" marT="0" marB="0">
                    <a:lnL>
                      <a:noFill/>
                    </a:lnL>
                    <a:lnR>
                      <a:noFill/>
                    </a:lnR>
                    <a:lnT>
                      <a:noFill/>
                    </a:lnT>
                    <a:lnB>
                      <a:noFill/>
                    </a:lnB>
                    <a:solidFill>
                      <a:srgbClr val="BFE1FF"/>
                    </a:solidFill>
                  </a:tcPr>
                </a:tc>
                <a:tc hMerge="1">
                  <a:tcPr marL="0" marR="0" marT="0" marB="0">
                    <a:lnL>
                      <a:noFill/>
                    </a:lnL>
                    <a:lnR>
                      <a:noFill/>
                    </a:lnR>
                    <a:lnT>
                      <a:noFill/>
                    </a:lnT>
                    <a:lnB>
                      <a:noFill/>
                    </a:lnB>
                    <a:solidFill>
                      <a:srgbClr val="BFE1FF"/>
                    </a:solidFill>
                  </a:tcPr>
                </a:tc>
                <a:tc hMerge="1">
                  <a:tcPr marL="0" marR="0" marT="0" marB="0">
                    <a:lnL>
                      <a:noFill/>
                    </a:lnL>
                    <a:lnR>
                      <a:noFill/>
                    </a:lnR>
                    <a:lnT>
                      <a:noFill/>
                    </a:lnT>
                    <a:lnB>
                      <a:noFill/>
                    </a:lnB>
                    <a:solidFill>
                      <a:srgbClr val="BFE1FF"/>
                    </a:solidFill>
                  </a:tcPr>
                </a:tc>
                <a:tc hMerge="1">
                  <a:tcPr marL="0" marR="0" marT="0" marB="0">
                    <a:lnL>
                      <a:noFill/>
                    </a:lnL>
                    <a:lnR>
                      <a:noFill/>
                    </a:lnR>
                    <a:lnT>
                      <a:noFill/>
                    </a:lnT>
                    <a:lnB>
                      <a:noFill/>
                    </a:lnB>
                    <a:solidFill>
                      <a:srgbClr val="BFE1FF"/>
                    </a:solidFill>
                  </a:tcPr>
                </a:tc>
                <a:tc hMerge="1">
                  <a:tcPr marL="0" marR="0" marT="0" marB="0">
                    <a:lnL>
                      <a:noFill/>
                    </a:lnL>
                    <a:lnR>
                      <a:noFill/>
                    </a:lnR>
                    <a:lnT>
                      <a:noFill/>
                    </a:lnT>
                    <a:lnB>
                      <a:noFill/>
                    </a:lnB>
                    <a:solidFill>
                      <a:srgbClr val="BFE1FF"/>
                    </a:solidFill>
                  </a:tcPr>
                </a:tc>
                <a:tc hMerge="1">
                  <a:tcPr marL="0" marR="0" marT="0" marB="0">
                    <a:lnL>
                      <a:noFill/>
                    </a:lnL>
                    <a:lnR>
                      <a:noFill/>
                    </a:lnR>
                    <a:lnT>
                      <a:noFill/>
                    </a:lnT>
                    <a:lnB>
                      <a:noFill/>
                    </a:lnB>
                    <a:solidFill>
                      <a:srgbClr val="BFE1FF"/>
                    </a:solidFill>
                  </a:tcPr>
                </a:tc>
                <a:tc hMerge="1">
                  <a:tcPr marL="0" marR="0" marT="0" marB="0">
                    <a:lnL>
                      <a:noFill/>
                    </a:lnL>
                    <a:lnR>
                      <a:noFill/>
                    </a:lnR>
                    <a:lnT>
                      <a:noFill/>
                    </a:lnT>
                    <a:lnB>
                      <a:noFill/>
                    </a:lnB>
                    <a:solidFill>
                      <a:srgbClr val="BFE1FF"/>
                    </a:solidFill>
                  </a:tcPr>
                </a:tc>
                <a:tc hMerge="1">
                  <a:tcPr marL="0" marR="0" marT="0" marB="0">
                    <a:lnL>
                      <a:noFill/>
                    </a:lnL>
                    <a:lnR>
                      <a:noFill/>
                    </a:lnR>
                    <a:lnT>
                      <a:noFill/>
                    </a:lnT>
                    <a:lnB>
                      <a:noFill/>
                    </a:lnB>
                    <a:solidFill>
                      <a:srgbClr val="BFE1FF"/>
                    </a:solidFill>
                  </a:tcPr>
                </a:tc>
                <a:tc hMerge="1">
                  <a:tcPr marL="0" marR="0" marT="0" marB="0">
                    <a:lnL>
                      <a:noFill/>
                    </a:lnL>
                    <a:lnR>
                      <a:noFill/>
                    </a:lnR>
                    <a:lnT>
                      <a:noFill/>
                    </a:lnT>
                    <a:lnB>
                      <a:noFill/>
                    </a:lnB>
                    <a:solidFill>
                      <a:srgbClr val="BFE1FF"/>
                    </a:solidFill>
                  </a:tcPr>
                </a:tc>
                <a:tc hMerge="1">
                  <a:tcPr marL="0" marR="0" marT="0" marB="0">
                    <a:lnL>
                      <a:noFill/>
                    </a:lnL>
                    <a:lnR>
                      <a:noFill/>
                    </a:lnR>
                    <a:lnT>
                      <a:noFill/>
                    </a:lnT>
                    <a:lnB>
                      <a:noFill/>
                    </a:lnB>
                    <a:solidFill>
                      <a:srgbClr val="BFE1FF"/>
                    </a:solidFill>
                  </a:tcPr>
                </a:tc>
                <a:tc hMerge="1">
                  <a:tcPr marL="0" marR="0" marT="0" marB="0">
                    <a:lnL>
                      <a:noFill/>
                    </a:lnL>
                    <a:lnR>
                      <a:noFill/>
                    </a:lnR>
                    <a:lnT>
                      <a:noFill/>
                    </a:lnT>
                    <a:lnB>
                      <a:noFill/>
                    </a:lnB>
                    <a:solidFill>
                      <a:srgbClr val="BFE1FF"/>
                    </a:solidFill>
                  </a:tcPr>
                </a:tc>
                <a:tc hMerge="1">
                  <a:tcPr marL="0" marR="0" marT="0" marB="0">
                    <a:lnL>
                      <a:noFill/>
                    </a:lnL>
                    <a:lnR>
                      <a:noFill/>
                    </a:lnR>
                    <a:lnT>
                      <a:noFill/>
                    </a:lnT>
                    <a:lnB>
                      <a:noFill/>
                    </a:lnB>
                    <a:solidFill>
                      <a:srgbClr val="BFE1FF"/>
                    </a:solidFill>
                  </a:tcPr>
                </a:tc>
                <a:tc hMerge="1">
                  <a:tcPr marL="0" marR="0" marT="0" marB="0">
                    <a:lnL>
                      <a:noFill/>
                    </a:lnL>
                    <a:lnR>
                      <a:noFill/>
                    </a:lnR>
                    <a:lnT>
                      <a:noFill/>
                    </a:lnT>
                    <a:lnB>
                      <a:noFill/>
                    </a:lnB>
                    <a:solidFill>
                      <a:srgbClr val="BFE1FF"/>
                    </a:solidFill>
                  </a:tcPr>
                </a:tc>
                <a:tc hMerge="1">
                  <a:tcPr marL="0" marR="0" marT="0" marB="0">
                    <a:lnL>
                      <a:noFill/>
                    </a:lnL>
                    <a:lnR>
                      <a:noFill/>
                    </a:lnR>
                    <a:lnT>
                      <a:noFill/>
                    </a:lnT>
                    <a:lnB>
                      <a:noFill/>
                    </a:lnB>
                    <a:solidFill>
                      <a:srgbClr val="BFE1FF"/>
                    </a:solidFill>
                  </a:tcPr>
                </a:tc>
              </a:tr>
              <a:tr h="219709">
                <a:tc rowSpan="13">
                  <a:txBody>
                    <a:bodyPr/>
                    <a:lstStyle/>
                    <a:p>
                      <a:pPr algn="l" rtl="0" eaLnBrk="0">
                        <a:lnSpc>
                          <a:spcPct val="132000"/>
                        </a:lnSpc>
                      </a:pPr>
                      <a:endParaRPr lang="en-US" altLang="en-US" sz="1000" dirty="0">
                        <a:latin typeface="微软雅黑" panose="020B0503020204020204" charset="-122"/>
                        <a:ea typeface="微软雅黑" panose="020B0503020204020204" charset="-122"/>
                      </a:endParaRPr>
                    </a:p>
                    <a:p>
                      <a:pPr algn="l" rtl="0" eaLnBrk="0">
                        <a:lnSpc>
                          <a:spcPct val="8000"/>
                        </a:lnSpc>
                      </a:pPr>
                      <a:endParaRPr lang="en-US" altLang="en-US" sz="100" dirty="0">
                        <a:latin typeface="微软雅黑" panose="020B0503020204020204" charset="-122"/>
                        <a:ea typeface="微软雅黑" panose="020B0503020204020204" charset="-122"/>
                      </a:endParaRPr>
                    </a:p>
                    <a:p>
                      <a:pPr algn="r" rtl="0" eaLnBrk="0">
                        <a:lnSpc>
                          <a:spcPct val="92000"/>
                        </a:lnSpc>
                      </a:pPr>
                      <a:r>
                        <a:rPr sz="300" spc="10" dirty="0">
                          <a:solidFill>
                            <a:srgbClr val="000000">
                              <a:alpha val="100000"/>
                            </a:srgbClr>
                          </a:solidFill>
                          <a:latin typeface="微软雅黑" panose="020B0503020204020204" charset="-122"/>
                          <a:ea typeface="微软雅黑" panose="020B0503020204020204" charset="-122"/>
                          <a:cs typeface="Arial" panose="020B0604020202020204"/>
                        </a:rPr>
                        <a:t>10</a:t>
                      </a:r>
                      <a:r>
                        <a:rPr sz="300" spc="0" dirty="0">
                          <a:solidFill>
                            <a:srgbClr val="000000">
                              <a:alpha val="100000"/>
                            </a:srgbClr>
                          </a:solidFill>
                          <a:latin typeface="微软雅黑" panose="020B0503020204020204" charset="-122"/>
                          <a:ea typeface="微软雅黑" panose="020B0503020204020204" charset="-122"/>
                          <a:cs typeface="Arial" panose="020B0604020202020204"/>
                        </a:rPr>
                        <a:t>,000</a:t>
                      </a:r>
                      <a:endParaRPr lang="en-US" altLang="en-US" sz="300" dirty="0">
                        <a:latin typeface="微软雅黑" panose="020B0503020204020204" charset="-122"/>
                        <a:ea typeface="微软雅黑" panose="020B0503020204020204" charset="-122"/>
                      </a:endParaRPr>
                    </a:p>
                    <a:p>
                      <a:pPr algn="r" rtl="0" eaLnBrk="0">
                        <a:lnSpc>
                          <a:spcPct val="92000"/>
                        </a:lnSpc>
                        <a:spcBef>
                          <a:spcPts val="815"/>
                        </a:spcBef>
                      </a:pPr>
                      <a:r>
                        <a:rPr sz="300" spc="10" dirty="0">
                          <a:solidFill>
                            <a:srgbClr val="000000">
                              <a:alpha val="100000"/>
                            </a:srgbClr>
                          </a:solidFill>
                          <a:latin typeface="微软雅黑" panose="020B0503020204020204" charset="-122"/>
                          <a:ea typeface="微软雅黑" panose="020B0503020204020204" charset="-122"/>
                          <a:cs typeface="Arial" panose="020B0604020202020204"/>
                        </a:rPr>
                        <a:t>9,0</a:t>
                      </a:r>
                      <a:r>
                        <a:rPr sz="300" spc="0" dirty="0">
                          <a:solidFill>
                            <a:srgbClr val="000000">
                              <a:alpha val="100000"/>
                            </a:srgbClr>
                          </a:solidFill>
                          <a:latin typeface="微软雅黑" panose="020B0503020204020204" charset="-122"/>
                          <a:ea typeface="微软雅黑" panose="020B0503020204020204" charset="-122"/>
                          <a:cs typeface="Arial" panose="020B0604020202020204"/>
                        </a:rPr>
                        <a:t>00</a:t>
                      </a:r>
                      <a:endParaRPr lang="en-US" altLang="en-US" sz="300" dirty="0">
                        <a:latin typeface="微软雅黑" panose="020B0503020204020204" charset="-122"/>
                        <a:ea typeface="微软雅黑" panose="020B0503020204020204" charset="-122"/>
                      </a:endParaRPr>
                    </a:p>
                    <a:p>
                      <a:pPr algn="r" rtl="0" eaLnBrk="0">
                        <a:lnSpc>
                          <a:spcPct val="92000"/>
                        </a:lnSpc>
                        <a:spcBef>
                          <a:spcPts val="815"/>
                        </a:spcBef>
                      </a:pPr>
                      <a:r>
                        <a:rPr sz="300" spc="10" dirty="0">
                          <a:solidFill>
                            <a:srgbClr val="000000">
                              <a:alpha val="100000"/>
                            </a:srgbClr>
                          </a:solidFill>
                          <a:latin typeface="微软雅黑" panose="020B0503020204020204" charset="-122"/>
                          <a:ea typeface="微软雅黑" panose="020B0503020204020204" charset="-122"/>
                          <a:cs typeface="Arial" panose="020B0604020202020204"/>
                        </a:rPr>
                        <a:t>8,0</a:t>
                      </a:r>
                      <a:r>
                        <a:rPr sz="300" spc="0" dirty="0">
                          <a:solidFill>
                            <a:srgbClr val="000000">
                              <a:alpha val="100000"/>
                            </a:srgbClr>
                          </a:solidFill>
                          <a:latin typeface="微软雅黑" panose="020B0503020204020204" charset="-122"/>
                          <a:ea typeface="微软雅黑" panose="020B0503020204020204" charset="-122"/>
                          <a:cs typeface="Arial" panose="020B0604020202020204"/>
                        </a:rPr>
                        <a:t>00</a:t>
                      </a:r>
                      <a:endParaRPr lang="en-US" altLang="en-US" sz="300" dirty="0">
                        <a:latin typeface="微软雅黑" panose="020B0503020204020204" charset="-122"/>
                        <a:ea typeface="微软雅黑" panose="020B0503020204020204" charset="-122"/>
                      </a:endParaRPr>
                    </a:p>
                    <a:p>
                      <a:pPr algn="r" rtl="0" eaLnBrk="0">
                        <a:lnSpc>
                          <a:spcPct val="92000"/>
                        </a:lnSpc>
                        <a:spcBef>
                          <a:spcPts val="820"/>
                        </a:spcBef>
                      </a:pPr>
                      <a:r>
                        <a:rPr sz="300" spc="10" dirty="0">
                          <a:solidFill>
                            <a:srgbClr val="000000">
                              <a:alpha val="100000"/>
                            </a:srgbClr>
                          </a:solidFill>
                          <a:latin typeface="微软雅黑" panose="020B0503020204020204" charset="-122"/>
                          <a:ea typeface="微软雅黑" panose="020B0503020204020204" charset="-122"/>
                          <a:cs typeface="Arial" panose="020B0604020202020204"/>
                        </a:rPr>
                        <a:t>7,0</a:t>
                      </a:r>
                      <a:r>
                        <a:rPr sz="300" spc="0" dirty="0">
                          <a:solidFill>
                            <a:srgbClr val="000000">
                              <a:alpha val="100000"/>
                            </a:srgbClr>
                          </a:solidFill>
                          <a:latin typeface="微软雅黑" panose="020B0503020204020204" charset="-122"/>
                          <a:ea typeface="微软雅黑" panose="020B0503020204020204" charset="-122"/>
                          <a:cs typeface="Arial" panose="020B0604020202020204"/>
                        </a:rPr>
                        <a:t>00</a:t>
                      </a:r>
                      <a:endParaRPr lang="en-US" altLang="en-US" sz="300" dirty="0">
                        <a:latin typeface="微软雅黑" panose="020B0503020204020204" charset="-122"/>
                        <a:ea typeface="微软雅黑" panose="020B0503020204020204" charset="-122"/>
                      </a:endParaRPr>
                    </a:p>
                    <a:p>
                      <a:pPr algn="r" rtl="0" eaLnBrk="0">
                        <a:lnSpc>
                          <a:spcPct val="92000"/>
                        </a:lnSpc>
                        <a:spcBef>
                          <a:spcPts val="815"/>
                        </a:spcBef>
                      </a:pPr>
                      <a:r>
                        <a:rPr sz="300" spc="10" dirty="0">
                          <a:solidFill>
                            <a:srgbClr val="000000">
                              <a:alpha val="100000"/>
                            </a:srgbClr>
                          </a:solidFill>
                          <a:latin typeface="微软雅黑" panose="020B0503020204020204" charset="-122"/>
                          <a:ea typeface="微软雅黑" panose="020B0503020204020204" charset="-122"/>
                          <a:cs typeface="Arial" panose="020B0604020202020204"/>
                        </a:rPr>
                        <a:t>6,0</a:t>
                      </a:r>
                      <a:r>
                        <a:rPr sz="300" spc="0" dirty="0">
                          <a:solidFill>
                            <a:srgbClr val="000000">
                              <a:alpha val="100000"/>
                            </a:srgbClr>
                          </a:solidFill>
                          <a:latin typeface="微软雅黑" panose="020B0503020204020204" charset="-122"/>
                          <a:ea typeface="微软雅黑" panose="020B0503020204020204" charset="-122"/>
                          <a:cs typeface="Arial" panose="020B0604020202020204"/>
                        </a:rPr>
                        <a:t>00</a:t>
                      </a:r>
                      <a:endParaRPr lang="en-US" altLang="en-US" sz="300" dirty="0">
                        <a:latin typeface="微软雅黑" panose="020B0503020204020204" charset="-122"/>
                        <a:ea typeface="微软雅黑" panose="020B0503020204020204" charset="-122"/>
                      </a:endParaRPr>
                    </a:p>
                    <a:p>
                      <a:pPr algn="r" rtl="0" eaLnBrk="0">
                        <a:lnSpc>
                          <a:spcPct val="92000"/>
                        </a:lnSpc>
                        <a:spcBef>
                          <a:spcPts val="815"/>
                        </a:spcBef>
                      </a:pPr>
                      <a:r>
                        <a:rPr sz="300" spc="10" dirty="0">
                          <a:solidFill>
                            <a:srgbClr val="000000">
                              <a:alpha val="100000"/>
                            </a:srgbClr>
                          </a:solidFill>
                          <a:latin typeface="微软雅黑" panose="020B0503020204020204" charset="-122"/>
                          <a:ea typeface="微软雅黑" panose="020B0503020204020204" charset="-122"/>
                          <a:cs typeface="Arial" panose="020B0604020202020204"/>
                        </a:rPr>
                        <a:t>5,0</a:t>
                      </a:r>
                      <a:r>
                        <a:rPr sz="300" spc="0" dirty="0">
                          <a:solidFill>
                            <a:srgbClr val="000000">
                              <a:alpha val="100000"/>
                            </a:srgbClr>
                          </a:solidFill>
                          <a:latin typeface="微软雅黑" panose="020B0503020204020204" charset="-122"/>
                          <a:ea typeface="微软雅黑" panose="020B0503020204020204" charset="-122"/>
                          <a:cs typeface="Arial" panose="020B0604020202020204"/>
                        </a:rPr>
                        <a:t>00</a:t>
                      </a:r>
                      <a:endParaRPr lang="en-US" altLang="en-US" sz="300" dirty="0">
                        <a:latin typeface="微软雅黑" panose="020B0503020204020204" charset="-122"/>
                        <a:ea typeface="微软雅黑" panose="020B0503020204020204" charset="-122"/>
                      </a:endParaRPr>
                    </a:p>
                    <a:p>
                      <a:pPr algn="r" rtl="0" eaLnBrk="0">
                        <a:lnSpc>
                          <a:spcPct val="92000"/>
                        </a:lnSpc>
                        <a:spcBef>
                          <a:spcPts val="815"/>
                        </a:spcBef>
                      </a:pPr>
                      <a:r>
                        <a:rPr sz="300" spc="10" dirty="0">
                          <a:solidFill>
                            <a:srgbClr val="000000">
                              <a:alpha val="100000"/>
                            </a:srgbClr>
                          </a:solidFill>
                          <a:latin typeface="微软雅黑" panose="020B0503020204020204" charset="-122"/>
                          <a:ea typeface="微软雅黑" panose="020B0503020204020204" charset="-122"/>
                          <a:cs typeface="Arial" panose="020B0604020202020204"/>
                        </a:rPr>
                        <a:t>4,00</a:t>
                      </a:r>
                      <a:r>
                        <a:rPr sz="300" spc="0" dirty="0">
                          <a:solidFill>
                            <a:srgbClr val="000000">
                              <a:alpha val="100000"/>
                            </a:srgbClr>
                          </a:solidFill>
                          <a:latin typeface="微软雅黑" panose="020B0503020204020204" charset="-122"/>
                          <a:ea typeface="微软雅黑" panose="020B0503020204020204" charset="-122"/>
                          <a:cs typeface="Arial" panose="020B0604020202020204"/>
                        </a:rPr>
                        <a:t>0</a:t>
                      </a:r>
                      <a:endParaRPr lang="en-US" altLang="en-US" sz="300" dirty="0">
                        <a:latin typeface="微软雅黑" panose="020B0503020204020204" charset="-122"/>
                        <a:ea typeface="微软雅黑" panose="020B0503020204020204" charset="-122"/>
                      </a:endParaRPr>
                    </a:p>
                    <a:p>
                      <a:pPr algn="r" rtl="0" eaLnBrk="0">
                        <a:lnSpc>
                          <a:spcPct val="92000"/>
                        </a:lnSpc>
                        <a:spcBef>
                          <a:spcPts val="815"/>
                        </a:spcBef>
                      </a:pPr>
                      <a:r>
                        <a:rPr sz="300" spc="10" dirty="0">
                          <a:solidFill>
                            <a:srgbClr val="000000">
                              <a:alpha val="100000"/>
                            </a:srgbClr>
                          </a:solidFill>
                          <a:latin typeface="微软雅黑" panose="020B0503020204020204" charset="-122"/>
                          <a:ea typeface="微软雅黑" panose="020B0503020204020204" charset="-122"/>
                          <a:cs typeface="Arial" panose="020B0604020202020204"/>
                        </a:rPr>
                        <a:t>3,0</a:t>
                      </a:r>
                      <a:r>
                        <a:rPr sz="300" spc="0" dirty="0">
                          <a:solidFill>
                            <a:srgbClr val="000000">
                              <a:alpha val="100000"/>
                            </a:srgbClr>
                          </a:solidFill>
                          <a:latin typeface="微软雅黑" panose="020B0503020204020204" charset="-122"/>
                          <a:ea typeface="微软雅黑" panose="020B0503020204020204" charset="-122"/>
                          <a:cs typeface="Arial" panose="020B0604020202020204"/>
                        </a:rPr>
                        <a:t>00</a:t>
                      </a:r>
                      <a:endParaRPr lang="en-US" altLang="en-US" sz="300" dirty="0">
                        <a:latin typeface="微软雅黑" panose="020B0503020204020204" charset="-122"/>
                        <a:ea typeface="微软雅黑" panose="020B0503020204020204" charset="-122"/>
                      </a:endParaRPr>
                    </a:p>
                    <a:p>
                      <a:pPr algn="r" rtl="0" eaLnBrk="0">
                        <a:lnSpc>
                          <a:spcPct val="92000"/>
                        </a:lnSpc>
                        <a:spcBef>
                          <a:spcPts val="815"/>
                        </a:spcBef>
                      </a:pPr>
                      <a:r>
                        <a:rPr sz="300" spc="10" dirty="0">
                          <a:solidFill>
                            <a:srgbClr val="000000">
                              <a:alpha val="100000"/>
                            </a:srgbClr>
                          </a:solidFill>
                          <a:latin typeface="微软雅黑" panose="020B0503020204020204" charset="-122"/>
                          <a:ea typeface="微软雅黑" panose="020B0503020204020204" charset="-122"/>
                          <a:cs typeface="Arial" panose="020B0604020202020204"/>
                        </a:rPr>
                        <a:t>2,00</a:t>
                      </a:r>
                      <a:r>
                        <a:rPr sz="300" spc="0" dirty="0">
                          <a:solidFill>
                            <a:srgbClr val="000000">
                              <a:alpha val="100000"/>
                            </a:srgbClr>
                          </a:solidFill>
                          <a:latin typeface="微软雅黑" panose="020B0503020204020204" charset="-122"/>
                          <a:ea typeface="微软雅黑" panose="020B0503020204020204" charset="-122"/>
                          <a:cs typeface="Arial" panose="020B0604020202020204"/>
                        </a:rPr>
                        <a:t>0</a:t>
                      </a:r>
                      <a:endParaRPr lang="en-US" altLang="en-US" sz="300" dirty="0">
                        <a:latin typeface="微软雅黑" panose="020B0503020204020204" charset="-122"/>
                        <a:ea typeface="微软雅黑" panose="020B0503020204020204" charset="-122"/>
                      </a:endParaRPr>
                    </a:p>
                    <a:p>
                      <a:pPr algn="r" rtl="0" eaLnBrk="0">
                        <a:lnSpc>
                          <a:spcPct val="92000"/>
                        </a:lnSpc>
                        <a:spcBef>
                          <a:spcPts val="815"/>
                        </a:spcBef>
                      </a:pPr>
                      <a:r>
                        <a:rPr sz="300" spc="10" dirty="0">
                          <a:solidFill>
                            <a:srgbClr val="000000">
                              <a:alpha val="100000"/>
                            </a:srgbClr>
                          </a:solidFill>
                          <a:latin typeface="微软雅黑" panose="020B0503020204020204" charset="-122"/>
                          <a:ea typeface="微软雅黑" panose="020B0503020204020204" charset="-122"/>
                          <a:cs typeface="Arial" panose="020B0604020202020204"/>
                        </a:rPr>
                        <a:t>1</a:t>
                      </a:r>
                      <a:r>
                        <a:rPr sz="300" spc="0" dirty="0">
                          <a:solidFill>
                            <a:srgbClr val="000000">
                              <a:alpha val="100000"/>
                            </a:srgbClr>
                          </a:solidFill>
                          <a:latin typeface="微软雅黑" panose="020B0503020204020204" charset="-122"/>
                          <a:ea typeface="微软雅黑" panose="020B0503020204020204" charset="-122"/>
                          <a:cs typeface="Arial" panose="020B0604020202020204"/>
                        </a:rPr>
                        <a:t>,000</a:t>
                      </a:r>
                      <a:endParaRPr lang="en-US" altLang="en-US" sz="300" dirty="0">
                        <a:latin typeface="微软雅黑" panose="020B0503020204020204" charset="-122"/>
                        <a:ea typeface="微软雅黑" panose="020B0503020204020204" charset="-122"/>
                      </a:endParaRPr>
                    </a:p>
                    <a:p>
                      <a:pPr algn="l" rtl="0" eaLnBrk="0">
                        <a:lnSpc>
                          <a:spcPct val="113000"/>
                        </a:lnSpc>
                      </a:pPr>
                      <a:endParaRPr lang="en-US" altLang="en-US" sz="600" dirty="0">
                        <a:latin typeface="微软雅黑" panose="020B0503020204020204" charset="-122"/>
                        <a:ea typeface="微软雅黑" panose="020B0503020204020204" charset="-122"/>
                      </a:endParaRPr>
                    </a:p>
                    <a:p>
                      <a:pPr algn="r" rtl="0" eaLnBrk="0">
                        <a:lnSpc>
                          <a:spcPct val="84000"/>
                        </a:lnSpc>
                        <a:spcBef>
                          <a:spcPts val="5"/>
                        </a:spcBef>
                      </a:pPr>
                      <a:r>
                        <a:rPr sz="300" spc="0" dirty="0">
                          <a:solidFill>
                            <a:srgbClr val="000000">
                              <a:alpha val="100000"/>
                            </a:srgbClr>
                          </a:solidFill>
                          <a:latin typeface="微软雅黑" panose="020B0503020204020204" charset="-122"/>
                          <a:ea typeface="微软雅黑" panose="020B0503020204020204" charset="-122"/>
                          <a:cs typeface="Arial" panose="020B0604020202020204"/>
                        </a:rPr>
                        <a:t>0</a:t>
                      </a:r>
                      <a:endParaRPr lang="en-US" altLang="en-US" sz="300" dirty="0">
                        <a:latin typeface="微软雅黑" panose="020B0503020204020204" charset="-122"/>
                        <a:ea typeface="微软雅黑" panose="020B0503020204020204" charset="-122"/>
                      </a:endParaRPr>
                    </a:p>
                  </a:txBody>
                  <a:tcPr marL="0" marR="0" marT="0" marB="0">
                    <a:lnL>
                      <a:noFill/>
                    </a:lnL>
                    <a:lnR>
                      <a:noFill/>
                    </a:lnR>
                    <a:lnT>
                      <a:noFill/>
                    </a:lnT>
                    <a:lnB w="3175" cap="flat" cmpd="sng" algn="ctr">
                      <a:solidFill>
                        <a:srgbClr val="BFE1FF"/>
                      </a:solidFill>
                      <a:prstDash val="solid"/>
                      <a:round/>
                      <a:headEnd type="none" w="med" len="med"/>
                      <a:tailEnd type="none" w="med" len="med"/>
                    </a:lnB>
                  </a:tcPr>
                </a:tc>
                <a:tc rowSpan="13">
                  <a:txBody>
                    <a:bodyPr/>
                    <a:lstStyle/>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marL="140970" algn="l" rtl="0" eaLnBrk="0">
                        <a:lnSpc>
                          <a:spcPct val="86000"/>
                        </a:lnSpc>
                        <a:spcBef>
                          <a:spcPts val="0"/>
                        </a:spcBef>
                      </a:pPr>
                      <a:r>
                        <a:rPr sz="300" spc="0" dirty="0">
                          <a:solidFill>
                            <a:srgbClr val="000000">
                              <a:alpha val="100000"/>
                            </a:srgbClr>
                          </a:solidFill>
                          <a:latin typeface="微软雅黑" panose="020B0503020204020204" charset="-122"/>
                          <a:ea typeface="微软雅黑" panose="020B0503020204020204" charset="-122"/>
                          <a:cs typeface="Arial" panose="020B0604020202020204"/>
                        </a:rPr>
                        <a:t>year</a:t>
                      </a:r>
                      <a:r>
                        <a:rPr sz="300" spc="40" dirty="0">
                          <a:solidFill>
                            <a:srgbClr val="000000">
                              <a:alpha val="100000"/>
                            </a:srgbClr>
                          </a:solidFill>
                          <a:latin typeface="微软雅黑" panose="020B0503020204020204" charset="-122"/>
                          <a:ea typeface="微软雅黑" panose="020B0503020204020204" charset="-122"/>
                          <a:cs typeface="Arial" panose="020B0604020202020204"/>
                        </a:rPr>
                        <a:t> </a:t>
                      </a:r>
                      <a:r>
                        <a:rPr sz="300" spc="20" dirty="0">
                          <a:solidFill>
                            <a:srgbClr val="000000">
                              <a:alpha val="100000"/>
                            </a:srgbClr>
                          </a:solidFill>
                          <a:latin typeface="微软雅黑" panose="020B0503020204020204" charset="-122"/>
                          <a:ea typeface="微软雅黑" panose="020B0503020204020204" charset="-122"/>
                          <a:cs typeface="Arial" panose="020B0604020202020204"/>
                        </a:rPr>
                        <a:t>1</a:t>
                      </a:r>
                      <a:endParaRPr lang="en-US" altLang="en-US" sz="300" dirty="0">
                        <a:latin typeface="微软雅黑" panose="020B0503020204020204" charset="-122"/>
                        <a:ea typeface="微软雅黑" panose="020B0503020204020204" charset="-122"/>
                      </a:endParaRPr>
                    </a:p>
                  </a:txBody>
                  <a:tcPr marL="0" marR="0" marT="0" marB="0">
                    <a:lnL>
                      <a:noFill/>
                    </a:lnL>
                    <a:lnR>
                      <a:noFill/>
                    </a:lnR>
                    <a:lnT>
                      <a:noFill/>
                    </a:lnT>
                    <a:lnB w="3175" cap="flat" cmpd="sng" algn="ctr">
                      <a:solidFill>
                        <a:srgbClr val="BFE1FF"/>
                      </a:solidFill>
                      <a:prstDash val="solid"/>
                      <a:round/>
                      <a:headEnd type="none" w="med" len="med"/>
                      <a:tailEnd type="none" w="med" len="med"/>
                    </a:lnB>
                  </a:tcPr>
                </a:tc>
                <a:tc>
                  <a:txBody>
                    <a:bodyPr/>
                    <a:lstStyle/>
                    <a:p>
                      <a:pPr algn="l" rtl="0" eaLnBrk="0">
                        <a:lnSpc>
                          <a:spcPct val="100000"/>
                        </a:lnSpc>
                      </a:pPr>
                      <a:endParaRPr lang="en-US" altLang="en-US" sz="1000" dirty="0">
                        <a:ea typeface="微软雅黑" panose="020B0503020204020204" charset="-122"/>
                      </a:endParaRPr>
                    </a:p>
                  </a:txBody>
                  <a:tcPr marL="0" marR="0" marT="0" marB="0">
                    <a:lnL>
                      <a:noFill/>
                    </a:lnL>
                    <a:lnR>
                      <a:noFill/>
                    </a:lnR>
                    <a:lnT>
                      <a:noFill/>
                    </a:lnT>
                    <a:lnB w="3175" cap="flat" cmpd="sng" algn="ctr">
                      <a:solidFill>
                        <a:srgbClr val="808080"/>
                      </a:solidFill>
                      <a:prstDash val="solid"/>
                      <a:round/>
                      <a:headEnd type="none" w="med" len="med"/>
                      <a:tailEnd type="none" w="med" len="med"/>
                    </a:lnB>
                  </a:tcPr>
                </a:tc>
                <a:tc>
                  <a:txBody>
                    <a:bodyPr/>
                    <a:lstStyle/>
                    <a:p>
                      <a:pPr algn="l" rtl="0" eaLnBrk="0">
                        <a:lnSpc>
                          <a:spcPct val="100000"/>
                        </a:lnSpc>
                      </a:pPr>
                      <a:endParaRPr lang="en-US" altLang="en-US" sz="1000" dirty="0">
                        <a:ea typeface="微软雅黑" panose="020B0503020204020204" charset="-122"/>
                      </a:endParaRPr>
                    </a:p>
                  </a:txBody>
                  <a:tcPr marL="0" marR="0" marT="0" marB="0">
                    <a:lnL>
                      <a:noFill/>
                    </a:lnL>
                    <a:lnR>
                      <a:noFill/>
                    </a:lnR>
                    <a:lnT>
                      <a:noFill/>
                    </a:lnT>
                    <a:lnB w="3175" cap="flat" cmpd="sng" algn="ctr">
                      <a:solidFill>
                        <a:srgbClr val="808080"/>
                      </a:solidFill>
                      <a:prstDash val="solid"/>
                      <a:round/>
                      <a:headEnd type="none" w="med" len="med"/>
                      <a:tailEnd type="none" w="med" len="med"/>
                    </a:lnB>
                  </a:tcPr>
                </a:tc>
                <a:tc gridSpan="3">
                  <a:txBody>
                    <a:bodyPr/>
                    <a:lstStyle/>
                    <a:p>
                      <a:pPr algn="l" rtl="0" eaLnBrk="0">
                        <a:lnSpc>
                          <a:spcPct val="100000"/>
                        </a:lnSpc>
                      </a:pPr>
                      <a:endParaRPr lang="en-US" altLang="en-US" sz="1000" dirty="0">
                        <a:ea typeface="微软雅黑" panose="020B0503020204020204" charset="-122"/>
                      </a:endParaRPr>
                    </a:p>
                  </a:txBody>
                  <a:tcPr marL="0" marR="0" marT="0" marB="0">
                    <a:lnL>
                      <a:noFill/>
                    </a:lnL>
                    <a:lnR>
                      <a:noFill/>
                    </a:lnR>
                    <a:lnT>
                      <a:noFill/>
                    </a:lnT>
                    <a:lnB w="3175" cap="flat" cmpd="sng" algn="ctr">
                      <a:solidFill>
                        <a:srgbClr val="808080"/>
                      </a:solidFill>
                      <a:prstDash val="solid"/>
                      <a:round/>
                      <a:headEnd type="none" w="med" len="med"/>
                      <a:tailEnd type="none" w="med" len="med"/>
                    </a:lnB>
                  </a:tcPr>
                </a:tc>
                <a:tc hMerge="1">
                  <a:tcPr marL="0" marR="0" marT="0" marB="0">
                    <a:lnL>
                      <a:noFill/>
                    </a:lnL>
                    <a:lnR>
                      <a:noFill/>
                    </a:lnR>
                    <a:lnT>
                      <a:noFill/>
                    </a:lnT>
                    <a:lnB w="3175" cap="flat" cmpd="sng" algn="ctr">
                      <a:solidFill>
                        <a:srgbClr val="808080"/>
                      </a:solidFill>
                      <a:prstDash val="solid"/>
                      <a:round/>
                      <a:headEnd type="none" w="med" len="med"/>
                      <a:tailEnd type="none" w="med" len="med"/>
                    </a:lnB>
                  </a:tcPr>
                </a:tc>
                <a:tc hMerge="1">
                  <a:tcPr marL="0" marR="0" marT="0" marB="0">
                    <a:lnL>
                      <a:noFill/>
                    </a:lnL>
                    <a:lnR>
                      <a:noFill/>
                    </a:lnR>
                    <a:lnT>
                      <a:noFill/>
                    </a:lnT>
                    <a:lnB w="3175" cap="flat" cmpd="sng" algn="ctr">
                      <a:solidFill>
                        <a:srgbClr val="808080"/>
                      </a:solidFill>
                      <a:prstDash val="solid"/>
                      <a:round/>
                      <a:headEnd type="none" w="med" len="med"/>
                      <a:tailEnd type="none" w="med" len="med"/>
                    </a:lnB>
                  </a:tcPr>
                </a:tc>
                <a:tc gridSpan="2">
                  <a:txBody>
                    <a:bodyPr/>
                    <a:lstStyle/>
                    <a:p>
                      <a:pPr algn="l" rtl="0" eaLnBrk="0">
                        <a:lnSpc>
                          <a:spcPct val="100000"/>
                        </a:lnSpc>
                      </a:pPr>
                      <a:endParaRPr lang="en-US" altLang="en-US" sz="1000" dirty="0">
                        <a:ea typeface="微软雅黑" panose="020B0503020204020204" charset="-122"/>
                      </a:endParaRPr>
                    </a:p>
                  </a:txBody>
                  <a:tcPr marL="0" marR="0" marT="0" marB="0">
                    <a:lnL>
                      <a:noFill/>
                    </a:lnL>
                    <a:lnR>
                      <a:noFill/>
                    </a:lnR>
                    <a:lnT>
                      <a:noFill/>
                    </a:lnT>
                    <a:lnB w="3175" cap="flat" cmpd="sng" algn="ctr">
                      <a:solidFill>
                        <a:srgbClr val="808080"/>
                      </a:solidFill>
                      <a:prstDash val="solid"/>
                      <a:round/>
                      <a:headEnd type="none" w="med" len="med"/>
                      <a:tailEnd type="none" w="med" len="med"/>
                    </a:lnB>
                  </a:tcPr>
                </a:tc>
                <a:tc hMerge="1">
                  <a:tcPr marL="0" marR="0" marT="0" marB="0">
                    <a:lnL>
                      <a:noFill/>
                    </a:lnL>
                    <a:lnR>
                      <a:noFill/>
                    </a:lnR>
                    <a:lnT>
                      <a:noFill/>
                    </a:lnT>
                    <a:lnB w="3175" cap="flat" cmpd="sng" algn="ctr">
                      <a:solidFill>
                        <a:srgbClr val="808080"/>
                      </a:solidFill>
                      <a:prstDash val="solid"/>
                      <a:round/>
                      <a:headEnd type="none" w="med" len="med"/>
                      <a:tailEnd type="none" w="med" len="med"/>
                    </a:lnB>
                  </a:tcPr>
                </a:tc>
                <a:tc gridSpan="2">
                  <a:txBody>
                    <a:bodyPr/>
                    <a:lstStyle/>
                    <a:p>
                      <a:pPr algn="l" rtl="0" eaLnBrk="0">
                        <a:lnSpc>
                          <a:spcPct val="100000"/>
                        </a:lnSpc>
                      </a:pPr>
                      <a:endParaRPr lang="en-US" altLang="en-US" sz="1000" dirty="0">
                        <a:ea typeface="微软雅黑" panose="020B0503020204020204" charset="-122"/>
                      </a:endParaRPr>
                    </a:p>
                  </a:txBody>
                  <a:tcPr marL="0" marR="0" marT="0" marB="0">
                    <a:lnL>
                      <a:noFill/>
                    </a:lnL>
                    <a:lnR>
                      <a:noFill/>
                    </a:lnR>
                    <a:lnT>
                      <a:noFill/>
                    </a:lnT>
                    <a:lnB w="3175" cap="flat" cmpd="sng" algn="ctr">
                      <a:solidFill>
                        <a:srgbClr val="808080"/>
                      </a:solidFill>
                      <a:prstDash val="solid"/>
                      <a:round/>
                      <a:headEnd type="none" w="med" len="med"/>
                      <a:tailEnd type="none" w="med" len="med"/>
                    </a:lnB>
                  </a:tcPr>
                </a:tc>
                <a:tc hMerge="1">
                  <a:tcPr marL="0" marR="0" marT="0" marB="0">
                    <a:lnL>
                      <a:noFill/>
                    </a:lnL>
                    <a:lnR>
                      <a:noFill/>
                    </a:lnR>
                    <a:lnT>
                      <a:noFill/>
                    </a:lnT>
                    <a:lnB w="3175" cap="flat" cmpd="sng" algn="ctr">
                      <a:solidFill>
                        <a:srgbClr val="808080"/>
                      </a:solidFill>
                      <a:prstDash val="solid"/>
                      <a:round/>
                      <a:headEnd type="none" w="med" len="med"/>
                      <a:tailEnd type="none" w="med" len="med"/>
                    </a:lnB>
                  </a:tcPr>
                </a:tc>
                <a:tc>
                  <a:txBody>
                    <a:bodyPr/>
                    <a:lstStyle/>
                    <a:p>
                      <a:pPr algn="l" rtl="0" eaLnBrk="0">
                        <a:lnSpc>
                          <a:spcPct val="100000"/>
                        </a:lnSpc>
                      </a:pPr>
                      <a:endParaRPr lang="en-US" altLang="en-US" sz="1000" dirty="0">
                        <a:ea typeface="微软雅黑" panose="020B0503020204020204" charset="-122"/>
                      </a:endParaRPr>
                    </a:p>
                  </a:txBody>
                  <a:tcPr marL="0" marR="0" marT="0" marB="0">
                    <a:lnL>
                      <a:noFill/>
                    </a:lnL>
                    <a:lnR>
                      <a:noFill/>
                    </a:lnR>
                    <a:lnT>
                      <a:noFill/>
                    </a:lnT>
                    <a:lnB w="3175" cap="flat" cmpd="sng" algn="ctr">
                      <a:solidFill>
                        <a:srgbClr val="808080"/>
                      </a:solidFill>
                      <a:prstDash val="solid"/>
                      <a:round/>
                      <a:headEnd type="none" w="med" len="med"/>
                      <a:tailEnd type="none" w="med" len="med"/>
                    </a:lnB>
                  </a:tcPr>
                </a:tc>
                <a:tc>
                  <a:txBody>
                    <a:bodyPr/>
                    <a:lstStyle/>
                    <a:p>
                      <a:pPr algn="l" rtl="0" eaLnBrk="0">
                        <a:lnSpc>
                          <a:spcPct val="100000"/>
                        </a:lnSpc>
                      </a:pPr>
                      <a:endParaRPr lang="en-US" altLang="en-US" sz="1000" dirty="0">
                        <a:ea typeface="微软雅黑" panose="020B0503020204020204" charset="-122"/>
                      </a:endParaRPr>
                    </a:p>
                  </a:txBody>
                  <a:tcPr marL="0" marR="0" marT="0" marB="0">
                    <a:lnL>
                      <a:noFill/>
                    </a:lnL>
                    <a:lnR>
                      <a:noFill/>
                    </a:lnR>
                    <a:lnT>
                      <a:noFill/>
                    </a:lnT>
                    <a:lnB w="3175" cap="flat" cmpd="sng" algn="ctr">
                      <a:solidFill>
                        <a:srgbClr val="808080"/>
                      </a:solidFill>
                      <a:prstDash val="solid"/>
                      <a:round/>
                      <a:headEnd type="none" w="med" len="med"/>
                      <a:tailEnd type="none" w="med" len="med"/>
                    </a:lnB>
                  </a:tcPr>
                </a:tc>
                <a:tc gridSpan="3">
                  <a:txBody>
                    <a:bodyPr/>
                    <a:lstStyle/>
                    <a:p>
                      <a:pPr algn="l" rtl="0" eaLnBrk="0">
                        <a:lnSpc>
                          <a:spcPct val="100000"/>
                        </a:lnSpc>
                      </a:pPr>
                      <a:endParaRPr lang="en-US" altLang="en-US" sz="1000" dirty="0">
                        <a:ea typeface="微软雅黑" panose="020B0503020204020204" charset="-122"/>
                      </a:endParaRPr>
                    </a:p>
                  </a:txBody>
                  <a:tcPr marL="0" marR="0" marT="0" marB="0">
                    <a:lnL>
                      <a:noFill/>
                    </a:lnL>
                    <a:lnR>
                      <a:noFill/>
                    </a:lnR>
                    <a:lnT>
                      <a:noFill/>
                    </a:lnT>
                    <a:lnB w="3175" cap="flat" cmpd="sng" algn="ctr">
                      <a:solidFill>
                        <a:srgbClr val="808080"/>
                      </a:solidFill>
                      <a:prstDash val="solid"/>
                      <a:round/>
                      <a:headEnd type="none" w="med" len="med"/>
                      <a:tailEnd type="none" w="med" len="med"/>
                    </a:lnB>
                  </a:tcPr>
                </a:tc>
                <a:tc hMerge="1">
                  <a:tcPr marL="0" marR="0" marT="0" marB="0">
                    <a:lnL>
                      <a:noFill/>
                    </a:lnL>
                    <a:lnR>
                      <a:noFill/>
                    </a:lnR>
                    <a:lnT>
                      <a:noFill/>
                    </a:lnT>
                    <a:lnB w="3175" cap="flat" cmpd="sng" algn="ctr">
                      <a:solidFill>
                        <a:srgbClr val="808080"/>
                      </a:solidFill>
                      <a:prstDash val="solid"/>
                      <a:round/>
                      <a:headEnd type="none" w="med" len="med"/>
                      <a:tailEnd type="none" w="med" len="med"/>
                    </a:lnB>
                  </a:tcPr>
                </a:tc>
                <a:tc hMerge="1">
                  <a:tcPr marL="0" marR="0" marT="0" marB="0">
                    <a:lnL>
                      <a:noFill/>
                    </a:lnL>
                    <a:lnR>
                      <a:noFill/>
                    </a:lnR>
                    <a:lnT>
                      <a:noFill/>
                    </a:lnT>
                    <a:lnB w="3175" cap="flat" cmpd="sng" algn="ctr">
                      <a:solidFill>
                        <a:srgbClr val="808080"/>
                      </a:solidFill>
                      <a:prstDash val="solid"/>
                      <a:round/>
                      <a:headEnd type="none" w="med" len="med"/>
                      <a:tailEnd type="none" w="med" len="med"/>
                    </a:lnB>
                  </a:tcPr>
                </a:tc>
                <a:tc rowSpan="13">
                  <a:txBody>
                    <a:bodyPr/>
                    <a:lstStyle/>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marL="12700" algn="l" rtl="0" eaLnBrk="0">
                        <a:lnSpc>
                          <a:spcPts val="370"/>
                        </a:lnSpc>
                        <a:spcBef>
                          <a:spcPts val="0"/>
                        </a:spcBef>
                      </a:pPr>
                      <a:r>
                        <a:rPr sz="300" spc="0" dirty="0">
                          <a:solidFill>
                            <a:srgbClr val="000000">
                              <a:alpha val="100000"/>
                            </a:srgbClr>
                          </a:solidFill>
                          <a:latin typeface="微软雅黑" panose="020B0503020204020204" charset="-122"/>
                          <a:ea typeface="微软雅黑" panose="020B0503020204020204" charset="-122"/>
                          <a:cs typeface="Arial" panose="020B0604020202020204"/>
                        </a:rPr>
                        <a:t>r 6</a:t>
                      </a:r>
                      <a:endParaRPr lang="en-US" altLang="en-US" sz="300" dirty="0">
                        <a:latin typeface="微软雅黑" panose="020B0503020204020204" charset="-122"/>
                        <a:ea typeface="微软雅黑" panose="020B0503020204020204" charset="-122"/>
                      </a:endParaRPr>
                    </a:p>
                  </a:txBody>
                  <a:tcPr marL="0" marR="0" marT="0" marB="0">
                    <a:lnL>
                      <a:noFill/>
                    </a:lnL>
                    <a:lnR>
                      <a:noFill/>
                    </a:lnR>
                    <a:lnT>
                      <a:noFill/>
                    </a:lnT>
                    <a:lnB w="3175" cap="flat" cmpd="sng" algn="ctr">
                      <a:solidFill>
                        <a:srgbClr val="BFE1FF"/>
                      </a:solidFill>
                      <a:prstDash val="solid"/>
                      <a:round/>
                      <a:headEnd type="none" w="med" len="med"/>
                      <a:tailEnd type="none" w="med" len="med"/>
                    </a:lnB>
                  </a:tcPr>
                </a:tc>
                <a:tc rowSpan="13">
                  <a:txBody>
                    <a:bodyPr/>
                    <a:lstStyle/>
                    <a:p>
                      <a:pPr algn="l" rtl="0" eaLnBrk="0">
                        <a:lnSpc>
                          <a:spcPct val="100000"/>
                        </a:lnSpc>
                      </a:pPr>
                      <a:endParaRPr lang="en-US" altLang="en-US" sz="1000" dirty="0">
                        <a:ea typeface="微软雅黑" panose="020B0503020204020204" charset="-122"/>
                      </a:endParaRPr>
                    </a:p>
                  </a:txBody>
                  <a:tcPr marL="0" marR="0" marT="0" marB="0">
                    <a:lnL>
                      <a:noFill/>
                    </a:lnL>
                    <a:lnR>
                      <a:noFill/>
                    </a:lnR>
                    <a:lnT>
                      <a:noFill/>
                    </a:lnT>
                    <a:lnB w="3175" cap="flat" cmpd="sng" algn="ctr">
                      <a:solidFill>
                        <a:srgbClr val="BFE1FF"/>
                      </a:solidFill>
                      <a:prstDash val="solid"/>
                      <a:round/>
                      <a:headEnd type="none" w="med" len="med"/>
                      <a:tailEnd type="none" w="med" len="med"/>
                    </a:lnB>
                  </a:tcPr>
                </a:tc>
              </a:tr>
              <a:tr h="145414">
                <a:tc vMerge="1">
                  <a:tcPr marL="0" marR="0" marT="0" marB="0">
                    <a:lnL>
                      <a:noFill/>
                    </a:lnL>
                    <a:lnR>
                      <a:noFill/>
                    </a:lnR>
                    <a:lnT>
                      <a:noFill/>
                    </a:lnT>
                    <a:lnB w="3175" cap="flat" cmpd="sng" algn="ctr">
                      <a:solidFill>
                        <a:srgbClr val="BFE1FF"/>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c>
                  <a:txBody>
                    <a:bodyPr/>
                    <a:lstStyle/>
                    <a:p>
                      <a:pPr algn="l" rtl="0" eaLnBrk="0">
                        <a:lnSpc>
                          <a:spcPts val="1145"/>
                        </a:lnSpc>
                      </a:pPr>
                      <a:endParaRPr lang="en-US" altLang="en-US" sz="900" dirty="0">
                        <a:ea typeface="微软雅黑" panose="020B0503020204020204" charset="-122"/>
                      </a:endParaRPr>
                    </a:p>
                  </a:txBody>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5"/>
                        </a:lnSpc>
                      </a:pPr>
                      <a:endParaRPr lang="en-US" altLang="en-US" sz="900" dirty="0">
                        <a:ea typeface="微软雅黑" panose="020B0503020204020204" charset="-122"/>
                      </a:endParaRPr>
                    </a:p>
                  </a:txBody>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3">
                  <a:txBody>
                    <a:bodyPr/>
                    <a:lstStyle/>
                    <a:p>
                      <a:pPr algn="l" rtl="0" eaLnBrk="0">
                        <a:lnSpc>
                          <a:spcPts val="1145"/>
                        </a:lnSpc>
                      </a:pPr>
                      <a:endParaRPr lang="en-US" altLang="en-US" sz="900" dirty="0">
                        <a:ea typeface="微软雅黑" panose="020B0503020204020204" charset="-122"/>
                      </a:endParaRPr>
                    </a:p>
                  </a:txBody>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2">
                  <a:txBody>
                    <a:bodyPr/>
                    <a:lstStyle/>
                    <a:p>
                      <a:pPr algn="l" rtl="0" eaLnBrk="0">
                        <a:lnSpc>
                          <a:spcPts val="1145"/>
                        </a:lnSpc>
                      </a:pPr>
                      <a:endParaRPr lang="en-US" altLang="en-US" sz="900" dirty="0">
                        <a:ea typeface="微软雅黑" panose="020B0503020204020204" charset="-122"/>
                      </a:endParaRPr>
                    </a:p>
                  </a:txBody>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2">
                  <a:txBody>
                    <a:bodyPr/>
                    <a:lstStyle/>
                    <a:p>
                      <a:pPr algn="l" rtl="0" eaLnBrk="0">
                        <a:lnSpc>
                          <a:spcPts val="1145"/>
                        </a:lnSpc>
                      </a:pPr>
                      <a:endParaRPr lang="en-US" altLang="en-US" sz="900" dirty="0">
                        <a:ea typeface="微软雅黑" panose="020B0503020204020204" charset="-122"/>
                      </a:endParaRPr>
                    </a:p>
                  </a:txBody>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5"/>
                        </a:lnSpc>
                      </a:pPr>
                      <a:endParaRPr lang="en-US" altLang="en-US" sz="900" dirty="0">
                        <a:ea typeface="微软雅黑" panose="020B0503020204020204" charset="-122"/>
                      </a:endParaRPr>
                    </a:p>
                  </a:txBody>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5"/>
                        </a:lnSpc>
                      </a:pPr>
                      <a:endParaRPr lang="en-US" altLang="en-US" sz="900" dirty="0">
                        <a:ea typeface="微软雅黑" panose="020B0503020204020204" charset="-122"/>
                      </a:endParaRPr>
                    </a:p>
                  </a:txBody>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3">
                  <a:txBody>
                    <a:bodyPr/>
                    <a:lstStyle/>
                    <a:p>
                      <a:pPr algn="l" rtl="0" eaLnBrk="0">
                        <a:lnSpc>
                          <a:spcPts val="1145"/>
                        </a:lnSpc>
                      </a:pPr>
                      <a:endParaRPr lang="en-US" altLang="en-US" sz="900" dirty="0">
                        <a:ea typeface="微软雅黑" panose="020B0503020204020204" charset="-122"/>
                      </a:endParaRPr>
                    </a:p>
                  </a:txBody>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a:lnL>
                      <a:noFill/>
                    </a:lnL>
                    <a:lnR>
                      <a:noFill/>
                    </a:lnR>
                    <a:lnT w="3175" cap="flat" cmpd="sng" algn="ctr">
                      <a:solidFill>
                        <a:srgbClr val="80808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r>
              <a:tr h="145414">
                <a:tc vMerge="1">
                  <a:tcPr marL="0" marR="0" marT="0" marB="0">
                    <a:lnL>
                      <a:noFill/>
                    </a:lnL>
                    <a:lnR>
                      <a:noFill/>
                    </a:lnR>
                    <a:lnT>
                      <a:noFill/>
                    </a:lnT>
                    <a:lnB w="3175" cap="flat" cmpd="sng" algn="ctr">
                      <a:solidFill>
                        <a:srgbClr val="BFE1FF"/>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c>
                  <a:txBody>
                    <a:bodyPr/>
                    <a:lstStyle/>
                    <a:p>
                      <a:pPr algn="l" rtl="0" eaLnBrk="0">
                        <a:lnSpc>
                          <a:spcPts val="1145"/>
                        </a:lnSpc>
                      </a:pPr>
                      <a:endParaRPr lang="en-US" altLang="en-US" sz="900" dirty="0">
                        <a:ea typeface="微软雅黑" panose="020B0503020204020204" charset="-122"/>
                      </a:endParaRPr>
                    </a:p>
                  </a:txBody>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5"/>
                        </a:lnSpc>
                      </a:pPr>
                      <a:endParaRPr lang="en-US" altLang="en-US" sz="900" dirty="0">
                        <a:ea typeface="微软雅黑" panose="020B0503020204020204" charset="-122"/>
                      </a:endParaRPr>
                    </a:p>
                  </a:txBody>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3">
                  <a:txBody>
                    <a:bodyPr/>
                    <a:lstStyle/>
                    <a:p>
                      <a:pPr algn="l" rtl="0" eaLnBrk="0">
                        <a:lnSpc>
                          <a:spcPts val="1145"/>
                        </a:lnSpc>
                      </a:pPr>
                      <a:endParaRPr lang="en-US" altLang="en-US" sz="900" dirty="0">
                        <a:ea typeface="微软雅黑" panose="020B0503020204020204" charset="-122"/>
                      </a:endParaRPr>
                    </a:p>
                  </a:txBody>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2">
                  <a:txBody>
                    <a:bodyPr/>
                    <a:lstStyle/>
                    <a:p>
                      <a:pPr algn="l" rtl="0" eaLnBrk="0">
                        <a:lnSpc>
                          <a:spcPts val="1145"/>
                        </a:lnSpc>
                      </a:pPr>
                      <a:endParaRPr lang="en-US" altLang="en-US" sz="900" dirty="0">
                        <a:ea typeface="微软雅黑" panose="020B0503020204020204" charset="-122"/>
                      </a:endParaRPr>
                    </a:p>
                  </a:txBody>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2">
                  <a:txBody>
                    <a:bodyPr/>
                    <a:lstStyle/>
                    <a:p>
                      <a:pPr algn="l" rtl="0" eaLnBrk="0">
                        <a:lnSpc>
                          <a:spcPts val="1145"/>
                        </a:lnSpc>
                      </a:pPr>
                      <a:endParaRPr lang="en-US" altLang="en-US" sz="900" dirty="0">
                        <a:ea typeface="微软雅黑" panose="020B0503020204020204" charset="-122"/>
                      </a:endParaRPr>
                    </a:p>
                  </a:txBody>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5"/>
                        </a:lnSpc>
                      </a:pPr>
                      <a:endParaRPr lang="en-US" altLang="en-US" sz="900" dirty="0">
                        <a:ea typeface="微软雅黑" panose="020B0503020204020204" charset="-122"/>
                      </a:endParaRPr>
                    </a:p>
                  </a:txBody>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5"/>
                        </a:lnSpc>
                      </a:pPr>
                      <a:endParaRPr lang="en-US" altLang="en-US" sz="900" dirty="0">
                        <a:ea typeface="微软雅黑" panose="020B0503020204020204" charset="-122"/>
                      </a:endParaRPr>
                    </a:p>
                  </a:txBody>
                  <a:tcPr marL="0" marR="0" marT="0" marB="0">
                    <a:lnL>
                      <a:noFill/>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5"/>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0000FF"/>
                    </a:solidFill>
                  </a:tcPr>
                </a:tc>
                <a:tc gridSpan="2">
                  <a:txBody>
                    <a:bodyPr/>
                    <a:lstStyle/>
                    <a:p>
                      <a:pPr algn="l" rtl="0" eaLnBrk="0">
                        <a:lnSpc>
                          <a:spcPts val="1145"/>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a:lnL w="3175" cap="flat" cmpd="sng" algn="ctr">
                      <a:solidFill>
                        <a:srgbClr val="000000"/>
                      </a:solidFill>
                      <a:prstDash val="solid"/>
                      <a:round/>
                      <a:headEnd type="none" w="med" len="med"/>
                      <a:tailEnd type="none" w="med" len="med"/>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r>
              <a:tr h="146050">
                <a:tc vMerge="1">
                  <a:tcPr marL="0" marR="0" marT="0" marB="0">
                    <a:lnL>
                      <a:noFill/>
                    </a:lnL>
                    <a:lnR>
                      <a:noFill/>
                    </a:lnR>
                    <a:lnT>
                      <a:noFill/>
                    </a:lnT>
                    <a:lnB w="3175" cap="flat" cmpd="sng" algn="ctr">
                      <a:solidFill>
                        <a:srgbClr val="BFE1FF"/>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c>
                  <a:txBody>
                    <a:bodyPr/>
                    <a:lstStyle/>
                    <a:p>
                      <a:pPr algn="l" rtl="0" eaLnBrk="0">
                        <a:lnSpc>
                          <a:spcPts val="1150"/>
                        </a:lnSpc>
                      </a:pPr>
                      <a:endParaRPr lang="en-US" altLang="en-US" sz="900" dirty="0">
                        <a:ea typeface="微软雅黑" panose="020B0503020204020204" charset="-122"/>
                      </a:endParaRPr>
                    </a:p>
                  </a:txBody>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50"/>
                        </a:lnSpc>
                      </a:pPr>
                      <a:endParaRPr lang="en-US" altLang="en-US" sz="900" dirty="0">
                        <a:ea typeface="微软雅黑" panose="020B0503020204020204" charset="-122"/>
                      </a:endParaRPr>
                    </a:p>
                  </a:txBody>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3">
                  <a:txBody>
                    <a:bodyPr/>
                    <a:lstStyle/>
                    <a:p>
                      <a:pPr algn="l" rtl="0" eaLnBrk="0">
                        <a:lnSpc>
                          <a:spcPts val="1150"/>
                        </a:lnSpc>
                      </a:pPr>
                      <a:endParaRPr lang="en-US" altLang="en-US" sz="900" dirty="0">
                        <a:ea typeface="微软雅黑" panose="020B0503020204020204" charset="-122"/>
                      </a:endParaRPr>
                    </a:p>
                  </a:txBody>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2">
                  <a:txBody>
                    <a:bodyPr/>
                    <a:lstStyle/>
                    <a:p>
                      <a:pPr algn="l" rtl="0" eaLnBrk="0">
                        <a:lnSpc>
                          <a:spcPts val="1150"/>
                        </a:lnSpc>
                      </a:pPr>
                      <a:endParaRPr lang="en-US" altLang="en-US" sz="900" dirty="0">
                        <a:ea typeface="微软雅黑" panose="020B0503020204020204" charset="-122"/>
                      </a:endParaRPr>
                    </a:p>
                  </a:txBody>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2">
                  <a:txBody>
                    <a:bodyPr/>
                    <a:lstStyle/>
                    <a:p>
                      <a:pPr algn="l" rtl="0" eaLnBrk="0">
                        <a:lnSpc>
                          <a:spcPts val="1150"/>
                        </a:lnSpc>
                      </a:pPr>
                      <a:endParaRPr lang="en-US" altLang="en-US" sz="900" dirty="0">
                        <a:ea typeface="微软雅黑" panose="020B0503020204020204" charset="-122"/>
                      </a:endParaRPr>
                    </a:p>
                  </a:txBody>
                  <a:tcPr marL="0" marR="0" marT="0" marB="0">
                    <a:lnL>
                      <a:noFill/>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a:lnL>
                      <a:noFill/>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50"/>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50"/>
                        </a:lnSpc>
                      </a:pPr>
                      <a:endParaRPr lang="en-US" altLang="en-US" sz="900" dirty="0">
                        <a:ea typeface="微软雅黑" panose="020B0503020204020204" charset="-122"/>
                      </a:endParaRPr>
                    </a:p>
                  </a:txBody>
                  <a:tcPr marL="0" marR="0" marT="0" marB="0">
                    <a:lnL>
                      <a:noFill/>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50"/>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0000FF"/>
                    </a:solidFill>
                  </a:tcPr>
                </a:tc>
                <a:tc gridSpan="2">
                  <a:txBody>
                    <a:bodyPr/>
                    <a:lstStyle/>
                    <a:p>
                      <a:pPr algn="l" rtl="0" eaLnBrk="0">
                        <a:lnSpc>
                          <a:spcPts val="1150"/>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a:lnL w="3175" cap="flat" cmpd="sng" algn="ctr">
                      <a:solidFill>
                        <a:srgbClr val="000000"/>
                      </a:solidFill>
                      <a:prstDash val="solid"/>
                      <a:round/>
                      <a:headEnd type="none" w="med" len="med"/>
                      <a:tailEnd type="none" w="med" len="med"/>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r>
              <a:tr h="144779">
                <a:tc vMerge="1">
                  <a:tcPr marL="0" marR="0" marT="0" marB="0">
                    <a:lnL>
                      <a:noFill/>
                    </a:lnL>
                    <a:lnR>
                      <a:noFill/>
                    </a:lnR>
                    <a:lnT>
                      <a:noFill/>
                    </a:lnT>
                    <a:lnB w="3175" cap="flat" cmpd="sng" algn="ctr">
                      <a:solidFill>
                        <a:srgbClr val="BFE1FF"/>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c>
                  <a:txBody>
                    <a:bodyPr/>
                    <a:lstStyle/>
                    <a:p>
                      <a:pPr algn="l" rtl="0" eaLnBrk="0">
                        <a:lnSpc>
                          <a:spcPts val="1140"/>
                        </a:lnSpc>
                      </a:pPr>
                      <a:endParaRPr lang="en-US" altLang="en-US" sz="900" dirty="0">
                        <a:ea typeface="微软雅黑" panose="020B0503020204020204" charset="-122"/>
                      </a:endParaRPr>
                    </a:p>
                  </a:txBody>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0"/>
                        </a:lnSpc>
                      </a:pPr>
                      <a:endParaRPr lang="en-US" altLang="en-US" sz="900" dirty="0">
                        <a:ea typeface="微软雅黑" panose="020B0503020204020204" charset="-122"/>
                      </a:endParaRPr>
                    </a:p>
                  </a:txBody>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3">
                  <a:txBody>
                    <a:bodyPr/>
                    <a:lstStyle/>
                    <a:p>
                      <a:pPr algn="l" rtl="0" eaLnBrk="0">
                        <a:lnSpc>
                          <a:spcPts val="1140"/>
                        </a:lnSpc>
                      </a:pPr>
                      <a:endParaRPr lang="en-US" altLang="en-US" sz="900" dirty="0">
                        <a:ea typeface="微软雅黑" panose="020B0503020204020204" charset="-122"/>
                      </a:endParaRPr>
                    </a:p>
                  </a:txBody>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2">
                  <a:txBody>
                    <a:bodyPr/>
                    <a:lstStyle/>
                    <a:p>
                      <a:pPr algn="l" rtl="0" eaLnBrk="0">
                        <a:lnSpc>
                          <a:spcPts val="1140"/>
                        </a:lnSpc>
                      </a:pPr>
                      <a:endParaRPr lang="en-US" altLang="en-US" sz="900" dirty="0">
                        <a:ea typeface="微软雅黑" panose="020B0503020204020204" charset="-122"/>
                      </a:endParaRPr>
                    </a:p>
                  </a:txBody>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0"/>
                        </a:lnSpc>
                      </a:pPr>
                      <a:endParaRPr lang="en-US" altLang="en-US" sz="900" dirty="0">
                        <a:ea typeface="微软雅黑" panose="020B0503020204020204" charset="-122"/>
                      </a:endParaRPr>
                    </a:p>
                  </a:txBody>
                  <a:tcPr marL="0" marR="0" marT="0" marB="0">
                    <a:lnL>
                      <a:noFill/>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0"/>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0"/>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0"/>
                        </a:lnSpc>
                      </a:pPr>
                      <a:endParaRPr lang="en-US" altLang="en-US" sz="900" dirty="0">
                        <a:ea typeface="微软雅黑" panose="020B0503020204020204" charset="-122"/>
                      </a:endParaRPr>
                    </a:p>
                  </a:txBody>
                  <a:tcPr marL="0" marR="0" marT="0" marB="0">
                    <a:lnL>
                      <a:noFill/>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0"/>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0000FF"/>
                    </a:solidFill>
                  </a:tcPr>
                </a:tc>
                <a:tc gridSpan="2">
                  <a:txBody>
                    <a:bodyPr/>
                    <a:lstStyle/>
                    <a:p>
                      <a:pPr algn="l" rtl="0" eaLnBrk="0">
                        <a:lnSpc>
                          <a:spcPts val="1140"/>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a:lnL w="3175" cap="flat" cmpd="sng" algn="ctr">
                      <a:solidFill>
                        <a:srgbClr val="000000"/>
                      </a:solidFill>
                      <a:prstDash val="solid"/>
                      <a:round/>
                      <a:headEnd type="none" w="med" len="med"/>
                      <a:tailEnd type="none" w="med" len="med"/>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r>
              <a:tr h="145414">
                <a:tc vMerge="1">
                  <a:tcPr marL="0" marR="0" marT="0" marB="0">
                    <a:lnL>
                      <a:noFill/>
                    </a:lnL>
                    <a:lnR>
                      <a:noFill/>
                    </a:lnR>
                    <a:lnT>
                      <a:noFill/>
                    </a:lnT>
                    <a:lnB w="3175" cap="flat" cmpd="sng" algn="ctr">
                      <a:solidFill>
                        <a:srgbClr val="BFE1FF"/>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c>
                  <a:txBody>
                    <a:bodyPr/>
                    <a:lstStyle/>
                    <a:p>
                      <a:pPr algn="l" rtl="0" eaLnBrk="0">
                        <a:lnSpc>
                          <a:spcPts val="1145"/>
                        </a:lnSpc>
                      </a:pPr>
                      <a:endParaRPr lang="en-US" altLang="en-US" sz="900" dirty="0">
                        <a:ea typeface="微软雅黑" panose="020B0503020204020204" charset="-122"/>
                      </a:endParaRPr>
                    </a:p>
                  </a:txBody>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5"/>
                        </a:lnSpc>
                      </a:pPr>
                      <a:endParaRPr lang="en-US" altLang="en-US" sz="900" dirty="0">
                        <a:ea typeface="微软雅黑" panose="020B0503020204020204" charset="-122"/>
                      </a:endParaRPr>
                    </a:p>
                  </a:txBody>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3">
                  <a:txBody>
                    <a:bodyPr/>
                    <a:lstStyle/>
                    <a:p>
                      <a:pPr algn="l" rtl="0" eaLnBrk="0">
                        <a:lnSpc>
                          <a:spcPts val="1145"/>
                        </a:lnSpc>
                      </a:pPr>
                      <a:endParaRPr lang="en-US" altLang="en-US" sz="900" dirty="0">
                        <a:ea typeface="微软雅黑" panose="020B0503020204020204" charset="-122"/>
                      </a:endParaRPr>
                    </a:p>
                  </a:txBody>
                  <a:tcPr marL="0" marR="0" marT="0" marB="0">
                    <a:lnL>
                      <a:noFill/>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a:lnL>
                      <a:noFill/>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a:lnL>
                      <a:noFill/>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5"/>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0000FF"/>
                    </a:solidFill>
                  </a:tcPr>
                </a:tc>
                <a:tc>
                  <a:txBody>
                    <a:bodyPr/>
                    <a:lstStyle/>
                    <a:p>
                      <a:pPr algn="l" rtl="0" eaLnBrk="0">
                        <a:lnSpc>
                          <a:spcPts val="1145"/>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5"/>
                        </a:lnSpc>
                      </a:pPr>
                      <a:endParaRPr lang="en-US" altLang="en-US" sz="900" dirty="0">
                        <a:ea typeface="微软雅黑" panose="020B0503020204020204" charset="-122"/>
                      </a:endParaRPr>
                    </a:p>
                  </a:txBody>
                  <a:tcPr marL="0" marR="0" marT="0" marB="0">
                    <a:lnL>
                      <a:noFill/>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5"/>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5"/>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5"/>
                        </a:lnSpc>
                      </a:pPr>
                      <a:endParaRPr lang="en-US" altLang="en-US" sz="900" dirty="0">
                        <a:ea typeface="微软雅黑" panose="020B0503020204020204" charset="-122"/>
                      </a:endParaRPr>
                    </a:p>
                  </a:txBody>
                  <a:tcPr marL="0" marR="0" marT="0" marB="0">
                    <a:lnL>
                      <a:noFill/>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5"/>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0000FF"/>
                    </a:solidFill>
                  </a:tcPr>
                </a:tc>
                <a:tc gridSpan="2">
                  <a:txBody>
                    <a:bodyPr/>
                    <a:lstStyle/>
                    <a:p>
                      <a:pPr algn="l" rtl="0" eaLnBrk="0">
                        <a:lnSpc>
                          <a:spcPts val="1145"/>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a:lnL w="3175" cap="flat" cmpd="sng" algn="ctr">
                      <a:solidFill>
                        <a:srgbClr val="000000"/>
                      </a:solidFill>
                      <a:prstDash val="solid"/>
                      <a:round/>
                      <a:headEnd type="none" w="med" len="med"/>
                      <a:tailEnd type="none" w="med" len="med"/>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r>
              <a:tr h="146050">
                <a:tc vMerge="1">
                  <a:tcPr marL="0" marR="0" marT="0" marB="0">
                    <a:lnL>
                      <a:noFill/>
                    </a:lnL>
                    <a:lnR>
                      <a:noFill/>
                    </a:lnR>
                    <a:lnT>
                      <a:noFill/>
                    </a:lnT>
                    <a:lnB w="3175" cap="flat" cmpd="sng" algn="ctr">
                      <a:solidFill>
                        <a:srgbClr val="BFE1FF"/>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c>
                  <a:txBody>
                    <a:bodyPr/>
                    <a:lstStyle/>
                    <a:p>
                      <a:pPr algn="l" rtl="0" eaLnBrk="0">
                        <a:lnSpc>
                          <a:spcPts val="1150"/>
                        </a:lnSpc>
                      </a:pPr>
                      <a:endParaRPr lang="en-US" altLang="en-US" sz="900" dirty="0">
                        <a:ea typeface="微软雅黑" panose="020B0503020204020204" charset="-122"/>
                      </a:endParaRPr>
                    </a:p>
                  </a:txBody>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50"/>
                        </a:lnSpc>
                      </a:pPr>
                      <a:endParaRPr lang="en-US" altLang="en-US" sz="900" dirty="0">
                        <a:ea typeface="微软雅黑" panose="020B0503020204020204" charset="-122"/>
                      </a:endParaRPr>
                    </a:p>
                  </a:txBody>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3">
                  <a:txBody>
                    <a:bodyPr/>
                    <a:lstStyle/>
                    <a:p>
                      <a:pPr algn="l" rtl="0" eaLnBrk="0">
                        <a:lnSpc>
                          <a:spcPts val="1150"/>
                        </a:lnSpc>
                      </a:pPr>
                      <a:endParaRPr lang="en-US" altLang="en-US" sz="900" dirty="0">
                        <a:ea typeface="微软雅黑" panose="020B0503020204020204" charset="-122"/>
                      </a:endParaRPr>
                    </a:p>
                  </a:txBody>
                  <a:tcPr marL="0" marR="0" marT="0" marB="0">
                    <a:lnL>
                      <a:noFill/>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a:lnL>
                      <a:noFill/>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a:lnL>
                      <a:noFill/>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50"/>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0000FF"/>
                    </a:solidFill>
                  </a:tcPr>
                </a:tc>
                <a:tc>
                  <a:txBody>
                    <a:bodyPr/>
                    <a:lstStyle/>
                    <a:p>
                      <a:pPr algn="l" rtl="0" eaLnBrk="0">
                        <a:lnSpc>
                          <a:spcPts val="1150"/>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50"/>
                        </a:lnSpc>
                      </a:pPr>
                      <a:endParaRPr lang="en-US" altLang="en-US" sz="900" dirty="0">
                        <a:ea typeface="微软雅黑" panose="020B0503020204020204" charset="-122"/>
                      </a:endParaRPr>
                    </a:p>
                  </a:txBody>
                  <a:tcPr marL="0" marR="0" marT="0" marB="0">
                    <a:lnL>
                      <a:noFill/>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50"/>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50"/>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50"/>
                        </a:lnSpc>
                      </a:pPr>
                      <a:endParaRPr lang="en-US" altLang="en-US" sz="900" dirty="0">
                        <a:ea typeface="微软雅黑" panose="020B0503020204020204" charset="-122"/>
                      </a:endParaRPr>
                    </a:p>
                  </a:txBody>
                  <a:tcPr marL="0" marR="0" marT="0" marB="0">
                    <a:lnL>
                      <a:noFill/>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50"/>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0000FF"/>
                    </a:solidFill>
                  </a:tcPr>
                </a:tc>
                <a:tc gridSpan="2">
                  <a:txBody>
                    <a:bodyPr/>
                    <a:lstStyle/>
                    <a:p>
                      <a:pPr algn="l" rtl="0" eaLnBrk="0">
                        <a:lnSpc>
                          <a:spcPts val="1150"/>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a:lnL w="3175" cap="flat" cmpd="sng" algn="ctr">
                      <a:solidFill>
                        <a:srgbClr val="000000"/>
                      </a:solidFill>
                      <a:prstDash val="solid"/>
                      <a:round/>
                      <a:headEnd type="none" w="med" len="med"/>
                      <a:tailEnd type="none" w="med" len="med"/>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r>
              <a:tr h="144779">
                <a:tc vMerge="1">
                  <a:tcPr marL="0" marR="0" marT="0" marB="0">
                    <a:lnL>
                      <a:noFill/>
                    </a:lnL>
                    <a:lnR>
                      <a:noFill/>
                    </a:lnR>
                    <a:lnT>
                      <a:noFill/>
                    </a:lnT>
                    <a:lnB w="3175" cap="flat" cmpd="sng" algn="ctr">
                      <a:solidFill>
                        <a:srgbClr val="BFE1FF"/>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c>
                  <a:txBody>
                    <a:bodyPr/>
                    <a:lstStyle/>
                    <a:p>
                      <a:pPr algn="l" rtl="0" eaLnBrk="0">
                        <a:lnSpc>
                          <a:spcPts val="1140"/>
                        </a:lnSpc>
                      </a:pPr>
                      <a:endParaRPr lang="en-US" altLang="en-US" sz="900" dirty="0">
                        <a:ea typeface="微软雅黑" panose="020B0503020204020204" charset="-122"/>
                      </a:endParaRPr>
                    </a:p>
                  </a:txBody>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0"/>
                        </a:lnSpc>
                      </a:pPr>
                      <a:endParaRPr lang="en-US" altLang="en-US" sz="900" dirty="0">
                        <a:ea typeface="微软雅黑" panose="020B0503020204020204" charset="-122"/>
                      </a:endParaRPr>
                    </a:p>
                  </a:txBody>
                  <a:tcPr marL="0" marR="0" marT="0" marB="0">
                    <a:lnL>
                      <a:noFill/>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0"/>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0000FF"/>
                    </a:solidFill>
                  </a:tcPr>
                </a:tc>
                <a:tc gridSpan="2">
                  <a:txBody>
                    <a:bodyPr/>
                    <a:lstStyle/>
                    <a:p>
                      <a:pPr algn="l" rtl="0" eaLnBrk="0">
                        <a:lnSpc>
                          <a:spcPts val="1140"/>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0"/>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0000FF"/>
                    </a:solidFill>
                  </a:tcPr>
                </a:tc>
                <a:tc>
                  <a:txBody>
                    <a:bodyPr/>
                    <a:lstStyle/>
                    <a:p>
                      <a:pPr algn="l" rtl="0" eaLnBrk="0">
                        <a:lnSpc>
                          <a:spcPts val="1140"/>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0"/>
                        </a:lnSpc>
                      </a:pPr>
                      <a:endParaRPr lang="en-US" altLang="en-US" sz="900" dirty="0">
                        <a:ea typeface="微软雅黑" panose="020B0503020204020204" charset="-122"/>
                      </a:endParaRPr>
                    </a:p>
                  </a:txBody>
                  <a:tcPr marL="0" marR="0" marT="0" marB="0">
                    <a:lnL>
                      <a:noFill/>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0"/>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0"/>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0"/>
                        </a:lnSpc>
                      </a:pPr>
                      <a:endParaRPr lang="en-US" altLang="en-US" sz="900" dirty="0">
                        <a:ea typeface="微软雅黑" panose="020B0503020204020204" charset="-122"/>
                      </a:endParaRPr>
                    </a:p>
                  </a:txBody>
                  <a:tcPr marL="0" marR="0" marT="0" marB="0">
                    <a:lnL>
                      <a:noFill/>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0"/>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0000FF"/>
                    </a:solidFill>
                  </a:tcPr>
                </a:tc>
                <a:tc gridSpan="2">
                  <a:txBody>
                    <a:bodyPr/>
                    <a:lstStyle/>
                    <a:p>
                      <a:pPr algn="l" rtl="0" eaLnBrk="0">
                        <a:lnSpc>
                          <a:spcPts val="1140"/>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r>
              <a:tr h="146050">
                <a:tc vMerge="1">
                  <a:tcPr marL="0" marR="0" marT="0" marB="0">
                    <a:lnL>
                      <a:noFill/>
                    </a:lnL>
                    <a:lnR>
                      <a:noFill/>
                    </a:lnR>
                    <a:lnT>
                      <a:noFill/>
                    </a:lnT>
                    <a:lnB w="3175" cap="flat" cmpd="sng" algn="ctr">
                      <a:solidFill>
                        <a:srgbClr val="BFE1FF"/>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c>
                  <a:txBody>
                    <a:bodyPr/>
                    <a:lstStyle/>
                    <a:p>
                      <a:pPr algn="l" rtl="0" eaLnBrk="0">
                        <a:lnSpc>
                          <a:spcPts val="1150"/>
                        </a:lnSpc>
                      </a:pPr>
                      <a:endParaRPr lang="en-US" altLang="en-US" sz="900" dirty="0">
                        <a:ea typeface="微软雅黑" panose="020B0503020204020204" charset="-122"/>
                      </a:endParaRPr>
                    </a:p>
                  </a:txBody>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50"/>
                        </a:lnSpc>
                      </a:pPr>
                      <a:endParaRPr lang="en-US" altLang="en-US" sz="900" dirty="0">
                        <a:ea typeface="微软雅黑" panose="020B0503020204020204" charset="-122"/>
                      </a:endParaRPr>
                    </a:p>
                  </a:txBody>
                  <a:tcPr marL="0" marR="0" marT="0" marB="0">
                    <a:lnL>
                      <a:noFill/>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50"/>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0000FF"/>
                    </a:solidFill>
                  </a:tcPr>
                </a:tc>
                <a:tc gridSpan="2">
                  <a:txBody>
                    <a:bodyPr/>
                    <a:lstStyle/>
                    <a:p>
                      <a:pPr algn="l" rtl="0" eaLnBrk="0">
                        <a:lnSpc>
                          <a:spcPts val="1150"/>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50"/>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0000FF"/>
                    </a:solidFill>
                  </a:tcPr>
                </a:tc>
                <a:tc>
                  <a:txBody>
                    <a:bodyPr/>
                    <a:lstStyle/>
                    <a:p>
                      <a:pPr algn="l" rtl="0" eaLnBrk="0">
                        <a:lnSpc>
                          <a:spcPts val="1150"/>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50"/>
                        </a:lnSpc>
                      </a:pPr>
                      <a:endParaRPr lang="en-US" altLang="en-US" sz="900" dirty="0">
                        <a:ea typeface="微软雅黑" panose="020B0503020204020204" charset="-122"/>
                      </a:endParaRPr>
                    </a:p>
                  </a:txBody>
                  <a:tcPr marL="0" marR="0" marT="0" marB="0">
                    <a:lnL>
                      <a:noFill/>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50"/>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50"/>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50"/>
                        </a:lnSpc>
                      </a:pPr>
                      <a:endParaRPr lang="en-US" altLang="en-US" sz="900" dirty="0">
                        <a:ea typeface="微软雅黑" panose="020B0503020204020204" charset="-122"/>
                      </a:endParaRPr>
                    </a:p>
                  </a:txBody>
                  <a:tcPr marL="0" marR="0" marT="0" marB="0">
                    <a:lnL>
                      <a:noFill/>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50"/>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0000FF"/>
                    </a:solidFill>
                  </a:tcPr>
                </a:tc>
                <a:tc gridSpan="2">
                  <a:txBody>
                    <a:bodyPr/>
                    <a:lstStyle/>
                    <a:p>
                      <a:pPr algn="l" rtl="0" eaLnBrk="0">
                        <a:lnSpc>
                          <a:spcPts val="1150"/>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r>
              <a:tr h="0">
                <a:tc vMerge="1">
                  <a:tcPr marL="0" marR="0" marT="0" marB="0">
                    <a:lnL>
                      <a:noFill/>
                    </a:lnL>
                    <a:lnR>
                      <a:noFill/>
                    </a:lnR>
                    <a:lnT>
                      <a:noFill/>
                    </a:lnT>
                    <a:lnB w="3175" cap="flat" cmpd="sng" algn="ctr">
                      <a:solidFill>
                        <a:srgbClr val="BFE1FF"/>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c rowSpan="2">
                  <a:txBody>
                    <a:bodyPr/>
                    <a:lstStyle/>
                    <a:p>
                      <a:pPr algn="l" rtl="0" eaLnBrk="0">
                        <a:lnSpc>
                          <a:spcPts val="1135"/>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rowSpan="2">
                  <a:txBody>
                    <a:bodyPr/>
                    <a:lstStyle/>
                    <a:p>
                      <a:pPr algn="l" rtl="0" eaLnBrk="0">
                        <a:lnSpc>
                          <a:spcPts val="1135"/>
                        </a:lnSpc>
                      </a:pPr>
                      <a:endParaRPr lang="en-US" altLang="en-US" sz="900" dirty="0">
                        <a:ea typeface="微软雅黑" panose="020B0503020204020204" charset="-122"/>
                      </a:endParaRPr>
                    </a:p>
                  </a:txBody>
                  <a:tcPr marL="0" marR="0" marT="0" marB="0">
                    <a:lnL>
                      <a:noFill/>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rowSpan="2">
                  <a:txBody>
                    <a:bodyPr/>
                    <a:lstStyle/>
                    <a:p>
                      <a:pPr algn="l" rtl="0" eaLnBrk="0">
                        <a:lnSpc>
                          <a:spcPts val="1135"/>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0000FF"/>
                    </a:solidFill>
                  </a:tcPr>
                </a:tc>
                <a:tc rowSpan="2" gridSpan="2">
                  <a:txBody>
                    <a:bodyPr/>
                    <a:lstStyle/>
                    <a:p>
                      <a:pPr algn="l" rtl="0" eaLnBrk="0">
                        <a:lnSpc>
                          <a:spcPts val="1135"/>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rowSpan="2" hMerge="1">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rowSpan="2">
                  <a:txBody>
                    <a:bodyPr/>
                    <a:lstStyle/>
                    <a:p>
                      <a:pPr algn="l" rtl="0" eaLnBrk="0">
                        <a:lnSpc>
                          <a:spcPts val="1135"/>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0000FF"/>
                    </a:solidFill>
                  </a:tcPr>
                </a:tc>
                <a:tc rowSpan="2">
                  <a:txBody>
                    <a:bodyPr/>
                    <a:lstStyle/>
                    <a:p>
                      <a:pPr algn="l" rtl="0" eaLnBrk="0">
                        <a:lnSpc>
                          <a:spcPts val="1135"/>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575"/>
                        </a:lnSpc>
                      </a:pPr>
                      <a:endParaRPr lang="en-US" altLang="en-US" sz="4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rowSpan="2">
                  <a:txBody>
                    <a:bodyPr/>
                    <a:lstStyle/>
                    <a:p>
                      <a:pPr algn="l" rtl="0" eaLnBrk="0">
                        <a:lnSpc>
                          <a:spcPts val="1135"/>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rowSpan="2">
                  <a:txBody>
                    <a:bodyPr/>
                    <a:lstStyle/>
                    <a:p>
                      <a:pPr algn="l" rtl="0" eaLnBrk="0">
                        <a:lnSpc>
                          <a:spcPts val="1135"/>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575"/>
                        </a:lnSpc>
                      </a:pPr>
                      <a:endParaRPr lang="en-US" altLang="en-US" sz="400" dirty="0">
                        <a:ea typeface="微软雅黑" panose="020B0503020204020204" charset="-122"/>
                      </a:endParaRPr>
                    </a:p>
                  </a:txBody>
                  <a:tcPr marL="0" marR="0" marT="0" marB="0">
                    <a:lnL>
                      <a:noFill/>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rowSpan="2">
                  <a:txBody>
                    <a:bodyPr/>
                    <a:lstStyle/>
                    <a:p>
                      <a:pPr algn="l" rtl="0" eaLnBrk="0">
                        <a:lnSpc>
                          <a:spcPts val="1135"/>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0000FF"/>
                    </a:solidFill>
                  </a:tcPr>
                </a:tc>
                <a:tc rowSpan="2" gridSpan="2">
                  <a:txBody>
                    <a:bodyPr/>
                    <a:lstStyle/>
                    <a:p>
                      <a:pPr algn="l" rtl="0" eaLnBrk="0">
                        <a:lnSpc>
                          <a:spcPts val="1135"/>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rowSpan="2" hMerge="1">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r>
              <a:tr h="0">
                <a:tc vMerge="1">
                  <a:tcPr marL="0" marR="0" marT="0" marB="0">
                    <a:lnL>
                      <a:noFill/>
                    </a:lnL>
                    <a:lnR>
                      <a:noFill/>
                    </a:lnR>
                    <a:lnT>
                      <a:noFill/>
                    </a:lnT>
                    <a:lnB w="3175" cap="flat" cmpd="sng" algn="ctr">
                      <a:solidFill>
                        <a:srgbClr val="BFE1FF"/>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c vMerge="1">
                  <a:tcPr marL="0" marR="0" marT="0" marB="0">
                    <a:lnL w="3175" cap="flat" cmpd="sng" algn="ctr">
                      <a:solidFill>
                        <a:srgbClr val="000000"/>
                      </a:solidFill>
                      <a:prstDash val="solid"/>
                      <a:round/>
                      <a:headEnd type="none" w="med" len="med"/>
                      <a:tailEnd type="none" w="med" len="med"/>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vMerge="1">
                  <a:tcPr marL="0" marR="0" marT="0" marB="0">
                    <a:lnL>
                      <a:noFill/>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vMerge="1">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vMerge="1" gridSpan="2">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vMerge="1" hMerge="1">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vMerge="1">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vMerge="1">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560"/>
                        </a:lnSpc>
                      </a:pPr>
                      <a:endParaRPr lang="en-US" altLang="en-US" sz="4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vMerge="1">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vMerge="1">
                  <a:tcPr marL="0" marR="0" marT="0" marB="0">
                    <a:lnL w="3175" cap="flat" cmpd="sng" algn="ctr">
                      <a:solidFill>
                        <a:srgbClr val="000000"/>
                      </a:solidFill>
                      <a:prstDash val="solid"/>
                      <a:round/>
                      <a:headEnd type="none" w="med" len="med"/>
                      <a:tailEnd type="none" w="med" len="med"/>
                    </a:lnL>
                    <a:lnR>
                      <a:noFill/>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560"/>
                        </a:lnSpc>
                      </a:pPr>
                      <a:endParaRPr lang="en-US" altLang="en-US" sz="4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FF0000"/>
                    </a:solidFill>
                  </a:tcPr>
                </a:tc>
                <a:tc vMerge="1">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vMerge="1" gridSpan="2">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vMerge="1" hMerge="1">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r>
              <a:tr h="145414">
                <a:tc vMerge="1">
                  <a:tcPr marL="0" marR="0" marT="0" marB="0">
                    <a:lnL>
                      <a:noFill/>
                    </a:lnL>
                    <a:lnR>
                      <a:noFill/>
                    </a:lnR>
                    <a:lnT>
                      <a:noFill/>
                    </a:lnT>
                    <a:lnB w="3175" cap="flat" cmpd="sng" algn="ctr">
                      <a:solidFill>
                        <a:srgbClr val="BFE1FF"/>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c>
                  <a:txBody>
                    <a:bodyPr/>
                    <a:lstStyle/>
                    <a:p>
                      <a:pPr algn="l" rtl="0" eaLnBrk="0">
                        <a:lnSpc>
                          <a:spcPts val="1145"/>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5"/>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5"/>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0000FF"/>
                    </a:solidFill>
                  </a:tcPr>
                </a:tc>
                <a:tc>
                  <a:txBody>
                    <a:bodyPr/>
                    <a:lstStyle/>
                    <a:p>
                      <a:pPr algn="l" rtl="0" eaLnBrk="0">
                        <a:lnSpc>
                          <a:spcPts val="1145"/>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5"/>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5"/>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0000FF"/>
                    </a:solidFill>
                  </a:tcPr>
                </a:tc>
                <a:tc>
                  <a:txBody>
                    <a:bodyPr/>
                    <a:lstStyle/>
                    <a:p>
                      <a:pPr algn="l" rtl="0" eaLnBrk="0">
                        <a:lnSpc>
                          <a:spcPts val="1145"/>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5"/>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5"/>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5"/>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5"/>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FF0000"/>
                    </a:solidFill>
                  </a:tcPr>
                </a:tc>
                <a:tc>
                  <a:txBody>
                    <a:bodyPr/>
                    <a:lstStyle/>
                    <a:p>
                      <a:pPr algn="l" rtl="0" eaLnBrk="0">
                        <a:lnSpc>
                          <a:spcPts val="1145"/>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0000FF"/>
                    </a:solidFill>
                  </a:tcPr>
                </a:tc>
                <a:tc>
                  <a:txBody>
                    <a:bodyPr/>
                    <a:lstStyle/>
                    <a:p>
                      <a:pPr algn="l" rtl="0" eaLnBrk="0">
                        <a:lnSpc>
                          <a:spcPts val="1145"/>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ts val="1145"/>
                        </a:lnSpc>
                      </a:pPr>
                      <a:endParaRPr lang="en-US" altLang="en-US" sz="900" dirty="0">
                        <a:ea typeface="微软雅黑" panose="020B0503020204020204" charset="-122"/>
                      </a:endParaRPr>
                    </a:p>
                  </a:txBody>
                  <a:tcPr marL="0" marR="0" marT="0" marB="0">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r>
              <a:tr h="348615">
                <a:tc vMerge="1">
                  <a:tcPr marL="0" marR="0" marT="0" marB="0">
                    <a:lnL>
                      <a:noFill/>
                    </a:lnL>
                    <a:lnR>
                      <a:noFill/>
                    </a:lnR>
                    <a:lnT>
                      <a:noFill/>
                    </a:lnT>
                    <a:lnB w="3175" cap="flat" cmpd="sng" algn="ctr">
                      <a:solidFill>
                        <a:srgbClr val="BFE1FF"/>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c>
                  <a:txBody>
                    <a:bodyPr/>
                    <a:lstStyle/>
                    <a:p>
                      <a:pPr algn="l" rtl="0" eaLnBrk="0">
                        <a:lnSpc>
                          <a:spcPct val="100000"/>
                        </a:lnSpc>
                      </a:pPr>
                      <a:endParaRPr lang="en-US" altLang="en-US" sz="1000" dirty="0">
                        <a:ea typeface="微软雅黑" panose="020B0503020204020204" charset="-122"/>
                      </a:endParaRPr>
                    </a:p>
                  </a:txBody>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BFE1FF"/>
                      </a:solidFill>
                      <a:prstDash val="solid"/>
                      <a:round/>
                      <a:headEnd type="none" w="med" len="med"/>
                      <a:tailEnd type="none" w="med" len="med"/>
                    </a:lnB>
                  </a:tcPr>
                </a:tc>
                <a:tc>
                  <a:txBody>
                    <a:bodyPr/>
                    <a:lstStyle/>
                    <a:p>
                      <a:pPr algn="l" rtl="0" eaLnBrk="0">
                        <a:lnSpc>
                          <a:spcPct val="140000"/>
                        </a:lnSpc>
                      </a:pPr>
                      <a:endParaRPr lang="en-US" altLang="en-US" sz="200" dirty="0">
                        <a:latin typeface="微软雅黑" panose="020B0503020204020204" charset="-122"/>
                        <a:ea typeface="微软雅黑" panose="020B0503020204020204" charset="-122"/>
                      </a:endParaRPr>
                    </a:p>
                    <a:p>
                      <a:pPr marL="57785" algn="l" rtl="0" eaLnBrk="0">
                        <a:lnSpc>
                          <a:spcPts val="300"/>
                        </a:lnSpc>
                        <a:spcBef>
                          <a:spcPts val="0"/>
                        </a:spcBef>
                      </a:pPr>
                      <a:r>
                        <a:rPr sz="200" spc="30" dirty="0">
                          <a:solidFill>
                            <a:srgbClr val="000000">
                              <a:alpha val="100000"/>
                            </a:srgbClr>
                          </a:solidFill>
                          <a:latin typeface="微软雅黑" panose="020B0503020204020204" charset="-122"/>
                          <a:ea typeface="微软雅黑" panose="020B0503020204020204" charset="-122"/>
                          <a:cs typeface="Arial" panose="020B0604020202020204"/>
                        </a:rPr>
                        <a:t>ye</a:t>
                      </a:r>
                      <a:r>
                        <a:rPr sz="200" spc="0" dirty="0">
                          <a:solidFill>
                            <a:srgbClr val="000000">
                              <a:alpha val="100000"/>
                            </a:srgbClr>
                          </a:solidFill>
                          <a:latin typeface="微软雅黑" panose="020B0503020204020204" charset="-122"/>
                          <a:ea typeface="微软雅黑" panose="020B0503020204020204" charset="-122"/>
                          <a:cs typeface="Arial" panose="020B0604020202020204"/>
                        </a:rPr>
                        <a:t>a</a:t>
                      </a:r>
                      <a:endParaRPr lang="en-US" altLang="en-US" sz="200" dirty="0">
                        <a:latin typeface="微软雅黑" panose="020B0503020204020204" charset="-122"/>
                        <a:ea typeface="微软雅黑" panose="020B0503020204020204" charset="-122"/>
                      </a:endParaRPr>
                    </a:p>
                  </a:txBody>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BFE1FF"/>
                      </a:solidFill>
                      <a:prstDash val="solid"/>
                      <a:round/>
                      <a:headEnd type="none" w="med" len="med"/>
                      <a:tailEnd type="none" w="med" len="med"/>
                    </a:lnB>
                  </a:tcPr>
                </a:tc>
                <a:tc>
                  <a:txBody>
                    <a:bodyPr/>
                    <a:lstStyle/>
                    <a:p>
                      <a:pPr algn="l" rtl="0" eaLnBrk="0">
                        <a:lnSpc>
                          <a:spcPct val="140000"/>
                        </a:lnSpc>
                      </a:pPr>
                      <a:endParaRPr lang="en-US" altLang="en-US" sz="200" dirty="0">
                        <a:latin typeface="微软雅黑" panose="020B0503020204020204" charset="-122"/>
                        <a:ea typeface="微软雅黑" panose="020B0503020204020204" charset="-122"/>
                      </a:endParaRPr>
                    </a:p>
                    <a:p>
                      <a:pPr marL="17145" algn="l" rtl="0" eaLnBrk="0">
                        <a:lnSpc>
                          <a:spcPts val="375"/>
                        </a:lnSpc>
                        <a:spcBef>
                          <a:spcPts val="0"/>
                        </a:spcBef>
                      </a:pPr>
                      <a:r>
                        <a:rPr sz="300" spc="0" dirty="0">
                          <a:solidFill>
                            <a:srgbClr val="000000">
                              <a:alpha val="100000"/>
                            </a:srgbClr>
                          </a:solidFill>
                          <a:latin typeface="微软雅黑" panose="020B0503020204020204" charset="-122"/>
                          <a:ea typeface="微软雅黑" panose="020B0503020204020204" charset="-122"/>
                          <a:cs typeface="Arial" panose="020B0604020202020204"/>
                        </a:rPr>
                        <a:t>r 2</a:t>
                      </a:r>
                      <a:endParaRPr lang="en-US" altLang="en-US" sz="300" dirty="0">
                        <a:latin typeface="微软雅黑" panose="020B0503020204020204" charset="-122"/>
                        <a:ea typeface="微软雅黑" panose="020B0503020204020204" charset="-122"/>
                      </a:endParaRPr>
                    </a:p>
                  </a:txBody>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BFE1FF"/>
                      </a:solidFill>
                      <a:prstDash val="solid"/>
                      <a:round/>
                      <a:headEnd type="none" w="med" len="med"/>
                      <a:tailEnd type="none" w="med" len="med"/>
                    </a:lnB>
                  </a:tcPr>
                </a:tc>
                <a:tc gridSpan="2">
                  <a:txBody>
                    <a:bodyPr/>
                    <a:lstStyle/>
                    <a:p>
                      <a:pPr algn="l" rtl="0" eaLnBrk="0">
                        <a:lnSpc>
                          <a:spcPct val="140000"/>
                        </a:lnSpc>
                      </a:pPr>
                      <a:endParaRPr lang="en-US" altLang="en-US" sz="200" dirty="0">
                        <a:latin typeface="微软雅黑" panose="020B0503020204020204" charset="-122"/>
                        <a:ea typeface="微软雅黑" panose="020B0503020204020204" charset="-122"/>
                      </a:endParaRPr>
                    </a:p>
                    <a:p>
                      <a:pPr marL="217170" algn="l" rtl="0" eaLnBrk="0">
                        <a:lnSpc>
                          <a:spcPts val="300"/>
                        </a:lnSpc>
                        <a:spcBef>
                          <a:spcPts val="0"/>
                        </a:spcBef>
                      </a:pPr>
                      <a:r>
                        <a:rPr sz="200" spc="40" dirty="0">
                          <a:solidFill>
                            <a:srgbClr val="000000">
                              <a:alpha val="100000"/>
                            </a:srgbClr>
                          </a:solidFill>
                          <a:latin typeface="微软雅黑" panose="020B0503020204020204" charset="-122"/>
                          <a:ea typeface="微软雅黑" panose="020B0503020204020204" charset="-122"/>
                          <a:cs typeface="Arial" panose="020B0604020202020204"/>
                        </a:rPr>
                        <a:t>ye</a:t>
                      </a:r>
                      <a:r>
                        <a:rPr sz="200" spc="20" dirty="0">
                          <a:solidFill>
                            <a:srgbClr val="000000">
                              <a:alpha val="100000"/>
                            </a:srgbClr>
                          </a:solidFill>
                          <a:latin typeface="微软雅黑" panose="020B0503020204020204" charset="-122"/>
                          <a:ea typeface="微软雅黑" panose="020B0503020204020204" charset="-122"/>
                          <a:cs typeface="Arial" panose="020B0604020202020204"/>
                        </a:rPr>
                        <a:t>a</a:t>
                      </a:r>
                      <a:endParaRPr lang="en-US" altLang="en-US" sz="200" dirty="0">
                        <a:latin typeface="微软雅黑" panose="020B0503020204020204" charset="-122"/>
                        <a:ea typeface="微软雅黑" panose="020B0503020204020204" charset="-122"/>
                      </a:endParaRPr>
                    </a:p>
                  </a:txBody>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BFE1FF"/>
                      </a:solidFill>
                      <a:prstDash val="solid"/>
                      <a:round/>
                      <a:headEnd type="none" w="med" len="med"/>
                      <a:tailEnd type="none" w="med" len="med"/>
                    </a:lnB>
                  </a:tcPr>
                </a:tc>
                <a:tc hMerge="1">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BFE1FF"/>
                      </a:solidFill>
                      <a:prstDash val="solid"/>
                      <a:round/>
                      <a:headEnd type="none" w="med" len="med"/>
                      <a:tailEnd type="none" w="med" len="med"/>
                    </a:lnB>
                  </a:tcPr>
                </a:tc>
                <a:tc gridSpan="2">
                  <a:txBody>
                    <a:bodyPr/>
                    <a:lstStyle/>
                    <a:p>
                      <a:pPr algn="l" rtl="0" eaLnBrk="0">
                        <a:lnSpc>
                          <a:spcPct val="140000"/>
                        </a:lnSpc>
                      </a:pPr>
                      <a:endParaRPr lang="en-US" altLang="en-US" sz="200" dirty="0">
                        <a:latin typeface="微软雅黑" panose="020B0503020204020204" charset="-122"/>
                        <a:ea typeface="微软雅黑" panose="020B0503020204020204" charset="-122"/>
                      </a:endParaRPr>
                    </a:p>
                    <a:p>
                      <a:pPr marL="12700" algn="l" rtl="0" eaLnBrk="0">
                        <a:lnSpc>
                          <a:spcPts val="370"/>
                        </a:lnSpc>
                        <a:spcBef>
                          <a:spcPts val="0"/>
                        </a:spcBef>
                      </a:pPr>
                      <a:r>
                        <a:rPr sz="300" spc="0" dirty="0">
                          <a:solidFill>
                            <a:srgbClr val="000000">
                              <a:alpha val="100000"/>
                            </a:srgbClr>
                          </a:solidFill>
                          <a:latin typeface="微软雅黑" panose="020B0503020204020204" charset="-122"/>
                          <a:ea typeface="微软雅黑" panose="020B0503020204020204" charset="-122"/>
                          <a:cs typeface="Arial" panose="020B0604020202020204"/>
                        </a:rPr>
                        <a:t>r 3</a:t>
                      </a:r>
                      <a:endParaRPr lang="en-US" altLang="en-US" sz="300" dirty="0">
                        <a:latin typeface="微软雅黑" panose="020B0503020204020204" charset="-122"/>
                        <a:ea typeface="微软雅黑" panose="020B0503020204020204" charset="-122"/>
                      </a:endParaRPr>
                    </a:p>
                    <a:p>
                      <a:pPr algn="l" rtl="0" eaLnBrk="0">
                        <a:lnSpc>
                          <a:spcPct val="154000"/>
                        </a:lnSpc>
                      </a:pPr>
                      <a:endParaRPr lang="en-US" altLang="en-US" sz="100" dirty="0">
                        <a:latin typeface="微软雅黑" panose="020B0503020204020204" charset="-122"/>
                        <a:ea typeface="微软雅黑" panose="020B0503020204020204" charset="-122"/>
                      </a:endParaRPr>
                    </a:p>
                    <a:p>
                      <a:pPr marL="125095" algn="l" rtl="0" eaLnBrk="0">
                        <a:lnSpc>
                          <a:spcPct val="86000"/>
                        </a:lnSpc>
                        <a:spcBef>
                          <a:spcPts val="0"/>
                        </a:spcBef>
                      </a:pPr>
                      <a:r>
                        <a:rPr sz="300" b="1" spc="10" dirty="0">
                          <a:solidFill>
                            <a:srgbClr val="000000">
                              <a:alpha val="100000"/>
                            </a:srgbClr>
                          </a:solidFill>
                          <a:latin typeface="微软雅黑" panose="020B0503020204020204" charset="-122"/>
                          <a:ea typeface="微软雅黑" panose="020B0503020204020204" charset="-122"/>
                          <a:cs typeface="Arial" panose="020B0604020202020204"/>
                        </a:rPr>
                        <a:t>Histo</a:t>
                      </a:r>
                      <a:r>
                        <a:rPr sz="300" b="1" spc="0" dirty="0">
                          <a:solidFill>
                            <a:srgbClr val="000000">
                              <a:alpha val="100000"/>
                            </a:srgbClr>
                          </a:solidFill>
                          <a:latin typeface="微软雅黑" panose="020B0503020204020204" charset="-122"/>
                          <a:ea typeface="微软雅黑" panose="020B0503020204020204" charset="-122"/>
                          <a:cs typeface="Arial" panose="020B0604020202020204"/>
                        </a:rPr>
                        <a:t>ry</a:t>
                      </a:r>
                      <a:endParaRPr lang="en-US" altLang="en-US" sz="300" dirty="0">
                        <a:latin typeface="微软雅黑" panose="020B0503020204020204" charset="-122"/>
                        <a:ea typeface="微软雅黑" panose="020B0503020204020204" charset="-122"/>
                      </a:endParaRPr>
                    </a:p>
                  </a:txBody>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BFE1FF"/>
                      </a:solidFill>
                      <a:prstDash val="solid"/>
                      <a:round/>
                      <a:headEnd type="none" w="med" len="med"/>
                      <a:tailEnd type="none" w="med" len="med"/>
                    </a:lnB>
                  </a:tcPr>
                </a:tc>
                <a:tc hMerge="1">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BFE1FF"/>
                      </a:solidFill>
                      <a:prstDash val="solid"/>
                      <a:round/>
                      <a:headEnd type="none" w="med" len="med"/>
                      <a:tailEnd type="none" w="med" len="med"/>
                    </a:lnB>
                  </a:tcPr>
                </a:tc>
                <a:tc gridSpan="2">
                  <a:txBody>
                    <a:bodyPr/>
                    <a:lstStyle/>
                    <a:p>
                      <a:pPr algn="l" rtl="0" eaLnBrk="0">
                        <a:lnSpc>
                          <a:spcPct val="140000"/>
                        </a:lnSpc>
                      </a:pPr>
                      <a:endParaRPr lang="en-US" altLang="en-US" sz="200" dirty="0">
                        <a:latin typeface="微软雅黑" panose="020B0503020204020204" charset="-122"/>
                        <a:ea typeface="微软雅黑" panose="020B0503020204020204" charset="-122"/>
                      </a:endParaRPr>
                    </a:p>
                    <a:p>
                      <a:pPr marL="62230" algn="l" rtl="0" eaLnBrk="0">
                        <a:lnSpc>
                          <a:spcPct val="86000"/>
                        </a:lnSpc>
                        <a:spcBef>
                          <a:spcPts val="0"/>
                        </a:spcBef>
                      </a:pPr>
                      <a:r>
                        <a:rPr sz="300" spc="0" dirty="0">
                          <a:solidFill>
                            <a:srgbClr val="000000">
                              <a:alpha val="100000"/>
                            </a:srgbClr>
                          </a:solidFill>
                          <a:latin typeface="微软雅黑" panose="020B0503020204020204" charset="-122"/>
                          <a:ea typeface="微软雅黑" panose="020B0503020204020204" charset="-122"/>
                          <a:cs typeface="Arial" panose="020B0604020202020204"/>
                        </a:rPr>
                        <a:t>year</a:t>
                      </a:r>
                      <a:r>
                        <a:rPr sz="300" spc="30" dirty="0">
                          <a:solidFill>
                            <a:srgbClr val="000000">
                              <a:alpha val="100000"/>
                            </a:srgbClr>
                          </a:solidFill>
                          <a:latin typeface="微软雅黑" panose="020B0503020204020204" charset="-122"/>
                          <a:ea typeface="微软雅黑" panose="020B0503020204020204" charset="-122"/>
                          <a:cs typeface="Arial" panose="020B0604020202020204"/>
                        </a:rPr>
                        <a:t> </a:t>
                      </a:r>
                      <a:r>
                        <a:rPr sz="300" spc="10" dirty="0">
                          <a:solidFill>
                            <a:srgbClr val="000000">
                              <a:alpha val="100000"/>
                            </a:srgbClr>
                          </a:solidFill>
                          <a:latin typeface="微软雅黑" panose="020B0503020204020204" charset="-122"/>
                          <a:ea typeface="微软雅黑" panose="020B0503020204020204" charset="-122"/>
                          <a:cs typeface="Arial" panose="020B0604020202020204"/>
                        </a:rPr>
                        <a:t>4</a:t>
                      </a:r>
                      <a:endParaRPr lang="en-US" altLang="en-US" sz="300" dirty="0">
                        <a:latin typeface="微软雅黑" panose="020B0503020204020204" charset="-122"/>
                        <a:ea typeface="微软雅黑" panose="020B0503020204020204" charset="-122"/>
                      </a:endParaRPr>
                    </a:p>
                  </a:txBody>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BFE1FF"/>
                      </a:solidFill>
                      <a:prstDash val="solid"/>
                      <a:round/>
                      <a:headEnd type="none" w="med" len="med"/>
                      <a:tailEnd type="none" w="med" len="med"/>
                    </a:lnB>
                  </a:tcPr>
                </a:tc>
                <a:tc hMerge="1">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BFE1FF"/>
                      </a:solidFill>
                      <a:prstDash val="solid"/>
                      <a:round/>
                      <a:headEnd type="none" w="med" len="med"/>
                      <a:tailEnd type="none" w="med" len="med"/>
                    </a:lnB>
                  </a:tcPr>
                </a:tc>
                <a:tc>
                  <a:txBody>
                    <a:bodyPr/>
                    <a:lstStyle/>
                    <a:p>
                      <a:pPr algn="l" rtl="0" eaLnBrk="0">
                        <a:lnSpc>
                          <a:spcPct val="100000"/>
                        </a:lnSpc>
                      </a:pPr>
                      <a:endParaRPr lang="en-US" altLang="en-US" sz="1000" dirty="0">
                        <a:ea typeface="微软雅黑" panose="020B0503020204020204" charset="-122"/>
                      </a:endParaRPr>
                    </a:p>
                  </a:txBody>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BFE1FF"/>
                      </a:solidFill>
                      <a:prstDash val="solid"/>
                      <a:round/>
                      <a:headEnd type="none" w="med" len="med"/>
                      <a:tailEnd type="none" w="med" len="med"/>
                    </a:lnB>
                  </a:tcPr>
                </a:tc>
                <a:tc>
                  <a:txBody>
                    <a:bodyPr/>
                    <a:lstStyle/>
                    <a:p>
                      <a:pPr algn="l" rtl="0" eaLnBrk="0">
                        <a:lnSpc>
                          <a:spcPct val="140000"/>
                        </a:lnSpc>
                      </a:pPr>
                      <a:endParaRPr lang="en-US" altLang="en-US" sz="200" dirty="0">
                        <a:latin typeface="微软雅黑" panose="020B0503020204020204" charset="-122"/>
                        <a:ea typeface="微软雅黑" panose="020B0503020204020204" charset="-122"/>
                      </a:endParaRPr>
                    </a:p>
                    <a:p>
                      <a:pPr marL="57150" algn="l" rtl="0" eaLnBrk="0">
                        <a:lnSpc>
                          <a:spcPts val="300"/>
                        </a:lnSpc>
                        <a:spcBef>
                          <a:spcPts val="0"/>
                        </a:spcBef>
                      </a:pPr>
                      <a:r>
                        <a:rPr sz="200" spc="40" dirty="0">
                          <a:solidFill>
                            <a:srgbClr val="000000">
                              <a:alpha val="100000"/>
                            </a:srgbClr>
                          </a:solidFill>
                          <a:latin typeface="微软雅黑" panose="020B0503020204020204" charset="-122"/>
                          <a:ea typeface="微软雅黑" panose="020B0503020204020204" charset="-122"/>
                          <a:cs typeface="Arial" panose="020B0604020202020204"/>
                        </a:rPr>
                        <a:t>ye</a:t>
                      </a:r>
                      <a:r>
                        <a:rPr sz="200" spc="20" dirty="0">
                          <a:solidFill>
                            <a:srgbClr val="000000">
                              <a:alpha val="100000"/>
                            </a:srgbClr>
                          </a:solidFill>
                          <a:latin typeface="微软雅黑" panose="020B0503020204020204" charset="-122"/>
                          <a:ea typeface="微软雅黑" panose="020B0503020204020204" charset="-122"/>
                          <a:cs typeface="Arial" panose="020B0604020202020204"/>
                        </a:rPr>
                        <a:t>a</a:t>
                      </a:r>
                      <a:endParaRPr lang="en-US" altLang="en-US" sz="200" dirty="0">
                        <a:latin typeface="微软雅黑" panose="020B0503020204020204" charset="-122"/>
                        <a:ea typeface="微软雅黑" panose="020B0503020204020204" charset="-122"/>
                      </a:endParaRPr>
                    </a:p>
                  </a:txBody>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BFE1FF"/>
                      </a:solidFill>
                      <a:prstDash val="solid"/>
                      <a:round/>
                      <a:headEnd type="none" w="med" len="med"/>
                      <a:tailEnd type="none" w="med" len="med"/>
                    </a:lnB>
                  </a:tcPr>
                </a:tc>
                <a:tc>
                  <a:txBody>
                    <a:bodyPr/>
                    <a:lstStyle/>
                    <a:p>
                      <a:pPr algn="l" rtl="0" eaLnBrk="0">
                        <a:lnSpc>
                          <a:spcPct val="140000"/>
                        </a:lnSpc>
                      </a:pPr>
                      <a:endParaRPr lang="en-US" altLang="en-US" sz="200" dirty="0">
                        <a:latin typeface="微软雅黑" panose="020B0503020204020204" charset="-122"/>
                        <a:ea typeface="微软雅黑" panose="020B0503020204020204" charset="-122"/>
                      </a:endParaRPr>
                    </a:p>
                    <a:p>
                      <a:pPr marL="12700" algn="l" rtl="0" eaLnBrk="0">
                        <a:lnSpc>
                          <a:spcPts val="370"/>
                        </a:lnSpc>
                        <a:spcBef>
                          <a:spcPts val="0"/>
                        </a:spcBef>
                      </a:pPr>
                      <a:r>
                        <a:rPr sz="300" spc="0" dirty="0">
                          <a:solidFill>
                            <a:srgbClr val="000000">
                              <a:alpha val="100000"/>
                            </a:srgbClr>
                          </a:solidFill>
                          <a:latin typeface="微软雅黑" panose="020B0503020204020204" charset="-122"/>
                          <a:ea typeface="微软雅黑" panose="020B0503020204020204" charset="-122"/>
                          <a:cs typeface="Arial" panose="020B0604020202020204"/>
                        </a:rPr>
                        <a:t>r 5</a:t>
                      </a:r>
                      <a:endParaRPr lang="en-US" altLang="en-US" sz="300" dirty="0">
                        <a:latin typeface="微软雅黑" panose="020B0503020204020204" charset="-122"/>
                        <a:ea typeface="微软雅黑" panose="020B0503020204020204" charset="-122"/>
                      </a:endParaRPr>
                    </a:p>
                  </a:txBody>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BFE1FF"/>
                      </a:solidFill>
                      <a:prstDash val="solid"/>
                      <a:round/>
                      <a:headEnd type="none" w="med" len="med"/>
                      <a:tailEnd type="none" w="med" len="med"/>
                    </a:lnB>
                  </a:tcPr>
                </a:tc>
                <a:tc gridSpan="2">
                  <a:txBody>
                    <a:bodyPr/>
                    <a:lstStyle/>
                    <a:p>
                      <a:pPr algn="l" rtl="0" eaLnBrk="0">
                        <a:lnSpc>
                          <a:spcPct val="140000"/>
                        </a:lnSpc>
                      </a:pPr>
                      <a:endParaRPr lang="en-US" altLang="en-US" sz="200" dirty="0">
                        <a:latin typeface="微软雅黑" panose="020B0503020204020204" charset="-122"/>
                        <a:ea typeface="微软雅黑" panose="020B0503020204020204" charset="-122"/>
                      </a:endParaRPr>
                    </a:p>
                    <a:p>
                      <a:pPr marL="217170" algn="l" rtl="0" eaLnBrk="0">
                        <a:lnSpc>
                          <a:spcPts val="300"/>
                        </a:lnSpc>
                        <a:spcBef>
                          <a:spcPts val="0"/>
                        </a:spcBef>
                      </a:pPr>
                      <a:r>
                        <a:rPr sz="200" spc="40" dirty="0">
                          <a:solidFill>
                            <a:srgbClr val="000000">
                              <a:alpha val="100000"/>
                            </a:srgbClr>
                          </a:solidFill>
                          <a:latin typeface="微软雅黑" panose="020B0503020204020204" charset="-122"/>
                          <a:ea typeface="微软雅黑" panose="020B0503020204020204" charset="-122"/>
                          <a:cs typeface="Arial" panose="020B0604020202020204"/>
                        </a:rPr>
                        <a:t>ye</a:t>
                      </a:r>
                      <a:r>
                        <a:rPr sz="200" spc="20" dirty="0">
                          <a:solidFill>
                            <a:srgbClr val="000000">
                              <a:alpha val="100000"/>
                            </a:srgbClr>
                          </a:solidFill>
                          <a:latin typeface="微软雅黑" panose="020B0503020204020204" charset="-122"/>
                          <a:ea typeface="微软雅黑" panose="020B0503020204020204" charset="-122"/>
                          <a:cs typeface="Arial" panose="020B0604020202020204"/>
                        </a:rPr>
                        <a:t>a</a:t>
                      </a:r>
                      <a:endParaRPr lang="en-US" altLang="en-US" sz="200" dirty="0">
                        <a:latin typeface="微软雅黑" panose="020B0503020204020204" charset="-122"/>
                        <a:ea typeface="微软雅黑" panose="020B0503020204020204" charset="-122"/>
                      </a:endParaRPr>
                    </a:p>
                  </a:txBody>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BFE1FF"/>
                      </a:solidFill>
                      <a:prstDash val="solid"/>
                      <a:round/>
                      <a:headEnd type="none" w="med" len="med"/>
                      <a:tailEnd type="none" w="med" len="med"/>
                    </a:lnB>
                  </a:tcPr>
                </a:tc>
                <a:tc hMerge="1">
                  <a:tcPr marL="0" marR="0" marT="0" marB="0">
                    <a:lnL>
                      <a:noFill/>
                    </a:lnL>
                    <a:lnR>
                      <a:noFill/>
                    </a:lnR>
                    <a:lnT w="3175" cap="flat" cmpd="sng" algn="ctr">
                      <a:solidFill>
                        <a:srgbClr val="000000"/>
                      </a:solidFill>
                      <a:prstDash val="solid"/>
                      <a:round/>
                      <a:headEnd type="none" w="med" len="med"/>
                      <a:tailEnd type="none" w="med" len="med"/>
                    </a:lnT>
                    <a:lnB w="3175" cap="flat" cmpd="sng" algn="ctr">
                      <a:solidFill>
                        <a:srgbClr val="BFE1FF"/>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r>
            </a:tbl>
          </a:graphicData>
        </a:graphic>
      </p:graphicFrame>
      <p:pic>
        <p:nvPicPr>
          <p:cNvPr id="898" name="picture 898"/>
          <p:cNvPicPr>
            <a:picLocks noChangeAspect="1"/>
          </p:cNvPicPr>
          <p:nvPr/>
        </p:nvPicPr>
        <p:blipFill>
          <a:blip r:embed="rId4"/>
          <a:stretch>
            <a:fillRect/>
          </a:stretch>
        </p:blipFill>
        <p:spPr>
          <a:xfrm rot="21600000">
            <a:off x="5612595" y="1581358"/>
            <a:ext cx="1761515" cy="39380"/>
          </a:xfrm>
          <a:prstGeom prst="rect">
            <a:avLst/>
          </a:prstGeom>
        </p:spPr>
      </p:pic>
      <p:pic>
        <p:nvPicPr>
          <p:cNvPr id="899" name="picture 899"/>
          <p:cNvPicPr>
            <a:picLocks noChangeAspect="1"/>
          </p:cNvPicPr>
          <p:nvPr/>
        </p:nvPicPr>
        <p:blipFill>
          <a:blip r:embed="rId5"/>
          <a:stretch>
            <a:fillRect/>
          </a:stretch>
        </p:blipFill>
        <p:spPr>
          <a:xfrm rot="21600000">
            <a:off x="5612595" y="1606036"/>
            <a:ext cx="1771869" cy="1524995"/>
          </a:xfrm>
          <a:prstGeom prst="rect">
            <a:avLst/>
          </a:prstGeom>
        </p:spPr>
      </p:pic>
      <p:sp>
        <p:nvSpPr>
          <p:cNvPr id="900" name="textbox 900"/>
          <p:cNvSpPr/>
          <p:nvPr/>
        </p:nvSpPr>
        <p:spPr>
          <a:xfrm>
            <a:off x="4483608" y="1022604"/>
            <a:ext cx="4001134" cy="397509"/>
          </a:xfrm>
          <a:prstGeom prst="rect">
            <a:avLst/>
          </a:prstGeom>
          <a:solidFill>
            <a:srgbClr val="BFE1FF"/>
          </a:solidFill>
        </p:spPr>
        <p:txBody>
          <a:bodyPr vert="horz" wrap="square" lIns="0" tIns="0" rIns="0" bIns="0"/>
          <a:lstStyle/>
          <a:p>
            <a:pPr algn="l" rtl="0" eaLnBrk="0">
              <a:lnSpc>
                <a:spcPct val="109000"/>
              </a:lnSpc>
            </a:pPr>
            <a:endParaRPr lang="en-US" altLang="en-US" sz="600" dirty="0">
              <a:latin typeface="微软雅黑" panose="020B0503020204020204" charset="-122"/>
              <a:ea typeface="微软雅黑" panose="020B0503020204020204" charset="-122"/>
            </a:endParaRPr>
          </a:p>
          <a:p>
            <a:pPr marL="76200" algn="l" rtl="0" eaLnBrk="0">
              <a:lnSpc>
                <a:spcPct val="97000"/>
              </a:lnSpc>
              <a:spcBef>
                <a:spcPts val="5"/>
              </a:spcBef>
            </a:pPr>
            <a:r>
              <a:rPr sz="1500" spc="7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库存单位</a:t>
            </a:r>
            <a:r>
              <a:rPr sz="1500" spc="7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b="1" spc="70" dirty="0">
                <a:solidFill>
                  <a:srgbClr val="000000">
                    <a:alpha val="100000"/>
                  </a:srgbClr>
                </a:solidFill>
                <a:latin typeface="微软雅黑" panose="020B0503020204020204" charset="-122"/>
                <a:ea typeface="微软雅黑" panose="020B0503020204020204" charset="-122"/>
                <a:cs typeface="Arial" panose="020B0604020202020204"/>
              </a:rPr>
              <a:t>(</a:t>
            </a:r>
            <a:r>
              <a:rPr sz="1500" b="1" spc="0" dirty="0">
                <a:solidFill>
                  <a:srgbClr val="000000">
                    <a:alpha val="100000"/>
                  </a:srgbClr>
                </a:solidFill>
                <a:latin typeface="微软雅黑" panose="020B0503020204020204" charset="-122"/>
                <a:ea typeface="微软雅黑" panose="020B0503020204020204" charset="-122"/>
                <a:cs typeface="Arial" panose="020B0604020202020204"/>
              </a:rPr>
              <a:t>SKU</a:t>
            </a:r>
            <a:r>
              <a:rPr sz="1500" b="1" spc="70" dirty="0">
                <a:solidFill>
                  <a:srgbClr val="000000">
                    <a:alpha val="100000"/>
                  </a:srgbClr>
                </a:solidFill>
                <a:latin typeface="微软雅黑" panose="020B0503020204020204" charset="-122"/>
                <a:ea typeface="微软雅黑" panose="020B0503020204020204" charset="-122"/>
                <a:cs typeface="Arial" panose="020B0604020202020204"/>
              </a:rPr>
              <a:t>)</a:t>
            </a:r>
            <a:r>
              <a:rPr sz="1500" spc="70" dirty="0">
                <a:solidFill>
                  <a:srgbClr val="000000">
                    <a:alpha val="100000"/>
                  </a:srgbClr>
                </a:solidFill>
                <a:latin typeface="微软雅黑" panose="020B0503020204020204" charset="-122"/>
                <a:ea typeface="微软雅黑" panose="020B0503020204020204" charset="-122"/>
                <a:cs typeface="Arial" panose="020B0604020202020204"/>
              </a:rPr>
              <a:t> </a:t>
            </a:r>
            <a:r>
              <a:rPr sz="1500" spc="7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管</a:t>
            </a:r>
            <a:r>
              <a:rPr sz="1500" spc="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理</a:t>
            </a:r>
            <a:endParaRPr lang="en-US" altLang="en-US" sz="1500" dirty="0">
              <a:latin typeface="微软雅黑" panose="020B0503020204020204" charset="-122"/>
              <a:ea typeface="微软雅黑" panose="020B0503020204020204" charset="-122"/>
            </a:endParaRPr>
          </a:p>
        </p:txBody>
      </p:sp>
      <p:sp>
        <p:nvSpPr>
          <p:cNvPr id="901" name="textbox 901"/>
          <p:cNvSpPr/>
          <p:nvPr/>
        </p:nvSpPr>
        <p:spPr>
          <a:xfrm>
            <a:off x="4483608" y="3598164"/>
            <a:ext cx="4001134" cy="422909"/>
          </a:xfrm>
          <a:prstGeom prst="rect">
            <a:avLst/>
          </a:prstGeom>
          <a:solidFill>
            <a:srgbClr val="BFE1FF"/>
          </a:solidFill>
        </p:spPr>
        <p:txBody>
          <a:bodyPr vert="horz" wrap="square" lIns="0" tIns="0" rIns="0" bIns="0"/>
          <a:lstStyle/>
          <a:p>
            <a:pPr algn="l" rtl="0" eaLnBrk="0">
              <a:lnSpc>
                <a:spcPct val="110000"/>
              </a:lnSpc>
            </a:pPr>
            <a:endParaRPr lang="en-US" altLang="en-US" sz="600" dirty="0">
              <a:latin typeface="微软雅黑" panose="020B0503020204020204" charset="-122"/>
              <a:ea typeface="微软雅黑" panose="020B0503020204020204" charset="-122"/>
            </a:endParaRPr>
          </a:p>
          <a:p>
            <a:pPr marL="77470" algn="l" rtl="0" eaLnBrk="0">
              <a:lnSpc>
                <a:spcPts val="1840"/>
              </a:lnSpc>
              <a:spcBef>
                <a:spcPts val="5"/>
              </a:spcBef>
            </a:pPr>
            <a:r>
              <a:rPr sz="1500" spc="10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钱包份</a:t>
            </a:r>
            <a:r>
              <a:rPr sz="1500" spc="80" dirty="0">
                <a:ln w="579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额</a:t>
            </a:r>
            <a:endParaRPr lang="en-US" altLang="en-US" sz="1500" dirty="0">
              <a:latin typeface="微软雅黑" panose="020B0503020204020204" charset="-122"/>
              <a:ea typeface="微软雅黑" panose="020B0503020204020204" charset="-122"/>
            </a:endParaRPr>
          </a:p>
        </p:txBody>
      </p:sp>
      <p:graphicFrame>
        <p:nvGraphicFramePr>
          <p:cNvPr id="903" name="table 903"/>
          <p:cNvGraphicFramePr>
            <a:graphicFrameLocks noGrp="1"/>
          </p:cNvGraphicFramePr>
          <p:nvPr/>
        </p:nvGraphicFramePr>
        <p:xfrm>
          <a:off x="6329434" y="4319498"/>
          <a:ext cx="604519" cy="1351915"/>
        </p:xfrm>
        <a:graphic>
          <a:graphicData uri="http://schemas.openxmlformats.org/drawingml/2006/table">
            <a:tbl>
              <a:tblPr/>
              <a:tblGrid>
                <a:gridCol w="604519"/>
              </a:tblGrid>
              <a:tr h="178435">
                <a:tc>
                  <a:txBody>
                    <a:bodyPr/>
                    <a:lstStyle/>
                    <a:p>
                      <a:pPr algn="l" rtl="0" eaLnBrk="0">
                        <a:lnSpc>
                          <a:spcPct val="100000"/>
                        </a:lnSpc>
                      </a:pPr>
                      <a:endParaRPr lang="en-US" altLang="en-US" sz="1000" dirty="0">
                        <a:latin typeface="微软雅黑" panose="020B0503020204020204" charset="-122"/>
                        <a:ea typeface="微软雅黑" panose="020B0503020204020204" charset="-122"/>
                      </a:endParaRPr>
                    </a:p>
                  </a:txBody>
                  <a:tcPr marL="0" marR="0" marT="0" marB="0">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BFE1FF"/>
                    </a:solidFill>
                  </a:tcPr>
                </a:tc>
              </a:tr>
              <a:tr h="404495">
                <a:tc>
                  <a:txBody>
                    <a:bodyPr/>
                    <a:lstStyle/>
                    <a:p>
                      <a:pPr algn="l" rtl="0" eaLnBrk="0">
                        <a:lnSpc>
                          <a:spcPct val="100000"/>
                        </a:lnSpc>
                      </a:pPr>
                      <a:endParaRPr lang="en-US" altLang="en-US" sz="1000" dirty="0">
                        <a:ea typeface="微软雅黑" panose="020B0503020204020204" charset="-122"/>
                      </a:endParaRPr>
                    </a:p>
                  </a:txBody>
                  <a:tcPr marL="0" marR="0" marT="0" marB="0">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BFE1FF"/>
                    </a:solidFill>
                  </a:tcPr>
                </a:tc>
              </a:tr>
              <a:tr h="266700">
                <a:tc>
                  <a:txBody>
                    <a:bodyPr/>
                    <a:lstStyle/>
                    <a:p>
                      <a:pPr algn="l" rtl="0" eaLnBrk="0">
                        <a:lnSpc>
                          <a:spcPct val="100000"/>
                        </a:lnSpc>
                      </a:pPr>
                      <a:endParaRPr lang="en-US" altLang="en-US" sz="1000" dirty="0">
                        <a:ea typeface="微软雅黑" panose="020B0503020204020204" charset="-122"/>
                      </a:endParaRPr>
                    </a:p>
                  </a:txBody>
                  <a:tcPr marL="0" marR="0" marT="0" marB="0">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C0E1FF"/>
                    </a:solidFill>
                  </a:tcPr>
                </a:tc>
              </a:tr>
              <a:tr h="502284">
                <a:tc>
                  <a:txBody>
                    <a:bodyPr/>
                    <a:lstStyle/>
                    <a:p>
                      <a:pPr algn="l" rtl="0" eaLnBrk="0">
                        <a:lnSpc>
                          <a:spcPct val="100000"/>
                        </a:lnSpc>
                      </a:pPr>
                      <a:endParaRPr lang="en-US" altLang="en-US" sz="1000" dirty="0">
                        <a:ea typeface="微软雅黑" panose="020B0503020204020204" charset="-122"/>
                      </a:endParaRPr>
                    </a:p>
                  </a:txBody>
                  <a:tcPr marL="0" marR="0" marT="0" marB="0">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0065BD"/>
                    </a:solidFill>
                  </a:tcPr>
                </a:tc>
              </a:tr>
            </a:tbl>
          </a:graphicData>
        </a:graphic>
      </p:graphicFrame>
      <p:graphicFrame>
        <p:nvGraphicFramePr>
          <p:cNvPr id="904" name="table 904"/>
          <p:cNvGraphicFramePr>
            <a:graphicFrameLocks noGrp="1"/>
          </p:cNvGraphicFramePr>
          <p:nvPr/>
        </p:nvGraphicFramePr>
        <p:xfrm>
          <a:off x="5362655" y="5385721"/>
          <a:ext cx="2538094" cy="287655"/>
        </p:xfrm>
        <a:graphic>
          <a:graphicData uri="http://schemas.openxmlformats.org/drawingml/2006/table">
            <a:tbl>
              <a:tblPr/>
              <a:tblGrid>
                <a:gridCol w="726440"/>
                <a:gridCol w="1811654"/>
              </a:tblGrid>
              <a:tr h="287654">
                <a:tc>
                  <a:txBody>
                    <a:bodyPr/>
                    <a:lstStyle/>
                    <a:p>
                      <a:pPr algn="l" rtl="0" eaLnBrk="0">
                        <a:lnSpc>
                          <a:spcPct val="100000"/>
                        </a:lnSpc>
                      </a:pPr>
                      <a:endParaRPr lang="en-US" altLang="en-US" sz="1000" dirty="0">
                        <a:latin typeface="微软雅黑" panose="020B0503020204020204" charset="-122"/>
                        <a:ea typeface="微软雅黑" panose="020B0503020204020204" charset="-122"/>
                      </a:endParaRPr>
                    </a:p>
                  </a:txBody>
                  <a:tcPr marL="0" marR="0" marT="0" marB="0">
                    <a:lnL>
                      <a:noFill/>
                    </a:lnL>
                    <a:lnR w="3175" cap="flat" cmpd="sng" algn="ctr">
                      <a:solidFill>
                        <a:srgbClr val="FFFFFF"/>
                      </a:solidFill>
                      <a:prstDash val="solid"/>
                      <a:round/>
                      <a:headEnd type="none" w="med" len="med"/>
                      <a:tailEnd type="none" w="med" len="med"/>
                    </a:lnR>
                    <a:lnT>
                      <a:noFill/>
                    </a:lnT>
                    <a:lnB w="3175" cap="flat" cmpd="sng" algn="ctr">
                      <a:solidFill>
                        <a:srgbClr val="808080"/>
                      </a:solidFill>
                      <a:prstDash val="solid"/>
                      <a:round/>
                      <a:headEnd type="none" w="med" len="med"/>
                      <a:tailEnd type="none" w="med" len="med"/>
                    </a:lnB>
                    <a:solidFill>
                      <a:srgbClr val="0669BE"/>
                    </a:solidFill>
                  </a:tcPr>
                </a:tc>
                <a:tc>
                  <a:txBody>
                    <a:bodyPr/>
                    <a:lstStyle/>
                    <a:p>
                      <a:pPr algn="l" rtl="0" eaLnBrk="0">
                        <a:lnSpc>
                          <a:spcPct val="100000"/>
                        </a:lnSpc>
                      </a:pPr>
                      <a:endParaRPr lang="en-US" altLang="en-US" sz="1000" dirty="0">
                        <a:ea typeface="微软雅黑" panose="020B0503020204020204" charset="-122"/>
                      </a:endParaRPr>
                    </a:p>
                  </a:txBody>
                  <a:tcPr marL="0" marR="0" marT="0" marB="0">
                    <a:lnL w="3175" cap="flat" cmpd="sng" algn="ctr">
                      <a:solidFill>
                        <a:srgbClr val="FFFFFF"/>
                      </a:solidFill>
                      <a:prstDash val="solid"/>
                      <a:round/>
                      <a:headEnd type="none" w="med" len="med"/>
                      <a:tailEnd type="none" w="med" len="med"/>
                    </a:lnL>
                    <a:lnR>
                      <a:noFill/>
                    </a:lnR>
                    <a:lnT>
                      <a:noFill/>
                    </a:lnT>
                    <a:lnB w="3175" cap="flat" cmpd="sng" algn="ctr">
                      <a:solidFill>
                        <a:srgbClr val="808080"/>
                      </a:solidFill>
                      <a:prstDash val="solid"/>
                      <a:round/>
                      <a:headEnd type="none" w="med" len="med"/>
                      <a:tailEnd type="none" w="med" len="med"/>
                    </a:lnB>
                  </a:tcPr>
                </a:tc>
              </a:tr>
            </a:tbl>
          </a:graphicData>
        </a:graphic>
      </p:graphicFrame>
      <p:grpSp>
        <p:nvGrpSpPr>
          <p:cNvPr id="192" name="group 192"/>
          <p:cNvGrpSpPr/>
          <p:nvPr/>
        </p:nvGrpSpPr>
        <p:grpSpPr>
          <a:xfrm rot="21600000">
            <a:off x="7172295" y="5571441"/>
            <a:ext cx="609859" cy="99978"/>
            <a:chOff x="0" y="0"/>
            <a:chExt cx="609859" cy="99978"/>
          </a:xfrm>
        </p:grpSpPr>
        <p:sp>
          <p:nvSpPr>
            <p:cNvPr id="905" name="path"/>
            <p:cNvSpPr/>
            <p:nvPr/>
          </p:nvSpPr>
          <p:spPr>
            <a:xfrm>
              <a:off x="605104" y="2372"/>
              <a:ext cx="4754" cy="95232"/>
            </a:xfrm>
            <a:custGeom>
              <a:avLst/>
              <a:gdLst/>
              <a:ahLst/>
              <a:cxnLst/>
              <a:rect l="0" t="0" r="0" b="0"/>
              <a:pathLst>
                <a:path w="7" h="149">
                  <a:moveTo>
                    <a:pt x="3" y="149"/>
                  </a:moveTo>
                  <a:lnTo>
                    <a:pt x="3" y="0"/>
                  </a:lnTo>
                </a:path>
              </a:pathLst>
            </a:custGeom>
            <a:noFill/>
            <a:ln w="4750" cap="flat">
              <a:solidFill>
                <a:srgbClr val="FFFFFF">
                  <a:alpha val="100000"/>
                </a:srgbClr>
              </a:solidFill>
              <a:prstDash val="solid"/>
              <a:round/>
            </a:ln>
          </p:spPr>
          <p:txBody>
            <a:bodyPr rtlCol="0"/>
            <a:lstStyle/>
            <a:p>
              <a:pPr algn="ctr"/>
              <a:endParaRPr lang="zh-CN" altLang="en-US"/>
            </a:p>
          </p:txBody>
        </p:sp>
        <p:sp>
          <p:nvSpPr>
            <p:cNvPr id="906" name="path"/>
            <p:cNvSpPr/>
            <p:nvPr/>
          </p:nvSpPr>
          <p:spPr>
            <a:xfrm>
              <a:off x="0" y="0"/>
              <a:ext cx="609859" cy="99978"/>
            </a:xfrm>
            <a:custGeom>
              <a:avLst/>
              <a:gdLst/>
              <a:ahLst/>
              <a:cxnLst/>
              <a:rect l="0" t="0" r="0" b="0"/>
              <a:pathLst>
                <a:path w="960" h="157">
                  <a:moveTo>
                    <a:pt x="3" y="153"/>
                  </a:moveTo>
                  <a:moveTo>
                    <a:pt x="3" y="153"/>
                  </a:moveTo>
                  <a:lnTo>
                    <a:pt x="956" y="153"/>
                  </a:lnTo>
                  <a:lnTo>
                    <a:pt x="956" y="3"/>
                  </a:lnTo>
                  <a:lnTo>
                    <a:pt x="3" y="3"/>
                  </a:lnTo>
                  <a:lnTo>
                    <a:pt x="3" y="153"/>
                  </a:lnTo>
                  <a:close/>
                </a:path>
              </a:pathLst>
            </a:custGeom>
            <a:solidFill>
              <a:srgbClr val="0065BD">
                <a:alpha val="100000"/>
              </a:srgbClr>
            </a:solidFill>
            <a:ln cap="flat">
              <a:noFill/>
              <a:prstDash val="solid"/>
              <a:miter lim="0"/>
            </a:ln>
          </p:spPr>
          <p:txBody>
            <a:bodyPr rtlCol="0"/>
            <a:lstStyle/>
            <a:p>
              <a:pPr algn="ctr"/>
              <a:endParaRPr lang="zh-CN" altLang="en-US"/>
            </a:p>
          </p:txBody>
        </p:sp>
        <p:sp>
          <p:nvSpPr>
            <p:cNvPr id="907" name="path"/>
            <p:cNvSpPr/>
            <p:nvPr/>
          </p:nvSpPr>
          <p:spPr>
            <a:xfrm>
              <a:off x="0" y="0"/>
              <a:ext cx="609859" cy="99978"/>
            </a:xfrm>
            <a:custGeom>
              <a:avLst/>
              <a:gdLst/>
              <a:ahLst/>
              <a:cxnLst/>
              <a:rect l="0" t="0" r="0" b="0"/>
              <a:pathLst>
                <a:path w="960" h="157">
                  <a:moveTo>
                    <a:pt x="3" y="3"/>
                  </a:moveTo>
                  <a:lnTo>
                    <a:pt x="3" y="153"/>
                  </a:lnTo>
                  <a:close/>
                </a:path>
              </a:pathLst>
            </a:custGeom>
            <a:noFill/>
            <a:ln w="4750" cap="flat">
              <a:solidFill>
                <a:srgbClr val="FFFFFF">
                  <a:alpha val="100000"/>
                </a:srgbClr>
              </a:solidFill>
              <a:prstDash val="solid"/>
              <a:round/>
            </a:ln>
          </p:spPr>
          <p:txBody>
            <a:bodyPr rtlCol="0"/>
            <a:lstStyle/>
            <a:p>
              <a:pPr algn="ctr"/>
              <a:endParaRPr lang="zh-CN" altLang="en-US"/>
            </a:p>
          </p:txBody>
        </p:sp>
      </p:grpSp>
      <p:graphicFrame>
        <p:nvGraphicFramePr>
          <p:cNvPr id="908" name="table 908"/>
          <p:cNvGraphicFramePr>
            <a:graphicFrameLocks noGrp="1"/>
          </p:cNvGraphicFramePr>
          <p:nvPr/>
        </p:nvGraphicFramePr>
        <p:xfrm>
          <a:off x="7172295" y="4319498"/>
          <a:ext cx="609600" cy="1256664"/>
        </p:xfrm>
        <a:graphic>
          <a:graphicData uri="http://schemas.openxmlformats.org/drawingml/2006/table">
            <a:tbl>
              <a:tblPr/>
              <a:tblGrid>
                <a:gridCol w="609600"/>
              </a:tblGrid>
              <a:tr h="716280">
                <a:tc>
                  <a:txBody>
                    <a:bodyPr/>
                    <a:lstStyle/>
                    <a:p>
                      <a:pPr algn="l" rtl="0" eaLnBrk="0">
                        <a:lnSpc>
                          <a:spcPct val="100000"/>
                        </a:lnSpc>
                      </a:pPr>
                      <a:endParaRPr lang="en-US" altLang="en-US" sz="1000" dirty="0">
                        <a:latin typeface="微软雅黑" panose="020B0503020204020204" charset="-122"/>
                        <a:ea typeface="微软雅黑" panose="020B0503020204020204" charset="-122"/>
                      </a:endParaRPr>
                    </a:p>
                  </a:txBody>
                  <a:tcPr marL="0" marR="0" marT="0" marB="0">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BFE1FF"/>
                    </a:solidFill>
                  </a:tcPr>
                </a:tc>
              </a:tr>
              <a:tr h="271144">
                <a:tc>
                  <a:txBody>
                    <a:bodyPr/>
                    <a:lstStyle/>
                    <a:p>
                      <a:pPr algn="l" rtl="0" eaLnBrk="0">
                        <a:lnSpc>
                          <a:spcPct val="100000"/>
                        </a:lnSpc>
                      </a:pPr>
                      <a:endParaRPr lang="en-US" altLang="en-US" sz="1000" dirty="0">
                        <a:ea typeface="微软雅黑" panose="020B0503020204020204" charset="-122"/>
                      </a:endParaRPr>
                    </a:p>
                  </a:txBody>
                  <a:tcPr marL="0" marR="0" marT="0" marB="0">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BFE1FF"/>
                    </a:solidFill>
                  </a:tcPr>
                </a:tc>
              </a:tr>
              <a:tr h="269239">
                <a:tc>
                  <a:txBody>
                    <a:bodyPr/>
                    <a:lstStyle/>
                    <a:p>
                      <a:pPr algn="l" rtl="0" eaLnBrk="0">
                        <a:lnSpc>
                          <a:spcPct val="100000"/>
                        </a:lnSpc>
                      </a:pPr>
                      <a:endParaRPr lang="en-US" altLang="en-US" sz="1000" dirty="0">
                        <a:ea typeface="微软雅黑" panose="020B0503020204020204" charset="-122"/>
                      </a:endParaRPr>
                    </a:p>
                  </a:txBody>
                  <a:tcPr marL="0" marR="0" marT="0" marB="0">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BFE1FF"/>
                    </a:solidFill>
                  </a:tcPr>
                </a:tc>
              </a:tr>
            </a:tbl>
          </a:graphicData>
        </a:graphic>
      </p:graphicFrame>
      <p:sp>
        <p:nvSpPr>
          <p:cNvPr id="909" name="textbox 909"/>
          <p:cNvSpPr/>
          <p:nvPr/>
        </p:nvSpPr>
        <p:spPr>
          <a:xfrm>
            <a:off x="449894" y="248992"/>
            <a:ext cx="2815589" cy="312420"/>
          </a:xfrm>
          <a:prstGeom prst="rect">
            <a:avLst/>
          </a:prstGeom>
        </p:spPr>
        <p:txBody>
          <a:bodyPr vert="horz" wrap="square" lIns="0" tIns="0" rIns="0" bIns="0"/>
          <a:lstStyle/>
          <a:p>
            <a:pPr algn="l" rtl="0" eaLnBrk="0">
              <a:lnSpc>
                <a:spcPct val="85000"/>
              </a:lnSpc>
            </a:pPr>
            <a:endParaRPr lang="en-US" altLang="en-US" sz="100" dirty="0">
              <a:latin typeface="微软雅黑" panose="020B0503020204020204" charset="-122"/>
              <a:ea typeface="微软雅黑" panose="020B0503020204020204" charset="-122"/>
            </a:endParaRPr>
          </a:p>
          <a:p>
            <a:pPr marL="12700" algn="l" rtl="0" eaLnBrk="0">
              <a:lnSpc>
                <a:spcPct val="94000"/>
              </a:lnSpc>
            </a:pPr>
            <a:r>
              <a:rPr sz="2000" spc="-10" dirty="0">
                <a:solidFill>
                  <a:srgbClr val="002960">
                    <a:alpha val="100000"/>
                  </a:srgbClr>
                </a:solidFill>
                <a:latin typeface="微软雅黑" panose="020B0503020204020204" charset="-122"/>
                <a:ea typeface="微软雅黑" panose="020B0503020204020204" charset="-122"/>
                <a:cs typeface="楷体" panose="02010609060101010101" charset="-122"/>
              </a:rPr>
              <a:t>客户关</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键经济指标的分析</a:t>
            </a:r>
            <a:endParaRPr lang="en-US" altLang="en-US" sz="2000" dirty="0">
              <a:latin typeface="微软雅黑" panose="020B0503020204020204" charset="-122"/>
              <a:ea typeface="微软雅黑" panose="020B0503020204020204" charset="-122"/>
            </a:endParaRPr>
          </a:p>
        </p:txBody>
      </p:sp>
      <p:graphicFrame>
        <p:nvGraphicFramePr>
          <p:cNvPr id="910" name="table 910"/>
          <p:cNvGraphicFramePr>
            <a:graphicFrameLocks noGrp="1"/>
          </p:cNvGraphicFramePr>
          <p:nvPr/>
        </p:nvGraphicFramePr>
        <p:xfrm>
          <a:off x="5481514" y="4319498"/>
          <a:ext cx="609600" cy="1070610"/>
        </p:xfrm>
        <a:graphic>
          <a:graphicData uri="http://schemas.openxmlformats.org/drawingml/2006/table">
            <a:tbl>
              <a:tblPr/>
              <a:tblGrid>
                <a:gridCol w="609600"/>
              </a:tblGrid>
              <a:tr h="259714">
                <a:tc>
                  <a:txBody>
                    <a:bodyPr/>
                    <a:lstStyle/>
                    <a:p>
                      <a:pPr algn="l" rtl="0" eaLnBrk="0">
                        <a:lnSpc>
                          <a:spcPct val="100000"/>
                        </a:lnSpc>
                      </a:pPr>
                      <a:endParaRPr lang="en-US" altLang="en-US" sz="1000" dirty="0">
                        <a:latin typeface="微软雅黑" panose="020B0503020204020204" charset="-122"/>
                        <a:ea typeface="微软雅黑" panose="020B0503020204020204" charset="-122"/>
                      </a:endParaRPr>
                    </a:p>
                  </a:txBody>
                  <a:tcPr marL="0" marR="0" marT="0" marB="0">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BFE1FF"/>
                    </a:solidFill>
                  </a:tcPr>
                </a:tc>
              </a:tr>
              <a:tr h="537209">
                <a:tc>
                  <a:txBody>
                    <a:bodyPr/>
                    <a:lstStyle/>
                    <a:p>
                      <a:pPr algn="l" rtl="0" eaLnBrk="0">
                        <a:lnSpc>
                          <a:spcPct val="100000"/>
                        </a:lnSpc>
                      </a:pPr>
                      <a:endParaRPr lang="en-US" altLang="en-US" sz="1000" dirty="0">
                        <a:ea typeface="微软雅黑" panose="020B0503020204020204" charset="-122"/>
                      </a:endParaRPr>
                    </a:p>
                  </a:txBody>
                  <a:tcPr marL="0" marR="0" marT="0" marB="0">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BFE1FF"/>
                    </a:solidFill>
                  </a:tcPr>
                </a:tc>
              </a:tr>
              <a:tr h="273684">
                <a:tc>
                  <a:txBody>
                    <a:bodyPr/>
                    <a:lstStyle/>
                    <a:p>
                      <a:pPr algn="l" rtl="0" eaLnBrk="0">
                        <a:lnSpc>
                          <a:spcPct val="100000"/>
                        </a:lnSpc>
                      </a:pPr>
                      <a:endParaRPr lang="en-US" altLang="en-US" sz="1000" dirty="0">
                        <a:ea typeface="微软雅黑" panose="020B0503020204020204" charset="-122"/>
                      </a:endParaRPr>
                    </a:p>
                  </a:txBody>
                  <a:tcPr marL="0" marR="0" marT="0" marB="0">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BFE1FF"/>
                    </a:solidFill>
                  </a:tcPr>
                </a:tc>
              </a:tr>
            </a:tbl>
          </a:graphicData>
        </a:graphic>
      </p:graphicFrame>
      <p:pic>
        <p:nvPicPr>
          <p:cNvPr id="911" name="picture 911"/>
          <p:cNvPicPr>
            <a:picLocks noChangeAspect="1"/>
          </p:cNvPicPr>
          <p:nvPr/>
        </p:nvPicPr>
        <p:blipFill>
          <a:blip r:embed="rId6"/>
          <a:stretch>
            <a:fillRect/>
          </a:stretch>
        </p:blipFill>
        <p:spPr>
          <a:xfrm rot="21600000">
            <a:off x="5587374" y="2284349"/>
            <a:ext cx="1797091" cy="153255"/>
          </a:xfrm>
          <a:prstGeom prst="rect">
            <a:avLst/>
          </a:prstGeom>
        </p:spPr>
      </p:pic>
      <p:sp>
        <p:nvSpPr>
          <p:cNvPr id="912" name="path"/>
          <p:cNvSpPr/>
          <p:nvPr/>
        </p:nvSpPr>
        <p:spPr>
          <a:xfrm>
            <a:off x="6137931" y="2224951"/>
            <a:ext cx="40155" cy="39380"/>
          </a:xfrm>
          <a:custGeom>
            <a:avLst/>
            <a:gdLst/>
            <a:ahLst/>
            <a:cxnLst/>
            <a:rect l="0" t="0" r="0" b="0"/>
            <a:pathLst>
              <a:path w="63" h="62">
                <a:moveTo>
                  <a:pt x="7" y="23"/>
                </a:moveTo>
                <a:cubicBezTo>
                  <a:pt x="7" y="38"/>
                  <a:pt x="7" y="54"/>
                  <a:pt x="24" y="54"/>
                </a:cubicBezTo>
                <a:cubicBezTo>
                  <a:pt x="39" y="54"/>
                  <a:pt x="55" y="38"/>
                  <a:pt x="55" y="23"/>
                </a:cubicBezTo>
                <a:cubicBezTo>
                  <a:pt x="55" y="7"/>
                  <a:pt x="39" y="7"/>
                  <a:pt x="24"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13" name="path"/>
          <p:cNvSpPr/>
          <p:nvPr/>
        </p:nvSpPr>
        <p:spPr>
          <a:xfrm>
            <a:off x="5977974" y="2472390"/>
            <a:ext cx="50110" cy="217904"/>
          </a:xfrm>
          <a:custGeom>
            <a:avLst/>
            <a:gdLst/>
            <a:ahLst/>
            <a:cxnLst/>
            <a:rect l="0" t="0" r="0" b="0"/>
            <a:pathLst>
              <a:path w="78" h="343">
                <a:moveTo>
                  <a:pt x="7" y="304"/>
                </a:moveTo>
                <a:cubicBezTo>
                  <a:pt x="7" y="319"/>
                  <a:pt x="7" y="335"/>
                  <a:pt x="23" y="335"/>
                </a:cubicBezTo>
                <a:cubicBezTo>
                  <a:pt x="39" y="335"/>
                  <a:pt x="54" y="319"/>
                  <a:pt x="54" y="304"/>
                </a:cubicBezTo>
                <a:cubicBezTo>
                  <a:pt x="54" y="288"/>
                  <a:pt x="39" y="288"/>
                  <a:pt x="23" y="288"/>
                </a:cubicBezTo>
                <a:cubicBezTo>
                  <a:pt x="7" y="288"/>
                  <a:pt x="7" y="288"/>
                  <a:pt x="7" y="304"/>
                </a:cubicBezTo>
              </a:path>
              <a:path w="78" h="343">
                <a:moveTo>
                  <a:pt x="23" y="23"/>
                </a:moveTo>
                <a:cubicBezTo>
                  <a:pt x="23" y="39"/>
                  <a:pt x="23" y="54"/>
                  <a:pt x="39" y="54"/>
                </a:cubicBezTo>
                <a:cubicBezTo>
                  <a:pt x="54" y="54"/>
                  <a:pt x="71" y="39"/>
                  <a:pt x="71" y="23"/>
                </a:cubicBezTo>
                <a:cubicBezTo>
                  <a:pt x="71" y="7"/>
                  <a:pt x="54" y="7"/>
                  <a:pt x="39" y="7"/>
                </a:cubicBezTo>
                <a:cubicBezTo>
                  <a:pt x="23" y="7"/>
                  <a:pt x="23" y="7"/>
                  <a:pt x="23"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14" name="path"/>
          <p:cNvSpPr/>
          <p:nvPr/>
        </p:nvSpPr>
        <p:spPr>
          <a:xfrm>
            <a:off x="5997886" y="2314213"/>
            <a:ext cx="50110" cy="286819"/>
          </a:xfrm>
          <a:custGeom>
            <a:avLst/>
            <a:gdLst/>
            <a:ahLst/>
            <a:cxnLst/>
            <a:rect l="0" t="0" r="0" b="0"/>
            <a:pathLst>
              <a:path w="78" h="451">
                <a:moveTo>
                  <a:pt x="7" y="412"/>
                </a:moveTo>
                <a:cubicBezTo>
                  <a:pt x="7" y="428"/>
                  <a:pt x="7" y="443"/>
                  <a:pt x="23" y="443"/>
                </a:cubicBezTo>
                <a:cubicBezTo>
                  <a:pt x="39" y="443"/>
                  <a:pt x="55" y="428"/>
                  <a:pt x="55" y="412"/>
                </a:cubicBezTo>
                <a:cubicBezTo>
                  <a:pt x="55" y="397"/>
                  <a:pt x="39" y="397"/>
                  <a:pt x="23" y="397"/>
                </a:cubicBezTo>
                <a:cubicBezTo>
                  <a:pt x="7" y="397"/>
                  <a:pt x="7" y="397"/>
                  <a:pt x="7" y="412"/>
                </a:cubicBezTo>
              </a:path>
              <a:path w="78" h="451">
                <a:moveTo>
                  <a:pt x="7" y="23"/>
                </a:moveTo>
                <a:cubicBezTo>
                  <a:pt x="7" y="38"/>
                  <a:pt x="7" y="54"/>
                  <a:pt x="23" y="54"/>
                </a:cubicBezTo>
                <a:cubicBezTo>
                  <a:pt x="39" y="54"/>
                  <a:pt x="55" y="38"/>
                  <a:pt x="55" y="23"/>
                </a:cubicBezTo>
                <a:cubicBezTo>
                  <a:pt x="55" y="7"/>
                  <a:pt x="39" y="7"/>
                  <a:pt x="23" y="7"/>
                </a:cubicBezTo>
                <a:cubicBezTo>
                  <a:pt x="7" y="7"/>
                  <a:pt x="7" y="7"/>
                  <a:pt x="7" y="23"/>
                </a:cubicBezTo>
              </a:path>
              <a:path w="78" h="451">
                <a:moveTo>
                  <a:pt x="23" y="101"/>
                </a:moveTo>
                <a:cubicBezTo>
                  <a:pt x="23" y="116"/>
                  <a:pt x="23" y="132"/>
                  <a:pt x="39" y="132"/>
                </a:cubicBezTo>
                <a:cubicBezTo>
                  <a:pt x="55" y="132"/>
                  <a:pt x="71" y="116"/>
                  <a:pt x="71" y="101"/>
                </a:cubicBezTo>
                <a:cubicBezTo>
                  <a:pt x="71" y="85"/>
                  <a:pt x="55" y="85"/>
                  <a:pt x="39" y="85"/>
                </a:cubicBezTo>
                <a:cubicBezTo>
                  <a:pt x="23" y="85"/>
                  <a:pt x="23" y="85"/>
                  <a:pt x="23" y="101"/>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15" name="path"/>
          <p:cNvSpPr/>
          <p:nvPr/>
        </p:nvSpPr>
        <p:spPr>
          <a:xfrm>
            <a:off x="6007841" y="2363438"/>
            <a:ext cx="40155" cy="39708"/>
          </a:xfrm>
          <a:custGeom>
            <a:avLst/>
            <a:gdLst/>
            <a:ahLst/>
            <a:cxnLst/>
            <a:rect l="0" t="0" r="0" b="0"/>
            <a:pathLst>
              <a:path w="63" h="62">
                <a:moveTo>
                  <a:pt x="7" y="23"/>
                </a:moveTo>
                <a:cubicBezTo>
                  <a:pt x="7" y="39"/>
                  <a:pt x="7" y="54"/>
                  <a:pt x="24" y="54"/>
                </a:cubicBezTo>
                <a:cubicBezTo>
                  <a:pt x="39" y="54"/>
                  <a:pt x="55" y="39"/>
                  <a:pt x="55" y="23"/>
                </a:cubicBezTo>
                <a:cubicBezTo>
                  <a:pt x="55" y="7"/>
                  <a:pt x="39" y="7"/>
                  <a:pt x="24"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16" name="path"/>
          <p:cNvSpPr/>
          <p:nvPr/>
        </p:nvSpPr>
        <p:spPr>
          <a:xfrm>
            <a:off x="6007841" y="2393301"/>
            <a:ext cx="40155" cy="99107"/>
          </a:xfrm>
          <a:custGeom>
            <a:avLst/>
            <a:gdLst/>
            <a:ahLst/>
            <a:cxnLst/>
            <a:rect l="0" t="0" r="0" b="0"/>
            <a:pathLst>
              <a:path w="63" h="156">
                <a:moveTo>
                  <a:pt x="7" y="116"/>
                </a:moveTo>
                <a:cubicBezTo>
                  <a:pt x="7" y="132"/>
                  <a:pt x="7" y="148"/>
                  <a:pt x="24" y="148"/>
                </a:cubicBezTo>
                <a:cubicBezTo>
                  <a:pt x="39" y="148"/>
                  <a:pt x="55" y="132"/>
                  <a:pt x="55" y="116"/>
                </a:cubicBezTo>
                <a:cubicBezTo>
                  <a:pt x="55" y="101"/>
                  <a:pt x="39" y="101"/>
                  <a:pt x="24" y="101"/>
                </a:cubicBezTo>
                <a:cubicBezTo>
                  <a:pt x="7" y="101"/>
                  <a:pt x="7" y="101"/>
                  <a:pt x="7" y="116"/>
                </a:cubicBezTo>
              </a:path>
              <a:path w="63" h="156">
                <a:moveTo>
                  <a:pt x="7" y="23"/>
                </a:moveTo>
                <a:cubicBezTo>
                  <a:pt x="7" y="38"/>
                  <a:pt x="7" y="54"/>
                  <a:pt x="24" y="54"/>
                </a:cubicBezTo>
                <a:cubicBezTo>
                  <a:pt x="39" y="54"/>
                  <a:pt x="55" y="38"/>
                  <a:pt x="55" y="23"/>
                </a:cubicBezTo>
                <a:cubicBezTo>
                  <a:pt x="55" y="7"/>
                  <a:pt x="39" y="7"/>
                  <a:pt x="24"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17" name="path"/>
          <p:cNvSpPr/>
          <p:nvPr/>
        </p:nvSpPr>
        <p:spPr>
          <a:xfrm>
            <a:off x="6018129" y="2383456"/>
            <a:ext cx="39823" cy="247439"/>
          </a:xfrm>
          <a:custGeom>
            <a:avLst/>
            <a:gdLst/>
            <a:ahLst/>
            <a:cxnLst/>
            <a:rect l="0" t="0" r="0" b="0"/>
            <a:pathLst>
              <a:path w="62" h="389">
                <a:moveTo>
                  <a:pt x="7" y="23"/>
                </a:moveTo>
                <a:cubicBezTo>
                  <a:pt x="7" y="38"/>
                  <a:pt x="7" y="54"/>
                  <a:pt x="23" y="54"/>
                </a:cubicBezTo>
                <a:cubicBezTo>
                  <a:pt x="39" y="54"/>
                  <a:pt x="54" y="38"/>
                  <a:pt x="54" y="23"/>
                </a:cubicBezTo>
                <a:cubicBezTo>
                  <a:pt x="54" y="7"/>
                  <a:pt x="39" y="7"/>
                  <a:pt x="23" y="7"/>
                </a:cubicBezTo>
                <a:cubicBezTo>
                  <a:pt x="7" y="7"/>
                  <a:pt x="7" y="7"/>
                  <a:pt x="7" y="23"/>
                </a:cubicBezTo>
              </a:path>
              <a:path w="62" h="389">
                <a:moveTo>
                  <a:pt x="7" y="350"/>
                </a:moveTo>
                <a:cubicBezTo>
                  <a:pt x="7" y="366"/>
                  <a:pt x="7" y="381"/>
                  <a:pt x="23" y="381"/>
                </a:cubicBezTo>
                <a:cubicBezTo>
                  <a:pt x="39" y="381"/>
                  <a:pt x="54" y="366"/>
                  <a:pt x="54" y="350"/>
                </a:cubicBezTo>
                <a:cubicBezTo>
                  <a:pt x="54" y="334"/>
                  <a:pt x="39" y="334"/>
                  <a:pt x="23" y="334"/>
                </a:cubicBezTo>
                <a:cubicBezTo>
                  <a:pt x="7" y="334"/>
                  <a:pt x="7" y="334"/>
                  <a:pt x="7" y="350"/>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18" name="path"/>
          <p:cNvSpPr/>
          <p:nvPr/>
        </p:nvSpPr>
        <p:spPr>
          <a:xfrm>
            <a:off x="6018129" y="2333903"/>
            <a:ext cx="39823" cy="108952"/>
          </a:xfrm>
          <a:custGeom>
            <a:avLst/>
            <a:gdLst/>
            <a:ahLst/>
            <a:cxnLst/>
            <a:rect l="0" t="0" r="0" b="0"/>
            <a:pathLst>
              <a:path w="62" h="171">
                <a:moveTo>
                  <a:pt x="7" y="23"/>
                </a:moveTo>
                <a:cubicBezTo>
                  <a:pt x="7" y="38"/>
                  <a:pt x="7" y="54"/>
                  <a:pt x="23" y="54"/>
                </a:cubicBezTo>
                <a:cubicBezTo>
                  <a:pt x="39" y="54"/>
                  <a:pt x="54" y="38"/>
                  <a:pt x="54" y="23"/>
                </a:cubicBezTo>
                <a:cubicBezTo>
                  <a:pt x="54" y="7"/>
                  <a:pt x="39" y="7"/>
                  <a:pt x="23" y="7"/>
                </a:cubicBezTo>
                <a:cubicBezTo>
                  <a:pt x="7" y="7"/>
                  <a:pt x="7" y="7"/>
                  <a:pt x="7" y="23"/>
                </a:cubicBezTo>
              </a:path>
              <a:path w="62" h="171">
                <a:moveTo>
                  <a:pt x="7" y="132"/>
                </a:moveTo>
                <a:cubicBezTo>
                  <a:pt x="7" y="147"/>
                  <a:pt x="7" y="163"/>
                  <a:pt x="23" y="163"/>
                </a:cubicBezTo>
                <a:cubicBezTo>
                  <a:pt x="39" y="163"/>
                  <a:pt x="54" y="147"/>
                  <a:pt x="54" y="132"/>
                </a:cubicBezTo>
                <a:cubicBezTo>
                  <a:pt x="54" y="116"/>
                  <a:pt x="39" y="116"/>
                  <a:pt x="23" y="116"/>
                </a:cubicBezTo>
                <a:cubicBezTo>
                  <a:pt x="7" y="116"/>
                  <a:pt x="7" y="116"/>
                  <a:pt x="7" y="132"/>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19" name="path"/>
          <p:cNvSpPr/>
          <p:nvPr/>
        </p:nvSpPr>
        <p:spPr>
          <a:xfrm>
            <a:off x="6028085" y="2383456"/>
            <a:ext cx="39823" cy="108952"/>
          </a:xfrm>
          <a:custGeom>
            <a:avLst/>
            <a:gdLst/>
            <a:ahLst/>
            <a:cxnLst/>
            <a:rect l="0" t="0" r="0" b="0"/>
            <a:pathLst>
              <a:path w="62" h="171">
                <a:moveTo>
                  <a:pt x="7" y="23"/>
                </a:moveTo>
                <a:cubicBezTo>
                  <a:pt x="7" y="38"/>
                  <a:pt x="7" y="54"/>
                  <a:pt x="23" y="54"/>
                </a:cubicBezTo>
                <a:cubicBezTo>
                  <a:pt x="39" y="54"/>
                  <a:pt x="54" y="38"/>
                  <a:pt x="54" y="23"/>
                </a:cubicBezTo>
                <a:cubicBezTo>
                  <a:pt x="54" y="7"/>
                  <a:pt x="39" y="7"/>
                  <a:pt x="23" y="7"/>
                </a:cubicBezTo>
                <a:cubicBezTo>
                  <a:pt x="7" y="7"/>
                  <a:pt x="7" y="7"/>
                  <a:pt x="7" y="23"/>
                </a:cubicBezTo>
              </a:path>
              <a:path w="62" h="171">
                <a:moveTo>
                  <a:pt x="7" y="132"/>
                </a:moveTo>
                <a:cubicBezTo>
                  <a:pt x="7" y="147"/>
                  <a:pt x="7" y="163"/>
                  <a:pt x="23" y="163"/>
                </a:cubicBezTo>
                <a:cubicBezTo>
                  <a:pt x="39" y="163"/>
                  <a:pt x="54" y="147"/>
                  <a:pt x="54" y="132"/>
                </a:cubicBezTo>
                <a:cubicBezTo>
                  <a:pt x="54" y="116"/>
                  <a:pt x="39" y="116"/>
                  <a:pt x="23" y="116"/>
                </a:cubicBezTo>
                <a:cubicBezTo>
                  <a:pt x="7" y="116"/>
                  <a:pt x="7" y="116"/>
                  <a:pt x="7" y="132"/>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20" name="path"/>
          <p:cNvSpPr/>
          <p:nvPr/>
        </p:nvSpPr>
        <p:spPr>
          <a:xfrm>
            <a:off x="6028085" y="2541962"/>
            <a:ext cx="39823" cy="39380"/>
          </a:xfrm>
          <a:custGeom>
            <a:avLst/>
            <a:gdLst/>
            <a:ahLst/>
            <a:cxnLst/>
            <a:rect l="0" t="0" r="0" b="0"/>
            <a:pathLst>
              <a:path w="62" h="62">
                <a:moveTo>
                  <a:pt x="7" y="23"/>
                </a:moveTo>
                <a:cubicBezTo>
                  <a:pt x="7" y="38"/>
                  <a:pt x="7" y="54"/>
                  <a:pt x="23" y="54"/>
                </a:cubicBezTo>
                <a:cubicBezTo>
                  <a:pt x="39" y="54"/>
                  <a:pt x="54" y="38"/>
                  <a:pt x="54" y="23"/>
                </a:cubicBezTo>
                <a:cubicBezTo>
                  <a:pt x="54" y="7"/>
                  <a:pt x="39" y="7"/>
                  <a:pt x="23"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21" name="path"/>
          <p:cNvSpPr/>
          <p:nvPr/>
        </p:nvSpPr>
        <p:spPr>
          <a:xfrm>
            <a:off x="6038041" y="2224951"/>
            <a:ext cx="39823" cy="386255"/>
          </a:xfrm>
          <a:custGeom>
            <a:avLst/>
            <a:gdLst/>
            <a:ahLst/>
            <a:cxnLst/>
            <a:rect l="0" t="0" r="0" b="0"/>
            <a:pathLst>
              <a:path w="62" h="608">
                <a:moveTo>
                  <a:pt x="7" y="23"/>
                </a:moveTo>
                <a:cubicBezTo>
                  <a:pt x="7" y="38"/>
                  <a:pt x="7" y="54"/>
                  <a:pt x="23" y="54"/>
                </a:cubicBezTo>
                <a:cubicBezTo>
                  <a:pt x="39" y="54"/>
                  <a:pt x="54" y="38"/>
                  <a:pt x="54" y="23"/>
                </a:cubicBezTo>
                <a:cubicBezTo>
                  <a:pt x="54" y="7"/>
                  <a:pt x="39" y="7"/>
                  <a:pt x="23" y="7"/>
                </a:cubicBezTo>
                <a:cubicBezTo>
                  <a:pt x="7" y="7"/>
                  <a:pt x="7" y="7"/>
                  <a:pt x="7" y="23"/>
                </a:cubicBezTo>
              </a:path>
              <a:path w="62" h="608">
                <a:moveTo>
                  <a:pt x="7" y="568"/>
                </a:moveTo>
                <a:cubicBezTo>
                  <a:pt x="7" y="584"/>
                  <a:pt x="7" y="600"/>
                  <a:pt x="23" y="600"/>
                </a:cubicBezTo>
                <a:cubicBezTo>
                  <a:pt x="39" y="600"/>
                  <a:pt x="54" y="584"/>
                  <a:pt x="54" y="568"/>
                </a:cubicBezTo>
                <a:cubicBezTo>
                  <a:pt x="54" y="553"/>
                  <a:pt x="39" y="553"/>
                  <a:pt x="23" y="553"/>
                </a:cubicBezTo>
                <a:cubicBezTo>
                  <a:pt x="7" y="553"/>
                  <a:pt x="7" y="553"/>
                  <a:pt x="7" y="568"/>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22" name="path"/>
          <p:cNvSpPr/>
          <p:nvPr/>
        </p:nvSpPr>
        <p:spPr>
          <a:xfrm>
            <a:off x="6047997" y="2254486"/>
            <a:ext cx="50110" cy="287147"/>
          </a:xfrm>
          <a:custGeom>
            <a:avLst/>
            <a:gdLst/>
            <a:ahLst/>
            <a:cxnLst/>
            <a:rect l="0" t="0" r="0" b="0"/>
            <a:pathLst>
              <a:path w="78" h="452">
                <a:moveTo>
                  <a:pt x="7" y="413"/>
                </a:moveTo>
                <a:cubicBezTo>
                  <a:pt x="7" y="428"/>
                  <a:pt x="7" y="444"/>
                  <a:pt x="23" y="444"/>
                </a:cubicBezTo>
                <a:cubicBezTo>
                  <a:pt x="39" y="444"/>
                  <a:pt x="54" y="428"/>
                  <a:pt x="54" y="413"/>
                </a:cubicBezTo>
                <a:cubicBezTo>
                  <a:pt x="54" y="397"/>
                  <a:pt x="39" y="397"/>
                  <a:pt x="23" y="397"/>
                </a:cubicBezTo>
                <a:cubicBezTo>
                  <a:pt x="7" y="397"/>
                  <a:pt x="7" y="397"/>
                  <a:pt x="7" y="413"/>
                </a:cubicBezTo>
              </a:path>
              <a:path w="78" h="452">
                <a:moveTo>
                  <a:pt x="23" y="23"/>
                </a:moveTo>
                <a:cubicBezTo>
                  <a:pt x="23" y="39"/>
                  <a:pt x="23" y="54"/>
                  <a:pt x="39" y="54"/>
                </a:cubicBezTo>
                <a:cubicBezTo>
                  <a:pt x="54" y="54"/>
                  <a:pt x="71" y="39"/>
                  <a:pt x="71" y="23"/>
                </a:cubicBezTo>
                <a:cubicBezTo>
                  <a:pt x="71" y="7"/>
                  <a:pt x="54" y="7"/>
                  <a:pt x="39" y="7"/>
                </a:cubicBezTo>
                <a:cubicBezTo>
                  <a:pt x="23" y="7"/>
                  <a:pt x="23" y="7"/>
                  <a:pt x="23" y="23"/>
                </a:cubicBezTo>
              </a:path>
              <a:path w="78" h="452">
                <a:moveTo>
                  <a:pt x="23" y="350"/>
                </a:moveTo>
                <a:cubicBezTo>
                  <a:pt x="23" y="366"/>
                  <a:pt x="23" y="382"/>
                  <a:pt x="39" y="382"/>
                </a:cubicBezTo>
                <a:cubicBezTo>
                  <a:pt x="54" y="382"/>
                  <a:pt x="71" y="366"/>
                  <a:pt x="71" y="350"/>
                </a:cubicBezTo>
                <a:cubicBezTo>
                  <a:pt x="71" y="335"/>
                  <a:pt x="54" y="335"/>
                  <a:pt x="39" y="335"/>
                </a:cubicBezTo>
                <a:cubicBezTo>
                  <a:pt x="23" y="335"/>
                  <a:pt x="23" y="335"/>
                  <a:pt x="23" y="350"/>
                </a:cubicBezTo>
              </a:path>
              <a:path w="78" h="452">
                <a:moveTo>
                  <a:pt x="23" y="70"/>
                </a:moveTo>
                <a:cubicBezTo>
                  <a:pt x="23" y="85"/>
                  <a:pt x="23" y="101"/>
                  <a:pt x="39" y="101"/>
                </a:cubicBezTo>
                <a:cubicBezTo>
                  <a:pt x="54" y="101"/>
                  <a:pt x="71" y="85"/>
                  <a:pt x="71" y="70"/>
                </a:cubicBezTo>
                <a:cubicBezTo>
                  <a:pt x="71" y="54"/>
                  <a:pt x="54" y="54"/>
                  <a:pt x="39" y="54"/>
                </a:cubicBezTo>
                <a:cubicBezTo>
                  <a:pt x="23" y="54"/>
                  <a:pt x="23" y="54"/>
                  <a:pt x="23" y="70"/>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23" name="path"/>
          <p:cNvSpPr/>
          <p:nvPr/>
        </p:nvSpPr>
        <p:spPr>
          <a:xfrm>
            <a:off x="6077864" y="2254486"/>
            <a:ext cx="40155" cy="208059"/>
          </a:xfrm>
          <a:custGeom>
            <a:avLst/>
            <a:gdLst/>
            <a:ahLst/>
            <a:cxnLst/>
            <a:rect l="0" t="0" r="0" b="0"/>
            <a:pathLst>
              <a:path w="63" h="327">
                <a:moveTo>
                  <a:pt x="7" y="288"/>
                </a:moveTo>
                <a:cubicBezTo>
                  <a:pt x="7" y="304"/>
                  <a:pt x="7" y="319"/>
                  <a:pt x="24" y="319"/>
                </a:cubicBezTo>
                <a:cubicBezTo>
                  <a:pt x="39" y="319"/>
                  <a:pt x="55" y="304"/>
                  <a:pt x="55" y="288"/>
                </a:cubicBezTo>
                <a:cubicBezTo>
                  <a:pt x="55" y="272"/>
                  <a:pt x="39" y="272"/>
                  <a:pt x="24" y="272"/>
                </a:cubicBezTo>
                <a:cubicBezTo>
                  <a:pt x="7" y="272"/>
                  <a:pt x="7" y="272"/>
                  <a:pt x="7" y="288"/>
                </a:cubicBezTo>
              </a:path>
              <a:path w="63" h="327">
                <a:moveTo>
                  <a:pt x="7" y="23"/>
                </a:moveTo>
                <a:cubicBezTo>
                  <a:pt x="7" y="39"/>
                  <a:pt x="7" y="54"/>
                  <a:pt x="24" y="54"/>
                </a:cubicBezTo>
                <a:cubicBezTo>
                  <a:pt x="39" y="54"/>
                  <a:pt x="55" y="39"/>
                  <a:pt x="55" y="23"/>
                </a:cubicBezTo>
                <a:cubicBezTo>
                  <a:pt x="55" y="7"/>
                  <a:pt x="39" y="7"/>
                  <a:pt x="24"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24" name="path"/>
          <p:cNvSpPr/>
          <p:nvPr/>
        </p:nvSpPr>
        <p:spPr>
          <a:xfrm>
            <a:off x="6088152" y="2422837"/>
            <a:ext cx="39823" cy="39708"/>
          </a:xfrm>
          <a:custGeom>
            <a:avLst/>
            <a:gdLst/>
            <a:ahLst/>
            <a:cxnLst/>
            <a:rect l="0" t="0" r="0" b="0"/>
            <a:pathLst>
              <a:path w="62" h="62">
                <a:moveTo>
                  <a:pt x="7" y="23"/>
                </a:moveTo>
                <a:cubicBezTo>
                  <a:pt x="7" y="39"/>
                  <a:pt x="7" y="54"/>
                  <a:pt x="23" y="54"/>
                </a:cubicBezTo>
                <a:cubicBezTo>
                  <a:pt x="39" y="54"/>
                  <a:pt x="54" y="39"/>
                  <a:pt x="54" y="23"/>
                </a:cubicBezTo>
                <a:cubicBezTo>
                  <a:pt x="54" y="7"/>
                  <a:pt x="39" y="7"/>
                  <a:pt x="23"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25" name="path"/>
          <p:cNvSpPr/>
          <p:nvPr/>
        </p:nvSpPr>
        <p:spPr>
          <a:xfrm>
            <a:off x="6108063" y="2433010"/>
            <a:ext cx="39823" cy="39380"/>
          </a:xfrm>
          <a:custGeom>
            <a:avLst/>
            <a:gdLst/>
            <a:ahLst/>
            <a:cxnLst/>
            <a:rect l="0" t="0" r="0" b="0"/>
            <a:pathLst>
              <a:path w="62" h="62">
                <a:moveTo>
                  <a:pt x="7" y="23"/>
                </a:moveTo>
                <a:cubicBezTo>
                  <a:pt x="7" y="38"/>
                  <a:pt x="7" y="54"/>
                  <a:pt x="23" y="54"/>
                </a:cubicBezTo>
                <a:cubicBezTo>
                  <a:pt x="39" y="54"/>
                  <a:pt x="54" y="38"/>
                  <a:pt x="54" y="23"/>
                </a:cubicBezTo>
                <a:cubicBezTo>
                  <a:pt x="54" y="7"/>
                  <a:pt x="39" y="7"/>
                  <a:pt x="23"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26" name="path"/>
          <p:cNvSpPr/>
          <p:nvPr/>
        </p:nvSpPr>
        <p:spPr>
          <a:xfrm>
            <a:off x="6098108" y="2284349"/>
            <a:ext cx="39823" cy="39708"/>
          </a:xfrm>
          <a:custGeom>
            <a:avLst/>
            <a:gdLst/>
            <a:ahLst/>
            <a:cxnLst/>
            <a:rect l="0" t="0" r="0" b="0"/>
            <a:pathLst>
              <a:path w="62" h="62">
                <a:moveTo>
                  <a:pt x="7" y="23"/>
                </a:moveTo>
                <a:cubicBezTo>
                  <a:pt x="7" y="38"/>
                  <a:pt x="7" y="54"/>
                  <a:pt x="23" y="54"/>
                </a:cubicBezTo>
                <a:cubicBezTo>
                  <a:pt x="39" y="54"/>
                  <a:pt x="54" y="38"/>
                  <a:pt x="54" y="23"/>
                </a:cubicBezTo>
                <a:cubicBezTo>
                  <a:pt x="54" y="7"/>
                  <a:pt x="39" y="7"/>
                  <a:pt x="23"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27" name="path"/>
          <p:cNvSpPr/>
          <p:nvPr/>
        </p:nvSpPr>
        <p:spPr>
          <a:xfrm>
            <a:off x="6118019" y="2294194"/>
            <a:ext cx="40155" cy="138487"/>
          </a:xfrm>
          <a:custGeom>
            <a:avLst/>
            <a:gdLst/>
            <a:ahLst/>
            <a:cxnLst/>
            <a:rect l="0" t="0" r="0" b="0"/>
            <a:pathLst>
              <a:path w="63" h="218">
                <a:moveTo>
                  <a:pt x="7" y="23"/>
                </a:moveTo>
                <a:cubicBezTo>
                  <a:pt x="7" y="39"/>
                  <a:pt x="7" y="54"/>
                  <a:pt x="23" y="54"/>
                </a:cubicBezTo>
                <a:cubicBezTo>
                  <a:pt x="39" y="54"/>
                  <a:pt x="55" y="39"/>
                  <a:pt x="55" y="23"/>
                </a:cubicBezTo>
                <a:cubicBezTo>
                  <a:pt x="55" y="7"/>
                  <a:pt x="39" y="7"/>
                  <a:pt x="23" y="7"/>
                </a:cubicBezTo>
                <a:cubicBezTo>
                  <a:pt x="7" y="7"/>
                  <a:pt x="7" y="7"/>
                  <a:pt x="7" y="23"/>
                </a:cubicBezTo>
              </a:path>
              <a:path w="63" h="218">
                <a:moveTo>
                  <a:pt x="7" y="179"/>
                </a:moveTo>
                <a:cubicBezTo>
                  <a:pt x="7" y="194"/>
                  <a:pt x="7" y="210"/>
                  <a:pt x="23" y="210"/>
                </a:cubicBezTo>
                <a:cubicBezTo>
                  <a:pt x="39" y="210"/>
                  <a:pt x="55" y="194"/>
                  <a:pt x="55" y="179"/>
                </a:cubicBezTo>
                <a:cubicBezTo>
                  <a:pt x="55" y="163"/>
                  <a:pt x="39" y="163"/>
                  <a:pt x="23" y="163"/>
                </a:cubicBezTo>
                <a:cubicBezTo>
                  <a:pt x="7" y="163"/>
                  <a:pt x="7" y="163"/>
                  <a:pt x="7" y="179"/>
                </a:cubicBezTo>
              </a:path>
              <a:path w="63" h="218">
                <a:moveTo>
                  <a:pt x="7" y="54"/>
                </a:moveTo>
                <a:cubicBezTo>
                  <a:pt x="7" y="70"/>
                  <a:pt x="7" y="85"/>
                  <a:pt x="23" y="85"/>
                </a:cubicBezTo>
                <a:cubicBezTo>
                  <a:pt x="39" y="85"/>
                  <a:pt x="55" y="70"/>
                  <a:pt x="55" y="54"/>
                </a:cubicBezTo>
                <a:cubicBezTo>
                  <a:pt x="55" y="39"/>
                  <a:pt x="39" y="39"/>
                  <a:pt x="23" y="39"/>
                </a:cubicBezTo>
                <a:cubicBezTo>
                  <a:pt x="7" y="39"/>
                  <a:pt x="7" y="39"/>
                  <a:pt x="7" y="54"/>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28" name="path"/>
          <p:cNvSpPr/>
          <p:nvPr/>
        </p:nvSpPr>
        <p:spPr>
          <a:xfrm>
            <a:off x="6127975" y="2403147"/>
            <a:ext cx="40154" cy="39708"/>
          </a:xfrm>
          <a:custGeom>
            <a:avLst/>
            <a:gdLst/>
            <a:ahLst/>
            <a:cxnLst/>
            <a:rect l="0" t="0" r="0" b="0"/>
            <a:pathLst>
              <a:path w="63" h="62">
                <a:moveTo>
                  <a:pt x="7" y="23"/>
                </a:moveTo>
                <a:cubicBezTo>
                  <a:pt x="7" y="38"/>
                  <a:pt x="7" y="54"/>
                  <a:pt x="23" y="54"/>
                </a:cubicBezTo>
                <a:cubicBezTo>
                  <a:pt x="39" y="54"/>
                  <a:pt x="55" y="38"/>
                  <a:pt x="55" y="23"/>
                </a:cubicBezTo>
                <a:cubicBezTo>
                  <a:pt x="55" y="7"/>
                  <a:pt x="39" y="7"/>
                  <a:pt x="23" y="7"/>
                </a:cubicBezTo>
                <a:cubicBezTo>
                  <a:pt x="7" y="7"/>
                  <a:pt x="7" y="7"/>
                  <a:pt x="7" y="23"/>
                </a:cubicBezTo>
              </a:path>
              <a:path w="63" h="62">
                <a:moveTo>
                  <a:pt x="7" y="23"/>
                </a:moveTo>
                <a:cubicBezTo>
                  <a:pt x="7" y="38"/>
                  <a:pt x="7" y="54"/>
                  <a:pt x="23" y="54"/>
                </a:cubicBezTo>
                <a:cubicBezTo>
                  <a:pt x="39" y="54"/>
                  <a:pt x="55" y="38"/>
                  <a:pt x="55" y="23"/>
                </a:cubicBezTo>
                <a:cubicBezTo>
                  <a:pt x="55" y="7"/>
                  <a:pt x="39" y="7"/>
                  <a:pt x="23"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29" name="path"/>
          <p:cNvSpPr/>
          <p:nvPr/>
        </p:nvSpPr>
        <p:spPr>
          <a:xfrm>
            <a:off x="6137931" y="2224951"/>
            <a:ext cx="60066" cy="306838"/>
          </a:xfrm>
          <a:custGeom>
            <a:avLst/>
            <a:gdLst/>
            <a:ahLst/>
            <a:cxnLst/>
            <a:rect l="0" t="0" r="0" b="0"/>
            <a:pathLst>
              <a:path w="94" h="483">
                <a:moveTo>
                  <a:pt x="7" y="303"/>
                </a:moveTo>
                <a:cubicBezTo>
                  <a:pt x="7" y="319"/>
                  <a:pt x="7" y="335"/>
                  <a:pt x="24" y="335"/>
                </a:cubicBezTo>
                <a:cubicBezTo>
                  <a:pt x="39" y="335"/>
                  <a:pt x="55" y="319"/>
                  <a:pt x="55" y="303"/>
                </a:cubicBezTo>
                <a:cubicBezTo>
                  <a:pt x="55" y="288"/>
                  <a:pt x="39" y="288"/>
                  <a:pt x="24" y="288"/>
                </a:cubicBezTo>
                <a:cubicBezTo>
                  <a:pt x="7" y="288"/>
                  <a:pt x="7" y="288"/>
                  <a:pt x="7" y="303"/>
                </a:cubicBezTo>
              </a:path>
              <a:path w="94" h="483">
                <a:moveTo>
                  <a:pt x="24" y="335"/>
                </a:moveTo>
                <a:cubicBezTo>
                  <a:pt x="24" y="350"/>
                  <a:pt x="24" y="366"/>
                  <a:pt x="39" y="366"/>
                </a:cubicBezTo>
                <a:cubicBezTo>
                  <a:pt x="55" y="366"/>
                  <a:pt x="71" y="350"/>
                  <a:pt x="71" y="335"/>
                </a:cubicBezTo>
                <a:cubicBezTo>
                  <a:pt x="71" y="319"/>
                  <a:pt x="55" y="319"/>
                  <a:pt x="39" y="319"/>
                </a:cubicBezTo>
                <a:cubicBezTo>
                  <a:pt x="24" y="319"/>
                  <a:pt x="24" y="319"/>
                  <a:pt x="24" y="335"/>
                </a:cubicBezTo>
              </a:path>
              <a:path w="94" h="483">
                <a:moveTo>
                  <a:pt x="24" y="23"/>
                </a:moveTo>
                <a:cubicBezTo>
                  <a:pt x="24" y="38"/>
                  <a:pt x="24" y="54"/>
                  <a:pt x="39" y="54"/>
                </a:cubicBezTo>
                <a:cubicBezTo>
                  <a:pt x="55" y="54"/>
                  <a:pt x="71" y="38"/>
                  <a:pt x="71" y="23"/>
                </a:cubicBezTo>
                <a:cubicBezTo>
                  <a:pt x="71" y="7"/>
                  <a:pt x="55" y="7"/>
                  <a:pt x="39" y="7"/>
                </a:cubicBezTo>
                <a:cubicBezTo>
                  <a:pt x="24" y="7"/>
                  <a:pt x="24" y="7"/>
                  <a:pt x="24" y="23"/>
                </a:cubicBezTo>
              </a:path>
              <a:path w="94" h="483">
                <a:moveTo>
                  <a:pt x="24" y="444"/>
                </a:moveTo>
                <a:cubicBezTo>
                  <a:pt x="24" y="459"/>
                  <a:pt x="24" y="475"/>
                  <a:pt x="39" y="475"/>
                </a:cubicBezTo>
                <a:cubicBezTo>
                  <a:pt x="55" y="475"/>
                  <a:pt x="71" y="459"/>
                  <a:pt x="71" y="444"/>
                </a:cubicBezTo>
                <a:cubicBezTo>
                  <a:pt x="71" y="428"/>
                  <a:pt x="55" y="428"/>
                  <a:pt x="39" y="428"/>
                </a:cubicBezTo>
                <a:cubicBezTo>
                  <a:pt x="24" y="428"/>
                  <a:pt x="24" y="428"/>
                  <a:pt x="24" y="444"/>
                </a:cubicBezTo>
              </a:path>
              <a:path w="94" h="483">
                <a:moveTo>
                  <a:pt x="39" y="413"/>
                </a:moveTo>
                <a:cubicBezTo>
                  <a:pt x="39" y="428"/>
                  <a:pt x="39" y="444"/>
                  <a:pt x="55" y="444"/>
                </a:cubicBezTo>
                <a:cubicBezTo>
                  <a:pt x="71" y="444"/>
                  <a:pt x="86" y="428"/>
                  <a:pt x="86" y="413"/>
                </a:cubicBezTo>
                <a:cubicBezTo>
                  <a:pt x="86" y="397"/>
                  <a:pt x="71" y="397"/>
                  <a:pt x="55" y="397"/>
                </a:cubicBezTo>
                <a:cubicBezTo>
                  <a:pt x="39" y="397"/>
                  <a:pt x="39" y="397"/>
                  <a:pt x="39" y="41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30" name="path"/>
          <p:cNvSpPr/>
          <p:nvPr/>
        </p:nvSpPr>
        <p:spPr>
          <a:xfrm>
            <a:off x="6168130" y="2254486"/>
            <a:ext cx="50110" cy="574624"/>
          </a:xfrm>
          <a:custGeom>
            <a:avLst/>
            <a:gdLst/>
            <a:ahLst/>
            <a:cxnLst/>
            <a:rect l="0" t="0" r="0" b="0"/>
            <a:pathLst>
              <a:path w="78" h="904">
                <a:moveTo>
                  <a:pt x="7" y="23"/>
                </a:moveTo>
                <a:cubicBezTo>
                  <a:pt x="7" y="39"/>
                  <a:pt x="7" y="54"/>
                  <a:pt x="23" y="54"/>
                </a:cubicBezTo>
                <a:cubicBezTo>
                  <a:pt x="39" y="54"/>
                  <a:pt x="54" y="39"/>
                  <a:pt x="54" y="23"/>
                </a:cubicBezTo>
                <a:cubicBezTo>
                  <a:pt x="54" y="7"/>
                  <a:pt x="39" y="7"/>
                  <a:pt x="23" y="7"/>
                </a:cubicBezTo>
                <a:cubicBezTo>
                  <a:pt x="7" y="7"/>
                  <a:pt x="7" y="7"/>
                  <a:pt x="7" y="23"/>
                </a:cubicBezTo>
              </a:path>
              <a:path w="78" h="904">
                <a:moveTo>
                  <a:pt x="7" y="132"/>
                </a:moveTo>
                <a:cubicBezTo>
                  <a:pt x="7" y="148"/>
                  <a:pt x="7" y="163"/>
                  <a:pt x="23" y="163"/>
                </a:cubicBezTo>
                <a:cubicBezTo>
                  <a:pt x="39" y="163"/>
                  <a:pt x="54" y="148"/>
                  <a:pt x="54" y="132"/>
                </a:cubicBezTo>
                <a:cubicBezTo>
                  <a:pt x="54" y="117"/>
                  <a:pt x="39" y="117"/>
                  <a:pt x="23" y="117"/>
                </a:cubicBezTo>
                <a:cubicBezTo>
                  <a:pt x="7" y="117"/>
                  <a:pt x="7" y="117"/>
                  <a:pt x="7" y="132"/>
                </a:cubicBezTo>
              </a:path>
              <a:path w="78" h="904">
                <a:moveTo>
                  <a:pt x="23" y="865"/>
                </a:moveTo>
                <a:cubicBezTo>
                  <a:pt x="23" y="881"/>
                  <a:pt x="23" y="897"/>
                  <a:pt x="39" y="897"/>
                </a:cubicBezTo>
                <a:cubicBezTo>
                  <a:pt x="54" y="897"/>
                  <a:pt x="71" y="881"/>
                  <a:pt x="71" y="865"/>
                </a:cubicBezTo>
                <a:cubicBezTo>
                  <a:pt x="71" y="850"/>
                  <a:pt x="54" y="850"/>
                  <a:pt x="39" y="850"/>
                </a:cubicBezTo>
                <a:cubicBezTo>
                  <a:pt x="23" y="850"/>
                  <a:pt x="23" y="850"/>
                  <a:pt x="23" y="865"/>
                </a:cubicBezTo>
              </a:path>
              <a:path w="78" h="904">
                <a:moveTo>
                  <a:pt x="23" y="506"/>
                </a:moveTo>
                <a:cubicBezTo>
                  <a:pt x="23" y="522"/>
                  <a:pt x="23" y="537"/>
                  <a:pt x="39" y="537"/>
                </a:cubicBezTo>
                <a:cubicBezTo>
                  <a:pt x="54" y="537"/>
                  <a:pt x="71" y="522"/>
                  <a:pt x="71" y="506"/>
                </a:cubicBezTo>
                <a:cubicBezTo>
                  <a:pt x="71" y="491"/>
                  <a:pt x="54" y="491"/>
                  <a:pt x="39" y="491"/>
                </a:cubicBezTo>
                <a:cubicBezTo>
                  <a:pt x="23" y="491"/>
                  <a:pt x="23" y="491"/>
                  <a:pt x="23" y="506"/>
                </a:cubicBezTo>
              </a:path>
              <a:path w="78" h="904">
                <a:moveTo>
                  <a:pt x="23" y="756"/>
                </a:moveTo>
                <a:cubicBezTo>
                  <a:pt x="23" y="772"/>
                  <a:pt x="23" y="787"/>
                  <a:pt x="39" y="787"/>
                </a:cubicBezTo>
                <a:cubicBezTo>
                  <a:pt x="54" y="787"/>
                  <a:pt x="71" y="772"/>
                  <a:pt x="71" y="756"/>
                </a:cubicBezTo>
                <a:cubicBezTo>
                  <a:pt x="71" y="741"/>
                  <a:pt x="54" y="741"/>
                  <a:pt x="39" y="741"/>
                </a:cubicBezTo>
                <a:cubicBezTo>
                  <a:pt x="23" y="741"/>
                  <a:pt x="23" y="741"/>
                  <a:pt x="23" y="756"/>
                </a:cubicBezTo>
              </a:path>
              <a:path w="78" h="904">
                <a:moveTo>
                  <a:pt x="23" y="195"/>
                </a:moveTo>
                <a:cubicBezTo>
                  <a:pt x="23" y="210"/>
                  <a:pt x="23" y="226"/>
                  <a:pt x="39" y="226"/>
                </a:cubicBezTo>
                <a:cubicBezTo>
                  <a:pt x="54" y="226"/>
                  <a:pt x="71" y="210"/>
                  <a:pt x="71" y="195"/>
                </a:cubicBezTo>
                <a:cubicBezTo>
                  <a:pt x="71" y="179"/>
                  <a:pt x="54" y="179"/>
                  <a:pt x="39" y="179"/>
                </a:cubicBezTo>
                <a:cubicBezTo>
                  <a:pt x="23" y="179"/>
                  <a:pt x="23" y="179"/>
                  <a:pt x="23" y="195"/>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31" name="path"/>
          <p:cNvSpPr/>
          <p:nvPr/>
        </p:nvSpPr>
        <p:spPr>
          <a:xfrm>
            <a:off x="6178086" y="2383456"/>
            <a:ext cx="40154" cy="39380"/>
          </a:xfrm>
          <a:custGeom>
            <a:avLst/>
            <a:gdLst/>
            <a:ahLst/>
            <a:cxnLst/>
            <a:rect l="0" t="0" r="0" b="0"/>
            <a:pathLst>
              <a:path w="63" h="62">
                <a:moveTo>
                  <a:pt x="7" y="23"/>
                </a:moveTo>
                <a:cubicBezTo>
                  <a:pt x="7" y="38"/>
                  <a:pt x="7" y="54"/>
                  <a:pt x="23" y="54"/>
                </a:cubicBezTo>
                <a:cubicBezTo>
                  <a:pt x="39" y="54"/>
                  <a:pt x="55" y="38"/>
                  <a:pt x="55" y="23"/>
                </a:cubicBezTo>
                <a:cubicBezTo>
                  <a:pt x="55" y="7"/>
                  <a:pt x="39" y="7"/>
                  <a:pt x="23"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32" name="path"/>
          <p:cNvSpPr/>
          <p:nvPr/>
        </p:nvSpPr>
        <p:spPr>
          <a:xfrm>
            <a:off x="6188042" y="2294194"/>
            <a:ext cx="40155" cy="415790"/>
          </a:xfrm>
          <a:custGeom>
            <a:avLst/>
            <a:gdLst/>
            <a:ahLst/>
            <a:cxnLst/>
            <a:rect l="0" t="0" r="0" b="0"/>
            <a:pathLst>
              <a:path w="63" h="654">
                <a:moveTo>
                  <a:pt x="7" y="616"/>
                </a:moveTo>
                <a:cubicBezTo>
                  <a:pt x="7" y="631"/>
                  <a:pt x="7" y="647"/>
                  <a:pt x="23" y="647"/>
                </a:cubicBezTo>
                <a:cubicBezTo>
                  <a:pt x="39" y="647"/>
                  <a:pt x="55" y="631"/>
                  <a:pt x="55" y="616"/>
                </a:cubicBezTo>
                <a:cubicBezTo>
                  <a:pt x="55" y="600"/>
                  <a:pt x="39" y="600"/>
                  <a:pt x="23" y="600"/>
                </a:cubicBezTo>
                <a:cubicBezTo>
                  <a:pt x="7" y="600"/>
                  <a:pt x="7" y="600"/>
                  <a:pt x="7" y="616"/>
                </a:cubicBezTo>
              </a:path>
              <a:path w="63" h="654">
                <a:moveTo>
                  <a:pt x="7" y="70"/>
                </a:moveTo>
                <a:cubicBezTo>
                  <a:pt x="7" y="85"/>
                  <a:pt x="7" y="101"/>
                  <a:pt x="23" y="101"/>
                </a:cubicBezTo>
                <a:cubicBezTo>
                  <a:pt x="39" y="101"/>
                  <a:pt x="55" y="85"/>
                  <a:pt x="55" y="70"/>
                </a:cubicBezTo>
                <a:cubicBezTo>
                  <a:pt x="55" y="54"/>
                  <a:pt x="39" y="54"/>
                  <a:pt x="23" y="54"/>
                </a:cubicBezTo>
                <a:cubicBezTo>
                  <a:pt x="7" y="54"/>
                  <a:pt x="7" y="54"/>
                  <a:pt x="7" y="70"/>
                </a:cubicBezTo>
              </a:path>
              <a:path w="63" h="654">
                <a:moveTo>
                  <a:pt x="7" y="179"/>
                </a:moveTo>
                <a:cubicBezTo>
                  <a:pt x="7" y="194"/>
                  <a:pt x="7" y="210"/>
                  <a:pt x="23" y="210"/>
                </a:cubicBezTo>
                <a:cubicBezTo>
                  <a:pt x="39" y="210"/>
                  <a:pt x="55" y="194"/>
                  <a:pt x="55" y="179"/>
                </a:cubicBezTo>
                <a:cubicBezTo>
                  <a:pt x="55" y="163"/>
                  <a:pt x="39" y="163"/>
                  <a:pt x="23" y="163"/>
                </a:cubicBezTo>
                <a:cubicBezTo>
                  <a:pt x="7" y="163"/>
                  <a:pt x="7" y="163"/>
                  <a:pt x="7" y="179"/>
                </a:cubicBezTo>
              </a:path>
              <a:path w="63" h="654">
                <a:moveTo>
                  <a:pt x="7" y="116"/>
                </a:moveTo>
                <a:cubicBezTo>
                  <a:pt x="7" y="132"/>
                  <a:pt x="7" y="148"/>
                  <a:pt x="23" y="148"/>
                </a:cubicBezTo>
                <a:cubicBezTo>
                  <a:pt x="39" y="148"/>
                  <a:pt x="55" y="132"/>
                  <a:pt x="55" y="116"/>
                </a:cubicBezTo>
                <a:cubicBezTo>
                  <a:pt x="55" y="101"/>
                  <a:pt x="39" y="101"/>
                  <a:pt x="23" y="101"/>
                </a:cubicBezTo>
                <a:cubicBezTo>
                  <a:pt x="7" y="101"/>
                  <a:pt x="7" y="101"/>
                  <a:pt x="7" y="116"/>
                </a:cubicBezTo>
              </a:path>
              <a:path w="63" h="654">
                <a:moveTo>
                  <a:pt x="7" y="616"/>
                </a:moveTo>
                <a:cubicBezTo>
                  <a:pt x="7" y="631"/>
                  <a:pt x="7" y="647"/>
                  <a:pt x="23" y="647"/>
                </a:cubicBezTo>
                <a:cubicBezTo>
                  <a:pt x="39" y="647"/>
                  <a:pt x="55" y="631"/>
                  <a:pt x="55" y="616"/>
                </a:cubicBezTo>
                <a:cubicBezTo>
                  <a:pt x="55" y="600"/>
                  <a:pt x="39" y="600"/>
                  <a:pt x="23" y="600"/>
                </a:cubicBezTo>
                <a:cubicBezTo>
                  <a:pt x="7" y="600"/>
                  <a:pt x="7" y="600"/>
                  <a:pt x="7" y="616"/>
                </a:cubicBezTo>
              </a:path>
              <a:path w="63" h="654">
                <a:moveTo>
                  <a:pt x="7" y="23"/>
                </a:moveTo>
                <a:cubicBezTo>
                  <a:pt x="7" y="39"/>
                  <a:pt x="7" y="54"/>
                  <a:pt x="23" y="54"/>
                </a:cubicBezTo>
                <a:cubicBezTo>
                  <a:pt x="39" y="54"/>
                  <a:pt x="55" y="39"/>
                  <a:pt x="55" y="23"/>
                </a:cubicBezTo>
                <a:cubicBezTo>
                  <a:pt x="55" y="7"/>
                  <a:pt x="39" y="7"/>
                  <a:pt x="23" y="7"/>
                </a:cubicBezTo>
                <a:cubicBezTo>
                  <a:pt x="7" y="7"/>
                  <a:pt x="7" y="7"/>
                  <a:pt x="7" y="23"/>
                </a:cubicBezTo>
              </a:path>
              <a:path w="63" h="654">
                <a:moveTo>
                  <a:pt x="7" y="179"/>
                </a:moveTo>
                <a:cubicBezTo>
                  <a:pt x="7" y="194"/>
                  <a:pt x="7" y="210"/>
                  <a:pt x="23" y="210"/>
                </a:cubicBezTo>
                <a:cubicBezTo>
                  <a:pt x="39" y="210"/>
                  <a:pt x="55" y="194"/>
                  <a:pt x="55" y="179"/>
                </a:cubicBezTo>
                <a:cubicBezTo>
                  <a:pt x="55" y="163"/>
                  <a:pt x="39" y="163"/>
                  <a:pt x="23" y="163"/>
                </a:cubicBezTo>
                <a:cubicBezTo>
                  <a:pt x="7" y="163"/>
                  <a:pt x="7" y="163"/>
                  <a:pt x="7" y="179"/>
                </a:cubicBezTo>
              </a:path>
              <a:path w="63" h="654">
                <a:moveTo>
                  <a:pt x="7" y="381"/>
                </a:moveTo>
                <a:cubicBezTo>
                  <a:pt x="7" y="397"/>
                  <a:pt x="7" y="413"/>
                  <a:pt x="23" y="413"/>
                </a:cubicBezTo>
                <a:cubicBezTo>
                  <a:pt x="39" y="413"/>
                  <a:pt x="55" y="397"/>
                  <a:pt x="55" y="381"/>
                </a:cubicBezTo>
                <a:cubicBezTo>
                  <a:pt x="55" y="366"/>
                  <a:pt x="39" y="366"/>
                  <a:pt x="23" y="366"/>
                </a:cubicBezTo>
                <a:cubicBezTo>
                  <a:pt x="7" y="366"/>
                  <a:pt x="7" y="366"/>
                  <a:pt x="7" y="381"/>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33" name="path"/>
          <p:cNvSpPr/>
          <p:nvPr/>
        </p:nvSpPr>
        <p:spPr>
          <a:xfrm>
            <a:off x="6197998" y="2353593"/>
            <a:ext cx="50110" cy="287147"/>
          </a:xfrm>
          <a:custGeom>
            <a:avLst/>
            <a:gdLst/>
            <a:ahLst/>
            <a:cxnLst/>
            <a:rect l="0" t="0" r="0" b="0"/>
            <a:pathLst>
              <a:path w="78" h="452">
                <a:moveTo>
                  <a:pt x="7" y="179"/>
                </a:moveTo>
                <a:cubicBezTo>
                  <a:pt x="7" y="194"/>
                  <a:pt x="7" y="210"/>
                  <a:pt x="24" y="210"/>
                </a:cubicBezTo>
                <a:cubicBezTo>
                  <a:pt x="39" y="210"/>
                  <a:pt x="55" y="194"/>
                  <a:pt x="55" y="179"/>
                </a:cubicBezTo>
                <a:cubicBezTo>
                  <a:pt x="55" y="163"/>
                  <a:pt x="39" y="163"/>
                  <a:pt x="24" y="163"/>
                </a:cubicBezTo>
                <a:cubicBezTo>
                  <a:pt x="7" y="163"/>
                  <a:pt x="7" y="163"/>
                  <a:pt x="7" y="179"/>
                </a:cubicBezTo>
              </a:path>
              <a:path w="78" h="452">
                <a:moveTo>
                  <a:pt x="7" y="241"/>
                </a:moveTo>
                <a:cubicBezTo>
                  <a:pt x="7" y="257"/>
                  <a:pt x="7" y="272"/>
                  <a:pt x="24" y="272"/>
                </a:cubicBezTo>
                <a:cubicBezTo>
                  <a:pt x="39" y="272"/>
                  <a:pt x="55" y="257"/>
                  <a:pt x="55" y="241"/>
                </a:cubicBezTo>
                <a:cubicBezTo>
                  <a:pt x="55" y="226"/>
                  <a:pt x="39" y="226"/>
                  <a:pt x="24" y="226"/>
                </a:cubicBezTo>
                <a:cubicBezTo>
                  <a:pt x="7" y="226"/>
                  <a:pt x="7" y="226"/>
                  <a:pt x="7" y="241"/>
                </a:cubicBezTo>
              </a:path>
              <a:path w="78" h="452">
                <a:moveTo>
                  <a:pt x="7" y="413"/>
                </a:moveTo>
                <a:cubicBezTo>
                  <a:pt x="7" y="428"/>
                  <a:pt x="7" y="444"/>
                  <a:pt x="24" y="444"/>
                </a:cubicBezTo>
                <a:cubicBezTo>
                  <a:pt x="39" y="444"/>
                  <a:pt x="55" y="428"/>
                  <a:pt x="55" y="413"/>
                </a:cubicBezTo>
                <a:cubicBezTo>
                  <a:pt x="55" y="397"/>
                  <a:pt x="39" y="397"/>
                  <a:pt x="24" y="397"/>
                </a:cubicBezTo>
                <a:cubicBezTo>
                  <a:pt x="7" y="397"/>
                  <a:pt x="7" y="397"/>
                  <a:pt x="7" y="413"/>
                </a:cubicBezTo>
              </a:path>
              <a:path w="78" h="452">
                <a:moveTo>
                  <a:pt x="24" y="23"/>
                </a:moveTo>
                <a:cubicBezTo>
                  <a:pt x="24" y="39"/>
                  <a:pt x="24" y="54"/>
                  <a:pt x="39" y="54"/>
                </a:cubicBezTo>
                <a:cubicBezTo>
                  <a:pt x="55" y="54"/>
                  <a:pt x="71" y="39"/>
                  <a:pt x="71" y="23"/>
                </a:cubicBezTo>
                <a:cubicBezTo>
                  <a:pt x="71" y="7"/>
                  <a:pt x="55" y="7"/>
                  <a:pt x="39" y="7"/>
                </a:cubicBezTo>
                <a:cubicBezTo>
                  <a:pt x="24" y="7"/>
                  <a:pt x="24" y="7"/>
                  <a:pt x="24"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34" name="path"/>
          <p:cNvSpPr/>
          <p:nvPr/>
        </p:nvSpPr>
        <p:spPr>
          <a:xfrm>
            <a:off x="6208285" y="2294194"/>
            <a:ext cx="49779" cy="623849"/>
          </a:xfrm>
          <a:custGeom>
            <a:avLst/>
            <a:gdLst/>
            <a:ahLst/>
            <a:cxnLst/>
            <a:rect l="0" t="0" r="0" b="0"/>
            <a:pathLst>
              <a:path w="78" h="982">
                <a:moveTo>
                  <a:pt x="7" y="444"/>
                </a:moveTo>
                <a:cubicBezTo>
                  <a:pt x="7" y="459"/>
                  <a:pt x="7" y="475"/>
                  <a:pt x="23" y="475"/>
                </a:cubicBezTo>
                <a:cubicBezTo>
                  <a:pt x="39" y="475"/>
                  <a:pt x="54" y="459"/>
                  <a:pt x="54" y="444"/>
                </a:cubicBezTo>
                <a:cubicBezTo>
                  <a:pt x="54" y="428"/>
                  <a:pt x="39" y="428"/>
                  <a:pt x="23" y="428"/>
                </a:cubicBezTo>
                <a:cubicBezTo>
                  <a:pt x="7" y="428"/>
                  <a:pt x="7" y="428"/>
                  <a:pt x="7" y="444"/>
                </a:cubicBezTo>
              </a:path>
              <a:path w="78" h="982">
                <a:moveTo>
                  <a:pt x="7" y="694"/>
                </a:moveTo>
                <a:cubicBezTo>
                  <a:pt x="7" y="709"/>
                  <a:pt x="7" y="725"/>
                  <a:pt x="23" y="725"/>
                </a:cubicBezTo>
                <a:cubicBezTo>
                  <a:pt x="39" y="725"/>
                  <a:pt x="54" y="709"/>
                  <a:pt x="54" y="694"/>
                </a:cubicBezTo>
                <a:cubicBezTo>
                  <a:pt x="54" y="678"/>
                  <a:pt x="39" y="678"/>
                  <a:pt x="23" y="678"/>
                </a:cubicBezTo>
                <a:cubicBezTo>
                  <a:pt x="7" y="678"/>
                  <a:pt x="7" y="678"/>
                  <a:pt x="7" y="694"/>
                </a:cubicBezTo>
              </a:path>
              <a:path w="78" h="982">
                <a:moveTo>
                  <a:pt x="7" y="179"/>
                </a:moveTo>
                <a:cubicBezTo>
                  <a:pt x="7" y="194"/>
                  <a:pt x="7" y="210"/>
                  <a:pt x="23" y="210"/>
                </a:cubicBezTo>
                <a:cubicBezTo>
                  <a:pt x="39" y="210"/>
                  <a:pt x="54" y="194"/>
                  <a:pt x="54" y="179"/>
                </a:cubicBezTo>
                <a:cubicBezTo>
                  <a:pt x="54" y="163"/>
                  <a:pt x="39" y="163"/>
                  <a:pt x="23" y="163"/>
                </a:cubicBezTo>
                <a:cubicBezTo>
                  <a:pt x="7" y="163"/>
                  <a:pt x="7" y="163"/>
                  <a:pt x="7" y="179"/>
                </a:cubicBezTo>
              </a:path>
              <a:path w="78" h="982">
                <a:moveTo>
                  <a:pt x="23" y="23"/>
                </a:moveTo>
                <a:cubicBezTo>
                  <a:pt x="23" y="39"/>
                  <a:pt x="23" y="54"/>
                  <a:pt x="39" y="54"/>
                </a:cubicBezTo>
                <a:cubicBezTo>
                  <a:pt x="54" y="54"/>
                  <a:pt x="70" y="39"/>
                  <a:pt x="70" y="23"/>
                </a:cubicBezTo>
                <a:cubicBezTo>
                  <a:pt x="70" y="7"/>
                  <a:pt x="54" y="7"/>
                  <a:pt x="39" y="7"/>
                </a:cubicBezTo>
                <a:cubicBezTo>
                  <a:pt x="23" y="7"/>
                  <a:pt x="23" y="7"/>
                  <a:pt x="23" y="23"/>
                </a:cubicBezTo>
              </a:path>
              <a:path w="78" h="982">
                <a:moveTo>
                  <a:pt x="23" y="943"/>
                </a:moveTo>
                <a:cubicBezTo>
                  <a:pt x="23" y="959"/>
                  <a:pt x="23" y="974"/>
                  <a:pt x="39" y="974"/>
                </a:cubicBezTo>
                <a:cubicBezTo>
                  <a:pt x="54" y="974"/>
                  <a:pt x="70" y="959"/>
                  <a:pt x="70" y="943"/>
                </a:cubicBezTo>
                <a:cubicBezTo>
                  <a:pt x="70" y="928"/>
                  <a:pt x="54" y="928"/>
                  <a:pt x="39" y="928"/>
                </a:cubicBezTo>
                <a:cubicBezTo>
                  <a:pt x="23" y="928"/>
                  <a:pt x="23" y="928"/>
                  <a:pt x="23" y="943"/>
                </a:cubicBezTo>
              </a:path>
              <a:path w="78" h="982">
                <a:moveTo>
                  <a:pt x="23" y="381"/>
                </a:moveTo>
                <a:cubicBezTo>
                  <a:pt x="23" y="397"/>
                  <a:pt x="23" y="413"/>
                  <a:pt x="39" y="413"/>
                </a:cubicBezTo>
                <a:cubicBezTo>
                  <a:pt x="54" y="413"/>
                  <a:pt x="70" y="397"/>
                  <a:pt x="70" y="381"/>
                </a:cubicBezTo>
                <a:cubicBezTo>
                  <a:pt x="70" y="366"/>
                  <a:pt x="54" y="366"/>
                  <a:pt x="39" y="366"/>
                </a:cubicBezTo>
                <a:cubicBezTo>
                  <a:pt x="23" y="366"/>
                  <a:pt x="23" y="366"/>
                  <a:pt x="23" y="381"/>
                </a:cubicBezTo>
              </a:path>
              <a:path w="78" h="982">
                <a:moveTo>
                  <a:pt x="23" y="85"/>
                </a:moveTo>
                <a:cubicBezTo>
                  <a:pt x="23" y="101"/>
                  <a:pt x="23" y="116"/>
                  <a:pt x="39" y="116"/>
                </a:cubicBezTo>
                <a:cubicBezTo>
                  <a:pt x="54" y="116"/>
                  <a:pt x="70" y="101"/>
                  <a:pt x="70" y="85"/>
                </a:cubicBezTo>
                <a:cubicBezTo>
                  <a:pt x="70" y="70"/>
                  <a:pt x="54" y="70"/>
                  <a:pt x="39" y="70"/>
                </a:cubicBezTo>
                <a:cubicBezTo>
                  <a:pt x="23" y="70"/>
                  <a:pt x="23" y="70"/>
                  <a:pt x="23" y="85"/>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35" name="path"/>
          <p:cNvSpPr/>
          <p:nvPr/>
        </p:nvSpPr>
        <p:spPr>
          <a:xfrm>
            <a:off x="6228197" y="2333903"/>
            <a:ext cx="39823" cy="39380"/>
          </a:xfrm>
          <a:custGeom>
            <a:avLst/>
            <a:gdLst/>
            <a:ahLst/>
            <a:cxnLst/>
            <a:rect l="0" t="0" r="0" b="0"/>
            <a:pathLst>
              <a:path w="62" h="62">
                <a:moveTo>
                  <a:pt x="7" y="23"/>
                </a:moveTo>
                <a:cubicBezTo>
                  <a:pt x="7" y="38"/>
                  <a:pt x="7" y="54"/>
                  <a:pt x="23" y="54"/>
                </a:cubicBezTo>
                <a:cubicBezTo>
                  <a:pt x="39" y="54"/>
                  <a:pt x="54" y="38"/>
                  <a:pt x="54" y="23"/>
                </a:cubicBezTo>
                <a:cubicBezTo>
                  <a:pt x="54" y="7"/>
                  <a:pt x="39" y="7"/>
                  <a:pt x="23"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36" name="path"/>
          <p:cNvSpPr/>
          <p:nvPr/>
        </p:nvSpPr>
        <p:spPr>
          <a:xfrm>
            <a:off x="6228197" y="2224951"/>
            <a:ext cx="60066" cy="722956"/>
          </a:xfrm>
          <a:custGeom>
            <a:avLst/>
            <a:gdLst/>
            <a:ahLst/>
            <a:cxnLst/>
            <a:rect l="0" t="0" r="0" b="0"/>
            <a:pathLst>
              <a:path w="94" h="1138">
                <a:moveTo>
                  <a:pt x="7" y="490"/>
                </a:moveTo>
                <a:cubicBezTo>
                  <a:pt x="7" y="506"/>
                  <a:pt x="7" y="522"/>
                  <a:pt x="23" y="522"/>
                </a:cubicBezTo>
                <a:cubicBezTo>
                  <a:pt x="39" y="522"/>
                  <a:pt x="54" y="506"/>
                  <a:pt x="54" y="490"/>
                </a:cubicBezTo>
                <a:cubicBezTo>
                  <a:pt x="54" y="475"/>
                  <a:pt x="39" y="475"/>
                  <a:pt x="23" y="475"/>
                </a:cubicBezTo>
                <a:cubicBezTo>
                  <a:pt x="7" y="475"/>
                  <a:pt x="7" y="475"/>
                  <a:pt x="7" y="490"/>
                </a:cubicBezTo>
              </a:path>
              <a:path w="94" h="1138">
                <a:moveTo>
                  <a:pt x="7" y="23"/>
                </a:moveTo>
                <a:cubicBezTo>
                  <a:pt x="7" y="38"/>
                  <a:pt x="7" y="54"/>
                  <a:pt x="23" y="54"/>
                </a:cubicBezTo>
                <a:cubicBezTo>
                  <a:pt x="39" y="54"/>
                  <a:pt x="54" y="38"/>
                  <a:pt x="54" y="23"/>
                </a:cubicBezTo>
                <a:cubicBezTo>
                  <a:pt x="54" y="7"/>
                  <a:pt x="39" y="7"/>
                  <a:pt x="23" y="7"/>
                </a:cubicBezTo>
                <a:cubicBezTo>
                  <a:pt x="7" y="7"/>
                  <a:pt x="7" y="7"/>
                  <a:pt x="7" y="23"/>
                </a:cubicBezTo>
              </a:path>
              <a:path w="94" h="1138">
                <a:moveTo>
                  <a:pt x="7" y="288"/>
                </a:moveTo>
                <a:cubicBezTo>
                  <a:pt x="7" y="303"/>
                  <a:pt x="7" y="319"/>
                  <a:pt x="23" y="319"/>
                </a:cubicBezTo>
                <a:cubicBezTo>
                  <a:pt x="39" y="319"/>
                  <a:pt x="54" y="303"/>
                  <a:pt x="54" y="288"/>
                </a:cubicBezTo>
                <a:cubicBezTo>
                  <a:pt x="54" y="272"/>
                  <a:pt x="39" y="272"/>
                  <a:pt x="23" y="272"/>
                </a:cubicBezTo>
                <a:cubicBezTo>
                  <a:pt x="7" y="272"/>
                  <a:pt x="7" y="272"/>
                  <a:pt x="7" y="288"/>
                </a:cubicBezTo>
              </a:path>
              <a:path w="94" h="1138">
                <a:moveTo>
                  <a:pt x="7" y="116"/>
                </a:moveTo>
                <a:cubicBezTo>
                  <a:pt x="7" y="132"/>
                  <a:pt x="7" y="148"/>
                  <a:pt x="23" y="148"/>
                </a:cubicBezTo>
                <a:cubicBezTo>
                  <a:pt x="39" y="148"/>
                  <a:pt x="54" y="132"/>
                  <a:pt x="54" y="116"/>
                </a:cubicBezTo>
                <a:cubicBezTo>
                  <a:pt x="54" y="101"/>
                  <a:pt x="39" y="101"/>
                  <a:pt x="23" y="101"/>
                </a:cubicBezTo>
                <a:cubicBezTo>
                  <a:pt x="7" y="101"/>
                  <a:pt x="7" y="101"/>
                  <a:pt x="7" y="116"/>
                </a:cubicBezTo>
              </a:path>
              <a:path w="94" h="1138">
                <a:moveTo>
                  <a:pt x="23" y="179"/>
                </a:moveTo>
                <a:cubicBezTo>
                  <a:pt x="23" y="194"/>
                  <a:pt x="23" y="210"/>
                  <a:pt x="39" y="210"/>
                </a:cubicBezTo>
                <a:cubicBezTo>
                  <a:pt x="54" y="210"/>
                  <a:pt x="71" y="194"/>
                  <a:pt x="71" y="179"/>
                </a:cubicBezTo>
                <a:cubicBezTo>
                  <a:pt x="71" y="163"/>
                  <a:pt x="54" y="163"/>
                  <a:pt x="39" y="163"/>
                </a:cubicBezTo>
                <a:cubicBezTo>
                  <a:pt x="23" y="163"/>
                  <a:pt x="23" y="163"/>
                  <a:pt x="23" y="179"/>
                </a:cubicBezTo>
              </a:path>
              <a:path w="94" h="1138">
                <a:moveTo>
                  <a:pt x="23" y="568"/>
                </a:moveTo>
                <a:cubicBezTo>
                  <a:pt x="23" y="584"/>
                  <a:pt x="23" y="600"/>
                  <a:pt x="39" y="600"/>
                </a:cubicBezTo>
                <a:cubicBezTo>
                  <a:pt x="54" y="600"/>
                  <a:pt x="71" y="584"/>
                  <a:pt x="71" y="568"/>
                </a:cubicBezTo>
                <a:cubicBezTo>
                  <a:pt x="71" y="553"/>
                  <a:pt x="54" y="553"/>
                  <a:pt x="39" y="553"/>
                </a:cubicBezTo>
                <a:cubicBezTo>
                  <a:pt x="23" y="553"/>
                  <a:pt x="23" y="553"/>
                  <a:pt x="23" y="568"/>
                </a:cubicBezTo>
              </a:path>
              <a:path w="94" h="1138">
                <a:moveTo>
                  <a:pt x="23" y="413"/>
                </a:moveTo>
                <a:cubicBezTo>
                  <a:pt x="23" y="428"/>
                  <a:pt x="23" y="444"/>
                  <a:pt x="39" y="444"/>
                </a:cubicBezTo>
                <a:cubicBezTo>
                  <a:pt x="54" y="444"/>
                  <a:pt x="71" y="428"/>
                  <a:pt x="71" y="413"/>
                </a:cubicBezTo>
                <a:cubicBezTo>
                  <a:pt x="71" y="397"/>
                  <a:pt x="54" y="397"/>
                  <a:pt x="39" y="397"/>
                </a:cubicBezTo>
                <a:cubicBezTo>
                  <a:pt x="23" y="397"/>
                  <a:pt x="23" y="397"/>
                  <a:pt x="23" y="413"/>
                </a:cubicBezTo>
              </a:path>
              <a:path w="94" h="1138">
                <a:moveTo>
                  <a:pt x="23" y="241"/>
                </a:moveTo>
                <a:cubicBezTo>
                  <a:pt x="23" y="257"/>
                  <a:pt x="23" y="272"/>
                  <a:pt x="39" y="272"/>
                </a:cubicBezTo>
                <a:cubicBezTo>
                  <a:pt x="54" y="272"/>
                  <a:pt x="71" y="257"/>
                  <a:pt x="71" y="241"/>
                </a:cubicBezTo>
                <a:cubicBezTo>
                  <a:pt x="71" y="225"/>
                  <a:pt x="54" y="225"/>
                  <a:pt x="39" y="225"/>
                </a:cubicBezTo>
                <a:cubicBezTo>
                  <a:pt x="23" y="225"/>
                  <a:pt x="23" y="225"/>
                  <a:pt x="23" y="241"/>
                </a:cubicBezTo>
              </a:path>
              <a:path w="94" h="1138">
                <a:moveTo>
                  <a:pt x="23" y="54"/>
                </a:moveTo>
                <a:cubicBezTo>
                  <a:pt x="23" y="70"/>
                  <a:pt x="23" y="85"/>
                  <a:pt x="39" y="85"/>
                </a:cubicBezTo>
                <a:cubicBezTo>
                  <a:pt x="54" y="85"/>
                  <a:pt x="71" y="70"/>
                  <a:pt x="71" y="54"/>
                </a:cubicBezTo>
                <a:cubicBezTo>
                  <a:pt x="71" y="38"/>
                  <a:pt x="54" y="38"/>
                  <a:pt x="39" y="38"/>
                </a:cubicBezTo>
                <a:cubicBezTo>
                  <a:pt x="23" y="38"/>
                  <a:pt x="23" y="38"/>
                  <a:pt x="23" y="54"/>
                </a:cubicBezTo>
              </a:path>
              <a:path w="94" h="1138">
                <a:moveTo>
                  <a:pt x="23" y="459"/>
                </a:moveTo>
                <a:cubicBezTo>
                  <a:pt x="23" y="475"/>
                  <a:pt x="23" y="490"/>
                  <a:pt x="39" y="490"/>
                </a:cubicBezTo>
                <a:cubicBezTo>
                  <a:pt x="54" y="490"/>
                  <a:pt x="71" y="475"/>
                  <a:pt x="71" y="459"/>
                </a:cubicBezTo>
                <a:cubicBezTo>
                  <a:pt x="71" y="444"/>
                  <a:pt x="54" y="444"/>
                  <a:pt x="39" y="444"/>
                </a:cubicBezTo>
                <a:cubicBezTo>
                  <a:pt x="23" y="444"/>
                  <a:pt x="23" y="444"/>
                  <a:pt x="23" y="459"/>
                </a:cubicBezTo>
              </a:path>
              <a:path w="94" h="1138">
                <a:moveTo>
                  <a:pt x="23" y="1099"/>
                </a:moveTo>
                <a:cubicBezTo>
                  <a:pt x="23" y="1114"/>
                  <a:pt x="23" y="1130"/>
                  <a:pt x="39" y="1130"/>
                </a:cubicBezTo>
                <a:cubicBezTo>
                  <a:pt x="54" y="1130"/>
                  <a:pt x="71" y="1114"/>
                  <a:pt x="71" y="1099"/>
                </a:cubicBezTo>
                <a:cubicBezTo>
                  <a:pt x="71" y="1083"/>
                  <a:pt x="54" y="1083"/>
                  <a:pt x="39" y="1083"/>
                </a:cubicBezTo>
                <a:cubicBezTo>
                  <a:pt x="23" y="1083"/>
                  <a:pt x="23" y="1083"/>
                  <a:pt x="23" y="1099"/>
                </a:cubicBezTo>
              </a:path>
              <a:path w="94" h="1138">
                <a:moveTo>
                  <a:pt x="23" y="303"/>
                </a:moveTo>
                <a:cubicBezTo>
                  <a:pt x="23" y="319"/>
                  <a:pt x="23" y="335"/>
                  <a:pt x="39" y="335"/>
                </a:cubicBezTo>
                <a:cubicBezTo>
                  <a:pt x="54" y="335"/>
                  <a:pt x="71" y="319"/>
                  <a:pt x="71" y="303"/>
                </a:cubicBezTo>
                <a:cubicBezTo>
                  <a:pt x="71" y="288"/>
                  <a:pt x="54" y="288"/>
                  <a:pt x="39" y="288"/>
                </a:cubicBezTo>
                <a:cubicBezTo>
                  <a:pt x="23" y="288"/>
                  <a:pt x="23" y="288"/>
                  <a:pt x="23" y="303"/>
                </a:cubicBezTo>
              </a:path>
              <a:path w="94" h="1138">
                <a:moveTo>
                  <a:pt x="23" y="101"/>
                </a:moveTo>
                <a:cubicBezTo>
                  <a:pt x="23" y="116"/>
                  <a:pt x="23" y="132"/>
                  <a:pt x="39" y="132"/>
                </a:cubicBezTo>
                <a:cubicBezTo>
                  <a:pt x="54" y="132"/>
                  <a:pt x="71" y="116"/>
                  <a:pt x="71" y="101"/>
                </a:cubicBezTo>
                <a:cubicBezTo>
                  <a:pt x="71" y="85"/>
                  <a:pt x="54" y="85"/>
                  <a:pt x="39" y="85"/>
                </a:cubicBezTo>
                <a:cubicBezTo>
                  <a:pt x="23" y="85"/>
                  <a:pt x="23" y="85"/>
                  <a:pt x="23" y="101"/>
                </a:cubicBezTo>
              </a:path>
              <a:path w="94" h="1138">
                <a:moveTo>
                  <a:pt x="39" y="272"/>
                </a:moveTo>
                <a:cubicBezTo>
                  <a:pt x="39" y="288"/>
                  <a:pt x="39" y="303"/>
                  <a:pt x="54" y="303"/>
                </a:cubicBezTo>
                <a:cubicBezTo>
                  <a:pt x="71" y="303"/>
                  <a:pt x="86" y="288"/>
                  <a:pt x="86" y="272"/>
                </a:cubicBezTo>
                <a:cubicBezTo>
                  <a:pt x="86" y="257"/>
                  <a:pt x="71" y="257"/>
                  <a:pt x="54" y="257"/>
                </a:cubicBezTo>
                <a:cubicBezTo>
                  <a:pt x="39" y="257"/>
                  <a:pt x="39" y="257"/>
                  <a:pt x="39" y="272"/>
                </a:cubicBezTo>
              </a:path>
              <a:path w="94" h="1138">
                <a:moveTo>
                  <a:pt x="39" y="1052"/>
                </a:moveTo>
                <a:cubicBezTo>
                  <a:pt x="39" y="1068"/>
                  <a:pt x="39" y="1083"/>
                  <a:pt x="54" y="1083"/>
                </a:cubicBezTo>
                <a:cubicBezTo>
                  <a:pt x="71" y="1083"/>
                  <a:pt x="86" y="1068"/>
                  <a:pt x="86" y="1052"/>
                </a:cubicBezTo>
                <a:cubicBezTo>
                  <a:pt x="86" y="1037"/>
                  <a:pt x="71" y="1037"/>
                  <a:pt x="54" y="1037"/>
                </a:cubicBezTo>
                <a:cubicBezTo>
                  <a:pt x="39" y="1037"/>
                  <a:pt x="39" y="1037"/>
                  <a:pt x="39" y="1052"/>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37" name="path"/>
          <p:cNvSpPr/>
          <p:nvPr/>
        </p:nvSpPr>
        <p:spPr>
          <a:xfrm>
            <a:off x="6248108" y="2324058"/>
            <a:ext cx="50110" cy="306838"/>
          </a:xfrm>
          <a:custGeom>
            <a:avLst/>
            <a:gdLst/>
            <a:ahLst/>
            <a:cxnLst/>
            <a:rect l="0" t="0" r="0" b="0"/>
            <a:pathLst>
              <a:path w="78" h="483">
                <a:moveTo>
                  <a:pt x="7" y="23"/>
                </a:moveTo>
                <a:cubicBezTo>
                  <a:pt x="7" y="38"/>
                  <a:pt x="7" y="54"/>
                  <a:pt x="23" y="54"/>
                </a:cubicBezTo>
                <a:cubicBezTo>
                  <a:pt x="39" y="54"/>
                  <a:pt x="55" y="38"/>
                  <a:pt x="55" y="23"/>
                </a:cubicBezTo>
                <a:cubicBezTo>
                  <a:pt x="55" y="7"/>
                  <a:pt x="39" y="7"/>
                  <a:pt x="23" y="7"/>
                </a:cubicBezTo>
                <a:cubicBezTo>
                  <a:pt x="7" y="7"/>
                  <a:pt x="7" y="7"/>
                  <a:pt x="7" y="23"/>
                </a:cubicBezTo>
              </a:path>
              <a:path w="78" h="483">
                <a:moveTo>
                  <a:pt x="23" y="444"/>
                </a:moveTo>
                <a:cubicBezTo>
                  <a:pt x="23" y="459"/>
                  <a:pt x="23" y="475"/>
                  <a:pt x="39" y="475"/>
                </a:cubicBezTo>
                <a:cubicBezTo>
                  <a:pt x="55" y="475"/>
                  <a:pt x="71" y="459"/>
                  <a:pt x="71" y="444"/>
                </a:cubicBezTo>
                <a:cubicBezTo>
                  <a:pt x="71" y="428"/>
                  <a:pt x="55" y="428"/>
                  <a:pt x="39" y="428"/>
                </a:cubicBezTo>
                <a:cubicBezTo>
                  <a:pt x="23" y="428"/>
                  <a:pt x="23" y="428"/>
                  <a:pt x="23" y="444"/>
                </a:cubicBezTo>
              </a:path>
              <a:path w="78" h="483">
                <a:moveTo>
                  <a:pt x="23" y="257"/>
                </a:moveTo>
                <a:cubicBezTo>
                  <a:pt x="23" y="272"/>
                  <a:pt x="23" y="288"/>
                  <a:pt x="39" y="288"/>
                </a:cubicBezTo>
                <a:cubicBezTo>
                  <a:pt x="55" y="288"/>
                  <a:pt x="71" y="272"/>
                  <a:pt x="71" y="257"/>
                </a:cubicBezTo>
                <a:cubicBezTo>
                  <a:pt x="71" y="241"/>
                  <a:pt x="55" y="241"/>
                  <a:pt x="39" y="241"/>
                </a:cubicBezTo>
                <a:cubicBezTo>
                  <a:pt x="23" y="241"/>
                  <a:pt x="23" y="241"/>
                  <a:pt x="23" y="257"/>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38" name="path"/>
          <p:cNvSpPr/>
          <p:nvPr/>
        </p:nvSpPr>
        <p:spPr>
          <a:xfrm>
            <a:off x="6258064" y="2393301"/>
            <a:ext cx="40154" cy="69243"/>
          </a:xfrm>
          <a:custGeom>
            <a:avLst/>
            <a:gdLst/>
            <a:ahLst/>
            <a:cxnLst/>
            <a:rect l="0" t="0" r="0" b="0"/>
            <a:pathLst>
              <a:path w="63" h="109">
                <a:moveTo>
                  <a:pt x="7" y="23"/>
                </a:moveTo>
                <a:cubicBezTo>
                  <a:pt x="7" y="38"/>
                  <a:pt x="7" y="54"/>
                  <a:pt x="24" y="54"/>
                </a:cubicBezTo>
                <a:cubicBezTo>
                  <a:pt x="39" y="54"/>
                  <a:pt x="55" y="38"/>
                  <a:pt x="55" y="23"/>
                </a:cubicBezTo>
                <a:cubicBezTo>
                  <a:pt x="55" y="7"/>
                  <a:pt x="39" y="7"/>
                  <a:pt x="24" y="7"/>
                </a:cubicBezTo>
                <a:cubicBezTo>
                  <a:pt x="7" y="7"/>
                  <a:pt x="7" y="7"/>
                  <a:pt x="7" y="23"/>
                </a:cubicBezTo>
              </a:path>
              <a:path w="63" h="109">
                <a:moveTo>
                  <a:pt x="7" y="23"/>
                </a:moveTo>
                <a:cubicBezTo>
                  <a:pt x="7" y="38"/>
                  <a:pt x="7" y="54"/>
                  <a:pt x="24" y="54"/>
                </a:cubicBezTo>
                <a:cubicBezTo>
                  <a:pt x="39" y="54"/>
                  <a:pt x="55" y="38"/>
                  <a:pt x="55" y="23"/>
                </a:cubicBezTo>
                <a:cubicBezTo>
                  <a:pt x="55" y="7"/>
                  <a:pt x="39" y="7"/>
                  <a:pt x="24" y="7"/>
                </a:cubicBezTo>
                <a:cubicBezTo>
                  <a:pt x="7" y="7"/>
                  <a:pt x="7" y="7"/>
                  <a:pt x="7" y="23"/>
                </a:cubicBezTo>
              </a:path>
              <a:path w="63" h="109">
                <a:moveTo>
                  <a:pt x="7" y="70"/>
                </a:moveTo>
                <a:cubicBezTo>
                  <a:pt x="7" y="85"/>
                  <a:pt x="7" y="101"/>
                  <a:pt x="24" y="101"/>
                </a:cubicBezTo>
                <a:cubicBezTo>
                  <a:pt x="39" y="101"/>
                  <a:pt x="55" y="85"/>
                  <a:pt x="55" y="70"/>
                </a:cubicBezTo>
                <a:cubicBezTo>
                  <a:pt x="55" y="54"/>
                  <a:pt x="39" y="54"/>
                  <a:pt x="24" y="54"/>
                </a:cubicBezTo>
                <a:cubicBezTo>
                  <a:pt x="7" y="54"/>
                  <a:pt x="7" y="54"/>
                  <a:pt x="7" y="70"/>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39" name="path"/>
          <p:cNvSpPr/>
          <p:nvPr/>
        </p:nvSpPr>
        <p:spPr>
          <a:xfrm>
            <a:off x="6258064" y="2314213"/>
            <a:ext cx="50110" cy="465343"/>
          </a:xfrm>
          <a:custGeom>
            <a:avLst/>
            <a:gdLst/>
            <a:ahLst/>
            <a:cxnLst/>
            <a:rect l="0" t="0" r="0" b="0"/>
            <a:pathLst>
              <a:path w="78" h="732">
                <a:moveTo>
                  <a:pt x="7" y="521"/>
                </a:moveTo>
                <a:cubicBezTo>
                  <a:pt x="7" y="537"/>
                  <a:pt x="7" y="553"/>
                  <a:pt x="24" y="553"/>
                </a:cubicBezTo>
                <a:cubicBezTo>
                  <a:pt x="39" y="553"/>
                  <a:pt x="55" y="537"/>
                  <a:pt x="55" y="521"/>
                </a:cubicBezTo>
                <a:cubicBezTo>
                  <a:pt x="55" y="506"/>
                  <a:pt x="39" y="506"/>
                  <a:pt x="24" y="506"/>
                </a:cubicBezTo>
                <a:cubicBezTo>
                  <a:pt x="7" y="506"/>
                  <a:pt x="7" y="506"/>
                  <a:pt x="7" y="521"/>
                </a:cubicBezTo>
              </a:path>
              <a:path w="78" h="732">
                <a:moveTo>
                  <a:pt x="7" y="101"/>
                </a:moveTo>
                <a:cubicBezTo>
                  <a:pt x="7" y="116"/>
                  <a:pt x="7" y="132"/>
                  <a:pt x="24" y="132"/>
                </a:cubicBezTo>
                <a:cubicBezTo>
                  <a:pt x="39" y="132"/>
                  <a:pt x="55" y="116"/>
                  <a:pt x="55" y="101"/>
                </a:cubicBezTo>
                <a:cubicBezTo>
                  <a:pt x="55" y="85"/>
                  <a:pt x="39" y="85"/>
                  <a:pt x="24" y="85"/>
                </a:cubicBezTo>
                <a:cubicBezTo>
                  <a:pt x="7" y="85"/>
                  <a:pt x="7" y="85"/>
                  <a:pt x="7" y="101"/>
                </a:cubicBezTo>
              </a:path>
              <a:path w="78" h="732">
                <a:moveTo>
                  <a:pt x="24" y="54"/>
                </a:moveTo>
                <a:cubicBezTo>
                  <a:pt x="24" y="69"/>
                  <a:pt x="24" y="85"/>
                  <a:pt x="39" y="85"/>
                </a:cubicBezTo>
                <a:cubicBezTo>
                  <a:pt x="55" y="85"/>
                  <a:pt x="71" y="69"/>
                  <a:pt x="71" y="54"/>
                </a:cubicBezTo>
                <a:cubicBezTo>
                  <a:pt x="71" y="38"/>
                  <a:pt x="55" y="38"/>
                  <a:pt x="39" y="38"/>
                </a:cubicBezTo>
                <a:cubicBezTo>
                  <a:pt x="24" y="38"/>
                  <a:pt x="24" y="38"/>
                  <a:pt x="24" y="54"/>
                </a:cubicBezTo>
              </a:path>
              <a:path w="78" h="732">
                <a:moveTo>
                  <a:pt x="24" y="54"/>
                </a:moveTo>
                <a:cubicBezTo>
                  <a:pt x="24" y="69"/>
                  <a:pt x="24" y="85"/>
                  <a:pt x="39" y="85"/>
                </a:cubicBezTo>
                <a:cubicBezTo>
                  <a:pt x="55" y="85"/>
                  <a:pt x="71" y="69"/>
                  <a:pt x="71" y="54"/>
                </a:cubicBezTo>
                <a:cubicBezTo>
                  <a:pt x="71" y="38"/>
                  <a:pt x="55" y="38"/>
                  <a:pt x="39" y="38"/>
                </a:cubicBezTo>
                <a:cubicBezTo>
                  <a:pt x="24" y="38"/>
                  <a:pt x="24" y="38"/>
                  <a:pt x="24" y="54"/>
                </a:cubicBezTo>
              </a:path>
              <a:path w="78" h="732">
                <a:moveTo>
                  <a:pt x="24" y="693"/>
                </a:moveTo>
                <a:cubicBezTo>
                  <a:pt x="24" y="709"/>
                  <a:pt x="24" y="725"/>
                  <a:pt x="39" y="725"/>
                </a:cubicBezTo>
                <a:cubicBezTo>
                  <a:pt x="55" y="725"/>
                  <a:pt x="71" y="709"/>
                  <a:pt x="71" y="693"/>
                </a:cubicBezTo>
                <a:cubicBezTo>
                  <a:pt x="71" y="678"/>
                  <a:pt x="55" y="678"/>
                  <a:pt x="39" y="678"/>
                </a:cubicBezTo>
                <a:cubicBezTo>
                  <a:pt x="24" y="678"/>
                  <a:pt x="24" y="678"/>
                  <a:pt x="24" y="693"/>
                </a:cubicBezTo>
              </a:path>
              <a:path w="78" h="732">
                <a:moveTo>
                  <a:pt x="24" y="23"/>
                </a:moveTo>
                <a:cubicBezTo>
                  <a:pt x="24" y="38"/>
                  <a:pt x="24" y="54"/>
                  <a:pt x="39" y="54"/>
                </a:cubicBezTo>
                <a:cubicBezTo>
                  <a:pt x="55" y="54"/>
                  <a:pt x="71" y="38"/>
                  <a:pt x="71" y="23"/>
                </a:cubicBezTo>
                <a:cubicBezTo>
                  <a:pt x="71" y="7"/>
                  <a:pt x="55" y="7"/>
                  <a:pt x="39" y="7"/>
                </a:cubicBezTo>
                <a:cubicBezTo>
                  <a:pt x="24" y="7"/>
                  <a:pt x="24" y="7"/>
                  <a:pt x="24"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40" name="path"/>
          <p:cNvSpPr/>
          <p:nvPr/>
        </p:nvSpPr>
        <p:spPr>
          <a:xfrm>
            <a:off x="6278308" y="2294194"/>
            <a:ext cx="39823" cy="445653"/>
          </a:xfrm>
          <a:custGeom>
            <a:avLst/>
            <a:gdLst/>
            <a:ahLst/>
            <a:cxnLst/>
            <a:rect l="0" t="0" r="0" b="0"/>
            <a:pathLst>
              <a:path w="62" h="701">
                <a:moveTo>
                  <a:pt x="7" y="23"/>
                </a:moveTo>
                <a:cubicBezTo>
                  <a:pt x="7" y="39"/>
                  <a:pt x="7" y="54"/>
                  <a:pt x="23" y="54"/>
                </a:cubicBezTo>
                <a:cubicBezTo>
                  <a:pt x="39" y="54"/>
                  <a:pt x="54" y="39"/>
                  <a:pt x="54" y="23"/>
                </a:cubicBezTo>
                <a:cubicBezTo>
                  <a:pt x="54" y="7"/>
                  <a:pt x="39" y="7"/>
                  <a:pt x="23" y="7"/>
                </a:cubicBezTo>
                <a:cubicBezTo>
                  <a:pt x="7" y="7"/>
                  <a:pt x="7" y="7"/>
                  <a:pt x="7" y="23"/>
                </a:cubicBezTo>
              </a:path>
              <a:path w="62" h="701">
                <a:moveTo>
                  <a:pt x="7" y="54"/>
                </a:moveTo>
                <a:cubicBezTo>
                  <a:pt x="7" y="70"/>
                  <a:pt x="7" y="85"/>
                  <a:pt x="23" y="85"/>
                </a:cubicBezTo>
                <a:cubicBezTo>
                  <a:pt x="39" y="85"/>
                  <a:pt x="54" y="70"/>
                  <a:pt x="54" y="54"/>
                </a:cubicBezTo>
                <a:cubicBezTo>
                  <a:pt x="54" y="39"/>
                  <a:pt x="39" y="39"/>
                  <a:pt x="23" y="39"/>
                </a:cubicBezTo>
                <a:cubicBezTo>
                  <a:pt x="7" y="39"/>
                  <a:pt x="7" y="39"/>
                  <a:pt x="7" y="54"/>
                </a:cubicBezTo>
              </a:path>
              <a:path w="62" h="701">
                <a:moveTo>
                  <a:pt x="7" y="116"/>
                </a:moveTo>
                <a:cubicBezTo>
                  <a:pt x="7" y="132"/>
                  <a:pt x="7" y="148"/>
                  <a:pt x="23" y="148"/>
                </a:cubicBezTo>
                <a:cubicBezTo>
                  <a:pt x="39" y="148"/>
                  <a:pt x="54" y="132"/>
                  <a:pt x="54" y="116"/>
                </a:cubicBezTo>
                <a:cubicBezTo>
                  <a:pt x="54" y="101"/>
                  <a:pt x="39" y="101"/>
                  <a:pt x="23" y="101"/>
                </a:cubicBezTo>
                <a:cubicBezTo>
                  <a:pt x="7" y="101"/>
                  <a:pt x="7" y="101"/>
                  <a:pt x="7" y="116"/>
                </a:cubicBezTo>
              </a:path>
              <a:path w="62" h="701">
                <a:moveTo>
                  <a:pt x="7" y="663"/>
                </a:moveTo>
                <a:cubicBezTo>
                  <a:pt x="7" y="678"/>
                  <a:pt x="7" y="694"/>
                  <a:pt x="23" y="694"/>
                </a:cubicBezTo>
                <a:cubicBezTo>
                  <a:pt x="39" y="694"/>
                  <a:pt x="54" y="678"/>
                  <a:pt x="54" y="663"/>
                </a:cubicBezTo>
                <a:cubicBezTo>
                  <a:pt x="54" y="647"/>
                  <a:pt x="39" y="647"/>
                  <a:pt x="23" y="647"/>
                </a:cubicBezTo>
                <a:cubicBezTo>
                  <a:pt x="7" y="647"/>
                  <a:pt x="7" y="647"/>
                  <a:pt x="7" y="66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41" name="path"/>
          <p:cNvSpPr/>
          <p:nvPr/>
        </p:nvSpPr>
        <p:spPr>
          <a:xfrm>
            <a:off x="6288263" y="2274504"/>
            <a:ext cx="50111" cy="237594"/>
          </a:xfrm>
          <a:custGeom>
            <a:avLst/>
            <a:gdLst/>
            <a:ahLst/>
            <a:cxnLst/>
            <a:rect l="0" t="0" r="0" b="0"/>
            <a:pathLst>
              <a:path w="78" h="374">
                <a:moveTo>
                  <a:pt x="7" y="335"/>
                </a:moveTo>
                <a:cubicBezTo>
                  <a:pt x="7" y="350"/>
                  <a:pt x="7" y="366"/>
                  <a:pt x="23" y="366"/>
                </a:cubicBezTo>
                <a:cubicBezTo>
                  <a:pt x="39" y="366"/>
                  <a:pt x="54" y="350"/>
                  <a:pt x="54" y="335"/>
                </a:cubicBezTo>
                <a:cubicBezTo>
                  <a:pt x="54" y="319"/>
                  <a:pt x="39" y="319"/>
                  <a:pt x="23" y="319"/>
                </a:cubicBezTo>
                <a:cubicBezTo>
                  <a:pt x="7" y="319"/>
                  <a:pt x="7" y="319"/>
                  <a:pt x="7" y="335"/>
                </a:cubicBezTo>
              </a:path>
              <a:path w="78" h="374">
                <a:moveTo>
                  <a:pt x="23" y="23"/>
                </a:moveTo>
                <a:cubicBezTo>
                  <a:pt x="23" y="38"/>
                  <a:pt x="23" y="54"/>
                  <a:pt x="39" y="54"/>
                </a:cubicBezTo>
                <a:cubicBezTo>
                  <a:pt x="54" y="54"/>
                  <a:pt x="71" y="38"/>
                  <a:pt x="71" y="23"/>
                </a:cubicBezTo>
                <a:cubicBezTo>
                  <a:pt x="71" y="7"/>
                  <a:pt x="54" y="7"/>
                  <a:pt x="39" y="7"/>
                </a:cubicBezTo>
                <a:cubicBezTo>
                  <a:pt x="23" y="7"/>
                  <a:pt x="23" y="7"/>
                  <a:pt x="23"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42" name="path"/>
          <p:cNvSpPr/>
          <p:nvPr/>
        </p:nvSpPr>
        <p:spPr>
          <a:xfrm>
            <a:off x="6288263" y="2403147"/>
            <a:ext cx="39823" cy="267458"/>
          </a:xfrm>
          <a:custGeom>
            <a:avLst/>
            <a:gdLst/>
            <a:ahLst/>
            <a:cxnLst/>
            <a:rect l="0" t="0" r="0" b="0"/>
            <a:pathLst>
              <a:path w="62" h="421">
                <a:moveTo>
                  <a:pt x="7" y="23"/>
                </a:moveTo>
                <a:cubicBezTo>
                  <a:pt x="7" y="38"/>
                  <a:pt x="7" y="54"/>
                  <a:pt x="23" y="54"/>
                </a:cubicBezTo>
                <a:cubicBezTo>
                  <a:pt x="39" y="54"/>
                  <a:pt x="54" y="38"/>
                  <a:pt x="54" y="23"/>
                </a:cubicBezTo>
                <a:cubicBezTo>
                  <a:pt x="54" y="7"/>
                  <a:pt x="39" y="7"/>
                  <a:pt x="23" y="7"/>
                </a:cubicBezTo>
                <a:cubicBezTo>
                  <a:pt x="7" y="7"/>
                  <a:pt x="7" y="7"/>
                  <a:pt x="7" y="23"/>
                </a:cubicBezTo>
              </a:path>
              <a:path w="62" h="421">
                <a:moveTo>
                  <a:pt x="7" y="381"/>
                </a:moveTo>
                <a:cubicBezTo>
                  <a:pt x="7" y="397"/>
                  <a:pt x="7" y="413"/>
                  <a:pt x="23" y="413"/>
                </a:cubicBezTo>
                <a:cubicBezTo>
                  <a:pt x="39" y="413"/>
                  <a:pt x="54" y="397"/>
                  <a:pt x="54" y="381"/>
                </a:cubicBezTo>
                <a:cubicBezTo>
                  <a:pt x="54" y="366"/>
                  <a:pt x="39" y="366"/>
                  <a:pt x="23" y="366"/>
                </a:cubicBezTo>
                <a:cubicBezTo>
                  <a:pt x="7" y="366"/>
                  <a:pt x="7" y="366"/>
                  <a:pt x="7" y="381"/>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43" name="path"/>
          <p:cNvSpPr/>
          <p:nvPr/>
        </p:nvSpPr>
        <p:spPr>
          <a:xfrm>
            <a:off x="6298219" y="2254486"/>
            <a:ext cx="40155" cy="188369"/>
          </a:xfrm>
          <a:custGeom>
            <a:avLst/>
            <a:gdLst/>
            <a:ahLst/>
            <a:cxnLst/>
            <a:rect l="0" t="0" r="0" b="0"/>
            <a:pathLst>
              <a:path w="63" h="296">
                <a:moveTo>
                  <a:pt x="7" y="257"/>
                </a:moveTo>
                <a:cubicBezTo>
                  <a:pt x="7" y="272"/>
                  <a:pt x="7" y="288"/>
                  <a:pt x="23" y="288"/>
                </a:cubicBezTo>
                <a:cubicBezTo>
                  <a:pt x="39" y="288"/>
                  <a:pt x="55" y="272"/>
                  <a:pt x="55" y="257"/>
                </a:cubicBezTo>
                <a:cubicBezTo>
                  <a:pt x="55" y="241"/>
                  <a:pt x="39" y="241"/>
                  <a:pt x="23" y="241"/>
                </a:cubicBezTo>
                <a:cubicBezTo>
                  <a:pt x="7" y="241"/>
                  <a:pt x="7" y="241"/>
                  <a:pt x="7" y="257"/>
                </a:cubicBezTo>
              </a:path>
              <a:path w="63" h="296">
                <a:moveTo>
                  <a:pt x="7" y="257"/>
                </a:moveTo>
                <a:cubicBezTo>
                  <a:pt x="7" y="272"/>
                  <a:pt x="7" y="288"/>
                  <a:pt x="23" y="288"/>
                </a:cubicBezTo>
                <a:cubicBezTo>
                  <a:pt x="39" y="288"/>
                  <a:pt x="55" y="272"/>
                  <a:pt x="55" y="257"/>
                </a:cubicBezTo>
                <a:cubicBezTo>
                  <a:pt x="55" y="241"/>
                  <a:pt x="39" y="241"/>
                  <a:pt x="23" y="241"/>
                </a:cubicBezTo>
                <a:cubicBezTo>
                  <a:pt x="7" y="241"/>
                  <a:pt x="7" y="241"/>
                  <a:pt x="7" y="257"/>
                </a:cubicBezTo>
              </a:path>
              <a:path w="63" h="296">
                <a:moveTo>
                  <a:pt x="7" y="23"/>
                </a:moveTo>
                <a:cubicBezTo>
                  <a:pt x="7" y="39"/>
                  <a:pt x="7" y="54"/>
                  <a:pt x="23" y="54"/>
                </a:cubicBezTo>
                <a:cubicBezTo>
                  <a:pt x="39" y="54"/>
                  <a:pt x="55" y="39"/>
                  <a:pt x="55" y="23"/>
                </a:cubicBezTo>
                <a:cubicBezTo>
                  <a:pt x="55" y="7"/>
                  <a:pt x="39" y="7"/>
                  <a:pt x="23"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44" name="path"/>
          <p:cNvSpPr/>
          <p:nvPr/>
        </p:nvSpPr>
        <p:spPr>
          <a:xfrm>
            <a:off x="6308175" y="2224951"/>
            <a:ext cx="50111" cy="336701"/>
          </a:xfrm>
          <a:custGeom>
            <a:avLst/>
            <a:gdLst/>
            <a:ahLst/>
            <a:cxnLst/>
            <a:rect l="0" t="0" r="0" b="0"/>
            <a:pathLst>
              <a:path w="78" h="530">
                <a:moveTo>
                  <a:pt x="7" y="490"/>
                </a:moveTo>
                <a:cubicBezTo>
                  <a:pt x="7" y="506"/>
                  <a:pt x="7" y="522"/>
                  <a:pt x="23" y="522"/>
                </a:cubicBezTo>
                <a:cubicBezTo>
                  <a:pt x="39" y="522"/>
                  <a:pt x="55" y="506"/>
                  <a:pt x="55" y="490"/>
                </a:cubicBezTo>
                <a:cubicBezTo>
                  <a:pt x="55" y="475"/>
                  <a:pt x="39" y="475"/>
                  <a:pt x="23" y="475"/>
                </a:cubicBezTo>
                <a:cubicBezTo>
                  <a:pt x="7" y="475"/>
                  <a:pt x="7" y="475"/>
                  <a:pt x="7" y="490"/>
                </a:cubicBezTo>
              </a:path>
              <a:path w="78" h="530">
                <a:moveTo>
                  <a:pt x="7" y="194"/>
                </a:moveTo>
                <a:cubicBezTo>
                  <a:pt x="7" y="210"/>
                  <a:pt x="7" y="225"/>
                  <a:pt x="23" y="225"/>
                </a:cubicBezTo>
                <a:cubicBezTo>
                  <a:pt x="39" y="225"/>
                  <a:pt x="55" y="210"/>
                  <a:pt x="55" y="194"/>
                </a:cubicBezTo>
                <a:cubicBezTo>
                  <a:pt x="55" y="179"/>
                  <a:pt x="39" y="179"/>
                  <a:pt x="23" y="179"/>
                </a:cubicBezTo>
                <a:cubicBezTo>
                  <a:pt x="7" y="179"/>
                  <a:pt x="7" y="179"/>
                  <a:pt x="7" y="194"/>
                </a:cubicBezTo>
              </a:path>
              <a:path w="78" h="530">
                <a:moveTo>
                  <a:pt x="7" y="23"/>
                </a:moveTo>
                <a:cubicBezTo>
                  <a:pt x="7" y="38"/>
                  <a:pt x="7" y="54"/>
                  <a:pt x="23" y="54"/>
                </a:cubicBezTo>
                <a:cubicBezTo>
                  <a:pt x="39" y="54"/>
                  <a:pt x="55" y="38"/>
                  <a:pt x="55" y="23"/>
                </a:cubicBezTo>
                <a:cubicBezTo>
                  <a:pt x="55" y="7"/>
                  <a:pt x="39" y="7"/>
                  <a:pt x="23" y="7"/>
                </a:cubicBezTo>
                <a:cubicBezTo>
                  <a:pt x="7" y="7"/>
                  <a:pt x="7" y="7"/>
                  <a:pt x="7" y="23"/>
                </a:cubicBezTo>
              </a:path>
              <a:path w="78" h="530">
                <a:moveTo>
                  <a:pt x="23" y="413"/>
                </a:moveTo>
                <a:cubicBezTo>
                  <a:pt x="23" y="428"/>
                  <a:pt x="23" y="444"/>
                  <a:pt x="39" y="444"/>
                </a:cubicBezTo>
                <a:cubicBezTo>
                  <a:pt x="55" y="444"/>
                  <a:pt x="71" y="428"/>
                  <a:pt x="71" y="413"/>
                </a:cubicBezTo>
                <a:cubicBezTo>
                  <a:pt x="71" y="397"/>
                  <a:pt x="55" y="397"/>
                  <a:pt x="39" y="397"/>
                </a:cubicBezTo>
                <a:cubicBezTo>
                  <a:pt x="23" y="397"/>
                  <a:pt x="23" y="397"/>
                  <a:pt x="23" y="413"/>
                </a:cubicBezTo>
              </a:path>
              <a:path w="78" h="530">
                <a:moveTo>
                  <a:pt x="23" y="241"/>
                </a:moveTo>
                <a:cubicBezTo>
                  <a:pt x="23" y="257"/>
                  <a:pt x="23" y="272"/>
                  <a:pt x="39" y="272"/>
                </a:cubicBezTo>
                <a:cubicBezTo>
                  <a:pt x="55" y="272"/>
                  <a:pt x="71" y="257"/>
                  <a:pt x="71" y="241"/>
                </a:cubicBezTo>
                <a:cubicBezTo>
                  <a:pt x="71" y="225"/>
                  <a:pt x="55" y="225"/>
                  <a:pt x="39" y="225"/>
                </a:cubicBezTo>
                <a:cubicBezTo>
                  <a:pt x="23" y="225"/>
                  <a:pt x="23" y="225"/>
                  <a:pt x="23" y="241"/>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45" name="path"/>
          <p:cNvSpPr/>
          <p:nvPr/>
        </p:nvSpPr>
        <p:spPr>
          <a:xfrm>
            <a:off x="6328419" y="2284349"/>
            <a:ext cx="39823" cy="178196"/>
          </a:xfrm>
          <a:custGeom>
            <a:avLst/>
            <a:gdLst/>
            <a:ahLst/>
            <a:cxnLst/>
            <a:rect l="0" t="0" r="0" b="0"/>
            <a:pathLst>
              <a:path w="62" h="280">
                <a:moveTo>
                  <a:pt x="7" y="23"/>
                </a:moveTo>
                <a:cubicBezTo>
                  <a:pt x="7" y="38"/>
                  <a:pt x="7" y="54"/>
                  <a:pt x="23" y="54"/>
                </a:cubicBezTo>
                <a:cubicBezTo>
                  <a:pt x="39" y="54"/>
                  <a:pt x="54" y="38"/>
                  <a:pt x="54" y="23"/>
                </a:cubicBezTo>
                <a:cubicBezTo>
                  <a:pt x="54" y="7"/>
                  <a:pt x="39" y="7"/>
                  <a:pt x="23" y="7"/>
                </a:cubicBezTo>
                <a:cubicBezTo>
                  <a:pt x="7" y="7"/>
                  <a:pt x="7" y="7"/>
                  <a:pt x="7" y="23"/>
                </a:cubicBezTo>
              </a:path>
              <a:path w="62" h="280">
                <a:moveTo>
                  <a:pt x="7" y="148"/>
                </a:moveTo>
                <a:cubicBezTo>
                  <a:pt x="7" y="163"/>
                  <a:pt x="7" y="179"/>
                  <a:pt x="23" y="179"/>
                </a:cubicBezTo>
                <a:cubicBezTo>
                  <a:pt x="39" y="179"/>
                  <a:pt x="54" y="163"/>
                  <a:pt x="54" y="148"/>
                </a:cubicBezTo>
                <a:cubicBezTo>
                  <a:pt x="54" y="132"/>
                  <a:pt x="39" y="132"/>
                  <a:pt x="23" y="132"/>
                </a:cubicBezTo>
                <a:cubicBezTo>
                  <a:pt x="7" y="132"/>
                  <a:pt x="7" y="132"/>
                  <a:pt x="7" y="148"/>
                </a:cubicBezTo>
              </a:path>
              <a:path w="62" h="280">
                <a:moveTo>
                  <a:pt x="7" y="241"/>
                </a:moveTo>
                <a:cubicBezTo>
                  <a:pt x="7" y="257"/>
                  <a:pt x="7" y="272"/>
                  <a:pt x="23" y="272"/>
                </a:cubicBezTo>
                <a:cubicBezTo>
                  <a:pt x="39" y="272"/>
                  <a:pt x="54" y="257"/>
                  <a:pt x="54" y="241"/>
                </a:cubicBezTo>
                <a:cubicBezTo>
                  <a:pt x="54" y="225"/>
                  <a:pt x="39" y="225"/>
                  <a:pt x="23" y="225"/>
                </a:cubicBezTo>
                <a:cubicBezTo>
                  <a:pt x="7" y="225"/>
                  <a:pt x="7" y="225"/>
                  <a:pt x="7" y="241"/>
                </a:cubicBezTo>
              </a:path>
              <a:path w="62" h="280">
                <a:moveTo>
                  <a:pt x="7" y="101"/>
                </a:moveTo>
                <a:cubicBezTo>
                  <a:pt x="7" y="116"/>
                  <a:pt x="7" y="132"/>
                  <a:pt x="23" y="132"/>
                </a:cubicBezTo>
                <a:cubicBezTo>
                  <a:pt x="39" y="132"/>
                  <a:pt x="54" y="116"/>
                  <a:pt x="54" y="101"/>
                </a:cubicBezTo>
                <a:cubicBezTo>
                  <a:pt x="54" y="85"/>
                  <a:pt x="39" y="85"/>
                  <a:pt x="23" y="85"/>
                </a:cubicBezTo>
                <a:cubicBezTo>
                  <a:pt x="7" y="85"/>
                  <a:pt x="7" y="85"/>
                  <a:pt x="7" y="101"/>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46" name="path"/>
          <p:cNvSpPr/>
          <p:nvPr/>
        </p:nvSpPr>
        <p:spPr>
          <a:xfrm>
            <a:off x="6348330" y="2224951"/>
            <a:ext cx="39823" cy="69243"/>
          </a:xfrm>
          <a:custGeom>
            <a:avLst/>
            <a:gdLst/>
            <a:ahLst/>
            <a:cxnLst/>
            <a:rect l="0" t="0" r="0" b="0"/>
            <a:pathLst>
              <a:path w="62" h="109">
                <a:moveTo>
                  <a:pt x="7" y="23"/>
                </a:moveTo>
                <a:cubicBezTo>
                  <a:pt x="7" y="38"/>
                  <a:pt x="7" y="54"/>
                  <a:pt x="23" y="54"/>
                </a:cubicBezTo>
                <a:cubicBezTo>
                  <a:pt x="39" y="54"/>
                  <a:pt x="54" y="38"/>
                  <a:pt x="54" y="23"/>
                </a:cubicBezTo>
                <a:cubicBezTo>
                  <a:pt x="54" y="7"/>
                  <a:pt x="39" y="7"/>
                  <a:pt x="23" y="7"/>
                </a:cubicBezTo>
                <a:cubicBezTo>
                  <a:pt x="7" y="7"/>
                  <a:pt x="7" y="7"/>
                  <a:pt x="7" y="23"/>
                </a:cubicBezTo>
              </a:path>
              <a:path w="62" h="109">
                <a:moveTo>
                  <a:pt x="7" y="70"/>
                </a:moveTo>
                <a:cubicBezTo>
                  <a:pt x="7" y="85"/>
                  <a:pt x="7" y="101"/>
                  <a:pt x="23" y="101"/>
                </a:cubicBezTo>
                <a:cubicBezTo>
                  <a:pt x="39" y="101"/>
                  <a:pt x="54" y="85"/>
                  <a:pt x="54" y="70"/>
                </a:cubicBezTo>
                <a:cubicBezTo>
                  <a:pt x="54" y="54"/>
                  <a:pt x="39" y="54"/>
                  <a:pt x="23" y="54"/>
                </a:cubicBezTo>
                <a:cubicBezTo>
                  <a:pt x="7" y="54"/>
                  <a:pt x="7" y="54"/>
                  <a:pt x="7" y="70"/>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47" name="path"/>
          <p:cNvSpPr/>
          <p:nvPr/>
        </p:nvSpPr>
        <p:spPr>
          <a:xfrm>
            <a:off x="6328419" y="2324058"/>
            <a:ext cx="49779" cy="247439"/>
          </a:xfrm>
          <a:custGeom>
            <a:avLst/>
            <a:gdLst/>
            <a:ahLst/>
            <a:cxnLst/>
            <a:rect l="0" t="0" r="0" b="0"/>
            <a:pathLst>
              <a:path w="78" h="389">
                <a:moveTo>
                  <a:pt x="7" y="23"/>
                </a:moveTo>
                <a:cubicBezTo>
                  <a:pt x="7" y="38"/>
                  <a:pt x="7" y="54"/>
                  <a:pt x="23" y="54"/>
                </a:cubicBezTo>
                <a:cubicBezTo>
                  <a:pt x="39" y="54"/>
                  <a:pt x="54" y="38"/>
                  <a:pt x="54" y="23"/>
                </a:cubicBezTo>
                <a:cubicBezTo>
                  <a:pt x="54" y="7"/>
                  <a:pt x="39" y="7"/>
                  <a:pt x="23" y="7"/>
                </a:cubicBezTo>
                <a:cubicBezTo>
                  <a:pt x="7" y="7"/>
                  <a:pt x="7" y="7"/>
                  <a:pt x="7" y="23"/>
                </a:cubicBezTo>
              </a:path>
              <a:path w="78" h="389">
                <a:moveTo>
                  <a:pt x="23" y="38"/>
                </a:moveTo>
                <a:cubicBezTo>
                  <a:pt x="23" y="54"/>
                  <a:pt x="23" y="69"/>
                  <a:pt x="39" y="69"/>
                </a:cubicBezTo>
                <a:cubicBezTo>
                  <a:pt x="54" y="69"/>
                  <a:pt x="70" y="54"/>
                  <a:pt x="70" y="38"/>
                </a:cubicBezTo>
                <a:cubicBezTo>
                  <a:pt x="70" y="23"/>
                  <a:pt x="54" y="23"/>
                  <a:pt x="39" y="23"/>
                </a:cubicBezTo>
                <a:cubicBezTo>
                  <a:pt x="23" y="23"/>
                  <a:pt x="23" y="23"/>
                  <a:pt x="23" y="38"/>
                </a:cubicBezTo>
              </a:path>
              <a:path w="78" h="389">
                <a:moveTo>
                  <a:pt x="23" y="350"/>
                </a:moveTo>
                <a:cubicBezTo>
                  <a:pt x="23" y="366"/>
                  <a:pt x="23" y="381"/>
                  <a:pt x="39" y="381"/>
                </a:cubicBezTo>
                <a:cubicBezTo>
                  <a:pt x="54" y="381"/>
                  <a:pt x="70" y="366"/>
                  <a:pt x="70" y="350"/>
                </a:cubicBezTo>
                <a:cubicBezTo>
                  <a:pt x="70" y="334"/>
                  <a:pt x="54" y="334"/>
                  <a:pt x="39" y="334"/>
                </a:cubicBezTo>
                <a:cubicBezTo>
                  <a:pt x="23" y="334"/>
                  <a:pt x="23" y="334"/>
                  <a:pt x="23" y="350"/>
                </a:cubicBezTo>
              </a:path>
              <a:path w="78" h="389">
                <a:moveTo>
                  <a:pt x="23" y="179"/>
                </a:moveTo>
                <a:cubicBezTo>
                  <a:pt x="23" y="194"/>
                  <a:pt x="23" y="210"/>
                  <a:pt x="39" y="210"/>
                </a:cubicBezTo>
                <a:cubicBezTo>
                  <a:pt x="54" y="210"/>
                  <a:pt x="70" y="194"/>
                  <a:pt x="70" y="179"/>
                </a:cubicBezTo>
                <a:cubicBezTo>
                  <a:pt x="70" y="163"/>
                  <a:pt x="54" y="163"/>
                  <a:pt x="39" y="163"/>
                </a:cubicBezTo>
                <a:cubicBezTo>
                  <a:pt x="23" y="163"/>
                  <a:pt x="23" y="163"/>
                  <a:pt x="23" y="179"/>
                </a:cubicBezTo>
              </a:path>
              <a:path w="78" h="389">
                <a:moveTo>
                  <a:pt x="23" y="85"/>
                </a:moveTo>
                <a:cubicBezTo>
                  <a:pt x="23" y="101"/>
                  <a:pt x="23" y="116"/>
                  <a:pt x="39" y="116"/>
                </a:cubicBezTo>
                <a:cubicBezTo>
                  <a:pt x="54" y="116"/>
                  <a:pt x="70" y="101"/>
                  <a:pt x="70" y="85"/>
                </a:cubicBezTo>
                <a:cubicBezTo>
                  <a:pt x="70" y="69"/>
                  <a:pt x="54" y="69"/>
                  <a:pt x="39" y="69"/>
                </a:cubicBezTo>
                <a:cubicBezTo>
                  <a:pt x="23" y="69"/>
                  <a:pt x="23" y="69"/>
                  <a:pt x="23" y="85"/>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48" name="path"/>
          <p:cNvSpPr/>
          <p:nvPr/>
        </p:nvSpPr>
        <p:spPr>
          <a:xfrm>
            <a:off x="6338375" y="2324058"/>
            <a:ext cx="49779" cy="485034"/>
          </a:xfrm>
          <a:custGeom>
            <a:avLst/>
            <a:gdLst/>
            <a:ahLst/>
            <a:cxnLst/>
            <a:rect l="0" t="0" r="0" b="0"/>
            <a:pathLst>
              <a:path w="78" h="763">
                <a:moveTo>
                  <a:pt x="7" y="303"/>
                </a:moveTo>
                <a:cubicBezTo>
                  <a:pt x="7" y="319"/>
                  <a:pt x="7" y="334"/>
                  <a:pt x="23" y="334"/>
                </a:cubicBezTo>
                <a:cubicBezTo>
                  <a:pt x="39" y="334"/>
                  <a:pt x="54" y="319"/>
                  <a:pt x="54" y="303"/>
                </a:cubicBezTo>
                <a:cubicBezTo>
                  <a:pt x="54" y="288"/>
                  <a:pt x="39" y="288"/>
                  <a:pt x="23" y="288"/>
                </a:cubicBezTo>
                <a:cubicBezTo>
                  <a:pt x="7" y="288"/>
                  <a:pt x="7" y="288"/>
                  <a:pt x="7" y="303"/>
                </a:cubicBezTo>
              </a:path>
              <a:path w="78" h="763">
                <a:moveTo>
                  <a:pt x="23" y="725"/>
                </a:moveTo>
                <a:cubicBezTo>
                  <a:pt x="23" y="740"/>
                  <a:pt x="23" y="756"/>
                  <a:pt x="39" y="756"/>
                </a:cubicBezTo>
                <a:cubicBezTo>
                  <a:pt x="54" y="756"/>
                  <a:pt x="70" y="740"/>
                  <a:pt x="70" y="725"/>
                </a:cubicBezTo>
                <a:cubicBezTo>
                  <a:pt x="70" y="709"/>
                  <a:pt x="54" y="709"/>
                  <a:pt x="39" y="709"/>
                </a:cubicBezTo>
                <a:cubicBezTo>
                  <a:pt x="23" y="709"/>
                  <a:pt x="23" y="709"/>
                  <a:pt x="23" y="725"/>
                </a:cubicBezTo>
              </a:path>
              <a:path w="78" h="763">
                <a:moveTo>
                  <a:pt x="23" y="23"/>
                </a:moveTo>
                <a:cubicBezTo>
                  <a:pt x="23" y="38"/>
                  <a:pt x="23" y="54"/>
                  <a:pt x="39" y="54"/>
                </a:cubicBezTo>
                <a:cubicBezTo>
                  <a:pt x="54" y="54"/>
                  <a:pt x="70" y="38"/>
                  <a:pt x="70" y="23"/>
                </a:cubicBezTo>
                <a:cubicBezTo>
                  <a:pt x="70" y="7"/>
                  <a:pt x="54" y="7"/>
                  <a:pt x="39" y="7"/>
                </a:cubicBezTo>
                <a:cubicBezTo>
                  <a:pt x="23" y="7"/>
                  <a:pt x="23" y="7"/>
                  <a:pt x="23"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49" name="path"/>
          <p:cNvSpPr/>
          <p:nvPr/>
        </p:nvSpPr>
        <p:spPr>
          <a:xfrm>
            <a:off x="6348330" y="2274504"/>
            <a:ext cx="39823" cy="505052"/>
          </a:xfrm>
          <a:custGeom>
            <a:avLst/>
            <a:gdLst/>
            <a:ahLst/>
            <a:cxnLst/>
            <a:rect l="0" t="0" r="0" b="0"/>
            <a:pathLst>
              <a:path w="62" h="795">
                <a:moveTo>
                  <a:pt x="7" y="756"/>
                </a:moveTo>
                <a:cubicBezTo>
                  <a:pt x="7" y="771"/>
                  <a:pt x="7" y="787"/>
                  <a:pt x="23" y="787"/>
                </a:cubicBezTo>
                <a:cubicBezTo>
                  <a:pt x="39" y="787"/>
                  <a:pt x="54" y="771"/>
                  <a:pt x="54" y="756"/>
                </a:cubicBezTo>
                <a:cubicBezTo>
                  <a:pt x="54" y="740"/>
                  <a:pt x="39" y="740"/>
                  <a:pt x="23" y="740"/>
                </a:cubicBezTo>
                <a:cubicBezTo>
                  <a:pt x="7" y="740"/>
                  <a:pt x="7" y="740"/>
                  <a:pt x="7" y="756"/>
                </a:cubicBezTo>
              </a:path>
              <a:path w="62" h="795">
                <a:moveTo>
                  <a:pt x="7" y="23"/>
                </a:moveTo>
                <a:cubicBezTo>
                  <a:pt x="7" y="38"/>
                  <a:pt x="7" y="54"/>
                  <a:pt x="23" y="54"/>
                </a:cubicBezTo>
                <a:cubicBezTo>
                  <a:pt x="39" y="54"/>
                  <a:pt x="54" y="38"/>
                  <a:pt x="54" y="23"/>
                </a:cubicBezTo>
                <a:cubicBezTo>
                  <a:pt x="54" y="7"/>
                  <a:pt x="39" y="7"/>
                  <a:pt x="23"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50" name="path"/>
          <p:cNvSpPr/>
          <p:nvPr/>
        </p:nvSpPr>
        <p:spPr>
          <a:xfrm>
            <a:off x="6358286" y="2284349"/>
            <a:ext cx="40154" cy="386255"/>
          </a:xfrm>
          <a:custGeom>
            <a:avLst/>
            <a:gdLst/>
            <a:ahLst/>
            <a:cxnLst/>
            <a:rect l="0" t="0" r="0" b="0"/>
            <a:pathLst>
              <a:path w="63" h="608">
                <a:moveTo>
                  <a:pt x="7" y="23"/>
                </a:moveTo>
                <a:cubicBezTo>
                  <a:pt x="7" y="38"/>
                  <a:pt x="7" y="54"/>
                  <a:pt x="23" y="54"/>
                </a:cubicBezTo>
                <a:cubicBezTo>
                  <a:pt x="39" y="54"/>
                  <a:pt x="55" y="38"/>
                  <a:pt x="55" y="23"/>
                </a:cubicBezTo>
                <a:cubicBezTo>
                  <a:pt x="55" y="7"/>
                  <a:pt x="39" y="7"/>
                  <a:pt x="23" y="7"/>
                </a:cubicBezTo>
                <a:cubicBezTo>
                  <a:pt x="7" y="7"/>
                  <a:pt x="7" y="7"/>
                  <a:pt x="7" y="23"/>
                </a:cubicBezTo>
              </a:path>
              <a:path w="63" h="608">
                <a:moveTo>
                  <a:pt x="7" y="568"/>
                </a:moveTo>
                <a:cubicBezTo>
                  <a:pt x="7" y="585"/>
                  <a:pt x="7" y="600"/>
                  <a:pt x="23" y="600"/>
                </a:cubicBezTo>
                <a:cubicBezTo>
                  <a:pt x="39" y="600"/>
                  <a:pt x="55" y="585"/>
                  <a:pt x="55" y="568"/>
                </a:cubicBezTo>
                <a:cubicBezTo>
                  <a:pt x="55" y="553"/>
                  <a:pt x="39" y="553"/>
                  <a:pt x="23" y="553"/>
                </a:cubicBezTo>
                <a:cubicBezTo>
                  <a:pt x="7" y="553"/>
                  <a:pt x="7" y="553"/>
                  <a:pt x="7" y="568"/>
                </a:cubicBezTo>
              </a:path>
              <a:path w="63" h="608">
                <a:moveTo>
                  <a:pt x="7" y="241"/>
                </a:moveTo>
                <a:cubicBezTo>
                  <a:pt x="7" y="257"/>
                  <a:pt x="7" y="272"/>
                  <a:pt x="23" y="272"/>
                </a:cubicBezTo>
                <a:cubicBezTo>
                  <a:pt x="39" y="272"/>
                  <a:pt x="55" y="257"/>
                  <a:pt x="55" y="241"/>
                </a:cubicBezTo>
                <a:cubicBezTo>
                  <a:pt x="55" y="225"/>
                  <a:pt x="39" y="225"/>
                  <a:pt x="23" y="225"/>
                </a:cubicBezTo>
                <a:cubicBezTo>
                  <a:pt x="7" y="225"/>
                  <a:pt x="7" y="225"/>
                  <a:pt x="7" y="241"/>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51" name="path"/>
          <p:cNvSpPr/>
          <p:nvPr/>
        </p:nvSpPr>
        <p:spPr>
          <a:xfrm>
            <a:off x="6358286" y="2254486"/>
            <a:ext cx="50110" cy="108952"/>
          </a:xfrm>
          <a:custGeom>
            <a:avLst/>
            <a:gdLst/>
            <a:ahLst/>
            <a:cxnLst/>
            <a:rect l="0" t="0" r="0" b="0"/>
            <a:pathLst>
              <a:path w="78" h="171">
                <a:moveTo>
                  <a:pt x="7" y="132"/>
                </a:moveTo>
                <a:cubicBezTo>
                  <a:pt x="7" y="148"/>
                  <a:pt x="7" y="163"/>
                  <a:pt x="23" y="163"/>
                </a:cubicBezTo>
                <a:cubicBezTo>
                  <a:pt x="39" y="163"/>
                  <a:pt x="55" y="148"/>
                  <a:pt x="55" y="132"/>
                </a:cubicBezTo>
                <a:cubicBezTo>
                  <a:pt x="55" y="117"/>
                  <a:pt x="39" y="117"/>
                  <a:pt x="23" y="117"/>
                </a:cubicBezTo>
                <a:cubicBezTo>
                  <a:pt x="7" y="117"/>
                  <a:pt x="7" y="117"/>
                  <a:pt x="7" y="132"/>
                </a:cubicBezTo>
              </a:path>
              <a:path w="78" h="171">
                <a:moveTo>
                  <a:pt x="7" y="23"/>
                </a:moveTo>
                <a:cubicBezTo>
                  <a:pt x="7" y="39"/>
                  <a:pt x="7" y="54"/>
                  <a:pt x="23" y="54"/>
                </a:cubicBezTo>
                <a:cubicBezTo>
                  <a:pt x="39" y="54"/>
                  <a:pt x="55" y="39"/>
                  <a:pt x="55" y="23"/>
                </a:cubicBezTo>
                <a:cubicBezTo>
                  <a:pt x="55" y="7"/>
                  <a:pt x="39" y="7"/>
                  <a:pt x="23" y="7"/>
                </a:cubicBezTo>
                <a:cubicBezTo>
                  <a:pt x="7" y="7"/>
                  <a:pt x="7" y="7"/>
                  <a:pt x="7" y="23"/>
                </a:cubicBezTo>
              </a:path>
              <a:path w="78" h="171">
                <a:moveTo>
                  <a:pt x="23" y="23"/>
                </a:moveTo>
                <a:cubicBezTo>
                  <a:pt x="23" y="39"/>
                  <a:pt x="23" y="54"/>
                  <a:pt x="39" y="54"/>
                </a:cubicBezTo>
                <a:cubicBezTo>
                  <a:pt x="55" y="54"/>
                  <a:pt x="71" y="39"/>
                  <a:pt x="71" y="23"/>
                </a:cubicBezTo>
                <a:cubicBezTo>
                  <a:pt x="71" y="7"/>
                  <a:pt x="55" y="7"/>
                  <a:pt x="39" y="7"/>
                </a:cubicBezTo>
                <a:cubicBezTo>
                  <a:pt x="23" y="7"/>
                  <a:pt x="23" y="7"/>
                  <a:pt x="23"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52" name="path"/>
          <p:cNvSpPr/>
          <p:nvPr/>
        </p:nvSpPr>
        <p:spPr>
          <a:xfrm>
            <a:off x="6378198" y="2254486"/>
            <a:ext cx="40154" cy="148660"/>
          </a:xfrm>
          <a:custGeom>
            <a:avLst/>
            <a:gdLst/>
            <a:ahLst/>
            <a:cxnLst/>
            <a:rect l="0" t="0" r="0" b="0"/>
            <a:pathLst>
              <a:path w="63" h="234">
                <a:moveTo>
                  <a:pt x="7" y="23"/>
                </a:moveTo>
                <a:cubicBezTo>
                  <a:pt x="7" y="39"/>
                  <a:pt x="7" y="54"/>
                  <a:pt x="24" y="54"/>
                </a:cubicBezTo>
                <a:cubicBezTo>
                  <a:pt x="39" y="54"/>
                  <a:pt x="55" y="39"/>
                  <a:pt x="55" y="23"/>
                </a:cubicBezTo>
                <a:cubicBezTo>
                  <a:pt x="55" y="7"/>
                  <a:pt x="39" y="7"/>
                  <a:pt x="24" y="7"/>
                </a:cubicBezTo>
                <a:cubicBezTo>
                  <a:pt x="7" y="7"/>
                  <a:pt x="7" y="7"/>
                  <a:pt x="7" y="23"/>
                </a:cubicBezTo>
              </a:path>
              <a:path w="63" h="234">
                <a:moveTo>
                  <a:pt x="7" y="195"/>
                </a:moveTo>
                <a:cubicBezTo>
                  <a:pt x="7" y="210"/>
                  <a:pt x="7" y="226"/>
                  <a:pt x="24" y="226"/>
                </a:cubicBezTo>
                <a:cubicBezTo>
                  <a:pt x="39" y="226"/>
                  <a:pt x="55" y="210"/>
                  <a:pt x="55" y="195"/>
                </a:cubicBezTo>
                <a:cubicBezTo>
                  <a:pt x="55" y="179"/>
                  <a:pt x="39" y="179"/>
                  <a:pt x="24" y="179"/>
                </a:cubicBezTo>
                <a:cubicBezTo>
                  <a:pt x="7" y="179"/>
                  <a:pt x="7" y="179"/>
                  <a:pt x="7" y="195"/>
                </a:cubicBezTo>
              </a:path>
              <a:path w="63" h="234">
                <a:moveTo>
                  <a:pt x="7" y="85"/>
                </a:moveTo>
                <a:cubicBezTo>
                  <a:pt x="7" y="101"/>
                  <a:pt x="7" y="117"/>
                  <a:pt x="24" y="117"/>
                </a:cubicBezTo>
                <a:cubicBezTo>
                  <a:pt x="39" y="117"/>
                  <a:pt x="55" y="101"/>
                  <a:pt x="55" y="85"/>
                </a:cubicBezTo>
                <a:cubicBezTo>
                  <a:pt x="55" y="70"/>
                  <a:pt x="39" y="70"/>
                  <a:pt x="24" y="70"/>
                </a:cubicBezTo>
                <a:cubicBezTo>
                  <a:pt x="7" y="70"/>
                  <a:pt x="7" y="70"/>
                  <a:pt x="7" y="85"/>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53" name="path"/>
          <p:cNvSpPr/>
          <p:nvPr/>
        </p:nvSpPr>
        <p:spPr>
          <a:xfrm>
            <a:off x="6388486" y="2274504"/>
            <a:ext cx="39823" cy="98778"/>
          </a:xfrm>
          <a:custGeom>
            <a:avLst/>
            <a:gdLst/>
            <a:ahLst/>
            <a:cxnLst/>
            <a:rect l="0" t="0" r="0" b="0"/>
            <a:pathLst>
              <a:path w="62" h="155">
                <a:moveTo>
                  <a:pt x="7" y="23"/>
                </a:moveTo>
                <a:cubicBezTo>
                  <a:pt x="7" y="38"/>
                  <a:pt x="7" y="54"/>
                  <a:pt x="23" y="54"/>
                </a:cubicBezTo>
                <a:cubicBezTo>
                  <a:pt x="39" y="54"/>
                  <a:pt x="54" y="38"/>
                  <a:pt x="54" y="23"/>
                </a:cubicBezTo>
                <a:cubicBezTo>
                  <a:pt x="54" y="7"/>
                  <a:pt x="39" y="7"/>
                  <a:pt x="23" y="7"/>
                </a:cubicBezTo>
                <a:cubicBezTo>
                  <a:pt x="7" y="7"/>
                  <a:pt x="7" y="7"/>
                  <a:pt x="7" y="23"/>
                </a:cubicBezTo>
              </a:path>
              <a:path w="62" h="155">
                <a:moveTo>
                  <a:pt x="7" y="116"/>
                </a:moveTo>
                <a:cubicBezTo>
                  <a:pt x="7" y="132"/>
                  <a:pt x="7" y="147"/>
                  <a:pt x="23" y="147"/>
                </a:cubicBezTo>
                <a:cubicBezTo>
                  <a:pt x="39" y="147"/>
                  <a:pt x="54" y="132"/>
                  <a:pt x="54" y="116"/>
                </a:cubicBezTo>
                <a:cubicBezTo>
                  <a:pt x="54" y="101"/>
                  <a:pt x="39" y="101"/>
                  <a:pt x="23" y="101"/>
                </a:cubicBezTo>
                <a:cubicBezTo>
                  <a:pt x="7" y="101"/>
                  <a:pt x="7" y="101"/>
                  <a:pt x="7" y="116"/>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54" name="path"/>
          <p:cNvSpPr/>
          <p:nvPr/>
        </p:nvSpPr>
        <p:spPr>
          <a:xfrm>
            <a:off x="6388486" y="2363438"/>
            <a:ext cx="49779" cy="455498"/>
          </a:xfrm>
          <a:custGeom>
            <a:avLst/>
            <a:gdLst/>
            <a:ahLst/>
            <a:cxnLst/>
            <a:rect l="0" t="0" r="0" b="0"/>
            <a:pathLst>
              <a:path w="78" h="717">
                <a:moveTo>
                  <a:pt x="7" y="23"/>
                </a:moveTo>
                <a:cubicBezTo>
                  <a:pt x="7" y="39"/>
                  <a:pt x="7" y="54"/>
                  <a:pt x="23" y="54"/>
                </a:cubicBezTo>
                <a:cubicBezTo>
                  <a:pt x="39" y="54"/>
                  <a:pt x="54" y="39"/>
                  <a:pt x="54" y="23"/>
                </a:cubicBezTo>
                <a:cubicBezTo>
                  <a:pt x="54" y="7"/>
                  <a:pt x="39" y="7"/>
                  <a:pt x="23" y="7"/>
                </a:cubicBezTo>
                <a:cubicBezTo>
                  <a:pt x="7" y="7"/>
                  <a:pt x="7" y="7"/>
                  <a:pt x="7" y="23"/>
                </a:cubicBezTo>
              </a:path>
              <a:path w="78" h="717">
                <a:moveTo>
                  <a:pt x="23" y="678"/>
                </a:moveTo>
                <a:cubicBezTo>
                  <a:pt x="23" y="694"/>
                  <a:pt x="23" y="709"/>
                  <a:pt x="39" y="709"/>
                </a:cubicBezTo>
                <a:cubicBezTo>
                  <a:pt x="54" y="709"/>
                  <a:pt x="70" y="694"/>
                  <a:pt x="70" y="678"/>
                </a:cubicBezTo>
                <a:cubicBezTo>
                  <a:pt x="70" y="663"/>
                  <a:pt x="54" y="663"/>
                  <a:pt x="39" y="663"/>
                </a:cubicBezTo>
                <a:cubicBezTo>
                  <a:pt x="23" y="663"/>
                  <a:pt x="23" y="663"/>
                  <a:pt x="23" y="678"/>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55" name="path"/>
          <p:cNvSpPr/>
          <p:nvPr/>
        </p:nvSpPr>
        <p:spPr>
          <a:xfrm>
            <a:off x="6398441" y="2333903"/>
            <a:ext cx="39823" cy="405944"/>
          </a:xfrm>
          <a:custGeom>
            <a:avLst/>
            <a:gdLst/>
            <a:ahLst/>
            <a:cxnLst/>
            <a:rect l="0" t="0" r="0" b="0"/>
            <a:pathLst>
              <a:path w="62" h="639">
                <a:moveTo>
                  <a:pt x="7" y="23"/>
                </a:moveTo>
                <a:cubicBezTo>
                  <a:pt x="7" y="38"/>
                  <a:pt x="7" y="54"/>
                  <a:pt x="23" y="54"/>
                </a:cubicBezTo>
                <a:cubicBezTo>
                  <a:pt x="39" y="54"/>
                  <a:pt x="54" y="38"/>
                  <a:pt x="54" y="23"/>
                </a:cubicBezTo>
                <a:cubicBezTo>
                  <a:pt x="54" y="7"/>
                  <a:pt x="39" y="7"/>
                  <a:pt x="23" y="7"/>
                </a:cubicBezTo>
                <a:cubicBezTo>
                  <a:pt x="7" y="7"/>
                  <a:pt x="7" y="7"/>
                  <a:pt x="7" y="23"/>
                </a:cubicBezTo>
              </a:path>
              <a:path w="62" h="639">
                <a:moveTo>
                  <a:pt x="7" y="600"/>
                </a:moveTo>
                <a:cubicBezTo>
                  <a:pt x="7" y="616"/>
                  <a:pt x="7" y="631"/>
                  <a:pt x="23" y="631"/>
                </a:cubicBezTo>
                <a:cubicBezTo>
                  <a:pt x="39" y="631"/>
                  <a:pt x="54" y="616"/>
                  <a:pt x="54" y="600"/>
                </a:cubicBezTo>
                <a:cubicBezTo>
                  <a:pt x="54" y="584"/>
                  <a:pt x="39" y="584"/>
                  <a:pt x="23" y="584"/>
                </a:cubicBezTo>
                <a:cubicBezTo>
                  <a:pt x="7" y="584"/>
                  <a:pt x="7" y="584"/>
                  <a:pt x="7" y="600"/>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56" name="path"/>
          <p:cNvSpPr/>
          <p:nvPr/>
        </p:nvSpPr>
        <p:spPr>
          <a:xfrm>
            <a:off x="6408397" y="2294194"/>
            <a:ext cx="50110" cy="336701"/>
          </a:xfrm>
          <a:custGeom>
            <a:avLst/>
            <a:gdLst/>
            <a:ahLst/>
            <a:cxnLst/>
            <a:rect l="0" t="0" r="0" b="0"/>
            <a:pathLst>
              <a:path w="78" h="530">
                <a:moveTo>
                  <a:pt x="7" y="23"/>
                </a:moveTo>
                <a:cubicBezTo>
                  <a:pt x="7" y="39"/>
                  <a:pt x="7" y="54"/>
                  <a:pt x="23" y="54"/>
                </a:cubicBezTo>
                <a:cubicBezTo>
                  <a:pt x="39" y="54"/>
                  <a:pt x="54" y="39"/>
                  <a:pt x="54" y="23"/>
                </a:cubicBezTo>
                <a:cubicBezTo>
                  <a:pt x="54" y="7"/>
                  <a:pt x="39" y="7"/>
                  <a:pt x="23" y="7"/>
                </a:cubicBezTo>
                <a:cubicBezTo>
                  <a:pt x="7" y="7"/>
                  <a:pt x="7" y="7"/>
                  <a:pt x="7" y="23"/>
                </a:cubicBezTo>
              </a:path>
              <a:path w="78" h="530">
                <a:moveTo>
                  <a:pt x="7" y="226"/>
                </a:moveTo>
                <a:cubicBezTo>
                  <a:pt x="7" y="241"/>
                  <a:pt x="7" y="257"/>
                  <a:pt x="23" y="257"/>
                </a:cubicBezTo>
                <a:cubicBezTo>
                  <a:pt x="39" y="257"/>
                  <a:pt x="54" y="241"/>
                  <a:pt x="54" y="226"/>
                </a:cubicBezTo>
                <a:cubicBezTo>
                  <a:pt x="54" y="210"/>
                  <a:pt x="39" y="210"/>
                  <a:pt x="23" y="210"/>
                </a:cubicBezTo>
                <a:cubicBezTo>
                  <a:pt x="7" y="210"/>
                  <a:pt x="7" y="210"/>
                  <a:pt x="7" y="226"/>
                </a:cubicBezTo>
              </a:path>
              <a:path w="78" h="530">
                <a:moveTo>
                  <a:pt x="7" y="241"/>
                </a:moveTo>
                <a:cubicBezTo>
                  <a:pt x="7" y="257"/>
                  <a:pt x="7" y="272"/>
                  <a:pt x="23" y="272"/>
                </a:cubicBezTo>
                <a:cubicBezTo>
                  <a:pt x="39" y="272"/>
                  <a:pt x="54" y="257"/>
                  <a:pt x="54" y="241"/>
                </a:cubicBezTo>
                <a:cubicBezTo>
                  <a:pt x="54" y="226"/>
                  <a:pt x="39" y="226"/>
                  <a:pt x="23" y="226"/>
                </a:cubicBezTo>
                <a:cubicBezTo>
                  <a:pt x="7" y="226"/>
                  <a:pt x="7" y="226"/>
                  <a:pt x="7" y="241"/>
                </a:cubicBezTo>
              </a:path>
              <a:path w="78" h="530">
                <a:moveTo>
                  <a:pt x="7" y="491"/>
                </a:moveTo>
                <a:cubicBezTo>
                  <a:pt x="7" y="506"/>
                  <a:pt x="7" y="522"/>
                  <a:pt x="23" y="522"/>
                </a:cubicBezTo>
                <a:cubicBezTo>
                  <a:pt x="39" y="522"/>
                  <a:pt x="54" y="506"/>
                  <a:pt x="54" y="491"/>
                </a:cubicBezTo>
                <a:cubicBezTo>
                  <a:pt x="54" y="475"/>
                  <a:pt x="39" y="475"/>
                  <a:pt x="23" y="475"/>
                </a:cubicBezTo>
                <a:cubicBezTo>
                  <a:pt x="7" y="475"/>
                  <a:pt x="7" y="475"/>
                  <a:pt x="7" y="491"/>
                </a:cubicBezTo>
              </a:path>
              <a:path w="78" h="530">
                <a:moveTo>
                  <a:pt x="23" y="85"/>
                </a:moveTo>
                <a:cubicBezTo>
                  <a:pt x="23" y="101"/>
                  <a:pt x="23" y="116"/>
                  <a:pt x="39" y="116"/>
                </a:cubicBezTo>
                <a:cubicBezTo>
                  <a:pt x="54" y="116"/>
                  <a:pt x="71" y="101"/>
                  <a:pt x="71" y="85"/>
                </a:cubicBezTo>
                <a:cubicBezTo>
                  <a:pt x="71" y="70"/>
                  <a:pt x="54" y="70"/>
                  <a:pt x="39" y="70"/>
                </a:cubicBezTo>
                <a:cubicBezTo>
                  <a:pt x="23" y="70"/>
                  <a:pt x="23" y="70"/>
                  <a:pt x="23" y="85"/>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57" name="path"/>
          <p:cNvSpPr/>
          <p:nvPr/>
        </p:nvSpPr>
        <p:spPr>
          <a:xfrm>
            <a:off x="6408397" y="2383456"/>
            <a:ext cx="39823" cy="39380"/>
          </a:xfrm>
          <a:custGeom>
            <a:avLst/>
            <a:gdLst/>
            <a:ahLst/>
            <a:cxnLst/>
            <a:rect l="0" t="0" r="0" b="0"/>
            <a:pathLst>
              <a:path w="62" h="62">
                <a:moveTo>
                  <a:pt x="7" y="23"/>
                </a:moveTo>
                <a:cubicBezTo>
                  <a:pt x="7" y="38"/>
                  <a:pt x="7" y="54"/>
                  <a:pt x="23" y="54"/>
                </a:cubicBezTo>
                <a:cubicBezTo>
                  <a:pt x="39" y="54"/>
                  <a:pt x="54" y="38"/>
                  <a:pt x="54" y="23"/>
                </a:cubicBezTo>
                <a:cubicBezTo>
                  <a:pt x="54" y="7"/>
                  <a:pt x="39" y="7"/>
                  <a:pt x="23"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58" name="path"/>
          <p:cNvSpPr/>
          <p:nvPr/>
        </p:nvSpPr>
        <p:spPr>
          <a:xfrm>
            <a:off x="6418353" y="2284350"/>
            <a:ext cx="40154" cy="247439"/>
          </a:xfrm>
          <a:custGeom>
            <a:avLst/>
            <a:gdLst/>
            <a:ahLst/>
            <a:cxnLst/>
            <a:rect l="0" t="0" r="0" b="0"/>
            <a:pathLst>
              <a:path w="63" h="389">
                <a:moveTo>
                  <a:pt x="7" y="350"/>
                </a:moveTo>
                <a:cubicBezTo>
                  <a:pt x="7" y="366"/>
                  <a:pt x="7" y="381"/>
                  <a:pt x="23" y="381"/>
                </a:cubicBezTo>
                <a:cubicBezTo>
                  <a:pt x="39" y="381"/>
                  <a:pt x="55" y="366"/>
                  <a:pt x="55" y="350"/>
                </a:cubicBezTo>
                <a:cubicBezTo>
                  <a:pt x="55" y="335"/>
                  <a:pt x="39" y="335"/>
                  <a:pt x="23" y="335"/>
                </a:cubicBezTo>
                <a:cubicBezTo>
                  <a:pt x="7" y="335"/>
                  <a:pt x="7" y="335"/>
                  <a:pt x="7" y="350"/>
                </a:cubicBezTo>
              </a:path>
              <a:path w="63" h="389">
                <a:moveTo>
                  <a:pt x="7" y="194"/>
                </a:moveTo>
                <a:cubicBezTo>
                  <a:pt x="7" y="210"/>
                  <a:pt x="7" y="225"/>
                  <a:pt x="23" y="225"/>
                </a:cubicBezTo>
                <a:cubicBezTo>
                  <a:pt x="39" y="225"/>
                  <a:pt x="55" y="210"/>
                  <a:pt x="55" y="194"/>
                </a:cubicBezTo>
                <a:cubicBezTo>
                  <a:pt x="55" y="179"/>
                  <a:pt x="39" y="179"/>
                  <a:pt x="23" y="179"/>
                </a:cubicBezTo>
                <a:cubicBezTo>
                  <a:pt x="7" y="179"/>
                  <a:pt x="7" y="179"/>
                  <a:pt x="7" y="194"/>
                </a:cubicBezTo>
              </a:path>
              <a:path w="63" h="389">
                <a:moveTo>
                  <a:pt x="7" y="23"/>
                </a:moveTo>
                <a:cubicBezTo>
                  <a:pt x="7" y="38"/>
                  <a:pt x="7" y="54"/>
                  <a:pt x="23" y="54"/>
                </a:cubicBezTo>
                <a:cubicBezTo>
                  <a:pt x="39" y="54"/>
                  <a:pt x="55" y="38"/>
                  <a:pt x="55" y="23"/>
                </a:cubicBezTo>
                <a:cubicBezTo>
                  <a:pt x="55" y="7"/>
                  <a:pt x="39" y="7"/>
                  <a:pt x="23"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59" name="path"/>
          <p:cNvSpPr/>
          <p:nvPr/>
        </p:nvSpPr>
        <p:spPr>
          <a:xfrm>
            <a:off x="6428309" y="2284350"/>
            <a:ext cx="60066" cy="811895"/>
          </a:xfrm>
          <a:custGeom>
            <a:avLst/>
            <a:gdLst/>
            <a:ahLst/>
            <a:cxnLst/>
            <a:rect l="0" t="0" r="0" b="0"/>
            <a:pathLst>
              <a:path w="94" h="1278">
                <a:moveTo>
                  <a:pt x="7" y="397"/>
                </a:moveTo>
                <a:cubicBezTo>
                  <a:pt x="7" y="413"/>
                  <a:pt x="7" y="428"/>
                  <a:pt x="23" y="428"/>
                </a:cubicBezTo>
                <a:cubicBezTo>
                  <a:pt x="39" y="428"/>
                  <a:pt x="55" y="413"/>
                  <a:pt x="55" y="397"/>
                </a:cubicBezTo>
                <a:cubicBezTo>
                  <a:pt x="55" y="381"/>
                  <a:pt x="39" y="381"/>
                  <a:pt x="23" y="381"/>
                </a:cubicBezTo>
                <a:cubicBezTo>
                  <a:pt x="7" y="381"/>
                  <a:pt x="7" y="381"/>
                  <a:pt x="7" y="397"/>
                </a:cubicBezTo>
              </a:path>
              <a:path w="94" h="1278">
                <a:moveTo>
                  <a:pt x="7" y="23"/>
                </a:moveTo>
                <a:cubicBezTo>
                  <a:pt x="7" y="38"/>
                  <a:pt x="7" y="54"/>
                  <a:pt x="23" y="54"/>
                </a:cubicBezTo>
                <a:cubicBezTo>
                  <a:pt x="39" y="54"/>
                  <a:pt x="55" y="38"/>
                  <a:pt x="55" y="23"/>
                </a:cubicBezTo>
                <a:cubicBezTo>
                  <a:pt x="55" y="7"/>
                  <a:pt x="39" y="7"/>
                  <a:pt x="23" y="7"/>
                </a:cubicBezTo>
                <a:cubicBezTo>
                  <a:pt x="7" y="7"/>
                  <a:pt x="7" y="7"/>
                  <a:pt x="7" y="23"/>
                </a:cubicBezTo>
              </a:path>
              <a:path w="94" h="1278">
                <a:moveTo>
                  <a:pt x="7" y="179"/>
                </a:moveTo>
                <a:cubicBezTo>
                  <a:pt x="7" y="194"/>
                  <a:pt x="7" y="210"/>
                  <a:pt x="23" y="210"/>
                </a:cubicBezTo>
                <a:cubicBezTo>
                  <a:pt x="39" y="210"/>
                  <a:pt x="55" y="194"/>
                  <a:pt x="55" y="179"/>
                </a:cubicBezTo>
                <a:cubicBezTo>
                  <a:pt x="55" y="163"/>
                  <a:pt x="39" y="163"/>
                  <a:pt x="23" y="163"/>
                </a:cubicBezTo>
                <a:cubicBezTo>
                  <a:pt x="7" y="163"/>
                  <a:pt x="7" y="163"/>
                  <a:pt x="7" y="179"/>
                </a:cubicBezTo>
              </a:path>
              <a:path w="94" h="1278">
                <a:moveTo>
                  <a:pt x="23" y="694"/>
                </a:moveTo>
                <a:cubicBezTo>
                  <a:pt x="23" y="709"/>
                  <a:pt x="23" y="725"/>
                  <a:pt x="39" y="725"/>
                </a:cubicBezTo>
                <a:cubicBezTo>
                  <a:pt x="55" y="725"/>
                  <a:pt x="71" y="709"/>
                  <a:pt x="71" y="694"/>
                </a:cubicBezTo>
                <a:cubicBezTo>
                  <a:pt x="71" y="678"/>
                  <a:pt x="55" y="678"/>
                  <a:pt x="39" y="678"/>
                </a:cubicBezTo>
                <a:cubicBezTo>
                  <a:pt x="23" y="678"/>
                  <a:pt x="23" y="678"/>
                  <a:pt x="23" y="694"/>
                </a:cubicBezTo>
              </a:path>
              <a:path w="94" h="1278">
                <a:moveTo>
                  <a:pt x="23" y="303"/>
                </a:moveTo>
                <a:cubicBezTo>
                  <a:pt x="23" y="319"/>
                  <a:pt x="23" y="335"/>
                  <a:pt x="39" y="335"/>
                </a:cubicBezTo>
                <a:cubicBezTo>
                  <a:pt x="55" y="335"/>
                  <a:pt x="71" y="319"/>
                  <a:pt x="71" y="303"/>
                </a:cubicBezTo>
                <a:cubicBezTo>
                  <a:pt x="71" y="288"/>
                  <a:pt x="55" y="288"/>
                  <a:pt x="39" y="288"/>
                </a:cubicBezTo>
                <a:cubicBezTo>
                  <a:pt x="23" y="288"/>
                  <a:pt x="23" y="288"/>
                  <a:pt x="23" y="303"/>
                </a:cubicBezTo>
              </a:path>
              <a:path w="94" h="1278">
                <a:moveTo>
                  <a:pt x="23" y="1239"/>
                </a:moveTo>
                <a:cubicBezTo>
                  <a:pt x="23" y="1255"/>
                  <a:pt x="23" y="1270"/>
                  <a:pt x="39" y="1270"/>
                </a:cubicBezTo>
                <a:cubicBezTo>
                  <a:pt x="55" y="1270"/>
                  <a:pt x="71" y="1255"/>
                  <a:pt x="71" y="1239"/>
                </a:cubicBezTo>
                <a:cubicBezTo>
                  <a:pt x="71" y="1224"/>
                  <a:pt x="55" y="1224"/>
                  <a:pt x="39" y="1224"/>
                </a:cubicBezTo>
                <a:cubicBezTo>
                  <a:pt x="23" y="1224"/>
                  <a:pt x="23" y="1224"/>
                  <a:pt x="23" y="1239"/>
                </a:cubicBezTo>
              </a:path>
              <a:path w="94" h="1278">
                <a:moveTo>
                  <a:pt x="39" y="210"/>
                </a:moveTo>
                <a:cubicBezTo>
                  <a:pt x="39" y="225"/>
                  <a:pt x="39" y="241"/>
                  <a:pt x="55" y="241"/>
                </a:cubicBezTo>
                <a:cubicBezTo>
                  <a:pt x="71" y="241"/>
                  <a:pt x="86" y="225"/>
                  <a:pt x="86" y="210"/>
                </a:cubicBezTo>
                <a:cubicBezTo>
                  <a:pt x="86" y="194"/>
                  <a:pt x="71" y="194"/>
                  <a:pt x="55" y="194"/>
                </a:cubicBezTo>
                <a:cubicBezTo>
                  <a:pt x="39" y="194"/>
                  <a:pt x="39" y="194"/>
                  <a:pt x="39" y="210"/>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60" name="path"/>
          <p:cNvSpPr/>
          <p:nvPr/>
        </p:nvSpPr>
        <p:spPr>
          <a:xfrm>
            <a:off x="6448552" y="2531789"/>
            <a:ext cx="39823" cy="39708"/>
          </a:xfrm>
          <a:custGeom>
            <a:avLst/>
            <a:gdLst/>
            <a:ahLst/>
            <a:cxnLst/>
            <a:rect l="0" t="0" r="0" b="0"/>
            <a:pathLst>
              <a:path w="62" h="62">
                <a:moveTo>
                  <a:pt x="7" y="23"/>
                </a:moveTo>
                <a:cubicBezTo>
                  <a:pt x="7" y="39"/>
                  <a:pt x="7" y="54"/>
                  <a:pt x="23" y="54"/>
                </a:cubicBezTo>
                <a:cubicBezTo>
                  <a:pt x="39" y="54"/>
                  <a:pt x="54" y="39"/>
                  <a:pt x="54" y="23"/>
                </a:cubicBezTo>
                <a:cubicBezTo>
                  <a:pt x="54" y="7"/>
                  <a:pt x="39" y="7"/>
                  <a:pt x="23"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61" name="path"/>
          <p:cNvSpPr/>
          <p:nvPr/>
        </p:nvSpPr>
        <p:spPr>
          <a:xfrm>
            <a:off x="6458508" y="2433010"/>
            <a:ext cx="39823" cy="148332"/>
          </a:xfrm>
          <a:custGeom>
            <a:avLst/>
            <a:gdLst/>
            <a:ahLst/>
            <a:cxnLst/>
            <a:rect l="0" t="0" r="0" b="0"/>
            <a:pathLst>
              <a:path w="62" h="233">
                <a:moveTo>
                  <a:pt x="7" y="23"/>
                </a:moveTo>
                <a:cubicBezTo>
                  <a:pt x="7" y="38"/>
                  <a:pt x="7" y="54"/>
                  <a:pt x="23" y="54"/>
                </a:cubicBezTo>
                <a:cubicBezTo>
                  <a:pt x="39" y="54"/>
                  <a:pt x="54" y="38"/>
                  <a:pt x="54" y="23"/>
                </a:cubicBezTo>
                <a:cubicBezTo>
                  <a:pt x="54" y="7"/>
                  <a:pt x="39" y="7"/>
                  <a:pt x="23" y="7"/>
                </a:cubicBezTo>
                <a:cubicBezTo>
                  <a:pt x="7" y="7"/>
                  <a:pt x="7" y="7"/>
                  <a:pt x="7" y="23"/>
                </a:cubicBezTo>
              </a:path>
              <a:path w="62" h="233">
                <a:moveTo>
                  <a:pt x="7" y="194"/>
                </a:moveTo>
                <a:cubicBezTo>
                  <a:pt x="7" y="210"/>
                  <a:pt x="7" y="225"/>
                  <a:pt x="23" y="225"/>
                </a:cubicBezTo>
                <a:cubicBezTo>
                  <a:pt x="39" y="225"/>
                  <a:pt x="54" y="210"/>
                  <a:pt x="54" y="194"/>
                </a:cubicBezTo>
                <a:cubicBezTo>
                  <a:pt x="54" y="179"/>
                  <a:pt x="39" y="179"/>
                  <a:pt x="23" y="179"/>
                </a:cubicBezTo>
                <a:cubicBezTo>
                  <a:pt x="7" y="179"/>
                  <a:pt x="7" y="179"/>
                  <a:pt x="7" y="194"/>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62" name="path"/>
          <p:cNvSpPr/>
          <p:nvPr/>
        </p:nvSpPr>
        <p:spPr>
          <a:xfrm>
            <a:off x="6468464" y="2314213"/>
            <a:ext cx="49779" cy="445325"/>
          </a:xfrm>
          <a:custGeom>
            <a:avLst/>
            <a:gdLst/>
            <a:ahLst/>
            <a:cxnLst/>
            <a:rect l="0" t="0" r="0" b="0"/>
            <a:pathLst>
              <a:path w="78" h="701">
                <a:moveTo>
                  <a:pt x="7" y="85"/>
                </a:moveTo>
                <a:cubicBezTo>
                  <a:pt x="7" y="101"/>
                  <a:pt x="7" y="116"/>
                  <a:pt x="23" y="116"/>
                </a:cubicBezTo>
                <a:cubicBezTo>
                  <a:pt x="39" y="116"/>
                  <a:pt x="54" y="101"/>
                  <a:pt x="54" y="85"/>
                </a:cubicBezTo>
                <a:cubicBezTo>
                  <a:pt x="54" y="69"/>
                  <a:pt x="39" y="69"/>
                  <a:pt x="23" y="69"/>
                </a:cubicBezTo>
                <a:cubicBezTo>
                  <a:pt x="7" y="69"/>
                  <a:pt x="7" y="69"/>
                  <a:pt x="7" y="85"/>
                </a:cubicBezTo>
              </a:path>
              <a:path w="78" h="701">
                <a:moveTo>
                  <a:pt x="7" y="459"/>
                </a:moveTo>
                <a:cubicBezTo>
                  <a:pt x="7" y="475"/>
                  <a:pt x="7" y="490"/>
                  <a:pt x="23" y="490"/>
                </a:cubicBezTo>
                <a:cubicBezTo>
                  <a:pt x="39" y="490"/>
                  <a:pt x="54" y="475"/>
                  <a:pt x="54" y="459"/>
                </a:cubicBezTo>
                <a:cubicBezTo>
                  <a:pt x="54" y="443"/>
                  <a:pt x="39" y="443"/>
                  <a:pt x="23" y="443"/>
                </a:cubicBezTo>
                <a:cubicBezTo>
                  <a:pt x="7" y="443"/>
                  <a:pt x="7" y="443"/>
                  <a:pt x="7" y="459"/>
                </a:cubicBezTo>
              </a:path>
              <a:path w="78" h="701">
                <a:moveTo>
                  <a:pt x="7" y="23"/>
                </a:moveTo>
                <a:cubicBezTo>
                  <a:pt x="7" y="38"/>
                  <a:pt x="7" y="54"/>
                  <a:pt x="23" y="54"/>
                </a:cubicBezTo>
                <a:cubicBezTo>
                  <a:pt x="39" y="54"/>
                  <a:pt x="54" y="38"/>
                  <a:pt x="54" y="23"/>
                </a:cubicBezTo>
                <a:cubicBezTo>
                  <a:pt x="54" y="7"/>
                  <a:pt x="39" y="7"/>
                  <a:pt x="23" y="7"/>
                </a:cubicBezTo>
                <a:cubicBezTo>
                  <a:pt x="7" y="7"/>
                  <a:pt x="7" y="7"/>
                  <a:pt x="7" y="23"/>
                </a:cubicBezTo>
              </a:path>
              <a:path w="78" h="701">
                <a:moveTo>
                  <a:pt x="7" y="272"/>
                </a:moveTo>
                <a:cubicBezTo>
                  <a:pt x="7" y="288"/>
                  <a:pt x="7" y="303"/>
                  <a:pt x="23" y="303"/>
                </a:cubicBezTo>
                <a:cubicBezTo>
                  <a:pt x="39" y="303"/>
                  <a:pt x="54" y="288"/>
                  <a:pt x="54" y="272"/>
                </a:cubicBezTo>
                <a:cubicBezTo>
                  <a:pt x="54" y="256"/>
                  <a:pt x="39" y="256"/>
                  <a:pt x="23" y="256"/>
                </a:cubicBezTo>
                <a:cubicBezTo>
                  <a:pt x="7" y="256"/>
                  <a:pt x="7" y="256"/>
                  <a:pt x="7" y="272"/>
                </a:cubicBezTo>
              </a:path>
              <a:path w="78" h="701">
                <a:moveTo>
                  <a:pt x="7" y="38"/>
                </a:moveTo>
                <a:cubicBezTo>
                  <a:pt x="7" y="54"/>
                  <a:pt x="7" y="69"/>
                  <a:pt x="23" y="69"/>
                </a:cubicBezTo>
                <a:cubicBezTo>
                  <a:pt x="39" y="69"/>
                  <a:pt x="54" y="54"/>
                  <a:pt x="54" y="38"/>
                </a:cubicBezTo>
                <a:cubicBezTo>
                  <a:pt x="54" y="23"/>
                  <a:pt x="39" y="23"/>
                  <a:pt x="23" y="23"/>
                </a:cubicBezTo>
                <a:cubicBezTo>
                  <a:pt x="7" y="23"/>
                  <a:pt x="7" y="23"/>
                  <a:pt x="7" y="38"/>
                </a:cubicBezTo>
              </a:path>
              <a:path w="78" h="701">
                <a:moveTo>
                  <a:pt x="7" y="412"/>
                </a:moveTo>
                <a:cubicBezTo>
                  <a:pt x="7" y="428"/>
                  <a:pt x="7" y="443"/>
                  <a:pt x="23" y="443"/>
                </a:cubicBezTo>
                <a:cubicBezTo>
                  <a:pt x="39" y="443"/>
                  <a:pt x="54" y="428"/>
                  <a:pt x="54" y="412"/>
                </a:cubicBezTo>
                <a:cubicBezTo>
                  <a:pt x="54" y="397"/>
                  <a:pt x="39" y="397"/>
                  <a:pt x="23" y="397"/>
                </a:cubicBezTo>
                <a:cubicBezTo>
                  <a:pt x="7" y="397"/>
                  <a:pt x="7" y="397"/>
                  <a:pt x="7" y="412"/>
                </a:cubicBezTo>
              </a:path>
              <a:path w="78" h="701">
                <a:moveTo>
                  <a:pt x="7" y="210"/>
                </a:moveTo>
                <a:cubicBezTo>
                  <a:pt x="7" y="225"/>
                  <a:pt x="7" y="241"/>
                  <a:pt x="23" y="241"/>
                </a:cubicBezTo>
                <a:cubicBezTo>
                  <a:pt x="39" y="241"/>
                  <a:pt x="54" y="225"/>
                  <a:pt x="54" y="210"/>
                </a:cubicBezTo>
                <a:cubicBezTo>
                  <a:pt x="54" y="194"/>
                  <a:pt x="39" y="194"/>
                  <a:pt x="23" y="194"/>
                </a:cubicBezTo>
                <a:cubicBezTo>
                  <a:pt x="7" y="194"/>
                  <a:pt x="7" y="194"/>
                  <a:pt x="7" y="210"/>
                </a:cubicBezTo>
              </a:path>
              <a:path w="78" h="701">
                <a:moveTo>
                  <a:pt x="23" y="210"/>
                </a:moveTo>
                <a:cubicBezTo>
                  <a:pt x="23" y="225"/>
                  <a:pt x="23" y="241"/>
                  <a:pt x="39" y="241"/>
                </a:cubicBezTo>
                <a:cubicBezTo>
                  <a:pt x="54" y="241"/>
                  <a:pt x="70" y="225"/>
                  <a:pt x="70" y="210"/>
                </a:cubicBezTo>
                <a:cubicBezTo>
                  <a:pt x="70" y="194"/>
                  <a:pt x="54" y="194"/>
                  <a:pt x="39" y="194"/>
                </a:cubicBezTo>
                <a:cubicBezTo>
                  <a:pt x="23" y="194"/>
                  <a:pt x="23" y="194"/>
                  <a:pt x="23" y="210"/>
                </a:cubicBezTo>
              </a:path>
              <a:path w="78" h="701">
                <a:moveTo>
                  <a:pt x="23" y="662"/>
                </a:moveTo>
                <a:cubicBezTo>
                  <a:pt x="23" y="678"/>
                  <a:pt x="23" y="693"/>
                  <a:pt x="39" y="693"/>
                </a:cubicBezTo>
                <a:cubicBezTo>
                  <a:pt x="54" y="693"/>
                  <a:pt x="70" y="678"/>
                  <a:pt x="70" y="662"/>
                </a:cubicBezTo>
                <a:cubicBezTo>
                  <a:pt x="70" y="647"/>
                  <a:pt x="54" y="647"/>
                  <a:pt x="39" y="647"/>
                </a:cubicBezTo>
                <a:cubicBezTo>
                  <a:pt x="23" y="647"/>
                  <a:pt x="23" y="647"/>
                  <a:pt x="23" y="662"/>
                </a:cubicBezTo>
              </a:path>
              <a:path w="78" h="701">
                <a:moveTo>
                  <a:pt x="23" y="54"/>
                </a:moveTo>
                <a:cubicBezTo>
                  <a:pt x="23" y="69"/>
                  <a:pt x="23" y="85"/>
                  <a:pt x="39" y="85"/>
                </a:cubicBezTo>
                <a:cubicBezTo>
                  <a:pt x="54" y="85"/>
                  <a:pt x="70" y="69"/>
                  <a:pt x="70" y="54"/>
                </a:cubicBezTo>
                <a:cubicBezTo>
                  <a:pt x="70" y="38"/>
                  <a:pt x="54" y="38"/>
                  <a:pt x="39" y="38"/>
                </a:cubicBezTo>
                <a:cubicBezTo>
                  <a:pt x="23" y="38"/>
                  <a:pt x="23" y="38"/>
                  <a:pt x="23" y="54"/>
                </a:cubicBezTo>
              </a:path>
              <a:path w="78" h="701">
                <a:moveTo>
                  <a:pt x="23" y="147"/>
                </a:moveTo>
                <a:cubicBezTo>
                  <a:pt x="23" y="163"/>
                  <a:pt x="23" y="178"/>
                  <a:pt x="39" y="178"/>
                </a:cubicBezTo>
                <a:cubicBezTo>
                  <a:pt x="54" y="178"/>
                  <a:pt x="70" y="163"/>
                  <a:pt x="70" y="147"/>
                </a:cubicBezTo>
                <a:cubicBezTo>
                  <a:pt x="70" y="132"/>
                  <a:pt x="54" y="132"/>
                  <a:pt x="39" y="132"/>
                </a:cubicBezTo>
                <a:cubicBezTo>
                  <a:pt x="23" y="132"/>
                  <a:pt x="23" y="132"/>
                  <a:pt x="23" y="147"/>
                </a:cubicBezTo>
              </a:path>
              <a:path w="78" h="701">
                <a:moveTo>
                  <a:pt x="23" y="210"/>
                </a:moveTo>
                <a:cubicBezTo>
                  <a:pt x="23" y="225"/>
                  <a:pt x="23" y="241"/>
                  <a:pt x="39" y="241"/>
                </a:cubicBezTo>
                <a:cubicBezTo>
                  <a:pt x="54" y="241"/>
                  <a:pt x="70" y="225"/>
                  <a:pt x="70" y="210"/>
                </a:cubicBezTo>
                <a:cubicBezTo>
                  <a:pt x="70" y="194"/>
                  <a:pt x="54" y="194"/>
                  <a:pt x="39" y="194"/>
                </a:cubicBezTo>
                <a:cubicBezTo>
                  <a:pt x="23" y="194"/>
                  <a:pt x="23" y="194"/>
                  <a:pt x="23" y="210"/>
                </a:cubicBezTo>
              </a:path>
              <a:path w="78" h="701">
                <a:moveTo>
                  <a:pt x="23" y="147"/>
                </a:moveTo>
                <a:cubicBezTo>
                  <a:pt x="23" y="163"/>
                  <a:pt x="23" y="178"/>
                  <a:pt x="39" y="178"/>
                </a:cubicBezTo>
                <a:cubicBezTo>
                  <a:pt x="54" y="178"/>
                  <a:pt x="70" y="163"/>
                  <a:pt x="70" y="147"/>
                </a:cubicBezTo>
                <a:cubicBezTo>
                  <a:pt x="70" y="132"/>
                  <a:pt x="54" y="132"/>
                  <a:pt x="39" y="132"/>
                </a:cubicBezTo>
                <a:cubicBezTo>
                  <a:pt x="23" y="132"/>
                  <a:pt x="23" y="132"/>
                  <a:pt x="23" y="147"/>
                </a:cubicBezTo>
              </a:path>
              <a:path w="78" h="701">
                <a:moveTo>
                  <a:pt x="23" y="210"/>
                </a:moveTo>
                <a:cubicBezTo>
                  <a:pt x="23" y="225"/>
                  <a:pt x="23" y="241"/>
                  <a:pt x="39" y="241"/>
                </a:cubicBezTo>
                <a:cubicBezTo>
                  <a:pt x="54" y="241"/>
                  <a:pt x="70" y="225"/>
                  <a:pt x="70" y="210"/>
                </a:cubicBezTo>
                <a:cubicBezTo>
                  <a:pt x="70" y="194"/>
                  <a:pt x="54" y="194"/>
                  <a:pt x="39" y="194"/>
                </a:cubicBezTo>
                <a:cubicBezTo>
                  <a:pt x="23" y="194"/>
                  <a:pt x="23" y="194"/>
                  <a:pt x="23" y="210"/>
                </a:cubicBezTo>
              </a:path>
              <a:path w="78" h="701">
                <a:moveTo>
                  <a:pt x="23" y="647"/>
                </a:moveTo>
                <a:cubicBezTo>
                  <a:pt x="23" y="662"/>
                  <a:pt x="23" y="678"/>
                  <a:pt x="39" y="678"/>
                </a:cubicBezTo>
                <a:cubicBezTo>
                  <a:pt x="54" y="678"/>
                  <a:pt x="70" y="662"/>
                  <a:pt x="70" y="647"/>
                </a:cubicBezTo>
                <a:cubicBezTo>
                  <a:pt x="70" y="631"/>
                  <a:pt x="54" y="631"/>
                  <a:pt x="39" y="631"/>
                </a:cubicBezTo>
                <a:cubicBezTo>
                  <a:pt x="23" y="631"/>
                  <a:pt x="23" y="631"/>
                  <a:pt x="23" y="647"/>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63" name="path"/>
          <p:cNvSpPr/>
          <p:nvPr/>
        </p:nvSpPr>
        <p:spPr>
          <a:xfrm>
            <a:off x="6488375" y="2314213"/>
            <a:ext cx="40155" cy="584141"/>
          </a:xfrm>
          <a:custGeom>
            <a:avLst/>
            <a:gdLst/>
            <a:ahLst/>
            <a:cxnLst/>
            <a:rect l="0" t="0" r="0" b="0"/>
            <a:pathLst>
              <a:path w="63" h="919">
                <a:moveTo>
                  <a:pt x="7" y="880"/>
                </a:moveTo>
                <a:cubicBezTo>
                  <a:pt x="7" y="896"/>
                  <a:pt x="7" y="912"/>
                  <a:pt x="23" y="912"/>
                </a:cubicBezTo>
                <a:cubicBezTo>
                  <a:pt x="39" y="912"/>
                  <a:pt x="55" y="896"/>
                  <a:pt x="55" y="880"/>
                </a:cubicBezTo>
                <a:cubicBezTo>
                  <a:pt x="55" y="865"/>
                  <a:pt x="39" y="865"/>
                  <a:pt x="23" y="865"/>
                </a:cubicBezTo>
                <a:cubicBezTo>
                  <a:pt x="7" y="865"/>
                  <a:pt x="7" y="865"/>
                  <a:pt x="7" y="880"/>
                </a:cubicBezTo>
              </a:path>
              <a:path w="63" h="919">
                <a:moveTo>
                  <a:pt x="7" y="23"/>
                </a:moveTo>
                <a:cubicBezTo>
                  <a:pt x="7" y="38"/>
                  <a:pt x="7" y="54"/>
                  <a:pt x="23" y="54"/>
                </a:cubicBezTo>
                <a:cubicBezTo>
                  <a:pt x="39" y="54"/>
                  <a:pt x="55" y="38"/>
                  <a:pt x="55" y="23"/>
                </a:cubicBezTo>
                <a:cubicBezTo>
                  <a:pt x="55" y="7"/>
                  <a:pt x="39" y="7"/>
                  <a:pt x="23" y="7"/>
                </a:cubicBezTo>
                <a:cubicBezTo>
                  <a:pt x="7" y="7"/>
                  <a:pt x="7" y="7"/>
                  <a:pt x="7" y="23"/>
                </a:cubicBezTo>
              </a:path>
              <a:path w="63" h="919">
                <a:moveTo>
                  <a:pt x="7" y="241"/>
                </a:moveTo>
                <a:cubicBezTo>
                  <a:pt x="7" y="256"/>
                  <a:pt x="7" y="272"/>
                  <a:pt x="23" y="272"/>
                </a:cubicBezTo>
                <a:cubicBezTo>
                  <a:pt x="39" y="272"/>
                  <a:pt x="55" y="256"/>
                  <a:pt x="55" y="241"/>
                </a:cubicBezTo>
                <a:cubicBezTo>
                  <a:pt x="55" y="225"/>
                  <a:pt x="39" y="225"/>
                  <a:pt x="23" y="225"/>
                </a:cubicBezTo>
                <a:cubicBezTo>
                  <a:pt x="7" y="225"/>
                  <a:pt x="7" y="225"/>
                  <a:pt x="7" y="241"/>
                </a:cubicBezTo>
              </a:path>
              <a:path w="63" h="919">
                <a:moveTo>
                  <a:pt x="7" y="210"/>
                </a:moveTo>
                <a:cubicBezTo>
                  <a:pt x="7" y="225"/>
                  <a:pt x="7" y="241"/>
                  <a:pt x="23" y="241"/>
                </a:cubicBezTo>
                <a:cubicBezTo>
                  <a:pt x="39" y="241"/>
                  <a:pt x="55" y="225"/>
                  <a:pt x="55" y="210"/>
                </a:cubicBezTo>
                <a:cubicBezTo>
                  <a:pt x="55" y="194"/>
                  <a:pt x="39" y="194"/>
                  <a:pt x="23" y="194"/>
                </a:cubicBezTo>
                <a:cubicBezTo>
                  <a:pt x="7" y="194"/>
                  <a:pt x="7" y="194"/>
                  <a:pt x="7" y="210"/>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64" name="path"/>
          <p:cNvSpPr/>
          <p:nvPr/>
        </p:nvSpPr>
        <p:spPr>
          <a:xfrm>
            <a:off x="6488375" y="2383456"/>
            <a:ext cx="40155" cy="39380"/>
          </a:xfrm>
          <a:custGeom>
            <a:avLst/>
            <a:gdLst/>
            <a:ahLst/>
            <a:cxnLst/>
            <a:rect l="0" t="0" r="0" b="0"/>
            <a:pathLst>
              <a:path w="63" h="62">
                <a:moveTo>
                  <a:pt x="7" y="23"/>
                </a:moveTo>
                <a:cubicBezTo>
                  <a:pt x="7" y="38"/>
                  <a:pt x="7" y="54"/>
                  <a:pt x="23" y="54"/>
                </a:cubicBezTo>
                <a:cubicBezTo>
                  <a:pt x="39" y="54"/>
                  <a:pt x="55" y="38"/>
                  <a:pt x="55" y="23"/>
                </a:cubicBezTo>
                <a:cubicBezTo>
                  <a:pt x="55" y="7"/>
                  <a:pt x="39" y="7"/>
                  <a:pt x="23"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65" name="path"/>
          <p:cNvSpPr/>
          <p:nvPr/>
        </p:nvSpPr>
        <p:spPr>
          <a:xfrm>
            <a:off x="6488375" y="2383456"/>
            <a:ext cx="50111" cy="366236"/>
          </a:xfrm>
          <a:custGeom>
            <a:avLst/>
            <a:gdLst/>
            <a:ahLst/>
            <a:cxnLst/>
            <a:rect l="0" t="0" r="0" b="0"/>
            <a:pathLst>
              <a:path w="78" h="576">
                <a:moveTo>
                  <a:pt x="7" y="537"/>
                </a:moveTo>
                <a:cubicBezTo>
                  <a:pt x="7" y="553"/>
                  <a:pt x="7" y="568"/>
                  <a:pt x="23" y="568"/>
                </a:cubicBezTo>
                <a:cubicBezTo>
                  <a:pt x="39" y="568"/>
                  <a:pt x="55" y="553"/>
                  <a:pt x="55" y="537"/>
                </a:cubicBezTo>
                <a:cubicBezTo>
                  <a:pt x="55" y="522"/>
                  <a:pt x="39" y="522"/>
                  <a:pt x="23" y="522"/>
                </a:cubicBezTo>
                <a:cubicBezTo>
                  <a:pt x="7" y="522"/>
                  <a:pt x="7" y="522"/>
                  <a:pt x="7" y="537"/>
                </a:cubicBezTo>
              </a:path>
              <a:path w="78" h="576">
                <a:moveTo>
                  <a:pt x="7" y="23"/>
                </a:moveTo>
                <a:cubicBezTo>
                  <a:pt x="7" y="38"/>
                  <a:pt x="7" y="54"/>
                  <a:pt x="23" y="54"/>
                </a:cubicBezTo>
                <a:cubicBezTo>
                  <a:pt x="39" y="54"/>
                  <a:pt x="55" y="38"/>
                  <a:pt x="55" y="23"/>
                </a:cubicBezTo>
                <a:cubicBezTo>
                  <a:pt x="55" y="7"/>
                  <a:pt x="39" y="7"/>
                  <a:pt x="23" y="7"/>
                </a:cubicBezTo>
                <a:cubicBezTo>
                  <a:pt x="7" y="7"/>
                  <a:pt x="7" y="7"/>
                  <a:pt x="7" y="23"/>
                </a:cubicBezTo>
              </a:path>
              <a:path w="78" h="576">
                <a:moveTo>
                  <a:pt x="23" y="85"/>
                </a:moveTo>
                <a:cubicBezTo>
                  <a:pt x="23" y="101"/>
                  <a:pt x="23" y="116"/>
                  <a:pt x="39" y="116"/>
                </a:cubicBezTo>
                <a:cubicBezTo>
                  <a:pt x="55" y="116"/>
                  <a:pt x="71" y="101"/>
                  <a:pt x="71" y="85"/>
                </a:cubicBezTo>
                <a:cubicBezTo>
                  <a:pt x="71" y="69"/>
                  <a:pt x="55" y="69"/>
                  <a:pt x="39" y="69"/>
                </a:cubicBezTo>
                <a:cubicBezTo>
                  <a:pt x="23" y="69"/>
                  <a:pt x="23" y="69"/>
                  <a:pt x="23" y="85"/>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66" name="path"/>
          <p:cNvSpPr/>
          <p:nvPr/>
        </p:nvSpPr>
        <p:spPr>
          <a:xfrm>
            <a:off x="6498331" y="2393301"/>
            <a:ext cx="40155" cy="188041"/>
          </a:xfrm>
          <a:custGeom>
            <a:avLst/>
            <a:gdLst/>
            <a:ahLst/>
            <a:cxnLst/>
            <a:rect l="0" t="0" r="0" b="0"/>
            <a:pathLst>
              <a:path w="63" h="296">
                <a:moveTo>
                  <a:pt x="7" y="257"/>
                </a:moveTo>
                <a:cubicBezTo>
                  <a:pt x="7" y="272"/>
                  <a:pt x="7" y="288"/>
                  <a:pt x="23" y="288"/>
                </a:cubicBezTo>
                <a:cubicBezTo>
                  <a:pt x="39" y="288"/>
                  <a:pt x="55" y="272"/>
                  <a:pt x="55" y="257"/>
                </a:cubicBezTo>
                <a:cubicBezTo>
                  <a:pt x="55" y="241"/>
                  <a:pt x="39" y="241"/>
                  <a:pt x="23" y="241"/>
                </a:cubicBezTo>
                <a:cubicBezTo>
                  <a:pt x="7" y="241"/>
                  <a:pt x="7" y="241"/>
                  <a:pt x="7" y="257"/>
                </a:cubicBezTo>
              </a:path>
              <a:path w="63" h="296">
                <a:moveTo>
                  <a:pt x="7" y="179"/>
                </a:moveTo>
                <a:cubicBezTo>
                  <a:pt x="7" y="194"/>
                  <a:pt x="7" y="210"/>
                  <a:pt x="23" y="210"/>
                </a:cubicBezTo>
                <a:cubicBezTo>
                  <a:pt x="39" y="210"/>
                  <a:pt x="55" y="194"/>
                  <a:pt x="55" y="179"/>
                </a:cubicBezTo>
                <a:cubicBezTo>
                  <a:pt x="55" y="163"/>
                  <a:pt x="39" y="163"/>
                  <a:pt x="23" y="163"/>
                </a:cubicBezTo>
                <a:cubicBezTo>
                  <a:pt x="7" y="163"/>
                  <a:pt x="7" y="163"/>
                  <a:pt x="7" y="179"/>
                </a:cubicBezTo>
              </a:path>
              <a:path w="63" h="296">
                <a:moveTo>
                  <a:pt x="7" y="23"/>
                </a:moveTo>
                <a:cubicBezTo>
                  <a:pt x="7" y="38"/>
                  <a:pt x="7" y="54"/>
                  <a:pt x="23" y="54"/>
                </a:cubicBezTo>
                <a:cubicBezTo>
                  <a:pt x="39" y="54"/>
                  <a:pt x="55" y="38"/>
                  <a:pt x="55" y="23"/>
                </a:cubicBezTo>
                <a:cubicBezTo>
                  <a:pt x="55" y="7"/>
                  <a:pt x="39" y="7"/>
                  <a:pt x="23"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67" name="path"/>
          <p:cNvSpPr/>
          <p:nvPr/>
        </p:nvSpPr>
        <p:spPr>
          <a:xfrm>
            <a:off x="6498331" y="2254486"/>
            <a:ext cx="50111" cy="277303"/>
          </a:xfrm>
          <a:custGeom>
            <a:avLst/>
            <a:gdLst/>
            <a:ahLst/>
            <a:cxnLst/>
            <a:rect l="0" t="0" r="0" b="0"/>
            <a:pathLst>
              <a:path w="78" h="436">
                <a:moveTo>
                  <a:pt x="7" y="304"/>
                </a:moveTo>
                <a:cubicBezTo>
                  <a:pt x="7" y="319"/>
                  <a:pt x="7" y="335"/>
                  <a:pt x="23" y="335"/>
                </a:cubicBezTo>
                <a:cubicBezTo>
                  <a:pt x="39" y="335"/>
                  <a:pt x="55" y="319"/>
                  <a:pt x="55" y="304"/>
                </a:cubicBezTo>
                <a:cubicBezTo>
                  <a:pt x="55" y="288"/>
                  <a:pt x="39" y="288"/>
                  <a:pt x="23" y="288"/>
                </a:cubicBezTo>
                <a:cubicBezTo>
                  <a:pt x="7" y="288"/>
                  <a:pt x="7" y="288"/>
                  <a:pt x="7" y="304"/>
                </a:cubicBezTo>
              </a:path>
              <a:path w="78" h="436">
                <a:moveTo>
                  <a:pt x="23" y="70"/>
                </a:moveTo>
                <a:cubicBezTo>
                  <a:pt x="23" y="85"/>
                  <a:pt x="23" y="101"/>
                  <a:pt x="39" y="101"/>
                </a:cubicBezTo>
                <a:cubicBezTo>
                  <a:pt x="55" y="101"/>
                  <a:pt x="71" y="85"/>
                  <a:pt x="71" y="70"/>
                </a:cubicBezTo>
                <a:cubicBezTo>
                  <a:pt x="71" y="54"/>
                  <a:pt x="55" y="54"/>
                  <a:pt x="39" y="54"/>
                </a:cubicBezTo>
                <a:cubicBezTo>
                  <a:pt x="23" y="54"/>
                  <a:pt x="23" y="54"/>
                  <a:pt x="23" y="70"/>
                </a:cubicBezTo>
              </a:path>
              <a:path w="78" h="436">
                <a:moveTo>
                  <a:pt x="23" y="70"/>
                </a:moveTo>
                <a:cubicBezTo>
                  <a:pt x="23" y="85"/>
                  <a:pt x="23" y="101"/>
                  <a:pt x="39" y="101"/>
                </a:cubicBezTo>
                <a:cubicBezTo>
                  <a:pt x="55" y="101"/>
                  <a:pt x="71" y="85"/>
                  <a:pt x="71" y="70"/>
                </a:cubicBezTo>
                <a:cubicBezTo>
                  <a:pt x="71" y="54"/>
                  <a:pt x="55" y="54"/>
                  <a:pt x="39" y="54"/>
                </a:cubicBezTo>
                <a:cubicBezTo>
                  <a:pt x="23" y="54"/>
                  <a:pt x="23" y="54"/>
                  <a:pt x="23" y="70"/>
                </a:cubicBezTo>
              </a:path>
              <a:path w="78" h="436">
                <a:moveTo>
                  <a:pt x="23" y="23"/>
                </a:moveTo>
                <a:cubicBezTo>
                  <a:pt x="23" y="39"/>
                  <a:pt x="23" y="54"/>
                  <a:pt x="39" y="54"/>
                </a:cubicBezTo>
                <a:cubicBezTo>
                  <a:pt x="55" y="54"/>
                  <a:pt x="71" y="39"/>
                  <a:pt x="71" y="23"/>
                </a:cubicBezTo>
                <a:cubicBezTo>
                  <a:pt x="71" y="7"/>
                  <a:pt x="55" y="7"/>
                  <a:pt x="39" y="7"/>
                </a:cubicBezTo>
                <a:cubicBezTo>
                  <a:pt x="23" y="7"/>
                  <a:pt x="23" y="7"/>
                  <a:pt x="23" y="23"/>
                </a:cubicBezTo>
              </a:path>
              <a:path w="78" h="436">
                <a:moveTo>
                  <a:pt x="23" y="397"/>
                </a:moveTo>
                <a:cubicBezTo>
                  <a:pt x="23" y="413"/>
                  <a:pt x="23" y="428"/>
                  <a:pt x="39" y="428"/>
                </a:cubicBezTo>
                <a:cubicBezTo>
                  <a:pt x="55" y="428"/>
                  <a:pt x="71" y="413"/>
                  <a:pt x="71" y="397"/>
                </a:cubicBezTo>
                <a:cubicBezTo>
                  <a:pt x="71" y="382"/>
                  <a:pt x="55" y="382"/>
                  <a:pt x="39" y="382"/>
                </a:cubicBezTo>
                <a:cubicBezTo>
                  <a:pt x="23" y="382"/>
                  <a:pt x="23" y="382"/>
                  <a:pt x="23" y="397"/>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68" name="path"/>
          <p:cNvSpPr/>
          <p:nvPr/>
        </p:nvSpPr>
        <p:spPr>
          <a:xfrm>
            <a:off x="6508287" y="2462545"/>
            <a:ext cx="40155" cy="643545"/>
          </a:xfrm>
          <a:custGeom>
            <a:avLst/>
            <a:gdLst/>
            <a:ahLst/>
            <a:cxnLst/>
            <a:rect l="0" t="0" r="0" b="0"/>
            <a:pathLst>
              <a:path w="63" h="1013">
                <a:moveTo>
                  <a:pt x="7" y="23"/>
                </a:moveTo>
                <a:cubicBezTo>
                  <a:pt x="7" y="39"/>
                  <a:pt x="7" y="54"/>
                  <a:pt x="24" y="54"/>
                </a:cubicBezTo>
                <a:cubicBezTo>
                  <a:pt x="39" y="54"/>
                  <a:pt x="55" y="39"/>
                  <a:pt x="55" y="23"/>
                </a:cubicBezTo>
                <a:cubicBezTo>
                  <a:pt x="55" y="7"/>
                  <a:pt x="39" y="7"/>
                  <a:pt x="24" y="7"/>
                </a:cubicBezTo>
                <a:cubicBezTo>
                  <a:pt x="7" y="7"/>
                  <a:pt x="7" y="7"/>
                  <a:pt x="7" y="23"/>
                </a:cubicBezTo>
              </a:path>
              <a:path w="63" h="1013">
                <a:moveTo>
                  <a:pt x="7" y="974"/>
                </a:moveTo>
                <a:cubicBezTo>
                  <a:pt x="7" y="990"/>
                  <a:pt x="7" y="1005"/>
                  <a:pt x="24" y="1005"/>
                </a:cubicBezTo>
                <a:cubicBezTo>
                  <a:pt x="39" y="1005"/>
                  <a:pt x="55" y="990"/>
                  <a:pt x="55" y="974"/>
                </a:cubicBezTo>
                <a:cubicBezTo>
                  <a:pt x="55" y="959"/>
                  <a:pt x="39" y="959"/>
                  <a:pt x="24" y="959"/>
                </a:cubicBezTo>
                <a:cubicBezTo>
                  <a:pt x="7" y="959"/>
                  <a:pt x="7" y="959"/>
                  <a:pt x="7" y="974"/>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69" name="path"/>
          <p:cNvSpPr/>
          <p:nvPr/>
        </p:nvSpPr>
        <p:spPr>
          <a:xfrm>
            <a:off x="6508287" y="2294194"/>
            <a:ext cx="50110" cy="138487"/>
          </a:xfrm>
          <a:custGeom>
            <a:avLst/>
            <a:gdLst/>
            <a:ahLst/>
            <a:cxnLst/>
            <a:rect l="0" t="0" r="0" b="0"/>
            <a:pathLst>
              <a:path w="78" h="218">
                <a:moveTo>
                  <a:pt x="7" y="179"/>
                </a:moveTo>
                <a:cubicBezTo>
                  <a:pt x="7" y="194"/>
                  <a:pt x="7" y="210"/>
                  <a:pt x="24" y="210"/>
                </a:cubicBezTo>
                <a:cubicBezTo>
                  <a:pt x="39" y="210"/>
                  <a:pt x="55" y="194"/>
                  <a:pt x="55" y="179"/>
                </a:cubicBezTo>
                <a:cubicBezTo>
                  <a:pt x="55" y="163"/>
                  <a:pt x="39" y="163"/>
                  <a:pt x="24" y="163"/>
                </a:cubicBezTo>
                <a:cubicBezTo>
                  <a:pt x="7" y="163"/>
                  <a:pt x="7" y="163"/>
                  <a:pt x="7" y="179"/>
                </a:cubicBezTo>
              </a:path>
              <a:path w="78" h="218">
                <a:moveTo>
                  <a:pt x="7" y="23"/>
                </a:moveTo>
                <a:cubicBezTo>
                  <a:pt x="7" y="39"/>
                  <a:pt x="7" y="54"/>
                  <a:pt x="24" y="54"/>
                </a:cubicBezTo>
                <a:cubicBezTo>
                  <a:pt x="39" y="54"/>
                  <a:pt x="55" y="39"/>
                  <a:pt x="55" y="23"/>
                </a:cubicBezTo>
                <a:cubicBezTo>
                  <a:pt x="55" y="7"/>
                  <a:pt x="39" y="7"/>
                  <a:pt x="24" y="7"/>
                </a:cubicBezTo>
                <a:cubicBezTo>
                  <a:pt x="7" y="7"/>
                  <a:pt x="7" y="7"/>
                  <a:pt x="7" y="23"/>
                </a:cubicBezTo>
              </a:path>
              <a:path w="78" h="218">
                <a:moveTo>
                  <a:pt x="24" y="163"/>
                </a:moveTo>
                <a:cubicBezTo>
                  <a:pt x="24" y="179"/>
                  <a:pt x="24" y="194"/>
                  <a:pt x="39" y="194"/>
                </a:cubicBezTo>
                <a:cubicBezTo>
                  <a:pt x="55" y="194"/>
                  <a:pt x="71" y="179"/>
                  <a:pt x="71" y="163"/>
                </a:cubicBezTo>
                <a:cubicBezTo>
                  <a:pt x="71" y="148"/>
                  <a:pt x="55" y="148"/>
                  <a:pt x="39" y="148"/>
                </a:cubicBezTo>
                <a:cubicBezTo>
                  <a:pt x="24" y="148"/>
                  <a:pt x="24" y="148"/>
                  <a:pt x="24" y="16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70" name="path"/>
          <p:cNvSpPr/>
          <p:nvPr/>
        </p:nvSpPr>
        <p:spPr>
          <a:xfrm>
            <a:off x="6518574" y="2324058"/>
            <a:ext cx="49779" cy="633695"/>
          </a:xfrm>
          <a:custGeom>
            <a:avLst/>
            <a:gdLst/>
            <a:ahLst/>
            <a:cxnLst/>
            <a:rect l="0" t="0" r="0" b="0"/>
            <a:pathLst>
              <a:path w="78" h="997">
                <a:moveTo>
                  <a:pt x="7" y="23"/>
                </a:moveTo>
                <a:cubicBezTo>
                  <a:pt x="7" y="38"/>
                  <a:pt x="7" y="54"/>
                  <a:pt x="23" y="54"/>
                </a:cubicBezTo>
                <a:cubicBezTo>
                  <a:pt x="39" y="54"/>
                  <a:pt x="54" y="38"/>
                  <a:pt x="54" y="23"/>
                </a:cubicBezTo>
                <a:cubicBezTo>
                  <a:pt x="54" y="7"/>
                  <a:pt x="39" y="7"/>
                  <a:pt x="23" y="7"/>
                </a:cubicBezTo>
                <a:cubicBezTo>
                  <a:pt x="7" y="7"/>
                  <a:pt x="7" y="7"/>
                  <a:pt x="7" y="23"/>
                </a:cubicBezTo>
              </a:path>
              <a:path w="78" h="997">
                <a:moveTo>
                  <a:pt x="23" y="958"/>
                </a:moveTo>
                <a:cubicBezTo>
                  <a:pt x="23" y="974"/>
                  <a:pt x="23" y="990"/>
                  <a:pt x="39" y="990"/>
                </a:cubicBezTo>
                <a:cubicBezTo>
                  <a:pt x="54" y="990"/>
                  <a:pt x="70" y="974"/>
                  <a:pt x="70" y="958"/>
                </a:cubicBezTo>
                <a:cubicBezTo>
                  <a:pt x="70" y="943"/>
                  <a:pt x="54" y="943"/>
                  <a:pt x="39" y="943"/>
                </a:cubicBezTo>
                <a:cubicBezTo>
                  <a:pt x="23" y="943"/>
                  <a:pt x="23" y="943"/>
                  <a:pt x="23" y="958"/>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71" name="path"/>
          <p:cNvSpPr/>
          <p:nvPr/>
        </p:nvSpPr>
        <p:spPr>
          <a:xfrm>
            <a:off x="6518574" y="2274504"/>
            <a:ext cx="39823" cy="39380"/>
          </a:xfrm>
          <a:custGeom>
            <a:avLst/>
            <a:gdLst/>
            <a:ahLst/>
            <a:cxnLst/>
            <a:rect l="0" t="0" r="0" b="0"/>
            <a:pathLst>
              <a:path w="62" h="62">
                <a:moveTo>
                  <a:pt x="7" y="23"/>
                </a:moveTo>
                <a:cubicBezTo>
                  <a:pt x="7" y="38"/>
                  <a:pt x="7" y="54"/>
                  <a:pt x="23" y="54"/>
                </a:cubicBezTo>
                <a:cubicBezTo>
                  <a:pt x="39" y="54"/>
                  <a:pt x="54" y="38"/>
                  <a:pt x="54" y="23"/>
                </a:cubicBezTo>
                <a:cubicBezTo>
                  <a:pt x="54" y="7"/>
                  <a:pt x="39" y="7"/>
                  <a:pt x="23"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72" name="path"/>
          <p:cNvSpPr/>
          <p:nvPr/>
        </p:nvSpPr>
        <p:spPr>
          <a:xfrm>
            <a:off x="6528530" y="2284350"/>
            <a:ext cx="39823" cy="39708"/>
          </a:xfrm>
          <a:custGeom>
            <a:avLst/>
            <a:gdLst/>
            <a:ahLst/>
            <a:cxnLst/>
            <a:rect l="0" t="0" r="0" b="0"/>
            <a:pathLst>
              <a:path w="62" h="62">
                <a:moveTo>
                  <a:pt x="7" y="23"/>
                </a:moveTo>
                <a:cubicBezTo>
                  <a:pt x="7" y="38"/>
                  <a:pt x="7" y="54"/>
                  <a:pt x="23" y="54"/>
                </a:cubicBezTo>
                <a:cubicBezTo>
                  <a:pt x="39" y="54"/>
                  <a:pt x="54" y="38"/>
                  <a:pt x="54" y="23"/>
                </a:cubicBezTo>
                <a:cubicBezTo>
                  <a:pt x="54" y="7"/>
                  <a:pt x="39" y="7"/>
                  <a:pt x="23"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73" name="path"/>
          <p:cNvSpPr/>
          <p:nvPr/>
        </p:nvSpPr>
        <p:spPr>
          <a:xfrm>
            <a:off x="6508287" y="2502254"/>
            <a:ext cx="40155" cy="39380"/>
          </a:xfrm>
          <a:custGeom>
            <a:avLst/>
            <a:gdLst/>
            <a:ahLst/>
            <a:cxnLst/>
            <a:rect l="0" t="0" r="0" b="0"/>
            <a:pathLst>
              <a:path w="63" h="62">
                <a:moveTo>
                  <a:pt x="7" y="23"/>
                </a:moveTo>
                <a:cubicBezTo>
                  <a:pt x="7" y="38"/>
                  <a:pt x="7" y="54"/>
                  <a:pt x="24" y="54"/>
                </a:cubicBezTo>
                <a:cubicBezTo>
                  <a:pt x="39" y="54"/>
                  <a:pt x="55" y="38"/>
                  <a:pt x="55" y="23"/>
                </a:cubicBezTo>
                <a:cubicBezTo>
                  <a:pt x="55" y="7"/>
                  <a:pt x="39" y="7"/>
                  <a:pt x="24" y="7"/>
                </a:cubicBezTo>
                <a:cubicBezTo>
                  <a:pt x="7" y="7"/>
                  <a:pt x="7" y="7"/>
                  <a:pt x="7" y="23"/>
                </a:cubicBezTo>
              </a:path>
              <a:path w="63" h="62">
                <a:moveTo>
                  <a:pt x="7" y="23"/>
                </a:moveTo>
                <a:cubicBezTo>
                  <a:pt x="7" y="38"/>
                  <a:pt x="7" y="54"/>
                  <a:pt x="24" y="54"/>
                </a:cubicBezTo>
                <a:cubicBezTo>
                  <a:pt x="39" y="54"/>
                  <a:pt x="55" y="38"/>
                  <a:pt x="55" y="23"/>
                </a:cubicBezTo>
                <a:cubicBezTo>
                  <a:pt x="55" y="7"/>
                  <a:pt x="39" y="7"/>
                  <a:pt x="24"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74" name="path"/>
          <p:cNvSpPr/>
          <p:nvPr/>
        </p:nvSpPr>
        <p:spPr>
          <a:xfrm>
            <a:off x="6528530" y="2383456"/>
            <a:ext cx="49779" cy="197886"/>
          </a:xfrm>
          <a:custGeom>
            <a:avLst/>
            <a:gdLst/>
            <a:ahLst/>
            <a:cxnLst/>
            <a:rect l="0" t="0" r="0" b="0"/>
            <a:pathLst>
              <a:path w="78" h="311">
                <a:moveTo>
                  <a:pt x="7" y="147"/>
                </a:moveTo>
                <a:cubicBezTo>
                  <a:pt x="7" y="163"/>
                  <a:pt x="7" y="179"/>
                  <a:pt x="23" y="179"/>
                </a:cubicBezTo>
                <a:cubicBezTo>
                  <a:pt x="39" y="179"/>
                  <a:pt x="54" y="163"/>
                  <a:pt x="54" y="147"/>
                </a:cubicBezTo>
                <a:cubicBezTo>
                  <a:pt x="54" y="132"/>
                  <a:pt x="39" y="132"/>
                  <a:pt x="23" y="132"/>
                </a:cubicBezTo>
                <a:cubicBezTo>
                  <a:pt x="7" y="132"/>
                  <a:pt x="7" y="132"/>
                  <a:pt x="7" y="147"/>
                </a:cubicBezTo>
              </a:path>
              <a:path w="78" h="311">
                <a:moveTo>
                  <a:pt x="7" y="272"/>
                </a:moveTo>
                <a:cubicBezTo>
                  <a:pt x="7" y="288"/>
                  <a:pt x="7" y="303"/>
                  <a:pt x="23" y="303"/>
                </a:cubicBezTo>
                <a:cubicBezTo>
                  <a:pt x="39" y="303"/>
                  <a:pt x="54" y="288"/>
                  <a:pt x="54" y="272"/>
                </a:cubicBezTo>
                <a:cubicBezTo>
                  <a:pt x="54" y="257"/>
                  <a:pt x="39" y="257"/>
                  <a:pt x="23" y="257"/>
                </a:cubicBezTo>
                <a:cubicBezTo>
                  <a:pt x="7" y="257"/>
                  <a:pt x="7" y="257"/>
                  <a:pt x="7" y="272"/>
                </a:cubicBezTo>
              </a:path>
              <a:path w="78" h="311">
                <a:moveTo>
                  <a:pt x="7" y="163"/>
                </a:moveTo>
                <a:cubicBezTo>
                  <a:pt x="7" y="179"/>
                  <a:pt x="7" y="194"/>
                  <a:pt x="23" y="194"/>
                </a:cubicBezTo>
                <a:cubicBezTo>
                  <a:pt x="39" y="194"/>
                  <a:pt x="54" y="179"/>
                  <a:pt x="54" y="163"/>
                </a:cubicBezTo>
                <a:cubicBezTo>
                  <a:pt x="54" y="147"/>
                  <a:pt x="39" y="147"/>
                  <a:pt x="23" y="147"/>
                </a:cubicBezTo>
                <a:cubicBezTo>
                  <a:pt x="7" y="147"/>
                  <a:pt x="7" y="147"/>
                  <a:pt x="7" y="163"/>
                </a:cubicBezTo>
              </a:path>
              <a:path w="78" h="311">
                <a:moveTo>
                  <a:pt x="23" y="23"/>
                </a:moveTo>
                <a:cubicBezTo>
                  <a:pt x="23" y="38"/>
                  <a:pt x="23" y="54"/>
                  <a:pt x="39" y="54"/>
                </a:cubicBezTo>
                <a:cubicBezTo>
                  <a:pt x="54" y="54"/>
                  <a:pt x="70" y="38"/>
                  <a:pt x="70" y="23"/>
                </a:cubicBezTo>
                <a:cubicBezTo>
                  <a:pt x="70" y="7"/>
                  <a:pt x="54" y="7"/>
                  <a:pt x="39" y="7"/>
                </a:cubicBezTo>
                <a:cubicBezTo>
                  <a:pt x="23" y="7"/>
                  <a:pt x="23" y="7"/>
                  <a:pt x="23"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75" name="path"/>
          <p:cNvSpPr/>
          <p:nvPr/>
        </p:nvSpPr>
        <p:spPr>
          <a:xfrm>
            <a:off x="6538486" y="2314213"/>
            <a:ext cx="39823" cy="326528"/>
          </a:xfrm>
          <a:custGeom>
            <a:avLst/>
            <a:gdLst/>
            <a:ahLst/>
            <a:cxnLst/>
            <a:rect l="0" t="0" r="0" b="0"/>
            <a:pathLst>
              <a:path w="62" h="514">
                <a:moveTo>
                  <a:pt x="7" y="475"/>
                </a:moveTo>
                <a:cubicBezTo>
                  <a:pt x="7" y="490"/>
                  <a:pt x="7" y="506"/>
                  <a:pt x="23" y="506"/>
                </a:cubicBezTo>
                <a:cubicBezTo>
                  <a:pt x="39" y="506"/>
                  <a:pt x="54" y="490"/>
                  <a:pt x="54" y="475"/>
                </a:cubicBezTo>
                <a:cubicBezTo>
                  <a:pt x="54" y="459"/>
                  <a:pt x="39" y="459"/>
                  <a:pt x="23" y="459"/>
                </a:cubicBezTo>
                <a:cubicBezTo>
                  <a:pt x="7" y="459"/>
                  <a:pt x="7" y="459"/>
                  <a:pt x="7" y="475"/>
                </a:cubicBezTo>
              </a:path>
              <a:path w="62" h="514">
                <a:moveTo>
                  <a:pt x="7" y="23"/>
                </a:moveTo>
                <a:cubicBezTo>
                  <a:pt x="7" y="38"/>
                  <a:pt x="7" y="54"/>
                  <a:pt x="23" y="54"/>
                </a:cubicBezTo>
                <a:cubicBezTo>
                  <a:pt x="39" y="54"/>
                  <a:pt x="54" y="38"/>
                  <a:pt x="54" y="23"/>
                </a:cubicBezTo>
                <a:cubicBezTo>
                  <a:pt x="54" y="7"/>
                  <a:pt x="39" y="7"/>
                  <a:pt x="23" y="7"/>
                </a:cubicBezTo>
                <a:cubicBezTo>
                  <a:pt x="7" y="7"/>
                  <a:pt x="7" y="7"/>
                  <a:pt x="7" y="23"/>
                </a:cubicBezTo>
              </a:path>
              <a:path w="62" h="514">
                <a:moveTo>
                  <a:pt x="7" y="210"/>
                </a:moveTo>
                <a:cubicBezTo>
                  <a:pt x="7" y="225"/>
                  <a:pt x="7" y="241"/>
                  <a:pt x="23" y="241"/>
                </a:cubicBezTo>
                <a:cubicBezTo>
                  <a:pt x="39" y="241"/>
                  <a:pt x="54" y="225"/>
                  <a:pt x="54" y="210"/>
                </a:cubicBezTo>
                <a:cubicBezTo>
                  <a:pt x="54" y="194"/>
                  <a:pt x="39" y="194"/>
                  <a:pt x="23" y="194"/>
                </a:cubicBezTo>
                <a:cubicBezTo>
                  <a:pt x="7" y="194"/>
                  <a:pt x="7" y="194"/>
                  <a:pt x="7" y="210"/>
                </a:cubicBezTo>
              </a:path>
              <a:path w="62" h="514">
                <a:moveTo>
                  <a:pt x="7" y="350"/>
                </a:moveTo>
                <a:cubicBezTo>
                  <a:pt x="7" y="366"/>
                  <a:pt x="7" y="381"/>
                  <a:pt x="23" y="381"/>
                </a:cubicBezTo>
                <a:cubicBezTo>
                  <a:pt x="39" y="381"/>
                  <a:pt x="54" y="366"/>
                  <a:pt x="54" y="350"/>
                </a:cubicBezTo>
                <a:cubicBezTo>
                  <a:pt x="54" y="334"/>
                  <a:pt x="39" y="334"/>
                  <a:pt x="23" y="334"/>
                </a:cubicBezTo>
                <a:cubicBezTo>
                  <a:pt x="7" y="334"/>
                  <a:pt x="7" y="334"/>
                  <a:pt x="7" y="350"/>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76" name="path"/>
          <p:cNvSpPr/>
          <p:nvPr/>
        </p:nvSpPr>
        <p:spPr>
          <a:xfrm>
            <a:off x="6548442" y="2244641"/>
            <a:ext cx="50110" cy="356391"/>
          </a:xfrm>
          <a:custGeom>
            <a:avLst/>
            <a:gdLst/>
            <a:ahLst/>
            <a:cxnLst/>
            <a:rect l="0" t="0" r="0" b="0"/>
            <a:pathLst>
              <a:path w="78" h="561">
                <a:moveTo>
                  <a:pt x="7" y="522"/>
                </a:moveTo>
                <a:cubicBezTo>
                  <a:pt x="7" y="537"/>
                  <a:pt x="7" y="553"/>
                  <a:pt x="23" y="553"/>
                </a:cubicBezTo>
                <a:cubicBezTo>
                  <a:pt x="39" y="553"/>
                  <a:pt x="55" y="537"/>
                  <a:pt x="55" y="522"/>
                </a:cubicBezTo>
                <a:cubicBezTo>
                  <a:pt x="55" y="506"/>
                  <a:pt x="39" y="506"/>
                  <a:pt x="23" y="506"/>
                </a:cubicBezTo>
                <a:cubicBezTo>
                  <a:pt x="7" y="506"/>
                  <a:pt x="7" y="506"/>
                  <a:pt x="7" y="522"/>
                </a:cubicBezTo>
              </a:path>
              <a:path w="78" h="561">
                <a:moveTo>
                  <a:pt x="7" y="132"/>
                </a:moveTo>
                <a:cubicBezTo>
                  <a:pt x="7" y="148"/>
                  <a:pt x="7" y="163"/>
                  <a:pt x="23" y="163"/>
                </a:cubicBezTo>
                <a:cubicBezTo>
                  <a:pt x="39" y="163"/>
                  <a:pt x="55" y="148"/>
                  <a:pt x="55" y="132"/>
                </a:cubicBezTo>
                <a:cubicBezTo>
                  <a:pt x="55" y="117"/>
                  <a:pt x="39" y="117"/>
                  <a:pt x="23" y="117"/>
                </a:cubicBezTo>
                <a:cubicBezTo>
                  <a:pt x="7" y="117"/>
                  <a:pt x="7" y="117"/>
                  <a:pt x="7" y="132"/>
                </a:cubicBezTo>
              </a:path>
              <a:path w="78" h="561">
                <a:moveTo>
                  <a:pt x="23" y="23"/>
                </a:moveTo>
                <a:cubicBezTo>
                  <a:pt x="23" y="39"/>
                  <a:pt x="23" y="54"/>
                  <a:pt x="39" y="54"/>
                </a:cubicBezTo>
                <a:cubicBezTo>
                  <a:pt x="55" y="54"/>
                  <a:pt x="71" y="39"/>
                  <a:pt x="71" y="23"/>
                </a:cubicBezTo>
                <a:cubicBezTo>
                  <a:pt x="71" y="7"/>
                  <a:pt x="55" y="7"/>
                  <a:pt x="39" y="7"/>
                </a:cubicBezTo>
                <a:cubicBezTo>
                  <a:pt x="23" y="7"/>
                  <a:pt x="23" y="7"/>
                  <a:pt x="23" y="23"/>
                </a:cubicBezTo>
              </a:path>
              <a:path w="78" h="561">
                <a:moveTo>
                  <a:pt x="23" y="382"/>
                </a:moveTo>
                <a:cubicBezTo>
                  <a:pt x="23" y="397"/>
                  <a:pt x="23" y="413"/>
                  <a:pt x="39" y="413"/>
                </a:cubicBezTo>
                <a:cubicBezTo>
                  <a:pt x="55" y="413"/>
                  <a:pt x="71" y="397"/>
                  <a:pt x="71" y="382"/>
                </a:cubicBezTo>
                <a:cubicBezTo>
                  <a:pt x="71" y="366"/>
                  <a:pt x="55" y="366"/>
                  <a:pt x="39" y="366"/>
                </a:cubicBezTo>
                <a:cubicBezTo>
                  <a:pt x="23" y="366"/>
                  <a:pt x="23" y="366"/>
                  <a:pt x="23" y="382"/>
                </a:cubicBezTo>
              </a:path>
              <a:path w="78" h="561">
                <a:moveTo>
                  <a:pt x="23" y="319"/>
                </a:moveTo>
                <a:cubicBezTo>
                  <a:pt x="23" y="335"/>
                  <a:pt x="23" y="350"/>
                  <a:pt x="39" y="350"/>
                </a:cubicBezTo>
                <a:cubicBezTo>
                  <a:pt x="55" y="350"/>
                  <a:pt x="71" y="335"/>
                  <a:pt x="71" y="319"/>
                </a:cubicBezTo>
                <a:cubicBezTo>
                  <a:pt x="71" y="304"/>
                  <a:pt x="55" y="304"/>
                  <a:pt x="39" y="304"/>
                </a:cubicBezTo>
                <a:cubicBezTo>
                  <a:pt x="23" y="304"/>
                  <a:pt x="23" y="304"/>
                  <a:pt x="23" y="319"/>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77" name="path"/>
          <p:cNvSpPr/>
          <p:nvPr/>
        </p:nvSpPr>
        <p:spPr>
          <a:xfrm>
            <a:off x="6568354" y="2284350"/>
            <a:ext cx="40154" cy="39708"/>
          </a:xfrm>
          <a:custGeom>
            <a:avLst/>
            <a:gdLst/>
            <a:ahLst/>
            <a:cxnLst/>
            <a:rect l="0" t="0" r="0" b="0"/>
            <a:pathLst>
              <a:path w="63" h="62">
                <a:moveTo>
                  <a:pt x="7" y="23"/>
                </a:moveTo>
                <a:cubicBezTo>
                  <a:pt x="7" y="38"/>
                  <a:pt x="7" y="54"/>
                  <a:pt x="24" y="54"/>
                </a:cubicBezTo>
                <a:cubicBezTo>
                  <a:pt x="39" y="54"/>
                  <a:pt x="55" y="38"/>
                  <a:pt x="55" y="23"/>
                </a:cubicBezTo>
                <a:cubicBezTo>
                  <a:pt x="55" y="7"/>
                  <a:pt x="39" y="7"/>
                  <a:pt x="24"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78" name="path"/>
          <p:cNvSpPr/>
          <p:nvPr/>
        </p:nvSpPr>
        <p:spPr>
          <a:xfrm>
            <a:off x="6568354" y="2472390"/>
            <a:ext cx="40154" cy="39708"/>
          </a:xfrm>
          <a:custGeom>
            <a:avLst/>
            <a:gdLst/>
            <a:ahLst/>
            <a:cxnLst/>
            <a:rect l="0" t="0" r="0" b="0"/>
            <a:pathLst>
              <a:path w="63" h="62">
                <a:moveTo>
                  <a:pt x="7" y="23"/>
                </a:moveTo>
                <a:cubicBezTo>
                  <a:pt x="7" y="39"/>
                  <a:pt x="7" y="54"/>
                  <a:pt x="24" y="54"/>
                </a:cubicBezTo>
                <a:cubicBezTo>
                  <a:pt x="39" y="54"/>
                  <a:pt x="55" y="39"/>
                  <a:pt x="55" y="23"/>
                </a:cubicBezTo>
                <a:cubicBezTo>
                  <a:pt x="55" y="7"/>
                  <a:pt x="39" y="7"/>
                  <a:pt x="24"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79" name="path"/>
          <p:cNvSpPr/>
          <p:nvPr/>
        </p:nvSpPr>
        <p:spPr>
          <a:xfrm>
            <a:off x="6578641" y="2244641"/>
            <a:ext cx="49779" cy="673403"/>
          </a:xfrm>
          <a:custGeom>
            <a:avLst/>
            <a:gdLst/>
            <a:ahLst/>
            <a:cxnLst/>
            <a:rect l="0" t="0" r="0" b="0"/>
            <a:pathLst>
              <a:path w="78" h="1060">
                <a:moveTo>
                  <a:pt x="7" y="522"/>
                </a:moveTo>
                <a:cubicBezTo>
                  <a:pt x="7" y="537"/>
                  <a:pt x="7" y="553"/>
                  <a:pt x="23" y="553"/>
                </a:cubicBezTo>
                <a:cubicBezTo>
                  <a:pt x="39" y="553"/>
                  <a:pt x="54" y="537"/>
                  <a:pt x="54" y="522"/>
                </a:cubicBezTo>
                <a:cubicBezTo>
                  <a:pt x="54" y="506"/>
                  <a:pt x="39" y="506"/>
                  <a:pt x="23" y="506"/>
                </a:cubicBezTo>
                <a:cubicBezTo>
                  <a:pt x="7" y="506"/>
                  <a:pt x="7" y="506"/>
                  <a:pt x="7" y="522"/>
                </a:cubicBezTo>
              </a:path>
              <a:path w="78" h="1060">
                <a:moveTo>
                  <a:pt x="7" y="23"/>
                </a:moveTo>
                <a:cubicBezTo>
                  <a:pt x="7" y="39"/>
                  <a:pt x="7" y="54"/>
                  <a:pt x="23" y="54"/>
                </a:cubicBezTo>
                <a:cubicBezTo>
                  <a:pt x="39" y="54"/>
                  <a:pt x="54" y="39"/>
                  <a:pt x="54" y="23"/>
                </a:cubicBezTo>
                <a:cubicBezTo>
                  <a:pt x="54" y="7"/>
                  <a:pt x="39" y="7"/>
                  <a:pt x="23" y="7"/>
                </a:cubicBezTo>
                <a:cubicBezTo>
                  <a:pt x="7" y="7"/>
                  <a:pt x="7" y="7"/>
                  <a:pt x="7" y="23"/>
                </a:cubicBezTo>
              </a:path>
              <a:path w="78" h="1060">
                <a:moveTo>
                  <a:pt x="23" y="132"/>
                </a:moveTo>
                <a:cubicBezTo>
                  <a:pt x="23" y="148"/>
                  <a:pt x="23" y="163"/>
                  <a:pt x="39" y="163"/>
                </a:cubicBezTo>
                <a:cubicBezTo>
                  <a:pt x="54" y="163"/>
                  <a:pt x="70" y="148"/>
                  <a:pt x="70" y="132"/>
                </a:cubicBezTo>
                <a:cubicBezTo>
                  <a:pt x="70" y="117"/>
                  <a:pt x="54" y="117"/>
                  <a:pt x="39" y="117"/>
                </a:cubicBezTo>
                <a:cubicBezTo>
                  <a:pt x="23" y="117"/>
                  <a:pt x="23" y="117"/>
                  <a:pt x="23" y="132"/>
                </a:cubicBezTo>
              </a:path>
              <a:path w="78" h="1060">
                <a:moveTo>
                  <a:pt x="23" y="569"/>
                </a:moveTo>
                <a:cubicBezTo>
                  <a:pt x="23" y="585"/>
                  <a:pt x="23" y="600"/>
                  <a:pt x="39" y="600"/>
                </a:cubicBezTo>
                <a:cubicBezTo>
                  <a:pt x="54" y="600"/>
                  <a:pt x="70" y="585"/>
                  <a:pt x="70" y="569"/>
                </a:cubicBezTo>
                <a:cubicBezTo>
                  <a:pt x="70" y="553"/>
                  <a:pt x="54" y="553"/>
                  <a:pt x="39" y="553"/>
                </a:cubicBezTo>
                <a:cubicBezTo>
                  <a:pt x="23" y="553"/>
                  <a:pt x="23" y="553"/>
                  <a:pt x="23" y="569"/>
                </a:cubicBezTo>
              </a:path>
              <a:path w="78" h="1060">
                <a:moveTo>
                  <a:pt x="23" y="428"/>
                </a:moveTo>
                <a:cubicBezTo>
                  <a:pt x="23" y="444"/>
                  <a:pt x="23" y="459"/>
                  <a:pt x="39" y="459"/>
                </a:cubicBezTo>
                <a:cubicBezTo>
                  <a:pt x="54" y="459"/>
                  <a:pt x="70" y="444"/>
                  <a:pt x="70" y="428"/>
                </a:cubicBezTo>
                <a:cubicBezTo>
                  <a:pt x="70" y="413"/>
                  <a:pt x="54" y="413"/>
                  <a:pt x="39" y="413"/>
                </a:cubicBezTo>
                <a:cubicBezTo>
                  <a:pt x="23" y="413"/>
                  <a:pt x="23" y="413"/>
                  <a:pt x="23" y="428"/>
                </a:cubicBezTo>
              </a:path>
              <a:path w="78" h="1060">
                <a:moveTo>
                  <a:pt x="23" y="1021"/>
                </a:moveTo>
                <a:cubicBezTo>
                  <a:pt x="23" y="1037"/>
                  <a:pt x="23" y="1052"/>
                  <a:pt x="39" y="1052"/>
                </a:cubicBezTo>
                <a:cubicBezTo>
                  <a:pt x="54" y="1052"/>
                  <a:pt x="70" y="1037"/>
                  <a:pt x="70" y="1021"/>
                </a:cubicBezTo>
                <a:cubicBezTo>
                  <a:pt x="70" y="1006"/>
                  <a:pt x="54" y="1006"/>
                  <a:pt x="39" y="1006"/>
                </a:cubicBezTo>
                <a:cubicBezTo>
                  <a:pt x="23" y="1006"/>
                  <a:pt x="23" y="1006"/>
                  <a:pt x="23" y="1021"/>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pic>
        <p:nvPicPr>
          <p:cNvPr id="980" name="picture 980"/>
          <p:cNvPicPr>
            <a:picLocks noChangeAspect="1"/>
          </p:cNvPicPr>
          <p:nvPr/>
        </p:nvPicPr>
        <p:blipFill>
          <a:blip r:embed="rId7"/>
          <a:stretch>
            <a:fillRect/>
          </a:stretch>
        </p:blipFill>
        <p:spPr>
          <a:xfrm rot="21600000">
            <a:off x="5587374" y="1749775"/>
            <a:ext cx="1231202" cy="504711"/>
          </a:xfrm>
          <a:prstGeom prst="rect">
            <a:avLst/>
          </a:prstGeom>
        </p:spPr>
      </p:pic>
      <p:grpSp>
        <p:nvGrpSpPr>
          <p:cNvPr id="194" name="group 194"/>
          <p:cNvGrpSpPr/>
          <p:nvPr/>
        </p:nvGrpSpPr>
        <p:grpSpPr>
          <a:xfrm rot="21600000">
            <a:off x="4011930" y="67055"/>
            <a:ext cx="726947" cy="656844"/>
            <a:chOff x="0" y="0"/>
            <a:chExt cx="726947" cy="656844"/>
          </a:xfrm>
        </p:grpSpPr>
        <p:sp>
          <p:nvSpPr>
            <p:cNvPr id="981" name="path"/>
            <p:cNvSpPr/>
            <p:nvPr/>
          </p:nvSpPr>
          <p:spPr>
            <a:xfrm>
              <a:off x="187451" y="0"/>
              <a:ext cx="539495" cy="656844"/>
            </a:xfrm>
            <a:custGeom>
              <a:avLst/>
              <a:gdLst/>
              <a:ahLst/>
              <a:cxnLst/>
              <a:rect l="0" t="0" r="0" b="0"/>
              <a:pathLst>
                <a:path w="849" h="1034">
                  <a:moveTo>
                    <a:pt x="353" y="420"/>
                  </a:moveTo>
                  <a:lnTo>
                    <a:pt x="540" y="176"/>
                  </a:lnTo>
                  <a:lnTo>
                    <a:pt x="274" y="0"/>
                  </a:lnTo>
                  <a:lnTo>
                    <a:pt x="0" y="184"/>
                  </a:lnTo>
                  <a:lnTo>
                    <a:pt x="184" y="432"/>
                  </a:lnTo>
                </a:path>
                <a:path w="849" h="1034">
                  <a:moveTo>
                    <a:pt x="379" y="648"/>
                  </a:moveTo>
                  <a:lnTo>
                    <a:pt x="729" y="740"/>
                  </a:lnTo>
                  <a:lnTo>
                    <a:pt x="620" y="1034"/>
                  </a:lnTo>
                  <a:lnTo>
                    <a:pt x="284" y="1033"/>
                  </a:lnTo>
                  <a:lnTo>
                    <a:pt x="283" y="733"/>
                  </a:lnTo>
                </a:path>
                <a:path w="849" h="1034">
                  <a:moveTo>
                    <a:pt x="451" y="609"/>
                  </a:moveTo>
                  <a:lnTo>
                    <a:pt x="740" y="696"/>
                  </a:lnTo>
                  <a:lnTo>
                    <a:pt x="849" y="384"/>
                  </a:lnTo>
                  <a:lnTo>
                    <a:pt x="572" y="194"/>
                  </a:lnTo>
                  <a:lnTo>
                    <a:pt x="388" y="443"/>
                  </a:lnTo>
                </a:path>
              </a:pathLst>
            </a:custGeom>
            <a:solidFill>
              <a:srgbClr val="C5C5C5">
                <a:alpha val="100000"/>
              </a:srgbClr>
            </a:solidFill>
            <a:ln cap="flat">
              <a:noFill/>
              <a:prstDash val="solid"/>
              <a:miter lim="0"/>
            </a:ln>
          </p:spPr>
          <p:txBody>
            <a:bodyPr rtlCol="0"/>
            <a:lstStyle/>
            <a:p>
              <a:pPr algn="ctr"/>
              <a:endParaRPr lang="zh-CN" altLang="en-US"/>
            </a:p>
          </p:txBody>
        </p:sp>
        <p:sp>
          <p:nvSpPr>
            <p:cNvPr id="982" name="path"/>
            <p:cNvSpPr/>
            <p:nvPr/>
          </p:nvSpPr>
          <p:spPr>
            <a:xfrm>
              <a:off x="0" y="128016"/>
              <a:ext cx="289559" cy="310895"/>
            </a:xfrm>
            <a:custGeom>
              <a:avLst/>
              <a:gdLst/>
              <a:ahLst/>
              <a:cxnLst/>
              <a:rect l="0" t="0" r="0" b="0"/>
              <a:pathLst>
                <a:path w="455" h="489">
                  <a:moveTo>
                    <a:pt x="455" y="277"/>
                  </a:moveTo>
                  <a:lnTo>
                    <a:pt x="267" y="0"/>
                  </a:lnTo>
                  <a:lnTo>
                    <a:pt x="0" y="185"/>
                  </a:lnTo>
                  <a:lnTo>
                    <a:pt x="104" y="489"/>
                  </a:lnTo>
                  <a:lnTo>
                    <a:pt x="399" y="399"/>
                  </a:lnTo>
                </a:path>
              </a:pathLst>
            </a:custGeom>
            <a:solidFill>
              <a:srgbClr val="0065BD">
                <a:alpha val="100000"/>
              </a:srgbClr>
            </a:solidFill>
            <a:ln cap="flat">
              <a:noFill/>
              <a:prstDash val="solid"/>
              <a:miter lim="0"/>
            </a:ln>
          </p:spPr>
          <p:txBody>
            <a:bodyPr rtlCol="0"/>
            <a:lstStyle/>
            <a:p>
              <a:pPr algn="ctr"/>
              <a:endParaRPr lang="zh-CN" altLang="en-US"/>
            </a:p>
          </p:txBody>
        </p:sp>
        <p:sp>
          <p:nvSpPr>
            <p:cNvPr id="983" name="path"/>
            <p:cNvSpPr/>
            <p:nvPr/>
          </p:nvSpPr>
          <p:spPr>
            <a:xfrm>
              <a:off x="70104" y="402336"/>
              <a:ext cx="277367" cy="254508"/>
            </a:xfrm>
            <a:custGeom>
              <a:avLst/>
              <a:gdLst/>
              <a:ahLst/>
              <a:cxnLst/>
              <a:rect l="0" t="0" r="0" b="0"/>
              <a:pathLst>
                <a:path w="436" h="400">
                  <a:moveTo>
                    <a:pt x="342" y="0"/>
                  </a:moveTo>
                  <a:lnTo>
                    <a:pt x="0" y="96"/>
                  </a:lnTo>
                  <a:lnTo>
                    <a:pt x="107" y="400"/>
                  </a:lnTo>
                  <a:lnTo>
                    <a:pt x="435" y="399"/>
                  </a:lnTo>
                  <a:lnTo>
                    <a:pt x="436" y="88"/>
                  </a:lnTo>
                </a:path>
              </a:pathLst>
            </a:custGeom>
            <a:solidFill>
              <a:srgbClr val="C5C5C5">
                <a:alpha val="100000"/>
              </a:srgbClr>
            </a:solidFill>
            <a:ln cap="flat">
              <a:noFill/>
              <a:prstDash val="solid"/>
              <a:miter lim="0"/>
            </a:ln>
          </p:spPr>
          <p:txBody>
            <a:bodyPr rtlCol="0"/>
            <a:lstStyle/>
            <a:p>
              <a:pPr algn="ctr"/>
              <a:endParaRPr lang="zh-CN" altLang="en-US"/>
            </a:p>
          </p:txBody>
        </p:sp>
      </p:grpSp>
      <p:sp>
        <p:nvSpPr>
          <p:cNvPr id="984" name="textbox 984"/>
          <p:cNvSpPr/>
          <p:nvPr/>
        </p:nvSpPr>
        <p:spPr>
          <a:xfrm>
            <a:off x="8818509" y="1037437"/>
            <a:ext cx="114935" cy="1840229"/>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endParaRPr sz="600" spc="0" dirty="0">
              <a:solidFill>
                <a:srgbClr val="808080">
                  <a:alpha val="100000"/>
                </a:srgbClr>
              </a:solidFill>
              <a:latin typeface="Arial" panose="020B0604020202020204"/>
              <a:ea typeface="Arial" panose="020B0604020202020204"/>
              <a:cs typeface="Arial" panose="020B0604020202020204"/>
            </a:endParaRPr>
          </a:p>
        </p:txBody>
      </p:sp>
      <p:sp>
        <p:nvSpPr>
          <p:cNvPr id="985" name="path"/>
          <p:cNvSpPr/>
          <p:nvPr/>
        </p:nvSpPr>
        <p:spPr>
          <a:xfrm>
            <a:off x="6788709" y="2036910"/>
            <a:ext cx="510401" cy="217575"/>
          </a:xfrm>
          <a:custGeom>
            <a:avLst/>
            <a:gdLst/>
            <a:ahLst/>
            <a:cxnLst/>
            <a:rect l="0" t="0" r="0" b="0"/>
            <a:pathLst>
              <a:path w="803" h="342">
                <a:moveTo>
                  <a:pt x="7" y="23"/>
                </a:moveTo>
                <a:cubicBezTo>
                  <a:pt x="7" y="38"/>
                  <a:pt x="7" y="54"/>
                  <a:pt x="23" y="54"/>
                </a:cubicBezTo>
                <a:cubicBezTo>
                  <a:pt x="39" y="54"/>
                  <a:pt x="55" y="38"/>
                  <a:pt x="55" y="23"/>
                </a:cubicBezTo>
                <a:cubicBezTo>
                  <a:pt x="55" y="7"/>
                  <a:pt x="39" y="7"/>
                  <a:pt x="23" y="7"/>
                </a:cubicBezTo>
                <a:cubicBezTo>
                  <a:pt x="7" y="7"/>
                  <a:pt x="7" y="7"/>
                  <a:pt x="7" y="23"/>
                </a:cubicBezTo>
              </a:path>
              <a:path w="803" h="342">
                <a:moveTo>
                  <a:pt x="102" y="147"/>
                </a:moveTo>
                <a:cubicBezTo>
                  <a:pt x="102" y="163"/>
                  <a:pt x="102" y="179"/>
                  <a:pt x="118" y="179"/>
                </a:cubicBezTo>
                <a:cubicBezTo>
                  <a:pt x="133" y="179"/>
                  <a:pt x="149" y="163"/>
                  <a:pt x="149" y="147"/>
                </a:cubicBezTo>
                <a:cubicBezTo>
                  <a:pt x="149" y="132"/>
                  <a:pt x="133" y="132"/>
                  <a:pt x="118" y="132"/>
                </a:cubicBezTo>
                <a:cubicBezTo>
                  <a:pt x="102" y="132"/>
                  <a:pt x="102" y="132"/>
                  <a:pt x="102" y="147"/>
                </a:cubicBezTo>
              </a:path>
              <a:path w="803" h="342">
                <a:moveTo>
                  <a:pt x="118" y="132"/>
                </a:moveTo>
                <a:cubicBezTo>
                  <a:pt x="118" y="147"/>
                  <a:pt x="118" y="163"/>
                  <a:pt x="133" y="163"/>
                </a:cubicBezTo>
                <a:cubicBezTo>
                  <a:pt x="149" y="163"/>
                  <a:pt x="165" y="147"/>
                  <a:pt x="165" y="132"/>
                </a:cubicBezTo>
                <a:cubicBezTo>
                  <a:pt x="165" y="116"/>
                  <a:pt x="149" y="116"/>
                  <a:pt x="133" y="116"/>
                </a:cubicBezTo>
                <a:cubicBezTo>
                  <a:pt x="118" y="116"/>
                  <a:pt x="118" y="116"/>
                  <a:pt x="118" y="132"/>
                </a:cubicBezTo>
              </a:path>
              <a:path w="803" h="342">
                <a:moveTo>
                  <a:pt x="149" y="210"/>
                </a:moveTo>
                <a:cubicBezTo>
                  <a:pt x="149" y="225"/>
                  <a:pt x="149" y="241"/>
                  <a:pt x="165" y="241"/>
                </a:cubicBezTo>
                <a:cubicBezTo>
                  <a:pt x="181" y="241"/>
                  <a:pt x="197" y="225"/>
                  <a:pt x="197" y="210"/>
                </a:cubicBezTo>
                <a:cubicBezTo>
                  <a:pt x="197" y="194"/>
                  <a:pt x="181" y="194"/>
                  <a:pt x="165" y="194"/>
                </a:cubicBezTo>
                <a:cubicBezTo>
                  <a:pt x="149" y="194"/>
                  <a:pt x="149" y="194"/>
                  <a:pt x="149" y="210"/>
                </a:cubicBezTo>
              </a:path>
              <a:path w="803" h="342">
                <a:moveTo>
                  <a:pt x="181" y="303"/>
                </a:moveTo>
                <a:cubicBezTo>
                  <a:pt x="181" y="319"/>
                  <a:pt x="181" y="334"/>
                  <a:pt x="197" y="334"/>
                </a:cubicBezTo>
                <a:cubicBezTo>
                  <a:pt x="212" y="334"/>
                  <a:pt x="228" y="319"/>
                  <a:pt x="228" y="303"/>
                </a:cubicBezTo>
                <a:cubicBezTo>
                  <a:pt x="228" y="288"/>
                  <a:pt x="212" y="288"/>
                  <a:pt x="197" y="288"/>
                </a:cubicBezTo>
                <a:cubicBezTo>
                  <a:pt x="181" y="288"/>
                  <a:pt x="181" y="288"/>
                  <a:pt x="181" y="303"/>
                </a:cubicBezTo>
              </a:path>
              <a:path w="803" h="342">
                <a:moveTo>
                  <a:pt x="197" y="288"/>
                </a:moveTo>
                <a:cubicBezTo>
                  <a:pt x="197" y="303"/>
                  <a:pt x="197" y="319"/>
                  <a:pt x="212" y="319"/>
                </a:cubicBezTo>
                <a:cubicBezTo>
                  <a:pt x="228" y="319"/>
                  <a:pt x="244" y="303"/>
                  <a:pt x="244" y="288"/>
                </a:cubicBezTo>
                <a:cubicBezTo>
                  <a:pt x="244" y="272"/>
                  <a:pt x="228" y="272"/>
                  <a:pt x="212" y="272"/>
                </a:cubicBezTo>
                <a:cubicBezTo>
                  <a:pt x="197" y="272"/>
                  <a:pt x="197" y="272"/>
                  <a:pt x="197" y="288"/>
                </a:cubicBezTo>
              </a:path>
              <a:path w="803" h="342">
                <a:moveTo>
                  <a:pt x="212" y="241"/>
                </a:moveTo>
                <a:cubicBezTo>
                  <a:pt x="212" y="256"/>
                  <a:pt x="212" y="272"/>
                  <a:pt x="228" y="272"/>
                </a:cubicBezTo>
                <a:cubicBezTo>
                  <a:pt x="244" y="272"/>
                  <a:pt x="260" y="256"/>
                  <a:pt x="260" y="241"/>
                </a:cubicBezTo>
                <a:cubicBezTo>
                  <a:pt x="260" y="225"/>
                  <a:pt x="244" y="225"/>
                  <a:pt x="228" y="225"/>
                </a:cubicBezTo>
                <a:cubicBezTo>
                  <a:pt x="212" y="225"/>
                  <a:pt x="212" y="225"/>
                  <a:pt x="212" y="241"/>
                </a:cubicBezTo>
              </a:path>
              <a:path w="803" h="342">
                <a:moveTo>
                  <a:pt x="212" y="288"/>
                </a:moveTo>
                <a:cubicBezTo>
                  <a:pt x="212" y="303"/>
                  <a:pt x="212" y="319"/>
                  <a:pt x="228" y="319"/>
                </a:cubicBezTo>
                <a:cubicBezTo>
                  <a:pt x="244" y="319"/>
                  <a:pt x="260" y="303"/>
                  <a:pt x="260" y="288"/>
                </a:cubicBezTo>
                <a:cubicBezTo>
                  <a:pt x="260" y="272"/>
                  <a:pt x="244" y="272"/>
                  <a:pt x="228" y="272"/>
                </a:cubicBezTo>
                <a:cubicBezTo>
                  <a:pt x="212" y="272"/>
                  <a:pt x="212" y="272"/>
                  <a:pt x="212" y="288"/>
                </a:cubicBezTo>
              </a:path>
              <a:path w="803" h="342">
                <a:moveTo>
                  <a:pt x="228" y="241"/>
                </a:moveTo>
                <a:cubicBezTo>
                  <a:pt x="228" y="256"/>
                  <a:pt x="228" y="272"/>
                  <a:pt x="244" y="272"/>
                </a:cubicBezTo>
                <a:cubicBezTo>
                  <a:pt x="260" y="272"/>
                  <a:pt x="276" y="256"/>
                  <a:pt x="276" y="241"/>
                </a:cubicBezTo>
                <a:cubicBezTo>
                  <a:pt x="276" y="225"/>
                  <a:pt x="260" y="225"/>
                  <a:pt x="244" y="225"/>
                </a:cubicBezTo>
                <a:cubicBezTo>
                  <a:pt x="228" y="225"/>
                  <a:pt x="228" y="225"/>
                  <a:pt x="228" y="241"/>
                </a:cubicBezTo>
              </a:path>
              <a:path w="803" h="342">
                <a:moveTo>
                  <a:pt x="228" y="194"/>
                </a:moveTo>
                <a:cubicBezTo>
                  <a:pt x="228" y="210"/>
                  <a:pt x="228" y="225"/>
                  <a:pt x="244" y="225"/>
                </a:cubicBezTo>
                <a:cubicBezTo>
                  <a:pt x="260" y="225"/>
                  <a:pt x="276" y="210"/>
                  <a:pt x="276" y="194"/>
                </a:cubicBezTo>
                <a:cubicBezTo>
                  <a:pt x="276" y="179"/>
                  <a:pt x="260" y="179"/>
                  <a:pt x="244" y="179"/>
                </a:cubicBezTo>
                <a:cubicBezTo>
                  <a:pt x="228" y="179"/>
                  <a:pt x="228" y="179"/>
                  <a:pt x="228" y="194"/>
                </a:cubicBezTo>
              </a:path>
              <a:path w="803" h="342">
                <a:moveTo>
                  <a:pt x="260" y="179"/>
                </a:moveTo>
                <a:cubicBezTo>
                  <a:pt x="260" y="194"/>
                  <a:pt x="260" y="210"/>
                  <a:pt x="276" y="210"/>
                </a:cubicBezTo>
                <a:cubicBezTo>
                  <a:pt x="291" y="210"/>
                  <a:pt x="307" y="194"/>
                  <a:pt x="307" y="179"/>
                </a:cubicBezTo>
                <a:cubicBezTo>
                  <a:pt x="307" y="163"/>
                  <a:pt x="291" y="163"/>
                  <a:pt x="276" y="163"/>
                </a:cubicBezTo>
                <a:cubicBezTo>
                  <a:pt x="260" y="163"/>
                  <a:pt x="260" y="163"/>
                  <a:pt x="260" y="179"/>
                </a:cubicBezTo>
              </a:path>
              <a:path w="803" h="342">
                <a:moveTo>
                  <a:pt x="354" y="147"/>
                </a:moveTo>
                <a:cubicBezTo>
                  <a:pt x="354" y="163"/>
                  <a:pt x="354" y="179"/>
                  <a:pt x="370" y="179"/>
                </a:cubicBezTo>
                <a:cubicBezTo>
                  <a:pt x="386" y="179"/>
                  <a:pt x="401" y="163"/>
                  <a:pt x="401" y="147"/>
                </a:cubicBezTo>
                <a:cubicBezTo>
                  <a:pt x="401" y="132"/>
                  <a:pt x="386" y="132"/>
                  <a:pt x="370" y="132"/>
                </a:cubicBezTo>
                <a:cubicBezTo>
                  <a:pt x="354" y="132"/>
                  <a:pt x="354" y="132"/>
                  <a:pt x="354" y="147"/>
                </a:cubicBezTo>
              </a:path>
              <a:path w="803" h="342">
                <a:moveTo>
                  <a:pt x="433" y="210"/>
                </a:moveTo>
                <a:cubicBezTo>
                  <a:pt x="433" y="225"/>
                  <a:pt x="433" y="241"/>
                  <a:pt x="449" y="241"/>
                </a:cubicBezTo>
                <a:cubicBezTo>
                  <a:pt x="465" y="241"/>
                  <a:pt x="480" y="225"/>
                  <a:pt x="480" y="210"/>
                </a:cubicBezTo>
                <a:cubicBezTo>
                  <a:pt x="480" y="194"/>
                  <a:pt x="465" y="194"/>
                  <a:pt x="449" y="194"/>
                </a:cubicBezTo>
                <a:cubicBezTo>
                  <a:pt x="433" y="194"/>
                  <a:pt x="433" y="194"/>
                  <a:pt x="433" y="210"/>
                </a:cubicBezTo>
              </a:path>
              <a:path w="803" h="342">
                <a:moveTo>
                  <a:pt x="449" y="256"/>
                </a:moveTo>
                <a:cubicBezTo>
                  <a:pt x="449" y="272"/>
                  <a:pt x="449" y="288"/>
                  <a:pt x="465" y="288"/>
                </a:cubicBezTo>
                <a:cubicBezTo>
                  <a:pt x="480" y="288"/>
                  <a:pt x="496" y="272"/>
                  <a:pt x="496" y="256"/>
                </a:cubicBezTo>
                <a:cubicBezTo>
                  <a:pt x="496" y="241"/>
                  <a:pt x="480" y="241"/>
                  <a:pt x="465" y="241"/>
                </a:cubicBezTo>
                <a:cubicBezTo>
                  <a:pt x="449" y="241"/>
                  <a:pt x="449" y="241"/>
                  <a:pt x="449" y="256"/>
                </a:cubicBezTo>
              </a:path>
              <a:path w="803" h="342">
                <a:moveTo>
                  <a:pt x="559" y="210"/>
                </a:moveTo>
                <a:cubicBezTo>
                  <a:pt x="559" y="225"/>
                  <a:pt x="559" y="241"/>
                  <a:pt x="575" y="241"/>
                </a:cubicBezTo>
                <a:cubicBezTo>
                  <a:pt x="591" y="241"/>
                  <a:pt x="606" y="225"/>
                  <a:pt x="606" y="210"/>
                </a:cubicBezTo>
                <a:cubicBezTo>
                  <a:pt x="606" y="194"/>
                  <a:pt x="591" y="194"/>
                  <a:pt x="575" y="194"/>
                </a:cubicBezTo>
                <a:cubicBezTo>
                  <a:pt x="559" y="194"/>
                  <a:pt x="559" y="194"/>
                  <a:pt x="559" y="210"/>
                </a:cubicBezTo>
              </a:path>
              <a:path w="803" h="342">
                <a:moveTo>
                  <a:pt x="591" y="194"/>
                </a:moveTo>
                <a:cubicBezTo>
                  <a:pt x="591" y="210"/>
                  <a:pt x="591" y="225"/>
                  <a:pt x="606" y="225"/>
                </a:cubicBezTo>
                <a:cubicBezTo>
                  <a:pt x="622" y="225"/>
                  <a:pt x="638" y="210"/>
                  <a:pt x="638" y="194"/>
                </a:cubicBezTo>
                <a:cubicBezTo>
                  <a:pt x="638" y="179"/>
                  <a:pt x="622" y="179"/>
                  <a:pt x="606" y="179"/>
                </a:cubicBezTo>
                <a:cubicBezTo>
                  <a:pt x="591" y="179"/>
                  <a:pt x="591" y="179"/>
                  <a:pt x="591" y="194"/>
                </a:cubicBezTo>
              </a:path>
              <a:path w="803" h="342">
                <a:moveTo>
                  <a:pt x="670" y="179"/>
                </a:moveTo>
                <a:cubicBezTo>
                  <a:pt x="670" y="194"/>
                  <a:pt x="670" y="210"/>
                  <a:pt x="685" y="210"/>
                </a:cubicBezTo>
                <a:cubicBezTo>
                  <a:pt x="701" y="210"/>
                  <a:pt x="717" y="194"/>
                  <a:pt x="717" y="179"/>
                </a:cubicBezTo>
                <a:cubicBezTo>
                  <a:pt x="717" y="163"/>
                  <a:pt x="701" y="163"/>
                  <a:pt x="685" y="163"/>
                </a:cubicBezTo>
                <a:cubicBezTo>
                  <a:pt x="670" y="163"/>
                  <a:pt x="670" y="163"/>
                  <a:pt x="670" y="179"/>
                </a:cubicBezTo>
              </a:path>
              <a:path w="803" h="342">
                <a:moveTo>
                  <a:pt x="701" y="288"/>
                </a:moveTo>
                <a:cubicBezTo>
                  <a:pt x="701" y="303"/>
                  <a:pt x="701" y="319"/>
                  <a:pt x="717" y="319"/>
                </a:cubicBezTo>
                <a:cubicBezTo>
                  <a:pt x="733" y="319"/>
                  <a:pt x="748" y="303"/>
                  <a:pt x="748" y="288"/>
                </a:cubicBezTo>
                <a:cubicBezTo>
                  <a:pt x="748" y="272"/>
                  <a:pt x="733" y="272"/>
                  <a:pt x="717" y="272"/>
                </a:cubicBezTo>
                <a:cubicBezTo>
                  <a:pt x="701" y="272"/>
                  <a:pt x="701" y="272"/>
                  <a:pt x="701" y="288"/>
                </a:cubicBezTo>
              </a:path>
              <a:path w="803" h="342">
                <a:moveTo>
                  <a:pt x="748" y="147"/>
                </a:moveTo>
                <a:cubicBezTo>
                  <a:pt x="748" y="163"/>
                  <a:pt x="748" y="179"/>
                  <a:pt x="764" y="179"/>
                </a:cubicBezTo>
                <a:cubicBezTo>
                  <a:pt x="780" y="179"/>
                  <a:pt x="795" y="163"/>
                  <a:pt x="795" y="147"/>
                </a:cubicBezTo>
                <a:cubicBezTo>
                  <a:pt x="795" y="132"/>
                  <a:pt x="780" y="132"/>
                  <a:pt x="764" y="132"/>
                </a:cubicBezTo>
                <a:cubicBezTo>
                  <a:pt x="748" y="132"/>
                  <a:pt x="748" y="132"/>
                  <a:pt x="748" y="147"/>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86" name="textbox 986"/>
          <p:cNvSpPr/>
          <p:nvPr/>
        </p:nvSpPr>
        <p:spPr>
          <a:xfrm>
            <a:off x="6548999" y="4347608"/>
            <a:ext cx="165100" cy="776605"/>
          </a:xfrm>
          <a:prstGeom prst="rect">
            <a:avLst/>
          </a:prstGeom>
        </p:spPr>
        <p:txBody>
          <a:bodyPr vert="horz" wrap="square" lIns="0" tIns="0" rIns="0" bIns="0"/>
          <a:lstStyle/>
          <a:p>
            <a:pPr algn="l" rtl="0" eaLnBrk="0">
              <a:lnSpc>
                <a:spcPct val="79000"/>
              </a:lnSpc>
            </a:pPr>
            <a:endParaRPr lang="en-US" altLang="en-US" sz="100" dirty="0">
              <a:latin typeface="微软雅黑" panose="020B0503020204020204" charset="-122"/>
              <a:ea typeface="微软雅黑" panose="020B0503020204020204" charset="-122"/>
            </a:endParaRPr>
          </a:p>
          <a:p>
            <a:pPr marL="22860" algn="l" rtl="0" eaLnBrk="0">
              <a:lnSpc>
                <a:spcPct val="81000"/>
              </a:lnSpc>
            </a:pPr>
            <a:r>
              <a:rPr sz="1000" spc="-30" dirty="0">
                <a:solidFill>
                  <a:srgbClr val="000000">
                    <a:alpha val="100000"/>
                  </a:srgbClr>
                </a:solidFill>
                <a:latin typeface="微软雅黑" panose="020B0503020204020204" charset="-122"/>
                <a:ea typeface="微软雅黑" panose="020B0503020204020204" charset="-122"/>
                <a:cs typeface="Arial" panose="020B0604020202020204"/>
              </a:rPr>
              <a:t>1</a:t>
            </a:r>
            <a:r>
              <a:rPr sz="1000" spc="-20" dirty="0">
                <a:solidFill>
                  <a:srgbClr val="000000">
                    <a:alpha val="100000"/>
                  </a:srgbClr>
                </a:solidFill>
                <a:latin typeface="微软雅黑" panose="020B0503020204020204" charset="-122"/>
                <a:ea typeface="微软雅黑" panose="020B0503020204020204" charset="-122"/>
                <a:cs typeface="Arial" panose="020B0604020202020204"/>
              </a:rPr>
              <a:t>3</a:t>
            </a:r>
            <a:endParaRPr lang="en-US" altLang="en-US" sz="1000" dirty="0">
              <a:latin typeface="微软雅黑" panose="020B0503020204020204" charset="-122"/>
              <a:ea typeface="微软雅黑" panose="020B0503020204020204" charset="-122"/>
            </a:endParaRPr>
          </a:p>
          <a:p>
            <a:pPr marL="14605" algn="l" rtl="0" eaLnBrk="0">
              <a:lnSpc>
                <a:spcPct val="81000"/>
              </a:lnSpc>
              <a:spcBef>
                <a:spcPts val="1315"/>
              </a:spcBef>
            </a:pPr>
            <a:r>
              <a:rPr sz="1000" spc="-10" dirty="0">
                <a:solidFill>
                  <a:srgbClr val="000000">
                    <a:alpha val="100000"/>
                  </a:srgbClr>
                </a:solidFill>
                <a:latin typeface="微软雅黑" panose="020B0503020204020204" charset="-122"/>
                <a:ea typeface="微软雅黑" panose="020B0503020204020204" charset="-122"/>
                <a:cs typeface="Arial" panose="020B0604020202020204"/>
              </a:rPr>
              <a:t>30</a:t>
            </a:r>
            <a:endParaRPr lang="en-US" altLang="en-US" sz="1000" dirty="0">
              <a:latin typeface="微软雅黑" panose="020B0503020204020204" charset="-122"/>
              <a:ea typeface="微软雅黑" panose="020B0503020204020204" charset="-122"/>
            </a:endParaRPr>
          </a:p>
          <a:p>
            <a:pPr algn="l" rtl="0" eaLnBrk="0">
              <a:lnSpc>
                <a:spcPct val="115000"/>
              </a:lnSpc>
            </a:pPr>
            <a:endParaRPr lang="en-US" altLang="en-US" sz="1000" dirty="0">
              <a:latin typeface="微软雅黑" panose="020B0503020204020204" charset="-122"/>
              <a:ea typeface="微软雅黑" panose="020B0503020204020204" charset="-122"/>
            </a:endParaRPr>
          </a:p>
          <a:p>
            <a:pPr algn="l" rtl="0" eaLnBrk="0">
              <a:lnSpc>
                <a:spcPct val="128000"/>
              </a:lnSpc>
            </a:pPr>
            <a:endParaRPr lang="en-US" altLang="en-US" sz="200" dirty="0">
              <a:latin typeface="微软雅黑" panose="020B0503020204020204" charset="-122"/>
              <a:ea typeface="微软雅黑" panose="020B0503020204020204" charset="-122"/>
            </a:endParaRPr>
          </a:p>
          <a:p>
            <a:pPr marL="12700" algn="l" rtl="0" eaLnBrk="0">
              <a:lnSpc>
                <a:spcPct val="81000"/>
              </a:lnSpc>
              <a:spcBef>
                <a:spcPts val="0"/>
              </a:spcBef>
            </a:pPr>
            <a:r>
              <a:rPr sz="1000" spc="-10" dirty="0">
                <a:solidFill>
                  <a:srgbClr val="000000">
                    <a:alpha val="100000"/>
                  </a:srgbClr>
                </a:solidFill>
                <a:latin typeface="微软雅黑" panose="020B0503020204020204" charset="-122"/>
                <a:ea typeface="微软雅黑" panose="020B0503020204020204" charset="-122"/>
                <a:cs typeface="Arial" panose="020B0604020202020204"/>
              </a:rPr>
              <a:t>2</a:t>
            </a:r>
            <a:r>
              <a:rPr sz="1000" spc="0" dirty="0">
                <a:solidFill>
                  <a:srgbClr val="000000">
                    <a:alpha val="100000"/>
                  </a:srgbClr>
                </a:solidFill>
                <a:latin typeface="微软雅黑" panose="020B0503020204020204" charset="-122"/>
                <a:ea typeface="微软雅黑" panose="020B0503020204020204" charset="-122"/>
                <a:cs typeface="Arial" panose="020B0604020202020204"/>
              </a:rPr>
              <a:t>0</a:t>
            </a:r>
            <a:endParaRPr lang="en-US" altLang="en-US" sz="1000" dirty="0">
              <a:latin typeface="微软雅黑" panose="020B0503020204020204" charset="-122"/>
              <a:ea typeface="微软雅黑" panose="020B0503020204020204" charset="-122"/>
            </a:endParaRPr>
          </a:p>
        </p:txBody>
      </p:sp>
      <p:grpSp>
        <p:nvGrpSpPr>
          <p:cNvPr id="196" name="group 196"/>
          <p:cNvGrpSpPr/>
          <p:nvPr/>
        </p:nvGrpSpPr>
        <p:grpSpPr>
          <a:xfrm rot="21600000">
            <a:off x="118872" y="230124"/>
            <a:ext cx="292608" cy="292607"/>
            <a:chOff x="0" y="0"/>
            <a:chExt cx="292608" cy="292607"/>
          </a:xfrm>
        </p:grpSpPr>
        <p:sp>
          <p:nvSpPr>
            <p:cNvPr id="987" name="path"/>
            <p:cNvSpPr/>
            <p:nvPr/>
          </p:nvSpPr>
          <p:spPr>
            <a:xfrm>
              <a:off x="0" y="0"/>
              <a:ext cx="292608" cy="292607"/>
            </a:xfrm>
            <a:custGeom>
              <a:avLst/>
              <a:gdLst/>
              <a:ahLst/>
              <a:cxnLst/>
              <a:rect l="0" t="0" r="0" b="0"/>
              <a:pathLst>
                <a:path w="460" h="460">
                  <a:moveTo>
                    <a:pt x="0" y="230"/>
                  </a:moveTo>
                  <a:cubicBezTo>
                    <a:pt x="0" y="103"/>
                    <a:pt x="103" y="0"/>
                    <a:pt x="230" y="0"/>
                  </a:cubicBezTo>
                  <a:cubicBezTo>
                    <a:pt x="357" y="0"/>
                    <a:pt x="460" y="103"/>
                    <a:pt x="460" y="230"/>
                  </a:cubicBezTo>
                  <a:cubicBezTo>
                    <a:pt x="460" y="357"/>
                    <a:pt x="357" y="460"/>
                    <a:pt x="230" y="460"/>
                  </a:cubicBezTo>
                  <a:cubicBezTo>
                    <a:pt x="103" y="460"/>
                    <a:pt x="0" y="357"/>
                    <a:pt x="0" y="230"/>
                  </a:cubicBezTo>
                </a:path>
              </a:pathLst>
            </a:custGeom>
            <a:solidFill>
              <a:srgbClr val="0065BD">
                <a:alpha val="100000"/>
              </a:srgbClr>
            </a:solidFill>
            <a:ln cap="flat">
              <a:noFill/>
              <a:prstDash val="solid"/>
              <a:miter lim="0"/>
            </a:ln>
          </p:spPr>
          <p:txBody>
            <a:bodyPr rtlCol="0"/>
            <a:lstStyle/>
            <a:p>
              <a:pPr algn="ctr"/>
              <a:endParaRPr lang="zh-CN" altLang="en-US"/>
            </a:p>
          </p:txBody>
        </p:sp>
        <p:sp>
          <p:nvSpPr>
            <p:cNvPr id="988" name="textbox 988"/>
            <p:cNvSpPr/>
            <p:nvPr/>
          </p:nvSpPr>
          <p:spPr>
            <a:xfrm>
              <a:off x="-12700" y="-12699"/>
              <a:ext cx="318134" cy="367665"/>
            </a:xfrm>
            <a:prstGeom prst="rect">
              <a:avLst/>
            </a:prstGeom>
          </p:spPr>
          <p:txBody>
            <a:bodyPr vert="horz" wrap="square" lIns="0" tIns="0" rIns="0" bIns="0"/>
            <a:lstStyle/>
            <a:p>
              <a:pPr algn="l" rtl="0" eaLnBrk="0">
                <a:lnSpc>
                  <a:spcPct val="110000"/>
                </a:lnSpc>
              </a:pPr>
              <a:endParaRPr lang="en-US" altLang="en-US" sz="500" dirty="0">
                <a:latin typeface="微软雅黑" panose="020B0503020204020204" charset="-122"/>
                <a:ea typeface="微软雅黑" panose="020B0503020204020204" charset="-122"/>
              </a:endParaRPr>
            </a:p>
            <a:p>
              <a:pPr marL="38735" algn="l" rtl="0" eaLnBrk="0">
                <a:lnSpc>
                  <a:spcPct val="80000"/>
                </a:lnSpc>
                <a:spcBef>
                  <a:spcPts val="5"/>
                </a:spcBef>
              </a:pPr>
              <a:r>
                <a:rPr sz="1700" b="1" spc="-10" dirty="0">
                  <a:solidFill>
                    <a:srgbClr val="FFFFFF">
                      <a:alpha val="100000"/>
                    </a:srgbClr>
                  </a:solidFill>
                  <a:latin typeface="微软雅黑" panose="020B0503020204020204" charset="-122"/>
                  <a:ea typeface="微软雅黑" panose="020B0503020204020204" charset="-122"/>
                  <a:cs typeface="Arial" panose="020B0604020202020204"/>
                </a:rPr>
                <a:t>2b</a:t>
              </a:r>
              <a:endParaRPr lang="en-US" altLang="en-US" sz="1700" dirty="0">
                <a:latin typeface="微软雅黑" panose="020B0503020204020204" charset="-122"/>
                <a:ea typeface="微软雅黑" panose="020B0503020204020204" charset="-122"/>
              </a:endParaRPr>
            </a:p>
          </p:txBody>
        </p:sp>
      </p:grpSp>
      <p:sp>
        <p:nvSpPr>
          <p:cNvPr id="989" name="textbox 989"/>
          <p:cNvSpPr/>
          <p:nvPr/>
        </p:nvSpPr>
        <p:spPr>
          <a:xfrm>
            <a:off x="3554222" y="484124"/>
            <a:ext cx="365759" cy="273684"/>
          </a:xfrm>
          <a:prstGeom prst="rect">
            <a:avLst/>
          </a:prstGeom>
        </p:spPr>
        <p:txBody>
          <a:bodyPr vert="horz" wrap="square" lIns="0" tIns="0" rIns="0" bIns="0"/>
          <a:lstStyle/>
          <a:p>
            <a:pPr algn="l" rtl="0" eaLnBrk="0">
              <a:lnSpc>
                <a:spcPct val="100000"/>
              </a:lnSpc>
            </a:pPr>
            <a:endParaRPr lang="en-US" altLang="en-US" sz="200" dirty="0"/>
          </a:p>
          <a:p>
            <a:pPr marL="55880" algn="l" rtl="0" eaLnBrk="0">
              <a:lnSpc>
                <a:spcPct val="96000"/>
              </a:lnSpc>
            </a:pPr>
            <a:r>
              <a:rPr sz="1200" u="sng" spc="-20" dirty="0">
                <a:solidFill>
                  <a:srgbClr val="808080">
                    <a:alpha val="100000"/>
                  </a:srgbClr>
                </a:solidFill>
                <a:latin typeface="楷体" panose="02010609060101010101" charset="-122"/>
                <a:ea typeface="楷体" panose="02010609060101010101" charset="-122"/>
                <a:cs typeface="楷体" panose="02010609060101010101" charset="-122"/>
              </a:rPr>
              <a:t>示例</a:t>
            </a:r>
            <a:endParaRPr lang="en-US" altLang="en-US" sz="1200" dirty="0"/>
          </a:p>
        </p:txBody>
      </p:sp>
      <p:sp>
        <p:nvSpPr>
          <p:cNvPr id="990" name="path"/>
          <p:cNvSpPr/>
          <p:nvPr/>
        </p:nvSpPr>
        <p:spPr>
          <a:xfrm>
            <a:off x="3566922" y="496824"/>
            <a:ext cx="9143" cy="212725"/>
          </a:xfrm>
          <a:custGeom>
            <a:avLst/>
            <a:gdLst/>
            <a:ahLst/>
            <a:cxnLst/>
            <a:rect l="0" t="0" r="0" b="0"/>
            <a:pathLst>
              <a:path w="14" h="335">
                <a:moveTo>
                  <a:pt x="7" y="0"/>
                </a:moveTo>
                <a:lnTo>
                  <a:pt x="7" y="335"/>
                </a:lnTo>
              </a:path>
            </a:pathLst>
          </a:custGeom>
          <a:noFill/>
          <a:ln w="9143" cap="flat">
            <a:solidFill>
              <a:srgbClr val="808080">
                <a:alpha val="100000"/>
              </a:srgbClr>
            </a:solidFill>
            <a:prstDash val="solid"/>
            <a:round/>
          </a:ln>
        </p:spPr>
        <p:txBody>
          <a:bodyPr rtlCol="0"/>
          <a:lstStyle/>
          <a:p>
            <a:pPr algn="ctr"/>
            <a:endParaRPr lang="zh-CN" altLang="en-US"/>
          </a:p>
        </p:txBody>
      </p:sp>
      <p:pic>
        <p:nvPicPr>
          <p:cNvPr id="991" name="picture 991"/>
          <p:cNvPicPr>
            <a:picLocks noChangeAspect="1"/>
          </p:cNvPicPr>
          <p:nvPr/>
        </p:nvPicPr>
        <p:blipFill>
          <a:blip r:embed="rId8"/>
          <a:stretch>
            <a:fillRect/>
          </a:stretch>
        </p:blipFill>
        <p:spPr>
          <a:xfrm rot="21600000">
            <a:off x="3298614" y="2507391"/>
            <a:ext cx="108805" cy="578115"/>
          </a:xfrm>
          <a:prstGeom prst="rect">
            <a:avLst/>
          </a:prstGeom>
        </p:spPr>
      </p:pic>
      <p:sp>
        <p:nvSpPr>
          <p:cNvPr id="992" name="textbox 992"/>
          <p:cNvSpPr/>
          <p:nvPr/>
        </p:nvSpPr>
        <p:spPr>
          <a:xfrm>
            <a:off x="5700893" y="5190175"/>
            <a:ext cx="165100" cy="424815"/>
          </a:xfrm>
          <a:prstGeom prst="rect">
            <a:avLst/>
          </a:prstGeom>
        </p:spPr>
        <p:txBody>
          <a:bodyPr vert="horz" wrap="square" lIns="0" tIns="0" rIns="0" bIns="0"/>
          <a:lstStyle/>
          <a:p>
            <a:pPr algn="l" rtl="0" eaLnBrk="0">
              <a:lnSpc>
                <a:spcPct val="79000"/>
              </a:lnSpc>
            </a:pPr>
            <a:endParaRPr lang="en-US" altLang="en-US" sz="100" dirty="0">
              <a:latin typeface="微软雅黑" panose="020B0503020204020204" charset="-122"/>
              <a:ea typeface="微软雅黑" panose="020B0503020204020204" charset="-122"/>
            </a:endParaRPr>
          </a:p>
          <a:p>
            <a:pPr marL="13335" algn="l" rtl="0" eaLnBrk="0">
              <a:lnSpc>
                <a:spcPct val="81000"/>
              </a:lnSpc>
            </a:pPr>
            <a:r>
              <a:rPr sz="1000" spc="-10" dirty="0">
                <a:solidFill>
                  <a:srgbClr val="000000">
                    <a:alpha val="100000"/>
                  </a:srgbClr>
                </a:solidFill>
                <a:latin typeface="微软雅黑" panose="020B0503020204020204" charset="-122"/>
                <a:ea typeface="微软雅黑" panose="020B0503020204020204" charset="-122"/>
                <a:cs typeface="Arial" panose="020B0604020202020204"/>
              </a:rPr>
              <a:t>2</a:t>
            </a:r>
            <a:r>
              <a:rPr sz="1000" spc="0" dirty="0">
                <a:solidFill>
                  <a:srgbClr val="000000">
                    <a:alpha val="100000"/>
                  </a:srgbClr>
                </a:solidFill>
                <a:latin typeface="微软雅黑" panose="020B0503020204020204" charset="-122"/>
                <a:ea typeface="微软雅黑" panose="020B0503020204020204" charset="-122"/>
                <a:cs typeface="Arial" panose="020B0604020202020204"/>
              </a:rPr>
              <a:t>0</a:t>
            </a:r>
            <a:endParaRPr lang="en-US" altLang="en-US" sz="1000" dirty="0">
              <a:latin typeface="微软雅黑" panose="020B0503020204020204" charset="-122"/>
              <a:ea typeface="微软雅黑" panose="020B0503020204020204" charset="-122"/>
            </a:endParaRPr>
          </a:p>
          <a:p>
            <a:pPr algn="l" rtl="0" eaLnBrk="0">
              <a:lnSpc>
                <a:spcPct val="100000"/>
              </a:lnSpc>
            </a:pPr>
            <a:endParaRPr lang="en-US" altLang="en-US" sz="1000" dirty="0">
              <a:latin typeface="微软雅黑" panose="020B0503020204020204" charset="-122"/>
              <a:ea typeface="微软雅黑" panose="020B0503020204020204" charset="-122"/>
            </a:endParaRPr>
          </a:p>
          <a:p>
            <a:pPr marL="12700" algn="l" rtl="0" eaLnBrk="0">
              <a:lnSpc>
                <a:spcPct val="81000"/>
              </a:lnSpc>
              <a:spcBef>
                <a:spcPts val="5"/>
              </a:spcBef>
            </a:pPr>
            <a:r>
              <a:rPr sz="1000" b="1" spc="-10" dirty="0">
                <a:solidFill>
                  <a:srgbClr val="FFFFFF">
                    <a:alpha val="100000"/>
                  </a:srgbClr>
                </a:solidFill>
                <a:latin typeface="微软雅黑" panose="020B0503020204020204" charset="-122"/>
                <a:ea typeface="微软雅黑" panose="020B0503020204020204" charset="-122"/>
                <a:cs typeface="Arial" panose="020B0604020202020204"/>
              </a:rPr>
              <a:t>2</a:t>
            </a:r>
            <a:r>
              <a:rPr sz="1000" b="1" spc="0" dirty="0">
                <a:solidFill>
                  <a:srgbClr val="FFFFFF">
                    <a:alpha val="100000"/>
                  </a:srgbClr>
                </a:solidFill>
                <a:latin typeface="微软雅黑" panose="020B0503020204020204" charset="-122"/>
                <a:ea typeface="微软雅黑" panose="020B0503020204020204" charset="-122"/>
                <a:cs typeface="Arial" panose="020B0604020202020204"/>
              </a:rPr>
              <a:t>1</a:t>
            </a:r>
            <a:endParaRPr lang="en-US" altLang="en-US" sz="1000" dirty="0">
              <a:latin typeface="微软雅黑" panose="020B0503020204020204" charset="-122"/>
              <a:ea typeface="微软雅黑" panose="020B0503020204020204" charset="-122"/>
            </a:endParaRPr>
          </a:p>
        </p:txBody>
      </p:sp>
      <p:sp>
        <p:nvSpPr>
          <p:cNvPr id="993" name="textbox 993"/>
          <p:cNvSpPr/>
          <p:nvPr/>
        </p:nvSpPr>
        <p:spPr>
          <a:xfrm>
            <a:off x="7392151" y="5109179"/>
            <a:ext cx="165100" cy="419734"/>
          </a:xfrm>
          <a:prstGeom prst="rect">
            <a:avLst/>
          </a:prstGeom>
        </p:spPr>
        <p:txBody>
          <a:bodyPr vert="horz" wrap="square" lIns="0" tIns="0" rIns="0" bIns="0"/>
          <a:lstStyle/>
          <a:p>
            <a:pPr algn="l" rtl="0" eaLnBrk="0">
              <a:lnSpc>
                <a:spcPct val="79000"/>
              </a:lnSpc>
            </a:pPr>
            <a:endParaRPr lang="en-US" altLang="en-US" sz="100" dirty="0">
              <a:latin typeface="微软雅黑" panose="020B0503020204020204" charset="-122"/>
              <a:ea typeface="微软雅黑" panose="020B0503020204020204" charset="-122"/>
            </a:endParaRPr>
          </a:p>
          <a:p>
            <a:pPr marL="12700" algn="l" rtl="0" eaLnBrk="0">
              <a:lnSpc>
                <a:spcPct val="81000"/>
              </a:lnSpc>
            </a:pPr>
            <a:r>
              <a:rPr sz="1000" spc="-10" dirty="0">
                <a:solidFill>
                  <a:srgbClr val="000000">
                    <a:alpha val="100000"/>
                  </a:srgbClr>
                </a:solidFill>
                <a:latin typeface="微软雅黑" panose="020B0503020204020204" charset="-122"/>
                <a:ea typeface="微软雅黑" panose="020B0503020204020204" charset="-122"/>
                <a:cs typeface="Arial" panose="020B0604020202020204"/>
              </a:rPr>
              <a:t>2</a:t>
            </a:r>
            <a:r>
              <a:rPr sz="1000" spc="0" dirty="0">
                <a:solidFill>
                  <a:srgbClr val="000000">
                    <a:alpha val="100000"/>
                  </a:srgbClr>
                </a:solidFill>
                <a:latin typeface="微软雅黑" panose="020B0503020204020204" charset="-122"/>
                <a:ea typeface="微软雅黑" panose="020B0503020204020204" charset="-122"/>
                <a:cs typeface="Arial" panose="020B0604020202020204"/>
              </a:rPr>
              <a:t>0</a:t>
            </a:r>
            <a:endParaRPr lang="en-US" altLang="en-US" sz="1000" dirty="0">
              <a:latin typeface="微软雅黑" panose="020B0503020204020204" charset="-122"/>
              <a:ea typeface="微软雅黑" panose="020B0503020204020204" charset="-122"/>
            </a:endParaRPr>
          </a:p>
          <a:p>
            <a:pPr algn="l" rtl="0" eaLnBrk="0">
              <a:lnSpc>
                <a:spcPct val="107000"/>
              </a:lnSpc>
            </a:pPr>
            <a:endParaRPr lang="en-US" altLang="en-US" sz="900" dirty="0">
              <a:latin typeface="微软雅黑" panose="020B0503020204020204" charset="-122"/>
              <a:ea typeface="微软雅黑" panose="020B0503020204020204" charset="-122"/>
            </a:endParaRPr>
          </a:p>
          <a:p>
            <a:pPr algn="l" rtl="0" eaLnBrk="0">
              <a:lnSpc>
                <a:spcPct val="8000"/>
              </a:lnSpc>
            </a:pPr>
            <a:endParaRPr lang="en-US" altLang="en-US" sz="100" dirty="0">
              <a:latin typeface="微软雅黑" panose="020B0503020204020204" charset="-122"/>
              <a:ea typeface="微软雅黑" panose="020B0503020204020204" charset="-122"/>
            </a:endParaRPr>
          </a:p>
          <a:p>
            <a:pPr marL="12700" algn="l" rtl="0" eaLnBrk="0">
              <a:lnSpc>
                <a:spcPct val="81000"/>
              </a:lnSpc>
            </a:pPr>
            <a:r>
              <a:rPr sz="1000" spc="-10" dirty="0">
                <a:solidFill>
                  <a:srgbClr val="000000">
                    <a:alpha val="100000"/>
                  </a:srgbClr>
                </a:solidFill>
                <a:latin typeface="微软雅黑" panose="020B0503020204020204" charset="-122"/>
                <a:ea typeface="微软雅黑" panose="020B0503020204020204" charset="-122"/>
                <a:cs typeface="Arial" panose="020B0604020202020204"/>
              </a:rPr>
              <a:t>2</a:t>
            </a:r>
            <a:r>
              <a:rPr sz="1000" spc="0" dirty="0">
                <a:solidFill>
                  <a:srgbClr val="000000">
                    <a:alpha val="100000"/>
                  </a:srgbClr>
                </a:solidFill>
                <a:latin typeface="微软雅黑" panose="020B0503020204020204" charset="-122"/>
                <a:ea typeface="微软雅黑" panose="020B0503020204020204" charset="-122"/>
                <a:cs typeface="Arial" panose="020B0604020202020204"/>
              </a:rPr>
              <a:t>0</a:t>
            </a:r>
            <a:endParaRPr lang="en-US" altLang="en-US" sz="1000" dirty="0">
              <a:latin typeface="微软雅黑" panose="020B0503020204020204" charset="-122"/>
              <a:ea typeface="微软雅黑" panose="020B0503020204020204" charset="-122"/>
            </a:endParaRPr>
          </a:p>
        </p:txBody>
      </p:sp>
      <p:sp>
        <p:nvSpPr>
          <p:cNvPr id="994" name="path"/>
          <p:cNvSpPr/>
          <p:nvPr/>
        </p:nvSpPr>
        <p:spPr>
          <a:xfrm>
            <a:off x="5587374" y="2244641"/>
            <a:ext cx="150333" cy="326856"/>
          </a:xfrm>
          <a:custGeom>
            <a:avLst/>
            <a:gdLst/>
            <a:ahLst/>
            <a:cxnLst/>
            <a:rect l="0" t="0" r="0" b="0"/>
            <a:pathLst>
              <a:path w="236" h="514">
                <a:moveTo>
                  <a:pt x="7" y="85"/>
                </a:moveTo>
                <a:cubicBezTo>
                  <a:pt x="7" y="101"/>
                  <a:pt x="7" y="117"/>
                  <a:pt x="24" y="117"/>
                </a:cubicBezTo>
                <a:cubicBezTo>
                  <a:pt x="39" y="117"/>
                  <a:pt x="55" y="101"/>
                  <a:pt x="55" y="85"/>
                </a:cubicBezTo>
                <a:cubicBezTo>
                  <a:pt x="55" y="70"/>
                  <a:pt x="39" y="70"/>
                  <a:pt x="24" y="70"/>
                </a:cubicBezTo>
                <a:cubicBezTo>
                  <a:pt x="7" y="70"/>
                  <a:pt x="7" y="70"/>
                  <a:pt x="7" y="85"/>
                </a:cubicBezTo>
              </a:path>
              <a:path w="236" h="514">
                <a:moveTo>
                  <a:pt x="181" y="23"/>
                </a:moveTo>
                <a:cubicBezTo>
                  <a:pt x="181" y="39"/>
                  <a:pt x="181" y="54"/>
                  <a:pt x="197" y="54"/>
                </a:cubicBezTo>
                <a:cubicBezTo>
                  <a:pt x="213" y="54"/>
                  <a:pt x="228" y="39"/>
                  <a:pt x="228" y="23"/>
                </a:cubicBezTo>
                <a:cubicBezTo>
                  <a:pt x="228" y="7"/>
                  <a:pt x="213" y="7"/>
                  <a:pt x="197" y="7"/>
                </a:cubicBezTo>
                <a:cubicBezTo>
                  <a:pt x="181" y="7"/>
                  <a:pt x="181" y="7"/>
                  <a:pt x="181" y="23"/>
                </a:cubicBezTo>
              </a:path>
              <a:path w="236" h="514">
                <a:moveTo>
                  <a:pt x="181" y="475"/>
                </a:moveTo>
                <a:cubicBezTo>
                  <a:pt x="181" y="491"/>
                  <a:pt x="181" y="506"/>
                  <a:pt x="197" y="506"/>
                </a:cubicBezTo>
                <a:cubicBezTo>
                  <a:pt x="213" y="506"/>
                  <a:pt x="228" y="491"/>
                  <a:pt x="228" y="475"/>
                </a:cubicBezTo>
                <a:cubicBezTo>
                  <a:pt x="228" y="459"/>
                  <a:pt x="213" y="459"/>
                  <a:pt x="197" y="459"/>
                </a:cubicBezTo>
                <a:cubicBezTo>
                  <a:pt x="181" y="459"/>
                  <a:pt x="181" y="459"/>
                  <a:pt x="181" y="475"/>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95" name="path"/>
          <p:cNvSpPr/>
          <p:nvPr/>
        </p:nvSpPr>
        <p:spPr>
          <a:xfrm>
            <a:off x="6568354" y="2393301"/>
            <a:ext cx="40154" cy="39380"/>
          </a:xfrm>
          <a:custGeom>
            <a:avLst/>
            <a:gdLst/>
            <a:ahLst/>
            <a:cxnLst/>
            <a:rect l="0" t="0" r="0" b="0"/>
            <a:pathLst>
              <a:path w="63" h="62">
                <a:moveTo>
                  <a:pt x="7" y="23"/>
                </a:moveTo>
                <a:cubicBezTo>
                  <a:pt x="7" y="38"/>
                  <a:pt x="7" y="54"/>
                  <a:pt x="24" y="54"/>
                </a:cubicBezTo>
                <a:cubicBezTo>
                  <a:pt x="39" y="54"/>
                  <a:pt x="55" y="38"/>
                  <a:pt x="55" y="23"/>
                </a:cubicBezTo>
                <a:cubicBezTo>
                  <a:pt x="55" y="7"/>
                  <a:pt x="39" y="7"/>
                  <a:pt x="24" y="7"/>
                </a:cubicBezTo>
                <a:cubicBezTo>
                  <a:pt x="7" y="7"/>
                  <a:pt x="7" y="7"/>
                  <a:pt x="7" y="23"/>
                </a:cubicBezTo>
              </a:path>
              <a:path w="63" h="62">
                <a:moveTo>
                  <a:pt x="7" y="23"/>
                </a:moveTo>
                <a:cubicBezTo>
                  <a:pt x="7" y="38"/>
                  <a:pt x="7" y="54"/>
                  <a:pt x="24" y="54"/>
                </a:cubicBezTo>
                <a:cubicBezTo>
                  <a:pt x="39" y="54"/>
                  <a:pt x="55" y="38"/>
                  <a:pt x="55" y="23"/>
                </a:cubicBezTo>
                <a:cubicBezTo>
                  <a:pt x="55" y="7"/>
                  <a:pt x="39" y="7"/>
                  <a:pt x="24"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96" name="path"/>
          <p:cNvSpPr/>
          <p:nvPr/>
        </p:nvSpPr>
        <p:spPr>
          <a:xfrm>
            <a:off x="6598553" y="2383456"/>
            <a:ext cx="39823" cy="79088"/>
          </a:xfrm>
          <a:custGeom>
            <a:avLst/>
            <a:gdLst/>
            <a:ahLst/>
            <a:cxnLst/>
            <a:rect l="0" t="0" r="0" b="0"/>
            <a:pathLst>
              <a:path w="62" h="124">
                <a:moveTo>
                  <a:pt x="7" y="85"/>
                </a:moveTo>
                <a:cubicBezTo>
                  <a:pt x="7" y="101"/>
                  <a:pt x="7" y="116"/>
                  <a:pt x="23" y="116"/>
                </a:cubicBezTo>
                <a:cubicBezTo>
                  <a:pt x="39" y="116"/>
                  <a:pt x="54" y="101"/>
                  <a:pt x="54" y="85"/>
                </a:cubicBezTo>
                <a:cubicBezTo>
                  <a:pt x="54" y="69"/>
                  <a:pt x="39" y="69"/>
                  <a:pt x="23" y="69"/>
                </a:cubicBezTo>
                <a:cubicBezTo>
                  <a:pt x="7" y="69"/>
                  <a:pt x="7" y="69"/>
                  <a:pt x="7" y="85"/>
                </a:cubicBezTo>
              </a:path>
              <a:path w="62" h="124">
                <a:moveTo>
                  <a:pt x="7" y="23"/>
                </a:moveTo>
                <a:cubicBezTo>
                  <a:pt x="7" y="38"/>
                  <a:pt x="7" y="54"/>
                  <a:pt x="23" y="54"/>
                </a:cubicBezTo>
                <a:cubicBezTo>
                  <a:pt x="39" y="54"/>
                  <a:pt x="54" y="38"/>
                  <a:pt x="54" y="23"/>
                </a:cubicBezTo>
                <a:cubicBezTo>
                  <a:pt x="54" y="7"/>
                  <a:pt x="39" y="7"/>
                  <a:pt x="23"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97" name="path"/>
          <p:cNvSpPr/>
          <p:nvPr/>
        </p:nvSpPr>
        <p:spPr>
          <a:xfrm>
            <a:off x="6598553" y="2284350"/>
            <a:ext cx="50110" cy="227749"/>
          </a:xfrm>
          <a:custGeom>
            <a:avLst/>
            <a:gdLst/>
            <a:ahLst/>
            <a:cxnLst/>
            <a:rect l="0" t="0" r="0" b="0"/>
            <a:pathLst>
              <a:path w="78" h="358">
                <a:moveTo>
                  <a:pt x="7" y="23"/>
                </a:moveTo>
                <a:cubicBezTo>
                  <a:pt x="7" y="38"/>
                  <a:pt x="7" y="54"/>
                  <a:pt x="23" y="54"/>
                </a:cubicBezTo>
                <a:cubicBezTo>
                  <a:pt x="39" y="54"/>
                  <a:pt x="54" y="38"/>
                  <a:pt x="54" y="23"/>
                </a:cubicBezTo>
                <a:cubicBezTo>
                  <a:pt x="54" y="7"/>
                  <a:pt x="39" y="7"/>
                  <a:pt x="23" y="7"/>
                </a:cubicBezTo>
                <a:cubicBezTo>
                  <a:pt x="7" y="7"/>
                  <a:pt x="7" y="7"/>
                  <a:pt x="7" y="23"/>
                </a:cubicBezTo>
              </a:path>
              <a:path w="78" h="358">
                <a:moveTo>
                  <a:pt x="7" y="257"/>
                </a:moveTo>
                <a:cubicBezTo>
                  <a:pt x="7" y="272"/>
                  <a:pt x="7" y="288"/>
                  <a:pt x="23" y="288"/>
                </a:cubicBezTo>
                <a:cubicBezTo>
                  <a:pt x="39" y="288"/>
                  <a:pt x="54" y="272"/>
                  <a:pt x="54" y="257"/>
                </a:cubicBezTo>
                <a:cubicBezTo>
                  <a:pt x="54" y="241"/>
                  <a:pt x="39" y="241"/>
                  <a:pt x="23" y="241"/>
                </a:cubicBezTo>
                <a:cubicBezTo>
                  <a:pt x="7" y="241"/>
                  <a:pt x="7" y="241"/>
                  <a:pt x="7" y="257"/>
                </a:cubicBezTo>
              </a:path>
              <a:path w="78" h="358">
                <a:moveTo>
                  <a:pt x="23" y="319"/>
                </a:moveTo>
                <a:cubicBezTo>
                  <a:pt x="23" y="335"/>
                  <a:pt x="23" y="350"/>
                  <a:pt x="39" y="350"/>
                </a:cubicBezTo>
                <a:cubicBezTo>
                  <a:pt x="54" y="350"/>
                  <a:pt x="71" y="335"/>
                  <a:pt x="71" y="319"/>
                </a:cubicBezTo>
                <a:cubicBezTo>
                  <a:pt x="71" y="303"/>
                  <a:pt x="54" y="303"/>
                  <a:pt x="39" y="303"/>
                </a:cubicBezTo>
                <a:cubicBezTo>
                  <a:pt x="23" y="303"/>
                  <a:pt x="23" y="303"/>
                  <a:pt x="23" y="319"/>
                </a:cubicBezTo>
              </a:path>
              <a:path w="78" h="358">
                <a:moveTo>
                  <a:pt x="23" y="210"/>
                </a:moveTo>
                <a:cubicBezTo>
                  <a:pt x="23" y="225"/>
                  <a:pt x="23" y="241"/>
                  <a:pt x="39" y="241"/>
                </a:cubicBezTo>
                <a:cubicBezTo>
                  <a:pt x="54" y="241"/>
                  <a:pt x="71" y="225"/>
                  <a:pt x="71" y="210"/>
                </a:cubicBezTo>
                <a:cubicBezTo>
                  <a:pt x="71" y="194"/>
                  <a:pt x="54" y="194"/>
                  <a:pt x="39" y="194"/>
                </a:cubicBezTo>
                <a:cubicBezTo>
                  <a:pt x="23" y="194"/>
                  <a:pt x="23" y="194"/>
                  <a:pt x="23" y="210"/>
                </a:cubicBezTo>
              </a:path>
              <a:path w="78" h="358">
                <a:moveTo>
                  <a:pt x="23" y="288"/>
                </a:moveTo>
                <a:cubicBezTo>
                  <a:pt x="23" y="303"/>
                  <a:pt x="23" y="319"/>
                  <a:pt x="39" y="319"/>
                </a:cubicBezTo>
                <a:cubicBezTo>
                  <a:pt x="54" y="319"/>
                  <a:pt x="71" y="303"/>
                  <a:pt x="71" y="288"/>
                </a:cubicBezTo>
                <a:cubicBezTo>
                  <a:pt x="71" y="272"/>
                  <a:pt x="54" y="272"/>
                  <a:pt x="39" y="272"/>
                </a:cubicBezTo>
                <a:cubicBezTo>
                  <a:pt x="23" y="272"/>
                  <a:pt x="23" y="272"/>
                  <a:pt x="23" y="288"/>
                </a:cubicBezTo>
              </a:path>
              <a:path w="78" h="358">
                <a:moveTo>
                  <a:pt x="23" y="194"/>
                </a:moveTo>
                <a:cubicBezTo>
                  <a:pt x="23" y="210"/>
                  <a:pt x="23" y="225"/>
                  <a:pt x="39" y="225"/>
                </a:cubicBezTo>
                <a:cubicBezTo>
                  <a:pt x="54" y="225"/>
                  <a:pt x="71" y="210"/>
                  <a:pt x="71" y="194"/>
                </a:cubicBezTo>
                <a:cubicBezTo>
                  <a:pt x="71" y="179"/>
                  <a:pt x="54" y="179"/>
                  <a:pt x="39" y="179"/>
                </a:cubicBezTo>
                <a:cubicBezTo>
                  <a:pt x="23" y="179"/>
                  <a:pt x="23" y="179"/>
                  <a:pt x="23" y="194"/>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98" name="path"/>
          <p:cNvSpPr/>
          <p:nvPr/>
        </p:nvSpPr>
        <p:spPr>
          <a:xfrm>
            <a:off x="6618465" y="2314213"/>
            <a:ext cx="50111" cy="791877"/>
          </a:xfrm>
          <a:custGeom>
            <a:avLst/>
            <a:gdLst/>
            <a:ahLst/>
            <a:cxnLst/>
            <a:rect l="0" t="0" r="0" b="0"/>
            <a:pathLst>
              <a:path w="78" h="1247">
                <a:moveTo>
                  <a:pt x="7" y="23"/>
                </a:moveTo>
                <a:cubicBezTo>
                  <a:pt x="7" y="38"/>
                  <a:pt x="7" y="54"/>
                  <a:pt x="23" y="54"/>
                </a:cubicBezTo>
                <a:cubicBezTo>
                  <a:pt x="39" y="54"/>
                  <a:pt x="55" y="38"/>
                  <a:pt x="55" y="23"/>
                </a:cubicBezTo>
                <a:cubicBezTo>
                  <a:pt x="55" y="7"/>
                  <a:pt x="39" y="7"/>
                  <a:pt x="23" y="7"/>
                </a:cubicBezTo>
                <a:cubicBezTo>
                  <a:pt x="7" y="7"/>
                  <a:pt x="7" y="7"/>
                  <a:pt x="7" y="23"/>
                </a:cubicBezTo>
              </a:path>
              <a:path w="78" h="1247">
                <a:moveTo>
                  <a:pt x="7" y="147"/>
                </a:moveTo>
                <a:cubicBezTo>
                  <a:pt x="7" y="163"/>
                  <a:pt x="7" y="178"/>
                  <a:pt x="23" y="178"/>
                </a:cubicBezTo>
                <a:cubicBezTo>
                  <a:pt x="39" y="178"/>
                  <a:pt x="55" y="163"/>
                  <a:pt x="55" y="147"/>
                </a:cubicBezTo>
                <a:cubicBezTo>
                  <a:pt x="55" y="132"/>
                  <a:pt x="39" y="132"/>
                  <a:pt x="23" y="132"/>
                </a:cubicBezTo>
                <a:cubicBezTo>
                  <a:pt x="7" y="132"/>
                  <a:pt x="7" y="132"/>
                  <a:pt x="7" y="147"/>
                </a:cubicBezTo>
              </a:path>
              <a:path w="78" h="1247">
                <a:moveTo>
                  <a:pt x="7" y="132"/>
                </a:moveTo>
                <a:cubicBezTo>
                  <a:pt x="7" y="147"/>
                  <a:pt x="7" y="163"/>
                  <a:pt x="23" y="163"/>
                </a:cubicBezTo>
                <a:cubicBezTo>
                  <a:pt x="39" y="163"/>
                  <a:pt x="55" y="147"/>
                  <a:pt x="55" y="132"/>
                </a:cubicBezTo>
                <a:cubicBezTo>
                  <a:pt x="55" y="116"/>
                  <a:pt x="39" y="116"/>
                  <a:pt x="23" y="116"/>
                </a:cubicBezTo>
                <a:cubicBezTo>
                  <a:pt x="7" y="116"/>
                  <a:pt x="7" y="116"/>
                  <a:pt x="7" y="132"/>
                </a:cubicBezTo>
              </a:path>
              <a:path w="78" h="1247">
                <a:moveTo>
                  <a:pt x="7" y="537"/>
                </a:moveTo>
                <a:cubicBezTo>
                  <a:pt x="7" y="553"/>
                  <a:pt x="7" y="568"/>
                  <a:pt x="23" y="568"/>
                </a:cubicBezTo>
                <a:cubicBezTo>
                  <a:pt x="39" y="568"/>
                  <a:pt x="55" y="553"/>
                  <a:pt x="55" y="537"/>
                </a:cubicBezTo>
                <a:cubicBezTo>
                  <a:pt x="55" y="521"/>
                  <a:pt x="39" y="521"/>
                  <a:pt x="23" y="521"/>
                </a:cubicBezTo>
                <a:cubicBezTo>
                  <a:pt x="7" y="521"/>
                  <a:pt x="7" y="521"/>
                  <a:pt x="7" y="537"/>
                </a:cubicBezTo>
              </a:path>
              <a:path w="78" h="1247">
                <a:moveTo>
                  <a:pt x="7" y="194"/>
                </a:moveTo>
                <a:cubicBezTo>
                  <a:pt x="7" y="210"/>
                  <a:pt x="7" y="225"/>
                  <a:pt x="23" y="225"/>
                </a:cubicBezTo>
                <a:cubicBezTo>
                  <a:pt x="39" y="225"/>
                  <a:pt x="55" y="210"/>
                  <a:pt x="55" y="194"/>
                </a:cubicBezTo>
                <a:cubicBezTo>
                  <a:pt x="55" y="178"/>
                  <a:pt x="39" y="178"/>
                  <a:pt x="23" y="178"/>
                </a:cubicBezTo>
                <a:cubicBezTo>
                  <a:pt x="7" y="178"/>
                  <a:pt x="7" y="178"/>
                  <a:pt x="7" y="194"/>
                </a:cubicBezTo>
              </a:path>
              <a:path w="78" h="1247">
                <a:moveTo>
                  <a:pt x="23" y="147"/>
                </a:moveTo>
                <a:cubicBezTo>
                  <a:pt x="23" y="163"/>
                  <a:pt x="23" y="178"/>
                  <a:pt x="39" y="178"/>
                </a:cubicBezTo>
                <a:cubicBezTo>
                  <a:pt x="55" y="178"/>
                  <a:pt x="71" y="163"/>
                  <a:pt x="71" y="147"/>
                </a:cubicBezTo>
                <a:cubicBezTo>
                  <a:pt x="71" y="132"/>
                  <a:pt x="55" y="132"/>
                  <a:pt x="39" y="132"/>
                </a:cubicBezTo>
                <a:cubicBezTo>
                  <a:pt x="23" y="132"/>
                  <a:pt x="23" y="132"/>
                  <a:pt x="23" y="147"/>
                </a:cubicBezTo>
              </a:path>
              <a:path w="78" h="1247">
                <a:moveTo>
                  <a:pt x="23" y="662"/>
                </a:moveTo>
                <a:cubicBezTo>
                  <a:pt x="23" y="678"/>
                  <a:pt x="23" y="693"/>
                  <a:pt x="39" y="693"/>
                </a:cubicBezTo>
                <a:cubicBezTo>
                  <a:pt x="55" y="693"/>
                  <a:pt x="71" y="678"/>
                  <a:pt x="71" y="662"/>
                </a:cubicBezTo>
                <a:cubicBezTo>
                  <a:pt x="71" y="647"/>
                  <a:pt x="55" y="647"/>
                  <a:pt x="39" y="647"/>
                </a:cubicBezTo>
                <a:cubicBezTo>
                  <a:pt x="23" y="647"/>
                  <a:pt x="23" y="647"/>
                  <a:pt x="23" y="662"/>
                </a:cubicBezTo>
              </a:path>
              <a:path w="78" h="1247">
                <a:moveTo>
                  <a:pt x="23" y="1208"/>
                </a:moveTo>
                <a:cubicBezTo>
                  <a:pt x="23" y="1223"/>
                  <a:pt x="23" y="1239"/>
                  <a:pt x="39" y="1239"/>
                </a:cubicBezTo>
                <a:cubicBezTo>
                  <a:pt x="55" y="1239"/>
                  <a:pt x="71" y="1223"/>
                  <a:pt x="71" y="1208"/>
                </a:cubicBezTo>
                <a:cubicBezTo>
                  <a:pt x="71" y="1192"/>
                  <a:pt x="55" y="1192"/>
                  <a:pt x="39" y="1192"/>
                </a:cubicBezTo>
                <a:cubicBezTo>
                  <a:pt x="23" y="1192"/>
                  <a:pt x="23" y="1192"/>
                  <a:pt x="23" y="1208"/>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999" name="path"/>
          <p:cNvSpPr/>
          <p:nvPr/>
        </p:nvSpPr>
        <p:spPr>
          <a:xfrm>
            <a:off x="6628420" y="2254486"/>
            <a:ext cx="50110" cy="317011"/>
          </a:xfrm>
          <a:custGeom>
            <a:avLst/>
            <a:gdLst/>
            <a:ahLst/>
            <a:cxnLst/>
            <a:rect l="0" t="0" r="0" b="0"/>
            <a:pathLst>
              <a:path w="78" h="499">
                <a:moveTo>
                  <a:pt x="7" y="460"/>
                </a:moveTo>
                <a:cubicBezTo>
                  <a:pt x="7" y="475"/>
                  <a:pt x="7" y="491"/>
                  <a:pt x="24" y="491"/>
                </a:cubicBezTo>
                <a:cubicBezTo>
                  <a:pt x="39" y="491"/>
                  <a:pt x="55" y="475"/>
                  <a:pt x="55" y="460"/>
                </a:cubicBezTo>
                <a:cubicBezTo>
                  <a:pt x="55" y="444"/>
                  <a:pt x="39" y="444"/>
                  <a:pt x="24" y="444"/>
                </a:cubicBezTo>
                <a:cubicBezTo>
                  <a:pt x="7" y="444"/>
                  <a:pt x="7" y="444"/>
                  <a:pt x="7" y="460"/>
                </a:cubicBezTo>
              </a:path>
              <a:path w="78" h="499">
                <a:moveTo>
                  <a:pt x="7" y="23"/>
                </a:moveTo>
                <a:cubicBezTo>
                  <a:pt x="7" y="39"/>
                  <a:pt x="7" y="54"/>
                  <a:pt x="24" y="54"/>
                </a:cubicBezTo>
                <a:cubicBezTo>
                  <a:pt x="39" y="54"/>
                  <a:pt x="55" y="39"/>
                  <a:pt x="55" y="23"/>
                </a:cubicBezTo>
                <a:cubicBezTo>
                  <a:pt x="55" y="7"/>
                  <a:pt x="39" y="7"/>
                  <a:pt x="24" y="7"/>
                </a:cubicBezTo>
                <a:cubicBezTo>
                  <a:pt x="7" y="7"/>
                  <a:pt x="7" y="7"/>
                  <a:pt x="7" y="23"/>
                </a:cubicBezTo>
              </a:path>
              <a:path w="78" h="499">
                <a:moveTo>
                  <a:pt x="7" y="85"/>
                </a:moveTo>
                <a:cubicBezTo>
                  <a:pt x="7" y="101"/>
                  <a:pt x="7" y="117"/>
                  <a:pt x="24" y="117"/>
                </a:cubicBezTo>
                <a:cubicBezTo>
                  <a:pt x="39" y="117"/>
                  <a:pt x="55" y="101"/>
                  <a:pt x="55" y="85"/>
                </a:cubicBezTo>
                <a:cubicBezTo>
                  <a:pt x="55" y="70"/>
                  <a:pt x="39" y="70"/>
                  <a:pt x="24" y="70"/>
                </a:cubicBezTo>
                <a:cubicBezTo>
                  <a:pt x="7" y="70"/>
                  <a:pt x="7" y="70"/>
                  <a:pt x="7" y="85"/>
                </a:cubicBezTo>
              </a:path>
              <a:path w="78" h="499">
                <a:moveTo>
                  <a:pt x="24" y="117"/>
                </a:moveTo>
                <a:cubicBezTo>
                  <a:pt x="24" y="132"/>
                  <a:pt x="24" y="148"/>
                  <a:pt x="39" y="148"/>
                </a:cubicBezTo>
                <a:cubicBezTo>
                  <a:pt x="55" y="148"/>
                  <a:pt x="71" y="132"/>
                  <a:pt x="71" y="117"/>
                </a:cubicBezTo>
                <a:cubicBezTo>
                  <a:pt x="71" y="101"/>
                  <a:pt x="55" y="101"/>
                  <a:pt x="39" y="101"/>
                </a:cubicBezTo>
                <a:cubicBezTo>
                  <a:pt x="24" y="101"/>
                  <a:pt x="24" y="101"/>
                  <a:pt x="24" y="117"/>
                </a:cubicBezTo>
              </a:path>
              <a:path w="78" h="499">
                <a:moveTo>
                  <a:pt x="24" y="195"/>
                </a:moveTo>
                <a:cubicBezTo>
                  <a:pt x="24" y="210"/>
                  <a:pt x="24" y="226"/>
                  <a:pt x="39" y="226"/>
                </a:cubicBezTo>
                <a:cubicBezTo>
                  <a:pt x="55" y="226"/>
                  <a:pt x="71" y="210"/>
                  <a:pt x="71" y="195"/>
                </a:cubicBezTo>
                <a:cubicBezTo>
                  <a:pt x="71" y="179"/>
                  <a:pt x="55" y="179"/>
                  <a:pt x="39" y="179"/>
                </a:cubicBezTo>
                <a:cubicBezTo>
                  <a:pt x="24" y="179"/>
                  <a:pt x="24" y="179"/>
                  <a:pt x="24" y="195"/>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00" name="path"/>
          <p:cNvSpPr/>
          <p:nvPr/>
        </p:nvSpPr>
        <p:spPr>
          <a:xfrm>
            <a:off x="6638708" y="2254486"/>
            <a:ext cx="39823" cy="138815"/>
          </a:xfrm>
          <a:custGeom>
            <a:avLst/>
            <a:gdLst/>
            <a:ahLst/>
            <a:cxnLst/>
            <a:rect l="0" t="0" r="0" b="0"/>
            <a:pathLst>
              <a:path w="62" h="218">
                <a:moveTo>
                  <a:pt x="7" y="179"/>
                </a:moveTo>
                <a:cubicBezTo>
                  <a:pt x="7" y="195"/>
                  <a:pt x="7" y="210"/>
                  <a:pt x="23" y="210"/>
                </a:cubicBezTo>
                <a:cubicBezTo>
                  <a:pt x="39" y="210"/>
                  <a:pt x="54" y="195"/>
                  <a:pt x="54" y="179"/>
                </a:cubicBezTo>
                <a:cubicBezTo>
                  <a:pt x="54" y="163"/>
                  <a:pt x="39" y="163"/>
                  <a:pt x="23" y="163"/>
                </a:cubicBezTo>
                <a:cubicBezTo>
                  <a:pt x="7" y="163"/>
                  <a:pt x="7" y="163"/>
                  <a:pt x="7" y="179"/>
                </a:cubicBezTo>
              </a:path>
              <a:path w="62" h="218">
                <a:moveTo>
                  <a:pt x="7" y="23"/>
                </a:moveTo>
                <a:cubicBezTo>
                  <a:pt x="7" y="39"/>
                  <a:pt x="7" y="54"/>
                  <a:pt x="23" y="54"/>
                </a:cubicBezTo>
                <a:cubicBezTo>
                  <a:pt x="39" y="54"/>
                  <a:pt x="54" y="39"/>
                  <a:pt x="54" y="23"/>
                </a:cubicBezTo>
                <a:cubicBezTo>
                  <a:pt x="54" y="7"/>
                  <a:pt x="39" y="7"/>
                  <a:pt x="23"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01" name="path"/>
          <p:cNvSpPr/>
          <p:nvPr/>
        </p:nvSpPr>
        <p:spPr>
          <a:xfrm>
            <a:off x="6648664" y="2254486"/>
            <a:ext cx="49779" cy="881467"/>
          </a:xfrm>
          <a:custGeom>
            <a:avLst/>
            <a:gdLst/>
            <a:ahLst/>
            <a:cxnLst/>
            <a:rect l="0" t="0" r="0" b="0"/>
            <a:pathLst>
              <a:path w="78" h="1388">
                <a:moveTo>
                  <a:pt x="7" y="288"/>
                </a:moveTo>
                <a:cubicBezTo>
                  <a:pt x="7" y="304"/>
                  <a:pt x="7" y="319"/>
                  <a:pt x="23" y="319"/>
                </a:cubicBezTo>
                <a:cubicBezTo>
                  <a:pt x="39" y="319"/>
                  <a:pt x="54" y="304"/>
                  <a:pt x="54" y="288"/>
                </a:cubicBezTo>
                <a:cubicBezTo>
                  <a:pt x="54" y="272"/>
                  <a:pt x="39" y="272"/>
                  <a:pt x="23" y="272"/>
                </a:cubicBezTo>
                <a:cubicBezTo>
                  <a:pt x="7" y="272"/>
                  <a:pt x="7" y="272"/>
                  <a:pt x="7" y="288"/>
                </a:cubicBezTo>
              </a:path>
              <a:path w="78" h="1388">
                <a:moveTo>
                  <a:pt x="23" y="23"/>
                </a:moveTo>
                <a:cubicBezTo>
                  <a:pt x="23" y="39"/>
                  <a:pt x="23" y="54"/>
                  <a:pt x="39" y="54"/>
                </a:cubicBezTo>
                <a:cubicBezTo>
                  <a:pt x="54" y="54"/>
                  <a:pt x="70" y="39"/>
                  <a:pt x="70" y="23"/>
                </a:cubicBezTo>
                <a:cubicBezTo>
                  <a:pt x="70" y="7"/>
                  <a:pt x="54" y="7"/>
                  <a:pt x="39" y="7"/>
                </a:cubicBezTo>
                <a:cubicBezTo>
                  <a:pt x="23" y="7"/>
                  <a:pt x="23" y="7"/>
                  <a:pt x="23" y="23"/>
                </a:cubicBezTo>
              </a:path>
              <a:path w="78" h="1388">
                <a:moveTo>
                  <a:pt x="23" y="1349"/>
                </a:moveTo>
                <a:cubicBezTo>
                  <a:pt x="23" y="1364"/>
                  <a:pt x="23" y="1380"/>
                  <a:pt x="39" y="1380"/>
                </a:cubicBezTo>
                <a:cubicBezTo>
                  <a:pt x="54" y="1380"/>
                  <a:pt x="70" y="1364"/>
                  <a:pt x="70" y="1349"/>
                </a:cubicBezTo>
                <a:cubicBezTo>
                  <a:pt x="70" y="1333"/>
                  <a:pt x="54" y="1333"/>
                  <a:pt x="39" y="1333"/>
                </a:cubicBezTo>
                <a:cubicBezTo>
                  <a:pt x="23" y="1333"/>
                  <a:pt x="23" y="1333"/>
                  <a:pt x="23" y="1349"/>
                </a:cubicBezTo>
              </a:path>
              <a:path w="78" h="1388">
                <a:moveTo>
                  <a:pt x="23" y="413"/>
                </a:moveTo>
                <a:cubicBezTo>
                  <a:pt x="23" y="428"/>
                  <a:pt x="23" y="444"/>
                  <a:pt x="39" y="444"/>
                </a:cubicBezTo>
                <a:cubicBezTo>
                  <a:pt x="54" y="444"/>
                  <a:pt x="70" y="428"/>
                  <a:pt x="70" y="413"/>
                </a:cubicBezTo>
                <a:cubicBezTo>
                  <a:pt x="70" y="397"/>
                  <a:pt x="54" y="397"/>
                  <a:pt x="39" y="397"/>
                </a:cubicBezTo>
                <a:cubicBezTo>
                  <a:pt x="23" y="397"/>
                  <a:pt x="23" y="397"/>
                  <a:pt x="23" y="413"/>
                </a:cubicBezTo>
              </a:path>
              <a:path w="78" h="1388">
                <a:moveTo>
                  <a:pt x="23" y="23"/>
                </a:moveTo>
                <a:cubicBezTo>
                  <a:pt x="23" y="39"/>
                  <a:pt x="23" y="54"/>
                  <a:pt x="39" y="54"/>
                </a:cubicBezTo>
                <a:cubicBezTo>
                  <a:pt x="54" y="54"/>
                  <a:pt x="70" y="39"/>
                  <a:pt x="70" y="23"/>
                </a:cubicBezTo>
                <a:cubicBezTo>
                  <a:pt x="70" y="7"/>
                  <a:pt x="54" y="7"/>
                  <a:pt x="39" y="7"/>
                </a:cubicBezTo>
                <a:cubicBezTo>
                  <a:pt x="23" y="7"/>
                  <a:pt x="23" y="7"/>
                  <a:pt x="23" y="23"/>
                </a:cubicBezTo>
              </a:path>
              <a:path w="78" h="1388">
                <a:moveTo>
                  <a:pt x="23" y="1146"/>
                </a:moveTo>
                <a:cubicBezTo>
                  <a:pt x="23" y="1162"/>
                  <a:pt x="23" y="1177"/>
                  <a:pt x="39" y="1177"/>
                </a:cubicBezTo>
                <a:cubicBezTo>
                  <a:pt x="54" y="1177"/>
                  <a:pt x="70" y="1162"/>
                  <a:pt x="70" y="1146"/>
                </a:cubicBezTo>
                <a:cubicBezTo>
                  <a:pt x="70" y="1130"/>
                  <a:pt x="54" y="1130"/>
                  <a:pt x="39" y="1130"/>
                </a:cubicBezTo>
                <a:cubicBezTo>
                  <a:pt x="23" y="1130"/>
                  <a:pt x="23" y="1130"/>
                  <a:pt x="23" y="1146"/>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02" name="path"/>
          <p:cNvSpPr/>
          <p:nvPr/>
        </p:nvSpPr>
        <p:spPr>
          <a:xfrm>
            <a:off x="7299111" y="2294195"/>
            <a:ext cx="90265" cy="376409"/>
          </a:xfrm>
          <a:custGeom>
            <a:avLst/>
            <a:gdLst/>
            <a:ahLst/>
            <a:cxnLst/>
            <a:rect l="0" t="0" r="0" b="0"/>
            <a:pathLst>
              <a:path w="142" h="592">
                <a:moveTo>
                  <a:pt x="7" y="553"/>
                </a:moveTo>
                <a:cubicBezTo>
                  <a:pt x="7" y="569"/>
                  <a:pt x="7" y="585"/>
                  <a:pt x="24" y="585"/>
                </a:cubicBezTo>
                <a:cubicBezTo>
                  <a:pt x="39" y="585"/>
                  <a:pt x="55" y="569"/>
                  <a:pt x="55" y="553"/>
                </a:cubicBezTo>
                <a:cubicBezTo>
                  <a:pt x="55" y="537"/>
                  <a:pt x="39" y="537"/>
                  <a:pt x="24" y="537"/>
                </a:cubicBezTo>
                <a:cubicBezTo>
                  <a:pt x="7" y="537"/>
                  <a:pt x="7" y="537"/>
                  <a:pt x="7" y="553"/>
                </a:cubicBezTo>
              </a:path>
              <a:path w="142" h="592">
                <a:moveTo>
                  <a:pt x="55" y="23"/>
                </a:moveTo>
                <a:cubicBezTo>
                  <a:pt x="55" y="39"/>
                  <a:pt x="55" y="54"/>
                  <a:pt x="71" y="54"/>
                </a:cubicBezTo>
                <a:cubicBezTo>
                  <a:pt x="86" y="54"/>
                  <a:pt x="102" y="39"/>
                  <a:pt x="102" y="23"/>
                </a:cubicBezTo>
                <a:cubicBezTo>
                  <a:pt x="102" y="7"/>
                  <a:pt x="86" y="7"/>
                  <a:pt x="71" y="7"/>
                </a:cubicBezTo>
                <a:cubicBezTo>
                  <a:pt x="55" y="7"/>
                  <a:pt x="55" y="7"/>
                  <a:pt x="55" y="23"/>
                </a:cubicBezTo>
              </a:path>
              <a:path w="142" h="592">
                <a:moveTo>
                  <a:pt x="86" y="163"/>
                </a:moveTo>
                <a:cubicBezTo>
                  <a:pt x="86" y="179"/>
                  <a:pt x="86" y="194"/>
                  <a:pt x="102" y="194"/>
                </a:cubicBezTo>
                <a:cubicBezTo>
                  <a:pt x="118" y="194"/>
                  <a:pt x="134" y="179"/>
                  <a:pt x="134" y="163"/>
                </a:cubicBezTo>
                <a:cubicBezTo>
                  <a:pt x="134" y="148"/>
                  <a:pt x="118" y="148"/>
                  <a:pt x="102" y="148"/>
                </a:cubicBezTo>
                <a:cubicBezTo>
                  <a:pt x="86" y="148"/>
                  <a:pt x="86" y="148"/>
                  <a:pt x="86" y="16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03" name="path"/>
          <p:cNvSpPr/>
          <p:nvPr/>
        </p:nvSpPr>
        <p:spPr>
          <a:xfrm>
            <a:off x="6658620" y="2314213"/>
            <a:ext cx="50110" cy="296993"/>
          </a:xfrm>
          <a:custGeom>
            <a:avLst/>
            <a:gdLst/>
            <a:ahLst/>
            <a:cxnLst/>
            <a:rect l="0" t="0" r="0" b="0"/>
            <a:pathLst>
              <a:path w="78" h="467">
                <a:moveTo>
                  <a:pt x="7" y="38"/>
                </a:moveTo>
                <a:cubicBezTo>
                  <a:pt x="7" y="54"/>
                  <a:pt x="7" y="69"/>
                  <a:pt x="23" y="69"/>
                </a:cubicBezTo>
                <a:cubicBezTo>
                  <a:pt x="39" y="69"/>
                  <a:pt x="54" y="54"/>
                  <a:pt x="54" y="38"/>
                </a:cubicBezTo>
                <a:cubicBezTo>
                  <a:pt x="54" y="23"/>
                  <a:pt x="39" y="23"/>
                  <a:pt x="23" y="23"/>
                </a:cubicBezTo>
                <a:cubicBezTo>
                  <a:pt x="7" y="23"/>
                  <a:pt x="7" y="23"/>
                  <a:pt x="7" y="38"/>
                </a:cubicBezTo>
              </a:path>
              <a:path w="78" h="467">
                <a:moveTo>
                  <a:pt x="23" y="23"/>
                </a:moveTo>
                <a:cubicBezTo>
                  <a:pt x="23" y="38"/>
                  <a:pt x="23" y="54"/>
                  <a:pt x="39" y="54"/>
                </a:cubicBezTo>
                <a:cubicBezTo>
                  <a:pt x="54" y="54"/>
                  <a:pt x="71" y="38"/>
                  <a:pt x="71" y="23"/>
                </a:cubicBezTo>
                <a:cubicBezTo>
                  <a:pt x="71" y="7"/>
                  <a:pt x="54" y="7"/>
                  <a:pt x="39" y="7"/>
                </a:cubicBezTo>
                <a:cubicBezTo>
                  <a:pt x="23" y="7"/>
                  <a:pt x="23" y="7"/>
                  <a:pt x="23" y="23"/>
                </a:cubicBezTo>
              </a:path>
              <a:path w="78" h="467">
                <a:moveTo>
                  <a:pt x="23" y="428"/>
                </a:moveTo>
                <a:cubicBezTo>
                  <a:pt x="23" y="443"/>
                  <a:pt x="23" y="459"/>
                  <a:pt x="39" y="459"/>
                </a:cubicBezTo>
                <a:cubicBezTo>
                  <a:pt x="54" y="459"/>
                  <a:pt x="71" y="443"/>
                  <a:pt x="71" y="428"/>
                </a:cubicBezTo>
                <a:cubicBezTo>
                  <a:pt x="71" y="412"/>
                  <a:pt x="54" y="412"/>
                  <a:pt x="39" y="412"/>
                </a:cubicBezTo>
                <a:cubicBezTo>
                  <a:pt x="23" y="412"/>
                  <a:pt x="23" y="412"/>
                  <a:pt x="23" y="428"/>
                </a:cubicBezTo>
              </a:path>
              <a:path w="78" h="467">
                <a:moveTo>
                  <a:pt x="23" y="210"/>
                </a:moveTo>
                <a:cubicBezTo>
                  <a:pt x="23" y="225"/>
                  <a:pt x="23" y="241"/>
                  <a:pt x="39" y="241"/>
                </a:cubicBezTo>
                <a:cubicBezTo>
                  <a:pt x="54" y="241"/>
                  <a:pt x="71" y="225"/>
                  <a:pt x="71" y="210"/>
                </a:cubicBezTo>
                <a:cubicBezTo>
                  <a:pt x="71" y="194"/>
                  <a:pt x="54" y="194"/>
                  <a:pt x="39" y="194"/>
                </a:cubicBezTo>
                <a:cubicBezTo>
                  <a:pt x="23" y="194"/>
                  <a:pt x="23" y="194"/>
                  <a:pt x="23" y="210"/>
                </a:cubicBezTo>
              </a:path>
              <a:path w="78" h="467">
                <a:moveTo>
                  <a:pt x="23" y="210"/>
                </a:moveTo>
                <a:cubicBezTo>
                  <a:pt x="23" y="225"/>
                  <a:pt x="23" y="241"/>
                  <a:pt x="39" y="241"/>
                </a:cubicBezTo>
                <a:cubicBezTo>
                  <a:pt x="54" y="241"/>
                  <a:pt x="71" y="225"/>
                  <a:pt x="71" y="210"/>
                </a:cubicBezTo>
                <a:cubicBezTo>
                  <a:pt x="71" y="194"/>
                  <a:pt x="54" y="194"/>
                  <a:pt x="39" y="194"/>
                </a:cubicBezTo>
                <a:cubicBezTo>
                  <a:pt x="23" y="194"/>
                  <a:pt x="23" y="194"/>
                  <a:pt x="23" y="210"/>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04" name="path"/>
          <p:cNvSpPr/>
          <p:nvPr/>
        </p:nvSpPr>
        <p:spPr>
          <a:xfrm>
            <a:off x="6678531" y="2472390"/>
            <a:ext cx="40154" cy="39708"/>
          </a:xfrm>
          <a:custGeom>
            <a:avLst/>
            <a:gdLst/>
            <a:ahLst/>
            <a:cxnLst/>
            <a:rect l="0" t="0" r="0" b="0"/>
            <a:pathLst>
              <a:path w="63" h="62">
                <a:moveTo>
                  <a:pt x="7" y="23"/>
                </a:moveTo>
                <a:cubicBezTo>
                  <a:pt x="7" y="39"/>
                  <a:pt x="7" y="54"/>
                  <a:pt x="23" y="54"/>
                </a:cubicBezTo>
                <a:cubicBezTo>
                  <a:pt x="39" y="54"/>
                  <a:pt x="55" y="39"/>
                  <a:pt x="55" y="23"/>
                </a:cubicBezTo>
                <a:cubicBezTo>
                  <a:pt x="55" y="7"/>
                  <a:pt x="39" y="7"/>
                  <a:pt x="23"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05" name="path"/>
          <p:cNvSpPr/>
          <p:nvPr/>
        </p:nvSpPr>
        <p:spPr>
          <a:xfrm>
            <a:off x="6688487" y="2333903"/>
            <a:ext cx="40154" cy="69243"/>
          </a:xfrm>
          <a:custGeom>
            <a:avLst/>
            <a:gdLst/>
            <a:ahLst/>
            <a:cxnLst/>
            <a:rect l="0" t="0" r="0" b="0"/>
            <a:pathLst>
              <a:path w="63" h="109">
                <a:moveTo>
                  <a:pt x="7" y="23"/>
                </a:moveTo>
                <a:cubicBezTo>
                  <a:pt x="7" y="38"/>
                  <a:pt x="7" y="54"/>
                  <a:pt x="24" y="54"/>
                </a:cubicBezTo>
                <a:cubicBezTo>
                  <a:pt x="39" y="54"/>
                  <a:pt x="55" y="38"/>
                  <a:pt x="55" y="23"/>
                </a:cubicBezTo>
                <a:cubicBezTo>
                  <a:pt x="55" y="7"/>
                  <a:pt x="39" y="7"/>
                  <a:pt x="24" y="7"/>
                </a:cubicBezTo>
                <a:cubicBezTo>
                  <a:pt x="7" y="7"/>
                  <a:pt x="7" y="7"/>
                  <a:pt x="7" y="23"/>
                </a:cubicBezTo>
              </a:path>
              <a:path w="63" h="109">
                <a:moveTo>
                  <a:pt x="7" y="70"/>
                </a:moveTo>
                <a:cubicBezTo>
                  <a:pt x="7" y="85"/>
                  <a:pt x="7" y="101"/>
                  <a:pt x="24" y="101"/>
                </a:cubicBezTo>
                <a:cubicBezTo>
                  <a:pt x="39" y="101"/>
                  <a:pt x="55" y="85"/>
                  <a:pt x="55" y="70"/>
                </a:cubicBezTo>
                <a:cubicBezTo>
                  <a:pt x="55" y="54"/>
                  <a:pt x="39" y="54"/>
                  <a:pt x="24" y="54"/>
                </a:cubicBezTo>
                <a:cubicBezTo>
                  <a:pt x="7" y="54"/>
                  <a:pt x="7" y="54"/>
                  <a:pt x="7" y="70"/>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06" name="path"/>
          <p:cNvSpPr/>
          <p:nvPr/>
        </p:nvSpPr>
        <p:spPr>
          <a:xfrm>
            <a:off x="6688487" y="2333903"/>
            <a:ext cx="40154" cy="168350"/>
          </a:xfrm>
          <a:custGeom>
            <a:avLst/>
            <a:gdLst/>
            <a:ahLst/>
            <a:cxnLst/>
            <a:rect l="0" t="0" r="0" b="0"/>
            <a:pathLst>
              <a:path w="63" h="265">
                <a:moveTo>
                  <a:pt x="7" y="225"/>
                </a:moveTo>
                <a:cubicBezTo>
                  <a:pt x="7" y="241"/>
                  <a:pt x="7" y="257"/>
                  <a:pt x="24" y="257"/>
                </a:cubicBezTo>
                <a:cubicBezTo>
                  <a:pt x="39" y="257"/>
                  <a:pt x="55" y="241"/>
                  <a:pt x="55" y="225"/>
                </a:cubicBezTo>
                <a:cubicBezTo>
                  <a:pt x="55" y="210"/>
                  <a:pt x="39" y="210"/>
                  <a:pt x="24" y="210"/>
                </a:cubicBezTo>
                <a:cubicBezTo>
                  <a:pt x="7" y="210"/>
                  <a:pt x="7" y="210"/>
                  <a:pt x="7" y="225"/>
                </a:cubicBezTo>
              </a:path>
              <a:path w="63" h="265">
                <a:moveTo>
                  <a:pt x="7" y="23"/>
                </a:moveTo>
                <a:cubicBezTo>
                  <a:pt x="7" y="38"/>
                  <a:pt x="7" y="54"/>
                  <a:pt x="24" y="54"/>
                </a:cubicBezTo>
                <a:cubicBezTo>
                  <a:pt x="39" y="54"/>
                  <a:pt x="55" y="38"/>
                  <a:pt x="55" y="23"/>
                </a:cubicBezTo>
                <a:cubicBezTo>
                  <a:pt x="55" y="7"/>
                  <a:pt x="39" y="7"/>
                  <a:pt x="24"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07" name="path"/>
          <p:cNvSpPr/>
          <p:nvPr/>
        </p:nvSpPr>
        <p:spPr>
          <a:xfrm>
            <a:off x="6708730" y="2324058"/>
            <a:ext cx="39823" cy="356391"/>
          </a:xfrm>
          <a:custGeom>
            <a:avLst/>
            <a:gdLst/>
            <a:ahLst/>
            <a:cxnLst/>
            <a:rect l="0" t="0" r="0" b="0"/>
            <a:pathLst>
              <a:path w="62" h="561">
                <a:moveTo>
                  <a:pt x="7" y="23"/>
                </a:moveTo>
                <a:cubicBezTo>
                  <a:pt x="7" y="38"/>
                  <a:pt x="7" y="54"/>
                  <a:pt x="23" y="54"/>
                </a:cubicBezTo>
                <a:cubicBezTo>
                  <a:pt x="39" y="54"/>
                  <a:pt x="54" y="38"/>
                  <a:pt x="54" y="23"/>
                </a:cubicBezTo>
                <a:cubicBezTo>
                  <a:pt x="54" y="7"/>
                  <a:pt x="39" y="7"/>
                  <a:pt x="23" y="7"/>
                </a:cubicBezTo>
                <a:cubicBezTo>
                  <a:pt x="7" y="7"/>
                  <a:pt x="7" y="7"/>
                  <a:pt x="7" y="23"/>
                </a:cubicBezTo>
              </a:path>
              <a:path w="62" h="561">
                <a:moveTo>
                  <a:pt x="7" y="522"/>
                </a:moveTo>
                <a:cubicBezTo>
                  <a:pt x="7" y="537"/>
                  <a:pt x="7" y="553"/>
                  <a:pt x="23" y="553"/>
                </a:cubicBezTo>
                <a:cubicBezTo>
                  <a:pt x="39" y="553"/>
                  <a:pt x="54" y="537"/>
                  <a:pt x="54" y="522"/>
                </a:cubicBezTo>
                <a:cubicBezTo>
                  <a:pt x="54" y="506"/>
                  <a:pt x="39" y="506"/>
                  <a:pt x="23" y="506"/>
                </a:cubicBezTo>
                <a:cubicBezTo>
                  <a:pt x="7" y="506"/>
                  <a:pt x="7" y="506"/>
                  <a:pt x="7" y="522"/>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08" name="path"/>
          <p:cNvSpPr/>
          <p:nvPr/>
        </p:nvSpPr>
        <p:spPr>
          <a:xfrm>
            <a:off x="6688487" y="2274504"/>
            <a:ext cx="40154" cy="188040"/>
          </a:xfrm>
          <a:custGeom>
            <a:avLst/>
            <a:gdLst/>
            <a:ahLst/>
            <a:cxnLst/>
            <a:rect l="0" t="0" r="0" b="0"/>
            <a:pathLst>
              <a:path w="63" h="296">
                <a:moveTo>
                  <a:pt x="7" y="23"/>
                </a:moveTo>
                <a:cubicBezTo>
                  <a:pt x="7" y="38"/>
                  <a:pt x="7" y="54"/>
                  <a:pt x="24" y="54"/>
                </a:cubicBezTo>
                <a:cubicBezTo>
                  <a:pt x="39" y="54"/>
                  <a:pt x="55" y="38"/>
                  <a:pt x="55" y="23"/>
                </a:cubicBezTo>
                <a:cubicBezTo>
                  <a:pt x="55" y="7"/>
                  <a:pt x="39" y="7"/>
                  <a:pt x="24" y="7"/>
                </a:cubicBezTo>
                <a:cubicBezTo>
                  <a:pt x="7" y="7"/>
                  <a:pt x="7" y="7"/>
                  <a:pt x="7" y="23"/>
                </a:cubicBezTo>
              </a:path>
              <a:path w="63" h="296">
                <a:moveTo>
                  <a:pt x="7" y="257"/>
                </a:moveTo>
                <a:cubicBezTo>
                  <a:pt x="7" y="272"/>
                  <a:pt x="7" y="288"/>
                  <a:pt x="24" y="288"/>
                </a:cubicBezTo>
                <a:cubicBezTo>
                  <a:pt x="39" y="288"/>
                  <a:pt x="55" y="272"/>
                  <a:pt x="55" y="257"/>
                </a:cubicBezTo>
                <a:cubicBezTo>
                  <a:pt x="55" y="241"/>
                  <a:pt x="39" y="241"/>
                  <a:pt x="24" y="241"/>
                </a:cubicBezTo>
                <a:cubicBezTo>
                  <a:pt x="7" y="241"/>
                  <a:pt x="7" y="241"/>
                  <a:pt x="7" y="257"/>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09" name="path"/>
          <p:cNvSpPr/>
          <p:nvPr/>
        </p:nvSpPr>
        <p:spPr>
          <a:xfrm>
            <a:off x="6708730" y="2324058"/>
            <a:ext cx="49779" cy="207731"/>
          </a:xfrm>
          <a:custGeom>
            <a:avLst/>
            <a:gdLst/>
            <a:ahLst/>
            <a:cxnLst/>
            <a:rect l="0" t="0" r="0" b="0"/>
            <a:pathLst>
              <a:path w="78" h="327">
                <a:moveTo>
                  <a:pt x="7" y="288"/>
                </a:moveTo>
                <a:cubicBezTo>
                  <a:pt x="7" y="303"/>
                  <a:pt x="7" y="319"/>
                  <a:pt x="23" y="319"/>
                </a:cubicBezTo>
                <a:cubicBezTo>
                  <a:pt x="39" y="319"/>
                  <a:pt x="54" y="303"/>
                  <a:pt x="54" y="288"/>
                </a:cubicBezTo>
                <a:cubicBezTo>
                  <a:pt x="54" y="272"/>
                  <a:pt x="39" y="272"/>
                  <a:pt x="23" y="272"/>
                </a:cubicBezTo>
                <a:cubicBezTo>
                  <a:pt x="7" y="272"/>
                  <a:pt x="7" y="272"/>
                  <a:pt x="7" y="288"/>
                </a:cubicBezTo>
              </a:path>
              <a:path w="78" h="327">
                <a:moveTo>
                  <a:pt x="23" y="23"/>
                </a:moveTo>
                <a:cubicBezTo>
                  <a:pt x="23" y="38"/>
                  <a:pt x="23" y="54"/>
                  <a:pt x="39" y="54"/>
                </a:cubicBezTo>
                <a:cubicBezTo>
                  <a:pt x="54" y="54"/>
                  <a:pt x="70" y="38"/>
                  <a:pt x="70" y="23"/>
                </a:cubicBezTo>
                <a:cubicBezTo>
                  <a:pt x="70" y="7"/>
                  <a:pt x="54" y="7"/>
                  <a:pt x="39" y="7"/>
                </a:cubicBezTo>
                <a:cubicBezTo>
                  <a:pt x="23" y="7"/>
                  <a:pt x="23" y="7"/>
                  <a:pt x="23" y="23"/>
                </a:cubicBezTo>
              </a:path>
              <a:path w="78" h="327">
                <a:moveTo>
                  <a:pt x="23" y="147"/>
                </a:moveTo>
                <a:cubicBezTo>
                  <a:pt x="23" y="163"/>
                  <a:pt x="23" y="179"/>
                  <a:pt x="39" y="179"/>
                </a:cubicBezTo>
                <a:cubicBezTo>
                  <a:pt x="54" y="179"/>
                  <a:pt x="70" y="163"/>
                  <a:pt x="70" y="147"/>
                </a:cubicBezTo>
                <a:cubicBezTo>
                  <a:pt x="70" y="132"/>
                  <a:pt x="54" y="132"/>
                  <a:pt x="39" y="132"/>
                </a:cubicBezTo>
                <a:cubicBezTo>
                  <a:pt x="23" y="132"/>
                  <a:pt x="23" y="132"/>
                  <a:pt x="23" y="147"/>
                </a:cubicBezTo>
              </a:path>
              <a:path w="78" h="327">
                <a:moveTo>
                  <a:pt x="23" y="85"/>
                </a:moveTo>
                <a:cubicBezTo>
                  <a:pt x="23" y="101"/>
                  <a:pt x="23" y="116"/>
                  <a:pt x="39" y="116"/>
                </a:cubicBezTo>
                <a:cubicBezTo>
                  <a:pt x="54" y="116"/>
                  <a:pt x="70" y="101"/>
                  <a:pt x="70" y="85"/>
                </a:cubicBezTo>
                <a:cubicBezTo>
                  <a:pt x="70" y="69"/>
                  <a:pt x="54" y="69"/>
                  <a:pt x="39" y="69"/>
                </a:cubicBezTo>
                <a:cubicBezTo>
                  <a:pt x="23" y="69"/>
                  <a:pt x="23" y="69"/>
                  <a:pt x="23" y="85"/>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10" name="path"/>
          <p:cNvSpPr/>
          <p:nvPr/>
        </p:nvSpPr>
        <p:spPr>
          <a:xfrm>
            <a:off x="6728642" y="2393301"/>
            <a:ext cx="40154" cy="39380"/>
          </a:xfrm>
          <a:custGeom>
            <a:avLst/>
            <a:gdLst/>
            <a:ahLst/>
            <a:cxnLst/>
            <a:rect l="0" t="0" r="0" b="0"/>
            <a:pathLst>
              <a:path w="63" h="62">
                <a:moveTo>
                  <a:pt x="7" y="23"/>
                </a:moveTo>
                <a:cubicBezTo>
                  <a:pt x="7" y="38"/>
                  <a:pt x="7" y="54"/>
                  <a:pt x="23" y="54"/>
                </a:cubicBezTo>
                <a:cubicBezTo>
                  <a:pt x="39" y="54"/>
                  <a:pt x="55" y="38"/>
                  <a:pt x="55" y="23"/>
                </a:cubicBezTo>
                <a:cubicBezTo>
                  <a:pt x="55" y="7"/>
                  <a:pt x="39" y="7"/>
                  <a:pt x="23"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11" name="path"/>
          <p:cNvSpPr/>
          <p:nvPr/>
        </p:nvSpPr>
        <p:spPr>
          <a:xfrm>
            <a:off x="6728642" y="2224951"/>
            <a:ext cx="60066" cy="405945"/>
          </a:xfrm>
          <a:custGeom>
            <a:avLst/>
            <a:gdLst/>
            <a:ahLst/>
            <a:cxnLst/>
            <a:rect l="0" t="0" r="0" b="0"/>
            <a:pathLst>
              <a:path w="94" h="639">
                <a:moveTo>
                  <a:pt x="7" y="23"/>
                </a:moveTo>
                <a:cubicBezTo>
                  <a:pt x="7" y="38"/>
                  <a:pt x="7" y="54"/>
                  <a:pt x="23" y="54"/>
                </a:cubicBezTo>
                <a:cubicBezTo>
                  <a:pt x="39" y="54"/>
                  <a:pt x="55" y="38"/>
                  <a:pt x="55" y="23"/>
                </a:cubicBezTo>
                <a:cubicBezTo>
                  <a:pt x="55" y="7"/>
                  <a:pt x="39" y="7"/>
                  <a:pt x="23" y="7"/>
                </a:cubicBezTo>
                <a:cubicBezTo>
                  <a:pt x="7" y="7"/>
                  <a:pt x="7" y="7"/>
                  <a:pt x="7" y="23"/>
                </a:cubicBezTo>
              </a:path>
              <a:path w="94" h="639">
                <a:moveTo>
                  <a:pt x="7" y="381"/>
                </a:moveTo>
                <a:cubicBezTo>
                  <a:pt x="7" y="397"/>
                  <a:pt x="7" y="413"/>
                  <a:pt x="23" y="413"/>
                </a:cubicBezTo>
                <a:cubicBezTo>
                  <a:pt x="39" y="413"/>
                  <a:pt x="55" y="397"/>
                  <a:pt x="55" y="381"/>
                </a:cubicBezTo>
                <a:cubicBezTo>
                  <a:pt x="55" y="366"/>
                  <a:pt x="39" y="366"/>
                  <a:pt x="23" y="366"/>
                </a:cubicBezTo>
                <a:cubicBezTo>
                  <a:pt x="7" y="366"/>
                  <a:pt x="7" y="366"/>
                  <a:pt x="7" y="381"/>
                </a:cubicBezTo>
              </a:path>
              <a:path w="94" h="639">
                <a:moveTo>
                  <a:pt x="7" y="241"/>
                </a:moveTo>
                <a:cubicBezTo>
                  <a:pt x="7" y="257"/>
                  <a:pt x="7" y="272"/>
                  <a:pt x="23" y="272"/>
                </a:cubicBezTo>
                <a:cubicBezTo>
                  <a:pt x="39" y="272"/>
                  <a:pt x="55" y="257"/>
                  <a:pt x="55" y="241"/>
                </a:cubicBezTo>
                <a:cubicBezTo>
                  <a:pt x="55" y="225"/>
                  <a:pt x="39" y="225"/>
                  <a:pt x="23" y="225"/>
                </a:cubicBezTo>
                <a:cubicBezTo>
                  <a:pt x="7" y="225"/>
                  <a:pt x="7" y="225"/>
                  <a:pt x="7" y="241"/>
                </a:cubicBezTo>
              </a:path>
              <a:path w="94" h="639">
                <a:moveTo>
                  <a:pt x="7" y="381"/>
                </a:moveTo>
                <a:cubicBezTo>
                  <a:pt x="7" y="397"/>
                  <a:pt x="7" y="413"/>
                  <a:pt x="23" y="413"/>
                </a:cubicBezTo>
                <a:cubicBezTo>
                  <a:pt x="39" y="413"/>
                  <a:pt x="55" y="397"/>
                  <a:pt x="55" y="381"/>
                </a:cubicBezTo>
                <a:cubicBezTo>
                  <a:pt x="55" y="366"/>
                  <a:pt x="39" y="366"/>
                  <a:pt x="23" y="366"/>
                </a:cubicBezTo>
                <a:cubicBezTo>
                  <a:pt x="7" y="366"/>
                  <a:pt x="7" y="366"/>
                  <a:pt x="7" y="381"/>
                </a:cubicBezTo>
              </a:path>
              <a:path w="94" h="639">
                <a:moveTo>
                  <a:pt x="7" y="600"/>
                </a:moveTo>
                <a:cubicBezTo>
                  <a:pt x="7" y="616"/>
                  <a:pt x="7" y="631"/>
                  <a:pt x="23" y="631"/>
                </a:cubicBezTo>
                <a:cubicBezTo>
                  <a:pt x="39" y="631"/>
                  <a:pt x="55" y="616"/>
                  <a:pt x="55" y="600"/>
                </a:cubicBezTo>
                <a:cubicBezTo>
                  <a:pt x="55" y="584"/>
                  <a:pt x="39" y="584"/>
                  <a:pt x="23" y="584"/>
                </a:cubicBezTo>
                <a:cubicBezTo>
                  <a:pt x="7" y="584"/>
                  <a:pt x="7" y="584"/>
                  <a:pt x="7" y="600"/>
                </a:cubicBezTo>
              </a:path>
              <a:path w="94" h="639">
                <a:moveTo>
                  <a:pt x="23" y="490"/>
                </a:moveTo>
                <a:cubicBezTo>
                  <a:pt x="23" y="506"/>
                  <a:pt x="23" y="522"/>
                  <a:pt x="39" y="522"/>
                </a:cubicBezTo>
                <a:cubicBezTo>
                  <a:pt x="55" y="522"/>
                  <a:pt x="71" y="506"/>
                  <a:pt x="71" y="490"/>
                </a:cubicBezTo>
                <a:cubicBezTo>
                  <a:pt x="71" y="475"/>
                  <a:pt x="55" y="475"/>
                  <a:pt x="39" y="475"/>
                </a:cubicBezTo>
                <a:cubicBezTo>
                  <a:pt x="23" y="475"/>
                  <a:pt x="23" y="475"/>
                  <a:pt x="23" y="490"/>
                </a:cubicBezTo>
              </a:path>
              <a:path w="94" h="639">
                <a:moveTo>
                  <a:pt x="39" y="132"/>
                </a:moveTo>
                <a:cubicBezTo>
                  <a:pt x="39" y="148"/>
                  <a:pt x="39" y="163"/>
                  <a:pt x="55" y="163"/>
                </a:cubicBezTo>
                <a:cubicBezTo>
                  <a:pt x="71" y="163"/>
                  <a:pt x="86" y="148"/>
                  <a:pt x="86" y="132"/>
                </a:cubicBezTo>
                <a:cubicBezTo>
                  <a:pt x="86" y="116"/>
                  <a:pt x="71" y="116"/>
                  <a:pt x="55" y="116"/>
                </a:cubicBezTo>
                <a:cubicBezTo>
                  <a:pt x="39" y="116"/>
                  <a:pt x="39" y="116"/>
                  <a:pt x="39" y="132"/>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12" name="path"/>
          <p:cNvSpPr/>
          <p:nvPr/>
        </p:nvSpPr>
        <p:spPr>
          <a:xfrm>
            <a:off x="6758842" y="2363438"/>
            <a:ext cx="49779" cy="277303"/>
          </a:xfrm>
          <a:custGeom>
            <a:avLst/>
            <a:gdLst/>
            <a:ahLst/>
            <a:cxnLst/>
            <a:rect l="0" t="0" r="0" b="0"/>
            <a:pathLst>
              <a:path w="78" h="436">
                <a:moveTo>
                  <a:pt x="7" y="163"/>
                </a:moveTo>
                <a:cubicBezTo>
                  <a:pt x="7" y="179"/>
                  <a:pt x="7" y="195"/>
                  <a:pt x="23" y="195"/>
                </a:cubicBezTo>
                <a:cubicBezTo>
                  <a:pt x="39" y="195"/>
                  <a:pt x="54" y="179"/>
                  <a:pt x="54" y="163"/>
                </a:cubicBezTo>
                <a:cubicBezTo>
                  <a:pt x="54" y="148"/>
                  <a:pt x="39" y="148"/>
                  <a:pt x="23" y="148"/>
                </a:cubicBezTo>
                <a:cubicBezTo>
                  <a:pt x="7" y="148"/>
                  <a:pt x="7" y="148"/>
                  <a:pt x="7" y="163"/>
                </a:cubicBezTo>
              </a:path>
              <a:path w="78" h="436">
                <a:moveTo>
                  <a:pt x="7" y="241"/>
                </a:moveTo>
                <a:cubicBezTo>
                  <a:pt x="7" y="257"/>
                  <a:pt x="7" y="272"/>
                  <a:pt x="23" y="272"/>
                </a:cubicBezTo>
                <a:cubicBezTo>
                  <a:pt x="39" y="272"/>
                  <a:pt x="54" y="257"/>
                  <a:pt x="54" y="241"/>
                </a:cubicBezTo>
                <a:cubicBezTo>
                  <a:pt x="54" y="226"/>
                  <a:pt x="39" y="226"/>
                  <a:pt x="23" y="226"/>
                </a:cubicBezTo>
                <a:cubicBezTo>
                  <a:pt x="7" y="226"/>
                  <a:pt x="7" y="226"/>
                  <a:pt x="7" y="241"/>
                </a:cubicBezTo>
              </a:path>
              <a:path w="78" h="436">
                <a:moveTo>
                  <a:pt x="23" y="397"/>
                </a:moveTo>
                <a:cubicBezTo>
                  <a:pt x="23" y="413"/>
                  <a:pt x="23" y="428"/>
                  <a:pt x="39" y="428"/>
                </a:cubicBezTo>
                <a:cubicBezTo>
                  <a:pt x="54" y="428"/>
                  <a:pt x="70" y="413"/>
                  <a:pt x="70" y="397"/>
                </a:cubicBezTo>
                <a:cubicBezTo>
                  <a:pt x="70" y="382"/>
                  <a:pt x="54" y="382"/>
                  <a:pt x="39" y="382"/>
                </a:cubicBezTo>
                <a:cubicBezTo>
                  <a:pt x="23" y="382"/>
                  <a:pt x="23" y="382"/>
                  <a:pt x="23" y="397"/>
                </a:cubicBezTo>
              </a:path>
              <a:path w="78" h="436">
                <a:moveTo>
                  <a:pt x="23" y="23"/>
                </a:moveTo>
                <a:cubicBezTo>
                  <a:pt x="23" y="39"/>
                  <a:pt x="23" y="54"/>
                  <a:pt x="39" y="54"/>
                </a:cubicBezTo>
                <a:cubicBezTo>
                  <a:pt x="54" y="54"/>
                  <a:pt x="70" y="39"/>
                  <a:pt x="70" y="23"/>
                </a:cubicBezTo>
                <a:cubicBezTo>
                  <a:pt x="70" y="7"/>
                  <a:pt x="54" y="7"/>
                  <a:pt x="39" y="7"/>
                </a:cubicBezTo>
                <a:cubicBezTo>
                  <a:pt x="23" y="7"/>
                  <a:pt x="23" y="7"/>
                  <a:pt x="23" y="23"/>
                </a:cubicBezTo>
              </a:path>
              <a:path w="78" h="436">
                <a:moveTo>
                  <a:pt x="23" y="54"/>
                </a:moveTo>
                <a:cubicBezTo>
                  <a:pt x="23" y="70"/>
                  <a:pt x="23" y="85"/>
                  <a:pt x="39" y="85"/>
                </a:cubicBezTo>
                <a:cubicBezTo>
                  <a:pt x="54" y="85"/>
                  <a:pt x="70" y="70"/>
                  <a:pt x="70" y="54"/>
                </a:cubicBezTo>
                <a:cubicBezTo>
                  <a:pt x="70" y="39"/>
                  <a:pt x="54" y="39"/>
                  <a:pt x="39" y="39"/>
                </a:cubicBezTo>
                <a:cubicBezTo>
                  <a:pt x="23" y="39"/>
                  <a:pt x="23" y="39"/>
                  <a:pt x="23" y="54"/>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13" name="path"/>
          <p:cNvSpPr/>
          <p:nvPr/>
        </p:nvSpPr>
        <p:spPr>
          <a:xfrm>
            <a:off x="6768797" y="2462545"/>
            <a:ext cx="39823" cy="79088"/>
          </a:xfrm>
          <a:custGeom>
            <a:avLst/>
            <a:gdLst/>
            <a:ahLst/>
            <a:cxnLst/>
            <a:rect l="0" t="0" r="0" b="0"/>
            <a:pathLst>
              <a:path w="62" h="124">
                <a:moveTo>
                  <a:pt x="7" y="23"/>
                </a:moveTo>
                <a:cubicBezTo>
                  <a:pt x="7" y="39"/>
                  <a:pt x="7" y="54"/>
                  <a:pt x="23" y="54"/>
                </a:cubicBezTo>
                <a:cubicBezTo>
                  <a:pt x="39" y="54"/>
                  <a:pt x="54" y="39"/>
                  <a:pt x="54" y="23"/>
                </a:cubicBezTo>
                <a:cubicBezTo>
                  <a:pt x="54" y="7"/>
                  <a:pt x="39" y="7"/>
                  <a:pt x="23" y="7"/>
                </a:cubicBezTo>
                <a:cubicBezTo>
                  <a:pt x="7" y="7"/>
                  <a:pt x="7" y="7"/>
                  <a:pt x="7" y="23"/>
                </a:cubicBezTo>
              </a:path>
              <a:path w="62" h="124">
                <a:moveTo>
                  <a:pt x="7" y="85"/>
                </a:moveTo>
                <a:cubicBezTo>
                  <a:pt x="7" y="101"/>
                  <a:pt x="7" y="116"/>
                  <a:pt x="23" y="116"/>
                </a:cubicBezTo>
                <a:cubicBezTo>
                  <a:pt x="39" y="116"/>
                  <a:pt x="54" y="101"/>
                  <a:pt x="54" y="85"/>
                </a:cubicBezTo>
                <a:cubicBezTo>
                  <a:pt x="54" y="70"/>
                  <a:pt x="39" y="70"/>
                  <a:pt x="23" y="70"/>
                </a:cubicBezTo>
                <a:cubicBezTo>
                  <a:pt x="7" y="70"/>
                  <a:pt x="7" y="70"/>
                  <a:pt x="7" y="85"/>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14" name="path"/>
          <p:cNvSpPr/>
          <p:nvPr/>
        </p:nvSpPr>
        <p:spPr>
          <a:xfrm>
            <a:off x="6778753" y="2393301"/>
            <a:ext cx="39823" cy="79088"/>
          </a:xfrm>
          <a:custGeom>
            <a:avLst/>
            <a:gdLst/>
            <a:ahLst/>
            <a:cxnLst/>
            <a:rect l="0" t="0" r="0" b="0"/>
            <a:pathLst>
              <a:path w="62" h="124">
                <a:moveTo>
                  <a:pt x="7" y="23"/>
                </a:moveTo>
                <a:cubicBezTo>
                  <a:pt x="7" y="38"/>
                  <a:pt x="7" y="54"/>
                  <a:pt x="23" y="54"/>
                </a:cubicBezTo>
                <a:cubicBezTo>
                  <a:pt x="39" y="54"/>
                  <a:pt x="54" y="38"/>
                  <a:pt x="54" y="23"/>
                </a:cubicBezTo>
                <a:cubicBezTo>
                  <a:pt x="54" y="7"/>
                  <a:pt x="39" y="7"/>
                  <a:pt x="23" y="7"/>
                </a:cubicBezTo>
                <a:cubicBezTo>
                  <a:pt x="7" y="7"/>
                  <a:pt x="7" y="7"/>
                  <a:pt x="7" y="23"/>
                </a:cubicBezTo>
              </a:path>
              <a:path w="62" h="124">
                <a:moveTo>
                  <a:pt x="7" y="85"/>
                </a:moveTo>
                <a:cubicBezTo>
                  <a:pt x="7" y="101"/>
                  <a:pt x="7" y="116"/>
                  <a:pt x="23" y="116"/>
                </a:cubicBezTo>
                <a:cubicBezTo>
                  <a:pt x="39" y="116"/>
                  <a:pt x="54" y="101"/>
                  <a:pt x="54" y="85"/>
                </a:cubicBezTo>
                <a:cubicBezTo>
                  <a:pt x="54" y="70"/>
                  <a:pt x="39" y="70"/>
                  <a:pt x="23" y="70"/>
                </a:cubicBezTo>
                <a:cubicBezTo>
                  <a:pt x="7" y="70"/>
                  <a:pt x="7" y="70"/>
                  <a:pt x="7" y="85"/>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15" name="path"/>
          <p:cNvSpPr/>
          <p:nvPr/>
        </p:nvSpPr>
        <p:spPr>
          <a:xfrm>
            <a:off x="6778753" y="2363438"/>
            <a:ext cx="50110" cy="267458"/>
          </a:xfrm>
          <a:custGeom>
            <a:avLst/>
            <a:gdLst/>
            <a:ahLst/>
            <a:cxnLst/>
            <a:rect l="0" t="0" r="0" b="0"/>
            <a:pathLst>
              <a:path w="78" h="421">
                <a:moveTo>
                  <a:pt x="7" y="23"/>
                </a:moveTo>
                <a:cubicBezTo>
                  <a:pt x="7" y="39"/>
                  <a:pt x="7" y="54"/>
                  <a:pt x="23" y="54"/>
                </a:cubicBezTo>
                <a:cubicBezTo>
                  <a:pt x="39" y="54"/>
                  <a:pt x="54" y="39"/>
                  <a:pt x="54" y="23"/>
                </a:cubicBezTo>
                <a:cubicBezTo>
                  <a:pt x="54" y="7"/>
                  <a:pt x="39" y="7"/>
                  <a:pt x="23" y="7"/>
                </a:cubicBezTo>
                <a:cubicBezTo>
                  <a:pt x="7" y="7"/>
                  <a:pt x="7" y="7"/>
                  <a:pt x="7" y="23"/>
                </a:cubicBezTo>
              </a:path>
              <a:path w="78" h="421">
                <a:moveTo>
                  <a:pt x="23" y="382"/>
                </a:moveTo>
                <a:cubicBezTo>
                  <a:pt x="23" y="397"/>
                  <a:pt x="23" y="413"/>
                  <a:pt x="39" y="413"/>
                </a:cubicBezTo>
                <a:cubicBezTo>
                  <a:pt x="54" y="413"/>
                  <a:pt x="71" y="397"/>
                  <a:pt x="71" y="382"/>
                </a:cubicBezTo>
                <a:cubicBezTo>
                  <a:pt x="71" y="366"/>
                  <a:pt x="54" y="366"/>
                  <a:pt x="39" y="366"/>
                </a:cubicBezTo>
                <a:cubicBezTo>
                  <a:pt x="23" y="366"/>
                  <a:pt x="23" y="366"/>
                  <a:pt x="23" y="382"/>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16" name="path"/>
          <p:cNvSpPr/>
          <p:nvPr/>
        </p:nvSpPr>
        <p:spPr>
          <a:xfrm>
            <a:off x="6798665" y="2274504"/>
            <a:ext cx="90265" cy="336701"/>
          </a:xfrm>
          <a:custGeom>
            <a:avLst/>
            <a:gdLst/>
            <a:ahLst/>
            <a:cxnLst/>
            <a:rect l="0" t="0" r="0" b="0"/>
            <a:pathLst>
              <a:path w="142" h="530">
                <a:moveTo>
                  <a:pt x="7" y="23"/>
                </a:moveTo>
                <a:cubicBezTo>
                  <a:pt x="7" y="38"/>
                  <a:pt x="7" y="54"/>
                  <a:pt x="23" y="54"/>
                </a:cubicBezTo>
                <a:cubicBezTo>
                  <a:pt x="39" y="54"/>
                  <a:pt x="55" y="38"/>
                  <a:pt x="55" y="23"/>
                </a:cubicBezTo>
                <a:cubicBezTo>
                  <a:pt x="55" y="7"/>
                  <a:pt x="39" y="7"/>
                  <a:pt x="23" y="7"/>
                </a:cubicBezTo>
                <a:cubicBezTo>
                  <a:pt x="7" y="7"/>
                  <a:pt x="7" y="7"/>
                  <a:pt x="7" y="23"/>
                </a:cubicBezTo>
              </a:path>
              <a:path w="142" h="530">
                <a:moveTo>
                  <a:pt x="23" y="257"/>
                </a:moveTo>
                <a:cubicBezTo>
                  <a:pt x="23" y="272"/>
                  <a:pt x="23" y="288"/>
                  <a:pt x="39" y="288"/>
                </a:cubicBezTo>
                <a:cubicBezTo>
                  <a:pt x="55" y="288"/>
                  <a:pt x="71" y="272"/>
                  <a:pt x="71" y="257"/>
                </a:cubicBezTo>
                <a:cubicBezTo>
                  <a:pt x="71" y="241"/>
                  <a:pt x="55" y="241"/>
                  <a:pt x="39" y="241"/>
                </a:cubicBezTo>
                <a:cubicBezTo>
                  <a:pt x="23" y="241"/>
                  <a:pt x="23" y="241"/>
                  <a:pt x="23" y="257"/>
                </a:cubicBezTo>
              </a:path>
              <a:path w="142" h="530">
                <a:moveTo>
                  <a:pt x="23" y="272"/>
                </a:moveTo>
                <a:cubicBezTo>
                  <a:pt x="23" y="288"/>
                  <a:pt x="23" y="303"/>
                  <a:pt x="39" y="303"/>
                </a:cubicBezTo>
                <a:cubicBezTo>
                  <a:pt x="55" y="303"/>
                  <a:pt x="71" y="288"/>
                  <a:pt x="71" y="272"/>
                </a:cubicBezTo>
                <a:cubicBezTo>
                  <a:pt x="71" y="257"/>
                  <a:pt x="55" y="257"/>
                  <a:pt x="39" y="257"/>
                </a:cubicBezTo>
                <a:cubicBezTo>
                  <a:pt x="23" y="257"/>
                  <a:pt x="23" y="257"/>
                  <a:pt x="23" y="272"/>
                </a:cubicBezTo>
              </a:path>
              <a:path w="142" h="530">
                <a:moveTo>
                  <a:pt x="23" y="194"/>
                </a:moveTo>
                <a:cubicBezTo>
                  <a:pt x="23" y="210"/>
                  <a:pt x="23" y="225"/>
                  <a:pt x="39" y="225"/>
                </a:cubicBezTo>
                <a:cubicBezTo>
                  <a:pt x="55" y="225"/>
                  <a:pt x="71" y="210"/>
                  <a:pt x="71" y="194"/>
                </a:cubicBezTo>
                <a:cubicBezTo>
                  <a:pt x="71" y="179"/>
                  <a:pt x="55" y="179"/>
                  <a:pt x="39" y="179"/>
                </a:cubicBezTo>
                <a:cubicBezTo>
                  <a:pt x="23" y="179"/>
                  <a:pt x="23" y="179"/>
                  <a:pt x="23" y="194"/>
                </a:cubicBezTo>
              </a:path>
              <a:path w="142" h="530">
                <a:moveTo>
                  <a:pt x="23" y="23"/>
                </a:moveTo>
                <a:cubicBezTo>
                  <a:pt x="23" y="38"/>
                  <a:pt x="23" y="54"/>
                  <a:pt x="39" y="54"/>
                </a:cubicBezTo>
                <a:cubicBezTo>
                  <a:pt x="55" y="54"/>
                  <a:pt x="71" y="38"/>
                  <a:pt x="71" y="23"/>
                </a:cubicBezTo>
                <a:cubicBezTo>
                  <a:pt x="71" y="7"/>
                  <a:pt x="55" y="7"/>
                  <a:pt x="39" y="7"/>
                </a:cubicBezTo>
                <a:cubicBezTo>
                  <a:pt x="23" y="7"/>
                  <a:pt x="23" y="7"/>
                  <a:pt x="23" y="23"/>
                </a:cubicBezTo>
              </a:path>
              <a:path w="142" h="530">
                <a:moveTo>
                  <a:pt x="39" y="257"/>
                </a:moveTo>
                <a:cubicBezTo>
                  <a:pt x="39" y="272"/>
                  <a:pt x="39" y="288"/>
                  <a:pt x="55" y="288"/>
                </a:cubicBezTo>
                <a:cubicBezTo>
                  <a:pt x="71" y="288"/>
                  <a:pt x="86" y="272"/>
                  <a:pt x="86" y="257"/>
                </a:cubicBezTo>
                <a:cubicBezTo>
                  <a:pt x="86" y="241"/>
                  <a:pt x="71" y="241"/>
                  <a:pt x="55" y="241"/>
                </a:cubicBezTo>
                <a:cubicBezTo>
                  <a:pt x="39" y="241"/>
                  <a:pt x="39" y="241"/>
                  <a:pt x="39" y="257"/>
                </a:cubicBezTo>
              </a:path>
              <a:path w="142" h="530">
                <a:moveTo>
                  <a:pt x="39" y="163"/>
                </a:moveTo>
                <a:cubicBezTo>
                  <a:pt x="39" y="179"/>
                  <a:pt x="39" y="194"/>
                  <a:pt x="55" y="194"/>
                </a:cubicBezTo>
                <a:cubicBezTo>
                  <a:pt x="71" y="194"/>
                  <a:pt x="86" y="179"/>
                  <a:pt x="86" y="163"/>
                </a:cubicBezTo>
                <a:cubicBezTo>
                  <a:pt x="86" y="147"/>
                  <a:pt x="71" y="147"/>
                  <a:pt x="55" y="147"/>
                </a:cubicBezTo>
                <a:cubicBezTo>
                  <a:pt x="39" y="147"/>
                  <a:pt x="39" y="147"/>
                  <a:pt x="39" y="163"/>
                </a:cubicBezTo>
              </a:path>
              <a:path w="142" h="530">
                <a:moveTo>
                  <a:pt x="39" y="116"/>
                </a:moveTo>
                <a:cubicBezTo>
                  <a:pt x="39" y="132"/>
                  <a:pt x="39" y="147"/>
                  <a:pt x="55" y="147"/>
                </a:cubicBezTo>
                <a:cubicBezTo>
                  <a:pt x="71" y="147"/>
                  <a:pt x="86" y="132"/>
                  <a:pt x="86" y="116"/>
                </a:cubicBezTo>
                <a:cubicBezTo>
                  <a:pt x="86" y="101"/>
                  <a:pt x="71" y="101"/>
                  <a:pt x="55" y="101"/>
                </a:cubicBezTo>
                <a:cubicBezTo>
                  <a:pt x="39" y="101"/>
                  <a:pt x="39" y="101"/>
                  <a:pt x="39" y="116"/>
                </a:cubicBezTo>
              </a:path>
              <a:path w="142" h="530">
                <a:moveTo>
                  <a:pt x="55" y="23"/>
                </a:moveTo>
                <a:cubicBezTo>
                  <a:pt x="55" y="38"/>
                  <a:pt x="55" y="54"/>
                  <a:pt x="71" y="54"/>
                </a:cubicBezTo>
                <a:cubicBezTo>
                  <a:pt x="86" y="54"/>
                  <a:pt x="102" y="38"/>
                  <a:pt x="102" y="23"/>
                </a:cubicBezTo>
                <a:cubicBezTo>
                  <a:pt x="102" y="7"/>
                  <a:pt x="86" y="7"/>
                  <a:pt x="71" y="7"/>
                </a:cubicBezTo>
                <a:cubicBezTo>
                  <a:pt x="55" y="7"/>
                  <a:pt x="55" y="7"/>
                  <a:pt x="55" y="23"/>
                </a:cubicBezTo>
              </a:path>
              <a:path w="142" h="530">
                <a:moveTo>
                  <a:pt x="55" y="194"/>
                </a:moveTo>
                <a:cubicBezTo>
                  <a:pt x="55" y="210"/>
                  <a:pt x="55" y="225"/>
                  <a:pt x="71" y="225"/>
                </a:cubicBezTo>
                <a:cubicBezTo>
                  <a:pt x="86" y="225"/>
                  <a:pt x="102" y="210"/>
                  <a:pt x="102" y="194"/>
                </a:cubicBezTo>
                <a:cubicBezTo>
                  <a:pt x="102" y="179"/>
                  <a:pt x="86" y="179"/>
                  <a:pt x="71" y="179"/>
                </a:cubicBezTo>
                <a:cubicBezTo>
                  <a:pt x="55" y="179"/>
                  <a:pt x="55" y="179"/>
                  <a:pt x="55" y="194"/>
                </a:cubicBezTo>
              </a:path>
              <a:path w="142" h="530">
                <a:moveTo>
                  <a:pt x="71" y="319"/>
                </a:moveTo>
                <a:cubicBezTo>
                  <a:pt x="71" y="335"/>
                  <a:pt x="71" y="350"/>
                  <a:pt x="86" y="350"/>
                </a:cubicBezTo>
                <a:cubicBezTo>
                  <a:pt x="102" y="350"/>
                  <a:pt x="118" y="335"/>
                  <a:pt x="118" y="319"/>
                </a:cubicBezTo>
                <a:cubicBezTo>
                  <a:pt x="118" y="303"/>
                  <a:pt x="102" y="303"/>
                  <a:pt x="86" y="303"/>
                </a:cubicBezTo>
                <a:cubicBezTo>
                  <a:pt x="71" y="303"/>
                  <a:pt x="71" y="303"/>
                  <a:pt x="71" y="319"/>
                </a:cubicBezTo>
              </a:path>
              <a:path w="142" h="530">
                <a:moveTo>
                  <a:pt x="71" y="210"/>
                </a:moveTo>
                <a:cubicBezTo>
                  <a:pt x="71" y="225"/>
                  <a:pt x="71" y="241"/>
                  <a:pt x="86" y="241"/>
                </a:cubicBezTo>
                <a:cubicBezTo>
                  <a:pt x="102" y="241"/>
                  <a:pt x="118" y="225"/>
                  <a:pt x="118" y="210"/>
                </a:cubicBezTo>
                <a:cubicBezTo>
                  <a:pt x="118" y="194"/>
                  <a:pt x="102" y="194"/>
                  <a:pt x="86" y="194"/>
                </a:cubicBezTo>
                <a:cubicBezTo>
                  <a:pt x="71" y="194"/>
                  <a:pt x="71" y="194"/>
                  <a:pt x="71" y="210"/>
                </a:cubicBezTo>
              </a:path>
              <a:path w="142" h="530">
                <a:moveTo>
                  <a:pt x="71" y="23"/>
                </a:moveTo>
                <a:cubicBezTo>
                  <a:pt x="71" y="38"/>
                  <a:pt x="71" y="54"/>
                  <a:pt x="86" y="54"/>
                </a:cubicBezTo>
                <a:cubicBezTo>
                  <a:pt x="102" y="54"/>
                  <a:pt x="118" y="38"/>
                  <a:pt x="118" y="23"/>
                </a:cubicBezTo>
                <a:cubicBezTo>
                  <a:pt x="118" y="7"/>
                  <a:pt x="102" y="7"/>
                  <a:pt x="86" y="7"/>
                </a:cubicBezTo>
                <a:cubicBezTo>
                  <a:pt x="71" y="7"/>
                  <a:pt x="71" y="7"/>
                  <a:pt x="71" y="23"/>
                </a:cubicBezTo>
              </a:path>
              <a:path w="142" h="530">
                <a:moveTo>
                  <a:pt x="71" y="147"/>
                </a:moveTo>
                <a:cubicBezTo>
                  <a:pt x="71" y="163"/>
                  <a:pt x="71" y="179"/>
                  <a:pt x="86" y="179"/>
                </a:cubicBezTo>
                <a:cubicBezTo>
                  <a:pt x="102" y="179"/>
                  <a:pt x="118" y="163"/>
                  <a:pt x="118" y="147"/>
                </a:cubicBezTo>
                <a:cubicBezTo>
                  <a:pt x="118" y="132"/>
                  <a:pt x="102" y="132"/>
                  <a:pt x="86" y="132"/>
                </a:cubicBezTo>
                <a:cubicBezTo>
                  <a:pt x="71" y="132"/>
                  <a:pt x="71" y="132"/>
                  <a:pt x="71" y="147"/>
                </a:cubicBezTo>
              </a:path>
              <a:path w="142" h="530">
                <a:moveTo>
                  <a:pt x="86" y="116"/>
                </a:moveTo>
                <a:cubicBezTo>
                  <a:pt x="86" y="132"/>
                  <a:pt x="86" y="147"/>
                  <a:pt x="102" y="147"/>
                </a:cubicBezTo>
                <a:cubicBezTo>
                  <a:pt x="118" y="147"/>
                  <a:pt x="134" y="132"/>
                  <a:pt x="134" y="116"/>
                </a:cubicBezTo>
                <a:cubicBezTo>
                  <a:pt x="134" y="101"/>
                  <a:pt x="118" y="101"/>
                  <a:pt x="102" y="101"/>
                </a:cubicBezTo>
                <a:cubicBezTo>
                  <a:pt x="86" y="101"/>
                  <a:pt x="86" y="101"/>
                  <a:pt x="86" y="116"/>
                </a:cubicBezTo>
              </a:path>
              <a:path w="142" h="530">
                <a:moveTo>
                  <a:pt x="86" y="490"/>
                </a:moveTo>
                <a:cubicBezTo>
                  <a:pt x="86" y="506"/>
                  <a:pt x="86" y="522"/>
                  <a:pt x="102" y="522"/>
                </a:cubicBezTo>
                <a:cubicBezTo>
                  <a:pt x="118" y="522"/>
                  <a:pt x="134" y="506"/>
                  <a:pt x="134" y="490"/>
                </a:cubicBezTo>
                <a:cubicBezTo>
                  <a:pt x="134" y="475"/>
                  <a:pt x="118" y="475"/>
                  <a:pt x="102" y="475"/>
                </a:cubicBezTo>
                <a:cubicBezTo>
                  <a:pt x="86" y="475"/>
                  <a:pt x="86" y="475"/>
                  <a:pt x="86" y="490"/>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pic>
        <p:nvPicPr>
          <p:cNvPr id="1017" name="picture 1017"/>
          <p:cNvPicPr>
            <a:picLocks noChangeAspect="1"/>
          </p:cNvPicPr>
          <p:nvPr/>
        </p:nvPicPr>
        <p:blipFill>
          <a:blip r:embed="rId9"/>
          <a:stretch>
            <a:fillRect/>
          </a:stretch>
        </p:blipFill>
        <p:spPr>
          <a:xfrm rot="21600000">
            <a:off x="1281614" y="3052490"/>
            <a:ext cx="112842" cy="33016"/>
          </a:xfrm>
          <a:prstGeom prst="rect">
            <a:avLst/>
          </a:prstGeom>
        </p:spPr>
      </p:pic>
      <p:pic>
        <p:nvPicPr>
          <p:cNvPr id="1018" name="picture 1018"/>
          <p:cNvPicPr>
            <a:picLocks noChangeAspect="1"/>
          </p:cNvPicPr>
          <p:nvPr/>
        </p:nvPicPr>
        <p:blipFill>
          <a:blip r:embed="rId10"/>
          <a:stretch>
            <a:fillRect/>
          </a:stretch>
        </p:blipFill>
        <p:spPr>
          <a:xfrm rot="21600000">
            <a:off x="1390518" y="2859221"/>
            <a:ext cx="112743" cy="226285"/>
          </a:xfrm>
          <a:prstGeom prst="rect">
            <a:avLst/>
          </a:prstGeom>
        </p:spPr>
      </p:pic>
      <p:sp>
        <p:nvSpPr>
          <p:cNvPr id="1019" name="path"/>
          <p:cNvSpPr/>
          <p:nvPr/>
        </p:nvSpPr>
        <p:spPr>
          <a:xfrm>
            <a:off x="6978932" y="2314213"/>
            <a:ext cx="60000" cy="395771"/>
          </a:xfrm>
          <a:custGeom>
            <a:avLst/>
            <a:gdLst/>
            <a:ahLst/>
            <a:cxnLst/>
            <a:rect l="0" t="0" r="0" b="0"/>
            <a:pathLst>
              <a:path w="94" h="623">
                <a:moveTo>
                  <a:pt x="7" y="584"/>
                </a:moveTo>
                <a:cubicBezTo>
                  <a:pt x="7" y="600"/>
                  <a:pt x="7" y="615"/>
                  <a:pt x="23" y="615"/>
                </a:cubicBezTo>
                <a:cubicBezTo>
                  <a:pt x="39" y="615"/>
                  <a:pt x="55" y="600"/>
                  <a:pt x="55" y="584"/>
                </a:cubicBezTo>
                <a:cubicBezTo>
                  <a:pt x="55" y="568"/>
                  <a:pt x="39" y="568"/>
                  <a:pt x="23" y="568"/>
                </a:cubicBezTo>
                <a:cubicBezTo>
                  <a:pt x="7" y="568"/>
                  <a:pt x="7" y="568"/>
                  <a:pt x="7" y="584"/>
                </a:cubicBezTo>
              </a:path>
              <a:path w="94" h="623">
                <a:moveTo>
                  <a:pt x="23" y="101"/>
                </a:moveTo>
                <a:cubicBezTo>
                  <a:pt x="23" y="116"/>
                  <a:pt x="23" y="132"/>
                  <a:pt x="39" y="132"/>
                </a:cubicBezTo>
                <a:cubicBezTo>
                  <a:pt x="55" y="132"/>
                  <a:pt x="70" y="116"/>
                  <a:pt x="70" y="101"/>
                </a:cubicBezTo>
                <a:cubicBezTo>
                  <a:pt x="70" y="85"/>
                  <a:pt x="55" y="85"/>
                  <a:pt x="39" y="85"/>
                </a:cubicBezTo>
                <a:cubicBezTo>
                  <a:pt x="23" y="85"/>
                  <a:pt x="23" y="85"/>
                  <a:pt x="23" y="101"/>
                </a:cubicBezTo>
              </a:path>
              <a:path w="94" h="623">
                <a:moveTo>
                  <a:pt x="39" y="23"/>
                </a:moveTo>
                <a:cubicBezTo>
                  <a:pt x="39" y="38"/>
                  <a:pt x="39" y="54"/>
                  <a:pt x="55" y="54"/>
                </a:cubicBezTo>
                <a:cubicBezTo>
                  <a:pt x="70" y="54"/>
                  <a:pt x="86" y="38"/>
                  <a:pt x="86" y="23"/>
                </a:cubicBezTo>
                <a:cubicBezTo>
                  <a:pt x="86" y="7"/>
                  <a:pt x="70" y="7"/>
                  <a:pt x="55" y="7"/>
                </a:cubicBezTo>
                <a:cubicBezTo>
                  <a:pt x="39" y="7"/>
                  <a:pt x="39" y="7"/>
                  <a:pt x="39"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20" name="path"/>
          <p:cNvSpPr/>
          <p:nvPr/>
        </p:nvSpPr>
        <p:spPr>
          <a:xfrm>
            <a:off x="7019020" y="2244641"/>
            <a:ext cx="69956" cy="296993"/>
          </a:xfrm>
          <a:custGeom>
            <a:avLst/>
            <a:gdLst/>
            <a:ahLst/>
            <a:cxnLst/>
            <a:rect l="0" t="0" r="0" b="0"/>
            <a:pathLst>
              <a:path w="110" h="467">
                <a:moveTo>
                  <a:pt x="7" y="23"/>
                </a:moveTo>
                <a:cubicBezTo>
                  <a:pt x="7" y="39"/>
                  <a:pt x="7" y="54"/>
                  <a:pt x="23" y="54"/>
                </a:cubicBezTo>
                <a:cubicBezTo>
                  <a:pt x="39" y="54"/>
                  <a:pt x="54" y="39"/>
                  <a:pt x="54" y="23"/>
                </a:cubicBezTo>
                <a:cubicBezTo>
                  <a:pt x="54" y="7"/>
                  <a:pt x="39" y="7"/>
                  <a:pt x="23" y="7"/>
                </a:cubicBezTo>
                <a:cubicBezTo>
                  <a:pt x="7" y="7"/>
                  <a:pt x="7" y="7"/>
                  <a:pt x="7" y="23"/>
                </a:cubicBezTo>
              </a:path>
              <a:path w="110" h="467">
                <a:moveTo>
                  <a:pt x="7" y="241"/>
                </a:moveTo>
                <a:cubicBezTo>
                  <a:pt x="7" y="257"/>
                  <a:pt x="7" y="272"/>
                  <a:pt x="23" y="272"/>
                </a:cubicBezTo>
                <a:cubicBezTo>
                  <a:pt x="39" y="272"/>
                  <a:pt x="54" y="257"/>
                  <a:pt x="54" y="241"/>
                </a:cubicBezTo>
                <a:cubicBezTo>
                  <a:pt x="54" y="226"/>
                  <a:pt x="39" y="226"/>
                  <a:pt x="23" y="226"/>
                </a:cubicBezTo>
                <a:cubicBezTo>
                  <a:pt x="7" y="226"/>
                  <a:pt x="7" y="226"/>
                  <a:pt x="7" y="241"/>
                </a:cubicBezTo>
              </a:path>
              <a:path w="110" h="467">
                <a:moveTo>
                  <a:pt x="7" y="272"/>
                </a:moveTo>
                <a:cubicBezTo>
                  <a:pt x="7" y="288"/>
                  <a:pt x="7" y="304"/>
                  <a:pt x="23" y="304"/>
                </a:cubicBezTo>
                <a:cubicBezTo>
                  <a:pt x="39" y="304"/>
                  <a:pt x="54" y="288"/>
                  <a:pt x="54" y="272"/>
                </a:cubicBezTo>
                <a:cubicBezTo>
                  <a:pt x="54" y="257"/>
                  <a:pt x="39" y="257"/>
                  <a:pt x="23" y="257"/>
                </a:cubicBezTo>
                <a:cubicBezTo>
                  <a:pt x="7" y="257"/>
                  <a:pt x="7" y="257"/>
                  <a:pt x="7" y="272"/>
                </a:cubicBezTo>
              </a:path>
              <a:path w="110" h="467">
                <a:moveTo>
                  <a:pt x="7" y="428"/>
                </a:moveTo>
                <a:cubicBezTo>
                  <a:pt x="7" y="444"/>
                  <a:pt x="7" y="459"/>
                  <a:pt x="23" y="459"/>
                </a:cubicBezTo>
                <a:cubicBezTo>
                  <a:pt x="39" y="459"/>
                  <a:pt x="54" y="444"/>
                  <a:pt x="54" y="428"/>
                </a:cubicBezTo>
                <a:cubicBezTo>
                  <a:pt x="54" y="413"/>
                  <a:pt x="39" y="413"/>
                  <a:pt x="23" y="413"/>
                </a:cubicBezTo>
                <a:cubicBezTo>
                  <a:pt x="7" y="413"/>
                  <a:pt x="7" y="413"/>
                  <a:pt x="7" y="428"/>
                </a:cubicBezTo>
              </a:path>
              <a:path w="110" h="467">
                <a:moveTo>
                  <a:pt x="39" y="241"/>
                </a:moveTo>
                <a:cubicBezTo>
                  <a:pt x="39" y="257"/>
                  <a:pt x="39" y="272"/>
                  <a:pt x="54" y="272"/>
                </a:cubicBezTo>
                <a:cubicBezTo>
                  <a:pt x="70" y="272"/>
                  <a:pt x="86" y="257"/>
                  <a:pt x="86" y="241"/>
                </a:cubicBezTo>
                <a:cubicBezTo>
                  <a:pt x="86" y="226"/>
                  <a:pt x="70" y="226"/>
                  <a:pt x="54" y="226"/>
                </a:cubicBezTo>
                <a:cubicBezTo>
                  <a:pt x="39" y="226"/>
                  <a:pt x="39" y="226"/>
                  <a:pt x="39" y="241"/>
                </a:cubicBezTo>
              </a:path>
              <a:path w="110" h="467">
                <a:moveTo>
                  <a:pt x="39" y="148"/>
                </a:moveTo>
                <a:cubicBezTo>
                  <a:pt x="39" y="163"/>
                  <a:pt x="39" y="179"/>
                  <a:pt x="54" y="179"/>
                </a:cubicBezTo>
                <a:cubicBezTo>
                  <a:pt x="70" y="179"/>
                  <a:pt x="86" y="163"/>
                  <a:pt x="86" y="148"/>
                </a:cubicBezTo>
                <a:cubicBezTo>
                  <a:pt x="86" y="132"/>
                  <a:pt x="70" y="132"/>
                  <a:pt x="54" y="132"/>
                </a:cubicBezTo>
                <a:cubicBezTo>
                  <a:pt x="39" y="132"/>
                  <a:pt x="39" y="132"/>
                  <a:pt x="39" y="148"/>
                </a:cubicBezTo>
              </a:path>
              <a:path w="110" h="467">
                <a:moveTo>
                  <a:pt x="54" y="241"/>
                </a:moveTo>
                <a:cubicBezTo>
                  <a:pt x="54" y="257"/>
                  <a:pt x="54" y="272"/>
                  <a:pt x="70" y="272"/>
                </a:cubicBezTo>
                <a:cubicBezTo>
                  <a:pt x="86" y="272"/>
                  <a:pt x="102" y="257"/>
                  <a:pt x="102" y="241"/>
                </a:cubicBezTo>
                <a:cubicBezTo>
                  <a:pt x="102" y="226"/>
                  <a:pt x="86" y="226"/>
                  <a:pt x="70" y="226"/>
                </a:cubicBezTo>
                <a:cubicBezTo>
                  <a:pt x="54" y="226"/>
                  <a:pt x="54" y="226"/>
                  <a:pt x="54" y="241"/>
                </a:cubicBezTo>
              </a:path>
              <a:path w="110" h="467">
                <a:moveTo>
                  <a:pt x="54" y="132"/>
                </a:moveTo>
                <a:cubicBezTo>
                  <a:pt x="54" y="148"/>
                  <a:pt x="54" y="163"/>
                  <a:pt x="70" y="163"/>
                </a:cubicBezTo>
                <a:cubicBezTo>
                  <a:pt x="86" y="163"/>
                  <a:pt x="102" y="148"/>
                  <a:pt x="102" y="132"/>
                </a:cubicBezTo>
                <a:cubicBezTo>
                  <a:pt x="102" y="117"/>
                  <a:pt x="86" y="117"/>
                  <a:pt x="70" y="117"/>
                </a:cubicBezTo>
                <a:cubicBezTo>
                  <a:pt x="54" y="117"/>
                  <a:pt x="54" y="117"/>
                  <a:pt x="54" y="132"/>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21" name="path"/>
          <p:cNvSpPr/>
          <p:nvPr/>
        </p:nvSpPr>
        <p:spPr>
          <a:xfrm>
            <a:off x="5797774" y="2284349"/>
            <a:ext cx="79978" cy="227749"/>
          </a:xfrm>
          <a:custGeom>
            <a:avLst/>
            <a:gdLst/>
            <a:ahLst/>
            <a:cxnLst/>
            <a:rect l="0" t="0" r="0" b="0"/>
            <a:pathLst>
              <a:path w="125" h="358">
                <a:moveTo>
                  <a:pt x="7" y="23"/>
                </a:moveTo>
                <a:cubicBezTo>
                  <a:pt x="7" y="38"/>
                  <a:pt x="7" y="54"/>
                  <a:pt x="23" y="54"/>
                </a:cubicBezTo>
                <a:cubicBezTo>
                  <a:pt x="39" y="54"/>
                  <a:pt x="54" y="38"/>
                  <a:pt x="54" y="23"/>
                </a:cubicBezTo>
                <a:cubicBezTo>
                  <a:pt x="54" y="7"/>
                  <a:pt x="39" y="7"/>
                  <a:pt x="23" y="7"/>
                </a:cubicBezTo>
                <a:cubicBezTo>
                  <a:pt x="7" y="7"/>
                  <a:pt x="7" y="7"/>
                  <a:pt x="7" y="23"/>
                </a:cubicBezTo>
              </a:path>
              <a:path w="125" h="358">
                <a:moveTo>
                  <a:pt x="71" y="70"/>
                </a:moveTo>
                <a:cubicBezTo>
                  <a:pt x="71" y="85"/>
                  <a:pt x="71" y="101"/>
                  <a:pt x="86" y="101"/>
                </a:cubicBezTo>
                <a:cubicBezTo>
                  <a:pt x="102" y="101"/>
                  <a:pt x="118" y="85"/>
                  <a:pt x="118" y="70"/>
                </a:cubicBezTo>
                <a:cubicBezTo>
                  <a:pt x="118" y="54"/>
                  <a:pt x="102" y="54"/>
                  <a:pt x="86" y="54"/>
                </a:cubicBezTo>
                <a:cubicBezTo>
                  <a:pt x="71" y="54"/>
                  <a:pt x="71" y="54"/>
                  <a:pt x="71" y="70"/>
                </a:cubicBezTo>
              </a:path>
              <a:path w="125" h="358">
                <a:moveTo>
                  <a:pt x="71" y="319"/>
                </a:moveTo>
                <a:cubicBezTo>
                  <a:pt x="71" y="335"/>
                  <a:pt x="71" y="350"/>
                  <a:pt x="86" y="350"/>
                </a:cubicBezTo>
                <a:cubicBezTo>
                  <a:pt x="102" y="350"/>
                  <a:pt x="118" y="335"/>
                  <a:pt x="118" y="319"/>
                </a:cubicBezTo>
                <a:cubicBezTo>
                  <a:pt x="118" y="303"/>
                  <a:pt x="102" y="303"/>
                  <a:pt x="86" y="303"/>
                </a:cubicBezTo>
                <a:cubicBezTo>
                  <a:pt x="71" y="303"/>
                  <a:pt x="71" y="303"/>
                  <a:pt x="71" y="319"/>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pic>
        <p:nvPicPr>
          <p:cNvPr id="1022" name="picture 1022"/>
          <p:cNvPicPr>
            <a:picLocks noChangeAspect="1"/>
          </p:cNvPicPr>
          <p:nvPr/>
        </p:nvPicPr>
        <p:blipFill>
          <a:blip r:embed="rId11"/>
          <a:stretch>
            <a:fillRect/>
          </a:stretch>
        </p:blipFill>
        <p:spPr>
          <a:xfrm rot="21600000">
            <a:off x="1662761" y="2928802"/>
            <a:ext cx="112743" cy="156704"/>
          </a:xfrm>
          <a:prstGeom prst="rect">
            <a:avLst/>
          </a:prstGeom>
        </p:spPr>
      </p:pic>
      <p:sp>
        <p:nvSpPr>
          <p:cNvPr id="1023" name="textbox 1023"/>
          <p:cNvSpPr/>
          <p:nvPr/>
        </p:nvSpPr>
        <p:spPr>
          <a:xfrm>
            <a:off x="8818435" y="4032021"/>
            <a:ext cx="114935" cy="262890"/>
          </a:xfrm>
          <a:prstGeom prst="rect">
            <a:avLst/>
          </a:prstGeom>
        </p:spPr>
        <p:txBody>
          <a:bodyPr vert="eaVert" wrap="square" lIns="0" tIns="0" rIns="0" bIns="0"/>
          <a:lstStyle/>
          <a:p>
            <a:pPr algn="l" rtl="0" eaLnBrk="0">
              <a:lnSpc>
                <a:spcPct val="85000"/>
              </a:lnSpc>
            </a:pPr>
            <a:endParaRPr lang="en-US" altLang="en-US" sz="100" dirty="0"/>
          </a:p>
          <a:p>
            <a:pPr marL="12700" algn="l" rtl="0" eaLnBrk="0">
              <a:lnSpc>
                <a:spcPct val="79000"/>
              </a:lnSpc>
            </a:pPr>
            <a:endParaRPr sz="600" spc="-10" dirty="0">
              <a:solidFill>
                <a:srgbClr val="808080">
                  <a:alpha val="100000"/>
                </a:srgbClr>
              </a:solidFill>
              <a:latin typeface="Arial" panose="020B0604020202020204"/>
              <a:ea typeface="Arial" panose="020B0604020202020204"/>
              <a:cs typeface="Arial" panose="020B0604020202020204"/>
            </a:endParaRPr>
          </a:p>
        </p:txBody>
      </p:sp>
      <p:pic>
        <p:nvPicPr>
          <p:cNvPr id="1024" name="picture 1024"/>
          <p:cNvPicPr>
            <a:picLocks noChangeAspect="1"/>
          </p:cNvPicPr>
          <p:nvPr/>
        </p:nvPicPr>
        <p:blipFill>
          <a:blip r:embed="rId12"/>
          <a:stretch>
            <a:fillRect/>
          </a:stretch>
        </p:blipFill>
        <p:spPr>
          <a:xfrm rot="21600000">
            <a:off x="5612595" y="1744524"/>
            <a:ext cx="125111" cy="133892"/>
          </a:xfrm>
          <a:prstGeom prst="rect">
            <a:avLst/>
          </a:prstGeom>
        </p:spPr>
      </p:pic>
      <p:sp>
        <p:nvSpPr>
          <p:cNvPr id="1025" name="textbox 1025"/>
          <p:cNvSpPr/>
          <p:nvPr/>
        </p:nvSpPr>
        <p:spPr>
          <a:xfrm>
            <a:off x="7423404" y="5544311"/>
            <a:ext cx="102235" cy="180339"/>
          </a:xfrm>
          <a:prstGeom prst="rect">
            <a:avLst/>
          </a:prstGeom>
          <a:solidFill>
            <a:srgbClr val="0065BD"/>
          </a:solidFill>
        </p:spPr>
        <p:txBody>
          <a:bodyPr vert="horz" wrap="square" lIns="0" tIns="0" rIns="0" bIns="0"/>
          <a:lstStyle/>
          <a:p>
            <a:pPr algn="l" rtl="0" eaLnBrk="0">
              <a:lnSpc>
                <a:spcPct val="114000"/>
              </a:lnSpc>
            </a:pPr>
            <a:endParaRPr lang="en-US" altLang="en-US" sz="200" dirty="0">
              <a:latin typeface="微软雅黑" panose="020B0503020204020204" charset="-122"/>
              <a:ea typeface="微软雅黑" panose="020B0503020204020204" charset="-122"/>
            </a:endParaRPr>
          </a:p>
          <a:p>
            <a:pPr marL="22225" algn="l" rtl="0" eaLnBrk="0">
              <a:lnSpc>
                <a:spcPct val="85000"/>
              </a:lnSpc>
              <a:spcBef>
                <a:spcPts val="0"/>
              </a:spcBef>
            </a:pPr>
            <a:r>
              <a:rPr sz="900" b="1" spc="10" dirty="0">
                <a:solidFill>
                  <a:srgbClr val="FFFFFF">
                    <a:alpha val="100000"/>
                  </a:srgbClr>
                </a:solidFill>
                <a:latin typeface="微软雅黑" panose="020B0503020204020204" charset="-122"/>
                <a:ea typeface="微软雅黑" panose="020B0503020204020204" charset="-122"/>
                <a:cs typeface="Arial" panose="020B0604020202020204"/>
              </a:rPr>
              <a:t>7</a:t>
            </a:r>
            <a:endParaRPr lang="en-US" altLang="en-US" sz="900" dirty="0">
              <a:latin typeface="微软雅黑" panose="020B0503020204020204" charset="-122"/>
              <a:ea typeface="微软雅黑" panose="020B0503020204020204" charset="-122"/>
            </a:endParaRPr>
          </a:p>
        </p:txBody>
      </p:sp>
      <p:sp>
        <p:nvSpPr>
          <p:cNvPr id="1026" name="path"/>
          <p:cNvSpPr/>
          <p:nvPr/>
        </p:nvSpPr>
        <p:spPr>
          <a:xfrm>
            <a:off x="7139154" y="2294195"/>
            <a:ext cx="49779" cy="306838"/>
          </a:xfrm>
          <a:custGeom>
            <a:avLst/>
            <a:gdLst/>
            <a:ahLst/>
            <a:cxnLst/>
            <a:rect l="0" t="0" r="0" b="0"/>
            <a:pathLst>
              <a:path w="78" h="483">
                <a:moveTo>
                  <a:pt x="7" y="23"/>
                </a:moveTo>
                <a:cubicBezTo>
                  <a:pt x="7" y="39"/>
                  <a:pt x="7" y="54"/>
                  <a:pt x="23" y="54"/>
                </a:cubicBezTo>
                <a:cubicBezTo>
                  <a:pt x="39" y="54"/>
                  <a:pt x="54" y="39"/>
                  <a:pt x="54" y="23"/>
                </a:cubicBezTo>
                <a:cubicBezTo>
                  <a:pt x="54" y="7"/>
                  <a:pt x="39" y="7"/>
                  <a:pt x="23" y="7"/>
                </a:cubicBezTo>
                <a:cubicBezTo>
                  <a:pt x="7" y="7"/>
                  <a:pt x="7" y="7"/>
                  <a:pt x="7" y="23"/>
                </a:cubicBezTo>
              </a:path>
              <a:path w="78" h="483">
                <a:moveTo>
                  <a:pt x="7" y="444"/>
                </a:moveTo>
                <a:cubicBezTo>
                  <a:pt x="7" y="459"/>
                  <a:pt x="7" y="475"/>
                  <a:pt x="23" y="475"/>
                </a:cubicBezTo>
                <a:cubicBezTo>
                  <a:pt x="39" y="475"/>
                  <a:pt x="54" y="459"/>
                  <a:pt x="54" y="444"/>
                </a:cubicBezTo>
                <a:cubicBezTo>
                  <a:pt x="54" y="428"/>
                  <a:pt x="39" y="428"/>
                  <a:pt x="23" y="428"/>
                </a:cubicBezTo>
                <a:cubicBezTo>
                  <a:pt x="7" y="428"/>
                  <a:pt x="7" y="428"/>
                  <a:pt x="7" y="444"/>
                </a:cubicBezTo>
              </a:path>
              <a:path w="78" h="483">
                <a:moveTo>
                  <a:pt x="23" y="132"/>
                </a:moveTo>
                <a:cubicBezTo>
                  <a:pt x="23" y="148"/>
                  <a:pt x="23" y="163"/>
                  <a:pt x="39" y="163"/>
                </a:cubicBezTo>
                <a:cubicBezTo>
                  <a:pt x="54" y="163"/>
                  <a:pt x="70" y="148"/>
                  <a:pt x="70" y="132"/>
                </a:cubicBezTo>
                <a:cubicBezTo>
                  <a:pt x="70" y="116"/>
                  <a:pt x="54" y="116"/>
                  <a:pt x="39" y="116"/>
                </a:cubicBezTo>
                <a:cubicBezTo>
                  <a:pt x="23" y="116"/>
                  <a:pt x="23" y="116"/>
                  <a:pt x="23" y="132"/>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27" name="textbox 1027"/>
          <p:cNvSpPr/>
          <p:nvPr/>
        </p:nvSpPr>
        <p:spPr>
          <a:xfrm>
            <a:off x="5699349" y="4785514"/>
            <a:ext cx="167004" cy="148589"/>
          </a:xfrm>
          <a:prstGeom prst="rect">
            <a:avLst/>
          </a:prstGeom>
        </p:spPr>
        <p:txBody>
          <a:bodyPr vert="horz" wrap="square" lIns="0" tIns="0" rIns="0" bIns="0"/>
          <a:lstStyle/>
          <a:p>
            <a:pPr algn="l" rtl="0" eaLnBrk="0">
              <a:lnSpc>
                <a:spcPct val="79000"/>
              </a:lnSpc>
            </a:pPr>
            <a:endParaRPr lang="en-US" altLang="en-US" sz="100" dirty="0">
              <a:latin typeface="微软雅黑" panose="020B0503020204020204" charset="-122"/>
              <a:ea typeface="微软雅黑" panose="020B0503020204020204" charset="-122"/>
            </a:endParaRPr>
          </a:p>
          <a:p>
            <a:pPr marL="12700" algn="l" rtl="0" eaLnBrk="0">
              <a:lnSpc>
                <a:spcPct val="81000"/>
              </a:lnSpc>
            </a:pPr>
            <a:r>
              <a:rPr sz="1000" spc="-10" dirty="0">
                <a:solidFill>
                  <a:srgbClr val="000000">
                    <a:alpha val="100000"/>
                  </a:srgbClr>
                </a:solidFill>
                <a:latin typeface="微软雅黑" panose="020B0503020204020204" charset="-122"/>
                <a:ea typeface="微软雅黑" panose="020B0503020204020204" charset="-122"/>
                <a:cs typeface="Arial" panose="020B0604020202020204"/>
              </a:rPr>
              <a:t>4</a:t>
            </a:r>
            <a:r>
              <a:rPr sz="1000" spc="0" dirty="0">
                <a:solidFill>
                  <a:srgbClr val="000000">
                    <a:alpha val="100000"/>
                  </a:srgbClr>
                </a:solidFill>
                <a:latin typeface="微软雅黑" panose="020B0503020204020204" charset="-122"/>
                <a:ea typeface="微软雅黑" panose="020B0503020204020204" charset="-122"/>
                <a:cs typeface="Arial" panose="020B0604020202020204"/>
              </a:rPr>
              <a:t>0</a:t>
            </a:r>
            <a:endParaRPr lang="en-US" altLang="en-US" sz="1000" dirty="0">
              <a:latin typeface="微软雅黑" panose="020B0503020204020204" charset="-122"/>
              <a:ea typeface="微软雅黑" panose="020B0503020204020204" charset="-122"/>
            </a:endParaRPr>
          </a:p>
        </p:txBody>
      </p:sp>
      <p:sp>
        <p:nvSpPr>
          <p:cNvPr id="1028" name="textbox 1028"/>
          <p:cNvSpPr/>
          <p:nvPr/>
        </p:nvSpPr>
        <p:spPr>
          <a:xfrm>
            <a:off x="6550157" y="5356911"/>
            <a:ext cx="163829" cy="148589"/>
          </a:xfrm>
          <a:prstGeom prst="rect">
            <a:avLst/>
          </a:prstGeom>
        </p:spPr>
        <p:txBody>
          <a:bodyPr vert="horz" wrap="square" lIns="0" tIns="0" rIns="0" bIns="0"/>
          <a:lstStyle/>
          <a:p>
            <a:pPr algn="l" rtl="0" eaLnBrk="0">
              <a:lnSpc>
                <a:spcPct val="79000"/>
              </a:lnSpc>
            </a:pPr>
            <a:endParaRPr lang="en-US" altLang="en-US" sz="100" dirty="0">
              <a:latin typeface="微软雅黑" panose="020B0503020204020204" charset="-122"/>
              <a:ea typeface="微软雅黑" panose="020B0503020204020204" charset="-122"/>
            </a:endParaRPr>
          </a:p>
          <a:p>
            <a:pPr marL="12700" algn="l" rtl="0" eaLnBrk="0">
              <a:lnSpc>
                <a:spcPct val="81000"/>
              </a:lnSpc>
            </a:pPr>
            <a:r>
              <a:rPr sz="1000" b="1" spc="-10" dirty="0">
                <a:solidFill>
                  <a:srgbClr val="FFFFFF">
                    <a:alpha val="100000"/>
                  </a:srgbClr>
                </a:solidFill>
                <a:latin typeface="微软雅黑" panose="020B0503020204020204" charset="-122"/>
                <a:ea typeface="微软雅黑" panose="020B0503020204020204" charset="-122"/>
                <a:cs typeface="Arial" panose="020B0604020202020204"/>
              </a:rPr>
              <a:t>37</a:t>
            </a:r>
            <a:endParaRPr lang="en-US" altLang="en-US" sz="1000" dirty="0">
              <a:latin typeface="微软雅黑" panose="020B0503020204020204" charset="-122"/>
              <a:ea typeface="微软雅黑" panose="020B0503020204020204" charset="-122"/>
            </a:endParaRPr>
          </a:p>
        </p:txBody>
      </p:sp>
      <p:sp>
        <p:nvSpPr>
          <p:cNvPr id="1029" name="textbox 1029"/>
          <p:cNvSpPr/>
          <p:nvPr/>
        </p:nvSpPr>
        <p:spPr>
          <a:xfrm>
            <a:off x="7393824" y="4619094"/>
            <a:ext cx="163195" cy="148589"/>
          </a:xfrm>
          <a:prstGeom prst="rect">
            <a:avLst/>
          </a:prstGeom>
        </p:spPr>
        <p:txBody>
          <a:bodyPr vert="horz" wrap="square" lIns="0" tIns="0" rIns="0" bIns="0"/>
          <a:lstStyle/>
          <a:p>
            <a:pPr algn="l" rtl="0" eaLnBrk="0">
              <a:lnSpc>
                <a:spcPct val="79000"/>
              </a:lnSpc>
            </a:pPr>
            <a:endParaRPr lang="en-US" altLang="en-US" sz="100" dirty="0">
              <a:latin typeface="微软雅黑" panose="020B0503020204020204" charset="-122"/>
              <a:ea typeface="微软雅黑" panose="020B0503020204020204" charset="-122"/>
            </a:endParaRPr>
          </a:p>
          <a:p>
            <a:pPr marL="12700" algn="l" rtl="0" eaLnBrk="0">
              <a:lnSpc>
                <a:spcPct val="81000"/>
              </a:lnSpc>
            </a:pPr>
            <a:r>
              <a:rPr sz="1000" spc="-10" dirty="0">
                <a:solidFill>
                  <a:srgbClr val="000000">
                    <a:alpha val="100000"/>
                  </a:srgbClr>
                </a:solidFill>
                <a:latin typeface="微软雅黑" panose="020B0503020204020204" charset="-122"/>
                <a:ea typeface="微软雅黑" panose="020B0503020204020204" charset="-122"/>
                <a:cs typeface="Arial" panose="020B0604020202020204"/>
              </a:rPr>
              <a:t>53</a:t>
            </a:r>
            <a:endParaRPr lang="en-US" altLang="en-US" sz="1000" dirty="0">
              <a:latin typeface="微软雅黑" panose="020B0503020204020204" charset="-122"/>
              <a:ea typeface="微软雅黑" panose="020B0503020204020204" charset="-122"/>
            </a:endParaRPr>
          </a:p>
        </p:txBody>
      </p:sp>
      <p:sp>
        <p:nvSpPr>
          <p:cNvPr id="1030" name="textbox 1030"/>
          <p:cNvSpPr/>
          <p:nvPr/>
        </p:nvSpPr>
        <p:spPr>
          <a:xfrm>
            <a:off x="6549763" y="4163042"/>
            <a:ext cx="164464" cy="143510"/>
          </a:xfrm>
          <a:prstGeom prst="rect">
            <a:avLst/>
          </a:prstGeom>
        </p:spPr>
        <p:txBody>
          <a:bodyPr vert="horz" wrap="square" lIns="0" tIns="0" rIns="0" bIns="0"/>
          <a:lstStyle/>
          <a:p>
            <a:pPr algn="l" rtl="0" eaLnBrk="0">
              <a:lnSpc>
                <a:spcPct val="84000"/>
              </a:lnSpc>
            </a:pPr>
            <a:endParaRPr lang="en-US" altLang="en-US" sz="100" dirty="0">
              <a:latin typeface="微软雅黑" panose="020B0503020204020204" charset="-122"/>
              <a:ea typeface="微软雅黑" panose="020B0503020204020204" charset="-122"/>
            </a:endParaRPr>
          </a:p>
          <a:p>
            <a:pPr marL="12700" algn="l" rtl="0" eaLnBrk="0">
              <a:lnSpc>
                <a:spcPct val="86000"/>
              </a:lnSpc>
            </a:pPr>
            <a:r>
              <a:rPr sz="900" spc="50" dirty="0">
                <a:solidFill>
                  <a:srgbClr val="000000">
                    <a:alpha val="100000"/>
                  </a:srgbClr>
                </a:solidFill>
                <a:latin typeface="微软雅黑" panose="020B0503020204020204" charset="-122"/>
                <a:ea typeface="微软雅黑" panose="020B0503020204020204" charset="-122"/>
                <a:cs typeface="Arial" panose="020B0604020202020204"/>
              </a:rPr>
              <a:t>4</a:t>
            </a:r>
            <a:r>
              <a:rPr sz="900" spc="40" dirty="0">
                <a:solidFill>
                  <a:srgbClr val="000000">
                    <a:alpha val="100000"/>
                  </a:srgbClr>
                </a:solidFill>
                <a:latin typeface="微软雅黑" panose="020B0503020204020204" charset="-122"/>
                <a:ea typeface="微软雅黑" panose="020B0503020204020204" charset="-122"/>
                <a:cs typeface="Arial" panose="020B0604020202020204"/>
              </a:rPr>
              <a:t>5</a:t>
            </a:r>
            <a:endParaRPr lang="en-US" altLang="en-US" sz="900" dirty="0">
              <a:latin typeface="微软雅黑" panose="020B0503020204020204" charset="-122"/>
              <a:ea typeface="微软雅黑" panose="020B0503020204020204" charset="-122"/>
            </a:endParaRPr>
          </a:p>
        </p:txBody>
      </p:sp>
      <p:sp>
        <p:nvSpPr>
          <p:cNvPr id="1031" name="path"/>
          <p:cNvSpPr/>
          <p:nvPr/>
        </p:nvSpPr>
        <p:spPr>
          <a:xfrm>
            <a:off x="6368242" y="2561652"/>
            <a:ext cx="40155" cy="316683"/>
          </a:xfrm>
          <a:custGeom>
            <a:avLst/>
            <a:gdLst/>
            <a:ahLst/>
            <a:cxnLst/>
            <a:rect l="0" t="0" r="0" b="0"/>
            <a:pathLst>
              <a:path w="63" h="498">
                <a:moveTo>
                  <a:pt x="7" y="23"/>
                </a:moveTo>
                <a:cubicBezTo>
                  <a:pt x="7" y="38"/>
                  <a:pt x="7" y="54"/>
                  <a:pt x="23" y="54"/>
                </a:cubicBezTo>
                <a:cubicBezTo>
                  <a:pt x="39" y="54"/>
                  <a:pt x="55" y="38"/>
                  <a:pt x="55" y="23"/>
                </a:cubicBezTo>
                <a:cubicBezTo>
                  <a:pt x="55" y="7"/>
                  <a:pt x="39" y="7"/>
                  <a:pt x="23" y="7"/>
                </a:cubicBezTo>
                <a:cubicBezTo>
                  <a:pt x="7" y="7"/>
                  <a:pt x="7" y="7"/>
                  <a:pt x="7" y="23"/>
                </a:cubicBezTo>
              </a:path>
              <a:path w="63" h="498">
                <a:moveTo>
                  <a:pt x="7" y="459"/>
                </a:moveTo>
                <a:cubicBezTo>
                  <a:pt x="7" y="475"/>
                  <a:pt x="7" y="490"/>
                  <a:pt x="23" y="490"/>
                </a:cubicBezTo>
                <a:cubicBezTo>
                  <a:pt x="39" y="490"/>
                  <a:pt x="55" y="475"/>
                  <a:pt x="55" y="459"/>
                </a:cubicBezTo>
                <a:cubicBezTo>
                  <a:pt x="55" y="444"/>
                  <a:pt x="39" y="444"/>
                  <a:pt x="23" y="444"/>
                </a:cubicBezTo>
                <a:cubicBezTo>
                  <a:pt x="7" y="444"/>
                  <a:pt x="7" y="444"/>
                  <a:pt x="7" y="459"/>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32" name="textbox 1032"/>
          <p:cNvSpPr/>
          <p:nvPr/>
        </p:nvSpPr>
        <p:spPr>
          <a:xfrm>
            <a:off x="5705333" y="4162663"/>
            <a:ext cx="162560" cy="144145"/>
          </a:xfrm>
          <a:prstGeom prst="rect">
            <a:avLst/>
          </a:prstGeom>
        </p:spPr>
        <p:txBody>
          <a:bodyPr vert="horz" wrap="square" lIns="0" tIns="0" rIns="0" bIns="0"/>
          <a:lstStyle/>
          <a:p>
            <a:pPr algn="l" rtl="0" eaLnBrk="0">
              <a:lnSpc>
                <a:spcPct val="87000"/>
              </a:lnSpc>
            </a:pPr>
            <a:endParaRPr lang="en-US" altLang="en-US" sz="100" dirty="0">
              <a:latin typeface="微软雅黑" panose="020B0503020204020204" charset="-122"/>
              <a:ea typeface="微软雅黑" panose="020B0503020204020204" charset="-122"/>
            </a:endParaRPr>
          </a:p>
          <a:p>
            <a:pPr marL="12700" algn="l" rtl="0" eaLnBrk="0">
              <a:lnSpc>
                <a:spcPct val="86000"/>
              </a:lnSpc>
            </a:pPr>
            <a:r>
              <a:rPr sz="900" spc="40" dirty="0">
                <a:solidFill>
                  <a:srgbClr val="000000">
                    <a:alpha val="100000"/>
                  </a:srgbClr>
                </a:solidFill>
                <a:latin typeface="微软雅黑" panose="020B0503020204020204" charset="-122"/>
                <a:ea typeface="微软雅黑" panose="020B0503020204020204" charset="-122"/>
                <a:cs typeface="Arial" panose="020B0604020202020204"/>
              </a:rPr>
              <a:t>2</a:t>
            </a:r>
            <a:r>
              <a:rPr sz="900" spc="30" dirty="0">
                <a:solidFill>
                  <a:srgbClr val="000000">
                    <a:alpha val="100000"/>
                  </a:srgbClr>
                </a:solidFill>
                <a:latin typeface="微软雅黑" panose="020B0503020204020204" charset="-122"/>
                <a:ea typeface="微软雅黑" panose="020B0503020204020204" charset="-122"/>
                <a:cs typeface="Arial" panose="020B0604020202020204"/>
              </a:rPr>
              <a:t>3</a:t>
            </a:r>
            <a:endParaRPr lang="en-US" altLang="en-US" sz="900" dirty="0">
              <a:latin typeface="微软雅黑" panose="020B0503020204020204" charset="-122"/>
              <a:ea typeface="微软雅黑" panose="020B0503020204020204" charset="-122"/>
            </a:endParaRPr>
          </a:p>
        </p:txBody>
      </p:sp>
      <p:sp>
        <p:nvSpPr>
          <p:cNvPr id="1033" name="textbox 1033"/>
          <p:cNvSpPr/>
          <p:nvPr/>
        </p:nvSpPr>
        <p:spPr>
          <a:xfrm>
            <a:off x="7397982" y="4162663"/>
            <a:ext cx="160654" cy="144145"/>
          </a:xfrm>
          <a:prstGeom prst="rect">
            <a:avLst/>
          </a:prstGeom>
        </p:spPr>
        <p:txBody>
          <a:bodyPr vert="horz" wrap="square" lIns="0" tIns="0" rIns="0" bIns="0"/>
          <a:lstStyle/>
          <a:p>
            <a:pPr algn="l" rtl="0" eaLnBrk="0">
              <a:lnSpc>
                <a:spcPct val="87000"/>
              </a:lnSpc>
            </a:pPr>
            <a:endParaRPr lang="en-US" altLang="en-US" sz="100" dirty="0">
              <a:latin typeface="微软雅黑" panose="020B0503020204020204" charset="-122"/>
              <a:ea typeface="微软雅黑" panose="020B0503020204020204" charset="-122"/>
            </a:endParaRPr>
          </a:p>
          <a:p>
            <a:pPr marL="12700" algn="l" rtl="0" eaLnBrk="0">
              <a:lnSpc>
                <a:spcPct val="86000"/>
              </a:lnSpc>
            </a:pPr>
            <a:r>
              <a:rPr sz="900" spc="40" dirty="0">
                <a:solidFill>
                  <a:srgbClr val="000000">
                    <a:alpha val="100000"/>
                  </a:srgbClr>
                </a:solidFill>
                <a:latin typeface="微软雅黑" panose="020B0503020204020204" charset="-122"/>
                <a:ea typeface="微软雅黑" panose="020B0503020204020204" charset="-122"/>
                <a:cs typeface="Arial" panose="020B0604020202020204"/>
              </a:rPr>
              <a:t>3</a:t>
            </a:r>
            <a:r>
              <a:rPr sz="900" spc="20" dirty="0">
                <a:solidFill>
                  <a:srgbClr val="000000">
                    <a:alpha val="100000"/>
                  </a:srgbClr>
                </a:solidFill>
                <a:latin typeface="微软雅黑" panose="020B0503020204020204" charset="-122"/>
                <a:ea typeface="微软雅黑" panose="020B0503020204020204" charset="-122"/>
                <a:cs typeface="Arial" panose="020B0604020202020204"/>
              </a:rPr>
              <a:t>0</a:t>
            </a:r>
            <a:endParaRPr lang="en-US" altLang="en-US" sz="900" dirty="0">
              <a:latin typeface="微软雅黑" panose="020B0503020204020204" charset="-122"/>
              <a:ea typeface="微软雅黑" panose="020B0503020204020204" charset="-122"/>
            </a:endParaRPr>
          </a:p>
        </p:txBody>
      </p:sp>
      <p:sp>
        <p:nvSpPr>
          <p:cNvPr id="1034" name="path"/>
          <p:cNvSpPr/>
          <p:nvPr/>
        </p:nvSpPr>
        <p:spPr>
          <a:xfrm>
            <a:off x="6918799" y="2472390"/>
            <a:ext cx="50176" cy="247767"/>
          </a:xfrm>
          <a:custGeom>
            <a:avLst/>
            <a:gdLst/>
            <a:ahLst/>
            <a:cxnLst/>
            <a:rect l="0" t="0" r="0" b="0"/>
            <a:pathLst>
              <a:path w="79" h="390">
                <a:moveTo>
                  <a:pt x="7" y="350"/>
                </a:moveTo>
                <a:cubicBezTo>
                  <a:pt x="7" y="366"/>
                  <a:pt x="7" y="382"/>
                  <a:pt x="23" y="382"/>
                </a:cubicBezTo>
                <a:cubicBezTo>
                  <a:pt x="39" y="382"/>
                  <a:pt x="55" y="366"/>
                  <a:pt x="55" y="350"/>
                </a:cubicBezTo>
                <a:cubicBezTo>
                  <a:pt x="55" y="335"/>
                  <a:pt x="39" y="335"/>
                  <a:pt x="23" y="335"/>
                </a:cubicBezTo>
                <a:cubicBezTo>
                  <a:pt x="7" y="335"/>
                  <a:pt x="7" y="335"/>
                  <a:pt x="7" y="350"/>
                </a:cubicBezTo>
              </a:path>
              <a:path w="79" h="390">
                <a:moveTo>
                  <a:pt x="23" y="23"/>
                </a:moveTo>
                <a:cubicBezTo>
                  <a:pt x="23" y="39"/>
                  <a:pt x="23" y="54"/>
                  <a:pt x="39" y="54"/>
                </a:cubicBezTo>
                <a:cubicBezTo>
                  <a:pt x="55" y="54"/>
                  <a:pt x="71" y="39"/>
                  <a:pt x="71" y="23"/>
                </a:cubicBezTo>
                <a:cubicBezTo>
                  <a:pt x="71" y="7"/>
                  <a:pt x="55" y="7"/>
                  <a:pt x="39" y="7"/>
                </a:cubicBezTo>
                <a:cubicBezTo>
                  <a:pt x="23" y="7"/>
                  <a:pt x="23" y="7"/>
                  <a:pt x="23" y="23"/>
                </a:cubicBezTo>
              </a:path>
              <a:path w="79" h="390">
                <a:moveTo>
                  <a:pt x="23" y="23"/>
                </a:moveTo>
                <a:cubicBezTo>
                  <a:pt x="23" y="39"/>
                  <a:pt x="23" y="54"/>
                  <a:pt x="39" y="54"/>
                </a:cubicBezTo>
                <a:cubicBezTo>
                  <a:pt x="55" y="54"/>
                  <a:pt x="71" y="39"/>
                  <a:pt x="71" y="23"/>
                </a:cubicBezTo>
                <a:cubicBezTo>
                  <a:pt x="71" y="7"/>
                  <a:pt x="55" y="7"/>
                  <a:pt x="39" y="7"/>
                </a:cubicBezTo>
                <a:cubicBezTo>
                  <a:pt x="23" y="7"/>
                  <a:pt x="23" y="7"/>
                  <a:pt x="23"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35" name="textbox 1035"/>
          <p:cNvSpPr/>
          <p:nvPr/>
        </p:nvSpPr>
        <p:spPr>
          <a:xfrm>
            <a:off x="5711704" y="4390636"/>
            <a:ext cx="154304" cy="148589"/>
          </a:xfrm>
          <a:prstGeom prst="rect">
            <a:avLst/>
          </a:prstGeom>
        </p:spPr>
        <p:txBody>
          <a:bodyPr vert="horz" wrap="square" lIns="0" tIns="0" rIns="0" bIns="0"/>
          <a:lstStyle/>
          <a:p>
            <a:pPr algn="l" rtl="0" eaLnBrk="0">
              <a:lnSpc>
                <a:spcPct val="79000"/>
              </a:lnSpc>
            </a:pPr>
            <a:endParaRPr lang="en-US" altLang="en-US" sz="100" dirty="0">
              <a:latin typeface="微软雅黑" panose="020B0503020204020204" charset="-122"/>
              <a:ea typeface="微软雅黑" panose="020B0503020204020204" charset="-122"/>
            </a:endParaRPr>
          </a:p>
          <a:p>
            <a:pPr marL="12700" algn="l" rtl="0" eaLnBrk="0">
              <a:lnSpc>
                <a:spcPct val="81000"/>
              </a:lnSpc>
            </a:pPr>
            <a:r>
              <a:rPr sz="1000" spc="-30" dirty="0">
                <a:solidFill>
                  <a:srgbClr val="000000">
                    <a:alpha val="100000"/>
                  </a:srgbClr>
                </a:solidFill>
                <a:latin typeface="微软雅黑" panose="020B0503020204020204" charset="-122"/>
                <a:ea typeface="微软雅黑" panose="020B0503020204020204" charset="-122"/>
                <a:cs typeface="Arial" panose="020B0604020202020204"/>
              </a:rPr>
              <a:t>1</a:t>
            </a:r>
            <a:r>
              <a:rPr sz="1000" spc="-20" dirty="0">
                <a:solidFill>
                  <a:srgbClr val="000000">
                    <a:alpha val="100000"/>
                  </a:srgbClr>
                </a:solidFill>
                <a:latin typeface="微软雅黑" panose="020B0503020204020204" charset="-122"/>
                <a:ea typeface="微软雅黑" panose="020B0503020204020204" charset="-122"/>
                <a:cs typeface="Arial" panose="020B0604020202020204"/>
              </a:rPr>
              <a:t>9</a:t>
            </a:r>
            <a:endParaRPr lang="en-US" altLang="en-US" sz="1000" dirty="0">
              <a:latin typeface="微软雅黑" panose="020B0503020204020204" charset="-122"/>
              <a:ea typeface="微软雅黑" panose="020B0503020204020204" charset="-122"/>
            </a:endParaRPr>
          </a:p>
        </p:txBody>
      </p:sp>
      <p:sp>
        <p:nvSpPr>
          <p:cNvPr id="1036" name="path"/>
          <p:cNvSpPr/>
          <p:nvPr/>
        </p:nvSpPr>
        <p:spPr>
          <a:xfrm>
            <a:off x="6848776" y="2254486"/>
            <a:ext cx="50110" cy="188369"/>
          </a:xfrm>
          <a:custGeom>
            <a:avLst/>
            <a:gdLst/>
            <a:ahLst/>
            <a:cxnLst/>
            <a:rect l="0" t="0" r="0" b="0"/>
            <a:pathLst>
              <a:path w="78" h="296">
                <a:moveTo>
                  <a:pt x="7" y="23"/>
                </a:moveTo>
                <a:cubicBezTo>
                  <a:pt x="7" y="39"/>
                  <a:pt x="7" y="54"/>
                  <a:pt x="23" y="54"/>
                </a:cubicBezTo>
                <a:cubicBezTo>
                  <a:pt x="39" y="54"/>
                  <a:pt x="55" y="39"/>
                  <a:pt x="55" y="23"/>
                </a:cubicBezTo>
                <a:cubicBezTo>
                  <a:pt x="55" y="7"/>
                  <a:pt x="39" y="7"/>
                  <a:pt x="23" y="7"/>
                </a:cubicBezTo>
                <a:cubicBezTo>
                  <a:pt x="7" y="7"/>
                  <a:pt x="7" y="7"/>
                  <a:pt x="7" y="23"/>
                </a:cubicBezTo>
              </a:path>
              <a:path w="78" h="296">
                <a:moveTo>
                  <a:pt x="23" y="257"/>
                </a:moveTo>
                <a:cubicBezTo>
                  <a:pt x="23" y="272"/>
                  <a:pt x="23" y="288"/>
                  <a:pt x="39" y="288"/>
                </a:cubicBezTo>
                <a:cubicBezTo>
                  <a:pt x="55" y="288"/>
                  <a:pt x="71" y="272"/>
                  <a:pt x="71" y="257"/>
                </a:cubicBezTo>
                <a:cubicBezTo>
                  <a:pt x="71" y="241"/>
                  <a:pt x="55" y="241"/>
                  <a:pt x="39" y="241"/>
                </a:cubicBezTo>
                <a:cubicBezTo>
                  <a:pt x="23" y="241"/>
                  <a:pt x="23" y="241"/>
                  <a:pt x="23" y="257"/>
                </a:cubicBezTo>
              </a:path>
              <a:path w="78" h="296">
                <a:moveTo>
                  <a:pt x="23" y="226"/>
                </a:moveTo>
                <a:cubicBezTo>
                  <a:pt x="23" y="241"/>
                  <a:pt x="23" y="257"/>
                  <a:pt x="39" y="257"/>
                </a:cubicBezTo>
                <a:cubicBezTo>
                  <a:pt x="55" y="257"/>
                  <a:pt x="71" y="241"/>
                  <a:pt x="71" y="226"/>
                </a:cubicBezTo>
                <a:cubicBezTo>
                  <a:pt x="71" y="210"/>
                  <a:pt x="55" y="210"/>
                  <a:pt x="39" y="210"/>
                </a:cubicBezTo>
                <a:cubicBezTo>
                  <a:pt x="23" y="210"/>
                  <a:pt x="23" y="210"/>
                  <a:pt x="23" y="226"/>
                </a:cubicBezTo>
              </a:path>
              <a:path w="78" h="296">
                <a:moveTo>
                  <a:pt x="23" y="226"/>
                </a:moveTo>
                <a:cubicBezTo>
                  <a:pt x="23" y="241"/>
                  <a:pt x="23" y="257"/>
                  <a:pt x="39" y="257"/>
                </a:cubicBezTo>
                <a:cubicBezTo>
                  <a:pt x="55" y="257"/>
                  <a:pt x="71" y="241"/>
                  <a:pt x="71" y="226"/>
                </a:cubicBezTo>
                <a:cubicBezTo>
                  <a:pt x="71" y="210"/>
                  <a:pt x="55" y="210"/>
                  <a:pt x="39" y="210"/>
                </a:cubicBezTo>
                <a:cubicBezTo>
                  <a:pt x="23" y="210"/>
                  <a:pt x="23" y="210"/>
                  <a:pt x="23" y="226"/>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37" name="path"/>
          <p:cNvSpPr/>
          <p:nvPr/>
        </p:nvSpPr>
        <p:spPr>
          <a:xfrm>
            <a:off x="6868687" y="2284350"/>
            <a:ext cx="50111" cy="227749"/>
          </a:xfrm>
          <a:custGeom>
            <a:avLst/>
            <a:gdLst/>
            <a:ahLst/>
            <a:cxnLst/>
            <a:rect l="0" t="0" r="0" b="0"/>
            <a:pathLst>
              <a:path w="78" h="358">
                <a:moveTo>
                  <a:pt x="7" y="319"/>
                </a:moveTo>
                <a:cubicBezTo>
                  <a:pt x="7" y="335"/>
                  <a:pt x="7" y="350"/>
                  <a:pt x="24" y="350"/>
                </a:cubicBezTo>
                <a:cubicBezTo>
                  <a:pt x="39" y="350"/>
                  <a:pt x="55" y="335"/>
                  <a:pt x="55" y="319"/>
                </a:cubicBezTo>
                <a:cubicBezTo>
                  <a:pt x="55" y="303"/>
                  <a:pt x="39" y="303"/>
                  <a:pt x="24" y="303"/>
                </a:cubicBezTo>
                <a:cubicBezTo>
                  <a:pt x="7" y="303"/>
                  <a:pt x="7" y="303"/>
                  <a:pt x="7" y="319"/>
                </a:cubicBezTo>
              </a:path>
              <a:path w="78" h="358">
                <a:moveTo>
                  <a:pt x="7" y="38"/>
                </a:moveTo>
                <a:cubicBezTo>
                  <a:pt x="7" y="54"/>
                  <a:pt x="7" y="70"/>
                  <a:pt x="24" y="70"/>
                </a:cubicBezTo>
                <a:cubicBezTo>
                  <a:pt x="39" y="70"/>
                  <a:pt x="55" y="54"/>
                  <a:pt x="55" y="38"/>
                </a:cubicBezTo>
                <a:cubicBezTo>
                  <a:pt x="55" y="23"/>
                  <a:pt x="39" y="23"/>
                  <a:pt x="24" y="23"/>
                </a:cubicBezTo>
                <a:cubicBezTo>
                  <a:pt x="7" y="23"/>
                  <a:pt x="7" y="23"/>
                  <a:pt x="7" y="38"/>
                </a:cubicBezTo>
              </a:path>
              <a:path w="78" h="358">
                <a:moveTo>
                  <a:pt x="7" y="194"/>
                </a:moveTo>
                <a:cubicBezTo>
                  <a:pt x="7" y="210"/>
                  <a:pt x="7" y="225"/>
                  <a:pt x="24" y="225"/>
                </a:cubicBezTo>
                <a:cubicBezTo>
                  <a:pt x="39" y="225"/>
                  <a:pt x="55" y="210"/>
                  <a:pt x="55" y="194"/>
                </a:cubicBezTo>
                <a:cubicBezTo>
                  <a:pt x="55" y="179"/>
                  <a:pt x="39" y="179"/>
                  <a:pt x="24" y="179"/>
                </a:cubicBezTo>
                <a:cubicBezTo>
                  <a:pt x="7" y="179"/>
                  <a:pt x="7" y="179"/>
                  <a:pt x="7" y="194"/>
                </a:cubicBezTo>
              </a:path>
              <a:path w="78" h="358">
                <a:moveTo>
                  <a:pt x="24" y="23"/>
                </a:moveTo>
                <a:cubicBezTo>
                  <a:pt x="24" y="38"/>
                  <a:pt x="24" y="54"/>
                  <a:pt x="39" y="54"/>
                </a:cubicBezTo>
                <a:cubicBezTo>
                  <a:pt x="55" y="54"/>
                  <a:pt x="71" y="38"/>
                  <a:pt x="71" y="23"/>
                </a:cubicBezTo>
                <a:cubicBezTo>
                  <a:pt x="71" y="7"/>
                  <a:pt x="55" y="7"/>
                  <a:pt x="39" y="7"/>
                </a:cubicBezTo>
                <a:cubicBezTo>
                  <a:pt x="24" y="7"/>
                  <a:pt x="24" y="7"/>
                  <a:pt x="24" y="23"/>
                </a:cubicBezTo>
              </a:path>
              <a:path w="78" h="358">
                <a:moveTo>
                  <a:pt x="24" y="241"/>
                </a:moveTo>
                <a:cubicBezTo>
                  <a:pt x="24" y="257"/>
                  <a:pt x="24" y="272"/>
                  <a:pt x="39" y="272"/>
                </a:cubicBezTo>
                <a:cubicBezTo>
                  <a:pt x="55" y="272"/>
                  <a:pt x="71" y="257"/>
                  <a:pt x="71" y="241"/>
                </a:cubicBezTo>
                <a:cubicBezTo>
                  <a:pt x="71" y="225"/>
                  <a:pt x="55" y="225"/>
                  <a:pt x="39" y="225"/>
                </a:cubicBezTo>
                <a:cubicBezTo>
                  <a:pt x="24" y="225"/>
                  <a:pt x="24" y="225"/>
                  <a:pt x="24" y="241"/>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38" name="path"/>
          <p:cNvSpPr/>
          <p:nvPr/>
        </p:nvSpPr>
        <p:spPr>
          <a:xfrm>
            <a:off x="7189331" y="2244641"/>
            <a:ext cx="49779" cy="188040"/>
          </a:xfrm>
          <a:custGeom>
            <a:avLst/>
            <a:gdLst/>
            <a:ahLst/>
            <a:cxnLst/>
            <a:rect l="0" t="0" r="0" b="0"/>
            <a:pathLst>
              <a:path w="78" h="296">
                <a:moveTo>
                  <a:pt x="7" y="257"/>
                </a:moveTo>
                <a:cubicBezTo>
                  <a:pt x="7" y="272"/>
                  <a:pt x="7" y="288"/>
                  <a:pt x="23" y="288"/>
                </a:cubicBezTo>
                <a:cubicBezTo>
                  <a:pt x="39" y="288"/>
                  <a:pt x="54" y="272"/>
                  <a:pt x="54" y="257"/>
                </a:cubicBezTo>
                <a:cubicBezTo>
                  <a:pt x="54" y="241"/>
                  <a:pt x="39" y="241"/>
                  <a:pt x="23" y="241"/>
                </a:cubicBezTo>
                <a:cubicBezTo>
                  <a:pt x="7" y="241"/>
                  <a:pt x="7" y="241"/>
                  <a:pt x="7" y="257"/>
                </a:cubicBezTo>
              </a:path>
              <a:path w="78" h="296">
                <a:moveTo>
                  <a:pt x="23" y="23"/>
                </a:moveTo>
                <a:cubicBezTo>
                  <a:pt x="23" y="39"/>
                  <a:pt x="23" y="54"/>
                  <a:pt x="39" y="54"/>
                </a:cubicBezTo>
                <a:cubicBezTo>
                  <a:pt x="54" y="54"/>
                  <a:pt x="70" y="39"/>
                  <a:pt x="70" y="23"/>
                </a:cubicBezTo>
                <a:cubicBezTo>
                  <a:pt x="70" y="7"/>
                  <a:pt x="54" y="7"/>
                  <a:pt x="39" y="7"/>
                </a:cubicBezTo>
                <a:cubicBezTo>
                  <a:pt x="23" y="7"/>
                  <a:pt x="23" y="7"/>
                  <a:pt x="23"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39" name="path"/>
          <p:cNvSpPr/>
          <p:nvPr/>
        </p:nvSpPr>
        <p:spPr>
          <a:xfrm>
            <a:off x="6047997" y="2918044"/>
            <a:ext cx="99890" cy="89261"/>
          </a:xfrm>
          <a:custGeom>
            <a:avLst/>
            <a:gdLst/>
            <a:ahLst/>
            <a:cxnLst/>
            <a:rect l="0" t="0" r="0" b="0"/>
            <a:pathLst>
              <a:path w="157" h="140">
                <a:moveTo>
                  <a:pt x="7" y="101"/>
                </a:moveTo>
                <a:cubicBezTo>
                  <a:pt x="7" y="117"/>
                  <a:pt x="7" y="132"/>
                  <a:pt x="23" y="132"/>
                </a:cubicBezTo>
                <a:cubicBezTo>
                  <a:pt x="39" y="132"/>
                  <a:pt x="54" y="117"/>
                  <a:pt x="54" y="101"/>
                </a:cubicBezTo>
                <a:cubicBezTo>
                  <a:pt x="54" y="85"/>
                  <a:pt x="39" y="85"/>
                  <a:pt x="23" y="85"/>
                </a:cubicBezTo>
                <a:cubicBezTo>
                  <a:pt x="7" y="85"/>
                  <a:pt x="7" y="85"/>
                  <a:pt x="7" y="101"/>
                </a:cubicBezTo>
              </a:path>
              <a:path w="157" h="140">
                <a:moveTo>
                  <a:pt x="102" y="23"/>
                </a:moveTo>
                <a:cubicBezTo>
                  <a:pt x="102" y="39"/>
                  <a:pt x="102" y="54"/>
                  <a:pt x="118" y="54"/>
                </a:cubicBezTo>
                <a:cubicBezTo>
                  <a:pt x="133" y="54"/>
                  <a:pt x="149" y="39"/>
                  <a:pt x="149" y="23"/>
                </a:cubicBezTo>
                <a:cubicBezTo>
                  <a:pt x="149" y="7"/>
                  <a:pt x="133" y="7"/>
                  <a:pt x="118" y="7"/>
                </a:cubicBezTo>
                <a:cubicBezTo>
                  <a:pt x="102" y="7"/>
                  <a:pt x="102" y="7"/>
                  <a:pt x="102"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40" name="path"/>
          <p:cNvSpPr/>
          <p:nvPr/>
        </p:nvSpPr>
        <p:spPr>
          <a:xfrm>
            <a:off x="6878975" y="2462545"/>
            <a:ext cx="49779" cy="178196"/>
          </a:xfrm>
          <a:custGeom>
            <a:avLst/>
            <a:gdLst/>
            <a:ahLst/>
            <a:cxnLst/>
            <a:rect l="0" t="0" r="0" b="0"/>
            <a:pathLst>
              <a:path w="78" h="280">
                <a:moveTo>
                  <a:pt x="7" y="241"/>
                </a:moveTo>
                <a:cubicBezTo>
                  <a:pt x="7" y="257"/>
                  <a:pt x="7" y="272"/>
                  <a:pt x="23" y="272"/>
                </a:cubicBezTo>
                <a:cubicBezTo>
                  <a:pt x="39" y="272"/>
                  <a:pt x="54" y="257"/>
                  <a:pt x="54" y="241"/>
                </a:cubicBezTo>
                <a:cubicBezTo>
                  <a:pt x="54" y="226"/>
                  <a:pt x="39" y="226"/>
                  <a:pt x="23" y="226"/>
                </a:cubicBezTo>
                <a:cubicBezTo>
                  <a:pt x="7" y="226"/>
                  <a:pt x="7" y="226"/>
                  <a:pt x="7" y="241"/>
                </a:cubicBezTo>
              </a:path>
              <a:path w="78" h="280">
                <a:moveTo>
                  <a:pt x="23" y="23"/>
                </a:moveTo>
                <a:cubicBezTo>
                  <a:pt x="23" y="39"/>
                  <a:pt x="23" y="54"/>
                  <a:pt x="39" y="54"/>
                </a:cubicBezTo>
                <a:cubicBezTo>
                  <a:pt x="54" y="54"/>
                  <a:pt x="70" y="39"/>
                  <a:pt x="70" y="23"/>
                </a:cubicBezTo>
                <a:cubicBezTo>
                  <a:pt x="70" y="7"/>
                  <a:pt x="54" y="7"/>
                  <a:pt x="39" y="7"/>
                </a:cubicBezTo>
                <a:cubicBezTo>
                  <a:pt x="23" y="7"/>
                  <a:pt x="23" y="7"/>
                  <a:pt x="23"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41" name="path"/>
          <p:cNvSpPr/>
          <p:nvPr/>
        </p:nvSpPr>
        <p:spPr>
          <a:xfrm>
            <a:off x="5968018" y="1759620"/>
            <a:ext cx="89934" cy="79023"/>
          </a:xfrm>
          <a:custGeom>
            <a:avLst/>
            <a:gdLst/>
            <a:ahLst/>
            <a:cxnLst/>
            <a:rect l="0" t="0" r="0" b="0"/>
            <a:pathLst>
              <a:path w="141" h="124">
                <a:moveTo>
                  <a:pt x="7" y="23"/>
                </a:moveTo>
                <a:cubicBezTo>
                  <a:pt x="7" y="38"/>
                  <a:pt x="7" y="54"/>
                  <a:pt x="23" y="54"/>
                </a:cubicBezTo>
                <a:cubicBezTo>
                  <a:pt x="39" y="54"/>
                  <a:pt x="54" y="38"/>
                  <a:pt x="54" y="23"/>
                </a:cubicBezTo>
                <a:cubicBezTo>
                  <a:pt x="54" y="7"/>
                  <a:pt x="39" y="7"/>
                  <a:pt x="23" y="7"/>
                </a:cubicBezTo>
                <a:cubicBezTo>
                  <a:pt x="7" y="7"/>
                  <a:pt x="7" y="7"/>
                  <a:pt x="7" y="23"/>
                </a:cubicBezTo>
              </a:path>
              <a:path w="141" h="124">
                <a:moveTo>
                  <a:pt x="7" y="85"/>
                </a:moveTo>
                <a:cubicBezTo>
                  <a:pt x="7" y="101"/>
                  <a:pt x="7" y="116"/>
                  <a:pt x="23" y="116"/>
                </a:cubicBezTo>
                <a:cubicBezTo>
                  <a:pt x="39" y="116"/>
                  <a:pt x="54" y="101"/>
                  <a:pt x="54" y="85"/>
                </a:cubicBezTo>
                <a:cubicBezTo>
                  <a:pt x="54" y="69"/>
                  <a:pt x="39" y="69"/>
                  <a:pt x="23" y="69"/>
                </a:cubicBezTo>
                <a:cubicBezTo>
                  <a:pt x="7" y="69"/>
                  <a:pt x="7" y="69"/>
                  <a:pt x="7" y="85"/>
                </a:cubicBezTo>
              </a:path>
              <a:path w="141" h="124">
                <a:moveTo>
                  <a:pt x="86" y="23"/>
                </a:moveTo>
                <a:cubicBezTo>
                  <a:pt x="86" y="38"/>
                  <a:pt x="86" y="54"/>
                  <a:pt x="102" y="54"/>
                </a:cubicBezTo>
                <a:cubicBezTo>
                  <a:pt x="118" y="54"/>
                  <a:pt x="133" y="38"/>
                  <a:pt x="133" y="23"/>
                </a:cubicBezTo>
                <a:cubicBezTo>
                  <a:pt x="133" y="7"/>
                  <a:pt x="118" y="7"/>
                  <a:pt x="102" y="7"/>
                </a:cubicBezTo>
                <a:cubicBezTo>
                  <a:pt x="86" y="7"/>
                  <a:pt x="86" y="7"/>
                  <a:pt x="86"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42" name="rect"/>
          <p:cNvSpPr/>
          <p:nvPr/>
        </p:nvSpPr>
        <p:spPr>
          <a:xfrm>
            <a:off x="3487177" y="1630531"/>
            <a:ext cx="3938" cy="1454975"/>
          </a:xfrm>
          <a:prstGeom prst="rect">
            <a:avLst/>
          </a:prstGeom>
          <a:solidFill>
            <a:srgbClr val="808080">
              <a:alpha val="76862"/>
            </a:srgbClr>
          </a:solidFill>
          <a:ln cap="flat">
            <a:noFill/>
            <a:prstDash val="solid"/>
            <a:miter lim="0"/>
          </a:ln>
        </p:spPr>
        <p:txBody>
          <a:bodyPr rtlCol="0"/>
          <a:lstStyle/>
          <a:p>
            <a:pPr algn="ctr"/>
            <a:endParaRPr lang="zh-CN" altLang="en-US"/>
          </a:p>
        </p:txBody>
      </p:sp>
      <p:sp>
        <p:nvSpPr>
          <p:cNvPr id="1043" name="path"/>
          <p:cNvSpPr/>
          <p:nvPr/>
        </p:nvSpPr>
        <p:spPr>
          <a:xfrm>
            <a:off x="5857840" y="2324058"/>
            <a:ext cx="70022" cy="79088"/>
          </a:xfrm>
          <a:custGeom>
            <a:avLst/>
            <a:gdLst/>
            <a:ahLst/>
            <a:cxnLst/>
            <a:rect l="0" t="0" r="0" b="0"/>
            <a:pathLst>
              <a:path w="110" h="124">
                <a:moveTo>
                  <a:pt x="7" y="23"/>
                </a:moveTo>
                <a:cubicBezTo>
                  <a:pt x="7" y="38"/>
                  <a:pt x="7" y="54"/>
                  <a:pt x="23" y="54"/>
                </a:cubicBezTo>
                <a:cubicBezTo>
                  <a:pt x="39" y="54"/>
                  <a:pt x="54" y="38"/>
                  <a:pt x="54" y="23"/>
                </a:cubicBezTo>
                <a:cubicBezTo>
                  <a:pt x="54" y="7"/>
                  <a:pt x="39" y="7"/>
                  <a:pt x="23" y="7"/>
                </a:cubicBezTo>
                <a:cubicBezTo>
                  <a:pt x="7" y="7"/>
                  <a:pt x="7" y="7"/>
                  <a:pt x="7" y="23"/>
                </a:cubicBezTo>
              </a:path>
              <a:path w="110" h="124">
                <a:moveTo>
                  <a:pt x="54" y="85"/>
                </a:moveTo>
                <a:cubicBezTo>
                  <a:pt x="54" y="101"/>
                  <a:pt x="54" y="116"/>
                  <a:pt x="71" y="116"/>
                </a:cubicBezTo>
                <a:cubicBezTo>
                  <a:pt x="86" y="116"/>
                  <a:pt x="102" y="101"/>
                  <a:pt x="102" y="85"/>
                </a:cubicBezTo>
                <a:cubicBezTo>
                  <a:pt x="102" y="69"/>
                  <a:pt x="86" y="69"/>
                  <a:pt x="71" y="69"/>
                </a:cubicBezTo>
                <a:cubicBezTo>
                  <a:pt x="54" y="69"/>
                  <a:pt x="54" y="69"/>
                  <a:pt x="54" y="85"/>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44" name="path"/>
          <p:cNvSpPr/>
          <p:nvPr/>
        </p:nvSpPr>
        <p:spPr>
          <a:xfrm>
            <a:off x="6898887" y="2284350"/>
            <a:ext cx="39823" cy="138487"/>
          </a:xfrm>
          <a:custGeom>
            <a:avLst/>
            <a:gdLst/>
            <a:ahLst/>
            <a:cxnLst/>
            <a:rect l="0" t="0" r="0" b="0"/>
            <a:pathLst>
              <a:path w="62" h="218">
                <a:moveTo>
                  <a:pt x="7" y="23"/>
                </a:moveTo>
                <a:cubicBezTo>
                  <a:pt x="7" y="38"/>
                  <a:pt x="7" y="54"/>
                  <a:pt x="23" y="54"/>
                </a:cubicBezTo>
                <a:cubicBezTo>
                  <a:pt x="39" y="54"/>
                  <a:pt x="54" y="38"/>
                  <a:pt x="54" y="23"/>
                </a:cubicBezTo>
                <a:cubicBezTo>
                  <a:pt x="54" y="7"/>
                  <a:pt x="39" y="7"/>
                  <a:pt x="23" y="7"/>
                </a:cubicBezTo>
                <a:cubicBezTo>
                  <a:pt x="7" y="7"/>
                  <a:pt x="7" y="7"/>
                  <a:pt x="7" y="23"/>
                </a:cubicBezTo>
              </a:path>
              <a:path w="62" h="218">
                <a:moveTo>
                  <a:pt x="7" y="179"/>
                </a:moveTo>
                <a:cubicBezTo>
                  <a:pt x="7" y="194"/>
                  <a:pt x="7" y="210"/>
                  <a:pt x="23" y="210"/>
                </a:cubicBezTo>
                <a:cubicBezTo>
                  <a:pt x="39" y="210"/>
                  <a:pt x="54" y="194"/>
                  <a:pt x="54" y="179"/>
                </a:cubicBezTo>
                <a:cubicBezTo>
                  <a:pt x="54" y="163"/>
                  <a:pt x="39" y="163"/>
                  <a:pt x="23" y="163"/>
                </a:cubicBezTo>
                <a:cubicBezTo>
                  <a:pt x="7" y="163"/>
                  <a:pt x="7" y="163"/>
                  <a:pt x="7" y="179"/>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45" name="path"/>
          <p:cNvSpPr/>
          <p:nvPr/>
        </p:nvSpPr>
        <p:spPr>
          <a:xfrm>
            <a:off x="7088977" y="2521944"/>
            <a:ext cx="39823" cy="128642"/>
          </a:xfrm>
          <a:custGeom>
            <a:avLst/>
            <a:gdLst/>
            <a:ahLst/>
            <a:cxnLst/>
            <a:rect l="0" t="0" r="0" b="0"/>
            <a:pathLst>
              <a:path w="62" h="202">
                <a:moveTo>
                  <a:pt x="7" y="23"/>
                </a:moveTo>
                <a:cubicBezTo>
                  <a:pt x="7" y="39"/>
                  <a:pt x="7" y="54"/>
                  <a:pt x="23" y="54"/>
                </a:cubicBezTo>
                <a:cubicBezTo>
                  <a:pt x="39" y="54"/>
                  <a:pt x="54" y="39"/>
                  <a:pt x="54" y="23"/>
                </a:cubicBezTo>
                <a:cubicBezTo>
                  <a:pt x="54" y="7"/>
                  <a:pt x="39" y="7"/>
                  <a:pt x="23" y="7"/>
                </a:cubicBezTo>
                <a:cubicBezTo>
                  <a:pt x="7" y="7"/>
                  <a:pt x="7" y="7"/>
                  <a:pt x="7" y="23"/>
                </a:cubicBezTo>
              </a:path>
              <a:path w="62" h="202">
                <a:moveTo>
                  <a:pt x="7" y="163"/>
                </a:moveTo>
                <a:cubicBezTo>
                  <a:pt x="7" y="179"/>
                  <a:pt x="7" y="194"/>
                  <a:pt x="23" y="194"/>
                </a:cubicBezTo>
                <a:cubicBezTo>
                  <a:pt x="39" y="194"/>
                  <a:pt x="54" y="179"/>
                  <a:pt x="54" y="163"/>
                </a:cubicBezTo>
                <a:cubicBezTo>
                  <a:pt x="54" y="148"/>
                  <a:pt x="39" y="148"/>
                  <a:pt x="23" y="148"/>
                </a:cubicBezTo>
                <a:cubicBezTo>
                  <a:pt x="7" y="148"/>
                  <a:pt x="7" y="148"/>
                  <a:pt x="7" y="16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46" name="path"/>
          <p:cNvSpPr/>
          <p:nvPr/>
        </p:nvSpPr>
        <p:spPr>
          <a:xfrm>
            <a:off x="5937819" y="2254486"/>
            <a:ext cx="60066" cy="79416"/>
          </a:xfrm>
          <a:custGeom>
            <a:avLst/>
            <a:gdLst/>
            <a:ahLst/>
            <a:cxnLst/>
            <a:rect l="0" t="0" r="0" b="0"/>
            <a:pathLst>
              <a:path w="94" h="125">
                <a:moveTo>
                  <a:pt x="7" y="85"/>
                </a:moveTo>
                <a:cubicBezTo>
                  <a:pt x="7" y="101"/>
                  <a:pt x="7" y="117"/>
                  <a:pt x="23" y="117"/>
                </a:cubicBezTo>
                <a:cubicBezTo>
                  <a:pt x="39" y="117"/>
                  <a:pt x="55" y="101"/>
                  <a:pt x="55" y="85"/>
                </a:cubicBezTo>
                <a:cubicBezTo>
                  <a:pt x="55" y="70"/>
                  <a:pt x="39" y="70"/>
                  <a:pt x="23" y="70"/>
                </a:cubicBezTo>
                <a:cubicBezTo>
                  <a:pt x="7" y="70"/>
                  <a:pt x="7" y="70"/>
                  <a:pt x="7" y="85"/>
                </a:cubicBezTo>
              </a:path>
              <a:path w="94" h="125">
                <a:moveTo>
                  <a:pt x="7" y="54"/>
                </a:moveTo>
                <a:cubicBezTo>
                  <a:pt x="7" y="70"/>
                  <a:pt x="7" y="85"/>
                  <a:pt x="23" y="85"/>
                </a:cubicBezTo>
                <a:cubicBezTo>
                  <a:pt x="39" y="85"/>
                  <a:pt x="55" y="70"/>
                  <a:pt x="55" y="54"/>
                </a:cubicBezTo>
                <a:cubicBezTo>
                  <a:pt x="55" y="39"/>
                  <a:pt x="39" y="39"/>
                  <a:pt x="23" y="39"/>
                </a:cubicBezTo>
                <a:cubicBezTo>
                  <a:pt x="7" y="39"/>
                  <a:pt x="7" y="39"/>
                  <a:pt x="7" y="54"/>
                </a:cubicBezTo>
              </a:path>
              <a:path w="94" h="125">
                <a:moveTo>
                  <a:pt x="7" y="23"/>
                </a:moveTo>
                <a:cubicBezTo>
                  <a:pt x="7" y="39"/>
                  <a:pt x="7" y="54"/>
                  <a:pt x="23" y="54"/>
                </a:cubicBezTo>
                <a:cubicBezTo>
                  <a:pt x="39" y="54"/>
                  <a:pt x="55" y="39"/>
                  <a:pt x="55" y="23"/>
                </a:cubicBezTo>
                <a:cubicBezTo>
                  <a:pt x="55" y="7"/>
                  <a:pt x="39" y="7"/>
                  <a:pt x="23" y="7"/>
                </a:cubicBezTo>
                <a:cubicBezTo>
                  <a:pt x="7" y="7"/>
                  <a:pt x="7" y="7"/>
                  <a:pt x="7" y="23"/>
                </a:cubicBezTo>
              </a:path>
              <a:path w="94" h="125">
                <a:moveTo>
                  <a:pt x="39" y="54"/>
                </a:moveTo>
                <a:cubicBezTo>
                  <a:pt x="39" y="70"/>
                  <a:pt x="39" y="85"/>
                  <a:pt x="55" y="85"/>
                </a:cubicBezTo>
                <a:cubicBezTo>
                  <a:pt x="71" y="85"/>
                  <a:pt x="86" y="70"/>
                  <a:pt x="86" y="54"/>
                </a:cubicBezTo>
                <a:cubicBezTo>
                  <a:pt x="86" y="39"/>
                  <a:pt x="71" y="39"/>
                  <a:pt x="55" y="39"/>
                </a:cubicBezTo>
                <a:cubicBezTo>
                  <a:pt x="39" y="39"/>
                  <a:pt x="39" y="39"/>
                  <a:pt x="39" y="54"/>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47" name="path"/>
          <p:cNvSpPr/>
          <p:nvPr/>
        </p:nvSpPr>
        <p:spPr>
          <a:xfrm>
            <a:off x="5907951" y="2403147"/>
            <a:ext cx="39823" cy="39708"/>
          </a:xfrm>
          <a:custGeom>
            <a:avLst/>
            <a:gdLst/>
            <a:ahLst/>
            <a:cxnLst/>
            <a:rect l="0" t="0" r="0" b="0"/>
            <a:pathLst>
              <a:path w="62" h="62">
                <a:moveTo>
                  <a:pt x="7" y="23"/>
                </a:moveTo>
                <a:cubicBezTo>
                  <a:pt x="7" y="38"/>
                  <a:pt x="7" y="54"/>
                  <a:pt x="23" y="54"/>
                </a:cubicBezTo>
                <a:cubicBezTo>
                  <a:pt x="39" y="54"/>
                  <a:pt x="54" y="38"/>
                  <a:pt x="54" y="23"/>
                </a:cubicBezTo>
                <a:cubicBezTo>
                  <a:pt x="54" y="7"/>
                  <a:pt x="39" y="7"/>
                  <a:pt x="23"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48" name="path"/>
          <p:cNvSpPr/>
          <p:nvPr/>
        </p:nvSpPr>
        <p:spPr>
          <a:xfrm>
            <a:off x="5907951" y="2422837"/>
            <a:ext cx="60066" cy="69571"/>
          </a:xfrm>
          <a:custGeom>
            <a:avLst/>
            <a:gdLst/>
            <a:ahLst/>
            <a:cxnLst/>
            <a:rect l="0" t="0" r="0" b="0"/>
            <a:pathLst>
              <a:path w="94" h="109">
                <a:moveTo>
                  <a:pt x="7" y="70"/>
                </a:moveTo>
                <a:cubicBezTo>
                  <a:pt x="7" y="85"/>
                  <a:pt x="7" y="101"/>
                  <a:pt x="23" y="101"/>
                </a:cubicBezTo>
                <a:cubicBezTo>
                  <a:pt x="39" y="101"/>
                  <a:pt x="54" y="85"/>
                  <a:pt x="54" y="70"/>
                </a:cubicBezTo>
                <a:cubicBezTo>
                  <a:pt x="54" y="54"/>
                  <a:pt x="39" y="54"/>
                  <a:pt x="23" y="54"/>
                </a:cubicBezTo>
                <a:cubicBezTo>
                  <a:pt x="7" y="54"/>
                  <a:pt x="7" y="54"/>
                  <a:pt x="7" y="70"/>
                </a:cubicBezTo>
              </a:path>
              <a:path w="94" h="109">
                <a:moveTo>
                  <a:pt x="39" y="23"/>
                </a:moveTo>
                <a:cubicBezTo>
                  <a:pt x="39" y="39"/>
                  <a:pt x="39" y="54"/>
                  <a:pt x="54" y="54"/>
                </a:cubicBezTo>
                <a:cubicBezTo>
                  <a:pt x="70" y="54"/>
                  <a:pt x="86" y="39"/>
                  <a:pt x="86" y="23"/>
                </a:cubicBezTo>
                <a:cubicBezTo>
                  <a:pt x="86" y="7"/>
                  <a:pt x="70" y="7"/>
                  <a:pt x="54" y="7"/>
                </a:cubicBezTo>
                <a:cubicBezTo>
                  <a:pt x="39" y="7"/>
                  <a:pt x="39" y="7"/>
                  <a:pt x="39"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49" name="rect"/>
          <p:cNvSpPr/>
          <p:nvPr/>
        </p:nvSpPr>
        <p:spPr>
          <a:xfrm>
            <a:off x="5757619" y="2927889"/>
            <a:ext cx="40155" cy="69571"/>
          </a:xfrm>
          <a:prstGeom prst="rect">
            <a:avLst/>
          </a:prstGeom>
          <a:solidFill>
            <a:srgbClr val="606060">
              <a:alpha val="100000"/>
            </a:srgbClr>
          </a:solidFill>
          <a:ln cap="flat">
            <a:noFill/>
            <a:prstDash val="solid"/>
            <a:miter lim="0"/>
          </a:ln>
        </p:spPr>
        <p:txBody>
          <a:bodyPr rtlCol="0"/>
          <a:lstStyle/>
          <a:p>
            <a:pPr algn="ctr"/>
            <a:endParaRPr lang="zh-CN" altLang="en-US"/>
          </a:p>
        </p:txBody>
      </p:sp>
      <p:sp>
        <p:nvSpPr>
          <p:cNvPr id="1050" name="rect"/>
          <p:cNvSpPr/>
          <p:nvPr/>
        </p:nvSpPr>
        <p:spPr>
          <a:xfrm>
            <a:off x="5757619" y="2680449"/>
            <a:ext cx="40155" cy="59398"/>
          </a:xfrm>
          <a:prstGeom prst="rect">
            <a:avLst/>
          </a:prstGeom>
          <a:solidFill>
            <a:srgbClr val="606060">
              <a:alpha val="96078"/>
            </a:srgbClr>
          </a:solidFill>
          <a:ln cap="flat">
            <a:noFill/>
            <a:prstDash val="solid"/>
            <a:miter lim="0"/>
          </a:ln>
        </p:spPr>
        <p:txBody>
          <a:bodyPr rtlCol="0"/>
          <a:lstStyle/>
          <a:p>
            <a:pPr algn="ctr"/>
            <a:endParaRPr lang="zh-CN" altLang="en-US"/>
          </a:p>
        </p:txBody>
      </p:sp>
      <p:sp>
        <p:nvSpPr>
          <p:cNvPr id="1051" name="path"/>
          <p:cNvSpPr/>
          <p:nvPr/>
        </p:nvSpPr>
        <p:spPr>
          <a:xfrm>
            <a:off x="6118019" y="2630896"/>
            <a:ext cx="40155" cy="39708"/>
          </a:xfrm>
          <a:custGeom>
            <a:avLst/>
            <a:gdLst/>
            <a:ahLst/>
            <a:cxnLst/>
            <a:rect l="0" t="0" r="0" b="0"/>
            <a:pathLst>
              <a:path w="63" h="62">
                <a:moveTo>
                  <a:pt x="7" y="23"/>
                </a:moveTo>
                <a:cubicBezTo>
                  <a:pt x="7" y="39"/>
                  <a:pt x="7" y="54"/>
                  <a:pt x="23" y="54"/>
                </a:cubicBezTo>
                <a:cubicBezTo>
                  <a:pt x="39" y="54"/>
                  <a:pt x="55" y="39"/>
                  <a:pt x="55" y="23"/>
                </a:cubicBezTo>
                <a:cubicBezTo>
                  <a:pt x="55" y="7"/>
                  <a:pt x="39" y="7"/>
                  <a:pt x="23"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52" name="path"/>
          <p:cNvSpPr/>
          <p:nvPr/>
        </p:nvSpPr>
        <p:spPr>
          <a:xfrm>
            <a:off x="6118019" y="2640741"/>
            <a:ext cx="40155" cy="39708"/>
          </a:xfrm>
          <a:custGeom>
            <a:avLst/>
            <a:gdLst/>
            <a:ahLst/>
            <a:cxnLst/>
            <a:rect l="0" t="0" r="0" b="0"/>
            <a:pathLst>
              <a:path w="63" h="62">
                <a:moveTo>
                  <a:pt x="7" y="23"/>
                </a:moveTo>
                <a:cubicBezTo>
                  <a:pt x="7" y="39"/>
                  <a:pt x="7" y="54"/>
                  <a:pt x="23" y="54"/>
                </a:cubicBezTo>
                <a:cubicBezTo>
                  <a:pt x="39" y="54"/>
                  <a:pt x="55" y="39"/>
                  <a:pt x="55" y="23"/>
                </a:cubicBezTo>
                <a:cubicBezTo>
                  <a:pt x="55" y="7"/>
                  <a:pt x="39" y="7"/>
                  <a:pt x="23"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53" name="path"/>
          <p:cNvSpPr/>
          <p:nvPr/>
        </p:nvSpPr>
        <p:spPr>
          <a:xfrm>
            <a:off x="5697552" y="2363438"/>
            <a:ext cx="40155" cy="39708"/>
          </a:xfrm>
          <a:custGeom>
            <a:avLst/>
            <a:gdLst/>
            <a:ahLst/>
            <a:cxnLst/>
            <a:rect l="0" t="0" r="0" b="0"/>
            <a:pathLst>
              <a:path w="63" h="62">
                <a:moveTo>
                  <a:pt x="7" y="23"/>
                </a:moveTo>
                <a:cubicBezTo>
                  <a:pt x="7" y="39"/>
                  <a:pt x="7" y="54"/>
                  <a:pt x="23" y="54"/>
                </a:cubicBezTo>
                <a:cubicBezTo>
                  <a:pt x="39" y="54"/>
                  <a:pt x="55" y="39"/>
                  <a:pt x="55" y="23"/>
                </a:cubicBezTo>
                <a:cubicBezTo>
                  <a:pt x="55" y="7"/>
                  <a:pt x="39" y="7"/>
                  <a:pt x="23"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54" name="rect"/>
          <p:cNvSpPr/>
          <p:nvPr/>
        </p:nvSpPr>
        <p:spPr>
          <a:xfrm>
            <a:off x="6688487" y="1799000"/>
            <a:ext cx="40154" cy="39642"/>
          </a:xfrm>
          <a:prstGeom prst="rect">
            <a:avLst/>
          </a:prstGeom>
          <a:solidFill>
            <a:srgbClr val="606060">
              <a:alpha val="98823"/>
            </a:srgbClr>
          </a:solidFill>
          <a:ln cap="flat">
            <a:noFill/>
            <a:prstDash val="solid"/>
            <a:miter lim="0"/>
          </a:ln>
        </p:spPr>
        <p:txBody>
          <a:bodyPr rtlCol="0"/>
          <a:lstStyle/>
          <a:p>
            <a:pPr algn="ctr"/>
            <a:endParaRPr lang="zh-CN" altLang="en-US"/>
          </a:p>
        </p:txBody>
      </p:sp>
      <p:sp>
        <p:nvSpPr>
          <p:cNvPr id="1055" name="path"/>
          <p:cNvSpPr/>
          <p:nvPr/>
        </p:nvSpPr>
        <p:spPr>
          <a:xfrm>
            <a:off x="6908843" y="2333903"/>
            <a:ext cx="40221" cy="39380"/>
          </a:xfrm>
          <a:custGeom>
            <a:avLst/>
            <a:gdLst/>
            <a:ahLst/>
            <a:cxnLst/>
            <a:rect l="0" t="0" r="0" b="0"/>
            <a:pathLst>
              <a:path w="63" h="62">
                <a:moveTo>
                  <a:pt x="7" y="23"/>
                </a:moveTo>
                <a:cubicBezTo>
                  <a:pt x="7" y="38"/>
                  <a:pt x="7" y="54"/>
                  <a:pt x="23" y="54"/>
                </a:cubicBezTo>
                <a:cubicBezTo>
                  <a:pt x="39" y="54"/>
                  <a:pt x="55" y="38"/>
                  <a:pt x="55" y="23"/>
                </a:cubicBezTo>
                <a:cubicBezTo>
                  <a:pt x="55" y="7"/>
                  <a:pt x="39" y="7"/>
                  <a:pt x="23"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56" name="rect"/>
          <p:cNvSpPr/>
          <p:nvPr/>
        </p:nvSpPr>
        <p:spPr>
          <a:xfrm>
            <a:off x="6258064" y="1759620"/>
            <a:ext cx="40155" cy="39380"/>
          </a:xfrm>
          <a:prstGeom prst="rect">
            <a:avLst/>
          </a:prstGeom>
          <a:solidFill>
            <a:srgbClr val="606060">
              <a:alpha val="96470"/>
            </a:srgbClr>
          </a:solidFill>
          <a:ln cap="flat">
            <a:noFill/>
            <a:prstDash val="solid"/>
            <a:miter lim="0"/>
          </a:ln>
        </p:spPr>
        <p:txBody>
          <a:bodyPr rtlCol="0"/>
          <a:lstStyle/>
          <a:p>
            <a:pPr algn="ctr"/>
            <a:endParaRPr lang="zh-CN" altLang="en-US"/>
          </a:p>
        </p:txBody>
      </p:sp>
      <p:sp>
        <p:nvSpPr>
          <p:cNvPr id="1057" name="path"/>
          <p:cNvSpPr/>
          <p:nvPr/>
        </p:nvSpPr>
        <p:spPr>
          <a:xfrm>
            <a:off x="6298219" y="2888509"/>
            <a:ext cx="40155" cy="39380"/>
          </a:xfrm>
          <a:custGeom>
            <a:avLst/>
            <a:gdLst/>
            <a:ahLst/>
            <a:cxnLst/>
            <a:rect l="0" t="0" r="0" b="0"/>
            <a:pathLst>
              <a:path w="63" h="62">
                <a:moveTo>
                  <a:pt x="7" y="23"/>
                </a:moveTo>
                <a:cubicBezTo>
                  <a:pt x="7" y="38"/>
                  <a:pt x="7" y="54"/>
                  <a:pt x="23" y="54"/>
                </a:cubicBezTo>
                <a:cubicBezTo>
                  <a:pt x="39" y="54"/>
                  <a:pt x="55" y="38"/>
                  <a:pt x="55" y="23"/>
                </a:cubicBezTo>
                <a:cubicBezTo>
                  <a:pt x="55" y="7"/>
                  <a:pt x="39" y="7"/>
                  <a:pt x="23"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58" name="path"/>
          <p:cNvSpPr/>
          <p:nvPr/>
        </p:nvSpPr>
        <p:spPr>
          <a:xfrm>
            <a:off x="5757619" y="2324058"/>
            <a:ext cx="40154" cy="39380"/>
          </a:xfrm>
          <a:custGeom>
            <a:avLst/>
            <a:gdLst/>
            <a:ahLst/>
            <a:cxnLst/>
            <a:rect l="0" t="0" r="0" b="0"/>
            <a:pathLst>
              <a:path w="63" h="62">
                <a:moveTo>
                  <a:pt x="7" y="23"/>
                </a:moveTo>
                <a:cubicBezTo>
                  <a:pt x="7" y="38"/>
                  <a:pt x="7" y="54"/>
                  <a:pt x="23" y="54"/>
                </a:cubicBezTo>
                <a:cubicBezTo>
                  <a:pt x="39" y="54"/>
                  <a:pt x="55" y="38"/>
                  <a:pt x="55" y="23"/>
                </a:cubicBezTo>
                <a:cubicBezTo>
                  <a:pt x="55" y="7"/>
                  <a:pt x="39" y="7"/>
                  <a:pt x="23"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59" name="path"/>
          <p:cNvSpPr/>
          <p:nvPr/>
        </p:nvSpPr>
        <p:spPr>
          <a:xfrm>
            <a:off x="6428309" y="2324058"/>
            <a:ext cx="40154" cy="39380"/>
          </a:xfrm>
          <a:custGeom>
            <a:avLst/>
            <a:gdLst/>
            <a:ahLst/>
            <a:cxnLst/>
            <a:rect l="0" t="0" r="0" b="0"/>
            <a:pathLst>
              <a:path w="63" h="62">
                <a:moveTo>
                  <a:pt x="7" y="23"/>
                </a:moveTo>
                <a:cubicBezTo>
                  <a:pt x="7" y="38"/>
                  <a:pt x="7" y="54"/>
                  <a:pt x="23" y="54"/>
                </a:cubicBezTo>
                <a:cubicBezTo>
                  <a:pt x="39" y="54"/>
                  <a:pt x="55" y="38"/>
                  <a:pt x="55" y="23"/>
                </a:cubicBezTo>
                <a:cubicBezTo>
                  <a:pt x="55" y="7"/>
                  <a:pt x="39" y="7"/>
                  <a:pt x="23"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60" name="path"/>
          <p:cNvSpPr/>
          <p:nvPr/>
        </p:nvSpPr>
        <p:spPr>
          <a:xfrm>
            <a:off x="5968018" y="2244641"/>
            <a:ext cx="39823" cy="39708"/>
          </a:xfrm>
          <a:custGeom>
            <a:avLst/>
            <a:gdLst/>
            <a:ahLst/>
            <a:cxnLst/>
            <a:rect l="0" t="0" r="0" b="0"/>
            <a:pathLst>
              <a:path w="62" h="62">
                <a:moveTo>
                  <a:pt x="7" y="23"/>
                </a:moveTo>
                <a:cubicBezTo>
                  <a:pt x="7" y="39"/>
                  <a:pt x="7" y="54"/>
                  <a:pt x="23" y="54"/>
                </a:cubicBezTo>
                <a:cubicBezTo>
                  <a:pt x="39" y="54"/>
                  <a:pt x="54" y="39"/>
                  <a:pt x="54" y="23"/>
                </a:cubicBezTo>
                <a:cubicBezTo>
                  <a:pt x="54" y="7"/>
                  <a:pt x="39" y="7"/>
                  <a:pt x="23"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61" name="path"/>
          <p:cNvSpPr/>
          <p:nvPr/>
        </p:nvSpPr>
        <p:spPr>
          <a:xfrm>
            <a:off x="7069065" y="2422837"/>
            <a:ext cx="39823" cy="39708"/>
          </a:xfrm>
          <a:custGeom>
            <a:avLst/>
            <a:gdLst/>
            <a:ahLst/>
            <a:cxnLst/>
            <a:rect l="0" t="0" r="0" b="0"/>
            <a:pathLst>
              <a:path w="62" h="62">
                <a:moveTo>
                  <a:pt x="7" y="23"/>
                </a:moveTo>
                <a:cubicBezTo>
                  <a:pt x="7" y="39"/>
                  <a:pt x="7" y="54"/>
                  <a:pt x="23" y="54"/>
                </a:cubicBezTo>
                <a:cubicBezTo>
                  <a:pt x="39" y="54"/>
                  <a:pt x="54" y="39"/>
                  <a:pt x="54" y="23"/>
                </a:cubicBezTo>
                <a:cubicBezTo>
                  <a:pt x="54" y="7"/>
                  <a:pt x="39" y="7"/>
                  <a:pt x="23"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62" name="path"/>
          <p:cNvSpPr/>
          <p:nvPr/>
        </p:nvSpPr>
        <p:spPr>
          <a:xfrm>
            <a:off x="6127975" y="2274504"/>
            <a:ext cx="40154" cy="39380"/>
          </a:xfrm>
          <a:custGeom>
            <a:avLst/>
            <a:gdLst/>
            <a:ahLst/>
            <a:cxnLst/>
            <a:rect l="0" t="0" r="0" b="0"/>
            <a:pathLst>
              <a:path w="63" h="62">
                <a:moveTo>
                  <a:pt x="7" y="23"/>
                </a:moveTo>
                <a:cubicBezTo>
                  <a:pt x="7" y="38"/>
                  <a:pt x="7" y="54"/>
                  <a:pt x="23" y="54"/>
                </a:cubicBezTo>
                <a:cubicBezTo>
                  <a:pt x="39" y="54"/>
                  <a:pt x="55" y="38"/>
                  <a:pt x="55" y="23"/>
                </a:cubicBezTo>
                <a:cubicBezTo>
                  <a:pt x="55" y="7"/>
                  <a:pt x="39" y="7"/>
                  <a:pt x="23"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63" name="path"/>
          <p:cNvSpPr/>
          <p:nvPr/>
        </p:nvSpPr>
        <p:spPr>
          <a:xfrm>
            <a:off x="6077864" y="2561652"/>
            <a:ext cx="40154" cy="39380"/>
          </a:xfrm>
          <a:custGeom>
            <a:avLst/>
            <a:gdLst/>
            <a:ahLst/>
            <a:cxnLst/>
            <a:rect l="0" t="0" r="0" b="0"/>
            <a:pathLst>
              <a:path w="63" h="62">
                <a:moveTo>
                  <a:pt x="7" y="23"/>
                </a:moveTo>
                <a:cubicBezTo>
                  <a:pt x="7" y="38"/>
                  <a:pt x="7" y="54"/>
                  <a:pt x="24" y="54"/>
                </a:cubicBezTo>
                <a:cubicBezTo>
                  <a:pt x="39" y="54"/>
                  <a:pt x="55" y="38"/>
                  <a:pt x="55" y="23"/>
                </a:cubicBezTo>
                <a:cubicBezTo>
                  <a:pt x="55" y="7"/>
                  <a:pt x="39" y="7"/>
                  <a:pt x="24"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64" name="path"/>
          <p:cNvSpPr/>
          <p:nvPr/>
        </p:nvSpPr>
        <p:spPr>
          <a:xfrm>
            <a:off x="7259287" y="2769712"/>
            <a:ext cx="39823" cy="39380"/>
          </a:xfrm>
          <a:custGeom>
            <a:avLst/>
            <a:gdLst/>
            <a:ahLst/>
            <a:cxnLst/>
            <a:rect l="0" t="0" r="0" b="0"/>
            <a:pathLst>
              <a:path w="62" h="62">
                <a:moveTo>
                  <a:pt x="7" y="23"/>
                </a:moveTo>
                <a:cubicBezTo>
                  <a:pt x="7" y="38"/>
                  <a:pt x="7" y="54"/>
                  <a:pt x="23" y="54"/>
                </a:cubicBezTo>
                <a:cubicBezTo>
                  <a:pt x="39" y="54"/>
                  <a:pt x="54" y="38"/>
                  <a:pt x="54" y="23"/>
                </a:cubicBezTo>
                <a:cubicBezTo>
                  <a:pt x="54" y="7"/>
                  <a:pt x="39" y="7"/>
                  <a:pt x="23"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65" name="rect"/>
          <p:cNvSpPr/>
          <p:nvPr/>
        </p:nvSpPr>
        <p:spPr>
          <a:xfrm>
            <a:off x="5977974" y="2947908"/>
            <a:ext cx="39823" cy="39380"/>
          </a:xfrm>
          <a:prstGeom prst="rect">
            <a:avLst/>
          </a:prstGeom>
          <a:solidFill>
            <a:srgbClr val="606060">
              <a:alpha val="98431"/>
            </a:srgbClr>
          </a:solidFill>
          <a:ln cap="flat">
            <a:noFill/>
            <a:prstDash val="solid"/>
            <a:miter lim="0"/>
          </a:ln>
        </p:spPr>
        <p:txBody>
          <a:bodyPr rtlCol="0"/>
          <a:lstStyle/>
          <a:p>
            <a:pPr algn="ctr"/>
            <a:endParaRPr lang="zh-CN" altLang="en-US"/>
          </a:p>
        </p:txBody>
      </p:sp>
      <p:sp>
        <p:nvSpPr>
          <p:cNvPr id="1066" name="path"/>
          <p:cNvSpPr/>
          <p:nvPr/>
        </p:nvSpPr>
        <p:spPr>
          <a:xfrm>
            <a:off x="7009065" y="2036910"/>
            <a:ext cx="39823" cy="39380"/>
          </a:xfrm>
          <a:custGeom>
            <a:avLst/>
            <a:gdLst/>
            <a:ahLst/>
            <a:cxnLst/>
            <a:rect l="0" t="0" r="0" b="0"/>
            <a:pathLst>
              <a:path w="62" h="62">
                <a:moveTo>
                  <a:pt x="7" y="23"/>
                </a:moveTo>
                <a:cubicBezTo>
                  <a:pt x="7" y="38"/>
                  <a:pt x="7" y="54"/>
                  <a:pt x="23" y="54"/>
                </a:cubicBezTo>
                <a:cubicBezTo>
                  <a:pt x="39" y="54"/>
                  <a:pt x="54" y="38"/>
                  <a:pt x="54" y="23"/>
                </a:cubicBezTo>
                <a:cubicBezTo>
                  <a:pt x="54" y="7"/>
                  <a:pt x="39" y="7"/>
                  <a:pt x="23" y="7"/>
                </a:cubicBezTo>
                <a:cubicBezTo>
                  <a:pt x="7" y="7"/>
                  <a:pt x="7" y="7"/>
                  <a:pt x="7" y="23"/>
                </a:cubicBezTo>
              </a:path>
            </a:pathLst>
          </a:custGeom>
          <a:solidFill>
            <a:srgbClr val="606060">
              <a:alpha val="100000"/>
            </a:srgbClr>
          </a:solidFill>
          <a:ln w="9900" cap="flat">
            <a:solidFill>
              <a:srgbClr val="606060">
                <a:alpha val="100000"/>
              </a:srgbClr>
            </a:solidFill>
            <a:prstDash val="solid"/>
            <a:round/>
          </a:ln>
        </p:spPr>
        <p:txBody>
          <a:bodyPr rtlCol="0"/>
          <a:lstStyle/>
          <a:p>
            <a:pPr algn="ctr"/>
            <a:endParaRPr lang="zh-CN" altLang="en-US"/>
          </a:p>
        </p:txBody>
      </p:sp>
      <p:sp>
        <p:nvSpPr>
          <p:cNvPr id="1067" name="rect"/>
          <p:cNvSpPr/>
          <p:nvPr/>
        </p:nvSpPr>
        <p:spPr>
          <a:xfrm>
            <a:off x="2045918" y="2855771"/>
            <a:ext cx="109297" cy="3942"/>
          </a:xfrm>
          <a:prstGeom prst="rect">
            <a:avLst/>
          </a:prstGeom>
          <a:solidFill>
            <a:srgbClr val="000000">
              <a:alpha val="100000"/>
            </a:srgbClr>
          </a:solidFill>
          <a:ln cap="flat">
            <a:noFill/>
            <a:prstDash val="solid"/>
            <a:miter lim="0"/>
          </a:ln>
        </p:spPr>
        <p:txBody>
          <a:bodyPr rtlCol="0"/>
          <a:lstStyle/>
          <a:p>
            <a:pPr algn="ctr"/>
            <a:endParaRPr lang="zh-CN" altLang="en-US"/>
          </a:p>
        </p:txBody>
      </p:sp>
      <p:sp>
        <p:nvSpPr>
          <p:cNvPr id="1068" name="rect"/>
          <p:cNvSpPr/>
          <p:nvPr/>
        </p:nvSpPr>
        <p:spPr>
          <a:xfrm>
            <a:off x="2917426" y="1779840"/>
            <a:ext cx="108805" cy="3942"/>
          </a:xfrm>
          <a:prstGeom prst="rect">
            <a:avLst/>
          </a:prstGeom>
          <a:solidFill>
            <a:srgbClr val="000000">
              <a:alpha val="100000"/>
            </a:srgbClr>
          </a:solidFill>
          <a:ln cap="flat">
            <a:noFill/>
            <a:prstDash val="solid"/>
            <a:miter lim="0"/>
          </a:ln>
        </p:spPr>
        <p:txBody>
          <a:bodyPr rtlCol="0"/>
          <a:lstStyle/>
          <a:p>
            <a:pPr algn="ctr"/>
            <a:endParaRPr lang="zh-CN" altLang="en-US"/>
          </a:p>
        </p:txBody>
      </p:sp>
      <p:sp>
        <p:nvSpPr>
          <p:cNvPr id="1069" name="rect"/>
          <p:cNvSpPr/>
          <p:nvPr/>
        </p:nvSpPr>
        <p:spPr>
          <a:xfrm>
            <a:off x="2155215" y="2184003"/>
            <a:ext cx="108805" cy="3942"/>
          </a:xfrm>
          <a:prstGeom prst="rect">
            <a:avLst/>
          </a:prstGeom>
          <a:solidFill>
            <a:srgbClr val="000000">
              <a:alpha val="100000"/>
            </a:srgbClr>
          </a:solidFill>
          <a:ln cap="flat">
            <a:noFill/>
            <a:prstDash val="solid"/>
            <a:miter lim="0"/>
          </a:ln>
        </p:spPr>
        <p:txBody>
          <a:bodyPr rtlCol="0"/>
          <a:lstStyle/>
          <a:p>
            <a:pPr algn="ctr"/>
            <a:endParaRPr lang="zh-CN" altLang="en-US"/>
          </a:p>
        </p:txBody>
      </p:sp>
      <p:sp>
        <p:nvSpPr>
          <p:cNvPr id="1070" name="rect"/>
          <p:cNvSpPr/>
          <p:nvPr/>
        </p:nvSpPr>
        <p:spPr>
          <a:xfrm>
            <a:off x="2536362" y="1986315"/>
            <a:ext cx="108805" cy="3942"/>
          </a:xfrm>
          <a:prstGeom prst="rect">
            <a:avLst/>
          </a:prstGeom>
          <a:solidFill>
            <a:srgbClr val="000000">
              <a:alpha val="100000"/>
            </a:srgbClr>
          </a:solidFill>
          <a:ln cap="flat">
            <a:noFill/>
            <a:prstDash val="solid"/>
            <a:miter lim="0"/>
          </a:ln>
        </p:spPr>
        <p:txBody>
          <a:bodyPr rtlCol="0"/>
          <a:lstStyle/>
          <a:p>
            <a:pPr algn="ctr"/>
            <a:endParaRPr lang="zh-CN" altLang="en-US"/>
          </a:p>
        </p:txBody>
      </p:sp>
      <p:sp>
        <p:nvSpPr>
          <p:cNvPr id="1071" name="path"/>
          <p:cNvSpPr/>
          <p:nvPr/>
        </p:nvSpPr>
        <p:spPr>
          <a:xfrm>
            <a:off x="3108040" y="3085958"/>
            <a:ext cx="574" cy="12401"/>
          </a:xfrm>
          <a:custGeom>
            <a:avLst/>
            <a:gdLst/>
            <a:ahLst/>
            <a:cxnLst/>
            <a:rect l="0" t="0" r="0" b="0"/>
            <a:pathLst>
              <a:path h="19">
                <a:moveTo>
                  <a:pt x="0" y="19"/>
                </a:moveTo>
                <a:lnTo>
                  <a:pt x="0" y="0"/>
                </a:lnTo>
              </a:path>
            </a:pathLst>
          </a:custGeom>
          <a:noFill/>
          <a:ln w="574" cap="sq">
            <a:solidFill>
              <a:srgbClr val="000000">
                <a:alpha val="100000"/>
              </a:srgbClr>
            </a:solidFill>
            <a:prstDash val="solid"/>
            <a:round/>
          </a:ln>
        </p:spPr>
        <p:txBody>
          <a:bodyPr rtlCol="0"/>
          <a:lstStyle/>
          <a:p>
            <a:pPr algn="ctr"/>
            <a:endParaRPr lang="zh-CN" altLang="en-US"/>
          </a:p>
        </p:txBody>
      </p:sp>
      <p:sp>
        <p:nvSpPr>
          <p:cNvPr id="1072" name="path"/>
          <p:cNvSpPr/>
          <p:nvPr/>
        </p:nvSpPr>
        <p:spPr>
          <a:xfrm>
            <a:off x="2726853" y="3085958"/>
            <a:ext cx="574" cy="12401"/>
          </a:xfrm>
          <a:custGeom>
            <a:avLst/>
            <a:gdLst/>
            <a:ahLst/>
            <a:cxnLst/>
            <a:rect l="0" t="0" r="0" b="0"/>
            <a:pathLst>
              <a:path h="19">
                <a:moveTo>
                  <a:pt x="0" y="19"/>
                </a:moveTo>
                <a:lnTo>
                  <a:pt x="0" y="0"/>
                </a:lnTo>
              </a:path>
            </a:pathLst>
          </a:custGeom>
          <a:noFill/>
          <a:ln w="574" cap="sq">
            <a:solidFill>
              <a:srgbClr val="000000">
                <a:alpha val="100000"/>
              </a:srgbClr>
            </a:solidFill>
            <a:prstDash val="solid"/>
            <a:round/>
          </a:ln>
        </p:spPr>
        <p:txBody>
          <a:bodyPr rtlCol="0"/>
          <a:lstStyle/>
          <a:p>
            <a:pPr algn="ctr"/>
            <a:endParaRPr lang="zh-CN" altLang="en-US"/>
          </a:p>
        </p:txBody>
      </p:sp>
      <p:sp>
        <p:nvSpPr>
          <p:cNvPr id="1073" name="path"/>
          <p:cNvSpPr/>
          <p:nvPr/>
        </p:nvSpPr>
        <p:spPr>
          <a:xfrm>
            <a:off x="2345706" y="3085958"/>
            <a:ext cx="574" cy="12401"/>
          </a:xfrm>
          <a:custGeom>
            <a:avLst/>
            <a:gdLst/>
            <a:ahLst/>
            <a:cxnLst/>
            <a:rect l="0" t="0" r="0" b="0"/>
            <a:pathLst>
              <a:path h="19">
                <a:moveTo>
                  <a:pt x="0" y="19"/>
                </a:moveTo>
                <a:lnTo>
                  <a:pt x="0" y="0"/>
                </a:lnTo>
              </a:path>
            </a:pathLst>
          </a:custGeom>
          <a:noFill/>
          <a:ln w="574" cap="sq">
            <a:solidFill>
              <a:srgbClr val="000000">
                <a:alpha val="100000"/>
              </a:srgbClr>
            </a:solidFill>
            <a:prstDash val="solid"/>
            <a:round/>
          </a:ln>
        </p:spPr>
        <p:txBody>
          <a:bodyPr rtlCol="0"/>
          <a:lstStyle/>
          <a:p>
            <a:pPr algn="ctr"/>
            <a:endParaRPr lang="zh-CN" altLang="en-US"/>
          </a:p>
        </p:txBody>
      </p:sp>
      <p:sp>
        <p:nvSpPr>
          <p:cNvPr id="1074" name="path"/>
          <p:cNvSpPr/>
          <p:nvPr/>
        </p:nvSpPr>
        <p:spPr>
          <a:xfrm>
            <a:off x="1582962" y="3085958"/>
            <a:ext cx="574" cy="12401"/>
          </a:xfrm>
          <a:custGeom>
            <a:avLst/>
            <a:gdLst/>
            <a:ahLst/>
            <a:cxnLst/>
            <a:rect l="0" t="0" r="0" b="0"/>
            <a:pathLst>
              <a:path h="19">
                <a:moveTo>
                  <a:pt x="0" y="19"/>
                </a:moveTo>
                <a:lnTo>
                  <a:pt x="0" y="0"/>
                </a:lnTo>
              </a:path>
            </a:pathLst>
          </a:custGeom>
          <a:noFill/>
          <a:ln w="574" cap="sq">
            <a:solidFill>
              <a:srgbClr val="000000">
                <a:alpha val="100000"/>
              </a:srgbClr>
            </a:solidFill>
            <a:prstDash val="solid"/>
            <a:round/>
          </a:ln>
        </p:spPr>
        <p:txBody>
          <a:bodyPr rtlCol="0"/>
          <a:lstStyle/>
          <a:p>
            <a:pPr algn="ctr"/>
            <a:endParaRPr lang="zh-CN" altLang="en-US"/>
          </a:p>
        </p:txBody>
      </p:sp>
      <p:sp>
        <p:nvSpPr>
          <p:cNvPr id="1075" name="rect"/>
          <p:cNvSpPr/>
          <p:nvPr/>
        </p:nvSpPr>
        <p:spPr>
          <a:xfrm>
            <a:off x="3489105" y="3085958"/>
            <a:ext cx="574" cy="12401"/>
          </a:xfrm>
          <a:prstGeom prst="rect">
            <a:avLst/>
          </a:prstGeom>
          <a:solidFill>
            <a:srgbClr val="000000">
              <a:alpha val="100000"/>
            </a:srgbClr>
          </a:solidFill>
          <a:ln cap="flat">
            <a:noFill/>
            <a:prstDash val="solid"/>
            <a:miter lim="0"/>
          </a:ln>
        </p:spPr>
        <p:txBody>
          <a:bodyPr rtlCol="0"/>
          <a:lstStyle/>
          <a:p>
            <a:pPr algn="ctr"/>
            <a:endParaRPr lang="zh-CN" altLang="en-US"/>
          </a:p>
        </p:txBody>
      </p:sp>
      <p:sp>
        <p:nvSpPr>
          <p:cNvPr id="1076" name="path"/>
          <p:cNvSpPr/>
          <p:nvPr/>
        </p:nvSpPr>
        <p:spPr>
          <a:xfrm>
            <a:off x="1964150" y="3085958"/>
            <a:ext cx="574" cy="12401"/>
          </a:xfrm>
          <a:custGeom>
            <a:avLst/>
            <a:gdLst/>
            <a:ahLst/>
            <a:cxnLst/>
            <a:rect l="0" t="0" r="0" b="0"/>
            <a:pathLst>
              <a:path h="19">
                <a:moveTo>
                  <a:pt x="0" y="19"/>
                </a:moveTo>
                <a:lnTo>
                  <a:pt x="0" y="0"/>
                </a:lnTo>
              </a:path>
            </a:pathLst>
          </a:custGeom>
          <a:noFill/>
          <a:ln w="574" cap="sq">
            <a:solidFill>
              <a:srgbClr val="000000">
                <a:alpha val="100000"/>
              </a:srgbClr>
            </a:solidFill>
            <a:prstDash val="solid"/>
            <a:round/>
          </a:ln>
        </p:spPr>
        <p:txBody>
          <a:bodyPr rtlCol="0"/>
          <a:lstStyle/>
          <a:p>
            <a:pPr algn="ctr"/>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7" name="path"/>
          <p:cNvSpPr/>
          <p:nvPr/>
        </p:nvSpPr>
        <p:spPr>
          <a:xfrm>
            <a:off x="685800" y="1802892"/>
            <a:ext cx="2976371" cy="1118615"/>
          </a:xfrm>
          <a:custGeom>
            <a:avLst/>
            <a:gdLst/>
            <a:ahLst/>
            <a:cxnLst/>
            <a:rect l="0" t="0" r="0" b="0"/>
            <a:pathLst>
              <a:path w="4687" h="1761">
                <a:moveTo>
                  <a:pt x="4507" y="2"/>
                </a:moveTo>
                <a:lnTo>
                  <a:pt x="4687" y="2"/>
                </a:lnTo>
                <a:moveTo>
                  <a:pt x="3861" y="2"/>
                </a:moveTo>
                <a:lnTo>
                  <a:pt x="4041" y="2"/>
                </a:lnTo>
                <a:moveTo>
                  <a:pt x="3218" y="199"/>
                </a:moveTo>
                <a:lnTo>
                  <a:pt x="3398" y="199"/>
                </a:lnTo>
                <a:moveTo>
                  <a:pt x="2572" y="393"/>
                </a:moveTo>
                <a:lnTo>
                  <a:pt x="2752" y="393"/>
                </a:lnTo>
                <a:moveTo>
                  <a:pt x="1927" y="587"/>
                </a:moveTo>
                <a:lnTo>
                  <a:pt x="2107" y="587"/>
                </a:lnTo>
                <a:moveTo>
                  <a:pt x="1291" y="782"/>
                </a:moveTo>
                <a:lnTo>
                  <a:pt x="1471" y="782"/>
                </a:lnTo>
                <a:moveTo>
                  <a:pt x="645" y="979"/>
                </a:moveTo>
                <a:lnTo>
                  <a:pt x="825" y="979"/>
                </a:lnTo>
                <a:moveTo>
                  <a:pt x="0" y="1759"/>
                </a:moveTo>
                <a:lnTo>
                  <a:pt x="180" y="1759"/>
                </a:lnTo>
              </a:path>
            </a:pathLst>
          </a:custGeom>
          <a:noFill/>
          <a:ln w="3048" cap="flat">
            <a:solidFill>
              <a:srgbClr val="000000">
                <a:alpha val="100000"/>
              </a:srgbClr>
            </a:solidFill>
            <a:prstDash val="dash"/>
            <a:round/>
          </a:ln>
        </p:spPr>
        <p:txBody>
          <a:bodyPr rtlCol="0"/>
          <a:lstStyle/>
          <a:p>
            <a:pPr algn="ctr"/>
            <a:endParaRPr lang="zh-CN" altLang="en-US"/>
          </a:p>
        </p:txBody>
      </p:sp>
      <p:grpSp>
        <p:nvGrpSpPr>
          <p:cNvPr id="198" name="group 198"/>
          <p:cNvGrpSpPr/>
          <p:nvPr/>
        </p:nvGrpSpPr>
        <p:grpSpPr>
          <a:xfrm rot="21600000">
            <a:off x="390429" y="1805090"/>
            <a:ext cx="7658304" cy="2350780"/>
            <a:chOff x="0" y="0"/>
            <a:chExt cx="7658304" cy="2350780"/>
          </a:xfrm>
        </p:grpSpPr>
        <p:sp>
          <p:nvSpPr>
            <p:cNvPr id="1078" name="path"/>
            <p:cNvSpPr/>
            <p:nvPr/>
          </p:nvSpPr>
          <p:spPr>
            <a:xfrm>
              <a:off x="3567398" y="246213"/>
              <a:ext cx="3790188" cy="1298447"/>
            </a:xfrm>
            <a:custGeom>
              <a:avLst/>
              <a:gdLst/>
              <a:ahLst/>
              <a:cxnLst/>
              <a:rect l="0" t="0" r="0" b="0"/>
              <a:pathLst>
                <a:path w="5968" h="2044">
                  <a:moveTo>
                    <a:pt x="5788" y="2042"/>
                  </a:moveTo>
                  <a:lnTo>
                    <a:pt x="5968" y="2042"/>
                  </a:lnTo>
                  <a:moveTo>
                    <a:pt x="5145" y="2042"/>
                  </a:moveTo>
                  <a:lnTo>
                    <a:pt x="5325" y="2042"/>
                  </a:lnTo>
                  <a:moveTo>
                    <a:pt x="4507" y="489"/>
                  </a:moveTo>
                  <a:lnTo>
                    <a:pt x="4687" y="489"/>
                  </a:lnTo>
                  <a:moveTo>
                    <a:pt x="3861" y="489"/>
                  </a:moveTo>
                  <a:lnTo>
                    <a:pt x="4041" y="489"/>
                  </a:lnTo>
                  <a:moveTo>
                    <a:pt x="3218" y="391"/>
                  </a:moveTo>
                  <a:lnTo>
                    <a:pt x="3398" y="391"/>
                  </a:lnTo>
                  <a:moveTo>
                    <a:pt x="2572" y="295"/>
                  </a:moveTo>
                  <a:lnTo>
                    <a:pt x="2752" y="295"/>
                  </a:lnTo>
                  <a:moveTo>
                    <a:pt x="1924" y="196"/>
                  </a:moveTo>
                  <a:lnTo>
                    <a:pt x="2104" y="196"/>
                  </a:lnTo>
                  <a:moveTo>
                    <a:pt x="1281" y="100"/>
                  </a:moveTo>
                  <a:lnTo>
                    <a:pt x="1461" y="100"/>
                  </a:lnTo>
                  <a:moveTo>
                    <a:pt x="645" y="2"/>
                  </a:moveTo>
                  <a:lnTo>
                    <a:pt x="825" y="2"/>
                  </a:lnTo>
                  <a:moveTo>
                    <a:pt x="0" y="2"/>
                  </a:moveTo>
                  <a:lnTo>
                    <a:pt x="180" y="2"/>
                  </a:lnTo>
                </a:path>
              </a:pathLst>
            </a:custGeom>
            <a:noFill/>
            <a:ln w="3048" cap="flat">
              <a:solidFill>
                <a:srgbClr val="000000">
                  <a:alpha val="100000"/>
                </a:srgbClr>
              </a:solidFill>
              <a:prstDash val="dash"/>
              <a:round/>
            </a:ln>
          </p:spPr>
          <p:txBody>
            <a:bodyPr rtlCol="0"/>
            <a:lstStyle/>
            <a:p>
              <a:pPr algn="ctr"/>
              <a:endParaRPr lang="zh-CN" altLang="en-US"/>
            </a:p>
          </p:txBody>
        </p:sp>
        <p:sp>
          <p:nvSpPr>
            <p:cNvPr id="1079" name="path"/>
            <p:cNvSpPr/>
            <p:nvPr/>
          </p:nvSpPr>
          <p:spPr>
            <a:xfrm>
              <a:off x="0" y="0"/>
              <a:ext cx="7658304" cy="2350780"/>
            </a:xfrm>
            <a:custGeom>
              <a:avLst/>
              <a:gdLst/>
              <a:ahLst/>
              <a:cxnLst/>
              <a:rect l="0" t="0" r="0" b="0"/>
              <a:pathLst>
                <a:path w="12060" h="3702">
                  <a:moveTo>
                    <a:pt x="468" y="3702"/>
                  </a:moveTo>
                  <a:lnTo>
                    <a:pt x="468" y="1759"/>
                  </a:lnTo>
                  <a:lnTo>
                    <a:pt x="3" y="1759"/>
                  </a:lnTo>
                  <a:lnTo>
                    <a:pt x="3" y="3702"/>
                  </a:lnTo>
                  <a:close/>
                  <a:moveTo>
                    <a:pt x="648" y="1759"/>
                  </a:moveTo>
                  <a:lnTo>
                    <a:pt x="1114" y="1759"/>
                  </a:lnTo>
                  <a:lnTo>
                    <a:pt x="1114" y="978"/>
                  </a:lnTo>
                  <a:lnTo>
                    <a:pt x="648" y="978"/>
                  </a:lnTo>
                  <a:lnTo>
                    <a:pt x="648" y="1759"/>
                  </a:lnTo>
                  <a:close/>
                  <a:moveTo>
                    <a:pt x="1294" y="978"/>
                  </a:moveTo>
                  <a:lnTo>
                    <a:pt x="1758" y="978"/>
                  </a:lnTo>
                  <a:lnTo>
                    <a:pt x="1758" y="784"/>
                  </a:lnTo>
                  <a:lnTo>
                    <a:pt x="1294" y="784"/>
                  </a:lnTo>
                  <a:lnTo>
                    <a:pt x="1294" y="978"/>
                  </a:lnTo>
                  <a:close/>
                  <a:moveTo>
                    <a:pt x="1939" y="784"/>
                  </a:moveTo>
                  <a:lnTo>
                    <a:pt x="2396" y="784"/>
                  </a:lnTo>
                  <a:lnTo>
                    <a:pt x="2396" y="588"/>
                  </a:lnTo>
                  <a:lnTo>
                    <a:pt x="1939" y="588"/>
                  </a:lnTo>
                  <a:lnTo>
                    <a:pt x="1939" y="784"/>
                  </a:lnTo>
                  <a:close/>
                  <a:moveTo>
                    <a:pt x="2576" y="588"/>
                  </a:moveTo>
                  <a:lnTo>
                    <a:pt x="3041" y="588"/>
                  </a:lnTo>
                  <a:lnTo>
                    <a:pt x="3041" y="393"/>
                  </a:lnTo>
                  <a:lnTo>
                    <a:pt x="2576" y="393"/>
                  </a:lnTo>
                  <a:lnTo>
                    <a:pt x="2576" y="588"/>
                  </a:lnTo>
                  <a:close/>
                  <a:moveTo>
                    <a:pt x="3221" y="393"/>
                  </a:moveTo>
                  <a:lnTo>
                    <a:pt x="3686" y="393"/>
                  </a:lnTo>
                  <a:lnTo>
                    <a:pt x="3686" y="198"/>
                  </a:lnTo>
                  <a:lnTo>
                    <a:pt x="3221" y="198"/>
                  </a:lnTo>
                  <a:lnTo>
                    <a:pt x="3221" y="393"/>
                  </a:lnTo>
                  <a:close/>
                  <a:moveTo>
                    <a:pt x="3866" y="198"/>
                  </a:moveTo>
                  <a:lnTo>
                    <a:pt x="4331" y="198"/>
                  </a:lnTo>
                  <a:lnTo>
                    <a:pt x="4331" y="3"/>
                  </a:lnTo>
                  <a:lnTo>
                    <a:pt x="3866" y="3"/>
                  </a:lnTo>
                  <a:lnTo>
                    <a:pt x="3866" y="198"/>
                  </a:lnTo>
                  <a:close/>
                  <a:moveTo>
                    <a:pt x="4976" y="3702"/>
                  </a:moveTo>
                  <a:lnTo>
                    <a:pt x="4976" y="3"/>
                  </a:lnTo>
                  <a:lnTo>
                    <a:pt x="4511" y="3"/>
                  </a:lnTo>
                  <a:lnTo>
                    <a:pt x="4511" y="3702"/>
                  </a:lnTo>
                  <a:close/>
                  <a:moveTo>
                    <a:pt x="5156" y="393"/>
                  </a:moveTo>
                  <a:lnTo>
                    <a:pt x="5621" y="393"/>
                  </a:lnTo>
                  <a:lnTo>
                    <a:pt x="5621" y="3"/>
                  </a:lnTo>
                  <a:lnTo>
                    <a:pt x="5156" y="3"/>
                  </a:lnTo>
                  <a:lnTo>
                    <a:pt x="5156" y="393"/>
                  </a:lnTo>
                  <a:close/>
                  <a:moveTo>
                    <a:pt x="6266" y="3702"/>
                  </a:moveTo>
                  <a:lnTo>
                    <a:pt x="6266" y="393"/>
                  </a:lnTo>
                  <a:lnTo>
                    <a:pt x="5801" y="393"/>
                  </a:lnTo>
                  <a:lnTo>
                    <a:pt x="5801" y="3702"/>
                  </a:lnTo>
                  <a:close/>
                  <a:moveTo>
                    <a:pt x="6446" y="491"/>
                  </a:moveTo>
                  <a:lnTo>
                    <a:pt x="6903" y="491"/>
                  </a:lnTo>
                  <a:lnTo>
                    <a:pt x="6903" y="393"/>
                  </a:lnTo>
                  <a:lnTo>
                    <a:pt x="6446" y="393"/>
                  </a:lnTo>
                  <a:lnTo>
                    <a:pt x="6446" y="491"/>
                  </a:lnTo>
                  <a:close/>
                  <a:moveTo>
                    <a:pt x="7084" y="588"/>
                  </a:moveTo>
                  <a:lnTo>
                    <a:pt x="7549" y="588"/>
                  </a:lnTo>
                  <a:lnTo>
                    <a:pt x="7549" y="491"/>
                  </a:lnTo>
                  <a:lnTo>
                    <a:pt x="7084" y="491"/>
                  </a:lnTo>
                  <a:lnTo>
                    <a:pt x="7084" y="588"/>
                  </a:lnTo>
                  <a:close/>
                  <a:moveTo>
                    <a:pt x="7728" y="686"/>
                  </a:moveTo>
                  <a:lnTo>
                    <a:pt x="8194" y="686"/>
                  </a:lnTo>
                  <a:lnTo>
                    <a:pt x="8194" y="588"/>
                  </a:lnTo>
                  <a:lnTo>
                    <a:pt x="7728" y="588"/>
                  </a:lnTo>
                  <a:lnTo>
                    <a:pt x="7728" y="686"/>
                  </a:lnTo>
                  <a:close/>
                  <a:moveTo>
                    <a:pt x="8374" y="784"/>
                  </a:moveTo>
                  <a:lnTo>
                    <a:pt x="8839" y="784"/>
                  </a:lnTo>
                  <a:lnTo>
                    <a:pt x="8839" y="686"/>
                  </a:lnTo>
                  <a:lnTo>
                    <a:pt x="8374" y="686"/>
                  </a:lnTo>
                  <a:lnTo>
                    <a:pt x="8374" y="784"/>
                  </a:lnTo>
                  <a:close/>
                  <a:moveTo>
                    <a:pt x="9019" y="881"/>
                  </a:moveTo>
                  <a:lnTo>
                    <a:pt x="9483" y="881"/>
                  </a:lnTo>
                  <a:lnTo>
                    <a:pt x="9483" y="784"/>
                  </a:lnTo>
                  <a:lnTo>
                    <a:pt x="9019" y="784"/>
                  </a:lnTo>
                  <a:lnTo>
                    <a:pt x="9019" y="881"/>
                  </a:lnTo>
                  <a:close/>
                  <a:moveTo>
                    <a:pt x="10129" y="3702"/>
                  </a:moveTo>
                  <a:lnTo>
                    <a:pt x="10129" y="881"/>
                  </a:lnTo>
                  <a:lnTo>
                    <a:pt x="9664" y="881"/>
                  </a:lnTo>
                  <a:lnTo>
                    <a:pt x="9664" y="3702"/>
                  </a:lnTo>
                  <a:close/>
                  <a:moveTo>
                    <a:pt x="10309" y="2434"/>
                  </a:moveTo>
                  <a:lnTo>
                    <a:pt x="10766" y="2434"/>
                  </a:lnTo>
                  <a:lnTo>
                    <a:pt x="10766" y="881"/>
                  </a:lnTo>
                  <a:lnTo>
                    <a:pt x="10309" y="881"/>
                  </a:lnTo>
                  <a:lnTo>
                    <a:pt x="10309" y="2434"/>
                  </a:lnTo>
                  <a:close/>
                  <a:moveTo>
                    <a:pt x="11412" y="3702"/>
                  </a:moveTo>
                  <a:lnTo>
                    <a:pt x="11412" y="2434"/>
                  </a:lnTo>
                  <a:lnTo>
                    <a:pt x="10946" y="2434"/>
                  </a:lnTo>
                  <a:lnTo>
                    <a:pt x="10946" y="3702"/>
                  </a:lnTo>
                  <a:close/>
                  <a:moveTo>
                    <a:pt x="12056" y="3019"/>
                  </a:moveTo>
                  <a:lnTo>
                    <a:pt x="12056" y="2434"/>
                  </a:lnTo>
                  <a:lnTo>
                    <a:pt x="11591" y="2434"/>
                  </a:lnTo>
                  <a:lnTo>
                    <a:pt x="11591" y="3019"/>
                  </a:lnTo>
                  <a:close/>
                </a:path>
              </a:pathLst>
            </a:custGeom>
            <a:noFill/>
            <a:ln w="4757" cap="flat">
              <a:solidFill>
                <a:srgbClr val="FFFFFF">
                  <a:alpha val="100000"/>
                </a:srgbClr>
              </a:solidFill>
              <a:prstDash val="solid"/>
              <a:round/>
            </a:ln>
          </p:spPr>
          <p:txBody>
            <a:bodyPr rtlCol="0"/>
            <a:lstStyle/>
            <a:p>
              <a:pPr algn="ctr"/>
              <a:endParaRPr lang="zh-CN" altLang="en-US"/>
            </a:p>
          </p:txBody>
        </p:sp>
      </p:grpSp>
      <p:pic>
        <p:nvPicPr>
          <p:cNvPr id="1080" name="picture 1080"/>
          <p:cNvPicPr>
            <a:picLocks noChangeAspect="1"/>
          </p:cNvPicPr>
          <p:nvPr/>
        </p:nvPicPr>
        <p:blipFill>
          <a:blip r:embed="rId1"/>
          <a:stretch>
            <a:fillRect/>
          </a:stretch>
        </p:blipFill>
        <p:spPr>
          <a:xfrm rot="21600000">
            <a:off x="8453627" y="1802130"/>
            <a:ext cx="114300" cy="563626"/>
          </a:xfrm>
          <a:prstGeom prst="rect">
            <a:avLst/>
          </a:prstGeom>
        </p:spPr>
      </p:pic>
      <p:sp>
        <p:nvSpPr>
          <p:cNvPr id="1081" name="path"/>
          <p:cNvSpPr/>
          <p:nvPr/>
        </p:nvSpPr>
        <p:spPr>
          <a:xfrm>
            <a:off x="3957828" y="1802892"/>
            <a:ext cx="4610480" cy="560831"/>
          </a:xfrm>
          <a:custGeom>
            <a:avLst/>
            <a:gdLst/>
            <a:ahLst/>
            <a:cxnLst/>
            <a:rect l="0" t="0" r="0" b="0"/>
            <a:pathLst>
              <a:path w="7260" h="883">
                <a:moveTo>
                  <a:pt x="5145" y="880"/>
                </a:moveTo>
                <a:lnTo>
                  <a:pt x="7260" y="880"/>
                </a:lnTo>
                <a:moveTo>
                  <a:pt x="0" y="2"/>
                </a:moveTo>
                <a:lnTo>
                  <a:pt x="7259" y="2"/>
                </a:lnTo>
              </a:path>
            </a:pathLst>
          </a:custGeom>
          <a:noFill/>
          <a:ln w="3048" cap="flat">
            <a:solidFill>
              <a:srgbClr val="808080">
                <a:alpha val="100000"/>
              </a:srgbClr>
            </a:solidFill>
            <a:prstDash val="dash"/>
            <a:round/>
          </a:ln>
        </p:spPr>
        <p:txBody>
          <a:bodyPr rtlCol="0"/>
          <a:lstStyle/>
          <a:p>
            <a:pPr algn="ctr"/>
            <a:endParaRPr lang="zh-CN" altLang="en-US"/>
          </a:p>
        </p:txBody>
      </p:sp>
      <p:sp>
        <p:nvSpPr>
          <p:cNvPr id="1082" name="rect"/>
          <p:cNvSpPr/>
          <p:nvPr/>
        </p:nvSpPr>
        <p:spPr>
          <a:xfrm>
            <a:off x="5705668" y="2238499"/>
            <a:ext cx="300189" cy="66888"/>
          </a:xfrm>
          <a:prstGeom prst="rect">
            <a:avLst/>
          </a:prstGeom>
          <a:solidFill>
            <a:srgbClr val="C5C5C5">
              <a:alpha val="100000"/>
            </a:srgbClr>
          </a:solidFill>
          <a:ln cap="flat">
            <a:noFill/>
            <a:prstDash val="solid"/>
            <a:miter lim="0"/>
          </a:ln>
        </p:spPr>
        <p:txBody>
          <a:bodyPr rtlCol="0"/>
          <a:lstStyle/>
          <a:p>
            <a:pPr algn="ctr"/>
            <a:endParaRPr lang="zh-CN" altLang="en-US"/>
          </a:p>
        </p:txBody>
      </p:sp>
      <p:sp>
        <p:nvSpPr>
          <p:cNvPr id="1083" name="rect"/>
          <p:cNvSpPr/>
          <p:nvPr/>
        </p:nvSpPr>
        <p:spPr>
          <a:xfrm>
            <a:off x="5295937" y="2176683"/>
            <a:ext cx="300189" cy="66571"/>
          </a:xfrm>
          <a:prstGeom prst="rect">
            <a:avLst/>
          </a:prstGeom>
          <a:solidFill>
            <a:srgbClr val="C5C5C5">
              <a:alpha val="100000"/>
            </a:srgbClr>
          </a:solidFill>
          <a:ln cap="flat">
            <a:noFill/>
            <a:prstDash val="solid"/>
            <a:miter lim="0"/>
          </a:ln>
        </p:spPr>
        <p:txBody>
          <a:bodyPr rtlCol="0"/>
          <a:lstStyle/>
          <a:p>
            <a:pPr algn="ctr"/>
            <a:endParaRPr lang="zh-CN" altLang="en-US"/>
          </a:p>
        </p:txBody>
      </p:sp>
      <p:sp>
        <p:nvSpPr>
          <p:cNvPr id="1084" name="rect"/>
          <p:cNvSpPr/>
          <p:nvPr/>
        </p:nvSpPr>
        <p:spPr>
          <a:xfrm>
            <a:off x="4886587" y="2114804"/>
            <a:ext cx="299872" cy="66571"/>
          </a:xfrm>
          <a:prstGeom prst="rect">
            <a:avLst/>
          </a:prstGeom>
          <a:solidFill>
            <a:srgbClr val="C5C5C5">
              <a:alpha val="100000"/>
            </a:srgbClr>
          </a:solidFill>
          <a:ln cap="flat">
            <a:noFill/>
            <a:prstDash val="solid"/>
            <a:miter lim="0"/>
          </a:ln>
        </p:spPr>
        <p:txBody>
          <a:bodyPr rtlCol="0"/>
          <a:lstStyle/>
          <a:p>
            <a:pPr algn="ctr"/>
            <a:endParaRPr lang="zh-CN" altLang="en-US"/>
          </a:p>
        </p:txBody>
      </p:sp>
      <p:sp>
        <p:nvSpPr>
          <p:cNvPr id="1085" name="path"/>
          <p:cNvSpPr/>
          <p:nvPr/>
        </p:nvSpPr>
        <p:spPr>
          <a:xfrm>
            <a:off x="6115271" y="2300569"/>
            <a:ext cx="299872" cy="66571"/>
          </a:xfrm>
          <a:custGeom>
            <a:avLst/>
            <a:gdLst/>
            <a:ahLst/>
            <a:cxnLst/>
            <a:rect l="0" t="0" r="0" b="0"/>
            <a:pathLst>
              <a:path w="472" h="104">
                <a:moveTo>
                  <a:pt x="3" y="101"/>
                </a:moveTo>
                <a:moveTo>
                  <a:pt x="3" y="101"/>
                </a:moveTo>
                <a:lnTo>
                  <a:pt x="468" y="101"/>
                </a:lnTo>
                <a:lnTo>
                  <a:pt x="468" y="3"/>
                </a:lnTo>
                <a:lnTo>
                  <a:pt x="3" y="3"/>
                </a:lnTo>
                <a:lnTo>
                  <a:pt x="3" y="101"/>
                </a:lnTo>
                <a:close/>
              </a:path>
            </a:pathLst>
          </a:custGeom>
          <a:solidFill>
            <a:srgbClr val="C5C5C5">
              <a:alpha val="100000"/>
            </a:srgbClr>
          </a:solidFill>
          <a:ln cap="flat">
            <a:noFill/>
            <a:prstDash val="solid"/>
            <a:miter lim="0"/>
          </a:ln>
        </p:spPr>
        <p:txBody>
          <a:bodyPr rtlCol="0"/>
          <a:lstStyle/>
          <a:p>
            <a:pPr algn="ctr"/>
            <a:endParaRPr lang="zh-CN" altLang="en-US"/>
          </a:p>
        </p:txBody>
      </p:sp>
      <p:sp>
        <p:nvSpPr>
          <p:cNvPr id="1086" name="rect"/>
          <p:cNvSpPr/>
          <p:nvPr/>
        </p:nvSpPr>
        <p:spPr>
          <a:xfrm>
            <a:off x="4481680" y="2052735"/>
            <a:ext cx="295112" cy="66887"/>
          </a:xfrm>
          <a:prstGeom prst="rect">
            <a:avLst/>
          </a:prstGeom>
          <a:solidFill>
            <a:srgbClr val="C5C5C5">
              <a:alpha val="100000"/>
            </a:srgbClr>
          </a:solidFill>
          <a:ln cap="flat">
            <a:noFill/>
            <a:prstDash val="solid"/>
            <a:miter lim="0"/>
          </a:ln>
        </p:spPr>
        <p:txBody>
          <a:bodyPr rtlCol="0"/>
          <a:lstStyle/>
          <a:p>
            <a:pPr algn="ctr"/>
            <a:endParaRPr lang="zh-CN" altLang="en-US"/>
          </a:p>
        </p:txBody>
      </p:sp>
      <p:sp>
        <p:nvSpPr>
          <p:cNvPr id="1087" name="rect"/>
          <p:cNvSpPr/>
          <p:nvPr/>
        </p:nvSpPr>
        <p:spPr>
          <a:xfrm>
            <a:off x="6525002" y="2362417"/>
            <a:ext cx="299871" cy="1795831"/>
          </a:xfrm>
          <a:prstGeom prst="rect">
            <a:avLst/>
          </a:prstGeom>
          <a:solidFill>
            <a:srgbClr val="00ADEF">
              <a:alpha val="100000"/>
            </a:srgbClr>
          </a:solidFill>
          <a:ln cap="flat">
            <a:noFill/>
            <a:prstDash val="solid"/>
            <a:miter lim="0"/>
          </a:ln>
        </p:spPr>
        <p:txBody>
          <a:bodyPr rtlCol="0"/>
          <a:lstStyle/>
          <a:p>
            <a:pPr algn="ctr"/>
            <a:endParaRPr lang="zh-CN" altLang="en-US"/>
          </a:p>
        </p:txBody>
      </p:sp>
      <p:sp>
        <p:nvSpPr>
          <p:cNvPr id="1088" name="path"/>
          <p:cNvSpPr/>
          <p:nvPr/>
        </p:nvSpPr>
        <p:spPr>
          <a:xfrm>
            <a:off x="4447032" y="1772412"/>
            <a:ext cx="2206751" cy="1421891"/>
          </a:xfrm>
          <a:custGeom>
            <a:avLst/>
            <a:gdLst/>
            <a:ahLst/>
            <a:cxnLst/>
            <a:rect l="0" t="0" r="0" b="0"/>
            <a:pathLst>
              <a:path w="3475" h="2239">
                <a:moveTo>
                  <a:pt x="15" y="1119"/>
                </a:moveTo>
                <a:cubicBezTo>
                  <a:pt x="15" y="509"/>
                  <a:pt x="786" y="15"/>
                  <a:pt x="1737" y="15"/>
                </a:cubicBezTo>
                <a:cubicBezTo>
                  <a:pt x="2688" y="15"/>
                  <a:pt x="3459" y="509"/>
                  <a:pt x="3459" y="1119"/>
                </a:cubicBezTo>
                <a:cubicBezTo>
                  <a:pt x="3459" y="1729"/>
                  <a:pt x="2688" y="2223"/>
                  <a:pt x="1737" y="2223"/>
                </a:cubicBezTo>
                <a:cubicBezTo>
                  <a:pt x="786" y="2223"/>
                  <a:pt x="15" y="1729"/>
                  <a:pt x="15" y="1119"/>
                </a:cubicBezTo>
              </a:path>
            </a:pathLst>
          </a:custGeom>
          <a:noFill/>
          <a:ln w="19811" cap="flat">
            <a:solidFill>
              <a:srgbClr val="FF0000">
                <a:alpha val="100000"/>
              </a:srgbClr>
            </a:solidFill>
            <a:prstDash val="dash"/>
            <a:round/>
          </a:ln>
        </p:spPr>
        <p:txBody>
          <a:bodyPr rtlCol="0"/>
          <a:lstStyle/>
          <a:p>
            <a:pPr algn="ctr"/>
            <a:endParaRPr lang="zh-CN" altLang="en-US"/>
          </a:p>
        </p:txBody>
      </p:sp>
      <p:sp>
        <p:nvSpPr>
          <p:cNvPr id="1089" name="path"/>
          <p:cNvSpPr/>
          <p:nvPr/>
        </p:nvSpPr>
        <p:spPr>
          <a:xfrm>
            <a:off x="7040880" y="1825752"/>
            <a:ext cx="1228343" cy="484632"/>
          </a:xfrm>
          <a:custGeom>
            <a:avLst/>
            <a:gdLst/>
            <a:ahLst/>
            <a:cxnLst/>
            <a:rect l="0" t="0" r="0" b="0"/>
            <a:pathLst>
              <a:path w="1934" h="763">
                <a:moveTo>
                  <a:pt x="0" y="381"/>
                </a:moveTo>
                <a:cubicBezTo>
                  <a:pt x="0" y="170"/>
                  <a:pt x="432" y="0"/>
                  <a:pt x="967" y="0"/>
                </a:cubicBezTo>
                <a:cubicBezTo>
                  <a:pt x="1501" y="0"/>
                  <a:pt x="1934" y="170"/>
                  <a:pt x="1934" y="381"/>
                </a:cubicBezTo>
                <a:cubicBezTo>
                  <a:pt x="1934" y="592"/>
                  <a:pt x="1501" y="763"/>
                  <a:pt x="967" y="763"/>
                </a:cubicBezTo>
                <a:cubicBezTo>
                  <a:pt x="432" y="763"/>
                  <a:pt x="0" y="592"/>
                  <a:pt x="0" y="381"/>
                </a:cubicBezTo>
              </a:path>
            </a:pathLst>
          </a:custGeom>
          <a:solidFill>
            <a:srgbClr val="0065BD">
              <a:alpha val="100000"/>
            </a:srgbClr>
          </a:solidFill>
          <a:ln cap="flat">
            <a:noFill/>
            <a:prstDash val="solid"/>
            <a:miter lim="0"/>
          </a:ln>
        </p:spPr>
        <p:txBody>
          <a:bodyPr rtlCol="0"/>
          <a:lstStyle/>
          <a:p>
            <a:pPr algn="ctr"/>
            <a:endParaRPr lang="zh-CN" altLang="en-US"/>
          </a:p>
        </p:txBody>
      </p:sp>
      <p:graphicFrame>
        <p:nvGraphicFramePr>
          <p:cNvPr id="1090" name="table 1090"/>
          <p:cNvGraphicFramePr>
            <a:graphicFrameLocks noGrp="1"/>
          </p:cNvGraphicFramePr>
          <p:nvPr/>
        </p:nvGraphicFramePr>
        <p:xfrm>
          <a:off x="152400" y="1051560"/>
          <a:ext cx="8676005" cy="4932679"/>
        </p:xfrm>
        <a:graphic>
          <a:graphicData uri="http://schemas.openxmlformats.org/drawingml/2006/table">
            <a:tbl>
              <a:tblPr/>
              <a:tblGrid>
                <a:gridCol w="1009650"/>
                <a:gridCol w="4869179"/>
                <a:gridCol w="1666875"/>
                <a:gridCol w="413384"/>
                <a:gridCol w="716915"/>
              </a:tblGrid>
              <a:tr h="530225">
                <a:tc gridSpan="5">
                  <a:txBody>
                    <a:bodyPr/>
                    <a:lstStyle/>
                    <a:p>
                      <a:pPr algn="l" rtl="0" eaLnBrk="0">
                        <a:lnSpc>
                          <a:spcPct val="100000"/>
                        </a:lnSpc>
                      </a:pPr>
                      <a:endParaRPr lang="en-US" altLang="en-US" sz="1000" dirty="0">
                        <a:latin typeface="微软雅黑" panose="020B0503020204020204" charset="-122"/>
                        <a:ea typeface="微软雅黑" panose="020B0503020204020204" charset="-122"/>
                      </a:endParaRPr>
                    </a:p>
                  </a:txBody>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w="3175" cap="flat" cmpd="sng" algn="ctr">
                      <a:solidFill>
                        <a:srgbClr val="BFE1FF"/>
                      </a:solidFill>
                      <a:prstDash val="solid"/>
                      <a:round/>
                      <a:headEnd type="none" w="med" len="med"/>
                      <a:tailEnd type="none" w="med" len="med"/>
                    </a:lnT>
                    <a:lnB>
                      <a:noFill/>
                    </a:lnB>
                  </a:tcPr>
                </a:tc>
                <a:tc hMerge="1">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w="3175" cap="flat" cmpd="sng" algn="ctr">
                      <a:solidFill>
                        <a:srgbClr val="BFE1FF"/>
                      </a:solidFill>
                      <a:prstDash val="solid"/>
                      <a:round/>
                      <a:headEnd type="none" w="med" len="med"/>
                      <a:tailEnd type="none" w="med" len="med"/>
                    </a:lnT>
                    <a:lnB>
                      <a:noFill/>
                    </a:lnB>
                  </a:tcPr>
                </a:tc>
                <a:tc hMerge="1">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w="3175" cap="flat" cmpd="sng" algn="ctr">
                      <a:solidFill>
                        <a:srgbClr val="BFE1FF"/>
                      </a:solidFill>
                      <a:prstDash val="solid"/>
                      <a:round/>
                      <a:headEnd type="none" w="med" len="med"/>
                      <a:tailEnd type="none" w="med" len="med"/>
                    </a:lnT>
                    <a:lnB>
                      <a:noFill/>
                    </a:lnB>
                  </a:tcPr>
                </a:tc>
                <a:tc hMerge="1">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w="3175" cap="flat" cmpd="sng" algn="ctr">
                      <a:solidFill>
                        <a:srgbClr val="BFE1FF"/>
                      </a:solidFill>
                      <a:prstDash val="solid"/>
                      <a:round/>
                      <a:headEnd type="none" w="med" len="med"/>
                      <a:tailEnd type="none" w="med" len="med"/>
                    </a:lnT>
                    <a:lnB>
                      <a:noFill/>
                    </a:lnB>
                  </a:tcPr>
                </a:tc>
                <a:tc hMerge="1">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w="3175" cap="flat" cmpd="sng" algn="ctr">
                      <a:solidFill>
                        <a:srgbClr val="BFE1FF"/>
                      </a:solidFill>
                      <a:prstDash val="solid"/>
                      <a:round/>
                      <a:headEnd type="none" w="med" len="med"/>
                      <a:tailEnd type="none" w="med" len="med"/>
                    </a:lnT>
                    <a:lnB>
                      <a:noFill/>
                    </a:lnB>
                  </a:tcPr>
                </a:tc>
              </a:tr>
              <a:tr h="2592070">
                <a:tc gridSpan="5">
                  <a:txBody>
                    <a:bodyPr/>
                    <a:lstStyle/>
                    <a:p>
                      <a:pPr algn="l" rtl="0" eaLnBrk="0">
                        <a:lnSpc>
                          <a:spcPct val="105000"/>
                        </a:lnSpc>
                      </a:pPr>
                      <a:endParaRPr lang="en-US" altLang="en-US" sz="1000" dirty="0">
                        <a:latin typeface="微软雅黑" panose="020B0503020204020204" charset="-122"/>
                        <a:ea typeface="微软雅黑" panose="020B0503020204020204" charset="-122"/>
                      </a:endParaRPr>
                    </a:p>
                    <a:p>
                      <a:pPr algn="l" rtl="0" eaLnBrk="0">
                        <a:lnSpc>
                          <a:spcPct val="105000"/>
                        </a:lnSpc>
                      </a:pPr>
                      <a:endParaRPr lang="en-US" altLang="en-US" sz="1000" dirty="0">
                        <a:latin typeface="微软雅黑" panose="020B0503020204020204" charset="-122"/>
                        <a:ea typeface="微软雅黑" panose="020B0503020204020204" charset="-122"/>
                      </a:endParaRPr>
                    </a:p>
                    <a:p>
                      <a:pPr algn="l" rtl="0" eaLnBrk="0">
                        <a:lnSpc>
                          <a:spcPct val="6000"/>
                        </a:lnSpc>
                      </a:pPr>
                      <a:endParaRPr lang="en-US" altLang="en-US" sz="100" dirty="0">
                        <a:latin typeface="微软雅黑" panose="020B0503020204020204" charset="-122"/>
                        <a:ea typeface="微软雅黑" panose="020B0503020204020204" charset="-122"/>
                      </a:endParaRPr>
                    </a:p>
                    <a:p>
                      <a:pPr marL="7158990" algn="l" rtl="0" eaLnBrk="0">
                        <a:lnSpc>
                          <a:spcPct val="90000"/>
                        </a:lnSpc>
                      </a:pPr>
                      <a:r>
                        <a:rPr sz="1200" spc="-10" dirty="0">
                          <a:solidFill>
                            <a:srgbClr val="FFFFFF">
                              <a:alpha val="100000"/>
                            </a:srgbClr>
                          </a:solidFill>
                          <a:latin typeface="微软雅黑" panose="020B0503020204020204" charset="-122"/>
                          <a:ea typeface="微软雅黑" panose="020B0503020204020204" charset="-122"/>
                          <a:cs typeface="Arial" panose="020B0604020202020204"/>
                        </a:rPr>
                        <a:t>~24%</a:t>
                      </a:r>
                      <a:r>
                        <a:rPr sz="1200" spc="-10" dirty="0">
                          <a:solidFill>
                            <a:srgbClr val="FFFFFF">
                              <a:alpha val="100000"/>
                            </a:srgbClr>
                          </a:solidFill>
                          <a:latin typeface="微软雅黑" panose="020B0503020204020204" charset="-122"/>
                          <a:ea typeface="微软雅黑" panose="020B0503020204020204" charset="-122"/>
                          <a:cs typeface="楷体" panose="02010609060101010101" charset="-122"/>
                        </a:rPr>
                        <a:t>价</a:t>
                      </a:r>
                      <a:r>
                        <a:rPr sz="1200" spc="0" dirty="0">
                          <a:solidFill>
                            <a:srgbClr val="FFFFFF">
                              <a:alpha val="100000"/>
                            </a:srgbClr>
                          </a:solidFill>
                          <a:latin typeface="微软雅黑" panose="020B0503020204020204" charset="-122"/>
                          <a:ea typeface="微软雅黑" panose="020B0503020204020204" charset="-122"/>
                          <a:cs typeface="楷体" panose="02010609060101010101" charset="-122"/>
                        </a:rPr>
                        <a:t>格</a:t>
                      </a:r>
                      <a:endParaRPr lang="en-US" altLang="en-US" sz="1200" dirty="0">
                        <a:latin typeface="微软雅黑" panose="020B0503020204020204" charset="-122"/>
                        <a:ea typeface="微软雅黑" panose="020B0503020204020204" charset="-122"/>
                      </a:endParaRPr>
                    </a:p>
                    <a:p>
                      <a:pPr marL="7289800" algn="l" rtl="0" eaLnBrk="0">
                        <a:lnSpc>
                          <a:spcPct val="98000"/>
                        </a:lnSpc>
                        <a:spcBef>
                          <a:spcPts val="0"/>
                        </a:spcBef>
                      </a:pPr>
                      <a:r>
                        <a:rPr sz="1200" spc="-110" dirty="0">
                          <a:solidFill>
                            <a:srgbClr val="FFFFFF">
                              <a:alpha val="100000"/>
                            </a:srgbClr>
                          </a:solidFill>
                          <a:latin typeface="微软雅黑" panose="020B0503020204020204" charset="-122"/>
                          <a:ea typeface="微软雅黑" panose="020B0503020204020204" charset="-122"/>
                          <a:cs typeface="楷体" panose="02010609060101010101" charset="-122"/>
                        </a:rPr>
                        <a:t>“损失</a:t>
                      </a:r>
                      <a:r>
                        <a:rPr sz="1200" spc="-90" dirty="0">
                          <a:solidFill>
                            <a:srgbClr val="FFFFFF">
                              <a:alpha val="100000"/>
                            </a:srgbClr>
                          </a:solidFill>
                          <a:latin typeface="微软雅黑" panose="020B0503020204020204" charset="-122"/>
                          <a:ea typeface="微软雅黑" panose="020B0503020204020204" charset="-122"/>
                          <a:cs typeface="楷体" panose="02010609060101010101" charset="-122"/>
                        </a:rPr>
                        <a:t>”</a:t>
                      </a:r>
                      <a:endParaRPr lang="en-US" altLang="en-US" sz="1200" dirty="0">
                        <a:latin typeface="微软雅黑" panose="020B0503020204020204" charset="-122"/>
                        <a:ea typeface="微软雅黑" panose="020B0503020204020204" charset="-122"/>
                      </a:endParaRPr>
                    </a:p>
                    <a:p>
                      <a:pPr algn="l" rtl="0" eaLnBrk="0">
                        <a:lnSpc>
                          <a:spcPct val="108000"/>
                        </a:lnSpc>
                      </a:pPr>
                      <a:endParaRPr lang="en-US" altLang="en-US" sz="1000" dirty="0">
                        <a:latin typeface="微软雅黑" panose="020B0503020204020204" charset="-122"/>
                        <a:ea typeface="微软雅黑" panose="020B0503020204020204" charset="-122"/>
                      </a:endParaRPr>
                    </a:p>
                    <a:p>
                      <a:pPr marL="4596130" algn="l" rtl="0" eaLnBrk="0">
                        <a:lnSpc>
                          <a:spcPct val="83000"/>
                        </a:lnSpc>
                        <a:spcBef>
                          <a:spcPts val="370"/>
                        </a:spcBef>
                      </a:pPr>
                      <a:r>
                        <a:rPr sz="1200" spc="-10" dirty="0">
                          <a:solidFill>
                            <a:srgbClr val="000000">
                              <a:alpha val="100000"/>
                            </a:srgbClr>
                          </a:solidFill>
                          <a:latin typeface="微软雅黑" panose="020B0503020204020204" charset="-122"/>
                          <a:ea typeface="微软雅黑" panose="020B0503020204020204" charset="-122"/>
                          <a:cs typeface="楷体" panose="02010609060101010101" charset="-122"/>
                        </a:rPr>
                        <a:t>一般在定价时</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常被乎略</a:t>
                      </a:r>
                      <a:endParaRPr lang="en-US" altLang="en-US" sz="1200" dirty="0">
                        <a:latin typeface="微软雅黑" panose="020B0503020204020204" charset="-122"/>
                        <a:ea typeface="微软雅黑" panose="020B0503020204020204" charset="-122"/>
                      </a:endParaRPr>
                    </a:p>
                    <a:p>
                      <a:pPr marL="4602480" algn="l" rtl="0" eaLnBrk="0">
                        <a:lnSpc>
                          <a:spcPts val="1460"/>
                        </a:lnSpc>
                      </a:pPr>
                      <a:r>
                        <a:rPr sz="1200" spc="-20" dirty="0">
                          <a:solidFill>
                            <a:srgbClr val="000000">
                              <a:alpha val="100000"/>
                            </a:srgbClr>
                          </a:solidFill>
                          <a:latin typeface="微软雅黑" panose="020B0503020204020204" charset="-122"/>
                          <a:ea typeface="微软雅黑" panose="020B0503020204020204" charset="-122"/>
                          <a:cs typeface="楷体" panose="02010609060101010101" charset="-122"/>
                        </a:rPr>
                        <a:t>的成本，约</a:t>
                      </a:r>
                      <a:r>
                        <a:rPr sz="1200" spc="-10" dirty="0">
                          <a:solidFill>
                            <a:srgbClr val="000000">
                              <a:alpha val="100000"/>
                            </a:srgbClr>
                          </a:solidFill>
                          <a:latin typeface="微软雅黑" panose="020B0503020204020204" charset="-122"/>
                          <a:ea typeface="微软雅黑" panose="020B0503020204020204" charset="-122"/>
                          <a:cs typeface="楷体" panose="02010609060101010101" charset="-122"/>
                        </a:rPr>
                        <a:t>占</a:t>
                      </a:r>
                      <a:r>
                        <a:rPr sz="1200" spc="0" dirty="0">
                          <a:solidFill>
                            <a:srgbClr val="000000">
                              <a:alpha val="100000"/>
                            </a:srgbClr>
                          </a:solidFill>
                          <a:latin typeface="微软雅黑" panose="020B0503020204020204" charset="-122"/>
                          <a:ea typeface="微软雅黑" panose="020B0503020204020204" charset="-122"/>
                          <a:cs typeface="Arial" panose="020B0604020202020204"/>
                        </a:rPr>
                        <a:t>2-3%</a:t>
                      </a:r>
                      <a:endParaRPr lang="en-US" altLang="en-US" sz="1200" dirty="0">
                        <a:latin typeface="微软雅黑" panose="020B0503020204020204" charset="-122"/>
                        <a:ea typeface="微软雅黑" panose="020B0503020204020204" charset="-122"/>
                      </a:endParaRPr>
                    </a:p>
                  </a:txBody>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a:noFill/>
                    </a:lnT>
                    <a:lnB>
                      <a:noFill/>
                    </a:lnB>
                  </a:tcPr>
                </a:tc>
                <a:tc hMerge="1">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a:noFill/>
                    </a:lnT>
                    <a:lnB>
                      <a:noFill/>
                    </a:lnB>
                  </a:tcPr>
                </a:tc>
                <a:tc hMerge="1">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a:noFill/>
                    </a:lnT>
                    <a:lnB>
                      <a:noFill/>
                    </a:lnB>
                  </a:tcPr>
                </a:tc>
                <a:tc hMerge="1">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a:noFill/>
                    </a:lnT>
                    <a:lnB>
                      <a:noFill/>
                    </a:lnB>
                  </a:tcPr>
                </a:tc>
                <a:tc hMerge="1">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a:noFill/>
                    </a:lnT>
                    <a:lnB>
                      <a:noFill/>
                    </a:lnB>
                  </a:tcPr>
                </a:tc>
              </a:tr>
              <a:tr h="0">
                <a:tc gridSpan="5">
                  <a:txBody>
                    <a:bodyPr/>
                    <a:lstStyle/>
                    <a:p>
                      <a:pPr algn="l" rtl="0" eaLnBrk="0">
                        <a:lnSpc>
                          <a:spcPts val="510"/>
                        </a:lnSpc>
                      </a:pPr>
                      <a:endParaRPr lang="en-US" altLang="en-US" sz="400" dirty="0">
                        <a:ea typeface="微软雅黑" panose="020B0503020204020204" charset="-122"/>
                      </a:endParaRPr>
                    </a:p>
                  </a:txBody>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a:noFill/>
                    </a:lnT>
                    <a:lnB>
                      <a:noFill/>
                    </a:lnB>
                    <a:solidFill>
                      <a:srgbClr val="808080"/>
                    </a:solidFill>
                  </a:tcPr>
                </a:tc>
                <a:tc hMerge="1">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a:noFill/>
                    </a:lnT>
                    <a:lnB>
                      <a:noFill/>
                    </a:lnB>
                    <a:solidFill>
                      <a:srgbClr val="808080"/>
                    </a:solidFill>
                  </a:tcPr>
                </a:tc>
                <a:tc hMerge="1">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a:noFill/>
                    </a:lnT>
                    <a:lnB>
                      <a:noFill/>
                    </a:lnB>
                    <a:solidFill>
                      <a:srgbClr val="808080"/>
                    </a:solidFill>
                  </a:tcPr>
                </a:tc>
                <a:tc hMerge="1">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a:noFill/>
                    </a:lnT>
                    <a:lnB>
                      <a:noFill/>
                    </a:lnB>
                    <a:solidFill>
                      <a:srgbClr val="808080"/>
                    </a:solidFill>
                  </a:tcPr>
                </a:tc>
                <a:tc hMerge="1">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a:noFill/>
                    </a:lnT>
                    <a:lnB>
                      <a:noFill/>
                    </a:lnB>
                    <a:solidFill>
                      <a:srgbClr val="808080"/>
                    </a:solidFill>
                  </a:tcPr>
                </a:tc>
              </a:tr>
              <a:tr h="189864">
                <a:tc rowSpan="2">
                  <a:txBody>
                    <a:bodyPr/>
                    <a:lstStyle/>
                    <a:p>
                      <a:pPr algn="l" rtl="0" eaLnBrk="0">
                        <a:lnSpc>
                          <a:spcPct val="149000"/>
                        </a:lnSpc>
                      </a:pPr>
                      <a:endParaRPr lang="en-US" altLang="en-US" sz="100" dirty="0">
                        <a:latin typeface="微软雅黑" panose="020B0503020204020204" charset="-122"/>
                        <a:ea typeface="微软雅黑" panose="020B0503020204020204" charset="-122"/>
                      </a:endParaRPr>
                    </a:p>
                    <a:p>
                      <a:pPr marL="241935" indent="4445" algn="l" rtl="0" eaLnBrk="0">
                        <a:lnSpc>
                          <a:spcPct val="98000"/>
                        </a:lnSpc>
                      </a:pPr>
                      <a:r>
                        <a:rPr sz="1200" spc="40" dirty="0">
                          <a:solidFill>
                            <a:srgbClr val="000000">
                              <a:alpha val="100000"/>
                            </a:srgbClr>
                          </a:solidFill>
                          <a:latin typeface="微软雅黑" panose="020B0503020204020204" charset="-122"/>
                          <a:ea typeface="微软雅黑" panose="020B0503020204020204" charset="-122"/>
                          <a:cs typeface="楷体" panose="02010609060101010101" charset="-122"/>
                        </a:rPr>
                        <a:t>原材 基</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础 </a:t>
                      </a:r>
                      <a:r>
                        <a:rPr sz="1200" spc="50" dirty="0">
                          <a:solidFill>
                            <a:srgbClr val="000000">
                              <a:alpha val="100000"/>
                            </a:srgbClr>
                          </a:solidFill>
                          <a:latin typeface="微软雅黑" panose="020B0503020204020204" charset="-122"/>
                          <a:ea typeface="微软雅黑" panose="020B0503020204020204" charset="-122"/>
                          <a:cs typeface="楷体" panose="02010609060101010101" charset="-122"/>
                        </a:rPr>
                        <a:t>料标 加</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工 </a:t>
                      </a:r>
                      <a:r>
                        <a:rPr sz="1200" spc="100" dirty="0">
                          <a:solidFill>
                            <a:srgbClr val="000000">
                              <a:alpha val="100000"/>
                            </a:srgbClr>
                          </a:solidFill>
                          <a:latin typeface="微软雅黑" panose="020B0503020204020204" charset="-122"/>
                          <a:ea typeface="微软雅黑" panose="020B0503020204020204" charset="-122"/>
                          <a:cs typeface="楷体" panose="02010609060101010101" charset="-122"/>
                        </a:rPr>
                        <a:t>准价 </a:t>
                      </a:r>
                      <a:r>
                        <a:rPr sz="1200" spc="70" dirty="0">
                          <a:solidFill>
                            <a:srgbClr val="000000">
                              <a:alpha val="100000"/>
                            </a:srgbClr>
                          </a:solidFill>
                          <a:latin typeface="微软雅黑" panose="020B0503020204020204" charset="-122"/>
                          <a:ea typeface="微软雅黑" panose="020B0503020204020204" charset="-122"/>
                          <a:cs typeface="楷体" panose="02010609060101010101" charset="-122"/>
                        </a:rPr>
                        <a:t>费</a:t>
                      </a:r>
                      <a:endParaRPr lang="en-US" altLang="en-US" sz="1200" dirty="0">
                        <a:latin typeface="微软雅黑" panose="020B0503020204020204" charset="-122"/>
                        <a:ea typeface="微软雅黑" panose="020B0503020204020204" charset="-122"/>
                      </a:endParaRPr>
                    </a:p>
                  </a:txBody>
                  <a:tcPr marL="0" marR="0" marT="0" marB="0">
                    <a:lnL w="19050" cap="flat" cmpd="sng" algn="ctr">
                      <a:solidFill>
                        <a:srgbClr val="BFE1FF"/>
                      </a:solidFill>
                      <a:prstDash val="solid"/>
                      <a:round/>
                      <a:headEnd type="none" w="med" len="med"/>
                      <a:tailEnd type="none" w="med" len="med"/>
                    </a:lnL>
                    <a:lnR>
                      <a:noFill/>
                    </a:lnR>
                    <a:lnT>
                      <a:noFill/>
                    </a:lnT>
                    <a:lnB w="3175" cap="flat" cmpd="sng" algn="ctr">
                      <a:solidFill>
                        <a:srgbClr val="BFE1FF"/>
                      </a:solidFill>
                      <a:prstDash val="solid"/>
                      <a:round/>
                      <a:headEnd type="none" w="med" len="med"/>
                      <a:tailEnd type="none" w="med" len="med"/>
                    </a:lnB>
                  </a:tcPr>
                </a:tc>
                <a:tc>
                  <a:txBody>
                    <a:bodyPr/>
                    <a:lstStyle/>
                    <a:p>
                      <a:pPr algn="l" rtl="0" eaLnBrk="0">
                        <a:lnSpc>
                          <a:spcPct val="153000"/>
                        </a:lnSpc>
                      </a:pPr>
                      <a:endParaRPr lang="en-US" altLang="en-US" sz="100" dirty="0">
                        <a:latin typeface="微软雅黑" panose="020B0503020204020204" charset="-122"/>
                        <a:ea typeface="微软雅黑" panose="020B0503020204020204" charset="-122"/>
                      </a:endParaRPr>
                    </a:p>
                    <a:p>
                      <a:pPr marL="66675" algn="l" rtl="0" eaLnBrk="0">
                        <a:lnSpc>
                          <a:spcPct val="91000"/>
                        </a:lnSpc>
                        <a:spcBef>
                          <a:spcPts val="0"/>
                        </a:spcBef>
                      </a:pPr>
                      <a:r>
                        <a:rPr sz="1200" spc="70" dirty="0">
                          <a:solidFill>
                            <a:srgbClr val="000000">
                              <a:alpha val="100000"/>
                            </a:srgbClr>
                          </a:solidFill>
                          <a:latin typeface="微软雅黑" panose="020B0503020204020204" charset="-122"/>
                          <a:ea typeface="微软雅黑" panose="020B0503020204020204" charset="-122"/>
                          <a:cs typeface="楷体" panose="02010609060101010101" charset="-122"/>
                        </a:rPr>
                        <a:t>小订 产品 服务 运费 市场 目标 折扣 发票 货运 应收 库存</a:t>
                      </a:r>
                      <a:r>
                        <a:rPr sz="1200" spc="5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退货</a:t>
                      </a:r>
                      <a:endParaRPr lang="en-US" altLang="en-US" sz="1200" dirty="0">
                        <a:latin typeface="微软雅黑" panose="020B0503020204020204" charset="-122"/>
                        <a:ea typeface="微软雅黑" panose="020B0503020204020204" charset="-122"/>
                      </a:endParaRPr>
                    </a:p>
                  </a:txBody>
                  <a:tcPr marL="0" marR="0" marT="0" marB="0">
                    <a:lnL>
                      <a:noFill/>
                    </a:lnL>
                    <a:lnR>
                      <a:noFill/>
                    </a:lnR>
                    <a:lnT>
                      <a:noFill/>
                    </a:lnT>
                    <a:lnB>
                      <a:noFill/>
                    </a:lnB>
                  </a:tcPr>
                </a:tc>
                <a:tc rowSpan="2">
                  <a:txBody>
                    <a:bodyPr/>
                    <a:lstStyle/>
                    <a:p>
                      <a:pPr algn="l" rtl="0" eaLnBrk="0">
                        <a:lnSpc>
                          <a:spcPct val="142000"/>
                        </a:lnSpc>
                      </a:pPr>
                      <a:endParaRPr lang="en-US" altLang="en-US" sz="100" dirty="0">
                        <a:latin typeface="微软雅黑" panose="020B0503020204020204" charset="-122"/>
                        <a:ea typeface="微软雅黑" panose="020B0503020204020204" charset="-122"/>
                      </a:endParaRPr>
                    </a:p>
                    <a:p>
                      <a:pPr marL="100965" algn="l" rtl="0" eaLnBrk="0">
                        <a:lnSpc>
                          <a:spcPct val="88000"/>
                        </a:lnSpc>
                        <a:spcBef>
                          <a:spcPts val="0"/>
                        </a:spcBef>
                      </a:pPr>
                      <a:r>
                        <a:rPr sz="1200" spc="50" dirty="0">
                          <a:solidFill>
                            <a:srgbClr val="000000">
                              <a:alpha val="100000"/>
                            </a:srgbClr>
                          </a:solidFill>
                          <a:latin typeface="微软雅黑" panose="020B0503020204020204" charset="-122"/>
                          <a:ea typeface="微软雅黑" panose="020B0503020204020204" charset="-122"/>
                          <a:cs typeface="楷体" panose="02010609060101010101" charset="-122"/>
                        </a:rPr>
                        <a:t>营销 落袋 原</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材</a:t>
                      </a:r>
                      <a:endParaRPr lang="en-US" altLang="en-US" sz="1200" dirty="0">
                        <a:latin typeface="微软雅黑" panose="020B0503020204020204" charset="-122"/>
                        <a:ea typeface="微软雅黑" panose="020B0503020204020204" charset="-122"/>
                      </a:endParaRPr>
                    </a:p>
                    <a:p>
                      <a:pPr marL="91440" algn="l" rtl="0" eaLnBrk="0">
                        <a:lnSpc>
                          <a:spcPts val="1590"/>
                        </a:lnSpc>
                      </a:pPr>
                      <a:r>
                        <a:rPr sz="1200" spc="60" dirty="0">
                          <a:solidFill>
                            <a:srgbClr val="000000">
                              <a:alpha val="100000"/>
                            </a:srgbClr>
                          </a:solidFill>
                          <a:latin typeface="微软雅黑" panose="020B0503020204020204" charset="-122"/>
                          <a:ea typeface="微软雅黑" panose="020B0503020204020204" charset="-122"/>
                          <a:cs typeface="楷体" panose="02010609060101010101" charset="-122"/>
                        </a:rPr>
                        <a:t>成本 价格 </a:t>
                      </a:r>
                      <a:r>
                        <a:rPr sz="1200" spc="50" dirty="0">
                          <a:solidFill>
                            <a:srgbClr val="000000">
                              <a:alpha val="100000"/>
                            </a:srgbClr>
                          </a:solidFill>
                          <a:latin typeface="微软雅黑" panose="020B0503020204020204" charset="-122"/>
                          <a:ea typeface="微软雅黑" panose="020B0503020204020204" charset="-122"/>
                          <a:cs typeface="楷体" panose="02010609060101010101" charset="-122"/>
                        </a:rPr>
                        <a:t>料</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采</a:t>
                      </a:r>
                      <a:endParaRPr lang="en-US" altLang="en-US" sz="1200" dirty="0">
                        <a:latin typeface="微软雅黑" panose="020B0503020204020204" charset="-122"/>
                        <a:ea typeface="微软雅黑" panose="020B0503020204020204" charset="-122"/>
                      </a:endParaRPr>
                    </a:p>
                    <a:p>
                      <a:pPr marL="913765" algn="l" rtl="0" eaLnBrk="0">
                        <a:lnSpc>
                          <a:spcPct val="97000"/>
                        </a:lnSpc>
                        <a:spcBef>
                          <a:spcPts val="20"/>
                        </a:spcBef>
                      </a:pPr>
                      <a:r>
                        <a:rPr sz="1200" spc="-20" dirty="0">
                          <a:solidFill>
                            <a:srgbClr val="000000">
                              <a:alpha val="100000"/>
                            </a:srgbClr>
                          </a:solidFill>
                          <a:latin typeface="微软雅黑" panose="020B0503020204020204" charset="-122"/>
                          <a:ea typeface="微软雅黑" panose="020B0503020204020204" charset="-122"/>
                          <a:cs typeface="楷体" panose="02010609060101010101" charset="-122"/>
                        </a:rPr>
                        <a:t>购价</a:t>
                      </a:r>
                      <a:endParaRPr lang="en-US" altLang="en-US" sz="1200" dirty="0">
                        <a:latin typeface="微软雅黑" panose="020B0503020204020204" charset="-122"/>
                        <a:ea typeface="微软雅黑" panose="020B0503020204020204" charset="-122"/>
                      </a:endParaRPr>
                    </a:p>
                  </a:txBody>
                  <a:tcPr marL="0" marR="0" marT="0" marB="0">
                    <a:lnL>
                      <a:noFill/>
                    </a:lnL>
                    <a:lnR>
                      <a:noFill/>
                    </a:lnR>
                    <a:lnT>
                      <a:noFill/>
                    </a:lnT>
                    <a:lnB w="3175" cap="flat" cmpd="sng" algn="ctr">
                      <a:solidFill>
                        <a:srgbClr val="BFE1FF"/>
                      </a:solidFill>
                      <a:prstDash val="solid"/>
                      <a:round/>
                      <a:headEnd type="none" w="med" len="med"/>
                      <a:tailEnd type="none" w="med" len="med"/>
                    </a:lnB>
                  </a:tcPr>
                </a:tc>
                <a:tc rowSpan="2">
                  <a:txBody>
                    <a:bodyPr/>
                    <a:lstStyle/>
                    <a:p>
                      <a:pPr algn="l" rtl="0" eaLnBrk="0">
                        <a:lnSpc>
                          <a:spcPct val="121000"/>
                        </a:lnSpc>
                      </a:pPr>
                      <a:endParaRPr lang="en-US" altLang="en-US" sz="200" dirty="0">
                        <a:latin typeface="微软雅黑" panose="020B0503020204020204" charset="-122"/>
                        <a:ea typeface="微软雅黑" panose="020B0503020204020204" charset="-122"/>
                      </a:endParaRPr>
                    </a:p>
                    <a:p>
                      <a:pPr marL="57785" indent="-3810" algn="l" rtl="0" eaLnBrk="0">
                        <a:lnSpc>
                          <a:spcPct val="93000"/>
                        </a:lnSpc>
                        <a:spcBef>
                          <a:spcPts val="0"/>
                        </a:spcBef>
                      </a:pPr>
                      <a:r>
                        <a:rPr sz="1200" spc="-10" dirty="0">
                          <a:solidFill>
                            <a:srgbClr val="000000">
                              <a:alpha val="100000"/>
                            </a:srgbClr>
                          </a:solidFill>
                          <a:latin typeface="微软雅黑" panose="020B0503020204020204" charset="-122"/>
                          <a:ea typeface="微软雅黑" panose="020B0503020204020204" charset="-122"/>
                          <a:cs typeface="楷体" panose="02010609060101010101" charset="-122"/>
                        </a:rPr>
                        <a:t>加工</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200" spc="-30" dirty="0">
                          <a:solidFill>
                            <a:srgbClr val="000000">
                              <a:alpha val="100000"/>
                            </a:srgbClr>
                          </a:solidFill>
                          <a:latin typeface="微软雅黑" panose="020B0503020204020204" charset="-122"/>
                          <a:ea typeface="微软雅黑" panose="020B0503020204020204" charset="-122"/>
                          <a:cs typeface="楷体" panose="02010609060101010101" charset="-122"/>
                        </a:rPr>
                        <a:t>成</a:t>
                      </a:r>
                      <a:r>
                        <a:rPr sz="1200" spc="-20" dirty="0">
                          <a:solidFill>
                            <a:srgbClr val="000000">
                              <a:alpha val="100000"/>
                            </a:srgbClr>
                          </a:solidFill>
                          <a:latin typeface="微软雅黑" panose="020B0503020204020204" charset="-122"/>
                          <a:ea typeface="微软雅黑" panose="020B0503020204020204" charset="-122"/>
                          <a:cs typeface="楷体" panose="02010609060101010101" charset="-122"/>
                        </a:rPr>
                        <a:t>本</a:t>
                      </a:r>
                      <a:endParaRPr lang="en-US" altLang="en-US" sz="1200" dirty="0">
                        <a:latin typeface="微软雅黑" panose="020B0503020204020204" charset="-122"/>
                        <a:ea typeface="微软雅黑" panose="020B0503020204020204" charset="-122"/>
                      </a:endParaRPr>
                    </a:p>
                  </a:txBody>
                  <a:tcPr marL="0" marR="0" marT="0" marB="0">
                    <a:lnL>
                      <a:noFill/>
                    </a:lnL>
                    <a:lnR>
                      <a:noFill/>
                    </a:lnR>
                    <a:lnT>
                      <a:noFill/>
                    </a:lnT>
                    <a:lnB w="3175" cap="flat" cmpd="sng" algn="ctr">
                      <a:solidFill>
                        <a:srgbClr val="BFE1FF"/>
                      </a:solidFill>
                      <a:prstDash val="solid"/>
                      <a:round/>
                      <a:headEnd type="none" w="med" len="med"/>
                      <a:tailEnd type="none" w="med" len="med"/>
                    </a:lnB>
                  </a:tcPr>
                </a:tc>
                <a:tc rowSpan="2">
                  <a:txBody>
                    <a:bodyPr/>
                    <a:lstStyle/>
                    <a:p>
                      <a:pPr algn="l" rtl="0" eaLnBrk="0">
                        <a:lnSpc>
                          <a:spcPct val="152000"/>
                        </a:lnSpc>
                      </a:pPr>
                      <a:endParaRPr lang="en-US" altLang="en-US" sz="100" dirty="0">
                        <a:latin typeface="微软雅黑" panose="020B0503020204020204" charset="-122"/>
                        <a:ea typeface="微软雅黑" panose="020B0503020204020204" charset="-122"/>
                      </a:endParaRPr>
                    </a:p>
                    <a:p>
                      <a:pPr marL="66675" algn="l" rtl="0" eaLnBrk="0">
                        <a:lnSpc>
                          <a:spcPct val="83000"/>
                        </a:lnSpc>
                        <a:spcBef>
                          <a:spcPts val="0"/>
                        </a:spcBef>
                      </a:pPr>
                      <a:r>
                        <a:rPr sz="1200" spc="-40" dirty="0">
                          <a:solidFill>
                            <a:srgbClr val="000000">
                              <a:alpha val="100000"/>
                            </a:srgbClr>
                          </a:solidFill>
                          <a:latin typeface="微软雅黑" panose="020B0503020204020204" charset="-122"/>
                          <a:ea typeface="微软雅黑" panose="020B0503020204020204" charset="-122"/>
                          <a:cs typeface="楷体" panose="02010609060101010101" charset="-122"/>
                        </a:rPr>
                        <a:t>落袋</a:t>
                      </a:r>
                      <a:endParaRPr lang="en-US" altLang="en-US" sz="1200" dirty="0">
                        <a:latin typeface="微软雅黑" panose="020B0503020204020204" charset="-122"/>
                        <a:ea typeface="微软雅黑" panose="020B0503020204020204" charset="-122"/>
                      </a:endParaRPr>
                    </a:p>
                    <a:p>
                      <a:pPr marL="57785" algn="l" rtl="0" eaLnBrk="0">
                        <a:lnSpc>
                          <a:spcPts val="1500"/>
                        </a:lnSpc>
                      </a:pPr>
                      <a:r>
                        <a:rPr sz="1200" spc="-20" dirty="0">
                          <a:solidFill>
                            <a:srgbClr val="000000">
                              <a:alpha val="100000"/>
                            </a:srgbClr>
                          </a:solidFill>
                          <a:latin typeface="微软雅黑" panose="020B0503020204020204" charset="-122"/>
                          <a:ea typeface="微软雅黑" panose="020B0503020204020204" charset="-122"/>
                          <a:cs typeface="楷体" panose="02010609060101010101" charset="-122"/>
                        </a:rPr>
                        <a:t>利润</a:t>
                      </a:r>
                      <a:endParaRPr lang="en-US" altLang="en-US" sz="1200" dirty="0">
                        <a:latin typeface="微软雅黑" panose="020B0503020204020204" charset="-122"/>
                        <a:ea typeface="微软雅黑" panose="020B0503020204020204" charset="-122"/>
                      </a:endParaRPr>
                    </a:p>
                    <a:p>
                      <a:pPr marL="58420" algn="l" rtl="0" eaLnBrk="0">
                        <a:lnSpc>
                          <a:spcPts val="1535"/>
                        </a:lnSpc>
                      </a:pP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率</a:t>
                      </a:r>
                      <a:endParaRPr lang="en-US" altLang="en-US" sz="1200" dirty="0">
                        <a:latin typeface="微软雅黑" panose="020B0503020204020204" charset="-122"/>
                        <a:ea typeface="微软雅黑" panose="020B0503020204020204" charset="-122"/>
                      </a:endParaRPr>
                    </a:p>
                  </a:txBody>
                  <a:tcPr marL="0" marR="0" marT="0" marB="0">
                    <a:lnL>
                      <a:noFill/>
                    </a:lnL>
                    <a:lnR w="19050" cap="flat" cmpd="sng" algn="ctr">
                      <a:solidFill>
                        <a:srgbClr val="BFE1FF"/>
                      </a:solidFill>
                      <a:prstDash val="solid"/>
                      <a:round/>
                      <a:headEnd type="none" w="med" len="med"/>
                      <a:tailEnd type="none" w="med" len="med"/>
                    </a:lnR>
                    <a:lnT>
                      <a:noFill/>
                    </a:lnT>
                    <a:lnB w="3175" cap="flat" cmpd="sng" algn="ctr">
                      <a:solidFill>
                        <a:srgbClr val="BFE1FF"/>
                      </a:solidFill>
                      <a:prstDash val="solid"/>
                      <a:round/>
                      <a:headEnd type="none" w="med" len="med"/>
                      <a:tailEnd type="none" w="med" len="med"/>
                    </a:lnB>
                  </a:tcPr>
                </a:tc>
              </a:tr>
              <a:tr h="1555750">
                <a:tc vMerge="1">
                  <a:tcPr marL="0" marR="0" marT="0" marB="0">
                    <a:lnL w="19050" cap="flat" cmpd="sng" algn="ctr">
                      <a:solidFill>
                        <a:srgbClr val="BFE1FF"/>
                      </a:solidFill>
                      <a:prstDash val="solid"/>
                      <a:round/>
                      <a:headEnd type="none" w="med" len="med"/>
                      <a:tailEnd type="none" w="med" len="med"/>
                    </a:lnL>
                    <a:lnR>
                      <a:noFill/>
                    </a:lnR>
                    <a:lnT>
                      <a:noFill/>
                    </a:lnT>
                    <a:lnB w="3175" cap="flat" cmpd="sng" algn="ctr">
                      <a:solidFill>
                        <a:srgbClr val="BFE1FF"/>
                      </a:solidFill>
                      <a:prstDash val="solid"/>
                      <a:round/>
                      <a:headEnd type="none" w="med" len="med"/>
                      <a:tailEnd type="none" w="med" len="med"/>
                    </a:lnB>
                  </a:tcPr>
                </a:tc>
                <a:tc>
                  <a:txBody>
                    <a:bodyPr/>
                    <a:lstStyle/>
                    <a:p>
                      <a:pPr algn="l" rtl="0" eaLnBrk="0">
                        <a:lnSpc>
                          <a:spcPct val="100000"/>
                        </a:lnSpc>
                      </a:pPr>
                      <a:endParaRPr lang="en-US" altLang="en-US" sz="100" dirty="0">
                        <a:latin typeface="微软雅黑" panose="020B0503020204020204" charset="-122"/>
                        <a:ea typeface="微软雅黑" panose="020B0503020204020204" charset="-122"/>
                      </a:endParaRPr>
                    </a:p>
                    <a:p>
                      <a:pPr marL="3728085" algn="l" rtl="0" eaLnBrk="0">
                        <a:lnSpc>
                          <a:spcPct val="97000"/>
                        </a:lnSpc>
                        <a:spcBef>
                          <a:spcPts val="0"/>
                        </a:spcBef>
                      </a:pPr>
                      <a:r>
                        <a:rPr sz="1200" spc="-10" dirty="0">
                          <a:solidFill>
                            <a:srgbClr val="000000">
                              <a:alpha val="100000"/>
                            </a:srgbClr>
                          </a:solidFill>
                          <a:latin typeface="微软雅黑" panose="020B0503020204020204" charset="-122"/>
                          <a:ea typeface="微软雅黑" panose="020B0503020204020204" charset="-122"/>
                          <a:cs typeface="楷体" panose="02010609060101010101" charset="-122"/>
                        </a:rPr>
                        <a:t>账</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款</a:t>
                      </a:r>
                      <a:endParaRPr lang="en-US" altLang="en-US" sz="1200" dirty="0">
                        <a:latin typeface="微软雅黑" panose="020B0503020204020204" charset="-122"/>
                        <a:ea typeface="微软雅黑" panose="020B0503020204020204" charset="-122"/>
                      </a:endParaRPr>
                    </a:p>
                  </a:txBody>
                  <a:tcPr marL="0" marR="0" marT="0" marB="0">
                    <a:lnL>
                      <a:noFill/>
                    </a:lnL>
                    <a:lnR>
                      <a:noFill/>
                    </a:lnR>
                    <a:lnT>
                      <a:noFill/>
                    </a:lnT>
                    <a:lnB w="3175" cap="flat" cmpd="sng" algn="ctr">
                      <a:solidFill>
                        <a:srgbClr val="BFE1FF"/>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c vMerge="1">
                  <a:tcPr marL="0" marR="0" marT="0" marB="0">
                    <a:lnL>
                      <a:noFill/>
                    </a:lnL>
                    <a:lnR>
                      <a:noFill/>
                    </a:lnR>
                    <a:lnT>
                      <a:noFill/>
                    </a:lnT>
                    <a:lnB w="3175" cap="flat" cmpd="sng" algn="ctr">
                      <a:solidFill>
                        <a:srgbClr val="BFE1FF"/>
                      </a:solidFill>
                      <a:prstDash val="solid"/>
                      <a:round/>
                      <a:headEnd type="none" w="med" len="med"/>
                      <a:tailEnd type="none" w="med" len="med"/>
                    </a:lnB>
                  </a:tcPr>
                </a:tc>
                <a:tc vMerge="1">
                  <a:tcPr marL="0" marR="0" marT="0" marB="0">
                    <a:lnL>
                      <a:noFill/>
                    </a:lnL>
                    <a:lnR w="19050" cap="flat" cmpd="sng" algn="ctr">
                      <a:solidFill>
                        <a:srgbClr val="BFE1FF"/>
                      </a:solidFill>
                      <a:prstDash val="solid"/>
                      <a:round/>
                      <a:headEnd type="none" w="med" len="med"/>
                      <a:tailEnd type="none" w="med" len="med"/>
                    </a:lnR>
                    <a:lnT>
                      <a:noFill/>
                    </a:lnT>
                    <a:lnB w="3175" cap="flat" cmpd="sng" algn="ctr">
                      <a:solidFill>
                        <a:srgbClr val="BFE1FF"/>
                      </a:solidFill>
                      <a:prstDash val="solid"/>
                      <a:round/>
                      <a:headEnd type="none" w="med" len="med"/>
                      <a:tailEnd type="none" w="med" len="med"/>
                    </a:lnB>
                  </a:tcPr>
                </a:tc>
              </a:tr>
            </a:tbl>
          </a:graphicData>
        </a:graphic>
      </p:graphicFrame>
      <p:sp>
        <p:nvSpPr>
          <p:cNvPr id="1091" name="textbox 1091"/>
          <p:cNvSpPr/>
          <p:nvPr/>
        </p:nvSpPr>
        <p:spPr>
          <a:xfrm>
            <a:off x="132080" y="248920"/>
            <a:ext cx="6909435" cy="603250"/>
          </a:xfrm>
          <a:prstGeom prst="rect">
            <a:avLst/>
          </a:prstGeom>
        </p:spPr>
        <p:txBody>
          <a:bodyPr vert="horz" wrap="square" lIns="0" tIns="0" rIns="0" bIns="0"/>
          <a:lstStyle/>
          <a:p>
            <a:pPr algn="l" rtl="0" eaLnBrk="0">
              <a:lnSpc>
                <a:spcPct val="72000"/>
              </a:lnSpc>
            </a:pPr>
            <a:endParaRPr lang="en-US" altLang="en-US" sz="100" dirty="0">
              <a:latin typeface="微软雅黑" panose="020B0503020204020204" charset="-122"/>
              <a:ea typeface="微软雅黑" panose="020B0503020204020204" charset="-122"/>
            </a:endParaRPr>
          </a:p>
          <a:p>
            <a:pPr marL="387985" indent="-375285" algn="l" rtl="0" eaLnBrk="0">
              <a:lnSpc>
                <a:spcPct val="95000"/>
              </a:lnSpc>
            </a:pPr>
            <a:r>
              <a:rPr sz="2600" b="1" spc="-40" baseline="6000" dirty="0">
                <a:solidFill>
                  <a:srgbClr val="D9D9D9">
                    <a:alpha val="100000"/>
                  </a:srgbClr>
                </a:solidFill>
                <a:latin typeface="微软雅黑" panose="020B0503020204020204" charset="-122"/>
                <a:ea typeface="微软雅黑" panose="020B0503020204020204" charset="-122"/>
                <a:cs typeface="Arial" panose="020B0604020202020204"/>
              </a:rPr>
              <a:t>2</a:t>
            </a:r>
            <a:r>
              <a:rPr sz="2600" b="1" spc="0" baseline="6000" dirty="0">
                <a:solidFill>
                  <a:srgbClr val="D9D9D9">
                    <a:alpha val="100000"/>
                  </a:srgbClr>
                </a:solidFill>
                <a:latin typeface="微软雅黑" panose="020B0503020204020204" charset="-122"/>
                <a:ea typeface="微软雅黑" panose="020B0503020204020204" charset="-122"/>
                <a:cs typeface="Arial" panose="020B0604020202020204"/>
              </a:rPr>
              <a:t>b</a:t>
            </a:r>
            <a:r>
              <a:rPr sz="1600" spc="-40" dirty="0">
                <a:solidFill>
                  <a:srgbClr val="D9D9D9">
                    <a:alpha val="100000"/>
                  </a:srgbClr>
                </a:solidFill>
                <a:latin typeface="微软雅黑" panose="020B0503020204020204" charset="-122"/>
                <a:ea typeface="微软雅黑" panose="020B0503020204020204" charset="-122"/>
                <a:cs typeface="Arial" panose="020B0604020202020204"/>
              </a:rPr>
              <a:t> </a:t>
            </a:r>
            <a:r>
              <a:rPr sz="2000" spc="-40" dirty="0">
                <a:solidFill>
                  <a:srgbClr val="002960">
                    <a:alpha val="100000"/>
                  </a:srgbClr>
                </a:solidFill>
                <a:latin typeface="微软雅黑" panose="020B0503020204020204" charset="-122"/>
                <a:ea typeface="微软雅黑" panose="020B0503020204020204" charset="-122"/>
                <a:cs typeface="楷体" panose="02010609060101010101" charset="-122"/>
              </a:rPr>
              <a:t>利润瀑布图： 准确地计算每笔交易对于企业的真实价值 </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(落袋利润) ， </a:t>
            </a:r>
            <a:r>
              <a:rPr sz="2000" spc="-30" dirty="0">
                <a:solidFill>
                  <a:srgbClr val="002960">
                    <a:alpha val="100000"/>
                  </a:srgbClr>
                </a:solidFill>
                <a:latin typeface="微软雅黑" panose="020B0503020204020204" charset="-122"/>
                <a:ea typeface="微软雅黑" panose="020B0503020204020204" charset="-122"/>
                <a:cs typeface="楷体" panose="02010609060101010101" charset="-122"/>
              </a:rPr>
              <a:t>以准确把握提升价值的机</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会</a:t>
            </a:r>
            <a:endParaRPr lang="en-US" altLang="en-US" sz="2000" dirty="0">
              <a:latin typeface="微软雅黑" panose="020B0503020204020204" charset="-122"/>
              <a:ea typeface="微软雅黑" panose="020B0503020204020204" charset="-122"/>
            </a:endParaRPr>
          </a:p>
        </p:txBody>
      </p:sp>
      <p:sp>
        <p:nvSpPr>
          <p:cNvPr id="1092" name="rect"/>
          <p:cNvSpPr/>
          <p:nvPr/>
        </p:nvSpPr>
        <p:spPr>
          <a:xfrm>
            <a:off x="390429" y="2919711"/>
            <a:ext cx="300189" cy="1238537"/>
          </a:xfrm>
          <a:prstGeom prst="rect">
            <a:avLst/>
          </a:prstGeom>
          <a:solidFill>
            <a:srgbClr val="C5C5C5">
              <a:alpha val="100000"/>
            </a:srgbClr>
          </a:solidFill>
          <a:ln cap="flat">
            <a:noFill/>
            <a:prstDash val="solid"/>
            <a:miter lim="0"/>
          </a:ln>
        </p:spPr>
        <p:txBody>
          <a:bodyPr rtlCol="0"/>
          <a:lstStyle/>
          <a:p>
            <a:pPr algn="ctr"/>
            <a:endParaRPr lang="zh-CN" altLang="en-US"/>
          </a:p>
        </p:txBody>
      </p:sp>
      <p:sp>
        <p:nvSpPr>
          <p:cNvPr id="1093" name="rect"/>
          <p:cNvSpPr/>
          <p:nvPr/>
        </p:nvSpPr>
        <p:spPr>
          <a:xfrm>
            <a:off x="3252996" y="1805122"/>
            <a:ext cx="299872" cy="2353126"/>
          </a:xfrm>
          <a:prstGeom prst="rect">
            <a:avLst/>
          </a:prstGeom>
          <a:solidFill>
            <a:srgbClr val="00ADEF">
              <a:alpha val="100000"/>
            </a:srgbClr>
          </a:solidFill>
          <a:ln cap="flat">
            <a:noFill/>
            <a:prstDash val="solid"/>
            <a:miter lim="0"/>
          </a:ln>
        </p:spPr>
        <p:txBody>
          <a:bodyPr rtlCol="0"/>
          <a:lstStyle/>
          <a:p>
            <a:pPr algn="ctr"/>
            <a:endParaRPr lang="zh-CN" altLang="en-US"/>
          </a:p>
        </p:txBody>
      </p:sp>
      <p:sp>
        <p:nvSpPr>
          <p:cNvPr id="1094" name="rect"/>
          <p:cNvSpPr/>
          <p:nvPr/>
        </p:nvSpPr>
        <p:spPr>
          <a:xfrm>
            <a:off x="4072076" y="2052639"/>
            <a:ext cx="300189" cy="2105609"/>
          </a:xfrm>
          <a:prstGeom prst="rect">
            <a:avLst/>
          </a:prstGeom>
          <a:solidFill>
            <a:srgbClr val="00ADEF">
              <a:alpha val="94117"/>
            </a:srgbClr>
          </a:solidFill>
          <a:ln cap="flat">
            <a:noFill/>
            <a:prstDash val="solid"/>
            <a:miter lim="0"/>
          </a:ln>
        </p:spPr>
        <p:txBody>
          <a:bodyPr rtlCol="0"/>
          <a:lstStyle/>
          <a:p>
            <a:pPr algn="ctr"/>
            <a:endParaRPr lang="zh-CN" altLang="en-US"/>
          </a:p>
        </p:txBody>
      </p:sp>
      <p:sp>
        <p:nvSpPr>
          <p:cNvPr id="1095" name="rect"/>
          <p:cNvSpPr/>
          <p:nvPr/>
        </p:nvSpPr>
        <p:spPr>
          <a:xfrm>
            <a:off x="8158593" y="3720148"/>
            <a:ext cx="299872" cy="438100"/>
          </a:xfrm>
          <a:prstGeom prst="rect">
            <a:avLst/>
          </a:prstGeom>
          <a:solidFill>
            <a:srgbClr val="00ADEF">
              <a:alpha val="100000"/>
            </a:srgbClr>
          </a:solidFill>
          <a:ln cap="flat">
            <a:noFill/>
            <a:prstDash val="solid"/>
            <a:miter lim="0"/>
          </a:ln>
        </p:spPr>
        <p:txBody>
          <a:bodyPr rtlCol="0"/>
          <a:lstStyle/>
          <a:p>
            <a:pPr algn="ctr"/>
            <a:endParaRPr lang="zh-CN" altLang="en-US"/>
          </a:p>
        </p:txBody>
      </p:sp>
      <p:sp>
        <p:nvSpPr>
          <p:cNvPr id="1096" name="rect"/>
          <p:cNvSpPr/>
          <p:nvPr/>
        </p:nvSpPr>
        <p:spPr>
          <a:xfrm>
            <a:off x="7339258" y="3348618"/>
            <a:ext cx="300190" cy="809630"/>
          </a:xfrm>
          <a:prstGeom prst="rect">
            <a:avLst/>
          </a:prstGeom>
          <a:solidFill>
            <a:srgbClr val="00ADEF">
              <a:alpha val="100000"/>
            </a:srgbClr>
          </a:solidFill>
          <a:ln cap="flat">
            <a:noFill/>
            <a:prstDash val="solid"/>
            <a:miter lim="0"/>
          </a:ln>
        </p:spPr>
        <p:txBody>
          <a:bodyPr rtlCol="0"/>
          <a:lstStyle/>
          <a:p>
            <a:pPr algn="ctr"/>
            <a:endParaRPr lang="zh-CN" altLang="en-US"/>
          </a:p>
        </p:txBody>
      </p:sp>
      <p:graphicFrame>
        <p:nvGraphicFramePr>
          <p:cNvPr id="1097" name="table 1097"/>
          <p:cNvGraphicFramePr>
            <a:graphicFrameLocks noGrp="1"/>
          </p:cNvGraphicFramePr>
          <p:nvPr/>
        </p:nvGraphicFramePr>
        <p:xfrm>
          <a:off x="333317" y="3718560"/>
          <a:ext cx="8176894" cy="441960"/>
        </p:xfrm>
        <a:graphic>
          <a:graphicData uri="http://schemas.openxmlformats.org/drawingml/2006/table">
            <a:tbl>
              <a:tblPr/>
              <a:tblGrid>
                <a:gridCol w="7827644"/>
                <a:gridCol w="349250"/>
              </a:tblGrid>
              <a:tr h="441959">
                <a:tc>
                  <a:txBody>
                    <a:bodyPr/>
                    <a:lstStyle/>
                    <a:p>
                      <a:pPr algn="l" rtl="0" eaLnBrk="0">
                        <a:lnSpc>
                          <a:spcPct val="100000"/>
                        </a:lnSpc>
                      </a:pPr>
                      <a:endParaRPr lang="en-US" altLang="en-US" sz="1000" dirty="0">
                        <a:latin typeface="微软雅黑" panose="020B0503020204020204" charset="-122"/>
                        <a:ea typeface="微软雅黑" panose="020B0503020204020204" charset="-122"/>
                      </a:endParaRPr>
                    </a:p>
                  </a:txBody>
                  <a:tcPr marL="0" marR="0" marT="0" marB="0">
                    <a:lnL>
                      <a:noFill/>
                    </a:lnL>
                    <a:lnR w="3175" cap="flat" cmpd="sng" algn="ctr">
                      <a:solidFill>
                        <a:srgbClr val="FFFFFF"/>
                      </a:solidFill>
                      <a:prstDash val="solid"/>
                      <a:round/>
                      <a:headEnd type="none" w="med" len="med"/>
                      <a:tailEnd type="none" w="med" len="med"/>
                    </a:lnR>
                    <a:lnT>
                      <a:noFill/>
                    </a:lnT>
                    <a:lnB w="3175" cap="flat" cmpd="sng" algn="ctr">
                      <a:solidFill>
                        <a:srgbClr val="808080"/>
                      </a:solidFill>
                      <a:prstDash val="solid"/>
                      <a:round/>
                      <a:headEnd type="none" w="med" len="med"/>
                      <a:tailEnd type="none" w="med" len="med"/>
                    </a:lnB>
                  </a:tcPr>
                </a:tc>
                <a:tc>
                  <a:txBody>
                    <a:bodyPr/>
                    <a:lstStyle/>
                    <a:p>
                      <a:pPr algn="l" rtl="0" eaLnBrk="0">
                        <a:lnSpc>
                          <a:spcPct val="100000"/>
                        </a:lnSpc>
                      </a:pPr>
                      <a:endParaRPr lang="en-US" altLang="en-US" sz="1000" dirty="0">
                        <a:ea typeface="微软雅黑" panose="020B0503020204020204" charset="-122"/>
                      </a:endParaRPr>
                    </a:p>
                  </a:txBody>
                  <a:tcPr marL="0" marR="0" marT="0" marB="0">
                    <a:lnL w="3175"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r>
            </a:tbl>
          </a:graphicData>
        </a:graphic>
      </p:graphicFrame>
      <p:sp>
        <p:nvSpPr>
          <p:cNvPr id="1098" name="textbox 1098"/>
          <p:cNvSpPr/>
          <p:nvPr/>
        </p:nvSpPr>
        <p:spPr>
          <a:xfrm>
            <a:off x="161544" y="1060703"/>
            <a:ext cx="8667115" cy="347979"/>
          </a:xfrm>
          <a:prstGeom prst="rect">
            <a:avLst/>
          </a:prstGeom>
          <a:solidFill>
            <a:srgbClr val="BFE1FF"/>
          </a:solidFill>
        </p:spPr>
        <p:txBody>
          <a:bodyPr vert="horz" wrap="square" lIns="0" tIns="0" rIns="0" bIns="0"/>
          <a:lstStyle/>
          <a:p>
            <a:pPr algn="l" rtl="0" eaLnBrk="0">
              <a:lnSpc>
                <a:spcPct val="100000"/>
              </a:lnSpc>
            </a:pPr>
            <a:endParaRPr lang="en-US" altLang="en-US" sz="600" dirty="0">
              <a:latin typeface="微软雅黑" panose="020B0503020204020204" charset="-122"/>
              <a:ea typeface="微软雅黑" panose="020B0503020204020204" charset="-122"/>
            </a:endParaRPr>
          </a:p>
          <a:p>
            <a:pPr marL="83185" algn="l" rtl="0" eaLnBrk="0">
              <a:lnSpc>
                <a:spcPct val="93000"/>
              </a:lnSpc>
            </a:pPr>
            <a:r>
              <a:rPr sz="1200" spc="-10" dirty="0">
                <a:ln w="435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交易定价落袋利润</a:t>
            </a:r>
            <a:r>
              <a:rPr sz="1200" spc="0" dirty="0">
                <a:ln w="435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瀑布分析图</a:t>
            </a:r>
            <a:endParaRPr lang="en-US" altLang="en-US" sz="1200" dirty="0">
              <a:latin typeface="微软雅黑" panose="020B0503020204020204" charset="-122"/>
              <a:ea typeface="微软雅黑" panose="020B0503020204020204" charset="-122"/>
            </a:endParaRPr>
          </a:p>
        </p:txBody>
      </p:sp>
      <p:pic>
        <p:nvPicPr>
          <p:cNvPr id="1099" name="picture 1099"/>
          <p:cNvPicPr>
            <a:picLocks noChangeAspect="1"/>
          </p:cNvPicPr>
          <p:nvPr/>
        </p:nvPicPr>
        <p:blipFill>
          <a:blip r:embed="rId2"/>
          <a:stretch>
            <a:fillRect/>
          </a:stretch>
        </p:blipFill>
        <p:spPr>
          <a:xfrm rot="21600000">
            <a:off x="2157222" y="4702302"/>
            <a:ext cx="76200" cy="556259"/>
          </a:xfrm>
          <a:prstGeom prst="rect">
            <a:avLst/>
          </a:prstGeom>
        </p:spPr>
      </p:pic>
      <p:graphicFrame>
        <p:nvGraphicFramePr>
          <p:cNvPr id="1100" name="table 1100"/>
          <p:cNvGraphicFramePr>
            <a:graphicFrameLocks noGrp="1"/>
          </p:cNvGraphicFramePr>
          <p:nvPr/>
        </p:nvGraphicFramePr>
        <p:xfrm>
          <a:off x="1618488" y="5042916"/>
          <a:ext cx="1137920" cy="822960"/>
        </p:xfrm>
        <a:graphic>
          <a:graphicData uri="http://schemas.openxmlformats.org/drawingml/2006/table">
            <a:tbl>
              <a:tblPr/>
              <a:tblGrid>
                <a:gridCol w="1137920"/>
              </a:tblGrid>
              <a:tr h="816610">
                <a:tc>
                  <a:txBody>
                    <a:bodyPr/>
                    <a:lstStyle/>
                    <a:p>
                      <a:pPr algn="l" rtl="0" eaLnBrk="0">
                        <a:lnSpc>
                          <a:spcPct val="107000"/>
                        </a:lnSpc>
                      </a:pPr>
                      <a:endParaRPr lang="en-US" altLang="en-US" sz="400" dirty="0">
                        <a:latin typeface="微软雅黑" panose="020B0503020204020204" charset="-122"/>
                        <a:ea typeface="微软雅黑" panose="020B0503020204020204" charset="-122"/>
                      </a:endParaRPr>
                    </a:p>
                    <a:p>
                      <a:pPr marL="104140" algn="l" rtl="0" eaLnBrk="0">
                        <a:lnSpc>
                          <a:spcPct val="96000"/>
                        </a:lnSpc>
                      </a:pPr>
                      <a:r>
                        <a:rPr sz="1200" spc="-30" dirty="0">
                          <a:solidFill>
                            <a:srgbClr val="000000">
                              <a:alpha val="100000"/>
                            </a:srgbClr>
                          </a:solidFill>
                          <a:latin typeface="微软雅黑" panose="020B0503020204020204" charset="-122"/>
                          <a:ea typeface="微软雅黑" panose="020B0503020204020204" charset="-122"/>
                          <a:cs typeface="楷体" panose="02010609060101010101" charset="-122"/>
                        </a:rPr>
                        <a:t>包括</a:t>
                      </a:r>
                      <a:endParaRPr lang="en-US" altLang="en-US" sz="1200" dirty="0">
                        <a:latin typeface="微软雅黑" panose="020B0503020204020204" charset="-122"/>
                        <a:ea typeface="微软雅黑" panose="020B0503020204020204" charset="-122"/>
                      </a:endParaRPr>
                    </a:p>
                    <a:p>
                      <a:pPr marL="101600" algn="l" rtl="0" eaLnBrk="0">
                        <a:lnSpc>
                          <a:spcPct val="80000"/>
                        </a:lnSpc>
                      </a:pPr>
                      <a:r>
                        <a:rPr sz="1500" spc="40" dirty="0">
                          <a:solidFill>
                            <a:srgbClr val="002960">
                              <a:alpha val="100000"/>
                            </a:srgbClr>
                          </a:solidFill>
                          <a:latin typeface="微软雅黑" panose="020B0503020204020204" charset="-122"/>
                          <a:ea typeface="微软雅黑" panose="020B0503020204020204" charset="-122"/>
                          <a:cs typeface="Arial" panose="020B0604020202020204"/>
                        </a:rPr>
                        <a:t>•  </a:t>
                      </a:r>
                      <a:r>
                        <a:rPr sz="1200" spc="30" dirty="0">
                          <a:solidFill>
                            <a:srgbClr val="000000">
                              <a:alpha val="100000"/>
                            </a:srgbClr>
                          </a:solidFill>
                          <a:latin typeface="微软雅黑" panose="020B0503020204020204" charset="-122"/>
                          <a:ea typeface="微软雅黑" panose="020B0503020204020204" charset="-122"/>
                          <a:cs typeface="楷体" panose="02010609060101010101" charset="-122"/>
                        </a:rPr>
                        <a:t>寄</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售</a:t>
                      </a:r>
                      <a:endParaRPr lang="en-US" altLang="en-US" sz="1200" dirty="0">
                        <a:latin typeface="微软雅黑" panose="020B0503020204020204" charset="-122"/>
                        <a:ea typeface="微软雅黑" panose="020B0503020204020204" charset="-122"/>
                      </a:endParaRPr>
                    </a:p>
                    <a:p>
                      <a:pPr marL="101600" algn="l" rtl="0" eaLnBrk="0">
                        <a:lnSpc>
                          <a:spcPct val="80000"/>
                        </a:lnSpc>
                      </a:pPr>
                      <a:r>
                        <a:rPr sz="1500" spc="20" dirty="0">
                          <a:solidFill>
                            <a:srgbClr val="002960">
                              <a:alpha val="100000"/>
                            </a:srgbClr>
                          </a:solidFill>
                          <a:latin typeface="微软雅黑" panose="020B0503020204020204" charset="-122"/>
                          <a:ea typeface="微软雅黑" panose="020B0503020204020204" charset="-122"/>
                          <a:cs typeface="Arial" panose="020B0604020202020204"/>
                        </a:rPr>
                        <a:t>•  </a:t>
                      </a:r>
                      <a:r>
                        <a:rPr sz="1200" spc="20" dirty="0">
                          <a:solidFill>
                            <a:srgbClr val="000000">
                              <a:alpha val="100000"/>
                            </a:srgbClr>
                          </a:solidFill>
                          <a:latin typeface="微软雅黑" panose="020B0503020204020204" charset="-122"/>
                          <a:ea typeface="微软雅黑" panose="020B0503020204020204" charset="-122"/>
                          <a:cs typeface="楷体" panose="02010609060101010101" charset="-122"/>
                        </a:rPr>
                        <a:t>快速送</a:t>
                      </a:r>
                      <a:r>
                        <a:rPr sz="1200" spc="10" dirty="0">
                          <a:solidFill>
                            <a:srgbClr val="000000">
                              <a:alpha val="100000"/>
                            </a:srgbClr>
                          </a:solidFill>
                          <a:latin typeface="微软雅黑" panose="020B0503020204020204" charset="-122"/>
                          <a:ea typeface="微软雅黑" panose="020B0503020204020204" charset="-122"/>
                          <a:cs typeface="楷体" panose="02010609060101010101" charset="-122"/>
                        </a:rPr>
                        <a:t>货</a:t>
                      </a:r>
                      <a:endParaRPr lang="en-US" altLang="en-US" sz="1200" dirty="0">
                        <a:latin typeface="微软雅黑" panose="020B0503020204020204" charset="-122"/>
                        <a:ea typeface="微软雅黑" panose="020B0503020204020204" charset="-122"/>
                      </a:endParaRPr>
                    </a:p>
                    <a:p>
                      <a:pPr marL="101600" algn="l" rtl="0" eaLnBrk="0">
                        <a:lnSpc>
                          <a:spcPct val="90000"/>
                        </a:lnSpc>
                        <a:spcBef>
                          <a:spcPts val="15"/>
                        </a:spcBef>
                      </a:pPr>
                      <a:r>
                        <a:rPr sz="1500" spc="20" dirty="0">
                          <a:solidFill>
                            <a:srgbClr val="002960">
                              <a:alpha val="100000"/>
                            </a:srgbClr>
                          </a:solidFill>
                          <a:latin typeface="微软雅黑" panose="020B0503020204020204" charset="-122"/>
                          <a:ea typeface="微软雅黑" panose="020B0503020204020204" charset="-122"/>
                          <a:cs typeface="Arial" panose="020B0604020202020204"/>
                        </a:rPr>
                        <a:t>•  </a:t>
                      </a:r>
                      <a:r>
                        <a:rPr sz="1200" spc="20" dirty="0">
                          <a:solidFill>
                            <a:srgbClr val="000000">
                              <a:alpha val="100000"/>
                            </a:srgbClr>
                          </a:solidFill>
                          <a:latin typeface="微软雅黑" panose="020B0503020204020204" charset="-122"/>
                          <a:ea typeface="微软雅黑" panose="020B0503020204020204" charset="-122"/>
                          <a:cs typeface="楷体" panose="02010609060101010101" charset="-122"/>
                        </a:rPr>
                        <a:t>保证</a:t>
                      </a:r>
                      <a:r>
                        <a:rPr sz="1200" spc="10" dirty="0">
                          <a:solidFill>
                            <a:srgbClr val="000000">
                              <a:alpha val="100000"/>
                            </a:srgbClr>
                          </a:solidFill>
                          <a:latin typeface="微软雅黑" panose="020B0503020204020204" charset="-122"/>
                          <a:ea typeface="微软雅黑" panose="020B0503020204020204" charset="-122"/>
                          <a:cs typeface="楷体" panose="02010609060101010101" charset="-122"/>
                        </a:rPr>
                        <a:t>交</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货</a:t>
                      </a:r>
                      <a:endParaRPr lang="en-US" altLang="en-US" sz="1200" dirty="0">
                        <a:latin typeface="微软雅黑" panose="020B0503020204020204" charset="-122"/>
                        <a:ea typeface="微软雅黑" panose="020B0503020204020204" charset="-122"/>
                      </a:endParaRPr>
                    </a:p>
                  </a:txBody>
                  <a:tcPr marL="0" marR="0" marT="0" marB="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pic>
        <p:nvPicPr>
          <p:cNvPr id="1101" name="picture 1101"/>
          <p:cNvPicPr>
            <a:picLocks noChangeAspect="1"/>
          </p:cNvPicPr>
          <p:nvPr/>
        </p:nvPicPr>
        <p:blipFill>
          <a:blip r:embed="rId3"/>
          <a:stretch>
            <a:fillRect/>
          </a:stretch>
        </p:blipFill>
        <p:spPr>
          <a:xfrm rot="21600000">
            <a:off x="5506973" y="4702302"/>
            <a:ext cx="76200" cy="556259"/>
          </a:xfrm>
          <a:prstGeom prst="rect">
            <a:avLst/>
          </a:prstGeom>
        </p:spPr>
      </p:pic>
      <p:graphicFrame>
        <p:nvGraphicFramePr>
          <p:cNvPr id="1102" name="table 1102"/>
          <p:cNvGraphicFramePr>
            <a:graphicFrameLocks noGrp="1"/>
          </p:cNvGraphicFramePr>
          <p:nvPr/>
        </p:nvGraphicFramePr>
        <p:xfrm>
          <a:off x="4774691" y="5042916"/>
          <a:ext cx="1137920" cy="822960"/>
        </p:xfrm>
        <a:graphic>
          <a:graphicData uri="http://schemas.openxmlformats.org/drawingml/2006/table">
            <a:tbl>
              <a:tblPr/>
              <a:tblGrid>
                <a:gridCol w="1137920"/>
              </a:tblGrid>
              <a:tr h="816610">
                <a:tc>
                  <a:txBody>
                    <a:bodyPr/>
                    <a:lstStyle/>
                    <a:p>
                      <a:pPr algn="l" rtl="0" eaLnBrk="0">
                        <a:lnSpc>
                          <a:spcPct val="108000"/>
                        </a:lnSpc>
                      </a:pPr>
                      <a:endParaRPr lang="en-US" altLang="en-US" sz="1000" dirty="0">
                        <a:latin typeface="微软雅黑" panose="020B0503020204020204" charset="-122"/>
                        <a:ea typeface="微软雅黑" panose="020B0503020204020204" charset="-122"/>
                      </a:endParaRPr>
                    </a:p>
                    <a:p>
                      <a:pPr marL="81280" algn="l" rtl="0" eaLnBrk="0">
                        <a:lnSpc>
                          <a:spcPct val="94000"/>
                        </a:lnSpc>
                        <a:spcBef>
                          <a:spcPts val="5"/>
                        </a:spcBef>
                      </a:pPr>
                      <a:r>
                        <a:rPr sz="1200" spc="-10" dirty="0">
                          <a:solidFill>
                            <a:srgbClr val="000000">
                              <a:alpha val="100000"/>
                            </a:srgbClr>
                          </a:solidFill>
                          <a:latin typeface="微软雅黑" panose="020B0503020204020204" charset="-122"/>
                          <a:ea typeface="微软雅黑" panose="020B0503020204020204" charset="-122"/>
                          <a:cs typeface="楷体" panose="02010609060101010101" charset="-122"/>
                        </a:rPr>
                        <a:t>在送</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货或取货</a:t>
                      </a:r>
                      <a:endParaRPr lang="en-US" altLang="en-US" sz="1200" dirty="0">
                        <a:latin typeface="微软雅黑" panose="020B0503020204020204" charset="-122"/>
                        <a:ea typeface="微软雅黑" panose="020B0503020204020204" charset="-122"/>
                      </a:endParaRPr>
                    </a:p>
                    <a:p>
                      <a:pPr marL="83820" indent="3175" algn="l" rtl="0" eaLnBrk="0">
                        <a:lnSpc>
                          <a:spcPct val="95000"/>
                        </a:lnSpc>
                        <a:spcBef>
                          <a:spcPts val="80"/>
                        </a:spcBef>
                      </a:pPr>
                      <a:r>
                        <a:rPr sz="1200" spc="-20" dirty="0">
                          <a:solidFill>
                            <a:srgbClr val="000000">
                              <a:alpha val="100000"/>
                            </a:srgbClr>
                          </a:solidFill>
                          <a:latin typeface="微软雅黑" panose="020B0503020204020204" charset="-122"/>
                          <a:ea typeface="微软雅黑" panose="020B0503020204020204" charset="-122"/>
                          <a:cs typeface="楷体" panose="02010609060101010101" charset="-122"/>
                        </a:rPr>
                        <a:t>前库存</a:t>
                      </a:r>
                      <a:r>
                        <a:rPr sz="1200" spc="-10" dirty="0">
                          <a:solidFill>
                            <a:srgbClr val="000000">
                              <a:alpha val="100000"/>
                            </a:srgbClr>
                          </a:solidFill>
                          <a:latin typeface="微软雅黑" panose="020B0503020204020204" charset="-122"/>
                          <a:ea typeface="微软雅黑" panose="020B0503020204020204" charset="-122"/>
                          <a:cs typeface="楷体" panose="02010609060101010101" charset="-122"/>
                        </a:rPr>
                        <a:t>成</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品的  </a:t>
                      </a:r>
                      <a:r>
                        <a:rPr sz="1200" spc="-10" dirty="0">
                          <a:solidFill>
                            <a:srgbClr val="000000">
                              <a:alpha val="100000"/>
                            </a:srgbClr>
                          </a:solidFill>
                          <a:latin typeface="微软雅黑" panose="020B0503020204020204" charset="-122"/>
                          <a:ea typeface="微软雅黑" panose="020B0503020204020204" charset="-122"/>
                          <a:cs typeface="楷体" panose="02010609060101010101" charset="-122"/>
                        </a:rPr>
                        <a:t>持有成本</a:t>
                      </a:r>
                      <a:endParaRPr lang="en-US" altLang="en-US" sz="1200" dirty="0">
                        <a:latin typeface="微软雅黑" panose="020B0503020204020204" charset="-122"/>
                        <a:ea typeface="微软雅黑" panose="020B0503020204020204" charset="-122"/>
                      </a:endParaRPr>
                    </a:p>
                  </a:txBody>
                  <a:tcPr marL="0" marR="0" marT="0" marB="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pic>
        <p:nvPicPr>
          <p:cNvPr id="1104" name="picture 1104"/>
          <p:cNvPicPr>
            <a:picLocks noChangeAspect="1"/>
          </p:cNvPicPr>
          <p:nvPr/>
        </p:nvPicPr>
        <p:blipFill>
          <a:blip r:embed="rId4"/>
          <a:stretch>
            <a:fillRect/>
          </a:stretch>
        </p:blipFill>
        <p:spPr>
          <a:xfrm rot="21600000">
            <a:off x="6244590" y="4702302"/>
            <a:ext cx="76200" cy="556259"/>
          </a:xfrm>
          <a:prstGeom prst="rect">
            <a:avLst/>
          </a:prstGeom>
        </p:spPr>
      </p:pic>
      <p:graphicFrame>
        <p:nvGraphicFramePr>
          <p:cNvPr id="1105" name="table 1105"/>
          <p:cNvGraphicFramePr>
            <a:graphicFrameLocks noGrp="1"/>
          </p:cNvGraphicFramePr>
          <p:nvPr/>
        </p:nvGraphicFramePr>
        <p:xfrm>
          <a:off x="6051803" y="5042916"/>
          <a:ext cx="964564" cy="822960"/>
        </p:xfrm>
        <a:graphic>
          <a:graphicData uri="http://schemas.openxmlformats.org/drawingml/2006/table">
            <a:tbl>
              <a:tblPr/>
              <a:tblGrid>
                <a:gridCol w="964564"/>
              </a:tblGrid>
              <a:tr h="816610">
                <a:tc>
                  <a:txBody>
                    <a:bodyPr/>
                    <a:lstStyle/>
                    <a:p>
                      <a:pPr algn="l" rtl="0" eaLnBrk="0">
                        <a:lnSpc>
                          <a:spcPct val="109000"/>
                        </a:lnSpc>
                      </a:pPr>
                      <a:endParaRPr lang="en-US" altLang="en-US" sz="300" dirty="0">
                        <a:latin typeface="微软雅黑" panose="020B0503020204020204" charset="-122"/>
                        <a:ea typeface="微软雅黑" panose="020B0503020204020204" charset="-122"/>
                      </a:endParaRPr>
                    </a:p>
                    <a:p>
                      <a:pPr marL="83185" indent="8255" algn="l" rtl="0" eaLnBrk="0">
                        <a:lnSpc>
                          <a:spcPct val="101000"/>
                        </a:lnSpc>
                        <a:spcBef>
                          <a:spcPts val="5"/>
                        </a:spcBef>
                      </a:pPr>
                      <a:r>
                        <a:rPr sz="1200" spc="-30" dirty="0">
                          <a:solidFill>
                            <a:srgbClr val="000000">
                              <a:alpha val="100000"/>
                            </a:srgbClr>
                          </a:solidFill>
                          <a:latin typeface="微软雅黑" panose="020B0503020204020204" charset="-122"/>
                          <a:ea typeface="微软雅黑" panose="020B0503020204020204" charset="-122"/>
                          <a:cs typeface="楷体" panose="02010609060101010101" charset="-122"/>
                        </a:rPr>
                        <a:t>包括数</a:t>
                      </a:r>
                      <a:r>
                        <a:rPr sz="1200" spc="-20" dirty="0">
                          <a:solidFill>
                            <a:srgbClr val="000000">
                              <a:alpha val="100000"/>
                            </a:srgbClr>
                          </a:solidFill>
                          <a:latin typeface="微软雅黑" panose="020B0503020204020204" charset="-122"/>
                          <a:ea typeface="微软雅黑" panose="020B0503020204020204" charset="-122"/>
                          <a:cs typeface="楷体" panose="02010609060101010101" charset="-122"/>
                        </a:rPr>
                        <a:t>量</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折 </a:t>
                      </a:r>
                      <a:r>
                        <a:rPr sz="1200" spc="-20" dirty="0">
                          <a:solidFill>
                            <a:srgbClr val="000000">
                              <a:alpha val="100000"/>
                            </a:srgbClr>
                          </a:solidFill>
                          <a:latin typeface="微软雅黑" panose="020B0503020204020204" charset="-122"/>
                          <a:ea typeface="微软雅黑" panose="020B0503020204020204" charset="-122"/>
                          <a:cs typeface="楷体" panose="02010609060101010101" charset="-122"/>
                        </a:rPr>
                        <a:t>扣、</a:t>
                      </a:r>
                      <a:r>
                        <a:rPr sz="1200" spc="-10" dirty="0">
                          <a:solidFill>
                            <a:srgbClr val="000000">
                              <a:alpha val="100000"/>
                            </a:srgbClr>
                          </a:solidFill>
                          <a:latin typeface="微软雅黑" panose="020B0503020204020204" charset="-122"/>
                          <a:ea typeface="微软雅黑" panose="020B0503020204020204" charset="-122"/>
                          <a:cs typeface="楷体" panose="02010609060101010101" charset="-122"/>
                        </a:rPr>
                        <a:t>招</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待   </a:t>
                      </a:r>
                      <a:r>
                        <a:rPr sz="1200" spc="-10" dirty="0">
                          <a:solidFill>
                            <a:srgbClr val="000000">
                              <a:alpha val="100000"/>
                            </a:srgbClr>
                          </a:solidFill>
                          <a:latin typeface="微软雅黑" panose="020B0503020204020204" charset="-122"/>
                          <a:ea typeface="微软雅黑" panose="020B0503020204020204" charset="-122"/>
                          <a:cs typeface="楷体" panose="02010609060101010101" charset="-122"/>
                        </a:rPr>
                        <a:t>费、联合营</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 销</a:t>
                      </a:r>
                      <a:endParaRPr lang="en-US" altLang="en-US" sz="1200" dirty="0">
                        <a:latin typeface="微软雅黑" panose="020B0503020204020204" charset="-122"/>
                        <a:ea typeface="微软雅黑" panose="020B0503020204020204" charset="-122"/>
                      </a:endParaRPr>
                    </a:p>
                  </a:txBody>
                  <a:tcPr marL="0" marR="0" marT="0" marB="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1106" name="rect"/>
          <p:cNvSpPr/>
          <p:nvPr/>
        </p:nvSpPr>
        <p:spPr>
          <a:xfrm>
            <a:off x="6934352" y="2362423"/>
            <a:ext cx="295430" cy="990956"/>
          </a:xfrm>
          <a:prstGeom prst="rect">
            <a:avLst/>
          </a:prstGeom>
          <a:solidFill>
            <a:srgbClr val="C5C5C5">
              <a:alpha val="100000"/>
            </a:srgbClr>
          </a:solidFill>
          <a:ln cap="flat">
            <a:noFill/>
            <a:prstDash val="solid"/>
            <a:miter lim="0"/>
          </a:ln>
        </p:spPr>
        <p:txBody>
          <a:bodyPr rtlCol="0"/>
          <a:lstStyle/>
          <a:p>
            <a:pPr algn="ctr"/>
            <a:endParaRPr lang="zh-CN" altLang="en-US"/>
          </a:p>
        </p:txBody>
      </p:sp>
      <p:sp>
        <p:nvSpPr>
          <p:cNvPr id="1107" name="textbox 1107"/>
          <p:cNvSpPr/>
          <p:nvPr/>
        </p:nvSpPr>
        <p:spPr>
          <a:xfrm>
            <a:off x="7330821" y="4256176"/>
            <a:ext cx="327659" cy="925194"/>
          </a:xfrm>
          <a:prstGeom prst="rect">
            <a:avLst/>
          </a:prstGeom>
        </p:spPr>
        <p:txBody>
          <a:bodyPr vert="horz" wrap="square" lIns="0" tIns="0" rIns="0" bIns="0"/>
          <a:lstStyle/>
          <a:p>
            <a:pPr algn="l" rtl="0" eaLnBrk="0">
              <a:lnSpc>
                <a:spcPct val="105000"/>
              </a:lnSpc>
            </a:pPr>
            <a:endParaRPr lang="en-US" altLang="en-US" sz="100" dirty="0">
              <a:latin typeface="微软雅黑" panose="020B0503020204020204" charset="-122"/>
              <a:ea typeface="微软雅黑" panose="020B0503020204020204" charset="-122"/>
            </a:endParaRPr>
          </a:p>
          <a:p>
            <a:pPr marL="12700" indent="3810" algn="l" rtl="0" eaLnBrk="0">
              <a:lnSpc>
                <a:spcPct val="98000"/>
              </a:lnSpc>
              <a:spcBef>
                <a:spcPts val="0"/>
              </a:spcBef>
            </a:pPr>
            <a:r>
              <a:rPr sz="1200" spc="-30" dirty="0">
                <a:solidFill>
                  <a:srgbClr val="000000">
                    <a:alpha val="100000"/>
                  </a:srgbClr>
                </a:solidFill>
                <a:latin typeface="微软雅黑" panose="020B0503020204020204" charset="-122"/>
                <a:ea typeface="微软雅黑" panose="020B0503020204020204" charset="-122"/>
                <a:cs typeface="楷体" panose="02010609060101010101" charset="-122"/>
              </a:rPr>
              <a:t>去除</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200" spc="-20" dirty="0">
                <a:solidFill>
                  <a:srgbClr val="000000">
                    <a:alpha val="100000"/>
                  </a:srgbClr>
                </a:solidFill>
                <a:latin typeface="微软雅黑" panose="020B0503020204020204" charset="-122"/>
                <a:ea typeface="微软雅黑" panose="020B0503020204020204" charset="-122"/>
                <a:cs typeface="楷体" panose="02010609060101010101" charset="-122"/>
              </a:rPr>
              <a:t>原</a:t>
            </a:r>
            <a:r>
              <a:rPr sz="1200" spc="-10" dirty="0">
                <a:solidFill>
                  <a:srgbClr val="000000">
                    <a:alpha val="100000"/>
                  </a:srgbClr>
                </a:solidFill>
                <a:latin typeface="微软雅黑" panose="020B0503020204020204" charset="-122"/>
                <a:ea typeface="微软雅黑" panose="020B0503020204020204" charset="-122"/>
                <a:cs typeface="楷体" panose="02010609060101010101" charset="-122"/>
              </a:rPr>
              <a:t>材</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200" spc="-20" dirty="0">
                <a:solidFill>
                  <a:srgbClr val="000000">
                    <a:alpha val="100000"/>
                  </a:srgbClr>
                </a:solidFill>
                <a:latin typeface="微软雅黑" panose="020B0503020204020204" charset="-122"/>
                <a:ea typeface="微软雅黑" panose="020B0503020204020204" charset="-122"/>
                <a:cs typeface="楷体" panose="02010609060101010101" charset="-122"/>
              </a:rPr>
              <a:t>料</a:t>
            </a:r>
            <a:r>
              <a:rPr sz="1200" spc="-10" dirty="0">
                <a:solidFill>
                  <a:srgbClr val="000000">
                    <a:alpha val="100000"/>
                  </a:srgbClr>
                </a:solidFill>
                <a:latin typeface="微软雅黑" panose="020B0503020204020204" charset="-122"/>
                <a:ea typeface="微软雅黑" panose="020B0503020204020204" charset="-122"/>
                <a:cs typeface="楷体" panose="02010609060101010101" charset="-122"/>
              </a:rPr>
              <a:t>的</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200" spc="-20" dirty="0">
                <a:solidFill>
                  <a:srgbClr val="000000">
                    <a:alpha val="100000"/>
                  </a:srgbClr>
                </a:solidFill>
                <a:latin typeface="微软雅黑" panose="020B0503020204020204" charset="-122"/>
                <a:ea typeface="微软雅黑" panose="020B0503020204020204" charset="-122"/>
                <a:cs typeface="楷体" panose="02010609060101010101" charset="-122"/>
              </a:rPr>
              <a:t>落</a:t>
            </a:r>
            <a:r>
              <a:rPr sz="1200" spc="-10" dirty="0">
                <a:solidFill>
                  <a:srgbClr val="000000">
                    <a:alpha val="100000"/>
                  </a:srgbClr>
                </a:solidFill>
                <a:latin typeface="微软雅黑" panose="020B0503020204020204" charset="-122"/>
                <a:ea typeface="微软雅黑" panose="020B0503020204020204" charset="-122"/>
                <a:cs typeface="楷体" panose="02010609060101010101" charset="-122"/>
              </a:rPr>
              <a:t>袋</a:t>
            </a: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200" spc="-20" dirty="0">
                <a:solidFill>
                  <a:srgbClr val="000000">
                    <a:alpha val="100000"/>
                  </a:srgbClr>
                </a:solidFill>
                <a:latin typeface="微软雅黑" panose="020B0503020204020204" charset="-122"/>
                <a:ea typeface="微软雅黑" panose="020B0503020204020204" charset="-122"/>
                <a:cs typeface="楷体" panose="02010609060101010101" charset="-122"/>
              </a:rPr>
              <a:t>价</a:t>
            </a:r>
            <a:r>
              <a:rPr sz="1200" spc="-10" dirty="0">
                <a:solidFill>
                  <a:srgbClr val="000000">
                    <a:alpha val="100000"/>
                  </a:srgbClr>
                </a:solidFill>
                <a:latin typeface="微软雅黑" panose="020B0503020204020204" charset="-122"/>
                <a:ea typeface="微软雅黑" panose="020B0503020204020204" charset="-122"/>
                <a:cs typeface="楷体" panose="02010609060101010101" charset="-122"/>
              </a:rPr>
              <a:t>格</a:t>
            </a:r>
            <a:endParaRPr lang="en-US" altLang="en-US" sz="1200" dirty="0">
              <a:latin typeface="微软雅黑" panose="020B0503020204020204" charset="-122"/>
              <a:ea typeface="微软雅黑" panose="020B0503020204020204" charset="-122"/>
            </a:endParaRPr>
          </a:p>
        </p:txBody>
      </p:sp>
      <p:sp>
        <p:nvSpPr>
          <p:cNvPr id="1108" name="rect"/>
          <p:cNvSpPr/>
          <p:nvPr/>
        </p:nvSpPr>
        <p:spPr>
          <a:xfrm>
            <a:off x="800109" y="2424201"/>
            <a:ext cx="300189" cy="500233"/>
          </a:xfrm>
          <a:prstGeom prst="rect">
            <a:avLst/>
          </a:prstGeom>
          <a:solidFill>
            <a:srgbClr val="C5C5C5">
              <a:alpha val="100000"/>
            </a:srgbClr>
          </a:solidFill>
          <a:ln cap="flat">
            <a:noFill/>
            <a:prstDash val="solid"/>
            <a:miter lim="0"/>
          </a:ln>
        </p:spPr>
        <p:txBody>
          <a:bodyPr rtlCol="0"/>
          <a:lstStyle/>
          <a:p>
            <a:pPr algn="ctr"/>
            <a:endParaRPr lang="zh-CN" altLang="en-US"/>
          </a:p>
        </p:txBody>
      </p:sp>
      <p:sp>
        <p:nvSpPr>
          <p:cNvPr id="1109" name="textbox 1109"/>
          <p:cNvSpPr/>
          <p:nvPr/>
        </p:nvSpPr>
        <p:spPr>
          <a:xfrm>
            <a:off x="8818509" y="1037437"/>
            <a:ext cx="114935" cy="1840229"/>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endParaRPr sz="600" spc="0" dirty="0">
              <a:solidFill>
                <a:srgbClr val="808080">
                  <a:alpha val="100000"/>
                </a:srgbClr>
              </a:solidFill>
              <a:latin typeface="Arial" panose="020B0604020202020204"/>
              <a:ea typeface="Arial" panose="020B0604020202020204"/>
              <a:cs typeface="Arial" panose="020B0604020202020204"/>
            </a:endParaRPr>
          </a:p>
        </p:txBody>
      </p:sp>
      <p:sp>
        <p:nvSpPr>
          <p:cNvPr id="1110" name="path"/>
          <p:cNvSpPr/>
          <p:nvPr/>
        </p:nvSpPr>
        <p:spPr>
          <a:xfrm>
            <a:off x="8260080" y="1908048"/>
            <a:ext cx="501395" cy="234696"/>
          </a:xfrm>
          <a:custGeom>
            <a:avLst/>
            <a:gdLst/>
            <a:ahLst/>
            <a:cxnLst/>
            <a:rect l="0" t="0" r="0" b="0"/>
            <a:pathLst>
              <a:path w="789" h="369">
                <a:moveTo>
                  <a:pt x="0" y="184"/>
                </a:moveTo>
                <a:cubicBezTo>
                  <a:pt x="0" y="82"/>
                  <a:pt x="176" y="0"/>
                  <a:pt x="394" y="0"/>
                </a:cubicBezTo>
                <a:cubicBezTo>
                  <a:pt x="612" y="0"/>
                  <a:pt x="789" y="82"/>
                  <a:pt x="789" y="184"/>
                </a:cubicBezTo>
                <a:cubicBezTo>
                  <a:pt x="789" y="286"/>
                  <a:pt x="612" y="369"/>
                  <a:pt x="394" y="369"/>
                </a:cubicBezTo>
                <a:cubicBezTo>
                  <a:pt x="176" y="369"/>
                  <a:pt x="0" y="286"/>
                  <a:pt x="0" y="184"/>
                </a:cubicBezTo>
              </a:path>
            </a:pathLst>
          </a:custGeom>
          <a:solidFill>
            <a:srgbClr val="C5C5C5">
              <a:alpha val="100000"/>
            </a:srgbClr>
          </a:solidFill>
          <a:ln cap="flat">
            <a:noFill/>
            <a:prstDash val="solid"/>
            <a:miter lim="0"/>
          </a:ln>
        </p:spPr>
        <p:txBody>
          <a:bodyPr rtlCol="0"/>
          <a:lstStyle/>
          <a:p>
            <a:pPr algn="ctr"/>
            <a:endParaRPr lang="zh-CN" altLang="en-US"/>
          </a:p>
        </p:txBody>
      </p:sp>
      <p:sp>
        <p:nvSpPr>
          <p:cNvPr id="1111" name="rect"/>
          <p:cNvSpPr/>
          <p:nvPr/>
        </p:nvSpPr>
        <p:spPr>
          <a:xfrm>
            <a:off x="7748861" y="3348625"/>
            <a:ext cx="299872" cy="376284"/>
          </a:xfrm>
          <a:prstGeom prst="rect">
            <a:avLst/>
          </a:prstGeom>
          <a:solidFill>
            <a:srgbClr val="C5C5C5">
              <a:alpha val="100000"/>
            </a:srgbClr>
          </a:solidFill>
          <a:ln cap="flat">
            <a:noFill/>
            <a:prstDash val="solid"/>
            <a:miter lim="0"/>
          </a:ln>
        </p:spPr>
        <p:txBody>
          <a:bodyPr rtlCol="0"/>
          <a:lstStyle/>
          <a:p>
            <a:pPr algn="ctr"/>
            <a:endParaRPr lang="zh-CN" altLang="en-US"/>
          </a:p>
        </p:txBody>
      </p:sp>
      <p:sp>
        <p:nvSpPr>
          <p:cNvPr id="1112" name="path"/>
          <p:cNvSpPr/>
          <p:nvPr/>
        </p:nvSpPr>
        <p:spPr>
          <a:xfrm>
            <a:off x="3662346" y="1805154"/>
            <a:ext cx="300189" cy="252335"/>
          </a:xfrm>
          <a:custGeom>
            <a:avLst/>
            <a:gdLst/>
            <a:ahLst/>
            <a:cxnLst/>
            <a:rect l="0" t="0" r="0" b="0"/>
            <a:pathLst>
              <a:path w="472" h="397">
                <a:moveTo>
                  <a:pt x="3" y="393"/>
                </a:moveTo>
                <a:moveTo>
                  <a:pt x="3" y="393"/>
                </a:moveTo>
                <a:lnTo>
                  <a:pt x="468" y="393"/>
                </a:lnTo>
                <a:lnTo>
                  <a:pt x="468" y="3"/>
                </a:lnTo>
                <a:lnTo>
                  <a:pt x="3" y="3"/>
                </a:lnTo>
                <a:lnTo>
                  <a:pt x="3" y="393"/>
                </a:lnTo>
                <a:close/>
              </a:path>
            </a:pathLst>
          </a:custGeom>
          <a:solidFill>
            <a:srgbClr val="C5C5C5">
              <a:alpha val="100000"/>
            </a:srgbClr>
          </a:solidFill>
          <a:ln cap="flat">
            <a:noFill/>
            <a:prstDash val="solid"/>
            <a:miter lim="0"/>
          </a:ln>
        </p:spPr>
        <p:txBody>
          <a:bodyPr rtlCol="0"/>
          <a:lstStyle/>
          <a:p>
            <a:pPr algn="ctr"/>
            <a:endParaRPr lang="zh-CN" altLang="en-US"/>
          </a:p>
        </p:txBody>
      </p:sp>
      <p:sp>
        <p:nvSpPr>
          <p:cNvPr id="1113" name="textbox 1113"/>
          <p:cNvSpPr/>
          <p:nvPr/>
        </p:nvSpPr>
        <p:spPr>
          <a:xfrm>
            <a:off x="4063117" y="4431174"/>
            <a:ext cx="327659" cy="201295"/>
          </a:xfrm>
          <a:prstGeom prst="rect">
            <a:avLst/>
          </a:prstGeom>
        </p:spPr>
        <p:txBody>
          <a:bodyPr vert="horz" wrap="square" lIns="0" tIns="0" rIns="0" bIns="0"/>
          <a:lstStyle/>
          <a:p>
            <a:pPr algn="l" rtl="0" eaLnBrk="0">
              <a:lnSpc>
                <a:spcPct val="84000"/>
              </a:lnSpc>
            </a:pPr>
            <a:endParaRPr lang="en-US" altLang="en-US" sz="100" dirty="0">
              <a:latin typeface="微软雅黑" panose="020B0503020204020204" charset="-122"/>
              <a:ea typeface="微软雅黑" panose="020B0503020204020204" charset="-122"/>
            </a:endParaRPr>
          </a:p>
          <a:p>
            <a:pPr marL="12700" algn="l" rtl="0" eaLnBrk="0">
              <a:lnSpc>
                <a:spcPct val="96000"/>
              </a:lnSpc>
            </a:pPr>
            <a:r>
              <a:rPr sz="1200" spc="-10" dirty="0">
                <a:solidFill>
                  <a:srgbClr val="000000">
                    <a:alpha val="100000"/>
                  </a:srgbClr>
                </a:solidFill>
                <a:latin typeface="微软雅黑" panose="020B0503020204020204" charset="-122"/>
                <a:ea typeface="微软雅黑" panose="020B0503020204020204" charset="-122"/>
                <a:cs typeface="楷体" panose="02010609060101010101" charset="-122"/>
              </a:rPr>
              <a:t>价格</a:t>
            </a:r>
            <a:endParaRPr lang="en-US" altLang="en-US" sz="1200" dirty="0">
              <a:latin typeface="微软雅黑" panose="020B0503020204020204" charset="-122"/>
              <a:ea typeface="微软雅黑" panose="020B0503020204020204" charset="-122"/>
            </a:endParaRPr>
          </a:p>
        </p:txBody>
      </p:sp>
      <p:sp>
        <p:nvSpPr>
          <p:cNvPr id="1114" name="textbox 1114"/>
          <p:cNvSpPr/>
          <p:nvPr/>
        </p:nvSpPr>
        <p:spPr>
          <a:xfrm>
            <a:off x="3243839" y="4431174"/>
            <a:ext cx="327659" cy="201295"/>
          </a:xfrm>
          <a:prstGeom prst="rect">
            <a:avLst/>
          </a:prstGeom>
        </p:spPr>
        <p:txBody>
          <a:bodyPr vert="horz" wrap="square" lIns="0" tIns="0" rIns="0" bIns="0"/>
          <a:lstStyle/>
          <a:p>
            <a:pPr algn="l" rtl="0" eaLnBrk="0">
              <a:lnSpc>
                <a:spcPct val="84000"/>
              </a:lnSpc>
            </a:pPr>
            <a:endParaRPr lang="en-US" altLang="en-US" sz="100" dirty="0">
              <a:latin typeface="微软雅黑" panose="020B0503020204020204" charset="-122"/>
              <a:ea typeface="微软雅黑" panose="020B0503020204020204" charset="-122"/>
            </a:endParaRPr>
          </a:p>
          <a:p>
            <a:pPr marL="12700" algn="l" rtl="0" eaLnBrk="0">
              <a:lnSpc>
                <a:spcPct val="96000"/>
              </a:lnSpc>
            </a:pPr>
            <a:r>
              <a:rPr sz="1200" spc="-10" dirty="0">
                <a:solidFill>
                  <a:srgbClr val="000000">
                    <a:alpha val="100000"/>
                  </a:srgbClr>
                </a:solidFill>
                <a:latin typeface="微软雅黑" panose="020B0503020204020204" charset="-122"/>
                <a:ea typeface="微软雅黑" panose="020B0503020204020204" charset="-122"/>
                <a:cs typeface="楷体" panose="02010609060101010101" charset="-122"/>
              </a:rPr>
              <a:t>价格</a:t>
            </a:r>
            <a:endParaRPr lang="en-US" altLang="en-US" sz="1200" dirty="0">
              <a:latin typeface="微软雅黑" panose="020B0503020204020204" charset="-122"/>
              <a:ea typeface="微软雅黑" panose="020B0503020204020204" charset="-122"/>
            </a:endParaRPr>
          </a:p>
        </p:txBody>
      </p:sp>
      <p:sp>
        <p:nvSpPr>
          <p:cNvPr id="1115" name="textbox 1115"/>
          <p:cNvSpPr/>
          <p:nvPr/>
        </p:nvSpPr>
        <p:spPr>
          <a:xfrm>
            <a:off x="8325662" y="1949882"/>
            <a:ext cx="377190" cy="172720"/>
          </a:xfrm>
          <a:prstGeom prst="rect">
            <a:avLst/>
          </a:prstGeom>
        </p:spPr>
        <p:txBody>
          <a:bodyPr vert="horz" wrap="square" lIns="0" tIns="0" rIns="0" bIns="0"/>
          <a:lstStyle/>
          <a:p>
            <a:pPr algn="l" rtl="0" eaLnBrk="0">
              <a:lnSpc>
                <a:spcPct val="78000"/>
              </a:lnSpc>
            </a:pPr>
            <a:endParaRPr lang="en-US" altLang="en-US" sz="100" dirty="0"/>
          </a:p>
          <a:p>
            <a:pPr marL="12700" algn="l" rtl="0" eaLnBrk="0">
              <a:lnSpc>
                <a:spcPct val="81000"/>
              </a:lnSpc>
            </a:pPr>
            <a:r>
              <a:rPr sz="1200" spc="-10" dirty="0">
                <a:solidFill>
                  <a:srgbClr val="000000">
                    <a:alpha val="100000"/>
                  </a:srgbClr>
                </a:solidFill>
                <a:latin typeface="Arial" panose="020B0604020202020204"/>
                <a:ea typeface="Arial" panose="020B0604020202020204"/>
                <a:cs typeface="Arial" panose="020B0604020202020204"/>
              </a:rPr>
              <a:t>-24%</a:t>
            </a:r>
            <a:endParaRPr lang="en-US" altLang="en-US" sz="1200" dirty="0"/>
          </a:p>
        </p:txBody>
      </p:sp>
      <p:sp>
        <p:nvSpPr>
          <p:cNvPr id="1116" name="rect"/>
          <p:cNvSpPr/>
          <p:nvPr/>
        </p:nvSpPr>
        <p:spPr>
          <a:xfrm>
            <a:off x="2433662" y="1928786"/>
            <a:ext cx="300189" cy="128703"/>
          </a:xfrm>
          <a:prstGeom prst="rect">
            <a:avLst/>
          </a:prstGeom>
          <a:solidFill>
            <a:srgbClr val="C5C5C5">
              <a:alpha val="100000"/>
            </a:srgbClr>
          </a:solidFill>
          <a:ln cap="flat">
            <a:noFill/>
            <a:prstDash val="solid"/>
            <a:miter lim="0"/>
          </a:ln>
        </p:spPr>
        <p:txBody>
          <a:bodyPr rtlCol="0"/>
          <a:lstStyle/>
          <a:p>
            <a:pPr algn="ctr"/>
            <a:endParaRPr lang="zh-CN" altLang="en-US"/>
          </a:p>
        </p:txBody>
      </p:sp>
      <p:sp>
        <p:nvSpPr>
          <p:cNvPr id="1117" name="rect"/>
          <p:cNvSpPr/>
          <p:nvPr/>
        </p:nvSpPr>
        <p:spPr>
          <a:xfrm>
            <a:off x="2024058" y="2052671"/>
            <a:ext cx="300189" cy="128703"/>
          </a:xfrm>
          <a:prstGeom prst="rect">
            <a:avLst/>
          </a:prstGeom>
          <a:solidFill>
            <a:srgbClr val="C5C5C5">
              <a:alpha val="100000"/>
            </a:srgbClr>
          </a:solidFill>
          <a:ln cap="flat">
            <a:noFill/>
            <a:prstDash val="solid"/>
            <a:miter lim="0"/>
          </a:ln>
        </p:spPr>
        <p:txBody>
          <a:bodyPr rtlCol="0"/>
          <a:lstStyle/>
          <a:p>
            <a:pPr algn="ctr"/>
            <a:endParaRPr lang="zh-CN" altLang="en-US"/>
          </a:p>
        </p:txBody>
      </p:sp>
      <p:sp>
        <p:nvSpPr>
          <p:cNvPr id="1118" name="path"/>
          <p:cNvSpPr/>
          <p:nvPr/>
        </p:nvSpPr>
        <p:spPr>
          <a:xfrm>
            <a:off x="1209776" y="2300632"/>
            <a:ext cx="299872" cy="128386"/>
          </a:xfrm>
          <a:custGeom>
            <a:avLst/>
            <a:gdLst/>
            <a:ahLst/>
            <a:cxnLst/>
            <a:rect l="0" t="0" r="0" b="0"/>
            <a:pathLst>
              <a:path w="472" h="202">
                <a:moveTo>
                  <a:pt x="3" y="198"/>
                </a:moveTo>
                <a:moveTo>
                  <a:pt x="3" y="198"/>
                </a:moveTo>
                <a:lnTo>
                  <a:pt x="468" y="198"/>
                </a:lnTo>
                <a:lnTo>
                  <a:pt x="468" y="3"/>
                </a:lnTo>
                <a:lnTo>
                  <a:pt x="3" y="3"/>
                </a:lnTo>
                <a:lnTo>
                  <a:pt x="3" y="198"/>
                </a:lnTo>
                <a:close/>
              </a:path>
            </a:pathLst>
          </a:custGeom>
          <a:solidFill>
            <a:srgbClr val="C5C5C5">
              <a:alpha val="100000"/>
            </a:srgbClr>
          </a:solidFill>
          <a:ln cap="flat">
            <a:noFill/>
            <a:prstDash val="solid"/>
            <a:miter lim="0"/>
          </a:ln>
        </p:spPr>
        <p:txBody>
          <a:bodyPr rtlCol="0"/>
          <a:lstStyle/>
          <a:p>
            <a:pPr algn="ctr"/>
            <a:endParaRPr lang="zh-CN" altLang="en-US"/>
          </a:p>
        </p:txBody>
      </p:sp>
      <p:sp>
        <p:nvSpPr>
          <p:cNvPr id="1119" name="path"/>
          <p:cNvSpPr/>
          <p:nvPr/>
        </p:nvSpPr>
        <p:spPr>
          <a:xfrm>
            <a:off x="2843392" y="1805090"/>
            <a:ext cx="299872" cy="128386"/>
          </a:xfrm>
          <a:custGeom>
            <a:avLst/>
            <a:gdLst/>
            <a:ahLst/>
            <a:cxnLst/>
            <a:rect l="0" t="0" r="0" b="0"/>
            <a:pathLst>
              <a:path w="472" h="202">
                <a:moveTo>
                  <a:pt x="3" y="198"/>
                </a:moveTo>
                <a:moveTo>
                  <a:pt x="3" y="198"/>
                </a:moveTo>
                <a:lnTo>
                  <a:pt x="468" y="198"/>
                </a:lnTo>
                <a:lnTo>
                  <a:pt x="468" y="3"/>
                </a:lnTo>
                <a:lnTo>
                  <a:pt x="3" y="3"/>
                </a:lnTo>
                <a:lnTo>
                  <a:pt x="3" y="198"/>
                </a:lnTo>
                <a:close/>
              </a:path>
            </a:pathLst>
          </a:custGeom>
          <a:solidFill>
            <a:srgbClr val="C5C5C5">
              <a:alpha val="100000"/>
            </a:srgbClr>
          </a:solidFill>
          <a:ln cap="flat">
            <a:noFill/>
            <a:prstDash val="solid"/>
            <a:miter lim="0"/>
          </a:ln>
        </p:spPr>
        <p:txBody>
          <a:bodyPr rtlCol="0"/>
          <a:lstStyle/>
          <a:p>
            <a:pPr algn="ctr"/>
            <a:endParaRPr lang="zh-CN" altLang="en-US"/>
          </a:p>
        </p:txBody>
      </p:sp>
      <p:sp>
        <p:nvSpPr>
          <p:cNvPr id="1120" name="rect"/>
          <p:cNvSpPr/>
          <p:nvPr/>
        </p:nvSpPr>
        <p:spPr>
          <a:xfrm>
            <a:off x="1619405" y="2176683"/>
            <a:ext cx="295112" cy="128704"/>
          </a:xfrm>
          <a:prstGeom prst="rect">
            <a:avLst/>
          </a:prstGeom>
          <a:solidFill>
            <a:srgbClr val="C5C5C5">
              <a:alpha val="100000"/>
            </a:srgbClr>
          </a:solidFill>
          <a:ln cap="flat">
            <a:noFill/>
            <a:prstDash val="solid"/>
            <a:miter lim="0"/>
          </a:ln>
        </p:spPr>
        <p:txBody>
          <a:bodyPr rtlCol="0"/>
          <a:lstStyle/>
          <a:p>
            <a:pPr algn="ctr"/>
            <a:endParaRPr lang="zh-CN" altLang="en-US"/>
          </a:p>
        </p:txBody>
      </p:sp>
      <p:sp>
        <p:nvSpPr>
          <p:cNvPr id="1121" name="textbox 1121"/>
          <p:cNvSpPr/>
          <p:nvPr/>
        </p:nvSpPr>
        <p:spPr>
          <a:xfrm>
            <a:off x="1206365" y="4431174"/>
            <a:ext cx="169545" cy="197485"/>
          </a:xfrm>
          <a:prstGeom prst="rect">
            <a:avLst/>
          </a:prstGeom>
        </p:spPr>
        <p:txBody>
          <a:bodyPr vert="horz" wrap="square" lIns="0" tIns="0" rIns="0" bIns="0"/>
          <a:lstStyle/>
          <a:p>
            <a:pPr algn="l" rtl="0" eaLnBrk="0">
              <a:lnSpc>
                <a:spcPct val="84000"/>
              </a:lnSpc>
            </a:pPr>
            <a:endParaRPr lang="en-US" altLang="en-US" sz="100" dirty="0">
              <a:latin typeface="微软雅黑" panose="020B0503020204020204" charset="-122"/>
              <a:ea typeface="微软雅黑" panose="020B0503020204020204" charset="-122"/>
            </a:endParaRPr>
          </a:p>
          <a:p>
            <a:pPr marL="12700" algn="l" rtl="0" eaLnBrk="0">
              <a:lnSpc>
                <a:spcPct val="94000"/>
              </a:lnSpc>
            </a:pPr>
            <a:r>
              <a:rPr sz="1200" spc="0" dirty="0">
                <a:solidFill>
                  <a:srgbClr val="000000">
                    <a:alpha val="100000"/>
                  </a:srgbClr>
                </a:solidFill>
                <a:latin typeface="微软雅黑" panose="020B0503020204020204" charset="-122"/>
                <a:ea typeface="微软雅黑" panose="020B0503020204020204" charset="-122"/>
                <a:cs typeface="楷体" panose="02010609060101010101" charset="-122"/>
              </a:rPr>
              <a:t>单</a:t>
            </a:r>
            <a:endParaRPr lang="en-US" altLang="en-US" sz="1200" dirty="0">
              <a:latin typeface="微软雅黑" panose="020B0503020204020204" charset="-122"/>
              <a:ea typeface="微软雅黑" panose="020B0503020204020204" charset="-122"/>
            </a:endParaRPr>
          </a:p>
        </p:txBody>
      </p:sp>
      <p:sp>
        <p:nvSpPr>
          <p:cNvPr id="1122" name="textbox 1122"/>
          <p:cNvSpPr/>
          <p:nvPr/>
        </p:nvSpPr>
        <p:spPr>
          <a:xfrm>
            <a:off x="8818435" y="4032021"/>
            <a:ext cx="114935" cy="262890"/>
          </a:xfrm>
          <a:prstGeom prst="rect">
            <a:avLst/>
          </a:prstGeom>
        </p:spPr>
        <p:txBody>
          <a:bodyPr vert="eaVert" wrap="square" lIns="0" tIns="0" rIns="0" bIns="0"/>
          <a:lstStyle/>
          <a:p>
            <a:pPr algn="l" rtl="0" eaLnBrk="0">
              <a:lnSpc>
                <a:spcPct val="85000"/>
              </a:lnSpc>
            </a:pPr>
            <a:endParaRPr lang="en-US" altLang="en-US" sz="100" dirty="0"/>
          </a:p>
          <a:p>
            <a:pPr marL="12700" algn="l" rtl="0" eaLnBrk="0">
              <a:lnSpc>
                <a:spcPct val="79000"/>
              </a:lnSpc>
            </a:pPr>
            <a:endParaRPr sz="600" spc="-10" dirty="0">
              <a:solidFill>
                <a:srgbClr val="808080">
                  <a:alpha val="100000"/>
                </a:srgbClr>
              </a:solidFill>
              <a:latin typeface="Arial" panose="020B0604020202020204"/>
              <a:ea typeface="Arial" panose="020B0604020202020204"/>
              <a:cs typeface="Arial" panose="020B060402020202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23" name="table 1123"/>
          <p:cNvGraphicFramePr>
            <a:graphicFrameLocks noGrp="1"/>
          </p:cNvGraphicFramePr>
          <p:nvPr/>
        </p:nvGraphicFramePr>
        <p:xfrm>
          <a:off x="321563" y="1039367"/>
          <a:ext cx="8374379" cy="5018404"/>
        </p:xfrm>
        <a:graphic>
          <a:graphicData uri="http://schemas.openxmlformats.org/drawingml/2006/table">
            <a:tbl>
              <a:tblPr/>
              <a:tblGrid>
                <a:gridCol w="8374379"/>
              </a:tblGrid>
              <a:tr h="5012054">
                <a:tc>
                  <a:txBody>
                    <a:bodyPr/>
                    <a:lstStyle/>
                    <a:p>
                      <a:pPr algn="l" rtl="0" eaLnBrk="0">
                        <a:lnSpc>
                          <a:spcPct val="100000"/>
                        </a:lnSpc>
                      </a:pPr>
                      <a:endParaRPr lang="en-US" altLang="en-US" sz="1000" dirty="0">
                        <a:latin typeface="微软雅黑" panose="020B0503020204020204" charset="-122"/>
                        <a:ea typeface="微软雅黑" panose="020B0503020204020204" charset="-122"/>
                      </a:endParaRPr>
                    </a:p>
                  </a:txBody>
                  <a:tcPr marL="0" marR="0" marT="0" marB="0">
                    <a:lnL w="6350" cap="flat" cmpd="sng" algn="ctr">
                      <a:solidFill>
                        <a:srgbClr val="00ADEF"/>
                      </a:solidFill>
                      <a:prstDash val="solid"/>
                      <a:round/>
                      <a:headEnd type="none" w="med" len="med"/>
                      <a:tailEnd type="none" w="med" len="med"/>
                    </a:lnL>
                    <a:lnR w="6350" cap="flat" cmpd="sng" algn="ctr">
                      <a:solidFill>
                        <a:srgbClr val="00ADEF"/>
                      </a:solidFill>
                      <a:prstDash val="solid"/>
                      <a:round/>
                      <a:headEnd type="none" w="med" len="med"/>
                      <a:tailEnd type="none" w="med" len="med"/>
                    </a:lnR>
                    <a:lnT w="6350" cap="flat" cmpd="sng" algn="ctr">
                      <a:solidFill>
                        <a:srgbClr val="00ADEF"/>
                      </a:solidFill>
                      <a:prstDash val="solid"/>
                      <a:round/>
                      <a:headEnd type="none" w="med" len="med"/>
                      <a:tailEnd type="none" w="med" len="med"/>
                    </a:lnT>
                    <a:lnB w="6350" cap="flat" cmpd="sng" algn="ctr">
                      <a:solidFill>
                        <a:srgbClr val="00ADEF"/>
                      </a:solidFill>
                      <a:prstDash val="solid"/>
                      <a:round/>
                      <a:headEnd type="none" w="med" len="med"/>
                      <a:tailEnd type="none" w="med" len="med"/>
                    </a:lnB>
                  </a:tcPr>
                </a:tc>
              </a:tr>
            </a:tbl>
          </a:graphicData>
        </a:graphic>
      </p:graphicFrame>
      <p:sp>
        <p:nvSpPr>
          <p:cNvPr id="1124" name="path"/>
          <p:cNvSpPr/>
          <p:nvPr/>
        </p:nvSpPr>
        <p:spPr>
          <a:xfrm>
            <a:off x="405384" y="1554480"/>
            <a:ext cx="8122920" cy="2700527"/>
          </a:xfrm>
          <a:custGeom>
            <a:avLst/>
            <a:gdLst/>
            <a:ahLst/>
            <a:cxnLst/>
            <a:rect l="0" t="0" r="0" b="0"/>
            <a:pathLst>
              <a:path w="12792" h="4252">
                <a:moveTo>
                  <a:pt x="0" y="4252"/>
                </a:moveTo>
                <a:lnTo>
                  <a:pt x="12792" y="4252"/>
                </a:lnTo>
                <a:lnTo>
                  <a:pt x="12792" y="0"/>
                </a:lnTo>
                <a:lnTo>
                  <a:pt x="7388" y="0"/>
                </a:lnTo>
                <a:lnTo>
                  <a:pt x="7388" y="3841"/>
                </a:lnTo>
                <a:lnTo>
                  <a:pt x="5" y="3841"/>
                </a:lnTo>
              </a:path>
            </a:pathLst>
          </a:custGeom>
          <a:solidFill>
            <a:srgbClr val="D9D9D9">
              <a:alpha val="100000"/>
            </a:srgbClr>
          </a:solidFill>
          <a:ln cap="flat">
            <a:noFill/>
            <a:prstDash val="solid"/>
            <a:miter lim="0"/>
          </a:ln>
        </p:spPr>
        <p:txBody>
          <a:bodyPr rtlCol="0"/>
          <a:lstStyle/>
          <a:p>
            <a:pPr algn="ctr"/>
            <a:endParaRPr lang="zh-CN" altLang="en-US"/>
          </a:p>
        </p:txBody>
      </p:sp>
      <p:graphicFrame>
        <p:nvGraphicFramePr>
          <p:cNvPr id="1125" name="table 1125"/>
          <p:cNvGraphicFramePr>
            <a:graphicFrameLocks noGrp="1"/>
          </p:cNvGraphicFramePr>
          <p:nvPr/>
        </p:nvGraphicFramePr>
        <p:xfrm>
          <a:off x="432816" y="1157327"/>
          <a:ext cx="4472940" cy="4725034"/>
        </p:xfrm>
        <a:graphic>
          <a:graphicData uri="http://schemas.openxmlformats.org/drawingml/2006/table">
            <a:tbl>
              <a:tblPr/>
              <a:tblGrid>
                <a:gridCol w="4472940"/>
              </a:tblGrid>
              <a:tr h="357504">
                <a:tc>
                  <a:txBody>
                    <a:bodyPr/>
                    <a:lstStyle/>
                    <a:p>
                      <a:pPr marL="3810" algn="l" rtl="0" eaLnBrk="0">
                        <a:lnSpc>
                          <a:spcPct val="98000"/>
                        </a:lnSpc>
                        <a:spcBef>
                          <a:spcPts val="5"/>
                        </a:spcBef>
                      </a:pPr>
                      <a:r>
                        <a:rPr sz="1100" b="1" spc="70" dirty="0">
                          <a:solidFill>
                            <a:srgbClr val="002960">
                              <a:alpha val="100000"/>
                            </a:srgbClr>
                          </a:solidFill>
                          <a:latin typeface="微软雅黑" panose="020B0503020204020204" charset="-122"/>
                          <a:ea typeface="微软雅黑" panose="020B0503020204020204" charset="-122"/>
                          <a:cs typeface="Arial" panose="020B0604020202020204"/>
                        </a:rPr>
                        <a:t>2014</a:t>
                      </a:r>
                      <a:r>
                        <a:rPr sz="1100" spc="70" dirty="0">
                          <a:ln w="4267" cap="flat" cmpd="sng">
                            <a:solidFill>
                              <a:srgbClr val="002960">
                                <a:alpha val="100000"/>
                              </a:srgbClr>
                            </a:solidFill>
                            <a:prstDash val="solid"/>
                            <a:round/>
                          </a:ln>
                          <a:solidFill>
                            <a:srgbClr val="002960">
                              <a:alpha val="100000"/>
                            </a:srgbClr>
                          </a:solidFill>
                          <a:latin typeface="微软雅黑" panose="020B0503020204020204" charset="-122"/>
                          <a:ea typeface="微软雅黑" panose="020B0503020204020204" charset="-122"/>
                          <a:cs typeface="楷体" panose="02010609060101010101" charset="-122"/>
                        </a:rPr>
                        <a:t>年落袋利润瀑布图分</a:t>
                      </a:r>
                      <a:r>
                        <a:rPr sz="1100" spc="0" dirty="0">
                          <a:ln w="4267" cap="flat" cmpd="sng">
                            <a:solidFill>
                              <a:srgbClr val="002960">
                                <a:alpha val="100000"/>
                              </a:srgbClr>
                            </a:solidFill>
                            <a:prstDash val="solid"/>
                            <a:round/>
                          </a:ln>
                          <a:solidFill>
                            <a:srgbClr val="002960">
                              <a:alpha val="100000"/>
                            </a:srgbClr>
                          </a:solidFill>
                          <a:latin typeface="微软雅黑" panose="020B0503020204020204" charset="-122"/>
                          <a:ea typeface="微软雅黑" panose="020B0503020204020204" charset="-122"/>
                          <a:cs typeface="楷体" panose="02010609060101010101" charset="-122"/>
                        </a:rPr>
                        <a:t>析</a:t>
                      </a:r>
                      <a:endParaRPr lang="en-US" altLang="en-US" sz="1100" dirty="0">
                        <a:latin typeface="微软雅黑" panose="020B0503020204020204" charset="-122"/>
                        <a:ea typeface="微软雅黑" panose="020B0503020204020204" charset="-122"/>
                      </a:endParaRPr>
                    </a:p>
                    <a:p>
                      <a:pPr marL="10795" algn="l" rtl="0" eaLnBrk="0">
                        <a:lnSpc>
                          <a:spcPct val="98000"/>
                        </a:lnSpc>
                        <a:spcBef>
                          <a:spcPts val="120"/>
                        </a:spcBef>
                      </a:pPr>
                      <a:r>
                        <a:rPr sz="1100" spc="50" dirty="0">
                          <a:solidFill>
                            <a:srgbClr val="808080">
                              <a:alpha val="100000"/>
                            </a:srgbClr>
                          </a:solidFill>
                          <a:latin typeface="微软雅黑" panose="020B0503020204020204" charset="-122"/>
                          <a:ea typeface="微软雅黑" panose="020B0503020204020204" charset="-122"/>
                          <a:cs typeface="楷体" panose="02010609060101010101" charset="-122"/>
                        </a:rPr>
                        <a:t>千美</a:t>
                      </a:r>
                      <a:r>
                        <a:rPr sz="1100" spc="40" dirty="0">
                          <a:solidFill>
                            <a:srgbClr val="808080">
                              <a:alpha val="100000"/>
                            </a:srgbClr>
                          </a:solidFill>
                          <a:latin typeface="微软雅黑" panose="020B0503020204020204" charset="-122"/>
                          <a:ea typeface="微软雅黑" panose="020B0503020204020204" charset="-122"/>
                          <a:cs typeface="楷体" panose="02010609060101010101" charset="-122"/>
                        </a:rPr>
                        <a:t>元</a:t>
                      </a:r>
                      <a:endParaRPr lang="en-US" altLang="en-US" sz="1100" dirty="0">
                        <a:latin typeface="微软雅黑" panose="020B0503020204020204" charset="-122"/>
                        <a:ea typeface="微软雅黑" panose="020B0503020204020204" charset="-122"/>
                      </a:endParaRPr>
                    </a:p>
                  </a:txBody>
                  <a:tcPr marL="0" marR="0" marT="597" marB="0">
                    <a:lnL>
                      <a:noFill/>
                    </a:lnL>
                    <a:lnR>
                      <a:noFill/>
                    </a:lnR>
                    <a:lnT>
                      <a:noFill/>
                    </a:lnT>
                    <a:lnB w="3175" cap="flat" cmpd="sng" algn="ctr">
                      <a:solidFill>
                        <a:srgbClr val="808080"/>
                      </a:solidFill>
                      <a:prstDash val="solid"/>
                      <a:round/>
                      <a:headEnd type="none" w="med" len="med"/>
                      <a:tailEnd type="none" w="med" len="med"/>
                    </a:lnB>
                  </a:tcPr>
                </a:tc>
              </a:tr>
              <a:tr h="4367529">
                <a:tc>
                  <a:txBody>
                    <a:bodyPr/>
                    <a:lstStyle/>
                    <a:p>
                      <a:pPr algn="l" rtl="0" eaLnBrk="0">
                        <a:lnSpc>
                          <a:spcPct val="102000"/>
                        </a:lnSpc>
                      </a:pPr>
                      <a:endParaRPr lang="en-US" altLang="en-US" sz="700" dirty="0">
                        <a:latin typeface="微软雅黑" panose="020B0503020204020204" charset="-122"/>
                        <a:ea typeface="微软雅黑" panose="020B0503020204020204" charset="-122"/>
                      </a:endParaRPr>
                    </a:p>
                    <a:p>
                      <a:pPr marL="1017270" algn="l" rtl="0" eaLnBrk="0">
                        <a:lnSpc>
                          <a:spcPct val="100000"/>
                        </a:lnSpc>
                        <a:spcBef>
                          <a:spcPts val="5"/>
                        </a:spcBef>
                      </a:pPr>
                      <a:r>
                        <a:rPr sz="1100" spc="60" dirty="0">
                          <a:solidFill>
                            <a:srgbClr val="000000">
                              <a:alpha val="100000"/>
                            </a:srgbClr>
                          </a:solidFill>
                          <a:latin typeface="微软雅黑" panose="020B0503020204020204" charset="-122"/>
                          <a:ea typeface="微软雅黑" panose="020B0503020204020204" charset="-122"/>
                          <a:cs typeface="楷体" panose="02010609060101010101" charset="-122"/>
                        </a:rPr>
                        <a:t>总贸易销售</a:t>
                      </a:r>
                      <a:r>
                        <a:rPr sz="1100" spc="40" dirty="0">
                          <a:solidFill>
                            <a:srgbClr val="000000">
                              <a:alpha val="100000"/>
                            </a:srgbClr>
                          </a:solidFill>
                          <a:latin typeface="微软雅黑" panose="020B0503020204020204" charset="-122"/>
                          <a:ea typeface="微软雅黑" panose="020B0503020204020204" charset="-122"/>
                          <a:cs typeface="楷体" panose="02010609060101010101" charset="-122"/>
                        </a:rPr>
                        <a:t>额</a:t>
                      </a:r>
                      <a:endParaRPr lang="en-US" altLang="en-US" sz="1100" dirty="0">
                        <a:latin typeface="微软雅黑" panose="020B0503020204020204" charset="-122"/>
                        <a:ea typeface="微软雅黑" panose="020B0503020204020204" charset="-122"/>
                      </a:endParaRPr>
                    </a:p>
                    <a:p>
                      <a:pPr marL="1005205" algn="l" rtl="0" eaLnBrk="0">
                        <a:lnSpc>
                          <a:spcPct val="100000"/>
                        </a:lnSpc>
                        <a:spcBef>
                          <a:spcPts val="805"/>
                        </a:spcBef>
                      </a:pPr>
                      <a:r>
                        <a:rPr sz="1100" spc="80" dirty="0">
                          <a:solidFill>
                            <a:srgbClr val="000000">
                              <a:alpha val="100000"/>
                            </a:srgbClr>
                          </a:solidFill>
                          <a:latin typeface="微软雅黑" panose="020B0503020204020204" charset="-122"/>
                          <a:ea typeface="微软雅黑" panose="020B0503020204020204" charset="-122"/>
                          <a:cs typeface="楷体" panose="02010609060101010101" charset="-122"/>
                        </a:rPr>
                        <a:t>废料销售</a:t>
                      </a:r>
                      <a:r>
                        <a:rPr sz="1100" spc="40" dirty="0">
                          <a:solidFill>
                            <a:srgbClr val="000000">
                              <a:alpha val="100000"/>
                            </a:srgbClr>
                          </a:solidFill>
                          <a:latin typeface="微软雅黑" panose="020B0503020204020204" charset="-122"/>
                          <a:ea typeface="微软雅黑" panose="020B0503020204020204" charset="-122"/>
                          <a:cs typeface="楷体" panose="02010609060101010101" charset="-122"/>
                        </a:rPr>
                        <a:t>额</a:t>
                      </a:r>
                      <a:endParaRPr lang="en-US" altLang="en-US" sz="1100" dirty="0">
                        <a:latin typeface="微软雅黑" panose="020B0503020204020204" charset="-122"/>
                        <a:ea typeface="微软雅黑" panose="020B0503020204020204" charset="-122"/>
                      </a:endParaRPr>
                    </a:p>
                    <a:p>
                      <a:pPr marL="1010285" algn="l" rtl="0" eaLnBrk="0">
                        <a:lnSpc>
                          <a:spcPct val="100000"/>
                        </a:lnSpc>
                        <a:spcBef>
                          <a:spcPts val="805"/>
                        </a:spcBef>
                      </a:pPr>
                      <a:r>
                        <a:rPr sz="1100" spc="70" dirty="0">
                          <a:solidFill>
                            <a:srgbClr val="000000">
                              <a:alpha val="100000"/>
                            </a:srgbClr>
                          </a:solidFill>
                          <a:latin typeface="微软雅黑" panose="020B0503020204020204" charset="-122"/>
                          <a:ea typeface="微软雅黑" panose="020B0503020204020204" charset="-122"/>
                          <a:cs typeface="楷体" panose="02010609060101010101" charset="-122"/>
                        </a:rPr>
                        <a:t>其他收</a:t>
                      </a:r>
                      <a:r>
                        <a:rPr sz="1100" spc="30" dirty="0">
                          <a:solidFill>
                            <a:srgbClr val="000000">
                              <a:alpha val="100000"/>
                            </a:srgbClr>
                          </a:solidFill>
                          <a:latin typeface="微软雅黑" panose="020B0503020204020204" charset="-122"/>
                          <a:ea typeface="微软雅黑" panose="020B0503020204020204" charset="-122"/>
                          <a:cs typeface="楷体" panose="02010609060101010101" charset="-122"/>
                        </a:rPr>
                        <a:t>入</a:t>
                      </a:r>
                      <a:endParaRPr lang="en-US" altLang="en-US" sz="1100" dirty="0">
                        <a:latin typeface="微软雅黑" panose="020B0503020204020204" charset="-122"/>
                        <a:ea typeface="微软雅黑" panose="020B0503020204020204" charset="-122"/>
                      </a:endParaRPr>
                    </a:p>
                    <a:p>
                      <a:pPr marL="1008380" algn="l" rtl="0" eaLnBrk="0">
                        <a:lnSpc>
                          <a:spcPct val="100000"/>
                        </a:lnSpc>
                        <a:spcBef>
                          <a:spcPts val="805"/>
                        </a:spcBef>
                      </a:pPr>
                      <a:r>
                        <a:rPr sz="1100" spc="30" dirty="0">
                          <a:solidFill>
                            <a:srgbClr val="000000">
                              <a:alpha val="100000"/>
                            </a:srgbClr>
                          </a:solidFill>
                          <a:latin typeface="微软雅黑" panose="020B0503020204020204" charset="-122"/>
                          <a:ea typeface="微软雅黑" panose="020B0503020204020204" charset="-122"/>
                          <a:cs typeface="楷体" panose="02010609060101010101" charset="-122"/>
                        </a:rPr>
                        <a:t>材料成本 </a:t>
                      </a:r>
                      <a:r>
                        <a:rPr sz="1100" spc="30" dirty="0">
                          <a:solidFill>
                            <a:srgbClr val="000000">
                              <a:alpha val="100000"/>
                            </a:srgbClr>
                          </a:solidFill>
                          <a:latin typeface="微软雅黑" panose="020B0503020204020204" charset="-122"/>
                          <a:ea typeface="微软雅黑" panose="020B0503020204020204" charset="-122"/>
                          <a:cs typeface="Arial" panose="020B0604020202020204"/>
                        </a:rPr>
                        <a:t>- </a:t>
                      </a:r>
                      <a:r>
                        <a:rPr sz="1100" spc="10" dirty="0">
                          <a:solidFill>
                            <a:srgbClr val="000000">
                              <a:alpha val="100000"/>
                            </a:srgbClr>
                          </a:solidFill>
                          <a:latin typeface="微软雅黑" panose="020B0503020204020204" charset="-122"/>
                          <a:ea typeface="微软雅黑" panose="020B0503020204020204" charset="-122"/>
                          <a:cs typeface="楷体" panose="02010609060101010101" charset="-122"/>
                        </a:rPr>
                        <a:t>树</a:t>
                      </a:r>
                      <a:r>
                        <a:rPr sz="1100" spc="0" dirty="0">
                          <a:solidFill>
                            <a:srgbClr val="000000">
                              <a:alpha val="100000"/>
                            </a:srgbClr>
                          </a:solidFill>
                          <a:latin typeface="微软雅黑" panose="020B0503020204020204" charset="-122"/>
                          <a:ea typeface="微软雅黑" panose="020B0503020204020204" charset="-122"/>
                          <a:cs typeface="楷体" panose="02010609060101010101" charset="-122"/>
                        </a:rPr>
                        <a:t>脂</a:t>
                      </a:r>
                      <a:endParaRPr lang="en-US" altLang="en-US" sz="1100" dirty="0">
                        <a:latin typeface="微软雅黑" panose="020B0503020204020204" charset="-122"/>
                        <a:ea typeface="微软雅黑" panose="020B0503020204020204" charset="-122"/>
                      </a:endParaRPr>
                    </a:p>
                    <a:p>
                      <a:pPr marL="1010285" algn="l" rtl="0" eaLnBrk="0">
                        <a:lnSpc>
                          <a:spcPct val="100000"/>
                        </a:lnSpc>
                        <a:spcBef>
                          <a:spcPts val="820"/>
                        </a:spcBef>
                      </a:pPr>
                      <a:r>
                        <a:rPr sz="1100" spc="70" dirty="0">
                          <a:solidFill>
                            <a:srgbClr val="000000">
                              <a:alpha val="100000"/>
                            </a:srgbClr>
                          </a:solidFill>
                          <a:latin typeface="微软雅黑" panose="020B0503020204020204" charset="-122"/>
                          <a:ea typeface="微软雅黑" panose="020B0503020204020204" charset="-122"/>
                          <a:cs typeface="楷体" panose="02010609060101010101" charset="-122"/>
                        </a:rPr>
                        <a:t>其他原材</a:t>
                      </a:r>
                      <a:r>
                        <a:rPr sz="1100" spc="40" dirty="0">
                          <a:solidFill>
                            <a:srgbClr val="000000">
                              <a:alpha val="100000"/>
                            </a:srgbClr>
                          </a:solidFill>
                          <a:latin typeface="微软雅黑" panose="020B0503020204020204" charset="-122"/>
                          <a:ea typeface="微软雅黑" panose="020B0503020204020204" charset="-122"/>
                          <a:cs typeface="楷体" panose="02010609060101010101" charset="-122"/>
                        </a:rPr>
                        <a:t>料</a:t>
                      </a:r>
                      <a:endParaRPr lang="en-US" altLang="en-US" sz="1100" dirty="0">
                        <a:latin typeface="微软雅黑" panose="020B0503020204020204" charset="-122"/>
                        <a:ea typeface="微软雅黑" panose="020B0503020204020204" charset="-122"/>
                      </a:endParaRPr>
                    </a:p>
                    <a:p>
                      <a:pPr marL="1005840" algn="l" rtl="0" eaLnBrk="0">
                        <a:lnSpc>
                          <a:spcPct val="100000"/>
                        </a:lnSpc>
                        <a:spcBef>
                          <a:spcPts val="805"/>
                        </a:spcBef>
                      </a:pPr>
                      <a:r>
                        <a:rPr sz="1100" spc="80" dirty="0">
                          <a:solidFill>
                            <a:srgbClr val="000000">
                              <a:alpha val="100000"/>
                            </a:srgbClr>
                          </a:solidFill>
                          <a:latin typeface="微软雅黑" panose="020B0503020204020204" charset="-122"/>
                          <a:ea typeface="微软雅黑" panose="020B0503020204020204" charset="-122"/>
                          <a:cs typeface="楷体" panose="02010609060101010101" charset="-122"/>
                        </a:rPr>
                        <a:t>客户运</a:t>
                      </a:r>
                      <a:r>
                        <a:rPr sz="1100" spc="40" dirty="0">
                          <a:solidFill>
                            <a:srgbClr val="000000">
                              <a:alpha val="100000"/>
                            </a:srgbClr>
                          </a:solidFill>
                          <a:latin typeface="微软雅黑" panose="020B0503020204020204" charset="-122"/>
                          <a:ea typeface="微软雅黑" panose="020B0503020204020204" charset="-122"/>
                          <a:cs typeface="楷体" panose="02010609060101010101" charset="-122"/>
                        </a:rPr>
                        <a:t>费</a:t>
                      </a:r>
                      <a:endParaRPr lang="en-US" altLang="en-US" sz="1100" dirty="0">
                        <a:latin typeface="微软雅黑" panose="020B0503020204020204" charset="-122"/>
                        <a:ea typeface="微软雅黑" panose="020B0503020204020204" charset="-122"/>
                      </a:endParaRPr>
                    </a:p>
                    <a:p>
                      <a:pPr marL="1014095" algn="l" rtl="0" eaLnBrk="0">
                        <a:lnSpc>
                          <a:spcPts val="1330"/>
                        </a:lnSpc>
                        <a:spcBef>
                          <a:spcPts val="825"/>
                        </a:spcBef>
                      </a:pPr>
                      <a:r>
                        <a:rPr sz="1100" spc="70" dirty="0">
                          <a:solidFill>
                            <a:srgbClr val="000000">
                              <a:alpha val="100000"/>
                            </a:srgbClr>
                          </a:solidFill>
                          <a:latin typeface="微软雅黑" panose="020B0503020204020204" charset="-122"/>
                          <a:ea typeface="微软雅黑" panose="020B0503020204020204" charset="-122"/>
                          <a:cs typeface="楷体" panose="02010609060101010101" charset="-122"/>
                        </a:rPr>
                        <a:t>可再利用包</a:t>
                      </a:r>
                      <a:r>
                        <a:rPr sz="1100" spc="10" dirty="0">
                          <a:solidFill>
                            <a:srgbClr val="000000">
                              <a:alpha val="100000"/>
                            </a:srgbClr>
                          </a:solidFill>
                          <a:latin typeface="微软雅黑" panose="020B0503020204020204" charset="-122"/>
                          <a:ea typeface="微软雅黑" panose="020B0503020204020204" charset="-122"/>
                          <a:cs typeface="楷体" panose="02010609060101010101" charset="-122"/>
                        </a:rPr>
                        <a:t>装</a:t>
                      </a:r>
                      <a:endParaRPr lang="en-US" altLang="en-US" sz="1100" dirty="0">
                        <a:latin typeface="微软雅黑" panose="020B0503020204020204" charset="-122"/>
                        <a:ea typeface="微软雅黑" panose="020B0503020204020204" charset="-122"/>
                      </a:endParaRPr>
                    </a:p>
                    <a:p>
                      <a:pPr marL="1010285" algn="l" rtl="0" eaLnBrk="0">
                        <a:lnSpc>
                          <a:spcPct val="100000"/>
                        </a:lnSpc>
                        <a:spcBef>
                          <a:spcPts val="795"/>
                        </a:spcBef>
                      </a:pPr>
                      <a:r>
                        <a:rPr sz="1100" spc="70" dirty="0">
                          <a:solidFill>
                            <a:srgbClr val="000000">
                              <a:alpha val="100000"/>
                            </a:srgbClr>
                          </a:solidFill>
                          <a:latin typeface="微软雅黑" panose="020B0503020204020204" charset="-122"/>
                          <a:ea typeface="微软雅黑" panose="020B0503020204020204" charset="-122"/>
                          <a:cs typeface="楷体" panose="02010609060101010101" charset="-122"/>
                        </a:rPr>
                        <a:t>其他销售成</a:t>
                      </a:r>
                      <a:r>
                        <a:rPr sz="1100" spc="40" dirty="0">
                          <a:solidFill>
                            <a:srgbClr val="000000">
                              <a:alpha val="100000"/>
                            </a:srgbClr>
                          </a:solidFill>
                          <a:latin typeface="微软雅黑" panose="020B0503020204020204" charset="-122"/>
                          <a:ea typeface="微软雅黑" panose="020B0503020204020204" charset="-122"/>
                          <a:cs typeface="楷体" panose="02010609060101010101" charset="-122"/>
                        </a:rPr>
                        <a:t>本</a:t>
                      </a:r>
                      <a:endParaRPr lang="en-US" altLang="en-US" sz="1100" dirty="0">
                        <a:latin typeface="微软雅黑" panose="020B0503020204020204" charset="-122"/>
                        <a:ea typeface="微软雅黑" panose="020B0503020204020204" charset="-122"/>
                      </a:endParaRPr>
                    </a:p>
                    <a:p>
                      <a:pPr marL="1008380" algn="l" rtl="0" eaLnBrk="0">
                        <a:lnSpc>
                          <a:spcPts val="1330"/>
                        </a:lnSpc>
                        <a:spcBef>
                          <a:spcPts val="825"/>
                        </a:spcBef>
                      </a:pPr>
                      <a:r>
                        <a:rPr sz="1100" spc="70" dirty="0">
                          <a:solidFill>
                            <a:srgbClr val="000000">
                              <a:alpha val="100000"/>
                            </a:srgbClr>
                          </a:solidFill>
                          <a:latin typeface="微软雅黑" panose="020B0503020204020204" charset="-122"/>
                          <a:ea typeface="微软雅黑" panose="020B0503020204020204" charset="-122"/>
                          <a:cs typeface="楷体" panose="02010609060101010101" charset="-122"/>
                        </a:rPr>
                        <a:t>材料变</a:t>
                      </a:r>
                      <a:r>
                        <a:rPr sz="1100" spc="40" dirty="0">
                          <a:solidFill>
                            <a:srgbClr val="000000">
                              <a:alpha val="100000"/>
                            </a:srgbClr>
                          </a:solidFill>
                          <a:latin typeface="微软雅黑" panose="020B0503020204020204" charset="-122"/>
                          <a:ea typeface="微软雅黑" panose="020B0503020204020204" charset="-122"/>
                          <a:cs typeface="楷体" panose="02010609060101010101" charset="-122"/>
                        </a:rPr>
                        <a:t>动</a:t>
                      </a:r>
                      <a:endParaRPr lang="en-US" altLang="en-US" sz="1100" dirty="0">
                        <a:latin typeface="微软雅黑" panose="020B0503020204020204" charset="-122"/>
                        <a:ea typeface="微软雅黑" panose="020B0503020204020204" charset="-122"/>
                      </a:endParaRPr>
                    </a:p>
                    <a:p>
                      <a:pPr marL="1009015" algn="l" rtl="0" eaLnBrk="0">
                        <a:lnSpc>
                          <a:spcPct val="100000"/>
                        </a:lnSpc>
                        <a:spcBef>
                          <a:spcPts val="765"/>
                        </a:spcBef>
                      </a:pPr>
                      <a:r>
                        <a:rPr sz="1100" spc="70" dirty="0">
                          <a:solidFill>
                            <a:srgbClr val="000000">
                              <a:alpha val="100000"/>
                            </a:srgbClr>
                          </a:solidFill>
                          <a:latin typeface="微软雅黑" panose="020B0503020204020204" charset="-122"/>
                          <a:ea typeface="微软雅黑" panose="020B0503020204020204" charset="-122"/>
                          <a:cs typeface="楷体" panose="02010609060101010101" charset="-122"/>
                        </a:rPr>
                        <a:t>半变动成</a:t>
                      </a:r>
                      <a:r>
                        <a:rPr sz="1100" spc="40" dirty="0">
                          <a:solidFill>
                            <a:srgbClr val="000000">
                              <a:alpha val="100000"/>
                            </a:srgbClr>
                          </a:solidFill>
                          <a:latin typeface="微软雅黑" panose="020B0503020204020204" charset="-122"/>
                          <a:ea typeface="微软雅黑" panose="020B0503020204020204" charset="-122"/>
                          <a:cs typeface="楷体" panose="02010609060101010101" charset="-122"/>
                        </a:rPr>
                        <a:t>本</a:t>
                      </a:r>
                      <a:endParaRPr lang="en-US" altLang="en-US" sz="1100" dirty="0">
                        <a:latin typeface="微软雅黑" panose="020B0503020204020204" charset="-122"/>
                        <a:ea typeface="微软雅黑" panose="020B0503020204020204" charset="-122"/>
                      </a:endParaRPr>
                    </a:p>
                    <a:p>
                      <a:pPr marL="1027430" algn="l" rtl="0" eaLnBrk="0">
                        <a:lnSpc>
                          <a:spcPct val="100000"/>
                        </a:lnSpc>
                        <a:spcBef>
                          <a:spcPts val="805"/>
                        </a:spcBef>
                      </a:pPr>
                      <a:r>
                        <a:rPr sz="1100" spc="30" dirty="0">
                          <a:solidFill>
                            <a:srgbClr val="000000">
                              <a:alpha val="100000"/>
                            </a:srgbClr>
                          </a:solidFill>
                          <a:latin typeface="微软雅黑" panose="020B0503020204020204" charset="-122"/>
                          <a:ea typeface="微软雅黑" panose="020B0503020204020204" charset="-122"/>
                          <a:cs typeface="楷体" panose="02010609060101010101" charset="-122"/>
                        </a:rPr>
                        <a:t>固定成</a:t>
                      </a:r>
                      <a:r>
                        <a:rPr sz="1100" spc="10" dirty="0">
                          <a:solidFill>
                            <a:srgbClr val="000000">
                              <a:alpha val="100000"/>
                            </a:srgbClr>
                          </a:solidFill>
                          <a:latin typeface="微软雅黑" panose="020B0503020204020204" charset="-122"/>
                          <a:ea typeface="微软雅黑" panose="020B0503020204020204" charset="-122"/>
                          <a:cs typeface="楷体" panose="02010609060101010101" charset="-122"/>
                        </a:rPr>
                        <a:t>本</a:t>
                      </a:r>
                      <a:endParaRPr lang="en-US" altLang="en-US" sz="1100" dirty="0">
                        <a:latin typeface="微软雅黑" panose="020B0503020204020204" charset="-122"/>
                        <a:ea typeface="微软雅黑" panose="020B0503020204020204" charset="-122"/>
                      </a:endParaRPr>
                    </a:p>
                    <a:p>
                      <a:pPr marL="1009015" algn="l" rtl="0" eaLnBrk="0">
                        <a:lnSpc>
                          <a:spcPct val="89000"/>
                        </a:lnSpc>
                        <a:spcBef>
                          <a:spcPts val="825"/>
                        </a:spcBef>
                      </a:pPr>
                      <a:r>
                        <a:rPr sz="1100" spc="70" dirty="0">
                          <a:solidFill>
                            <a:srgbClr val="000000">
                              <a:alpha val="100000"/>
                            </a:srgbClr>
                          </a:solidFill>
                          <a:latin typeface="微软雅黑" panose="020B0503020204020204" charset="-122"/>
                          <a:ea typeface="微软雅黑" panose="020B0503020204020204" charset="-122"/>
                          <a:cs typeface="楷体" panose="02010609060101010101" charset="-122"/>
                        </a:rPr>
                        <a:t>工厂行政管理费</a:t>
                      </a:r>
                      <a:r>
                        <a:rPr sz="1100" spc="60" dirty="0">
                          <a:solidFill>
                            <a:srgbClr val="000000">
                              <a:alpha val="100000"/>
                            </a:srgbClr>
                          </a:solidFill>
                          <a:latin typeface="微软雅黑" panose="020B0503020204020204" charset="-122"/>
                          <a:ea typeface="微软雅黑" panose="020B0503020204020204" charset="-122"/>
                          <a:cs typeface="楷体" panose="02010609060101010101" charset="-122"/>
                        </a:rPr>
                        <a:t>用</a:t>
                      </a:r>
                      <a:endParaRPr lang="en-US" altLang="en-US" sz="1100" dirty="0">
                        <a:latin typeface="微软雅黑" panose="020B0503020204020204" charset="-122"/>
                        <a:ea typeface="微软雅黑" panose="020B0503020204020204" charset="-122"/>
                      </a:endParaRPr>
                    </a:p>
                    <a:p>
                      <a:pPr marL="1008380" algn="l" rtl="0" eaLnBrk="0">
                        <a:lnSpc>
                          <a:spcPts val="2125"/>
                        </a:lnSpc>
                      </a:pPr>
                      <a:r>
                        <a:rPr sz="1100" spc="80" dirty="0">
                          <a:solidFill>
                            <a:srgbClr val="000000">
                              <a:alpha val="100000"/>
                            </a:srgbClr>
                          </a:solidFill>
                          <a:latin typeface="微软雅黑" panose="020B0503020204020204" charset="-122"/>
                          <a:ea typeface="微软雅黑" panose="020B0503020204020204" charset="-122"/>
                          <a:cs typeface="楷体" panose="02010609060101010101" charset="-122"/>
                        </a:rPr>
                        <a:t>部门行政管理费</a:t>
                      </a:r>
                      <a:r>
                        <a:rPr sz="1100" spc="0" dirty="0">
                          <a:solidFill>
                            <a:srgbClr val="000000">
                              <a:alpha val="100000"/>
                            </a:srgbClr>
                          </a:solidFill>
                          <a:latin typeface="微软雅黑" panose="020B0503020204020204" charset="-122"/>
                          <a:ea typeface="微软雅黑" panose="020B0503020204020204" charset="-122"/>
                          <a:cs typeface="楷体" panose="02010609060101010101" charset="-122"/>
                        </a:rPr>
                        <a:t>用</a:t>
                      </a:r>
                      <a:endParaRPr lang="en-US" altLang="en-US" sz="1100" dirty="0">
                        <a:latin typeface="微软雅黑" panose="020B0503020204020204" charset="-122"/>
                        <a:ea typeface="微软雅黑" panose="020B0503020204020204" charset="-122"/>
                      </a:endParaRPr>
                    </a:p>
                    <a:p>
                      <a:pPr marL="1010285" algn="l" rtl="0" eaLnBrk="0">
                        <a:lnSpc>
                          <a:spcPts val="2125"/>
                        </a:lnSpc>
                      </a:pPr>
                      <a:r>
                        <a:rPr sz="1100" spc="0" dirty="0">
                          <a:solidFill>
                            <a:srgbClr val="000000">
                              <a:alpha val="100000"/>
                            </a:srgbClr>
                          </a:solidFill>
                          <a:latin typeface="微软雅黑" panose="020B0503020204020204" charset="-122"/>
                          <a:ea typeface="微软雅黑" panose="020B0503020204020204" charset="-122"/>
                          <a:cs typeface="Arial" panose="020B0604020202020204"/>
                        </a:rPr>
                        <a:t>CoC</a:t>
                      </a:r>
                      <a:r>
                        <a:rPr sz="1100" spc="110" dirty="0">
                          <a:solidFill>
                            <a:srgbClr val="000000">
                              <a:alpha val="100000"/>
                            </a:srgbClr>
                          </a:solidFill>
                          <a:latin typeface="微软雅黑" panose="020B0503020204020204" charset="-122"/>
                          <a:ea typeface="微软雅黑" panose="020B0503020204020204" charset="-122"/>
                          <a:cs typeface="楷体" panose="02010609060101010101" charset="-122"/>
                        </a:rPr>
                        <a:t>支付条</a:t>
                      </a:r>
                      <a:r>
                        <a:rPr sz="1100" spc="80" dirty="0">
                          <a:solidFill>
                            <a:srgbClr val="000000">
                              <a:alpha val="100000"/>
                            </a:srgbClr>
                          </a:solidFill>
                          <a:latin typeface="微软雅黑" panose="020B0503020204020204" charset="-122"/>
                          <a:ea typeface="微软雅黑" panose="020B0503020204020204" charset="-122"/>
                          <a:cs typeface="楷体" panose="02010609060101010101" charset="-122"/>
                        </a:rPr>
                        <a:t>款</a:t>
                      </a:r>
                      <a:endParaRPr lang="en-US" altLang="en-US" sz="1100" dirty="0">
                        <a:latin typeface="微软雅黑" panose="020B0503020204020204" charset="-122"/>
                        <a:ea typeface="微软雅黑" panose="020B0503020204020204" charset="-122"/>
                      </a:endParaRPr>
                    </a:p>
                    <a:p>
                      <a:pPr marL="1010285" algn="l" rtl="0" eaLnBrk="0">
                        <a:lnSpc>
                          <a:spcPts val="2125"/>
                        </a:lnSpc>
                      </a:pPr>
                      <a:r>
                        <a:rPr sz="1100" spc="0" dirty="0">
                          <a:solidFill>
                            <a:srgbClr val="000000">
                              <a:alpha val="100000"/>
                            </a:srgbClr>
                          </a:solidFill>
                          <a:latin typeface="微软雅黑" panose="020B0503020204020204" charset="-122"/>
                          <a:ea typeface="微软雅黑" panose="020B0503020204020204" charset="-122"/>
                          <a:cs typeface="Arial" panose="020B0604020202020204"/>
                        </a:rPr>
                        <a:t>CoC</a:t>
                      </a:r>
                      <a:r>
                        <a:rPr sz="1100" spc="100" dirty="0">
                          <a:solidFill>
                            <a:srgbClr val="000000">
                              <a:alpha val="100000"/>
                            </a:srgbClr>
                          </a:solidFill>
                          <a:latin typeface="微软雅黑" panose="020B0503020204020204" charset="-122"/>
                          <a:ea typeface="微软雅黑" panose="020B0503020204020204" charset="-122"/>
                          <a:cs typeface="楷体" panose="02010609060101010101" charset="-122"/>
                        </a:rPr>
                        <a:t>合规支付条</a:t>
                      </a:r>
                      <a:r>
                        <a:rPr sz="1100" spc="70" dirty="0">
                          <a:solidFill>
                            <a:srgbClr val="000000">
                              <a:alpha val="100000"/>
                            </a:srgbClr>
                          </a:solidFill>
                          <a:latin typeface="微软雅黑" panose="020B0503020204020204" charset="-122"/>
                          <a:ea typeface="微软雅黑" panose="020B0503020204020204" charset="-122"/>
                          <a:cs typeface="楷体" panose="02010609060101010101" charset="-122"/>
                        </a:rPr>
                        <a:t>款</a:t>
                      </a:r>
                      <a:endParaRPr lang="en-US" altLang="en-US" sz="1100" dirty="0">
                        <a:latin typeface="微软雅黑" panose="020B0503020204020204" charset="-122"/>
                        <a:ea typeface="微软雅黑" panose="020B0503020204020204" charset="-122"/>
                      </a:endParaRPr>
                    </a:p>
                    <a:p>
                      <a:pPr marL="1020445" algn="l" rtl="0" eaLnBrk="0">
                        <a:lnSpc>
                          <a:spcPts val="2140"/>
                        </a:lnSpc>
                      </a:pPr>
                      <a:r>
                        <a:rPr sz="1100" spc="50" dirty="0">
                          <a:solidFill>
                            <a:srgbClr val="000000">
                              <a:alpha val="100000"/>
                            </a:srgbClr>
                          </a:solidFill>
                          <a:latin typeface="微软雅黑" panose="020B0503020204020204" charset="-122"/>
                          <a:ea typeface="微软雅黑" panose="020B0503020204020204" charset="-122"/>
                          <a:cs typeface="楷体" panose="02010609060101010101" charset="-122"/>
                        </a:rPr>
                        <a:t>落袋利</a:t>
                      </a:r>
                      <a:r>
                        <a:rPr sz="1100" spc="10" dirty="0">
                          <a:solidFill>
                            <a:srgbClr val="000000">
                              <a:alpha val="100000"/>
                            </a:srgbClr>
                          </a:solidFill>
                          <a:latin typeface="微软雅黑" panose="020B0503020204020204" charset="-122"/>
                          <a:ea typeface="微软雅黑" panose="020B0503020204020204" charset="-122"/>
                          <a:cs typeface="楷体" panose="02010609060101010101" charset="-122"/>
                        </a:rPr>
                        <a:t>润</a:t>
                      </a:r>
                      <a:endParaRPr lang="en-US" altLang="en-US" sz="1100" dirty="0">
                        <a:latin typeface="微软雅黑" panose="020B0503020204020204" charset="-122"/>
                        <a:ea typeface="微软雅黑" panose="020B0503020204020204" charset="-122"/>
                      </a:endParaRPr>
                    </a:p>
                  </a:txBody>
                  <a:tcPr marL="0" marR="0" marT="0" marB="0">
                    <a:lnL>
                      <a:noFill/>
                    </a:lnL>
                    <a:lnR>
                      <a:noFill/>
                    </a:lnR>
                    <a:lnT w="3175" cap="flat" cmpd="sng" algn="ctr">
                      <a:solidFill>
                        <a:srgbClr val="808080"/>
                      </a:solidFill>
                      <a:prstDash val="solid"/>
                      <a:round/>
                      <a:headEnd type="none" w="med" len="med"/>
                      <a:tailEnd type="none" w="med" len="med"/>
                    </a:lnT>
                    <a:lnB>
                      <a:noFill/>
                    </a:lnB>
                  </a:tcPr>
                </a:tc>
              </a:tr>
            </a:tbl>
          </a:graphicData>
        </a:graphic>
      </p:graphicFrame>
      <p:graphicFrame>
        <p:nvGraphicFramePr>
          <p:cNvPr id="1126" name="table 1126"/>
          <p:cNvGraphicFramePr>
            <a:graphicFrameLocks noGrp="1"/>
          </p:cNvGraphicFramePr>
          <p:nvPr/>
        </p:nvGraphicFramePr>
        <p:xfrm>
          <a:off x="5123687" y="1144882"/>
          <a:ext cx="3300729" cy="2842260"/>
        </p:xfrm>
        <a:graphic>
          <a:graphicData uri="http://schemas.openxmlformats.org/drawingml/2006/table">
            <a:tbl>
              <a:tblPr/>
              <a:tblGrid>
                <a:gridCol w="3300729"/>
              </a:tblGrid>
              <a:tr h="369570">
                <a:tc>
                  <a:txBody>
                    <a:bodyPr/>
                    <a:lstStyle/>
                    <a:p>
                      <a:pPr algn="l" rtl="0" eaLnBrk="0">
                        <a:lnSpc>
                          <a:spcPct val="7000"/>
                        </a:lnSpc>
                      </a:pPr>
                      <a:endParaRPr lang="en-US" altLang="en-US" sz="100" dirty="0">
                        <a:latin typeface="微软雅黑" panose="020B0503020204020204" charset="-122"/>
                        <a:ea typeface="微软雅黑" panose="020B0503020204020204" charset="-122"/>
                      </a:endParaRPr>
                    </a:p>
                    <a:p>
                      <a:pPr marL="61595" algn="l" rtl="0" eaLnBrk="0">
                        <a:lnSpc>
                          <a:spcPct val="99000"/>
                        </a:lnSpc>
                      </a:pPr>
                      <a:r>
                        <a:rPr sz="1100" b="1" spc="70" dirty="0">
                          <a:solidFill>
                            <a:srgbClr val="002960">
                              <a:alpha val="100000"/>
                            </a:srgbClr>
                          </a:solidFill>
                          <a:latin typeface="微软雅黑" panose="020B0503020204020204" charset="-122"/>
                          <a:ea typeface="微软雅黑" panose="020B0503020204020204" charset="-122"/>
                          <a:cs typeface="Arial" panose="020B0604020202020204"/>
                        </a:rPr>
                        <a:t>2014</a:t>
                      </a:r>
                      <a:r>
                        <a:rPr sz="1100" spc="70" dirty="0">
                          <a:ln w="4267" cap="flat" cmpd="sng">
                            <a:solidFill>
                              <a:srgbClr val="002960">
                                <a:alpha val="100000"/>
                              </a:srgbClr>
                            </a:solidFill>
                            <a:prstDash val="solid"/>
                            <a:round/>
                          </a:ln>
                          <a:solidFill>
                            <a:srgbClr val="002960">
                              <a:alpha val="100000"/>
                            </a:srgbClr>
                          </a:solidFill>
                          <a:latin typeface="微软雅黑" panose="020B0503020204020204" charset="-122"/>
                          <a:ea typeface="微软雅黑" panose="020B0503020204020204" charset="-122"/>
                          <a:cs typeface="楷体" panose="02010609060101010101" charset="-122"/>
                        </a:rPr>
                        <a:t>年半变动</a:t>
                      </a:r>
                      <a:r>
                        <a:rPr sz="1100" spc="40" dirty="0">
                          <a:ln w="4267" cap="flat" cmpd="sng">
                            <a:solidFill>
                              <a:srgbClr val="002960">
                                <a:alpha val="100000"/>
                              </a:srgbClr>
                            </a:solidFill>
                            <a:prstDash val="solid"/>
                            <a:round/>
                          </a:ln>
                          <a:solidFill>
                            <a:srgbClr val="002960">
                              <a:alpha val="100000"/>
                            </a:srgbClr>
                          </a:solidFill>
                          <a:latin typeface="微软雅黑" panose="020B0503020204020204" charset="-122"/>
                          <a:ea typeface="微软雅黑" panose="020B0503020204020204" charset="-122"/>
                          <a:cs typeface="楷体" panose="02010609060101010101" charset="-122"/>
                        </a:rPr>
                        <a:t>成</a:t>
                      </a:r>
                      <a:r>
                        <a:rPr sz="1100" spc="0" dirty="0">
                          <a:ln w="4267" cap="flat" cmpd="sng">
                            <a:solidFill>
                              <a:srgbClr val="002960">
                                <a:alpha val="100000"/>
                              </a:srgbClr>
                            </a:solidFill>
                            <a:prstDash val="solid"/>
                            <a:round/>
                          </a:ln>
                          <a:solidFill>
                            <a:srgbClr val="002960">
                              <a:alpha val="100000"/>
                            </a:srgbClr>
                          </a:solidFill>
                          <a:latin typeface="微软雅黑" panose="020B0503020204020204" charset="-122"/>
                          <a:ea typeface="微软雅黑" panose="020B0503020204020204" charset="-122"/>
                          <a:cs typeface="楷体" panose="02010609060101010101" charset="-122"/>
                        </a:rPr>
                        <a:t>本</a:t>
                      </a:r>
                      <a:endParaRPr lang="en-US" altLang="en-US" sz="1100" dirty="0">
                        <a:latin typeface="微软雅黑" panose="020B0503020204020204" charset="-122"/>
                        <a:ea typeface="微软雅黑" panose="020B0503020204020204" charset="-122"/>
                      </a:endParaRPr>
                    </a:p>
                    <a:p>
                      <a:pPr marL="69215" algn="l" rtl="0" eaLnBrk="0">
                        <a:lnSpc>
                          <a:spcPct val="98000"/>
                        </a:lnSpc>
                        <a:spcBef>
                          <a:spcPts val="195"/>
                        </a:spcBef>
                      </a:pPr>
                      <a:r>
                        <a:rPr sz="1100" spc="50" dirty="0">
                          <a:solidFill>
                            <a:srgbClr val="808080">
                              <a:alpha val="100000"/>
                            </a:srgbClr>
                          </a:solidFill>
                          <a:latin typeface="微软雅黑" panose="020B0503020204020204" charset="-122"/>
                          <a:ea typeface="微软雅黑" panose="020B0503020204020204" charset="-122"/>
                          <a:cs typeface="楷体" panose="02010609060101010101" charset="-122"/>
                        </a:rPr>
                        <a:t>千美</a:t>
                      </a:r>
                      <a:r>
                        <a:rPr sz="1100" spc="40" dirty="0">
                          <a:solidFill>
                            <a:srgbClr val="808080">
                              <a:alpha val="100000"/>
                            </a:srgbClr>
                          </a:solidFill>
                          <a:latin typeface="微软雅黑" panose="020B0503020204020204" charset="-122"/>
                          <a:ea typeface="微软雅黑" panose="020B0503020204020204" charset="-122"/>
                          <a:cs typeface="楷体" panose="02010609060101010101" charset="-122"/>
                        </a:rPr>
                        <a:t>元</a:t>
                      </a:r>
                      <a:endParaRPr lang="en-US" altLang="en-US" sz="1100" dirty="0">
                        <a:latin typeface="微软雅黑" panose="020B0503020204020204" charset="-122"/>
                        <a:ea typeface="微软雅黑" panose="020B0503020204020204" charset="-122"/>
                      </a:endParaRPr>
                    </a:p>
                  </a:txBody>
                  <a:tcPr marL="0" marR="0" marT="0" marB="0">
                    <a:lnL>
                      <a:noFill/>
                    </a:lnL>
                    <a:lnR>
                      <a:noFill/>
                    </a:lnR>
                    <a:lnT>
                      <a:noFill/>
                    </a:lnT>
                    <a:lnB w="3175" cap="flat" cmpd="sng" algn="ctr">
                      <a:solidFill>
                        <a:srgbClr val="808080"/>
                      </a:solidFill>
                      <a:prstDash val="solid"/>
                      <a:round/>
                      <a:headEnd type="none" w="med" len="med"/>
                      <a:tailEnd type="none" w="med" len="med"/>
                    </a:lnB>
                  </a:tcPr>
                </a:tc>
              </a:tr>
              <a:tr h="2472689">
                <a:tc>
                  <a:txBody>
                    <a:bodyPr/>
                    <a:lstStyle/>
                    <a:p>
                      <a:pPr algn="l" rtl="0" eaLnBrk="0">
                        <a:lnSpc>
                          <a:spcPct val="103000"/>
                        </a:lnSpc>
                      </a:pPr>
                      <a:endParaRPr lang="en-US" altLang="en-US" sz="700" dirty="0">
                        <a:latin typeface="微软雅黑" panose="020B0503020204020204" charset="-122"/>
                        <a:ea typeface="微软雅黑" panose="020B0503020204020204" charset="-122"/>
                      </a:endParaRPr>
                    </a:p>
                    <a:p>
                      <a:pPr marL="765175" algn="l" rtl="0" eaLnBrk="0">
                        <a:lnSpc>
                          <a:spcPct val="100000"/>
                        </a:lnSpc>
                      </a:pPr>
                      <a:r>
                        <a:rPr sz="1100" spc="60" dirty="0">
                          <a:solidFill>
                            <a:srgbClr val="000000">
                              <a:alpha val="100000"/>
                            </a:srgbClr>
                          </a:solidFill>
                          <a:latin typeface="微软雅黑" panose="020B0503020204020204" charset="-122"/>
                          <a:ea typeface="微软雅黑" panose="020B0503020204020204" charset="-122"/>
                          <a:cs typeface="楷体" panose="02010609060101010101" charset="-122"/>
                        </a:rPr>
                        <a:t>水电</a:t>
                      </a:r>
                      <a:r>
                        <a:rPr sz="1100" spc="30" dirty="0">
                          <a:solidFill>
                            <a:srgbClr val="000000">
                              <a:alpha val="100000"/>
                            </a:srgbClr>
                          </a:solidFill>
                          <a:latin typeface="微软雅黑" panose="020B0503020204020204" charset="-122"/>
                          <a:ea typeface="微软雅黑" panose="020B0503020204020204" charset="-122"/>
                          <a:cs typeface="楷体" panose="02010609060101010101" charset="-122"/>
                        </a:rPr>
                        <a:t>费</a:t>
                      </a:r>
                      <a:endParaRPr lang="en-US" altLang="en-US" sz="1100" dirty="0">
                        <a:latin typeface="微软雅黑" panose="020B0503020204020204" charset="-122"/>
                        <a:ea typeface="微软雅黑" panose="020B0503020204020204" charset="-122"/>
                      </a:endParaRPr>
                    </a:p>
                    <a:p>
                      <a:pPr marL="762635" algn="l" rtl="0" eaLnBrk="0">
                        <a:lnSpc>
                          <a:spcPct val="100000"/>
                        </a:lnSpc>
                        <a:spcBef>
                          <a:spcPts val="805"/>
                        </a:spcBef>
                      </a:pPr>
                      <a:r>
                        <a:rPr sz="1100" spc="70" dirty="0">
                          <a:solidFill>
                            <a:srgbClr val="000000">
                              <a:alpha val="100000"/>
                            </a:srgbClr>
                          </a:solidFill>
                          <a:latin typeface="微软雅黑" panose="020B0503020204020204" charset="-122"/>
                          <a:ea typeface="微软雅黑" panose="020B0503020204020204" charset="-122"/>
                          <a:cs typeface="楷体" panose="02010609060101010101" charset="-122"/>
                        </a:rPr>
                        <a:t>直接劳</a:t>
                      </a:r>
                      <a:r>
                        <a:rPr sz="1100" spc="40" dirty="0">
                          <a:solidFill>
                            <a:srgbClr val="000000">
                              <a:alpha val="100000"/>
                            </a:srgbClr>
                          </a:solidFill>
                          <a:latin typeface="微软雅黑" panose="020B0503020204020204" charset="-122"/>
                          <a:ea typeface="微软雅黑" panose="020B0503020204020204" charset="-122"/>
                          <a:cs typeface="楷体" panose="02010609060101010101" charset="-122"/>
                        </a:rPr>
                        <a:t>务</a:t>
                      </a:r>
                      <a:endParaRPr lang="en-US" altLang="en-US" sz="1100" dirty="0">
                        <a:latin typeface="微软雅黑" panose="020B0503020204020204" charset="-122"/>
                        <a:ea typeface="微软雅黑" panose="020B0503020204020204" charset="-122"/>
                      </a:endParaRPr>
                    </a:p>
                    <a:p>
                      <a:pPr marL="777875" algn="l" rtl="0" eaLnBrk="0">
                        <a:lnSpc>
                          <a:spcPct val="100000"/>
                        </a:lnSpc>
                        <a:spcBef>
                          <a:spcPts val="805"/>
                        </a:spcBef>
                      </a:pPr>
                      <a:r>
                        <a:rPr sz="1100" spc="40" dirty="0">
                          <a:solidFill>
                            <a:srgbClr val="000000">
                              <a:alpha val="100000"/>
                            </a:srgbClr>
                          </a:solidFill>
                          <a:latin typeface="微软雅黑" panose="020B0503020204020204" charset="-122"/>
                          <a:ea typeface="微软雅黑" panose="020B0503020204020204" charset="-122"/>
                          <a:cs typeface="楷体" panose="02010609060101010101" charset="-122"/>
                        </a:rPr>
                        <a:t>间接劳</a:t>
                      </a:r>
                      <a:r>
                        <a:rPr sz="1100" spc="10" dirty="0">
                          <a:solidFill>
                            <a:srgbClr val="000000">
                              <a:alpha val="100000"/>
                            </a:srgbClr>
                          </a:solidFill>
                          <a:latin typeface="微软雅黑" panose="020B0503020204020204" charset="-122"/>
                          <a:ea typeface="微软雅黑" panose="020B0503020204020204" charset="-122"/>
                          <a:cs typeface="楷体" panose="02010609060101010101" charset="-122"/>
                        </a:rPr>
                        <a:t>务</a:t>
                      </a:r>
                      <a:endParaRPr lang="en-US" altLang="en-US" sz="1100" dirty="0">
                        <a:latin typeface="微软雅黑" panose="020B0503020204020204" charset="-122"/>
                        <a:ea typeface="微软雅黑" panose="020B0503020204020204" charset="-122"/>
                      </a:endParaRPr>
                    </a:p>
                    <a:p>
                      <a:pPr marL="759460" algn="l" rtl="0" eaLnBrk="0">
                        <a:lnSpc>
                          <a:spcPct val="100000"/>
                        </a:lnSpc>
                        <a:spcBef>
                          <a:spcPts val="780"/>
                        </a:spcBef>
                      </a:pPr>
                      <a:r>
                        <a:rPr sz="1100" spc="70" dirty="0">
                          <a:solidFill>
                            <a:srgbClr val="000000">
                              <a:alpha val="100000"/>
                            </a:srgbClr>
                          </a:solidFill>
                          <a:latin typeface="微软雅黑" panose="020B0503020204020204" charset="-122"/>
                          <a:ea typeface="微软雅黑" panose="020B0503020204020204" charset="-122"/>
                          <a:cs typeface="楷体" panose="02010609060101010101" charset="-122"/>
                        </a:rPr>
                        <a:t>往返成</a:t>
                      </a:r>
                      <a:r>
                        <a:rPr sz="1100" spc="60" dirty="0">
                          <a:solidFill>
                            <a:srgbClr val="000000">
                              <a:alpha val="100000"/>
                            </a:srgbClr>
                          </a:solidFill>
                          <a:latin typeface="微软雅黑" panose="020B0503020204020204" charset="-122"/>
                          <a:ea typeface="微软雅黑" panose="020B0503020204020204" charset="-122"/>
                          <a:cs typeface="楷体" panose="02010609060101010101" charset="-122"/>
                        </a:rPr>
                        <a:t>本</a:t>
                      </a:r>
                      <a:endParaRPr lang="en-US" altLang="en-US" sz="1100" dirty="0">
                        <a:latin typeface="微软雅黑" panose="020B0503020204020204" charset="-122"/>
                        <a:ea typeface="微软雅黑" panose="020B0503020204020204" charset="-122"/>
                      </a:endParaRPr>
                    </a:p>
                    <a:p>
                      <a:pPr marL="762635" algn="l" rtl="0" eaLnBrk="0">
                        <a:lnSpc>
                          <a:spcPts val="1330"/>
                        </a:lnSpc>
                        <a:spcBef>
                          <a:spcPts val="810"/>
                        </a:spcBef>
                      </a:pPr>
                      <a:r>
                        <a:rPr sz="1100" spc="70" dirty="0">
                          <a:solidFill>
                            <a:srgbClr val="000000">
                              <a:alpha val="100000"/>
                            </a:srgbClr>
                          </a:solidFill>
                          <a:latin typeface="微软雅黑" panose="020B0503020204020204" charset="-122"/>
                          <a:ea typeface="微软雅黑" panose="020B0503020204020204" charset="-122"/>
                          <a:cs typeface="楷体" panose="02010609060101010101" charset="-122"/>
                        </a:rPr>
                        <a:t>工厂用</a:t>
                      </a:r>
                      <a:r>
                        <a:rPr sz="1100" spc="40" dirty="0">
                          <a:solidFill>
                            <a:srgbClr val="000000">
                              <a:alpha val="100000"/>
                            </a:srgbClr>
                          </a:solidFill>
                          <a:latin typeface="微软雅黑" panose="020B0503020204020204" charset="-122"/>
                          <a:ea typeface="微软雅黑" panose="020B0503020204020204" charset="-122"/>
                          <a:cs typeface="楷体" panose="02010609060101010101" charset="-122"/>
                        </a:rPr>
                        <a:t>品</a:t>
                      </a:r>
                      <a:endParaRPr lang="en-US" altLang="en-US" sz="1100" dirty="0">
                        <a:latin typeface="微软雅黑" panose="020B0503020204020204" charset="-122"/>
                        <a:ea typeface="微软雅黑" panose="020B0503020204020204" charset="-122"/>
                      </a:endParaRPr>
                    </a:p>
                    <a:p>
                      <a:pPr marL="765810" algn="l" rtl="0" eaLnBrk="0">
                        <a:lnSpc>
                          <a:spcPts val="1330"/>
                        </a:lnSpc>
                        <a:spcBef>
                          <a:spcPts val="805"/>
                        </a:spcBef>
                      </a:pPr>
                      <a:r>
                        <a:rPr sz="1100" spc="70" dirty="0">
                          <a:solidFill>
                            <a:srgbClr val="000000">
                              <a:alpha val="100000"/>
                            </a:srgbClr>
                          </a:solidFill>
                          <a:latin typeface="微软雅黑" panose="020B0503020204020204" charset="-122"/>
                          <a:ea typeface="微软雅黑" panose="020B0503020204020204" charset="-122"/>
                          <a:cs typeface="楷体" panose="02010609060101010101" charset="-122"/>
                        </a:rPr>
                        <a:t>维护与修</a:t>
                      </a:r>
                      <a:r>
                        <a:rPr sz="1100" spc="20" dirty="0">
                          <a:solidFill>
                            <a:srgbClr val="000000">
                              <a:alpha val="100000"/>
                            </a:srgbClr>
                          </a:solidFill>
                          <a:latin typeface="微软雅黑" panose="020B0503020204020204" charset="-122"/>
                          <a:ea typeface="微软雅黑" panose="020B0503020204020204" charset="-122"/>
                          <a:cs typeface="楷体" panose="02010609060101010101" charset="-122"/>
                        </a:rPr>
                        <a:t>理</a:t>
                      </a:r>
                      <a:endParaRPr lang="en-US" altLang="en-US" sz="1100" dirty="0">
                        <a:latin typeface="微软雅黑" panose="020B0503020204020204" charset="-122"/>
                        <a:ea typeface="微软雅黑" panose="020B0503020204020204" charset="-122"/>
                      </a:endParaRPr>
                    </a:p>
                    <a:p>
                      <a:pPr marL="766445" algn="l" rtl="0" eaLnBrk="0">
                        <a:lnSpc>
                          <a:spcPct val="99000"/>
                        </a:lnSpc>
                        <a:spcBef>
                          <a:spcPts val="775"/>
                        </a:spcBef>
                      </a:pPr>
                      <a:r>
                        <a:rPr sz="1100" spc="60" dirty="0">
                          <a:solidFill>
                            <a:srgbClr val="000000">
                              <a:alpha val="100000"/>
                            </a:srgbClr>
                          </a:solidFill>
                          <a:latin typeface="微软雅黑" panose="020B0503020204020204" charset="-122"/>
                          <a:ea typeface="微软雅黑" panose="020B0503020204020204" charset="-122"/>
                          <a:cs typeface="楷体" panose="02010609060101010101" charset="-122"/>
                        </a:rPr>
                        <a:t>外部服</a:t>
                      </a:r>
                      <a:r>
                        <a:rPr sz="1100" spc="40" dirty="0">
                          <a:solidFill>
                            <a:srgbClr val="000000">
                              <a:alpha val="100000"/>
                            </a:srgbClr>
                          </a:solidFill>
                          <a:latin typeface="微软雅黑" panose="020B0503020204020204" charset="-122"/>
                          <a:ea typeface="微软雅黑" panose="020B0503020204020204" charset="-122"/>
                          <a:cs typeface="楷体" panose="02010609060101010101" charset="-122"/>
                        </a:rPr>
                        <a:t>务</a:t>
                      </a:r>
                      <a:endParaRPr lang="en-US" altLang="en-US" sz="1100" dirty="0">
                        <a:latin typeface="微软雅黑" panose="020B0503020204020204" charset="-122"/>
                        <a:ea typeface="微软雅黑" panose="020B0503020204020204" charset="-122"/>
                      </a:endParaRPr>
                    </a:p>
                    <a:p>
                      <a:pPr marL="762635" algn="l" rtl="0" eaLnBrk="0">
                        <a:lnSpc>
                          <a:spcPts val="1355"/>
                        </a:lnSpc>
                        <a:spcBef>
                          <a:spcPts val="815"/>
                        </a:spcBef>
                      </a:pPr>
                      <a:r>
                        <a:rPr sz="1100" spc="70" dirty="0">
                          <a:solidFill>
                            <a:srgbClr val="000000">
                              <a:alpha val="100000"/>
                            </a:srgbClr>
                          </a:solidFill>
                          <a:latin typeface="微软雅黑" panose="020B0503020204020204" charset="-122"/>
                          <a:ea typeface="微软雅黑" panose="020B0503020204020204" charset="-122"/>
                          <a:cs typeface="楷体" panose="02010609060101010101" charset="-122"/>
                        </a:rPr>
                        <a:t>工厂开</a:t>
                      </a:r>
                      <a:r>
                        <a:rPr sz="1100" spc="40" dirty="0">
                          <a:solidFill>
                            <a:srgbClr val="000000">
                              <a:alpha val="100000"/>
                            </a:srgbClr>
                          </a:solidFill>
                          <a:latin typeface="微软雅黑" panose="020B0503020204020204" charset="-122"/>
                          <a:ea typeface="微软雅黑" panose="020B0503020204020204" charset="-122"/>
                          <a:cs typeface="楷体" panose="02010609060101010101" charset="-122"/>
                        </a:rPr>
                        <a:t>支</a:t>
                      </a:r>
                      <a:endParaRPr lang="en-US" altLang="en-US" sz="1100" dirty="0">
                        <a:latin typeface="微软雅黑" panose="020B0503020204020204" charset="-122"/>
                        <a:ea typeface="微软雅黑" panose="020B0503020204020204" charset="-122"/>
                      </a:endParaRPr>
                    </a:p>
                    <a:p>
                      <a:pPr algn="l" rtl="0" eaLnBrk="0">
                        <a:lnSpc>
                          <a:spcPct val="108000"/>
                        </a:lnSpc>
                      </a:pPr>
                      <a:endParaRPr lang="en-US" altLang="en-US" sz="600" dirty="0">
                        <a:latin typeface="微软雅黑" panose="020B0503020204020204" charset="-122"/>
                        <a:ea typeface="微软雅黑" panose="020B0503020204020204" charset="-122"/>
                      </a:endParaRPr>
                    </a:p>
                    <a:p>
                      <a:pPr marL="762635" algn="l" rtl="0" eaLnBrk="0">
                        <a:lnSpc>
                          <a:spcPct val="100000"/>
                        </a:lnSpc>
                        <a:spcBef>
                          <a:spcPts val="5"/>
                        </a:spcBef>
                      </a:pPr>
                      <a:r>
                        <a:rPr sz="1100" spc="70" dirty="0">
                          <a:solidFill>
                            <a:srgbClr val="000000">
                              <a:alpha val="100000"/>
                            </a:srgbClr>
                          </a:solidFill>
                          <a:latin typeface="微软雅黑" panose="020B0503020204020204" charset="-122"/>
                          <a:ea typeface="微软雅黑" panose="020B0503020204020204" charset="-122"/>
                          <a:cs typeface="楷体" panose="02010609060101010101" charset="-122"/>
                        </a:rPr>
                        <a:t>半变动成</a:t>
                      </a:r>
                      <a:r>
                        <a:rPr sz="1100" spc="40" dirty="0">
                          <a:solidFill>
                            <a:srgbClr val="000000">
                              <a:alpha val="100000"/>
                            </a:srgbClr>
                          </a:solidFill>
                          <a:latin typeface="微软雅黑" panose="020B0503020204020204" charset="-122"/>
                          <a:ea typeface="微软雅黑" panose="020B0503020204020204" charset="-122"/>
                          <a:cs typeface="楷体" panose="02010609060101010101" charset="-122"/>
                        </a:rPr>
                        <a:t>本</a:t>
                      </a:r>
                      <a:endParaRPr lang="en-US" altLang="en-US" sz="1100" dirty="0">
                        <a:latin typeface="微软雅黑" panose="020B0503020204020204" charset="-122"/>
                        <a:ea typeface="微软雅黑" panose="020B0503020204020204" charset="-122"/>
                      </a:endParaRPr>
                    </a:p>
                  </a:txBody>
                  <a:tcPr marL="0" marR="0" marT="0" marB="0">
                    <a:lnL>
                      <a:noFill/>
                    </a:lnL>
                    <a:lnR>
                      <a:noFill/>
                    </a:lnR>
                    <a:lnT w="3175" cap="flat" cmpd="sng" algn="ctr">
                      <a:solidFill>
                        <a:srgbClr val="808080"/>
                      </a:solidFill>
                      <a:prstDash val="solid"/>
                      <a:round/>
                      <a:headEnd type="none" w="med" len="med"/>
                      <a:tailEnd type="none" w="med" len="med"/>
                    </a:lnT>
                    <a:lnB>
                      <a:noFill/>
                    </a:lnB>
                  </a:tcPr>
                </a:tc>
              </a:tr>
            </a:tbl>
          </a:graphicData>
        </a:graphic>
      </p:graphicFrame>
      <p:sp>
        <p:nvSpPr>
          <p:cNvPr id="1127" name="rect"/>
          <p:cNvSpPr/>
          <p:nvPr/>
        </p:nvSpPr>
        <p:spPr>
          <a:xfrm>
            <a:off x="3715511" y="3489959"/>
            <a:ext cx="6096" cy="198120"/>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1128" name="rect"/>
          <p:cNvSpPr/>
          <p:nvPr/>
        </p:nvSpPr>
        <p:spPr>
          <a:xfrm>
            <a:off x="3710940" y="3485388"/>
            <a:ext cx="15239" cy="207264"/>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1129" name="rect"/>
          <p:cNvSpPr/>
          <p:nvPr/>
        </p:nvSpPr>
        <p:spPr>
          <a:xfrm>
            <a:off x="3657600" y="3499104"/>
            <a:ext cx="120396" cy="178307"/>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1130" name="rect"/>
          <p:cNvSpPr/>
          <p:nvPr/>
        </p:nvSpPr>
        <p:spPr>
          <a:xfrm>
            <a:off x="2834639" y="4578096"/>
            <a:ext cx="286511" cy="179832"/>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1131" name="rect"/>
          <p:cNvSpPr/>
          <p:nvPr/>
        </p:nvSpPr>
        <p:spPr>
          <a:xfrm>
            <a:off x="2862072" y="4306824"/>
            <a:ext cx="402336" cy="178307"/>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1132" name="path"/>
          <p:cNvSpPr/>
          <p:nvPr/>
        </p:nvSpPr>
        <p:spPr>
          <a:xfrm>
            <a:off x="3726268" y="2407958"/>
            <a:ext cx="1127810" cy="205707"/>
          </a:xfrm>
          <a:custGeom>
            <a:avLst/>
            <a:gdLst/>
            <a:ahLst/>
            <a:cxnLst/>
            <a:rect l="0" t="0" r="0" b="0"/>
            <a:pathLst>
              <a:path w="1776" h="323">
                <a:moveTo>
                  <a:pt x="5" y="317"/>
                </a:moveTo>
                <a:moveTo>
                  <a:pt x="5" y="317"/>
                </a:moveTo>
                <a:lnTo>
                  <a:pt x="1770" y="317"/>
                </a:lnTo>
                <a:lnTo>
                  <a:pt x="1770" y="5"/>
                </a:lnTo>
                <a:lnTo>
                  <a:pt x="5" y="5"/>
                </a:lnTo>
                <a:lnTo>
                  <a:pt x="5" y="317"/>
                </a:lnTo>
                <a:close/>
              </a:path>
            </a:pathLst>
          </a:custGeom>
          <a:solidFill>
            <a:srgbClr val="C5C5C5">
              <a:alpha val="100000"/>
            </a:srgbClr>
          </a:solidFill>
          <a:ln cap="flat">
            <a:noFill/>
            <a:prstDash val="solid"/>
            <a:miter lim="0"/>
          </a:ln>
        </p:spPr>
        <p:txBody>
          <a:bodyPr rtlCol="0"/>
          <a:lstStyle/>
          <a:p>
            <a:pPr algn="ctr"/>
            <a:endParaRPr lang="zh-CN" altLang="en-US"/>
          </a:p>
        </p:txBody>
      </p:sp>
      <p:graphicFrame>
        <p:nvGraphicFramePr>
          <p:cNvPr id="1133" name="table 1133"/>
          <p:cNvGraphicFramePr>
            <a:graphicFrameLocks noGrp="1"/>
          </p:cNvGraphicFramePr>
          <p:nvPr/>
        </p:nvGraphicFramePr>
        <p:xfrm>
          <a:off x="2800349" y="1562368"/>
          <a:ext cx="2053589" cy="4319904"/>
        </p:xfrm>
        <a:graphic>
          <a:graphicData uri="http://schemas.openxmlformats.org/drawingml/2006/table">
            <a:tbl>
              <a:tblPr/>
              <a:tblGrid>
                <a:gridCol w="149860"/>
                <a:gridCol w="164464"/>
                <a:gridCol w="626109"/>
                <a:gridCol w="1113155"/>
              </a:tblGrid>
              <a:tr h="233044">
                <a:tc gridSpan="4">
                  <a:txBody>
                    <a:bodyPr/>
                    <a:lstStyle/>
                    <a:p>
                      <a:pPr algn="l" rtl="0" eaLnBrk="0">
                        <a:lnSpc>
                          <a:spcPct val="107000"/>
                        </a:lnSpc>
                      </a:pPr>
                      <a:endParaRPr lang="en-US" altLang="en-US" sz="500" dirty="0">
                        <a:latin typeface="微软雅黑" panose="020B0503020204020204" charset="-122"/>
                        <a:ea typeface="微软雅黑" panose="020B0503020204020204" charset="-122"/>
                      </a:endParaRPr>
                    </a:p>
                    <a:p>
                      <a:pPr marL="805815" algn="l" rtl="0" eaLnBrk="0">
                        <a:lnSpc>
                          <a:spcPct val="84000"/>
                        </a:lnSpc>
                        <a:spcBef>
                          <a:spcPts val="5"/>
                        </a:spcBef>
                      </a:pPr>
                      <a:r>
                        <a:rPr sz="1100" b="1" spc="40" dirty="0">
                          <a:solidFill>
                            <a:srgbClr val="FFFFFF">
                              <a:alpha val="100000"/>
                            </a:srgbClr>
                          </a:solidFill>
                          <a:latin typeface="微软雅黑" panose="020B0503020204020204" charset="-122"/>
                          <a:ea typeface="微软雅黑" panose="020B0503020204020204" charset="-122"/>
                          <a:cs typeface="Arial" panose="020B0604020202020204"/>
                        </a:rPr>
                        <a:t>20'25</a:t>
                      </a:r>
                      <a:r>
                        <a:rPr sz="1100" b="1" spc="10" dirty="0">
                          <a:solidFill>
                            <a:srgbClr val="FFFFFF">
                              <a:alpha val="100000"/>
                            </a:srgbClr>
                          </a:solidFill>
                          <a:latin typeface="微软雅黑" panose="020B0503020204020204" charset="-122"/>
                          <a:ea typeface="微软雅黑" panose="020B0503020204020204" charset="-122"/>
                          <a:cs typeface="Arial" panose="020B0604020202020204"/>
                        </a:rPr>
                        <a:t>5</a:t>
                      </a:r>
                      <a:endParaRPr lang="en-US" altLang="en-US" sz="1100" dirty="0">
                        <a:latin typeface="微软雅黑" panose="020B0503020204020204" charset="-122"/>
                        <a:ea typeface="微软雅黑" panose="020B0503020204020204" charset="-122"/>
                      </a:endParaRPr>
                    </a:p>
                  </a:txBody>
                  <a:tcPr marL="0" marR="0" marT="0" marB="0">
                    <a:lnL w="22225" cap="flat" cmpd="sng" algn="ctr">
                      <a:solidFill>
                        <a:srgbClr val="808080"/>
                      </a:solidFill>
                      <a:prstDash val="solid"/>
                      <a:round/>
                      <a:headEnd type="none" w="med" len="med"/>
                      <a:tailEnd type="none" w="med" len="med"/>
                    </a:lnL>
                    <a:lnR w="63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0065BD"/>
                      </a:solidFill>
                      <a:prstDash val="solid"/>
                      <a:round/>
                      <a:headEnd type="none" w="med" len="med"/>
                      <a:tailEnd type="none" w="med" len="med"/>
                    </a:lnB>
                    <a:solidFill>
                      <a:srgbClr val="0065BD"/>
                    </a:solidFill>
                  </a:tcPr>
                </a:tc>
                <a:tc hMerge="1">
                  <a:tcPr marL="0" marR="0" marT="0" marB="0">
                    <a:lnL w="22225" cap="flat" cmpd="sng" algn="ctr">
                      <a:solidFill>
                        <a:srgbClr val="808080"/>
                      </a:solidFill>
                      <a:prstDash val="solid"/>
                      <a:round/>
                      <a:headEnd type="none" w="med" len="med"/>
                      <a:tailEnd type="none" w="med" len="med"/>
                    </a:lnL>
                    <a:lnR w="63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0065BD"/>
                      </a:solidFill>
                      <a:prstDash val="solid"/>
                      <a:round/>
                      <a:headEnd type="none" w="med" len="med"/>
                      <a:tailEnd type="none" w="med" len="med"/>
                    </a:lnB>
                    <a:solidFill>
                      <a:srgbClr val="0065BD"/>
                    </a:solidFill>
                  </a:tcPr>
                </a:tc>
                <a:tc hMerge="1">
                  <a:tcPr marL="0" marR="0" marT="0" marB="0">
                    <a:lnL w="22225" cap="flat" cmpd="sng" algn="ctr">
                      <a:solidFill>
                        <a:srgbClr val="808080"/>
                      </a:solidFill>
                      <a:prstDash val="solid"/>
                      <a:round/>
                      <a:headEnd type="none" w="med" len="med"/>
                      <a:tailEnd type="none" w="med" len="med"/>
                    </a:lnL>
                    <a:lnR w="63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0065BD"/>
                      </a:solidFill>
                      <a:prstDash val="solid"/>
                      <a:round/>
                      <a:headEnd type="none" w="med" len="med"/>
                      <a:tailEnd type="none" w="med" len="med"/>
                    </a:lnB>
                    <a:solidFill>
                      <a:srgbClr val="0065BD"/>
                    </a:solidFill>
                  </a:tcPr>
                </a:tc>
                <a:tc hMerge="1">
                  <a:tcPr marL="0" marR="0" marT="0" marB="0">
                    <a:lnL w="22225" cap="flat" cmpd="sng" algn="ctr">
                      <a:solidFill>
                        <a:srgbClr val="808080"/>
                      </a:solidFill>
                      <a:prstDash val="solid"/>
                      <a:round/>
                      <a:headEnd type="none" w="med" len="med"/>
                      <a:tailEnd type="none" w="med" len="med"/>
                    </a:lnL>
                    <a:lnR w="63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0065BD"/>
                      </a:solidFill>
                      <a:prstDash val="solid"/>
                      <a:round/>
                      <a:headEnd type="none" w="med" len="med"/>
                      <a:tailEnd type="none" w="med" len="med"/>
                    </a:lnB>
                    <a:solidFill>
                      <a:srgbClr val="0065BD"/>
                    </a:solidFill>
                  </a:tcPr>
                </a:tc>
              </a:tr>
              <a:tr h="605790">
                <a:tc>
                  <a:txBody>
                    <a:bodyPr/>
                    <a:lstStyle/>
                    <a:p>
                      <a:pPr algn="l" rtl="0" eaLnBrk="0">
                        <a:lnSpc>
                          <a:spcPct val="100000"/>
                        </a:lnSpc>
                      </a:pPr>
                      <a:endParaRPr lang="en-US" altLang="en-US" sz="1000" dirty="0">
                        <a:ea typeface="微软雅黑" panose="020B0503020204020204" charset="-122"/>
                      </a:endParaRPr>
                    </a:p>
                  </a:txBody>
                  <a:tcPr marL="0" marR="0" marT="0" marB="0">
                    <a:lnL w="22225" cap="flat" cmpd="sng" algn="ctr">
                      <a:solidFill>
                        <a:srgbClr val="808080"/>
                      </a:solidFill>
                      <a:prstDash val="solid"/>
                      <a:round/>
                      <a:headEnd type="none" w="med" len="med"/>
                      <a:tailEnd type="none" w="med" len="med"/>
                    </a:lnL>
                    <a:lnR>
                      <a:noFill/>
                    </a:lnR>
                    <a:lnT w="3175" cap="flat" cmpd="sng" algn="ctr">
                      <a:solidFill>
                        <a:srgbClr val="0065BD"/>
                      </a:solidFill>
                      <a:prstDash val="solid"/>
                      <a:round/>
                      <a:headEnd type="none" w="med" len="med"/>
                      <a:tailEnd type="none" w="med" len="med"/>
                    </a:lnT>
                    <a:lnB>
                      <a:noFill/>
                    </a:lnB>
                  </a:tcPr>
                </a:tc>
                <a:tc>
                  <a:txBody>
                    <a:bodyPr/>
                    <a:lstStyle/>
                    <a:p>
                      <a:pPr algn="l" rtl="0" eaLnBrk="0">
                        <a:lnSpc>
                          <a:spcPct val="100000"/>
                        </a:lnSpc>
                      </a:pPr>
                      <a:endParaRPr lang="en-US" altLang="en-US" sz="1000" dirty="0">
                        <a:ea typeface="微软雅黑" panose="020B0503020204020204" charset="-122"/>
                      </a:endParaRPr>
                    </a:p>
                  </a:txBody>
                  <a:tcPr marL="0" marR="0" marT="0" marB="0">
                    <a:lnL>
                      <a:noFill/>
                    </a:lnL>
                    <a:lnR>
                      <a:noFill/>
                    </a:lnR>
                    <a:lnT w="3175" cap="flat" cmpd="sng" algn="ctr">
                      <a:solidFill>
                        <a:srgbClr val="FFFFFF"/>
                      </a:solidFill>
                      <a:prstDash val="solid"/>
                      <a:round/>
                      <a:headEnd type="none" w="med" len="med"/>
                      <a:tailEnd type="none" w="med" len="med"/>
                    </a:lnT>
                    <a:lnB>
                      <a:noFill/>
                    </a:lnB>
                  </a:tcPr>
                </a:tc>
                <a:tc gridSpan="2">
                  <a:txBody>
                    <a:bodyPr/>
                    <a:lstStyle/>
                    <a:p>
                      <a:pPr algn="l" rtl="0" eaLnBrk="0">
                        <a:lnSpc>
                          <a:spcPct val="100000"/>
                        </a:lnSpc>
                      </a:pPr>
                      <a:endParaRPr lang="en-US" altLang="en-US" sz="1000" dirty="0">
                        <a:ea typeface="微软雅黑" panose="020B0503020204020204" charset="-122"/>
                      </a:endParaRPr>
                    </a:p>
                  </a:txBody>
                  <a:tcPr marL="0" marR="0" marT="0" marB="0">
                    <a:lnL>
                      <a:noFill/>
                    </a:lnL>
                    <a:lnR w="3175" cap="flat" cmpd="sng" algn="ctr">
                      <a:solidFill>
                        <a:srgbClr val="C5C5C5"/>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c hMerge="1">
                  <a:tcPr marL="0" marR="0" marT="0" marB="0">
                    <a:lnL>
                      <a:noFill/>
                    </a:lnL>
                    <a:lnR w="3175" cap="flat" cmpd="sng" algn="ctr">
                      <a:solidFill>
                        <a:srgbClr val="C5C5C5"/>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tcPr>
                </a:tc>
              </a:tr>
              <a:tr h="173989">
                <a:tc>
                  <a:txBody>
                    <a:bodyPr/>
                    <a:lstStyle/>
                    <a:p>
                      <a:pPr algn="l" rtl="0" eaLnBrk="0">
                        <a:lnSpc>
                          <a:spcPct val="100000"/>
                        </a:lnSpc>
                      </a:pPr>
                      <a:endParaRPr lang="en-US" altLang="en-US" sz="1000" dirty="0">
                        <a:ea typeface="微软雅黑" panose="020B0503020204020204" charset="-122"/>
                      </a:endParaRPr>
                    </a:p>
                  </a:txBody>
                  <a:tcPr marL="0" marR="0" marT="0" marB="0">
                    <a:lnL w="22225" cap="flat" cmpd="sng" algn="ctr">
                      <a:solidFill>
                        <a:srgbClr val="808080"/>
                      </a:solidFill>
                      <a:prstDash val="solid"/>
                      <a:round/>
                      <a:headEnd type="none" w="med" len="med"/>
                      <a:tailEnd type="none" w="med" len="med"/>
                    </a:lnL>
                    <a:lnR>
                      <a:noFill/>
                    </a:lnR>
                    <a:lnT>
                      <a:noFill/>
                    </a:lnT>
                    <a:lnB>
                      <a:noFill/>
                    </a:lnB>
                  </a:tcPr>
                </a:tc>
                <a:tc>
                  <a:txBody>
                    <a:bodyPr/>
                    <a:lstStyle/>
                    <a:p>
                      <a:pPr algn="l" rtl="0" eaLnBrk="0">
                        <a:lnSpc>
                          <a:spcPct val="100000"/>
                        </a:lnSpc>
                      </a:pPr>
                      <a:endParaRPr lang="en-US" altLang="en-US" sz="1000" dirty="0">
                        <a:ea typeface="微软雅黑" panose="020B0503020204020204" charset="-122"/>
                      </a:endParaRPr>
                    </a:p>
                  </a:txBody>
                  <a:tcPr marL="0" marR="0" marT="0" marB="0">
                    <a:lnL>
                      <a:noFill/>
                    </a:lnL>
                    <a:lnR>
                      <a:noFill/>
                    </a:lnR>
                    <a:lnT>
                      <a:noFill/>
                    </a:lnT>
                    <a:lnB>
                      <a:noFill/>
                    </a:lnB>
                  </a:tcPr>
                </a:tc>
                <a:tc>
                  <a:txBody>
                    <a:bodyPr/>
                    <a:lstStyle/>
                    <a:p>
                      <a:pPr algn="l" rtl="0" eaLnBrk="0">
                        <a:lnSpc>
                          <a:spcPct val="100000"/>
                        </a:lnSpc>
                      </a:pPr>
                      <a:endParaRPr lang="en-US" altLang="en-US" sz="1000" dirty="0">
                        <a:ea typeface="微软雅黑" panose="020B0503020204020204" charset="-122"/>
                      </a:endParaRPr>
                    </a:p>
                  </a:txBody>
                  <a:tcPr marL="0" marR="0" marT="0" marB="0">
                    <a:lnL>
                      <a:noFill/>
                    </a:lnL>
                    <a:lnR w="3175"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a:noFill/>
                    </a:lnB>
                  </a:tcPr>
                </a:tc>
                <a:tc>
                  <a:txBody>
                    <a:bodyPr/>
                    <a:lstStyle/>
                    <a:p>
                      <a:pPr algn="l" rtl="0" eaLnBrk="0">
                        <a:lnSpc>
                          <a:spcPct val="109000"/>
                        </a:lnSpc>
                      </a:pPr>
                      <a:endParaRPr lang="en-US" altLang="en-US" sz="300" dirty="0">
                        <a:latin typeface="微软雅黑" panose="020B0503020204020204" charset="-122"/>
                        <a:ea typeface="微软雅黑" panose="020B0503020204020204" charset="-122"/>
                      </a:endParaRPr>
                    </a:p>
                    <a:p>
                      <a:pPr marL="337185" algn="l" rtl="0" eaLnBrk="0">
                        <a:lnSpc>
                          <a:spcPct val="74000"/>
                        </a:lnSpc>
                        <a:spcBef>
                          <a:spcPts val="0"/>
                        </a:spcBef>
                      </a:pPr>
                      <a:r>
                        <a:rPr sz="1100" spc="30" dirty="0">
                          <a:solidFill>
                            <a:srgbClr val="000000">
                              <a:alpha val="100000"/>
                            </a:srgbClr>
                          </a:solidFill>
                          <a:latin typeface="微软雅黑" panose="020B0503020204020204" charset="-122"/>
                          <a:ea typeface="微软雅黑" panose="020B0503020204020204" charset="-122"/>
                          <a:cs typeface="Arial" panose="020B0604020202020204"/>
                        </a:rPr>
                        <a:t>11’7</a:t>
                      </a:r>
                      <a:r>
                        <a:rPr sz="1100" spc="0" dirty="0">
                          <a:solidFill>
                            <a:srgbClr val="000000">
                              <a:alpha val="100000"/>
                            </a:srgbClr>
                          </a:solidFill>
                          <a:latin typeface="微软雅黑" panose="020B0503020204020204" charset="-122"/>
                          <a:ea typeface="微软雅黑" panose="020B0503020204020204" charset="-122"/>
                          <a:cs typeface="Arial" panose="020B0604020202020204"/>
                        </a:rPr>
                        <a:t>08</a:t>
                      </a:r>
                      <a:endParaRPr lang="en-US" altLang="en-US" sz="1100" dirty="0">
                        <a:latin typeface="微软雅黑" panose="020B0503020204020204" charset="-122"/>
                        <a:ea typeface="微软雅黑" panose="020B0503020204020204" charset="-122"/>
                      </a:endParaRPr>
                    </a:p>
                  </a:txBody>
                  <a:tcPr marL="0" marR="0" marT="0" marB="0">
                    <a:lnL w="3175"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C5C5C5"/>
                      </a:solidFill>
                      <a:prstDash val="solid"/>
                      <a:round/>
                      <a:headEnd type="none" w="med" len="med"/>
                      <a:tailEnd type="none" w="med" len="med"/>
                    </a:lnB>
                  </a:tcPr>
                </a:tc>
              </a:tr>
              <a:tr h="1446530">
                <a:tc>
                  <a:txBody>
                    <a:bodyPr/>
                    <a:lstStyle/>
                    <a:p>
                      <a:pPr algn="l" rtl="0" eaLnBrk="0">
                        <a:lnSpc>
                          <a:spcPct val="100000"/>
                        </a:lnSpc>
                      </a:pPr>
                      <a:endParaRPr lang="en-US" altLang="en-US" sz="1000" dirty="0">
                        <a:ea typeface="微软雅黑" panose="020B0503020204020204" charset="-122"/>
                      </a:endParaRPr>
                    </a:p>
                  </a:txBody>
                  <a:tcPr marL="0" marR="0" marT="0" marB="0">
                    <a:lnL w="22225" cap="flat" cmpd="sng" algn="ctr">
                      <a:solidFill>
                        <a:srgbClr val="808080"/>
                      </a:solidFill>
                      <a:prstDash val="solid"/>
                      <a:round/>
                      <a:headEnd type="none" w="med" len="med"/>
                      <a:tailEnd type="none" w="med" len="med"/>
                    </a:lnL>
                    <a:lnR>
                      <a:noFill/>
                    </a:lnR>
                    <a:lnT>
                      <a:noFill/>
                    </a:lnT>
                    <a:lnB>
                      <a:noFill/>
                    </a:lnB>
                  </a:tcPr>
                </a:tc>
                <a:tc>
                  <a:txBody>
                    <a:bodyPr/>
                    <a:lstStyle/>
                    <a:p>
                      <a:pPr algn="l" rtl="0" eaLnBrk="0">
                        <a:lnSpc>
                          <a:spcPct val="100000"/>
                        </a:lnSpc>
                      </a:pPr>
                      <a:endParaRPr lang="en-US" altLang="en-US" sz="1000" dirty="0">
                        <a:ea typeface="微软雅黑" panose="020B0503020204020204" charset="-122"/>
                      </a:endParaRPr>
                    </a:p>
                  </a:txBody>
                  <a:tcPr marL="0" marR="0" marT="0" marB="0">
                    <a:lnL>
                      <a:noFill/>
                    </a:lnL>
                    <a:lnR>
                      <a:noFill/>
                    </a:lnR>
                    <a:lnT>
                      <a:noFill/>
                    </a:lnT>
                    <a:lnB>
                      <a:noFill/>
                    </a:lnB>
                  </a:tcPr>
                </a:tc>
                <a:tc gridSpan="2">
                  <a:txBody>
                    <a:bodyPr/>
                    <a:lstStyle/>
                    <a:p>
                      <a:pPr algn="l" rtl="0" eaLnBrk="0">
                        <a:lnSpc>
                          <a:spcPct val="105000"/>
                        </a:lnSpc>
                      </a:pPr>
                      <a:endParaRPr lang="en-US" altLang="en-US" sz="1000" dirty="0">
                        <a:latin typeface="微软雅黑" panose="020B0503020204020204" charset="-122"/>
                        <a:ea typeface="微软雅黑" panose="020B0503020204020204" charset="-122"/>
                      </a:endParaRPr>
                    </a:p>
                    <a:p>
                      <a:pPr algn="l" rtl="0" eaLnBrk="0">
                        <a:lnSpc>
                          <a:spcPct val="105000"/>
                        </a:lnSpc>
                      </a:pPr>
                      <a:endParaRPr lang="en-US" altLang="en-US" sz="1000" dirty="0">
                        <a:latin typeface="微软雅黑" panose="020B0503020204020204" charset="-122"/>
                        <a:ea typeface="微软雅黑" panose="020B0503020204020204" charset="-122"/>
                      </a:endParaRPr>
                    </a:p>
                    <a:p>
                      <a:pPr algn="l" rtl="0" eaLnBrk="0">
                        <a:lnSpc>
                          <a:spcPct val="105000"/>
                        </a:lnSpc>
                      </a:pPr>
                      <a:endParaRPr lang="en-US" altLang="en-US" sz="1000" dirty="0">
                        <a:latin typeface="微软雅黑" panose="020B0503020204020204" charset="-122"/>
                        <a:ea typeface="微软雅黑" panose="020B0503020204020204" charset="-122"/>
                      </a:endParaRPr>
                    </a:p>
                    <a:p>
                      <a:pPr algn="l" rtl="0" eaLnBrk="0">
                        <a:lnSpc>
                          <a:spcPct val="105000"/>
                        </a:lnSpc>
                      </a:pPr>
                      <a:endParaRPr lang="en-US" altLang="en-US" sz="1000" dirty="0">
                        <a:latin typeface="微软雅黑" panose="020B0503020204020204" charset="-122"/>
                        <a:ea typeface="微软雅黑" panose="020B0503020204020204" charset="-122"/>
                      </a:endParaRPr>
                    </a:p>
                    <a:p>
                      <a:pPr algn="l" rtl="0" eaLnBrk="0">
                        <a:lnSpc>
                          <a:spcPct val="105000"/>
                        </a:lnSpc>
                      </a:pPr>
                      <a:endParaRPr lang="en-US" altLang="en-US" sz="1000" dirty="0">
                        <a:latin typeface="微软雅黑" panose="020B0503020204020204" charset="-122"/>
                        <a:ea typeface="微软雅黑" panose="020B0503020204020204" charset="-122"/>
                      </a:endParaRPr>
                    </a:p>
                    <a:p>
                      <a:pPr algn="l" rtl="0" eaLnBrk="0">
                        <a:lnSpc>
                          <a:spcPct val="106000"/>
                        </a:lnSpc>
                      </a:pPr>
                      <a:endParaRPr lang="en-US" altLang="en-US" sz="1000" dirty="0">
                        <a:latin typeface="微软雅黑" panose="020B0503020204020204" charset="-122"/>
                        <a:ea typeface="微软雅黑" panose="020B0503020204020204" charset="-122"/>
                      </a:endParaRPr>
                    </a:p>
                    <a:p>
                      <a:pPr marL="542925" algn="l" rtl="0" eaLnBrk="0">
                        <a:lnSpc>
                          <a:spcPct val="84000"/>
                        </a:lnSpc>
                        <a:spcBef>
                          <a:spcPts val="5"/>
                        </a:spcBef>
                        <a:tabLst>
                          <a:tab pos="577850" algn="l"/>
                        </a:tabLst>
                      </a:pPr>
                      <a:r>
                        <a:rPr sz="1100" spc="0" dirty="0">
                          <a:solidFill>
                            <a:srgbClr val="000000">
                              <a:alpha val="100000"/>
                            </a:srgbClr>
                          </a:solidFill>
                          <a:latin typeface="微软雅黑" panose="020B0503020204020204" charset="-122"/>
                          <a:ea typeface="微软雅黑" panose="020B0503020204020204" charset="-122"/>
                          <a:cs typeface="Arial" panose="020B0604020202020204"/>
                        </a:rPr>
                        <a:t>	1</a:t>
                      </a:r>
                      <a:endParaRPr lang="en-US" altLang="en-US" sz="1100" dirty="0">
                        <a:latin typeface="微软雅黑" panose="020B0503020204020204" charset="-122"/>
                        <a:ea typeface="微软雅黑" panose="020B0503020204020204" charset="-122"/>
                      </a:endParaRPr>
                    </a:p>
                    <a:p>
                      <a:pPr algn="l" rtl="0" eaLnBrk="0">
                        <a:lnSpc>
                          <a:spcPct val="105000"/>
                        </a:lnSpc>
                      </a:pPr>
                      <a:endParaRPr lang="en-US" altLang="en-US" sz="800" dirty="0">
                        <a:latin typeface="微软雅黑" panose="020B0503020204020204" charset="-122"/>
                        <a:ea typeface="微软雅黑" panose="020B0503020204020204" charset="-122"/>
                      </a:endParaRPr>
                    </a:p>
                    <a:p>
                      <a:pPr marL="611505" algn="l" rtl="0" eaLnBrk="0">
                        <a:lnSpc>
                          <a:spcPct val="80000"/>
                        </a:lnSpc>
                        <a:spcBef>
                          <a:spcPts val="5"/>
                        </a:spcBef>
                        <a:tabLst>
                          <a:tab pos="628650" algn="l"/>
                        </a:tabLst>
                      </a:pPr>
                      <a:r>
                        <a:rPr sz="1200" strike="sngStrike" spc="0" dirty="0">
                          <a:solidFill>
                            <a:srgbClr val="000000">
                              <a:alpha val="100000"/>
                            </a:srgbClr>
                          </a:solidFill>
                          <a:latin typeface="微软雅黑" panose="020B0503020204020204" charset="-122"/>
                          <a:ea typeface="微软雅黑" panose="020B0503020204020204" charset="-122"/>
                          <a:cs typeface="Arial" panose="020B0604020202020204"/>
                        </a:rPr>
                        <a:t>	</a:t>
                      </a:r>
                      <a:r>
                        <a:rPr sz="1200" spc="-30" dirty="0">
                          <a:solidFill>
                            <a:srgbClr val="000000">
                              <a:alpha val="100000"/>
                            </a:srgbClr>
                          </a:solidFill>
                          <a:latin typeface="微软雅黑" panose="020B0503020204020204" charset="-122"/>
                          <a:ea typeface="微软雅黑" panose="020B0503020204020204" charset="-122"/>
                          <a:cs typeface="Arial" panose="020B0604020202020204"/>
                        </a:rPr>
                        <a:t> 82</a:t>
                      </a:r>
                      <a:r>
                        <a:rPr sz="1200" spc="-20" dirty="0">
                          <a:solidFill>
                            <a:srgbClr val="000000">
                              <a:alpha val="100000"/>
                            </a:srgbClr>
                          </a:solidFill>
                          <a:latin typeface="微软雅黑" panose="020B0503020204020204" charset="-122"/>
                          <a:ea typeface="微软雅黑" panose="020B0503020204020204" charset="-122"/>
                          <a:cs typeface="Arial" panose="020B0604020202020204"/>
                        </a:rPr>
                        <a:t>7</a:t>
                      </a:r>
                      <a:endParaRPr lang="en-US" altLang="en-US" sz="1200" dirty="0">
                        <a:latin typeface="微软雅黑" panose="020B0503020204020204" charset="-122"/>
                        <a:ea typeface="微软雅黑" panose="020B0503020204020204" charset="-122"/>
                      </a:endParaRPr>
                    </a:p>
                  </a:txBody>
                  <a:tcPr marL="0" marR="0" marT="0" marB="0">
                    <a:lnL>
                      <a:noFill/>
                    </a:lnL>
                    <a:lnR>
                      <a:noFill/>
                    </a:lnR>
                    <a:lnT w="3175" cap="flat" cmpd="sng" algn="ctr">
                      <a:noFill/>
                      <a:prstDash val="solid"/>
                      <a:round/>
                      <a:headEnd type="none" w="med" len="med"/>
                      <a:tailEnd type="none" w="med" len="med"/>
                    </a:lnT>
                    <a:lnB>
                      <a:noFill/>
                    </a:lnB>
                  </a:tcPr>
                </a:tc>
                <a:tc hMerge="1">
                  <a:tcPr marL="0" marR="0" marT="0" marB="0">
                    <a:lnL>
                      <a:noFill/>
                    </a:lnL>
                    <a:lnR>
                      <a:noFill/>
                    </a:lnR>
                    <a:lnT w="3175" cap="flat" cmpd="sng" algn="ctr">
                      <a:solidFill>
                        <a:srgbClr val="FFFFFF"/>
                      </a:solidFill>
                      <a:prstDash val="solid"/>
                      <a:round/>
                      <a:headEnd type="none" w="med" len="med"/>
                      <a:tailEnd type="none" w="med" len="med"/>
                    </a:lnT>
                    <a:lnB>
                      <a:noFill/>
                    </a:lnB>
                  </a:tcPr>
                </a:tc>
              </a:tr>
              <a:tr h="199389">
                <a:tc>
                  <a:txBody>
                    <a:bodyPr/>
                    <a:lstStyle/>
                    <a:p>
                      <a:pPr algn="l" rtl="0" eaLnBrk="0">
                        <a:lnSpc>
                          <a:spcPct val="100000"/>
                        </a:lnSpc>
                      </a:pPr>
                      <a:endParaRPr lang="en-US" altLang="en-US" sz="1000" dirty="0">
                        <a:ea typeface="微软雅黑" panose="020B0503020204020204" charset="-122"/>
                      </a:endParaRPr>
                    </a:p>
                  </a:txBody>
                  <a:tcPr marL="0" marR="0" marT="0" marB="0">
                    <a:lnL w="22225" cap="flat" cmpd="sng" algn="ctr">
                      <a:solidFill>
                        <a:srgbClr val="808080"/>
                      </a:solidFill>
                      <a:prstDash val="solid"/>
                      <a:round/>
                      <a:headEnd type="none" w="med" len="med"/>
                      <a:tailEnd type="none" w="med" len="med"/>
                    </a:lnL>
                    <a:lnR>
                      <a:noFill/>
                    </a:lnR>
                    <a:lnT>
                      <a:noFill/>
                    </a:lnT>
                    <a:lnB>
                      <a:noFill/>
                    </a:lnB>
                  </a:tcPr>
                </a:tc>
                <a:tc gridSpan="3">
                  <a:txBody>
                    <a:bodyPr/>
                    <a:lstStyle/>
                    <a:p>
                      <a:pPr algn="l" rtl="0" eaLnBrk="0">
                        <a:lnSpc>
                          <a:spcPct val="100000"/>
                        </a:lnSpc>
                      </a:pPr>
                      <a:endParaRPr lang="en-US" altLang="en-US" sz="1000" dirty="0">
                        <a:ea typeface="微软雅黑" panose="020B0503020204020204" charset="-122"/>
                      </a:endParaRPr>
                    </a:p>
                  </a:txBody>
                  <a:tcPr marL="0" marR="0" marT="0" marB="0">
                    <a:lnL>
                      <a:noFill/>
                    </a:lnL>
                    <a:lnR>
                      <a:noFill/>
                    </a:lnR>
                    <a:lnT>
                      <a:noFill/>
                    </a:lnT>
                    <a:lnB>
                      <a:noFill/>
                    </a:lnB>
                  </a:tcPr>
                </a:tc>
                <a:tc hMerge="1">
                  <a:tcPr marL="0" marR="0" marT="0" marB="0">
                    <a:lnL>
                      <a:noFill/>
                    </a:lnL>
                    <a:lnR>
                      <a:noFill/>
                    </a:lnR>
                    <a:lnT>
                      <a:noFill/>
                    </a:lnT>
                    <a:lnB>
                      <a:noFill/>
                    </a:lnB>
                  </a:tcPr>
                </a:tc>
                <a:tc hMerge="1">
                  <a:tcPr marL="0" marR="0" marT="0" marB="0">
                    <a:lnL>
                      <a:noFill/>
                    </a:lnL>
                    <a:lnR>
                      <a:noFill/>
                    </a:lnR>
                    <a:lnT>
                      <a:noFill/>
                    </a:lnT>
                    <a:lnB>
                      <a:noFill/>
                    </a:lnB>
                  </a:tcPr>
                </a:tc>
              </a:tr>
              <a:tr h="1661160">
                <a:tc gridSpan="4">
                  <a:txBody>
                    <a:bodyPr/>
                    <a:lstStyle/>
                    <a:p>
                      <a:pPr algn="l" rtl="0" eaLnBrk="0">
                        <a:lnSpc>
                          <a:spcPct val="100000"/>
                        </a:lnSpc>
                      </a:pPr>
                      <a:endParaRPr lang="en-US" altLang="en-US" sz="800" dirty="0">
                        <a:latin typeface="微软雅黑" panose="020B0503020204020204" charset="-122"/>
                        <a:ea typeface="微软雅黑" panose="020B0503020204020204" charset="-122"/>
                      </a:endParaRPr>
                    </a:p>
                    <a:p>
                      <a:pPr marL="61595" algn="l" rtl="0" eaLnBrk="0">
                        <a:lnSpc>
                          <a:spcPct val="85000"/>
                        </a:lnSpc>
                        <a:spcBef>
                          <a:spcPts val="5"/>
                        </a:spcBef>
                        <a:tabLst>
                          <a:tab pos="95885" algn="l"/>
                        </a:tabLst>
                      </a:pPr>
                      <a:r>
                        <a:rPr sz="1100" spc="0" dirty="0">
                          <a:solidFill>
                            <a:srgbClr val="000000">
                              <a:alpha val="100000"/>
                            </a:srgbClr>
                          </a:solidFill>
                          <a:latin typeface="微软雅黑" panose="020B0503020204020204" charset="-122"/>
                          <a:ea typeface="微软雅黑" panose="020B0503020204020204" charset="-122"/>
                          <a:cs typeface="Arial" panose="020B0604020202020204"/>
                        </a:rPr>
                        <a:t>	</a:t>
                      </a:r>
                      <a:r>
                        <a:rPr sz="1100" spc="20" dirty="0">
                          <a:solidFill>
                            <a:srgbClr val="000000">
                              <a:alpha val="100000"/>
                            </a:srgbClr>
                          </a:solidFill>
                          <a:latin typeface="微软雅黑" panose="020B0503020204020204" charset="-122"/>
                          <a:ea typeface="微软雅黑" panose="020B0503020204020204" charset="-122"/>
                          <a:cs typeface="Arial" panose="020B0604020202020204"/>
                        </a:rPr>
                        <a:t>1’5</a:t>
                      </a:r>
                      <a:r>
                        <a:rPr sz="1100" spc="10" dirty="0">
                          <a:solidFill>
                            <a:srgbClr val="000000">
                              <a:alpha val="100000"/>
                            </a:srgbClr>
                          </a:solidFill>
                          <a:latin typeface="微软雅黑" panose="020B0503020204020204" charset="-122"/>
                          <a:ea typeface="微软雅黑" panose="020B0503020204020204" charset="-122"/>
                          <a:cs typeface="Arial" panose="020B0604020202020204"/>
                        </a:rPr>
                        <a:t>7</a:t>
                      </a:r>
                      <a:r>
                        <a:rPr sz="1100" spc="0" dirty="0">
                          <a:solidFill>
                            <a:srgbClr val="000000">
                              <a:alpha val="100000"/>
                            </a:srgbClr>
                          </a:solidFill>
                          <a:latin typeface="微软雅黑" panose="020B0503020204020204" charset="-122"/>
                          <a:ea typeface="微软雅黑" panose="020B0503020204020204" charset="-122"/>
                          <a:cs typeface="Arial" panose="020B0604020202020204"/>
                        </a:rPr>
                        <a:t>2</a:t>
                      </a:r>
                      <a:endParaRPr lang="en-US" altLang="en-US" sz="1100" dirty="0">
                        <a:latin typeface="微软雅黑" panose="020B0503020204020204" charset="-122"/>
                        <a:ea typeface="微软雅黑" panose="020B0503020204020204" charset="-122"/>
                      </a:endParaRPr>
                    </a:p>
                    <a:p>
                      <a:pPr marL="34290" algn="l" rtl="0" eaLnBrk="0">
                        <a:lnSpc>
                          <a:spcPct val="85000"/>
                        </a:lnSpc>
                        <a:spcBef>
                          <a:spcPts val="1030"/>
                        </a:spcBef>
                        <a:tabLst>
                          <a:tab pos="68580" algn="l"/>
                        </a:tabLst>
                      </a:pPr>
                      <a:r>
                        <a:rPr sz="1100" spc="0" dirty="0">
                          <a:solidFill>
                            <a:srgbClr val="000000">
                              <a:alpha val="100000"/>
                            </a:srgbClr>
                          </a:solidFill>
                          <a:latin typeface="微软雅黑" panose="020B0503020204020204" charset="-122"/>
                          <a:ea typeface="微软雅黑" panose="020B0503020204020204" charset="-122"/>
                          <a:cs typeface="Arial" panose="020B0604020202020204"/>
                        </a:rPr>
                        <a:t>	</a:t>
                      </a:r>
                      <a:r>
                        <a:rPr sz="1100" spc="10" dirty="0">
                          <a:solidFill>
                            <a:srgbClr val="000000">
                              <a:alpha val="100000"/>
                            </a:srgbClr>
                          </a:solidFill>
                          <a:latin typeface="微软雅黑" panose="020B0503020204020204" charset="-122"/>
                          <a:ea typeface="微软雅黑" panose="020B0503020204020204" charset="-122"/>
                          <a:cs typeface="Arial" panose="020B0604020202020204"/>
                        </a:rPr>
                        <a:t>1</a:t>
                      </a:r>
                      <a:r>
                        <a:rPr sz="1100" spc="0" dirty="0">
                          <a:solidFill>
                            <a:srgbClr val="000000">
                              <a:alpha val="100000"/>
                            </a:srgbClr>
                          </a:solidFill>
                          <a:latin typeface="微软雅黑" panose="020B0503020204020204" charset="-122"/>
                          <a:ea typeface="微软雅黑" panose="020B0503020204020204" charset="-122"/>
                          <a:cs typeface="Arial" panose="020B0604020202020204"/>
                        </a:rPr>
                        <a:t>50 </a:t>
                      </a:r>
                      <a:endParaRPr lang="en-US" altLang="en-US" sz="1100" dirty="0">
                        <a:latin typeface="微软雅黑" panose="020B0503020204020204" charset="-122"/>
                        <a:ea typeface="微软雅黑" panose="020B0503020204020204" charset="-122"/>
                      </a:endParaRPr>
                    </a:p>
                    <a:p>
                      <a:pPr algn="l" rtl="0" eaLnBrk="0">
                        <a:lnSpc>
                          <a:spcPct val="118000"/>
                        </a:lnSpc>
                      </a:pPr>
                      <a:endParaRPr lang="en-US" altLang="en-US" sz="1000" dirty="0">
                        <a:latin typeface="微软雅黑" panose="020B0503020204020204" charset="-122"/>
                        <a:ea typeface="微软雅黑" panose="020B0503020204020204" charset="-122"/>
                      </a:endParaRPr>
                    </a:p>
                    <a:p>
                      <a:pPr algn="l" rtl="0" eaLnBrk="0">
                        <a:lnSpc>
                          <a:spcPct val="118000"/>
                        </a:lnSpc>
                      </a:pPr>
                      <a:endParaRPr lang="en-US" altLang="en-US" sz="1000" dirty="0">
                        <a:latin typeface="微软雅黑" panose="020B0503020204020204" charset="-122"/>
                        <a:ea typeface="微软雅黑" panose="020B0503020204020204" charset="-122"/>
                      </a:endParaRPr>
                    </a:p>
                    <a:p>
                      <a:pPr algn="l" rtl="0" eaLnBrk="0">
                        <a:lnSpc>
                          <a:spcPct val="118000"/>
                        </a:lnSpc>
                      </a:pPr>
                      <a:endParaRPr lang="en-US" altLang="en-US" sz="1000" dirty="0">
                        <a:latin typeface="微软雅黑" panose="020B0503020204020204" charset="-122"/>
                        <a:ea typeface="微软雅黑" panose="020B0503020204020204" charset="-122"/>
                      </a:endParaRPr>
                    </a:p>
                    <a:p>
                      <a:pPr algn="l" rtl="0" eaLnBrk="0">
                        <a:lnSpc>
                          <a:spcPct val="118000"/>
                        </a:lnSpc>
                      </a:pPr>
                      <a:endParaRPr lang="en-US" altLang="en-US" sz="1000" dirty="0">
                        <a:latin typeface="微软雅黑" panose="020B0503020204020204" charset="-122"/>
                        <a:ea typeface="微软雅黑" panose="020B0503020204020204" charset="-122"/>
                      </a:endParaRPr>
                    </a:p>
                    <a:p>
                      <a:pPr algn="l" rtl="0" eaLnBrk="0">
                        <a:lnSpc>
                          <a:spcPct val="118000"/>
                        </a:lnSpc>
                      </a:pPr>
                      <a:endParaRPr lang="en-US" altLang="en-US" sz="1000" dirty="0">
                        <a:latin typeface="微软雅黑" panose="020B0503020204020204" charset="-122"/>
                        <a:ea typeface="微软雅黑" panose="020B0503020204020204" charset="-122"/>
                      </a:endParaRPr>
                    </a:p>
                    <a:p>
                      <a:pPr algn="l" rtl="0" eaLnBrk="0">
                        <a:lnSpc>
                          <a:spcPct val="100000"/>
                        </a:lnSpc>
                      </a:pPr>
                      <a:endParaRPr lang="en-US" altLang="en-US" sz="300" dirty="0">
                        <a:latin typeface="微软雅黑" panose="020B0503020204020204" charset="-122"/>
                        <a:ea typeface="微软雅黑" panose="020B0503020204020204" charset="-122"/>
                      </a:endParaRPr>
                    </a:p>
                    <a:p>
                      <a:pPr marL="57150" algn="l" rtl="0" eaLnBrk="0">
                        <a:lnSpc>
                          <a:spcPct val="80000"/>
                        </a:lnSpc>
                        <a:spcBef>
                          <a:spcPts val="0"/>
                        </a:spcBef>
                        <a:tabLst>
                          <a:tab pos="97155" algn="l"/>
                        </a:tabLst>
                      </a:pPr>
                      <a:r>
                        <a:rPr sz="1200" spc="0" dirty="0">
                          <a:solidFill>
                            <a:srgbClr val="000000">
                              <a:alpha val="100000"/>
                            </a:srgbClr>
                          </a:solidFill>
                          <a:latin typeface="微软雅黑" panose="020B0503020204020204" charset="-122"/>
                          <a:ea typeface="微软雅黑" panose="020B0503020204020204" charset="-122"/>
                          <a:cs typeface="Arial" panose="020B0604020202020204"/>
                        </a:rPr>
                        <a:t>	</a:t>
                      </a:r>
                      <a:r>
                        <a:rPr sz="1200" spc="-10" dirty="0">
                          <a:solidFill>
                            <a:srgbClr val="000000">
                              <a:alpha val="100000"/>
                            </a:srgbClr>
                          </a:solidFill>
                          <a:latin typeface="微软雅黑" panose="020B0503020204020204" charset="-122"/>
                          <a:ea typeface="微软雅黑" panose="020B0503020204020204" charset="-122"/>
                          <a:cs typeface="Arial" panose="020B0604020202020204"/>
                        </a:rPr>
                        <a:t>430</a:t>
                      </a:r>
                      <a:endParaRPr lang="en-US" altLang="en-US" sz="1200" dirty="0">
                        <a:latin typeface="微软雅黑" panose="020B0503020204020204" charset="-122"/>
                        <a:ea typeface="微软雅黑" panose="020B0503020204020204" charset="-122"/>
                      </a:endParaRPr>
                    </a:p>
                  </a:txBody>
                  <a:tcPr marL="0" marR="0" marT="0" marB="0">
                    <a:lnL w="22225" cap="flat" cmpd="sng" algn="ctr">
                      <a:solidFill>
                        <a:srgbClr val="808080"/>
                      </a:solidFill>
                      <a:prstDash val="solid"/>
                      <a:round/>
                      <a:headEnd type="none" w="med" len="med"/>
                      <a:tailEnd type="none" w="med" len="med"/>
                    </a:lnL>
                    <a:lnR>
                      <a:noFill/>
                    </a:lnR>
                    <a:lnT>
                      <a:noFill/>
                    </a:lnT>
                    <a:lnB>
                      <a:noFill/>
                    </a:lnB>
                  </a:tcPr>
                </a:tc>
                <a:tc hMerge="1">
                  <a:tcPr marL="0" marR="0" marT="0" marB="0">
                    <a:lnL w="22225" cap="flat" cmpd="sng" algn="ctr">
                      <a:solidFill>
                        <a:srgbClr val="808080"/>
                      </a:solidFill>
                      <a:prstDash val="solid"/>
                      <a:round/>
                      <a:headEnd type="none" w="med" len="med"/>
                      <a:tailEnd type="none" w="med" len="med"/>
                    </a:lnL>
                    <a:lnR>
                      <a:noFill/>
                    </a:lnR>
                    <a:lnT>
                      <a:noFill/>
                    </a:lnT>
                    <a:lnB>
                      <a:noFill/>
                    </a:lnB>
                  </a:tcPr>
                </a:tc>
                <a:tc hMerge="1">
                  <a:tcPr marL="0" marR="0" marT="0" marB="0">
                    <a:lnL w="22225" cap="flat" cmpd="sng" algn="ctr">
                      <a:solidFill>
                        <a:srgbClr val="808080"/>
                      </a:solidFill>
                      <a:prstDash val="solid"/>
                      <a:round/>
                      <a:headEnd type="none" w="med" len="med"/>
                      <a:tailEnd type="none" w="med" len="med"/>
                    </a:lnL>
                    <a:lnR>
                      <a:noFill/>
                    </a:lnR>
                    <a:lnT>
                      <a:noFill/>
                    </a:lnT>
                    <a:lnB>
                      <a:noFill/>
                    </a:lnB>
                  </a:tcPr>
                </a:tc>
                <a:tc hMerge="1">
                  <a:tcPr marL="0" marR="0" marT="0" marB="0">
                    <a:lnL w="22225" cap="flat" cmpd="sng" algn="ctr">
                      <a:solidFill>
                        <a:srgbClr val="808080"/>
                      </a:solidFill>
                      <a:prstDash val="solid"/>
                      <a:round/>
                      <a:headEnd type="none" w="med" len="med"/>
                      <a:tailEnd type="none" w="med" len="med"/>
                    </a:lnL>
                    <a:lnR>
                      <a:noFill/>
                    </a:lnR>
                    <a:lnT>
                      <a:noFill/>
                    </a:lnT>
                    <a:lnB>
                      <a:noFill/>
                    </a:lnB>
                  </a:tcPr>
                </a:tc>
              </a:tr>
            </a:tbl>
          </a:graphicData>
        </a:graphic>
      </p:graphicFrame>
      <p:sp>
        <p:nvSpPr>
          <p:cNvPr id="1134" name="path"/>
          <p:cNvSpPr/>
          <p:nvPr/>
        </p:nvSpPr>
        <p:spPr>
          <a:xfrm>
            <a:off x="2811741" y="5653961"/>
            <a:ext cx="45884" cy="198100"/>
          </a:xfrm>
          <a:custGeom>
            <a:avLst/>
            <a:gdLst/>
            <a:ahLst/>
            <a:cxnLst/>
            <a:rect l="0" t="0" r="0" b="0"/>
            <a:pathLst>
              <a:path w="72" h="311">
                <a:moveTo>
                  <a:pt x="5" y="305"/>
                </a:moveTo>
                <a:lnTo>
                  <a:pt x="66" y="305"/>
                </a:lnTo>
                <a:lnTo>
                  <a:pt x="66" y="5"/>
                </a:lnTo>
                <a:lnTo>
                  <a:pt x="5" y="5"/>
                </a:lnTo>
                <a:lnTo>
                  <a:pt x="5" y="305"/>
                </a:lnTo>
                <a:close/>
              </a:path>
            </a:pathLst>
          </a:custGeom>
          <a:solidFill>
            <a:srgbClr val="C5C5C5">
              <a:alpha val="100000"/>
            </a:srgbClr>
          </a:solidFill>
          <a:ln w="7600" cap="flat">
            <a:solidFill>
              <a:srgbClr val="FFFFFF">
                <a:alpha val="100000"/>
              </a:srgbClr>
            </a:solidFill>
            <a:prstDash val="solid"/>
            <a:round/>
          </a:ln>
        </p:spPr>
        <p:txBody>
          <a:bodyPr rtlCol="0"/>
          <a:lstStyle/>
          <a:p>
            <a:pPr algn="ctr"/>
            <a:endParaRPr lang="zh-CN" altLang="en-US"/>
          </a:p>
        </p:txBody>
      </p:sp>
      <p:sp>
        <p:nvSpPr>
          <p:cNvPr id="1135" name="path"/>
          <p:cNvSpPr/>
          <p:nvPr/>
        </p:nvSpPr>
        <p:spPr>
          <a:xfrm>
            <a:off x="2971863" y="4572172"/>
            <a:ext cx="22784" cy="198101"/>
          </a:xfrm>
          <a:custGeom>
            <a:avLst/>
            <a:gdLst/>
            <a:ahLst/>
            <a:cxnLst/>
            <a:rect l="0" t="0" r="0" b="0"/>
            <a:pathLst>
              <a:path w="35" h="311">
                <a:moveTo>
                  <a:pt x="5" y="305"/>
                </a:moveTo>
                <a:lnTo>
                  <a:pt x="29" y="305"/>
                </a:lnTo>
                <a:lnTo>
                  <a:pt x="29" y="5"/>
                </a:lnTo>
                <a:lnTo>
                  <a:pt x="5" y="5"/>
                </a:lnTo>
                <a:lnTo>
                  <a:pt x="5" y="305"/>
                </a:lnTo>
                <a:close/>
              </a:path>
            </a:pathLst>
          </a:custGeom>
          <a:solidFill>
            <a:srgbClr val="C5C5C5">
              <a:alpha val="100000"/>
            </a:srgbClr>
          </a:solidFill>
          <a:ln w="7600" cap="flat">
            <a:solidFill>
              <a:srgbClr val="FFFFFF">
                <a:alpha val="100000"/>
              </a:srgbClr>
            </a:solidFill>
            <a:prstDash val="solid"/>
            <a:round/>
          </a:ln>
        </p:spPr>
        <p:txBody>
          <a:bodyPr rtlCol="0"/>
          <a:lstStyle/>
          <a:p>
            <a:pPr algn="ctr"/>
            <a:endParaRPr lang="zh-CN" altLang="en-US"/>
          </a:p>
        </p:txBody>
      </p:sp>
      <p:sp>
        <p:nvSpPr>
          <p:cNvPr id="1136" name="path"/>
          <p:cNvSpPr/>
          <p:nvPr/>
        </p:nvSpPr>
        <p:spPr>
          <a:xfrm>
            <a:off x="3634815" y="3764300"/>
            <a:ext cx="91452" cy="198100"/>
          </a:xfrm>
          <a:custGeom>
            <a:avLst/>
            <a:gdLst/>
            <a:ahLst/>
            <a:cxnLst/>
            <a:rect l="0" t="0" r="0" b="0"/>
            <a:pathLst>
              <a:path w="144" h="311">
                <a:moveTo>
                  <a:pt x="5" y="305"/>
                </a:moveTo>
                <a:lnTo>
                  <a:pt x="138" y="305"/>
                </a:lnTo>
                <a:lnTo>
                  <a:pt x="138" y="5"/>
                </a:lnTo>
                <a:lnTo>
                  <a:pt x="5" y="5"/>
                </a:lnTo>
                <a:lnTo>
                  <a:pt x="5" y="305"/>
                </a:lnTo>
                <a:close/>
              </a:path>
            </a:pathLst>
          </a:custGeom>
          <a:solidFill>
            <a:srgbClr val="C5C5C5">
              <a:alpha val="100000"/>
            </a:srgbClr>
          </a:solidFill>
          <a:ln w="7600" cap="flat">
            <a:solidFill>
              <a:srgbClr val="FFFFFF">
                <a:alpha val="100000"/>
              </a:srgbClr>
            </a:solidFill>
            <a:prstDash val="solid"/>
            <a:round/>
          </a:ln>
        </p:spPr>
        <p:txBody>
          <a:bodyPr rtlCol="0"/>
          <a:lstStyle/>
          <a:p>
            <a:pPr algn="ctr"/>
            <a:endParaRPr lang="zh-CN" altLang="en-US"/>
          </a:p>
        </p:txBody>
      </p:sp>
      <p:sp>
        <p:nvSpPr>
          <p:cNvPr id="1137" name="rect"/>
          <p:cNvSpPr/>
          <p:nvPr/>
        </p:nvSpPr>
        <p:spPr>
          <a:xfrm>
            <a:off x="6734106" y="3753730"/>
            <a:ext cx="1570210" cy="200066"/>
          </a:xfrm>
          <a:prstGeom prst="rect">
            <a:avLst/>
          </a:prstGeom>
          <a:solidFill>
            <a:srgbClr val="0065BD">
              <a:alpha val="100000"/>
            </a:srgbClr>
          </a:solidFill>
          <a:ln cap="flat">
            <a:noFill/>
            <a:prstDash val="solid"/>
            <a:miter lim="0"/>
          </a:ln>
        </p:spPr>
        <p:txBody>
          <a:bodyPr rtlCol="0"/>
          <a:lstStyle/>
          <a:p>
            <a:pPr algn="ctr"/>
            <a:endParaRPr lang="zh-CN" altLang="en-US"/>
          </a:p>
        </p:txBody>
      </p:sp>
      <p:sp>
        <p:nvSpPr>
          <p:cNvPr id="1138" name="path"/>
          <p:cNvSpPr/>
          <p:nvPr/>
        </p:nvSpPr>
        <p:spPr>
          <a:xfrm>
            <a:off x="7053072" y="1790700"/>
            <a:ext cx="917447" cy="615696"/>
          </a:xfrm>
          <a:custGeom>
            <a:avLst/>
            <a:gdLst/>
            <a:ahLst/>
            <a:cxnLst/>
            <a:rect l="0" t="0" r="0" b="0"/>
            <a:pathLst>
              <a:path w="1444" h="969">
                <a:moveTo>
                  <a:pt x="1442" y="849"/>
                </a:moveTo>
                <a:lnTo>
                  <a:pt x="1442" y="969"/>
                </a:lnTo>
                <a:moveTo>
                  <a:pt x="2" y="0"/>
                </a:moveTo>
                <a:lnTo>
                  <a:pt x="2" y="120"/>
                </a:lnTo>
              </a:path>
            </a:pathLst>
          </a:custGeom>
          <a:noFill/>
          <a:ln w="3048" cap="flat">
            <a:solidFill>
              <a:srgbClr val="808080">
                <a:alpha val="100000"/>
              </a:srgbClr>
            </a:solidFill>
            <a:prstDash val="dash"/>
            <a:round/>
          </a:ln>
        </p:spPr>
        <p:txBody>
          <a:bodyPr rtlCol="0"/>
          <a:lstStyle/>
          <a:p>
            <a:pPr algn="ctr"/>
            <a:endParaRPr lang="zh-CN" altLang="en-US"/>
          </a:p>
        </p:txBody>
      </p:sp>
      <p:grpSp>
        <p:nvGrpSpPr>
          <p:cNvPr id="200" name="group 200"/>
          <p:cNvGrpSpPr/>
          <p:nvPr/>
        </p:nvGrpSpPr>
        <p:grpSpPr>
          <a:xfrm rot="21600000">
            <a:off x="6734105" y="1600247"/>
            <a:ext cx="1241927" cy="738437"/>
            <a:chOff x="0" y="0"/>
            <a:chExt cx="1241927" cy="738437"/>
          </a:xfrm>
        </p:grpSpPr>
        <p:sp>
          <p:nvSpPr>
            <p:cNvPr id="1139" name="path"/>
            <p:cNvSpPr/>
            <p:nvPr/>
          </p:nvSpPr>
          <p:spPr>
            <a:xfrm>
              <a:off x="555187" y="463248"/>
              <a:ext cx="3047" cy="76200"/>
            </a:xfrm>
            <a:custGeom>
              <a:avLst/>
              <a:gdLst/>
              <a:ahLst/>
              <a:cxnLst/>
              <a:rect l="0" t="0" r="0" b="0"/>
              <a:pathLst>
                <a:path w="4" h="120">
                  <a:moveTo>
                    <a:pt x="2" y="0"/>
                  </a:moveTo>
                  <a:lnTo>
                    <a:pt x="2" y="120"/>
                  </a:lnTo>
                </a:path>
              </a:pathLst>
            </a:custGeom>
            <a:noFill/>
            <a:ln w="3048" cap="flat">
              <a:solidFill>
                <a:srgbClr val="808080">
                  <a:alpha val="100000"/>
                </a:srgbClr>
              </a:solidFill>
              <a:prstDash val="dash"/>
              <a:round/>
            </a:ln>
          </p:spPr>
          <p:txBody>
            <a:bodyPr rtlCol="0"/>
            <a:lstStyle/>
            <a:p>
              <a:pPr algn="ctr"/>
              <a:endParaRPr lang="zh-CN" altLang="en-US"/>
            </a:p>
          </p:txBody>
        </p:sp>
        <p:sp>
          <p:nvSpPr>
            <p:cNvPr id="1140" name="path"/>
            <p:cNvSpPr/>
            <p:nvPr/>
          </p:nvSpPr>
          <p:spPr>
            <a:xfrm>
              <a:off x="0" y="0"/>
              <a:ext cx="1241927" cy="738437"/>
            </a:xfrm>
            <a:custGeom>
              <a:avLst/>
              <a:gdLst/>
              <a:ahLst/>
              <a:cxnLst/>
              <a:rect l="0" t="0" r="0" b="0"/>
              <a:pathLst>
                <a:path w="1955" h="1162">
                  <a:moveTo>
                    <a:pt x="3" y="311"/>
                  </a:moveTo>
                  <a:lnTo>
                    <a:pt x="505" y="311"/>
                  </a:lnTo>
                  <a:lnTo>
                    <a:pt x="505" y="3"/>
                  </a:lnTo>
                  <a:lnTo>
                    <a:pt x="3" y="3"/>
                  </a:lnTo>
                  <a:lnTo>
                    <a:pt x="3" y="311"/>
                  </a:lnTo>
                  <a:close/>
                  <a:moveTo>
                    <a:pt x="505" y="731"/>
                  </a:moveTo>
                  <a:lnTo>
                    <a:pt x="887" y="731"/>
                  </a:lnTo>
                  <a:lnTo>
                    <a:pt x="887" y="431"/>
                  </a:lnTo>
                  <a:lnTo>
                    <a:pt x="505" y="431"/>
                  </a:lnTo>
                  <a:lnTo>
                    <a:pt x="505" y="731"/>
                  </a:lnTo>
                  <a:close/>
                  <a:moveTo>
                    <a:pt x="887" y="1159"/>
                  </a:moveTo>
                  <a:lnTo>
                    <a:pt x="1952" y="1159"/>
                  </a:lnTo>
                  <a:lnTo>
                    <a:pt x="1952" y="851"/>
                  </a:lnTo>
                  <a:lnTo>
                    <a:pt x="887" y="851"/>
                  </a:lnTo>
                  <a:lnTo>
                    <a:pt x="887" y="1159"/>
                  </a:lnTo>
                  <a:close/>
                </a:path>
              </a:pathLst>
            </a:custGeom>
            <a:noFill/>
            <a:ln w="4750" cap="flat">
              <a:solidFill>
                <a:srgbClr val="FFFFFF">
                  <a:alpha val="100000"/>
                </a:srgbClr>
              </a:solidFill>
              <a:prstDash val="solid"/>
              <a:round/>
            </a:ln>
          </p:spPr>
          <p:txBody>
            <a:bodyPr rtlCol="0"/>
            <a:lstStyle/>
            <a:p>
              <a:pPr algn="ctr"/>
              <a:endParaRPr lang="zh-CN" altLang="en-US"/>
            </a:p>
          </p:txBody>
        </p:sp>
      </p:grpSp>
      <p:sp>
        <p:nvSpPr>
          <p:cNvPr id="1141" name="path"/>
          <p:cNvSpPr/>
          <p:nvPr/>
        </p:nvSpPr>
        <p:spPr>
          <a:xfrm>
            <a:off x="8081772" y="2596896"/>
            <a:ext cx="217931" cy="1159764"/>
          </a:xfrm>
          <a:custGeom>
            <a:avLst/>
            <a:gdLst/>
            <a:ahLst/>
            <a:cxnLst/>
            <a:rect l="0" t="0" r="0" b="0"/>
            <a:pathLst>
              <a:path w="343" h="1826">
                <a:moveTo>
                  <a:pt x="2" y="0"/>
                </a:moveTo>
                <a:lnTo>
                  <a:pt x="2" y="120"/>
                </a:lnTo>
                <a:moveTo>
                  <a:pt x="52" y="432"/>
                </a:moveTo>
                <a:lnTo>
                  <a:pt x="52" y="552"/>
                </a:lnTo>
                <a:moveTo>
                  <a:pt x="340" y="1706"/>
                </a:moveTo>
                <a:lnTo>
                  <a:pt x="340" y="1826"/>
                </a:lnTo>
              </a:path>
            </a:pathLst>
          </a:custGeom>
          <a:noFill/>
          <a:ln w="3048" cap="flat">
            <a:solidFill>
              <a:srgbClr val="808080">
                <a:alpha val="100000"/>
              </a:srgbClr>
            </a:solidFill>
            <a:prstDash val="dash"/>
            <a:round/>
          </a:ln>
        </p:spPr>
        <p:txBody>
          <a:bodyPr rtlCol="0"/>
          <a:lstStyle/>
          <a:p>
            <a:pPr algn="ctr"/>
            <a:endParaRPr lang="zh-CN" altLang="en-US"/>
          </a:p>
        </p:txBody>
      </p:sp>
      <p:sp>
        <p:nvSpPr>
          <p:cNvPr id="1142" name="rect"/>
          <p:cNvSpPr/>
          <p:nvPr/>
        </p:nvSpPr>
        <p:spPr>
          <a:xfrm>
            <a:off x="6734105" y="1600247"/>
            <a:ext cx="323608" cy="200066"/>
          </a:xfrm>
          <a:prstGeom prst="rect">
            <a:avLst/>
          </a:prstGeom>
          <a:solidFill>
            <a:srgbClr val="C5C5C5">
              <a:alpha val="100000"/>
            </a:srgbClr>
          </a:solidFill>
          <a:ln cap="flat">
            <a:noFill/>
            <a:prstDash val="solid"/>
            <a:miter lim="0"/>
          </a:ln>
        </p:spPr>
        <p:txBody>
          <a:bodyPr rtlCol="0"/>
          <a:lstStyle/>
          <a:p>
            <a:pPr algn="ctr"/>
            <a:endParaRPr lang="zh-CN" altLang="en-US"/>
          </a:p>
        </p:txBody>
      </p:sp>
      <p:grpSp>
        <p:nvGrpSpPr>
          <p:cNvPr id="202" name="group 202"/>
          <p:cNvGrpSpPr/>
          <p:nvPr/>
        </p:nvGrpSpPr>
        <p:grpSpPr>
          <a:xfrm rot="21600000">
            <a:off x="6726987" y="1562168"/>
            <a:ext cx="1577328" cy="2425240"/>
            <a:chOff x="0" y="0"/>
            <a:chExt cx="1577328" cy="2425240"/>
          </a:xfrm>
        </p:grpSpPr>
        <p:sp>
          <p:nvSpPr>
            <p:cNvPr id="1143" name="path"/>
            <p:cNvSpPr/>
            <p:nvPr/>
          </p:nvSpPr>
          <p:spPr>
            <a:xfrm>
              <a:off x="7118" y="2191562"/>
              <a:ext cx="1570210" cy="200066"/>
            </a:xfrm>
            <a:custGeom>
              <a:avLst/>
              <a:gdLst/>
              <a:ahLst/>
              <a:cxnLst/>
              <a:rect l="0" t="0" r="0" b="0"/>
              <a:pathLst>
                <a:path w="2472" h="315">
                  <a:moveTo>
                    <a:pt x="3" y="311"/>
                  </a:moveTo>
                  <a:lnTo>
                    <a:pt x="2469" y="311"/>
                  </a:lnTo>
                  <a:lnTo>
                    <a:pt x="2469" y="3"/>
                  </a:lnTo>
                  <a:lnTo>
                    <a:pt x="3" y="3"/>
                  </a:lnTo>
                  <a:lnTo>
                    <a:pt x="3" y="311"/>
                  </a:lnTo>
                  <a:close/>
                </a:path>
              </a:pathLst>
            </a:custGeom>
            <a:noFill/>
            <a:ln w="4750" cap="flat">
              <a:solidFill>
                <a:srgbClr val="FFFFFF">
                  <a:alpha val="100000"/>
                </a:srgbClr>
              </a:solidFill>
              <a:prstDash val="solid"/>
              <a:round/>
            </a:ln>
          </p:spPr>
          <p:txBody>
            <a:bodyPr rtlCol="0"/>
            <a:lstStyle/>
            <a:p>
              <a:pPr algn="ctr"/>
              <a:endParaRPr lang="zh-CN" altLang="en-US"/>
            </a:p>
          </p:txBody>
        </p:sp>
        <p:sp>
          <p:nvSpPr>
            <p:cNvPr id="1144" name="path"/>
            <p:cNvSpPr/>
            <p:nvPr/>
          </p:nvSpPr>
          <p:spPr>
            <a:xfrm>
              <a:off x="0" y="0"/>
              <a:ext cx="14235" cy="2425240"/>
            </a:xfrm>
            <a:custGeom>
              <a:avLst/>
              <a:gdLst/>
              <a:ahLst/>
              <a:cxnLst/>
              <a:rect l="0" t="0" r="0" b="0"/>
              <a:pathLst>
                <a:path w="22" h="3819">
                  <a:moveTo>
                    <a:pt x="11" y="0"/>
                  </a:moveTo>
                  <a:lnTo>
                    <a:pt x="11" y="3819"/>
                  </a:lnTo>
                </a:path>
              </a:pathLst>
            </a:custGeom>
            <a:noFill/>
            <a:ln w="14251" cap="flat">
              <a:solidFill>
                <a:srgbClr val="808080">
                  <a:alpha val="100000"/>
                </a:srgbClr>
              </a:solidFill>
              <a:prstDash val="solid"/>
              <a:round/>
            </a:ln>
          </p:spPr>
          <p:txBody>
            <a:bodyPr rtlCol="0"/>
            <a:lstStyle/>
            <a:p>
              <a:pPr algn="ctr"/>
              <a:endParaRPr lang="zh-CN" altLang="en-US"/>
            </a:p>
          </p:txBody>
        </p:sp>
      </p:grpSp>
      <p:sp>
        <p:nvSpPr>
          <p:cNvPr id="1145" name="textbox 1145"/>
          <p:cNvSpPr/>
          <p:nvPr/>
        </p:nvSpPr>
        <p:spPr>
          <a:xfrm>
            <a:off x="132080" y="229870"/>
            <a:ext cx="6972300" cy="323850"/>
          </a:xfrm>
          <a:prstGeom prst="rect">
            <a:avLst/>
          </a:prstGeom>
        </p:spPr>
        <p:txBody>
          <a:bodyPr vert="horz" wrap="square" lIns="0" tIns="0" rIns="0" bIns="0"/>
          <a:lstStyle/>
          <a:p>
            <a:pPr algn="l" rtl="0" eaLnBrk="0">
              <a:lnSpc>
                <a:spcPct val="81000"/>
              </a:lnSpc>
            </a:pPr>
            <a:endParaRPr lang="en-US" altLang="en-US" sz="100" dirty="0">
              <a:latin typeface="微软雅黑" panose="020B0503020204020204" charset="-122"/>
              <a:ea typeface="微软雅黑" panose="020B0503020204020204" charset="-122"/>
            </a:endParaRPr>
          </a:p>
          <a:p>
            <a:pPr marL="12700" algn="l" rtl="0" eaLnBrk="0">
              <a:lnSpc>
                <a:spcPct val="98000"/>
              </a:lnSpc>
            </a:pPr>
            <a:r>
              <a:rPr sz="1700" b="1" spc="10" dirty="0">
                <a:solidFill>
                  <a:srgbClr val="D9D9D9">
                    <a:alpha val="100000"/>
                  </a:srgbClr>
                </a:solidFill>
                <a:latin typeface="微软雅黑" panose="020B0503020204020204" charset="-122"/>
                <a:ea typeface="微软雅黑" panose="020B0503020204020204" charset="-122"/>
                <a:cs typeface="Arial" panose="020B0604020202020204"/>
              </a:rPr>
              <a:t>2</a:t>
            </a:r>
            <a:r>
              <a:rPr sz="1700" b="1" spc="0" dirty="0">
                <a:solidFill>
                  <a:srgbClr val="D9D9D9">
                    <a:alpha val="100000"/>
                  </a:srgbClr>
                </a:solidFill>
                <a:latin typeface="微软雅黑" panose="020B0503020204020204" charset="-122"/>
                <a:ea typeface="微软雅黑" panose="020B0503020204020204" charset="-122"/>
                <a:cs typeface="Arial" panose="020B0604020202020204"/>
              </a:rPr>
              <a:t>b</a:t>
            </a:r>
            <a:r>
              <a:rPr sz="1700" spc="0" dirty="0">
                <a:solidFill>
                  <a:srgbClr val="D9D9D9">
                    <a:alpha val="100000"/>
                  </a:srgbClr>
                </a:solidFill>
                <a:latin typeface="微软雅黑" panose="020B0503020204020204" charset="-122"/>
                <a:ea typeface="微软雅黑" panose="020B0503020204020204" charset="-122"/>
                <a:cs typeface="Arial" panose="020B0604020202020204"/>
              </a:rPr>
              <a:t>   </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落袋利润数据库</a:t>
            </a:r>
            <a:r>
              <a:rPr sz="2000" spc="0" dirty="0">
                <a:solidFill>
                  <a:srgbClr val="002960">
                    <a:alpha val="100000"/>
                  </a:srgbClr>
                </a:solidFill>
                <a:latin typeface="微软雅黑" panose="020B0503020204020204" charset="-122"/>
                <a:ea typeface="微软雅黑" panose="020B0503020204020204" charset="-122"/>
                <a:cs typeface="Arial" panose="020B0604020202020204"/>
              </a:rPr>
              <a:t>/</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漏损分析</a:t>
            </a:r>
            <a:r>
              <a:rPr sz="2000" spc="0" dirty="0">
                <a:solidFill>
                  <a:srgbClr val="002960">
                    <a:alpha val="100000"/>
                  </a:srgbClr>
                </a:solidFill>
                <a:latin typeface="微软雅黑" panose="020B0503020204020204" charset="-122"/>
                <a:ea typeface="微软雅黑" panose="020B0503020204020204" charset="-122"/>
                <a:cs typeface="Arial" panose="020B0604020202020204"/>
              </a:rPr>
              <a:t>– </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落袋利润瀑布图分析</a:t>
            </a:r>
            <a:endParaRPr lang="en-US" altLang="en-US" sz="2000" dirty="0">
              <a:latin typeface="微软雅黑" panose="020B0503020204020204" charset="-122"/>
              <a:ea typeface="微软雅黑" panose="020B0503020204020204" charset="-122"/>
            </a:endParaRPr>
          </a:p>
        </p:txBody>
      </p:sp>
      <p:sp>
        <p:nvSpPr>
          <p:cNvPr id="1147" name="path"/>
          <p:cNvSpPr/>
          <p:nvPr/>
        </p:nvSpPr>
        <p:spPr>
          <a:xfrm>
            <a:off x="5123687" y="2391155"/>
            <a:ext cx="3300984" cy="257556"/>
          </a:xfrm>
          <a:custGeom>
            <a:avLst/>
            <a:gdLst/>
            <a:ahLst/>
            <a:cxnLst/>
            <a:rect l="0" t="0" r="0" b="0"/>
            <a:pathLst>
              <a:path w="5198" h="405">
                <a:moveTo>
                  <a:pt x="9" y="396"/>
                </a:moveTo>
                <a:lnTo>
                  <a:pt x="5188" y="396"/>
                </a:lnTo>
                <a:lnTo>
                  <a:pt x="5188" y="9"/>
                </a:lnTo>
                <a:lnTo>
                  <a:pt x="9" y="9"/>
                </a:lnTo>
                <a:lnTo>
                  <a:pt x="9" y="396"/>
                </a:lnTo>
                <a:close/>
              </a:path>
            </a:pathLst>
          </a:custGeom>
          <a:noFill/>
          <a:ln w="12192" cap="flat">
            <a:solidFill>
              <a:srgbClr val="0065BD">
                <a:alpha val="100000"/>
              </a:srgbClr>
            </a:solidFill>
            <a:prstDash val="dash"/>
            <a:round/>
          </a:ln>
        </p:spPr>
        <p:txBody>
          <a:bodyPr rtlCol="0"/>
          <a:lstStyle/>
          <a:p>
            <a:pPr algn="ctr"/>
            <a:endParaRPr lang="zh-CN" altLang="en-US"/>
          </a:p>
        </p:txBody>
      </p:sp>
      <p:sp>
        <p:nvSpPr>
          <p:cNvPr id="1148" name="rect"/>
          <p:cNvSpPr/>
          <p:nvPr/>
        </p:nvSpPr>
        <p:spPr>
          <a:xfrm>
            <a:off x="7295601" y="2138618"/>
            <a:ext cx="680430" cy="200066"/>
          </a:xfrm>
          <a:prstGeom prst="rect">
            <a:avLst/>
          </a:prstGeom>
          <a:solidFill>
            <a:srgbClr val="C5C5C5">
              <a:alpha val="100000"/>
            </a:srgbClr>
          </a:solidFill>
          <a:ln cap="flat">
            <a:noFill/>
            <a:prstDash val="solid"/>
            <a:miter lim="0"/>
          </a:ln>
        </p:spPr>
        <p:txBody>
          <a:bodyPr rtlCol="0"/>
          <a:lstStyle/>
          <a:p>
            <a:pPr algn="ctr"/>
            <a:endParaRPr lang="zh-CN" altLang="en-US"/>
          </a:p>
        </p:txBody>
      </p:sp>
      <p:sp>
        <p:nvSpPr>
          <p:cNvPr id="1149" name="rect"/>
          <p:cNvSpPr/>
          <p:nvPr/>
        </p:nvSpPr>
        <p:spPr>
          <a:xfrm>
            <a:off x="2717291" y="5117592"/>
            <a:ext cx="286511" cy="179832"/>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1150" name="path"/>
          <p:cNvSpPr/>
          <p:nvPr/>
        </p:nvSpPr>
        <p:spPr>
          <a:xfrm>
            <a:off x="2865221" y="4838736"/>
            <a:ext cx="114236" cy="205708"/>
          </a:xfrm>
          <a:custGeom>
            <a:avLst/>
            <a:gdLst/>
            <a:ahLst/>
            <a:cxnLst/>
            <a:rect l="0" t="0" r="0" b="0"/>
            <a:pathLst>
              <a:path w="179" h="323">
                <a:moveTo>
                  <a:pt x="5" y="317"/>
                </a:moveTo>
                <a:lnTo>
                  <a:pt x="173" y="317"/>
                </a:lnTo>
                <a:lnTo>
                  <a:pt x="173" y="5"/>
                </a:lnTo>
                <a:lnTo>
                  <a:pt x="5" y="5"/>
                </a:lnTo>
                <a:lnTo>
                  <a:pt x="5" y="317"/>
                </a:lnTo>
                <a:close/>
              </a:path>
            </a:pathLst>
          </a:custGeom>
          <a:solidFill>
            <a:srgbClr val="C5C5C5">
              <a:alpha val="100000"/>
            </a:srgbClr>
          </a:solidFill>
          <a:ln w="7600" cap="flat">
            <a:solidFill>
              <a:srgbClr val="FFFFFF">
                <a:alpha val="100000"/>
              </a:srgbClr>
            </a:solidFill>
            <a:prstDash val="solid"/>
            <a:round/>
          </a:ln>
        </p:spPr>
        <p:txBody>
          <a:bodyPr rtlCol="0"/>
          <a:lstStyle/>
          <a:p>
            <a:pPr algn="ctr"/>
            <a:endParaRPr lang="zh-CN" altLang="en-US"/>
          </a:p>
        </p:txBody>
      </p:sp>
      <p:sp>
        <p:nvSpPr>
          <p:cNvPr id="1151" name="rect"/>
          <p:cNvSpPr/>
          <p:nvPr/>
        </p:nvSpPr>
        <p:spPr>
          <a:xfrm>
            <a:off x="2717291" y="4847844"/>
            <a:ext cx="402335" cy="179832"/>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1152" name="textbox 1152"/>
          <p:cNvSpPr/>
          <p:nvPr/>
        </p:nvSpPr>
        <p:spPr>
          <a:xfrm>
            <a:off x="2739413" y="4871823"/>
            <a:ext cx="377190" cy="407034"/>
          </a:xfrm>
          <a:prstGeom prst="rect">
            <a:avLst/>
          </a:prstGeom>
        </p:spPr>
        <p:txBody>
          <a:bodyPr vert="horz" wrap="square" lIns="0" tIns="0" rIns="0" bIns="0"/>
          <a:lstStyle/>
          <a:p>
            <a:pPr algn="l" rtl="0" eaLnBrk="0">
              <a:lnSpc>
                <a:spcPct val="88000"/>
              </a:lnSpc>
            </a:pPr>
            <a:endParaRPr lang="en-US" altLang="en-US" sz="100" dirty="0">
              <a:latin typeface="微软雅黑" panose="020B0503020204020204" charset="-122"/>
              <a:ea typeface="微软雅黑" panose="020B0503020204020204" charset="-122"/>
            </a:endParaRPr>
          </a:p>
          <a:p>
            <a:pPr marL="12700" algn="l" rtl="0" eaLnBrk="0">
              <a:lnSpc>
                <a:spcPct val="66000"/>
              </a:lnSpc>
            </a:pPr>
            <a:r>
              <a:rPr sz="1100" spc="20" dirty="0">
                <a:solidFill>
                  <a:srgbClr val="000000">
                    <a:alpha val="100000"/>
                  </a:srgbClr>
                </a:solidFill>
                <a:latin typeface="微软雅黑" panose="020B0503020204020204" charset="-122"/>
                <a:ea typeface="微软雅黑" panose="020B0503020204020204" charset="-122"/>
                <a:cs typeface="Arial" panose="020B0604020202020204"/>
              </a:rPr>
              <a:t>1’0</a:t>
            </a:r>
            <a:r>
              <a:rPr sz="1100" spc="10" dirty="0">
                <a:solidFill>
                  <a:srgbClr val="000000">
                    <a:alpha val="100000"/>
                  </a:srgbClr>
                </a:solidFill>
                <a:latin typeface="微软雅黑" panose="020B0503020204020204" charset="-122"/>
                <a:ea typeface="微软雅黑" panose="020B0503020204020204" charset="-122"/>
                <a:cs typeface="Arial" panose="020B0604020202020204"/>
              </a:rPr>
              <a:t>7</a:t>
            </a:r>
            <a:r>
              <a:rPr sz="1100" spc="0" dirty="0">
                <a:solidFill>
                  <a:srgbClr val="000000">
                    <a:alpha val="100000"/>
                  </a:srgbClr>
                </a:solidFill>
                <a:latin typeface="微软雅黑" panose="020B0503020204020204" charset="-122"/>
                <a:ea typeface="微软雅黑" panose="020B0503020204020204" charset="-122"/>
                <a:cs typeface="Arial" panose="020B0604020202020204"/>
              </a:rPr>
              <a:t>8</a:t>
            </a:r>
            <a:endParaRPr lang="en-US" altLang="en-US" sz="1100" dirty="0">
              <a:latin typeface="微软雅黑" panose="020B0503020204020204" charset="-122"/>
              <a:ea typeface="微软雅黑" panose="020B0503020204020204" charset="-122"/>
            </a:endParaRPr>
          </a:p>
          <a:p>
            <a:pPr marL="12700" algn="l" rtl="0" eaLnBrk="0">
              <a:lnSpc>
                <a:spcPts val="2125"/>
              </a:lnSpc>
            </a:pPr>
            <a:r>
              <a:rPr sz="1100" spc="10" dirty="0">
                <a:solidFill>
                  <a:srgbClr val="000000">
                    <a:alpha val="100000"/>
                  </a:srgbClr>
                </a:solidFill>
                <a:latin typeface="微软雅黑" panose="020B0503020204020204" charset="-122"/>
                <a:ea typeface="微软雅黑" panose="020B0503020204020204" charset="-122"/>
                <a:cs typeface="Arial" panose="020B0604020202020204"/>
              </a:rPr>
              <a:t>1</a:t>
            </a:r>
            <a:r>
              <a:rPr sz="1100" spc="0" dirty="0">
                <a:solidFill>
                  <a:srgbClr val="000000">
                    <a:alpha val="100000"/>
                  </a:srgbClr>
                </a:solidFill>
                <a:latin typeface="微软雅黑" panose="020B0503020204020204" charset="-122"/>
                <a:ea typeface="微软雅黑" panose="020B0503020204020204" charset="-122"/>
                <a:cs typeface="Arial" panose="020B0604020202020204"/>
              </a:rPr>
              <a:t>00</a:t>
            </a:r>
            <a:endParaRPr lang="en-US" altLang="en-US" sz="1100" dirty="0">
              <a:latin typeface="微软雅黑" panose="020B0503020204020204" charset="-122"/>
              <a:ea typeface="微软雅黑" panose="020B0503020204020204" charset="-122"/>
            </a:endParaRPr>
          </a:p>
        </p:txBody>
      </p:sp>
      <p:sp>
        <p:nvSpPr>
          <p:cNvPr id="1153" name="textbox 1153"/>
          <p:cNvSpPr/>
          <p:nvPr/>
        </p:nvSpPr>
        <p:spPr>
          <a:xfrm>
            <a:off x="8818509" y="1037437"/>
            <a:ext cx="114935" cy="1840229"/>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endParaRPr sz="600" spc="0" dirty="0">
              <a:solidFill>
                <a:srgbClr val="808080">
                  <a:alpha val="100000"/>
                </a:srgbClr>
              </a:solidFill>
              <a:latin typeface="Arial" panose="020B0604020202020204"/>
              <a:ea typeface="Arial" panose="020B0604020202020204"/>
              <a:cs typeface="Arial" panose="020B0604020202020204"/>
            </a:endParaRPr>
          </a:p>
        </p:txBody>
      </p:sp>
      <p:sp>
        <p:nvSpPr>
          <p:cNvPr id="1154" name="path"/>
          <p:cNvSpPr/>
          <p:nvPr/>
        </p:nvSpPr>
        <p:spPr>
          <a:xfrm>
            <a:off x="8090254" y="2676988"/>
            <a:ext cx="28469" cy="200066"/>
          </a:xfrm>
          <a:custGeom>
            <a:avLst/>
            <a:gdLst/>
            <a:ahLst/>
            <a:cxnLst/>
            <a:rect l="0" t="0" r="0" b="0"/>
            <a:pathLst>
              <a:path w="44" h="315">
                <a:moveTo>
                  <a:pt x="3" y="311"/>
                </a:moveTo>
                <a:lnTo>
                  <a:pt x="41" y="311"/>
                </a:lnTo>
                <a:lnTo>
                  <a:pt x="41" y="3"/>
                </a:lnTo>
                <a:lnTo>
                  <a:pt x="3" y="3"/>
                </a:lnTo>
                <a:lnTo>
                  <a:pt x="3" y="311"/>
                </a:lnTo>
                <a:close/>
              </a:path>
            </a:pathLst>
          </a:custGeom>
          <a:solidFill>
            <a:srgbClr val="C5C5C5">
              <a:alpha val="100000"/>
            </a:srgbClr>
          </a:solidFill>
          <a:ln w="4750" cap="flat">
            <a:solidFill>
              <a:srgbClr val="FFFFFF">
                <a:alpha val="100000"/>
              </a:srgbClr>
            </a:solidFill>
            <a:prstDash val="solid"/>
            <a:round/>
          </a:ln>
        </p:spPr>
        <p:txBody>
          <a:bodyPr rtlCol="0"/>
          <a:lstStyle/>
          <a:p>
            <a:pPr algn="ctr"/>
            <a:endParaRPr lang="zh-CN" altLang="en-US"/>
          </a:p>
        </p:txBody>
      </p:sp>
      <p:sp>
        <p:nvSpPr>
          <p:cNvPr id="1155" name="rect"/>
          <p:cNvSpPr/>
          <p:nvPr/>
        </p:nvSpPr>
        <p:spPr>
          <a:xfrm>
            <a:off x="7996427" y="2680716"/>
            <a:ext cx="205740" cy="182879"/>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1156" name="rect"/>
          <p:cNvSpPr/>
          <p:nvPr/>
        </p:nvSpPr>
        <p:spPr>
          <a:xfrm>
            <a:off x="7883652" y="2410340"/>
            <a:ext cx="284988" cy="195309"/>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1157" name="textbox 1157"/>
          <p:cNvSpPr/>
          <p:nvPr/>
        </p:nvSpPr>
        <p:spPr>
          <a:xfrm>
            <a:off x="7896147" y="2438076"/>
            <a:ext cx="302259" cy="441325"/>
          </a:xfrm>
          <a:prstGeom prst="rect">
            <a:avLst/>
          </a:prstGeom>
        </p:spPr>
        <p:txBody>
          <a:bodyPr vert="horz" wrap="square" lIns="0" tIns="0" rIns="0" bIns="0"/>
          <a:lstStyle/>
          <a:p>
            <a:pPr algn="l" rtl="0" eaLnBrk="0">
              <a:lnSpc>
                <a:spcPct val="84000"/>
              </a:lnSpc>
            </a:pPr>
            <a:endParaRPr lang="en-US" altLang="en-US" sz="100" dirty="0">
              <a:latin typeface="微软雅黑" panose="020B0503020204020204" charset="-122"/>
              <a:ea typeface="微软雅黑" panose="020B0503020204020204" charset="-122"/>
            </a:endParaRPr>
          </a:p>
          <a:p>
            <a:pPr marL="12700" algn="l" rtl="0" eaLnBrk="0">
              <a:lnSpc>
                <a:spcPct val="84000"/>
              </a:lnSpc>
            </a:pPr>
            <a:r>
              <a:rPr sz="1100" spc="30" dirty="0">
                <a:solidFill>
                  <a:srgbClr val="000000">
                    <a:alpha val="100000"/>
                  </a:srgbClr>
                </a:solidFill>
                <a:latin typeface="微软雅黑" panose="020B0503020204020204" charset="-122"/>
                <a:ea typeface="微软雅黑" panose="020B0503020204020204" charset="-122"/>
                <a:cs typeface="Arial" panose="020B0604020202020204"/>
              </a:rPr>
              <a:t>39</a:t>
            </a:r>
            <a:r>
              <a:rPr sz="1100" spc="20" dirty="0">
                <a:solidFill>
                  <a:srgbClr val="000000">
                    <a:alpha val="100000"/>
                  </a:srgbClr>
                </a:solidFill>
                <a:latin typeface="微软雅黑" panose="020B0503020204020204" charset="-122"/>
                <a:ea typeface="微软雅黑" panose="020B0503020204020204" charset="-122"/>
                <a:cs typeface="Arial" panose="020B0604020202020204"/>
              </a:rPr>
              <a:t>9</a:t>
            </a:r>
            <a:endParaRPr lang="en-US" altLang="en-US" sz="1100" dirty="0">
              <a:latin typeface="微软雅黑" panose="020B0503020204020204" charset="-122"/>
              <a:ea typeface="微软雅黑" panose="020B0503020204020204" charset="-122"/>
            </a:endParaRPr>
          </a:p>
          <a:p>
            <a:pPr algn="l" rtl="0" eaLnBrk="0">
              <a:lnSpc>
                <a:spcPct val="105000"/>
              </a:lnSpc>
            </a:pPr>
            <a:endParaRPr lang="en-US" altLang="en-US" sz="800" dirty="0">
              <a:latin typeface="微软雅黑" panose="020B0503020204020204" charset="-122"/>
              <a:ea typeface="微软雅黑" panose="020B0503020204020204" charset="-122"/>
            </a:endParaRPr>
          </a:p>
          <a:p>
            <a:pPr marL="125730" algn="l" rtl="0" eaLnBrk="0">
              <a:lnSpc>
                <a:spcPct val="80000"/>
              </a:lnSpc>
              <a:spcBef>
                <a:spcPts val="0"/>
              </a:spcBef>
            </a:pPr>
            <a:r>
              <a:rPr sz="1200" spc="-20" dirty="0">
                <a:solidFill>
                  <a:srgbClr val="000000">
                    <a:alpha val="100000"/>
                  </a:srgbClr>
                </a:solidFill>
                <a:latin typeface="微软雅黑" panose="020B0503020204020204" charset="-122"/>
                <a:ea typeface="微软雅黑" panose="020B0503020204020204" charset="-122"/>
                <a:cs typeface="Arial" panose="020B0604020202020204"/>
              </a:rPr>
              <a:t>8</a:t>
            </a:r>
            <a:r>
              <a:rPr sz="1200" spc="-10" dirty="0">
                <a:solidFill>
                  <a:srgbClr val="000000">
                    <a:alpha val="100000"/>
                  </a:srgbClr>
                </a:solidFill>
                <a:latin typeface="微软雅黑" panose="020B0503020204020204" charset="-122"/>
                <a:ea typeface="微软雅黑" panose="020B0503020204020204" charset="-122"/>
                <a:cs typeface="Arial" panose="020B0604020202020204"/>
              </a:rPr>
              <a:t>7</a:t>
            </a:r>
            <a:endParaRPr lang="en-US" altLang="en-US" sz="1200" dirty="0">
              <a:latin typeface="微软雅黑" panose="020B0503020204020204" charset="-122"/>
              <a:ea typeface="微软雅黑" panose="020B0503020204020204" charset="-122"/>
            </a:endParaRPr>
          </a:p>
        </p:txBody>
      </p:sp>
      <p:sp>
        <p:nvSpPr>
          <p:cNvPr id="1158" name="textbox 1158"/>
          <p:cNvSpPr/>
          <p:nvPr/>
        </p:nvSpPr>
        <p:spPr>
          <a:xfrm>
            <a:off x="3139579" y="4031181"/>
            <a:ext cx="502919" cy="229870"/>
          </a:xfrm>
          <a:prstGeom prst="rect">
            <a:avLst/>
          </a:prstGeom>
          <a:solidFill>
            <a:srgbClr val="C5C5C5"/>
          </a:solidFill>
        </p:spPr>
        <p:txBody>
          <a:bodyPr vert="horz" wrap="square" lIns="0" tIns="0" rIns="0" bIns="0"/>
          <a:lstStyle/>
          <a:p>
            <a:pPr algn="l" rtl="0" eaLnBrk="0">
              <a:lnSpc>
                <a:spcPct val="139000"/>
              </a:lnSpc>
            </a:pPr>
            <a:endParaRPr lang="en-US" altLang="en-US" sz="200" dirty="0">
              <a:latin typeface="微软雅黑" panose="020B0503020204020204" charset="-122"/>
              <a:ea typeface="微软雅黑" panose="020B0503020204020204" charset="-122"/>
            </a:endParaRPr>
          </a:p>
          <a:p>
            <a:pPr marL="71120" algn="l" rtl="0" eaLnBrk="0">
              <a:lnSpc>
                <a:spcPct val="85000"/>
              </a:lnSpc>
              <a:spcBef>
                <a:spcPts val="0"/>
              </a:spcBef>
            </a:pPr>
            <a:r>
              <a:rPr sz="1100" spc="40" dirty="0">
                <a:solidFill>
                  <a:srgbClr val="000000">
                    <a:alpha val="100000"/>
                  </a:srgbClr>
                </a:solidFill>
                <a:latin typeface="微软雅黑" panose="020B0503020204020204" charset="-122"/>
                <a:ea typeface="微软雅黑" panose="020B0503020204020204" charset="-122"/>
                <a:cs typeface="Arial" panose="020B0604020202020204"/>
              </a:rPr>
              <a:t>5’2</a:t>
            </a:r>
            <a:r>
              <a:rPr sz="1100" spc="30" dirty="0">
                <a:solidFill>
                  <a:srgbClr val="000000">
                    <a:alpha val="100000"/>
                  </a:srgbClr>
                </a:solidFill>
                <a:latin typeface="微软雅黑" panose="020B0503020204020204" charset="-122"/>
                <a:ea typeface="微软雅黑" panose="020B0503020204020204" charset="-122"/>
                <a:cs typeface="Arial" panose="020B0604020202020204"/>
              </a:rPr>
              <a:t>3</a:t>
            </a:r>
            <a:r>
              <a:rPr sz="1100" spc="0" dirty="0">
                <a:solidFill>
                  <a:srgbClr val="000000">
                    <a:alpha val="100000"/>
                  </a:srgbClr>
                </a:solidFill>
                <a:latin typeface="微软雅黑" panose="020B0503020204020204" charset="-122"/>
                <a:ea typeface="微软雅黑" panose="020B0503020204020204" charset="-122"/>
                <a:cs typeface="Arial" panose="020B0604020202020204"/>
              </a:rPr>
              <a:t>4 </a:t>
            </a:r>
            <a:endParaRPr lang="en-US" altLang="en-US" sz="1100" dirty="0">
              <a:latin typeface="微软雅黑" panose="020B0503020204020204" charset="-122"/>
              <a:ea typeface="微软雅黑" panose="020B0503020204020204" charset="-122"/>
            </a:endParaRPr>
          </a:p>
        </p:txBody>
      </p:sp>
      <p:sp>
        <p:nvSpPr>
          <p:cNvPr id="1159" name="path"/>
          <p:cNvSpPr/>
          <p:nvPr/>
        </p:nvSpPr>
        <p:spPr>
          <a:xfrm>
            <a:off x="3634815" y="4034985"/>
            <a:ext cx="7594" cy="190493"/>
          </a:xfrm>
          <a:custGeom>
            <a:avLst/>
            <a:gdLst/>
            <a:ahLst/>
            <a:cxnLst/>
            <a:rect l="0" t="0" r="0" b="0"/>
            <a:pathLst>
              <a:path w="11" h="299">
                <a:moveTo>
                  <a:pt x="5" y="299"/>
                </a:moveTo>
                <a:lnTo>
                  <a:pt x="5" y="0"/>
                </a:lnTo>
              </a:path>
            </a:pathLst>
          </a:custGeom>
          <a:noFill/>
          <a:ln w="7600" cap="flat">
            <a:solidFill>
              <a:srgbClr val="FFFFFF">
                <a:alpha val="100000"/>
              </a:srgbClr>
            </a:solidFill>
            <a:prstDash val="solid"/>
            <a:round/>
          </a:ln>
        </p:spPr>
        <p:txBody>
          <a:bodyPr rtlCol="0"/>
          <a:lstStyle/>
          <a:p>
            <a:pPr algn="ctr"/>
            <a:endParaRPr lang="zh-CN" altLang="en-US"/>
          </a:p>
        </p:txBody>
      </p:sp>
      <p:sp>
        <p:nvSpPr>
          <p:cNvPr id="1160" name="path"/>
          <p:cNvSpPr/>
          <p:nvPr/>
        </p:nvSpPr>
        <p:spPr>
          <a:xfrm>
            <a:off x="8266134" y="3487081"/>
            <a:ext cx="38275" cy="195309"/>
          </a:xfrm>
          <a:custGeom>
            <a:avLst/>
            <a:gdLst/>
            <a:ahLst/>
            <a:cxnLst/>
            <a:rect l="0" t="0" r="0" b="0"/>
            <a:pathLst>
              <a:path w="60" h="307">
                <a:moveTo>
                  <a:pt x="3" y="303"/>
                </a:moveTo>
                <a:lnTo>
                  <a:pt x="56" y="303"/>
                </a:lnTo>
                <a:lnTo>
                  <a:pt x="56" y="3"/>
                </a:lnTo>
                <a:lnTo>
                  <a:pt x="3" y="3"/>
                </a:lnTo>
                <a:lnTo>
                  <a:pt x="3" y="303"/>
                </a:lnTo>
                <a:close/>
              </a:path>
            </a:pathLst>
          </a:custGeom>
          <a:solidFill>
            <a:srgbClr val="C5C5C5">
              <a:alpha val="100000"/>
            </a:srgbClr>
          </a:solidFill>
          <a:ln w="4750" cap="flat">
            <a:solidFill>
              <a:srgbClr val="FFFFFF">
                <a:alpha val="100000"/>
              </a:srgbClr>
            </a:solidFill>
            <a:prstDash val="solid"/>
            <a:round/>
          </a:ln>
        </p:spPr>
        <p:txBody>
          <a:bodyPr rtlCol="0"/>
          <a:lstStyle/>
          <a:p>
            <a:pPr algn="ctr"/>
            <a:endParaRPr lang="zh-CN" altLang="en-US"/>
          </a:p>
        </p:txBody>
      </p:sp>
      <p:sp>
        <p:nvSpPr>
          <p:cNvPr id="1161" name="rect"/>
          <p:cNvSpPr/>
          <p:nvPr/>
        </p:nvSpPr>
        <p:spPr>
          <a:xfrm>
            <a:off x="8139684" y="3491484"/>
            <a:ext cx="284988" cy="178307"/>
          </a:xfrm>
          <a:prstGeom prst="rect">
            <a:avLst/>
          </a:prstGeom>
          <a:solidFill>
            <a:srgbClr val="FFFFFF">
              <a:alpha val="100000"/>
            </a:srgbClr>
          </a:solidFill>
          <a:ln cap="flat">
            <a:noFill/>
            <a:prstDash val="solid"/>
            <a:miter lim="0"/>
          </a:ln>
        </p:spPr>
        <p:txBody>
          <a:bodyPr rtlCol="0"/>
          <a:lstStyle/>
          <a:p>
            <a:pPr algn="ctr"/>
            <a:endParaRPr lang="zh-CN" altLang="en-US"/>
          </a:p>
        </p:txBody>
      </p:sp>
      <p:grpSp>
        <p:nvGrpSpPr>
          <p:cNvPr id="204" name="group 204"/>
          <p:cNvGrpSpPr/>
          <p:nvPr/>
        </p:nvGrpSpPr>
        <p:grpSpPr>
          <a:xfrm rot="21600000">
            <a:off x="8250935" y="3137916"/>
            <a:ext cx="19880" cy="342899"/>
            <a:chOff x="0" y="0"/>
            <a:chExt cx="19880" cy="342899"/>
          </a:xfrm>
        </p:grpSpPr>
        <p:sp>
          <p:nvSpPr>
            <p:cNvPr id="1162" name="path"/>
            <p:cNvSpPr/>
            <p:nvPr/>
          </p:nvSpPr>
          <p:spPr>
            <a:xfrm>
              <a:off x="0" y="0"/>
              <a:ext cx="18288" cy="342899"/>
            </a:xfrm>
            <a:custGeom>
              <a:avLst/>
              <a:gdLst/>
              <a:ahLst/>
              <a:cxnLst/>
              <a:rect l="0" t="0" r="0" b="0"/>
              <a:pathLst>
                <a:path w="28" h="539">
                  <a:moveTo>
                    <a:pt x="26" y="420"/>
                  </a:moveTo>
                  <a:lnTo>
                    <a:pt x="26" y="539"/>
                  </a:lnTo>
                  <a:moveTo>
                    <a:pt x="2" y="0"/>
                  </a:moveTo>
                  <a:lnTo>
                    <a:pt x="2" y="120"/>
                  </a:lnTo>
                </a:path>
              </a:pathLst>
            </a:custGeom>
            <a:noFill/>
            <a:ln w="3048" cap="flat">
              <a:solidFill>
                <a:srgbClr val="808080">
                  <a:alpha val="100000"/>
                </a:srgbClr>
              </a:solidFill>
              <a:prstDash val="dash"/>
              <a:round/>
            </a:ln>
          </p:spPr>
          <p:txBody>
            <a:bodyPr rtlCol="0"/>
            <a:lstStyle/>
            <a:p>
              <a:pPr algn="ctr"/>
              <a:endParaRPr lang="zh-CN" altLang="en-US"/>
            </a:p>
          </p:txBody>
        </p:sp>
        <p:sp>
          <p:nvSpPr>
            <p:cNvPr id="1163" name="path"/>
            <p:cNvSpPr/>
            <p:nvPr/>
          </p:nvSpPr>
          <p:spPr>
            <a:xfrm>
              <a:off x="900" y="77443"/>
              <a:ext cx="18979" cy="200065"/>
            </a:xfrm>
            <a:custGeom>
              <a:avLst/>
              <a:gdLst/>
              <a:ahLst/>
              <a:cxnLst/>
              <a:rect l="0" t="0" r="0" b="0"/>
              <a:pathLst>
                <a:path w="29" h="315">
                  <a:moveTo>
                    <a:pt x="3" y="311"/>
                  </a:moveTo>
                  <a:lnTo>
                    <a:pt x="26" y="311"/>
                  </a:lnTo>
                  <a:lnTo>
                    <a:pt x="26" y="3"/>
                  </a:lnTo>
                  <a:lnTo>
                    <a:pt x="3" y="3"/>
                  </a:lnTo>
                  <a:lnTo>
                    <a:pt x="3" y="311"/>
                  </a:lnTo>
                  <a:close/>
                </a:path>
              </a:pathLst>
            </a:custGeom>
            <a:solidFill>
              <a:srgbClr val="C5C5C5">
                <a:alpha val="100000"/>
              </a:srgbClr>
            </a:solidFill>
            <a:ln w="4750" cap="flat">
              <a:solidFill>
                <a:srgbClr val="FFFFFF">
                  <a:alpha val="100000"/>
                </a:srgbClr>
              </a:solidFill>
              <a:prstDash val="solid"/>
              <a:round/>
            </a:ln>
          </p:spPr>
          <p:txBody>
            <a:bodyPr rtlCol="0"/>
            <a:lstStyle/>
            <a:p>
              <a:pPr algn="ctr"/>
              <a:endParaRPr lang="zh-CN" altLang="en-US"/>
            </a:p>
          </p:txBody>
        </p:sp>
      </p:grpSp>
      <p:sp>
        <p:nvSpPr>
          <p:cNvPr id="1164" name="rect"/>
          <p:cNvSpPr/>
          <p:nvPr/>
        </p:nvSpPr>
        <p:spPr>
          <a:xfrm>
            <a:off x="8157971" y="3221736"/>
            <a:ext cx="202692" cy="178308"/>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1165" name="textbox 1165"/>
          <p:cNvSpPr/>
          <p:nvPr/>
        </p:nvSpPr>
        <p:spPr>
          <a:xfrm>
            <a:off x="8161805" y="3246880"/>
            <a:ext cx="260350" cy="436244"/>
          </a:xfrm>
          <a:prstGeom prst="rect">
            <a:avLst/>
          </a:prstGeom>
        </p:spPr>
        <p:txBody>
          <a:bodyPr vert="horz" wrap="square" lIns="0" tIns="0" rIns="0" bIns="0"/>
          <a:lstStyle/>
          <a:p>
            <a:pPr algn="l" rtl="0" eaLnBrk="0">
              <a:lnSpc>
                <a:spcPct val="81000"/>
              </a:lnSpc>
            </a:pPr>
            <a:endParaRPr lang="en-US" altLang="en-US" sz="100" dirty="0"/>
          </a:p>
          <a:p>
            <a:pPr marL="17145" algn="l" rtl="0" eaLnBrk="0">
              <a:lnSpc>
                <a:spcPct val="84000"/>
              </a:lnSpc>
            </a:pPr>
            <a:r>
              <a:rPr sz="1100" spc="40" dirty="0">
                <a:solidFill>
                  <a:srgbClr val="000000">
                    <a:alpha val="100000"/>
                  </a:srgbClr>
                </a:solidFill>
                <a:latin typeface="Arial" panose="020B0604020202020204"/>
                <a:ea typeface="Arial" panose="020B0604020202020204"/>
                <a:cs typeface="Arial" panose="020B0604020202020204"/>
              </a:rPr>
              <a:t>4</a:t>
            </a:r>
            <a:r>
              <a:rPr sz="1100" spc="30" dirty="0">
                <a:solidFill>
                  <a:srgbClr val="000000">
                    <a:alpha val="100000"/>
                  </a:srgbClr>
                </a:solidFill>
                <a:latin typeface="Arial" panose="020B0604020202020204"/>
                <a:ea typeface="Arial" panose="020B0604020202020204"/>
                <a:cs typeface="Arial" panose="020B0604020202020204"/>
              </a:rPr>
              <a:t>4</a:t>
            </a:r>
            <a:endParaRPr lang="en-US" altLang="en-US" sz="1100" dirty="0"/>
          </a:p>
          <a:p>
            <a:pPr algn="l" rtl="0" eaLnBrk="0">
              <a:lnSpc>
                <a:spcPct val="105000"/>
              </a:lnSpc>
            </a:pPr>
            <a:endParaRPr lang="en-US" altLang="en-US" sz="800" dirty="0"/>
          </a:p>
          <a:p>
            <a:pPr algn="l" rtl="0" eaLnBrk="0">
              <a:lnSpc>
                <a:spcPct val="7000"/>
              </a:lnSpc>
            </a:pPr>
            <a:endParaRPr lang="en-US" altLang="en-US" sz="100" dirty="0"/>
          </a:p>
          <a:p>
            <a:pPr marL="12700" algn="l" rtl="0" eaLnBrk="0">
              <a:lnSpc>
                <a:spcPct val="84000"/>
              </a:lnSpc>
            </a:pPr>
            <a:r>
              <a:rPr sz="1100" spc="10" dirty="0">
                <a:solidFill>
                  <a:srgbClr val="000000">
                    <a:alpha val="100000"/>
                  </a:srgbClr>
                </a:solidFill>
                <a:latin typeface="Arial" panose="020B0604020202020204"/>
                <a:ea typeface="Arial" panose="020B0604020202020204"/>
                <a:cs typeface="Arial" panose="020B0604020202020204"/>
              </a:rPr>
              <a:t>1</a:t>
            </a:r>
            <a:r>
              <a:rPr sz="1100" spc="0" dirty="0">
                <a:solidFill>
                  <a:srgbClr val="000000">
                    <a:alpha val="100000"/>
                  </a:srgbClr>
                </a:solidFill>
                <a:latin typeface="Arial" panose="020B0604020202020204"/>
                <a:ea typeface="Arial" panose="020B0604020202020204"/>
                <a:cs typeface="Arial" panose="020B0604020202020204"/>
              </a:rPr>
              <a:t>08</a:t>
            </a:r>
            <a:endParaRPr lang="en-US" altLang="en-US" sz="1100" dirty="0"/>
          </a:p>
        </p:txBody>
      </p:sp>
      <p:grpSp>
        <p:nvGrpSpPr>
          <p:cNvPr id="206" name="group 206"/>
          <p:cNvGrpSpPr/>
          <p:nvPr/>
        </p:nvGrpSpPr>
        <p:grpSpPr>
          <a:xfrm rot="21600000">
            <a:off x="8040623" y="2948710"/>
            <a:ext cx="286511" cy="195310"/>
            <a:chOff x="0" y="0"/>
            <a:chExt cx="286511" cy="195310"/>
          </a:xfrm>
        </p:grpSpPr>
        <p:sp>
          <p:nvSpPr>
            <p:cNvPr id="1166" name="path"/>
            <p:cNvSpPr/>
            <p:nvPr/>
          </p:nvSpPr>
          <p:spPr>
            <a:xfrm>
              <a:off x="73291" y="0"/>
              <a:ext cx="142665" cy="195310"/>
            </a:xfrm>
            <a:custGeom>
              <a:avLst/>
              <a:gdLst/>
              <a:ahLst/>
              <a:cxnLst/>
              <a:rect l="0" t="0" r="0" b="0"/>
              <a:pathLst>
                <a:path w="224" h="307">
                  <a:moveTo>
                    <a:pt x="3" y="303"/>
                  </a:moveTo>
                  <a:lnTo>
                    <a:pt x="220" y="303"/>
                  </a:lnTo>
                  <a:lnTo>
                    <a:pt x="220" y="3"/>
                  </a:lnTo>
                  <a:lnTo>
                    <a:pt x="3" y="3"/>
                  </a:lnTo>
                  <a:lnTo>
                    <a:pt x="3" y="303"/>
                  </a:lnTo>
                  <a:close/>
                </a:path>
              </a:pathLst>
            </a:custGeom>
            <a:solidFill>
              <a:srgbClr val="C5C5C5">
                <a:alpha val="100000"/>
              </a:srgbClr>
            </a:solidFill>
            <a:ln w="4750" cap="flat">
              <a:solidFill>
                <a:srgbClr val="FFFFFF">
                  <a:alpha val="100000"/>
                </a:srgbClr>
              </a:solidFill>
              <a:prstDash val="solid"/>
              <a:round/>
            </a:ln>
          </p:spPr>
          <p:txBody>
            <a:bodyPr rtlCol="0"/>
            <a:lstStyle/>
            <a:p>
              <a:pPr algn="ctr"/>
              <a:endParaRPr lang="zh-CN" altLang="en-US"/>
            </a:p>
          </p:txBody>
        </p:sp>
        <p:sp>
          <p:nvSpPr>
            <p:cNvPr id="1167" name="path"/>
            <p:cNvSpPr/>
            <p:nvPr/>
          </p:nvSpPr>
          <p:spPr>
            <a:xfrm>
              <a:off x="0" y="6325"/>
              <a:ext cx="286511" cy="178308"/>
            </a:xfrm>
            <a:custGeom>
              <a:avLst/>
              <a:gdLst/>
              <a:ahLst/>
              <a:cxnLst/>
              <a:rect l="0" t="0" r="0" b="0"/>
              <a:pathLst>
                <a:path w="451" h="280">
                  <a:moveTo>
                    <a:pt x="0" y="280"/>
                  </a:moveTo>
                  <a:lnTo>
                    <a:pt x="451" y="280"/>
                  </a:lnTo>
                  <a:lnTo>
                    <a:pt x="451" y="0"/>
                  </a:lnTo>
                  <a:lnTo>
                    <a:pt x="0" y="0"/>
                  </a:lnTo>
                  <a:lnTo>
                    <a:pt x="0" y="280"/>
                  </a:lnTo>
                  <a:close/>
                </a:path>
              </a:pathLst>
            </a:custGeom>
            <a:solidFill>
              <a:srgbClr val="FFFFFF">
                <a:alpha val="100000"/>
              </a:srgbClr>
            </a:solidFill>
            <a:ln cap="flat">
              <a:noFill/>
              <a:prstDash val="solid"/>
              <a:miter lim="0"/>
            </a:ln>
          </p:spPr>
          <p:txBody>
            <a:bodyPr rtlCol="0"/>
            <a:lstStyle/>
            <a:p>
              <a:pPr algn="ctr"/>
              <a:endParaRPr lang="zh-CN" altLang="en-US"/>
            </a:p>
          </p:txBody>
        </p:sp>
      </p:grpSp>
      <p:sp>
        <p:nvSpPr>
          <p:cNvPr id="1168" name="path"/>
          <p:cNvSpPr/>
          <p:nvPr/>
        </p:nvSpPr>
        <p:spPr>
          <a:xfrm>
            <a:off x="7030211" y="1871652"/>
            <a:ext cx="284988" cy="195627"/>
          </a:xfrm>
          <a:custGeom>
            <a:avLst/>
            <a:gdLst/>
            <a:ahLst/>
            <a:cxnLst/>
            <a:rect l="0" t="0" r="0" b="0"/>
            <a:pathLst>
              <a:path w="448" h="308">
                <a:moveTo>
                  <a:pt x="39" y="304"/>
                </a:moveTo>
                <a:moveTo>
                  <a:pt x="39" y="304"/>
                </a:moveTo>
                <a:lnTo>
                  <a:pt x="421" y="304"/>
                </a:lnTo>
                <a:lnTo>
                  <a:pt x="421" y="3"/>
                </a:lnTo>
                <a:lnTo>
                  <a:pt x="39" y="3"/>
                </a:lnTo>
                <a:lnTo>
                  <a:pt x="39" y="304"/>
                </a:lnTo>
                <a:close/>
              </a:path>
              <a:path w="448" h="308">
                <a:moveTo>
                  <a:pt x="0" y="290"/>
                </a:moveTo>
                <a:lnTo>
                  <a:pt x="448" y="290"/>
                </a:lnTo>
                <a:lnTo>
                  <a:pt x="448" y="6"/>
                </a:lnTo>
                <a:lnTo>
                  <a:pt x="0" y="6"/>
                </a:lnTo>
                <a:lnTo>
                  <a:pt x="0" y="290"/>
                </a:lnTo>
                <a:close/>
              </a:path>
            </a:pathLst>
          </a:custGeom>
          <a:solidFill>
            <a:srgbClr val="C5C5C5">
              <a:alpha val="100000"/>
            </a:srgbClr>
          </a:solidFill>
          <a:ln cap="flat">
            <a:noFill/>
            <a:prstDash val="solid"/>
            <a:miter lim="0"/>
          </a:ln>
        </p:spPr>
        <p:txBody>
          <a:bodyPr rtlCol="0"/>
          <a:lstStyle/>
          <a:p>
            <a:pPr algn="ctr"/>
            <a:endParaRPr lang="zh-CN" altLang="en-US"/>
          </a:p>
        </p:txBody>
      </p:sp>
      <p:sp>
        <p:nvSpPr>
          <p:cNvPr id="1169" name="path"/>
          <p:cNvSpPr/>
          <p:nvPr/>
        </p:nvSpPr>
        <p:spPr>
          <a:xfrm>
            <a:off x="3717035" y="2871216"/>
            <a:ext cx="3047" cy="618744"/>
          </a:xfrm>
          <a:custGeom>
            <a:avLst/>
            <a:gdLst/>
            <a:ahLst/>
            <a:cxnLst/>
            <a:rect l="0" t="0" r="0" b="0"/>
            <a:pathLst>
              <a:path w="4" h="974">
                <a:moveTo>
                  <a:pt x="2" y="854"/>
                </a:moveTo>
                <a:lnTo>
                  <a:pt x="2" y="974"/>
                </a:lnTo>
                <a:moveTo>
                  <a:pt x="2" y="0"/>
                </a:moveTo>
                <a:lnTo>
                  <a:pt x="2" y="120"/>
                </a:lnTo>
                <a:moveTo>
                  <a:pt x="2" y="432"/>
                </a:moveTo>
                <a:lnTo>
                  <a:pt x="2" y="552"/>
                </a:lnTo>
              </a:path>
            </a:pathLst>
          </a:custGeom>
          <a:noFill/>
          <a:ln w="3048" cap="flat">
            <a:solidFill>
              <a:srgbClr val="808080">
                <a:alpha val="100000"/>
              </a:srgbClr>
            </a:solidFill>
            <a:prstDash val="dash"/>
            <a:round/>
          </a:ln>
        </p:spPr>
        <p:txBody>
          <a:bodyPr rtlCol="0"/>
          <a:lstStyle/>
          <a:p>
            <a:pPr algn="ctr"/>
            <a:endParaRPr lang="zh-CN" altLang="en-US"/>
          </a:p>
        </p:txBody>
      </p:sp>
      <p:sp>
        <p:nvSpPr>
          <p:cNvPr id="1170" name="textbox 1170"/>
          <p:cNvSpPr/>
          <p:nvPr/>
        </p:nvSpPr>
        <p:spPr>
          <a:xfrm>
            <a:off x="3619500" y="2676144"/>
            <a:ext cx="203200" cy="236854"/>
          </a:xfrm>
          <a:prstGeom prst="rect">
            <a:avLst/>
          </a:prstGeom>
          <a:solidFill>
            <a:srgbClr val="FFFFFF"/>
          </a:solidFill>
        </p:spPr>
        <p:txBody>
          <a:bodyPr vert="horz" wrap="square" lIns="0" tIns="0" rIns="0" bIns="0"/>
          <a:lstStyle/>
          <a:p>
            <a:pPr algn="l" rtl="0" eaLnBrk="0">
              <a:lnSpc>
                <a:spcPct val="108000"/>
              </a:lnSpc>
            </a:pPr>
            <a:endParaRPr lang="en-US" altLang="en-US" sz="300" dirty="0">
              <a:latin typeface="微软雅黑" panose="020B0503020204020204" charset="-122"/>
              <a:ea typeface="微软雅黑" panose="020B0503020204020204" charset="-122"/>
            </a:endParaRPr>
          </a:p>
          <a:p>
            <a:pPr marL="24130" algn="l" rtl="0" eaLnBrk="0">
              <a:lnSpc>
                <a:spcPct val="84000"/>
              </a:lnSpc>
              <a:spcBef>
                <a:spcPts val="0"/>
              </a:spcBef>
            </a:pPr>
            <a:r>
              <a:rPr sz="1100" spc="30" dirty="0">
                <a:solidFill>
                  <a:srgbClr val="000000">
                    <a:alpha val="100000"/>
                  </a:srgbClr>
                </a:solidFill>
                <a:latin typeface="微软雅黑" panose="020B0503020204020204" charset="-122"/>
                <a:ea typeface="微软雅黑" panose="020B0503020204020204" charset="-122"/>
                <a:cs typeface="Arial" panose="020B0604020202020204"/>
              </a:rPr>
              <a:t>6</a:t>
            </a:r>
            <a:r>
              <a:rPr sz="1100" spc="10" dirty="0">
                <a:solidFill>
                  <a:srgbClr val="000000">
                    <a:alpha val="100000"/>
                  </a:srgbClr>
                </a:solidFill>
                <a:latin typeface="微软雅黑" panose="020B0503020204020204" charset="-122"/>
                <a:ea typeface="微软雅黑" panose="020B0503020204020204" charset="-122"/>
                <a:cs typeface="Arial" panose="020B0604020202020204"/>
              </a:rPr>
              <a:t>0</a:t>
            </a:r>
            <a:endParaRPr lang="en-US" altLang="en-US" sz="1100" dirty="0">
              <a:latin typeface="微软雅黑" panose="020B0503020204020204" charset="-122"/>
              <a:ea typeface="微软雅黑" panose="020B0503020204020204" charset="-122"/>
            </a:endParaRPr>
          </a:p>
        </p:txBody>
      </p:sp>
      <p:sp>
        <p:nvSpPr>
          <p:cNvPr id="1171" name="textbox 1171"/>
          <p:cNvSpPr/>
          <p:nvPr/>
        </p:nvSpPr>
        <p:spPr>
          <a:xfrm>
            <a:off x="7324566" y="3786444"/>
            <a:ext cx="394334" cy="168275"/>
          </a:xfrm>
          <a:prstGeom prst="rect">
            <a:avLst/>
          </a:prstGeom>
        </p:spPr>
        <p:txBody>
          <a:bodyPr vert="horz" wrap="square" lIns="0" tIns="0" rIns="0" bIns="0"/>
          <a:lstStyle/>
          <a:p>
            <a:pPr algn="l" rtl="0" eaLnBrk="0">
              <a:lnSpc>
                <a:spcPct val="83000"/>
              </a:lnSpc>
            </a:pPr>
            <a:endParaRPr lang="en-US" altLang="en-US" sz="100" dirty="0">
              <a:latin typeface="微软雅黑" panose="020B0503020204020204" charset="-122"/>
              <a:ea typeface="微软雅黑" panose="020B0503020204020204" charset="-122"/>
            </a:endParaRPr>
          </a:p>
          <a:p>
            <a:pPr marL="12700" algn="l" rtl="0" eaLnBrk="0">
              <a:lnSpc>
                <a:spcPct val="85000"/>
              </a:lnSpc>
            </a:pPr>
            <a:r>
              <a:rPr sz="1100" b="1" spc="40" dirty="0">
                <a:solidFill>
                  <a:srgbClr val="FFFFFF">
                    <a:alpha val="100000"/>
                  </a:srgbClr>
                </a:solidFill>
                <a:latin typeface="微软雅黑" panose="020B0503020204020204" charset="-122"/>
                <a:ea typeface="微软雅黑" panose="020B0503020204020204" charset="-122"/>
                <a:cs typeface="Arial" panose="020B0604020202020204"/>
              </a:rPr>
              <a:t>5’2</a:t>
            </a:r>
            <a:r>
              <a:rPr sz="1100" b="1" spc="30" dirty="0">
                <a:solidFill>
                  <a:srgbClr val="FFFFFF">
                    <a:alpha val="100000"/>
                  </a:srgbClr>
                </a:solidFill>
                <a:latin typeface="微软雅黑" panose="020B0503020204020204" charset="-122"/>
                <a:ea typeface="微软雅黑" panose="020B0503020204020204" charset="-122"/>
                <a:cs typeface="Arial" panose="020B0604020202020204"/>
              </a:rPr>
              <a:t>3</a:t>
            </a:r>
            <a:r>
              <a:rPr sz="1100" b="1" spc="0" dirty="0">
                <a:solidFill>
                  <a:srgbClr val="FFFFFF">
                    <a:alpha val="100000"/>
                  </a:srgbClr>
                </a:solidFill>
                <a:latin typeface="微软雅黑" panose="020B0503020204020204" charset="-122"/>
                <a:ea typeface="微软雅黑" panose="020B0503020204020204" charset="-122"/>
                <a:cs typeface="Arial" panose="020B0604020202020204"/>
              </a:rPr>
              <a:t>4</a:t>
            </a:r>
            <a:endParaRPr lang="en-US" altLang="en-US" sz="1100" dirty="0">
              <a:latin typeface="微软雅黑" panose="020B0503020204020204" charset="-122"/>
              <a:ea typeface="微软雅黑" panose="020B0503020204020204" charset="-122"/>
            </a:endParaRPr>
          </a:p>
        </p:txBody>
      </p:sp>
      <p:sp>
        <p:nvSpPr>
          <p:cNvPr id="1172" name="textbox 1172"/>
          <p:cNvSpPr/>
          <p:nvPr/>
        </p:nvSpPr>
        <p:spPr>
          <a:xfrm>
            <a:off x="3616452" y="3218688"/>
            <a:ext cx="203200" cy="231775"/>
          </a:xfrm>
          <a:prstGeom prst="rect">
            <a:avLst/>
          </a:prstGeom>
          <a:solidFill>
            <a:srgbClr val="FFFFFF"/>
          </a:solidFill>
        </p:spPr>
        <p:txBody>
          <a:bodyPr vert="horz" wrap="square" lIns="0" tIns="0" rIns="0" bIns="0"/>
          <a:lstStyle/>
          <a:p>
            <a:pPr algn="l" rtl="0" eaLnBrk="0">
              <a:lnSpc>
                <a:spcPct val="105000"/>
              </a:lnSpc>
            </a:pPr>
            <a:endParaRPr lang="en-US" altLang="en-US" sz="300" dirty="0">
              <a:latin typeface="微软雅黑" panose="020B0503020204020204" charset="-122"/>
              <a:ea typeface="微软雅黑" panose="020B0503020204020204" charset="-122"/>
            </a:endParaRPr>
          </a:p>
          <a:p>
            <a:pPr marL="24130" algn="l" rtl="0" eaLnBrk="0">
              <a:lnSpc>
                <a:spcPct val="84000"/>
              </a:lnSpc>
              <a:spcBef>
                <a:spcPts val="5"/>
              </a:spcBef>
            </a:pPr>
            <a:r>
              <a:rPr sz="1100" spc="30" dirty="0">
                <a:solidFill>
                  <a:srgbClr val="000000">
                    <a:alpha val="100000"/>
                  </a:srgbClr>
                </a:solidFill>
                <a:latin typeface="微软雅黑" panose="020B0503020204020204" charset="-122"/>
                <a:ea typeface="微软雅黑" panose="020B0503020204020204" charset="-122"/>
                <a:cs typeface="Arial" panose="020B0604020202020204"/>
              </a:rPr>
              <a:t>3</a:t>
            </a:r>
            <a:r>
              <a:rPr sz="1100" spc="10" dirty="0">
                <a:solidFill>
                  <a:srgbClr val="000000">
                    <a:alpha val="100000"/>
                  </a:srgbClr>
                </a:solidFill>
                <a:latin typeface="微软雅黑" panose="020B0503020204020204" charset="-122"/>
                <a:ea typeface="微软雅黑" panose="020B0503020204020204" charset="-122"/>
                <a:cs typeface="Arial" panose="020B0604020202020204"/>
              </a:rPr>
              <a:t>3</a:t>
            </a:r>
            <a:endParaRPr lang="en-US" altLang="en-US" sz="1100" dirty="0">
              <a:latin typeface="微软雅黑" panose="020B0503020204020204" charset="-122"/>
              <a:ea typeface="微软雅黑" panose="020B0503020204020204" charset="-122"/>
            </a:endParaRPr>
          </a:p>
        </p:txBody>
      </p:sp>
      <p:sp>
        <p:nvSpPr>
          <p:cNvPr id="1173" name="textbox 1173"/>
          <p:cNvSpPr/>
          <p:nvPr/>
        </p:nvSpPr>
        <p:spPr>
          <a:xfrm>
            <a:off x="7440055" y="2169136"/>
            <a:ext cx="389254" cy="168910"/>
          </a:xfrm>
          <a:prstGeom prst="rect">
            <a:avLst/>
          </a:prstGeom>
        </p:spPr>
        <p:txBody>
          <a:bodyPr vert="horz" wrap="square" lIns="0" tIns="0" rIns="0" bIns="0"/>
          <a:lstStyle/>
          <a:p>
            <a:pPr algn="l" rtl="0" eaLnBrk="0">
              <a:lnSpc>
                <a:spcPct val="87000"/>
              </a:lnSpc>
            </a:pPr>
            <a:endParaRPr lang="en-US" altLang="en-US" sz="100" dirty="0">
              <a:latin typeface="微软雅黑" panose="020B0503020204020204" charset="-122"/>
              <a:ea typeface="微软雅黑" panose="020B0503020204020204" charset="-122"/>
            </a:endParaRPr>
          </a:p>
          <a:p>
            <a:pPr marL="12700" algn="l" rtl="0" eaLnBrk="0">
              <a:lnSpc>
                <a:spcPct val="85000"/>
              </a:lnSpc>
            </a:pPr>
            <a:r>
              <a:rPr sz="1100" spc="40" dirty="0">
                <a:solidFill>
                  <a:srgbClr val="000000">
                    <a:alpha val="100000"/>
                  </a:srgbClr>
                </a:solidFill>
                <a:latin typeface="微软雅黑" panose="020B0503020204020204" charset="-122"/>
                <a:ea typeface="微软雅黑" panose="020B0503020204020204" charset="-122"/>
                <a:cs typeface="Arial" panose="020B0604020202020204"/>
              </a:rPr>
              <a:t>2’25</a:t>
            </a:r>
            <a:r>
              <a:rPr sz="1100" spc="0" dirty="0">
                <a:solidFill>
                  <a:srgbClr val="000000">
                    <a:alpha val="100000"/>
                  </a:srgbClr>
                </a:solidFill>
                <a:latin typeface="微软雅黑" panose="020B0503020204020204" charset="-122"/>
                <a:ea typeface="微软雅黑" panose="020B0503020204020204" charset="-122"/>
                <a:cs typeface="Arial" panose="020B0604020202020204"/>
              </a:rPr>
              <a:t>9</a:t>
            </a:r>
            <a:endParaRPr lang="en-US" altLang="en-US" sz="1100" dirty="0">
              <a:latin typeface="微软雅黑" panose="020B0503020204020204" charset="-122"/>
              <a:ea typeface="微软雅黑" panose="020B0503020204020204" charset="-122"/>
            </a:endParaRPr>
          </a:p>
        </p:txBody>
      </p:sp>
      <p:sp>
        <p:nvSpPr>
          <p:cNvPr id="1174" name="textbox 1174"/>
          <p:cNvSpPr/>
          <p:nvPr/>
        </p:nvSpPr>
        <p:spPr>
          <a:xfrm>
            <a:off x="7103895" y="1629386"/>
            <a:ext cx="377190" cy="168910"/>
          </a:xfrm>
          <a:prstGeom prst="rect">
            <a:avLst/>
          </a:prstGeom>
        </p:spPr>
        <p:txBody>
          <a:bodyPr vert="horz" wrap="square" lIns="0" tIns="0" rIns="0" bIns="0"/>
          <a:lstStyle/>
          <a:p>
            <a:pPr algn="l" rtl="0" eaLnBrk="0">
              <a:lnSpc>
                <a:spcPct val="87000"/>
              </a:lnSpc>
            </a:pPr>
            <a:endParaRPr lang="en-US" altLang="en-US" sz="100" dirty="0">
              <a:latin typeface="微软雅黑" panose="020B0503020204020204" charset="-122"/>
              <a:ea typeface="微软雅黑" panose="020B0503020204020204" charset="-122"/>
            </a:endParaRPr>
          </a:p>
          <a:p>
            <a:pPr marL="12700" algn="l" rtl="0" eaLnBrk="0">
              <a:lnSpc>
                <a:spcPct val="85000"/>
              </a:lnSpc>
            </a:pPr>
            <a:r>
              <a:rPr sz="1100" spc="20" dirty="0">
                <a:solidFill>
                  <a:srgbClr val="000000">
                    <a:alpha val="100000"/>
                  </a:srgbClr>
                </a:solidFill>
                <a:latin typeface="微软雅黑" panose="020B0503020204020204" charset="-122"/>
                <a:ea typeface="微软雅黑" panose="020B0503020204020204" charset="-122"/>
                <a:cs typeface="Arial" panose="020B0604020202020204"/>
              </a:rPr>
              <a:t>1’0</a:t>
            </a:r>
            <a:r>
              <a:rPr sz="1100" spc="10" dirty="0">
                <a:solidFill>
                  <a:srgbClr val="000000">
                    <a:alpha val="100000"/>
                  </a:srgbClr>
                </a:solidFill>
                <a:latin typeface="微软雅黑" panose="020B0503020204020204" charset="-122"/>
                <a:ea typeface="微软雅黑" panose="020B0503020204020204" charset="-122"/>
                <a:cs typeface="Arial" panose="020B0604020202020204"/>
              </a:rPr>
              <a:t>6</a:t>
            </a:r>
            <a:r>
              <a:rPr sz="1100" spc="0" dirty="0">
                <a:solidFill>
                  <a:srgbClr val="000000">
                    <a:alpha val="100000"/>
                  </a:srgbClr>
                </a:solidFill>
                <a:latin typeface="微软雅黑" panose="020B0503020204020204" charset="-122"/>
                <a:ea typeface="微软雅黑" panose="020B0503020204020204" charset="-122"/>
                <a:cs typeface="Arial" panose="020B0604020202020204"/>
              </a:rPr>
              <a:t>1</a:t>
            </a:r>
            <a:endParaRPr lang="en-US" altLang="en-US" sz="1100" dirty="0">
              <a:latin typeface="微软雅黑" panose="020B0503020204020204" charset="-122"/>
              <a:ea typeface="微软雅黑" panose="020B0503020204020204" charset="-122"/>
            </a:endParaRPr>
          </a:p>
        </p:txBody>
      </p:sp>
      <p:sp>
        <p:nvSpPr>
          <p:cNvPr id="1175" name="textbox 1175"/>
          <p:cNvSpPr/>
          <p:nvPr/>
        </p:nvSpPr>
        <p:spPr>
          <a:xfrm>
            <a:off x="2750820" y="5387340"/>
            <a:ext cx="203200" cy="212090"/>
          </a:xfrm>
          <a:prstGeom prst="rect">
            <a:avLst/>
          </a:prstGeom>
          <a:solidFill>
            <a:srgbClr val="FFFFFF"/>
          </a:solidFill>
        </p:spPr>
        <p:txBody>
          <a:bodyPr vert="horz" wrap="square" lIns="0" tIns="0" rIns="0" bIns="0"/>
          <a:lstStyle/>
          <a:p>
            <a:pPr algn="l" rtl="0" eaLnBrk="0">
              <a:lnSpc>
                <a:spcPct val="128000"/>
              </a:lnSpc>
            </a:pPr>
            <a:endParaRPr lang="en-US" altLang="en-US" sz="200" dirty="0">
              <a:latin typeface="微软雅黑" panose="020B0503020204020204" charset="-122"/>
              <a:ea typeface="微软雅黑" panose="020B0503020204020204" charset="-122"/>
            </a:endParaRPr>
          </a:p>
          <a:p>
            <a:pPr marL="23495" algn="l" rtl="0" eaLnBrk="0">
              <a:lnSpc>
                <a:spcPct val="84000"/>
              </a:lnSpc>
              <a:spcBef>
                <a:spcPts val="0"/>
              </a:spcBef>
            </a:pPr>
            <a:r>
              <a:rPr sz="1100" spc="30" dirty="0">
                <a:solidFill>
                  <a:srgbClr val="000000">
                    <a:alpha val="100000"/>
                  </a:srgbClr>
                </a:solidFill>
                <a:latin typeface="微软雅黑" panose="020B0503020204020204" charset="-122"/>
                <a:ea typeface="微软雅黑" panose="020B0503020204020204" charset="-122"/>
                <a:cs typeface="Arial" panose="020B0604020202020204"/>
              </a:rPr>
              <a:t>6</a:t>
            </a:r>
            <a:r>
              <a:rPr sz="1100" spc="10" dirty="0">
                <a:solidFill>
                  <a:srgbClr val="000000">
                    <a:alpha val="100000"/>
                  </a:srgbClr>
                </a:solidFill>
                <a:latin typeface="微软雅黑" panose="020B0503020204020204" charset="-122"/>
                <a:ea typeface="微软雅黑" panose="020B0503020204020204" charset="-122"/>
                <a:cs typeface="Arial" panose="020B0604020202020204"/>
              </a:rPr>
              <a:t>1</a:t>
            </a:r>
            <a:endParaRPr lang="en-US" altLang="en-US" sz="1100" dirty="0">
              <a:latin typeface="微软雅黑" panose="020B0503020204020204" charset="-122"/>
              <a:ea typeface="微软雅黑" panose="020B0503020204020204" charset="-122"/>
            </a:endParaRPr>
          </a:p>
        </p:txBody>
      </p:sp>
      <p:sp>
        <p:nvSpPr>
          <p:cNvPr id="1176" name="textbox 1176"/>
          <p:cNvSpPr/>
          <p:nvPr/>
        </p:nvSpPr>
        <p:spPr>
          <a:xfrm>
            <a:off x="8049042" y="2979732"/>
            <a:ext cx="274320" cy="166370"/>
          </a:xfrm>
          <a:prstGeom prst="rect">
            <a:avLst/>
          </a:prstGeom>
        </p:spPr>
        <p:txBody>
          <a:bodyPr vert="horz" wrap="square" lIns="0" tIns="0" rIns="0" bIns="0"/>
          <a:lstStyle/>
          <a:p>
            <a:pPr algn="l" rtl="0" eaLnBrk="0">
              <a:lnSpc>
                <a:spcPct val="84000"/>
              </a:lnSpc>
            </a:pPr>
            <a:endParaRPr lang="en-US" altLang="en-US" sz="100" dirty="0">
              <a:latin typeface="微软雅黑" panose="020B0503020204020204" charset="-122"/>
              <a:ea typeface="微软雅黑" panose="020B0503020204020204" charset="-122"/>
            </a:endParaRPr>
          </a:p>
          <a:p>
            <a:pPr marL="12700" algn="l" rtl="0" eaLnBrk="0">
              <a:lnSpc>
                <a:spcPct val="84000"/>
              </a:lnSpc>
            </a:pPr>
            <a:r>
              <a:rPr sz="1100" spc="50" dirty="0">
                <a:solidFill>
                  <a:srgbClr val="000000">
                    <a:alpha val="100000"/>
                  </a:srgbClr>
                </a:solidFill>
                <a:latin typeface="微软雅黑" panose="020B0503020204020204" charset="-122"/>
                <a:ea typeface="微软雅黑" panose="020B0503020204020204" charset="-122"/>
                <a:cs typeface="Arial" panose="020B0604020202020204"/>
              </a:rPr>
              <a:t>46</a:t>
            </a:r>
            <a:r>
              <a:rPr sz="1100" spc="20" dirty="0">
                <a:solidFill>
                  <a:srgbClr val="000000">
                    <a:alpha val="100000"/>
                  </a:srgbClr>
                </a:solidFill>
                <a:latin typeface="微软雅黑" panose="020B0503020204020204" charset="-122"/>
                <a:ea typeface="微软雅黑" panose="020B0503020204020204" charset="-122"/>
                <a:cs typeface="Arial" panose="020B0604020202020204"/>
              </a:rPr>
              <a:t>6</a:t>
            </a:r>
            <a:endParaRPr lang="en-US" altLang="en-US" sz="1100" dirty="0">
              <a:latin typeface="微软雅黑" panose="020B0503020204020204" charset="-122"/>
              <a:ea typeface="微软雅黑" panose="020B0503020204020204" charset="-122"/>
            </a:endParaRPr>
          </a:p>
        </p:txBody>
      </p:sp>
      <p:sp>
        <p:nvSpPr>
          <p:cNvPr id="1177" name="textbox 1177"/>
          <p:cNvSpPr/>
          <p:nvPr/>
        </p:nvSpPr>
        <p:spPr>
          <a:xfrm>
            <a:off x="7041682" y="1901156"/>
            <a:ext cx="270509" cy="167004"/>
          </a:xfrm>
          <a:prstGeom prst="rect">
            <a:avLst/>
          </a:prstGeom>
        </p:spPr>
        <p:txBody>
          <a:bodyPr vert="horz" wrap="square" lIns="0" tIns="0" rIns="0" bIns="0"/>
          <a:lstStyle/>
          <a:p>
            <a:pPr algn="l" rtl="0" eaLnBrk="0">
              <a:lnSpc>
                <a:spcPct val="85000"/>
              </a:lnSpc>
            </a:pPr>
            <a:endParaRPr lang="en-US" altLang="en-US" sz="100" dirty="0">
              <a:latin typeface="微软雅黑" panose="020B0503020204020204" charset="-122"/>
              <a:ea typeface="微软雅黑" panose="020B0503020204020204" charset="-122"/>
            </a:endParaRPr>
          </a:p>
          <a:p>
            <a:pPr marL="12700" algn="l" rtl="0" eaLnBrk="0">
              <a:lnSpc>
                <a:spcPct val="84000"/>
              </a:lnSpc>
            </a:pPr>
            <a:r>
              <a:rPr sz="1100" spc="40" dirty="0">
                <a:solidFill>
                  <a:srgbClr val="000000">
                    <a:alpha val="100000"/>
                  </a:srgbClr>
                </a:solidFill>
                <a:latin typeface="微软雅黑" panose="020B0503020204020204" charset="-122"/>
                <a:ea typeface="微软雅黑" panose="020B0503020204020204" charset="-122"/>
                <a:cs typeface="Arial" panose="020B0604020202020204"/>
              </a:rPr>
              <a:t>81</a:t>
            </a:r>
            <a:r>
              <a:rPr sz="1100" spc="10" dirty="0">
                <a:solidFill>
                  <a:srgbClr val="000000">
                    <a:alpha val="100000"/>
                  </a:srgbClr>
                </a:solidFill>
                <a:latin typeface="微软雅黑" panose="020B0503020204020204" charset="-122"/>
                <a:ea typeface="微软雅黑" panose="020B0503020204020204" charset="-122"/>
                <a:cs typeface="Arial" panose="020B0604020202020204"/>
              </a:rPr>
              <a:t>0</a:t>
            </a:r>
            <a:endParaRPr lang="en-US" altLang="en-US" sz="1100" dirty="0">
              <a:latin typeface="微软雅黑" panose="020B0503020204020204" charset="-122"/>
              <a:ea typeface="微软雅黑" panose="020B0503020204020204" charset="-122"/>
            </a:endParaRPr>
          </a:p>
        </p:txBody>
      </p:sp>
      <p:sp>
        <p:nvSpPr>
          <p:cNvPr id="1178" name="textbox 1178"/>
          <p:cNvSpPr/>
          <p:nvPr/>
        </p:nvSpPr>
        <p:spPr>
          <a:xfrm>
            <a:off x="3657600" y="2942844"/>
            <a:ext cx="120650" cy="240665"/>
          </a:xfrm>
          <a:prstGeom prst="rect">
            <a:avLst/>
          </a:prstGeom>
          <a:solidFill>
            <a:srgbClr val="FFFFFF"/>
          </a:solidFill>
        </p:spPr>
        <p:txBody>
          <a:bodyPr vert="horz" wrap="square" lIns="0" tIns="0" rIns="0" bIns="0"/>
          <a:lstStyle/>
          <a:p>
            <a:pPr algn="l" rtl="0" eaLnBrk="0">
              <a:lnSpc>
                <a:spcPct val="115000"/>
              </a:lnSpc>
            </a:pPr>
            <a:endParaRPr lang="en-US" altLang="en-US" sz="300" dirty="0">
              <a:latin typeface="微软雅黑" panose="020B0503020204020204" charset="-122"/>
              <a:ea typeface="微软雅黑" panose="020B0503020204020204" charset="-122"/>
            </a:endParaRPr>
          </a:p>
          <a:p>
            <a:pPr marL="25400" algn="l" rtl="0" eaLnBrk="0">
              <a:lnSpc>
                <a:spcPct val="84000"/>
              </a:lnSpc>
              <a:spcBef>
                <a:spcPts val="0"/>
              </a:spcBef>
            </a:pPr>
            <a:r>
              <a:rPr sz="1100" spc="0" dirty="0">
                <a:solidFill>
                  <a:srgbClr val="000000">
                    <a:alpha val="100000"/>
                  </a:srgbClr>
                </a:solidFill>
                <a:latin typeface="微软雅黑" panose="020B0503020204020204" charset="-122"/>
                <a:ea typeface="微软雅黑" panose="020B0503020204020204" charset="-122"/>
                <a:cs typeface="Arial" panose="020B0604020202020204"/>
              </a:rPr>
              <a:t>6</a:t>
            </a:r>
            <a:endParaRPr lang="en-US" altLang="en-US" sz="1100" dirty="0">
              <a:latin typeface="微软雅黑" panose="020B0503020204020204" charset="-122"/>
              <a:ea typeface="微软雅黑" panose="020B0503020204020204" charset="-122"/>
            </a:endParaRPr>
          </a:p>
        </p:txBody>
      </p:sp>
      <p:sp>
        <p:nvSpPr>
          <p:cNvPr id="1179" name="textbox 1179"/>
          <p:cNvSpPr/>
          <p:nvPr/>
        </p:nvSpPr>
        <p:spPr>
          <a:xfrm>
            <a:off x="4785359" y="2145792"/>
            <a:ext cx="120650" cy="212090"/>
          </a:xfrm>
          <a:prstGeom prst="rect">
            <a:avLst/>
          </a:prstGeom>
          <a:solidFill>
            <a:srgbClr val="FFFFFF"/>
          </a:solidFill>
        </p:spPr>
        <p:txBody>
          <a:bodyPr vert="horz" wrap="square" lIns="0" tIns="0" rIns="0" bIns="0"/>
          <a:lstStyle/>
          <a:p>
            <a:pPr algn="l" rtl="0" eaLnBrk="0">
              <a:lnSpc>
                <a:spcPct val="131000"/>
              </a:lnSpc>
            </a:pPr>
            <a:endParaRPr lang="en-US" altLang="en-US" sz="200" dirty="0">
              <a:latin typeface="微软雅黑" panose="020B0503020204020204" charset="-122"/>
              <a:ea typeface="微软雅黑" panose="020B0503020204020204" charset="-122"/>
            </a:endParaRPr>
          </a:p>
          <a:p>
            <a:pPr marL="25400" algn="l" rtl="0" eaLnBrk="0">
              <a:lnSpc>
                <a:spcPct val="83000"/>
              </a:lnSpc>
              <a:spcBef>
                <a:spcPts val="0"/>
              </a:spcBef>
            </a:pPr>
            <a:r>
              <a:rPr sz="1100" spc="0" dirty="0">
                <a:solidFill>
                  <a:srgbClr val="000000">
                    <a:alpha val="100000"/>
                  </a:srgbClr>
                </a:solidFill>
                <a:latin typeface="微软雅黑" panose="020B0503020204020204" charset="-122"/>
                <a:ea typeface="微软雅黑" panose="020B0503020204020204" charset="-122"/>
                <a:cs typeface="Arial" panose="020B0604020202020204"/>
              </a:rPr>
              <a:t>5</a:t>
            </a:r>
            <a:endParaRPr lang="en-US" altLang="en-US" sz="1100" dirty="0">
              <a:latin typeface="微软雅黑" panose="020B0503020204020204" charset="-122"/>
              <a:ea typeface="微软雅黑" panose="020B0503020204020204" charset="-122"/>
            </a:endParaRPr>
          </a:p>
        </p:txBody>
      </p:sp>
      <p:sp>
        <p:nvSpPr>
          <p:cNvPr id="1180" name="textbox 1180"/>
          <p:cNvSpPr/>
          <p:nvPr/>
        </p:nvSpPr>
        <p:spPr>
          <a:xfrm>
            <a:off x="4785359" y="1876044"/>
            <a:ext cx="120650" cy="213359"/>
          </a:xfrm>
          <a:prstGeom prst="rect">
            <a:avLst/>
          </a:prstGeom>
          <a:solidFill>
            <a:srgbClr val="FFFFFF"/>
          </a:solidFill>
        </p:spPr>
        <p:txBody>
          <a:bodyPr vert="horz" wrap="square" lIns="0" tIns="0" rIns="0" bIns="0"/>
          <a:lstStyle/>
          <a:p>
            <a:pPr algn="l" rtl="0" eaLnBrk="0">
              <a:lnSpc>
                <a:spcPct val="125000"/>
              </a:lnSpc>
            </a:pPr>
            <a:endParaRPr lang="en-US" altLang="en-US" sz="200" dirty="0">
              <a:latin typeface="微软雅黑" panose="020B0503020204020204" charset="-122"/>
              <a:ea typeface="微软雅黑" panose="020B0503020204020204" charset="-122"/>
            </a:endParaRPr>
          </a:p>
          <a:p>
            <a:pPr marL="20955" algn="l" rtl="0" eaLnBrk="0">
              <a:lnSpc>
                <a:spcPct val="84000"/>
              </a:lnSpc>
            </a:pPr>
            <a:r>
              <a:rPr sz="1100" spc="20" dirty="0">
                <a:solidFill>
                  <a:srgbClr val="000000">
                    <a:alpha val="100000"/>
                  </a:srgbClr>
                </a:solidFill>
                <a:latin typeface="微软雅黑" panose="020B0503020204020204" charset="-122"/>
                <a:ea typeface="微软雅黑" panose="020B0503020204020204" charset="-122"/>
                <a:cs typeface="Arial" panose="020B0604020202020204"/>
              </a:rPr>
              <a:t>4</a:t>
            </a:r>
            <a:endParaRPr lang="en-US" altLang="en-US" sz="1100" dirty="0">
              <a:latin typeface="微软雅黑" panose="020B0503020204020204" charset="-122"/>
              <a:ea typeface="微软雅黑" panose="020B0503020204020204" charset="-122"/>
            </a:endParaRPr>
          </a:p>
        </p:txBody>
      </p:sp>
      <p:sp>
        <p:nvSpPr>
          <p:cNvPr id="1181" name="textbox 1181"/>
          <p:cNvSpPr/>
          <p:nvPr/>
        </p:nvSpPr>
        <p:spPr>
          <a:xfrm>
            <a:off x="8818435" y="4032021"/>
            <a:ext cx="114935" cy="262890"/>
          </a:xfrm>
          <a:prstGeom prst="rect">
            <a:avLst/>
          </a:prstGeom>
        </p:spPr>
        <p:txBody>
          <a:bodyPr vert="eaVert" wrap="square" lIns="0" tIns="0" rIns="0" bIns="0"/>
          <a:lstStyle/>
          <a:p>
            <a:pPr algn="l" rtl="0" eaLnBrk="0">
              <a:lnSpc>
                <a:spcPct val="85000"/>
              </a:lnSpc>
            </a:pPr>
            <a:endParaRPr lang="en-US" altLang="en-US" sz="100" dirty="0"/>
          </a:p>
          <a:p>
            <a:pPr marL="12700" algn="l" rtl="0" eaLnBrk="0">
              <a:lnSpc>
                <a:spcPct val="79000"/>
              </a:lnSpc>
            </a:pPr>
            <a:endParaRPr sz="600" spc="-10" dirty="0">
              <a:solidFill>
                <a:srgbClr val="808080">
                  <a:alpha val="100000"/>
                </a:srgbClr>
              </a:solidFill>
              <a:latin typeface="Arial" panose="020B0604020202020204"/>
              <a:ea typeface="Arial" panose="020B0604020202020204"/>
              <a:cs typeface="Arial" panose="020B0604020202020204"/>
            </a:endParaRPr>
          </a:p>
        </p:txBody>
      </p:sp>
      <p:sp>
        <p:nvSpPr>
          <p:cNvPr id="1182" name="path"/>
          <p:cNvSpPr/>
          <p:nvPr/>
        </p:nvSpPr>
        <p:spPr>
          <a:xfrm>
            <a:off x="2970276" y="4762500"/>
            <a:ext cx="3047" cy="76200"/>
          </a:xfrm>
          <a:custGeom>
            <a:avLst/>
            <a:gdLst/>
            <a:ahLst/>
            <a:cxnLst/>
            <a:rect l="0" t="0" r="0" b="0"/>
            <a:pathLst>
              <a:path w="4" h="120">
                <a:moveTo>
                  <a:pt x="2" y="0"/>
                </a:moveTo>
                <a:lnTo>
                  <a:pt x="2" y="120"/>
                </a:lnTo>
              </a:path>
            </a:pathLst>
          </a:custGeom>
          <a:noFill/>
          <a:ln w="3048" cap="flat">
            <a:solidFill>
              <a:srgbClr val="808080">
                <a:alpha val="100000"/>
              </a:srgbClr>
            </a:solidFill>
            <a:prstDash val="dash"/>
            <a:round/>
          </a:ln>
        </p:spPr>
        <p:txBody>
          <a:bodyPr rtlCol="0"/>
          <a:lstStyle/>
          <a:p>
            <a:pPr algn="ctr"/>
            <a:endParaRPr lang="zh-CN" altLang="en-US"/>
          </a:p>
        </p:txBody>
      </p:sp>
      <p:sp>
        <p:nvSpPr>
          <p:cNvPr id="1183" name="path"/>
          <p:cNvSpPr/>
          <p:nvPr/>
        </p:nvSpPr>
        <p:spPr>
          <a:xfrm>
            <a:off x="2983992" y="4495800"/>
            <a:ext cx="3047" cy="76200"/>
          </a:xfrm>
          <a:custGeom>
            <a:avLst/>
            <a:gdLst/>
            <a:ahLst/>
            <a:cxnLst/>
            <a:rect l="0" t="0" r="0" b="0"/>
            <a:pathLst>
              <a:path w="4" h="120">
                <a:moveTo>
                  <a:pt x="2" y="0"/>
                </a:moveTo>
                <a:lnTo>
                  <a:pt x="2" y="120"/>
                </a:lnTo>
              </a:path>
            </a:pathLst>
          </a:custGeom>
          <a:noFill/>
          <a:ln w="3048" cap="flat">
            <a:solidFill>
              <a:srgbClr val="808080">
                <a:alpha val="100000"/>
              </a:srgbClr>
            </a:solidFill>
            <a:prstDash val="dash"/>
            <a:round/>
          </a:ln>
        </p:spPr>
        <p:txBody>
          <a:bodyPr rtlCol="0"/>
          <a:lstStyle/>
          <a:p>
            <a:pPr algn="ctr"/>
            <a:endParaRPr lang="zh-CN" altLang="en-US"/>
          </a:p>
        </p:txBody>
      </p:sp>
      <p:sp>
        <p:nvSpPr>
          <p:cNvPr id="1184" name="path"/>
          <p:cNvSpPr/>
          <p:nvPr/>
        </p:nvSpPr>
        <p:spPr>
          <a:xfrm>
            <a:off x="3631691" y="3954780"/>
            <a:ext cx="3047" cy="76200"/>
          </a:xfrm>
          <a:custGeom>
            <a:avLst/>
            <a:gdLst/>
            <a:ahLst/>
            <a:cxnLst/>
            <a:rect l="0" t="0" r="0" b="0"/>
            <a:pathLst>
              <a:path w="4" h="120">
                <a:moveTo>
                  <a:pt x="2" y="0"/>
                </a:moveTo>
                <a:lnTo>
                  <a:pt x="2" y="120"/>
                </a:lnTo>
              </a:path>
            </a:pathLst>
          </a:custGeom>
          <a:noFill/>
          <a:ln w="3048" cap="flat">
            <a:solidFill>
              <a:srgbClr val="808080">
                <a:alpha val="100000"/>
              </a:srgbClr>
            </a:solidFill>
            <a:prstDash val="dash"/>
            <a:round/>
          </a:ln>
        </p:spPr>
        <p:txBody>
          <a:bodyPr rtlCol="0"/>
          <a:lstStyle/>
          <a:p>
            <a:pPr algn="ctr"/>
            <a:endParaRPr lang="zh-CN" altLang="en-US"/>
          </a:p>
        </p:txBody>
      </p:sp>
      <p:sp>
        <p:nvSpPr>
          <p:cNvPr id="1185" name="path"/>
          <p:cNvSpPr/>
          <p:nvPr/>
        </p:nvSpPr>
        <p:spPr>
          <a:xfrm>
            <a:off x="3717035" y="3688080"/>
            <a:ext cx="3047" cy="76200"/>
          </a:xfrm>
          <a:custGeom>
            <a:avLst/>
            <a:gdLst/>
            <a:ahLst/>
            <a:cxnLst/>
            <a:rect l="0" t="0" r="0" b="0"/>
            <a:pathLst>
              <a:path w="4" h="120">
                <a:moveTo>
                  <a:pt x="2" y="0"/>
                </a:moveTo>
                <a:lnTo>
                  <a:pt x="2" y="120"/>
                </a:lnTo>
              </a:path>
            </a:pathLst>
          </a:custGeom>
          <a:noFill/>
          <a:ln w="3048" cap="flat">
            <a:solidFill>
              <a:srgbClr val="808080">
                <a:alpha val="100000"/>
              </a:srgbClr>
            </a:solidFill>
            <a:prstDash val="dash"/>
            <a:round/>
          </a:ln>
        </p:spPr>
        <p:txBody>
          <a:bodyPr rtlCol="0"/>
          <a:lstStyle/>
          <a:p>
            <a:pPr algn="ctr"/>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6" name="picture 1186"/>
          <p:cNvPicPr>
            <a:picLocks noChangeAspect="1"/>
          </p:cNvPicPr>
          <p:nvPr/>
        </p:nvPicPr>
        <p:blipFill>
          <a:blip r:embed="rId1"/>
          <a:stretch>
            <a:fillRect/>
          </a:stretch>
        </p:blipFill>
        <p:spPr>
          <a:xfrm rot="21600000">
            <a:off x="568452" y="1602486"/>
            <a:ext cx="6141719" cy="1491233"/>
          </a:xfrm>
          <a:prstGeom prst="rect">
            <a:avLst/>
          </a:prstGeom>
        </p:spPr>
      </p:pic>
      <p:sp>
        <p:nvSpPr>
          <p:cNvPr id="1187" name="rect"/>
          <p:cNvSpPr/>
          <p:nvPr/>
        </p:nvSpPr>
        <p:spPr>
          <a:xfrm>
            <a:off x="2840736" y="1007364"/>
            <a:ext cx="1680972" cy="440435"/>
          </a:xfrm>
          <a:prstGeom prst="rect">
            <a:avLst/>
          </a:prstGeom>
          <a:solidFill>
            <a:srgbClr val="00ADEF">
              <a:alpha val="100000"/>
            </a:srgbClr>
          </a:solidFill>
          <a:ln cap="flat">
            <a:noFill/>
            <a:prstDash val="solid"/>
            <a:miter lim="0"/>
          </a:ln>
        </p:spPr>
        <p:txBody>
          <a:bodyPr rtlCol="0"/>
          <a:lstStyle/>
          <a:p>
            <a:pPr algn="ctr"/>
            <a:endParaRPr lang="zh-CN" altLang="en-US"/>
          </a:p>
        </p:txBody>
      </p:sp>
      <p:grpSp>
        <p:nvGrpSpPr>
          <p:cNvPr id="208" name="group 208"/>
          <p:cNvGrpSpPr/>
          <p:nvPr/>
        </p:nvGrpSpPr>
        <p:grpSpPr>
          <a:xfrm rot="21600000">
            <a:off x="7072121" y="1834134"/>
            <a:ext cx="1732788" cy="3130295"/>
            <a:chOff x="0" y="0"/>
            <a:chExt cx="1732788" cy="3130295"/>
          </a:xfrm>
        </p:grpSpPr>
        <p:sp>
          <p:nvSpPr>
            <p:cNvPr id="1188" name="path"/>
            <p:cNvSpPr/>
            <p:nvPr/>
          </p:nvSpPr>
          <p:spPr>
            <a:xfrm>
              <a:off x="0" y="0"/>
              <a:ext cx="1732788" cy="3130295"/>
            </a:xfrm>
            <a:custGeom>
              <a:avLst/>
              <a:gdLst/>
              <a:ahLst/>
              <a:cxnLst/>
              <a:rect l="0" t="0" r="0" b="0"/>
              <a:pathLst>
                <a:path w="2728" h="4929">
                  <a:moveTo>
                    <a:pt x="0" y="4929"/>
                  </a:moveTo>
                  <a:lnTo>
                    <a:pt x="2728" y="4929"/>
                  </a:lnTo>
                  <a:lnTo>
                    <a:pt x="2728" y="0"/>
                  </a:lnTo>
                  <a:lnTo>
                    <a:pt x="0" y="0"/>
                  </a:lnTo>
                  <a:lnTo>
                    <a:pt x="0" y="4929"/>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1189" name="path"/>
            <p:cNvSpPr/>
            <p:nvPr/>
          </p:nvSpPr>
          <p:spPr>
            <a:xfrm>
              <a:off x="0" y="0"/>
              <a:ext cx="1732788" cy="844296"/>
            </a:xfrm>
            <a:custGeom>
              <a:avLst/>
              <a:gdLst/>
              <a:ahLst/>
              <a:cxnLst/>
              <a:rect l="0" t="0" r="0" b="0"/>
              <a:pathLst>
                <a:path w="2728" h="1329">
                  <a:moveTo>
                    <a:pt x="0" y="1329"/>
                  </a:moveTo>
                  <a:lnTo>
                    <a:pt x="2728" y="1329"/>
                  </a:lnTo>
                  <a:lnTo>
                    <a:pt x="2728" y="0"/>
                  </a:lnTo>
                  <a:lnTo>
                    <a:pt x="0" y="0"/>
                  </a:lnTo>
                  <a:lnTo>
                    <a:pt x="0" y="1329"/>
                  </a:lnTo>
                  <a:close/>
                </a:path>
              </a:pathLst>
            </a:custGeom>
            <a:solidFill>
              <a:srgbClr val="002960">
                <a:alpha val="100000"/>
              </a:srgbClr>
            </a:solidFill>
            <a:ln cap="flat">
              <a:noFill/>
              <a:prstDash val="solid"/>
              <a:miter lim="0"/>
            </a:ln>
          </p:spPr>
          <p:txBody>
            <a:bodyPr rtlCol="0"/>
            <a:lstStyle/>
            <a:p>
              <a:pPr algn="ctr"/>
              <a:endParaRPr lang="zh-CN" altLang="en-US"/>
            </a:p>
          </p:txBody>
        </p:sp>
      </p:grpSp>
      <p:sp>
        <p:nvSpPr>
          <p:cNvPr id="1190" name="path"/>
          <p:cNvSpPr/>
          <p:nvPr/>
        </p:nvSpPr>
        <p:spPr>
          <a:xfrm>
            <a:off x="8795003" y="1834134"/>
            <a:ext cx="19812" cy="3130295"/>
          </a:xfrm>
          <a:custGeom>
            <a:avLst/>
            <a:gdLst/>
            <a:ahLst/>
            <a:cxnLst/>
            <a:rect l="0" t="0" r="0" b="0"/>
            <a:pathLst>
              <a:path w="31" h="4929">
                <a:moveTo>
                  <a:pt x="15" y="4929"/>
                </a:moveTo>
                <a:lnTo>
                  <a:pt x="15" y="0"/>
                </a:lnTo>
                <a:moveTo>
                  <a:pt x="15" y="1329"/>
                </a:moveTo>
                <a:lnTo>
                  <a:pt x="15" y="0"/>
                </a:lnTo>
              </a:path>
            </a:pathLst>
          </a:custGeom>
          <a:noFill/>
          <a:ln w="19811" cap="flat">
            <a:solidFill>
              <a:srgbClr val="002960">
                <a:alpha val="100000"/>
              </a:srgbClr>
            </a:solidFill>
            <a:prstDash val="solid"/>
            <a:round/>
          </a:ln>
        </p:spPr>
        <p:txBody>
          <a:bodyPr rtlCol="0"/>
          <a:lstStyle/>
          <a:p>
            <a:pPr algn="ctr"/>
            <a:endParaRPr lang="zh-CN" altLang="en-US"/>
          </a:p>
        </p:txBody>
      </p:sp>
      <p:pic>
        <p:nvPicPr>
          <p:cNvPr id="1191" name="picture 1191"/>
          <p:cNvPicPr>
            <a:picLocks noChangeAspect="1"/>
          </p:cNvPicPr>
          <p:nvPr/>
        </p:nvPicPr>
        <p:blipFill>
          <a:blip r:embed="rId2"/>
          <a:stretch>
            <a:fillRect/>
          </a:stretch>
        </p:blipFill>
        <p:spPr>
          <a:xfrm rot="21600000">
            <a:off x="67055" y="932688"/>
            <a:ext cx="8737853" cy="5486400"/>
          </a:xfrm>
          <a:prstGeom prst="rect">
            <a:avLst/>
          </a:prstGeom>
        </p:spPr>
      </p:pic>
      <p:sp>
        <p:nvSpPr>
          <p:cNvPr id="1192" name="textbox 1192"/>
          <p:cNvSpPr/>
          <p:nvPr/>
        </p:nvSpPr>
        <p:spPr>
          <a:xfrm>
            <a:off x="572125" y="2775707"/>
            <a:ext cx="5730875" cy="1057910"/>
          </a:xfrm>
          <a:prstGeom prst="rect">
            <a:avLst/>
          </a:prstGeom>
        </p:spPr>
        <p:txBody>
          <a:bodyPr vert="horz" wrap="square" lIns="0" tIns="0" rIns="0" bIns="0"/>
          <a:lstStyle/>
          <a:p>
            <a:pPr algn="l" rtl="0" eaLnBrk="0">
              <a:lnSpc>
                <a:spcPct val="84000"/>
              </a:lnSpc>
            </a:pPr>
            <a:endParaRPr lang="en-US" altLang="en-US" sz="100" dirty="0">
              <a:latin typeface="微软雅黑" panose="020B0503020204020204" charset="-122"/>
              <a:ea typeface="微软雅黑" panose="020B0503020204020204" charset="-122"/>
            </a:endParaRPr>
          </a:p>
          <a:p>
            <a:pPr algn="r" rtl="0" eaLnBrk="0">
              <a:lnSpc>
                <a:spcPct val="97000"/>
              </a:lnSpc>
            </a:pPr>
            <a:r>
              <a:rPr sz="1400" spc="-20" dirty="0">
                <a:ln w="5094"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工</a:t>
            </a:r>
            <a:r>
              <a:rPr sz="1400" spc="-10" dirty="0">
                <a:ln w="5094"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厂</a:t>
            </a:r>
            <a:endParaRPr lang="en-US" altLang="en-US" sz="1400" dirty="0">
              <a:latin typeface="微软雅黑" panose="020B0503020204020204" charset="-122"/>
              <a:ea typeface="微软雅黑" panose="020B0503020204020204" charset="-122"/>
            </a:endParaRPr>
          </a:p>
          <a:p>
            <a:pPr marL="12700" algn="l" rtl="0" eaLnBrk="0">
              <a:lnSpc>
                <a:spcPct val="79000"/>
              </a:lnSpc>
              <a:spcBef>
                <a:spcPts val="1520"/>
              </a:spcBef>
            </a:pPr>
            <a:r>
              <a:rPr sz="1700" spc="-1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全球几十家工厂使</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用添加剂，对添加剂采购有一定影响力</a:t>
            </a:r>
            <a:endParaRPr lang="en-US" altLang="en-US" sz="1400" dirty="0">
              <a:latin typeface="微软雅黑" panose="020B0503020204020204" charset="-122"/>
              <a:ea typeface="微软雅黑" panose="020B0503020204020204" charset="-122"/>
            </a:endParaRPr>
          </a:p>
          <a:p>
            <a:pPr marL="196850" algn="l" rtl="0" eaLnBrk="0">
              <a:lnSpc>
                <a:spcPct val="84000"/>
              </a:lnSpc>
              <a:spcBef>
                <a:spcPts val="65"/>
              </a:spcBef>
            </a:pPr>
            <a:r>
              <a:rPr sz="1600" spc="2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各厂生产计划员根据计划向执</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行采购员提出需求</a:t>
            </a:r>
            <a:endParaRPr lang="en-US" altLang="en-US" sz="1400" dirty="0">
              <a:latin typeface="微软雅黑" panose="020B0503020204020204" charset="-122"/>
              <a:ea typeface="微软雅黑" panose="020B0503020204020204" charset="-122"/>
            </a:endParaRPr>
          </a:p>
          <a:p>
            <a:pPr marL="196850" algn="l" rtl="0" eaLnBrk="0">
              <a:lnSpc>
                <a:spcPct val="84000"/>
              </a:lnSpc>
              <a:spcBef>
                <a:spcPts val="75"/>
              </a:spcBef>
            </a:pPr>
            <a:r>
              <a:rPr sz="1600" spc="2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之后各厂执行采购员根据工厂</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的需求向全球采购者提出采购计划</a:t>
            </a:r>
            <a:endParaRPr lang="en-US" altLang="en-US" sz="1400" dirty="0">
              <a:latin typeface="微软雅黑" panose="020B0503020204020204" charset="-122"/>
              <a:ea typeface="微软雅黑" panose="020B0503020204020204" charset="-122"/>
            </a:endParaRPr>
          </a:p>
        </p:txBody>
      </p:sp>
      <p:sp>
        <p:nvSpPr>
          <p:cNvPr id="1193" name="textbox 1193"/>
          <p:cNvSpPr/>
          <p:nvPr/>
        </p:nvSpPr>
        <p:spPr>
          <a:xfrm>
            <a:off x="138430" y="260985"/>
            <a:ext cx="6995795" cy="598170"/>
          </a:xfrm>
          <a:prstGeom prst="rect">
            <a:avLst/>
          </a:prstGeom>
        </p:spPr>
        <p:txBody>
          <a:bodyPr vert="horz" wrap="square" lIns="0" tIns="0" rIns="0" bIns="0"/>
          <a:lstStyle/>
          <a:p>
            <a:pPr algn="l" rtl="0" eaLnBrk="0">
              <a:lnSpc>
                <a:spcPct val="79000"/>
              </a:lnSpc>
            </a:pPr>
            <a:endParaRPr lang="en-US" altLang="en-US" sz="100" dirty="0">
              <a:latin typeface="微软雅黑" panose="020B0503020204020204" charset="-122"/>
              <a:ea typeface="微软雅黑" panose="020B0503020204020204" charset="-122"/>
            </a:endParaRPr>
          </a:p>
          <a:p>
            <a:pPr marL="359410" indent="-346710" algn="l" rtl="0" eaLnBrk="0">
              <a:lnSpc>
                <a:spcPct val="94000"/>
              </a:lnSpc>
            </a:pPr>
            <a:r>
              <a:rPr sz="2600" b="1" spc="-50" baseline="10000" dirty="0">
                <a:solidFill>
                  <a:srgbClr val="D9D9D9">
                    <a:alpha val="100000"/>
                  </a:srgbClr>
                </a:solidFill>
                <a:latin typeface="微软雅黑" panose="020B0503020204020204" charset="-122"/>
                <a:ea typeface="微软雅黑" panose="020B0503020204020204" charset="-122"/>
                <a:cs typeface="Arial" panose="020B0604020202020204"/>
              </a:rPr>
              <a:t>2</a:t>
            </a:r>
            <a:r>
              <a:rPr sz="2600" b="1" spc="0" baseline="10000" dirty="0">
                <a:solidFill>
                  <a:srgbClr val="D9D9D9">
                    <a:alpha val="100000"/>
                  </a:srgbClr>
                </a:solidFill>
                <a:latin typeface="微软雅黑" panose="020B0503020204020204" charset="-122"/>
                <a:ea typeface="微软雅黑" panose="020B0503020204020204" charset="-122"/>
                <a:cs typeface="Arial" panose="020B0604020202020204"/>
              </a:rPr>
              <a:t>c</a:t>
            </a:r>
            <a:r>
              <a:rPr sz="1600" spc="-50" dirty="0">
                <a:solidFill>
                  <a:srgbClr val="D9D9D9">
                    <a:alpha val="100000"/>
                  </a:srgbClr>
                </a:solidFill>
                <a:latin typeface="微软雅黑" panose="020B0503020204020204" charset="-122"/>
                <a:ea typeface="微软雅黑" panose="020B0503020204020204" charset="-122"/>
                <a:cs typeface="Arial" panose="020B0604020202020204"/>
              </a:rPr>
              <a:t> </a:t>
            </a:r>
            <a:r>
              <a:rPr sz="1600" spc="-50" dirty="0">
                <a:solidFill>
                  <a:srgbClr val="002960">
                    <a:alpha val="100000"/>
                  </a:srgbClr>
                </a:solidFill>
                <a:latin typeface="微软雅黑" panose="020B0503020204020204" charset="-122"/>
                <a:ea typeface="微软雅黑" panose="020B0503020204020204" charset="-122"/>
                <a:cs typeface="楷体" panose="02010609060101010101" charset="-122"/>
              </a:rPr>
              <a:t>我们与对方关键决策者的关系匹配， 在采购人员之外， 还要打通其他职</a:t>
            </a:r>
            <a:r>
              <a:rPr sz="1600" spc="-40" dirty="0">
                <a:solidFill>
                  <a:srgbClr val="002960">
                    <a:alpha val="100000"/>
                  </a:srgbClr>
                </a:solidFill>
                <a:latin typeface="微软雅黑" panose="020B0503020204020204" charset="-122"/>
                <a:ea typeface="微软雅黑" panose="020B0503020204020204" charset="-122"/>
                <a:cs typeface="楷体" panose="02010609060101010101" charset="-122"/>
              </a:rPr>
              <a:t>能</a:t>
            </a:r>
            <a:r>
              <a:rPr sz="1600" spc="0" dirty="0">
                <a:solidFill>
                  <a:srgbClr val="002960">
                    <a:alpha val="100000"/>
                  </a:srgbClr>
                </a:solidFill>
                <a:latin typeface="微软雅黑" panose="020B0503020204020204" charset="-122"/>
                <a:ea typeface="微软雅黑" panose="020B0503020204020204" charset="-122"/>
                <a:cs typeface="楷体" panose="02010609060101010101" charset="-122"/>
              </a:rPr>
              <a:t> </a:t>
            </a:r>
            <a:r>
              <a:rPr sz="1600" spc="-30" dirty="0">
                <a:solidFill>
                  <a:srgbClr val="002960">
                    <a:alpha val="100000"/>
                  </a:srgbClr>
                </a:solidFill>
                <a:latin typeface="微软雅黑" panose="020B0503020204020204" charset="-122"/>
                <a:ea typeface="微软雅黑" panose="020B0503020204020204" charset="-122"/>
                <a:cs typeface="楷体" panose="02010609060101010101" charset="-122"/>
              </a:rPr>
              <a:t>的关系对接，以及我们公司高管与对方高管</a:t>
            </a:r>
            <a:r>
              <a:rPr sz="1600" spc="-20" dirty="0">
                <a:solidFill>
                  <a:srgbClr val="002960">
                    <a:alpha val="100000"/>
                  </a:srgbClr>
                </a:solidFill>
                <a:latin typeface="微软雅黑" panose="020B0503020204020204" charset="-122"/>
                <a:ea typeface="微软雅黑" panose="020B0503020204020204" charset="-122"/>
                <a:cs typeface="楷体" panose="02010609060101010101" charset="-122"/>
              </a:rPr>
              <a:t>的</a:t>
            </a:r>
            <a:r>
              <a:rPr sz="1600" spc="0" dirty="0">
                <a:solidFill>
                  <a:srgbClr val="002960">
                    <a:alpha val="100000"/>
                  </a:srgbClr>
                </a:solidFill>
                <a:latin typeface="微软雅黑" panose="020B0503020204020204" charset="-122"/>
                <a:ea typeface="微软雅黑" panose="020B0503020204020204" charset="-122"/>
                <a:cs typeface="楷体" panose="02010609060101010101" charset="-122"/>
              </a:rPr>
              <a:t>定期拜访 </a:t>
            </a:r>
            <a:r>
              <a:rPr sz="1600" spc="0" dirty="0">
                <a:solidFill>
                  <a:srgbClr val="002960">
                    <a:alpha val="100000"/>
                  </a:srgbClr>
                </a:solidFill>
                <a:latin typeface="微软雅黑" panose="020B0503020204020204" charset="-122"/>
                <a:ea typeface="微软雅黑" panose="020B0503020204020204" charset="-122"/>
                <a:cs typeface="Arial" panose="020B0604020202020204"/>
              </a:rPr>
              <a:t>– </a:t>
            </a:r>
            <a:r>
              <a:rPr sz="1600" spc="0" dirty="0">
                <a:solidFill>
                  <a:srgbClr val="002960">
                    <a:alpha val="100000"/>
                  </a:srgbClr>
                </a:solidFill>
                <a:latin typeface="微软雅黑" panose="020B0503020204020204" charset="-122"/>
                <a:ea typeface="微软雅黑" panose="020B0503020204020204" charset="-122"/>
                <a:cs typeface="楷体" panose="02010609060101010101" charset="-122"/>
              </a:rPr>
              <a:t>示例</a:t>
            </a:r>
            <a:endParaRPr lang="en-US" altLang="en-US" sz="1600" spc="0" dirty="0">
              <a:solidFill>
                <a:srgbClr val="002960">
                  <a:alpha val="100000"/>
                </a:srgbClr>
              </a:solidFill>
              <a:latin typeface="微软雅黑" panose="020B0503020204020204" charset="-122"/>
              <a:ea typeface="微软雅黑" panose="020B0503020204020204" charset="-122"/>
              <a:cs typeface="楷体" panose="02010609060101010101" charset="-122"/>
            </a:endParaRPr>
          </a:p>
        </p:txBody>
      </p:sp>
      <p:sp>
        <p:nvSpPr>
          <p:cNvPr id="1194" name="textbox 1194"/>
          <p:cNvSpPr/>
          <p:nvPr/>
        </p:nvSpPr>
        <p:spPr>
          <a:xfrm>
            <a:off x="7133701" y="1952747"/>
            <a:ext cx="1501139" cy="2850514"/>
          </a:xfrm>
          <a:prstGeom prst="rect">
            <a:avLst/>
          </a:prstGeom>
        </p:spPr>
        <p:txBody>
          <a:bodyPr vert="horz" wrap="square" lIns="0" tIns="0" rIns="0" bIns="0"/>
          <a:lstStyle/>
          <a:p>
            <a:pPr algn="l" rtl="0" eaLnBrk="0">
              <a:lnSpc>
                <a:spcPct val="66000"/>
              </a:lnSpc>
            </a:pPr>
            <a:endParaRPr lang="en-US" altLang="en-US" sz="100" dirty="0">
              <a:latin typeface="微软雅黑" panose="020B0503020204020204" charset="-122"/>
              <a:ea typeface="微软雅黑" panose="020B0503020204020204" charset="-122"/>
            </a:endParaRPr>
          </a:p>
          <a:p>
            <a:pPr marL="12700" indent="14605" algn="l" rtl="0" eaLnBrk="0">
              <a:lnSpc>
                <a:spcPct val="97000"/>
              </a:lnSpc>
            </a:pPr>
            <a:r>
              <a:rPr sz="1400" spc="-20" dirty="0">
                <a:ln w="5094"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关键问题：如</a:t>
            </a:r>
            <a:r>
              <a:rPr sz="1400" spc="-10" dirty="0">
                <a:ln w="5094"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何</a:t>
            </a:r>
            <a:r>
              <a:rPr sz="1400" spc="0" dirty="0">
                <a:ln w="5094"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与</a:t>
            </a:r>
            <a:r>
              <a:rPr sz="1400" spc="0" dirty="0">
                <a:solidFill>
                  <a:srgbClr val="FFFFFF">
                    <a:alpha val="100000"/>
                  </a:srgbClr>
                </a:solidFill>
                <a:latin typeface="微软雅黑" panose="020B0503020204020204" charset="-122"/>
                <a:ea typeface="微软雅黑" panose="020B0503020204020204" charset="-122"/>
                <a:cs typeface="楷体" panose="02010609060101010101" charset="-122"/>
              </a:rPr>
              <a:t> </a:t>
            </a:r>
            <a:r>
              <a:rPr sz="1400" spc="-10" dirty="0">
                <a:ln w="5103"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雀</a:t>
            </a:r>
            <a:r>
              <a:rPr sz="1400" spc="0" dirty="0">
                <a:ln w="5103"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巢建立更紧密的</a:t>
            </a:r>
            <a:r>
              <a:rPr sz="1400" spc="0" dirty="0">
                <a:solidFill>
                  <a:srgbClr val="FFFFFF">
                    <a:alpha val="100000"/>
                  </a:srgbClr>
                </a:solidFill>
                <a:latin typeface="微软雅黑" panose="020B0503020204020204" charset="-122"/>
                <a:ea typeface="微软雅黑" panose="020B0503020204020204" charset="-122"/>
                <a:cs typeface="楷体" panose="02010609060101010101" charset="-122"/>
              </a:rPr>
              <a:t> </a:t>
            </a:r>
            <a:r>
              <a:rPr sz="1400" spc="-10" dirty="0">
                <a:ln w="5094"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客</a:t>
            </a:r>
            <a:r>
              <a:rPr sz="1400" spc="0" dirty="0">
                <a:ln w="5094"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户关系？</a:t>
            </a:r>
            <a:endParaRPr lang="en-US" altLang="en-US" sz="1400" dirty="0">
              <a:latin typeface="微软雅黑" panose="020B0503020204020204" charset="-122"/>
              <a:ea typeface="微软雅黑" panose="020B0503020204020204" charset="-122"/>
            </a:endParaRPr>
          </a:p>
          <a:p>
            <a:pPr algn="l" rtl="0" eaLnBrk="0">
              <a:lnSpc>
                <a:spcPct val="107000"/>
              </a:lnSpc>
            </a:pPr>
            <a:endParaRPr lang="en-US" altLang="en-US" sz="1000" dirty="0">
              <a:latin typeface="微软雅黑" panose="020B0503020204020204" charset="-122"/>
              <a:ea typeface="微软雅黑" panose="020B0503020204020204" charset="-122"/>
            </a:endParaRPr>
          </a:p>
          <a:p>
            <a:pPr algn="l" rtl="0" eaLnBrk="0">
              <a:lnSpc>
                <a:spcPct val="108000"/>
              </a:lnSpc>
            </a:pPr>
            <a:endParaRPr lang="en-US" altLang="en-US" sz="1000" dirty="0">
              <a:latin typeface="微软雅黑" panose="020B0503020204020204" charset="-122"/>
              <a:ea typeface="微软雅黑" panose="020B0503020204020204" charset="-122"/>
            </a:endParaRPr>
          </a:p>
          <a:p>
            <a:pPr marL="62865" algn="l" rtl="0" eaLnBrk="0">
              <a:lnSpc>
                <a:spcPts val="1105"/>
              </a:lnSpc>
              <a:spcBef>
                <a:spcPts val="215"/>
              </a:spcBef>
            </a:pPr>
            <a:r>
              <a:rPr sz="700" spc="250" dirty="0">
                <a:solidFill>
                  <a:srgbClr val="002960">
                    <a:alpha val="100000"/>
                  </a:srgbClr>
                </a:solidFill>
                <a:latin typeface="微软雅黑" panose="020B0503020204020204" charset="-122"/>
                <a:ea typeface="微软雅黑" panose="020B0503020204020204" charset="-122"/>
                <a:cs typeface="Arial" panose="020B0604020202020204"/>
              </a:rPr>
              <a:t>▪</a:t>
            </a:r>
            <a:endParaRPr lang="en-US" altLang="en-US" sz="700" dirty="0">
              <a:latin typeface="微软雅黑" panose="020B0503020204020204" charset="-122"/>
              <a:ea typeface="微软雅黑" panose="020B0503020204020204" charset="-122"/>
            </a:endParaRPr>
          </a:p>
          <a:p>
            <a:pPr marL="249555" indent="-6350" algn="l" rtl="0" eaLnBrk="0">
              <a:lnSpc>
                <a:spcPct val="99000"/>
              </a:lnSpc>
              <a:spcBef>
                <a:spcPts val="165"/>
              </a:spcBef>
            </a:pP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键决策者和影响 </a:t>
            </a:r>
            <a:r>
              <a:rPr sz="1300" spc="-90" dirty="0">
                <a:solidFill>
                  <a:srgbClr val="000000">
                    <a:alpha val="100000"/>
                  </a:srgbClr>
                </a:solidFill>
                <a:latin typeface="微软雅黑" panose="020B0503020204020204" charset="-122"/>
                <a:ea typeface="微软雅黑" panose="020B0503020204020204" charset="-122"/>
                <a:cs typeface="楷体" panose="02010609060101010101" charset="-122"/>
              </a:rPr>
              <a:t>者</a:t>
            </a:r>
            <a:r>
              <a:rPr sz="1300" spc="-80" dirty="0">
                <a:solidFill>
                  <a:srgbClr val="000000">
                    <a:alpha val="100000"/>
                  </a:srgbClr>
                </a:solidFill>
                <a:latin typeface="微软雅黑" panose="020B0503020204020204" charset="-122"/>
                <a:ea typeface="微软雅黑" panose="020B0503020204020204" charset="-122"/>
                <a:cs typeface="楷体" panose="02010609060101010101" charset="-122"/>
              </a:rPr>
              <a:t>？</a:t>
            </a:r>
            <a:endParaRPr lang="en-US" altLang="en-US" sz="1300" dirty="0">
              <a:latin typeface="微软雅黑" panose="020B0503020204020204" charset="-122"/>
              <a:ea typeface="微软雅黑" panose="020B0503020204020204" charset="-122"/>
            </a:endParaRPr>
          </a:p>
          <a:p>
            <a:pPr marL="256540" indent="-193040" algn="l" rtl="0" eaLnBrk="0">
              <a:lnSpc>
                <a:spcPct val="92000"/>
              </a:lnSpc>
              <a:spcBef>
                <a:spcPts val="785"/>
              </a:spcBef>
            </a:pPr>
            <a:r>
              <a:rPr sz="1700" spc="-2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我们应该</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怎样制 </a:t>
            </a:r>
            <a:r>
              <a:rPr sz="1400" spc="-80" dirty="0">
                <a:solidFill>
                  <a:srgbClr val="000000">
                    <a:alpha val="100000"/>
                  </a:srgbClr>
                </a:solidFill>
                <a:latin typeface="微软雅黑" panose="020B0503020204020204" charset="-122"/>
                <a:ea typeface="微软雅黑" panose="020B0503020204020204" charset="-122"/>
                <a:cs typeface="楷体" panose="02010609060101010101" charset="-122"/>
              </a:rPr>
              <a:t>定拜访计划</a:t>
            </a:r>
            <a:r>
              <a:rPr sz="1400" spc="-50" dirty="0">
                <a:solidFill>
                  <a:srgbClr val="000000">
                    <a:alpha val="100000"/>
                  </a:srgbClr>
                </a:solidFill>
                <a:latin typeface="微软雅黑" panose="020B0503020204020204" charset="-122"/>
                <a:ea typeface="微软雅黑" panose="020B0503020204020204" charset="-122"/>
                <a:cs typeface="楷体" panose="02010609060101010101" charset="-122"/>
              </a:rPr>
              <a:t>？</a:t>
            </a:r>
            <a:endParaRPr lang="en-US" altLang="en-US" sz="1400" dirty="0">
              <a:latin typeface="微软雅黑" panose="020B0503020204020204" charset="-122"/>
              <a:ea typeface="微软雅黑" panose="020B0503020204020204" charset="-122"/>
            </a:endParaRPr>
          </a:p>
          <a:p>
            <a:pPr marL="62865" algn="l" rtl="0" eaLnBrk="0">
              <a:lnSpc>
                <a:spcPts val="1105"/>
              </a:lnSpc>
              <a:spcBef>
                <a:spcPts val="1395"/>
              </a:spcBef>
            </a:pPr>
            <a:r>
              <a:rPr sz="700" spc="250" dirty="0">
                <a:solidFill>
                  <a:srgbClr val="002960">
                    <a:alpha val="100000"/>
                  </a:srgbClr>
                </a:solidFill>
                <a:latin typeface="微软雅黑" panose="020B0503020204020204" charset="-122"/>
                <a:ea typeface="微软雅黑" panose="020B0503020204020204" charset="-122"/>
                <a:cs typeface="Arial" panose="020B0604020202020204"/>
              </a:rPr>
              <a:t>▪</a:t>
            </a:r>
            <a:endParaRPr lang="en-US" altLang="en-US" sz="700" dirty="0">
              <a:latin typeface="微软雅黑" panose="020B0503020204020204" charset="-122"/>
              <a:ea typeface="微软雅黑" panose="020B0503020204020204" charset="-122"/>
            </a:endParaRPr>
          </a:p>
          <a:p>
            <a:pPr marL="262255" indent="-15875" algn="l" rtl="0" eaLnBrk="0">
              <a:lnSpc>
                <a:spcPct val="96000"/>
              </a:lnSpc>
              <a:spcBef>
                <a:spcPts val="165"/>
              </a:spcBef>
            </a:pP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证拜访</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计划得到 </a:t>
            </a:r>
            <a:r>
              <a:rPr sz="1400" spc="-60" dirty="0">
                <a:solidFill>
                  <a:srgbClr val="000000">
                    <a:alpha val="100000"/>
                  </a:srgbClr>
                </a:solidFill>
                <a:latin typeface="微软雅黑" panose="020B0503020204020204" charset="-122"/>
                <a:ea typeface="微软雅黑" panose="020B0503020204020204" charset="-122"/>
                <a:cs typeface="楷体" panose="02010609060101010101" charset="-122"/>
              </a:rPr>
              <a:t>落实</a:t>
            </a:r>
            <a:r>
              <a:rPr sz="1400" spc="-50" dirty="0">
                <a:solidFill>
                  <a:srgbClr val="000000">
                    <a:alpha val="100000"/>
                  </a:srgbClr>
                </a:solidFill>
                <a:latin typeface="微软雅黑" panose="020B0503020204020204" charset="-122"/>
                <a:ea typeface="微软雅黑" panose="020B0503020204020204" charset="-122"/>
                <a:cs typeface="楷体" panose="02010609060101010101" charset="-122"/>
              </a:rPr>
              <a:t>？</a:t>
            </a:r>
            <a:endParaRPr lang="en-US" altLang="en-US" sz="1400" dirty="0">
              <a:latin typeface="微软雅黑" panose="020B0503020204020204" charset="-122"/>
              <a:ea typeface="微软雅黑" panose="020B0503020204020204" charset="-122"/>
            </a:endParaRPr>
          </a:p>
        </p:txBody>
      </p:sp>
      <p:grpSp>
        <p:nvGrpSpPr>
          <p:cNvPr id="210" name="group 210"/>
          <p:cNvGrpSpPr/>
          <p:nvPr/>
        </p:nvGrpSpPr>
        <p:grpSpPr>
          <a:xfrm rot="21600000">
            <a:off x="3226307" y="3970020"/>
            <a:ext cx="986027" cy="2389632"/>
            <a:chOff x="0" y="0"/>
            <a:chExt cx="986027" cy="2389632"/>
          </a:xfrm>
        </p:grpSpPr>
        <p:sp>
          <p:nvSpPr>
            <p:cNvPr id="1195" name="path"/>
            <p:cNvSpPr/>
            <p:nvPr/>
          </p:nvSpPr>
          <p:spPr>
            <a:xfrm>
              <a:off x="0" y="0"/>
              <a:ext cx="986027" cy="466344"/>
            </a:xfrm>
            <a:custGeom>
              <a:avLst/>
              <a:gdLst/>
              <a:ahLst/>
              <a:cxnLst/>
              <a:rect l="0" t="0" r="0" b="0"/>
              <a:pathLst>
                <a:path w="1552" h="734">
                  <a:moveTo>
                    <a:pt x="0" y="734"/>
                  </a:moveTo>
                  <a:lnTo>
                    <a:pt x="1552" y="734"/>
                  </a:lnTo>
                  <a:lnTo>
                    <a:pt x="1552" y="0"/>
                  </a:lnTo>
                  <a:lnTo>
                    <a:pt x="0" y="0"/>
                  </a:lnTo>
                  <a:lnTo>
                    <a:pt x="0" y="734"/>
                  </a:lnTo>
                  <a:close/>
                </a:path>
              </a:pathLst>
            </a:custGeom>
            <a:solidFill>
              <a:srgbClr val="BFE1FF">
                <a:alpha val="100000"/>
              </a:srgbClr>
            </a:solidFill>
            <a:ln cap="flat">
              <a:noFill/>
              <a:prstDash val="solid"/>
              <a:miter lim="0"/>
            </a:ln>
          </p:spPr>
          <p:txBody>
            <a:bodyPr rtlCol="0"/>
            <a:lstStyle/>
            <a:p>
              <a:pPr algn="ctr"/>
              <a:endParaRPr lang="zh-CN" altLang="en-US"/>
            </a:p>
          </p:txBody>
        </p:sp>
        <p:sp>
          <p:nvSpPr>
            <p:cNvPr id="1196" name="path"/>
            <p:cNvSpPr/>
            <p:nvPr/>
          </p:nvSpPr>
          <p:spPr>
            <a:xfrm>
              <a:off x="0" y="505967"/>
              <a:ext cx="986027" cy="1883664"/>
            </a:xfrm>
            <a:custGeom>
              <a:avLst/>
              <a:gdLst/>
              <a:ahLst/>
              <a:cxnLst/>
              <a:rect l="0" t="0" r="0" b="0"/>
              <a:pathLst>
                <a:path w="1552" h="2966">
                  <a:moveTo>
                    <a:pt x="0" y="1008"/>
                  </a:moveTo>
                  <a:lnTo>
                    <a:pt x="1552" y="1008"/>
                  </a:lnTo>
                  <a:lnTo>
                    <a:pt x="1552" y="0"/>
                  </a:lnTo>
                  <a:lnTo>
                    <a:pt x="0" y="0"/>
                  </a:lnTo>
                  <a:lnTo>
                    <a:pt x="0" y="1008"/>
                  </a:lnTo>
                  <a:close/>
                </a:path>
                <a:path w="1552" h="2966">
                  <a:moveTo>
                    <a:pt x="0" y="2006"/>
                  </a:moveTo>
                  <a:lnTo>
                    <a:pt x="1552" y="2006"/>
                  </a:lnTo>
                  <a:lnTo>
                    <a:pt x="1552" y="1142"/>
                  </a:lnTo>
                  <a:lnTo>
                    <a:pt x="0" y="1142"/>
                  </a:lnTo>
                  <a:lnTo>
                    <a:pt x="0" y="2006"/>
                  </a:lnTo>
                  <a:close/>
                </a:path>
                <a:path w="1552" h="2966">
                  <a:moveTo>
                    <a:pt x="0" y="2966"/>
                  </a:moveTo>
                  <a:lnTo>
                    <a:pt x="1552" y="2966"/>
                  </a:lnTo>
                  <a:lnTo>
                    <a:pt x="1552" y="2143"/>
                  </a:lnTo>
                  <a:lnTo>
                    <a:pt x="0" y="2143"/>
                  </a:lnTo>
                  <a:lnTo>
                    <a:pt x="0" y="2966"/>
                  </a:lnTo>
                  <a:close/>
                </a:path>
              </a:pathLst>
            </a:custGeom>
            <a:solidFill>
              <a:srgbClr val="92D050">
                <a:alpha val="100000"/>
              </a:srgbClr>
            </a:solidFill>
            <a:ln cap="flat">
              <a:noFill/>
              <a:prstDash val="solid"/>
              <a:miter lim="0"/>
            </a:ln>
          </p:spPr>
          <p:txBody>
            <a:bodyPr rtlCol="0"/>
            <a:lstStyle/>
            <a:p>
              <a:pPr algn="ctr"/>
              <a:endParaRPr lang="zh-CN" altLang="en-US"/>
            </a:p>
          </p:txBody>
        </p:sp>
      </p:grpSp>
      <p:grpSp>
        <p:nvGrpSpPr>
          <p:cNvPr id="212" name="group 212"/>
          <p:cNvGrpSpPr/>
          <p:nvPr/>
        </p:nvGrpSpPr>
        <p:grpSpPr>
          <a:xfrm rot="21600000">
            <a:off x="6140195" y="3970020"/>
            <a:ext cx="842771" cy="2389632"/>
            <a:chOff x="0" y="0"/>
            <a:chExt cx="842771" cy="2389632"/>
          </a:xfrm>
        </p:grpSpPr>
        <p:sp>
          <p:nvSpPr>
            <p:cNvPr id="1197" name="path"/>
            <p:cNvSpPr/>
            <p:nvPr/>
          </p:nvSpPr>
          <p:spPr>
            <a:xfrm>
              <a:off x="0" y="0"/>
              <a:ext cx="842771" cy="466344"/>
            </a:xfrm>
            <a:custGeom>
              <a:avLst/>
              <a:gdLst/>
              <a:ahLst/>
              <a:cxnLst/>
              <a:rect l="0" t="0" r="0" b="0"/>
              <a:pathLst>
                <a:path w="1327" h="734">
                  <a:moveTo>
                    <a:pt x="0" y="734"/>
                  </a:moveTo>
                  <a:lnTo>
                    <a:pt x="1327" y="734"/>
                  </a:lnTo>
                  <a:lnTo>
                    <a:pt x="1327" y="0"/>
                  </a:lnTo>
                  <a:lnTo>
                    <a:pt x="0" y="0"/>
                  </a:lnTo>
                  <a:lnTo>
                    <a:pt x="0" y="734"/>
                  </a:lnTo>
                  <a:close/>
                </a:path>
              </a:pathLst>
            </a:custGeom>
            <a:solidFill>
              <a:srgbClr val="BFE1FF">
                <a:alpha val="100000"/>
              </a:srgbClr>
            </a:solidFill>
            <a:ln cap="flat">
              <a:noFill/>
              <a:prstDash val="solid"/>
              <a:miter lim="0"/>
            </a:ln>
          </p:spPr>
          <p:txBody>
            <a:bodyPr rtlCol="0"/>
            <a:lstStyle/>
            <a:p>
              <a:pPr algn="ctr"/>
              <a:endParaRPr lang="zh-CN" altLang="en-US"/>
            </a:p>
          </p:txBody>
        </p:sp>
        <p:sp>
          <p:nvSpPr>
            <p:cNvPr id="1198" name="path"/>
            <p:cNvSpPr/>
            <p:nvPr/>
          </p:nvSpPr>
          <p:spPr>
            <a:xfrm>
              <a:off x="0" y="505967"/>
              <a:ext cx="842771" cy="1883664"/>
            </a:xfrm>
            <a:custGeom>
              <a:avLst/>
              <a:gdLst/>
              <a:ahLst/>
              <a:cxnLst/>
              <a:rect l="0" t="0" r="0" b="0"/>
              <a:pathLst>
                <a:path w="1327" h="2966">
                  <a:moveTo>
                    <a:pt x="0" y="1008"/>
                  </a:moveTo>
                  <a:lnTo>
                    <a:pt x="1327" y="1008"/>
                  </a:lnTo>
                  <a:lnTo>
                    <a:pt x="1327" y="0"/>
                  </a:lnTo>
                  <a:lnTo>
                    <a:pt x="0" y="0"/>
                  </a:lnTo>
                  <a:lnTo>
                    <a:pt x="0" y="1008"/>
                  </a:lnTo>
                  <a:close/>
                </a:path>
                <a:path w="1327" h="2966">
                  <a:moveTo>
                    <a:pt x="0" y="2006"/>
                  </a:moveTo>
                  <a:lnTo>
                    <a:pt x="1327" y="2006"/>
                  </a:lnTo>
                  <a:lnTo>
                    <a:pt x="1327" y="1142"/>
                  </a:lnTo>
                  <a:lnTo>
                    <a:pt x="0" y="1142"/>
                  </a:lnTo>
                  <a:lnTo>
                    <a:pt x="0" y="2006"/>
                  </a:lnTo>
                  <a:close/>
                </a:path>
                <a:path w="1327" h="2966">
                  <a:moveTo>
                    <a:pt x="0" y="2966"/>
                  </a:moveTo>
                  <a:lnTo>
                    <a:pt x="1327" y="2966"/>
                  </a:lnTo>
                  <a:lnTo>
                    <a:pt x="1327" y="2143"/>
                  </a:lnTo>
                  <a:lnTo>
                    <a:pt x="0" y="2143"/>
                  </a:lnTo>
                  <a:lnTo>
                    <a:pt x="0" y="2966"/>
                  </a:lnTo>
                  <a:close/>
                </a:path>
              </a:pathLst>
            </a:custGeom>
            <a:solidFill>
              <a:srgbClr val="92D050">
                <a:alpha val="100000"/>
              </a:srgbClr>
            </a:solidFill>
            <a:ln cap="flat">
              <a:noFill/>
              <a:prstDash val="solid"/>
              <a:miter lim="0"/>
            </a:ln>
          </p:spPr>
          <p:txBody>
            <a:bodyPr rtlCol="0"/>
            <a:lstStyle/>
            <a:p>
              <a:pPr algn="ctr"/>
              <a:endParaRPr lang="zh-CN" altLang="en-US"/>
            </a:p>
          </p:txBody>
        </p:sp>
      </p:grpSp>
      <p:sp>
        <p:nvSpPr>
          <p:cNvPr id="1199" name="rect"/>
          <p:cNvSpPr/>
          <p:nvPr/>
        </p:nvSpPr>
        <p:spPr>
          <a:xfrm>
            <a:off x="1033272" y="3970020"/>
            <a:ext cx="1022604" cy="466344"/>
          </a:xfrm>
          <a:prstGeom prst="rect">
            <a:avLst/>
          </a:prstGeom>
          <a:solidFill>
            <a:srgbClr val="BFE1FF">
              <a:alpha val="100000"/>
            </a:srgbClr>
          </a:solidFill>
          <a:ln cap="flat">
            <a:noFill/>
            <a:prstDash val="solid"/>
            <a:miter lim="0"/>
          </a:ln>
        </p:spPr>
        <p:txBody>
          <a:bodyPr rtlCol="0"/>
          <a:lstStyle/>
          <a:p>
            <a:pPr algn="ctr"/>
            <a:endParaRPr lang="zh-CN" altLang="en-US"/>
          </a:p>
        </p:txBody>
      </p:sp>
      <p:sp>
        <p:nvSpPr>
          <p:cNvPr id="1200" name="textbox 1200"/>
          <p:cNvSpPr/>
          <p:nvPr/>
        </p:nvSpPr>
        <p:spPr>
          <a:xfrm>
            <a:off x="1063494" y="4113263"/>
            <a:ext cx="919480" cy="2227579"/>
          </a:xfrm>
          <a:prstGeom prst="rect">
            <a:avLst/>
          </a:prstGeom>
        </p:spPr>
        <p:txBody>
          <a:bodyPr vert="horz" wrap="square" lIns="0" tIns="0" rIns="0" bIns="0"/>
          <a:lstStyle/>
          <a:p>
            <a:pPr algn="l" rtl="0" eaLnBrk="0">
              <a:lnSpc>
                <a:spcPct val="86000"/>
              </a:lnSpc>
            </a:pPr>
            <a:endParaRPr lang="en-US" altLang="en-US" sz="100" dirty="0">
              <a:latin typeface="微软雅黑" panose="020B0503020204020204" charset="-122"/>
              <a:ea typeface="微软雅黑" panose="020B0503020204020204" charset="-122"/>
            </a:endParaRPr>
          </a:p>
          <a:p>
            <a:pPr marL="12700" algn="l" rtl="0" eaLnBrk="0">
              <a:lnSpc>
                <a:spcPct val="98000"/>
              </a:lnSpc>
            </a:pPr>
            <a:r>
              <a:rPr sz="1400" spc="-10" dirty="0">
                <a:ln w="5103"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职位</a:t>
            </a:r>
            <a:endParaRPr lang="en-US" altLang="en-US" sz="1400" dirty="0">
              <a:latin typeface="微软雅黑" panose="020B0503020204020204" charset="-122"/>
              <a:ea typeface="微软雅黑" panose="020B0503020204020204" charset="-122"/>
            </a:endParaRPr>
          </a:p>
          <a:p>
            <a:pPr marL="22860" indent="20320" algn="l" rtl="0" eaLnBrk="0">
              <a:lnSpc>
                <a:spcPct val="104000"/>
              </a:lnSpc>
              <a:spcBef>
                <a:spcPts val="1510"/>
              </a:spcBef>
            </a:pPr>
            <a:r>
              <a:rPr sz="1400" spc="-50" dirty="0">
                <a:solidFill>
                  <a:srgbClr val="000000">
                    <a:alpha val="100000"/>
                  </a:srgbClr>
                </a:solidFill>
                <a:latin typeface="微软雅黑" panose="020B0503020204020204" charset="-122"/>
                <a:ea typeface="微软雅黑" panose="020B0503020204020204" charset="-122"/>
                <a:cs typeface="楷体" panose="02010609060101010101" charset="-122"/>
              </a:rPr>
              <a:t>中国采购</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总</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 监</a:t>
            </a:r>
            <a:endParaRPr lang="en-US" altLang="en-US" sz="1400" dirty="0">
              <a:latin typeface="微软雅黑" panose="020B0503020204020204" charset="-122"/>
              <a:ea typeface="微软雅黑" panose="020B0503020204020204" charset="-122"/>
            </a:endParaRPr>
          </a:p>
          <a:p>
            <a:pPr algn="l" rtl="0" eaLnBrk="0">
              <a:lnSpc>
                <a:spcPct val="149000"/>
              </a:lnSpc>
            </a:pPr>
            <a:endParaRPr lang="en-US" altLang="en-US" sz="1000" dirty="0">
              <a:latin typeface="微软雅黑" panose="020B0503020204020204" charset="-122"/>
              <a:ea typeface="微软雅黑" panose="020B0503020204020204" charset="-122"/>
            </a:endParaRPr>
          </a:p>
          <a:p>
            <a:pPr marL="19050" indent="7620" algn="l" rtl="0" eaLnBrk="0">
              <a:lnSpc>
                <a:spcPct val="102000"/>
              </a:lnSpc>
              <a:spcBef>
                <a:spcPts val="420"/>
              </a:spcBef>
            </a:pP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添加剂全</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球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采购</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者</a:t>
            </a:r>
            <a:endParaRPr lang="en-US" altLang="en-US" sz="1400" dirty="0">
              <a:latin typeface="微软雅黑" panose="020B0503020204020204" charset="-122"/>
              <a:ea typeface="微软雅黑" panose="020B0503020204020204" charset="-122"/>
            </a:endParaRPr>
          </a:p>
          <a:p>
            <a:pPr algn="l" rtl="0" eaLnBrk="0">
              <a:lnSpc>
                <a:spcPct val="101000"/>
              </a:lnSpc>
            </a:pPr>
            <a:endParaRPr lang="en-US" altLang="en-US" sz="1300" dirty="0">
              <a:latin typeface="微软雅黑" panose="020B0503020204020204" charset="-122"/>
              <a:ea typeface="微软雅黑" panose="020B0503020204020204" charset="-122"/>
            </a:endParaRPr>
          </a:p>
          <a:p>
            <a:pPr algn="l" rtl="0" eaLnBrk="0">
              <a:lnSpc>
                <a:spcPct val="8000"/>
              </a:lnSpc>
            </a:pPr>
            <a:endParaRPr lang="en-US" altLang="en-US" sz="100" dirty="0">
              <a:latin typeface="微软雅黑" panose="020B0503020204020204" charset="-122"/>
              <a:ea typeface="微软雅黑" panose="020B0503020204020204" charset="-122"/>
            </a:endParaRPr>
          </a:p>
          <a:p>
            <a:pPr marL="26670" indent="-8890" algn="l" rtl="0" eaLnBrk="0">
              <a:lnSpc>
                <a:spcPct val="103000"/>
              </a:lnSpc>
            </a:pP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各</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厂执行采 购</a:t>
            </a:r>
            <a:endParaRPr lang="en-US" altLang="en-US" sz="1400" dirty="0">
              <a:latin typeface="微软雅黑" panose="020B0503020204020204" charset="-122"/>
              <a:ea typeface="微软雅黑" panose="020B0503020204020204" charset="-122"/>
            </a:endParaRPr>
          </a:p>
        </p:txBody>
      </p:sp>
      <p:sp>
        <p:nvSpPr>
          <p:cNvPr id="1201" name="textbox 1201"/>
          <p:cNvSpPr/>
          <p:nvPr/>
        </p:nvSpPr>
        <p:spPr>
          <a:xfrm>
            <a:off x="2165874" y="4492993"/>
            <a:ext cx="836294" cy="1797685"/>
          </a:xfrm>
          <a:prstGeom prst="rect">
            <a:avLst/>
          </a:prstGeom>
        </p:spPr>
        <p:txBody>
          <a:bodyPr vert="horz" wrap="square" lIns="0" tIns="0" rIns="0" bIns="0"/>
          <a:lstStyle/>
          <a:p>
            <a:pPr algn="l" rtl="0" eaLnBrk="0">
              <a:lnSpc>
                <a:spcPct val="92000"/>
              </a:lnSpc>
            </a:pPr>
            <a:endParaRPr lang="en-US" altLang="en-US" sz="100" dirty="0">
              <a:latin typeface="微软雅黑" panose="020B0503020204020204" charset="-122"/>
              <a:ea typeface="微软雅黑" panose="020B0503020204020204" charset="-122"/>
            </a:endParaRPr>
          </a:p>
          <a:p>
            <a:pPr marL="112395" indent="-99695" algn="l" rtl="0" eaLnBrk="0">
              <a:lnSpc>
                <a:spcPct val="90000"/>
              </a:lnSpc>
            </a:pPr>
            <a:r>
              <a:rPr sz="1700" spc="-5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50" dirty="0">
                <a:solidFill>
                  <a:srgbClr val="000000">
                    <a:alpha val="100000"/>
                  </a:srgbClr>
                </a:solidFill>
                <a:latin typeface="微软雅黑" panose="020B0503020204020204" charset="-122"/>
                <a:ea typeface="微软雅黑" panose="020B0503020204020204" charset="-122"/>
                <a:cs typeface="楷体" panose="02010609060101010101" charset="-122"/>
              </a:rPr>
              <a:t>实际控制</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人</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，主要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影</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响者</a:t>
            </a:r>
            <a:endParaRPr lang="en-US" altLang="en-US" sz="1400" dirty="0">
              <a:latin typeface="微软雅黑" panose="020B0503020204020204" charset="-122"/>
              <a:ea typeface="微软雅黑" panose="020B0503020204020204" charset="-122"/>
            </a:endParaRPr>
          </a:p>
          <a:p>
            <a:pPr marL="118110" indent="-105410" algn="l" rtl="0" eaLnBrk="0">
              <a:lnSpc>
                <a:spcPct val="87000"/>
              </a:lnSpc>
              <a:spcBef>
                <a:spcPts val="1205"/>
              </a:spcBef>
            </a:pPr>
            <a:r>
              <a:rPr sz="1700" spc="-5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50" dirty="0">
                <a:solidFill>
                  <a:srgbClr val="000000">
                    <a:alpha val="100000"/>
                  </a:srgbClr>
                </a:solidFill>
                <a:latin typeface="微软雅黑" panose="020B0503020204020204" charset="-122"/>
                <a:ea typeface="微软雅黑" panose="020B0503020204020204" charset="-122"/>
                <a:cs typeface="楷体" panose="02010609060101010101" charset="-122"/>
              </a:rPr>
              <a:t>关键决策</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 者</a:t>
            </a:r>
            <a:endParaRPr lang="en-US" altLang="en-US" sz="1400" dirty="0">
              <a:latin typeface="微软雅黑" panose="020B0503020204020204" charset="-122"/>
              <a:ea typeface="微软雅黑" panose="020B0503020204020204" charset="-122"/>
            </a:endParaRPr>
          </a:p>
          <a:p>
            <a:pPr algn="l" rtl="0" eaLnBrk="0">
              <a:lnSpc>
                <a:spcPct val="106000"/>
              </a:lnSpc>
            </a:pPr>
            <a:endParaRPr lang="en-US" altLang="en-US" sz="1100" dirty="0">
              <a:latin typeface="微软雅黑" panose="020B0503020204020204" charset="-122"/>
              <a:ea typeface="微软雅黑" panose="020B0503020204020204" charset="-122"/>
            </a:endParaRPr>
          </a:p>
          <a:p>
            <a:pPr marL="118110" indent="-105410" algn="l" rtl="0" eaLnBrk="0">
              <a:lnSpc>
                <a:spcPct val="87000"/>
              </a:lnSpc>
              <a:spcBef>
                <a:spcPts val="5"/>
              </a:spcBef>
            </a:pPr>
            <a:r>
              <a:rPr sz="1700" spc="-5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50" dirty="0">
                <a:solidFill>
                  <a:srgbClr val="000000">
                    <a:alpha val="100000"/>
                  </a:srgbClr>
                </a:solidFill>
                <a:latin typeface="微软雅黑" panose="020B0503020204020204" charset="-122"/>
                <a:ea typeface="微软雅黑" panose="020B0503020204020204" charset="-122"/>
                <a:cs typeface="楷体" panose="02010609060101010101" charset="-122"/>
              </a:rPr>
              <a:t>关键决策</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 者</a:t>
            </a:r>
            <a:endParaRPr lang="en-US" altLang="en-US" sz="1400" dirty="0">
              <a:latin typeface="微软雅黑" panose="020B0503020204020204" charset="-122"/>
              <a:ea typeface="微软雅黑" panose="020B0503020204020204" charset="-122"/>
            </a:endParaRPr>
          </a:p>
        </p:txBody>
      </p:sp>
      <p:sp>
        <p:nvSpPr>
          <p:cNvPr id="1202" name="textbox 1202"/>
          <p:cNvSpPr/>
          <p:nvPr/>
        </p:nvSpPr>
        <p:spPr>
          <a:xfrm>
            <a:off x="4316873" y="4492993"/>
            <a:ext cx="657859" cy="1805939"/>
          </a:xfrm>
          <a:prstGeom prst="rect">
            <a:avLst/>
          </a:prstGeom>
        </p:spPr>
        <p:txBody>
          <a:bodyPr vert="horz" wrap="square" lIns="0" tIns="0" rIns="0" bIns="0"/>
          <a:lstStyle/>
          <a:p>
            <a:pPr algn="l" rtl="0" eaLnBrk="0">
              <a:lnSpc>
                <a:spcPct val="92000"/>
              </a:lnSpc>
            </a:pPr>
            <a:endParaRPr lang="en-US" altLang="en-US" sz="100" dirty="0">
              <a:latin typeface="微软雅黑" panose="020B0503020204020204" charset="-122"/>
              <a:ea typeface="微软雅黑" panose="020B0503020204020204" charset="-122"/>
            </a:endParaRPr>
          </a:p>
          <a:p>
            <a:pPr marL="117475" indent="-104775" algn="l" rtl="0" eaLnBrk="0">
              <a:lnSpc>
                <a:spcPct val="89000"/>
              </a:lnSpc>
            </a:pPr>
            <a:r>
              <a:rPr sz="1700" spc="-6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60" dirty="0">
                <a:solidFill>
                  <a:srgbClr val="000000">
                    <a:alpha val="100000"/>
                  </a:srgbClr>
                </a:solidFill>
                <a:latin typeface="微软雅黑" panose="020B0503020204020204" charset="-122"/>
                <a:ea typeface="微软雅黑" panose="020B0503020204020204" charset="-122"/>
                <a:cs typeface="楷体" panose="02010609060101010101" charset="-122"/>
              </a:rPr>
              <a:t>整体收</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 益</a:t>
            </a:r>
            <a:endParaRPr lang="en-US" altLang="en-US" sz="1400" dirty="0">
              <a:latin typeface="微软雅黑" panose="020B0503020204020204" charset="-122"/>
              <a:ea typeface="微软雅黑" panose="020B0503020204020204" charset="-122"/>
            </a:endParaRPr>
          </a:p>
          <a:p>
            <a:pPr algn="l" rtl="0" eaLnBrk="0">
              <a:lnSpc>
                <a:spcPct val="183000"/>
              </a:lnSpc>
            </a:pPr>
            <a:endParaRPr lang="en-US" altLang="en-US" sz="1000" dirty="0">
              <a:latin typeface="微软雅黑" panose="020B0503020204020204" charset="-122"/>
              <a:ea typeface="微软雅黑" panose="020B0503020204020204" charset="-122"/>
            </a:endParaRPr>
          </a:p>
          <a:p>
            <a:pPr marL="12700" algn="l" rtl="0" eaLnBrk="0">
              <a:lnSpc>
                <a:spcPct val="82000"/>
              </a:lnSpc>
              <a:spcBef>
                <a:spcPts val="515"/>
              </a:spcBef>
            </a:pPr>
            <a:r>
              <a:rPr sz="1700" spc="-8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80" dirty="0">
                <a:solidFill>
                  <a:srgbClr val="000000">
                    <a:alpha val="100000"/>
                  </a:srgbClr>
                </a:solidFill>
                <a:latin typeface="微软雅黑" panose="020B0503020204020204" charset="-122"/>
                <a:ea typeface="微软雅黑" panose="020B0503020204020204" charset="-122"/>
                <a:cs typeface="楷体" panose="02010609060101010101" charset="-122"/>
              </a:rPr>
              <a:t>价</a:t>
            </a:r>
            <a:r>
              <a:rPr sz="1400" spc="-60" dirty="0">
                <a:solidFill>
                  <a:srgbClr val="000000">
                    <a:alpha val="100000"/>
                  </a:srgbClr>
                </a:solidFill>
                <a:latin typeface="微软雅黑" panose="020B0503020204020204" charset="-122"/>
                <a:ea typeface="微软雅黑" panose="020B0503020204020204" charset="-122"/>
                <a:cs typeface="楷体" panose="02010609060101010101" charset="-122"/>
              </a:rPr>
              <a:t>格</a:t>
            </a:r>
            <a:endParaRPr lang="en-US" altLang="en-US" sz="1400" dirty="0">
              <a:latin typeface="微软雅黑" panose="020B0503020204020204" charset="-122"/>
              <a:ea typeface="微软雅黑" panose="020B0503020204020204" charset="-122"/>
            </a:endParaRPr>
          </a:p>
          <a:p>
            <a:pPr marL="12700" algn="l" rtl="0" eaLnBrk="0">
              <a:lnSpc>
                <a:spcPct val="81000"/>
              </a:lnSpc>
              <a:spcBef>
                <a:spcPts val="20"/>
              </a:spcBef>
            </a:pPr>
            <a:r>
              <a:rPr sz="1700" spc="-7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70" dirty="0">
                <a:solidFill>
                  <a:srgbClr val="000000">
                    <a:alpha val="100000"/>
                  </a:srgbClr>
                </a:solidFill>
                <a:latin typeface="微软雅黑" panose="020B0503020204020204" charset="-122"/>
                <a:ea typeface="微软雅黑" panose="020B0503020204020204" charset="-122"/>
                <a:cs typeface="楷体" panose="02010609060101010101" charset="-122"/>
              </a:rPr>
              <a:t>质量</a:t>
            </a:r>
            <a:endParaRPr lang="en-US" altLang="en-US" sz="1400" dirty="0">
              <a:latin typeface="微软雅黑" panose="020B0503020204020204" charset="-122"/>
              <a:ea typeface="微软雅黑" panose="020B0503020204020204" charset="-122"/>
            </a:endParaRPr>
          </a:p>
          <a:p>
            <a:pPr marL="12700" algn="l" rtl="0" eaLnBrk="0">
              <a:lnSpc>
                <a:spcPct val="82000"/>
              </a:lnSpc>
              <a:spcBef>
                <a:spcPts val="1300"/>
              </a:spcBef>
            </a:pPr>
            <a:r>
              <a:rPr sz="1700" spc="-8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80" dirty="0">
                <a:solidFill>
                  <a:srgbClr val="000000">
                    <a:alpha val="100000"/>
                  </a:srgbClr>
                </a:solidFill>
                <a:latin typeface="微软雅黑" panose="020B0503020204020204" charset="-122"/>
                <a:ea typeface="微软雅黑" panose="020B0503020204020204" charset="-122"/>
                <a:cs typeface="楷体" panose="02010609060101010101" charset="-122"/>
              </a:rPr>
              <a:t>价</a:t>
            </a:r>
            <a:r>
              <a:rPr sz="1400" spc="-60" dirty="0">
                <a:solidFill>
                  <a:srgbClr val="000000">
                    <a:alpha val="100000"/>
                  </a:srgbClr>
                </a:solidFill>
                <a:latin typeface="微软雅黑" panose="020B0503020204020204" charset="-122"/>
                <a:ea typeface="微软雅黑" panose="020B0503020204020204" charset="-122"/>
                <a:cs typeface="楷体" panose="02010609060101010101" charset="-122"/>
              </a:rPr>
              <a:t>格</a:t>
            </a:r>
            <a:endParaRPr lang="en-US" altLang="en-US" sz="1400" dirty="0">
              <a:latin typeface="微软雅黑" panose="020B0503020204020204" charset="-122"/>
              <a:ea typeface="微软雅黑" panose="020B0503020204020204" charset="-122"/>
            </a:endParaRPr>
          </a:p>
          <a:p>
            <a:pPr marL="12700" algn="l" rtl="0" eaLnBrk="0">
              <a:lnSpc>
                <a:spcPct val="81000"/>
              </a:lnSpc>
              <a:spcBef>
                <a:spcPts val="20"/>
              </a:spcBef>
            </a:pPr>
            <a:r>
              <a:rPr sz="1700" spc="-7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70" dirty="0">
                <a:solidFill>
                  <a:srgbClr val="000000">
                    <a:alpha val="100000"/>
                  </a:srgbClr>
                </a:solidFill>
                <a:latin typeface="微软雅黑" panose="020B0503020204020204" charset="-122"/>
                <a:ea typeface="微软雅黑" panose="020B0503020204020204" charset="-122"/>
                <a:cs typeface="楷体" panose="02010609060101010101" charset="-122"/>
              </a:rPr>
              <a:t>质量</a:t>
            </a:r>
            <a:endParaRPr lang="en-US" altLang="en-US" sz="1400" dirty="0">
              <a:latin typeface="微软雅黑" panose="020B0503020204020204" charset="-122"/>
              <a:ea typeface="微软雅黑" panose="020B0503020204020204" charset="-122"/>
            </a:endParaRPr>
          </a:p>
        </p:txBody>
      </p:sp>
      <p:sp>
        <p:nvSpPr>
          <p:cNvPr id="1203" name="rect"/>
          <p:cNvSpPr/>
          <p:nvPr/>
        </p:nvSpPr>
        <p:spPr>
          <a:xfrm>
            <a:off x="134112" y="3970020"/>
            <a:ext cx="835151" cy="466344"/>
          </a:xfrm>
          <a:prstGeom prst="rect">
            <a:avLst/>
          </a:prstGeom>
          <a:solidFill>
            <a:srgbClr val="BFE1FF">
              <a:alpha val="100000"/>
            </a:srgbClr>
          </a:solidFill>
          <a:ln cap="flat">
            <a:noFill/>
            <a:prstDash val="solid"/>
            <a:miter lim="0"/>
          </a:ln>
        </p:spPr>
        <p:txBody>
          <a:bodyPr rtlCol="0"/>
          <a:lstStyle/>
          <a:p>
            <a:pPr algn="ctr"/>
            <a:endParaRPr lang="zh-CN" altLang="en-US"/>
          </a:p>
        </p:txBody>
      </p:sp>
      <p:sp>
        <p:nvSpPr>
          <p:cNvPr id="1204" name="textbox 1204"/>
          <p:cNvSpPr/>
          <p:nvPr/>
        </p:nvSpPr>
        <p:spPr>
          <a:xfrm>
            <a:off x="170289" y="4113263"/>
            <a:ext cx="557530" cy="2007870"/>
          </a:xfrm>
          <a:prstGeom prst="rect">
            <a:avLst/>
          </a:prstGeom>
        </p:spPr>
        <p:txBody>
          <a:bodyPr vert="horz" wrap="square" lIns="0" tIns="0" rIns="0" bIns="0"/>
          <a:lstStyle/>
          <a:p>
            <a:pPr algn="l" rtl="0" eaLnBrk="0">
              <a:lnSpc>
                <a:spcPct val="77000"/>
              </a:lnSpc>
            </a:pPr>
            <a:endParaRPr lang="en-US" altLang="en-US" sz="100" dirty="0">
              <a:latin typeface="微软雅黑" panose="020B0503020204020204" charset="-122"/>
              <a:ea typeface="微软雅黑" panose="020B0503020204020204" charset="-122"/>
            </a:endParaRPr>
          </a:p>
          <a:p>
            <a:pPr marL="19050" algn="l" rtl="0" eaLnBrk="0">
              <a:lnSpc>
                <a:spcPct val="99000"/>
              </a:lnSpc>
            </a:pPr>
            <a:r>
              <a:rPr sz="1400" spc="-40" dirty="0">
                <a:ln w="5103"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关键</a:t>
            </a:r>
            <a:r>
              <a:rPr sz="1400" spc="-30" dirty="0">
                <a:ln w="5103"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人</a:t>
            </a:r>
            <a:endParaRPr lang="en-US" altLang="en-US" sz="14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marL="27940" algn="l" rtl="0" eaLnBrk="0">
              <a:lnSpc>
                <a:spcPct val="97000"/>
              </a:lnSpc>
              <a:spcBef>
                <a:spcPts val="425"/>
              </a:spcBef>
            </a:pPr>
            <a:r>
              <a:rPr sz="1400" spc="-40" dirty="0">
                <a:ln w="5103"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张</a:t>
            </a:r>
            <a:r>
              <a:rPr sz="1400" spc="-30" dirty="0">
                <a:ln w="5103"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总</a:t>
            </a:r>
            <a:endParaRPr lang="en-US" altLang="en-US" sz="14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marL="21590" algn="l" rtl="0" eaLnBrk="0">
              <a:lnSpc>
                <a:spcPts val="1700"/>
              </a:lnSpc>
              <a:spcBef>
                <a:spcPts val="430"/>
              </a:spcBef>
            </a:pPr>
            <a:r>
              <a:rPr sz="1400" spc="-20" dirty="0">
                <a:ln w="5094"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王经理</a:t>
            </a:r>
            <a:endParaRPr lang="en-US" altLang="en-US" sz="1400" dirty="0">
              <a:latin typeface="微软雅黑" panose="020B0503020204020204" charset="-122"/>
              <a:ea typeface="微软雅黑" panose="020B0503020204020204" charset="-122"/>
            </a:endParaRPr>
          </a:p>
          <a:p>
            <a:pPr algn="l" rtl="0" eaLnBrk="0">
              <a:lnSpc>
                <a:spcPct val="119000"/>
              </a:lnSpc>
            </a:pPr>
            <a:endParaRPr lang="en-US" altLang="en-US" sz="1000" dirty="0">
              <a:latin typeface="微软雅黑" panose="020B0503020204020204" charset="-122"/>
              <a:ea typeface="微软雅黑" panose="020B0503020204020204" charset="-122"/>
            </a:endParaRPr>
          </a:p>
          <a:p>
            <a:pPr algn="l" rtl="0" eaLnBrk="0">
              <a:lnSpc>
                <a:spcPct val="120000"/>
              </a:lnSpc>
            </a:pPr>
            <a:endParaRPr lang="en-US" altLang="en-US" sz="1000" dirty="0">
              <a:latin typeface="微软雅黑" panose="020B0503020204020204" charset="-122"/>
              <a:ea typeface="微软雅黑" panose="020B0503020204020204" charset="-122"/>
            </a:endParaRPr>
          </a:p>
          <a:p>
            <a:pPr algn="l" rtl="0" eaLnBrk="0">
              <a:lnSpc>
                <a:spcPct val="119000"/>
              </a:lnSpc>
            </a:pPr>
            <a:endParaRPr lang="en-US" altLang="en-US" sz="300" dirty="0">
              <a:latin typeface="微软雅黑" panose="020B0503020204020204" charset="-122"/>
              <a:ea typeface="微软雅黑" panose="020B0503020204020204" charset="-122"/>
            </a:endParaRPr>
          </a:p>
          <a:p>
            <a:pPr marL="12700" algn="l" rtl="0" eaLnBrk="0">
              <a:lnSpc>
                <a:spcPct val="95000"/>
              </a:lnSpc>
            </a:pPr>
            <a:r>
              <a:rPr sz="1400" spc="-10" dirty="0">
                <a:ln w="5094"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待</a:t>
            </a:r>
            <a:r>
              <a:rPr sz="1400" spc="0" dirty="0">
                <a:ln w="5094"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定</a:t>
            </a:r>
            <a:endParaRPr lang="en-US" altLang="en-US" sz="1400" dirty="0">
              <a:latin typeface="微软雅黑" panose="020B0503020204020204" charset="-122"/>
              <a:ea typeface="微软雅黑" panose="020B0503020204020204" charset="-122"/>
            </a:endParaRPr>
          </a:p>
        </p:txBody>
      </p:sp>
      <p:sp>
        <p:nvSpPr>
          <p:cNvPr id="1206" name="textbox 1206"/>
          <p:cNvSpPr/>
          <p:nvPr/>
        </p:nvSpPr>
        <p:spPr>
          <a:xfrm>
            <a:off x="3054426" y="1829049"/>
            <a:ext cx="3498850" cy="227329"/>
          </a:xfrm>
          <a:prstGeom prst="rect">
            <a:avLst/>
          </a:prstGeom>
        </p:spPr>
        <p:txBody>
          <a:bodyPr vert="horz" wrap="square" lIns="0" tIns="0" rIns="0" bIns="0"/>
          <a:lstStyle/>
          <a:p>
            <a:pPr algn="l" rtl="0" eaLnBrk="0">
              <a:lnSpc>
                <a:spcPct val="90000"/>
              </a:lnSpc>
            </a:pPr>
            <a:endParaRPr lang="en-US" altLang="en-US" sz="100" dirty="0">
              <a:latin typeface="微软雅黑" panose="020B0503020204020204" charset="-122"/>
              <a:ea typeface="微软雅黑" panose="020B0503020204020204" charset="-122"/>
            </a:endParaRPr>
          </a:p>
          <a:p>
            <a:pPr marL="12700" algn="l" rtl="0" eaLnBrk="0">
              <a:lnSpc>
                <a:spcPct val="94000"/>
              </a:lnSpc>
            </a:pPr>
            <a:r>
              <a:rPr sz="1400" spc="10" dirty="0">
                <a:ln w="5094"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原料全球</a:t>
            </a:r>
            <a:r>
              <a:rPr sz="1400" spc="0" dirty="0">
                <a:ln w="5094"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采购者</a:t>
            </a:r>
            <a:r>
              <a:rPr sz="1400" spc="0" dirty="0">
                <a:solidFill>
                  <a:srgbClr val="FFFFFF">
                    <a:alpha val="100000"/>
                  </a:srgbClr>
                </a:solidFill>
                <a:latin typeface="微软雅黑" panose="020B0503020204020204" charset="-122"/>
                <a:ea typeface="微软雅黑" panose="020B0503020204020204" charset="-122"/>
                <a:cs typeface="楷体" panose="02010609060101010101" charset="-122"/>
              </a:rPr>
              <a:t>             </a:t>
            </a:r>
            <a:r>
              <a:rPr sz="1400" spc="0" dirty="0">
                <a:ln w="5094"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全球采购主管</a:t>
            </a:r>
            <a:endParaRPr lang="en-US" altLang="en-US" sz="1400" dirty="0">
              <a:latin typeface="微软雅黑" panose="020B0503020204020204" charset="-122"/>
              <a:ea typeface="微软雅黑" panose="020B0503020204020204" charset="-122"/>
            </a:endParaRPr>
          </a:p>
        </p:txBody>
      </p:sp>
      <p:graphicFrame>
        <p:nvGraphicFramePr>
          <p:cNvPr id="1207" name="table 1207"/>
          <p:cNvGraphicFramePr>
            <a:graphicFrameLocks noGrp="1"/>
          </p:cNvGraphicFramePr>
          <p:nvPr/>
        </p:nvGraphicFramePr>
        <p:xfrm>
          <a:off x="563880" y="2647188"/>
          <a:ext cx="1209674" cy="450850"/>
        </p:xfrm>
        <a:graphic>
          <a:graphicData uri="http://schemas.openxmlformats.org/drawingml/2006/table">
            <a:tbl>
              <a:tblPr/>
              <a:tblGrid>
                <a:gridCol w="1209674"/>
              </a:tblGrid>
              <a:tr h="444500">
                <a:tc>
                  <a:txBody>
                    <a:bodyPr/>
                    <a:lstStyle/>
                    <a:p>
                      <a:pPr algn="l" rtl="0" eaLnBrk="0">
                        <a:lnSpc>
                          <a:spcPct val="103000"/>
                        </a:lnSpc>
                      </a:pPr>
                      <a:endParaRPr lang="en-US" altLang="en-US" sz="900" dirty="0">
                        <a:latin typeface="微软雅黑" panose="020B0503020204020204" charset="-122"/>
                        <a:ea typeface="微软雅黑" panose="020B0503020204020204" charset="-122"/>
                      </a:endParaRPr>
                    </a:p>
                    <a:p>
                      <a:pPr marL="435610" algn="l" rtl="0" eaLnBrk="0">
                        <a:lnSpc>
                          <a:spcPct val="97000"/>
                        </a:lnSpc>
                        <a:spcBef>
                          <a:spcPts val="0"/>
                        </a:spcBef>
                      </a:pPr>
                      <a:r>
                        <a:rPr sz="1400" spc="-20" dirty="0">
                          <a:ln w="5094"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工</a:t>
                      </a:r>
                      <a:r>
                        <a:rPr sz="1400" spc="-10" dirty="0">
                          <a:ln w="5094"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厂</a:t>
                      </a:r>
                      <a:endParaRPr lang="en-US" altLang="en-US" sz="1400" dirty="0">
                        <a:latin typeface="微软雅黑" panose="020B0503020204020204" charset="-122"/>
                        <a:ea typeface="微软雅黑" panose="020B0503020204020204" charset="-122"/>
                      </a:endParaRPr>
                    </a:p>
                  </a:txBody>
                  <a:tcPr marL="0" marR="0" marT="0" marB="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graphicFrame>
        <p:nvGraphicFramePr>
          <p:cNvPr id="1208" name="table 1208"/>
          <p:cNvGraphicFramePr>
            <a:graphicFrameLocks noGrp="1"/>
          </p:cNvGraphicFramePr>
          <p:nvPr/>
        </p:nvGraphicFramePr>
        <p:xfrm>
          <a:off x="2235707" y="2647188"/>
          <a:ext cx="1209674" cy="450850"/>
        </p:xfrm>
        <a:graphic>
          <a:graphicData uri="http://schemas.openxmlformats.org/drawingml/2006/table">
            <a:tbl>
              <a:tblPr/>
              <a:tblGrid>
                <a:gridCol w="1209674"/>
              </a:tblGrid>
              <a:tr h="444500">
                <a:tc>
                  <a:txBody>
                    <a:bodyPr/>
                    <a:lstStyle/>
                    <a:p>
                      <a:pPr algn="l" rtl="0" eaLnBrk="0">
                        <a:lnSpc>
                          <a:spcPct val="103000"/>
                        </a:lnSpc>
                      </a:pPr>
                      <a:endParaRPr lang="en-US" altLang="en-US" sz="900" dirty="0">
                        <a:latin typeface="微软雅黑" panose="020B0503020204020204" charset="-122"/>
                        <a:ea typeface="微软雅黑" panose="020B0503020204020204" charset="-122"/>
                      </a:endParaRPr>
                    </a:p>
                    <a:p>
                      <a:pPr marL="435610" algn="l" rtl="0" eaLnBrk="0">
                        <a:lnSpc>
                          <a:spcPct val="97000"/>
                        </a:lnSpc>
                        <a:spcBef>
                          <a:spcPts val="0"/>
                        </a:spcBef>
                      </a:pPr>
                      <a:r>
                        <a:rPr sz="1400" spc="-20" dirty="0">
                          <a:ln w="5094"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工</a:t>
                      </a:r>
                      <a:r>
                        <a:rPr sz="1400" spc="-10" dirty="0">
                          <a:ln w="5094"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厂</a:t>
                      </a:r>
                      <a:endParaRPr lang="en-US" altLang="en-US" sz="1400" dirty="0">
                        <a:latin typeface="微软雅黑" panose="020B0503020204020204" charset="-122"/>
                        <a:ea typeface="微软雅黑" panose="020B0503020204020204" charset="-122"/>
                      </a:endParaRPr>
                    </a:p>
                  </a:txBody>
                  <a:tcPr marL="0" marR="0" marT="0" marB="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graphicFrame>
        <p:nvGraphicFramePr>
          <p:cNvPr id="1209" name="table 1209"/>
          <p:cNvGraphicFramePr>
            <a:graphicFrameLocks noGrp="1"/>
          </p:cNvGraphicFramePr>
          <p:nvPr/>
        </p:nvGraphicFramePr>
        <p:xfrm>
          <a:off x="3870960" y="2647188"/>
          <a:ext cx="1208404" cy="450850"/>
        </p:xfrm>
        <a:graphic>
          <a:graphicData uri="http://schemas.openxmlformats.org/drawingml/2006/table">
            <a:tbl>
              <a:tblPr/>
              <a:tblGrid>
                <a:gridCol w="1208404"/>
              </a:tblGrid>
              <a:tr h="444500">
                <a:tc>
                  <a:txBody>
                    <a:bodyPr/>
                    <a:lstStyle/>
                    <a:p>
                      <a:pPr algn="l" rtl="0" eaLnBrk="0">
                        <a:lnSpc>
                          <a:spcPct val="103000"/>
                        </a:lnSpc>
                      </a:pPr>
                      <a:endParaRPr lang="en-US" altLang="en-US" sz="900" dirty="0">
                        <a:latin typeface="微软雅黑" panose="020B0503020204020204" charset="-122"/>
                        <a:ea typeface="微软雅黑" panose="020B0503020204020204" charset="-122"/>
                      </a:endParaRPr>
                    </a:p>
                    <a:p>
                      <a:pPr marL="434975" algn="l" rtl="0" eaLnBrk="0">
                        <a:lnSpc>
                          <a:spcPct val="97000"/>
                        </a:lnSpc>
                        <a:spcBef>
                          <a:spcPts val="0"/>
                        </a:spcBef>
                      </a:pPr>
                      <a:r>
                        <a:rPr sz="1400" spc="-20" dirty="0">
                          <a:ln w="5094"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工</a:t>
                      </a:r>
                      <a:r>
                        <a:rPr sz="1400" spc="-10" dirty="0">
                          <a:ln w="5094"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厂</a:t>
                      </a:r>
                      <a:endParaRPr lang="en-US" altLang="en-US" sz="1400" dirty="0">
                        <a:latin typeface="微软雅黑" panose="020B0503020204020204" charset="-122"/>
                        <a:ea typeface="微软雅黑" panose="020B0503020204020204" charset="-122"/>
                      </a:endParaRPr>
                    </a:p>
                  </a:txBody>
                  <a:tcPr marL="0" marR="0" marT="0" marB="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1210" name="textbox 1210"/>
          <p:cNvSpPr/>
          <p:nvPr/>
        </p:nvSpPr>
        <p:spPr>
          <a:xfrm>
            <a:off x="6354560" y="4699376"/>
            <a:ext cx="377825" cy="1545589"/>
          </a:xfrm>
          <a:prstGeom prst="rect">
            <a:avLst/>
          </a:prstGeom>
        </p:spPr>
        <p:txBody>
          <a:bodyPr vert="horz" wrap="square" lIns="0" tIns="0" rIns="0" bIns="0"/>
          <a:lstStyle/>
          <a:p>
            <a:pPr algn="l" rtl="0" eaLnBrk="0">
              <a:lnSpc>
                <a:spcPct val="83000"/>
              </a:lnSpc>
            </a:pPr>
            <a:endParaRPr lang="en-US" altLang="en-US" sz="100" dirty="0">
              <a:latin typeface="微软雅黑" panose="020B0503020204020204" charset="-122"/>
              <a:ea typeface="微软雅黑" panose="020B0503020204020204" charset="-122"/>
            </a:endParaRPr>
          </a:p>
          <a:p>
            <a:pPr marL="126365" algn="l" rtl="0" eaLnBrk="0">
              <a:lnSpc>
                <a:spcPts val="1705"/>
              </a:lnSpc>
            </a:pPr>
            <a:r>
              <a:rPr sz="1400" spc="0" dirty="0">
                <a:ln w="5094"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无</a:t>
            </a:r>
            <a:endParaRPr lang="en-US" altLang="en-US" sz="1400" dirty="0">
              <a:latin typeface="微软雅黑" panose="020B0503020204020204" charset="-122"/>
              <a:ea typeface="微软雅黑" panose="020B0503020204020204" charset="-122"/>
            </a:endParaRPr>
          </a:p>
          <a:p>
            <a:pPr algn="l" rtl="0" eaLnBrk="0">
              <a:lnSpc>
                <a:spcPct val="134000"/>
              </a:lnSpc>
            </a:pPr>
            <a:endParaRPr lang="en-US" altLang="en-US" sz="1000" dirty="0">
              <a:latin typeface="微软雅黑" panose="020B0503020204020204" charset="-122"/>
              <a:ea typeface="微软雅黑" panose="020B0503020204020204" charset="-122"/>
            </a:endParaRPr>
          </a:p>
          <a:p>
            <a:pPr algn="l" rtl="0" eaLnBrk="0">
              <a:lnSpc>
                <a:spcPct val="135000"/>
              </a:lnSpc>
            </a:pPr>
            <a:endParaRPr lang="en-US" altLang="en-US" sz="1000" dirty="0">
              <a:latin typeface="微软雅黑" panose="020B0503020204020204" charset="-122"/>
              <a:ea typeface="微软雅黑" panose="020B0503020204020204" charset="-122"/>
            </a:endParaRPr>
          </a:p>
          <a:p>
            <a:pPr marL="12700" algn="l" rtl="0" eaLnBrk="0">
              <a:lnSpc>
                <a:spcPct val="96000"/>
              </a:lnSpc>
              <a:spcBef>
                <a:spcPts val="425"/>
              </a:spcBef>
            </a:pPr>
            <a:r>
              <a:rPr sz="1400" spc="-10" dirty="0">
                <a:ln w="5094"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极少</a:t>
            </a:r>
            <a:endParaRPr lang="en-US" altLang="en-US" sz="1400" dirty="0">
              <a:latin typeface="微软雅黑" panose="020B0503020204020204" charset="-122"/>
              <a:ea typeface="微软雅黑" panose="020B0503020204020204" charset="-122"/>
            </a:endParaRPr>
          </a:p>
          <a:p>
            <a:pPr algn="l" rtl="0" eaLnBrk="0">
              <a:lnSpc>
                <a:spcPct val="119000"/>
              </a:lnSpc>
            </a:pPr>
            <a:endParaRPr lang="en-US" altLang="en-US" sz="1000" dirty="0">
              <a:latin typeface="微软雅黑" panose="020B0503020204020204" charset="-122"/>
              <a:ea typeface="微软雅黑" panose="020B0503020204020204" charset="-122"/>
            </a:endParaRPr>
          </a:p>
          <a:p>
            <a:pPr algn="l" rtl="0" eaLnBrk="0">
              <a:lnSpc>
                <a:spcPct val="119000"/>
              </a:lnSpc>
            </a:pPr>
            <a:endParaRPr lang="en-US" altLang="en-US" sz="1000" dirty="0">
              <a:latin typeface="微软雅黑" panose="020B0503020204020204" charset="-122"/>
              <a:ea typeface="微软雅黑" panose="020B0503020204020204" charset="-122"/>
            </a:endParaRPr>
          </a:p>
          <a:p>
            <a:pPr algn="l" rtl="0" eaLnBrk="0">
              <a:lnSpc>
                <a:spcPct val="119000"/>
              </a:lnSpc>
            </a:pPr>
            <a:endParaRPr lang="en-US" altLang="en-US" sz="300" dirty="0">
              <a:latin typeface="微软雅黑" panose="020B0503020204020204" charset="-122"/>
              <a:ea typeface="微软雅黑" panose="020B0503020204020204" charset="-122"/>
            </a:endParaRPr>
          </a:p>
          <a:p>
            <a:pPr marL="104775" algn="l" rtl="0" eaLnBrk="0">
              <a:lnSpc>
                <a:spcPts val="1705"/>
              </a:lnSpc>
              <a:spcBef>
                <a:spcPts val="5"/>
              </a:spcBef>
            </a:pPr>
            <a:r>
              <a:rPr sz="1400" spc="0" dirty="0">
                <a:ln w="5094"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无</a:t>
            </a:r>
            <a:endParaRPr lang="en-US" altLang="en-US" sz="1400" dirty="0">
              <a:latin typeface="微软雅黑" panose="020B0503020204020204" charset="-122"/>
              <a:ea typeface="微软雅黑" panose="020B0503020204020204" charset="-122"/>
            </a:endParaRPr>
          </a:p>
        </p:txBody>
      </p:sp>
      <p:sp>
        <p:nvSpPr>
          <p:cNvPr id="1211" name="textbox 1211"/>
          <p:cNvSpPr/>
          <p:nvPr/>
        </p:nvSpPr>
        <p:spPr>
          <a:xfrm>
            <a:off x="3515387" y="4699376"/>
            <a:ext cx="372745" cy="1545589"/>
          </a:xfrm>
          <a:prstGeom prst="rect">
            <a:avLst/>
          </a:prstGeom>
        </p:spPr>
        <p:txBody>
          <a:bodyPr vert="horz" wrap="square" lIns="0" tIns="0" rIns="0" bIns="0"/>
          <a:lstStyle/>
          <a:p>
            <a:pPr algn="l" rtl="0" eaLnBrk="0">
              <a:lnSpc>
                <a:spcPct val="83000"/>
              </a:lnSpc>
            </a:pPr>
            <a:endParaRPr lang="en-US" altLang="en-US" sz="100" dirty="0">
              <a:latin typeface="微软雅黑" panose="020B0503020204020204" charset="-122"/>
              <a:ea typeface="微软雅黑" panose="020B0503020204020204" charset="-122"/>
            </a:endParaRPr>
          </a:p>
          <a:p>
            <a:pPr marL="123190" algn="l" rtl="0" eaLnBrk="0">
              <a:lnSpc>
                <a:spcPts val="1705"/>
              </a:lnSpc>
            </a:pPr>
            <a:r>
              <a:rPr sz="1400" spc="0" dirty="0">
                <a:ln w="5094"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无</a:t>
            </a:r>
            <a:endParaRPr lang="en-US" altLang="en-US" sz="1400" dirty="0">
              <a:latin typeface="微软雅黑" panose="020B0503020204020204" charset="-122"/>
              <a:ea typeface="微软雅黑" panose="020B0503020204020204" charset="-122"/>
            </a:endParaRPr>
          </a:p>
          <a:p>
            <a:pPr algn="l" rtl="0" eaLnBrk="0">
              <a:lnSpc>
                <a:spcPct val="134000"/>
              </a:lnSpc>
            </a:pPr>
            <a:endParaRPr lang="en-US" altLang="en-US" sz="1000" dirty="0">
              <a:latin typeface="微软雅黑" panose="020B0503020204020204" charset="-122"/>
              <a:ea typeface="微软雅黑" panose="020B0503020204020204" charset="-122"/>
            </a:endParaRPr>
          </a:p>
          <a:p>
            <a:pPr algn="l" rtl="0" eaLnBrk="0">
              <a:lnSpc>
                <a:spcPct val="135000"/>
              </a:lnSpc>
            </a:pPr>
            <a:endParaRPr lang="en-US" altLang="en-US" sz="1000" dirty="0">
              <a:latin typeface="微软雅黑" panose="020B0503020204020204" charset="-122"/>
              <a:ea typeface="微软雅黑" panose="020B0503020204020204" charset="-122"/>
            </a:endParaRPr>
          </a:p>
          <a:p>
            <a:pPr marL="12700" algn="l" rtl="0" eaLnBrk="0">
              <a:lnSpc>
                <a:spcPct val="99000"/>
              </a:lnSpc>
              <a:spcBef>
                <a:spcPts val="430"/>
              </a:spcBef>
            </a:pPr>
            <a:r>
              <a:rPr sz="1400" spc="-20" dirty="0">
                <a:ln w="5094"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一般</a:t>
            </a:r>
            <a:endParaRPr lang="en-US" altLang="en-US" sz="1400" dirty="0">
              <a:latin typeface="微软雅黑" panose="020B0503020204020204" charset="-122"/>
              <a:ea typeface="微软雅黑" panose="020B0503020204020204" charset="-122"/>
            </a:endParaRPr>
          </a:p>
          <a:p>
            <a:pPr algn="l" rtl="0" eaLnBrk="0">
              <a:lnSpc>
                <a:spcPct val="117000"/>
              </a:lnSpc>
            </a:pPr>
            <a:endParaRPr lang="en-US" altLang="en-US" sz="1000" dirty="0">
              <a:latin typeface="微软雅黑" panose="020B0503020204020204" charset="-122"/>
              <a:ea typeface="微软雅黑" panose="020B0503020204020204" charset="-122"/>
            </a:endParaRPr>
          </a:p>
          <a:p>
            <a:pPr algn="l" rtl="0" eaLnBrk="0">
              <a:lnSpc>
                <a:spcPct val="117000"/>
              </a:lnSpc>
            </a:pPr>
            <a:endParaRPr lang="en-US" altLang="en-US" sz="1000" dirty="0">
              <a:latin typeface="微软雅黑" panose="020B0503020204020204" charset="-122"/>
              <a:ea typeface="微软雅黑" panose="020B0503020204020204" charset="-122"/>
            </a:endParaRPr>
          </a:p>
          <a:p>
            <a:pPr algn="l" rtl="0" eaLnBrk="0">
              <a:lnSpc>
                <a:spcPct val="117000"/>
              </a:lnSpc>
            </a:pPr>
            <a:endParaRPr lang="en-US" altLang="en-US" sz="300" dirty="0">
              <a:latin typeface="微软雅黑" panose="020B0503020204020204" charset="-122"/>
              <a:ea typeface="微软雅黑" panose="020B0503020204020204" charset="-122"/>
            </a:endParaRPr>
          </a:p>
          <a:p>
            <a:pPr marL="99695" algn="l" rtl="0" eaLnBrk="0">
              <a:lnSpc>
                <a:spcPts val="1705"/>
              </a:lnSpc>
              <a:spcBef>
                <a:spcPts val="5"/>
              </a:spcBef>
            </a:pPr>
            <a:r>
              <a:rPr sz="1400" spc="0" dirty="0">
                <a:ln w="5094"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无</a:t>
            </a:r>
            <a:endParaRPr lang="en-US" altLang="en-US" sz="1400" dirty="0">
              <a:latin typeface="微软雅黑" panose="020B0503020204020204" charset="-122"/>
              <a:ea typeface="微软雅黑" panose="020B0503020204020204" charset="-122"/>
            </a:endParaRPr>
          </a:p>
        </p:txBody>
      </p:sp>
      <p:sp>
        <p:nvSpPr>
          <p:cNvPr id="1212" name="rect"/>
          <p:cNvSpPr/>
          <p:nvPr/>
        </p:nvSpPr>
        <p:spPr>
          <a:xfrm>
            <a:off x="2116836" y="3973068"/>
            <a:ext cx="1046988" cy="466344"/>
          </a:xfrm>
          <a:prstGeom prst="rect">
            <a:avLst/>
          </a:prstGeom>
          <a:solidFill>
            <a:srgbClr val="BFE1FF">
              <a:alpha val="100000"/>
            </a:srgbClr>
          </a:solidFill>
          <a:ln cap="flat">
            <a:noFill/>
            <a:prstDash val="solid"/>
            <a:miter lim="0"/>
          </a:ln>
        </p:spPr>
        <p:txBody>
          <a:bodyPr rtlCol="0"/>
          <a:lstStyle/>
          <a:p>
            <a:pPr algn="ctr"/>
            <a:endParaRPr lang="zh-CN" altLang="en-US"/>
          </a:p>
        </p:txBody>
      </p:sp>
      <p:sp>
        <p:nvSpPr>
          <p:cNvPr id="1213" name="textbox 1213"/>
          <p:cNvSpPr/>
          <p:nvPr/>
        </p:nvSpPr>
        <p:spPr>
          <a:xfrm>
            <a:off x="5215779" y="5258049"/>
            <a:ext cx="657859" cy="841375"/>
          </a:xfrm>
          <a:prstGeom prst="rect">
            <a:avLst/>
          </a:prstGeom>
        </p:spPr>
        <p:txBody>
          <a:bodyPr vert="horz" wrap="square" lIns="0" tIns="0" rIns="0" bIns="0"/>
          <a:lstStyle/>
          <a:p>
            <a:pPr algn="l" rtl="0" eaLnBrk="0">
              <a:lnSpc>
                <a:spcPct val="84000"/>
              </a:lnSpc>
            </a:pPr>
            <a:endParaRPr lang="en-US" altLang="en-US" sz="100" dirty="0">
              <a:latin typeface="微软雅黑" panose="020B0503020204020204" charset="-122"/>
              <a:ea typeface="微软雅黑" panose="020B0503020204020204" charset="-122"/>
            </a:endParaRPr>
          </a:p>
          <a:p>
            <a:pPr marL="12700" algn="l" rtl="0" eaLnBrk="0">
              <a:lnSpc>
                <a:spcPct val="81000"/>
              </a:lnSpc>
            </a:pPr>
            <a:r>
              <a:rPr sz="1700" spc="-6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60" dirty="0">
                <a:solidFill>
                  <a:srgbClr val="000000">
                    <a:alpha val="100000"/>
                  </a:srgbClr>
                </a:solidFill>
                <a:latin typeface="微软雅黑" panose="020B0503020204020204" charset="-122"/>
                <a:ea typeface="微软雅黑" panose="020B0503020204020204" charset="-122"/>
                <a:cs typeface="楷体" panose="02010609060101010101" charset="-122"/>
              </a:rPr>
              <a:t>销售</a:t>
            </a:r>
            <a:r>
              <a:rPr sz="1400" spc="-50" dirty="0">
                <a:solidFill>
                  <a:srgbClr val="000000">
                    <a:alpha val="100000"/>
                  </a:srgbClr>
                </a:solidFill>
                <a:latin typeface="微软雅黑" panose="020B0503020204020204" charset="-122"/>
                <a:ea typeface="微软雅黑" panose="020B0503020204020204" charset="-122"/>
                <a:cs typeface="楷体" panose="02010609060101010101" charset="-122"/>
              </a:rPr>
              <a:t>员</a:t>
            </a:r>
            <a:endParaRPr lang="en-US" altLang="en-US" sz="14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8000"/>
              </a:lnSpc>
            </a:pPr>
            <a:endParaRPr lang="en-US" altLang="en-US" sz="400" dirty="0">
              <a:latin typeface="微软雅黑" panose="020B0503020204020204" charset="-122"/>
              <a:ea typeface="微软雅黑" panose="020B0503020204020204" charset="-122"/>
            </a:endParaRPr>
          </a:p>
          <a:p>
            <a:pPr marL="12700" algn="l" rtl="0" eaLnBrk="0">
              <a:lnSpc>
                <a:spcPct val="87000"/>
              </a:lnSpc>
              <a:spcBef>
                <a:spcPts val="5"/>
              </a:spcBef>
            </a:pPr>
            <a:r>
              <a:rPr sz="1700" spc="-9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70" dirty="0">
                <a:solidFill>
                  <a:srgbClr val="000000">
                    <a:alpha val="100000"/>
                  </a:srgbClr>
                </a:solidFill>
                <a:latin typeface="微软雅黑" panose="020B0503020204020204" charset="-122"/>
                <a:ea typeface="微软雅黑" panose="020B0503020204020204" charset="-122"/>
                <a:cs typeface="楷体" panose="02010609060101010101" charset="-122"/>
              </a:rPr>
              <a:t>无</a:t>
            </a:r>
            <a:endParaRPr lang="en-US" altLang="en-US" sz="1400" dirty="0">
              <a:latin typeface="微软雅黑" panose="020B0503020204020204" charset="-122"/>
              <a:ea typeface="微软雅黑" panose="020B0503020204020204" charset="-122"/>
            </a:endParaRPr>
          </a:p>
        </p:txBody>
      </p:sp>
      <p:sp>
        <p:nvSpPr>
          <p:cNvPr id="1214" name="rect"/>
          <p:cNvSpPr/>
          <p:nvPr/>
        </p:nvSpPr>
        <p:spPr>
          <a:xfrm>
            <a:off x="5166359" y="3970020"/>
            <a:ext cx="935735" cy="466344"/>
          </a:xfrm>
          <a:prstGeom prst="rect">
            <a:avLst/>
          </a:prstGeom>
          <a:solidFill>
            <a:srgbClr val="BFE1FF">
              <a:alpha val="100000"/>
            </a:srgbClr>
          </a:solidFill>
          <a:ln cap="flat">
            <a:noFill/>
            <a:prstDash val="solid"/>
            <a:miter lim="0"/>
          </a:ln>
        </p:spPr>
        <p:txBody>
          <a:bodyPr rtlCol="0"/>
          <a:lstStyle/>
          <a:p>
            <a:pPr algn="ctr"/>
            <a:endParaRPr lang="zh-CN" altLang="en-US"/>
          </a:p>
        </p:txBody>
      </p:sp>
      <p:sp>
        <p:nvSpPr>
          <p:cNvPr id="1215" name="rect"/>
          <p:cNvSpPr/>
          <p:nvPr/>
        </p:nvSpPr>
        <p:spPr>
          <a:xfrm>
            <a:off x="4267200" y="3970020"/>
            <a:ext cx="842771" cy="466344"/>
          </a:xfrm>
          <a:prstGeom prst="rect">
            <a:avLst/>
          </a:prstGeom>
          <a:solidFill>
            <a:srgbClr val="BFE1FF">
              <a:alpha val="100000"/>
            </a:srgbClr>
          </a:solidFill>
          <a:ln cap="flat">
            <a:noFill/>
            <a:prstDash val="solid"/>
            <a:miter lim="0"/>
          </a:ln>
        </p:spPr>
        <p:txBody>
          <a:bodyPr rtlCol="0"/>
          <a:lstStyle/>
          <a:p>
            <a:pPr algn="ctr"/>
            <a:endParaRPr lang="zh-CN" altLang="en-US"/>
          </a:p>
        </p:txBody>
      </p:sp>
      <p:sp>
        <p:nvSpPr>
          <p:cNvPr id="1216" name="textbox 1216"/>
          <p:cNvSpPr/>
          <p:nvPr/>
        </p:nvSpPr>
        <p:spPr>
          <a:xfrm>
            <a:off x="2157824" y="4113263"/>
            <a:ext cx="2011045" cy="227329"/>
          </a:xfrm>
          <a:prstGeom prst="rect">
            <a:avLst/>
          </a:prstGeom>
        </p:spPr>
        <p:txBody>
          <a:bodyPr vert="horz" wrap="square" lIns="0" tIns="0" rIns="0" bIns="0"/>
          <a:lstStyle/>
          <a:p>
            <a:pPr algn="l" rtl="0" eaLnBrk="0">
              <a:lnSpc>
                <a:spcPct val="89000"/>
              </a:lnSpc>
            </a:pPr>
            <a:endParaRPr lang="en-US" altLang="en-US" sz="100" dirty="0">
              <a:latin typeface="微软雅黑" panose="020B0503020204020204" charset="-122"/>
              <a:ea typeface="微软雅黑" panose="020B0503020204020204" charset="-122"/>
            </a:endParaRPr>
          </a:p>
          <a:p>
            <a:pPr marL="12700" algn="l" rtl="0" eaLnBrk="0">
              <a:lnSpc>
                <a:spcPct val="94000"/>
              </a:lnSpc>
            </a:pPr>
            <a:r>
              <a:rPr sz="1400" spc="20" dirty="0">
                <a:ln w="5094"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决策影响</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400" spc="20" dirty="0">
                <a:ln w="5103"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与我们</a:t>
            </a:r>
            <a:r>
              <a:rPr sz="1400" spc="10" dirty="0">
                <a:ln w="5103"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关</a:t>
            </a:r>
            <a:r>
              <a:rPr sz="1400" spc="0" dirty="0">
                <a:ln w="5103"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系</a:t>
            </a:r>
            <a:endParaRPr lang="en-US" altLang="en-US" sz="1400" dirty="0">
              <a:latin typeface="微软雅黑" panose="020B0503020204020204" charset="-122"/>
              <a:ea typeface="微软雅黑" panose="020B0503020204020204" charset="-122"/>
            </a:endParaRPr>
          </a:p>
        </p:txBody>
      </p:sp>
      <p:sp>
        <p:nvSpPr>
          <p:cNvPr id="1217" name="textbox 1217"/>
          <p:cNvSpPr/>
          <p:nvPr/>
        </p:nvSpPr>
        <p:spPr>
          <a:xfrm>
            <a:off x="6174879" y="4011417"/>
            <a:ext cx="730250" cy="445769"/>
          </a:xfrm>
          <a:prstGeom prst="rect">
            <a:avLst/>
          </a:prstGeom>
        </p:spPr>
        <p:txBody>
          <a:bodyPr vert="horz" wrap="square" lIns="0" tIns="0" rIns="0" bIns="0"/>
          <a:lstStyle/>
          <a:p>
            <a:pPr algn="l" rtl="0" eaLnBrk="0">
              <a:lnSpc>
                <a:spcPct val="96000"/>
              </a:lnSpc>
            </a:pPr>
            <a:endParaRPr lang="en-US" altLang="en-US" sz="100" dirty="0">
              <a:latin typeface="微软雅黑" panose="020B0503020204020204" charset="-122"/>
              <a:ea typeface="微软雅黑" panose="020B0503020204020204" charset="-122"/>
            </a:endParaRPr>
          </a:p>
          <a:p>
            <a:pPr marL="12700" indent="20320" algn="l" rtl="0" eaLnBrk="0">
              <a:lnSpc>
                <a:spcPct val="98000"/>
              </a:lnSpc>
            </a:pPr>
            <a:r>
              <a:rPr sz="1400" spc="-60" dirty="0">
                <a:ln w="5094"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当前拜</a:t>
            </a:r>
            <a:r>
              <a:rPr sz="1400" spc="-30" dirty="0">
                <a:ln w="5094"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访</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400" spc="-20" dirty="0">
                <a:ln w="5103"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频</a:t>
            </a:r>
            <a:r>
              <a:rPr sz="1400" spc="-10" dirty="0">
                <a:ln w="5103"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次</a:t>
            </a:r>
            <a:endParaRPr lang="en-US" altLang="en-US" sz="1400" dirty="0">
              <a:latin typeface="微软雅黑" panose="020B0503020204020204" charset="-122"/>
              <a:ea typeface="微软雅黑" panose="020B0503020204020204" charset="-122"/>
            </a:endParaRPr>
          </a:p>
        </p:txBody>
      </p:sp>
      <p:sp>
        <p:nvSpPr>
          <p:cNvPr id="1218" name="textbox 1218"/>
          <p:cNvSpPr/>
          <p:nvPr/>
        </p:nvSpPr>
        <p:spPr>
          <a:xfrm>
            <a:off x="4304027" y="4011417"/>
            <a:ext cx="728344" cy="439419"/>
          </a:xfrm>
          <a:prstGeom prst="rect">
            <a:avLst/>
          </a:prstGeom>
        </p:spPr>
        <p:txBody>
          <a:bodyPr vert="horz" wrap="square" lIns="0" tIns="0" rIns="0" bIns="0"/>
          <a:lstStyle/>
          <a:p>
            <a:pPr algn="l" rtl="0" eaLnBrk="0">
              <a:lnSpc>
                <a:spcPct val="83000"/>
              </a:lnSpc>
            </a:pPr>
            <a:endParaRPr lang="en-US" altLang="en-US" sz="100" dirty="0">
              <a:latin typeface="微软雅黑" panose="020B0503020204020204" charset="-122"/>
              <a:ea typeface="微软雅黑" panose="020B0503020204020204" charset="-122"/>
            </a:endParaRPr>
          </a:p>
          <a:p>
            <a:pPr marL="12700" indent="5080" algn="l" rtl="0" eaLnBrk="0">
              <a:lnSpc>
                <a:spcPct val="97000"/>
              </a:lnSpc>
            </a:pPr>
            <a:r>
              <a:rPr sz="1400" spc="-30" dirty="0">
                <a:ln w="5094"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决策绩</a:t>
            </a:r>
            <a:r>
              <a:rPr sz="1400" spc="-20" dirty="0">
                <a:ln w="5094"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效</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400" spc="-20" dirty="0">
                <a:ln w="5103"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指标</a:t>
            </a:r>
            <a:endParaRPr lang="en-US" altLang="en-US" sz="1400" dirty="0">
              <a:latin typeface="微软雅黑" panose="020B0503020204020204" charset="-122"/>
              <a:ea typeface="微软雅黑" panose="020B0503020204020204" charset="-122"/>
            </a:endParaRPr>
          </a:p>
        </p:txBody>
      </p:sp>
      <p:sp>
        <p:nvSpPr>
          <p:cNvPr id="1219" name="textbox 1219"/>
          <p:cNvSpPr/>
          <p:nvPr/>
        </p:nvSpPr>
        <p:spPr>
          <a:xfrm>
            <a:off x="7365502" y="2872735"/>
            <a:ext cx="1268730" cy="220979"/>
          </a:xfrm>
          <a:prstGeom prst="rect">
            <a:avLst/>
          </a:prstGeom>
        </p:spPr>
        <p:txBody>
          <a:bodyPr vert="horz" wrap="square" lIns="0" tIns="0" rIns="0" bIns="0"/>
          <a:lstStyle/>
          <a:p>
            <a:pPr algn="l" rtl="0" eaLnBrk="0">
              <a:lnSpc>
                <a:spcPct val="77000"/>
              </a:lnSpc>
            </a:pPr>
            <a:endParaRPr lang="en-US" altLang="en-US" sz="100" dirty="0">
              <a:latin typeface="微软雅黑" panose="020B0503020204020204" charset="-122"/>
              <a:ea typeface="微软雅黑" panose="020B0503020204020204" charset="-122"/>
            </a:endParaRPr>
          </a:p>
          <a:p>
            <a:pPr marL="12700" algn="l" rtl="0" eaLnBrk="0">
              <a:lnSpc>
                <a:spcPct val="92000"/>
              </a:lnSpc>
            </a:pP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应该</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瞄准哪些关</a:t>
            </a:r>
            <a:endParaRPr lang="en-US" altLang="en-US" sz="1400" dirty="0">
              <a:latin typeface="微软雅黑" panose="020B0503020204020204" charset="-122"/>
              <a:ea typeface="微软雅黑" panose="020B0503020204020204" charset="-122"/>
            </a:endParaRPr>
          </a:p>
        </p:txBody>
      </p:sp>
      <p:sp>
        <p:nvSpPr>
          <p:cNvPr id="1220" name="textbox 1220"/>
          <p:cNvSpPr/>
          <p:nvPr/>
        </p:nvSpPr>
        <p:spPr>
          <a:xfrm>
            <a:off x="7375130" y="4153149"/>
            <a:ext cx="1259205" cy="230504"/>
          </a:xfrm>
          <a:prstGeom prst="rect">
            <a:avLst/>
          </a:prstGeom>
        </p:spPr>
        <p:txBody>
          <a:bodyPr vert="horz" wrap="square" lIns="0" tIns="0" rIns="0" bIns="0"/>
          <a:lstStyle/>
          <a:p>
            <a:pPr algn="l" rtl="0" eaLnBrk="0">
              <a:lnSpc>
                <a:spcPct val="85000"/>
              </a:lnSpc>
            </a:pPr>
            <a:endParaRPr lang="en-US" altLang="en-US" sz="100" dirty="0">
              <a:latin typeface="微软雅黑" panose="020B0503020204020204" charset="-122"/>
              <a:ea typeface="微软雅黑" panose="020B0503020204020204" charset="-122"/>
            </a:endParaRPr>
          </a:p>
          <a:p>
            <a:pPr marL="12700" algn="l" rtl="0" eaLnBrk="0">
              <a:lnSpc>
                <a:spcPct val="96000"/>
              </a:lnSpc>
            </a:pP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我们应该</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如</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何保</a:t>
            </a:r>
            <a:endParaRPr lang="en-US" altLang="en-US" sz="1400" dirty="0">
              <a:latin typeface="微软雅黑" panose="020B0503020204020204" charset="-122"/>
              <a:ea typeface="微软雅黑" panose="020B0503020204020204" charset="-122"/>
            </a:endParaRPr>
          </a:p>
        </p:txBody>
      </p:sp>
      <p:sp>
        <p:nvSpPr>
          <p:cNvPr id="1221" name="textbox 1221"/>
          <p:cNvSpPr/>
          <p:nvPr/>
        </p:nvSpPr>
        <p:spPr>
          <a:xfrm>
            <a:off x="3163065" y="1130803"/>
            <a:ext cx="1067435" cy="226695"/>
          </a:xfrm>
          <a:prstGeom prst="rect">
            <a:avLst/>
          </a:prstGeom>
        </p:spPr>
        <p:txBody>
          <a:bodyPr vert="horz" wrap="square" lIns="0" tIns="0" rIns="0" bIns="0"/>
          <a:lstStyle/>
          <a:p>
            <a:pPr algn="l" rtl="0" eaLnBrk="0">
              <a:lnSpc>
                <a:spcPct val="85000"/>
              </a:lnSpc>
            </a:pPr>
            <a:endParaRPr lang="en-US" altLang="en-US" sz="100" dirty="0">
              <a:latin typeface="微软雅黑" panose="020B0503020204020204" charset="-122"/>
              <a:ea typeface="微软雅黑" panose="020B0503020204020204" charset="-122"/>
            </a:endParaRPr>
          </a:p>
          <a:p>
            <a:pPr marL="12700" algn="l" rtl="0" eaLnBrk="0">
              <a:lnSpc>
                <a:spcPct val="94000"/>
              </a:lnSpc>
            </a:pPr>
            <a:r>
              <a:rPr sz="1400" spc="-40" dirty="0">
                <a:ln w="5094"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中国采购总</a:t>
            </a:r>
            <a:r>
              <a:rPr sz="1400" spc="0" dirty="0">
                <a:ln w="5094"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监</a:t>
            </a:r>
            <a:endParaRPr lang="en-US" altLang="en-US" sz="1400" dirty="0">
              <a:latin typeface="微软雅黑" panose="020B0503020204020204" charset="-122"/>
              <a:ea typeface="微软雅黑" panose="020B0503020204020204" charset="-122"/>
            </a:endParaRPr>
          </a:p>
        </p:txBody>
      </p:sp>
      <p:sp>
        <p:nvSpPr>
          <p:cNvPr id="1222" name="textbox 1222"/>
          <p:cNvSpPr/>
          <p:nvPr/>
        </p:nvSpPr>
        <p:spPr>
          <a:xfrm>
            <a:off x="8818509" y="1037437"/>
            <a:ext cx="114935" cy="1840229"/>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endParaRPr sz="600" spc="0" dirty="0">
              <a:solidFill>
                <a:srgbClr val="808080">
                  <a:alpha val="100000"/>
                </a:srgbClr>
              </a:solidFill>
              <a:latin typeface="Arial" panose="020B0604020202020204"/>
              <a:ea typeface="Arial" panose="020B0604020202020204"/>
              <a:cs typeface="Arial" panose="020B0604020202020204"/>
            </a:endParaRPr>
          </a:p>
        </p:txBody>
      </p:sp>
      <p:sp>
        <p:nvSpPr>
          <p:cNvPr id="1223" name="textbox 1223"/>
          <p:cNvSpPr/>
          <p:nvPr/>
        </p:nvSpPr>
        <p:spPr>
          <a:xfrm>
            <a:off x="5197931" y="4113263"/>
            <a:ext cx="556894" cy="224790"/>
          </a:xfrm>
          <a:prstGeom prst="rect">
            <a:avLst/>
          </a:prstGeom>
        </p:spPr>
        <p:txBody>
          <a:bodyPr vert="horz" wrap="square" lIns="0" tIns="0" rIns="0" bIns="0"/>
          <a:lstStyle/>
          <a:p>
            <a:pPr algn="l" rtl="0" eaLnBrk="0">
              <a:lnSpc>
                <a:spcPct val="88000"/>
              </a:lnSpc>
            </a:pPr>
            <a:endParaRPr lang="en-US" altLang="en-US" sz="100" dirty="0">
              <a:latin typeface="微软雅黑" panose="020B0503020204020204" charset="-122"/>
              <a:ea typeface="微软雅黑" panose="020B0503020204020204" charset="-122"/>
            </a:endParaRPr>
          </a:p>
          <a:p>
            <a:pPr marL="12700" algn="l" rtl="0" eaLnBrk="0">
              <a:lnSpc>
                <a:spcPct val="93000"/>
              </a:lnSpc>
            </a:pPr>
            <a:r>
              <a:rPr sz="1400" spc="-10" dirty="0">
                <a:ln w="5103"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联系</a:t>
            </a:r>
            <a:r>
              <a:rPr sz="1400" spc="0" dirty="0">
                <a:ln w="5103"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人</a:t>
            </a:r>
            <a:endParaRPr lang="en-US" altLang="en-US" sz="1400" dirty="0">
              <a:latin typeface="微软雅黑" panose="020B0503020204020204" charset="-122"/>
              <a:ea typeface="微软雅黑" panose="020B0503020204020204" charset="-122"/>
            </a:endParaRPr>
          </a:p>
        </p:txBody>
      </p:sp>
      <p:sp>
        <p:nvSpPr>
          <p:cNvPr id="1224" name="textbox 1224"/>
          <p:cNvSpPr/>
          <p:nvPr/>
        </p:nvSpPr>
        <p:spPr>
          <a:xfrm>
            <a:off x="5215798" y="4485373"/>
            <a:ext cx="301625" cy="252095"/>
          </a:xfrm>
          <a:prstGeom prst="rect">
            <a:avLst/>
          </a:prstGeom>
        </p:spPr>
        <p:txBody>
          <a:bodyPr vert="horz" wrap="square" lIns="0" tIns="0" rIns="0" bIns="0"/>
          <a:lstStyle/>
          <a:p>
            <a:pPr algn="l" rtl="0" eaLnBrk="0">
              <a:lnSpc>
                <a:spcPct val="89000"/>
              </a:lnSpc>
            </a:pPr>
            <a:endParaRPr lang="en-US" altLang="en-US" sz="100" dirty="0">
              <a:latin typeface="微软雅黑" panose="020B0503020204020204" charset="-122"/>
              <a:ea typeface="微软雅黑" panose="020B0503020204020204" charset="-122"/>
            </a:endParaRPr>
          </a:p>
          <a:p>
            <a:pPr marL="12700" algn="l" rtl="0" eaLnBrk="0">
              <a:lnSpc>
                <a:spcPct val="87000"/>
              </a:lnSpc>
            </a:pPr>
            <a:r>
              <a:rPr sz="1700" spc="-9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70" dirty="0">
                <a:solidFill>
                  <a:srgbClr val="000000">
                    <a:alpha val="100000"/>
                  </a:srgbClr>
                </a:solidFill>
                <a:latin typeface="微软雅黑" panose="020B0503020204020204" charset="-122"/>
                <a:ea typeface="微软雅黑" panose="020B0503020204020204" charset="-122"/>
                <a:cs typeface="楷体" panose="02010609060101010101" charset="-122"/>
              </a:rPr>
              <a:t>无</a:t>
            </a:r>
            <a:endParaRPr lang="en-US" altLang="en-US" sz="1400" dirty="0">
              <a:latin typeface="微软雅黑" panose="020B0503020204020204" charset="-122"/>
              <a:ea typeface="微软雅黑" panose="020B0503020204020204" charset="-122"/>
            </a:endParaRPr>
          </a:p>
        </p:txBody>
      </p:sp>
      <p:sp>
        <p:nvSpPr>
          <p:cNvPr id="1225" name="textbox 1225"/>
          <p:cNvSpPr/>
          <p:nvPr/>
        </p:nvSpPr>
        <p:spPr>
          <a:xfrm>
            <a:off x="8818435" y="4032021"/>
            <a:ext cx="114935" cy="262890"/>
          </a:xfrm>
          <a:prstGeom prst="rect">
            <a:avLst/>
          </a:prstGeom>
        </p:spPr>
        <p:txBody>
          <a:bodyPr vert="eaVert" wrap="square" lIns="0" tIns="0" rIns="0" bIns="0"/>
          <a:lstStyle/>
          <a:p>
            <a:pPr algn="l" rtl="0" eaLnBrk="0">
              <a:lnSpc>
                <a:spcPct val="85000"/>
              </a:lnSpc>
            </a:pPr>
            <a:endParaRPr lang="en-US" altLang="en-US" sz="100" dirty="0"/>
          </a:p>
          <a:p>
            <a:pPr marL="12700" algn="l" rtl="0" eaLnBrk="0">
              <a:lnSpc>
                <a:spcPct val="79000"/>
              </a:lnSpc>
            </a:pPr>
            <a:endParaRPr sz="600" spc="-10" dirty="0">
              <a:solidFill>
                <a:srgbClr val="808080">
                  <a:alpha val="100000"/>
                </a:srgbClr>
              </a:solidFill>
              <a:latin typeface="Arial" panose="020B0604020202020204"/>
              <a:ea typeface="Arial" panose="020B0604020202020204"/>
              <a:cs typeface="Arial" panose="020B0604020202020204"/>
            </a:endParaRPr>
          </a:p>
        </p:txBody>
      </p:sp>
      <p:pic>
        <p:nvPicPr>
          <p:cNvPr id="1226" name="picture 1226"/>
          <p:cNvPicPr>
            <a:picLocks noChangeAspect="1"/>
          </p:cNvPicPr>
          <p:nvPr/>
        </p:nvPicPr>
        <p:blipFill>
          <a:blip r:embed="rId3"/>
          <a:stretch>
            <a:fillRect/>
          </a:stretch>
        </p:blipFill>
        <p:spPr>
          <a:xfrm rot="21600000">
            <a:off x="5076444" y="1912874"/>
            <a:ext cx="147827" cy="29463"/>
          </a:xfrm>
          <a:prstGeom prst="rect">
            <a:avLst/>
          </a:prstGeom>
        </p:spPr>
      </p:pic>
      <p:pic>
        <p:nvPicPr>
          <p:cNvPr id="1227" name="picture 1227"/>
          <p:cNvPicPr>
            <a:picLocks noChangeAspect="1"/>
          </p:cNvPicPr>
          <p:nvPr/>
        </p:nvPicPr>
        <p:blipFill>
          <a:blip r:embed="rId4"/>
          <a:stretch>
            <a:fillRect/>
          </a:stretch>
        </p:blipFill>
        <p:spPr>
          <a:xfrm rot="21600000">
            <a:off x="3666744" y="1523238"/>
            <a:ext cx="28955" cy="6857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8" name="table 1228"/>
          <p:cNvGraphicFramePr>
            <a:graphicFrameLocks noGrp="1"/>
          </p:cNvGraphicFramePr>
          <p:nvPr/>
        </p:nvGraphicFramePr>
        <p:xfrm>
          <a:off x="598932" y="1269492"/>
          <a:ext cx="3658870" cy="4382770"/>
        </p:xfrm>
        <a:graphic>
          <a:graphicData uri="http://schemas.openxmlformats.org/drawingml/2006/table">
            <a:tbl>
              <a:tblPr/>
              <a:tblGrid>
                <a:gridCol w="3658870"/>
              </a:tblGrid>
              <a:tr h="4363720">
                <a:tc>
                  <a:txBody>
                    <a:bodyPr/>
                    <a:lstStyle/>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endParaRPr>
                    </a:p>
                    <a:p>
                      <a:pPr algn="l" rtl="0" eaLnBrk="0">
                        <a:lnSpc>
                          <a:spcPct val="7000"/>
                        </a:lnSpc>
                      </a:pPr>
                      <a:endParaRPr lang="en-US" altLang="en-US" sz="100" dirty="0">
                        <a:latin typeface="微软雅黑" panose="020B0503020204020204" charset="-122"/>
                        <a:ea typeface="微软雅黑" panose="020B0503020204020204" charset="-122"/>
                      </a:endParaRPr>
                    </a:p>
                    <a:p>
                      <a:pPr marL="359410" algn="l" rtl="0" eaLnBrk="0">
                        <a:lnSpc>
                          <a:spcPct val="97000"/>
                        </a:lnSpc>
                      </a:pPr>
                      <a:r>
                        <a:rPr sz="1400" spc="-10" dirty="0">
                          <a:solidFill>
                            <a:srgbClr val="000000">
                              <a:alpha val="100000"/>
                            </a:srgbClr>
                          </a:solidFill>
                          <a:latin typeface="微软雅黑" panose="020B0503020204020204" charset="-122"/>
                          <a:ea typeface="微软雅黑" panose="020B0503020204020204" charset="-122"/>
                          <a:cs typeface="宋体" panose="02010600030101010101" pitchFamily="2" charset="-122"/>
                        </a:rPr>
                        <a:t>+ </a:t>
                      </a:r>
                      <a:r>
                        <a:rPr sz="1400" spc="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定价战略</a:t>
                      </a:r>
                      <a:endParaRPr lang="en-US" altLang="en-US" sz="1400" dirty="0">
                        <a:latin typeface="微软雅黑" panose="020B0503020204020204" charset="-122"/>
                        <a:ea typeface="微软雅黑" panose="020B0503020204020204" charset="-122"/>
                      </a:endParaRPr>
                    </a:p>
                  </a:txBody>
                  <a:tcPr marL="0" marR="0" marT="0" marB="0">
                    <a:lnL w="19050" cap="flat" cmpd="sng" algn="ctr">
                      <a:solidFill>
                        <a:srgbClr val="C5C5C5"/>
                      </a:solidFill>
                      <a:prstDash val="solid"/>
                      <a:round/>
                      <a:headEnd type="none" w="med" len="med"/>
                      <a:tailEnd type="none" w="med" len="med"/>
                    </a:lnL>
                    <a:lnR w="19050" cap="flat" cmpd="sng" algn="ctr">
                      <a:solidFill>
                        <a:srgbClr val="C5C5C5"/>
                      </a:solidFill>
                      <a:prstDash val="solid"/>
                      <a:round/>
                      <a:headEnd type="none" w="med" len="med"/>
                      <a:tailEnd type="none" w="med" len="med"/>
                    </a:lnR>
                    <a:lnT w="19050" cap="flat" cmpd="sng" algn="ctr">
                      <a:solidFill>
                        <a:srgbClr val="C5C5C5"/>
                      </a:solidFill>
                      <a:prstDash val="solid"/>
                      <a:round/>
                      <a:headEnd type="none" w="med" len="med"/>
                      <a:tailEnd type="none" w="med" len="med"/>
                    </a:lnT>
                    <a:lnB w="19050" cap="flat" cmpd="sng" algn="ctr">
                      <a:solidFill>
                        <a:srgbClr val="C5C5C5"/>
                      </a:solidFill>
                      <a:prstDash val="solid"/>
                      <a:round/>
                      <a:headEnd type="none" w="med" len="med"/>
                      <a:tailEnd type="none" w="med" len="med"/>
                    </a:lnB>
                  </a:tcPr>
                </a:tc>
              </a:tr>
            </a:tbl>
          </a:graphicData>
        </a:graphic>
      </p:graphicFrame>
      <p:sp>
        <p:nvSpPr>
          <p:cNvPr id="1229" name="path"/>
          <p:cNvSpPr/>
          <p:nvPr/>
        </p:nvSpPr>
        <p:spPr>
          <a:xfrm>
            <a:off x="4852415" y="2552700"/>
            <a:ext cx="3361944" cy="2884932"/>
          </a:xfrm>
          <a:custGeom>
            <a:avLst/>
            <a:gdLst/>
            <a:ahLst/>
            <a:cxnLst/>
            <a:rect l="0" t="0" r="0" b="0"/>
            <a:pathLst>
              <a:path w="5294" h="4543">
                <a:moveTo>
                  <a:pt x="0" y="1003"/>
                </a:moveTo>
                <a:lnTo>
                  <a:pt x="5294" y="1003"/>
                </a:lnTo>
                <a:lnTo>
                  <a:pt x="5294" y="0"/>
                </a:lnTo>
                <a:lnTo>
                  <a:pt x="0" y="0"/>
                </a:lnTo>
                <a:lnTo>
                  <a:pt x="0" y="1003"/>
                </a:lnTo>
                <a:close/>
              </a:path>
              <a:path w="5294" h="4543">
                <a:moveTo>
                  <a:pt x="0" y="2184"/>
                </a:moveTo>
                <a:lnTo>
                  <a:pt x="5294" y="2184"/>
                </a:lnTo>
                <a:lnTo>
                  <a:pt x="5294" y="1178"/>
                </a:lnTo>
                <a:lnTo>
                  <a:pt x="0" y="1178"/>
                </a:lnTo>
                <a:lnTo>
                  <a:pt x="0" y="2184"/>
                </a:lnTo>
                <a:close/>
              </a:path>
              <a:path w="5294" h="4543">
                <a:moveTo>
                  <a:pt x="0" y="3362"/>
                </a:moveTo>
                <a:lnTo>
                  <a:pt x="5294" y="3362"/>
                </a:lnTo>
                <a:lnTo>
                  <a:pt x="5294" y="2359"/>
                </a:lnTo>
                <a:lnTo>
                  <a:pt x="0" y="2359"/>
                </a:lnTo>
                <a:lnTo>
                  <a:pt x="0" y="3362"/>
                </a:lnTo>
                <a:close/>
              </a:path>
              <a:path w="5294" h="4543">
                <a:moveTo>
                  <a:pt x="0" y="4543"/>
                </a:moveTo>
                <a:lnTo>
                  <a:pt x="5294" y="4543"/>
                </a:lnTo>
                <a:lnTo>
                  <a:pt x="5294" y="3537"/>
                </a:lnTo>
                <a:lnTo>
                  <a:pt x="0" y="3537"/>
                </a:lnTo>
                <a:lnTo>
                  <a:pt x="0" y="4543"/>
                </a:lnTo>
                <a:close/>
              </a:path>
            </a:pathLst>
          </a:custGeom>
          <a:solidFill>
            <a:srgbClr val="E6E6E6">
              <a:alpha val="100000"/>
            </a:srgbClr>
          </a:solidFill>
          <a:ln cap="flat">
            <a:noFill/>
            <a:prstDash val="solid"/>
            <a:miter lim="0"/>
          </a:ln>
        </p:spPr>
        <p:txBody>
          <a:bodyPr rtlCol="0"/>
          <a:lstStyle/>
          <a:p>
            <a:pPr algn="ctr"/>
            <a:endParaRPr lang="zh-CN" altLang="en-US"/>
          </a:p>
        </p:txBody>
      </p:sp>
      <p:graphicFrame>
        <p:nvGraphicFramePr>
          <p:cNvPr id="1230" name="table 1230"/>
          <p:cNvGraphicFramePr>
            <a:graphicFrameLocks noGrp="1"/>
          </p:cNvGraphicFramePr>
          <p:nvPr/>
        </p:nvGraphicFramePr>
        <p:xfrm>
          <a:off x="4706111" y="1269492"/>
          <a:ext cx="3657600" cy="4382770"/>
        </p:xfrm>
        <a:graphic>
          <a:graphicData uri="http://schemas.openxmlformats.org/drawingml/2006/table">
            <a:tbl>
              <a:tblPr/>
              <a:tblGrid>
                <a:gridCol w="3657600"/>
              </a:tblGrid>
              <a:tr h="4363720">
                <a:tc>
                  <a:txBody>
                    <a:bodyPr/>
                    <a:lstStyle/>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marL="422910" indent="-185420" algn="l" rtl="0" eaLnBrk="0">
                        <a:lnSpc>
                          <a:spcPct val="86000"/>
                        </a:lnSpc>
                        <a:spcBef>
                          <a:spcPts val="5"/>
                        </a:spcBef>
                      </a:pPr>
                      <a:r>
                        <a:rPr sz="2000" spc="10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与目标客群的购买决策是否有</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重    </a:t>
                      </a:r>
                      <a:r>
                        <a:rPr sz="1500" spc="60" dirty="0">
                          <a:solidFill>
                            <a:srgbClr val="000000">
                              <a:alpha val="100000"/>
                            </a:srgbClr>
                          </a:solidFill>
                          <a:latin typeface="微软雅黑" panose="020B0503020204020204" charset="-122"/>
                          <a:ea typeface="微软雅黑" panose="020B0503020204020204" charset="-122"/>
                          <a:cs typeface="楷体" panose="02010609060101010101" charset="-122"/>
                        </a:rPr>
                        <a:t>要关系</a:t>
                      </a:r>
                      <a:r>
                        <a:rPr sz="1500" spc="40" dirty="0">
                          <a:solidFill>
                            <a:srgbClr val="000000">
                              <a:alpha val="100000"/>
                            </a:srgbClr>
                          </a:solidFill>
                          <a:latin typeface="微软雅黑" panose="020B0503020204020204" charset="-122"/>
                          <a:ea typeface="微软雅黑" panose="020B0503020204020204" charset="-122"/>
                          <a:cs typeface="楷体" panose="02010609060101010101" charset="-122"/>
                        </a:rPr>
                        <a:t>？</a:t>
                      </a:r>
                      <a:endParaRPr lang="en-US" altLang="en-US" sz="1500" dirty="0">
                        <a:latin typeface="微软雅黑" panose="020B0503020204020204" charset="-122"/>
                        <a:ea typeface="微软雅黑" panose="020B0503020204020204" charset="-122"/>
                      </a:endParaRPr>
                    </a:p>
                    <a:p>
                      <a:pPr algn="l" rtl="0" eaLnBrk="0">
                        <a:lnSpc>
                          <a:spcPct val="107000"/>
                        </a:lnSpc>
                      </a:pPr>
                      <a:endParaRPr lang="en-US" altLang="en-US" sz="1000" dirty="0">
                        <a:latin typeface="微软雅黑" panose="020B0503020204020204" charset="-122"/>
                        <a:ea typeface="微软雅黑" panose="020B0503020204020204" charset="-122"/>
                      </a:endParaRPr>
                    </a:p>
                    <a:p>
                      <a:pPr algn="l" rtl="0" eaLnBrk="0">
                        <a:lnSpc>
                          <a:spcPct val="107000"/>
                        </a:lnSpc>
                      </a:pPr>
                      <a:endParaRPr lang="en-US" altLang="en-US" sz="1000" dirty="0">
                        <a:latin typeface="微软雅黑" panose="020B0503020204020204" charset="-122"/>
                        <a:ea typeface="微软雅黑" panose="020B0503020204020204" charset="-122"/>
                      </a:endParaRPr>
                    </a:p>
                    <a:p>
                      <a:pPr marL="237490" algn="l" rtl="0" eaLnBrk="0">
                        <a:lnSpc>
                          <a:spcPct val="79000"/>
                        </a:lnSpc>
                        <a:spcBef>
                          <a:spcPts val="610"/>
                        </a:spcBef>
                      </a:pPr>
                      <a:r>
                        <a:rPr sz="2000" spc="7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70" dirty="0">
                          <a:solidFill>
                            <a:srgbClr val="000000">
                              <a:alpha val="100000"/>
                            </a:srgbClr>
                          </a:solidFill>
                          <a:latin typeface="微软雅黑" panose="020B0503020204020204" charset="-122"/>
                          <a:ea typeface="微软雅黑" panose="020B0503020204020204" charset="-122"/>
                          <a:cs typeface="楷体" panose="02010609060101010101" charset="-122"/>
                        </a:rPr>
                        <a:t>竞争对手相比是否有差异</a:t>
                      </a:r>
                      <a:r>
                        <a:rPr sz="1500" spc="10" dirty="0">
                          <a:solidFill>
                            <a:srgbClr val="000000">
                              <a:alpha val="100000"/>
                            </a:srgbClr>
                          </a:solidFill>
                          <a:latin typeface="微软雅黑" panose="020B0503020204020204" charset="-122"/>
                          <a:ea typeface="微软雅黑" panose="020B0503020204020204" charset="-122"/>
                          <a:cs typeface="楷体" panose="02010609060101010101" charset="-122"/>
                        </a:rPr>
                        <a:t>度</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a:t>
                      </a:r>
                      <a:endParaRPr lang="en-US" altLang="en-US" sz="1500" dirty="0">
                        <a:latin typeface="微软雅黑" panose="020B0503020204020204" charset="-122"/>
                        <a:ea typeface="微软雅黑" panose="020B0503020204020204" charset="-122"/>
                      </a:endParaRPr>
                    </a:p>
                    <a:p>
                      <a:pPr algn="l" rtl="0" eaLnBrk="0">
                        <a:lnSpc>
                          <a:spcPct val="100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marL="427990" indent="-190500" algn="l" rtl="0" eaLnBrk="0">
                        <a:lnSpc>
                          <a:spcPct val="89000"/>
                        </a:lnSpc>
                        <a:spcBef>
                          <a:spcPts val="610"/>
                        </a:spcBef>
                      </a:pPr>
                      <a:r>
                        <a:rPr sz="2000" spc="10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与目前的品牌承诺</a:t>
                      </a:r>
                      <a:r>
                        <a:rPr sz="1500" spc="100" dirty="0">
                          <a:solidFill>
                            <a:srgbClr val="000000">
                              <a:alpha val="100000"/>
                            </a:srgbClr>
                          </a:solidFill>
                          <a:latin typeface="微软雅黑" panose="020B0503020204020204" charset="-122"/>
                          <a:ea typeface="微软雅黑" panose="020B0503020204020204" charset="-122"/>
                          <a:cs typeface="Arial" panose="020B0604020202020204"/>
                        </a:rPr>
                        <a:t>/</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客户定位</a:t>
                      </a:r>
                      <a:r>
                        <a:rPr sz="1500" spc="80" dirty="0">
                          <a:solidFill>
                            <a:srgbClr val="000000">
                              <a:alpha val="100000"/>
                            </a:srgbClr>
                          </a:solidFill>
                          <a:latin typeface="微软雅黑" panose="020B0503020204020204" charset="-122"/>
                          <a:ea typeface="微软雅黑" panose="020B0503020204020204" charset="-122"/>
                          <a:cs typeface="楷体" panose="02010609060101010101" charset="-122"/>
                        </a:rPr>
                        <a:t>以</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及   </a:t>
                      </a:r>
                      <a:r>
                        <a:rPr sz="1500" spc="40" dirty="0">
                          <a:solidFill>
                            <a:srgbClr val="000000">
                              <a:alpha val="100000"/>
                            </a:srgbClr>
                          </a:solidFill>
                          <a:latin typeface="微软雅黑" panose="020B0503020204020204" charset="-122"/>
                          <a:ea typeface="微软雅黑" panose="020B0503020204020204" charset="-122"/>
                          <a:cs typeface="楷体" panose="02010609060101010101" charset="-122"/>
                        </a:rPr>
                        <a:t>我们的愿景是否一致</a:t>
                      </a:r>
                      <a:r>
                        <a:rPr sz="1500" spc="20" dirty="0">
                          <a:solidFill>
                            <a:srgbClr val="000000">
                              <a:alpha val="100000"/>
                            </a:srgbClr>
                          </a:solidFill>
                          <a:latin typeface="微软雅黑" panose="020B0503020204020204" charset="-122"/>
                          <a:ea typeface="微软雅黑" panose="020B0503020204020204" charset="-122"/>
                          <a:cs typeface="楷体" panose="02010609060101010101" charset="-122"/>
                        </a:rPr>
                        <a:t>？</a:t>
                      </a:r>
                      <a:endParaRPr lang="en-US" altLang="en-US" sz="1500" dirty="0">
                        <a:latin typeface="微软雅黑" panose="020B0503020204020204" charset="-122"/>
                        <a:ea typeface="微软雅黑" panose="020B0503020204020204" charset="-122"/>
                      </a:endParaRPr>
                    </a:p>
                    <a:p>
                      <a:pPr algn="l" rtl="0" eaLnBrk="0">
                        <a:lnSpc>
                          <a:spcPct val="132000"/>
                        </a:lnSpc>
                      </a:pPr>
                      <a:endParaRPr lang="en-US" altLang="en-US" sz="1000" dirty="0">
                        <a:latin typeface="微软雅黑" panose="020B0503020204020204" charset="-122"/>
                        <a:ea typeface="微软雅黑" panose="020B0503020204020204" charset="-122"/>
                      </a:endParaRPr>
                    </a:p>
                    <a:p>
                      <a:pPr algn="l" rtl="0" eaLnBrk="0">
                        <a:lnSpc>
                          <a:spcPct val="100000"/>
                        </a:lnSpc>
                      </a:pPr>
                      <a:endParaRPr lang="en-US" altLang="en-US" sz="500" dirty="0">
                        <a:latin typeface="微软雅黑" panose="020B0503020204020204" charset="-122"/>
                        <a:ea typeface="微软雅黑" panose="020B0503020204020204" charset="-122"/>
                      </a:endParaRPr>
                    </a:p>
                    <a:p>
                      <a:pPr marL="429260" indent="-191770" algn="l" rtl="0" eaLnBrk="0">
                        <a:lnSpc>
                          <a:spcPct val="89000"/>
                        </a:lnSpc>
                        <a:spcBef>
                          <a:spcPts val="5"/>
                        </a:spcBef>
                      </a:pPr>
                      <a:r>
                        <a:rPr sz="2000" spc="10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以组织能力来看是否具有可</a:t>
                      </a:r>
                      <a:r>
                        <a:rPr sz="1500" spc="20" dirty="0">
                          <a:solidFill>
                            <a:srgbClr val="000000">
                              <a:alpha val="100000"/>
                            </a:srgbClr>
                          </a:solidFill>
                          <a:latin typeface="微软雅黑" panose="020B0503020204020204" charset="-122"/>
                          <a:ea typeface="微软雅黑" panose="020B0503020204020204" charset="-122"/>
                          <a:cs typeface="楷体" panose="02010609060101010101" charset="-122"/>
                        </a:rPr>
                        <a:t>持</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110" dirty="0">
                          <a:solidFill>
                            <a:srgbClr val="000000">
                              <a:alpha val="100000"/>
                            </a:srgbClr>
                          </a:solidFill>
                          <a:latin typeface="微软雅黑" panose="020B0503020204020204" charset="-122"/>
                          <a:ea typeface="微软雅黑" panose="020B0503020204020204" charset="-122"/>
                          <a:cs typeface="楷体" panose="02010609060101010101" charset="-122"/>
                        </a:rPr>
                        <a:t>续性</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a:t>
                      </a:r>
                      <a:endParaRPr lang="en-US" altLang="en-US" sz="1500" dirty="0">
                        <a:latin typeface="微软雅黑" panose="020B0503020204020204" charset="-122"/>
                        <a:ea typeface="微软雅黑" panose="020B0503020204020204" charset="-122"/>
                      </a:endParaRPr>
                    </a:p>
                  </a:txBody>
                  <a:tcPr marL="0" marR="0" marT="0" marB="0">
                    <a:lnL w="19050" cap="flat" cmpd="sng" algn="ctr">
                      <a:solidFill>
                        <a:srgbClr val="C5C5C5"/>
                      </a:solidFill>
                      <a:prstDash val="solid"/>
                      <a:round/>
                      <a:headEnd type="none" w="med" len="med"/>
                      <a:tailEnd type="none" w="med" len="med"/>
                    </a:lnL>
                    <a:lnR w="19050" cap="flat" cmpd="sng" algn="ctr">
                      <a:solidFill>
                        <a:srgbClr val="C5C5C5"/>
                      </a:solidFill>
                      <a:prstDash val="solid"/>
                      <a:round/>
                      <a:headEnd type="none" w="med" len="med"/>
                      <a:tailEnd type="none" w="med" len="med"/>
                    </a:lnR>
                    <a:lnT w="19050" cap="flat" cmpd="sng" algn="ctr">
                      <a:solidFill>
                        <a:srgbClr val="C5C5C5"/>
                      </a:solidFill>
                      <a:prstDash val="solid"/>
                      <a:round/>
                      <a:headEnd type="none" w="med" len="med"/>
                      <a:tailEnd type="none" w="med" len="med"/>
                    </a:lnT>
                    <a:lnB w="19050" cap="flat" cmpd="sng" algn="ctr">
                      <a:solidFill>
                        <a:srgbClr val="C5C5C5"/>
                      </a:solidFill>
                      <a:prstDash val="solid"/>
                      <a:round/>
                      <a:headEnd type="none" w="med" len="med"/>
                      <a:tailEnd type="none" w="med" len="med"/>
                    </a:lnB>
                  </a:tcPr>
                </a:tc>
              </a:tr>
            </a:tbl>
          </a:graphicData>
        </a:graphic>
      </p:graphicFrame>
      <p:sp>
        <p:nvSpPr>
          <p:cNvPr id="1231" name="textbox 1231"/>
          <p:cNvSpPr/>
          <p:nvPr/>
        </p:nvSpPr>
        <p:spPr>
          <a:xfrm>
            <a:off x="449894" y="527884"/>
            <a:ext cx="8150859" cy="603250"/>
          </a:xfrm>
          <a:prstGeom prst="rect">
            <a:avLst/>
          </a:prstGeom>
        </p:spPr>
        <p:txBody>
          <a:bodyPr vert="horz" wrap="square" lIns="0" tIns="0" rIns="0" bIns="0"/>
          <a:lstStyle/>
          <a:p>
            <a:pPr algn="l" rtl="0" eaLnBrk="0">
              <a:lnSpc>
                <a:spcPct val="72000"/>
              </a:lnSpc>
            </a:pPr>
            <a:endParaRPr lang="en-US" altLang="en-US" sz="100" dirty="0">
              <a:latin typeface="微软雅黑" panose="020B0503020204020204" charset="-122"/>
              <a:ea typeface="微软雅黑" panose="020B0503020204020204" charset="-122"/>
            </a:endParaRPr>
          </a:p>
          <a:p>
            <a:pPr marL="12700" algn="l" rtl="0" eaLnBrk="0">
              <a:lnSpc>
                <a:spcPct val="95000"/>
              </a:lnSpc>
            </a:pPr>
            <a:r>
              <a:rPr sz="2000" spc="-40" dirty="0">
                <a:solidFill>
                  <a:srgbClr val="002960">
                    <a:alpha val="100000"/>
                  </a:srgbClr>
                </a:solidFill>
                <a:latin typeface="微软雅黑" panose="020B0503020204020204" charset="-122"/>
                <a:ea typeface="微软雅黑" panose="020B0503020204020204" charset="-122"/>
                <a:cs typeface="楷体" panose="02010609060101010101" charset="-122"/>
              </a:rPr>
              <a:t>在确定“价值定位表述”时，必须考虑目标客群， 客户</a:t>
            </a:r>
            <a:r>
              <a:rPr sz="2000" spc="-30" dirty="0">
                <a:solidFill>
                  <a:srgbClr val="002960">
                    <a:alpha val="100000"/>
                  </a:srgbClr>
                </a:solidFill>
                <a:latin typeface="微软雅黑" panose="020B0503020204020204" charset="-122"/>
                <a:ea typeface="微软雅黑" panose="020B0503020204020204" charset="-122"/>
                <a:cs typeface="楷体" panose="02010609060101010101" charset="-122"/>
              </a:rPr>
              <a:t>需</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求以及如何满足 </a:t>
            </a:r>
            <a:r>
              <a:rPr sz="2000" spc="-10" dirty="0">
                <a:solidFill>
                  <a:srgbClr val="002960">
                    <a:alpha val="100000"/>
                  </a:srgbClr>
                </a:solidFill>
                <a:latin typeface="微软雅黑" panose="020B0503020204020204" charset="-122"/>
                <a:ea typeface="微软雅黑" panose="020B0503020204020204" charset="-122"/>
                <a:cs typeface="楷体" panose="02010609060101010101" charset="-122"/>
              </a:rPr>
              <a:t>客户</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需求</a:t>
            </a:r>
            <a:endParaRPr lang="en-US" altLang="en-US" sz="2000" dirty="0">
              <a:latin typeface="微软雅黑" panose="020B0503020204020204" charset="-122"/>
              <a:ea typeface="微软雅黑" panose="020B0503020204020204" charset="-122"/>
            </a:endParaRPr>
          </a:p>
        </p:txBody>
      </p:sp>
      <p:pic>
        <p:nvPicPr>
          <p:cNvPr id="1232" name="picture 1232"/>
          <p:cNvPicPr>
            <a:picLocks noChangeAspect="1"/>
          </p:cNvPicPr>
          <p:nvPr/>
        </p:nvPicPr>
        <p:blipFill>
          <a:blip r:embed="rId1"/>
          <a:stretch>
            <a:fillRect/>
          </a:stretch>
        </p:blipFill>
        <p:spPr>
          <a:xfrm rot="21600000">
            <a:off x="845819" y="2453640"/>
            <a:ext cx="3165347" cy="1104900"/>
          </a:xfrm>
          <a:prstGeom prst="rect">
            <a:avLst/>
          </a:prstGeom>
        </p:spPr>
      </p:pic>
      <p:pic>
        <p:nvPicPr>
          <p:cNvPr id="1233" name="picture 1233"/>
          <p:cNvPicPr>
            <a:picLocks noChangeAspect="1"/>
          </p:cNvPicPr>
          <p:nvPr/>
        </p:nvPicPr>
        <p:blipFill>
          <a:blip r:embed="rId2"/>
          <a:stretch>
            <a:fillRect/>
          </a:stretch>
        </p:blipFill>
        <p:spPr>
          <a:xfrm rot="21600000">
            <a:off x="915923" y="3918204"/>
            <a:ext cx="3080004" cy="557783"/>
          </a:xfrm>
          <a:prstGeom prst="rect">
            <a:avLst/>
          </a:prstGeom>
        </p:spPr>
      </p:pic>
      <p:pic>
        <p:nvPicPr>
          <p:cNvPr id="1234" name="picture 1234"/>
          <p:cNvPicPr>
            <a:picLocks noChangeAspect="1"/>
          </p:cNvPicPr>
          <p:nvPr/>
        </p:nvPicPr>
        <p:blipFill>
          <a:blip r:embed="rId3"/>
          <a:stretch>
            <a:fillRect/>
          </a:stretch>
        </p:blipFill>
        <p:spPr>
          <a:xfrm rot="21600000">
            <a:off x="3909325" y="1264040"/>
            <a:ext cx="786118" cy="4391534"/>
          </a:xfrm>
          <a:prstGeom prst="rect">
            <a:avLst/>
          </a:prstGeom>
        </p:spPr>
      </p:pic>
      <p:graphicFrame>
        <p:nvGraphicFramePr>
          <p:cNvPr id="1235" name="table 1235"/>
          <p:cNvGraphicFramePr>
            <a:graphicFrameLocks noGrp="1"/>
          </p:cNvGraphicFramePr>
          <p:nvPr/>
        </p:nvGraphicFramePr>
        <p:xfrm>
          <a:off x="941832" y="2528316"/>
          <a:ext cx="2973070" cy="955039"/>
        </p:xfrm>
        <a:graphic>
          <a:graphicData uri="http://schemas.openxmlformats.org/drawingml/2006/table">
            <a:tbl>
              <a:tblPr/>
              <a:tblGrid>
                <a:gridCol w="2973070"/>
              </a:tblGrid>
              <a:tr h="935989">
                <a:tc>
                  <a:txBody>
                    <a:bodyPr/>
                    <a:lstStyle/>
                    <a:p>
                      <a:pPr algn="l" rtl="0" eaLnBrk="0">
                        <a:lnSpc>
                          <a:spcPct val="128000"/>
                        </a:lnSpc>
                      </a:pPr>
                      <a:endParaRPr lang="en-US" altLang="en-US" sz="1000" dirty="0">
                        <a:latin typeface="微软雅黑" panose="020B0503020204020204" charset="-122"/>
                        <a:ea typeface="微软雅黑" panose="020B0503020204020204" charset="-122"/>
                      </a:endParaRPr>
                    </a:p>
                    <a:p>
                      <a:pPr algn="l" rtl="0" eaLnBrk="0">
                        <a:lnSpc>
                          <a:spcPct val="129000"/>
                        </a:lnSpc>
                      </a:pPr>
                      <a:endParaRPr lang="en-US" altLang="en-US" sz="1000" dirty="0">
                        <a:latin typeface="微软雅黑" panose="020B0503020204020204" charset="-122"/>
                        <a:ea typeface="微软雅黑" panose="020B0503020204020204" charset="-122"/>
                      </a:endParaRPr>
                    </a:p>
                    <a:p>
                      <a:pPr marL="955675" algn="l" rtl="0" eaLnBrk="0">
                        <a:lnSpc>
                          <a:spcPct val="97000"/>
                        </a:lnSpc>
                        <a:spcBef>
                          <a:spcPts val="5"/>
                        </a:spcBef>
                      </a:pPr>
                      <a:r>
                        <a:rPr sz="1400" spc="-1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价值</a:t>
                      </a:r>
                      <a:r>
                        <a:rPr sz="1400" spc="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定位表述</a:t>
                      </a:r>
                      <a:endParaRPr lang="en-US" altLang="en-US" sz="1400" dirty="0">
                        <a:latin typeface="微软雅黑" panose="020B0503020204020204" charset="-122"/>
                        <a:ea typeface="微软雅黑" panose="020B0503020204020204" charset="-122"/>
                      </a:endParaRPr>
                    </a:p>
                  </a:txBody>
                  <a:tcPr marL="0" marR="0" marT="0" marB="0">
                    <a:lnL w="19050" cap="flat" cmpd="sng" algn="ctr">
                      <a:solidFill>
                        <a:srgbClr val="0065BD"/>
                      </a:solidFill>
                      <a:prstDash val="solid"/>
                      <a:round/>
                      <a:headEnd type="none" w="med" len="med"/>
                      <a:tailEnd type="none" w="med" len="med"/>
                    </a:lnL>
                    <a:lnR w="19050" cap="flat" cmpd="sng" algn="ctr">
                      <a:solidFill>
                        <a:srgbClr val="0065BD"/>
                      </a:solidFill>
                      <a:prstDash val="solid"/>
                      <a:round/>
                      <a:headEnd type="none" w="med" len="med"/>
                      <a:tailEnd type="none" w="med" len="med"/>
                    </a:lnR>
                    <a:lnT w="19050" cap="flat" cmpd="sng" algn="ctr">
                      <a:solidFill>
                        <a:srgbClr val="0065BD"/>
                      </a:solidFill>
                      <a:prstDash val="solid"/>
                      <a:round/>
                      <a:headEnd type="none" w="med" len="med"/>
                      <a:tailEnd type="none" w="med" len="med"/>
                    </a:lnT>
                    <a:lnB w="19050" cap="flat" cmpd="sng" algn="ctr">
                      <a:solidFill>
                        <a:srgbClr val="0065BD"/>
                      </a:solidFill>
                      <a:prstDash val="solid"/>
                      <a:round/>
                      <a:headEnd type="none" w="med" len="med"/>
                      <a:tailEnd type="none" w="med" len="med"/>
                    </a:lnB>
                  </a:tcPr>
                </a:tc>
              </a:tr>
            </a:tbl>
          </a:graphicData>
        </a:graphic>
      </p:graphicFrame>
      <p:sp>
        <p:nvSpPr>
          <p:cNvPr id="1236" name="textbox 1236"/>
          <p:cNvSpPr/>
          <p:nvPr/>
        </p:nvSpPr>
        <p:spPr>
          <a:xfrm>
            <a:off x="4852415" y="1802892"/>
            <a:ext cx="3362325" cy="661669"/>
          </a:xfrm>
          <a:prstGeom prst="rect">
            <a:avLst/>
          </a:prstGeom>
          <a:solidFill>
            <a:srgbClr val="E6E6E6"/>
          </a:solidFill>
        </p:spPr>
        <p:txBody>
          <a:bodyPr vert="horz" wrap="square" lIns="0" tIns="0" rIns="0" bIns="0"/>
          <a:lstStyle/>
          <a:p>
            <a:pPr algn="l" rtl="0" eaLnBrk="0">
              <a:lnSpc>
                <a:spcPct val="113000"/>
              </a:lnSpc>
            </a:pPr>
            <a:endParaRPr lang="en-US" altLang="en-US" sz="500" dirty="0">
              <a:latin typeface="微软雅黑" panose="020B0503020204020204" charset="-122"/>
              <a:ea typeface="微软雅黑" panose="020B0503020204020204" charset="-122"/>
            </a:endParaRPr>
          </a:p>
          <a:p>
            <a:pPr marL="275590" indent="-184150" algn="l" rtl="0" eaLnBrk="0">
              <a:lnSpc>
                <a:spcPct val="91000"/>
              </a:lnSpc>
              <a:spcBef>
                <a:spcPts val="5"/>
              </a:spcBef>
            </a:pPr>
            <a:r>
              <a:rPr sz="2000" spc="5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50" dirty="0">
                <a:solidFill>
                  <a:srgbClr val="000000">
                    <a:alpha val="100000"/>
                  </a:srgbClr>
                </a:solidFill>
                <a:latin typeface="微软雅黑" panose="020B0503020204020204" charset="-122"/>
                <a:ea typeface="微软雅黑" panose="020B0503020204020204" charset="-122"/>
                <a:cs typeface="楷体" panose="02010609060101010101" charset="-122"/>
              </a:rPr>
              <a:t>以目前品牌的优势来看， 是</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否具  </a:t>
            </a:r>
            <a:r>
              <a:rPr sz="1500" spc="70" dirty="0">
                <a:solidFill>
                  <a:srgbClr val="000000">
                    <a:alpha val="100000"/>
                  </a:srgbClr>
                </a:solidFill>
                <a:latin typeface="微软雅黑" panose="020B0503020204020204" charset="-122"/>
                <a:ea typeface="微软雅黑" panose="020B0503020204020204" charset="-122"/>
                <a:cs typeface="楷体" panose="02010609060101010101" charset="-122"/>
              </a:rPr>
              <a:t>有可信度</a:t>
            </a:r>
            <a:r>
              <a:rPr sz="1500" spc="40" dirty="0">
                <a:solidFill>
                  <a:srgbClr val="000000">
                    <a:alpha val="100000"/>
                  </a:srgbClr>
                </a:solidFill>
                <a:latin typeface="微软雅黑" panose="020B0503020204020204" charset="-122"/>
                <a:ea typeface="微软雅黑" panose="020B0503020204020204" charset="-122"/>
                <a:cs typeface="楷体" panose="02010609060101010101" charset="-122"/>
              </a:rPr>
              <a:t>？</a:t>
            </a:r>
            <a:endParaRPr lang="en-US" altLang="en-US" sz="1500" dirty="0">
              <a:latin typeface="微软雅黑" panose="020B0503020204020204" charset="-122"/>
              <a:ea typeface="微软雅黑" panose="020B0503020204020204" charset="-122"/>
            </a:endParaRPr>
          </a:p>
        </p:txBody>
      </p:sp>
      <p:graphicFrame>
        <p:nvGraphicFramePr>
          <p:cNvPr id="1237" name="table 1237"/>
          <p:cNvGraphicFramePr>
            <a:graphicFrameLocks noGrp="1"/>
          </p:cNvGraphicFramePr>
          <p:nvPr/>
        </p:nvGraphicFramePr>
        <p:xfrm>
          <a:off x="941832" y="3944111"/>
          <a:ext cx="2973070" cy="450850"/>
        </p:xfrm>
        <a:graphic>
          <a:graphicData uri="http://schemas.openxmlformats.org/drawingml/2006/table">
            <a:tbl>
              <a:tblPr/>
              <a:tblGrid>
                <a:gridCol w="2973070"/>
              </a:tblGrid>
              <a:tr h="441325">
                <a:tc>
                  <a:txBody>
                    <a:bodyPr/>
                    <a:lstStyle/>
                    <a:p>
                      <a:pPr algn="l" rtl="0" eaLnBrk="0">
                        <a:lnSpc>
                          <a:spcPct val="107000"/>
                        </a:lnSpc>
                      </a:pPr>
                      <a:endParaRPr lang="en-US" altLang="en-US" sz="1000" dirty="0">
                        <a:latin typeface="微软雅黑" panose="020B0503020204020204" charset="-122"/>
                        <a:ea typeface="微软雅黑" panose="020B0503020204020204" charset="-122"/>
                      </a:endParaRPr>
                    </a:p>
                    <a:p>
                      <a:pPr marL="85090" algn="l" rtl="0" eaLnBrk="0">
                        <a:lnSpc>
                          <a:spcPct val="97000"/>
                        </a:lnSpc>
                        <a:spcBef>
                          <a:spcPts val="0"/>
                        </a:spcBef>
                      </a:pPr>
                      <a:r>
                        <a:rPr sz="1400" spc="-10" dirty="0">
                          <a:ln w="5094"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宋体" panose="02010600030101010101" pitchFamily="2" charset="-122"/>
                        </a:rPr>
                        <a:t>=</a:t>
                      </a:r>
                      <a:r>
                        <a:rPr sz="1400" spc="0" dirty="0">
                          <a:solidFill>
                            <a:srgbClr val="FFFFFF">
                              <a:alpha val="100000"/>
                            </a:srgbClr>
                          </a:solidFill>
                          <a:latin typeface="微软雅黑" panose="020B0503020204020204" charset="-122"/>
                          <a:ea typeface="微软雅黑" panose="020B0503020204020204" charset="-122"/>
                          <a:cs typeface="宋体" panose="02010600030101010101" pitchFamily="2" charset="-122"/>
                        </a:rPr>
                        <a:t> </a:t>
                      </a:r>
                      <a:r>
                        <a:rPr sz="1400" spc="0" dirty="0">
                          <a:ln w="5094"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价值定位</a:t>
                      </a:r>
                      <a:endParaRPr lang="en-US" altLang="en-US" sz="1400" dirty="0">
                        <a:latin typeface="微软雅黑" panose="020B0503020204020204" charset="-122"/>
                        <a:ea typeface="微软雅黑" panose="020B0503020204020204" charset="-122"/>
                      </a:endParaRPr>
                    </a:p>
                  </a:txBody>
                  <a:tcPr marL="0" marR="0" marT="0" marB="0">
                    <a:lnL w="3175" cap="flat" cmpd="sng" algn="ctr">
                      <a:solidFill>
                        <a:srgbClr val="C5C5C5"/>
                      </a:solidFill>
                      <a:prstDash val="solid"/>
                      <a:round/>
                      <a:headEnd type="none" w="med" len="med"/>
                      <a:tailEnd type="none" w="med" len="med"/>
                    </a:lnL>
                    <a:lnR w="3175" cap="flat" cmpd="sng" algn="ctr">
                      <a:solidFill>
                        <a:srgbClr val="C5C5C5"/>
                      </a:solidFill>
                      <a:prstDash val="solid"/>
                      <a:round/>
                      <a:headEnd type="none" w="med" len="med"/>
                      <a:tailEnd type="none" w="med" len="med"/>
                    </a:lnR>
                    <a:lnT w="3175" cap="flat" cmpd="sng" algn="ctr">
                      <a:solidFill>
                        <a:srgbClr val="C5C5C5"/>
                      </a:solidFill>
                      <a:prstDash val="solid"/>
                      <a:round/>
                      <a:headEnd type="none" w="med" len="med"/>
                      <a:tailEnd type="none" w="med" len="med"/>
                    </a:lnT>
                    <a:lnB w="3175" cap="flat" cmpd="sng" algn="ctr">
                      <a:solidFill>
                        <a:srgbClr val="C5C5C5"/>
                      </a:solidFill>
                      <a:prstDash val="solid"/>
                      <a:round/>
                      <a:headEnd type="none" w="med" len="med"/>
                      <a:tailEnd type="none" w="med" len="med"/>
                    </a:lnB>
                    <a:solidFill>
                      <a:srgbClr val="0065BD"/>
                    </a:solidFill>
                  </a:tcPr>
                </a:tc>
              </a:tr>
            </a:tbl>
          </a:graphicData>
        </a:graphic>
      </p:graphicFrame>
      <p:sp>
        <p:nvSpPr>
          <p:cNvPr id="1238" name="textbox 1238"/>
          <p:cNvSpPr/>
          <p:nvPr/>
        </p:nvSpPr>
        <p:spPr>
          <a:xfrm>
            <a:off x="4715255" y="1278636"/>
            <a:ext cx="3637915" cy="381634"/>
          </a:xfrm>
          <a:prstGeom prst="rect">
            <a:avLst/>
          </a:prstGeom>
          <a:solidFill>
            <a:srgbClr val="C5C5C5"/>
          </a:solidFill>
        </p:spPr>
        <p:txBody>
          <a:bodyPr vert="horz" wrap="square" lIns="0" tIns="0" rIns="0" bIns="0"/>
          <a:lstStyle/>
          <a:p>
            <a:pPr algn="l" rtl="0" eaLnBrk="0">
              <a:lnSpc>
                <a:spcPct val="114000"/>
              </a:lnSpc>
            </a:pPr>
            <a:endParaRPr lang="en-US" altLang="en-US" sz="600" dirty="0">
              <a:latin typeface="微软雅黑" panose="020B0503020204020204" charset="-122"/>
              <a:ea typeface="微软雅黑" panose="020B0503020204020204" charset="-122"/>
            </a:endParaRPr>
          </a:p>
          <a:p>
            <a:pPr marL="88900" algn="l" rtl="0" eaLnBrk="0">
              <a:lnSpc>
                <a:spcPct val="93000"/>
              </a:lnSpc>
              <a:spcBef>
                <a:spcPts val="0"/>
              </a:spcBef>
            </a:pPr>
            <a:r>
              <a:rPr sz="1400" spc="-4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清</a:t>
            </a:r>
            <a:r>
              <a:rPr sz="1400" spc="-3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单</a:t>
            </a:r>
            <a:endParaRPr lang="en-US" altLang="en-US" sz="1400" dirty="0">
              <a:latin typeface="微软雅黑" panose="020B0503020204020204" charset="-122"/>
              <a:ea typeface="微软雅黑" panose="020B0503020204020204" charset="-122"/>
            </a:endParaRPr>
          </a:p>
        </p:txBody>
      </p:sp>
      <p:sp>
        <p:nvSpPr>
          <p:cNvPr id="1240" name="textbox 1240"/>
          <p:cNvSpPr/>
          <p:nvPr/>
        </p:nvSpPr>
        <p:spPr>
          <a:xfrm>
            <a:off x="8818509" y="1037437"/>
            <a:ext cx="114935" cy="1840229"/>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endParaRPr sz="600" spc="0" dirty="0">
              <a:solidFill>
                <a:srgbClr val="808080">
                  <a:alpha val="100000"/>
                </a:srgbClr>
              </a:solidFill>
              <a:latin typeface="Arial" panose="020B0604020202020204"/>
              <a:ea typeface="Arial" panose="020B0604020202020204"/>
              <a:cs typeface="Arial" panose="020B0604020202020204"/>
            </a:endParaRPr>
          </a:p>
        </p:txBody>
      </p:sp>
      <p:grpSp>
        <p:nvGrpSpPr>
          <p:cNvPr id="214" name="group 214"/>
          <p:cNvGrpSpPr/>
          <p:nvPr/>
        </p:nvGrpSpPr>
        <p:grpSpPr>
          <a:xfrm rot="21600000">
            <a:off x="118872" y="230124"/>
            <a:ext cx="292608" cy="292607"/>
            <a:chOff x="0" y="0"/>
            <a:chExt cx="292608" cy="292607"/>
          </a:xfrm>
        </p:grpSpPr>
        <p:sp>
          <p:nvSpPr>
            <p:cNvPr id="1241" name="path"/>
            <p:cNvSpPr/>
            <p:nvPr/>
          </p:nvSpPr>
          <p:spPr>
            <a:xfrm>
              <a:off x="0" y="0"/>
              <a:ext cx="292608" cy="292607"/>
            </a:xfrm>
            <a:custGeom>
              <a:avLst/>
              <a:gdLst/>
              <a:ahLst/>
              <a:cxnLst/>
              <a:rect l="0" t="0" r="0" b="0"/>
              <a:pathLst>
                <a:path w="460" h="460">
                  <a:moveTo>
                    <a:pt x="0" y="230"/>
                  </a:moveTo>
                  <a:cubicBezTo>
                    <a:pt x="0" y="103"/>
                    <a:pt x="103" y="0"/>
                    <a:pt x="230" y="0"/>
                  </a:cubicBezTo>
                  <a:cubicBezTo>
                    <a:pt x="357" y="0"/>
                    <a:pt x="460" y="103"/>
                    <a:pt x="460" y="230"/>
                  </a:cubicBezTo>
                  <a:cubicBezTo>
                    <a:pt x="460" y="357"/>
                    <a:pt x="357" y="460"/>
                    <a:pt x="230" y="460"/>
                  </a:cubicBezTo>
                  <a:cubicBezTo>
                    <a:pt x="103" y="460"/>
                    <a:pt x="0" y="357"/>
                    <a:pt x="0" y="230"/>
                  </a:cubicBezTo>
                </a:path>
              </a:pathLst>
            </a:custGeom>
            <a:solidFill>
              <a:srgbClr val="0065BD">
                <a:alpha val="100000"/>
              </a:srgbClr>
            </a:solidFill>
            <a:ln cap="flat">
              <a:noFill/>
              <a:prstDash val="solid"/>
              <a:miter lim="0"/>
            </a:ln>
          </p:spPr>
          <p:txBody>
            <a:bodyPr rtlCol="0"/>
            <a:lstStyle/>
            <a:p>
              <a:pPr algn="ctr"/>
              <a:endParaRPr lang="zh-CN" altLang="en-US"/>
            </a:p>
          </p:txBody>
        </p:sp>
        <p:sp>
          <p:nvSpPr>
            <p:cNvPr id="1242" name="textbox 1242"/>
            <p:cNvSpPr/>
            <p:nvPr/>
          </p:nvSpPr>
          <p:spPr>
            <a:xfrm>
              <a:off x="-12700" y="-12699"/>
              <a:ext cx="318134" cy="367665"/>
            </a:xfrm>
            <a:prstGeom prst="rect">
              <a:avLst/>
            </a:prstGeom>
          </p:spPr>
          <p:txBody>
            <a:bodyPr vert="horz" wrap="square" lIns="0" tIns="0" rIns="0" bIns="0"/>
            <a:lstStyle/>
            <a:p>
              <a:pPr algn="l" rtl="0" eaLnBrk="0">
                <a:lnSpc>
                  <a:spcPct val="110000"/>
                </a:lnSpc>
              </a:pPr>
              <a:endParaRPr lang="en-US" altLang="en-US" sz="500" dirty="0">
                <a:latin typeface="微软雅黑" panose="020B0503020204020204" charset="-122"/>
                <a:ea typeface="微软雅黑" panose="020B0503020204020204" charset="-122"/>
              </a:endParaRPr>
            </a:p>
            <a:p>
              <a:pPr marL="38735" algn="l" rtl="0" eaLnBrk="0">
                <a:lnSpc>
                  <a:spcPct val="80000"/>
                </a:lnSpc>
                <a:spcBef>
                  <a:spcPts val="5"/>
                </a:spcBef>
              </a:pPr>
              <a:r>
                <a:rPr sz="1700" b="1" spc="-10" dirty="0">
                  <a:solidFill>
                    <a:srgbClr val="FFFFFF">
                      <a:alpha val="100000"/>
                    </a:srgbClr>
                  </a:solidFill>
                  <a:latin typeface="微软雅黑" panose="020B0503020204020204" charset="-122"/>
                  <a:ea typeface="微软雅黑" panose="020B0503020204020204" charset="-122"/>
                  <a:cs typeface="Arial" panose="020B0604020202020204"/>
                </a:rPr>
                <a:t>2d</a:t>
              </a:r>
              <a:endParaRPr lang="en-US" altLang="en-US" sz="1700" dirty="0">
                <a:latin typeface="微软雅黑" panose="020B0503020204020204" charset="-122"/>
                <a:ea typeface="微软雅黑" panose="020B0503020204020204" charset="-122"/>
              </a:endParaRPr>
            </a:p>
          </p:txBody>
        </p:sp>
      </p:grpSp>
      <p:sp>
        <p:nvSpPr>
          <p:cNvPr id="1243" name="textbox 1243"/>
          <p:cNvSpPr/>
          <p:nvPr/>
        </p:nvSpPr>
        <p:spPr>
          <a:xfrm>
            <a:off x="8818435" y="4032021"/>
            <a:ext cx="114935" cy="262890"/>
          </a:xfrm>
          <a:prstGeom prst="rect">
            <a:avLst/>
          </a:prstGeom>
        </p:spPr>
        <p:txBody>
          <a:bodyPr vert="eaVert" wrap="square" lIns="0" tIns="0" rIns="0" bIns="0"/>
          <a:lstStyle/>
          <a:p>
            <a:pPr algn="l" rtl="0" eaLnBrk="0">
              <a:lnSpc>
                <a:spcPct val="85000"/>
              </a:lnSpc>
            </a:pPr>
            <a:endParaRPr lang="en-US" altLang="en-US" sz="100" dirty="0"/>
          </a:p>
          <a:p>
            <a:pPr marL="12700" algn="l" rtl="0" eaLnBrk="0">
              <a:lnSpc>
                <a:spcPct val="79000"/>
              </a:lnSpc>
            </a:pPr>
            <a:endParaRPr sz="600" spc="-10" dirty="0">
              <a:solidFill>
                <a:srgbClr val="808080">
                  <a:alpha val="100000"/>
                </a:srgbClr>
              </a:solidFill>
              <a:latin typeface="Arial" panose="020B0604020202020204"/>
              <a:ea typeface="Arial" panose="020B0604020202020204"/>
              <a:cs typeface="Arial" panose="020B06040202020202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44" name="table 1244"/>
          <p:cNvGraphicFramePr>
            <a:graphicFrameLocks noGrp="1"/>
          </p:cNvGraphicFramePr>
          <p:nvPr/>
        </p:nvGraphicFramePr>
        <p:xfrm>
          <a:off x="109728" y="810768"/>
          <a:ext cx="8637905" cy="5441950"/>
        </p:xfrm>
        <a:graphic>
          <a:graphicData uri="http://schemas.openxmlformats.org/drawingml/2006/table">
            <a:tbl>
              <a:tblPr/>
              <a:tblGrid>
                <a:gridCol w="4008754"/>
                <a:gridCol w="454025"/>
                <a:gridCol w="374650"/>
                <a:gridCol w="334645"/>
                <a:gridCol w="3465829"/>
              </a:tblGrid>
              <a:tr h="2568575">
                <a:tc>
                  <a:txBody>
                    <a:bodyPr/>
                    <a:lstStyle/>
                    <a:p>
                      <a:pPr algn="l" rtl="0" eaLnBrk="0">
                        <a:lnSpc>
                          <a:spcPct val="149000"/>
                        </a:lnSpc>
                      </a:pPr>
                      <a:endParaRPr lang="en-US" altLang="en-US" sz="1000" dirty="0">
                        <a:latin typeface="微软雅黑" panose="020B0503020204020204" charset="-122"/>
                        <a:ea typeface="微软雅黑" panose="020B0503020204020204" charset="-122"/>
                      </a:endParaRPr>
                    </a:p>
                    <a:p>
                      <a:pPr marL="845185" indent="-184785" algn="l" rtl="0" eaLnBrk="0">
                        <a:lnSpc>
                          <a:spcPct val="99000"/>
                        </a:lnSpc>
                        <a:spcBef>
                          <a:spcPts val="0"/>
                        </a:spcBef>
                      </a:pPr>
                      <a:r>
                        <a:rPr sz="1500" spc="13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30" dirty="0">
                          <a:solidFill>
                            <a:srgbClr val="000000">
                              <a:alpha val="100000"/>
                            </a:srgbClr>
                          </a:solidFill>
                          <a:latin typeface="微软雅黑" panose="020B0503020204020204" charset="-122"/>
                          <a:ea typeface="微软雅黑" panose="020B0503020204020204" charset="-122"/>
                          <a:cs typeface="楷体" panose="02010609060101010101" charset="-122"/>
                        </a:rPr>
                        <a:t>大客户内部变动(如，领导层</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变</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更，生产、运营、采购的变</a:t>
                      </a:r>
                      <a:r>
                        <a:rPr sz="1500" spc="50" dirty="0">
                          <a:solidFill>
                            <a:srgbClr val="000000">
                              <a:alpha val="100000"/>
                            </a:srgbClr>
                          </a:solidFill>
                          <a:latin typeface="微软雅黑" panose="020B0503020204020204" charset="-122"/>
                          <a:ea typeface="微软雅黑" panose="020B0503020204020204" charset="-122"/>
                          <a:cs typeface="楷体" panose="02010609060101010101" charset="-122"/>
                        </a:rPr>
                        <a:t>革</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a:t>
                      </a:r>
                      <a:endParaRPr lang="en-US" altLang="en-US" sz="1500" dirty="0">
                        <a:latin typeface="微软雅黑" panose="020B0503020204020204" charset="-122"/>
                        <a:ea typeface="微软雅黑" panose="020B0503020204020204" charset="-122"/>
                      </a:endParaRPr>
                    </a:p>
                    <a:p>
                      <a:pPr marL="841375" algn="l" rtl="0" eaLnBrk="0">
                        <a:lnSpc>
                          <a:spcPct val="99000"/>
                        </a:lnSpc>
                        <a:spcBef>
                          <a:spcPts val="265"/>
                        </a:spcBef>
                      </a:pPr>
                      <a:r>
                        <a:rPr sz="1500" spc="7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70" dirty="0">
                          <a:solidFill>
                            <a:srgbClr val="000000">
                              <a:alpha val="100000"/>
                            </a:srgbClr>
                          </a:solidFill>
                          <a:latin typeface="微软雅黑" panose="020B0503020204020204" charset="-122"/>
                          <a:ea typeface="微软雅黑" panose="020B0503020204020204" charset="-122"/>
                          <a:cs typeface="楷体" panose="02010609060101010101" charset="-122"/>
                        </a:rPr>
                        <a:t>主要决策者的变</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更</a:t>
                      </a:r>
                      <a:endParaRPr lang="en-US" altLang="en-US" sz="1500" dirty="0">
                        <a:latin typeface="微软雅黑" panose="020B0503020204020204" charset="-122"/>
                        <a:ea typeface="微软雅黑" panose="020B0503020204020204" charset="-122"/>
                      </a:endParaRPr>
                    </a:p>
                    <a:p>
                      <a:pPr algn="r" rtl="0" eaLnBrk="0">
                        <a:lnSpc>
                          <a:spcPct val="99000"/>
                        </a:lnSpc>
                        <a:spcBef>
                          <a:spcPts val="245"/>
                        </a:spcBef>
                      </a:pPr>
                      <a:r>
                        <a:rPr sz="1500" spc="11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10" dirty="0">
                          <a:solidFill>
                            <a:srgbClr val="000000">
                              <a:alpha val="100000"/>
                            </a:srgbClr>
                          </a:solidFill>
                          <a:latin typeface="微软雅黑" panose="020B0503020204020204" charset="-122"/>
                          <a:ea typeface="微软雅黑" panose="020B0503020204020204" charset="-122"/>
                          <a:cs typeface="楷体" panose="02010609060101010101" charset="-122"/>
                        </a:rPr>
                        <a:t>采购战略和关键购买因素的变</a:t>
                      </a:r>
                      <a:r>
                        <a:rPr sz="1500" spc="20" dirty="0">
                          <a:solidFill>
                            <a:srgbClr val="000000">
                              <a:alpha val="100000"/>
                            </a:srgbClr>
                          </a:solidFill>
                          <a:latin typeface="微软雅黑" panose="020B0503020204020204" charset="-122"/>
                          <a:ea typeface="微软雅黑" panose="020B0503020204020204" charset="-122"/>
                          <a:cs typeface="楷体" panose="02010609060101010101" charset="-122"/>
                        </a:rPr>
                        <a:t>更</a:t>
                      </a:r>
                      <a:endParaRPr lang="en-US" altLang="en-US" sz="1500" dirty="0">
                        <a:latin typeface="微软雅黑" panose="020B0503020204020204" charset="-122"/>
                        <a:ea typeface="微软雅黑" panose="020B0503020204020204" charset="-122"/>
                      </a:endParaRPr>
                    </a:p>
                    <a:p>
                      <a:pPr marL="1125220" indent="-283845" algn="l" rtl="0" eaLnBrk="0">
                        <a:lnSpc>
                          <a:spcPct val="103000"/>
                        </a:lnSpc>
                        <a:spcBef>
                          <a:spcPts val="220"/>
                        </a:spcBef>
                      </a:pPr>
                      <a:r>
                        <a:rPr sz="1500" spc="8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80" dirty="0">
                          <a:solidFill>
                            <a:srgbClr val="000000">
                              <a:alpha val="100000"/>
                            </a:srgbClr>
                          </a:solidFill>
                          <a:latin typeface="微软雅黑" panose="020B0503020204020204" charset="-122"/>
                          <a:ea typeface="微软雅黑" panose="020B0503020204020204" charset="-122"/>
                          <a:cs typeface="楷体" panose="02010609060101010101" charset="-122"/>
                        </a:rPr>
                        <a:t>运营变革，导致对产品</a:t>
                      </a:r>
                      <a:r>
                        <a:rPr sz="1500" spc="80" dirty="0">
                          <a:solidFill>
                            <a:srgbClr val="000000">
                              <a:alpha val="100000"/>
                            </a:srgbClr>
                          </a:solidFill>
                          <a:latin typeface="微软雅黑" panose="020B0503020204020204" charset="-122"/>
                          <a:ea typeface="微软雅黑" panose="020B0503020204020204" charset="-122"/>
                          <a:cs typeface="Arial" panose="020B0604020202020204"/>
                        </a:rPr>
                        <a:t>/</a:t>
                      </a:r>
                      <a:r>
                        <a:rPr sz="1500" spc="80" dirty="0">
                          <a:solidFill>
                            <a:srgbClr val="000000">
                              <a:alpha val="100000"/>
                            </a:srgbClr>
                          </a:solidFill>
                          <a:latin typeface="微软雅黑" panose="020B0503020204020204" charset="-122"/>
                          <a:ea typeface="微软雅黑" panose="020B0503020204020204" charset="-122"/>
                          <a:cs typeface="楷体" panose="02010609060101010101" charset="-122"/>
                        </a:rPr>
                        <a:t>服</a:t>
                      </a:r>
                      <a:r>
                        <a:rPr sz="1500" spc="70" dirty="0">
                          <a:solidFill>
                            <a:srgbClr val="000000">
                              <a:alpha val="100000"/>
                            </a:srgbClr>
                          </a:solidFill>
                          <a:latin typeface="微软雅黑" panose="020B0503020204020204" charset="-122"/>
                          <a:ea typeface="微软雅黑" panose="020B0503020204020204" charset="-122"/>
                          <a:cs typeface="楷体" panose="02010609060101010101" charset="-122"/>
                        </a:rPr>
                        <a:t>务</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的  </a:t>
                      </a:r>
                      <a:r>
                        <a:rPr sz="1500" spc="80" dirty="0">
                          <a:solidFill>
                            <a:srgbClr val="000000">
                              <a:alpha val="100000"/>
                            </a:srgbClr>
                          </a:solidFill>
                          <a:latin typeface="微软雅黑" panose="020B0503020204020204" charset="-122"/>
                          <a:ea typeface="微软雅黑" panose="020B0503020204020204" charset="-122"/>
                          <a:cs typeface="楷体" panose="02010609060101010101" charset="-122"/>
                        </a:rPr>
                        <a:t>需求发生变</a:t>
                      </a:r>
                      <a:r>
                        <a:rPr sz="1500" spc="30" dirty="0">
                          <a:solidFill>
                            <a:srgbClr val="000000">
                              <a:alpha val="100000"/>
                            </a:srgbClr>
                          </a:solidFill>
                          <a:latin typeface="微软雅黑" panose="020B0503020204020204" charset="-122"/>
                          <a:ea typeface="微软雅黑" panose="020B0503020204020204" charset="-122"/>
                          <a:cs typeface="楷体" panose="02010609060101010101" charset="-122"/>
                        </a:rPr>
                        <a:t>化</a:t>
                      </a:r>
                      <a:endParaRPr lang="en-US" altLang="en-US" sz="1500" dirty="0">
                        <a:latin typeface="微软雅黑" panose="020B0503020204020204" charset="-122"/>
                        <a:ea typeface="微软雅黑" panose="020B0503020204020204" charset="-122"/>
                      </a:endParaRPr>
                    </a:p>
                    <a:p>
                      <a:pPr marL="841375" algn="l" rtl="0" eaLnBrk="0">
                        <a:lnSpc>
                          <a:spcPct val="97000"/>
                        </a:lnSpc>
                        <a:spcBef>
                          <a:spcPts val="240"/>
                        </a:spcBef>
                      </a:pPr>
                      <a:r>
                        <a:rPr sz="1500" spc="8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80" dirty="0">
                          <a:solidFill>
                            <a:srgbClr val="000000">
                              <a:alpha val="100000"/>
                            </a:srgbClr>
                          </a:solidFill>
                          <a:latin typeface="微软雅黑" panose="020B0503020204020204" charset="-122"/>
                          <a:ea typeface="微软雅黑" panose="020B0503020204020204" charset="-122"/>
                          <a:cs typeface="楷体" panose="02010609060101010101" charset="-122"/>
                        </a:rPr>
                        <a:t>上游整合，客户自行</a:t>
                      </a:r>
                      <a:r>
                        <a:rPr sz="1500" spc="30" dirty="0">
                          <a:solidFill>
                            <a:srgbClr val="000000">
                              <a:alpha val="100000"/>
                            </a:srgbClr>
                          </a:solidFill>
                          <a:latin typeface="微软雅黑" panose="020B0503020204020204" charset="-122"/>
                          <a:ea typeface="微软雅黑" panose="020B0503020204020204" charset="-122"/>
                          <a:cs typeface="楷体" panose="02010609060101010101" charset="-122"/>
                        </a:rPr>
                        <a:t>生</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产</a:t>
                      </a:r>
                      <a:endParaRPr lang="en-US" altLang="en-US" sz="1500" dirty="0">
                        <a:latin typeface="微软雅黑" panose="020B0503020204020204" charset="-122"/>
                        <a:ea typeface="微软雅黑" panose="020B0503020204020204" charset="-122"/>
                      </a:endParaRPr>
                    </a:p>
                    <a:p>
                      <a:pPr algn="l" rtl="0" eaLnBrk="0">
                        <a:lnSpc>
                          <a:spcPct val="130000"/>
                        </a:lnSpc>
                      </a:pPr>
                      <a:endParaRPr lang="en-US" altLang="en-US" sz="300" dirty="0">
                        <a:latin typeface="微软雅黑" panose="020B0503020204020204" charset="-122"/>
                        <a:ea typeface="微软雅黑" panose="020B0503020204020204" charset="-122"/>
                      </a:endParaRPr>
                    </a:p>
                    <a:p>
                      <a:pPr marL="843915" indent="-182880" algn="l" rtl="0" eaLnBrk="0">
                        <a:lnSpc>
                          <a:spcPct val="99000"/>
                        </a:lnSpc>
                        <a:spcBef>
                          <a:spcPts val="0"/>
                        </a:spcBef>
                      </a:pPr>
                      <a:r>
                        <a:rPr sz="1500" spc="13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30" dirty="0">
                          <a:solidFill>
                            <a:srgbClr val="000000">
                              <a:alpha val="100000"/>
                            </a:srgbClr>
                          </a:solidFill>
                          <a:latin typeface="微软雅黑" panose="020B0503020204020204" charset="-122"/>
                          <a:ea typeface="微软雅黑" panose="020B0503020204020204" charset="-122"/>
                          <a:cs typeface="楷体" panose="02010609060101010101" charset="-122"/>
                        </a:rPr>
                        <a:t>大客户所在市场的变动趋势(</a:t>
                      </a:r>
                      <a:r>
                        <a:rPr sz="1500" spc="100" dirty="0">
                          <a:solidFill>
                            <a:srgbClr val="000000">
                              <a:alpha val="100000"/>
                            </a:srgbClr>
                          </a:solidFill>
                          <a:latin typeface="微软雅黑" panose="020B0503020204020204" charset="-122"/>
                          <a:ea typeface="微软雅黑" panose="020B0503020204020204" charset="-122"/>
                          <a:cs typeface="楷体" panose="02010609060101010101" charset="-122"/>
                        </a:rPr>
                        <a:t>例</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如，增长放缓，市场波动，等</a:t>
                      </a:r>
                      <a:r>
                        <a:rPr sz="1500" spc="70" dirty="0">
                          <a:solidFill>
                            <a:srgbClr val="000000">
                              <a:alpha val="100000"/>
                            </a:srgbClr>
                          </a:solidFill>
                          <a:latin typeface="微软雅黑" panose="020B0503020204020204" charset="-122"/>
                          <a:ea typeface="微软雅黑" panose="020B0503020204020204" charset="-122"/>
                          <a:cs typeface="楷体" panose="02010609060101010101" charset="-122"/>
                        </a:rPr>
                        <a:t>等</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a:t>
                      </a:r>
                      <a:endParaRPr lang="en-US" altLang="en-US" sz="1500" dirty="0">
                        <a:latin typeface="微软雅黑" panose="020B0503020204020204" charset="-122"/>
                        <a:ea typeface="微软雅黑" panose="020B0503020204020204" charset="-122"/>
                      </a:endParaRPr>
                    </a:p>
                  </a:txBody>
                  <a:tcPr marL="0" marR="0" marT="0" marB="0">
                    <a:lnL w="19050" cap="flat" cmpd="sng" algn="ctr">
                      <a:solidFill>
                        <a:srgbClr val="BFE1FF"/>
                      </a:solidFill>
                      <a:prstDash val="solid"/>
                      <a:round/>
                      <a:headEnd type="none" w="med" len="med"/>
                      <a:tailEnd type="none" w="med" len="med"/>
                    </a:lnL>
                    <a:lnR>
                      <a:noFill/>
                    </a:lnR>
                    <a:lnT w="3175" cap="flat" cmpd="sng" algn="ctr">
                      <a:solidFill>
                        <a:srgbClr val="BFE1FF"/>
                      </a:solidFill>
                      <a:prstDash val="solid"/>
                      <a:round/>
                      <a:headEnd type="none" w="med" len="med"/>
                      <a:tailEnd type="none" w="med" len="med"/>
                    </a:lnT>
                    <a:lnB w="3175" cap="flat" cmpd="sng" algn="ctr">
                      <a:solidFill>
                        <a:srgbClr val="808080"/>
                      </a:solidFill>
                      <a:prstDash val="solid"/>
                      <a:round/>
                      <a:headEnd type="none" w="med" len="med"/>
                      <a:tailEnd type="none" w="med" len="med"/>
                    </a:lnB>
                  </a:tcPr>
                </a:tc>
                <a:tc rowSpan="3">
                  <a:txBody>
                    <a:bodyPr/>
                    <a:lstStyle/>
                    <a:p>
                      <a:pPr algn="l" rtl="0" eaLnBrk="0">
                        <a:lnSpc>
                          <a:spcPct val="100000"/>
                        </a:lnSpc>
                      </a:pPr>
                      <a:endParaRPr lang="en-US" altLang="en-US" sz="1000" dirty="0">
                        <a:ea typeface="微软雅黑" panose="020B0503020204020204" charset="-122"/>
                      </a:endParaRPr>
                    </a:p>
                  </a:txBody>
                  <a:tcPr marL="0" marR="0" marT="0" marB="0">
                    <a:lnL>
                      <a:noFill/>
                    </a:lnL>
                    <a:lnR>
                      <a:noFill/>
                    </a:lnR>
                    <a:lnT w="3175" cap="flat" cmpd="sng" algn="ctr">
                      <a:solidFill>
                        <a:srgbClr val="BFE1FF"/>
                      </a:solidFill>
                      <a:prstDash val="solid"/>
                      <a:round/>
                      <a:headEnd type="none" w="med" len="med"/>
                      <a:tailEnd type="none" w="med" len="med"/>
                    </a:lnT>
                    <a:lnB w="3175" cap="flat" cmpd="sng" algn="ctr">
                      <a:solidFill>
                        <a:srgbClr val="BFE1FF"/>
                      </a:solidFill>
                      <a:prstDash val="solid"/>
                      <a:round/>
                      <a:headEnd type="none" w="med" len="med"/>
                      <a:tailEnd type="none" w="med" len="med"/>
                    </a:lnB>
                  </a:tcPr>
                </a:tc>
                <a:tc rowSpan="3">
                  <a:txBody>
                    <a:bodyPr/>
                    <a:lstStyle/>
                    <a:p>
                      <a:pPr algn="l" rtl="0" eaLnBrk="0">
                        <a:lnSpc>
                          <a:spcPct val="109000"/>
                        </a:lnSpc>
                      </a:pPr>
                      <a:endParaRPr lang="en-US" altLang="en-US" sz="700" dirty="0">
                        <a:latin typeface="微软雅黑" panose="020B0503020204020204" charset="-122"/>
                        <a:ea typeface="微软雅黑" panose="020B0503020204020204" charset="-122"/>
                      </a:endParaRPr>
                    </a:p>
                    <a:p>
                      <a:pPr marL="1202055" algn="l" rtl="0" eaLnBrk="0">
                        <a:lnSpc>
                          <a:spcPct val="96000"/>
                        </a:lnSpc>
                        <a:spcBef>
                          <a:spcPts val="5"/>
                        </a:spcBef>
                      </a:pPr>
                      <a:r>
                        <a:rPr sz="1500" spc="-9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大</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9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客</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9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户</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9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自</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9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身</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9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的风</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9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险</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9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因</a:t>
                      </a:r>
                      <a:r>
                        <a:rPr sz="1500" spc="-2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素</a:t>
                      </a:r>
                      <a:endParaRPr lang="en-US" altLang="en-US" sz="1500" dirty="0">
                        <a:latin typeface="微软雅黑" panose="020B0503020204020204" charset="-122"/>
                        <a:ea typeface="微软雅黑" panose="020B0503020204020204" charset="-122"/>
                      </a:endParaRPr>
                    </a:p>
                  </a:txBody>
                  <a:tcPr marL="0" marR="0" marT="0" marB="0" vert="eaVert">
                    <a:lnL>
                      <a:noFill/>
                    </a:lnL>
                    <a:lnR w="6350" cap="flat" cmpd="sng" algn="ctr">
                      <a:solidFill>
                        <a:srgbClr val="808080"/>
                      </a:solidFill>
                      <a:prstDash val="solid"/>
                      <a:round/>
                      <a:headEnd type="none" w="med" len="med"/>
                      <a:tailEnd type="none" w="med" len="med"/>
                    </a:lnR>
                    <a:lnT w="3175" cap="flat" cmpd="sng" algn="ctr">
                      <a:solidFill>
                        <a:srgbClr val="BFE1FF"/>
                      </a:solidFill>
                      <a:prstDash val="solid"/>
                      <a:round/>
                      <a:headEnd type="none" w="med" len="med"/>
                      <a:tailEnd type="none" w="med" len="med"/>
                    </a:lnT>
                    <a:lnB w="3175" cap="flat" cmpd="sng" algn="ctr">
                      <a:solidFill>
                        <a:srgbClr val="BFE1FF"/>
                      </a:solidFill>
                      <a:prstDash val="solid"/>
                      <a:round/>
                      <a:headEnd type="none" w="med" len="med"/>
                      <a:tailEnd type="none" w="med" len="med"/>
                    </a:lnB>
                  </a:tcPr>
                </a:tc>
                <a:tc rowSpan="3">
                  <a:txBody>
                    <a:bodyPr/>
                    <a:lstStyle/>
                    <a:p>
                      <a:pPr algn="l" rtl="0" eaLnBrk="0">
                        <a:lnSpc>
                          <a:spcPct val="119000"/>
                        </a:lnSpc>
                      </a:pPr>
                      <a:endParaRPr lang="en-US" altLang="en-US" sz="300" dirty="0">
                        <a:latin typeface="微软雅黑" panose="020B0503020204020204" charset="-122"/>
                        <a:ea typeface="微软雅黑" panose="020B0503020204020204" charset="-122"/>
                      </a:endParaRPr>
                    </a:p>
                    <a:p>
                      <a:pPr marL="1243965" algn="l" rtl="0" eaLnBrk="0">
                        <a:lnSpc>
                          <a:spcPct val="96000"/>
                        </a:lnSpc>
                        <a:spcBef>
                          <a:spcPts val="5"/>
                        </a:spcBef>
                      </a:pPr>
                      <a:r>
                        <a:rPr sz="1500" spc="60" dirty="0">
                          <a:solidFill>
                            <a:srgbClr val="000000">
                              <a:alpha val="100000"/>
                            </a:srgbClr>
                          </a:solidFill>
                          <a:latin typeface="微软雅黑" panose="020B0503020204020204" charset="-122"/>
                          <a:ea typeface="微软雅黑" panose="020B0503020204020204" charset="-122"/>
                          <a:cs typeface="楷体" panose="02010609060101010101" charset="-122"/>
                        </a:rPr>
                        <a:t>高         中       </a:t>
                      </a:r>
                      <a:r>
                        <a:rPr sz="1500" spc="2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低</a:t>
                      </a:r>
                      <a:endParaRPr lang="en-US" altLang="en-US" sz="1500" dirty="0">
                        <a:latin typeface="微软雅黑" panose="020B0503020204020204" charset="-122"/>
                        <a:ea typeface="微软雅黑" panose="020B0503020204020204" charset="-122"/>
                      </a:endParaRPr>
                    </a:p>
                  </a:txBody>
                  <a:tcPr marL="0" marR="0" marT="0" marB="0" vert="eaVert">
                    <a:lnL w="6350" cap="flat" cmpd="sng" algn="ctr">
                      <a:solidFill>
                        <a:srgbClr val="808080"/>
                      </a:solidFill>
                      <a:prstDash val="solid"/>
                      <a:round/>
                      <a:headEnd type="none" w="med" len="med"/>
                      <a:tailEnd type="none" w="med" len="med"/>
                    </a:lnL>
                    <a:lnR>
                      <a:noFill/>
                    </a:lnR>
                    <a:lnT w="3175" cap="flat" cmpd="sng" algn="ctr">
                      <a:solidFill>
                        <a:srgbClr val="BFE1FF"/>
                      </a:solidFill>
                      <a:prstDash val="solid"/>
                      <a:round/>
                      <a:headEnd type="none" w="med" len="med"/>
                      <a:tailEnd type="none" w="med" len="med"/>
                    </a:lnT>
                    <a:lnB w="3175" cap="flat" cmpd="sng" algn="ctr">
                      <a:solidFill>
                        <a:srgbClr val="BFE1FF"/>
                      </a:solidFill>
                      <a:prstDash val="solid"/>
                      <a:round/>
                      <a:headEnd type="none" w="med" len="med"/>
                      <a:tailEnd type="none" w="med" len="med"/>
                    </a:lnB>
                  </a:tcPr>
                </a:tc>
                <a:tc rowSpan="2">
                  <a:txBody>
                    <a:bodyPr/>
                    <a:lstStyle/>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8000"/>
                        </a:lnSpc>
                      </a:pPr>
                      <a:endParaRPr lang="en-US" altLang="en-US" sz="100" dirty="0">
                        <a:latin typeface="微软雅黑" panose="020B0503020204020204" charset="-122"/>
                        <a:ea typeface="微软雅黑" panose="020B0503020204020204" charset="-122"/>
                      </a:endParaRPr>
                    </a:p>
                    <a:p>
                      <a:pPr marL="494665" algn="l" rtl="0" eaLnBrk="0">
                        <a:lnSpc>
                          <a:spcPct val="99000"/>
                        </a:lnSpc>
                      </a:pPr>
                      <a:r>
                        <a:rPr sz="1500" spc="20" dirty="0">
                          <a:solidFill>
                            <a:srgbClr val="000000">
                              <a:alpha val="100000"/>
                            </a:srgbClr>
                          </a:solidFill>
                          <a:latin typeface="微软雅黑" panose="020B0503020204020204" charset="-122"/>
                          <a:ea typeface="微软雅黑" panose="020B0503020204020204" charset="-122"/>
                          <a:cs typeface="楷体" panose="02010609060101010101" charset="-122"/>
                        </a:rPr>
                        <a:t>低         中  </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       高</a:t>
                      </a:r>
                      <a:endParaRPr lang="en-US" altLang="en-US" sz="1500" dirty="0">
                        <a:latin typeface="微软雅黑" panose="020B0503020204020204" charset="-122"/>
                        <a:ea typeface="微软雅黑" panose="020B0503020204020204" charset="-122"/>
                      </a:endParaRPr>
                    </a:p>
                  </a:txBody>
                  <a:tcPr marL="0" marR="0" marT="0" marB="0">
                    <a:lnL>
                      <a:noFill/>
                    </a:lnL>
                    <a:lnR w="19050" cap="flat" cmpd="sng" algn="ctr">
                      <a:solidFill>
                        <a:srgbClr val="BFE1FF"/>
                      </a:solidFill>
                      <a:prstDash val="solid"/>
                      <a:round/>
                      <a:headEnd type="none" w="med" len="med"/>
                      <a:tailEnd type="none" w="med" len="med"/>
                    </a:lnR>
                    <a:lnT w="3175" cap="flat" cmpd="sng" algn="ctr">
                      <a:solidFill>
                        <a:srgbClr val="BFE1FF"/>
                      </a:solidFill>
                      <a:prstDash val="solid"/>
                      <a:round/>
                      <a:headEnd type="none" w="med" len="med"/>
                      <a:tailEnd type="none" w="med" len="med"/>
                    </a:lnT>
                    <a:lnB>
                      <a:noFill/>
                    </a:lnB>
                  </a:tcPr>
                </a:tc>
              </a:tr>
              <a:tr h="1797685">
                <a:tc rowSpan="2">
                  <a:txBody>
                    <a:bodyPr/>
                    <a:lstStyle/>
                    <a:p>
                      <a:pPr algn="l" rtl="0" eaLnBrk="0">
                        <a:lnSpc>
                          <a:spcPct val="105000"/>
                        </a:lnSpc>
                      </a:pPr>
                      <a:endParaRPr lang="en-US" altLang="en-US" sz="700" dirty="0">
                        <a:latin typeface="微软雅黑" panose="020B0503020204020204" charset="-122"/>
                        <a:ea typeface="微软雅黑" panose="020B0503020204020204" charset="-122"/>
                      </a:endParaRPr>
                    </a:p>
                    <a:p>
                      <a:pPr marL="846455" indent="-185420" algn="l" rtl="0" eaLnBrk="0">
                        <a:lnSpc>
                          <a:spcPct val="104000"/>
                        </a:lnSpc>
                      </a:pPr>
                      <a:r>
                        <a:rPr sz="1500" spc="9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竞争对手在某些库存单位</a:t>
                      </a:r>
                      <a:r>
                        <a:rPr sz="1500" spc="90" dirty="0">
                          <a:solidFill>
                            <a:srgbClr val="000000">
                              <a:alpha val="100000"/>
                            </a:srgbClr>
                          </a:solidFill>
                          <a:latin typeface="微软雅黑" panose="020B0503020204020204" charset="-122"/>
                          <a:ea typeface="微软雅黑" panose="020B0503020204020204" charset="-122"/>
                          <a:cs typeface="Arial" panose="020B0604020202020204"/>
                        </a:rPr>
                        <a:t>/</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地区</a:t>
                      </a:r>
                      <a:r>
                        <a:rPr sz="1500" spc="80" dirty="0">
                          <a:solidFill>
                            <a:srgbClr val="000000">
                              <a:alpha val="100000"/>
                            </a:srgbClr>
                          </a:solidFill>
                          <a:latin typeface="微软雅黑" panose="020B0503020204020204" charset="-122"/>
                          <a:ea typeface="微软雅黑" panose="020B0503020204020204" charset="-122"/>
                          <a:cs typeface="楷体" panose="02010609060101010101" charset="-122"/>
                        </a:rPr>
                        <a:t>的</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相 </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对优</a:t>
                      </a:r>
                      <a:r>
                        <a:rPr sz="1500" spc="60" dirty="0">
                          <a:solidFill>
                            <a:srgbClr val="000000">
                              <a:alpha val="100000"/>
                            </a:srgbClr>
                          </a:solidFill>
                          <a:latin typeface="微软雅黑" panose="020B0503020204020204" charset="-122"/>
                          <a:ea typeface="微软雅黑" panose="020B0503020204020204" charset="-122"/>
                          <a:cs typeface="楷体" panose="02010609060101010101" charset="-122"/>
                        </a:rPr>
                        <a:t>势</a:t>
                      </a:r>
                      <a:endParaRPr lang="en-US" altLang="en-US" sz="1500" dirty="0">
                        <a:latin typeface="微软雅黑" panose="020B0503020204020204" charset="-122"/>
                        <a:ea typeface="微软雅黑" panose="020B0503020204020204" charset="-122"/>
                      </a:endParaRPr>
                    </a:p>
                    <a:p>
                      <a:pPr marL="855980" indent="-194945" algn="l" rtl="0" eaLnBrk="0">
                        <a:lnSpc>
                          <a:spcPct val="101000"/>
                        </a:lnSpc>
                        <a:spcBef>
                          <a:spcPts val="395"/>
                        </a:spcBef>
                      </a:pPr>
                      <a:r>
                        <a:rPr sz="1500" spc="9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竞争对手占客户钱包份额的历</a:t>
                      </a:r>
                      <a:r>
                        <a:rPr sz="1500" spc="80" dirty="0">
                          <a:solidFill>
                            <a:srgbClr val="000000">
                              <a:alpha val="100000"/>
                            </a:srgbClr>
                          </a:solidFill>
                          <a:latin typeface="微软雅黑" panose="020B0503020204020204" charset="-122"/>
                          <a:ea typeface="微软雅黑" panose="020B0503020204020204" charset="-122"/>
                          <a:cs typeface="楷体" panose="02010609060101010101" charset="-122"/>
                        </a:rPr>
                        <a:t>史</a:t>
                      </a:r>
                      <a:r>
                        <a:rPr sz="1500" spc="0" dirty="0">
                          <a:solidFill>
                            <a:srgbClr val="000000">
                              <a:alpha val="100000"/>
                            </a:srgbClr>
                          </a:solidFill>
                          <a:latin typeface="微软雅黑" panose="020B0503020204020204" charset="-122"/>
                          <a:ea typeface="微软雅黑" panose="020B0503020204020204" charset="-122"/>
                          <a:cs typeface="楷体" panose="02010609060101010101" charset="-122"/>
                        </a:rPr>
                        <a:t>增 </a:t>
                      </a:r>
                      <a:r>
                        <a:rPr sz="1500" spc="90" dirty="0">
                          <a:solidFill>
                            <a:srgbClr val="000000">
                              <a:alpha val="100000"/>
                            </a:srgbClr>
                          </a:solidFill>
                          <a:latin typeface="微软雅黑" panose="020B0503020204020204" charset="-122"/>
                          <a:ea typeface="微软雅黑" panose="020B0503020204020204" charset="-122"/>
                          <a:cs typeface="楷体" panose="02010609060101010101" charset="-122"/>
                        </a:rPr>
                        <a:t>长及继续增长的势</a:t>
                      </a:r>
                      <a:r>
                        <a:rPr sz="1500" spc="50" dirty="0">
                          <a:solidFill>
                            <a:srgbClr val="000000">
                              <a:alpha val="100000"/>
                            </a:srgbClr>
                          </a:solidFill>
                          <a:latin typeface="微软雅黑" panose="020B0503020204020204" charset="-122"/>
                          <a:ea typeface="微软雅黑" panose="020B0503020204020204" charset="-122"/>
                          <a:cs typeface="楷体" panose="02010609060101010101" charset="-122"/>
                        </a:rPr>
                        <a:t>头</a:t>
                      </a:r>
                      <a:endParaRPr lang="en-US" altLang="en-US" sz="1500" dirty="0">
                        <a:latin typeface="微软雅黑" panose="020B0503020204020204" charset="-122"/>
                        <a:ea typeface="微软雅黑" panose="020B0503020204020204" charset="-122"/>
                      </a:endParaRPr>
                    </a:p>
                    <a:p>
                      <a:pPr marL="661035" algn="l" rtl="0" eaLnBrk="0">
                        <a:lnSpc>
                          <a:spcPct val="99000"/>
                        </a:lnSpc>
                        <a:spcBef>
                          <a:spcPts val="305"/>
                        </a:spcBef>
                      </a:pPr>
                      <a:r>
                        <a:rPr sz="1500" spc="8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80" dirty="0">
                          <a:solidFill>
                            <a:srgbClr val="000000">
                              <a:alpha val="100000"/>
                            </a:srgbClr>
                          </a:solidFill>
                          <a:latin typeface="微软雅黑" panose="020B0503020204020204" charset="-122"/>
                          <a:ea typeface="微软雅黑" panose="020B0503020204020204" charset="-122"/>
                          <a:cs typeface="楷体" panose="02010609060101010101" charset="-122"/>
                        </a:rPr>
                        <a:t>竞争对手的战略举</a:t>
                      </a:r>
                      <a:r>
                        <a:rPr sz="1500" spc="60" dirty="0">
                          <a:solidFill>
                            <a:srgbClr val="000000">
                              <a:alpha val="100000"/>
                            </a:srgbClr>
                          </a:solidFill>
                          <a:latin typeface="微软雅黑" panose="020B0503020204020204" charset="-122"/>
                          <a:ea typeface="微软雅黑" panose="020B0503020204020204" charset="-122"/>
                          <a:cs typeface="楷体" panose="02010609060101010101" charset="-122"/>
                        </a:rPr>
                        <a:t>措</a:t>
                      </a:r>
                      <a:endParaRPr lang="en-US" altLang="en-US" sz="1500" dirty="0">
                        <a:latin typeface="微软雅黑" panose="020B0503020204020204" charset="-122"/>
                        <a:ea typeface="微软雅黑" panose="020B0503020204020204" charset="-122"/>
                      </a:endParaRPr>
                    </a:p>
                    <a:p>
                      <a:pPr marL="841375" algn="l" rtl="0" eaLnBrk="0">
                        <a:lnSpc>
                          <a:spcPct val="98000"/>
                        </a:lnSpc>
                        <a:spcBef>
                          <a:spcPts val="240"/>
                        </a:spcBef>
                      </a:pPr>
                      <a:r>
                        <a:rPr sz="1500" spc="6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60" dirty="0">
                          <a:solidFill>
                            <a:srgbClr val="000000">
                              <a:alpha val="100000"/>
                            </a:srgbClr>
                          </a:solidFill>
                          <a:latin typeface="微软雅黑" panose="020B0503020204020204" charset="-122"/>
                          <a:ea typeface="微软雅黑" panose="020B0503020204020204" charset="-122"/>
                          <a:cs typeface="楷体" panose="02010609060101010101" charset="-122"/>
                        </a:rPr>
                        <a:t>新产品上</a:t>
                      </a:r>
                      <a:r>
                        <a:rPr sz="1500" spc="30" dirty="0">
                          <a:solidFill>
                            <a:srgbClr val="000000">
                              <a:alpha val="100000"/>
                            </a:srgbClr>
                          </a:solidFill>
                          <a:latin typeface="微软雅黑" panose="020B0503020204020204" charset="-122"/>
                          <a:ea typeface="微软雅黑" panose="020B0503020204020204" charset="-122"/>
                          <a:cs typeface="楷体" panose="02010609060101010101" charset="-122"/>
                        </a:rPr>
                        <a:t>市</a:t>
                      </a:r>
                      <a:endParaRPr lang="en-US" altLang="en-US" sz="1500" dirty="0">
                        <a:latin typeface="微软雅黑" panose="020B0503020204020204" charset="-122"/>
                        <a:ea typeface="微软雅黑" panose="020B0503020204020204" charset="-122"/>
                      </a:endParaRPr>
                    </a:p>
                    <a:p>
                      <a:pPr marL="841375" algn="l" rtl="0" eaLnBrk="0">
                        <a:lnSpc>
                          <a:spcPct val="98000"/>
                        </a:lnSpc>
                        <a:spcBef>
                          <a:spcPts val="250"/>
                        </a:spcBef>
                      </a:pPr>
                      <a:r>
                        <a:rPr sz="1500" spc="12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120" dirty="0">
                          <a:solidFill>
                            <a:srgbClr val="000000">
                              <a:alpha val="100000"/>
                            </a:srgbClr>
                          </a:solidFill>
                          <a:latin typeface="微软雅黑" panose="020B0503020204020204" charset="-122"/>
                          <a:ea typeface="微软雅黑" panose="020B0503020204020204" charset="-122"/>
                          <a:cs typeface="楷体" panose="02010609060101010101" charset="-122"/>
                        </a:rPr>
                        <a:t>产能扩</a:t>
                      </a:r>
                      <a:r>
                        <a:rPr sz="1500" spc="70" dirty="0">
                          <a:solidFill>
                            <a:srgbClr val="000000">
                              <a:alpha val="100000"/>
                            </a:srgbClr>
                          </a:solidFill>
                          <a:latin typeface="微软雅黑" panose="020B0503020204020204" charset="-122"/>
                          <a:ea typeface="微软雅黑" panose="020B0503020204020204" charset="-122"/>
                          <a:cs typeface="楷体" panose="02010609060101010101" charset="-122"/>
                        </a:rPr>
                        <a:t>张</a:t>
                      </a:r>
                      <a:endParaRPr lang="en-US" altLang="en-US" sz="1500" dirty="0">
                        <a:latin typeface="微软雅黑" panose="020B0503020204020204" charset="-122"/>
                        <a:ea typeface="微软雅黑" panose="020B0503020204020204" charset="-122"/>
                      </a:endParaRPr>
                    </a:p>
                    <a:p>
                      <a:pPr marL="841375" algn="l" rtl="0" eaLnBrk="0">
                        <a:lnSpc>
                          <a:spcPct val="99000"/>
                        </a:lnSpc>
                        <a:spcBef>
                          <a:spcPts val="250"/>
                        </a:spcBef>
                      </a:pPr>
                      <a:r>
                        <a:rPr sz="1500" spc="5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50" dirty="0">
                          <a:solidFill>
                            <a:srgbClr val="000000">
                              <a:alpha val="100000"/>
                            </a:srgbClr>
                          </a:solidFill>
                          <a:latin typeface="微软雅黑" panose="020B0503020204020204" charset="-122"/>
                          <a:ea typeface="微软雅黑" panose="020B0503020204020204" charset="-122"/>
                          <a:cs typeface="楷体" panose="02010609060101010101" charset="-122"/>
                        </a:rPr>
                        <a:t>降低成</a:t>
                      </a:r>
                      <a:r>
                        <a:rPr sz="1500" spc="20" dirty="0">
                          <a:solidFill>
                            <a:srgbClr val="000000">
                              <a:alpha val="100000"/>
                            </a:srgbClr>
                          </a:solidFill>
                          <a:latin typeface="微软雅黑" panose="020B0503020204020204" charset="-122"/>
                          <a:ea typeface="微软雅黑" panose="020B0503020204020204" charset="-122"/>
                          <a:cs typeface="楷体" panose="02010609060101010101" charset="-122"/>
                        </a:rPr>
                        <a:t>本</a:t>
                      </a:r>
                      <a:endParaRPr lang="en-US" altLang="en-US" sz="1500" dirty="0">
                        <a:latin typeface="微软雅黑" panose="020B0503020204020204" charset="-122"/>
                        <a:ea typeface="微软雅黑" panose="020B0503020204020204" charset="-122"/>
                      </a:endParaRPr>
                    </a:p>
                    <a:p>
                      <a:pPr marL="841375" algn="l" rtl="0" eaLnBrk="0">
                        <a:lnSpc>
                          <a:spcPct val="100000"/>
                        </a:lnSpc>
                        <a:spcBef>
                          <a:spcPts val="220"/>
                        </a:spcBef>
                      </a:pPr>
                      <a:r>
                        <a:rPr sz="1500" spc="6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60" dirty="0">
                          <a:solidFill>
                            <a:srgbClr val="000000">
                              <a:alpha val="100000"/>
                            </a:srgbClr>
                          </a:solidFill>
                          <a:latin typeface="微软雅黑" panose="020B0503020204020204" charset="-122"/>
                          <a:ea typeface="微软雅黑" panose="020B0503020204020204" charset="-122"/>
                          <a:cs typeface="楷体" panose="02010609060101010101" charset="-122"/>
                        </a:rPr>
                        <a:t>开发分销渠</a:t>
                      </a:r>
                      <a:r>
                        <a:rPr sz="1500" spc="40" dirty="0">
                          <a:solidFill>
                            <a:srgbClr val="000000">
                              <a:alpha val="100000"/>
                            </a:srgbClr>
                          </a:solidFill>
                          <a:latin typeface="微软雅黑" panose="020B0503020204020204" charset="-122"/>
                          <a:ea typeface="微软雅黑" panose="020B0503020204020204" charset="-122"/>
                          <a:cs typeface="楷体" panose="02010609060101010101" charset="-122"/>
                        </a:rPr>
                        <a:t>道</a:t>
                      </a:r>
                      <a:endParaRPr lang="en-US" altLang="en-US" sz="1500" dirty="0">
                        <a:latin typeface="微软雅黑" panose="020B0503020204020204" charset="-122"/>
                        <a:ea typeface="微软雅黑" panose="020B0503020204020204" charset="-122"/>
                      </a:endParaRPr>
                    </a:p>
                    <a:p>
                      <a:pPr marL="661035" algn="l" rtl="0" eaLnBrk="0">
                        <a:lnSpc>
                          <a:spcPct val="99000"/>
                        </a:lnSpc>
                        <a:spcBef>
                          <a:spcPts val="325"/>
                        </a:spcBef>
                      </a:pPr>
                      <a:r>
                        <a:rPr sz="1500" spc="70" dirty="0">
                          <a:solidFill>
                            <a:srgbClr val="002960">
                              <a:alpha val="100000"/>
                            </a:srgbClr>
                          </a:solidFill>
                          <a:latin typeface="微软雅黑" panose="020B0503020204020204" charset="-122"/>
                          <a:ea typeface="微软雅黑" panose="020B0503020204020204" charset="-122"/>
                          <a:cs typeface="Arial" panose="020B0604020202020204"/>
                        </a:rPr>
                        <a:t>▪  </a:t>
                      </a:r>
                      <a:r>
                        <a:rPr sz="1500" spc="70" dirty="0">
                          <a:solidFill>
                            <a:srgbClr val="000000">
                              <a:alpha val="100000"/>
                            </a:srgbClr>
                          </a:solidFill>
                          <a:latin typeface="微软雅黑" panose="020B0503020204020204" charset="-122"/>
                          <a:ea typeface="微软雅黑" panose="020B0503020204020204" charset="-122"/>
                          <a:cs typeface="楷体" panose="02010609060101010101" charset="-122"/>
                        </a:rPr>
                        <a:t>新进入企</a:t>
                      </a:r>
                      <a:r>
                        <a:rPr sz="1500" spc="50" dirty="0">
                          <a:solidFill>
                            <a:srgbClr val="000000">
                              <a:alpha val="100000"/>
                            </a:srgbClr>
                          </a:solidFill>
                          <a:latin typeface="微软雅黑" panose="020B0503020204020204" charset="-122"/>
                          <a:ea typeface="微软雅黑" panose="020B0503020204020204" charset="-122"/>
                          <a:cs typeface="楷体" panose="02010609060101010101" charset="-122"/>
                        </a:rPr>
                        <a:t>业</a:t>
                      </a:r>
                      <a:endParaRPr lang="en-US" altLang="en-US" sz="1500" dirty="0">
                        <a:latin typeface="微软雅黑" panose="020B0503020204020204" charset="-122"/>
                        <a:ea typeface="微软雅黑" panose="020B0503020204020204" charset="-122"/>
                      </a:endParaRPr>
                    </a:p>
                  </a:txBody>
                  <a:tcPr marL="0" marR="0" marT="0" marB="0">
                    <a:lnL w="19050" cap="flat" cmpd="sng" algn="ctr">
                      <a:solidFill>
                        <a:srgbClr val="BFE1FF"/>
                      </a:solidFill>
                      <a:prstDash val="solid"/>
                      <a:round/>
                      <a:headEnd type="none" w="med" len="med"/>
                      <a:tailEnd type="none" w="med" len="med"/>
                    </a:lnL>
                    <a:lnR>
                      <a:noFill/>
                    </a:lnR>
                    <a:lnT w="3175" cap="flat" cmpd="sng" algn="ctr">
                      <a:solidFill>
                        <a:srgbClr val="808080"/>
                      </a:solidFill>
                      <a:prstDash val="solid"/>
                      <a:round/>
                      <a:headEnd type="none" w="med" len="med"/>
                      <a:tailEnd type="none" w="med" len="med"/>
                    </a:lnT>
                    <a:lnB w="3175" cap="flat" cmpd="sng" algn="ctr">
                      <a:solidFill>
                        <a:srgbClr val="BFE1FF"/>
                      </a:solidFill>
                      <a:prstDash val="solid"/>
                      <a:round/>
                      <a:headEnd type="none" w="med" len="med"/>
                      <a:tailEnd type="none" w="med" len="med"/>
                    </a:lnB>
                  </a:tcPr>
                </a:tc>
                <a:tc vMerge="1">
                  <a:tcPr marL="0" marR="0" marT="0" marB="0">
                    <a:lnL>
                      <a:noFill/>
                    </a:lnL>
                    <a:lnR>
                      <a:noFill/>
                    </a:lnR>
                    <a:lnT w="3175" cap="flat" cmpd="sng" algn="ctr">
                      <a:solidFill>
                        <a:srgbClr val="BFE1FF"/>
                      </a:solidFill>
                      <a:prstDash val="solid"/>
                      <a:round/>
                      <a:headEnd type="none" w="med" len="med"/>
                      <a:tailEnd type="none" w="med" len="med"/>
                    </a:lnT>
                    <a:lnB w="3175" cap="flat" cmpd="sng" algn="ctr">
                      <a:solidFill>
                        <a:srgbClr val="BFE1FF"/>
                      </a:solidFill>
                      <a:prstDash val="solid"/>
                      <a:round/>
                      <a:headEnd type="none" w="med" len="med"/>
                      <a:tailEnd type="none" w="med" len="med"/>
                    </a:lnB>
                  </a:tcPr>
                </a:tc>
                <a:tc vMerge="1">
                  <a:tcPr marL="0" marR="0" marT="0" marB="0" vert="eaVert">
                    <a:lnL>
                      <a:noFill/>
                    </a:lnL>
                    <a:lnR w="6350" cap="flat" cmpd="sng" algn="ctr">
                      <a:solidFill>
                        <a:srgbClr val="808080"/>
                      </a:solidFill>
                      <a:prstDash val="solid"/>
                      <a:round/>
                      <a:headEnd type="none" w="med" len="med"/>
                      <a:tailEnd type="none" w="med" len="med"/>
                    </a:lnR>
                    <a:lnT w="3175" cap="flat" cmpd="sng" algn="ctr">
                      <a:solidFill>
                        <a:srgbClr val="BFE1FF"/>
                      </a:solidFill>
                      <a:prstDash val="solid"/>
                      <a:round/>
                      <a:headEnd type="none" w="med" len="med"/>
                      <a:tailEnd type="none" w="med" len="med"/>
                    </a:lnT>
                    <a:lnB w="3175" cap="flat" cmpd="sng" algn="ctr">
                      <a:solidFill>
                        <a:srgbClr val="BFE1FF"/>
                      </a:solidFill>
                      <a:prstDash val="solid"/>
                      <a:round/>
                      <a:headEnd type="none" w="med" len="med"/>
                      <a:tailEnd type="none" w="med" len="med"/>
                    </a:lnB>
                  </a:tcPr>
                </a:tc>
                <a:tc vMerge="1">
                  <a:tcPr marL="0" marR="0" marT="0" marB="0" vert="eaVert">
                    <a:lnL w="6350" cap="flat" cmpd="sng" algn="ctr">
                      <a:solidFill>
                        <a:srgbClr val="808080"/>
                      </a:solidFill>
                      <a:prstDash val="solid"/>
                      <a:round/>
                      <a:headEnd type="none" w="med" len="med"/>
                      <a:tailEnd type="none" w="med" len="med"/>
                    </a:lnL>
                    <a:lnR>
                      <a:noFill/>
                    </a:lnR>
                    <a:lnT w="3175" cap="flat" cmpd="sng" algn="ctr">
                      <a:solidFill>
                        <a:srgbClr val="BFE1FF"/>
                      </a:solidFill>
                      <a:prstDash val="solid"/>
                      <a:round/>
                      <a:headEnd type="none" w="med" len="med"/>
                      <a:tailEnd type="none" w="med" len="med"/>
                    </a:lnT>
                    <a:lnB w="3175" cap="flat" cmpd="sng" algn="ctr">
                      <a:solidFill>
                        <a:srgbClr val="BFE1FF"/>
                      </a:solidFill>
                      <a:prstDash val="solid"/>
                      <a:round/>
                      <a:headEnd type="none" w="med" len="med"/>
                      <a:tailEnd type="none" w="med" len="med"/>
                    </a:lnB>
                  </a:tcPr>
                </a:tc>
                <a:tc vMerge="1">
                  <a:tcPr marL="0" marR="0" marT="0" marB="0">
                    <a:lnL>
                      <a:noFill/>
                    </a:lnL>
                    <a:lnR w="19050" cap="flat" cmpd="sng" algn="ctr">
                      <a:solidFill>
                        <a:srgbClr val="BFE1FF"/>
                      </a:solidFill>
                      <a:prstDash val="solid"/>
                      <a:round/>
                      <a:headEnd type="none" w="med" len="med"/>
                      <a:tailEnd type="none" w="med" len="med"/>
                    </a:lnR>
                    <a:lnT w="3175" cap="flat" cmpd="sng" algn="ctr">
                      <a:solidFill>
                        <a:srgbClr val="BFE1FF"/>
                      </a:solidFill>
                      <a:prstDash val="solid"/>
                      <a:round/>
                      <a:headEnd type="none" w="med" len="med"/>
                      <a:tailEnd type="none" w="med" len="med"/>
                    </a:lnT>
                    <a:lnB>
                      <a:noFill/>
                    </a:lnB>
                  </a:tcPr>
                </a:tc>
              </a:tr>
              <a:tr h="1075690">
                <a:tc vMerge="1">
                  <a:tcPr marL="0" marR="0" marT="0" marB="0">
                    <a:lnL w="19050" cap="flat" cmpd="sng" algn="ctr">
                      <a:solidFill>
                        <a:srgbClr val="BFE1FF"/>
                      </a:solidFill>
                      <a:prstDash val="solid"/>
                      <a:round/>
                      <a:headEnd type="none" w="med" len="med"/>
                      <a:tailEnd type="none" w="med" len="med"/>
                    </a:lnL>
                    <a:lnR>
                      <a:noFill/>
                    </a:lnR>
                    <a:lnT w="3175" cap="flat" cmpd="sng" algn="ctr">
                      <a:solidFill>
                        <a:srgbClr val="808080"/>
                      </a:solidFill>
                      <a:prstDash val="solid"/>
                      <a:round/>
                      <a:headEnd type="none" w="med" len="med"/>
                      <a:tailEnd type="none" w="med" len="med"/>
                    </a:lnT>
                    <a:lnB w="3175" cap="flat" cmpd="sng" algn="ctr">
                      <a:solidFill>
                        <a:srgbClr val="BFE1FF"/>
                      </a:solidFill>
                      <a:prstDash val="solid"/>
                      <a:round/>
                      <a:headEnd type="none" w="med" len="med"/>
                      <a:tailEnd type="none" w="med" len="med"/>
                    </a:lnB>
                  </a:tcPr>
                </a:tc>
                <a:tc vMerge="1">
                  <a:tcPr marL="0" marR="0" marT="0" marB="0">
                    <a:lnL>
                      <a:noFill/>
                    </a:lnL>
                    <a:lnR>
                      <a:noFill/>
                    </a:lnR>
                    <a:lnT w="3175" cap="flat" cmpd="sng" algn="ctr">
                      <a:solidFill>
                        <a:srgbClr val="BFE1FF"/>
                      </a:solidFill>
                      <a:prstDash val="solid"/>
                      <a:round/>
                      <a:headEnd type="none" w="med" len="med"/>
                      <a:tailEnd type="none" w="med" len="med"/>
                    </a:lnT>
                    <a:lnB w="3175" cap="flat" cmpd="sng" algn="ctr">
                      <a:solidFill>
                        <a:srgbClr val="BFE1FF"/>
                      </a:solidFill>
                      <a:prstDash val="solid"/>
                      <a:round/>
                      <a:headEnd type="none" w="med" len="med"/>
                      <a:tailEnd type="none" w="med" len="med"/>
                    </a:lnB>
                  </a:tcPr>
                </a:tc>
                <a:tc vMerge="1">
                  <a:tcPr marL="0" marR="0" marT="0" marB="0" vert="eaVert">
                    <a:lnL>
                      <a:noFill/>
                    </a:lnL>
                    <a:lnR w="6350" cap="flat" cmpd="sng" algn="ctr">
                      <a:solidFill>
                        <a:srgbClr val="808080"/>
                      </a:solidFill>
                      <a:prstDash val="solid"/>
                      <a:round/>
                      <a:headEnd type="none" w="med" len="med"/>
                      <a:tailEnd type="none" w="med" len="med"/>
                    </a:lnR>
                    <a:lnT w="3175" cap="flat" cmpd="sng" algn="ctr">
                      <a:solidFill>
                        <a:srgbClr val="BFE1FF"/>
                      </a:solidFill>
                      <a:prstDash val="solid"/>
                      <a:round/>
                      <a:headEnd type="none" w="med" len="med"/>
                      <a:tailEnd type="none" w="med" len="med"/>
                    </a:lnT>
                    <a:lnB w="3175" cap="flat" cmpd="sng" algn="ctr">
                      <a:solidFill>
                        <a:srgbClr val="BFE1FF"/>
                      </a:solidFill>
                      <a:prstDash val="solid"/>
                      <a:round/>
                      <a:headEnd type="none" w="med" len="med"/>
                      <a:tailEnd type="none" w="med" len="med"/>
                    </a:lnB>
                  </a:tcPr>
                </a:tc>
                <a:tc vMerge="1">
                  <a:tcPr marL="0" marR="0" marT="0" marB="0" vert="eaVert">
                    <a:lnL w="6350" cap="flat" cmpd="sng" algn="ctr">
                      <a:solidFill>
                        <a:srgbClr val="808080"/>
                      </a:solidFill>
                      <a:prstDash val="solid"/>
                      <a:round/>
                      <a:headEnd type="none" w="med" len="med"/>
                      <a:tailEnd type="none" w="med" len="med"/>
                    </a:lnL>
                    <a:lnR>
                      <a:noFill/>
                    </a:lnR>
                    <a:lnT w="3175" cap="flat" cmpd="sng" algn="ctr">
                      <a:solidFill>
                        <a:srgbClr val="BFE1FF"/>
                      </a:solidFill>
                      <a:prstDash val="solid"/>
                      <a:round/>
                      <a:headEnd type="none" w="med" len="med"/>
                      <a:tailEnd type="none" w="med" len="med"/>
                    </a:lnT>
                    <a:lnB w="3175" cap="flat" cmpd="sng" algn="ctr">
                      <a:solidFill>
                        <a:srgbClr val="BFE1FF"/>
                      </a:solidFill>
                      <a:prstDash val="solid"/>
                      <a:round/>
                      <a:headEnd type="none" w="med" len="med"/>
                      <a:tailEnd type="none" w="med" len="med"/>
                    </a:lnB>
                  </a:tcPr>
                </a:tc>
                <a:tc>
                  <a:txBody>
                    <a:bodyPr/>
                    <a:lstStyle/>
                    <a:p>
                      <a:pPr algn="l" rtl="0" eaLnBrk="0">
                        <a:lnSpc>
                          <a:spcPct val="104000"/>
                        </a:lnSpc>
                      </a:pPr>
                      <a:endParaRPr lang="en-US" altLang="en-US" sz="200" dirty="0">
                        <a:latin typeface="微软雅黑" panose="020B0503020204020204" charset="-122"/>
                        <a:ea typeface="微软雅黑" panose="020B0503020204020204" charset="-122"/>
                      </a:endParaRPr>
                    </a:p>
                    <a:p>
                      <a:pPr marL="732790" algn="l" rtl="0" eaLnBrk="0">
                        <a:lnSpc>
                          <a:spcPct val="99000"/>
                        </a:lnSpc>
                        <a:spcBef>
                          <a:spcPts val="0"/>
                        </a:spcBef>
                      </a:pPr>
                      <a:r>
                        <a:rPr sz="1500" spc="100" dirty="0">
                          <a:ln w="5791"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竞争对手的风险因</a:t>
                      </a:r>
                      <a:r>
                        <a:rPr sz="1500" spc="90" dirty="0">
                          <a:ln w="5791"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素</a:t>
                      </a:r>
                      <a:endParaRPr lang="en-US" altLang="en-US" sz="1500" dirty="0">
                        <a:latin typeface="微软雅黑" panose="020B0503020204020204" charset="-122"/>
                        <a:ea typeface="微软雅黑" panose="020B0503020204020204" charset="-122"/>
                      </a:endParaRPr>
                    </a:p>
                  </a:txBody>
                  <a:tcPr marL="0" marR="0" marT="0" marB="0">
                    <a:lnL>
                      <a:noFill/>
                    </a:lnL>
                    <a:lnR w="19050" cap="flat" cmpd="sng" algn="ctr">
                      <a:solidFill>
                        <a:srgbClr val="BFE1FF"/>
                      </a:solidFill>
                      <a:prstDash val="solid"/>
                      <a:round/>
                      <a:headEnd type="none" w="med" len="med"/>
                      <a:tailEnd type="none" w="med" len="med"/>
                    </a:lnR>
                    <a:lnT>
                      <a:noFill/>
                    </a:lnT>
                    <a:lnB w="3175" cap="flat" cmpd="sng" algn="ctr">
                      <a:solidFill>
                        <a:srgbClr val="BFE1FF"/>
                      </a:solidFill>
                      <a:prstDash val="solid"/>
                      <a:round/>
                      <a:headEnd type="none" w="med" len="med"/>
                      <a:tailEnd type="none" w="med" len="med"/>
                    </a:lnB>
                  </a:tcPr>
                </a:tc>
              </a:tr>
            </a:tbl>
          </a:graphicData>
        </a:graphic>
      </p:graphicFrame>
      <p:graphicFrame>
        <p:nvGraphicFramePr>
          <p:cNvPr id="1245" name="table 1245"/>
          <p:cNvGraphicFramePr>
            <a:graphicFrameLocks noGrp="1"/>
          </p:cNvGraphicFramePr>
          <p:nvPr/>
        </p:nvGraphicFramePr>
        <p:xfrm>
          <a:off x="5338572" y="1620011"/>
          <a:ext cx="3174365" cy="3174364"/>
        </p:xfrm>
        <a:graphic>
          <a:graphicData uri="http://schemas.openxmlformats.org/drawingml/2006/table">
            <a:tbl>
              <a:tblPr/>
              <a:tblGrid>
                <a:gridCol w="1059180"/>
                <a:gridCol w="1052830"/>
                <a:gridCol w="1062355"/>
              </a:tblGrid>
              <a:tr h="1056640">
                <a:tc>
                  <a:txBody>
                    <a:bodyPr/>
                    <a:lstStyle/>
                    <a:p>
                      <a:pPr algn="l" rtl="0" eaLnBrk="0">
                        <a:lnSpc>
                          <a:spcPct val="100000"/>
                        </a:lnSpc>
                      </a:pPr>
                      <a:endParaRPr lang="en-US" altLang="en-US" sz="1000" dirty="0">
                        <a:latin typeface="微软雅黑" panose="020B0503020204020204" charset="-122"/>
                        <a:ea typeface="微软雅黑" panose="020B0503020204020204" charset="-122"/>
                      </a:endParaRPr>
                    </a:p>
                  </a:txBody>
                  <a:tcPr marL="0" marR="0" marT="0" marB="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00ADEF"/>
                    </a:solidFill>
                  </a:tcPr>
                </a:tc>
                <a:tc>
                  <a:txBody>
                    <a:bodyPr/>
                    <a:lstStyle/>
                    <a:p>
                      <a:pPr algn="l" rtl="0" eaLnBrk="0">
                        <a:lnSpc>
                          <a:spcPct val="100000"/>
                        </a:lnSpc>
                      </a:pPr>
                      <a:endParaRPr lang="en-US" altLang="en-US" sz="1000" dirty="0">
                        <a:ea typeface="微软雅黑" panose="020B0503020204020204" charset="-122"/>
                      </a:endParaRPr>
                    </a:p>
                  </a:txBody>
                  <a:tcPr marL="0" marR="0" marT="0" marB="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0065BD"/>
                    </a:solidFill>
                  </a:tcPr>
                </a:tc>
                <a:tc>
                  <a:txBody>
                    <a:bodyPr/>
                    <a:lstStyle/>
                    <a:p>
                      <a:pPr algn="l" rtl="0" eaLnBrk="0">
                        <a:lnSpc>
                          <a:spcPct val="142000"/>
                        </a:lnSpc>
                      </a:pPr>
                      <a:endParaRPr lang="en-US" altLang="en-US" sz="1000" dirty="0">
                        <a:latin typeface="微软雅黑" panose="020B0503020204020204" charset="-122"/>
                        <a:ea typeface="微软雅黑" panose="020B0503020204020204" charset="-122"/>
                      </a:endParaRPr>
                    </a:p>
                    <a:p>
                      <a:pPr algn="l" rtl="0" eaLnBrk="0">
                        <a:lnSpc>
                          <a:spcPct val="143000"/>
                        </a:lnSpc>
                      </a:pPr>
                      <a:endParaRPr lang="en-US" altLang="en-US" sz="1000" dirty="0">
                        <a:latin typeface="微软雅黑" panose="020B0503020204020204" charset="-122"/>
                        <a:ea typeface="微软雅黑" panose="020B0503020204020204" charset="-122"/>
                      </a:endParaRPr>
                    </a:p>
                    <a:p>
                      <a:pPr algn="l" rtl="0" eaLnBrk="0">
                        <a:lnSpc>
                          <a:spcPct val="7000"/>
                        </a:lnSpc>
                      </a:pPr>
                      <a:endParaRPr lang="en-US" altLang="en-US" sz="100" dirty="0">
                        <a:latin typeface="微软雅黑" panose="020B0503020204020204" charset="-122"/>
                        <a:ea typeface="微软雅黑" panose="020B0503020204020204" charset="-122"/>
                      </a:endParaRPr>
                    </a:p>
                    <a:p>
                      <a:pPr marL="248920" algn="l" rtl="0" eaLnBrk="0">
                        <a:lnSpc>
                          <a:spcPct val="100000"/>
                        </a:lnSpc>
                      </a:pPr>
                      <a:r>
                        <a:rPr sz="1500" spc="50" dirty="0">
                          <a:ln w="5791"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高风</a:t>
                      </a:r>
                      <a:r>
                        <a:rPr sz="1500" spc="20" dirty="0">
                          <a:ln w="5791"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险</a:t>
                      </a:r>
                      <a:endParaRPr lang="en-US" altLang="en-US" sz="1500" dirty="0">
                        <a:latin typeface="微软雅黑" panose="020B0503020204020204" charset="-122"/>
                        <a:ea typeface="微软雅黑" panose="020B0503020204020204" charset="-122"/>
                      </a:endParaRPr>
                    </a:p>
                  </a:txBody>
                  <a:tcPr marL="0" marR="0" marT="0" marB="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0065BD"/>
                    </a:solidFill>
                  </a:tcPr>
                </a:tc>
              </a:tr>
              <a:tr h="1055369">
                <a:tc>
                  <a:txBody>
                    <a:bodyPr/>
                    <a:lstStyle/>
                    <a:p>
                      <a:pPr algn="l" rtl="0" eaLnBrk="0">
                        <a:lnSpc>
                          <a:spcPct val="100000"/>
                        </a:lnSpc>
                      </a:pPr>
                      <a:endParaRPr lang="en-US" altLang="en-US" sz="1000" dirty="0">
                        <a:ea typeface="微软雅黑" panose="020B0503020204020204" charset="-122"/>
                      </a:endParaRPr>
                    </a:p>
                  </a:txBody>
                  <a:tcPr marL="0" marR="0" marT="0" marB="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C5C5C5"/>
                    </a:solidFill>
                  </a:tcPr>
                </a:tc>
                <a:tc>
                  <a:txBody>
                    <a:bodyPr/>
                    <a:lstStyle/>
                    <a:p>
                      <a:pPr algn="l" rtl="0" eaLnBrk="0">
                        <a:lnSpc>
                          <a:spcPct val="141000"/>
                        </a:lnSpc>
                      </a:pPr>
                      <a:endParaRPr lang="en-US" altLang="en-US" sz="1000" dirty="0">
                        <a:latin typeface="微软雅黑" panose="020B0503020204020204" charset="-122"/>
                        <a:ea typeface="微软雅黑" panose="020B0503020204020204" charset="-122"/>
                      </a:endParaRPr>
                    </a:p>
                    <a:p>
                      <a:pPr algn="l" rtl="0" eaLnBrk="0">
                        <a:lnSpc>
                          <a:spcPct val="142000"/>
                        </a:lnSpc>
                      </a:pPr>
                      <a:endParaRPr lang="en-US" altLang="en-US" sz="1000" dirty="0">
                        <a:latin typeface="微软雅黑" panose="020B0503020204020204" charset="-122"/>
                        <a:ea typeface="微软雅黑" panose="020B0503020204020204" charset="-122"/>
                      </a:endParaRPr>
                    </a:p>
                    <a:p>
                      <a:pPr marL="149860" algn="l" rtl="0" eaLnBrk="0">
                        <a:lnSpc>
                          <a:spcPct val="99000"/>
                        </a:lnSpc>
                        <a:spcBef>
                          <a:spcPts val="5"/>
                        </a:spcBef>
                      </a:pPr>
                      <a:r>
                        <a:rPr sz="1500" spc="50" dirty="0">
                          <a:ln w="5791"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中等风</a:t>
                      </a:r>
                      <a:r>
                        <a:rPr sz="1500" spc="30" dirty="0">
                          <a:ln w="5791" cap="flat" cmpd="sng">
                            <a:solidFill>
                              <a:srgbClr val="FFFFFF">
                                <a:alpha val="100000"/>
                              </a:srgbClr>
                            </a:solidFill>
                            <a:prstDash val="solid"/>
                            <a:round/>
                          </a:ln>
                          <a:solidFill>
                            <a:srgbClr val="FFFFFF">
                              <a:alpha val="100000"/>
                            </a:srgbClr>
                          </a:solidFill>
                          <a:latin typeface="微软雅黑" panose="020B0503020204020204" charset="-122"/>
                          <a:ea typeface="微软雅黑" panose="020B0503020204020204" charset="-122"/>
                          <a:cs typeface="楷体" panose="02010609060101010101" charset="-122"/>
                        </a:rPr>
                        <a:t>险</a:t>
                      </a:r>
                      <a:endParaRPr lang="en-US" altLang="en-US" sz="1500" dirty="0">
                        <a:latin typeface="微软雅黑" panose="020B0503020204020204" charset="-122"/>
                        <a:ea typeface="微软雅黑" panose="020B0503020204020204" charset="-122"/>
                      </a:endParaRPr>
                    </a:p>
                  </a:txBody>
                  <a:tcPr marL="0" marR="0" marT="0" marB="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00ADEF"/>
                    </a:solidFill>
                  </a:tcPr>
                </a:tc>
                <a:tc>
                  <a:txBody>
                    <a:bodyPr/>
                    <a:lstStyle/>
                    <a:p>
                      <a:pPr algn="l" rtl="0" eaLnBrk="0">
                        <a:lnSpc>
                          <a:spcPct val="100000"/>
                        </a:lnSpc>
                      </a:pPr>
                      <a:endParaRPr lang="en-US" altLang="en-US" sz="1000" dirty="0">
                        <a:ea typeface="微软雅黑" panose="020B0503020204020204" charset="-122"/>
                      </a:endParaRPr>
                    </a:p>
                  </a:txBody>
                  <a:tcPr marL="0" marR="0" marT="0" marB="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0065BD"/>
                    </a:solidFill>
                  </a:tcPr>
                </a:tc>
              </a:tr>
              <a:tr h="1062355">
                <a:tc>
                  <a:txBody>
                    <a:bodyPr/>
                    <a:lstStyle/>
                    <a:p>
                      <a:pPr algn="l" rtl="0" eaLnBrk="0">
                        <a:lnSpc>
                          <a:spcPct val="142000"/>
                        </a:lnSpc>
                      </a:pPr>
                      <a:endParaRPr lang="en-US" altLang="en-US" sz="1000" dirty="0">
                        <a:latin typeface="微软雅黑" panose="020B0503020204020204" charset="-122"/>
                        <a:ea typeface="微软雅黑" panose="020B0503020204020204" charset="-122"/>
                      </a:endParaRPr>
                    </a:p>
                    <a:p>
                      <a:pPr algn="l" rtl="0" eaLnBrk="0">
                        <a:lnSpc>
                          <a:spcPct val="142000"/>
                        </a:lnSpc>
                      </a:pPr>
                      <a:endParaRPr lang="en-US" altLang="en-US" sz="1000" dirty="0">
                        <a:latin typeface="微软雅黑" panose="020B0503020204020204" charset="-122"/>
                        <a:ea typeface="微软雅黑" panose="020B0503020204020204" charset="-122"/>
                      </a:endParaRPr>
                    </a:p>
                    <a:p>
                      <a:pPr marL="229870" algn="l" rtl="0" eaLnBrk="0">
                        <a:lnSpc>
                          <a:spcPts val="1855"/>
                        </a:lnSpc>
                        <a:spcBef>
                          <a:spcPts val="5"/>
                        </a:spcBef>
                      </a:pPr>
                      <a:r>
                        <a:rPr sz="1500" spc="10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低风</a:t>
                      </a:r>
                      <a:r>
                        <a:rPr sz="1500" spc="80" dirty="0">
                          <a:ln w="5791"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险</a:t>
                      </a:r>
                      <a:endParaRPr lang="en-US" altLang="en-US" sz="1500" dirty="0">
                        <a:latin typeface="微软雅黑" panose="020B0503020204020204" charset="-122"/>
                        <a:ea typeface="微软雅黑" panose="020B0503020204020204" charset="-122"/>
                      </a:endParaRPr>
                    </a:p>
                  </a:txBody>
                  <a:tcPr marL="0" marR="0" marT="0" marB="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C5C5C5"/>
                    </a:solidFill>
                  </a:tcPr>
                </a:tc>
                <a:tc>
                  <a:txBody>
                    <a:bodyPr/>
                    <a:lstStyle/>
                    <a:p>
                      <a:pPr algn="l" rtl="0" eaLnBrk="0">
                        <a:lnSpc>
                          <a:spcPct val="100000"/>
                        </a:lnSpc>
                      </a:pPr>
                      <a:endParaRPr lang="en-US" altLang="en-US" sz="1000" dirty="0">
                        <a:ea typeface="微软雅黑" panose="020B0503020204020204" charset="-122"/>
                      </a:endParaRPr>
                    </a:p>
                  </a:txBody>
                  <a:tcPr marL="0" marR="0" marT="0" marB="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C5C5C5"/>
                    </a:solidFill>
                  </a:tcPr>
                </a:tc>
                <a:tc>
                  <a:txBody>
                    <a:bodyPr/>
                    <a:lstStyle/>
                    <a:p>
                      <a:pPr algn="l" rtl="0" eaLnBrk="0">
                        <a:lnSpc>
                          <a:spcPct val="100000"/>
                        </a:lnSpc>
                      </a:pPr>
                      <a:endParaRPr lang="en-US" altLang="en-US" sz="1000" dirty="0">
                        <a:ea typeface="微软雅黑" panose="020B0503020204020204" charset="-122"/>
                      </a:endParaRPr>
                    </a:p>
                  </a:txBody>
                  <a:tcPr marL="0" marR="0" marT="0" marB="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cap="flat" cmpd="sng" algn="ctr">
                      <a:solidFill>
                        <a:srgbClr val="FFFFFF"/>
                      </a:solidFill>
                      <a:prstDash val="solid"/>
                      <a:round/>
                      <a:headEnd type="none" w="med" len="med"/>
                      <a:tailEnd type="none" w="med" len="med"/>
                    </a:lnB>
                    <a:solidFill>
                      <a:srgbClr val="00ADEF"/>
                    </a:solidFill>
                  </a:tcPr>
                </a:tc>
              </a:tr>
            </a:tbl>
          </a:graphicData>
        </a:graphic>
      </p:graphicFrame>
      <p:sp>
        <p:nvSpPr>
          <p:cNvPr id="1246" name="textbox 1246"/>
          <p:cNvSpPr/>
          <p:nvPr/>
        </p:nvSpPr>
        <p:spPr>
          <a:xfrm>
            <a:off x="457784" y="248992"/>
            <a:ext cx="6871969" cy="305434"/>
          </a:xfrm>
          <a:prstGeom prst="rect">
            <a:avLst/>
          </a:prstGeom>
        </p:spPr>
        <p:txBody>
          <a:bodyPr vert="horz" wrap="square" lIns="0" tIns="0" rIns="0" bIns="0"/>
          <a:lstStyle/>
          <a:p>
            <a:pPr algn="l" rtl="0" eaLnBrk="0">
              <a:lnSpc>
                <a:spcPct val="79000"/>
              </a:lnSpc>
            </a:pPr>
            <a:endParaRPr lang="en-US" altLang="en-US" sz="100" dirty="0">
              <a:latin typeface="微软雅黑" panose="020B0503020204020204" charset="-122"/>
              <a:ea typeface="微软雅黑" panose="020B0503020204020204" charset="-122"/>
            </a:endParaRPr>
          </a:p>
          <a:p>
            <a:pPr marL="12700" algn="l" rtl="0" eaLnBrk="0">
              <a:lnSpc>
                <a:spcPct val="92000"/>
              </a:lnSpc>
            </a:pPr>
            <a:r>
              <a:rPr sz="2000" spc="-40" dirty="0">
                <a:solidFill>
                  <a:srgbClr val="002960">
                    <a:alpha val="100000"/>
                  </a:srgbClr>
                </a:solidFill>
                <a:latin typeface="微软雅黑" panose="020B0503020204020204" charset="-122"/>
                <a:ea typeface="微软雅黑" panose="020B0503020204020204" charset="-122"/>
                <a:cs typeface="楷体" panose="02010609060101010101" charset="-122"/>
              </a:rPr>
              <a:t>通过了解竞争对手和大客户的动态， 深化对大客户的风险认</a:t>
            </a:r>
            <a:r>
              <a:rPr sz="2000" spc="-20" dirty="0">
                <a:solidFill>
                  <a:srgbClr val="002960">
                    <a:alpha val="100000"/>
                  </a:srgbClr>
                </a:solidFill>
                <a:latin typeface="微软雅黑" panose="020B0503020204020204" charset="-122"/>
                <a:ea typeface="微软雅黑" panose="020B0503020204020204" charset="-122"/>
                <a:cs typeface="楷体" panose="02010609060101010101" charset="-122"/>
              </a:rPr>
              <a:t>识</a:t>
            </a:r>
            <a:endParaRPr lang="en-US" altLang="en-US" sz="2000" dirty="0">
              <a:latin typeface="微软雅黑" panose="020B0503020204020204" charset="-122"/>
              <a:ea typeface="微软雅黑" panose="020B0503020204020204" charset="-122"/>
            </a:endParaRPr>
          </a:p>
        </p:txBody>
      </p:sp>
      <p:sp>
        <p:nvSpPr>
          <p:cNvPr id="1247" name="textbox 1247"/>
          <p:cNvSpPr/>
          <p:nvPr/>
        </p:nvSpPr>
        <p:spPr>
          <a:xfrm>
            <a:off x="180915" y="3467100"/>
            <a:ext cx="473075" cy="2585085"/>
          </a:xfrm>
          <a:prstGeom prst="rect">
            <a:avLst/>
          </a:prstGeom>
          <a:solidFill>
            <a:srgbClr val="BFE1FF"/>
          </a:solidFill>
        </p:spPr>
        <p:txBody>
          <a:bodyPr vert="eaVert" wrap="square" lIns="0" tIns="0" rIns="0" bIns="0"/>
          <a:lstStyle/>
          <a:p>
            <a:pPr algn="l" rtl="0" eaLnBrk="0">
              <a:lnSpc>
                <a:spcPct val="104000"/>
              </a:lnSpc>
            </a:pPr>
            <a:endParaRPr lang="en-US" altLang="en-US" sz="800" dirty="0"/>
          </a:p>
          <a:p>
            <a:pPr marL="896620" algn="l" rtl="0" eaLnBrk="0">
              <a:lnSpc>
                <a:spcPct val="95000"/>
              </a:lnSpc>
              <a:spcBef>
                <a:spcPts val="5"/>
              </a:spcBef>
            </a:pPr>
            <a:r>
              <a:rPr sz="1400" spc="200" dirty="0">
                <a:ln w="5094" cap="flat" cmpd="sng">
                  <a:solidFill>
                    <a:srgbClr val="000000">
                      <a:alpha val="100000"/>
                    </a:srgbClr>
                  </a:solidFill>
                  <a:prstDash val="solid"/>
                  <a:miter lim="8"/>
                </a:ln>
                <a:solidFill>
                  <a:srgbClr val="000000">
                    <a:alpha val="100000"/>
                  </a:srgbClr>
                </a:solidFill>
                <a:latin typeface="楷体" panose="02010609060101010101" charset="-122"/>
                <a:ea typeface="楷体" panose="02010609060101010101" charset="-122"/>
                <a:cs typeface="楷体" panose="02010609060101010101" charset="-122"/>
              </a:rPr>
              <a:t>竞争对</a:t>
            </a:r>
            <a:r>
              <a:rPr sz="1400" spc="180" dirty="0">
                <a:ln w="5094" cap="flat" cmpd="sng">
                  <a:solidFill>
                    <a:srgbClr val="000000">
                      <a:alpha val="100000"/>
                    </a:srgbClr>
                  </a:solidFill>
                  <a:prstDash val="solid"/>
                  <a:miter lim="8"/>
                </a:ln>
                <a:solidFill>
                  <a:srgbClr val="000000">
                    <a:alpha val="100000"/>
                  </a:srgbClr>
                </a:solidFill>
                <a:latin typeface="楷体" panose="02010609060101010101" charset="-122"/>
                <a:ea typeface="楷体" panose="02010609060101010101" charset="-122"/>
                <a:cs typeface="楷体" panose="02010609060101010101" charset="-122"/>
              </a:rPr>
              <a:t>手</a:t>
            </a:r>
            <a:endParaRPr lang="en-US" altLang="en-US" sz="1400" dirty="0"/>
          </a:p>
        </p:txBody>
      </p:sp>
      <p:pic>
        <p:nvPicPr>
          <p:cNvPr id="1248" name="picture 1248"/>
          <p:cNvPicPr>
            <a:picLocks noChangeAspect="1"/>
          </p:cNvPicPr>
          <p:nvPr/>
        </p:nvPicPr>
        <p:blipFill>
          <a:blip r:embed="rId1"/>
          <a:stretch>
            <a:fillRect/>
          </a:stretch>
        </p:blipFill>
        <p:spPr>
          <a:xfrm rot="21600000">
            <a:off x="4172711" y="1981200"/>
            <a:ext cx="342900" cy="3090672"/>
          </a:xfrm>
          <a:prstGeom prst="rect">
            <a:avLst/>
          </a:prstGeom>
        </p:spPr>
      </p:pic>
      <p:sp>
        <p:nvSpPr>
          <p:cNvPr id="1249" name="textbox 1249"/>
          <p:cNvSpPr/>
          <p:nvPr/>
        </p:nvSpPr>
        <p:spPr>
          <a:xfrm>
            <a:off x="177442" y="999744"/>
            <a:ext cx="476884" cy="2289175"/>
          </a:xfrm>
          <a:prstGeom prst="rect">
            <a:avLst/>
          </a:prstGeom>
          <a:solidFill>
            <a:srgbClr val="BFE1FF"/>
          </a:solidFill>
        </p:spPr>
        <p:txBody>
          <a:bodyPr vert="eaVert" wrap="square" lIns="0" tIns="0" rIns="0" bIns="0"/>
          <a:lstStyle/>
          <a:p>
            <a:pPr algn="l" rtl="0" eaLnBrk="0">
              <a:lnSpc>
                <a:spcPct val="105000"/>
              </a:lnSpc>
            </a:pPr>
            <a:endParaRPr lang="en-US" altLang="en-US" sz="800" dirty="0"/>
          </a:p>
          <a:p>
            <a:pPr marL="854710" algn="l" rtl="0" eaLnBrk="0">
              <a:lnSpc>
                <a:spcPct val="97000"/>
              </a:lnSpc>
              <a:spcBef>
                <a:spcPts val="5"/>
              </a:spcBef>
            </a:pPr>
            <a:r>
              <a:rPr sz="1400" spc="170" dirty="0">
                <a:ln w="5094" cap="flat" cmpd="sng">
                  <a:solidFill>
                    <a:srgbClr val="000000">
                      <a:alpha val="100000"/>
                    </a:srgbClr>
                  </a:solidFill>
                  <a:prstDash val="solid"/>
                  <a:miter lim="8"/>
                </a:ln>
                <a:solidFill>
                  <a:srgbClr val="000000">
                    <a:alpha val="100000"/>
                  </a:srgbClr>
                </a:solidFill>
                <a:latin typeface="楷体" panose="02010609060101010101" charset="-122"/>
                <a:ea typeface="楷体" panose="02010609060101010101" charset="-122"/>
                <a:cs typeface="楷体" panose="02010609060101010101" charset="-122"/>
              </a:rPr>
              <a:t>大客</a:t>
            </a:r>
            <a:r>
              <a:rPr sz="1400" spc="160" dirty="0">
                <a:ln w="5094" cap="flat" cmpd="sng">
                  <a:solidFill>
                    <a:srgbClr val="000000">
                      <a:alpha val="100000"/>
                    </a:srgbClr>
                  </a:solidFill>
                  <a:prstDash val="solid"/>
                  <a:miter lim="8"/>
                </a:ln>
                <a:solidFill>
                  <a:srgbClr val="000000">
                    <a:alpha val="100000"/>
                  </a:srgbClr>
                </a:solidFill>
                <a:latin typeface="楷体" panose="02010609060101010101" charset="-122"/>
                <a:ea typeface="楷体" panose="02010609060101010101" charset="-122"/>
                <a:cs typeface="楷体" panose="02010609060101010101" charset="-122"/>
              </a:rPr>
              <a:t>户</a:t>
            </a:r>
            <a:endParaRPr lang="en-US" altLang="en-US" sz="1400" dirty="0"/>
          </a:p>
        </p:txBody>
      </p:sp>
      <p:grpSp>
        <p:nvGrpSpPr>
          <p:cNvPr id="216" name="group 216"/>
          <p:cNvGrpSpPr/>
          <p:nvPr/>
        </p:nvGrpSpPr>
        <p:grpSpPr>
          <a:xfrm rot="21600000">
            <a:off x="7786370" y="924814"/>
            <a:ext cx="545592" cy="493775"/>
            <a:chOff x="0" y="0"/>
            <a:chExt cx="545592" cy="493775"/>
          </a:xfrm>
        </p:grpSpPr>
        <p:sp>
          <p:nvSpPr>
            <p:cNvPr id="1251" name="path"/>
            <p:cNvSpPr/>
            <p:nvPr/>
          </p:nvSpPr>
          <p:spPr>
            <a:xfrm>
              <a:off x="140207" y="0"/>
              <a:ext cx="348996" cy="493775"/>
            </a:xfrm>
            <a:custGeom>
              <a:avLst/>
              <a:gdLst/>
              <a:ahLst/>
              <a:cxnLst/>
              <a:rect l="0" t="0" r="0" b="0"/>
              <a:pathLst>
                <a:path w="549" h="777">
                  <a:moveTo>
                    <a:pt x="265" y="315"/>
                  </a:moveTo>
                  <a:lnTo>
                    <a:pt x="405" y="132"/>
                  </a:lnTo>
                  <a:lnTo>
                    <a:pt x="206" y="0"/>
                  </a:lnTo>
                  <a:lnTo>
                    <a:pt x="0" y="137"/>
                  </a:lnTo>
                  <a:lnTo>
                    <a:pt x="138" y="324"/>
                  </a:lnTo>
                </a:path>
                <a:path w="549" h="777">
                  <a:moveTo>
                    <a:pt x="286" y="487"/>
                  </a:moveTo>
                  <a:lnTo>
                    <a:pt x="549" y="556"/>
                  </a:lnTo>
                  <a:lnTo>
                    <a:pt x="467" y="777"/>
                  </a:lnTo>
                  <a:lnTo>
                    <a:pt x="214" y="776"/>
                  </a:lnTo>
                  <a:lnTo>
                    <a:pt x="213" y="551"/>
                  </a:lnTo>
                </a:path>
              </a:pathLst>
            </a:custGeom>
            <a:solidFill>
              <a:srgbClr val="C5C5C5">
                <a:alpha val="100000"/>
              </a:srgbClr>
            </a:solidFill>
            <a:ln cap="flat">
              <a:noFill/>
              <a:prstDash val="solid"/>
              <a:miter lim="0"/>
            </a:ln>
          </p:spPr>
          <p:txBody>
            <a:bodyPr rtlCol="0"/>
            <a:lstStyle/>
            <a:p>
              <a:pPr algn="ctr"/>
              <a:endParaRPr lang="zh-CN" altLang="en-US"/>
            </a:p>
          </p:txBody>
        </p:sp>
        <p:sp>
          <p:nvSpPr>
            <p:cNvPr id="1252" name="path"/>
            <p:cNvSpPr/>
            <p:nvPr/>
          </p:nvSpPr>
          <p:spPr>
            <a:xfrm>
              <a:off x="326135" y="92963"/>
              <a:ext cx="219456" cy="239268"/>
            </a:xfrm>
            <a:custGeom>
              <a:avLst/>
              <a:gdLst/>
              <a:ahLst/>
              <a:cxnLst/>
              <a:rect l="0" t="0" r="0" b="0"/>
              <a:pathLst>
                <a:path w="345" h="376">
                  <a:moveTo>
                    <a:pt x="47" y="311"/>
                  </a:moveTo>
                  <a:lnTo>
                    <a:pt x="264" y="376"/>
                  </a:lnTo>
                  <a:lnTo>
                    <a:pt x="345" y="142"/>
                  </a:lnTo>
                  <a:lnTo>
                    <a:pt x="137" y="0"/>
                  </a:lnTo>
                  <a:lnTo>
                    <a:pt x="0" y="186"/>
                  </a:lnTo>
                </a:path>
              </a:pathLst>
            </a:custGeom>
            <a:solidFill>
              <a:srgbClr val="0065BD">
                <a:alpha val="100000"/>
              </a:srgbClr>
            </a:solidFill>
            <a:ln cap="flat">
              <a:noFill/>
              <a:prstDash val="solid"/>
              <a:miter lim="0"/>
            </a:ln>
          </p:spPr>
          <p:txBody>
            <a:bodyPr rtlCol="0"/>
            <a:lstStyle/>
            <a:p>
              <a:pPr algn="ctr"/>
              <a:endParaRPr lang="zh-CN" altLang="en-US"/>
            </a:p>
          </p:txBody>
        </p:sp>
        <p:sp>
          <p:nvSpPr>
            <p:cNvPr id="1253" name="path"/>
            <p:cNvSpPr/>
            <p:nvPr/>
          </p:nvSpPr>
          <p:spPr>
            <a:xfrm>
              <a:off x="0" y="96011"/>
              <a:ext cx="260604" cy="397763"/>
            </a:xfrm>
            <a:custGeom>
              <a:avLst/>
              <a:gdLst/>
              <a:ahLst/>
              <a:cxnLst/>
              <a:rect l="0" t="0" r="0" b="0"/>
              <a:pathLst>
                <a:path w="410" h="626">
                  <a:moveTo>
                    <a:pt x="343" y="209"/>
                  </a:moveTo>
                  <a:lnTo>
                    <a:pt x="201" y="0"/>
                  </a:lnTo>
                  <a:lnTo>
                    <a:pt x="0" y="140"/>
                  </a:lnTo>
                  <a:lnTo>
                    <a:pt x="78" y="369"/>
                  </a:lnTo>
                  <a:lnTo>
                    <a:pt x="300" y="301"/>
                  </a:lnTo>
                </a:path>
                <a:path w="410" h="626">
                  <a:moveTo>
                    <a:pt x="339" y="326"/>
                  </a:moveTo>
                  <a:lnTo>
                    <a:pt x="81" y="398"/>
                  </a:lnTo>
                  <a:lnTo>
                    <a:pt x="162" y="626"/>
                  </a:lnTo>
                  <a:lnTo>
                    <a:pt x="409" y="625"/>
                  </a:lnTo>
                  <a:lnTo>
                    <a:pt x="410" y="392"/>
                  </a:lnTo>
                </a:path>
              </a:pathLst>
            </a:custGeom>
            <a:solidFill>
              <a:srgbClr val="C5C5C5">
                <a:alpha val="100000"/>
              </a:srgbClr>
            </a:solidFill>
            <a:ln cap="flat">
              <a:noFill/>
              <a:prstDash val="solid"/>
              <a:miter lim="0"/>
            </a:ln>
          </p:spPr>
          <p:txBody>
            <a:bodyPr rtlCol="0"/>
            <a:lstStyle/>
            <a:p>
              <a:pPr algn="ctr"/>
              <a:endParaRPr lang="zh-CN" altLang="en-US"/>
            </a:p>
          </p:txBody>
        </p:sp>
      </p:grpSp>
      <p:sp>
        <p:nvSpPr>
          <p:cNvPr id="1254" name="textbox 1254"/>
          <p:cNvSpPr/>
          <p:nvPr/>
        </p:nvSpPr>
        <p:spPr>
          <a:xfrm>
            <a:off x="8818509" y="1037437"/>
            <a:ext cx="114935" cy="1840229"/>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endParaRPr sz="600" spc="0" dirty="0">
              <a:solidFill>
                <a:srgbClr val="808080">
                  <a:alpha val="100000"/>
                </a:srgbClr>
              </a:solidFill>
              <a:latin typeface="Arial" panose="020B0604020202020204"/>
              <a:ea typeface="Arial" panose="020B0604020202020204"/>
              <a:cs typeface="Arial" panose="020B0604020202020204"/>
            </a:endParaRPr>
          </a:p>
        </p:txBody>
      </p:sp>
      <p:grpSp>
        <p:nvGrpSpPr>
          <p:cNvPr id="218" name="group 218"/>
          <p:cNvGrpSpPr/>
          <p:nvPr/>
        </p:nvGrpSpPr>
        <p:grpSpPr>
          <a:xfrm rot="21600000">
            <a:off x="118872" y="230124"/>
            <a:ext cx="292608" cy="292607"/>
            <a:chOff x="0" y="0"/>
            <a:chExt cx="292608" cy="292607"/>
          </a:xfrm>
        </p:grpSpPr>
        <p:sp>
          <p:nvSpPr>
            <p:cNvPr id="1255" name="path"/>
            <p:cNvSpPr/>
            <p:nvPr/>
          </p:nvSpPr>
          <p:spPr>
            <a:xfrm>
              <a:off x="0" y="0"/>
              <a:ext cx="292608" cy="292607"/>
            </a:xfrm>
            <a:custGeom>
              <a:avLst/>
              <a:gdLst/>
              <a:ahLst/>
              <a:cxnLst/>
              <a:rect l="0" t="0" r="0" b="0"/>
              <a:pathLst>
                <a:path w="460" h="460">
                  <a:moveTo>
                    <a:pt x="0" y="230"/>
                  </a:moveTo>
                  <a:cubicBezTo>
                    <a:pt x="0" y="103"/>
                    <a:pt x="103" y="0"/>
                    <a:pt x="230" y="0"/>
                  </a:cubicBezTo>
                  <a:cubicBezTo>
                    <a:pt x="357" y="0"/>
                    <a:pt x="460" y="103"/>
                    <a:pt x="460" y="230"/>
                  </a:cubicBezTo>
                  <a:cubicBezTo>
                    <a:pt x="460" y="357"/>
                    <a:pt x="357" y="460"/>
                    <a:pt x="230" y="460"/>
                  </a:cubicBezTo>
                  <a:cubicBezTo>
                    <a:pt x="103" y="460"/>
                    <a:pt x="0" y="357"/>
                    <a:pt x="0" y="230"/>
                  </a:cubicBezTo>
                </a:path>
              </a:pathLst>
            </a:custGeom>
            <a:solidFill>
              <a:srgbClr val="0065BD">
                <a:alpha val="100000"/>
              </a:srgbClr>
            </a:solidFill>
            <a:ln cap="flat">
              <a:noFill/>
              <a:prstDash val="solid"/>
              <a:miter lim="0"/>
            </a:ln>
          </p:spPr>
          <p:txBody>
            <a:bodyPr rtlCol="0"/>
            <a:lstStyle/>
            <a:p>
              <a:pPr algn="ctr"/>
              <a:endParaRPr lang="zh-CN" altLang="en-US"/>
            </a:p>
          </p:txBody>
        </p:sp>
        <p:sp>
          <p:nvSpPr>
            <p:cNvPr id="1256" name="textbox 1256"/>
            <p:cNvSpPr/>
            <p:nvPr/>
          </p:nvSpPr>
          <p:spPr>
            <a:xfrm>
              <a:off x="-12700" y="-12699"/>
              <a:ext cx="318134" cy="367665"/>
            </a:xfrm>
            <a:prstGeom prst="rect">
              <a:avLst/>
            </a:prstGeom>
          </p:spPr>
          <p:txBody>
            <a:bodyPr vert="horz" wrap="square" lIns="0" tIns="0" rIns="0" bIns="0"/>
            <a:lstStyle/>
            <a:p>
              <a:pPr algn="l" rtl="0" eaLnBrk="0">
                <a:lnSpc>
                  <a:spcPct val="110000"/>
                </a:lnSpc>
              </a:pPr>
              <a:endParaRPr lang="en-US" altLang="en-US" sz="500" dirty="0">
                <a:latin typeface="微软雅黑" panose="020B0503020204020204" charset="-122"/>
                <a:ea typeface="微软雅黑" panose="020B0503020204020204" charset="-122"/>
              </a:endParaRPr>
            </a:p>
            <a:p>
              <a:pPr marL="45085" algn="l" rtl="0" eaLnBrk="0">
                <a:lnSpc>
                  <a:spcPct val="80000"/>
                </a:lnSpc>
                <a:spcBef>
                  <a:spcPts val="5"/>
                </a:spcBef>
              </a:pPr>
              <a:r>
                <a:rPr sz="1700" b="1" spc="-10" dirty="0">
                  <a:solidFill>
                    <a:srgbClr val="FFFFFF">
                      <a:alpha val="100000"/>
                    </a:srgbClr>
                  </a:solidFill>
                  <a:latin typeface="微软雅黑" panose="020B0503020204020204" charset="-122"/>
                  <a:ea typeface="微软雅黑" panose="020B0503020204020204" charset="-122"/>
                  <a:cs typeface="Arial" panose="020B0604020202020204"/>
                </a:rPr>
                <a:t>2e</a:t>
              </a:r>
              <a:endParaRPr lang="en-US" altLang="en-US" sz="1700" dirty="0">
                <a:latin typeface="微软雅黑" panose="020B0503020204020204" charset="-122"/>
                <a:ea typeface="微软雅黑" panose="020B0503020204020204" charset="-122"/>
              </a:endParaRPr>
            </a:p>
          </p:txBody>
        </p:sp>
      </p:grpSp>
      <p:sp>
        <p:nvSpPr>
          <p:cNvPr id="1257" name="rect"/>
          <p:cNvSpPr/>
          <p:nvPr/>
        </p:nvSpPr>
        <p:spPr>
          <a:xfrm>
            <a:off x="5343144" y="5137404"/>
            <a:ext cx="3156203" cy="9144"/>
          </a:xfrm>
          <a:prstGeom prst="rect">
            <a:avLst/>
          </a:prstGeom>
          <a:solidFill>
            <a:srgbClr val="808080">
              <a:alpha val="100000"/>
            </a:srgbClr>
          </a:solidFill>
          <a:ln cap="flat">
            <a:noFill/>
            <a:prstDash val="solid"/>
            <a:miter lim="0"/>
          </a:ln>
        </p:spPr>
        <p:txBody>
          <a:bodyPr rtlCol="0"/>
          <a:lstStyle/>
          <a:p>
            <a:pPr algn="ctr"/>
            <a:endParaRPr lang="zh-CN" altLang="en-US"/>
          </a:p>
        </p:txBody>
      </p:sp>
      <p:sp>
        <p:nvSpPr>
          <p:cNvPr id="1258" name="textbox 1258"/>
          <p:cNvSpPr/>
          <p:nvPr/>
        </p:nvSpPr>
        <p:spPr>
          <a:xfrm>
            <a:off x="8818435" y="4032021"/>
            <a:ext cx="114935" cy="262890"/>
          </a:xfrm>
          <a:prstGeom prst="rect">
            <a:avLst/>
          </a:prstGeom>
        </p:spPr>
        <p:txBody>
          <a:bodyPr vert="eaVert" wrap="square" lIns="0" tIns="0" rIns="0" bIns="0"/>
          <a:lstStyle/>
          <a:p>
            <a:pPr algn="l" rtl="0" eaLnBrk="0">
              <a:lnSpc>
                <a:spcPct val="85000"/>
              </a:lnSpc>
            </a:pPr>
            <a:endParaRPr lang="en-US" altLang="en-US" sz="100" dirty="0"/>
          </a:p>
          <a:p>
            <a:pPr marL="12700" algn="l" rtl="0" eaLnBrk="0">
              <a:lnSpc>
                <a:spcPct val="79000"/>
              </a:lnSpc>
            </a:pPr>
            <a:endParaRPr sz="600" spc="-10" dirty="0">
              <a:solidFill>
                <a:srgbClr val="808080">
                  <a:alpha val="100000"/>
                </a:srgbClr>
              </a:solidFill>
              <a:latin typeface="Arial" panose="020B0604020202020204"/>
              <a:ea typeface="Arial" panose="020B0604020202020204"/>
              <a:cs typeface="Arial" panose="020B06040202020202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0" name="group 220"/>
          <p:cNvGrpSpPr/>
          <p:nvPr/>
        </p:nvGrpSpPr>
        <p:grpSpPr>
          <a:xfrm rot="21600000">
            <a:off x="394715" y="2002536"/>
            <a:ext cx="4076700" cy="3537203"/>
            <a:chOff x="0" y="0"/>
            <a:chExt cx="4076700" cy="3537203"/>
          </a:xfrm>
        </p:grpSpPr>
        <p:sp>
          <p:nvSpPr>
            <p:cNvPr id="1259" name="path"/>
            <p:cNvSpPr/>
            <p:nvPr/>
          </p:nvSpPr>
          <p:spPr>
            <a:xfrm>
              <a:off x="0" y="0"/>
              <a:ext cx="4076700" cy="3537203"/>
            </a:xfrm>
            <a:custGeom>
              <a:avLst/>
              <a:gdLst/>
              <a:ahLst/>
              <a:cxnLst/>
              <a:rect l="0" t="0" r="0" b="0"/>
              <a:pathLst>
                <a:path w="6420" h="5570">
                  <a:moveTo>
                    <a:pt x="4339" y="1432"/>
                  </a:moveTo>
                  <a:lnTo>
                    <a:pt x="6420" y="1432"/>
                  </a:lnTo>
                  <a:lnTo>
                    <a:pt x="6420" y="3429"/>
                  </a:lnTo>
                  <a:lnTo>
                    <a:pt x="4710" y="3429"/>
                  </a:lnTo>
                  <a:lnTo>
                    <a:pt x="4339" y="1432"/>
                  </a:lnTo>
                  <a:close/>
                </a:path>
                <a:path w="6420" h="5570">
                  <a:moveTo>
                    <a:pt x="2085" y="1432"/>
                  </a:moveTo>
                  <a:lnTo>
                    <a:pt x="0" y="1432"/>
                  </a:lnTo>
                  <a:lnTo>
                    <a:pt x="0" y="3429"/>
                  </a:lnTo>
                  <a:lnTo>
                    <a:pt x="1713" y="3429"/>
                  </a:lnTo>
                  <a:lnTo>
                    <a:pt x="2085" y="1432"/>
                  </a:lnTo>
                  <a:close/>
                </a:path>
                <a:path w="6420" h="5570">
                  <a:moveTo>
                    <a:pt x="3268" y="5570"/>
                  </a:moveTo>
                  <a:lnTo>
                    <a:pt x="6405" y="5570"/>
                  </a:lnTo>
                  <a:lnTo>
                    <a:pt x="6405" y="3578"/>
                  </a:lnTo>
                  <a:lnTo>
                    <a:pt x="3268" y="3578"/>
                  </a:lnTo>
                  <a:lnTo>
                    <a:pt x="3268" y="5570"/>
                  </a:lnTo>
                  <a:close/>
                </a:path>
                <a:path w="6420" h="5570">
                  <a:moveTo>
                    <a:pt x="0" y="5570"/>
                  </a:moveTo>
                  <a:lnTo>
                    <a:pt x="3141" y="5570"/>
                  </a:lnTo>
                  <a:lnTo>
                    <a:pt x="3141" y="3578"/>
                  </a:lnTo>
                  <a:lnTo>
                    <a:pt x="0" y="3578"/>
                  </a:lnTo>
                  <a:lnTo>
                    <a:pt x="0" y="5570"/>
                  </a:lnTo>
                  <a:close/>
                </a:path>
                <a:path w="6420" h="5570">
                  <a:moveTo>
                    <a:pt x="0" y="1348"/>
                  </a:moveTo>
                  <a:lnTo>
                    <a:pt x="6420" y="1348"/>
                  </a:lnTo>
                  <a:lnTo>
                    <a:pt x="6420" y="0"/>
                  </a:lnTo>
                  <a:lnTo>
                    <a:pt x="0" y="0"/>
                  </a:lnTo>
                  <a:lnTo>
                    <a:pt x="0" y="1348"/>
                  </a:lnTo>
                  <a:close/>
                </a:path>
              </a:pathLst>
            </a:custGeom>
            <a:solidFill>
              <a:srgbClr val="BFE1FF">
                <a:alpha val="100000"/>
              </a:srgbClr>
            </a:solidFill>
            <a:ln cap="flat">
              <a:noFill/>
              <a:prstDash val="solid"/>
              <a:miter lim="0"/>
            </a:ln>
          </p:spPr>
          <p:txBody>
            <a:bodyPr rtlCol="0"/>
            <a:lstStyle/>
            <a:p>
              <a:pPr algn="ctr"/>
              <a:endParaRPr lang="zh-CN" altLang="en-US"/>
            </a:p>
          </p:txBody>
        </p:sp>
        <p:sp>
          <p:nvSpPr>
            <p:cNvPr id="1260" name="path"/>
            <p:cNvSpPr/>
            <p:nvPr/>
          </p:nvSpPr>
          <p:spPr>
            <a:xfrm>
              <a:off x="685800" y="393191"/>
              <a:ext cx="2737104" cy="2660904"/>
            </a:xfrm>
            <a:custGeom>
              <a:avLst/>
              <a:gdLst/>
              <a:ahLst/>
              <a:cxnLst/>
              <a:rect l="0" t="0" r="0" b="0"/>
              <a:pathLst>
                <a:path w="4310" h="4190">
                  <a:moveTo>
                    <a:pt x="2444" y="1707"/>
                  </a:moveTo>
                  <a:lnTo>
                    <a:pt x="3148" y="717"/>
                  </a:lnTo>
                  <a:lnTo>
                    <a:pt x="2147" y="0"/>
                  </a:lnTo>
                  <a:lnTo>
                    <a:pt x="1113" y="747"/>
                  </a:lnTo>
                  <a:lnTo>
                    <a:pt x="1807" y="1754"/>
                  </a:lnTo>
                </a:path>
                <a:path w="4310" h="4190">
                  <a:moveTo>
                    <a:pt x="2545" y="2620"/>
                  </a:moveTo>
                  <a:lnTo>
                    <a:pt x="3859" y="2997"/>
                  </a:lnTo>
                  <a:lnTo>
                    <a:pt x="3447" y="4190"/>
                  </a:lnTo>
                  <a:lnTo>
                    <a:pt x="2187" y="4186"/>
                  </a:lnTo>
                  <a:lnTo>
                    <a:pt x="2183" y="2966"/>
                  </a:lnTo>
                </a:path>
                <a:path w="4310" h="4190">
                  <a:moveTo>
                    <a:pt x="2815" y="2472"/>
                  </a:moveTo>
                  <a:lnTo>
                    <a:pt x="3901" y="2822"/>
                  </a:lnTo>
                  <a:lnTo>
                    <a:pt x="4310" y="1562"/>
                  </a:lnTo>
                  <a:lnTo>
                    <a:pt x="3269" y="792"/>
                  </a:lnTo>
                  <a:lnTo>
                    <a:pt x="2580" y="1798"/>
                  </a:lnTo>
                </a:path>
                <a:path w="4310" h="4190">
                  <a:moveTo>
                    <a:pt x="1723" y="1950"/>
                  </a:moveTo>
                  <a:lnTo>
                    <a:pt x="1011" y="823"/>
                  </a:lnTo>
                  <a:lnTo>
                    <a:pt x="0" y="1576"/>
                  </a:lnTo>
                  <a:lnTo>
                    <a:pt x="395" y="2807"/>
                  </a:lnTo>
                  <a:lnTo>
                    <a:pt x="1510" y="2442"/>
                  </a:lnTo>
                </a:path>
                <a:path w="4310" h="4190">
                  <a:moveTo>
                    <a:pt x="1708" y="2575"/>
                  </a:moveTo>
                  <a:lnTo>
                    <a:pt x="410" y="2962"/>
                  </a:lnTo>
                  <a:lnTo>
                    <a:pt x="817" y="4190"/>
                  </a:lnTo>
                  <a:lnTo>
                    <a:pt x="2062" y="4186"/>
                  </a:lnTo>
                  <a:lnTo>
                    <a:pt x="2066" y="2931"/>
                  </a:lnTo>
                </a:path>
              </a:pathLst>
            </a:custGeom>
            <a:solidFill>
              <a:srgbClr val="00ADEF">
                <a:alpha val="100000"/>
              </a:srgbClr>
            </a:solidFill>
            <a:ln cap="flat">
              <a:noFill/>
              <a:prstDash val="solid"/>
              <a:miter lim="0"/>
            </a:ln>
          </p:spPr>
          <p:txBody>
            <a:bodyPr rtlCol="0"/>
            <a:lstStyle/>
            <a:p>
              <a:pPr algn="ctr"/>
              <a:endParaRPr lang="zh-CN" altLang="en-US"/>
            </a:p>
          </p:txBody>
        </p:sp>
      </p:grpSp>
      <p:graphicFrame>
        <p:nvGraphicFramePr>
          <p:cNvPr id="1261" name="table 1261"/>
          <p:cNvGraphicFramePr>
            <a:graphicFrameLocks noGrp="1"/>
          </p:cNvGraphicFramePr>
          <p:nvPr/>
        </p:nvGraphicFramePr>
        <p:xfrm>
          <a:off x="109728" y="1350264"/>
          <a:ext cx="4649469" cy="4501515"/>
        </p:xfrm>
        <a:graphic>
          <a:graphicData uri="http://schemas.openxmlformats.org/drawingml/2006/table">
            <a:tbl>
              <a:tblPr/>
              <a:tblGrid>
                <a:gridCol w="4649469"/>
              </a:tblGrid>
              <a:tr h="4482465">
                <a:tc>
                  <a:txBody>
                    <a:bodyPr/>
                    <a:lstStyle/>
                    <a:p>
                      <a:pPr algn="l" rtl="0" eaLnBrk="0">
                        <a:lnSpc>
                          <a:spcPct val="100000"/>
                        </a:lnSpc>
                      </a:pPr>
                      <a:endParaRPr lang="en-US" altLang="en-US" sz="700" dirty="0">
                        <a:latin typeface="微软雅黑" panose="020B0503020204020204" charset="-122"/>
                        <a:ea typeface="微软雅黑" panose="020B0503020204020204" charset="-122"/>
                      </a:endParaRPr>
                    </a:p>
                    <a:p>
                      <a:pPr marL="317500" algn="l" rtl="0" eaLnBrk="0">
                        <a:lnSpc>
                          <a:spcPct val="95000"/>
                        </a:lnSpc>
                        <a:spcBef>
                          <a:spcPts val="5"/>
                        </a:spcBef>
                      </a:pPr>
                      <a:r>
                        <a:rPr sz="1400" spc="-10" dirty="0">
                          <a:ln w="5094"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客</a:t>
                      </a:r>
                      <a:r>
                        <a:rPr sz="1400" spc="0" dirty="0">
                          <a:ln w="5094"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户洞察</a:t>
                      </a:r>
                      <a:endParaRPr lang="en-US" altLang="en-US" sz="1400" dirty="0">
                        <a:latin typeface="微软雅黑" panose="020B0503020204020204" charset="-122"/>
                        <a:ea typeface="微软雅黑" panose="020B0503020204020204" charset="-122"/>
                      </a:endParaRPr>
                    </a:p>
                    <a:p>
                      <a:pPr algn="l" rtl="0" eaLnBrk="0">
                        <a:lnSpc>
                          <a:spcPct val="128000"/>
                        </a:lnSpc>
                      </a:pPr>
                      <a:endParaRPr lang="en-US" altLang="en-US" sz="1000" dirty="0">
                        <a:latin typeface="微软雅黑" panose="020B0503020204020204" charset="-122"/>
                        <a:ea typeface="微软雅黑" panose="020B0503020204020204" charset="-122"/>
                      </a:endParaRPr>
                    </a:p>
                    <a:p>
                      <a:pPr algn="l" rtl="0" eaLnBrk="0">
                        <a:lnSpc>
                          <a:spcPct val="129000"/>
                        </a:lnSpc>
                      </a:pPr>
                      <a:endParaRPr lang="en-US" altLang="en-US" sz="1000" dirty="0">
                        <a:latin typeface="微软雅黑" panose="020B0503020204020204" charset="-122"/>
                        <a:ea typeface="微软雅黑" panose="020B0503020204020204" charset="-122"/>
                      </a:endParaRPr>
                    </a:p>
                    <a:p>
                      <a:pPr marL="1988820" algn="l" rtl="0" eaLnBrk="0">
                        <a:lnSpc>
                          <a:spcPct val="94000"/>
                        </a:lnSpc>
                        <a:spcBef>
                          <a:spcPts val="425"/>
                        </a:spcBef>
                      </a:pPr>
                      <a:r>
                        <a:rPr sz="1400" spc="-1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客</a:t>
                      </a:r>
                      <a:r>
                        <a:rPr sz="1400" spc="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户背景</a:t>
                      </a:r>
                      <a:endParaRPr lang="en-US" altLang="en-US" sz="14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09000"/>
                        </a:lnSpc>
                      </a:pPr>
                      <a:endParaRPr lang="en-US" altLang="en-US" sz="1000" dirty="0">
                        <a:latin typeface="微软雅黑" panose="020B0503020204020204" charset="-122"/>
                        <a:ea typeface="微软雅黑" panose="020B0503020204020204" charset="-122"/>
                      </a:endParaRPr>
                    </a:p>
                    <a:p>
                      <a:pPr algn="l" rtl="0" eaLnBrk="0">
                        <a:lnSpc>
                          <a:spcPct val="110000"/>
                        </a:lnSpc>
                      </a:pPr>
                      <a:endParaRPr lang="en-US" altLang="en-US" sz="1000" dirty="0">
                        <a:latin typeface="微软雅黑" panose="020B0503020204020204" charset="-122"/>
                        <a:ea typeface="微软雅黑" panose="020B0503020204020204" charset="-122"/>
                      </a:endParaRPr>
                    </a:p>
                    <a:p>
                      <a:pPr algn="l" rtl="0" eaLnBrk="0">
                        <a:lnSpc>
                          <a:spcPct val="110000"/>
                        </a:lnSpc>
                      </a:pPr>
                      <a:endParaRPr lang="en-US" altLang="en-US" sz="1000" dirty="0">
                        <a:latin typeface="微软雅黑" panose="020B0503020204020204" charset="-122"/>
                        <a:ea typeface="微软雅黑" panose="020B0503020204020204" charset="-122"/>
                      </a:endParaRPr>
                    </a:p>
                    <a:p>
                      <a:pPr algn="l" rtl="0" eaLnBrk="0">
                        <a:lnSpc>
                          <a:spcPct val="110000"/>
                        </a:lnSpc>
                      </a:pPr>
                      <a:endParaRPr lang="en-US" altLang="en-US" sz="1000" dirty="0">
                        <a:latin typeface="微软雅黑" panose="020B0503020204020204" charset="-122"/>
                        <a:ea typeface="微软雅黑" panose="020B0503020204020204" charset="-122"/>
                      </a:endParaRPr>
                    </a:p>
                    <a:p>
                      <a:pPr algn="l" rtl="0" eaLnBrk="0">
                        <a:lnSpc>
                          <a:spcPct val="110000"/>
                        </a:lnSpc>
                      </a:pPr>
                      <a:endParaRPr lang="en-US" altLang="en-US" sz="1000" dirty="0">
                        <a:latin typeface="微软雅黑" panose="020B0503020204020204" charset="-122"/>
                        <a:ea typeface="微软雅黑" panose="020B0503020204020204" charset="-122"/>
                      </a:endParaRPr>
                    </a:p>
                    <a:p>
                      <a:pPr marL="327025" algn="l" rtl="0" eaLnBrk="0">
                        <a:lnSpc>
                          <a:spcPct val="84000"/>
                        </a:lnSpc>
                        <a:spcBef>
                          <a:spcPts val="425"/>
                        </a:spcBef>
                      </a:pPr>
                      <a:r>
                        <a:rPr sz="1400" spc="-1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客户</a:t>
                      </a:r>
                      <a:r>
                        <a:rPr sz="1400" spc="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经</a:t>
                      </a:r>
                      <a:endParaRPr lang="en-US" altLang="en-US" sz="1400" dirty="0">
                        <a:latin typeface="微软雅黑" panose="020B0503020204020204" charset="-122"/>
                        <a:ea typeface="微软雅黑" panose="020B0503020204020204" charset="-122"/>
                      </a:endParaRPr>
                    </a:p>
                    <a:p>
                      <a:pPr marL="341630" algn="l" rtl="0" eaLnBrk="0">
                        <a:lnSpc>
                          <a:spcPts val="1800"/>
                        </a:lnSpc>
                      </a:pPr>
                      <a:r>
                        <a:rPr sz="1400" spc="-3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济指标</a:t>
                      </a:r>
                      <a:endParaRPr lang="en-US" altLang="en-US" sz="14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2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endParaRPr>
                    </a:p>
                    <a:p>
                      <a:pPr algn="l" rtl="0" eaLnBrk="0">
                        <a:lnSpc>
                          <a:spcPct val="118000"/>
                        </a:lnSpc>
                      </a:pPr>
                      <a:endParaRPr lang="en-US" altLang="en-US" sz="300" dirty="0">
                        <a:latin typeface="微软雅黑" panose="020B0503020204020204" charset="-122"/>
                        <a:ea typeface="微软雅黑" panose="020B0503020204020204" charset="-122"/>
                      </a:endParaRPr>
                    </a:p>
                    <a:p>
                      <a:pPr marL="340360" algn="l" rtl="0" eaLnBrk="0">
                        <a:lnSpc>
                          <a:spcPct val="93000"/>
                        </a:lnSpc>
                        <a:spcBef>
                          <a:spcPts val="0"/>
                        </a:spcBef>
                      </a:pPr>
                      <a:r>
                        <a:rPr sz="1400" spc="1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客户关系</a:t>
                      </a:r>
                      <a:r>
                        <a:rPr sz="1400" spc="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与决策流程</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400" spc="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客户需求</a:t>
                      </a:r>
                      <a:endParaRPr lang="en-US" altLang="en-US" sz="1400" dirty="0">
                        <a:latin typeface="微软雅黑" panose="020B0503020204020204" charset="-122"/>
                        <a:ea typeface="微软雅黑" panose="020B0503020204020204" charset="-122"/>
                      </a:endParaRPr>
                    </a:p>
                  </a:txBody>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w="19050" cap="flat" cmpd="sng" algn="ctr">
                      <a:solidFill>
                        <a:srgbClr val="BFE1FF"/>
                      </a:solidFill>
                      <a:prstDash val="solid"/>
                      <a:round/>
                      <a:headEnd type="none" w="med" len="med"/>
                      <a:tailEnd type="none" w="med" len="med"/>
                    </a:lnT>
                    <a:lnB w="19050" cap="flat" cmpd="sng" algn="ctr">
                      <a:solidFill>
                        <a:srgbClr val="BFE1FF"/>
                      </a:solidFill>
                      <a:prstDash val="solid"/>
                      <a:round/>
                      <a:headEnd type="none" w="med" len="med"/>
                      <a:tailEnd type="none" w="med" len="med"/>
                    </a:lnB>
                  </a:tcPr>
                </a:tc>
              </a:tr>
            </a:tbl>
          </a:graphicData>
        </a:graphic>
      </p:graphicFrame>
      <p:graphicFrame>
        <p:nvGraphicFramePr>
          <p:cNvPr id="1262" name="table 1262"/>
          <p:cNvGraphicFramePr>
            <a:graphicFrameLocks noGrp="1"/>
          </p:cNvGraphicFramePr>
          <p:nvPr/>
        </p:nvGraphicFramePr>
        <p:xfrm>
          <a:off x="4936235" y="1350264"/>
          <a:ext cx="3811270" cy="2660650"/>
        </p:xfrm>
        <a:graphic>
          <a:graphicData uri="http://schemas.openxmlformats.org/drawingml/2006/table">
            <a:tbl>
              <a:tblPr/>
              <a:tblGrid>
                <a:gridCol w="1401444"/>
                <a:gridCol w="2409825"/>
              </a:tblGrid>
              <a:tr h="1068705">
                <a:tc gridSpan="2">
                  <a:txBody>
                    <a:bodyPr/>
                    <a:lstStyle/>
                    <a:p>
                      <a:pPr algn="l" rtl="0" eaLnBrk="0">
                        <a:lnSpc>
                          <a:spcPct val="102000"/>
                        </a:lnSpc>
                      </a:pPr>
                      <a:endParaRPr lang="en-US" altLang="en-US" sz="700" dirty="0">
                        <a:latin typeface="微软雅黑" panose="020B0503020204020204" charset="-122"/>
                        <a:ea typeface="微软雅黑" panose="020B0503020204020204" charset="-122"/>
                      </a:endParaRPr>
                    </a:p>
                    <a:p>
                      <a:pPr marL="373380" algn="l" rtl="0" eaLnBrk="0">
                        <a:lnSpc>
                          <a:spcPct val="93000"/>
                        </a:lnSpc>
                        <a:spcBef>
                          <a:spcPts val="5"/>
                        </a:spcBef>
                      </a:pPr>
                      <a:r>
                        <a:rPr sz="1400" spc="-3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大客户管理</a:t>
                      </a:r>
                      <a:r>
                        <a:rPr sz="1400" spc="-1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战</a:t>
                      </a:r>
                      <a:r>
                        <a:rPr sz="1400" spc="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略</a:t>
                      </a:r>
                      <a:endParaRPr lang="en-US" altLang="en-US" sz="1400" dirty="0">
                        <a:latin typeface="微软雅黑" panose="020B0503020204020204" charset="-122"/>
                        <a:ea typeface="微软雅黑" panose="020B0503020204020204" charset="-122"/>
                      </a:endParaRPr>
                    </a:p>
                    <a:p>
                      <a:pPr marL="1653540" indent="-4445" algn="l" rtl="0" eaLnBrk="0">
                        <a:lnSpc>
                          <a:spcPct val="102000"/>
                        </a:lnSpc>
                        <a:spcBef>
                          <a:spcPts val="450"/>
                        </a:spcBef>
                      </a:pP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我们希望成为大客户怎</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样  </a:t>
                      </a:r>
                      <a:r>
                        <a:rPr sz="1400" spc="-30" dirty="0">
                          <a:solidFill>
                            <a:srgbClr val="000000">
                              <a:alpha val="100000"/>
                            </a:srgbClr>
                          </a:solidFill>
                          <a:latin typeface="微软雅黑" panose="020B0503020204020204" charset="-122"/>
                          <a:ea typeface="微软雅黑" panose="020B0503020204020204" charset="-122"/>
                          <a:cs typeface="楷体" panose="02010609060101010101" charset="-122"/>
                        </a:rPr>
                        <a:t>的战略伙</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伴</a:t>
                      </a:r>
                      <a:endParaRPr lang="en-US" altLang="en-US" sz="1400" dirty="0">
                        <a:latin typeface="微软雅黑" panose="020B0503020204020204" charset="-122"/>
                        <a:ea typeface="微软雅黑" panose="020B0503020204020204" charset="-122"/>
                      </a:endParaRPr>
                    </a:p>
                    <a:p>
                      <a:pPr marL="1649095" algn="l" rtl="0" eaLnBrk="0">
                        <a:lnSpc>
                          <a:spcPct val="96000"/>
                        </a:lnSpc>
                        <a:spcBef>
                          <a:spcPts val="60"/>
                        </a:spcBef>
                      </a:pP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我们具体的</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价值定位</a:t>
                      </a:r>
                      <a:endParaRPr lang="en-US" altLang="en-US" sz="1400" dirty="0">
                        <a:latin typeface="微软雅黑" panose="020B0503020204020204" charset="-122"/>
                        <a:ea typeface="微软雅黑" panose="020B0503020204020204" charset="-122"/>
                      </a:endParaRPr>
                    </a:p>
                  </a:txBody>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w="3175" cap="flat" cmpd="sng" algn="ctr">
                      <a:solidFill>
                        <a:srgbClr val="BFE1FF"/>
                      </a:solidFill>
                      <a:prstDash val="solid"/>
                      <a:round/>
                      <a:headEnd type="none" w="med" len="med"/>
                      <a:tailEnd type="none" w="med" len="med"/>
                    </a:lnT>
                    <a:lnB w="3175" cap="flat" cmpd="sng" algn="ctr">
                      <a:solidFill>
                        <a:srgbClr val="BFE1FF"/>
                      </a:solidFill>
                      <a:prstDash val="dash"/>
                      <a:round/>
                      <a:headEnd type="none" w="med" len="med"/>
                      <a:tailEnd type="none" w="med" len="med"/>
                    </a:lnB>
                  </a:tcPr>
                </a:tc>
                <a:tc hMerge="1">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w="3175" cap="flat" cmpd="sng" algn="ctr">
                      <a:solidFill>
                        <a:srgbClr val="BFE1FF"/>
                      </a:solidFill>
                      <a:prstDash val="solid"/>
                      <a:round/>
                      <a:headEnd type="none" w="med" len="med"/>
                      <a:tailEnd type="none" w="med" len="med"/>
                    </a:lnT>
                    <a:lnB w="3175" cap="flat" cmpd="sng" algn="ctr">
                      <a:solidFill>
                        <a:srgbClr val="BFE1FF"/>
                      </a:solidFill>
                      <a:prstDash val="dash"/>
                      <a:round/>
                      <a:headEnd type="none" w="med" len="med"/>
                      <a:tailEnd type="none" w="med" len="med"/>
                    </a:lnB>
                  </a:tcPr>
                </a:tc>
              </a:tr>
              <a:tr h="772794">
                <a:tc>
                  <a:txBody>
                    <a:bodyPr/>
                    <a:lstStyle/>
                    <a:p>
                      <a:pPr algn="l" rtl="0" eaLnBrk="0">
                        <a:lnSpc>
                          <a:spcPct val="100000"/>
                        </a:lnSpc>
                      </a:pPr>
                      <a:endParaRPr lang="en-US" altLang="en-US" sz="1000" dirty="0">
                        <a:ea typeface="微软雅黑" panose="020B0503020204020204" charset="-122"/>
                      </a:endParaRPr>
                    </a:p>
                  </a:txBody>
                  <a:tcPr marL="0" marR="0" marT="0" marB="0">
                    <a:lnL w="19050" cap="flat" cmpd="sng" algn="ctr">
                      <a:solidFill>
                        <a:srgbClr val="BFE1FF"/>
                      </a:solidFill>
                      <a:prstDash val="solid"/>
                      <a:round/>
                      <a:headEnd type="none" w="med" len="med"/>
                      <a:tailEnd type="none" w="med" len="med"/>
                    </a:lnL>
                    <a:lnR>
                      <a:noFill/>
                    </a:lnR>
                    <a:lnT w="3175" cap="flat" cmpd="sng" algn="ctr">
                      <a:solidFill>
                        <a:srgbClr val="BFE1FF"/>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c>
                  <a:txBody>
                    <a:bodyPr/>
                    <a:lstStyle/>
                    <a:p>
                      <a:pPr algn="l" rtl="0" eaLnBrk="0">
                        <a:lnSpc>
                          <a:spcPct val="102000"/>
                        </a:lnSpc>
                      </a:pPr>
                      <a:endParaRPr lang="en-US" altLang="en-US" sz="600" dirty="0">
                        <a:latin typeface="微软雅黑" panose="020B0503020204020204" charset="-122"/>
                        <a:ea typeface="微软雅黑" panose="020B0503020204020204" charset="-122"/>
                      </a:endParaRPr>
                    </a:p>
                    <a:p>
                      <a:pPr marL="254000" indent="-189230" algn="l" rtl="0" eaLnBrk="0">
                        <a:lnSpc>
                          <a:spcPct val="86000"/>
                        </a:lnSpc>
                        <a:spcBef>
                          <a:spcPts val="5"/>
                        </a:spcBef>
                      </a:pPr>
                      <a:r>
                        <a:rPr sz="1700" spc="3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30" dirty="0">
                          <a:solidFill>
                            <a:srgbClr val="000000">
                              <a:alpha val="100000"/>
                            </a:srgbClr>
                          </a:solidFill>
                          <a:latin typeface="微软雅黑" panose="020B0503020204020204" charset="-122"/>
                          <a:ea typeface="微软雅黑" panose="020B0503020204020204" charset="-122"/>
                          <a:cs typeface="楷体" panose="02010609060101010101" charset="-122"/>
                        </a:rPr>
                        <a:t>销售额、钱包份额、</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落袋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利润率的</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目标</a:t>
                      </a:r>
                      <a:endParaRPr lang="en-US" altLang="en-US" sz="1400" dirty="0">
                        <a:latin typeface="微软雅黑" panose="020B0503020204020204" charset="-122"/>
                        <a:ea typeface="微软雅黑" panose="020B0503020204020204" charset="-122"/>
                      </a:endParaRPr>
                    </a:p>
                    <a:p>
                      <a:pPr marL="64770" algn="l" rtl="0" eaLnBrk="0">
                        <a:lnSpc>
                          <a:spcPct val="80000"/>
                        </a:lnSpc>
                        <a:spcBef>
                          <a:spcPts val="105"/>
                        </a:spcBef>
                      </a:pPr>
                      <a:r>
                        <a:rPr sz="1700" spc="4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40" dirty="0">
                          <a:solidFill>
                            <a:srgbClr val="000000">
                              <a:alpha val="100000"/>
                            </a:srgbClr>
                          </a:solidFill>
                          <a:latin typeface="微软雅黑" panose="020B0503020204020204" charset="-122"/>
                          <a:ea typeface="微软雅黑" panose="020B0503020204020204" charset="-122"/>
                          <a:cs typeface="楷体" panose="02010609060101010101" charset="-122"/>
                        </a:rPr>
                        <a:t>产品组合、新</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项</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目</a:t>
                      </a:r>
                      <a:endParaRPr lang="en-US" altLang="en-US" sz="1400" dirty="0">
                        <a:latin typeface="微软雅黑" panose="020B0503020204020204" charset="-122"/>
                        <a:ea typeface="微软雅黑" panose="020B0503020204020204" charset="-122"/>
                      </a:endParaRPr>
                    </a:p>
                  </a:txBody>
                  <a:tcPr marL="0" marR="0" marT="0" marB="0">
                    <a:lnL>
                      <a:noFill/>
                    </a:lnL>
                    <a:lnR w="19050" cap="flat" cmpd="sng" algn="ctr">
                      <a:solidFill>
                        <a:srgbClr val="BFE1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808080"/>
                      </a:solidFill>
                      <a:prstDash val="dash"/>
                      <a:round/>
                      <a:headEnd type="none" w="med" len="med"/>
                      <a:tailEnd type="none" w="med" len="med"/>
                    </a:lnB>
                  </a:tcPr>
                </a:tc>
              </a:tr>
              <a:tr h="819150">
                <a:tc>
                  <a:txBody>
                    <a:bodyPr/>
                    <a:lstStyle/>
                    <a:p>
                      <a:pPr algn="l" rtl="0" eaLnBrk="0">
                        <a:lnSpc>
                          <a:spcPct val="100000"/>
                        </a:lnSpc>
                      </a:pPr>
                      <a:endParaRPr lang="en-US" altLang="en-US" sz="1000" dirty="0">
                        <a:ea typeface="微软雅黑" panose="020B0503020204020204" charset="-122"/>
                      </a:endParaRPr>
                    </a:p>
                  </a:txBody>
                  <a:tcPr marL="0" marR="0" marT="0" marB="0">
                    <a:lnL w="19050" cap="flat" cmpd="sng" algn="ctr">
                      <a:solidFill>
                        <a:srgbClr val="BFE1FF"/>
                      </a:solidFill>
                      <a:prstDash val="solid"/>
                      <a:round/>
                      <a:headEnd type="none" w="med" len="med"/>
                      <a:tailEnd type="none" w="med" len="med"/>
                    </a:lnL>
                    <a:lnR>
                      <a:noFill/>
                    </a:lnR>
                    <a:lnT w="3175" cap="flat" cmpd="sng" algn="ctr">
                      <a:solidFill>
                        <a:srgbClr val="808080"/>
                      </a:solidFill>
                      <a:prstDash val="dash"/>
                      <a:round/>
                      <a:headEnd type="none" w="med" len="med"/>
                      <a:tailEnd type="none" w="med" len="med"/>
                    </a:lnT>
                    <a:lnB w="3175" cap="flat" cmpd="sng" algn="ctr">
                      <a:solidFill>
                        <a:srgbClr val="BFE1FF"/>
                      </a:solidFill>
                      <a:prstDash val="solid"/>
                      <a:round/>
                      <a:headEnd type="none" w="med" len="med"/>
                      <a:tailEnd type="none" w="med" len="med"/>
                    </a:lnB>
                  </a:tcPr>
                </a:tc>
                <a:tc>
                  <a:txBody>
                    <a:bodyPr/>
                    <a:lstStyle/>
                    <a:p>
                      <a:pPr algn="l" rtl="0" eaLnBrk="0">
                        <a:lnSpc>
                          <a:spcPct val="106000"/>
                        </a:lnSpc>
                      </a:pPr>
                      <a:endParaRPr lang="en-US" altLang="en-US" sz="400" dirty="0">
                        <a:latin typeface="微软雅黑" panose="020B0503020204020204" charset="-122"/>
                        <a:ea typeface="微软雅黑" panose="020B0503020204020204" charset="-122"/>
                      </a:endParaRPr>
                    </a:p>
                    <a:p>
                      <a:pPr marL="238125" indent="-181610" algn="l" rtl="0" eaLnBrk="0">
                        <a:lnSpc>
                          <a:spcPct val="95000"/>
                        </a:lnSpc>
                        <a:spcBef>
                          <a:spcPts val="5"/>
                        </a:spcBef>
                      </a:pPr>
                      <a:r>
                        <a:rPr sz="1700" spc="-2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大客户管</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理</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的具体改进举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措，例</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如，提供更低粘度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的树</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脂以符合客户要求</a:t>
                      </a:r>
                      <a:endParaRPr lang="en-US" altLang="en-US" sz="1400" dirty="0">
                        <a:latin typeface="微软雅黑" panose="020B0503020204020204" charset="-122"/>
                        <a:ea typeface="微软雅黑" panose="020B0503020204020204" charset="-122"/>
                      </a:endParaRPr>
                    </a:p>
                  </a:txBody>
                  <a:tcPr marL="0" marR="0" marT="0" marB="0">
                    <a:lnL>
                      <a:noFill/>
                    </a:lnL>
                    <a:lnR w="19050" cap="flat" cmpd="sng" algn="ctr">
                      <a:solidFill>
                        <a:srgbClr val="BFE1FF"/>
                      </a:solidFill>
                      <a:prstDash val="solid"/>
                      <a:round/>
                      <a:headEnd type="none" w="med" len="med"/>
                      <a:tailEnd type="none" w="med" len="med"/>
                    </a:lnR>
                    <a:lnT w="3175" cap="flat" cmpd="sng" algn="ctr">
                      <a:solidFill>
                        <a:srgbClr val="808080"/>
                      </a:solidFill>
                      <a:prstDash val="dash"/>
                      <a:round/>
                      <a:headEnd type="none" w="med" len="med"/>
                      <a:tailEnd type="none" w="med" len="med"/>
                    </a:lnT>
                    <a:lnB w="3175" cap="flat" cmpd="sng" algn="ctr">
                      <a:solidFill>
                        <a:srgbClr val="BFE1FF"/>
                      </a:solidFill>
                      <a:prstDash val="solid"/>
                      <a:round/>
                      <a:headEnd type="none" w="med" len="med"/>
                      <a:tailEnd type="none" w="med" len="med"/>
                    </a:lnB>
                  </a:tcPr>
                </a:tc>
              </a:tr>
            </a:tbl>
          </a:graphicData>
        </a:graphic>
      </p:graphicFrame>
      <p:graphicFrame>
        <p:nvGraphicFramePr>
          <p:cNvPr id="1263" name="table 1263"/>
          <p:cNvGraphicFramePr>
            <a:graphicFrameLocks noGrp="1"/>
          </p:cNvGraphicFramePr>
          <p:nvPr/>
        </p:nvGraphicFramePr>
        <p:xfrm>
          <a:off x="4936235" y="4172711"/>
          <a:ext cx="3811269" cy="1678939"/>
        </p:xfrm>
        <a:graphic>
          <a:graphicData uri="http://schemas.openxmlformats.org/drawingml/2006/table">
            <a:tbl>
              <a:tblPr/>
              <a:tblGrid>
                <a:gridCol w="3811269"/>
              </a:tblGrid>
              <a:tr h="1659889">
                <a:tc>
                  <a:txBody>
                    <a:bodyPr/>
                    <a:lstStyle/>
                    <a:p>
                      <a:pPr algn="l" rtl="0" eaLnBrk="0">
                        <a:lnSpc>
                          <a:spcPct val="109000"/>
                        </a:lnSpc>
                      </a:pPr>
                      <a:endParaRPr lang="en-US" altLang="en-US" sz="900" dirty="0">
                        <a:latin typeface="微软雅黑" panose="020B0503020204020204" charset="-122"/>
                        <a:ea typeface="微软雅黑" panose="020B0503020204020204" charset="-122"/>
                      </a:endParaRPr>
                    </a:p>
                    <a:p>
                      <a:pPr algn="l" rtl="0" eaLnBrk="0">
                        <a:lnSpc>
                          <a:spcPct val="7000"/>
                        </a:lnSpc>
                      </a:pPr>
                      <a:endParaRPr lang="en-US" altLang="en-US" sz="100" dirty="0">
                        <a:latin typeface="微软雅黑" panose="020B0503020204020204" charset="-122"/>
                        <a:ea typeface="微软雅黑" panose="020B0503020204020204" charset="-122"/>
                      </a:endParaRPr>
                    </a:p>
                    <a:p>
                      <a:pPr marL="363855" algn="l" rtl="0" eaLnBrk="0">
                        <a:lnSpc>
                          <a:spcPct val="96000"/>
                        </a:lnSpc>
                      </a:pPr>
                      <a:r>
                        <a:rPr sz="1400" spc="-1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行动计划和行动追</a:t>
                      </a:r>
                      <a:r>
                        <a:rPr sz="1400" spc="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踪</a:t>
                      </a:r>
                      <a:endParaRPr lang="en-US" altLang="en-US" sz="1400" dirty="0">
                        <a:latin typeface="微软雅黑" panose="020B0503020204020204" charset="-122"/>
                        <a:ea typeface="微软雅黑" panose="020B0503020204020204" charset="-122"/>
                      </a:endParaRPr>
                    </a:p>
                    <a:p>
                      <a:pPr marL="1645920" indent="-187325" algn="l" rtl="0" eaLnBrk="0">
                        <a:lnSpc>
                          <a:spcPct val="87000"/>
                        </a:lnSpc>
                        <a:spcBef>
                          <a:spcPts val="1070"/>
                        </a:spcBef>
                      </a:pPr>
                      <a:r>
                        <a:rPr sz="1700" spc="-2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实施战略</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举</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措的具体行动  </a:t>
                      </a:r>
                      <a:r>
                        <a:rPr sz="1400" spc="-20" dirty="0">
                          <a:solidFill>
                            <a:srgbClr val="000000">
                              <a:alpha val="100000"/>
                            </a:srgbClr>
                          </a:solidFill>
                          <a:latin typeface="微软雅黑" panose="020B0503020204020204" charset="-122"/>
                          <a:ea typeface="微软雅黑" panose="020B0503020204020204" charset="-122"/>
                          <a:cs typeface="楷体" panose="02010609060101010101" charset="-122"/>
                        </a:rPr>
                        <a:t>计划</a:t>
                      </a:r>
                      <a:endParaRPr lang="en-US" altLang="en-US" sz="1400" dirty="0">
                        <a:latin typeface="微软雅黑" panose="020B0503020204020204" charset="-122"/>
                        <a:ea typeface="微软雅黑" panose="020B0503020204020204" charset="-122"/>
                      </a:endParaRPr>
                    </a:p>
                    <a:p>
                      <a:pPr marL="1636395" indent="-178435" algn="l" rtl="0" eaLnBrk="0">
                        <a:lnSpc>
                          <a:spcPct val="91000"/>
                        </a:lnSpc>
                        <a:spcBef>
                          <a:spcPts val="110"/>
                        </a:spcBef>
                      </a:pPr>
                      <a:r>
                        <a:rPr sz="1700" spc="-60" dirty="0">
                          <a:solidFill>
                            <a:srgbClr val="002960">
                              <a:alpha val="100000"/>
                            </a:srgbClr>
                          </a:solidFill>
                          <a:latin typeface="微软雅黑" panose="020B0503020204020204" charset="-122"/>
                          <a:ea typeface="微软雅黑" panose="020B0503020204020204" charset="-122"/>
                          <a:cs typeface="Arial" panose="020B0604020202020204"/>
                        </a:rPr>
                        <a:t>▪  </a:t>
                      </a:r>
                      <a:r>
                        <a:rPr sz="1400" spc="-60" dirty="0">
                          <a:solidFill>
                            <a:srgbClr val="000000">
                              <a:alpha val="100000"/>
                            </a:srgbClr>
                          </a:solidFill>
                          <a:latin typeface="微软雅黑" panose="020B0503020204020204" charset="-122"/>
                          <a:ea typeface="微软雅黑" panose="020B0503020204020204" charset="-122"/>
                          <a:cs typeface="楷体" panose="02010609060101010101" charset="-122"/>
                        </a:rPr>
                        <a:t>所需的资源， 包括人力</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资  </a:t>
                      </a:r>
                      <a:r>
                        <a:rPr sz="1400" spc="-60" dirty="0">
                          <a:solidFill>
                            <a:srgbClr val="000000">
                              <a:alpha val="100000"/>
                            </a:srgbClr>
                          </a:solidFill>
                          <a:latin typeface="微软雅黑" panose="020B0503020204020204" charset="-122"/>
                          <a:ea typeface="微软雅黑" panose="020B0503020204020204" charset="-122"/>
                          <a:cs typeface="楷体" panose="02010609060101010101" charset="-122"/>
                        </a:rPr>
                        <a:t>源和资金支持， 以及领</a:t>
                      </a:r>
                      <a:r>
                        <a:rPr sz="1400" spc="-40" dirty="0">
                          <a:solidFill>
                            <a:srgbClr val="000000">
                              <a:alpha val="100000"/>
                            </a:srgbClr>
                          </a:solidFill>
                          <a:latin typeface="微软雅黑" panose="020B0503020204020204" charset="-122"/>
                          <a:ea typeface="微软雅黑" panose="020B0503020204020204" charset="-122"/>
                          <a:cs typeface="楷体" panose="02010609060101010101" charset="-122"/>
                        </a:rPr>
                        <a:t>导</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400" spc="10" dirty="0">
                          <a:solidFill>
                            <a:srgbClr val="000000">
                              <a:alpha val="100000"/>
                            </a:srgbClr>
                          </a:solidFill>
                          <a:latin typeface="微软雅黑" panose="020B0503020204020204" charset="-122"/>
                          <a:ea typeface="微软雅黑" panose="020B0503020204020204" charset="-122"/>
                          <a:cs typeface="楷体" panose="02010609060101010101" charset="-122"/>
                        </a:rPr>
                        <a:t>层</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的支持</a:t>
                      </a:r>
                      <a:endParaRPr lang="en-US" altLang="en-US" sz="1400" dirty="0">
                        <a:latin typeface="微软雅黑" panose="020B0503020204020204" charset="-122"/>
                        <a:ea typeface="微软雅黑" panose="020B0503020204020204" charset="-122"/>
                      </a:endParaRPr>
                    </a:p>
                  </a:txBody>
                  <a:tcPr marL="0" marR="0" marT="0" marB="0">
                    <a:lnL w="19050" cap="flat" cmpd="sng" algn="ctr">
                      <a:solidFill>
                        <a:srgbClr val="BFE1FF"/>
                      </a:solidFill>
                      <a:prstDash val="solid"/>
                      <a:round/>
                      <a:headEnd type="none" w="med" len="med"/>
                      <a:tailEnd type="none" w="med" len="med"/>
                    </a:lnL>
                    <a:lnR w="19050" cap="flat" cmpd="sng" algn="ctr">
                      <a:solidFill>
                        <a:srgbClr val="BFE1FF"/>
                      </a:solidFill>
                      <a:prstDash val="solid"/>
                      <a:round/>
                      <a:headEnd type="none" w="med" len="med"/>
                      <a:tailEnd type="none" w="med" len="med"/>
                    </a:lnR>
                    <a:lnT w="19050" cap="flat" cmpd="sng" algn="ctr">
                      <a:solidFill>
                        <a:srgbClr val="BFE1FF"/>
                      </a:solidFill>
                      <a:prstDash val="solid"/>
                      <a:round/>
                      <a:headEnd type="none" w="med" len="med"/>
                      <a:tailEnd type="none" w="med" len="med"/>
                    </a:lnT>
                    <a:lnB w="19050" cap="flat" cmpd="sng" algn="ctr">
                      <a:solidFill>
                        <a:srgbClr val="BFE1FF"/>
                      </a:solidFill>
                      <a:prstDash val="solid"/>
                      <a:round/>
                      <a:headEnd type="none" w="med" len="med"/>
                      <a:tailEnd type="none" w="med" len="med"/>
                    </a:lnB>
                  </a:tcPr>
                </a:tc>
              </a:tr>
            </a:tbl>
          </a:graphicData>
        </a:graphic>
      </p:graphicFrame>
      <p:sp>
        <p:nvSpPr>
          <p:cNvPr id="1264" name="textbox 1264"/>
          <p:cNvSpPr/>
          <p:nvPr/>
        </p:nvSpPr>
        <p:spPr>
          <a:xfrm>
            <a:off x="164369" y="579319"/>
            <a:ext cx="8404225" cy="608965"/>
          </a:xfrm>
          <a:prstGeom prst="rect">
            <a:avLst/>
          </a:prstGeom>
        </p:spPr>
        <p:txBody>
          <a:bodyPr vert="horz" wrap="square" lIns="0" tIns="0" rIns="0" bIns="0"/>
          <a:lstStyle/>
          <a:p>
            <a:pPr algn="l" rtl="0" eaLnBrk="0">
              <a:lnSpc>
                <a:spcPct val="71000"/>
              </a:lnSpc>
            </a:pPr>
            <a:endParaRPr lang="en-US" altLang="en-US" sz="100" dirty="0">
              <a:latin typeface="微软雅黑" panose="020B0503020204020204" charset="-122"/>
              <a:ea typeface="微软雅黑" panose="020B0503020204020204" charset="-122"/>
            </a:endParaRPr>
          </a:p>
          <a:p>
            <a:pPr marL="287020" indent="-274320" algn="l" rtl="0" eaLnBrk="0">
              <a:lnSpc>
                <a:spcPct val="96000"/>
              </a:lnSpc>
            </a:pPr>
            <a:r>
              <a:rPr sz="2900" b="1" spc="-10" baseline="7000" dirty="0">
                <a:solidFill>
                  <a:srgbClr val="D9D9D9">
                    <a:alpha val="100000"/>
                  </a:srgbClr>
                </a:solidFill>
                <a:latin typeface="微软雅黑" panose="020B0503020204020204" charset="-122"/>
                <a:ea typeface="微软雅黑" panose="020B0503020204020204" charset="-122"/>
                <a:cs typeface="Arial" panose="020B0604020202020204"/>
              </a:rPr>
              <a:t>3</a:t>
            </a:r>
            <a:r>
              <a:rPr sz="1800" spc="-10" dirty="0">
                <a:solidFill>
                  <a:srgbClr val="D9D9D9">
                    <a:alpha val="100000"/>
                  </a:srgbClr>
                </a:solidFill>
                <a:latin typeface="微软雅黑" panose="020B0503020204020204" charset="-122"/>
                <a:ea typeface="微软雅黑" panose="020B0503020204020204" charset="-122"/>
                <a:cs typeface="Arial" panose="020B0604020202020204"/>
              </a:rPr>
              <a:t>  </a:t>
            </a:r>
            <a:r>
              <a:rPr sz="2000" spc="-10" dirty="0">
                <a:solidFill>
                  <a:srgbClr val="002960">
                    <a:alpha val="100000"/>
                  </a:srgbClr>
                </a:solidFill>
                <a:latin typeface="微软雅黑" panose="020B0503020204020204" charset="-122"/>
                <a:ea typeface="微软雅黑" panose="020B0503020204020204" charset="-122"/>
                <a:cs typeface="楷体" panose="02010609060101010101" charset="-122"/>
              </a:rPr>
              <a:t>大客户规划</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应包含详尽的客户需求和决策机制、市场竞争态势分析和明确 </a:t>
            </a:r>
            <a:r>
              <a:rPr sz="2000" spc="-20" dirty="0">
                <a:solidFill>
                  <a:srgbClr val="002960">
                    <a:alpha val="100000"/>
                  </a:srgbClr>
                </a:solidFill>
                <a:latin typeface="微软雅黑" panose="020B0503020204020204" charset="-122"/>
                <a:ea typeface="微软雅黑" panose="020B0503020204020204" charset="-122"/>
                <a:cs typeface="楷体" panose="02010609060101010101" charset="-122"/>
              </a:rPr>
              <a:t>的战略方案和行动</a:t>
            </a:r>
            <a:r>
              <a:rPr sz="2000" spc="-10" dirty="0">
                <a:solidFill>
                  <a:srgbClr val="002960">
                    <a:alpha val="100000"/>
                  </a:srgbClr>
                </a:solidFill>
                <a:latin typeface="微软雅黑" panose="020B0503020204020204" charset="-122"/>
                <a:ea typeface="微软雅黑" panose="020B0503020204020204" charset="-122"/>
                <a:cs typeface="楷体" panose="02010609060101010101" charset="-122"/>
              </a:rPr>
              <a:t>计</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划</a:t>
            </a:r>
            <a:endParaRPr lang="en-US" altLang="en-US" sz="2000" dirty="0">
              <a:latin typeface="微软雅黑" panose="020B0503020204020204" charset="-122"/>
              <a:ea typeface="微软雅黑" panose="020B0503020204020204" charset="-122"/>
            </a:endParaRPr>
          </a:p>
        </p:txBody>
      </p:sp>
      <p:pic>
        <p:nvPicPr>
          <p:cNvPr id="1265" name="picture 1265"/>
          <p:cNvPicPr>
            <a:picLocks noChangeAspect="1"/>
          </p:cNvPicPr>
          <p:nvPr/>
        </p:nvPicPr>
        <p:blipFill>
          <a:blip r:embed="rId1"/>
          <a:stretch>
            <a:fillRect/>
          </a:stretch>
        </p:blipFill>
        <p:spPr>
          <a:xfrm rot="21600000">
            <a:off x="1723644" y="3086100"/>
            <a:ext cx="1449323" cy="1814448"/>
          </a:xfrm>
          <a:prstGeom prst="rect">
            <a:avLst/>
          </a:prstGeom>
        </p:spPr>
      </p:pic>
      <p:sp>
        <p:nvSpPr>
          <p:cNvPr id="1266" name="rect"/>
          <p:cNvSpPr/>
          <p:nvPr/>
        </p:nvSpPr>
        <p:spPr>
          <a:xfrm>
            <a:off x="5049011" y="4632960"/>
            <a:ext cx="1216152" cy="1077467"/>
          </a:xfrm>
          <a:prstGeom prst="rect">
            <a:avLst/>
          </a:prstGeom>
          <a:solidFill>
            <a:srgbClr val="BFE1FF">
              <a:alpha val="100000"/>
            </a:srgbClr>
          </a:solidFill>
          <a:ln cap="flat">
            <a:noFill/>
            <a:prstDash val="solid"/>
            <a:miter lim="0"/>
          </a:ln>
        </p:spPr>
        <p:txBody>
          <a:bodyPr rtlCol="0"/>
          <a:lstStyle/>
          <a:p>
            <a:pPr algn="ctr"/>
            <a:endParaRPr lang="zh-CN" altLang="en-US"/>
          </a:p>
        </p:txBody>
      </p:sp>
      <p:sp>
        <p:nvSpPr>
          <p:cNvPr id="1268" name="textbox 1268"/>
          <p:cNvSpPr/>
          <p:nvPr/>
        </p:nvSpPr>
        <p:spPr>
          <a:xfrm>
            <a:off x="5056632" y="2481072"/>
            <a:ext cx="1216660" cy="676275"/>
          </a:xfrm>
          <a:prstGeom prst="rect">
            <a:avLst/>
          </a:prstGeom>
          <a:solidFill>
            <a:srgbClr val="BFE1FF"/>
          </a:solidFill>
        </p:spPr>
        <p:txBody>
          <a:bodyPr vert="horz" wrap="square" lIns="0" tIns="0" rIns="0" bIns="0"/>
          <a:lstStyle/>
          <a:p>
            <a:pPr algn="l" rtl="0" eaLnBrk="0">
              <a:lnSpc>
                <a:spcPct val="157000"/>
              </a:lnSpc>
            </a:pPr>
            <a:endParaRPr lang="en-US" altLang="en-US" sz="1000" dirty="0">
              <a:latin typeface="微软雅黑" panose="020B0503020204020204" charset="-122"/>
              <a:ea typeface="微软雅黑" panose="020B0503020204020204" charset="-122"/>
            </a:endParaRPr>
          </a:p>
          <a:p>
            <a:pPr marL="90805" algn="l" rtl="0" eaLnBrk="0">
              <a:lnSpc>
                <a:spcPct val="97000"/>
              </a:lnSpc>
              <a:spcBef>
                <a:spcPts val="0"/>
              </a:spcBef>
            </a:pPr>
            <a:r>
              <a:rPr sz="1400" spc="-3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战略目</a:t>
            </a:r>
            <a:r>
              <a:rPr sz="1400" spc="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标</a:t>
            </a:r>
            <a:endParaRPr lang="en-US" altLang="en-US" sz="1400" dirty="0">
              <a:latin typeface="微软雅黑" panose="020B0503020204020204" charset="-122"/>
              <a:ea typeface="微软雅黑" panose="020B0503020204020204" charset="-122"/>
            </a:endParaRPr>
          </a:p>
        </p:txBody>
      </p:sp>
      <p:sp>
        <p:nvSpPr>
          <p:cNvPr id="1269" name="rect"/>
          <p:cNvSpPr/>
          <p:nvPr/>
        </p:nvSpPr>
        <p:spPr>
          <a:xfrm>
            <a:off x="5049011" y="1708404"/>
            <a:ext cx="1216152" cy="646176"/>
          </a:xfrm>
          <a:prstGeom prst="rect">
            <a:avLst/>
          </a:prstGeom>
          <a:solidFill>
            <a:srgbClr val="BFE1FF">
              <a:alpha val="100000"/>
            </a:srgbClr>
          </a:solidFill>
          <a:ln cap="flat">
            <a:noFill/>
            <a:prstDash val="solid"/>
            <a:miter lim="0"/>
          </a:ln>
        </p:spPr>
        <p:txBody>
          <a:bodyPr rtlCol="0"/>
          <a:lstStyle/>
          <a:p>
            <a:pPr algn="ctr"/>
            <a:endParaRPr lang="zh-CN" altLang="en-US"/>
          </a:p>
        </p:txBody>
      </p:sp>
      <p:sp>
        <p:nvSpPr>
          <p:cNvPr id="1270" name="textbox 1270"/>
          <p:cNvSpPr/>
          <p:nvPr/>
        </p:nvSpPr>
        <p:spPr>
          <a:xfrm>
            <a:off x="5049011" y="3255264"/>
            <a:ext cx="1216660" cy="667384"/>
          </a:xfrm>
          <a:prstGeom prst="rect">
            <a:avLst/>
          </a:prstGeom>
          <a:solidFill>
            <a:srgbClr val="BFE1FF"/>
          </a:solidFill>
        </p:spPr>
        <p:txBody>
          <a:bodyPr vert="horz" wrap="square" lIns="0" tIns="0" rIns="0" bIns="0"/>
          <a:lstStyle/>
          <a:p>
            <a:pPr algn="l" rtl="0" eaLnBrk="0">
              <a:lnSpc>
                <a:spcPct val="108000"/>
              </a:lnSpc>
            </a:pPr>
            <a:endParaRPr lang="en-US" altLang="en-US" sz="700" dirty="0">
              <a:latin typeface="微软雅黑" panose="020B0503020204020204" charset="-122"/>
              <a:ea typeface="微软雅黑" panose="020B0503020204020204" charset="-122"/>
            </a:endParaRPr>
          </a:p>
          <a:p>
            <a:pPr marL="86360" indent="3810" algn="l" rtl="0" eaLnBrk="0">
              <a:lnSpc>
                <a:spcPct val="101000"/>
              </a:lnSpc>
            </a:pPr>
            <a:r>
              <a:rPr sz="1400" spc="-20" dirty="0">
                <a:ln w="5103"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战略举措和客</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400" spc="-2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户引导举</a:t>
            </a:r>
            <a:r>
              <a:rPr sz="1400" spc="-1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措</a:t>
            </a:r>
            <a:endParaRPr lang="en-US" altLang="en-US" sz="1400" dirty="0">
              <a:latin typeface="微软雅黑" panose="020B0503020204020204" charset="-122"/>
              <a:ea typeface="微软雅黑" panose="020B0503020204020204" charset="-122"/>
            </a:endParaRPr>
          </a:p>
        </p:txBody>
      </p:sp>
      <p:sp>
        <p:nvSpPr>
          <p:cNvPr id="1271" name="textbox 1271"/>
          <p:cNvSpPr/>
          <p:nvPr/>
        </p:nvSpPr>
        <p:spPr>
          <a:xfrm>
            <a:off x="5119747" y="4976101"/>
            <a:ext cx="1083944" cy="431800"/>
          </a:xfrm>
          <a:prstGeom prst="rect">
            <a:avLst/>
          </a:prstGeom>
        </p:spPr>
        <p:txBody>
          <a:bodyPr vert="horz" wrap="square" lIns="0" tIns="0" rIns="0" bIns="0"/>
          <a:lstStyle/>
          <a:p>
            <a:pPr algn="l" rtl="0" eaLnBrk="0">
              <a:lnSpc>
                <a:spcPct val="87000"/>
              </a:lnSpc>
            </a:pPr>
            <a:endParaRPr lang="en-US" altLang="en-US" sz="100" dirty="0">
              <a:latin typeface="微软雅黑" panose="020B0503020204020204" charset="-122"/>
              <a:ea typeface="微软雅黑" panose="020B0503020204020204" charset="-122"/>
            </a:endParaRPr>
          </a:p>
          <a:p>
            <a:pPr marL="19685" indent="-6985" algn="l" rtl="0" eaLnBrk="0">
              <a:lnSpc>
                <a:spcPct val="95000"/>
              </a:lnSpc>
            </a:pPr>
            <a:r>
              <a:rPr sz="1400" spc="-20" dirty="0">
                <a:ln w="5103"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行动计</a:t>
            </a:r>
            <a:r>
              <a:rPr sz="1400" spc="-10" dirty="0">
                <a:ln w="5103"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划</a:t>
            </a:r>
            <a:r>
              <a:rPr sz="1400" spc="0" dirty="0">
                <a:ln w="5103"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和资</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400" spc="-3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源需求</a:t>
            </a:r>
            <a:endParaRPr lang="en-US" altLang="en-US" sz="1400" dirty="0">
              <a:latin typeface="微软雅黑" panose="020B0503020204020204" charset="-122"/>
              <a:ea typeface="微软雅黑" panose="020B0503020204020204" charset="-122"/>
            </a:endParaRPr>
          </a:p>
        </p:txBody>
      </p:sp>
      <p:sp>
        <p:nvSpPr>
          <p:cNvPr id="1272" name="textbox 1272"/>
          <p:cNvSpPr/>
          <p:nvPr/>
        </p:nvSpPr>
        <p:spPr>
          <a:xfrm>
            <a:off x="5111349" y="1827525"/>
            <a:ext cx="913764" cy="448309"/>
          </a:xfrm>
          <a:prstGeom prst="rect">
            <a:avLst/>
          </a:prstGeom>
        </p:spPr>
        <p:txBody>
          <a:bodyPr vert="horz" wrap="square" lIns="0" tIns="0" rIns="0" bIns="0"/>
          <a:lstStyle/>
          <a:p>
            <a:pPr algn="l" rtl="0" eaLnBrk="0">
              <a:lnSpc>
                <a:spcPct val="84000"/>
              </a:lnSpc>
            </a:pPr>
            <a:endParaRPr lang="en-US" altLang="en-US" sz="100" dirty="0">
              <a:latin typeface="微软雅黑" panose="020B0503020204020204" charset="-122"/>
              <a:ea typeface="微软雅黑" panose="020B0503020204020204" charset="-122"/>
            </a:endParaRPr>
          </a:p>
          <a:p>
            <a:pPr marL="26035" indent="-13335" algn="l" rtl="0" eaLnBrk="0">
              <a:lnSpc>
                <a:spcPct val="99000"/>
              </a:lnSpc>
            </a:pPr>
            <a:r>
              <a:rPr sz="1400" spc="-1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愿</a:t>
            </a:r>
            <a:r>
              <a:rPr sz="1400" spc="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景与战略</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400" spc="-30" dirty="0">
                <a:ln w="5094" cap="flat" cmpd="sng">
                  <a:solidFill>
                    <a:srgbClr val="000000">
                      <a:alpha val="100000"/>
                    </a:srgbClr>
                  </a:solidFill>
                  <a:prstDash val="solid"/>
                  <a:miter lim="8"/>
                </a:ln>
                <a:solidFill>
                  <a:srgbClr val="000000">
                    <a:alpha val="100000"/>
                  </a:srgbClr>
                </a:solidFill>
                <a:latin typeface="微软雅黑" panose="020B0503020204020204" charset="-122"/>
                <a:ea typeface="微软雅黑" panose="020B0503020204020204" charset="-122"/>
                <a:cs typeface="楷体" panose="02010609060101010101" charset="-122"/>
              </a:rPr>
              <a:t>定位</a:t>
            </a:r>
            <a:endParaRPr lang="en-US" altLang="en-US" sz="1400" dirty="0">
              <a:latin typeface="微软雅黑" panose="020B0503020204020204" charset="-122"/>
              <a:ea typeface="微软雅黑" panose="020B0503020204020204" charset="-122"/>
            </a:endParaRPr>
          </a:p>
        </p:txBody>
      </p:sp>
      <p:sp>
        <p:nvSpPr>
          <p:cNvPr id="1273" name="textbox 1273"/>
          <p:cNvSpPr/>
          <p:nvPr/>
        </p:nvSpPr>
        <p:spPr>
          <a:xfrm>
            <a:off x="3941862" y="3350890"/>
            <a:ext cx="378459" cy="430530"/>
          </a:xfrm>
          <a:prstGeom prst="rect">
            <a:avLst/>
          </a:prstGeom>
        </p:spPr>
        <p:txBody>
          <a:bodyPr vert="horz" wrap="square" lIns="0" tIns="0" rIns="0" bIns="0"/>
          <a:lstStyle/>
          <a:p>
            <a:pPr algn="l" rtl="0" eaLnBrk="0">
              <a:lnSpc>
                <a:spcPct val="80000"/>
              </a:lnSpc>
            </a:pPr>
            <a:endParaRPr lang="en-US" altLang="en-US" sz="100" dirty="0">
              <a:latin typeface="微软雅黑" panose="020B0503020204020204" charset="-122"/>
              <a:ea typeface="微软雅黑" panose="020B0503020204020204" charset="-122"/>
            </a:endParaRPr>
          </a:p>
          <a:p>
            <a:pPr marL="17145" indent="-4445" algn="l" rtl="0" eaLnBrk="0">
              <a:lnSpc>
                <a:spcPct val="95000"/>
              </a:lnSpc>
            </a:pPr>
            <a:r>
              <a:rPr sz="1400" spc="-2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风</a:t>
            </a:r>
            <a:r>
              <a:rPr sz="1400" spc="-1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险</a:t>
            </a:r>
            <a:r>
              <a:rPr sz="14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1400" spc="-3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楷体" panose="02010609060101010101" charset="-122"/>
              </a:rPr>
              <a:t>评估</a:t>
            </a:r>
            <a:endParaRPr lang="en-US" altLang="en-US" sz="1400" dirty="0">
              <a:latin typeface="微软雅黑" panose="020B0503020204020204" charset="-122"/>
              <a:ea typeface="微软雅黑" panose="020B0503020204020204" charset="-122"/>
            </a:endParaRPr>
          </a:p>
        </p:txBody>
      </p:sp>
      <p:sp>
        <p:nvSpPr>
          <p:cNvPr id="1274" name="textbox 1274"/>
          <p:cNvSpPr/>
          <p:nvPr/>
        </p:nvSpPr>
        <p:spPr>
          <a:xfrm>
            <a:off x="8818509" y="1037437"/>
            <a:ext cx="114935" cy="1840229"/>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endParaRPr sz="600" spc="0" dirty="0">
              <a:solidFill>
                <a:srgbClr val="808080">
                  <a:alpha val="100000"/>
                </a:srgbClr>
              </a:solidFill>
              <a:latin typeface="Arial" panose="020B0604020202020204"/>
              <a:ea typeface="Arial" panose="020B0604020202020204"/>
              <a:cs typeface="Arial" panose="020B0604020202020204"/>
            </a:endParaRPr>
          </a:p>
        </p:txBody>
      </p:sp>
      <p:sp>
        <p:nvSpPr>
          <p:cNvPr id="1275" name="path"/>
          <p:cNvSpPr/>
          <p:nvPr/>
        </p:nvSpPr>
        <p:spPr>
          <a:xfrm>
            <a:off x="1436369" y="3328924"/>
            <a:ext cx="238506" cy="335025"/>
          </a:xfrm>
          <a:custGeom>
            <a:avLst/>
            <a:gdLst/>
            <a:ahLst/>
            <a:cxnLst/>
            <a:rect l="0" t="0" r="0" b="0"/>
            <a:pathLst>
              <a:path w="375" h="527">
                <a:moveTo>
                  <a:pt x="197" y="0"/>
                </a:moveTo>
                <a:cubicBezTo>
                  <a:pt x="252" y="0"/>
                  <a:pt x="295" y="14"/>
                  <a:pt x="327" y="42"/>
                </a:cubicBezTo>
                <a:cubicBezTo>
                  <a:pt x="358" y="70"/>
                  <a:pt x="374" y="104"/>
                  <a:pt x="374" y="145"/>
                </a:cubicBezTo>
                <a:cubicBezTo>
                  <a:pt x="374" y="166"/>
                  <a:pt x="370" y="187"/>
                  <a:pt x="360" y="207"/>
                </a:cubicBezTo>
                <a:cubicBezTo>
                  <a:pt x="351" y="228"/>
                  <a:pt x="335" y="249"/>
                  <a:pt x="314" y="271"/>
                </a:cubicBezTo>
                <a:cubicBezTo>
                  <a:pt x="293" y="294"/>
                  <a:pt x="257" y="325"/>
                  <a:pt x="207" y="364"/>
                </a:cubicBezTo>
                <a:cubicBezTo>
                  <a:pt x="165" y="396"/>
                  <a:pt x="138" y="418"/>
                  <a:pt x="126" y="430"/>
                </a:cubicBezTo>
                <a:cubicBezTo>
                  <a:pt x="114" y="442"/>
                  <a:pt x="105" y="453"/>
                  <a:pt x="97" y="465"/>
                </a:cubicBezTo>
                <a:cubicBezTo>
                  <a:pt x="190" y="465"/>
                  <a:pt x="282" y="465"/>
                  <a:pt x="375" y="465"/>
                </a:cubicBezTo>
                <a:cubicBezTo>
                  <a:pt x="375" y="486"/>
                  <a:pt x="375" y="506"/>
                  <a:pt x="375" y="527"/>
                </a:cubicBezTo>
                <a:cubicBezTo>
                  <a:pt x="250" y="527"/>
                  <a:pt x="125" y="527"/>
                  <a:pt x="0" y="527"/>
                </a:cubicBezTo>
                <a:cubicBezTo>
                  <a:pt x="0" y="511"/>
                  <a:pt x="2" y="497"/>
                  <a:pt x="8" y="482"/>
                </a:cubicBezTo>
                <a:cubicBezTo>
                  <a:pt x="18" y="459"/>
                  <a:pt x="33" y="435"/>
                  <a:pt x="54" y="412"/>
                </a:cubicBezTo>
                <a:cubicBezTo>
                  <a:pt x="75" y="389"/>
                  <a:pt x="106" y="363"/>
                  <a:pt x="145" y="333"/>
                </a:cubicBezTo>
                <a:cubicBezTo>
                  <a:pt x="207" y="286"/>
                  <a:pt x="249" y="249"/>
                  <a:pt x="270" y="222"/>
                </a:cubicBezTo>
                <a:cubicBezTo>
                  <a:pt x="292" y="194"/>
                  <a:pt x="303" y="168"/>
                  <a:pt x="303" y="144"/>
                </a:cubicBezTo>
                <a:cubicBezTo>
                  <a:pt x="303" y="118"/>
                  <a:pt x="293" y="97"/>
                  <a:pt x="273" y="79"/>
                </a:cubicBezTo>
                <a:cubicBezTo>
                  <a:pt x="253" y="62"/>
                  <a:pt x="228" y="53"/>
                  <a:pt x="196" y="53"/>
                </a:cubicBezTo>
                <a:cubicBezTo>
                  <a:pt x="162" y="53"/>
                  <a:pt x="136" y="62"/>
                  <a:pt x="115" y="81"/>
                </a:cubicBezTo>
                <a:cubicBezTo>
                  <a:pt x="95" y="100"/>
                  <a:pt x="85" y="125"/>
                  <a:pt x="85" y="158"/>
                </a:cubicBezTo>
                <a:cubicBezTo>
                  <a:pt x="61" y="156"/>
                  <a:pt x="37" y="154"/>
                  <a:pt x="13" y="152"/>
                </a:cubicBezTo>
                <a:cubicBezTo>
                  <a:pt x="18" y="102"/>
                  <a:pt x="37" y="65"/>
                  <a:pt x="69" y="38"/>
                </a:cubicBezTo>
                <a:cubicBezTo>
                  <a:pt x="101" y="12"/>
                  <a:pt x="144" y="0"/>
                  <a:pt x="197" y="0"/>
                </a:cubicBezTo>
              </a:path>
            </a:pathLst>
          </a:custGeom>
          <a:solidFill>
            <a:srgbClr val="C5C5C5">
              <a:alpha val="100000"/>
            </a:srgbClr>
          </a:solidFill>
          <a:ln cap="flat">
            <a:noFill/>
            <a:prstDash val="solid"/>
            <a:miter lim="0"/>
          </a:ln>
        </p:spPr>
        <p:txBody>
          <a:bodyPr rtlCol="0"/>
          <a:lstStyle/>
          <a:p>
            <a:pPr algn="ctr"/>
            <a:endParaRPr lang="zh-CN" altLang="en-US"/>
          </a:p>
        </p:txBody>
      </p:sp>
      <p:sp>
        <p:nvSpPr>
          <p:cNvPr id="1276" name="path"/>
          <p:cNvSpPr/>
          <p:nvPr/>
        </p:nvSpPr>
        <p:spPr>
          <a:xfrm>
            <a:off x="3221101" y="3328924"/>
            <a:ext cx="238124" cy="335025"/>
          </a:xfrm>
          <a:custGeom>
            <a:avLst/>
            <a:gdLst/>
            <a:ahLst/>
            <a:cxnLst/>
            <a:rect l="0" t="0" r="0" b="0"/>
            <a:pathLst>
              <a:path w="374" h="527">
                <a:moveTo>
                  <a:pt x="66" y="0"/>
                </a:moveTo>
                <a:cubicBezTo>
                  <a:pt x="160" y="0"/>
                  <a:pt x="254" y="0"/>
                  <a:pt x="348" y="0"/>
                </a:cubicBezTo>
                <a:cubicBezTo>
                  <a:pt x="348" y="20"/>
                  <a:pt x="348" y="41"/>
                  <a:pt x="348" y="61"/>
                </a:cubicBezTo>
                <a:cubicBezTo>
                  <a:pt x="272" y="61"/>
                  <a:pt x="197" y="61"/>
                  <a:pt x="122" y="61"/>
                </a:cubicBezTo>
                <a:cubicBezTo>
                  <a:pt x="112" y="108"/>
                  <a:pt x="102" y="155"/>
                  <a:pt x="92" y="202"/>
                </a:cubicBezTo>
                <a:cubicBezTo>
                  <a:pt x="125" y="180"/>
                  <a:pt x="161" y="170"/>
                  <a:pt x="198" y="170"/>
                </a:cubicBezTo>
                <a:cubicBezTo>
                  <a:pt x="248" y="170"/>
                  <a:pt x="290" y="185"/>
                  <a:pt x="323" y="217"/>
                </a:cubicBezTo>
                <a:cubicBezTo>
                  <a:pt x="357" y="249"/>
                  <a:pt x="374" y="290"/>
                  <a:pt x="374" y="340"/>
                </a:cubicBezTo>
                <a:cubicBezTo>
                  <a:pt x="374" y="387"/>
                  <a:pt x="360" y="429"/>
                  <a:pt x="330" y="463"/>
                </a:cubicBezTo>
                <a:cubicBezTo>
                  <a:pt x="293" y="506"/>
                  <a:pt x="244" y="527"/>
                  <a:pt x="181" y="527"/>
                </a:cubicBezTo>
                <a:cubicBezTo>
                  <a:pt x="130" y="527"/>
                  <a:pt x="88" y="514"/>
                  <a:pt x="55" y="487"/>
                </a:cubicBezTo>
                <a:cubicBezTo>
                  <a:pt x="23" y="460"/>
                  <a:pt x="4" y="425"/>
                  <a:pt x="0" y="380"/>
                </a:cubicBezTo>
                <a:cubicBezTo>
                  <a:pt x="24" y="378"/>
                  <a:pt x="48" y="377"/>
                  <a:pt x="72" y="375"/>
                </a:cubicBezTo>
                <a:cubicBezTo>
                  <a:pt x="78" y="408"/>
                  <a:pt x="90" y="432"/>
                  <a:pt x="110" y="449"/>
                </a:cubicBezTo>
                <a:cubicBezTo>
                  <a:pt x="130" y="466"/>
                  <a:pt x="153" y="474"/>
                  <a:pt x="181" y="474"/>
                </a:cubicBezTo>
                <a:cubicBezTo>
                  <a:pt x="214" y="474"/>
                  <a:pt x="243" y="462"/>
                  <a:pt x="266" y="439"/>
                </a:cubicBezTo>
                <a:cubicBezTo>
                  <a:pt x="289" y="415"/>
                  <a:pt x="301" y="384"/>
                  <a:pt x="301" y="346"/>
                </a:cubicBezTo>
                <a:cubicBezTo>
                  <a:pt x="301" y="309"/>
                  <a:pt x="290" y="280"/>
                  <a:pt x="267" y="258"/>
                </a:cubicBezTo>
                <a:cubicBezTo>
                  <a:pt x="245" y="237"/>
                  <a:pt x="216" y="226"/>
                  <a:pt x="180" y="226"/>
                </a:cubicBezTo>
                <a:cubicBezTo>
                  <a:pt x="157" y="226"/>
                  <a:pt x="137" y="231"/>
                  <a:pt x="119" y="241"/>
                </a:cubicBezTo>
                <a:cubicBezTo>
                  <a:pt x="101" y="250"/>
                  <a:pt x="87" y="262"/>
                  <a:pt x="77" y="277"/>
                </a:cubicBezTo>
                <a:cubicBezTo>
                  <a:pt x="55" y="275"/>
                  <a:pt x="33" y="272"/>
                  <a:pt x="12" y="270"/>
                </a:cubicBezTo>
                <a:cubicBezTo>
                  <a:pt x="30" y="180"/>
                  <a:pt x="48" y="90"/>
                  <a:pt x="66" y="0"/>
                </a:cubicBezTo>
              </a:path>
            </a:pathLst>
          </a:custGeom>
          <a:solidFill>
            <a:srgbClr val="C5C5C5">
              <a:alpha val="100000"/>
            </a:srgbClr>
          </a:solidFill>
          <a:ln cap="flat">
            <a:noFill/>
            <a:prstDash val="solid"/>
            <a:miter lim="0"/>
          </a:ln>
        </p:spPr>
        <p:txBody>
          <a:bodyPr rtlCol="0"/>
          <a:lstStyle/>
          <a:p>
            <a:pPr algn="ctr"/>
            <a:endParaRPr lang="zh-CN" altLang="en-US"/>
          </a:p>
        </p:txBody>
      </p:sp>
      <p:sp>
        <p:nvSpPr>
          <p:cNvPr id="1277" name="path"/>
          <p:cNvSpPr/>
          <p:nvPr/>
        </p:nvSpPr>
        <p:spPr>
          <a:xfrm>
            <a:off x="2360676" y="2627249"/>
            <a:ext cx="146050" cy="333375"/>
          </a:xfrm>
          <a:custGeom>
            <a:avLst/>
            <a:gdLst/>
            <a:ahLst/>
            <a:cxnLst/>
            <a:rect l="0" t="0" r="0" b="0"/>
            <a:pathLst>
              <a:path w="230" h="525">
                <a:moveTo>
                  <a:pt x="180" y="0"/>
                </a:moveTo>
                <a:cubicBezTo>
                  <a:pt x="196" y="0"/>
                  <a:pt x="213" y="0"/>
                  <a:pt x="230" y="0"/>
                </a:cubicBezTo>
                <a:cubicBezTo>
                  <a:pt x="230" y="175"/>
                  <a:pt x="230" y="350"/>
                  <a:pt x="230" y="525"/>
                </a:cubicBezTo>
                <a:cubicBezTo>
                  <a:pt x="204" y="525"/>
                  <a:pt x="178" y="525"/>
                  <a:pt x="153" y="525"/>
                </a:cubicBezTo>
                <a:cubicBezTo>
                  <a:pt x="153" y="388"/>
                  <a:pt x="153" y="252"/>
                  <a:pt x="153" y="115"/>
                </a:cubicBezTo>
                <a:cubicBezTo>
                  <a:pt x="134" y="130"/>
                  <a:pt x="110" y="145"/>
                  <a:pt x="80" y="160"/>
                </a:cubicBezTo>
                <a:cubicBezTo>
                  <a:pt x="50" y="175"/>
                  <a:pt x="23" y="185"/>
                  <a:pt x="0" y="193"/>
                </a:cubicBezTo>
                <a:cubicBezTo>
                  <a:pt x="0" y="172"/>
                  <a:pt x="0" y="151"/>
                  <a:pt x="0" y="131"/>
                </a:cubicBezTo>
                <a:cubicBezTo>
                  <a:pt x="42" y="114"/>
                  <a:pt x="80" y="93"/>
                  <a:pt x="112" y="70"/>
                </a:cubicBezTo>
                <a:cubicBezTo>
                  <a:pt x="144" y="45"/>
                  <a:pt x="167" y="22"/>
                  <a:pt x="180" y="0"/>
                </a:cubicBezTo>
              </a:path>
            </a:pathLst>
          </a:custGeom>
          <a:solidFill>
            <a:srgbClr val="C5C5C5">
              <a:alpha val="100000"/>
            </a:srgbClr>
          </a:solidFill>
          <a:ln cap="flat">
            <a:noFill/>
            <a:prstDash val="solid"/>
            <a:miter lim="0"/>
          </a:ln>
        </p:spPr>
        <p:txBody>
          <a:bodyPr rtlCol="0"/>
          <a:lstStyle/>
          <a:p>
            <a:pPr algn="ctr"/>
            <a:endParaRPr lang="zh-CN" altLang="en-US"/>
          </a:p>
        </p:txBody>
      </p:sp>
      <p:sp>
        <p:nvSpPr>
          <p:cNvPr id="1278" name="path"/>
          <p:cNvSpPr/>
          <p:nvPr/>
        </p:nvSpPr>
        <p:spPr>
          <a:xfrm>
            <a:off x="164592" y="1432560"/>
            <a:ext cx="219456" cy="219455"/>
          </a:xfrm>
          <a:custGeom>
            <a:avLst/>
            <a:gdLst/>
            <a:ahLst/>
            <a:cxnLst/>
            <a:rect l="0" t="0" r="0" b="0"/>
            <a:pathLst>
              <a:path w="345" h="345">
                <a:moveTo>
                  <a:pt x="0" y="172"/>
                </a:moveTo>
                <a:cubicBezTo>
                  <a:pt x="0" y="77"/>
                  <a:pt x="77" y="0"/>
                  <a:pt x="172" y="0"/>
                </a:cubicBezTo>
                <a:cubicBezTo>
                  <a:pt x="268" y="0"/>
                  <a:pt x="345" y="77"/>
                  <a:pt x="345" y="172"/>
                </a:cubicBezTo>
                <a:cubicBezTo>
                  <a:pt x="345" y="268"/>
                  <a:pt x="268" y="345"/>
                  <a:pt x="172" y="345"/>
                </a:cubicBezTo>
                <a:cubicBezTo>
                  <a:pt x="77" y="345"/>
                  <a:pt x="0" y="268"/>
                  <a:pt x="0" y="172"/>
                </a:cubicBezTo>
              </a:path>
            </a:pathLst>
          </a:custGeom>
          <a:solidFill>
            <a:srgbClr val="0065BD">
              <a:alpha val="100000"/>
            </a:srgbClr>
          </a:solidFill>
          <a:ln cap="flat">
            <a:noFill/>
            <a:prstDash val="solid"/>
            <a:miter lim="0"/>
          </a:ln>
        </p:spPr>
        <p:txBody>
          <a:bodyPr rtlCol="0"/>
          <a:lstStyle/>
          <a:p>
            <a:pPr algn="ctr"/>
            <a:endParaRPr lang="zh-CN" altLang="en-US"/>
          </a:p>
        </p:txBody>
      </p:sp>
      <p:sp>
        <p:nvSpPr>
          <p:cNvPr id="1279" name="path"/>
          <p:cNvSpPr/>
          <p:nvPr/>
        </p:nvSpPr>
        <p:spPr>
          <a:xfrm>
            <a:off x="5049011" y="4297680"/>
            <a:ext cx="219455" cy="219455"/>
          </a:xfrm>
          <a:custGeom>
            <a:avLst/>
            <a:gdLst/>
            <a:ahLst/>
            <a:cxnLst/>
            <a:rect l="0" t="0" r="0" b="0"/>
            <a:pathLst>
              <a:path w="345" h="345">
                <a:moveTo>
                  <a:pt x="0" y="172"/>
                </a:moveTo>
                <a:cubicBezTo>
                  <a:pt x="0" y="77"/>
                  <a:pt x="77" y="0"/>
                  <a:pt x="172" y="0"/>
                </a:cubicBezTo>
                <a:cubicBezTo>
                  <a:pt x="268" y="0"/>
                  <a:pt x="345" y="77"/>
                  <a:pt x="345" y="172"/>
                </a:cubicBezTo>
                <a:cubicBezTo>
                  <a:pt x="345" y="268"/>
                  <a:pt x="268" y="345"/>
                  <a:pt x="172" y="345"/>
                </a:cubicBezTo>
                <a:cubicBezTo>
                  <a:pt x="77" y="345"/>
                  <a:pt x="0" y="268"/>
                  <a:pt x="0" y="172"/>
                </a:cubicBezTo>
              </a:path>
            </a:pathLst>
          </a:custGeom>
          <a:solidFill>
            <a:srgbClr val="0065BD">
              <a:alpha val="100000"/>
            </a:srgbClr>
          </a:solidFill>
          <a:ln cap="flat">
            <a:noFill/>
            <a:prstDash val="solid"/>
            <a:miter lim="0"/>
          </a:ln>
        </p:spPr>
        <p:txBody>
          <a:bodyPr rtlCol="0"/>
          <a:lstStyle/>
          <a:p>
            <a:pPr algn="ctr"/>
            <a:endParaRPr lang="zh-CN" altLang="en-US"/>
          </a:p>
        </p:txBody>
      </p:sp>
      <p:sp>
        <p:nvSpPr>
          <p:cNvPr id="1280" name="path"/>
          <p:cNvSpPr/>
          <p:nvPr/>
        </p:nvSpPr>
        <p:spPr>
          <a:xfrm>
            <a:off x="5049011" y="1432560"/>
            <a:ext cx="219455" cy="217931"/>
          </a:xfrm>
          <a:custGeom>
            <a:avLst/>
            <a:gdLst/>
            <a:ahLst/>
            <a:cxnLst/>
            <a:rect l="0" t="0" r="0" b="0"/>
            <a:pathLst>
              <a:path w="345" h="343">
                <a:moveTo>
                  <a:pt x="0" y="171"/>
                </a:moveTo>
                <a:cubicBezTo>
                  <a:pt x="0" y="76"/>
                  <a:pt x="77" y="0"/>
                  <a:pt x="172" y="0"/>
                </a:cubicBezTo>
                <a:cubicBezTo>
                  <a:pt x="268" y="0"/>
                  <a:pt x="345" y="76"/>
                  <a:pt x="345" y="171"/>
                </a:cubicBezTo>
                <a:cubicBezTo>
                  <a:pt x="345" y="266"/>
                  <a:pt x="268" y="343"/>
                  <a:pt x="172" y="343"/>
                </a:cubicBezTo>
                <a:cubicBezTo>
                  <a:pt x="77" y="343"/>
                  <a:pt x="0" y="266"/>
                  <a:pt x="0" y="171"/>
                </a:cubicBezTo>
              </a:path>
            </a:pathLst>
          </a:custGeom>
          <a:solidFill>
            <a:srgbClr val="0065BD">
              <a:alpha val="100000"/>
            </a:srgbClr>
          </a:solidFill>
          <a:ln cap="flat">
            <a:noFill/>
            <a:prstDash val="solid"/>
            <a:miter lim="0"/>
          </a:ln>
        </p:spPr>
        <p:txBody>
          <a:bodyPr rtlCol="0"/>
          <a:lstStyle/>
          <a:p>
            <a:pPr algn="ctr"/>
            <a:endParaRPr lang="zh-CN" altLang="en-US"/>
          </a:p>
        </p:txBody>
      </p:sp>
      <p:sp>
        <p:nvSpPr>
          <p:cNvPr id="1281" name="textbox 1281"/>
          <p:cNvSpPr/>
          <p:nvPr/>
        </p:nvSpPr>
        <p:spPr>
          <a:xfrm>
            <a:off x="8818435" y="4032021"/>
            <a:ext cx="114935" cy="262890"/>
          </a:xfrm>
          <a:prstGeom prst="rect">
            <a:avLst/>
          </a:prstGeom>
        </p:spPr>
        <p:txBody>
          <a:bodyPr vert="eaVert" wrap="square" lIns="0" tIns="0" rIns="0" bIns="0"/>
          <a:lstStyle/>
          <a:p>
            <a:pPr algn="l" rtl="0" eaLnBrk="0">
              <a:lnSpc>
                <a:spcPct val="85000"/>
              </a:lnSpc>
            </a:pPr>
            <a:endParaRPr lang="en-US" altLang="en-US" sz="100" dirty="0"/>
          </a:p>
          <a:p>
            <a:pPr marL="12700" algn="l" rtl="0" eaLnBrk="0">
              <a:lnSpc>
                <a:spcPct val="79000"/>
              </a:lnSpc>
            </a:pPr>
            <a:endParaRPr sz="600" spc="-10" dirty="0">
              <a:solidFill>
                <a:srgbClr val="808080">
                  <a:alpha val="100000"/>
                </a:srgbClr>
              </a:solidFill>
              <a:latin typeface="Arial" panose="020B0604020202020204"/>
              <a:ea typeface="Arial" panose="020B0604020202020204"/>
              <a:cs typeface="Arial" panose="020B0604020202020204"/>
            </a:endParaRPr>
          </a:p>
        </p:txBody>
      </p:sp>
      <p:sp>
        <p:nvSpPr>
          <p:cNvPr id="1282" name="textbox 1282"/>
          <p:cNvSpPr/>
          <p:nvPr/>
        </p:nvSpPr>
        <p:spPr>
          <a:xfrm>
            <a:off x="5104214" y="1473567"/>
            <a:ext cx="123189" cy="233679"/>
          </a:xfrm>
          <a:prstGeom prst="rect">
            <a:avLst/>
          </a:prstGeom>
        </p:spPr>
        <p:txBody>
          <a:bodyPr vert="horz" wrap="square" lIns="0" tIns="0" rIns="0" bIns="0"/>
          <a:lstStyle/>
          <a:p>
            <a:pPr algn="l" rtl="0" eaLnBrk="0">
              <a:lnSpc>
                <a:spcPct val="89000"/>
              </a:lnSpc>
            </a:pPr>
            <a:endParaRPr lang="en-US" altLang="en-US" sz="100" dirty="0">
              <a:latin typeface="微软雅黑" panose="020B0503020204020204" charset="-122"/>
              <a:ea typeface="微软雅黑" panose="020B0503020204020204" charset="-122"/>
            </a:endParaRPr>
          </a:p>
          <a:p>
            <a:pPr marL="12700" algn="l" rtl="0" eaLnBrk="0">
              <a:lnSpc>
                <a:spcPct val="97000"/>
              </a:lnSpc>
            </a:pPr>
            <a:r>
              <a:rPr sz="1400" b="1" spc="0" dirty="0">
                <a:solidFill>
                  <a:srgbClr val="FFFFFF">
                    <a:alpha val="100000"/>
                  </a:srgbClr>
                </a:solidFill>
                <a:latin typeface="微软雅黑" panose="020B0503020204020204" charset="-122"/>
                <a:ea typeface="微软雅黑" panose="020B0503020204020204" charset="-122"/>
                <a:cs typeface="Arial" panose="020B0604020202020204"/>
              </a:rPr>
              <a:t>b</a:t>
            </a:r>
            <a:endParaRPr lang="en-US" altLang="en-US" sz="1400" dirty="0">
              <a:latin typeface="微软雅黑" panose="020B0503020204020204" charset="-122"/>
              <a:ea typeface="微软雅黑" panose="020B0503020204020204" charset="-122"/>
            </a:endParaRPr>
          </a:p>
        </p:txBody>
      </p:sp>
      <p:sp>
        <p:nvSpPr>
          <p:cNvPr id="1283" name="textbox 1283"/>
          <p:cNvSpPr/>
          <p:nvPr/>
        </p:nvSpPr>
        <p:spPr>
          <a:xfrm>
            <a:off x="218661" y="1465057"/>
            <a:ext cx="118745" cy="233679"/>
          </a:xfrm>
          <a:prstGeom prst="rect">
            <a:avLst/>
          </a:prstGeom>
        </p:spPr>
        <p:txBody>
          <a:bodyPr vert="horz" wrap="square" lIns="0" tIns="0" rIns="0" bIns="0"/>
          <a:lstStyle/>
          <a:p>
            <a:pPr algn="l" rtl="0" eaLnBrk="0">
              <a:lnSpc>
                <a:spcPct val="89000"/>
              </a:lnSpc>
            </a:pPr>
            <a:endParaRPr lang="en-US" altLang="en-US" sz="100" dirty="0"/>
          </a:p>
          <a:p>
            <a:pPr marL="12700" algn="l" rtl="0" eaLnBrk="0">
              <a:lnSpc>
                <a:spcPct val="97000"/>
              </a:lnSpc>
            </a:pPr>
            <a:r>
              <a:rPr sz="1400" b="1" spc="0" dirty="0">
                <a:solidFill>
                  <a:srgbClr val="FFFFFF">
                    <a:alpha val="100000"/>
                  </a:srgbClr>
                </a:solidFill>
                <a:latin typeface="Arial" panose="020B0604020202020204"/>
                <a:ea typeface="Arial" panose="020B0604020202020204"/>
                <a:cs typeface="Arial" panose="020B0604020202020204"/>
              </a:rPr>
              <a:t>a</a:t>
            </a:r>
            <a:endParaRPr lang="en-US" altLang="en-US" sz="1400" dirty="0"/>
          </a:p>
        </p:txBody>
      </p:sp>
      <p:sp>
        <p:nvSpPr>
          <p:cNvPr id="1284" name="textbox 1284"/>
          <p:cNvSpPr/>
          <p:nvPr/>
        </p:nvSpPr>
        <p:spPr>
          <a:xfrm>
            <a:off x="5104507" y="4339830"/>
            <a:ext cx="117475" cy="233679"/>
          </a:xfrm>
          <a:prstGeom prst="rect">
            <a:avLst/>
          </a:prstGeom>
        </p:spPr>
        <p:txBody>
          <a:bodyPr vert="horz" wrap="square" lIns="0" tIns="0" rIns="0" bIns="0"/>
          <a:lstStyle/>
          <a:p>
            <a:pPr algn="l" rtl="0" eaLnBrk="0">
              <a:lnSpc>
                <a:spcPct val="89000"/>
              </a:lnSpc>
            </a:pPr>
            <a:endParaRPr lang="en-US" altLang="en-US" sz="100" dirty="0">
              <a:latin typeface="微软雅黑" panose="020B0503020204020204" charset="-122"/>
              <a:ea typeface="微软雅黑" panose="020B0503020204020204" charset="-122"/>
            </a:endParaRPr>
          </a:p>
          <a:p>
            <a:pPr marL="12700" algn="l" rtl="0" eaLnBrk="0">
              <a:lnSpc>
                <a:spcPct val="97000"/>
              </a:lnSpc>
            </a:pPr>
            <a:r>
              <a:rPr sz="1400" b="1" spc="0" dirty="0">
                <a:solidFill>
                  <a:srgbClr val="FFFFFF">
                    <a:alpha val="100000"/>
                  </a:srgbClr>
                </a:solidFill>
                <a:latin typeface="微软雅黑" panose="020B0503020204020204" charset="-122"/>
                <a:ea typeface="微软雅黑" panose="020B0503020204020204" charset="-122"/>
                <a:cs typeface="Arial" panose="020B0604020202020204"/>
              </a:rPr>
              <a:t>c</a:t>
            </a:r>
            <a:endParaRPr lang="en-US" altLang="en-US" sz="1400" dirty="0">
              <a:latin typeface="微软雅黑" panose="020B0503020204020204" charset="-122"/>
              <a:ea typeface="微软雅黑" panose="020B0503020204020204" charset="-122"/>
            </a:endParaRPr>
          </a:p>
        </p:txBody>
      </p:sp>
      <p:sp>
        <p:nvSpPr>
          <p:cNvPr id="1285" name="textbox 1285"/>
          <p:cNvSpPr/>
          <p:nvPr/>
        </p:nvSpPr>
        <p:spPr>
          <a:xfrm>
            <a:off x="6381639" y="1778679"/>
            <a:ext cx="90169" cy="166370"/>
          </a:xfrm>
          <a:prstGeom prst="rect">
            <a:avLst/>
          </a:prstGeom>
        </p:spPr>
        <p:txBody>
          <a:bodyPr vert="horz" wrap="square" lIns="0" tIns="0" rIns="0" bIns="0"/>
          <a:lstStyle/>
          <a:p>
            <a:pPr algn="l" rtl="0" eaLnBrk="0">
              <a:lnSpc>
                <a:spcPct val="83000"/>
              </a:lnSpc>
            </a:pPr>
            <a:endParaRPr lang="en-US" altLang="en-US" sz="100" dirty="0">
              <a:latin typeface="微软雅黑" panose="020B0503020204020204" charset="-122"/>
              <a:ea typeface="微软雅黑" panose="020B0503020204020204" charset="-122"/>
            </a:endParaRPr>
          </a:p>
          <a:p>
            <a:pPr marL="12700" algn="l" rtl="0" eaLnBrk="0">
              <a:lnSpc>
                <a:spcPts val="1105"/>
              </a:lnSpc>
            </a:pPr>
            <a:r>
              <a:rPr sz="700" spc="250" dirty="0">
                <a:solidFill>
                  <a:srgbClr val="002960">
                    <a:alpha val="100000"/>
                  </a:srgbClr>
                </a:solidFill>
                <a:latin typeface="微软雅黑" panose="020B0503020204020204" charset="-122"/>
                <a:ea typeface="微软雅黑" panose="020B0503020204020204" charset="-122"/>
                <a:cs typeface="Arial" panose="020B0604020202020204"/>
              </a:rPr>
              <a:t>▪</a:t>
            </a:r>
            <a:endParaRPr lang="en-US" altLang="en-US" sz="700" dirty="0">
              <a:latin typeface="微软雅黑" panose="020B0503020204020204" charset="-122"/>
              <a:ea typeface="微软雅黑" panose="020B0503020204020204" charset="-122"/>
            </a:endParaRPr>
          </a:p>
        </p:txBody>
      </p:sp>
      <p:sp>
        <p:nvSpPr>
          <p:cNvPr id="1286" name="textbox 1286"/>
          <p:cNvSpPr/>
          <p:nvPr/>
        </p:nvSpPr>
        <p:spPr>
          <a:xfrm>
            <a:off x="6381639" y="2197779"/>
            <a:ext cx="90169" cy="166370"/>
          </a:xfrm>
          <a:prstGeom prst="rect">
            <a:avLst/>
          </a:prstGeom>
        </p:spPr>
        <p:txBody>
          <a:bodyPr vert="horz" wrap="square" lIns="0" tIns="0" rIns="0" bIns="0"/>
          <a:lstStyle/>
          <a:p>
            <a:pPr algn="l" rtl="0" eaLnBrk="0">
              <a:lnSpc>
                <a:spcPct val="83000"/>
              </a:lnSpc>
            </a:pPr>
            <a:endParaRPr lang="en-US" altLang="en-US" sz="100" dirty="0">
              <a:latin typeface="微软雅黑" panose="020B0503020204020204" charset="-122"/>
              <a:ea typeface="微软雅黑" panose="020B0503020204020204" charset="-122"/>
            </a:endParaRPr>
          </a:p>
          <a:p>
            <a:pPr marL="12700" algn="l" rtl="0" eaLnBrk="0">
              <a:lnSpc>
                <a:spcPts val="1105"/>
              </a:lnSpc>
            </a:pPr>
            <a:r>
              <a:rPr sz="700" spc="250" dirty="0">
                <a:solidFill>
                  <a:srgbClr val="002960">
                    <a:alpha val="100000"/>
                  </a:srgbClr>
                </a:solidFill>
                <a:latin typeface="微软雅黑" panose="020B0503020204020204" charset="-122"/>
                <a:ea typeface="微软雅黑" panose="020B0503020204020204" charset="-122"/>
                <a:cs typeface="Arial" panose="020B0604020202020204"/>
              </a:rPr>
              <a:t>▪</a:t>
            </a:r>
            <a:endParaRPr lang="en-US" altLang="en-US" sz="700" dirty="0">
              <a:latin typeface="微软雅黑" panose="020B0503020204020204" charset="-122"/>
              <a:ea typeface="微软雅黑" panose="020B050302020402020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7" name="textbox 1287"/>
          <p:cNvSpPr/>
          <p:nvPr/>
        </p:nvSpPr>
        <p:spPr>
          <a:xfrm>
            <a:off x="8818509" y="1037437"/>
            <a:ext cx="114935" cy="3257550"/>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r>
              <a:rPr sz="600" spc="0" dirty="0">
                <a:solidFill>
                  <a:srgbClr val="808080">
                    <a:alpha val="100000"/>
                  </a:srgbClr>
                </a:solidFill>
                <a:latin typeface="Arial" panose="020B0604020202020204"/>
                <a:ea typeface="Arial" panose="020B0604020202020204"/>
                <a:cs typeface="Arial" panose="020B0604020202020204"/>
              </a:rPr>
              <a:t>                                                       </a:t>
            </a:r>
            <a:endParaRPr lang="en-US" altLang="en-US" sz="600" dirty="0"/>
          </a:p>
        </p:txBody>
      </p:sp>
      <p:pic>
        <p:nvPicPr>
          <p:cNvPr id="1288" name="picture 1288"/>
          <p:cNvPicPr>
            <a:picLocks noChangeAspect="1"/>
          </p:cNvPicPr>
          <p:nvPr/>
        </p:nvPicPr>
        <p:blipFill>
          <a:blip r:embed="rId1"/>
          <a:stretch>
            <a:fillRect/>
          </a:stretch>
        </p:blipFill>
        <p:spPr>
          <a:xfrm rot="21600000">
            <a:off x="0" y="516635"/>
            <a:ext cx="8961119" cy="5977128"/>
          </a:xfrm>
          <a:prstGeom prst="rect">
            <a:avLst/>
          </a:prstGeom>
        </p:spPr>
      </p:pic>
      <p:sp>
        <p:nvSpPr>
          <p:cNvPr id="1290" name="textbox 1290"/>
          <p:cNvSpPr/>
          <p:nvPr/>
        </p:nvSpPr>
        <p:spPr>
          <a:xfrm>
            <a:off x="475600" y="248992"/>
            <a:ext cx="3074670" cy="309245"/>
          </a:xfrm>
          <a:prstGeom prst="rect">
            <a:avLst/>
          </a:prstGeom>
        </p:spPr>
        <p:txBody>
          <a:bodyPr vert="horz" wrap="square" lIns="0" tIns="0" rIns="0" bIns="0"/>
          <a:lstStyle/>
          <a:p>
            <a:pPr algn="l" rtl="0" eaLnBrk="0">
              <a:lnSpc>
                <a:spcPct val="85000"/>
              </a:lnSpc>
            </a:pPr>
            <a:endParaRPr lang="en-US" altLang="en-US" sz="100" dirty="0">
              <a:latin typeface="微软雅黑" panose="020B0503020204020204" charset="-122"/>
              <a:ea typeface="微软雅黑" panose="020B0503020204020204" charset="-122"/>
            </a:endParaRPr>
          </a:p>
          <a:p>
            <a:pPr marL="12700" algn="l" rtl="0" eaLnBrk="0">
              <a:lnSpc>
                <a:spcPct val="93000"/>
              </a:lnSpc>
            </a:pPr>
            <a:r>
              <a:rPr sz="2000" spc="-50" dirty="0">
                <a:solidFill>
                  <a:srgbClr val="002960">
                    <a:alpha val="100000"/>
                  </a:srgbClr>
                </a:solidFill>
                <a:latin typeface="微软雅黑" panose="020B0503020204020204" charset="-122"/>
                <a:ea typeface="微软雅黑" panose="020B0503020204020204" charset="-122"/>
                <a:cs typeface="楷体" panose="02010609060101010101" charset="-122"/>
              </a:rPr>
              <a:t>大客户管理规划 </a:t>
            </a:r>
            <a:r>
              <a:rPr sz="2000" spc="-50" dirty="0">
                <a:solidFill>
                  <a:srgbClr val="002960">
                    <a:alpha val="100000"/>
                  </a:srgbClr>
                </a:solidFill>
                <a:latin typeface="微软雅黑" panose="020B0503020204020204" charset="-122"/>
                <a:ea typeface="微软雅黑" panose="020B0503020204020204" charset="-122"/>
                <a:cs typeface="Arial" panose="020B0604020202020204"/>
              </a:rPr>
              <a:t>– </a:t>
            </a:r>
            <a:r>
              <a:rPr sz="2000" spc="-50" dirty="0">
                <a:solidFill>
                  <a:srgbClr val="002960">
                    <a:alpha val="100000"/>
                  </a:srgbClr>
                </a:solidFill>
                <a:latin typeface="微软雅黑" panose="020B0503020204020204" charset="-122"/>
                <a:ea typeface="微软雅黑" panose="020B0503020204020204" charset="-122"/>
                <a:cs typeface="楷体" panose="02010609060101010101" charset="-122"/>
              </a:rPr>
              <a:t>客户洞</a:t>
            </a:r>
            <a:r>
              <a:rPr sz="2000" spc="-10" dirty="0">
                <a:solidFill>
                  <a:srgbClr val="002960">
                    <a:alpha val="100000"/>
                  </a:srgbClr>
                </a:solidFill>
                <a:latin typeface="微软雅黑" panose="020B0503020204020204" charset="-122"/>
                <a:ea typeface="微软雅黑" panose="020B0503020204020204" charset="-122"/>
                <a:cs typeface="楷体" panose="02010609060101010101" charset="-122"/>
              </a:rPr>
              <a:t>察</a:t>
            </a:r>
            <a:endParaRPr lang="en-US" altLang="en-US" sz="2000" dirty="0">
              <a:latin typeface="微软雅黑" panose="020B0503020204020204" charset="-122"/>
              <a:ea typeface="微软雅黑" panose="020B0503020204020204" charset="-122"/>
            </a:endParaRPr>
          </a:p>
        </p:txBody>
      </p:sp>
      <p:sp>
        <p:nvSpPr>
          <p:cNvPr id="1291" name="textbox 1291"/>
          <p:cNvSpPr/>
          <p:nvPr/>
        </p:nvSpPr>
        <p:spPr>
          <a:xfrm>
            <a:off x="7447280" y="908558"/>
            <a:ext cx="1274444" cy="270509"/>
          </a:xfrm>
          <a:prstGeom prst="rect">
            <a:avLst/>
          </a:prstGeom>
        </p:spPr>
        <p:txBody>
          <a:bodyPr vert="horz" wrap="square" lIns="0" tIns="0" rIns="0" bIns="0"/>
          <a:lstStyle/>
          <a:p>
            <a:pPr algn="l" rtl="0" eaLnBrk="0">
              <a:lnSpc>
                <a:spcPct val="102000"/>
              </a:lnSpc>
            </a:pPr>
            <a:endParaRPr lang="en-US" altLang="en-US" sz="200" dirty="0"/>
          </a:p>
          <a:p>
            <a:pPr marL="21590" algn="l" rtl="0" eaLnBrk="0">
              <a:lnSpc>
                <a:spcPct val="95000"/>
              </a:lnSpc>
              <a:spcBef>
                <a:spcPts val="0"/>
              </a:spcBef>
              <a:tabLst>
                <a:tab pos="74930" algn="l"/>
              </a:tabLst>
            </a:pPr>
            <a:r>
              <a:rPr sz="1200" u="sng" spc="0" dirty="0">
                <a:solidFill>
                  <a:srgbClr val="808080">
                    <a:alpha val="100000"/>
                  </a:srgbClr>
                </a:solidFill>
                <a:latin typeface="Arial" panose="020B0604020202020204"/>
                <a:ea typeface="Arial" panose="020B0604020202020204"/>
                <a:cs typeface="Arial" panose="020B0604020202020204"/>
              </a:rPr>
              <a:t>	</a:t>
            </a:r>
            <a:r>
              <a:rPr sz="1200" u="sng" spc="-10" dirty="0">
                <a:solidFill>
                  <a:srgbClr val="808080">
                    <a:alpha val="100000"/>
                  </a:srgbClr>
                </a:solidFill>
                <a:latin typeface="Arial" panose="020B0604020202020204"/>
                <a:ea typeface="Arial" panose="020B0604020202020204"/>
                <a:cs typeface="Arial" panose="020B0604020202020204"/>
              </a:rPr>
              <a:t>CHEM</a:t>
            </a:r>
            <a:r>
              <a:rPr sz="1200" u="sng" spc="0" dirty="0">
                <a:solidFill>
                  <a:srgbClr val="808080">
                    <a:alpha val="100000"/>
                  </a:srgbClr>
                </a:solidFill>
                <a:latin typeface="Arial" panose="020B0604020202020204"/>
                <a:ea typeface="Arial" panose="020B0604020202020204"/>
                <a:cs typeface="Arial" panose="020B0604020202020204"/>
              </a:rPr>
              <a:t>EURO</a:t>
            </a:r>
            <a:r>
              <a:rPr sz="1200" u="sng" spc="-10" dirty="0">
                <a:solidFill>
                  <a:srgbClr val="808080">
                    <a:alpha val="100000"/>
                  </a:srgbClr>
                </a:solidFill>
                <a:latin typeface="楷体" panose="02010609060101010101" charset="-122"/>
                <a:ea typeface="楷体" panose="02010609060101010101" charset="-122"/>
                <a:cs typeface="楷体" panose="02010609060101010101" charset="-122"/>
              </a:rPr>
              <a:t>案例</a:t>
            </a:r>
            <a:endParaRPr lang="en-US" altLang="en-US" sz="1200" dirty="0"/>
          </a:p>
        </p:txBody>
      </p:sp>
      <p:sp>
        <p:nvSpPr>
          <p:cNvPr id="1292" name="path"/>
          <p:cNvSpPr/>
          <p:nvPr/>
        </p:nvSpPr>
        <p:spPr>
          <a:xfrm>
            <a:off x="7459980" y="921258"/>
            <a:ext cx="9143" cy="210311"/>
          </a:xfrm>
          <a:custGeom>
            <a:avLst/>
            <a:gdLst/>
            <a:ahLst/>
            <a:cxnLst/>
            <a:rect l="0" t="0" r="0" b="0"/>
            <a:pathLst>
              <a:path w="14" h="331">
                <a:moveTo>
                  <a:pt x="7" y="0"/>
                </a:moveTo>
                <a:lnTo>
                  <a:pt x="7" y="331"/>
                </a:lnTo>
              </a:path>
            </a:pathLst>
          </a:custGeom>
          <a:noFill/>
          <a:ln w="9143" cap="flat">
            <a:solidFill>
              <a:srgbClr val="808080">
                <a:alpha val="100000"/>
              </a:srgbClr>
            </a:solidFill>
            <a:prstDash val="solid"/>
            <a:round/>
          </a:ln>
        </p:spPr>
        <p:txBody>
          <a:bodyPr rtlCol="0"/>
          <a:lstStyle/>
          <a:p>
            <a:pPr algn="ctr"/>
            <a:endParaRPr lang="zh-CN" altLang="en-US"/>
          </a:p>
        </p:txBody>
      </p:sp>
      <p:grpSp>
        <p:nvGrpSpPr>
          <p:cNvPr id="222" name="group 222"/>
          <p:cNvGrpSpPr/>
          <p:nvPr/>
        </p:nvGrpSpPr>
        <p:grpSpPr>
          <a:xfrm rot="21600000">
            <a:off x="118872" y="230124"/>
            <a:ext cx="292608" cy="292607"/>
            <a:chOff x="0" y="0"/>
            <a:chExt cx="292608" cy="292607"/>
          </a:xfrm>
        </p:grpSpPr>
        <p:sp>
          <p:nvSpPr>
            <p:cNvPr id="1293" name="path"/>
            <p:cNvSpPr/>
            <p:nvPr/>
          </p:nvSpPr>
          <p:spPr>
            <a:xfrm>
              <a:off x="0" y="0"/>
              <a:ext cx="292608" cy="292607"/>
            </a:xfrm>
            <a:custGeom>
              <a:avLst/>
              <a:gdLst/>
              <a:ahLst/>
              <a:cxnLst/>
              <a:rect l="0" t="0" r="0" b="0"/>
              <a:pathLst>
                <a:path w="460" h="460">
                  <a:moveTo>
                    <a:pt x="0" y="230"/>
                  </a:moveTo>
                  <a:cubicBezTo>
                    <a:pt x="0" y="103"/>
                    <a:pt x="103" y="0"/>
                    <a:pt x="230" y="0"/>
                  </a:cubicBezTo>
                  <a:cubicBezTo>
                    <a:pt x="357" y="0"/>
                    <a:pt x="460" y="103"/>
                    <a:pt x="460" y="230"/>
                  </a:cubicBezTo>
                  <a:cubicBezTo>
                    <a:pt x="460" y="357"/>
                    <a:pt x="357" y="460"/>
                    <a:pt x="230" y="460"/>
                  </a:cubicBezTo>
                  <a:cubicBezTo>
                    <a:pt x="103" y="460"/>
                    <a:pt x="0" y="357"/>
                    <a:pt x="0" y="230"/>
                  </a:cubicBezTo>
                </a:path>
              </a:pathLst>
            </a:custGeom>
            <a:solidFill>
              <a:srgbClr val="0065BD">
                <a:alpha val="100000"/>
              </a:srgbClr>
            </a:solidFill>
            <a:ln cap="flat">
              <a:noFill/>
              <a:prstDash val="solid"/>
              <a:miter lim="0"/>
            </a:ln>
          </p:spPr>
          <p:txBody>
            <a:bodyPr rtlCol="0"/>
            <a:lstStyle/>
            <a:p>
              <a:pPr algn="ctr"/>
              <a:endParaRPr lang="zh-CN" altLang="en-US"/>
            </a:p>
          </p:txBody>
        </p:sp>
        <p:sp>
          <p:nvSpPr>
            <p:cNvPr id="1294" name="textbox 1294"/>
            <p:cNvSpPr/>
            <p:nvPr/>
          </p:nvSpPr>
          <p:spPr>
            <a:xfrm>
              <a:off x="-12700" y="-12699"/>
              <a:ext cx="318134" cy="367665"/>
            </a:xfrm>
            <a:prstGeom prst="rect">
              <a:avLst/>
            </a:prstGeom>
          </p:spPr>
          <p:txBody>
            <a:bodyPr vert="horz" wrap="square" lIns="0" tIns="0" rIns="0" bIns="0"/>
            <a:lstStyle/>
            <a:p>
              <a:pPr algn="l" rtl="0" eaLnBrk="0">
                <a:lnSpc>
                  <a:spcPct val="110000"/>
                </a:lnSpc>
              </a:pPr>
              <a:endParaRPr lang="en-US" altLang="en-US" sz="500" dirty="0">
                <a:latin typeface="微软雅黑" panose="020B0503020204020204" charset="-122"/>
                <a:ea typeface="微软雅黑" panose="020B0503020204020204" charset="-122"/>
              </a:endParaRPr>
            </a:p>
            <a:p>
              <a:pPr marL="47625" algn="l" rtl="0" eaLnBrk="0">
                <a:lnSpc>
                  <a:spcPct val="80000"/>
                </a:lnSpc>
                <a:spcBef>
                  <a:spcPts val="0"/>
                </a:spcBef>
              </a:pPr>
              <a:r>
                <a:rPr sz="1700" b="1" spc="-20" dirty="0">
                  <a:solidFill>
                    <a:srgbClr val="FFFFFF">
                      <a:alpha val="100000"/>
                    </a:srgbClr>
                  </a:solidFill>
                  <a:latin typeface="微软雅黑" panose="020B0503020204020204" charset="-122"/>
                  <a:ea typeface="微软雅黑" panose="020B0503020204020204" charset="-122"/>
                  <a:cs typeface="Arial" panose="020B0604020202020204"/>
                </a:rPr>
                <a:t>3</a:t>
              </a:r>
              <a:r>
                <a:rPr sz="1700" b="1" spc="-10" dirty="0">
                  <a:solidFill>
                    <a:srgbClr val="FFFFFF">
                      <a:alpha val="100000"/>
                    </a:srgbClr>
                  </a:solidFill>
                  <a:latin typeface="微软雅黑" panose="020B0503020204020204" charset="-122"/>
                  <a:ea typeface="微软雅黑" panose="020B0503020204020204" charset="-122"/>
                  <a:cs typeface="Arial" panose="020B0604020202020204"/>
                </a:rPr>
                <a:t>a</a:t>
              </a:r>
              <a:endParaRPr lang="en-US" altLang="en-US" sz="1700" dirty="0">
                <a:latin typeface="微软雅黑" panose="020B0503020204020204" charset="-122"/>
                <a:ea typeface="微软雅黑" panose="020B0503020204020204" charset="-122"/>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5" name="rect"/>
          <p:cNvSpPr/>
          <p:nvPr/>
        </p:nvSpPr>
        <p:spPr>
          <a:xfrm>
            <a:off x="0" y="0"/>
            <a:ext cx="8961119" cy="6720838"/>
          </a:xfrm>
          <a:prstGeom prst="rect">
            <a:avLst/>
          </a:prstGeom>
          <a:solidFill>
            <a:srgbClr val="00ADEF">
              <a:alpha val="100000"/>
            </a:srgbClr>
          </a:solidFill>
          <a:ln cap="flat">
            <a:noFill/>
            <a:prstDash val="solid"/>
            <a:miter lim="0"/>
          </a:ln>
        </p:spPr>
        <p:txBody>
          <a:bodyPr rtlCol="0"/>
          <a:lstStyle/>
          <a:p>
            <a:pPr algn="ctr"/>
            <a:endParaRPr lang="zh-CN" altLang="en-US"/>
          </a:p>
        </p:txBody>
      </p:sp>
      <p:sp>
        <p:nvSpPr>
          <p:cNvPr id="1297" name="textbox 1297"/>
          <p:cNvSpPr/>
          <p:nvPr/>
        </p:nvSpPr>
        <p:spPr>
          <a:xfrm>
            <a:off x="298450" y="2421255"/>
            <a:ext cx="2310130" cy="429895"/>
          </a:xfrm>
          <a:prstGeom prst="rect">
            <a:avLst/>
          </a:prstGeom>
        </p:spPr>
        <p:txBody>
          <a:bodyPr vert="horz" wrap="square" lIns="0" tIns="0" rIns="0" bIns="0"/>
          <a:lstStyle/>
          <a:p>
            <a:pPr algn="l" rtl="0" eaLnBrk="0">
              <a:lnSpc>
                <a:spcPct val="90000"/>
              </a:lnSpc>
            </a:pPr>
            <a:endParaRPr lang="en-US" altLang="en-US" sz="100" dirty="0">
              <a:latin typeface="微软雅黑" panose="020B0503020204020204" charset="-122"/>
              <a:ea typeface="微软雅黑" panose="020B0503020204020204" charset="-122"/>
            </a:endParaRPr>
          </a:p>
          <a:p>
            <a:pPr marL="12700" algn="l" rtl="0" eaLnBrk="0">
              <a:lnSpc>
                <a:spcPct val="98000"/>
              </a:lnSpc>
            </a:pPr>
            <a:r>
              <a:rPr lang="zh-CN" altLang="en-US" sz="2700" dirty="0">
                <a:solidFill>
                  <a:schemeClr val="bg1"/>
                </a:solidFill>
                <a:latin typeface="微软雅黑" panose="020B0503020204020204" charset="-122"/>
                <a:ea typeface="微软雅黑" panose="020B0503020204020204" charset="-122"/>
              </a:rPr>
              <a:t>销售进阶培训</a:t>
            </a:r>
            <a:endParaRPr lang="zh-CN" altLang="en-US" sz="2700" dirty="0">
              <a:solidFill>
                <a:schemeClr val="bg1"/>
              </a:solidFill>
              <a:latin typeface="微软雅黑" panose="020B0503020204020204" charset="-122"/>
              <a:ea typeface="微软雅黑" panose="020B0503020204020204" charset="-122"/>
            </a:endParaRPr>
          </a:p>
        </p:txBody>
      </p:sp>
      <p:sp>
        <p:nvSpPr>
          <p:cNvPr id="1298" name="textbox 1298"/>
          <p:cNvSpPr/>
          <p:nvPr/>
        </p:nvSpPr>
        <p:spPr>
          <a:xfrm>
            <a:off x="119380" y="279400"/>
            <a:ext cx="1727835" cy="322580"/>
          </a:xfrm>
          <a:prstGeom prst="rect">
            <a:avLst/>
          </a:prstGeom>
        </p:spPr>
        <p:txBody>
          <a:bodyPr vert="horz" wrap="square" lIns="0" tIns="0" rIns="0" bIns="0"/>
          <a:lstStyle/>
          <a:p>
            <a:pPr algn="l" rtl="0" eaLnBrk="0">
              <a:lnSpc>
                <a:spcPct val="77000"/>
              </a:lnSpc>
            </a:pPr>
            <a:endParaRPr lang="en-US" altLang="en-US" sz="100" dirty="0">
              <a:latin typeface="微软雅黑" panose="020B0503020204020204" charset="-122"/>
              <a:ea typeface="微软雅黑" panose="020B0503020204020204" charset="-122"/>
            </a:endParaRPr>
          </a:p>
          <a:p>
            <a:pPr marL="12700" algn="l" rtl="0" eaLnBrk="0">
              <a:lnSpc>
                <a:spcPct val="81000"/>
              </a:lnSpc>
            </a:pPr>
            <a:r>
              <a:rPr sz="2000" spc="-20" dirty="0">
                <a:solidFill>
                  <a:srgbClr val="FFFFFF">
                    <a:alpha val="100000"/>
                  </a:srgbClr>
                </a:solidFill>
                <a:latin typeface="微软雅黑" panose="020B0503020204020204" charset="-122"/>
                <a:ea typeface="微软雅黑" panose="020B0503020204020204" charset="-122"/>
                <a:cs typeface="Arial" panose="020B0604020202020204"/>
              </a:rPr>
              <a:t>Cont</a:t>
            </a:r>
            <a:r>
              <a:rPr sz="2000" spc="-10" dirty="0">
                <a:solidFill>
                  <a:srgbClr val="FFFFFF">
                    <a:alpha val="100000"/>
                  </a:srgbClr>
                </a:solidFill>
                <a:latin typeface="微软雅黑" panose="020B0503020204020204" charset="-122"/>
                <a:ea typeface="微软雅黑" panose="020B0503020204020204" charset="-122"/>
                <a:cs typeface="Arial" panose="020B0604020202020204"/>
              </a:rPr>
              <a:t>e</a:t>
            </a:r>
            <a:r>
              <a:rPr sz="2000" spc="0" dirty="0">
                <a:solidFill>
                  <a:srgbClr val="FFFFFF">
                    <a:alpha val="100000"/>
                  </a:srgbClr>
                </a:solidFill>
                <a:latin typeface="微软雅黑" panose="020B0503020204020204" charset="-122"/>
                <a:ea typeface="微软雅黑" panose="020B0503020204020204" charset="-122"/>
                <a:cs typeface="Arial" panose="020B0604020202020204"/>
              </a:rPr>
              <a:t>nts</a:t>
            </a:r>
            <a:endParaRPr lang="en-US" altLang="en-US" sz="2000" dirty="0">
              <a:latin typeface="微软雅黑" panose="020B0503020204020204" charset="-122"/>
              <a:ea typeface="微软雅黑" panose="020B0503020204020204" charset="-122"/>
            </a:endParaRPr>
          </a:p>
        </p:txBody>
      </p:sp>
      <p:sp>
        <p:nvSpPr>
          <p:cNvPr id="1299" name="textbox 1299"/>
          <p:cNvSpPr/>
          <p:nvPr/>
        </p:nvSpPr>
        <p:spPr>
          <a:xfrm>
            <a:off x="8818509" y="1037437"/>
            <a:ext cx="114935" cy="1840229"/>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endParaRPr sz="600" spc="0" dirty="0">
              <a:solidFill>
                <a:srgbClr val="808080">
                  <a:alpha val="100000"/>
                </a:srgbClr>
              </a:solidFill>
              <a:latin typeface="Arial" panose="020B0604020202020204"/>
              <a:ea typeface="Arial" panose="020B0604020202020204"/>
              <a:cs typeface="Arial" panose="020B0604020202020204"/>
            </a:endParaRPr>
          </a:p>
        </p:txBody>
      </p:sp>
      <p:sp>
        <p:nvSpPr>
          <p:cNvPr id="1301" name="path"/>
          <p:cNvSpPr/>
          <p:nvPr/>
        </p:nvSpPr>
        <p:spPr>
          <a:xfrm>
            <a:off x="124968" y="2242439"/>
            <a:ext cx="2075687" cy="9144"/>
          </a:xfrm>
          <a:custGeom>
            <a:avLst/>
            <a:gdLst/>
            <a:ahLst/>
            <a:cxnLst/>
            <a:rect l="0" t="0" r="0" b="0"/>
            <a:pathLst>
              <a:path w="3268" h="14">
                <a:moveTo>
                  <a:pt x="3268" y="7"/>
                </a:moveTo>
                <a:lnTo>
                  <a:pt x="0" y="7"/>
                </a:lnTo>
              </a:path>
            </a:pathLst>
          </a:custGeom>
          <a:noFill/>
          <a:ln w="9143" cap="flat">
            <a:solidFill>
              <a:srgbClr val="FFFFFF">
                <a:alpha val="100000"/>
              </a:srgbClr>
            </a:solidFill>
            <a:prstDash val="solid"/>
            <a:round/>
          </a:ln>
        </p:spPr>
        <p:txBody>
          <a:bodyPr rtlCol="0"/>
          <a:lstStyle/>
          <a:p>
            <a:pPr algn="ctr"/>
            <a:endParaRPr lang="zh-CN" altLang="en-US"/>
          </a:p>
        </p:txBody>
      </p:sp>
      <p:sp>
        <p:nvSpPr>
          <p:cNvPr id="1302" name="path"/>
          <p:cNvSpPr/>
          <p:nvPr/>
        </p:nvSpPr>
        <p:spPr>
          <a:xfrm>
            <a:off x="124968" y="2952622"/>
            <a:ext cx="2075687" cy="9144"/>
          </a:xfrm>
          <a:custGeom>
            <a:avLst/>
            <a:gdLst/>
            <a:ahLst/>
            <a:cxnLst/>
            <a:rect l="0" t="0" r="0" b="0"/>
            <a:pathLst>
              <a:path w="3268" h="14">
                <a:moveTo>
                  <a:pt x="0" y="7"/>
                </a:moveTo>
                <a:lnTo>
                  <a:pt x="3268" y="7"/>
                </a:lnTo>
              </a:path>
            </a:pathLst>
          </a:custGeom>
          <a:noFill/>
          <a:ln w="9143" cap="flat">
            <a:solidFill>
              <a:srgbClr val="FFFFFF">
                <a:alpha val="100000"/>
              </a:srgbClr>
            </a:solidFill>
            <a:prstDash val="solid"/>
            <a:round/>
          </a:ln>
        </p:spPr>
        <p:txBody>
          <a:bodyPr rtlCol="0"/>
          <a:lstStyle/>
          <a:p>
            <a:pPr algn="ctr"/>
            <a:endParaRPr lang="zh-CN" altLang="en-US"/>
          </a:p>
        </p:txBody>
      </p:sp>
      <p:sp>
        <p:nvSpPr>
          <p:cNvPr id="1303" name="textbox 1303"/>
          <p:cNvSpPr/>
          <p:nvPr/>
        </p:nvSpPr>
        <p:spPr>
          <a:xfrm>
            <a:off x="8818435" y="4032021"/>
            <a:ext cx="114935" cy="262890"/>
          </a:xfrm>
          <a:prstGeom prst="rect">
            <a:avLst/>
          </a:prstGeom>
        </p:spPr>
        <p:txBody>
          <a:bodyPr vert="eaVert" wrap="square" lIns="0" tIns="0" rIns="0" bIns="0"/>
          <a:lstStyle/>
          <a:p>
            <a:pPr algn="l" rtl="0" eaLnBrk="0">
              <a:lnSpc>
                <a:spcPct val="85000"/>
              </a:lnSpc>
            </a:pPr>
            <a:endParaRPr lang="en-US" altLang="en-US" sz="100" dirty="0"/>
          </a:p>
          <a:p>
            <a:pPr marL="12700" algn="l" rtl="0" eaLnBrk="0">
              <a:lnSpc>
                <a:spcPct val="79000"/>
              </a:lnSpc>
            </a:pPr>
            <a:endParaRPr sz="600" spc="-10" dirty="0">
              <a:solidFill>
                <a:srgbClr val="808080">
                  <a:alpha val="100000"/>
                </a:srgbClr>
              </a:solidFill>
              <a:latin typeface="Arial" panose="020B0604020202020204"/>
              <a:ea typeface="Arial" panose="020B0604020202020204"/>
              <a:cs typeface="Arial" panose="020B06040202020202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401" y="203088"/>
            <a:ext cx="6945153" cy="595630"/>
          </a:xfrm>
          <a:prstGeom prst="rect">
            <a:avLst/>
          </a:prstGeom>
        </p:spPr>
        <p:txBody>
          <a:bodyPr vert="horz" wrap="square" lIns="0" tIns="12056" rIns="0" bIns="0" rtlCol="0">
            <a:spAutoFit/>
          </a:bodyPr>
          <a:lstStyle/>
          <a:p>
            <a:pPr marL="12700" marR="5080">
              <a:lnSpc>
                <a:spcPct val="100000"/>
              </a:lnSpc>
              <a:spcBef>
                <a:spcPts val="95"/>
              </a:spcBef>
            </a:pPr>
            <a:r>
              <a:rPr spc="-5" dirty="0">
                <a:ea typeface="微软雅黑" panose="020B0503020204020204" charset="-122"/>
              </a:rPr>
              <a:t>B2B</a:t>
            </a:r>
            <a:r>
              <a:rPr dirty="0">
                <a:ea typeface="微软雅黑" panose="020B0503020204020204" charset="-122"/>
              </a:rPr>
              <a:t>销售管理有</a:t>
            </a:r>
            <a:r>
              <a:rPr spc="-5" dirty="0">
                <a:ea typeface="微软雅黑" panose="020B0503020204020204" charset="-122"/>
              </a:rPr>
              <a:t>13个关键模</a:t>
            </a:r>
            <a:r>
              <a:rPr spc="-10" dirty="0">
                <a:ea typeface="微软雅黑" panose="020B0503020204020204" charset="-122"/>
              </a:rPr>
              <a:t>块，</a:t>
            </a:r>
            <a:r>
              <a:rPr spc="-5" dirty="0">
                <a:ea typeface="微软雅黑" panose="020B0503020204020204" charset="-122"/>
              </a:rPr>
              <a:t>其</a:t>
            </a:r>
            <a:r>
              <a:rPr spc="-10" dirty="0">
                <a:ea typeface="微软雅黑" panose="020B0503020204020204" charset="-122"/>
              </a:rPr>
              <a:t>中</a:t>
            </a:r>
            <a:r>
              <a:rPr dirty="0">
                <a:ea typeface="微软雅黑" panose="020B0503020204020204" charset="-122"/>
              </a:rPr>
              <a:t>有</a:t>
            </a:r>
            <a:r>
              <a:rPr spc="-5" dirty="0">
                <a:ea typeface="微软雅黑" panose="020B0503020204020204" charset="-122"/>
              </a:rPr>
              <a:t>7个模</a:t>
            </a:r>
            <a:r>
              <a:rPr spc="-10" dirty="0">
                <a:ea typeface="微软雅黑" panose="020B0503020204020204" charset="-122"/>
              </a:rPr>
              <a:t>块最</a:t>
            </a:r>
            <a:r>
              <a:rPr spc="-5" dirty="0">
                <a:ea typeface="微软雅黑" panose="020B0503020204020204" charset="-122"/>
              </a:rPr>
              <a:t>为</a:t>
            </a:r>
            <a:r>
              <a:rPr spc="-10" dirty="0">
                <a:ea typeface="微软雅黑" panose="020B0503020204020204" charset="-122"/>
              </a:rPr>
              <a:t>基础</a:t>
            </a:r>
            <a:r>
              <a:rPr spc="-5" dirty="0">
                <a:ea typeface="微软雅黑" panose="020B0503020204020204" charset="-122"/>
              </a:rPr>
              <a:t>，</a:t>
            </a:r>
            <a:r>
              <a:rPr spc="-10" dirty="0">
                <a:ea typeface="微软雅黑" panose="020B0503020204020204" charset="-122"/>
              </a:rPr>
              <a:t>集中在 </a:t>
            </a:r>
            <a:r>
              <a:rPr spc="-5" dirty="0">
                <a:ea typeface="微软雅黑" panose="020B0503020204020204" charset="-122"/>
              </a:rPr>
              <a:t>销售战略，</a:t>
            </a:r>
            <a:r>
              <a:rPr spc="-10" dirty="0">
                <a:ea typeface="微软雅黑" panose="020B0503020204020204" charset="-122"/>
              </a:rPr>
              <a:t>客户</a:t>
            </a:r>
            <a:r>
              <a:rPr spc="-5" dirty="0">
                <a:ea typeface="微软雅黑" panose="020B0503020204020204" charset="-122"/>
              </a:rPr>
              <a:t>管</a:t>
            </a:r>
            <a:r>
              <a:rPr spc="-10" dirty="0">
                <a:ea typeface="微软雅黑" panose="020B0503020204020204" charset="-122"/>
              </a:rPr>
              <a:t>理和</a:t>
            </a:r>
            <a:r>
              <a:rPr spc="-5" dirty="0">
                <a:ea typeface="微软雅黑" panose="020B0503020204020204" charset="-122"/>
              </a:rPr>
              <a:t>渠</a:t>
            </a:r>
            <a:r>
              <a:rPr spc="-10" dirty="0">
                <a:ea typeface="微软雅黑" panose="020B0503020204020204" charset="-122"/>
              </a:rPr>
              <a:t>道管</a:t>
            </a:r>
            <a:r>
              <a:rPr spc="-5" dirty="0">
                <a:ea typeface="微软雅黑" panose="020B0503020204020204" charset="-122"/>
              </a:rPr>
              <a:t>理</a:t>
            </a:r>
            <a:r>
              <a:rPr spc="-10" dirty="0">
                <a:ea typeface="微软雅黑" panose="020B0503020204020204" charset="-122"/>
              </a:rPr>
              <a:t>三大</a:t>
            </a:r>
            <a:r>
              <a:rPr spc="-5" dirty="0">
                <a:ea typeface="微软雅黑" panose="020B0503020204020204" charset="-122"/>
              </a:rPr>
              <a:t>范</a:t>
            </a:r>
            <a:r>
              <a:rPr spc="-10" dirty="0">
                <a:ea typeface="微软雅黑" panose="020B0503020204020204" charset="-122"/>
              </a:rPr>
              <a:t>畴</a:t>
            </a:r>
            <a:endParaRPr spc="-10" dirty="0">
              <a:ea typeface="微软雅黑" panose="020B0503020204020204" charset="-122"/>
            </a:endParaRPr>
          </a:p>
        </p:txBody>
      </p:sp>
      <p:sp>
        <p:nvSpPr>
          <p:cNvPr id="4" name="object 4"/>
          <p:cNvSpPr txBox="1"/>
          <p:nvPr/>
        </p:nvSpPr>
        <p:spPr>
          <a:xfrm>
            <a:off x="7449366" y="566178"/>
            <a:ext cx="634550" cy="196215"/>
          </a:xfrm>
          <a:prstGeom prst="rect">
            <a:avLst/>
          </a:prstGeom>
        </p:spPr>
        <p:txBody>
          <a:bodyPr vert="horz" wrap="square" lIns="0" tIns="12691" rIns="0" bIns="0" rtlCol="0">
            <a:spAutoFit/>
          </a:bodyPr>
          <a:lstStyle/>
          <a:p>
            <a:pPr marL="12700">
              <a:lnSpc>
                <a:spcPct val="100000"/>
              </a:lnSpc>
              <a:spcBef>
                <a:spcPts val="100"/>
              </a:spcBef>
            </a:pPr>
            <a:r>
              <a:rPr sz="1200" dirty="0">
                <a:latin typeface="微软雅黑" panose="020B0503020204020204" charset="-122"/>
                <a:ea typeface="微软雅黑" panose="020B0503020204020204" charset="-122"/>
                <a:cs typeface="微软雅黑" panose="020B0503020204020204" charset="-122"/>
              </a:rPr>
              <a:t>核心基础</a:t>
            </a:r>
            <a:endParaRPr sz="1200" dirty="0">
              <a:latin typeface="微软雅黑" panose="020B0503020204020204" charset="-122"/>
              <a:ea typeface="微软雅黑" panose="020B0503020204020204" charset="-122"/>
              <a:cs typeface="微软雅黑" panose="020B0503020204020204" charset="-122"/>
            </a:endParaRPr>
          </a:p>
        </p:txBody>
      </p:sp>
      <p:sp>
        <p:nvSpPr>
          <p:cNvPr id="5" name="object 5"/>
          <p:cNvSpPr/>
          <p:nvPr/>
        </p:nvSpPr>
        <p:spPr>
          <a:xfrm>
            <a:off x="7206461" y="600824"/>
            <a:ext cx="166252" cy="159907"/>
          </a:xfrm>
          <a:custGeom>
            <a:avLst/>
            <a:gdLst/>
            <a:ahLst/>
            <a:cxnLst/>
            <a:rect l="l" t="t" r="r" b="b"/>
            <a:pathLst>
              <a:path w="166370" h="160020">
                <a:moveTo>
                  <a:pt x="0" y="160020"/>
                </a:moveTo>
                <a:lnTo>
                  <a:pt x="166116" y="160020"/>
                </a:lnTo>
                <a:lnTo>
                  <a:pt x="166116" y="0"/>
                </a:lnTo>
                <a:lnTo>
                  <a:pt x="0" y="0"/>
                </a:lnTo>
                <a:lnTo>
                  <a:pt x="0" y="16002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183512" y="1257965"/>
            <a:ext cx="8622904" cy="4884134"/>
          </a:xfrm>
          <a:custGeom>
            <a:avLst/>
            <a:gdLst/>
            <a:ahLst/>
            <a:cxnLst/>
            <a:rect l="l" t="t" r="r" b="b"/>
            <a:pathLst>
              <a:path w="8629015" h="4887595">
                <a:moveTo>
                  <a:pt x="7748142" y="0"/>
                </a:moveTo>
                <a:lnTo>
                  <a:pt x="0" y="0"/>
                </a:lnTo>
                <a:lnTo>
                  <a:pt x="0" y="4887468"/>
                </a:lnTo>
                <a:lnTo>
                  <a:pt x="7748142" y="4887468"/>
                </a:lnTo>
                <a:lnTo>
                  <a:pt x="8628888" y="2443734"/>
                </a:lnTo>
                <a:lnTo>
                  <a:pt x="7748142"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7476207" y="2468306"/>
            <a:ext cx="0" cy="1852887"/>
          </a:xfrm>
          <a:custGeom>
            <a:avLst/>
            <a:gdLst/>
            <a:ahLst/>
            <a:cxnLst/>
            <a:rect l="l" t="t" r="r" b="b"/>
            <a:pathLst>
              <a:path h="1854200">
                <a:moveTo>
                  <a:pt x="0" y="0"/>
                </a:moveTo>
                <a:lnTo>
                  <a:pt x="0" y="1853945"/>
                </a:lnTo>
              </a:path>
            </a:pathLst>
          </a:custGeom>
          <a:ln w="35433">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189603" y="4852058"/>
            <a:ext cx="8339894" cy="0"/>
          </a:xfrm>
          <a:custGeom>
            <a:avLst/>
            <a:gdLst/>
            <a:ahLst/>
            <a:cxnLst/>
            <a:rect l="l" t="t" r="r" b="b"/>
            <a:pathLst>
              <a:path w="8345805">
                <a:moveTo>
                  <a:pt x="8345423" y="0"/>
                </a:moveTo>
                <a:lnTo>
                  <a:pt x="0" y="0"/>
                </a:lnTo>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189603" y="5732306"/>
            <a:ext cx="8020081" cy="0"/>
          </a:xfrm>
          <a:custGeom>
            <a:avLst/>
            <a:gdLst/>
            <a:ahLst/>
            <a:cxnLst/>
            <a:rect l="l" t="t" r="r" b="b"/>
            <a:pathLst>
              <a:path w="8025765">
                <a:moveTo>
                  <a:pt x="8025383" y="0"/>
                </a:moveTo>
                <a:lnTo>
                  <a:pt x="0" y="0"/>
                </a:lnTo>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5198489" y="1256442"/>
            <a:ext cx="2258999" cy="1215798"/>
          </a:xfrm>
          <a:custGeom>
            <a:avLst/>
            <a:gdLst/>
            <a:ahLst/>
            <a:cxnLst/>
            <a:rect l="l" t="t" r="r" b="b"/>
            <a:pathLst>
              <a:path w="2260600" h="1216660">
                <a:moveTo>
                  <a:pt x="1817497" y="0"/>
                </a:moveTo>
                <a:lnTo>
                  <a:pt x="0" y="1650"/>
                </a:lnTo>
                <a:lnTo>
                  <a:pt x="444246" y="1216152"/>
                </a:lnTo>
                <a:lnTo>
                  <a:pt x="2260092" y="1216152"/>
                </a:lnTo>
                <a:lnTo>
                  <a:pt x="1817497"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5198489" y="1256442"/>
            <a:ext cx="2258999" cy="1215798"/>
          </a:xfrm>
          <a:custGeom>
            <a:avLst/>
            <a:gdLst/>
            <a:ahLst/>
            <a:cxnLst/>
            <a:rect l="l" t="t" r="r" b="b"/>
            <a:pathLst>
              <a:path w="2260600" h="1216660">
                <a:moveTo>
                  <a:pt x="0" y="1650"/>
                </a:moveTo>
                <a:lnTo>
                  <a:pt x="1817497" y="0"/>
                </a:lnTo>
                <a:lnTo>
                  <a:pt x="2260092" y="1216152"/>
                </a:lnTo>
                <a:lnTo>
                  <a:pt x="444246" y="1216152"/>
                </a:lnTo>
                <a:lnTo>
                  <a:pt x="0" y="1650"/>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1993248" y="2474651"/>
            <a:ext cx="76146" cy="1833850"/>
          </a:xfrm>
          <a:custGeom>
            <a:avLst/>
            <a:gdLst/>
            <a:ahLst/>
            <a:cxnLst/>
            <a:rect l="l" t="t" r="r" b="b"/>
            <a:pathLst>
              <a:path w="76200" h="1835150">
                <a:moveTo>
                  <a:pt x="28522" y="1758950"/>
                </a:moveTo>
                <a:lnTo>
                  <a:pt x="0" y="1759330"/>
                </a:lnTo>
                <a:lnTo>
                  <a:pt x="39115" y="1835022"/>
                </a:lnTo>
                <a:lnTo>
                  <a:pt x="69648" y="1771649"/>
                </a:lnTo>
                <a:lnTo>
                  <a:pt x="28701" y="1771649"/>
                </a:lnTo>
                <a:lnTo>
                  <a:pt x="28522" y="1758950"/>
                </a:lnTo>
                <a:close/>
              </a:path>
              <a:path w="76200" h="1835150">
                <a:moveTo>
                  <a:pt x="47572" y="1758695"/>
                </a:moveTo>
                <a:lnTo>
                  <a:pt x="28522" y="1758950"/>
                </a:lnTo>
                <a:lnTo>
                  <a:pt x="28701" y="1771649"/>
                </a:lnTo>
                <a:lnTo>
                  <a:pt x="47751" y="1771395"/>
                </a:lnTo>
                <a:lnTo>
                  <a:pt x="47572" y="1758695"/>
                </a:lnTo>
                <a:close/>
              </a:path>
              <a:path w="76200" h="1835150">
                <a:moveTo>
                  <a:pt x="76073" y="1758314"/>
                </a:moveTo>
                <a:lnTo>
                  <a:pt x="47572" y="1758695"/>
                </a:lnTo>
                <a:lnTo>
                  <a:pt x="47751" y="1771395"/>
                </a:lnTo>
                <a:lnTo>
                  <a:pt x="28701" y="1771649"/>
                </a:lnTo>
                <a:lnTo>
                  <a:pt x="69648" y="1771649"/>
                </a:lnTo>
                <a:lnTo>
                  <a:pt x="76073" y="1758314"/>
                </a:lnTo>
                <a:close/>
              </a:path>
              <a:path w="76200" h="1835150">
                <a:moveTo>
                  <a:pt x="22732" y="0"/>
                </a:moveTo>
                <a:lnTo>
                  <a:pt x="3682" y="253"/>
                </a:lnTo>
                <a:lnTo>
                  <a:pt x="28522" y="1758950"/>
                </a:lnTo>
                <a:lnTo>
                  <a:pt x="47572" y="1758695"/>
                </a:lnTo>
                <a:lnTo>
                  <a:pt x="22732" y="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7927563" y="1257965"/>
            <a:ext cx="437205" cy="1217067"/>
          </a:xfrm>
          <a:custGeom>
            <a:avLst/>
            <a:gdLst/>
            <a:ahLst/>
            <a:cxnLst/>
            <a:rect l="l" t="t" r="r" b="b"/>
            <a:pathLst>
              <a:path w="437515" h="1217930">
                <a:moveTo>
                  <a:pt x="0" y="0"/>
                </a:moveTo>
                <a:lnTo>
                  <a:pt x="437388" y="1217676"/>
                </a:lnTo>
              </a:path>
            </a:pathLst>
          </a:custGeom>
          <a:ln w="19049">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1564801" y="1256442"/>
            <a:ext cx="4075715" cy="1215798"/>
          </a:xfrm>
          <a:custGeom>
            <a:avLst/>
            <a:gdLst/>
            <a:ahLst/>
            <a:cxnLst/>
            <a:rect l="l" t="t" r="r" b="b"/>
            <a:pathLst>
              <a:path w="4078604" h="1216660">
                <a:moveTo>
                  <a:pt x="0" y="0"/>
                </a:moveTo>
                <a:lnTo>
                  <a:pt x="437769" y="1214501"/>
                </a:lnTo>
                <a:lnTo>
                  <a:pt x="4078224" y="1216152"/>
                </a:lnTo>
                <a:lnTo>
                  <a:pt x="3635629" y="4825"/>
                </a:lnTo>
                <a:lnTo>
                  <a:pt x="0"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1564801" y="1256442"/>
            <a:ext cx="4075715" cy="1215798"/>
          </a:xfrm>
          <a:custGeom>
            <a:avLst/>
            <a:gdLst/>
            <a:ahLst/>
            <a:cxnLst/>
            <a:rect l="l" t="t" r="r" b="b"/>
            <a:pathLst>
              <a:path w="4078604" h="1216660">
                <a:moveTo>
                  <a:pt x="0" y="0"/>
                </a:moveTo>
                <a:lnTo>
                  <a:pt x="3635629" y="4825"/>
                </a:lnTo>
                <a:lnTo>
                  <a:pt x="4078224" y="1216152"/>
                </a:lnTo>
                <a:lnTo>
                  <a:pt x="437769" y="1214501"/>
                </a:lnTo>
                <a:lnTo>
                  <a:pt x="0" y="0"/>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p:nvPr/>
        </p:nvSpPr>
        <p:spPr>
          <a:xfrm>
            <a:off x="185034" y="1257965"/>
            <a:ext cx="1819890" cy="1213895"/>
          </a:xfrm>
          <a:custGeom>
            <a:avLst/>
            <a:gdLst/>
            <a:ahLst/>
            <a:cxnLst/>
            <a:rect l="l" t="t" r="r" b="b"/>
            <a:pathLst>
              <a:path w="1821180" h="1214755">
                <a:moveTo>
                  <a:pt x="1385062" y="0"/>
                </a:moveTo>
                <a:lnTo>
                  <a:pt x="0" y="0"/>
                </a:lnTo>
                <a:lnTo>
                  <a:pt x="0" y="1214627"/>
                </a:lnTo>
                <a:lnTo>
                  <a:pt x="1821179" y="1214627"/>
                </a:lnTo>
                <a:lnTo>
                  <a:pt x="1385062"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p:nvPr/>
        </p:nvSpPr>
        <p:spPr>
          <a:xfrm>
            <a:off x="185034" y="1257965"/>
            <a:ext cx="1819890" cy="1213895"/>
          </a:xfrm>
          <a:custGeom>
            <a:avLst/>
            <a:gdLst/>
            <a:ahLst/>
            <a:cxnLst/>
            <a:rect l="l" t="t" r="r" b="b"/>
            <a:pathLst>
              <a:path w="1821180" h="1214755">
                <a:moveTo>
                  <a:pt x="1385062" y="0"/>
                </a:moveTo>
                <a:lnTo>
                  <a:pt x="0" y="0"/>
                </a:lnTo>
                <a:lnTo>
                  <a:pt x="0" y="1214627"/>
                </a:lnTo>
                <a:lnTo>
                  <a:pt x="1821179" y="1214627"/>
                </a:lnTo>
                <a:lnTo>
                  <a:pt x="1385062" y="0"/>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p:nvPr/>
        </p:nvSpPr>
        <p:spPr>
          <a:xfrm>
            <a:off x="4730952" y="2471733"/>
            <a:ext cx="909311" cy="1840196"/>
          </a:xfrm>
          <a:custGeom>
            <a:avLst/>
            <a:gdLst/>
            <a:ahLst/>
            <a:cxnLst/>
            <a:rect l="l" t="t" r="r" b="b"/>
            <a:pathLst>
              <a:path w="909954" h="1841500">
                <a:moveTo>
                  <a:pt x="0" y="1840992"/>
                </a:moveTo>
                <a:lnTo>
                  <a:pt x="909827" y="1840992"/>
                </a:lnTo>
                <a:lnTo>
                  <a:pt x="909827" y="0"/>
                </a:lnTo>
                <a:lnTo>
                  <a:pt x="0" y="0"/>
                </a:lnTo>
                <a:lnTo>
                  <a:pt x="0" y="1840992"/>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p:nvPr/>
        </p:nvSpPr>
        <p:spPr>
          <a:xfrm>
            <a:off x="4730952" y="2471733"/>
            <a:ext cx="909311" cy="1840196"/>
          </a:xfrm>
          <a:custGeom>
            <a:avLst/>
            <a:gdLst/>
            <a:ahLst/>
            <a:cxnLst/>
            <a:rect l="l" t="t" r="r" b="b"/>
            <a:pathLst>
              <a:path w="909954" h="1841500">
                <a:moveTo>
                  <a:pt x="0" y="1840992"/>
                </a:moveTo>
                <a:lnTo>
                  <a:pt x="909827" y="1840992"/>
                </a:lnTo>
                <a:lnTo>
                  <a:pt x="909827" y="0"/>
                </a:lnTo>
                <a:lnTo>
                  <a:pt x="0" y="0"/>
                </a:lnTo>
                <a:lnTo>
                  <a:pt x="0" y="1840992"/>
                </a:lnTo>
                <a:close/>
              </a:path>
            </a:pathLst>
          </a:custGeom>
          <a:ln w="19049">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p:nvPr/>
        </p:nvSpPr>
        <p:spPr>
          <a:xfrm>
            <a:off x="5640137" y="2471733"/>
            <a:ext cx="909311" cy="1840196"/>
          </a:xfrm>
          <a:custGeom>
            <a:avLst/>
            <a:gdLst/>
            <a:ahLst/>
            <a:cxnLst/>
            <a:rect l="l" t="t" r="r" b="b"/>
            <a:pathLst>
              <a:path w="909954" h="1841500">
                <a:moveTo>
                  <a:pt x="0" y="1840992"/>
                </a:moveTo>
                <a:lnTo>
                  <a:pt x="909828" y="1840992"/>
                </a:lnTo>
                <a:lnTo>
                  <a:pt x="909828" y="0"/>
                </a:lnTo>
                <a:lnTo>
                  <a:pt x="0" y="0"/>
                </a:lnTo>
                <a:lnTo>
                  <a:pt x="0" y="1840992"/>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1" name="object 21"/>
          <p:cNvSpPr/>
          <p:nvPr/>
        </p:nvSpPr>
        <p:spPr>
          <a:xfrm>
            <a:off x="6549319" y="2471733"/>
            <a:ext cx="909311" cy="1840196"/>
          </a:xfrm>
          <a:custGeom>
            <a:avLst/>
            <a:gdLst/>
            <a:ahLst/>
            <a:cxnLst/>
            <a:rect l="l" t="t" r="r" b="b"/>
            <a:pathLst>
              <a:path w="909954" h="1841500">
                <a:moveTo>
                  <a:pt x="0" y="1840992"/>
                </a:moveTo>
                <a:lnTo>
                  <a:pt x="909827" y="1840992"/>
                </a:lnTo>
                <a:lnTo>
                  <a:pt x="909827" y="0"/>
                </a:lnTo>
                <a:lnTo>
                  <a:pt x="0" y="0"/>
                </a:lnTo>
                <a:lnTo>
                  <a:pt x="0" y="1840992"/>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6549319" y="2471733"/>
            <a:ext cx="909311" cy="1840196"/>
          </a:xfrm>
          <a:custGeom>
            <a:avLst/>
            <a:gdLst/>
            <a:ahLst/>
            <a:cxnLst/>
            <a:rect l="l" t="t" r="r" b="b"/>
            <a:pathLst>
              <a:path w="909954" h="1841500">
                <a:moveTo>
                  <a:pt x="0" y="1840992"/>
                </a:moveTo>
                <a:lnTo>
                  <a:pt x="909827" y="1840992"/>
                </a:lnTo>
                <a:lnTo>
                  <a:pt x="909827" y="0"/>
                </a:lnTo>
                <a:lnTo>
                  <a:pt x="0" y="0"/>
                </a:lnTo>
                <a:lnTo>
                  <a:pt x="0" y="1840992"/>
                </a:lnTo>
                <a:close/>
              </a:path>
            </a:pathLst>
          </a:custGeom>
          <a:ln w="19049">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p:nvPr/>
        </p:nvSpPr>
        <p:spPr>
          <a:xfrm>
            <a:off x="3821769" y="2471733"/>
            <a:ext cx="909311" cy="1840196"/>
          </a:xfrm>
          <a:custGeom>
            <a:avLst/>
            <a:gdLst/>
            <a:ahLst/>
            <a:cxnLst/>
            <a:rect l="l" t="t" r="r" b="b"/>
            <a:pathLst>
              <a:path w="909954" h="1841500">
                <a:moveTo>
                  <a:pt x="0" y="1840992"/>
                </a:moveTo>
                <a:lnTo>
                  <a:pt x="909827" y="1840992"/>
                </a:lnTo>
                <a:lnTo>
                  <a:pt x="909827" y="0"/>
                </a:lnTo>
                <a:lnTo>
                  <a:pt x="0" y="0"/>
                </a:lnTo>
                <a:lnTo>
                  <a:pt x="0" y="1840992"/>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p:nvPr/>
        </p:nvSpPr>
        <p:spPr>
          <a:xfrm>
            <a:off x="2915632" y="2471733"/>
            <a:ext cx="908041" cy="1840196"/>
          </a:xfrm>
          <a:custGeom>
            <a:avLst/>
            <a:gdLst/>
            <a:ahLst/>
            <a:cxnLst/>
            <a:rect l="l" t="t" r="r" b="b"/>
            <a:pathLst>
              <a:path w="908685" h="1841500">
                <a:moveTo>
                  <a:pt x="0" y="1840992"/>
                </a:moveTo>
                <a:lnTo>
                  <a:pt x="908303" y="1840992"/>
                </a:lnTo>
                <a:lnTo>
                  <a:pt x="908303" y="0"/>
                </a:lnTo>
                <a:lnTo>
                  <a:pt x="0" y="0"/>
                </a:lnTo>
                <a:lnTo>
                  <a:pt x="0" y="1840992"/>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5" name="object 25"/>
          <p:cNvSpPr/>
          <p:nvPr/>
        </p:nvSpPr>
        <p:spPr>
          <a:xfrm>
            <a:off x="2004924" y="2471733"/>
            <a:ext cx="909311" cy="1840196"/>
          </a:xfrm>
          <a:custGeom>
            <a:avLst/>
            <a:gdLst/>
            <a:ahLst/>
            <a:cxnLst/>
            <a:rect l="l" t="t" r="r" b="b"/>
            <a:pathLst>
              <a:path w="909955" h="1841500">
                <a:moveTo>
                  <a:pt x="0" y="1840992"/>
                </a:moveTo>
                <a:lnTo>
                  <a:pt x="909828" y="1840992"/>
                </a:lnTo>
                <a:lnTo>
                  <a:pt x="909828" y="0"/>
                </a:lnTo>
                <a:lnTo>
                  <a:pt x="0" y="0"/>
                </a:lnTo>
                <a:lnTo>
                  <a:pt x="0" y="1840992"/>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6" name="object 26"/>
          <p:cNvSpPr/>
          <p:nvPr/>
        </p:nvSpPr>
        <p:spPr>
          <a:xfrm>
            <a:off x="1095740" y="2471733"/>
            <a:ext cx="909311" cy="1840196"/>
          </a:xfrm>
          <a:custGeom>
            <a:avLst/>
            <a:gdLst/>
            <a:ahLst/>
            <a:cxnLst/>
            <a:rect l="l" t="t" r="r" b="b"/>
            <a:pathLst>
              <a:path w="909955" h="1841500">
                <a:moveTo>
                  <a:pt x="0" y="1840992"/>
                </a:moveTo>
                <a:lnTo>
                  <a:pt x="909828" y="1840992"/>
                </a:lnTo>
                <a:lnTo>
                  <a:pt x="909828" y="0"/>
                </a:lnTo>
                <a:lnTo>
                  <a:pt x="0" y="0"/>
                </a:lnTo>
                <a:lnTo>
                  <a:pt x="0" y="1840992"/>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7" name="object 27"/>
          <p:cNvSpPr/>
          <p:nvPr/>
        </p:nvSpPr>
        <p:spPr>
          <a:xfrm>
            <a:off x="185034" y="2471733"/>
            <a:ext cx="909311" cy="1840196"/>
          </a:xfrm>
          <a:custGeom>
            <a:avLst/>
            <a:gdLst/>
            <a:ahLst/>
            <a:cxnLst/>
            <a:rect l="l" t="t" r="r" b="b"/>
            <a:pathLst>
              <a:path w="909955" h="1841500">
                <a:moveTo>
                  <a:pt x="0" y="1840992"/>
                </a:moveTo>
                <a:lnTo>
                  <a:pt x="909828" y="1840992"/>
                </a:lnTo>
                <a:lnTo>
                  <a:pt x="909828" y="0"/>
                </a:lnTo>
                <a:lnTo>
                  <a:pt x="0" y="0"/>
                </a:lnTo>
                <a:lnTo>
                  <a:pt x="0" y="1840992"/>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p:nvPr/>
        </p:nvSpPr>
        <p:spPr>
          <a:xfrm>
            <a:off x="185034" y="2471733"/>
            <a:ext cx="909311" cy="1840196"/>
          </a:xfrm>
          <a:custGeom>
            <a:avLst/>
            <a:gdLst/>
            <a:ahLst/>
            <a:cxnLst/>
            <a:rect l="l" t="t" r="r" b="b"/>
            <a:pathLst>
              <a:path w="909955" h="1841500">
                <a:moveTo>
                  <a:pt x="0" y="1840992"/>
                </a:moveTo>
                <a:lnTo>
                  <a:pt x="909828" y="1840992"/>
                </a:lnTo>
                <a:lnTo>
                  <a:pt x="909828" y="0"/>
                </a:lnTo>
                <a:lnTo>
                  <a:pt x="0" y="0"/>
                </a:lnTo>
                <a:lnTo>
                  <a:pt x="0" y="1840992"/>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9" name="object 29"/>
          <p:cNvSpPr/>
          <p:nvPr/>
        </p:nvSpPr>
        <p:spPr>
          <a:xfrm>
            <a:off x="7458504" y="2470210"/>
            <a:ext cx="1331286" cy="1844638"/>
          </a:xfrm>
          <a:custGeom>
            <a:avLst/>
            <a:gdLst/>
            <a:ahLst/>
            <a:cxnLst/>
            <a:rect l="l" t="t" r="r" b="b"/>
            <a:pathLst>
              <a:path w="1332229" h="1845945">
                <a:moveTo>
                  <a:pt x="0" y="0"/>
                </a:moveTo>
                <a:lnTo>
                  <a:pt x="0" y="1845564"/>
                </a:lnTo>
                <a:lnTo>
                  <a:pt x="1111250" y="1811782"/>
                </a:lnTo>
                <a:lnTo>
                  <a:pt x="1331976" y="1203706"/>
                </a:lnTo>
                <a:lnTo>
                  <a:pt x="910843" y="4445"/>
                </a:lnTo>
                <a:lnTo>
                  <a:pt x="0"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0" name="object 30"/>
          <p:cNvSpPr/>
          <p:nvPr/>
        </p:nvSpPr>
        <p:spPr>
          <a:xfrm>
            <a:off x="7458504" y="2470210"/>
            <a:ext cx="1331286" cy="1844638"/>
          </a:xfrm>
          <a:custGeom>
            <a:avLst/>
            <a:gdLst/>
            <a:ahLst/>
            <a:cxnLst/>
            <a:rect l="l" t="t" r="r" b="b"/>
            <a:pathLst>
              <a:path w="1332229" h="1845945">
                <a:moveTo>
                  <a:pt x="0" y="0"/>
                </a:moveTo>
                <a:lnTo>
                  <a:pt x="0" y="1845564"/>
                </a:lnTo>
                <a:lnTo>
                  <a:pt x="1111250" y="1811782"/>
                </a:lnTo>
                <a:lnTo>
                  <a:pt x="1331976" y="1203706"/>
                </a:lnTo>
                <a:lnTo>
                  <a:pt x="910843" y="4445"/>
                </a:lnTo>
                <a:lnTo>
                  <a:pt x="0" y="0"/>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1" name="object 31"/>
          <p:cNvSpPr/>
          <p:nvPr/>
        </p:nvSpPr>
        <p:spPr>
          <a:xfrm>
            <a:off x="7016857" y="1253396"/>
            <a:ext cx="1354130" cy="1218337"/>
          </a:xfrm>
          <a:custGeom>
            <a:avLst/>
            <a:gdLst/>
            <a:ahLst/>
            <a:cxnLst/>
            <a:rect l="l" t="t" r="r" b="b"/>
            <a:pathLst>
              <a:path w="1355090" h="1219200">
                <a:moveTo>
                  <a:pt x="0" y="0"/>
                </a:moveTo>
                <a:lnTo>
                  <a:pt x="442975" y="1219200"/>
                </a:lnTo>
                <a:lnTo>
                  <a:pt x="1354836" y="1219200"/>
                </a:lnTo>
                <a:lnTo>
                  <a:pt x="908685" y="4825"/>
                </a:lnTo>
                <a:lnTo>
                  <a:pt x="0"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2" name="object 32"/>
          <p:cNvSpPr/>
          <p:nvPr/>
        </p:nvSpPr>
        <p:spPr>
          <a:xfrm>
            <a:off x="7016857" y="1253396"/>
            <a:ext cx="1354130" cy="1218337"/>
          </a:xfrm>
          <a:custGeom>
            <a:avLst/>
            <a:gdLst/>
            <a:ahLst/>
            <a:cxnLst/>
            <a:rect l="l" t="t" r="r" b="b"/>
            <a:pathLst>
              <a:path w="1355090" h="1219200">
                <a:moveTo>
                  <a:pt x="0" y="0"/>
                </a:moveTo>
                <a:lnTo>
                  <a:pt x="908685" y="4825"/>
                </a:lnTo>
                <a:lnTo>
                  <a:pt x="1354836" y="1219200"/>
                </a:lnTo>
                <a:lnTo>
                  <a:pt x="442975" y="1219200"/>
                </a:lnTo>
                <a:lnTo>
                  <a:pt x="0" y="0"/>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3" name="object 33"/>
          <p:cNvSpPr txBox="1"/>
          <p:nvPr/>
        </p:nvSpPr>
        <p:spPr>
          <a:xfrm>
            <a:off x="252296" y="1733624"/>
            <a:ext cx="741155" cy="227965"/>
          </a:xfrm>
          <a:prstGeom prst="rect">
            <a:avLst/>
          </a:prstGeom>
        </p:spPr>
        <p:txBody>
          <a:bodyPr vert="horz" wrap="square" lIns="0" tIns="13325" rIns="0" bIns="0" rtlCol="0">
            <a:spAutoFit/>
          </a:bodyPr>
          <a:lstStyle/>
          <a:p>
            <a:pPr marL="12700">
              <a:lnSpc>
                <a:spcPct val="100000"/>
              </a:lnSpc>
              <a:spcBef>
                <a:spcPts val="105"/>
              </a:spcBef>
            </a:pPr>
            <a:r>
              <a:rPr sz="1400" b="1" spc="10" dirty="0">
                <a:solidFill>
                  <a:srgbClr val="00295F"/>
                </a:solidFill>
                <a:latin typeface="微软雅黑" panose="020B0503020204020204" charset="-122"/>
                <a:ea typeface="微软雅黑" panose="020B0503020204020204" charset="-122"/>
                <a:cs typeface="微软雅黑" panose="020B0503020204020204" charset="-122"/>
              </a:rPr>
              <a:t>销售</a:t>
            </a:r>
            <a:r>
              <a:rPr sz="1400" b="1" dirty="0">
                <a:solidFill>
                  <a:srgbClr val="00295F"/>
                </a:solidFill>
                <a:latin typeface="微软雅黑" panose="020B0503020204020204" charset="-122"/>
                <a:ea typeface="微软雅黑" panose="020B0503020204020204" charset="-122"/>
                <a:cs typeface="微软雅黑" panose="020B0503020204020204" charset="-122"/>
              </a:rPr>
              <a:t>战略</a:t>
            </a:r>
            <a:endParaRPr sz="1400">
              <a:latin typeface="微软雅黑" panose="020B0503020204020204" charset="-122"/>
              <a:ea typeface="微软雅黑" panose="020B0503020204020204" charset="-122"/>
              <a:cs typeface="微软雅黑" panose="020B0503020204020204" charset="-122"/>
            </a:endParaRPr>
          </a:p>
        </p:txBody>
      </p:sp>
      <p:sp>
        <p:nvSpPr>
          <p:cNvPr id="34" name="object 34"/>
          <p:cNvSpPr txBox="1"/>
          <p:nvPr/>
        </p:nvSpPr>
        <p:spPr>
          <a:xfrm>
            <a:off x="2124601" y="1733116"/>
            <a:ext cx="741155" cy="227965"/>
          </a:xfrm>
          <a:prstGeom prst="rect">
            <a:avLst/>
          </a:prstGeom>
        </p:spPr>
        <p:txBody>
          <a:bodyPr vert="horz" wrap="square" lIns="0" tIns="13325" rIns="0" bIns="0" rtlCol="0">
            <a:spAutoFit/>
          </a:bodyPr>
          <a:lstStyle/>
          <a:p>
            <a:pPr marL="12700">
              <a:lnSpc>
                <a:spcPct val="100000"/>
              </a:lnSpc>
              <a:spcBef>
                <a:spcPts val="105"/>
              </a:spcBef>
            </a:pPr>
            <a:r>
              <a:rPr sz="1400" b="1" spc="10" dirty="0">
                <a:solidFill>
                  <a:srgbClr val="00295F"/>
                </a:solidFill>
                <a:latin typeface="微软雅黑" panose="020B0503020204020204" charset="-122"/>
                <a:ea typeface="微软雅黑" panose="020B0503020204020204" charset="-122"/>
                <a:cs typeface="微软雅黑" panose="020B0503020204020204" charset="-122"/>
              </a:rPr>
              <a:t>客户</a:t>
            </a:r>
            <a:r>
              <a:rPr sz="1400" b="1" dirty="0">
                <a:solidFill>
                  <a:srgbClr val="00295F"/>
                </a:solidFill>
                <a:latin typeface="微软雅黑" panose="020B0503020204020204" charset="-122"/>
                <a:ea typeface="微软雅黑" panose="020B0503020204020204" charset="-122"/>
                <a:cs typeface="微软雅黑" panose="020B0503020204020204" charset="-122"/>
              </a:rPr>
              <a:t>管理</a:t>
            </a:r>
            <a:endParaRPr sz="1400">
              <a:latin typeface="微软雅黑" panose="020B0503020204020204" charset="-122"/>
              <a:ea typeface="微软雅黑" panose="020B0503020204020204" charset="-122"/>
              <a:cs typeface="微软雅黑" panose="020B0503020204020204" charset="-122"/>
            </a:endParaRPr>
          </a:p>
        </p:txBody>
      </p:sp>
      <p:sp>
        <p:nvSpPr>
          <p:cNvPr id="35" name="object 35"/>
          <p:cNvSpPr txBox="1"/>
          <p:nvPr/>
        </p:nvSpPr>
        <p:spPr>
          <a:xfrm>
            <a:off x="5729355" y="1733624"/>
            <a:ext cx="741155" cy="227965"/>
          </a:xfrm>
          <a:prstGeom prst="rect">
            <a:avLst/>
          </a:prstGeom>
        </p:spPr>
        <p:txBody>
          <a:bodyPr vert="horz" wrap="square" lIns="0" tIns="13325" rIns="0" bIns="0" rtlCol="0">
            <a:spAutoFit/>
          </a:bodyPr>
          <a:lstStyle/>
          <a:p>
            <a:pPr marL="12700">
              <a:lnSpc>
                <a:spcPct val="100000"/>
              </a:lnSpc>
              <a:spcBef>
                <a:spcPts val="105"/>
              </a:spcBef>
            </a:pPr>
            <a:r>
              <a:rPr sz="1400" b="1" spc="10" dirty="0">
                <a:solidFill>
                  <a:srgbClr val="00295F"/>
                </a:solidFill>
                <a:latin typeface="微软雅黑" panose="020B0503020204020204" charset="-122"/>
                <a:ea typeface="微软雅黑" panose="020B0503020204020204" charset="-122"/>
                <a:cs typeface="微软雅黑" panose="020B0503020204020204" charset="-122"/>
              </a:rPr>
              <a:t>渠道</a:t>
            </a:r>
            <a:r>
              <a:rPr sz="1400" b="1" dirty="0">
                <a:solidFill>
                  <a:srgbClr val="00295F"/>
                </a:solidFill>
                <a:latin typeface="微软雅黑" panose="020B0503020204020204" charset="-122"/>
                <a:ea typeface="微软雅黑" panose="020B0503020204020204" charset="-122"/>
                <a:cs typeface="微软雅黑" panose="020B0503020204020204" charset="-122"/>
              </a:rPr>
              <a:t>管理</a:t>
            </a:r>
            <a:endParaRPr sz="1400">
              <a:latin typeface="微软雅黑" panose="020B0503020204020204" charset="-122"/>
              <a:ea typeface="微软雅黑" panose="020B0503020204020204" charset="-122"/>
              <a:cs typeface="微软雅黑" panose="020B0503020204020204" charset="-122"/>
            </a:endParaRPr>
          </a:p>
        </p:txBody>
      </p:sp>
      <p:sp>
        <p:nvSpPr>
          <p:cNvPr id="36" name="object 36"/>
          <p:cNvSpPr txBox="1"/>
          <p:nvPr/>
        </p:nvSpPr>
        <p:spPr>
          <a:xfrm>
            <a:off x="7368271" y="1733624"/>
            <a:ext cx="741155" cy="227965"/>
          </a:xfrm>
          <a:prstGeom prst="rect">
            <a:avLst/>
          </a:prstGeom>
        </p:spPr>
        <p:txBody>
          <a:bodyPr vert="horz" wrap="square" lIns="0" tIns="13325" rIns="0" bIns="0" rtlCol="0">
            <a:spAutoFit/>
          </a:bodyPr>
          <a:lstStyle/>
          <a:p>
            <a:pPr marL="12700">
              <a:lnSpc>
                <a:spcPct val="100000"/>
              </a:lnSpc>
              <a:spcBef>
                <a:spcPts val="105"/>
              </a:spcBef>
            </a:pPr>
            <a:r>
              <a:rPr sz="1400" b="1" spc="10" dirty="0">
                <a:solidFill>
                  <a:srgbClr val="00295F"/>
                </a:solidFill>
                <a:latin typeface="微软雅黑" panose="020B0503020204020204" charset="-122"/>
                <a:ea typeface="微软雅黑" panose="020B0503020204020204" charset="-122"/>
                <a:cs typeface="微软雅黑" panose="020B0503020204020204" charset="-122"/>
              </a:rPr>
              <a:t>市场</a:t>
            </a:r>
            <a:r>
              <a:rPr sz="1400" b="1" dirty="0">
                <a:solidFill>
                  <a:srgbClr val="00295F"/>
                </a:solidFill>
                <a:latin typeface="微软雅黑" panose="020B0503020204020204" charset="-122"/>
                <a:ea typeface="微软雅黑" panose="020B0503020204020204" charset="-122"/>
                <a:cs typeface="微软雅黑" panose="020B0503020204020204" charset="-122"/>
              </a:rPr>
              <a:t>推广</a:t>
            </a:r>
            <a:endParaRPr sz="1400">
              <a:latin typeface="微软雅黑" panose="020B0503020204020204" charset="-122"/>
              <a:ea typeface="微软雅黑" panose="020B0503020204020204" charset="-122"/>
              <a:cs typeface="微软雅黑" panose="020B0503020204020204" charset="-122"/>
            </a:endParaRPr>
          </a:p>
        </p:txBody>
      </p:sp>
      <p:sp>
        <p:nvSpPr>
          <p:cNvPr id="37" name="object 37"/>
          <p:cNvSpPr txBox="1"/>
          <p:nvPr/>
        </p:nvSpPr>
        <p:spPr>
          <a:xfrm>
            <a:off x="598304" y="5327767"/>
            <a:ext cx="1272908" cy="227330"/>
          </a:xfrm>
          <a:prstGeom prst="rect">
            <a:avLst/>
          </a:prstGeom>
        </p:spPr>
        <p:txBody>
          <a:bodyPr vert="horz" wrap="square" lIns="0" tIns="12691" rIns="0" bIns="0" rtlCol="0">
            <a:spAutoFit/>
          </a:bodyPr>
          <a:lstStyle/>
          <a:p>
            <a:pPr marL="12700">
              <a:lnSpc>
                <a:spcPct val="100000"/>
              </a:lnSpc>
              <a:spcBef>
                <a:spcPts val="100"/>
              </a:spcBef>
            </a:pPr>
            <a:r>
              <a:rPr sz="1400" dirty="0">
                <a:latin typeface="微软雅黑" panose="020B0503020204020204" charset="-122"/>
                <a:ea typeface="微软雅黑" panose="020B0503020204020204" charset="-122"/>
                <a:cs typeface="微软雅黑" panose="020B0503020204020204" charset="-122"/>
              </a:rPr>
              <a:t>绩效管理和激励</a:t>
            </a:r>
            <a:endParaRPr sz="1400" dirty="0">
              <a:latin typeface="微软雅黑" panose="020B0503020204020204" charset="-122"/>
              <a:ea typeface="微软雅黑" panose="020B0503020204020204" charset="-122"/>
              <a:cs typeface="微软雅黑" panose="020B0503020204020204" charset="-122"/>
            </a:endParaRPr>
          </a:p>
        </p:txBody>
      </p:sp>
      <p:sp>
        <p:nvSpPr>
          <p:cNvPr id="38" name="object 38"/>
          <p:cNvSpPr/>
          <p:nvPr/>
        </p:nvSpPr>
        <p:spPr>
          <a:xfrm>
            <a:off x="492664" y="2550924"/>
            <a:ext cx="295700" cy="292528"/>
          </a:xfrm>
          <a:custGeom>
            <a:avLst/>
            <a:gdLst/>
            <a:ahLst/>
            <a:cxnLst/>
            <a:rect l="l" t="t" r="r" b="b"/>
            <a:pathLst>
              <a:path w="295909" h="292735">
                <a:moveTo>
                  <a:pt x="147828" y="0"/>
                </a:moveTo>
                <a:lnTo>
                  <a:pt x="101100" y="7461"/>
                </a:lnTo>
                <a:lnTo>
                  <a:pt x="60520" y="28236"/>
                </a:lnTo>
                <a:lnTo>
                  <a:pt x="28520" y="59911"/>
                </a:lnTo>
                <a:lnTo>
                  <a:pt x="7535" y="100071"/>
                </a:lnTo>
                <a:lnTo>
                  <a:pt x="0" y="146303"/>
                </a:lnTo>
                <a:lnTo>
                  <a:pt x="7535" y="192536"/>
                </a:lnTo>
                <a:lnTo>
                  <a:pt x="28520" y="232696"/>
                </a:lnTo>
                <a:lnTo>
                  <a:pt x="60520" y="264371"/>
                </a:lnTo>
                <a:lnTo>
                  <a:pt x="101100" y="285146"/>
                </a:lnTo>
                <a:lnTo>
                  <a:pt x="147828" y="292607"/>
                </a:lnTo>
                <a:lnTo>
                  <a:pt x="194555" y="285146"/>
                </a:lnTo>
                <a:lnTo>
                  <a:pt x="235135" y="264371"/>
                </a:lnTo>
                <a:lnTo>
                  <a:pt x="267135" y="232696"/>
                </a:lnTo>
                <a:lnTo>
                  <a:pt x="288120" y="192536"/>
                </a:lnTo>
                <a:lnTo>
                  <a:pt x="295656" y="146303"/>
                </a:lnTo>
                <a:lnTo>
                  <a:pt x="288120" y="100071"/>
                </a:lnTo>
                <a:lnTo>
                  <a:pt x="267135" y="59911"/>
                </a:lnTo>
                <a:lnTo>
                  <a:pt x="235135" y="28236"/>
                </a:lnTo>
                <a:lnTo>
                  <a:pt x="194555" y="7461"/>
                </a:lnTo>
                <a:lnTo>
                  <a:pt x="147828"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9" name="object 39"/>
          <p:cNvSpPr/>
          <p:nvPr/>
        </p:nvSpPr>
        <p:spPr>
          <a:xfrm>
            <a:off x="492664" y="2550924"/>
            <a:ext cx="295700" cy="292528"/>
          </a:xfrm>
          <a:custGeom>
            <a:avLst/>
            <a:gdLst/>
            <a:ahLst/>
            <a:cxnLst/>
            <a:rect l="l" t="t" r="r" b="b"/>
            <a:pathLst>
              <a:path w="295909" h="292735">
                <a:moveTo>
                  <a:pt x="0" y="146303"/>
                </a:moveTo>
                <a:lnTo>
                  <a:pt x="7535" y="100071"/>
                </a:lnTo>
                <a:lnTo>
                  <a:pt x="28520" y="59911"/>
                </a:lnTo>
                <a:lnTo>
                  <a:pt x="60520" y="28236"/>
                </a:lnTo>
                <a:lnTo>
                  <a:pt x="101100" y="7461"/>
                </a:lnTo>
                <a:lnTo>
                  <a:pt x="147828" y="0"/>
                </a:lnTo>
                <a:lnTo>
                  <a:pt x="194555" y="7461"/>
                </a:lnTo>
                <a:lnTo>
                  <a:pt x="235135" y="28236"/>
                </a:lnTo>
                <a:lnTo>
                  <a:pt x="267135" y="59911"/>
                </a:lnTo>
                <a:lnTo>
                  <a:pt x="288120" y="100071"/>
                </a:lnTo>
                <a:lnTo>
                  <a:pt x="295656" y="146303"/>
                </a:lnTo>
                <a:lnTo>
                  <a:pt x="288120" y="192536"/>
                </a:lnTo>
                <a:lnTo>
                  <a:pt x="267135" y="232696"/>
                </a:lnTo>
                <a:lnTo>
                  <a:pt x="235135" y="264371"/>
                </a:lnTo>
                <a:lnTo>
                  <a:pt x="194555" y="285146"/>
                </a:lnTo>
                <a:lnTo>
                  <a:pt x="147828" y="292607"/>
                </a:lnTo>
                <a:lnTo>
                  <a:pt x="101100" y="285146"/>
                </a:lnTo>
                <a:lnTo>
                  <a:pt x="60520" y="264371"/>
                </a:lnTo>
                <a:lnTo>
                  <a:pt x="28520" y="232696"/>
                </a:lnTo>
                <a:lnTo>
                  <a:pt x="7535" y="192536"/>
                </a:lnTo>
                <a:lnTo>
                  <a:pt x="0" y="146303"/>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0" name="object 40"/>
          <p:cNvSpPr/>
          <p:nvPr/>
        </p:nvSpPr>
        <p:spPr>
          <a:xfrm>
            <a:off x="1401847" y="2550924"/>
            <a:ext cx="295700" cy="292528"/>
          </a:xfrm>
          <a:custGeom>
            <a:avLst/>
            <a:gdLst/>
            <a:ahLst/>
            <a:cxnLst/>
            <a:rect l="l" t="t" r="r" b="b"/>
            <a:pathLst>
              <a:path w="295910" h="292735">
                <a:moveTo>
                  <a:pt x="147828" y="0"/>
                </a:moveTo>
                <a:lnTo>
                  <a:pt x="101096" y="7461"/>
                </a:lnTo>
                <a:lnTo>
                  <a:pt x="60514" y="28236"/>
                </a:lnTo>
                <a:lnTo>
                  <a:pt x="28517" y="59911"/>
                </a:lnTo>
                <a:lnTo>
                  <a:pt x="7534" y="100071"/>
                </a:lnTo>
                <a:lnTo>
                  <a:pt x="0" y="146303"/>
                </a:lnTo>
                <a:lnTo>
                  <a:pt x="7534" y="192536"/>
                </a:lnTo>
                <a:lnTo>
                  <a:pt x="28517" y="232696"/>
                </a:lnTo>
                <a:lnTo>
                  <a:pt x="60514" y="264371"/>
                </a:lnTo>
                <a:lnTo>
                  <a:pt x="101096" y="285146"/>
                </a:lnTo>
                <a:lnTo>
                  <a:pt x="147828" y="292607"/>
                </a:lnTo>
                <a:lnTo>
                  <a:pt x="194559" y="285146"/>
                </a:lnTo>
                <a:lnTo>
                  <a:pt x="235141" y="264371"/>
                </a:lnTo>
                <a:lnTo>
                  <a:pt x="267138" y="232696"/>
                </a:lnTo>
                <a:lnTo>
                  <a:pt x="288121" y="192536"/>
                </a:lnTo>
                <a:lnTo>
                  <a:pt x="295656" y="146303"/>
                </a:lnTo>
                <a:lnTo>
                  <a:pt x="288121" y="100071"/>
                </a:lnTo>
                <a:lnTo>
                  <a:pt x="267138" y="59911"/>
                </a:lnTo>
                <a:lnTo>
                  <a:pt x="235141" y="28236"/>
                </a:lnTo>
                <a:lnTo>
                  <a:pt x="194559" y="7461"/>
                </a:lnTo>
                <a:lnTo>
                  <a:pt x="147828"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1" name="object 41"/>
          <p:cNvSpPr/>
          <p:nvPr/>
        </p:nvSpPr>
        <p:spPr>
          <a:xfrm>
            <a:off x="1401847" y="2550924"/>
            <a:ext cx="295700" cy="292528"/>
          </a:xfrm>
          <a:custGeom>
            <a:avLst/>
            <a:gdLst/>
            <a:ahLst/>
            <a:cxnLst/>
            <a:rect l="l" t="t" r="r" b="b"/>
            <a:pathLst>
              <a:path w="295910" h="292735">
                <a:moveTo>
                  <a:pt x="0" y="146303"/>
                </a:moveTo>
                <a:lnTo>
                  <a:pt x="7534" y="100071"/>
                </a:lnTo>
                <a:lnTo>
                  <a:pt x="28517" y="59911"/>
                </a:lnTo>
                <a:lnTo>
                  <a:pt x="60514" y="28236"/>
                </a:lnTo>
                <a:lnTo>
                  <a:pt x="101096" y="7461"/>
                </a:lnTo>
                <a:lnTo>
                  <a:pt x="147828" y="0"/>
                </a:lnTo>
                <a:lnTo>
                  <a:pt x="194559" y="7461"/>
                </a:lnTo>
                <a:lnTo>
                  <a:pt x="235141" y="28236"/>
                </a:lnTo>
                <a:lnTo>
                  <a:pt x="267138" y="59911"/>
                </a:lnTo>
                <a:lnTo>
                  <a:pt x="288121" y="100071"/>
                </a:lnTo>
                <a:lnTo>
                  <a:pt x="295656" y="146303"/>
                </a:lnTo>
                <a:lnTo>
                  <a:pt x="288121" y="192536"/>
                </a:lnTo>
                <a:lnTo>
                  <a:pt x="267138" y="232696"/>
                </a:lnTo>
                <a:lnTo>
                  <a:pt x="235141" y="264371"/>
                </a:lnTo>
                <a:lnTo>
                  <a:pt x="194559" y="285146"/>
                </a:lnTo>
                <a:lnTo>
                  <a:pt x="147828" y="292607"/>
                </a:lnTo>
                <a:lnTo>
                  <a:pt x="101096" y="285146"/>
                </a:lnTo>
                <a:lnTo>
                  <a:pt x="60514" y="264371"/>
                </a:lnTo>
                <a:lnTo>
                  <a:pt x="28517" y="232696"/>
                </a:lnTo>
                <a:lnTo>
                  <a:pt x="7534" y="192536"/>
                </a:lnTo>
                <a:lnTo>
                  <a:pt x="0" y="146303"/>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2" name="object 42"/>
          <p:cNvSpPr/>
          <p:nvPr/>
        </p:nvSpPr>
        <p:spPr>
          <a:xfrm>
            <a:off x="2311032" y="2550924"/>
            <a:ext cx="294431" cy="292528"/>
          </a:xfrm>
          <a:custGeom>
            <a:avLst/>
            <a:gdLst/>
            <a:ahLst/>
            <a:cxnLst/>
            <a:rect l="l" t="t" r="r" b="b"/>
            <a:pathLst>
              <a:path w="294639" h="292735">
                <a:moveTo>
                  <a:pt x="147066" y="0"/>
                </a:moveTo>
                <a:lnTo>
                  <a:pt x="100559" y="7461"/>
                </a:lnTo>
                <a:lnTo>
                  <a:pt x="60185" y="28236"/>
                </a:lnTo>
                <a:lnTo>
                  <a:pt x="28358" y="59911"/>
                </a:lnTo>
                <a:lnTo>
                  <a:pt x="7491" y="100071"/>
                </a:lnTo>
                <a:lnTo>
                  <a:pt x="0" y="146303"/>
                </a:lnTo>
                <a:lnTo>
                  <a:pt x="7491" y="192536"/>
                </a:lnTo>
                <a:lnTo>
                  <a:pt x="28358" y="232696"/>
                </a:lnTo>
                <a:lnTo>
                  <a:pt x="60185" y="264371"/>
                </a:lnTo>
                <a:lnTo>
                  <a:pt x="100559" y="285146"/>
                </a:lnTo>
                <a:lnTo>
                  <a:pt x="147066" y="292607"/>
                </a:lnTo>
                <a:lnTo>
                  <a:pt x="193572" y="285146"/>
                </a:lnTo>
                <a:lnTo>
                  <a:pt x="233946" y="264371"/>
                </a:lnTo>
                <a:lnTo>
                  <a:pt x="265773" y="232696"/>
                </a:lnTo>
                <a:lnTo>
                  <a:pt x="286640" y="192536"/>
                </a:lnTo>
                <a:lnTo>
                  <a:pt x="294131" y="146303"/>
                </a:lnTo>
                <a:lnTo>
                  <a:pt x="286640" y="100071"/>
                </a:lnTo>
                <a:lnTo>
                  <a:pt x="265773" y="59911"/>
                </a:lnTo>
                <a:lnTo>
                  <a:pt x="233946" y="28236"/>
                </a:lnTo>
                <a:lnTo>
                  <a:pt x="193572" y="7461"/>
                </a:lnTo>
                <a:lnTo>
                  <a:pt x="147066"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3" name="object 43"/>
          <p:cNvSpPr/>
          <p:nvPr/>
        </p:nvSpPr>
        <p:spPr>
          <a:xfrm>
            <a:off x="2311032" y="2550924"/>
            <a:ext cx="294431" cy="292528"/>
          </a:xfrm>
          <a:custGeom>
            <a:avLst/>
            <a:gdLst/>
            <a:ahLst/>
            <a:cxnLst/>
            <a:rect l="l" t="t" r="r" b="b"/>
            <a:pathLst>
              <a:path w="294639" h="292735">
                <a:moveTo>
                  <a:pt x="0" y="146303"/>
                </a:moveTo>
                <a:lnTo>
                  <a:pt x="7491" y="100071"/>
                </a:lnTo>
                <a:lnTo>
                  <a:pt x="28358" y="59911"/>
                </a:lnTo>
                <a:lnTo>
                  <a:pt x="60185" y="28236"/>
                </a:lnTo>
                <a:lnTo>
                  <a:pt x="100559" y="7461"/>
                </a:lnTo>
                <a:lnTo>
                  <a:pt x="147066" y="0"/>
                </a:lnTo>
                <a:lnTo>
                  <a:pt x="193572" y="7461"/>
                </a:lnTo>
                <a:lnTo>
                  <a:pt x="233946" y="28236"/>
                </a:lnTo>
                <a:lnTo>
                  <a:pt x="265773" y="59911"/>
                </a:lnTo>
                <a:lnTo>
                  <a:pt x="286640" y="100071"/>
                </a:lnTo>
                <a:lnTo>
                  <a:pt x="294131" y="146303"/>
                </a:lnTo>
                <a:lnTo>
                  <a:pt x="286640" y="192536"/>
                </a:lnTo>
                <a:lnTo>
                  <a:pt x="265773" y="232696"/>
                </a:lnTo>
                <a:lnTo>
                  <a:pt x="233946" y="264371"/>
                </a:lnTo>
                <a:lnTo>
                  <a:pt x="193572" y="285146"/>
                </a:lnTo>
                <a:lnTo>
                  <a:pt x="147066" y="292607"/>
                </a:lnTo>
                <a:lnTo>
                  <a:pt x="100559" y="285146"/>
                </a:lnTo>
                <a:lnTo>
                  <a:pt x="60185" y="264371"/>
                </a:lnTo>
                <a:lnTo>
                  <a:pt x="28358" y="232696"/>
                </a:lnTo>
                <a:lnTo>
                  <a:pt x="7491" y="192536"/>
                </a:lnTo>
                <a:lnTo>
                  <a:pt x="0" y="146303"/>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4" name="object 44"/>
          <p:cNvSpPr/>
          <p:nvPr/>
        </p:nvSpPr>
        <p:spPr>
          <a:xfrm>
            <a:off x="3221739" y="2550924"/>
            <a:ext cx="294431" cy="292528"/>
          </a:xfrm>
          <a:custGeom>
            <a:avLst/>
            <a:gdLst/>
            <a:ahLst/>
            <a:cxnLst/>
            <a:rect l="l" t="t" r="r" b="b"/>
            <a:pathLst>
              <a:path w="294639" h="292735">
                <a:moveTo>
                  <a:pt x="147065" y="0"/>
                </a:moveTo>
                <a:lnTo>
                  <a:pt x="100559" y="7461"/>
                </a:lnTo>
                <a:lnTo>
                  <a:pt x="60185" y="28236"/>
                </a:lnTo>
                <a:lnTo>
                  <a:pt x="28358" y="59911"/>
                </a:lnTo>
                <a:lnTo>
                  <a:pt x="7491" y="100071"/>
                </a:lnTo>
                <a:lnTo>
                  <a:pt x="0" y="146303"/>
                </a:lnTo>
                <a:lnTo>
                  <a:pt x="7491" y="192536"/>
                </a:lnTo>
                <a:lnTo>
                  <a:pt x="28358" y="232696"/>
                </a:lnTo>
                <a:lnTo>
                  <a:pt x="60185" y="264371"/>
                </a:lnTo>
                <a:lnTo>
                  <a:pt x="100559" y="285146"/>
                </a:lnTo>
                <a:lnTo>
                  <a:pt x="147065" y="292607"/>
                </a:lnTo>
                <a:lnTo>
                  <a:pt x="193572" y="285146"/>
                </a:lnTo>
                <a:lnTo>
                  <a:pt x="233946" y="264371"/>
                </a:lnTo>
                <a:lnTo>
                  <a:pt x="265773" y="232696"/>
                </a:lnTo>
                <a:lnTo>
                  <a:pt x="286640" y="192536"/>
                </a:lnTo>
                <a:lnTo>
                  <a:pt x="294131" y="146303"/>
                </a:lnTo>
                <a:lnTo>
                  <a:pt x="286640" y="100071"/>
                </a:lnTo>
                <a:lnTo>
                  <a:pt x="265773" y="59911"/>
                </a:lnTo>
                <a:lnTo>
                  <a:pt x="233946" y="28236"/>
                </a:lnTo>
                <a:lnTo>
                  <a:pt x="193572" y="7461"/>
                </a:lnTo>
                <a:lnTo>
                  <a:pt x="147065"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5" name="object 45"/>
          <p:cNvSpPr/>
          <p:nvPr/>
        </p:nvSpPr>
        <p:spPr>
          <a:xfrm>
            <a:off x="3221739" y="2550924"/>
            <a:ext cx="294431" cy="292528"/>
          </a:xfrm>
          <a:custGeom>
            <a:avLst/>
            <a:gdLst/>
            <a:ahLst/>
            <a:cxnLst/>
            <a:rect l="l" t="t" r="r" b="b"/>
            <a:pathLst>
              <a:path w="294639" h="292735">
                <a:moveTo>
                  <a:pt x="0" y="146303"/>
                </a:moveTo>
                <a:lnTo>
                  <a:pt x="7491" y="100071"/>
                </a:lnTo>
                <a:lnTo>
                  <a:pt x="28358" y="59911"/>
                </a:lnTo>
                <a:lnTo>
                  <a:pt x="60185" y="28236"/>
                </a:lnTo>
                <a:lnTo>
                  <a:pt x="100559" y="7461"/>
                </a:lnTo>
                <a:lnTo>
                  <a:pt x="147065" y="0"/>
                </a:lnTo>
                <a:lnTo>
                  <a:pt x="193572" y="7461"/>
                </a:lnTo>
                <a:lnTo>
                  <a:pt x="233946" y="28236"/>
                </a:lnTo>
                <a:lnTo>
                  <a:pt x="265773" y="59911"/>
                </a:lnTo>
                <a:lnTo>
                  <a:pt x="286640" y="100071"/>
                </a:lnTo>
                <a:lnTo>
                  <a:pt x="294131" y="146303"/>
                </a:lnTo>
                <a:lnTo>
                  <a:pt x="286640" y="192536"/>
                </a:lnTo>
                <a:lnTo>
                  <a:pt x="265773" y="232696"/>
                </a:lnTo>
                <a:lnTo>
                  <a:pt x="233946" y="264371"/>
                </a:lnTo>
                <a:lnTo>
                  <a:pt x="193572" y="285146"/>
                </a:lnTo>
                <a:lnTo>
                  <a:pt x="147065" y="292607"/>
                </a:lnTo>
                <a:lnTo>
                  <a:pt x="100559" y="285146"/>
                </a:lnTo>
                <a:lnTo>
                  <a:pt x="60185" y="264371"/>
                </a:lnTo>
                <a:lnTo>
                  <a:pt x="28358" y="232696"/>
                </a:lnTo>
                <a:lnTo>
                  <a:pt x="7491" y="192536"/>
                </a:lnTo>
                <a:lnTo>
                  <a:pt x="0" y="146303"/>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6" name="object 46"/>
          <p:cNvSpPr/>
          <p:nvPr/>
        </p:nvSpPr>
        <p:spPr>
          <a:xfrm>
            <a:off x="4126354" y="2550924"/>
            <a:ext cx="295700" cy="292528"/>
          </a:xfrm>
          <a:custGeom>
            <a:avLst/>
            <a:gdLst/>
            <a:ahLst/>
            <a:cxnLst/>
            <a:rect l="l" t="t" r="r" b="b"/>
            <a:pathLst>
              <a:path w="295910" h="292735">
                <a:moveTo>
                  <a:pt x="147827" y="0"/>
                </a:moveTo>
                <a:lnTo>
                  <a:pt x="101096" y="7461"/>
                </a:lnTo>
                <a:lnTo>
                  <a:pt x="60514" y="28236"/>
                </a:lnTo>
                <a:lnTo>
                  <a:pt x="28517" y="59911"/>
                </a:lnTo>
                <a:lnTo>
                  <a:pt x="7534" y="100071"/>
                </a:lnTo>
                <a:lnTo>
                  <a:pt x="0" y="146303"/>
                </a:lnTo>
                <a:lnTo>
                  <a:pt x="7534" y="192536"/>
                </a:lnTo>
                <a:lnTo>
                  <a:pt x="28517" y="232696"/>
                </a:lnTo>
                <a:lnTo>
                  <a:pt x="60514" y="264371"/>
                </a:lnTo>
                <a:lnTo>
                  <a:pt x="101096" y="285146"/>
                </a:lnTo>
                <a:lnTo>
                  <a:pt x="147827" y="292607"/>
                </a:lnTo>
                <a:lnTo>
                  <a:pt x="194559" y="285146"/>
                </a:lnTo>
                <a:lnTo>
                  <a:pt x="235141" y="264371"/>
                </a:lnTo>
                <a:lnTo>
                  <a:pt x="267138" y="232696"/>
                </a:lnTo>
                <a:lnTo>
                  <a:pt x="288121" y="192536"/>
                </a:lnTo>
                <a:lnTo>
                  <a:pt x="295656" y="146303"/>
                </a:lnTo>
                <a:lnTo>
                  <a:pt x="288121" y="100071"/>
                </a:lnTo>
                <a:lnTo>
                  <a:pt x="267138" y="59911"/>
                </a:lnTo>
                <a:lnTo>
                  <a:pt x="235141" y="28236"/>
                </a:lnTo>
                <a:lnTo>
                  <a:pt x="194559" y="7461"/>
                </a:lnTo>
                <a:lnTo>
                  <a:pt x="147827"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7" name="object 47"/>
          <p:cNvSpPr/>
          <p:nvPr/>
        </p:nvSpPr>
        <p:spPr>
          <a:xfrm>
            <a:off x="4126354" y="2550924"/>
            <a:ext cx="295700" cy="292528"/>
          </a:xfrm>
          <a:custGeom>
            <a:avLst/>
            <a:gdLst/>
            <a:ahLst/>
            <a:cxnLst/>
            <a:rect l="l" t="t" r="r" b="b"/>
            <a:pathLst>
              <a:path w="295910" h="292735">
                <a:moveTo>
                  <a:pt x="0" y="146303"/>
                </a:moveTo>
                <a:lnTo>
                  <a:pt x="7534" y="100071"/>
                </a:lnTo>
                <a:lnTo>
                  <a:pt x="28517" y="59911"/>
                </a:lnTo>
                <a:lnTo>
                  <a:pt x="60514" y="28236"/>
                </a:lnTo>
                <a:lnTo>
                  <a:pt x="101096" y="7461"/>
                </a:lnTo>
                <a:lnTo>
                  <a:pt x="147827" y="0"/>
                </a:lnTo>
                <a:lnTo>
                  <a:pt x="194559" y="7461"/>
                </a:lnTo>
                <a:lnTo>
                  <a:pt x="235141" y="28236"/>
                </a:lnTo>
                <a:lnTo>
                  <a:pt x="267138" y="59911"/>
                </a:lnTo>
                <a:lnTo>
                  <a:pt x="288121" y="100071"/>
                </a:lnTo>
                <a:lnTo>
                  <a:pt x="295656" y="146303"/>
                </a:lnTo>
                <a:lnTo>
                  <a:pt x="288121" y="192536"/>
                </a:lnTo>
                <a:lnTo>
                  <a:pt x="267138" y="232696"/>
                </a:lnTo>
                <a:lnTo>
                  <a:pt x="235141" y="264371"/>
                </a:lnTo>
                <a:lnTo>
                  <a:pt x="194559" y="285146"/>
                </a:lnTo>
                <a:lnTo>
                  <a:pt x="147827" y="292607"/>
                </a:lnTo>
                <a:lnTo>
                  <a:pt x="101096" y="285146"/>
                </a:lnTo>
                <a:lnTo>
                  <a:pt x="60514" y="264371"/>
                </a:lnTo>
                <a:lnTo>
                  <a:pt x="28517" y="232696"/>
                </a:lnTo>
                <a:lnTo>
                  <a:pt x="7534" y="192536"/>
                </a:lnTo>
                <a:lnTo>
                  <a:pt x="0" y="146303"/>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graphicFrame>
        <p:nvGraphicFramePr>
          <p:cNvPr id="48" name="object 48"/>
          <p:cNvGraphicFramePr>
            <a:graphicFrameLocks noGrp="1"/>
          </p:cNvGraphicFramePr>
          <p:nvPr/>
        </p:nvGraphicFramePr>
        <p:xfrm>
          <a:off x="180084" y="2462214"/>
          <a:ext cx="4547235" cy="1839595"/>
        </p:xfrm>
        <a:graphic>
          <a:graphicData uri="http://schemas.openxmlformats.org/drawingml/2006/table">
            <a:tbl>
              <a:tblPr firstRow="1" bandRow="1">
                <a:tableStyleId>{2D5ABB26-0587-4C30-8999-92F81FD0307C}</a:tableStyleId>
              </a:tblPr>
              <a:tblGrid>
                <a:gridCol w="913130"/>
                <a:gridCol w="909320"/>
                <a:gridCol w="909320"/>
                <a:gridCol w="907415"/>
                <a:gridCol w="908050"/>
              </a:tblGrid>
              <a:tr h="1839595">
                <a:tc>
                  <a:txBody>
                    <a:bodyPr/>
                    <a:lstStyle/>
                    <a:p>
                      <a:pPr marL="1270" algn="ctr">
                        <a:lnSpc>
                          <a:spcPct val="100000"/>
                        </a:lnSpc>
                        <a:spcBef>
                          <a:spcPts val="885"/>
                        </a:spcBef>
                      </a:pPr>
                      <a:r>
                        <a:rPr sz="1400" dirty="0">
                          <a:solidFill>
                            <a:srgbClr val="FFFFFF"/>
                          </a:solidFill>
                          <a:latin typeface="微软雅黑" panose="020B0503020204020204" charset="-122"/>
                          <a:ea typeface="微软雅黑" panose="020B0503020204020204" charset="-122"/>
                          <a:cs typeface="微软雅黑" panose="020B0503020204020204" charset="-122"/>
                        </a:rPr>
                        <a:t>1</a:t>
                      </a:r>
                      <a:endParaRPr sz="1400">
                        <a:latin typeface="微软雅黑" panose="020B0503020204020204" charset="-122"/>
                        <a:ea typeface="微软雅黑" panose="020B0503020204020204" charset="-122"/>
                        <a:cs typeface="微软雅黑" panose="020B0503020204020204" charset="-122"/>
                      </a:endParaRPr>
                    </a:p>
                    <a:p>
                      <a:pPr marL="58420" marR="133985" algn="just">
                        <a:lnSpc>
                          <a:spcPct val="100000"/>
                        </a:lnSpc>
                        <a:spcBef>
                          <a:spcPts val="410"/>
                        </a:spcBef>
                      </a:pPr>
                      <a:r>
                        <a:rPr sz="1400" dirty="0">
                          <a:solidFill>
                            <a:srgbClr val="FFFFFF"/>
                          </a:solidFill>
                          <a:latin typeface="微软雅黑" panose="020B0503020204020204" charset="-122"/>
                          <a:ea typeface="微软雅黑" panose="020B0503020204020204" charset="-122"/>
                          <a:cs typeface="微软雅黑" panose="020B0503020204020204" charset="-122"/>
                        </a:rPr>
                        <a:t>客户分类 和优先排 </a:t>
                      </a:r>
                      <a:r>
                        <a:rPr sz="1400" spc="5" dirty="0">
                          <a:solidFill>
                            <a:srgbClr val="FFFFFF"/>
                          </a:solidFill>
                          <a:latin typeface="微软雅黑" panose="020B0503020204020204" charset="-122"/>
                          <a:ea typeface="微软雅黑" panose="020B0503020204020204" charset="-122"/>
                          <a:cs typeface="微软雅黑" panose="020B0503020204020204" charset="-122"/>
                        </a:rPr>
                        <a:t>序</a:t>
                      </a:r>
                      <a:endParaRPr sz="1400">
                        <a:latin typeface="微软雅黑" panose="020B0503020204020204" charset="-122"/>
                        <a:ea typeface="微软雅黑" panose="020B0503020204020204" charset="-122"/>
                        <a:cs typeface="微软雅黑" panose="020B0503020204020204" charset="-122"/>
                      </a:endParaRPr>
                    </a:p>
                  </a:txBody>
                  <a:tcPr marL="0" marR="0" marT="112315" marB="0">
                    <a:lnL w="6350">
                      <a:solidFill>
                        <a:srgbClr val="FFFFFF"/>
                      </a:solidFill>
                      <a:prstDash val="solid"/>
                    </a:lnL>
                    <a:lnR w="19050">
                      <a:solidFill>
                        <a:srgbClr val="FFFFFF"/>
                      </a:solidFill>
                      <a:prstDash val="solid"/>
                    </a:lnR>
                  </a:tcPr>
                </a:tc>
                <a:tc>
                  <a:txBody>
                    <a:bodyPr/>
                    <a:lstStyle/>
                    <a:p>
                      <a:pPr algn="ctr">
                        <a:lnSpc>
                          <a:spcPct val="100000"/>
                        </a:lnSpc>
                        <a:spcBef>
                          <a:spcPts val="885"/>
                        </a:spcBef>
                      </a:pPr>
                      <a:r>
                        <a:rPr sz="1400" dirty="0">
                          <a:solidFill>
                            <a:srgbClr val="FFFFFF"/>
                          </a:solidFill>
                          <a:latin typeface="微软雅黑" panose="020B0503020204020204" charset="-122"/>
                          <a:ea typeface="微软雅黑" panose="020B0503020204020204" charset="-122"/>
                          <a:cs typeface="微软雅黑" panose="020B0503020204020204" charset="-122"/>
                        </a:rPr>
                        <a:t>2</a:t>
                      </a:r>
                      <a:endParaRPr sz="1400">
                        <a:latin typeface="微软雅黑" panose="020B0503020204020204" charset="-122"/>
                        <a:ea typeface="微软雅黑" panose="020B0503020204020204" charset="-122"/>
                        <a:cs typeface="微软雅黑" panose="020B0503020204020204" charset="-122"/>
                      </a:endParaRPr>
                    </a:p>
                    <a:p>
                      <a:pPr marL="79375" marR="108585">
                        <a:lnSpc>
                          <a:spcPct val="101000"/>
                        </a:lnSpc>
                        <a:spcBef>
                          <a:spcPts val="405"/>
                        </a:spcBef>
                      </a:pPr>
                      <a:r>
                        <a:rPr sz="1400" dirty="0">
                          <a:solidFill>
                            <a:srgbClr val="FFFFFF"/>
                          </a:solidFill>
                          <a:latin typeface="微软雅黑" panose="020B0503020204020204" charset="-122"/>
                          <a:ea typeface="微软雅黑" panose="020B0503020204020204" charset="-122"/>
                          <a:cs typeface="微软雅黑" panose="020B0503020204020204" charset="-122"/>
                        </a:rPr>
                        <a:t>客户销售 模式</a:t>
                      </a:r>
                      <a:endParaRPr sz="1400">
                        <a:latin typeface="微软雅黑" panose="020B0503020204020204" charset="-122"/>
                        <a:ea typeface="微软雅黑" panose="020B0503020204020204" charset="-122"/>
                        <a:cs typeface="微软雅黑" panose="020B0503020204020204" charset="-122"/>
                      </a:endParaRPr>
                    </a:p>
                  </a:txBody>
                  <a:tcPr marL="0" marR="0" marT="112315" marB="0">
                    <a:lnL w="19050">
                      <a:solidFill>
                        <a:srgbClr val="FFFFFF"/>
                      </a:solidFill>
                      <a:prstDash val="solid"/>
                    </a:lnL>
                    <a:lnR w="28575">
                      <a:solidFill>
                        <a:srgbClr val="FFFFFF"/>
                      </a:solidFill>
                      <a:prstDash val="solid"/>
                    </a:lnR>
                    <a:lnT w="19050">
                      <a:solidFill>
                        <a:srgbClr val="FFFFFF"/>
                      </a:solidFill>
                      <a:prstDash val="solid"/>
                    </a:lnT>
                    <a:lnB w="19050">
                      <a:solidFill>
                        <a:srgbClr val="FFFFFF"/>
                      </a:solidFill>
                      <a:prstDash val="solid"/>
                    </a:lnB>
                  </a:tcPr>
                </a:tc>
                <a:tc>
                  <a:txBody>
                    <a:bodyPr/>
                    <a:lstStyle/>
                    <a:p>
                      <a:pPr algn="ctr">
                        <a:lnSpc>
                          <a:spcPct val="100000"/>
                        </a:lnSpc>
                        <a:spcBef>
                          <a:spcPts val="885"/>
                        </a:spcBef>
                      </a:pPr>
                      <a:r>
                        <a:rPr sz="1400" dirty="0">
                          <a:solidFill>
                            <a:srgbClr val="FFFFFF"/>
                          </a:solidFill>
                          <a:latin typeface="微软雅黑" panose="020B0503020204020204" charset="-122"/>
                          <a:ea typeface="微软雅黑" panose="020B0503020204020204" charset="-122"/>
                          <a:cs typeface="微软雅黑" panose="020B0503020204020204" charset="-122"/>
                        </a:rPr>
                        <a:t>3</a:t>
                      </a:r>
                      <a:endParaRPr sz="1400">
                        <a:latin typeface="微软雅黑" panose="020B0503020204020204" charset="-122"/>
                        <a:ea typeface="微软雅黑" panose="020B0503020204020204" charset="-122"/>
                        <a:cs typeface="微软雅黑" panose="020B0503020204020204" charset="-122"/>
                      </a:endParaRPr>
                    </a:p>
                    <a:p>
                      <a:pPr marL="79375" marR="109220">
                        <a:lnSpc>
                          <a:spcPct val="100000"/>
                        </a:lnSpc>
                        <a:spcBef>
                          <a:spcPts val="425"/>
                        </a:spcBef>
                      </a:pPr>
                      <a:r>
                        <a:rPr sz="1400" dirty="0">
                          <a:solidFill>
                            <a:srgbClr val="FFFFFF"/>
                          </a:solidFill>
                          <a:latin typeface="微软雅黑" panose="020B0503020204020204" charset="-122"/>
                          <a:ea typeface="微软雅黑" panose="020B0503020204020204" charset="-122"/>
                          <a:cs typeface="微软雅黑" panose="020B0503020204020204" charset="-122"/>
                        </a:rPr>
                        <a:t>客户需求 分析</a:t>
                      </a:r>
                      <a:endParaRPr sz="1400">
                        <a:latin typeface="微软雅黑" panose="020B0503020204020204" charset="-122"/>
                        <a:ea typeface="微软雅黑" panose="020B0503020204020204" charset="-122"/>
                        <a:cs typeface="微软雅黑" panose="020B0503020204020204" charset="-122"/>
                      </a:endParaRPr>
                    </a:p>
                  </a:txBody>
                  <a:tcPr marL="0" marR="0" marT="112315" marB="0">
                    <a:lnL w="28575">
                      <a:solidFill>
                        <a:srgbClr val="FFFFFF"/>
                      </a:solidFill>
                      <a:prstDash val="solid"/>
                    </a:lnL>
                    <a:lnR w="28575">
                      <a:solidFill>
                        <a:srgbClr val="FFFFFF"/>
                      </a:solidFill>
                      <a:prstDash val="solid"/>
                    </a:lnR>
                    <a:lnT w="19050">
                      <a:solidFill>
                        <a:srgbClr val="FFFFFF"/>
                      </a:solidFill>
                      <a:prstDash val="solid"/>
                    </a:lnT>
                    <a:lnB w="19050">
                      <a:solidFill>
                        <a:srgbClr val="FFFFFF"/>
                      </a:solidFill>
                      <a:prstDash val="solid"/>
                    </a:lnB>
                  </a:tcPr>
                </a:tc>
                <a:tc>
                  <a:txBody>
                    <a:bodyPr/>
                    <a:lstStyle/>
                    <a:p>
                      <a:pPr algn="ctr">
                        <a:lnSpc>
                          <a:spcPct val="100000"/>
                        </a:lnSpc>
                        <a:spcBef>
                          <a:spcPts val="885"/>
                        </a:spcBef>
                      </a:pPr>
                      <a:r>
                        <a:rPr sz="1400" dirty="0">
                          <a:solidFill>
                            <a:srgbClr val="FFFFFF"/>
                          </a:solidFill>
                          <a:latin typeface="微软雅黑" panose="020B0503020204020204" charset="-122"/>
                          <a:ea typeface="微软雅黑" panose="020B0503020204020204" charset="-122"/>
                          <a:cs typeface="微软雅黑" panose="020B0503020204020204" charset="-122"/>
                        </a:rPr>
                        <a:t>4</a:t>
                      </a:r>
                      <a:endParaRPr sz="1400">
                        <a:latin typeface="微软雅黑" panose="020B0503020204020204" charset="-122"/>
                        <a:ea typeface="微软雅黑" panose="020B0503020204020204" charset="-122"/>
                        <a:cs typeface="微软雅黑" panose="020B0503020204020204" charset="-122"/>
                      </a:endParaRPr>
                    </a:p>
                    <a:p>
                      <a:pPr marL="80645" marR="107315">
                        <a:lnSpc>
                          <a:spcPct val="101000"/>
                        </a:lnSpc>
                        <a:spcBef>
                          <a:spcPts val="405"/>
                        </a:spcBef>
                      </a:pPr>
                      <a:r>
                        <a:rPr sz="1400" dirty="0">
                          <a:solidFill>
                            <a:srgbClr val="FFFFFF"/>
                          </a:solidFill>
                          <a:latin typeface="微软雅黑" panose="020B0503020204020204" charset="-122"/>
                          <a:ea typeface="微软雅黑" panose="020B0503020204020204" charset="-122"/>
                          <a:cs typeface="微软雅黑" panose="020B0503020204020204" charset="-122"/>
                        </a:rPr>
                        <a:t>客户规划 和管理</a:t>
                      </a:r>
                      <a:endParaRPr sz="1400">
                        <a:latin typeface="微软雅黑" panose="020B0503020204020204" charset="-122"/>
                        <a:ea typeface="微软雅黑" panose="020B0503020204020204" charset="-122"/>
                        <a:cs typeface="微软雅黑" panose="020B0503020204020204" charset="-122"/>
                      </a:endParaRPr>
                    </a:p>
                  </a:txBody>
                  <a:tcPr marL="0" marR="0" marT="112315" marB="0">
                    <a:lnL w="28575">
                      <a:solidFill>
                        <a:srgbClr val="FFFFFF"/>
                      </a:solidFill>
                      <a:prstDash val="solid"/>
                    </a:lnL>
                    <a:lnR w="28575">
                      <a:solidFill>
                        <a:srgbClr val="FFFFFF"/>
                      </a:solidFill>
                      <a:prstDash val="solid"/>
                    </a:lnR>
                    <a:lnT w="19050">
                      <a:solidFill>
                        <a:srgbClr val="FFFFFF"/>
                      </a:solidFill>
                      <a:prstDash val="solid"/>
                    </a:lnT>
                    <a:lnB w="19050">
                      <a:solidFill>
                        <a:srgbClr val="FFFFFF"/>
                      </a:solidFill>
                      <a:prstDash val="solid"/>
                    </a:lnB>
                  </a:tcPr>
                </a:tc>
                <a:tc>
                  <a:txBody>
                    <a:bodyPr/>
                    <a:lstStyle/>
                    <a:p>
                      <a:pPr algn="ctr">
                        <a:lnSpc>
                          <a:spcPct val="100000"/>
                        </a:lnSpc>
                        <a:spcBef>
                          <a:spcPts val="885"/>
                        </a:spcBef>
                      </a:pPr>
                      <a:r>
                        <a:rPr sz="1400" dirty="0">
                          <a:solidFill>
                            <a:srgbClr val="FFFFFF"/>
                          </a:solidFill>
                          <a:latin typeface="微软雅黑" panose="020B0503020204020204" charset="-122"/>
                          <a:ea typeface="微软雅黑" panose="020B0503020204020204" charset="-122"/>
                          <a:cs typeface="微软雅黑" panose="020B0503020204020204" charset="-122"/>
                        </a:rPr>
                        <a:t>5</a:t>
                      </a:r>
                      <a:endParaRPr sz="1400">
                        <a:latin typeface="微软雅黑" panose="020B0503020204020204" charset="-122"/>
                        <a:ea typeface="微软雅黑" panose="020B0503020204020204" charset="-122"/>
                        <a:cs typeface="微软雅黑" panose="020B0503020204020204" charset="-122"/>
                      </a:endParaRPr>
                    </a:p>
                    <a:p>
                      <a:pPr marL="80645" marR="107315" algn="just">
                        <a:lnSpc>
                          <a:spcPct val="100000"/>
                        </a:lnSpc>
                        <a:spcBef>
                          <a:spcPts val="410"/>
                        </a:spcBef>
                      </a:pPr>
                      <a:r>
                        <a:rPr sz="1400" dirty="0">
                          <a:solidFill>
                            <a:srgbClr val="FFFFFF"/>
                          </a:solidFill>
                          <a:latin typeface="微软雅黑" panose="020B0503020204020204" charset="-122"/>
                          <a:ea typeface="微软雅黑" panose="020B0503020204020204" charset="-122"/>
                          <a:cs typeface="微软雅黑" panose="020B0503020204020204" charset="-122"/>
                        </a:rPr>
                        <a:t>量身定制 的产品或 服务</a:t>
                      </a:r>
                      <a:endParaRPr sz="1400">
                        <a:latin typeface="微软雅黑" panose="020B0503020204020204" charset="-122"/>
                        <a:ea typeface="微软雅黑" panose="020B0503020204020204" charset="-122"/>
                        <a:cs typeface="微软雅黑" panose="020B0503020204020204" charset="-122"/>
                      </a:endParaRPr>
                    </a:p>
                  </a:txBody>
                  <a:tcPr marL="0" marR="0" marT="112315" marB="0">
                    <a:lnL w="28575">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tcPr>
                </a:tc>
              </a:tr>
            </a:tbl>
          </a:graphicData>
        </a:graphic>
      </p:graphicFrame>
      <p:sp>
        <p:nvSpPr>
          <p:cNvPr id="49" name="object 49"/>
          <p:cNvSpPr/>
          <p:nvPr/>
        </p:nvSpPr>
        <p:spPr>
          <a:xfrm>
            <a:off x="5035536" y="2550924"/>
            <a:ext cx="295700" cy="292528"/>
          </a:xfrm>
          <a:custGeom>
            <a:avLst/>
            <a:gdLst/>
            <a:ahLst/>
            <a:cxnLst/>
            <a:rect l="l" t="t" r="r" b="b"/>
            <a:pathLst>
              <a:path w="295910" h="292735">
                <a:moveTo>
                  <a:pt x="147828" y="0"/>
                </a:moveTo>
                <a:lnTo>
                  <a:pt x="101096" y="7461"/>
                </a:lnTo>
                <a:lnTo>
                  <a:pt x="60514" y="28236"/>
                </a:lnTo>
                <a:lnTo>
                  <a:pt x="28517" y="59911"/>
                </a:lnTo>
                <a:lnTo>
                  <a:pt x="7534" y="100071"/>
                </a:lnTo>
                <a:lnTo>
                  <a:pt x="0" y="146303"/>
                </a:lnTo>
                <a:lnTo>
                  <a:pt x="7534" y="192536"/>
                </a:lnTo>
                <a:lnTo>
                  <a:pt x="28517" y="232696"/>
                </a:lnTo>
                <a:lnTo>
                  <a:pt x="60514" y="264371"/>
                </a:lnTo>
                <a:lnTo>
                  <a:pt x="101096" y="285146"/>
                </a:lnTo>
                <a:lnTo>
                  <a:pt x="147828" y="292607"/>
                </a:lnTo>
                <a:lnTo>
                  <a:pt x="194559" y="285146"/>
                </a:lnTo>
                <a:lnTo>
                  <a:pt x="235141" y="264371"/>
                </a:lnTo>
                <a:lnTo>
                  <a:pt x="267138" y="232696"/>
                </a:lnTo>
                <a:lnTo>
                  <a:pt x="288121" y="192536"/>
                </a:lnTo>
                <a:lnTo>
                  <a:pt x="295656" y="146303"/>
                </a:lnTo>
                <a:lnTo>
                  <a:pt x="288121" y="100071"/>
                </a:lnTo>
                <a:lnTo>
                  <a:pt x="267138" y="59911"/>
                </a:lnTo>
                <a:lnTo>
                  <a:pt x="235141" y="28236"/>
                </a:lnTo>
                <a:lnTo>
                  <a:pt x="194559" y="7461"/>
                </a:lnTo>
                <a:lnTo>
                  <a:pt x="147828"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0" name="object 50"/>
          <p:cNvSpPr/>
          <p:nvPr/>
        </p:nvSpPr>
        <p:spPr>
          <a:xfrm>
            <a:off x="5035536" y="2550924"/>
            <a:ext cx="295700" cy="292528"/>
          </a:xfrm>
          <a:custGeom>
            <a:avLst/>
            <a:gdLst/>
            <a:ahLst/>
            <a:cxnLst/>
            <a:rect l="l" t="t" r="r" b="b"/>
            <a:pathLst>
              <a:path w="295910" h="292735">
                <a:moveTo>
                  <a:pt x="0" y="146303"/>
                </a:moveTo>
                <a:lnTo>
                  <a:pt x="7534" y="100071"/>
                </a:lnTo>
                <a:lnTo>
                  <a:pt x="28517" y="59911"/>
                </a:lnTo>
                <a:lnTo>
                  <a:pt x="60514" y="28236"/>
                </a:lnTo>
                <a:lnTo>
                  <a:pt x="101096" y="7461"/>
                </a:lnTo>
                <a:lnTo>
                  <a:pt x="147828" y="0"/>
                </a:lnTo>
                <a:lnTo>
                  <a:pt x="194559" y="7461"/>
                </a:lnTo>
                <a:lnTo>
                  <a:pt x="235141" y="28236"/>
                </a:lnTo>
                <a:lnTo>
                  <a:pt x="267138" y="59911"/>
                </a:lnTo>
                <a:lnTo>
                  <a:pt x="288121" y="100071"/>
                </a:lnTo>
                <a:lnTo>
                  <a:pt x="295656" y="146303"/>
                </a:lnTo>
                <a:lnTo>
                  <a:pt x="288121" y="192536"/>
                </a:lnTo>
                <a:lnTo>
                  <a:pt x="267138" y="232696"/>
                </a:lnTo>
                <a:lnTo>
                  <a:pt x="235141" y="264371"/>
                </a:lnTo>
                <a:lnTo>
                  <a:pt x="194559" y="285146"/>
                </a:lnTo>
                <a:lnTo>
                  <a:pt x="147828" y="292607"/>
                </a:lnTo>
                <a:lnTo>
                  <a:pt x="101096" y="285146"/>
                </a:lnTo>
                <a:lnTo>
                  <a:pt x="60514" y="264371"/>
                </a:lnTo>
                <a:lnTo>
                  <a:pt x="28517" y="232696"/>
                </a:lnTo>
                <a:lnTo>
                  <a:pt x="7534" y="192536"/>
                </a:lnTo>
                <a:lnTo>
                  <a:pt x="0" y="146303"/>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1" name="object 51"/>
          <p:cNvSpPr txBox="1"/>
          <p:nvPr/>
        </p:nvSpPr>
        <p:spPr>
          <a:xfrm>
            <a:off x="4799738" y="2517902"/>
            <a:ext cx="560308" cy="766445"/>
          </a:xfrm>
          <a:prstGeom prst="rect">
            <a:avLst/>
          </a:prstGeom>
        </p:spPr>
        <p:txBody>
          <a:bodyPr vert="horz" wrap="square" lIns="0" tIns="66627" rIns="0" bIns="0" rtlCol="0">
            <a:spAutoFit/>
          </a:bodyPr>
          <a:lstStyle/>
          <a:p>
            <a:pPr marL="334645">
              <a:lnSpc>
                <a:spcPct val="100000"/>
              </a:lnSpc>
              <a:spcBef>
                <a:spcPts val="525"/>
              </a:spcBef>
            </a:pPr>
            <a:r>
              <a:rPr sz="1400" dirty="0">
                <a:solidFill>
                  <a:srgbClr val="FFFFFF"/>
                </a:solidFill>
                <a:latin typeface="微软雅黑" panose="020B0503020204020204" charset="-122"/>
                <a:ea typeface="微软雅黑" panose="020B0503020204020204" charset="-122"/>
                <a:cs typeface="微软雅黑" panose="020B0503020204020204" charset="-122"/>
              </a:rPr>
              <a:t>6</a:t>
            </a:r>
            <a:endParaRPr sz="1400">
              <a:latin typeface="微软雅黑" panose="020B0503020204020204" charset="-122"/>
              <a:ea typeface="微软雅黑" panose="020B0503020204020204" charset="-122"/>
              <a:cs typeface="微软雅黑" panose="020B0503020204020204" charset="-122"/>
            </a:endParaRPr>
          </a:p>
          <a:p>
            <a:pPr marL="12700" marR="5080">
              <a:lnSpc>
                <a:spcPct val="100000"/>
              </a:lnSpc>
              <a:spcBef>
                <a:spcPts val="425"/>
              </a:spcBef>
            </a:pPr>
            <a:r>
              <a:rPr sz="1400" dirty="0">
                <a:latin typeface="微软雅黑" panose="020B0503020204020204" charset="-122"/>
                <a:ea typeface="微软雅黑" panose="020B0503020204020204" charset="-122"/>
                <a:cs typeface="微软雅黑" panose="020B0503020204020204" charset="-122"/>
              </a:rPr>
              <a:t>谈判 和成交</a:t>
            </a:r>
            <a:endParaRPr sz="1400">
              <a:latin typeface="微软雅黑" panose="020B0503020204020204" charset="-122"/>
              <a:ea typeface="微软雅黑" panose="020B0503020204020204" charset="-122"/>
              <a:cs typeface="微软雅黑" panose="020B0503020204020204" charset="-122"/>
            </a:endParaRPr>
          </a:p>
        </p:txBody>
      </p:sp>
      <p:sp>
        <p:nvSpPr>
          <p:cNvPr id="52" name="object 52"/>
          <p:cNvSpPr/>
          <p:nvPr/>
        </p:nvSpPr>
        <p:spPr>
          <a:xfrm>
            <a:off x="5944721" y="2550924"/>
            <a:ext cx="295700" cy="292528"/>
          </a:xfrm>
          <a:custGeom>
            <a:avLst/>
            <a:gdLst/>
            <a:ahLst/>
            <a:cxnLst/>
            <a:rect l="l" t="t" r="r" b="b"/>
            <a:pathLst>
              <a:path w="295910" h="292735">
                <a:moveTo>
                  <a:pt x="147827" y="0"/>
                </a:moveTo>
                <a:lnTo>
                  <a:pt x="101096" y="7461"/>
                </a:lnTo>
                <a:lnTo>
                  <a:pt x="60514" y="28236"/>
                </a:lnTo>
                <a:lnTo>
                  <a:pt x="28517" y="59911"/>
                </a:lnTo>
                <a:lnTo>
                  <a:pt x="7534" y="100071"/>
                </a:lnTo>
                <a:lnTo>
                  <a:pt x="0" y="146303"/>
                </a:lnTo>
                <a:lnTo>
                  <a:pt x="7534" y="192536"/>
                </a:lnTo>
                <a:lnTo>
                  <a:pt x="28517" y="232696"/>
                </a:lnTo>
                <a:lnTo>
                  <a:pt x="60514" y="264371"/>
                </a:lnTo>
                <a:lnTo>
                  <a:pt x="101096" y="285146"/>
                </a:lnTo>
                <a:lnTo>
                  <a:pt x="147827" y="292607"/>
                </a:lnTo>
                <a:lnTo>
                  <a:pt x="194559" y="285146"/>
                </a:lnTo>
                <a:lnTo>
                  <a:pt x="235141" y="264371"/>
                </a:lnTo>
                <a:lnTo>
                  <a:pt x="267138" y="232696"/>
                </a:lnTo>
                <a:lnTo>
                  <a:pt x="288121" y="192536"/>
                </a:lnTo>
                <a:lnTo>
                  <a:pt x="295655" y="146303"/>
                </a:lnTo>
                <a:lnTo>
                  <a:pt x="288121" y="100071"/>
                </a:lnTo>
                <a:lnTo>
                  <a:pt x="267138" y="59911"/>
                </a:lnTo>
                <a:lnTo>
                  <a:pt x="235141" y="28236"/>
                </a:lnTo>
                <a:lnTo>
                  <a:pt x="194559" y="7461"/>
                </a:lnTo>
                <a:lnTo>
                  <a:pt x="147827"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3" name="object 53"/>
          <p:cNvSpPr/>
          <p:nvPr/>
        </p:nvSpPr>
        <p:spPr>
          <a:xfrm>
            <a:off x="5944721" y="2550924"/>
            <a:ext cx="295700" cy="292528"/>
          </a:xfrm>
          <a:custGeom>
            <a:avLst/>
            <a:gdLst/>
            <a:ahLst/>
            <a:cxnLst/>
            <a:rect l="l" t="t" r="r" b="b"/>
            <a:pathLst>
              <a:path w="295910" h="292735">
                <a:moveTo>
                  <a:pt x="0" y="146303"/>
                </a:moveTo>
                <a:lnTo>
                  <a:pt x="7534" y="100071"/>
                </a:lnTo>
                <a:lnTo>
                  <a:pt x="28517" y="59911"/>
                </a:lnTo>
                <a:lnTo>
                  <a:pt x="60514" y="28236"/>
                </a:lnTo>
                <a:lnTo>
                  <a:pt x="101096" y="7461"/>
                </a:lnTo>
                <a:lnTo>
                  <a:pt x="147827" y="0"/>
                </a:lnTo>
                <a:lnTo>
                  <a:pt x="194559" y="7461"/>
                </a:lnTo>
                <a:lnTo>
                  <a:pt x="235141" y="28236"/>
                </a:lnTo>
                <a:lnTo>
                  <a:pt x="267138" y="59911"/>
                </a:lnTo>
                <a:lnTo>
                  <a:pt x="288121" y="100071"/>
                </a:lnTo>
                <a:lnTo>
                  <a:pt x="295655" y="146303"/>
                </a:lnTo>
                <a:lnTo>
                  <a:pt x="288121" y="192536"/>
                </a:lnTo>
                <a:lnTo>
                  <a:pt x="267138" y="232696"/>
                </a:lnTo>
                <a:lnTo>
                  <a:pt x="235141" y="264371"/>
                </a:lnTo>
                <a:lnTo>
                  <a:pt x="194559" y="285146"/>
                </a:lnTo>
                <a:lnTo>
                  <a:pt x="147827" y="292607"/>
                </a:lnTo>
                <a:lnTo>
                  <a:pt x="101096" y="285146"/>
                </a:lnTo>
                <a:lnTo>
                  <a:pt x="60514" y="264371"/>
                </a:lnTo>
                <a:lnTo>
                  <a:pt x="28517" y="232696"/>
                </a:lnTo>
                <a:lnTo>
                  <a:pt x="7534" y="192536"/>
                </a:lnTo>
                <a:lnTo>
                  <a:pt x="0" y="146303"/>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4" name="object 54"/>
          <p:cNvSpPr txBox="1"/>
          <p:nvPr/>
        </p:nvSpPr>
        <p:spPr>
          <a:xfrm>
            <a:off x="5640137" y="2471733"/>
            <a:ext cx="909311" cy="596900"/>
          </a:xfrm>
          <a:prstGeom prst="rect">
            <a:avLst/>
          </a:prstGeom>
          <a:ln w="19050">
            <a:solidFill>
              <a:srgbClr val="FFFFFF"/>
            </a:solidFill>
          </a:ln>
        </p:spPr>
        <p:txBody>
          <a:bodyPr vert="horz" wrap="square" lIns="0" tIns="112315" rIns="0" bIns="0" rtlCol="0">
            <a:spAutoFit/>
          </a:bodyPr>
          <a:lstStyle/>
          <a:p>
            <a:pPr algn="ctr">
              <a:lnSpc>
                <a:spcPct val="100000"/>
              </a:lnSpc>
              <a:spcBef>
                <a:spcPts val="885"/>
              </a:spcBef>
            </a:pPr>
            <a:r>
              <a:rPr sz="1400" dirty="0">
                <a:solidFill>
                  <a:srgbClr val="FFFFFF"/>
                </a:solidFill>
                <a:latin typeface="微软雅黑" panose="020B0503020204020204" charset="-122"/>
                <a:ea typeface="微软雅黑" panose="020B0503020204020204" charset="-122"/>
                <a:cs typeface="微软雅黑" panose="020B0503020204020204" charset="-122"/>
              </a:rPr>
              <a:t>7</a:t>
            </a:r>
            <a:endParaRPr sz="1400">
              <a:latin typeface="微软雅黑" panose="020B0503020204020204" charset="-122"/>
              <a:ea typeface="微软雅黑" panose="020B0503020204020204" charset="-122"/>
              <a:cs typeface="微软雅黑" panose="020B0503020204020204" charset="-122"/>
            </a:endParaRPr>
          </a:p>
          <a:p>
            <a:pPr marR="24765" algn="ctr">
              <a:lnSpc>
                <a:spcPct val="100000"/>
              </a:lnSpc>
              <a:spcBef>
                <a:spcPts val="425"/>
              </a:spcBef>
            </a:pPr>
            <a:r>
              <a:rPr sz="1400" dirty="0">
                <a:solidFill>
                  <a:srgbClr val="FFFFFF"/>
                </a:solidFill>
                <a:latin typeface="微软雅黑" panose="020B0503020204020204" charset="-122"/>
                <a:ea typeface="微软雅黑" panose="020B0503020204020204" charset="-122"/>
                <a:cs typeface="微软雅黑" panose="020B0503020204020204" charset="-122"/>
              </a:rPr>
              <a:t>渠道组合</a:t>
            </a:r>
            <a:endParaRPr sz="1400">
              <a:latin typeface="微软雅黑" panose="020B0503020204020204" charset="-122"/>
              <a:ea typeface="微软雅黑" panose="020B0503020204020204" charset="-122"/>
              <a:cs typeface="微软雅黑" panose="020B0503020204020204" charset="-122"/>
            </a:endParaRPr>
          </a:p>
        </p:txBody>
      </p:sp>
      <p:sp>
        <p:nvSpPr>
          <p:cNvPr id="55" name="object 55"/>
          <p:cNvSpPr/>
          <p:nvPr/>
        </p:nvSpPr>
        <p:spPr>
          <a:xfrm>
            <a:off x="6853904" y="2550924"/>
            <a:ext cx="295700" cy="292528"/>
          </a:xfrm>
          <a:custGeom>
            <a:avLst/>
            <a:gdLst/>
            <a:ahLst/>
            <a:cxnLst/>
            <a:rect l="l" t="t" r="r" b="b"/>
            <a:pathLst>
              <a:path w="295909" h="292735">
                <a:moveTo>
                  <a:pt x="147828" y="0"/>
                </a:moveTo>
                <a:lnTo>
                  <a:pt x="101096" y="7461"/>
                </a:lnTo>
                <a:lnTo>
                  <a:pt x="60514" y="28236"/>
                </a:lnTo>
                <a:lnTo>
                  <a:pt x="28517" y="59911"/>
                </a:lnTo>
                <a:lnTo>
                  <a:pt x="7534" y="100071"/>
                </a:lnTo>
                <a:lnTo>
                  <a:pt x="0" y="146303"/>
                </a:lnTo>
                <a:lnTo>
                  <a:pt x="7534" y="192536"/>
                </a:lnTo>
                <a:lnTo>
                  <a:pt x="28517" y="232696"/>
                </a:lnTo>
                <a:lnTo>
                  <a:pt x="60514" y="264371"/>
                </a:lnTo>
                <a:lnTo>
                  <a:pt x="101096" y="285146"/>
                </a:lnTo>
                <a:lnTo>
                  <a:pt x="147828" y="292607"/>
                </a:lnTo>
                <a:lnTo>
                  <a:pt x="194559" y="285146"/>
                </a:lnTo>
                <a:lnTo>
                  <a:pt x="235141" y="264371"/>
                </a:lnTo>
                <a:lnTo>
                  <a:pt x="267138" y="232696"/>
                </a:lnTo>
                <a:lnTo>
                  <a:pt x="288121" y="192536"/>
                </a:lnTo>
                <a:lnTo>
                  <a:pt x="295656" y="146303"/>
                </a:lnTo>
                <a:lnTo>
                  <a:pt x="288121" y="100071"/>
                </a:lnTo>
                <a:lnTo>
                  <a:pt x="267138" y="59911"/>
                </a:lnTo>
                <a:lnTo>
                  <a:pt x="235141" y="28236"/>
                </a:lnTo>
                <a:lnTo>
                  <a:pt x="194559" y="7461"/>
                </a:lnTo>
                <a:lnTo>
                  <a:pt x="147828"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6" name="object 56"/>
          <p:cNvSpPr/>
          <p:nvPr/>
        </p:nvSpPr>
        <p:spPr>
          <a:xfrm>
            <a:off x="6853904" y="2550924"/>
            <a:ext cx="295700" cy="292528"/>
          </a:xfrm>
          <a:custGeom>
            <a:avLst/>
            <a:gdLst/>
            <a:ahLst/>
            <a:cxnLst/>
            <a:rect l="l" t="t" r="r" b="b"/>
            <a:pathLst>
              <a:path w="295909" h="292735">
                <a:moveTo>
                  <a:pt x="0" y="146303"/>
                </a:moveTo>
                <a:lnTo>
                  <a:pt x="7534" y="100071"/>
                </a:lnTo>
                <a:lnTo>
                  <a:pt x="28517" y="59911"/>
                </a:lnTo>
                <a:lnTo>
                  <a:pt x="60514" y="28236"/>
                </a:lnTo>
                <a:lnTo>
                  <a:pt x="101096" y="7461"/>
                </a:lnTo>
                <a:lnTo>
                  <a:pt x="147828" y="0"/>
                </a:lnTo>
                <a:lnTo>
                  <a:pt x="194559" y="7461"/>
                </a:lnTo>
                <a:lnTo>
                  <a:pt x="235141" y="28236"/>
                </a:lnTo>
                <a:lnTo>
                  <a:pt x="267138" y="59911"/>
                </a:lnTo>
                <a:lnTo>
                  <a:pt x="288121" y="100071"/>
                </a:lnTo>
                <a:lnTo>
                  <a:pt x="295656" y="146303"/>
                </a:lnTo>
                <a:lnTo>
                  <a:pt x="288121" y="192536"/>
                </a:lnTo>
                <a:lnTo>
                  <a:pt x="267138" y="232696"/>
                </a:lnTo>
                <a:lnTo>
                  <a:pt x="235141" y="264371"/>
                </a:lnTo>
                <a:lnTo>
                  <a:pt x="194559" y="285146"/>
                </a:lnTo>
                <a:lnTo>
                  <a:pt x="147828" y="292607"/>
                </a:lnTo>
                <a:lnTo>
                  <a:pt x="101096" y="285146"/>
                </a:lnTo>
                <a:lnTo>
                  <a:pt x="60514" y="264371"/>
                </a:lnTo>
                <a:lnTo>
                  <a:pt x="28517" y="232696"/>
                </a:lnTo>
                <a:lnTo>
                  <a:pt x="7534" y="192536"/>
                </a:lnTo>
                <a:lnTo>
                  <a:pt x="0" y="146303"/>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7" name="object 57"/>
          <p:cNvSpPr/>
          <p:nvPr/>
        </p:nvSpPr>
        <p:spPr>
          <a:xfrm>
            <a:off x="7790500" y="2550924"/>
            <a:ext cx="294431" cy="292528"/>
          </a:xfrm>
          <a:custGeom>
            <a:avLst/>
            <a:gdLst/>
            <a:ahLst/>
            <a:cxnLst/>
            <a:rect l="l" t="t" r="r" b="b"/>
            <a:pathLst>
              <a:path w="294640" h="292735">
                <a:moveTo>
                  <a:pt x="147066" y="0"/>
                </a:moveTo>
                <a:lnTo>
                  <a:pt x="100559" y="7461"/>
                </a:lnTo>
                <a:lnTo>
                  <a:pt x="60185" y="28236"/>
                </a:lnTo>
                <a:lnTo>
                  <a:pt x="28358" y="59911"/>
                </a:lnTo>
                <a:lnTo>
                  <a:pt x="7491" y="100071"/>
                </a:lnTo>
                <a:lnTo>
                  <a:pt x="0" y="146303"/>
                </a:lnTo>
                <a:lnTo>
                  <a:pt x="7491" y="192536"/>
                </a:lnTo>
                <a:lnTo>
                  <a:pt x="28358" y="232696"/>
                </a:lnTo>
                <a:lnTo>
                  <a:pt x="60185" y="264371"/>
                </a:lnTo>
                <a:lnTo>
                  <a:pt x="100559" y="285146"/>
                </a:lnTo>
                <a:lnTo>
                  <a:pt x="147066" y="292607"/>
                </a:lnTo>
                <a:lnTo>
                  <a:pt x="193572" y="285146"/>
                </a:lnTo>
                <a:lnTo>
                  <a:pt x="233946" y="264371"/>
                </a:lnTo>
                <a:lnTo>
                  <a:pt x="265773" y="232696"/>
                </a:lnTo>
                <a:lnTo>
                  <a:pt x="286640" y="192536"/>
                </a:lnTo>
                <a:lnTo>
                  <a:pt x="294131" y="146303"/>
                </a:lnTo>
                <a:lnTo>
                  <a:pt x="286640" y="100071"/>
                </a:lnTo>
                <a:lnTo>
                  <a:pt x="265773" y="59911"/>
                </a:lnTo>
                <a:lnTo>
                  <a:pt x="233946" y="28236"/>
                </a:lnTo>
                <a:lnTo>
                  <a:pt x="193572" y="7461"/>
                </a:lnTo>
                <a:lnTo>
                  <a:pt x="147066"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8" name="object 58"/>
          <p:cNvSpPr/>
          <p:nvPr/>
        </p:nvSpPr>
        <p:spPr>
          <a:xfrm>
            <a:off x="7790500" y="2550924"/>
            <a:ext cx="294431" cy="292528"/>
          </a:xfrm>
          <a:custGeom>
            <a:avLst/>
            <a:gdLst/>
            <a:ahLst/>
            <a:cxnLst/>
            <a:rect l="l" t="t" r="r" b="b"/>
            <a:pathLst>
              <a:path w="294640" h="292735">
                <a:moveTo>
                  <a:pt x="0" y="146303"/>
                </a:moveTo>
                <a:lnTo>
                  <a:pt x="7491" y="100071"/>
                </a:lnTo>
                <a:lnTo>
                  <a:pt x="28358" y="59911"/>
                </a:lnTo>
                <a:lnTo>
                  <a:pt x="60185" y="28236"/>
                </a:lnTo>
                <a:lnTo>
                  <a:pt x="100559" y="7461"/>
                </a:lnTo>
                <a:lnTo>
                  <a:pt x="147066" y="0"/>
                </a:lnTo>
                <a:lnTo>
                  <a:pt x="193572" y="7461"/>
                </a:lnTo>
                <a:lnTo>
                  <a:pt x="233946" y="28236"/>
                </a:lnTo>
                <a:lnTo>
                  <a:pt x="265773" y="59911"/>
                </a:lnTo>
                <a:lnTo>
                  <a:pt x="286640" y="100071"/>
                </a:lnTo>
                <a:lnTo>
                  <a:pt x="294131" y="146303"/>
                </a:lnTo>
                <a:lnTo>
                  <a:pt x="286640" y="192536"/>
                </a:lnTo>
                <a:lnTo>
                  <a:pt x="265773" y="232696"/>
                </a:lnTo>
                <a:lnTo>
                  <a:pt x="233946" y="264371"/>
                </a:lnTo>
                <a:lnTo>
                  <a:pt x="193572" y="285146"/>
                </a:lnTo>
                <a:lnTo>
                  <a:pt x="147066" y="292607"/>
                </a:lnTo>
                <a:lnTo>
                  <a:pt x="100559" y="285146"/>
                </a:lnTo>
                <a:lnTo>
                  <a:pt x="60185" y="264371"/>
                </a:lnTo>
                <a:lnTo>
                  <a:pt x="28358" y="232696"/>
                </a:lnTo>
                <a:lnTo>
                  <a:pt x="7491" y="192536"/>
                </a:lnTo>
                <a:lnTo>
                  <a:pt x="0" y="146303"/>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9" name="object 59"/>
          <p:cNvSpPr txBox="1"/>
          <p:nvPr/>
        </p:nvSpPr>
        <p:spPr>
          <a:xfrm>
            <a:off x="6558838" y="2517902"/>
            <a:ext cx="1873827" cy="766445"/>
          </a:xfrm>
          <a:prstGeom prst="rect">
            <a:avLst/>
          </a:prstGeom>
        </p:spPr>
        <p:txBody>
          <a:bodyPr vert="horz" wrap="square" lIns="0" tIns="66627" rIns="0" bIns="0" rtlCol="0">
            <a:spAutoFit/>
          </a:bodyPr>
          <a:lstStyle/>
          <a:p>
            <a:pPr marL="393700">
              <a:lnSpc>
                <a:spcPct val="100000"/>
              </a:lnSpc>
              <a:spcBef>
                <a:spcPts val="525"/>
              </a:spcBef>
              <a:tabLst>
                <a:tab pos="1330325" algn="l"/>
              </a:tabLst>
            </a:pPr>
            <a:r>
              <a:rPr sz="1400" dirty="0">
                <a:solidFill>
                  <a:srgbClr val="FFFFFF"/>
                </a:solidFill>
                <a:latin typeface="微软雅黑" panose="020B0503020204020204" charset="-122"/>
                <a:ea typeface="微软雅黑" panose="020B0503020204020204" charset="-122"/>
                <a:cs typeface="微软雅黑" panose="020B0503020204020204" charset="-122"/>
              </a:rPr>
              <a:t>8	9</a:t>
            </a:r>
            <a:endParaRPr sz="1400">
              <a:latin typeface="微软雅黑" panose="020B0503020204020204" charset="-122"/>
              <a:ea typeface="微软雅黑" panose="020B0503020204020204" charset="-122"/>
              <a:cs typeface="微软雅黑" panose="020B0503020204020204" charset="-122"/>
            </a:endParaRPr>
          </a:p>
          <a:p>
            <a:pPr marL="71755" marR="5080">
              <a:lnSpc>
                <a:spcPct val="100000"/>
              </a:lnSpc>
              <a:spcBef>
                <a:spcPts val="425"/>
              </a:spcBef>
              <a:tabLst>
                <a:tab pos="970280" algn="l"/>
              </a:tabLst>
            </a:pPr>
            <a:r>
              <a:rPr sz="1400" dirty="0">
                <a:solidFill>
                  <a:srgbClr val="FFFFFF"/>
                </a:solidFill>
                <a:latin typeface="微软雅黑" panose="020B0503020204020204" charset="-122"/>
                <a:ea typeface="微软雅黑" panose="020B0503020204020204" charset="-122"/>
                <a:cs typeface="微软雅黑" panose="020B0503020204020204" charset="-122"/>
              </a:rPr>
              <a:t>渠道销售	</a:t>
            </a:r>
            <a:r>
              <a:rPr sz="1400" dirty="0">
                <a:latin typeface="微软雅黑" panose="020B0503020204020204" charset="-122"/>
                <a:ea typeface="微软雅黑" panose="020B0503020204020204" charset="-122"/>
                <a:cs typeface="微软雅黑" panose="020B0503020204020204" charset="-122"/>
              </a:rPr>
              <a:t>跨市场协调 </a:t>
            </a:r>
            <a:r>
              <a:rPr sz="1400" dirty="0">
                <a:solidFill>
                  <a:srgbClr val="FFFFFF"/>
                </a:solidFill>
                <a:latin typeface="微软雅黑" panose="020B0503020204020204" charset="-122"/>
                <a:ea typeface="微软雅黑" panose="020B0503020204020204" charset="-122"/>
                <a:cs typeface="微软雅黑" panose="020B0503020204020204" charset="-122"/>
              </a:rPr>
              <a:t>管理</a:t>
            </a:r>
            <a:endParaRPr sz="1400">
              <a:latin typeface="微软雅黑" panose="020B0503020204020204" charset="-122"/>
              <a:ea typeface="微软雅黑" panose="020B0503020204020204" charset="-122"/>
              <a:cs typeface="微软雅黑" panose="020B0503020204020204" charset="-122"/>
            </a:endParaRPr>
          </a:p>
        </p:txBody>
      </p:sp>
      <p:sp>
        <p:nvSpPr>
          <p:cNvPr id="60" name="object 60"/>
          <p:cNvSpPr/>
          <p:nvPr/>
        </p:nvSpPr>
        <p:spPr>
          <a:xfrm>
            <a:off x="252043" y="4421071"/>
            <a:ext cx="294431" cy="292528"/>
          </a:xfrm>
          <a:custGeom>
            <a:avLst/>
            <a:gdLst/>
            <a:ahLst/>
            <a:cxnLst/>
            <a:rect l="l" t="t" r="r" b="b"/>
            <a:pathLst>
              <a:path w="294640" h="292735">
                <a:moveTo>
                  <a:pt x="147066" y="0"/>
                </a:moveTo>
                <a:lnTo>
                  <a:pt x="100584" y="7461"/>
                </a:lnTo>
                <a:lnTo>
                  <a:pt x="60213" y="28236"/>
                </a:lnTo>
                <a:lnTo>
                  <a:pt x="28376" y="59911"/>
                </a:lnTo>
                <a:lnTo>
                  <a:pt x="7498" y="100071"/>
                </a:lnTo>
                <a:lnTo>
                  <a:pt x="0" y="146303"/>
                </a:lnTo>
                <a:lnTo>
                  <a:pt x="7498" y="192536"/>
                </a:lnTo>
                <a:lnTo>
                  <a:pt x="28376" y="232696"/>
                </a:lnTo>
                <a:lnTo>
                  <a:pt x="60213" y="264371"/>
                </a:lnTo>
                <a:lnTo>
                  <a:pt x="100584" y="285146"/>
                </a:lnTo>
                <a:lnTo>
                  <a:pt x="147066" y="292607"/>
                </a:lnTo>
                <a:lnTo>
                  <a:pt x="193548" y="285146"/>
                </a:lnTo>
                <a:lnTo>
                  <a:pt x="233918" y="264371"/>
                </a:lnTo>
                <a:lnTo>
                  <a:pt x="265755" y="232696"/>
                </a:lnTo>
                <a:lnTo>
                  <a:pt x="286633" y="192536"/>
                </a:lnTo>
                <a:lnTo>
                  <a:pt x="294132" y="146303"/>
                </a:lnTo>
                <a:lnTo>
                  <a:pt x="286633" y="100071"/>
                </a:lnTo>
                <a:lnTo>
                  <a:pt x="265755" y="59911"/>
                </a:lnTo>
                <a:lnTo>
                  <a:pt x="233918" y="28236"/>
                </a:lnTo>
                <a:lnTo>
                  <a:pt x="193548" y="7461"/>
                </a:lnTo>
                <a:lnTo>
                  <a:pt x="147066"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1" name="object 61"/>
          <p:cNvSpPr/>
          <p:nvPr/>
        </p:nvSpPr>
        <p:spPr>
          <a:xfrm>
            <a:off x="252043" y="4421071"/>
            <a:ext cx="294431" cy="292528"/>
          </a:xfrm>
          <a:custGeom>
            <a:avLst/>
            <a:gdLst/>
            <a:ahLst/>
            <a:cxnLst/>
            <a:rect l="l" t="t" r="r" b="b"/>
            <a:pathLst>
              <a:path w="294640" h="292735">
                <a:moveTo>
                  <a:pt x="0" y="146303"/>
                </a:moveTo>
                <a:lnTo>
                  <a:pt x="7498" y="100071"/>
                </a:lnTo>
                <a:lnTo>
                  <a:pt x="28376" y="59911"/>
                </a:lnTo>
                <a:lnTo>
                  <a:pt x="60213" y="28236"/>
                </a:lnTo>
                <a:lnTo>
                  <a:pt x="100584" y="7461"/>
                </a:lnTo>
                <a:lnTo>
                  <a:pt x="147066" y="0"/>
                </a:lnTo>
                <a:lnTo>
                  <a:pt x="193548" y="7461"/>
                </a:lnTo>
                <a:lnTo>
                  <a:pt x="233918" y="28236"/>
                </a:lnTo>
                <a:lnTo>
                  <a:pt x="265755" y="59911"/>
                </a:lnTo>
                <a:lnTo>
                  <a:pt x="286633" y="100071"/>
                </a:lnTo>
                <a:lnTo>
                  <a:pt x="294132" y="146303"/>
                </a:lnTo>
                <a:lnTo>
                  <a:pt x="286633" y="192536"/>
                </a:lnTo>
                <a:lnTo>
                  <a:pt x="265755" y="232696"/>
                </a:lnTo>
                <a:lnTo>
                  <a:pt x="233918" y="264371"/>
                </a:lnTo>
                <a:lnTo>
                  <a:pt x="193548" y="285146"/>
                </a:lnTo>
                <a:lnTo>
                  <a:pt x="147066" y="292607"/>
                </a:lnTo>
                <a:lnTo>
                  <a:pt x="100584" y="285146"/>
                </a:lnTo>
                <a:lnTo>
                  <a:pt x="60213" y="264371"/>
                </a:lnTo>
                <a:lnTo>
                  <a:pt x="28376" y="232696"/>
                </a:lnTo>
                <a:lnTo>
                  <a:pt x="7498" y="192536"/>
                </a:lnTo>
                <a:lnTo>
                  <a:pt x="0" y="146303"/>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2" name="object 62"/>
          <p:cNvSpPr/>
          <p:nvPr/>
        </p:nvSpPr>
        <p:spPr>
          <a:xfrm>
            <a:off x="169806" y="5292182"/>
            <a:ext cx="8341163" cy="0"/>
          </a:xfrm>
          <a:custGeom>
            <a:avLst/>
            <a:gdLst/>
            <a:ahLst/>
            <a:cxnLst/>
            <a:rect l="l" t="t" r="r" b="b"/>
            <a:pathLst>
              <a:path w="8347075">
                <a:moveTo>
                  <a:pt x="8346948" y="0"/>
                </a:moveTo>
                <a:lnTo>
                  <a:pt x="0" y="0"/>
                </a:lnTo>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3" name="object 63"/>
          <p:cNvSpPr/>
          <p:nvPr/>
        </p:nvSpPr>
        <p:spPr>
          <a:xfrm>
            <a:off x="241383" y="4917543"/>
            <a:ext cx="295700" cy="292528"/>
          </a:xfrm>
          <a:custGeom>
            <a:avLst/>
            <a:gdLst/>
            <a:ahLst/>
            <a:cxnLst/>
            <a:rect l="l" t="t" r="r" b="b"/>
            <a:pathLst>
              <a:path w="295909" h="292735">
                <a:moveTo>
                  <a:pt x="147828" y="0"/>
                </a:moveTo>
                <a:lnTo>
                  <a:pt x="101100" y="7461"/>
                </a:lnTo>
                <a:lnTo>
                  <a:pt x="60520" y="28236"/>
                </a:lnTo>
                <a:lnTo>
                  <a:pt x="28520" y="59911"/>
                </a:lnTo>
                <a:lnTo>
                  <a:pt x="7535" y="100071"/>
                </a:lnTo>
                <a:lnTo>
                  <a:pt x="0" y="146303"/>
                </a:lnTo>
                <a:lnTo>
                  <a:pt x="7535" y="192536"/>
                </a:lnTo>
                <a:lnTo>
                  <a:pt x="28520" y="232696"/>
                </a:lnTo>
                <a:lnTo>
                  <a:pt x="60520" y="264371"/>
                </a:lnTo>
                <a:lnTo>
                  <a:pt x="101100" y="285146"/>
                </a:lnTo>
                <a:lnTo>
                  <a:pt x="147828" y="292607"/>
                </a:lnTo>
                <a:lnTo>
                  <a:pt x="194555" y="285146"/>
                </a:lnTo>
                <a:lnTo>
                  <a:pt x="235135" y="264371"/>
                </a:lnTo>
                <a:lnTo>
                  <a:pt x="267135" y="232696"/>
                </a:lnTo>
                <a:lnTo>
                  <a:pt x="288120" y="192536"/>
                </a:lnTo>
                <a:lnTo>
                  <a:pt x="295655" y="146303"/>
                </a:lnTo>
                <a:lnTo>
                  <a:pt x="288120" y="100071"/>
                </a:lnTo>
                <a:lnTo>
                  <a:pt x="267135" y="59911"/>
                </a:lnTo>
                <a:lnTo>
                  <a:pt x="235135" y="28236"/>
                </a:lnTo>
                <a:lnTo>
                  <a:pt x="194555" y="7461"/>
                </a:lnTo>
                <a:lnTo>
                  <a:pt x="147828"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4" name="object 64"/>
          <p:cNvSpPr/>
          <p:nvPr/>
        </p:nvSpPr>
        <p:spPr>
          <a:xfrm>
            <a:off x="241383" y="4917543"/>
            <a:ext cx="295700" cy="292528"/>
          </a:xfrm>
          <a:custGeom>
            <a:avLst/>
            <a:gdLst/>
            <a:ahLst/>
            <a:cxnLst/>
            <a:rect l="l" t="t" r="r" b="b"/>
            <a:pathLst>
              <a:path w="295909" h="292735">
                <a:moveTo>
                  <a:pt x="0" y="146303"/>
                </a:moveTo>
                <a:lnTo>
                  <a:pt x="7535" y="100071"/>
                </a:lnTo>
                <a:lnTo>
                  <a:pt x="28520" y="59911"/>
                </a:lnTo>
                <a:lnTo>
                  <a:pt x="60520" y="28236"/>
                </a:lnTo>
                <a:lnTo>
                  <a:pt x="101100" y="7461"/>
                </a:lnTo>
                <a:lnTo>
                  <a:pt x="147828" y="0"/>
                </a:lnTo>
                <a:lnTo>
                  <a:pt x="194555" y="7461"/>
                </a:lnTo>
                <a:lnTo>
                  <a:pt x="235135" y="28236"/>
                </a:lnTo>
                <a:lnTo>
                  <a:pt x="267135" y="59911"/>
                </a:lnTo>
                <a:lnTo>
                  <a:pt x="288120" y="100071"/>
                </a:lnTo>
                <a:lnTo>
                  <a:pt x="295655" y="146303"/>
                </a:lnTo>
                <a:lnTo>
                  <a:pt x="288120" y="192536"/>
                </a:lnTo>
                <a:lnTo>
                  <a:pt x="267135" y="232696"/>
                </a:lnTo>
                <a:lnTo>
                  <a:pt x="235135" y="264371"/>
                </a:lnTo>
                <a:lnTo>
                  <a:pt x="194555" y="285146"/>
                </a:lnTo>
                <a:lnTo>
                  <a:pt x="147828" y="292607"/>
                </a:lnTo>
                <a:lnTo>
                  <a:pt x="101100" y="285146"/>
                </a:lnTo>
                <a:lnTo>
                  <a:pt x="60520" y="264371"/>
                </a:lnTo>
                <a:lnTo>
                  <a:pt x="28520" y="232696"/>
                </a:lnTo>
                <a:lnTo>
                  <a:pt x="7535" y="192536"/>
                </a:lnTo>
                <a:lnTo>
                  <a:pt x="0" y="146303"/>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5" name="object 65"/>
          <p:cNvSpPr txBox="1"/>
          <p:nvPr/>
        </p:nvSpPr>
        <p:spPr>
          <a:xfrm>
            <a:off x="284278" y="4442011"/>
            <a:ext cx="696102" cy="730250"/>
          </a:xfrm>
          <a:prstGeom prst="rect">
            <a:avLst/>
          </a:prstGeom>
        </p:spPr>
        <p:txBody>
          <a:bodyPr vert="horz" wrap="square" lIns="0" tIns="12691" rIns="0" bIns="0" rtlCol="0">
            <a:spAutoFit/>
          </a:bodyPr>
          <a:lstStyle/>
          <a:p>
            <a:pPr marL="326390" indent="-311785">
              <a:lnSpc>
                <a:spcPct val="100000"/>
              </a:lnSpc>
              <a:spcBef>
                <a:spcPts val="100"/>
              </a:spcBef>
              <a:buClr>
                <a:srgbClr val="FFFFFF"/>
              </a:buClr>
              <a:buFont typeface="Arial" panose="020B0604020202020204"/>
              <a:buAutoNum type="arabicPlain" startAt="10"/>
              <a:tabLst>
                <a:tab pos="327025" algn="l"/>
              </a:tabLst>
            </a:pPr>
            <a:r>
              <a:rPr sz="2100" baseline="2000" dirty="0">
                <a:latin typeface="微软雅黑" panose="020B0503020204020204" charset="-122"/>
                <a:ea typeface="微软雅黑" panose="020B0503020204020204" charset="-122"/>
                <a:cs typeface="微软雅黑" panose="020B0503020204020204" charset="-122"/>
              </a:rPr>
              <a:t>组织</a:t>
            </a:r>
            <a:endParaRPr sz="2100" baseline="2000">
              <a:latin typeface="微软雅黑" panose="020B0503020204020204" charset="-122"/>
              <a:ea typeface="微软雅黑" panose="020B0503020204020204" charset="-122"/>
              <a:cs typeface="微软雅黑" panose="020B0503020204020204" charset="-122"/>
            </a:endParaRPr>
          </a:p>
          <a:p>
            <a:pPr>
              <a:lnSpc>
                <a:spcPct val="100000"/>
              </a:lnSpc>
              <a:spcBef>
                <a:spcPts val="50"/>
              </a:spcBef>
              <a:buClr>
                <a:srgbClr val="FFFFFF"/>
              </a:buClr>
              <a:buFont typeface="Arial" panose="020B0604020202020204"/>
              <a:buAutoNum type="arabicPlain" startAt="10"/>
            </a:pPr>
            <a:endParaRPr sz="1900">
              <a:latin typeface="微软雅黑" panose="020B0503020204020204" charset="-122"/>
              <a:ea typeface="微软雅黑" panose="020B0503020204020204" charset="-122"/>
              <a:cs typeface="Times New Roman" panose="02020603050405020304"/>
            </a:endParaRPr>
          </a:p>
          <a:p>
            <a:pPr marL="316865" indent="-304800">
              <a:lnSpc>
                <a:spcPct val="100000"/>
              </a:lnSpc>
              <a:spcBef>
                <a:spcPts val="5"/>
              </a:spcBef>
              <a:buClr>
                <a:srgbClr val="FFFFFF"/>
              </a:buClr>
              <a:buFont typeface="Arial" panose="020B0604020202020204"/>
              <a:buAutoNum type="arabicPlain" startAt="10"/>
              <a:tabLst>
                <a:tab pos="317500" algn="l"/>
              </a:tabLst>
            </a:pPr>
            <a:r>
              <a:rPr sz="2100" baseline="2000" dirty="0">
                <a:latin typeface="微软雅黑" panose="020B0503020204020204" charset="-122"/>
                <a:ea typeface="微软雅黑" panose="020B0503020204020204" charset="-122"/>
                <a:cs typeface="微软雅黑" panose="020B0503020204020204" charset="-122"/>
              </a:rPr>
              <a:t>品牌</a:t>
            </a:r>
            <a:endParaRPr sz="2100" baseline="2000">
              <a:latin typeface="微软雅黑" panose="020B0503020204020204" charset="-122"/>
              <a:ea typeface="微软雅黑" panose="020B0503020204020204" charset="-122"/>
              <a:cs typeface="微软雅黑" panose="020B0503020204020204" charset="-122"/>
            </a:endParaRPr>
          </a:p>
        </p:txBody>
      </p:sp>
      <p:sp>
        <p:nvSpPr>
          <p:cNvPr id="66" name="object 66"/>
          <p:cNvSpPr/>
          <p:nvPr/>
        </p:nvSpPr>
        <p:spPr>
          <a:xfrm>
            <a:off x="233768" y="5360713"/>
            <a:ext cx="295700" cy="291259"/>
          </a:xfrm>
          <a:custGeom>
            <a:avLst/>
            <a:gdLst/>
            <a:ahLst/>
            <a:cxnLst/>
            <a:rect l="l" t="t" r="r" b="b"/>
            <a:pathLst>
              <a:path w="295909" h="291464">
                <a:moveTo>
                  <a:pt x="147827" y="0"/>
                </a:moveTo>
                <a:lnTo>
                  <a:pt x="101100" y="7418"/>
                </a:lnTo>
                <a:lnTo>
                  <a:pt x="60520" y="28078"/>
                </a:lnTo>
                <a:lnTo>
                  <a:pt x="28520" y="59582"/>
                </a:lnTo>
                <a:lnTo>
                  <a:pt x="7535" y="99535"/>
                </a:lnTo>
                <a:lnTo>
                  <a:pt x="0" y="145542"/>
                </a:lnTo>
                <a:lnTo>
                  <a:pt x="7535" y="191543"/>
                </a:lnTo>
                <a:lnTo>
                  <a:pt x="28520" y="231496"/>
                </a:lnTo>
                <a:lnTo>
                  <a:pt x="60520" y="263002"/>
                </a:lnTo>
                <a:lnTo>
                  <a:pt x="101100" y="283663"/>
                </a:lnTo>
                <a:lnTo>
                  <a:pt x="147827" y="291084"/>
                </a:lnTo>
                <a:lnTo>
                  <a:pt x="194555" y="283663"/>
                </a:lnTo>
                <a:lnTo>
                  <a:pt x="235135" y="263002"/>
                </a:lnTo>
                <a:lnTo>
                  <a:pt x="267135" y="231496"/>
                </a:lnTo>
                <a:lnTo>
                  <a:pt x="288120" y="191543"/>
                </a:lnTo>
                <a:lnTo>
                  <a:pt x="295656" y="145542"/>
                </a:lnTo>
                <a:lnTo>
                  <a:pt x="288120" y="99535"/>
                </a:lnTo>
                <a:lnTo>
                  <a:pt x="267135" y="59582"/>
                </a:lnTo>
                <a:lnTo>
                  <a:pt x="235135" y="28078"/>
                </a:lnTo>
                <a:lnTo>
                  <a:pt x="194555" y="7418"/>
                </a:lnTo>
                <a:lnTo>
                  <a:pt x="147827"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7" name="object 67"/>
          <p:cNvSpPr/>
          <p:nvPr/>
        </p:nvSpPr>
        <p:spPr>
          <a:xfrm>
            <a:off x="233768" y="5360713"/>
            <a:ext cx="295700" cy="291259"/>
          </a:xfrm>
          <a:custGeom>
            <a:avLst/>
            <a:gdLst/>
            <a:ahLst/>
            <a:cxnLst/>
            <a:rect l="l" t="t" r="r" b="b"/>
            <a:pathLst>
              <a:path w="295909" h="291464">
                <a:moveTo>
                  <a:pt x="0" y="145542"/>
                </a:moveTo>
                <a:lnTo>
                  <a:pt x="7535" y="99535"/>
                </a:lnTo>
                <a:lnTo>
                  <a:pt x="28520" y="59582"/>
                </a:lnTo>
                <a:lnTo>
                  <a:pt x="60520" y="28078"/>
                </a:lnTo>
                <a:lnTo>
                  <a:pt x="101100" y="7418"/>
                </a:lnTo>
                <a:lnTo>
                  <a:pt x="147827" y="0"/>
                </a:lnTo>
                <a:lnTo>
                  <a:pt x="194555" y="7418"/>
                </a:lnTo>
                <a:lnTo>
                  <a:pt x="235135" y="28078"/>
                </a:lnTo>
                <a:lnTo>
                  <a:pt x="267135" y="59582"/>
                </a:lnTo>
                <a:lnTo>
                  <a:pt x="288120" y="99535"/>
                </a:lnTo>
                <a:lnTo>
                  <a:pt x="295656" y="145542"/>
                </a:lnTo>
                <a:lnTo>
                  <a:pt x="288120" y="191543"/>
                </a:lnTo>
                <a:lnTo>
                  <a:pt x="267135" y="231496"/>
                </a:lnTo>
                <a:lnTo>
                  <a:pt x="235135" y="263002"/>
                </a:lnTo>
                <a:lnTo>
                  <a:pt x="194555" y="283663"/>
                </a:lnTo>
                <a:lnTo>
                  <a:pt x="147827" y="291084"/>
                </a:lnTo>
                <a:lnTo>
                  <a:pt x="101100" y="283663"/>
                </a:lnTo>
                <a:lnTo>
                  <a:pt x="60520" y="263002"/>
                </a:lnTo>
                <a:lnTo>
                  <a:pt x="28520" y="231496"/>
                </a:lnTo>
                <a:lnTo>
                  <a:pt x="7535" y="191543"/>
                </a:lnTo>
                <a:lnTo>
                  <a:pt x="0" y="145542"/>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8" name="object 68"/>
          <p:cNvSpPr txBox="1"/>
          <p:nvPr/>
        </p:nvSpPr>
        <p:spPr>
          <a:xfrm>
            <a:off x="269658" y="5381373"/>
            <a:ext cx="223362" cy="227330"/>
          </a:xfrm>
          <a:prstGeom prst="rect">
            <a:avLst/>
          </a:prstGeom>
        </p:spPr>
        <p:txBody>
          <a:bodyPr vert="horz" wrap="square" lIns="0" tIns="12691" rIns="0" bIns="0" rtlCol="0">
            <a:spAutoFit/>
          </a:bodyPr>
          <a:lstStyle/>
          <a:p>
            <a:pPr marL="12700">
              <a:lnSpc>
                <a:spcPct val="100000"/>
              </a:lnSpc>
              <a:spcBef>
                <a:spcPts val="100"/>
              </a:spcBef>
            </a:pPr>
            <a:r>
              <a:rPr sz="1400" spc="-5" dirty="0">
                <a:solidFill>
                  <a:srgbClr val="FFFFFF"/>
                </a:solidFill>
                <a:latin typeface="微软雅黑" panose="020B0503020204020204" charset="-122"/>
                <a:ea typeface="微软雅黑" panose="020B0503020204020204" charset="-122"/>
                <a:cs typeface="Arial" panose="020B0604020202020204"/>
              </a:rPr>
              <a:t>12</a:t>
            </a:r>
            <a:endParaRPr sz="1400" spc="-5" dirty="0">
              <a:solidFill>
                <a:srgbClr val="FFFFFF"/>
              </a:solidFill>
              <a:latin typeface="微软雅黑" panose="020B0503020204020204" charset="-122"/>
              <a:ea typeface="微软雅黑" panose="020B0503020204020204" charset="-122"/>
              <a:cs typeface="Arial" panose="020B0604020202020204"/>
            </a:endParaRPr>
          </a:p>
        </p:txBody>
      </p:sp>
      <p:sp>
        <p:nvSpPr>
          <p:cNvPr id="69" name="object 69"/>
          <p:cNvSpPr/>
          <p:nvPr/>
        </p:nvSpPr>
        <p:spPr>
          <a:xfrm>
            <a:off x="235291" y="5770379"/>
            <a:ext cx="295700" cy="291259"/>
          </a:xfrm>
          <a:custGeom>
            <a:avLst/>
            <a:gdLst/>
            <a:ahLst/>
            <a:cxnLst/>
            <a:rect l="l" t="t" r="r" b="b"/>
            <a:pathLst>
              <a:path w="295909" h="291464">
                <a:moveTo>
                  <a:pt x="147828" y="0"/>
                </a:moveTo>
                <a:lnTo>
                  <a:pt x="101100" y="7420"/>
                </a:lnTo>
                <a:lnTo>
                  <a:pt x="60520" y="28081"/>
                </a:lnTo>
                <a:lnTo>
                  <a:pt x="28520" y="59587"/>
                </a:lnTo>
                <a:lnTo>
                  <a:pt x="7535" y="99540"/>
                </a:lnTo>
                <a:lnTo>
                  <a:pt x="0" y="145541"/>
                </a:lnTo>
                <a:lnTo>
                  <a:pt x="7535" y="191543"/>
                </a:lnTo>
                <a:lnTo>
                  <a:pt x="28520" y="231496"/>
                </a:lnTo>
                <a:lnTo>
                  <a:pt x="60520" y="263002"/>
                </a:lnTo>
                <a:lnTo>
                  <a:pt x="101100" y="283663"/>
                </a:lnTo>
                <a:lnTo>
                  <a:pt x="147828" y="291083"/>
                </a:lnTo>
                <a:lnTo>
                  <a:pt x="194555" y="283663"/>
                </a:lnTo>
                <a:lnTo>
                  <a:pt x="235135" y="263002"/>
                </a:lnTo>
                <a:lnTo>
                  <a:pt x="267135" y="231496"/>
                </a:lnTo>
                <a:lnTo>
                  <a:pt x="288120" y="191543"/>
                </a:lnTo>
                <a:lnTo>
                  <a:pt x="295656" y="145541"/>
                </a:lnTo>
                <a:lnTo>
                  <a:pt x="288120" y="99540"/>
                </a:lnTo>
                <a:lnTo>
                  <a:pt x="267135" y="59587"/>
                </a:lnTo>
                <a:lnTo>
                  <a:pt x="235135" y="28081"/>
                </a:lnTo>
                <a:lnTo>
                  <a:pt x="194555" y="7420"/>
                </a:lnTo>
                <a:lnTo>
                  <a:pt x="147828"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0" name="object 70"/>
          <p:cNvSpPr/>
          <p:nvPr/>
        </p:nvSpPr>
        <p:spPr>
          <a:xfrm>
            <a:off x="235291" y="5770379"/>
            <a:ext cx="295700" cy="291259"/>
          </a:xfrm>
          <a:custGeom>
            <a:avLst/>
            <a:gdLst/>
            <a:ahLst/>
            <a:cxnLst/>
            <a:rect l="l" t="t" r="r" b="b"/>
            <a:pathLst>
              <a:path w="295909" h="291464">
                <a:moveTo>
                  <a:pt x="0" y="145541"/>
                </a:moveTo>
                <a:lnTo>
                  <a:pt x="7535" y="99540"/>
                </a:lnTo>
                <a:lnTo>
                  <a:pt x="28520" y="59587"/>
                </a:lnTo>
                <a:lnTo>
                  <a:pt x="60520" y="28081"/>
                </a:lnTo>
                <a:lnTo>
                  <a:pt x="101100" y="7420"/>
                </a:lnTo>
                <a:lnTo>
                  <a:pt x="147828" y="0"/>
                </a:lnTo>
                <a:lnTo>
                  <a:pt x="194555" y="7420"/>
                </a:lnTo>
                <a:lnTo>
                  <a:pt x="235135" y="28081"/>
                </a:lnTo>
                <a:lnTo>
                  <a:pt x="267135" y="59587"/>
                </a:lnTo>
                <a:lnTo>
                  <a:pt x="288120" y="99540"/>
                </a:lnTo>
                <a:lnTo>
                  <a:pt x="295656" y="145541"/>
                </a:lnTo>
                <a:lnTo>
                  <a:pt x="288120" y="191543"/>
                </a:lnTo>
                <a:lnTo>
                  <a:pt x="267135" y="231496"/>
                </a:lnTo>
                <a:lnTo>
                  <a:pt x="235135" y="263002"/>
                </a:lnTo>
                <a:lnTo>
                  <a:pt x="194555" y="283663"/>
                </a:lnTo>
                <a:lnTo>
                  <a:pt x="147828" y="291083"/>
                </a:lnTo>
                <a:lnTo>
                  <a:pt x="101100" y="283663"/>
                </a:lnTo>
                <a:lnTo>
                  <a:pt x="60520" y="263002"/>
                </a:lnTo>
                <a:lnTo>
                  <a:pt x="28520" y="231496"/>
                </a:lnTo>
                <a:lnTo>
                  <a:pt x="7535" y="191543"/>
                </a:lnTo>
                <a:lnTo>
                  <a:pt x="0" y="145541"/>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1" name="object 71"/>
          <p:cNvSpPr txBox="1"/>
          <p:nvPr/>
        </p:nvSpPr>
        <p:spPr>
          <a:xfrm>
            <a:off x="271181" y="5800481"/>
            <a:ext cx="1224047" cy="227330"/>
          </a:xfrm>
          <a:prstGeom prst="rect">
            <a:avLst/>
          </a:prstGeom>
        </p:spPr>
        <p:txBody>
          <a:bodyPr vert="horz" wrap="square" lIns="0" tIns="12691" rIns="0" bIns="0" rtlCol="0">
            <a:spAutoFit/>
          </a:bodyPr>
          <a:lstStyle/>
          <a:p>
            <a:pPr marL="12700">
              <a:lnSpc>
                <a:spcPct val="100000"/>
              </a:lnSpc>
              <a:spcBef>
                <a:spcPts val="100"/>
              </a:spcBef>
              <a:tabLst>
                <a:tab pos="339725" algn="l"/>
              </a:tabLst>
            </a:pPr>
            <a:r>
              <a:rPr sz="2100" baseline="4000" dirty="0">
                <a:solidFill>
                  <a:srgbClr val="FFFFFF"/>
                </a:solidFill>
                <a:latin typeface="微软雅黑" panose="020B0503020204020204" charset="-122"/>
                <a:ea typeface="微软雅黑" panose="020B0503020204020204" charset="-122"/>
                <a:cs typeface="微软雅黑" panose="020B0503020204020204" charset="-122"/>
              </a:rPr>
              <a:t>13	</a:t>
            </a:r>
            <a:r>
              <a:rPr sz="1400" spc="5" dirty="0">
                <a:latin typeface="微软雅黑" panose="020B0503020204020204" charset="-122"/>
                <a:ea typeface="微软雅黑" panose="020B0503020204020204" charset="-122"/>
                <a:cs typeface="微软雅黑" panose="020B0503020204020204" charset="-122"/>
              </a:rPr>
              <a:t>I</a:t>
            </a:r>
            <a:r>
              <a:rPr sz="1400" spc="-10" dirty="0">
                <a:latin typeface="微软雅黑" panose="020B0503020204020204" charset="-122"/>
                <a:ea typeface="微软雅黑" panose="020B0503020204020204" charset="-122"/>
                <a:cs typeface="微软雅黑" panose="020B0503020204020204" charset="-122"/>
              </a:rPr>
              <a:t>T</a:t>
            </a:r>
            <a:r>
              <a:rPr sz="1400" dirty="0">
                <a:latin typeface="微软雅黑" panose="020B0503020204020204" charset="-122"/>
                <a:ea typeface="微软雅黑" panose="020B0503020204020204" charset="-122"/>
                <a:cs typeface="微软雅黑" panose="020B0503020204020204" charset="-122"/>
              </a:rPr>
              <a:t>基础架构</a:t>
            </a:r>
            <a:endParaRPr sz="1400">
              <a:latin typeface="微软雅黑" panose="020B0503020204020204" charset="-122"/>
              <a:ea typeface="微软雅黑" panose="020B0503020204020204" charset="-122"/>
              <a:cs typeface="微软雅黑" panose="020B0503020204020204" charset="-122"/>
            </a:endParaRPr>
          </a:p>
        </p:txBody>
      </p:sp>
      <p:sp>
        <p:nvSpPr>
          <p:cNvPr id="72" name="object 72"/>
          <p:cNvSpPr txBox="1"/>
          <p:nvPr/>
        </p:nvSpPr>
        <p:spPr>
          <a:xfrm>
            <a:off x="106401" y="6412696"/>
            <a:ext cx="982284"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5" dirty="0">
                <a:latin typeface="微软雅黑" panose="020B0503020204020204" charset="-122"/>
                <a:ea typeface="微软雅黑" panose="020B0503020204020204" charset="-122"/>
                <a:cs typeface="微软雅黑" panose="020B0503020204020204" charset="-122"/>
              </a:rPr>
              <a:t>:</a:t>
            </a:r>
            <a:r>
              <a:rPr sz="1000" spc="-45"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a:t>
            </a:r>
            <a:endParaRPr sz="10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4940354" y="3265935"/>
            <a:ext cx="76146" cy="723387"/>
          </a:xfrm>
          <a:custGeom>
            <a:avLst/>
            <a:gdLst/>
            <a:ahLst/>
            <a:cxnLst/>
            <a:rect l="l" t="t" r="r" b="b"/>
            <a:pathLst>
              <a:path w="76200" h="723900">
                <a:moveTo>
                  <a:pt x="31750" y="74921"/>
                </a:moveTo>
                <a:lnTo>
                  <a:pt x="31750" y="723900"/>
                </a:lnTo>
                <a:lnTo>
                  <a:pt x="44450" y="723900"/>
                </a:lnTo>
                <a:lnTo>
                  <a:pt x="44450" y="76200"/>
                </a:lnTo>
                <a:lnTo>
                  <a:pt x="38100" y="76200"/>
                </a:lnTo>
                <a:lnTo>
                  <a:pt x="31750" y="74921"/>
                </a:lnTo>
                <a:close/>
              </a:path>
              <a:path w="76200" h="723900">
                <a:moveTo>
                  <a:pt x="44450" y="38100"/>
                </a:moveTo>
                <a:lnTo>
                  <a:pt x="31750" y="38100"/>
                </a:lnTo>
                <a:lnTo>
                  <a:pt x="31750" y="74921"/>
                </a:lnTo>
                <a:lnTo>
                  <a:pt x="38100" y="76200"/>
                </a:lnTo>
                <a:lnTo>
                  <a:pt x="44450" y="74921"/>
                </a:lnTo>
                <a:lnTo>
                  <a:pt x="44450" y="38100"/>
                </a:lnTo>
                <a:close/>
              </a:path>
              <a:path w="76200" h="723900">
                <a:moveTo>
                  <a:pt x="44450" y="74921"/>
                </a:moveTo>
                <a:lnTo>
                  <a:pt x="38100" y="76200"/>
                </a:lnTo>
                <a:lnTo>
                  <a:pt x="44450" y="76200"/>
                </a:lnTo>
                <a:lnTo>
                  <a:pt x="44450" y="74921"/>
                </a:lnTo>
                <a:close/>
              </a:path>
              <a:path w="76200" h="723900">
                <a:moveTo>
                  <a:pt x="38100" y="0"/>
                </a:moveTo>
                <a:lnTo>
                  <a:pt x="23252" y="2988"/>
                </a:lnTo>
                <a:lnTo>
                  <a:pt x="11144" y="11144"/>
                </a:lnTo>
                <a:lnTo>
                  <a:pt x="2988" y="23252"/>
                </a:lnTo>
                <a:lnTo>
                  <a:pt x="0" y="38100"/>
                </a:lnTo>
                <a:lnTo>
                  <a:pt x="2988" y="52947"/>
                </a:lnTo>
                <a:lnTo>
                  <a:pt x="11144" y="65055"/>
                </a:lnTo>
                <a:lnTo>
                  <a:pt x="23252" y="73211"/>
                </a:lnTo>
                <a:lnTo>
                  <a:pt x="31750" y="74921"/>
                </a:lnTo>
                <a:lnTo>
                  <a:pt x="31750" y="38100"/>
                </a:lnTo>
                <a:lnTo>
                  <a:pt x="76200" y="38100"/>
                </a:lnTo>
                <a:lnTo>
                  <a:pt x="73211" y="23252"/>
                </a:lnTo>
                <a:lnTo>
                  <a:pt x="65055" y="11144"/>
                </a:lnTo>
                <a:lnTo>
                  <a:pt x="52947" y="2988"/>
                </a:lnTo>
                <a:lnTo>
                  <a:pt x="38100" y="0"/>
                </a:lnTo>
                <a:close/>
              </a:path>
              <a:path w="76200" h="723900">
                <a:moveTo>
                  <a:pt x="76200" y="38100"/>
                </a:moveTo>
                <a:lnTo>
                  <a:pt x="44450" y="38100"/>
                </a:lnTo>
                <a:lnTo>
                  <a:pt x="44450" y="74921"/>
                </a:lnTo>
                <a:lnTo>
                  <a:pt x="52947" y="73211"/>
                </a:lnTo>
                <a:lnTo>
                  <a:pt x="65055" y="65055"/>
                </a:lnTo>
                <a:lnTo>
                  <a:pt x="73211" y="52947"/>
                </a:lnTo>
                <a:lnTo>
                  <a:pt x="76200" y="3810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 name="object 4"/>
          <p:cNvSpPr txBox="1"/>
          <p:nvPr/>
        </p:nvSpPr>
        <p:spPr>
          <a:xfrm>
            <a:off x="2779456" y="2573388"/>
            <a:ext cx="3585844" cy="658495"/>
          </a:xfrm>
          <a:prstGeom prst="rect">
            <a:avLst/>
          </a:prstGeom>
        </p:spPr>
        <p:txBody>
          <a:bodyPr vert="horz" wrap="square" lIns="0" tIns="13325" rIns="0" bIns="0" rtlCol="0">
            <a:spAutoFit/>
          </a:bodyPr>
          <a:lstStyle/>
          <a:p>
            <a:pPr marL="12700" marR="5080" indent="-1270" algn="ctr">
              <a:lnSpc>
                <a:spcPct val="100000"/>
              </a:lnSpc>
              <a:spcBef>
                <a:spcPts val="105"/>
              </a:spcBef>
            </a:pPr>
            <a:r>
              <a:rPr sz="1400" b="1" spc="10" dirty="0">
                <a:latin typeface="微软雅黑" panose="020B0503020204020204" charset="-122"/>
                <a:ea typeface="微软雅黑" panose="020B0503020204020204" charset="-122"/>
                <a:cs typeface="微软雅黑" panose="020B0503020204020204" charset="-122"/>
              </a:rPr>
              <a:t>大客</a:t>
            </a:r>
            <a:r>
              <a:rPr sz="1400" b="1" dirty="0">
                <a:latin typeface="微软雅黑" panose="020B0503020204020204" charset="-122"/>
                <a:ea typeface="微软雅黑" panose="020B0503020204020204" charset="-122"/>
                <a:cs typeface="微软雅黑" panose="020B0503020204020204" charset="-122"/>
              </a:rPr>
              <a:t>户是</a:t>
            </a:r>
            <a:r>
              <a:rPr sz="1400" b="1" spc="-15" dirty="0">
                <a:latin typeface="微软雅黑" panose="020B0503020204020204" charset="-122"/>
                <a:ea typeface="微软雅黑" panose="020B0503020204020204" charset="-122"/>
                <a:cs typeface="微软雅黑" panose="020B0503020204020204" charset="-122"/>
              </a:rPr>
              <a:t>指</a:t>
            </a:r>
            <a:r>
              <a:rPr sz="1400" b="1" dirty="0">
                <a:latin typeface="微软雅黑" panose="020B0503020204020204" charset="-122"/>
                <a:ea typeface="微软雅黑" panose="020B0503020204020204" charset="-122"/>
                <a:cs typeface="微软雅黑" panose="020B0503020204020204" charset="-122"/>
              </a:rPr>
              <a:t>具有</a:t>
            </a:r>
            <a:r>
              <a:rPr sz="1400" b="1" spc="-15" dirty="0">
                <a:latin typeface="微软雅黑" panose="020B0503020204020204" charset="-122"/>
                <a:ea typeface="微软雅黑" panose="020B0503020204020204" charset="-122"/>
                <a:cs typeface="微软雅黑" panose="020B0503020204020204" charset="-122"/>
              </a:rPr>
              <a:t>一</a:t>
            </a:r>
            <a:r>
              <a:rPr sz="1400" b="1" dirty="0">
                <a:latin typeface="微软雅黑" panose="020B0503020204020204" charset="-122"/>
                <a:ea typeface="微软雅黑" panose="020B0503020204020204" charset="-122"/>
                <a:cs typeface="微软雅黑" panose="020B0503020204020204" charset="-122"/>
              </a:rPr>
              <a:t>定</a:t>
            </a:r>
            <a:r>
              <a:rPr sz="1400" b="1" dirty="0">
                <a:solidFill>
                  <a:srgbClr val="0066CC"/>
                </a:solidFill>
                <a:latin typeface="微软雅黑" panose="020B0503020204020204" charset="-122"/>
                <a:ea typeface="微软雅黑" panose="020B0503020204020204" charset="-122"/>
                <a:cs typeface="微软雅黑" panose="020B0503020204020204" charset="-122"/>
              </a:rPr>
              <a:t>规</a:t>
            </a:r>
            <a:r>
              <a:rPr sz="1400" b="1" spc="-15" dirty="0">
                <a:solidFill>
                  <a:srgbClr val="0066CC"/>
                </a:solidFill>
                <a:latin typeface="微软雅黑" panose="020B0503020204020204" charset="-122"/>
                <a:ea typeface="微软雅黑" panose="020B0503020204020204" charset="-122"/>
                <a:cs typeface="微软雅黑" panose="020B0503020204020204" charset="-122"/>
              </a:rPr>
              <a:t>模</a:t>
            </a:r>
            <a:r>
              <a:rPr sz="1400" b="1" dirty="0">
                <a:latin typeface="微软雅黑" panose="020B0503020204020204" charset="-122"/>
                <a:ea typeface="微软雅黑" panose="020B0503020204020204" charset="-122"/>
                <a:cs typeface="微软雅黑" panose="020B0503020204020204" charset="-122"/>
              </a:rPr>
              <a:t>，使</a:t>
            </a:r>
            <a:r>
              <a:rPr sz="1400" b="1" spc="-15" dirty="0">
                <a:latin typeface="微软雅黑" panose="020B0503020204020204" charset="-122"/>
                <a:ea typeface="微软雅黑" panose="020B0503020204020204" charset="-122"/>
                <a:cs typeface="微软雅黑" panose="020B0503020204020204" charset="-122"/>
              </a:rPr>
              <a:t>得</a:t>
            </a:r>
            <a:r>
              <a:rPr sz="1400" b="1" dirty="0">
                <a:latin typeface="微软雅黑" panose="020B0503020204020204" charset="-122"/>
                <a:ea typeface="微软雅黑" panose="020B0503020204020204" charset="-122"/>
                <a:cs typeface="微软雅黑" panose="020B0503020204020204" charset="-122"/>
              </a:rPr>
              <a:t>公司</a:t>
            </a:r>
            <a:r>
              <a:rPr sz="1400" b="1" spc="-15" dirty="0">
                <a:latin typeface="微软雅黑" panose="020B0503020204020204" charset="-122"/>
                <a:ea typeface="微软雅黑" panose="020B0503020204020204" charset="-122"/>
                <a:cs typeface="微软雅黑" panose="020B0503020204020204" charset="-122"/>
              </a:rPr>
              <a:t>可</a:t>
            </a:r>
            <a:r>
              <a:rPr sz="1400" b="1" dirty="0">
                <a:latin typeface="微软雅黑" panose="020B0503020204020204" charset="-122"/>
                <a:ea typeface="微软雅黑" panose="020B0503020204020204" charset="-122"/>
                <a:cs typeface="微软雅黑" panose="020B0503020204020204" charset="-122"/>
              </a:rPr>
              <a:t>以采取 </a:t>
            </a:r>
            <a:r>
              <a:rPr sz="1400" b="1" spc="10" dirty="0">
                <a:solidFill>
                  <a:srgbClr val="0066CC"/>
                </a:solidFill>
                <a:latin typeface="微软雅黑" panose="020B0503020204020204" charset="-122"/>
                <a:ea typeface="微软雅黑" panose="020B0503020204020204" charset="-122"/>
                <a:cs typeface="微软雅黑" panose="020B0503020204020204" charset="-122"/>
              </a:rPr>
              <a:t>长期</a:t>
            </a:r>
            <a:r>
              <a:rPr sz="1400" b="1" spc="5" dirty="0">
                <a:solidFill>
                  <a:srgbClr val="0066CC"/>
                </a:solidFill>
                <a:latin typeface="微软雅黑" panose="020B0503020204020204" charset="-122"/>
                <a:ea typeface="微软雅黑" panose="020B0503020204020204" charset="-122"/>
                <a:cs typeface="微软雅黑" panose="020B0503020204020204" charset="-122"/>
              </a:rPr>
              <a:t>、</a:t>
            </a:r>
            <a:r>
              <a:rPr sz="1400" b="1" dirty="0">
                <a:solidFill>
                  <a:srgbClr val="0066CC"/>
                </a:solidFill>
                <a:latin typeface="微软雅黑" panose="020B0503020204020204" charset="-122"/>
                <a:ea typeface="微软雅黑" panose="020B0503020204020204" charset="-122"/>
                <a:cs typeface="微软雅黑" panose="020B0503020204020204" charset="-122"/>
              </a:rPr>
              <a:t>一</a:t>
            </a:r>
            <a:r>
              <a:rPr sz="1400" b="1" spc="-10" dirty="0">
                <a:solidFill>
                  <a:srgbClr val="0066CC"/>
                </a:solidFill>
                <a:latin typeface="微软雅黑" panose="020B0503020204020204" charset="-122"/>
                <a:ea typeface="微软雅黑" panose="020B0503020204020204" charset="-122"/>
                <a:cs typeface="微软雅黑" panose="020B0503020204020204" charset="-122"/>
              </a:rPr>
              <a:t>致</a:t>
            </a:r>
            <a:r>
              <a:rPr sz="1400" b="1" spc="5" dirty="0">
                <a:solidFill>
                  <a:srgbClr val="0066CC"/>
                </a:solidFill>
                <a:latin typeface="微软雅黑" panose="020B0503020204020204" charset="-122"/>
                <a:ea typeface="微软雅黑" panose="020B0503020204020204" charset="-122"/>
                <a:cs typeface="微软雅黑" panose="020B0503020204020204" charset="-122"/>
              </a:rPr>
              <a:t>的</a:t>
            </a:r>
            <a:r>
              <a:rPr sz="1400" b="1" dirty="0">
                <a:solidFill>
                  <a:srgbClr val="0066CC"/>
                </a:solidFill>
                <a:latin typeface="微软雅黑" panose="020B0503020204020204" charset="-122"/>
                <a:ea typeface="微软雅黑" panose="020B0503020204020204" charset="-122"/>
                <a:cs typeface="微软雅黑" panose="020B0503020204020204" charset="-122"/>
              </a:rPr>
              <a:t>最</a:t>
            </a:r>
            <a:r>
              <a:rPr sz="1400" b="1" spc="-10" dirty="0">
                <a:solidFill>
                  <a:srgbClr val="0066CC"/>
                </a:solidFill>
                <a:latin typeface="微软雅黑" panose="020B0503020204020204" charset="-122"/>
                <a:ea typeface="微软雅黑" panose="020B0503020204020204" charset="-122"/>
                <a:cs typeface="微软雅黑" panose="020B0503020204020204" charset="-122"/>
              </a:rPr>
              <a:t>佳</a:t>
            </a:r>
            <a:r>
              <a:rPr sz="1400" b="1" spc="5" dirty="0">
                <a:solidFill>
                  <a:srgbClr val="0066CC"/>
                </a:solidFill>
                <a:latin typeface="微软雅黑" panose="020B0503020204020204" charset="-122"/>
                <a:ea typeface="微软雅黑" panose="020B0503020204020204" charset="-122"/>
                <a:cs typeface="微软雅黑" panose="020B0503020204020204" charset="-122"/>
              </a:rPr>
              <a:t>方</a:t>
            </a:r>
            <a:r>
              <a:rPr sz="1400" b="1" dirty="0">
                <a:solidFill>
                  <a:srgbClr val="0066CC"/>
                </a:solidFill>
                <a:latin typeface="微软雅黑" panose="020B0503020204020204" charset="-122"/>
                <a:ea typeface="微软雅黑" panose="020B0503020204020204" charset="-122"/>
                <a:cs typeface="微软雅黑" panose="020B0503020204020204" charset="-122"/>
              </a:rPr>
              <a:t>案</a:t>
            </a:r>
            <a:r>
              <a:rPr sz="1400" b="1" spc="-10" dirty="0">
                <a:latin typeface="微软雅黑" panose="020B0503020204020204" charset="-122"/>
                <a:ea typeface="微软雅黑" panose="020B0503020204020204" charset="-122"/>
                <a:cs typeface="微软雅黑" panose="020B0503020204020204" charset="-122"/>
              </a:rPr>
              <a:t>，</a:t>
            </a:r>
            <a:r>
              <a:rPr sz="1400" b="1" spc="5" dirty="0">
                <a:latin typeface="微软雅黑" panose="020B0503020204020204" charset="-122"/>
                <a:ea typeface="微软雅黑" panose="020B0503020204020204" charset="-122"/>
                <a:cs typeface="微软雅黑" panose="020B0503020204020204" charset="-122"/>
              </a:rPr>
              <a:t>并</a:t>
            </a:r>
            <a:r>
              <a:rPr sz="1400" b="1" dirty="0">
                <a:latin typeface="微软雅黑" panose="020B0503020204020204" charset="-122"/>
                <a:ea typeface="微软雅黑" panose="020B0503020204020204" charset="-122"/>
                <a:cs typeface="微软雅黑" panose="020B0503020204020204" charset="-122"/>
              </a:rPr>
              <a:t>通</a:t>
            </a:r>
            <a:r>
              <a:rPr sz="1400" b="1" spc="-10" dirty="0">
                <a:latin typeface="微软雅黑" panose="020B0503020204020204" charset="-122"/>
                <a:ea typeface="微软雅黑" panose="020B0503020204020204" charset="-122"/>
                <a:cs typeface="微软雅黑" panose="020B0503020204020204" charset="-122"/>
              </a:rPr>
              <a:t>过</a:t>
            </a:r>
            <a:r>
              <a:rPr sz="1400" b="1" spc="5" dirty="0">
                <a:latin typeface="微软雅黑" panose="020B0503020204020204" charset="-122"/>
                <a:ea typeface="微软雅黑" panose="020B0503020204020204" charset="-122"/>
                <a:cs typeface="微软雅黑" panose="020B0503020204020204" charset="-122"/>
              </a:rPr>
              <a:t>这</a:t>
            </a:r>
            <a:r>
              <a:rPr sz="1400" b="1" dirty="0">
                <a:latin typeface="微软雅黑" panose="020B0503020204020204" charset="-122"/>
                <a:ea typeface="微软雅黑" panose="020B0503020204020204" charset="-122"/>
                <a:cs typeface="微软雅黑" panose="020B0503020204020204" charset="-122"/>
              </a:rPr>
              <a:t>种</a:t>
            </a:r>
            <a:r>
              <a:rPr sz="1400" b="1" spc="-10" dirty="0">
                <a:latin typeface="微软雅黑" panose="020B0503020204020204" charset="-122"/>
                <a:ea typeface="微软雅黑" panose="020B0503020204020204" charset="-122"/>
                <a:cs typeface="微软雅黑" panose="020B0503020204020204" charset="-122"/>
              </a:rPr>
              <a:t>最</a:t>
            </a:r>
            <a:r>
              <a:rPr sz="1400" b="1" spc="5" dirty="0">
                <a:latin typeface="微软雅黑" panose="020B0503020204020204" charset="-122"/>
                <a:ea typeface="微软雅黑" panose="020B0503020204020204" charset="-122"/>
                <a:cs typeface="微软雅黑" panose="020B0503020204020204" charset="-122"/>
              </a:rPr>
              <a:t>佳</a:t>
            </a:r>
            <a:r>
              <a:rPr sz="1400" b="1" dirty="0">
                <a:latin typeface="微软雅黑" panose="020B0503020204020204" charset="-122"/>
                <a:ea typeface="微软雅黑" panose="020B0503020204020204" charset="-122"/>
                <a:cs typeface="微软雅黑" panose="020B0503020204020204" charset="-122"/>
              </a:rPr>
              <a:t>方案 </a:t>
            </a:r>
            <a:r>
              <a:rPr sz="1400" b="1" spc="10" dirty="0">
                <a:latin typeface="微软雅黑" panose="020B0503020204020204" charset="-122"/>
                <a:ea typeface="微软雅黑" panose="020B0503020204020204" charset="-122"/>
                <a:cs typeface="微软雅黑" panose="020B0503020204020204" charset="-122"/>
              </a:rPr>
              <a:t>支持</a:t>
            </a:r>
            <a:r>
              <a:rPr sz="1400" b="1" dirty="0">
                <a:latin typeface="微软雅黑" panose="020B0503020204020204" charset="-122"/>
                <a:ea typeface="微软雅黑" panose="020B0503020204020204" charset="-122"/>
                <a:cs typeface="微软雅黑" panose="020B0503020204020204" charset="-122"/>
              </a:rPr>
              <a:t>公司</a:t>
            </a:r>
            <a:r>
              <a:rPr sz="1400" b="1" spc="-15" dirty="0">
                <a:latin typeface="微软雅黑" panose="020B0503020204020204" charset="-122"/>
                <a:ea typeface="微软雅黑" panose="020B0503020204020204" charset="-122"/>
                <a:cs typeface="微软雅黑" panose="020B0503020204020204" charset="-122"/>
              </a:rPr>
              <a:t>保</a:t>
            </a:r>
            <a:r>
              <a:rPr sz="1400" b="1" dirty="0">
                <a:latin typeface="微软雅黑" panose="020B0503020204020204" charset="-122"/>
                <a:ea typeface="微软雅黑" panose="020B0503020204020204" charset="-122"/>
                <a:cs typeface="微软雅黑" panose="020B0503020204020204" charset="-122"/>
              </a:rPr>
              <a:t>持</a:t>
            </a:r>
            <a:r>
              <a:rPr sz="1400" b="1" dirty="0">
                <a:solidFill>
                  <a:srgbClr val="0066CC"/>
                </a:solidFill>
                <a:latin typeface="微软雅黑" panose="020B0503020204020204" charset="-122"/>
                <a:ea typeface="微软雅黑" panose="020B0503020204020204" charset="-122"/>
                <a:cs typeface="微软雅黑" panose="020B0503020204020204" charset="-122"/>
              </a:rPr>
              <a:t>最</a:t>
            </a:r>
            <a:r>
              <a:rPr sz="1400" b="1" spc="-15" dirty="0">
                <a:solidFill>
                  <a:srgbClr val="0066CC"/>
                </a:solidFill>
                <a:latin typeface="微软雅黑" panose="020B0503020204020204" charset="-122"/>
                <a:ea typeface="微软雅黑" panose="020B0503020204020204" charset="-122"/>
                <a:cs typeface="微软雅黑" panose="020B0503020204020204" charset="-122"/>
              </a:rPr>
              <a:t>佳</a:t>
            </a:r>
            <a:r>
              <a:rPr sz="1400" b="1" dirty="0">
                <a:solidFill>
                  <a:srgbClr val="0066CC"/>
                </a:solidFill>
                <a:latin typeface="微软雅黑" panose="020B0503020204020204" charset="-122"/>
                <a:ea typeface="微软雅黑" panose="020B0503020204020204" charset="-122"/>
                <a:cs typeface="微软雅黑" panose="020B0503020204020204" charset="-122"/>
              </a:rPr>
              <a:t>运营</a:t>
            </a:r>
            <a:r>
              <a:rPr sz="1400" b="1" spc="-15" dirty="0">
                <a:solidFill>
                  <a:srgbClr val="0066CC"/>
                </a:solidFill>
                <a:latin typeface="微软雅黑" panose="020B0503020204020204" charset="-122"/>
                <a:ea typeface="微软雅黑" panose="020B0503020204020204" charset="-122"/>
                <a:cs typeface="微软雅黑" panose="020B0503020204020204" charset="-122"/>
              </a:rPr>
              <a:t>状</a:t>
            </a:r>
            <a:r>
              <a:rPr sz="1400" b="1" dirty="0">
                <a:solidFill>
                  <a:srgbClr val="0066CC"/>
                </a:solidFill>
                <a:latin typeface="微软雅黑" panose="020B0503020204020204" charset="-122"/>
                <a:ea typeface="微软雅黑" panose="020B0503020204020204" charset="-122"/>
                <a:cs typeface="微软雅黑" panose="020B0503020204020204" charset="-122"/>
              </a:rPr>
              <a:t>态</a:t>
            </a:r>
            <a:r>
              <a:rPr sz="1400" b="1" dirty="0">
                <a:latin typeface="微软雅黑" panose="020B0503020204020204" charset="-122"/>
                <a:ea typeface="微软雅黑" panose="020B0503020204020204" charset="-122"/>
                <a:cs typeface="微软雅黑" panose="020B0503020204020204" charset="-122"/>
              </a:rPr>
              <a:t>的</a:t>
            </a:r>
            <a:r>
              <a:rPr sz="1400" b="1" spc="-15" dirty="0">
                <a:latin typeface="微软雅黑" panose="020B0503020204020204" charset="-122"/>
                <a:ea typeface="微软雅黑" panose="020B0503020204020204" charset="-122"/>
                <a:cs typeface="微软雅黑" panose="020B0503020204020204" charset="-122"/>
              </a:rPr>
              <a:t>重</a:t>
            </a:r>
            <a:r>
              <a:rPr sz="1400" b="1" dirty="0">
                <a:latin typeface="微软雅黑" panose="020B0503020204020204" charset="-122"/>
                <a:ea typeface="微软雅黑" panose="020B0503020204020204" charset="-122"/>
                <a:cs typeface="微软雅黑" panose="020B0503020204020204" charset="-122"/>
              </a:rPr>
              <a:t>要客户</a:t>
            </a:r>
            <a:endParaRPr sz="1400">
              <a:latin typeface="微软雅黑" panose="020B0503020204020204" charset="-122"/>
              <a:ea typeface="微软雅黑" panose="020B0503020204020204" charset="-122"/>
              <a:cs typeface="微软雅黑" panose="020B0503020204020204" charset="-122"/>
            </a:endParaRPr>
          </a:p>
        </p:txBody>
      </p:sp>
      <p:sp>
        <p:nvSpPr>
          <p:cNvPr id="5" name="object 5"/>
          <p:cNvSpPr txBox="1">
            <a:spLocks noGrp="1"/>
          </p:cNvSpPr>
          <p:nvPr>
            <p:ph type="title"/>
          </p:nvPr>
        </p:nvSpPr>
        <p:spPr>
          <a:xfrm>
            <a:off x="106401" y="200043"/>
            <a:ext cx="1715823"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什么是大客</a:t>
            </a:r>
            <a:r>
              <a:rPr spc="-10" dirty="0">
                <a:ea typeface="微软雅黑" panose="020B0503020204020204" charset="-122"/>
              </a:rPr>
              <a:t>户？</a:t>
            </a:r>
            <a:endParaRPr spc="-10" dirty="0">
              <a:ea typeface="微软雅黑" panose="020B0503020204020204" charset="-122"/>
            </a:endParaRPr>
          </a:p>
        </p:txBody>
      </p:sp>
      <p:sp>
        <p:nvSpPr>
          <p:cNvPr id="6" name="object 6"/>
          <p:cNvSpPr txBox="1"/>
          <p:nvPr/>
        </p:nvSpPr>
        <p:spPr>
          <a:xfrm>
            <a:off x="529975" y="3913176"/>
            <a:ext cx="3932308" cy="1244600"/>
          </a:xfrm>
          <a:prstGeom prst="rect">
            <a:avLst/>
          </a:prstGeom>
          <a:solidFill>
            <a:srgbClr val="C6DFFA"/>
          </a:solidFill>
          <a:ln w="9525">
            <a:solidFill>
              <a:srgbClr val="0066CC"/>
            </a:solidFill>
          </a:ln>
        </p:spPr>
        <p:txBody>
          <a:bodyPr vert="horz" wrap="square" lIns="0" tIns="168155" rIns="0" bIns="0" rtlCol="0">
            <a:spAutoFit/>
          </a:bodyPr>
          <a:lstStyle/>
          <a:p>
            <a:pPr marL="71755">
              <a:lnSpc>
                <a:spcPct val="100000"/>
              </a:lnSpc>
              <a:spcBef>
                <a:spcPts val="1325"/>
              </a:spcBef>
            </a:pPr>
            <a:r>
              <a:rPr sz="1400" b="1" spc="10" dirty="0">
                <a:latin typeface="微软雅黑" panose="020B0503020204020204" charset="-122"/>
                <a:ea typeface="微软雅黑" panose="020B0503020204020204" charset="-122"/>
                <a:cs typeface="微软雅黑" panose="020B0503020204020204" charset="-122"/>
              </a:rPr>
              <a:t>按客</a:t>
            </a:r>
            <a:r>
              <a:rPr sz="1400" b="1" dirty="0">
                <a:latin typeface="微软雅黑" panose="020B0503020204020204" charset="-122"/>
                <a:ea typeface="微软雅黑" panose="020B0503020204020204" charset="-122"/>
                <a:cs typeface="微软雅黑" panose="020B0503020204020204" charset="-122"/>
              </a:rPr>
              <a:t>户细</a:t>
            </a:r>
            <a:r>
              <a:rPr sz="1400" b="1" spc="-15" dirty="0">
                <a:latin typeface="微软雅黑" panose="020B0503020204020204" charset="-122"/>
                <a:ea typeface="微软雅黑" panose="020B0503020204020204" charset="-122"/>
                <a:cs typeface="微软雅黑" panose="020B0503020204020204" charset="-122"/>
              </a:rPr>
              <a:t>分</a:t>
            </a:r>
            <a:r>
              <a:rPr sz="1400" b="1" dirty="0">
                <a:latin typeface="微软雅黑" panose="020B0503020204020204" charset="-122"/>
                <a:ea typeface="微软雅黑" panose="020B0503020204020204" charset="-122"/>
                <a:cs typeface="微软雅黑" panose="020B0503020204020204" charset="-122"/>
              </a:rPr>
              <a:t>和机</a:t>
            </a:r>
            <a:r>
              <a:rPr sz="1400" b="1" spc="-15" dirty="0">
                <a:latin typeface="微软雅黑" panose="020B0503020204020204" charset="-122"/>
                <a:ea typeface="微软雅黑" panose="020B0503020204020204" charset="-122"/>
                <a:cs typeface="微软雅黑" panose="020B0503020204020204" charset="-122"/>
              </a:rPr>
              <a:t>会</a:t>
            </a:r>
            <a:r>
              <a:rPr sz="1400" b="1" dirty="0">
                <a:latin typeface="微软雅黑" panose="020B0503020204020204" charset="-122"/>
                <a:ea typeface="微软雅黑" panose="020B0503020204020204" charset="-122"/>
                <a:cs typeface="微软雅黑" panose="020B0503020204020204" charset="-122"/>
              </a:rPr>
              <a:t>潜力</a:t>
            </a:r>
            <a:r>
              <a:rPr sz="1400" b="1" spc="-15" dirty="0">
                <a:latin typeface="微软雅黑" panose="020B0503020204020204" charset="-122"/>
                <a:ea typeface="微软雅黑" panose="020B0503020204020204" charset="-122"/>
                <a:cs typeface="微软雅黑" panose="020B0503020204020204" charset="-122"/>
              </a:rPr>
              <a:t>进</a:t>
            </a:r>
            <a:r>
              <a:rPr sz="1400" b="1" dirty="0">
                <a:latin typeface="微软雅黑" panose="020B0503020204020204" charset="-122"/>
                <a:ea typeface="微软雅黑" panose="020B0503020204020204" charset="-122"/>
                <a:cs typeface="微软雅黑" panose="020B0503020204020204" charset="-122"/>
              </a:rPr>
              <a:t>行相</a:t>
            </a:r>
            <a:r>
              <a:rPr sz="1400" b="1" spc="-15" dirty="0">
                <a:latin typeface="微软雅黑" panose="020B0503020204020204" charset="-122"/>
                <a:ea typeface="微软雅黑" panose="020B0503020204020204" charset="-122"/>
                <a:cs typeface="微软雅黑" panose="020B0503020204020204" charset="-122"/>
              </a:rPr>
              <a:t>应</a:t>
            </a:r>
            <a:r>
              <a:rPr sz="1400" b="1" dirty="0">
                <a:latin typeface="微软雅黑" panose="020B0503020204020204" charset="-122"/>
                <a:ea typeface="微软雅黑" panose="020B0503020204020204" charset="-122"/>
                <a:cs typeface="微软雅黑" panose="020B0503020204020204" charset="-122"/>
              </a:rPr>
              <a:t>调整</a:t>
            </a:r>
            <a:endParaRPr sz="1400">
              <a:latin typeface="微软雅黑" panose="020B0503020204020204" charset="-122"/>
              <a:ea typeface="微软雅黑" panose="020B0503020204020204" charset="-122"/>
              <a:cs typeface="微软雅黑" panose="020B0503020204020204" charset="-122"/>
            </a:endParaRPr>
          </a:p>
          <a:p>
            <a:pPr marL="297180" indent="-224790">
              <a:lnSpc>
                <a:spcPct val="100000"/>
              </a:lnSpc>
              <a:buClr>
                <a:srgbClr val="00295F"/>
              </a:buClr>
              <a:buSzPct val="125000"/>
              <a:buFont typeface="Arial" panose="020B0604020202020204"/>
              <a:buChar char="▪"/>
              <a:tabLst>
                <a:tab pos="297180" algn="l"/>
                <a:tab pos="297815" algn="l"/>
              </a:tabLst>
            </a:pPr>
            <a:r>
              <a:rPr sz="1400" dirty="0">
                <a:latin typeface="微软雅黑" panose="020B0503020204020204" charset="-122"/>
                <a:ea typeface="微软雅黑" panose="020B0503020204020204" charset="-122"/>
                <a:cs typeface="微软雅黑" panose="020B0503020204020204" charset="-122"/>
              </a:rPr>
              <a:t>地域分布的广度</a:t>
            </a:r>
            <a:endParaRPr sz="1400">
              <a:latin typeface="微软雅黑" panose="020B0503020204020204" charset="-122"/>
              <a:ea typeface="微软雅黑" panose="020B0503020204020204" charset="-122"/>
              <a:cs typeface="微软雅黑" panose="020B0503020204020204" charset="-122"/>
            </a:endParaRPr>
          </a:p>
          <a:p>
            <a:pPr marL="297180" indent="-224790">
              <a:lnSpc>
                <a:spcPct val="100000"/>
              </a:lnSpc>
              <a:buClr>
                <a:srgbClr val="00295F"/>
              </a:buClr>
              <a:buSzPct val="125000"/>
              <a:buFont typeface="Arial" panose="020B0604020202020204"/>
              <a:buChar char="▪"/>
              <a:tabLst>
                <a:tab pos="297180" algn="l"/>
                <a:tab pos="297815" algn="l"/>
              </a:tabLst>
            </a:pPr>
            <a:r>
              <a:rPr sz="1400" dirty="0">
                <a:latin typeface="微软雅黑" panose="020B0503020204020204" charset="-122"/>
                <a:ea typeface="微软雅黑" panose="020B0503020204020204" charset="-122"/>
                <a:cs typeface="微软雅黑" panose="020B0503020204020204" charset="-122"/>
              </a:rPr>
              <a:t>业务线的广度</a:t>
            </a:r>
            <a:endParaRPr sz="1400">
              <a:latin typeface="微软雅黑" panose="020B0503020204020204" charset="-122"/>
              <a:ea typeface="微软雅黑" panose="020B0503020204020204" charset="-122"/>
              <a:cs typeface="微软雅黑" panose="020B0503020204020204" charset="-122"/>
            </a:endParaRPr>
          </a:p>
          <a:p>
            <a:pPr marL="297180" indent="-224790">
              <a:lnSpc>
                <a:spcPct val="100000"/>
              </a:lnSpc>
              <a:buClr>
                <a:srgbClr val="00295F"/>
              </a:buClr>
              <a:buSzPct val="125000"/>
              <a:buFont typeface="Arial" panose="020B0604020202020204"/>
              <a:buChar char="▪"/>
              <a:tabLst>
                <a:tab pos="297180" algn="l"/>
                <a:tab pos="297815" algn="l"/>
              </a:tabLst>
            </a:pPr>
            <a:r>
              <a:rPr sz="1400" dirty="0">
                <a:latin typeface="微软雅黑" panose="020B0503020204020204" charset="-122"/>
                <a:ea typeface="微软雅黑" panose="020B0503020204020204" charset="-122"/>
                <a:cs typeface="微软雅黑" panose="020B0503020204020204" charset="-122"/>
              </a:rPr>
              <a:t>数据库、工具、专业知</a:t>
            </a:r>
            <a:r>
              <a:rPr sz="1400" spc="-15" dirty="0">
                <a:latin typeface="微软雅黑" panose="020B0503020204020204" charset="-122"/>
                <a:ea typeface="微软雅黑" panose="020B0503020204020204" charset="-122"/>
                <a:cs typeface="微软雅黑" panose="020B0503020204020204" charset="-122"/>
              </a:rPr>
              <a:t>识</a:t>
            </a:r>
            <a:r>
              <a:rPr sz="1400" dirty="0">
                <a:latin typeface="微软雅黑" panose="020B0503020204020204" charset="-122"/>
                <a:ea typeface="微软雅黑" panose="020B0503020204020204" charset="-122"/>
                <a:cs typeface="微软雅黑" panose="020B0503020204020204" charset="-122"/>
              </a:rPr>
              <a:t>等方</a:t>
            </a:r>
            <a:r>
              <a:rPr sz="1400" spc="-15" dirty="0">
                <a:latin typeface="微软雅黑" panose="020B0503020204020204" charset="-122"/>
                <a:ea typeface="微软雅黑" panose="020B0503020204020204" charset="-122"/>
                <a:cs typeface="微软雅黑" panose="020B0503020204020204" charset="-122"/>
              </a:rPr>
              <a:t>面</a:t>
            </a:r>
            <a:r>
              <a:rPr sz="1400" dirty="0">
                <a:latin typeface="微软雅黑" panose="020B0503020204020204" charset="-122"/>
                <a:ea typeface="微软雅黑" panose="020B0503020204020204" charset="-122"/>
                <a:cs typeface="微软雅黑" panose="020B0503020204020204" charset="-122"/>
              </a:rPr>
              <a:t>的规</a:t>
            </a:r>
            <a:r>
              <a:rPr sz="1400" spc="-15" dirty="0">
                <a:latin typeface="微软雅黑" panose="020B0503020204020204" charset="-122"/>
                <a:ea typeface="微软雅黑" panose="020B0503020204020204" charset="-122"/>
                <a:cs typeface="微软雅黑" panose="020B0503020204020204" charset="-122"/>
              </a:rPr>
              <a:t>模</a:t>
            </a:r>
            <a:r>
              <a:rPr sz="1400" dirty="0">
                <a:latin typeface="微软雅黑" panose="020B0503020204020204" charset="-122"/>
                <a:ea typeface="微软雅黑" panose="020B0503020204020204" charset="-122"/>
                <a:cs typeface="微软雅黑" panose="020B0503020204020204" charset="-122"/>
              </a:rPr>
              <a:t>经济</a:t>
            </a:r>
            <a:endParaRPr sz="1400">
              <a:latin typeface="微软雅黑" panose="020B0503020204020204" charset="-122"/>
              <a:ea typeface="微软雅黑" panose="020B0503020204020204" charset="-122"/>
              <a:cs typeface="微软雅黑" panose="020B0503020204020204" charset="-122"/>
            </a:endParaRPr>
          </a:p>
          <a:p>
            <a:pPr marL="297180" indent="-224790">
              <a:lnSpc>
                <a:spcPct val="100000"/>
              </a:lnSpc>
              <a:buClr>
                <a:srgbClr val="00295F"/>
              </a:buClr>
              <a:buSzPct val="125000"/>
              <a:buFont typeface="Arial" panose="020B0604020202020204"/>
              <a:buChar char="▪"/>
              <a:tabLst>
                <a:tab pos="297180" algn="l"/>
                <a:tab pos="297815" algn="l"/>
              </a:tabLst>
            </a:pPr>
            <a:r>
              <a:rPr sz="1400" dirty="0">
                <a:latin typeface="微软雅黑" panose="020B0503020204020204" charset="-122"/>
                <a:ea typeface="微软雅黑" panose="020B0503020204020204" charset="-122"/>
                <a:cs typeface="微软雅黑" panose="020B0503020204020204" charset="-122"/>
              </a:rPr>
              <a:t>最佳实践在组织内部的</a:t>
            </a:r>
            <a:r>
              <a:rPr sz="1400" spc="-15" dirty="0">
                <a:latin typeface="微软雅黑" panose="020B0503020204020204" charset="-122"/>
                <a:ea typeface="微软雅黑" panose="020B0503020204020204" charset="-122"/>
                <a:cs typeface="微软雅黑" panose="020B0503020204020204" charset="-122"/>
              </a:rPr>
              <a:t>系</a:t>
            </a:r>
            <a:r>
              <a:rPr sz="1400" dirty="0">
                <a:latin typeface="微软雅黑" panose="020B0503020204020204" charset="-122"/>
                <a:ea typeface="微软雅黑" panose="020B0503020204020204" charset="-122"/>
                <a:cs typeface="微软雅黑" panose="020B0503020204020204" charset="-122"/>
              </a:rPr>
              <a:t>统分享</a:t>
            </a:r>
            <a:endParaRPr sz="1400">
              <a:latin typeface="微软雅黑" panose="020B0503020204020204" charset="-122"/>
              <a:ea typeface="微软雅黑" panose="020B0503020204020204" charset="-122"/>
              <a:cs typeface="微软雅黑" panose="020B0503020204020204" charset="-122"/>
            </a:endParaRPr>
          </a:p>
        </p:txBody>
      </p:sp>
      <p:sp>
        <p:nvSpPr>
          <p:cNvPr id="7" name="object 7"/>
          <p:cNvSpPr txBox="1"/>
          <p:nvPr/>
        </p:nvSpPr>
        <p:spPr>
          <a:xfrm>
            <a:off x="4842888" y="3913176"/>
            <a:ext cx="3108662" cy="1244600"/>
          </a:xfrm>
          <a:prstGeom prst="rect">
            <a:avLst/>
          </a:prstGeom>
          <a:solidFill>
            <a:srgbClr val="C6DFFA"/>
          </a:solidFill>
          <a:ln w="9525">
            <a:solidFill>
              <a:srgbClr val="0066CC"/>
            </a:solidFill>
          </a:ln>
        </p:spPr>
        <p:txBody>
          <a:bodyPr vert="horz" wrap="square" lIns="0" tIns="168155" rIns="0" bIns="0" rtlCol="0">
            <a:spAutoFit/>
          </a:bodyPr>
          <a:lstStyle/>
          <a:p>
            <a:pPr marL="298450" indent="-224790">
              <a:lnSpc>
                <a:spcPct val="100000"/>
              </a:lnSpc>
              <a:spcBef>
                <a:spcPts val="1325"/>
              </a:spcBef>
              <a:buClr>
                <a:srgbClr val="00295F"/>
              </a:buClr>
              <a:buSzPct val="125000"/>
              <a:buFont typeface="Arial" panose="020B0604020202020204"/>
              <a:buChar char="▪"/>
              <a:tabLst>
                <a:tab pos="298450" algn="l"/>
                <a:tab pos="299085" algn="l"/>
              </a:tabLst>
            </a:pPr>
            <a:r>
              <a:rPr sz="1400" dirty="0">
                <a:latin typeface="微软雅黑" panose="020B0503020204020204" charset="-122"/>
                <a:ea typeface="微软雅黑" panose="020B0503020204020204" charset="-122"/>
                <a:cs typeface="微软雅黑" panose="020B0503020204020204" charset="-122"/>
              </a:rPr>
              <a:t>跨地域和业务线进行协调</a:t>
            </a:r>
            <a:endParaRPr sz="1400">
              <a:latin typeface="微软雅黑" panose="020B0503020204020204" charset="-122"/>
              <a:ea typeface="微软雅黑" panose="020B0503020204020204" charset="-122"/>
              <a:cs typeface="微软雅黑" panose="020B0503020204020204" charset="-122"/>
            </a:endParaRPr>
          </a:p>
          <a:p>
            <a:pPr marL="298450" marR="132715" indent="-224155">
              <a:lnSpc>
                <a:spcPct val="100000"/>
              </a:lnSpc>
              <a:buClr>
                <a:srgbClr val="00295F"/>
              </a:buClr>
              <a:buSzPct val="125000"/>
              <a:buFont typeface="Arial" panose="020B0604020202020204"/>
              <a:buChar char="▪"/>
              <a:tabLst>
                <a:tab pos="298450" algn="l"/>
                <a:tab pos="299085" algn="l"/>
              </a:tabLst>
            </a:pPr>
            <a:r>
              <a:rPr sz="1400" dirty="0">
                <a:latin typeface="微软雅黑" panose="020B0503020204020204" charset="-122"/>
                <a:ea typeface="微软雅黑" panose="020B0503020204020204" charset="-122"/>
                <a:cs typeface="微软雅黑" panose="020B0503020204020204" charset="-122"/>
              </a:rPr>
              <a:t>采用标准的客户方法、</a:t>
            </a:r>
            <a:r>
              <a:rPr sz="1400" spc="-15" dirty="0">
                <a:latin typeface="微软雅黑" panose="020B0503020204020204" charset="-122"/>
                <a:ea typeface="微软雅黑" panose="020B0503020204020204" charset="-122"/>
                <a:cs typeface="微软雅黑" panose="020B0503020204020204" charset="-122"/>
              </a:rPr>
              <a:t>工</a:t>
            </a:r>
            <a:r>
              <a:rPr sz="1400" dirty="0">
                <a:latin typeface="微软雅黑" panose="020B0503020204020204" charset="-122"/>
                <a:ea typeface="微软雅黑" panose="020B0503020204020204" charset="-122"/>
                <a:cs typeface="微软雅黑" panose="020B0503020204020204" charset="-122"/>
              </a:rPr>
              <a:t>具、</a:t>
            </a:r>
            <a:r>
              <a:rPr sz="1400" spc="-15" dirty="0">
                <a:latin typeface="微软雅黑" panose="020B0503020204020204" charset="-122"/>
                <a:ea typeface="微软雅黑" panose="020B0503020204020204" charset="-122"/>
                <a:cs typeface="微软雅黑" panose="020B0503020204020204" charset="-122"/>
              </a:rPr>
              <a:t>指</a:t>
            </a:r>
            <a:r>
              <a:rPr sz="1400" dirty="0">
                <a:latin typeface="微软雅黑" panose="020B0503020204020204" charset="-122"/>
                <a:ea typeface="微软雅黑" panose="020B0503020204020204" charset="-122"/>
                <a:cs typeface="微软雅黑" panose="020B0503020204020204" charset="-122"/>
              </a:rPr>
              <a:t>标 和术语</a:t>
            </a:r>
            <a:endParaRPr sz="1400">
              <a:latin typeface="微软雅黑" panose="020B0503020204020204" charset="-122"/>
              <a:ea typeface="微软雅黑" panose="020B0503020204020204" charset="-122"/>
              <a:cs typeface="微软雅黑" panose="020B0503020204020204" charset="-122"/>
            </a:endParaRPr>
          </a:p>
          <a:p>
            <a:pPr marL="298450" marR="132715" indent="-224155">
              <a:lnSpc>
                <a:spcPct val="100000"/>
              </a:lnSpc>
              <a:buClr>
                <a:srgbClr val="00295F"/>
              </a:buClr>
              <a:buSzPct val="125000"/>
              <a:buFont typeface="Arial" panose="020B0604020202020204"/>
              <a:buChar char="▪"/>
              <a:tabLst>
                <a:tab pos="298450" algn="l"/>
                <a:tab pos="299085" algn="l"/>
              </a:tabLst>
            </a:pPr>
            <a:r>
              <a:rPr sz="1400" dirty="0">
                <a:latin typeface="微软雅黑" panose="020B0503020204020204" charset="-122"/>
                <a:ea typeface="微软雅黑" panose="020B0503020204020204" charset="-122"/>
                <a:cs typeface="微软雅黑" panose="020B0503020204020204" charset="-122"/>
              </a:rPr>
              <a:t>根据各个细分客户的需</a:t>
            </a:r>
            <a:r>
              <a:rPr sz="1400" spc="-15" dirty="0">
                <a:latin typeface="微软雅黑" panose="020B0503020204020204" charset="-122"/>
                <a:ea typeface="微软雅黑" panose="020B0503020204020204" charset="-122"/>
                <a:cs typeface="微软雅黑" panose="020B0503020204020204" charset="-122"/>
              </a:rPr>
              <a:t>求</a:t>
            </a:r>
            <a:r>
              <a:rPr sz="1400" dirty="0">
                <a:latin typeface="微软雅黑" panose="020B0503020204020204" charset="-122"/>
                <a:ea typeface="微软雅黑" panose="020B0503020204020204" charset="-122"/>
                <a:cs typeface="微软雅黑" panose="020B0503020204020204" charset="-122"/>
              </a:rPr>
              <a:t>和潜</a:t>
            </a:r>
            <a:r>
              <a:rPr sz="1400" spc="-15" dirty="0">
                <a:latin typeface="微软雅黑" panose="020B0503020204020204" charset="-122"/>
                <a:ea typeface="微软雅黑" panose="020B0503020204020204" charset="-122"/>
                <a:cs typeface="微软雅黑" panose="020B0503020204020204" charset="-122"/>
              </a:rPr>
              <a:t>力</a:t>
            </a:r>
            <a:r>
              <a:rPr sz="1400" dirty="0">
                <a:latin typeface="微软雅黑" panose="020B0503020204020204" charset="-122"/>
                <a:ea typeface="微软雅黑" panose="020B0503020204020204" charset="-122"/>
                <a:cs typeface="微软雅黑" panose="020B0503020204020204" charset="-122"/>
              </a:rPr>
              <a:t>定 制解决方案</a:t>
            </a:r>
            <a:endParaRPr sz="1400">
              <a:latin typeface="微软雅黑" panose="020B0503020204020204" charset="-122"/>
              <a:ea typeface="微软雅黑" panose="020B0503020204020204" charset="-122"/>
              <a:cs typeface="微软雅黑" panose="020B0503020204020204" charset="-122"/>
            </a:endParaRPr>
          </a:p>
        </p:txBody>
      </p:sp>
      <p:sp>
        <p:nvSpPr>
          <p:cNvPr id="8" name="object 8"/>
          <p:cNvSpPr txBox="1"/>
          <p:nvPr/>
        </p:nvSpPr>
        <p:spPr>
          <a:xfrm>
            <a:off x="5561705" y="1115572"/>
            <a:ext cx="2618154" cy="848995"/>
          </a:xfrm>
          <a:prstGeom prst="rect">
            <a:avLst/>
          </a:prstGeom>
          <a:solidFill>
            <a:srgbClr val="C6DFFA"/>
          </a:solidFill>
          <a:ln w="9525">
            <a:solidFill>
              <a:srgbClr val="0066CC"/>
            </a:solidFill>
          </a:ln>
        </p:spPr>
        <p:txBody>
          <a:bodyPr vert="horz" wrap="square" lIns="0" tIns="203690" rIns="0" bIns="0" rtlCol="0">
            <a:spAutoFit/>
          </a:bodyPr>
          <a:lstStyle/>
          <a:p>
            <a:pPr marL="73025">
              <a:lnSpc>
                <a:spcPct val="100000"/>
              </a:lnSpc>
              <a:spcBef>
                <a:spcPts val="1605"/>
              </a:spcBef>
            </a:pPr>
            <a:r>
              <a:rPr sz="1400" dirty="0">
                <a:latin typeface="微软雅黑" panose="020B0503020204020204" charset="-122"/>
                <a:ea typeface="微软雅黑" panose="020B0503020204020204" charset="-122"/>
                <a:cs typeface="微软雅黑" panose="020B0503020204020204" charset="-122"/>
              </a:rPr>
              <a:t>用于衡量大客户的指标有</a:t>
            </a:r>
            <a:endParaRPr sz="1400">
              <a:latin typeface="微软雅黑" panose="020B0503020204020204" charset="-122"/>
              <a:ea typeface="微软雅黑" panose="020B0503020204020204" charset="-122"/>
              <a:cs typeface="微软雅黑" panose="020B0503020204020204" charset="-122"/>
            </a:endParaRPr>
          </a:p>
          <a:p>
            <a:pPr marL="298450" indent="-224790">
              <a:lnSpc>
                <a:spcPct val="100000"/>
              </a:lnSpc>
              <a:buClr>
                <a:srgbClr val="00295F"/>
              </a:buClr>
              <a:buSzPct val="125000"/>
              <a:buFont typeface="Arial" panose="020B0604020202020204"/>
              <a:buChar char="▪"/>
              <a:tabLst>
                <a:tab pos="298450" algn="l"/>
                <a:tab pos="299085" algn="l"/>
              </a:tabLst>
            </a:pPr>
            <a:r>
              <a:rPr sz="1400" dirty="0">
                <a:latin typeface="微软雅黑" panose="020B0503020204020204" charset="-122"/>
                <a:ea typeface="微软雅黑" panose="020B0503020204020204" charset="-122"/>
                <a:cs typeface="微软雅黑" panose="020B0503020204020204" charset="-122"/>
              </a:rPr>
              <a:t>销售额和利润</a:t>
            </a:r>
            <a:endParaRPr sz="1400">
              <a:latin typeface="微软雅黑" panose="020B0503020204020204" charset="-122"/>
              <a:ea typeface="微软雅黑" panose="020B0503020204020204" charset="-122"/>
              <a:cs typeface="微软雅黑" panose="020B0503020204020204" charset="-122"/>
            </a:endParaRPr>
          </a:p>
          <a:p>
            <a:pPr marL="298450" indent="-224790">
              <a:lnSpc>
                <a:spcPct val="100000"/>
              </a:lnSpc>
              <a:buClr>
                <a:srgbClr val="00295F"/>
              </a:buClr>
              <a:buSzPct val="125000"/>
              <a:buFont typeface="Arial" panose="020B0604020202020204"/>
              <a:buChar char="▪"/>
              <a:tabLst>
                <a:tab pos="298450" algn="l"/>
                <a:tab pos="299085" algn="l"/>
              </a:tabLst>
            </a:pPr>
            <a:r>
              <a:rPr sz="1400" dirty="0">
                <a:latin typeface="微软雅黑" panose="020B0503020204020204" charset="-122"/>
                <a:ea typeface="微软雅黑" panose="020B0503020204020204" charset="-122"/>
                <a:cs typeface="微软雅黑" panose="020B0503020204020204" charset="-122"/>
              </a:rPr>
              <a:t>战略意义</a:t>
            </a:r>
            <a:endParaRPr sz="1400">
              <a:latin typeface="微软雅黑" panose="020B0503020204020204" charset="-122"/>
              <a:ea typeface="微软雅黑" panose="020B0503020204020204" charset="-122"/>
              <a:cs typeface="微软雅黑" panose="020B0503020204020204" charset="-122"/>
            </a:endParaRPr>
          </a:p>
        </p:txBody>
      </p:sp>
      <p:sp>
        <p:nvSpPr>
          <p:cNvPr id="9" name="object 9"/>
          <p:cNvSpPr/>
          <p:nvPr/>
        </p:nvSpPr>
        <p:spPr>
          <a:xfrm>
            <a:off x="8373018" y="5510721"/>
            <a:ext cx="321717" cy="321717"/>
          </a:xfrm>
          <a:custGeom>
            <a:avLst/>
            <a:gdLst/>
            <a:ahLst/>
            <a:cxnLst/>
            <a:rect l="l" t="t" r="r" b="b"/>
            <a:pathLst>
              <a:path w="321945" h="321945">
                <a:moveTo>
                  <a:pt x="321564" y="0"/>
                </a:moveTo>
                <a:lnTo>
                  <a:pt x="0" y="321564"/>
                </a:lnTo>
                <a:lnTo>
                  <a:pt x="321564" y="321564"/>
                </a:lnTo>
                <a:lnTo>
                  <a:pt x="321564"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4488047" y="1640726"/>
            <a:ext cx="1071121" cy="949287"/>
          </a:xfrm>
          <a:custGeom>
            <a:avLst/>
            <a:gdLst/>
            <a:ahLst/>
            <a:cxnLst/>
            <a:rect l="l" t="t" r="r" b="b"/>
            <a:pathLst>
              <a:path w="1071879" h="949960">
                <a:moveTo>
                  <a:pt x="31750" y="874784"/>
                </a:moveTo>
                <a:lnTo>
                  <a:pt x="23252" y="876494"/>
                </a:lnTo>
                <a:lnTo>
                  <a:pt x="11144" y="884650"/>
                </a:lnTo>
                <a:lnTo>
                  <a:pt x="2988" y="896758"/>
                </a:lnTo>
                <a:lnTo>
                  <a:pt x="0" y="911606"/>
                </a:lnTo>
                <a:lnTo>
                  <a:pt x="2988" y="926453"/>
                </a:lnTo>
                <a:lnTo>
                  <a:pt x="11144" y="938561"/>
                </a:lnTo>
                <a:lnTo>
                  <a:pt x="23252" y="946717"/>
                </a:lnTo>
                <a:lnTo>
                  <a:pt x="38100" y="949706"/>
                </a:lnTo>
                <a:lnTo>
                  <a:pt x="52947" y="946717"/>
                </a:lnTo>
                <a:lnTo>
                  <a:pt x="65055" y="938561"/>
                </a:lnTo>
                <a:lnTo>
                  <a:pt x="73211" y="926453"/>
                </a:lnTo>
                <a:lnTo>
                  <a:pt x="76200" y="911606"/>
                </a:lnTo>
                <a:lnTo>
                  <a:pt x="31750" y="911606"/>
                </a:lnTo>
                <a:lnTo>
                  <a:pt x="31750" y="874784"/>
                </a:lnTo>
                <a:close/>
              </a:path>
              <a:path w="1071879" h="949960">
                <a:moveTo>
                  <a:pt x="38100" y="873506"/>
                </a:moveTo>
                <a:lnTo>
                  <a:pt x="31750" y="874784"/>
                </a:lnTo>
                <a:lnTo>
                  <a:pt x="31750" y="911606"/>
                </a:lnTo>
                <a:lnTo>
                  <a:pt x="44450" y="911606"/>
                </a:lnTo>
                <a:lnTo>
                  <a:pt x="44450" y="874784"/>
                </a:lnTo>
                <a:lnTo>
                  <a:pt x="38100" y="873506"/>
                </a:lnTo>
                <a:close/>
              </a:path>
              <a:path w="1071879" h="949960">
                <a:moveTo>
                  <a:pt x="44450" y="874784"/>
                </a:moveTo>
                <a:lnTo>
                  <a:pt x="44450" y="911606"/>
                </a:lnTo>
                <a:lnTo>
                  <a:pt x="76200" y="911606"/>
                </a:lnTo>
                <a:lnTo>
                  <a:pt x="73211" y="896758"/>
                </a:lnTo>
                <a:lnTo>
                  <a:pt x="65055" y="884650"/>
                </a:lnTo>
                <a:lnTo>
                  <a:pt x="52947" y="876494"/>
                </a:lnTo>
                <a:lnTo>
                  <a:pt x="44450" y="874784"/>
                </a:lnTo>
                <a:close/>
              </a:path>
              <a:path w="1071879" h="949960">
                <a:moveTo>
                  <a:pt x="1071372" y="0"/>
                </a:moveTo>
                <a:lnTo>
                  <a:pt x="34544" y="0"/>
                </a:lnTo>
                <a:lnTo>
                  <a:pt x="31750" y="2794"/>
                </a:lnTo>
                <a:lnTo>
                  <a:pt x="31750" y="874784"/>
                </a:lnTo>
                <a:lnTo>
                  <a:pt x="38100" y="873506"/>
                </a:lnTo>
                <a:lnTo>
                  <a:pt x="44450" y="873506"/>
                </a:lnTo>
                <a:lnTo>
                  <a:pt x="44450" y="12700"/>
                </a:lnTo>
                <a:lnTo>
                  <a:pt x="38100" y="12700"/>
                </a:lnTo>
                <a:lnTo>
                  <a:pt x="44450" y="6350"/>
                </a:lnTo>
                <a:lnTo>
                  <a:pt x="1071372" y="6350"/>
                </a:lnTo>
                <a:lnTo>
                  <a:pt x="1071372" y="0"/>
                </a:lnTo>
                <a:close/>
              </a:path>
              <a:path w="1071879" h="949960">
                <a:moveTo>
                  <a:pt x="44450" y="873506"/>
                </a:moveTo>
                <a:lnTo>
                  <a:pt x="38100" y="873506"/>
                </a:lnTo>
                <a:lnTo>
                  <a:pt x="44450" y="874784"/>
                </a:lnTo>
                <a:lnTo>
                  <a:pt x="44450" y="873506"/>
                </a:lnTo>
                <a:close/>
              </a:path>
              <a:path w="1071879" h="949960">
                <a:moveTo>
                  <a:pt x="44450" y="6350"/>
                </a:moveTo>
                <a:lnTo>
                  <a:pt x="38100" y="12700"/>
                </a:lnTo>
                <a:lnTo>
                  <a:pt x="44450" y="12700"/>
                </a:lnTo>
                <a:lnTo>
                  <a:pt x="44450" y="6350"/>
                </a:lnTo>
                <a:close/>
              </a:path>
              <a:path w="1071879" h="949960">
                <a:moveTo>
                  <a:pt x="1071372" y="6350"/>
                </a:moveTo>
                <a:lnTo>
                  <a:pt x="44450" y="6350"/>
                </a:lnTo>
                <a:lnTo>
                  <a:pt x="44450" y="12700"/>
                </a:lnTo>
                <a:lnTo>
                  <a:pt x="1071372" y="12700"/>
                </a:lnTo>
                <a:lnTo>
                  <a:pt x="1071372" y="635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1234835" y="2888251"/>
            <a:ext cx="1557186" cy="1008300"/>
          </a:xfrm>
          <a:custGeom>
            <a:avLst/>
            <a:gdLst/>
            <a:ahLst/>
            <a:cxnLst/>
            <a:rect l="l" t="t" r="r" b="b"/>
            <a:pathLst>
              <a:path w="1558289" h="1009014">
                <a:moveTo>
                  <a:pt x="1482860" y="31750"/>
                </a:moveTo>
                <a:lnTo>
                  <a:pt x="2844" y="31750"/>
                </a:lnTo>
                <a:lnTo>
                  <a:pt x="0" y="34544"/>
                </a:lnTo>
                <a:lnTo>
                  <a:pt x="0" y="1008888"/>
                </a:lnTo>
                <a:lnTo>
                  <a:pt x="12700" y="1008888"/>
                </a:lnTo>
                <a:lnTo>
                  <a:pt x="12700" y="44450"/>
                </a:lnTo>
                <a:lnTo>
                  <a:pt x="6350" y="44450"/>
                </a:lnTo>
                <a:lnTo>
                  <a:pt x="12700" y="38100"/>
                </a:lnTo>
                <a:lnTo>
                  <a:pt x="1481582" y="38100"/>
                </a:lnTo>
                <a:lnTo>
                  <a:pt x="1482860" y="31750"/>
                </a:lnTo>
                <a:close/>
              </a:path>
              <a:path w="1558289" h="1009014">
                <a:moveTo>
                  <a:pt x="1519682" y="0"/>
                </a:moveTo>
                <a:lnTo>
                  <a:pt x="1504834" y="2988"/>
                </a:lnTo>
                <a:lnTo>
                  <a:pt x="1492726" y="11144"/>
                </a:lnTo>
                <a:lnTo>
                  <a:pt x="1484570" y="23252"/>
                </a:lnTo>
                <a:lnTo>
                  <a:pt x="1481582" y="38100"/>
                </a:lnTo>
                <a:lnTo>
                  <a:pt x="1484570" y="52947"/>
                </a:lnTo>
                <a:lnTo>
                  <a:pt x="1492726" y="65055"/>
                </a:lnTo>
                <a:lnTo>
                  <a:pt x="1504834" y="73211"/>
                </a:lnTo>
                <a:lnTo>
                  <a:pt x="1519682" y="76200"/>
                </a:lnTo>
                <a:lnTo>
                  <a:pt x="1534529" y="73211"/>
                </a:lnTo>
                <a:lnTo>
                  <a:pt x="1546637" y="65055"/>
                </a:lnTo>
                <a:lnTo>
                  <a:pt x="1554793" y="52947"/>
                </a:lnTo>
                <a:lnTo>
                  <a:pt x="1556503" y="44450"/>
                </a:lnTo>
                <a:lnTo>
                  <a:pt x="1519682" y="44450"/>
                </a:lnTo>
                <a:lnTo>
                  <a:pt x="1519682" y="31750"/>
                </a:lnTo>
                <a:lnTo>
                  <a:pt x="1556503" y="31750"/>
                </a:lnTo>
                <a:lnTo>
                  <a:pt x="1554793" y="23252"/>
                </a:lnTo>
                <a:lnTo>
                  <a:pt x="1546637" y="11144"/>
                </a:lnTo>
                <a:lnTo>
                  <a:pt x="1534529" y="2988"/>
                </a:lnTo>
                <a:lnTo>
                  <a:pt x="1519682" y="0"/>
                </a:lnTo>
                <a:close/>
              </a:path>
              <a:path w="1558289" h="1009014">
                <a:moveTo>
                  <a:pt x="12700" y="38100"/>
                </a:moveTo>
                <a:lnTo>
                  <a:pt x="6350" y="44450"/>
                </a:lnTo>
                <a:lnTo>
                  <a:pt x="12700" y="44450"/>
                </a:lnTo>
                <a:lnTo>
                  <a:pt x="12700" y="38100"/>
                </a:lnTo>
                <a:close/>
              </a:path>
              <a:path w="1558289" h="1009014">
                <a:moveTo>
                  <a:pt x="1481582" y="38100"/>
                </a:moveTo>
                <a:lnTo>
                  <a:pt x="12700" y="38100"/>
                </a:lnTo>
                <a:lnTo>
                  <a:pt x="12700" y="44450"/>
                </a:lnTo>
                <a:lnTo>
                  <a:pt x="1482860" y="44450"/>
                </a:lnTo>
                <a:lnTo>
                  <a:pt x="1481582" y="38100"/>
                </a:lnTo>
                <a:close/>
              </a:path>
              <a:path w="1558289" h="1009014">
                <a:moveTo>
                  <a:pt x="1556503" y="31750"/>
                </a:moveTo>
                <a:lnTo>
                  <a:pt x="1519682" y="31750"/>
                </a:lnTo>
                <a:lnTo>
                  <a:pt x="1519682" y="44450"/>
                </a:lnTo>
                <a:lnTo>
                  <a:pt x="1556503" y="44450"/>
                </a:lnTo>
                <a:lnTo>
                  <a:pt x="1557782" y="38100"/>
                </a:lnTo>
                <a:lnTo>
                  <a:pt x="1556503" y="3175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119549" y="945766"/>
            <a:ext cx="8575947" cy="4887306"/>
          </a:xfrm>
          <a:custGeom>
            <a:avLst/>
            <a:gdLst/>
            <a:ahLst/>
            <a:cxnLst/>
            <a:rect l="l" t="t" r="r" b="b"/>
            <a:pathLst>
              <a:path w="8582025" h="4890770">
                <a:moveTo>
                  <a:pt x="0" y="4890516"/>
                </a:moveTo>
                <a:lnTo>
                  <a:pt x="8581644" y="4890516"/>
                </a:lnTo>
                <a:lnTo>
                  <a:pt x="8581644" y="0"/>
                </a:lnTo>
                <a:lnTo>
                  <a:pt x="0" y="0"/>
                </a:lnTo>
                <a:lnTo>
                  <a:pt x="0" y="4890516"/>
                </a:lnTo>
                <a:close/>
              </a:path>
            </a:pathLst>
          </a:custGeom>
          <a:ln w="28574">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txBox="1"/>
          <p:nvPr/>
        </p:nvSpPr>
        <p:spPr>
          <a:xfrm>
            <a:off x="106401" y="6412696"/>
            <a:ext cx="2191102"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35"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a:t>
            </a:r>
            <a:r>
              <a:rPr sz="1000" spc="-35"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营销和销售业务部</a:t>
            </a:r>
            <a:endParaRPr sz="10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64590" y="1772648"/>
            <a:ext cx="2818799" cy="3464771"/>
          </a:xfrm>
          <a:prstGeom prst="rect">
            <a:avLst/>
          </a:prstGeom>
          <a:blipFill>
            <a:blip r:embed="rId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 name="object 4"/>
          <p:cNvSpPr/>
          <p:nvPr/>
        </p:nvSpPr>
        <p:spPr>
          <a:xfrm>
            <a:off x="1285344" y="1892261"/>
            <a:ext cx="2416875" cy="3065638"/>
          </a:xfrm>
          <a:prstGeom prst="rect">
            <a:avLst/>
          </a:prstGeom>
          <a:blipFill>
            <a:blip r:embed="rId2"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p:nvPr/>
        </p:nvSpPr>
        <p:spPr>
          <a:xfrm>
            <a:off x="7453174" y="5026432"/>
            <a:ext cx="387076" cy="355348"/>
          </a:xfrm>
          <a:custGeom>
            <a:avLst/>
            <a:gdLst/>
            <a:ahLst/>
            <a:cxnLst/>
            <a:rect l="l" t="t" r="r" b="b"/>
            <a:pathLst>
              <a:path w="387350" h="355600">
                <a:moveTo>
                  <a:pt x="387096" y="0"/>
                </a:moveTo>
                <a:lnTo>
                  <a:pt x="0" y="355091"/>
                </a:lnTo>
                <a:lnTo>
                  <a:pt x="387096" y="355091"/>
                </a:lnTo>
                <a:lnTo>
                  <a:pt x="387096"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txBox="1"/>
          <p:nvPr/>
        </p:nvSpPr>
        <p:spPr>
          <a:xfrm>
            <a:off x="878205" y="1562735"/>
            <a:ext cx="6962775" cy="3827145"/>
          </a:xfrm>
          <a:prstGeom prst="rect">
            <a:avLst/>
          </a:prstGeom>
          <a:ln w="28575">
            <a:solidFill>
              <a:srgbClr val="91AFFF"/>
            </a:solidFill>
          </a:ln>
        </p:spPr>
        <p:txBody>
          <a:bodyPr vert="horz" wrap="square" lIns="0" tIns="0" rIns="0" bIns="0" rtlCol="0">
            <a:noAutofit/>
          </a:bodyPr>
          <a:lstStyle/>
          <a:p>
            <a:pPr>
              <a:lnSpc>
                <a:spcPct val="100000"/>
              </a:lnSpc>
            </a:pPr>
            <a:endParaRPr sz="2100">
              <a:latin typeface="微软雅黑" panose="020B0503020204020204" charset="-122"/>
              <a:ea typeface="微软雅黑" panose="020B0503020204020204" charset="-122"/>
              <a:cs typeface="微软雅黑" panose="020B0503020204020204" charset="-122"/>
            </a:endParaRPr>
          </a:p>
          <a:p>
            <a:pPr>
              <a:lnSpc>
                <a:spcPct val="100000"/>
              </a:lnSpc>
            </a:pPr>
            <a:endParaRPr sz="2100">
              <a:latin typeface="微软雅黑" panose="020B0503020204020204" charset="-122"/>
              <a:ea typeface="微软雅黑" panose="020B0503020204020204" charset="-122"/>
              <a:cs typeface="微软雅黑" panose="020B0503020204020204" charset="-122"/>
            </a:endParaRPr>
          </a:p>
          <a:p>
            <a:pPr>
              <a:lnSpc>
                <a:spcPct val="100000"/>
              </a:lnSpc>
            </a:pPr>
            <a:endParaRPr sz="2100">
              <a:latin typeface="微软雅黑" panose="020B0503020204020204" charset="-122"/>
              <a:ea typeface="微软雅黑" panose="020B0503020204020204" charset="-122"/>
              <a:cs typeface="微软雅黑" panose="020B0503020204020204" charset="-122"/>
            </a:endParaRPr>
          </a:p>
          <a:p>
            <a:pPr>
              <a:lnSpc>
                <a:spcPct val="100000"/>
              </a:lnSpc>
              <a:spcBef>
                <a:spcPts val="10"/>
              </a:spcBef>
            </a:pPr>
            <a:endParaRPr sz="2200">
              <a:latin typeface="微软雅黑" panose="020B0503020204020204" charset="-122"/>
              <a:ea typeface="微软雅黑" panose="020B0503020204020204" charset="-122"/>
              <a:cs typeface="微软雅黑" panose="020B0503020204020204" charset="-122"/>
            </a:endParaRPr>
          </a:p>
          <a:p>
            <a:pPr marL="530225" algn="ctr">
              <a:lnSpc>
                <a:spcPct val="100000"/>
              </a:lnSpc>
            </a:pPr>
            <a:r>
              <a:rPr sz="1600" b="1" dirty="0">
                <a:latin typeface="微软雅黑" panose="020B0503020204020204" charset="-122"/>
                <a:ea typeface="微软雅黑" panose="020B0503020204020204" charset="-122"/>
                <a:cs typeface="微软雅黑" panose="020B0503020204020204" charset="-122"/>
              </a:rPr>
              <a:t>大客户管理</a:t>
            </a:r>
            <a:endParaRPr sz="1600">
              <a:latin typeface="微软雅黑" panose="020B0503020204020204" charset="-122"/>
              <a:ea typeface="微软雅黑" panose="020B0503020204020204" charset="-122"/>
              <a:cs typeface="微软雅黑" panose="020B0503020204020204" charset="-122"/>
            </a:endParaRPr>
          </a:p>
          <a:p>
            <a:pPr>
              <a:lnSpc>
                <a:spcPct val="100000"/>
              </a:lnSpc>
              <a:spcBef>
                <a:spcPts val="55"/>
              </a:spcBef>
            </a:pPr>
            <a:endParaRPr sz="2200">
              <a:latin typeface="微软雅黑" panose="020B0503020204020204" charset="-122"/>
              <a:ea typeface="微软雅黑" panose="020B0503020204020204" charset="-122"/>
              <a:cs typeface="微软雅黑" panose="020B0503020204020204" charset="-122"/>
            </a:endParaRPr>
          </a:p>
          <a:p>
            <a:pPr marL="3238500" marR="467995" algn="just">
              <a:lnSpc>
                <a:spcPct val="100000"/>
              </a:lnSpc>
            </a:pPr>
            <a:r>
              <a:rPr sz="1600" spc="-5" dirty="0">
                <a:latin typeface="微软雅黑" panose="020B0503020204020204" charset="-122"/>
                <a:ea typeface="微软雅黑" panose="020B0503020204020204" charset="-122"/>
                <a:cs typeface="微软雅黑" panose="020B0503020204020204" charset="-122"/>
              </a:rPr>
              <a:t>大客户管理指的是以</a:t>
            </a:r>
            <a:r>
              <a:rPr sz="1600" b="1" dirty="0">
                <a:latin typeface="微软雅黑" panose="020B0503020204020204" charset="-122"/>
                <a:ea typeface="微软雅黑" panose="020B0503020204020204" charset="-122"/>
                <a:cs typeface="微软雅黑" panose="020B0503020204020204" charset="-122"/>
              </a:rPr>
              <a:t>主动的、系统的 </a:t>
            </a:r>
            <a:r>
              <a:rPr sz="1600" spc="-5" dirty="0">
                <a:latin typeface="微软雅黑" panose="020B0503020204020204" charset="-122"/>
                <a:ea typeface="微软雅黑" panose="020B0503020204020204" charset="-122"/>
                <a:cs typeface="微软雅黑" panose="020B0503020204020204" charset="-122"/>
              </a:rPr>
              <a:t>方式，为公司和大客户</a:t>
            </a:r>
            <a:r>
              <a:rPr sz="1600" b="1" spc="5" dirty="0">
                <a:latin typeface="微软雅黑" panose="020B0503020204020204" charset="-122"/>
                <a:ea typeface="微软雅黑" panose="020B0503020204020204" charset="-122"/>
                <a:cs typeface="微软雅黑" panose="020B0503020204020204" charset="-122"/>
              </a:rPr>
              <a:t>同时创造价值 </a:t>
            </a:r>
            <a:r>
              <a:rPr sz="1600" spc="-5" dirty="0">
                <a:latin typeface="微软雅黑" panose="020B0503020204020204" charset="-122"/>
                <a:ea typeface="微软雅黑" panose="020B0503020204020204" charset="-122"/>
                <a:cs typeface="微软雅黑" panose="020B0503020204020204" charset="-122"/>
              </a:rPr>
              <a:t>的过程</a:t>
            </a:r>
            <a:endParaRPr sz="1600">
              <a:latin typeface="微软雅黑" panose="020B0503020204020204" charset="-122"/>
              <a:ea typeface="微软雅黑" panose="020B0503020204020204" charset="-122"/>
              <a:cs typeface="微软雅黑" panose="020B0503020204020204" charset="-122"/>
            </a:endParaRPr>
          </a:p>
        </p:txBody>
      </p:sp>
      <p:sp>
        <p:nvSpPr>
          <p:cNvPr id="7" name="object 7"/>
          <p:cNvSpPr txBox="1"/>
          <p:nvPr/>
        </p:nvSpPr>
        <p:spPr>
          <a:xfrm>
            <a:off x="106401" y="6412696"/>
            <a:ext cx="2191102"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35"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a:t>
            </a:r>
            <a:r>
              <a:rPr sz="1000" spc="-35"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营销和销售业务部</a:t>
            </a:r>
            <a:endParaRPr sz="1000">
              <a:latin typeface="微软雅黑" panose="020B0503020204020204" charset="-122"/>
              <a:ea typeface="微软雅黑" panose="020B0503020204020204" charset="-122"/>
              <a:cs typeface="微软雅黑" panose="020B0503020204020204" charset="-122"/>
            </a:endParaRPr>
          </a:p>
        </p:txBody>
      </p:sp>
      <p:sp>
        <p:nvSpPr>
          <p:cNvPr id="8" name="object 8"/>
          <p:cNvSpPr txBox="1">
            <a:spLocks noGrp="1"/>
          </p:cNvSpPr>
          <p:nvPr>
            <p:ph type="title"/>
          </p:nvPr>
        </p:nvSpPr>
        <p:spPr>
          <a:xfrm>
            <a:off x="106401" y="203088"/>
            <a:ext cx="1956952"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大客户管理</a:t>
            </a:r>
            <a:r>
              <a:rPr spc="-10" dirty="0">
                <a:ea typeface="微软雅黑" panose="020B0503020204020204" charset="-122"/>
              </a:rPr>
              <a:t>的定义</a:t>
            </a:r>
            <a:endParaRPr spc="-10" dirty="0">
              <a:ea typeface="微软雅黑" panose="020B050302020402020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82749" y="1595292"/>
            <a:ext cx="3900581" cy="335043"/>
          </a:xfrm>
          <a:custGeom>
            <a:avLst/>
            <a:gdLst/>
            <a:ahLst/>
            <a:cxnLst/>
            <a:rect l="l" t="t" r="r" b="b"/>
            <a:pathLst>
              <a:path w="3903345" h="335280">
                <a:moveTo>
                  <a:pt x="0" y="335279"/>
                </a:moveTo>
                <a:lnTo>
                  <a:pt x="3902964" y="335279"/>
                </a:lnTo>
                <a:lnTo>
                  <a:pt x="3902964" y="0"/>
                </a:lnTo>
                <a:lnTo>
                  <a:pt x="0" y="0"/>
                </a:lnTo>
                <a:lnTo>
                  <a:pt x="0" y="33527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 name="object 4"/>
          <p:cNvSpPr/>
          <p:nvPr/>
        </p:nvSpPr>
        <p:spPr>
          <a:xfrm>
            <a:off x="182749" y="1595292"/>
            <a:ext cx="3900581" cy="335043"/>
          </a:xfrm>
          <a:custGeom>
            <a:avLst/>
            <a:gdLst/>
            <a:ahLst/>
            <a:cxnLst/>
            <a:rect l="l" t="t" r="r" b="b"/>
            <a:pathLst>
              <a:path w="3903345" h="335280">
                <a:moveTo>
                  <a:pt x="0" y="335279"/>
                </a:moveTo>
                <a:lnTo>
                  <a:pt x="3902964" y="335279"/>
                </a:lnTo>
                <a:lnTo>
                  <a:pt x="3902964" y="0"/>
                </a:lnTo>
                <a:lnTo>
                  <a:pt x="0" y="0"/>
                </a:lnTo>
                <a:lnTo>
                  <a:pt x="0" y="335279"/>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txBox="1"/>
          <p:nvPr/>
        </p:nvSpPr>
        <p:spPr>
          <a:xfrm>
            <a:off x="182749" y="1595292"/>
            <a:ext cx="3900581" cy="263525"/>
          </a:xfrm>
          <a:prstGeom prst="rect">
            <a:avLst/>
          </a:prstGeom>
          <a:solidFill>
            <a:srgbClr val="C6DFFA"/>
          </a:solidFill>
          <a:ln w="9525">
            <a:solidFill>
              <a:srgbClr val="000000"/>
            </a:solidFill>
          </a:ln>
        </p:spPr>
        <p:txBody>
          <a:bodyPr vert="horz" wrap="square" lIns="0" tIns="48860" rIns="0" bIns="0" rtlCol="0">
            <a:spAutoFit/>
          </a:bodyPr>
          <a:lstStyle/>
          <a:p>
            <a:pPr marL="71120">
              <a:lnSpc>
                <a:spcPct val="100000"/>
              </a:lnSpc>
              <a:spcBef>
                <a:spcPts val="385"/>
              </a:spcBef>
            </a:pPr>
            <a:r>
              <a:rPr sz="1400" b="1" spc="10" dirty="0">
                <a:latin typeface="微软雅黑" panose="020B0503020204020204" charset="-122"/>
                <a:ea typeface="微软雅黑" panose="020B0503020204020204" charset="-122"/>
                <a:cs typeface="微软雅黑" panose="020B0503020204020204" charset="-122"/>
              </a:rPr>
              <a:t>很少</a:t>
            </a:r>
            <a:r>
              <a:rPr sz="1400" b="1" dirty="0">
                <a:latin typeface="微软雅黑" panose="020B0503020204020204" charset="-122"/>
                <a:ea typeface="微软雅黑" panose="020B0503020204020204" charset="-122"/>
                <a:cs typeface="微软雅黑" panose="020B0503020204020204" charset="-122"/>
              </a:rPr>
              <a:t>几个</a:t>
            </a:r>
            <a:r>
              <a:rPr sz="1400" b="1" spc="-10" dirty="0">
                <a:latin typeface="微软雅黑" panose="020B0503020204020204" charset="-122"/>
                <a:ea typeface="微软雅黑" panose="020B0503020204020204" charset="-122"/>
                <a:cs typeface="微软雅黑" panose="020B0503020204020204" charset="-122"/>
              </a:rPr>
              <a:t>客</a:t>
            </a:r>
            <a:r>
              <a:rPr sz="1400" b="1" dirty="0">
                <a:latin typeface="微软雅黑" panose="020B0503020204020204" charset="-122"/>
                <a:ea typeface="微软雅黑" panose="020B0503020204020204" charset="-122"/>
                <a:cs typeface="微软雅黑" panose="020B0503020204020204" charset="-122"/>
              </a:rPr>
              <a:t>户成</a:t>
            </a:r>
            <a:r>
              <a:rPr sz="1400" b="1" spc="-10" dirty="0">
                <a:latin typeface="微软雅黑" panose="020B0503020204020204" charset="-122"/>
                <a:ea typeface="微软雅黑" panose="020B0503020204020204" charset="-122"/>
                <a:cs typeface="微软雅黑" panose="020B0503020204020204" charset="-122"/>
              </a:rPr>
              <a:t>为</a:t>
            </a:r>
            <a:r>
              <a:rPr sz="1400" b="1" dirty="0">
                <a:latin typeface="微软雅黑" panose="020B0503020204020204" charset="-122"/>
                <a:ea typeface="微软雅黑" panose="020B0503020204020204" charset="-122"/>
                <a:cs typeface="微软雅黑" panose="020B0503020204020204" charset="-122"/>
              </a:rPr>
              <a:t>公司</a:t>
            </a:r>
            <a:r>
              <a:rPr sz="1400" b="1" spc="-10" dirty="0">
                <a:latin typeface="微软雅黑" panose="020B0503020204020204" charset="-122"/>
                <a:ea typeface="微软雅黑" panose="020B0503020204020204" charset="-122"/>
                <a:cs typeface="微软雅黑" panose="020B0503020204020204" charset="-122"/>
              </a:rPr>
              <a:t>的</a:t>
            </a:r>
            <a:r>
              <a:rPr sz="1400" b="1" dirty="0">
                <a:latin typeface="微软雅黑" panose="020B0503020204020204" charset="-122"/>
                <a:ea typeface="微软雅黑" panose="020B0503020204020204" charset="-122"/>
                <a:cs typeface="微软雅黑" panose="020B0503020204020204" charset="-122"/>
              </a:rPr>
              <a:t>主要</a:t>
            </a:r>
            <a:r>
              <a:rPr sz="1400" b="1" spc="-10" dirty="0">
                <a:latin typeface="微软雅黑" panose="020B0503020204020204" charset="-122"/>
                <a:ea typeface="微软雅黑" panose="020B0503020204020204" charset="-122"/>
                <a:cs typeface="微软雅黑" panose="020B0503020204020204" charset="-122"/>
              </a:rPr>
              <a:t>贡</a:t>
            </a:r>
            <a:r>
              <a:rPr sz="1400" b="1" dirty="0">
                <a:latin typeface="微软雅黑" panose="020B0503020204020204" charset="-122"/>
                <a:ea typeface="微软雅黑" panose="020B0503020204020204" charset="-122"/>
                <a:cs typeface="微软雅黑" panose="020B0503020204020204" charset="-122"/>
              </a:rPr>
              <a:t>献</a:t>
            </a:r>
            <a:r>
              <a:rPr sz="1400" b="1" spc="330" dirty="0">
                <a:latin typeface="微软雅黑" panose="020B0503020204020204" charset="-122"/>
                <a:ea typeface="微软雅黑" panose="020B0503020204020204" charset="-122"/>
                <a:cs typeface="微软雅黑" panose="020B0503020204020204" charset="-122"/>
              </a:rPr>
              <a:t>者</a:t>
            </a:r>
            <a:r>
              <a:rPr sz="1400" b="1" spc="5" dirty="0">
                <a:latin typeface="微软雅黑" panose="020B0503020204020204" charset="-122"/>
                <a:ea typeface="微软雅黑" panose="020B0503020204020204" charset="-122"/>
                <a:cs typeface="微软雅黑" panose="020B0503020204020204" charset="-122"/>
              </a:rPr>
              <a:t>...</a:t>
            </a:r>
            <a:endParaRPr sz="1400">
              <a:latin typeface="微软雅黑" panose="020B0503020204020204" charset="-122"/>
              <a:ea typeface="微软雅黑" panose="020B0503020204020204" charset="-122"/>
              <a:cs typeface="微软雅黑" panose="020B0503020204020204" charset="-122"/>
            </a:endParaRPr>
          </a:p>
        </p:txBody>
      </p:sp>
      <p:sp>
        <p:nvSpPr>
          <p:cNvPr id="6" name="object 6"/>
          <p:cNvSpPr txBox="1">
            <a:spLocks noGrp="1"/>
          </p:cNvSpPr>
          <p:nvPr>
            <p:ph type="title"/>
          </p:nvPr>
        </p:nvSpPr>
        <p:spPr>
          <a:xfrm>
            <a:off x="106401" y="203088"/>
            <a:ext cx="4128384" cy="303530"/>
          </a:xfrm>
          <a:prstGeom prst="rect">
            <a:avLst/>
          </a:prstGeom>
        </p:spPr>
        <p:txBody>
          <a:bodyPr vert="horz" wrap="square" lIns="0" tIns="12056" rIns="0" bIns="0" rtlCol="0">
            <a:spAutoFit/>
          </a:bodyPr>
          <a:lstStyle/>
          <a:p>
            <a:pPr marL="12700">
              <a:lnSpc>
                <a:spcPct val="100000"/>
              </a:lnSpc>
              <a:spcBef>
                <a:spcPts val="95"/>
              </a:spcBef>
            </a:pPr>
            <a:r>
              <a:rPr dirty="0">
                <a:ea typeface="微软雅黑" panose="020B0503020204020204" charset="-122"/>
              </a:rPr>
              <a:t>大客户在</a:t>
            </a:r>
            <a:r>
              <a:rPr spc="-5" dirty="0">
                <a:ea typeface="微软雅黑" panose="020B0503020204020204" charset="-122"/>
              </a:rPr>
              <a:t>B2B公司中</a:t>
            </a:r>
            <a:r>
              <a:rPr spc="-10" dirty="0">
                <a:ea typeface="微软雅黑" panose="020B0503020204020204" charset="-122"/>
              </a:rPr>
              <a:t>的</a:t>
            </a:r>
            <a:r>
              <a:rPr spc="-5" dirty="0">
                <a:ea typeface="微软雅黑" panose="020B0503020204020204" charset="-122"/>
              </a:rPr>
              <a:t>地</a:t>
            </a:r>
            <a:r>
              <a:rPr spc="-10" dirty="0">
                <a:ea typeface="微软雅黑" panose="020B0503020204020204" charset="-122"/>
              </a:rPr>
              <a:t>位越</a:t>
            </a:r>
            <a:r>
              <a:rPr spc="-5" dirty="0">
                <a:ea typeface="微软雅黑" panose="020B0503020204020204" charset="-122"/>
              </a:rPr>
              <a:t>来</a:t>
            </a:r>
            <a:r>
              <a:rPr spc="-10" dirty="0">
                <a:ea typeface="微软雅黑" panose="020B0503020204020204" charset="-122"/>
              </a:rPr>
              <a:t>越重要</a:t>
            </a:r>
            <a:endParaRPr spc="-10" dirty="0">
              <a:ea typeface="微软雅黑" panose="020B0503020204020204" charset="-122"/>
            </a:endParaRPr>
          </a:p>
        </p:txBody>
      </p:sp>
      <p:sp>
        <p:nvSpPr>
          <p:cNvPr id="7" name="object 7"/>
          <p:cNvSpPr/>
          <p:nvPr/>
        </p:nvSpPr>
        <p:spPr>
          <a:xfrm>
            <a:off x="932641" y="2886315"/>
            <a:ext cx="0" cy="1637774"/>
          </a:xfrm>
          <a:custGeom>
            <a:avLst/>
            <a:gdLst/>
            <a:ahLst/>
            <a:cxnLst/>
            <a:rect l="l" t="t" r="r" b="b"/>
            <a:pathLst>
              <a:path h="1638935">
                <a:moveTo>
                  <a:pt x="0" y="0"/>
                </a:moveTo>
                <a:lnTo>
                  <a:pt x="0" y="1638411"/>
                </a:lnTo>
              </a:path>
            </a:pathLst>
          </a:custGeom>
          <a:ln w="9491">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932641" y="4528302"/>
            <a:ext cx="47591" cy="9518"/>
          </a:xfrm>
          <a:custGeom>
            <a:avLst/>
            <a:gdLst/>
            <a:ahLst/>
            <a:cxnLst/>
            <a:rect l="l" t="t" r="r" b="b"/>
            <a:pathLst>
              <a:path w="47625" h="9525">
                <a:moveTo>
                  <a:pt x="0" y="9477"/>
                </a:moveTo>
                <a:lnTo>
                  <a:pt x="47456" y="9477"/>
                </a:lnTo>
                <a:lnTo>
                  <a:pt x="47456" y="0"/>
                </a:lnTo>
                <a:lnTo>
                  <a:pt x="0" y="0"/>
                </a:lnTo>
                <a:lnTo>
                  <a:pt x="0" y="9477"/>
                </a:lnTo>
                <a:close/>
              </a:path>
            </a:pathLst>
          </a:custGeom>
          <a:solidFill>
            <a:srgbClr val="00000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932641" y="3976136"/>
            <a:ext cx="47591" cy="9518"/>
          </a:xfrm>
          <a:custGeom>
            <a:avLst/>
            <a:gdLst/>
            <a:ahLst/>
            <a:cxnLst/>
            <a:rect l="l" t="t" r="r" b="b"/>
            <a:pathLst>
              <a:path w="47625" h="9525">
                <a:moveTo>
                  <a:pt x="0" y="9477"/>
                </a:moveTo>
                <a:lnTo>
                  <a:pt x="47456" y="9477"/>
                </a:lnTo>
                <a:lnTo>
                  <a:pt x="47456" y="0"/>
                </a:lnTo>
                <a:lnTo>
                  <a:pt x="0" y="0"/>
                </a:lnTo>
                <a:lnTo>
                  <a:pt x="0" y="9477"/>
                </a:lnTo>
                <a:close/>
              </a:path>
            </a:pathLst>
          </a:custGeom>
          <a:solidFill>
            <a:srgbClr val="00000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932641" y="3433442"/>
            <a:ext cx="47591" cy="9518"/>
          </a:xfrm>
          <a:custGeom>
            <a:avLst/>
            <a:gdLst/>
            <a:ahLst/>
            <a:cxnLst/>
            <a:rect l="l" t="t" r="r" b="b"/>
            <a:pathLst>
              <a:path w="47625" h="9525">
                <a:moveTo>
                  <a:pt x="0" y="9477"/>
                </a:moveTo>
                <a:lnTo>
                  <a:pt x="47456" y="9477"/>
                </a:lnTo>
                <a:lnTo>
                  <a:pt x="47456" y="0"/>
                </a:lnTo>
                <a:lnTo>
                  <a:pt x="0" y="0"/>
                </a:lnTo>
                <a:lnTo>
                  <a:pt x="0" y="9477"/>
                </a:lnTo>
                <a:close/>
              </a:path>
            </a:pathLst>
          </a:custGeom>
          <a:solidFill>
            <a:srgbClr val="00000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932641" y="2881579"/>
            <a:ext cx="47591" cy="9518"/>
          </a:xfrm>
          <a:custGeom>
            <a:avLst/>
            <a:gdLst/>
            <a:ahLst/>
            <a:cxnLst/>
            <a:rect l="l" t="t" r="r" b="b"/>
            <a:pathLst>
              <a:path w="47625" h="9525">
                <a:moveTo>
                  <a:pt x="0" y="9477"/>
                </a:moveTo>
                <a:lnTo>
                  <a:pt x="47456" y="9477"/>
                </a:lnTo>
                <a:lnTo>
                  <a:pt x="47456" y="0"/>
                </a:lnTo>
                <a:lnTo>
                  <a:pt x="0" y="0"/>
                </a:lnTo>
                <a:lnTo>
                  <a:pt x="0" y="9477"/>
                </a:lnTo>
                <a:close/>
              </a:path>
            </a:pathLst>
          </a:custGeom>
          <a:solidFill>
            <a:srgbClr val="00000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932641" y="4533038"/>
            <a:ext cx="105970" cy="0"/>
          </a:xfrm>
          <a:custGeom>
            <a:avLst/>
            <a:gdLst/>
            <a:ahLst/>
            <a:cxnLst/>
            <a:rect l="l" t="t" r="r" b="b"/>
            <a:pathLst>
              <a:path w="106044">
                <a:moveTo>
                  <a:pt x="0" y="0"/>
                </a:moveTo>
                <a:lnTo>
                  <a:pt x="105549" y="0"/>
                </a:lnTo>
              </a:path>
            </a:pathLst>
          </a:custGeom>
          <a:ln w="9477">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927898" y="3090891"/>
            <a:ext cx="2531221" cy="1342074"/>
          </a:xfrm>
          <a:custGeom>
            <a:avLst/>
            <a:gdLst/>
            <a:ahLst/>
            <a:cxnLst/>
            <a:rect l="l" t="t" r="r" b="b"/>
            <a:pathLst>
              <a:path w="2533015" h="1343025">
                <a:moveTo>
                  <a:pt x="0" y="1343019"/>
                </a:moveTo>
                <a:lnTo>
                  <a:pt x="9491" y="1295314"/>
                </a:lnTo>
                <a:lnTo>
                  <a:pt x="18982" y="1247925"/>
                </a:lnTo>
                <a:lnTo>
                  <a:pt x="18982" y="1209698"/>
                </a:lnTo>
                <a:lnTo>
                  <a:pt x="28473" y="1161993"/>
                </a:lnTo>
                <a:lnTo>
                  <a:pt x="37965" y="1124081"/>
                </a:lnTo>
                <a:lnTo>
                  <a:pt x="47456" y="1085854"/>
                </a:lnTo>
                <a:lnTo>
                  <a:pt x="47456" y="1057421"/>
                </a:lnTo>
                <a:lnTo>
                  <a:pt x="56947" y="1028671"/>
                </a:lnTo>
                <a:lnTo>
                  <a:pt x="66439" y="1009716"/>
                </a:lnTo>
                <a:lnTo>
                  <a:pt x="75930" y="980966"/>
                </a:lnTo>
                <a:lnTo>
                  <a:pt x="85421" y="952533"/>
                </a:lnTo>
                <a:lnTo>
                  <a:pt x="85421" y="933577"/>
                </a:lnTo>
                <a:lnTo>
                  <a:pt x="94913" y="914306"/>
                </a:lnTo>
                <a:lnTo>
                  <a:pt x="104720" y="895350"/>
                </a:lnTo>
                <a:lnTo>
                  <a:pt x="114212" y="876394"/>
                </a:lnTo>
                <a:lnTo>
                  <a:pt x="123703" y="857123"/>
                </a:lnTo>
                <a:lnTo>
                  <a:pt x="123703" y="838167"/>
                </a:lnTo>
                <a:lnTo>
                  <a:pt x="133194" y="828689"/>
                </a:lnTo>
                <a:lnTo>
                  <a:pt x="142685" y="809734"/>
                </a:lnTo>
                <a:lnTo>
                  <a:pt x="152177" y="790462"/>
                </a:lnTo>
                <a:lnTo>
                  <a:pt x="152177" y="780984"/>
                </a:lnTo>
                <a:lnTo>
                  <a:pt x="161668" y="771506"/>
                </a:lnTo>
                <a:lnTo>
                  <a:pt x="171159" y="752551"/>
                </a:lnTo>
                <a:lnTo>
                  <a:pt x="180651" y="743073"/>
                </a:lnTo>
                <a:lnTo>
                  <a:pt x="190142" y="733595"/>
                </a:lnTo>
                <a:lnTo>
                  <a:pt x="190142" y="714324"/>
                </a:lnTo>
                <a:lnTo>
                  <a:pt x="199633" y="704846"/>
                </a:lnTo>
                <a:lnTo>
                  <a:pt x="209441" y="695368"/>
                </a:lnTo>
                <a:lnTo>
                  <a:pt x="218932" y="685890"/>
                </a:lnTo>
                <a:lnTo>
                  <a:pt x="218932" y="676412"/>
                </a:lnTo>
                <a:lnTo>
                  <a:pt x="228424" y="666619"/>
                </a:lnTo>
                <a:lnTo>
                  <a:pt x="237915" y="657141"/>
                </a:lnTo>
                <a:lnTo>
                  <a:pt x="247406" y="647663"/>
                </a:lnTo>
                <a:lnTo>
                  <a:pt x="256897" y="638185"/>
                </a:lnTo>
                <a:lnTo>
                  <a:pt x="256897" y="628707"/>
                </a:lnTo>
                <a:lnTo>
                  <a:pt x="266389" y="619229"/>
                </a:lnTo>
                <a:lnTo>
                  <a:pt x="275880" y="609752"/>
                </a:lnTo>
                <a:lnTo>
                  <a:pt x="285371" y="599958"/>
                </a:lnTo>
                <a:lnTo>
                  <a:pt x="294863" y="590480"/>
                </a:lnTo>
                <a:lnTo>
                  <a:pt x="294863" y="581002"/>
                </a:lnTo>
                <a:lnTo>
                  <a:pt x="304354" y="571524"/>
                </a:lnTo>
                <a:lnTo>
                  <a:pt x="314162" y="562047"/>
                </a:lnTo>
                <a:lnTo>
                  <a:pt x="323653" y="552569"/>
                </a:lnTo>
                <a:lnTo>
                  <a:pt x="333144" y="542775"/>
                </a:lnTo>
                <a:lnTo>
                  <a:pt x="342636" y="533297"/>
                </a:lnTo>
                <a:lnTo>
                  <a:pt x="352127" y="523819"/>
                </a:lnTo>
                <a:lnTo>
                  <a:pt x="361618" y="523819"/>
                </a:lnTo>
                <a:lnTo>
                  <a:pt x="361618" y="514342"/>
                </a:lnTo>
                <a:lnTo>
                  <a:pt x="371109" y="504864"/>
                </a:lnTo>
                <a:lnTo>
                  <a:pt x="380601" y="504864"/>
                </a:lnTo>
                <a:lnTo>
                  <a:pt x="390092" y="495386"/>
                </a:lnTo>
                <a:lnTo>
                  <a:pt x="390092" y="485908"/>
                </a:lnTo>
                <a:lnTo>
                  <a:pt x="399583" y="485908"/>
                </a:lnTo>
                <a:lnTo>
                  <a:pt x="409075" y="476114"/>
                </a:lnTo>
                <a:lnTo>
                  <a:pt x="418566" y="476114"/>
                </a:lnTo>
                <a:lnTo>
                  <a:pt x="428374" y="466637"/>
                </a:lnTo>
                <a:lnTo>
                  <a:pt x="428374" y="457159"/>
                </a:lnTo>
                <a:lnTo>
                  <a:pt x="437865" y="457159"/>
                </a:lnTo>
                <a:lnTo>
                  <a:pt x="447356" y="447681"/>
                </a:lnTo>
                <a:lnTo>
                  <a:pt x="456848" y="447681"/>
                </a:lnTo>
                <a:lnTo>
                  <a:pt x="466339" y="438203"/>
                </a:lnTo>
                <a:lnTo>
                  <a:pt x="475830" y="428725"/>
                </a:lnTo>
                <a:lnTo>
                  <a:pt x="485321" y="428725"/>
                </a:lnTo>
                <a:lnTo>
                  <a:pt x="494813" y="419248"/>
                </a:lnTo>
                <a:lnTo>
                  <a:pt x="504304" y="409454"/>
                </a:lnTo>
                <a:lnTo>
                  <a:pt x="513795" y="399976"/>
                </a:lnTo>
                <a:lnTo>
                  <a:pt x="523287" y="399976"/>
                </a:lnTo>
                <a:lnTo>
                  <a:pt x="533094" y="390498"/>
                </a:lnTo>
                <a:lnTo>
                  <a:pt x="542586" y="381020"/>
                </a:lnTo>
                <a:lnTo>
                  <a:pt x="552077" y="381020"/>
                </a:lnTo>
                <a:lnTo>
                  <a:pt x="561568" y="371543"/>
                </a:lnTo>
                <a:lnTo>
                  <a:pt x="571060" y="371543"/>
                </a:lnTo>
                <a:lnTo>
                  <a:pt x="580551" y="362065"/>
                </a:lnTo>
                <a:lnTo>
                  <a:pt x="590042" y="362065"/>
                </a:lnTo>
                <a:lnTo>
                  <a:pt x="599534" y="352271"/>
                </a:lnTo>
                <a:lnTo>
                  <a:pt x="609025" y="342793"/>
                </a:lnTo>
                <a:lnTo>
                  <a:pt x="618516" y="342793"/>
                </a:lnTo>
                <a:lnTo>
                  <a:pt x="628007" y="333366"/>
                </a:lnTo>
                <a:lnTo>
                  <a:pt x="637815" y="333366"/>
                </a:lnTo>
                <a:lnTo>
                  <a:pt x="647306" y="323888"/>
                </a:lnTo>
                <a:lnTo>
                  <a:pt x="656798" y="323888"/>
                </a:lnTo>
                <a:lnTo>
                  <a:pt x="666289" y="314410"/>
                </a:lnTo>
                <a:lnTo>
                  <a:pt x="675780" y="314410"/>
                </a:lnTo>
                <a:lnTo>
                  <a:pt x="685272" y="304932"/>
                </a:lnTo>
                <a:lnTo>
                  <a:pt x="694763" y="304932"/>
                </a:lnTo>
                <a:lnTo>
                  <a:pt x="704254" y="295455"/>
                </a:lnTo>
                <a:lnTo>
                  <a:pt x="713746" y="295455"/>
                </a:lnTo>
                <a:lnTo>
                  <a:pt x="723237" y="285598"/>
                </a:lnTo>
                <a:lnTo>
                  <a:pt x="732728" y="285598"/>
                </a:lnTo>
                <a:lnTo>
                  <a:pt x="742536" y="276120"/>
                </a:lnTo>
                <a:lnTo>
                  <a:pt x="752027" y="276120"/>
                </a:lnTo>
                <a:lnTo>
                  <a:pt x="761518" y="276120"/>
                </a:lnTo>
                <a:lnTo>
                  <a:pt x="771010" y="266642"/>
                </a:lnTo>
                <a:lnTo>
                  <a:pt x="780501" y="266642"/>
                </a:lnTo>
                <a:lnTo>
                  <a:pt x="789992" y="257164"/>
                </a:lnTo>
                <a:lnTo>
                  <a:pt x="799484" y="257164"/>
                </a:lnTo>
                <a:lnTo>
                  <a:pt x="808975" y="247686"/>
                </a:lnTo>
                <a:lnTo>
                  <a:pt x="818466" y="247686"/>
                </a:lnTo>
                <a:lnTo>
                  <a:pt x="827958" y="247686"/>
                </a:lnTo>
                <a:lnTo>
                  <a:pt x="837449" y="247686"/>
                </a:lnTo>
                <a:lnTo>
                  <a:pt x="837449" y="238209"/>
                </a:lnTo>
                <a:lnTo>
                  <a:pt x="847257" y="238209"/>
                </a:lnTo>
                <a:lnTo>
                  <a:pt x="856748" y="238209"/>
                </a:lnTo>
                <a:lnTo>
                  <a:pt x="866239" y="228731"/>
                </a:lnTo>
                <a:lnTo>
                  <a:pt x="875730" y="228731"/>
                </a:lnTo>
                <a:lnTo>
                  <a:pt x="885222" y="228731"/>
                </a:lnTo>
                <a:lnTo>
                  <a:pt x="894713" y="219000"/>
                </a:lnTo>
                <a:lnTo>
                  <a:pt x="904204" y="219000"/>
                </a:lnTo>
                <a:lnTo>
                  <a:pt x="913696" y="219000"/>
                </a:lnTo>
                <a:lnTo>
                  <a:pt x="923187" y="209522"/>
                </a:lnTo>
                <a:lnTo>
                  <a:pt x="932678" y="209522"/>
                </a:lnTo>
                <a:lnTo>
                  <a:pt x="942170" y="209522"/>
                </a:lnTo>
                <a:lnTo>
                  <a:pt x="951977" y="200045"/>
                </a:lnTo>
                <a:lnTo>
                  <a:pt x="961469" y="200045"/>
                </a:lnTo>
                <a:lnTo>
                  <a:pt x="970960" y="200045"/>
                </a:lnTo>
                <a:lnTo>
                  <a:pt x="970960" y="190567"/>
                </a:lnTo>
                <a:lnTo>
                  <a:pt x="980451" y="190567"/>
                </a:lnTo>
                <a:lnTo>
                  <a:pt x="989942" y="190567"/>
                </a:lnTo>
                <a:lnTo>
                  <a:pt x="999434" y="190567"/>
                </a:lnTo>
                <a:lnTo>
                  <a:pt x="1008925" y="181089"/>
                </a:lnTo>
                <a:lnTo>
                  <a:pt x="1018416" y="181089"/>
                </a:lnTo>
                <a:lnTo>
                  <a:pt x="1027908" y="181089"/>
                </a:lnTo>
                <a:lnTo>
                  <a:pt x="1037399" y="181089"/>
                </a:lnTo>
                <a:lnTo>
                  <a:pt x="1046890" y="171611"/>
                </a:lnTo>
                <a:lnTo>
                  <a:pt x="1056382" y="171611"/>
                </a:lnTo>
                <a:lnTo>
                  <a:pt x="1066189" y="171611"/>
                </a:lnTo>
                <a:lnTo>
                  <a:pt x="1075681" y="161754"/>
                </a:lnTo>
                <a:lnTo>
                  <a:pt x="1085172" y="161754"/>
                </a:lnTo>
                <a:lnTo>
                  <a:pt x="1094663" y="161754"/>
                </a:lnTo>
                <a:lnTo>
                  <a:pt x="1104155" y="161754"/>
                </a:lnTo>
                <a:lnTo>
                  <a:pt x="1113646" y="152276"/>
                </a:lnTo>
                <a:lnTo>
                  <a:pt x="1123137" y="152276"/>
                </a:lnTo>
                <a:lnTo>
                  <a:pt x="1132628" y="152276"/>
                </a:lnTo>
                <a:lnTo>
                  <a:pt x="1142120" y="152276"/>
                </a:lnTo>
                <a:lnTo>
                  <a:pt x="1142120" y="142799"/>
                </a:lnTo>
                <a:lnTo>
                  <a:pt x="1151611" y="142799"/>
                </a:lnTo>
                <a:lnTo>
                  <a:pt x="1161102" y="142799"/>
                </a:lnTo>
                <a:lnTo>
                  <a:pt x="1170973" y="142799"/>
                </a:lnTo>
                <a:lnTo>
                  <a:pt x="1180465" y="142799"/>
                </a:lnTo>
                <a:lnTo>
                  <a:pt x="1189956" y="133321"/>
                </a:lnTo>
                <a:lnTo>
                  <a:pt x="1199447" y="133321"/>
                </a:lnTo>
                <a:lnTo>
                  <a:pt x="1208939" y="133321"/>
                </a:lnTo>
                <a:lnTo>
                  <a:pt x="1218430" y="133321"/>
                </a:lnTo>
                <a:lnTo>
                  <a:pt x="1227921" y="133321"/>
                </a:lnTo>
                <a:lnTo>
                  <a:pt x="1237412" y="123843"/>
                </a:lnTo>
                <a:lnTo>
                  <a:pt x="1246904" y="123843"/>
                </a:lnTo>
                <a:lnTo>
                  <a:pt x="1256395" y="123843"/>
                </a:lnTo>
                <a:lnTo>
                  <a:pt x="1265886" y="123843"/>
                </a:lnTo>
                <a:lnTo>
                  <a:pt x="1275631" y="123843"/>
                </a:lnTo>
                <a:lnTo>
                  <a:pt x="1285122" y="114365"/>
                </a:lnTo>
                <a:lnTo>
                  <a:pt x="1294613" y="114365"/>
                </a:lnTo>
                <a:lnTo>
                  <a:pt x="1304105" y="114365"/>
                </a:lnTo>
                <a:lnTo>
                  <a:pt x="1313596" y="114365"/>
                </a:lnTo>
                <a:lnTo>
                  <a:pt x="1323087" y="114365"/>
                </a:lnTo>
                <a:lnTo>
                  <a:pt x="1332579" y="104887"/>
                </a:lnTo>
                <a:lnTo>
                  <a:pt x="1342070" y="104887"/>
                </a:lnTo>
                <a:lnTo>
                  <a:pt x="1351561" y="104887"/>
                </a:lnTo>
                <a:lnTo>
                  <a:pt x="1361052" y="104887"/>
                </a:lnTo>
                <a:lnTo>
                  <a:pt x="1370544" y="104887"/>
                </a:lnTo>
                <a:lnTo>
                  <a:pt x="1380288" y="95157"/>
                </a:lnTo>
                <a:lnTo>
                  <a:pt x="1389780" y="95157"/>
                </a:lnTo>
                <a:lnTo>
                  <a:pt x="1399271" y="95157"/>
                </a:lnTo>
                <a:lnTo>
                  <a:pt x="1408762" y="95157"/>
                </a:lnTo>
                <a:lnTo>
                  <a:pt x="1418253" y="95157"/>
                </a:lnTo>
                <a:lnTo>
                  <a:pt x="1427745" y="85679"/>
                </a:lnTo>
                <a:lnTo>
                  <a:pt x="1437236" y="85679"/>
                </a:lnTo>
                <a:lnTo>
                  <a:pt x="1446727" y="85679"/>
                </a:lnTo>
                <a:lnTo>
                  <a:pt x="1456219" y="85679"/>
                </a:lnTo>
                <a:lnTo>
                  <a:pt x="1465836" y="85679"/>
                </a:lnTo>
                <a:lnTo>
                  <a:pt x="1475328" y="85679"/>
                </a:lnTo>
                <a:lnTo>
                  <a:pt x="1485072" y="85679"/>
                </a:lnTo>
                <a:lnTo>
                  <a:pt x="1485072" y="76201"/>
                </a:lnTo>
                <a:lnTo>
                  <a:pt x="1494564" y="76201"/>
                </a:lnTo>
                <a:lnTo>
                  <a:pt x="1504055" y="76201"/>
                </a:lnTo>
                <a:lnTo>
                  <a:pt x="1513546" y="76201"/>
                </a:lnTo>
                <a:lnTo>
                  <a:pt x="1523037" y="76201"/>
                </a:lnTo>
                <a:lnTo>
                  <a:pt x="1532529" y="76201"/>
                </a:lnTo>
                <a:lnTo>
                  <a:pt x="1542020" y="76201"/>
                </a:lnTo>
                <a:lnTo>
                  <a:pt x="1551511" y="66723"/>
                </a:lnTo>
                <a:lnTo>
                  <a:pt x="1561003" y="66723"/>
                </a:lnTo>
                <a:lnTo>
                  <a:pt x="1570494" y="66723"/>
                </a:lnTo>
                <a:lnTo>
                  <a:pt x="1579985" y="66723"/>
                </a:lnTo>
                <a:lnTo>
                  <a:pt x="1589856" y="66723"/>
                </a:lnTo>
                <a:lnTo>
                  <a:pt x="1599348" y="66723"/>
                </a:lnTo>
                <a:lnTo>
                  <a:pt x="1608839" y="66723"/>
                </a:lnTo>
                <a:lnTo>
                  <a:pt x="1618330" y="57245"/>
                </a:lnTo>
                <a:lnTo>
                  <a:pt x="1627821" y="57245"/>
                </a:lnTo>
                <a:lnTo>
                  <a:pt x="1637313" y="57245"/>
                </a:lnTo>
                <a:lnTo>
                  <a:pt x="1646804" y="57245"/>
                </a:lnTo>
                <a:lnTo>
                  <a:pt x="1656295" y="57245"/>
                </a:lnTo>
                <a:lnTo>
                  <a:pt x="1665787" y="57245"/>
                </a:lnTo>
                <a:lnTo>
                  <a:pt x="1675278" y="57245"/>
                </a:lnTo>
                <a:lnTo>
                  <a:pt x="1684769" y="57245"/>
                </a:lnTo>
                <a:lnTo>
                  <a:pt x="1694261" y="47768"/>
                </a:lnTo>
                <a:lnTo>
                  <a:pt x="1704005" y="47768"/>
                </a:lnTo>
                <a:lnTo>
                  <a:pt x="1713496" y="47768"/>
                </a:lnTo>
                <a:lnTo>
                  <a:pt x="1722988" y="47768"/>
                </a:lnTo>
                <a:lnTo>
                  <a:pt x="1732479" y="47768"/>
                </a:lnTo>
                <a:lnTo>
                  <a:pt x="1741970" y="47768"/>
                </a:lnTo>
                <a:lnTo>
                  <a:pt x="1751461" y="47768"/>
                </a:lnTo>
                <a:lnTo>
                  <a:pt x="1760953" y="47768"/>
                </a:lnTo>
                <a:lnTo>
                  <a:pt x="1770444" y="37911"/>
                </a:lnTo>
                <a:lnTo>
                  <a:pt x="1779935" y="37911"/>
                </a:lnTo>
                <a:lnTo>
                  <a:pt x="1789427" y="37911"/>
                </a:lnTo>
                <a:lnTo>
                  <a:pt x="1798918" y="37911"/>
                </a:lnTo>
                <a:lnTo>
                  <a:pt x="1808789" y="37911"/>
                </a:lnTo>
                <a:lnTo>
                  <a:pt x="1818280" y="37911"/>
                </a:lnTo>
                <a:lnTo>
                  <a:pt x="1827772" y="37911"/>
                </a:lnTo>
                <a:lnTo>
                  <a:pt x="1837263" y="37911"/>
                </a:lnTo>
                <a:lnTo>
                  <a:pt x="1846754" y="37911"/>
                </a:lnTo>
                <a:lnTo>
                  <a:pt x="1856245" y="37911"/>
                </a:lnTo>
                <a:lnTo>
                  <a:pt x="1865737" y="37911"/>
                </a:lnTo>
                <a:lnTo>
                  <a:pt x="1865737" y="28433"/>
                </a:lnTo>
                <a:lnTo>
                  <a:pt x="1875228" y="28433"/>
                </a:lnTo>
                <a:lnTo>
                  <a:pt x="1884719" y="28433"/>
                </a:lnTo>
                <a:lnTo>
                  <a:pt x="1894211" y="28433"/>
                </a:lnTo>
                <a:lnTo>
                  <a:pt x="1903702" y="28433"/>
                </a:lnTo>
                <a:lnTo>
                  <a:pt x="1913446" y="28433"/>
                </a:lnTo>
                <a:lnTo>
                  <a:pt x="1922938" y="28433"/>
                </a:lnTo>
                <a:lnTo>
                  <a:pt x="1932429" y="28433"/>
                </a:lnTo>
                <a:lnTo>
                  <a:pt x="1941920" y="28433"/>
                </a:lnTo>
                <a:lnTo>
                  <a:pt x="1951412" y="28433"/>
                </a:lnTo>
                <a:lnTo>
                  <a:pt x="1960903" y="28433"/>
                </a:lnTo>
                <a:lnTo>
                  <a:pt x="1970394" y="18955"/>
                </a:lnTo>
                <a:lnTo>
                  <a:pt x="1979886" y="18955"/>
                </a:lnTo>
                <a:lnTo>
                  <a:pt x="1989377" y="18955"/>
                </a:lnTo>
                <a:lnTo>
                  <a:pt x="1998868" y="18955"/>
                </a:lnTo>
                <a:lnTo>
                  <a:pt x="2008359" y="18955"/>
                </a:lnTo>
                <a:lnTo>
                  <a:pt x="2018230" y="18955"/>
                </a:lnTo>
                <a:lnTo>
                  <a:pt x="2027722" y="18955"/>
                </a:lnTo>
                <a:lnTo>
                  <a:pt x="2037213" y="18955"/>
                </a:lnTo>
                <a:lnTo>
                  <a:pt x="2046704" y="18955"/>
                </a:lnTo>
                <a:lnTo>
                  <a:pt x="2056196" y="18955"/>
                </a:lnTo>
                <a:lnTo>
                  <a:pt x="2065687" y="18955"/>
                </a:lnTo>
                <a:lnTo>
                  <a:pt x="2075178" y="18955"/>
                </a:lnTo>
                <a:lnTo>
                  <a:pt x="2084670" y="9477"/>
                </a:lnTo>
                <a:lnTo>
                  <a:pt x="2094161" y="9477"/>
                </a:lnTo>
                <a:lnTo>
                  <a:pt x="2103652" y="9477"/>
                </a:lnTo>
                <a:lnTo>
                  <a:pt x="2113143" y="9477"/>
                </a:lnTo>
                <a:lnTo>
                  <a:pt x="2122888" y="9477"/>
                </a:lnTo>
                <a:lnTo>
                  <a:pt x="2132379" y="9477"/>
                </a:lnTo>
                <a:lnTo>
                  <a:pt x="2141870" y="9477"/>
                </a:lnTo>
                <a:lnTo>
                  <a:pt x="2151362" y="9477"/>
                </a:lnTo>
                <a:lnTo>
                  <a:pt x="2160853" y="9477"/>
                </a:lnTo>
                <a:lnTo>
                  <a:pt x="2170344" y="9477"/>
                </a:lnTo>
                <a:lnTo>
                  <a:pt x="2179836" y="9477"/>
                </a:lnTo>
                <a:lnTo>
                  <a:pt x="2189327" y="9477"/>
                </a:lnTo>
                <a:lnTo>
                  <a:pt x="2198818" y="9477"/>
                </a:lnTo>
                <a:lnTo>
                  <a:pt x="2208310" y="9477"/>
                </a:lnTo>
                <a:lnTo>
                  <a:pt x="2217801" y="9477"/>
                </a:lnTo>
                <a:lnTo>
                  <a:pt x="2227672" y="9477"/>
                </a:lnTo>
                <a:lnTo>
                  <a:pt x="2237163" y="9477"/>
                </a:lnTo>
                <a:lnTo>
                  <a:pt x="2246654" y="9477"/>
                </a:lnTo>
                <a:lnTo>
                  <a:pt x="2256146" y="9477"/>
                </a:lnTo>
                <a:lnTo>
                  <a:pt x="2265637" y="9477"/>
                </a:lnTo>
                <a:lnTo>
                  <a:pt x="2275128" y="9477"/>
                </a:lnTo>
                <a:lnTo>
                  <a:pt x="2284620" y="9477"/>
                </a:lnTo>
                <a:lnTo>
                  <a:pt x="2294111" y="9477"/>
                </a:lnTo>
                <a:lnTo>
                  <a:pt x="2303602" y="9477"/>
                </a:lnTo>
                <a:lnTo>
                  <a:pt x="2313094" y="0"/>
                </a:lnTo>
                <a:lnTo>
                  <a:pt x="2322585" y="0"/>
                </a:lnTo>
                <a:lnTo>
                  <a:pt x="2332076" y="0"/>
                </a:lnTo>
                <a:lnTo>
                  <a:pt x="2341821" y="0"/>
                </a:lnTo>
                <a:lnTo>
                  <a:pt x="2351312" y="0"/>
                </a:lnTo>
                <a:lnTo>
                  <a:pt x="2360803" y="0"/>
                </a:lnTo>
                <a:lnTo>
                  <a:pt x="2370295" y="0"/>
                </a:lnTo>
                <a:lnTo>
                  <a:pt x="2379786" y="0"/>
                </a:lnTo>
                <a:lnTo>
                  <a:pt x="2389277" y="0"/>
                </a:lnTo>
                <a:lnTo>
                  <a:pt x="2398768" y="0"/>
                </a:lnTo>
                <a:lnTo>
                  <a:pt x="2408260" y="0"/>
                </a:lnTo>
                <a:lnTo>
                  <a:pt x="2417751" y="0"/>
                </a:lnTo>
                <a:lnTo>
                  <a:pt x="2427242" y="0"/>
                </a:lnTo>
                <a:lnTo>
                  <a:pt x="2436734" y="0"/>
                </a:lnTo>
                <a:lnTo>
                  <a:pt x="2446605" y="0"/>
                </a:lnTo>
                <a:lnTo>
                  <a:pt x="2456096" y="0"/>
                </a:lnTo>
                <a:lnTo>
                  <a:pt x="2465587" y="0"/>
                </a:lnTo>
                <a:lnTo>
                  <a:pt x="2475079" y="0"/>
                </a:lnTo>
                <a:lnTo>
                  <a:pt x="2484570" y="0"/>
                </a:lnTo>
                <a:lnTo>
                  <a:pt x="2494061" y="0"/>
                </a:lnTo>
                <a:lnTo>
                  <a:pt x="2503552" y="0"/>
                </a:lnTo>
                <a:lnTo>
                  <a:pt x="2513044" y="0"/>
                </a:lnTo>
                <a:lnTo>
                  <a:pt x="2522535" y="0"/>
                </a:lnTo>
                <a:lnTo>
                  <a:pt x="2532026" y="0"/>
                </a:lnTo>
                <a:lnTo>
                  <a:pt x="2532718" y="0"/>
                </a:lnTo>
              </a:path>
            </a:pathLst>
          </a:custGeom>
          <a:ln w="28442">
            <a:solidFill>
              <a:srgbClr val="00295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txBox="1"/>
          <p:nvPr/>
        </p:nvSpPr>
        <p:spPr>
          <a:xfrm>
            <a:off x="3514647" y="4576358"/>
            <a:ext cx="372481" cy="227965"/>
          </a:xfrm>
          <a:prstGeom prst="rect">
            <a:avLst/>
          </a:prstGeom>
        </p:spPr>
        <p:txBody>
          <a:bodyPr vert="horz" wrap="square" lIns="0" tIns="13325" rIns="0" bIns="0" rtlCol="0">
            <a:spAutoFit/>
          </a:bodyPr>
          <a:lstStyle/>
          <a:p>
            <a:pPr>
              <a:lnSpc>
                <a:spcPct val="100000"/>
              </a:lnSpc>
              <a:spcBef>
                <a:spcPts val="105"/>
              </a:spcBef>
            </a:pPr>
            <a:r>
              <a:rPr sz="1400" b="1" spc="10" dirty="0">
                <a:solidFill>
                  <a:srgbClr val="00295F"/>
                </a:solidFill>
                <a:latin typeface="微软雅黑" panose="020B0503020204020204" charset="-122"/>
                <a:ea typeface="微软雅黑" panose="020B0503020204020204" charset="-122"/>
                <a:cs typeface="微软雅黑" panose="020B0503020204020204" charset="-122"/>
              </a:rPr>
              <a:t>客户</a:t>
            </a:r>
            <a:endParaRPr sz="1400" b="1" spc="10" dirty="0">
              <a:solidFill>
                <a:srgbClr val="00295F"/>
              </a:solidFill>
              <a:latin typeface="微软雅黑" panose="020B0503020204020204" charset="-122"/>
              <a:ea typeface="微软雅黑" panose="020B0503020204020204" charset="-122"/>
              <a:cs typeface="微软雅黑" panose="020B0503020204020204" charset="-122"/>
            </a:endParaRPr>
          </a:p>
        </p:txBody>
      </p:sp>
      <p:sp>
        <p:nvSpPr>
          <p:cNvPr id="15" name="object 15"/>
          <p:cNvSpPr txBox="1"/>
          <p:nvPr/>
        </p:nvSpPr>
        <p:spPr>
          <a:xfrm>
            <a:off x="243058" y="3299186"/>
            <a:ext cx="558404" cy="227965"/>
          </a:xfrm>
          <a:prstGeom prst="rect">
            <a:avLst/>
          </a:prstGeom>
        </p:spPr>
        <p:txBody>
          <a:bodyPr vert="horz" wrap="square" lIns="0" tIns="13325" rIns="0" bIns="0" rtlCol="0">
            <a:spAutoFit/>
          </a:bodyPr>
          <a:lstStyle/>
          <a:p>
            <a:pPr>
              <a:lnSpc>
                <a:spcPct val="100000"/>
              </a:lnSpc>
              <a:spcBef>
                <a:spcPts val="105"/>
              </a:spcBef>
            </a:pPr>
            <a:r>
              <a:rPr sz="1400" dirty="0">
                <a:latin typeface="微软雅黑" panose="020B0503020204020204" charset="-122"/>
                <a:ea typeface="微软雅黑" panose="020B0503020204020204" charset="-122"/>
                <a:cs typeface="Arial" panose="020B0604020202020204"/>
              </a:rPr>
              <a:t>10,000</a:t>
            </a:r>
            <a:endParaRPr sz="1400" dirty="0">
              <a:latin typeface="微软雅黑" panose="020B0503020204020204" charset="-122"/>
              <a:ea typeface="微软雅黑" panose="020B0503020204020204" charset="-122"/>
              <a:cs typeface="Arial" panose="020B0604020202020204"/>
            </a:endParaRPr>
          </a:p>
        </p:txBody>
      </p:sp>
      <p:sp>
        <p:nvSpPr>
          <p:cNvPr id="16" name="object 16"/>
          <p:cNvSpPr txBox="1"/>
          <p:nvPr/>
        </p:nvSpPr>
        <p:spPr>
          <a:xfrm>
            <a:off x="690187" y="4394166"/>
            <a:ext cx="112315" cy="227330"/>
          </a:xfrm>
          <a:prstGeom prst="rect">
            <a:avLst/>
          </a:prstGeom>
        </p:spPr>
        <p:txBody>
          <a:bodyPr vert="horz" wrap="square" lIns="0" tIns="12691" rIns="0" bIns="0" rtlCol="0">
            <a:spAutoFit/>
          </a:bodyPr>
          <a:lstStyle/>
          <a:p>
            <a:pPr>
              <a:lnSpc>
                <a:spcPct val="100000"/>
              </a:lnSpc>
              <a:spcBef>
                <a:spcPts val="100"/>
              </a:spcBef>
            </a:pPr>
            <a:r>
              <a:rPr sz="1400" dirty="0">
                <a:latin typeface="微软雅黑" panose="020B0503020204020204" charset="-122"/>
                <a:ea typeface="微软雅黑" panose="020B0503020204020204" charset="-122"/>
                <a:cs typeface="Arial" panose="020B0604020202020204"/>
              </a:rPr>
              <a:t>0</a:t>
            </a:r>
            <a:endParaRPr sz="1400" dirty="0">
              <a:latin typeface="微软雅黑" panose="020B0503020204020204" charset="-122"/>
              <a:ea typeface="微软雅黑" panose="020B0503020204020204" charset="-122"/>
              <a:cs typeface="Arial" panose="020B0604020202020204"/>
            </a:endParaRPr>
          </a:p>
        </p:txBody>
      </p:sp>
      <p:sp>
        <p:nvSpPr>
          <p:cNvPr id="17" name="object 17"/>
          <p:cNvSpPr txBox="1"/>
          <p:nvPr/>
        </p:nvSpPr>
        <p:spPr>
          <a:xfrm>
            <a:off x="243058" y="2268169"/>
            <a:ext cx="558404" cy="711200"/>
          </a:xfrm>
          <a:prstGeom prst="rect">
            <a:avLst/>
          </a:prstGeom>
        </p:spPr>
        <p:txBody>
          <a:bodyPr vert="horz" wrap="square" lIns="0" tIns="37438" rIns="0" bIns="0" rtlCol="0">
            <a:spAutoFit/>
          </a:bodyPr>
          <a:lstStyle/>
          <a:p>
            <a:pPr marL="4445" marR="186055">
              <a:lnSpc>
                <a:spcPts val="1510"/>
              </a:lnSpc>
              <a:spcBef>
                <a:spcPts val="295"/>
              </a:spcBef>
            </a:pPr>
            <a:r>
              <a:rPr sz="1400" b="1" spc="10" dirty="0">
                <a:latin typeface="微软雅黑" panose="020B0503020204020204" charset="-122"/>
                <a:ea typeface="微软雅黑" panose="020B0503020204020204" charset="-122"/>
                <a:cs typeface="微软雅黑" panose="020B0503020204020204" charset="-122"/>
              </a:rPr>
              <a:t>销售 </a:t>
            </a:r>
            <a:r>
              <a:rPr sz="1400" dirty="0">
                <a:solidFill>
                  <a:srgbClr val="808080"/>
                </a:solidFill>
                <a:latin typeface="微软雅黑" panose="020B0503020204020204" charset="-122"/>
                <a:ea typeface="微软雅黑" panose="020B0503020204020204" charset="-122"/>
                <a:cs typeface="微软雅黑" panose="020B0503020204020204" charset="-122"/>
              </a:rPr>
              <a:t>百万</a:t>
            </a:r>
            <a:endParaRPr sz="1400">
              <a:latin typeface="微软雅黑" panose="020B0503020204020204" charset="-122"/>
              <a:ea typeface="微软雅黑" panose="020B0503020204020204" charset="-122"/>
              <a:cs typeface="微软雅黑" panose="020B0503020204020204" charset="-122"/>
            </a:endParaRPr>
          </a:p>
          <a:p>
            <a:pPr>
              <a:lnSpc>
                <a:spcPct val="100000"/>
              </a:lnSpc>
              <a:spcBef>
                <a:spcPts val="560"/>
              </a:spcBef>
            </a:pPr>
            <a:r>
              <a:rPr sz="1400" dirty="0">
                <a:latin typeface="微软雅黑" panose="020B0503020204020204" charset="-122"/>
                <a:ea typeface="微软雅黑" panose="020B0503020204020204" charset="-122"/>
                <a:cs typeface="微软雅黑" panose="020B0503020204020204" charset="-122"/>
              </a:rPr>
              <a:t>15,000</a:t>
            </a:r>
            <a:endParaRPr sz="1400">
              <a:latin typeface="微软雅黑" panose="020B0503020204020204" charset="-122"/>
              <a:ea typeface="微软雅黑" panose="020B0503020204020204" charset="-122"/>
              <a:cs typeface="微软雅黑" panose="020B0503020204020204" charset="-122"/>
            </a:endParaRPr>
          </a:p>
        </p:txBody>
      </p:sp>
      <p:sp>
        <p:nvSpPr>
          <p:cNvPr id="18" name="object 18"/>
          <p:cNvSpPr txBox="1"/>
          <p:nvPr/>
        </p:nvSpPr>
        <p:spPr>
          <a:xfrm>
            <a:off x="342961" y="3841980"/>
            <a:ext cx="459414" cy="227330"/>
          </a:xfrm>
          <a:prstGeom prst="rect">
            <a:avLst/>
          </a:prstGeom>
        </p:spPr>
        <p:txBody>
          <a:bodyPr vert="horz" wrap="square" lIns="0" tIns="12691" rIns="0" bIns="0" rtlCol="0">
            <a:spAutoFit/>
          </a:bodyPr>
          <a:lstStyle/>
          <a:p>
            <a:pPr>
              <a:lnSpc>
                <a:spcPct val="100000"/>
              </a:lnSpc>
              <a:spcBef>
                <a:spcPts val="100"/>
              </a:spcBef>
            </a:pPr>
            <a:r>
              <a:rPr sz="1400" dirty="0">
                <a:latin typeface="微软雅黑" panose="020B0503020204020204" charset="-122"/>
                <a:ea typeface="微软雅黑" panose="020B0503020204020204" charset="-122"/>
                <a:cs typeface="Arial" panose="020B0604020202020204"/>
              </a:rPr>
              <a:t>5,000</a:t>
            </a:r>
            <a:endParaRPr sz="1400" dirty="0">
              <a:latin typeface="微软雅黑" panose="020B0503020204020204" charset="-122"/>
              <a:ea typeface="微软雅黑" panose="020B0503020204020204" charset="-122"/>
              <a:cs typeface="Arial" panose="020B0604020202020204"/>
            </a:endParaRPr>
          </a:p>
        </p:txBody>
      </p:sp>
      <p:sp>
        <p:nvSpPr>
          <p:cNvPr id="19" name="object 19"/>
          <p:cNvSpPr/>
          <p:nvPr/>
        </p:nvSpPr>
        <p:spPr>
          <a:xfrm>
            <a:off x="1300574" y="3584226"/>
            <a:ext cx="0" cy="947384"/>
          </a:xfrm>
          <a:custGeom>
            <a:avLst/>
            <a:gdLst/>
            <a:ahLst/>
            <a:cxnLst/>
            <a:rect l="l" t="t" r="r" b="b"/>
            <a:pathLst>
              <a:path h="948054">
                <a:moveTo>
                  <a:pt x="0" y="0"/>
                </a:moveTo>
                <a:lnTo>
                  <a:pt x="0" y="947928"/>
                </a:lnTo>
              </a:path>
            </a:pathLst>
          </a:custGeom>
          <a:ln w="952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p:nvPr/>
        </p:nvSpPr>
        <p:spPr>
          <a:xfrm>
            <a:off x="930504" y="3588795"/>
            <a:ext cx="368674" cy="0"/>
          </a:xfrm>
          <a:custGeom>
            <a:avLst/>
            <a:gdLst/>
            <a:ahLst/>
            <a:cxnLst/>
            <a:rect l="l" t="t" r="r" b="b"/>
            <a:pathLst>
              <a:path w="368934">
                <a:moveTo>
                  <a:pt x="368808" y="0"/>
                </a:moveTo>
                <a:lnTo>
                  <a:pt x="0" y="0"/>
                </a:lnTo>
              </a:path>
            </a:pathLst>
          </a:custGeom>
          <a:ln w="952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21" name="object 21"/>
          <p:cNvSpPr/>
          <p:nvPr/>
        </p:nvSpPr>
        <p:spPr>
          <a:xfrm>
            <a:off x="935073" y="3588795"/>
            <a:ext cx="0" cy="947384"/>
          </a:xfrm>
          <a:custGeom>
            <a:avLst/>
            <a:gdLst/>
            <a:ahLst/>
            <a:cxnLst/>
            <a:rect l="l" t="t" r="r" b="b"/>
            <a:pathLst>
              <a:path h="948054">
                <a:moveTo>
                  <a:pt x="0" y="0"/>
                </a:moveTo>
                <a:lnTo>
                  <a:pt x="0" y="947928"/>
                </a:lnTo>
              </a:path>
            </a:pathLst>
          </a:custGeom>
          <a:ln w="12700">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1813798" y="3415182"/>
            <a:ext cx="1771664" cy="793822"/>
          </a:xfrm>
          <a:custGeom>
            <a:avLst/>
            <a:gdLst/>
            <a:ahLst/>
            <a:cxnLst/>
            <a:rect l="l" t="t" r="r" b="b"/>
            <a:pathLst>
              <a:path w="1772920" h="794385">
                <a:moveTo>
                  <a:pt x="886206" y="0"/>
                </a:moveTo>
                <a:lnTo>
                  <a:pt x="822914" y="997"/>
                </a:lnTo>
                <a:lnTo>
                  <a:pt x="760824" y="3943"/>
                </a:lnTo>
                <a:lnTo>
                  <a:pt x="700085" y="8772"/>
                </a:lnTo>
                <a:lnTo>
                  <a:pt x="640848" y="15415"/>
                </a:lnTo>
                <a:lnTo>
                  <a:pt x="583261" y="23806"/>
                </a:lnTo>
                <a:lnTo>
                  <a:pt x="527477" y="33877"/>
                </a:lnTo>
                <a:lnTo>
                  <a:pt x="473643" y="45562"/>
                </a:lnTo>
                <a:lnTo>
                  <a:pt x="421910" y="58792"/>
                </a:lnTo>
                <a:lnTo>
                  <a:pt x="372428" y="73501"/>
                </a:lnTo>
                <a:lnTo>
                  <a:pt x="325347" y="89621"/>
                </a:lnTo>
                <a:lnTo>
                  <a:pt x="280817" y="107085"/>
                </a:lnTo>
                <a:lnTo>
                  <a:pt x="238988" y="125826"/>
                </a:lnTo>
                <a:lnTo>
                  <a:pt x="200010" y="145776"/>
                </a:lnTo>
                <a:lnTo>
                  <a:pt x="164032" y="166868"/>
                </a:lnTo>
                <a:lnTo>
                  <a:pt x="131205" y="189036"/>
                </a:lnTo>
                <a:lnTo>
                  <a:pt x="75602" y="236326"/>
                </a:lnTo>
                <a:lnTo>
                  <a:pt x="34400" y="287109"/>
                </a:lnTo>
                <a:lnTo>
                  <a:pt x="8800" y="340847"/>
                </a:lnTo>
                <a:lnTo>
                  <a:pt x="0" y="397002"/>
                </a:lnTo>
                <a:lnTo>
                  <a:pt x="2224" y="425347"/>
                </a:lnTo>
                <a:lnTo>
                  <a:pt x="19575" y="480360"/>
                </a:lnTo>
                <a:lnTo>
                  <a:pt x="53126" y="532688"/>
                </a:lnTo>
                <a:lnTo>
                  <a:pt x="101678" y="581792"/>
                </a:lnTo>
                <a:lnTo>
                  <a:pt x="164032" y="627135"/>
                </a:lnTo>
                <a:lnTo>
                  <a:pt x="200010" y="648227"/>
                </a:lnTo>
                <a:lnTo>
                  <a:pt x="238988" y="668177"/>
                </a:lnTo>
                <a:lnTo>
                  <a:pt x="280817" y="686918"/>
                </a:lnTo>
                <a:lnTo>
                  <a:pt x="325347" y="704382"/>
                </a:lnTo>
                <a:lnTo>
                  <a:pt x="372428" y="720502"/>
                </a:lnTo>
                <a:lnTo>
                  <a:pt x="421910" y="735211"/>
                </a:lnTo>
                <a:lnTo>
                  <a:pt x="473643" y="748441"/>
                </a:lnTo>
                <a:lnTo>
                  <a:pt x="527477" y="760126"/>
                </a:lnTo>
                <a:lnTo>
                  <a:pt x="583261" y="770197"/>
                </a:lnTo>
                <a:lnTo>
                  <a:pt x="640848" y="778588"/>
                </a:lnTo>
                <a:lnTo>
                  <a:pt x="700085" y="785231"/>
                </a:lnTo>
                <a:lnTo>
                  <a:pt x="760824" y="790060"/>
                </a:lnTo>
                <a:lnTo>
                  <a:pt x="822914" y="793006"/>
                </a:lnTo>
                <a:lnTo>
                  <a:pt x="886206" y="794004"/>
                </a:lnTo>
                <a:lnTo>
                  <a:pt x="949497" y="793006"/>
                </a:lnTo>
                <a:lnTo>
                  <a:pt x="1011587" y="790060"/>
                </a:lnTo>
                <a:lnTo>
                  <a:pt x="1072326" y="785231"/>
                </a:lnTo>
                <a:lnTo>
                  <a:pt x="1131563" y="778588"/>
                </a:lnTo>
                <a:lnTo>
                  <a:pt x="1189150" y="770197"/>
                </a:lnTo>
                <a:lnTo>
                  <a:pt x="1244934" y="760126"/>
                </a:lnTo>
                <a:lnTo>
                  <a:pt x="1298768" y="748441"/>
                </a:lnTo>
                <a:lnTo>
                  <a:pt x="1350501" y="735211"/>
                </a:lnTo>
                <a:lnTo>
                  <a:pt x="1399983" y="720502"/>
                </a:lnTo>
                <a:lnTo>
                  <a:pt x="1447064" y="704382"/>
                </a:lnTo>
                <a:lnTo>
                  <a:pt x="1491594" y="686918"/>
                </a:lnTo>
                <a:lnTo>
                  <a:pt x="1533423" y="668177"/>
                </a:lnTo>
                <a:lnTo>
                  <a:pt x="1572401" y="648227"/>
                </a:lnTo>
                <a:lnTo>
                  <a:pt x="1608379" y="627135"/>
                </a:lnTo>
                <a:lnTo>
                  <a:pt x="1641206" y="604967"/>
                </a:lnTo>
                <a:lnTo>
                  <a:pt x="1696809" y="557677"/>
                </a:lnTo>
                <a:lnTo>
                  <a:pt x="1738011" y="506894"/>
                </a:lnTo>
                <a:lnTo>
                  <a:pt x="1763611" y="453156"/>
                </a:lnTo>
                <a:lnTo>
                  <a:pt x="1772412" y="397002"/>
                </a:lnTo>
                <a:lnTo>
                  <a:pt x="1770187" y="368656"/>
                </a:lnTo>
                <a:lnTo>
                  <a:pt x="1752836" y="313643"/>
                </a:lnTo>
                <a:lnTo>
                  <a:pt x="1719285" y="261315"/>
                </a:lnTo>
                <a:lnTo>
                  <a:pt x="1670733" y="212211"/>
                </a:lnTo>
                <a:lnTo>
                  <a:pt x="1608379" y="166868"/>
                </a:lnTo>
                <a:lnTo>
                  <a:pt x="1572401" y="145776"/>
                </a:lnTo>
                <a:lnTo>
                  <a:pt x="1533423" y="125826"/>
                </a:lnTo>
                <a:lnTo>
                  <a:pt x="1491594" y="107085"/>
                </a:lnTo>
                <a:lnTo>
                  <a:pt x="1447064" y="89621"/>
                </a:lnTo>
                <a:lnTo>
                  <a:pt x="1399983" y="73501"/>
                </a:lnTo>
                <a:lnTo>
                  <a:pt x="1350501" y="58792"/>
                </a:lnTo>
                <a:lnTo>
                  <a:pt x="1298768" y="45562"/>
                </a:lnTo>
                <a:lnTo>
                  <a:pt x="1244934" y="33877"/>
                </a:lnTo>
                <a:lnTo>
                  <a:pt x="1189150" y="23806"/>
                </a:lnTo>
                <a:lnTo>
                  <a:pt x="1131563" y="15415"/>
                </a:lnTo>
                <a:lnTo>
                  <a:pt x="1072326" y="8772"/>
                </a:lnTo>
                <a:lnTo>
                  <a:pt x="1011587" y="3943"/>
                </a:lnTo>
                <a:lnTo>
                  <a:pt x="949497" y="997"/>
                </a:lnTo>
                <a:lnTo>
                  <a:pt x="886206"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p:nvPr/>
        </p:nvSpPr>
        <p:spPr>
          <a:xfrm>
            <a:off x="1813798" y="3415182"/>
            <a:ext cx="1771664" cy="793822"/>
          </a:xfrm>
          <a:custGeom>
            <a:avLst/>
            <a:gdLst/>
            <a:ahLst/>
            <a:cxnLst/>
            <a:rect l="l" t="t" r="r" b="b"/>
            <a:pathLst>
              <a:path w="1772920" h="794385">
                <a:moveTo>
                  <a:pt x="0" y="397002"/>
                </a:moveTo>
                <a:lnTo>
                  <a:pt x="8800" y="340847"/>
                </a:lnTo>
                <a:lnTo>
                  <a:pt x="34400" y="287109"/>
                </a:lnTo>
                <a:lnTo>
                  <a:pt x="75602" y="236326"/>
                </a:lnTo>
                <a:lnTo>
                  <a:pt x="131205" y="189036"/>
                </a:lnTo>
                <a:lnTo>
                  <a:pt x="164032" y="166868"/>
                </a:lnTo>
                <a:lnTo>
                  <a:pt x="200010" y="145776"/>
                </a:lnTo>
                <a:lnTo>
                  <a:pt x="238988" y="125826"/>
                </a:lnTo>
                <a:lnTo>
                  <a:pt x="280817" y="107085"/>
                </a:lnTo>
                <a:lnTo>
                  <a:pt x="325347" y="89621"/>
                </a:lnTo>
                <a:lnTo>
                  <a:pt x="372428" y="73501"/>
                </a:lnTo>
                <a:lnTo>
                  <a:pt x="421910" y="58792"/>
                </a:lnTo>
                <a:lnTo>
                  <a:pt x="473643" y="45562"/>
                </a:lnTo>
                <a:lnTo>
                  <a:pt x="527477" y="33877"/>
                </a:lnTo>
                <a:lnTo>
                  <a:pt x="583261" y="23806"/>
                </a:lnTo>
                <a:lnTo>
                  <a:pt x="640848" y="15415"/>
                </a:lnTo>
                <a:lnTo>
                  <a:pt x="700085" y="8772"/>
                </a:lnTo>
                <a:lnTo>
                  <a:pt x="760824" y="3943"/>
                </a:lnTo>
                <a:lnTo>
                  <a:pt x="822914" y="997"/>
                </a:lnTo>
                <a:lnTo>
                  <a:pt x="886206" y="0"/>
                </a:lnTo>
                <a:lnTo>
                  <a:pt x="949497" y="997"/>
                </a:lnTo>
                <a:lnTo>
                  <a:pt x="1011587" y="3943"/>
                </a:lnTo>
                <a:lnTo>
                  <a:pt x="1072326" y="8772"/>
                </a:lnTo>
                <a:lnTo>
                  <a:pt x="1131563" y="15415"/>
                </a:lnTo>
                <a:lnTo>
                  <a:pt x="1189150" y="23806"/>
                </a:lnTo>
                <a:lnTo>
                  <a:pt x="1244934" y="33877"/>
                </a:lnTo>
                <a:lnTo>
                  <a:pt x="1298768" y="45562"/>
                </a:lnTo>
                <a:lnTo>
                  <a:pt x="1350501" y="58792"/>
                </a:lnTo>
                <a:lnTo>
                  <a:pt x="1399983" y="73501"/>
                </a:lnTo>
                <a:lnTo>
                  <a:pt x="1447064" y="89621"/>
                </a:lnTo>
                <a:lnTo>
                  <a:pt x="1491594" y="107085"/>
                </a:lnTo>
                <a:lnTo>
                  <a:pt x="1533423" y="125826"/>
                </a:lnTo>
                <a:lnTo>
                  <a:pt x="1572401" y="145776"/>
                </a:lnTo>
                <a:lnTo>
                  <a:pt x="1608379" y="166868"/>
                </a:lnTo>
                <a:lnTo>
                  <a:pt x="1641206" y="189036"/>
                </a:lnTo>
                <a:lnTo>
                  <a:pt x="1696809" y="236326"/>
                </a:lnTo>
                <a:lnTo>
                  <a:pt x="1738011" y="287109"/>
                </a:lnTo>
                <a:lnTo>
                  <a:pt x="1763611" y="340847"/>
                </a:lnTo>
                <a:lnTo>
                  <a:pt x="1772412" y="397002"/>
                </a:lnTo>
                <a:lnTo>
                  <a:pt x="1770187" y="425347"/>
                </a:lnTo>
                <a:lnTo>
                  <a:pt x="1752836" y="480360"/>
                </a:lnTo>
                <a:lnTo>
                  <a:pt x="1719285" y="532688"/>
                </a:lnTo>
                <a:lnTo>
                  <a:pt x="1670733" y="581792"/>
                </a:lnTo>
                <a:lnTo>
                  <a:pt x="1608379" y="627135"/>
                </a:lnTo>
                <a:lnTo>
                  <a:pt x="1572401" y="648227"/>
                </a:lnTo>
                <a:lnTo>
                  <a:pt x="1533423" y="668177"/>
                </a:lnTo>
                <a:lnTo>
                  <a:pt x="1491594" y="686918"/>
                </a:lnTo>
                <a:lnTo>
                  <a:pt x="1447064" y="704382"/>
                </a:lnTo>
                <a:lnTo>
                  <a:pt x="1399983" y="720502"/>
                </a:lnTo>
                <a:lnTo>
                  <a:pt x="1350501" y="735211"/>
                </a:lnTo>
                <a:lnTo>
                  <a:pt x="1298768" y="748441"/>
                </a:lnTo>
                <a:lnTo>
                  <a:pt x="1244934" y="760126"/>
                </a:lnTo>
                <a:lnTo>
                  <a:pt x="1189150" y="770197"/>
                </a:lnTo>
                <a:lnTo>
                  <a:pt x="1131563" y="778588"/>
                </a:lnTo>
                <a:lnTo>
                  <a:pt x="1072326" y="785231"/>
                </a:lnTo>
                <a:lnTo>
                  <a:pt x="1011587" y="790060"/>
                </a:lnTo>
                <a:lnTo>
                  <a:pt x="949497" y="793006"/>
                </a:lnTo>
                <a:lnTo>
                  <a:pt x="886206" y="794004"/>
                </a:lnTo>
                <a:lnTo>
                  <a:pt x="822914" y="793006"/>
                </a:lnTo>
                <a:lnTo>
                  <a:pt x="760824" y="790060"/>
                </a:lnTo>
                <a:lnTo>
                  <a:pt x="700085" y="785231"/>
                </a:lnTo>
                <a:lnTo>
                  <a:pt x="640848" y="778588"/>
                </a:lnTo>
                <a:lnTo>
                  <a:pt x="583261" y="770197"/>
                </a:lnTo>
                <a:lnTo>
                  <a:pt x="527477" y="760126"/>
                </a:lnTo>
                <a:lnTo>
                  <a:pt x="473643" y="748441"/>
                </a:lnTo>
                <a:lnTo>
                  <a:pt x="421910" y="735211"/>
                </a:lnTo>
                <a:lnTo>
                  <a:pt x="372428" y="720502"/>
                </a:lnTo>
                <a:lnTo>
                  <a:pt x="325347" y="704382"/>
                </a:lnTo>
                <a:lnTo>
                  <a:pt x="280817" y="686918"/>
                </a:lnTo>
                <a:lnTo>
                  <a:pt x="238988" y="668177"/>
                </a:lnTo>
                <a:lnTo>
                  <a:pt x="200010" y="648227"/>
                </a:lnTo>
                <a:lnTo>
                  <a:pt x="164032" y="627135"/>
                </a:lnTo>
                <a:lnTo>
                  <a:pt x="131205" y="604967"/>
                </a:lnTo>
                <a:lnTo>
                  <a:pt x="75602" y="557677"/>
                </a:lnTo>
                <a:lnTo>
                  <a:pt x="34400" y="506894"/>
                </a:lnTo>
                <a:lnTo>
                  <a:pt x="8800" y="453156"/>
                </a:lnTo>
                <a:lnTo>
                  <a:pt x="0" y="397002"/>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txBox="1"/>
          <p:nvPr/>
        </p:nvSpPr>
        <p:spPr>
          <a:xfrm>
            <a:off x="2166228" y="3574581"/>
            <a:ext cx="1080639" cy="443230"/>
          </a:xfrm>
          <a:prstGeom prst="rect">
            <a:avLst/>
          </a:prstGeom>
        </p:spPr>
        <p:txBody>
          <a:bodyPr vert="horz" wrap="square" lIns="0" tIns="12691" rIns="0" bIns="0" rtlCol="0">
            <a:spAutoFit/>
          </a:bodyPr>
          <a:lstStyle/>
          <a:p>
            <a:pPr marL="89535">
              <a:lnSpc>
                <a:spcPct val="100000"/>
              </a:lnSpc>
              <a:spcBef>
                <a:spcPts val="100"/>
              </a:spcBef>
            </a:pPr>
            <a:r>
              <a:rPr sz="1400" b="1" spc="-25" dirty="0">
                <a:latin typeface="微软雅黑" panose="020B0503020204020204" charset="-122"/>
                <a:ea typeface="微软雅黑" panose="020B0503020204020204" charset="-122"/>
                <a:cs typeface="微软雅黑" panose="020B0503020204020204" charset="-122"/>
              </a:rPr>
              <a:t>20%</a:t>
            </a:r>
            <a:r>
              <a:rPr sz="1400" b="1" spc="10" dirty="0">
                <a:latin typeface="微软雅黑" panose="020B0503020204020204" charset="-122"/>
                <a:ea typeface="微软雅黑" panose="020B0503020204020204" charset="-122"/>
                <a:cs typeface="微软雅黑" panose="020B0503020204020204" charset="-122"/>
              </a:rPr>
              <a:t>的客户</a:t>
            </a:r>
            <a:endParaRPr sz="1400">
              <a:latin typeface="微软雅黑" panose="020B0503020204020204" charset="-122"/>
              <a:ea typeface="微软雅黑" panose="020B0503020204020204" charset="-122"/>
              <a:cs typeface="微软雅黑" panose="020B0503020204020204" charset="-122"/>
            </a:endParaRPr>
          </a:p>
          <a:p>
            <a:pPr>
              <a:lnSpc>
                <a:spcPct val="100000"/>
              </a:lnSpc>
              <a:spcBef>
                <a:spcPts val="5"/>
              </a:spcBef>
            </a:pPr>
            <a:r>
              <a:rPr sz="1400" b="1" spc="10" dirty="0">
                <a:latin typeface="微软雅黑" panose="020B0503020204020204" charset="-122"/>
                <a:ea typeface="微软雅黑" panose="020B0503020204020204" charset="-122"/>
                <a:cs typeface="微软雅黑" panose="020B0503020204020204" charset="-122"/>
              </a:rPr>
              <a:t>占</a:t>
            </a:r>
            <a:r>
              <a:rPr sz="1400" b="1" spc="-5" dirty="0">
                <a:latin typeface="微软雅黑" panose="020B0503020204020204" charset="-122"/>
                <a:ea typeface="微软雅黑" panose="020B0503020204020204" charset="-122"/>
                <a:cs typeface="微软雅黑" panose="020B0503020204020204" charset="-122"/>
              </a:rPr>
              <a:t>75</a:t>
            </a:r>
            <a:r>
              <a:rPr sz="1400" b="1" spc="-60" dirty="0">
                <a:latin typeface="微软雅黑" panose="020B0503020204020204" charset="-122"/>
                <a:ea typeface="微软雅黑" panose="020B0503020204020204" charset="-122"/>
                <a:cs typeface="微软雅黑" panose="020B0503020204020204" charset="-122"/>
              </a:rPr>
              <a:t>%</a:t>
            </a:r>
            <a:r>
              <a:rPr sz="1400" b="1" spc="10" dirty="0">
                <a:latin typeface="微软雅黑" panose="020B0503020204020204" charset="-122"/>
                <a:ea typeface="微软雅黑" panose="020B0503020204020204" charset="-122"/>
                <a:cs typeface="微软雅黑" panose="020B0503020204020204" charset="-122"/>
              </a:rPr>
              <a:t>的销售</a:t>
            </a:r>
            <a:endParaRPr sz="1400">
              <a:latin typeface="微软雅黑" panose="020B0503020204020204" charset="-122"/>
              <a:ea typeface="微软雅黑" panose="020B0503020204020204" charset="-122"/>
              <a:cs typeface="微软雅黑" panose="020B0503020204020204" charset="-122"/>
            </a:endParaRPr>
          </a:p>
        </p:txBody>
      </p:sp>
      <p:sp>
        <p:nvSpPr>
          <p:cNvPr id="25" name="object 25"/>
          <p:cNvSpPr txBox="1"/>
          <p:nvPr/>
        </p:nvSpPr>
        <p:spPr>
          <a:xfrm>
            <a:off x="106401" y="6412696"/>
            <a:ext cx="1036855"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endParaRPr sz="1000" spc="-10" dirty="0">
              <a:latin typeface="微软雅黑" panose="020B0503020204020204" charset="-122"/>
              <a:ea typeface="微软雅黑" panose="020B0503020204020204" charset="-122"/>
              <a:cs typeface="微软雅黑" panose="020B0503020204020204" charset="-122"/>
            </a:endParaRPr>
          </a:p>
        </p:txBody>
      </p:sp>
      <p:sp>
        <p:nvSpPr>
          <p:cNvPr id="26" name="object 26"/>
          <p:cNvSpPr txBox="1"/>
          <p:nvPr/>
        </p:nvSpPr>
        <p:spPr>
          <a:xfrm>
            <a:off x="5738365" y="4995974"/>
            <a:ext cx="1902382" cy="493395"/>
          </a:xfrm>
          <a:prstGeom prst="rect">
            <a:avLst/>
          </a:prstGeom>
          <a:solidFill>
            <a:srgbClr val="91AFFF"/>
          </a:solidFill>
          <a:ln w="9525">
            <a:solidFill>
              <a:srgbClr val="000000"/>
            </a:solidFill>
          </a:ln>
        </p:spPr>
        <p:txBody>
          <a:bodyPr vert="horz" wrap="square" lIns="0" tIns="63455" rIns="0" bIns="0" rtlCol="0">
            <a:spAutoFit/>
          </a:bodyPr>
          <a:lstStyle/>
          <a:p>
            <a:pPr marL="72390" marR="218440">
              <a:lnSpc>
                <a:spcPct val="100000"/>
              </a:lnSpc>
              <a:spcBef>
                <a:spcPts val="500"/>
              </a:spcBef>
            </a:pPr>
            <a:r>
              <a:rPr sz="1400" b="1" spc="10" dirty="0">
                <a:latin typeface="微软雅黑" panose="020B0503020204020204" charset="-122"/>
                <a:ea typeface="微软雅黑" panose="020B0503020204020204" charset="-122"/>
                <a:cs typeface="微软雅黑" panose="020B0503020204020204" charset="-122"/>
              </a:rPr>
              <a:t>利润</a:t>
            </a:r>
            <a:r>
              <a:rPr sz="1400" b="1" dirty="0">
                <a:latin typeface="微软雅黑" panose="020B0503020204020204" charset="-122"/>
                <a:ea typeface="微软雅黑" panose="020B0503020204020204" charset="-122"/>
                <a:cs typeface="微软雅黑" panose="020B0503020204020204" charset="-122"/>
              </a:rPr>
              <a:t>潜力</a:t>
            </a:r>
            <a:r>
              <a:rPr sz="1400" b="1" spc="-15" dirty="0">
                <a:latin typeface="微软雅黑" panose="020B0503020204020204" charset="-122"/>
                <a:ea typeface="微软雅黑" panose="020B0503020204020204" charset="-122"/>
                <a:cs typeface="微软雅黑" panose="020B0503020204020204" charset="-122"/>
              </a:rPr>
              <a:t>较</a:t>
            </a:r>
            <a:r>
              <a:rPr sz="1400" b="1" dirty="0">
                <a:latin typeface="微软雅黑" panose="020B0503020204020204" charset="-122"/>
                <a:ea typeface="微软雅黑" panose="020B0503020204020204" charset="-122"/>
                <a:cs typeface="微软雅黑" panose="020B0503020204020204" charset="-122"/>
              </a:rPr>
              <a:t>高的</a:t>
            </a:r>
            <a:r>
              <a:rPr sz="1400" b="1" spc="-15" dirty="0">
                <a:latin typeface="微软雅黑" panose="020B0503020204020204" charset="-122"/>
                <a:ea typeface="微软雅黑" panose="020B0503020204020204" charset="-122"/>
                <a:cs typeface="微软雅黑" panose="020B0503020204020204" charset="-122"/>
              </a:rPr>
              <a:t>客</a:t>
            </a:r>
            <a:r>
              <a:rPr sz="1400" b="1" dirty="0">
                <a:latin typeface="微软雅黑" panose="020B0503020204020204" charset="-122"/>
                <a:ea typeface="微软雅黑" panose="020B0503020204020204" charset="-122"/>
                <a:cs typeface="微软雅黑" panose="020B0503020204020204" charset="-122"/>
              </a:rPr>
              <a:t>户 </a:t>
            </a:r>
            <a:r>
              <a:rPr sz="1400" b="1" spc="10" dirty="0">
                <a:latin typeface="微软雅黑" panose="020B0503020204020204" charset="-122"/>
                <a:ea typeface="微软雅黑" panose="020B0503020204020204" charset="-122"/>
                <a:cs typeface="微软雅黑" panose="020B0503020204020204" charset="-122"/>
              </a:rPr>
              <a:t>需要</a:t>
            </a:r>
            <a:r>
              <a:rPr sz="1400" b="1" dirty="0">
                <a:latin typeface="微软雅黑" panose="020B0503020204020204" charset="-122"/>
                <a:ea typeface="微软雅黑" panose="020B0503020204020204" charset="-122"/>
                <a:cs typeface="微软雅黑" panose="020B0503020204020204" charset="-122"/>
              </a:rPr>
              <a:t>差异</a:t>
            </a:r>
            <a:r>
              <a:rPr sz="1400" b="1" spc="-15" dirty="0">
                <a:latin typeface="微软雅黑" panose="020B0503020204020204" charset="-122"/>
                <a:ea typeface="微软雅黑" panose="020B0503020204020204" charset="-122"/>
                <a:cs typeface="微软雅黑" panose="020B0503020204020204" charset="-122"/>
              </a:rPr>
              <a:t>化</a:t>
            </a:r>
            <a:r>
              <a:rPr sz="1400" b="1" dirty="0">
                <a:latin typeface="微软雅黑" panose="020B0503020204020204" charset="-122"/>
                <a:ea typeface="微软雅黑" panose="020B0503020204020204" charset="-122"/>
                <a:cs typeface="微软雅黑" panose="020B0503020204020204" charset="-122"/>
              </a:rPr>
              <a:t>的服务</a:t>
            </a:r>
            <a:endParaRPr sz="1400">
              <a:latin typeface="微软雅黑" panose="020B0503020204020204" charset="-122"/>
              <a:ea typeface="微软雅黑" panose="020B0503020204020204" charset="-122"/>
              <a:cs typeface="微软雅黑" panose="020B0503020204020204" charset="-122"/>
            </a:endParaRPr>
          </a:p>
        </p:txBody>
      </p:sp>
      <p:sp>
        <p:nvSpPr>
          <p:cNvPr id="27" name="object 27"/>
          <p:cNvSpPr/>
          <p:nvPr/>
        </p:nvSpPr>
        <p:spPr>
          <a:xfrm>
            <a:off x="4651000" y="925207"/>
            <a:ext cx="4028124" cy="335043"/>
          </a:xfrm>
          <a:custGeom>
            <a:avLst/>
            <a:gdLst/>
            <a:ahLst/>
            <a:cxnLst/>
            <a:rect l="l" t="t" r="r" b="b"/>
            <a:pathLst>
              <a:path w="4030979" h="335280">
                <a:moveTo>
                  <a:pt x="0" y="335279"/>
                </a:moveTo>
                <a:lnTo>
                  <a:pt x="4030979" y="335279"/>
                </a:lnTo>
                <a:lnTo>
                  <a:pt x="4030979" y="0"/>
                </a:lnTo>
                <a:lnTo>
                  <a:pt x="0" y="0"/>
                </a:lnTo>
                <a:lnTo>
                  <a:pt x="0" y="33527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p:nvPr/>
        </p:nvSpPr>
        <p:spPr>
          <a:xfrm>
            <a:off x="4651000" y="925207"/>
            <a:ext cx="4028124" cy="335043"/>
          </a:xfrm>
          <a:custGeom>
            <a:avLst/>
            <a:gdLst/>
            <a:ahLst/>
            <a:cxnLst/>
            <a:rect l="l" t="t" r="r" b="b"/>
            <a:pathLst>
              <a:path w="4030979" h="335280">
                <a:moveTo>
                  <a:pt x="0" y="335279"/>
                </a:moveTo>
                <a:lnTo>
                  <a:pt x="4030979" y="335279"/>
                </a:lnTo>
                <a:lnTo>
                  <a:pt x="4030979" y="0"/>
                </a:lnTo>
                <a:lnTo>
                  <a:pt x="0" y="0"/>
                </a:lnTo>
                <a:lnTo>
                  <a:pt x="0" y="335279"/>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9" name="object 29"/>
          <p:cNvSpPr txBox="1"/>
          <p:nvPr/>
        </p:nvSpPr>
        <p:spPr>
          <a:xfrm>
            <a:off x="4711408" y="961884"/>
            <a:ext cx="2003910" cy="227965"/>
          </a:xfrm>
          <a:prstGeom prst="rect">
            <a:avLst/>
          </a:prstGeom>
        </p:spPr>
        <p:txBody>
          <a:bodyPr vert="horz" wrap="square" lIns="0" tIns="13325" rIns="0" bIns="0" rtlCol="0">
            <a:spAutoFit/>
          </a:bodyPr>
          <a:lstStyle/>
          <a:p>
            <a:pPr marL="12700">
              <a:lnSpc>
                <a:spcPct val="100000"/>
              </a:lnSpc>
              <a:spcBef>
                <a:spcPts val="105"/>
              </a:spcBef>
            </a:pPr>
            <a:r>
              <a:rPr sz="1400" b="1" dirty="0">
                <a:latin typeface="微软雅黑" panose="020B0503020204020204" charset="-122"/>
                <a:ea typeface="微软雅黑" panose="020B0503020204020204" charset="-122"/>
                <a:cs typeface="微软雅黑" panose="020B0503020204020204" charset="-122"/>
              </a:rPr>
              <a:t>...</a:t>
            </a:r>
            <a:r>
              <a:rPr sz="1400" b="1" spc="-75" dirty="0">
                <a:latin typeface="微软雅黑" panose="020B0503020204020204" charset="-122"/>
                <a:ea typeface="微软雅黑" panose="020B0503020204020204" charset="-122"/>
                <a:cs typeface="微软雅黑" panose="020B0503020204020204" charset="-122"/>
              </a:rPr>
              <a:t> </a:t>
            </a:r>
            <a:r>
              <a:rPr sz="1400" b="1" spc="10" dirty="0">
                <a:latin typeface="微软雅黑" panose="020B0503020204020204" charset="-122"/>
                <a:ea typeface="微软雅黑" panose="020B0503020204020204" charset="-122"/>
                <a:cs typeface="微软雅黑" panose="020B0503020204020204" charset="-122"/>
              </a:rPr>
              <a:t>并且</a:t>
            </a:r>
            <a:r>
              <a:rPr sz="1400" b="1" dirty="0">
                <a:latin typeface="微软雅黑" panose="020B0503020204020204" charset="-122"/>
                <a:ea typeface="微软雅黑" panose="020B0503020204020204" charset="-122"/>
                <a:cs typeface="微软雅黑" panose="020B0503020204020204" charset="-122"/>
              </a:rPr>
              <a:t>需要</a:t>
            </a:r>
            <a:r>
              <a:rPr sz="1400" b="1" spc="-15" dirty="0">
                <a:latin typeface="微软雅黑" panose="020B0503020204020204" charset="-122"/>
                <a:ea typeface="微软雅黑" panose="020B0503020204020204" charset="-122"/>
                <a:cs typeface="微软雅黑" panose="020B0503020204020204" charset="-122"/>
              </a:rPr>
              <a:t>差</a:t>
            </a:r>
            <a:r>
              <a:rPr sz="1400" b="1" dirty="0">
                <a:latin typeface="微软雅黑" panose="020B0503020204020204" charset="-122"/>
                <a:ea typeface="微软雅黑" panose="020B0503020204020204" charset="-122"/>
                <a:cs typeface="微软雅黑" panose="020B0503020204020204" charset="-122"/>
              </a:rPr>
              <a:t>异化的</a:t>
            </a:r>
            <a:r>
              <a:rPr sz="1400" b="1" spc="-15" dirty="0">
                <a:latin typeface="微软雅黑" panose="020B0503020204020204" charset="-122"/>
                <a:ea typeface="微软雅黑" panose="020B0503020204020204" charset="-122"/>
                <a:cs typeface="微软雅黑" panose="020B0503020204020204" charset="-122"/>
              </a:rPr>
              <a:t>方</a:t>
            </a:r>
            <a:r>
              <a:rPr sz="1400" b="1" dirty="0">
                <a:latin typeface="微软雅黑" panose="020B0503020204020204" charset="-122"/>
                <a:ea typeface="微软雅黑" panose="020B0503020204020204" charset="-122"/>
                <a:cs typeface="微软雅黑" panose="020B0503020204020204" charset="-122"/>
              </a:rPr>
              <a:t>法</a:t>
            </a:r>
            <a:endParaRPr sz="1400">
              <a:latin typeface="微软雅黑" panose="020B0503020204020204" charset="-122"/>
              <a:ea typeface="微软雅黑" panose="020B0503020204020204" charset="-122"/>
              <a:cs typeface="微软雅黑" panose="020B0503020204020204" charset="-122"/>
            </a:endParaRPr>
          </a:p>
        </p:txBody>
      </p:sp>
      <p:sp>
        <p:nvSpPr>
          <p:cNvPr id="30" name="object 30"/>
          <p:cNvSpPr txBox="1"/>
          <p:nvPr/>
        </p:nvSpPr>
        <p:spPr>
          <a:xfrm>
            <a:off x="4792631" y="1423202"/>
            <a:ext cx="1488020" cy="549275"/>
          </a:xfrm>
          <a:prstGeom prst="rect">
            <a:avLst/>
          </a:prstGeom>
          <a:solidFill>
            <a:srgbClr val="C6DFFA"/>
          </a:solidFill>
          <a:ln w="9525">
            <a:solidFill>
              <a:srgbClr val="000000"/>
            </a:solidFill>
          </a:ln>
        </p:spPr>
        <p:txBody>
          <a:bodyPr vert="horz" wrap="square" lIns="0" tIns="119295" rIns="0" bIns="0" rtlCol="0">
            <a:spAutoFit/>
          </a:bodyPr>
          <a:lstStyle/>
          <a:p>
            <a:pPr marL="72390" marR="158115">
              <a:lnSpc>
                <a:spcPct val="100000"/>
              </a:lnSpc>
              <a:spcBef>
                <a:spcPts val="940"/>
              </a:spcBef>
            </a:pPr>
            <a:r>
              <a:rPr sz="1400" b="1" spc="10" dirty="0">
                <a:latin typeface="微软雅黑" panose="020B0503020204020204" charset="-122"/>
                <a:ea typeface="微软雅黑" panose="020B0503020204020204" charset="-122"/>
                <a:cs typeface="微软雅黑" panose="020B0503020204020204" charset="-122"/>
              </a:rPr>
              <a:t>需要</a:t>
            </a:r>
            <a:r>
              <a:rPr sz="1400" b="1" dirty="0">
                <a:latin typeface="微软雅黑" panose="020B0503020204020204" charset="-122"/>
                <a:ea typeface="微软雅黑" panose="020B0503020204020204" charset="-122"/>
                <a:cs typeface="微软雅黑" panose="020B0503020204020204" charset="-122"/>
              </a:rPr>
              <a:t>差异</a:t>
            </a:r>
            <a:r>
              <a:rPr sz="1400" b="1" spc="-10" dirty="0">
                <a:latin typeface="微软雅黑" panose="020B0503020204020204" charset="-122"/>
                <a:ea typeface="微软雅黑" panose="020B0503020204020204" charset="-122"/>
                <a:cs typeface="微软雅黑" panose="020B0503020204020204" charset="-122"/>
              </a:rPr>
              <a:t>化</a:t>
            </a:r>
            <a:r>
              <a:rPr sz="1400" b="1" dirty="0">
                <a:latin typeface="微软雅黑" panose="020B0503020204020204" charset="-122"/>
                <a:ea typeface="微软雅黑" panose="020B0503020204020204" charset="-122"/>
                <a:cs typeface="微软雅黑" panose="020B0503020204020204" charset="-122"/>
              </a:rPr>
              <a:t>的供 </a:t>
            </a:r>
            <a:r>
              <a:rPr sz="1400" b="1" spc="10" dirty="0">
                <a:latin typeface="微软雅黑" panose="020B0503020204020204" charset="-122"/>
                <a:ea typeface="微软雅黑" panose="020B0503020204020204" charset="-122"/>
                <a:cs typeface="微软雅黑" panose="020B0503020204020204" charset="-122"/>
              </a:rPr>
              <a:t>应商</a:t>
            </a:r>
            <a:r>
              <a:rPr sz="1400" b="1" dirty="0">
                <a:latin typeface="微软雅黑" panose="020B0503020204020204" charset="-122"/>
                <a:ea typeface="微软雅黑" panose="020B0503020204020204" charset="-122"/>
                <a:cs typeface="微软雅黑" panose="020B0503020204020204" charset="-122"/>
              </a:rPr>
              <a:t>关系</a:t>
            </a:r>
            <a:endParaRPr sz="1400">
              <a:latin typeface="微软雅黑" panose="020B0503020204020204" charset="-122"/>
              <a:ea typeface="微软雅黑" panose="020B0503020204020204" charset="-122"/>
              <a:cs typeface="微软雅黑" panose="020B0503020204020204" charset="-122"/>
            </a:endParaRPr>
          </a:p>
        </p:txBody>
      </p:sp>
      <p:sp>
        <p:nvSpPr>
          <p:cNvPr id="31" name="object 31"/>
          <p:cNvSpPr txBox="1"/>
          <p:nvPr/>
        </p:nvSpPr>
        <p:spPr>
          <a:xfrm>
            <a:off x="4792631" y="2317156"/>
            <a:ext cx="1488020" cy="451485"/>
          </a:xfrm>
          <a:prstGeom prst="rect">
            <a:avLst/>
          </a:prstGeom>
          <a:solidFill>
            <a:srgbClr val="C6DFFA"/>
          </a:solidFill>
          <a:ln w="9525">
            <a:solidFill>
              <a:srgbClr val="000000"/>
            </a:solidFill>
          </a:ln>
        </p:spPr>
        <p:txBody>
          <a:bodyPr vert="horz" wrap="square" lIns="0" tIns="6345" rIns="0" bIns="0" rtlCol="0">
            <a:spAutoFit/>
          </a:bodyPr>
          <a:lstStyle/>
          <a:p>
            <a:pPr>
              <a:lnSpc>
                <a:spcPct val="100000"/>
              </a:lnSpc>
              <a:spcBef>
                <a:spcPts val="50"/>
              </a:spcBef>
            </a:pPr>
            <a:endParaRPr sz="1500">
              <a:latin typeface="微软雅黑" panose="020B0503020204020204" charset="-122"/>
              <a:ea typeface="微软雅黑" panose="020B0503020204020204" charset="-122"/>
              <a:cs typeface="Times New Roman" panose="02020603050405020304"/>
            </a:endParaRPr>
          </a:p>
          <a:p>
            <a:pPr marL="72390">
              <a:lnSpc>
                <a:spcPct val="100000"/>
              </a:lnSpc>
            </a:pPr>
            <a:r>
              <a:rPr sz="1400" b="1" spc="10" dirty="0">
                <a:latin typeface="微软雅黑" panose="020B0503020204020204" charset="-122"/>
                <a:ea typeface="微软雅黑" panose="020B0503020204020204" charset="-122"/>
                <a:cs typeface="微软雅黑" panose="020B0503020204020204" charset="-122"/>
              </a:rPr>
              <a:t>大客</a:t>
            </a:r>
            <a:r>
              <a:rPr sz="1400" b="1" dirty="0">
                <a:latin typeface="微软雅黑" panose="020B0503020204020204" charset="-122"/>
                <a:ea typeface="微软雅黑" panose="020B0503020204020204" charset="-122"/>
                <a:cs typeface="微软雅黑" panose="020B0503020204020204" charset="-122"/>
              </a:rPr>
              <a:t>户利</a:t>
            </a:r>
            <a:r>
              <a:rPr sz="1400" b="1" spc="-10" dirty="0">
                <a:latin typeface="微软雅黑" panose="020B0503020204020204" charset="-122"/>
                <a:ea typeface="微软雅黑" panose="020B0503020204020204" charset="-122"/>
                <a:cs typeface="微软雅黑" panose="020B0503020204020204" charset="-122"/>
              </a:rPr>
              <a:t>润</a:t>
            </a:r>
            <a:r>
              <a:rPr sz="1400" b="1" dirty="0">
                <a:latin typeface="微软雅黑" panose="020B0503020204020204" charset="-122"/>
                <a:ea typeface="微软雅黑" panose="020B0503020204020204" charset="-122"/>
                <a:cs typeface="微软雅黑" panose="020B0503020204020204" charset="-122"/>
              </a:rPr>
              <a:t>减少</a:t>
            </a:r>
            <a:endParaRPr sz="1400">
              <a:latin typeface="微软雅黑" panose="020B0503020204020204" charset="-122"/>
              <a:ea typeface="微软雅黑" panose="020B0503020204020204" charset="-122"/>
              <a:cs typeface="微软雅黑" panose="020B0503020204020204" charset="-122"/>
            </a:endParaRPr>
          </a:p>
        </p:txBody>
      </p:sp>
      <p:sp>
        <p:nvSpPr>
          <p:cNvPr id="32" name="object 32"/>
          <p:cNvSpPr txBox="1"/>
          <p:nvPr/>
        </p:nvSpPr>
        <p:spPr>
          <a:xfrm>
            <a:off x="4792631" y="3558336"/>
            <a:ext cx="1488020" cy="549910"/>
          </a:xfrm>
          <a:prstGeom prst="rect">
            <a:avLst/>
          </a:prstGeom>
          <a:solidFill>
            <a:srgbClr val="C6DFFA"/>
          </a:solidFill>
          <a:ln w="9525">
            <a:solidFill>
              <a:srgbClr val="000000"/>
            </a:solidFill>
          </a:ln>
        </p:spPr>
        <p:txBody>
          <a:bodyPr vert="horz" wrap="square" lIns="0" tIns="119929" rIns="0" bIns="0" rtlCol="0">
            <a:spAutoFit/>
          </a:bodyPr>
          <a:lstStyle/>
          <a:p>
            <a:pPr marL="72390" marR="158115">
              <a:lnSpc>
                <a:spcPct val="100000"/>
              </a:lnSpc>
              <a:spcBef>
                <a:spcPts val="945"/>
              </a:spcBef>
            </a:pPr>
            <a:r>
              <a:rPr sz="1400" b="1" spc="10" dirty="0">
                <a:latin typeface="微软雅黑" panose="020B0503020204020204" charset="-122"/>
                <a:ea typeface="微软雅黑" panose="020B0503020204020204" charset="-122"/>
                <a:cs typeface="微软雅黑" panose="020B0503020204020204" charset="-122"/>
              </a:rPr>
              <a:t>产品</a:t>
            </a:r>
            <a:r>
              <a:rPr sz="1400" b="1" dirty="0">
                <a:latin typeface="微软雅黑" panose="020B0503020204020204" charset="-122"/>
                <a:ea typeface="微软雅黑" panose="020B0503020204020204" charset="-122"/>
                <a:cs typeface="微软雅黑" panose="020B0503020204020204" charset="-122"/>
              </a:rPr>
              <a:t>和服</a:t>
            </a:r>
            <a:r>
              <a:rPr sz="1400" b="1" spc="-10" dirty="0">
                <a:latin typeface="微软雅黑" panose="020B0503020204020204" charset="-122"/>
                <a:ea typeface="微软雅黑" panose="020B0503020204020204" charset="-122"/>
                <a:cs typeface="微软雅黑" panose="020B0503020204020204" charset="-122"/>
              </a:rPr>
              <a:t>务</a:t>
            </a:r>
            <a:r>
              <a:rPr sz="1400" b="1" dirty="0">
                <a:latin typeface="微软雅黑" panose="020B0503020204020204" charset="-122"/>
                <a:ea typeface="微软雅黑" panose="020B0503020204020204" charset="-122"/>
                <a:cs typeface="微软雅黑" panose="020B0503020204020204" charset="-122"/>
              </a:rPr>
              <a:t>的复 </a:t>
            </a:r>
            <a:r>
              <a:rPr sz="1400" b="1" spc="10" dirty="0">
                <a:latin typeface="微软雅黑" panose="020B0503020204020204" charset="-122"/>
                <a:ea typeface="微软雅黑" panose="020B0503020204020204" charset="-122"/>
                <a:cs typeface="微软雅黑" panose="020B0503020204020204" charset="-122"/>
              </a:rPr>
              <a:t>杂性</a:t>
            </a:r>
            <a:r>
              <a:rPr sz="1400" b="1" dirty="0">
                <a:latin typeface="微软雅黑" panose="020B0503020204020204" charset="-122"/>
                <a:ea typeface="微软雅黑" panose="020B0503020204020204" charset="-122"/>
                <a:cs typeface="微软雅黑" panose="020B0503020204020204" charset="-122"/>
              </a:rPr>
              <a:t>越来</a:t>
            </a:r>
            <a:r>
              <a:rPr sz="1400" b="1" spc="-10" dirty="0">
                <a:latin typeface="微软雅黑" panose="020B0503020204020204" charset="-122"/>
                <a:ea typeface="微软雅黑" panose="020B0503020204020204" charset="-122"/>
                <a:cs typeface="微软雅黑" panose="020B0503020204020204" charset="-122"/>
              </a:rPr>
              <a:t>越</a:t>
            </a:r>
            <a:r>
              <a:rPr sz="1400" b="1" dirty="0">
                <a:latin typeface="微软雅黑" panose="020B0503020204020204" charset="-122"/>
                <a:ea typeface="微软雅黑" panose="020B0503020204020204" charset="-122"/>
                <a:cs typeface="微软雅黑" panose="020B0503020204020204" charset="-122"/>
              </a:rPr>
              <a:t>高</a:t>
            </a:r>
            <a:endParaRPr sz="1400">
              <a:latin typeface="微软雅黑" panose="020B0503020204020204" charset="-122"/>
              <a:ea typeface="微软雅黑" panose="020B0503020204020204" charset="-122"/>
              <a:cs typeface="微软雅黑" panose="020B0503020204020204" charset="-122"/>
            </a:endParaRPr>
          </a:p>
        </p:txBody>
      </p:sp>
      <p:sp>
        <p:nvSpPr>
          <p:cNvPr id="33" name="object 33"/>
          <p:cNvSpPr/>
          <p:nvPr/>
        </p:nvSpPr>
        <p:spPr>
          <a:xfrm>
            <a:off x="182749" y="1595292"/>
            <a:ext cx="3900581" cy="3539520"/>
          </a:xfrm>
          <a:custGeom>
            <a:avLst/>
            <a:gdLst/>
            <a:ahLst/>
            <a:cxnLst/>
            <a:rect l="l" t="t" r="r" b="b"/>
            <a:pathLst>
              <a:path w="3903345" h="3542029">
                <a:moveTo>
                  <a:pt x="0" y="3541776"/>
                </a:moveTo>
                <a:lnTo>
                  <a:pt x="3902964" y="3541776"/>
                </a:lnTo>
                <a:lnTo>
                  <a:pt x="3902964" y="0"/>
                </a:lnTo>
                <a:lnTo>
                  <a:pt x="0" y="0"/>
                </a:lnTo>
                <a:lnTo>
                  <a:pt x="0" y="3541776"/>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4" name="object 34"/>
          <p:cNvSpPr/>
          <p:nvPr/>
        </p:nvSpPr>
        <p:spPr>
          <a:xfrm>
            <a:off x="4184986" y="1822207"/>
            <a:ext cx="347734" cy="3088991"/>
          </a:xfrm>
          <a:custGeom>
            <a:avLst/>
            <a:gdLst/>
            <a:ahLst/>
            <a:cxnLst/>
            <a:rect l="l" t="t" r="r" b="b"/>
            <a:pathLst>
              <a:path w="347979" h="3091179">
                <a:moveTo>
                  <a:pt x="0" y="0"/>
                </a:moveTo>
                <a:lnTo>
                  <a:pt x="0" y="3090672"/>
                </a:lnTo>
                <a:lnTo>
                  <a:pt x="347472" y="1545336"/>
                </a:lnTo>
                <a:lnTo>
                  <a:pt x="0"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5" name="object 35"/>
          <p:cNvSpPr/>
          <p:nvPr/>
        </p:nvSpPr>
        <p:spPr>
          <a:xfrm>
            <a:off x="4184986" y="1822207"/>
            <a:ext cx="347734" cy="3088991"/>
          </a:xfrm>
          <a:custGeom>
            <a:avLst/>
            <a:gdLst/>
            <a:ahLst/>
            <a:cxnLst/>
            <a:rect l="l" t="t" r="r" b="b"/>
            <a:pathLst>
              <a:path w="347979" h="3091179">
                <a:moveTo>
                  <a:pt x="0" y="0"/>
                </a:moveTo>
                <a:lnTo>
                  <a:pt x="347472" y="1545336"/>
                </a:lnTo>
                <a:lnTo>
                  <a:pt x="0" y="3090672"/>
                </a:lnTo>
                <a:lnTo>
                  <a:pt x="0" y="0"/>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6" name="object 36"/>
          <p:cNvSpPr/>
          <p:nvPr/>
        </p:nvSpPr>
        <p:spPr>
          <a:xfrm>
            <a:off x="4651000" y="925207"/>
            <a:ext cx="4028124" cy="4888575"/>
          </a:xfrm>
          <a:custGeom>
            <a:avLst/>
            <a:gdLst/>
            <a:ahLst/>
            <a:cxnLst/>
            <a:rect l="l" t="t" r="r" b="b"/>
            <a:pathLst>
              <a:path w="4030979" h="4892040">
                <a:moveTo>
                  <a:pt x="0" y="4892040"/>
                </a:moveTo>
                <a:lnTo>
                  <a:pt x="4030979" y="4892040"/>
                </a:lnTo>
                <a:lnTo>
                  <a:pt x="4030979" y="0"/>
                </a:lnTo>
                <a:lnTo>
                  <a:pt x="0" y="0"/>
                </a:lnTo>
                <a:lnTo>
                  <a:pt x="0" y="4892040"/>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7" name="object 37"/>
          <p:cNvSpPr txBox="1"/>
          <p:nvPr/>
        </p:nvSpPr>
        <p:spPr>
          <a:xfrm>
            <a:off x="6357685" y="1399216"/>
            <a:ext cx="1821159" cy="443230"/>
          </a:xfrm>
          <a:prstGeom prst="rect">
            <a:avLst/>
          </a:prstGeom>
        </p:spPr>
        <p:txBody>
          <a:bodyPr vert="horz" wrap="square" lIns="0" tIns="13325" rIns="0" bIns="0" rtlCol="0">
            <a:spAutoFit/>
          </a:bodyPr>
          <a:lstStyle/>
          <a:p>
            <a:pPr marL="204470" indent="-192405">
              <a:lnSpc>
                <a:spcPct val="100000"/>
              </a:lnSpc>
              <a:spcBef>
                <a:spcPts val="105"/>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无法再提供部分要求</a:t>
            </a:r>
            <a:endParaRPr sz="1400">
              <a:latin typeface="微软雅黑" panose="020B0503020204020204" charset="-122"/>
              <a:ea typeface="微软雅黑" panose="020B0503020204020204" charset="-122"/>
              <a:cs typeface="微软雅黑" panose="020B0503020204020204" charset="-122"/>
            </a:endParaRPr>
          </a:p>
          <a:p>
            <a:pPr marL="204470" indent="-192405">
              <a:lnSpc>
                <a:spcPct val="100000"/>
              </a:lnSpc>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不断增加的服务需求</a:t>
            </a:r>
            <a:endParaRPr sz="1400">
              <a:latin typeface="微软雅黑" panose="020B0503020204020204" charset="-122"/>
              <a:ea typeface="微软雅黑" panose="020B0503020204020204" charset="-122"/>
              <a:cs typeface="微软雅黑" panose="020B0503020204020204" charset="-122"/>
            </a:endParaRPr>
          </a:p>
        </p:txBody>
      </p:sp>
      <p:sp>
        <p:nvSpPr>
          <p:cNvPr id="38" name="object 38"/>
          <p:cNvSpPr txBox="1"/>
          <p:nvPr/>
        </p:nvSpPr>
        <p:spPr>
          <a:xfrm>
            <a:off x="6370376" y="2292536"/>
            <a:ext cx="2152395" cy="1699260"/>
          </a:xfrm>
          <a:prstGeom prst="rect">
            <a:avLst/>
          </a:prstGeom>
        </p:spPr>
        <p:txBody>
          <a:bodyPr vert="horz" wrap="square" lIns="0" tIns="13325" rIns="0" bIns="0" rtlCol="0">
            <a:spAutoFit/>
          </a:bodyPr>
          <a:lstStyle/>
          <a:p>
            <a:pPr marL="191770" indent="-192405">
              <a:lnSpc>
                <a:spcPct val="100000"/>
              </a:lnSpc>
              <a:spcBef>
                <a:spcPts val="105"/>
              </a:spcBef>
              <a:buClr>
                <a:srgbClr val="00295F"/>
              </a:buClr>
              <a:buSzPct val="125000"/>
              <a:buFont typeface="Arial" panose="020B0604020202020204"/>
              <a:buChar char="▪"/>
              <a:tabLst>
                <a:tab pos="192405" algn="l"/>
              </a:tabLst>
            </a:pPr>
            <a:r>
              <a:rPr sz="1400" dirty="0">
                <a:latin typeface="微软雅黑" panose="020B0503020204020204" charset="-122"/>
                <a:ea typeface="微软雅黑" panose="020B0503020204020204" charset="-122"/>
                <a:cs typeface="微软雅黑" panose="020B0503020204020204" charset="-122"/>
              </a:rPr>
              <a:t>客户的同类最佳采购做法</a:t>
            </a:r>
            <a:endParaRPr sz="1400">
              <a:latin typeface="微软雅黑" panose="020B0503020204020204" charset="-122"/>
              <a:ea typeface="微软雅黑" panose="020B0503020204020204" charset="-122"/>
              <a:cs typeface="微软雅黑" panose="020B0503020204020204" charset="-122"/>
            </a:endParaRPr>
          </a:p>
          <a:p>
            <a:pPr marL="191770" indent="-192405">
              <a:lnSpc>
                <a:spcPct val="100000"/>
              </a:lnSpc>
              <a:buClr>
                <a:srgbClr val="00295F"/>
              </a:buClr>
              <a:buSzPct val="125000"/>
              <a:buFont typeface="Arial" panose="020B0604020202020204"/>
              <a:buChar char="▪"/>
              <a:tabLst>
                <a:tab pos="192405" algn="l"/>
              </a:tabLst>
            </a:pPr>
            <a:r>
              <a:rPr sz="1400" dirty="0">
                <a:latin typeface="微软雅黑" panose="020B0503020204020204" charset="-122"/>
                <a:ea typeface="微软雅黑" panose="020B0503020204020204" charset="-122"/>
                <a:cs typeface="微软雅黑" panose="020B0503020204020204" charset="-122"/>
              </a:rPr>
              <a:t>新的复杂的供应合同</a:t>
            </a:r>
            <a:endParaRPr sz="1400">
              <a:latin typeface="微软雅黑" panose="020B0503020204020204" charset="-122"/>
              <a:ea typeface="微软雅黑" panose="020B0503020204020204" charset="-122"/>
              <a:cs typeface="微软雅黑" panose="020B0503020204020204" charset="-122"/>
            </a:endParaRPr>
          </a:p>
          <a:p>
            <a:pPr marL="191770" indent="-192405">
              <a:lnSpc>
                <a:spcPts val="1675"/>
              </a:lnSpc>
              <a:buClr>
                <a:srgbClr val="00295F"/>
              </a:buClr>
              <a:buSzPct val="125000"/>
              <a:buFont typeface="Arial" panose="020B0604020202020204"/>
              <a:buChar char="▪"/>
              <a:tabLst>
                <a:tab pos="192405" algn="l"/>
              </a:tabLst>
            </a:pPr>
            <a:r>
              <a:rPr sz="1400" dirty="0">
                <a:latin typeface="微软雅黑" panose="020B0503020204020204" charset="-122"/>
                <a:ea typeface="微软雅黑" panose="020B0503020204020204" charset="-122"/>
                <a:cs typeface="微软雅黑" panose="020B0503020204020204" charset="-122"/>
              </a:rPr>
              <a:t>新客户细分和地域的增长</a:t>
            </a:r>
            <a:endParaRPr sz="1400">
              <a:latin typeface="微软雅黑" panose="020B0503020204020204" charset="-122"/>
              <a:ea typeface="微软雅黑" panose="020B0503020204020204" charset="-122"/>
              <a:cs typeface="微软雅黑" panose="020B0503020204020204" charset="-122"/>
            </a:endParaRPr>
          </a:p>
          <a:p>
            <a:pPr marL="191770" indent="-192405">
              <a:lnSpc>
                <a:spcPts val="1690"/>
              </a:lnSpc>
              <a:spcBef>
                <a:spcPts val="40"/>
              </a:spcBef>
              <a:buClr>
                <a:srgbClr val="00295F"/>
              </a:buClr>
              <a:buSzPct val="125000"/>
              <a:buFont typeface="Arial" panose="020B0604020202020204"/>
              <a:buChar char="▪"/>
              <a:tabLst>
                <a:tab pos="192405" algn="l"/>
              </a:tabLst>
            </a:pPr>
            <a:r>
              <a:rPr sz="1400" dirty="0">
                <a:latin typeface="微软雅黑" panose="020B0503020204020204" charset="-122"/>
                <a:ea typeface="微软雅黑" panose="020B0503020204020204" charset="-122"/>
                <a:cs typeface="微软雅黑" panose="020B0503020204020204" charset="-122"/>
              </a:rPr>
              <a:t>现有市场得到的关注越来 越少</a:t>
            </a:r>
            <a:endParaRPr sz="1400">
              <a:latin typeface="微软雅黑" panose="020B0503020204020204" charset="-122"/>
              <a:ea typeface="微软雅黑" panose="020B0503020204020204" charset="-122"/>
              <a:cs typeface="微软雅黑" panose="020B0503020204020204" charset="-122"/>
            </a:endParaRPr>
          </a:p>
          <a:p>
            <a:pPr marL="191770" indent="-192405">
              <a:lnSpc>
                <a:spcPct val="101000"/>
              </a:lnSpc>
              <a:spcBef>
                <a:spcPts val="1310"/>
              </a:spcBef>
              <a:buClr>
                <a:srgbClr val="00295F"/>
              </a:buClr>
              <a:buSzPct val="125000"/>
              <a:buFont typeface="Arial" panose="020B0604020202020204"/>
              <a:buChar char="▪"/>
              <a:tabLst>
                <a:tab pos="192405" algn="l"/>
              </a:tabLst>
            </a:pPr>
            <a:r>
              <a:rPr sz="1400" dirty="0">
                <a:latin typeface="微软雅黑" panose="020B0503020204020204" charset="-122"/>
                <a:ea typeface="微软雅黑" panose="020B0503020204020204" charset="-122"/>
                <a:cs typeface="微软雅黑" panose="020B0503020204020204" charset="-122"/>
              </a:rPr>
              <a:t>客户对市场间协调的需求 越来越高</a:t>
            </a:r>
            <a:endParaRPr sz="1400">
              <a:latin typeface="微软雅黑" panose="020B0503020204020204" charset="-122"/>
              <a:ea typeface="微软雅黑" panose="020B0503020204020204" charset="-122"/>
              <a:cs typeface="微软雅黑" panose="020B0503020204020204" charset="-122"/>
            </a:endParaRPr>
          </a:p>
        </p:txBody>
      </p:sp>
      <p:sp>
        <p:nvSpPr>
          <p:cNvPr id="39" name="object 39"/>
          <p:cNvSpPr txBox="1"/>
          <p:nvPr/>
        </p:nvSpPr>
        <p:spPr>
          <a:xfrm>
            <a:off x="6370376" y="3961098"/>
            <a:ext cx="2214580" cy="227965"/>
          </a:xfrm>
          <a:prstGeom prst="rect">
            <a:avLst/>
          </a:prstGeom>
        </p:spPr>
        <p:txBody>
          <a:bodyPr vert="horz" wrap="square" lIns="0" tIns="13325" rIns="0" bIns="0" rtlCol="0">
            <a:spAutoFit/>
          </a:bodyPr>
          <a:lstStyle/>
          <a:p>
            <a:pPr marL="191770" indent="-192405">
              <a:lnSpc>
                <a:spcPct val="100000"/>
              </a:lnSpc>
              <a:spcBef>
                <a:spcPts val="105"/>
              </a:spcBef>
              <a:buClr>
                <a:srgbClr val="00295F"/>
              </a:buClr>
              <a:buSzPct val="125000"/>
              <a:buFont typeface="Arial" panose="020B0604020202020204"/>
              <a:buChar char="▪"/>
              <a:tabLst>
                <a:tab pos="192405" algn="l"/>
              </a:tabLst>
            </a:pPr>
            <a:r>
              <a:rPr sz="1400" dirty="0">
                <a:latin typeface="微软雅黑" panose="020B0503020204020204" charset="-122"/>
                <a:ea typeface="微软雅黑" panose="020B0503020204020204" charset="-122"/>
                <a:cs typeface="微软雅黑" panose="020B0503020204020204" charset="-122"/>
              </a:rPr>
              <a:t>对解决方案和</a:t>
            </a:r>
            <a:r>
              <a:rPr sz="1400" spc="5" dirty="0">
                <a:latin typeface="微软雅黑" panose="020B0503020204020204" charset="-122"/>
                <a:ea typeface="微软雅黑" panose="020B0503020204020204" charset="-122"/>
                <a:cs typeface="微软雅黑" panose="020B0503020204020204" charset="-122"/>
              </a:rPr>
              <a:t>/或</a:t>
            </a:r>
            <a:r>
              <a:rPr sz="1400" dirty="0">
                <a:latin typeface="微软雅黑" panose="020B0503020204020204" charset="-122"/>
                <a:ea typeface="微软雅黑" panose="020B0503020204020204" charset="-122"/>
                <a:cs typeface="微软雅黑" panose="020B0503020204020204" charset="-122"/>
              </a:rPr>
              <a:t>合</a:t>
            </a:r>
            <a:r>
              <a:rPr sz="1400" spc="-10" dirty="0">
                <a:latin typeface="微软雅黑" panose="020B0503020204020204" charset="-122"/>
                <a:ea typeface="微软雅黑" panose="020B0503020204020204" charset="-122"/>
                <a:cs typeface="微软雅黑" panose="020B0503020204020204" charset="-122"/>
              </a:rPr>
              <a:t>作</a:t>
            </a:r>
            <a:r>
              <a:rPr sz="1400" spc="5" dirty="0">
                <a:latin typeface="微软雅黑" panose="020B0503020204020204" charset="-122"/>
                <a:ea typeface="微软雅黑" panose="020B0503020204020204" charset="-122"/>
                <a:cs typeface="微软雅黑" panose="020B0503020204020204" charset="-122"/>
              </a:rPr>
              <a:t>关系</a:t>
            </a:r>
            <a:endParaRPr sz="1400">
              <a:latin typeface="微软雅黑" panose="020B0503020204020204" charset="-122"/>
              <a:ea typeface="微软雅黑" panose="020B0503020204020204" charset="-122"/>
              <a:cs typeface="微软雅黑" panose="020B0503020204020204" charset="-122"/>
            </a:endParaRPr>
          </a:p>
        </p:txBody>
      </p:sp>
      <p:sp>
        <p:nvSpPr>
          <p:cNvPr id="40" name="object 40"/>
          <p:cNvSpPr txBox="1"/>
          <p:nvPr/>
        </p:nvSpPr>
        <p:spPr>
          <a:xfrm>
            <a:off x="6549574" y="4174866"/>
            <a:ext cx="560308" cy="227330"/>
          </a:xfrm>
          <a:prstGeom prst="rect">
            <a:avLst/>
          </a:prstGeom>
        </p:spPr>
        <p:txBody>
          <a:bodyPr vert="horz" wrap="square" lIns="0" tIns="12691" rIns="0" bIns="0" rtlCol="0">
            <a:spAutoFit/>
          </a:bodyPr>
          <a:lstStyle/>
          <a:p>
            <a:pPr marL="12700">
              <a:lnSpc>
                <a:spcPct val="100000"/>
              </a:lnSpc>
              <a:spcBef>
                <a:spcPts val="100"/>
              </a:spcBef>
            </a:pPr>
            <a:r>
              <a:rPr sz="1400" dirty="0">
                <a:latin typeface="微软雅黑" panose="020B0503020204020204" charset="-122"/>
                <a:ea typeface="微软雅黑" panose="020B0503020204020204" charset="-122"/>
                <a:cs typeface="微软雅黑" panose="020B0503020204020204" charset="-122"/>
              </a:rPr>
              <a:t>的要求</a:t>
            </a:r>
            <a:endParaRPr sz="1400" dirty="0">
              <a:latin typeface="微软雅黑" panose="020B0503020204020204" charset="-122"/>
              <a:ea typeface="微软雅黑" panose="020B0503020204020204" charset="-122"/>
              <a:cs typeface="微软雅黑" panose="020B0503020204020204" charset="-122"/>
            </a:endParaRPr>
          </a:p>
        </p:txBody>
      </p:sp>
      <p:sp>
        <p:nvSpPr>
          <p:cNvPr id="41" name="object 41"/>
          <p:cNvSpPr/>
          <p:nvPr/>
        </p:nvSpPr>
        <p:spPr>
          <a:xfrm>
            <a:off x="5916547" y="4628950"/>
            <a:ext cx="1544495" cy="172598"/>
          </a:xfrm>
          <a:custGeom>
            <a:avLst/>
            <a:gdLst/>
            <a:ahLst/>
            <a:cxnLst/>
            <a:rect l="l" t="t" r="r" b="b"/>
            <a:pathLst>
              <a:path w="1545590" h="172720">
                <a:moveTo>
                  <a:pt x="1545336" y="0"/>
                </a:moveTo>
                <a:lnTo>
                  <a:pt x="0" y="0"/>
                </a:lnTo>
                <a:lnTo>
                  <a:pt x="772667" y="172211"/>
                </a:lnTo>
                <a:lnTo>
                  <a:pt x="1545336"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2" name="object 42"/>
          <p:cNvSpPr/>
          <p:nvPr/>
        </p:nvSpPr>
        <p:spPr>
          <a:xfrm>
            <a:off x="5916547" y="4628950"/>
            <a:ext cx="1544495" cy="172598"/>
          </a:xfrm>
          <a:custGeom>
            <a:avLst/>
            <a:gdLst/>
            <a:ahLst/>
            <a:cxnLst/>
            <a:rect l="l" t="t" r="r" b="b"/>
            <a:pathLst>
              <a:path w="1545590" h="172720">
                <a:moveTo>
                  <a:pt x="1545336" y="0"/>
                </a:moveTo>
                <a:lnTo>
                  <a:pt x="772667" y="172211"/>
                </a:lnTo>
                <a:lnTo>
                  <a:pt x="0" y="0"/>
                </a:lnTo>
                <a:lnTo>
                  <a:pt x="1545336" y="0"/>
                </a:lnTo>
                <a:close/>
              </a:path>
            </a:pathLst>
          </a:custGeom>
          <a:ln w="952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04584" y="4385282"/>
            <a:ext cx="1293213" cy="576172"/>
          </a:xfrm>
          <a:custGeom>
            <a:avLst/>
            <a:gdLst/>
            <a:ahLst/>
            <a:cxnLst/>
            <a:rect l="l" t="t" r="r" b="b"/>
            <a:pathLst>
              <a:path w="1294130" h="576579">
                <a:moveTo>
                  <a:pt x="646938" y="0"/>
                </a:moveTo>
                <a:lnTo>
                  <a:pt x="580793" y="1486"/>
                </a:lnTo>
                <a:lnTo>
                  <a:pt x="516558" y="5849"/>
                </a:lnTo>
                <a:lnTo>
                  <a:pt x="454560" y="12944"/>
                </a:lnTo>
                <a:lnTo>
                  <a:pt x="395122" y="22627"/>
                </a:lnTo>
                <a:lnTo>
                  <a:pt x="338571" y="34753"/>
                </a:lnTo>
                <a:lnTo>
                  <a:pt x="285230" y="49178"/>
                </a:lnTo>
                <a:lnTo>
                  <a:pt x="235427" y="65756"/>
                </a:lnTo>
                <a:lnTo>
                  <a:pt x="189485" y="84343"/>
                </a:lnTo>
                <a:lnTo>
                  <a:pt x="147730" y="104796"/>
                </a:lnTo>
                <a:lnTo>
                  <a:pt x="110488" y="126968"/>
                </a:lnTo>
                <a:lnTo>
                  <a:pt x="78082" y="150717"/>
                </a:lnTo>
                <a:lnTo>
                  <a:pt x="29085" y="202363"/>
                </a:lnTo>
                <a:lnTo>
                  <a:pt x="3340" y="258577"/>
                </a:lnTo>
                <a:lnTo>
                  <a:pt x="0" y="288036"/>
                </a:lnTo>
                <a:lnTo>
                  <a:pt x="3340" y="317494"/>
                </a:lnTo>
                <a:lnTo>
                  <a:pt x="29085" y="373708"/>
                </a:lnTo>
                <a:lnTo>
                  <a:pt x="78082" y="425354"/>
                </a:lnTo>
                <a:lnTo>
                  <a:pt x="110488" y="449103"/>
                </a:lnTo>
                <a:lnTo>
                  <a:pt x="147730" y="471275"/>
                </a:lnTo>
                <a:lnTo>
                  <a:pt x="189485" y="491728"/>
                </a:lnTo>
                <a:lnTo>
                  <a:pt x="235427" y="510315"/>
                </a:lnTo>
                <a:lnTo>
                  <a:pt x="285230" y="526893"/>
                </a:lnTo>
                <a:lnTo>
                  <a:pt x="338571" y="541318"/>
                </a:lnTo>
                <a:lnTo>
                  <a:pt x="395122" y="553444"/>
                </a:lnTo>
                <a:lnTo>
                  <a:pt x="454560" y="563127"/>
                </a:lnTo>
                <a:lnTo>
                  <a:pt x="516558" y="570222"/>
                </a:lnTo>
                <a:lnTo>
                  <a:pt x="580793" y="574585"/>
                </a:lnTo>
                <a:lnTo>
                  <a:pt x="646938" y="576072"/>
                </a:lnTo>
                <a:lnTo>
                  <a:pt x="713076" y="574585"/>
                </a:lnTo>
                <a:lnTo>
                  <a:pt x="777306" y="570222"/>
                </a:lnTo>
                <a:lnTo>
                  <a:pt x="839301" y="563127"/>
                </a:lnTo>
                <a:lnTo>
                  <a:pt x="898737" y="553444"/>
                </a:lnTo>
                <a:lnTo>
                  <a:pt x="955288" y="541318"/>
                </a:lnTo>
                <a:lnTo>
                  <a:pt x="1008628" y="526893"/>
                </a:lnTo>
                <a:lnTo>
                  <a:pt x="1058432" y="510315"/>
                </a:lnTo>
                <a:lnTo>
                  <a:pt x="1104376" y="491728"/>
                </a:lnTo>
                <a:lnTo>
                  <a:pt x="1146132" y="471275"/>
                </a:lnTo>
                <a:lnTo>
                  <a:pt x="1183377" y="449103"/>
                </a:lnTo>
                <a:lnTo>
                  <a:pt x="1215785" y="425354"/>
                </a:lnTo>
                <a:lnTo>
                  <a:pt x="1264787" y="373708"/>
                </a:lnTo>
                <a:lnTo>
                  <a:pt x="1290535" y="317494"/>
                </a:lnTo>
                <a:lnTo>
                  <a:pt x="1293876" y="288036"/>
                </a:lnTo>
                <a:lnTo>
                  <a:pt x="1290535" y="258577"/>
                </a:lnTo>
                <a:lnTo>
                  <a:pt x="1264787" y="202363"/>
                </a:lnTo>
                <a:lnTo>
                  <a:pt x="1215785" y="150717"/>
                </a:lnTo>
                <a:lnTo>
                  <a:pt x="1183377" y="126968"/>
                </a:lnTo>
                <a:lnTo>
                  <a:pt x="1146132" y="104796"/>
                </a:lnTo>
                <a:lnTo>
                  <a:pt x="1104376" y="84343"/>
                </a:lnTo>
                <a:lnTo>
                  <a:pt x="1058432" y="65756"/>
                </a:lnTo>
                <a:lnTo>
                  <a:pt x="1008628" y="49178"/>
                </a:lnTo>
                <a:lnTo>
                  <a:pt x="955288" y="34753"/>
                </a:lnTo>
                <a:lnTo>
                  <a:pt x="898737" y="22627"/>
                </a:lnTo>
                <a:lnTo>
                  <a:pt x="839301" y="12944"/>
                </a:lnTo>
                <a:lnTo>
                  <a:pt x="777306" y="5849"/>
                </a:lnTo>
                <a:lnTo>
                  <a:pt x="713076" y="1486"/>
                </a:lnTo>
                <a:lnTo>
                  <a:pt x="646938" y="0"/>
                </a:lnTo>
                <a:close/>
              </a:path>
            </a:pathLst>
          </a:custGeom>
          <a:solidFill>
            <a:srgbClr val="1F1F7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 name="object 4"/>
          <p:cNvSpPr/>
          <p:nvPr/>
        </p:nvSpPr>
        <p:spPr>
          <a:xfrm>
            <a:off x="304584" y="4385282"/>
            <a:ext cx="1293213" cy="576172"/>
          </a:xfrm>
          <a:custGeom>
            <a:avLst/>
            <a:gdLst/>
            <a:ahLst/>
            <a:cxnLst/>
            <a:rect l="l" t="t" r="r" b="b"/>
            <a:pathLst>
              <a:path w="1294130" h="576579">
                <a:moveTo>
                  <a:pt x="0" y="288036"/>
                </a:moveTo>
                <a:lnTo>
                  <a:pt x="13143" y="229971"/>
                </a:lnTo>
                <a:lnTo>
                  <a:pt x="50840" y="175896"/>
                </a:lnTo>
                <a:lnTo>
                  <a:pt x="110488" y="126968"/>
                </a:lnTo>
                <a:lnTo>
                  <a:pt x="147730" y="104796"/>
                </a:lnTo>
                <a:lnTo>
                  <a:pt x="189485" y="84343"/>
                </a:lnTo>
                <a:lnTo>
                  <a:pt x="235427" y="65756"/>
                </a:lnTo>
                <a:lnTo>
                  <a:pt x="285230" y="49178"/>
                </a:lnTo>
                <a:lnTo>
                  <a:pt x="338571" y="34753"/>
                </a:lnTo>
                <a:lnTo>
                  <a:pt x="395122" y="22627"/>
                </a:lnTo>
                <a:lnTo>
                  <a:pt x="454560" y="12944"/>
                </a:lnTo>
                <a:lnTo>
                  <a:pt x="516558" y="5849"/>
                </a:lnTo>
                <a:lnTo>
                  <a:pt x="580793" y="1486"/>
                </a:lnTo>
                <a:lnTo>
                  <a:pt x="646938" y="0"/>
                </a:lnTo>
                <a:lnTo>
                  <a:pt x="713076" y="1486"/>
                </a:lnTo>
                <a:lnTo>
                  <a:pt x="777306" y="5849"/>
                </a:lnTo>
                <a:lnTo>
                  <a:pt x="839301" y="12944"/>
                </a:lnTo>
                <a:lnTo>
                  <a:pt x="898737" y="22627"/>
                </a:lnTo>
                <a:lnTo>
                  <a:pt x="955288" y="34753"/>
                </a:lnTo>
                <a:lnTo>
                  <a:pt x="1008628" y="49178"/>
                </a:lnTo>
                <a:lnTo>
                  <a:pt x="1058432" y="65756"/>
                </a:lnTo>
                <a:lnTo>
                  <a:pt x="1104376" y="84343"/>
                </a:lnTo>
                <a:lnTo>
                  <a:pt x="1146132" y="104796"/>
                </a:lnTo>
                <a:lnTo>
                  <a:pt x="1183377" y="126968"/>
                </a:lnTo>
                <a:lnTo>
                  <a:pt x="1215785" y="150717"/>
                </a:lnTo>
                <a:lnTo>
                  <a:pt x="1264787" y="202363"/>
                </a:lnTo>
                <a:lnTo>
                  <a:pt x="1290535" y="258577"/>
                </a:lnTo>
                <a:lnTo>
                  <a:pt x="1293876" y="288036"/>
                </a:lnTo>
                <a:lnTo>
                  <a:pt x="1290535" y="317494"/>
                </a:lnTo>
                <a:lnTo>
                  <a:pt x="1264787" y="373708"/>
                </a:lnTo>
                <a:lnTo>
                  <a:pt x="1215785" y="425354"/>
                </a:lnTo>
                <a:lnTo>
                  <a:pt x="1183377" y="449103"/>
                </a:lnTo>
                <a:lnTo>
                  <a:pt x="1146132" y="471275"/>
                </a:lnTo>
                <a:lnTo>
                  <a:pt x="1104376" y="491728"/>
                </a:lnTo>
                <a:lnTo>
                  <a:pt x="1058432" y="510315"/>
                </a:lnTo>
                <a:lnTo>
                  <a:pt x="1008628" y="526893"/>
                </a:lnTo>
                <a:lnTo>
                  <a:pt x="955288" y="541318"/>
                </a:lnTo>
                <a:lnTo>
                  <a:pt x="898737" y="553444"/>
                </a:lnTo>
                <a:lnTo>
                  <a:pt x="839301" y="563127"/>
                </a:lnTo>
                <a:lnTo>
                  <a:pt x="777306" y="570222"/>
                </a:lnTo>
                <a:lnTo>
                  <a:pt x="713076" y="574585"/>
                </a:lnTo>
                <a:lnTo>
                  <a:pt x="646938" y="576072"/>
                </a:lnTo>
                <a:lnTo>
                  <a:pt x="580793" y="574585"/>
                </a:lnTo>
                <a:lnTo>
                  <a:pt x="516558" y="570222"/>
                </a:lnTo>
                <a:lnTo>
                  <a:pt x="454560" y="563127"/>
                </a:lnTo>
                <a:lnTo>
                  <a:pt x="395122" y="553444"/>
                </a:lnTo>
                <a:lnTo>
                  <a:pt x="338571" y="541318"/>
                </a:lnTo>
                <a:lnTo>
                  <a:pt x="285230" y="526893"/>
                </a:lnTo>
                <a:lnTo>
                  <a:pt x="235427" y="510315"/>
                </a:lnTo>
                <a:lnTo>
                  <a:pt x="189485" y="491728"/>
                </a:lnTo>
                <a:lnTo>
                  <a:pt x="147730" y="471275"/>
                </a:lnTo>
                <a:lnTo>
                  <a:pt x="110488" y="449103"/>
                </a:lnTo>
                <a:lnTo>
                  <a:pt x="78082" y="425354"/>
                </a:lnTo>
                <a:lnTo>
                  <a:pt x="29085" y="373708"/>
                </a:lnTo>
                <a:lnTo>
                  <a:pt x="3340" y="317494"/>
                </a:lnTo>
                <a:lnTo>
                  <a:pt x="0" y="288036"/>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txBox="1"/>
          <p:nvPr/>
        </p:nvSpPr>
        <p:spPr>
          <a:xfrm>
            <a:off x="758515" y="4543158"/>
            <a:ext cx="385807" cy="227330"/>
          </a:xfrm>
          <a:prstGeom prst="rect">
            <a:avLst/>
          </a:prstGeom>
        </p:spPr>
        <p:txBody>
          <a:bodyPr vert="horz" wrap="square" lIns="0" tIns="12691" rIns="0" bIns="0" rtlCol="0">
            <a:spAutoFit/>
          </a:bodyPr>
          <a:lstStyle/>
          <a:p>
            <a:pPr marL="12700">
              <a:lnSpc>
                <a:spcPct val="100000"/>
              </a:lnSpc>
              <a:spcBef>
                <a:spcPts val="100"/>
              </a:spcBef>
            </a:pPr>
            <a:r>
              <a:rPr sz="1400" b="1" spc="10" dirty="0">
                <a:solidFill>
                  <a:srgbClr val="FFFFFF"/>
                </a:solidFill>
                <a:latin typeface="微软雅黑" panose="020B0503020204020204" charset="-122"/>
                <a:ea typeface="微软雅黑" panose="020B0503020204020204" charset="-122"/>
                <a:cs typeface="微软雅黑" panose="020B0503020204020204" charset="-122"/>
              </a:rPr>
              <a:t>合计</a:t>
            </a:r>
            <a:endParaRPr sz="1400" b="1" spc="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 name="object 6"/>
          <p:cNvSpPr txBox="1"/>
          <p:nvPr/>
        </p:nvSpPr>
        <p:spPr>
          <a:xfrm>
            <a:off x="846744" y="2038462"/>
            <a:ext cx="897254" cy="370205"/>
          </a:xfrm>
          <a:prstGeom prst="rect">
            <a:avLst/>
          </a:prstGeom>
          <a:solidFill>
            <a:srgbClr val="0066CC"/>
          </a:solidFill>
          <a:ln w="9525">
            <a:solidFill>
              <a:srgbClr val="000000"/>
            </a:solidFill>
          </a:ln>
        </p:spPr>
        <p:txBody>
          <a:bodyPr vert="horz" wrap="square" lIns="0" tIns="155464" rIns="0" bIns="0" rtlCol="0">
            <a:spAutoFit/>
          </a:bodyPr>
          <a:lstStyle/>
          <a:p>
            <a:pPr marL="72390">
              <a:lnSpc>
                <a:spcPct val="100000"/>
              </a:lnSpc>
              <a:spcBef>
                <a:spcPts val="1225"/>
              </a:spcBef>
            </a:pPr>
            <a:r>
              <a:rPr sz="1400" dirty="0">
                <a:latin typeface="微软雅黑" panose="020B0503020204020204" charset="-122"/>
                <a:ea typeface="微软雅黑" panose="020B0503020204020204" charset="-122"/>
                <a:cs typeface="微软雅黑" panose="020B0503020204020204" charset="-122"/>
              </a:rPr>
              <a:t>服务</a:t>
            </a:r>
            <a:endParaRPr sz="1400" dirty="0">
              <a:latin typeface="微软雅黑" panose="020B0503020204020204" charset="-122"/>
              <a:ea typeface="微软雅黑" panose="020B0503020204020204" charset="-122"/>
              <a:cs typeface="微软雅黑" panose="020B0503020204020204" charset="-122"/>
            </a:endParaRPr>
          </a:p>
        </p:txBody>
      </p:sp>
      <p:sp>
        <p:nvSpPr>
          <p:cNvPr id="7" name="object 7"/>
          <p:cNvSpPr txBox="1"/>
          <p:nvPr/>
        </p:nvSpPr>
        <p:spPr>
          <a:xfrm>
            <a:off x="846744" y="2828857"/>
            <a:ext cx="897254" cy="480695"/>
          </a:xfrm>
          <a:prstGeom prst="rect">
            <a:avLst/>
          </a:prstGeom>
          <a:solidFill>
            <a:srgbClr val="0066CC"/>
          </a:solidFill>
          <a:ln w="9525">
            <a:solidFill>
              <a:srgbClr val="000000"/>
            </a:solidFill>
          </a:ln>
        </p:spPr>
        <p:txBody>
          <a:bodyPr vert="horz" wrap="square" lIns="0" tIns="50764" rIns="0" bIns="0" rtlCol="0">
            <a:spAutoFit/>
          </a:bodyPr>
          <a:lstStyle/>
          <a:p>
            <a:pPr marL="72390" marR="104140">
              <a:lnSpc>
                <a:spcPct val="100000"/>
              </a:lnSpc>
              <a:spcBef>
                <a:spcPts val="400"/>
              </a:spcBef>
            </a:pPr>
            <a:r>
              <a:rPr sz="1400" dirty="0">
                <a:latin typeface="微软雅黑" panose="020B0503020204020204" charset="-122"/>
                <a:ea typeface="微软雅黑" panose="020B0503020204020204" charset="-122"/>
                <a:cs typeface="微软雅黑" panose="020B0503020204020204" charset="-122"/>
              </a:rPr>
              <a:t>零件及 应用产品</a:t>
            </a:r>
            <a:endParaRPr sz="1400" dirty="0">
              <a:latin typeface="微软雅黑" panose="020B0503020204020204" charset="-122"/>
              <a:ea typeface="微软雅黑" panose="020B0503020204020204" charset="-122"/>
              <a:cs typeface="微软雅黑" panose="020B0503020204020204" charset="-122"/>
            </a:endParaRPr>
          </a:p>
        </p:txBody>
      </p:sp>
      <p:sp>
        <p:nvSpPr>
          <p:cNvPr id="8" name="object 8"/>
          <p:cNvSpPr txBox="1"/>
          <p:nvPr/>
        </p:nvSpPr>
        <p:spPr>
          <a:xfrm>
            <a:off x="846744" y="3593364"/>
            <a:ext cx="897254" cy="372110"/>
          </a:xfrm>
          <a:prstGeom prst="rect">
            <a:avLst/>
          </a:prstGeom>
          <a:solidFill>
            <a:srgbClr val="0066CC"/>
          </a:solidFill>
          <a:ln w="9525">
            <a:solidFill>
              <a:srgbClr val="000000"/>
            </a:solidFill>
          </a:ln>
        </p:spPr>
        <p:txBody>
          <a:bodyPr vert="horz" wrap="square" lIns="0" tIns="157368" rIns="0" bIns="0" rtlCol="0">
            <a:spAutoFit/>
          </a:bodyPr>
          <a:lstStyle/>
          <a:p>
            <a:pPr marL="72390">
              <a:lnSpc>
                <a:spcPct val="100000"/>
              </a:lnSpc>
              <a:spcBef>
                <a:spcPts val="1240"/>
              </a:spcBef>
            </a:pPr>
            <a:r>
              <a:rPr sz="1400" dirty="0">
                <a:latin typeface="微软雅黑" panose="020B0503020204020204" charset="-122"/>
                <a:ea typeface="微软雅黑" panose="020B0503020204020204" charset="-122"/>
                <a:cs typeface="微软雅黑" panose="020B0503020204020204" charset="-122"/>
              </a:rPr>
              <a:t>融资</a:t>
            </a:r>
            <a:endParaRPr sz="1400" dirty="0">
              <a:latin typeface="微软雅黑" panose="020B0503020204020204" charset="-122"/>
              <a:ea typeface="微软雅黑" panose="020B0503020204020204" charset="-122"/>
              <a:cs typeface="微软雅黑" panose="020B0503020204020204" charset="-122"/>
            </a:endParaRPr>
          </a:p>
        </p:txBody>
      </p:sp>
      <p:sp>
        <p:nvSpPr>
          <p:cNvPr id="9" name="object 9"/>
          <p:cNvSpPr txBox="1"/>
          <p:nvPr/>
        </p:nvSpPr>
        <p:spPr>
          <a:xfrm>
            <a:off x="846744" y="1292230"/>
            <a:ext cx="897254" cy="370840"/>
          </a:xfrm>
          <a:prstGeom prst="rect">
            <a:avLst/>
          </a:prstGeom>
          <a:solidFill>
            <a:srgbClr val="0066CC"/>
          </a:solidFill>
          <a:ln w="9525">
            <a:solidFill>
              <a:srgbClr val="000000"/>
            </a:solidFill>
          </a:ln>
        </p:spPr>
        <p:txBody>
          <a:bodyPr vert="horz" wrap="square" lIns="0" tIns="156099" rIns="0" bIns="0" rtlCol="0">
            <a:spAutoFit/>
          </a:bodyPr>
          <a:lstStyle/>
          <a:p>
            <a:pPr marL="72390">
              <a:lnSpc>
                <a:spcPct val="100000"/>
              </a:lnSpc>
              <a:spcBef>
                <a:spcPts val="1230"/>
              </a:spcBef>
            </a:pPr>
            <a:r>
              <a:rPr sz="1400" dirty="0">
                <a:latin typeface="微软雅黑" panose="020B0503020204020204" charset="-122"/>
                <a:ea typeface="微软雅黑" panose="020B0503020204020204" charset="-122"/>
                <a:cs typeface="微软雅黑" panose="020B0503020204020204" charset="-122"/>
              </a:rPr>
              <a:t>新机销售</a:t>
            </a:r>
            <a:endParaRPr sz="1400" dirty="0">
              <a:latin typeface="微软雅黑" panose="020B0503020204020204" charset="-122"/>
              <a:ea typeface="微软雅黑" panose="020B0503020204020204" charset="-122"/>
              <a:cs typeface="微软雅黑" panose="020B0503020204020204" charset="-122"/>
            </a:endParaRPr>
          </a:p>
        </p:txBody>
      </p:sp>
      <p:sp>
        <p:nvSpPr>
          <p:cNvPr id="10" name="object 10"/>
          <p:cNvSpPr txBox="1"/>
          <p:nvPr/>
        </p:nvSpPr>
        <p:spPr>
          <a:xfrm>
            <a:off x="2740115" y="1986428"/>
            <a:ext cx="2172700" cy="227965"/>
          </a:xfrm>
          <a:prstGeom prst="rect">
            <a:avLst/>
          </a:prstGeom>
        </p:spPr>
        <p:txBody>
          <a:bodyPr vert="horz" wrap="square" lIns="0" tIns="13325" rIns="0" bIns="0" rtlCol="0">
            <a:spAutoFit/>
          </a:bodyPr>
          <a:lstStyle/>
          <a:p>
            <a:pPr marL="204470" indent="-192405">
              <a:lnSpc>
                <a:spcPct val="100000"/>
              </a:lnSpc>
              <a:spcBef>
                <a:spcPts val="105"/>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客户要</a:t>
            </a:r>
            <a:r>
              <a:rPr sz="1400" spc="-15" dirty="0">
                <a:latin typeface="微软雅黑" panose="020B0503020204020204" charset="-122"/>
                <a:ea typeface="微软雅黑" panose="020B0503020204020204" charset="-122"/>
                <a:cs typeface="微软雅黑" panose="020B0503020204020204" charset="-122"/>
              </a:rPr>
              <a:t>求</a:t>
            </a:r>
            <a:r>
              <a:rPr sz="1400" dirty="0">
                <a:latin typeface="微软雅黑" panose="020B0503020204020204" charset="-122"/>
                <a:ea typeface="微软雅黑" panose="020B0503020204020204" charset="-122"/>
                <a:cs typeface="微软雅黑" panose="020B0503020204020204" charset="-122"/>
              </a:rPr>
              <a:t>廉价</a:t>
            </a:r>
            <a:r>
              <a:rPr sz="1400" spc="-15" dirty="0">
                <a:latin typeface="微软雅黑" panose="020B0503020204020204" charset="-122"/>
                <a:ea typeface="微软雅黑" panose="020B0503020204020204" charset="-122"/>
                <a:cs typeface="微软雅黑" panose="020B0503020204020204" charset="-122"/>
              </a:rPr>
              <a:t>提供</a:t>
            </a:r>
            <a:r>
              <a:rPr sz="1400" dirty="0">
                <a:latin typeface="微软雅黑" panose="020B0503020204020204" charset="-122"/>
                <a:ea typeface="微软雅黑" panose="020B0503020204020204" charset="-122"/>
                <a:cs typeface="微软雅黑" panose="020B0503020204020204" charset="-122"/>
              </a:rPr>
              <a:t>服务，</a:t>
            </a:r>
            <a:endParaRPr sz="1400">
              <a:latin typeface="微软雅黑" panose="020B0503020204020204" charset="-122"/>
              <a:ea typeface="微软雅黑" panose="020B0503020204020204" charset="-122"/>
              <a:cs typeface="微软雅黑" panose="020B0503020204020204" charset="-122"/>
            </a:endParaRPr>
          </a:p>
        </p:txBody>
      </p:sp>
      <p:sp>
        <p:nvSpPr>
          <p:cNvPr id="11" name="object 11"/>
          <p:cNvSpPr txBox="1"/>
          <p:nvPr/>
        </p:nvSpPr>
        <p:spPr>
          <a:xfrm>
            <a:off x="2932002" y="2201160"/>
            <a:ext cx="1629525" cy="227965"/>
          </a:xfrm>
          <a:prstGeom prst="rect">
            <a:avLst/>
          </a:prstGeom>
        </p:spPr>
        <p:txBody>
          <a:bodyPr vert="horz" wrap="square" lIns="0" tIns="13325" rIns="0" bIns="0" rtlCol="0">
            <a:spAutoFit/>
          </a:bodyPr>
          <a:lstStyle/>
          <a:p>
            <a:pPr marL="12700">
              <a:lnSpc>
                <a:spcPct val="100000"/>
              </a:lnSpc>
              <a:spcBef>
                <a:spcPts val="105"/>
              </a:spcBef>
            </a:pPr>
            <a:r>
              <a:rPr sz="1400" dirty="0">
                <a:latin typeface="微软雅黑" panose="020B0503020204020204" charset="-122"/>
                <a:ea typeface="微软雅黑" panose="020B0503020204020204" charset="-122"/>
                <a:cs typeface="微软雅黑" panose="020B0503020204020204" charset="-122"/>
              </a:rPr>
              <a:t>导致服务部门负利润</a:t>
            </a:r>
            <a:endParaRPr sz="1400" dirty="0">
              <a:latin typeface="微软雅黑" panose="020B0503020204020204" charset="-122"/>
              <a:ea typeface="微软雅黑" panose="020B0503020204020204" charset="-122"/>
              <a:cs typeface="微软雅黑" panose="020B0503020204020204" charset="-122"/>
            </a:endParaRPr>
          </a:p>
        </p:txBody>
      </p:sp>
      <p:sp>
        <p:nvSpPr>
          <p:cNvPr id="12" name="object 12"/>
          <p:cNvSpPr/>
          <p:nvPr/>
        </p:nvSpPr>
        <p:spPr>
          <a:xfrm>
            <a:off x="2182345" y="4177581"/>
            <a:ext cx="0" cy="215747"/>
          </a:xfrm>
          <a:custGeom>
            <a:avLst/>
            <a:gdLst/>
            <a:ahLst/>
            <a:cxnLst/>
            <a:rect l="l" t="t" r="r" b="b"/>
            <a:pathLst>
              <a:path h="215900">
                <a:moveTo>
                  <a:pt x="0" y="0"/>
                </a:moveTo>
                <a:lnTo>
                  <a:pt x="0" y="215468"/>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1991980" y="3397786"/>
            <a:ext cx="0" cy="215747"/>
          </a:xfrm>
          <a:custGeom>
            <a:avLst/>
            <a:gdLst/>
            <a:ahLst/>
            <a:cxnLst/>
            <a:rect l="l" t="t" r="r" b="b"/>
            <a:pathLst>
              <a:path h="215900">
                <a:moveTo>
                  <a:pt x="0" y="0"/>
                </a:moveTo>
                <a:lnTo>
                  <a:pt x="0" y="215527"/>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1915834" y="2603465"/>
            <a:ext cx="0" cy="219554"/>
          </a:xfrm>
          <a:custGeom>
            <a:avLst/>
            <a:gdLst/>
            <a:ahLst/>
            <a:cxnLst/>
            <a:rect l="l" t="t" r="r" b="b"/>
            <a:pathLst>
              <a:path h="219710">
                <a:moveTo>
                  <a:pt x="0" y="0"/>
                </a:moveTo>
                <a:lnTo>
                  <a:pt x="0" y="219456"/>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2601149" y="1828504"/>
            <a:ext cx="0" cy="215113"/>
          </a:xfrm>
          <a:custGeom>
            <a:avLst/>
            <a:gdLst/>
            <a:ahLst/>
            <a:cxnLst/>
            <a:rect l="l" t="t" r="r" b="b"/>
            <a:pathLst>
              <a:path h="215264">
                <a:moveTo>
                  <a:pt x="0" y="0"/>
                </a:moveTo>
                <a:lnTo>
                  <a:pt x="0" y="214677"/>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p:nvPr/>
        </p:nvSpPr>
        <p:spPr>
          <a:xfrm>
            <a:off x="2225926" y="1257518"/>
            <a:ext cx="380730" cy="571095"/>
          </a:xfrm>
          <a:custGeom>
            <a:avLst/>
            <a:gdLst/>
            <a:ahLst/>
            <a:cxnLst/>
            <a:rect l="l" t="t" r="r" b="b"/>
            <a:pathLst>
              <a:path w="381000" h="571500">
                <a:moveTo>
                  <a:pt x="0" y="571391"/>
                </a:moveTo>
                <a:lnTo>
                  <a:pt x="380840" y="571391"/>
                </a:lnTo>
                <a:lnTo>
                  <a:pt x="380840" y="0"/>
                </a:lnTo>
                <a:lnTo>
                  <a:pt x="0" y="0"/>
                </a:lnTo>
                <a:lnTo>
                  <a:pt x="0" y="571391"/>
                </a:lnTo>
                <a:close/>
              </a:path>
            </a:pathLst>
          </a:custGeom>
          <a:solidFill>
            <a:srgbClr val="D0D0D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p:nvPr/>
        </p:nvSpPr>
        <p:spPr>
          <a:xfrm>
            <a:off x="2225926" y="1257518"/>
            <a:ext cx="380730" cy="571095"/>
          </a:xfrm>
          <a:custGeom>
            <a:avLst/>
            <a:gdLst/>
            <a:ahLst/>
            <a:cxnLst/>
            <a:rect l="l" t="t" r="r" b="b"/>
            <a:pathLst>
              <a:path w="381000" h="571500">
                <a:moveTo>
                  <a:pt x="0" y="571391"/>
                </a:moveTo>
                <a:lnTo>
                  <a:pt x="380840" y="571391"/>
                </a:lnTo>
                <a:lnTo>
                  <a:pt x="380840" y="0"/>
                </a:lnTo>
                <a:lnTo>
                  <a:pt x="0" y="0"/>
                </a:lnTo>
                <a:lnTo>
                  <a:pt x="0" y="571391"/>
                </a:lnTo>
                <a:close/>
              </a:path>
            </a:pathLst>
          </a:custGeom>
          <a:ln w="9469">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p:nvPr/>
        </p:nvSpPr>
        <p:spPr>
          <a:xfrm>
            <a:off x="2225926" y="2047030"/>
            <a:ext cx="380730" cy="561577"/>
          </a:xfrm>
          <a:custGeom>
            <a:avLst/>
            <a:gdLst/>
            <a:ahLst/>
            <a:cxnLst/>
            <a:rect l="l" t="t" r="r" b="b"/>
            <a:pathLst>
              <a:path w="381000" h="561975">
                <a:moveTo>
                  <a:pt x="0" y="561578"/>
                </a:moveTo>
                <a:lnTo>
                  <a:pt x="380840" y="561578"/>
                </a:lnTo>
                <a:lnTo>
                  <a:pt x="380840" y="0"/>
                </a:lnTo>
                <a:lnTo>
                  <a:pt x="0" y="0"/>
                </a:lnTo>
                <a:lnTo>
                  <a:pt x="0" y="561578"/>
                </a:lnTo>
                <a:close/>
              </a:path>
            </a:pathLst>
          </a:custGeom>
          <a:solidFill>
            <a:srgbClr val="D0D0D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p:nvPr/>
        </p:nvSpPr>
        <p:spPr>
          <a:xfrm>
            <a:off x="2225926" y="2047030"/>
            <a:ext cx="380730" cy="561577"/>
          </a:xfrm>
          <a:custGeom>
            <a:avLst/>
            <a:gdLst/>
            <a:ahLst/>
            <a:cxnLst/>
            <a:rect l="l" t="t" r="r" b="b"/>
            <a:pathLst>
              <a:path w="381000" h="561975">
                <a:moveTo>
                  <a:pt x="0" y="561578"/>
                </a:moveTo>
                <a:lnTo>
                  <a:pt x="380840" y="561578"/>
                </a:lnTo>
                <a:lnTo>
                  <a:pt x="380840" y="0"/>
                </a:lnTo>
                <a:lnTo>
                  <a:pt x="0" y="0"/>
                </a:lnTo>
                <a:lnTo>
                  <a:pt x="0" y="561578"/>
                </a:lnTo>
                <a:close/>
              </a:path>
            </a:pathLst>
          </a:custGeom>
          <a:ln w="9470">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p:nvPr/>
        </p:nvSpPr>
        <p:spPr>
          <a:xfrm>
            <a:off x="1959401" y="2827116"/>
            <a:ext cx="0" cy="571095"/>
          </a:xfrm>
          <a:custGeom>
            <a:avLst/>
            <a:gdLst/>
            <a:ahLst/>
            <a:cxnLst/>
            <a:rect l="l" t="t" r="r" b="b"/>
            <a:pathLst>
              <a:path h="571500">
                <a:moveTo>
                  <a:pt x="0" y="0"/>
                </a:moveTo>
                <a:lnTo>
                  <a:pt x="0" y="571075"/>
                </a:lnTo>
              </a:path>
            </a:pathLst>
          </a:custGeom>
          <a:ln w="76294">
            <a:solidFill>
              <a:srgbClr val="D0D0D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1" name="object 21"/>
          <p:cNvSpPr/>
          <p:nvPr/>
        </p:nvSpPr>
        <p:spPr>
          <a:xfrm>
            <a:off x="1921280" y="2827116"/>
            <a:ext cx="76781" cy="571095"/>
          </a:xfrm>
          <a:custGeom>
            <a:avLst/>
            <a:gdLst/>
            <a:ahLst/>
            <a:cxnLst/>
            <a:rect l="l" t="t" r="r" b="b"/>
            <a:pathLst>
              <a:path w="76835" h="571500">
                <a:moveTo>
                  <a:pt x="0" y="571075"/>
                </a:moveTo>
                <a:lnTo>
                  <a:pt x="76294" y="571075"/>
                </a:lnTo>
                <a:lnTo>
                  <a:pt x="76294" y="0"/>
                </a:lnTo>
                <a:lnTo>
                  <a:pt x="0" y="0"/>
                </a:lnTo>
                <a:lnTo>
                  <a:pt x="0" y="571075"/>
                </a:lnTo>
                <a:close/>
              </a:path>
            </a:pathLst>
          </a:custGeom>
          <a:ln w="9458">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1997521" y="3616400"/>
            <a:ext cx="190365" cy="561577"/>
          </a:xfrm>
          <a:custGeom>
            <a:avLst/>
            <a:gdLst/>
            <a:ahLst/>
            <a:cxnLst/>
            <a:rect l="l" t="t" r="r" b="b"/>
            <a:pathLst>
              <a:path w="190500" h="561975">
                <a:moveTo>
                  <a:pt x="0" y="561578"/>
                </a:moveTo>
                <a:lnTo>
                  <a:pt x="190420" y="561578"/>
                </a:lnTo>
                <a:lnTo>
                  <a:pt x="190420" y="0"/>
                </a:lnTo>
                <a:lnTo>
                  <a:pt x="0" y="0"/>
                </a:lnTo>
                <a:lnTo>
                  <a:pt x="0" y="561578"/>
                </a:lnTo>
                <a:close/>
              </a:path>
            </a:pathLst>
          </a:custGeom>
          <a:solidFill>
            <a:srgbClr val="D0D0D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p:nvPr/>
        </p:nvSpPr>
        <p:spPr>
          <a:xfrm>
            <a:off x="1997521" y="3616400"/>
            <a:ext cx="190365" cy="561577"/>
          </a:xfrm>
          <a:custGeom>
            <a:avLst/>
            <a:gdLst/>
            <a:ahLst/>
            <a:cxnLst/>
            <a:rect l="l" t="t" r="r" b="b"/>
            <a:pathLst>
              <a:path w="190500" h="561975">
                <a:moveTo>
                  <a:pt x="0" y="561578"/>
                </a:moveTo>
                <a:lnTo>
                  <a:pt x="190420" y="561578"/>
                </a:lnTo>
                <a:lnTo>
                  <a:pt x="190420" y="0"/>
                </a:lnTo>
                <a:lnTo>
                  <a:pt x="0" y="0"/>
                </a:lnTo>
                <a:lnTo>
                  <a:pt x="0" y="561578"/>
                </a:lnTo>
                <a:close/>
              </a:path>
            </a:pathLst>
          </a:custGeom>
          <a:ln w="9461">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p:nvPr/>
        </p:nvSpPr>
        <p:spPr>
          <a:xfrm>
            <a:off x="2206866" y="4396485"/>
            <a:ext cx="0" cy="571095"/>
          </a:xfrm>
          <a:custGeom>
            <a:avLst/>
            <a:gdLst/>
            <a:ahLst/>
            <a:cxnLst/>
            <a:rect l="l" t="t" r="r" b="b"/>
            <a:pathLst>
              <a:path h="571500">
                <a:moveTo>
                  <a:pt x="0" y="0"/>
                </a:moveTo>
                <a:lnTo>
                  <a:pt x="0" y="571075"/>
                </a:lnTo>
              </a:path>
            </a:pathLst>
          </a:custGeom>
          <a:ln w="38147">
            <a:solidFill>
              <a:srgbClr val="1F1F7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5" name="object 25"/>
          <p:cNvSpPr/>
          <p:nvPr/>
        </p:nvSpPr>
        <p:spPr>
          <a:xfrm>
            <a:off x="2187806" y="4396485"/>
            <a:ext cx="38708" cy="571095"/>
          </a:xfrm>
          <a:custGeom>
            <a:avLst/>
            <a:gdLst/>
            <a:ahLst/>
            <a:cxnLst/>
            <a:rect l="l" t="t" r="r" b="b"/>
            <a:pathLst>
              <a:path w="38735" h="571500">
                <a:moveTo>
                  <a:pt x="0" y="571075"/>
                </a:moveTo>
                <a:lnTo>
                  <a:pt x="38147" y="571075"/>
                </a:lnTo>
                <a:lnTo>
                  <a:pt x="38147" y="0"/>
                </a:lnTo>
                <a:lnTo>
                  <a:pt x="0" y="0"/>
                </a:lnTo>
                <a:lnTo>
                  <a:pt x="0" y="571075"/>
                </a:lnTo>
                <a:close/>
              </a:path>
            </a:pathLst>
          </a:custGeom>
          <a:ln w="9458">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6" name="object 26"/>
          <p:cNvSpPr/>
          <p:nvPr/>
        </p:nvSpPr>
        <p:spPr>
          <a:xfrm>
            <a:off x="1921280" y="2047030"/>
            <a:ext cx="305219" cy="561577"/>
          </a:xfrm>
          <a:custGeom>
            <a:avLst/>
            <a:gdLst/>
            <a:ahLst/>
            <a:cxnLst/>
            <a:rect l="l" t="t" r="r" b="b"/>
            <a:pathLst>
              <a:path w="305435" h="561975">
                <a:moveTo>
                  <a:pt x="0" y="561578"/>
                </a:moveTo>
                <a:lnTo>
                  <a:pt x="304861" y="561578"/>
                </a:lnTo>
                <a:lnTo>
                  <a:pt x="304861" y="0"/>
                </a:lnTo>
                <a:lnTo>
                  <a:pt x="0" y="0"/>
                </a:lnTo>
                <a:lnTo>
                  <a:pt x="0" y="561578"/>
                </a:lnTo>
                <a:close/>
              </a:path>
            </a:pathLst>
          </a:custGeom>
          <a:solidFill>
            <a:srgbClr val="D0D0D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7" name="object 27"/>
          <p:cNvSpPr/>
          <p:nvPr/>
        </p:nvSpPr>
        <p:spPr>
          <a:xfrm>
            <a:off x="1921280" y="2047030"/>
            <a:ext cx="305219" cy="561577"/>
          </a:xfrm>
          <a:custGeom>
            <a:avLst/>
            <a:gdLst/>
            <a:ahLst/>
            <a:cxnLst/>
            <a:rect l="l" t="t" r="r" b="b"/>
            <a:pathLst>
              <a:path w="305435" h="561975">
                <a:moveTo>
                  <a:pt x="0" y="561578"/>
                </a:moveTo>
                <a:lnTo>
                  <a:pt x="304861" y="561578"/>
                </a:lnTo>
                <a:lnTo>
                  <a:pt x="304861" y="0"/>
                </a:lnTo>
                <a:lnTo>
                  <a:pt x="0" y="0"/>
                </a:lnTo>
                <a:lnTo>
                  <a:pt x="0" y="561578"/>
                </a:lnTo>
                <a:close/>
              </a:path>
            </a:pathLst>
          </a:custGeom>
          <a:ln w="9466">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p:nvPr/>
        </p:nvSpPr>
        <p:spPr>
          <a:xfrm>
            <a:off x="2221201" y="1148381"/>
            <a:ext cx="0" cy="899792"/>
          </a:xfrm>
          <a:custGeom>
            <a:avLst/>
            <a:gdLst/>
            <a:ahLst/>
            <a:cxnLst/>
            <a:rect l="l" t="t" r="r" b="b"/>
            <a:pathLst>
              <a:path h="900430">
                <a:moveTo>
                  <a:pt x="0" y="0"/>
                </a:moveTo>
                <a:lnTo>
                  <a:pt x="0" y="899854"/>
                </a:lnTo>
              </a:path>
            </a:pathLst>
          </a:custGeom>
          <a:ln w="28689">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9" name="object 29"/>
          <p:cNvSpPr/>
          <p:nvPr/>
        </p:nvSpPr>
        <p:spPr>
          <a:xfrm>
            <a:off x="2221201" y="2598896"/>
            <a:ext cx="0" cy="2477919"/>
          </a:xfrm>
          <a:custGeom>
            <a:avLst/>
            <a:gdLst/>
            <a:ahLst/>
            <a:cxnLst/>
            <a:rect l="l" t="t" r="r" b="b"/>
            <a:pathLst>
              <a:path h="2479675">
                <a:moveTo>
                  <a:pt x="0" y="0"/>
                </a:moveTo>
                <a:lnTo>
                  <a:pt x="0" y="2479465"/>
                </a:lnTo>
              </a:path>
            </a:pathLst>
          </a:custGeom>
          <a:ln w="28689">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0" name="object 30"/>
          <p:cNvSpPr/>
          <p:nvPr/>
        </p:nvSpPr>
        <p:spPr>
          <a:xfrm>
            <a:off x="2221180" y="2047599"/>
            <a:ext cx="0" cy="551424"/>
          </a:xfrm>
          <a:custGeom>
            <a:avLst/>
            <a:gdLst/>
            <a:ahLst/>
            <a:cxnLst/>
            <a:rect l="l" t="t" r="r" b="b"/>
            <a:pathLst>
              <a:path h="551814">
                <a:moveTo>
                  <a:pt x="0" y="0"/>
                </a:moveTo>
                <a:lnTo>
                  <a:pt x="0" y="551688"/>
                </a:lnTo>
              </a:path>
            </a:pathLst>
          </a:custGeom>
          <a:ln w="53339">
            <a:solidFill>
              <a:srgbClr val="D0D0D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1" name="object 31"/>
          <p:cNvSpPr txBox="1"/>
          <p:nvPr/>
        </p:nvSpPr>
        <p:spPr>
          <a:xfrm>
            <a:off x="1802377" y="782179"/>
            <a:ext cx="2976675" cy="227965"/>
          </a:xfrm>
          <a:prstGeom prst="rect">
            <a:avLst/>
          </a:prstGeom>
        </p:spPr>
        <p:txBody>
          <a:bodyPr vert="horz" wrap="square" lIns="0" tIns="13325" rIns="0" bIns="0" rtlCol="0">
            <a:spAutoFit/>
          </a:bodyPr>
          <a:lstStyle/>
          <a:p>
            <a:pPr marL="12700">
              <a:lnSpc>
                <a:spcPct val="100000"/>
              </a:lnSpc>
              <a:spcBef>
                <a:spcPts val="105"/>
              </a:spcBef>
              <a:tabLst>
                <a:tab pos="192405" algn="l"/>
                <a:tab pos="710565" algn="l"/>
                <a:tab pos="2965450" algn="l"/>
              </a:tabLst>
            </a:pPr>
            <a:r>
              <a:rPr sz="1400" b="1" u="sng" spc="-1405" dirty="0">
                <a:uFill>
                  <a:solidFill>
                    <a:srgbClr val="000000"/>
                  </a:solidFill>
                </a:uFill>
                <a:latin typeface="微软雅黑" panose="020B0503020204020204" charset="-122"/>
                <a:ea typeface="微软雅黑" panose="020B0503020204020204" charset="-122"/>
                <a:cs typeface="微软雅黑" panose="020B0503020204020204" charset="-122"/>
              </a:rPr>
              <a:t>客</a:t>
            </a:r>
            <a:r>
              <a:rPr sz="1400" b="1" u="sng" dirty="0">
                <a:uFill>
                  <a:solidFill>
                    <a:srgbClr val="000000"/>
                  </a:solidFill>
                </a:uFill>
                <a:latin typeface="微软雅黑" panose="020B0503020204020204" charset="-122"/>
                <a:ea typeface="微软雅黑" panose="020B0503020204020204" charset="-122"/>
                <a:cs typeface="微软雅黑" panose="020B0503020204020204" charset="-122"/>
              </a:rPr>
              <a:t> </a:t>
            </a:r>
            <a:r>
              <a:rPr sz="1400" b="1" dirty="0">
                <a:latin typeface="微软雅黑" panose="020B0503020204020204" charset="-122"/>
                <a:ea typeface="微软雅黑" panose="020B0503020204020204" charset="-122"/>
                <a:cs typeface="微软雅黑" panose="020B0503020204020204" charset="-122"/>
              </a:rPr>
              <a:t>	</a:t>
            </a:r>
            <a:r>
              <a:rPr sz="1400" b="1" u="sng" spc="320" dirty="0">
                <a:uFill>
                  <a:solidFill>
                    <a:srgbClr val="000000"/>
                  </a:solidFill>
                </a:uFill>
                <a:latin typeface="微软雅黑" panose="020B0503020204020204" charset="-122"/>
                <a:ea typeface="微软雅黑" panose="020B0503020204020204" charset="-122"/>
                <a:cs typeface="微软雅黑" panose="020B0503020204020204" charset="-122"/>
              </a:rPr>
              <a:t>户</a:t>
            </a:r>
            <a:r>
              <a:rPr sz="1400" b="1" u="sng" dirty="0">
                <a:uFill>
                  <a:solidFill>
                    <a:srgbClr val="000000"/>
                  </a:solidFill>
                </a:uFill>
                <a:latin typeface="微软雅黑" panose="020B0503020204020204" charset="-122"/>
                <a:ea typeface="微软雅黑" panose="020B0503020204020204" charset="-122"/>
                <a:cs typeface="微软雅黑" panose="020B0503020204020204" charset="-122"/>
              </a:rPr>
              <a:t>A	</a:t>
            </a:r>
            <a:r>
              <a:rPr sz="1400" b="1" u="sng" spc="5" dirty="0">
                <a:uFill>
                  <a:solidFill>
                    <a:srgbClr val="000000"/>
                  </a:solidFill>
                </a:uFill>
                <a:latin typeface="微软雅黑" panose="020B0503020204020204" charset="-122"/>
                <a:ea typeface="微软雅黑" panose="020B0503020204020204" charset="-122"/>
                <a:cs typeface="微软雅黑" panose="020B0503020204020204" charset="-122"/>
              </a:rPr>
              <a:t>(</a:t>
            </a:r>
            <a:r>
              <a:rPr sz="1400" b="1" u="sng" spc="10" dirty="0">
                <a:uFill>
                  <a:solidFill>
                    <a:srgbClr val="000000"/>
                  </a:solidFill>
                </a:uFill>
                <a:latin typeface="微软雅黑" panose="020B0503020204020204" charset="-122"/>
                <a:ea typeface="微软雅黑" panose="020B0503020204020204" charset="-122"/>
                <a:cs typeface="微软雅黑" panose="020B0503020204020204" charset="-122"/>
              </a:rPr>
              <a:t>获利</a:t>
            </a:r>
            <a:r>
              <a:rPr sz="1400" b="1" u="sng" dirty="0">
                <a:uFill>
                  <a:solidFill>
                    <a:srgbClr val="000000"/>
                  </a:solidFill>
                </a:uFill>
                <a:latin typeface="微软雅黑" panose="020B0503020204020204" charset="-122"/>
                <a:ea typeface="微软雅黑" panose="020B0503020204020204" charset="-122"/>
                <a:cs typeface="微软雅黑" panose="020B0503020204020204" charset="-122"/>
              </a:rPr>
              <a:t>率</a:t>
            </a:r>
            <a:r>
              <a:rPr sz="1400" b="1" u="sng" spc="-15" dirty="0">
                <a:uFill>
                  <a:solidFill>
                    <a:srgbClr val="000000"/>
                  </a:solidFill>
                </a:uFill>
                <a:latin typeface="微软雅黑" panose="020B0503020204020204" charset="-122"/>
                <a:ea typeface="微软雅黑" panose="020B0503020204020204" charset="-122"/>
                <a:cs typeface="微软雅黑" panose="020B0503020204020204" charset="-122"/>
              </a:rPr>
              <a:t>低</a:t>
            </a:r>
            <a:r>
              <a:rPr sz="1400" b="1" u="sng" spc="-5" dirty="0">
                <a:uFill>
                  <a:solidFill>
                    <a:srgbClr val="000000"/>
                  </a:solidFill>
                </a:uFill>
                <a:latin typeface="微软雅黑" panose="020B0503020204020204" charset="-122"/>
                <a:ea typeface="微软雅黑" panose="020B0503020204020204" charset="-122"/>
                <a:cs typeface="微软雅黑" panose="020B0503020204020204" charset="-122"/>
              </a:rPr>
              <a:t>)</a:t>
            </a:r>
            <a:r>
              <a:rPr sz="1400" b="1" u="sng" dirty="0">
                <a:uFill>
                  <a:solidFill>
                    <a:srgbClr val="000000"/>
                  </a:solidFill>
                </a:uFill>
                <a:latin typeface="微软雅黑" panose="020B0503020204020204" charset="-122"/>
                <a:ea typeface="微软雅黑" panose="020B0503020204020204" charset="-122"/>
                <a:cs typeface="微软雅黑" panose="020B0503020204020204" charset="-122"/>
              </a:rPr>
              <a:t>	</a:t>
            </a:r>
            <a:endParaRPr sz="1400">
              <a:latin typeface="微软雅黑" panose="020B0503020204020204" charset="-122"/>
              <a:ea typeface="微软雅黑" panose="020B0503020204020204" charset="-122"/>
              <a:cs typeface="微软雅黑" panose="020B0503020204020204" charset="-122"/>
            </a:endParaRPr>
          </a:p>
        </p:txBody>
      </p:sp>
      <p:sp>
        <p:nvSpPr>
          <p:cNvPr id="32" name="object 32"/>
          <p:cNvSpPr txBox="1"/>
          <p:nvPr/>
        </p:nvSpPr>
        <p:spPr>
          <a:xfrm>
            <a:off x="5111936" y="782179"/>
            <a:ext cx="3625185" cy="227965"/>
          </a:xfrm>
          <a:prstGeom prst="rect">
            <a:avLst/>
          </a:prstGeom>
        </p:spPr>
        <p:txBody>
          <a:bodyPr vert="horz" wrap="square" lIns="0" tIns="13325" rIns="0" bIns="0" rtlCol="0">
            <a:spAutoFit/>
          </a:bodyPr>
          <a:lstStyle/>
          <a:p>
            <a:pPr marL="12700">
              <a:lnSpc>
                <a:spcPct val="100000"/>
              </a:lnSpc>
              <a:spcBef>
                <a:spcPts val="105"/>
              </a:spcBef>
              <a:tabLst>
                <a:tab pos="3614420" algn="l"/>
              </a:tabLst>
            </a:pPr>
            <a:r>
              <a:rPr sz="1400" b="1" u="sng" spc="-350" dirty="0">
                <a:uFill>
                  <a:solidFill>
                    <a:srgbClr val="000000"/>
                  </a:solidFill>
                </a:uFill>
                <a:latin typeface="微软雅黑" panose="020B0503020204020204" charset="-122"/>
                <a:ea typeface="微软雅黑" panose="020B0503020204020204" charset="-122"/>
                <a:cs typeface="微软雅黑" panose="020B0503020204020204" charset="-122"/>
              </a:rPr>
              <a:t> </a:t>
            </a:r>
            <a:r>
              <a:rPr sz="1400" b="1" u="sng" spc="10" dirty="0">
                <a:uFill>
                  <a:solidFill>
                    <a:srgbClr val="000000"/>
                  </a:solidFill>
                </a:uFill>
                <a:latin typeface="微软雅黑" panose="020B0503020204020204" charset="-122"/>
                <a:ea typeface="微软雅黑" panose="020B0503020204020204" charset="-122"/>
                <a:cs typeface="微软雅黑" panose="020B0503020204020204" charset="-122"/>
              </a:rPr>
              <a:t>客</a:t>
            </a:r>
            <a:r>
              <a:rPr sz="1400" b="1" u="sng" spc="320" dirty="0">
                <a:uFill>
                  <a:solidFill>
                    <a:srgbClr val="000000"/>
                  </a:solidFill>
                </a:uFill>
                <a:latin typeface="微软雅黑" panose="020B0503020204020204" charset="-122"/>
                <a:ea typeface="微软雅黑" panose="020B0503020204020204" charset="-122"/>
                <a:cs typeface="微软雅黑" panose="020B0503020204020204" charset="-122"/>
              </a:rPr>
              <a:t>户</a:t>
            </a:r>
            <a:r>
              <a:rPr sz="1400" b="1" u="sng" dirty="0">
                <a:uFill>
                  <a:solidFill>
                    <a:srgbClr val="000000"/>
                  </a:solidFill>
                </a:uFill>
                <a:latin typeface="微软雅黑" panose="020B0503020204020204" charset="-122"/>
                <a:ea typeface="微软雅黑" panose="020B0503020204020204" charset="-122"/>
                <a:cs typeface="微软雅黑" panose="020B0503020204020204" charset="-122"/>
              </a:rPr>
              <a:t>B</a:t>
            </a:r>
            <a:r>
              <a:rPr sz="1400" b="1" u="sng" spc="-65" dirty="0">
                <a:uFill>
                  <a:solidFill>
                    <a:srgbClr val="000000"/>
                  </a:solidFill>
                </a:uFill>
                <a:latin typeface="微软雅黑" panose="020B0503020204020204" charset="-122"/>
                <a:ea typeface="微软雅黑" panose="020B0503020204020204" charset="-122"/>
                <a:cs typeface="微软雅黑" panose="020B0503020204020204" charset="-122"/>
              </a:rPr>
              <a:t> </a:t>
            </a:r>
            <a:r>
              <a:rPr sz="1400" b="1" u="sng" dirty="0">
                <a:uFill>
                  <a:solidFill>
                    <a:srgbClr val="000000"/>
                  </a:solidFill>
                </a:uFill>
                <a:latin typeface="微软雅黑" panose="020B0503020204020204" charset="-122"/>
                <a:ea typeface="微软雅黑" panose="020B0503020204020204" charset="-122"/>
                <a:cs typeface="微软雅黑" panose="020B0503020204020204" charset="-122"/>
              </a:rPr>
              <a:t>(</a:t>
            </a:r>
            <a:r>
              <a:rPr sz="1400" b="1" u="sng" spc="10" dirty="0">
                <a:uFill>
                  <a:solidFill>
                    <a:srgbClr val="000000"/>
                  </a:solidFill>
                </a:uFill>
                <a:latin typeface="微软雅黑" panose="020B0503020204020204" charset="-122"/>
                <a:ea typeface="微软雅黑" panose="020B0503020204020204" charset="-122"/>
                <a:cs typeface="微软雅黑" panose="020B0503020204020204" charset="-122"/>
              </a:rPr>
              <a:t>获</a:t>
            </a:r>
            <a:r>
              <a:rPr sz="1400" b="1" u="sng" dirty="0">
                <a:uFill>
                  <a:solidFill>
                    <a:srgbClr val="000000"/>
                  </a:solidFill>
                </a:uFill>
                <a:latin typeface="微软雅黑" panose="020B0503020204020204" charset="-122"/>
                <a:ea typeface="微软雅黑" panose="020B0503020204020204" charset="-122"/>
                <a:cs typeface="微软雅黑" panose="020B0503020204020204" charset="-122"/>
              </a:rPr>
              <a:t>利率高</a:t>
            </a:r>
            <a:r>
              <a:rPr sz="1400" b="1" u="sng" spc="-5" dirty="0">
                <a:uFill>
                  <a:solidFill>
                    <a:srgbClr val="000000"/>
                  </a:solidFill>
                </a:uFill>
                <a:latin typeface="微软雅黑" panose="020B0503020204020204" charset="-122"/>
                <a:ea typeface="微软雅黑" panose="020B0503020204020204" charset="-122"/>
                <a:cs typeface="微软雅黑" panose="020B0503020204020204" charset="-122"/>
              </a:rPr>
              <a:t>)	</a:t>
            </a:r>
            <a:endParaRPr sz="1400">
              <a:latin typeface="微软雅黑" panose="020B0503020204020204" charset="-122"/>
              <a:ea typeface="微软雅黑" panose="020B0503020204020204" charset="-122"/>
              <a:cs typeface="微软雅黑" panose="020B0503020204020204" charset="-122"/>
            </a:endParaRPr>
          </a:p>
        </p:txBody>
      </p:sp>
      <p:sp>
        <p:nvSpPr>
          <p:cNvPr id="33" name="object 33"/>
          <p:cNvSpPr txBox="1"/>
          <p:nvPr/>
        </p:nvSpPr>
        <p:spPr>
          <a:xfrm>
            <a:off x="233007" y="1312028"/>
            <a:ext cx="502564" cy="2026920"/>
          </a:xfrm>
          <a:prstGeom prst="rect">
            <a:avLst/>
          </a:prstGeom>
          <a:solidFill>
            <a:srgbClr val="CCCCFF"/>
          </a:solidFill>
          <a:ln w="9525">
            <a:solidFill>
              <a:srgbClr val="000000"/>
            </a:solidFill>
          </a:ln>
        </p:spPr>
        <p:txBody>
          <a:bodyPr vert="horz" wrap="square" lIns="0" tIns="0" rIns="0" bIns="0" rtlCol="0">
            <a:spAutoFit/>
          </a:bodyPr>
          <a:lstStyle/>
          <a:p>
            <a:pPr>
              <a:lnSpc>
                <a:spcPct val="100000"/>
              </a:lnSpc>
            </a:pPr>
            <a:endParaRPr>
              <a:latin typeface="微软雅黑" panose="020B0503020204020204" charset="-122"/>
              <a:ea typeface="微软雅黑" panose="020B0503020204020204" charset="-122"/>
              <a:cs typeface="微软雅黑" panose="020B0503020204020204" charset="-122"/>
            </a:endParaRPr>
          </a:p>
          <a:p>
            <a:pPr>
              <a:lnSpc>
                <a:spcPct val="100000"/>
              </a:lnSpc>
            </a:pPr>
            <a:endParaRPr>
              <a:latin typeface="微软雅黑" panose="020B0503020204020204" charset="-122"/>
              <a:ea typeface="微软雅黑" panose="020B0503020204020204" charset="-122"/>
              <a:cs typeface="微软雅黑" panose="020B0503020204020204" charset="-122"/>
            </a:endParaRPr>
          </a:p>
          <a:p>
            <a:pPr>
              <a:lnSpc>
                <a:spcPct val="100000"/>
              </a:lnSpc>
              <a:spcBef>
                <a:spcPts val="55"/>
              </a:spcBef>
            </a:pPr>
            <a:endParaRPr sz="2050">
              <a:latin typeface="微软雅黑" panose="020B0503020204020204" charset="-122"/>
              <a:ea typeface="微软雅黑" panose="020B0503020204020204" charset="-122"/>
              <a:cs typeface="微软雅黑" panose="020B0503020204020204" charset="-122"/>
            </a:endParaRPr>
          </a:p>
          <a:p>
            <a:pPr marL="145415" marR="170815" algn="just">
              <a:lnSpc>
                <a:spcPct val="107000"/>
              </a:lnSpc>
            </a:pPr>
            <a:r>
              <a:rPr sz="1400" b="1" dirty="0">
                <a:latin typeface="微软雅黑" panose="020B0503020204020204" charset="-122"/>
                <a:ea typeface="微软雅黑" panose="020B0503020204020204" charset="-122"/>
                <a:cs typeface="微软雅黑" panose="020B0503020204020204" charset="-122"/>
              </a:rPr>
              <a:t>收 益 示 意 图</a:t>
            </a:r>
            <a:endParaRPr sz="1400">
              <a:latin typeface="微软雅黑" panose="020B0503020204020204" charset="-122"/>
              <a:ea typeface="微软雅黑" panose="020B0503020204020204" charset="-122"/>
              <a:cs typeface="微软雅黑" panose="020B0503020204020204" charset="-122"/>
            </a:endParaRPr>
          </a:p>
        </p:txBody>
      </p:sp>
      <p:sp>
        <p:nvSpPr>
          <p:cNvPr id="34" name="object 34"/>
          <p:cNvSpPr txBox="1"/>
          <p:nvPr/>
        </p:nvSpPr>
        <p:spPr>
          <a:xfrm>
            <a:off x="2740115" y="2778093"/>
            <a:ext cx="2172700" cy="445135"/>
          </a:xfrm>
          <a:prstGeom prst="rect">
            <a:avLst/>
          </a:prstGeom>
        </p:spPr>
        <p:txBody>
          <a:bodyPr vert="horz" wrap="square" lIns="0" tIns="11421" rIns="0" bIns="0" rtlCol="0">
            <a:spAutoFit/>
          </a:bodyPr>
          <a:lstStyle/>
          <a:p>
            <a:pPr marL="204470" marR="5080" indent="-192405">
              <a:lnSpc>
                <a:spcPct val="101000"/>
              </a:lnSpc>
              <a:spcBef>
                <a:spcPts val="90"/>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使用正</a:t>
            </a:r>
            <a:r>
              <a:rPr sz="1400" spc="-15" dirty="0">
                <a:latin typeface="微软雅黑" panose="020B0503020204020204" charset="-122"/>
                <a:ea typeface="微软雅黑" panose="020B0503020204020204" charset="-122"/>
                <a:cs typeface="微软雅黑" panose="020B0503020204020204" charset="-122"/>
              </a:rPr>
              <a:t>规</a:t>
            </a:r>
            <a:r>
              <a:rPr sz="1400" dirty="0">
                <a:latin typeface="微软雅黑" panose="020B0503020204020204" charset="-122"/>
                <a:ea typeface="微软雅黑" panose="020B0503020204020204" charset="-122"/>
                <a:cs typeface="微软雅黑" panose="020B0503020204020204" charset="-122"/>
              </a:rPr>
              <a:t>零件</a:t>
            </a:r>
            <a:r>
              <a:rPr sz="1400" spc="-15" dirty="0">
                <a:latin typeface="微软雅黑" panose="020B0503020204020204" charset="-122"/>
                <a:ea typeface="微软雅黑" panose="020B0503020204020204" charset="-122"/>
                <a:cs typeface="微软雅黑" panose="020B0503020204020204" charset="-122"/>
              </a:rPr>
              <a:t>的比</a:t>
            </a:r>
            <a:r>
              <a:rPr sz="1400" dirty="0">
                <a:latin typeface="微软雅黑" panose="020B0503020204020204" charset="-122"/>
                <a:ea typeface="微软雅黑" panose="020B0503020204020204" charset="-122"/>
                <a:cs typeface="微软雅黑" panose="020B0503020204020204" charset="-122"/>
              </a:rPr>
              <a:t>率低， 零件利润较低</a:t>
            </a:r>
            <a:endParaRPr sz="1400">
              <a:latin typeface="微软雅黑" panose="020B0503020204020204" charset="-122"/>
              <a:ea typeface="微软雅黑" panose="020B0503020204020204" charset="-122"/>
              <a:cs typeface="微软雅黑" panose="020B0503020204020204" charset="-122"/>
            </a:endParaRPr>
          </a:p>
        </p:txBody>
      </p:sp>
      <p:sp>
        <p:nvSpPr>
          <p:cNvPr id="35" name="object 35"/>
          <p:cNvSpPr txBox="1"/>
          <p:nvPr/>
        </p:nvSpPr>
        <p:spPr>
          <a:xfrm>
            <a:off x="2740115" y="3571535"/>
            <a:ext cx="1999468" cy="445135"/>
          </a:xfrm>
          <a:prstGeom prst="rect">
            <a:avLst/>
          </a:prstGeom>
        </p:spPr>
        <p:txBody>
          <a:bodyPr vert="horz" wrap="square" lIns="0" tIns="11421" rIns="0" bIns="0" rtlCol="0">
            <a:spAutoFit/>
          </a:bodyPr>
          <a:lstStyle/>
          <a:p>
            <a:pPr marL="204470" marR="5080" indent="-192405">
              <a:lnSpc>
                <a:spcPct val="101000"/>
              </a:lnSpc>
              <a:spcBef>
                <a:spcPts val="90"/>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现金流充足，账期要求 低</a:t>
            </a:r>
            <a:endParaRPr sz="1400" dirty="0">
              <a:latin typeface="微软雅黑" panose="020B0503020204020204" charset="-122"/>
              <a:ea typeface="微软雅黑" panose="020B0503020204020204" charset="-122"/>
              <a:cs typeface="微软雅黑" panose="020B0503020204020204" charset="-122"/>
            </a:endParaRPr>
          </a:p>
        </p:txBody>
      </p:sp>
      <p:sp>
        <p:nvSpPr>
          <p:cNvPr id="36" name="object 36"/>
          <p:cNvSpPr/>
          <p:nvPr/>
        </p:nvSpPr>
        <p:spPr>
          <a:xfrm>
            <a:off x="6135847" y="4177581"/>
            <a:ext cx="0" cy="215747"/>
          </a:xfrm>
          <a:custGeom>
            <a:avLst/>
            <a:gdLst/>
            <a:ahLst/>
            <a:cxnLst/>
            <a:rect l="l" t="t" r="r" b="b"/>
            <a:pathLst>
              <a:path h="215900">
                <a:moveTo>
                  <a:pt x="0" y="0"/>
                </a:moveTo>
                <a:lnTo>
                  <a:pt x="0" y="215468"/>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37" name="object 37"/>
          <p:cNvSpPr/>
          <p:nvPr/>
        </p:nvSpPr>
        <p:spPr>
          <a:xfrm>
            <a:off x="5793190" y="3397786"/>
            <a:ext cx="0" cy="215747"/>
          </a:xfrm>
          <a:custGeom>
            <a:avLst/>
            <a:gdLst/>
            <a:ahLst/>
            <a:cxnLst/>
            <a:rect l="l" t="t" r="r" b="b"/>
            <a:pathLst>
              <a:path h="215900">
                <a:moveTo>
                  <a:pt x="0" y="0"/>
                </a:moveTo>
                <a:lnTo>
                  <a:pt x="0" y="215527"/>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38" name="object 38"/>
          <p:cNvSpPr/>
          <p:nvPr/>
        </p:nvSpPr>
        <p:spPr>
          <a:xfrm>
            <a:off x="5117013" y="2603465"/>
            <a:ext cx="0" cy="219554"/>
          </a:xfrm>
          <a:custGeom>
            <a:avLst/>
            <a:gdLst/>
            <a:ahLst/>
            <a:cxnLst/>
            <a:rect l="l" t="t" r="r" b="b"/>
            <a:pathLst>
              <a:path h="219710">
                <a:moveTo>
                  <a:pt x="0" y="0"/>
                </a:moveTo>
                <a:lnTo>
                  <a:pt x="0" y="219456"/>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39" name="object 39"/>
          <p:cNvSpPr/>
          <p:nvPr/>
        </p:nvSpPr>
        <p:spPr>
          <a:xfrm>
            <a:off x="5793190" y="1828504"/>
            <a:ext cx="0" cy="215113"/>
          </a:xfrm>
          <a:custGeom>
            <a:avLst/>
            <a:gdLst/>
            <a:ahLst/>
            <a:cxnLst/>
            <a:rect l="l" t="t" r="r" b="b"/>
            <a:pathLst>
              <a:path h="215264">
                <a:moveTo>
                  <a:pt x="0" y="0"/>
                </a:moveTo>
                <a:lnTo>
                  <a:pt x="0" y="214677"/>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40" name="object 40"/>
          <p:cNvSpPr/>
          <p:nvPr/>
        </p:nvSpPr>
        <p:spPr>
          <a:xfrm>
            <a:off x="5664962" y="1257518"/>
            <a:ext cx="133890" cy="571095"/>
          </a:xfrm>
          <a:custGeom>
            <a:avLst/>
            <a:gdLst/>
            <a:ahLst/>
            <a:cxnLst/>
            <a:rect l="l" t="t" r="r" b="b"/>
            <a:pathLst>
              <a:path w="133985" h="571500">
                <a:moveTo>
                  <a:pt x="0" y="571391"/>
                </a:moveTo>
                <a:lnTo>
                  <a:pt x="133357" y="571391"/>
                </a:lnTo>
                <a:lnTo>
                  <a:pt x="133357" y="0"/>
                </a:lnTo>
                <a:lnTo>
                  <a:pt x="0" y="0"/>
                </a:lnTo>
                <a:lnTo>
                  <a:pt x="0" y="571391"/>
                </a:lnTo>
                <a:close/>
              </a:path>
            </a:pathLst>
          </a:custGeom>
          <a:solidFill>
            <a:srgbClr val="D0D0D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1" name="object 41"/>
          <p:cNvSpPr/>
          <p:nvPr/>
        </p:nvSpPr>
        <p:spPr>
          <a:xfrm>
            <a:off x="5664962" y="1257518"/>
            <a:ext cx="133890" cy="571095"/>
          </a:xfrm>
          <a:custGeom>
            <a:avLst/>
            <a:gdLst/>
            <a:ahLst/>
            <a:cxnLst/>
            <a:rect l="l" t="t" r="r" b="b"/>
            <a:pathLst>
              <a:path w="133985" h="571500">
                <a:moveTo>
                  <a:pt x="0" y="571391"/>
                </a:moveTo>
                <a:lnTo>
                  <a:pt x="133357" y="571391"/>
                </a:lnTo>
                <a:lnTo>
                  <a:pt x="133357" y="0"/>
                </a:lnTo>
                <a:lnTo>
                  <a:pt x="0" y="0"/>
                </a:lnTo>
                <a:lnTo>
                  <a:pt x="0" y="571391"/>
                </a:lnTo>
                <a:close/>
              </a:path>
            </a:pathLst>
          </a:custGeom>
          <a:ln w="9459">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2" name="object 42"/>
          <p:cNvSpPr/>
          <p:nvPr/>
        </p:nvSpPr>
        <p:spPr>
          <a:xfrm>
            <a:off x="5664962" y="2047030"/>
            <a:ext cx="133890" cy="561577"/>
          </a:xfrm>
          <a:custGeom>
            <a:avLst/>
            <a:gdLst/>
            <a:ahLst/>
            <a:cxnLst/>
            <a:rect l="l" t="t" r="r" b="b"/>
            <a:pathLst>
              <a:path w="133985" h="561975">
                <a:moveTo>
                  <a:pt x="0" y="561578"/>
                </a:moveTo>
                <a:lnTo>
                  <a:pt x="133357" y="561578"/>
                </a:lnTo>
                <a:lnTo>
                  <a:pt x="133357" y="0"/>
                </a:lnTo>
                <a:lnTo>
                  <a:pt x="0" y="0"/>
                </a:lnTo>
                <a:lnTo>
                  <a:pt x="0" y="561578"/>
                </a:lnTo>
                <a:close/>
              </a:path>
            </a:pathLst>
          </a:custGeom>
          <a:solidFill>
            <a:srgbClr val="D0D0D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3" name="object 43"/>
          <p:cNvSpPr/>
          <p:nvPr/>
        </p:nvSpPr>
        <p:spPr>
          <a:xfrm>
            <a:off x="5664962" y="2047030"/>
            <a:ext cx="133890" cy="561577"/>
          </a:xfrm>
          <a:custGeom>
            <a:avLst/>
            <a:gdLst/>
            <a:ahLst/>
            <a:cxnLst/>
            <a:rect l="l" t="t" r="r" b="b"/>
            <a:pathLst>
              <a:path w="133985" h="561975">
                <a:moveTo>
                  <a:pt x="0" y="561578"/>
                </a:moveTo>
                <a:lnTo>
                  <a:pt x="133357" y="561578"/>
                </a:lnTo>
                <a:lnTo>
                  <a:pt x="133357" y="0"/>
                </a:lnTo>
                <a:lnTo>
                  <a:pt x="0" y="0"/>
                </a:lnTo>
                <a:lnTo>
                  <a:pt x="0" y="561578"/>
                </a:lnTo>
                <a:close/>
              </a:path>
            </a:pathLst>
          </a:custGeom>
          <a:ln w="9460">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4" name="object 44"/>
          <p:cNvSpPr/>
          <p:nvPr/>
        </p:nvSpPr>
        <p:spPr>
          <a:xfrm>
            <a:off x="5664962" y="2827116"/>
            <a:ext cx="133890" cy="571095"/>
          </a:xfrm>
          <a:custGeom>
            <a:avLst/>
            <a:gdLst/>
            <a:ahLst/>
            <a:cxnLst/>
            <a:rect l="l" t="t" r="r" b="b"/>
            <a:pathLst>
              <a:path w="133985" h="571500">
                <a:moveTo>
                  <a:pt x="0" y="571075"/>
                </a:moveTo>
                <a:lnTo>
                  <a:pt x="133357" y="571075"/>
                </a:lnTo>
                <a:lnTo>
                  <a:pt x="133357" y="0"/>
                </a:lnTo>
                <a:lnTo>
                  <a:pt x="0" y="0"/>
                </a:lnTo>
                <a:lnTo>
                  <a:pt x="0" y="571075"/>
                </a:lnTo>
                <a:close/>
              </a:path>
            </a:pathLst>
          </a:custGeom>
          <a:solidFill>
            <a:srgbClr val="D0D0D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5" name="object 45"/>
          <p:cNvSpPr/>
          <p:nvPr/>
        </p:nvSpPr>
        <p:spPr>
          <a:xfrm>
            <a:off x="5664962" y="2827116"/>
            <a:ext cx="133890" cy="571095"/>
          </a:xfrm>
          <a:custGeom>
            <a:avLst/>
            <a:gdLst/>
            <a:ahLst/>
            <a:cxnLst/>
            <a:rect l="l" t="t" r="r" b="b"/>
            <a:pathLst>
              <a:path w="133985" h="571500">
                <a:moveTo>
                  <a:pt x="0" y="571075"/>
                </a:moveTo>
                <a:lnTo>
                  <a:pt x="133357" y="571075"/>
                </a:lnTo>
                <a:lnTo>
                  <a:pt x="133357" y="0"/>
                </a:lnTo>
                <a:lnTo>
                  <a:pt x="0" y="0"/>
                </a:lnTo>
                <a:lnTo>
                  <a:pt x="0" y="571075"/>
                </a:lnTo>
                <a:close/>
              </a:path>
            </a:pathLst>
          </a:custGeom>
          <a:ln w="9459">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6" name="object 46"/>
          <p:cNvSpPr/>
          <p:nvPr/>
        </p:nvSpPr>
        <p:spPr>
          <a:xfrm>
            <a:off x="5798225" y="3616400"/>
            <a:ext cx="343292" cy="561577"/>
          </a:xfrm>
          <a:custGeom>
            <a:avLst/>
            <a:gdLst/>
            <a:ahLst/>
            <a:cxnLst/>
            <a:rect l="l" t="t" r="r" b="b"/>
            <a:pathLst>
              <a:path w="343535" h="561975">
                <a:moveTo>
                  <a:pt x="0" y="561578"/>
                </a:moveTo>
                <a:lnTo>
                  <a:pt x="343008" y="561578"/>
                </a:lnTo>
                <a:lnTo>
                  <a:pt x="343008" y="0"/>
                </a:lnTo>
                <a:lnTo>
                  <a:pt x="0" y="0"/>
                </a:lnTo>
                <a:lnTo>
                  <a:pt x="0" y="561578"/>
                </a:lnTo>
                <a:close/>
              </a:path>
            </a:pathLst>
          </a:custGeom>
          <a:solidFill>
            <a:srgbClr val="D0D0D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7" name="object 47"/>
          <p:cNvSpPr/>
          <p:nvPr/>
        </p:nvSpPr>
        <p:spPr>
          <a:xfrm>
            <a:off x="5798225" y="3616400"/>
            <a:ext cx="343292" cy="561577"/>
          </a:xfrm>
          <a:custGeom>
            <a:avLst/>
            <a:gdLst/>
            <a:ahLst/>
            <a:cxnLst/>
            <a:rect l="l" t="t" r="r" b="b"/>
            <a:pathLst>
              <a:path w="343535" h="561975">
                <a:moveTo>
                  <a:pt x="0" y="561578"/>
                </a:moveTo>
                <a:lnTo>
                  <a:pt x="343008" y="561578"/>
                </a:lnTo>
                <a:lnTo>
                  <a:pt x="343008" y="0"/>
                </a:lnTo>
                <a:lnTo>
                  <a:pt x="0" y="0"/>
                </a:lnTo>
                <a:lnTo>
                  <a:pt x="0" y="561578"/>
                </a:lnTo>
                <a:close/>
              </a:path>
            </a:pathLst>
          </a:custGeom>
          <a:ln w="9468">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8" name="object 48"/>
          <p:cNvSpPr/>
          <p:nvPr/>
        </p:nvSpPr>
        <p:spPr>
          <a:xfrm>
            <a:off x="5664962" y="4396485"/>
            <a:ext cx="476546" cy="571095"/>
          </a:xfrm>
          <a:custGeom>
            <a:avLst/>
            <a:gdLst/>
            <a:ahLst/>
            <a:cxnLst/>
            <a:rect l="l" t="t" r="r" b="b"/>
            <a:pathLst>
              <a:path w="476885" h="571500">
                <a:moveTo>
                  <a:pt x="0" y="571075"/>
                </a:moveTo>
                <a:lnTo>
                  <a:pt x="476365" y="571075"/>
                </a:lnTo>
                <a:lnTo>
                  <a:pt x="476365" y="0"/>
                </a:lnTo>
                <a:lnTo>
                  <a:pt x="0" y="0"/>
                </a:lnTo>
                <a:lnTo>
                  <a:pt x="0" y="571075"/>
                </a:lnTo>
                <a:close/>
              </a:path>
            </a:pathLst>
          </a:custGeom>
          <a:solidFill>
            <a:srgbClr val="1F1F7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9" name="object 49"/>
          <p:cNvSpPr/>
          <p:nvPr/>
        </p:nvSpPr>
        <p:spPr>
          <a:xfrm>
            <a:off x="5664962" y="4396485"/>
            <a:ext cx="476546" cy="571095"/>
          </a:xfrm>
          <a:custGeom>
            <a:avLst/>
            <a:gdLst/>
            <a:ahLst/>
            <a:cxnLst/>
            <a:rect l="l" t="t" r="r" b="b"/>
            <a:pathLst>
              <a:path w="476885" h="571500">
                <a:moveTo>
                  <a:pt x="0" y="571075"/>
                </a:moveTo>
                <a:lnTo>
                  <a:pt x="476365" y="571075"/>
                </a:lnTo>
                <a:lnTo>
                  <a:pt x="476365" y="0"/>
                </a:lnTo>
                <a:lnTo>
                  <a:pt x="0" y="0"/>
                </a:lnTo>
                <a:lnTo>
                  <a:pt x="0" y="571075"/>
                </a:lnTo>
                <a:close/>
              </a:path>
            </a:pathLst>
          </a:custGeom>
          <a:ln w="9473">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0" name="object 50"/>
          <p:cNvSpPr/>
          <p:nvPr/>
        </p:nvSpPr>
        <p:spPr>
          <a:xfrm>
            <a:off x="5122460" y="2047030"/>
            <a:ext cx="542540" cy="561577"/>
          </a:xfrm>
          <a:custGeom>
            <a:avLst/>
            <a:gdLst/>
            <a:ahLst/>
            <a:cxnLst/>
            <a:rect l="l" t="t" r="r" b="b"/>
            <a:pathLst>
              <a:path w="542925" h="561975">
                <a:moveTo>
                  <a:pt x="0" y="561578"/>
                </a:moveTo>
                <a:lnTo>
                  <a:pt x="542886" y="561578"/>
                </a:lnTo>
                <a:lnTo>
                  <a:pt x="542886" y="0"/>
                </a:lnTo>
                <a:lnTo>
                  <a:pt x="0" y="0"/>
                </a:lnTo>
                <a:lnTo>
                  <a:pt x="0" y="561578"/>
                </a:lnTo>
                <a:close/>
              </a:path>
            </a:pathLst>
          </a:custGeom>
          <a:solidFill>
            <a:srgbClr val="D0D0D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1" name="object 51"/>
          <p:cNvSpPr/>
          <p:nvPr/>
        </p:nvSpPr>
        <p:spPr>
          <a:xfrm>
            <a:off x="5122460" y="2047030"/>
            <a:ext cx="542540" cy="561577"/>
          </a:xfrm>
          <a:custGeom>
            <a:avLst/>
            <a:gdLst/>
            <a:ahLst/>
            <a:cxnLst/>
            <a:rect l="l" t="t" r="r" b="b"/>
            <a:pathLst>
              <a:path w="542925" h="561975">
                <a:moveTo>
                  <a:pt x="0" y="561578"/>
                </a:moveTo>
                <a:lnTo>
                  <a:pt x="542886" y="561578"/>
                </a:lnTo>
                <a:lnTo>
                  <a:pt x="542886" y="0"/>
                </a:lnTo>
                <a:lnTo>
                  <a:pt x="0" y="0"/>
                </a:lnTo>
                <a:lnTo>
                  <a:pt x="0" y="561578"/>
                </a:lnTo>
                <a:close/>
              </a:path>
            </a:pathLst>
          </a:custGeom>
          <a:ln w="9476">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2" name="object 52"/>
          <p:cNvSpPr/>
          <p:nvPr/>
        </p:nvSpPr>
        <p:spPr>
          <a:xfrm>
            <a:off x="5122460" y="2827116"/>
            <a:ext cx="542540" cy="571095"/>
          </a:xfrm>
          <a:custGeom>
            <a:avLst/>
            <a:gdLst/>
            <a:ahLst/>
            <a:cxnLst/>
            <a:rect l="l" t="t" r="r" b="b"/>
            <a:pathLst>
              <a:path w="542925" h="571500">
                <a:moveTo>
                  <a:pt x="0" y="571075"/>
                </a:moveTo>
                <a:lnTo>
                  <a:pt x="542886" y="571075"/>
                </a:lnTo>
                <a:lnTo>
                  <a:pt x="542886" y="0"/>
                </a:lnTo>
                <a:lnTo>
                  <a:pt x="0" y="0"/>
                </a:lnTo>
                <a:lnTo>
                  <a:pt x="0" y="571075"/>
                </a:lnTo>
                <a:close/>
              </a:path>
            </a:pathLst>
          </a:custGeom>
          <a:solidFill>
            <a:srgbClr val="D0D0D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3" name="object 53"/>
          <p:cNvSpPr/>
          <p:nvPr/>
        </p:nvSpPr>
        <p:spPr>
          <a:xfrm>
            <a:off x="5122460" y="2827116"/>
            <a:ext cx="542540" cy="571095"/>
          </a:xfrm>
          <a:custGeom>
            <a:avLst/>
            <a:gdLst/>
            <a:ahLst/>
            <a:cxnLst/>
            <a:rect l="l" t="t" r="r" b="b"/>
            <a:pathLst>
              <a:path w="542925" h="571500">
                <a:moveTo>
                  <a:pt x="0" y="571075"/>
                </a:moveTo>
                <a:lnTo>
                  <a:pt x="542886" y="571075"/>
                </a:lnTo>
                <a:lnTo>
                  <a:pt x="542886" y="0"/>
                </a:lnTo>
                <a:lnTo>
                  <a:pt x="0" y="0"/>
                </a:lnTo>
                <a:lnTo>
                  <a:pt x="0" y="571075"/>
                </a:lnTo>
                <a:close/>
              </a:path>
            </a:pathLst>
          </a:custGeom>
          <a:ln w="9476">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4" name="object 54"/>
          <p:cNvSpPr/>
          <p:nvPr/>
        </p:nvSpPr>
        <p:spPr>
          <a:xfrm>
            <a:off x="5660236" y="1148381"/>
            <a:ext cx="0" cy="899792"/>
          </a:xfrm>
          <a:custGeom>
            <a:avLst/>
            <a:gdLst/>
            <a:ahLst/>
            <a:cxnLst/>
            <a:rect l="l" t="t" r="r" b="b"/>
            <a:pathLst>
              <a:path h="900430">
                <a:moveTo>
                  <a:pt x="0" y="0"/>
                </a:moveTo>
                <a:lnTo>
                  <a:pt x="0" y="899854"/>
                </a:lnTo>
              </a:path>
            </a:pathLst>
          </a:custGeom>
          <a:ln w="28689">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5" name="object 55"/>
          <p:cNvSpPr/>
          <p:nvPr/>
        </p:nvSpPr>
        <p:spPr>
          <a:xfrm>
            <a:off x="5660236" y="2598896"/>
            <a:ext cx="0" cy="228438"/>
          </a:xfrm>
          <a:custGeom>
            <a:avLst/>
            <a:gdLst/>
            <a:ahLst/>
            <a:cxnLst/>
            <a:rect l="l" t="t" r="r" b="b"/>
            <a:pathLst>
              <a:path h="228600">
                <a:moveTo>
                  <a:pt x="0" y="0"/>
                </a:moveTo>
                <a:lnTo>
                  <a:pt x="0" y="228600"/>
                </a:lnTo>
              </a:path>
            </a:pathLst>
          </a:custGeom>
          <a:ln w="28689">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6" name="object 56"/>
          <p:cNvSpPr/>
          <p:nvPr/>
        </p:nvSpPr>
        <p:spPr>
          <a:xfrm>
            <a:off x="5660236" y="3389292"/>
            <a:ext cx="0" cy="1687904"/>
          </a:xfrm>
          <a:custGeom>
            <a:avLst/>
            <a:gdLst/>
            <a:ahLst/>
            <a:cxnLst/>
            <a:rect l="l" t="t" r="r" b="b"/>
            <a:pathLst>
              <a:path h="1689100">
                <a:moveTo>
                  <a:pt x="0" y="0"/>
                </a:moveTo>
                <a:lnTo>
                  <a:pt x="0" y="1688509"/>
                </a:lnTo>
              </a:path>
            </a:pathLst>
          </a:custGeom>
          <a:ln w="28689">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7" name="object 57"/>
          <p:cNvSpPr/>
          <p:nvPr/>
        </p:nvSpPr>
        <p:spPr>
          <a:xfrm>
            <a:off x="5659935" y="2827335"/>
            <a:ext cx="0" cy="562212"/>
          </a:xfrm>
          <a:custGeom>
            <a:avLst/>
            <a:gdLst/>
            <a:ahLst/>
            <a:cxnLst/>
            <a:rect l="l" t="t" r="r" b="b"/>
            <a:pathLst>
              <a:path h="562610">
                <a:moveTo>
                  <a:pt x="0" y="0"/>
                </a:moveTo>
                <a:lnTo>
                  <a:pt x="0" y="562356"/>
                </a:lnTo>
              </a:path>
            </a:pathLst>
          </a:custGeom>
          <a:ln w="53339">
            <a:solidFill>
              <a:srgbClr val="D0D0D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8" name="object 58"/>
          <p:cNvSpPr/>
          <p:nvPr/>
        </p:nvSpPr>
        <p:spPr>
          <a:xfrm>
            <a:off x="5659935" y="2047599"/>
            <a:ext cx="0" cy="551424"/>
          </a:xfrm>
          <a:custGeom>
            <a:avLst/>
            <a:gdLst/>
            <a:ahLst/>
            <a:cxnLst/>
            <a:rect l="l" t="t" r="r" b="b"/>
            <a:pathLst>
              <a:path h="551814">
                <a:moveTo>
                  <a:pt x="0" y="0"/>
                </a:moveTo>
                <a:lnTo>
                  <a:pt x="0" y="551688"/>
                </a:lnTo>
              </a:path>
            </a:pathLst>
          </a:custGeom>
          <a:ln w="53339">
            <a:solidFill>
              <a:srgbClr val="D0D0D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9" name="object 59"/>
          <p:cNvSpPr txBox="1"/>
          <p:nvPr/>
        </p:nvSpPr>
        <p:spPr>
          <a:xfrm>
            <a:off x="6206916" y="1986428"/>
            <a:ext cx="2527414" cy="657225"/>
          </a:xfrm>
          <a:prstGeom prst="rect">
            <a:avLst/>
          </a:prstGeom>
        </p:spPr>
        <p:txBody>
          <a:bodyPr vert="horz" wrap="square" lIns="0" tIns="12056" rIns="0" bIns="0" rtlCol="0">
            <a:spAutoFit/>
          </a:bodyPr>
          <a:lstStyle/>
          <a:p>
            <a:pPr marL="204470" marR="5080" indent="-192405">
              <a:lnSpc>
                <a:spcPct val="100000"/>
              </a:lnSpc>
              <a:spcBef>
                <a:spcPts val="95"/>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通过向</a:t>
            </a:r>
            <a:r>
              <a:rPr sz="1400" spc="-15" dirty="0">
                <a:latin typeface="微软雅黑" panose="020B0503020204020204" charset="-122"/>
                <a:ea typeface="微软雅黑" panose="020B0503020204020204" charset="-122"/>
                <a:cs typeface="微软雅黑" panose="020B0503020204020204" charset="-122"/>
              </a:rPr>
              <a:t>其</a:t>
            </a:r>
            <a:r>
              <a:rPr sz="1400" dirty="0">
                <a:latin typeface="微软雅黑" panose="020B0503020204020204" charset="-122"/>
                <a:ea typeface="微软雅黑" panose="020B0503020204020204" charset="-122"/>
                <a:cs typeface="微软雅黑" panose="020B0503020204020204" charset="-122"/>
              </a:rPr>
              <a:t>客户</a:t>
            </a:r>
            <a:r>
              <a:rPr sz="1400" spc="-15" dirty="0">
                <a:latin typeface="微软雅黑" panose="020B0503020204020204" charset="-122"/>
                <a:ea typeface="微软雅黑" panose="020B0503020204020204" charset="-122"/>
                <a:cs typeface="微软雅黑" panose="020B0503020204020204" charset="-122"/>
              </a:rPr>
              <a:t>提供</a:t>
            </a:r>
            <a:r>
              <a:rPr sz="1400" dirty="0">
                <a:latin typeface="微软雅黑" panose="020B0503020204020204" charset="-122"/>
                <a:ea typeface="微软雅黑" panose="020B0503020204020204" charset="-122"/>
                <a:cs typeface="微软雅黑" panose="020B0503020204020204" charset="-122"/>
              </a:rPr>
              <a:t>免费服</a:t>
            </a:r>
            <a:r>
              <a:rPr sz="1400" spc="-15" dirty="0">
                <a:latin typeface="微软雅黑" panose="020B0503020204020204" charset="-122"/>
                <a:ea typeface="微软雅黑" panose="020B0503020204020204" charset="-122"/>
                <a:cs typeface="微软雅黑" panose="020B0503020204020204" charset="-122"/>
              </a:rPr>
              <a:t>务</a:t>
            </a:r>
            <a:r>
              <a:rPr sz="1400" dirty="0">
                <a:latin typeface="微软雅黑" panose="020B0503020204020204" charset="-122"/>
                <a:ea typeface="微软雅黑" panose="020B0503020204020204" charset="-122"/>
                <a:cs typeface="微软雅黑" panose="020B0503020204020204" charset="-122"/>
              </a:rPr>
              <a:t>， 获得客户信赖，并通过</a:t>
            </a:r>
            <a:r>
              <a:rPr sz="1400" spc="-15" dirty="0">
                <a:latin typeface="微软雅黑" panose="020B0503020204020204" charset="-122"/>
                <a:ea typeface="微软雅黑" panose="020B0503020204020204" charset="-122"/>
                <a:cs typeface="微软雅黑" panose="020B0503020204020204" charset="-122"/>
              </a:rPr>
              <a:t>延</a:t>
            </a:r>
            <a:r>
              <a:rPr sz="1400" dirty="0">
                <a:latin typeface="微软雅黑" panose="020B0503020204020204" charset="-122"/>
                <a:ea typeface="微软雅黑" panose="020B0503020204020204" charset="-122"/>
                <a:cs typeface="微软雅黑" panose="020B0503020204020204" charset="-122"/>
              </a:rPr>
              <a:t>长 免费服务期限竞标成功</a:t>
            </a:r>
            <a:endParaRPr sz="1400">
              <a:latin typeface="微软雅黑" panose="020B0503020204020204" charset="-122"/>
              <a:ea typeface="微软雅黑" panose="020B0503020204020204" charset="-122"/>
              <a:cs typeface="微软雅黑" panose="020B0503020204020204" charset="-122"/>
            </a:endParaRPr>
          </a:p>
        </p:txBody>
      </p:sp>
      <p:sp>
        <p:nvSpPr>
          <p:cNvPr id="60" name="object 60"/>
          <p:cNvSpPr txBox="1"/>
          <p:nvPr/>
        </p:nvSpPr>
        <p:spPr>
          <a:xfrm>
            <a:off x="6206916" y="2778093"/>
            <a:ext cx="2354182" cy="227965"/>
          </a:xfrm>
          <a:prstGeom prst="rect">
            <a:avLst/>
          </a:prstGeom>
        </p:spPr>
        <p:txBody>
          <a:bodyPr vert="horz" wrap="square" lIns="0" tIns="13325" rIns="0" bIns="0" rtlCol="0">
            <a:spAutoFit/>
          </a:bodyPr>
          <a:lstStyle/>
          <a:p>
            <a:pPr marL="204470" indent="-192405">
              <a:lnSpc>
                <a:spcPct val="100000"/>
              </a:lnSpc>
              <a:spcBef>
                <a:spcPts val="105"/>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因客户只使用正规零件</a:t>
            </a:r>
            <a:r>
              <a:rPr sz="1400" spc="-15" dirty="0">
                <a:latin typeface="微软雅黑" panose="020B0503020204020204" charset="-122"/>
                <a:ea typeface="微软雅黑" panose="020B0503020204020204" charset="-122"/>
                <a:cs typeface="微软雅黑" panose="020B0503020204020204" charset="-122"/>
              </a:rPr>
              <a:t>，</a:t>
            </a:r>
            <a:r>
              <a:rPr sz="1400" dirty="0">
                <a:latin typeface="微软雅黑" panose="020B0503020204020204" charset="-122"/>
                <a:ea typeface="微软雅黑" panose="020B0503020204020204" charset="-122"/>
                <a:cs typeface="微软雅黑" panose="020B0503020204020204" charset="-122"/>
              </a:rPr>
              <a:t>并</a:t>
            </a:r>
            <a:endParaRPr sz="1400">
              <a:latin typeface="微软雅黑" panose="020B0503020204020204" charset="-122"/>
              <a:ea typeface="微软雅黑" panose="020B0503020204020204" charset="-122"/>
              <a:cs typeface="微软雅黑" panose="020B0503020204020204" charset="-122"/>
            </a:endParaRPr>
          </a:p>
        </p:txBody>
      </p:sp>
      <p:sp>
        <p:nvSpPr>
          <p:cNvPr id="61" name="object 61"/>
          <p:cNvSpPr txBox="1"/>
          <p:nvPr/>
        </p:nvSpPr>
        <p:spPr>
          <a:xfrm>
            <a:off x="6398805" y="2991556"/>
            <a:ext cx="2162547" cy="445135"/>
          </a:xfrm>
          <a:prstGeom prst="rect">
            <a:avLst/>
          </a:prstGeom>
        </p:spPr>
        <p:txBody>
          <a:bodyPr vert="horz" wrap="square" lIns="0" tIns="11421" rIns="0" bIns="0" rtlCol="0">
            <a:spAutoFit/>
          </a:bodyPr>
          <a:lstStyle/>
          <a:p>
            <a:pPr marL="12700" marR="5080">
              <a:lnSpc>
                <a:spcPct val="101000"/>
              </a:lnSpc>
              <a:spcBef>
                <a:spcPts val="90"/>
              </a:spcBef>
            </a:pPr>
            <a:r>
              <a:rPr sz="1400" dirty="0">
                <a:latin typeface="微软雅黑" panose="020B0503020204020204" charset="-122"/>
                <a:ea typeface="微软雅黑" panose="020B0503020204020204" charset="-122"/>
                <a:cs typeface="微软雅黑" panose="020B0503020204020204" charset="-122"/>
              </a:rPr>
              <a:t>购买我应用产品，此项</a:t>
            </a:r>
            <a:r>
              <a:rPr sz="1400" spc="-15" dirty="0">
                <a:latin typeface="微软雅黑" panose="020B0503020204020204" charset="-122"/>
                <a:ea typeface="微软雅黑" panose="020B0503020204020204" charset="-122"/>
                <a:cs typeface="微软雅黑" panose="020B0503020204020204" charset="-122"/>
              </a:rPr>
              <a:t>获</a:t>
            </a:r>
            <a:r>
              <a:rPr sz="1400" dirty="0">
                <a:latin typeface="微软雅黑" panose="020B0503020204020204" charset="-122"/>
                <a:ea typeface="微软雅黑" panose="020B0503020204020204" charset="-122"/>
                <a:cs typeface="微软雅黑" panose="020B0503020204020204" charset="-122"/>
              </a:rPr>
              <a:t>得 较高利润</a:t>
            </a:r>
            <a:endParaRPr sz="1400">
              <a:latin typeface="微软雅黑" panose="020B0503020204020204" charset="-122"/>
              <a:ea typeface="微软雅黑" panose="020B0503020204020204" charset="-122"/>
              <a:cs typeface="微软雅黑" panose="020B0503020204020204" charset="-122"/>
            </a:endParaRPr>
          </a:p>
        </p:txBody>
      </p:sp>
      <p:sp>
        <p:nvSpPr>
          <p:cNvPr id="62" name="object 62"/>
          <p:cNvSpPr txBox="1"/>
          <p:nvPr/>
        </p:nvSpPr>
        <p:spPr>
          <a:xfrm>
            <a:off x="6206916" y="3571535"/>
            <a:ext cx="2354182" cy="227330"/>
          </a:xfrm>
          <a:prstGeom prst="rect">
            <a:avLst/>
          </a:prstGeom>
        </p:spPr>
        <p:txBody>
          <a:bodyPr vert="horz" wrap="square" lIns="0" tIns="12691" rIns="0" bIns="0" rtlCol="0">
            <a:spAutoFit/>
          </a:bodyPr>
          <a:lstStyle/>
          <a:p>
            <a:pPr marL="204470" indent="-192405">
              <a:lnSpc>
                <a:spcPct val="100000"/>
              </a:lnSpc>
              <a:spcBef>
                <a:spcPts val="100"/>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客户业务稳定，但对账</a:t>
            </a:r>
            <a:r>
              <a:rPr sz="1400" spc="-15" dirty="0">
                <a:latin typeface="微软雅黑" panose="020B0503020204020204" charset="-122"/>
                <a:ea typeface="微软雅黑" panose="020B0503020204020204" charset="-122"/>
                <a:cs typeface="微软雅黑" panose="020B0503020204020204" charset="-122"/>
              </a:rPr>
              <a:t>期</a:t>
            </a:r>
            <a:r>
              <a:rPr sz="1400" dirty="0">
                <a:latin typeface="微软雅黑" panose="020B0503020204020204" charset="-122"/>
                <a:ea typeface="微软雅黑" panose="020B0503020204020204" charset="-122"/>
                <a:cs typeface="微软雅黑" panose="020B0503020204020204" charset="-122"/>
              </a:rPr>
              <a:t>需</a:t>
            </a:r>
            <a:endParaRPr sz="1400">
              <a:latin typeface="微软雅黑" panose="020B0503020204020204" charset="-122"/>
              <a:ea typeface="微软雅黑" panose="020B0503020204020204" charset="-122"/>
              <a:cs typeface="微软雅黑" panose="020B0503020204020204" charset="-122"/>
            </a:endParaRPr>
          </a:p>
        </p:txBody>
      </p:sp>
      <p:sp>
        <p:nvSpPr>
          <p:cNvPr id="63" name="object 63"/>
          <p:cNvSpPr txBox="1"/>
          <p:nvPr/>
        </p:nvSpPr>
        <p:spPr>
          <a:xfrm>
            <a:off x="6398805" y="3786266"/>
            <a:ext cx="1629525" cy="227330"/>
          </a:xfrm>
          <a:prstGeom prst="rect">
            <a:avLst/>
          </a:prstGeom>
        </p:spPr>
        <p:txBody>
          <a:bodyPr vert="horz" wrap="square" lIns="0" tIns="12691" rIns="0" bIns="0" rtlCol="0">
            <a:spAutoFit/>
          </a:bodyPr>
          <a:lstStyle/>
          <a:p>
            <a:pPr marL="12700">
              <a:lnSpc>
                <a:spcPct val="100000"/>
              </a:lnSpc>
              <a:spcBef>
                <a:spcPts val="100"/>
              </a:spcBef>
            </a:pPr>
            <a:r>
              <a:rPr sz="1400" dirty="0">
                <a:latin typeface="微软雅黑" panose="020B0503020204020204" charset="-122"/>
                <a:ea typeface="微软雅黑" panose="020B0503020204020204" charset="-122"/>
                <a:cs typeface="微软雅黑" panose="020B0503020204020204" charset="-122"/>
              </a:rPr>
              <a:t>求大，愿意支付利息</a:t>
            </a:r>
            <a:endParaRPr sz="1400" dirty="0">
              <a:latin typeface="微软雅黑" panose="020B0503020204020204" charset="-122"/>
              <a:ea typeface="微软雅黑" panose="020B0503020204020204" charset="-122"/>
              <a:cs typeface="微软雅黑" panose="020B0503020204020204" charset="-122"/>
            </a:endParaRPr>
          </a:p>
        </p:txBody>
      </p:sp>
      <p:sp>
        <p:nvSpPr>
          <p:cNvPr id="64" name="object 64"/>
          <p:cNvSpPr txBox="1"/>
          <p:nvPr/>
        </p:nvSpPr>
        <p:spPr>
          <a:xfrm>
            <a:off x="2740115" y="1200982"/>
            <a:ext cx="2172700" cy="227965"/>
          </a:xfrm>
          <a:prstGeom prst="rect">
            <a:avLst/>
          </a:prstGeom>
        </p:spPr>
        <p:txBody>
          <a:bodyPr vert="horz" wrap="square" lIns="0" tIns="13325" rIns="0" bIns="0" rtlCol="0">
            <a:spAutoFit/>
          </a:bodyPr>
          <a:lstStyle/>
          <a:p>
            <a:pPr marL="204470" indent="-192405">
              <a:lnSpc>
                <a:spcPct val="100000"/>
              </a:lnSpc>
              <a:spcBef>
                <a:spcPts val="105"/>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因客户</a:t>
            </a:r>
            <a:r>
              <a:rPr sz="1400" spc="-15" dirty="0">
                <a:latin typeface="微软雅黑" panose="020B0503020204020204" charset="-122"/>
                <a:ea typeface="微软雅黑" panose="020B0503020204020204" charset="-122"/>
                <a:cs typeface="微软雅黑" panose="020B0503020204020204" charset="-122"/>
              </a:rPr>
              <a:t>对</a:t>
            </a:r>
            <a:r>
              <a:rPr sz="1400" dirty="0">
                <a:latin typeface="微软雅黑" panose="020B0503020204020204" charset="-122"/>
                <a:ea typeface="微软雅黑" panose="020B0503020204020204" charset="-122"/>
                <a:cs typeface="微软雅黑" panose="020B0503020204020204" charset="-122"/>
              </a:rPr>
              <a:t>价格</a:t>
            </a:r>
            <a:r>
              <a:rPr sz="1400" spc="-15" dirty="0">
                <a:latin typeface="微软雅黑" panose="020B0503020204020204" charset="-122"/>
                <a:ea typeface="微软雅黑" panose="020B0503020204020204" charset="-122"/>
                <a:cs typeface="微软雅黑" panose="020B0503020204020204" charset="-122"/>
              </a:rPr>
              <a:t>敏感</a:t>
            </a:r>
            <a:r>
              <a:rPr sz="1400" dirty="0">
                <a:latin typeface="微软雅黑" panose="020B0503020204020204" charset="-122"/>
                <a:ea typeface="微软雅黑" panose="020B0503020204020204" charset="-122"/>
                <a:cs typeface="微软雅黑" panose="020B0503020204020204" charset="-122"/>
              </a:rPr>
              <a:t>度低，</a:t>
            </a:r>
            <a:endParaRPr sz="1400">
              <a:latin typeface="微软雅黑" panose="020B0503020204020204" charset="-122"/>
              <a:ea typeface="微软雅黑" panose="020B0503020204020204" charset="-122"/>
              <a:cs typeface="微软雅黑" panose="020B0503020204020204" charset="-122"/>
            </a:endParaRPr>
          </a:p>
        </p:txBody>
      </p:sp>
      <p:sp>
        <p:nvSpPr>
          <p:cNvPr id="65" name="object 65"/>
          <p:cNvSpPr txBox="1"/>
          <p:nvPr/>
        </p:nvSpPr>
        <p:spPr>
          <a:xfrm>
            <a:off x="2932002" y="1414191"/>
            <a:ext cx="1807199" cy="444500"/>
          </a:xfrm>
          <a:prstGeom prst="rect">
            <a:avLst/>
          </a:prstGeom>
        </p:spPr>
        <p:txBody>
          <a:bodyPr vert="horz" wrap="square" lIns="0" tIns="13325" rIns="0" bIns="0" rtlCol="0">
            <a:spAutoFit/>
          </a:bodyPr>
          <a:lstStyle/>
          <a:p>
            <a:pPr marL="12700">
              <a:lnSpc>
                <a:spcPct val="100000"/>
              </a:lnSpc>
              <a:spcBef>
                <a:spcPts val="105"/>
              </a:spcBef>
            </a:pPr>
            <a:r>
              <a:rPr sz="1400" dirty="0">
                <a:latin typeface="微软雅黑" panose="020B0503020204020204" charset="-122"/>
                <a:ea typeface="微软雅黑" panose="020B0503020204020204" charset="-122"/>
                <a:cs typeface="微软雅黑" panose="020B0503020204020204" charset="-122"/>
              </a:rPr>
              <a:t>新机销售利润利润比较</a:t>
            </a:r>
            <a:endParaRPr sz="1400">
              <a:latin typeface="微软雅黑" panose="020B0503020204020204" charset="-122"/>
              <a:ea typeface="微软雅黑" panose="020B0503020204020204" charset="-122"/>
              <a:cs typeface="微软雅黑" panose="020B0503020204020204" charset="-122"/>
            </a:endParaRPr>
          </a:p>
          <a:p>
            <a:pPr marL="12700">
              <a:lnSpc>
                <a:spcPct val="100000"/>
              </a:lnSpc>
              <a:spcBef>
                <a:spcPts val="10"/>
              </a:spcBef>
            </a:pPr>
            <a:r>
              <a:rPr sz="1400" spc="5" dirty="0">
                <a:latin typeface="微软雅黑" panose="020B0503020204020204" charset="-122"/>
                <a:ea typeface="微软雅黑" panose="020B0503020204020204" charset="-122"/>
                <a:cs typeface="微软雅黑" panose="020B0503020204020204" charset="-122"/>
              </a:rPr>
              <a:t>高</a:t>
            </a:r>
            <a:endParaRPr sz="1400">
              <a:latin typeface="微软雅黑" panose="020B0503020204020204" charset="-122"/>
              <a:ea typeface="微软雅黑" panose="020B0503020204020204" charset="-122"/>
              <a:cs typeface="微软雅黑" panose="020B0503020204020204" charset="-122"/>
            </a:endParaRPr>
          </a:p>
        </p:txBody>
      </p:sp>
      <p:sp>
        <p:nvSpPr>
          <p:cNvPr id="66" name="object 66"/>
          <p:cNvSpPr txBox="1"/>
          <p:nvPr/>
        </p:nvSpPr>
        <p:spPr>
          <a:xfrm>
            <a:off x="6206916" y="1200982"/>
            <a:ext cx="2527414" cy="227965"/>
          </a:xfrm>
          <a:prstGeom prst="rect">
            <a:avLst/>
          </a:prstGeom>
        </p:spPr>
        <p:txBody>
          <a:bodyPr vert="horz" wrap="square" lIns="0" tIns="13325" rIns="0" bIns="0" rtlCol="0">
            <a:spAutoFit/>
          </a:bodyPr>
          <a:lstStyle/>
          <a:p>
            <a:pPr marL="204470" indent="-192405">
              <a:lnSpc>
                <a:spcPct val="100000"/>
              </a:lnSpc>
              <a:spcBef>
                <a:spcPts val="105"/>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通过降</a:t>
            </a:r>
            <a:r>
              <a:rPr sz="1400" spc="-15" dirty="0">
                <a:latin typeface="微软雅黑" panose="020B0503020204020204" charset="-122"/>
                <a:ea typeface="微软雅黑" panose="020B0503020204020204" charset="-122"/>
                <a:cs typeface="微软雅黑" panose="020B0503020204020204" charset="-122"/>
              </a:rPr>
              <a:t>低</a:t>
            </a:r>
            <a:r>
              <a:rPr sz="1400" dirty="0">
                <a:latin typeface="微软雅黑" panose="020B0503020204020204" charset="-122"/>
                <a:ea typeface="微软雅黑" panose="020B0503020204020204" charset="-122"/>
                <a:cs typeface="微软雅黑" panose="020B0503020204020204" charset="-122"/>
              </a:rPr>
              <a:t>新机</a:t>
            </a:r>
            <a:r>
              <a:rPr sz="1400" spc="-15" dirty="0">
                <a:latin typeface="微软雅黑" panose="020B0503020204020204" charset="-122"/>
                <a:ea typeface="微软雅黑" panose="020B0503020204020204" charset="-122"/>
                <a:cs typeface="微软雅黑" panose="020B0503020204020204" charset="-122"/>
              </a:rPr>
              <a:t>价格</a:t>
            </a:r>
            <a:r>
              <a:rPr sz="1400" dirty="0">
                <a:latin typeface="微软雅黑" panose="020B0503020204020204" charset="-122"/>
                <a:ea typeface="微软雅黑" panose="020B0503020204020204" charset="-122"/>
                <a:cs typeface="微软雅黑" panose="020B0503020204020204" charset="-122"/>
              </a:rPr>
              <a:t>竞标成</a:t>
            </a:r>
            <a:r>
              <a:rPr sz="1400" spc="-15" dirty="0">
                <a:latin typeface="微软雅黑" panose="020B0503020204020204" charset="-122"/>
                <a:ea typeface="微软雅黑" panose="020B0503020204020204" charset="-122"/>
                <a:cs typeface="微软雅黑" panose="020B0503020204020204" charset="-122"/>
              </a:rPr>
              <a:t>功</a:t>
            </a:r>
            <a:r>
              <a:rPr sz="1400" dirty="0">
                <a:latin typeface="微软雅黑" panose="020B0503020204020204" charset="-122"/>
                <a:ea typeface="微软雅黑" panose="020B0503020204020204" charset="-122"/>
                <a:cs typeface="微软雅黑" panose="020B0503020204020204" charset="-122"/>
              </a:rPr>
              <a:t>。</a:t>
            </a:r>
            <a:endParaRPr sz="1400">
              <a:latin typeface="微软雅黑" panose="020B0503020204020204" charset="-122"/>
              <a:ea typeface="微软雅黑" panose="020B0503020204020204" charset="-122"/>
              <a:cs typeface="微软雅黑" panose="020B0503020204020204" charset="-122"/>
            </a:endParaRPr>
          </a:p>
        </p:txBody>
      </p:sp>
      <p:sp>
        <p:nvSpPr>
          <p:cNvPr id="67" name="object 67"/>
          <p:cNvSpPr txBox="1"/>
          <p:nvPr/>
        </p:nvSpPr>
        <p:spPr>
          <a:xfrm>
            <a:off x="6398805" y="1415713"/>
            <a:ext cx="738617" cy="227965"/>
          </a:xfrm>
          <a:prstGeom prst="rect">
            <a:avLst/>
          </a:prstGeom>
        </p:spPr>
        <p:txBody>
          <a:bodyPr vert="horz" wrap="square" lIns="0" tIns="13325" rIns="0" bIns="0" rtlCol="0">
            <a:spAutoFit/>
          </a:bodyPr>
          <a:lstStyle/>
          <a:p>
            <a:pPr marL="12700">
              <a:lnSpc>
                <a:spcPct val="100000"/>
              </a:lnSpc>
              <a:spcBef>
                <a:spcPts val="105"/>
              </a:spcBef>
            </a:pPr>
            <a:r>
              <a:rPr sz="1400" dirty="0">
                <a:latin typeface="微软雅黑" panose="020B0503020204020204" charset="-122"/>
                <a:ea typeface="微软雅黑" panose="020B0503020204020204" charset="-122"/>
                <a:cs typeface="微软雅黑" panose="020B0503020204020204" charset="-122"/>
              </a:rPr>
              <a:t>利润较低</a:t>
            </a:r>
            <a:endParaRPr sz="1400" dirty="0">
              <a:latin typeface="微软雅黑" panose="020B0503020204020204" charset="-122"/>
              <a:ea typeface="微软雅黑" panose="020B0503020204020204" charset="-122"/>
              <a:cs typeface="微软雅黑" panose="020B0503020204020204" charset="-122"/>
            </a:endParaRPr>
          </a:p>
        </p:txBody>
      </p:sp>
      <p:sp>
        <p:nvSpPr>
          <p:cNvPr id="68" name="object 68"/>
          <p:cNvSpPr txBox="1">
            <a:spLocks noGrp="1"/>
          </p:cNvSpPr>
          <p:nvPr>
            <p:ph type="title"/>
          </p:nvPr>
        </p:nvSpPr>
        <p:spPr>
          <a:xfrm>
            <a:off x="69850" y="203088"/>
            <a:ext cx="3644857" cy="303530"/>
          </a:xfrm>
          <a:prstGeom prst="rect">
            <a:avLst/>
          </a:prstGeom>
        </p:spPr>
        <p:txBody>
          <a:bodyPr vert="horz" wrap="square" lIns="0" tIns="12056" rIns="0" bIns="0" rtlCol="0">
            <a:spAutoFit/>
          </a:bodyPr>
          <a:lstStyle/>
          <a:p>
            <a:pPr marL="12700">
              <a:lnSpc>
                <a:spcPct val="100000"/>
              </a:lnSpc>
              <a:spcBef>
                <a:spcPts val="95"/>
              </a:spcBef>
            </a:pPr>
            <a:r>
              <a:rPr dirty="0">
                <a:ea typeface="微软雅黑" panose="020B0503020204020204" charset="-122"/>
              </a:rPr>
              <a:t>但</a:t>
            </a:r>
            <a:r>
              <a:rPr spc="-5" dirty="0">
                <a:ea typeface="微软雅黑" panose="020B0503020204020204" charset="-122"/>
              </a:rPr>
              <a:t>并非每一</a:t>
            </a:r>
            <a:r>
              <a:rPr spc="-10" dirty="0">
                <a:ea typeface="微软雅黑" panose="020B0503020204020204" charset="-122"/>
              </a:rPr>
              <a:t>个大</a:t>
            </a:r>
            <a:r>
              <a:rPr spc="-5" dirty="0">
                <a:ea typeface="微软雅黑" panose="020B0503020204020204" charset="-122"/>
              </a:rPr>
              <a:t>客</a:t>
            </a:r>
            <a:r>
              <a:rPr spc="-10" dirty="0">
                <a:ea typeface="微软雅黑" panose="020B0503020204020204" charset="-122"/>
              </a:rPr>
              <a:t>户都</a:t>
            </a:r>
            <a:r>
              <a:rPr spc="-5" dirty="0">
                <a:ea typeface="微软雅黑" panose="020B0503020204020204" charset="-122"/>
              </a:rPr>
              <a:t>能</a:t>
            </a:r>
            <a:r>
              <a:rPr spc="-10" dirty="0">
                <a:ea typeface="微软雅黑" panose="020B0503020204020204" charset="-122"/>
              </a:rPr>
              <a:t>带来</a:t>
            </a:r>
            <a:r>
              <a:rPr spc="-5" dirty="0">
                <a:ea typeface="微软雅黑" panose="020B0503020204020204" charset="-122"/>
              </a:rPr>
              <a:t>获</a:t>
            </a:r>
            <a:r>
              <a:rPr spc="-10" dirty="0">
                <a:ea typeface="微软雅黑" panose="020B0503020204020204" charset="-122"/>
              </a:rPr>
              <a:t>利</a:t>
            </a:r>
            <a:endParaRPr spc="-10" dirty="0">
              <a:ea typeface="微软雅黑" panose="020B0503020204020204" charset="-122"/>
            </a:endParaRPr>
          </a:p>
        </p:txBody>
      </p:sp>
      <p:sp>
        <p:nvSpPr>
          <p:cNvPr id="69" name="object 69"/>
          <p:cNvSpPr/>
          <p:nvPr/>
        </p:nvSpPr>
        <p:spPr>
          <a:xfrm>
            <a:off x="880248" y="1939472"/>
            <a:ext cx="7843042" cy="0"/>
          </a:xfrm>
          <a:custGeom>
            <a:avLst/>
            <a:gdLst/>
            <a:ahLst/>
            <a:cxnLst/>
            <a:rect l="l" t="t" r="r" b="b"/>
            <a:pathLst>
              <a:path w="7848600">
                <a:moveTo>
                  <a:pt x="0" y="0"/>
                </a:moveTo>
                <a:lnTo>
                  <a:pt x="7848600" y="0"/>
                </a:lnTo>
              </a:path>
            </a:pathLst>
          </a:custGeom>
          <a:ln w="3175">
            <a:solidFill>
              <a:srgbClr val="000000"/>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70" name="object 70"/>
          <p:cNvSpPr/>
          <p:nvPr/>
        </p:nvSpPr>
        <p:spPr>
          <a:xfrm>
            <a:off x="880248" y="2726822"/>
            <a:ext cx="7843042" cy="0"/>
          </a:xfrm>
          <a:custGeom>
            <a:avLst/>
            <a:gdLst/>
            <a:ahLst/>
            <a:cxnLst/>
            <a:rect l="l" t="t" r="r" b="b"/>
            <a:pathLst>
              <a:path w="7848600">
                <a:moveTo>
                  <a:pt x="0" y="0"/>
                </a:moveTo>
                <a:lnTo>
                  <a:pt x="7848600" y="0"/>
                </a:lnTo>
              </a:path>
            </a:pathLst>
          </a:custGeom>
          <a:ln w="3175">
            <a:solidFill>
              <a:srgbClr val="000000"/>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71" name="object 71"/>
          <p:cNvSpPr/>
          <p:nvPr/>
        </p:nvSpPr>
        <p:spPr>
          <a:xfrm>
            <a:off x="880248" y="3518741"/>
            <a:ext cx="7843042" cy="0"/>
          </a:xfrm>
          <a:custGeom>
            <a:avLst/>
            <a:gdLst/>
            <a:ahLst/>
            <a:cxnLst/>
            <a:rect l="l" t="t" r="r" b="b"/>
            <a:pathLst>
              <a:path w="7848600">
                <a:moveTo>
                  <a:pt x="0" y="0"/>
                </a:moveTo>
                <a:lnTo>
                  <a:pt x="7848600" y="0"/>
                </a:lnTo>
              </a:path>
            </a:pathLst>
          </a:custGeom>
          <a:ln w="3175">
            <a:solidFill>
              <a:srgbClr val="000000"/>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72" name="object 72"/>
          <p:cNvSpPr txBox="1"/>
          <p:nvPr/>
        </p:nvSpPr>
        <p:spPr>
          <a:xfrm>
            <a:off x="8423400" y="494296"/>
            <a:ext cx="329966" cy="196215"/>
          </a:xfrm>
          <a:prstGeom prst="rect">
            <a:avLst/>
          </a:prstGeom>
        </p:spPr>
        <p:txBody>
          <a:bodyPr vert="horz" wrap="square" lIns="0" tIns="12691" rIns="0" bIns="0" rtlCol="0">
            <a:spAutoFit/>
          </a:bodyPr>
          <a:lstStyle/>
          <a:p>
            <a:pPr marL="12700">
              <a:lnSpc>
                <a:spcPct val="100000"/>
              </a:lnSpc>
              <a:spcBef>
                <a:spcPts val="100"/>
              </a:spcBef>
            </a:pPr>
            <a:r>
              <a:rPr sz="1200" spc="-5" dirty="0">
                <a:solidFill>
                  <a:srgbClr val="808080"/>
                </a:solidFill>
                <a:latin typeface="微软雅黑" panose="020B0503020204020204" charset="-122"/>
                <a:ea typeface="微软雅黑" panose="020B0503020204020204" charset="-122"/>
                <a:cs typeface="微软雅黑" panose="020B0503020204020204" charset="-122"/>
              </a:rPr>
              <a:t>举例</a:t>
            </a:r>
            <a:endParaRPr sz="1200" spc="-5" dirty="0">
              <a:solidFill>
                <a:srgbClr val="808080"/>
              </a:solidFill>
              <a:latin typeface="微软雅黑" panose="020B0503020204020204" charset="-122"/>
              <a:ea typeface="微软雅黑" panose="020B0503020204020204" charset="-122"/>
              <a:cs typeface="微软雅黑" panose="020B0503020204020204" charset="-122"/>
            </a:endParaRPr>
          </a:p>
        </p:txBody>
      </p:sp>
      <p:sp>
        <p:nvSpPr>
          <p:cNvPr id="73" name="object 73"/>
          <p:cNvSpPr/>
          <p:nvPr/>
        </p:nvSpPr>
        <p:spPr>
          <a:xfrm>
            <a:off x="8408045" y="518587"/>
            <a:ext cx="0" cy="209402"/>
          </a:xfrm>
          <a:custGeom>
            <a:avLst/>
            <a:gdLst/>
            <a:ahLst/>
            <a:cxnLst/>
            <a:rect l="l" t="t" r="r" b="b"/>
            <a:pathLst>
              <a:path h="209550">
                <a:moveTo>
                  <a:pt x="0" y="0"/>
                </a:moveTo>
                <a:lnTo>
                  <a:pt x="0" y="209550"/>
                </a:lnTo>
              </a:path>
            </a:pathLst>
          </a:custGeom>
          <a:ln w="9525">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4" name="object 74"/>
          <p:cNvSpPr/>
          <p:nvPr/>
        </p:nvSpPr>
        <p:spPr>
          <a:xfrm>
            <a:off x="8408807" y="727988"/>
            <a:ext cx="331870" cy="0"/>
          </a:xfrm>
          <a:custGeom>
            <a:avLst/>
            <a:gdLst/>
            <a:ahLst/>
            <a:cxnLst/>
            <a:rect l="l" t="t" r="r" b="b"/>
            <a:pathLst>
              <a:path w="332104">
                <a:moveTo>
                  <a:pt x="0" y="0"/>
                </a:moveTo>
                <a:lnTo>
                  <a:pt x="331850" y="0"/>
                </a:lnTo>
              </a:path>
            </a:pathLst>
          </a:custGeom>
          <a:ln w="25400">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5" name="object 75"/>
          <p:cNvSpPr/>
          <p:nvPr/>
        </p:nvSpPr>
        <p:spPr>
          <a:xfrm>
            <a:off x="2104675" y="5227458"/>
            <a:ext cx="6273164" cy="760191"/>
          </a:xfrm>
          <a:custGeom>
            <a:avLst/>
            <a:gdLst/>
            <a:ahLst/>
            <a:cxnLst/>
            <a:rect l="l" t="t" r="r" b="b"/>
            <a:pathLst>
              <a:path w="6277609" h="760729">
                <a:moveTo>
                  <a:pt x="6232143" y="0"/>
                </a:moveTo>
                <a:lnTo>
                  <a:pt x="45212" y="0"/>
                </a:lnTo>
                <a:lnTo>
                  <a:pt x="27592" y="3546"/>
                </a:lnTo>
                <a:lnTo>
                  <a:pt x="13223" y="13223"/>
                </a:lnTo>
                <a:lnTo>
                  <a:pt x="3546" y="27592"/>
                </a:lnTo>
                <a:lnTo>
                  <a:pt x="0" y="45212"/>
                </a:lnTo>
                <a:lnTo>
                  <a:pt x="0" y="715302"/>
                </a:lnTo>
                <a:lnTo>
                  <a:pt x="3546" y="732883"/>
                </a:lnTo>
                <a:lnTo>
                  <a:pt x="13223" y="747242"/>
                </a:lnTo>
                <a:lnTo>
                  <a:pt x="27592" y="756925"/>
                </a:lnTo>
                <a:lnTo>
                  <a:pt x="45212" y="760476"/>
                </a:lnTo>
                <a:lnTo>
                  <a:pt x="6232143" y="760476"/>
                </a:lnTo>
                <a:lnTo>
                  <a:pt x="6249763" y="756925"/>
                </a:lnTo>
                <a:lnTo>
                  <a:pt x="6264132" y="747242"/>
                </a:lnTo>
                <a:lnTo>
                  <a:pt x="6273809" y="732883"/>
                </a:lnTo>
                <a:lnTo>
                  <a:pt x="6277356" y="715302"/>
                </a:lnTo>
                <a:lnTo>
                  <a:pt x="6277356" y="45212"/>
                </a:lnTo>
                <a:lnTo>
                  <a:pt x="6273809" y="27592"/>
                </a:lnTo>
                <a:lnTo>
                  <a:pt x="6264132" y="13223"/>
                </a:lnTo>
                <a:lnTo>
                  <a:pt x="6249763" y="3546"/>
                </a:lnTo>
                <a:lnTo>
                  <a:pt x="623214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6" name="object 76"/>
          <p:cNvSpPr/>
          <p:nvPr/>
        </p:nvSpPr>
        <p:spPr>
          <a:xfrm>
            <a:off x="2104675" y="5227458"/>
            <a:ext cx="6273164" cy="760191"/>
          </a:xfrm>
          <a:custGeom>
            <a:avLst/>
            <a:gdLst/>
            <a:ahLst/>
            <a:cxnLst/>
            <a:rect l="l" t="t" r="r" b="b"/>
            <a:pathLst>
              <a:path w="6277609" h="760729">
                <a:moveTo>
                  <a:pt x="0" y="45212"/>
                </a:moveTo>
                <a:lnTo>
                  <a:pt x="3546" y="27592"/>
                </a:lnTo>
                <a:lnTo>
                  <a:pt x="13223" y="13223"/>
                </a:lnTo>
                <a:lnTo>
                  <a:pt x="27592" y="3546"/>
                </a:lnTo>
                <a:lnTo>
                  <a:pt x="45212" y="0"/>
                </a:lnTo>
                <a:lnTo>
                  <a:pt x="6232143" y="0"/>
                </a:lnTo>
                <a:lnTo>
                  <a:pt x="6249763" y="3546"/>
                </a:lnTo>
                <a:lnTo>
                  <a:pt x="6264132" y="13223"/>
                </a:lnTo>
                <a:lnTo>
                  <a:pt x="6273809" y="27592"/>
                </a:lnTo>
                <a:lnTo>
                  <a:pt x="6277356" y="45212"/>
                </a:lnTo>
                <a:lnTo>
                  <a:pt x="6277356" y="715302"/>
                </a:lnTo>
                <a:lnTo>
                  <a:pt x="6273809" y="732883"/>
                </a:lnTo>
                <a:lnTo>
                  <a:pt x="6264132" y="747242"/>
                </a:lnTo>
                <a:lnTo>
                  <a:pt x="6249763" y="756925"/>
                </a:lnTo>
                <a:lnTo>
                  <a:pt x="6232143" y="760476"/>
                </a:lnTo>
                <a:lnTo>
                  <a:pt x="45212" y="760476"/>
                </a:lnTo>
                <a:lnTo>
                  <a:pt x="27592" y="756925"/>
                </a:lnTo>
                <a:lnTo>
                  <a:pt x="13223" y="747242"/>
                </a:lnTo>
                <a:lnTo>
                  <a:pt x="3546" y="732883"/>
                </a:lnTo>
                <a:lnTo>
                  <a:pt x="0" y="715302"/>
                </a:lnTo>
                <a:lnTo>
                  <a:pt x="0" y="45212"/>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7" name="object 77"/>
          <p:cNvSpPr txBox="1"/>
          <p:nvPr/>
        </p:nvSpPr>
        <p:spPr>
          <a:xfrm>
            <a:off x="2116042" y="5492547"/>
            <a:ext cx="6250320" cy="257175"/>
          </a:xfrm>
          <a:prstGeom prst="rect">
            <a:avLst/>
          </a:prstGeom>
        </p:spPr>
        <p:txBody>
          <a:bodyPr vert="horz" wrap="square" lIns="0" tIns="12056" rIns="0" bIns="0" rtlCol="0">
            <a:spAutoFit/>
          </a:bodyPr>
          <a:lstStyle/>
          <a:p>
            <a:pPr marL="381635">
              <a:lnSpc>
                <a:spcPct val="100000"/>
              </a:lnSpc>
              <a:spcBef>
                <a:spcPts val="95"/>
              </a:spcBef>
            </a:pPr>
            <a:r>
              <a:rPr sz="1600" b="1" dirty="0">
                <a:latin typeface="微软雅黑" panose="020B0503020204020204" charset="-122"/>
                <a:ea typeface="微软雅黑" panose="020B0503020204020204" charset="-122"/>
                <a:cs typeface="微软雅黑" panose="020B0503020204020204" charset="-122"/>
              </a:rPr>
              <a:t>深入理解客</a:t>
            </a:r>
            <a:r>
              <a:rPr sz="1600" b="1" spc="-10" dirty="0">
                <a:latin typeface="微软雅黑" panose="020B0503020204020204" charset="-122"/>
                <a:ea typeface="微软雅黑" panose="020B0503020204020204" charset="-122"/>
                <a:cs typeface="微软雅黑" panose="020B0503020204020204" charset="-122"/>
              </a:rPr>
              <a:t>户的</a:t>
            </a:r>
            <a:r>
              <a:rPr sz="1600" b="1" dirty="0">
                <a:latin typeface="微软雅黑" panose="020B0503020204020204" charset="-122"/>
                <a:ea typeface="微软雅黑" panose="020B0503020204020204" charset="-122"/>
                <a:cs typeface="微软雅黑" panose="020B0503020204020204" charset="-122"/>
              </a:rPr>
              <a:t>需</a:t>
            </a:r>
            <a:r>
              <a:rPr sz="1600" b="1" spc="-10" dirty="0">
                <a:latin typeface="微软雅黑" panose="020B0503020204020204" charset="-122"/>
                <a:ea typeface="微软雅黑" panose="020B0503020204020204" charset="-122"/>
                <a:cs typeface="微软雅黑" panose="020B0503020204020204" charset="-122"/>
              </a:rPr>
              <a:t>求，</a:t>
            </a:r>
            <a:r>
              <a:rPr sz="1600" b="1" dirty="0">
                <a:latin typeface="微软雅黑" panose="020B0503020204020204" charset="-122"/>
                <a:ea typeface="微软雅黑" panose="020B0503020204020204" charset="-122"/>
                <a:cs typeface="微软雅黑" panose="020B0503020204020204" charset="-122"/>
              </a:rPr>
              <a:t>优</a:t>
            </a:r>
            <a:r>
              <a:rPr sz="1600" b="1" spc="-10" dirty="0">
                <a:latin typeface="微软雅黑" panose="020B0503020204020204" charset="-122"/>
                <a:ea typeface="微软雅黑" panose="020B0503020204020204" charset="-122"/>
                <a:cs typeface="微软雅黑" panose="020B0503020204020204" charset="-122"/>
              </a:rPr>
              <a:t>化销</a:t>
            </a:r>
            <a:r>
              <a:rPr sz="1600" b="1" dirty="0">
                <a:latin typeface="微软雅黑" panose="020B0503020204020204" charset="-122"/>
                <a:ea typeface="微软雅黑" panose="020B0503020204020204" charset="-122"/>
                <a:cs typeface="微软雅黑" panose="020B0503020204020204" charset="-122"/>
              </a:rPr>
              <a:t>售</a:t>
            </a:r>
            <a:r>
              <a:rPr sz="1600" b="1" spc="-10" dirty="0">
                <a:latin typeface="微软雅黑" panose="020B0503020204020204" charset="-122"/>
                <a:ea typeface="微软雅黑" panose="020B0503020204020204" charset="-122"/>
                <a:cs typeface="微软雅黑" panose="020B0503020204020204" charset="-122"/>
              </a:rPr>
              <a:t>的价</a:t>
            </a:r>
            <a:r>
              <a:rPr sz="1600" b="1" dirty="0">
                <a:latin typeface="微软雅黑" panose="020B0503020204020204" charset="-122"/>
                <a:ea typeface="微软雅黑" panose="020B0503020204020204" charset="-122"/>
                <a:cs typeface="微软雅黑" panose="020B0503020204020204" charset="-122"/>
              </a:rPr>
              <a:t>值</a:t>
            </a:r>
            <a:r>
              <a:rPr sz="1600" b="1" spc="-10" dirty="0">
                <a:latin typeface="微软雅黑" panose="020B0503020204020204" charset="-122"/>
                <a:ea typeface="微软雅黑" panose="020B0503020204020204" charset="-122"/>
                <a:cs typeface="微软雅黑" panose="020B0503020204020204" charset="-122"/>
              </a:rPr>
              <a:t>定位</a:t>
            </a:r>
            <a:r>
              <a:rPr sz="1600" b="1" dirty="0">
                <a:latin typeface="微软雅黑" panose="020B0503020204020204" charset="-122"/>
                <a:ea typeface="微软雅黑" panose="020B0503020204020204" charset="-122"/>
                <a:cs typeface="微软雅黑" panose="020B0503020204020204" charset="-122"/>
              </a:rPr>
              <a:t>，</a:t>
            </a:r>
            <a:r>
              <a:rPr sz="1600" b="1" spc="-10" dirty="0">
                <a:latin typeface="微软雅黑" panose="020B0503020204020204" charset="-122"/>
                <a:ea typeface="微软雅黑" panose="020B0503020204020204" charset="-122"/>
                <a:cs typeface="微软雅黑" panose="020B0503020204020204" charset="-122"/>
              </a:rPr>
              <a:t>实现</a:t>
            </a:r>
            <a:r>
              <a:rPr sz="1600" b="1" dirty="0">
                <a:latin typeface="微软雅黑" panose="020B0503020204020204" charset="-122"/>
                <a:ea typeface="微软雅黑" panose="020B0503020204020204" charset="-122"/>
                <a:cs typeface="微软雅黑" panose="020B0503020204020204" charset="-122"/>
              </a:rPr>
              <a:t>利</a:t>
            </a:r>
            <a:r>
              <a:rPr sz="1600" b="1" spc="-10" dirty="0">
                <a:latin typeface="微软雅黑" panose="020B0503020204020204" charset="-122"/>
                <a:ea typeface="微软雅黑" panose="020B0503020204020204" charset="-122"/>
                <a:cs typeface="微软雅黑" panose="020B0503020204020204" charset="-122"/>
              </a:rPr>
              <a:t>润最</a:t>
            </a:r>
            <a:r>
              <a:rPr sz="1600" b="1" dirty="0">
                <a:latin typeface="微软雅黑" panose="020B0503020204020204" charset="-122"/>
                <a:ea typeface="微软雅黑" panose="020B0503020204020204" charset="-122"/>
                <a:cs typeface="微软雅黑" panose="020B0503020204020204" charset="-122"/>
              </a:rPr>
              <a:t>大</a:t>
            </a:r>
            <a:r>
              <a:rPr sz="1600" b="1" spc="-10" dirty="0">
                <a:latin typeface="微软雅黑" panose="020B0503020204020204" charset="-122"/>
                <a:ea typeface="微软雅黑" panose="020B0503020204020204" charset="-122"/>
                <a:cs typeface="微软雅黑" panose="020B0503020204020204" charset="-122"/>
              </a:rPr>
              <a:t>化</a:t>
            </a:r>
            <a:endParaRPr sz="16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401" y="203088"/>
            <a:ext cx="2679706"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大客户管理</a:t>
            </a:r>
            <a:r>
              <a:rPr spc="-10" dirty="0">
                <a:ea typeface="微软雅黑" panose="020B0503020204020204" charset="-122"/>
              </a:rPr>
              <a:t>包括</a:t>
            </a:r>
            <a:r>
              <a:rPr spc="-5" dirty="0">
                <a:ea typeface="微软雅黑" panose="020B0503020204020204" charset="-122"/>
              </a:rPr>
              <a:t>五</a:t>
            </a:r>
            <a:r>
              <a:rPr spc="-10" dirty="0">
                <a:ea typeface="微软雅黑" panose="020B0503020204020204" charset="-122"/>
              </a:rPr>
              <a:t>大要素</a:t>
            </a:r>
            <a:endParaRPr spc="-10" dirty="0">
              <a:ea typeface="微软雅黑" panose="020B0503020204020204" charset="-122"/>
            </a:endParaRPr>
          </a:p>
        </p:txBody>
      </p:sp>
      <p:sp>
        <p:nvSpPr>
          <p:cNvPr id="4" name="object 4"/>
          <p:cNvSpPr txBox="1"/>
          <p:nvPr/>
        </p:nvSpPr>
        <p:spPr>
          <a:xfrm>
            <a:off x="106401" y="6412696"/>
            <a:ext cx="2191102"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35"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a:t>
            </a:r>
            <a:r>
              <a:rPr sz="1000" spc="-35"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营销和销售业务部</a:t>
            </a:r>
            <a:endParaRPr sz="1000">
              <a:latin typeface="微软雅黑" panose="020B0503020204020204" charset="-122"/>
              <a:ea typeface="微软雅黑" panose="020B0503020204020204" charset="-122"/>
              <a:cs typeface="微软雅黑" panose="020B0503020204020204" charset="-122"/>
            </a:endParaRPr>
          </a:p>
        </p:txBody>
      </p:sp>
      <p:sp>
        <p:nvSpPr>
          <p:cNvPr id="5" name="object 5"/>
          <p:cNvSpPr/>
          <p:nvPr/>
        </p:nvSpPr>
        <p:spPr>
          <a:xfrm>
            <a:off x="2096299" y="1323450"/>
            <a:ext cx="2679071" cy="3900581"/>
          </a:xfrm>
          <a:custGeom>
            <a:avLst/>
            <a:gdLst/>
            <a:ahLst/>
            <a:cxnLst/>
            <a:rect l="l" t="t" r="r" b="b"/>
            <a:pathLst>
              <a:path w="2680970" h="3903345">
                <a:moveTo>
                  <a:pt x="1977643" y="0"/>
                </a:moveTo>
                <a:lnTo>
                  <a:pt x="0" y="0"/>
                </a:lnTo>
                <a:lnTo>
                  <a:pt x="703071" y="1952244"/>
                </a:lnTo>
                <a:lnTo>
                  <a:pt x="0" y="3902964"/>
                </a:lnTo>
                <a:lnTo>
                  <a:pt x="1977643" y="3902964"/>
                </a:lnTo>
                <a:lnTo>
                  <a:pt x="2680716" y="1952244"/>
                </a:lnTo>
                <a:lnTo>
                  <a:pt x="197764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2096299" y="1323450"/>
            <a:ext cx="2679071" cy="3900581"/>
          </a:xfrm>
          <a:custGeom>
            <a:avLst/>
            <a:gdLst/>
            <a:ahLst/>
            <a:cxnLst/>
            <a:rect l="l" t="t" r="r" b="b"/>
            <a:pathLst>
              <a:path w="2680970" h="3903345">
                <a:moveTo>
                  <a:pt x="0" y="0"/>
                </a:moveTo>
                <a:lnTo>
                  <a:pt x="1977643" y="0"/>
                </a:lnTo>
                <a:lnTo>
                  <a:pt x="2680716" y="1952244"/>
                </a:lnTo>
                <a:lnTo>
                  <a:pt x="1977643" y="3902964"/>
                </a:lnTo>
                <a:lnTo>
                  <a:pt x="0" y="3902964"/>
                </a:lnTo>
                <a:lnTo>
                  <a:pt x="703071"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4074573" y="1323450"/>
            <a:ext cx="2679071" cy="1951242"/>
          </a:xfrm>
          <a:custGeom>
            <a:avLst/>
            <a:gdLst/>
            <a:ahLst/>
            <a:cxnLst/>
            <a:rect l="l" t="t" r="r" b="b"/>
            <a:pathLst>
              <a:path w="2680970" h="1952625">
                <a:moveTo>
                  <a:pt x="1977643" y="0"/>
                </a:moveTo>
                <a:lnTo>
                  <a:pt x="0" y="0"/>
                </a:lnTo>
                <a:lnTo>
                  <a:pt x="703072" y="1952244"/>
                </a:lnTo>
                <a:lnTo>
                  <a:pt x="2680716" y="1952244"/>
                </a:lnTo>
                <a:lnTo>
                  <a:pt x="197764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4074573" y="1323450"/>
            <a:ext cx="2679071" cy="1951242"/>
          </a:xfrm>
          <a:custGeom>
            <a:avLst/>
            <a:gdLst/>
            <a:ahLst/>
            <a:cxnLst/>
            <a:rect l="l" t="t" r="r" b="b"/>
            <a:pathLst>
              <a:path w="2680970" h="1952625">
                <a:moveTo>
                  <a:pt x="0" y="0"/>
                </a:moveTo>
                <a:lnTo>
                  <a:pt x="1977643" y="0"/>
                </a:lnTo>
                <a:lnTo>
                  <a:pt x="2680716" y="1952244"/>
                </a:lnTo>
                <a:lnTo>
                  <a:pt x="703072"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4074573" y="3274312"/>
            <a:ext cx="4655695" cy="1949338"/>
          </a:xfrm>
          <a:custGeom>
            <a:avLst/>
            <a:gdLst/>
            <a:ahLst/>
            <a:cxnLst/>
            <a:rect l="l" t="t" r="r" b="b"/>
            <a:pathLst>
              <a:path w="4658995" h="1950720">
                <a:moveTo>
                  <a:pt x="4658868" y="0"/>
                </a:moveTo>
                <a:lnTo>
                  <a:pt x="703199" y="0"/>
                </a:lnTo>
                <a:lnTo>
                  <a:pt x="0" y="1950720"/>
                </a:lnTo>
                <a:lnTo>
                  <a:pt x="3955668" y="1950720"/>
                </a:lnTo>
                <a:lnTo>
                  <a:pt x="4658868"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4074573" y="3274312"/>
            <a:ext cx="4655695" cy="1949338"/>
          </a:xfrm>
          <a:custGeom>
            <a:avLst/>
            <a:gdLst/>
            <a:ahLst/>
            <a:cxnLst/>
            <a:rect l="l" t="t" r="r" b="b"/>
            <a:pathLst>
              <a:path w="4658995" h="1950720">
                <a:moveTo>
                  <a:pt x="4658868" y="0"/>
                </a:moveTo>
                <a:lnTo>
                  <a:pt x="3955668" y="1950720"/>
                </a:lnTo>
                <a:lnTo>
                  <a:pt x="0" y="1950720"/>
                </a:lnTo>
                <a:lnTo>
                  <a:pt x="703199" y="0"/>
                </a:lnTo>
                <a:lnTo>
                  <a:pt x="4658868"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6051325" y="1323450"/>
            <a:ext cx="2679071" cy="1951242"/>
          </a:xfrm>
          <a:custGeom>
            <a:avLst/>
            <a:gdLst/>
            <a:ahLst/>
            <a:cxnLst/>
            <a:rect l="l" t="t" r="r" b="b"/>
            <a:pathLst>
              <a:path w="2680970" h="1952625">
                <a:moveTo>
                  <a:pt x="1977643" y="0"/>
                </a:moveTo>
                <a:lnTo>
                  <a:pt x="0" y="0"/>
                </a:lnTo>
                <a:lnTo>
                  <a:pt x="703071" y="1952244"/>
                </a:lnTo>
                <a:lnTo>
                  <a:pt x="2680716" y="1952244"/>
                </a:lnTo>
                <a:lnTo>
                  <a:pt x="197764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6051325" y="1323450"/>
            <a:ext cx="2679071" cy="1951242"/>
          </a:xfrm>
          <a:custGeom>
            <a:avLst/>
            <a:gdLst/>
            <a:ahLst/>
            <a:cxnLst/>
            <a:rect l="l" t="t" r="r" b="b"/>
            <a:pathLst>
              <a:path w="2680970" h="1952625">
                <a:moveTo>
                  <a:pt x="0" y="0"/>
                </a:moveTo>
                <a:lnTo>
                  <a:pt x="1977643" y="0"/>
                </a:lnTo>
                <a:lnTo>
                  <a:pt x="2680716" y="1952244"/>
                </a:lnTo>
                <a:lnTo>
                  <a:pt x="703071"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119549" y="1323450"/>
            <a:ext cx="2680340" cy="3900581"/>
          </a:xfrm>
          <a:custGeom>
            <a:avLst/>
            <a:gdLst/>
            <a:ahLst/>
            <a:cxnLst/>
            <a:rect l="l" t="t" r="r" b="b"/>
            <a:pathLst>
              <a:path w="2682240" h="3903345">
                <a:moveTo>
                  <a:pt x="1978787" y="0"/>
                </a:moveTo>
                <a:lnTo>
                  <a:pt x="0" y="0"/>
                </a:lnTo>
                <a:lnTo>
                  <a:pt x="0" y="3902964"/>
                </a:lnTo>
                <a:lnTo>
                  <a:pt x="1978787" y="3902964"/>
                </a:lnTo>
                <a:lnTo>
                  <a:pt x="2682240" y="1952244"/>
                </a:lnTo>
                <a:lnTo>
                  <a:pt x="1978787"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119549" y="1323450"/>
            <a:ext cx="2680340" cy="3900581"/>
          </a:xfrm>
          <a:custGeom>
            <a:avLst/>
            <a:gdLst/>
            <a:ahLst/>
            <a:cxnLst/>
            <a:rect l="l" t="t" r="r" b="b"/>
            <a:pathLst>
              <a:path w="2682240" h="3903345">
                <a:moveTo>
                  <a:pt x="0" y="0"/>
                </a:moveTo>
                <a:lnTo>
                  <a:pt x="1978787" y="0"/>
                </a:lnTo>
                <a:lnTo>
                  <a:pt x="2682240" y="1952244"/>
                </a:lnTo>
                <a:lnTo>
                  <a:pt x="1978787" y="3902964"/>
                </a:lnTo>
                <a:lnTo>
                  <a:pt x="0" y="3902964"/>
                </a:lnTo>
                <a:lnTo>
                  <a:pt x="0"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169043" y="1538944"/>
            <a:ext cx="1926495" cy="3359944"/>
          </a:xfrm>
          <a:custGeom>
            <a:avLst/>
            <a:gdLst/>
            <a:ahLst/>
            <a:cxnLst/>
            <a:rect l="l" t="t" r="r" b="b"/>
            <a:pathLst>
              <a:path w="1927860" h="3362325">
                <a:moveTo>
                  <a:pt x="0" y="3361944"/>
                </a:moveTo>
                <a:lnTo>
                  <a:pt x="1927860" y="3361944"/>
                </a:lnTo>
                <a:lnTo>
                  <a:pt x="1927860" y="0"/>
                </a:lnTo>
                <a:lnTo>
                  <a:pt x="0" y="0"/>
                </a:lnTo>
                <a:lnTo>
                  <a:pt x="0" y="336194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txBox="1"/>
          <p:nvPr/>
        </p:nvSpPr>
        <p:spPr>
          <a:xfrm>
            <a:off x="5439110" y="3524071"/>
            <a:ext cx="434032"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组织</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17" name="object 17"/>
          <p:cNvSpPr/>
          <p:nvPr/>
        </p:nvSpPr>
        <p:spPr>
          <a:xfrm>
            <a:off x="4876519" y="3421020"/>
            <a:ext cx="385807" cy="501295"/>
          </a:xfrm>
          <a:custGeom>
            <a:avLst/>
            <a:gdLst/>
            <a:ahLst/>
            <a:cxnLst/>
            <a:rect l="l" t="t" r="r" b="b"/>
            <a:pathLst>
              <a:path w="386079" h="501650">
                <a:moveTo>
                  <a:pt x="188213" y="0"/>
                </a:moveTo>
                <a:lnTo>
                  <a:pt x="146496" y="4355"/>
                </a:lnTo>
                <a:lnTo>
                  <a:pt x="109553" y="17414"/>
                </a:lnTo>
                <a:lnTo>
                  <a:pt x="77396" y="39165"/>
                </a:lnTo>
                <a:lnTo>
                  <a:pt x="50037" y="69595"/>
                </a:lnTo>
                <a:lnTo>
                  <a:pt x="28128" y="107053"/>
                </a:lnTo>
                <a:lnTo>
                  <a:pt x="12493" y="149891"/>
                </a:lnTo>
                <a:lnTo>
                  <a:pt x="3121" y="198112"/>
                </a:lnTo>
                <a:lnTo>
                  <a:pt x="0" y="251713"/>
                </a:lnTo>
                <a:lnTo>
                  <a:pt x="1549" y="289958"/>
                </a:lnTo>
                <a:lnTo>
                  <a:pt x="13983" y="358780"/>
                </a:lnTo>
                <a:lnTo>
                  <a:pt x="38179" y="416647"/>
                </a:lnTo>
                <a:lnTo>
                  <a:pt x="69611" y="459319"/>
                </a:lnTo>
                <a:lnTo>
                  <a:pt x="108547" y="486487"/>
                </a:lnTo>
                <a:lnTo>
                  <a:pt x="160605" y="499961"/>
                </a:lnTo>
                <a:lnTo>
                  <a:pt x="191897" y="501650"/>
                </a:lnTo>
                <a:lnTo>
                  <a:pt x="227782" y="499695"/>
                </a:lnTo>
                <a:lnTo>
                  <a:pt x="286265" y="484022"/>
                </a:lnTo>
                <a:lnTo>
                  <a:pt x="328562" y="452014"/>
                </a:lnTo>
                <a:lnTo>
                  <a:pt x="363388" y="400147"/>
                </a:lnTo>
                <a:lnTo>
                  <a:pt x="366302" y="393700"/>
                </a:lnTo>
                <a:lnTo>
                  <a:pt x="194817" y="393700"/>
                </a:lnTo>
                <a:lnTo>
                  <a:pt x="180578" y="391747"/>
                </a:lnTo>
                <a:lnTo>
                  <a:pt x="146430" y="362457"/>
                </a:lnTo>
                <a:lnTo>
                  <a:pt x="132125" y="317184"/>
                </a:lnTo>
                <a:lnTo>
                  <a:pt x="129794" y="296417"/>
                </a:lnTo>
                <a:lnTo>
                  <a:pt x="385825" y="296417"/>
                </a:lnTo>
                <a:lnTo>
                  <a:pt x="385825" y="275716"/>
                </a:lnTo>
                <a:lnTo>
                  <a:pt x="384468" y="230499"/>
                </a:lnTo>
                <a:lnTo>
                  <a:pt x="382249" y="208279"/>
                </a:lnTo>
                <a:lnTo>
                  <a:pt x="130175" y="208279"/>
                </a:lnTo>
                <a:lnTo>
                  <a:pt x="132244" y="188162"/>
                </a:lnTo>
                <a:lnTo>
                  <a:pt x="144907" y="143763"/>
                </a:lnTo>
                <a:lnTo>
                  <a:pt x="179071" y="111134"/>
                </a:lnTo>
                <a:lnTo>
                  <a:pt x="193548" y="108965"/>
                </a:lnTo>
                <a:lnTo>
                  <a:pt x="358683" y="108965"/>
                </a:lnTo>
                <a:lnTo>
                  <a:pt x="352087" y="93678"/>
                </a:lnTo>
                <a:lnTo>
                  <a:pt x="320567" y="48529"/>
                </a:lnTo>
                <a:lnTo>
                  <a:pt x="278493" y="17573"/>
                </a:lnTo>
                <a:lnTo>
                  <a:pt x="222053" y="1952"/>
                </a:lnTo>
                <a:lnTo>
                  <a:pt x="188213" y="0"/>
                </a:lnTo>
                <a:close/>
              </a:path>
              <a:path w="386079" h="501650">
                <a:moveTo>
                  <a:pt x="252729" y="349757"/>
                </a:moveTo>
                <a:lnTo>
                  <a:pt x="221910" y="386038"/>
                </a:lnTo>
                <a:lnTo>
                  <a:pt x="194817" y="393700"/>
                </a:lnTo>
                <a:lnTo>
                  <a:pt x="366302" y="393700"/>
                </a:lnTo>
                <a:lnTo>
                  <a:pt x="378587" y="366521"/>
                </a:lnTo>
                <a:lnTo>
                  <a:pt x="252729" y="349757"/>
                </a:lnTo>
                <a:close/>
              </a:path>
              <a:path w="386079" h="501650">
                <a:moveTo>
                  <a:pt x="358683" y="108965"/>
                </a:moveTo>
                <a:lnTo>
                  <a:pt x="193548" y="108965"/>
                </a:lnTo>
                <a:lnTo>
                  <a:pt x="206069" y="110396"/>
                </a:lnTo>
                <a:lnTo>
                  <a:pt x="217328" y="114696"/>
                </a:lnTo>
                <a:lnTo>
                  <a:pt x="243278" y="145379"/>
                </a:lnTo>
                <a:lnTo>
                  <a:pt x="253236" y="183566"/>
                </a:lnTo>
                <a:lnTo>
                  <a:pt x="255904" y="208279"/>
                </a:lnTo>
                <a:lnTo>
                  <a:pt x="382249" y="208279"/>
                </a:lnTo>
                <a:lnTo>
                  <a:pt x="380396" y="189722"/>
                </a:lnTo>
                <a:lnTo>
                  <a:pt x="373610" y="153398"/>
                </a:lnTo>
                <a:lnTo>
                  <a:pt x="364109" y="121538"/>
                </a:lnTo>
                <a:lnTo>
                  <a:pt x="358683" y="108965"/>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p:nvPr/>
        </p:nvSpPr>
        <p:spPr>
          <a:xfrm>
            <a:off x="4402256" y="1433354"/>
            <a:ext cx="385807" cy="501295"/>
          </a:xfrm>
          <a:custGeom>
            <a:avLst/>
            <a:gdLst/>
            <a:ahLst/>
            <a:cxnLst/>
            <a:rect l="l" t="t" r="r" b="b"/>
            <a:pathLst>
              <a:path w="386079" h="501650">
                <a:moveTo>
                  <a:pt x="194437" y="0"/>
                </a:moveTo>
                <a:lnTo>
                  <a:pt x="141208" y="5524"/>
                </a:lnTo>
                <a:lnTo>
                  <a:pt x="98551" y="22098"/>
                </a:lnTo>
                <a:lnTo>
                  <a:pt x="63940" y="51315"/>
                </a:lnTo>
                <a:lnTo>
                  <a:pt x="32781" y="95250"/>
                </a:lnTo>
                <a:lnTo>
                  <a:pt x="9858" y="155684"/>
                </a:lnTo>
                <a:lnTo>
                  <a:pt x="1095" y="217354"/>
                </a:lnTo>
                <a:lnTo>
                  <a:pt x="0" y="252856"/>
                </a:lnTo>
                <a:lnTo>
                  <a:pt x="885" y="286529"/>
                </a:lnTo>
                <a:lnTo>
                  <a:pt x="8036" y="343350"/>
                </a:lnTo>
                <a:lnTo>
                  <a:pt x="22278" y="387336"/>
                </a:lnTo>
                <a:lnTo>
                  <a:pt x="42229" y="424725"/>
                </a:lnTo>
                <a:lnTo>
                  <a:pt x="67609" y="456136"/>
                </a:lnTo>
                <a:lnTo>
                  <a:pt x="98038" y="479186"/>
                </a:lnTo>
                <a:lnTo>
                  <a:pt x="133873" y="493613"/>
                </a:lnTo>
                <a:lnTo>
                  <a:pt x="178069" y="500749"/>
                </a:lnTo>
                <a:lnTo>
                  <a:pt x="203453" y="501650"/>
                </a:lnTo>
                <a:lnTo>
                  <a:pt x="229766" y="500249"/>
                </a:lnTo>
                <a:lnTo>
                  <a:pt x="275105" y="489112"/>
                </a:lnTo>
                <a:lnTo>
                  <a:pt x="311155" y="467256"/>
                </a:lnTo>
                <a:lnTo>
                  <a:pt x="340441" y="436205"/>
                </a:lnTo>
                <a:lnTo>
                  <a:pt x="363374" y="396392"/>
                </a:lnTo>
                <a:lnTo>
                  <a:pt x="370603" y="378205"/>
                </a:lnTo>
                <a:lnTo>
                  <a:pt x="196214" y="378205"/>
                </a:lnTo>
                <a:lnTo>
                  <a:pt x="181832" y="376297"/>
                </a:lnTo>
                <a:lnTo>
                  <a:pt x="146685" y="347472"/>
                </a:lnTo>
                <a:lnTo>
                  <a:pt x="132000" y="309737"/>
                </a:lnTo>
                <a:lnTo>
                  <a:pt x="127126" y="257810"/>
                </a:lnTo>
                <a:lnTo>
                  <a:pt x="128363" y="226704"/>
                </a:lnTo>
                <a:lnTo>
                  <a:pt x="138217" y="177210"/>
                </a:lnTo>
                <a:lnTo>
                  <a:pt x="169465" y="134175"/>
                </a:lnTo>
                <a:lnTo>
                  <a:pt x="198120" y="125984"/>
                </a:lnTo>
                <a:lnTo>
                  <a:pt x="368473" y="125984"/>
                </a:lnTo>
                <a:lnTo>
                  <a:pt x="355377" y="93710"/>
                </a:lnTo>
                <a:lnTo>
                  <a:pt x="318897" y="41910"/>
                </a:lnTo>
                <a:lnTo>
                  <a:pt x="266334" y="10477"/>
                </a:lnTo>
                <a:lnTo>
                  <a:pt x="232796" y="2619"/>
                </a:lnTo>
                <a:lnTo>
                  <a:pt x="194437" y="0"/>
                </a:lnTo>
                <a:close/>
              </a:path>
              <a:path w="386079" h="501650">
                <a:moveTo>
                  <a:pt x="264160" y="302767"/>
                </a:moveTo>
                <a:lnTo>
                  <a:pt x="246532" y="349166"/>
                </a:lnTo>
                <a:lnTo>
                  <a:pt x="208287" y="377041"/>
                </a:lnTo>
                <a:lnTo>
                  <a:pt x="196214" y="378205"/>
                </a:lnTo>
                <a:lnTo>
                  <a:pt x="370603" y="378205"/>
                </a:lnTo>
                <a:lnTo>
                  <a:pt x="372446" y="373554"/>
                </a:lnTo>
                <a:lnTo>
                  <a:pt x="379860" y="349009"/>
                </a:lnTo>
                <a:lnTo>
                  <a:pt x="385699" y="322579"/>
                </a:lnTo>
                <a:lnTo>
                  <a:pt x="264160" y="302767"/>
                </a:lnTo>
                <a:close/>
              </a:path>
              <a:path w="386079" h="501650">
                <a:moveTo>
                  <a:pt x="368473" y="125984"/>
                </a:moveTo>
                <a:lnTo>
                  <a:pt x="198120" y="125984"/>
                </a:lnTo>
                <a:lnTo>
                  <a:pt x="210052" y="126960"/>
                </a:lnTo>
                <a:lnTo>
                  <a:pt x="220710" y="129889"/>
                </a:lnTo>
                <a:lnTo>
                  <a:pt x="250825" y="161020"/>
                </a:lnTo>
                <a:lnTo>
                  <a:pt x="258825" y="187960"/>
                </a:lnTo>
                <a:lnTo>
                  <a:pt x="379095" y="164846"/>
                </a:lnTo>
                <a:lnTo>
                  <a:pt x="368831" y="126867"/>
                </a:lnTo>
                <a:lnTo>
                  <a:pt x="368473" y="125984"/>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p:nvPr/>
        </p:nvSpPr>
        <p:spPr>
          <a:xfrm>
            <a:off x="6458199" y="1433354"/>
            <a:ext cx="385807" cy="501295"/>
          </a:xfrm>
          <a:custGeom>
            <a:avLst/>
            <a:gdLst/>
            <a:ahLst/>
            <a:cxnLst/>
            <a:rect l="l" t="t" r="r" b="b"/>
            <a:pathLst>
              <a:path w="386079" h="501650">
                <a:moveTo>
                  <a:pt x="147827" y="127888"/>
                </a:moveTo>
                <a:lnTo>
                  <a:pt x="89074" y="139684"/>
                </a:lnTo>
                <a:lnTo>
                  <a:pt x="41655" y="175005"/>
                </a:lnTo>
                <a:lnTo>
                  <a:pt x="10398" y="232537"/>
                </a:lnTo>
                <a:lnTo>
                  <a:pt x="0" y="311023"/>
                </a:lnTo>
                <a:lnTo>
                  <a:pt x="2357" y="349244"/>
                </a:lnTo>
                <a:lnTo>
                  <a:pt x="21216" y="416732"/>
                </a:lnTo>
                <a:lnTo>
                  <a:pt x="58697" y="470360"/>
                </a:lnTo>
                <a:lnTo>
                  <a:pt x="113371" y="498173"/>
                </a:lnTo>
                <a:lnTo>
                  <a:pt x="147066" y="501650"/>
                </a:lnTo>
                <a:lnTo>
                  <a:pt x="164472" y="500675"/>
                </a:lnTo>
                <a:lnTo>
                  <a:pt x="211835" y="486155"/>
                </a:lnTo>
                <a:lnTo>
                  <a:pt x="247036" y="456116"/>
                </a:lnTo>
                <a:lnTo>
                  <a:pt x="259969" y="440689"/>
                </a:lnTo>
                <a:lnTo>
                  <a:pt x="385699" y="440689"/>
                </a:lnTo>
                <a:lnTo>
                  <a:pt x="385699" y="401319"/>
                </a:lnTo>
                <a:lnTo>
                  <a:pt x="191007" y="401319"/>
                </a:lnTo>
                <a:lnTo>
                  <a:pt x="179459" y="400034"/>
                </a:lnTo>
                <a:lnTo>
                  <a:pt x="143454" y="369226"/>
                </a:lnTo>
                <a:lnTo>
                  <a:pt x="134239" y="316738"/>
                </a:lnTo>
                <a:lnTo>
                  <a:pt x="135237" y="294997"/>
                </a:lnTo>
                <a:lnTo>
                  <a:pt x="150114" y="250062"/>
                </a:lnTo>
                <a:lnTo>
                  <a:pt x="189356" y="230250"/>
                </a:lnTo>
                <a:lnTo>
                  <a:pt x="385699" y="230250"/>
                </a:lnTo>
                <a:lnTo>
                  <a:pt x="385699" y="170941"/>
                </a:lnTo>
                <a:lnTo>
                  <a:pt x="250063" y="170941"/>
                </a:lnTo>
                <a:lnTo>
                  <a:pt x="239799" y="160847"/>
                </a:lnTo>
                <a:lnTo>
                  <a:pt x="228822" y="152098"/>
                </a:lnTo>
                <a:lnTo>
                  <a:pt x="191583" y="133943"/>
                </a:lnTo>
                <a:lnTo>
                  <a:pt x="163111" y="128557"/>
                </a:lnTo>
                <a:lnTo>
                  <a:pt x="147827" y="127888"/>
                </a:lnTo>
                <a:close/>
              </a:path>
              <a:path w="386079" h="501650">
                <a:moveTo>
                  <a:pt x="385699" y="440689"/>
                </a:moveTo>
                <a:lnTo>
                  <a:pt x="259969" y="440689"/>
                </a:lnTo>
                <a:lnTo>
                  <a:pt x="259969" y="493522"/>
                </a:lnTo>
                <a:lnTo>
                  <a:pt x="385699" y="493522"/>
                </a:lnTo>
                <a:lnTo>
                  <a:pt x="385699" y="440689"/>
                </a:lnTo>
                <a:close/>
              </a:path>
              <a:path w="386079" h="501650">
                <a:moveTo>
                  <a:pt x="385699" y="230250"/>
                </a:moveTo>
                <a:lnTo>
                  <a:pt x="189356" y="230250"/>
                </a:lnTo>
                <a:lnTo>
                  <a:pt x="202120" y="231538"/>
                </a:lnTo>
                <a:lnTo>
                  <a:pt x="213741" y="235410"/>
                </a:lnTo>
                <a:lnTo>
                  <a:pt x="241220" y="262647"/>
                </a:lnTo>
                <a:lnTo>
                  <a:pt x="251078" y="313689"/>
                </a:lnTo>
                <a:lnTo>
                  <a:pt x="250007" y="335311"/>
                </a:lnTo>
                <a:lnTo>
                  <a:pt x="233933" y="380746"/>
                </a:lnTo>
                <a:lnTo>
                  <a:pt x="191007" y="401319"/>
                </a:lnTo>
                <a:lnTo>
                  <a:pt x="385699" y="401319"/>
                </a:lnTo>
                <a:lnTo>
                  <a:pt x="385699" y="230250"/>
                </a:lnTo>
                <a:close/>
              </a:path>
              <a:path w="386079" h="501650">
                <a:moveTo>
                  <a:pt x="385699" y="0"/>
                </a:moveTo>
                <a:lnTo>
                  <a:pt x="250063" y="0"/>
                </a:lnTo>
                <a:lnTo>
                  <a:pt x="250063" y="170941"/>
                </a:lnTo>
                <a:lnTo>
                  <a:pt x="385699" y="170941"/>
                </a:lnTo>
                <a:lnTo>
                  <a:pt x="385699"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p:nvPr/>
        </p:nvSpPr>
        <p:spPr>
          <a:xfrm>
            <a:off x="2485914" y="1433354"/>
            <a:ext cx="385807" cy="501295"/>
          </a:xfrm>
          <a:custGeom>
            <a:avLst/>
            <a:gdLst/>
            <a:ahLst/>
            <a:cxnLst/>
            <a:rect l="l" t="t" r="r" b="b"/>
            <a:pathLst>
              <a:path w="386080" h="501650">
                <a:moveTo>
                  <a:pt x="351348" y="440689"/>
                </a:moveTo>
                <a:lnTo>
                  <a:pt x="125603" y="440689"/>
                </a:lnTo>
                <a:lnTo>
                  <a:pt x="138412" y="456027"/>
                </a:lnTo>
                <a:lnTo>
                  <a:pt x="173862" y="486155"/>
                </a:lnTo>
                <a:lnTo>
                  <a:pt x="221243" y="500675"/>
                </a:lnTo>
                <a:lnTo>
                  <a:pt x="238506" y="501650"/>
                </a:lnTo>
                <a:lnTo>
                  <a:pt x="258699" y="500268"/>
                </a:lnTo>
                <a:lnTo>
                  <a:pt x="296227" y="489219"/>
                </a:lnTo>
                <a:lnTo>
                  <a:pt x="329588" y="467098"/>
                </a:lnTo>
                <a:lnTo>
                  <a:pt x="351348" y="440689"/>
                </a:lnTo>
                <a:close/>
              </a:path>
              <a:path w="386080" h="501650">
                <a:moveTo>
                  <a:pt x="135509" y="0"/>
                </a:moveTo>
                <a:lnTo>
                  <a:pt x="0" y="0"/>
                </a:lnTo>
                <a:lnTo>
                  <a:pt x="0" y="493522"/>
                </a:lnTo>
                <a:lnTo>
                  <a:pt x="125603" y="493522"/>
                </a:lnTo>
                <a:lnTo>
                  <a:pt x="125603" y="440689"/>
                </a:lnTo>
                <a:lnTo>
                  <a:pt x="351348" y="440689"/>
                </a:lnTo>
                <a:lnTo>
                  <a:pt x="356068" y="433760"/>
                </a:lnTo>
                <a:lnTo>
                  <a:pt x="366522" y="412876"/>
                </a:lnTo>
                <a:lnTo>
                  <a:pt x="370715" y="401319"/>
                </a:lnTo>
                <a:lnTo>
                  <a:pt x="194691" y="401319"/>
                </a:lnTo>
                <a:lnTo>
                  <a:pt x="182211" y="400012"/>
                </a:lnTo>
                <a:lnTo>
                  <a:pt x="144103" y="368589"/>
                </a:lnTo>
                <a:lnTo>
                  <a:pt x="134619" y="313689"/>
                </a:lnTo>
                <a:lnTo>
                  <a:pt x="135693" y="293993"/>
                </a:lnTo>
                <a:lnTo>
                  <a:pt x="151892" y="250951"/>
                </a:lnTo>
                <a:lnTo>
                  <a:pt x="196596" y="230250"/>
                </a:lnTo>
                <a:lnTo>
                  <a:pt x="374480" y="230250"/>
                </a:lnTo>
                <a:lnTo>
                  <a:pt x="362124" y="200880"/>
                </a:lnTo>
                <a:lnTo>
                  <a:pt x="343788" y="174878"/>
                </a:lnTo>
                <a:lnTo>
                  <a:pt x="339515" y="170941"/>
                </a:lnTo>
                <a:lnTo>
                  <a:pt x="135509" y="170941"/>
                </a:lnTo>
                <a:lnTo>
                  <a:pt x="135509" y="0"/>
                </a:lnTo>
                <a:close/>
              </a:path>
              <a:path w="386080" h="501650">
                <a:moveTo>
                  <a:pt x="374480" y="230250"/>
                </a:moveTo>
                <a:lnTo>
                  <a:pt x="196596" y="230250"/>
                </a:lnTo>
                <a:lnTo>
                  <a:pt x="207577" y="231489"/>
                </a:lnTo>
                <a:lnTo>
                  <a:pt x="217678" y="235203"/>
                </a:lnTo>
                <a:lnTo>
                  <a:pt x="247332" y="275574"/>
                </a:lnTo>
                <a:lnTo>
                  <a:pt x="251275" y="313689"/>
                </a:lnTo>
                <a:lnTo>
                  <a:pt x="250328" y="334706"/>
                </a:lnTo>
                <a:lnTo>
                  <a:pt x="235076" y="380873"/>
                </a:lnTo>
                <a:lnTo>
                  <a:pt x="194691" y="401319"/>
                </a:lnTo>
                <a:lnTo>
                  <a:pt x="370715" y="401319"/>
                </a:lnTo>
                <a:lnTo>
                  <a:pt x="374895" y="389800"/>
                </a:lnTo>
                <a:lnTo>
                  <a:pt x="380920" y="364775"/>
                </a:lnTo>
                <a:lnTo>
                  <a:pt x="384506" y="338081"/>
                </a:lnTo>
                <a:lnTo>
                  <a:pt x="385699" y="309625"/>
                </a:lnTo>
                <a:lnTo>
                  <a:pt x="383079" y="268265"/>
                </a:lnTo>
                <a:lnTo>
                  <a:pt x="375221" y="232013"/>
                </a:lnTo>
                <a:lnTo>
                  <a:pt x="374480" y="230250"/>
                </a:lnTo>
                <a:close/>
              </a:path>
              <a:path w="386080" h="501650">
                <a:moveTo>
                  <a:pt x="237871" y="127888"/>
                </a:moveTo>
                <a:lnTo>
                  <a:pt x="194401" y="133943"/>
                </a:lnTo>
                <a:lnTo>
                  <a:pt x="157035" y="152098"/>
                </a:lnTo>
                <a:lnTo>
                  <a:pt x="135509" y="170941"/>
                </a:lnTo>
                <a:lnTo>
                  <a:pt x="339515" y="170941"/>
                </a:lnTo>
                <a:lnTo>
                  <a:pt x="321452" y="154303"/>
                </a:lnTo>
                <a:lnTo>
                  <a:pt x="296354" y="139620"/>
                </a:lnTo>
                <a:lnTo>
                  <a:pt x="268493" y="130819"/>
                </a:lnTo>
                <a:lnTo>
                  <a:pt x="237871" y="127888"/>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1" name="object 21"/>
          <p:cNvSpPr/>
          <p:nvPr/>
        </p:nvSpPr>
        <p:spPr>
          <a:xfrm>
            <a:off x="253820" y="1433354"/>
            <a:ext cx="253820" cy="503198"/>
          </a:xfrm>
          <a:custGeom>
            <a:avLst/>
            <a:gdLst/>
            <a:ahLst/>
            <a:cxnLst/>
            <a:rect l="l" t="t" r="r" b="b"/>
            <a:pathLst>
              <a:path w="254000" h="503555">
                <a:moveTo>
                  <a:pt x="237735" y="109600"/>
                </a:moveTo>
                <a:lnTo>
                  <a:pt x="131673" y="109600"/>
                </a:lnTo>
                <a:lnTo>
                  <a:pt x="139162" y="110456"/>
                </a:lnTo>
                <a:lnTo>
                  <a:pt x="145434" y="113014"/>
                </a:lnTo>
                <a:lnTo>
                  <a:pt x="160341" y="155122"/>
                </a:lnTo>
                <a:lnTo>
                  <a:pt x="160743" y="170814"/>
                </a:lnTo>
                <a:lnTo>
                  <a:pt x="152959" y="177319"/>
                </a:lnTo>
                <a:lnTo>
                  <a:pt x="108359" y="204311"/>
                </a:lnTo>
                <a:lnTo>
                  <a:pt x="69164" y="222123"/>
                </a:lnTo>
                <a:lnTo>
                  <a:pt x="50883" y="231838"/>
                </a:lnTo>
                <a:lnTo>
                  <a:pt x="14744" y="274700"/>
                </a:lnTo>
                <a:lnTo>
                  <a:pt x="3686" y="314880"/>
                </a:lnTo>
                <a:lnTo>
                  <a:pt x="0" y="364871"/>
                </a:lnTo>
                <a:lnTo>
                  <a:pt x="1278" y="392947"/>
                </a:lnTo>
                <a:lnTo>
                  <a:pt x="11508" y="442148"/>
                </a:lnTo>
                <a:lnTo>
                  <a:pt x="31875" y="480724"/>
                </a:lnTo>
                <a:lnTo>
                  <a:pt x="80378" y="503174"/>
                </a:lnTo>
                <a:lnTo>
                  <a:pt x="94772" y="501933"/>
                </a:lnTo>
                <a:lnTo>
                  <a:pt x="132499" y="483235"/>
                </a:lnTo>
                <a:lnTo>
                  <a:pt x="157232" y="449516"/>
                </a:lnTo>
                <a:lnTo>
                  <a:pt x="165531" y="433324"/>
                </a:lnTo>
                <a:lnTo>
                  <a:pt x="244579" y="433324"/>
                </a:lnTo>
                <a:lnTo>
                  <a:pt x="244517" y="432556"/>
                </a:lnTo>
                <a:lnTo>
                  <a:pt x="243901" y="420163"/>
                </a:lnTo>
                <a:lnTo>
                  <a:pt x="243531" y="405937"/>
                </a:lnTo>
                <a:lnTo>
                  <a:pt x="243491" y="400685"/>
                </a:lnTo>
                <a:lnTo>
                  <a:pt x="103149" y="400685"/>
                </a:lnTo>
                <a:lnTo>
                  <a:pt x="85169" y="361660"/>
                </a:lnTo>
                <a:lnTo>
                  <a:pt x="84734" y="351281"/>
                </a:lnTo>
                <a:lnTo>
                  <a:pt x="85176" y="342016"/>
                </a:lnTo>
                <a:lnTo>
                  <a:pt x="103378" y="302656"/>
                </a:lnTo>
                <a:lnTo>
                  <a:pt x="133767" y="282424"/>
                </a:lnTo>
                <a:lnTo>
                  <a:pt x="142943" y="276637"/>
                </a:lnTo>
                <a:lnTo>
                  <a:pt x="151935" y="270422"/>
                </a:lnTo>
                <a:lnTo>
                  <a:pt x="160743" y="263778"/>
                </a:lnTo>
                <a:lnTo>
                  <a:pt x="243408" y="263778"/>
                </a:lnTo>
                <a:lnTo>
                  <a:pt x="243408" y="177164"/>
                </a:lnTo>
                <a:lnTo>
                  <a:pt x="243019" y="159976"/>
                </a:lnTo>
                <a:lnTo>
                  <a:pt x="241852" y="142335"/>
                </a:lnTo>
                <a:lnTo>
                  <a:pt x="239895" y="124205"/>
                </a:lnTo>
                <a:lnTo>
                  <a:pt x="237735" y="109600"/>
                </a:lnTo>
                <a:close/>
              </a:path>
              <a:path w="254000" h="503555">
                <a:moveTo>
                  <a:pt x="244579" y="433324"/>
                </a:moveTo>
                <a:lnTo>
                  <a:pt x="165531" y="433324"/>
                </a:lnTo>
                <a:lnTo>
                  <a:pt x="166257" y="443102"/>
                </a:lnTo>
                <a:lnTo>
                  <a:pt x="172481" y="483540"/>
                </a:lnTo>
                <a:lnTo>
                  <a:pt x="174663" y="492251"/>
                </a:lnTo>
                <a:lnTo>
                  <a:pt x="254000" y="492251"/>
                </a:lnTo>
                <a:lnTo>
                  <a:pt x="250968" y="477964"/>
                </a:lnTo>
                <a:lnTo>
                  <a:pt x="248521" y="465010"/>
                </a:lnTo>
                <a:lnTo>
                  <a:pt x="246658" y="453389"/>
                </a:lnTo>
                <a:lnTo>
                  <a:pt x="245376" y="443102"/>
                </a:lnTo>
                <a:lnTo>
                  <a:pt x="244579" y="433324"/>
                </a:lnTo>
                <a:close/>
              </a:path>
              <a:path w="254000" h="503555">
                <a:moveTo>
                  <a:pt x="243408" y="263778"/>
                </a:moveTo>
                <a:lnTo>
                  <a:pt x="160743" y="263778"/>
                </a:lnTo>
                <a:lnTo>
                  <a:pt x="160704" y="295261"/>
                </a:lnTo>
                <a:lnTo>
                  <a:pt x="160426" y="309673"/>
                </a:lnTo>
                <a:lnTo>
                  <a:pt x="155663" y="349250"/>
                </a:lnTo>
                <a:lnTo>
                  <a:pt x="138429" y="385699"/>
                </a:lnTo>
                <a:lnTo>
                  <a:pt x="112153" y="400685"/>
                </a:lnTo>
                <a:lnTo>
                  <a:pt x="243491" y="400685"/>
                </a:lnTo>
                <a:lnTo>
                  <a:pt x="243408" y="263778"/>
                </a:lnTo>
                <a:close/>
              </a:path>
              <a:path w="254000" h="503555">
                <a:moveTo>
                  <a:pt x="120662" y="0"/>
                </a:moveTo>
                <a:lnTo>
                  <a:pt x="76631" y="7619"/>
                </a:lnTo>
                <a:lnTo>
                  <a:pt x="44653" y="29463"/>
                </a:lnTo>
                <a:lnTo>
                  <a:pt x="24618" y="62628"/>
                </a:lnTo>
                <a:lnTo>
                  <a:pt x="12225" y="106870"/>
                </a:lnTo>
                <a:lnTo>
                  <a:pt x="6642" y="148209"/>
                </a:lnTo>
                <a:lnTo>
                  <a:pt x="87439" y="166750"/>
                </a:lnTo>
                <a:lnTo>
                  <a:pt x="90122" y="152370"/>
                </a:lnTo>
                <a:lnTo>
                  <a:pt x="93198" y="140477"/>
                </a:lnTo>
                <a:lnTo>
                  <a:pt x="121939" y="110507"/>
                </a:lnTo>
                <a:lnTo>
                  <a:pt x="131673" y="109600"/>
                </a:lnTo>
                <a:lnTo>
                  <a:pt x="237735" y="109600"/>
                </a:lnTo>
                <a:lnTo>
                  <a:pt x="237172" y="105790"/>
                </a:lnTo>
                <a:lnTo>
                  <a:pt x="225262" y="59267"/>
                </a:lnTo>
                <a:lnTo>
                  <a:pt x="202858" y="23542"/>
                </a:lnTo>
                <a:lnTo>
                  <a:pt x="169263" y="5197"/>
                </a:lnTo>
                <a:lnTo>
                  <a:pt x="138731" y="573"/>
                </a:lnTo>
                <a:lnTo>
                  <a:pt x="120662"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2995584" y="1980591"/>
            <a:ext cx="1057161" cy="639627"/>
          </a:xfrm>
          <a:custGeom>
            <a:avLst/>
            <a:gdLst/>
            <a:ahLst/>
            <a:cxnLst/>
            <a:rect l="l" t="t" r="r" b="b"/>
            <a:pathLst>
              <a:path w="1057910" h="640080">
                <a:moveTo>
                  <a:pt x="0" y="640079"/>
                </a:moveTo>
                <a:lnTo>
                  <a:pt x="1057656" y="640079"/>
                </a:lnTo>
                <a:lnTo>
                  <a:pt x="1057656" y="0"/>
                </a:lnTo>
                <a:lnTo>
                  <a:pt x="0" y="0"/>
                </a:lnTo>
                <a:lnTo>
                  <a:pt x="0" y="64007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txBox="1"/>
          <p:nvPr/>
        </p:nvSpPr>
        <p:spPr>
          <a:xfrm>
            <a:off x="2995584" y="1980591"/>
            <a:ext cx="1057161" cy="416560"/>
          </a:xfrm>
          <a:prstGeom prst="rect">
            <a:avLst/>
          </a:prstGeom>
          <a:ln w="9525">
            <a:solidFill>
              <a:srgbClr val="91AFFF"/>
            </a:solidFill>
          </a:ln>
        </p:spPr>
        <p:txBody>
          <a:bodyPr vert="horz" wrap="square" lIns="0" tIns="201786" rIns="0" bIns="0" rtlCol="0">
            <a:spAutoFit/>
          </a:bodyPr>
          <a:lstStyle/>
          <a:p>
            <a:pPr marL="71755">
              <a:lnSpc>
                <a:spcPct val="100000"/>
              </a:lnSpc>
              <a:spcBef>
                <a:spcPts val="1590"/>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客户背景</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4" name="object 24"/>
          <p:cNvSpPr/>
          <p:nvPr/>
        </p:nvSpPr>
        <p:spPr>
          <a:xfrm>
            <a:off x="2995584" y="2720730"/>
            <a:ext cx="1057161" cy="517792"/>
          </a:xfrm>
          <a:custGeom>
            <a:avLst/>
            <a:gdLst/>
            <a:ahLst/>
            <a:cxnLst/>
            <a:rect l="l" t="t" r="r" b="b"/>
            <a:pathLst>
              <a:path w="1057910" h="518160">
                <a:moveTo>
                  <a:pt x="0" y="518160"/>
                </a:moveTo>
                <a:lnTo>
                  <a:pt x="1057656" y="518160"/>
                </a:lnTo>
                <a:lnTo>
                  <a:pt x="1057656"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5" name="object 25"/>
          <p:cNvSpPr txBox="1"/>
          <p:nvPr/>
        </p:nvSpPr>
        <p:spPr>
          <a:xfrm>
            <a:off x="2995584" y="2720730"/>
            <a:ext cx="1057161" cy="464820"/>
          </a:xfrm>
          <a:prstGeom prst="rect">
            <a:avLst/>
          </a:prstGeom>
          <a:ln w="9525">
            <a:solidFill>
              <a:srgbClr val="91AFFF"/>
            </a:solidFill>
          </a:ln>
        </p:spPr>
        <p:txBody>
          <a:bodyPr vert="horz" wrap="square" lIns="0" tIns="34900" rIns="0" bIns="0" rtlCol="0">
            <a:spAutoFit/>
          </a:bodyPr>
          <a:lstStyle/>
          <a:p>
            <a:pPr marL="71755">
              <a:lnSpc>
                <a:spcPct val="100000"/>
              </a:lnSpc>
              <a:spcBef>
                <a:spcPts val="275"/>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客户经济</a:t>
            </a:r>
            <a:endParaRPr sz="1400">
              <a:latin typeface="微软雅黑" panose="020B0503020204020204" charset="-122"/>
              <a:ea typeface="微软雅黑" panose="020B0503020204020204" charset="-122"/>
              <a:cs typeface="微软雅黑" panose="020B0503020204020204" charset="-122"/>
            </a:endParaRPr>
          </a:p>
          <a:p>
            <a:pPr marL="71755">
              <a:lnSpc>
                <a:spcPct val="100000"/>
              </a:lnSpc>
            </a:pPr>
            <a:r>
              <a:rPr sz="1400" dirty="0">
                <a:solidFill>
                  <a:srgbClr val="0066CC"/>
                </a:solidFill>
                <a:latin typeface="微软雅黑" panose="020B0503020204020204" charset="-122"/>
                <a:ea typeface="微软雅黑" panose="020B0503020204020204" charset="-122"/>
                <a:cs typeface="微软雅黑" panose="020B0503020204020204" charset="-122"/>
              </a:rPr>
              <a:t>指标</a:t>
            </a:r>
            <a:endParaRPr sz="1400">
              <a:latin typeface="微软雅黑" panose="020B0503020204020204" charset="-122"/>
              <a:ea typeface="微软雅黑" panose="020B0503020204020204" charset="-122"/>
              <a:cs typeface="微软雅黑" panose="020B0503020204020204" charset="-122"/>
            </a:endParaRPr>
          </a:p>
        </p:txBody>
      </p:sp>
      <p:sp>
        <p:nvSpPr>
          <p:cNvPr id="26" name="object 26"/>
          <p:cNvSpPr/>
          <p:nvPr/>
        </p:nvSpPr>
        <p:spPr>
          <a:xfrm>
            <a:off x="2995584" y="3340559"/>
            <a:ext cx="1057161" cy="516524"/>
          </a:xfrm>
          <a:custGeom>
            <a:avLst/>
            <a:gdLst/>
            <a:ahLst/>
            <a:cxnLst/>
            <a:rect l="l" t="t" r="r" b="b"/>
            <a:pathLst>
              <a:path w="1057910" h="516889">
                <a:moveTo>
                  <a:pt x="0" y="516636"/>
                </a:moveTo>
                <a:lnTo>
                  <a:pt x="1057656" y="516636"/>
                </a:lnTo>
                <a:lnTo>
                  <a:pt x="1057656" y="0"/>
                </a:lnTo>
                <a:lnTo>
                  <a:pt x="0" y="0"/>
                </a:lnTo>
                <a:lnTo>
                  <a:pt x="0" y="51663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7" name="object 27"/>
          <p:cNvSpPr txBox="1"/>
          <p:nvPr/>
        </p:nvSpPr>
        <p:spPr>
          <a:xfrm>
            <a:off x="2995584" y="3340559"/>
            <a:ext cx="1057161" cy="464820"/>
          </a:xfrm>
          <a:prstGeom prst="rect">
            <a:avLst/>
          </a:prstGeom>
          <a:ln w="9525">
            <a:solidFill>
              <a:srgbClr val="91AFFF"/>
            </a:solidFill>
          </a:ln>
        </p:spPr>
        <p:txBody>
          <a:bodyPr vert="horz" wrap="square" lIns="0" tIns="31091" rIns="0" bIns="0" rtlCol="0">
            <a:spAutoFit/>
          </a:bodyPr>
          <a:lstStyle/>
          <a:p>
            <a:pPr marL="71755" marR="86360">
              <a:lnSpc>
                <a:spcPct val="101000"/>
              </a:lnSpc>
              <a:spcBef>
                <a:spcPts val="245"/>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客户关系与 决策流程</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8" name="object 28"/>
          <p:cNvSpPr/>
          <p:nvPr/>
        </p:nvSpPr>
        <p:spPr>
          <a:xfrm>
            <a:off x="2995584" y="3958865"/>
            <a:ext cx="1057161" cy="517792"/>
          </a:xfrm>
          <a:custGeom>
            <a:avLst/>
            <a:gdLst/>
            <a:ahLst/>
            <a:cxnLst/>
            <a:rect l="l" t="t" r="r" b="b"/>
            <a:pathLst>
              <a:path w="1057910" h="518160">
                <a:moveTo>
                  <a:pt x="0" y="518159"/>
                </a:moveTo>
                <a:lnTo>
                  <a:pt x="1057656" y="518159"/>
                </a:lnTo>
                <a:lnTo>
                  <a:pt x="1057656" y="0"/>
                </a:lnTo>
                <a:lnTo>
                  <a:pt x="0" y="0"/>
                </a:lnTo>
                <a:lnTo>
                  <a:pt x="0" y="51815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9" name="object 29"/>
          <p:cNvSpPr txBox="1"/>
          <p:nvPr/>
        </p:nvSpPr>
        <p:spPr>
          <a:xfrm>
            <a:off x="2995584" y="3958865"/>
            <a:ext cx="1057161" cy="355600"/>
          </a:xfrm>
          <a:prstGeom prst="rect">
            <a:avLst/>
          </a:prstGeom>
          <a:ln w="9525">
            <a:solidFill>
              <a:srgbClr val="91AFFF"/>
            </a:solidFill>
          </a:ln>
        </p:spPr>
        <p:txBody>
          <a:bodyPr vert="horz" wrap="square" lIns="0" tIns="140870" rIns="0" bIns="0" rtlCol="0">
            <a:spAutoFit/>
          </a:bodyPr>
          <a:lstStyle/>
          <a:p>
            <a:pPr marL="71755">
              <a:lnSpc>
                <a:spcPct val="100000"/>
              </a:lnSpc>
              <a:spcBef>
                <a:spcPts val="1110"/>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客户需求</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0" name="object 30"/>
          <p:cNvSpPr/>
          <p:nvPr/>
        </p:nvSpPr>
        <p:spPr>
          <a:xfrm>
            <a:off x="2995584" y="4577170"/>
            <a:ext cx="1057161" cy="517792"/>
          </a:xfrm>
          <a:custGeom>
            <a:avLst/>
            <a:gdLst/>
            <a:ahLst/>
            <a:cxnLst/>
            <a:rect l="l" t="t" r="r" b="b"/>
            <a:pathLst>
              <a:path w="1057910" h="518160">
                <a:moveTo>
                  <a:pt x="0" y="518160"/>
                </a:moveTo>
                <a:lnTo>
                  <a:pt x="1057656" y="518160"/>
                </a:lnTo>
                <a:lnTo>
                  <a:pt x="1057656"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1" name="object 31"/>
          <p:cNvSpPr txBox="1"/>
          <p:nvPr/>
        </p:nvSpPr>
        <p:spPr>
          <a:xfrm>
            <a:off x="2995584" y="4577170"/>
            <a:ext cx="1057161" cy="356235"/>
          </a:xfrm>
          <a:prstGeom prst="rect">
            <a:avLst/>
          </a:prstGeom>
          <a:ln w="9525">
            <a:solidFill>
              <a:srgbClr val="91AFFF"/>
            </a:solidFill>
          </a:ln>
        </p:spPr>
        <p:txBody>
          <a:bodyPr vert="horz" wrap="square" lIns="0" tIns="141504" rIns="0" bIns="0" rtlCol="0">
            <a:spAutoFit/>
          </a:bodyPr>
          <a:lstStyle/>
          <a:p>
            <a:pPr marL="71755">
              <a:lnSpc>
                <a:spcPct val="100000"/>
              </a:lnSpc>
              <a:spcBef>
                <a:spcPts val="1115"/>
              </a:spcBef>
            </a:pPr>
            <a:r>
              <a:rPr sz="1400" dirty="0">
                <a:solidFill>
                  <a:srgbClr val="0066CC"/>
                </a:solidFill>
                <a:latin typeface="微软雅黑" panose="020B0503020204020204" charset="-122"/>
                <a:ea typeface="微软雅黑" panose="020B0503020204020204" charset="-122"/>
                <a:cs typeface="微软雅黑" panose="020B0503020204020204" charset="-122"/>
              </a:rPr>
              <a:t>风险分析</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2" name="object 32"/>
          <p:cNvSpPr/>
          <p:nvPr/>
        </p:nvSpPr>
        <p:spPr>
          <a:xfrm>
            <a:off x="5450533" y="3897948"/>
            <a:ext cx="2614982" cy="335043"/>
          </a:xfrm>
          <a:custGeom>
            <a:avLst/>
            <a:gdLst/>
            <a:ahLst/>
            <a:cxnLst/>
            <a:rect l="l" t="t" r="r" b="b"/>
            <a:pathLst>
              <a:path w="2616834" h="335279">
                <a:moveTo>
                  <a:pt x="0" y="335280"/>
                </a:moveTo>
                <a:lnTo>
                  <a:pt x="2616707" y="335280"/>
                </a:lnTo>
                <a:lnTo>
                  <a:pt x="2616707" y="0"/>
                </a:lnTo>
                <a:lnTo>
                  <a:pt x="0" y="0"/>
                </a:lnTo>
                <a:lnTo>
                  <a:pt x="0" y="33528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3" name="object 33"/>
          <p:cNvSpPr txBox="1"/>
          <p:nvPr/>
        </p:nvSpPr>
        <p:spPr>
          <a:xfrm>
            <a:off x="5450533" y="3897948"/>
            <a:ext cx="2614982" cy="264795"/>
          </a:xfrm>
          <a:prstGeom prst="rect">
            <a:avLst/>
          </a:prstGeom>
          <a:ln w="9525">
            <a:solidFill>
              <a:srgbClr val="91AFFF"/>
            </a:solidFill>
          </a:ln>
        </p:spPr>
        <p:txBody>
          <a:bodyPr vert="horz" wrap="square" lIns="0" tIns="50129" rIns="0" bIns="0" rtlCol="0">
            <a:spAutoFit/>
          </a:bodyPr>
          <a:lstStyle/>
          <a:p>
            <a:pPr marL="73025">
              <a:lnSpc>
                <a:spcPct val="100000"/>
              </a:lnSpc>
              <a:spcBef>
                <a:spcPts val="395"/>
              </a:spcBef>
            </a:pPr>
            <a:r>
              <a:rPr sz="1400" dirty="0">
                <a:solidFill>
                  <a:srgbClr val="0066CC"/>
                </a:solidFill>
                <a:latin typeface="微软雅黑" panose="020B0503020204020204" charset="-122"/>
                <a:ea typeface="微软雅黑" panose="020B0503020204020204" charset="-122"/>
                <a:cs typeface="微软雅黑" panose="020B0503020204020204" charset="-122"/>
              </a:rPr>
              <a:t>大客户管理的组织架构</a:t>
            </a:r>
            <a:r>
              <a:rPr sz="1400" spc="-15" dirty="0">
                <a:solidFill>
                  <a:srgbClr val="0066CC"/>
                </a:solidFill>
                <a:latin typeface="微软雅黑" panose="020B0503020204020204" charset="-122"/>
                <a:ea typeface="微软雅黑" panose="020B0503020204020204" charset="-122"/>
                <a:cs typeface="微软雅黑" panose="020B0503020204020204" charset="-122"/>
              </a:rPr>
              <a:t>设</a:t>
            </a:r>
            <a:r>
              <a:rPr sz="1400" spc="5" dirty="0">
                <a:solidFill>
                  <a:srgbClr val="0066CC"/>
                </a:solidFill>
                <a:latin typeface="微软雅黑" panose="020B0503020204020204" charset="-122"/>
                <a:ea typeface="微软雅黑" panose="020B0503020204020204" charset="-122"/>
                <a:cs typeface="微软雅黑" panose="020B0503020204020204" charset="-122"/>
              </a:rPr>
              <a:t>计</a:t>
            </a:r>
            <a:endParaRPr sz="1400">
              <a:latin typeface="微软雅黑" panose="020B0503020204020204" charset="-122"/>
              <a:ea typeface="微软雅黑" panose="020B0503020204020204" charset="-122"/>
              <a:cs typeface="微软雅黑" panose="020B0503020204020204" charset="-122"/>
            </a:endParaRPr>
          </a:p>
        </p:txBody>
      </p:sp>
      <p:sp>
        <p:nvSpPr>
          <p:cNvPr id="34" name="object 34"/>
          <p:cNvSpPr/>
          <p:nvPr/>
        </p:nvSpPr>
        <p:spPr>
          <a:xfrm>
            <a:off x="4976905" y="1980591"/>
            <a:ext cx="1154882" cy="517792"/>
          </a:xfrm>
          <a:custGeom>
            <a:avLst/>
            <a:gdLst/>
            <a:ahLst/>
            <a:cxnLst/>
            <a:rect l="l" t="t" r="r" b="b"/>
            <a:pathLst>
              <a:path w="1155700" h="518160">
                <a:moveTo>
                  <a:pt x="0" y="518160"/>
                </a:moveTo>
                <a:lnTo>
                  <a:pt x="1155191" y="518160"/>
                </a:lnTo>
                <a:lnTo>
                  <a:pt x="1155191"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5" name="object 35"/>
          <p:cNvSpPr txBox="1"/>
          <p:nvPr/>
        </p:nvSpPr>
        <p:spPr>
          <a:xfrm>
            <a:off x="4976905" y="1980591"/>
            <a:ext cx="1154882" cy="336550"/>
          </a:xfrm>
          <a:prstGeom prst="rect">
            <a:avLst/>
          </a:prstGeom>
          <a:ln w="9525">
            <a:solidFill>
              <a:srgbClr val="91AFFF"/>
            </a:solidFill>
          </a:ln>
        </p:spPr>
        <p:txBody>
          <a:bodyPr vert="horz" wrap="square" lIns="0" tIns="121833" rIns="0" bIns="0" rtlCol="0">
            <a:spAutoFit/>
          </a:bodyPr>
          <a:lstStyle/>
          <a:p>
            <a:pPr marL="72390">
              <a:lnSpc>
                <a:spcPct val="100000"/>
              </a:lnSpc>
              <a:spcBef>
                <a:spcPts val="960"/>
              </a:spcBef>
            </a:pPr>
            <a:r>
              <a:rPr sz="1400" dirty="0">
                <a:solidFill>
                  <a:srgbClr val="0066CC"/>
                </a:solidFill>
                <a:latin typeface="微软雅黑" panose="020B0503020204020204" charset="-122"/>
                <a:ea typeface="微软雅黑" panose="020B0503020204020204" charset="-122"/>
                <a:cs typeface="微软雅黑" panose="020B0503020204020204" charset="-122"/>
              </a:rPr>
              <a:t>战略规划</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6" name="object 36"/>
          <p:cNvSpPr/>
          <p:nvPr/>
        </p:nvSpPr>
        <p:spPr>
          <a:xfrm>
            <a:off x="4976905" y="2560823"/>
            <a:ext cx="1154882" cy="517792"/>
          </a:xfrm>
          <a:custGeom>
            <a:avLst/>
            <a:gdLst/>
            <a:ahLst/>
            <a:cxnLst/>
            <a:rect l="l" t="t" r="r" b="b"/>
            <a:pathLst>
              <a:path w="1155700" h="518160">
                <a:moveTo>
                  <a:pt x="0" y="518160"/>
                </a:moveTo>
                <a:lnTo>
                  <a:pt x="1155191" y="518160"/>
                </a:lnTo>
                <a:lnTo>
                  <a:pt x="1155191"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7" name="object 37"/>
          <p:cNvSpPr txBox="1"/>
          <p:nvPr/>
        </p:nvSpPr>
        <p:spPr>
          <a:xfrm>
            <a:off x="4976905" y="2560823"/>
            <a:ext cx="1154882" cy="336550"/>
          </a:xfrm>
          <a:prstGeom prst="rect">
            <a:avLst/>
          </a:prstGeom>
          <a:ln w="9525">
            <a:solidFill>
              <a:srgbClr val="91AFFF"/>
            </a:solidFill>
          </a:ln>
        </p:spPr>
        <p:txBody>
          <a:bodyPr vert="horz" wrap="square" lIns="0" tIns="121833" rIns="0" bIns="0" rtlCol="0">
            <a:spAutoFit/>
          </a:bodyPr>
          <a:lstStyle/>
          <a:p>
            <a:pPr marL="72390">
              <a:lnSpc>
                <a:spcPct val="100000"/>
              </a:lnSpc>
              <a:spcBef>
                <a:spcPts val="960"/>
              </a:spcBef>
            </a:pPr>
            <a:r>
              <a:rPr sz="1400" dirty="0">
                <a:solidFill>
                  <a:srgbClr val="0066CC"/>
                </a:solidFill>
                <a:latin typeface="微软雅黑" panose="020B0503020204020204" charset="-122"/>
                <a:ea typeface="微软雅黑" panose="020B0503020204020204" charset="-122"/>
                <a:cs typeface="微软雅黑" panose="020B0503020204020204" charset="-122"/>
              </a:rPr>
              <a:t>行动计划</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8" name="object 38"/>
          <p:cNvSpPr/>
          <p:nvPr/>
        </p:nvSpPr>
        <p:spPr>
          <a:xfrm>
            <a:off x="6944518" y="1980591"/>
            <a:ext cx="1156151" cy="306488"/>
          </a:xfrm>
          <a:custGeom>
            <a:avLst/>
            <a:gdLst/>
            <a:ahLst/>
            <a:cxnLst/>
            <a:rect l="l" t="t" r="r" b="b"/>
            <a:pathLst>
              <a:path w="1156970" h="306705">
                <a:moveTo>
                  <a:pt x="0" y="306324"/>
                </a:moveTo>
                <a:lnTo>
                  <a:pt x="1156716" y="306324"/>
                </a:lnTo>
                <a:lnTo>
                  <a:pt x="1156716" y="0"/>
                </a:lnTo>
                <a:lnTo>
                  <a:pt x="0" y="0"/>
                </a:lnTo>
                <a:lnTo>
                  <a:pt x="0" y="30632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9" name="object 39"/>
          <p:cNvSpPr/>
          <p:nvPr/>
        </p:nvSpPr>
        <p:spPr>
          <a:xfrm>
            <a:off x="6944518" y="2330862"/>
            <a:ext cx="1156151" cy="306488"/>
          </a:xfrm>
          <a:custGeom>
            <a:avLst/>
            <a:gdLst/>
            <a:ahLst/>
            <a:cxnLst/>
            <a:rect l="l" t="t" r="r" b="b"/>
            <a:pathLst>
              <a:path w="1156970" h="306705">
                <a:moveTo>
                  <a:pt x="0" y="306324"/>
                </a:moveTo>
                <a:lnTo>
                  <a:pt x="1156716" y="306324"/>
                </a:lnTo>
                <a:lnTo>
                  <a:pt x="1156716" y="0"/>
                </a:lnTo>
                <a:lnTo>
                  <a:pt x="0" y="0"/>
                </a:lnTo>
                <a:lnTo>
                  <a:pt x="0" y="30632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0" name="object 40"/>
          <p:cNvSpPr/>
          <p:nvPr/>
        </p:nvSpPr>
        <p:spPr>
          <a:xfrm>
            <a:off x="6944518" y="2682657"/>
            <a:ext cx="1156151" cy="517792"/>
          </a:xfrm>
          <a:custGeom>
            <a:avLst/>
            <a:gdLst/>
            <a:ahLst/>
            <a:cxnLst/>
            <a:rect l="l" t="t" r="r" b="b"/>
            <a:pathLst>
              <a:path w="1156970" h="518160">
                <a:moveTo>
                  <a:pt x="0" y="518160"/>
                </a:moveTo>
                <a:lnTo>
                  <a:pt x="1156716" y="518160"/>
                </a:lnTo>
                <a:lnTo>
                  <a:pt x="1156716"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graphicFrame>
        <p:nvGraphicFramePr>
          <p:cNvPr id="41" name="object 41"/>
          <p:cNvGraphicFramePr>
            <a:graphicFrameLocks noGrp="1"/>
          </p:cNvGraphicFramePr>
          <p:nvPr/>
        </p:nvGraphicFramePr>
        <p:xfrm>
          <a:off x="6939759" y="1975831"/>
          <a:ext cx="1170305" cy="1229360"/>
        </p:xfrm>
        <a:graphic>
          <a:graphicData uri="http://schemas.openxmlformats.org/drawingml/2006/table">
            <a:tbl>
              <a:tblPr firstRow="1" bandRow="1">
                <a:tableStyleId>{2D5ABB26-0587-4C30-8999-92F81FD0307C}</a:tableStyleId>
              </a:tblPr>
              <a:tblGrid>
                <a:gridCol w="1170305"/>
              </a:tblGrid>
              <a:tr h="330835">
                <a:tc>
                  <a:txBody>
                    <a:bodyPr/>
                    <a:lstStyle/>
                    <a:p>
                      <a:pPr marL="73660">
                        <a:lnSpc>
                          <a:spcPct val="100000"/>
                        </a:lnSpc>
                        <a:spcBef>
                          <a:spcPts val="275"/>
                        </a:spcBef>
                      </a:pPr>
                      <a:r>
                        <a:rPr sz="1400" dirty="0">
                          <a:solidFill>
                            <a:srgbClr val="0066CC"/>
                          </a:solidFill>
                          <a:latin typeface="微软雅黑" panose="020B0503020204020204" charset="-122"/>
                          <a:ea typeface="微软雅黑" panose="020B0503020204020204" charset="-122"/>
                          <a:cs typeface="微软雅黑" panose="020B0503020204020204" charset="-122"/>
                        </a:rPr>
                        <a:t>价值销售</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a:txBody>
                  <a:tcPr marL="0" marR="0" marT="34900" marB="0">
                    <a:lnL w="9525">
                      <a:solidFill>
                        <a:srgbClr val="91AFFF"/>
                      </a:solidFill>
                      <a:prstDash val="solid"/>
                    </a:lnL>
                    <a:lnR w="9525">
                      <a:solidFill>
                        <a:srgbClr val="91AFFF"/>
                      </a:solidFill>
                      <a:prstDash val="solid"/>
                    </a:lnR>
                    <a:lnT w="9525">
                      <a:solidFill>
                        <a:srgbClr val="91AFFF"/>
                      </a:solidFill>
                      <a:prstDash val="solid"/>
                    </a:lnT>
                    <a:lnB w="9525">
                      <a:solidFill>
                        <a:srgbClr val="91AFFF"/>
                      </a:solidFill>
                      <a:prstDash val="solid"/>
                    </a:lnB>
                    <a:solidFill>
                      <a:srgbClr val="C6DFFA"/>
                    </a:solidFill>
                  </a:tcPr>
                </a:tc>
              </a:tr>
              <a:tr h="353695">
                <a:tc>
                  <a:txBody>
                    <a:bodyPr/>
                    <a:lstStyle/>
                    <a:p>
                      <a:pPr marL="73660">
                        <a:lnSpc>
                          <a:spcPct val="100000"/>
                        </a:lnSpc>
                        <a:spcBef>
                          <a:spcPts val="455"/>
                        </a:spcBef>
                      </a:pPr>
                      <a:r>
                        <a:rPr sz="1400" dirty="0">
                          <a:solidFill>
                            <a:srgbClr val="0066CC"/>
                          </a:solidFill>
                          <a:latin typeface="微软雅黑" panose="020B0503020204020204" charset="-122"/>
                          <a:ea typeface="微软雅黑" panose="020B0503020204020204" charset="-122"/>
                          <a:cs typeface="微软雅黑" panose="020B0503020204020204" charset="-122"/>
                        </a:rPr>
                        <a:t>谈判</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a:txBody>
                  <a:tcPr marL="0" marR="0" marT="57744" marB="0">
                    <a:lnL w="9525">
                      <a:solidFill>
                        <a:srgbClr val="91AFFF"/>
                      </a:solidFill>
                      <a:prstDash val="solid"/>
                    </a:lnL>
                    <a:lnR w="9525">
                      <a:solidFill>
                        <a:srgbClr val="91AFFF"/>
                      </a:solidFill>
                      <a:prstDash val="solid"/>
                    </a:lnR>
                    <a:lnT w="9525">
                      <a:solidFill>
                        <a:srgbClr val="91AFFF"/>
                      </a:solidFill>
                      <a:prstDash val="solid"/>
                    </a:lnT>
                    <a:lnB w="9525">
                      <a:solidFill>
                        <a:srgbClr val="91AFFF"/>
                      </a:solidFill>
                      <a:prstDash val="solid"/>
                    </a:lnB>
                    <a:solidFill>
                      <a:srgbClr val="C6DFFA"/>
                    </a:solidFill>
                  </a:tcPr>
                </a:tc>
              </a:tr>
              <a:tr h="544830">
                <a:tc>
                  <a:txBody>
                    <a:bodyPr/>
                    <a:lstStyle/>
                    <a:p>
                      <a:pPr marL="73660">
                        <a:lnSpc>
                          <a:spcPct val="100000"/>
                        </a:lnSpc>
                        <a:spcBef>
                          <a:spcPts val="1295"/>
                        </a:spcBef>
                      </a:pPr>
                      <a:r>
                        <a:rPr sz="1400" dirty="0">
                          <a:solidFill>
                            <a:srgbClr val="0066CC"/>
                          </a:solidFill>
                          <a:latin typeface="微软雅黑" panose="020B0503020204020204" charset="-122"/>
                          <a:ea typeface="微软雅黑" panose="020B0503020204020204" charset="-122"/>
                          <a:cs typeface="微软雅黑" panose="020B0503020204020204" charset="-122"/>
                        </a:rPr>
                        <a:t>绩效管理</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a:txBody>
                  <a:tcPr marL="0" marR="0" marT="164348" marB="0">
                    <a:lnL w="9525">
                      <a:solidFill>
                        <a:srgbClr val="91AFFF"/>
                      </a:solidFill>
                      <a:prstDash val="solid"/>
                    </a:lnL>
                    <a:lnR w="9525">
                      <a:solidFill>
                        <a:srgbClr val="91AFFF"/>
                      </a:solidFill>
                      <a:prstDash val="solid"/>
                    </a:lnR>
                    <a:lnT w="9525">
                      <a:solidFill>
                        <a:srgbClr val="91AFFF"/>
                      </a:solidFill>
                      <a:prstDash val="solid"/>
                    </a:lnT>
                    <a:lnB w="9525">
                      <a:solidFill>
                        <a:srgbClr val="91AFFF"/>
                      </a:solidFill>
                      <a:prstDash val="solid"/>
                    </a:lnB>
                    <a:solidFill>
                      <a:srgbClr val="C6DFFA"/>
                    </a:solidFill>
                  </a:tcPr>
                </a:tc>
              </a:tr>
            </a:tbl>
          </a:graphicData>
        </a:graphic>
      </p:graphicFrame>
      <p:sp>
        <p:nvSpPr>
          <p:cNvPr id="42" name="object 42"/>
          <p:cNvSpPr/>
          <p:nvPr/>
        </p:nvSpPr>
        <p:spPr>
          <a:xfrm>
            <a:off x="632011" y="1980591"/>
            <a:ext cx="1488020" cy="517792"/>
          </a:xfrm>
          <a:custGeom>
            <a:avLst/>
            <a:gdLst/>
            <a:ahLst/>
            <a:cxnLst/>
            <a:rect l="l" t="t" r="r" b="b"/>
            <a:pathLst>
              <a:path w="1489075" h="518160">
                <a:moveTo>
                  <a:pt x="0" y="518160"/>
                </a:moveTo>
                <a:lnTo>
                  <a:pt x="1488948" y="518160"/>
                </a:lnTo>
                <a:lnTo>
                  <a:pt x="1488948"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3" name="object 43"/>
          <p:cNvSpPr txBox="1"/>
          <p:nvPr/>
        </p:nvSpPr>
        <p:spPr>
          <a:xfrm>
            <a:off x="632011" y="1980591"/>
            <a:ext cx="1488020" cy="464185"/>
          </a:xfrm>
          <a:prstGeom prst="rect">
            <a:avLst/>
          </a:prstGeom>
          <a:ln w="9525">
            <a:solidFill>
              <a:srgbClr val="91AFFF"/>
            </a:solidFill>
          </a:ln>
        </p:spPr>
        <p:txBody>
          <a:bodyPr vert="horz" wrap="square" lIns="0" tIns="34265" rIns="0" bIns="0" rtlCol="0">
            <a:spAutoFit/>
          </a:bodyPr>
          <a:lstStyle/>
          <a:p>
            <a:pPr marL="71120" marR="518795">
              <a:lnSpc>
                <a:spcPct val="100000"/>
              </a:lnSpc>
              <a:spcBef>
                <a:spcPts val="270"/>
              </a:spcBef>
            </a:pPr>
            <a:r>
              <a:rPr sz="1400" dirty="0">
                <a:solidFill>
                  <a:srgbClr val="0066CC"/>
                </a:solidFill>
                <a:latin typeface="微软雅黑" panose="020B0503020204020204" charset="-122"/>
                <a:ea typeface="微软雅黑" panose="020B0503020204020204" charset="-122"/>
                <a:cs typeface="微软雅黑" panose="020B0503020204020204" charset="-122"/>
              </a:rPr>
              <a:t>识别并审核 大客户</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4" name="object 44"/>
          <p:cNvSpPr txBox="1"/>
          <p:nvPr/>
        </p:nvSpPr>
        <p:spPr>
          <a:xfrm>
            <a:off x="4964467" y="1535644"/>
            <a:ext cx="104129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大客</a:t>
            </a:r>
            <a:r>
              <a:rPr sz="1600" b="1" spc="-10" dirty="0">
                <a:solidFill>
                  <a:srgbClr val="0066CC"/>
                </a:solidFill>
                <a:latin typeface="微软雅黑" panose="020B0503020204020204" charset="-122"/>
                <a:ea typeface="微软雅黑" panose="020B0503020204020204" charset="-122"/>
                <a:cs typeface="微软雅黑" panose="020B0503020204020204" charset="-122"/>
              </a:rPr>
              <a:t>户规划</a:t>
            </a:r>
            <a:endParaRPr sz="1600">
              <a:latin typeface="微软雅黑" panose="020B0503020204020204" charset="-122"/>
              <a:ea typeface="微软雅黑" panose="020B0503020204020204" charset="-122"/>
              <a:cs typeface="微软雅黑" panose="020B0503020204020204" charset="-122"/>
            </a:endParaRPr>
          </a:p>
        </p:txBody>
      </p:sp>
      <p:sp>
        <p:nvSpPr>
          <p:cNvPr id="45" name="object 45"/>
          <p:cNvSpPr txBox="1"/>
          <p:nvPr/>
        </p:nvSpPr>
        <p:spPr>
          <a:xfrm>
            <a:off x="6933604" y="1535644"/>
            <a:ext cx="1045739"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实施和跟踪</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6" name="object 46"/>
          <p:cNvSpPr txBox="1"/>
          <p:nvPr/>
        </p:nvSpPr>
        <p:spPr>
          <a:xfrm>
            <a:off x="618712" y="1535644"/>
            <a:ext cx="84204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客户分类</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7" name="object 47"/>
          <p:cNvSpPr txBox="1"/>
          <p:nvPr/>
        </p:nvSpPr>
        <p:spPr>
          <a:xfrm>
            <a:off x="2982893" y="1535644"/>
            <a:ext cx="1045739"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大客户分析</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401" y="203088"/>
            <a:ext cx="2679706"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大客户管理</a:t>
            </a:r>
            <a:r>
              <a:rPr spc="-10" dirty="0">
                <a:ea typeface="微软雅黑" panose="020B0503020204020204" charset="-122"/>
              </a:rPr>
              <a:t>包括</a:t>
            </a:r>
            <a:r>
              <a:rPr spc="-5" dirty="0">
                <a:ea typeface="微软雅黑" panose="020B0503020204020204" charset="-122"/>
              </a:rPr>
              <a:t>五</a:t>
            </a:r>
            <a:r>
              <a:rPr spc="-10" dirty="0">
                <a:ea typeface="微软雅黑" panose="020B0503020204020204" charset="-122"/>
              </a:rPr>
              <a:t>大要素</a:t>
            </a:r>
            <a:endParaRPr spc="-10" dirty="0">
              <a:ea typeface="微软雅黑" panose="020B0503020204020204" charset="-122"/>
            </a:endParaRPr>
          </a:p>
        </p:txBody>
      </p:sp>
      <p:sp>
        <p:nvSpPr>
          <p:cNvPr id="4" name="object 4"/>
          <p:cNvSpPr/>
          <p:nvPr/>
        </p:nvSpPr>
        <p:spPr>
          <a:xfrm>
            <a:off x="2096299" y="1323450"/>
            <a:ext cx="2679071" cy="3900581"/>
          </a:xfrm>
          <a:custGeom>
            <a:avLst/>
            <a:gdLst/>
            <a:ahLst/>
            <a:cxnLst/>
            <a:rect l="l" t="t" r="r" b="b"/>
            <a:pathLst>
              <a:path w="2680970" h="3903345">
                <a:moveTo>
                  <a:pt x="1977643" y="0"/>
                </a:moveTo>
                <a:lnTo>
                  <a:pt x="0" y="0"/>
                </a:lnTo>
                <a:lnTo>
                  <a:pt x="703071" y="1952244"/>
                </a:lnTo>
                <a:lnTo>
                  <a:pt x="0" y="3902964"/>
                </a:lnTo>
                <a:lnTo>
                  <a:pt x="1977643" y="3902964"/>
                </a:lnTo>
                <a:lnTo>
                  <a:pt x="2680716" y="1952244"/>
                </a:lnTo>
                <a:lnTo>
                  <a:pt x="197764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p:nvPr/>
        </p:nvSpPr>
        <p:spPr>
          <a:xfrm>
            <a:off x="2096299" y="1323450"/>
            <a:ext cx="2679071" cy="3900581"/>
          </a:xfrm>
          <a:custGeom>
            <a:avLst/>
            <a:gdLst/>
            <a:ahLst/>
            <a:cxnLst/>
            <a:rect l="l" t="t" r="r" b="b"/>
            <a:pathLst>
              <a:path w="2680970" h="3903345">
                <a:moveTo>
                  <a:pt x="0" y="0"/>
                </a:moveTo>
                <a:lnTo>
                  <a:pt x="1977643" y="0"/>
                </a:lnTo>
                <a:lnTo>
                  <a:pt x="2680716" y="1952244"/>
                </a:lnTo>
                <a:lnTo>
                  <a:pt x="1977643" y="3902964"/>
                </a:lnTo>
                <a:lnTo>
                  <a:pt x="0" y="3902964"/>
                </a:lnTo>
                <a:lnTo>
                  <a:pt x="703071"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4074573" y="1323450"/>
            <a:ext cx="2679071" cy="1951242"/>
          </a:xfrm>
          <a:custGeom>
            <a:avLst/>
            <a:gdLst/>
            <a:ahLst/>
            <a:cxnLst/>
            <a:rect l="l" t="t" r="r" b="b"/>
            <a:pathLst>
              <a:path w="2680970" h="1952625">
                <a:moveTo>
                  <a:pt x="1977643" y="0"/>
                </a:moveTo>
                <a:lnTo>
                  <a:pt x="0" y="0"/>
                </a:lnTo>
                <a:lnTo>
                  <a:pt x="703072" y="1952244"/>
                </a:lnTo>
                <a:lnTo>
                  <a:pt x="2680716" y="1952244"/>
                </a:lnTo>
                <a:lnTo>
                  <a:pt x="197764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4074573" y="1323450"/>
            <a:ext cx="2679071" cy="1951242"/>
          </a:xfrm>
          <a:custGeom>
            <a:avLst/>
            <a:gdLst/>
            <a:ahLst/>
            <a:cxnLst/>
            <a:rect l="l" t="t" r="r" b="b"/>
            <a:pathLst>
              <a:path w="2680970" h="1952625">
                <a:moveTo>
                  <a:pt x="0" y="0"/>
                </a:moveTo>
                <a:lnTo>
                  <a:pt x="1977643" y="0"/>
                </a:lnTo>
                <a:lnTo>
                  <a:pt x="2680716" y="1952244"/>
                </a:lnTo>
                <a:lnTo>
                  <a:pt x="703072"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4074573" y="3274312"/>
            <a:ext cx="4655695" cy="1949338"/>
          </a:xfrm>
          <a:custGeom>
            <a:avLst/>
            <a:gdLst/>
            <a:ahLst/>
            <a:cxnLst/>
            <a:rect l="l" t="t" r="r" b="b"/>
            <a:pathLst>
              <a:path w="4658995" h="1950720">
                <a:moveTo>
                  <a:pt x="4658868" y="0"/>
                </a:moveTo>
                <a:lnTo>
                  <a:pt x="703199" y="0"/>
                </a:lnTo>
                <a:lnTo>
                  <a:pt x="0" y="1950720"/>
                </a:lnTo>
                <a:lnTo>
                  <a:pt x="3955668" y="1950720"/>
                </a:lnTo>
                <a:lnTo>
                  <a:pt x="4658868"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4074573" y="3274312"/>
            <a:ext cx="4655695" cy="1949338"/>
          </a:xfrm>
          <a:custGeom>
            <a:avLst/>
            <a:gdLst/>
            <a:ahLst/>
            <a:cxnLst/>
            <a:rect l="l" t="t" r="r" b="b"/>
            <a:pathLst>
              <a:path w="4658995" h="1950720">
                <a:moveTo>
                  <a:pt x="4658868" y="0"/>
                </a:moveTo>
                <a:lnTo>
                  <a:pt x="3955668" y="1950720"/>
                </a:lnTo>
                <a:lnTo>
                  <a:pt x="0" y="1950720"/>
                </a:lnTo>
                <a:lnTo>
                  <a:pt x="703199" y="0"/>
                </a:lnTo>
                <a:lnTo>
                  <a:pt x="4658868"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6051325" y="1323450"/>
            <a:ext cx="2679071" cy="1951242"/>
          </a:xfrm>
          <a:custGeom>
            <a:avLst/>
            <a:gdLst/>
            <a:ahLst/>
            <a:cxnLst/>
            <a:rect l="l" t="t" r="r" b="b"/>
            <a:pathLst>
              <a:path w="2680970" h="1952625">
                <a:moveTo>
                  <a:pt x="1977643" y="0"/>
                </a:moveTo>
                <a:lnTo>
                  <a:pt x="0" y="0"/>
                </a:lnTo>
                <a:lnTo>
                  <a:pt x="703071" y="1952244"/>
                </a:lnTo>
                <a:lnTo>
                  <a:pt x="2680716" y="1952244"/>
                </a:lnTo>
                <a:lnTo>
                  <a:pt x="197764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6051325" y="1323450"/>
            <a:ext cx="2679071" cy="1951242"/>
          </a:xfrm>
          <a:custGeom>
            <a:avLst/>
            <a:gdLst/>
            <a:ahLst/>
            <a:cxnLst/>
            <a:rect l="l" t="t" r="r" b="b"/>
            <a:pathLst>
              <a:path w="2680970" h="1952625">
                <a:moveTo>
                  <a:pt x="0" y="0"/>
                </a:moveTo>
                <a:lnTo>
                  <a:pt x="1977643" y="0"/>
                </a:lnTo>
                <a:lnTo>
                  <a:pt x="2680716" y="1952244"/>
                </a:lnTo>
                <a:lnTo>
                  <a:pt x="703071"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119549" y="1323450"/>
            <a:ext cx="2680340" cy="3900581"/>
          </a:xfrm>
          <a:custGeom>
            <a:avLst/>
            <a:gdLst/>
            <a:ahLst/>
            <a:cxnLst/>
            <a:rect l="l" t="t" r="r" b="b"/>
            <a:pathLst>
              <a:path w="2682240" h="3903345">
                <a:moveTo>
                  <a:pt x="1978787" y="0"/>
                </a:moveTo>
                <a:lnTo>
                  <a:pt x="0" y="0"/>
                </a:lnTo>
                <a:lnTo>
                  <a:pt x="0" y="3902964"/>
                </a:lnTo>
                <a:lnTo>
                  <a:pt x="1978787" y="3902964"/>
                </a:lnTo>
                <a:lnTo>
                  <a:pt x="2682240" y="1952244"/>
                </a:lnTo>
                <a:lnTo>
                  <a:pt x="1978787"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119549" y="1323450"/>
            <a:ext cx="2680340" cy="3900581"/>
          </a:xfrm>
          <a:custGeom>
            <a:avLst/>
            <a:gdLst/>
            <a:ahLst/>
            <a:cxnLst/>
            <a:rect l="l" t="t" r="r" b="b"/>
            <a:pathLst>
              <a:path w="2682240" h="3903345">
                <a:moveTo>
                  <a:pt x="0" y="0"/>
                </a:moveTo>
                <a:lnTo>
                  <a:pt x="1978787" y="0"/>
                </a:lnTo>
                <a:lnTo>
                  <a:pt x="2682240" y="1952244"/>
                </a:lnTo>
                <a:lnTo>
                  <a:pt x="1978787" y="3902964"/>
                </a:lnTo>
                <a:lnTo>
                  <a:pt x="0" y="3902964"/>
                </a:lnTo>
                <a:lnTo>
                  <a:pt x="0" y="1952244"/>
                </a:lnTo>
                <a:lnTo>
                  <a:pt x="0" y="0"/>
                </a:lnTo>
                <a:close/>
              </a:path>
            </a:pathLst>
          </a:custGeom>
          <a:ln w="28575">
            <a:solidFill>
              <a:srgbClr val="0066CC"/>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169043" y="1538944"/>
            <a:ext cx="1926495" cy="3359944"/>
          </a:xfrm>
          <a:custGeom>
            <a:avLst/>
            <a:gdLst/>
            <a:ahLst/>
            <a:cxnLst/>
            <a:rect l="l" t="t" r="r" b="b"/>
            <a:pathLst>
              <a:path w="1927860" h="3362325">
                <a:moveTo>
                  <a:pt x="0" y="3361944"/>
                </a:moveTo>
                <a:lnTo>
                  <a:pt x="1927860" y="3361944"/>
                </a:lnTo>
                <a:lnTo>
                  <a:pt x="1927860" y="0"/>
                </a:lnTo>
                <a:lnTo>
                  <a:pt x="0" y="0"/>
                </a:lnTo>
                <a:lnTo>
                  <a:pt x="0" y="3361944"/>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txBox="1"/>
          <p:nvPr/>
        </p:nvSpPr>
        <p:spPr>
          <a:xfrm>
            <a:off x="4964467" y="1535644"/>
            <a:ext cx="104129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大客</a:t>
            </a:r>
            <a:r>
              <a:rPr sz="1600" b="1" spc="-10" dirty="0">
                <a:solidFill>
                  <a:srgbClr val="0066CC"/>
                </a:solidFill>
                <a:latin typeface="微软雅黑" panose="020B0503020204020204" charset="-122"/>
                <a:ea typeface="微软雅黑" panose="020B0503020204020204" charset="-122"/>
                <a:cs typeface="微软雅黑" panose="020B0503020204020204" charset="-122"/>
              </a:rPr>
              <a:t>户规划</a:t>
            </a:r>
            <a:endParaRPr sz="1600">
              <a:latin typeface="微软雅黑" panose="020B0503020204020204" charset="-122"/>
              <a:ea typeface="微软雅黑" panose="020B0503020204020204" charset="-122"/>
              <a:cs typeface="微软雅黑" panose="020B0503020204020204" charset="-122"/>
            </a:endParaRPr>
          </a:p>
        </p:txBody>
      </p:sp>
      <p:sp>
        <p:nvSpPr>
          <p:cNvPr id="16" name="object 16"/>
          <p:cNvSpPr txBox="1"/>
          <p:nvPr/>
        </p:nvSpPr>
        <p:spPr>
          <a:xfrm>
            <a:off x="6933604" y="1535644"/>
            <a:ext cx="1045739"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实施和跟踪</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17" name="object 17"/>
          <p:cNvSpPr txBox="1"/>
          <p:nvPr/>
        </p:nvSpPr>
        <p:spPr>
          <a:xfrm>
            <a:off x="5439110" y="3524071"/>
            <a:ext cx="434032"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组织</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18" name="object 18"/>
          <p:cNvSpPr/>
          <p:nvPr/>
        </p:nvSpPr>
        <p:spPr>
          <a:xfrm>
            <a:off x="4876519" y="3421020"/>
            <a:ext cx="385807" cy="501295"/>
          </a:xfrm>
          <a:custGeom>
            <a:avLst/>
            <a:gdLst/>
            <a:ahLst/>
            <a:cxnLst/>
            <a:rect l="l" t="t" r="r" b="b"/>
            <a:pathLst>
              <a:path w="386079" h="501650">
                <a:moveTo>
                  <a:pt x="188213" y="0"/>
                </a:moveTo>
                <a:lnTo>
                  <a:pt x="146496" y="4355"/>
                </a:lnTo>
                <a:lnTo>
                  <a:pt x="109553" y="17414"/>
                </a:lnTo>
                <a:lnTo>
                  <a:pt x="77396" y="39165"/>
                </a:lnTo>
                <a:lnTo>
                  <a:pt x="50037" y="69595"/>
                </a:lnTo>
                <a:lnTo>
                  <a:pt x="28128" y="107053"/>
                </a:lnTo>
                <a:lnTo>
                  <a:pt x="12493" y="149891"/>
                </a:lnTo>
                <a:lnTo>
                  <a:pt x="3121" y="198112"/>
                </a:lnTo>
                <a:lnTo>
                  <a:pt x="0" y="251713"/>
                </a:lnTo>
                <a:lnTo>
                  <a:pt x="1549" y="289958"/>
                </a:lnTo>
                <a:lnTo>
                  <a:pt x="13983" y="358780"/>
                </a:lnTo>
                <a:lnTo>
                  <a:pt x="38179" y="416647"/>
                </a:lnTo>
                <a:lnTo>
                  <a:pt x="69611" y="459319"/>
                </a:lnTo>
                <a:lnTo>
                  <a:pt x="108547" y="486487"/>
                </a:lnTo>
                <a:lnTo>
                  <a:pt x="160605" y="499961"/>
                </a:lnTo>
                <a:lnTo>
                  <a:pt x="191897" y="501650"/>
                </a:lnTo>
                <a:lnTo>
                  <a:pt x="227782" y="499695"/>
                </a:lnTo>
                <a:lnTo>
                  <a:pt x="286265" y="484022"/>
                </a:lnTo>
                <a:lnTo>
                  <a:pt x="328509" y="452014"/>
                </a:lnTo>
                <a:lnTo>
                  <a:pt x="363370" y="400147"/>
                </a:lnTo>
                <a:lnTo>
                  <a:pt x="366288" y="393700"/>
                </a:lnTo>
                <a:lnTo>
                  <a:pt x="194817" y="393700"/>
                </a:lnTo>
                <a:lnTo>
                  <a:pt x="180578" y="391747"/>
                </a:lnTo>
                <a:lnTo>
                  <a:pt x="146430" y="362457"/>
                </a:lnTo>
                <a:lnTo>
                  <a:pt x="132125" y="317184"/>
                </a:lnTo>
                <a:lnTo>
                  <a:pt x="129794" y="296417"/>
                </a:lnTo>
                <a:lnTo>
                  <a:pt x="385825" y="296417"/>
                </a:lnTo>
                <a:lnTo>
                  <a:pt x="385825" y="275716"/>
                </a:lnTo>
                <a:lnTo>
                  <a:pt x="384468" y="230499"/>
                </a:lnTo>
                <a:lnTo>
                  <a:pt x="382249" y="208279"/>
                </a:lnTo>
                <a:lnTo>
                  <a:pt x="130175" y="208279"/>
                </a:lnTo>
                <a:lnTo>
                  <a:pt x="132244" y="188162"/>
                </a:lnTo>
                <a:lnTo>
                  <a:pt x="144907" y="143763"/>
                </a:lnTo>
                <a:lnTo>
                  <a:pt x="179071" y="111134"/>
                </a:lnTo>
                <a:lnTo>
                  <a:pt x="193548" y="108965"/>
                </a:lnTo>
                <a:lnTo>
                  <a:pt x="358683" y="108965"/>
                </a:lnTo>
                <a:lnTo>
                  <a:pt x="352087" y="93678"/>
                </a:lnTo>
                <a:lnTo>
                  <a:pt x="320567" y="48529"/>
                </a:lnTo>
                <a:lnTo>
                  <a:pt x="278493" y="17573"/>
                </a:lnTo>
                <a:lnTo>
                  <a:pt x="222053" y="1952"/>
                </a:lnTo>
                <a:lnTo>
                  <a:pt x="188213" y="0"/>
                </a:lnTo>
                <a:close/>
              </a:path>
              <a:path w="386079" h="501650">
                <a:moveTo>
                  <a:pt x="252729" y="349757"/>
                </a:moveTo>
                <a:lnTo>
                  <a:pt x="221910" y="386038"/>
                </a:lnTo>
                <a:lnTo>
                  <a:pt x="194817" y="393700"/>
                </a:lnTo>
                <a:lnTo>
                  <a:pt x="366288" y="393700"/>
                </a:lnTo>
                <a:lnTo>
                  <a:pt x="378587" y="366521"/>
                </a:lnTo>
                <a:lnTo>
                  <a:pt x="252729" y="349757"/>
                </a:lnTo>
                <a:close/>
              </a:path>
              <a:path w="386079" h="501650">
                <a:moveTo>
                  <a:pt x="358683" y="108965"/>
                </a:moveTo>
                <a:lnTo>
                  <a:pt x="193548" y="108965"/>
                </a:lnTo>
                <a:lnTo>
                  <a:pt x="206069" y="110396"/>
                </a:lnTo>
                <a:lnTo>
                  <a:pt x="217328" y="114696"/>
                </a:lnTo>
                <a:lnTo>
                  <a:pt x="243278" y="145379"/>
                </a:lnTo>
                <a:lnTo>
                  <a:pt x="253236" y="183566"/>
                </a:lnTo>
                <a:lnTo>
                  <a:pt x="255904" y="208279"/>
                </a:lnTo>
                <a:lnTo>
                  <a:pt x="382249" y="208279"/>
                </a:lnTo>
                <a:lnTo>
                  <a:pt x="380396" y="189722"/>
                </a:lnTo>
                <a:lnTo>
                  <a:pt x="373610" y="153398"/>
                </a:lnTo>
                <a:lnTo>
                  <a:pt x="364109" y="121538"/>
                </a:lnTo>
                <a:lnTo>
                  <a:pt x="358683" y="108965"/>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p:nvPr/>
        </p:nvSpPr>
        <p:spPr>
          <a:xfrm>
            <a:off x="4402256" y="1433354"/>
            <a:ext cx="385807" cy="501295"/>
          </a:xfrm>
          <a:custGeom>
            <a:avLst/>
            <a:gdLst/>
            <a:ahLst/>
            <a:cxnLst/>
            <a:rect l="l" t="t" r="r" b="b"/>
            <a:pathLst>
              <a:path w="386079" h="501650">
                <a:moveTo>
                  <a:pt x="194437" y="0"/>
                </a:moveTo>
                <a:lnTo>
                  <a:pt x="141208" y="5524"/>
                </a:lnTo>
                <a:lnTo>
                  <a:pt x="98551" y="22098"/>
                </a:lnTo>
                <a:lnTo>
                  <a:pt x="63940" y="51315"/>
                </a:lnTo>
                <a:lnTo>
                  <a:pt x="32781" y="95250"/>
                </a:lnTo>
                <a:lnTo>
                  <a:pt x="9858" y="155684"/>
                </a:lnTo>
                <a:lnTo>
                  <a:pt x="1095" y="217354"/>
                </a:lnTo>
                <a:lnTo>
                  <a:pt x="0" y="252856"/>
                </a:lnTo>
                <a:lnTo>
                  <a:pt x="885" y="286529"/>
                </a:lnTo>
                <a:lnTo>
                  <a:pt x="8036" y="343350"/>
                </a:lnTo>
                <a:lnTo>
                  <a:pt x="22278" y="387336"/>
                </a:lnTo>
                <a:lnTo>
                  <a:pt x="42229" y="424725"/>
                </a:lnTo>
                <a:lnTo>
                  <a:pt x="67609" y="456136"/>
                </a:lnTo>
                <a:lnTo>
                  <a:pt x="98038" y="479186"/>
                </a:lnTo>
                <a:lnTo>
                  <a:pt x="133873" y="493613"/>
                </a:lnTo>
                <a:lnTo>
                  <a:pt x="178069" y="500749"/>
                </a:lnTo>
                <a:lnTo>
                  <a:pt x="203453" y="501650"/>
                </a:lnTo>
                <a:lnTo>
                  <a:pt x="229766" y="500249"/>
                </a:lnTo>
                <a:lnTo>
                  <a:pt x="275105" y="489112"/>
                </a:lnTo>
                <a:lnTo>
                  <a:pt x="311155" y="467256"/>
                </a:lnTo>
                <a:lnTo>
                  <a:pt x="340441" y="436205"/>
                </a:lnTo>
                <a:lnTo>
                  <a:pt x="363374" y="396392"/>
                </a:lnTo>
                <a:lnTo>
                  <a:pt x="370603" y="378205"/>
                </a:lnTo>
                <a:lnTo>
                  <a:pt x="196214" y="378205"/>
                </a:lnTo>
                <a:lnTo>
                  <a:pt x="181832" y="376297"/>
                </a:lnTo>
                <a:lnTo>
                  <a:pt x="146685" y="347472"/>
                </a:lnTo>
                <a:lnTo>
                  <a:pt x="132000" y="309737"/>
                </a:lnTo>
                <a:lnTo>
                  <a:pt x="127126" y="257810"/>
                </a:lnTo>
                <a:lnTo>
                  <a:pt x="128363" y="226704"/>
                </a:lnTo>
                <a:lnTo>
                  <a:pt x="138217" y="177210"/>
                </a:lnTo>
                <a:lnTo>
                  <a:pt x="169465" y="134175"/>
                </a:lnTo>
                <a:lnTo>
                  <a:pt x="198120" y="125984"/>
                </a:lnTo>
                <a:lnTo>
                  <a:pt x="368473" y="125984"/>
                </a:lnTo>
                <a:lnTo>
                  <a:pt x="355377" y="93710"/>
                </a:lnTo>
                <a:lnTo>
                  <a:pt x="318897" y="41910"/>
                </a:lnTo>
                <a:lnTo>
                  <a:pt x="266334" y="10477"/>
                </a:lnTo>
                <a:lnTo>
                  <a:pt x="232796" y="2619"/>
                </a:lnTo>
                <a:lnTo>
                  <a:pt x="194437" y="0"/>
                </a:lnTo>
                <a:close/>
              </a:path>
              <a:path w="386079" h="501650">
                <a:moveTo>
                  <a:pt x="264160" y="302767"/>
                </a:moveTo>
                <a:lnTo>
                  <a:pt x="246532" y="349166"/>
                </a:lnTo>
                <a:lnTo>
                  <a:pt x="208287" y="377041"/>
                </a:lnTo>
                <a:lnTo>
                  <a:pt x="196214" y="378205"/>
                </a:lnTo>
                <a:lnTo>
                  <a:pt x="370603" y="378205"/>
                </a:lnTo>
                <a:lnTo>
                  <a:pt x="372446" y="373554"/>
                </a:lnTo>
                <a:lnTo>
                  <a:pt x="379860" y="349009"/>
                </a:lnTo>
                <a:lnTo>
                  <a:pt x="385699" y="322579"/>
                </a:lnTo>
                <a:lnTo>
                  <a:pt x="264160" y="302767"/>
                </a:lnTo>
                <a:close/>
              </a:path>
              <a:path w="386079" h="501650">
                <a:moveTo>
                  <a:pt x="368473" y="125984"/>
                </a:moveTo>
                <a:lnTo>
                  <a:pt x="198120" y="125984"/>
                </a:lnTo>
                <a:lnTo>
                  <a:pt x="210052" y="126960"/>
                </a:lnTo>
                <a:lnTo>
                  <a:pt x="220710" y="129889"/>
                </a:lnTo>
                <a:lnTo>
                  <a:pt x="250825" y="161020"/>
                </a:lnTo>
                <a:lnTo>
                  <a:pt x="258825" y="187960"/>
                </a:lnTo>
                <a:lnTo>
                  <a:pt x="379095" y="164846"/>
                </a:lnTo>
                <a:lnTo>
                  <a:pt x="368831" y="126867"/>
                </a:lnTo>
                <a:lnTo>
                  <a:pt x="368473" y="125984"/>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p:nvPr/>
        </p:nvSpPr>
        <p:spPr>
          <a:xfrm>
            <a:off x="6458199" y="1433354"/>
            <a:ext cx="385807" cy="501295"/>
          </a:xfrm>
          <a:custGeom>
            <a:avLst/>
            <a:gdLst/>
            <a:ahLst/>
            <a:cxnLst/>
            <a:rect l="l" t="t" r="r" b="b"/>
            <a:pathLst>
              <a:path w="386079" h="501650">
                <a:moveTo>
                  <a:pt x="147827" y="127888"/>
                </a:moveTo>
                <a:lnTo>
                  <a:pt x="89074" y="139684"/>
                </a:lnTo>
                <a:lnTo>
                  <a:pt x="41655" y="175005"/>
                </a:lnTo>
                <a:lnTo>
                  <a:pt x="10398" y="232537"/>
                </a:lnTo>
                <a:lnTo>
                  <a:pt x="0" y="311023"/>
                </a:lnTo>
                <a:lnTo>
                  <a:pt x="2357" y="349244"/>
                </a:lnTo>
                <a:lnTo>
                  <a:pt x="21216" y="416732"/>
                </a:lnTo>
                <a:lnTo>
                  <a:pt x="58697" y="470360"/>
                </a:lnTo>
                <a:lnTo>
                  <a:pt x="113371" y="498173"/>
                </a:lnTo>
                <a:lnTo>
                  <a:pt x="147066" y="501650"/>
                </a:lnTo>
                <a:lnTo>
                  <a:pt x="164472" y="500675"/>
                </a:lnTo>
                <a:lnTo>
                  <a:pt x="211835" y="486155"/>
                </a:lnTo>
                <a:lnTo>
                  <a:pt x="247036" y="456116"/>
                </a:lnTo>
                <a:lnTo>
                  <a:pt x="259969" y="440689"/>
                </a:lnTo>
                <a:lnTo>
                  <a:pt x="385699" y="440689"/>
                </a:lnTo>
                <a:lnTo>
                  <a:pt x="385699" y="401319"/>
                </a:lnTo>
                <a:lnTo>
                  <a:pt x="191007" y="401319"/>
                </a:lnTo>
                <a:lnTo>
                  <a:pt x="179459" y="400034"/>
                </a:lnTo>
                <a:lnTo>
                  <a:pt x="143454" y="369226"/>
                </a:lnTo>
                <a:lnTo>
                  <a:pt x="134239" y="316738"/>
                </a:lnTo>
                <a:lnTo>
                  <a:pt x="135237" y="294997"/>
                </a:lnTo>
                <a:lnTo>
                  <a:pt x="150114" y="250062"/>
                </a:lnTo>
                <a:lnTo>
                  <a:pt x="189356" y="230250"/>
                </a:lnTo>
                <a:lnTo>
                  <a:pt x="385699" y="230250"/>
                </a:lnTo>
                <a:lnTo>
                  <a:pt x="385699" y="170941"/>
                </a:lnTo>
                <a:lnTo>
                  <a:pt x="250063" y="170941"/>
                </a:lnTo>
                <a:lnTo>
                  <a:pt x="239799" y="160847"/>
                </a:lnTo>
                <a:lnTo>
                  <a:pt x="228822" y="152098"/>
                </a:lnTo>
                <a:lnTo>
                  <a:pt x="191583" y="133943"/>
                </a:lnTo>
                <a:lnTo>
                  <a:pt x="163111" y="128557"/>
                </a:lnTo>
                <a:lnTo>
                  <a:pt x="147827" y="127888"/>
                </a:lnTo>
                <a:close/>
              </a:path>
              <a:path w="386079" h="501650">
                <a:moveTo>
                  <a:pt x="385699" y="440689"/>
                </a:moveTo>
                <a:lnTo>
                  <a:pt x="259969" y="440689"/>
                </a:lnTo>
                <a:lnTo>
                  <a:pt x="259969" y="493522"/>
                </a:lnTo>
                <a:lnTo>
                  <a:pt x="385699" y="493522"/>
                </a:lnTo>
                <a:lnTo>
                  <a:pt x="385699" y="440689"/>
                </a:lnTo>
                <a:close/>
              </a:path>
              <a:path w="386079" h="501650">
                <a:moveTo>
                  <a:pt x="385699" y="230250"/>
                </a:moveTo>
                <a:lnTo>
                  <a:pt x="189356" y="230250"/>
                </a:lnTo>
                <a:lnTo>
                  <a:pt x="202120" y="231538"/>
                </a:lnTo>
                <a:lnTo>
                  <a:pt x="213741" y="235410"/>
                </a:lnTo>
                <a:lnTo>
                  <a:pt x="241220" y="262647"/>
                </a:lnTo>
                <a:lnTo>
                  <a:pt x="251078" y="313689"/>
                </a:lnTo>
                <a:lnTo>
                  <a:pt x="250007" y="335311"/>
                </a:lnTo>
                <a:lnTo>
                  <a:pt x="233933" y="380746"/>
                </a:lnTo>
                <a:lnTo>
                  <a:pt x="191007" y="401319"/>
                </a:lnTo>
                <a:lnTo>
                  <a:pt x="385699" y="401319"/>
                </a:lnTo>
                <a:lnTo>
                  <a:pt x="385699" y="230250"/>
                </a:lnTo>
                <a:close/>
              </a:path>
              <a:path w="386079" h="501650">
                <a:moveTo>
                  <a:pt x="385699" y="0"/>
                </a:moveTo>
                <a:lnTo>
                  <a:pt x="250063" y="0"/>
                </a:lnTo>
                <a:lnTo>
                  <a:pt x="250063" y="170941"/>
                </a:lnTo>
                <a:lnTo>
                  <a:pt x="385699" y="170941"/>
                </a:lnTo>
                <a:lnTo>
                  <a:pt x="385699"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1" name="object 21"/>
          <p:cNvSpPr/>
          <p:nvPr/>
        </p:nvSpPr>
        <p:spPr>
          <a:xfrm>
            <a:off x="2485914" y="1433354"/>
            <a:ext cx="385807" cy="501295"/>
          </a:xfrm>
          <a:custGeom>
            <a:avLst/>
            <a:gdLst/>
            <a:ahLst/>
            <a:cxnLst/>
            <a:rect l="l" t="t" r="r" b="b"/>
            <a:pathLst>
              <a:path w="386080" h="501650">
                <a:moveTo>
                  <a:pt x="351348" y="440689"/>
                </a:moveTo>
                <a:lnTo>
                  <a:pt x="125603" y="440689"/>
                </a:lnTo>
                <a:lnTo>
                  <a:pt x="138412" y="456027"/>
                </a:lnTo>
                <a:lnTo>
                  <a:pt x="173862" y="486155"/>
                </a:lnTo>
                <a:lnTo>
                  <a:pt x="221243" y="500675"/>
                </a:lnTo>
                <a:lnTo>
                  <a:pt x="238506" y="501650"/>
                </a:lnTo>
                <a:lnTo>
                  <a:pt x="258699" y="500268"/>
                </a:lnTo>
                <a:lnTo>
                  <a:pt x="296227" y="489219"/>
                </a:lnTo>
                <a:lnTo>
                  <a:pt x="329588" y="467098"/>
                </a:lnTo>
                <a:lnTo>
                  <a:pt x="351348" y="440689"/>
                </a:lnTo>
                <a:close/>
              </a:path>
              <a:path w="386080" h="501650">
                <a:moveTo>
                  <a:pt x="135509" y="0"/>
                </a:moveTo>
                <a:lnTo>
                  <a:pt x="0" y="0"/>
                </a:lnTo>
                <a:lnTo>
                  <a:pt x="0" y="493522"/>
                </a:lnTo>
                <a:lnTo>
                  <a:pt x="125603" y="493522"/>
                </a:lnTo>
                <a:lnTo>
                  <a:pt x="125603" y="440689"/>
                </a:lnTo>
                <a:lnTo>
                  <a:pt x="351348" y="440689"/>
                </a:lnTo>
                <a:lnTo>
                  <a:pt x="356068" y="433760"/>
                </a:lnTo>
                <a:lnTo>
                  <a:pt x="366522" y="412876"/>
                </a:lnTo>
                <a:lnTo>
                  <a:pt x="370715" y="401319"/>
                </a:lnTo>
                <a:lnTo>
                  <a:pt x="194691" y="401319"/>
                </a:lnTo>
                <a:lnTo>
                  <a:pt x="182211" y="400012"/>
                </a:lnTo>
                <a:lnTo>
                  <a:pt x="144103" y="368589"/>
                </a:lnTo>
                <a:lnTo>
                  <a:pt x="134619" y="313689"/>
                </a:lnTo>
                <a:lnTo>
                  <a:pt x="135693" y="293993"/>
                </a:lnTo>
                <a:lnTo>
                  <a:pt x="151892" y="250951"/>
                </a:lnTo>
                <a:lnTo>
                  <a:pt x="196596" y="230250"/>
                </a:lnTo>
                <a:lnTo>
                  <a:pt x="374480" y="230250"/>
                </a:lnTo>
                <a:lnTo>
                  <a:pt x="362124" y="200880"/>
                </a:lnTo>
                <a:lnTo>
                  <a:pt x="343788" y="174878"/>
                </a:lnTo>
                <a:lnTo>
                  <a:pt x="339515" y="170941"/>
                </a:lnTo>
                <a:lnTo>
                  <a:pt x="135509" y="170941"/>
                </a:lnTo>
                <a:lnTo>
                  <a:pt x="135509" y="0"/>
                </a:lnTo>
                <a:close/>
              </a:path>
              <a:path w="386080" h="501650">
                <a:moveTo>
                  <a:pt x="374480" y="230250"/>
                </a:moveTo>
                <a:lnTo>
                  <a:pt x="196596" y="230250"/>
                </a:lnTo>
                <a:lnTo>
                  <a:pt x="207577" y="231489"/>
                </a:lnTo>
                <a:lnTo>
                  <a:pt x="217678" y="235203"/>
                </a:lnTo>
                <a:lnTo>
                  <a:pt x="247332" y="275574"/>
                </a:lnTo>
                <a:lnTo>
                  <a:pt x="251275" y="313689"/>
                </a:lnTo>
                <a:lnTo>
                  <a:pt x="250328" y="334706"/>
                </a:lnTo>
                <a:lnTo>
                  <a:pt x="235076" y="380873"/>
                </a:lnTo>
                <a:lnTo>
                  <a:pt x="194691" y="401319"/>
                </a:lnTo>
                <a:lnTo>
                  <a:pt x="370715" y="401319"/>
                </a:lnTo>
                <a:lnTo>
                  <a:pt x="374895" y="389800"/>
                </a:lnTo>
                <a:lnTo>
                  <a:pt x="380920" y="364775"/>
                </a:lnTo>
                <a:lnTo>
                  <a:pt x="384506" y="338081"/>
                </a:lnTo>
                <a:lnTo>
                  <a:pt x="385699" y="309625"/>
                </a:lnTo>
                <a:lnTo>
                  <a:pt x="383079" y="268265"/>
                </a:lnTo>
                <a:lnTo>
                  <a:pt x="375221" y="232013"/>
                </a:lnTo>
                <a:lnTo>
                  <a:pt x="374480" y="230250"/>
                </a:lnTo>
                <a:close/>
              </a:path>
              <a:path w="386080" h="501650">
                <a:moveTo>
                  <a:pt x="237871" y="127888"/>
                </a:moveTo>
                <a:lnTo>
                  <a:pt x="194401" y="133943"/>
                </a:lnTo>
                <a:lnTo>
                  <a:pt x="157035" y="152098"/>
                </a:lnTo>
                <a:lnTo>
                  <a:pt x="135509" y="170941"/>
                </a:lnTo>
                <a:lnTo>
                  <a:pt x="339515" y="170941"/>
                </a:lnTo>
                <a:lnTo>
                  <a:pt x="321452" y="154303"/>
                </a:lnTo>
                <a:lnTo>
                  <a:pt x="296354" y="139620"/>
                </a:lnTo>
                <a:lnTo>
                  <a:pt x="268493" y="130819"/>
                </a:lnTo>
                <a:lnTo>
                  <a:pt x="237871" y="127888"/>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253820" y="1433354"/>
            <a:ext cx="253820" cy="503198"/>
          </a:xfrm>
          <a:custGeom>
            <a:avLst/>
            <a:gdLst/>
            <a:ahLst/>
            <a:cxnLst/>
            <a:rect l="l" t="t" r="r" b="b"/>
            <a:pathLst>
              <a:path w="254000" h="503555">
                <a:moveTo>
                  <a:pt x="237734" y="109600"/>
                </a:moveTo>
                <a:lnTo>
                  <a:pt x="131673" y="109600"/>
                </a:lnTo>
                <a:lnTo>
                  <a:pt x="139160" y="110456"/>
                </a:lnTo>
                <a:lnTo>
                  <a:pt x="145427" y="113014"/>
                </a:lnTo>
                <a:lnTo>
                  <a:pt x="160341" y="155122"/>
                </a:lnTo>
                <a:lnTo>
                  <a:pt x="160743" y="170814"/>
                </a:lnTo>
                <a:lnTo>
                  <a:pt x="152959" y="177319"/>
                </a:lnTo>
                <a:lnTo>
                  <a:pt x="108359" y="204311"/>
                </a:lnTo>
                <a:lnTo>
                  <a:pt x="69164" y="222123"/>
                </a:lnTo>
                <a:lnTo>
                  <a:pt x="50883" y="231838"/>
                </a:lnTo>
                <a:lnTo>
                  <a:pt x="14744" y="274700"/>
                </a:lnTo>
                <a:lnTo>
                  <a:pt x="3686" y="314880"/>
                </a:lnTo>
                <a:lnTo>
                  <a:pt x="0" y="364871"/>
                </a:lnTo>
                <a:lnTo>
                  <a:pt x="1278" y="392947"/>
                </a:lnTo>
                <a:lnTo>
                  <a:pt x="11508" y="442148"/>
                </a:lnTo>
                <a:lnTo>
                  <a:pt x="31875" y="480724"/>
                </a:lnTo>
                <a:lnTo>
                  <a:pt x="80378" y="503174"/>
                </a:lnTo>
                <a:lnTo>
                  <a:pt x="94772" y="501933"/>
                </a:lnTo>
                <a:lnTo>
                  <a:pt x="132499" y="483235"/>
                </a:lnTo>
                <a:lnTo>
                  <a:pt x="157232" y="449516"/>
                </a:lnTo>
                <a:lnTo>
                  <a:pt x="165531" y="433324"/>
                </a:lnTo>
                <a:lnTo>
                  <a:pt x="244579" y="433324"/>
                </a:lnTo>
                <a:lnTo>
                  <a:pt x="244517" y="432556"/>
                </a:lnTo>
                <a:lnTo>
                  <a:pt x="243901" y="420163"/>
                </a:lnTo>
                <a:lnTo>
                  <a:pt x="243531" y="405937"/>
                </a:lnTo>
                <a:lnTo>
                  <a:pt x="243491" y="400685"/>
                </a:lnTo>
                <a:lnTo>
                  <a:pt x="103149" y="400685"/>
                </a:lnTo>
                <a:lnTo>
                  <a:pt x="85169" y="361660"/>
                </a:lnTo>
                <a:lnTo>
                  <a:pt x="84734" y="351281"/>
                </a:lnTo>
                <a:lnTo>
                  <a:pt x="85175" y="342016"/>
                </a:lnTo>
                <a:lnTo>
                  <a:pt x="103378" y="302656"/>
                </a:lnTo>
                <a:lnTo>
                  <a:pt x="133767" y="282424"/>
                </a:lnTo>
                <a:lnTo>
                  <a:pt x="142943" y="276637"/>
                </a:lnTo>
                <a:lnTo>
                  <a:pt x="151935" y="270422"/>
                </a:lnTo>
                <a:lnTo>
                  <a:pt x="160743" y="263778"/>
                </a:lnTo>
                <a:lnTo>
                  <a:pt x="243408" y="263778"/>
                </a:lnTo>
                <a:lnTo>
                  <a:pt x="243408" y="177164"/>
                </a:lnTo>
                <a:lnTo>
                  <a:pt x="243017" y="159976"/>
                </a:lnTo>
                <a:lnTo>
                  <a:pt x="241847" y="142335"/>
                </a:lnTo>
                <a:lnTo>
                  <a:pt x="239890" y="124205"/>
                </a:lnTo>
                <a:lnTo>
                  <a:pt x="237734" y="109600"/>
                </a:lnTo>
                <a:close/>
              </a:path>
              <a:path w="254000" h="503555">
                <a:moveTo>
                  <a:pt x="244579" y="433324"/>
                </a:moveTo>
                <a:lnTo>
                  <a:pt x="165531" y="433324"/>
                </a:lnTo>
                <a:lnTo>
                  <a:pt x="166256" y="443102"/>
                </a:lnTo>
                <a:lnTo>
                  <a:pt x="172481" y="483540"/>
                </a:lnTo>
                <a:lnTo>
                  <a:pt x="174663" y="492251"/>
                </a:lnTo>
                <a:lnTo>
                  <a:pt x="254000" y="492251"/>
                </a:lnTo>
                <a:lnTo>
                  <a:pt x="250968" y="477964"/>
                </a:lnTo>
                <a:lnTo>
                  <a:pt x="248521" y="465010"/>
                </a:lnTo>
                <a:lnTo>
                  <a:pt x="246658" y="453389"/>
                </a:lnTo>
                <a:lnTo>
                  <a:pt x="245376" y="443102"/>
                </a:lnTo>
                <a:lnTo>
                  <a:pt x="244579" y="433324"/>
                </a:lnTo>
                <a:close/>
              </a:path>
              <a:path w="254000" h="503555">
                <a:moveTo>
                  <a:pt x="243408" y="263778"/>
                </a:moveTo>
                <a:lnTo>
                  <a:pt x="160743" y="263778"/>
                </a:lnTo>
                <a:lnTo>
                  <a:pt x="160704" y="295261"/>
                </a:lnTo>
                <a:lnTo>
                  <a:pt x="160426" y="309673"/>
                </a:lnTo>
                <a:lnTo>
                  <a:pt x="155663" y="349250"/>
                </a:lnTo>
                <a:lnTo>
                  <a:pt x="138417" y="385699"/>
                </a:lnTo>
                <a:lnTo>
                  <a:pt x="112153" y="400685"/>
                </a:lnTo>
                <a:lnTo>
                  <a:pt x="243491" y="400685"/>
                </a:lnTo>
                <a:lnTo>
                  <a:pt x="243408" y="263778"/>
                </a:lnTo>
                <a:close/>
              </a:path>
              <a:path w="254000" h="503555">
                <a:moveTo>
                  <a:pt x="120662" y="0"/>
                </a:moveTo>
                <a:lnTo>
                  <a:pt x="76631" y="7619"/>
                </a:lnTo>
                <a:lnTo>
                  <a:pt x="44653" y="29463"/>
                </a:lnTo>
                <a:lnTo>
                  <a:pt x="24618" y="62628"/>
                </a:lnTo>
                <a:lnTo>
                  <a:pt x="12225" y="106870"/>
                </a:lnTo>
                <a:lnTo>
                  <a:pt x="6642" y="148209"/>
                </a:lnTo>
                <a:lnTo>
                  <a:pt x="87439" y="166750"/>
                </a:lnTo>
                <a:lnTo>
                  <a:pt x="90122" y="152370"/>
                </a:lnTo>
                <a:lnTo>
                  <a:pt x="93198" y="140477"/>
                </a:lnTo>
                <a:lnTo>
                  <a:pt x="121939" y="110507"/>
                </a:lnTo>
                <a:lnTo>
                  <a:pt x="131673" y="109600"/>
                </a:lnTo>
                <a:lnTo>
                  <a:pt x="237734" y="109600"/>
                </a:lnTo>
                <a:lnTo>
                  <a:pt x="237172" y="105790"/>
                </a:lnTo>
                <a:lnTo>
                  <a:pt x="225256" y="59267"/>
                </a:lnTo>
                <a:lnTo>
                  <a:pt x="202857" y="23542"/>
                </a:lnTo>
                <a:lnTo>
                  <a:pt x="169263" y="5197"/>
                </a:lnTo>
                <a:lnTo>
                  <a:pt x="138731" y="573"/>
                </a:lnTo>
                <a:lnTo>
                  <a:pt x="120662"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txBox="1"/>
          <p:nvPr/>
        </p:nvSpPr>
        <p:spPr>
          <a:xfrm>
            <a:off x="618712" y="1535644"/>
            <a:ext cx="84204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客户分类</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4" name="object 24"/>
          <p:cNvSpPr txBox="1"/>
          <p:nvPr/>
        </p:nvSpPr>
        <p:spPr>
          <a:xfrm>
            <a:off x="2982893" y="1535644"/>
            <a:ext cx="1045739"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大客户分析</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5" name="object 25"/>
          <p:cNvSpPr/>
          <p:nvPr/>
        </p:nvSpPr>
        <p:spPr>
          <a:xfrm>
            <a:off x="2995584" y="1980591"/>
            <a:ext cx="1057161" cy="639627"/>
          </a:xfrm>
          <a:custGeom>
            <a:avLst/>
            <a:gdLst/>
            <a:ahLst/>
            <a:cxnLst/>
            <a:rect l="l" t="t" r="r" b="b"/>
            <a:pathLst>
              <a:path w="1057910" h="640080">
                <a:moveTo>
                  <a:pt x="0" y="640079"/>
                </a:moveTo>
                <a:lnTo>
                  <a:pt x="1057656" y="640079"/>
                </a:lnTo>
                <a:lnTo>
                  <a:pt x="1057656" y="0"/>
                </a:lnTo>
                <a:lnTo>
                  <a:pt x="0" y="0"/>
                </a:lnTo>
                <a:lnTo>
                  <a:pt x="0" y="64007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6" name="object 26"/>
          <p:cNvSpPr txBox="1"/>
          <p:nvPr/>
        </p:nvSpPr>
        <p:spPr>
          <a:xfrm>
            <a:off x="2995584" y="1980591"/>
            <a:ext cx="1057161" cy="416560"/>
          </a:xfrm>
          <a:prstGeom prst="rect">
            <a:avLst/>
          </a:prstGeom>
          <a:ln w="9525">
            <a:solidFill>
              <a:srgbClr val="91AFFF"/>
            </a:solidFill>
          </a:ln>
        </p:spPr>
        <p:txBody>
          <a:bodyPr vert="horz" wrap="square" lIns="0" tIns="201786" rIns="0" bIns="0" rtlCol="0">
            <a:spAutoFit/>
          </a:bodyPr>
          <a:lstStyle/>
          <a:p>
            <a:pPr marL="71755">
              <a:lnSpc>
                <a:spcPct val="100000"/>
              </a:lnSpc>
              <a:spcBef>
                <a:spcPts val="1590"/>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客户背景</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7" name="object 27"/>
          <p:cNvSpPr/>
          <p:nvPr/>
        </p:nvSpPr>
        <p:spPr>
          <a:xfrm>
            <a:off x="2995584" y="2720730"/>
            <a:ext cx="1057161" cy="517792"/>
          </a:xfrm>
          <a:custGeom>
            <a:avLst/>
            <a:gdLst/>
            <a:ahLst/>
            <a:cxnLst/>
            <a:rect l="l" t="t" r="r" b="b"/>
            <a:pathLst>
              <a:path w="1057910" h="518160">
                <a:moveTo>
                  <a:pt x="0" y="518160"/>
                </a:moveTo>
                <a:lnTo>
                  <a:pt x="1057656" y="518160"/>
                </a:lnTo>
                <a:lnTo>
                  <a:pt x="1057656"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txBox="1"/>
          <p:nvPr/>
        </p:nvSpPr>
        <p:spPr>
          <a:xfrm>
            <a:off x="2995584" y="2720730"/>
            <a:ext cx="1057161" cy="464820"/>
          </a:xfrm>
          <a:prstGeom prst="rect">
            <a:avLst/>
          </a:prstGeom>
          <a:ln w="9525">
            <a:solidFill>
              <a:srgbClr val="91AFFF"/>
            </a:solidFill>
          </a:ln>
        </p:spPr>
        <p:txBody>
          <a:bodyPr vert="horz" wrap="square" lIns="0" tIns="34900" rIns="0" bIns="0" rtlCol="0">
            <a:spAutoFit/>
          </a:bodyPr>
          <a:lstStyle/>
          <a:p>
            <a:pPr marL="71755">
              <a:lnSpc>
                <a:spcPct val="100000"/>
              </a:lnSpc>
              <a:spcBef>
                <a:spcPts val="275"/>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客户经济</a:t>
            </a:r>
            <a:endParaRPr sz="1400">
              <a:latin typeface="微软雅黑" panose="020B0503020204020204" charset="-122"/>
              <a:ea typeface="微软雅黑" panose="020B0503020204020204" charset="-122"/>
              <a:cs typeface="微软雅黑" panose="020B0503020204020204" charset="-122"/>
            </a:endParaRPr>
          </a:p>
          <a:p>
            <a:pPr marL="71755">
              <a:lnSpc>
                <a:spcPct val="100000"/>
              </a:lnSpc>
            </a:pPr>
            <a:r>
              <a:rPr sz="1400" dirty="0">
                <a:solidFill>
                  <a:srgbClr val="0066CC"/>
                </a:solidFill>
                <a:latin typeface="微软雅黑" panose="020B0503020204020204" charset="-122"/>
                <a:ea typeface="微软雅黑" panose="020B0503020204020204" charset="-122"/>
                <a:cs typeface="微软雅黑" panose="020B0503020204020204" charset="-122"/>
              </a:rPr>
              <a:t>指标</a:t>
            </a:r>
            <a:endParaRPr sz="1400">
              <a:latin typeface="微软雅黑" panose="020B0503020204020204" charset="-122"/>
              <a:ea typeface="微软雅黑" panose="020B0503020204020204" charset="-122"/>
              <a:cs typeface="微软雅黑" panose="020B0503020204020204" charset="-122"/>
            </a:endParaRPr>
          </a:p>
        </p:txBody>
      </p:sp>
      <p:sp>
        <p:nvSpPr>
          <p:cNvPr id="29" name="object 29"/>
          <p:cNvSpPr/>
          <p:nvPr/>
        </p:nvSpPr>
        <p:spPr>
          <a:xfrm>
            <a:off x="2995584" y="3340559"/>
            <a:ext cx="1057161" cy="516524"/>
          </a:xfrm>
          <a:custGeom>
            <a:avLst/>
            <a:gdLst/>
            <a:ahLst/>
            <a:cxnLst/>
            <a:rect l="l" t="t" r="r" b="b"/>
            <a:pathLst>
              <a:path w="1057910" h="516889">
                <a:moveTo>
                  <a:pt x="0" y="516636"/>
                </a:moveTo>
                <a:lnTo>
                  <a:pt x="1057656" y="516636"/>
                </a:lnTo>
                <a:lnTo>
                  <a:pt x="1057656" y="0"/>
                </a:lnTo>
                <a:lnTo>
                  <a:pt x="0" y="0"/>
                </a:lnTo>
                <a:lnTo>
                  <a:pt x="0" y="51663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0" name="object 30"/>
          <p:cNvSpPr txBox="1"/>
          <p:nvPr/>
        </p:nvSpPr>
        <p:spPr>
          <a:xfrm>
            <a:off x="2995584" y="3340559"/>
            <a:ext cx="1057161" cy="464820"/>
          </a:xfrm>
          <a:prstGeom prst="rect">
            <a:avLst/>
          </a:prstGeom>
          <a:ln w="9525">
            <a:solidFill>
              <a:srgbClr val="91AFFF"/>
            </a:solidFill>
          </a:ln>
        </p:spPr>
        <p:txBody>
          <a:bodyPr vert="horz" wrap="square" lIns="0" tIns="31091" rIns="0" bIns="0" rtlCol="0">
            <a:spAutoFit/>
          </a:bodyPr>
          <a:lstStyle/>
          <a:p>
            <a:pPr marL="71755" marR="86360">
              <a:lnSpc>
                <a:spcPct val="101000"/>
              </a:lnSpc>
              <a:spcBef>
                <a:spcPts val="245"/>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客户关系与 决策流程</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1" name="object 31"/>
          <p:cNvSpPr/>
          <p:nvPr/>
        </p:nvSpPr>
        <p:spPr>
          <a:xfrm>
            <a:off x="2995584" y="3958865"/>
            <a:ext cx="1057161" cy="517792"/>
          </a:xfrm>
          <a:custGeom>
            <a:avLst/>
            <a:gdLst/>
            <a:ahLst/>
            <a:cxnLst/>
            <a:rect l="l" t="t" r="r" b="b"/>
            <a:pathLst>
              <a:path w="1057910" h="518160">
                <a:moveTo>
                  <a:pt x="0" y="518159"/>
                </a:moveTo>
                <a:lnTo>
                  <a:pt x="1057656" y="518159"/>
                </a:lnTo>
                <a:lnTo>
                  <a:pt x="1057656" y="0"/>
                </a:lnTo>
                <a:lnTo>
                  <a:pt x="0" y="0"/>
                </a:lnTo>
                <a:lnTo>
                  <a:pt x="0" y="51815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2" name="object 32"/>
          <p:cNvSpPr txBox="1"/>
          <p:nvPr/>
        </p:nvSpPr>
        <p:spPr>
          <a:xfrm>
            <a:off x="2995584" y="3958865"/>
            <a:ext cx="1057161" cy="355600"/>
          </a:xfrm>
          <a:prstGeom prst="rect">
            <a:avLst/>
          </a:prstGeom>
          <a:ln w="9525">
            <a:solidFill>
              <a:srgbClr val="91AFFF"/>
            </a:solidFill>
          </a:ln>
        </p:spPr>
        <p:txBody>
          <a:bodyPr vert="horz" wrap="square" lIns="0" tIns="140870" rIns="0" bIns="0" rtlCol="0">
            <a:spAutoFit/>
          </a:bodyPr>
          <a:lstStyle/>
          <a:p>
            <a:pPr marL="71755">
              <a:lnSpc>
                <a:spcPct val="100000"/>
              </a:lnSpc>
              <a:spcBef>
                <a:spcPts val="1110"/>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客户需求</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3" name="object 33"/>
          <p:cNvSpPr/>
          <p:nvPr/>
        </p:nvSpPr>
        <p:spPr>
          <a:xfrm>
            <a:off x="2995584" y="4577170"/>
            <a:ext cx="1057161" cy="517792"/>
          </a:xfrm>
          <a:custGeom>
            <a:avLst/>
            <a:gdLst/>
            <a:ahLst/>
            <a:cxnLst/>
            <a:rect l="l" t="t" r="r" b="b"/>
            <a:pathLst>
              <a:path w="1057910" h="518160">
                <a:moveTo>
                  <a:pt x="0" y="518160"/>
                </a:moveTo>
                <a:lnTo>
                  <a:pt x="1057656" y="518160"/>
                </a:lnTo>
                <a:lnTo>
                  <a:pt x="1057656"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4" name="object 34"/>
          <p:cNvSpPr txBox="1"/>
          <p:nvPr/>
        </p:nvSpPr>
        <p:spPr>
          <a:xfrm>
            <a:off x="2995584" y="4577170"/>
            <a:ext cx="1057161" cy="356235"/>
          </a:xfrm>
          <a:prstGeom prst="rect">
            <a:avLst/>
          </a:prstGeom>
          <a:ln w="9525">
            <a:solidFill>
              <a:srgbClr val="91AFFF"/>
            </a:solidFill>
          </a:ln>
        </p:spPr>
        <p:txBody>
          <a:bodyPr vert="horz" wrap="square" lIns="0" tIns="141504" rIns="0" bIns="0" rtlCol="0">
            <a:spAutoFit/>
          </a:bodyPr>
          <a:lstStyle/>
          <a:p>
            <a:pPr marL="71755">
              <a:lnSpc>
                <a:spcPct val="100000"/>
              </a:lnSpc>
              <a:spcBef>
                <a:spcPts val="1115"/>
              </a:spcBef>
            </a:pPr>
            <a:r>
              <a:rPr sz="1400" dirty="0">
                <a:solidFill>
                  <a:srgbClr val="0066CC"/>
                </a:solidFill>
                <a:latin typeface="微软雅黑" panose="020B0503020204020204" charset="-122"/>
                <a:ea typeface="微软雅黑" panose="020B0503020204020204" charset="-122"/>
                <a:cs typeface="微软雅黑" panose="020B0503020204020204" charset="-122"/>
              </a:rPr>
              <a:t>风险分析</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5" name="object 35"/>
          <p:cNvSpPr/>
          <p:nvPr/>
        </p:nvSpPr>
        <p:spPr>
          <a:xfrm>
            <a:off x="5450533" y="3897948"/>
            <a:ext cx="2614982" cy="335043"/>
          </a:xfrm>
          <a:custGeom>
            <a:avLst/>
            <a:gdLst/>
            <a:ahLst/>
            <a:cxnLst/>
            <a:rect l="l" t="t" r="r" b="b"/>
            <a:pathLst>
              <a:path w="2616834" h="335279">
                <a:moveTo>
                  <a:pt x="0" y="335280"/>
                </a:moveTo>
                <a:lnTo>
                  <a:pt x="2616707" y="335280"/>
                </a:lnTo>
                <a:lnTo>
                  <a:pt x="2616707" y="0"/>
                </a:lnTo>
                <a:lnTo>
                  <a:pt x="0" y="0"/>
                </a:lnTo>
                <a:lnTo>
                  <a:pt x="0" y="33528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6" name="object 36"/>
          <p:cNvSpPr txBox="1"/>
          <p:nvPr/>
        </p:nvSpPr>
        <p:spPr>
          <a:xfrm>
            <a:off x="5450533" y="3897948"/>
            <a:ext cx="2614982" cy="264795"/>
          </a:xfrm>
          <a:prstGeom prst="rect">
            <a:avLst/>
          </a:prstGeom>
          <a:ln w="9525">
            <a:solidFill>
              <a:srgbClr val="91AFFF"/>
            </a:solidFill>
          </a:ln>
        </p:spPr>
        <p:txBody>
          <a:bodyPr vert="horz" wrap="square" lIns="0" tIns="50129" rIns="0" bIns="0" rtlCol="0">
            <a:spAutoFit/>
          </a:bodyPr>
          <a:lstStyle/>
          <a:p>
            <a:pPr marL="73025">
              <a:lnSpc>
                <a:spcPct val="100000"/>
              </a:lnSpc>
              <a:spcBef>
                <a:spcPts val="395"/>
              </a:spcBef>
            </a:pPr>
            <a:r>
              <a:rPr sz="1400" dirty="0">
                <a:solidFill>
                  <a:srgbClr val="0066CC"/>
                </a:solidFill>
                <a:latin typeface="微软雅黑" panose="020B0503020204020204" charset="-122"/>
                <a:ea typeface="微软雅黑" panose="020B0503020204020204" charset="-122"/>
                <a:cs typeface="微软雅黑" panose="020B0503020204020204" charset="-122"/>
              </a:rPr>
              <a:t>大客户管理的组织架构</a:t>
            </a:r>
            <a:r>
              <a:rPr sz="1400" spc="-15" dirty="0">
                <a:solidFill>
                  <a:srgbClr val="0066CC"/>
                </a:solidFill>
                <a:latin typeface="微软雅黑" panose="020B0503020204020204" charset="-122"/>
                <a:ea typeface="微软雅黑" panose="020B0503020204020204" charset="-122"/>
                <a:cs typeface="微软雅黑" panose="020B0503020204020204" charset="-122"/>
              </a:rPr>
              <a:t>设</a:t>
            </a:r>
            <a:r>
              <a:rPr sz="1400" spc="5" dirty="0">
                <a:solidFill>
                  <a:srgbClr val="0066CC"/>
                </a:solidFill>
                <a:latin typeface="微软雅黑" panose="020B0503020204020204" charset="-122"/>
                <a:ea typeface="微软雅黑" panose="020B0503020204020204" charset="-122"/>
                <a:cs typeface="微软雅黑" panose="020B0503020204020204" charset="-122"/>
              </a:rPr>
              <a:t>计</a:t>
            </a:r>
            <a:endParaRPr sz="1400">
              <a:latin typeface="微软雅黑" panose="020B0503020204020204" charset="-122"/>
              <a:ea typeface="微软雅黑" panose="020B0503020204020204" charset="-122"/>
              <a:cs typeface="微软雅黑" panose="020B0503020204020204" charset="-122"/>
            </a:endParaRPr>
          </a:p>
        </p:txBody>
      </p:sp>
      <p:sp>
        <p:nvSpPr>
          <p:cNvPr id="37" name="object 37"/>
          <p:cNvSpPr/>
          <p:nvPr/>
        </p:nvSpPr>
        <p:spPr>
          <a:xfrm>
            <a:off x="4976905" y="1980591"/>
            <a:ext cx="1154882" cy="517792"/>
          </a:xfrm>
          <a:custGeom>
            <a:avLst/>
            <a:gdLst/>
            <a:ahLst/>
            <a:cxnLst/>
            <a:rect l="l" t="t" r="r" b="b"/>
            <a:pathLst>
              <a:path w="1155700" h="518160">
                <a:moveTo>
                  <a:pt x="0" y="518160"/>
                </a:moveTo>
                <a:lnTo>
                  <a:pt x="1155191" y="518160"/>
                </a:lnTo>
                <a:lnTo>
                  <a:pt x="1155191"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8" name="object 38"/>
          <p:cNvSpPr txBox="1"/>
          <p:nvPr/>
        </p:nvSpPr>
        <p:spPr>
          <a:xfrm>
            <a:off x="4976905" y="1980591"/>
            <a:ext cx="1154882" cy="336550"/>
          </a:xfrm>
          <a:prstGeom prst="rect">
            <a:avLst/>
          </a:prstGeom>
          <a:ln w="9525">
            <a:solidFill>
              <a:srgbClr val="91AFFF"/>
            </a:solidFill>
          </a:ln>
        </p:spPr>
        <p:txBody>
          <a:bodyPr vert="horz" wrap="square" lIns="0" tIns="121833" rIns="0" bIns="0" rtlCol="0">
            <a:spAutoFit/>
          </a:bodyPr>
          <a:lstStyle/>
          <a:p>
            <a:pPr marL="72390">
              <a:lnSpc>
                <a:spcPct val="100000"/>
              </a:lnSpc>
              <a:spcBef>
                <a:spcPts val="960"/>
              </a:spcBef>
            </a:pPr>
            <a:r>
              <a:rPr sz="1400" dirty="0">
                <a:solidFill>
                  <a:srgbClr val="0066CC"/>
                </a:solidFill>
                <a:latin typeface="微软雅黑" panose="020B0503020204020204" charset="-122"/>
                <a:ea typeface="微软雅黑" panose="020B0503020204020204" charset="-122"/>
                <a:cs typeface="微软雅黑" panose="020B0503020204020204" charset="-122"/>
              </a:rPr>
              <a:t>战略规划</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9" name="object 39"/>
          <p:cNvSpPr/>
          <p:nvPr/>
        </p:nvSpPr>
        <p:spPr>
          <a:xfrm>
            <a:off x="4976905" y="2560823"/>
            <a:ext cx="1154882" cy="517792"/>
          </a:xfrm>
          <a:custGeom>
            <a:avLst/>
            <a:gdLst/>
            <a:ahLst/>
            <a:cxnLst/>
            <a:rect l="l" t="t" r="r" b="b"/>
            <a:pathLst>
              <a:path w="1155700" h="518160">
                <a:moveTo>
                  <a:pt x="0" y="518160"/>
                </a:moveTo>
                <a:lnTo>
                  <a:pt x="1155191" y="518160"/>
                </a:lnTo>
                <a:lnTo>
                  <a:pt x="1155191"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0" name="object 40"/>
          <p:cNvSpPr txBox="1"/>
          <p:nvPr/>
        </p:nvSpPr>
        <p:spPr>
          <a:xfrm>
            <a:off x="4976905" y="2560823"/>
            <a:ext cx="1154882" cy="336550"/>
          </a:xfrm>
          <a:prstGeom prst="rect">
            <a:avLst/>
          </a:prstGeom>
          <a:ln w="9525">
            <a:solidFill>
              <a:srgbClr val="91AFFF"/>
            </a:solidFill>
          </a:ln>
        </p:spPr>
        <p:txBody>
          <a:bodyPr vert="horz" wrap="square" lIns="0" tIns="121833" rIns="0" bIns="0" rtlCol="0">
            <a:spAutoFit/>
          </a:bodyPr>
          <a:lstStyle/>
          <a:p>
            <a:pPr marL="72390">
              <a:lnSpc>
                <a:spcPct val="100000"/>
              </a:lnSpc>
              <a:spcBef>
                <a:spcPts val="960"/>
              </a:spcBef>
            </a:pPr>
            <a:r>
              <a:rPr sz="1400" dirty="0">
                <a:solidFill>
                  <a:srgbClr val="0066CC"/>
                </a:solidFill>
                <a:latin typeface="微软雅黑" panose="020B0503020204020204" charset="-122"/>
                <a:ea typeface="微软雅黑" panose="020B0503020204020204" charset="-122"/>
                <a:cs typeface="微软雅黑" panose="020B0503020204020204" charset="-122"/>
              </a:rPr>
              <a:t>行动计划</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1" name="object 41"/>
          <p:cNvSpPr/>
          <p:nvPr/>
        </p:nvSpPr>
        <p:spPr>
          <a:xfrm>
            <a:off x="6944518" y="1980591"/>
            <a:ext cx="1156151" cy="306488"/>
          </a:xfrm>
          <a:custGeom>
            <a:avLst/>
            <a:gdLst/>
            <a:ahLst/>
            <a:cxnLst/>
            <a:rect l="l" t="t" r="r" b="b"/>
            <a:pathLst>
              <a:path w="1156970" h="306705">
                <a:moveTo>
                  <a:pt x="0" y="306324"/>
                </a:moveTo>
                <a:lnTo>
                  <a:pt x="1156716" y="306324"/>
                </a:lnTo>
                <a:lnTo>
                  <a:pt x="1156716" y="0"/>
                </a:lnTo>
                <a:lnTo>
                  <a:pt x="0" y="0"/>
                </a:lnTo>
                <a:lnTo>
                  <a:pt x="0" y="30632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2" name="object 42"/>
          <p:cNvSpPr/>
          <p:nvPr/>
        </p:nvSpPr>
        <p:spPr>
          <a:xfrm>
            <a:off x="6944518" y="2330862"/>
            <a:ext cx="1156151" cy="306488"/>
          </a:xfrm>
          <a:custGeom>
            <a:avLst/>
            <a:gdLst/>
            <a:ahLst/>
            <a:cxnLst/>
            <a:rect l="l" t="t" r="r" b="b"/>
            <a:pathLst>
              <a:path w="1156970" h="306705">
                <a:moveTo>
                  <a:pt x="0" y="306324"/>
                </a:moveTo>
                <a:lnTo>
                  <a:pt x="1156716" y="306324"/>
                </a:lnTo>
                <a:lnTo>
                  <a:pt x="1156716" y="0"/>
                </a:lnTo>
                <a:lnTo>
                  <a:pt x="0" y="0"/>
                </a:lnTo>
                <a:lnTo>
                  <a:pt x="0" y="30632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3" name="object 43"/>
          <p:cNvSpPr/>
          <p:nvPr/>
        </p:nvSpPr>
        <p:spPr>
          <a:xfrm>
            <a:off x="6944518" y="2682657"/>
            <a:ext cx="1156151" cy="517792"/>
          </a:xfrm>
          <a:custGeom>
            <a:avLst/>
            <a:gdLst/>
            <a:ahLst/>
            <a:cxnLst/>
            <a:rect l="l" t="t" r="r" b="b"/>
            <a:pathLst>
              <a:path w="1156970" h="518160">
                <a:moveTo>
                  <a:pt x="0" y="518160"/>
                </a:moveTo>
                <a:lnTo>
                  <a:pt x="1156716" y="518160"/>
                </a:lnTo>
                <a:lnTo>
                  <a:pt x="1156716"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graphicFrame>
        <p:nvGraphicFramePr>
          <p:cNvPr id="44" name="object 44"/>
          <p:cNvGraphicFramePr>
            <a:graphicFrameLocks noGrp="1"/>
          </p:cNvGraphicFramePr>
          <p:nvPr/>
        </p:nvGraphicFramePr>
        <p:xfrm>
          <a:off x="6939759" y="1975831"/>
          <a:ext cx="1170305" cy="1229360"/>
        </p:xfrm>
        <a:graphic>
          <a:graphicData uri="http://schemas.openxmlformats.org/drawingml/2006/table">
            <a:tbl>
              <a:tblPr firstRow="1" bandRow="1">
                <a:tableStyleId>{2D5ABB26-0587-4C30-8999-92F81FD0307C}</a:tableStyleId>
              </a:tblPr>
              <a:tblGrid>
                <a:gridCol w="1170305"/>
              </a:tblGrid>
              <a:tr h="330835">
                <a:tc>
                  <a:txBody>
                    <a:bodyPr/>
                    <a:lstStyle/>
                    <a:p>
                      <a:pPr marL="73660">
                        <a:lnSpc>
                          <a:spcPct val="100000"/>
                        </a:lnSpc>
                        <a:spcBef>
                          <a:spcPts val="275"/>
                        </a:spcBef>
                      </a:pPr>
                      <a:r>
                        <a:rPr sz="1400" dirty="0">
                          <a:solidFill>
                            <a:srgbClr val="0066CC"/>
                          </a:solidFill>
                          <a:latin typeface="微软雅黑" panose="020B0503020204020204" charset="-122"/>
                          <a:ea typeface="微软雅黑" panose="020B0503020204020204" charset="-122"/>
                          <a:cs typeface="微软雅黑" panose="020B0503020204020204" charset="-122"/>
                        </a:rPr>
                        <a:t>价值销售</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a:txBody>
                  <a:tcPr marL="0" marR="0" marT="34900" marB="0">
                    <a:lnL w="9525">
                      <a:solidFill>
                        <a:srgbClr val="91AFFF"/>
                      </a:solidFill>
                      <a:prstDash val="solid"/>
                    </a:lnL>
                    <a:lnR w="9525">
                      <a:solidFill>
                        <a:srgbClr val="91AFFF"/>
                      </a:solidFill>
                      <a:prstDash val="solid"/>
                    </a:lnR>
                    <a:lnT w="9525">
                      <a:solidFill>
                        <a:srgbClr val="91AFFF"/>
                      </a:solidFill>
                      <a:prstDash val="solid"/>
                    </a:lnT>
                    <a:lnB w="9525">
                      <a:solidFill>
                        <a:srgbClr val="91AFFF"/>
                      </a:solidFill>
                      <a:prstDash val="solid"/>
                    </a:lnB>
                    <a:solidFill>
                      <a:srgbClr val="C6DFFA"/>
                    </a:solidFill>
                  </a:tcPr>
                </a:tc>
              </a:tr>
              <a:tr h="353695">
                <a:tc>
                  <a:txBody>
                    <a:bodyPr/>
                    <a:lstStyle/>
                    <a:p>
                      <a:pPr marL="73660">
                        <a:lnSpc>
                          <a:spcPct val="100000"/>
                        </a:lnSpc>
                        <a:spcBef>
                          <a:spcPts val="455"/>
                        </a:spcBef>
                      </a:pPr>
                      <a:r>
                        <a:rPr sz="1400" dirty="0">
                          <a:solidFill>
                            <a:srgbClr val="0066CC"/>
                          </a:solidFill>
                          <a:latin typeface="微软雅黑" panose="020B0503020204020204" charset="-122"/>
                          <a:ea typeface="微软雅黑" panose="020B0503020204020204" charset="-122"/>
                          <a:cs typeface="微软雅黑" panose="020B0503020204020204" charset="-122"/>
                        </a:rPr>
                        <a:t>谈判</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a:txBody>
                  <a:tcPr marL="0" marR="0" marT="57744" marB="0">
                    <a:lnL w="9525">
                      <a:solidFill>
                        <a:srgbClr val="91AFFF"/>
                      </a:solidFill>
                      <a:prstDash val="solid"/>
                    </a:lnL>
                    <a:lnR w="9525">
                      <a:solidFill>
                        <a:srgbClr val="91AFFF"/>
                      </a:solidFill>
                      <a:prstDash val="solid"/>
                    </a:lnR>
                    <a:lnT w="9525">
                      <a:solidFill>
                        <a:srgbClr val="91AFFF"/>
                      </a:solidFill>
                      <a:prstDash val="solid"/>
                    </a:lnT>
                    <a:lnB w="9525">
                      <a:solidFill>
                        <a:srgbClr val="91AFFF"/>
                      </a:solidFill>
                      <a:prstDash val="solid"/>
                    </a:lnB>
                    <a:solidFill>
                      <a:srgbClr val="C6DFFA"/>
                    </a:solidFill>
                  </a:tcPr>
                </a:tc>
              </a:tr>
              <a:tr h="544830">
                <a:tc>
                  <a:txBody>
                    <a:bodyPr/>
                    <a:lstStyle/>
                    <a:p>
                      <a:pPr marL="73660">
                        <a:lnSpc>
                          <a:spcPct val="100000"/>
                        </a:lnSpc>
                        <a:spcBef>
                          <a:spcPts val="1295"/>
                        </a:spcBef>
                      </a:pPr>
                      <a:r>
                        <a:rPr sz="1400" dirty="0">
                          <a:solidFill>
                            <a:srgbClr val="0066CC"/>
                          </a:solidFill>
                          <a:latin typeface="微软雅黑" panose="020B0503020204020204" charset="-122"/>
                          <a:ea typeface="微软雅黑" panose="020B0503020204020204" charset="-122"/>
                          <a:cs typeface="微软雅黑" panose="020B0503020204020204" charset="-122"/>
                        </a:rPr>
                        <a:t>绩效管理</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a:txBody>
                  <a:tcPr marL="0" marR="0" marT="164348" marB="0">
                    <a:lnL w="9525">
                      <a:solidFill>
                        <a:srgbClr val="91AFFF"/>
                      </a:solidFill>
                      <a:prstDash val="solid"/>
                    </a:lnL>
                    <a:lnR w="9525">
                      <a:solidFill>
                        <a:srgbClr val="91AFFF"/>
                      </a:solidFill>
                      <a:prstDash val="solid"/>
                    </a:lnR>
                    <a:lnT w="9525">
                      <a:solidFill>
                        <a:srgbClr val="91AFFF"/>
                      </a:solidFill>
                      <a:prstDash val="solid"/>
                    </a:lnT>
                    <a:lnB w="9525">
                      <a:solidFill>
                        <a:srgbClr val="91AFFF"/>
                      </a:solidFill>
                      <a:prstDash val="solid"/>
                    </a:lnB>
                    <a:solidFill>
                      <a:srgbClr val="C6DFFA"/>
                    </a:solidFill>
                  </a:tcPr>
                </a:tc>
              </a:tr>
            </a:tbl>
          </a:graphicData>
        </a:graphic>
      </p:graphicFrame>
      <p:sp>
        <p:nvSpPr>
          <p:cNvPr id="45" name="object 45"/>
          <p:cNvSpPr/>
          <p:nvPr/>
        </p:nvSpPr>
        <p:spPr>
          <a:xfrm>
            <a:off x="632011" y="1980591"/>
            <a:ext cx="1488020" cy="517792"/>
          </a:xfrm>
          <a:custGeom>
            <a:avLst/>
            <a:gdLst/>
            <a:ahLst/>
            <a:cxnLst/>
            <a:rect l="l" t="t" r="r" b="b"/>
            <a:pathLst>
              <a:path w="1489075" h="518160">
                <a:moveTo>
                  <a:pt x="0" y="518160"/>
                </a:moveTo>
                <a:lnTo>
                  <a:pt x="1488948" y="518160"/>
                </a:lnTo>
                <a:lnTo>
                  <a:pt x="1488948" y="0"/>
                </a:lnTo>
                <a:lnTo>
                  <a:pt x="0" y="0"/>
                </a:lnTo>
                <a:lnTo>
                  <a:pt x="0" y="51816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6" name="object 46"/>
          <p:cNvSpPr txBox="1"/>
          <p:nvPr/>
        </p:nvSpPr>
        <p:spPr>
          <a:xfrm>
            <a:off x="632011" y="1980591"/>
            <a:ext cx="1488020" cy="464185"/>
          </a:xfrm>
          <a:prstGeom prst="rect">
            <a:avLst/>
          </a:prstGeom>
          <a:ln w="9525">
            <a:solidFill>
              <a:srgbClr val="0066CC"/>
            </a:solidFill>
          </a:ln>
        </p:spPr>
        <p:txBody>
          <a:bodyPr vert="horz" wrap="square" lIns="0" tIns="34265" rIns="0" bIns="0" rtlCol="0">
            <a:spAutoFit/>
          </a:bodyPr>
          <a:lstStyle/>
          <a:p>
            <a:pPr marL="71120" marR="518795">
              <a:lnSpc>
                <a:spcPct val="100000"/>
              </a:lnSpc>
              <a:spcBef>
                <a:spcPts val="270"/>
              </a:spcBef>
            </a:pPr>
            <a:r>
              <a:rPr sz="1400" dirty="0">
                <a:solidFill>
                  <a:srgbClr val="0066CC"/>
                </a:solidFill>
                <a:latin typeface="微软雅黑" panose="020B0503020204020204" charset="-122"/>
                <a:ea typeface="微软雅黑" panose="020B0503020204020204" charset="-122"/>
                <a:cs typeface="微软雅黑" panose="020B0503020204020204" charset="-122"/>
              </a:rPr>
              <a:t>识别并审核 大客户</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7" name="object 47"/>
          <p:cNvSpPr txBox="1"/>
          <p:nvPr/>
        </p:nvSpPr>
        <p:spPr>
          <a:xfrm>
            <a:off x="106401" y="6412696"/>
            <a:ext cx="2191102"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35"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a:t>
            </a:r>
            <a:r>
              <a:rPr sz="1000" spc="-35"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营销和销售业务部</a:t>
            </a:r>
            <a:endParaRPr sz="10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18279" y="180879"/>
            <a:ext cx="5571986"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客户分类决</a:t>
            </a:r>
            <a:r>
              <a:rPr spc="-10" dirty="0">
                <a:ea typeface="微软雅黑" panose="020B0503020204020204" charset="-122"/>
              </a:rPr>
              <a:t>定客</a:t>
            </a:r>
            <a:r>
              <a:rPr spc="-5" dirty="0">
                <a:ea typeface="微软雅黑" panose="020B0503020204020204" charset="-122"/>
              </a:rPr>
              <a:t>户</a:t>
            </a:r>
            <a:r>
              <a:rPr spc="-10" dirty="0">
                <a:ea typeface="微软雅黑" panose="020B0503020204020204" charset="-122"/>
              </a:rPr>
              <a:t>资源</a:t>
            </a:r>
            <a:r>
              <a:rPr spc="-5" dirty="0">
                <a:ea typeface="微软雅黑" panose="020B0503020204020204" charset="-122"/>
              </a:rPr>
              <a:t>配</a:t>
            </a:r>
            <a:r>
              <a:rPr spc="-10" dirty="0">
                <a:ea typeface="微软雅黑" panose="020B0503020204020204" charset="-122"/>
              </a:rPr>
              <a:t>置，</a:t>
            </a:r>
            <a:r>
              <a:rPr spc="-5" dirty="0">
                <a:ea typeface="微软雅黑" panose="020B0503020204020204" charset="-122"/>
              </a:rPr>
              <a:t>因</a:t>
            </a:r>
            <a:r>
              <a:rPr spc="-10" dirty="0">
                <a:ea typeface="微软雅黑" panose="020B0503020204020204" charset="-122"/>
              </a:rPr>
              <a:t>此是</a:t>
            </a:r>
            <a:r>
              <a:rPr spc="-5" dirty="0">
                <a:ea typeface="微软雅黑" panose="020B0503020204020204" charset="-122"/>
              </a:rPr>
              <a:t>销</a:t>
            </a:r>
            <a:r>
              <a:rPr spc="-10" dirty="0">
                <a:ea typeface="微软雅黑" panose="020B0503020204020204" charset="-122"/>
              </a:rPr>
              <a:t>售战</a:t>
            </a:r>
            <a:r>
              <a:rPr spc="-5" dirty="0">
                <a:ea typeface="微软雅黑" panose="020B0503020204020204" charset="-122"/>
              </a:rPr>
              <a:t>略</a:t>
            </a:r>
            <a:r>
              <a:rPr spc="-10" dirty="0">
                <a:ea typeface="微软雅黑" panose="020B0503020204020204" charset="-122"/>
              </a:rPr>
              <a:t>的基础</a:t>
            </a:r>
            <a:endParaRPr spc="-10" dirty="0">
              <a:ea typeface="微软雅黑" panose="020B0503020204020204" charset="-122"/>
            </a:endParaRPr>
          </a:p>
        </p:txBody>
      </p:sp>
      <p:sp>
        <p:nvSpPr>
          <p:cNvPr id="4" name="object 4"/>
          <p:cNvSpPr txBox="1"/>
          <p:nvPr/>
        </p:nvSpPr>
        <p:spPr>
          <a:xfrm>
            <a:off x="106401" y="6412696"/>
            <a:ext cx="982284"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5" dirty="0">
                <a:latin typeface="微软雅黑" panose="020B0503020204020204" charset="-122"/>
                <a:ea typeface="微软雅黑" panose="020B0503020204020204" charset="-122"/>
                <a:cs typeface="微软雅黑" panose="020B0503020204020204" charset="-122"/>
              </a:rPr>
              <a:t>:</a:t>
            </a:r>
            <a:r>
              <a:rPr sz="1000" spc="-45"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a:t>
            </a:r>
            <a:endParaRPr sz="1000">
              <a:latin typeface="微软雅黑" panose="020B0503020204020204" charset="-122"/>
              <a:ea typeface="微软雅黑" panose="020B0503020204020204" charset="-122"/>
              <a:cs typeface="微软雅黑" panose="020B0503020204020204" charset="-122"/>
            </a:endParaRPr>
          </a:p>
        </p:txBody>
      </p:sp>
      <p:sp>
        <p:nvSpPr>
          <p:cNvPr id="5" name="object 5"/>
          <p:cNvSpPr/>
          <p:nvPr/>
        </p:nvSpPr>
        <p:spPr>
          <a:xfrm>
            <a:off x="4419515" y="751530"/>
            <a:ext cx="4271538" cy="5284408"/>
          </a:xfrm>
          <a:prstGeom prst="rect">
            <a:avLst/>
          </a:prstGeom>
          <a:blipFill>
            <a:blip r:embed="rId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4405048" y="737126"/>
            <a:ext cx="4255294" cy="5268036"/>
          </a:xfrm>
          <a:custGeom>
            <a:avLst/>
            <a:gdLst/>
            <a:ahLst/>
            <a:cxnLst/>
            <a:rect l="l" t="t" r="r" b="b"/>
            <a:pathLst>
              <a:path w="4258309" h="5271770">
                <a:moveTo>
                  <a:pt x="0" y="5271516"/>
                </a:moveTo>
                <a:lnTo>
                  <a:pt x="4258056" y="5271516"/>
                </a:lnTo>
                <a:lnTo>
                  <a:pt x="4258056" y="0"/>
                </a:lnTo>
                <a:lnTo>
                  <a:pt x="0" y="0"/>
                </a:lnTo>
                <a:lnTo>
                  <a:pt x="0" y="5271516"/>
                </a:lnTo>
                <a:close/>
              </a:path>
            </a:pathLst>
          </a:custGeom>
          <a:ln w="19050">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205594" y="751530"/>
            <a:ext cx="4442106" cy="5284408"/>
          </a:xfrm>
          <a:prstGeom prst="rect">
            <a:avLst/>
          </a:prstGeom>
          <a:blipFill>
            <a:blip r:embed="rId2"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191127" y="737126"/>
            <a:ext cx="4425988" cy="5268036"/>
          </a:xfrm>
          <a:custGeom>
            <a:avLst/>
            <a:gdLst/>
            <a:ahLst/>
            <a:cxnLst/>
            <a:rect l="l" t="t" r="r" b="b"/>
            <a:pathLst>
              <a:path w="4429125" h="5271770">
                <a:moveTo>
                  <a:pt x="4028948" y="0"/>
                </a:moveTo>
                <a:lnTo>
                  <a:pt x="0" y="0"/>
                </a:lnTo>
                <a:lnTo>
                  <a:pt x="0" y="5271516"/>
                </a:lnTo>
                <a:lnTo>
                  <a:pt x="4028948" y="5271516"/>
                </a:lnTo>
                <a:lnTo>
                  <a:pt x="4428744" y="2635758"/>
                </a:lnTo>
                <a:lnTo>
                  <a:pt x="4028948" y="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191127" y="737126"/>
            <a:ext cx="4425988" cy="5268036"/>
          </a:xfrm>
          <a:custGeom>
            <a:avLst/>
            <a:gdLst/>
            <a:ahLst/>
            <a:cxnLst/>
            <a:rect l="l" t="t" r="r" b="b"/>
            <a:pathLst>
              <a:path w="4429125" h="5271770">
                <a:moveTo>
                  <a:pt x="0" y="0"/>
                </a:moveTo>
                <a:lnTo>
                  <a:pt x="4028948" y="0"/>
                </a:lnTo>
                <a:lnTo>
                  <a:pt x="4428744" y="2635758"/>
                </a:lnTo>
                <a:lnTo>
                  <a:pt x="4028948" y="5271516"/>
                </a:lnTo>
                <a:lnTo>
                  <a:pt x="0" y="5271516"/>
                </a:lnTo>
                <a:lnTo>
                  <a:pt x="0" y="2635758"/>
                </a:lnTo>
                <a:lnTo>
                  <a:pt x="0" y="0"/>
                </a:lnTo>
                <a:close/>
              </a:path>
            </a:pathLst>
          </a:custGeom>
          <a:ln w="19049">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4556579" y="4781242"/>
            <a:ext cx="1573050" cy="796361"/>
          </a:xfrm>
          <a:custGeom>
            <a:avLst/>
            <a:gdLst/>
            <a:ahLst/>
            <a:cxnLst/>
            <a:rect l="l" t="t" r="r" b="b"/>
            <a:pathLst>
              <a:path w="1574164" h="796925">
                <a:moveTo>
                  <a:pt x="1414271" y="0"/>
                </a:moveTo>
                <a:lnTo>
                  <a:pt x="159384" y="0"/>
                </a:lnTo>
                <a:lnTo>
                  <a:pt x="0" y="796924"/>
                </a:lnTo>
                <a:lnTo>
                  <a:pt x="1573656" y="796924"/>
                </a:lnTo>
                <a:lnTo>
                  <a:pt x="1414271"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4556579" y="4781242"/>
            <a:ext cx="1573050" cy="796361"/>
          </a:xfrm>
          <a:custGeom>
            <a:avLst/>
            <a:gdLst/>
            <a:ahLst/>
            <a:cxnLst/>
            <a:rect l="l" t="t" r="r" b="b"/>
            <a:pathLst>
              <a:path w="1574164" h="796925">
                <a:moveTo>
                  <a:pt x="159384" y="0"/>
                </a:moveTo>
                <a:lnTo>
                  <a:pt x="0" y="796924"/>
                </a:lnTo>
                <a:lnTo>
                  <a:pt x="1573656" y="796924"/>
                </a:lnTo>
                <a:lnTo>
                  <a:pt x="1414271" y="0"/>
                </a:lnTo>
                <a:lnTo>
                  <a:pt x="159384" y="0"/>
                </a:lnTo>
              </a:path>
            </a:pathLst>
          </a:custGeom>
          <a:ln w="9525">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5068279" y="1627273"/>
            <a:ext cx="550790" cy="1382685"/>
          </a:xfrm>
          <a:custGeom>
            <a:avLst/>
            <a:gdLst/>
            <a:ahLst/>
            <a:cxnLst/>
            <a:rect l="l" t="t" r="r" b="b"/>
            <a:pathLst>
              <a:path w="551179" h="1383664">
                <a:moveTo>
                  <a:pt x="275589" y="0"/>
                </a:moveTo>
                <a:lnTo>
                  <a:pt x="0" y="1383665"/>
                </a:lnTo>
                <a:lnTo>
                  <a:pt x="551052" y="1383665"/>
                </a:lnTo>
                <a:lnTo>
                  <a:pt x="275589"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4890098" y="3022268"/>
            <a:ext cx="904234" cy="875679"/>
          </a:xfrm>
          <a:custGeom>
            <a:avLst/>
            <a:gdLst/>
            <a:ahLst/>
            <a:cxnLst/>
            <a:rect l="l" t="t" r="r" b="b"/>
            <a:pathLst>
              <a:path w="904875" h="876300">
                <a:moveTo>
                  <a:pt x="728980" y="0"/>
                </a:moveTo>
                <a:lnTo>
                  <a:pt x="176275" y="0"/>
                </a:lnTo>
                <a:lnTo>
                  <a:pt x="0" y="876173"/>
                </a:lnTo>
                <a:lnTo>
                  <a:pt x="904621" y="876173"/>
                </a:lnTo>
                <a:lnTo>
                  <a:pt x="728980"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4890098" y="3022268"/>
            <a:ext cx="904234" cy="875679"/>
          </a:xfrm>
          <a:custGeom>
            <a:avLst/>
            <a:gdLst/>
            <a:ahLst/>
            <a:cxnLst/>
            <a:rect l="l" t="t" r="r" b="b"/>
            <a:pathLst>
              <a:path w="904875" h="876300">
                <a:moveTo>
                  <a:pt x="0" y="876173"/>
                </a:moveTo>
                <a:lnTo>
                  <a:pt x="904621" y="876173"/>
                </a:lnTo>
                <a:lnTo>
                  <a:pt x="728980" y="0"/>
                </a:lnTo>
                <a:lnTo>
                  <a:pt x="176275" y="0"/>
                </a:lnTo>
                <a:lnTo>
                  <a:pt x="0" y="876173"/>
                </a:lnTo>
              </a:path>
            </a:pathLst>
          </a:custGeom>
          <a:ln w="9525">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4716485" y="3897948"/>
            <a:ext cx="1253237" cy="883293"/>
          </a:xfrm>
          <a:custGeom>
            <a:avLst/>
            <a:gdLst/>
            <a:ahLst/>
            <a:cxnLst/>
            <a:rect l="l" t="t" r="r" b="b"/>
            <a:pathLst>
              <a:path w="1254125" h="883920">
                <a:moveTo>
                  <a:pt x="1077976" y="0"/>
                </a:moveTo>
                <a:lnTo>
                  <a:pt x="175768" y="0"/>
                </a:lnTo>
                <a:lnTo>
                  <a:pt x="0" y="883793"/>
                </a:lnTo>
                <a:lnTo>
                  <a:pt x="1253617" y="883793"/>
                </a:lnTo>
                <a:lnTo>
                  <a:pt x="1077976"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p:nvPr/>
        </p:nvSpPr>
        <p:spPr>
          <a:xfrm>
            <a:off x="4716485" y="3897948"/>
            <a:ext cx="1253237" cy="883293"/>
          </a:xfrm>
          <a:custGeom>
            <a:avLst/>
            <a:gdLst/>
            <a:ahLst/>
            <a:cxnLst/>
            <a:rect l="l" t="t" r="r" b="b"/>
            <a:pathLst>
              <a:path w="1254125" h="883920">
                <a:moveTo>
                  <a:pt x="175768" y="0"/>
                </a:moveTo>
                <a:lnTo>
                  <a:pt x="0" y="883793"/>
                </a:lnTo>
                <a:lnTo>
                  <a:pt x="1253617" y="883793"/>
                </a:lnTo>
                <a:lnTo>
                  <a:pt x="1077976" y="0"/>
                </a:lnTo>
                <a:lnTo>
                  <a:pt x="175768" y="0"/>
                </a:lnTo>
              </a:path>
            </a:pathLst>
          </a:custGeom>
          <a:ln w="9525">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txBox="1"/>
          <p:nvPr/>
        </p:nvSpPr>
        <p:spPr>
          <a:xfrm>
            <a:off x="5261182" y="2514323"/>
            <a:ext cx="171963" cy="257175"/>
          </a:xfrm>
          <a:prstGeom prst="rect">
            <a:avLst/>
          </a:prstGeom>
        </p:spPr>
        <p:txBody>
          <a:bodyPr vert="horz" wrap="square" lIns="0" tIns="12056" rIns="0" bIns="0" rtlCol="0">
            <a:spAutoFit/>
          </a:bodyPr>
          <a:lstStyle/>
          <a:p>
            <a:pPr marL="12700">
              <a:lnSpc>
                <a:spcPct val="100000"/>
              </a:lnSpc>
              <a:spcBef>
                <a:spcPts val="95"/>
              </a:spcBef>
            </a:pPr>
            <a:r>
              <a:rPr sz="1600" b="1" spc="-5" dirty="0">
                <a:solidFill>
                  <a:srgbClr val="FFFFFF"/>
                </a:solidFill>
                <a:latin typeface="微软雅黑" panose="020B0503020204020204" charset="-122"/>
                <a:ea typeface="微软雅黑" panose="020B0503020204020204" charset="-122"/>
                <a:cs typeface="Arial" panose="020B0604020202020204"/>
              </a:rPr>
              <a:t>A</a:t>
            </a:r>
            <a:endParaRPr sz="1600" b="1" spc="-5" dirty="0">
              <a:solidFill>
                <a:srgbClr val="FFFFFF"/>
              </a:solidFill>
              <a:latin typeface="微软雅黑" panose="020B0503020204020204" charset="-122"/>
              <a:ea typeface="微软雅黑" panose="020B0503020204020204" charset="-122"/>
              <a:cs typeface="Arial" panose="020B0604020202020204"/>
            </a:endParaRPr>
          </a:p>
        </p:txBody>
      </p:sp>
      <p:sp>
        <p:nvSpPr>
          <p:cNvPr id="18" name="object 18"/>
          <p:cNvSpPr txBox="1"/>
          <p:nvPr/>
        </p:nvSpPr>
        <p:spPr>
          <a:xfrm>
            <a:off x="5261182" y="3398557"/>
            <a:ext cx="171963" cy="1137285"/>
          </a:xfrm>
          <a:prstGeom prst="rect">
            <a:avLst/>
          </a:prstGeom>
        </p:spPr>
        <p:txBody>
          <a:bodyPr vert="horz" wrap="square" lIns="0" tIns="12056" rIns="0" bIns="0" rtlCol="0">
            <a:spAutoFit/>
          </a:bodyPr>
          <a:lstStyle/>
          <a:p>
            <a:pPr marL="12700">
              <a:lnSpc>
                <a:spcPct val="100000"/>
              </a:lnSpc>
              <a:spcBef>
                <a:spcPts val="95"/>
              </a:spcBef>
            </a:pPr>
            <a:r>
              <a:rPr sz="1600" b="1" spc="-5" dirty="0">
                <a:solidFill>
                  <a:srgbClr val="00295F"/>
                </a:solidFill>
                <a:latin typeface="微软雅黑" panose="020B0503020204020204" charset="-122"/>
                <a:ea typeface="微软雅黑" panose="020B0503020204020204" charset="-122"/>
                <a:cs typeface="Arial" panose="020B0604020202020204"/>
              </a:rPr>
              <a:t>B</a:t>
            </a:r>
            <a:endParaRPr sz="1600">
              <a:latin typeface="微软雅黑" panose="020B0503020204020204" charset="-122"/>
              <a:ea typeface="微软雅黑" panose="020B0503020204020204" charset="-122"/>
              <a:cs typeface="Arial" panose="020B0604020202020204"/>
            </a:endParaRPr>
          </a:p>
          <a:p>
            <a:pPr>
              <a:lnSpc>
                <a:spcPct val="100000"/>
              </a:lnSpc>
            </a:pPr>
            <a:endParaRPr>
              <a:latin typeface="微软雅黑" panose="020B0503020204020204" charset="-122"/>
              <a:ea typeface="微软雅黑" panose="020B0503020204020204" charset="-122"/>
              <a:cs typeface="Times New Roman" panose="02020603050405020304"/>
            </a:endParaRPr>
          </a:p>
          <a:p>
            <a:pPr>
              <a:lnSpc>
                <a:spcPct val="100000"/>
              </a:lnSpc>
              <a:spcBef>
                <a:spcPts val="15"/>
              </a:spcBef>
            </a:pPr>
            <a:endParaRPr sz="2300">
              <a:latin typeface="微软雅黑" panose="020B0503020204020204" charset="-122"/>
              <a:ea typeface="微软雅黑" panose="020B0503020204020204" charset="-122"/>
              <a:cs typeface="Times New Roman" panose="02020603050405020304"/>
            </a:endParaRPr>
          </a:p>
          <a:p>
            <a:pPr marL="12700">
              <a:lnSpc>
                <a:spcPct val="100000"/>
              </a:lnSpc>
              <a:spcBef>
                <a:spcPts val="5"/>
              </a:spcBef>
            </a:pPr>
            <a:r>
              <a:rPr sz="1600" b="1" spc="-5" dirty="0">
                <a:solidFill>
                  <a:srgbClr val="00295F"/>
                </a:solidFill>
                <a:latin typeface="微软雅黑" panose="020B0503020204020204" charset="-122"/>
                <a:ea typeface="微软雅黑" panose="020B0503020204020204" charset="-122"/>
                <a:cs typeface="Arial" panose="020B0604020202020204"/>
              </a:rPr>
              <a:t>C</a:t>
            </a:r>
            <a:endParaRPr sz="1600">
              <a:latin typeface="微软雅黑" panose="020B0503020204020204" charset="-122"/>
              <a:ea typeface="微软雅黑" panose="020B0503020204020204" charset="-122"/>
              <a:cs typeface="Arial" panose="020B0604020202020204"/>
            </a:endParaRPr>
          </a:p>
        </p:txBody>
      </p:sp>
      <p:sp>
        <p:nvSpPr>
          <p:cNvPr id="19" name="object 19"/>
          <p:cNvSpPr txBox="1"/>
          <p:nvPr/>
        </p:nvSpPr>
        <p:spPr>
          <a:xfrm>
            <a:off x="5261182" y="5075927"/>
            <a:ext cx="171963" cy="257175"/>
          </a:xfrm>
          <a:prstGeom prst="rect">
            <a:avLst/>
          </a:prstGeom>
        </p:spPr>
        <p:txBody>
          <a:bodyPr vert="horz" wrap="square" lIns="0" tIns="12056" rIns="0" bIns="0" rtlCol="0">
            <a:spAutoFit/>
          </a:bodyPr>
          <a:lstStyle/>
          <a:p>
            <a:pPr marL="12700">
              <a:lnSpc>
                <a:spcPct val="100000"/>
              </a:lnSpc>
              <a:spcBef>
                <a:spcPts val="95"/>
              </a:spcBef>
            </a:pPr>
            <a:r>
              <a:rPr sz="1600" b="1" spc="-5" dirty="0">
                <a:solidFill>
                  <a:srgbClr val="00295F"/>
                </a:solidFill>
                <a:latin typeface="微软雅黑" panose="020B0503020204020204" charset="-122"/>
                <a:ea typeface="微软雅黑" panose="020B0503020204020204" charset="-122"/>
                <a:cs typeface="Arial" panose="020B0604020202020204"/>
              </a:rPr>
              <a:t>D</a:t>
            </a:r>
            <a:endParaRPr sz="1600" b="1" spc="-5" dirty="0">
              <a:solidFill>
                <a:srgbClr val="00295F"/>
              </a:solidFill>
              <a:latin typeface="微软雅黑" panose="020B0503020204020204" charset="-122"/>
              <a:ea typeface="微软雅黑" panose="020B0503020204020204" charset="-122"/>
              <a:cs typeface="Arial" panose="020B0604020202020204"/>
            </a:endParaRPr>
          </a:p>
        </p:txBody>
      </p:sp>
      <p:sp>
        <p:nvSpPr>
          <p:cNvPr id="20" name="object 20"/>
          <p:cNvSpPr txBox="1"/>
          <p:nvPr/>
        </p:nvSpPr>
        <p:spPr>
          <a:xfrm>
            <a:off x="4469265" y="1189941"/>
            <a:ext cx="4103002" cy="471805"/>
          </a:xfrm>
          <a:prstGeom prst="rect">
            <a:avLst/>
          </a:prstGeom>
        </p:spPr>
        <p:txBody>
          <a:bodyPr vert="horz" wrap="square" lIns="0" tIns="3172" rIns="0" bIns="0" rtlCol="0">
            <a:spAutoFit/>
          </a:bodyPr>
          <a:lstStyle/>
          <a:p>
            <a:pPr>
              <a:lnSpc>
                <a:spcPct val="100000"/>
              </a:lnSpc>
              <a:spcBef>
                <a:spcPts val="25"/>
              </a:spcBef>
            </a:pPr>
            <a:endParaRPr sz="1450">
              <a:latin typeface="微软雅黑" panose="020B0503020204020204" charset="-122"/>
              <a:ea typeface="微软雅黑" panose="020B0503020204020204" charset="-122"/>
              <a:cs typeface="Times New Roman" panose="02020603050405020304"/>
            </a:endParaRPr>
          </a:p>
          <a:p>
            <a:pPr marL="12700">
              <a:lnSpc>
                <a:spcPct val="100000"/>
              </a:lnSpc>
              <a:tabLst>
                <a:tab pos="1605280" algn="l"/>
                <a:tab pos="1816735" algn="l"/>
                <a:tab pos="2882265" algn="l"/>
                <a:tab pos="3027045" algn="l"/>
                <a:tab pos="4092575" algn="l"/>
              </a:tabLst>
            </a:pPr>
            <a:r>
              <a:rPr sz="1600" b="1" u="sng" spc="-5" dirty="0">
                <a:solidFill>
                  <a:srgbClr val="00295F"/>
                </a:solidFill>
                <a:uFill>
                  <a:solidFill>
                    <a:srgbClr val="C6DFFA"/>
                  </a:solidFill>
                </a:uFill>
                <a:latin typeface="微软雅黑" panose="020B0503020204020204" charset="-122"/>
                <a:ea typeface="微软雅黑" panose="020B0503020204020204" charset="-122"/>
                <a:cs typeface="Times New Roman" panose="02020603050405020304"/>
              </a:rPr>
              <a:t> 	</a:t>
            </a:r>
            <a:r>
              <a:rPr sz="1600" b="1" spc="-5" dirty="0">
                <a:solidFill>
                  <a:srgbClr val="00295F"/>
                </a:solidFill>
                <a:latin typeface="微软雅黑" panose="020B0503020204020204" charset="-122"/>
                <a:ea typeface="微软雅黑" panose="020B0503020204020204" charset="-122"/>
                <a:cs typeface="Times New Roman" panose="02020603050405020304"/>
              </a:rPr>
              <a:t>	</a:t>
            </a:r>
            <a:r>
              <a:rPr sz="1600" b="1" u="sng" spc="-5" dirty="0">
                <a:solidFill>
                  <a:srgbClr val="00295F"/>
                </a:solidFill>
                <a:uFill>
                  <a:solidFill>
                    <a:srgbClr val="C6DFFA"/>
                  </a:solidFill>
                </a:uFill>
                <a:latin typeface="微软雅黑" panose="020B0503020204020204" charset="-122"/>
                <a:ea typeface="微软雅黑" panose="020B0503020204020204" charset="-122"/>
                <a:cs typeface="Times New Roman" panose="02020603050405020304"/>
              </a:rPr>
              <a:t> 	</a:t>
            </a:r>
            <a:r>
              <a:rPr sz="1600" b="1" spc="-5" dirty="0">
                <a:solidFill>
                  <a:srgbClr val="00295F"/>
                </a:solidFill>
                <a:latin typeface="微软雅黑" panose="020B0503020204020204" charset="-122"/>
                <a:ea typeface="微软雅黑" panose="020B0503020204020204" charset="-122"/>
                <a:cs typeface="Times New Roman" panose="02020603050405020304"/>
              </a:rPr>
              <a:t>	</a:t>
            </a:r>
            <a:r>
              <a:rPr sz="1600" b="1" u="sng" spc="-5" dirty="0">
                <a:solidFill>
                  <a:srgbClr val="00295F"/>
                </a:solidFill>
                <a:uFill>
                  <a:solidFill>
                    <a:srgbClr val="C6DFFA"/>
                  </a:solidFill>
                </a:uFill>
                <a:latin typeface="微软雅黑" panose="020B0503020204020204" charset="-122"/>
                <a:ea typeface="微软雅黑" panose="020B0503020204020204" charset="-122"/>
                <a:cs typeface="Times New Roman" panose="02020603050405020304"/>
              </a:rPr>
              <a:t> 	</a:t>
            </a:r>
            <a:endParaRPr sz="1600">
              <a:latin typeface="微软雅黑" panose="020B0503020204020204" charset="-122"/>
              <a:ea typeface="微软雅黑" panose="020B0503020204020204" charset="-122"/>
              <a:cs typeface="Times New Roman" panose="02020603050405020304"/>
            </a:endParaRPr>
          </a:p>
        </p:txBody>
      </p:sp>
      <p:sp>
        <p:nvSpPr>
          <p:cNvPr id="21" name="object 21"/>
          <p:cNvSpPr txBox="1"/>
          <p:nvPr/>
        </p:nvSpPr>
        <p:spPr>
          <a:xfrm>
            <a:off x="361643" y="811935"/>
            <a:ext cx="3880275" cy="2065655"/>
          </a:xfrm>
          <a:prstGeom prst="rect">
            <a:avLst/>
          </a:prstGeom>
        </p:spPr>
        <p:txBody>
          <a:bodyPr vert="horz" wrap="square" lIns="0" tIns="48860" rIns="0" bIns="0" rtlCol="0">
            <a:spAutoFit/>
          </a:bodyPr>
          <a:lstStyle/>
          <a:p>
            <a:pPr marL="12700">
              <a:lnSpc>
                <a:spcPct val="100000"/>
              </a:lnSpc>
              <a:spcBef>
                <a:spcPts val="385"/>
              </a:spcBef>
            </a:pPr>
            <a:r>
              <a:rPr sz="1600" b="1" dirty="0">
                <a:solidFill>
                  <a:srgbClr val="00295F"/>
                </a:solidFill>
                <a:latin typeface="微软雅黑" panose="020B0503020204020204" charset="-122"/>
                <a:ea typeface="微软雅黑" panose="020B0503020204020204" charset="-122"/>
                <a:cs typeface="微软雅黑" panose="020B0503020204020204" charset="-122"/>
              </a:rPr>
              <a:t>客户分</a:t>
            </a:r>
            <a:r>
              <a:rPr sz="1600" b="1" spc="-5" dirty="0">
                <a:solidFill>
                  <a:srgbClr val="00295F"/>
                </a:solidFill>
                <a:latin typeface="微软雅黑" panose="020B0503020204020204" charset="-122"/>
                <a:ea typeface="微软雅黑" panose="020B0503020204020204" charset="-122"/>
                <a:cs typeface="微软雅黑" panose="020B0503020204020204" charset="-122"/>
              </a:rPr>
              <a:t>类</a:t>
            </a:r>
            <a:r>
              <a:rPr sz="1600" spc="-5" dirty="0">
                <a:latin typeface="微软雅黑" panose="020B0503020204020204" charset="-122"/>
                <a:ea typeface="微软雅黑" panose="020B0503020204020204" charset="-122"/>
                <a:cs typeface="微软雅黑" panose="020B0503020204020204" charset="-122"/>
              </a:rPr>
              <a:t>是</a:t>
            </a:r>
            <a:r>
              <a:rPr sz="1600" b="1" dirty="0">
                <a:solidFill>
                  <a:srgbClr val="00295F"/>
                </a:solidFill>
                <a:latin typeface="微软雅黑" panose="020B0503020204020204" charset="-122"/>
                <a:ea typeface="微软雅黑" panose="020B0503020204020204" charset="-122"/>
                <a:cs typeface="微软雅黑" panose="020B0503020204020204" charset="-122"/>
              </a:rPr>
              <a:t>销</a:t>
            </a:r>
            <a:r>
              <a:rPr sz="1600" b="1" spc="-10" dirty="0">
                <a:solidFill>
                  <a:srgbClr val="00295F"/>
                </a:solidFill>
                <a:latin typeface="微软雅黑" panose="020B0503020204020204" charset="-122"/>
                <a:ea typeface="微软雅黑" panose="020B0503020204020204" charset="-122"/>
                <a:cs typeface="微软雅黑" panose="020B0503020204020204" charset="-122"/>
              </a:rPr>
              <a:t>售</a:t>
            </a:r>
            <a:r>
              <a:rPr sz="1600" b="1" dirty="0">
                <a:solidFill>
                  <a:srgbClr val="00295F"/>
                </a:solidFill>
                <a:latin typeface="微软雅黑" panose="020B0503020204020204" charset="-122"/>
                <a:ea typeface="微软雅黑" panose="020B0503020204020204" charset="-122"/>
                <a:cs typeface="微软雅黑" panose="020B0503020204020204" charset="-122"/>
              </a:rPr>
              <a:t>战</a:t>
            </a:r>
            <a:r>
              <a:rPr sz="1600" b="1" spc="-10" dirty="0">
                <a:solidFill>
                  <a:srgbClr val="00295F"/>
                </a:solidFill>
                <a:latin typeface="微软雅黑" panose="020B0503020204020204" charset="-122"/>
                <a:ea typeface="微软雅黑" panose="020B0503020204020204" charset="-122"/>
                <a:cs typeface="微软雅黑" panose="020B0503020204020204" charset="-122"/>
              </a:rPr>
              <a:t>略的</a:t>
            </a:r>
            <a:r>
              <a:rPr sz="1600" b="1" dirty="0">
                <a:solidFill>
                  <a:srgbClr val="00295F"/>
                </a:solidFill>
                <a:latin typeface="微软雅黑" panose="020B0503020204020204" charset="-122"/>
                <a:ea typeface="微软雅黑" panose="020B0503020204020204" charset="-122"/>
                <a:cs typeface="微软雅黑" panose="020B0503020204020204" charset="-122"/>
              </a:rPr>
              <a:t>第</a:t>
            </a:r>
            <a:r>
              <a:rPr sz="1600" b="1" spc="-10" dirty="0">
                <a:solidFill>
                  <a:srgbClr val="00295F"/>
                </a:solidFill>
                <a:latin typeface="微软雅黑" panose="020B0503020204020204" charset="-122"/>
                <a:ea typeface="微软雅黑" panose="020B0503020204020204" charset="-122"/>
                <a:cs typeface="微软雅黑" panose="020B0503020204020204" charset="-122"/>
              </a:rPr>
              <a:t>一步</a:t>
            </a:r>
            <a:endParaRPr sz="1600">
              <a:latin typeface="微软雅黑" panose="020B0503020204020204" charset="-122"/>
              <a:ea typeface="微软雅黑" panose="020B0503020204020204" charset="-122"/>
              <a:cs typeface="微软雅黑" panose="020B0503020204020204" charset="-122"/>
            </a:endParaRPr>
          </a:p>
          <a:p>
            <a:pPr marL="206375" indent="-193040" algn="just">
              <a:lnSpc>
                <a:spcPct val="100000"/>
              </a:lnSpc>
              <a:spcBef>
                <a:spcPts val="770"/>
              </a:spcBef>
              <a:buClr>
                <a:srgbClr val="00295F"/>
              </a:buClr>
              <a:buSzPct val="125000"/>
              <a:buFont typeface="Arial" panose="020B0604020202020204"/>
              <a:buChar char="▪"/>
              <a:tabLst>
                <a:tab pos="207010" algn="l"/>
              </a:tabLst>
            </a:pPr>
            <a:r>
              <a:rPr sz="1600" spc="-5" dirty="0">
                <a:latin typeface="微软雅黑" panose="020B0503020204020204" charset="-122"/>
                <a:ea typeface="微软雅黑" panose="020B0503020204020204" charset="-122"/>
                <a:cs typeface="微软雅黑" panose="020B0503020204020204" charset="-122"/>
              </a:rPr>
              <a:t>对直接和间接客户名单实施</a:t>
            </a:r>
            <a:r>
              <a:rPr sz="1600" b="1" dirty="0">
                <a:solidFill>
                  <a:srgbClr val="00295F"/>
                </a:solidFill>
                <a:latin typeface="微软雅黑" panose="020B0503020204020204" charset="-122"/>
                <a:ea typeface="微软雅黑" panose="020B0503020204020204" charset="-122"/>
                <a:cs typeface="微软雅黑" panose="020B0503020204020204" charset="-122"/>
              </a:rPr>
              <a:t>优先排序</a:t>
            </a:r>
            <a:endParaRPr sz="1600">
              <a:latin typeface="微软雅黑" panose="020B0503020204020204" charset="-122"/>
              <a:ea typeface="微软雅黑" panose="020B0503020204020204" charset="-122"/>
              <a:cs typeface="微软雅黑" panose="020B0503020204020204" charset="-122"/>
            </a:endParaRPr>
          </a:p>
          <a:p>
            <a:pPr marL="206375" marR="8890" indent="-192405" algn="just">
              <a:lnSpc>
                <a:spcPct val="101000"/>
              </a:lnSpc>
              <a:spcBef>
                <a:spcPts val="745"/>
              </a:spcBef>
              <a:buClr>
                <a:srgbClr val="00295F"/>
              </a:buClr>
              <a:buSzPct val="125000"/>
              <a:buFont typeface="Arial" panose="020B0604020202020204"/>
              <a:buChar char="▪"/>
              <a:tabLst>
                <a:tab pos="207010" algn="l"/>
              </a:tabLst>
            </a:pPr>
            <a:r>
              <a:rPr sz="1600" spc="-5" dirty="0">
                <a:latin typeface="微软雅黑" panose="020B0503020204020204" charset="-122"/>
                <a:ea typeface="微软雅黑" panose="020B0503020204020204" charset="-122"/>
                <a:cs typeface="微软雅黑" panose="020B0503020204020204" charset="-122"/>
              </a:rPr>
              <a:t>将全公司的</a:t>
            </a:r>
            <a:r>
              <a:rPr sz="1600" b="1" dirty="0">
                <a:solidFill>
                  <a:srgbClr val="00295F"/>
                </a:solidFill>
                <a:latin typeface="微软雅黑" panose="020B0503020204020204" charset="-122"/>
                <a:ea typeface="微软雅黑" panose="020B0503020204020204" charset="-122"/>
                <a:cs typeface="微软雅黑" panose="020B0503020204020204" charset="-122"/>
              </a:rPr>
              <a:t>销售和营销资源</a:t>
            </a:r>
            <a:r>
              <a:rPr sz="1600" spc="-5" dirty="0">
                <a:latin typeface="微软雅黑" panose="020B0503020204020204" charset="-122"/>
                <a:ea typeface="微软雅黑" panose="020B0503020204020204" charset="-122"/>
                <a:cs typeface="微软雅黑" panose="020B0503020204020204" charset="-122"/>
              </a:rPr>
              <a:t>集中到最有前 途的客户上</a:t>
            </a:r>
            <a:endParaRPr sz="1600">
              <a:latin typeface="微软雅黑" panose="020B0503020204020204" charset="-122"/>
              <a:ea typeface="微软雅黑" panose="020B0503020204020204" charset="-122"/>
              <a:cs typeface="微软雅黑" panose="020B0503020204020204" charset="-122"/>
            </a:endParaRPr>
          </a:p>
          <a:p>
            <a:pPr marL="206375" marR="5080" indent="-192405" algn="just">
              <a:lnSpc>
                <a:spcPct val="100000"/>
              </a:lnSpc>
              <a:spcBef>
                <a:spcPts val="750"/>
              </a:spcBef>
              <a:buClr>
                <a:srgbClr val="00295F"/>
              </a:buClr>
              <a:buSzPct val="125000"/>
              <a:buFont typeface="Arial" panose="020B0604020202020204"/>
              <a:buChar char="▪"/>
              <a:tabLst>
                <a:tab pos="207010" algn="l"/>
              </a:tabLst>
            </a:pPr>
            <a:r>
              <a:rPr sz="1600" spc="-5" dirty="0">
                <a:latin typeface="微软雅黑" panose="020B0503020204020204" charset="-122"/>
                <a:ea typeface="微软雅黑" panose="020B0503020204020204" charset="-122"/>
                <a:cs typeface="微软雅黑" panose="020B0503020204020204" charset="-122"/>
              </a:rPr>
              <a:t>开展统一的</a:t>
            </a:r>
            <a:r>
              <a:rPr sz="1600" b="1" dirty="0">
                <a:solidFill>
                  <a:srgbClr val="00295F"/>
                </a:solidFill>
                <a:latin typeface="微软雅黑" panose="020B0503020204020204" charset="-122"/>
                <a:ea typeface="微软雅黑" panose="020B0503020204020204" charset="-122"/>
                <a:cs typeface="微软雅黑" panose="020B0503020204020204" charset="-122"/>
              </a:rPr>
              <a:t>客户和销售规划</a:t>
            </a:r>
            <a:r>
              <a:rPr sz="1600" b="1" spc="-15" dirty="0">
                <a:solidFill>
                  <a:srgbClr val="00295F"/>
                </a:solidFill>
                <a:latin typeface="微软雅黑" panose="020B0503020204020204" charset="-122"/>
                <a:ea typeface="微软雅黑" panose="020B0503020204020204" charset="-122"/>
                <a:cs typeface="微软雅黑" panose="020B0503020204020204" charset="-122"/>
              </a:rPr>
              <a:t>，</a:t>
            </a:r>
            <a:r>
              <a:rPr sz="1600" b="1" dirty="0">
                <a:solidFill>
                  <a:srgbClr val="00295F"/>
                </a:solidFill>
                <a:latin typeface="微软雅黑" panose="020B0503020204020204" charset="-122"/>
                <a:ea typeface="微软雅黑" panose="020B0503020204020204" charset="-122"/>
                <a:cs typeface="微软雅黑" panose="020B0503020204020204" charset="-122"/>
              </a:rPr>
              <a:t>根</a:t>
            </a:r>
            <a:r>
              <a:rPr sz="1600" b="1" spc="-15" dirty="0">
                <a:solidFill>
                  <a:srgbClr val="00295F"/>
                </a:solidFill>
                <a:latin typeface="微软雅黑" panose="020B0503020204020204" charset="-122"/>
                <a:ea typeface="微软雅黑" panose="020B0503020204020204" charset="-122"/>
                <a:cs typeface="微软雅黑" panose="020B0503020204020204" charset="-122"/>
              </a:rPr>
              <a:t>据最</a:t>
            </a:r>
            <a:r>
              <a:rPr sz="1600" b="1" spc="5" dirty="0">
                <a:solidFill>
                  <a:srgbClr val="00295F"/>
                </a:solidFill>
                <a:latin typeface="微软雅黑" panose="020B0503020204020204" charset="-122"/>
                <a:ea typeface="微软雅黑" panose="020B0503020204020204" charset="-122"/>
                <a:cs typeface="微软雅黑" panose="020B0503020204020204" charset="-122"/>
              </a:rPr>
              <a:t>重要 </a:t>
            </a:r>
            <a:r>
              <a:rPr sz="1600" b="1" dirty="0">
                <a:solidFill>
                  <a:srgbClr val="00295F"/>
                </a:solidFill>
                <a:latin typeface="微软雅黑" panose="020B0503020204020204" charset="-122"/>
                <a:ea typeface="微软雅黑" panose="020B0503020204020204" charset="-122"/>
                <a:cs typeface="微软雅黑" panose="020B0503020204020204" charset="-122"/>
              </a:rPr>
              <a:t>的客户和渠</a:t>
            </a:r>
            <a:r>
              <a:rPr sz="1600" b="1" spc="-10" dirty="0">
                <a:solidFill>
                  <a:srgbClr val="00295F"/>
                </a:solidFill>
                <a:latin typeface="微软雅黑" panose="020B0503020204020204" charset="-122"/>
                <a:ea typeface="微软雅黑" panose="020B0503020204020204" charset="-122"/>
                <a:cs typeface="微软雅黑" panose="020B0503020204020204" charset="-122"/>
              </a:rPr>
              <a:t>道合</a:t>
            </a:r>
            <a:r>
              <a:rPr sz="1600" b="1" dirty="0">
                <a:solidFill>
                  <a:srgbClr val="00295F"/>
                </a:solidFill>
                <a:latin typeface="微软雅黑" panose="020B0503020204020204" charset="-122"/>
                <a:ea typeface="微软雅黑" panose="020B0503020204020204" charset="-122"/>
                <a:cs typeface="微软雅黑" panose="020B0503020204020204" charset="-122"/>
              </a:rPr>
              <a:t>作</a:t>
            </a:r>
            <a:r>
              <a:rPr sz="1600" b="1" spc="-10" dirty="0">
                <a:solidFill>
                  <a:srgbClr val="00295F"/>
                </a:solidFill>
                <a:latin typeface="微软雅黑" panose="020B0503020204020204" charset="-122"/>
                <a:ea typeface="微软雅黑" panose="020B0503020204020204" charset="-122"/>
                <a:cs typeface="微软雅黑" panose="020B0503020204020204" charset="-122"/>
              </a:rPr>
              <a:t>伙伴</a:t>
            </a:r>
            <a:r>
              <a:rPr sz="1600" b="1" dirty="0">
                <a:solidFill>
                  <a:srgbClr val="00295F"/>
                </a:solidFill>
                <a:latin typeface="微软雅黑" panose="020B0503020204020204" charset="-122"/>
                <a:ea typeface="微软雅黑" panose="020B0503020204020204" charset="-122"/>
                <a:cs typeface="微软雅黑" panose="020B0503020204020204" charset="-122"/>
              </a:rPr>
              <a:t>的</a:t>
            </a:r>
            <a:r>
              <a:rPr sz="1600" b="1" spc="-10" dirty="0">
                <a:solidFill>
                  <a:srgbClr val="00295F"/>
                </a:solidFill>
                <a:latin typeface="微软雅黑" panose="020B0503020204020204" charset="-122"/>
                <a:ea typeface="微软雅黑" panose="020B0503020204020204" charset="-122"/>
                <a:cs typeface="微软雅黑" panose="020B0503020204020204" charset="-122"/>
              </a:rPr>
              <a:t>需</a:t>
            </a:r>
            <a:r>
              <a:rPr sz="1600" b="1" spc="-5" dirty="0">
                <a:solidFill>
                  <a:srgbClr val="00295F"/>
                </a:solidFill>
                <a:latin typeface="微软雅黑" panose="020B0503020204020204" charset="-122"/>
                <a:ea typeface="微软雅黑" panose="020B0503020204020204" charset="-122"/>
                <a:cs typeface="微软雅黑" panose="020B0503020204020204" charset="-122"/>
              </a:rPr>
              <a:t>求</a:t>
            </a:r>
            <a:r>
              <a:rPr sz="1600" spc="-5" dirty="0">
                <a:latin typeface="微软雅黑" panose="020B0503020204020204" charset="-122"/>
                <a:ea typeface="微软雅黑" panose="020B0503020204020204" charset="-122"/>
                <a:cs typeface="微软雅黑" panose="020B0503020204020204" charset="-122"/>
              </a:rPr>
              <a:t>，交付最佳 </a:t>
            </a:r>
            <a:r>
              <a:rPr sz="1600" b="1" dirty="0">
                <a:solidFill>
                  <a:srgbClr val="00295F"/>
                </a:solidFill>
                <a:latin typeface="微软雅黑" panose="020B0503020204020204" charset="-122"/>
                <a:ea typeface="微软雅黑" panose="020B0503020204020204" charset="-122"/>
                <a:cs typeface="微软雅黑" panose="020B0503020204020204" charset="-122"/>
              </a:rPr>
              <a:t>价值定位</a:t>
            </a:r>
            <a:endParaRPr sz="1600">
              <a:latin typeface="微软雅黑" panose="020B0503020204020204" charset="-122"/>
              <a:ea typeface="微软雅黑" panose="020B0503020204020204" charset="-122"/>
              <a:cs typeface="微软雅黑" panose="020B0503020204020204" charset="-122"/>
            </a:endParaRPr>
          </a:p>
        </p:txBody>
      </p:sp>
      <p:sp>
        <p:nvSpPr>
          <p:cNvPr id="22" name="object 22"/>
          <p:cNvSpPr/>
          <p:nvPr/>
        </p:nvSpPr>
        <p:spPr>
          <a:xfrm>
            <a:off x="723387" y="3456300"/>
            <a:ext cx="3085818" cy="835068"/>
          </a:xfrm>
          <a:custGeom>
            <a:avLst/>
            <a:gdLst/>
            <a:ahLst/>
            <a:cxnLst/>
            <a:rect l="l" t="t" r="r" b="b"/>
            <a:pathLst>
              <a:path w="3088004" h="835660">
                <a:moveTo>
                  <a:pt x="3087624" y="0"/>
                </a:moveTo>
                <a:lnTo>
                  <a:pt x="0" y="0"/>
                </a:lnTo>
                <a:lnTo>
                  <a:pt x="1543812" y="835152"/>
                </a:lnTo>
                <a:lnTo>
                  <a:pt x="3087624"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p:nvPr/>
        </p:nvSpPr>
        <p:spPr>
          <a:xfrm>
            <a:off x="723387" y="3456300"/>
            <a:ext cx="3085818" cy="835068"/>
          </a:xfrm>
          <a:custGeom>
            <a:avLst/>
            <a:gdLst/>
            <a:ahLst/>
            <a:cxnLst/>
            <a:rect l="l" t="t" r="r" b="b"/>
            <a:pathLst>
              <a:path w="3088004" h="835660">
                <a:moveTo>
                  <a:pt x="3087624" y="0"/>
                </a:moveTo>
                <a:lnTo>
                  <a:pt x="1543812" y="835152"/>
                </a:lnTo>
                <a:lnTo>
                  <a:pt x="0" y="0"/>
                </a:lnTo>
                <a:lnTo>
                  <a:pt x="3087624" y="0"/>
                </a:lnTo>
                <a:close/>
              </a:path>
            </a:pathLst>
          </a:custGeom>
          <a:ln w="9525">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txBox="1"/>
          <p:nvPr/>
        </p:nvSpPr>
        <p:spPr>
          <a:xfrm>
            <a:off x="361643" y="4542524"/>
            <a:ext cx="3078203" cy="74993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295F"/>
                </a:solidFill>
                <a:latin typeface="微软雅黑" panose="020B0503020204020204" charset="-122"/>
                <a:ea typeface="微软雅黑" panose="020B0503020204020204" charset="-122"/>
                <a:cs typeface="微软雅黑" panose="020B0503020204020204" charset="-122"/>
              </a:rPr>
              <a:t>在保证盈利</a:t>
            </a:r>
            <a:r>
              <a:rPr sz="1600" b="1" spc="-10" dirty="0">
                <a:solidFill>
                  <a:srgbClr val="00295F"/>
                </a:solidFill>
                <a:latin typeface="微软雅黑" panose="020B0503020204020204" charset="-122"/>
                <a:ea typeface="微软雅黑" panose="020B0503020204020204" charset="-122"/>
                <a:cs typeface="微软雅黑" panose="020B0503020204020204" charset="-122"/>
              </a:rPr>
              <a:t>的前</a:t>
            </a:r>
            <a:r>
              <a:rPr sz="1600" b="1" dirty="0">
                <a:solidFill>
                  <a:srgbClr val="00295F"/>
                </a:solidFill>
                <a:latin typeface="微软雅黑" panose="020B0503020204020204" charset="-122"/>
                <a:ea typeface="微软雅黑" panose="020B0503020204020204" charset="-122"/>
                <a:cs typeface="微软雅黑" panose="020B0503020204020204" charset="-122"/>
              </a:rPr>
              <a:t>提</a:t>
            </a:r>
            <a:r>
              <a:rPr sz="1600" b="1" spc="-10" dirty="0">
                <a:solidFill>
                  <a:srgbClr val="00295F"/>
                </a:solidFill>
                <a:latin typeface="微软雅黑" panose="020B0503020204020204" charset="-122"/>
                <a:ea typeface="微软雅黑" panose="020B0503020204020204" charset="-122"/>
                <a:cs typeface="微软雅黑" panose="020B0503020204020204" charset="-122"/>
              </a:rPr>
              <a:t>下推</a:t>
            </a:r>
            <a:r>
              <a:rPr sz="1600" b="1" dirty="0">
                <a:solidFill>
                  <a:srgbClr val="00295F"/>
                </a:solidFill>
                <a:latin typeface="微软雅黑" panose="020B0503020204020204" charset="-122"/>
                <a:ea typeface="微软雅黑" panose="020B0503020204020204" charset="-122"/>
                <a:cs typeface="微软雅黑" panose="020B0503020204020204" charset="-122"/>
              </a:rPr>
              <a:t>动</a:t>
            </a:r>
            <a:r>
              <a:rPr sz="1600" b="1" spc="-10" dirty="0">
                <a:solidFill>
                  <a:srgbClr val="00295F"/>
                </a:solidFill>
                <a:latin typeface="微软雅黑" panose="020B0503020204020204" charset="-122"/>
                <a:ea typeface="微软雅黑" panose="020B0503020204020204" charset="-122"/>
                <a:cs typeface="微软雅黑" panose="020B0503020204020204" charset="-122"/>
              </a:rPr>
              <a:t>销售</a:t>
            </a:r>
            <a:r>
              <a:rPr sz="1600" b="1" dirty="0">
                <a:solidFill>
                  <a:srgbClr val="00295F"/>
                </a:solidFill>
                <a:latin typeface="微软雅黑" panose="020B0503020204020204" charset="-122"/>
                <a:ea typeface="微软雅黑" panose="020B0503020204020204" charset="-122"/>
                <a:cs typeface="微软雅黑" panose="020B0503020204020204" charset="-122"/>
              </a:rPr>
              <a:t>增</a:t>
            </a:r>
            <a:r>
              <a:rPr sz="1600" b="1" spc="-10" dirty="0">
                <a:solidFill>
                  <a:srgbClr val="00295F"/>
                </a:solidFill>
                <a:latin typeface="微软雅黑" panose="020B0503020204020204" charset="-122"/>
                <a:ea typeface="微软雅黑" panose="020B0503020204020204" charset="-122"/>
                <a:cs typeface="微软雅黑" panose="020B0503020204020204" charset="-122"/>
              </a:rPr>
              <a:t>长</a:t>
            </a:r>
            <a:endParaRPr sz="1600">
              <a:latin typeface="微软雅黑" panose="020B0503020204020204" charset="-122"/>
              <a:ea typeface="微软雅黑" panose="020B0503020204020204" charset="-122"/>
              <a:cs typeface="微软雅黑" panose="020B0503020204020204" charset="-122"/>
            </a:endParaRPr>
          </a:p>
          <a:p>
            <a:pPr marL="206375" indent="-193040">
              <a:lnSpc>
                <a:spcPct val="100000"/>
              </a:lnSpc>
              <a:buClr>
                <a:srgbClr val="00295F"/>
              </a:buClr>
              <a:buSzPct val="125000"/>
              <a:buFont typeface="Arial" panose="020B0604020202020204"/>
              <a:buChar char="▪"/>
              <a:tabLst>
                <a:tab pos="207010" algn="l"/>
              </a:tabLst>
            </a:pPr>
            <a:r>
              <a:rPr sz="1600" spc="-5" dirty="0">
                <a:latin typeface="微软雅黑" panose="020B0503020204020204" charset="-122"/>
                <a:ea typeface="微软雅黑" panose="020B0503020204020204" charset="-122"/>
                <a:cs typeface="微软雅黑" panose="020B0503020204020204" charset="-122"/>
              </a:rPr>
              <a:t>钱包份额提高</a:t>
            </a:r>
            <a:endParaRPr sz="1600">
              <a:latin typeface="微软雅黑" panose="020B0503020204020204" charset="-122"/>
              <a:ea typeface="微软雅黑" panose="020B0503020204020204" charset="-122"/>
              <a:cs typeface="微软雅黑" panose="020B0503020204020204" charset="-122"/>
            </a:endParaRPr>
          </a:p>
          <a:p>
            <a:pPr marL="206375" indent="-193040">
              <a:lnSpc>
                <a:spcPct val="100000"/>
              </a:lnSpc>
              <a:buClr>
                <a:srgbClr val="00295F"/>
              </a:buClr>
              <a:buSzPct val="125000"/>
              <a:buFont typeface="Arial" panose="020B0604020202020204"/>
              <a:buChar char="▪"/>
              <a:tabLst>
                <a:tab pos="207010" algn="l"/>
              </a:tabLst>
            </a:pPr>
            <a:r>
              <a:rPr sz="1600" spc="-5" dirty="0">
                <a:latin typeface="微软雅黑" panose="020B0503020204020204" charset="-122"/>
                <a:ea typeface="微软雅黑" panose="020B0503020204020204" charset="-122"/>
                <a:cs typeface="微软雅黑" panose="020B0503020204020204" charset="-122"/>
              </a:rPr>
              <a:t>销售额增幅巨大</a:t>
            </a:r>
            <a:endParaRPr sz="1600">
              <a:latin typeface="微软雅黑" panose="020B0503020204020204" charset="-122"/>
              <a:ea typeface="微软雅黑" panose="020B0503020204020204" charset="-122"/>
              <a:cs typeface="微软雅黑" panose="020B0503020204020204" charset="-122"/>
            </a:endParaRPr>
          </a:p>
        </p:txBody>
      </p:sp>
      <p:sp>
        <p:nvSpPr>
          <p:cNvPr id="25" name="object 25"/>
          <p:cNvSpPr txBox="1"/>
          <p:nvPr/>
        </p:nvSpPr>
        <p:spPr>
          <a:xfrm>
            <a:off x="4469517" y="1045644"/>
            <a:ext cx="84204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295F"/>
                </a:solidFill>
                <a:latin typeface="微软雅黑" panose="020B0503020204020204" charset="-122"/>
                <a:ea typeface="微软雅黑" panose="020B0503020204020204" charset="-122"/>
                <a:cs typeface="微软雅黑" panose="020B0503020204020204" charset="-122"/>
              </a:rPr>
              <a:t>客户分级</a:t>
            </a:r>
            <a:endParaRPr sz="1600" b="1" dirty="0">
              <a:solidFill>
                <a:srgbClr val="00295F"/>
              </a:solidFill>
              <a:latin typeface="微软雅黑" panose="020B0503020204020204" charset="-122"/>
              <a:ea typeface="微软雅黑" panose="020B0503020204020204" charset="-122"/>
              <a:cs typeface="微软雅黑" panose="020B0503020204020204" charset="-122"/>
            </a:endParaRPr>
          </a:p>
        </p:txBody>
      </p:sp>
      <p:sp>
        <p:nvSpPr>
          <p:cNvPr id="26" name="object 26"/>
          <p:cNvSpPr txBox="1"/>
          <p:nvPr/>
        </p:nvSpPr>
        <p:spPr>
          <a:xfrm>
            <a:off x="6273671" y="1021227"/>
            <a:ext cx="84204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295F"/>
                </a:solidFill>
                <a:latin typeface="微软雅黑" panose="020B0503020204020204" charset="-122"/>
                <a:ea typeface="微软雅黑" panose="020B0503020204020204" charset="-122"/>
                <a:cs typeface="微软雅黑" panose="020B0503020204020204" charset="-122"/>
              </a:rPr>
              <a:t>资源配置</a:t>
            </a:r>
            <a:endParaRPr sz="1600" b="1" dirty="0">
              <a:solidFill>
                <a:srgbClr val="00295F"/>
              </a:solidFill>
              <a:latin typeface="微软雅黑" panose="020B0503020204020204" charset="-122"/>
              <a:ea typeface="微软雅黑" panose="020B0503020204020204" charset="-122"/>
              <a:cs typeface="微软雅黑" panose="020B0503020204020204" charset="-122"/>
            </a:endParaRPr>
          </a:p>
        </p:txBody>
      </p:sp>
      <p:sp>
        <p:nvSpPr>
          <p:cNvPr id="27" name="object 27"/>
          <p:cNvSpPr txBox="1"/>
          <p:nvPr/>
        </p:nvSpPr>
        <p:spPr>
          <a:xfrm>
            <a:off x="7482490" y="1032825"/>
            <a:ext cx="84331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295F"/>
                </a:solidFill>
                <a:latin typeface="微软雅黑" panose="020B0503020204020204" charset="-122"/>
                <a:ea typeface="微软雅黑" panose="020B0503020204020204" charset="-122"/>
                <a:cs typeface="微软雅黑" panose="020B0503020204020204" charset="-122"/>
              </a:rPr>
              <a:t>规划水平</a:t>
            </a:r>
            <a:endParaRPr sz="1600" b="1" dirty="0">
              <a:solidFill>
                <a:srgbClr val="00295F"/>
              </a:solidFill>
              <a:latin typeface="微软雅黑" panose="020B0503020204020204" charset="-122"/>
              <a:ea typeface="微软雅黑" panose="020B0503020204020204" charset="-122"/>
              <a:cs typeface="微软雅黑" panose="020B0503020204020204" charset="-122"/>
            </a:endParaRPr>
          </a:p>
        </p:txBody>
      </p:sp>
      <p:sp>
        <p:nvSpPr>
          <p:cNvPr id="28" name="object 28"/>
          <p:cNvSpPr/>
          <p:nvPr/>
        </p:nvSpPr>
        <p:spPr>
          <a:xfrm>
            <a:off x="6323166" y="1630319"/>
            <a:ext cx="885198" cy="3951978"/>
          </a:xfrm>
          <a:custGeom>
            <a:avLst/>
            <a:gdLst/>
            <a:ahLst/>
            <a:cxnLst/>
            <a:rect l="l" t="t" r="r" b="b"/>
            <a:pathLst>
              <a:path w="885825" h="3954779">
                <a:moveTo>
                  <a:pt x="885444" y="0"/>
                </a:moveTo>
                <a:lnTo>
                  <a:pt x="0" y="0"/>
                </a:lnTo>
                <a:lnTo>
                  <a:pt x="442722" y="3954779"/>
                </a:lnTo>
                <a:lnTo>
                  <a:pt x="885444" y="0"/>
                </a:lnTo>
                <a:close/>
              </a:path>
            </a:pathLst>
          </a:custGeom>
          <a:solidFill>
            <a:srgbClr val="80808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9" name="object 29"/>
          <p:cNvSpPr/>
          <p:nvPr/>
        </p:nvSpPr>
        <p:spPr>
          <a:xfrm>
            <a:off x="7546071" y="1630319"/>
            <a:ext cx="885198" cy="3951978"/>
          </a:xfrm>
          <a:custGeom>
            <a:avLst/>
            <a:gdLst/>
            <a:ahLst/>
            <a:cxnLst/>
            <a:rect l="l" t="t" r="r" b="b"/>
            <a:pathLst>
              <a:path w="885825" h="3954779">
                <a:moveTo>
                  <a:pt x="885444" y="0"/>
                </a:moveTo>
                <a:lnTo>
                  <a:pt x="0" y="0"/>
                </a:lnTo>
                <a:lnTo>
                  <a:pt x="442722" y="3954779"/>
                </a:lnTo>
                <a:lnTo>
                  <a:pt x="885444" y="0"/>
                </a:lnTo>
                <a:close/>
              </a:path>
            </a:pathLst>
          </a:custGeom>
          <a:solidFill>
            <a:srgbClr val="808080"/>
          </a:solidFill>
        </p:spPr>
        <p:txBody>
          <a:bodyPr wrap="square" lIns="0" tIns="0" rIns="0" bIns="0" rtlCol="0"/>
          <a:lstStyle/>
          <a:p>
            <a:endParaRPr>
              <a:latin typeface="微软雅黑" panose="020B0503020204020204" charset="-122"/>
              <a:ea typeface="微软雅黑" panose="020B050302020402020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401" y="203088"/>
            <a:ext cx="5331491"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同时利用速</a:t>
            </a:r>
            <a:r>
              <a:rPr spc="-10" dirty="0">
                <a:ea typeface="微软雅黑" panose="020B0503020204020204" charset="-122"/>
              </a:rPr>
              <a:t>查表</a:t>
            </a:r>
            <a:r>
              <a:rPr spc="-5" dirty="0">
                <a:ea typeface="微软雅黑" panose="020B0503020204020204" charset="-122"/>
              </a:rPr>
              <a:t>授</a:t>
            </a:r>
            <a:r>
              <a:rPr spc="-10" dirty="0">
                <a:ea typeface="微软雅黑" panose="020B0503020204020204" charset="-122"/>
              </a:rPr>
              <a:t>权并</a:t>
            </a:r>
            <a:r>
              <a:rPr spc="-5" dirty="0">
                <a:ea typeface="微软雅黑" panose="020B0503020204020204" charset="-122"/>
              </a:rPr>
              <a:t>指</a:t>
            </a:r>
            <a:r>
              <a:rPr spc="-10" dirty="0">
                <a:ea typeface="微软雅黑" panose="020B0503020204020204" charset="-122"/>
              </a:rPr>
              <a:t>导销</a:t>
            </a:r>
            <a:r>
              <a:rPr spc="-5" dirty="0">
                <a:ea typeface="微软雅黑" panose="020B0503020204020204" charset="-122"/>
              </a:rPr>
              <a:t>售</a:t>
            </a:r>
            <a:r>
              <a:rPr spc="-10" dirty="0">
                <a:ea typeface="微软雅黑" panose="020B0503020204020204" charset="-122"/>
              </a:rPr>
              <a:t>人员</a:t>
            </a:r>
            <a:r>
              <a:rPr spc="-5" dirty="0">
                <a:ea typeface="微软雅黑" panose="020B0503020204020204" charset="-122"/>
              </a:rPr>
              <a:t>与</a:t>
            </a:r>
            <a:r>
              <a:rPr spc="-10" dirty="0">
                <a:ea typeface="微软雅黑" panose="020B0503020204020204" charset="-122"/>
              </a:rPr>
              <a:t>客户</a:t>
            </a:r>
            <a:r>
              <a:rPr spc="-5" dirty="0">
                <a:ea typeface="微软雅黑" panose="020B0503020204020204" charset="-122"/>
              </a:rPr>
              <a:t>的</a:t>
            </a:r>
            <a:r>
              <a:rPr spc="-10" dirty="0">
                <a:ea typeface="微软雅黑" panose="020B0503020204020204" charset="-122"/>
              </a:rPr>
              <a:t>互动</a:t>
            </a:r>
            <a:endParaRPr spc="-10" dirty="0">
              <a:ea typeface="微软雅黑" panose="020B0503020204020204" charset="-122"/>
            </a:endParaRPr>
          </a:p>
        </p:txBody>
      </p:sp>
      <p:sp>
        <p:nvSpPr>
          <p:cNvPr id="4" name="object 4"/>
          <p:cNvSpPr/>
          <p:nvPr/>
        </p:nvSpPr>
        <p:spPr>
          <a:xfrm>
            <a:off x="1369105" y="4933534"/>
            <a:ext cx="1375705" cy="1064775"/>
          </a:xfrm>
          <a:custGeom>
            <a:avLst/>
            <a:gdLst/>
            <a:ahLst/>
            <a:cxnLst/>
            <a:rect l="l" t="t" r="r" b="b"/>
            <a:pathLst>
              <a:path w="1376680" h="1065529">
                <a:moveTo>
                  <a:pt x="0" y="1065275"/>
                </a:moveTo>
                <a:lnTo>
                  <a:pt x="1376172" y="1065275"/>
                </a:lnTo>
                <a:lnTo>
                  <a:pt x="1376172" y="0"/>
                </a:lnTo>
                <a:lnTo>
                  <a:pt x="0" y="0"/>
                </a:lnTo>
                <a:lnTo>
                  <a:pt x="0" y="1065275"/>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p:nvPr/>
        </p:nvSpPr>
        <p:spPr>
          <a:xfrm>
            <a:off x="1547775" y="5740474"/>
            <a:ext cx="162445" cy="87568"/>
          </a:xfrm>
          <a:custGeom>
            <a:avLst/>
            <a:gdLst/>
            <a:ahLst/>
            <a:cxnLst/>
            <a:rect l="l" t="t" r="r" b="b"/>
            <a:pathLst>
              <a:path w="162560" h="87629">
                <a:moveTo>
                  <a:pt x="0" y="87593"/>
                </a:moveTo>
                <a:lnTo>
                  <a:pt x="162520" y="87593"/>
                </a:lnTo>
                <a:lnTo>
                  <a:pt x="162520" y="0"/>
                </a:lnTo>
                <a:lnTo>
                  <a:pt x="0" y="0"/>
                </a:lnTo>
                <a:lnTo>
                  <a:pt x="0" y="87593"/>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1547775" y="5740474"/>
            <a:ext cx="162445" cy="87568"/>
          </a:xfrm>
          <a:custGeom>
            <a:avLst/>
            <a:gdLst/>
            <a:ahLst/>
            <a:cxnLst/>
            <a:rect l="l" t="t" r="r" b="b"/>
            <a:pathLst>
              <a:path w="162560" h="87629">
                <a:moveTo>
                  <a:pt x="0" y="87593"/>
                </a:moveTo>
                <a:lnTo>
                  <a:pt x="162520" y="87593"/>
                </a:lnTo>
                <a:lnTo>
                  <a:pt x="162520" y="0"/>
                </a:lnTo>
                <a:lnTo>
                  <a:pt x="0" y="0"/>
                </a:lnTo>
                <a:lnTo>
                  <a:pt x="0" y="87593"/>
                </a:lnTo>
                <a:close/>
              </a:path>
            </a:pathLst>
          </a:custGeom>
          <a:ln w="8250">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1767685" y="5645056"/>
            <a:ext cx="162445" cy="95817"/>
          </a:xfrm>
          <a:custGeom>
            <a:avLst/>
            <a:gdLst/>
            <a:ahLst/>
            <a:cxnLst/>
            <a:rect l="l" t="t" r="r" b="b"/>
            <a:pathLst>
              <a:path w="162560" h="95885">
                <a:moveTo>
                  <a:pt x="0" y="95485"/>
                </a:moveTo>
                <a:lnTo>
                  <a:pt x="162520" y="95485"/>
                </a:lnTo>
                <a:lnTo>
                  <a:pt x="162520" y="0"/>
                </a:lnTo>
                <a:lnTo>
                  <a:pt x="0" y="0"/>
                </a:lnTo>
                <a:lnTo>
                  <a:pt x="0" y="95485"/>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1767685" y="5645056"/>
            <a:ext cx="162445" cy="95817"/>
          </a:xfrm>
          <a:custGeom>
            <a:avLst/>
            <a:gdLst/>
            <a:ahLst/>
            <a:cxnLst/>
            <a:rect l="l" t="t" r="r" b="b"/>
            <a:pathLst>
              <a:path w="162560" h="95885">
                <a:moveTo>
                  <a:pt x="0" y="95485"/>
                </a:moveTo>
                <a:lnTo>
                  <a:pt x="162520" y="95485"/>
                </a:lnTo>
                <a:lnTo>
                  <a:pt x="162520" y="0"/>
                </a:lnTo>
                <a:lnTo>
                  <a:pt x="0" y="0"/>
                </a:lnTo>
                <a:lnTo>
                  <a:pt x="0" y="95485"/>
                </a:lnTo>
                <a:close/>
              </a:path>
            </a:pathLst>
          </a:custGeom>
          <a:ln w="8300">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1987280" y="5557524"/>
            <a:ext cx="152927" cy="87568"/>
          </a:xfrm>
          <a:custGeom>
            <a:avLst/>
            <a:gdLst/>
            <a:ahLst/>
            <a:cxnLst/>
            <a:rect l="l" t="t" r="r" b="b"/>
            <a:pathLst>
              <a:path w="153035" h="87629">
                <a:moveTo>
                  <a:pt x="0" y="87593"/>
                </a:moveTo>
                <a:lnTo>
                  <a:pt x="153034" y="87593"/>
                </a:lnTo>
                <a:lnTo>
                  <a:pt x="153034" y="0"/>
                </a:lnTo>
                <a:lnTo>
                  <a:pt x="0" y="0"/>
                </a:lnTo>
                <a:lnTo>
                  <a:pt x="0" y="87593"/>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1987280" y="5557524"/>
            <a:ext cx="152927" cy="87568"/>
          </a:xfrm>
          <a:custGeom>
            <a:avLst/>
            <a:gdLst/>
            <a:ahLst/>
            <a:cxnLst/>
            <a:rect l="l" t="t" r="r" b="b"/>
            <a:pathLst>
              <a:path w="153035" h="87629">
                <a:moveTo>
                  <a:pt x="0" y="87593"/>
                </a:moveTo>
                <a:lnTo>
                  <a:pt x="153034" y="87593"/>
                </a:lnTo>
                <a:lnTo>
                  <a:pt x="153034" y="0"/>
                </a:lnTo>
                <a:lnTo>
                  <a:pt x="0" y="0"/>
                </a:lnTo>
                <a:lnTo>
                  <a:pt x="0" y="87593"/>
                </a:lnTo>
                <a:close/>
              </a:path>
            </a:pathLst>
          </a:custGeom>
          <a:ln w="828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2197396" y="5469992"/>
            <a:ext cx="163079" cy="87568"/>
          </a:xfrm>
          <a:custGeom>
            <a:avLst/>
            <a:gdLst/>
            <a:ahLst/>
            <a:cxnLst/>
            <a:rect l="l" t="t" r="r" b="b"/>
            <a:pathLst>
              <a:path w="163194" h="87629">
                <a:moveTo>
                  <a:pt x="0" y="87593"/>
                </a:moveTo>
                <a:lnTo>
                  <a:pt x="162836" y="87593"/>
                </a:lnTo>
                <a:lnTo>
                  <a:pt x="162836" y="0"/>
                </a:lnTo>
                <a:lnTo>
                  <a:pt x="0" y="0"/>
                </a:lnTo>
                <a:lnTo>
                  <a:pt x="0" y="87593"/>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2197396" y="5469992"/>
            <a:ext cx="163079" cy="87568"/>
          </a:xfrm>
          <a:custGeom>
            <a:avLst/>
            <a:gdLst/>
            <a:ahLst/>
            <a:cxnLst/>
            <a:rect l="l" t="t" r="r" b="b"/>
            <a:pathLst>
              <a:path w="163194" h="87629">
                <a:moveTo>
                  <a:pt x="0" y="87593"/>
                </a:moveTo>
                <a:lnTo>
                  <a:pt x="162836" y="87593"/>
                </a:lnTo>
                <a:lnTo>
                  <a:pt x="162836" y="0"/>
                </a:lnTo>
                <a:lnTo>
                  <a:pt x="0" y="0"/>
                </a:lnTo>
                <a:lnTo>
                  <a:pt x="0" y="87593"/>
                </a:lnTo>
                <a:close/>
              </a:path>
            </a:pathLst>
          </a:custGeom>
          <a:ln w="8249">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2417306" y="5469994"/>
            <a:ext cx="162445" cy="358521"/>
          </a:xfrm>
          <a:custGeom>
            <a:avLst/>
            <a:gdLst/>
            <a:ahLst/>
            <a:cxnLst/>
            <a:rect l="l" t="t" r="r" b="b"/>
            <a:pathLst>
              <a:path w="162560" h="358775">
                <a:moveTo>
                  <a:pt x="0" y="358266"/>
                </a:moveTo>
                <a:lnTo>
                  <a:pt x="162520" y="358266"/>
                </a:lnTo>
                <a:lnTo>
                  <a:pt x="162520" y="0"/>
                </a:lnTo>
                <a:lnTo>
                  <a:pt x="0" y="0"/>
                </a:lnTo>
                <a:lnTo>
                  <a:pt x="0" y="358266"/>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2417306" y="5469994"/>
            <a:ext cx="162445" cy="358521"/>
          </a:xfrm>
          <a:custGeom>
            <a:avLst/>
            <a:gdLst/>
            <a:ahLst/>
            <a:cxnLst/>
            <a:rect l="l" t="t" r="r" b="b"/>
            <a:pathLst>
              <a:path w="162560" h="358775">
                <a:moveTo>
                  <a:pt x="0" y="358266"/>
                </a:moveTo>
                <a:lnTo>
                  <a:pt x="162520" y="358266"/>
                </a:lnTo>
                <a:lnTo>
                  <a:pt x="162520" y="0"/>
                </a:lnTo>
                <a:lnTo>
                  <a:pt x="0" y="0"/>
                </a:lnTo>
                <a:lnTo>
                  <a:pt x="0" y="358266"/>
                </a:lnTo>
                <a:close/>
              </a:path>
            </a:pathLst>
          </a:custGeom>
          <a:ln w="9213">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1514283" y="5824063"/>
            <a:ext cx="1089523" cy="0"/>
          </a:xfrm>
          <a:custGeom>
            <a:avLst/>
            <a:gdLst/>
            <a:ahLst/>
            <a:cxnLst/>
            <a:rect l="l" t="t" r="r" b="b"/>
            <a:pathLst>
              <a:path w="1090295">
                <a:moveTo>
                  <a:pt x="0" y="0"/>
                </a:moveTo>
                <a:lnTo>
                  <a:pt x="1090213" y="0"/>
                </a:lnTo>
              </a:path>
            </a:pathLst>
          </a:custGeom>
          <a:ln w="23937">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p:nvPr/>
        </p:nvSpPr>
        <p:spPr>
          <a:xfrm>
            <a:off x="1132292" y="1713318"/>
            <a:ext cx="237956" cy="1753262"/>
          </a:xfrm>
          <a:custGeom>
            <a:avLst/>
            <a:gdLst/>
            <a:ahLst/>
            <a:cxnLst/>
            <a:rect l="l" t="t" r="r" b="b"/>
            <a:pathLst>
              <a:path w="238125" h="1754504">
                <a:moveTo>
                  <a:pt x="238125" y="0"/>
                </a:moveTo>
                <a:lnTo>
                  <a:pt x="119062" y="0"/>
                </a:lnTo>
                <a:lnTo>
                  <a:pt x="119062" y="1754124"/>
                </a:lnTo>
                <a:lnTo>
                  <a:pt x="0" y="1754124"/>
                </a:lnTo>
              </a:path>
            </a:pathLst>
          </a:custGeom>
          <a:ln w="28575">
            <a:solidFill>
              <a:srgbClr val="0066CC"/>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p:nvPr/>
        </p:nvSpPr>
        <p:spPr>
          <a:xfrm>
            <a:off x="1132292" y="2963636"/>
            <a:ext cx="237956" cy="503198"/>
          </a:xfrm>
          <a:custGeom>
            <a:avLst/>
            <a:gdLst/>
            <a:ahLst/>
            <a:cxnLst/>
            <a:rect l="l" t="t" r="r" b="b"/>
            <a:pathLst>
              <a:path w="238125" h="503554">
                <a:moveTo>
                  <a:pt x="238125" y="0"/>
                </a:moveTo>
                <a:lnTo>
                  <a:pt x="119062" y="0"/>
                </a:lnTo>
                <a:lnTo>
                  <a:pt x="119062" y="503174"/>
                </a:lnTo>
                <a:lnTo>
                  <a:pt x="0" y="503174"/>
                </a:lnTo>
              </a:path>
            </a:pathLst>
          </a:custGeom>
          <a:ln w="28575">
            <a:solidFill>
              <a:srgbClr val="0066CC"/>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p:nvPr/>
        </p:nvSpPr>
        <p:spPr>
          <a:xfrm>
            <a:off x="1132292" y="3466199"/>
            <a:ext cx="237956" cy="748769"/>
          </a:xfrm>
          <a:custGeom>
            <a:avLst/>
            <a:gdLst/>
            <a:ahLst/>
            <a:cxnLst/>
            <a:rect l="l" t="t" r="r" b="b"/>
            <a:pathLst>
              <a:path w="238125" h="749300">
                <a:moveTo>
                  <a:pt x="238125" y="749300"/>
                </a:moveTo>
                <a:lnTo>
                  <a:pt x="119062" y="749300"/>
                </a:lnTo>
                <a:lnTo>
                  <a:pt x="119062" y="0"/>
                </a:lnTo>
                <a:lnTo>
                  <a:pt x="0" y="0"/>
                </a:lnTo>
              </a:path>
            </a:pathLst>
          </a:custGeom>
          <a:ln w="28575">
            <a:solidFill>
              <a:srgbClr val="0066CC"/>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txBox="1"/>
          <p:nvPr/>
        </p:nvSpPr>
        <p:spPr>
          <a:xfrm>
            <a:off x="2791005" y="841522"/>
            <a:ext cx="943575" cy="196215"/>
          </a:xfrm>
          <a:prstGeom prst="rect">
            <a:avLst/>
          </a:prstGeom>
        </p:spPr>
        <p:txBody>
          <a:bodyPr vert="horz" wrap="square" lIns="0" tIns="12691" rIns="0" bIns="0" rtlCol="0">
            <a:spAutoFit/>
          </a:bodyPr>
          <a:lstStyle/>
          <a:p>
            <a:pPr marL="12700">
              <a:lnSpc>
                <a:spcPct val="100000"/>
              </a:lnSpc>
              <a:spcBef>
                <a:spcPts val="100"/>
              </a:spcBef>
            </a:pPr>
            <a:r>
              <a:rPr sz="1200" b="1" spc="5" dirty="0">
                <a:solidFill>
                  <a:srgbClr val="0066CC"/>
                </a:solidFill>
                <a:latin typeface="微软雅黑" panose="020B0503020204020204" charset="-122"/>
                <a:ea typeface="微软雅黑" panose="020B0503020204020204" charset="-122"/>
                <a:cs typeface="微软雅黑" panose="020B0503020204020204" charset="-122"/>
              </a:rPr>
              <a:t>典型客</a:t>
            </a:r>
            <a:r>
              <a:rPr sz="1200" b="1" dirty="0">
                <a:solidFill>
                  <a:srgbClr val="0066CC"/>
                </a:solidFill>
                <a:latin typeface="微软雅黑" panose="020B0503020204020204" charset="-122"/>
                <a:ea typeface="微软雅黑" panose="020B0503020204020204" charset="-122"/>
                <a:cs typeface="微软雅黑" panose="020B0503020204020204" charset="-122"/>
              </a:rPr>
              <a:t>户</a:t>
            </a:r>
            <a:r>
              <a:rPr sz="1200" b="1" spc="-5" dirty="0">
                <a:solidFill>
                  <a:srgbClr val="0066CC"/>
                </a:solidFill>
                <a:latin typeface="微软雅黑" panose="020B0503020204020204" charset="-122"/>
                <a:ea typeface="微软雅黑" panose="020B0503020204020204" charset="-122"/>
                <a:cs typeface="微软雅黑" panose="020B0503020204020204" charset="-122"/>
              </a:rPr>
              <a:t>特</a:t>
            </a:r>
            <a:r>
              <a:rPr sz="1200" b="1" dirty="0">
                <a:solidFill>
                  <a:srgbClr val="0066CC"/>
                </a:solidFill>
                <a:latin typeface="微软雅黑" panose="020B0503020204020204" charset="-122"/>
                <a:ea typeface="微软雅黑" panose="020B0503020204020204" charset="-122"/>
                <a:cs typeface="微软雅黑" panose="020B0503020204020204" charset="-122"/>
              </a:rPr>
              <a:t>点</a:t>
            </a:r>
            <a:endParaRPr sz="1200">
              <a:latin typeface="微软雅黑" panose="020B0503020204020204" charset="-122"/>
              <a:ea typeface="微软雅黑" panose="020B0503020204020204" charset="-122"/>
              <a:cs typeface="微软雅黑" panose="020B0503020204020204" charset="-122"/>
            </a:endParaRPr>
          </a:p>
        </p:txBody>
      </p:sp>
      <p:sp>
        <p:nvSpPr>
          <p:cNvPr id="20" name="object 20"/>
          <p:cNvSpPr txBox="1"/>
          <p:nvPr/>
        </p:nvSpPr>
        <p:spPr>
          <a:xfrm>
            <a:off x="7333624" y="841522"/>
            <a:ext cx="640896" cy="196215"/>
          </a:xfrm>
          <a:prstGeom prst="rect">
            <a:avLst/>
          </a:prstGeom>
        </p:spPr>
        <p:txBody>
          <a:bodyPr vert="horz" wrap="square" lIns="0" tIns="12691" rIns="0" bIns="0" rtlCol="0">
            <a:spAutoFit/>
          </a:bodyPr>
          <a:lstStyle/>
          <a:p>
            <a:pPr marL="12700">
              <a:lnSpc>
                <a:spcPct val="100000"/>
              </a:lnSpc>
              <a:spcBef>
                <a:spcPts val="100"/>
              </a:spcBef>
            </a:pPr>
            <a:r>
              <a:rPr sz="1200" b="1" spc="5" dirty="0">
                <a:solidFill>
                  <a:srgbClr val="0066CC"/>
                </a:solidFill>
                <a:latin typeface="微软雅黑" panose="020B0503020204020204" charset="-122"/>
                <a:ea typeface="微软雅黑" panose="020B0503020204020204" charset="-122"/>
                <a:cs typeface="微软雅黑" panose="020B0503020204020204" charset="-122"/>
              </a:rPr>
              <a:t>价值定位</a:t>
            </a:r>
            <a:endParaRPr sz="1200" b="1" spc="5"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1" name="object 21"/>
          <p:cNvSpPr/>
          <p:nvPr/>
        </p:nvSpPr>
        <p:spPr>
          <a:xfrm>
            <a:off x="1369105" y="2429852"/>
            <a:ext cx="1375705" cy="1064775"/>
          </a:xfrm>
          <a:custGeom>
            <a:avLst/>
            <a:gdLst/>
            <a:ahLst/>
            <a:cxnLst/>
            <a:rect l="l" t="t" r="r" b="b"/>
            <a:pathLst>
              <a:path w="1376680" h="1065529">
                <a:moveTo>
                  <a:pt x="0" y="1065275"/>
                </a:moveTo>
                <a:lnTo>
                  <a:pt x="1376172" y="1065275"/>
                </a:lnTo>
                <a:lnTo>
                  <a:pt x="1376172" y="0"/>
                </a:lnTo>
                <a:lnTo>
                  <a:pt x="0" y="0"/>
                </a:lnTo>
                <a:lnTo>
                  <a:pt x="0" y="1065275"/>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2808265" y="1107957"/>
            <a:ext cx="4171534" cy="0"/>
          </a:xfrm>
          <a:custGeom>
            <a:avLst/>
            <a:gdLst/>
            <a:ahLst/>
            <a:cxnLst/>
            <a:rect l="l" t="t" r="r" b="b"/>
            <a:pathLst>
              <a:path w="4174490">
                <a:moveTo>
                  <a:pt x="0" y="0"/>
                </a:moveTo>
                <a:lnTo>
                  <a:pt x="4174236" y="0"/>
                </a:lnTo>
              </a:path>
            </a:pathLst>
          </a:custGeom>
          <a:ln w="952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p:nvPr/>
        </p:nvSpPr>
        <p:spPr>
          <a:xfrm>
            <a:off x="1369105" y="3681693"/>
            <a:ext cx="1375705" cy="1064775"/>
          </a:xfrm>
          <a:custGeom>
            <a:avLst/>
            <a:gdLst/>
            <a:ahLst/>
            <a:cxnLst/>
            <a:rect l="l" t="t" r="r" b="b"/>
            <a:pathLst>
              <a:path w="1376680" h="1065529">
                <a:moveTo>
                  <a:pt x="0" y="1065275"/>
                </a:moveTo>
                <a:lnTo>
                  <a:pt x="1376172" y="1065275"/>
                </a:lnTo>
                <a:lnTo>
                  <a:pt x="1376172" y="0"/>
                </a:lnTo>
                <a:lnTo>
                  <a:pt x="0" y="0"/>
                </a:lnTo>
                <a:lnTo>
                  <a:pt x="0" y="1065275"/>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p:nvPr/>
        </p:nvSpPr>
        <p:spPr>
          <a:xfrm>
            <a:off x="1369105" y="1179534"/>
            <a:ext cx="1375705" cy="1064775"/>
          </a:xfrm>
          <a:custGeom>
            <a:avLst/>
            <a:gdLst/>
            <a:ahLst/>
            <a:cxnLst/>
            <a:rect l="l" t="t" r="r" b="b"/>
            <a:pathLst>
              <a:path w="1376680" h="1065530">
                <a:moveTo>
                  <a:pt x="0" y="1065276"/>
                </a:moveTo>
                <a:lnTo>
                  <a:pt x="1376172" y="1065276"/>
                </a:lnTo>
                <a:lnTo>
                  <a:pt x="1376172" y="0"/>
                </a:lnTo>
                <a:lnTo>
                  <a:pt x="0" y="0"/>
                </a:lnTo>
                <a:lnTo>
                  <a:pt x="0" y="106527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5" name="object 25"/>
          <p:cNvSpPr txBox="1"/>
          <p:nvPr/>
        </p:nvSpPr>
        <p:spPr>
          <a:xfrm>
            <a:off x="1356669" y="841522"/>
            <a:ext cx="640896" cy="196215"/>
          </a:xfrm>
          <a:prstGeom prst="rect">
            <a:avLst/>
          </a:prstGeom>
        </p:spPr>
        <p:txBody>
          <a:bodyPr vert="horz" wrap="square" lIns="0" tIns="12691" rIns="0" bIns="0" rtlCol="0">
            <a:spAutoFit/>
          </a:bodyPr>
          <a:lstStyle/>
          <a:p>
            <a:pPr marL="12700">
              <a:lnSpc>
                <a:spcPct val="100000"/>
              </a:lnSpc>
              <a:spcBef>
                <a:spcPts val="100"/>
              </a:spcBef>
            </a:pPr>
            <a:r>
              <a:rPr sz="1200" b="1" spc="5" dirty="0">
                <a:solidFill>
                  <a:srgbClr val="0066CC"/>
                </a:solidFill>
                <a:latin typeface="微软雅黑" panose="020B0503020204020204" charset="-122"/>
                <a:ea typeface="微软雅黑" panose="020B0503020204020204" charset="-122"/>
                <a:cs typeface="微软雅黑" panose="020B0503020204020204" charset="-122"/>
              </a:rPr>
              <a:t>购买导向</a:t>
            </a:r>
            <a:endParaRPr sz="1200" b="1" spc="5"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6" name="object 26"/>
          <p:cNvSpPr/>
          <p:nvPr/>
        </p:nvSpPr>
        <p:spPr>
          <a:xfrm>
            <a:off x="118787" y="2368935"/>
            <a:ext cx="1012742" cy="2193006"/>
          </a:xfrm>
          <a:custGeom>
            <a:avLst/>
            <a:gdLst/>
            <a:ahLst/>
            <a:cxnLst/>
            <a:rect l="l" t="t" r="r" b="b"/>
            <a:pathLst>
              <a:path w="1013460" h="2194560">
                <a:moveTo>
                  <a:pt x="0" y="2194560"/>
                </a:moveTo>
                <a:lnTo>
                  <a:pt x="1013460" y="2194560"/>
                </a:lnTo>
                <a:lnTo>
                  <a:pt x="1013460" y="0"/>
                </a:lnTo>
                <a:lnTo>
                  <a:pt x="0" y="0"/>
                </a:lnTo>
                <a:lnTo>
                  <a:pt x="0" y="219456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7" name="object 27"/>
          <p:cNvSpPr txBox="1"/>
          <p:nvPr/>
        </p:nvSpPr>
        <p:spPr>
          <a:xfrm>
            <a:off x="1369105" y="2479855"/>
            <a:ext cx="1375705" cy="335915"/>
          </a:xfrm>
          <a:prstGeom prst="rect">
            <a:avLst/>
          </a:prstGeom>
        </p:spPr>
        <p:txBody>
          <a:bodyPr vert="horz" wrap="square" lIns="0" tIns="12691" rIns="0" bIns="0" rtlCol="0">
            <a:spAutoFit/>
          </a:bodyPr>
          <a:lstStyle/>
          <a:p>
            <a:pPr marL="48895">
              <a:lnSpc>
                <a:spcPts val="1265"/>
              </a:lnSpc>
              <a:spcBef>
                <a:spcPts val="100"/>
              </a:spcBef>
            </a:pPr>
            <a:r>
              <a:rPr sz="1200" b="1" spc="5" dirty="0">
                <a:solidFill>
                  <a:srgbClr val="0066CC"/>
                </a:solidFill>
                <a:latin typeface="微软雅黑" panose="020B0503020204020204" charset="-122"/>
                <a:ea typeface="微软雅黑" panose="020B0503020204020204" charset="-122"/>
                <a:cs typeface="微软雅黑" panose="020B0503020204020204" charset="-122"/>
              </a:rPr>
              <a:t>追求产</a:t>
            </a:r>
            <a:r>
              <a:rPr sz="1200" b="1" spc="-5" dirty="0">
                <a:solidFill>
                  <a:srgbClr val="0066CC"/>
                </a:solidFill>
                <a:latin typeface="微软雅黑" panose="020B0503020204020204" charset="-122"/>
                <a:ea typeface="微软雅黑" panose="020B0503020204020204" charset="-122"/>
                <a:cs typeface="微软雅黑" panose="020B0503020204020204" charset="-122"/>
              </a:rPr>
              <a:t>品性能</a:t>
            </a:r>
            <a:endParaRPr sz="1200">
              <a:latin typeface="微软雅黑" panose="020B0503020204020204" charset="-122"/>
              <a:ea typeface="微软雅黑" panose="020B0503020204020204" charset="-122"/>
              <a:cs typeface="微软雅黑" panose="020B0503020204020204" charset="-122"/>
            </a:endParaRPr>
          </a:p>
          <a:p>
            <a:pPr marL="37465" algn="ctr">
              <a:lnSpc>
                <a:spcPts val="1265"/>
              </a:lnSpc>
              <a:tabLst>
                <a:tab pos="335915" algn="l"/>
              </a:tabLst>
            </a:pPr>
            <a:r>
              <a:rPr sz="1200" b="1" u="sng" dirty="0">
                <a:uFill>
                  <a:solidFill>
                    <a:srgbClr val="000000"/>
                  </a:solidFill>
                </a:uFill>
                <a:latin typeface="微软雅黑" panose="020B0503020204020204" charset="-122"/>
                <a:ea typeface="微软雅黑" panose="020B0503020204020204" charset="-122"/>
                <a:cs typeface="微软雅黑" panose="020B0503020204020204" charset="-122"/>
              </a:rPr>
              <a:t> 	</a:t>
            </a:r>
            <a:endParaRPr sz="1200">
              <a:latin typeface="微软雅黑" panose="020B0503020204020204" charset="-122"/>
              <a:ea typeface="微软雅黑" panose="020B0503020204020204" charset="-122"/>
              <a:cs typeface="微软雅黑" panose="020B0503020204020204" charset="-122"/>
            </a:endParaRPr>
          </a:p>
        </p:txBody>
      </p:sp>
      <p:sp>
        <p:nvSpPr>
          <p:cNvPr id="28" name="object 28"/>
          <p:cNvSpPr txBox="1"/>
          <p:nvPr/>
        </p:nvSpPr>
        <p:spPr>
          <a:xfrm>
            <a:off x="178283" y="2618821"/>
            <a:ext cx="791284" cy="1673860"/>
          </a:xfrm>
          <a:prstGeom prst="rect">
            <a:avLst/>
          </a:prstGeom>
        </p:spPr>
        <p:txBody>
          <a:bodyPr vert="horz" wrap="square" lIns="0" tIns="12691" rIns="0" bIns="0" rtlCol="0">
            <a:spAutoFit/>
          </a:bodyPr>
          <a:lstStyle/>
          <a:p>
            <a:pPr marL="12700" marR="5080" algn="just">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“作为</a:t>
            </a:r>
            <a:r>
              <a:rPr sz="1200" b="1" spc="-5" dirty="0">
                <a:latin typeface="微软雅黑" panose="020B0503020204020204" charset="-122"/>
                <a:ea typeface="微软雅黑" panose="020B0503020204020204" charset="-122"/>
                <a:cs typeface="微软雅黑" panose="020B0503020204020204" charset="-122"/>
              </a:rPr>
              <a:t>你们 </a:t>
            </a:r>
            <a:r>
              <a:rPr sz="1200" b="1" spc="5" dirty="0">
                <a:latin typeface="微软雅黑" panose="020B0503020204020204" charset="-122"/>
                <a:ea typeface="微软雅黑" panose="020B0503020204020204" charset="-122"/>
                <a:cs typeface="微软雅黑" panose="020B0503020204020204" charset="-122"/>
              </a:rPr>
              <a:t>提高生</a:t>
            </a:r>
            <a:r>
              <a:rPr sz="1200" b="1" spc="-5" dirty="0">
                <a:latin typeface="微软雅黑" panose="020B0503020204020204" charset="-122"/>
                <a:ea typeface="微软雅黑" panose="020B0503020204020204" charset="-122"/>
                <a:cs typeface="微软雅黑" panose="020B0503020204020204" charset="-122"/>
              </a:rPr>
              <a:t>产率 </a:t>
            </a:r>
            <a:r>
              <a:rPr sz="1200" b="1" spc="5" dirty="0">
                <a:latin typeface="微软雅黑" panose="020B0503020204020204" charset="-122"/>
                <a:ea typeface="微软雅黑" panose="020B0503020204020204" charset="-122"/>
                <a:cs typeface="微软雅黑" panose="020B0503020204020204" charset="-122"/>
              </a:rPr>
              <a:t>的伙伴</a:t>
            </a:r>
            <a:r>
              <a:rPr sz="1200" b="1" spc="-5" dirty="0">
                <a:latin typeface="微软雅黑" panose="020B0503020204020204" charset="-122"/>
                <a:ea typeface="微软雅黑" panose="020B0503020204020204" charset="-122"/>
                <a:cs typeface="微软雅黑" panose="020B0503020204020204" charset="-122"/>
              </a:rPr>
              <a:t>，我 </a:t>
            </a:r>
            <a:r>
              <a:rPr sz="1200" b="1" spc="5" dirty="0">
                <a:latin typeface="微软雅黑" panose="020B0503020204020204" charset="-122"/>
                <a:ea typeface="微软雅黑" panose="020B0503020204020204" charset="-122"/>
                <a:cs typeface="微软雅黑" panose="020B0503020204020204" charset="-122"/>
              </a:rPr>
              <a:t>们以优</a:t>
            </a:r>
            <a:r>
              <a:rPr sz="1200" b="1" spc="-5" dirty="0">
                <a:latin typeface="微软雅黑" panose="020B0503020204020204" charset="-122"/>
                <a:ea typeface="微软雅黑" panose="020B0503020204020204" charset="-122"/>
                <a:cs typeface="微软雅黑" panose="020B0503020204020204" charset="-122"/>
              </a:rPr>
              <a:t>秀的 </a:t>
            </a:r>
            <a:r>
              <a:rPr sz="1200" b="1" spc="5" dirty="0">
                <a:latin typeface="微软雅黑" panose="020B0503020204020204" charset="-122"/>
                <a:ea typeface="微软雅黑" panose="020B0503020204020204" charset="-122"/>
                <a:cs typeface="微软雅黑" panose="020B0503020204020204" charset="-122"/>
              </a:rPr>
              <a:t>稳定性</a:t>
            </a:r>
            <a:r>
              <a:rPr sz="1200" b="1" spc="-5" dirty="0">
                <a:latin typeface="微软雅黑" panose="020B0503020204020204" charset="-122"/>
                <a:ea typeface="微软雅黑" panose="020B0503020204020204" charset="-122"/>
                <a:cs typeface="微软雅黑" panose="020B0503020204020204" charset="-122"/>
              </a:rPr>
              <a:t>、超 </a:t>
            </a:r>
            <a:r>
              <a:rPr sz="1200" b="1" spc="5" dirty="0">
                <a:latin typeface="微软雅黑" panose="020B0503020204020204" charset="-122"/>
                <a:ea typeface="微软雅黑" panose="020B0503020204020204" charset="-122"/>
                <a:cs typeface="微软雅黑" panose="020B0503020204020204" charset="-122"/>
              </a:rPr>
              <a:t>群的品</a:t>
            </a:r>
            <a:r>
              <a:rPr sz="1200" b="1" spc="-5" dirty="0">
                <a:latin typeface="微软雅黑" panose="020B0503020204020204" charset="-122"/>
                <a:ea typeface="微软雅黑" panose="020B0503020204020204" charset="-122"/>
                <a:cs typeface="微软雅黑" panose="020B0503020204020204" charset="-122"/>
              </a:rPr>
              <a:t>质和 </a:t>
            </a:r>
            <a:r>
              <a:rPr sz="1200" b="1" spc="5" dirty="0">
                <a:latin typeface="微软雅黑" panose="020B0503020204020204" charset="-122"/>
                <a:ea typeface="微软雅黑" panose="020B0503020204020204" charset="-122"/>
                <a:cs typeface="微软雅黑" panose="020B0503020204020204" charset="-122"/>
              </a:rPr>
              <a:t>定制的</a:t>
            </a:r>
            <a:r>
              <a:rPr sz="1200" b="1" spc="-5" dirty="0">
                <a:latin typeface="微软雅黑" panose="020B0503020204020204" charset="-122"/>
                <a:ea typeface="微软雅黑" panose="020B0503020204020204" charset="-122"/>
                <a:cs typeface="微软雅黑" panose="020B0503020204020204" charset="-122"/>
              </a:rPr>
              <a:t>服务 </a:t>
            </a:r>
            <a:r>
              <a:rPr sz="1200" b="1" spc="5" dirty="0">
                <a:latin typeface="微软雅黑" panose="020B0503020204020204" charset="-122"/>
                <a:ea typeface="微软雅黑" panose="020B0503020204020204" charset="-122"/>
                <a:cs typeface="微软雅黑" panose="020B0503020204020204" charset="-122"/>
              </a:rPr>
              <a:t>满足您</a:t>
            </a:r>
            <a:r>
              <a:rPr sz="1200" b="1" spc="-5" dirty="0">
                <a:latin typeface="微软雅黑" panose="020B0503020204020204" charset="-122"/>
                <a:ea typeface="微软雅黑" panose="020B0503020204020204" charset="-122"/>
                <a:cs typeface="微软雅黑" panose="020B0503020204020204" charset="-122"/>
              </a:rPr>
              <a:t>的特 </a:t>
            </a:r>
            <a:r>
              <a:rPr sz="1200" b="1" spc="5" dirty="0">
                <a:latin typeface="微软雅黑" panose="020B0503020204020204" charset="-122"/>
                <a:ea typeface="微软雅黑" panose="020B0503020204020204" charset="-122"/>
                <a:cs typeface="微软雅黑" panose="020B0503020204020204" charset="-122"/>
              </a:rPr>
              <a:t>殊要求”</a:t>
            </a:r>
            <a:endParaRPr sz="1200">
              <a:latin typeface="微软雅黑" panose="020B0503020204020204" charset="-122"/>
              <a:ea typeface="微软雅黑" panose="020B0503020204020204" charset="-122"/>
              <a:cs typeface="微软雅黑" panose="020B0503020204020204" charset="-122"/>
            </a:endParaRPr>
          </a:p>
        </p:txBody>
      </p:sp>
      <p:sp>
        <p:nvSpPr>
          <p:cNvPr id="29" name="object 29"/>
          <p:cNvSpPr txBox="1"/>
          <p:nvPr/>
        </p:nvSpPr>
        <p:spPr>
          <a:xfrm>
            <a:off x="1369105" y="4978968"/>
            <a:ext cx="1375705" cy="196215"/>
          </a:xfrm>
          <a:prstGeom prst="rect">
            <a:avLst/>
          </a:prstGeom>
        </p:spPr>
        <p:txBody>
          <a:bodyPr vert="horz" wrap="square" lIns="0" tIns="12691" rIns="0" bIns="0" rtlCol="0">
            <a:spAutoFit/>
          </a:bodyPr>
          <a:lstStyle/>
          <a:p>
            <a:pPr marL="48895">
              <a:lnSpc>
                <a:spcPct val="100000"/>
              </a:lnSpc>
              <a:spcBef>
                <a:spcPts val="100"/>
              </a:spcBef>
            </a:pPr>
            <a:r>
              <a:rPr sz="1200" b="1" spc="5" dirty="0">
                <a:solidFill>
                  <a:srgbClr val="0066CC"/>
                </a:solidFill>
                <a:latin typeface="微软雅黑" panose="020B0503020204020204" charset="-122"/>
                <a:ea typeface="微软雅黑" panose="020B0503020204020204" charset="-122"/>
                <a:cs typeface="微软雅黑" panose="020B0503020204020204" charset="-122"/>
              </a:rPr>
              <a:t>总持有</a:t>
            </a:r>
            <a:r>
              <a:rPr sz="1200" b="1" spc="-5" dirty="0">
                <a:solidFill>
                  <a:srgbClr val="0066CC"/>
                </a:solidFill>
                <a:latin typeface="微软雅黑" panose="020B0503020204020204" charset="-122"/>
                <a:ea typeface="微软雅黑" panose="020B0503020204020204" charset="-122"/>
                <a:cs typeface="微软雅黑" panose="020B0503020204020204" charset="-122"/>
              </a:rPr>
              <a:t>成</a:t>
            </a:r>
            <a:r>
              <a:rPr sz="1200" b="1" dirty="0">
                <a:solidFill>
                  <a:srgbClr val="0066CC"/>
                </a:solidFill>
                <a:latin typeface="微软雅黑" panose="020B0503020204020204" charset="-122"/>
                <a:ea typeface="微软雅黑" panose="020B0503020204020204" charset="-122"/>
                <a:cs typeface="微软雅黑" panose="020B0503020204020204" charset="-122"/>
              </a:rPr>
              <a:t>本</a:t>
            </a:r>
            <a:r>
              <a:rPr sz="1200" b="1" spc="-5" dirty="0">
                <a:solidFill>
                  <a:srgbClr val="0066CC"/>
                </a:solidFill>
                <a:latin typeface="微软雅黑" panose="020B0503020204020204" charset="-122"/>
                <a:ea typeface="微软雅黑" panose="020B0503020204020204" charset="-122"/>
                <a:cs typeface="微软雅黑" panose="020B0503020204020204" charset="-122"/>
              </a:rPr>
              <a:t>(TCO)</a:t>
            </a:r>
            <a:endParaRPr sz="1200">
              <a:latin typeface="微软雅黑" panose="020B0503020204020204" charset="-122"/>
              <a:ea typeface="微软雅黑" panose="020B0503020204020204" charset="-122"/>
              <a:cs typeface="微软雅黑" panose="020B0503020204020204" charset="-122"/>
            </a:endParaRPr>
          </a:p>
        </p:txBody>
      </p:sp>
      <p:sp>
        <p:nvSpPr>
          <p:cNvPr id="30" name="object 30"/>
          <p:cNvSpPr/>
          <p:nvPr/>
        </p:nvSpPr>
        <p:spPr>
          <a:xfrm>
            <a:off x="1132292" y="3466199"/>
            <a:ext cx="237956" cy="2000737"/>
          </a:xfrm>
          <a:custGeom>
            <a:avLst/>
            <a:gdLst/>
            <a:ahLst/>
            <a:cxnLst/>
            <a:rect l="l" t="t" r="r" b="b"/>
            <a:pathLst>
              <a:path w="238125" h="2002154">
                <a:moveTo>
                  <a:pt x="238125" y="2001837"/>
                </a:moveTo>
                <a:lnTo>
                  <a:pt x="119062" y="2001837"/>
                </a:lnTo>
                <a:lnTo>
                  <a:pt x="119062" y="0"/>
                </a:lnTo>
                <a:lnTo>
                  <a:pt x="0" y="0"/>
                </a:lnTo>
              </a:path>
            </a:pathLst>
          </a:custGeom>
          <a:ln w="28575">
            <a:solidFill>
              <a:srgbClr val="0066CC"/>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1" name="object 31"/>
          <p:cNvSpPr txBox="1"/>
          <p:nvPr/>
        </p:nvSpPr>
        <p:spPr>
          <a:xfrm>
            <a:off x="2792528" y="2405232"/>
            <a:ext cx="4029394" cy="935355"/>
          </a:xfrm>
          <a:prstGeom prst="rect">
            <a:avLst/>
          </a:prstGeom>
        </p:spPr>
        <p:txBody>
          <a:bodyPr vert="horz" wrap="square" lIns="0" tIns="12691" rIns="0" bIns="0" rtlCol="0">
            <a:spAutoFit/>
          </a:bodyPr>
          <a:lstStyle/>
          <a:p>
            <a:pPr marL="204470" marR="5080" indent="-192405">
              <a:lnSpc>
                <a:spcPct val="100000"/>
              </a:lnSpc>
              <a:spcBef>
                <a:spcPts val="100"/>
              </a:spcBef>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关注容器的</a:t>
            </a:r>
            <a:r>
              <a:rPr sz="1200" b="1" spc="5" dirty="0">
                <a:latin typeface="微软雅黑" panose="020B0503020204020204" charset="-122"/>
                <a:ea typeface="微软雅黑" panose="020B0503020204020204" charset="-122"/>
                <a:cs typeface="微软雅黑" panose="020B0503020204020204" charset="-122"/>
              </a:rPr>
              <a:t>性能与</a:t>
            </a:r>
            <a:r>
              <a:rPr sz="1200" b="1" spc="-5" dirty="0">
                <a:latin typeface="微软雅黑" panose="020B0503020204020204" charset="-122"/>
                <a:ea typeface="微软雅黑" panose="020B0503020204020204" charset="-122"/>
                <a:cs typeface="微软雅黑" panose="020B0503020204020204" charset="-122"/>
              </a:rPr>
              <a:t>质</a:t>
            </a:r>
            <a:r>
              <a:rPr sz="1200" b="1" dirty="0">
                <a:latin typeface="微软雅黑" panose="020B0503020204020204" charset="-122"/>
                <a:ea typeface="微软雅黑" panose="020B0503020204020204" charset="-122"/>
                <a:cs typeface="微软雅黑" panose="020B0503020204020204" charset="-122"/>
              </a:rPr>
              <a:t>量</a:t>
            </a:r>
            <a:r>
              <a:rPr sz="1200" dirty="0">
                <a:latin typeface="微软雅黑" panose="020B0503020204020204" charset="-122"/>
                <a:ea typeface="微软雅黑" panose="020B0503020204020204" charset="-122"/>
                <a:cs typeface="微软雅黑" panose="020B0503020204020204" charset="-122"/>
              </a:rPr>
              <a:t>，如有审美要求：高质量标签、屏 蔽、</a:t>
            </a:r>
            <a:r>
              <a:rPr sz="1200" spc="-5"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艺术品或表面处理工艺等</a:t>
            </a:r>
            <a:endParaRPr sz="1200">
              <a:latin typeface="微软雅黑" panose="020B0503020204020204" charset="-122"/>
              <a:ea typeface="微软雅黑" panose="020B0503020204020204" charset="-122"/>
              <a:cs typeface="微软雅黑" panose="020B0503020204020204" charset="-122"/>
            </a:endParaRPr>
          </a:p>
          <a:p>
            <a:pPr marL="204470" indent="-192405">
              <a:lnSpc>
                <a:spcPct val="100000"/>
              </a:lnSpc>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可能要求</a:t>
            </a:r>
            <a:r>
              <a:rPr sz="1200" b="1" spc="5" dirty="0">
                <a:latin typeface="微软雅黑" panose="020B0503020204020204" charset="-122"/>
                <a:ea typeface="微软雅黑" panose="020B0503020204020204" charset="-122"/>
                <a:cs typeface="微软雅黑" panose="020B0503020204020204" charset="-122"/>
              </a:rPr>
              <a:t>特殊功</a:t>
            </a:r>
            <a:r>
              <a:rPr sz="1200" b="1" spc="-5" dirty="0">
                <a:latin typeface="微软雅黑" panose="020B0503020204020204" charset="-122"/>
                <a:ea typeface="微软雅黑" panose="020B0503020204020204" charset="-122"/>
                <a:cs typeface="微软雅黑" panose="020B0503020204020204" charset="-122"/>
              </a:rPr>
              <a:t>能</a:t>
            </a:r>
            <a:r>
              <a:rPr sz="1200" dirty="0">
                <a:latin typeface="微软雅黑" panose="020B0503020204020204" charset="-122"/>
                <a:ea typeface="微软雅黑" panose="020B0503020204020204" charset="-122"/>
                <a:cs typeface="微软雅黑" panose="020B0503020204020204" charset="-122"/>
              </a:rPr>
              <a:t>（如非常规尺寸、装置、衬里等）</a:t>
            </a:r>
            <a:endParaRPr sz="1200">
              <a:latin typeface="微软雅黑" panose="020B0503020204020204" charset="-122"/>
              <a:ea typeface="微软雅黑" panose="020B0503020204020204" charset="-122"/>
              <a:cs typeface="微软雅黑" panose="020B0503020204020204" charset="-122"/>
            </a:endParaRPr>
          </a:p>
          <a:p>
            <a:pPr marL="204470" indent="-192405">
              <a:lnSpc>
                <a:spcPct val="100000"/>
              </a:lnSpc>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可满足其特定需求的地区替代品有限</a:t>
            </a:r>
            <a:r>
              <a:rPr sz="1200" spc="-25"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a:t>
            </a:r>
            <a:r>
              <a:rPr sz="1200" spc="-2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或之前可能因质</a:t>
            </a:r>
            <a:endParaRPr sz="1200">
              <a:latin typeface="微软雅黑" panose="020B0503020204020204" charset="-122"/>
              <a:ea typeface="微软雅黑" panose="020B0503020204020204" charset="-122"/>
              <a:cs typeface="微软雅黑" panose="020B0503020204020204" charset="-122"/>
            </a:endParaRPr>
          </a:p>
          <a:p>
            <a:pPr marL="204470">
              <a:lnSpc>
                <a:spcPct val="100000"/>
              </a:lnSpc>
            </a:pPr>
            <a:r>
              <a:rPr sz="1200" spc="-5" dirty="0">
                <a:latin typeface="微软雅黑" panose="020B0503020204020204" charset="-122"/>
                <a:ea typeface="微软雅黑" panose="020B0503020204020204" charset="-122"/>
                <a:cs typeface="微软雅黑" panose="020B0503020204020204" charset="-122"/>
              </a:rPr>
              <a:t>量问题已更换过供应商</a:t>
            </a:r>
            <a:endParaRPr sz="1200">
              <a:latin typeface="微软雅黑" panose="020B0503020204020204" charset="-122"/>
              <a:ea typeface="微软雅黑" panose="020B0503020204020204" charset="-122"/>
              <a:cs typeface="微软雅黑" panose="020B0503020204020204" charset="-122"/>
            </a:endParaRPr>
          </a:p>
        </p:txBody>
      </p:sp>
      <p:sp>
        <p:nvSpPr>
          <p:cNvPr id="32" name="object 32"/>
          <p:cNvSpPr txBox="1"/>
          <p:nvPr/>
        </p:nvSpPr>
        <p:spPr>
          <a:xfrm>
            <a:off x="2792528" y="3657072"/>
            <a:ext cx="4177244" cy="750570"/>
          </a:xfrm>
          <a:prstGeom prst="rect">
            <a:avLst/>
          </a:prstGeom>
        </p:spPr>
        <p:txBody>
          <a:bodyPr vert="horz" wrap="square" lIns="0" tIns="12691" rIns="0" bIns="0" rtlCol="0">
            <a:spAutoFit/>
          </a:bodyPr>
          <a:lstStyle/>
          <a:p>
            <a:pPr marL="204470" indent="-192405">
              <a:lnSpc>
                <a:spcPct val="100000"/>
              </a:lnSpc>
              <a:spcBef>
                <a:spcPts val="100"/>
              </a:spcBef>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关注</a:t>
            </a:r>
            <a:r>
              <a:rPr sz="1200" b="1" spc="-5" dirty="0">
                <a:latin typeface="微软雅黑" panose="020B0503020204020204" charset="-122"/>
                <a:ea typeface="微软雅黑" panose="020B0503020204020204" charset="-122"/>
                <a:cs typeface="微软雅黑" panose="020B0503020204020204" charset="-122"/>
              </a:rPr>
              <a:t>配送表现</a:t>
            </a:r>
            <a:r>
              <a:rPr sz="1200" b="1" spc="5" dirty="0">
                <a:latin typeface="微软雅黑" panose="020B0503020204020204" charset="-122"/>
                <a:ea typeface="微软雅黑" panose="020B0503020204020204" charset="-122"/>
                <a:cs typeface="微软雅黑" panose="020B0503020204020204" charset="-122"/>
              </a:rPr>
              <a:t>，</a:t>
            </a:r>
            <a:r>
              <a:rPr sz="1200" dirty="0">
                <a:latin typeface="微软雅黑" panose="020B0503020204020204" charset="-122"/>
                <a:ea typeface="微软雅黑" panose="020B0503020204020204" charset="-122"/>
                <a:cs typeface="微软雅黑" panose="020B0503020204020204" charset="-122"/>
              </a:rPr>
              <a:t>如供</a:t>
            </a:r>
            <a:r>
              <a:rPr sz="1200" spc="-15" dirty="0">
                <a:latin typeface="微软雅黑" panose="020B0503020204020204" charset="-122"/>
                <a:ea typeface="微软雅黑" panose="020B0503020204020204" charset="-122"/>
                <a:cs typeface="微软雅黑" panose="020B0503020204020204" charset="-122"/>
              </a:rPr>
              <a:t>应</a:t>
            </a:r>
            <a:r>
              <a:rPr sz="1200" dirty="0">
                <a:latin typeface="微软雅黑" panose="020B0503020204020204" charset="-122"/>
                <a:ea typeface="微软雅黑" panose="020B0503020204020204" charset="-122"/>
                <a:cs typeface="微软雅黑" panose="020B0503020204020204" charset="-122"/>
              </a:rPr>
              <a:t>安全性（如潜在缺货成本是否高等）</a:t>
            </a:r>
            <a:endParaRPr sz="1200">
              <a:latin typeface="微软雅黑" panose="020B0503020204020204" charset="-122"/>
              <a:ea typeface="微软雅黑" panose="020B0503020204020204" charset="-122"/>
              <a:cs typeface="微软雅黑" panose="020B0503020204020204" charset="-122"/>
            </a:endParaRPr>
          </a:p>
          <a:p>
            <a:pPr marL="204470" indent="-192405">
              <a:lnSpc>
                <a:spcPct val="100000"/>
              </a:lnSpc>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关注</a:t>
            </a:r>
            <a:r>
              <a:rPr sz="1200" b="1" spc="5" dirty="0">
                <a:latin typeface="微软雅黑" panose="020B0503020204020204" charset="-122"/>
                <a:ea typeface="微软雅黑" panose="020B0503020204020204" charset="-122"/>
                <a:cs typeface="微软雅黑" panose="020B0503020204020204" charset="-122"/>
              </a:rPr>
              <a:t>客户服</a:t>
            </a:r>
            <a:r>
              <a:rPr sz="1200" b="1" spc="-5" dirty="0">
                <a:latin typeface="微软雅黑" panose="020B0503020204020204" charset="-122"/>
                <a:ea typeface="微软雅黑" panose="020B0503020204020204" charset="-122"/>
                <a:cs typeface="微软雅黑" panose="020B0503020204020204" charset="-122"/>
              </a:rPr>
              <a:t>务，</a:t>
            </a:r>
            <a:r>
              <a:rPr sz="1200" dirty="0">
                <a:latin typeface="微软雅黑" panose="020B0503020204020204" charset="-122"/>
                <a:ea typeface="微软雅黑" panose="020B0503020204020204" charset="-122"/>
                <a:cs typeface="微软雅黑" panose="020B0503020204020204" charset="-122"/>
              </a:rPr>
              <a:t>如工厂订单合同、加急合同；积极响应的</a:t>
            </a:r>
            <a:endParaRPr sz="1200">
              <a:latin typeface="微软雅黑" panose="020B0503020204020204" charset="-122"/>
              <a:ea typeface="微软雅黑" panose="020B0503020204020204" charset="-122"/>
              <a:cs typeface="微软雅黑" panose="020B0503020204020204" charset="-122"/>
            </a:endParaRPr>
          </a:p>
          <a:p>
            <a:pPr marL="204470">
              <a:lnSpc>
                <a:spcPct val="100000"/>
              </a:lnSpc>
            </a:pPr>
            <a:r>
              <a:rPr sz="1200" spc="-5" dirty="0">
                <a:latin typeface="微软雅黑" panose="020B0503020204020204" charset="-122"/>
                <a:ea typeface="微软雅黑" panose="020B0503020204020204" charset="-122"/>
                <a:cs typeface="微软雅黑" panose="020B0503020204020204" charset="-122"/>
              </a:rPr>
              <a:t>客户经理等</a:t>
            </a:r>
            <a:endParaRPr sz="1200">
              <a:latin typeface="微软雅黑" panose="020B0503020204020204" charset="-122"/>
              <a:ea typeface="微软雅黑" panose="020B0503020204020204" charset="-122"/>
              <a:cs typeface="微软雅黑" panose="020B0503020204020204" charset="-122"/>
            </a:endParaRPr>
          </a:p>
          <a:p>
            <a:pPr marL="204470" indent="-192405">
              <a:lnSpc>
                <a:spcPct val="100000"/>
              </a:lnSpc>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之前因服务差而更换了供应商</a:t>
            </a:r>
            <a:endParaRPr sz="1200">
              <a:latin typeface="微软雅黑" panose="020B0503020204020204" charset="-122"/>
              <a:ea typeface="微软雅黑" panose="020B0503020204020204" charset="-122"/>
              <a:cs typeface="微软雅黑" panose="020B0503020204020204" charset="-122"/>
            </a:endParaRPr>
          </a:p>
        </p:txBody>
      </p:sp>
      <p:sp>
        <p:nvSpPr>
          <p:cNvPr id="33" name="object 33"/>
          <p:cNvSpPr txBox="1"/>
          <p:nvPr/>
        </p:nvSpPr>
        <p:spPr>
          <a:xfrm>
            <a:off x="2792528" y="1154914"/>
            <a:ext cx="4033202" cy="565785"/>
          </a:xfrm>
          <a:prstGeom prst="rect">
            <a:avLst/>
          </a:prstGeom>
        </p:spPr>
        <p:txBody>
          <a:bodyPr vert="horz" wrap="square" lIns="0" tIns="12691" rIns="0" bIns="0" rtlCol="0">
            <a:spAutoFit/>
          </a:bodyPr>
          <a:lstStyle/>
          <a:p>
            <a:pPr marL="204470" indent="-192405">
              <a:lnSpc>
                <a:spcPct val="100000"/>
              </a:lnSpc>
              <a:spcBef>
                <a:spcPts val="100"/>
              </a:spcBef>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几乎只关注</a:t>
            </a:r>
            <a:r>
              <a:rPr sz="1200" b="1" spc="5" dirty="0">
                <a:latin typeface="微软雅黑" panose="020B0503020204020204" charset="-122"/>
                <a:ea typeface="微软雅黑" panose="020B0503020204020204" charset="-122"/>
                <a:cs typeface="微软雅黑" panose="020B0503020204020204" charset="-122"/>
              </a:rPr>
              <a:t>价格</a:t>
            </a:r>
            <a:r>
              <a:rPr sz="1200" dirty="0">
                <a:latin typeface="微软雅黑" panose="020B0503020204020204" charset="-122"/>
                <a:ea typeface="微软雅黑" panose="020B0503020204020204" charset="-122"/>
                <a:cs typeface="微软雅黑" panose="020B0503020204020204" charset="-122"/>
              </a:rPr>
              <a:t>；愿意牺牲额外服务或优质换取较低价格</a:t>
            </a:r>
            <a:endParaRPr sz="1200">
              <a:latin typeface="微软雅黑" panose="020B0503020204020204" charset="-122"/>
              <a:ea typeface="微软雅黑" panose="020B0503020204020204" charset="-122"/>
              <a:cs typeface="微软雅黑" panose="020B0503020204020204" charset="-122"/>
            </a:endParaRPr>
          </a:p>
          <a:p>
            <a:pPr marL="204470" indent="-192405">
              <a:lnSpc>
                <a:spcPct val="100000"/>
              </a:lnSpc>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通常处于激烈竞争压力下，利润较小</a:t>
            </a:r>
            <a:endParaRPr sz="1200">
              <a:latin typeface="微软雅黑" panose="020B0503020204020204" charset="-122"/>
              <a:ea typeface="微软雅黑" panose="020B0503020204020204" charset="-122"/>
              <a:cs typeface="微软雅黑" panose="020B0503020204020204" charset="-122"/>
            </a:endParaRPr>
          </a:p>
          <a:p>
            <a:pPr marL="204470" indent="-192405">
              <a:lnSpc>
                <a:spcPct val="100000"/>
              </a:lnSpc>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有标准需求（如有限特殊规格）</a:t>
            </a:r>
            <a:endParaRPr sz="1200">
              <a:latin typeface="微软雅黑" panose="020B0503020204020204" charset="-122"/>
              <a:ea typeface="微软雅黑" panose="020B0503020204020204" charset="-122"/>
              <a:cs typeface="微软雅黑" panose="020B0503020204020204" charset="-122"/>
            </a:endParaRPr>
          </a:p>
        </p:txBody>
      </p:sp>
      <p:sp>
        <p:nvSpPr>
          <p:cNvPr id="34" name="object 34"/>
          <p:cNvSpPr txBox="1"/>
          <p:nvPr/>
        </p:nvSpPr>
        <p:spPr>
          <a:xfrm>
            <a:off x="2792528" y="4909294"/>
            <a:ext cx="4177879" cy="750570"/>
          </a:xfrm>
          <a:prstGeom prst="rect">
            <a:avLst/>
          </a:prstGeom>
        </p:spPr>
        <p:txBody>
          <a:bodyPr vert="horz" wrap="square" lIns="0" tIns="12691" rIns="0" bIns="0" rtlCol="0">
            <a:spAutoFit/>
          </a:bodyPr>
          <a:lstStyle/>
          <a:p>
            <a:pPr marL="204470" marR="5080" indent="-192405">
              <a:lnSpc>
                <a:spcPct val="100000"/>
              </a:lnSpc>
              <a:spcBef>
                <a:spcPts val="100"/>
              </a:spcBef>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看似价格型买家，实则在关注</a:t>
            </a:r>
            <a:r>
              <a:rPr sz="1200" b="1" spc="-5" dirty="0">
                <a:latin typeface="微软雅黑" panose="020B0503020204020204" charset="-122"/>
                <a:ea typeface="微软雅黑" panose="020B0503020204020204" charset="-122"/>
                <a:cs typeface="微软雅黑" panose="020B0503020204020204" charset="-122"/>
              </a:rPr>
              <a:t>系统总成本</a:t>
            </a:r>
            <a:r>
              <a:rPr sz="1200" b="1" spc="5" dirty="0">
                <a:latin typeface="微软雅黑" panose="020B0503020204020204" charset="-122"/>
                <a:ea typeface="微软雅黑" panose="020B0503020204020204" charset="-122"/>
                <a:cs typeface="微软雅黑" panose="020B0503020204020204" charset="-122"/>
              </a:rPr>
              <a:t>计</a:t>
            </a:r>
            <a:r>
              <a:rPr sz="1200" spc="-10" dirty="0">
                <a:latin typeface="微软雅黑" panose="020B0503020204020204" charset="-122"/>
                <a:ea typeface="微软雅黑" panose="020B0503020204020204" charset="-122"/>
                <a:cs typeface="微软雅黑" panose="020B0503020204020204" charset="-122"/>
              </a:rPr>
              <a:t>–</a:t>
            </a:r>
            <a:r>
              <a:rPr sz="1200" dirty="0">
                <a:latin typeface="微软雅黑" panose="020B0503020204020204" charset="-122"/>
                <a:ea typeface="微软雅黑" panose="020B0503020204020204" charset="-122"/>
                <a:cs typeface="微软雅黑" panose="020B0503020204020204" charset="-122"/>
              </a:rPr>
              <a:t>采购、搬运、 库存、处置等</a:t>
            </a:r>
            <a:endParaRPr sz="1200">
              <a:latin typeface="微软雅黑" panose="020B0503020204020204" charset="-122"/>
              <a:ea typeface="微软雅黑" panose="020B0503020204020204" charset="-122"/>
              <a:cs typeface="微软雅黑" panose="020B0503020204020204" charset="-122"/>
            </a:endParaRPr>
          </a:p>
          <a:p>
            <a:pPr marL="204470" marR="158750" indent="-192405">
              <a:lnSpc>
                <a:spcPct val="100000"/>
              </a:lnSpc>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通常设有完善的采购部门管理总持有成本，负责在与供应 商的谈判中从各个方面降低成本</a:t>
            </a:r>
            <a:endParaRPr sz="1200">
              <a:latin typeface="微软雅黑" panose="020B0503020204020204" charset="-122"/>
              <a:ea typeface="微软雅黑" panose="020B0503020204020204" charset="-122"/>
              <a:cs typeface="微软雅黑" panose="020B0503020204020204" charset="-122"/>
            </a:endParaRPr>
          </a:p>
        </p:txBody>
      </p:sp>
      <p:sp>
        <p:nvSpPr>
          <p:cNvPr id="35" name="object 35"/>
          <p:cNvSpPr/>
          <p:nvPr/>
        </p:nvSpPr>
        <p:spPr>
          <a:xfrm>
            <a:off x="7070920" y="2437467"/>
            <a:ext cx="146581" cy="1055892"/>
          </a:xfrm>
          <a:custGeom>
            <a:avLst/>
            <a:gdLst/>
            <a:ahLst/>
            <a:cxnLst/>
            <a:rect l="l" t="t" r="r" b="b"/>
            <a:pathLst>
              <a:path w="146684" h="1056639">
                <a:moveTo>
                  <a:pt x="0" y="0"/>
                </a:moveTo>
                <a:lnTo>
                  <a:pt x="0" y="1056132"/>
                </a:lnTo>
                <a:lnTo>
                  <a:pt x="146303" y="528065"/>
                </a:lnTo>
                <a:lnTo>
                  <a:pt x="0"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6" name="object 36"/>
          <p:cNvSpPr/>
          <p:nvPr/>
        </p:nvSpPr>
        <p:spPr>
          <a:xfrm>
            <a:off x="7070920" y="1144507"/>
            <a:ext cx="146581" cy="1057161"/>
          </a:xfrm>
          <a:custGeom>
            <a:avLst/>
            <a:gdLst/>
            <a:ahLst/>
            <a:cxnLst/>
            <a:rect l="l" t="t" r="r" b="b"/>
            <a:pathLst>
              <a:path w="146684" h="1057910">
                <a:moveTo>
                  <a:pt x="0" y="0"/>
                </a:moveTo>
                <a:lnTo>
                  <a:pt x="0" y="1057655"/>
                </a:lnTo>
                <a:lnTo>
                  <a:pt x="146303" y="528827"/>
                </a:lnTo>
                <a:lnTo>
                  <a:pt x="0"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7" name="object 37"/>
          <p:cNvSpPr/>
          <p:nvPr/>
        </p:nvSpPr>
        <p:spPr>
          <a:xfrm>
            <a:off x="7070920" y="3704537"/>
            <a:ext cx="146581" cy="1058430"/>
          </a:xfrm>
          <a:custGeom>
            <a:avLst/>
            <a:gdLst/>
            <a:ahLst/>
            <a:cxnLst/>
            <a:rect l="l" t="t" r="r" b="b"/>
            <a:pathLst>
              <a:path w="146684" h="1059179">
                <a:moveTo>
                  <a:pt x="0" y="0"/>
                </a:moveTo>
                <a:lnTo>
                  <a:pt x="0" y="1059180"/>
                </a:lnTo>
                <a:lnTo>
                  <a:pt x="146303" y="529590"/>
                </a:lnTo>
                <a:lnTo>
                  <a:pt x="0"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8" name="object 38"/>
          <p:cNvSpPr/>
          <p:nvPr/>
        </p:nvSpPr>
        <p:spPr>
          <a:xfrm>
            <a:off x="7070920" y="4925919"/>
            <a:ext cx="146581" cy="1057161"/>
          </a:xfrm>
          <a:custGeom>
            <a:avLst/>
            <a:gdLst/>
            <a:ahLst/>
            <a:cxnLst/>
            <a:rect l="l" t="t" r="r" b="b"/>
            <a:pathLst>
              <a:path w="146684" h="1057910">
                <a:moveTo>
                  <a:pt x="0" y="0"/>
                </a:moveTo>
                <a:lnTo>
                  <a:pt x="0" y="1057656"/>
                </a:lnTo>
                <a:lnTo>
                  <a:pt x="146303" y="528828"/>
                </a:lnTo>
                <a:lnTo>
                  <a:pt x="0"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9" name="object 39"/>
          <p:cNvSpPr/>
          <p:nvPr/>
        </p:nvSpPr>
        <p:spPr>
          <a:xfrm>
            <a:off x="1524444" y="1497825"/>
            <a:ext cx="1064522" cy="674654"/>
          </a:xfrm>
          <a:prstGeom prst="rect">
            <a:avLst/>
          </a:prstGeom>
          <a:blipFill>
            <a:blip r:embed="rId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0" name="object 40"/>
          <p:cNvSpPr/>
          <p:nvPr/>
        </p:nvSpPr>
        <p:spPr>
          <a:xfrm>
            <a:off x="1712941" y="2902374"/>
            <a:ext cx="691025" cy="474009"/>
          </a:xfrm>
          <a:custGeom>
            <a:avLst/>
            <a:gdLst/>
            <a:ahLst/>
            <a:cxnLst/>
            <a:rect l="l" t="t" r="r" b="b"/>
            <a:pathLst>
              <a:path w="691514" h="474345">
                <a:moveTo>
                  <a:pt x="497772" y="0"/>
                </a:moveTo>
                <a:lnTo>
                  <a:pt x="214036" y="0"/>
                </a:lnTo>
                <a:lnTo>
                  <a:pt x="0" y="154355"/>
                </a:lnTo>
                <a:lnTo>
                  <a:pt x="22482" y="172995"/>
                </a:lnTo>
                <a:lnTo>
                  <a:pt x="31475" y="180826"/>
                </a:lnTo>
                <a:lnTo>
                  <a:pt x="53506" y="199093"/>
                </a:lnTo>
                <a:lnTo>
                  <a:pt x="79136" y="221088"/>
                </a:lnTo>
                <a:lnTo>
                  <a:pt x="93526" y="233024"/>
                </a:lnTo>
                <a:lnTo>
                  <a:pt x="108365" y="245698"/>
                </a:lnTo>
                <a:lnTo>
                  <a:pt x="123657" y="259117"/>
                </a:lnTo>
                <a:lnTo>
                  <a:pt x="139391" y="272542"/>
                </a:lnTo>
                <a:lnTo>
                  <a:pt x="171321" y="300507"/>
                </a:lnTo>
                <a:lnTo>
                  <a:pt x="187055" y="314670"/>
                </a:lnTo>
                <a:lnTo>
                  <a:pt x="203244" y="328839"/>
                </a:lnTo>
                <a:lnTo>
                  <a:pt x="234271" y="356804"/>
                </a:lnTo>
                <a:lnTo>
                  <a:pt x="276538" y="396321"/>
                </a:lnTo>
                <a:lnTo>
                  <a:pt x="311611" y="430997"/>
                </a:lnTo>
                <a:lnTo>
                  <a:pt x="320605" y="441063"/>
                </a:lnTo>
                <a:lnTo>
                  <a:pt x="328702" y="450012"/>
                </a:lnTo>
                <a:lnTo>
                  <a:pt x="334995" y="457841"/>
                </a:lnTo>
                <a:lnTo>
                  <a:pt x="339943" y="464552"/>
                </a:lnTo>
                <a:lnTo>
                  <a:pt x="342638" y="470145"/>
                </a:lnTo>
                <a:lnTo>
                  <a:pt x="343988" y="474246"/>
                </a:lnTo>
                <a:lnTo>
                  <a:pt x="345339" y="474246"/>
                </a:lnTo>
                <a:lnTo>
                  <a:pt x="348482" y="472755"/>
                </a:lnTo>
                <a:lnTo>
                  <a:pt x="351183" y="470890"/>
                </a:lnTo>
                <a:lnTo>
                  <a:pt x="352534" y="470145"/>
                </a:lnTo>
                <a:lnTo>
                  <a:pt x="353430" y="469399"/>
                </a:lnTo>
                <a:lnTo>
                  <a:pt x="355677" y="467162"/>
                </a:lnTo>
                <a:lnTo>
                  <a:pt x="359275" y="463434"/>
                </a:lnTo>
                <a:lnTo>
                  <a:pt x="364671" y="458214"/>
                </a:lnTo>
                <a:lnTo>
                  <a:pt x="370970" y="452248"/>
                </a:lnTo>
                <a:lnTo>
                  <a:pt x="378613" y="444792"/>
                </a:lnTo>
                <a:lnTo>
                  <a:pt x="387152" y="436590"/>
                </a:lnTo>
                <a:lnTo>
                  <a:pt x="397048" y="426897"/>
                </a:lnTo>
                <a:lnTo>
                  <a:pt x="407841" y="416827"/>
                </a:lnTo>
                <a:lnTo>
                  <a:pt x="431218" y="394461"/>
                </a:lnTo>
                <a:lnTo>
                  <a:pt x="443810" y="382153"/>
                </a:lnTo>
                <a:lnTo>
                  <a:pt x="457303" y="369478"/>
                </a:lnTo>
                <a:lnTo>
                  <a:pt x="470791" y="356431"/>
                </a:lnTo>
                <a:lnTo>
                  <a:pt x="513961" y="316164"/>
                </a:lnTo>
                <a:lnTo>
                  <a:pt x="528345" y="302368"/>
                </a:lnTo>
                <a:lnTo>
                  <a:pt x="543183" y="288949"/>
                </a:lnTo>
                <a:lnTo>
                  <a:pt x="557573" y="275524"/>
                </a:lnTo>
                <a:lnTo>
                  <a:pt x="585904" y="249798"/>
                </a:lnTo>
                <a:lnTo>
                  <a:pt x="599828" y="237495"/>
                </a:lnTo>
                <a:lnTo>
                  <a:pt x="612898" y="225565"/>
                </a:lnTo>
                <a:lnTo>
                  <a:pt x="648873" y="194617"/>
                </a:lnTo>
                <a:lnTo>
                  <a:pt x="684848" y="167030"/>
                </a:lnTo>
                <a:lnTo>
                  <a:pt x="691134" y="162931"/>
                </a:lnTo>
                <a:lnTo>
                  <a:pt x="497772" y="0"/>
                </a:lnTo>
                <a:close/>
              </a:path>
            </a:pathLst>
          </a:custGeom>
          <a:solidFill>
            <a:srgbClr val="ACF7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1" name="object 41"/>
          <p:cNvSpPr/>
          <p:nvPr/>
        </p:nvSpPr>
        <p:spPr>
          <a:xfrm>
            <a:off x="2135769" y="2919885"/>
            <a:ext cx="152927" cy="150388"/>
          </a:xfrm>
          <a:custGeom>
            <a:avLst/>
            <a:gdLst/>
            <a:ahLst/>
            <a:cxnLst/>
            <a:rect l="l" t="t" r="r" b="b"/>
            <a:pathLst>
              <a:path w="153035" h="150494">
                <a:moveTo>
                  <a:pt x="60703" y="0"/>
                </a:moveTo>
                <a:lnTo>
                  <a:pt x="0" y="35418"/>
                </a:lnTo>
                <a:lnTo>
                  <a:pt x="152433" y="149878"/>
                </a:lnTo>
                <a:lnTo>
                  <a:pt x="60703" y="0"/>
                </a:lnTo>
                <a:close/>
              </a:path>
            </a:pathLst>
          </a:custGeom>
          <a:solidFill>
            <a:srgbClr val="7EBE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2" name="object 42"/>
          <p:cNvSpPr/>
          <p:nvPr/>
        </p:nvSpPr>
        <p:spPr>
          <a:xfrm>
            <a:off x="2058932" y="3114737"/>
            <a:ext cx="146581" cy="204325"/>
          </a:xfrm>
          <a:custGeom>
            <a:avLst/>
            <a:gdLst/>
            <a:ahLst/>
            <a:cxnLst/>
            <a:rect l="l" t="t" r="r" b="b"/>
            <a:pathLst>
              <a:path w="146685" h="204470">
                <a:moveTo>
                  <a:pt x="146140" y="0"/>
                </a:moveTo>
                <a:lnTo>
                  <a:pt x="0" y="21255"/>
                </a:lnTo>
                <a:lnTo>
                  <a:pt x="5844" y="204314"/>
                </a:lnTo>
                <a:lnTo>
                  <a:pt x="146140" y="0"/>
                </a:lnTo>
                <a:close/>
              </a:path>
            </a:pathLst>
          </a:custGeom>
          <a:solidFill>
            <a:srgbClr val="86E4E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3" name="object 43"/>
          <p:cNvSpPr/>
          <p:nvPr/>
        </p:nvSpPr>
        <p:spPr>
          <a:xfrm>
            <a:off x="1915594" y="2890080"/>
            <a:ext cx="283644" cy="44419"/>
          </a:xfrm>
          <a:custGeom>
            <a:avLst/>
            <a:gdLst/>
            <a:ahLst/>
            <a:cxnLst/>
            <a:rect l="l" t="t" r="r" b="b"/>
            <a:pathLst>
              <a:path w="283844" h="44450">
                <a:moveTo>
                  <a:pt x="223928" y="0"/>
                </a:moveTo>
                <a:lnTo>
                  <a:pt x="152881" y="0"/>
                </a:lnTo>
                <a:lnTo>
                  <a:pt x="102522" y="744"/>
                </a:lnTo>
                <a:lnTo>
                  <a:pt x="56657" y="2982"/>
                </a:lnTo>
                <a:lnTo>
                  <a:pt x="8091" y="9692"/>
                </a:lnTo>
                <a:lnTo>
                  <a:pt x="0" y="13046"/>
                </a:lnTo>
                <a:lnTo>
                  <a:pt x="76891" y="43994"/>
                </a:lnTo>
                <a:lnTo>
                  <a:pt x="231571" y="43994"/>
                </a:lnTo>
                <a:lnTo>
                  <a:pt x="283735" y="1116"/>
                </a:lnTo>
                <a:lnTo>
                  <a:pt x="281034" y="1116"/>
                </a:lnTo>
                <a:lnTo>
                  <a:pt x="272943" y="744"/>
                </a:lnTo>
                <a:lnTo>
                  <a:pt x="259903" y="744"/>
                </a:lnTo>
                <a:lnTo>
                  <a:pt x="223928" y="0"/>
                </a:lnTo>
                <a:close/>
              </a:path>
            </a:pathLst>
          </a:custGeom>
          <a:solidFill>
            <a:srgbClr val="C5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4" name="object 44"/>
          <p:cNvSpPr/>
          <p:nvPr/>
        </p:nvSpPr>
        <p:spPr>
          <a:xfrm>
            <a:off x="1695417" y="3068170"/>
            <a:ext cx="340754" cy="314102"/>
          </a:xfrm>
          <a:custGeom>
            <a:avLst/>
            <a:gdLst/>
            <a:ahLst/>
            <a:cxnLst/>
            <a:rect l="l" t="t" r="r" b="b"/>
            <a:pathLst>
              <a:path w="340994" h="314325">
                <a:moveTo>
                  <a:pt x="339339" y="312957"/>
                </a:moveTo>
                <a:lnTo>
                  <a:pt x="339492" y="313179"/>
                </a:lnTo>
                <a:lnTo>
                  <a:pt x="340388" y="313925"/>
                </a:lnTo>
                <a:lnTo>
                  <a:pt x="339339" y="312957"/>
                </a:lnTo>
                <a:close/>
              </a:path>
              <a:path w="340994" h="314325">
                <a:moveTo>
                  <a:pt x="0" y="0"/>
                </a:moveTo>
                <a:lnTo>
                  <a:pt x="339339" y="312957"/>
                </a:lnTo>
                <a:lnTo>
                  <a:pt x="337693" y="310570"/>
                </a:lnTo>
                <a:lnTo>
                  <a:pt x="334096" y="306096"/>
                </a:lnTo>
                <a:lnTo>
                  <a:pt x="329148" y="300503"/>
                </a:lnTo>
                <a:lnTo>
                  <a:pt x="323303" y="293419"/>
                </a:lnTo>
                <a:lnTo>
                  <a:pt x="316556" y="284844"/>
                </a:lnTo>
                <a:lnTo>
                  <a:pt x="308465" y="275523"/>
                </a:lnTo>
                <a:lnTo>
                  <a:pt x="299471" y="264711"/>
                </a:lnTo>
                <a:lnTo>
                  <a:pt x="289581" y="253525"/>
                </a:lnTo>
                <a:lnTo>
                  <a:pt x="279237" y="241222"/>
                </a:lnTo>
                <a:lnTo>
                  <a:pt x="267996" y="228175"/>
                </a:lnTo>
                <a:lnTo>
                  <a:pt x="255853" y="214751"/>
                </a:lnTo>
                <a:lnTo>
                  <a:pt x="243262" y="200582"/>
                </a:lnTo>
                <a:lnTo>
                  <a:pt x="230223" y="186414"/>
                </a:lnTo>
                <a:lnTo>
                  <a:pt x="216735" y="171501"/>
                </a:lnTo>
                <a:lnTo>
                  <a:pt x="203248" y="156960"/>
                </a:lnTo>
                <a:lnTo>
                  <a:pt x="188858" y="142419"/>
                </a:lnTo>
                <a:lnTo>
                  <a:pt x="174916" y="127506"/>
                </a:lnTo>
                <a:lnTo>
                  <a:pt x="146136" y="99169"/>
                </a:lnTo>
                <a:lnTo>
                  <a:pt x="117810" y="72698"/>
                </a:lnTo>
                <a:lnTo>
                  <a:pt x="76893" y="38401"/>
                </a:lnTo>
                <a:lnTo>
                  <a:pt x="40019" y="13419"/>
                </a:lnTo>
                <a:lnTo>
                  <a:pt x="8543" y="744"/>
                </a:lnTo>
                <a:lnTo>
                  <a:pt x="0" y="0"/>
                </a:lnTo>
                <a:close/>
              </a:path>
            </a:pathLst>
          </a:custGeom>
          <a:solidFill>
            <a:srgbClr val="00000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5" name="object 45"/>
          <p:cNvSpPr/>
          <p:nvPr/>
        </p:nvSpPr>
        <p:spPr>
          <a:xfrm>
            <a:off x="2077802" y="3068170"/>
            <a:ext cx="350272" cy="310930"/>
          </a:xfrm>
          <a:custGeom>
            <a:avLst/>
            <a:gdLst/>
            <a:ahLst/>
            <a:cxnLst/>
            <a:rect l="l" t="t" r="r" b="b"/>
            <a:pathLst>
              <a:path w="350519" h="311150">
                <a:moveTo>
                  <a:pt x="350289" y="0"/>
                </a:moveTo>
                <a:lnTo>
                  <a:pt x="349853" y="0"/>
                </a:lnTo>
                <a:lnTo>
                  <a:pt x="348484" y="372"/>
                </a:lnTo>
                <a:lnTo>
                  <a:pt x="340392" y="3726"/>
                </a:lnTo>
                <a:lnTo>
                  <a:pt x="335911" y="5965"/>
                </a:lnTo>
                <a:lnTo>
                  <a:pt x="325081" y="10808"/>
                </a:lnTo>
                <a:lnTo>
                  <a:pt x="318359" y="14540"/>
                </a:lnTo>
                <a:lnTo>
                  <a:pt x="311139" y="18267"/>
                </a:lnTo>
                <a:lnTo>
                  <a:pt x="303546" y="22738"/>
                </a:lnTo>
                <a:lnTo>
                  <a:pt x="294957" y="27959"/>
                </a:lnTo>
                <a:lnTo>
                  <a:pt x="285559" y="33552"/>
                </a:lnTo>
                <a:lnTo>
                  <a:pt x="275662" y="40262"/>
                </a:lnTo>
                <a:lnTo>
                  <a:pt x="241928" y="63750"/>
                </a:lnTo>
                <a:lnTo>
                  <a:pt x="203246" y="95070"/>
                </a:lnTo>
                <a:lnTo>
                  <a:pt x="174472" y="120425"/>
                </a:lnTo>
                <a:lnTo>
                  <a:pt x="143445" y="149506"/>
                </a:lnTo>
                <a:lnTo>
                  <a:pt x="110165" y="183059"/>
                </a:lnTo>
                <a:lnTo>
                  <a:pt x="75547" y="220716"/>
                </a:lnTo>
                <a:lnTo>
                  <a:pt x="38669" y="263219"/>
                </a:lnTo>
                <a:lnTo>
                  <a:pt x="0" y="310942"/>
                </a:lnTo>
                <a:lnTo>
                  <a:pt x="350289" y="0"/>
                </a:lnTo>
                <a:close/>
              </a:path>
            </a:pathLst>
          </a:custGeom>
          <a:solidFill>
            <a:srgbClr val="00000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6" name="object 46"/>
          <p:cNvSpPr/>
          <p:nvPr/>
        </p:nvSpPr>
        <p:spPr>
          <a:xfrm>
            <a:off x="1688677" y="2896785"/>
            <a:ext cx="213886" cy="136734"/>
          </a:xfrm>
          <a:prstGeom prst="rect">
            <a:avLst/>
          </a:prstGeom>
          <a:blipFill>
            <a:blip r:embed="rId2"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7" name="object 47"/>
          <p:cNvSpPr/>
          <p:nvPr/>
        </p:nvSpPr>
        <p:spPr>
          <a:xfrm>
            <a:off x="2227882" y="2893804"/>
            <a:ext cx="189637" cy="154246"/>
          </a:xfrm>
          <a:prstGeom prst="rect">
            <a:avLst/>
          </a:prstGeom>
          <a:blipFill>
            <a:blip r:embed="rId3"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8" name="object 48"/>
          <p:cNvSpPr/>
          <p:nvPr/>
        </p:nvSpPr>
        <p:spPr>
          <a:xfrm>
            <a:off x="1734060" y="3068170"/>
            <a:ext cx="322986" cy="308391"/>
          </a:xfrm>
          <a:custGeom>
            <a:avLst/>
            <a:gdLst/>
            <a:ahLst/>
            <a:cxnLst/>
            <a:rect l="l" t="t" r="r" b="b"/>
            <a:pathLst>
              <a:path w="323214" h="308610">
                <a:moveTo>
                  <a:pt x="0" y="0"/>
                </a:moveTo>
                <a:lnTo>
                  <a:pt x="44963" y="18267"/>
                </a:lnTo>
                <a:lnTo>
                  <a:pt x="83185" y="44738"/>
                </a:lnTo>
                <a:lnTo>
                  <a:pt x="123206" y="79413"/>
                </a:lnTo>
                <a:lnTo>
                  <a:pt x="163226" y="118931"/>
                </a:lnTo>
                <a:lnTo>
                  <a:pt x="176714" y="132727"/>
                </a:lnTo>
                <a:lnTo>
                  <a:pt x="202345" y="160687"/>
                </a:lnTo>
                <a:lnTo>
                  <a:pt x="214488" y="174856"/>
                </a:lnTo>
                <a:lnTo>
                  <a:pt x="226625" y="188652"/>
                </a:lnTo>
                <a:lnTo>
                  <a:pt x="238320" y="202076"/>
                </a:lnTo>
                <a:lnTo>
                  <a:pt x="249560" y="215495"/>
                </a:lnTo>
                <a:lnTo>
                  <a:pt x="259905" y="228175"/>
                </a:lnTo>
                <a:lnTo>
                  <a:pt x="269795" y="240478"/>
                </a:lnTo>
                <a:lnTo>
                  <a:pt x="287782" y="262474"/>
                </a:lnTo>
                <a:lnTo>
                  <a:pt x="302172" y="281488"/>
                </a:lnTo>
                <a:lnTo>
                  <a:pt x="308465" y="289318"/>
                </a:lnTo>
                <a:lnTo>
                  <a:pt x="313413" y="295656"/>
                </a:lnTo>
                <a:lnTo>
                  <a:pt x="317458" y="301248"/>
                </a:lnTo>
                <a:lnTo>
                  <a:pt x="320608" y="304977"/>
                </a:lnTo>
                <a:lnTo>
                  <a:pt x="322406" y="307587"/>
                </a:lnTo>
                <a:lnTo>
                  <a:pt x="322855" y="308333"/>
                </a:lnTo>
                <a:lnTo>
                  <a:pt x="242365" y="32064"/>
                </a:lnTo>
                <a:lnTo>
                  <a:pt x="0" y="0"/>
                </a:lnTo>
                <a:close/>
              </a:path>
            </a:pathLst>
          </a:custGeom>
          <a:solidFill>
            <a:srgbClr val="7EBE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9" name="object 49"/>
          <p:cNvSpPr/>
          <p:nvPr/>
        </p:nvSpPr>
        <p:spPr>
          <a:xfrm>
            <a:off x="1723276" y="2955279"/>
            <a:ext cx="269684" cy="133890"/>
          </a:xfrm>
          <a:custGeom>
            <a:avLst/>
            <a:gdLst/>
            <a:ahLst/>
            <a:cxnLst/>
            <a:rect l="l" t="t" r="r" b="b"/>
            <a:pathLst>
              <a:path w="269875" h="133985">
                <a:moveTo>
                  <a:pt x="269794" y="0"/>
                </a:moveTo>
                <a:lnTo>
                  <a:pt x="242364" y="35791"/>
                </a:lnTo>
                <a:lnTo>
                  <a:pt x="204591" y="61889"/>
                </a:lnTo>
                <a:lnTo>
                  <a:pt x="160524" y="79785"/>
                </a:lnTo>
                <a:lnTo>
                  <a:pt x="114659" y="91343"/>
                </a:lnTo>
                <a:lnTo>
                  <a:pt x="51709" y="99174"/>
                </a:lnTo>
                <a:lnTo>
                  <a:pt x="20234" y="100291"/>
                </a:lnTo>
                <a:lnTo>
                  <a:pt x="0" y="100291"/>
                </a:lnTo>
                <a:lnTo>
                  <a:pt x="238319" y="133477"/>
                </a:lnTo>
                <a:lnTo>
                  <a:pt x="269794" y="0"/>
                </a:lnTo>
                <a:close/>
              </a:path>
            </a:pathLst>
          </a:custGeom>
          <a:solidFill>
            <a:srgbClr val="C5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0" name="object 50"/>
          <p:cNvSpPr/>
          <p:nvPr/>
        </p:nvSpPr>
        <p:spPr>
          <a:xfrm>
            <a:off x="1901215" y="3119581"/>
            <a:ext cx="143408" cy="242398"/>
          </a:xfrm>
          <a:custGeom>
            <a:avLst/>
            <a:gdLst/>
            <a:ahLst/>
            <a:cxnLst/>
            <a:rect l="l" t="t" r="r" b="b"/>
            <a:pathLst>
              <a:path w="143510" h="242570">
                <a:moveTo>
                  <a:pt x="51709" y="0"/>
                </a:moveTo>
                <a:lnTo>
                  <a:pt x="0" y="30575"/>
                </a:lnTo>
                <a:lnTo>
                  <a:pt x="143439" y="242344"/>
                </a:lnTo>
                <a:lnTo>
                  <a:pt x="51709" y="0"/>
                </a:lnTo>
                <a:close/>
              </a:path>
            </a:pathLst>
          </a:custGeom>
          <a:solidFill>
            <a:srgbClr val="C5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1" name="object 51"/>
          <p:cNvSpPr/>
          <p:nvPr/>
        </p:nvSpPr>
        <p:spPr>
          <a:xfrm>
            <a:off x="2067472" y="3100584"/>
            <a:ext cx="206863" cy="259531"/>
          </a:xfrm>
          <a:custGeom>
            <a:avLst/>
            <a:gdLst/>
            <a:ahLst/>
            <a:cxnLst/>
            <a:rect l="l" t="t" r="r" b="b"/>
            <a:pathLst>
              <a:path w="207010" h="259714">
                <a:moveTo>
                  <a:pt x="206389" y="0"/>
                </a:moveTo>
                <a:lnTo>
                  <a:pt x="168167" y="5215"/>
                </a:lnTo>
                <a:lnTo>
                  <a:pt x="129951" y="16029"/>
                </a:lnTo>
                <a:lnTo>
                  <a:pt x="87684" y="35790"/>
                </a:lnTo>
                <a:lnTo>
                  <a:pt x="47663" y="67482"/>
                </a:lnTo>
                <a:lnTo>
                  <a:pt x="16636" y="113338"/>
                </a:lnTo>
                <a:lnTo>
                  <a:pt x="448" y="176349"/>
                </a:lnTo>
                <a:lnTo>
                  <a:pt x="0" y="215123"/>
                </a:lnTo>
                <a:lnTo>
                  <a:pt x="5844" y="259118"/>
                </a:lnTo>
                <a:lnTo>
                  <a:pt x="206389" y="0"/>
                </a:lnTo>
                <a:close/>
              </a:path>
            </a:pathLst>
          </a:custGeom>
          <a:solidFill>
            <a:srgbClr val="D2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2" name="object 52"/>
          <p:cNvSpPr/>
          <p:nvPr/>
        </p:nvSpPr>
        <p:spPr>
          <a:xfrm>
            <a:off x="2224741" y="2915040"/>
            <a:ext cx="178943" cy="164349"/>
          </a:xfrm>
          <a:custGeom>
            <a:avLst/>
            <a:gdLst/>
            <a:ahLst/>
            <a:cxnLst/>
            <a:rect l="l" t="t" r="r" b="b"/>
            <a:pathLst>
              <a:path w="179069" h="164464">
                <a:moveTo>
                  <a:pt x="0" y="0"/>
                </a:moveTo>
                <a:lnTo>
                  <a:pt x="83184" y="164047"/>
                </a:lnTo>
                <a:lnTo>
                  <a:pt x="178972" y="150256"/>
                </a:lnTo>
                <a:lnTo>
                  <a:pt x="0" y="0"/>
                </a:lnTo>
                <a:close/>
              </a:path>
            </a:pathLst>
          </a:custGeom>
          <a:solidFill>
            <a:srgbClr val="D2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3" name="object 53"/>
          <p:cNvSpPr/>
          <p:nvPr/>
        </p:nvSpPr>
        <p:spPr>
          <a:xfrm>
            <a:off x="2041859" y="2962728"/>
            <a:ext cx="37438" cy="90741"/>
          </a:xfrm>
          <a:custGeom>
            <a:avLst/>
            <a:gdLst/>
            <a:ahLst/>
            <a:cxnLst/>
            <a:rect l="l" t="t" r="r" b="b"/>
            <a:pathLst>
              <a:path w="37464" h="90805">
                <a:moveTo>
                  <a:pt x="0" y="0"/>
                </a:moveTo>
                <a:lnTo>
                  <a:pt x="5844" y="90227"/>
                </a:lnTo>
                <a:lnTo>
                  <a:pt x="37319" y="2238"/>
                </a:lnTo>
                <a:lnTo>
                  <a:pt x="0" y="0"/>
                </a:lnTo>
                <a:close/>
              </a:path>
            </a:pathLst>
          </a:custGeom>
          <a:solidFill>
            <a:srgbClr val="86E4E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4" name="object 54"/>
          <p:cNvSpPr/>
          <p:nvPr/>
        </p:nvSpPr>
        <p:spPr>
          <a:xfrm>
            <a:off x="1848640" y="2960868"/>
            <a:ext cx="147216" cy="118661"/>
          </a:xfrm>
          <a:custGeom>
            <a:avLst/>
            <a:gdLst/>
            <a:ahLst/>
            <a:cxnLst/>
            <a:rect l="l" t="t" r="r" b="b"/>
            <a:pathLst>
              <a:path w="147319" h="118744">
                <a:moveTo>
                  <a:pt x="141125" y="13751"/>
                </a:moveTo>
                <a:lnTo>
                  <a:pt x="121412" y="46976"/>
                </a:lnTo>
                <a:lnTo>
                  <a:pt x="93080" y="78296"/>
                </a:lnTo>
                <a:lnTo>
                  <a:pt x="53059" y="103273"/>
                </a:lnTo>
                <a:lnTo>
                  <a:pt x="0" y="111849"/>
                </a:lnTo>
                <a:lnTo>
                  <a:pt x="96229" y="118186"/>
                </a:lnTo>
                <a:lnTo>
                  <a:pt x="141125" y="13751"/>
                </a:lnTo>
                <a:close/>
              </a:path>
              <a:path w="147319" h="118744">
                <a:moveTo>
                  <a:pt x="147036" y="0"/>
                </a:moveTo>
                <a:lnTo>
                  <a:pt x="141125" y="13751"/>
                </a:lnTo>
                <a:lnTo>
                  <a:pt x="142543" y="10813"/>
                </a:lnTo>
                <a:lnTo>
                  <a:pt x="145244" y="4848"/>
                </a:lnTo>
                <a:lnTo>
                  <a:pt x="146588" y="1488"/>
                </a:lnTo>
                <a:lnTo>
                  <a:pt x="147036" y="0"/>
                </a:lnTo>
                <a:close/>
              </a:path>
            </a:pathLst>
          </a:custGeom>
          <a:solidFill>
            <a:srgbClr val="6BC4E8"/>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5" name="object 55"/>
          <p:cNvSpPr/>
          <p:nvPr/>
        </p:nvSpPr>
        <p:spPr>
          <a:xfrm>
            <a:off x="2000517" y="3015637"/>
            <a:ext cx="232880" cy="57744"/>
          </a:xfrm>
          <a:custGeom>
            <a:avLst/>
            <a:gdLst/>
            <a:ahLst/>
            <a:cxnLst/>
            <a:rect l="l" t="t" r="r" b="b"/>
            <a:pathLst>
              <a:path w="233044" h="57785">
                <a:moveTo>
                  <a:pt x="0" y="0"/>
                </a:moveTo>
                <a:lnTo>
                  <a:pt x="14838" y="57413"/>
                </a:lnTo>
                <a:lnTo>
                  <a:pt x="232922" y="52192"/>
                </a:lnTo>
                <a:lnTo>
                  <a:pt x="0" y="0"/>
                </a:lnTo>
                <a:close/>
              </a:path>
            </a:pathLst>
          </a:custGeom>
          <a:solidFill>
            <a:srgbClr val="6BC4E8"/>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6" name="object 56"/>
          <p:cNvSpPr/>
          <p:nvPr/>
        </p:nvSpPr>
        <p:spPr>
          <a:xfrm>
            <a:off x="2090832" y="3104679"/>
            <a:ext cx="167606" cy="230622"/>
          </a:xfrm>
          <a:prstGeom prst="rect">
            <a:avLst/>
          </a:prstGeom>
          <a:blipFill>
            <a:blip r:embed="rId4"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57" name="object 57"/>
          <p:cNvSpPr/>
          <p:nvPr/>
        </p:nvSpPr>
        <p:spPr>
          <a:xfrm>
            <a:off x="1979401" y="2938140"/>
            <a:ext cx="286817" cy="157368"/>
          </a:xfrm>
          <a:custGeom>
            <a:avLst/>
            <a:gdLst/>
            <a:ahLst/>
            <a:cxnLst/>
            <a:rect l="l" t="t" r="r" b="b"/>
            <a:pathLst>
              <a:path w="287019" h="157480">
                <a:moveTo>
                  <a:pt x="165920" y="0"/>
                </a:moveTo>
                <a:lnTo>
                  <a:pt x="159173" y="55180"/>
                </a:lnTo>
                <a:lnTo>
                  <a:pt x="123653" y="97680"/>
                </a:lnTo>
                <a:lnTo>
                  <a:pt x="91729" y="119308"/>
                </a:lnTo>
                <a:lnTo>
                  <a:pt x="43163" y="142424"/>
                </a:lnTo>
                <a:lnTo>
                  <a:pt x="2246" y="156216"/>
                </a:lnTo>
                <a:lnTo>
                  <a:pt x="0" y="156965"/>
                </a:lnTo>
                <a:lnTo>
                  <a:pt x="286878" y="152117"/>
                </a:lnTo>
                <a:lnTo>
                  <a:pt x="165920" y="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8" name="object 58"/>
          <p:cNvSpPr/>
          <p:nvPr/>
        </p:nvSpPr>
        <p:spPr>
          <a:xfrm>
            <a:off x="1778545" y="3090335"/>
            <a:ext cx="358521" cy="0"/>
          </a:xfrm>
          <a:custGeom>
            <a:avLst/>
            <a:gdLst/>
            <a:ahLst/>
            <a:cxnLst/>
            <a:rect l="l" t="t" r="r" b="b"/>
            <a:pathLst>
              <a:path w="358775">
                <a:moveTo>
                  <a:pt x="0" y="0"/>
                </a:moveTo>
                <a:lnTo>
                  <a:pt x="358380" y="0"/>
                </a:lnTo>
              </a:path>
            </a:pathLst>
          </a:custGeom>
          <a:ln w="33185">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9" name="object 59"/>
          <p:cNvSpPr/>
          <p:nvPr/>
        </p:nvSpPr>
        <p:spPr>
          <a:xfrm>
            <a:off x="1843248" y="2905354"/>
            <a:ext cx="120565" cy="121199"/>
          </a:xfrm>
          <a:custGeom>
            <a:avLst/>
            <a:gdLst/>
            <a:ahLst/>
            <a:cxnLst/>
            <a:rect l="l" t="t" r="r" b="b"/>
            <a:pathLst>
              <a:path w="120650" h="121285">
                <a:moveTo>
                  <a:pt x="89034" y="0"/>
                </a:moveTo>
                <a:lnTo>
                  <a:pt x="0" y="121169"/>
                </a:lnTo>
                <a:lnTo>
                  <a:pt x="120509" y="26098"/>
                </a:lnTo>
                <a:lnTo>
                  <a:pt x="89034" y="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0" name="object 60"/>
          <p:cNvSpPr/>
          <p:nvPr/>
        </p:nvSpPr>
        <p:spPr>
          <a:xfrm>
            <a:off x="2057134" y="3118838"/>
            <a:ext cx="196076" cy="244936"/>
          </a:xfrm>
          <a:custGeom>
            <a:avLst/>
            <a:gdLst/>
            <a:ahLst/>
            <a:cxnLst/>
            <a:rect l="l" t="t" r="r" b="b"/>
            <a:pathLst>
              <a:path w="196214" h="245110">
                <a:moveTo>
                  <a:pt x="194700" y="0"/>
                </a:moveTo>
                <a:lnTo>
                  <a:pt x="0" y="244579"/>
                </a:lnTo>
                <a:lnTo>
                  <a:pt x="39118" y="205803"/>
                </a:lnTo>
                <a:lnTo>
                  <a:pt x="72398" y="171128"/>
                </a:lnTo>
                <a:lnTo>
                  <a:pt x="101171" y="140558"/>
                </a:lnTo>
                <a:lnTo>
                  <a:pt x="144341" y="90971"/>
                </a:lnTo>
                <a:lnTo>
                  <a:pt x="172219" y="54058"/>
                </a:lnTo>
                <a:lnTo>
                  <a:pt x="192005" y="19761"/>
                </a:lnTo>
                <a:lnTo>
                  <a:pt x="196051" y="3726"/>
                </a:lnTo>
                <a:lnTo>
                  <a:pt x="195603" y="1488"/>
                </a:lnTo>
                <a:lnTo>
                  <a:pt x="195154" y="372"/>
                </a:lnTo>
                <a:lnTo>
                  <a:pt x="194700" y="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1" name="object 61"/>
          <p:cNvSpPr/>
          <p:nvPr/>
        </p:nvSpPr>
        <p:spPr>
          <a:xfrm>
            <a:off x="1989284" y="2912803"/>
            <a:ext cx="174501" cy="26651"/>
          </a:xfrm>
          <a:custGeom>
            <a:avLst/>
            <a:gdLst/>
            <a:ahLst/>
            <a:cxnLst/>
            <a:rect l="l" t="t" r="r" b="b"/>
            <a:pathLst>
              <a:path w="174625" h="26669">
                <a:moveTo>
                  <a:pt x="174018" y="0"/>
                </a:moveTo>
                <a:lnTo>
                  <a:pt x="0" y="26098"/>
                </a:lnTo>
                <a:lnTo>
                  <a:pt x="156030" y="25354"/>
                </a:lnTo>
                <a:lnTo>
                  <a:pt x="174018" y="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2" name="object 62"/>
          <p:cNvSpPr/>
          <p:nvPr/>
        </p:nvSpPr>
        <p:spPr>
          <a:xfrm>
            <a:off x="2303824" y="2999614"/>
            <a:ext cx="86299" cy="80588"/>
          </a:xfrm>
          <a:custGeom>
            <a:avLst/>
            <a:gdLst/>
            <a:ahLst/>
            <a:cxnLst/>
            <a:rect l="l" t="t" r="r" b="b"/>
            <a:pathLst>
              <a:path w="86360" h="80644">
                <a:moveTo>
                  <a:pt x="0" y="0"/>
                </a:moveTo>
                <a:lnTo>
                  <a:pt x="15746" y="12674"/>
                </a:lnTo>
                <a:lnTo>
                  <a:pt x="22904" y="26098"/>
                </a:lnTo>
                <a:lnTo>
                  <a:pt x="24273" y="39523"/>
                </a:lnTo>
                <a:lnTo>
                  <a:pt x="20663" y="52197"/>
                </a:lnTo>
                <a:lnTo>
                  <a:pt x="14377" y="63383"/>
                </a:lnTo>
                <a:lnTo>
                  <a:pt x="7655" y="72331"/>
                </a:lnTo>
                <a:lnTo>
                  <a:pt x="2246" y="77924"/>
                </a:lnTo>
                <a:lnTo>
                  <a:pt x="0" y="80162"/>
                </a:lnTo>
                <a:lnTo>
                  <a:pt x="86327" y="62639"/>
                </a:lnTo>
                <a:lnTo>
                  <a:pt x="0" y="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3" name="object 63"/>
          <p:cNvSpPr/>
          <p:nvPr/>
        </p:nvSpPr>
        <p:spPr>
          <a:xfrm>
            <a:off x="2244507" y="3079721"/>
            <a:ext cx="109777" cy="104065"/>
          </a:xfrm>
          <a:custGeom>
            <a:avLst/>
            <a:gdLst/>
            <a:ahLst/>
            <a:cxnLst/>
            <a:rect l="l" t="t" r="r" b="b"/>
            <a:pathLst>
              <a:path w="109855" h="104139">
                <a:moveTo>
                  <a:pt x="109711" y="0"/>
                </a:moveTo>
                <a:lnTo>
                  <a:pt x="54858" y="15285"/>
                </a:lnTo>
                <a:lnTo>
                  <a:pt x="0" y="103646"/>
                </a:lnTo>
                <a:lnTo>
                  <a:pt x="109711" y="0"/>
                </a:lnTo>
                <a:close/>
              </a:path>
            </a:pathLst>
          </a:custGeom>
          <a:solidFill>
            <a:srgbClr val="7EBE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4" name="object 64"/>
          <p:cNvSpPr/>
          <p:nvPr/>
        </p:nvSpPr>
        <p:spPr>
          <a:xfrm>
            <a:off x="1980297" y="2928083"/>
            <a:ext cx="54571" cy="56475"/>
          </a:xfrm>
          <a:custGeom>
            <a:avLst/>
            <a:gdLst/>
            <a:ahLst/>
            <a:cxnLst/>
            <a:rect l="l" t="t" r="r" b="b"/>
            <a:pathLst>
              <a:path w="54610" h="56514">
                <a:moveTo>
                  <a:pt x="0" y="0"/>
                </a:moveTo>
                <a:lnTo>
                  <a:pt x="902" y="1860"/>
                </a:lnTo>
                <a:lnTo>
                  <a:pt x="2701" y="6337"/>
                </a:lnTo>
                <a:lnTo>
                  <a:pt x="5844" y="13419"/>
                </a:lnTo>
                <a:lnTo>
                  <a:pt x="8993" y="21622"/>
                </a:lnTo>
                <a:lnTo>
                  <a:pt x="11694" y="30942"/>
                </a:lnTo>
                <a:lnTo>
                  <a:pt x="13493" y="40262"/>
                </a:lnTo>
                <a:lnTo>
                  <a:pt x="14390" y="48837"/>
                </a:lnTo>
                <a:lnTo>
                  <a:pt x="13493" y="55924"/>
                </a:lnTo>
                <a:lnTo>
                  <a:pt x="15286" y="48465"/>
                </a:lnTo>
                <a:lnTo>
                  <a:pt x="43169" y="11180"/>
                </a:lnTo>
                <a:lnTo>
                  <a:pt x="54410" y="9319"/>
                </a:lnTo>
                <a:lnTo>
                  <a:pt x="0" y="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5" name="object 65"/>
          <p:cNvSpPr/>
          <p:nvPr/>
        </p:nvSpPr>
        <p:spPr>
          <a:xfrm>
            <a:off x="1524444" y="4044148"/>
            <a:ext cx="1066044" cy="590893"/>
          </a:xfrm>
          <a:prstGeom prst="rect">
            <a:avLst/>
          </a:prstGeom>
          <a:blipFill>
            <a:blip r:embed="rId5"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66" name="object 66"/>
          <p:cNvSpPr txBox="1"/>
          <p:nvPr/>
        </p:nvSpPr>
        <p:spPr>
          <a:xfrm>
            <a:off x="1369105" y="1213419"/>
            <a:ext cx="1375705" cy="196215"/>
          </a:xfrm>
          <a:prstGeom prst="rect">
            <a:avLst/>
          </a:prstGeom>
        </p:spPr>
        <p:txBody>
          <a:bodyPr vert="horz" wrap="square" lIns="0" tIns="12691" rIns="0" bIns="0" rtlCol="0">
            <a:spAutoFit/>
          </a:bodyPr>
          <a:lstStyle/>
          <a:p>
            <a:pPr marL="48895">
              <a:lnSpc>
                <a:spcPct val="100000"/>
              </a:lnSpc>
              <a:spcBef>
                <a:spcPts val="100"/>
              </a:spcBef>
            </a:pPr>
            <a:r>
              <a:rPr sz="1200" b="1" spc="5" dirty="0">
                <a:solidFill>
                  <a:srgbClr val="0066CC"/>
                </a:solidFill>
                <a:latin typeface="微软雅黑" panose="020B0503020204020204" charset="-122"/>
                <a:ea typeface="微软雅黑" panose="020B0503020204020204" charset="-122"/>
                <a:cs typeface="微软雅黑" panose="020B0503020204020204" charset="-122"/>
              </a:rPr>
              <a:t>价格为重</a:t>
            </a:r>
            <a:endParaRPr sz="1200" b="1" spc="5"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67" name="object 67"/>
          <p:cNvSpPr txBox="1"/>
          <p:nvPr/>
        </p:nvSpPr>
        <p:spPr>
          <a:xfrm>
            <a:off x="1369105" y="3725350"/>
            <a:ext cx="1375705" cy="196215"/>
          </a:xfrm>
          <a:prstGeom prst="rect">
            <a:avLst/>
          </a:prstGeom>
        </p:spPr>
        <p:txBody>
          <a:bodyPr vert="horz" wrap="square" lIns="0" tIns="12691" rIns="0" bIns="0" rtlCol="0">
            <a:spAutoFit/>
          </a:bodyPr>
          <a:lstStyle/>
          <a:p>
            <a:pPr marL="48895">
              <a:lnSpc>
                <a:spcPct val="100000"/>
              </a:lnSpc>
              <a:spcBef>
                <a:spcPts val="100"/>
              </a:spcBef>
            </a:pPr>
            <a:r>
              <a:rPr sz="1200" b="1" spc="5" dirty="0">
                <a:solidFill>
                  <a:srgbClr val="0066CC"/>
                </a:solidFill>
                <a:latin typeface="微软雅黑" panose="020B0503020204020204" charset="-122"/>
                <a:ea typeface="微软雅黑" panose="020B0503020204020204" charset="-122"/>
                <a:cs typeface="微软雅黑" panose="020B0503020204020204" charset="-122"/>
              </a:rPr>
              <a:t>服务要</a:t>
            </a:r>
            <a:r>
              <a:rPr sz="1200" b="1" spc="-5" dirty="0">
                <a:solidFill>
                  <a:srgbClr val="0066CC"/>
                </a:solidFill>
                <a:latin typeface="微软雅黑" panose="020B0503020204020204" charset="-122"/>
                <a:ea typeface="微软雅黑" panose="020B0503020204020204" charset="-122"/>
                <a:cs typeface="微软雅黑" panose="020B0503020204020204" charset="-122"/>
              </a:rPr>
              <a:t>求高</a:t>
            </a:r>
            <a:endParaRPr sz="1200">
              <a:latin typeface="微软雅黑" panose="020B0503020204020204" charset="-122"/>
              <a:ea typeface="微软雅黑" panose="020B0503020204020204" charset="-122"/>
              <a:cs typeface="微软雅黑" panose="020B0503020204020204" charset="-122"/>
            </a:endParaRPr>
          </a:p>
        </p:txBody>
      </p:sp>
      <p:sp>
        <p:nvSpPr>
          <p:cNvPr id="68" name="object 68"/>
          <p:cNvSpPr txBox="1"/>
          <p:nvPr/>
        </p:nvSpPr>
        <p:spPr>
          <a:xfrm>
            <a:off x="7345046" y="1179534"/>
            <a:ext cx="1331286" cy="812165"/>
          </a:xfrm>
          <a:prstGeom prst="rect">
            <a:avLst/>
          </a:prstGeom>
          <a:solidFill>
            <a:srgbClr val="0066CC"/>
          </a:solidFill>
        </p:spPr>
        <p:txBody>
          <a:bodyPr vert="horz" wrap="square" lIns="0" tIns="5076" rIns="0" bIns="0" rtlCol="0">
            <a:spAutoFit/>
          </a:bodyPr>
          <a:lstStyle/>
          <a:p>
            <a:pPr>
              <a:lnSpc>
                <a:spcPct val="100000"/>
              </a:lnSpc>
              <a:spcBef>
                <a:spcPts val="40"/>
              </a:spcBef>
            </a:pPr>
            <a:endParaRPr sz="1650">
              <a:latin typeface="微软雅黑" panose="020B0503020204020204" charset="-122"/>
              <a:ea typeface="微软雅黑" panose="020B0503020204020204" charset="-122"/>
              <a:cs typeface="微软雅黑" panose="020B0503020204020204" charset="-122"/>
            </a:endParaRPr>
          </a:p>
          <a:p>
            <a:pPr marL="73025">
              <a:lnSpc>
                <a:spcPct val="100000"/>
              </a:lnSpc>
            </a:pPr>
            <a:r>
              <a:rPr sz="1200" b="1" spc="5" dirty="0">
                <a:solidFill>
                  <a:srgbClr val="FFFFFF"/>
                </a:solidFill>
                <a:latin typeface="微软雅黑" panose="020B0503020204020204" charset="-122"/>
                <a:ea typeface="微软雅黑" panose="020B0503020204020204" charset="-122"/>
                <a:cs typeface="微软雅黑" panose="020B0503020204020204" charset="-122"/>
              </a:rPr>
              <a:t>“我们</a:t>
            </a:r>
            <a:r>
              <a:rPr sz="1200" b="1" dirty="0">
                <a:solidFill>
                  <a:srgbClr val="FFFFFF"/>
                </a:solidFill>
                <a:latin typeface="微软雅黑" panose="020B0503020204020204" charset="-122"/>
                <a:ea typeface="微软雅黑" panose="020B0503020204020204" charset="-122"/>
                <a:cs typeface="微软雅黑" panose="020B0503020204020204" charset="-122"/>
              </a:rPr>
              <a:t>以</a:t>
            </a:r>
            <a:r>
              <a:rPr sz="1200" b="1" spc="-5" dirty="0">
                <a:solidFill>
                  <a:srgbClr val="FFFFFF"/>
                </a:solidFill>
                <a:latin typeface="微软雅黑" panose="020B0503020204020204" charset="-122"/>
                <a:ea typeface="微软雅黑" panose="020B0503020204020204" charset="-122"/>
                <a:cs typeface="微软雅黑" panose="020B0503020204020204" charset="-122"/>
              </a:rPr>
              <a:t>富</a:t>
            </a:r>
            <a:r>
              <a:rPr sz="1200" b="1" dirty="0">
                <a:solidFill>
                  <a:srgbClr val="FFFFFF"/>
                </a:solidFill>
                <a:latin typeface="微软雅黑" panose="020B0503020204020204" charset="-122"/>
                <a:ea typeface="微软雅黑" panose="020B0503020204020204" charset="-122"/>
                <a:cs typeface="微软雅黑" panose="020B0503020204020204" charset="-122"/>
              </a:rPr>
              <a:t>于竞 </a:t>
            </a:r>
            <a:r>
              <a:rPr sz="1200" b="1" spc="5" dirty="0">
                <a:solidFill>
                  <a:srgbClr val="FFFFFF"/>
                </a:solidFill>
                <a:latin typeface="微软雅黑" panose="020B0503020204020204" charset="-122"/>
                <a:ea typeface="微软雅黑" panose="020B0503020204020204" charset="-122"/>
                <a:cs typeface="微软雅黑" panose="020B0503020204020204" charset="-122"/>
              </a:rPr>
              <a:t>争力的</a:t>
            </a:r>
            <a:r>
              <a:rPr sz="1200" b="1" spc="-5" dirty="0">
                <a:solidFill>
                  <a:srgbClr val="FFFFFF"/>
                </a:solidFill>
                <a:latin typeface="微软雅黑" panose="020B0503020204020204" charset="-122"/>
                <a:ea typeface="微软雅黑" panose="020B0503020204020204" charset="-122"/>
                <a:cs typeface="微软雅黑" panose="020B0503020204020204" charset="-122"/>
              </a:rPr>
              <a:t>价格提供 标准</a:t>
            </a:r>
            <a:r>
              <a:rPr sz="1200" b="1" spc="-75" dirty="0">
                <a:solidFill>
                  <a:srgbClr val="FFFFFF"/>
                </a:solidFill>
                <a:latin typeface="微软雅黑" panose="020B0503020204020204" charset="-122"/>
                <a:ea typeface="微软雅黑" panose="020B0503020204020204" charset="-122"/>
                <a:cs typeface="微软雅黑" panose="020B0503020204020204" charset="-122"/>
              </a:rPr>
              <a:t> </a:t>
            </a:r>
            <a:r>
              <a:rPr sz="1200" b="1" spc="-5" dirty="0">
                <a:solidFill>
                  <a:srgbClr val="FFFFFF"/>
                </a:solidFill>
                <a:latin typeface="微软雅黑" panose="020B0503020204020204" charset="-122"/>
                <a:ea typeface="微软雅黑" panose="020B0503020204020204" charset="-122"/>
                <a:cs typeface="微软雅黑" panose="020B0503020204020204" charset="-122"/>
              </a:rPr>
              <a:t>质量的包装”</a:t>
            </a:r>
            <a:endParaRPr sz="1200">
              <a:latin typeface="微软雅黑" panose="020B0503020204020204" charset="-122"/>
              <a:ea typeface="微软雅黑" panose="020B0503020204020204" charset="-122"/>
              <a:cs typeface="微软雅黑" panose="020B0503020204020204" charset="-122"/>
            </a:endParaRPr>
          </a:p>
        </p:txBody>
      </p:sp>
      <p:sp>
        <p:nvSpPr>
          <p:cNvPr id="69" name="object 69"/>
          <p:cNvSpPr txBox="1"/>
          <p:nvPr/>
        </p:nvSpPr>
        <p:spPr>
          <a:xfrm>
            <a:off x="7345046" y="2429852"/>
            <a:ext cx="1324941" cy="986155"/>
          </a:xfrm>
          <a:prstGeom prst="rect">
            <a:avLst/>
          </a:prstGeom>
          <a:solidFill>
            <a:srgbClr val="0066CC"/>
          </a:solidFill>
        </p:spPr>
        <p:txBody>
          <a:bodyPr vert="horz" wrap="square" lIns="0" tIns="63455" rIns="0" bIns="0" rtlCol="0">
            <a:spAutoFit/>
          </a:bodyPr>
          <a:lstStyle/>
          <a:p>
            <a:pPr marL="73025" marR="173355" algn="just">
              <a:lnSpc>
                <a:spcPct val="100000"/>
              </a:lnSpc>
              <a:spcBef>
                <a:spcPts val="500"/>
              </a:spcBef>
            </a:pPr>
            <a:r>
              <a:rPr sz="1200" b="1" spc="5" dirty="0">
                <a:solidFill>
                  <a:srgbClr val="FFFFFF"/>
                </a:solidFill>
                <a:latin typeface="微软雅黑" panose="020B0503020204020204" charset="-122"/>
                <a:ea typeface="微软雅黑" panose="020B0503020204020204" charset="-122"/>
                <a:cs typeface="微软雅黑" panose="020B0503020204020204" charset="-122"/>
              </a:rPr>
              <a:t>“我们</a:t>
            </a:r>
            <a:r>
              <a:rPr sz="1200" b="1" spc="-5" dirty="0">
                <a:solidFill>
                  <a:srgbClr val="FFFFFF"/>
                </a:solidFill>
                <a:latin typeface="微软雅黑" panose="020B0503020204020204" charset="-122"/>
                <a:ea typeface="微软雅黑" panose="020B0503020204020204" charset="-122"/>
                <a:cs typeface="微软雅黑" panose="020B0503020204020204" charset="-122"/>
              </a:rPr>
              <a:t>提供最优 </a:t>
            </a:r>
            <a:r>
              <a:rPr sz="1200" b="1" spc="5" dirty="0">
                <a:solidFill>
                  <a:srgbClr val="FFFFFF"/>
                </a:solidFill>
                <a:latin typeface="微软雅黑" panose="020B0503020204020204" charset="-122"/>
                <a:ea typeface="微软雅黑" panose="020B0503020204020204" charset="-122"/>
                <a:cs typeface="微软雅黑" panose="020B0503020204020204" charset="-122"/>
              </a:rPr>
              <a:t>质的包</a:t>
            </a:r>
            <a:r>
              <a:rPr sz="1200" b="1" dirty="0">
                <a:solidFill>
                  <a:srgbClr val="FFFFFF"/>
                </a:solidFill>
                <a:latin typeface="微软雅黑" panose="020B0503020204020204" charset="-122"/>
                <a:ea typeface="微软雅黑" panose="020B0503020204020204" charset="-122"/>
                <a:cs typeface="微软雅黑" panose="020B0503020204020204" charset="-122"/>
              </a:rPr>
              <a:t>装</a:t>
            </a:r>
            <a:r>
              <a:rPr sz="1200" b="1" spc="-5" dirty="0">
                <a:solidFill>
                  <a:srgbClr val="FFFFFF"/>
                </a:solidFill>
                <a:latin typeface="微软雅黑" panose="020B0503020204020204" charset="-122"/>
                <a:ea typeface="微软雅黑" panose="020B0503020204020204" charset="-122"/>
                <a:cs typeface="微软雅黑" panose="020B0503020204020204" charset="-122"/>
              </a:rPr>
              <a:t>品</a:t>
            </a:r>
            <a:r>
              <a:rPr sz="1200" b="1" dirty="0">
                <a:solidFill>
                  <a:srgbClr val="FFFFFF"/>
                </a:solidFill>
                <a:latin typeface="微软雅黑" panose="020B0503020204020204" charset="-122"/>
                <a:ea typeface="微软雅黑" panose="020B0503020204020204" charset="-122"/>
                <a:cs typeface="微软雅黑" panose="020B0503020204020204" charset="-122"/>
              </a:rPr>
              <a:t>和最 </a:t>
            </a:r>
            <a:r>
              <a:rPr sz="1200" b="1" spc="5" dirty="0">
                <a:solidFill>
                  <a:srgbClr val="FFFFFF"/>
                </a:solidFill>
                <a:latin typeface="微软雅黑" panose="020B0503020204020204" charset="-122"/>
                <a:ea typeface="微软雅黑" panose="020B0503020204020204" charset="-122"/>
                <a:cs typeface="微软雅黑" panose="020B0503020204020204" charset="-122"/>
              </a:rPr>
              <a:t>出色的</a:t>
            </a:r>
            <a:r>
              <a:rPr sz="1200" b="1" spc="-5" dirty="0">
                <a:solidFill>
                  <a:srgbClr val="FFFFFF"/>
                </a:solidFill>
                <a:latin typeface="微软雅黑" panose="020B0503020204020204" charset="-122"/>
                <a:ea typeface="微软雅黑" panose="020B0503020204020204" charset="-122"/>
                <a:cs typeface="微软雅黑" panose="020B0503020204020204" charset="-122"/>
              </a:rPr>
              <a:t>定制化方 </a:t>
            </a:r>
            <a:r>
              <a:rPr sz="1200" b="1" spc="5" dirty="0">
                <a:solidFill>
                  <a:srgbClr val="FFFFFF"/>
                </a:solidFill>
                <a:latin typeface="微软雅黑" panose="020B0503020204020204" charset="-122"/>
                <a:ea typeface="微软雅黑" panose="020B0503020204020204" charset="-122"/>
                <a:cs typeface="微软雅黑" panose="020B0503020204020204" charset="-122"/>
              </a:rPr>
              <a:t>案，满</a:t>
            </a:r>
            <a:r>
              <a:rPr sz="1200" b="1" spc="-5" dirty="0">
                <a:solidFill>
                  <a:srgbClr val="FFFFFF"/>
                </a:solidFill>
                <a:latin typeface="微软雅黑" panose="020B0503020204020204" charset="-122"/>
                <a:ea typeface="微软雅黑" panose="020B0503020204020204" charset="-122"/>
                <a:cs typeface="微软雅黑" panose="020B0503020204020204" charset="-122"/>
              </a:rPr>
              <a:t>足最挑剔 </a:t>
            </a:r>
            <a:r>
              <a:rPr sz="1200" b="1" spc="5" dirty="0">
                <a:solidFill>
                  <a:srgbClr val="FFFFFF"/>
                </a:solidFill>
                <a:latin typeface="微软雅黑" panose="020B0503020204020204" charset="-122"/>
                <a:ea typeface="微软雅黑" panose="020B0503020204020204" charset="-122"/>
                <a:cs typeface="微软雅黑" panose="020B0503020204020204" charset="-122"/>
              </a:rPr>
              <a:t>的性能</a:t>
            </a:r>
            <a:r>
              <a:rPr sz="1200" b="1" spc="-5" dirty="0">
                <a:solidFill>
                  <a:srgbClr val="FFFFFF"/>
                </a:solidFill>
                <a:latin typeface="微软雅黑" panose="020B0503020204020204" charset="-122"/>
                <a:ea typeface="微软雅黑" panose="020B0503020204020204" charset="-122"/>
                <a:cs typeface="微软雅黑" panose="020B0503020204020204" charset="-122"/>
              </a:rPr>
              <a:t>要求”</a:t>
            </a:r>
            <a:endParaRPr sz="1200">
              <a:latin typeface="微软雅黑" panose="020B0503020204020204" charset="-122"/>
              <a:ea typeface="微软雅黑" panose="020B0503020204020204" charset="-122"/>
              <a:cs typeface="微软雅黑" panose="020B0503020204020204" charset="-122"/>
            </a:endParaRPr>
          </a:p>
        </p:txBody>
      </p:sp>
      <p:sp>
        <p:nvSpPr>
          <p:cNvPr id="70" name="object 70"/>
          <p:cNvSpPr txBox="1"/>
          <p:nvPr/>
        </p:nvSpPr>
        <p:spPr>
          <a:xfrm>
            <a:off x="7345046" y="3681693"/>
            <a:ext cx="1328114" cy="892810"/>
          </a:xfrm>
          <a:prstGeom prst="rect">
            <a:avLst/>
          </a:prstGeom>
          <a:solidFill>
            <a:srgbClr val="0066CC"/>
          </a:solidFill>
        </p:spPr>
        <p:txBody>
          <a:bodyPr vert="horz" wrap="square" lIns="0" tIns="154830" rIns="0" bIns="0" rtlCol="0">
            <a:spAutoFit/>
          </a:bodyPr>
          <a:lstStyle/>
          <a:p>
            <a:pPr marL="73025" marR="177165" algn="just">
              <a:lnSpc>
                <a:spcPct val="100000"/>
              </a:lnSpc>
              <a:spcBef>
                <a:spcPts val="1220"/>
              </a:spcBef>
            </a:pPr>
            <a:r>
              <a:rPr sz="1200" b="1" spc="5" dirty="0">
                <a:solidFill>
                  <a:srgbClr val="FFFFFF"/>
                </a:solidFill>
                <a:latin typeface="微软雅黑" panose="020B0503020204020204" charset="-122"/>
                <a:ea typeface="微软雅黑" panose="020B0503020204020204" charset="-122"/>
                <a:cs typeface="微软雅黑" panose="020B0503020204020204" charset="-122"/>
              </a:rPr>
              <a:t>“我们</a:t>
            </a:r>
            <a:r>
              <a:rPr sz="1200" b="1" spc="-5" dirty="0">
                <a:solidFill>
                  <a:srgbClr val="FFFFFF"/>
                </a:solidFill>
                <a:latin typeface="微软雅黑" panose="020B0503020204020204" charset="-122"/>
                <a:ea typeface="微软雅黑" panose="020B0503020204020204" charset="-122"/>
                <a:cs typeface="微软雅黑" panose="020B0503020204020204" charset="-122"/>
              </a:rPr>
              <a:t>提供的优 </a:t>
            </a:r>
            <a:r>
              <a:rPr sz="1200" b="1" spc="5" dirty="0">
                <a:solidFill>
                  <a:srgbClr val="FFFFFF"/>
                </a:solidFill>
                <a:latin typeface="微软雅黑" panose="020B0503020204020204" charset="-122"/>
                <a:ea typeface="微软雅黑" panose="020B0503020204020204" charset="-122"/>
                <a:cs typeface="微软雅黑" panose="020B0503020204020204" charset="-122"/>
              </a:rPr>
              <a:t>质的本</a:t>
            </a:r>
            <a:r>
              <a:rPr sz="1200" b="1" spc="-5" dirty="0">
                <a:solidFill>
                  <a:srgbClr val="FFFFFF"/>
                </a:solidFill>
                <a:latin typeface="微软雅黑" panose="020B0503020204020204" charset="-122"/>
                <a:ea typeface="微软雅黑" panose="020B0503020204020204" charset="-122"/>
                <a:cs typeface="微软雅黑" panose="020B0503020204020204" charset="-122"/>
              </a:rPr>
              <a:t>地服务， </a:t>
            </a:r>
            <a:r>
              <a:rPr sz="1200" b="1" spc="5" dirty="0">
                <a:solidFill>
                  <a:srgbClr val="FFFFFF"/>
                </a:solidFill>
                <a:latin typeface="微软雅黑" panose="020B0503020204020204" charset="-122"/>
                <a:ea typeface="微软雅黑" panose="020B0503020204020204" charset="-122"/>
                <a:cs typeface="微软雅黑" panose="020B0503020204020204" charset="-122"/>
              </a:rPr>
              <a:t>正契合</a:t>
            </a:r>
            <a:r>
              <a:rPr sz="1200" b="1" spc="-5" dirty="0">
                <a:solidFill>
                  <a:srgbClr val="FFFFFF"/>
                </a:solidFill>
                <a:latin typeface="微软雅黑" panose="020B0503020204020204" charset="-122"/>
                <a:ea typeface="微软雅黑" panose="020B0503020204020204" charset="-122"/>
                <a:cs typeface="微软雅黑" panose="020B0503020204020204" charset="-122"/>
              </a:rPr>
              <a:t>你们在服 </a:t>
            </a:r>
            <a:r>
              <a:rPr sz="1200" b="1" spc="5" dirty="0">
                <a:solidFill>
                  <a:srgbClr val="FFFFFF"/>
                </a:solidFill>
                <a:latin typeface="微软雅黑" panose="020B0503020204020204" charset="-122"/>
                <a:ea typeface="微软雅黑" panose="020B0503020204020204" charset="-122"/>
                <a:cs typeface="微软雅黑" panose="020B0503020204020204" charset="-122"/>
              </a:rPr>
              <a:t>务方面</a:t>
            </a:r>
            <a:r>
              <a:rPr sz="1200" b="1" spc="-5" dirty="0">
                <a:solidFill>
                  <a:srgbClr val="FFFFFF"/>
                </a:solidFill>
                <a:latin typeface="微软雅黑" panose="020B0503020204020204" charset="-122"/>
                <a:ea typeface="微软雅黑" panose="020B0503020204020204" charset="-122"/>
                <a:cs typeface="微软雅黑" panose="020B0503020204020204" charset="-122"/>
              </a:rPr>
              <a:t>的要求”</a:t>
            </a:r>
            <a:endParaRPr sz="1200">
              <a:latin typeface="微软雅黑" panose="020B0503020204020204" charset="-122"/>
              <a:ea typeface="微软雅黑" panose="020B0503020204020204" charset="-122"/>
              <a:cs typeface="微软雅黑" panose="020B0503020204020204" charset="-122"/>
            </a:endParaRPr>
          </a:p>
        </p:txBody>
      </p:sp>
      <p:sp>
        <p:nvSpPr>
          <p:cNvPr id="71" name="object 71"/>
          <p:cNvSpPr txBox="1"/>
          <p:nvPr/>
        </p:nvSpPr>
        <p:spPr>
          <a:xfrm>
            <a:off x="7345046" y="4933534"/>
            <a:ext cx="1307174" cy="986155"/>
          </a:xfrm>
          <a:prstGeom prst="rect">
            <a:avLst/>
          </a:prstGeom>
          <a:solidFill>
            <a:srgbClr val="0066CC"/>
          </a:solidFill>
        </p:spPr>
        <p:txBody>
          <a:bodyPr vert="horz" wrap="square" lIns="0" tIns="63455" rIns="0" bIns="0" rtlCol="0">
            <a:spAutoFit/>
          </a:bodyPr>
          <a:lstStyle/>
          <a:p>
            <a:pPr marL="73025" marR="155575" algn="just">
              <a:lnSpc>
                <a:spcPct val="100000"/>
              </a:lnSpc>
              <a:spcBef>
                <a:spcPts val="500"/>
              </a:spcBef>
            </a:pPr>
            <a:r>
              <a:rPr sz="1200" b="1" spc="5" dirty="0">
                <a:solidFill>
                  <a:srgbClr val="FFFFFF"/>
                </a:solidFill>
                <a:latin typeface="微软雅黑" panose="020B0503020204020204" charset="-122"/>
                <a:ea typeface="微软雅黑" panose="020B0503020204020204" charset="-122"/>
                <a:cs typeface="微软雅黑" panose="020B0503020204020204" charset="-122"/>
              </a:rPr>
              <a:t>“我们</a:t>
            </a:r>
            <a:r>
              <a:rPr sz="1200" b="1" spc="-5" dirty="0">
                <a:solidFill>
                  <a:srgbClr val="FFFFFF"/>
                </a:solidFill>
                <a:latin typeface="微软雅黑" panose="020B0503020204020204" charset="-122"/>
                <a:ea typeface="微软雅黑" panose="020B0503020204020204" charset="-122"/>
                <a:cs typeface="微软雅黑" panose="020B0503020204020204" charset="-122"/>
              </a:rPr>
              <a:t>把技术专 </a:t>
            </a:r>
            <a:r>
              <a:rPr sz="1200" b="1" spc="5" dirty="0">
                <a:solidFill>
                  <a:srgbClr val="FFFFFF"/>
                </a:solidFill>
                <a:latin typeface="微软雅黑" panose="020B0503020204020204" charset="-122"/>
                <a:ea typeface="微软雅黑" panose="020B0503020204020204" charset="-122"/>
                <a:cs typeface="微软雅黑" panose="020B0503020204020204" charset="-122"/>
              </a:rPr>
              <a:t>长与独</a:t>
            </a:r>
            <a:r>
              <a:rPr sz="1200" b="1" spc="-5" dirty="0">
                <a:solidFill>
                  <a:srgbClr val="FFFFFF"/>
                </a:solidFill>
                <a:latin typeface="微软雅黑" panose="020B0503020204020204" charset="-122"/>
                <a:ea typeface="微软雅黑" panose="020B0503020204020204" charset="-122"/>
                <a:cs typeface="微软雅黑" panose="020B0503020204020204" charset="-122"/>
              </a:rPr>
              <a:t>特的产品 </a:t>
            </a:r>
            <a:r>
              <a:rPr sz="1200" b="1" spc="5" dirty="0">
                <a:solidFill>
                  <a:srgbClr val="FFFFFF"/>
                </a:solidFill>
                <a:latin typeface="微软雅黑" panose="020B0503020204020204" charset="-122"/>
                <a:ea typeface="微软雅黑" panose="020B0503020204020204" charset="-122"/>
                <a:cs typeface="微软雅黑" panose="020B0503020204020204" charset="-122"/>
              </a:rPr>
              <a:t>系列相</a:t>
            </a:r>
            <a:r>
              <a:rPr sz="1200" b="1" spc="-5" dirty="0">
                <a:solidFill>
                  <a:srgbClr val="FFFFFF"/>
                </a:solidFill>
                <a:latin typeface="微软雅黑" panose="020B0503020204020204" charset="-122"/>
                <a:ea typeface="微软雅黑" panose="020B0503020204020204" charset="-122"/>
                <a:cs typeface="微软雅黑" panose="020B0503020204020204" charset="-122"/>
              </a:rPr>
              <a:t>结合，是 </a:t>
            </a:r>
            <a:r>
              <a:rPr sz="1200" b="1" spc="5" dirty="0">
                <a:solidFill>
                  <a:srgbClr val="FFFFFF"/>
                </a:solidFill>
                <a:latin typeface="微软雅黑" panose="020B0503020204020204" charset="-122"/>
                <a:ea typeface="微软雅黑" panose="020B0503020204020204" charset="-122"/>
                <a:cs typeface="微软雅黑" panose="020B0503020204020204" charset="-122"/>
              </a:rPr>
              <a:t>理想的</a:t>
            </a:r>
            <a:r>
              <a:rPr sz="1200" b="1" spc="-5" dirty="0">
                <a:solidFill>
                  <a:srgbClr val="FFFFFF"/>
                </a:solidFill>
                <a:latin typeface="微软雅黑" panose="020B0503020204020204" charset="-122"/>
                <a:ea typeface="微软雅黑" panose="020B0503020204020204" charset="-122"/>
                <a:cs typeface="微软雅黑" panose="020B0503020204020204" charset="-122"/>
              </a:rPr>
              <a:t>降低总持 </a:t>
            </a:r>
            <a:r>
              <a:rPr sz="1200" b="1" spc="5" dirty="0">
                <a:solidFill>
                  <a:srgbClr val="FFFFFF"/>
                </a:solidFill>
                <a:latin typeface="微软雅黑" panose="020B0503020204020204" charset="-122"/>
                <a:ea typeface="微软雅黑" panose="020B0503020204020204" charset="-122"/>
                <a:cs typeface="微软雅黑" panose="020B0503020204020204" charset="-122"/>
              </a:rPr>
              <a:t>有成本</a:t>
            </a:r>
            <a:r>
              <a:rPr sz="1200" b="1" spc="-5" dirty="0">
                <a:solidFill>
                  <a:srgbClr val="FFFFFF"/>
                </a:solidFill>
                <a:latin typeface="微软雅黑" panose="020B0503020204020204" charset="-122"/>
                <a:ea typeface="微软雅黑" panose="020B0503020204020204" charset="-122"/>
                <a:cs typeface="微软雅黑" panose="020B0503020204020204" charset="-122"/>
              </a:rPr>
              <a:t>的伙伴”</a:t>
            </a:r>
            <a:endParaRPr sz="1200">
              <a:latin typeface="微软雅黑" panose="020B0503020204020204" charset="-122"/>
              <a:ea typeface="微软雅黑" panose="020B0503020204020204" charset="-122"/>
              <a:cs typeface="微软雅黑" panose="020B0503020204020204" charset="-122"/>
            </a:endParaRPr>
          </a:p>
        </p:txBody>
      </p:sp>
      <p:sp>
        <p:nvSpPr>
          <p:cNvPr id="72" name="object 72"/>
          <p:cNvSpPr/>
          <p:nvPr/>
        </p:nvSpPr>
        <p:spPr>
          <a:xfrm>
            <a:off x="1368343" y="2336193"/>
            <a:ext cx="5596733" cy="0"/>
          </a:xfrm>
          <a:custGeom>
            <a:avLst/>
            <a:gdLst/>
            <a:ahLst/>
            <a:cxnLst/>
            <a:rect l="l" t="t" r="r" b="b"/>
            <a:pathLst>
              <a:path w="5600700">
                <a:moveTo>
                  <a:pt x="0" y="0"/>
                </a:moveTo>
                <a:lnTo>
                  <a:pt x="5600700" y="0"/>
                </a:lnTo>
              </a:path>
            </a:pathLst>
          </a:custGeom>
          <a:ln w="19050">
            <a:solidFill>
              <a:srgbClr val="808080"/>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73" name="object 73"/>
          <p:cNvSpPr txBox="1"/>
          <p:nvPr/>
        </p:nvSpPr>
        <p:spPr>
          <a:xfrm>
            <a:off x="106401" y="6412696"/>
            <a:ext cx="1361110"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5" dirty="0">
                <a:latin typeface="微软雅黑" panose="020B0503020204020204" charset="-122"/>
                <a:ea typeface="微软雅黑" panose="020B0503020204020204" charset="-122"/>
                <a:cs typeface="微软雅黑" panose="020B0503020204020204" charset="-122"/>
              </a:rPr>
              <a:t>:</a:t>
            </a:r>
            <a:r>
              <a:rPr sz="1000" spc="-40"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匿名客户举例</a:t>
            </a:r>
            <a:endParaRPr sz="1000">
              <a:latin typeface="微软雅黑" panose="020B0503020204020204" charset="-122"/>
              <a:ea typeface="微软雅黑" panose="020B0503020204020204" charset="-122"/>
              <a:cs typeface="微软雅黑" panose="020B0503020204020204" charset="-122"/>
            </a:endParaRPr>
          </a:p>
        </p:txBody>
      </p:sp>
      <p:sp>
        <p:nvSpPr>
          <p:cNvPr id="74" name="object 74"/>
          <p:cNvSpPr txBox="1"/>
          <p:nvPr/>
        </p:nvSpPr>
        <p:spPr>
          <a:xfrm>
            <a:off x="7460915" y="263117"/>
            <a:ext cx="1243719" cy="196215"/>
          </a:xfrm>
          <a:prstGeom prst="rect">
            <a:avLst/>
          </a:prstGeom>
        </p:spPr>
        <p:txBody>
          <a:bodyPr vert="horz" wrap="square" lIns="0" tIns="12691" rIns="0" bIns="0" rtlCol="0">
            <a:spAutoFit/>
          </a:bodyPr>
          <a:lstStyle/>
          <a:p>
            <a:pPr marL="12700">
              <a:lnSpc>
                <a:spcPct val="100000"/>
              </a:lnSpc>
              <a:spcBef>
                <a:spcPts val="100"/>
              </a:spcBef>
            </a:pPr>
            <a:r>
              <a:rPr sz="1200" dirty="0">
                <a:solidFill>
                  <a:srgbClr val="808080"/>
                </a:solidFill>
                <a:latin typeface="微软雅黑" panose="020B0503020204020204" charset="-122"/>
                <a:ea typeface="微软雅黑" panose="020B0503020204020204" charset="-122"/>
                <a:cs typeface="微软雅黑" panose="020B0503020204020204" charset="-122"/>
              </a:rPr>
              <a:t>中国工业包装案例</a:t>
            </a:r>
            <a:endParaRPr sz="1200" dirty="0">
              <a:solidFill>
                <a:srgbClr val="808080"/>
              </a:solidFill>
              <a:latin typeface="微软雅黑" panose="020B0503020204020204" charset="-122"/>
              <a:ea typeface="微软雅黑" panose="020B0503020204020204" charset="-122"/>
              <a:cs typeface="微软雅黑" panose="020B0503020204020204" charset="-122"/>
            </a:endParaRPr>
          </a:p>
        </p:txBody>
      </p:sp>
      <p:sp>
        <p:nvSpPr>
          <p:cNvPr id="75" name="object 75"/>
          <p:cNvSpPr/>
          <p:nvPr/>
        </p:nvSpPr>
        <p:spPr>
          <a:xfrm>
            <a:off x="7447081" y="287103"/>
            <a:ext cx="0" cy="209402"/>
          </a:xfrm>
          <a:custGeom>
            <a:avLst/>
            <a:gdLst/>
            <a:ahLst/>
            <a:cxnLst/>
            <a:rect l="l" t="t" r="r" b="b"/>
            <a:pathLst>
              <a:path h="209550">
                <a:moveTo>
                  <a:pt x="0" y="0"/>
                </a:moveTo>
                <a:lnTo>
                  <a:pt x="0" y="209550"/>
                </a:lnTo>
              </a:path>
            </a:pathLst>
          </a:custGeom>
          <a:ln w="9525">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6" name="object 76"/>
          <p:cNvSpPr/>
          <p:nvPr/>
        </p:nvSpPr>
        <p:spPr>
          <a:xfrm>
            <a:off x="7447843" y="496504"/>
            <a:ext cx="1288137" cy="0"/>
          </a:xfrm>
          <a:custGeom>
            <a:avLst/>
            <a:gdLst/>
            <a:ahLst/>
            <a:cxnLst/>
            <a:rect l="l" t="t" r="r" b="b"/>
            <a:pathLst>
              <a:path w="1289050">
                <a:moveTo>
                  <a:pt x="0" y="0"/>
                </a:moveTo>
                <a:lnTo>
                  <a:pt x="1289050" y="0"/>
                </a:lnTo>
              </a:path>
            </a:pathLst>
          </a:custGeom>
          <a:ln w="25400">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7" name="object 77"/>
          <p:cNvSpPr/>
          <p:nvPr/>
        </p:nvSpPr>
        <p:spPr>
          <a:xfrm>
            <a:off x="1368343" y="3583465"/>
            <a:ext cx="5596733" cy="0"/>
          </a:xfrm>
          <a:custGeom>
            <a:avLst/>
            <a:gdLst/>
            <a:ahLst/>
            <a:cxnLst/>
            <a:rect l="l" t="t" r="r" b="b"/>
            <a:pathLst>
              <a:path w="5600700">
                <a:moveTo>
                  <a:pt x="0" y="0"/>
                </a:moveTo>
                <a:lnTo>
                  <a:pt x="5600700" y="0"/>
                </a:lnTo>
              </a:path>
            </a:pathLst>
          </a:custGeom>
          <a:ln w="19050">
            <a:solidFill>
              <a:srgbClr val="808080"/>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78" name="object 78"/>
          <p:cNvSpPr/>
          <p:nvPr/>
        </p:nvSpPr>
        <p:spPr>
          <a:xfrm>
            <a:off x="1368343" y="4856626"/>
            <a:ext cx="5596733" cy="0"/>
          </a:xfrm>
          <a:custGeom>
            <a:avLst/>
            <a:gdLst/>
            <a:ahLst/>
            <a:cxnLst/>
            <a:rect l="l" t="t" r="r" b="b"/>
            <a:pathLst>
              <a:path w="5600700">
                <a:moveTo>
                  <a:pt x="0" y="0"/>
                </a:moveTo>
                <a:lnTo>
                  <a:pt x="5600700" y="0"/>
                </a:lnTo>
              </a:path>
            </a:pathLst>
          </a:custGeom>
          <a:ln w="19050">
            <a:solidFill>
              <a:srgbClr val="808080"/>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401" y="203088"/>
            <a:ext cx="5571986"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根据基于“</a:t>
            </a:r>
            <a:r>
              <a:rPr spc="-10" dirty="0">
                <a:ea typeface="微软雅黑" panose="020B0503020204020204" charset="-122"/>
              </a:rPr>
              <a:t>需求</a:t>
            </a:r>
            <a:r>
              <a:rPr spc="-5" dirty="0">
                <a:ea typeface="微软雅黑" panose="020B0503020204020204" charset="-122"/>
              </a:rPr>
              <a:t>”</a:t>
            </a:r>
            <a:r>
              <a:rPr spc="-10" dirty="0">
                <a:ea typeface="微软雅黑" panose="020B0503020204020204" charset="-122"/>
              </a:rPr>
              <a:t>和“</a:t>
            </a:r>
            <a:r>
              <a:rPr spc="-5" dirty="0">
                <a:ea typeface="微软雅黑" panose="020B0503020204020204" charset="-122"/>
              </a:rPr>
              <a:t>规</a:t>
            </a:r>
            <a:r>
              <a:rPr spc="-10" dirty="0">
                <a:ea typeface="微软雅黑" panose="020B0503020204020204" charset="-122"/>
              </a:rPr>
              <a:t>模”</a:t>
            </a:r>
            <a:r>
              <a:rPr spc="-5" dirty="0">
                <a:ea typeface="微软雅黑" panose="020B0503020204020204" charset="-122"/>
              </a:rPr>
              <a:t>的</a:t>
            </a:r>
            <a:r>
              <a:rPr spc="-10" dirty="0">
                <a:ea typeface="微软雅黑" panose="020B0503020204020204" charset="-122"/>
              </a:rPr>
              <a:t>分类</a:t>
            </a:r>
            <a:r>
              <a:rPr spc="-5" dirty="0">
                <a:ea typeface="微软雅黑" panose="020B0503020204020204" charset="-122"/>
              </a:rPr>
              <a:t>对</a:t>
            </a:r>
            <a:r>
              <a:rPr spc="-10" dirty="0">
                <a:ea typeface="微软雅黑" panose="020B0503020204020204" charset="-122"/>
              </a:rPr>
              <a:t>客户</a:t>
            </a:r>
            <a:r>
              <a:rPr spc="-5" dirty="0">
                <a:ea typeface="微软雅黑" panose="020B0503020204020204" charset="-122"/>
              </a:rPr>
              <a:t>进</a:t>
            </a:r>
            <a:r>
              <a:rPr spc="-10" dirty="0">
                <a:ea typeface="微软雅黑" panose="020B0503020204020204" charset="-122"/>
              </a:rPr>
              <a:t>行细分</a:t>
            </a:r>
            <a:endParaRPr spc="-10" dirty="0">
              <a:ea typeface="微软雅黑" panose="020B0503020204020204" charset="-122"/>
            </a:endParaRPr>
          </a:p>
        </p:txBody>
      </p:sp>
      <p:sp>
        <p:nvSpPr>
          <p:cNvPr id="4" name="object 4"/>
          <p:cNvSpPr txBox="1"/>
          <p:nvPr/>
        </p:nvSpPr>
        <p:spPr>
          <a:xfrm>
            <a:off x="7808395" y="263117"/>
            <a:ext cx="939134" cy="196215"/>
          </a:xfrm>
          <a:prstGeom prst="rect">
            <a:avLst/>
          </a:prstGeom>
        </p:spPr>
        <p:txBody>
          <a:bodyPr vert="horz" wrap="square" lIns="0" tIns="12691" rIns="0" bIns="0" rtlCol="0">
            <a:spAutoFit/>
          </a:bodyPr>
          <a:lstStyle/>
          <a:p>
            <a:pPr marL="12700">
              <a:lnSpc>
                <a:spcPct val="100000"/>
              </a:lnSpc>
              <a:spcBef>
                <a:spcPts val="100"/>
              </a:spcBef>
            </a:pPr>
            <a:r>
              <a:rPr sz="1200" dirty="0">
                <a:solidFill>
                  <a:srgbClr val="808080"/>
                </a:solidFill>
                <a:latin typeface="微软雅黑" panose="020B0503020204020204" charset="-122"/>
                <a:ea typeface="微软雅黑" panose="020B0503020204020204" charset="-122"/>
                <a:cs typeface="微软雅黑" panose="020B0503020204020204" charset="-122"/>
              </a:rPr>
              <a:t>工业包装举例</a:t>
            </a:r>
            <a:endParaRPr sz="1200" dirty="0">
              <a:solidFill>
                <a:srgbClr val="808080"/>
              </a:solidFill>
              <a:latin typeface="微软雅黑" panose="020B0503020204020204" charset="-122"/>
              <a:ea typeface="微软雅黑" panose="020B0503020204020204" charset="-122"/>
              <a:cs typeface="微软雅黑" panose="020B0503020204020204" charset="-122"/>
            </a:endParaRPr>
          </a:p>
        </p:txBody>
      </p:sp>
      <p:sp>
        <p:nvSpPr>
          <p:cNvPr id="5" name="object 5"/>
          <p:cNvSpPr/>
          <p:nvPr/>
        </p:nvSpPr>
        <p:spPr>
          <a:xfrm>
            <a:off x="7794307" y="287103"/>
            <a:ext cx="0" cy="209402"/>
          </a:xfrm>
          <a:custGeom>
            <a:avLst/>
            <a:gdLst/>
            <a:ahLst/>
            <a:cxnLst/>
            <a:rect l="l" t="t" r="r" b="b"/>
            <a:pathLst>
              <a:path h="209550">
                <a:moveTo>
                  <a:pt x="0" y="0"/>
                </a:moveTo>
                <a:lnTo>
                  <a:pt x="0" y="209550"/>
                </a:lnTo>
              </a:path>
            </a:pathLst>
          </a:custGeom>
          <a:ln w="9525">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7795069" y="424927"/>
            <a:ext cx="941038" cy="0"/>
          </a:xfrm>
          <a:custGeom>
            <a:avLst/>
            <a:gdLst/>
            <a:ahLst/>
            <a:cxnLst/>
            <a:rect l="l" t="t" r="r" b="b"/>
            <a:pathLst>
              <a:path w="941704">
                <a:moveTo>
                  <a:pt x="0" y="0"/>
                </a:moveTo>
                <a:lnTo>
                  <a:pt x="941324" y="0"/>
                </a:lnTo>
              </a:path>
            </a:pathLst>
          </a:custGeom>
          <a:ln w="25400">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txBox="1"/>
          <p:nvPr/>
        </p:nvSpPr>
        <p:spPr>
          <a:xfrm>
            <a:off x="106401" y="6412696"/>
            <a:ext cx="1416316"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资料来源：匿名客户举例</a:t>
            </a:r>
            <a:endParaRPr sz="1000" spc="-10" dirty="0">
              <a:latin typeface="微软雅黑" panose="020B0503020204020204" charset="-122"/>
              <a:ea typeface="微软雅黑" panose="020B0503020204020204" charset="-122"/>
              <a:cs typeface="微软雅黑" panose="020B0503020204020204" charset="-122"/>
            </a:endParaRPr>
          </a:p>
        </p:txBody>
      </p:sp>
      <p:sp>
        <p:nvSpPr>
          <p:cNvPr id="8" name="object 8"/>
          <p:cNvSpPr/>
          <p:nvPr/>
        </p:nvSpPr>
        <p:spPr>
          <a:xfrm>
            <a:off x="187319" y="4112680"/>
            <a:ext cx="659932" cy="1332556"/>
          </a:xfrm>
          <a:custGeom>
            <a:avLst/>
            <a:gdLst/>
            <a:ahLst/>
            <a:cxnLst/>
            <a:rect l="l" t="t" r="r" b="b"/>
            <a:pathLst>
              <a:path w="660400" h="1333500">
                <a:moveTo>
                  <a:pt x="0" y="1333499"/>
                </a:moveTo>
                <a:lnTo>
                  <a:pt x="659892" y="1333499"/>
                </a:lnTo>
                <a:lnTo>
                  <a:pt x="659892" y="0"/>
                </a:lnTo>
                <a:lnTo>
                  <a:pt x="0" y="0"/>
                </a:lnTo>
                <a:lnTo>
                  <a:pt x="0" y="1333499"/>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187319" y="4112680"/>
            <a:ext cx="659932" cy="1332556"/>
          </a:xfrm>
          <a:custGeom>
            <a:avLst/>
            <a:gdLst/>
            <a:ahLst/>
            <a:cxnLst/>
            <a:rect l="l" t="t" r="r" b="b"/>
            <a:pathLst>
              <a:path w="660400" h="1333500">
                <a:moveTo>
                  <a:pt x="0" y="1333499"/>
                </a:moveTo>
                <a:lnTo>
                  <a:pt x="659892" y="1333499"/>
                </a:lnTo>
                <a:lnTo>
                  <a:pt x="659892" y="0"/>
                </a:lnTo>
                <a:lnTo>
                  <a:pt x="0" y="0"/>
                </a:lnTo>
                <a:lnTo>
                  <a:pt x="0" y="1333499"/>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187319" y="2789262"/>
            <a:ext cx="659932" cy="1323672"/>
          </a:xfrm>
          <a:custGeom>
            <a:avLst/>
            <a:gdLst/>
            <a:ahLst/>
            <a:cxnLst/>
            <a:rect l="l" t="t" r="r" b="b"/>
            <a:pathLst>
              <a:path w="660400" h="1324610">
                <a:moveTo>
                  <a:pt x="0" y="1324356"/>
                </a:moveTo>
                <a:lnTo>
                  <a:pt x="659892" y="1324356"/>
                </a:lnTo>
                <a:lnTo>
                  <a:pt x="659892" y="0"/>
                </a:lnTo>
                <a:lnTo>
                  <a:pt x="0" y="0"/>
                </a:lnTo>
                <a:lnTo>
                  <a:pt x="0" y="1324356"/>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187319" y="2789262"/>
            <a:ext cx="659932" cy="1323672"/>
          </a:xfrm>
          <a:custGeom>
            <a:avLst/>
            <a:gdLst/>
            <a:ahLst/>
            <a:cxnLst/>
            <a:rect l="l" t="t" r="r" b="b"/>
            <a:pathLst>
              <a:path w="660400" h="1324610">
                <a:moveTo>
                  <a:pt x="0" y="1324356"/>
                </a:moveTo>
                <a:lnTo>
                  <a:pt x="659892" y="1324356"/>
                </a:lnTo>
                <a:lnTo>
                  <a:pt x="659892" y="0"/>
                </a:lnTo>
                <a:lnTo>
                  <a:pt x="0" y="0"/>
                </a:lnTo>
                <a:lnTo>
                  <a:pt x="0" y="1324356"/>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187319" y="1456706"/>
            <a:ext cx="659932" cy="1332556"/>
          </a:xfrm>
          <a:custGeom>
            <a:avLst/>
            <a:gdLst/>
            <a:ahLst/>
            <a:cxnLst/>
            <a:rect l="l" t="t" r="r" b="b"/>
            <a:pathLst>
              <a:path w="660400" h="1333500">
                <a:moveTo>
                  <a:pt x="0" y="1333500"/>
                </a:moveTo>
                <a:lnTo>
                  <a:pt x="659892" y="1333500"/>
                </a:lnTo>
                <a:lnTo>
                  <a:pt x="659892" y="0"/>
                </a:lnTo>
                <a:lnTo>
                  <a:pt x="0" y="0"/>
                </a:lnTo>
                <a:lnTo>
                  <a:pt x="0" y="133350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187319" y="1456706"/>
            <a:ext cx="659932" cy="1332556"/>
          </a:xfrm>
          <a:custGeom>
            <a:avLst/>
            <a:gdLst/>
            <a:ahLst/>
            <a:cxnLst/>
            <a:rect l="l" t="t" r="r" b="b"/>
            <a:pathLst>
              <a:path w="660400" h="1333500">
                <a:moveTo>
                  <a:pt x="0" y="1333500"/>
                </a:moveTo>
                <a:lnTo>
                  <a:pt x="659892" y="1333500"/>
                </a:lnTo>
                <a:lnTo>
                  <a:pt x="659892" y="0"/>
                </a:lnTo>
                <a:lnTo>
                  <a:pt x="0" y="0"/>
                </a:lnTo>
                <a:lnTo>
                  <a:pt x="0" y="1333500"/>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887862" y="4112680"/>
            <a:ext cx="787477" cy="1332556"/>
          </a:xfrm>
          <a:custGeom>
            <a:avLst/>
            <a:gdLst/>
            <a:ahLst/>
            <a:cxnLst/>
            <a:rect l="l" t="t" r="r" b="b"/>
            <a:pathLst>
              <a:path w="788035" h="1333500">
                <a:moveTo>
                  <a:pt x="0" y="1333499"/>
                </a:moveTo>
                <a:lnTo>
                  <a:pt x="787908" y="1333499"/>
                </a:lnTo>
                <a:lnTo>
                  <a:pt x="787908" y="0"/>
                </a:lnTo>
                <a:lnTo>
                  <a:pt x="0" y="0"/>
                </a:lnTo>
                <a:lnTo>
                  <a:pt x="0" y="1333499"/>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887862" y="4112680"/>
            <a:ext cx="829992" cy="1332556"/>
          </a:xfrm>
          <a:custGeom>
            <a:avLst/>
            <a:gdLst/>
            <a:ahLst/>
            <a:cxnLst/>
            <a:rect l="l" t="t" r="r" b="b"/>
            <a:pathLst>
              <a:path w="830580" h="1333500">
                <a:moveTo>
                  <a:pt x="0" y="1333499"/>
                </a:moveTo>
                <a:lnTo>
                  <a:pt x="830580" y="1333499"/>
                </a:lnTo>
                <a:lnTo>
                  <a:pt x="830580" y="0"/>
                </a:lnTo>
                <a:lnTo>
                  <a:pt x="0" y="0"/>
                </a:lnTo>
                <a:lnTo>
                  <a:pt x="0" y="1333499"/>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p:nvPr/>
        </p:nvSpPr>
        <p:spPr>
          <a:xfrm>
            <a:off x="887862" y="2789262"/>
            <a:ext cx="787477" cy="1323672"/>
          </a:xfrm>
          <a:custGeom>
            <a:avLst/>
            <a:gdLst/>
            <a:ahLst/>
            <a:cxnLst/>
            <a:rect l="l" t="t" r="r" b="b"/>
            <a:pathLst>
              <a:path w="788035" h="1324610">
                <a:moveTo>
                  <a:pt x="0" y="1324356"/>
                </a:moveTo>
                <a:lnTo>
                  <a:pt x="787908" y="1324356"/>
                </a:lnTo>
                <a:lnTo>
                  <a:pt x="787908" y="0"/>
                </a:lnTo>
                <a:lnTo>
                  <a:pt x="0" y="0"/>
                </a:lnTo>
                <a:lnTo>
                  <a:pt x="0" y="1324356"/>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p:nvPr/>
        </p:nvSpPr>
        <p:spPr>
          <a:xfrm>
            <a:off x="887862" y="2789262"/>
            <a:ext cx="829992" cy="1323672"/>
          </a:xfrm>
          <a:custGeom>
            <a:avLst/>
            <a:gdLst/>
            <a:ahLst/>
            <a:cxnLst/>
            <a:rect l="l" t="t" r="r" b="b"/>
            <a:pathLst>
              <a:path w="830580" h="1324610">
                <a:moveTo>
                  <a:pt x="0" y="1324356"/>
                </a:moveTo>
                <a:lnTo>
                  <a:pt x="830580" y="1324356"/>
                </a:lnTo>
                <a:lnTo>
                  <a:pt x="830580" y="0"/>
                </a:lnTo>
                <a:lnTo>
                  <a:pt x="0" y="0"/>
                </a:lnTo>
                <a:lnTo>
                  <a:pt x="0" y="1324356"/>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p:nvPr/>
        </p:nvSpPr>
        <p:spPr>
          <a:xfrm>
            <a:off x="887862" y="1467366"/>
            <a:ext cx="787477" cy="1322403"/>
          </a:xfrm>
          <a:custGeom>
            <a:avLst/>
            <a:gdLst/>
            <a:ahLst/>
            <a:cxnLst/>
            <a:rect l="l" t="t" r="r" b="b"/>
            <a:pathLst>
              <a:path w="788035" h="1323339">
                <a:moveTo>
                  <a:pt x="0" y="1322831"/>
                </a:moveTo>
                <a:lnTo>
                  <a:pt x="787908" y="1322831"/>
                </a:lnTo>
                <a:lnTo>
                  <a:pt x="787908" y="0"/>
                </a:lnTo>
                <a:lnTo>
                  <a:pt x="0" y="0"/>
                </a:lnTo>
                <a:lnTo>
                  <a:pt x="0" y="1322831"/>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p:nvPr/>
        </p:nvSpPr>
        <p:spPr>
          <a:xfrm>
            <a:off x="887862" y="1467366"/>
            <a:ext cx="829992" cy="1322403"/>
          </a:xfrm>
          <a:custGeom>
            <a:avLst/>
            <a:gdLst/>
            <a:ahLst/>
            <a:cxnLst/>
            <a:rect l="l" t="t" r="r" b="b"/>
            <a:pathLst>
              <a:path w="830580" h="1323339">
                <a:moveTo>
                  <a:pt x="0" y="1322831"/>
                </a:moveTo>
                <a:lnTo>
                  <a:pt x="830580" y="1322831"/>
                </a:lnTo>
                <a:lnTo>
                  <a:pt x="830580" y="0"/>
                </a:lnTo>
                <a:lnTo>
                  <a:pt x="0" y="0"/>
                </a:lnTo>
                <a:lnTo>
                  <a:pt x="0" y="1322831"/>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p:nvPr/>
        </p:nvSpPr>
        <p:spPr>
          <a:xfrm>
            <a:off x="137063" y="2789262"/>
            <a:ext cx="1587010" cy="0"/>
          </a:xfrm>
          <a:custGeom>
            <a:avLst/>
            <a:gdLst/>
            <a:ahLst/>
            <a:cxnLst/>
            <a:rect l="l" t="t" r="r" b="b"/>
            <a:pathLst>
              <a:path w="1588135">
                <a:moveTo>
                  <a:pt x="0" y="0"/>
                </a:moveTo>
                <a:lnTo>
                  <a:pt x="1588008" y="0"/>
                </a:lnTo>
              </a:path>
            </a:pathLst>
          </a:custGeom>
          <a:ln w="1270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1" name="object 21"/>
          <p:cNvSpPr/>
          <p:nvPr/>
        </p:nvSpPr>
        <p:spPr>
          <a:xfrm>
            <a:off x="137063" y="4112680"/>
            <a:ext cx="1587010" cy="0"/>
          </a:xfrm>
          <a:custGeom>
            <a:avLst/>
            <a:gdLst/>
            <a:ahLst/>
            <a:cxnLst/>
            <a:rect l="l" t="t" r="r" b="b"/>
            <a:pathLst>
              <a:path w="1588135">
                <a:moveTo>
                  <a:pt x="0" y="0"/>
                </a:moveTo>
                <a:lnTo>
                  <a:pt x="1588008" y="0"/>
                </a:lnTo>
              </a:path>
            </a:pathLst>
          </a:custGeom>
          <a:ln w="1270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1675213" y="5454373"/>
            <a:ext cx="1734859" cy="403574"/>
          </a:xfrm>
          <a:custGeom>
            <a:avLst/>
            <a:gdLst/>
            <a:ahLst/>
            <a:cxnLst/>
            <a:rect l="l" t="t" r="r" b="b"/>
            <a:pathLst>
              <a:path w="1736089" h="403860">
                <a:moveTo>
                  <a:pt x="0" y="403860"/>
                </a:moveTo>
                <a:lnTo>
                  <a:pt x="1735836" y="403860"/>
                </a:lnTo>
                <a:lnTo>
                  <a:pt x="1735836" y="0"/>
                </a:lnTo>
                <a:lnTo>
                  <a:pt x="0" y="0"/>
                </a:lnTo>
                <a:lnTo>
                  <a:pt x="0" y="40386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p:nvPr/>
        </p:nvSpPr>
        <p:spPr>
          <a:xfrm>
            <a:off x="1675213" y="5454373"/>
            <a:ext cx="1734859" cy="403574"/>
          </a:xfrm>
          <a:custGeom>
            <a:avLst/>
            <a:gdLst/>
            <a:ahLst/>
            <a:cxnLst/>
            <a:rect l="l" t="t" r="r" b="b"/>
            <a:pathLst>
              <a:path w="1736089" h="403860">
                <a:moveTo>
                  <a:pt x="0" y="403860"/>
                </a:moveTo>
                <a:lnTo>
                  <a:pt x="1735836" y="403860"/>
                </a:lnTo>
                <a:lnTo>
                  <a:pt x="1735836" y="0"/>
                </a:lnTo>
                <a:lnTo>
                  <a:pt x="0" y="0"/>
                </a:lnTo>
                <a:lnTo>
                  <a:pt x="0" y="403860"/>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p:nvPr/>
        </p:nvSpPr>
        <p:spPr>
          <a:xfrm>
            <a:off x="3409818" y="5454373"/>
            <a:ext cx="1734859" cy="403574"/>
          </a:xfrm>
          <a:custGeom>
            <a:avLst/>
            <a:gdLst/>
            <a:ahLst/>
            <a:cxnLst/>
            <a:rect l="l" t="t" r="r" b="b"/>
            <a:pathLst>
              <a:path w="1736089" h="403860">
                <a:moveTo>
                  <a:pt x="0" y="403860"/>
                </a:moveTo>
                <a:lnTo>
                  <a:pt x="1735836" y="403860"/>
                </a:lnTo>
                <a:lnTo>
                  <a:pt x="1735836" y="0"/>
                </a:lnTo>
                <a:lnTo>
                  <a:pt x="0" y="0"/>
                </a:lnTo>
                <a:lnTo>
                  <a:pt x="0" y="40386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5" name="object 25"/>
          <p:cNvSpPr/>
          <p:nvPr/>
        </p:nvSpPr>
        <p:spPr>
          <a:xfrm>
            <a:off x="3409818" y="5454373"/>
            <a:ext cx="1734859" cy="403574"/>
          </a:xfrm>
          <a:custGeom>
            <a:avLst/>
            <a:gdLst/>
            <a:ahLst/>
            <a:cxnLst/>
            <a:rect l="l" t="t" r="r" b="b"/>
            <a:pathLst>
              <a:path w="1736089" h="403860">
                <a:moveTo>
                  <a:pt x="0" y="403860"/>
                </a:moveTo>
                <a:lnTo>
                  <a:pt x="1735836" y="403860"/>
                </a:lnTo>
                <a:lnTo>
                  <a:pt x="1735836" y="0"/>
                </a:lnTo>
                <a:lnTo>
                  <a:pt x="0" y="0"/>
                </a:lnTo>
                <a:lnTo>
                  <a:pt x="0" y="403860"/>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6" name="object 26"/>
          <p:cNvSpPr/>
          <p:nvPr/>
        </p:nvSpPr>
        <p:spPr>
          <a:xfrm>
            <a:off x="5144425" y="5454373"/>
            <a:ext cx="1738032" cy="403574"/>
          </a:xfrm>
          <a:custGeom>
            <a:avLst/>
            <a:gdLst/>
            <a:ahLst/>
            <a:cxnLst/>
            <a:rect l="l" t="t" r="r" b="b"/>
            <a:pathLst>
              <a:path w="1739265" h="403860">
                <a:moveTo>
                  <a:pt x="0" y="403860"/>
                </a:moveTo>
                <a:lnTo>
                  <a:pt x="1738883" y="403860"/>
                </a:lnTo>
                <a:lnTo>
                  <a:pt x="1738883" y="0"/>
                </a:lnTo>
                <a:lnTo>
                  <a:pt x="0" y="0"/>
                </a:lnTo>
                <a:lnTo>
                  <a:pt x="0" y="40386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7" name="object 27"/>
          <p:cNvSpPr/>
          <p:nvPr/>
        </p:nvSpPr>
        <p:spPr>
          <a:xfrm>
            <a:off x="5144425" y="5454373"/>
            <a:ext cx="1738032" cy="403574"/>
          </a:xfrm>
          <a:custGeom>
            <a:avLst/>
            <a:gdLst/>
            <a:ahLst/>
            <a:cxnLst/>
            <a:rect l="l" t="t" r="r" b="b"/>
            <a:pathLst>
              <a:path w="1739265" h="403860">
                <a:moveTo>
                  <a:pt x="0" y="403860"/>
                </a:moveTo>
                <a:lnTo>
                  <a:pt x="1738883" y="403860"/>
                </a:lnTo>
                <a:lnTo>
                  <a:pt x="1738883" y="0"/>
                </a:lnTo>
                <a:lnTo>
                  <a:pt x="0" y="0"/>
                </a:lnTo>
                <a:lnTo>
                  <a:pt x="0" y="403860"/>
                </a:lnTo>
                <a:close/>
              </a:path>
            </a:pathLst>
          </a:custGeom>
          <a:ln w="952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p:nvPr/>
        </p:nvSpPr>
        <p:spPr>
          <a:xfrm>
            <a:off x="6882079" y="5454373"/>
            <a:ext cx="1734859" cy="403574"/>
          </a:xfrm>
          <a:custGeom>
            <a:avLst/>
            <a:gdLst/>
            <a:ahLst/>
            <a:cxnLst/>
            <a:rect l="l" t="t" r="r" b="b"/>
            <a:pathLst>
              <a:path w="1736090" h="403860">
                <a:moveTo>
                  <a:pt x="0" y="403860"/>
                </a:moveTo>
                <a:lnTo>
                  <a:pt x="1735836" y="403860"/>
                </a:lnTo>
                <a:lnTo>
                  <a:pt x="1735836" y="0"/>
                </a:lnTo>
                <a:lnTo>
                  <a:pt x="0" y="0"/>
                </a:lnTo>
                <a:lnTo>
                  <a:pt x="0" y="40386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9" name="object 29"/>
          <p:cNvSpPr/>
          <p:nvPr/>
        </p:nvSpPr>
        <p:spPr>
          <a:xfrm>
            <a:off x="6882079" y="5454373"/>
            <a:ext cx="1734859" cy="403574"/>
          </a:xfrm>
          <a:custGeom>
            <a:avLst/>
            <a:gdLst/>
            <a:ahLst/>
            <a:cxnLst/>
            <a:rect l="l" t="t" r="r" b="b"/>
            <a:pathLst>
              <a:path w="1736090" h="403860">
                <a:moveTo>
                  <a:pt x="0" y="403860"/>
                </a:moveTo>
                <a:lnTo>
                  <a:pt x="1735836" y="403860"/>
                </a:lnTo>
                <a:lnTo>
                  <a:pt x="1735836" y="0"/>
                </a:lnTo>
                <a:lnTo>
                  <a:pt x="0" y="0"/>
                </a:lnTo>
                <a:lnTo>
                  <a:pt x="0" y="403860"/>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0" name="object 30"/>
          <p:cNvSpPr txBox="1"/>
          <p:nvPr/>
        </p:nvSpPr>
        <p:spPr>
          <a:xfrm>
            <a:off x="174628" y="703875"/>
            <a:ext cx="640896" cy="196215"/>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盈利潜力</a:t>
            </a:r>
            <a:endParaRPr sz="1200" b="1" spc="5" dirty="0">
              <a:latin typeface="微软雅黑" panose="020B0503020204020204" charset="-122"/>
              <a:ea typeface="微软雅黑" panose="020B0503020204020204" charset="-122"/>
              <a:cs typeface="微软雅黑" panose="020B0503020204020204" charset="-122"/>
            </a:endParaRPr>
          </a:p>
        </p:txBody>
      </p:sp>
      <p:sp>
        <p:nvSpPr>
          <p:cNvPr id="31" name="object 31"/>
          <p:cNvSpPr txBox="1"/>
          <p:nvPr/>
        </p:nvSpPr>
        <p:spPr>
          <a:xfrm>
            <a:off x="2070917" y="5542194"/>
            <a:ext cx="943575" cy="196215"/>
          </a:xfrm>
          <a:prstGeom prst="rect">
            <a:avLst/>
          </a:prstGeom>
        </p:spPr>
        <p:txBody>
          <a:bodyPr vert="horz" wrap="square" lIns="0" tIns="12691" rIns="0" bIns="0" rtlCol="0">
            <a:spAutoFit/>
          </a:bodyPr>
          <a:lstStyle/>
          <a:p>
            <a:pPr marL="12700">
              <a:lnSpc>
                <a:spcPct val="100000"/>
              </a:lnSpc>
              <a:spcBef>
                <a:spcPts val="100"/>
              </a:spcBef>
            </a:pPr>
            <a:r>
              <a:rPr sz="1200" b="1" spc="5" dirty="0">
                <a:solidFill>
                  <a:srgbClr val="FFFFFF"/>
                </a:solidFill>
                <a:latin typeface="微软雅黑" panose="020B0503020204020204" charset="-122"/>
                <a:ea typeface="微软雅黑" panose="020B0503020204020204" charset="-122"/>
                <a:cs typeface="微软雅黑" panose="020B0503020204020204" charset="-122"/>
              </a:rPr>
              <a:t>以价格</a:t>
            </a:r>
            <a:r>
              <a:rPr sz="1200" b="1" spc="-5" dirty="0">
                <a:solidFill>
                  <a:srgbClr val="FFFFFF"/>
                </a:solidFill>
                <a:latin typeface="微软雅黑" panose="020B0503020204020204" charset="-122"/>
                <a:ea typeface="微软雅黑" panose="020B0503020204020204" charset="-122"/>
                <a:cs typeface="微软雅黑" panose="020B0503020204020204" charset="-122"/>
              </a:rPr>
              <a:t>为重点</a:t>
            </a:r>
            <a:endParaRPr sz="1200">
              <a:latin typeface="微软雅黑" panose="020B0503020204020204" charset="-122"/>
              <a:ea typeface="微软雅黑" panose="020B0503020204020204" charset="-122"/>
              <a:cs typeface="微软雅黑" panose="020B0503020204020204" charset="-122"/>
            </a:endParaRPr>
          </a:p>
        </p:txBody>
      </p:sp>
      <p:sp>
        <p:nvSpPr>
          <p:cNvPr id="32" name="object 32"/>
          <p:cNvSpPr txBox="1"/>
          <p:nvPr/>
        </p:nvSpPr>
        <p:spPr>
          <a:xfrm>
            <a:off x="3577468" y="5542194"/>
            <a:ext cx="1400452" cy="196215"/>
          </a:xfrm>
          <a:prstGeom prst="rect">
            <a:avLst/>
          </a:prstGeom>
        </p:spPr>
        <p:txBody>
          <a:bodyPr vert="horz" wrap="square" lIns="0" tIns="12691" rIns="0" bIns="0" rtlCol="0">
            <a:spAutoFit/>
          </a:bodyPr>
          <a:lstStyle/>
          <a:p>
            <a:pPr marL="12700">
              <a:lnSpc>
                <a:spcPct val="100000"/>
              </a:lnSpc>
              <a:spcBef>
                <a:spcPts val="100"/>
              </a:spcBef>
            </a:pPr>
            <a:r>
              <a:rPr sz="1200" b="1" spc="5" dirty="0">
                <a:solidFill>
                  <a:srgbClr val="FFFFFF"/>
                </a:solidFill>
                <a:latin typeface="微软雅黑" panose="020B0503020204020204" charset="-122"/>
                <a:ea typeface="微软雅黑" panose="020B0503020204020204" charset="-122"/>
                <a:cs typeface="微软雅黑" panose="020B0503020204020204" charset="-122"/>
              </a:rPr>
              <a:t>以产品</a:t>
            </a:r>
            <a:r>
              <a:rPr sz="1200" b="1" spc="-5" dirty="0">
                <a:solidFill>
                  <a:srgbClr val="FFFFFF"/>
                </a:solidFill>
                <a:latin typeface="微软雅黑" panose="020B0503020204020204" charset="-122"/>
                <a:ea typeface="微软雅黑" panose="020B0503020204020204" charset="-122"/>
                <a:cs typeface="微软雅黑" panose="020B0503020204020204" charset="-122"/>
              </a:rPr>
              <a:t>的绩效为导向</a:t>
            </a:r>
            <a:endParaRPr sz="1200">
              <a:latin typeface="微软雅黑" panose="020B0503020204020204" charset="-122"/>
              <a:ea typeface="微软雅黑" panose="020B0503020204020204" charset="-122"/>
              <a:cs typeface="微软雅黑" panose="020B0503020204020204" charset="-122"/>
            </a:endParaRPr>
          </a:p>
        </p:txBody>
      </p:sp>
      <p:sp>
        <p:nvSpPr>
          <p:cNvPr id="33" name="object 33"/>
          <p:cNvSpPr txBox="1"/>
          <p:nvPr/>
        </p:nvSpPr>
        <p:spPr>
          <a:xfrm>
            <a:off x="5692424" y="5542194"/>
            <a:ext cx="642165" cy="196215"/>
          </a:xfrm>
          <a:prstGeom prst="rect">
            <a:avLst/>
          </a:prstGeom>
        </p:spPr>
        <p:txBody>
          <a:bodyPr vert="horz" wrap="square" lIns="0" tIns="12691" rIns="0" bIns="0" rtlCol="0">
            <a:spAutoFit/>
          </a:bodyPr>
          <a:lstStyle/>
          <a:p>
            <a:pPr marL="12700">
              <a:lnSpc>
                <a:spcPct val="100000"/>
              </a:lnSpc>
              <a:spcBef>
                <a:spcPts val="100"/>
              </a:spcBef>
            </a:pPr>
            <a:r>
              <a:rPr sz="1200" b="1" spc="5" dirty="0">
                <a:solidFill>
                  <a:srgbClr val="FFFFFF"/>
                </a:solidFill>
                <a:latin typeface="微软雅黑" panose="020B0503020204020204" charset="-122"/>
                <a:ea typeface="微软雅黑" panose="020B0503020204020204" charset="-122"/>
                <a:cs typeface="微软雅黑" panose="020B0503020204020204" charset="-122"/>
              </a:rPr>
              <a:t>追求服务</a:t>
            </a:r>
            <a:endParaRPr sz="1200" b="1" spc="5"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4" name="object 34"/>
          <p:cNvSpPr txBox="1"/>
          <p:nvPr/>
        </p:nvSpPr>
        <p:spPr>
          <a:xfrm>
            <a:off x="6974723" y="5542194"/>
            <a:ext cx="1552745" cy="196215"/>
          </a:xfrm>
          <a:prstGeom prst="rect">
            <a:avLst/>
          </a:prstGeom>
        </p:spPr>
        <p:txBody>
          <a:bodyPr vert="horz" wrap="square" lIns="0" tIns="12691" rIns="0" bIns="0" rtlCol="0">
            <a:spAutoFit/>
          </a:bodyPr>
          <a:lstStyle/>
          <a:p>
            <a:pPr marL="12700">
              <a:lnSpc>
                <a:spcPct val="100000"/>
              </a:lnSpc>
              <a:spcBef>
                <a:spcPts val="100"/>
              </a:spcBef>
            </a:pPr>
            <a:r>
              <a:rPr sz="1200" b="1" spc="5" dirty="0">
                <a:solidFill>
                  <a:srgbClr val="FFFFFF"/>
                </a:solidFill>
                <a:latin typeface="微软雅黑" panose="020B0503020204020204" charset="-122"/>
                <a:ea typeface="微软雅黑" panose="020B0503020204020204" charset="-122"/>
                <a:cs typeface="微软雅黑" panose="020B0503020204020204" charset="-122"/>
              </a:rPr>
              <a:t>以总体</a:t>
            </a:r>
            <a:r>
              <a:rPr sz="1200" b="1" spc="-5" dirty="0">
                <a:solidFill>
                  <a:srgbClr val="FFFFFF"/>
                </a:solidFill>
                <a:latin typeface="微软雅黑" panose="020B0503020204020204" charset="-122"/>
                <a:ea typeface="微软雅黑" panose="020B0503020204020204" charset="-122"/>
                <a:cs typeface="微软雅黑" panose="020B0503020204020204" charset="-122"/>
              </a:rPr>
              <a:t>拥有成本为重点</a:t>
            </a:r>
            <a:endParaRPr sz="1200">
              <a:latin typeface="微软雅黑" panose="020B0503020204020204" charset="-122"/>
              <a:ea typeface="微软雅黑" panose="020B0503020204020204" charset="-122"/>
              <a:cs typeface="微软雅黑" panose="020B0503020204020204" charset="-122"/>
            </a:endParaRPr>
          </a:p>
        </p:txBody>
      </p:sp>
      <p:sp>
        <p:nvSpPr>
          <p:cNvPr id="35" name="object 35"/>
          <p:cNvSpPr txBox="1"/>
          <p:nvPr/>
        </p:nvSpPr>
        <p:spPr>
          <a:xfrm>
            <a:off x="1212346" y="1470538"/>
            <a:ext cx="177674" cy="196215"/>
          </a:xfrm>
          <a:prstGeom prst="rect">
            <a:avLst/>
          </a:prstGeom>
        </p:spPr>
        <p:txBody>
          <a:bodyPr vert="horz" wrap="square" lIns="0" tIns="12691" rIns="0" bIns="0" rtlCol="0">
            <a:spAutoFit/>
          </a:bodyPr>
          <a:lstStyle/>
          <a:p>
            <a:pPr marL="12700">
              <a:lnSpc>
                <a:spcPct val="100000"/>
              </a:lnSpc>
              <a:spcBef>
                <a:spcPts val="100"/>
              </a:spcBef>
            </a:pPr>
            <a:r>
              <a:rPr sz="1200" b="1" spc="-5" dirty="0">
                <a:solidFill>
                  <a:srgbClr val="FFFFFF"/>
                </a:solidFill>
                <a:latin typeface="微软雅黑" panose="020B0503020204020204" charset="-122"/>
                <a:ea typeface="微软雅黑" panose="020B0503020204020204" charset="-122"/>
                <a:cs typeface="微软雅黑" panose="020B0503020204020204" charset="-122"/>
              </a:rPr>
              <a:t>高</a:t>
            </a:r>
            <a:endParaRPr sz="1200" b="1" spc="-5"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6" name="object 36"/>
          <p:cNvSpPr txBox="1"/>
          <p:nvPr/>
        </p:nvSpPr>
        <p:spPr>
          <a:xfrm>
            <a:off x="1214783" y="2552701"/>
            <a:ext cx="177674" cy="196215"/>
          </a:xfrm>
          <a:prstGeom prst="rect">
            <a:avLst/>
          </a:prstGeom>
        </p:spPr>
        <p:txBody>
          <a:bodyPr vert="horz" wrap="square" lIns="0" tIns="12691" rIns="0" bIns="0" rtlCol="0">
            <a:spAutoFit/>
          </a:bodyPr>
          <a:lstStyle/>
          <a:p>
            <a:pPr marL="12700">
              <a:lnSpc>
                <a:spcPct val="100000"/>
              </a:lnSpc>
              <a:spcBef>
                <a:spcPts val="100"/>
              </a:spcBef>
            </a:pPr>
            <a:r>
              <a:rPr sz="1200" b="1" spc="-5" dirty="0">
                <a:solidFill>
                  <a:srgbClr val="FFFFFF"/>
                </a:solidFill>
                <a:latin typeface="微软雅黑" panose="020B0503020204020204" charset="-122"/>
                <a:ea typeface="微软雅黑" panose="020B0503020204020204" charset="-122"/>
                <a:cs typeface="微软雅黑" panose="020B0503020204020204" charset="-122"/>
              </a:rPr>
              <a:t>低</a:t>
            </a:r>
            <a:endParaRPr sz="1200" b="1" spc="-5"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7" name="object 37"/>
          <p:cNvSpPr txBox="1"/>
          <p:nvPr/>
        </p:nvSpPr>
        <p:spPr>
          <a:xfrm>
            <a:off x="1212346" y="2795480"/>
            <a:ext cx="177674" cy="196215"/>
          </a:xfrm>
          <a:prstGeom prst="rect">
            <a:avLst/>
          </a:prstGeom>
        </p:spPr>
        <p:txBody>
          <a:bodyPr vert="horz" wrap="square" lIns="0" tIns="12691" rIns="0" bIns="0" rtlCol="0">
            <a:spAutoFit/>
          </a:bodyPr>
          <a:lstStyle/>
          <a:p>
            <a:pPr marL="12700">
              <a:lnSpc>
                <a:spcPct val="100000"/>
              </a:lnSpc>
              <a:spcBef>
                <a:spcPts val="100"/>
              </a:spcBef>
            </a:pPr>
            <a:r>
              <a:rPr sz="1200" b="1" spc="-5" dirty="0">
                <a:solidFill>
                  <a:srgbClr val="FFFFFF"/>
                </a:solidFill>
                <a:latin typeface="微软雅黑" panose="020B0503020204020204" charset="-122"/>
                <a:ea typeface="微软雅黑" panose="020B0503020204020204" charset="-122"/>
                <a:cs typeface="微软雅黑" panose="020B0503020204020204" charset="-122"/>
              </a:rPr>
              <a:t>高</a:t>
            </a:r>
            <a:endParaRPr sz="1200" b="1" spc="-5"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8" name="object 38"/>
          <p:cNvSpPr txBox="1"/>
          <p:nvPr/>
        </p:nvSpPr>
        <p:spPr>
          <a:xfrm>
            <a:off x="1212346" y="3808222"/>
            <a:ext cx="180212" cy="516890"/>
          </a:xfrm>
          <a:prstGeom prst="rect">
            <a:avLst/>
          </a:prstGeom>
        </p:spPr>
        <p:txBody>
          <a:bodyPr vert="horz" wrap="square" lIns="0" tIns="12691" rIns="0" bIns="0" rtlCol="0">
            <a:spAutoFit/>
          </a:bodyPr>
          <a:lstStyle/>
          <a:p>
            <a:pPr marL="12700" marR="5080" indent="1905">
              <a:lnSpc>
                <a:spcPct val="137000"/>
              </a:lnSpc>
              <a:spcBef>
                <a:spcPts val="100"/>
              </a:spcBef>
            </a:pPr>
            <a:r>
              <a:rPr sz="1200" b="1" spc="-5" dirty="0">
                <a:solidFill>
                  <a:srgbClr val="FFFFFF"/>
                </a:solidFill>
                <a:latin typeface="微软雅黑" panose="020B0503020204020204" charset="-122"/>
                <a:ea typeface="微软雅黑" panose="020B0503020204020204" charset="-122"/>
                <a:cs typeface="微软雅黑" panose="020B0503020204020204" charset="-122"/>
              </a:rPr>
              <a:t>低 高</a:t>
            </a:r>
            <a:endParaRPr sz="1200" b="1" spc="-5"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9" name="object 39"/>
          <p:cNvSpPr txBox="1"/>
          <p:nvPr/>
        </p:nvSpPr>
        <p:spPr>
          <a:xfrm>
            <a:off x="1214783" y="5210452"/>
            <a:ext cx="177674" cy="196215"/>
          </a:xfrm>
          <a:prstGeom prst="rect">
            <a:avLst/>
          </a:prstGeom>
        </p:spPr>
        <p:txBody>
          <a:bodyPr vert="horz" wrap="square" lIns="0" tIns="12691" rIns="0" bIns="0" rtlCol="0">
            <a:spAutoFit/>
          </a:bodyPr>
          <a:lstStyle/>
          <a:p>
            <a:pPr marL="12700">
              <a:lnSpc>
                <a:spcPct val="100000"/>
              </a:lnSpc>
              <a:spcBef>
                <a:spcPts val="100"/>
              </a:spcBef>
            </a:pPr>
            <a:r>
              <a:rPr sz="1200" b="1" spc="-5" dirty="0">
                <a:solidFill>
                  <a:srgbClr val="FFFFFF"/>
                </a:solidFill>
                <a:latin typeface="微软雅黑" panose="020B0503020204020204" charset="-122"/>
                <a:ea typeface="微软雅黑" panose="020B0503020204020204" charset="-122"/>
                <a:cs typeface="微软雅黑" panose="020B0503020204020204" charset="-122"/>
              </a:rPr>
              <a:t>低</a:t>
            </a:r>
            <a:endParaRPr sz="1200" b="1" spc="-5"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0" name="object 40"/>
          <p:cNvSpPr/>
          <p:nvPr/>
        </p:nvSpPr>
        <p:spPr>
          <a:xfrm>
            <a:off x="1231471" y="1716364"/>
            <a:ext cx="143408" cy="825550"/>
          </a:xfrm>
          <a:custGeom>
            <a:avLst/>
            <a:gdLst/>
            <a:ahLst/>
            <a:cxnLst/>
            <a:rect l="l" t="t" r="r" b="b"/>
            <a:pathLst>
              <a:path w="143509" h="826135">
                <a:moveTo>
                  <a:pt x="0" y="740282"/>
                </a:moveTo>
                <a:lnTo>
                  <a:pt x="71437" y="826007"/>
                </a:lnTo>
                <a:lnTo>
                  <a:pt x="119020" y="768857"/>
                </a:lnTo>
                <a:lnTo>
                  <a:pt x="57086" y="768857"/>
                </a:lnTo>
                <a:lnTo>
                  <a:pt x="57087" y="763118"/>
                </a:lnTo>
                <a:lnTo>
                  <a:pt x="0" y="740282"/>
                </a:lnTo>
                <a:close/>
              </a:path>
              <a:path w="143509" h="826135">
                <a:moveTo>
                  <a:pt x="57087" y="763118"/>
                </a:moveTo>
                <a:lnTo>
                  <a:pt x="57086" y="768857"/>
                </a:lnTo>
                <a:lnTo>
                  <a:pt x="71437" y="768857"/>
                </a:lnTo>
                <a:lnTo>
                  <a:pt x="57087" y="763118"/>
                </a:lnTo>
                <a:close/>
              </a:path>
              <a:path w="143509" h="826135">
                <a:moveTo>
                  <a:pt x="71437" y="57150"/>
                </a:moveTo>
                <a:lnTo>
                  <a:pt x="57212" y="62840"/>
                </a:lnTo>
                <a:lnTo>
                  <a:pt x="57199" y="763162"/>
                </a:lnTo>
                <a:lnTo>
                  <a:pt x="71437" y="768857"/>
                </a:lnTo>
                <a:lnTo>
                  <a:pt x="85662" y="763162"/>
                </a:lnTo>
                <a:lnTo>
                  <a:pt x="85675" y="62840"/>
                </a:lnTo>
                <a:lnTo>
                  <a:pt x="71437" y="57150"/>
                </a:lnTo>
                <a:close/>
              </a:path>
              <a:path w="143509" h="826135">
                <a:moveTo>
                  <a:pt x="85662" y="763162"/>
                </a:moveTo>
                <a:lnTo>
                  <a:pt x="71437" y="768857"/>
                </a:lnTo>
                <a:lnTo>
                  <a:pt x="85661" y="768857"/>
                </a:lnTo>
                <a:lnTo>
                  <a:pt x="85662" y="763162"/>
                </a:lnTo>
                <a:close/>
              </a:path>
              <a:path w="143509" h="826135">
                <a:moveTo>
                  <a:pt x="142811" y="740282"/>
                </a:moveTo>
                <a:lnTo>
                  <a:pt x="85774" y="763118"/>
                </a:lnTo>
                <a:lnTo>
                  <a:pt x="85661" y="768857"/>
                </a:lnTo>
                <a:lnTo>
                  <a:pt x="119020" y="768857"/>
                </a:lnTo>
                <a:lnTo>
                  <a:pt x="142811" y="740282"/>
                </a:lnTo>
                <a:close/>
              </a:path>
              <a:path w="143509" h="826135">
                <a:moveTo>
                  <a:pt x="71437" y="0"/>
                </a:moveTo>
                <a:lnTo>
                  <a:pt x="0" y="85725"/>
                </a:lnTo>
                <a:lnTo>
                  <a:pt x="57100" y="62884"/>
                </a:lnTo>
                <a:lnTo>
                  <a:pt x="57213" y="57150"/>
                </a:lnTo>
                <a:lnTo>
                  <a:pt x="119104" y="57150"/>
                </a:lnTo>
                <a:lnTo>
                  <a:pt x="71437" y="0"/>
                </a:lnTo>
                <a:close/>
              </a:path>
              <a:path w="143509" h="826135">
                <a:moveTo>
                  <a:pt x="119104" y="57150"/>
                </a:moveTo>
                <a:lnTo>
                  <a:pt x="85788" y="57150"/>
                </a:lnTo>
                <a:lnTo>
                  <a:pt x="85787" y="62884"/>
                </a:lnTo>
                <a:lnTo>
                  <a:pt x="142938" y="85725"/>
                </a:lnTo>
                <a:lnTo>
                  <a:pt x="119104" y="57150"/>
                </a:lnTo>
                <a:close/>
              </a:path>
              <a:path w="143509" h="826135">
                <a:moveTo>
                  <a:pt x="85788" y="57150"/>
                </a:moveTo>
                <a:lnTo>
                  <a:pt x="71437" y="57150"/>
                </a:lnTo>
                <a:lnTo>
                  <a:pt x="85787" y="62884"/>
                </a:lnTo>
                <a:lnTo>
                  <a:pt x="85788" y="57150"/>
                </a:lnTo>
                <a:close/>
              </a:path>
              <a:path w="143509" h="826135">
                <a:moveTo>
                  <a:pt x="71437" y="57150"/>
                </a:moveTo>
                <a:lnTo>
                  <a:pt x="57213" y="57150"/>
                </a:lnTo>
                <a:lnTo>
                  <a:pt x="57212" y="62840"/>
                </a:lnTo>
                <a:lnTo>
                  <a:pt x="71437" y="5715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1" name="object 41"/>
          <p:cNvSpPr/>
          <p:nvPr/>
        </p:nvSpPr>
        <p:spPr>
          <a:xfrm>
            <a:off x="1231471" y="3039782"/>
            <a:ext cx="143408" cy="824281"/>
          </a:xfrm>
          <a:custGeom>
            <a:avLst/>
            <a:gdLst/>
            <a:ahLst/>
            <a:cxnLst/>
            <a:rect l="l" t="t" r="r" b="b"/>
            <a:pathLst>
              <a:path w="143509" h="824864">
                <a:moveTo>
                  <a:pt x="0" y="738759"/>
                </a:moveTo>
                <a:lnTo>
                  <a:pt x="71437" y="824484"/>
                </a:lnTo>
                <a:lnTo>
                  <a:pt x="119020" y="767334"/>
                </a:lnTo>
                <a:lnTo>
                  <a:pt x="57086" y="767334"/>
                </a:lnTo>
                <a:lnTo>
                  <a:pt x="57087" y="761594"/>
                </a:lnTo>
                <a:lnTo>
                  <a:pt x="0" y="738759"/>
                </a:lnTo>
                <a:close/>
              </a:path>
              <a:path w="143509" h="824864">
                <a:moveTo>
                  <a:pt x="57087" y="761594"/>
                </a:moveTo>
                <a:lnTo>
                  <a:pt x="57086" y="767334"/>
                </a:lnTo>
                <a:lnTo>
                  <a:pt x="71437" y="767334"/>
                </a:lnTo>
                <a:lnTo>
                  <a:pt x="57087" y="761594"/>
                </a:lnTo>
                <a:close/>
              </a:path>
              <a:path w="143509" h="824864">
                <a:moveTo>
                  <a:pt x="71437" y="57150"/>
                </a:moveTo>
                <a:lnTo>
                  <a:pt x="57212" y="62840"/>
                </a:lnTo>
                <a:lnTo>
                  <a:pt x="57199" y="761638"/>
                </a:lnTo>
                <a:lnTo>
                  <a:pt x="71437" y="767334"/>
                </a:lnTo>
                <a:lnTo>
                  <a:pt x="85662" y="761638"/>
                </a:lnTo>
                <a:lnTo>
                  <a:pt x="85675" y="62840"/>
                </a:lnTo>
                <a:lnTo>
                  <a:pt x="71437" y="57150"/>
                </a:lnTo>
                <a:close/>
              </a:path>
              <a:path w="143509" h="824864">
                <a:moveTo>
                  <a:pt x="85662" y="761638"/>
                </a:moveTo>
                <a:lnTo>
                  <a:pt x="71437" y="767334"/>
                </a:lnTo>
                <a:lnTo>
                  <a:pt x="85661" y="767334"/>
                </a:lnTo>
                <a:lnTo>
                  <a:pt x="85662" y="761638"/>
                </a:lnTo>
                <a:close/>
              </a:path>
              <a:path w="143509" h="824864">
                <a:moveTo>
                  <a:pt x="142811" y="738759"/>
                </a:moveTo>
                <a:lnTo>
                  <a:pt x="85774" y="761594"/>
                </a:lnTo>
                <a:lnTo>
                  <a:pt x="85661" y="767334"/>
                </a:lnTo>
                <a:lnTo>
                  <a:pt x="119020" y="767334"/>
                </a:lnTo>
                <a:lnTo>
                  <a:pt x="142811" y="738759"/>
                </a:lnTo>
                <a:close/>
              </a:path>
              <a:path w="143509" h="824864">
                <a:moveTo>
                  <a:pt x="71437" y="0"/>
                </a:moveTo>
                <a:lnTo>
                  <a:pt x="0" y="85725"/>
                </a:lnTo>
                <a:lnTo>
                  <a:pt x="57100" y="62884"/>
                </a:lnTo>
                <a:lnTo>
                  <a:pt x="57213" y="57150"/>
                </a:lnTo>
                <a:lnTo>
                  <a:pt x="119104" y="57150"/>
                </a:lnTo>
                <a:lnTo>
                  <a:pt x="71437" y="0"/>
                </a:lnTo>
                <a:close/>
              </a:path>
              <a:path w="143509" h="824864">
                <a:moveTo>
                  <a:pt x="119104" y="57150"/>
                </a:moveTo>
                <a:lnTo>
                  <a:pt x="85788" y="57150"/>
                </a:lnTo>
                <a:lnTo>
                  <a:pt x="85787" y="62884"/>
                </a:lnTo>
                <a:lnTo>
                  <a:pt x="142938" y="85725"/>
                </a:lnTo>
                <a:lnTo>
                  <a:pt x="119104" y="57150"/>
                </a:lnTo>
                <a:close/>
              </a:path>
              <a:path w="143509" h="824864">
                <a:moveTo>
                  <a:pt x="85788" y="57150"/>
                </a:moveTo>
                <a:lnTo>
                  <a:pt x="71437" y="57150"/>
                </a:lnTo>
                <a:lnTo>
                  <a:pt x="85787" y="62884"/>
                </a:lnTo>
                <a:lnTo>
                  <a:pt x="85788" y="57150"/>
                </a:lnTo>
                <a:close/>
              </a:path>
              <a:path w="143509" h="824864">
                <a:moveTo>
                  <a:pt x="71437" y="57150"/>
                </a:moveTo>
                <a:lnTo>
                  <a:pt x="57213" y="57150"/>
                </a:lnTo>
                <a:lnTo>
                  <a:pt x="57212" y="62840"/>
                </a:lnTo>
                <a:lnTo>
                  <a:pt x="71437" y="5715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2" name="object 42"/>
          <p:cNvSpPr/>
          <p:nvPr/>
        </p:nvSpPr>
        <p:spPr>
          <a:xfrm>
            <a:off x="1231471" y="4369292"/>
            <a:ext cx="143408" cy="822377"/>
          </a:xfrm>
          <a:custGeom>
            <a:avLst/>
            <a:gdLst/>
            <a:ahLst/>
            <a:cxnLst/>
            <a:rect l="l" t="t" r="r" b="b"/>
            <a:pathLst>
              <a:path w="143509" h="822960">
                <a:moveTo>
                  <a:pt x="0" y="737235"/>
                </a:moveTo>
                <a:lnTo>
                  <a:pt x="71437" y="822960"/>
                </a:lnTo>
                <a:lnTo>
                  <a:pt x="119020" y="765810"/>
                </a:lnTo>
                <a:lnTo>
                  <a:pt x="57086" y="765810"/>
                </a:lnTo>
                <a:lnTo>
                  <a:pt x="57087" y="760070"/>
                </a:lnTo>
                <a:lnTo>
                  <a:pt x="0" y="737235"/>
                </a:lnTo>
                <a:close/>
              </a:path>
              <a:path w="143509" h="822960">
                <a:moveTo>
                  <a:pt x="57087" y="760070"/>
                </a:moveTo>
                <a:lnTo>
                  <a:pt x="57086" y="765810"/>
                </a:lnTo>
                <a:lnTo>
                  <a:pt x="71437" y="765810"/>
                </a:lnTo>
                <a:lnTo>
                  <a:pt x="57087" y="760070"/>
                </a:lnTo>
                <a:close/>
              </a:path>
              <a:path w="143509" h="822960">
                <a:moveTo>
                  <a:pt x="71437" y="57150"/>
                </a:moveTo>
                <a:lnTo>
                  <a:pt x="57212" y="62840"/>
                </a:lnTo>
                <a:lnTo>
                  <a:pt x="57199" y="760114"/>
                </a:lnTo>
                <a:lnTo>
                  <a:pt x="71437" y="765810"/>
                </a:lnTo>
                <a:lnTo>
                  <a:pt x="85662" y="760114"/>
                </a:lnTo>
                <a:lnTo>
                  <a:pt x="85675" y="62840"/>
                </a:lnTo>
                <a:lnTo>
                  <a:pt x="71437" y="57150"/>
                </a:lnTo>
                <a:close/>
              </a:path>
              <a:path w="143509" h="822960">
                <a:moveTo>
                  <a:pt x="85662" y="760114"/>
                </a:moveTo>
                <a:lnTo>
                  <a:pt x="71437" y="765810"/>
                </a:lnTo>
                <a:lnTo>
                  <a:pt x="85661" y="765810"/>
                </a:lnTo>
                <a:lnTo>
                  <a:pt x="85662" y="760114"/>
                </a:lnTo>
                <a:close/>
              </a:path>
              <a:path w="143509" h="822960">
                <a:moveTo>
                  <a:pt x="142811" y="737235"/>
                </a:moveTo>
                <a:lnTo>
                  <a:pt x="85774" y="760070"/>
                </a:lnTo>
                <a:lnTo>
                  <a:pt x="85661" y="765810"/>
                </a:lnTo>
                <a:lnTo>
                  <a:pt x="119020" y="765810"/>
                </a:lnTo>
                <a:lnTo>
                  <a:pt x="142811" y="737235"/>
                </a:lnTo>
                <a:close/>
              </a:path>
              <a:path w="143509" h="822960">
                <a:moveTo>
                  <a:pt x="71437" y="0"/>
                </a:moveTo>
                <a:lnTo>
                  <a:pt x="0" y="85725"/>
                </a:lnTo>
                <a:lnTo>
                  <a:pt x="57100" y="62884"/>
                </a:lnTo>
                <a:lnTo>
                  <a:pt x="57213" y="57150"/>
                </a:lnTo>
                <a:lnTo>
                  <a:pt x="119104" y="57150"/>
                </a:lnTo>
                <a:lnTo>
                  <a:pt x="71437" y="0"/>
                </a:lnTo>
                <a:close/>
              </a:path>
              <a:path w="143509" h="822960">
                <a:moveTo>
                  <a:pt x="119104" y="57150"/>
                </a:moveTo>
                <a:lnTo>
                  <a:pt x="85788" y="57150"/>
                </a:lnTo>
                <a:lnTo>
                  <a:pt x="85787" y="62884"/>
                </a:lnTo>
                <a:lnTo>
                  <a:pt x="142938" y="85725"/>
                </a:lnTo>
                <a:lnTo>
                  <a:pt x="119104" y="57150"/>
                </a:lnTo>
                <a:close/>
              </a:path>
              <a:path w="143509" h="822960">
                <a:moveTo>
                  <a:pt x="85788" y="57150"/>
                </a:moveTo>
                <a:lnTo>
                  <a:pt x="71437" y="57150"/>
                </a:lnTo>
                <a:lnTo>
                  <a:pt x="85787" y="62884"/>
                </a:lnTo>
                <a:lnTo>
                  <a:pt x="85788" y="57150"/>
                </a:lnTo>
                <a:close/>
              </a:path>
              <a:path w="143509" h="822960">
                <a:moveTo>
                  <a:pt x="71437" y="57150"/>
                </a:moveTo>
                <a:lnTo>
                  <a:pt x="57213" y="57150"/>
                </a:lnTo>
                <a:lnTo>
                  <a:pt x="57212" y="62840"/>
                </a:lnTo>
                <a:lnTo>
                  <a:pt x="71437" y="5715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3" name="object 43"/>
          <p:cNvSpPr txBox="1"/>
          <p:nvPr/>
        </p:nvSpPr>
        <p:spPr>
          <a:xfrm>
            <a:off x="231585" y="2010288"/>
            <a:ext cx="487335" cy="196215"/>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大客户</a:t>
            </a:r>
            <a:endParaRPr sz="1200" b="1" spc="5" dirty="0">
              <a:latin typeface="微软雅黑" panose="020B0503020204020204" charset="-122"/>
              <a:ea typeface="微软雅黑" panose="020B0503020204020204" charset="-122"/>
              <a:cs typeface="微软雅黑" panose="020B0503020204020204" charset="-122"/>
            </a:endParaRPr>
          </a:p>
        </p:txBody>
      </p:sp>
      <p:sp>
        <p:nvSpPr>
          <p:cNvPr id="44" name="object 44"/>
          <p:cNvSpPr txBox="1"/>
          <p:nvPr/>
        </p:nvSpPr>
        <p:spPr>
          <a:xfrm>
            <a:off x="231585" y="3154255"/>
            <a:ext cx="487335" cy="565150"/>
          </a:xfrm>
          <a:prstGeom prst="rect">
            <a:avLst/>
          </a:prstGeom>
        </p:spPr>
        <p:txBody>
          <a:bodyPr vert="horz" wrap="square" lIns="0" tIns="12056" rIns="0" bIns="0" rtlCol="0">
            <a:spAutoFit/>
          </a:bodyPr>
          <a:lstStyle/>
          <a:p>
            <a:pPr marL="12700" marR="5080" algn="just">
              <a:lnSpc>
                <a:spcPct val="100000"/>
              </a:lnSpc>
              <a:spcBef>
                <a:spcPts val="95"/>
              </a:spcBef>
            </a:pPr>
            <a:r>
              <a:rPr sz="1200" b="1" spc="5" dirty="0">
                <a:latin typeface="微软雅黑" panose="020B0503020204020204" charset="-122"/>
                <a:ea typeface="微软雅黑" panose="020B0503020204020204" charset="-122"/>
                <a:cs typeface="微软雅黑" panose="020B0503020204020204" charset="-122"/>
              </a:rPr>
              <a:t>中等规 模的客 </a:t>
            </a:r>
            <a:r>
              <a:rPr sz="1200" b="1" spc="-5" dirty="0">
                <a:latin typeface="微软雅黑" panose="020B0503020204020204" charset="-122"/>
                <a:ea typeface="微软雅黑" panose="020B0503020204020204" charset="-122"/>
                <a:cs typeface="微软雅黑" panose="020B0503020204020204" charset="-122"/>
              </a:rPr>
              <a:t>户</a:t>
            </a:r>
            <a:endParaRPr sz="1200">
              <a:latin typeface="微软雅黑" panose="020B0503020204020204" charset="-122"/>
              <a:ea typeface="微软雅黑" panose="020B0503020204020204" charset="-122"/>
              <a:cs typeface="微软雅黑" panose="020B0503020204020204" charset="-122"/>
            </a:endParaRPr>
          </a:p>
        </p:txBody>
      </p:sp>
      <p:sp>
        <p:nvSpPr>
          <p:cNvPr id="45" name="object 45"/>
          <p:cNvSpPr txBox="1"/>
          <p:nvPr/>
        </p:nvSpPr>
        <p:spPr>
          <a:xfrm>
            <a:off x="231585" y="4572729"/>
            <a:ext cx="487335" cy="381635"/>
          </a:xfrm>
          <a:prstGeom prst="rect">
            <a:avLst/>
          </a:prstGeom>
        </p:spPr>
        <p:txBody>
          <a:bodyPr vert="horz" wrap="square" lIns="0" tIns="10787" rIns="0" bIns="0" rtlCol="0">
            <a:spAutoFit/>
          </a:bodyPr>
          <a:lstStyle/>
          <a:p>
            <a:pPr marL="12700" marR="5080">
              <a:lnSpc>
                <a:spcPct val="101000"/>
              </a:lnSpc>
              <a:spcBef>
                <a:spcPts val="85"/>
              </a:spcBef>
            </a:pPr>
            <a:r>
              <a:rPr sz="1200" b="1" spc="5" dirty="0">
                <a:latin typeface="微软雅黑" panose="020B0503020204020204" charset="-122"/>
                <a:ea typeface="微软雅黑" panose="020B0503020204020204" charset="-122"/>
                <a:cs typeface="微软雅黑" panose="020B0503020204020204" charset="-122"/>
              </a:rPr>
              <a:t>小型客 </a:t>
            </a:r>
            <a:r>
              <a:rPr sz="1200" b="1" spc="-5" dirty="0">
                <a:latin typeface="微软雅黑" panose="020B0503020204020204" charset="-122"/>
                <a:ea typeface="微软雅黑" panose="020B0503020204020204" charset="-122"/>
                <a:cs typeface="微软雅黑" panose="020B0503020204020204" charset="-122"/>
              </a:rPr>
              <a:t>户</a:t>
            </a:r>
            <a:endParaRPr sz="1200">
              <a:latin typeface="微软雅黑" panose="020B0503020204020204" charset="-122"/>
              <a:ea typeface="微软雅黑" panose="020B0503020204020204" charset="-122"/>
              <a:cs typeface="微软雅黑" panose="020B0503020204020204" charset="-122"/>
            </a:endParaRPr>
          </a:p>
        </p:txBody>
      </p:sp>
      <p:sp>
        <p:nvSpPr>
          <p:cNvPr id="46" name="object 46"/>
          <p:cNvSpPr txBox="1"/>
          <p:nvPr/>
        </p:nvSpPr>
        <p:spPr>
          <a:xfrm>
            <a:off x="174628" y="1160447"/>
            <a:ext cx="1188513" cy="196215"/>
          </a:xfrm>
          <a:prstGeom prst="rect">
            <a:avLst/>
          </a:prstGeom>
        </p:spPr>
        <p:txBody>
          <a:bodyPr vert="horz" wrap="square" lIns="0" tIns="12691" rIns="0" bIns="0" rtlCol="0">
            <a:spAutoFit/>
          </a:bodyPr>
          <a:lstStyle/>
          <a:p>
            <a:pPr marL="12700">
              <a:lnSpc>
                <a:spcPct val="100000"/>
              </a:lnSpc>
              <a:spcBef>
                <a:spcPts val="100"/>
              </a:spcBef>
              <a:tabLst>
                <a:tab pos="713740" algn="l"/>
              </a:tabLst>
            </a:pPr>
            <a:r>
              <a:rPr sz="1200" b="1" spc="5" dirty="0">
                <a:latin typeface="微软雅黑" panose="020B0503020204020204" charset="-122"/>
                <a:ea typeface="微软雅黑" panose="020B0503020204020204" charset="-122"/>
                <a:cs typeface="微软雅黑" panose="020B0503020204020204" charset="-122"/>
              </a:rPr>
              <a:t>规</a:t>
            </a:r>
            <a:r>
              <a:rPr sz="1200" b="1" dirty="0">
                <a:latin typeface="微软雅黑" panose="020B0503020204020204" charset="-122"/>
                <a:ea typeface="微软雅黑" panose="020B0503020204020204" charset="-122"/>
                <a:cs typeface="微软雅黑" panose="020B0503020204020204" charset="-122"/>
              </a:rPr>
              <a:t>模	</a:t>
            </a:r>
            <a:r>
              <a:rPr sz="1200" b="1" spc="5" dirty="0">
                <a:latin typeface="微软雅黑" panose="020B0503020204020204" charset="-122"/>
                <a:ea typeface="微软雅黑" panose="020B0503020204020204" charset="-122"/>
                <a:cs typeface="微软雅黑" panose="020B0503020204020204" charset="-122"/>
              </a:rPr>
              <a:t>利润率</a:t>
            </a:r>
            <a:endParaRPr sz="1200">
              <a:latin typeface="微软雅黑" panose="020B0503020204020204" charset="-122"/>
              <a:ea typeface="微软雅黑" panose="020B0503020204020204" charset="-122"/>
              <a:cs typeface="微软雅黑" panose="020B0503020204020204" charset="-122"/>
            </a:endParaRPr>
          </a:p>
        </p:txBody>
      </p:sp>
      <p:sp>
        <p:nvSpPr>
          <p:cNvPr id="47" name="object 47"/>
          <p:cNvSpPr/>
          <p:nvPr/>
        </p:nvSpPr>
        <p:spPr>
          <a:xfrm>
            <a:off x="187319" y="948050"/>
            <a:ext cx="1492462" cy="0"/>
          </a:xfrm>
          <a:custGeom>
            <a:avLst/>
            <a:gdLst/>
            <a:ahLst/>
            <a:cxnLst/>
            <a:rect l="l" t="t" r="r" b="b"/>
            <a:pathLst>
              <a:path w="1493520">
                <a:moveTo>
                  <a:pt x="0" y="0"/>
                </a:moveTo>
                <a:lnTo>
                  <a:pt x="1493520" y="0"/>
                </a:lnTo>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8" name="object 48"/>
          <p:cNvSpPr/>
          <p:nvPr/>
        </p:nvSpPr>
        <p:spPr>
          <a:xfrm>
            <a:off x="1675213" y="4112680"/>
            <a:ext cx="1734859" cy="1342074"/>
          </a:xfrm>
          <a:custGeom>
            <a:avLst/>
            <a:gdLst/>
            <a:ahLst/>
            <a:cxnLst/>
            <a:rect l="l" t="t" r="r" b="b"/>
            <a:pathLst>
              <a:path w="1736089" h="1343025">
                <a:moveTo>
                  <a:pt x="0" y="1342643"/>
                </a:moveTo>
                <a:lnTo>
                  <a:pt x="1735836" y="1342643"/>
                </a:lnTo>
                <a:lnTo>
                  <a:pt x="1735836" y="0"/>
                </a:lnTo>
                <a:lnTo>
                  <a:pt x="0" y="0"/>
                </a:lnTo>
                <a:lnTo>
                  <a:pt x="0" y="1342643"/>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9" name="object 49"/>
          <p:cNvSpPr/>
          <p:nvPr/>
        </p:nvSpPr>
        <p:spPr>
          <a:xfrm>
            <a:off x="1675213" y="4112680"/>
            <a:ext cx="1734859" cy="1342074"/>
          </a:xfrm>
          <a:custGeom>
            <a:avLst/>
            <a:gdLst/>
            <a:ahLst/>
            <a:cxnLst/>
            <a:rect l="l" t="t" r="r" b="b"/>
            <a:pathLst>
              <a:path w="1736089" h="1343025">
                <a:moveTo>
                  <a:pt x="0" y="1342643"/>
                </a:moveTo>
                <a:lnTo>
                  <a:pt x="1735836" y="1342643"/>
                </a:lnTo>
                <a:lnTo>
                  <a:pt x="1735836" y="0"/>
                </a:lnTo>
                <a:lnTo>
                  <a:pt x="0" y="0"/>
                </a:lnTo>
                <a:lnTo>
                  <a:pt x="0" y="1342643"/>
                </a:lnTo>
                <a:close/>
              </a:path>
            </a:pathLst>
          </a:custGeom>
          <a:ln w="952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0" name="object 50"/>
          <p:cNvSpPr/>
          <p:nvPr/>
        </p:nvSpPr>
        <p:spPr>
          <a:xfrm>
            <a:off x="3409818" y="4112680"/>
            <a:ext cx="1734859" cy="225900"/>
          </a:xfrm>
          <a:custGeom>
            <a:avLst/>
            <a:gdLst/>
            <a:ahLst/>
            <a:cxnLst/>
            <a:rect l="l" t="t" r="r" b="b"/>
            <a:pathLst>
              <a:path w="1736089" h="226060">
                <a:moveTo>
                  <a:pt x="0" y="225551"/>
                </a:moveTo>
                <a:lnTo>
                  <a:pt x="1735836" y="225551"/>
                </a:lnTo>
                <a:lnTo>
                  <a:pt x="1735836" y="0"/>
                </a:lnTo>
                <a:lnTo>
                  <a:pt x="0" y="0"/>
                </a:lnTo>
                <a:lnTo>
                  <a:pt x="0" y="225551"/>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1" name="object 51"/>
          <p:cNvSpPr/>
          <p:nvPr/>
        </p:nvSpPr>
        <p:spPr>
          <a:xfrm>
            <a:off x="3409818" y="5218320"/>
            <a:ext cx="1734859" cy="236053"/>
          </a:xfrm>
          <a:custGeom>
            <a:avLst/>
            <a:gdLst/>
            <a:ahLst/>
            <a:cxnLst/>
            <a:rect l="l" t="t" r="r" b="b"/>
            <a:pathLst>
              <a:path w="1736089" h="236220">
                <a:moveTo>
                  <a:pt x="0" y="236219"/>
                </a:moveTo>
                <a:lnTo>
                  <a:pt x="1735836" y="236219"/>
                </a:lnTo>
                <a:lnTo>
                  <a:pt x="1735836" y="0"/>
                </a:lnTo>
                <a:lnTo>
                  <a:pt x="0" y="0"/>
                </a:lnTo>
                <a:lnTo>
                  <a:pt x="0" y="23621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2" name="object 52"/>
          <p:cNvSpPr/>
          <p:nvPr/>
        </p:nvSpPr>
        <p:spPr>
          <a:xfrm>
            <a:off x="3409818" y="4112680"/>
            <a:ext cx="1734859" cy="1342074"/>
          </a:xfrm>
          <a:custGeom>
            <a:avLst/>
            <a:gdLst/>
            <a:ahLst/>
            <a:cxnLst/>
            <a:rect l="l" t="t" r="r" b="b"/>
            <a:pathLst>
              <a:path w="1736089" h="1343025">
                <a:moveTo>
                  <a:pt x="0" y="1342643"/>
                </a:moveTo>
                <a:lnTo>
                  <a:pt x="1735836" y="1342643"/>
                </a:lnTo>
                <a:lnTo>
                  <a:pt x="1735836" y="0"/>
                </a:lnTo>
                <a:lnTo>
                  <a:pt x="0" y="0"/>
                </a:lnTo>
                <a:lnTo>
                  <a:pt x="0" y="1342643"/>
                </a:lnTo>
                <a:close/>
              </a:path>
            </a:pathLst>
          </a:custGeom>
          <a:ln w="952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3" name="object 53"/>
          <p:cNvSpPr/>
          <p:nvPr/>
        </p:nvSpPr>
        <p:spPr>
          <a:xfrm>
            <a:off x="5144425" y="4112680"/>
            <a:ext cx="1738032" cy="225900"/>
          </a:xfrm>
          <a:custGeom>
            <a:avLst/>
            <a:gdLst/>
            <a:ahLst/>
            <a:cxnLst/>
            <a:rect l="l" t="t" r="r" b="b"/>
            <a:pathLst>
              <a:path w="1739265" h="226060">
                <a:moveTo>
                  <a:pt x="0" y="225551"/>
                </a:moveTo>
                <a:lnTo>
                  <a:pt x="1738883" y="225551"/>
                </a:lnTo>
                <a:lnTo>
                  <a:pt x="1738883" y="0"/>
                </a:lnTo>
                <a:lnTo>
                  <a:pt x="0" y="0"/>
                </a:lnTo>
                <a:lnTo>
                  <a:pt x="0" y="225551"/>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4" name="object 54"/>
          <p:cNvSpPr/>
          <p:nvPr/>
        </p:nvSpPr>
        <p:spPr>
          <a:xfrm>
            <a:off x="5144425" y="5218320"/>
            <a:ext cx="1738032" cy="236053"/>
          </a:xfrm>
          <a:custGeom>
            <a:avLst/>
            <a:gdLst/>
            <a:ahLst/>
            <a:cxnLst/>
            <a:rect l="l" t="t" r="r" b="b"/>
            <a:pathLst>
              <a:path w="1739265" h="236220">
                <a:moveTo>
                  <a:pt x="0" y="236219"/>
                </a:moveTo>
                <a:lnTo>
                  <a:pt x="1738883" y="236219"/>
                </a:lnTo>
                <a:lnTo>
                  <a:pt x="1738883" y="0"/>
                </a:lnTo>
                <a:lnTo>
                  <a:pt x="0" y="0"/>
                </a:lnTo>
                <a:lnTo>
                  <a:pt x="0" y="23621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5" name="object 55"/>
          <p:cNvSpPr/>
          <p:nvPr/>
        </p:nvSpPr>
        <p:spPr>
          <a:xfrm>
            <a:off x="5144425" y="4112680"/>
            <a:ext cx="1738032" cy="1342074"/>
          </a:xfrm>
          <a:custGeom>
            <a:avLst/>
            <a:gdLst/>
            <a:ahLst/>
            <a:cxnLst/>
            <a:rect l="l" t="t" r="r" b="b"/>
            <a:pathLst>
              <a:path w="1739265" h="1343025">
                <a:moveTo>
                  <a:pt x="0" y="1342643"/>
                </a:moveTo>
                <a:lnTo>
                  <a:pt x="1738883" y="1342643"/>
                </a:lnTo>
                <a:lnTo>
                  <a:pt x="1738883" y="0"/>
                </a:lnTo>
                <a:lnTo>
                  <a:pt x="0" y="0"/>
                </a:lnTo>
                <a:lnTo>
                  <a:pt x="0" y="1342643"/>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6" name="object 56"/>
          <p:cNvSpPr/>
          <p:nvPr/>
        </p:nvSpPr>
        <p:spPr>
          <a:xfrm>
            <a:off x="6882079" y="4112680"/>
            <a:ext cx="1734859" cy="1342074"/>
          </a:xfrm>
          <a:custGeom>
            <a:avLst/>
            <a:gdLst/>
            <a:ahLst/>
            <a:cxnLst/>
            <a:rect l="l" t="t" r="r" b="b"/>
            <a:pathLst>
              <a:path w="1736090" h="1343025">
                <a:moveTo>
                  <a:pt x="0" y="1342643"/>
                </a:moveTo>
                <a:lnTo>
                  <a:pt x="1735836" y="1342643"/>
                </a:lnTo>
                <a:lnTo>
                  <a:pt x="1735836" y="0"/>
                </a:lnTo>
                <a:lnTo>
                  <a:pt x="0" y="0"/>
                </a:lnTo>
                <a:lnTo>
                  <a:pt x="0" y="1342643"/>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7" name="object 57"/>
          <p:cNvSpPr/>
          <p:nvPr/>
        </p:nvSpPr>
        <p:spPr>
          <a:xfrm>
            <a:off x="6882079" y="4112680"/>
            <a:ext cx="1734859" cy="1342074"/>
          </a:xfrm>
          <a:custGeom>
            <a:avLst/>
            <a:gdLst/>
            <a:ahLst/>
            <a:cxnLst/>
            <a:rect l="l" t="t" r="r" b="b"/>
            <a:pathLst>
              <a:path w="1736090" h="1343025">
                <a:moveTo>
                  <a:pt x="0" y="1342643"/>
                </a:moveTo>
                <a:lnTo>
                  <a:pt x="1735836" y="1342643"/>
                </a:lnTo>
                <a:lnTo>
                  <a:pt x="1735836" y="0"/>
                </a:lnTo>
                <a:lnTo>
                  <a:pt x="0" y="0"/>
                </a:lnTo>
                <a:lnTo>
                  <a:pt x="0" y="1342643"/>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8" name="object 58"/>
          <p:cNvSpPr/>
          <p:nvPr/>
        </p:nvSpPr>
        <p:spPr>
          <a:xfrm>
            <a:off x="1675213" y="2789262"/>
            <a:ext cx="1734859" cy="1323672"/>
          </a:xfrm>
          <a:custGeom>
            <a:avLst/>
            <a:gdLst/>
            <a:ahLst/>
            <a:cxnLst/>
            <a:rect l="l" t="t" r="r" b="b"/>
            <a:pathLst>
              <a:path w="1736089" h="1324610">
                <a:moveTo>
                  <a:pt x="0" y="1324356"/>
                </a:moveTo>
                <a:lnTo>
                  <a:pt x="1735836" y="1324356"/>
                </a:lnTo>
                <a:lnTo>
                  <a:pt x="1735836" y="0"/>
                </a:lnTo>
                <a:lnTo>
                  <a:pt x="0" y="0"/>
                </a:lnTo>
                <a:lnTo>
                  <a:pt x="0" y="132435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9" name="object 59"/>
          <p:cNvSpPr/>
          <p:nvPr/>
        </p:nvSpPr>
        <p:spPr>
          <a:xfrm>
            <a:off x="1675213" y="2789262"/>
            <a:ext cx="1734859" cy="1323672"/>
          </a:xfrm>
          <a:custGeom>
            <a:avLst/>
            <a:gdLst/>
            <a:ahLst/>
            <a:cxnLst/>
            <a:rect l="l" t="t" r="r" b="b"/>
            <a:pathLst>
              <a:path w="1736089" h="1324610">
                <a:moveTo>
                  <a:pt x="0" y="1324356"/>
                </a:moveTo>
                <a:lnTo>
                  <a:pt x="1735836" y="1324356"/>
                </a:lnTo>
                <a:lnTo>
                  <a:pt x="1735836" y="0"/>
                </a:lnTo>
                <a:lnTo>
                  <a:pt x="0" y="0"/>
                </a:lnTo>
                <a:lnTo>
                  <a:pt x="0" y="1324356"/>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0" name="object 60"/>
          <p:cNvSpPr/>
          <p:nvPr/>
        </p:nvSpPr>
        <p:spPr>
          <a:xfrm>
            <a:off x="3409818" y="2789262"/>
            <a:ext cx="1734859" cy="1323672"/>
          </a:xfrm>
          <a:custGeom>
            <a:avLst/>
            <a:gdLst/>
            <a:ahLst/>
            <a:cxnLst/>
            <a:rect l="l" t="t" r="r" b="b"/>
            <a:pathLst>
              <a:path w="1736089" h="1324610">
                <a:moveTo>
                  <a:pt x="0" y="1324356"/>
                </a:moveTo>
                <a:lnTo>
                  <a:pt x="1735836" y="1324356"/>
                </a:lnTo>
                <a:lnTo>
                  <a:pt x="1735836" y="0"/>
                </a:lnTo>
                <a:lnTo>
                  <a:pt x="0" y="0"/>
                </a:lnTo>
                <a:lnTo>
                  <a:pt x="0" y="132435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1" name="object 61"/>
          <p:cNvSpPr/>
          <p:nvPr/>
        </p:nvSpPr>
        <p:spPr>
          <a:xfrm>
            <a:off x="3409818" y="2789262"/>
            <a:ext cx="1734859" cy="1323672"/>
          </a:xfrm>
          <a:custGeom>
            <a:avLst/>
            <a:gdLst/>
            <a:ahLst/>
            <a:cxnLst/>
            <a:rect l="l" t="t" r="r" b="b"/>
            <a:pathLst>
              <a:path w="1736089" h="1324610">
                <a:moveTo>
                  <a:pt x="0" y="1324356"/>
                </a:moveTo>
                <a:lnTo>
                  <a:pt x="1735836" y="1324356"/>
                </a:lnTo>
                <a:lnTo>
                  <a:pt x="1735836" y="0"/>
                </a:lnTo>
                <a:lnTo>
                  <a:pt x="0" y="0"/>
                </a:lnTo>
                <a:lnTo>
                  <a:pt x="0" y="1324356"/>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2" name="object 62"/>
          <p:cNvSpPr/>
          <p:nvPr/>
        </p:nvSpPr>
        <p:spPr>
          <a:xfrm>
            <a:off x="5144425" y="2789262"/>
            <a:ext cx="1738032" cy="1323672"/>
          </a:xfrm>
          <a:custGeom>
            <a:avLst/>
            <a:gdLst/>
            <a:ahLst/>
            <a:cxnLst/>
            <a:rect l="l" t="t" r="r" b="b"/>
            <a:pathLst>
              <a:path w="1739265" h="1324610">
                <a:moveTo>
                  <a:pt x="0" y="1324356"/>
                </a:moveTo>
                <a:lnTo>
                  <a:pt x="1738883" y="1324356"/>
                </a:lnTo>
                <a:lnTo>
                  <a:pt x="1738883" y="0"/>
                </a:lnTo>
                <a:lnTo>
                  <a:pt x="0" y="0"/>
                </a:lnTo>
                <a:lnTo>
                  <a:pt x="0" y="132435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3" name="object 63"/>
          <p:cNvSpPr/>
          <p:nvPr/>
        </p:nvSpPr>
        <p:spPr>
          <a:xfrm>
            <a:off x="5144425" y="2789262"/>
            <a:ext cx="1738032" cy="1323672"/>
          </a:xfrm>
          <a:custGeom>
            <a:avLst/>
            <a:gdLst/>
            <a:ahLst/>
            <a:cxnLst/>
            <a:rect l="l" t="t" r="r" b="b"/>
            <a:pathLst>
              <a:path w="1739265" h="1324610">
                <a:moveTo>
                  <a:pt x="0" y="1324356"/>
                </a:moveTo>
                <a:lnTo>
                  <a:pt x="1738883" y="1324356"/>
                </a:lnTo>
                <a:lnTo>
                  <a:pt x="1738883" y="0"/>
                </a:lnTo>
                <a:lnTo>
                  <a:pt x="0" y="0"/>
                </a:lnTo>
                <a:lnTo>
                  <a:pt x="0" y="1324356"/>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4" name="object 64"/>
          <p:cNvSpPr/>
          <p:nvPr/>
        </p:nvSpPr>
        <p:spPr>
          <a:xfrm>
            <a:off x="6882079" y="2789262"/>
            <a:ext cx="1734859" cy="1323672"/>
          </a:xfrm>
          <a:custGeom>
            <a:avLst/>
            <a:gdLst/>
            <a:ahLst/>
            <a:cxnLst/>
            <a:rect l="l" t="t" r="r" b="b"/>
            <a:pathLst>
              <a:path w="1736090" h="1324610">
                <a:moveTo>
                  <a:pt x="0" y="1324356"/>
                </a:moveTo>
                <a:lnTo>
                  <a:pt x="1735836" y="1324356"/>
                </a:lnTo>
                <a:lnTo>
                  <a:pt x="1735836" y="0"/>
                </a:lnTo>
                <a:lnTo>
                  <a:pt x="0" y="0"/>
                </a:lnTo>
                <a:lnTo>
                  <a:pt x="0" y="132435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5" name="object 65"/>
          <p:cNvSpPr/>
          <p:nvPr/>
        </p:nvSpPr>
        <p:spPr>
          <a:xfrm>
            <a:off x="6882079" y="2789262"/>
            <a:ext cx="1734859" cy="1323672"/>
          </a:xfrm>
          <a:custGeom>
            <a:avLst/>
            <a:gdLst/>
            <a:ahLst/>
            <a:cxnLst/>
            <a:rect l="l" t="t" r="r" b="b"/>
            <a:pathLst>
              <a:path w="1736090" h="1324610">
                <a:moveTo>
                  <a:pt x="0" y="1324356"/>
                </a:moveTo>
                <a:lnTo>
                  <a:pt x="1735836" y="1324356"/>
                </a:lnTo>
                <a:lnTo>
                  <a:pt x="1735836" y="0"/>
                </a:lnTo>
                <a:lnTo>
                  <a:pt x="0" y="0"/>
                </a:lnTo>
                <a:lnTo>
                  <a:pt x="0" y="1324356"/>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6" name="object 66"/>
          <p:cNvSpPr/>
          <p:nvPr/>
        </p:nvSpPr>
        <p:spPr>
          <a:xfrm>
            <a:off x="1675213" y="1464321"/>
            <a:ext cx="1734859" cy="1323672"/>
          </a:xfrm>
          <a:custGeom>
            <a:avLst/>
            <a:gdLst/>
            <a:ahLst/>
            <a:cxnLst/>
            <a:rect l="l" t="t" r="r" b="b"/>
            <a:pathLst>
              <a:path w="1736089" h="1324610">
                <a:moveTo>
                  <a:pt x="0" y="1324355"/>
                </a:moveTo>
                <a:lnTo>
                  <a:pt x="1735836" y="1324355"/>
                </a:lnTo>
                <a:lnTo>
                  <a:pt x="1735836" y="0"/>
                </a:lnTo>
                <a:lnTo>
                  <a:pt x="0" y="0"/>
                </a:lnTo>
                <a:lnTo>
                  <a:pt x="0" y="1324355"/>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7" name="object 67"/>
          <p:cNvSpPr/>
          <p:nvPr/>
        </p:nvSpPr>
        <p:spPr>
          <a:xfrm>
            <a:off x="1675213" y="1464321"/>
            <a:ext cx="1734859" cy="1323672"/>
          </a:xfrm>
          <a:custGeom>
            <a:avLst/>
            <a:gdLst/>
            <a:ahLst/>
            <a:cxnLst/>
            <a:rect l="l" t="t" r="r" b="b"/>
            <a:pathLst>
              <a:path w="1736089" h="1324610">
                <a:moveTo>
                  <a:pt x="0" y="1324355"/>
                </a:moveTo>
                <a:lnTo>
                  <a:pt x="1735836" y="1324355"/>
                </a:lnTo>
                <a:lnTo>
                  <a:pt x="1735836" y="0"/>
                </a:lnTo>
                <a:lnTo>
                  <a:pt x="0" y="0"/>
                </a:lnTo>
                <a:lnTo>
                  <a:pt x="0" y="1324355"/>
                </a:lnTo>
                <a:close/>
              </a:path>
            </a:pathLst>
          </a:custGeom>
          <a:ln w="952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8" name="object 68"/>
          <p:cNvSpPr/>
          <p:nvPr/>
        </p:nvSpPr>
        <p:spPr>
          <a:xfrm>
            <a:off x="3409818" y="1464321"/>
            <a:ext cx="1734859" cy="1323672"/>
          </a:xfrm>
          <a:custGeom>
            <a:avLst/>
            <a:gdLst/>
            <a:ahLst/>
            <a:cxnLst/>
            <a:rect l="l" t="t" r="r" b="b"/>
            <a:pathLst>
              <a:path w="1736089" h="1324610">
                <a:moveTo>
                  <a:pt x="0" y="1324355"/>
                </a:moveTo>
                <a:lnTo>
                  <a:pt x="1735836" y="1324355"/>
                </a:lnTo>
                <a:lnTo>
                  <a:pt x="1735836" y="0"/>
                </a:lnTo>
                <a:lnTo>
                  <a:pt x="0" y="0"/>
                </a:lnTo>
                <a:lnTo>
                  <a:pt x="0" y="1324355"/>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9" name="object 69"/>
          <p:cNvSpPr/>
          <p:nvPr/>
        </p:nvSpPr>
        <p:spPr>
          <a:xfrm>
            <a:off x="3409818" y="1464321"/>
            <a:ext cx="1734859" cy="1323672"/>
          </a:xfrm>
          <a:custGeom>
            <a:avLst/>
            <a:gdLst/>
            <a:ahLst/>
            <a:cxnLst/>
            <a:rect l="l" t="t" r="r" b="b"/>
            <a:pathLst>
              <a:path w="1736089" h="1324610">
                <a:moveTo>
                  <a:pt x="0" y="1324355"/>
                </a:moveTo>
                <a:lnTo>
                  <a:pt x="1735836" y="1324355"/>
                </a:lnTo>
                <a:lnTo>
                  <a:pt x="1735836" y="0"/>
                </a:lnTo>
                <a:lnTo>
                  <a:pt x="0" y="0"/>
                </a:lnTo>
                <a:lnTo>
                  <a:pt x="0" y="1324355"/>
                </a:lnTo>
                <a:close/>
              </a:path>
            </a:pathLst>
          </a:custGeom>
          <a:ln w="952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0" name="object 70"/>
          <p:cNvSpPr/>
          <p:nvPr/>
        </p:nvSpPr>
        <p:spPr>
          <a:xfrm>
            <a:off x="5144425" y="1464321"/>
            <a:ext cx="1738032" cy="1323672"/>
          </a:xfrm>
          <a:custGeom>
            <a:avLst/>
            <a:gdLst/>
            <a:ahLst/>
            <a:cxnLst/>
            <a:rect l="l" t="t" r="r" b="b"/>
            <a:pathLst>
              <a:path w="1739265" h="1324610">
                <a:moveTo>
                  <a:pt x="0" y="1324355"/>
                </a:moveTo>
                <a:lnTo>
                  <a:pt x="1738883" y="1324355"/>
                </a:lnTo>
                <a:lnTo>
                  <a:pt x="1738883" y="0"/>
                </a:lnTo>
                <a:lnTo>
                  <a:pt x="0" y="0"/>
                </a:lnTo>
                <a:lnTo>
                  <a:pt x="0" y="1324355"/>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1" name="object 71"/>
          <p:cNvSpPr/>
          <p:nvPr/>
        </p:nvSpPr>
        <p:spPr>
          <a:xfrm>
            <a:off x="5144425" y="1464321"/>
            <a:ext cx="1738032" cy="1323672"/>
          </a:xfrm>
          <a:custGeom>
            <a:avLst/>
            <a:gdLst/>
            <a:ahLst/>
            <a:cxnLst/>
            <a:rect l="l" t="t" r="r" b="b"/>
            <a:pathLst>
              <a:path w="1739265" h="1324610">
                <a:moveTo>
                  <a:pt x="0" y="1324355"/>
                </a:moveTo>
                <a:lnTo>
                  <a:pt x="1738883" y="1324355"/>
                </a:lnTo>
                <a:lnTo>
                  <a:pt x="1738883" y="0"/>
                </a:lnTo>
                <a:lnTo>
                  <a:pt x="0" y="0"/>
                </a:lnTo>
                <a:lnTo>
                  <a:pt x="0" y="1324355"/>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2" name="object 72"/>
          <p:cNvSpPr/>
          <p:nvPr/>
        </p:nvSpPr>
        <p:spPr>
          <a:xfrm>
            <a:off x="6882079" y="1464321"/>
            <a:ext cx="1734859" cy="1323672"/>
          </a:xfrm>
          <a:custGeom>
            <a:avLst/>
            <a:gdLst/>
            <a:ahLst/>
            <a:cxnLst/>
            <a:rect l="l" t="t" r="r" b="b"/>
            <a:pathLst>
              <a:path w="1736090" h="1324610">
                <a:moveTo>
                  <a:pt x="0" y="1324355"/>
                </a:moveTo>
                <a:lnTo>
                  <a:pt x="1735836" y="1324355"/>
                </a:lnTo>
                <a:lnTo>
                  <a:pt x="1735836" y="0"/>
                </a:lnTo>
                <a:lnTo>
                  <a:pt x="0" y="0"/>
                </a:lnTo>
                <a:lnTo>
                  <a:pt x="0" y="1324355"/>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3" name="object 73"/>
          <p:cNvSpPr/>
          <p:nvPr/>
        </p:nvSpPr>
        <p:spPr>
          <a:xfrm>
            <a:off x="6882079" y="1464321"/>
            <a:ext cx="1734859" cy="1323672"/>
          </a:xfrm>
          <a:custGeom>
            <a:avLst/>
            <a:gdLst/>
            <a:ahLst/>
            <a:cxnLst/>
            <a:rect l="l" t="t" r="r" b="b"/>
            <a:pathLst>
              <a:path w="1736090" h="1324610">
                <a:moveTo>
                  <a:pt x="0" y="1324355"/>
                </a:moveTo>
                <a:lnTo>
                  <a:pt x="1735836" y="1324355"/>
                </a:lnTo>
                <a:lnTo>
                  <a:pt x="1735836" y="0"/>
                </a:lnTo>
                <a:lnTo>
                  <a:pt x="0" y="0"/>
                </a:lnTo>
                <a:lnTo>
                  <a:pt x="0" y="1324355"/>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4" name="object 74"/>
          <p:cNvSpPr txBox="1"/>
          <p:nvPr/>
        </p:nvSpPr>
        <p:spPr>
          <a:xfrm>
            <a:off x="1725469" y="952619"/>
            <a:ext cx="6839818" cy="407670"/>
          </a:xfrm>
          <a:prstGeom prst="rect">
            <a:avLst/>
          </a:prstGeom>
          <a:ln w="9525">
            <a:solidFill>
              <a:srgbClr val="000000"/>
            </a:solidFill>
          </a:ln>
        </p:spPr>
        <p:txBody>
          <a:bodyPr vert="horz" wrap="square" lIns="0" tIns="39341" rIns="0" bIns="0" rtlCol="0">
            <a:spAutoFit/>
          </a:bodyPr>
          <a:lstStyle/>
          <a:p>
            <a:pPr marL="46355">
              <a:lnSpc>
                <a:spcPct val="100000"/>
              </a:lnSpc>
              <a:spcBef>
                <a:spcPts val="310"/>
              </a:spcBef>
            </a:pPr>
            <a:r>
              <a:rPr sz="1200" b="1" spc="5" dirty="0">
                <a:latin typeface="微软雅黑" panose="020B0503020204020204" charset="-122"/>
                <a:ea typeface="微软雅黑" panose="020B0503020204020204" charset="-122"/>
                <a:cs typeface="微软雅黑" panose="020B0503020204020204" charset="-122"/>
              </a:rPr>
              <a:t>总体价</a:t>
            </a:r>
            <a:r>
              <a:rPr sz="1200" b="1" spc="-5" dirty="0">
                <a:latin typeface="微软雅黑" panose="020B0503020204020204" charset="-122"/>
                <a:ea typeface="微软雅黑" panose="020B0503020204020204" charset="-122"/>
                <a:cs typeface="微软雅黑" panose="020B0503020204020204" charset="-122"/>
              </a:rPr>
              <a:t>值定位</a:t>
            </a:r>
            <a:endParaRPr sz="1200">
              <a:latin typeface="微软雅黑" panose="020B0503020204020204" charset="-122"/>
              <a:ea typeface="微软雅黑" panose="020B0503020204020204" charset="-122"/>
              <a:cs typeface="微软雅黑" panose="020B0503020204020204" charset="-122"/>
            </a:endParaRPr>
          </a:p>
          <a:p>
            <a:pPr marL="46355">
              <a:lnSpc>
                <a:spcPct val="100000"/>
              </a:lnSpc>
            </a:pPr>
            <a:r>
              <a:rPr sz="1200" spc="-10" dirty="0">
                <a:latin typeface="微软雅黑" panose="020B0503020204020204" charset="-122"/>
                <a:ea typeface="微软雅黑" panose="020B0503020204020204" charset="-122"/>
                <a:cs typeface="微软雅黑" panose="020B0503020204020204" charset="-122"/>
              </a:rPr>
              <a:t>“X</a:t>
            </a:r>
            <a:r>
              <a:rPr sz="1200" dirty="0">
                <a:latin typeface="微软雅黑" panose="020B0503020204020204" charset="-122"/>
                <a:ea typeface="微软雅黑" panose="020B0503020204020204" charset="-122"/>
                <a:cs typeface="微软雅黑" panose="020B0503020204020204" charset="-122"/>
              </a:rPr>
              <a:t>公司是完全可靠的工业包装合作伙伴”</a:t>
            </a:r>
            <a:endParaRPr sz="1200">
              <a:latin typeface="微软雅黑" panose="020B0503020204020204" charset="-122"/>
              <a:ea typeface="微软雅黑" panose="020B0503020204020204" charset="-122"/>
              <a:cs typeface="微软雅黑" panose="020B0503020204020204" charset="-122"/>
            </a:endParaRPr>
          </a:p>
        </p:txBody>
      </p:sp>
      <p:sp>
        <p:nvSpPr>
          <p:cNvPr id="75" name="object 75"/>
          <p:cNvSpPr/>
          <p:nvPr/>
        </p:nvSpPr>
        <p:spPr>
          <a:xfrm>
            <a:off x="3458552" y="1493256"/>
            <a:ext cx="3379615" cy="1265928"/>
          </a:xfrm>
          <a:custGeom>
            <a:avLst/>
            <a:gdLst/>
            <a:ahLst/>
            <a:cxnLst/>
            <a:rect l="l" t="t" r="r" b="b"/>
            <a:pathLst>
              <a:path w="3382009" h="1266825">
                <a:moveTo>
                  <a:pt x="0" y="1266444"/>
                </a:moveTo>
                <a:lnTo>
                  <a:pt x="3381755" y="1266444"/>
                </a:lnTo>
                <a:lnTo>
                  <a:pt x="3381755" y="0"/>
                </a:lnTo>
                <a:lnTo>
                  <a:pt x="0" y="0"/>
                </a:lnTo>
                <a:lnTo>
                  <a:pt x="0" y="1266444"/>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6" name="object 76"/>
          <p:cNvSpPr/>
          <p:nvPr/>
        </p:nvSpPr>
        <p:spPr>
          <a:xfrm>
            <a:off x="3458552" y="1493256"/>
            <a:ext cx="3379615" cy="1265928"/>
          </a:xfrm>
          <a:custGeom>
            <a:avLst/>
            <a:gdLst/>
            <a:ahLst/>
            <a:cxnLst/>
            <a:rect l="l" t="t" r="r" b="b"/>
            <a:pathLst>
              <a:path w="3382009" h="1266825">
                <a:moveTo>
                  <a:pt x="0" y="1266444"/>
                </a:moveTo>
                <a:lnTo>
                  <a:pt x="3381755" y="1266444"/>
                </a:lnTo>
                <a:lnTo>
                  <a:pt x="3381755" y="0"/>
                </a:lnTo>
                <a:lnTo>
                  <a:pt x="0" y="0"/>
                </a:lnTo>
                <a:lnTo>
                  <a:pt x="0" y="1266444"/>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7" name="object 77"/>
          <p:cNvSpPr txBox="1"/>
          <p:nvPr/>
        </p:nvSpPr>
        <p:spPr>
          <a:xfrm>
            <a:off x="3491803" y="1829568"/>
            <a:ext cx="1095868" cy="196215"/>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定制型</a:t>
            </a:r>
            <a:r>
              <a:rPr sz="1200" b="1" spc="-5" dirty="0">
                <a:latin typeface="微软雅黑" panose="020B0503020204020204" charset="-122"/>
                <a:ea typeface="微软雅黑" panose="020B0503020204020204" charset="-122"/>
                <a:cs typeface="微软雅黑" panose="020B0503020204020204" charset="-122"/>
              </a:rPr>
              <a:t>的大客户</a:t>
            </a:r>
            <a:endParaRPr sz="1200">
              <a:latin typeface="微软雅黑" panose="020B0503020204020204" charset="-122"/>
              <a:ea typeface="微软雅黑" panose="020B0503020204020204" charset="-122"/>
              <a:cs typeface="微软雅黑" panose="020B0503020204020204" charset="-122"/>
            </a:endParaRPr>
          </a:p>
        </p:txBody>
      </p:sp>
      <p:sp>
        <p:nvSpPr>
          <p:cNvPr id="78" name="object 78"/>
          <p:cNvSpPr txBox="1"/>
          <p:nvPr/>
        </p:nvSpPr>
        <p:spPr>
          <a:xfrm>
            <a:off x="3491803" y="2012318"/>
            <a:ext cx="3274914" cy="196215"/>
          </a:xfrm>
          <a:prstGeom prst="rect">
            <a:avLst/>
          </a:prstGeom>
        </p:spPr>
        <p:txBody>
          <a:bodyPr vert="horz" wrap="square" lIns="0" tIns="12691" rIns="0" bIns="0" rtlCol="0">
            <a:spAutoFit/>
          </a:bodyPr>
          <a:lstStyle/>
          <a:p>
            <a:pPr marL="12700">
              <a:lnSpc>
                <a:spcPct val="100000"/>
              </a:lnSpc>
              <a:spcBef>
                <a:spcPts val="100"/>
              </a:spcBef>
            </a:pPr>
            <a:r>
              <a:rPr sz="1200" spc="-5" dirty="0">
                <a:latin typeface="微软雅黑" panose="020B0503020204020204" charset="-122"/>
                <a:ea typeface="微软雅黑" panose="020B0503020204020204" charset="-122"/>
                <a:cs typeface="微软雅黑" panose="020B0503020204020204" charset="-122"/>
              </a:rPr>
              <a:t>“</a:t>
            </a:r>
            <a:r>
              <a:rPr sz="1200" dirty="0">
                <a:latin typeface="微软雅黑" panose="020B0503020204020204" charset="-122"/>
                <a:ea typeface="微软雅黑" panose="020B0503020204020204" charset="-122"/>
                <a:cs typeface="微软雅黑" panose="020B0503020204020204" charset="-122"/>
              </a:rPr>
              <a:t>我们保证提供定制的客户服务和品质，确保</a:t>
            </a:r>
            <a:r>
              <a:rPr sz="1200" spc="5" dirty="0">
                <a:latin typeface="微软雅黑" panose="020B0503020204020204" charset="-122"/>
                <a:ea typeface="微软雅黑" panose="020B0503020204020204" charset="-122"/>
                <a:cs typeface="微软雅黑" panose="020B0503020204020204" charset="-122"/>
              </a:rPr>
              <a:t>满</a:t>
            </a:r>
            <a:r>
              <a:rPr sz="1200" dirty="0">
                <a:latin typeface="微软雅黑" panose="020B0503020204020204" charset="-122"/>
                <a:ea typeface="微软雅黑" panose="020B0503020204020204" charset="-122"/>
                <a:cs typeface="微软雅黑" panose="020B0503020204020204" charset="-122"/>
              </a:rPr>
              <a:t>足</a:t>
            </a:r>
            <a:endParaRPr sz="1200">
              <a:latin typeface="微软雅黑" panose="020B0503020204020204" charset="-122"/>
              <a:ea typeface="微软雅黑" panose="020B0503020204020204" charset="-122"/>
              <a:cs typeface="微软雅黑" panose="020B0503020204020204" charset="-122"/>
            </a:endParaRPr>
          </a:p>
        </p:txBody>
      </p:sp>
      <p:sp>
        <p:nvSpPr>
          <p:cNvPr id="79" name="object 79"/>
          <p:cNvSpPr txBox="1"/>
          <p:nvPr/>
        </p:nvSpPr>
        <p:spPr>
          <a:xfrm>
            <a:off x="3491803" y="2195069"/>
            <a:ext cx="1396011" cy="196215"/>
          </a:xfrm>
          <a:prstGeom prst="rect">
            <a:avLst/>
          </a:prstGeom>
        </p:spPr>
        <p:txBody>
          <a:bodyPr vert="horz" wrap="square" lIns="0" tIns="12691" rIns="0" bIns="0" rtlCol="0">
            <a:spAutoFit/>
          </a:bodyPr>
          <a:lstStyle/>
          <a:p>
            <a:pPr marL="12700">
              <a:lnSpc>
                <a:spcPct val="100000"/>
              </a:lnSpc>
              <a:spcBef>
                <a:spcPts val="100"/>
              </a:spcBef>
            </a:pPr>
            <a:r>
              <a:rPr sz="1200" dirty="0">
                <a:latin typeface="微软雅黑" panose="020B0503020204020204" charset="-122"/>
                <a:ea typeface="微软雅黑" panose="020B0503020204020204" charset="-122"/>
                <a:cs typeface="微软雅黑" panose="020B0503020204020204" charset="-122"/>
              </a:rPr>
              <a:t>贵公司的特定需求”</a:t>
            </a:r>
            <a:endParaRPr sz="1200" dirty="0">
              <a:latin typeface="微软雅黑" panose="020B0503020204020204" charset="-122"/>
              <a:ea typeface="微软雅黑" panose="020B0503020204020204" charset="-122"/>
              <a:cs typeface="微软雅黑" panose="020B0503020204020204" charset="-122"/>
            </a:endParaRPr>
          </a:p>
        </p:txBody>
      </p:sp>
      <p:sp>
        <p:nvSpPr>
          <p:cNvPr id="80" name="object 80"/>
          <p:cNvSpPr/>
          <p:nvPr/>
        </p:nvSpPr>
        <p:spPr>
          <a:xfrm>
            <a:off x="1734606" y="1493256"/>
            <a:ext cx="1629525" cy="1265928"/>
          </a:xfrm>
          <a:custGeom>
            <a:avLst/>
            <a:gdLst/>
            <a:ahLst/>
            <a:cxnLst/>
            <a:rect l="l" t="t" r="r" b="b"/>
            <a:pathLst>
              <a:path w="1630679" h="1266825">
                <a:moveTo>
                  <a:pt x="0" y="1266444"/>
                </a:moveTo>
                <a:lnTo>
                  <a:pt x="1630680" y="1266444"/>
                </a:lnTo>
                <a:lnTo>
                  <a:pt x="1630680" y="0"/>
                </a:lnTo>
                <a:lnTo>
                  <a:pt x="0" y="0"/>
                </a:lnTo>
                <a:lnTo>
                  <a:pt x="0" y="1266444"/>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81" name="object 81"/>
          <p:cNvSpPr/>
          <p:nvPr/>
        </p:nvSpPr>
        <p:spPr>
          <a:xfrm>
            <a:off x="1734606" y="1493256"/>
            <a:ext cx="1629525" cy="1265928"/>
          </a:xfrm>
          <a:custGeom>
            <a:avLst/>
            <a:gdLst/>
            <a:ahLst/>
            <a:cxnLst/>
            <a:rect l="l" t="t" r="r" b="b"/>
            <a:pathLst>
              <a:path w="1630679" h="1266825">
                <a:moveTo>
                  <a:pt x="0" y="1266444"/>
                </a:moveTo>
                <a:lnTo>
                  <a:pt x="1630680" y="1266444"/>
                </a:lnTo>
                <a:lnTo>
                  <a:pt x="1630680" y="0"/>
                </a:lnTo>
                <a:lnTo>
                  <a:pt x="0" y="0"/>
                </a:lnTo>
                <a:lnTo>
                  <a:pt x="0" y="1266444"/>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82" name="object 82"/>
          <p:cNvSpPr txBox="1"/>
          <p:nvPr/>
        </p:nvSpPr>
        <p:spPr>
          <a:xfrm>
            <a:off x="1767348" y="1738192"/>
            <a:ext cx="1548303" cy="750570"/>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交易型</a:t>
            </a:r>
            <a:r>
              <a:rPr sz="1200" b="1" spc="-5" dirty="0">
                <a:latin typeface="微软雅黑" panose="020B0503020204020204" charset="-122"/>
                <a:ea typeface="微软雅黑" panose="020B0503020204020204" charset="-122"/>
                <a:cs typeface="微软雅黑" panose="020B0503020204020204" charset="-122"/>
              </a:rPr>
              <a:t>的大客户</a:t>
            </a:r>
            <a:endParaRPr sz="1200">
              <a:latin typeface="微软雅黑" panose="020B0503020204020204" charset="-122"/>
              <a:ea typeface="微软雅黑" panose="020B0503020204020204" charset="-122"/>
              <a:cs typeface="微软雅黑" panose="020B0503020204020204" charset="-122"/>
            </a:endParaRPr>
          </a:p>
          <a:p>
            <a:pPr marL="12700" marR="5080">
              <a:lnSpc>
                <a:spcPct val="100000"/>
              </a:lnSpc>
            </a:pPr>
            <a:r>
              <a:rPr sz="1200" spc="-5" dirty="0">
                <a:latin typeface="微软雅黑" panose="020B0503020204020204" charset="-122"/>
                <a:ea typeface="微软雅黑" panose="020B0503020204020204" charset="-122"/>
                <a:cs typeface="微软雅黑" panose="020B0503020204020204" charset="-122"/>
              </a:rPr>
              <a:t>“</a:t>
            </a:r>
            <a:r>
              <a:rPr sz="1200" dirty="0">
                <a:latin typeface="微软雅黑" panose="020B0503020204020204" charset="-122"/>
                <a:ea typeface="微软雅黑" panose="020B0503020204020204" charset="-122"/>
                <a:cs typeface="微软雅黑" panose="020B0503020204020204" charset="-122"/>
              </a:rPr>
              <a:t>我们将以具有竞争力 的价格提供贵公司需要 的所有的标准产品”</a:t>
            </a:r>
            <a:endParaRPr sz="1200">
              <a:latin typeface="微软雅黑" panose="020B0503020204020204" charset="-122"/>
              <a:ea typeface="微软雅黑" panose="020B0503020204020204" charset="-122"/>
              <a:cs typeface="微软雅黑" panose="020B0503020204020204" charset="-122"/>
            </a:endParaRPr>
          </a:p>
        </p:txBody>
      </p:sp>
      <p:sp>
        <p:nvSpPr>
          <p:cNvPr id="83" name="object 83"/>
          <p:cNvSpPr/>
          <p:nvPr/>
        </p:nvSpPr>
        <p:spPr>
          <a:xfrm>
            <a:off x="6933857" y="1493256"/>
            <a:ext cx="1631429" cy="1265928"/>
          </a:xfrm>
          <a:custGeom>
            <a:avLst/>
            <a:gdLst/>
            <a:ahLst/>
            <a:cxnLst/>
            <a:rect l="l" t="t" r="r" b="b"/>
            <a:pathLst>
              <a:path w="1632584" h="1266825">
                <a:moveTo>
                  <a:pt x="0" y="1266444"/>
                </a:moveTo>
                <a:lnTo>
                  <a:pt x="1632203" y="1266444"/>
                </a:lnTo>
                <a:lnTo>
                  <a:pt x="1632203" y="0"/>
                </a:lnTo>
                <a:lnTo>
                  <a:pt x="0" y="0"/>
                </a:lnTo>
                <a:lnTo>
                  <a:pt x="0" y="1266444"/>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84" name="object 84"/>
          <p:cNvSpPr/>
          <p:nvPr/>
        </p:nvSpPr>
        <p:spPr>
          <a:xfrm>
            <a:off x="6933857" y="1493256"/>
            <a:ext cx="1631429" cy="1265928"/>
          </a:xfrm>
          <a:custGeom>
            <a:avLst/>
            <a:gdLst/>
            <a:ahLst/>
            <a:cxnLst/>
            <a:rect l="l" t="t" r="r" b="b"/>
            <a:pathLst>
              <a:path w="1632584" h="1266825">
                <a:moveTo>
                  <a:pt x="0" y="1266444"/>
                </a:moveTo>
                <a:lnTo>
                  <a:pt x="1632203" y="1266444"/>
                </a:lnTo>
                <a:lnTo>
                  <a:pt x="1632203" y="0"/>
                </a:lnTo>
                <a:lnTo>
                  <a:pt x="0" y="0"/>
                </a:lnTo>
                <a:lnTo>
                  <a:pt x="0" y="1266444"/>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85" name="object 85"/>
          <p:cNvSpPr txBox="1"/>
          <p:nvPr/>
        </p:nvSpPr>
        <p:spPr>
          <a:xfrm>
            <a:off x="6968377" y="1553360"/>
            <a:ext cx="1552745" cy="1121410"/>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总体拥</a:t>
            </a:r>
            <a:r>
              <a:rPr sz="1200" b="1" dirty="0">
                <a:latin typeface="微软雅黑" panose="020B0503020204020204" charset="-122"/>
                <a:ea typeface="微软雅黑" panose="020B0503020204020204" charset="-122"/>
                <a:cs typeface="微软雅黑" panose="020B0503020204020204" charset="-122"/>
              </a:rPr>
              <a:t>有</a:t>
            </a:r>
            <a:r>
              <a:rPr sz="1200" b="1" spc="-5" dirty="0">
                <a:latin typeface="微软雅黑" panose="020B0503020204020204" charset="-122"/>
                <a:ea typeface="微软雅黑" panose="020B0503020204020204" charset="-122"/>
                <a:cs typeface="微软雅黑" panose="020B0503020204020204" charset="-122"/>
              </a:rPr>
              <a:t>成</a:t>
            </a:r>
            <a:r>
              <a:rPr sz="1200" b="1" dirty="0">
                <a:latin typeface="微软雅黑" panose="020B0503020204020204" charset="-122"/>
                <a:ea typeface="微软雅黑" panose="020B0503020204020204" charset="-122"/>
                <a:cs typeface="微软雅黑" panose="020B0503020204020204" charset="-122"/>
              </a:rPr>
              <a:t>本</a:t>
            </a:r>
            <a:r>
              <a:rPr sz="1200" b="1" spc="-5" dirty="0">
                <a:latin typeface="微软雅黑" panose="020B0503020204020204" charset="-122"/>
                <a:ea typeface="微软雅黑" panose="020B0503020204020204" charset="-122"/>
                <a:cs typeface="微软雅黑" panose="020B0503020204020204" charset="-122"/>
              </a:rPr>
              <a:t>合</a:t>
            </a:r>
            <a:r>
              <a:rPr sz="1200" b="1" dirty="0">
                <a:latin typeface="微软雅黑" panose="020B0503020204020204" charset="-122"/>
                <a:ea typeface="微软雅黑" panose="020B0503020204020204" charset="-122"/>
                <a:cs typeface="微软雅黑" panose="020B0503020204020204" charset="-122"/>
              </a:rPr>
              <a:t>作</a:t>
            </a:r>
            <a:r>
              <a:rPr sz="1200" b="1" spc="-5" dirty="0">
                <a:latin typeface="微软雅黑" panose="020B0503020204020204" charset="-122"/>
                <a:ea typeface="微软雅黑" panose="020B0503020204020204" charset="-122"/>
                <a:cs typeface="微软雅黑" panose="020B0503020204020204" charset="-122"/>
              </a:rPr>
              <a:t>伙</a:t>
            </a:r>
            <a:r>
              <a:rPr sz="1200" b="1" dirty="0">
                <a:latin typeface="微软雅黑" panose="020B0503020204020204" charset="-122"/>
                <a:ea typeface="微软雅黑" panose="020B0503020204020204" charset="-122"/>
                <a:cs typeface="微软雅黑" panose="020B0503020204020204" charset="-122"/>
              </a:rPr>
              <a:t>伴</a:t>
            </a:r>
            <a:endParaRPr sz="1200">
              <a:latin typeface="微软雅黑" panose="020B0503020204020204" charset="-122"/>
              <a:ea typeface="微软雅黑" panose="020B0503020204020204" charset="-122"/>
              <a:cs typeface="微软雅黑" panose="020B0503020204020204" charset="-122"/>
            </a:endParaRPr>
          </a:p>
          <a:p>
            <a:pPr marL="12700">
              <a:lnSpc>
                <a:spcPct val="100000"/>
              </a:lnSpc>
              <a:spcBef>
                <a:spcPts val="15"/>
              </a:spcBef>
            </a:pPr>
            <a:r>
              <a:rPr sz="1200" b="1" spc="5" dirty="0">
                <a:latin typeface="微软雅黑" panose="020B0503020204020204" charset="-122"/>
                <a:ea typeface="微软雅黑" panose="020B0503020204020204" charset="-122"/>
                <a:cs typeface="微软雅黑" panose="020B0503020204020204" charset="-122"/>
              </a:rPr>
              <a:t>大客户</a:t>
            </a:r>
            <a:endParaRPr sz="1200">
              <a:latin typeface="微软雅黑" panose="020B0503020204020204" charset="-122"/>
              <a:ea typeface="微软雅黑" panose="020B0503020204020204" charset="-122"/>
              <a:cs typeface="微软雅黑" panose="020B0503020204020204" charset="-122"/>
            </a:endParaRPr>
          </a:p>
          <a:p>
            <a:pPr marL="12700" marR="8890">
              <a:lnSpc>
                <a:spcPct val="100000"/>
              </a:lnSpc>
            </a:pPr>
            <a:r>
              <a:rPr sz="1200" spc="-5" dirty="0">
                <a:latin typeface="微软雅黑" panose="020B0503020204020204" charset="-122"/>
                <a:ea typeface="微软雅黑" panose="020B0503020204020204" charset="-122"/>
                <a:cs typeface="微软雅黑" panose="020B0503020204020204" charset="-122"/>
              </a:rPr>
              <a:t>“</a:t>
            </a:r>
            <a:r>
              <a:rPr sz="1200" dirty="0">
                <a:latin typeface="微软雅黑" panose="020B0503020204020204" charset="-122"/>
                <a:ea typeface="微软雅黑" panose="020B0503020204020204" charset="-122"/>
                <a:cs typeface="微软雅黑" panose="020B0503020204020204" charset="-122"/>
              </a:rPr>
              <a:t>客户保证通过提供专 门的服务和利用规模、 范围和专业知识对整个 系统的成本进行削减”</a:t>
            </a:r>
            <a:endParaRPr sz="1200">
              <a:latin typeface="微软雅黑" panose="020B0503020204020204" charset="-122"/>
              <a:ea typeface="微软雅黑" panose="020B0503020204020204" charset="-122"/>
              <a:cs typeface="微软雅黑" panose="020B0503020204020204" charset="-122"/>
            </a:endParaRPr>
          </a:p>
        </p:txBody>
      </p:sp>
      <p:sp>
        <p:nvSpPr>
          <p:cNvPr id="86" name="object 86"/>
          <p:cNvSpPr/>
          <p:nvPr/>
        </p:nvSpPr>
        <p:spPr>
          <a:xfrm>
            <a:off x="3458552" y="2816674"/>
            <a:ext cx="1631429" cy="1267197"/>
          </a:xfrm>
          <a:custGeom>
            <a:avLst/>
            <a:gdLst/>
            <a:ahLst/>
            <a:cxnLst/>
            <a:rect l="l" t="t" r="r" b="b"/>
            <a:pathLst>
              <a:path w="1632585" h="1268095">
                <a:moveTo>
                  <a:pt x="0" y="1267968"/>
                </a:moveTo>
                <a:lnTo>
                  <a:pt x="1632203" y="1267968"/>
                </a:lnTo>
                <a:lnTo>
                  <a:pt x="1632203" y="0"/>
                </a:lnTo>
                <a:lnTo>
                  <a:pt x="0" y="0"/>
                </a:lnTo>
                <a:lnTo>
                  <a:pt x="0" y="1267968"/>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87" name="object 87"/>
          <p:cNvSpPr/>
          <p:nvPr/>
        </p:nvSpPr>
        <p:spPr>
          <a:xfrm>
            <a:off x="3458552" y="2816674"/>
            <a:ext cx="1631429" cy="1267197"/>
          </a:xfrm>
          <a:custGeom>
            <a:avLst/>
            <a:gdLst/>
            <a:ahLst/>
            <a:cxnLst/>
            <a:rect l="l" t="t" r="r" b="b"/>
            <a:pathLst>
              <a:path w="1632585" h="1268095">
                <a:moveTo>
                  <a:pt x="0" y="1267968"/>
                </a:moveTo>
                <a:lnTo>
                  <a:pt x="1632203" y="1267968"/>
                </a:lnTo>
                <a:lnTo>
                  <a:pt x="1632203" y="0"/>
                </a:lnTo>
                <a:lnTo>
                  <a:pt x="0" y="0"/>
                </a:lnTo>
                <a:lnTo>
                  <a:pt x="0" y="1267968"/>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88" name="object 88"/>
          <p:cNvSpPr txBox="1"/>
          <p:nvPr/>
        </p:nvSpPr>
        <p:spPr>
          <a:xfrm>
            <a:off x="3491803" y="3062245"/>
            <a:ext cx="1548303" cy="750570"/>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产品绩</a:t>
            </a:r>
            <a:r>
              <a:rPr sz="1200" b="1" spc="-5" dirty="0">
                <a:latin typeface="微软雅黑" panose="020B0503020204020204" charset="-122"/>
                <a:ea typeface="微软雅黑" panose="020B0503020204020204" charset="-122"/>
                <a:cs typeface="微软雅黑" panose="020B0503020204020204" charset="-122"/>
              </a:rPr>
              <a:t>效细分</a:t>
            </a:r>
            <a:endParaRPr sz="1200">
              <a:latin typeface="微软雅黑" panose="020B0503020204020204" charset="-122"/>
              <a:ea typeface="微软雅黑" panose="020B0503020204020204" charset="-122"/>
              <a:cs typeface="微软雅黑" panose="020B0503020204020204" charset="-122"/>
            </a:endParaRPr>
          </a:p>
          <a:p>
            <a:pPr marL="12700" marR="5080">
              <a:lnSpc>
                <a:spcPct val="100000"/>
              </a:lnSpc>
            </a:pPr>
            <a:r>
              <a:rPr sz="1200" spc="-5" dirty="0">
                <a:latin typeface="微软雅黑" panose="020B0503020204020204" charset="-122"/>
                <a:ea typeface="微软雅黑" panose="020B0503020204020204" charset="-122"/>
                <a:cs typeface="微软雅黑" panose="020B0503020204020204" charset="-122"/>
              </a:rPr>
              <a:t>“</a:t>
            </a:r>
            <a:r>
              <a:rPr sz="1200" dirty="0">
                <a:latin typeface="微软雅黑" panose="020B0503020204020204" charset="-122"/>
                <a:ea typeface="微软雅黑" panose="020B0503020204020204" charset="-122"/>
                <a:cs typeface="微软雅黑" panose="020B0503020204020204" charset="-122"/>
              </a:rPr>
              <a:t>我们保证根据贵公司 的特定需求提供质量绝 对最佳的产品”</a:t>
            </a:r>
            <a:endParaRPr sz="1200">
              <a:latin typeface="微软雅黑" panose="020B0503020204020204" charset="-122"/>
              <a:ea typeface="微软雅黑" panose="020B0503020204020204" charset="-122"/>
              <a:cs typeface="微软雅黑" panose="020B0503020204020204" charset="-122"/>
            </a:endParaRPr>
          </a:p>
        </p:txBody>
      </p:sp>
      <p:sp>
        <p:nvSpPr>
          <p:cNvPr id="89" name="object 89"/>
          <p:cNvSpPr/>
          <p:nvPr/>
        </p:nvSpPr>
        <p:spPr>
          <a:xfrm>
            <a:off x="5206865" y="2816674"/>
            <a:ext cx="1631429" cy="1267197"/>
          </a:xfrm>
          <a:custGeom>
            <a:avLst/>
            <a:gdLst/>
            <a:ahLst/>
            <a:cxnLst/>
            <a:rect l="l" t="t" r="r" b="b"/>
            <a:pathLst>
              <a:path w="1632584" h="1268095">
                <a:moveTo>
                  <a:pt x="0" y="1267968"/>
                </a:moveTo>
                <a:lnTo>
                  <a:pt x="1632203" y="1267968"/>
                </a:lnTo>
                <a:lnTo>
                  <a:pt x="1632203" y="0"/>
                </a:lnTo>
                <a:lnTo>
                  <a:pt x="0" y="0"/>
                </a:lnTo>
                <a:lnTo>
                  <a:pt x="0" y="1267968"/>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0" name="object 90"/>
          <p:cNvSpPr/>
          <p:nvPr/>
        </p:nvSpPr>
        <p:spPr>
          <a:xfrm>
            <a:off x="5206865" y="2816674"/>
            <a:ext cx="1631429" cy="1267197"/>
          </a:xfrm>
          <a:custGeom>
            <a:avLst/>
            <a:gdLst/>
            <a:ahLst/>
            <a:cxnLst/>
            <a:rect l="l" t="t" r="r" b="b"/>
            <a:pathLst>
              <a:path w="1632584" h="1268095">
                <a:moveTo>
                  <a:pt x="0" y="1267968"/>
                </a:moveTo>
                <a:lnTo>
                  <a:pt x="1632203" y="1267968"/>
                </a:lnTo>
                <a:lnTo>
                  <a:pt x="1632203" y="0"/>
                </a:lnTo>
                <a:lnTo>
                  <a:pt x="0" y="0"/>
                </a:lnTo>
                <a:lnTo>
                  <a:pt x="0" y="1267968"/>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91" name="object 91"/>
          <p:cNvSpPr txBox="1"/>
          <p:nvPr/>
        </p:nvSpPr>
        <p:spPr>
          <a:xfrm>
            <a:off x="5240496" y="3062245"/>
            <a:ext cx="1548303" cy="750570"/>
          </a:xfrm>
          <a:prstGeom prst="rect">
            <a:avLst/>
          </a:prstGeom>
        </p:spPr>
        <p:txBody>
          <a:bodyPr vert="horz" wrap="square" lIns="0" tIns="12691" rIns="0" bIns="0" rtlCol="0">
            <a:spAutoFit/>
          </a:bodyPr>
          <a:lstStyle/>
          <a:p>
            <a:pPr marL="12700" marR="508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高度定</a:t>
            </a:r>
            <a:r>
              <a:rPr sz="1200" b="1" spc="-5" dirty="0">
                <a:latin typeface="微软雅黑" panose="020B0503020204020204" charset="-122"/>
                <a:ea typeface="微软雅黑" panose="020B0503020204020204" charset="-122"/>
                <a:cs typeface="微软雅黑" panose="020B0503020204020204" charset="-122"/>
              </a:rPr>
              <a:t>制的细分 </a:t>
            </a:r>
            <a:r>
              <a:rPr sz="1200" dirty="0">
                <a:latin typeface="微软雅黑" panose="020B0503020204020204" charset="-122"/>
                <a:ea typeface="微软雅黑" panose="020B0503020204020204" charset="-122"/>
                <a:cs typeface="微软雅黑" panose="020B0503020204020204" charset="-122"/>
              </a:rPr>
              <a:t>“我们保证提供卓越的 客户服务，确保满足贵 公司的特殊需求”</a:t>
            </a:r>
            <a:endParaRPr sz="1200">
              <a:latin typeface="微软雅黑" panose="020B0503020204020204" charset="-122"/>
              <a:ea typeface="微软雅黑" panose="020B0503020204020204" charset="-122"/>
              <a:cs typeface="微软雅黑" panose="020B0503020204020204" charset="-122"/>
            </a:endParaRPr>
          </a:p>
        </p:txBody>
      </p:sp>
      <p:sp>
        <p:nvSpPr>
          <p:cNvPr id="92" name="object 92"/>
          <p:cNvSpPr/>
          <p:nvPr/>
        </p:nvSpPr>
        <p:spPr>
          <a:xfrm>
            <a:off x="1725469" y="2816674"/>
            <a:ext cx="1631429" cy="1267197"/>
          </a:xfrm>
          <a:custGeom>
            <a:avLst/>
            <a:gdLst/>
            <a:ahLst/>
            <a:cxnLst/>
            <a:rect l="l" t="t" r="r" b="b"/>
            <a:pathLst>
              <a:path w="1632585" h="1268095">
                <a:moveTo>
                  <a:pt x="0" y="1267968"/>
                </a:moveTo>
                <a:lnTo>
                  <a:pt x="1632204" y="1267968"/>
                </a:lnTo>
                <a:lnTo>
                  <a:pt x="1632204" y="0"/>
                </a:lnTo>
                <a:lnTo>
                  <a:pt x="0" y="0"/>
                </a:lnTo>
                <a:lnTo>
                  <a:pt x="0" y="1267968"/>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3" name="object 93"/>
          <p:cNvSpPr/>
          <p:nvPr/>
        </p:nvSpPr>
        <p:spPr>
          <a:xfrm>
            <a:off x="1725469" y="2816674"/>
            <a:ext cx="1631429" cy="1267197"/>
          </a:xfrm>
          <a:custGeom>
            <a:avLst/>
            <a:gdLst/>
            <a:ahLst/>
            <a:cxnLst/>
            <a:rect l="l" t="t" r="r" b="b"/>
            <a:pathLst>
              <a:path w="1632585" h="1268095">
                <a:moveTo>
                  <a:pt x="0" y="1267968"/>
                </a:moveTo>
                <a:lnTo>
                  <a:pt x="1632204" y="1267968"/>
                </a:lnTo>
                <a:lnTo>
                  <a:pt x="1632204" y="0"/>
                </a:lnTo>
                <a:lnTo>
                  <a:pt x="0" y="0"/>
                </a:lnTo>
                <a:lnTo>
                  <a:pt x="0" y="1267968"/>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94" name="object 94"/>
          <p:cNvSpPr txBox="1"/>
          <p:nvPr/>
        </p:nvSpPr>
        <p:spPr>
          <a:xfrm>
            <a:off x="1759354" y="3062245"/>
            <a:ext cx="1552745" cy="750570"/>
          </a:xfrm>
          <a:prstGeom prst="rect">
            <a:avLst/>
          </a:prstGeom>
        </p:spPr>
        <p:txBody>
          <a:bodyPr vert="horz" wrap="square" lIns="0" tIns="12691" rIns="0" bIns="0" rtlCol="0">
            <a:spAutoFit/>
          </a:bodyPr>
          <a:lstStyle/>
          <a:p>
            <a:pPr marL="12700" marR="508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交易性</a:t>
            </a:r>
            <a:r>
              <a:rPr sz="1200" b="1" spc="-5" dirty="0">
                <a:latin typeface="微软雅黑" panose="020B0503020204020204" charset="-122"/>
                <a:ea typeface="微软雅黑" panose="020B0503020204020204" charset="-122"/>
                <a:cs typeface="微软雅黑" panose="020B0503020204020204" charset="-122"/>
              </a:rPr>
              <a:t>中等规模的客户  </a:t>
            </a:r>
            <a:r>
              <a:rPr sz="1200" spc="-5" dirty="0">
                <a:latin typeface="微软雅黑" panose="020B0503020204020204" charset="-122"/>
                <a:ea typeface="微软雅黑" panose="020B0503020204020204" charset="-122"/>
                <a:cs typeface="微软雅黑" panose="020B0503020204020204" charset="-122"/>
              </a:rPr>
              <a:t>“</a:t>
            </a:r>
            <a:r>
              <a:rPr sz="1200" dirty="0">
                <a:latin typeface="微软雅黑" panose="020B0503020204020204" charset="-122"/>
                <a:ea typeface="微软雅黑" panose="020B0503020204020204" charset="-122"/>
                <a:cs typeface="微软雅黑" panose="020B0503020204020204" charset="-122"/>
              </a:rPr>
              <a:t>我们将以具有竞争力 的价格为贵公司提供标 准的产品”</a:t>
            </a:r>
            <a:endParaRPr sz="1200">
              <a:latin typeface="微软雅黑" panose="020B0503020204020204" charset="-122"/>
              <a:ea typeface="微软雅黑" panose="020B0503020204020204" charset="-122"/>
              <a:cs typeface="微软雅黑" panose="020B0503020204020204" charset="-122"/>
            </a:endParaRPr>
          </a:p>
        </p:txBody>
      </p:sp>
      <p:sp>
        <p:nvSpPr>
          <p:cNvPr id="95" name="object 95"/>
          <p:cNvSpPr/>
          <p:nvPr/>
        </p:nvSpPr>
        <p:spPr>
          <a:xfrm>
            <a:off x="1725469" y="4338072"/>
            <a:ext cx="6839818" cy="880756"/>
          </a:xfrm>
          <a:custGeom>
            <a:avLst/>
            <a:gdLst/>
            <a:ahLst/>
            <a:cxnLst/>
            <a:rect l="l" t="t" r="r" b="b"/>
            <a:pathLst>
              <a:path w="6844665" h="881379">
                <a:moveTo>
                  <a:pt x="0" y="880872"/>
                </a:moveTo>
                <a:lnTo>
                  <a:pt x="6844283" y="880872"/>
                </a:lnTo>
                <a:lnTo>
                  <a:pt x="6844283" y="0"/>
                </a:lnTo>
                <a:lnTo>
                  <a:pt x="0" y="0"/>
                </a:lnTo>
                <a:lnTo>
                  <a:pt x="0" y="880872"/>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6" name="object 96"/>
          <p:cNvSpPr/>
          <p:nvPr/>
        </p:nvSpPr>
        <p:spPr>
          <a:xfrm>
            <a:off x="1725469" y="4338072"/>
            <a:ext cx="6839818" cy="880756"/>
          </a:xfrm>
          <a:custGeom>
            <a:avLst/>
            <a:gdLst/>
            <a:ahLst/>
            <a:cxnLst/>
            <a:rect l="l" t="t" r="r" b="b"/>
            <a:pathLst>
              <a:path w="6844665" h="881379">
                <a:moveTo>
                  <a:pt x="0" y="880872"/>
                </a:moveTo>
                <a:lnTo>
                  <a:pt x="6844283" y="880872"/>
                </a:lnTo>
                <a:lnTo>
                  <a:pt x="6844283" y="0"/>
                </a:lnTo>
                <a:lnTo>
                  <a:pt x="0" y="0"/>
                </a:lnTo>
                <a:lnTo>
                  <a:pt x="0" y="880872"/>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97" name="object 97"/>
          <p:cNvSpPr txBox="1"/>
          <p:nvPr/>
        </p:nvSpPr>
        <p:spPr>
          <a:xfrm>
            <a:off x="1759354" y="4572678"/>
            <a:ext cx="1096503" cy="196215"/>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交易型</a:t>
            </a:r>
            <a:r>
              <a:rPr sz="1200" b="1" dirty="0">
                <a:latin typeface="微软雅黑" panose="020B0503020204020204" charset="-122"/>
                <a:ea typeface="微软雅黑" panose="020B0503020204020204" charset="-122"/>
                <a:cs typeface="微软雅黑" panose="020B0503020204020204" charset="-122"/>
              </a:rPr>
              <a:t>小</a:t>
            </a:r>
            <a:r>
              <a:rPr sz="1200" b="1" spc="-5" dirty="0">
                <a:latin typeface="微软雅黑" panose="020B0503020204020204" charset="-122"/>
                <a:ea typeface="微软雅黑" panose="020B0503020204020204" charset="-122"/>
                <a:cs typeface="微软雅黑" panose="020B0503020204020204" charset="-122"/>
              </a:rPr>
              <a:t>型</a:t>
            </a:r>
            <a:r>
              <a:rPr sz="1200" b="1" dirty="0">
                <a:latin typeface="微软雅黑" panose="020B0503020204020204" charset="-122"/>
                <a:ea typeface="微软雅黑" panose="020B0503020204020204" charset="-122"/>
                <a:cs typeface="微软雅黑" panose="020B0503020204020204" charset="-122"/>
              </a:rPr>
              <a:t>客户</a:t>
            </a:r>
            <a:endParaRPr sz="1200">
              <a:latin typeface="微软雅黑" panose="020B0503020204020204" charset="-122"/>
              <a:ea typeface="微软雅黑" panose="020B0503020204020204" charset="-122"/>
              <a:cs typeface="微软雅黑" panose="020B0503020204020204" charset="-122"/>
            </a:endParaRPr>
          </a:p>
        </p:txBody>
      </p:sp>
      <p:sp>
        <p:nvSpPr>
          <p:cNvPr id="98" name="object 98"/>
          <p:cNvSpPr txBox="1"/>
          <p:nvPr/>
        </p:nvSpPr>
        <p:spPr>
          <a:xfrm>
            <a:off x="1759354" y="4756114"/>
            <a:ext cx="6624705" cy="196215"/>
          </a:xfrm>
          <a:prstGeom prst="rect">
            <a:avLst/>
          </a:prstGeom>
        </p:spPr>
        <p:txBody>
          <a:bodyPr vert="horz" wrap="square" lIns="0" tIns="12691" rIns="0" bIns="0" rtlCol="0">
            <a:spAutoFit/>
          </a:bodyPr>
          <a:lstStyle/>
          <a:p>
            <a:pPr marL="12700">
              <a:lnSpc>
                <a:spcPct val="100000"/>
              </a:lnSpc>
              <a:spcBef>
                <a:spcPts val="100"/>
              </a:spcBef>
            </a:pPr>
            <a:r>
              <a:rPr sz="1200" spc="-5" dirty="0">
                <a:latin typeface="微软雅黑" panose="020B0503020204020204" charset="-122"/>
                <a:ea typeface="微软雅黑" panose="020B0503020204020204" charset="-122"/>
                <a:cs typeface="微软雅黑" panose="020B0503020204020204" charset="-122"/>
              </a:rPr>
              <a:t>“</a:t>
            </a:r>
            <a:r>
              <a:rPr sz="1200" dirty="0">
                <a:latin typeface="微软雅黑" panose="020B0503020204020204" charset="-122"/>
                <a:ea typeface="微软雅黑" panose="020B0503020204020204" charset="-122"/>
                <a:cs typeface="微软雅黑" panose="020B0503020204020204" charset="-122"/>
              </a:rPr>
              <a:t>我们将以具有竞争力的价格为贵公司提供标准的产品，对于特殊的产品和服务则收取适当的溢价”</a:t>
            </a:r>
            <a:endParaRPr sz="1200">
              <a:latin typeface="微软雅黑" panose="020B0503020204020204" charset="-122"/>
              <a:ea typeface="微软雅黑" panose="020B0503020204020204" charset="-122"/>
              <a:cs typeface="微软雅黑" panose="020B0503020204020204" charset="-122"/>
            </a:endParaRPr>
          </a:p>
        </p:txBody>
      </p:sp>
      <p:sp>
        <p:nvSpPr>
          <p:cNvPr id="99" name="object 99"/>
          <p:cNvSpPr/>
          <p:nvPr/>
        </p:nvSpPr>
        <p:spPr>
          <a:xfrm>
            <a:off x="3411341" y="5474170"/>
            <a:ext cx="0" cy="416264"/>
          </a:xfrm>
          <a:custGeom>
            <a:avLst/>
            <a:gdLst/>
            <a:ahLst/>
            <a:cxnLst/>
            <a:rect l="l" t="t" r="r" b="b"/>
            <a:pathLst>
              <a:path h="416560">
                <a:moveTo>
                  <a:pt x="0" y="0"/>
                </a:moveTo>
                <a:lnTo>
                  <a:pt x="0" y="416052"/>
                </a:lnTo>
              </a:path>
            </a:pathLst>
          </a:custGeom>
          <a:ln w="1270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0" name="object 100"/>
          <p:cNvSpPr/>
          <p:nvPr/>
        </p:nvSpPr>
        <p:spPr>
          <a:xfrm>
            <a:off x="5144425" y="5474170"/>
            <a:ext cx="0" cy="416264"/>
          </a:xfrm>
          <a:custGeom>
            <a:avLst/>
            <a:gdLst/>
            <a:ahLst/>
            <a:cxnLst/>
            <a:rect l="l" t="t" r="r" b="b"/>
            <a:pathLst>
              <a:path h="416560">
                <a:moveTo>
                  <a:pt x="0" y="0"/>
                </a:moveTo>
                <a:lnTo>
                  <a:pt x="0" y="416052"/>
                </a:lnTo>
              </a:path>
            </a:pathLst>
          </a:custGeom>
          <a:ln w="1270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1" name="object 101"/>
          <p:cNvSpPr/>
          <p:nvPr/>
        </p:nvSpPr>
        <p:spPr>
          <a:xfrm>
            <a:off x="6882079" y="5474170"/>
            <a:ext cx="0" cy="416264"/>
          </a:xfrm>
          <a:custGeom>
            <a:avLst/>
            <a:gdLst/>
            <a:ahLst/>
            <a:cxnLst/>
            <a:rect l="l" t="t" r="r" b="b"/>
            <a:pathLst>
              <a:path h="416560">
                <a:moveTo>
                  <a:pt x="0" y="0"/>
                </a:moveTo>
                <a:lnTo>
                  <a:pt x="0" y="416052"/>
                </a:lnTo>
              </a:path>
            </a:pathLst>
          </a:custGeom>
          <a:ln w="1270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2" name="object 102"/>
          <p:cNvSpPr/>
          <p:nvPr/>
        </p:nvSpPr>
        <p:spPr>
          <a:xfrm>
            <a:off x="187319" y="1417110"/>
            <a:ext cx="659932" cy="0"/>
          </a:xfrm>
          <a:custGeom>
            <a:avLst/>
            <a:gdLst/>
            <a:ahLst/>
            <a:cxnLst/>
            <a:rect l="l" t="t" r="r" b="b"/>
            <a:pathLst>
              <a:path w="660400">
                <a:moveTo>
                  <a:pt x="0" y="0"/>
                </a:moveTo>
                <a:lnTo>
                  <a:pt x="659892" y="0"/>
                </a:lnTo>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3" name="object 103"/>
          <p:cNvSpPr/>
          <p:nvPr/>
        </p:nvSpPr>
        <p:spPr>
          <a:xfrm>
            <a:off x="887862" y="1417110"/>
            <a:ext cx="791919" cy="0"/>
          </a:xfrm>
          <a:custGeom>
            <a:avLst/>
            <a:gdLst/>
            <a:ahLst/>
            <a:cxnLst/>
            <a:rect l="l" t="t" r="r" b="b"/>
            <a:pathLst>
              <a:path w="792480">
                <a:moveTo>
                  <a:pt x="0" y="0"/>
                </a:moveTo>
                <a:lnTo>
                  <a:pt x="792480" y="0"/>
                </a:lnTo>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4" name="object 104"/>
          <p:cNvSpPr/>
          <p:nvPr/>
        </p:nvSpPr>
        <p:spPr>
          <a:xfrm>
            <a:off x="1675213" y="5889928"/>
            <a:ext cx="6941980" cy="199883"/>
          </a:xfrm>
          <a:custGeom>
            <a:avLst/>
            <a:gdLst/>
            <a:ahLst/>
            <a:cxnLst/>
            <a:rect l="l" t="t" r="r" b="b"/>
            <a:pathLst>
              <a:path w="6946900" h="200025">
                <a:moveTo>
                  <a:pt x="0" y="199643"/>
                </a:moveTo>
                <a:lnTo>
                  <a:pt x="6946392" y="199643"/>
                </a:lnTo>
                <a:lnTo>
                  <a:pt x="6946392" y="0"/>
                </a:lnTo>
                <a:lnTo>
                  <a:pt x="0" y="0"/>
                </a:lnTo>
                <a:lnTo>
                  <a:pt x="0" y="199643"/>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05" name="object 105"/>
          <p:cNvSpPr/>
          <p:nvPr/>
        </p:nvSpPr>
        <p:spPr>
          <a:xfrm>
            <a:off x="1675213" y="5889928"/>
            <a:ext cx="6941980" cy="199883"/>
          </a:xfrm>
          <a:custGeom>
            <a:avLst/>
            <a:gdLst/>
            <a:ahLst/>
            <a:cxnLst/>
            <a:rect l="l" t="t" r="r" b="b"/>
            <a:pathLst>
              <a:path w="6946900" h="200025">
                <a:moveTo>
                  <a:pt x="0" y="199643"/>
                </a:moveTo>
                <a:lnTo>
                  <a:pt x="6946392" y="199643"/>
                </a:lnTo>
                <a:lnTo>
                  <a:pt x="6946392" y="0"/>
                </a:lnTo>
                <a:lnTo>
                  <a:pt x="0" y="0"/>
                </a:lnTo>
                <a:lnTo>
                  <a:pt x="0" y="199643"/>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6" name="object 106"/>
          <p:cNvSpPr txBox="1"/>
          <p:nvPr/>
        </p:nvSpPr>
        <p:spPr>
          <a:xfrm>
            <a:off x="4825627" y="5883329"/>
            <a:ext cx="640896" cy="196215"/>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需求群体</a:t>
            </a:r>
            <a:endParaRPr sz="1200" b="1" spc="5" dirty="0">
              <a:latin typeface="微软雅黑" panose="020B0503020204020204" charset="-122"/>
              <a:ea typeface="微软雅黑" panose="020B0503020204020204" charset="-122"/>
              <a:cs typeface="微软雅黑" panose="020B0503020204020204" charset="-122"/>
            </a:endParaRPr>
          </a:p>
        </p:txBody>
      </p:sp>
      <p:sp>
        <p:nvSpPr>
          <p:cNvPr id="107" name="object 107"/>
          <p:cNvSpPr/>
          <p:nvPr/>
        </p:nvSpPr>
        <p:spPr>
          <a:xfrm>
            <a:off x="725672" y="982316"/>
            <a:ext cx="1904" cy="0"/>
          </a:xfrm>
          <a:custGeom>
            <a:avLst/>
            <a:gdLst/>
            <a:ahLst/>
            <a:cxnLst/>
            <a:rect l="l" t="t" r="r" b="b"/>
            <a:pathLst>
              <a:path w="1904">
                <a:moveTo>
                  <a:pt x="0" y="0"/>
                </a:moveTo>
                <a:lnTo>
                  <a:pt x="1523" y="0"/>
                </a:lnTo>
              </a:path>
            </a:pathLst>
          </a:custGeom>
          <a:ln w="19050">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03259" y="180879"/>
            <a:ext cx="4505942"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然后将各个</a:t>
            </a:r>
            <a:r>
              <a:rPr spc="-10" dirty="0">
                <a:ea typeface="微软雅黑" panose="020B0503020204020204" charset="-122"/>
              </a:rPr>
              <a:t>客户</a:t>
            </a:r>
            <a:r>
              <a:rPr spc="-5" dirty="0">
                <a:ea typeface="微软雅黑" panose="020B0503020204020204" charset="-122"/>
              </a:rPr>
              <a:t>细</a:t>
            </a:r>
            <a:r>
              <a:rPr spc="-10" dirty="0">
                <a:ea typeface="微软雅黑" panose="020B0503020204020204" charset="-122"/>
              </a:rPr>
              <a:t>分</a:t>
            </a:r>
            <a:r>
              <a:rPr spc="5" dirty="0">
                <a:ea typeface="微软雅黑" panose="020B0503020204020204" charset="-122"/>
              </a:rPr>
              <a:t>按</a:t>
            </a:r>
            <a:r>
              <a:rPr spc="-5" dirty="0">
                <a:ea typeface="微软雅黑" panose="020B0503020204020204" charset="-122"/>
              </a:rPr>
              <a:t>4</a:t>
            </a:r>
            <a:r>
              <a:rPr dirty="0">
                <a:ea typeface="微软雅黑" panose="020B0503020204020204" charset="-122"/>
              </a:rPr>
              <a:t>个层</a:t>
            </a:r>
            <a:r>
              <a:rPr spc="-10" dirty="0">
                <a:ea typeface="微软雅黑" panose="020B0503020204020204" charset="-122"/>
              </a:rPr>
              <a:t>面来</a:t>
            </a:r>
            <a:r>
              <a:rPr spc="5" dirty="0">
                <a:ea typeface="微软雅黑" panose="020B0503020204020204" charset="-122"/>
              </a:rPr>
              <a:t>优</a:t>
            </a:r>
            <a:r>
              <a:rPr spc="-10" dirty="0">
                <a:ea typeface="微软雅黑" panose="020B0503020204020204" charset="-122"/>
              </a:rPr>
              <a:t>先排序</a:t>
            </a:r>
            <a:endParaRPr spc="-10" dirty="0">
              <a:ea typeface="微软雅黑" panose="020B0503020204020204" charset="-122"/>
            </a:endParaRPr>
          </a:p>
        </p:txBody>
      </p:sp>
      <p:sp>
        <p:nvSpPr>
          <p:cNvPr id="4" name="object 4"/>
          <p:cNvSpPr/>
          <p:nvPr/>
        </p:nvSpPr>
        <p:spPr>
          <a:xfrm>
            <a:off x="5447486" y="2827335"/>
            <a:ext cx="2292630" cy="498756"/>
          </a:xfrm>
          <a:custGeom>
            <a:avLst/>
            <a:gdLst/>
            <a:ahLst/>
            <a:cxnLst/>
            <a:rect l="l" t="t" r="r" b="b"/>
            <a:pathLst>
              <a:path w="2294254" h="499110">
                <a:moveTo>
                  <a:pt x="2061845" y="0"/>
                </a:moveTo>
                <a:lnTo>
                  <a:pt x="232410" y="0"/>
                </a:lnTo>
                <a:lnTo>
                  <a:pt x="0" y="498856"/>
                </a:lnTo>
                <a:lnTo>
                  <a:pt x="2294254" y="498856"/>
                </a:lnTo>
                <a:lnTo>
                  <a:pt x="2061845" y="0"/>
                </a:lnTo>
                <a:close/>
              </a:path>
            </a:pathLst>
          </a:custGeom>
          <a:solidFill>
            <a:srgbClr val="C0C0C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p:nvPr/>
        </p:nvSpPr>
        <p:spPr>
          <a:xfrm>
            <a:off x="6193718" y="861244"/>
            <a:ext cx="803341" cy="865527"/>
          </a:xfrm>
          <a:custGeom>
            <a:avLst/>
            <a:gdLst/>
            <a:ahLst/>
            <a:cxnLst/>
            <a:rect l="l" t="t" r="r" b="b"/>
            <a:pathLst>
              <a:path w="803909" h="866139">
                <a:moveTo>
                  <a:pt x="401955" y="0"/>
                </a:moveTo>
                <a:lnTo>
                  <a:pt x="0" y="866139"/>
                </a:lnTo>
                <a:lnTo>
                  <a:pt x="803783" y="866139"/>
                </a:lnTo>
                <a:lnTo>
                  <a:pt x="401955"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5934822" y="1726263"/>
            <a:ext cx="1317961" cy="548886"/>
          </a:xfrm>
          <a:custGeom>
            <a:avLst/>
            <a:gdLst/>
            <a:ahLst/>
            <a:cxnLst/>
            <a:rect l="l" t="t" r="r" b="b"/>
            <a:pathLst>
              <a:path w="1318895" h="549275">
                <a:moveTo>
                  <a:pt x="1062863" y="0"/>
                </a:moveTo>
                <a:lnTo>
                  <a:pt x="256921" y="0"/>
                </a:lnTo>
                <a:lnTo>
                  <a:pt x="0" y="549148"/>
                </a:lnTo>
                <a:lnTo>
                  <a:pt x="1318895" y="549148"/>
                </a:lnTo>
                <a:lnTo>
                  <a:pt x="106286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5934822" y="1726263"/>
            <a:ext cx="1317961" cy="548886"/>
          </a:xfrm>
          <a:custGeom>
            <a:avLst/>
            <a:gdLst/>
            <a:ahLst/>
            <a:cxnLst/>
            <a:rect l="l" t="t" r="r" b="b"/>
            <a:pathLst>
              <a:path w="1318895" h="549275">
                <a:moveTo>
                  <a:pt x="0" y="549148"/>
                </a:moveTo>
                <a:lnTo>
                  <a:pt x="1318895" y="549148"/>
                </a:lnTo>
                <a:lnTo>
                  <a:pt x="1062863" y="0"/>
                </a:lnTo>
                <a:lnTo>
                  <a:pt x="256921" y="0"/>
                </a:lnTo>
                <a:lnTo>
                  <a:pt x="0" y="549148"/>
                </a:lnTo>
              </a:path>
            </a:pathLst>
          </a:custGeom>
          <a:ln w="9525">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5680494" y="2276037"/>
            <a:ext cx="1826869" cy="552059"/>
          </a:xfrm>
          <a:custGeom>
            <a:avLst/>
            <a:gdLst/>
            <a:ahLst/>
            <a:cxnLst/>
            <a:rect l="l" t="t" r="r" b="b"/>
            <a:pathLst>
              <a:path w="1828165" h="552450">
                <a:moveTo>
                  <a:pt x="1571752" y="0"/>
                </a:moveTo>
                <a:lnTo>
                  <a:pt x="256285" y="0"/>
                </a:lnTo>
                <a:lnTo>
                  <a:pt x="0" y="552196"/>
                </a:lnTo>
                <a:lnTo>
                  <a:pt x="1827910" y="552196"/>
                </a:lnTo>
                <a:lnTo>
                  <a:pt x="1571752" y="0"/>
                </a:lnTo>
                <a:close/>
              </a:path>
            </a:pathLst>
          </a:custGeom>
          <a:solidFill>
            <a:srgbClr val="C0C0C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5680494" y="2276037"/>
            <a:ext cx="1826869" cy="552059"/>
          </a:xfrm>
          <a:custGeom>
            <a:avLst/>
            <a:gdLst/>
            <a:ahLst/>
            <a:cxnLst/>
            <a:rect l="l" t="t" r="r" b="b"/>
            <a:pathLst>
              <a:path w="1828165" h="552450">
                <a:moveTo>
                  <a:pt x="256285" y="0"/>
                </a:moveTo>
                <a:lnTo>
                  <a:pt x="0" y="552196"/>
                </a:lnTo>
                <a:lnTo>
                  <a:pt x="1827910" y="552196"/>
                </a:lnTo>
                <a:lnTo>
                  <a:pt x="1571752" y="0"/>
                </a:lnTo>
                <a:lnTo>
                  <a:pt x="256285" y="0"/>
                </a:lnTo>
              </a:path>
            </a:pathLst>
          </a:custGeom>
          <a:ln w="9524">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6460230" y="865813"/>
            <a:ext cx="278568" cy="300142"/>
          </a:xfrm>
          <a:custGeom>
            <a:avLst/>
            <a:gdLst/>
            <a:ahLst/>
            <a:cxnLst/>
            <a:rect l="l" t="t" r="r" b="b"/>
            <a:pathLst>
              <a:path w="278765" h="300355">
                <a:moveTo>
                  <a:pt x="139318" y="0"/>
                </a:moveTo>
                <a:lnTo>
                  <a:pt x="0" y="299847"/>
                </a:lnTo>
                <a:lnTo>
                  <a:pt x="278638" y="299847"/>
                </a:lnTo>
                <a:lnTo>
                  <a:pt x="139318"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6460230" y="865813"/>
            <a:ext cx="278568" cy="300142"/>
          </a:xfrm>
          <a:custGeom>
            <a:avLst/>
            <a:gdLst/>
            <a:ahLst/>
            <a:cxnLst/>
            <a:rect l="l" t="t" r="r" b="b"/>
            <a:pathLst>
              <a:path w="278765" h="300355">
                <a:moveTo>
                  <a:pt x="0" y="299847"/>
                </a:moveTo>
                <a:lnTo>
                  <a:pt x="278638" y="299847"/>
                </a:lnTo>
                <a:lnTo>
                  <a:pt x="139318" y="0"/>
                </a:lnTo>
                <a:lnTo>
                  <a:pt x="0" y="299847"/>
                </a:lnTo>
              </a:path>
            </a:pathLst>
          </a:custGeom>
          <a:ln w="9525">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txBox="1"/>
          <p:nvPr/>
        </p:nvSpPr>
        <p:spPr>
          <a:xfrm>
            <a:off x="6528253" y="968864"/>
            <a:ext cx="144677" cy="211455"/>
          </a:xfrm>
          <a:prstGeom prst="rect">
            <a:avLst/>
          </a:prstGeom>
        </p:spPr>
        <p:txBody>
          <a:bodyPr vert="horz" wrap="square" lIns="0" tIns="12056" rIns="0" bIns="0" rtlCol="0">
            <a:spAutoFit/>
          </a:bodyPr>
          <a:lstStyle/>
          <a:p>
            <a:pPr marL="12700">
              <a:lnSpc>
                <a:spcPct val="100000"/>
              </a:lnSpc>
              <a:spcBef>
                <a:spcPts val="95"/>
              </a:spcBef>
            </a:pPr>
            <a:r>
              <a:rPr sz="1300" b="1" spc="-5" dirty="0">
                <a:solidFill>
                  <a:srgbClr val="FFFFFF"/>
                </a:solidFill>
                <a:latin typeface="微软雅黑" panose="020B0503020204020204" charset="-122"/>
                <a:ea typeface="微软雅黑" panose="020B0503020204020204" charset="-122"/>
                <a:cs typeface="Arial" panose="020B0604020202020204"/>
              </a:rPr>
              <a:t>A</a:t>
            </a:r>
            <a:endParaRPr sz="1300" b="1" spc="-5" dirty="0">
              <a:solidFill>
                <a:srgbClr val="FFFFFF"/>
              </a:solidFill>
              <a:latin typeface="微软雅黑" panose="020B0503020204020204" charset="-122"/>
              <a:ea typeface="微软雅黑" panose="020B0503020204020204" charset="-122"/>
              <a:cs typeface="Arial" panose="020B0604020202020204"/>
            </a:endParaRPr>
          </a:p>
        </p:txBody>
      </p:sp>
      <p:sp>
        <p:nvSpPr>
          <p:cNvPr id="13" name="object 13"/>
          <p:cNvSpPr txBox="1"/>
          <p:nvPr/>
        </p:nvSpPr>
        <p:spPr>
          <a:xfrm>
            <a:off x="6528253" y="1521429"/>
            <a:ext cx="144677" cy="211455"/>
          </a:xfrm>
          <a:prstGeom prst="rect">
            <a:avLst/>
          </a:prstGeom>
        </p:spPr>
        <p:txBody>
          <a:bodyPr vert="horz" wrap="square" lIns="0" tIns="12056" rIns="0" bIns="0" rtlCol="0">
            <a:spAutoFit/>
          </a:bodyPr>
          <a:lstStyle/>
          <a:p>
            <a:pPr marL="12700">
              <a:lnSpc>
                <a:spcPct val="100000"/>
              </a:lnSpc>
              <a:spcBef>
                <a:spcPts val="95"/>
              </a:spcBef>
            </a:pPr>
            <a:r>
              <a:rPr sz="1300" b="1" spc="-5" dirty="0">
                <a:solidFill>
                  <a:srgbClr val="00295F"/>
                </a:solidFill>
                <a:latin typeface="微软雅黑" panose="020B0503020204020204" charset="-122"/>
                <a:ea typeface="微软雅黑" panose="020B0503020204020204" charset="-122"/>
                <a:cs typeface="Arial" panose="020B0604020202020204"/>
              </a:rPr>
              <a:t>B</a:t>
            </a:r>
            <a:endParaRPr sz="1300" b="1" spc="-5" dirty="0">
              <a:solidFill>
                <a:srgbClr val="00295F"/>
              </a:solidFill>
              <a:latin typeface="微软雅黑" panose="020B0503020204020204" charset="-122"/>
              <a:ea typeface="微软雅黑" panose="020B0503020204020204" charset="-122"/>
              <a:cs typeface="Arial" panose="020B0604020202020204"/>
            </a:endParaRPr>
          </a:p>
        </p:txBody>
      </p:sp>
      <p:sp>
        <p:nvSpPr>
          <p:cNvPr id="14" name="object 14"/>
          <p:cNvSpPr txBox="1"/>
          <p:nvPr/>
        </p:nvSpPr>
        <p:spPr>
          <a:xfrm>
            <a:off x="6527618" y="2051406"/>
            <a:ext cx="144677" cy="211455"/>
          </a:xfrm>
          <a:prstGeom prst="rect">
            <a:avLst/>
          </a:prstGeom>
        </p:spPr>
        <p:txBody>
          <a:bodyPr vert="horz" wrap="square" lIns="0" tIns="12056" rIns="0" bIns="0" rtlCol="0">
            <a:spAutoFit/>
          </a:bodyPr>
          <a:lstStyle/>
          <a:p>
            <a:pPr marL="12700">
              <a:lnSpc>
                <a:spcPct val="100000"/>
              </a:lnSpc>
              <a:spcBef>
                <a:spcPts val="95"/>
              </a:spcBef>
            </a:pPr>
            <a:r>
              <a:rPr sz="1300" b="1" spc="-5" dirty="0">
                <a:solidFill>
                  <a:srgbClr val="00295F"/>
                </a:solidFill>
                <a:latin typeface="微软雅黑" panose="020B0503020204020204" charset="-122"/>
                <a:ea typeface="微软雅黑" panose="020B0503020204020204" charset="-122"/>
                <a:cs typeface="Arial" panose="020B0604020202020204"/>
              </a:rPr>
              <a:t>C</a:t>
            </a:r>
            <a:endParaRPr sz="1300" b="1" spc="-5" dirty="0">
              <a:solidFill>
                <a:srgbClr val="00295F"/>
              </a:solidFill>
              <a:latin typeface="微软雅黑" panose="020B0503020204020204" charset="-122"/>
              <a:ea typeface="微软雅黑" panose="020B0503020204020204" charset="-122"/>
              <a:cs typeface="Arial" panose="020B0604020202020204"/>
            </a:endParaRPr>
          </a:p>
        </p:txBody>
      </p:sp>
      <p:sp>
        <p:nvSpPr>
          <p:cNvPr id="15" name="object 15"/>
          <p:cNvSpPr txBox="1"/>
          <p:nvPr/>
        </p:nvSpPr>
        <p:spPr>
          <a:xfrm>
            <a:off x="6528253" y="2573134"/>
            <a:ext cx="144677" cy="211455"/>
          </a:xfrm>
          <a:prstGeom prst="rect">
            <a:avLst/>
          </a:prstGeom>
        </p:spPr>
        <p:txBody>
          <a:bodyPr vert="horz" wrap="square" lIns="0" tIns="12056" rIns="0" bIns="0" rtlCol="0">
            <a:spAutoFit/>
          </a:bodyPr>
          <a:lstStyle/>
          <a:p>
            <a:pPr marL="12700">
              <a:lnSpc>
                <a:spcPct val="100000"/>
              </a:lnSpc>
              <a:spcBef>
                <a:spcPts val="95"/>
              </a:spcBef>
            </a:pPr>
            <a:r>
              <a:rPr sz="1300" b="1" spc="-5" dirty="0">
                <a:solidFill>
                  <a:srgbClr val="FFFFFF"/>
                </a:solidFill>
                <a:latin typeface="微软雅黑" panose="020B0503020204020204" charset="-122"/>
                <a:ea typeface="微软雅黑" panose="020B0503020204020204" charset="-122"/>
                <a:cs typeface="Arial" panose="020B0604020202020204"/>
              </a:rPr>
              <a:t>D</a:t>
            </a:r>
            <a:endParaRPr sz="1300" b="1" spc="-5" dirty="0">
              <a:solidFill>
                <a:srgbClr val="FFFFFF"/>
              </a:solidFill>
              <a:latin typeface="微软雅黑" panose="020B0503020204020204" charset="-122"/>
              <a:ea typeface="微软雅黑" panose="020B0503020204020204" charset="-122"/>
              <a:cs typeface="Arial" panose="020B0604020202020204"/>
            </a:endParaRPr>
          </a:p>
        </p:txBody>
      </p:sp>
      <p:sp>
        <p:nvSpPr>
          <p:cNvPr id="16" name="object 16"/>
          <p:cNvSpPr txBox="1"/>
          <p:nvPr/>
        </p:nvSpPr>
        <p:spPr>
          <a:xfrm>
            <a:off x="6533076" y="3117451"/>
            <a:ext cx="135159" cy="211455"/>
          </a:xfrm>
          <a:prstGeom prst="rect">
            <a:avLst/>
          </a:prstGeom>
        </p:spPr>
        <p:txBody>
          <a:bodyPr vert="horz" wrap="square" lIns="0" tIns="12056" rIns="0" bIns="0" rtlCol="0">
            <a:spAutoFit/>
          </a:bodyPr>
          <a:lstStyle/>
          <a:p>
            <a:pPr marL="12700">
              <a:lnSpc>
                <a:spcPct val="100000"/>
              </a:lnSpc>
              <a:spcBef>
                <a:spcPts val="95"/>
              </a:spcBef>
            </a:pPr>
            <a:r>
              <a:rPr sz="1300" b="1" spc="-5" dirty="0">
                <a:solidFill>
                  <a:srgbClr val="959595"/>
                </a:solidFill>
                <a:latin typeface="微软雅黑" panose="020B0503020204020204" charset="-122"/>
                <a:ea typeface="微软雅黑" panose="020B0503020204020204" charset="-122"/>
                <a:cs typeface="Arial" panose="020B0604020202020204"/>
              </a:rPr>
              <a:t>E</a:t>
            </a:r>
            <a:endParaRPr sz="1300" b="1" spc="-5" dirty="0">
              <a:solidFill>
                <a:srgbClr val="959595"/>
              </a:solidFill>
              <a:latin typeface="微软雅黑" panose="020B0503020204020204" charset="-122"/>
              <a:ea typeface="微软雅黑" panose="020B0503020204020204" charset="-122"/>
              <a:cs typeface="Arial" panose="020B0604020202020204"/>
            </a:endParaRPr>
          </a:p>
        </p:txBody>
      </p:sp>
      <p:graphicFrame>
        <p:nvGraphicFramePr>
          <p:cNvPr id="17" name="object 17"/>
          <p:cNvGraphicFramePr>
            <a:graphicFrameLocks noGrp="1"/>
          </p:cNvGraphicFramePr>
          <p:nvPr/>
        </p:nvGraphicFramePr>
        <p:xfrm>
          <a:off x="1399563" y="981555"/>
          <a:ext cx="2535555" cy="2406015"/>
        </p:xfrm>
        <a:graphic>
          <a:graphicData uri="http://schemas.openxmlformats.org/drawingml/2006/table">
            <a:tbl>
              <a:tblPr firstRow="1" bandRow="1">
                <a:tableStyleId>{2D5ABB26-0587-4C30-8999-92F81FD0307C}</a:tableStyleId>
              </a:tblPr>
              <a:tblGrid>
                <a:gridCol w="835025"/>
                <a:gridCol w="866140"/>
                <a:gridCol w="834390"/>
              </a:tblGrid>
              <a:tr h="788670">
                <a:tc>
                  <a:txBody>
                    <a:bodyPr/>
                    <a:lstStyle/>
                    <a:p>
                      <a:pPr>
                        <a:lnSpc>
                          <a:spcPct val="100000"/>
                        </a:lnSpc>
                        <a:spcBef>
                          <a:spcPts val="15"/>
                        </a:spcBef>
                      </a:pPr>
                      <a:endParaRPr sz="1850">
                        <a:latin typeface="微软雅黑" panose="020B0503020204020204" charset="-122"/>
                        <a:ea typeface="微软雅黑" panose="020B0503020204020204" charset="-122"/>
                        <a:cs typeface="Times New Roman" panose="02020603050405020304"/>
                      </a:endParaRPr>
                    </a:p>
                    <a:p>
                      <a:pPr marL="342265">
                        <a:lnSpc>
                          <a:spcPct val="100000"/>
                        </a:lnSpc>
                      </a:pPr>
                      <a:r>
                        <a:rPr sz="1300" b="1" dirty="0">
                          <a:solidFill>
                            <a:srgbClr val="00295F"/>
                          </a:solidFill>
                          <a:latin typeface="微软雅黑" panose="020B0503020204020204" charset="-122"/>
                          <a:ea typeface="微软雅黑" panose="020B0503020204020204" charset="-122"/>
                          <a:cs typeface="Arial" panose="020B0604020202020204"/>
                        </a:rPr>
                        <a:t>C</a:t>
                      </a:r>
                      <a:endParaRPr sz="1300">
                        <a:latin typeface="微软雅黑" panose="020B0503020204020204" charset="-122"/>
                        <a:ea typeface="微软雅黑" panose="020B0503020204020204" charset="-122"/>
                        <a:cs typeface="Arial" panose="020B0604020202020204"/>
                      </a:endParaRPr>
                    </a:p>
                  </a:txBody>
                  <a:tcPr marL="0" marR="0" marT="1903" marB="0">
                    <a:lnR w="76200">
                      <a:solidFill>
                        <a:srgbClr val="FFFFFF"/>
                      </a:solidFill>
                      <a:prstDash val="solid"/>
                    </a:lnR>
                    <a:lnB w="76200">
                      <a:solidFill>
                        <a:srgbClr val="FFFFFF"/>
                      </a:solidFill>
                      <a:prstDash val="solid"/>
                    </a:lnB>
                    <a:solidFill>
                      <a:srgbClr val="C6DFFA"/>
                    </a:solidFill>
                  </a:tcPr>
                </a:tc>
                <a:tc>
                  <a:txBody>
                    <a:bodyPr/>
                    <a:lstStyle/>
                    <a:p>
                      <a:pPr>
                        <a:lnSpc>
                          <a:spcPct val="100000"/>
                        </a:lnSpc>
                        <a:spcBef>
                          <a:spcPts val="10"/>
                        </a:spcBef>
                      </a:pPr>
                      <a:endParaRPr sz="1850">
                        <a:latin typeface="微软雅黑" panose="020B0503020204020204" charset="-122"/>
                        <a:ea typeface="微软雅黑" panose="020B0503020204020204" charset="-122"/>
                        <a:cs typeface="Times New Roman" panose="02020603050405020304"/>
                      </a:endParaRPr>
                    </a:p>
                    <a:p>
                      <a:pPr algn="ctr">
                        <a:lnSpc>
                          <a:spcPct val="100000"/>
                        </a:lnSpc>
                        <a:spcBef>
                          <a:spcPts val="5"/>
                        </a:spcBef>
                      </a:pPr>
                      <a:r>
                        <a:rPr sz="1300" b="1" dirty="0">
                          <a:solidFill>
                            <a:srgbClr val="00295F"/>
                          </a:solidFill>
                          <a:latin typeface="微软雅黑" panose="020B0503020204020204" charset="-122"/>
                          <a:ea typeface="微软雅黑" panose="020B0503020204020204" charset="-122"/>
                          <a:cs typeface="Arial" panose="020B0604020202020204"/>
                        </a:rPr>
                        <a:t>B</a:t>
                      </a:r>
                      <a:endParaRPr sz="1300">
                        <a:latin typeface="微软雅黑" panose="020B0503020204020204" charset="-122"/>
                        <a:ea typeface="微软雅黑" panose="020B0503020204020204" charset="-122"/>
                        <a:cs typeface="Arial" panose="020B0604020202020204"/>
                      </a:endParaRPr>
                    </a:p>
                  </a:txBody>
                  <a:tcPr marL="0" marR="0" marT="1269" marB="0">
                    <a:lnL w="76200">
                      <a:solidFill>
                        <a:srgbClr val="FFFFFF"/>
                      </a:solidFill>
                      <a:prstDash val="solid"/>
                    </a:lnL>
                    <a:lnR w="76200">
                      <a:solidFill>
                        <a:srgbClr val="FFFFFF"/>
                      </a:solidFill>
                      <a:prstDash val="solid"/>
                    </a:lnR>
                    <a:lnB w="76200">
                      <a:solidFill>
                        <a:srgbClr val="FFFFFF"/>
                      </a:solidFill>
                      <a:prstDash val="solid"/>
                    </a:lnB>
                    <a:solidFill>
                      <a:srgbClr val="91AFFF"/>
                    </a:solidFill>
                  </a:tcPr>
                </a:tc>
                <a:tc>
                  <a:txBody>
                    <a:bodyPr/>
                    <a:lstStyle/>
                    <a:p>
                      <a:pPr>
                        <a:lnSpc>
                          <a:spcPct val="100000"/>
                        </a:lnSpc>
                        <a:spcBef>
                          <a:spcPts val="10"/>
                        </a:spcBef>
                      </a:pPr>
                      <a:endParaRPr sz="1850">
                        <a:latin typeface="微软雅黑" panose="020B0503020204020204" charset="-122"/>
                        <a:ea typeface="微软雅黑" panose="020B0503020204020204" charset="-122"/>
                        <a:cs typeface="Times New Roman" panose="02020603050405020304"/>
                      </a:endParaRPr>
                    </a:p>
                    <a:p>
                      <a:pPr marL="34925" algn="ctr">
                        <a:lnSpc>
                          <a:spcPct val="100000"/>
                        </a:lnSpc>
                        <a:spcBef>
                          <a:spcPts val="5"/>
                        </a:spcBef>
                      </a:pPr>
                      <a:r>
                        <a:rPr sz="1300" b="1" dirty="0">
                          <a:solidFill>
                            <a:srgbClr val="FFFFFF"/>
                          </a:solidFill>
                          <a:latin typeface="微软雅黑" panose="020B0503020204020204" charset="-122"/>
                          <a:ea typeface="微软雅黑" panose="020B0503020204020204" charset="-122"/>
                          <a:cs typeface="Arial" panose="020B0604020202020204"/>
                        </a:rPr>
                        <a:t>A</a:t>
                      </a:r>
                      <a:endParaRPr sz="1300">
                        <a:latin typeface="微软雅黑" panose="020B0503020204020204" charset="-122"/>
                        <a:ea typeface="微软雅黑" panose="020B0503020204020204" charset="-122"/>
                        <a:cs typeface="Arial" panose="020B0604020202020204"/>
                      </a:endParaRPr>
                    </a:p>
                  </a:txBody>
                  <a:tcPr marL="0" marR="0" marT="1269" marB="0">
                    <a:lnL w="76200">
                      <a:solidFill>
                        <a:srgbClr val="FFFFFF"/>
                      </a:solidFill>
                      <a:prstDash val="solid"/>
                    </a:lnL>
                    <a:lnB w="76200">
                      <a:solidFill>
                        <a:srgbClr val="FFFFFF"/>
                      </a:solidFill>
                      <a:prstDash val="solid"/>
                    </a:lnB>
                    <a:solidFill>
                      <a:srgbClr val="0066CC"/>
                    </a:solidFill>
                  </a:tcPr>
                </a:tc>
              </a:tr>
              <a:tr h="826135">
                <a:tc>
                  <a:txBody>
                    <a:bodyPr/>
                    <a:lstStyle/>
                    <a:p>
                      <a:pPr>
                        <a:lnSpc>
                          <a:spcPct val="100000"/>
                        </a:lnSpc>
                      </a:pPr>
                      <a:endParaRPr sz="1400">
                        <a:latin typeface="微软雅黑" panose="020B0503020204020204" charset="-122"/>
                        <a:ea typeface="微软雅黑" panose="020B0503020204020204" charset="-122"/>
                        <a:cs typeface="Times New Roman" panose="02020603050405020304"/>
                      </a:endParaRPr>
                    </a:p>
                    <a:p>
                      <a:pPr marL="342265">
                        <a:lnSpc>
                          <a:spcPct val="100000"/>
                        </a:lnSpc>
                        <a:spcBef>
                          <a:spcPts val="825"/>
                        </a:spcBef>
                      </a:pPr>
                      <a:r>
                        <a:rPr sz="1300" b="1" dirty="0">
                          <a:solidFill>
                            <a:srgbClr val="FFFFFF"/>
                          </a:solidFill>
                          <a:latin typeface="微软雅黑" panose="020B0503020204020204" charset="-122"/>
                          <a:ea typeface="微软雅黑" panose="020B0503020204020204" charset="-122"/>
                          <a:cs typeface="Arial" panose="020B0604020202020204"/>
                        </a:rPr>
                        <a:t>D</a:t>
                      </a:r>
                      <a:endParaRPr sz="1300">
                        <a:latin typeface="微软雅黑" panose="020B0503020204020204" charset="-122"/>
                        <a:ea typeface="微软雅黑" panose="020B0503020204020204" charset="-122"/>
                        <a:cs typeface="Arial" panose="020B0604020202020204"/>
                      </a:endParaRPr>
                    </a:p>
                  </a:txBody>
                  <a:tcPr marL="0" marR="0" marT="0" marB="0">
                    <a:lnR w="76200">
                      <a:solidFill>
                        <a:srgbClr val="FFFFFF"/>
                      </a:solidFill>
                      <a:prstDash val="solid"/>
                    </a:lnR>
                    <a:lnT w="76200">
                      <a:solidFill>
                        <a:srgbClr val="FFFFFF"/>
                      </a:solidFill>
                      <a:prstDash val="solid"/>
                    </a:lnT>
                    <a:lnB w="76200">
                      <a:solidFill>
                        <a:srgbClr val="FFFFFF"/>
                      </a:solidFill>
                      <a:prstDash val="solid"/>
                    </a:lnB>
                    <a:solidFill>
                      <a:srgbClr val="C0C0C0"/>
                    </a:solidFill>
                  </a:tcPr>
                </a:tc>
                <a:tc>
                  <a:txBody>
                    <a:bodyPr/>
                    <a:lstStyle/>
                    <a:p>
                      <a:pPr>
                        <a:lnSpc>
                          <a:spcPct val="100000"/>
                        </a:lnSpc>
                      </a:pPr>
                      <a:endParaRPr sz="1400">
                        <a:latin typeface="微软雅黑" panose="020B0503020204020204" charset="-122"/>
                        <a:ea typeface="微软雅黑" panose="020B0503020204020204" charset="-122"/>
                        <a:cs typeface="Times New Roman" panose="02020603050405020304"/>
                      </a:endParaRPr>
                    </a:p>
                    <a:p>
                      <a:pPr algn="ctr">
                        <a:lnSpc>
                          <a:spcPct val="100000"/>
                        </a:lnSpc>
                        <a:spcBef>
                          <a:spcPts val="830"/>
                        </a:spcBef>
                      </a:pPr>
                      <a:r>
                        <a:rPr sz="1300" b="1" dirty="0">
                          <a:solidFill>
                            <a:srgbClr val="00295F"/>
                          </a:solidFill>
                          <a:latin typeface="微软雅黑" panose="020B0503020204020204" charset="-122"/>
                          <a:ea typeface="微软雅黑" panose="020B0503020204020204" charset="-122"/>
                          <a:cs typeface="Arial" panose="020B0604020202020204"/>
                        </a:rPr>
                        <a:t>C</a:t>
                      </a:r>
                      <a:endParaRPr sz="1300">
                        <a:latin typeface="微软雅黑" panose="020B0503020204020204" charset="-122"/>
                        <a:ea typeface="微软雅黑" panose="020B0503020204020204" charset="-122"/>
                        <a:cs typeface="Arial" panose="020B0604020202020204"/>
                      </a:endParaRPr>
                    </a:p>
                  </a:txBody>
                  <a:tcPr marL="0" marR="0" marT="0" marB="0">
                    <a:lnL w="76200">
                      <a:solidFill>
                        <a:srgbClr val="FFFFFF"/>
                      </a:solidFill>
                      <a:prstDash val="solid"/>
                    </a:lnL>
                    <a:lnR w="76200">
                      <a:solidFill>
                        <a:srgbClr val="FFFFFF"/>
                      </a:solidFill>
                      <a:prstDash val="solid"/>
                    </a:lnR>
                    <a:lnT w="76200">
                      <a:solidFill>
                        <a:srgbClr val="FFFFFF"/>
                      </a:solidFill>
                      <a:prstDash val="solid"/>
                    </a:lnT>
                    <a:lnB w="76200">
                      <a:solidFill>
                        <a:srgbClr val="FFFFFF"/>
                      </a:solidFill>
                      <a:prstDash val="solid"/>
                    </a:lnB>
                    <a:solidFill>
                      <a:srgbClr val="C6DFFA"/>
                    </a:solidFill>
                  </a:tcPr>
                </a:tc>
                <a:tc>
                  <a:txBody>
                    <a:bodyPr/>
                    <a:lstStyle/>
                    <a:p>
                      <a:pPr>
                        <a:lnSpc>
                          <a:spcPct val="100000"/>
                        </a:lnSpc>
                      </a:pPr>
                      <a:endParaRPr sz="1400">
                        <a:latin typeface="微软雅黑" panose="020B0503020204020204" charset="-122"/>
                        <a:ea typeface="微软雅黑" panose="020B0503020204020204" charset="-122"/>
                        <a:cs typeface="Times New Roman" panose="02020603050405020304"/>
                      </a:endParaRPr>
                    </a:p>
                    <a:p>
                      <a:pPr marL="31750" algn="ctr">
                        <a:lnSpc>
                          <a:spcPct val="100000"/>
                        </a:lnSpc>
                        <a:spcBef>
                          <a:spcPts val="830"/>
                        </a:spcBef>
                      </a:pPr>
                      <a:r>
                        <a:rPr sz="1300" b="1" dirty="0">
                          <a:solidFill>
                            <a:srgbClr val="00295F"/>
                          </a:solidFill>
                          <a:latin typeface="微软雅黑" panose="020B0503020204020204" charset="-122"/>
                          <a:ea typeface="微软雅黑" panose="020B0503020204020204" charset="-122"/>
                          <a:cs typeface="Arial" panose="020B0604020202020204"/>
                        </a:rPr>
                        <a:t>B</a:t>
                      </a:r>
                      <a:endParaRPr sz="1300">
                        <a:latin typeface="微软雅黑" panose="020B0503020204020204" charset="-122"/>
                        <a:ea typeface="微软雅黑" panose="020B0503020204020204" charset="-122"/>
                        <a:cs typeface="Arial" panose="020B0604020202020204"/>
                      </a:endParaRPr>
                    </a:p>
                  </a:txBody>
                  <a:tcPr marL="0" marR="0" marT="0" marB="0">
                    <a:lnL w="76200">
                      <a:solidFill>
                        <a:srgbClr val="FFFFFF"/>
                      </a:solidFill>
                      <a:prstDash val="solid"/>
                    </a:lnL>
                    <a:lnT w="76200">
                      <a:solidFill>
                        <a:srgbClr val="FFFFFF"/>
                      </a:solidFill>
                      <a:prstDash val="solid"/>
                    </a:lnT>
                    <a:lnB w="76200">
                      <a:solidFill>
                        <a:srgbClr val="FFFFFF"/>
                      </a:solidFill>
                      <a:prstDash val="solid"/>
                    </a:lnB>
                    <a:solidFill>
                      <a:srgbClr val="91AFFF"/>
                    </a:solidFill>
                  </a:tcPr>
                </a:tc>
              </a:tr>
              <a:tr h="791210">
                <a:tc>
                  <a:txBody>
                    <a:bodyPr/>
                    <a:lstStyle/>
                    <a:p>
                      <a:pPr>
                        <a:lnSpc>
                          <a:spcPct val="100000"/>
                        </a:lnSpc>
                      </a:pPr>
                      <a:endParaRPr sz="1400">
                        <a:latin typeface="微软雅黑" panose="020B0503020204020204" charset="-122"/>
                        <a:ea typeface="微软雅黑" panose="020B0503020204020204" charset="-122"/>
                        <a:cs typeface="Times New Roman" panose="02020603050405020304"/>
                      </a:endParaRPr>
                    </a:p>
                    <a:p>
                      <a:pPr marL="346710">
                        <a:lnSpc>
                          <a:spcPct val="100000"/>
                        </a:lnSpc>
                        <a:spcBef>
                          <a:spcPts val="840"/>
                        </a:spcBef>
                      </a:pPr>
                      <a:r>
                        <a:rPr sz="1300" b="1" dirty="0">
                          <a:solidFill>
                            <a:srgbClr val="959595"/>
                          </a:solidFill>
                          <a:latin typeface="微软雅黑" panose="020B0503020204020204" charset="-122"/>
                          <a:ea typeface="微软雅黑" panose="020B0503020204020204" charset="-122"/>
                          <a:cs typeface="Arial" panose="020B0604020202020204"/>
                        </a:rPr>
                        <a:t>E</a:t>
                      </a:r>
                      <a:endParaRPr sz="1300">
                        <a:latin typeface="微软雅黑" panose="020B0503020204020204" charset="-122"/>
                        <a:ea typeface="微软雅黑" panose="020B0503020204020204" charset="-122"/>
                        <a:cs typeface="Arial" panose="020B0604020202020204"/>
                      </a:endParaRPr>
                    </a:p>
                  </a:txBody>
                  <a:tcPr marL="0" marR="0" marT="0" marB="0">
                    <a:lnR w="76200">
                      <a:solidFill>
                        <a:srgbClr val="FFFFFF"/>
                      </a:solidFill>
                      <a:prstDash val="solid"/>
                    </a:lnR>
                    <a:lnT w="76200">
                      <a:solidFill>
                        <a:srgbClr val="FFFFFF"/>
                      </a:solidFill>
                      <a:prstDash val="solid"/>
                    </a:lnT>
                    <a:solidFill>
                      <a:srgbClr val="DDDDDD"/>
                    </a:solidFill>
                  </a:tcPr>
                </a:tc>
                <a:tc>
                  <a:txBody>
                    <a:bodyPr/>
                    <a:lstStyle/>
                    <a:p>
                      <a:pPr>
                        <a:lnSpc>
                          <a:spcPct val="100000"/>
                        </a:lnSpc>
                      </a:pPr>
                      <a:endParaRPr sz="1400">
                        <a:latin typeface="微软雅黑" panose="020B0503020204020204" charset="-122"/>
                        <a:ea typeface="微软雅黑" panose="020B0503020204020204" charset="-122"/>
                        <a:cs typeface="Times New Roman" panose="02020603050405020304"/>
                      </a:endParaRPr>
                    </a:p>
                    <a:p>
                      <a:pPr algn="ctr">
                        <a:lnSpc>
                          <a:spcPct val="100000"/>
                        </a:lnSpc>
                        <a:spcBef>
                          <a:spcPts val="840"/>
                        </a:spcBef>
                      </a:pPr>
                      <a:r>
                        <a:rPr sz="1300" b="1" dirty="0">
                          <a:solidFill>
                            <a:srgbClr val="FFFFFF"/>
                          </a:solidFill>
                          <a:latin typeface="微软雅黑" panose="020B0503020204020204" charset="-122"/>
                          <a:ea typeface="微软雅黑" panose="020B0503020204020204" charset="-122"/>
                          <a:cs typeface="Arial" panose="020B0604020202020204"/>
                        </a:rPr>
                        <a:t>D</a:t>
                      </a:r>
                      <a:endParaRPr sz="1300">
                        <a:latin typeface="微软雅黑" panose="020B0503020204020204" charset="-122"/>
                        <a:ea typeface="微软雅黑" panose="020B0503020204020204" charset="-122"/>
                        <a:cs typeface="Arial" panose="020B0604020202020204"/>
                      </a:endParaRPr>
                    </a:p>
                  </a:txBody>
                  <a:tcPr marL="0" marR="0" marT="0" marB="0">
                    <a:lnL w="76200">
                      <a:solidFill>
                        <a:srgbClr val="FFFFFF"/>
                      </a:solidFill>
                      <a:prstDash val="solid"/>
                    </a:lnL>
                    <a:lnR w="76200">
                      <a:solidFill>
                        <a:srgbClr val="FFFFFF"/>
                      </a:solidFill>
                      <a:prstDash val="solid"/>
                    </a:lnR>
                    <a:lnT w="76200">
                      <a:solidFill>
                        <a:srgbClr val="FFFFFF"/>
                      </a:solidFill>
                      <a:prstDash val="solid"/>
                    </a:lnT>
                    <a:solidFill>
                      <a:srgbClr val="C0C0C0"/>
                    </a:solidFill>
                  </a:tcPr>
                </a:tc>
                <a:tc>
                  <a:txBody>
                    <a:bodyPr/>
                    <a:lstStyle/>
                    <a:p>
                      <a:pPr>
                        <a:lnSpc>
                          <a:spcPct val="100000"/>
                        </a:lnSpc>
                      </a:pPr>
                      <a:endParaRPr sz="1400">
                        <a:latin typeface="微软雅黑" panose="020B0503020204020204" charset="-122"/>
                        <a:ea typeface="微软雅黑" panose="020B0503020204020204" charset="-122"/>
                        <a:cs typeface="Times New Roman" panose="02020603050405020304"/>
                      </a:endParaRPr>
                    </a:p>
                    <a:p>
                      <a:pPr marL="31750" algn="ctr">
                        <a:lnSpc>
                          <a:spcPct val="100000"/>
                        </a:lnSpc>
                        <a:spcBef>
                          <a:spcPts val="840"/>
                        </a:spcBef>
                      </a:pPr>
                      <a:r>
                        <a:rPr sz="1300" b="1" dirty="0">
                          <a:solidFill>
                            <a:srgbClr val="00295F"/>
                          </a:solidFill>
                          <a:latin typeface="微软雅黑" panose="020B0503020204020204" charset="-122"/>
                          <a:ea typeface="微软雅黑" panose="020B0503020204020204" charset="-122"/>
                          <a:cs typeface="Arial" panose="020B0604020202020204"/>
                        </a:rPr>
                        <a:t>C</a:t>
                      </a:r>
                      <a:endParaRPr sz="1300">
                        <a:latin typeface="微软雅黑" panose="020B0503020204020204" charset="-122"/>
                        <a:ea typeface="微软雅黑" panose="020B0503020204020204" charset="-122"/>
                        <a:cs typeface="Arial" panose="020B0604020202020204"/>
                      </a:endParaRPr>
                    </a:p>
                  </a:txBody>
                  <a:tcPr marL="0" marR="0" marT="0" marB="0">
                    <a:lnL w="76200">
                      <a:solidFill>
                        <a:srgbClr val="FFFFFF"/>
                      </a:solidFill>
                      <a:prstDash val="solid"/>
                    </a:lnL>
                    <a:lnT w="76200">
                      <a:solidFill>
                        <a:srgbClr val="FFFFFF"/>
                      </a:solidFill>
                      <a:prstDash val="solid"/>
                    </a:lnT>
                    <a:solidFill>
                      <a:srgbClr val="C6DFFA"/>
                    </a:solidFill>
                  </a:tcPr>
                </a:tc>
              </a:tr>
            </a:tbl>
          </a:graphicData>
        </a:graphic>
      </p:graphicFrame>
      <p:sp>
        <p:nvSpPr>
          <p:cNvPr id="18" name="object 18"/>
          <p:cNvSpPr txBox="1"/>
          <p:nvPr/>
        </p:nvSpPr>
        <p:spPr>
          <a:xfrm>
            <a:off x="453493" y="2001404"/>
            <a:ext cx="200025" cy="357886"/>
          </a:xfrm>
          <a:prstGeom prst="rect">
            <a:avLst/>
          </a:prstGeom>
        </p:spPr>
        <p:txBody>
          <a:bodyPr vert="vert270" wrap="square" lIns="0" tIns="9518" rIns="0" bIns="0" rtlCol="0">
            <a:spAutoFit/>
          </a:bodyPr>
          <a:lstStyle/>
          <a:p>
            <a:pPr marL="12700">
              <a:lnSpc>
                <a:spcPct val="100000"/>
              </a:lnSpc>
              <a:spcBef>
                <a:spcPts val="75"/>
              </a:spcBef>
            </a:pPr>
            <a:r>
              <a:rPr sz="1300" b="1" spc="10" dirty="0">
                <a:latin typeface="微软雅黑" panose="020B0503020204020204" charset="-122"/>
                <a:ea typeface="微软雅黑" panose="020B0503020204020204" charset="-122"/>
                <a:cs typeface="微软雅黑" panose="020B0503020204020204" charset="-122"/>
              </a:rPr>
              <a:t>影响</a:t>
            </a:r>
            <a:endParaRPr sz="1300" b="1" spc="10" dirty="0">
              <a:latin typeface="微软雅黑" panose="020B0503020204020204" charset="-122"/>
              <a:ea typeface="微软雅黑" panose="020B0503020204020204" charset="-122"/>
              <a:cs typeface="微软雅黑" panose="020B0503020204020204" charset="-122"/>
            </a:endParaRPr>
          </a:p>
        </p:txBody>
      </p:sp>
      <p:sp>
        <p:nvSpPr>
          <p:cNvPr id="19" name="object 19"/>
          <p:cNvSpPr/>
          <p:nvPr/>
        </p:nvSpPr>
        <p:spPr>
          <a:xfrm>
            <a:off x="725672" y="982316"/>
            <a:ext cx="1904" cy="0"/>
          </a:xfrm>
          <a:custGeom>
            <a:avLst/>
            <a:gdLst/>
            <a:ahLst/>
            <a:cxnLst/>
            <a:rect l="l" t="t" r="r" b="b"/>
            <a:pathLst>
              <a:path w="1904">
                <a:moveTo>
                  <a:pt x="0" y="0"/>
                </a:moveTo>
                <a:lnTo>
                  <a:pt x="1523" y="0"/>
                </a:lnTo>
              </a:path>
            </a:pathLst>
          </a:custGeom>
          <a:ln w="19050">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txBox="1"/>
          <p:nvPr/>
        </p:nvSpPr>
        <p:spPr>
          <a:xfrm>
            <a:off x="772831" y="2062575"/>
            <a:ext cx="190365" cy="211455"/>
          </a:xfrm>
          <a:prstGeom prst="rect">
            <a:avLst/>
          </a:prstGeom>
        </p:spPr>
        <p:txBody>
          <a:bodyPr vert="horz" wrap="square" lIns="0" tIns="12056" rIns="0" bIns="0" rtlCol="0">
            <a:spAutoFit/>
          </a:bodyPr>
          <a:lstStyle/>
          <a:p>
            <a:pPr marL="12700">
              <a:lnSpc>
                <a:spcPct val="100000"/>
              </a:lnSpc>
              <a:spcBef>
                <a:spcPts val="95"/>
              </a:spcBef>
            </a:pPr>
            <a:r>
              <a:rPr sz="1300" spc="-5" dirty="0">
                <a:latin typeface="微软雅黑" panose="020B0503020204020204" charset="-122"/>
                <a:ea typeface="微软雅黑" panose="020B0503020204020204" charset="-122"/>
                <a:cs typeface="微软雅黑" panose="020B0503020204020204" charset="-122"/>
              </a:rPr>
              <a:t>中</a:t>
            </a:r>
            <a:endParaRPr sz="1300" spc="-5" dirty="0">
              <a:latin typeface="微软雅黑" panose="020B0503020204020204" charset="-122"/>
              <a:ea typeface="微软雅黑" panose="020B0503020204020204" charset="-122"/>
              <a:cs typeface="微软雅黑" panose="020B0503020204020204" charset="-122"/>
            </a:endParaRPr>
          </a:p>
        </p:txBody>
      </p:sp>
      <p:sp>
        <p:nvSpPr>
          <p:cNvPr id="21" name="object 21"/>
          <p:cNvSpPr txBox="1"/>
          <p:nvPr/>
        </p:nvSpPr>
        <p:spPr>
          <a:xfrm>
            <a:off x="772831" y="2890790"/>
            <a:ext cx="190365" cy="211455"/>
          </a:xfrm>
          <a:prstGeom prst="rect">
            <a:avLst/>
          </a:prstGeom>
        </p:spPr>
        <p:txBody>
          <a:bodyPr vert="horz" wrap="square" lIns="0" tIns="12056" rIns="0" bIns="0" rtlCol="0">
            <a:spAutoFit/>
          </a:bodyPr>
          <a:lstStyle/>
          <a:p>
            <a:pPr marL="12700">
              <a:lnSpc>
                <a:spcPct val="100000"/>
              </a:lnSpc>
              <a:spcBef>
                <a:spcPts val="95"/>
              </a:spcBef>
            </a:pPr>
            <a:r>
              <a:rPr sz="1300" spc="-5" dirty="0">
                <a:latin typeface="微软雅黑" panose="020B0503020204020204" charset="-122"/>
                <a:ea typeface="微软雅黑" panose="020B0503020204020204" charset="-122"/>
                <a:cs typeface="微软雅黑" panose="020B0503020204020204" charset="-122"/>
              </a:rPr>
              <a:t>低</a:t>
            </a:r>
            <a:endParaRPr sz="1300" spc="-5" dirty="0">
              <a:latin typeface="微软雅黑" panose="020B0503020204020204" charset="-122"/>
              <a:ea typeface="微软雅黑" panose="020B0503020204020204" charset="-122"/>
              <a:cs typeface="微软雅黑" panose="020B0503020204020204" charset="-122"/>
            </a:endParaRPr>
          </a:p>
        </p:txBody>
      </p:sp>
      <p:sp>
        <p:nvSpPr>
          <p:cNvPr id="22" name="object 22"/>
          <p:cNvSpPr txBox="1"/>
          <p:nvPr/>
        </p:nvSpPr>
        <p:spPr>
          <a:xfrm>
            <a:off x="1707320" y="3415943"/>
            <a:ext cx="190365" cy="211455"/>
          </a:xfrm>
          <a:prstGeom prst="rect">
            <a:avLst/>
          </a:prstGeom>
        </p:spPr>
        <p:txBody>
          <a:bodyPr vert="horz" wrap="square" lIns="0" tIns="12056" rIns="0" bIns="0" rtlCol="0">
            <a:spAutoFit/>
          </a:bodyPr>
          <a:lstStyle/>
          <a:p>
            <a:pPr marL="12700">
              <a:lnSpc>
                <a:spcPct val="100000"/>
              </a:lnSpc>
              <a:spcBef>
                <a:spcPts val="95"/>
              </a:spcBef>
            </a:pPr>
            <a:r>
              <a:rPr sz="1300" spc="-5" dirty="0">
                <a:latin typeface="微软雅黑" panose="020B0503020204020204" charset="-122"/>
                <a:ea typeface="微软雅黑" panose="020B0503020204020204" charset="-122"/>
                <a:cs typeface="微软雅黑" panose="020B0503020204020204" charset="-122"/>
              </a:rPr>
              <a:t>低</a:t>
            </a:r>
            <a:endParaRPr sz="1300" spc="-5" dirty="0">
              <a:latin typeface="微软雅黑" panose="020B0503020204020204" charset="-122"/>
              <a:ea typeface="微软雅黑" panose="020B0503020204020204" charset="-122"/>
              <a:cs typeface="微软雅黑" panose="020B0503020204020204" charset="-122"/>
            </a:endParaRPr>
          </a:p>
        </p:txBody>
      </p:sp>
      <p:sp>
        <p:nvSpPr>
          <p:cNvPr id="23" name="object 23"/>
          <p:cNvSpPr txBox="1"/>
          <p:nvPr/>
        </p:nvSpPr>
        <p:spPr>
          <a:xfrm>
            <a:off x="2571959" y="3415943"/>
            <a:ext cx="190365" cy="211455"/>
          </a:xfrm>
          <a:prstGeom prst="rect">
            <a:avLst/>
          </a:prstGeom>
        </p:spPr>
        <p:txBody>
          <a:bodyPr vert="horz" wrap="square" lIns="0" tIns="12056" rIns="0" bIns="0" rtlCol="0">
            <a:spAutoFit/>
          </a:bodyPr>
          <a:lstStyle/>
          <a:p>
            <a:pPr marL="12700">
              <a:lnSpc>
                <a:spcPct val="100000"/>
              </a:lnSpc>
              <a:spcBef>
                <a:spcPts val="95"/>
              </a:spcBef>
            </a:pPr>
            <a:r>
              <a:rPr sz="1300" spc="-5" dirty="0">
                <a:latin typeface="微软雅黑" panose="020B0503020204020204" charset="-122"/>
                <a:ea typeface="微软雅黑" panose="020B0503020204020204" charset="-122"/>
                <a:cs typeface="微软雅黑" panose="020B0503020204020204" charset="-122"/>
              </a:rPr>
              <a:t>中</a:t>
            </a:r>
            <a:endParaRPr sz="1300" spc="-5" dirty="0">
              <a:latin typeface="微软雅黑" panose="020B0503020204020204" charset="-122"/>
              <a:ea typeface="微软雅黑" panose="020B0503020204020204" charset="-122"/>
              <a:cs typeface="微软雅黑" panose="020B0503020204020204" charset="-122"/>
            </a:endParaRPr>
          </a:p>
        </p:txBody>
      </p:sp>
      <p:sp>
        <p:nvSpPr>
          <p:cNvPr id="24" name="object 24"/>
          <p:cNvSpPr txBox="1"/>
          <p:nvPr/>
        </p:nvSpPr>
        <p:spPr>
          <a:xfrm>
            <a:off x="3439770" y="3415943"/>
            <a:ext cx="190365" cy="211455"/>
          </a:xfrm>
          <a:prstGeom prst="rect">
            <a:avLst/>
          </a:prstGeom>
        </p:spPr>
        <p:txBody>
          <a:bodyPr vert="horz" wrap="square" lIns="0" tIns="12056" rIns="0" bIns="0" rtlCol="0">
            <a:spAutoFit/>
          </a:bodyPr>
          <a:lstStyle/>
          <a:p>
            <a:pPr marL="12700">
              <a:lnSpc>
                <a:spcPct val="100000"/>
              </a:lnSpc>
              <a:spcBef>
                <a:spcPts val="95"/>
              </a:spcBef>
            </a:pPr>
            <a:r>
              <a:rPr sz="1300" spc="-5" dirty="0">
                <a:latin typeface="微软雅黑" panose="020B0503020204020204" charset="-122"/>
                <a:ea typeface="微软雅黑" panose="020B0503020204020204" charset="-122"/>
                <a:cs typeface="微软雅黑" panose="020B0503020204020204" charset="-122"/>
              </a:rPr>
              <a:t>高</a:t>
            </a:r>
            <a:endParaRPr sz="1300" spc="-5" dirty="0">
              <a:latin typeface="微软雅黑" panose="020B0503020204020204" charset="-122"/>
              <a:ea typeface="微软雅黑" panose="020B0503020204020204" charset="-122"/>
              <a:cs typeface="微软雅黑" panose="020B0503020204020204" charset="-122"/>
            </a:endParaRPr>
          </a:p>
        </p:txBody>
      </p:sp>
      <p:sp>
        <p:nvSpPr>
          <p:cNvPr id="25" name="object 25"/>
          <p:cNvSpPr txBox="1"/>
          <p:nvPr/>
        </p:nvSpPr>
        <p:spPr>
          <a:xfrm>
            <a:off x="772831" y="1237532"/>
            <a:ext cx="190365" cy="211455"/>
          </a:xfrm>
          <a:prstGeom prst="rect">
            <a:avLst/>
          </a:prstGeom>
        </p:spPr>
        <p:txBody>
          <a:bodyPr vert="horz" wrap="square" lIns="0" tIns="12056" rIns="0" bIns="0" rtlCol="0">
            <a:spAutoFit/>
          </a:bodyPr>
          <a:lstStyle/>
          <a:p>
            <a:pPr marL="12700">
              <a:lnSpc>
                <a:spcPct val="100000"/>
              </a:lnSpc>
              <a:spcBef>
                <a:spcPts val="95"/>
              </a:spcBef>
            </a:pPr>
            <a:r>
              <a:rPr sz="1300" spc="-5" dirty="0">
                <a:latin typeface="微软雅黑" panose="020B0503020204020204" charset="-122"/>
                <a:ea typeface="微软雅黑" panose="020B0503020204020204" charset="-122"/>
                <a:cs typeface="微软雅黑" panose="020B0503020204020204" charset="-122"/>
              </a:rPr>
              <a:t>高</a:t>
            </a:r>
            <a:endParaRPr sz="1300" spc="-5" dirty="0">
              <a:latin typeface="微软雅黑" panose="020B0503020204020204" charset="-122"/>
              <a:ea typeface="微软雅黑" panose="020B0503020204020204" charset="-122"/>
              <a:cs typeface="微软雅黑" panose="020B0503020204020204" charset="-122"/>
            </a:endParaRPr>
          </a:p>
        </p:txBody>
      </p:sp>
      <p:sp>
        <p:nvSpPr>
          <p:cNvPr id="26" name="object 26"/>
          <p:cNvSpPr txBox="1"/>
          <p:nvPr/>
        </p:nvSpPr>
        <p:spPr>
          <a:xfrm>
            <a:off x="2238820" y="3704664"/>
            <a:ext cx="855374" cy="211455"/>
          </a:xfrm>
          <a:prstGeom prst="rect">
            <a:avLst/>
          </a:prstGeom>
        </p:spPr>
        <p:txBody>
          <a:bodyPr vert="horz" wrap="square" lIns="0" tIns="12056" rIns="0" bIns="0" rtlCol="0">
            <a:spAutoFit/>
          </a:bodyPr>
          <a:lstStyle/>
          <a:p>
            <a:pPr marL="12700">
              <a:lnSpc>
                <a:spcPct val="100000"/>
              </a:lnSpc>
              <a:spcBef>
                <a:spcPts val="95"/>
              </a:spcBef>
            </a:pPr>
            <a:r>
              <a:rPr sz="1300" b="1" dirty="0">
                <a:latin typeface="微软雅黑" panose="020B0503020204020204" charset="-122"/>
                <a:ea typeface="微软雅黑" panose="020B0503020204020204" charset="-122"/>
                <a:cs typeface="微软雅黑" panose="020B0503020204020204" charset="-122"/>
              </a:rPr>
              <a:t>战略相关性</a:t>
            </a:r>
            <a:endParaRPr sz="1300" b="1" dirty="0">
              <a:latin typeface="微软雅黑" panose="020B0503020204020204" charset="-122"/>
              <a:ea typeface="微软雅黑" panose="020B0503020204020204" charset="-122"/>
              <a:cs typeface="微软雅黑" panose="020B0503020204020204" charset="-122"/>
            </a:endParaRPr>
          </a:p>
        </p:txBody>
      </p:sp>
      <p:sp>
        <p:nvSpPr>
          <p:cNvPr id="27" name="object 27"/>
          <p:cNvSpPr/>
          <p:nvPr/>
        </p:nvSpPr>
        <p:spPr>
          <a:xfrm>
            <a:off x="1399563" y="3681693"/>
            <a:ext cx="2533125" cy="0"/>
          </a:xfrm>
          <a:custGeom>
            <a:avLst/>
            <a:gdLst/>
            <a:ahLst/>
            <a:cxnLst/>
            <a:rect l="l" t="t" r="r" b="b"/>
            <a:pathLst>
              <a:path w="2534920">
                <a:moveTo>
                  <a:pt x="0" y="0"/>
                </a:moveTo>
                <a:lnTo>
                  <a:pt x="2534411" y="0"/>
                </a:lnTo>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p:nvPr/>
        </p:nvSpPr>
        <p:spPr>
          <a:xfrm>
            <a:off x="4372304" y="1883124"/>
            <a:ext cx="472105" cy="599015"/>
          </a:xfrm>
          <a:custGeom>
            <a:avLst/>
            <a:gdLst/>
            <a:ahLst/>
            <a:cxnLst/>
            <a:rect l="l" t="t" r="r" b="b"/>
            <a:pathLst>
              <a:path w="472439" h="599439">
                <a:moveTo>
                  <a:pt x="263017" y="0"/>
                </a:moveTo>
                <a:lnTo>
                  <a:pt x="263017" y="89788"/>
                </a:lnTo>
                <a:lnTo>
                  <a:pt x="0" y="89788"/>
                </a:lnTo>
                <a:lnTo>
                  <a:pt x="0" y="509142"/>
                </a:lnTo>
                <a:lnTo>
                  <a:pt x="263017" y="509142"/>
                </a:lnTo>
                <a:lnTo>
                  <a:pt x="263017" y="598931"/>
                </a:lnTo>
                <a:lnTo>
                  <a:pt x="472440" y="299465"/>
                </a:lnTo>
                <a:lnTo>
                  <a:pt x="263017"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9" name="object 29"/>
          <p:cNvSpPr/>
          <p:nvPr/>
        </p:nvSpPr>
        <p:spPr>
          <a:xfrm>
            <a:off x="718818" y="981555"/>
            <a:ext cx="0" cy="2406215"/>
          </a:xfrm>
          <a:custGeom>
            <a:avLst/>
            <a:gdLst/>
            <a:ahLst/>
            <a:cxnLst/>
            <a:rect l="l" t="t" r="r" b="b"/>
            <a:pathLst>
              <a:path h="2407920">
                <a:moveTo>
                  <a:pt x="0" y="0"/>
                </a:moveTo>
                <a:lnTo>
                  <a:pt x="0" y="2407920"/>
                </a:lnTo>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0" name="object 30"/>
          <p:cNvSpPr/>
          <p:nvPr/>
        </p:nvSpPr>
        <p:spPr>
          <a:xfrm>
            <a:off x="405857" y="4139331"/>
            <a:ext cx="4072543" cy="2173335"/>
          </a:xfrm>
          <a:custGeom>
            <a:avLst/>
            <a:gdLst/>
            <a:ahLst/>
            <a:cxnLst/>
            <a:rect l="l" t="t" r="r" b="b"/>
            <a:pathLst>
              <a:path w="4075429" h="2174875">
                <a:moveTo>
                  <a:pt x="0" y="2174748"/>
                </a:moveTo>
                <a:lnTo>
                  <a:pt x="4075176" y="2174748"/>
                </a:lnTo>
                <a:lnTo>
                  <a:pt x="4075176" y="0"/>
                </a:lnTo>
                <a:lnTo>
                  <a:pt x="0" y="0"/>
                </a:lnTo>
                <a:lnTo>
                  <a:pt x="0" y="2174748"/>
                </a:lnTo>
                <a:close/>
              </a:path>
            </a:pathLst>
          </a:custGeom>
          <a:ln w="28575">
            <a:solidFill>
              <a:srgbClr val="0066CC"/>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1" name="object 31"/>
          <p:cNvSpPr txBox="1"/>
          <p:nvPr/>
        </p:nvSpPr>
        <p:spPr>
          <a:xfrm>
            <a:off x="463983" y="4187683"/>
            <a:ext cx="2219022" cy="1417955"/>
          </a:xfrm>
          <a:prstGeom prst="rect">
            <a:avLst/>
          </a:prstGeom>
        </p:spPr>
        <p:txBody>
          <a:bodyPr vert="horz" wrap="square" lIns="0" tIns="12056" rIns="0" bIns="0" rtlCol="0">
            <a:spAutoFit/>
          </a:bodyPr>
          <a:lstStyle/>
          <a:p>
            <a:pPr marL="12700">
              <a:lnSpc>
                <a:spcPts val="1410"/>
              </a:lnSpc>
              <a:spcBef>
                <a:spcPts val="95"/>
              </a:spcBef>
            </a:pPr>
            <a:r>
              <a:rPr sz="1300" b="1" dirty="0">
                <a:latin typeface="微软雅黑" panose="020B0503020204020204" charset="-122"/>
                <a:ea typeface="微软雅黑" panose="020B0503020204020204" charset="-122"/>
                <a:cs typeface="微软雅黑" panose="020B0503020204020204" charset="-122"/>
              </a:rPr>
              <a:t>影响</a:t>
            </a:r>
            <a:endParaRPr sz="1300">
              <a:latin typeface="微软雅黑" panose="020B0503020204020204" charset="-122"/>
              <a:ea typeface="微软雅黑" panose="020B0503020204020204" charset="-122"/>
              <a:cs typeface="微软雅黑" panose="020B0503020204020204" charset="-122"/>
            </a:endParaRPr>
          </a:p>
          <a:p>
            <a:pPr marL="85725" indent="-73660">
              <a:lnSpc>
                <a:spcPts val="1615"/>
              </a:lnSpc>
              <a:buClr>
                <a:srgbClr val="00295F"/>
              </a:buClr>
              <a:buSzPct val="115000"/>
              <a:buFont typeface="Arial" panose="020B0604020202020204"/>
              <a:buChar char="▪"/>
              <a:tabLst>
                <a:tab pos="86360" algn="l"/>
              </a:tabLst>
            </a:pPr>
            <a:r>
              <a:rPr sz="1300" spc="-5" dirty="0">
                <a:latin typeface="微软雅黑" panose="020B0503020204020204" charset="-122"/>
                <a:ea typeface="微软雅黑" panose="020B0503020204020204" charset="-122"/>
                <a:cs typeface="微软雅黑" panose="020B0503020204020204" charset="-122"/>
              </a:rPr>
              <a:t>收入(</a:t>
            </a:r>
            <a:r>
              <a:rPr sz="1300" spc="-5" dirty="0">
                <a:latin typeface="微软雅黑" panose="020B0503020204020204" charset="-122"/>
                <a:ea typeface="微软雅黑" panose="020B0503020204020204" charset="-122"/>
                <a:cs typeface="微软雅黑" panose="020B0503020204020204" charset="-122"/>
              </a:rPr>
              <a:t>人民币元)</a:t>
            </a:r>
            <a:endParaRPr sz="1300">
              <a:latin typeface="微软雅黑" panose="020B0503020204020204" charset="-122"/>
              <a:ea typeface="微软雅黑" panose="020B0503020204020204" charset="-122"/>
              <a:cs typeface="微软雅黑" panose="020B0503020204020204" charset="-122"/>
            </a:endParaRPr>
          </a:p>
          <a:p>
            <a:pPr marL="469900" lvl="1" indent="-262255">
              <a:lnSpc>
                <a:spcPts val="1555"/>
              </a:lnSpc>
              <a:buClr>
                <a:srgbClr val="00295F"/>
              </a:buClr>
              <a:buSzPct val="119000"/>
              <a:buFont typeface="Arial" panose="020B0604020202020204"/>
              <a:buChar char="–"/>
              <a:tabLst>
                <a:tab pos="469265" algn="l"/>
                <a:tab pos="469900" algn="l"/>
              </a:tabLst>
            </a:pPr>
            <a:r>
              <a:rPr sz="1300" spc="-5" dirty="0">
                <a:latin typeface="微软雅黑" panose="020B0503020204020204" charset="-122"/>
                <a:ea typeface="微软雅黑" panose="020B0503020204020204" charset="-122"/>
                <a:cs typeface="微软雅黑" panose="020B0503020204020204" charset="-122"/>
              </a:rPr>
              <a:t>该客户带来多少收入?</a:t>
            </a:r>
            <a:endParaRPr sz="1300">
              <a:latin typeface="微软雅黑" panose="020B0503020204020204" charset="-122"/>
              <a:ea typeface="微软雅黑" panose="020B0503020204020204" charset="-122"/>
              <a:cs typeface="微软雅黑" panose="020B0503020204020204" charset="-122"/>
            </a:endParaRPr>
          </a:p>
          <a:p>
            <a:pPr marL="469900" lvl="1" indent="-262255">
              <a:lnSpc>
                <a:spcPts val="1535"/>
              </a:lnSpc>
              <a:buClr>
                <a:srgbClr val="00295F"/>
              </a:buClr>
              <a:buSzPct val="119000"/>
              <a:buFont typeface="Arial" panose="020B0604020202020204"/>
              <a:buChar char="–"/>
              <a:tabLst>
                <a:tab pos="469265" algn="l"/>
                <a:tab pos="469900" algn="l"/>
              </a:tabLst>
            </a:pPr>
            <a:r>
              <a:rPr sz="1300" spc="-5" dirty="0">
                <a:latin typeface="微软雅黑" panose="020B0503020204020204" charset="-122"/>
                <a:ea typeface="微软雅黑" panose="020B0503020204020204" charset="-122"/>
                <a:cs typeface="微软雅黑" panose="020B0503020204020204" charset="-122"/>
              </a:rPr>
              <a:t>收入增长速度有多快?</a:t>
            </a:r>
            <a:endParaRPr sz="1300">
              <a:latin typeface="微软雅黑" panose="020B0503020204020204" charset="-122"/>
              <a:ea typeface="微软雅黑" panose="020B0503020204020204" charset="-122"/>
              <a:cs typeface="微软雅黑" panose="020B0503020204020204" charset="-122"/>
            </a:endParaRPr>
          </a:p>
          <a:p>
            <a:pPr marL="86360" indent="-74295">
              <a:lnSpc>
                <a:spcPts val="1590"/>
              </a:lnSpc>
              <a:buClr>
                <a:srgbClr val="00295F"/>
              </a:buClr>
              <a:buSzPct val="115000"/>
              <a:buFont typeface="Arial" panose="020B0604020202020204"/>
              <a:buChar char="▪"/>
              <a:tabLst>
                <a:tab pos="86995" algn="l"/>
              </a:tabLst>
            </a:pPr>
            <a:r>
              <a:rPr sz="1300" spc="-10" dirty="0">
                <a:latin typeface="微软雅黑" panose="020B0503020204020204" charset="-122"/>
                <a:ea typeface="微软雅黑" panose="020B0503020204020204" charset="-122"/>
                <a:cs typeface="微软雅黑" panose="020B0503020204020204" charset="-122"/>
              </a:rPr>
              <a:t>盈利</a:t>
            </a:r>
            <a:r>
              <a:rPr sz="1300" spc="-5" dirty="0">
                <a:latin typeface="微软雅黑" panose="020B0503020204020204" charset="-122"/>
                <a:ea typeface="微软雅黑" panose="020B0503020204020204" charset="-122"/>
                <a:cs typeface="微软雅黑" panose="020B0503020204020204" charset="-122"/>
              </a:rPr>
              <a:t>率</a:t>
            </a:r>
            <a:r>
              <a:rPr sz="1300" spc="35" dirty="0">
                <a:latin typeface="微软雅黑" panose="020B0503020204020204" charset="-122"/>
                <a:ea typeface="微软雅黑" panose="020B0503020204020204" charset="-122"/>
                <a:cs typeface="微软雅黑" panose="020B0503020204020204" charset="-122"/>
              </a:rPr>
              <a:t> </a:t>
            </a:r>
            <a:r>
              <a:rPr sz="1300" spc="-5" dirty="0">
                <a:latin typeface="微软雅黑" panose="020B0503020204020204" charset="-122"/>
                <a:ea typeface="微软雅黑" panose="020B0503020204020204" charset="-122"/>
                <a:cs typeface="微软雅黑" panose="020B0503020204020204" charset="-122"/>
              </a:rPr>
              <a:t>(%)</a:t>
            </a:r>
            <a:endParaRPr sz="1300">
              <a:latin typeface="微软雅黑" panose="020B0503020204020204" charset="-122"/>
              <a:ea typeface="微软雅黑" panose="020B0503020204020204" charset="-122"/>
              <a:cs typeface="微软雅黑" panose="020B0503020204020204" charset="-122"/>
            </a:endParaRPr>
          </a:p>
          <a:p>
            <a:pPr marL="469900" lvl="1" indent="-262255">
              <a:lnSpc>
                <a:spcPts val="1555"/>
              </a:lnSpc>
              <a:buClr>
                <a:srgbClr val="00295F"/>
              </a:buClr>
              <a:buSzPct val="119000"/>
              <a:buFont typeface="Arial" panose="020B0604020202020204"/>
              <a:buChar char="–"/>
              <a:tabLst>
                <a:tab pos="469265" algn="l"/>
                <a:tab pos="469900" algn="l"/>
              </a:tabLst>
            </a:pPr>
            <a:r>
              <a:rPr sz="1300" spc="-5" dirty="0">
                <a:latin typeface="微软雅黑" panose="020B0503020204020204" charset="-122"/>
                <a:ea typeface="微软雅黑" panose="020B0503020204020204" charset="-122"/>
                <a:cs typeface="微软雅黑" panose="020B0503020204020204" charset="-122"/>
              </a:rPr>
              <a:t>该客户带来了多大盈利?</a:t>
            </a:r>
            <a:endParaRPr sz="1300">
              <a:latin typeface="微软雅黑" panose="020B0503020204020204" charset="-122"/>
              <a:ea typeface="微软雅黑" panose="020B0503020204020204" charset="-122"/>
              <a:cs typeface="微软雅黑" panose="020B0503020204020204" charset="-122"/>
            </a:endParaRPr>
          </a:p>
          <a:p>
            <a:pPr marL="469900" lvl="1" indent="-262255">
              <a:lnSpc>
                <a:spcPts val="1710"/>
              </a:lnSpc>
              <a:buClr>
                <a:srgbClr val="00295F"/>
              </a:buClr>
              <a:buSzPct val="119000"/>
              <a:buFont typeface="Arial" panose="020B0604020202020204"/>
              <a:buChar char="–"/>
              <a:tabLst>
                <a:tab pos="469265" algn="l"/>
                <a:tab pos="469900" algn="l"/>
              </a:tabLst>
            </a:pPr>
            <a:r>
              <a:rPr sz="1300" spc="-5" dirty="0">
                <a:latin typeface="微软雅黑" panose="020B0503020204020204" charset="-122"/>
                <a:ea typeface="微软雅黑" panose="020B0503020204020204" charset="-122"/>
                <a:cs typeface="微软雅黑" panose="020B0503020204020204" charset="-122"/>
              </a:rPr>
              <a:t>盈利率增长速度有多快?</a:t>
            </a:r>
            <a:endParaRPr sz="1300">
              <a:latin typeface="微软雅黑" panose="020B0503020204020204" charset="-122"/>
              <a:ea typeface="微软雅黑" panose="020B0503020204020204" charset="-122"/>
              <a:cs typeface="微软雅黑" panose="020B0503020204020204" charset="-122"/>
            </a:endParaRPr>
          </a:p>
        </p:txBody>
      </p:sp>
      <p:sp>
        <p:nvSpPr>
          <p:cNvPr id="32" name="object 32"/>
          <p:cNvSpPr txBox="1"/>
          <p:nvPr/>
        </p:nvSpPr>
        <p:spPr>
          <a:xfrm>
            <a:off x="6027847" y="3503257"/>
            <a:ext cx="84204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客户级别</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3" name="object 33"/>
          <p:cNvSpPr/>
          <p:nvPr/>
        </p:nvSpPr>
        <p:spPr>
          <a:xfrm>
            <a:off x="4609118" y="4139331"/>
            <a:ext cx="4072543" cy="2173335"/>
          </a:xfrm>
          <a:custGeom>
            <a:avLst/>
            <a:gdLst/>
            <a:ahLst/>
            <a:cxnLst/>
            <a:rect l="l" t="t" r="r" b="b"/>
            <a:pathLst>
              <a:path w="4075429" h="2174875">
                <a:moveTo>
                  <a:pt x="0" y="2174748"/>
                </a:moveTo>
                <a:lnTo>
                  <a:pt x="4075175" y="2174748"/>
                </a:lnTo>
                <a:lnTo>
                  <a:pt x="4075175" y="0"/>
                </a:lnTo>
                <a:lnTo>
                  <a:pt x="0" y="0"/>
                </a:lnTo>
                <a:lnTo>
                  <a:pt x="0" y="2174748"/>
                </a:lnTo>
                <a:close/>
              </a:path>
            </a:pathLst>
          </a:custGeom>
          <a:ln w="28575">
            <a:solidFill>
              <a:srgbClr val="0066CC"/>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4" name="object 34"/>
          <p:cNvSpPr txBox="1"/>
          <p:nvPr/>
        </p:nvSpPr>
        <p:spPr>
          <a:xfrm>
            <a:off x="4668512" y="4187683"/>
            <a:ext cx="791284" cy="196215"/>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战略相</a:t>
            </a:r>
            <a:r>
              <a:rPr sz="1200" b="1" spc="-5" dirty="0">
                <a:latin typeface="微软雅黑" panose="020B0503020204020204" charset="-122"/>
                <a:ea typeface="微软雅黑" panose="020B0503020204020204" charset="-122"/>
                <a:cs typeface="微软雅黑" panose="020B0503020204020204" charset="-122"/>
              </a:rPr>
              <a:t>关性</a:t>
            </a:r>
            <a:endParaRPr sz="1200">
              <a:latin typeface="微软雅黑" panose="020B0503020204020204" charset="-122"/>
              <a:ea typeface="微软雅黑" panose="020B0503020204020204" charset="-122"/>
              <a:cs typeface="微软雅黑" panose="020B0503020204020204" charset="-122"/>
            </a:endParaRPr>
          </a:p>
        </p:txBody>
      </p:sp>
      <p:sp>
        <p:nvSpPr>
          <p:cNvPr id="35" name="object 35"/>
          <p:cNvSpPr txBox="1"/>
          <p:nvPr/>
        </p:nvSpPr>
        <p:spPr>
          <a:xfrm>
            <a:off x="4668512" y="4370433"/>
            <a:ext cx="1616834" cy="205105"/>
          </a:xfrm>
          <a:prstGeom prst="rect">
            <a:avLst/>
          </a:prstGeom>
        </p:spPr>
        <p:txBody>
          <a:bodyPr vert="horz" wrap="square" lIns="0" tIns="0" rIns="0" bIns="0" rtlCol="0">
            <a:spAutoFit/>
          </a:bodyPr>
          <a:lstStyle/>
          <a:p>
            <a:pPr marL="81280" indent="-68580">
              <a:lnSpc>
                <a:spcPts val="1600"/>
              </a:lnSpc>
              <a:buClr>
                <a:srgbClr val="00295F"/>
              </a:buClr>
              <a:buSzPct val="117000"/>
              <a:buFont typeface="Arial" panose="020B0604020202020204"/>
              <a:buChar char="▪"/>
              <a:tabLst>
                <a:tab pos="81280" algn="l"/>
              </a:tabLst>
            </a:pPr>
            <a:r>
              <a:rPr sz="1200" dirty="0">
                <a:latin typeface="微软雅黑" panose="020B0503020204020204" charset="-122"/>
                <a:ea typeface="微软雅黑" panose="020B0503020204020204" charset="-122"/>
                <a:cs typeface="微软雅黑" panose="020B0503020204020204" charset="-122"/>
              </a:rPr>
              <a:t>战略计划的战略优先度</a:t>
            </a:r>
            <a:endParaRPr sz="1200" dirty="0">
              <a:latin typeface="微软雅黑" panose="020B0503020204020204" charset="-122"/>
              <a:ea typeface="微软雅黑" panose="020B0503020204020204" charset="-122"/>
              <a:cs typeface="微软雅黑" panose="020B0503020204020204" charset="-122"/>
            </a:endParaRPr>
          </a:p>
        </p:txBody>
      </p:sp>
      <p:sp>
        <p:nvSpPr>
          <p:cNvPr id="36" name="object 36"/>
          <p:cNvSpPr txBox="1"/>
          <p:nvPr/>
        </p:nvSpPr>
        <p:spPr>
          <a:xfrm>
            <a:off x="4863447" y="4553184"/>
            <a:ext cx="3816820" cy="203835"/>
          </a:xfrm>
          <a:prstGeom prst="rect">
            <a:avLst/>
          </a:prstGeom>
        </p:spPr>
        <p:txBody>
          <a:bodyPr vert="horz" wrap="square" lIns="0" tIns="0" rIns="0" bIns="0" rtlCol="0">
            <a:spAutoFit/>
          </a:bodyPr>
          <a:lstStyle/>
          <a:p>
            <a:pPr marL="12700">
              <a:lnSpc>
                <a:spcPts val="1590"/>
              </a:lnSpc>
              <a:tabLst>
                <a:tab pos="274320" algn="l"/>
              </a:tabLst>
            </a:pPr>
            <a:r>
              <a:rPr sz="1450" spc="-10" dirty="0">
                <a:solidFill>
                  <a:srgbClr val="00295F"/>
                </a:solidFill>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客户满足公司的战略优先度吗</a:t>
            </a:r>
            <a:r>
              <a:rPr sz="1200" spc="-5" dirty="0">
                <a:latin typeface="微软雅黑" panose="020B0503020204020204" charset="-122"/>
                <a:ea typeface="微软雅黑" panose="020B0503020204020204" charset="-122"/>
                <a:cs typeface="微软雅黑" panose="020B0503020204020204" charset="-122"/>
              </a:rPr>
              <a:t>?</a:t>
            </a:r>
            <a:r>
              <a:rPr sz="1200" spc="-70" dirty="0">
                <a:latin typeface="微软雅黑" panose="020B0503020204020204" charset="-122"/>
                <a:ea typeface="微软雅黑" panose="020B0503020204020204" charset="-122"/>
                <a:cs typeface="微软雅黑" panose="020B0503020204020204" charset="-122"/>
              </a:rPr>
              <a:t> </a:t>
            </a:r>
            <a:r>
              <a:rPr sz="1200" spc="-5" dirty="0">
                <a:latin typeface="微软雅黑" panose="020B0503020204020204" charset="-122"/>
                <a:ea typeface="微软雅黑" panose="020B0503020204020204" charset="-122"/>
                <a:cs typeface="微软雅黑" panose="020B0503020204020204" charset="-122"/>
              </a:rPr>
              <a:t>(</a:t>
            </a:r>
            <a:r>
              <a:rPr sz="1200" dirty="0">
                <a:latin typeface="微软雅黑" panose="020B0503020204020204" charset="-122"/>
                <a:ea typeface="微软雅黑" panose="020B0503020204020204" charset="-122"/>
                <a:cs typeface="微软雅黑" panose="020B0503020204020204" charset="-122"/>
              </a:rPr>
              <a:t>如：客户留住倾向、</a:t>
            </a:r>
            <a:endParaRPr sz="1200">
              <a:latin typeface="微软雅黑" panose="020B0503020204020204" charset="-122"/>
              <a:ea typeface="微软雅黑" panose="020B0503020204020204" charset="-122"/>
              <a:cs typeface="微软雅黑" panose="020B0503020204020204" charset="-122"/>
            </a:endParaRPr>
          </a:p>
        </p:txBody>
      </p:sp>
      <p:sp>
        <p:nvSpPr>
          <p:cNvPr id="37" name="object 37"/>
          <p:cNvSpPr txBox="1"/>
          <p:nvPr/>
        </p:nvSpPr>
        <p:spPr>
          <a:xfrm>
            <a:off x="4668512" y="4735935"/>
            <a:ext cx="3858066" cy="935355"/>
          </a:xfrm>
          <a:prstGeom prst="rect">
            <a:avLst/>
          </a:prstGeom>
        </p:spPr>
        <p:txBody>
          <a:bodyPr vert="horz" wrap="square" lIns="0" tIns="12691" rIns="0" bIns="0" rtlCol="0">
            <a:spAutoFit/>
          </a:bodyPr>
          <a:lstStyle/>
          <a:p>
            <a:pPr marL="469900">
              <a:lnSpc>
                <a:spcPts val="1290"/>
              </a:lnSpc>
              <a:spcBef>
                <a:spcPts val="100"/>
              </a:spcBef>
            </a:pPr>
            <a:r>
              <a:rPr sz="1200" dirty="0">
                <a:latin typeface="微软雅黑" panose="020B0503020204020204" charset="-122"/>
                <a:ea typeface="微软雅黑" panose="020B0503020204020204" charset="-122"/>
                <a:cs typeface="微软雅黑" panose="020B0503020204020204" charset="-122"/>
              </a:rPr>
              <a:t>自身盈利率以及对客户所在行业的战略重要性)</a:t>
            </a:r>
            <a:endParaRPr sz="1200">
              <a:latin typeface="微软雅黑" panose="020B0503020204020204" charset="-122"/>
              <a:ea typeface="微软雅黑" panose="020B0503020204020204" charset="-122"/>
              <a:cs typeface="微软雅黑" panose="020B0503020204020204" charset="-122"/>
            </a:endParaRPr>
          </a:p>
          <a:p>
            <a:pPr marL="81280" indent="-68580">
              <a:lnSpc>
                <a:spcPts val="1495"/>
              </a:lnSpc>
              <a:buClr>
                <a:srgbClr val="00295F"/>
              </a:buClr>
              <a:buSzPct val="117000"/>
              <a:buFont typeface="Arial" panose="020B0604020202020204"/>
              <a:buChar char="▪"/>
              <a:tabLst>
                <a:tab pos="81280" algn="l"/>
              </a:tabLst>
            </a:pPr>
            <a:r>
              <a:rPr sz="1200" spc="-5" dirty="0">
                <a:latin typeface="微软雅黑" panose="020B0503020204020204" charset="-122"/>
                <a:ea typeface="微软雅黑" panose="020B0503020204020204" charset="-122"/>
                <a:cs typeface="微软雅黑" panose="020B0503020204020204" charset="-122"/>
              </a:rPr>
              <a:t>满足需求的能力</a:t>
            </a:r>
            <a:endParaRPr sz="1200">
              <a:latin typeface="微软雅黑" panose="020B0503020204020204" charset="-122"/>
              <a:ea typeface="微软雅黑" panose="020B0503020204020204" charset="-122"/>
              <a:cs typeface="微软雅黑" panose="020B0503020204020204" charset="-122"/>
            </a:endParaRPr>
          </a:p>
          <a:p>
            <a:pPr marL="469900" marR="5080" indent="-262255">
              <a:lnSpc>
                <a:spcPts val="1430"/>
              </a:lnSpc>
              <a:spcBef>
                <a:spcPts val="150"/>
              </a:spcBef>
              <a:tabLst>
                <a:tab pos="469265" algn="l"/>
              </a:tabLst>
            </a:pPr>
            <a:r>
              <a:rPr sz="1450" spc="-10" dirty="0">
                <a:solidFill>
                  <a:srgbClr val="00295F"/>
                </a:solidFill>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公司具备满足客户需求的强大能力吗</a:t>
            </a:r>
            <a:r>
              <a:rPr sz="1200" spc="-5" dirty="0">
                <a:latin typeface="微软雅黑" panose="020B0503020204020204" charset="-122"/>
                <a:ea typeface="微软雅黑" panose="020B0503020204020204" charset="-122"/>
                <a:cs typeface="微软雅黑" panose="020B0503020204020204" charset="-122"/>
              </a:rPr>
              <a:t>?</a:t>
            </a:r>
            <a:r>
              <a:rPr sz="1200" spc="-100" dirty="0">
                <a:latin typeface="微软雅黑" panose="020B0503020204020204" charset="-122"/>
                <a:ea typeface="微软雅黑" panose="020B0503020204020204" charset="-122"/>
                <a:cs typeface="微软雅黑" panose="020B0503020204020204" charset="-122"/>
              </a:rPr>
              <a:t> </a:t>
            </a:r>
            <a:r>
              <a:rPr sz="1200" spc="-5" dirty="0">
                <a:latin typeface="微软雅黑" panose="020B0503020204020204" charset="-122"/>
                <a:ea typeface="微软雅黑" panose="020B0503020204020204" charset="-122"/>
                <a:cs typeface="微软雅黑" panose="020B0503020204020204" charset="-122"/>
              </a:rPr>
              <a:t>(</a:t>
            </a:r>
            <a:r>
              <a:rPr sz="1200" dirty="0">
                <a:latin typeface="微软雅黑" panose="020B0503020204020204" charset="-122"/>
                <a:ea typeface="微软雅黑" panose="020B0503020204020204" charset="-122"/>
                <a:cs typeface="微软雅黑" panose="020B0503020204020204" charset="-122"/>
              </a:rPr>
              <a:t>如：产品和 服务、服务成本竞争力、客户团队可用性和能力、</a:t>
            </a:r>
            <a:endParaRPr sz="1200">
              <a:latin typeface="微软雅黑" panose="020B0503020204020204" charset="-122"/>
              <a:ea typeface="微软雅黑" panose="020B0503020204020204" charset="-122"/>
              <a:cs typeface="微软雅黑" panose="020B0503020204020204" charset="-122"/>
            </a:endParaRPr>
          </a:p>
          <a:p>
            <a:pPr marL="469900">
              <a:lnSpc>
                <a:spcPts val="1405"/>
              </a:lnSpc>
            </a:pPr>
            <a:r>
              <a:rPr sz="1200" dirty="0">
                <a:latin typeface="微软雅黑" panose="020B0503020204020204" charset="-122"/>
                <a:ea typeface="微软雅黑" panose="020B0503020204020204" charset="-122"/>
                <a:cs typeface="微软雅黑" panose="020B0503020204020204" charset="-122"/>
              </a:rPr>
              <a:t>过往表现以及与客户的关系)</a:t>
            </a:r>
            <a:endParaRPr sz="1200">
              <a:latin typeface="微软雅黑" panose="020B0503020204020204" charset="-122"/>
              <a:ea typeface="微软雅黑" panose="020B0503020204020204" charset="-122"/>
              <a:cs typeface="微软雅黑" panose="020B0503020204020204" charset="-122"/>
            </a:endParaRPr>
          </a:p>
        </p:txBody>
      </p:sp>
      <p:sp>
        <p:nvSpPr>
          <p:cNvPr id="38" name="object 38"/>
          <p:cNvSpPr txBox="1"/>
          <p:nvPr/>
        </p:nvSpPr>
        <p:spPr>
          <a:xfrm>
            <a:off x="106401" y="6412696"/>
            <a:ext cx="982284"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5" dirty="0">
                <a:latin typeface="微软雅黑" panose="020B0503020204020204" charset="-122"/>
                <a:ea typeface="微软雅黑" panose="020B0503020204020204" charset="-122"/>
                <a:cs typeface="微软雅黑" panose="020B0503020204020204" charset="-122"/>
              </a:rPr>
              <a:t>:</a:t>
            </a:r>
            <a:r>
              <a:rPr sz="1000" spc="-45"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a:t>
            </a:r>
            <a:endParaRPr sz="10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401" y="152324"/>
            <a:ext cx="4367610"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不同类型的</a:t>
            </a:r>
            <a:r>
              <a:rPr spc="-10" dirty="0">
                <a:ea typeface="微软雅黑" panose="020B0503020204020204" charset="-122"/>
              </a:rPr>
              <a:t>客户</a:t>
            </a:r>
            <a:r>
              <a:rPr spc="-5" dirty="0">
                <a:ea typeface="微软雅黑" panose="020B0503020204020204" charset="-122"/>
              </a:rPr>
              <a:t>往</a:t>
            </a:r>
            <a:r>
              <a:rPr spc="-10" dirty="0">
                <a:ea typeface="微软雅黑" panose="020B0503020204020204" charset="-122"/>
              </a:rPr>
              <a:t>往需</a:t>
            </a:r>
            <a:r>
              <a:rPr spc="-5" dirty="0">
                <a:ea typeface="微软雅黑" panose="020B0503020204020204" charset="-122"/>
              </a:rPr>
              <a:t>要</a:t>
            </a:r>
            <a:r>
              <a:rPr spc="-10" dirty="0">
                <a:ea typeface="微软雅黑" panose="020B0503020204020204" charset="-122"/>
              </a:rPr>
              <a:t>不同</a:t>
            </a:r>
            <a:r>
              <a:rPr spc="-5" dirty="0">
                <a:ea typeface="微软雅黑" panose="020B0503020204020204" charset="-122"/>
              </a:rPr>
              <a:t>的</a:t>
            </a:r>
            <a:r>
              <a:rPr spc="-10" dirty="0">
                <a:ea typeface="微软雅黑" panose="020B0503020204020204" charset="-122"/>
              </a:rPr>
              <a:t>销售</a:t>
            </a:r>
            <a:r>
              <a:rPr spc="-5" dirty="0">
                <a:ea typeface="微软雅黑" panose="020B0503020204020204" charset="-122"/>
              </a:rPr>
              <a:t>模</a:t>
            </a:r>
            <a:r>
              <a:rPr spc="-10" dirty="0">
                <a:ea typeface="微软雅黑" panose="020B0503020204020204" charset="-122"/>
              </a:rPr>
              <a:t>式</a:t>
            </a:r>
            <a:endParaRPr spc="-10" dirty="0">
              <a:ea typeface="微软雅黑" panose="020B0503020204020204" charset="-122"/>
            </a:endParaRPr>
          </a:p>
        </p:txBody>
      </p:sp>
      <p:sp>
        <p:nvSpPr>
          <p:cNvPr id="4" name="object 4"/>
          <p:cNvSpPr txBox="1"/>
          <p:nvPr/>
        </p:nvSpPr>
        <p:spPr>
          <a:xfrm>
            <a:off x="112797" y="6411477"/>
            <a:ext cx="1361110" cy="165100"/>
          </a:xfrm>
          <a:prstGeom prst="rect">
            <a:avLst/>
          </a:prstGeom>
        </p:spPr>
        <p:txBody>
          <a:bodyPr vert="horz" wrap="square" lIns="0" tIns="12056" rIns="0" bIns="0" rtlCol="0">
            <a:spAutoFit/>
          </a:bodyPr>
          <a:lstStyle/>
          <a:p>
            <a:pPr marL="12700">
              <a:lnSpc>
                <a:spcPct val="100000"/>
              </a:lnSpc>
              <a:spcBef>
                <a:spcPts val="95"/>
              </a:spcBef>
            </a:pPr>
            <a:r>
              <a:rPr sz="1000" spc="-5" dirty="0">
                <a:latin typeface="微软雅黑" panose="020B0503020204020204" charset="-122"/>
                <a:ea typeface="微软雅黑" panose="020B0503020204020204" charset="-122"/>
                <a:cs typeface="微软雅黑" panose="020B0503020204020204" charset="-122"/>
              </a:rPr>
              <a:t>资料来源:</a:t>
            </a:r>
            <a:r>
              <a:rPr sz="1000" spc="-60"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****，访谈</a:t>
            </a:r>
            <a:endParaRPr sz="1000">
              <a:latin typeface="微软雅黑" panose="020B0503020204020204" charset="-122"/>
              <a:ea typeface="微软雅黑" panose="020B0503020204020204" charset="-122"/>
              <a:cs typeface="微软雅黑" panose="020B0503020204020204" charset="-122"/>
            </a:endParaRPr>
          </a:p>
        </p:txBody>
      </p:sp>
      <p:sp>
        <p:nvSpPr>
          <p:cNvPr id="5" name="object 5"/>
          <p:cNvSpPr/>
          <p:nvPr/>
        </p:nvSpPr>
        <p:spPr>
          <a:xfrm>
            <a:off x="8341036" y="1162782"/>
            <a:ext cx="354841" cy="5115491"/>
          </a:xfrm>
          <a:prstGeom prst="rect">
            <a:avLst/>
          </a:prstGeom>
          <a:blipFill>
            <a:blip r:embed="rId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8341036" y="1162782"/>
            <a:ext cx="355348" cy="5115744"/>
          </a:xfrm>
          <a:custGeom>
            <a:avLst/>
            <a:gdLst/>
            <a:ahLst/>
            <a:cxnLst/>
            <a:rect l="l" t="t" r="r" b="b"/>
            <a:pathLst>
              <a:path w="355600" h="5119370">
                <a:moveTo>
                  <a:pt x="355092" y="0"/>
                </a:moveTo>
                <a:lnTo>
                  <a:pt x="355092" y="5119116"/>
                </a:lnTo>
                <a:lnTo>
                  <a:pt x="0" y="0"/>
                </a:lnTo>
                <a:lnTo>
                  <a:pt x="355092" y="0"/>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txBox="1"/>
          <p:nvPr/>
        </p:nvSpPr>
        <p:spPr>
          <a:xfrm>
            <a:off x="7871468" y="788271"/>
            <a:ext cx="917560" cy="319405"/>
          </a:xfrm>
          <a:prstGeom prst="rect">
            <a:avLst/>
          </a:prstGeom>
        </p:spPr>
        <p:txBody>
          <a:bodyPr vert="horz" wrap="square" lIns="0" tIns="10152" rIns="0" bIns="0" rtlCol="0">
            <a:spAutoFit/>
          </a:bodyPr>
          <a:lstStyle/>
          <a:p>
            <a:pPr marL="12700" marR="5080">
              <a:lnSpc>
                <a:spcPct val="101000"/>
              </a:lnSpc>
              <a:spcBef>
                <a:spcPts val="80"/>
              </a:spcBef>
            </a:pPr>
            <a:r>
              <a:rPr sz="1000" b="1" spc="5" dirty="0">
                <a:latin typeface="微软雅黑" panose="020B0503020204020204" charset="-122"/>
                <a:ea typeface="微软雅黑" panose="020B0503020204020204" charset="-122"/>
                <a:cs typeface="微软雅黑" panose="020B0503020204020204" charset="-122"/>
              </a:rPr>
              <a:t>企业与客户</a:t>
            </a:r>
            <a:r>
              <a:rPr sz="1000" b="1" spc="-5" dirty="0">
                <a:latin typeface="微软雅黑" panose="020B0503020204020204" charset="-122"/>
                <a:ea typeface="微软雅黑" panose="020B0503020204020204" charset="-122"/>
                <a:cs typeface="微软雅黑" panose="020B0503020204020204" charset="-122"/>
              </a:rPr>
              <a:t>的关 </a:t>
            </a:r>
            <a:r>
              <a:rPr sz="1000" b="1" spc="5" dirty="0">
                <a:latin typeface="微软雅黑" panose="020B0503020204020204" charset="-122"/>
                <a:ea typeface="微软雅黑" panose="020B0503020204020204" charset="-122"/>
                <a:cs typeface="微软雅黑" panose="020B0503020204020204" charset="-122"/>
              </a:rPr>
              <a:t>系密切程度</a:t>
            </a:r>
            <a:endParaRPr sz="1000">
              <a:latin typeface="微软雅黑" panose="020B0503020204020204" charset="-122"/>
              <a:ea typeface="微软雅黑" panose="020B0503020204020204" charset="-122"/>
              <a:cs typeface="微软雅黑" panose="020B0503020204020204" charset="-122"/>
            </a:endParaRPr>
          </a:p>
        </p:txBody>
      </p:sp>
      <p:sp>
        <p:nvSpPr>
          <p:cNvPr id="8" name="object 8"/>
          <p:cNvSpPr txBox="1"/>
          <p:nvPr/>
        </p:nvSpPr>
        <p:spPr>
          <a:xfrm>
            <a:off x="8399668" y="6106893"/>
            <a:ext cx="152292" cy="165100"/>
          </a:xfrm>
          <a:prstGeom prst="rect">
            <a:avLst/>
          </a:prstGeom>
        </p:spPr>
        <p:txBody>
          <a:bodyPr vert="horz" wrap="square" lIns="0" tIns="12056" rIns="0" bIns="0" rtlCol="0">
            <a:spAutoFit/>
          </a:bodyPr>
          <a:lstStyle/>
          <a:p>
            <a:pPr marL="12700">
              <a:lnSpc>
                <a:spcPct val="100000"/>
              </a:lnSpc>
              <a:spcBef>
                <a:spcPts val="95"/>
              </a:spcBef>
            </a:pPr>
            <a:r>
              <a:rPr sz="1000" b="1" spc="-5" dirty="0">
                <a:latin typeface="微软雅黑" panose="020B0503020204020204" charset="-122"/>
                <a:ea typeface="微软雅黑" panose="020B0503020204020204" charset="-122"/>
                <a:cs typeface="微软雅黑" panose="020B0503020204020204" charset="-122"/>
              </a:rPr>
              <a:t>低</a:t>
            </a:r>
            <a:endParaRPr sz="1000" b="1" spc="-5" dirty="0">
              <a:latin typeface="微软雅黑" panose="020B0503020204020204" charset="-122"/>
              <a:ea typeface="微软雅黑" panose="020B0503020204020204" charset="-122"/>
              <a:cs typeface="微软雅黑" panose="020B0503020204020204" charset="-122"/>
            </a:endParaRPr>
          </a:p>
        </p:txBody>
      </p:sp>
      <p:sp>
        <p:nvSpPr>
          <p:cNvPr id="9" name="object 9"/>
          <p:cNvSpPr txBox="1"/>
          <p:nvPr/>
        </p:nvSpPr>
        <p:spPr>
          <a:xfrm>
            <a:off x="1943627" y="1357462"/>
            <a:ext cx="409285" cy="165100"/>
          </a:xfrm>
          <a:prstGeom prst="rect">
            <a:avLst/>
          </a:prstGeom>
        </p:spPr>
        <p:txBody>
          <a:bodyPr vert="horz" wrap="square" lIns="0" tIns="12056" rIns="0" bIns="0" rtlCol="0">
            <a:spAutoFit/>
          </a:bodyPr>
          <a:lstStyle/>
          <a:p>
            <a:pPr marL="12700">
              <a:lnSpc>
                <a:spcPct val="100000"/>
              </a:lnSpc>
              <a:spcBef>
                <a:spcPts val="95"/>
              </a:spcBef>
            </a:pPr>
            <a:r>
              <a:rPr sz="1000" b="1" spc="5" dirty="0">
                <a:latin typeface="微软雅黑" panose="020B0503020204020204" charset="-122"/>
                <a:ea typeface="微软雅黑" panose="020B0503020204020204" charset="-122"/>
                <a:cs typeface="微软雅黑" panose="020B0503020204020204" charset="-122"/>
              </a:rPr>
              <a:t>盖模式</a:t>
            </a:r>
            <a:endParaRPr sz="1000" b="1" spc="5" dirty="0">
              <a:latin typeface="微软雅黑" panose="020B0503020204020204" charset="-122"/>
              <a:ea typeface="微软雅黑" panose="020B0503020204020204" charset="-122"/>
              <a:cs typeface="微软雅黑" panose="020B0503020204020204" charset="-122"/>
            </a:endParaRPr>
          </a:p>
        </p:txBody>
      </p:sp>
      <p:sp>
        <p:nvSpPr>
          <p:cNvPr id="10" name="object 10"/>
          <p:cNvSpPr txBox="1"/>
          <p:nvPr/>
        </p:nvSpPr>
        <p:spPr>
          <a:xfrm>
            <a:off x="1943627" y="3171260"/>
            <a:ext cx="665009" cy="319405"/>
          </a:xfrm>
          <a:prstGeom prst="rect">
            <a:avLst/>
          </a:prstGeom>
        </p:spPr>
        <p:txBody>
          <a:bodyPr vert="horz" wrap="square" lIns="0" tIns="10152" rIns="0" bIns="0" rtlCol="0">
            <a:spAutoFit/>
          </a:bodyPr>
          <a:lstStyle/>
          <a:p>
            <a:pPr marL="12700" marR="5080">
              <a:lnSpc>
                <a:spcPct val="101000"/>
              </a:lnSpc>
              <a:spcBef>
                <a:spcPts val="80"/>
              </a:spcBef>
            </a:pPr>
            <a:r>
              <a:rPr sz="1000" b="1" spc="5" dirty="0">
                <a:latin typeface="微软雅黑" panose="020B0503020204020204" charset="-122"/>
                <a:ea typeface="微软雅黑" panose="020B0503020204020204" charset="-122"/>
                <a:cs typeface="微软雅黑" panose="020B0503020204020204" charset="-122"/>
              </a:rPr>
              <a:t>企业主导、 分销商协助</a:t>
            </a:r>
            <a:endParaRPr sz="1000" b="1" spc="5" dirty="0">
              <a:latin typeface="微软雅黑" panose="020B0503020204020204" charset="-122"/>
              <a:ea typeface="微软雅黑" panose="020B0503020204020204" charset="-122"/>
              <a:cs typeface="微软雅黑" panose="020B0503020204020204" charset="-122"/>
            </a:endParaRPr>
          </a:p>
        </p:txBody>
      </p:sp>
      <p:sp>
        <p:nvSpPr>
          <p:cNvPr id="11" name="object 11"/>
          <p:cNvSpPr txBox="1"/>
          <p:nvPr/>
        </p:nvSpPr>
        <p:spPr>
          <a:xfrm>
            <a:off x="3730394" y="919876"/>
            <a:ext cx="537464" cy="165100"/>
          </a:xfrm>
          <a:prstGeom prst="rect">
            <a:avLst/>
          </a:prstGeom>
        </p:spPr>
        <p:txBody>
          <a:bodyPr vert="horz" wrap="square" lIns="0" tIns="12056" rIns="0" bIns="0" rtlCol="0">
            <a:spAutoFit/>
          </a:bodyPr>
          <a:lstStyle/>
          <a:p>
            <a:pPr marL="12700">
              <a:lnSpc>
                <a:spcPct val="100000"/>
              </a:lnSpc>
              <a:spcBef>
                <a:spcPts val="95"/>
              </a:spcBef>
            </a:pPr>
            <a:r>
              <a:rPr sz="1000" b="1" spc="5" dirty="0">
                <a:latin typeface="微软雅黑" panose="020B0503020204020204" charset="-122"/>
                <a:ea typeface="微软雅黑" panose="020B0503020204020204" charset="-122"/>
                <a:cs typeface="微软雅黑" panose="020B0503020204020204" charset="-122"/>
              </a:rPr>
              <a:t>角色细分</a:t>
            </a:r>
            <a:endParaRPr sz="1000" b="1" spc="5" dirty="0">
              <a:latin typeface="微软雅黑" panose="020B0503020204020204" charset="-122"/>
              <a:ea typeface="微软雅黑" panose="020B0503020204020204" charset="-122"/>
              <a:cs typeface="微软雅黑" panose="020B0503020204020204" charset="-122"/>
            </a:endParaRPr>
          </a:p>
        </p:txBody>
      </p:sp>
      <p:sp>
        <p:nvSpPr>
          <p:cNvPr id="12" name="object 12"/>
          <p:cNvSpPr/>
          <p:nvPr/>
        </p:nvSpPr>
        <p:spPr>
          <a:xfrm>
            <a:off x="3722017" y="1118618"/>
            <a:ext cx="4278138" cy="0"/>
          </a:xfrm>
          <a:custGeom>
            <a:avLst/>
            <a:gdLst/>
            <a:ahLst/>
            <a:cxnLst/>
            <a:rect l="l" t="t" r="r" b="b"/>
            <a:pathLst>
              <a:path w="4281170">
                <a:moveTo>
                  <a:pt x="0" y="0"/>
                </a:moveTo>
                <a:lnTo>
                  <a:pt x="4280916" y="0"/>
                </a:lnTo>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txBox="1">
            <a:spLocks noGrp="1"/>
          </p:cNvSpPr>
          <p:nvPr>
            <p:ph type="body" idx="1"/>
          </p:nvPr>
        </p:nvSpPr>
        <p:spPr>
          <a:xfrm>
            <a:off x="1326590" y="1141013"/>
            <a:ext cx="6306668" cy="2324735"/>
          </a:xfrm>
          <a:prstGeom prst="rect">
            <a:avLst/>
          </a:prstGeom>
        </p:spPr>
        <p:txBody>
          <a:bodyPr vert="horz" wrap="square" lIns="0" tIns="12056" rIns="0" bIns="0" rtlCol="0">
            <a:spAutoFit/>
          </a:bodyPr>
          <a:lstStyle/>
          <a:p>
            <a:pPr marL="2577465" indent="-192405">
              <a:lnSpc>
                <a:spcPts val="1100"/>
              </a:lnSpc>
              <a:spcBef>
                <a:spcPts val="95"/>
              </a:spcBef>
              <a:buClr>
                <a:srgbClr val="00295F"/>
              </a:buClr>
              <a:buSzPct val="125000"/>
              <a:buFont typeface="Arial" panose="020B0604020202020204"/>
              <a:buChar char="▪"/>
              <a:tabLst>
                <a:tab pos="2578100" algn="l"/>
                <a:tab pos="2578735" algn="l"/>
              </a:tabLst>
            </a:pPr>
            <a:r>
              <a:rPr dirty="0">
                <a:ea typeface="微软雅黑" panose="020B0503020204020204" charset="-122"/>
              </a:rPr>
              <a:t>企业客户经</a:t>
            </a:r>
            <a:r>
              <a:rPr spc="-10" dirty="0">
                <a:ea typeface="微软雅黑" panose="020B0503020204020204" charset="-122"/>
              </a:rPr>
              <a:t>理</a:t>
            </a:r>
            <a:r>
              <a:rPr spc="-5" dirty="0">
                <a:ea typeface="微软雅黑" panose="020B0503020204020204" charset="-122"/>
              </a:rPr>
              <a:t>:</a:t>
            </a:r>
            <a:endParaRPr spc="-5" dirty="0">
              <a:ea typeface="微软雅黑" panose="020B0503020204020204" charset="-122"/>
            </a:endParaRPr>
          </a:p>
          <a:p>
            <a:pPr marL="2840990" lvl="1" indent="-262890">
              <a:lnSpc>
                <a:spcPts val="1220"/>
              </a:lnSpc>
              <a:buClr>
                <a:srgbClr val="00295F"/>
              </a:buClr>
              <a:buSzPct val="120000"/>
              <a:buFont typeface="Arial" panose="020B0604020202020204"/>
              <a:buChar char="–"/>
              <a:tabLst>
                <a:tab pos="2841625" algn="l"/>
                <a:tab pos="2842260" algn="l"/>
              </a:tabLst>
            </a:pPr>
            <a:r>
              <a:rPr sz="1000" spc="-5" dirty="0">
                <a:ea typeface="微软雅黑" panose="020B0503020204020204" charset="-122"/>
              </a:rPr>
              <a:t>总体客户关系开发</a:t>
            </a:r>
            <a:endParaRPr sz="1000">
              <a:ea typeface="微软雅黑" panose="020B0503020204020204" charset="-122"/>
            </a:endParaRPr>
          </a:p>
          <a:p>
            <a:pPr marL="2840990" lvl="1" indent="-262890">
              <a:lnSpc>
                <a:spcPts val="1200"/>
              </a:lnSpc>
              <a:buClr>
                <a:srgbClr val="00295F"/>
              </a:buClr>
              <a:buSzPct val="120000"/>
              <a:buFont typeface="Arial" panose="020B0604020202020204"/>
              <a:buChar char="–"/>
              <a:tabLst>
                <a:tab pos="2841625" algn="l"/>
                <a:tab pos="2842260" algn="l"/>
              </a:tabLst>
            </a:pPr>
            <a:r>
              <a:rPr sz="1000" spc="-5" dirty="0">
                <a:ea typeface="微软雅黑" panose="020B0503020204020204" charset="-122"/>
              </a:rPr>
              <a:t>客户商务支持</a:t>
            </a:r>
            <a:endParaRPr sz="1000">
              <a:ea typeface="微软雅黑" panose="020B0503020204020204" charset="-122"/>
            </a:endParaRPr>
          </a:p>
          <a:p>
            <a:pPr marL="2840990" lvl="1" indent="-262890">
              <a:lnSpc>
                <a:spcPts val="1300"/>
              </a:lnSpc>
              <a:buClr>
                <a:srgbClr val="00295F"/>
              </a:buClr>
              <a:buSzPct val="120000"/>
              <a:buFont typeface="Arial" panose="020B0604020202020204"/>
              <a:buChar char="–"/>
              <a:tabLst>
                <a:tab pos="2841625" algn="l"/>
                <a:tab pos="2842260" algn="l"/>
              </a:tabLst>
            </a:pPr>
            <a:r>
              <a:rPr sz="1000" spc="-5" dirty="0">
                <a:ea typeface="微软雅黑" panose="020B0503020204020204" charset="-122"/>
              </a:rPr>
              <a:t>新机会发现和培育</a:t>
            </a:r>
            <a:endParaRPr sz="1000">
              <a:ea typeface="微软雅黑" panose="020B0503020204020204" charset="-122"/>
            </a:endParaRPr>
          </a:p>
          <a:p>
            <a:pPr marL="2577465" indent="-192405">
              <a:lnSpc>
                <a:spcPts val="1080"/>
              </a:lnSpc>
              <a:buClr>
                <a:srgbClr val="00295F"/>
              </a:buClr>
              <a:buSzPct val="125000"/>
              <a:buFont typeface="Arial" panose="020B0604020202020204"/>
              <a:buChar char="▪"/>
              <a:tabLst>
                <a:tab pos="2578100" algn="l"/>
                <a:tab pos="2578735" algn="l"/>
              </a:tabLst>
            </a:pPr>
            <a:r>
              <a:rPr spc="5" dirty="0">
                <a:ea typeface="微软雅黑" panose="020B0503020204020204" charset="-122"/>
              </a:rPr>
              <a:t>企业技术销</a:t>
            </a:r>
            <a:r>
              <a:rPr spc="-5" dirty="0">
                <a:ea typeface="微软雅黑" panose="020B0503020204020204" charset="-122"/>
              </a:rPr>
              <a:t>售</a:t>
            </a:r>
            <a:r>
              <a:rPr spc="-5" dirty="0">
                <a:ea typeface="微软雅黑" panose="020B0503020204020204" charset="-122"/>
              </a:rPr>
              <a:t>:</a:t>
            </a:r>
            <a:endParaRPr spc="-5" dirty="0">
              <a:ea typeface="微软雅黑" panose="020B0503020204020204" charset="-122"/>
            </a:endParaRPr>
          </a:p>
          <a:p>
            <a:pPr marL="2840990" lvl="1" indent="-262890">
              <a:lnSpc>
                <a:spcPts val="1220"/>
              </a:lnSpc>
              <a:buClr>
                <a:srgbClr val="00295F"/>
              </a:buClr>
              <a:buSzPct val="120000"/>
              <a:buFont typeface="Arial" panose="020B0604020202020204"/>
              <a:buChar char="–"/>
              <a:tabLst>
                <a:tab pos="2841625" algn="l"/>
                <a:tab pos="2842260" algn="l"/>
              </a:tabLst>
            </a:pPr>
            <a:r>
              <a:rPr sz="1000" spc="-5" dirty="0">
                <a:ea typeface="微软雅黑" panose="020B0503020204020204" charset="-122"/>
              </a:rPr>
              <a:t>客户技术支持</a:t>
            </a:r>
            <a:endParaRPr sz="1000">
              <a:ea typeface="微软雅黑" panose="020B0503020204020204" charset="-122"/>
            </a:endParaRPr>
          </a:p>
          <a:p>
            <a:pPr marL="2840990" lvl="1" indent="-262890">
              <a:lnSpc>
                <a:spcPts val="1300"/>
              </a:lnSpc>
              <a:buClr>
                <a:srgbClr val="00295F"/>
              </a:buClr>
              <a:buSzPct val="120000"/>
              <a:buFont typeface="Arial" panose="020B0604020202020204"/>
              <a:buChar char="–"/>
              <a:tabLst>
                <a:tab pos="2841625" algn="l"/>
                <a:tab pos="2842260" algn="l"/>
              </a:tabLst>
            </a:pPr>
            <a:r>
              <a:rPr sz="1000" spc="-5" dirty="0">
                <a:ea typeface="微软雅黑" panose="020B0503020204020204" charset="-122"/>
              </a:rPr>
              <a:t>新技</a:t>
            </a:r>
            <a:r>
              <a:rPr sz="1000" spc="-10" dirty="0">
                <a:ea typeface="微软雅黑" panose="020B0503020204020204" charset="-122"/>
              </a:rPr>
              <a:t>术/</a:t>
            </a:r>
            <a:r>
              <a:rPr sz="1000" spc="-5" dirty="0">
                <a:ea typeface="微软雅黑" panose="020B0503020204020204" charset="-122"/>
              </a:rPr>
              <a:t>应用介绍</a:t>
            </a:r>
            <a:endParaRPr sz="1000">
              <a:ea typeface="微软雅黑" panose="020B0503020204020204" charset="-122"/>
            </a:endParaRPr>
          </a:p>
          <a:p>
            <a:pPr marL="2577465" indent="-192405">
              <a:lnSpc>
                <a:spcPts val="1180"/>
              </a:lnSpc>
              <a:buClr>
                <a:srgbClr val="00295F"/>
              </a:buClr>
              <a:buSzPct val="125000"/>
              <a:buFont typeface="Arial" panose="020B0604020202020204"/>
              <a:buChar char="▪"/>
              <a:tabLst>
                <a:tab pos="2578100" algn="l"/>
                <a:tab pos="2578735" algn="l"/>
              </a:tabLst>
            </a:pPr>
            <a:r>
              <a:rPr spc="5" dirty="0">
                <a:ea typeface="微软雅黑" panose="020B0503020204020204" charset="-122"/>
              </a:rPr>
              <a:t>企业技术服</a:t>
            </a:r>
            <a:r>
              <a:rPr spc="-5" dirty="0">
                <a:ea typeface="微软雅黑" panose="020B0503020204020204" charset="-122"/>
              </a:rPr>
              <a:t>务:</a:t>
            </a:r>
            <a:r>
              <a:rPr spc="-40" dirty="0">
                <a:ea typeface="微软雅黑" panose="020B0503020204020204" charset="-122"/>
              </a:rPr>
              <a:t> </a:t>
            </a:r>
            <a:r>
              <a:rPr b="0" spc="-5" dirty="0">
                <a:ea typeface="微软雅黑" panose="020B0503020204020204" charset="-122"/>
              </a:rPr>
              <a:t>高级技术咨询</a:t>
            </a:r>
            <a:endParaRPr b="0" spc="-5" dirty="0">
              <a:ea typeface="微软雅黑" panose="020B0503020204020204" charset="-122"/>
            </a:endParaRPr>
          </a:p>
          <a:p>
            <a:pPr marL="2577465" indent="-192405">
              <a:lnSpc>
                <a:spcPts val="1100"/>
              </a:lnSpc>
              <a:buClr>
                <a:srgbClr val="00295F"/>
              </a:buClr>
              <a:buSzPct val="125000"/>
              <a:buFont typeface="Arial" panose="020B0604020202020204"/>
              <a:buChar char="▪"/>
              <a:tabLst>
                <a:tab pos="2578100" algn="l"/>
                <a:tab pos="2578735" algn="l"/>
              </a:tabLst>
            </a:pPr>
            <a:r>
              <a:rPr dirty="0">
                <a:ea typeface="微软雅黑" panose="020B0503020204020204" charset="-122"/>
              </a:rPr>
              <a:t>远程渠</a:t>
            </a:r>
            <a:r>
              <a:rPr spc="5" dirty="0">
                <a:ea typeface="微软雅黑" panose="020B0503020204020204" charset="-122"/>
              </a:rPr>
              <a:t>道</a:t>
            </a:r>
            <a:r>
              <a:rPr b="0" spc="-5" dirty="0">
                <a:ea typeface="微软雅黑" panose="020B0503020204020204" charset="-122"/>
              </a:rPr>
              <a:t>:</a:t>
            </a:r>
            <a:endParaRPr b="0" spc="-5" dirty="0">
              <a:ea typeface="微软雅黑" panose="020B0503020204020204" charset="-122"/>
            </a:endParaRPr>
          </a:p>
          <a:p>
            <a:pPr marL="2840990" lvl="1" indent="-262890">
              <a:lnSpc>
                <a:spcPts val="1340"/>
              </a:lnSpc>
              <a:buClr>
                <a:srgbClr val="00295F"/>
              </a:buClr>
              <a:buSzPct val="120000"/>
              <a:buFont typeface="Arial" panose="020B0604020202020204"/>
              <a:buChar char="–"/>
              <a:tabLst>
                <a:tab pos="2841625" algn="l"/>
                <a:tab pos="2842260" algn="l"/>
              </a:tabLst>
            </a:pPr>
            <a:r>
              <a:rPr sz="1000" spc="-5" dirty="0">
                <a:ea typeface="微软雅黑" panose="020B0503020204020204" charset="-122"/>
              </a:rPr>
              <a:t>电子渠道提供产品信</a:t>
            </a:r>
            <a:r>
              <a:rPr sz="1000" spc="-25" dirty="0">
                <a:ea typeface="微软雅黑" panose="020B0503020204020204" charset="-122"/>
              </a:rPr>
              <a:t>息</a:t>
            </a:r>
            <a:r>
              <a:rPr sz="1000" spc="-10" dirty="0">
                <a:ea typeface="微软雅黑" panose="020B0503020204020204" charset="-122"/>
              </a:rPr>
              <a:t>/</a:t>
            </a:r>
            <a:r>
              <a:rPr sz="1000" spc="-5" dirty="0">
                <a:ea typeface="微软雅黑" panose="020B0503020204020204" charset="-122"/>
              </a:rPr>
              <a:t>比较和基本</a:t>
            </a:r>
            <a:r>
              <a:rPr sz="1000" spc="5" dirty="0">
                <a:ea typeface="微软雅黑" panose="020B0503020204020204" charset="-122"/>
              </a:rPr>
              <a:t>的</a:t>
            </a:r>
            <a:r>
              <a:rPr sz="1000" spc="-5" dirty="0">
                <a:ea typeface="微软雅黑" panose="020B0503020204020204" charset="-122"/>
              </a:rPr>
              <a:t>技术</a:t>
            </a:r>
            <a:r>
              <a:rPr sz="1000" spc="5" dirty="0">
                <a:ea typeface="微软雅黑" panose="020B0503020204020204" charset="-122"/>
              </a:rPr>
              <a:t>支</a:t>
            </a:r>
            <a:r>
              <a:rPr sz="1000" spc="-5" dirty="0">
                <a:ea typeface="微软雅黑" panose="020B0503020204020204" charset="-122"/>
              </a:rPr>
              <a:t>持和</a:t>
            </a:r>
            <a:r>
              <a:rPr sz="1000" spc="5" dirty="0">
                <a:ea typeface="微软雅黑" panose="020B0503020204020204" charset="-122"/>
              </a:rPr>
              <a:t>订</a:t>
            </a:r>
            <a:r>
              <a:rPr sz="1000" spc="-5" dirty="0">
                <a:ea typeface="微软雅黑" panose="020B0503020204020204" charset="-122"/>
              </a:rPr>
              <a:t>单跟</a:t>
            </a:r>
            <a:r>
              <a:rPr sz="1000" spc="5" dirty="0">
                <a:ea typeface="微软雅黑" panose="020B0503020204020204" charset="-122"/>
              </a:rPr>
              <a:t>踪</a:t>
            </a:r>
            <a:r>
              <a:rPr sz="1000" spc="-5" dirty="0">
                <a:ea typeface="微软雅黑" panose="020B0503020204020204" charset="-122"/>
              </a:rPr>
              <a:t>服务</a:t>
            </a:r>
            <a:endParaRPr sz="1000">
              <a:ea typeface="微软雅黑" panose="020B0503020204020204" charset="-122"/>
            </a:endParaRPr>
          </a:p>
        </p:txBody>
      </p:sp>
      <p:sp>
        <p:nvSpPr>
          <p:cNvPr id="14" name="object 14"/>
          <p:cNvSpPr txBox="1"/>
          <p:nvPr/>
        </p:nvSpPr>
        <p:spPr>
          <a:xfrm>
            <a:off x="3698413" y="3109455"/>
            <a:ext cx="3207652" cy="1247775"/>
          </a:xfrm>
          <a:prstGeom prst="rect">
            <a:avLst/>
          </a:prstGeom>
        </p:spPr>
        <p:txBody>
          <a:bodyPr vert="horz" wrap="square" lIns="0" tIns="12056" rIns="0" bIns="0" rtlCol="0">
            <a:spAutoFit/>
          </a:bodyPr>
          <a:lstStyle/>
          <a:p>
            <a:pPr marL="204470" indent="-192405">
              <a:lnSpc>
                <a:spcPct val="100000"/>
              </a:lnSpc>
              <a:spcBef>
                <a:spcPts val="95"/>
              </a:spcBef>
              <a:buClr>
                <a:srgbClr val="00295F"/>
              </a:buClr>
              <a:buSzPct val="125000"/>
              <a:buFont typeface="Arial" panose="020B0604020202020204"/>
              <a:buChar char="▪"/>
              <a:tabLst>
                <a:tab pos="204470" algn="l"/>
                <a:tab pos="204470" algn="l"/>
              </a:tabLst>
            </a:pPr>
            <a:r>
              <a:rPr sz="1000" b="1" spc="5" dirty="0">
                <a:latin typeface="微软雅黑" panose="020B0503020204020204" charset="-122"/>
                <a:ea typeface="微软雅黑" panose="020B0503020204020204" charset="-122"/>
                <a:cs typeface="微软雅黑" panose="020B0503020204020204" charset="-122"/>
              </a:rPr>
              <a:t>企业分销商</a:t>
            </a:r>
            <a:r>
              <a:rPr sz="1000" b="1" spc="-5" dirty="0">
                <a:latin typeface="微软雅黑" panose="020B0503020204020204" charset="-122"/>
                <a:ea typeface="微软雅黑" panose="020B0503020204020204" charset="-122"/>
                <a:cs typeface="微软雅黑" panose="020B0503020204020204" charset="-122"/>
              </a:rPr>
              <a:t>管理</a:t>
            </a:r>
            <a:r>
              <a:rPr sz="1000" b="1" spc="5" dirty="0">
                <a:latin typeface="微软雅黑" panose="020B0503020204020204" charset="-122"/>
                <a:ea typeface="微软雅黑" panose="020B0503020204020204" charset="-122"/>
                <a:cs typeface="微软雅黑" panose="020B0503020204020204" charset="-122"/>
              </a:rPr>
              <a:t>人</a:t>
            </a:r>
            <a:r>
              <a:rPr sz="1000" b="1" dirty="0">
                <a:latin typeface="微软雅黑" panose="020B0503020204020204" charset="-122"/>
                <a:ea typeface="微软雅黑" panose="020B0503020204020204" charset="-122"/>
                <a:cs typeface="微软雅黑" panose="020B0503020204020204" charset="-122"/>
              </a:rPr>
              <a:t>员</a:t>
            </a:r>
            <a:r>
              <a:rPr sz="1000" b="1" spc="-5" dirty="0">
                <a:latin typeface="微软雅黑" panose="020B0503020204020204" charset="-122"/>
                <a:ea typeface="微软雅黑" panose="020B0503020204020204" charset="-122"/>
                <a:cs typeface="微软雅黑" panose="020B0503020204020204" charset="-122"/>
              </a:rPr>
              <a:t>:</a:t>
            </a:r>
            <a:r>
              <a:rPr sz="1000" spc="-5" dirty="0">
                <a:latin typeface="微软雅黑" panose="020B0503020204020204" charset="-122"/>
                <a:ea typeface="微软雅黑" panose="020B0503020204020204" charset="-122"/>
                <a:cs typeface="微软雅黑" panose="020B0503020204020204" charset="-122"/>
              </a:rPr>
              <a:t>分销商销售流程控制和培训</a:t>
            </a:r>
            <a:endParaRPr sz="1000">
              <a:latin typeface="微软雅黑" panose="020B0503020204020204" charset="-122"/>
              <a:ea typeface="微软雅黑" panose="020B0503020204020204" charset="-122"/>
              <a:cs typeface="微软雅黑" panose="020B0503020204020204" charset="-122"/>
            </a:endParaRPr>
          </a:p>
          <a:p>
            <a:pPr marL="204470" indent="-192405">
              <a:lnSpc>
                <a:spcPct val="100000"/>
              </a:lnSpc>
              <a:buClr>
                <a:srgbClr val="00295F"/>
              </a:buClr>
              <a:buSzPct val="125000"/>
              <a:buFont typeface="Arial" panose="020B0604020202020204"/>
              <a:buChar char="▪"/>
              <a:tabLst>
                <a:tab pos="204470" algn="l"/>
                <a:tab pos="204470" algn="l"/>
              </a:tabLst>
            </a:pPr>
            <a:r>
              <a:rPr sz="1000" b="1" dirty="0">
                <a:latin typeface="微软雅黑" panose="020B0503020204020204" charset="-122"/>
                <a:ea typeface="微软雅黑" panose="020B0503020204020204" charset="-122"/>
                <a:cs typeface="微软雅黑" panose="020B0503020204020204" charset="-122"/>
              </a:rPr>
              <a:t>企业技术销</a:t>
            </a:r>
            <a:r>
              <a:rPr sz="1000" b="1" spc="-10" dirty="0">
                <a:latin typeface="微软雅黑" panose="020B0503020204020204" charset="-122"/>
                <a:ea typeface="微软雅黑" panose="020B0503020204020204" charset="-122"/>
                <a:cs typeface="微软雅黑" panose="020B0503020204020204" charset="-122"/>
              </a:rPr>
              <a:t>售</a:t>
            </a:r>
            <a:r>
              <a:rPr sz="1000" b="1" spc="-5" dirty="0">
                <a:latin typeface="微软雅黑" panose="020B0503020204020204" charset="-122"/>
                <a:ea typeface="微软雅黑" panose="020B0503020204020204" charset="-122"/>
                <a:cs typeface="微软雅黑" panose="020B0503020204020204" charset="-122"/>
              </a:rPr>
              <a:t>:</a:t>
            </a:r>
            <a:r>
              <a:rPr sz="1000" b="1" spc="-50"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为现有客户和新客户转化提供技术</a:t>
            </a:r>
            <a:r>
              <a:rPr sz="1000" dirty="0">
                <a:latin typeface="微软雅黑" panose="020B0503020204020204" charset="-122"/>
                <a:ea typeface="微软雅黑" panose="020B0503020204020204" charset="-122"/>
                <a:cs typeface="微软雅黑" panose="020B0503020204020204" charset="-122"/>
              </a:rPr>
              <a:t>支</a:t>
            </a:r>
            <a:r>
              <a:rPr sz="1000" spc="-5" dirty="0">
                <a:latin typeface="微软雅黑" panose="020B0503020204020204" charset="-122"/>
                <a:ea typeface="微软雅黑" panose="020B0503020204020204" charset="-122"/>
                <a:cs typeface="微软雅黑" panose="020B0503020204020204" charset="-122"/>
              </a:rPr>
              <a:t>持</a:t>
            </a:r>
            <a:endParaRPr sz="1000">
              <a:latin typeface="微软雅黑" panose="020B0503020204020204" charset="-122"/>
              <a:ea typeface="微软雅黑" panose="020B0503020204020204" charset="-122"/>
              <a:cs typeface="微软雅黑" panose="020B0503020204020204" charset="-122"/>
            </a:endParaRPr>
          </a:p>
          <a:p>
            <a:pPr marL="204470" indent="-192405">
              <a:lnSpc>
                <a:spcPct val="100000"/>
              </a:lnSpc>
              <a:spcBef>
                <a:spcPts val="5"/>
              </a:spcBef>
              <a:buClr>
                <a:srgbClr val="00295F"/>
              </a:buClr>
              <a:buSzPct val="125000"/>
              <a:buFont typeface="Arial" panose="020B0604020202020204"/>
              <a:buChar char="▪"/>
              <a:tabLst>
                <a:tab pos="204470" algn="l"/>
                <a:tab pos="204470" algn="l"/>
              </a:tabLst>
            </a:pPr>
            <a:r>
              <a:rPr sz="1000" b="1" spc="5" dirty="0">
                <a:latin typeface="微软雅黑" panose="020B0503020204020204" charset="-122"/>
                <a:ea typeface="微软雅黑" panose="020B0503020204020204" charset="-122"/>
                <a:cs typeface="微软雅黑" panose="020B0503020204020204" charset="-122"/>
              </a:rPr>
              <a:t>分销商</a:t>
            </a:r>
            <a:r>
              <a:rPr sz="1000" b="1" spc="-5" dirty="0">
                <a:latin typeface="微软雅黑" panose="020B0503020204020204" charset="-122"/>
                <a:ea typeface="微软雅黑" panose="020B0503020204020204" charset="-122"/>
                <a:cs typeface="微软雅黑" panose="020B0503020204020204" charset="-122"/>
              </a:rPr>
              <a:t>:</a:t>
            </a:r>
            <a:r>
              <a:rPr sz="1000" spc="-5" dirty="0">
                <a:latin typeface="微软雅黑" panose="020B0503020204020204" charset="-122"/>
                <a:ea typeface="微软雅黑" panose="020B0503020204020204" charset="-122"/>
                <a:cs typeface="微软雅黑" panose="020B0503020204020204" charset="-122"/>
              </a:rPr>
              <a:t>全面负责客户关系开发和维护</a:t>
            </a:r>
            <a:endParaRPr sz="1000">
              <a:latin typeface="微软雅黑" panose="020B0503020204020204" charset="-122"/>
              <a:ea typeface="微软雅黑" panose="020B0503020204020204" charset="-122"/>
              <a:cs typeface="微软雅黑" panose="020B0503020204020204" charset="-122"/>
            </a:endParaRPr>
          </a:p>
          <a:p>
            <a:pPr marL="204470" indent="-192405">
              <a:lnSpc>
                <a:spcPts val="1100"/>
              </a:lnSpc>
              <a:buClr>
                <a:srgbClr val="00295F"/>
              </a:buClr>
              <a:buSzPct val="125000"/>
              <a:buFont typeface="Arial" panose="020B0604020202020204"/>
              <a:buChar char="▪"/>
              <a:tabLst>
                <a:tab pos="204470" algn="l"/>
                <a:tab pos="204470" algn="l"/>
              </a:tabLst>
            </a:pPr>
            <a:r>
              <a:rPr sz="1000" b="1" spc="5" dirty="0">
                <a:latin typeface="微软雅黑" panose="020B0503020204020204" charset="-122"/>
                <a:ea typeface="微软雅黑" panose="020B0503020204020204" charset="-122"/>
                <a:cs typeface="微软雅黑" panose="020B0503020204020204" charset="-122"/>
              </a:rPr>
              <a:t>远程渠道</a:t>
            </a:r>
            <a:r>
              <a:rPr sz="1000" b="1" spc="-5" dirty="0">
                <a:latin typeface="微软雅黑" panose="020B0503020204020204" charset="-122"/>
                <a:ea typeface="微软雅黑" panose="020B0503020204020204" charset="-122"/>
                <a:cs typeface="微软雅黑" panose="020B0503020204020204" charset="-122"/>
              </a:rPr>
              <a:t>:</a:t>
            </a:r>
            <a:endParaRPr sz="1000">
              <a:latin typeface="微软雅黑" panose="020B0503020204020204" charset="-122"/>
              <a:ea typeface="微软雅黑" panose="020B0503020204020204" charset="-122"/>
              <a:cs typeface="微软雅黑" panose="020B0503020204020204" charset="-122"/>
            </a:endParaRPr>
          </a:p>
          <a:p>
            <a:pPr marL="467995" lvl="1" indent="-262890">
              <a:lnSpc>
                <a:spcPts val="1220"/>
              </a:lnSpc>
              <a:buClr>
                <a:srgbClr val="00295F"/>
              </a:buClr>
              <a:buSzPct val="120000"/>
              <a:buFont typeface="Arial" panose="020B0604020202020204"/>
              <a:buChar char="–"/>
              <a:tabLst>
                <a:tab pos="467995" algn="l"/>
                <a:tab pos="468630" algn="l"/>
              </a:tabLst>
            </a:pPr>
            <a:r>
              <a:rPr sz="1000" spc="-5" dirty="0">
                <a:latin typeface="微软雅黑" panose="020B0503020204020204" charset="-122"/>
                <a:ea typeface="微软雅黑" panose="020B0503020204020204" charset="-122"/>
                <a:cs typeface="微软雅黑" panose="020B0503020204020204" charset="-122"/>
              </a:rPr>
              <a:t>电子渠道提供产品信</a:t>
            </a:r>
            <a:r>
              <a:rPr sz="1000" spc="-25" dirty="0">
                <a:latin typeface="微软雅黑" panose="020B0503020204020204" charset="-122"/>
                <a:ea typeface="微软雅黑" panose="020B0503020204020204" charset="-122"/>
                <a:cs typeface="微软雅黑" panose="020B0503020204020204" charset="-122"/>
              </a:rPr>
              <a:t>息</a:t>
            </a:r>
            <a:r>
              <a:rPr sz="1000" spc="-10" dirty="0">
                <a:latin typeface="微软雅黑" panose="020B0503020204020204" charset="-122"/>
                <a:ea typeface="微软雅黑" panose="020B0503020204020204" charset="-122"/>
                <a:cs typeface="微软雅黑" panose="020B0503020204020204" charset="-122"/>
              </a:rPr>
              <a:t>/</a:t>
            </a:r>
            <a:r>
              <a:rPr sz="1000" spc="-5" dirty="0">
                <a:latin typeface="微软雅黑" panose="020B0503020204020204" charset="-122"/>
                <a:ea typeface="微软雅黑" panose="020B0503020204020204" charset="-122"/>
                <a:cs typeface="微软雅黑" panose="020B0503020204020204" charset="-122"/>
              </a:rPr>
              <a:t>比较和基本</a:t>
            </a:r>
            <a:r>
              <a:rPr sz="1000" spc="5" dirty="0">
                <a:latin typeface="微软雅黑" panose="020B0503020204020204" charset="-122"/>
                <a:ea typeface="微软雅黑" panose="020B0503020204020204" charset="-122"/>
                <a:cs typeface="微软雅黑" panose="020B0503020204020204" charset="-122"/>
              </a:rPr>
              <a:t>的</a:t>
            </a:r>
            <a:r>
              <a:rPr sz="1000" spc="-5" dirty="0">
                <a:latin typeface="微软雅黑" panose="020B0503020204020204" charset="-122"/>
                <a:ea typeface="微软雅黑" panose="020B0503020204020204" charset="-122"/>
                <a:cs typeface="微软雅黑" panose="020B0503020204020204" charset="-122"/>
              </a:rPr>
              <a:t>技术</a:t>
            </a:r>
            <a:r>
              <a:rPr sz="1000" spc="5" dirty="0">
                <a:latin typeface="微软雅黑" panose="020B0503020204020204" charset="-122"/>
                <a:ea typeface="微软雅黑" panose="020B0503020204020204" charset="-122"/>
                <a:cs typeface="微软雅黑" panose="020B0503020204020204" charset="-122"/>
              </a:rPr>
              <a:t>支</a:t>
            </a:r>
            <a:r>
              <a:rPr sz="1000" spc="-5" dirty="0">
                <a:latin typeface="微软雅黑" panose="020B0503020204020204" charset="-122"/>
                <a:ea typeface="微软雅黑" panose="020B0503020204020204" charset="-122"/>
                <a:cs typeface="微软雅黑" panose="020B0503020204020204" charset="-122"/>
              </a:rPr>
              <a:t>持</a:t>
            </a:r>
            <a:endParaRPr sz="1000">
              <a:latin typeface="微软雅黑" panose="020B0503020204020204" charset="-122"/>
              <a:ea typeface="微软雅黑" panose="020B0503020204020204" charset="-122"/>
              <a:cs typeface="微软雅黑" panose="020B0503020204020204" charset="-122"/>
            </a:endParaRPr>
          </a:p>
          <a:p>
            <a:pPr marL="467995" lvl="1" indent="-262890">
              <a:lnSpc>
                <a:spcPts val="1200"/>
              </a:lnSpc>
              <a:buClr>
                <a:srgbClr val="00295F"/>
              </a:buClr>
              <a:buSzPct val="120000"/>
              <a:buFont typeface="Arial" panose="020B0604020202020204"/>
              <a:buChar char="–"/>
              <a:tabLst>
                <a:tab pos="467995" algn="l"/>
                <a:tab pos="468630" algn="l"/>
              </a:tabLst>
            </a:pPr>
            <a:r>
              <a:rPr sz="1000" spc="-5" dirty="0">
                <a:latin typeface="微软雅黑" panose="020B0503020204020204" charset="-122"/>
                <a:ea typeface="微软雅黑" panose="020B0503020204020204" charset="-122"/>
                <a:cs typeface="微软雅黑" panose="020B0503020204020204" charset="-122"/>
              </a:rPr>
              <a:t>呼叫中心</a:t>
            </a:r>
            <a:endParaRPr sz="1000">
              <a:latin typeface="微软雅黑" panose="020B0503020204020204" charset="-122"/>
              <a:ea typeface="微软雅黑" panose="020B0503020204020204" charset="-122"/>
              <a:cs typeface="微软雅黑" panose="020B0503020204020204" charset="-122"/>
            </a:endParaRPr>
          </a:p>
          <a:p>
            <a:pPr marL="469900">
              <a:lnSpc>
                <a:spcPts val="1200"/>
              </a:lnSpc>
            </a:pPr>
            <a:r>
              <a:rPr sz="1200" dirty="0">
                <a:solidFill>
                  <a:srgbClr val="00295F"/>
                </a:solidFill>
                <a:latin typeface="微软雅黑" panose="020B0503020204020204" charset="-122"/>
                <a:ea typeface="微软雅黑" panose="020B0503020204020204" charset="-122"/>
                <a:cs typeface="微软雅黑" panose="020B0503020204020204" charset="-122"/>
              </a:rPr>
              <a:t>▫</a:t>
            </a:r>
            <a:r>
              <a:rPr sz="1200" spc="120" dirty="0">
                <a:solidFill>
                  <a:srgbClr val="00295F"/>
                </a:solidFill>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接触潜在客户确定新的客户线索</a:t>
            </a:r>
            <a:endParaRPr sz="1000">
              <a:latin typeface="微软雅黑" panose="020B0503020204020204" charset="-122"/>
              <a:ea typeface="微软雅黑" panose="020B0503020204020204" charset="-122"/>
              <a:cs typeface="微软雅黑" panose="020B0503020204020204" charset="-122"/>
            </a:endParaRPr>
          </a:p>
          <a:p>
            <a:pPr marL="469900">
              <a:lnSpc>
                <a:spcPts val="1320"/>
              </a:lnSpc>
            </a:pPr>
            <a:r>
              <a:rPr sz="1200" dirty="0">
                <a:solidFill>
                  <a:srgbClr val="00295F"/>
                </a:solidFill>
                <a:latin typeface="微软雅黑" panose="020B0503020204020204" charset="-122"/>
                <a:ea typeface="微软雅黑" panose="020B0503020204020204" charset="-122"/>
                <a:cs typeface="微软雅黑" panose="020B0503020204020204" charset="-122"/>
              </a:rPr>
              <a:t>▫</a:t>
            </a:r>
            <a:r>
              <a:rPr sz="1200" spc="120" dirty="0">
                <a:solidFill>
                  <a:srgbClr val="00295F"/>
                </a:solidFill>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提供基本的产品和技术信息</a:t>
            </a:r>
            <a:endParaRPr sz="1000">
              <a:latin typeface="微软雅黑" panose="020B0503020204020204" charset="-122"/>
              <a:ea typeface="微软雅黑" panose="020B0503020204020204" charset="-122"/>
              <a:cs typeface="微软雅黑" panose="020B0503020204020204" charset="-122"/>
            </a:endParaRPr>
          </a:p>
        </p:txBody>
      </p:sp>
      <p:sp>
        <p:nvSpPr>
          <p:cNvPr id="15" name="object 15"/>
          <p:cNvSpPr txBox="1"/>
          <p:nvPr/>
        </p:nvSpPr>
        <p:spPr>
          <a:xfrm>
            <a:off x="3698413" y="4893176"/>
            <a:ext cx="3047110" cy="1247140"/>
          </a:xfrm>
          <a:prstGeom prst="rect">
            <a:avLst/>
          </a:prstGeom>
        </p:spPr>
        <p:txBody>
          <a:bodyPr vert="horz" wrap="square" lIns="0" tIns="12056" rIns="0" bIns="0" rtlCol="0">
            <a:spAutoFit/>
          </a:bodyPr>
          <a:lstStyle/>
          <a:p>
            <a:pPr marL="204470" indent="-192405">
              <a:lnSpc>
                <a:spcPct val="100000"/>
              </a:lnSpc>
              <a:spcBef>
                <a:spcPts val="95"/>
              </a:spcBef>
              <a:buClr>
                <a:srgbClr val="00295F"/>
              </a:buClr>
              <a:buSzPct val="125000"/>
              <a:buFont typeface="Arial" panose="020B0604020202020204"/>
              <a:buChar char="▪"/>
              <a:tabLst>
                <a:tab pos="204470" algn="l"/>
                <a:tab pos="204470" algn="l"/>
              </a:tabLst>
            </a:pPr>
            <a:r>
              <a:rPr sz="1000" b="1" spc="5" dirty="0">
                <a:latin typeface="微软雅黑" panose="020B0503020204020204" charset="-122"/>
                <a:ea typeface="微软雅黑" panose="020B0503020204020204" charset="-122"/>
                <a:cs typeface="微软雅黑" panose="020B0503020204020204" charset="-122"/>
              </a:rPr>
              <a:t>企业分销商</a:t>
            </a:r>
            <a:r>
              <a:rPr sz="1000" b="1" spc="-5" dirty="0">
                <a:latin typeface="微软雅黑" panose="020B0503020204020204" charset="-122"/>
                <a:ea typeface="微软雅黑" panose="020B0503020204020204" charset="-122"/>
                <a:cs typeface="微软雅黑" panose="020B0503020204020204" charset="-122"/>
              </a:rPr>
              <a:t>管理</a:t>
            </a:r>
            <a:r>
              <a:rPr sz="1000" b="1" spc="5" dirty="0">
                <a:latin typeface="微软雅黑" panose="020B0503020204020204" charset="-122"/>
                <a:ea typeface="微软雅黑" panose="020B0503020204020204" charset="-122"/>
                <a:cs typeface="微软雅黑" panose="020B0503020204020204" charset="-122"/>
              </a:rPr>
              <a:t>人</a:t>
            </a:r>
            <a:r>
              <a:rPr sz="1000" b="1" dirty="0">
                <a:latin typeface="微软雅黑" panose="020B0503020204020204" charset="-122"/>
                <a:ea typeface="微软雅黑" panose="020B0503020204020204" charset="-122"/>
                <a:cs typeface="微软雅黑" panose="020B0503020204020204" charset="-122"/>
              </a:rPr>
              <a:t>员</a:t>
            </a:r>
            <a:r>
              <a:rPr sz="1000" b="1" spc="-5" dirty="0">
                <a:latin typeface="微软雅黑" panose="020B0503020204020204" charset="-122"/>
                <a:ea typeface="微软雅黑" panose="020B0503020204020204" charset="-122"/>
                <a:cs typeface="微软雅黑" panose="020B0503020204020204" charset="-122"/>
              </a:rPr>
              <a:t>:</a:t>
            </a:r>
            <a:r>
              <a:rPr sz="1000" b="1" spc="-55"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分销商销售流程控制和培训</a:t>
            </a:r>
            <a:endParaRPr sz="1000">
              <a:latin typeface="微软雅黑" panose="020B0503020204020204" charset="-122"/>
              <a:ea typeface="微软雅黑" panose="020B0503020204020204" charset="-122"/>
              <a:cs typeface="微软雅黑" panose="020B0503020204020204" charset="-122"/>
            </a:endParaRPr>
          </a:p>
          <a:p>
            <a:pPr marL="204470" indent="-192405">
              <a:lnSpc>
                <a:spcPct val="100000"/>
              </a:lnSpc>
              <a:buClr>
                <a:srgbClr val="00295F"/>
              </a:buClr>
              <a:buSzPct val="125000"/>
              <a:buFont typeface="Arial" panose="020B0604020202020204"/>
              <a:buChar char="▪"/>
              <a:tabLst>
                <a:tab pos="204470" algn="l"/>
                <a:tab pos="204470" algn="l"/>
              </a:tabLst>
            </a:pPr>
            <a:r>
              <a:rPr sz="1000" b="1" spc="5" dirty="0">
                <a:latin typeface="微软雅黑" panose="020B0503020204020204" charset="-122"/>
                <a:ea typeface="微软雅黑" panose="020B0503020204020204" charset="-122"/>
                <a:cs typeface="微软雅黑" panose="020B0503020204020204" charset="-122"/>
              </a:rPr>
              <a:t>企业技术销</a:t>
            </a:r>
            <a:r>
              <a:rPr sz="1000" b="1" spc="-5" dirty="0">
                <a:latin typeface="微软雅黑" panose="020B0503020204020204" charset="-122"/>
                <a:ea typeface="微软雅黑" panose="020B0503020204020204" charset="-122"/>
                <a:cs typeface="微软雅黑" panose="020B0503020204020204" charset="-122"/>
              </a:rPr>
              <a:t>售:</a:t>
            </a:r>
            <a:r>
              <a:rPr sz="1000" b="1" spc="-40"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分销商技术培训</a:t>
            </a:r>
            <a:endParaRPr sz="1000">
              <a:latin typeface="微软雅黑" panose="020B0503020204020204" charset="-122"/>
              <a:ea typeface="微软雅黑" panose="020B0503020204020204" charset="-122"/>
              <a:cs typeface="微软雅黑" panose="020B0503020204020204" charset="-122"/>
            </a:endParaRPr>
          </a:p>
          <a:p>
            <a:pPr marL="204470" indent="-192405">
              <a:lnSpc>
                <a:spcPct val="100000"/>
              </a:lnSpc>
              <a:buClr>
                <a:srgbClr val="00295F"/>
              </a:buClr>
              <a:buSzPct val="125000"/>
              <a:buFont typeface="Arial" panose="020B0604020202020204"/>
              <a:buChar char="▪"/>
              <a:tabLst>
                <a:tab pos="204470" algn="l"/>
                <a:tab pos="204470" algn="l"/>
              </a:tabLst>
            </a:pPr>
            <a:r>
              <a:rPr sz="1000" b="1" spc="5" dirty="0">
                <a:latin typeface="微软雅黑" panose="020B0503020204020204" charset="-122"/>
                <a:ea typeface="微软雅黑" panose="020B0503020204020204" charset="-122"/>
                <a:cs typeface="微软雅黑" panose="020B0503020204020204" charset="-122"/>
              </a:rPr>
              <a:t>分销商</a:t>
            </a:r>
            <a:r>
              <a:rPr sz="1000" b="1" spc="-5" dirty="0">
                <a:latin typeface="微软雅黑" panose="020B0503020204020204" charset="-122"/>
                <a:ea typeface="微软雅黑" panose="020B0503020204020204" charset="-122"/>
                <a:cs typeface="微软雅黑" panose="020B0503020204020204" charset="-122"/>
              </a:rPr>
              <a:t>:</a:t>
            </a:r>
            <a:r>
              <a:rPr sz="1000" b="1" spc="-30"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全面负责客户关系开发和维护</a:t>
            </a:r>
            <a:endParaRPr sz="1000">
              <a:latin typeface="微软雅黑" panose="020B0503020204020204" charset="-122"/>
              <a:ea typeface="微软雅黑" panose="020B0503020204020204" charset="-122"/>
              <a:cs typeface="微软雅黑" panose="020B0503020204020204" charset="-122"/>
            </a:endParaRPr>
          </a:p>
          <a:p>
            <a:pPr marL="204470" indent="-192405">
              <a:lnSpc>
                <a:spcPts val="1100"/>
              </a:lnSpc>
              <a:buClr>
                <a:srgbClr val="00295F"/>
              </a:buClr>
              <a:buSzPct val="125000"/>
              <a:buFont typeface="Arial" panose="020B0604020202020204"/>
              <a:buChar char="▪"/>
              <a:tabLst>
                <a:tab pos="204470" algn="l"/>
                <a:tab pos="204470" algn="l"/>
              </a:tabLst>
            </a:pPr>
            <a:r>
              <a:rPr sz="1000" b="1" spc="5" dirty="0">
                <a:latin typeface="微软雅黑" panose="020B0503020204020204" charset="-122"/>
                <a:ea typeface="微软雅黑" panose="020B0503020204020204" charset="-122"/>
                <a:cs typeface="微软雅黑" panose="020B0503020204020204" charset="-122"/>
              </a:rPr>
              <a:t>远程渠道</a:t>
            </a:r>
            <a:r>
              <a:rPr sz="1000" b="1" spc="-5" dirty="0">
                <a:latin typeface="微软雅黑" panose="020B0503020204020204" charset="-122"/>
                <a:ea typeface="微软雅黑" panose="020B0503020204020204" charset="-122"/>
                <a:cs typeface="微软雅黑" panose="020B0503020204020204" charset="-122"/>
              </a:rPr>
              <a:t>:</a:t>
            </a:r>
            <a:endParaRPr sz="1000">
              <a:latin typeface="微软雅黑" panose="020B0503020204020204" charset="-122"/>
              <a:ea typeface="微软雅黑" panose="020B0503020204020204" charset="-122"/>
              <a:cs typeface="微软雅黑" panose="020B0503020204020204" charset="-122"/>
            </a:endParaRPr>
          </a:p>
          <a:p>
            <a:pPr marL="467995" lvl="1" indent="-262890">
              <a:lnSpc>
                <a:spcPts val="1220"/>
              </a:lnSpc>
              <a:buClr>
                <a:srgbClr val="00295F"/>
              </a:buClr>
              <a:buSzPct val="120000"/>
              <a:buFont typeface="Arial" panose="020B0604020202020204"/>
              <a:buChar char="–"/>
              <a:tabLst>
                <a:tab pos="467995" algn="l"/>
                <a:tab pos="468630" algn="l"/>
              </a:tabLst>
            </a:pPr>
            <a:r>
              <a:rPr sz="1000" spc="-5" dirty="0">
                <a:latin typeface="微软雅黑" panose="020B0503020204020204" charset="-122"/>
                <a:ea typeface="微软雅黑" panose="020B0503020204020204" charset="-122"/>
                <a:cs typeface="微软雅黑" panose="020B0503020204020204" charset="-122"/>
              </a:rPr>
              <a:t>电子渠道提供产品信</a:t>
            </a:r>
            <a:r>
              <a:rPr sz="1000" spc="-25" dirty="0">
                <a:latin typeface="微软雅黑" panose="020B0503020204020204" charset="-122"/>
                <a:ea typeface="微软雅黑" panose="020B0503020204020204" charset="-122"/>
                <a:cs typeface="微软雅黑" panose="020B0503020204020204" charset="-122"/>
              </a:rPr>
              <a:t>息</a:t>
            </a:r>
            <a:r>
              <a:rPr sz="1000" spc="-10" dirty="0">
                <a:latin typeface="微软雅黑" panose="020B0503020204020204" charset="-122"/>
                <a:ea typeface="微软雅黑" panose="020B0503020204020204" charset="-122"/>
                <a:cs typeface="微软雅黑" panose="020B0503020204020204" charset="-122"/>
              </a:rPr>
              <a:t>/</a:t>
            </a:r>
            <a:r>
              <a:rPr sz="1000" spc="-5" dirty="0">
                <a:latin typeface="微软雅黑" panose="020B0503020204020204" charset="-122"/>
                <a:ea typeface="微软雅黑" panose="020B0503020204020204" charset="-122"/>
                <a:cs typeface="微软雅黑" panose="020B0503020204020204" charset="-122"/>
              </a:rPr>
              <a:t>比较和基本</a:t>
            </a:r>
            <a:r>
              <a:rPr sz="1000" spc="5" dirty="0">
                <a:latin typeface="微软雅黑" panose="020B0503020204020204" charset="-122"/>
                <a:ea typeface="微软雅黑" panose="020B0503020204020204" charset="-122"/>
                <a:cs typeface="微软雅黑" panose="020B0503020204020204" charset="-122"/>
              </a:rPr>
              <a:t>的</a:t>
            </a:r>
            <a:r>
              <a:rPr sz="1000" spc="-5" dirty="0">
                <a:latin typeface="微软雅黑" panose="020B0503020204020204" charset="-122"/>
                <a:ea typeface="微软雅黑" panose="020B0503020204020204" charset="-122"/>
                <a:cs typeface="微软雅黑" panose="020B0503020204020204" charset="-122"/>
              </a:rPr>
              <a:t>技术</a:t>
            </a:r>
            <a:r>
              <a:rPr sz="1000" spc="5" dirty="0">
                <a:latin typeface="微软雅黑" panose="020B0503020204020204" charset="-122"/>
                <a:ea typeface="微软雅黑" panose="020B0503020204020204" charset="-122"/>
                <a:cs typeface="微软雅黑" panose="020B0503020204020204" charset="-122"/>
              </a:rPr>
              <a:t>支</a:t>
            </a:r>
            <a:r>
              <a:rPr sz="1000" spc="-5" dirty="0">
                <a:latin typeface="微软雅黑" panose="020B0503020204020204" charset="-122"/>
                <a:ea typeface="微软雅黑" panose="020B0503020204020204" charset="-122"/>
                <a:cs typeface="微软雅黑" panose="020B0503020204020204" charset="-122"/>
              </a:rPr>
              <a:t>持</a:t>
            </a:r>
            <a:endParaRPr sz="1000">
              <a:latin typeface="微软雅黑" panose="020B0503020204020204" charset="-122"/>
              <a:ea typeface="微软雅黑" panose="020B0503020204020204" charset="-122"/>
              <a:cs typeface="微软雅黑" panose="020B0503020204020204" charset="-122"/>
            </a:endParaRPr>
          </a:p>
          <a:p>
            <a:pPr marL="467995" lvl="1" indent="-262890">
              <a:lnSpc>
                <a:spcPts val="1200"/>
              </a:lnSpc>
              <a:buClr>
                <a:srgbClr val="00295F"/>
              </a:buClr>
              <a:buSzPct val="120000"/>
              <a:buFont typeface="Arial" panose="020B0604020202020204"/>
              <a:buChar char="–"/>
              <a:tabLst>
                <a:tab pos="467995" algn="l"/>
                <a:tab pos="468630" algn="l"/>
              </a:tabLst>
            </a:pPr>
            <a:r>
              <a:rPr sz="1000" spc="-5" dirty="0">
                <a:latin typeface="微软雅黑" panose="020B0503020204020204" charset="-122"/>
                <a:ea typeface="微软雅黑" panose="020B0503020204020204" charset="-122"/>
                <a:cs typeface="微软雅黑" panose="020B0503020204020204" charset="-122"/>
              </a:rPr>
              <a:t>呼叫中心</a:t>
            </a:r>
            <a:endParaRPr sz="1000">
              <a:latin typeface="微软雅黑" panose="020B0503020204020204" charset="-122"/>
              <a:ea typeface="微软雅黑" panose="020B0503020204020204" charset="-122"/>
              <a:cs typeface="微软雅黑" panose="020B0503020204020204" charset="-122"/>
            </a:endParaRPr>
          </a:p>
          <a:p>
            <a:pPr marL="469900">
              <a:lnSpc>
                <a:spcPts val="1200"/>
              </a:lnSpc>
            </a:pPr>
            <a:r>
              <a:rPr sz="1200" dirty="0">
                <a:solidFill>
                  <a:srgbClr val="00295F"/>
                </a:solidFill>
                <a:latin typeface="微软雅黑" panose="020B0503020204020204" charset="-122"/>
                <a:ea typeface="微软雅黑" panose="020B0503020204020204" charset="-122"/>
                <a:cs typeface="微软雅黑" panose="020B0503020204020204" charset="-122"/>
              </a:rPr>
              <a:t>▫</a:t>
            </a:r>
            <a:r>
              <a:rPr sz="1200" spc="120" dirty="0">
                <a:solidFill>
                  <a:srgbClr val="00295F"/>
                </a:solidFill>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接触潜在客户确定新的客户线索</a:t>
            </a:r>
            <a:endParaRPr sz="1000">
              <a:latin typeface="微软雅黑" panose="020B0503020204020204" charset="-122"/>
              <a:ea typeface="微软雅黑" panose="020B0503020204020204" charset="-122"/>
              <a:cs typeface="微软雅黑" panose="020B0503020204020204" charset="-122"/>
            </a:endParaRPr>
          </a:p>
          <a:p>
            <a:pPr marL="469900">
              <a:lnSpc>
                <a:spcPts val="1320"/>
              </a:lnSpc>
            </a:pPr>
            <a:r>
              <a:rPr sz="1200" dirty="0">
                <a:solidFill>
                  <a:srgbClr val="00295F"/>
                </a:solidFill>
                <a:latin typeface="微软雅黑" panose="020B0503020204020204" charset="-122"/>
                <a:ea typeface="微软雅黑" panose="020B0503020204020204" charset="-122"/>
                <a:cs typeface="微软雅黑" panose="020B0503020204020204" charset="-122"/>
              </a:rPr>
              <a:t>▫</a:t>
            </a:r>
            <a:r>
              <a:rPr sz="1200" spc="120" dirty="0">
                <a:solidFill>
                  <a:srgbClr val="00295F"/>
                </a:solidFill>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提供基本的产品和技术信息</a:t>
            </a:r>
            <a:endParaRPr sz="1000">
              <a:latin typeface="微软雅黑" panose="020B0503020204020204" charset="-122"/>
              <a:ea typeface="微软雅黑" panose="020B0503020204020204" charset="-122"/>
              <a:cs typeface="微软雅黑" panose="020B0503020204020204" charset="-122"/>
            </a:endParaRPr>
          </a:p>
        </p:txBody>
      </p:sp>
      <p:sp>
        <p:nvSpPr>
          <p:cNvPr id="16" name="object 16"/>
          <p:cNvSpPr/>
          <p:nvPr/>
        </p:nvSpPr>
        <p:spPr>
          <a:xfrm>
            <a:off x="7454697" y="1118618"/>
            <a:ext cx="1198665" cy="0"/>
          </a:xfrm>
          <a:custGeom>
            <a:avLst/>
            <a:gdLst/>
            <a:ahLst/>
            <a:cxnLst/>
            <a:rect l="l" t="t" r="r" b="b"/>
            <a:pathLst>
              <a:path w="1199515">
                <a:moveTo>
                  <a:pt x="0" y="0"/>
                </a:moveTo>
                <a:lnTo>
                  <a:pt x="1199388" y="0"/>
                </a:lnTo>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p:nvPr/>
        </p:nvSpPr>
        <p:spPr>
          <a:xfrm>
            <a:off x="1618864" y="3042066"/>
            <a:ext cx="6792226" cy="0"/>
          </a:xfrm>
          <a:custGeom>
            <a:avLst/>
            <a:gdLst/>
            <a:ahLst/>
            <a:cxnLst/>
            <a:rect l="l" t="t" r="r" b="b"/>
            <a:pathLst>
              <a:path w="6797040">
                <a:moveTo>
                  <a:pt x="0" y="0"/>
                </a:moveTo>
                <a:lnTo>
                  <a:pt x="6797040" y="0"/>
                </a:lnTo>
              </a:path>
            </a:pathLst>
          </a:custGeom>
          <a:ln w="952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p:nvPr/>
        </p:nvSpPr>
        <p:spPr>
          <a:xfrm>
            <a:off x="1618864" y="4872617"/>
            <a:ext cx="6792226" cy="0"/>
          </a:xfrm>
          <a:custGeom>
            <a:avLst/>
            <a:gdLst/>
            <a:ahLst/>
            <a:cxnLst/>
            <a:rect l="l" t="t" r="r" b="b"/>
            <a:pathLst>
              <a:path w="6797040">
                <a:moveTo>
                  <a:pt x="0" y="0"/>
                </a:moveTo>
                <a:lnTo>
                  <a:pt x="6797040" y="0"/>
                </a:lnTo>
              </a:path>
            </a:pathLst>
          </a:custGeom>
          <a:ln w="952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txBox="1"/>
          <p:nvPr/>
        </p:nvSpPr>
        <p:spPr>
          <a:xfrm>
            <a:off x="1943627" y="4954600"/>
            <a:ext cx="786842" cy="475615"/>
          </a:xfrm>
          <a:prstGeom prst="rect">
            <a:avLst/>
          </a:prstGeom>
        </p:spPr>
        <p:txBody>
          <a:bodyPr vert="horz" wrap="square" lIns="0" tIns="10787" rIns="0" bIns="0" rtlCol="0">
            <a:spAutoFit/>
          </a:bodyPr>
          <a:lstStyle/>
          <a:p>
            <a:pPr marL="12700" marR="5080">
              <a:lnSpc>
                <a:spcPct val="101000"/>
              </a:lnSpc>
              <a:spcBef>
                <a:spcPts val="85"/>
              </a:spcBef>
            </a:pPr>
            <a:r>
              <a:rPr sz="1000" b="1" spc="5" dirty="0">
                <a:latin typeface="微软雅黑" panose="020B0503020204020204" charset="-122"/>
                <a:ea typeface="微软雅黑" panose="020B0503020204020204" charset="-122"/>
                <a:cs typeface="微软雅黑" panose="020B0503020204020204" charset="-122"/>
              </a:rPr>
              <a:t>分</a:t>
            </a:r>
            <a:r>
              <a:rPr sz="1000" b="1" spc="-5" dirty="0">
                <a:latin typeface="微软雅黑" panose="020B0503020204020204" charset="-122"/>
                <a:ea typeface="微软雅黑" panose="020B0503020204020204" charset="-122"/>
                <a:cs typeface="微软雅黑" panose="020B0503020204020204" charset="-122"/>
              </a:rPr>
              <a:t>销商</a:t>
            </a:r>
            <a:r>
              <a:rPr sz="1000" b="1" spc="5" dirty="0">
                <a:latin typeface="微软雅黑" panose="020B0503020204020204" charset="-122"/>
                <a:ea typeface="微软雅黑" panose="020B0503020204020204" charset="-122"/>
                <a:cs typeface="微软雅黑" panose="020B0503020204020204" charset="-122"/>
              </a:rPr>
              <a:t>为</a:t>
            </a:r>
            <a:r>
              <a:rPr sz="1000" b="1" spc="-5" dirty="0">
                <a:latin typeface="微软雅黑" panose="020B0503020204020204" charset="-122"/>
                <a:ea typeface="微软雅黑" panose="020B0503020204020204" charset="-122"/>
                <a:cs typeface="微软雅黑" panose="020B0503020204020204" charset="-122"/>
              </a:rPr>
              <a:t>主、 </a:t>
            </a:r>
            <a:r>
              <a:rPr sz="1000" b="1" dirty="0">
                <a:latin typeface="微软雅黑" panose="020B0503020204020204" charset="-122"/>
                <a:ea typeface="微软雅黑" panose="020B0503020204020204" charset="-122"/>
                <a:cs typeface="微软雅黑" panose="020B0503020204020204" charset="-122"/>
              </a:rPr>
              <a:t>企业轻度参 </a:t>
            </a:r>
            <a:r>
              <a:rPr sz="1000" b="1" spc="-5" dirty="0">
                <a:latin typeface="微软雅黑" panose="020B0503020204020204" charset="-122"/>
                <a:ea typeface="微软雅黑" panose="020B0503020204020204" charset="-122"/>
                <a:cs typeface="微软雅黑" panose="020B0503020204020204" charset="-122"/>
              </a:rPr>
              <a:t>与</a:t>
            </a:r>
            <a:endParaRPr sz="1000">
              <a:latin typeface="微软雅黑" panose="020B0503020204020204" charset="-122"/>
              <a:ea typeface="微软雅黑" panose="020B0503020204020204" charset="-122"/>
              <a:cs typeface="微软雅黑" panose="020B0503020204020204" charset="-122"/>
            </a:endParaRPr>
          </a:p>
        </p:txBody>
      </p:sp>
      <p:sp>
        <p:nvSpPr>
          <p:cNvPr id="20" name="object 20"/>
          <p:cNvSpPr txBox="1"/>
          <p:nvPr/>
        </p:nvSpPr>
        <p:spPr>
          <a:xfrm>
            <a:off x="8078332" y="182148"/>
            <a:ext cx="482258" cy="196215"/>
          </a:xfrm>
          <a:prstGeom prst="rect">
            <a:avLst/>
          </a:prstGeom>
        </p:spPr>
        <p:txBody>
          <a:bodyPr vert="horz" wrap="square" lIns="0" tIns="12691" rIns="0" bIns="0" rtlCol="0">
            <a:spAutoFit/>
          </a:bodyPr>
          <a:lstStyle/>
          <a:p>
            <a:pPr marL="12700">
              <a:lnSpc>
                <a:spcPct val="100000"/>
              </a:lnSpc>
              <a:spcBef>
                <a:spcPts val="100"/>
              </a:spcBef>
            </a:pPr>
            <a:r>
              <a:rPr sz="1200" dirty="0">
                <a:solidFill>
                  <a:srgbClr val="808080"/>
                </a:solidFill>
                <a:latin typeface="微软雅黑" panose="020B0503020204020204" charset="-122"/>
                <a:ea typeface="微软雅黑" panose="020B0503020204020204" charset="-122"/>
                <a:cs typeface="微软雅黑" panose="020B0503020204020204" charset="-122"/>
              </a:rPr>
              <a:t>示意性</a:t>
            </a:r>
            <a:endParaRPr sz="1200" dirty="0">
              <a:solidFill>
                <a:srgbClr val="808080"/>
              </a:solidFill>
              <a:latin typeface="微软雅黑" panose="020B0503020204020204" charset="-122"/>
              <a:ea typeface="微软雅黑" panose="020B0503020204020204" charset="-122"/>
              <a:cs typeface="微软雅黑" panose="020B0503020204020204" charset="-122"/>
            </a:endParaRPr>
          </a:p>
        </p:txBody>
      </p:sp>
      <p:sp>
        <p:nvSpPr>
          <p:cNvPr id="21" name="object 21"/>
          <p:cNvSpPr/>
          <p:nvPr/>
        </p:nvSpPr>
        <p:spPr>
          <a:xfrm>
            <a:off x="8063865" y="204865"/>
            <a:ext cx="0" cy="212574"/>
          </a:xfrm>
          <a:custGeom>
            <a:avLst/>
            <a:gdLst/>
            <a:ahLst/>
            <a:cxnLst/>
            <a:rect l="l" t="t" r="r" b="b"/>
            <a:pathLst>
              <a:path h="212725">
                <a:moveTo>
                  <a:pt x="0" y="0"/>
                </a:moveTo>
                <a:lnTo>
                  <a:pt x="0" y="212725"/>
                </a:lnTo>
              </a:path>
            </a:pathLst>
          </a:custGeom>
          <a:ln w="9525">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8064626" y="418835"/>
            <a:ext cx="484162" cy="0"/>
          </a:xfrm>
          <a:custGeom>
            <a:avLst/>
            <a:gdLst/>
            <a:ahLst/>
            <a:cxnLst/>
            <a:rect l="l" t="t" r="r" b="b"/>
            <a:pathLst>
              <a:path w="484504">
                <a:moveTo>
                  <a:pt x="0" y="0"/>
                </a:moveTo>
                <a:lnTo>
                  <a:pt x="484124" y="0"/>
                </a:lnTo>
              </a:path>
            </a:pathLst>
          </a:custGeom>
          <a:ln w="25400">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txBox="1"/>
          <p:nvPr/>
        </p:nvSpPr>
        <p:spPr>
          <a:xfrm>
            <a:off x="1915072" y="942086"/>
            <a:ext cx="1637140" cy="429260"/>
          </a:xfrm>
          <a:prstGeom prst="rect">
            <a:avLst/>
          </a:prstGeom>
        </p:spPr>
        <p:txBody>
          <a:bodyPr vert="horz" wrap="square" lIns="0" tIns="12056" rIns="0" bIns="0" rtlCol="0">
            <a:spAutoFit/>
          </a:bodyPr>
          <a:lstStyle/>
          <a:p>
            <a:pPr marL="12700">
              <a:lnSpc>
                <a:spcPct val="100000"/>
              </a:lnSpc>
              <a:spcBef>
                <a:spcPts val="95"/>
              </a:spcBef>
              <a:tabLst>
                <a:tab pos="1624965" algn="l"/>
              </a:tabLst>
            </a:pPr>
            <a:r>
              <a:rPr sz="1000" b="1" u="sng" spc="-1000" dirty="0">
                <a:uFill>
                  <a:solidFill>
                    <a:srgbClr val="000000"/>
                  </a:solidFill>
                </a:uFill>
                <a:latin typeface="微软雅黑" panose="020B0503020204020204" charset="-122"/>
                <a:ea typeface="微软雅黑" panose="020B0503020204020204" charset="-122"/>
                <a:cs typeface="微软雅黑" panose="020B0503020204020204" charset="-122"/>
              </a:rPr>
              <a:t>覆</a:t>
            </a:r>
            <a:r>
              <a:rPr sz="1000" b="1" spc="675" dirty="0">
                <a:latin typeface="微软雅黑" panose="020B0503020204020204" charset="-122"/>
                <a:ea typeface="微软雅黑" panose="020B0503020204020204" charset="-122"/>
                <a:cs typeface="微软雅黑" panose="020B0503020204020204" charset="-122"/>
              </a:rPr>
              <a:t> </a:t>
            </a:r>
            <a:r>
              <a:rPr sz="1000" b="1" u="sng" spc="5" dirty="0">
                <a:uFill>
                  <a:solidFill>
                    <a:srgbClr val="000000"/>
                  </a:solidFill>
                </a:uFill>
                <a:latin typeface="微软雅黑" panose="020B0503020204020204" charset="-122"/>
                <a:ea typeface="微软雅黑" panose="020B0503020204020204" charset="-122"/>
                <a:cs typeface="微软雅黑" panose="020B0503020204020204" charset="-122"/>
              </a:rPr>
              <a:t>盖模式类</a:t>
            </a:r>
            <a:r>
              <a:rPr sz="1000" b="1" u="sng" spc="-5" dirty="0">
                <a:uFill>
                  <a:solidFill>
                    <a:srgbClr val="000000"/>
                  </a:solidFill>
                </a:uFill>
                <a:latin typeface="微软雅黑" panose="020B0503020204020204" charset="-122"/>
                <a:ea typeface="微软雅黑" panose="020B0503020204020204" charset="-122"/>
                <a:cs typeface="微软雅黑" panose="020B0503020204020204" charset="-122"/>
              </a:rPr>
              <a:t>型	</a:t>
            </a:r>
            <a:endParaRPr sz="1000">
              <a:latin typeface="微软雅黑" panose="020B0503020204020204" charset="-122"/>
              <a:ea typeface="微软雅黑" panose="020B0503020204020204" charset="-122"/>
              <a:cs typeface="微软雅黑" panose="020B0503020204020204" charset="-122"/>
            </a:endParaRPr>
          </a:p>
          <a:p>
            <a:pPr marL="41275">
              <a:lnSpc>
                <a:spcPct val="100000"/>
              </a:lnSpc>
              <a:spcBef>
                <a:spcPts val="860"/>
              </a:spcBef>
            </a:pPr>
            <a:r>
              <a:rPr sz="1000" b="1" spc="5" dirty="0">
                <a:latin typeface="微软雅黑" panose="020B0503020204020204" charset="-122"/>
                <a:ea typeface="微软雅黑" panose="020B0503020204020204" charset="-122"/>
                <a:cs typeface="微软雅黑" panose="020B0503020204020204" charset="-122"/>
              </a:rPr>
              <a:t>企业直接覆</a:t>
            </a:r>
            <a:endParaRPr sz="1000">
              <a:latin typeface="微软雅黑" panose="020B0503020204020204" charset="-122"/>
              <a:ea typeface="微软雅黑" panose="020B0503020204020204" charset="-122"/>
              <a:cs typeface="微软雅黑" panose="020B0503020204020204" charset="-122"/>
            </a:endParaRPr>
          </a:p>
        </p:txBody>
      </p:sp>
      <p:sp>
        <p:nvSpPr>
          <p:cNvPr id="24" name="object 24"/>
          <p:cNvSpPr txBox="1"/>
          <p:nvPr/>
        </p:nvSpPr>
        <p:spPr>
          <a:xfrm>
            <a:off x="8453225" y="1141537"/>
            <a:ext cx="152292" cy="165100"/>
          </a:xfrm>
          <a:prstGeom prst="rect">
            <a:avLst/>
          </a:prstGeom>
        </p:spPr>
        <p:txBody>
          <a:bodyPr vert="horz" wrap="square" lIns="0" tIns="12056" rIns="0" bIns="0" rtlCol="0">
            <a:spAutoFit/>
          </a:bodyPr>
          <a:lstStyle/>
          <a:p>
            <a:pPr marL="12700">
              <a:lnSpc>
                <a:spcPct val="100000"/>
              </a:lnSpc>
              <a:spcBef>
                <a:spcPts val="95"/>
              </a:spcBef>
            </a:pPr>
            <a:r>
              <a:rPr sz="1000" b="1" spc="-5" dirty="0">
                <a:solidFill>
                  <a:srgbClr val="FFFFFF"/>
                </a:solidFill>
                <a:latin typeface="微软雅黑" panose="020B0503020204020204" charset="-122"/>
                <a:ea typeface="微软雅黑" panose="020B0503020204020204" charset="-122"/>
                <a:cs typeface="微软雅黑" panose="020B0503020204020204" charset="-122"/>
              </a:rPr>
              <a:t>高</a:t>
            </a:r>
            <a:endParaRPr sz="1000" b="1" spc="-5"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5" name="object 25"/>
          <p:cNvSpPr/>
          <p:nvPr/>
        </p:nvSpPr>
        <p:spPr>
          <a:xfrm>
            <a:off x="264987" y="1220653"/>
            <a:ext cx="1663156" cy="4987565"/>
          </a:xfrm>
          <a:custGeom>
            <a:avLst/>
            <a:gdLst/>
            <a:ahLst/>
            <a:cxnLst/>
            <a:rect l="l" t="t" r="r" b="b"/>
            <a:pathLst>
              <a:path w="1664335" h="4991100">
                <a:moveTo>
                  <a:pt x="1452753" y="0"/>
                </a:moveTo>
                <a:lnTo>
                  <a:pt x="0" y="0"/>
                </a:lnTo>
                <a:lnTo>
                  <a:pt x="0" y="4991100"/>
                </a:lnTo>
                <a:lnTo>
                  <a:pt x="1452753" y="4991100"/>
                </a:lnTo>
                <a:lnTo>
                  <a:pt x="1664208" y="2495549"/>
                </a:lnTo>
                <a:lnTo>
                  <a:pt x="145275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6" name="object 26"/>
          <p:cNvSpPr/>
          <p:nvPr/>
        </p:nvSpPr>
        <p:spPr>
          <a:xfrm>
            <a:off x="264987" y="1220653"/>
            <a:ext cx="1663156" cy="4987565"/>
          </a:xfrm>
          <a:custGeom>
            <a:avLst/>
            <a:gdLst/>
            <a:ahLst/>
            <a:cxnLst/>
            <a:rect l="l" t="t" r="r" b="b"/>
            <a:pathLst>
              <a:path w="1664335" h="4991100">
                <a:moveTo>
                  <a:pt x="0" y="0"/>
                </a:moveTo>
                <a:lnTo>
                  <a:pt x="1452753" y="0"/>
                </a:lnTo>
                <a:lnTo>
                  <a:pt x="1664208" y="2495549"/>
                </a:lnTo>
                <a:lnTo>
                  <a:pt x="1452753" y="4991100"/>
                </a:lnTo>
                <a:lnTo>
                  <a:pt x="0" y="4991100"/>
                </a:lnTo>
                <a:lnTo>
                  <a:pt x="0" y="0"/>
                </a:lnTo>
                <a:close/>
              </a:path>
            </a:pathLst>
          </a:custGeom>
          <a:ln w="9525">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7" name="object 27"/>
          <p:cNvSpPr txBox="1"/>
          <p:nvPr/>
        </p:nvSpPr>
        <p:spPr>
          <a:xfrm>
            <a:off x="328442" y="1532979"/>
            <a:ext cx="640896" cy="196215"/>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中国国情</a:t>
            </a:r>
            <a:endParaRPr sz="1200" b="1" spc="5" dirty="0">
              <a:latin typeface="微软雅黑" panose="020B0503020204020204" charset="-122"/>
              <a:ea typeface="微软雅黑" panose="020B0503020204020204" charset="-122"/>
              <a:cs typeface="微软雅黑" panose="020B0503020204020204" charset="-122"/>
            </a:endParaRPr>
          </a:p>
        </p:txBody>
      </p:sp>
      <p:sp>
        <p:nvSpPr>
          <p:cNvPr id="28" name="object 28"/>
          <p:cNvSpPr txBox="1"/>
          <p:nvPr/>
        </p:nvSpPr>
        <p:spPr>
          <a:xfrm>
            <a:off x="328442" y="1791875"/>
            <a:ext cx="1530535" cy="1286510"/>
          </a:xfrm>
          <a:prstGeom prst="rect">
            <a:avLst/>
          </a:prstGeom>
        </p:spPr>
        <p:txBody>
          <a:bodyPr vert="horz" wrap="square" lIns="0" tIns="12691" rIns="0" bIns="0" rtlCol="0">
            <a:spAutoFit/>
          </a:bodyPr>
          <a:lstStyle/>
          <a:p>
            <a:pPr marL="299085" marR="5080" indent="-287020">
              <a:lnSpc>
                <a:spcPct val="100000"/>
              </a:lnSpc>
              <a:spcBef>
                <a:spcPts val="100"/>
              </a:spcBef>
              <a:buClr>
                <a:srgbClr val="00295F"/>
              </a:buClr>
              <a:buFont typeface="Wingdings" panose="05000000000000000000"/>
              <a:buChar char=""/>
              <a:tabLst>
                <a:tab pos="341630" algn="l"/>
                <a:tab pos="342265" algn="l"/>
              </a:tabLst>
            </a:pPr>
            <a:r>
              <a:rPr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原材料企业不清 楚终端客户是谁， 有什么需求</a:t>
            </a:r>
            <a:endParaRPr sz="1200">
              <a:latin typeface="微软雅黑" panose="020B0503020204020204" charset="-122"/>
              <a:ea typeface="微软雅黑" panose="020B0503020204020204" charset="-122"/>
              <a:cs typeface="微软雅黑" panose="020B0503020204020204" charset="-122"/>
            </a:endParaRPr>
          </a:p>
          <a:p>
            <a:pPr marL="299085" marR="157480" indent="-287020" algn="just">
              <a:lnSpc>
                <a:spcPct val="100000"/>
              </a:lnSpc>
              <a:spcBef>
                <a:spcPts val="580"/>
              </a:spcBef>
              <a:buClr>
                <a:srgbClr val="00295F"/>
              </a:buClr>
              <a:buFont typeface="Wingdings" panose="05000000000000000000"/>
              <a:buChar char=""/>
              <a:tabLst>
                <a:tab pos="299720" algn="l"/>
              </a:tabLst>
            </a:pPr>
            <a:r>
              <a:rPr sz="1200" dirty="0">
                <a:latin typeface="微软雅黑" panose="020B0503020204020204" charset="-122"/>
                <a:ea typeface="微软雅黑" panose="020B0503020204020204" charset="-122"/>
                <a:cs typeface="微软雅黑" panose="020B0503020204020204" charset="-122"/>
              </a:rPr>
              <a:t>企业往往缺乏融 资能力，因而回 </a:t>
            </a:r>
            <a:r>
              <a:rPr sz="1200" spc="-5" dirty="0">
                <a:latin typeface="微软雅黑" panose="020B0503020204020204" charset="-122"/>
                <a:ea typeface="微软雅黑" panose="020B0503020204020204" charset="-122"/>
                <a:cs typeface="微软雅黑" panose="020B0503020204020204" charset="-122"/>
              </a:rPr>
              <a:t>避账期</a:t>
            </a:r>
            <a:endParaRPr sz="1200">
              <a:latin typeface="微软雅黑" panose="020B0503020204020204" charset="-122"/>
              <a:ea typeface="微软雅黑" panose="020B0503020204020204" charset="-122"/>
              <a:cs typeface="微软雅黑" panose="020B0503020204020204" charset="-122"/>
            </a:endParaRPr>
          </a:p>
        </p:txBody>
      </p:sp>
      <p:sp>
        <p:nvSpPr>
          <p:cNvPr id="29" name="object 29"/>
          <p:cNvSpPr txBox="1"/>
          <p:nvPr/>
        </p:nvSpPr>
        <p:spPr>
          <a:xfrm>
            <a:off x="328442" y="3039401"/>
            <a:ext cx="1378243" cy="934720"/>
          </a:xfrm>
          <a:prstGeom prst="rect">
            <a:avLst/>
          </a:prstGeom>
        </p:spPr>
        <p:txBody>
          <a:bodyPr vert="horz" wrap="square" lIns="0" tIns="12056" rIns="0" bIns="0" rtlCol="0">
            <a:spAutoFit/>
          </a:bodyPr>
          <a:lstStyle/>
          <a:p>
            <a:pPr marL="299085" marR="5080" indent="-287020" algn="just">
              <a:lnSpc>
                <a:spcPct val="100000"/>
              </a:lnSpc>
              <a:spcBef>
                <a:spcPts val="95"/>
              </a:spcBef>
              <a:buClr>
                <a:srgbClr val="00295F"/>
              </a:buClr>
              <a:buFont typeface="Wingdings" panose="05000000000000000000"/>
              <a:buChar char=""/>
              <a:tabLst>
                <a:tab pos="299720" algn="l"/>
              </a:tabLst>
            </a:pPr>
            <a:r>
              <a:rPr sz="1200" dirty="0">
                <a:latin typeface="微软雅黑" panose="020B0503020204020204" charset="-122"/>
                <a:ea typeface="微软雅黑" panose="020B0503020204020204" charset="-122"/>
                <a:cs typeface="微软雅黑" panose="020B0503020204020204" charset="-122"/>
              </a:rPr>
              <a:t>企业客户数量庞 大，但收入规模 多变，缺乏不同 的覆盖模式以实 现经济性</a:t>
            </a:r>
            <a:endParaRPr sz="1200" dirty="0">
              <a:latin typeface="微软雅黑" panose="020B0503020204020204" charset="-122"/>
              <a:ea typeface="微软雅黑" panose="020B0503020204020204" charset="-122"/>
              <a:cs typeface="微软雅黑" panose="020B0503020204020204" charset="-122"/>
            </a:endParaRPr>
          </a:p>
        </p:txBody>
      </p:sp>
      <p:sp>
        <p:nvSpPr>
          <p:cNvPr id="30" name="object 30"/>
          <p:cNvSpPr/>
          <p:nvPr/>
        </p:nvSpPr>
        <p:spPr>
          <a:xfrm>
            <a:off x="2881365" y="2142020"/>
            <a:ext cx="489237" cy="248109"/>
          </a:xfrm>
          <a:custGeom>
            <a:avLst/>
            <a:gdLst/>
            <a:ahLst/>
            <a:cxnLst/>
            <a:rect l="l" t="t" r="r" b="b"/>
            <a:pathLst>
              <a:path w="489585" h="248285">
                <a:moveTo>
                  <a:pt x="439419" y="0"/>
                </a:moveTo>
                <a:lnTo>
                  <a:pt x="49530" y="0"/>
                </a:lnTo>
                <a:lnTo>
                  <a:pt x="0" y="247904"/>
                </a:lnTo>
                <a:lnTo>
                  <a:pt x="489077" y="247904"/>
                </a:lnTo>
                <a:lnTo>
                  <a:pt x="439419"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1" name="object 31"/>
          <p:cNvSpPr/>
          <p:nvPr/>
        </p:nvSpPr>
        <p:spPr>
          <a:xfrm>
            <a:off x="3039750" y="1162782"/>
            <a:ext cx="170694" cy="428955"/>
          </a:xfrm>
          <a:custGeom>
            <a:avLst/>
            <a:gdLst/>
            <a:ahLst/>
            <a:cxnLst/>
            <a:rect l="l" t="t" r="r" b="b"/>
            <a:pathLst>
              <a:path w="170814" h="429259">
                <a:moveTo>
                  <a:pt x="85216" y="0"/>
                </a:moveTo>
                <a:lnTo>
                  <a:pt x="0" y="429260"/>
                </a:lnTo>
                <a:lnTo>
                  <a:pt x="170560" y="429260"/>
                </a:lnTo>
                <a:lnTo>
                  <a:pt x="85216"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2" name="object 32"/>
          <p:cNvSpPr/>
          <p:nvPr/>
        </p:nvSpPr>
        <p:spPr>
          <a:xfrm>
            <a:off x="2984924" y="1595292"/>
            <a:ext cx="280471" cy="272222"/>
          </a:xfrm>
          <a:custGeom>
            <a:avLst/>
            <a:gdLst/>
            <a:ahLst/>
            <a:cxnLst/>
            <a:rect l="l" t="t" r="r" b="b"/>
            <a:pathLst>
              <a:path w="280670" h="272414">
                <a:moveTo>
                  <a:pt x="225806" y="0"/>
                </a:moveTo>
                <a:lnTo>
                  <a:pt x="54610" y="0"/>
                </a:lnTo>
                <a:lnTo>
                  <a:pt x="0" y="272288"/>
                </a:lnTo>
                <a:lnTo>
                  <a:pt x="280288" y="272288"/>
                </a:lnTo>
                <a:lnTo>
                  <a:pt x="225806"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3" name="object 33"/>
          <p:cNvSpPr/>
          <p:nvPr/>
        </p:nvSpPr>
        <p:spPr>
          <a:xfrm>
            <a:off x="2930099" y="1867895"/>
            <a:ext cx="390248" cy="274126"/>
          </a:xfrm>
          <a:custGeom>
            <a:avLst/>
            <a:gdLst/>
            <a:ahLst/>
            <a:cxnLst/>
            <a:rect l="l" t="t" r="r" b="b"/>
            <a:pathLst>
              <a:path w="390525" h="274319">
                <a:moveTo>
                  <a:pt x="335279" y="0"/>
                </a:moveTo>
                <a:lnTo>
                  <a:pt x="54610" y="0"/>
                </a:lnTo>
                <a:lnTo>
                  <a:pt x="0" y="273812"/>
                </a:lnTo>
                <a:lnTo>
                  <a:pt x="390016" y="273812"/>
                </a:lnTo>
                <a:lnTo>
                  <a:pt x="335279"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4" name="object 34"/>
          <p:cNvSpPr/>
          <p:nvPr/>
        </p:nvSpPr>
        <p:spPr>
          <a:xfrm>
            <a:off x="2930099" y="1867895"/>
            <a:ext cx="390248" cy="274126"/>
          </a:xfrm>
          <a:custGeom>
            <a:avLst/>
            <a:gdLst/>
            <a:ahLst/>
            <a:cxnLst/>
            <a:rect l="l" t="t" r="r" b="b"/>
            <a:pathLst>
              <a:path w="390525" h="274319">
                <a:moveTo>
                  <a:pt x="54610" y="0"/>
                </a:moveTo>
                <a:lnTo>
                  <a:pt x="0" y="273812"/>
                </a:lnTo>
                <a:lnTo>
                  <a:pt x="390016" y="273812"/>
                </a:lnTo>
                <a:lnTo>
                  <a:pt x="335279" y="0"/>
                </a:lnTo>
                <a:lnTo>
                  <a:pt x="54610" y="0"/>
                </a:lnTo>
              </a:path>
            </a:pathLst>
          </a:custGeom>
          <a:ln w="9525">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5" name="object 35"/>
          <p:cNvSpPr txBox="1"/>
          <p:nvPr/>
        </p:nvSpPr>
        <p:spPr>
          <a:xfrm>
            <a:off x="3067924" y="1390662"/>
            <a:ext cx="117392" cy="165100"/>
          </a:xfrm>
          <a:prstGeom prst="rect">
            <a:avLst/>
          </a:prstGeom>
        </p:spPr>
        <p:txBody>
          <a:bodyPr vert="horz" wrap="square" lIns="0" tIns="12056" rIns="0" bIns="0" rtlCol="0">
            <a:spAutoFit/>
          </a:bodyPr>
          <a:lstStyle/>
          <a:p>
            <a:pPr marL="12700">
              <a:lnSpc>
                <a:spcPct val="100000"/>
              </a:lnSpc>
              <a:spcBef>
                <a:spcPts val="95"/>
              </a:spcBef>
            </a:pPr>
            <a:r>
              <a:rPr sz="1000" b="1" spc="-5" dirty="0">
                <a:solidFill>
                  <a:srgbClr val="FFFFFF"/>
                </a:solidFill>
                <a:latin typeface="微软雅黑" panose="020B0503020204020204" charset="-122"/>
                <a:ea typeface="微软雅黑" panose="020B0503020204020204" charset="-122"/>
                <a:cs typeface="Arial" panose="020B0604020202020204"/>
              </a:rPr>
              <a:t>A</a:t>
            </a:r>
            <a:endParaRPr sz="1000" b="1" spc="-5" dirty="0">
              <a:solidFill>
                <a:srgbClr val="FFFFFF"/>
              </a:solidFill>
              <a:latin typeface="微软雅黑" panose="020B0503020204020204" charset="-122"/>
              <a:ea typeface="微软雅黑" panose="020B0503020204020204" charset="-122"/>
              <a:cs typeface="Arial" panose="020B0604020202020204"/>
            </a:endParaRPr>
          </a:p>
        </p:txBody>
      </p:sp>
      <p:sp>
        <p:nvSpPr>
          <p:cNvPr id="36" name="object 36"/>
          <p:cNvSpPr txBox="1"/>
          <p:nvPr/>
        </p:nvSpPr>
        <p:spPr>
          <a:xfrm>
            <a:off x="3067924" y="1664787"/>
            <a:ext cx="117392" cy="165100"/>
          </a:xfrm>
          <a:prstGeom prst="rect">
            <a:avLst/>
          </a:prstGeom>
        </p:spPr>
        <p:txBody>
          <a:bodyPr vert="horz" wrap="square" lIns="0" tIns="12056" rIns="0" bIns="0" rtlCol="0">
            <a:spAutoFit/>
          </a:bodyPr>
          <a:lstStyle/>
          <a:p>
            <a:pPr marL="12700">
              <a:lnSpc>
                <a:spcPct val="100000"/>
              </a:lnSpc>
              <a:spcBef>
                <a:spcPts val="95"/>
              </a:spcBef>
            </a:pPr>
            <a:r>
              <a:rPr sz="1000" b="1" spc="-5" dirty="0">
                <a:solidFill>
                  <a:srgbClr val="00295F"/>
                </a:solidFill>
                <a:latin typeface="微软雅黑" panose="020B0503020204020204" charset="-122"/>
                <a:ea typeface="微软雅黑" panose="020B0503020204020204" charset="-122"/>
                <a:cs typeface="Arial" panose="020B0604020202020204"/>
              </a:rPr>
              <a:t>B</a:t>
            </a:r>
            <a:endParaRPr sz="1000" b="1" spc="-5" dirty="0">
              <a:solidFill>
                <a:srgbClr val="00295F"/>
              </a:solidFill>
              <a:latin typeface="微软雅黑" panose="020B0503020204020204" charset="-122"/>
              <a:ea typeface="微软雅黑" panose="020B0503020204020204" charset="-122"/>
              <a:cs typeface="Arial" panose="020B0604020202020204"/>
            </a:endParaRPr>
          </a:p>
        </p:txBody>
      </p:sp>
      <p:sp>
        <p:nvSpPr>
          <p:cNvPr id="37" name="object 37"/>
          <p:cNvSpPr txBox="1"/>
          <p:nvPr/>
        </p:nvSpPr>
        <p:spPr>
          <a:xfrm>
            <a:off x="3067924" y="1927035"/>
            <a:ext cx="118026" cy="426720"/>
          </a:xfrm>
          <a:prstGeom prst="rect">
            <a:avLst/>
          </a:prstGeom>
        </p:spPr>
        <p:txBody>
          <a:bodyPr vert="horz" wrap="square" lIns="0" tIns="12056" rIns="0" bIns="0" rtlCol="0">
            <a:spAutoFit/>
          </a:bodyPr>
          <a:lstStyle/>
          <a:p>
            <a:pPr marL="12700">
              <a:lnSpc>
                <a:spcPct val="100000"/>
              </a:lnSpc>
              <a:spcBef>
                <a:spcPts val="95"/>
              </a:spcBef>
            </a:pPr>
            <a:r>
              <a:rPr sz="1000" b="1" spc="-5" dirty="0">
                <a:solidFill>
                  <a:srgbClr val="00295F"/>
                </a:solidFill>
                <a:latin typeface="微软雅黑" panose="020B0503020204020204" charset="-122"/>
                <a:ea typeface="微软雅黑" panose="020B0503020204020204" charset="-122"/>
                <a:cs typeface="Arial" panose="020B0604020202020204"/>
              </a:rPr>
              <a:t>C</a:t>
            </a:r>
            <a:endParaRPr sz="1000">
              <a:latin typeface="微软雅黑" panose="020B0503020204020204" charset="-122"/>
              <a:ea typeface="微软雅黑" panose="020B0503020204020204" charset="-122"/>
              <a:cs typeface="Arial" panose="020B0604020202020204"/>
            </a:endParaRPr>
          </a:p>
          <a:p>
            <a:pPr marL="13335">
              <a:lnSpc>
                <a:spcPct val="100000"/>
              </a:lnSpc>
              <a:spcBef>
                <a:spcPts val="840"/>
              </a:spcBef>
            </a:pPr>
            <a:r>
              <a:rPr sz="1000" b="1" spc="-5" dirty="0">
                <a:solidFill>
                  <a:srgbClr val="00295F"/>
                </a:solidFill>
                <a:latin typeface="微软雅黑" panose="020B0503020204020204" charset="-122"/>
                <a:ea typeface="微软雅黑" panose="020B0503020204020204" charset="-122"/>
                <a:cs typeface="Arial" panose="020B0604020202020204"/>
              </a:rPr>
              <a:t>D</a:t>
            </a:r>
            <a:endParaRPr sz="1000">
              <a:latin typeface="微软雅黑" panose="020B0503020204020204" charset="-122"/>
              <a:ea typeface="微软雅黑" panose="020B0503020204020204" charset="-122"/>
              <a:cs typeface="Arial" panose="020B0604020202020204"/>
            </a:endParaRPr>
          </a:p>
        </p:txBody>
      </p:sp>
      <p:sp>
        <p:nvSpPr>
          <p:cNvPr id="38" name="object 38"/>
          <p:cNvSpPr/>
          <p:nvPr/>
        </p:nvSpPr>
        <p:spPr>
          <a:xfrm>
            <a:off x="2881365" y="4109634"/>
            <a:ext cx="489237" cy="246205"/>
          </a:xfrm>
          <a:custGeom>
            <a:avLst/>
            <a:gdLst/>
            <a:ahLst/>
            <a:cxnLst/>
            <a:rect l="l" t="t" r="r" b="b"/>
            <a:pathLst>
              <a:path w="489585" h="246379">
                <a:moveTo>
                  <a:pt x="439419" y="0"/>
                </a:moveTo>
                <a:lnTo>
                  <a:pt x="49530" y="0"/>
                </a:lnTo>
                <a:lnTo>
                  <a:pt x="0" y="246380"/>
                </a:lnTo>
                <a:lnTo>
                  <a:pt x="489077" y="246380"/>
                </a:lnTo>
                <a:lnTo>
                  <a:pt x="439419"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9" name="object 39"/>
          <p:cNvSpPr/>
          <p:nvPr/>
        </p:nvSpPr>
        <p:spPr>
          <a:xfrm>
            <a:off x="3039750" y="3128873"/>
            <a:ext cx="170694" cy="430860"/>
          </a:xfrm>
          <a:custGeom>
            <a:avLst/>
            <a:gdLst/>
            <a:ahLst/>
            <a:cxnLst/>
            <a:rect l="l" t="t" r="r" b="b"/>
            <a:pathLst>
              <a:path w="170814" h="431164">
                <a:moveTo>
                  <a:pt x="85216" y="0"/>
                </a:moveTo>
                <a:lnTo>
                  <a:pt x="0" y="430784"/>
                </a:lnTo>
                <a:lnTo>
                  <a:pt x="170560" y="430784"/>
                </a:lnTo>
                <a:lnTo>
                  <a:pt x="85216"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0" name="object 40"/>
          <p:cNvSpPr/>
          <p:nvPr/>
        </p:nvSpPr>
        <p:spPr>
          <a:xfrm>
            <a:off x="2984924" y="3562905"/>
            <a:ext cx="280471" cy="272222"/>
          </a:xfrm>
          <a:custGeom>
            <a:avLst/>
            <a:gdLst/>
            <a:ahLst/>
            <a:cxnLst/>
            <a:rect l="l" t="t" r="r" b="b"/>
            <a:pathLst>
              <a:path w="280670" h="272414">
                <a:moveTo>
                  <a:pt x="225806" y="0"/>
                </a:moveTo>
                <a:lnTo>
                  <a:pt x="54610" y="0"/>
                </a:lnTo>
                <a:lnTo>
                  <a:pt x="0" y="272287"/>
                </a:lnTo>
                <a:lnTo>
                  <a:pt x="280288" y="272287"/>
                </a:lnTo>
                <a:lnTo>
                  <a:pt x="225806"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1" name="object 41"/>
          <p:cNvSpPr/>
          <p:nvPr/>
        </p:nvSpPr>
        <p:spPr>
          <a:xfrm>
            <a:off x="2930099" y="3835508"/>
            <a:ext cx="390248" cy="274126"/>
          </a:xfrm>
          <a:custGeom>
            <a:avLst/>
            <a:gdLst/>
            <a:ahLst/>
            <a:cxnLst/>
            <a:rect l="l" t="t" r="r" b="b"/>
            <a:pathLst>
              <a:path w="390525" h="274320">
                <a:moveTo>
                  <a:pt x="335279" y="0"/>
                </a:moveTo>
                <a:lnTo>
                  <a:pt x="54610" y="0"/>
                </a:lnTo>
                <a:lnTo>
                  <a:pt x="0" y="273811"/>
                </a:lnTo>
                <a:lnTo>
                  <a:pt x="390016" y="273811"/>
                </a:lnTo>
                <a:lnTo>
                  <a:pt x="335279"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2" name="object 42"/>
          <p:cNvSpPr/>
          <p:nvPr/>
        </p:nvSpPr>
        <p:spPr>
          <a:xfrm>
            <a:off x="2930099" y="3835508"/>
            <a:ext cx="390248" cy="274126"/>
          </a:xfrm>
          <a:custGeom>
            <a:avLst/>
            <a:gdLst/>
            <a:ahLst/>
            <a:cxnLst/>
            <a:rect l="l" t="t" r="r" b="b"/>
            <a:pathLst>
              <a:path w="390525" h="274320">
                <a:moveTo>
                  <a:pt x="54610" y="0"/>
                </a:moveTo>
                <a:lnTo>
                  <a:pt x="0" y="273811"/>
                </a:lnTo>
                <a:lnTo>
                  <a:pt x="390016" y="273811"/>
                </a:lnTo>
                <a:lnTo>
                  <a:pt x="335279" y="0"/>
                </a:lnTo>
                <a:lnTo>
                  <a:pt x="54610" y="0"/>
                </a:lnTo>
              </a:path>
            </a:pathLst>
          </a:custGeom>
          <a:ln w="9525">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3" name="object 43"/>
          <p:cNvSpPr txBox="1"/>
          <p:nvPr/>
        </p:nvSpPr>
        <p:spPr>
          <a:xfrm>
            <a:off x="3067924" y="3358580"/>
            <a:ext cx="116756" cy="165100"/>
          </a:xfrm>
          <a:prstGeom prst="rect">
            <a:avLst/>
          </a:prstGeom>
        </p:spPr>
        <p:txBody>
          <a:bodyPr vert="horz" wrap="square" lIns="0" tIns="12056" rIns="0" bIns="0" rtlCol="0">
            <a:spAutoFit/>
          </a:bodyPr>
          <a:lstStyle/>
          <a:p>
            <a:pPr marL="12700">
              <a:lnSpc>
                <a:spcPct val="100000"/>
              </a:lnSpc>
              <a:spcBef>
                <a:spcPts val="95"/>
              </a:spcBef>
            </a:pPr>
            <a:r>
              <a:rPr sz="1000" b="1" spc="-5" dirty="0">
                <a:solidFill>
                  <a:srgbClr val="00295F"/>
                </a:solidFill>
                <a:latin typeface="微软雅黑" panose="020B0503020204020204" charset="-122"/>
                <a:ea typeface="微软雅黑" panose="020B0503020204020204" charset="-122"/>
                <a:cs typeface="Arial" panose="020B0604020202020204"/>
              </a:rPr>
              <a:t>A</a:t>
            </a:r>
            <a:endParaRPr sz="1000" b="1" spc="-5" dirty="0">
              <a:solidFill>
                <a:srgbClr val="00295F"/>
              </a:solidFill>
              <a:latin typeface="微软雅黑" panose="020B0503020204020204" charset="-122"/>
              <a:ea typeface="微软雅黑" panose="020B0503020204020204" charset="-122"/>
              <a:cs typeface="Arial" panose="020B0604020202020204"/>
            </a:endParaRPr>
          </a:p>
        </p:txBody>
      </p:sp>
      <p:sp>
        <p:nvSpPr>
          <p:cNvPr id="44" name="object 44"/>
          <p:cNvSpPr txBox="1"/>
          <p:nvPr/>
        </p:nvSpPr>
        <p:spPr>
          <a:xfrm>
            <a:off x="3067924" y="3632706"/>
            <a:ext cx="116756" cy="165100"/>
          </a:xfrm>
          <a:prstGeom prst="rect">
            <a:avLst/>
          </a:prstGeom>
        </p:spPr>
        <p:txBody>
          <a:bodyPr vert="horz" wrap="square" lIns="0" tIns="12056" rIns="0" bIns="0" rtlCol="0">
            <a:spAutoFit/>
          </a:bodyPr>
          <a:lstStyle/>
          <a:p>
            <a:pPr marL="12700">
              <a:lnSpc>
                <a:spcPct val="100000"/>
              </a:lnSpc>
              <a:spcBef>
                <a:spcPts val="95"/>
              </a:spcBef>
            </a:pPr>
            <a:r>
              <a:rPr sz="1000" b="1" spc="-5" dirty="0">
                <a:latin typeface="微软雅黑" panose="020B0503020204020204" charset="-122"/>
                <a:ea typeface="微软雅黑" panose="020B0503020204020204" charset="-122"/>
                <a:cs typeface="Arial" panose="020B0604020202020204"/>
              </a:rPr>
              <a:t>B</a:t>
            </a:r>
            <a:endParaRPr sz="1000" b="1" spc="-5" dirty="0">
              <a:latin typeface="微软雅黑" panose="020B0503020204020204" charset="-122"/>
              <a:ea typeface="微软雅黑" panose="020B0503020204020204" charset="-122"/>
              <a:cs typeface="Arial" panose="020B0604020202020204"/>
            </a:endParaRPr>
          </a:p>
        </p:txBody>
      </p:sp>
      <p:sp>
        <p:nvSpPr>
          <p:cNvPr id="45" name="object 45"/>
          <p:cNvSpPr txBox="1"/>
          <p:nvPr/>
        </p:nvSpPr>
        <p:spPr>
          <a:xfrm>
            <a:off x="3067924" y="3894648"/>
            <a:ext cx="118026" cy="426720"/>
          </a:xfrm>
          <a:prstGeom prst="rect">
            <a:avLst/>
          </a:prstGeom>
        </p:spPr>
        <p:txBody>
          <a:bodyPr vert="horz" wrap="square" lIns="0" tIns="12056" rIns="0" bIns="0" rtlCol="0">
            <a:spAutoFit/>
          </a:bodyPr>
          <a:lstStyle/>
          <a:p>
            <a:pPr marL="12700">
              <a:lnSpc>
                <a:spcPct val="100000"/>
              </a:lnSpc>
              <a:spcBef>
                <a:spcPts val="95"/>
              </a:spcBef>
            </a:pPr>
            <a:r>
              <a:rPr sz="1000" b="1" spc="-5" dirty="0">
                <a:solidFill>
                  <a:srgbClr val="FFFFFF"/>
                </a:solidFill>
                <a:latin typeface="微软雅黑" panose="020B0503020204020204" charset="-122"/>
                <a:ea typeface="微软雅黑" panose="020B0503020204020204" charset="-122"/>
                <a:cs typeface="Arial" panose="020B0604020202020204"/>
              </a:rPr>
              <a:t>C</a:t>
            </a:r>
            <a:endParaRPr sz="1000">
              <a:latin typeface="微软雅黑" panose="020B0503020204020204" charset="-122"/>
              <a:ea typeface="微软雅黑" panose="020B0503020204020204" charset="-122"/>
              <a:cs typeface="Arial" panose="020B0604020202020204"/>
            </a:endParaRPr>
          </a:p>
          <a:p>
            <a:pPr marL="13335">
              <a:lnSpc>
                <a:spcPct val="100000"/>
              </a:lnSpc>
              <a:spcBef>
                <a:spcPts val="840"/>
              </a:spcBef>
            </a:pPr>
            <a:r>
              <a:rPr sz="1000" b="1" spc="-5" dirty="0">
                <a:solidFill>
                  <a:srgbClr val="FFFFFF"/>
                </a:solidFill>
                <a:latin typeface="微软雅黑" panose="020B0503020204020204" charset="-122"/>
                <a:ea typeface="微软雅黑" panose="020B0503020204020204" charset="-122"/>
                <a:cs typeface="Arial" panose="020B0604020202020204"/>
              </a:rPr>
              <a:t>D</a:t>
            </a:r>
            <a:endParaRPr sz="1000">
              <a:latin typeface="微软雅黑" panose="020B0503020204020204" charset="-122"/>
              <a:ea typeface="微软雅黑" panose="020B0503020204020204" charset="-122"/>
              <a:cs typeface="Arial" panose="020B0604020202020204"/>
            </a:endParaRPr>
          </a:p>
        </p:txBody>
      </p:sp>
      <p:sp>
        <p:nvSpPr>
          <p:cNvPr id="46" name="object 46"/>
          <p:cNvSpPr/>
          <p:nvPr/>
        </p:nvSpPr>
        <p:spPr>
          <a:xfrm>
            <a:off x="2881365" y="5891451"/>
            <a:ext cx="489237" cy="248109"/>
          </a:xfrm>
          <a:custGeom>
            <a:avLst/>
            <a:gdLst/>
            <a:ahLst/>
            <a:cxnLst/>
            <a:rect l="l" t="t" r="r" b="b"/>
            <a:pathLst>
              <a:path w="489585" h="248285">
                <a:moveTo>
                  <a:pt x="439419" y="0"/>
                </a:moveTo>
                <a:lnTo>
                  <a:pt x="49530" y="0"/>
                </a:lnTo>
                <a:lnTo>
                  <a:pt x="0" y="247904"/>
                </a:lnTo>
                <a:lnTo>
                  <a:pt x="489077" y="247904"/>
                </a:lnTo>
                <a:lnTo>
                  <a:pt x="439419"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7" name="object 47"/>
          <p:cNvSpPr/>
          <p:nvPr/>
        </p:nvSpPr>
        <p:spPr>
          <a:xfrm>
            <a:off x="3039750" y="4912213"/>
            <a:ext cx="170694" cy="430860"/>
          </a:xfrm>
          <a:custGeom>
            <a:avLst/>
            <a:gdLst/>
            <a:ahLst/>
            <a:cxnLst/>
            <a:rect l="l" t="t" r="r" b="b"/>
            <a:pathLst>
              <a:path w="170814" h="431164">
                <a:moveTo>
                  <a:pt x="85216" y="0"/>
                </a:moveTo>
                <a:lnTo>
                  <a:pt x="0" y="430783"/>
                </a:lnTo>
                <a:lnTo>
                  <a:pt x="170560" y="430783"/>
                </a:lnTo>
                <a:lnTo>
                  <a:pt x="85216"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8" name="object 48"/>
          <p:cNvSpPr/>
          <p:nvPr/>
        </p:nvSpPr>
        <p:spPr>
          <a:xfrm>
            <a:off x="2984924" y="5346245"/>
            <a:ext cx="280471" cy="272222"/>
          </a:xfrm>
          <a:custGeom>
            <a:avLst/>
            <a:gdLst/>
            <a:ahLst/>
            <a:cxnLst/>
            <a:rect l="l" t="t" r="r" b="b"/>
            <a:pathLst>
              <a:path w="280670" h="272414">
                <a:moveTo>
                  <a:pt x="225806" y="0"/>
                </a:moveTo>
                <a:lnTo>
                  <a:pt x="54610" y="0"/>
                </a:lnTo>
                <a:lnTo>
                  <a:pt x="0" y="272288"/>
                </a:lnTo>
                <a:lnTo>
                  <a:pt x="280288" y="272288"/>
                </a:lnTo>
                <a:lnTo>
                  <a:pt x="225806"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9" name="object 49"/>
          <p:cNvSpPr/>
          <p:nvPr/>
        </p:nvSpPr>
        <p:spPr>
          <a:xfrm>
            <a:off x="2930099" y="5617324"/>
            <a:ext cx="390248" cy="275395"/>
          </a:xfrm>
          <a:custGeom>
            <a:avLst/>
            <a:gdLst/>
            <a:ahLst/>
            <a:cxnLst/>
            <a:rect l="l" t="t" r="r" b="b"/>
            <a:pathLst>
              <a:path w="390525" h="275589">
                <a:moveTo>
                  <a:pt x="335279" y="0"/>
                </a:moveTo>
                <a:lnTo>
                  <a:pt x="54610" y="0"/>
                </a:lnTo>
                <a:lnTo>
                  <a:pt x="0" y="275323"/>
                </a:lnTo>
                <a:lnTo>
                  <a:pt x="390016" y="275323"/>
                </a:lnTo>
                <a:lnTo>
                  <a:pt x="335279"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0" name="object 50"/>
          <p:cNvSpPr/>
          <p:nvPr/>
        </p:nvSpPr>
        <p:spPr>
          <a:xfrm>
            <a:off x="2930099" y="5617324"/>
            <a:ext cx="390248" cy="275395"/>
          </a:xfrm>
          <a:custGeom>
            <a:avLst/>
            <a:gdLst/>
            <a:ahLst/>
            <a:cxnLst/>
            <a:rect l="l" t="t" r="r" b="b"/>
            <a:pathLst>
              <a:path w="390525" h="275589">
                <a:moveTo>
                  <a:pt x="54610" y="0"/>
                </a:moveTo>
                <a:lnTo>
                  <a:pt x="0" y="275323"/>
                </a:lnTo>
                <a:lnTo>
                  <a:pt x="390016" y="275323"/>
                </a:lnTo>
                <a:lnTo>
                  <a:pt x="335279" y="0"/>
                </a:lnTo>
                <a:lnTo>
                  <a:pt x="54610" y="0"/>
                </a:lnTo>
              </a:path>
            </a:pathLst>
          </a:custGeom>
          <a:ln w="9525">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1" name="object 51"/>
          <p:cNvSpPr txBox="1"/>
          <p:nvPr/>
        </p:nvSpPr>
        <p:spPr>
          <a:xfrm>
            <a:off x="3067924" y="5142301"/>
            <a:ext cx="116756" cy="165100"/>
          </a:xfrm>
          <a:prstGeom prst="rect">
            <a:avLst/>
          </a:prstGeom>
        </p:spPr>
        <p:txBody>
          <a:bodyPr vert="horz" wrap="square" lIns="0" tIns="12056" rIns="0" bIns="0" rtlCol="0">
            <a:spAutoFit/>
          </a:bodyPr>
          <a:lstStyle/>
          <a:p>
            <a:pPr marL="12700">
              <a:lnSpc>
                <a:spcPct val="100000"/>
              </a:lnSpc>
              <a:spcBef>
                <a:spcPts val="95"/>
              </a:spcBef>
            </a:pPr>
            <a:r>
              <a:rPr sz="1000" b="1" spc="-5" dirty="0">
                <a:solidFill>
                  <a:srgbClr val="00295F"/>
                </a:solidFill>
                <a:latin typeface="微软雅黑" panose="020B0503020204020204" charset="-122"/>
                <a:ea typeface="微软雅黑" panose="020B0503020204020204" charset="-122"/>
                <a:cs typeface="Arial" panose="020B0604020202020204"/>
              </a:rPr>
              <a:t>A</a:t>
            </a:r>
            <a:endParaRPr sz="1000" b="1" spc="-5" dirty="0">
              <a:solidFill>
                <a:srgbClr val="00295F"/>
              </a:solidFill>
              <a:latin typeface="微软雅黑" panose="020B0503020204020204" charset="-122"/>
              <a:ea typeface="微软雅黑" panose="020B0503020204020204" charset="-122"/>
              <a:cs typeface="Arial" panose="020B0604020202020204"/>
            </a:endParaRPr>
          </a:p>
        </p:txBody>
      </p:sp>
      <p:sp>
        <p:nvSpPr>
          <p:cNvPr id="52" name="object 52"/>
          <p:cNvSpPr txBox="1"/>
          <p:nvPr/>
        </p:nvSpPr>
        <p:spPr>
          <a:xfrm>
            <a:off x="3067924" y="5416401"/>
            <a:ext cx="118026" cy="690880"/>
          </a:xfrm>
          <a:prstGeom prst="rect">
            <a:avLst/>
          </a:prstGeom>
        </p:spPr>
        <p:txBody>
          <a:bodyPr vert="horz" wrap="square" lIns="0" tIns="12056" rIns="0" bIns="0" rtlCol="0">
            <a:spAutoFit/>
          </a:bodyPr>
          <a:lstStyle/>
          <a:p>
            <a:pPr marL="12700">
              <a:lnSpc>
                <a:spcPct val="100000"/>
              </a:lnSpc>
              <a:spcBef>
                <a:spcPts val="95"/>
              </a:spcBef>
            </a:pPr>
            <a:r>
              <a:rPr sz="1000" b="1" spc="-5" dirty="0">
                <a:solidFill>
                  <a:srgbClr val="FFFFFF"/>
                </a:solidFill>
                <a:latin typeface="微软雅黑" panose="020B0503020204020204" charset="-122"/>
                <a:ea typeface="微软雅黑" panose="020B0503020204020204" charset="-122"/>
                <a:cs typeface="Arial" panose="020B0604020202020204"/>
              </a:rPr>
              <a:t>B</a:t>
            </a:r>
            <a:endParaRPr sz="1000">
              <a:latin typeface="微软雅黑" panose="020B0503020204020204" charset="-122"/>
              <a:ea typeface="微软雅黑" panose="020B0503020204020204" charset="-122"/>
              <a:cs typeface="Arial" panose="020B0604020202020204"/>
            </a:endParaRPr>
          </a:p>
          <a:p>
            <a:pPr marL="13335" marR="5080" indent="-1270">
              <a:lnSpc>
                <a:spcPct val="170000"/>
              </a:lnSpc>
              <a:spcBef>
                <a:spcPts val="20"/>
              </a:spcBef>
            </a:pPr>
            <a:r>
              <a:rPr sz="1000" b="1" spc="-5" dirty="0">
                <a:solidFill>
                  <a:srgbClr val="00295F"/>
                </a:solidFill>
                <a:latin typeface="微软雅黑" panose="020B0503020204020204" charset="-122"/>
                <a:ea typeface="微软雅黑" panose="020B0503020204020204" charset="-122"/>
                <a:cs typeface="Arial" panose="020B0604020202020204"/>
              </a:rPr>
              <a:t>C  D</a:t>
            </a:r>
            <a:endParaRPr sz="1000">
              <a:latin typeface="微软雅黑" panose="020B0503020204020204" charset="-122"/>
              <a:ea typeface="微软雅黑" panose="020B0503020204020204" charset="-122"/>
              <a:cs typeface="Arial" panose="020B0604020202020204"/>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69806" y="962518"/>
            <a:ext cx="8549931" cy="5044040"/>
          </a:xfrm>
          <a:custGeom>
            <a:avLst/>
            <a:gdLst/>
            <a:ahLst/>
            <a:cxnLst/>
            <a:rect l="l" t="t" r="r" b="b"/>
            <a:pathLst>
              <a:path w="8555990" h="5047615">
                <a:moveTo>
                  <a:pt x="0" y="5047488"/>
                </a:moveTo>
                <a:lnTo>
                  <a:pt x="8555736" y="5047488"/>
                </a:lnTo>
                <a:lnTo>
                  <a:pt x="8555736" y="0"/>
                </a:lnTo>
                <a:lnTo>
                  <a:pt x="0" y="0"/>
                </a:lnTo>
                <a:lnTo>
                  <a:pt x="0" y="5047488"/>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 name="object 4"/>
          <p:cNvSpPr txBox="1">
            <a:spLocks noGrp="1"/>
          </p:cNvSpPr>
          <p:nvPr>
            <p:ph type="title"/>
          </p:nvPr>
        </p:nvSpPr>
        <p:spPr>
          <a:xfrm>
            <a:off x="106401" y="200043"/>
            <a:ext cx="8464266" cy="598170"/>
          </a:xfrm>
          <a:prstGeom prst="rect">
            <a:avLst/>
          </a:prstGeom>
        </p:spPr>
        <p:txBody>
          <a:bodyPr vert="horz" wrap="square" lIns="0" tIns="8883" rIns="0" bIns="0" rtlCol="0">
            <a:spAutoFit/>
          </a:bodyPr>
          <a:lstStyle/>
          <a:p>
            <a:pPr marL="12700" marR="5080">
              <a:lnSpc>
                <a:spcPct val="101000"/>
              </a:lnSpc>
              <a:spcBef>
                <a:spcPts val="70"/>
              </a:spcBef>
            </a:pPr>
            <a:r>
              <a:rPr spc="-5" dirty="0">
                <a:ea typeface="微软雅黑" panose="020B0503020204020204" charset="-122"/>
              </a:rPr>
              <a:t>客户分类的</a:t>
            </a:r>
            <a:r>
              <a:rPr spc="-10" dirty="0">
                <a:ea typeface="微软雅黑" panose="020B0503020204020204" charset="-122"/>
              </a:rPr>
              <a:t>最佳</a:t>
            </a:r>
            <a:r>
              <a:rPr spc="-5" dirty="0">
                <a:ea typeface="微软雅黑" panose="020B0503020204020204" charset="-122"/>
              </a:rPr>
              <a:t>方</a:t>
            </a:r>
            <a:r>
              <a:rPr spc="-10" dirty="0">
                <a:ea typeface="微软雅黑" panose="020B0503020204020204" charset="-122"/>
              </a:rPr>
              <a:t>法之</a:t>
            </a:r>
            <a:r>
              <a:rPr spc="-5" dirty="0">
                <a:ea typeface="微软雅黑" panose="020B0503020204020204" charset="-122"/>
              </a:rPr>
              <a:t>一</a:t>
            </a:r>
            <a:r>
              <a:rPr spc="-10" dirty="0">
                <a:ea typeface="微软雅黑" panose="020B0503020204020204" charset="-122"/>
              </a:rPr>
              <a:t>就是</a:t>
            </a:r>
            <a:r>
              <a:rPr spc="-5" dirty="0">
                <a:ea typeface="微软雅黑" panose="020B0503020204020204" charset="-122"/>
              </a:rPr>
              <a:t>通</a:t>
            </a:r>
            <a:r>
              <a:rPr spc="-10" dirty="0">
                <a:ea typeface="微软雅黑" panose="020B0503020204020204" charset="-122"/>
              </a:rPr>
              <a:t>过以</a:t>
            </a:r>
            <a:r>
              <a:rPr spc="-5" dirty="0">
                <a:ea typeface="微软雅黑" panose="020B0503020204020204" charset="-122"/>
              </a:rPr>
              <a:t>下</a:t>
            </a:r>
            <a:r>
              <a:rPr spc="-10" dirty="0">
                <a:ea typeface="微软雅黑" panose="020B0503020204020204" charset="-122"/>
              </a:rPr>
              <a:t>四个</a:t>
            </a:r>
            <a:r>
              <a:rPr spc="-5" dirty="0">
                <a:ea typeface="微软雅黑" panose="020B0503020204020204" charset="-122"/>
              </a:rPr>
              <a:t>维</a:t>
            </a:r>
            <a:r>
              <a:rPr spc="-10" dirty="0">
                <a:ea typeface="微软雅黑" panose="020B0503020204020204" charset="-122"/>
              </a:rPr>
              <a:t>度对</a:t>
            </a:r>
            <a:r>
              <a:rPr spc="-5" dirty="0">
                <a:ea typeface="微软雅黑" panose="020B0503020204020204" charset="-122"/>
              </a:rPr>
              <a:t>客</a:t>
            </a:r>
            <a:r>
              <a:rPr spc="-10" dirty="0">
                <a:ea typeface="微软雅黑" panose="020B0503020204020204" charset="-122"/>
              </a:rPr>
              <a:t>户的</a:t>
            </a:r>
            <a:r>
              <a:rPr spc="-5" dirty="0">
                <a:ea typeface="微软雅黑" panose="020B0503020204020204" charset="-122"/>
              </a:rPr>
              <a:t>优</a:t>
            </a:r>
            <a:r>
              <a:rPr spc="-10" dirty="0">
                <a:ea typeface="微软雅黑" panose="020B0503020204020204" charset="-122"/>
              </a:rPr>
              <a:t>先级</a:t>
            </a:r>
            <a:r>
              <a:rPr spc="-5" dirty="0">
                <a:ea typeface="微软雅黑" panose="020B0503020204020204" charset="-122"/>
              </a:rPr>
              <a:t>进</a:t>
            </a:r>
            <a:r>
              <a:rPr spc="-10" dirty="0">
                <a:ea typeface="微软雅黑" panose="020B0503020204020204" charset="-122"/>
              </a:rPr>
              <a:t>行排</a:t>
            </a:r>
            <a:r>
              <a:rPr spc="-5" dirty="0">
                <a:ea typeface="微软雅黑" panose="020B0503020204020204" charset="-122"/>
              </a:rPr>
              <a:t>序</a:t>
            </a:r>
            <a:r>
              <a:rPr spc="-10" dirty="0">
                <a:ea typeface="微软雅黑" panose="020B0503020204020204" charset="-122"/>
              </a:rPr>
              <a:t>，同时 </a:t>
            </a:r>
            <a:r>
              <a:rPr spc="-5" dirty="0">
                <a:ea typeface="微软雅黑" panose="020B0503020204020204" charset="-122"/>
              </a:rPr>
              <a:t>兼顾影响和</a:t>
            </a:r>
            <a:r>
              <a:rPr spc="-10" dirty="0">
                <a:ea typeface="微软雅黑" panose="020B0503020204020204" charset="-122"/>
              </a:rPr>
              <a:t>战略</a:t>
            </a:r>
            <a:r>
              <a:rPr spc="-5" dirty="0">
                <a:ea typeface="微软雅黑" panose="020B0503020204020204" charset="-122"/>
              </a:rPr>
              <a:t>意</a:t>
            </a:r>
            <a:r>
              <a:rPr spc="-10" dirty="0">
                <a:ea typeface="微软雅黑" panose="020B0503020204020204" charset="-122"/>
              </a:rPr>
              <a:t>义</a:t>
            </a:r>
            <a:endParaRPr spc="-10" dirty="0">
              <a:ea typeface="微软雅黑" panose="020B0503020204020204" charset="-122"/>
            </a:endParaRPr>
          </a:p>
        </p:txBody>
      </p:sp>
      <p:sp>
        <p:nvSpPr>
          <p:cNvPr id="5" name="object 5"/>
          <p:cNvSpPr txBox="1"/>
          <p:nvPr/>
        </p:nvSpPr>
        <p:spPr>
          <a:xfrm>
            <a:off x="1258058" y="1521938"/>
            <a:ext cx="434032"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收入</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6" name="object 6"/>
          <p:cNvSpPr txBox="1"/>
          <p:nvPr/>
        </p:nvSpPr>
        <p:spPr>
          <a:xfrm>
            <a:off x="1155998" y="2664128"/>
            <a:ext cx="636454"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利润</a:t>
            </a:r>
            <a:r>
              <a:rPr sz="1600" b="1" spc="-10" dirty="0">
                <a:solidFill>
                  <a:srgbClr val="0066CC"/>
                </a:solidFill>
                <a:latin typeface="微软雅黑" panose="020B0503020204020204" charset="-122"/>
                <a:ea typeface="微软雅黑" panose="020B0503020204020204" charset="-122"/>
                <a:cs typeface="微软雅黑" panose="020B0503020204020204" charset="-122"/>
              </a:rPr>
              <a:t>率</a:t>
            </a:r>
            <a:endParaRPr sz="1600">
              <a:latin typeface="微软雅黑" panose="020B0503020204020204" charset="-122"/>
              <a:ea typeface="微软雅黑" panose="020B0503020204020204" charset="-122"/>
              <a:cs typeface="微软雅黑" panose="020B0503020204020204" charset="-122"/>
            </a:endParaRPr>
          </a:p>
        </p:txBody>
      </p:sp>
      <p:sp>
        <p:nvSpPr>
          <p:cNvPr id="7" name="object 7"/>
          <p:cNvSpPr txBox="1"/>
          <p:nvPr/>
        </p:nvSpPr>
        <p:spPr>
          <a:xfrm>
            <a:off x="1053962" y="4008359"/>
            <a:ext cx="84204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战略重点</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8" name="object 8"/>
          <p:cNvSpPr txBox="1"/>
          <p:nvPr/>
        </p:nvSpPr>
        <p:spPr>
          <a:xfrm>
            <a:off x="849586" y="5027192"/>
            <a:ext cx="1251968" cy="506095"/>
          </a:xfrm>
          <a:prstGeom prst="rect">
            <a:avLst/>
          </a:prstGeom>
        </p:spPr>
        <p:txBody>
          <a:bodyPr vert="horz" wrap="square" lIns="0" tIns="10787" rIns="0" bIns="0" rtlCol="0">
            <a:spAutoFit/>
          </a:bodyPr>
          <a:lstStyle/>
          <a:p>
            <a:pPr marL="318770" marR="5080" indent="-306705">
              <a:lnSpc>
                <a:spcPct val="101000"/>
              </a:lnSpc>
              <a:spcBef>
                <a:spcPts val="85"/>
              </a:spcBef>
            </a:pPr>
            <a:r>
              <a:rPr sz="1600" b="1" spc="5" dirty="0">
                <a:solidFill>
                  <a:srgbClr val="0066CC"/>
                </a:solidFill>
                <a:latin typeface="微软雅黑" panose="020B0503020204020204" charset="-122"/>
                <a:ea typeface="微软雅黑" panose="020B0503020204020204" charset="-122"/>
                <a:cs typeface="微软雅黑" panose="020B0503020204020204" charset="-122"/>
              </a:rPr>
              <a:t>满足客户需求 </a:t>
            </a:r>
            <a:r>
              <a:rPr sz="1600" b="1" dirty="0">
                <a:solidFill>
                  <a:srgbClr val="0066CC"/>
                </a:solidFill>
                <a:latin typeface="微软雅黑" panose="020B0503020204020204" charset="-122"/>
                <a:ea typeface="微软雅黑" panose="020B0503020204020204" charset="-122"/>
                <a:cs typeface="微软雅黑" panose="020B0503020204020204" charset="-122"/>
              </a:rPr>
              <a:t>的能力</a:t>
            </a:r>
            <a:endParaRPr sz="1600">
              <a:latin typeface="微软雅黑" panose="020B0503020204020204" charset="-122"/>
              <a:ea typeface="微软雅黑" panose="020B0503020204020204" charset="-122"/>
              <a:cs typeface="微软雅黑" panose="020B0503020204020204" charset="-122"/>
            </a:endParaRPr>
          </a:p>
        </p:txBody>
      </p:sp>
      <p:sp>
        <p:nvSpPr>
          <p:cNvPr id="9" name="object 9"/>
          <p:cNvSpPr/>
          <p:nvPr/>
        </p:nvSpPr>
        <p:spPr>
          <a:xfrm>
            <a:off x="489047" y="1129468"/>
            <a:ext cx="6608841" cy="4710013"/>
          </a:xfrm>
          <a:prstGeom prst="rect">
            <a:avLst/>
          </a:prstGeom>
          <a:blipFill>
            <a:blip r:embed="rId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txBox="1"/>
          <p:nvPr/>
        </p:nvSpPr>
        <p:spPr>
          <a:xfrm>
            <a:off x="3712119" y="2093363"/>
            <a:ext cx="637723"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影响力</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11" name="object 11"/>
          <p:cNvSpPr txBox="1"/>
          <p:nvPr/>
        </p:nvSpPr>
        <p:spPr>
          <a:xfrm>
            <a:off x="3610082" y="4579962"/>
            <a:ext cx="84204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战略意义</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12" name="object 12"/>
          <p:cNvSpPr txBox="1"/>
          <p:nvPr/>
        </p:nvSpPr>
        <p:spPr>
          <a:xfrm>
            <a:off x="5537466" y="1091586"/>
            <a:ext cx="84204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客户层级</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13" name="object 13"/>
          <p:cNvSpPr txBox="1"/>
          <p:nvPr/>
        </p:nvSpPr>
        <p:spPr>
          <a:xfrm>
            <a:off x="6168589" y="1703800"/>
            <a:ext cx="171963" cy="257175"/>
          </a:xfrm>
          <a:prstGeom prst="rect">
            <a:avLst/>
          </a:prstGeom>
        </p:spPr>
        <p:txBody>
          <a:bodyPr vert="horz" wrap="square" lIns="0" tIns="12056" rIns="0" bIns="0" rtlCol="0">
            <a:spAutoFit/>
          </a:bodyPr>
          <a:lstStyle/>
          <a:p>
            <a:pPr marL="12700">
              <a:lnSpc>
                <a:spcPct val="100000"/>
              </a:lnSpc>
              <a:spcBef>
                <a:spcPts val="95"/>
              </a:spcBef>
            </a:pPr>
            <a:r>
              <a:rPr sz="1600" b="1" spc="-5" dirty="0">
                <a:solidFill>
                  <a:srgbClr val="FFFFFF"/>
                </a:solidFill>
                <a:latin typeface="微软雅黑" panose="020B0503020204020204" charset="-122"/>
                <a:ea typeface="微软雅黑" panose="020B0503020204020204" charset="-122"/>
                <a:cs typeface="Arial" panose="020B0604020202020204"/>
              </a:rPr>
              <a:t>A</a:t>
            </a:r>
            <a:endParaRPr sz="1600" b="1" spc="-5" dirty="0">
              <a:solidFill>
                <a:srgbClr val="FFFFFF"/>
              </a:solidFill>
              <a:latin typeface="微软雅黑" panose="020B0503020204020204" charset="-122"/>
              <a:ea typeface="微软雅黑" panose="020B0503020204020204" charset="-122"/>
              <a:cs typeface="Arial" panose="020B0604020202020204"/>
            </a:endParaRPr>
          </a:p>
        </p:txBody>
      </p:sp>
      <p:sp>
        <p:nvSpPr>
          <p:cNvPr id="14" name="object 14"/>
          <p:cNvSpPr txBox="1"/>
          <p:nvPr/>
        </p:nvSpPr>
        <p:spPr>
          <a:xfrm>
            <a:off x="6168589" y="2594074"/>
            <a:ext cx="171963" cy="257175"/>
          </a:xfrm>
          <a:prstGeom prst="rect">
            <a:avLst/>
          </a:prstGeom>
        </p:spPr>
        <p:txBody>
          <a:bodyPr vert="horz" wrap="square" lIns="0" tIns="12056" rIns="0" bIns="0" rtlCol="0">
            <a:spAutoFit/>
          </a:bodyPr>
          <a:lstStyle/>
          <a:p>
            <a:pPr marL="12700">
              <a:lnSpc>
                <a:spcPct val="100000"/>
              </a:lnSpc>
              <a:spcBef>
                <a:spcPts val="95"/>
              </a:spcBef>
            </a:pPr>
            <a:r>
              <a:rPr sz="1600" b="1" spc="-5" dirty="0">
                <a:solidFill>
                  <a:srgbClr val="00295F"/>
                </a:solidFill>
                <a:latin typeface="微软雅黑" panose="020B0503020204020204" charset="-122"/>
                <a:ea typeface="微软雅黑" panose="020B0503020204020204" charset="-122"/>
                <a:cs typeface="Arial" panose="020B0604020202020204"/>
              </a:rPr>
              <a:t>B</a:t>
            </a:r>
            <a:endParaRPr sz="1600" b="1" spc="-5" dirty="0">
              <a:solidFill>
                <a:srgbClr val="00295F"/>
              </a:solidFill>
              <a:latin typeface="微软雅黑" panose="020B0503020204020204" charset="-122"/>
              <a:ea typeface="微软雅黑" panose="020B0503020204020204" charset="-122"/>
              <a:cs typeface="Arial" panose="020B0604020202020204"/>
            </a:endParaRPr>
          </a:p>
        </p:txBody>
      </p:sp>
      <p:sp>
        <p:nvSpPr>
          <p:cNvPr id="15" name="object 15"/>
          <p:cNvSpPr txBox="1"/>
          <p:nvPr/>
        </p:nvSpPr>
        <p:spPr>
          <a:xfrm>
            <a:off x="6167956" y="3447925"/>
            <a:ext cx="171963" cy="257175"/>
          </a:xfrm>
          <a:prstGeom prst="rect">
            <a:avLst/>
          </a:prstGeom>
        </p:spPr>
        <p:txBody>
          <a:bodyPr vert="horz" wrap="square" lIns="0" tIns="12056" rIns="0" bIns="0" rtlCol="0">
            <a:spAutoFit/>
          </a:bodyPr>
          <a:lstStyle/>
          <a:p>
            <a:pPr marL="12700">
              <a:lnSpc>
                <a:spcPct val="100000"/>
              </a:lnSpc>
              <a:spcBef>
                <a:spcPts val="95"/>
              </a:spcBef>
            </a:pPr>
            <a:r>
              <a:rPr sz="1600" b="1" spc="-5" dirty="0">
                <a:solidFill>
                  <a:srgbClr val="00295F"/>
                </a:solidFill>
                <a:latin typeface="微软雅黑" panose="020B0503020204020204" charset="-122"/>
                <a:ea typeface="微软雅黑" panose="020B0503020204020204" charset="-122"/>
                <a:cs typeface="Arial" panose="020B0604020202020204"/>
              </a:rPr>
              <a:t>C</a:t>
            </a:r>
            <a:endParaRPr sz="1600" b="1" spc="-5" dirty="0">
              <a:solidFill>
                <a:srgbClr val="00295F"/>
              </a:solidFill>
              <a:latin typeface="微软雅黑" panose="020B0503020204020204" charset="-122"/>
              <a:ea typeface="微软雅黑" panose="020B0503020204020204" charset="-122"/>
              <a:cs typeface="Arial" panose="020B0604020202020204"/>
            </a:endParaRPr>
          </a:p>
        </p:txBody>
      </p:sp>
      <p:sp>
        <p:nvSpPr>
          <p:cNvPr id="16" name="object 16"/>
          <p:cNvSpPr txBox="1"/>
          <p:nvPr/>
        </p:nvSpPr>
        <p:spPr>
          <a:xfrm>
            <a:off x="6167956" y="4291877"/>
            <a:ext cx="171963" cy="257175"/>
          </a:xfrm>
          <a:prstGeom prst="rect">
            <a:avLst/>
          </a:prstGeom>
        </p:spPr>
        <p:txBody>
          <a:bodyPr vert="horz" wrap="square" lIns="0" tIns="12056" rIns="0" bIns="0" rtlCol="0">
            <a:spAutoFit/>
          </a:bodyPr>
          <a:lstStyle/>
          <a:p>
            <a:pPr marL="12700">
              <a:lnSpc>
                <a:spcPct val="100000"/>
              </a:lnSpc>
              <a:spcBef>
                <a:spcPts val="95"/>
              </a:spcBef>
            </a:pPr>
            <a:r>
              <a:rPr sz="1600" b="1" spc="-5" dirty="0">
                <a:solidFill>
                  <a:srgbClr val="FFFFFF"/>
                </a:solidFill>
                <a:latin typeface="微软雅黑" panose="020B0503020204020204" charset="-122"/>
                <a:ea typeface="微软雅黑" panose="020B0503020204020204" charset="-122"/>
                <a:cs typeface="Arial" panose="020B0604020202020204"/>
              </a:rPr>
              <a:t>D</a:t>
            </a:r>
            <a:endParaRPr sz="1600" b="1" spc="-5" dirty="0">
              <a:solidFill>
                <a:srgbClr val="FFFFFF"/>
              </a:solidFill>
              <a:latin typeface="微软雅黑" panose="020B0503020204020204" charset="-122"/>
              <a:ea typeface="微软雅黑" panose="020B0503020204020204" charset="-122"/>
              <a:cs typeface="Arial" panose="020B0604020202020204"/>
            </a:endParaRPr>
          </a:p>
        </p:txBody>
      </p:sp>
      <p:sp>
        <p:nvSpPr>
          <p:cNvPr id="17" name="object 17"/>
          <p:cNvSpPr txBox="1"/>
          <p:nvPr/>
        </p:nvSpPr>
        <p:spPr>
          <a:xfrm>
            <a:off x="6173413" y="5170856"/>
            <a:ext cx="160541" cy="257175"/>
          </a:xfrm>
          <a:prstGeom prst="rect">
            <a:avLst/>
          </a:prstGeom>
        </p:spPr>
        <p:txBody>
          <a:bodyPr vert="horz" wrap="square" lIns="0" tIns="12056" rIns="0" bIns="0" rtlCol="0">
            <a:spAutoFit/>
          </a:bodyPr>
          <a:lstStyle/>
          <a:p>
            <a:pPr marL="12700">
              <a:lnSpc>
                <a:spcPct val="100000"/>
              </a:lnSpc>
              <a:spcBef>
                <a:spcPts val="95"/>
              </a:spcBef>
            </a:pPr>
            <a:r>
              <a:rPr sz="1600" b="1" spc="-5" dirty="0">
                <a:solidFill>
                  <a:srgbClr val="959595"/>
                </a:solidFill>
                <a:latin typeface="微软雅黑" panose="020B0503020204020204" charset="-122"/>
                <a:ea typeface="微软雅黑" panose="020B0503020204020204" charset="-122"/>
                <a:cs typeface="Arial" panose="020B0604020202020204"/>
              </a:rPr>
              <a:t>E</a:t>
            </a:r>
            <a:endParaRPr sz="1600" b="1" spc="-5" dirty="0">
              <a:solidFill>
                <a:srgbClr val="959595"/>
              </a:solidFill>
              <a:latin typeface="微软雅黑" panose="020B0503020204020204" charset="-122"/>
              <a:ea typeface="微软雅黑" panose="020B0503020204020204" charset="-122"/>
              <a:cs typeface="Arial" panose="020B0604020202020204"/>
            </a:endParaRPr>
          </a:p>
        </p:txBody>
      </p:sp>
      <p:sp>
        <p:nvSpPr>
          <p:cNvPr id="18" name="object 18"/>
          <p:cNvSpPr txBox="1"/>
          <p:nvPr/>
        </p:nvSpPr>
        <p:spPr>
          <a:xfrm>
            <a:off x="7268139" y="2215882"/>
            <a:ext cx="1233566" cy="2360930"/>
          </a:xfrm>
          <a:prstGeom prst="rect">
            <a:avLst/>
          </a:prstGeom>
          <a:solidFill>
            <a:srgbClr val="C6DFFA"/>
          </a:solidFill>
          <a:ln w="28575">
            <a:solidFill>
              <a:srgbClr val="0066CC"/>
            </a:solidFill>
          </a:ln>
        </p:spPr>
        <p:txBody>
          <a:bodyPr vert="horz" wrap="square" lIns="0" tIns="144042" rIns="0" bIns="0" rtlCol="0">
            <a:spAutoFit/>
          </a:bodyPr>
          <a:lstStyle/>
          <a:p>
            <a:pPr marL="71755" marR="141605">
              <a:lnSpc>
                <a:spcPct val="100000"/>
              </a:lnSpc>
              <a:spcBef>
                <a:spcPts val="1135"/>
              </a:spcBef>
            </a:pPr>
            <a:r>
              <a:rPr sz="1600" spc="-5" dirty="0">
                <a:latin typeface="微软雅黑" panose="020B0503020204020204" charset="-122"/>
                <a:ea typeface="微软雅黑" panose="020B0503020204020204" charset="-122"/>
                <a:cs typeface="微软雅黑" panose="020B0503020204020204" charset="-122"/>
              </a:rPr>
              <a:t>可以将间接 渠道（例如</a:t>
            </a:r>
            <a:endParaRPr sz="1600">
              <a:latin typeface="微软雅黑" panose="020B0503020204020204" charset="-122"/>
              <a:ea typeface="微软雅黑" panose="020B0503020204020204" charset="-122"/>
              <a:cs typeface="微软雅黑" panose="020B0503020204020204" charset="-122"/>
            </a:endParaRPr>
          </a:p>
          <a:p>
            <a:pPr marL="71755">
              <a:lnSpc>
                <a:spcPct val="100000"/>
              </a:lnSpc>
            </a:pPr>
            <a:r>
              <a:rPr sz="1600" spc="-5" dirty="0">
                <a:latin typeface="微软雅黑" panose="020B0503020204020204" charset="-122"/>
                <a:ea typeface="微软雅黑" panose="020B0503020204020204" charset="-122"/>
                <a:cs typeface="微软雅黑" panose="020B0503020204020204" charset="-122"/>
              </a:rPr>
              <a:t>，大分销商</a:t>
            </a:r>
            <a:endParaRPr sz="1600">
              <a:latin typeface="微软雅黑" panose="020B0503020204020204" charset="-122"/>
              <a:ea typeface="微软雅黑" panose="020B0503020204020204" charset="-122"/>
              <a:cs typeface="微软雅黑" panose="020B0503020204020204" charset="-122"/>
            </a:endParaRPr>
          </a:p>
          <a:p>
            <a:pPr marL="71755" marR="141605" algn="just">
              <a:lnSpc>
                <a:spcPct val="100000"/>
              </a:lnSpc>
            </a:pPr>
            <a:r>
              <a:rPr sz="1600" spc="-5" dirty="0">
                <a:latin typeface="微软雅黑" panose="020B0503020204020204" charset="-122"/>
                <a:ea typeface="微软雅黑" panose="020B0503020204020204" charset="-122"/>
                <a:cs typeface="微软雅黑" panose="020B0503020204020204" charset="-122"/>
              </a:rPr>
              <a:t>）作为大客 </a:t>
            </a:r>
            <a:r>
              <a:rPr sz="1600" spc="-10" dirty="0">
                <a:latin typeface="微软雅黑" panose="020B0503020204020204" charset="-122"/>
                <a:ea typeface="微软雅黑" panose="020B0503020204020204" charset="-122"/>
                <a:cs typeface="微软雅黑" panose="020B0503020204020204" charset="-122"/>
              </a:rPr>
              <a:t>户进行优先 </a:t>
            </a:r>
            <a:r>
              <a:rPr sz="1600" spc="-5" dirty="0">
                <a:latin typeface="微软雅黑" panose="020B0503020204020204" charset="-122"/>
                <a:ea typeface="微软雅黑" panose="020B0503020204020204" charset="-122"/>
                <a:cs typeface="微软雅黑" panose="020B0503020204020204" charset="-122"/>
              </a:rPr>
              <a:t>排序、管理</a:t>
            </a:r>
            <a:endParaRPr sz="1600">
              <a:latin typeface="微软雅黑" panose="020B0503020204020204" charset="-122"/>
              <a:ea typeface="微软雅黑" panose="020B0503020204020204" charset="-122"/>
              <a:cs typeface="微软雅黑" panose="020B0503020204020204" charset="-122"/>
            </a:endParaRPr>
          </a:p>
          <a:p>
            <a:pPr marL="71755" marR="141605">
              <a:lnSpc>
                <a:spcPct val="100000"/>
              </a:lnSpc>
              <a:spcBef>
                <a:spcPts val="5"/>
              </a:spcBef>
            </a:pPr>
            <a:r>
              <a:rPr sz="1600" spc="-5" dirty="0">
                <a:latin typeface="微软雅黑" panose="020B0503020204020204" charset="-122"/>
                <a:ea typeface="微软雅黑" panose="020B0503020204020204" charset="-122"/>
                <a:cs typeface="微软雅黑" panose="020B0503020204020204" charset="-122"/>
              </a:rPr>
              <a:t>，将在渠道 管理子模块</a:t>
            </a:r>
            <a:endParaRPr sz="1600">
              <a:latin typeface="微软雅黑" panose="020B0503020204020204" charset="-122"/>
              <a:ea typeface="微软雅黑" panose="020B0503020204020204" charset="-122"/>
              <a:cs typeface="微软雅黑" panose="020B0503020204020204" charset="-122"/>
            </a:endParaRPr>
          </a:p>
          <a:p>
            <a:pPr marL="71755">
              <a:lnSpc>
                <a:spcPct val="100000"/>
              </a:lnSpc>
              <a:spcBef>
                <a:spcPts val="10"/>
              </a:spcBef>
            </a:pPr>
            <a:r>
              <a:rPr sz="1600" spc="-5" dirty="0">
                <a:latin typeface="微软雅黑" panose="020B0503020204020204" charset="-122"/>
                <a:ea typeface="微软雅黑" panose="020B0503020204020204" charset="-122"/>
                <a:cs typeface="微软雅黑" panose="020B0503020204020204" charset="-122"/>
              </a:rPr>
              <a:t>中细阐述</a:t>
            </a:r>
            <a:endParaRPr sz="1600">
              <a:latin typeface="微软雅黑" panose="020B0503020204020204" charset="-122"/>
              <a:ea typeface="微软雅黑" panose="020B0503020204020204" charset="-122"/>
              <a:cs typeface="微软雅黑" panose="020B0503020204020204" charset="-122"/>
            </a:endParaRPr>
          </a:p>
        </p:txBody>
      </p:sp>
      <p:sp>
        <p:nvSpPr>
          <p:cNvPr id="19" name="object 19"/>
          <p:cNvSpPr txBox="1"/>
          <p:nvPr/>
        </p:nvSpPr>
        <p:spPr>
          <a:xfrm>
            <a:off x="106401" y="6412696"/>
            <a:ext cx="2191102"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35"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a:t>
            </a:r>
            <a:r>
              <a:rPr sz="1000" spc="-35"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营销和销售业务部</a:t>
            </a:r>
            <a:endParaRPr sz="10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56962" y="203088"/>
            <a:ext cx="2682879" cy="303530"/>
          </a:xfrm>
          <a:prstGeom prst="rect">
            <a:avLst/>
          </a:prstGeom>
        </p:spPr>
        <p:txBody>
          <a:bodyPr vert="horz" wrap="square" lIns="0" tIns="12056" rIns="0" bIns="0" rtlCol="0">
            <a:spAutoFit/>
          </a:bodyPr>
          <a:lstStyle/>
          <a:p>
            <a:pPr marL="12700">
              <a:lnSpc>
                <a:spcPct val="100000"/>
              </a:lnSpc>
              <a:spcBef>
                <a:spcPts val="95"/>
              </a:spcBef>
            </a:pPr>
            <a:r>
              <a:rPr dirty="0">
                <a:ea typeface="微软雅黑" panose="020B0503020204020204" charset="-122"/>
              </a:rPr>
              <a:t>大客户管理</a:t>
            </a:r>
            <a:r>
              <a:rPr spc="-10" dirty="0">
                <a:ea typeface="微软雅黑" panose="020B0503020204020204" charset="-122"/>
              </a:rPr>
              <a:t>包括</a:t>
            </a:r>
            <a:r>
              <a:rPr spc="5" dirty="0">
                <a:ea typeface="微软雅黑" panose="020B0503020204020204" charset="-122"/>
              </a:rPr>
              <a:t>五</a:t>
            </a:r>
            <a:r>
              <a:rPr spc="-10" dirty="0">
                <a:ea typeface="微软雅黑" panose="020B0503020204020204" charset="-122"/>
              </a:rPr>
              <a:t>大要素</a:t>
            </a:r>
            <a:endParaRPr spc="-10" dirty="0">
              <a:ea typeface="微软雅黑" panose="020B0503020204020204" charset="-122"/>
            </a:endParaRPr>
          </a:p>
        </p:txBody>
      </p:sp>
      <p:sp>
        <p:nvSpPr>
          <p:cNvPr id="4" name="object 4"/>
          <p:cNvSpPr/>
          <p:nvPr/>
        </p:nvSpPr>
        <p:spPr>
          <a:xfrm>
            <a:off x="4074573" y="1323450"/>
            <a:ext cx="2679071" cy="1951242"/>
          </a:xfrm>
          <a:custGeom>
            <a:avLst/>
            <a:gdLst/>
            <a:ahLst/>
            <a:cxnLst/>
            <a:rect l="l" t="t" r="r" b="b"/>
            <a:pathLst>
              <a:path w="2680970" h="1952625">
                <a:moveTo>
                  <a:pt x="1977643" y="0"/>
                </a:moveTo>
                <a:lnTo>
                  <a:pt x="0" y="0"/>
                </a:lnTo>
                <a:lnTo>
                  <a:pt x="703072" y="1952244"/>
                </a:lnTo>
                <a:lnTo>
                  <a:pt x="2680716" y="1952244"/>
                </a:lnTo>
                <a:lnTo>
                  <a:pt x="197764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p:nvPr/>
        </p:nvSpPr>
        <p:spPr>
          <a:xfrm>
            <a:off x="4074573" y="1323450"/>
            <a:ext cx="2679071" cy="1951242"/>
          </a:xfrm>
          <a:custGeom>
            <a:avLst/>
            <a:gdLst/>
            <a:ahLst/>
            <a:cxnLst/>
            <a:rect l="l" t="t" r="r" b="b"/>
            <a:pathLst>
              <a:path w="2680970" h="1952625">
                <a:moveTo>
                  <a:pt x="0" y="0"/>
                </a:moveTo>
                <a:lnTo>
                  <a:pt x="1977643" y="0"/>
                </a:lnTo>
                <a:lnTo>
                  <a:pt x="2680716" y="1952244"/>
                </a:lnTo>
                <a:lnTo>
                  <a:pt x="703072"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4074573" y="3274312"/>
            <a:ext cx="4655695" cy="1949338"/>
          </a:xfrm>
          <a:custGeom>
            <a:avLst/>
            <a:gdLst/>
            <a:ahLst/>
            <a:cxnLst/>
            <a:rect l="l" t="t" r="r" b="b"/>
            <a:pathLst>
              <a:path w="4658995" h="1950720">
                <a:moveTo>
                  <a:pt x="4658868" y="0"/>
                </a:moveTo>
                <a:lnTo>
                  <a:pt x="703199" y="0"/>
                </a:lnTo>
                <a:lnTo>
                  <a:pt x="0" y="1950720"/>
                </a:lnTo>
                <a:lnTo>
                  <a:pt x="3955668" y="1950720"/>
                </a:lnTo>
                <a:lnTo>
                  <a:pt x="4658868"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4074573" y="3274312"/>
            <a:ext cx="4655695" cy="1949338"/>
          </a:xfrm>
          <a:custGeom>
            <a:avLst/>
            <a:gdLst/>
            <a:ahLst/>
            <a:cxnLst/>
            <a:rect l="l" t="t" r="r" b="b"/>
            <a:pathLst>
              <a:path w="4658995" h="1950720">
                <a:moveTo>
                  <a:pt x="4658868" y="0"/>
                </a:moveTo>
                <a:lnTo>
                  <a:pt x="3955668" y="1950720"/>
                </a:lnTo>
                <a:lnTo>
                  <a:pt x="0" y="1950720"/>
                </a:lnTo>
                <a:lnTo>
                  <a:pt x="703199" y="0"/>
                </a:lnTo>
                <a:lnTo>
                  <a:pt x="4658868"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6051325" y="1323450"/>
            <a:ext cx="2679071" cy="1951242"/>
          </a:xfrm>
          <a:custGeom>
            <a:avLst/>
            <a:gdLst/>
            <a:ahLst/>
            <a:cxnLst/>
            <a:rect l="l" t="t" r="r" b="b"/>
            <a:pathLst>
              <a:path w="2680970" h="1952625">
                <a:moveTo>
                  <a:pt x="1977643" y="0"/>
                </a:moveTo>
                <a:lnTo>
                  <a:pt x="0" y="0"/>
                </a:lnTo>
                <a:lnTo>
                  <a:pt x="703071" y="1952244"/>
                </a:lnTo>
                <a:lnTo>
                  <a:pt x="2680716" y="1952244"/>
                </a:lnTo>
                <a:lnTo>
                  <a:pt x="197764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6051325" y="1323450"/>
            <a:ext cx="2679071" cy="1951242"/>
          </a:xfrm>
          <a:custGeom>
            <a:avLst/>
            <a:gdLst/>
            <a:ahLst/>
            <a:cxnLst/>
            <a:rect l="l" t="t" r="r" b="b"/>
            <a:pathLst>
              <a:path w="2680970" h="1952625">
                <a:moveTo>
                  <a:pt x="0" y="0"/>
                </a:moveTo>
                <a:lnTo>
                  <a:pt x="1977643" y="0"/>
                </a:lnTo>
                <a:lnTo>
                  <a:pt x="2680716" y="1952244"/>
                </a:lnTo>
                <a:lnTo>
                  <a:pt x="703071"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119549" y="1323450"/>
            <a:ext cx="2680340" cy="3900581"/>
          </a:xfrm>
          <a:custGeom>
            <a:avLst/>
            <a:gdLst/>
            <a:ahLst/>
            <a:cxnLst/>
            <a:rect l="l" t="t" r="r" b="b"/>
            <a:pathLst>
              <a:path w="2682240" h="3903345">
                <a:moveTo>
                  <a:pt x="1978787" y="0"/>
                </a:moveTo>
                <a:lnTo>
                  <a:pt x="0" y="0"/>
                </a:lnTo>
                <a:lnTo>
                  <a:pt x="0" y="3902964"/>
                </a:lnTo>
                <a:lnTo>
                  <a:pt x="1978787" y="3902964"/>
                </a:lnTo>
                <a:lnTo>
                  <a:pt x="2682240" y="1952244"/>
                </a:lnTo>
                <a:lnTo>
                  <a:pt x="1978787"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119549" y="1323450"/>
            <a:ext cx="2680340" cy="3900581"/>
          </a:xfrm>
          <a:custGeom>
            <a:avLst/>
            <a:gdLst/>
            <a:ahLst/>
            <a:cxnLst/>
            <a:rect l="l" t="t" r="r" b="b"/>
            <a:pathLst>
              <a:path w="2682240" h="3903345">
                <a:moveTo>
                  <a:pt x="0" y="0"/>
                </a:moveTo>
                <a:lnTo>
                  <a:pt x="1978787" y="0"/>
                </a:lnTo>
                <a:lnTo>
                  <a:pt x="2682240" y="1952244"/>
                </a:lnTo>
                <a:lnTo>
                  <a:pt x="1978787" y="3902964"/>
                </a:lnTo>
                <a:lnTo>
                  <a:pt x="0" y="3902964"/>
                </a:lnTo>
                <a:lnTo>
                  <a:pt x="0"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169043" y="1538944"/>
            <a:ext cx="1926495" cy="3359944"/>
          </a:xfrm>
          <a:custGeom>
            <a:avLst/>
            <a:gdLst/>
            <a:ahLst/>
            <a:cxnLst/>
            <a:rect l="l" t="t" r="r" b="b"/>
            <a:pathLst>
              <a:path w="1927860" h="3362325">
                <a:moveTo>
                  <a:pt x="0" y="3361944"/>
                </a:moveTo>
                <a:lnTo>
                  <a:pt x="1927860" y="3361944"/>
                </a:lnTo>
                <a:lnTo>
                  <a:pt x="1927860" y="0"/>
                </a:lnTo>
                <a:lnTo>
                  <a:pt x="0" y="0"/>
                </a:lnTo>
                <a:lnTo>
                  <a:pt x="0" y="336194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txBox="1"/>
          <p:nvPr/>
        </p:nvSpPr>
        <p:spPr>
          <a:xfrm>
            <a:off x="5439110" y="3524071"/>
            <a:ext cx="434032"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组织</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14" name="object 14"/>
          <p:cNvSpPr/>
          <p:nvPr/>
        </p:nvSpPr>
        <p:spPr>
          <a:xfrm>
            <a:off x="4876519" y="3421020"/>
            <a:ext cx="385807" cy="501295"/>
          </a:xfrm>
          <a:custGeom>
            <a:avLst/>
            <a:gdLst/>
            <a:ahLst/>
            <a:cxnLst/>
            <a:rect l="l" t="t" r="r" b="b"/>
            <a:pathLst>
              <a:path w="386079" h="501650">
                <a:moveTo>
                  <a:pt x="188213" y="0"/>
                </a:moveTo>
                <a:lnTo>
                  <a:pt x="146496" y="4355"/>
                </a:lnTo>
                <a:lnTo>
                  <a:pt x="109553" y="17414"/>
                </a:lnTo>
                <a:lnTo>
                  <a:pt x="77396" y="39165"/>
                </a:lnTo>
                <a:lnTo>
                  <a:pt x="50037" y="69595"/>
                </a:lnTo>
                <a:lnTo>
                  <a:pt x="28128" y="107053"/>
                </a:lnTo>
                <a:lnTo>
                  <a:pt x="12493" y="149891"/>
                </a:lnTo>
                <a:lnTo>
                  <a:pt x="3121" y="198112"/>
                </a:lnTo>
                <a:lnTo>
                  <a:pt x="0" y="251713"/>
                </a:lnTo>
                <a:lnTo>
                  <a:pt x="1549" y="289958"/>
                </a:lnTo>
                <a:lnTo>
                  <a:pt x="13983" y="358780"/>
                </a:lnTo>
                <a:lnTo>
                  <a:pt x="38179" y="416647"/>
                </a:lnTo>
                <a:lnTo>
                  <a:pt x="69611" y="459319"/>
                </a:lnTo>
                <a:lnTo>
                  <a:pt x="108547" y="486487"/>
                </a:lnTo>
                <a:lnTo>
                  <a:pt x="160605" y="499961"/>
                </a:lnTo>
                <a:lnTo>
                  <a:pt x="191897" y="501650"/>
                </a:lnTo>
                <a:lnTo>
                  <a:pt x="227782" y="499695"/>
                </a:lnTo>
                <a:lnTo>
                  <a:pt x="286265" y="484022"/>
                </a:lnTo>
                <a:lnTo>
                  <a:pt x="328509" y="452014"/>
                </a:lnTo>
                <a:lnTo>
                  <a:pt x="363370" y="400147"/>
                </a:lnTo>
                <a:lnTo>
                  <a:pt x="366288" y="393700"/>
                </a:lnTo>
                <a:lnTo>
                  <a:pt x="194817" y="393700"/>
                </a:lnTo>
                <a:lnTo>
                  <a:pt x="180578" y="391747"/>
                </a:lnTo>
                <a:lnTo>
                  <a:pt x="146430" y="362457"/>
                </a:lnTo>
                <a:lnTo>
                  <a:pt x="132125" y="317184"/>
                </a:lnTo>
                <a:lnTo>
                  <a:pt x="129794" y="296417"/>
                </a:lnTo>
                <a:lnTo>
                  <a:pt x="385825" y="296417"/>
                </a:lnTo>
                <a:lnTo>
                  <a:pt x="385825" y="275716"/>
                </a:lnTo>
                <a:lnTo>
                  <a:pt x="384468" y="230499"/>
                </a:lnTo>
                <a:lnTo>
                  <a:pt x="382249" y="208279"/>
                </a:lnTo>
                <a:lnTo>
                  <a:pt x="130175" y="208279"/>
                </a:lnTo>
                <a:lnTo>
                  <a:pt x="132244" y="188162"/>
                </a:lnTo>
                <a:lnTo>
                  <a:pt x="144907" y="143763"/>
                </a:lnTo>
                <a:lnTo>
                  <a:pt x="179071" y="111134"/>
                </a:lnTo>
                <a:lnTo>
                  <a:pt x="193548" y="108965"/>
                </a:lnTo>
                <a:lnTo>
                  <a:pt x="358683" y="108965"/>
                </a:lnTo>
                <a:lnTo>
                  <a:pt x="352087" y="93678"/>
                </a:lnTo>
                <a:lnTo>
                  <a:pt x="320567" y="48529"/>
                </a:lnTo>
                <a:lnTo>
                  <a:pt x="278493" y="17573"/>
                </a:lnTo>
                <a:lnTo>
                  <a:pt x="222053" y="1952"/>
                </a:lnTo>
                <a:lnTo>
                  <a:pt x="188213" y="0"/>
                </a:lnTo>
                <a:close/>
              </a:path>
              <a:path w="386079" h="501650">
                <a:moveTo>
                  <a:pt x="252729" y="349757"/>
                </a:moveTo>
                <a:lnTo>
                  <a:pt x="221910" y="386038"/>
                </a:lnTo>
                <a:lnTo>
                  <a:pt x="194817" y="393700"/>
                </a:lnTo>
                <a:lnTo>
                  <a:pt x="366288" y="393700"/>
                </a:lnTo>
                <a:lnTo>
                  <a:pt x="378587" y="366521"/>
                </a:lnTo>
                <a:lnTo>
                  <a:pt x="252729" y="349757"/>
                </a:lnTo>
                <a:close/>
              </a:path>
              <a:path w="386079" h="501650">
                <a:moveTo>
                  <a:pt x="358683" y="108965"/>
                </a:moveTo>
                <a:lnTo>
                  <a:pt x="193548" y="108965"/>
                </a:lnTo>
                <a:lnTo>
                  <a:pt x="206069" y="110396"/>
                </a:lnTo>
                <a:lnTo>
                  <a:pt x="217328" y="114696"/>
                </a:lnTo>
                <a:lnTo>
                  <a:pt x="243278" y="145379"/>
                </a:lnTo>
                <a:lnTo>
                  <a:pt x="253236" y="183566"/>
                </a:lnTo>
                <a:lnTo>
                  <a:pt x="255904" y="208279"/>
                </a:lnTo>
                <a:lnTo>
                  <a:pt x="382249" y="208279"/>
                </a:lnTo>
                <a:lnTo>
                  <a:pt x="380396" y="189722"/>
                </a:lnTo>
                <a:lnTo>
                  <a:pt x="373610" y="153398"/>
                </a:lnTo>
                <a:lnTo>
                  <a:pt x="364109" y="121538"/>
                </a:lnTo>
                <a:lnTo>
                  <a:pt x="358683" y="108965"/>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6458199" y="1433354"/>
            <a:ext cx="385807" cy="501295"/>
          </a:xfrm>
          <a:custGeom>
            <a:avLst/>
            <a:gdLst/>
            <a:ahLst/>
            <a:cxnLst/>
            <a:rect l="l" t="t" r="r" b="b"/>
            <a:pathLst>
              <a:path w="386079" h="501650">
                <a:moveTo>
                  <a:pt x="147827" y="127888"/>
                </a:moveTo>
                <a:lnTo>
                  <a:pt x="89074" y="139684"/>
                </a:lnTo>
                <a:lnTo>
                  <a:pt x="41655" y="175005"/>
                </a:lnTo>
                <a:lnTo>
                  <a:pt x="10398" y="232537"/>
                </a:lnTo>
                <a:lnTo>
                  <a:pt x="0" y="311023"/>
                </a:lnTo>
                <a:lnTo>
                  <a:pt x="2357" y="349244"/>
                </a:lnTo>
                <a:lnTo>
                  <a:pt x="21216" y="416732"/>
                </a:lnTo>
                <a:lnTo>
                  <a:pt x="58697" y="470360"/>
                </a:lnTo>
                <a:lnTo>
                  <a:pt x="113371" y="498173"/>
                </a:lnTo>
                <a:lnTo>
                  <a:pt x="147066" y="501650"/>
                </a:lnTo>
                <a:lnTo>
                  <a:pt x="164472" y="500675"/>
                </a:lnTo>
                <a:lnTo>
                  <a:pt x="211835" y="486155"/>
                </a:lnTo>
                <a:lnTo>
                  <a:pt x="247036" y="456116"/>
                </a:lnTo>
                <a:lnTo>
                  <a:pt x="259969" y="440689"/>
                </a:lnTo>
                <a:lnTo>
                  <a:pt x="385699" y="440689"/>
                </a:lnTo>
                <a:lnTo>
                  <a:pt x="385699" y="401319"/>
                </a:lnTo>
                <a:lnTo>
                  <a:pt x="191007" y="401319"/>
                </a:lnTo>
                <a:lnTo>
                  <a:pt x="179459" y="400034"/>
                </a:lnTo>
                <a:lnTo>
                  <a:pt x="143454" y="369226"/>
                </a:lnTo>
                <a:lnTo>
                  <a:pt x="134239" y="316738"/>
                </a:lnTo>
                <a:lnTo>
                  <a:pt x="135237" y="294997"/>
                </a:lnTo>
                <a:lnTo>
                  <a:pt x="150114" y="250062"/>
                </a:lnTo>
                <a:lnTo>
                  <a:pt x="189356" y="230250"/>
                </a:lnTo>
                <a:lnTo>
                  <a:pt x="385699" y="230250"/>
                </a:lnTo>
                <a:lnTo>
                  <a:pt x="385699" y="170941"/>
                </a:lnTo>
                <a:lnTo>
                  <a:pt x="250063" y="170941"/>
                </a:lnTo>
                <a:lnTo>
                  <a:pt x="239799" y="160847"/>
                </a:lnTo>
                <a:lnTo>
                  <a:pt x="228822" y="152098"/>
                </a:lnTo>
                <a:lnTo>
                  <a:pt x="191583" y="133943"/>
                </a:lnTo>
                <a:lnTo>
                  <a:pt x="163111" y="128557"/>
                </a:lnTo>
                <a:lnTo>
                  <a:pt x="147827" y="127888"/>
                </a:lnTo>
                <a:close/>
              </a:path>
              <a:path w="386079" h="501650">
                <a:moveTo>
                  <a:pt x="385699" y="440689"/>
                </a:moveTo>
                <a:lnTo>
                  <a:pt x="259969" y="440689"/>
                </a:lnTo>
                <a:lnTo>
                  <a:pt x="259969" y="493522"/>
                </a:lnTo>
                <a:lnTo>
                  <a:pt x="385699" y="493522"/>
                </a:lnTo>
                <a:lnTo>
                  <a:pt x="385699" y="440689"/>
                </a:lnTo>
                <a:close/>
              </a:path>
              <a:path w="386079" h="501650">
                <a:moveTo>
                  <a:pt x="385699" y="230250"/>
                </a:moveTo>
                <a:lnTo>
                  <a:pt x="189356" y="230250"/>
                </a:lnTo>
                <a:lnTo>
                  <a:pt x="202120" y="231538"/>
                </a:lnTo>
                <a:lnTo>
                  <a:pt x="213741" y="235410"/>
                </a:lnTo>
                <a:lnTo>
                  <a:pt x="241220" y="262647"/>
                </a:lnTo>
                <a:lnTo>
                  <a:pt x="251078" y="313689"/>
                </a:lnTo>
                <a:lnTo>
                  <a:pt x="250007" y="335311"/>
                </a:lnTo>
                <a:lnTo>
                  <a:pt x="233933" y="380746"/>
                </a:lnTo>
                <a:lnTo>
                  <a:pt x="191007" y="401319"/>
                </a:lnTo>
                <a:lnTo>
                  <a:pt x="385699" y="401319"/>
                </a:lnTo>
                <a:lnTo>
                  <a:pt x="385699" y="230250"/>
                </a:lnTo>
                <a:close/>
              </a:path>
              <a:path w="386079" h="501650">
                <a:moveTo>
                  <a:pt x="385699" y="0"/>
                </a:moveTo>
                <a:lnTo>
                  <a:pt x="250063" y="0"/>
                </a:lnTo>
                <a:lnTo>
                  <a:pt x="250063" y="170941"/>
                </a:lnTo>
                <a:lnTo>
                  <a:pt x="385699" y="170941"/>
                </a:lnTo>
                <a:lnTo>
                  <a:pt x="385699"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p:nvPr/>
        </p:nvSpPr>
        <p:spPr>
          <a:xfrm>
            <a:off x="253820" y="1433354"/>
            <a:ext cx="253820" cy="503198"/>
          </a:xfrm>
          <a:custGeom>
            <a:avLst/>
            <a:gdLst/>
            <a:ahLst/>
            <a:cxnLst/>
            <a:rect l="l" t="t" r="r" b="b"/>
            <a:pathLst>
              <a:path w="254000" h="503555">
                <a:moveTo>
                  <a:pt x="237734" y="109600"/>
                </a:moveTo>
                <a:lnTo>
                  <a:pt x="131673" y="109600"/>
                </a:lnTo>
                <a:lnTo>
                  <a:pt x="139160" y="110456"/>
                </a:lnTo>
                <a:lnTo>
                  <a:pt x="145427" y="113014"/>
                </a:lnTo>
                <a:lnTo>
                  <a:pt x="160341" y="155122"/>
                </a:lnTo>
                <a:lnTo>
                  <a:pt x="160743" y="170814"/>
                </a:lnTo>
                <a:lnTo>
                  <a:pt x="152959" y="177319"/>
                </a:lnTo>
                <a:lnTo>
                  <a:pt x="108359" y="204311"/>
                </a:lnTo>
                <a:lnTo>
                  <a:pt x="69164" y="222123"/>
                </a:lnTo>
                <a:lnTo>
                  <a:pt x="50883" y="231838"/>
                </a:lnTo>
                <a:lnTo>
                  <a:pt x="14744" y="274700"/>
                </a:lnTo>
                <a:lnTo>
                  <a:pt x="3686" y="314880"/>
                </a:lnTo>
                <a:lnTo>
                  <a:pt x="0" y="364871"/>
                </a:lnTo>
                <a:lnTo>
                  <a:pt x="1278" y="392947"/>
                </a:lnTo>
                <a:lnTo>
                  <a:pt x="11508" y="442148"/>
                </a:lnTo>
                <a:lnTo>
                  <a:pt x="31875" y="480724"/>
                </a:lnTo>
                <a:lnTo>
                  <a:pt x="80378" y="503174"/>
                </a:lnTo>
                <a:lnTo>
                  <a:pt x="94772" y="501933"/>
                </a:lnTo>
                <a:lnTo>
                  <a:pt x="132499" y="483235"/>
                </a:lnTo>
                <a:lnTo>
                  <a:pt x="157232" y="449516"/>
                </a:lnTo>
                <a:lnTo>
                  <a:pt x="165531" y="433324"/>
                </a:lnTo>
                <a:lnTo>
                  <a:pt x="244579" y="433324"/>
                </a:lnTo>
                <a:lnTo>
                  <a:pt x="244517" y="432556"/>
                </a:lnTo>
                <a:lnTo>
                  <a:pt x="243901" y="420163"/>
                </a:lnTo>
                <a:lnTo>
                  <a:pt x="243531" y="405937"/>
                </a:lnTo>
                <a:lnTo>
                  <a:pt x="243491" y="400685"/>
                </a:lnTo>
                <a:lnTo>
                  <a:pt x="103149" y="400685"/>
                </a:lnTo>
                <a:lnTo>
                  <a:pt x="85169" y="361660"/>
                </a:lnTo>
                <a:lnTo>
                  <a:pt x="84734" y="351281"/>
                </a:lnTo>
                <a:lnTo>
                  <a:pt x="85175" y="342016"/>
                </a:lnTo>
                <a:lnTo>
                  <a:pt x="103378" y="302656"/>
                </a:lnTo>
                <a:lnTo>
                  <a:pt x="133767" y="282424"/>
                </a:lnTo>
                <a:lnTo>
                  <a:pt x="142943" y="276637"/>
                </a:lnTo>
                <a:lnTo>
                  <a:pt x="151935" y="270422"/>
                </a:lnTo>
                <a:lnTo>
                  <a:pt x="160743" y="263778"/>
                </a:lnTo>
                <a:lnTo>
                  <a:pt x="243408" y="263778"/>
                </a:lnTo>
                <a:lnTo>
                  <a:pt x="243408" y="177164"/>
                </a:lnTo>
                <a:lnTo>
                  <a:pt x="243017" y="159976"/>
                </a:lnTo>
                <a:lnTo>
                  <a:pt x="241847" y="142335"/>
                </a:lnTo>
                <a:lnTo>
                  <a:pt x="239890" y="124205"/>
                </a:lnTo>
                <a:lnTo>
                  <a:pt x="237734" y="109600"/>
                </a:lnTo>
                <a:close/>
              </a:path>
              <a:path w="254000" h="503555">
                <a:moveTo>
                  <a:pt x="244579" y="433324"/>
                </a:moveTo>
                <a:lnTo>
                  <a:pt x="165531" y="433324"/>
                </a:lnTo>
                <a:lnTo>
                  <a:pt x="166256" y="443102"/>
                </a:lnTo>
                <a:lnTo>
                  <a:pt x="172481" y="483540"/>
                </a:lnTo>
                <a:lnTo>
                  <a:pt x="174663" y="492251"/>
                </a:lnTo>
                <a:lnTo>
                  <a:pt x="254000" y="492251"/>
                </a:lnTo>
                <a:lnTo>
                  <a:pt x="250968" y="477964"/>
                </a:lnTo>
                <a:lnTo>
                  <a:pt x="248521" y="465010"/>
                </a:lnTo>
                <a:lnTo>
                  <a:pt x="246658" y="453389"/>
                </a:lnTo>
                <a:lnTo>
                  <a:pt x="245376" y="443102"/>
                </a:lnTo>
                <a:lnTo>
                  <a:pt x="244579" y="433324"/>
                </a:lnTo>
                <a:close/>
              </a:path>
              <a:path w="254000" h="503555">
                <a:moveTo>
                  <a:pt x="243408" y="263778"/>
                </a:moveTo>
                <a:lnTo>
                  <a:pt x="160743" y="263778"/>
                </a:lnTo>
                <a:lnTo>
                  <a:pt x="160704" y="295261"/>
                </a:lnTo>
                <a:lnTo>
                  <a:pt x="160426" y="309673"/>
                </a:lnTo>
                <a:lnTo>
                  <a:pt x="155663" y="349250"/>
                </a:lnTo>
                <a:lnTo>
                  <a:pt x="138417" y="385699"/>
                </a:lnTo>
                <a:lnTo>
                  <a:pt x="112153" y="400685"/>
                </a:lnTo>
                <a:lnTo>
                  <a:pt x="243491" y="400685"/>
                </a:lnTo>
                <a:lnTo>
                  <a:pt x="243408" y="263778"/>
                </a:lnTo>
                <a:close/>
              </a:path>
              <a:path w="254000" h="503555">
                <a:moveTo>
                  <a:pt x="120662" y="0"/>
                </a:moveTo>
                <a:lnTo>
                  <a:pt x="76631" y="7619"/>
                </a:lnTo>
                <a:lnTo>
                  <a:pt x="44653" y="29463"/>
                </a:lnTo>
                <a:lnTo>
                  <a:pt x="24618" y="62628"/>
                </a:lnTo>
                <a:lnTo>
                  <a:pt x="12225" y="106870"/>
                </a:lnTo>
                <a:lnTo>
                  <a:pt x="6642" y="148209"/>
                </a:lnTo>
                <a:lnTo>
                  <a:pt x="87439" y="166750"/>
                </a:lnTo>
                <a:lnTo>
                  <a:pt x="90122" y="152370"/>
                </a:lnTo>
                <a:lnTo>
                  <a:pt x="93198" y="140477"/>
                </a:lnTo>
                <a:lnTo>
                  <a:pt x="121939" y="110507"/>
                </a:lnTo>
                <a:lnTo>
                  <a:pt x="131673" y="109600"/>
                </a:lnTo>
                <a:lnTo>
                  <a:pt x="237734" y="109600"/>
                </a:lnTo>
                <a:lnTo>
                  <a:pt x="237172" y="105790"/>
                </a:lnTo>
                <a:lnTo>
                  <a:pt x="225256" y="59267"/>
                </a:lnTo>
                <a:lnTo>
                  <a:pt x="202857" y="23542"/>
                </a:lnTo>
                <a:lnTo>
                  <a:pt x="169263" y="5197"/>
                </a:lnTo>
                <a:lnTo>
                  <a:pt x="138731" y="573"/>
                </a:lnTo>
                <a:lnTo>
                  <a:pt x="120662"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p:nvPr/>
        </p:nvSpPr>
        <p:spPr>
          <a:xfrm>
            <a:off x="5450533" y="3897948"/>
            <a:ext cx="2614982" cy="335043"/>
          </a:xfrm>
          <a:custGeom>
            <a:avLst/>
            <a:gdLst/>
            <a:ahLst/>
            <a:cxnLst/>
            <a:rect l="l" t="t" r="r" b="b"/>
            <a:pathLst>
              <a:path w="2616834" h="335279">
                <a:moveTo>
                  <a:pt x="0" y="335280"/>
                </a:moveTo>
                <a:lnTo>
                  <a:pt x="2616707" y="335280"/>
                </a:lnTo>
                <a:lnTo>
                  <a:pt x="2616707" y="0"/>
                </a:lnTo>
                <a:lnTo>
                  <a:pt x="0" y="0"/>
                </a:lnTo>
                <a:lnTo>
                  <a:pt x="0" y="33528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txBox="1"/>
          <p:nvPr/>
        </p:nvSpPr>
        <p:spPr>
          <a:xfrm>
            <a:off x="5450533" y="3897948"/>
            <a:ext cx="2614982" cy="264795"/>
          </a:xfrm>
          <a:prstGeom prst="rect">
            <a:avLst/>
          </a:prstGeom>
          <a:ln w="9525">
            <a:solidFill>
              <a:srgbClr val="91AFFF"/>
            </a:solidFill>
          </a:ln>
        </p:spPr>
        <p:txBody>
          <a:bodyPr vert="horz" wrap="square" lIns="0" tIns="50129" rIns="0" bIns="0" rtlCol="0">
            <a:spAutoFit/>
          </a:bodyPr>
          <a:lstStyle/>
          <a:p>
            <a:pPr marL="73025">
              <a:lnSpc>
                <a:spcPct val="100000"/>
              </a:lnSpc>
              <a:spcBef>
                <a:spcPts val="395"/>
              </a:spcBef>
            </a:pPr>
            <a:r>
              <a:rPr sz="1400" dirty="0">
                <a:solidFill>
                  <a:srgbClr val="0066CC"/>
                </a:solidFill>
                <a:latin typeface="微软雅黑" panose="020B0503020204020204" charset="-122"/>
                <a:ea typeface="微软雅黑" panose="020B0503020204020204" charset="-122"/>
                <a:cs typeface="微软雅黑" panose="020B0503020204020204" charset="-122"/>
              </a:rPr>
              <a:t>大客户管理的组织架构</a:t>
            </a:r>
            <a:r>
              <a:rPr sz="1400" spc="-15" dirty="0">
                <a:solidFill>
                  <a:srgbClr val="0066CC"/>
                </a:solidFill>
                <a:latin typeface="微软雅黑" panose="020B0503020204020204" charset="-122"/>
                <a:ea typeface="微软雅黑" panose="020B0503020204020204" charset="-122"/>
                <a:cs typeface="微软雅黑" panose="020B0503020204020204" charset="-122"/>
              </a:rPr>
              <a:t>设</a:t>
            </a:r>
            <a:r>
              <a:rPr sz="1400" spc="5" dirty="0">
                <a:solidFill>
                  <a:srgbClr val="0066CC"/>
                </a:solidFill>
                <a:latin typeface="微软雅黑" panose="020B0503020204020204" charset="-122"/>
                <a:ea typeface="微软雅黑" panose="020B0503020204020204" charset="-122"/>
                <a:cs typeface="微软雅黑" panose="020B0503020204020204" charset="-122"/>
              </a:rPr>
              <a:t>计</a:t>
            </a:r>
            <a:endParaRPr sz="1400">
              <a:latin typeface="微软雅黑" panose="020B0503020204020204" charset="-122"/>
              <a:ea typeface="微软雅黑" panose="020B0503020204020204" charset="-122"/>
              <a:cs typeface="微软雅黑" panose="020B0503020204020204" charset="-122"/>
            </a:endParaRPr>
          </a:p>
        </p:txBody>
      </p:sp>
      <p:sp>
        <p:nvSpPr>
          <p:cNvPr id="19" name="object 19"/>
          <p:cNvSpPr/>
          <p:nvPr/>
        </p:nvSpPr>
        <p:spPr>
          <a:xfrm>
            <a:off x="4976905" y="1980591"/>
            <a:ext cx="1154882" cy="517792"/>
          </a:xfrm>
          <a:custGeom>
            <a:avLst/>
            <a:gdLst/>
            <a:ahLst/>
            <a:cxnLst/>
            <a:rect l="l" t="t" r="r" b="b"/>
            <a:pathLst>
              <a:path w="1155700" h="518160">
                <a:moveTo>
                  <a:pt x="0" y="518160"/>
                </a:moveTo>
                <a:lnTo>
                  <a:pt x="1155191" y="518160"/>
                </a:lnTo>
                <a:lnTo>
                  <a:pt x="1155191"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txBox="1"/>
          <p:nvPr/>
        </p:nvSpPr>
        <p:spPr>
          <a:xfrm>
            <a:off x="4976905" y="1980591"/>
            <a:ext cx="1154882" cy="336550"/>
          </a:xfrm>
          <a:prstGeom prst="rect">
            <a:avLst/>
          </a:prstGeom>
          <a:ln w="9525">
            <a:solidFill>
              <a:srgbClr val="91AFFF"/>
            </a:solidFill>
          </a:ln>
        </p:spPr>
        <p:txBody>
          <a:bodyPr vert="horz" wrap="square" lIns="0" tIns="121833" rIns="0" bIns="0" rtlCol="0">
            <a:spAutoFit/>
          </a:bodyPr>
          <a:lstStyle/>
          <a:p>
            <a:pPr marL="72390">
              <a:lnSpc>
                <a:spcPct val="100000"/>
              </a:lnSpc>
              <a:spcBef>
                <a:spcPts val="960"/>
              </a:spcBef>
            </a:pPr>
            <a:r>
              <a:rPr sz="1400" dirty="0">
                <a:solidFill>
                  <a:srgbClr val="0066CC"/>
                </a:solidFill>
                <a:latin typeface="微软雅黑" panose="020B0503020204020204" charset="-122"/>
                <a:ea typeface="微软雅黑" panose="020B0503020204020204" charset="-122"/>
                <a:cs typeface="微软雅黑" panose="020B0503020204020204" charset="-122"/>
              </a:rPr>
              <a:t>战略规划</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1" name="object 21"/>
          <p:cNvSpPr/>
          <p:nvPr/>
        </p:nvSpPr>
        <p:spPr>
          <a:xfrm>
            <a:off x="4976905" y="2560823"/>
            <a:ext cx="1154882" cy="517792"/>
          </a:xfrm>
          <a:custGeom>
            <a:avLst/>
            <a:gdLst/>
            <a:ahLst/>
            <a:cxnLst/>
            <a:rect l="l" t="t" r="r" b="b"/>
            <a:pathLst>
              <a:path w="1155700" h="518160">
                <a:moveTo>
                  <a:pt x="0" y="518160"/>
                </a:moveTo>
                <a:lnTo>
                  <a:pt x="1155191" y="518160"/>
                </a:lnTo>
                <a:lnTo>
                  <a:pt x="1155191"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txBox="1"/>
          <p:nvPr/>
        </p:nvSpPr>
        <p:spPr>
          <a:xfrm>
            <a:off x="4976905" y="2560823"/>
            <a:ext cx="1154882" cy="336550"/>
          </a:xfrm>
          <a:prstGeom prst="rect">
            <a:avLst/>
          </a:prstGeom>
          <a:ln w="9525">
            <a:solidFill>
              <a:srgbClr val="91AFFF"/>
            </a:solidFill>
          </a:ln>
        </p:spPr>
        <p:txBody>
          <a:bodyPr vert="horz" wrap="square" lIns="0" tIns="121833" rIns="0" bIns="0" rtlCol="0">
            <a:spAutoFit/>
          </a:bodyPr>
          <a:lstStyle/>
          <a:p>
            <a:pPr marL="72390">
              <a:lnSpc>
                <a:spcPct val="100000"/>
              </a:lnSpc>
              <a:spcBef>
                <a:spcPts val="960"/>
              </a:spcBef>
            </a:pPr>
            <a:r>
              <a:rPr sz="1400" dirty="0">
                <a:solidFill>
                  <a:srgbClr val="0066CC"/>
                </a:solidFill>
                <a:latin typeface="微软雅黑" panose="020B0503020204020204" charset="-122"/>
                <a:ea typeface="微软雅黑" panose="020B0503020204020204" charset="-122"/>
                <a:cs typeface="微软雅黑" panose="020B0503020204020204" charset="-122"/>
              </a:rPr>
              <a:t>行动计划</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3" name="object 23"/>
          <p:cNvSpPr/>
          <p:nvPr/>
        </p:nvSpPr>
        <p:spPr>
          <a:xfrm>
            <a:off x="6944518" y="1980591"/>
            <a:ext cx="1156151" cy="306488"/>
          </a:xfrm>
          <a:custGeom>
            <a:avLst/>
            <a:gdLst/>
            <a:ahLst/>
            <a:cxnLst/>
            <a:rect l="l" t="t" r="r" b="b"/>
            <a:pathLst>
              <a:path w="1156970" h="306705">
                <a:moveTo>
                  <a:pt x="0" y="306324"/>
                </a:moveTo>
                <a:lnTo>
                  <a:pt x="1156716" y="306324"/>
                </a:lnTo>
                <a:lnTo>
                  <a:pt x="1156716" y="0"/>
                </a:lnTo>
                <a:lnTo>
                  <a:pt x="0" y="0"/>
                </a:lnTo>
                <a:lnTo>
                  <a:pt x="0" y="30632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p:nvPr/>
        </p:nvSpPr>
        <p:spPr>
          <a:xfrm>
            <a:off x="6944518" y="2330862"/>
            <a:ext cx="1156151" cy="306488"/>
          </a:xfrm>
          <a:custGeom>
            <a:avLst/>
            <a:gdLst/>
            <a:ahLst/>
            <a:cxnLst/>
            <a:rect l="l" t="t" r="r" b="b"/>
            <a:pathLst>
              <a:path w="1156970" h="306705">
                <a:moveTo>
                  <a:pt x="0" y="306324"/>
                </a:moveTo>
                <a:lnTo>
                  <a:pt x="1156716" y="306324"/>
                </a:lnTo>
                <a:lnTo>
                  <a:pt x="1156716" y="0"/>
                </a:lnTo>
                <a:lnTo>
                  <a:pt x="0" y="0"/>
                </a:lnTo>
                <a:lnTo>
                  <a:pt x="0" y="30632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5" name="object 25"/>
          <p:cNvSpPr/>
          <p:nvPr/>
        </p:nvSpPr>
        <p:spPr>
          <a:xfrm>
            <a:off x="6944518" y="2682657"/>
            <a:ext cx="1156151" cy="517792"/>
          </a:xfrm>
          <a:custGeom>
            <a:avLst/>
            <a:gdLst/>
            <a:ahLst/>
            <a:cxnLst/>
            <a:rect l="l" t="t" r="r" b="b"/>
            <a:pathLst>
              <a:path w="1156970" h="518160">
                <a:moveTo>
                  <a:pt x="0" y="518160"/>
                </a:moveTo>
                <a:lnTo>
                  <a:pt x="1156716" y="518160"/>
                </a:lnTo>
                <a:lnTo>
                  <a:pt x="1156716"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graphicFrame>
        <p:nvGraphicFramePr>
          <p:cNvPr id="26" name="object 26"/>
          <p:cNvGraphicFramePr>
            <a:graphicFrameLocks noGrp="1"/>
          </p:cNvGraphicFramePr>
          <p:nvPr/>
        </p:nvGraphicFramePr>
        <p:xfrm>
          <a:off x="6939759" y="1975831"/>
          <a:ext cx="1170305" cy="1229360"/>
        </p:xfrm>
        <a:graphic>
          <a:graphicData uri="http://schemas.openxmlformats.org/drawingml/2006/table">
            <a:tbl>
              <a:tblPr firstRow="1" bandRow="1">
                <a:tableStyleId>{2D5ABB26-0587-4C30-8999-92F81FD0307C}</a:tableStyleId>
              </a:tblPr>
              <a:tblGrid>
                <a:gridCol w="1170305"/>
              </a:tblGrid>
              <a:tr h="330835">
                <a:tc>
                  <a:txBody>
                    <a:bodyPr/>
                    <a:lstStyle/>
                    <a:p>
                      <a:pPr marL="73660">
                        <a:lnSpc>
                          <a:spcPct val="100000"/>
                        </a:lnSpc>
                        <a:spcBef>
                          <a:spcPts val="275"/>
                        </a:spcBef>
                      </a:pPr>
                      <a:r>
                        <a:rPr sz="1400" dirty="0">
                          <a:solidFill>
                            <a:srgbClr val="0066CC"/>
                          </a:solidFill>
                          <a:latin typeface="微软雅黑" panose="020B0503020204020204" charset="-122"/>
                          <a:ea typeface="微软雅黑" panose="020B0503020204020204" charset="-122"/>
                          <a:cs typeface="微软雅黑" panose="020B0503020204020204" charset="-122"/>
                        </a:rPr>
                        <a:t>价值销售</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a:txBody>
                  <a:tcPr marL="0" marR="0" marT="34900" marB="0">
                    <a:lnL w="9525">
                      <a:solidFill>
                        <a:srgbClr val="91AFFF"/>
                      </a:solidFill>
                      <a:prstDash val="solid"/>
                    </a:lnL>
                    <a:lnR w="9525">
                      <a:solidFill>
                        <a:srgbClr val="91AFFF"/>
                      </a:solidFill>
                      <a:prstDash val="solid"/>
                    </a:lnR>
                    <a:lnT w="9525">
                      <a:solidFill>
                        <a:srgbClr val="91AFFF"/>
                      </a:solidFill>
                      <a:prstDash val="solid"/>
                    </a:lnT>
                    <a:lnB w="9525">
                      <a:solidFill>
                        <a:srgbClr val="91AFFF"/>
                      </a:solidFill>
                      <a:prstDash val="solid"/>
                    </a:lnB>
                    <a:solidFill>
                      <a:srgbClr val="C6DFFA"/>
                    </a:solidFill>
                  </a:tcPr>
                </a:tc>
              </a:tr>
              <a:tr h="353695">
                <a:tc>
                  <a:txBody>
                    <a:bodyPr/>
                    <a:lstStyle/>
                    <a:p>
                      <a:pPr marL="73660">
                        <a:lnSpc>
                          <a:spcPct val="100000"/>
                        </a:lnSpc>
                        <a:spcBef>
                          <a:spcPts val="455"/>
                        </a:spcBef>
                      </a:pPr>
                      <a:r>
                        <a:rPr sz="1400" dirty="0">
                          <a:solidFill>
                            <a:srgbClr val="0066CC"/>
                          </a:solidFill>
                          <a:latin typeface="微软雅黑" panose="020B0503020204020204" charset="-122"/>
                          <a:ea typeface="微软雅黑" panose="020B0503020204020204" charset="-122"/>
                          <a:cs typeface="微软雅黑" panose="020B0503020204020204" charset="-122"/>
                        </a:rPr>
                        <a:t>谈判</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a:txBody>
                  <a:tcPr marL="0" marR="0" marT="57744" marB="0">
                    <a:lnL w="9525">
                      <a:solidFill>
                        <a:srgbClr val="91AFFF"/>
                      </a:solidFill>
                      <a:prstDash val="solid"/>
                    </a:lnL>
                    <a:lnR w="9525">
                      <a:solidFill>
                        <a:srgbClr val="91AFFF"/>
                      </a:solidFill>
                      <a:prstDash val="solid"/>
                    </a:lnR>
                    <a:lnT w="9525">
                      <a:solidFill>
                        <a:srgbClr val="91AFFF"/>
                      </a:solidFill>
                      <a:prstDash val="solid"/>
                    </a:lnT>
                    <a:lnB w="9525">
                      <a:solidFill>
                        <a:srgbClr val="91AFFF"/>
                      </a:solidFill>
                      <a:prstDash val="solid"/>
                    </a:lnB>
                    <a:solidFill>
                      <a:srgbClr val="C6DFFA"/>
                    </a:solidFill>
                  </a:tcPr>
                </a:tc>
              </a:tr>
              <a:tr h="544830">
                <a:tc>
                  <a:txBody>
                    <a:bodyPr/>
                    <a:lstStyle/>
                    <a:p>
                      <a:pPr marL="73660">
                        <a:lnSpc>
                          <a:spcPct val="100000"/>
                        </a:lnSpc>
                        <a:spcBef>
                          <a:spcPts val="1295"/>
                        </a:spcBef>
                      </a:pPr>
                      <a:r>
                        <a:rPr sz="1400" dirty="0">
                          <a:solidFill>
                            <a:srgbClr val="0066CC"/>
                          </a:solidFill>
                          <a:latin typeface="微软雅黑" panose="020B0503020204020204" charset="-122"/>
                          <a:ea typeface="微软雅黑" panose="020B0503020204020204" charset="-122"/>
                          <a:cs typeface="微软雅黑" panose="020B0503020204020204" charset="-122"/>
                        </a:rPr>
                        <a:t>绩效管理</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a:txBody>
                  <a:tcPr marL="0" marR="0" marT="164348" marB="0">
                    <a:lnL w="9525">
                      <a:solidFill>
                        <a:srgbClr val="91AFFF"/>
                      </a:solidFill>
                      <a:prstDash val="solid"/>
                    </a:lnL>
                    <a:lnR w="9525">
                      <a:solidFill>
                        <a:srgbClr val="91AFFF"/>
                      </a:solidFill>
                      <a:prstDash val="solid"/>
                    </a:lnR>
                    <a:lnT w="9525">
                      <a:solidFill>
                        <a:srgbClr val="91AFFF"/>
                      </a:solidFill>
                      <a:prstDash val="solid"/>
                    </a:lnT>
                    <a:lnB w="9525">
                      <a:solidFill>
                        <a:srgbClr val="91AFFF"/>
                      </a:solidFill>
                      <a:prstDash val="solid"/>
                    </a:lnB>
                    <a:solidFill>
                      <a:srgbClr val="C6DFFA"/>
                    </a:solidFill>
                  </a:tcPr>
                </a:tc>
              </a:tr>
            </a:tbl>
          </a:graphicData>
        </a:graphic>
      </p:graphicFrame>
      <p:sp>
        <p:nvSpPr>
          <p:cNvPr id="27" name="object 27"/>
          <p:cNvSpPr/>
          <p:nvPr/>
        </p:nvSpPr>
        <p:spPr>
          <a:xfrm>
            <a:off x="632011" y="1980591"/>
            <a:ext cx="1488020" cy="517792"/>
          </a:xfrm>
          <a:custGeom>
            <a:avLst/>
            <a:gdLst/>
            <a:ahLst/>
            <a:cxnLst/>
            <a:rect l="l" t="t" r="r" b="b"/>
            <a:pathLst>
              <a:path w="1489075" h="518160">
                <a:moveTo>
                  <a:pt x="0" y="518160"/>
                </a:moveTo>
                <a:lnTo>
                  <a:pt x="1488948" y="518160"/>
                </a:lnTo>
                <a:lnTo>
                  <a:pt x="1488948"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p:nvPr/>
        </p:nvSpPr>
        <p:spPr>
          <a:xfrm>
            <a:off x="632011" y="1980591"/>
            <a:ext cx="1488020" cy="517792"/>
          </a:xfrm>
          <a:custGeom>
            <a:avLst/>
            <a:gdLst/>
            <a:ahLst/>
            <a:cxnLst/>
            <a:rect l="l" t="t" r="r" b="b"/>
            <a:pathLst>
              <a:path w="1489075" h="518160">
                <a:moveTo>
                  <a:pt x="0" y="518160"/>
                </a:moveTo>
                <a:lnTo>
                  <a:pt x="1488948" y="518160"/>
                </a:lnTo>
                <a:lnTo>
                  <a:pt x="1488948" y="0"/>
                </a:lnTo>
                <a:lnTo>
                  <a:pt x="0" y="0"/>
                </a:lnTo>
                <a:lnTo>
                  <a:pt x="0" y="518160"/>
                </a:lnTo>
                <a:close/>
              </a:path>
            </a:pathLst>
          </a:custGeom>
          <a:ln w="952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9" name="object 29"/>
          <p:cNvSpPr txBox="1"/>
          <p:nvPr/>
        </p:nvSpPr>
        <p:spPr>
          <a:xfrm>
            <a:off x="690897" y="2001658"/>
            <a:ext cx="916291" cy="443230"/>
          </a:xfrm>
          <a:prstGeom prst="rect">
            <a:avLst/>
          </a:prstGeom>
        </p:spPr>
        <p:txBody>
          <a:bodyPr vert="horz" wrap="square" lIns="0" tIns="13325" rIns="0" bIns="0" rtlCol="0">
            <a:spAutoFit/>
          </a:bodyPr>
          <a:lstStyle/>
          <a:p>
            <a:pPr marL="12700" marR="5080">
              <a:lnSpc>
                <a:spcPct val="100000"/>
              </a:lnSpc>
              <a:spcBef>
                <a:spcPts val="105"/>
              </a:spcBef>
            </a:pPr>
            <a:r>
              <a:rPr sz="1400" dirty="0">
                <a:solidFill>
                  <a:srgbClr val="0066CC"/>
                </a:solidFill>
                <a:latin typeface="微软雅黑" panose="020B0503020204020204" charset="-122"/>
                <a:ea typeface="微软雅黑" panose="020B0503020204020204" charset="-122"/>
                <a:cs typeface="微软雅黑" panose="020B0503020204020204" charset="-122"/>
              </a:rPr>
              <a:t>识别并审核 大客户</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0" name="object 30"/>
          <p:cNvSpPr txBox="1"/>
          <p:nvPr/>
        </p:nvSpPr>
        <p:spPr>
          <a:xfrm>
            <a:off x="4964467" y="1535644"/>
            <a:ext cx="104129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大客</a:t>
            </a:r>
            <a:r>
              <a:rPr sz="1600" b="1" spc="-10" dirty="0">
                <a:solidFill>
                  <a:srgbClr val="0066CC"/>
                </a:solidFill>
                <a:latin typeface="微软雅黑" panose="020B0503020204020204" charset="-122"/>
                <a:ea typeface="微软雅黑" panose="020B0503020204020204" charset="-122"/>
                <a:cs typeface="微软雅黑" panose="020B0503020204020204" charset="-122"/>
              </a:rPr>
              <a:t>户规划</a:t>
            </a:r>
            <a:endParaRPr sz="1600">
              <a:latin typeface="微软雅黑" panose="020B0503020204020204" charset="-122"/>
              <a:ea typeface="微软雅黑" panose="020B0503020204020204" charset="-122"/>
              <a:cs typeface="微软雅黑" panose="020B0503020204020204" charset="-122"/>
            </a:endParaRPr>
          </a:p>
        </p:txBody>
      </p:sp>
      <p:sp>
        <p:nvSpPr>
          <p:cNvPr id="31" name="object 31"/>
          <p:cNvSpPr txBox="1"/>
          <p:nvPr/>
        </p:nvSpPr>
        <p:spPr>
          <a:xfrm>
            <a:off x="6933604" y="1535644"/>
            <a:ext cx="1045739"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实施和跟踪</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2" name="object 32"/>
          <p:cNvSpPr txBox="1"/>
          <p:nvPr/>
        </p:nvSpPr>
        <p:spPr>
          <a:xfrm>
            <a:off x="618712" y="1535644"/>
            <a:ext cx="84204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客户分类</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3" name="object 33"/>
          <p:cNvSpPr txBox="1"/>
          <p:nvPr/>
        </p:nvSpPr>
        <p:spPr>
          <a:xfrm>
            <a:off x="106401" y="6412696"/>
            <a:ext cx="2191102"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35"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a:t>
            </a:r>
            <a:r>
              <a:rPr sz="1000" spc="-35"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营销和销售业务部</a:t>
            </a:r>
            <a:endParaRPr sz="1000">
              <a:latin typeface="微软雅黑" panose="020B0503020204020204" charset="-122"/>
              <a:ea typeface="微软雅黑" panose="020B0503020204020204" charset="-122"/>
              <a:cs typeface="微软雅黑" panose="020B0503020204020204" charset="-122"/>
            </a:endParaRPr>
          </a:p>
        </p:txBody>
      </p:sp>
      <p:sp>
        <p:nvSpPr>
          <p:cNvPr id="34" name="object 34"/>
          <p:cNvSpPr/>
          <p:nvPr/>
        </p:nvSpPr>
        <p:spPr>
          <a:xfrm>
            <a:off x="2096299" y="1323450"/>
            <a:ext cx="2679071" cy="3900581"/>
          </a:xfrm>
          <a:custGeom>
            <a:avLst/>
            <a:gdLst/>
            <a:ahLst/>
            <a:cxnLst/>
            <a:rect l="l" t="t" r="r" b="b"/>
            <a:pathLst>
              <a:path w="2680970" h="3903345">
                <a:moveTo>
                  <a:pt x="1977643" y="0"/>
                </a:moveTo>
                <a:lnTo>
                  <a:pt x="0" y="0"/>
                </a:lnTo>
                <a:lnTo>
                  <a:pt x="703071" y="1952244"/>
                </a:lnTo>
                <a:lnTo>
                  <a:pt x="0" y="3902964"/>
                </a:lnTo>
                <a:lnTo>
                  <a:pt x="1977643" y="3902964"/>
                </a:lnTo>
                <a:lnTo>
                  <a:pt x="2680716" y="1952244"/>
                </a:lnTo>
                <a:lnTo>
                  <a:pt x="1977643"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5" name="object 35"/>
          <p:cNvSpPr/>
          <p:nvPr/>
        </p:nvSpPr>
        <p:spPr>
          <a:xfrm>
            <a:off x="2096299" y="1323450"/>
            <a:ext cx="2679071" cy="3900581"/>
          </a:xfrm>
          <a:custGeom>
            <a:avLst/>
            <a:gdLst/>
            <a:ahLst/>
            <a:cxnLst/>
            <a:rect l="l" t="t" r="r" b="b"/>
            <a:pathLst>
              <a:path w="2680970" h="3903345">
                <a:moveTo>
                  <a:pt x="0" y="0"/>
                </a:moveTo>
                <a:lnTo>
                  <a:pt x="1977643" y="0"/>
                </a:lnTo>
                <a:lnTo>
                  <a:pt x="2680716" y="1952244"/>
                </a:lnTo>
                <a:lnTo>
                  <a:pt x="1977643" y="3902964"/>
                </a:lnTo>
                <a:lnTo>
                  <a:pt x="0" y="3902964"/>
                </a:lnTo>
                <a:lnTo>
                  <a:pt x="703071" y="1952244"/>
                </a:lnTo>
                <a:lnTo>
                  <a:pt x="0" y="0"/>
                </a:lnTo>
                <a:close/>
              </a:path>
            </a:pathLst>
          </a:custGeom>
          <a:ln w="28575">
            <a:solidFill>
              <a:srgbClr val="0066CC"/>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6" name="object 36"/>
          <p:cNvSpPr/>
          <p:nvPr/>
        </p:nvSpPr>
        <p:spPr>
          <a:xfrm>
            <a:off x="2849385" y="1538944"/>
            <a:ext cx="1224682" cy="3359944"/>
          </a:xfrm>
          <a:custGeom>
            <a:avLst/>
            <a:gdLst/>
            <a:ahLst/>
            <a:cxnLst/>
            <a:rect l="l" t="t" r="r" b="b"/>
            <a:pathLst>
              <a:path w="1225550" h="3362325">
                <a:moveTo>
                  <a:pt x="0" y="3361944"/>
                </a:moveTo>
                <a:lnTo>
                  <a:pt x="1225295" y="3361944"/>
                </a:lnTo>
                <a:lnTo>
                  <a:pt x="1225295" y="0"/>
                </a:lnTo>
                <a:lnTo>
                  <a:pt x="0" y="0"/>
                </a:lnTo>
                <a:lnTo>
                  <a:pt x="0" y="3361944"/>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7" name="object 37"/>
          <p:cNvSpPr/>
          <p:nvPr/>
        </p:nvSpPr>
        <p:spPr>
          <a:xfrm>
            <a:off x="4402256" y="1433354"/>
            <a:ext cx="385807" cy="501295"/>
          </a:xfrm>
          <a:custGeom>
            <a:avLst/>
            <a:gdLst/>
            <a:ahLst/>
            <a:cxnLst/>
            <a:rect l="l" t="t" r="r" b="b"/>
            <a:pathLst>
              <a:path w="386079" h="501650">
                <a:moveTo>
                  <a:pt x="194437" y="0"/>
                </a:moveTo>
                <a:lnTo>
                  <a:pt x="141208" y="5524"/>
                </a:lnTo>
                <a:lnTo>
                  <a:pt x="98551" y="22098"/>
                </a:lnTo>
                <a:lnTo>
                  <a:pt x="63940" y="51315"/>
                </a:lnTo>
                <a:lnTo>
                  <a:pt x="32781" y="95250"/>
                </a:lnTo>
                <a:lnTo>
                  <a:pt x="9858" y="155684"/>
                </a:lnTo>
                <a:lnTo>
                  <a:pt x="1095" y="217354"/>
                </a:lnTo>
                <a:lnTo>
                  <a:pt x="0" y="252856"/>
                </a:lnTo>
                <a:lnTo>
                  <a:pt x="885" y="286529"/>
                </a:lnTo>
                <a:lnTo>
                  <a:pt x="8036" y="343350"/>
                </a:lnTo>
                <a:lnTo>
                  <a:pt x="22278" y="387336"/>
                </a:lnTo>
                <a:lnTo>
                  <a:pt x="42229" y="424725"/>
                </a:lnTo>
                <a:lnTo>
                  <a:pt x="67609" y="456136"/>
                </a:lnTo>
                <a:lnTo>
                  <a:pt x="98038" y="479186"/>
                </a:lnTo>
                <a:lnTo>
                  <a:pt x="133873" y="493613"/>
                </a:lnTo>
                <a:lnTo>
                  <a:pt x="178069" y="500749"/>
                </a:lnTo>
                <a:lnTo>
                  <a:pt x="203453" y="501650"/>
                </a:lnTo>
                <a:lnTo>
                  <a:pt x="229766" y="500249"/>
                </a:lnTo>
                <a:lnTo>
                  <a:pt x="275105" y="489112"/>
                </a:lnTo>
                <a:lnTo>
                  <a:pt x="311155" y="467256"/>
                </a:lnTo>
                <a:lnTo>
                  <a:pt x="340441" y="436205"/>
                </a:lnTo>
                <a:lnTo>
                  <a:pt x="363374" y="396392"/>
                </a:lnTo>
                <a:lnTo>
                  <a:pt x="370603" y="378205"/>
                </a:lnTo>
                <a:lnTo>
                  <a:pt x="196214" y="378205"/>
                </a:lnTo>
                <a:lnTo>
                  <a:pt x="181832" y="376297"/>
                </a:lnTo>
                <a:lnTo>
                  <a:pt x="146685" y="347472"/>
                </a:lnTo>
                <a:lnTo>
                  <a:pt x="132000" y="309737"/>
                </a:lnTo>
                <a:lnTo>
                  <a:pt x="127126" y="257810"/>
                </a:lnTo>
                <a:lnTo>
                  <a:pt x="128363" y="226704"/>
                </a:lnTo>
                <a:lnTo>
                  <a:pt x="138217" y="177210"/>
                </a:lnTo>
                <a:lnTo>
                  <a:pt x="169465" y="134175"/>
                </a:lnTo>
                <a:lnTo>
                  <a:pt x="198120" y="125984"/>
                </a:lnTo>
                <a:lnTo>
                  <a:pt x="368473" y="125984"/>
                </a:lnTo>
                <a:lnTo>
                  <a:pt x="355377" y="93710"/>
                </a:lnTo>
                <a:lnTo>
                  <a:pt x="318897" y="41910"/>
                </a:lnTo>
                <a:lnTo>
                  <a:pt x="266334" y="10477"/>
                </a:lnTo>
                <a:lnTo>
                  <a:pt x="232796" y="2619"/>
                </a:lnTo>
                <a:lnTo>
                  <a:pt x="194437" y="0"/>
                </a:lnTo>
                <a:close/>
              </a:path>
              <a:path w="386079" h="501650">
                <a:moveTo>
                  <a:pt x="264160" y="302767"/>
                </a:moveTo>
                <a:lnTo>
                  <a:pt x="246532" y="349166"/>
                </a:lnTo>
                <a:lnTo>
                  <a:pt x="208287" y="377041"/>
                </a:lnTo>
                <a:lnTo>
                  <a:pt x="196214" y="378205"/>
                </a:lnTo>
                <a:lnTo>
                  <a:pt x="370603" y="378205"/>
                </a:lnTo>
                <a:lnTo>
                  <a:pt x="372446" y="373554"/>
                </a:lnTo>
                <a:lnTo>
                  <a:pt x="379860" y="349009"/>
                </a:lnTo>
                <a:lnTo>
                  <a:pt x="385699" y="322579"/>
                </a:lnTo>
                <a:lnTo>
                  <a:pt x="264160" y="302767"/>
                </a:lnTo>
                <a:close/>
              </a:path>
              <a:path w="386079" h="501650">
                <a:moveTo>
                  <a:pt x="368473" y="125984"/>
                </a:moveTo>
                <a:lnTo>
                  <a:pt x="198120" y="125984"/>
                </a:lnTo>
                <a:lnTo>
                  <a:pt x="210052" y="126960"/>
                </a:lnTo>
                <a:lnTo>
                  <a:pt x="220710" y="129889"/>
                </a:lnTo>
                <a:lnTo>
                  <a:pt x="250825" y="161020"/>
                </a:lnTo>
                <a:lnTo>
                  <a:pt x="258825" y="187960"/>
                </a:lnTo>
                <a:lnTo>
                  <a:pt x="379095" y="164846"/>
                </a:lnTo>
                <a:lnTo>
                  <a:pt x="368831" y="126867"/>
                </a:lnTo>
                <a:lnTo>
                  <a:pt x="368473" y="125984"/>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8" name="object 38"/>
          <p:cNvSpPr/>
          <p:nvPr/>
        </p:nvSpPr>
        <p:spPr>
          <a:xfrm>
            <a:off x="2485914" y="1433354"/>
            <a:ext cx="385807" cy="501295"/>
          </a:xfrm>
          <a:custGeom>
            <a:avLst/>
            <a:gdLst/>
            <a:ahLst/>
            <a:cxnLst/>
            <a:rect l="l" t="t" r="r" b="b"/>
            <a:pathLst>
              <a:path w="386080" h="501650">
                <a:moveTo>
                  <a:pt x="351348" y="440689"/>
                </a:moveTo>
                <a:lnTo>
                  <a:pt x="125603" y="440689"/>
                </a:lnTo>
                <a:lnTo>
                  <a:pt x="138412" y="456027"/>
                </a:lnTo>
                <a:lnTo>
                  <a:pt x="173862" y="486155"/>
                </a:lnTo>
                <a:lnTo>
                  <a:pt x="221243" y="500675"/>
                </a:lnTo>
                <a:lnTo>
                  <a:pt x="238506" y="501650"/>
                </a:lnTo>
                <a:lnTo>
                  <a:pt x="258699" y="500268"/>
                </a:lnTo>
                <a:lnTo>
                  <a:pt x="296227" y="489219"/>
                </a:lnTo>
                <a:lnTo>
                  <a:pt x="329588" y="467098"/>
                </a:lnTo>
                <a:lnTo>
                  <a:pt x="351348" y="440689"/>
                </a:lnTo>
                <a:close/>
              </a:path>
              <a:path w="386080" h="501650">
                <a:moveTo>
                  <a:pt x="135509" y="0"/>
                </a:moveTo>
                <a:lnTo>
                  <a:pt x="0" y="0"/>
                </a:lnTo>
                <a:lnTo>
                  <a:pt x="0" y="493522"/>
                </a:lnTo>
                <a:lnTo>
                  <a:pt x="125603" y="493522"/>
                </a:lnTo>
                <a:lnTo>
                  <a:pt x="125603" y="440689"/>
                </a:lnTo>
                <a:lnTo>
                  <a:pt x="351348" y="440689"/>
                </a:lnTo>
                <a:lnTo>
                  <a:pt x="356068" y="433760"/>
                </a:lnTo>
                <a:lnTo>
                  <a:pt x="366522" y="412876"/>
                </a:lnTo>
                <a:lnTo>
                  <a:pt x="370715" y="401319"/>
                </a:lnTo>
                <a:lnTo>
                  <a:pt x="194691" y="401319"/>
                </a:lnTo>
                <a:lnTo>
                  <a:pt x="182211" y="400012"/>
                </a:lnTo>
                <a:lnTo>
                  <a:pt x="144103" y="368589"/>
                </a:lnTo>
                <a:lnTo>
                  <a:pt x="134619" y="313689"/>
                </a:lnTo>
                <a:lnTo>
                  <a:pt x="135693" y="293993"/>
                </a:lnTo>
                <a:lnTo>
                  <a:pt x="151892" y="250951"/>
                </a:lnTo>
                <a:lnTo>
                  <a:pt x="196596" y="230250"/>
                </a:lnTo>
                <a:lnTo>
                  <a:pt x="374480" y="230250"/>
                </a:lnTo>
                <a:lnTo>
                  <a:pt x="362124" y="200880"/>
                </a:lnTo>
                <a:lnTo>
                  <a:pt x="343788" y="174878"/>
                </a:lnTo>
                <a:lnTo>
                  <a:pt x="339515" y="170941"/>
                </a:lnTo>
                <a:lnTo>
                  <a:pt x="135509" y="170941"/>
                </a:lnTo>
                <a:lnTo>
                  <a:pt x="135509" y="0"/>
                </a:lnTo>
                <a:close/>
              </a:path>
              <a:path w="386080" h="501650">
                <a:moveTo>
                  <a:pt x="374480" y="230250"/>
                </a:moveTo>
                <a:lnTo>
                  <a:pt x="196596" y="230250"/>
                </a:lnTo>
                <a:lnTo>
                  <a:pt x="207577" y="231489"/>
                </a:lnTo>
                <a:lnTo>
                  <a:pt x="217678" y="235203"/>
                </a:lnTo>
                <a:lnTo>
                  <a:pt x="247332" y="275574"/>
                </a:lnTo>
                <a:lnTo>
                  <a:pt x="251275" y="313689"/>
                </a:lnTo>
                <a:lnTo>
                  <a:pt x="250328" y="334706"/>
                </a:lnTo>
                <a:lnTo>
                  <a:pt x="235076" y="380873"/>
                </a:lnTo>
                <a:lnTo>
                  <a:pt x="194691" y="401319"/>
                </a:lnTo>
                <a:lnTo>
                  <a:pt x="370715" y="401319"/>
                </a:lnTo>
                <a:lnTo>
                  <a:pt x="374895" y="389800"/>
                </a:lnTo>
                <a:lnTo>
                  <a:pt x="380920" y="364775"/>
                </a:lnTo>
                <a:lnTo>
                  <a:pt x="384506" y="338081"/>
                </a:lnTo>
                <a:lnTo>
                  <a:pt x="385699" y="309625"/>
                </a:lnTo>
                <a:lnTo>
                  <a:pt x="383079" y="268265"/>
                </a:lnTo>
                <a:lnTo>
                  <a:pt x="375221" y="232013"/>
                </a:lnTo>
                <a:lnTo>
                  <a:pt x="374480" y="230250"/>
                </a:lnTo>
                <a:close/>
              </a:path>
              <a:path w="386080" h="501650">
                <a:moveTo>
                  <a:pt x="237871" y="127888"/>
                </a:moveTo>
                <a:lnTo>
                  <a:pt x="194401" y="133943"/>
                </a:lnTo>
                <a:lnTo>
                  <a:pt x="157035" y="152098"/>
                </a:lnTo>
                <a:lnTo>
                  <a:pt x="135509" y="170941"/>
                </a:lnTo>
                <a:lnTo>
                  <a:pt x="339515" y="170941"/>
                </a:lnTo>
                <a:lnTo>
                  <a:pt x="321452" y="154303"/>
                </a:lnTo>
                <a:lnTo>
                  <a:pt x="296354" y="139620"/>
                </a:lnTo>
                <a:lnTo>
                  <a:pt x="268493" y="130819"/>
                </a:lnTo>
                <a:lnTo>
                  <a:pt x="237871" y="127888"/>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9" name="object 39"/>
          <p:cNvSpPr/>
          <p:nvPr/>
        </p:nvSpPr>
        <p:spPr>
          <a:xfrm>
            <a:off x="2995584" y="1980591"/>
            <a:ext cx="1057161" cy="639627"/>
          </a:xfrm>
          <a:custGeom>
            <a:avLst/>
            <a:gdLst/>
            <a:ahLst/>
            <a:cxnLst/>
            <a:rect l="l" t="t" r="r" b="b"/>
            <a:pathLst>
              <a:path w="1057910" h="640080">
                <a:moveTo>
                  <a:pt x="0" y="640079"/>
                </a:moveTo>
                <a:lnTo>
                  <a:pt x="1057656" y="640079"/>
                </a:lnTo>
                <a:lnTo>
                  <a:pt x="1057656" y="0"/>
                </a:lnTo>
                <a:lnTo>
                  <a:pt x="0" y="0"/>
                </a:lnTo>
                <a:lnTo>
                  <a:pt x="0" y="640079"/>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0" name="object 40"/>
          <p:cNvSpPr txBox="1"/>
          <p:nvPr/>
        </p:nvSpPr>
        <p:spPr>
          <a:xfrm>
            <a:off x="2995584" y="1980591"/>
            <a:ext cx="1057161" cy="416560"/>
          </a:xfrm>
          <a:prstGeom prst="rect">
            <a:avLst/>
          </a:prstGeom>
          <a:ln w="9525">
            <a:solidFill>
              <a:srgbClr val="0066CC"/>
            </a:solidFill>
          </a:ln>
        </p:spPr>
        <p:txBody>
          <a:bodyPr vert="horz" wrap="square" lIns="0" tIns="201786" rIns="0" bIns="0" rtlCol="0">
            <a:spAutoFit/>
          </a:bodyPr>
          <a:lstStyle/>
          <a:p>
            <a:pPr marL="71755">
              <a:lnSpc>
                <a:spcPct val="100000"/>
              </a:lnSpc>
              <a:spcBef>
                <a:spcPts val="1590"/>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客户背景</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1" name="object 41"/>
          <p:cNvSpPr/>
          <p:nvPr/>
        </p:nvSpPr>
        <p:spPr>
          <a:xfrm>
            <a:off x="2995584" y="2720730"/>
            <a:ext cx="1057161" cy="517792"/>
          </a:xfrm>
          <a:custGeom>
            <a:avLst/>
            <a:gdLst/>
            <a:ahLst/>
            <a:cxnLst/>
            <a:rect l="l" t="t" r="r" b="b"/>
            <a:pathLst>
              <a:path w="1057910" h="518160">
                <a:moveTo>
                  <a:pt x="0" y="518160"/>
                </a:moveTo>
                <a:lnTo>
                  <a:pt x="1057656" y="518160"/>
                </a:lnTo>
                <a:lnTo>
                  <a:pt x="1057656" y="0"/>
                </a:lnTo>
                <a:lnTo>
                  <a:pt x="0" y="0"/>
                </a:lnTo>
                <a:lnTo>
                  <a:pt x="0" y="51816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2" name="object 42"/>
          <p:cNvSpPr txBox="1"/>
          <p:nvPr/>
        </p:nvSpPr>
        <p:spPr>
          <a:xfrm>
            <a:off x="2995584" y="2720730"/>
            <a:ext cx="1057161" cy="464820"/>
          </a:xfrm>
          <a:prstGeom prst="rect">
            <a:avLst/>
          </a:prstGeom>
          <a:ln w="9525">
            <a:solidFill>
              <a:srgbClr val="0066CC"/>
            </a:solidFill>
          </a:ln>
        </p:spPr>
        <p:txBody>
          <a:bodyPr vert="horz" wrap="square" lIns="0" tIns="34900" rIns="0" bIns="0" rtlCol="0">
            <a:spAutoFit/>
          </a:bodyPr>
          <a:lstStyle/>
          <a:p>
            <a:pPr marL="71755">
              <a:lnSpc>
                <a:spcPct val="100000"/>
              </a:lnSpc>
              <a:spcBef>
                <a:spcPts val="275"/>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客户经济</a:t>
            </a:r>
            <a:endParaRPr sz="1400">
              <a:latin typeface="微软雅黑" panose="020B0503020204020204" charset="-122"/>
              <a:ea typeface="微软雅黑" panose="020B0503020204020204" charset="-122"/>
              <a:cs typeface="微软雅黑" panose="020B0503020204020204" charset="-122"/>
            </a:endParaRPr>
          </a:p>
          <a:p>
            <a:pPr marL="71755">
              <a:lnSpc>
                <a:spcPct val="100000"/>
              </a:lnSpc>
            </a:pPr>
            <a:r>
              <a:rPr sz="1400" dirty="0">
                <a:solidFill>
                  <a:srgbClr val="0066CC"/>
                </a:solidFill>
                <a:latin typeface="微软雅黑" panose="020B0503020204020204" charset="-122"/>
                <a:ea typeface="微软雅黑" panose="020B0503020204020204" charset="-122"/>
                <a:cs typeface="微软雅黑" panose="020B0503020204020204" charset="-122"/>
              </a:rPr>
              <a:t>指标</a:t>
            </a:r>
            <a:endParaRPr sz="1400">
              <a:latin typeface="微软雅黑" panose="020B0503020204020204" charset="-122"/>
              <a:ea typeface="微软雅黑" panose="020B0503020204020204" charset="-122"/>
              <a:cs typeface="微软雅黑" panose="020B0503020204020204" charset="-122"/>
            </a:endParaRPr>
          </a:p>
        </p:txBody>
      </p:sp>
      <p:sp>
        <p:nvSpPr>
          <p:cNvPr id="43" name="object 43"/>
          <p:cNvSpPr/>
          <p:nvPr/>
        </p:nvSpPr>
        <p:spPr>
          <a:xfrm>
            <a:off x="2995584" y="3340559"/>
            <a:ext cx="1057161" cy="516524"/>
          </a:xfrm>
          <a:custGeom>
            <a:avLst/>
            <a:gdLst/>
            <a:ahLst/>
            <a:cxnLst/>
            <a:rect l="l" t="t" r="r" b="b"/>
            <a:pathLst>
              <a:path w="1057910" h="516889">
                <a:moveTo>
                  <a:pt x="0" y="516636"/>
                </a:moveTo>
                <a:lnTo>
                  <a:pt x="1057656" y="516636"/>
                </a:lnTo>
                <a:lnTo>
                  <a:pt x="1057656" y="0"/>
                </a:lnTo>
                <a:lnTo>
                  <a:pt x="0" y="0"/>
                </a:lnTo>
                <a:lnTo>
                  <a:pt x="0" y="516636"/>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4" name="object 44"/>
          <p:cNvSpPr txBox="1"/>
          <p:nvPr/>
        </p:nvSpPr>
        <p:spPr>
          <a:xfrm>
            <a:off x="2995584" y="3340559"/>
            <a:ext cx="1057161" cy="464820"/>
          </a:xfrm>
          <a:prstGeom prst="rect">
            <a:avLst/>
          </a:prstGeom>
          <a:ln w="9525">
            <a:solidFill>
              <a:srgbClr val="0066CC"/>
            </a:solidFill>
          </a:ln>
        </p:spPr>
        <p:txBody>
          <a:bodyPr vert="horz" wrap="square" lIns="0" tIns="31091" rIns="0" bIns="0" rtlCol="0">
            <a:spAutoFit/>
          </a:bodyPr>
          <a:lstStyle/>
          <a:p>
            <a:pPr marL="71755" marR="86360">
              <a:lnSpc>
                <a:spcPct val="101000"/>
              </a:lnSpc>
              <a:spcBef>
                <a:spcPts val="245"/>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客户关系与 决策流程</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5" name="object 45"/>
          <p:cNvSpPr/>
          <p:nvPr/>
        </p:nvSpPr>
        <p:spPr>
          <a:xfrm>
            <a:off x="2995584" y="3958865"/>
            <a:ext cx="1057161" cy="517792"/>
          </a:xfrm>
          <a:custGeom>
            <a:avLst/>
            <a:gdLst/>
            <a:ahLst/>
            <a:cxnLst/>
            <a:rect l="l" t="t" r="r" b="b"/>
            <a:pathLst>
              <a:path w="1057910" h="518160">
                <a:moveTo>
                  <a:pt x="0" y="518159"/>
                </a:moveTo>
                <a:lnTo>
                  <a:pt x="1057656" y="518159"/>
                </a:lnTo>
                <a:lnTo>
                  <a:pt x="1057656" y="0"/>
                </a:lnTo>
                <a:lnTo>
                  <a:pt x="0" y="0"/>
                </a:lnTo>
                <a:lnTo>
                  <a:pt x="0" y="518159"/>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6" name="object 46"/>
          <p:cNvSpPr txBox="1"/>
          <p:nvPr/>
        </p:nvSpPr>
        <p:spPr>
          <a:xfrm>
            <a:off x="2995584" y="3958865"/>
            <a:ext cx="1057161" cy="355600"/>
          </a:xfrm>
          <a:prstGeom prst="rect">
            <a:avLst/>
          </a:prstGeom>
          <a:ln w="9525">
            <a:solidFill>
              <a:srgbClr val="0066CC"/>
            </a:solidFill>
          </a:ln>
        </p:spPr>
        <p:txBody>
          <a:bodyPr vert="horz" wrap="square" lIns="0" tIns="140870" rIns="0" bIns="0" rtlCol="0">
            <a:spAutoFit/>
          </a:bodyPr>
          <a:lstStyle/>
          <a:p>
            <a:pPr marL="71755">
              <a:lnSpc>
                <a:spcPct val="100000"/>
              </a:lnSpc>
              <a:spcBef>
                <a:spcPts val="1110"/>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客户需求</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7" name="object 47"/>
          <p:cNvSpPr/>
          <p:nvPr/>
        </p:nvSpPr>
        <p:spPr>
          <a:xfrm>
            <a:off x="2995584" y="4577170"/>
            <a:ext cx="1057161" cy="517792"/>
          </a:xfrm>
          <a:custGeom>
            <a:avLst/>
            <a:gdLst/>
            <a:ahLst/>
            <a:cxnLst/>
            <a:rect l="l" t="t" r="r" b="b"/>
            <a:pathLst>
              <a:path w="1057910" h="518160">
                <a:moveTo>
                  <a:pt x="0" y="518160"/>
                </a:moveTo>
                <a:lnTo>
                  <a:pt x="1057656" y="518160"/>
                </a:lnTo>
                <a:lnTo>
                  <a:pt x="1057656" y="0"/>
                </a:lnTo>
                <a:lnTo>
                  <a:pt x="0" y="0"/>
                </a:lnTo>
                <a:lnTo>
                  <a:pt x="0" y="51816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8" name="object 48"/>
          <p:cNvSpPr txBox="1"/>
          <p:nvPr/>
        </p:nvSpPr>
        <p:spPr>
          <a:xfrm>
            <a:off x="2995584" y="4577170"/>
            <a:ext cx="1057161" cy="356235"/>
          </a:xfrm>
          <a:prstGeom prst="rect">
            <a:avLst/>
          </a:prstGeom>
          <a:ln w="9525">
            <a:solidFill>
              <a:srgbClr val="0066CC"/>
            </a:solidFill>
          </a:ln>
        </p:spPr>
        <p:txBody>
          <a:bodyPr vert="horz" wrap="square" lIns="0" tIns="141504" rIns="0" bIns="0" rtlCol="0">
            <a:spAutoFit/>
          </a:bodyPr>
          <a:lstStyle/>
          <a:p>
            <a:pPr marL="71755">
              <a:lnSpc>
                <a:spcPct val="100000"/>
              </a:lnSpc>
              <a:spcBef>
                <a:spcPts val="1115"/>
              </a:spcBef>
            </a:pPr>
            <a:r>
              <a:rPr sz="1400" dirty="0">
                <a:solidFill>
                  <a:srgbClr val="0066CC"/>
                </a:solidFill>
                <a:latin typeface="微软雅黑" panose="020B0503020204020204" charset="-122"/>
                <a:ea typeface="微软雅黑" panose="020B0503020204020204" charset="-122"/>
                <a:cs typeface="微软雅黑" panose="020B0503020204020204" charset="-122"/>
              </a:rPr>
              <a:t>风险分析</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9" name="object 49"/>
          <p:cNvSpPr txBox="1"/>
          <p:nvPr/>
        </p:nvSpPr>
        <p:spPr>
          <a:xfrm>
            <a:off x="2982893" y="1535644"/>
            <a:ext cx="1045739"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大客户分析</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5526679" y="2283652"/>
            <a:ext cx="3268569" cy="1708844"/>
          </a:xfrm>
          <a:custGeom>
            <a:avLst/>
            <a:gdLst/>
            <a:ahLst/>
            <a:cxnLst/>
            <a:rect l="l" t="t" r="r" b="b"/>
            <a:pathLst>
              <a:path w="3270884" h="1710054">
                <a:moveTo>
                  <a:pt x="3270504" y="0"/>
                </a:moveTo>
                <a:lnTo>
                  <a:pt x="0" y="0"/>
                </a:lnTo>
                <a:lnTo>
                  <a:pt x="584073" y="1709927"/>
                </a:lnTo>
                <a:lnTo>
                  <a:pt x="3270504" y="1709927"/>
                </a:lnTo>
                <a:lnTo>
                  <a:pt x="3270504" y="0"/>
                </a:lnTo>
                <a:close/>
              </a:path>
            </a:pathLst>
          </a:custGeom>
          <a:solidFill>
            <a:srgbClr val="D0D0D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 name="object 4"/>
          <p:cNvSpPr/>
          <p:nvPr/>
        </p:nvSpPr>
        <p:spPr>
          <a:xfrm>
            <a:off x="231483" y="2283652"/>
            <a:ext cx="3222881" cy="1708844"/>
          </a:xfrm>
          <a:custGeom>
            <a:avLst/>
            <a:gdLst/>
            <a:ahLst/>
            <a:cxnLst/>
            <a:rect l="l" t="t" r="r" b="b"/>
            <a:pathLst>
              <a:path w="3225165" h="1710054">
                <a:moveTo>
                  <a:pt x="3224784" y="0"/>
                </a:moveTo>
                <a:lnTo>
                  <a:pt x="0" y="0"/>
                </a:lnTo>
                <a:lnTo>
                  <a:pt x="0" y="1709927"/>
                </a:lnTo>
                <a:lnTo>
                  <a:pt x="2648966" y="1709927"/>
                </a:lnTo>
                <a:lnTo>
                  <a:pt x="3224784" y="0"/>
                </a:lnTo>
                <a:close/>
              </a:path>
            </a:pathLst>
          </a:custGeom>
          <a:solidFill>
            <a:srgbClr val="D0D0D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p:nvPr/>
        </p:nvSpPr>
        <p:spPr>
          <a:xfrm>
            <a:off x="4541348" y="4120294"/>
            <a:ext cx="4254025" cy="1705671"/>
          </a:xfrm>
          <a:custGeom>
            <a:avLst/>
            <a:gdLst/>
            <a:ahLst/>
            <a:cxnLst/>
            <a:rect l="l" t="t" r="r" b="b"/>
            <a:pathLst>
              <a:path w="4257040" h="1706879">
                <a:moveTo>
                  <a:pt x="0" y="1706880"/>
                </a:moveTo>
                <a:lnTo>
                  <a:pt x="4256532" y="1706880"/>
                </a:lnTo>
                <a:lnTo>
                  <a:pt x="4256532" y="0"/>
                </a:lnTo>
                <a:lnTo>
                  <a:pt x="0" y="0"/>
                </a:lnTo>
                <a:lnTo>
                  <a:pt x="0" y="1706880"/>
                </a:lnTo>
                <a:close/>
              </a:path>
            </a:pathLst>
          </a:custGeom>
          <a:solidFill>
            <a:srgbClr val="D0D0D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231483" y="4120294"/>
            <a:ext cx="4193108" cy="1705671"/>
          </a:xfrm>
          <a:custGeom>
            <a:avLst/>
            <a:gdLst/>
            <a:ahLst/>
            <a:cxnLst/>
            <a:rect l="l" t="t" r="r" b="b"/>
            <a:pathLst>
              <a:path w="4196080" h="1706879">
                <a:moveTo>
                  <a:pt x="0" y="1706880"/>
                </a:moveTo>
                <a:lnTo>
                  <a:pt x="4195572" y="1706880"/>
                </a:lnTo>
                <a:lnTo>
                  <a:pt x="4195572" y="0"/>
                </a:lnTo>
                <a:lnTo>
                  <a:pt x="0" y="0"/>
                </a:lnTo>
                <a:lnTo>
                  <a:pt x="0" y="1706880"/>
                </a:lnTo>
                <a:close/>
              </a:path>
            </a:pathLst>
          </a:custGeom>
          <a:solidFill>
            <a:srgbClr val="D0D0D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231483" y="1056178"/>
            <a:ext cx="8563891" cy="1156151"/>
          </a:xfrm>
          <a:custGeom>
            <a:avLst/>
            <a:gdLst/>
            <a:ahLst/>
            <a:cxnLst/>
            <a:rect l="l" t="t" r="r" b="b"/>
            <a:pathLst>
              <a:path w="8569960" h="1156970">
                <a:moveTo>
                  <a:pt x="0" y="1156715"/>
                </a:moveTo>
                <a:lnTo>
                  <a:pt x="8569452" y="1156715"/>
                </a:lnTo>
                <a:lnTo>
                  <a:pt x="8569452" y="0"/>
                </a:lnTo>
                <a:lnTo>
                  <a:pt x="0" y="0"/>
                </a:lnTo>
                <a:lnTo>
                  <a:pt x="0" y="1156715"/>
                </a:lnTo>
                <a:close/>
              </a:path>
            </a:pathLst>
          </a:custGeom>
          <a:solidFill>
            <a:srgbClr val="D0D0D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3552973" y="1587677"/>
            <a:ext cx="1875096" cy="1500077"/>
          </a:xfrm>
          <a:custGeom>
            <a:avLst/>
            <a:gdLst/>
            <a:ahLst/>
            <a:cxnLst/>
            <a:rect l="l" t="t" r="r" b="b"/>
            <a:pathLst>
              <a:path w="1876425" h="1501139">
                <a:moveTo>
                  <a:pt x="953516" y="0"/>
                </a:moveTo>
                <a:lnTo>
                  <a:pt x="0" y="639445"/>
                </a:lnTo>
                <a:lnTo>
                  <a:pt x="639953" y="1501140"/>
                </a:lnTo>
                <a:lnTo>
                  <a:pt x="1226947" y="1461008"/>
                </a:lnTo>
                <a:lnTo>
                  <a:pt x="1876044" y="613918"/>
                </a:lnTo>
                <a:lnTo>
                  <a:pt x="953516" y="0"/>
                </a:lnTo>
                <a:close/>
              </a:path>
            </a:pathLst>
          </a:custGeom>
          <a:solidFill>
            <a:srgbClr val="A7A7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4538304" y="3829416"/>
            <a:ext cx="1543226" cy="1345247"/>
          </a:xfrm>
          <a:custGeom>
            <a:avLst/>
            <a:gdLst/>
            <a:ahLst/>
            <a:cxnLst/>
            <a:rect l="l" t="t" r="r" b="b"/>
            <a:pathLst>
              <a:path w="1544320" h="1346200">
                <a:moveTo>
                  <a:pt x="333247" y="0"/>
                </a:moveTo>
                <a:lnTo>
                  <a:pt x="0" y="296544"/>
                </a:lnTo>
                <a:lnTo>
                  <a:pt x="3428" y="1342389"/>
                </a:lnTo>
                <a:lnTo>
                  <a:pt x="1164716" y="1345691"/>
                </a:lnTo>
                <a:lnTo>
                  <a:pt x="1543812" y="322579"/>
                </a:lnTo>
                <a:lnTo>
                  <a:pt x="333247" y="0"/>
                </a:lnTo>
                <a:close/>
              </a:path>
            </a:pathLst>
          </a:custGeom>
          <a:solidFill>
            <a:srgbClr val="A7A7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4903804" y="2263854"/>
            <a:ext cx="1594625" cy="1739302"/>
          </a:xfrm>
          <a:custGeom>
            <a:avLst/>
            <a:gdLst/>
            <a:ahLst/>
            <a:cxnLst/>
            <a:rect l="l" t="t" r="r" b="b"/>
            <a:pathLst>
              <a:path w="1595754" h="1740535">
                <a:moveTo>
                  <a:pt x="635762" y="0"/>
                </a:moveTo>
                <a:lnTo>
                  <a:pt x="0" y="862964"/>
                </a:lnTo>
                <a:lnTo>
                  <a:pt x="216789" y="1440052"/>
                </a:lnTo>
                <a:lnTo>
                  <a:pt x="1218565" y="1740408"/>
                </a:lnTo>
                <a:lnTo>
                  <a:pt x="1595627" y="660908"/>
                </a:lnTo>
                <a:lnTo>
                  <a:pt x="635762" y="0"/>
                </a:lnTo>
                <a:close/>
              </a:path>
            </a:pathLst>
          </a:custGeom>
          <a:solidFill>
            <a:srgbClr val="A7A7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2528047" y="2289744"/>
            <a:ext cx="1587010" cy="1699959"/>
          </a:xfrm>
          <a:custGeom>
            <a:avLst/>
            <a:gdLst/>
            <a:ahLst/>
            <a:cxnLst/>
            <a:rect l="l" t="t" r="r" b="b"/>
            <a:pathLst>
              <a:path w="1588135" h="1701164">
                <a:moveTo>
                  <a:pt x="931926" y="0"/>
                </a:moveTo>
                <a:lnTo>
                  <a:pt x="0" y="645287"/>
                </a:lnTo>
                <a:lnTo>
                  <a:pt x="363982" y="1700783"/>
                </a:lnTo>
                <a:lnTo>
                  <a:pt x="1392174" y="1387093"/>
                </a:lnTo>
                <a:lnTo>
                  <a:pt x="1588008" y="965580"/>
                </a:lnTo>
                <a:lnTo>
                  <a:pt x="931926" y="0"/>
                </a:lnTo>
                <a:close/>
              </a:path>
            </a:pathLst>
          </a:custGeom>
          <a:solidFill>
            <a:srgbClr val="A7A7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2905733" y="3791343"/>
            <a:ext cx="1522921" cy="1383320"/>
          </a:xfrm>
          <a:custGeom>
            <a:avLst/>
            <a:gdLst/>
            <a:ahLst/>
            <a:cxnLst/>
            <a:rect l="l" t="t" r="r" b="b"/>
            <a:pathLst>
              <a:path w="1524000" h="1384300">
                <a:moveTo>
                  <a:pt x="1195070" y="0"/>
                </a:moveTo>
                <a:lnTo>
                  <a:pt x="0" y="331723"/>
                </a:lnTo>
                <a:lnTo>
                  <a:pt x="374269" y="1383791"/>
                </a:lnTo>
                <a:lnTo>
                  <a:pt x="1520697" y="1380489"/>
                </a:lnTo>
                <a:lnTo>
                  <a:pt x="1523999" y="304926"/>
                </a:lnTo>
                <a:lnTo>
                  <a:pt x="1195070" y="0"/>
                </a:lnTo>
                <a:close/>
              </a:path>
            </a:pathLst>
          </a:custGeom>
          <a:solidFill>
            <a:srgbClr val="A7A7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4294382" y="1898099"/>
            <a:ext cx="402939" cy="450531"/>
          </a:xfrm>
          <a:custGeom>
            <a:avLst/>
            <a:gdLst/>
            <a:ahLst/>
            <a:cxnLst/>
            <a:rect l="l" t="t" r="r" b="b"/>
            <a:pathLst>
              <a:path w="403225" h="450850">
                <a:moveTo>
                  <a:pt x="264033" y="0"/>
                </a:moveTo>
                <a:lnTo>
                  <a:pt x="139191" y="0"/>
                </a:lnTo>
                <a:lnTo>
                  <a:pt x="0" y="450850"/>
                </a:lnTo>
                <a:lnTo>
                  <a:pt x="116839" y="450850"/>
                </a:lnTo>
                <a:lnTo>
                  <a:pt x="130323" y="395021"/>
                </a:lnTo>
                <a:lnTo>
                  <a:pt x="134874" y="376427"/>
                </a:lnTo>
                <a:lnTo>
                  <a:pt x="380216" y="376427"/>
                </a:lnTo>
                <a:lnTo>
                  <a:pt x="350101" y="278891"/>
                </a:lnTo>
                <a:lnTo>
                  <a:pt x="159765" y="278891"/>
                </a:lnTo>
                <a:lnTo>
                  <a:pt x="200151" y="116839"/>
                </a:lnTo>
                <a:lnTo>
                  <a:pt x="300091" y="116839"/>
                </a:lnTo>
                <a:lnTo>
                  <a:pt x="264033" y="0"/>
                </a:lnTo>
                <a:close/>
              </a:path>
              <a:path w="403225" h="450850">
                <a:moveTo>
                  <a:pt x="380216" y="376427"/>
                </a:moveTo>
                <a:lnTo>
                  <a:pt x="264795" y="376427"/>
                </a:lnTo>
                <a:lnTo>
                  <a:pt x="269442" y="395021"/>
                </a:lnTo>
                <a:lnTo>
                  <a:pt x="278689" y="432256"/>
                </a:lnTo>
                <a:lnTo>
                  <a:pt x="283337" y="450850"/>
                </a:lnTo>
                <a:lnTo>
                  <a:pt x="403225" y="450850"/>
                </a:lnTo>
                <a:lnTo>
                  <a:pt x="380216" y="376427"/>
                </a:lnTo>
                <a:close/>
              </a:path>
              <a:path w="403225" h="450850">
                <a:moveTo>
                  <a:pt x="300091" y="116839"/>
                </a:moveTo>
                <a:lnTo>
                  <a:pt x="200151" y="116839"/>
                </a:lnTo>
                <a:lnTo>
                  <a:pt x="210363" y="157394"/>
                </a:lnTo>
                <a:lnTo>
                  <a:pt x="241046" y="278891"/>
                </a:lnTo>
                <a:lnTo>
                  <a:pt x="350101" y="278891"/>
                </a:lnTo>
                <a:lnTo>
                  <a:pt x="300091" y="116839"/>
                </a:lnTo>
                <a:close/>
              </a:path>
            </a:pathLst>
          </a:custGeom>
          <a:solidFill>
            <a:srgbClr val="1F1F7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3477336" y="4514096"/>
            <a:ext cx="345830" cy="450531"/>
          </a:xfrm>
          <a:custGeom>
            <a:avLst/>
            <a:gdLst/>
            <a:ahLst/>
            <a:cxnLst/>
            <a:rect l="l" t="t" r="r" b="b"/>
            <a:pathLst>
              <a:path w="346075" h="450850">
                <a:moveTo>
                  <a:pt x="179832" y="0"/>
                </a:moveTo>
                <a:lnTo>
                  <a:pt x="139305" y="3621"/>
                </a:lnTo>
                <a:lnTo>
                  <a:pt x="72872" y="32629"/>
                </a:lnTo>
                <a:lnTo>
                  <a:pt x="27558" y="88020"/>
                </a:lnTo>
                <a:lnTo>
                  <a:pt x="13271" y="123491"/>
                </a:lnTo>
                <a:lnTo>
                  <a:pt x="4127" y="164463"/>
                </a:lnTo>
                <a:lnTo>
                  <a:pt x="126" y="210946"/>
                </a:lnTo>
                <a:lnTo>
                  <a:pt x="0" y="224281"/>
                </a:lnTo>
                <a:lnTo>
                  <a:pt x="380" y="244094"/>
                </a:lnTo>
                <a:lnTo>
                  <a:pt x="8477" y="306371"/>
                </a:lnTo>
                <a:lnTo>
                  <a:pt x="26670" y="357505"/>
                </a:lnTo>
                <a:lnTo>
                  <a:pt x="55895" y="401637"/>
                </a:lnTo>
                <a:lnTo>
                  <a:pt x="90170" y="430149"/>
                </a:lnTo>
                <a:lnTo>
                  <a:pt x="132254" y="445643"/>
                </a:lnTo>
                <a:lnTo>
                  <a:pt x="184912" y="450850"/>
                </a:lnTo>
                <a:lnTo>
                  <a:pt x="207770" y="449780"/>
                </a:lnTo>
                <a:lnTo>
                  <a:pt x="247151" y="441259"/>
                </a:lnTo>
                <a:lnTo>
                  <a:pt x="292131" y="412781"/>
                </a:lnTo>
                <a:lnTo>
                  <a:pt x="325233" y="365867"/>
                </a:lnTo>
                <a:lnTo>
                  <a:pt x="332114" y="349631"/>
                </a:lnTo>
                <a:lnTo>
                  <a:pt x="178562" y="349631"/>
                </a:lnTo>
                <a:lnTo>
                  <a:pt x="163254" y="347962"/>
                </a:lnTo>
                <a:lnTo>
                  <a:pt x="128142" y="322833"/>
                </a:lnTo>
                <a:lnTo>
                  <a:pt x="114712" y="284543"/>
                </a:lnTo>
                <a:lnTo>
                  <a:pt x="110265" y="224281"/>
                </a:lnTo>
                <a:lnTo>
                  <a:pt x="110357" y="219837"/>
                </a:lnTo>
                <a:lnTo>
                  <a:pt x="113966" y="172704"/>
                </a:lnTo>
                <a:lnTo>
                  <a:pt x="136296" y="121445"/>
                </a:lnTo>
                <a:lnTo>
                  <a:pt x="182499" y="100711"/>
                </a:lnTo>
                <a:lnTo>
                  <a:pt x="330873" y="100711"/>
                </a:lnTo>
                <a:lnTo>
                  <a:pt x="319024" y="75485"/>
                </a:lnTo>
                <a:lnTo>
                  <a:pt x="285496" y="33274"/>
                </a:lnTo>
                <a:lnTo>
                  <a:pt x="239855" y="8302"/>
                </a:lnTo>
                <a:lnTo>
                  <a:pt x="211647" y="2073"/>
                </a:lnTo>
                <a:lnTo>
                  <a:pt x="179832" y="0"/>
                </a:lnTo>
                <a:close/>
              </a:path>
              <a:path w="346075" h="450850">
                <a:moveTo>
                  <a:pt x="249682" y="264921"/>
                </a:moveTo>
                <a:lnTo>
                  <a:pt x="233840" y="315839"/>
                </a:lnTo>
                <a:lnTo>
                  <a:pt x="206295" y="344201"/>
                </a:lnTo>
                <a:lnTo>
                  <a:pt x="178562" y="349631"/>
                </a:lnTo>
                <a:lnTo>
                  <a:pt x="332114" y="349631"/>
                </a:lnTo>
                <a:lnTo>
                  <a:pt x="333581" y="346170"/>
                </a:lnTo>
                <a:lnTo>
                  <a:pt x="340524" y="324425"/>
                </a:lnTo>
                <a:lnTo>
                  <a:pt x="346075" y="300608"/>
                </a:lnTo>
                <a:lnTo>
                  <a:pt x="249682" y="264921"/>
                </a:lnTo>
                <a:close/>
              </a:path>
              <a:path w="346075" h="450850">
                <a:moveTo>
                  <a:pt x="330873" y="100711"/>
                </a:moveTo>
                <a:lnTo>
                  <a:pt x="182499" y="100711"/>
                </a:lnTo>
                <a:lnTo>
                  <a:pt x="190573" y="101234"/>
                </a:lnTo>
                <a:lnTo>
                  <a:pt x="198231" y="102806"/>
                </a:lnTo>
                <a:lnTo>
                  <a:pt x="230042" y="125577"/>
                </a:lnTo>
                <a:lnTo>
                  <a:pt x="245617" y="162051"/>
                </a:lnTo>
                <a:lnTo>
                  <a:pt x="342646" y="135508"/>
                </a:lnTo>
                <a:lnTo>
                  <a:pt x="332073" y="103264"/>
                </a:lnTo>
                <a:lnTo>
                  <a:pt x="330873" y="100711"/>
                </a:lnTo>
                <a:close/>
              </a:path>
            </a:pathLst>
          </a:custGeom>
          <a:solidFill>
            <a:srgbClr val="1F1F7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5147853" y="4514096"/>
            <a:ext cx="344561" cy="450531"/>
          </a:xfrm>
          <a:custGeom>
            <a:avLst/>
            <a:gdLst/>
            <a:ahLst/>
            <a:cxnLst/>
            <a:rect l="l" t="t" r="r" b="b"/>
            <a:pathLst>
              <a:path w="344804" h="450850">
                <a:moveTo>
                  <a:pt x="171831" y="0"/>
                </a:moveTo>
                <a:lnTo>
                  <a:pt x="0" y="0"/>
                </a:lnTo>
                <a:lnTo>
                  <a:pt x="0" y="450850"/>
                </a:lnTo>
                <a:lnTo>
                  <a:pt x="171831" y="450850"/>
                </a:lnTo>
                <a:lnTo>
                  <a:pt x="187713" y="450068"/>
                </a:lnTo>
                <a:lnTo>
                  <a:pt x="240791" y="438531"/>
                </a:lnTo>
                <a:lnTo>
                  <a:pt x="280475" y="415028"/>
                </a:lnTo>
                <a:lnTo>
                  <a:pt x="314451" y="372506"/>
                </a:lnTo>
                <a:lnTo>
                  <a:pt x="325853" y="348361"/>
                </a:lnTo>
                <a:lnTo>
                  <a:pt x="115570" y="348361"/>
                </a:lnTo>
                <a:lnTo>
                  <a:pt x="115570" y="101981"/>
                </a:lnTo>
                <a:lnTo>
                  <a:pt x="324723" y="101981"/>
                </a:lnTo>
                <a:lnTo>
                  <a:pt x="323230" y="97821"/>
                </a:lnTo>
                <a:lnTo>
                  <a:pt x="294681" y="49621"/>
                </a:lnTo>
                <a:lnTo>
                  <a:pt x="253873" y="16509"/>
                </a:lnTo>
                <a:lnTo>
                  <a:pt x="217709" y="4111"/>
                </a:lnTo>
                <a:lnTo>
                  <a:pt x="195972" y="1025"/>
                </a:lnTo>
                <a:lnTo>
                  <a:pt x="171831" y="0"/>
                </a:lnTo>
                <a:close/>
              </a:path>
              <a:path w="344804" h="450850">
                <a:moveTo>
                  <a:pt x="324723" y="101981"/>
                </a:moveTo>
                <a:lnTo>
                  <a:pt x="144525" y="101981"/>
                </a:lnTo>
                <a:lnTo>
                  <a:pt x="165389" y="103645"/>
                </a:lnTo>
                <a:lnTo>
                  <a:pt x="183038" y="108632"/>
                </a:lnTo>
                <a:lnTo>
                  <a:pt x="217289" y="144575"/>
                </a:lnTo>
                <a:lnTo>
                  <a:pt x="227004" y="193585"/>
                </a:lnTo>
                <a:lnTo>
                  <a:pt x="228219" y="226568"/>
                </a:lnTo>
                <a:lnTo>
                  <a:pt x="227673" y="251757"/>
                </a:lnTo>
                <a:lnTo>
                  <a:pt x="223343" y="290897"/>
                </a:lnTo>
                <a:lnTo>
                  <a:pt x="202795" y="332946"/>
                </a:lnTo>
                <a:lnTo>
                  <a:pt x="160807" y="347763"/>
                </a:lnTo>
                <a:lnTo>
                  <a:pt x="144018" y="348361"/>
                </a:lnTo>
                <a:lnTo>
                  <a:pt x="325853" y="348361"/>
                </a:lnTo>
                <a:lnTo>
                  <a:pt x="340995" y="287988"/>
                </a:lnTo>
                <a:lnTo>
                  <a:pt x="344424" y="223774"/>
                </a:lnTo>
                <a:lnTo>
                  <a:pt x="343852" y="201033"/>
                </a:lnTo>
                <a:lnTo>
                  <a:pt x="342138" y="178911"/>
                </a:lnTo>
                <a:lnTo>
                  <a:pt x="339280" y="157408"/>
                </a:lnTo>
                <a:lnTo>
                  <a:pt x="335279" y="136525"/>
                </a:lnTo>
                <a:lnTo>
                  <a:pt x="329940" y="116518"/>
                </a:lnTo>
                <a:lnTo>
                  <a:pt x="324723" y="101981"/>
                </a:lnTo>
                <a:close/>
              </a:path>
            </a:pathLst>
          </a:custGeom>
          <a:solidFill>
            <a:srgbClr val="1F1F7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p:nvPr/>
        </p:nvSpPr>
        <p:spPr>
          <a:xfrm>
            <a:off x="3042669" y="2845102"/>
            <a:ext cx="345830" cy="450531"/>
          </a:xfrm>
          <a:custGeom>
            <a:avLst/>
            <a:gdLst/>
            <a:ahLst/>
            <a:cxnLst/>
            <a:rect l="l" t="t" r="r" b="b"/>
            <a:pathLst>
              <a:path w="346075" h="450850">
                <a:moveTo>
                  <a:pt x="216535" y="0"/>
                </a:moveTo>
                <a:lnTo>
                  <a:pt x="0" y="0"/>
                </a:lnTo>
                <a:lnTo>
                  <a:pt x="0" y="450850"/>
                </a:lnTo>
                <a:lnTo>
                  <a:pt x="199770" y="450850"/>
                </a:lnTo>
                <a:lnTo>
                  <a:pt x="207795" y="450469"/>
                </a:lnTo>
                <a:lnTo>
                  <a:pt x="251587" y="444753"/>
                </a:lnTo>
                <a:lnTo>
                  <a:pt x="295528" y="430021"/>
                </a:lnTo>
                <a:lnTo>
                  <a:pt x="325104" y="398964"/>
                </a:lnTo>
                <a:lnTo>
                  <a:pt x="342661" y="355965"/>
                </a:lnTo>
                <a:lnTo>
                  <a:pt x="342960" y="354075"/>
                </a:lnTo>
                <a:lnTo>
                  <a:pt x="116712" y="354075"/>
                </a:lnTo>
                <a:lnTo>
                  <a:pt x="116712" y="262763"/>
                </a:lnTo>
                <a:lnTo>
                  <a:pt x="333395" y="262763"/>
                </a:lnTo>
                <a:lnTo>
                  <a:pt x="327025" y="251205"/>
                </a:lnTo>
                <a:lnTo>
                  <a:pt x="316168" y="237988"/>
                </a:lnTo>
                <a:lnTo>
                  <a:pt x="302656" y="226901"/>
                </a:lnTo>
                <a:lnTo>
                  <a:pt x="286502" y="217933"/>
                </a:lnTo>
                <a:lnTo>
                  <a:pt x="267715" y="211074"/>
                </a:lnTo>
                <a:lnTo>
                  <a:pt x="280167" y="205029"/>
                </a:lnTo>
                <a:lnTo>
                  <a:pt x="291036" y="197961"/>
                </a:lnTo>
                <a:lnTo>
                  <a:pt x="300309" y="189892"/>
                </a:lnTo>
                <a:lnTo>
                  <a:pt x="307975" y="180848"/>
                </a:lnTo>
                <a:lnTo>
                  <a:pt x="310356" y="176911"/>
                </a:lnTo>
                <a:lnTo>
                  <a:pt x="116712" y="176911"/>
                </a:lnTo>
                <a:lnTo>
                  <a:pt x="116712" y="91439"/>
                </a:lnTo>
                <a:lnTo>
                  <a:pt x="327026" y="91439"/>
                </a:lnTo>
                <a:lnTo>
                  <a:pt x="326866" y="89409"/>
                </a:lnTo>
                <a:lnTo>
                  <a:pt x="312388" y="49456"/>
                </a:lnTo>
                <a:lnTo>
                  <a:pt x="283668" y="18216"/>
                </a:lnTo>
                <a:lnTo>
                  <a:pt x="242087" y="2024"/>
                </a:lnTo>
                <a:lnTo>
                  <a:pt x="216535" y="0"/>
                </a:lnTo>
                <a:close/>
              </a:path>
              <a:path w="346075" h="450850">
                <a:moveTo>
                  <a:pt x="333395" y="262763"/>
                </a:moveTo>
                <a:lnTo>
                  <a:pt x="175513" y="262763"/>
                </a:lnTo>
                <a:lnTo>
                  <a:pt x="189535" y="263505"/>
                </a:lnTo>
                <a:lnTo>
                  <a:pt x="201294" y="265747"/>
                </a:lnTo>
                <a:lnTo>
                  <a:pt x="229362" y="297455"/>
                </a:lnTo>
                <a:lnTo>
                  <a:pt x="230124" y="306958"/>
                </a:lnTo>
                <a:lnTo>
                  <a:pt x="229360" y="317174"/>
                </a:lnTo>
                <a:lnTo>
                  <a:pt x="201167" y="350853"/>
                </a:lnTo>
                <a:lnTo>
                  <a:pt x="175768" y="354075"/>
                </a:lnTo>
                <a:lnTo>
                  <a:pt x="342960" y="354075"/>
                </a:lnTo>
                <a:lnTo>
                  <a:pt x="345219" y="339782"/>
                </a:lnTo>
                <a:lnTo>
                  <a:pt x="346075" y="322706"/>
                </a:lnTo>
                <a:lnTo>
                  <a:pt x="344884" y="302087"/>
                </a:lnTo>
                <a:lnTo>
                  <a:pt x="341312" y="283289"/>
                </a:lnTo>
                <a:lnTo>
                  <a:pt x="335359" y="266324"/>
                </a:lnTo>
                <a:lnTo>
                  <a:pt x="333395" y="262763"/>
                </a:lnTo>
                <a:close/>
              </a:path>
              <a:path w="346075" h="450850">
                <a:moveTo>
                  <a:pt x="327026" y="91439"/>
                </a:moveTo>
                <a:lnTo>
                  <a:pt x="167767" y="91439"/>
                </a:lnTo>
                <a:lnTo>
                  <a:pt x="179935" y="92130"/>
                </a:lnTo>
                <a:lnTo>
                  <a:pt x="190150" y="94202"/>
                </a:lnTo>
                <a:lnTo>
                  <a:pt x="214618" y="123938"/>
                </a:lnTo>
                <a:lnTo>
                  <a:pt x="215264" y="133223"/>
                </a:lnTo>
                <a:lnTo>
                  <a:pt x="214618" y="143196"/>
                </a:lnTo>
                <a:lnTo>
                  <a:pt x="189960" y="174085"/>
                </a:lnTo>
                <a:lnTo>
                  <a:pt x="167005" y="176911"/>
                </a:lnTo>
                <a:lnTo>
                  <a:pt x="310356" y="176911"/>
                </a:lnTo>
                <a:lnTo>
                  <a:pt x="317049" y="165846"/>
                </a:lnTo>
                <a:lnTo>
                  <a:pt x="323516" y="149415"/>
                </a:lnTo>
                <a:lnTo>
                  <a:pt x="327388" y="131556"/>
                </a:lnTo>
                <a:lnTo>
                  <a:pt x="328675" y="112267"/>
                </a:lnTo>
                <a:lnTo>
                  <a:pt x="327026" y="91439"/>
                </a:lnTo>
                <a:close/>
              </a:path>
            </a:pathLst>
          </a:custGeom>
          <a:solidFill>
            <a:srgbClr val="1F1F7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p:nvPr/>
        </p:nvSpPr>
        <p:spPr>
          <a:xfrm>
            <a:off x="5631634" y="3193851"/>
            <a:ext cx="345830" cy="101528"/>
          </a:xfrm>
          <a:custGeom>
            <a:avLst/>
            <a:gdLst/>
            <a:ahLst/>
            <a:cxnLst/>
            <a:rect l="l" t="t" r="r" b="b"/>
            <a:pathLst>
              <a:path w="346075" h="101600">
                <a:moveTo>
                  <a:pt x="0" y="101600"/>
                </a:moveTo>
                <a:lnTo>
                  <a:pt x="346075" y="101600"/>
                </a:lnTo>
                <a:lnTo>
                  <a:pt x="346075" y="0"/>
                </a:lnTo>
                <a:lnTo>
                  <a:pt x="0" y="0"/>
                </a:lnTo>
                <a:lnTo>
                  <a:pt x="0" y="101600"/>
                </a:lnTo>
                <a:close/>
              </a:path>
            </a:pathLst>
          </a:custGeom>
          <a:solidFill>
            <a:srgbClr val="1F1F7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p:nvPr/>
        </p:nvSpPr>
        <p:spPr>
          <a:xfrm>
            <a:off x="5631634" y="3105014"/>
            <a:ext cx="127545" cy="88837"/>
          </a:xfrm>
          <a:custGeom>
            <a:avLst/>
            <a:gdLst/>
            <a:ahLst/>
            <a:cxnLst/>
            <a:rect l="l" t="t" r="r" b="b"/>
            <a:pathLst>
              <a:path w="127635" h="88900">
                <a:moveTo>
                  <a:pt x="0" y="88900"/>
                </a:moveTo>
                <a:lnTo>
                  <a:pt x="127126" y="88900"/>
                </a:lnTo>
                <a:lnTo>
                  <a:pt x="127126" y="0"/>
                </a:lnTo>
                <a:lnTo>
                  <a:pt x="0" y="0"/>
                </a:lnTo>
                <a:lnTo>
                  <a:pt x="0" y="88900"/>
                </a:lnTo>
                <a:close/>
              </a:path>
            </a:pathLst>
          </a:custGeom>
          <a:solidFill>
            <a:srgbClr val="1F1F7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p:nvPr/>
        </p:nvSpPr>
        <p:spPr>
          <a:xfrm>
            <a:off x="5631634" y="3013638"/>
            <a:ext cx="324255" cy="91375"/>
          </a:xfrm>
          <a:custGeom>
            <a:avLst/>
            <a:gdLst/>
            <a:ahLst/>
            <a:cxnLst/>
            <a:rect l="l" t="t" r="r" b="b"/>
            <a:pathLst>
              <a:path w="324485" h="91439">
                <a:moveTo>
                  <a:pt x="0" y="91439"/>
                </a:moveTo>
                <a:lnTo>
                  <a:pt x="324485" y="91439"/>
                </a:lnTo>
                <a:lnTo>
                  <a:pt x="324485" y="0"/>
                </a:lnTo>
                <a:lnTo>
                  <a:pt x="0" y="0"/>
                </a:lnTo>
                <a:lnTo>
                  <a:pt x="0" y="91439"/>
                </a:lnTo>
                <a:close/>
              </a:path>
            </a:pathLst>
          </a:custGeom>
          <a:solidFill>
            <a:srgbClr val="1F1F7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p:nvPr/>
        </p:nvSpPr>
        <p:spPr>
          <a:xfrm>
            <a:off x="5631634" y="2977469"/>
            <a:ext cx="127545" cy="0"/>
          </a:xfrm>
          <a:custGeom>
            <a:avLst/>
            <a:gdLst/>
            <a:ahLst/>
            <a:cxnLst/>
            <a:rect l="l" t="t" r="r" b="b"/>
            <a:pathLst>
              <a:path w="127635">
                <a:moveTo>
                  <a:pt x="0" y="0"/>
                </a:moveTo>
                <a:lnTo>
                  <a:pt x="127126" y="0"/>
                </a:lnTo>
              </a:path>
            </a:pathLst>
          </a:custGeom>
          <a:ln w="72389">
            <a:solidFill>
              <a:srgbClr val="1F1F7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1" name="object 21"/>
          <p:cNvSpPr/>
          <p:nvPr/>
        </p:nvSpPr>
        <p:spPr>
          <a:xfrm>
            <a:off x="5631634" y="2844848"/>
            <a:ext cx="340119" cy="96452"/>
          </a:xfrm>
          <a:custGeom>
            <a:avLst/>
            <a:gdLst/>
            <a:ahLst/>
            <a:cxnLst/>
            <a:rect l="l" t="t" r="r" b="b"/>
            <a:pathLst>
              <a:path w="340360" h="96519">
                <a:moveTo>
                  <a:pt x="0" y="96520"/>
                </a:moveTo>
                <a:lnTo>
                  <a:pt x="339851" y="96520"/>
                </a:lnTo>
                <a:lnTo>
                  <a:pt x="339851" y="0"/>
                </a:lnTo>
                <a:lnTo>
                  <a:pt x="0" y="0"/>
                </a:lnTo>
                <a:lnTo>
                  <a:pt x="0" y="96520"/>
                </a:lnTo>
                <a:close/>
              </a:path>
            </a:pathLst>
          </a:custGeom>
          <a:solidFill>
            <a:srgbClr val="1F1F7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3501195" y="2556255"/>
            <a:ext cx="2017870" cy="2083354"/>
          </a:xfrm>
          <a:prstGeom prst="rect">
            <a:avLst/>
          </a:prstGeom>
          <a:blipFill>
            <a:blip r:embed="rId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p:nvPr/>
        </p:nvSpPr>
        <p:spPr>
          <a:xfrm>
            <a:off x="3501195" y="2556255"/>
            <a:ext cx="2017870" cy="2083862"/>
          </a:xfrm>
          <a:custGeom>
            <a:avLst/>
            <a:gdLst/>
            <a:ahLst/>
            <a:cxnLst/>
            <a:rect l="l" t="t" r="r" b="b"/>
            <a:pathLst>
              <a:path w="2019300" h="2085339">
                <a:moveTo>
                  <a:pt x="0" y="1042415"/>
                </a:moveTo>
                <a:lnTo>
                  <a:pt x="1098" y="993346"/>
                </a:lnTo>
                <a:lnTo>
                  <a:pt x="4363" y="944860"/>
                </a:lnTo>
                <a:lnTo>
                  <a:pt x="9744" y="897008"/>
                </a:lnTo>
                <a:lnTo>
                  <a:pt x="17193" y="849839"/>
                </a:lnTo>
                <a:lnTo>
                  <a:pt x="26663" y="803405"/>
                </a:lnTo>
                <a:lnTo>
                  <a:pt x="38104" y="757755"/>
                </a:lnTo>
                <a:lnTo>
                  <a:pt x="51468" y="712939"/>
                </a:lnTo>
                <a:lnTo>
                  <a:pt x="66707" y="669007"/>
                </a:lnTo>
                <a:lnTo>
                  <a:pt x="83772" y="626009"/>
                </a:lnTo>
                <a:lnTo>
                  <a:pt x="102614" y="583996"/>
                </a:lnTo>
                <a:lnTo>
                  <a:pt x="123186" y="543017"/>
                </a:lnTo>
                <a:lnTo>
                  <a:pt x="145438" y="503122"/>
                </a:lnTo>
                <a:lnTo>
                  <a:pt x="169323" y="464362"/>
                </a:lnTo>
                <a:lnTo>
                  <a:pt x="194791" y="426787"/>
                </a:lnTo>
                <a:lnTo>
                  <a:pt x="221795" y="390446"/>
                </a:lnTo>
                <a:lnTo>
                  <a:pt x="250285" y="355389"/>
                </a:lnTo>
                <a:lnTo>
                  <a:pt x="280214" y="321668"/>
                </a:lnTo>
                <a:lnTo>
                  <a:pt x="311533" y="289331"/>
                </a:lnTo>
                <a:lnTo>
                  <a:pt x="344194" y="258430"/>
                </a:lnTo>
                <a:lnTo>
                  <a:pt x="378147" y="229013"/>
                </a:lnTo>
                <a:lnTo>
                  <a:pt x="413345" y="201131"/>
                </a:lnTo>
                <a:lnTo>
                  <a:pt x="449739" y="174834"/>
                </a:lnTo>
                <a:lnTo>
                  <a:pt x="487280" y="150173"/>
                </a:lnTo>
                <a:lnTo>
                  <a:pt x="525921" y="127196"/>
                </a:lnTo>
                <a:lnTo>
                  <a:pt x="565612" y="105955"/>
                </a:lnTo>
                <a:lnTo>
                  <a:pt x="606306" y="86500"/>
                </a:lnTo>
                <a:lnTo>
                  <a:pt x="647953" y="68879"/>
                </a:lnTo>
                <a:lnTo>
                  <a:pt x="690506" y="53144"/>
                </a:lnTo>
                <a:lnTo>
                  <a:pt x="733915" y="39345"/>
                </a:lnTo>
                <a:lnTo>
                  <a:pt x="778133" y="27531"/>
                </a:lnTo>
                <a:lnTo>
                  <a:pt x="823110" y="17753"/>
                </a:lnTo>
                <a:lnTo>
                  <a:pt x="868799" y="10061"/>
                </a:lnTo>
                <a:lnTo>
                  <a:pt x="915151" y="4505"/>
                </a:lnTo>
                <a:lnTo>
                  <a:pt x="962117" y="1134"/>
                </a:lnTo>
                <a:lnTo>
                  <a:pt x="1009650" y="0"/>
                </a:lnTo>
                <a:lnTo>
                  <a:pt x="1057182" y="1134"/>
                </a:lnTo>
                <a:lnTo>
                  <a:pt x="1104148" y="4505"/>
                </a:lnTo>
                <a:lnTo>
                  <a:pt x="1150500" y="10061"/>
                </a:lnTo>
                <a:lnTo>
                  <a:pt x="1196189" y="17753"/>
                </a:lnTo>
                <a:lnTo>
                  <a:pt x="1241166" y="27531"/>
                </a:lnTo>
                <a:lnTo>
                  <a:pt x="1285384" y="39345"/>
                </a:lnTo>
                <a:lnTo>
                  <a:pt x="1328793" y="53144"/>
                </a:lnTo>
                <a:lnTo>
                  <a:pt x="1371346" y="68879"/>
                </a:lnTo>
                <a:lnTo>
                  <a:pt x="1412993" y="86500"/>
                </a:lnTo>
                <a:lnTo>
                  <a:pt x="1453687" y="105955"/>
                </a:lnTo>
                <a:lnTo>
                  <a:pt x="1493378" y="127196"/>
                </a:lnTo>
                <a:lnTo>
                  <a:pt x="1532019" y="150173"/>
                </a:lnTo>
                <a:lnTo>
                  <a:pt x="1569560" y="174834"/>
                </a:lnTo>
                <a:lnTo>
                  <a:pt x="1605954" y="201131"/>
                </a:lnTo>
                <a:lnTo>
                  <a:pt x="1641152" y="229013"/>
                </a:lnTo>
                <a:lnTo>
                  <a:pt x="1675105" y="258430"/>
                </a:lnTo>
                <a:lnTo>
                  <a:pt x="1707766" y="289331"/>
                </a:lnTo>
                <a:lnTo>
                  <a:pt x="1739085" y="321668"/>
                </a:lnTo>
                <a:lnTo>
                  <a:pt x="1769014" y="355389"/>
                </a:lnTo>
                <a:lnTo>
                  <a:pt x="1797504" y="390446"/>
                </a:lnTo>
                <a:lnTo>
                  <a:pt x="1824508" y="426787"/>
                </a:lnTo>
                <a:lnTo>
                  <a:pt x="1849976" y="464362"/>
                </a:lnTo>
                <a:lnTo>
                  <a:pt x="1873861" y="503122"/>
                </a:lnTo>
                <a:lnTo>
                  <a:pt x="1896113" y="543017"/>
                </a:lnTo>
                <a:lnTo>
                  <a:pt x="1916685" y="583996"/>
                </a:lnTo>
                <a:lnTo>
                  <a:pt x="1935527" y="626009"/>
                </a:lnTo>
                <a:lnTo>
                  <a:pt x="1952592" y="669007"/>
                </a:lnTo>
                <a:lnTo>
                  <a:pt x="1967831" y="712939"/>
                </a:lnTo>
                <a:lnTo>
                  <a:pt x="1981195" y="757755"/>
                </a:lnTo>
                <a:lnTo>
                  <a:pt x="1992636" y="803405"/>
                </a:lnTo>
                <a:lnTo>
                  <a:pt x="2002106" y="849839"/>
                </a:lnTo>
                <a:lnTo>
                  <a:pt x="2009555" y="897008"/>
                </a:lnTo>
                <a:lnTo>
                  <a:pt x="2014936" y="944860"/>
                </a:lnTo>
                <a:lnTo>
                  <a:pt x="2018201" y="993346"/>
                </a:lnTo>
                <a:lnTo>
                  <a:pt x="2019300" y="1042415"/>
                </a:lnTo>
                <a:lnTo>
                  <a:pt x="2018201" y="1091485"/>
                </a:lnTo>
                <a:lnTo>
                  <a:pt x="2014936" y="1139971"/>
                </a:lnTo>
                <a:lnTo>
                  <a:pt x="2009555" y="1187823"/>
                </a:lnTo>
                <a:lnTo>
                  <a:pt x="2002106" y="1234992"/>
                </a:lnTo>
                <a:lnTo>
                  <a:pt x="1992636" y="1281426"/>
                </a:lnTo>
                <a:lnTo>
                  <a:pt x="1981195" y="1327076"/>
                </a:lnTo>
                <a:lnTo>
                  <a:pt x="1967831" y="1371892"/>
                </a:lnTo>
                <a:lnTo>
                  <a:pt x="1952592" y="1415824"/>
                </a:lnTo>
                <a:lnTo>
                  <a:pt x="1935527" y="1458822"/>
                </a:lnTo>
                <a:lnTo>
                  <a:pt x="1916685" y="1500835"/>
                </a:lnTo>
                <a:lnTo>
                  <a:pt x="1896113" y="1541814"/>
                </a:lnTo>
                <a:lnTo>
                  <a:pt x="1873861" y="1581709"/>
                </a:lnTo>
                <a:lnTo>
                  <a:pt x="1849976" y="1620469"/>
                </a:lnTo>
                <a:lnTo>
                  <a:pt x="1824508" y="1658044"/>
                </a:lnTo>
                <a:lnTo>
                  <a:pt x="1797504" y="1694385"/>
                </a:lnTo>
                <a:lnTo>
                  <a:pt x="1769014" y="1729442"/>
                </a:lnTo>
                <a:lnTo>
                  <a:pt x="1739085" y="1763163"/>
                </a:lnTo>
                <a:lnTo>
                  <a:pt x="1707766" y="1795500"/>
                </a:lnTo>
                <a:lnTo>
                  <a:pt x="1675105" y="1826401"/>
                </a:lnTo>
                <a:lnTo>
                  <a:pt x="1641152" y="1855818"/>
                </a:lnTo>
                <a:lnTo>
                  <a:pt x="1605954" y="1883700"/>
                </a:lnTo>
                <a:lnTo>
                  <a:pt x="1569560" y="1909997"/>
                </a:lnTo>
                <a:lnTo>
                  <a:pt x="1532019" y="1934658"/>
                </a:lnTo>
                <a:lnTo>
                  <a:pt x="1493378" y="1957635"/>
                </a:lnTo>
                <a:lnTo>
                  <a:pt x="1453687" y="1978876"/>
                </a:lnTo>
                <a:lnTo>
                  <a:pt x="1412993" y="1998331"/>
                </a:lnTo>
                <a:lnTo>
                  <a:pt x="1371346" y="2015952"/>
                </a:lnTo>
                <a:lnTo>
                  <a:pt x="1328793" y="2031687"/>
                </a:lnTo>
                <a:lnTo>
                  <a:pt x="1285384" y="2045486"/>
                </a:lnTo>
                <a:lnTo>
                  <a:pt x="1241166" y="2057300"/>
                </a:lnTo>
                <a:lnTo>
                  <a:pt x="1196189" y="2067078"/>
                </a:lnTo>
                <a:lnTo>
                  <a:pt x="1150500" y="2074770"/>
                </a:lnTo>
                <a:lnTo>
                  <a:pt x="1104148" y="2080326"/>
                </a:lnTo>
                <a:lnTo>
                  <a:pt x="1057182" y="2083697"/>
                </a:lnTo>
                <a:lnTo>
                  <a:pt x="1009650" y="2084831"/>
                </a:lnTo>
                <a:lnTo>
                  <a:pt x="962117" y="2083697"/>
                </a:lnTo>
                <a:lnTo>
                  <a:pt x="915151" y="2080326"/>
                </a:lnTo>
                <a:lnTo>
                  <a:pt x="868799" y="2074770"/>
                </a:lnTo>
                <a:lnTo>
                  <a:pt x="823110" y="2067078"/>
                </a:lnTo>
                <a:lnTo>
                  <a:pt x="778133" y="2057300"/>
                </a:lnTo>
                <a:lnTo>
                  <a:pt x="733915" y="2045486"/>
                </a:lnTo>
                <a:lnTo>
                  <a:pt x="690506" y="2031687"/>
                </a:lnTo>
                <a:lnTo>
                  <a:pt x="647953" y="2015952"/>
                </a:lnTo>
                <a:lnTo>
                  <a:pt x="606306" y="1998331"/>
                </a:lnTo>
                <a:lnTo>
                  <a:pt x="565612" y="1978876"/>
                </a:lnTo>
                <a:lnTo>
                  <a:pt x="525921" y="1957635"/>
                </a:lnTo>
                <a:lnTo>
                  <a:pt x="487280" y="1934658"/>
                </a:lnTo>
                <a:lnTo>
                  <a:pt x="449739" y="1909997"/>
                </a:lnTo>
                <a:lnTo>
                  <a:pt x="413345" y="1883700"/>
                </a:lnTo>
                <a:lnTo>
                  <a:pt x="378147" y="1855818"/>
                </a:lnTo>
                <a:lnTo>
                  <a:pt x="344194" y="1826401"/>
                </a:lnTo>
                <a:lnTo>
                  <a:pt x="311533" y="1795500"/>
                </a:lnTo>
                <a:lnTo>
                  <a:pt x="280214" y="1763163"/>
                </a:lnTo>
                <a:lnTo>
                  <a:pt x="250285" y="1729442"/>
                </a:lnTo>
                <a:lnTo>
                  <a:pt x="221795" y="1694385"/>
                </a:lnTo>
                <a:lnTo>
                  <a:pt x="194791" y="1658044"/>
                </a:lnTo>
                <a:lnTo>
                  <a:pt x="169323" y="1620469"/>
                </a:lnTo>
                <a:lnTo>
                  <a:pt x="145438" y="1581709"/>
                </a:lnTo>
                <a:lnTo>
                  <a:pt x="123186" y="1541814"/>
                </a:lnTo>
                <a:lnTo>
                  <a:pt x="102614" y="1500835"/>
                </a:lnTo>
                <a:lnTo>
                  <a:pt x="83772" y="1458822"/>
                </a:lnTo>
                <a:lnTo>
                  <a:pt x="66707" y="1415824"/>
                </a:lnTo>
                <a:lnTo>
                  <a:pt x="51468" y="1371892"/>
                </a:lnTo>
                <a:lnTo>
                  <a:pt x="38104" y="1327076"/>
                </a:lnTo>
                <a:lnTo>
                  <a:pt x="26663" y="1281426"/>
                </a:lnTo>
                <a:lnTo>
                  <a:pt x="17193" y="1234992"/>
                </a:lnTo>
                <a:lnTo>
                  <a:pt x="9744" y="1187823"/>
                </a:lnTo>
                <a:lnTo>
                  <a:pt x="4363" y="1139971"/>
                </a:lnTo>
                <a:lnTo>
                  <a:pt x="1098" y="1091485"/>
                </a:lnTo>
                <a:lnTo>
                  <a:pt x="0" y="1042415"/>
                </a:lnTo>
                <a:close/>
              </a:path>
            </a:pathLst>
          </a:custGeom>
          <a:ln w="57150">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txBox="1"/>
          <p:nvPr/>
        </p:nvSpPr>
        <p:spPr>
          <a:xfrm>
            <a:off x="3961877" y="4265099"/>
            <a:ext cx="842047" cy="257175"/>
          </a:xfrm>
          <a:prstGeom prst="rect">
            <a:avLst/>
          </a:prstGeom>
        </p:spPr>
        <p:txBody>
          <a:bodyPr vert="horz" wrap="square" lIns="0" tIns="12056" rIns="0" bIns="0" rtlCol="0">
            <a:spAutoFit/>
          </a:bodyPr>
          <a:lstStyle/>
          <a:p>
            <a:pPr marL="12700">
              <a:lnSpc>
                <a:spcPct val="100000"/>
              </a:lnSpc>
              <a:spcBef>
                <a:spcPts val="95"/>
              </a:spcBef>
            </a:pPr>
            <a:r>
              <a:rPr sz="1600" b="1" dirty="0">
                <a:latin typeface="微软雅黑" panose="020B0503020204020204" charset="-122"/>
                <a:ea typeface="微软雅黑" panose="020B0503020204020204" charset="-122"/>
                <a:cs typeface="微软雅黑" panose="020B0503020204020204" charset="-122"/>
              </a:rPr>
              <a:t>客户分析</a:t>
            </a:r>
            <a:endParaRPr sz="1600" b="1" dirty="0">
              <a:latin typeface="微软雅黑" panose="020B0503020204020204" charset="-122"/>
              <a:ea typeface="微软雅黑" panose="020B0503020204020204" charset="-122"/>
              <a:cs typeface="微软雅黑" panose="020B0503020204020204" charset="-122"/>
            </a:endParaRPr>
          </a:p>
        </p:txBody>
      </p:sp>
      <p:sp>
        <p:nvSpPr>
          <p:cNvPr id="25" name="object 25"/>
          <p:cNvSpPr txBox="1"/>
          <p:nvPr/>
        </p:nvSpPr>
        <p:spPr>
          <a:xfrm>
            <a:off x="352200" y="1133085"/>
            <a:ext cx="3025536" cy="874395"/>
          </a:xfrm>
          <a:prstGeom prst="rect">
            <a:avLst/>
          </a:prstGeom>
        </p:spPr>
        <p:txBody>
          <a:bodyPr vert="horz" wrap="square" lIns="0" tIns="13325" rIns="0" bIns="0" rtlCol="0">
            <a:spAutoFit/>
          </a:bodyPr>
          <a:lstStyle/>
          <a:p>
            <a:pPr marL="368935">
              <a:lnSpc>
                <a:spcPct val="100000"/>
              </a:lnSpc>
              <a:spcBef>
                <a:spcPts val="105"/>
              </a:spcBef>
            </a:pPr>
            <a:r>
              <a:rPr sz="1400" b="1" spc="10" dirty="0">
                <a:latin typeface="微软雅黑" panose="020B0503020204020204" charset="-122"/>
                <a:ea typeface="微软雅黑" panose="020B0503020204020204" charset="-122"/>
                <a:cs typeface="微软雅黑" panose="020B0503020204020204" charset="-122"/>
              </a:rPr>
              <a:t>大</a:t>
            </a:r>
            <a:r>
              <a:rPr sz="1400" b="1" dirty="0">
                <a:latin typeface="微软雅黑" panose="020B0503020204020204" charset="-122"/>
                <a:ea typeface="微软雅黑" panose="020B0503020204020204" charset="-122"/>
                <a:cs typeface="微软雅黑" panose="020B0503020204020204" charset="-122"/>
              </a:rPr>
              <a:t>客</a:t>
            </a:r>
            <a:r>
              <a:rPr sz="1400" b="1" spc="-15" dirty="0">
                <a:latin typeface="微软雅黑" panose="020B0503020204020204" charset="-122"/>
                <a:ea typeface="微软雅黑" panose="020B0503020204020204" charset="-122"/>
                <a:cs typeface="微软雅黑" panose="020B0503020204020204" charset="-122"/>
              </a:rPr>
              <a:t>户</a:t>
            </a:r>
            <a:r>
              <a:rPr sz="1400" b="1" dirty="0">
                <a:latin typeface="微软雅黑" panose="020B0503020204020204" charset="-122"/>
                <a:ea typeface="微软雅黑" panose="020B0503020204020204" charset="-122"/>
                <a:cs typeface="微软雅黑" panose="020B0503020204020204" charset="-122"/>
              </a:rPr>
              <a:t>的背景</a:t>
            </a:r>
            <a:endParaRPr sz="1400">
              <a:latin typeface="微软雅黑" panose="020B0503020204020204" charset="-122"/>
              <a:ea typeface="微软雅黑" panose="020B0503020204020204" charset="-122"/>
              <a:cs typeface="微软雅黑" panose="020B0503020204020204" charset="-122"/>
            </a:endParaRPr>
          </a:p>
          <a:p>
            <a:pPr marL="165100" indent="-152400">
              <a:lnSpc>
                <a:spcPct val="100000"/>
              </a:lnSpc>
              <a:buClr>
                <a:srgbClr val="00295F"/>
              </a:buClr>
              <a:buSzPct val="125000"/>
              <a:buFont typeface="Arial" panose="020B0604020202020204"/>
              <a:buChar char="▪"/>
              <a:tabLst>
                <a:tab pos="165100" algn="l"/>
              </a:tabLst>
            </a:pPr>
            <a:r>
              <a:rPr sz="1400" dirty="0">
                <a:latin typeface="微软雅黑" panose="020B0503020204020204" charset="-122"/>
                <a:ea typeface="微软雅黑" panose="020B0503020204020204" charset="-122"/>
                <a:cs typeface="微软雅黑" panose="020B0503020204020204" charset="-122"/>
              </a:rPr>
              <a:t>大客户所属行业的动向</a:t>
            </a:r>
            <a:r>
              <a:rPr sz="1400" spc="-15" dirty="0">
                <a:latin typeface="微软雅黑" panose="020B0503020204020204" charset="-122"/>
                <a:ea typeface="微软雅黑" panose="020B0503020204020204" charset="-122"/>
                <a:cs typeface="微软雅黑" panose="020B0503020204020204" charset="-122"/>
              </a:rPr>
              <a:t>与</a:t>
            </a:r>
            <a:r>
              <a:rPr sz="1400" dirty="0">
                <a:latin typeface="微软雅黑" panose="020B0503020204020204" charset="-122"/>
                <a:ea typeface="微软雅黑" panose="020B0503020204020204" charset="-122"/>
                <a:cs typeface="微软雅黑" panose="020B0503020204020204" charset="-122"/>
              </a:rPr>
              <a:t>今后</a:t>
            </a:r>
            <a:r>
              <a:rPr sz="1400" spc="-15" dirty="0">
                <a:latin typeface="微软雅黑" panose="020B0503020204020204" charset="-122"/>
                <a:ea typeface="微软雅黑" panose="020B0503020204020204" charset="-122"/>
                <a:cs typeface="微软雅黑" panose="020B0503020204020204" charset="-122"/>
              </a:rPr>
              <a:t>的</a:t>
            </a:r>
            <a:r>
              <a:rPr sz="1400" dirty="0">
                <a:latin typeface="微软雅黑" panose="020B0503020204020204" charset="-122"/>
                <a:ea typeface="微软雅黑" panose="020B0503020204020204" charset="-122"/>
                <a:cs typeface="微软雅黑" panose="020B0503020204020204" charset="-122"/>
              </a:rPr>
              <a:t>预测</a:t>
            </a:r>
            <a:endParaRPr sz="1400">
              <a:latin typeface="微软雅黑" panose="020B0503020204020204" charset="-122"/>
              <a:ea typeface="微软雅黑" panose="020B0503020204020204" charset="-122"/>
              <a:cs typeface="微软雅黑" panose="020B0503020204020204" charset="-122"/>
            </a:endParaRPr>
          </a:p>
          <a:p>
            <a:pPr marL="165100" indent="-152400">
              <a:lnSpc>
                <a:spcPct val="100000"/>
              </a:lnSpc>
              <a:buClr>
                <a:srgbClr val="00295F"/>
              </a:buClr>
              <a:buSzPct val="125000"/>
              <a:buFont typeface="Arial" panose="020B0604020202020204"/>
              <a:buChar char="▪"/>
              <a:tabLst>
                <a:tab pos="165100" algn="l"/>
              </a:tabLst>
            </a:pPr>
            <a:r>
              <a:rPr sz="1400" dirty="0">
                <a:latin typeface="微软雅黑" panose="020B0503020204020204" charset="-122"/>
                <a:ea typeface="微软雅黑" panose="020B0503020204020204" charset="-122"/>
                <a:cs typeface="微软雅黑" panose="020B0503020204020204" charset="-122"/>
              </a:rPr>
              <a:t>大客户的业务战略与优</a:t>
            </a:r>
            <a:r>
              <a:rPr sz="1400" spc="-15" dirty="0">
                <a:latin typeface="微软雅黑" panose="020B0503020204020204" charset="-122"/>
                <a:ea typeface="微软雅黑" panose="020B0503020204020204" charset="-122"/>
                <a:cs typeface="微软雅黑" panose="020B0503020204020204" charset="-122"/>
              </a:rPr>
              <a:t>先</a:t>
            </a:r>
            <a:r>
              <a:rPr sz="1400" dirty="0">
                <a:latin typeface="微软雅黑" panose="020B0503020204020204" charset="-122"/>
                <a:ea typeface="微软雅黑" panose="020B0503020204020204" charset="-122"/>
                <a:cs typeface="微软雅黑" panose="020B0503020204020204" charset="-122"/>
              </a:rPr>
              <a:t>顺序</a:t>
            </a:r>
            <a:endParaRPr sz="1400">
              <a:latin typeface="微软雅黑" panose="020B0503020204020204" charset="-122"/>
              <a:ea typeface="微软雅黑" panose="020B0503020204020204" charset="-122"/>
              <a:cs typeface="微软雅黑" panose="020B0503020204020204" charset="-122"/>
            </a:endParaRPr>
          </a:p>
          <a:p>
            <a:pPr marL="165100" indent="-152400">
              <a:lnSpc>
                <a:spcPct val="100000"/>
              </a:lnSpc>
              <a:buClr>
                <a:srgbClr val="00295F"/>
              </a:buClr>
              <a:buSzPct val="125000"/>
              <a:buFont typeface="Arial" panose="020B0604020202020204"/>
              <a:buChar char="▪"/>
              <a:tabLst>
                <a:tab pos="165100" algn="l"/>
              </a:tabLst>
            </a:pPr>
            <a:r>
              <a:rPr sz="1400" dirty="0">
                <a:latin typeface="微软雅黑" panose="020B0503020204020204" charset="-122"/>
                <a:ea typeface="微软雅黑" panose="020B0503020204020204" charset="-122"/>
                <a:cs typeface="微软雅黑" panose="020B0503020204020204" charset="-122"/>
              </a:rPr>
              <a:t>今后的设想动向</a:t>
            </a:r>
            <a:endParaRPr sz="1400">
              <a:latin typeface="微软雅黑" panose="020B0503020204020204" charset="-122"/>
              <a:ea typeface="微软雅黑" panose="020B0503020204020204" charset="-122"/>
              <a:cs typeface="微软雅黑" panose="020B0503020204020204" charset="-122"/>
            </a:endParaRPr>
          </a:p>
        </p:txBody>
      </p:sp>
      <p:sp>
        <p:nvSpPr>
          <p:cNvPr id="26" name="object 26"/>
          <p:cNvSpPr txBox="1"/>
          <p:nvPr/>
        </p:nvSpPr>
        <p:spPr>
          <a:xfrm>
            <a:off x="333011" y="2369062"/>
            <a:ext cx="2138434" cy="874395"/>
          </a:xfrm>
          <a:prstGeom prst="rect">
            <a:avLst/>
          </a:prstGeom>
        </p:spPr>
        <p:txBody>
          <a:bodyPr vert="horz" wrap="square" lIns="0" tIns="13325" rIns="0" bIns="0" rtlCol="0">
            <a:spAutoFit/>
          </a:bodyPr>
          <a:lstStyle/>
          <a:p>
            <a:pPr marL="369570">
              <a:lnSpc>
                <a:spcPct val="100000"/>
              </a:lnSpc>
              <a:spcBef>
                <a:spcPts val="105"/>
              </a:spcBef>
            </a:pPr>
            <a:r>
              <a:rPr sz="1400" b="1" spc="10" dirty="0">
                <a:latin typeface="微软雅黑" panose="020B0503020204020204" charset="-122"/>
                <a:ea typeface="微软雅黑" panose="020B0503020204020204" charset="-122"/>
                <a:cs typeface="微软雅黑" panose="020B0503020204020204" charset="-122"/>
              </a:rPr>
              <a:t>大</a:t>
            </a:r>
            <a:r>
              <a:rPr sz="1400" b="1" dirty="0">
                <a:latin typeface="微软雅黑" panose="020B0503020204020204" charset="-122"/>
                <a:ea typeface="微软雅黑" panose="020B0503020204020204" charset="-122"/>
                <a:cs typeface="微软雅黑" panose="020B0503020204020204" charset="-122"/>
              </a:rPr>
              <a:t>客</a:t>
            </a:r>
            <a:r>
              <a:rPr sz="1400" b="1" spc="-15" dirty="0">
                <a:latin typeface="微软雅黑" panose="020B0503020204020204" charset="-122"/>
                <a:ea typeface="微软雅黑" panose="020B0503020204020204" charset="-122"/>
                <a:cs typeface="微软雅黑" panose="020B0503020204020204" charset="-122"/>
              </a:rPr>
              <a:t>户</a:t>
            </a:r>
            <a:r>
              <a:rPr sz="1400" b="1" dirty="0">
                <a:latin typeface="微软雅黑" panose="020B0503020204020204" charset="-122"/>
                <a:ea typeface="微软雅黑" panose="020B0503020204020204" charset="-122"/>
                <a:cs typeface="微软雅黑" panose="020B0503020204020204" charset="-122"/>
              </a:rPr>
              <a:t>的财</a:t>
            </a:r>
            <a:r>
              <a:rPr sz="1400" b="1" spc="-15" dirty="0">
                <a:latin typeface="微软雅黑" panose="020B0503020204020204" charset="-122"/>
                <a:ea typeface="微软雅黑" panose="020B0503020204020204" charset="-122"/>
                <a:cs typeface="微软雅黑" panose="020B0503020204020204" charset="-122"/>
              </a:rPr>
              <a:t>务</a:t>
            </a:r>
            <a:r>
              <a:rPr sz="1400" b="1" dirty="0">
                <a:latin typeface="微软雅黑" panose="020B0503020204020204" charset="-122"/>
                <a:ea typeface="微软雅黑" panose="020B0503020204020204" charset="-122"/>
                <a:cs typeface="微软雅黑" panose="020B0503020204020204" charset="-122"/>
              </a:rPr>
              <a:t>状况</a:t>
            </a:r>
            <a:endParaRPr sz="1400">
              <a:latin typeface="微软雅黑" panose="020B0503020204020204" charset="-122"/>
              <a:ea typeface="微软雅黑" panose="020B0503020204020204" charset="-122"/>
              <a:cs typeface="微软雅黑" panose="020B0503020204020204" charset="-122"/>
            </a:endParaRPr>
          </a:p>
          <a:p>
            <a:pPr marL="165100" indent="-153035">
              <a:lnSpc>
                <a:spcPct val="100000"/>
              </a:lnSpc>
              <a:buClr>
                <a:srgbClr val="00295F"/>
              </a:buClr>
              <a:buSzPct val="125000"/>
              <a:buFont typeface="Arial" panose="020B0604020202020204"/>
              <a:buChar char="▪"/>
              <a:tabLst>
                <a:tab pos="165735" algn="l"/>
              </a:tabLst>
            </a:pPr>
            <a:r>
              <a:rPr sz="1400" dirty="0">
                <a:latin typeface="微软雅黑" panose="020B0503020204020204" charset="-122"/>
                <a:ea typeface="微软雅黑" panose="020B0503020204020204" charset="-122"/>
                <a:cs typeface="微软雅黑" panose="020B0503020204020204" charset="-122"/>
              </a:rPr>
              <a:t>过去销售额和利润的变化</a:t>
            </a:r>
            <a:endParaRPr sz="1400">
              <a:latin typeface="微软雅黑" panose="020B0503020204020204" charset="-122"/>
              <a:ea typeface="微软雅黑" panose="020B0503020204020204" charset="-122"/>
              <a:cs typeface="微软雅黑" panose="020B0503020204020204" charset="-122"/>
            </a:endParaRPr>
          </a:p>
          <a:p>
            <a:pPr marL="165100" indent="-153035">
              <a:lnSpc>
                <a:spcPct val="100000"/>
              </a:lnSpc>
              <a:buClr>
                <a:srgbClr val="00295F"/>
              </a:buClr>
              <a:buSzPct val="125000"/>
              <a:buFont typeface="Arial" panose="020B0604020202020204"/>
              <a:buChar char="▪"/>
              <a:tabLst>
                <a:tab pos="165735" algn="l"/>
              </a:tabLst>
            </a:pPr>
            <a:r>
              <a:rPr sz="1400" dirty="0">
                <a:latin typeface="微软雅黑" panose="020B0503020204020204" charset="-122"/>
                <a:ea typeface="微软雅黑" panose="020B0503020204020204" charset="-122"/>
                <a:cs typeface="微软雅黑" panose="020B0503020204020204" charset="-122"/>
              </a:rPr>
              <a:t>佣金</a:t>
            </a:r>
            <a:endParaRPr sz="1400">
              <a:latin typeface="微软雅黑" panose="020B0503020204020204" charset="-122"/>
              <a:ea typeface="微软雅黑" panose="020B0503020204020204" charset="-122"/>
              <a:cs typeface="微软雅黑" panose="020B0503020204020204" charset="-122"/>
            </a:endParaRPr>
          </a:p>
          <a:p>
            <a:pPr marL="165100" indent="-153035">
              <a:lnSpc>
                <a:spcPct val="100000"/>
              </a:lnSpc>
              <a:buClr>
                <a:srgbClr val="00295F"/>
              </a:buClr>
              <a:buSzPct val="125000"/>
              <a:buFont typeface="Arial" panose="020B0604020202020204"/>
              <a:buChar char="▪"/>
              <a:tabLst>
                <a:tab pos="165735" algn="l"/>
              </a:tabLst>
            </a:pPr>
            <a:r>
              <a:rPr sz="1400" dirty="0">
                <a:latin typeface="微软雅黑" panose="020B0503020204020204" charset="-122"/>
                <a:ea typeface="微软雅黑" panose="020B0503020204020204" charset="-122"/>
                <a:cs typeface="微软雅黑" panose="020B0503020204020204" charset="-122"/>
              </a:rPr>
              <a:t>内部份额分析</a:t>
            </a:r>
            <a:endParaRPr sz="1400">
              <a:latin typeface="微软雅黑" panose="020B0503020204020204" charset="-122"/>
              <a:ea typeface="微软雅黑" panose="020B0503020204020204" charset="-122"/>
              <a:cs typeface="微软雅黑" panose="020B0503020204020204" charset="-122"/>
            </a:endParaRPr>
          </a:p>
        </p:txBody>
      </p:sp>
      <p:sp>
        <p:nvSpPr>
          <p:cNvPr id="27" name="object 27"/>
          <p:cNvSpPr txBox="1"/>
          <p:nvPr/>
        </p:nvSpPr>
        <p:spPr>
          <a:xfrm>
            <a:off x="6595516" y="2400155"/>
            <a:ext cx="2048328" cy="1089660"/>
          </a:xfrm>
          <a:prstGeom prst="rect">
            <a:avLst/>
          </a:prstGeom>
        </p:spPr>
        <p:txBody>
          <a:bodyPr vert="horz" wrap="square" lIns="0" tIns="13325" rIns="0" bIns="0" rtlCol="0">
            <a:spAutoFit/>
          </a:bodyPr>
          <a:lstStyle/>
          <a:p>
            <a:pPr marL="368935">
              <a:lnSpc>
                <a:spcPct val="100000"/>
              </a:lnSpc>
              <a:spcBef>
                <a:spcPts val="105"/>
              </a:spcBef>
            </a:pPr>
            <a:r>
              <a:rPr sz="1400" b="1" spc="10" dirty="0">
                <a:latin typeface="微软雅黑" panose="020B0503020204020204" charset="-122"/>
                <a:ea typeface="微软雅黑" panose="020B0503020204020204" charset="-122"/>
                <a:cs typeface="微软雅黑" panose="020B0503020204020204" charset="-122"/>
              </a:rPr>
              <a:t>风</a:t>
            </a:r>
            <a:r>
              <a:rPr sz="1400" b="1" dirty="0">
                <a:latin typeface="微软雅黑" panose="020B0503020204020204" charset="-122"/>
                <a:ea typeface="微软雅黑" panose="020B0503020204020204" charset="-122"/>
                <a:cs typeface="微软雅黑" panose="020B0503020204020204" charset="-122"/>
              </a:rPr>
              <a:t>险</a:t>
            </a:r>
            <a:r>
              <a:rPr sz="1400" b="1" spc="-10" dirty="0">
                <a:latin typeface="微软雅黑" panose="020B0503020204020204" charset="-122"/>
                <a:ea typeface="微软雅黑" panose="020B0503020204020204" charset="-122"/>
                <a:cs typeface="微软雅黑" panose="020B0503020204020204" charset="-122"/>
              </a:rPr>
              <a:t>评</a:t>
            </a:r>
            <a:r>
              <a:rPr sz="1400" b="1" dirty="0">
                <a:latin typeface="微软雅黑" panose="020B0503020204020204" charset="-122"/>
                <a:ea typeface="微软雅黑" panose="020B0503020204020204" charset="-122"/>
                <a:cs typeface="微软雅黑" panose="020B0503020204020204" charset="-122"/>
              </a:rPr>
              <a:t>估</a:t>
            </a:r>
            <a:endParaRPr sz="1400">
              <a:latin typeface="微软雅黑" panose="020B0503020204020204" charset="-122"/>
              <a:ea typeface="微软雅黑" panose="020B0503020204020204" charset="-122"/>
              <a:cs typeface="微软雅黑" panose="020B0503020204020204" charset="-122"/>
            </a:endParaRPr>
          </a:p>
          <a:p>
            <a:pPr marL="165100" marR="5080" indent="-152400">
              <a:lnSpc>
                <a:spcPct val="100000"/>
              </a:lnSpc>
              <a:buClr>
                <a:srgbClr val="00295F"/>
              </a:buClr>
              <a:buSzPct val="125000"/>
              <a:buFont typeface="Arial" panose="020B0604020202020204"/>
              <a:buChar char="▪"/>
              <a:tabLst>
                <a:tab pos="165100" algn="l"/>
              </a:tabLst>
            </a:pPr>
            <a:r>
              <a:rPr sz="1400" dirty="0">
                <a:latin typeface="微软雅黑" panose="020B0503020204020204" charset="-122"/>
                <a:ea typeface="微软雅黑" panose="020B0503020204020204" charset="-122"/>
                <a:cs typeface="微软雅黑" panose="020B0503020204020204" charset="-122"/>
              </a:rPr>
              <a:t>造成大客户</a:t>
            </a:r>
            <a:r>
              <a:rPr sz="1400" spc="5" dirty="0">
                <a:latin typeface="微软雅黑" panose="020B0503020204020204" charset="-122"/>
                <a:ea typeface="微软雅黑" panose="020B0503020204020204" charset="-122"/>
                <a:cs typeface="微软雅黑" panose="020B0503020204020204" charset="-122"/>
              </a:rPr>
              <a:t>/</a:t>
            </a:r>
            <a:r>
              <a:rPr sz="1400" dirty="0">
                <a:latin typeface="微软雅黑" panose="020B0503020204020204" charset="-122"/>
                <a:ea typeface="微软雅黑" panose="020B0503020204020204" charset="-122"/>
                <a:cs typeface="微软雅黑" panose="020B0503020204020204" charset="-122"/>
              </a:rPr>
              <a:t>竞争对</a:t>
            </a:r>
            <a:r>
              <a:rPr sz="1400" spc="-15" dirty="0">
                <a:latin typeface="微软雅黑" panose="020B0503020204020204" charset="-122"/>
                <a:ea typeface="微软雅黑" panose="020B0503020204020204" charset="-122"/>
                <a:cs typeface="微软雅黑" panose="020B0503020204020204" charset="-122"/>
              </a:rPr>
              <a:t>手</a:t>
            </a:r>
            <a:r>
              <a:rPr sz="1400" dirty="0">
                <a:latin typeface="微软雅黑" panose="020B0503020204020204" charset="-122"/>
                <a:ea typeface="微软雅黑" panose="020B0503020204020204" charset="-122"/>
                <a:cs typeface="微软雅黑" panose="020B0503020204020204" charset="-122"/>
              </a:rPr>
              <a:t>顾 客流失的主要原因</a:t>
            </a:r>
            <a:endParaRPr sz="1400">
              <a:latin typeface="微软雅黑" panose="020B0503020204020204" charset="-122"/>
              <a:ea typeface="微软雅黑" panose="020B0503020204020204" charset="-122"/>
              <a:cs typeface="微软雅黑" panose="020B0503020204020204" charset="-122"/>
            </a:endParaRPr>
          </a:p>
          <a:p>
            <a:pPr marL="165100" indent="-152400">
              <a:lnSpc>
                <a:spcPct val="100000"/>
              </a:lnSpc>
              <a:buClr>
                <a:srgbClr val="00295F"/>
              </a:buClr>
              <a:buSzPct val="125000"/>
              <a:buFont typeface="Arial" panose="020B0604020202020204"/>
              <a:buChar char="▪"/>
              <a:tabLst>
                <a:tab pos="165100" algn="l"/>
              </a:tabLst>
            </a:pPr>
            <a:r>
              <a:rPr sz="1400" dirty="0">
                <a:latin typeface="微软雅黑" panose="020B0503020204020204" charset="-122"/>
                <a:ea typeface="微软雅黑" panose="020B0503020204020204" charset="-122"/>
                <a:cs typeface="微软雅黑" panose="020B0503020204020204" charset="-122"/>
              </a:rPr>
              <a:t>业务Win/Loss</a:t>
            </a:r>
            <a:r>
              <a:rPr sz="1400" spc="-15" dirty="0">
                <a:latin typeface="微软雅黑" panose="020B0503020204020204" charset="-122"/>
                <a:ea typeface="微软雅黑" panose="020B0503020204020204" charset="-122"/>
                <a:cs typeface="微软雅黑" panose="020B0503020204020204" charset="-122"/>
              </a:rPr>
              <a:t>分析</a:t>
            </a:r>
            <a:endParaRPr sz="1400">
              <a:latin typeface="微软雅黑" panose="020B0503020204020204" charset="-122"/>
              <a:ea typeface="微软雅黑" panose="020B0503020204020204" charset="-122"/>
              <a:cs typeface="微软雅黑" panose="020B0503020204020204" charset="-122"/>
            </a:endParaRPr>
          </a:p>
          <a:p>
            <a:pPr marL="165100" indent="-152400">
              <a:lnSpc>
                <a:spcPct val="100000"/>
              </a:lnSpc>
              <a:buClr>
                <a:srgbClr val="00295F"/>
              </a:buClr>
              <a:buSzPct val="125000"/>
              <a:buFont typeface="Arial" panose="020B0604020202020204"/>
              <a:buChar char="▪"/>
              <a:tabLst>
                <a:tab pos="165100" algn="l"/>
              </a:tabLst>
            </a:pPr>
            <a:r>
              <a:rPr sz="1400" dirty="0">
                <a:latin typeface="微软雅黑" panose="020B0503020204020204" charset="-122"/>
                <a:ea typeface="微软雅黑" panose="020B0503020204020204" charset="-122"/>
                <a:cs typeface="微软雅黑" panose="020B0503020204020204" charset="-122"/>
              </a:rPr>
              <a:t>SWOT分析</a:t>
            </a:r>
            <a:endParaRPr sz="1400">
              <a:latin typeface="微软雅黑" panose="020B0503020204020204" charset="-122"/>
              <a:ea typeface="微软雅黑" panose="020B0503020204020204" charset="-122"/>
              <a:cs typeface="微软雅黑" panose="020B0503020204020204" charset="-122"/>
            </a:endParaRPr>
          </a:p>
        </p:txBody>
      </p:sp>
      <p:sp>
        <p:nvSpPr>
          <p:cNvPr id="28" name="object 28"/>
          <p:cNvSpPr txBox="1"/>
          <p:nvPr/>
        </p:nvSpPr>
        <p:spPr>
          <a:xfrm>
            <a:off x="220620" y="4334772"/>
            <a:ext cx="2694935" cy="1089660"/>
          </a:xfrm>
          <a:prstGeom prst="rect">
            <a:avLst/>
          </a:prstGeom>
        </p:spPr>
        <p:txBody>
          <a:bodyPr vert="horz" wrap="square" lIns="0" tIns="12691" rIns="0" bIns="0" rtlCol="0">
            <a:spAutoFit/>
          </a:bodyPr>
          <a:lstStyle/>
          <a:p>
            <a:pPr marL="12700" marR="5080" indent="177800">
              <a:lnSpc>
                <a:spcPct val="100000"/>
              </a:lnSpc>
              <a:spcBef>
                <a:spcPts val="100"/>
              </a:spcBef>
            </a:pPr>
            <a:r>
              <a:rPr sz="1400" b="1" spc="10" dirty="0">
                <a:latin typeface="微软雅黑" panose="020B0503020204020204" charset="-122"/>
                <a:ea typeface="微软雅黑" panose="020B0503020204020204" charset="-122"/>
                <a:cs typeface="微软雅黑" panose="020B0503020204020204" charset="-122"/>
              </a:rPr>
              <a:t>组织</a:t>
            </a:r>
            <a:r>
              <a:rPr sz="1400" b="1" dirty="0">
                <a:latin typeface="微软雅黑" panose="020B0503020204020204" charset="-122"/>
                <a:ea typeface="微软雅黑" panose="020B0503020204020204" charset="-122"/>
                <a:cs typeface="微软雅黑" panose="020B0503020204020204" charset="-122"/>
              </a:rPr>
              <a:t>体</a:t>
            </a:r>
            <a:r>
              <a:rPr sz="1400" b="1" spc="-15" dirty="0">
                <a:latin typeface="微软雅黑" panose="020B0503020204020204" charset="-122"/>
                <a:ea typeface="微软雅黑" panose="020B0503020204020204" charset="-122"/>
                <a:cs typeface="微软雅黑" panose="020B0503020204020204" charset="-122"/>
              </a:rPr>
              <a:t>制</a:t>
            </a:r>
            <a:r>
              <a:rPr sz="1400" b="1" dirty="0">
                <a:latin typeface="微软雅黑" panose="020B0503020204020204" charset="-122"/>
                <a:ea typeface="微软雅黑" panose="020B0503020204020204" charset="-122"/>
                <a:cs typeface="微软雅黑" panose="020B0503020204020204" charset="-122"/>
              </a:rPr>
              <a:t>、利</a:t>
            </a:r>
            <a:r>
              <a:rPr sz="1400" b="1" spc="-15" dirty="0">
                <a:latin typeface="微软雅黑" panose="020B0503020204020204" charset="-122"/>
                <a:ea typeface="微软雅黑" panose="020B0503020204020204" charset="-122"/>
                <a:cs typeface="微软雅黑" panose="020B0503020204020204" charset="-122"/>
              </a:rPr>
              <a:t>益</a:t>
            </a:r>
            <a:r>
              <a:rPr sz="1400" b="1" dirty="0">
                <a:latin typeface="微软雅黑" panose="020B0503020204020204" charset="-122"/>
                <a:ea typeface="微软雅黑" panose="020B0503020204020204" charset="-122"/>
                <a:cs typeface="微软雅黑" panose="020B0503020204020204" charset="-122"/>
              </a:rPr>
              <a:t>关系</a:t>
            </a:r>
            <a:r>
              <a:rPr sz="1400" b="1" spc="-15" dirty="0">
                <a:latin typeface="微软雅黑" panose="020B0503020204020204" charset="-122"/>
                <a:ea typeface="微软雅黑" panose="020B0503020204020204" charset="-122"/>
                <a:cs typeface="微软雅黑" panose="020B0503020204020204" charset="-122"/>
              </a:rPr>
              <a:t>人</a:t>
            </a:r>
            <a:r>
              <a:rPr sz="1400" b="1" dirty="0">
                <a:latin typeface="微软雅黑" panose="020B0503020204020204" charset="-122"/>
                <a:ea typeface="微软雅黑" panose="020B0503020204020204" charset="-122"/>
                <a:cs typeface="微软雅黑" panose="020B0503020204020204" charset="-122"/>
              </a:rPr>
              <a:t>的力</a:t>
            </a:r>
            <a:r>
              <a:rPr sz="1400" b="1" spc="-15" dirty="0">
                <a:latin typeface="微软雅黑" panose="020B0503020204020204" charset="-122"/>
                <a:ea typeface="微软雅黑" panose="020B0503020204020204" charset="-122"/>
                <a:cs typeface="微软雅黑" panose="020B0503020204020204" charset="-122"/>
              </a:rPr>
              <a:t>量</a:t>
            </a:r>
            <a:r>
              <a:rPr sz="1400" b="1" dirty="0">
                <a:latin typeface="微软雅黑" panose="020B0503020204020204" charset="-122"/>
                <a:ea typeface="微软雅黑" panose="020B0503020204020204" charset="-122"/>
                <a:cs typeface="微软雅黑" panose="020B0503020204020204" charset="-122"/>
              </a:rPr>
              <a:t>关 系</a:t>
            </a:r>
            <a:endParaRPr sz="1400">
              <a:latin typeface="微软雅黑" panose="020B0503020204020204" charset="-122"/>
              <a:ea typeface="微软雅黑" panose="020B0503020204020204" charset="-122"/>
              <a:cs typeface="微软雅黑" panose="020B0503020204020204" charset="-122"/>
            </a:endParaRPr>
          </a:p>
          <a:p>
            <a:pPr marL="166370" indent="-153035">
              <a:lnSpc>
                <a:spcPct val="100000"/>
              </a:lnSpc>
              <a:spcBef>
                <a:spcPts val="5"/>
              </a:spcBef>
              <a:buClr>
                <a:srgbClr val="00295F"/>
              </a:buClr>
              <a:buSzPct val="125000"/>
              <a:buFont typeface="Arial" panose="020B0604020202020204"/>
              <a:buChar char="▪"/>
              <a:tabLst>
                <a:tab pos="167005" algn="l"/>
              </a:tabLst>
            </a:pPr>
            <a:r>
              <a:rPr sz="1400" dirty="0">
                <a:latin typeface="微软雅黑" panose="020B0503020204020204" charset="-122"/>
                <a:ea typeface="微软雅黑" panose="020B0503020204020204" charset="-122"/>
                <a:cs typeface="微软雅黑" panose="020B0503020204020204" charset="-122"/>
              </a:rPr>
              <a:t>大客户内部的决策流程</a:t>
            </a:r>
            <a:endParaRPr sz="1400">
              <a:latin typeface="微软雅黑" panose="020B0503020204020204" charset="-122"/>
              <a:ea typeface="微软雅黑" panose="020B0503020204020204" charset="-122"/>
              <a:cs typeface="微软雅黑" panose="020B0503020204020204" charset="-122"/>
            </a:endParaRPr>
          </a:p>
          <a:p>
            <a:pPr marL="166370" indent="-153035">
              <a:lnSpc>
                <a:spcPct val="100000"/>
              </a:lnSpc>
              <a:buClr>
                <a:srgbClr val="00295F"/>
              </a:buClr>
              <a:buSzPct val="125000"/>
              <a:buFont typeface="Arial" panose="020B0604020202020204"/>
              <a:buChar char="▪"/>
              <a:tabLst>
                <a:tab pos="167005" algn="l"/>
              </a:tabLst>
            </a:pPr>
            <a:r>
              <a:rPr sz="1400" dirty="0">
                <a:latin typeface="微软雅黑" panose="020B0503020204020204" charset="-122"/>
                <a:ea typeface="微软雅黑" panose="020B0503020204020204" charset="-122"/>
                <a:cs typeface="微软雅黑" panose="020B0503020204020204" charset="-122"/>
              </a:rPr>
              <a:t>主要决策人、组织体制</a:t>
            </a:r>
            <a:endParaRPr sz="1400">
              <a:latin typeface="微软雅黑" panose="020B0503020204020204" charset="-122"/>
              <a:ea typeface="微软雅黑" panose="020B0503020204020204" charset="-122"/>
              <a:cs typeface="微软雅黑" panose="020B0503020204020204" charset="-122"/>
            </a:endParaRPr>
          </a:p>
          <a:p>
            <a:pPr marL="166370" indent="-153035">
              <a:lnSpc>
                <a:spcPct val="100000"/>
              </a:lnSpc>
              <a:buClr>
                <a:srgbClr val="00295F"/>
              </a:buClr>
              <a:buSzPct val="125000"/>
              <a:buFont typeface="Arial" panose="020B0604020202020204"/>
              <a:buChar char="▪"/>
              <a:tabLst>
                <a:tab pos="167005" algn="l"/>
              </a:tabLst>
            </a:pPr>
            <a:r>
              <a:rPr sz="1400" dirty="0">
                <a:latin typeface="微软雅黑" panose="020B0503020204020204" charset="-122"/>
                <a:ea typeface="微软雅黑" panose="020B0503020204020204" charset="-122"/>
                <a:cs typeface="微软雅黑" panose="020B0503020204020204" charset="-122"/>
              </a:rPr>
              <a:t>维持和强化关系所必须</a:t>
            </a:r>
            <a:r>
              <a:rPr sz="1400" spc="-15" dirty="0">
                <a:latin typeface="微软雅黑" panose="020B0503020204020204" charset="-122"/>
                <a:ea typeface="微软雅黑" panose="020B0503020204020204" charset="-122"/>
                <a:cs typeface="微软雅黑" panose="020B0503020204020204" charset="-122"/>
              </a:rPr>
              <a:t>的</a:t>
            </a:r>
            <a:r>
              <a:rPr sz="1400" dirty="0">
                <a:latin typeface="微软雅黑" panose="020B0503020204020204" charset="-122"/>
                <a:ea typeface="微软雅黑" panose="020B0503020204020204" charset="-122"/>
                <a:cs typeface="微软雅黑" panose="020B0503020204020204" charset="-122"/>
              </a:rPr>
              <a:t>活动</a:t>
            </a:r>
            <a:endParaRPr sz="1400">
              <a:latin typeface="微软雅黑" panose="020B0503020204020204" charset="-122"/>
              <a:ea typeface="微软雅黑" panose="020B0503020204020204" charset="-122"/>
              <a:cs typeface="微软雅黑" panose="020B0503020204020204" charset="-122"/>
            </a:endParaRPr>
          </a:p>
        </p:txBody>
      </p:sp>
      <p:sp>
        <p:nvSpPr>
          <p:cNvPr id="29" name="object 29"/>
          <p:cNvSpPr txBox="1"/>
          <p:nvPr/>
        </p:nvSpPr>
        <p:spPr>
          <a:xfrm>
            <a:off x="6151456" y="4441377"/>
            <a:ext cx="1959491" cy="873760"/>
          </a:xfrm>
          <a:prstGeom prst="rect">
            <a:avLst/>
          </a:prstGeom>
        </p:spPr>
        <p:txBody>
          <a:bodyPr vert="horz" wrap="square" lIns="0" tIns="12691" rIns="0" bIns="0" rtlCol="0">
            <a:spAutoFit/>
          </a:bodyPr>
          <a:lstStyle/>
          <a:p>
            <a:pPr marL="368935">
              <a:lnSpc>
                <a:spcPct val="100000"/>
              </a:lnSpc>
              <a:spcBef>
                <a:spcPts val="100"/>
              </a:spcBef>
            </a:pPr>
            <a:r>
              <a:rPr sz="1400" b="1" spc="10" dirty="0">
                <a:latin typeface="微软雅黑" panose="020B0503020204020204" charset="-122"/>
                <a:ea typeface="微软雅黑" panose="020B0503020204020204" charset="-122"/>
                <a:cs typeface="微软雅黑" panose="020B0503020204020204" charset="-122"/>
              </a:rPr>
              <a:t>顾</a:t>
            </a:r>
            <a:r>
              <a:rPr sz="1400" b="1" dirty="0">
                <a:latin typeface="微软雅黑" panose="020B0503020204020204" charset="-122"/>
                <a:ea typeface="微软雅黑" panose="020B0503020204020204" charset="-122"/>
                <a:cs typeface="微软雅黑" panose="020B0503020204020204" charset="-122"/>
              </a:rPr>
              <a:t>客</a:t>
            </a:r>
            <a:r>
              <a:rPr sz="1400" b="1" spc="-15" dirty="0">
                <a:latin typeface="微软雅黑" panose="020B0503020204020204" charset="-122"/>
                <a:ea typeface="微软雅黑" panose="020B0503020204020204" charset="-122"/>
                <a:cs typeface="微软雅黑" panose="020B0503020204020204" charset="-122"/>
              </a:rPr>
              <a:t>期</a:t>
            </a:r>
            <a:r>
              <a:rPr sz="1400" b="1" dirty="0">
                <a:latin typeface="微软雅黑" panose="020B0503020204020204" charset="-122"/>
                <a:ea typeface="微软雅黑" panose="020B0503020204020204" charset="-122"/>
                <a:cs typeface="微软雅黑" panose="020B0503020204020204" charset="-122"/>
              </a:rPr>
              <a:t>待</a:t>
            </a:r>
            <a:endParaRPr sz="1400">
              <a:latin typeface="微软雅黑" panose="020B0503020204020204" charset="-122"/>
              <a:ea typeface="微软雅黑" panose="020B0503020204020204" charset="-122"/>
              <a:cs typeface="微软雅黑" panose="020B0503020204020204" charset="-122"/>
            </a:endParaRPr>
          </a:p>
          <a:p>
            <a:pPr marL="165100" indent="-152400">
              <a:lnSpc>
                <a:spcPct val="100000"/>
              </a:lnSpc>
              <a:buClr>
                <a:srgbClr val="00295F"/>
              </a:buClr>
              <a:buSzPct val="125000"/>
              <a:buFont typeface="Arial" panose="020B0604020202020204"/>
              <a:buChar char="▪"/>
              <a:tabLst>
                <a:tab pos="165100" algn="l"/>
              </a:tabLst>
            </a:pPr>
            <a:r>
              <a:rPr sz="1400" dirty="0">
                <a:latin typeface="微软雅黑" panose="020B0503020204020204" charset="-122"/>
                <a:ea typeface="微软雅黑" panose="020B0503020204020204" charset="-122"/>
                <a:cs typeface="微软雅黑" panose="020B0503020204020204" charset="-122"/>
              </a:rPr>
              <a:t>大客户的需求与期待</a:t>
            </a:r>
            <a:endParaRPr sz="1400">
              <a:latin typeface="微软雅黑" panose="020B0503020204020204" charset="-122"/>
              <a:ea typeface="微软雅黑" panose="020B0503020204020204" charset="-122"/>
              <a:cs typeface="微软雅黑" panose="020B0503020204020204" charset="-122"/>
            </a:endParaRPr>
          </a:p>
          <a:p>
            <a:pPr marL="165100" indent="-152400">
              <a:lnSpc>
                <a:spcPct val="100000"/>
              </a:lnSpc>
              <a:buClr>
                <a:srgbClr val="00295F"/>
              </a:buClr>
              <a:buSzPct val="125000"/>
              <a:buFont typeface="Arial" panose="020B0604020202020204"/>
              <a:buChar char="▪"/>
              <a:tabLst>
                <a:tab pos="165100" algn="l"/>
              </a:tabLst>
            </a:pPr>
            <a:r>
              <a:rPr sz="1400" dirty="0">
                <a:latin typeface="微软雅黑" panose="020B0503020204020204" charset="-122"/>
                <a:ea typeface="微软雅黑" panose="020B0503020204020204" charset="-122"/>
                <a:cs typeface="微软雅黑" panose="020B0503020204020204" charset="-122"/>
              </a:rPr>
              <a:t>与竞争对手的表现比较</a:t>
            </a:r>
            <a:endParaRPr sz="1400">
              <a:latin typeface="微软雅黑" panose="020B0503020204020204" charset="-122"/>
              <a:ea typeface="微软雅黑" panose="020B0503020204020204" charset="-122"/>
              <a:cs typeface="微软雅黑" panose="020B0503020204020204" charset="-122"/>
            </a:endParaRPr>
          </a:p>
          <a:p>
            <a:pPr marL="165100" indent="-152400">
              <a:lnSpc>
                <a:spcPct val="100000"/>
              </a:lnSpc>
              <a:buClr>
                <a:srgbClr val="00295F"/>
              </a:buClr>
              <a:buSzPct val="125000"/>
              <a:buFont typeface="Arial" panose="020B0604020202020204"/>
              <a:buChar char="▪"/>
              <a:tabLst>
                <a:tab pos="165100" algn="l"/>
              </a:tabLst>
            </a:pPr>
            <a:r>
              <a:rPr sz="1400" dirty="0">
                <a:latin typeface="微软雅黑" panose="020B0503020204020204" charset="-122"/>
                <a:ea typeface="微软雅黑" panose="020B0503020204020204" charset="-122"/>
                <a:cs typeface="微软雅黑" panose="020B0503020204020204" charset="-122"/>
              </a:rPr>
              <a:t>需要改善之处</a:t>
            </a:r>
            <a:endParaRPr sz="1400">
              <a:latin typeface="微软雅黑" panose="020B0503020204020204" charset="-122"/>
              <a:ea typeface="微软雅黑" panose="020B0503020204020204" charset="-122"/>
              <a:cs typeface="微软雅黑" panose="020B0503020204020204" charset="-122"/>
            </a:endParaRPr>
          </a:p>
        </p:txBody>
      </p:sp>
      <p:sp>
        <p:nvSpPr>
          <p:cNvPr id="30" name="object 30"/>
          <p:cNvSpPr txBox="1"/>
          <p:nvPr/>
        </p:nvSpPr>
        <p:spPr>
          <a:xfrm>
            <a:off x="106401" y="6411173"/>
            <a:ext cx="3073127" cy="165100"/>
          </a:xfrm>
          <a:prstGeom prst="rect">
            <a:avLst/>
          </a:prstGeom>
        </p:spPr>
        <p:txBody>
          <a:bodyPr vert="horz" wrap="square" lIns="0" tIns="12056" rIns="0" bIns="0" rtlCol="0">
            <a:spAutoFit/>
          </a:bodyPr>
          <a:lstStyle/>
          <a:p>
            <a:pPr marL="12700">
              <a:lnSpc>
                <a:spcPct val="100000"/>
              </a:lnSpc>
              <a:spcBef>
                <a:spcPts val="95"/>
              </a:spcBef>
              <a:tabLst>
                <a:tab pos="621665" algn="l"/>
              </a:tabLst>
            </a:pPr>
            <a:r>
              <a:rPr sz="1000" spc="-5" dirty="0">
                <a:latin typeface="微软雅黑" panose="020B0503020204020204" charset="-122"/>
                <a:ea typeface="微软雅黑" panose="020B0503020204020204" charset="-122"/>
                <a:cs typeface="微软雅黑" panose="020B0503020204020204" charset="-122"/>
              </a:rPr>
              <a:t>资  </a:t>
            </a:r>
            <a:r>
              <a:rPr sz="1000" spc="10"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料	</a:t>
            </a:r>
            <a:r>
              <a:rPr sz="1000" spc="-10" dirty="0">
                <a:latin typeface="微软雅黑" panose="020B0503020204020204" charset="-122"/>
                <a:ea typeface="微软雅黑" panose="020B0503020204020204" charset="-122"/>
                <a:cs typeface="微软雅黑" panose="020B0503020204020204" charset="-122"/>
              </a:rPr>
              <a:t>****管理咨询公</a:t>
            </a:r>
            <a:r>
              <a:rPr sz="1000" spc="-5" dirty="0">
                <a:latin typeface="微软雅黑" panose="020B0503020204020204" charset="-122"/>
                <a:ea typeface="微软雅黑" panose="020B0503020204020204" charset="-122"/>
                <a:cs typeface="微软雅黑" panose="020B0503020204020204" charset="-122"/>
              </a:rPr>
              <a:t>司</a:t>
            </a:r>
            <a:r>
              <a:rPr sz="1000" spc="15"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–营销和销售研究小组</a:t>
            </a:r>
            <a:endParaRPr sz="1000">
              <a:latin typeface="微软雅黑" panose="020B0503020204020204" charset="-122"/>
              <a:ea typeface="微软雅黑" panose="020B0503020204020204" charset="-122"/>
              <a:cs typeface="微软雅黑" panose="020B0503020204020204" charset="-122"/>
            </a:endParaRPr>
          </a:p>
        </p:txBody>
      </p:sp>
      <p:sp>
        <p:nvSpPr>
          <p:cNvPr id="31" name="object 31"/>
          <p:cNvSpPr txBox="1">
            <a:spLocks noGrp="1"/>
          </p:cNvSpPr>
          <p:nvPr>
            <p:ph type="title"/>
          </p:nvPr>
        </p:nvSpPr>
        <p:spPr>
          <a:xfrm>
            <a:off x="106401" y="90392"/>
            <a:ext cx="6058686"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为了解客户</a:t>
            </a:r>
            <a:r>
              <a:rPr spc="-10" dirty="0">
                <a:ea typeface="微软雅黑" panose="020B0503020204020204" charset="-122"/>
              </a:rPr>
              <a:t>需求</a:t>
            </a:r>
            <a:r>
              <a:rPr spc="-5" dirty="0">
                <a:ea typeface="微软雅黑" panose="020B0503020204020204" charset="-122"/>
              </a:rPr>
              <a:t>，</a:t>
            </a:r>
            <a:r>
              <a:rPr spc="-10" dirty="0">
                <a:ea typeface="微软雅黑" panose="020B0503020204020204" charset="-122"/>
              </a:rPr>
              <a:t>我们</a:t>
            </a:r>
            <a:r>
              <a:rPr spc="-5" dirty="0">
                <a:ea typeface="微软雅黑" panose="020B0503020204020204" charset="-122"/>
              </a:rPr>
              <a:t>建</a:t>
            </a:r>
            <a:r>
              <a:rPr spc="10" dirty="0">
                <a:ea typeface="微软雅黑" panose="020B0503020204020204" charset="-122"/>
              </a:rPr>
              <a:t>议</a:t>
            </a:r>
            <a:r>
              <a:rPr spc="-10" dirty="0">
                <a:ea typeface="微软雅黑" panose="020B0503020204020204" charset="-122"/>
              </a:rPr>
              <a:t>用</a:t>
            </a:r>
            <a:r>
              <a:rPr spc="-5" dirty="0">
                <a:ea typeface="微软雅黑" panose="020B0503020204020204" charset="-122"/>
              </a:rPr>
              <a:t>五</a:t>
            </a:r>
            <a:r>
              <a:rPr spc="-10" dirty="0">
                <a:ea typeface="微软雅黑" panose="020B0503020204020204" charset="-122"/>
              </a:rPr>
              <a:t>个视</a:t>
            </a:r>
            <a:r>
              <a:rPr spc="-5" dirty="0">
                <a:ea typeface="微软雅黑" panose="020B0503020204020204" charset="-122"/>
              </a:rPr>
              <a:t>角</a:t>
            </a:r>
            <a:r>
              <a:rPr spc="-10" dirty="0">
                <a:ea typeface="微软雅黑" panose="020B0503020204020204" charset="-122"/>
              </a:rPr>
              <a:t>来分</a:t>
            </a:r>
            <a:r>
              <a:rPr spc="5" dirty="0">
                <a:ea typeface="微软雅黑" panose="020B0503020204020204" charset="-122"/>
              </a:rPr>
              <a:t>析</a:t>
            </a:r>
            <a:r>
              <a:rPr spc="-10" dirty="0">
                <a:ea typeface="微软雅黑" panose="020B0503020204020204" charset="-122"/>
              </a:rPr>
              <a:t>、跟</a:t>
            </a:r>
            <a:r>
              <a:rPr dirty="0">
                <a:ea typeface="微软雅黑" panose="020B0503020204020204" charset="-122"/>
              </a:rPr>
              <a:t>踪</a:t>
            </a:r>
            <a:r>
              <a:rPr spc="-10" dirty="0">
                <a:ea typeface="微软雅黑" panose="020B0503020204020204" charset="-122"/>
              </a:rPr>
              <a:t>客户</a:t>
            </a:r>
            <a:endParaRPr spc="-10" dirty="0">
              <a:ea typeface="微软雅黑" panose="020B0503020204020204" charset="-122"/>
            </a:endParaRPr>
          </a:p>
        </p:txBody>
      </p:sp>
      <p:sp>
        <p:nvSpPr>
          <p:cNvPr id="32" name="object 32"/>
          <p:cNvSpPr/>
          <p:nvPr/>
        </p:nvSpPr>
        <p:spPr>
          <a:xfrm>
            <a:off x="334725" y="1198571"/>
            <a:ext cx="199883" cy="158638"/>
          </a:xfrm>
          <a:prstGeom prst="rect">
            <a:avLst/>
          </a:prstGeom>
          <a:blipFill>
            <a:blip r:embed="rId2"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3" name="object 33"/>
          <p:cNvSpPr/>
          <p:nvPr/>
        </p:nvSpPr>
        <p:spPr>
          <a:xfrm>
            <a:off x="334725" y="2423253"/>
            <a:ext cx="199883" cy="158638"/>
          </a:xfrm>
          <a:prstGeom prst="rect">
            <a:avLst/>
          </a:prstGeom>
          <a:blipFill>
            <a:blip r:embed="rId3"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4" name="object 34"/>
          <p:cNvSpPr/>
          <p:nvPr/>
        </p:nvSpPr>
        <p:spPr>
          <a:xfrm>
            <a:off x="228438" y="4396704"/>
            <a:ext cx="199883" cy="158638"/>
          </a:xfrm>
          <a:prstGeom prst="rect">
            <a:avLst/>
          </a:prstGeom>
          <a:blipFill>
            <a:blip r:embed="rId4"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5" name="object 35"/>
          <p:cNvSpPr/>
          <p:nvPr/>
        </p:nvSpPr>
        <p:spPr>
          <a:xfrm>
            <a:off x="6583459" y="2455615"/>
            <a:ext cx="199883" cy="158638"/>
          </a:xfrm>
          <a:prstGeom prst="rect">
            <a:avLst/>
          </a:prstGeom>
          <a:blipFill>
            <a:blip r:embed="rId5"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6" name="object 36"/>
          <p:cNvSpPr/>
          <p:nvPr/>
        </p:nvSpPr>
        <p:spPr>
          <a:xfrm>
            <a:off x="6156788" y="4501405"/>
            <a:ext cx="199883" cy="158638"/>
          </a:xfrm>
          <a:prstGeom prst="rect">
            <a:avLst/>
          </a:prstGeom>
          <a:blipFill>
            <a:blip r:embed="rId6"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401" y="203088"/>
            <a:ext cx="5571986"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客户支持方</a:t>
            </a:r>
            <a:r>
              <a:rPr spc="-10" dirty="0">
                <a:ea typeface="微软雅黑" panose="020B0503020204020204" charset="-122"/>
              </a:rPr>
              <a:t>法的</a:t>
            </a:r>
            <a:r>
              <a:rPr spc="-5" dirty="0">
                <a:ea typeface="微软雅黑" panose="020B0503020204020204" charset="-122"/>
              </a:rPr>
              <a:t>关</a:t>
            </a:r>
            <a:r>
              <a:rPr spc="-10" dirty="0">
                <a:ea typeface="微软雅黑" panose="020B0503020204020204" charset="-122"/>
              </a:rPr>
              <a:t>键在</a:t>
            </a:r>
            <a:r>
              <a:rPr spc="-5" dirty="0">
                <a:ea typeface="微软雅黑" panose="020B0503020204020204" charset="-122"/>
              </a:rPr>
              <a:t>于</a:t>
            </a:r>
            <a:r>
              <a:rPr spc="-10" dirty="0">
                <a:ea typeface="微软雅黑" panose="020B0503020204020204" charset="-122"/>
              </a:rPr>
              <a:t>不要</a:t>
            </a:r>
            <a:r>
              <a:rPr spc="-5" dirty="0">
                <a:ea typeface="微软雅黑" panose="020B0503020204020204" charset="-122"/>
              </a:rPr>
              <a:t>仅</a:t>
            </a:r>
            <a:r>
              <a:rPr spc="-10" dirty="0">
                <a:ea typeface="微软雅黑" panose="020B0503020204020204" charset="-122"/>
              </a:rPr>
              <a:t>仅停</a:t>
            </a:r>
            <a:r>
              <a:rPr spc="-5" dirty="0">
                <a:ea typeface="微软雅黑" panose="020B0503020204020204" charset="-122"/>
              </a:rPr>
              <a:t>留</a:t>
            </a:r>
            <a:r>
              <a:rPr spc="-10" dirty="0">
                <a:ea typeface="微软雅黑" panose="020B0503020204020204" charset="-122"/>
              </a:rPr>
              <a:t>在成</a:t>
            </a:r>
            <a:r>
              <a:rPr spc="-5" dirty="0">
                <a:ea typeface="微软雅黑" panose="020B0503020204020204" charset="-122"/>
              </a:rPr>
              <a:t>本</a:t>
            </a:r>
            <a:r>
              <a:rPr spc="-10" dirty="0">
                <a:ea typeface="微软雅黑" panose="020B0503020204020204" charset="-122"/>
              </a:rPr>
              <a:t>竞争上</a:t>
            </a:r>
            <a:endParaRPr spc="-10" dirty="0">
              <a:ea typeface="微软雅黑" panose="020B0503020204020204" charset="-122"/>
            </a:endParaRPr>
          </a:p>
        </p:txBody>
      </p:sp>
      <p:sp>
        <p:nvSpPr>
          <p:cNvPr id="4" name="object 4"/>
          <p:cNvSpPr txBox="1"/>
          <p:nvPr/>
        </p:nvSpPr>
        <p:spPr>
          <a:xfrm>
            <a:off x="7295551" y="129988"/>
            <a:ext cx="1396011" cy="534670"/>
          </a:xfrm>
          <a:prstGeom prst="rect">
            <a:avLst/>
          </a:prstGeom>
        </p:spPr>
        <p:txBody>
          <a:bodyPr vert="horz" wrap="square" lIns="0" tIns="12691" rIns="0" bIns="0" rtlCol="0">
            <a:spAutoFit/>
          </a:bodyPr>
          <a:lstStyle/>
          <a:p>
            <a:pPr marL="12700" marR="5080">
              <a:lnSpc>
                <a:spcPct val="142000"/>
              </a:lnSpc>
              <a:spcBef>
                <a:spcPts val="100"/>
              </a:spcBef>
            </a:pPr>
            <a:r>
              <a:rPr sz="1200" dirty="0">
                <a:latin typeface="微软雅黑" panose="020B0503020204020204" charset="-122"/>
                <a:ea typeface="微软雅黑" panose="020B0503020204020204" charset="-122"/>
                <a:cs typeface="微软雅黑" panose="020B0503020204020204" charset="-122"/>
              </a:rPr>
              <a:t>自身增长突出的公司 多数工业企业</a:t>
            </a:r>
            <a:endParaRPr sz="1200" dirty="0">
              <a:latin typeface="微软雅黑" panose="020B0503020204020204" charset="-122"/>
              <a:ea typeface="微软雅黑" panose="020B0503020204020204" charset="-122"/>
              <a:cs typeface="微软雅黑" panose="020B0503020204020204" charset="-122"/>
            </a:endParaRPr>
          </a:p>
        </p:txBody>
      </p:sp>
      <p:sp>
        <p:nvSpPr>
          <p:cNvPr id="5" name="object 5"/>
          <p:cNvSpPr/>
          <p:nvPr/>
        </p:nvSpPr>
        <p:spPr>
          <a:xfrm>
            <a:off x="7057214" y="255122"/>
            <a:ext cx="175136" cy="173867"/>
          </a:xfrm>
          <a:custGeom>
            <a:avLst/>
            <a:gdLst/>
            <a:ahLst/>
            <a:cxnLst/>
            <a:rect l="l" t="t" r="r" b="b"/>
            <a:pathLst>
              <a:path w="175259" h="173990">
                <a:moveTo>
                  <a:pt x="0" y="173736"/>
                </a:moveTo>
                <a:lnTo>
                  <a:pt x="175259" y="173736"/>
                </a:lnTo>
                <a:lnTo>
                  <a:pt x="175259" y="0"/>
                </a:lnTo>
                <a:lnTo>
                  <a:pt x="0" y="0"/>
                </a:lnTo>
                <a:lnTo>
                  <a:pt x="0" y="173736"/>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7038939" y="483560"/>
            <a:ext cx="211686" cy="225392"/>
          </a:xfrm>
          <a:prstGeom prst="rect">
            <a:avLst/>
          </a:prstGeom>
          <a:blipFill>
            <a:blip r:embed="rId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4688311" y="1044756"/>
            <a:ext cx="2523606" cy="2193006"/>
          </a:xfrm>
          <a:custGeom>
            <a:avLst/>
            <a:gdLst/>
            <a:ahLst/>
            <a:cxnLst/>
            <a:rect l="l" t="t" r="r" b="b"/>
            <a:pathLst>
              <a:path w="2525395" h="2194560">
                <a:moveTo>
                  <a:pt x="0" y="2194560"/>
                </a:moveTo>
                <a:lnTo>
                  <a:pt x="2525267" y="2194560"/>
                </a:lnTo>
                <a:lnTo>
                  <a:pt x="2525267" y="0"/>
                </a:lnTo>
                <a:lnTo>
                  <a:pt x="0" y="0"/>
                </a:lnTo>
                <a:lnTo>
                  <a:pt x="0" y="219456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4688311" y="3237762"/>
            <a:ext cx="2523606" cy="2196179"/>
          </a:xfrm>
          <a:custGeom>
            <a:avLst/>
            <a:gdLst/>
            <a:ahLst/>
            <a:cxnLst/>
            <a:rect l="l" t="t" r="r" b="b"/>
            <a:pathLst>
              <a:path w="2525395" h="2197735">
                <a:moveTo>
                  <a:pt x="0" y="2197608"/>
                </a:moveTo>
                <a:lnTo>
                  <a:pt x="2525267" y="2197608"/>
                </a:lnTo>
                <a:lnTo>
                  <a:pt x="2525267" y="0"/>
                </a:lnTo>
                <a:lnTo>
                  <a:pt x="0" y="0"/>
                </a:lnTo>
                <a:lnTo>
                  <a:pt x="0" y="2197608"/>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4688311" y="3237762"/>
            <a:ext cx="2523606" cy="2196179"/>
          </a:xfrm>
          <a:custGeom>
            <a:avLst/>
            <a:gdLst/>
            <a:ahLst/>
            <a:cxnLst/>
            <a:rect l="l" t="t" r="r" b="b"/>
            <a:pathLst>
              <a:path w="2525395" h="2197735">
                <a:moveTo>
                  <a:pt x="0" y="2197608"/>
                </a:moveTo>
                <a:lnTo>
                  <a:pt x="2525267" y="2197608"/>
                </a:lnTo>
                <a:lnTo>
                  <a:pt x="2525267" y="0"/>
                </a:lnTo>
                <a:lnTo>
                  <a:pt x="0" y="0"/>
                </a:lnTo>
                <a:lnTo>
                  <a:pt x="0" y="2197608"/>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2161785" y="1044756"/>
            <a:ext cx="2526779" cy="2193006"/>
          </a:xfrm>
          <a:custGeom>
            <a:avLst/>
            <a:gdLst/>
            <a:ahLst/>
            <a:cxnLst/>
            <a:rect l="l" t="t" r="r" b="b"/>
            <a:pathLst>
              <a:path w="2528570" h="2194560">
                <a:moveTo>
                  <a:pt x="0" y="2194560"/>
                </a:moveTo>
                <a:lnTo>
                  <a:pt x="2528316" y="2194560"/>
                </a:lnTo>
                <a:lnTo>
                  <a:pt x="2528316" y="0"/>
                </a:lnTo>
                <a:lnTo>
                  <a:pt x="0" y="0"/>
                </a:lnTo>
                <a:lnTo>
                  <a:pt x="0" y="21945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2161785" y="1044756"/>
            <a:ext cx="2526779" cy="2193006"/>
          </a:xfrm>
          <a:custGeom>
            <a:avLst/>
            <a:gdLst/>
            <a:ahLst/>
            <a:cxnLst/>
            <a:rect l="l" t="t" r="r" b="b"/>
            <a:pathLst>
              <a:path w="2528570" h="2194560">
                <a:moveTo>
                  <a:pt x="0" y="2194560"/>
                </a:moveTo>
                <a:lnTo>
                  <a:pt x="2528316" y="2194560"/>
                </a:lnTo>
                <a:lnTo>
                  <a:pt x="2528316" y="0"/>
                </a:lnTo>
                <a:lnTo>
                  <a:pt x="0" y="0"/>
                </a:lnTo>
                <a:lnTo>
                  <a:pt x="0" y="2194560"/>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2161785" y="3237762"/>
            <a:ext cx="2526779" cy="2196179"/>
          </a:xfrm>
          <a:custGeom>
            <a:avLst/>
            <a:gdLst/>
            <a:ahLst/>
            <a:cxnLst/>
            <a:rect l="l" t="t" r="r" b="b"/>
            <a:pathLst>
              <a:path w="2528570" h="2197735">
                <a:moveTo>
                  <a:pt x="0" y="2197608"/>
                </a:moveTo>
                <a:lnTo>
                  <a:pt x="2528316" y="2197608"/>
                </a:lnTo>
                <a:lnTo>
                  <a:pt x="2528316" y="0"/>
                </a:lnTo>
                <a:lnTo>
                  <a:pt x="0" y="0"/>
                </a:lnTo>
                <a:lnTo>
                  <a:pt x="0" y="2197608"/>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2161785" y="3237762"/>
            <a:ext cx="2526779" cy="2196179"/>
          </a:xfrm>
          <a:custGeom>
            <a:avLst/>
            <a:gdLst/>
            <a:ahLst/>
            <a:cxnLst/>
            <a:rect l="l" t="t" r="r" b="b"/>
            <a:pathLst>
              <a:path w="2528570" h="2197735">
                <a:moveTo>
                  <a:pt x="0" y="2197608"/>
                </a:moveTo>
                <a:lnTo>
                  <a:pt x="2528316" y="2197608"/>
                </a:lnTo>
                <a:lnTo>
                  <a:pt x="2528316" y="0"/>
                </a:lnTo>
                <a:lnTo>
                  <a:pt x="0" y="0"/>
                </a:lnTo>
                <a:lnTo>
                  <a:pt x="0" y="2197608"/>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2161785" y="5747535"/>
            <a:ext cx="5050386" cy="0"/>
          </a:xfrm>
          <a:custGeom>
            <a:avLst/>
            <a:gdLst/>
            <a:ahLst/>
            <a:cxnLst/>
            <a:rect l="l" t="t" r="r" b="b"/>
            <a:pathLst>
              <a:path w="5053965">
                <a:moveTo>
                  <a:pt x="0" y="0"/>
                </a:moveTo>
                <a:lnTo>
                  <a:pt x="5053583" y="0"/>
                </a:lnTo>
              </a:path>
            </a:pathLst>
          </a:custGeom>
          <a:ln w="19050">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1809990" y="1064554"/>
            <a:ext cx="0" cy="4368244"/>
          </a:xfrm>
          <a:custGeom>
            <a:avLst/>
            <a:gdLst/>
            <a:ahLst/>
            <a:cxnLst/>
            <a:rect l="l" t="t" r="r" b="b"/>
            <a:pathLst>
              <a:path h="4371340">
                <a:moveTo>
                  <a:pt x="0" y="0"/>
                </a:moveTo>
                <a:lnTo>
                  <a:pt x="0" y="4370832"/>
                </a:lnTo>
              </a:path>
            </a:pathLst>
          </a:custGeom>
          <a:ln w="19050">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txBox="1"/>
          <p:nvPr/>
        </p:nvSpPr>
        <p:spPr>
          <a:xfrm>
            <a:off x="3053202" y="5463003"/>
            <a:ext cx="741155" cy="227330"/>
          </a:xfrm>
          <a:prstGeom prst="rect">
            <a:avLst/>
          </a:prstGeom>
        </p:spPr>
        <p:txBody>
          <a:bodyPr vert="horz" wrap="square" lIns="0" tIns="12691" rIns="0" bIns="0" rtlCol="0">
            <a:spAutoFit/>
          </a:bodyPr>
          <a:lstStyle/>
          <a:p>
            <a:pPr marL="12700">
              <a:lnSpc>
                <a:spcPct val="100000"/>
              </a:lnSpc>
              <a:spcBef>
                <a:spcPts val="100"/>
              </a:spcBef>
            </a:pPr>
            <a:r>
              <a:rPr sz="1400" b="1" spc="10" dirty="0">
                <a:latin typeface="微软雅黑" panose="020B0503020204020204" charset="-122"/>
                <a:ea typeface="微软雅黑" panose="020B0503020204020204" charset="-122"/>
                <a:cs typeface="微软雅黑" panose="020B0503020204020204" charset="-122"/>
              </a:rPr>
              <a:t>产品</a:t>
            </a:r>
            <a:r>
              <a:rPr sz="1400" b="1" dirty="0">
                <a:latin typeface="微软雅黑" panose="020B0503020204020204" charset="-122"/>
                <a:ea typeface="微软雅黑" panose="020B0503020204020204" charset="-122"/>
                <a:cs typeface="微软雅黑" panose="020B0503020204020204" charset="-122"/>
              </a:rPr>
              <a:t>先行</a:t>
            </a:r>
            <a:endParaRPr sz="1400">
              <a:latin typeface="微软雅黑" panose="020B0503020204020204" charset="-122"/>
              <a:ea typeface="微软雅黑" panose="020B0503020204020204" charset="-122"/>
              <a:cs typeface="微软雅黑" panose="020B0503020204020204" charset="-122"/>
            </a:endParaRPr>
          </a:p>
        </p:txBody>
      </p:sp>
      <p:sp>
        <p:nvSpPr>
          <p:cNvPr id="17" name="object 17"/>
          <p:cNvSpPr txBox="1"/>
          <p:nvPr/>
        </p:nvSpPr>
        <p:spPr>
          <a:xfrm>
            <a:off x="5579219" y="5463003"/>
            <a:ext cx="741155" cy="227330"/>
          </a:xfrm>
          <a:prstGeom prst="rect">
            <a:avLst/>
          </a:prstGeom>
        </p:spPr>
        <p:txBody>
          <a:bodyPr vert="horz" wrap="square" lIns="0" tIns="12691" rIns="0" bIns="0" rtlCol="0">
            <a:spAutoFit/>
          </a:bodyPr>
          <a:lstStyle/>
          <a:p>
            <a:pPr marL="12700">
              <a:lnSpc>
                <a:spcPct val="100000"/>
              </a:lnSpc>
              <a:spcBef>
                <a:spcPts val="100"/>
              </a:spcBef>
            </a:pPr>
            <a:r>
              <a:rPr sz="1400" b="1" spc="10" dirty="0">
                <a:latin typeface="微软雅黑" panose="020B0503020204020204" charset="-122"/>
                <a:ea typeface="微软雅黑" panose="020B0503020204020204" charset="-122"/>
                <a:cs typeface="微软雅黑" panose="020B0503020204020204" charset="-122"/>
              </a:rPr>
              <a:t>客户</a:t>
            </a:r>
            <a:r>
              <a:rPr sz="1400" b="1" dirty="0">
                <a:latin typeface="微软雅黑" panose="020B0503020204020204" charset="-122"/>
                <a:ea typeface="微软雅黑" panose="020B0503020204020204" charset="-122"/>
                <a:cs typeface="微软雅黑" panose="020B0503020204020204" charset="-122"/>
              </a:rPr>
              <a:t>支持</a:t>
            </a:r>
            <a:endParaRPr sz="1400">
              <a:latin typeface="微软雅黑" panose="020B0503020204020204" charset="-122"/>
              <a:ea typeface="微软雅黑" panose="020B0503020204020204" charset="-122"/>
              <a:cs typeface="微软雅黑" panose="020B0503020204020204" charset="-122"/>
            </a:endParaRPr>
          </a:p>
        </p:txBody>
      </p:sp>
      <p:sp>
        <p:nvSpPr>
          <p:cNvPr id="18" name="object 18"/>
          <p:cNvSpPr txBox="1"/>
          <p:nvPr/>
        </p:nvSpPr>
        <p:spPr>
          <a:xfrm>
            <a:off x="4316972" y="5783424"/>
            <a:ext cx="741155" cy="227330"/>
          </a:xfrm>
          <a:prstGeom prst="rect">
            <a:avLst/>
          </a:prstGeom>
        </p:spPr>
        <p:txBody>
          <a:bodyPr vert="horz" wrap="square" lIns="0" tIns="12691" rIns="0" bIns="0" rtlCol="0">
            <a:spAutoFit/>
          </a:bodyPr>
          <a:lstStyle/>
          <a:p>
            <a:pPr marL="12700">
              <a:lnSpc>
                <a:spcPct val="100000"/>
              </a:lnSpc>
              <a:spcBef>
                <a:spcPts val="100"/>
              </a:spcBef>
            </a:pPr>
            <a:r>
              <a:rPr sz="1400" b="1" spc="10" dirty="0">
                <a:latin typeface="微软雅黑" panose="020B0503020204020204" charset="-122"/>
                <a:ea typeface="微软雅黑" panose="020B0503020204020204" charset="-122"/>
                <a:cs typeface="微软雅黑" panose="020B0503020204020204" charset="-122"/>
              </a:rPr>
              <a:t>总体</a:t>
            </a:r>
            <a:r>
              <a:rPr sz="1400" b="1" dirty="0">
                <a:latin typeface="微软雅黑" panose="020B0503020204020204" charset="-122"/>
                <a:ea typeface="微软雅黑" panose="020B0503020204020204" charset="-122"/>
                <a:cs typeface="微软雅黑" panose="020B0503020204020204" charset="-122"/>
              </a:rPr>
              <a:t>方法</a:t>
            </a:r>
            <a:endParaRPr sz="1400">
              <a:latin typeface="微软雅黑" panose="020B0503020204020204" charset="-122"/>
              <a:ea typeface="微软雅黑" panose="020B0503020204020204" charset="-122"/>
              <a:cs typeface="微软雅黑" panose="020B0503020204020204" charset="-122"/>
            </a:endParaRPr>
          </a:p>
        </p:txBody>
      </p:sp>
      <p:sp>
        <p:nvSpPr>
          <p:cNvPr id="19" name="object 19"/>
          <p:cNvSpPr txBox="1"/>
          <p:nvPr/>
        </p:nvSpPr>
        <p:spPr>
          <a:xfrm>
            <a:off x="1908599" y="3883683"/>
            <a:ext cx="204325" cy="874395"/>
          </a:xfrm>
          <a:prstGeom prst="rect">
            <a:avLst/>
          </a:prstGeom>
        </p:spPr>
        <p:txBody>
          <a:bodyPr vert="horz" wrap="square" lIns="0" tIns="13325" rIns="0" bIns="0" rtlCol="0">
            <a:spAutoFit/>
          </a:bodyPr>
          <a:lstStyle/>
          <a:p>
            <a:pPr marL="12700" marR="5080" algn="just">
              <a:lnSpc>
                <a:spcPct val="100000"/>
              </a:lnSpc>
              <a:spcBef>
                <a:spcPts val="105"/>
              </a:spcBef>
            </a:pPr>
            <a:r>
              <a:rPr sz="1400" b="1" dirty="0">
                <a:latin typeface="微软雅黑" panose="020B0503020204020204" charset="-122"/>
                <a:ea typeface="微软雅黑" panose="020B0503020204020204" charset="-122"/>
                <a:cs typeface="微软雅黑" panose="020B0503020204020204" charset="-122"/>
              </a:rPr>
              <a:t>削 减 成 本</a:t>
            </a:r>
            <a:endParaRPr sz="1400" b="1" dirty="0">
              <a:latin typeface="微软雅黑" panose="020B0503020204020204" charset="-122"/>
              <a:ea typeface="微软雅黑" panose="020B0503020204020204" charset="-122"/>
              <a:cs typeface="微软雅黑" panose="020B0503020204020204" charset="-122"/>
            </a:endParaRPr>
          </a:p>
        </p:txBody>
      </p:sp>
      <p:sp>
        <p:nvSpPr>
          <p:cNvPr id="20" name="object 20"/>
          <p:cNvSpPr txBox="1"/>
          <p:nvPr/>
        </p:nvSpPr>
        <p:spPr>
          <a:xfrm>
            <a:off x="1875476" y="1477265"/>
            <a:ext cx="203691" cy="1304925"/>
          </a:xfrm>
          <a:prstGeom prst="rect">
            <a:avLst/>
          </a:prstGeom>
        </p:spPr>
        <p:txBody>
          <a:bodyPr vert="horz" wrap="square" lIns="0" tIns="13325" rIns="0" bIns="0" rtlCol="0">
            <a:spAutoFit/>
          </a:bodyPr>
          <a:lstStyle/>
          <a:p>
            <a:pPr marL="12700" marR="5080" algn="just">
              <a:lnSpc>
                <a:spcPct val="100000"/>
              </a:lnSpc>
              <a:spcBef>
                <a:spcPts val="105"/>
              </a:spcBef>
            </a:pPr>
            <a:r>
              <a:rPr sz="1400" b="1" dirty="0">
                <a:latin typeface="微软雅黑" panose="020B0503020204020204" charset="-122"/>
                <a:ea typeface="微软雅黑" panose="020B0503020204020204" charset="-122"/>
                <a:cs typeface="微软雅黑" panose="020B0503020204020204" charset="-122"/>
              </a:rPr>
              <a:t>推 动 总 体 价 值</a:t>
            </a:r>
            <a:endParaRPr sz="1400" b="1" dirty="0">
              <a:latin typeface="微软雅黑" panose="020B0503020204020204" charset="-122"/>
              <a:ea typeface="微软雅黑" panose="020B0503020204020204" charset="-122"/>
              <a:cs typeface="微软雅黑" panose="020B0503020204020204" charset="-122"/>
            </a:endParaRPr>
          </a:p>
        </p:txBody>
      </p:sp>
      <p:sp>
        <p:nvSpPr>
          <p:cNvPr id="21" name="object 21"/>
          <p:cNvSpPr txBox="1"/>
          <p:nvPr/>
        </p:nvSpPr>
        <p:spPr>
          <a:xfrm>
            <a:off x="1473932" y="2797257"/>
            <a:ext cx="203691" cy="874395"/>
          </a:xfrm>
          <a:prstGeom prst="rect">
            <a:avLst/>
          </a:prstGeom>
        </p:spPr>
        <p:txBody>
          <a:bodyPr vert="horz" wrap="square" lIns="0" tIns="13325" rIns="0" bIns="0" rtlCol="0">
            <a:spAutoFit/>
          </a:bodyPr>
          <a:lstStyle/>
          <a:p>
            <a:pPr marL="12700" marR="5080" algn="just">
              <a:lnSpc>
                <a:spcPct val="100000"/>
              </a:lnSpc>
              <a:spcBef>
                <a:spcPts val="105"/>
              </a:spcBef>
            </a:pPr>
            <a:r>
              <a:rPr sz="1400" b="1" dirty="0">
                <a:latin typeface="微软雅黑" panose="020B0503020204020204" charset="-122"/>
                <a:ea typeface="微软雅黑" panose="020B0503020204020204" charset="-122"/>
                <a:cs typeface="微软雅黑" panose="020B0503020204020204" charset="-122"/>
              </a:rPr>
              <a:t>提 供 重 点</a:t>
            </a:r>
            <a:endParaRPr sz="1400" b="1" dirty="0">
              <a:latin typeface="微软雅黑" panose="020B0503020204020204" charset="-122"/>
              <a:ea typeface="微软雅黑" panose="020B0503020204020204" charset="-122"/>
              <a:cs typeface="微软雅黑" panose="020B0503020204020204" charset="-122"/>
            </a:endParaRPr>
          </a:p>
        </p:txBody>
      </p:sp>
      <p:sp>
        <p:nvSpPr>
          <p:cNvPr id="22" name="object 22"/>
          <p:cNvSpPr txBox="1"/>
          <p:nvPr/>
        </p:nvSpPr>
        <p:spPr>
          <a:xfrm>
            <a:off x="2256206" y="1094632"/>
            <a:ext cx="2355451" cy="874395"/>
          </a:xfrm>
          <a:prstGeom prst="rect">
            <a:avLst/>
          </a:prstGeom>
        </p:spPr>
        <p:txBody>
          <a:bodyPr vert="horz" wrap="square" lIns="0" tIns="13325" rIns="0" bIns="0" rtlCol="0">
            <a:spAutoFit/>
          </a:bodyPr>
          <a:lstStyle/>
          <a:p>
            <a:pPr marL="12700">
              <a:lnSpc>
                <a:spcPct val="100000"/>
              </a:lnSpc>
              <a:spcBef>
                <a:spcPts val="105"/>
              </a:spcBef>
            </a:pPr>
            <a:r>
              <a:rPr sz="1400" b="1" spc="10" dirty="0">
                <a:latin typeface="微软雅黑" panose="020B0503020204020204" charset="-122"/>
                <a:ea typeface="微软雅黑" panose="020B0503020204020204" charset="-122"/>
                <a:cs typeface="微软雅黑" panose="020B0503020204020204" charset="-122"/>
              </a:rPr>
              <a:t>“响</a:t>
            </a:r>
            <a:r>
              <a:rPr sz="1400" b="1" dirty="0">
                <a:latin typeface="微软雅黑" panose="020B0503020204020204" charset="-122"/>
                <a:ea typeface="微软雅黑" panose="020B0503020204020204" charset="-122"/>
                <a:cs typeface="微软雅黑" panose="020B0503020204020204" charset="-122"/>
              </a:rPr>
              <a:t>应型</a:t>
            </a:r>
            <a:r>
              <a:rPr sz="1400" b="1" spc="-15" dirty="0">
                <a:latin typeface="微软雅黑" panose="020B0503020204020204" charset="-122"/>
                <a:ea typeface="微软雅黑" panose="020B0503020204020204" charset="-122"/>
                <a:cs typeface="微软雅黑" panose="020B0503020204020204" charset="-122"/>
              </a:rPr>
              <a:t>供</a:t>
            </a:r>
            <a:r>
              <a:rPr sz="1400" b="1" dirty="0">
                <a:latin typeface="微软雅黑" panose="020B0503020204020204" charset="-122"/>
                <a:ea typeface="微软雅黑" panose="020B0503020204020204" charset="-122"/>
                <a:cs typeface="微软雅黑" panose="020B0503020204020204" charset="-122"/>
              </a:rPr>
              <a:t>应商”</a:t>
            </a:r>
            <a:endParaRPr sz="1400">
              <a:latin typeface="微软雅黑" panose="020B0503020204020204" charset="-122"/>
              <a:ea typeface="微软雅黑" panose="020B0503020204020204" charset="-122"/>
              <a:cs typeface="微软雅黑" panose="020B0503020204020204" charset="-122"/>
            </a:endParaRPr>
          </a:p>
          <a:p>
            <a:pPr marL="205740" indent="-192405">
              <a:lnSpc>
                <a:spcPct val="100000"/>
              </a:lnSpc>
              <a:buClr>
                <a:srgbClr val="00295F"/>
              </a:buClr>
              <a:buSzPct val="125000"/>
              <a:buFont typeface="Arial" panose="020B0604020202020204"/>
              <a:buChar char="▪"/>
              <a:tabLst>
                <a:tab pos="206375" algn="l"/>
              </a:tabLst>
            </a:pPr>
            <a:r>
              <a:rPr sz="1400" dirty="0">
                <a:latin typeface="微软雅黑" panose="020B0503020204020204" charset="-122"/>
                <a:ea typeface="微软雅黑" panose="020B0503020204020204" charset="-122"/>
                <a:cs typeface="微软雅黑" panose="020B0503020204020204" charset="-122"/>
              </a:rPr>
              <a:t>对“排在第二位”的客</a:t>
            </a:r>
            <a:r>
              <a:rPr sz="1400" spc="-15" dirty="0">
                <a:latin typeface="微软雅黑" panose="020B0503020204020204" charset="-122"/>
                <a:ea typeface="微软雅黑" panose="020B0503020204020204" charset="-122"/>
                <a:cs typeface="微软雅黑" panose="020B0503020204020204" charset="-122"/>
              </a:rPr>
              <a:t>户</a:t>
            </a:r>
            <a:r>
              <a:rPr sz="1400" dirty="0">
                <a:latin typeface="微软雅黑" panose="020B0503020204020204" charset="-122"/>
                <a:ea typeface="微软雅黑" panose="020B0503020204020204" charset="-122"/>
                <a:cs typeface="微软雅黑" panose="020B0503020204020204" charset="-122"/>
              </a:rPr>
              <a:t>的</a:t>
            </a:r>
            <a:endParaRPr sz="1400">
              <a:latin typeface="微软雅黑" panose="020B0503020204020204" charset="-122"/>
              <a:ea typeface="微软雅黑" panose="020B0503020204020204" charset="-122"/>
              <a:cs typeface="微软雅黑" panose="020B0503020204020204" charset="-122"/>
            </a:endParaRPr>
          </a:p>
          <a:p>
            <a:pPr marL="205740">
              <a:lnSpc>
                <a:spcPct val="100000"/>
              </a:lnSpc>
            </a:pPr>
            <a:r>
              <a:rPr sz="1400" dirty="0">
                <a:latin typeface="微软雅黑" panose="020B0503020204020204" charset="-122"/>
                <a:ea typeface="微软雅黑" panose="020B0503020204020204" charset="-122"/>
                <a:cs typeface="微软雅黑" panose="020B0503020204020204" charset="-122"/>
              </a:rPr>
              <a:t>需求积极响应并全部满足</a:t>
            </a:r>
            <a:endParaRPr sz="1400">
              <a:latin typeface="微软雅黑" panose="020B0503020204020204" charset="-122"/>
              <a:ea typeface="微软雅黑" panose="020B0503020204020204" charset="-122"/>
              <a:cs typeface="微软雅黑" panose="020B0503020204020204" charset="-122"/>
            </a:endParaRPr>
          </a:p>
          <a:p>
            <a:pPr marL="205740" indent="-192405">
              <a:lnSpc>
                <a:spcPct val="100000"/>
              </a:lnSpc>
              <a:buClr>
                <a:srgbClr val="00295F"/>
              </a:buClr>
              <a:buSzPct val="125000"/>
              <a:buFont typeface="Arial" panose="020B0604020202020204"/>
              <a:buChar char="▪"/>
              <a:tabLst>
                <a:tab pos="206375" algn="l"/>
              </a:tabLst>
            </a:pPr>
            <a:r>
              <a:rPr sz="1400" dirty="0">
                <a:latin typeface="微软雅黑" panose="020B0503020204020204" charset="-122"/>
                <a:ea typeface="微软雅黑" panose="020B0503020204020204" charset="-122"/>
                <a:cs typeface="微软雅黑" panose="020B0503020204020204" charset="-122"/>
              </a:rPr>
              <a:t>研发推动材料需求</a:t>
            </a:r>
            <a:endParaRPr sz="1400">
              <a:latin typeface="微软雅黑" panose="020B0503020204020204" charset="-122"/>
              <a:ea typeface="微软雅黑" panose="020B0503020204020204" charset="-122"/>
              <a:cs typeface="微软雅黑" panose="020B0503020204020204" charset="-122"/>
            </a:endParaRPr>
          </a:p>
        </p:txBody>
      </p:sp>
      <p:sp>
        <p:nvSpPr>
          <p:cNvPr id="23" name="object 23"/>
          <p:cNvSpPr txBox="1"/>
          <p:nvPr/>
        </p:nvSpPr>
        <p:spPr>
          <a:xfrm>
            <a:off x="4764711" y="1094632"/>
            <a:ext cx="2356085" cy="874395"/>
          </a:xfrm>
          <a:prstGeom prst="rect">
            <a:avLst/>
          </a:prstGeom>
        </p:spPr>
        <p:txBody>
          <a:bodyPr vert="horz" wrap="square" lIns="0" tIns="13325" rIns="0" bIns="0" rtlCol="0">
            <a:spAutoFit/>
          </a:bodyPr>
          <a:lstStyle/>
          <a:p>
            <a:pPr marL="12700">
              <a:lnSpc>
                <a:spcPct val="100000"/>
              </a:lnSpc>
              <a:spcBef>
                <a:spcPts val="105"/>
              </a:spcBef>
            </a:pPr>
            <a:r>
              <a:rPr sz="1400" b="1" spc="10" dirty="0">
                <a:latin typeface="微软雅黑" panose="020B0503020204020204" charset="-122"/>
                <a:ea typeface="微软雅黑" panose="020B0503020204020204" charset="-122"/>
                <a:cs typeface="微软雅黑" panose="020B0503020204020204" charset="-122"/>
              </a:rPr>
              <a:t>“创</a:t>
            </a:r>
            <a:r>
              <a:rPr sz="1400" b="1" dirty="0">
                <a:latin typeface="微软雅黑" panose="020B0503020204020204" charset="-122"/>
                <a:ea typeface="微软雅黑" panose="020B0503020204020204" charset="-122"/>
                <a:cs typeface="微软雅黑" panose="020B0503020204020204" charset="-122"/>
              </a:rPr>
              <a:t>新伙</a:t>
            </a:r>
            <a:r>
              <a:rPr sz="1400" b="1" spc="-10" dirty="0">
                <a:latin typeface="微软雅黑" panose="020B0503020204020204" charset="-122"/>
                <a:ea typeface="微软雅黑" panose="020B0503020204020204" charset="-122"/>
                <a:cs typeface="微软雅黑" panose="020B0503020204020204" charset="-122"/>
              </a:rPr>
              <a:t>伴</a:t>
            </a:r>
            <a:r>
              <a:rPr sz="1400" b="1" dirty="0">
                <a:latin typeface="微软雅黑" panose="020B0503020204020204" charset="-122"/>
                <a:ea typeface="微软雅黑" panose="020B0503020204020204" charset="-122"/>
                <a:cs typeface="微软雅黑" panose="020B0503020204020204" charset="-122"/>
              </a:rPr>
              <a:t>”</a:t>
            </a:r>
            <a:endParaRPr sz="1400">
              <a:latin typeface="微软雅黑" panose="020B0503020204020204" charset="-122"/>
              <a:ea typeface="微软雅黑" panose="020B0503020204020204" charset="-122"/>
              <a:cs typeface="微软雅黑" panose="020B0503020204020204" charset="-122"/>
            </a:endParaRPr>
          </a:p>
          <a:p>
            <a:pPr marL="205740" marR="5080" indent="-192405" algn="just">
              <a:lnSpc>
                <a:spcPct val="100000"/>
              </a:lnSpc>
              <a:buClr>
                <a:srgbClr val="00295F"/>
              </a:buClr>
              <a:buSzPct val="125000"/>
              <a:buFont typeface="Arial" panose="020B0604020202020204"/>
              <a:buChar char="▪"/>
              <a:tabLst>
                <a:tab pos="206375" algn="l"/>
              </a:tabLst>
            </a:pPr>
            <a:r>
              <a:rPr sz="1400" dirty="0">
                <a:latin typeface="微软雅黑" panose="020B0503020204020204" charset="-122"/>
                <a:ea typeface="微软雅黑" panose="020B0503020204020204" charset="-122"/>
                <a:cs typeface="微软雅黑" panose="020B0503020204020204" charset="-122"/>
              </a:rPr>
              <a:t>通过推出针对特定客户</a:t>
            </a:r>
            <a:r>
              <a:rPr sz="1400" spc="-15" dirty="0">
                <a:latin typeface="微软雅黑" panose="020B0503020204020204" charset="-122"/>
                <a:ea typeface="微软雅黑" panose="020B0503020204020204" charset="-122"/>
                <a:cs typeface="微软雅黑" panose="020B0503020204020204" charset="-122"/>
              </a:rPr>
              <a:t>、</a:t>
            </a:r>
            <a:r>
              <a:rPr sz="1400" dirty="0">
                <a:latin typeface="微软雅黑" panose="020B0503020204020204" charset="-122"/>
                <a:ea typeface="微软雅黑" panose="020B0503020204020204" charset="-122"/>
                <a:cs typeface="微软雅黑" panose="020B0503020204020204" charset="-122"/>
              </a:rPr>
              <a:t>客 户特定需求的创新产品</a:t>
            </a:r>
            <a:r>
              <a:rPr sz="1400" spc="-15" dirty="0">
                <a:latin typeface="微软雅黑" panose="020B0503020204020204" charset="-122"/>
                <a:ea typeface="微软雅黑" panose="020B0503020204020204" charset="-122"/>
                <a:cs typeface="微软雅黑" panose="020B0503020204020204" charset="-122"/>
              </a:rPr>
              <a:t>和</a:t>
            </a:r>
            <a:r>
              <a:rPr sz="1400" dirty="0">
                <a:latin typeface="微软雅黑" panose="020B0503020204020204" charset="-122"/>
                <a:ea typeface="微软雅黑" panose="020B0503020204020204" charset="-122"/>
                <a:cs typeface="微软雅黑" panose="020B0503020204020204" charset="-122"/>
              </a:rPr>
              <a:t>服 务，促成高盈利销售</a:t>
            </a:r>
            <a:endParaRPr sz="1400">
              <a:latin typeface="微软雅黑" panose="020B0503020204020204" charset="-122"/>
              <a:ea typeface="微软雅黑" panose="020B0503020204020204" charset="-122"/>
              <a:cs typeface="微软雅黑" panose="020B0503020204020204" charset="-122"/>
            </a:endParaRPr>
          </a:p>
        </p:txBody>
      </p:sp>
      <p:sp>
        <p:nvSpPr>
          <p:cNvPr id="24" name="object 24"/>
          <p:cNvSpPr/>
          <p:nvPr/>
        </p:nvSpPr>
        <p:spPr>
          <a:xfrm>
            <a:off x="4171914" y="2793323"/>
            <a:ext cx="1467715" cy="925174"/>
          </a:xfrm>
          <a:custGeom>
            <a:avLst/>
            <a:gdLst/>
            <a:ahLst/>
            <a:cxnLst/>
            <a:rect l="l" t="t" r="r" b="b"/>
            <a:pathLst>
              <a:path w="1468754" h="925829">
                <a:moveTo>
                  <a:pt x="1383664" y="0"/>
                </a:moveTo>
                <a:lnTo>
                  <a:pt x="671956" y="267208"/>
                </a:lnTo>
                <a:lnTo>
                  <a:pt x="918209" y="286766"/>
                </a:lnTo>
                <a:lnTo>
                  <a:pt x="884321" y="317773"/>
                </a:lnTo>
                <a:lnTo>
                  <a:pt x="848206" y="348323"/>
                </a:lnTo>
                <a:lnTo>
                  <a:pt x="809988" y="378340"/>
                </a:lnTo>
                <a:lnTo>
                  <a:pt x="769789" y="407749"/>
                </a:lnTo>
                <a:lnTo>
                  <a:pt x="727733" y="436474"/>
                </a:lnTo>
                <a:lnTo>
                  <a:pt x="683942" y="464438"/>
                </a:lnTo>
                <a:lnTo>
                  <a:pt x="638540" y="491567"/>
                </a:lnTo>
                <a:lnTo>
                  <a:pt x="591650" y="517783"/>
                </a:lnTo>
                <a:lnTo>
                  <a:pt x="543395" y="543012"/>
                </a:lnTo>
                <a:lnTo>
                  <a:pt x="493897" y="567177"/>
                </a:lnTo>
                <a:lnTo>
                  <a:pt x="443280" y="590202"/>
                </a:lnTo>
                <a:lnTo>
                  <a:pt x="391667" y="612013"/>
                </a:lnTo>
                <a:lnTo>
                  <a:pt x="346359" y="629797"/>
                </a:lnTo>
                <a:lnTo>
                  <a:pt x="300844" y="646445"/>
                </a:lnTo>
                <a:lnTo>
                  <a:pt x="255211" y="661921"/>
                </a:lnTo>
                <a:lnTo>
                  <a:pt x="209549" y="676194"/>
                </a:lnTo>
                <a:lnTo>
                  <a:pt x="163947" y="689229"/>
                </a:lnTo>
                <a:lnTo>
                  <a:pt x="118494" y="700993"/>
                </a:lnTo>
                <a:lnTo>
                  <a:pt x="73278" y="711454"/>
                </a:lnTo>
                <a:lnTo>
                  <a:pt x="0" y="925449"/>
                </a:lnTo>
                <a:lnTo>
                  <a:pt x="45689" y="915004"/>
                </a:lnTo>
                <a:lnTo>
                  <a:pt x="91588" y="903643"/>
                </a:lnTo>
                <a:lnTo>
                  <a:pt x="137649" y="891380"/>
                </a:lnTo>
                <a:lnTo>
                  <a:pt x="183822" y="878229"/>
                </a:lnTo>
                <a:lnTo>
                  <a:pt x="230060" y="864203"/>
                </a:lnTo>
                <a:lnTo>
                  <a:pt x="276313" y="849316"/>
                </a:lnTo>
                <a:lnTo>
                  <a:pt x="322532" y="833581"/>
                </a:lnTo>
                <a:lnTo>
                  <a:pt x="368669" y="817013"/>
                </a:lnTo>
                <a:lnTo>
                  <a:pt x="414675" y="799625"/>
                </a:lnTo>
                <a:lnTo>
                  <a:pt x="460501" y="781431"/>
                </a:lnTo>
                <a:lnTo>
                  <a:pt x="510459" y="760595"/>
                </a:lnTo>
                <a:lnTo>
                  <a:pt x="559798" y="738962"/>
                </a:lnTo>
                <a:lnTo>
                  <a:pt x="608465" y="716563"/>
                </a:lnTo>
                <a:lnTo>
                  <a:pt x="656408" y="693431"/>
                </a:lnTo>
                <a:lnTo>
                  <a:pt x="703576" y="669599"/>
                </a:lnTo>
                <a:lnTo>
                  <a:pt x="749916" y="645098"/>
                </a:lnTo>
                <a:lnTo>
                  <a:pt x="795375" y="619962"/>
                </a:lnTo>
                <a:lnTo>
                  <a:pt x="839902" y="594222"/>
                </a:lnTo>
                <a:lnTo>
                  <a:pt x="883443" y="567912"/>
                </a:lnTo>
                <a:lnTo>
                  <a:pt x="925948" y="541063"/>
                </a:lnTo>
                <a:lnTo>
                  <a:pt x="967363" y="513707"/>
                </a:lnTo>
                <a:lnTo>
                  <a:pt x="1007636" y="485878"/>
                </a:lnTo>
                <a:lnTo>
                  <a:pt x="1046716" y="457607"/>
                </a:lnTo>
                <a:lnTo>
                  <a:pt x="1084549" y="428928"/>
                </a:lnTo>
                <a:lnTo>
                  <a:pt x="1121084" y="399872"/>
                </a:lnTo>
                <a:lnTo>
                  <a:pt x="1156268" y="370472"/>
                </a:lnTo>
                <a:lnTo>
                  <a:pt x="1190049" y="340760"/>
                </a:lnTo>
                <a:lnTo>
                  <a:pt x="1222375" y="310769"/>
                </a:lnTo>
                <a:lnTo>
                  <a:pt x="1463597" y="310769"/>
                </a:lnTo>
                <a:lnTo>
                  <a:pt x="1383664" y="0"/>
                </a:lnTo>
                <a:close/>
              </a:path>
              <a:path w="1468754" h="925829">
                <a:moveTo>
                  <a:pt x="1463597" y="310769"/>
                </a:moveTo>
                <a:lnTo>
                  <a:pt x="1222375" y="310769"/>
                </a:lnTo>
                <a:lnTo>
                  <a:pt x="1468627" y="330327"/>
                </a:lnTo>
                <a:lnTo>
                  <a:pt x="1463597" y="310769"/>
                </a:lnTo>
                <a:close/>
              </a:path>
            </a:pathLst>
          </a:custGeom>
          <a:solidFill>
            <a:srgbClr val="00295F">
              <a:alpha val="50195"/>
            </a:srgbClr>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5" name="object 25"/>
          <p:cNvSpPr txBox="1"/>
          <p:nvPr/>
        </p:nvSpPr>
        <p:spPr>
          <a:xfrm>
            <a:off x="4764711" y="3276342"/>
            <a:ext cx="2356085" cy="874395"/>
          </a:xfrm>
          <a:prstGeom prst="rect">
            <a:avLst/>
          </a:prstGeom>
        </p:spPr>
        <p:txBody>
          <a:bodyPr vert="horz" wrap="square" lIns="0" tIns="13325" rIns="0" bIns="0" rtlCol="0">
            <a:spAutoFit/>
          </a:bodyPr>
          <a:lstStyle/>
          <a:p>
            <a:pPr marL="12700">
              <a:lnSpc>
                <a:spcPct val="100000"/>
              </a:lnSpc>
              <a:spcBef>
                <a:spcPts val="105"/>
              </a:spcBef>
            </a:pPr>
            <a:r>
              <a:rPr sz="1400" b="1" spc="10" dirty="0">
                <a:latin typeface="微软雅黑" panose="020B0503020204020204" charset="-122"/>
                <a:ea typeface="微软雅黑" panose="020B0503020204020204" charset="-122"/>
                <a:cs typeface="微软雅黑" panose="020B0503020204020204" charset="-122"/>
              </a:rPr>
              <a:t>“提</a:t>
            </a:r>
            <a:r>
              <a:rPr sz="1400" b="1" dirty="0">
                <a:latin typeface="微软雅黑" panose="020B0503020204020204" charset="-122"/>
                <a:ea typeface="微软雅黑" panose="020B0503020204020204" charset="-122"/>
                <a:cs typeface="微软雅黑" panose="020B0503020204020204" charset="-122"/>
              </a:rPr>
              <a:t>高生</a:t>
            </a:r>
            <a:r>
              <a:rPr sz="1400" b="1" spc="-15" dirty="0">
                <a:latin typeface="微软雅黑" panose="020B0503020204020204" charset="-122"/>
                <a:ea typeface="微软雅黑" panose="020B0503020204020204" charset="-122"/>
                <a:cs typeface="微软雅黑" panose="020B0503020204020204" charset="-122"/>
              </a:rPr>
              <a:t>产</a:t>
            </a:r>
            <a:r>
              <a:rPr sz="1400" b="1" dirty="0">
                <a:latin typeface="微软雅黑" panose="020B0503020204020204" charset="-122"/>
                <a:ea typeface="微软雅黑" panose="020B0503020204020204" charset="-122"/>
                <a:cs typeface="微软雅黑" panose="020B0503020204020204" charset="-122"/>
              </a:rPr>
              <a:t>率的</a:t>
            </a:r>
            <a:r>
              <a:rPr sz="1400" b="1" spc="-15" dirty="0">
                <a:latin typeface="微软雅黑" panose="020B0503020204020204" charset="-122"/>
                <a:ea typeface="微软雅黑" panose="020B0503020204020204" charset="-122"/>
                <a:cs typeface="微软雅黑" panose="020B0503020204020204" charset="-122"/>
              </a:rPr>
              <a:t>伙</a:t>
            </a:r>
            <a:r>
              <a:rPr sz="1400" b="1" dirty="0">
                <a:latin typeface="微软雅黑" panose="020B0503020204020204" charset="-122"/>
                <a:ea typeface="微软雅黑" panose="020B0503020204020204" charset="-122"/>
                <a:cs typeface="微软雅黑" panose="020B0503020204020204" charset="-122"/>
              </a:rPr>
              <a:t>伴”</a:t>
            </a:r>
            <a:endParaRPr sz="1400">
              <a:latin typeface="微软雅黑" panose="020B0503020204020204" charset="-122"/>
              <a:ea typeface="微软雅黑" panose="020B0503020204020204" charset="-122"/>
              <a:cs typeface="微软雅黑" panose="020B0503020204020204" charset="-122"/>
            </a:endParaRPr>
          </a:p>
          <a:p>
            <a:pPr marL="205740" marR="5080" indent="-192405" algn="just">
              <a:lnSpc>
                <a:spcPct val="100000"/>
              </a:lnSpc>
              <a:buClr>
                <a:srgbClr val="00295F"/>
              </a:buClr>
              <a:buSzPct val="125000"/>
              <a:buFont typeface="Arial" panose="020B0604020202020204"/>
              <a:buChar char="▪"/>
              <a:tabLst>
                <a:tab pos="206375" algn="l"/>
              </a:tabLst>
            </a:pPr>
            <a:r>
              <a:rPr sz="1400" dirty="0">
                <a:latin typeface="微软雅黑" panose="020B0503020204020204" charset="-122"/>
                <a:ea typeface="微软雅黑" panose="020B0503020204020204" charset="-122"/>
                <a:cs typeface="微软雅黑" panose="020B0503020204020204" charset="-122"/>
              </a:rPr>
              <a:t>系统减少整个价值链上</a:t>
            </a:r>
            <a:r>
              <a:rPr sz="1400" spc="-15" dirty="0">
                <a:latin typeface="微软雅黑" panose="020B0503020204020204" charset="-122"/>
                <a:ea typeface="微软雅黑" panose="020B0503020204020204" charset="-122"/>
                <a:cs typeface="微软雅黑" panose="020B0503020204020204" charset="-122"/>
              </a:rPr>
              <a:t>的</a:t>
            </a:r>
            <a:r>
              <a:rPr sz="1400" dirty="0">
                <a:latin typeface="微软雅黑" panose="020B0503020204020204" charset="-122"/>
                <a:ea typeface="微软雅黑" panose="020B0503020204020204" charset="-122"/>
                <a:cs typeface="微软雅黑" panose="020B0503020204020204" charset="-122"/>
              </a:rPr>
              <a:t>成 本，如帮助客户削减总</a:t>
            </a:r>
            <a:r>
              <a:rPr sz="1400" spc="-15" dirty="0">
                <a:latin typeface="微软雅黑" panose="020B0503020204020204" charset="-122"/>
                <a:ea typeface="微软雅黑" panose="020B0503020204020204" charset="-122"/>
                <a:cs typeface="微软雅黑" panose="020B0503020204020204" charset="-122"/>
              </a:rPr>
              <a:t>持</a:t>
            </a:r>
            <a:r>
              <a:rPr sz="1400" dirty="0">
                <a:latin typeface="微软雅黑" panose="020B0503020204020204" charset="-122"/>
                <a:ea typeface="微软雅黑" panose="020B0503020204020204" charset="-122"/>
                <a:cs typeface="微软雅黑" panose="020B0503020204020204" charset="-122"/>
              </a:rPr>
              <a:t>有 成本</a:t>
            </a:r>
            <a:endParaRPr sz="1400">
              <a:latin typeface="微软雅黑" panose="020B0503020204020204" charset="-122"/>
              <a:ea typeface="微软雅黑" panose="020B0503020204020204" charset="-122"/>
              <a:cs typeface="微软雅黑" panose="020B0503020204020204" charset="-122"/>
            </a:endParaRPr>
          </a:p>
        </p:txBody>
      </p:sp>
      <p:sp>
        <p:nvSpPr>
          <p:cNvPr id="26" name="object 26"/>
          <p:cNvSpPr/>
          <p:nvPr/>
        </p:nvSpPr>
        <p:spPr>
          <a:xfrm>
            <a:off x="5031730" y="4589353"/>
            <a:ext cx="670085" cy="726433"/>
          </a:xfrm>
          <a:prstGeom prst="rect">
            <a:avLst/>
          </a:prstGeom>
          <a:blipFill>
            <a:blip r:embed="rId2"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27" name="object 27"/>
          <p:cNvSpPr/>
          <p:nvPr/>
        </p:nvSpPr>
        <p:spPr>
          <a:xfrm>
            <a:off x="5989646" y="4647225"/>
            <a:ext cx="758414" cy="550027"/>
          </a:xfrm>
          <a:prstGeom prst="rect">
            <a:avLst/>
          </a:prstGeom>
          <a:blipFill>
            <a:blip r:embed="rId3"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p:nvPr/>
        </p:nvSpPr>
        <p:spPr>
          <a:xfrm>
            <a:off x="5355249" y="2496387"/>
            <a:ext cx="204959" cy="258262"/>
          </a:xfrm>
          <a:custGeom>
            <a:avLst/>
            <a:gdLst/>
            <a:ahLst/>
            <a:cxnLst/>
            <a:rect l="l" t="t" r="r" b="b"/>
            <a:pathLst>
              <a:path w="205104" h="258444">
                <a:moveTo>
                  <a:pt x="16084" y="211796"/>
                </a:moveTo>
                <a:lnTo>
                  <a:pt x="8391" y="211796"/>
                </a:lnTo>
                <a:lnTo>
                  <a:pt x="4194" y="215706"/>
                </a:lnTo>
                <a:lnTo>
                  <a:pt x="2797" y="221572"/>
                </a:lnTo>
                <a:lnTo>
                  <a:pt x="0" y="235908"/>
                </a:lnTo>
                <a:lnTo>
                  <a:pt x="0" y="243729"/>
                </a:lnTo>
                <a:lnTo>
                  <a:pt x="3495" y="247637"/>
                </a:lnTo>
                <a:lnTo>
                  <a:pt x="9791" y="248941"/>
                </a:lnTo>
                <a:lnTo>
                  <a:pt x="23582" y="252566"/>
                </a:lnTo>
                <a:lnTo>
                  <a:pt x="38816" y="255458"/>
                </a:lnTo>
                <a:lnTo>
                  <a:pt x="54050" y="257372"/>
                </a:lnTo>
                <a:lnTo>
                  <a:pt x="67841" y="258064"/>
                </a:lnTo>
                <a:lnTo>
                  <a:pt x="79731" y="258064"/>
                </a:lnTo>
                <a:lnTo>
                  <a:pt x="123784" y="252698"/>
                </a:lnTo>
                <a:lnTo>
                  <a:pt x="157278" y="237130"/>
                </a:lnTo>
                <a:lnTo>
                  <a:pt x="169434" y="222874"/>
                </a:lnTo>
                <a:lnTo>
                  <a:pt x="74835" y="222874"/>
                </a:lnTo>
                <a:lnTo>
                  <a:pt x="60760" y="222070"/>
                </a:lnTo>
                <a:lnTo>
                  <a:pt x="45636" y="219860"/>
                </a:lnTo>
                <a:lnTo>
                  <a:pt x="30773" y="216551"/>
                </a:lnTo>
                <a:lnTo>
                  <a:pt x="17484" y="212447"/>
                </a:lnTo>
                <a:lnTo>
                  <a:pt x="16084" y="211796"/>
                </a:lnTo>
                <a:close/>
              </a:path>
              <a:path w="205104" h="258444">
                <a:moveTo>
                  <a:pt x="141981" y="0"/>
                </a:moveTo>
                <a:lnTo>
                  <a:pt x="91786" y="4746"/>
                </a:lnTo>
                <a:lnTo>
                  <a:pt x="34937" y="42347"/>
                </a:lnTo>
                <a:lnTo>
                  <a:pt x="26577" y="74955"/>
                </a:lnTo>
                <a:lnTo>
                  <a:pt x="30937" y="97159"/>
                </a:lnTo>
                <a:lnTo>
                  <a:pt x="42051" y="114291"/>
                </a:lnTo>
                <a:lnTo>
                  <a:pt x="56968" y="126903"/>
                </a:lnTo>
                <a:lnTo>
                  <a:pt x="72737" y="135548"/>
                </a:lnTo>
                <a:lnTo>
                  <a:pt x="104212" y="148590"/>
                </a:lnTo>
                <a:lnTo>
                  <a:pt x="117315" y="154251"/>
                </a:lnTo>
                <a:lnTo>
                  <a:pt x="127730" y="161131"/>
                </a:lnTo>
                <a:lnTo>
                  <a:pt x="134604" y="170211"/>
                </a:lnTo>
                <a:lnTo>
                  <a:pt x="137085" y="182472"/>
                </a:lnTo>
                <a:lnTo>
                  <a:pt x="133009" y="200056"/>
                </a:lnTo>
                <a:lnTo>
                  <a:pt x="121785" y="212692"/>
                </a:lnTo>
                <a:lnTo>
                  <a:pt x="104922" y="220319"/>
                </a:lnTo>
                <a:lnTo>
                  <a:pt x="83928" y="222874"/>
                </a:lnTo>
                <a:lnTo>
                  <a:pt x="169434" y="222874"/>
                </a:lnTo>
                <a:lnTo>
                  <a:pt x="178577" y="212153"/>
                </a:lnTo>
                <a:lnTo>
                  <a:pt x="186040" y="178561"/>
                </a:lnTo>
                <a:lnTo>
                  <a:pt x="181900" y="155020"/>
                </a:lnTo>
                <a:lnTo>
                  <a:pt x="170745" y="137345"/>
                </a:lnTo>
                <a:lnTo>
                  <a:pt x="154474" y="124312"/>
                </a:lnTo>
                <a:lnTo>
                  <a:pt x="134987" y="114697"/>
                </a:lnTo>
                <a:lnTo>
                  <a:pt x="101415" y="101017"/>
                </a:lnTo>
                <a:lnTo>
                  <a:pt x="91361" y="96247"/>
                </a:lnTo>
                <a:lnTo>
                  <a:pt x="82880" y="90257"/>
                </a:lnTo>
                <a:lnTo>
                  <a:pt x="77021" y="82312"/>
                </a:lnTo>
                <a:lnTo>
                  <a:pt x="74835" y="71677"/>
                </a:lnTo>
                <a:lnTo>
                  <a:pt x="79021" y="55538"/>
                </a:lnTo>
                <a:lnTo>
                  <a:pt x="90485" y="44155"/>
                </a:lnTo>
                <a:lnTo>
                  <a:pt x="107588" y="37411"/>
                </a:lnTo>
                <a:lnTo>
                  <a:pt x="128691" y="35190"/>
                </a:lnTo>
                <a:lnTo>
                  <a:pt x="201985" y="35190"/>
                </a:lnTo>
                <a:lnTo>
                  <a:pt x="202139" y="34552"/>
                </a:lnTo>
                <a:lnTo>
                  <a:pt x="204924" y="21510"/>
                </a:lnTo>
                <a:lnTo>
                  <a:pt x="204924" y="13680"/>
                </a:lnTo>
                <a:lnTo>
                  <a:pt x="201431" y="10425"/>
                </a:lnTo>
                <a:lnTo>
                  <a:pt x="181232" y="4676"/>
                </a:lnTo>
                <a:lnTo>
                  <a:pt x="167429" y="2039"/>
                </a:lnTo>
                <a:lnTo>
                  <a:pt x="154017" y="500"/>
                </a:lnTo>
                <a:lnTo>
                  <a:pt x="141981" y="0"/>
                </a:lnTo>
                <a:close/>
              </a:path>
              <a:path w="205104" h="258444">
                <a:moveTo>
                  <a:pt x="201985" y="35190"/>
                </a:moveTo>
                <a:lnTo>
                  <a:pt x="139184" y="35190"/>
                </a:lnTo>
                <a:lnTo>
                  <a:pt x="150254" y="35780"/>
                </a:lnTo>
                <a:lnTo>
                  <a:pt x="162700" y="37469"/>
                </a:lnTo>
                <a:lnTo>
                  <a:pt x="175280" y="40135"/>
                </a:lnTo>
                <a:lnTo>
                  <a:pt x="188849" y="44317"/>
                </a:lnTo>
                <a:lnTo>
                  <a:pt x="196545" y="44317"/>
                </a:lnTo>
                <a:lnTo>
                  <a:pt x="200723" y="40402"/>
                </a:lnTo>
                <a:lnTo>
                  <a:pt x="201985" y="35190"/>
                </a:lnTo>
                <a:close/>
              </a:path>
            </a:pathLst>
          </a:custGeom>
          <a:solidFill>
            <a:srgbClr val="002563"/>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9" name="object 29"/>
          <p:cNvSpPr/>
          <p:nvPr/>
        </p:nvSpPr>
        <p:spPr>
          <a:xfrm>
            <a:off x="5543257" y="2496387"/>
            <a:ext cx="205594" cy="258262"/>
          </a:xfrm>
          <a:custGeom>
            <a:avLst/>
            <a:gdLst/>
            <a:ahLst/>
            <a:cxnLst/>
            <a:rect l="l" t="t" r="r" b="b"/>
            <a:pathLst>
              <a:path w="205739" h="258444">
                <a:moveTo>
                  <a:pt x="16783" y="211796"/>
                </a:moveTo>
                <a:lnTo>
                  <a:pt x="8403" y="211796"/>
                </a:lnTo>
                <a:lnTo>
                  <a:pt x="4886" y="215706"/>
                </a:lnTo>
                <a:lnTo>
                  <a:pt x="3372" y="222070"/>
                </a:lnTo>
                <a:lnTo>
                  <a:pt x="0" y="235908"/>
                </a:lnTo>
                <a:lnTo>
                  <a:pt x="0" y="243729"/>
                </a:lnTo>
                <a:lnTo>
                  <a:pt x="3493" y="247637"/>
                </a:lnTo>
                <a:lnTo>
                  <a:pt x="10480" y="248941"/>
                </a:lnTo>
                <a:lnTo>
                  <a:pt x="24184" y="252566"/>
                </a:lnTo>
                <a:lnTo>
                  <a:pt x="39258" y="255458"/>
                </a:lnTo>
                <a:lnTo>
                  <a:pt x="54460" y="257372"/>
                </a:lnTo>
                <a:lnTo>
                  <a:pt x="68549" y="258064"/>
                </a:lnTo>
                <a:lnTo>
                  <a:pt x="80423" y="258064"/>
                </a:lnTo>
                <a:lnTo>
                  <a:pt x="124374" y="252698"/>
                </a:lnTo>
                <a:lnTo>
                  <a:pt x="157636" y="237130"/>
                </a:lnTo>
                <a:lnTo>
                  <a:pt x="169658" y="222874"/>
                </a:lnTo>
                <a:lnTo>
                  <a:pt x="74828" y="222874"/>
                </a:lnTo>
                <a:lnTo>
                  <a:pt x="61160" y="222070"/>
                </a:lnTo>
                <a:lnTo>
                  <a:pt x="46245" y="219860"/>
                </a:lnTo>
                <a:lnTo>
                  <a:pt x="31459" y="216551"/>
                </a:lnTo>
                <a:lnTo>
                  <a:pt x="18176" y="212447"/>
                </a:lnTo>
                <a:lnTo>
                  <a:pt x="16783" y="211796"/>
                </a:lnTo>
                <a:close/>
              </a:path>
              <a:path w="205739" h="258444">
                <a:moveTo>
                  <a:pt x="142670" y="0"/>
                </a:moveTo>
                <a:lnTo>
                  <a:pt x="92197" y="4746"/>
                </a:lnTo>
                <a:lnTo>
                  <a:pt x="35548" y="42347"/>
                </a:lnTo>
                <a:lnTo>
                  <a:pt x="27287" y="74955"/>
                </a:lnTo>
                <a:lnTo>
                  <a:pt x="31547" y="97159"/>
                </a:lnTo>
                <a:lnTo>
                  <a:pt x="42492" y="114291"/>
                </a:lnTo>
                <a:lnTo>
                  <a:pt x="57372" y="126903"/>
                </a:lnTo>
                <a:lnTo>
                  <a:pt x="73436" y="135548"/>
                </a:lnTo>
                <a:lnTo>
                  <a:pt x="104902" y="148590"/>
                </a:lnTo>
                <a:lnTo>
                  <a:pt x="117717" y="154251"/>
                </a:lnTo>
                <a:lnTo>
                  <a:pt x="128168" y="161131"/>
                </a:lnTo>
                <a:lnTo>
                  <a:pt x="135205" y="170211"/>
                </a:lnTo>
                <a:lnTo>
                  <a:pt x="137784" y="182472"/>
                </a:lnTo>
                <a:lnTo>
                  <a:pt x="133707" y="200056"/>
                </a:lnTo>
                <a:lnTo>
                  <a:pt x="122482" y="212692"/>
                </a:lnTo>
                <a:lnTo>
                  <a:pt x="105618" y="220319"/>
                </a:lnTo>
                <a:lnTo>
                  <a:pt x="84625" y="222874"/>
                </a:lnTo>
                <a:lnTo>
                  <a:pt x="169658" y="222874"/>
                </a:lnTo>
                <a:lnTo>
                  <a:pt x="178700" y="212153"/>
                </a:lnTo>
                <a:lnTo>
                  <a:pt x="186057" y="178561"/>
                </a:lnTo>
                <a:lnTo>
                  <a:pt x="182012" y="155020"/>
                </a:lnTo>
                <a:lnTo>
                  <a:pt x="171017" y="137345"/>
                </a:lnTo>
                <a:lnTo>
                  <a:pt x="154777" y="124312"/>
                </a:lnTo>
                <a:lnTo>
                  <a:pt x="134998" y="114697"/>
                </a:lnTo>
                <a:lnTo>
                  <a:pt x="102116" y="101017"/>
                </a:lnTo>
                <a:lnTo>
                  <a:pt x="91947" y="96247"/>
                </a:lnTo>
                <a:lnTo>
                  <a:pt x="83223" y="90257"/>
                </a:lnTo>
                <a:lnTo>
                  <a:pt x="77124" y="82312"/>
                </a:lnTo>
                <a:lnTo>
                  <a:pt x="74828" y="71677"/>
                </a:lnTo>
                <a:lnTo>
                  <a:pt x="79027" y="55538"/>
                </a:lnTo>
                <a:lnTo>
                  <a:pt x="90573" y="44155"/>
                </a:lnTo>
                <a:lnTo>
                  <a:pt x="107891" y="37411"/>
                </a:lnTo>
                <a:lnTo>
                  <a:pt x="129404" y="35190"/>
                </a:lnTo>
                <a:lnTo>
                  <a:pt x="202686" y="35190"/>
                </a:lnTo>
                <a:lnTo>
                  <a:pt x="202840" y="34552"/>
                </a:lnTo>
                <a:lnTo>
                  <a:pt x="205625" y="21510"/>
                </a:lnTo>
                <a:lnTo>
                  <a:pt x="205625" y="13680"/>
                </a:lnTo>
                <a:lnTo>
                  <a:pt x="202132" y="10425"/>
                </a:lnTo>
                <a:lnTo>
                  <a:pt x="181933" y="4676"/>
                </a:lnTo>
                <a:lnTo>
                  <a:pt x="168128" y="2039"/>
                </a:lnTo>
                <a:lnTo>
                  <a:pt x="154713" y="500"/>
                </a:lnTo>
                <a:lnTo>
                  <a:pt x="142670" y="0"/>
                </a:lnTo>
                <a:close/>
              </a:path>
              <a:path w="205739" h="258444">
                <a:moveTo>
                  <a:pt x="202686" y="35190"/>
                </a:moveTo>
                <a:lnTo>
                  <a:pt x="139176" y="35190"/>
                </a:lnTo>
                <a:lnTo>
                  <a:pt x="150261" y="35780"/>
                </a:lnTo>
                <a:lnTo>
                  <a:pt x="162791" y="37469"/>
                </a:lnTo>
                <a:lnTo>
                  <a:pt x="175581" y="40135"/>
                </a:lnTo>
                <a:lnTo>
                  <a:pt x="187449" y="43657"/>
                </a:lnTo>
                <a:lnTo>
                  <a:pt x="188842" y="44317"/>
                </a:lnTo>
                <a:lnTo>
                  <a:pt x="197246" y="44317"/>
                </a:lnTo>
                <a:lnTo>
                  <a:pt x="201424" y="40402"/>
                </a:lnTo>
                <a:lnTo>
                  <a:pt x="202686" y="35190"/>
                </a:lnTo>
                <a:close/>
              </a:path>
            </a:pathLst>
          </a:custGeom>
          <a:solidFill>
            <a:srgbClr val="002563"/>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0" name="object 30"/>
          <p:cNvSpPr/>
          <p:nvPr/>
        </p:nvSpPr>
        <p:spPr>
          <a:xfrm>
            <a:off x="5987078" y="2499003"/>
            <a:ext cx="223644" cy="252662"/>
          </a:xfrm>
          <a:prstGeom prst="rect">
            <a:avLst/>
          </a:prstGeom>
          <a:blipFill>
            <a:blip r:embed="rId4"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1" name="object 31"/>
          <p:cNvSpPr/>
          <p:nvPr/>
        </p:nvSpPr>
        <p:spPr>
          <a:xfrm>
            <a:off x="5730575" y="2499003"/>
            <a:ext cx="233433" cy="252662"/>
          </a:xfrm>
          <a:prstGeom prst="rect">
            <a:avLst/>
          </a:prstGeom>
          <a:blipFill>
            <a:blip r:embed="rId5"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2" name="object 32"/>
          <p:cNvSpPr txBox="1"/>
          <p:nvPr/>
        </p:nvSpPr>
        <p:spPr>
          <a:xfrm>
            <a:off x="107924" y="6420005"/>
            <a:ext cx="1984239" cy="165100"/>
          </a:xfrm>
          <a:prstGeom prst="rect">
            <a:avLst/>
          </a:prstGeom>
        </p:spPr>
        <p:txBody>
          <a:bodyPr vert="horz" wrap="square" lIns="0" tIns="12056" rIns="0" bIns="0" rtlCol="0">
            <a:spAutoFit/>
          </a:bodyPr>
          <a:lstStyle/>
          <a:p>
            <a:pPr marL="12700">
              <a:lnSpc>
                <a:spcPct val="100000"/>
              </a:lnSpc>
              <a:spcBef>
                <a:spcPts val="95"/>
              </a:spcBef>
            </a:pPr>
            <a:r>
              <a:rPr sz="1000" spc="-5" dirty="0">
                <a:latin typeface="微软雅黑" panose="020B0503020204020204" charset="-122"/>
                <a:ea typeface="微软雅黑" panose="020B0503020204020204" charset="-122"/>
                <a:cs typeface="微软雅黑" panose="020B0503020204020204" charset="-122"/>
              </a:rPr>
              <a:t>资料来源:</a:t>
            </a:r>
            <a:r>
              <a:rPr sz="1000" spc="-40"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年报；文献检索；****</a:t>
            </a:r>
            <a:endParaRPr sz="1000">
              <a:latin typeface="微软雅黑" panose="020B0503020204020204" charset="-122"/>
              <a:ea typeface="微软雅黑" panose="020B0503020204020204" charset="-122"/>
              <a:cs typeface="微软雅黑" panose="020B0503020204020204" charset="-122"/>
            </a:endParaRPr>
          </a:p>
        </p:txBody>
      </p:sp>
      <p:sp>
        <p:nvSpPr>
          <p:cNvPr id="33" name="object 33"/>
          <p:cNvSpPr/>
          <p:nvPr/>
        </p:nvSpPr>
        <p:spPr>
          <a:xfrm>
            <a:off x="2270674" y="2553209"/>
            <a:ext cx="2297072" cy="2842151"/>
          </a:xfrm>
          <a:custGeom>
            <a:avLst/>
            <a:gdLst/>
            <a:ahLst/>
            <a:cxnLst/>
            <a:rect l="l" t="t" r="r" b="b"/>
            <a:pathLst>
              <a:path w="2298700" h="2844165">
                <a:moveTo>
                  <a:pt x="1149095" y="0"/>
                </a:moveTo>
                <a:lnTo>
                  <a:pt x="1106017" y="980"/>
                </a:lnTo>
                <a:lnTo>
                  <a:pt x="1063338" y="3900"/>
                </a:lnTo>
                <a:lnTo>
                  <a:pt x="1021088" y="8724"/>
                </a:lnTo>
                <a:lnTo>
                  <a:pt x="979293" y="15418"/>
                </a:lnTo>
                <a:lnTo>
                  <a:pt x="937981" y="23947"/>
                </a:lnTo>
                <a:lnTo>
                  <a:pt x="897181" y="34278"/>
                </a:lnTo>
                <a:lnTo>
                  <a:pt x="856919" y="46375"/>
                </a:lnTo>
                <a:lnTo>
                  <a:pt x="817225" y="60205"/>
                </a:lnTo>
                <a:lnTo>
                  <a:pt x="778125" y="75733"/>
                </a:lnTo>
                <a:lnTo>
                  <a:pt x="739647" y="92925"/>
                </a:lnTo>
                <a:lnTo>
                  <a:pt x="701819" y="111746"/>
                </a:lnTo>
                <a:lnTo>
                  <a:pt x="664670" y="132162"/>
                </a:lnTo>
                <a:lnTo>
                  <a:pt x="628225" y="154138"/>
                </a:lnTo>
                <a:lnTo>
                  <a:pt x="592515" y="177641"/>
                </a:lnTo>
                <a:lnTo>
                  <a:pt x="557565" y="202635"/>
                </a:lnTo>
                <a:lnTo>
                  <a:pt x="523405" y="229087"/>
                </a:lnTo>
                <a:lnTo>
                  <a:pt x="490061" y="256962"/>
                </a:lnTo>
                <a:lnTo>
                  <a:pt x="457562" y="286226"/>
                </a:lnTo>
                <a:lnTo>
                  <a:pt x="425935" y="316844"/>
                </a:lnTo>
                <a:lnTo>
                  <a:pt x="395208" y="348782"/>
                </a:lnTo>
                <a:lnTo>
                  <a:pt x="365409" y="382005"/>
                </a:lnTo>
                <a:lnTo>
                  <a:pt x="336565" y="416480"/>
                </a:lnTo>
                <a:lnTo>
                  <a:pt x="308705" y="452172"/>
                </a:lnTo>
                <a:lnTo>
                  <a:pt x="281856" y="489045"/>
                </a:lnTo>
                <a:lnTo>
                  <a:pt x="256047" y="527067"/>
                </a:lnTo>
                <a:lnTo>
                  <a:pt x="231303" y="566203"/>
                </a:lnTo>
                <a:lnTo>
                  <a:pt x="207655" y="606418"/>
                </a:lnTo>
                <a:lnTo>
                  <a:pt x="185128" y="647678"/>
                </a:lnTo>
                <a:lnTo>
                  <a:pt x="163752" y="689948"/>
                </a:lnTo>
                <a:lnTo>
                  <a:pt x="143553" y="733195"/>
                </a:lnTo>
                <a:lnTo>
                  <a:pt x="124560" y="777383"/>
                </a:lnTo>
                <a:lnTo>
                  <a:pt x="106801" y="822479"/>
                </a:lnTo>
                <a:lnTo>
                  <a:pt x="90302" y="868447"/>
                </a:lnTo>
                <a:lnTo>
                  <a:pt x="75093" y="915255"/>
                </a:lnTo>
                <a:lnTo>
                  <a:pt x="61200" y="962866"/>
                </a:lnTo>
                <a:lnTo>
                  <a:pt x="48652" y="1011248"/>
                </a:lnTo>
                <a:lnTo>
                  <a:pt x="37476" y="1060365"/>
                </a:lnTo>
                <a:lnTo>
                  <a:pt x="27700" y="1110183"/>
                </a:lnTo>
                <a:lnTo>
                  <a:pt x="19352" y="1160668"/>
                </a:lnTo>
                <a:lnTo>
                  <a:pt x="12459" y="1211786"/>
                </a:lnTo>
                <a:lnTo>
                  <a:pt x="7050" y="1263501"/>
                </a:lnTo>
                <a:lnTo>
                  <a:pt x="3151" y="1315780"/>
                </a:lnTo>
                <a:lnTo>
                  <a:pt x="792" y="1368588"/>
                </a:lnTo>
                <a:lnTo>
                  <a:pt x="0" y="1421891"/>
                </a:lnTo>
                <a:lnTo>
                  <a:pt x="792" y="1475195"/>
                </a:lnTo>
                <a:lnTo>
                  <a:pt x="3151" y="1528003"/>
                </a:lnTo>
                <a:lnTo>
                  <a:pt x="7050" y="1580282"/>
                </a:lnTo>
                <a:lnTo>
                  <a:pt x="12459" y="1631997"/>
                </a:lnTo>
                <a:lnTo>
                  <a:pt x="19352" y="1683115"/>
                </a:lnTo>
                <a:lnTo>
                  <a:pt x="27700" y="1733600"/>
                </a:lnTo>
                <a:lnTo>
                  <a:pt x="37476" y="1783418"/>
                </a:lnTo>
                <a:lnTo>
                  <a:pt x="48652" y="1832535"/>
                </a:lnTo>
                <a:lnTo>
                  <a:pt x="61200" y="1880917"/>
                </a:lnTo>
                <a:lnTo>
                  <a:pt x="75093" y="1928528"/>
                </a:lnTo>
                <a:lnTo>
                  <a:pt x="90302" y="1975336"/>
                </a:lnTo>
                <a:lnTo>
                  <a:pt x="106801" y="2021304"/>
                </a:lnTo>
                <a:lnTo>
                  <a:pt x="124560" y="2066400"/>
                </a:lnTo>
                <a:lnTo>
                  <a:pt x="143553" y="2110588"/>
                </a:lnTo>
                <a:lnTo>
                  <a:pt x="163752" y="2153835"/>
                </a:lnTo>
                <a:lnTo>
                  <a:pt x="185128" y="2196105"/>
                </a:lnTo>
                <a:lnTo>
                  <a:pt x="207655" y="2237365"/>
                </a:lnTo>
                <a:lnTo>
                  <a:pt x="231303" y="2277580"/>
                </a:lnTo>
                <a:lnTo>
                  <a:pt x="256047" y="2316716"/>
                </a:lnTo>
                <a:lnTo>
                  <a:pt x="281856" y="2354738"/>
                </a:lnTo>
                <a:lnTo>
                  <a:pt x="308705" y="2391611"/>
                </a:lnTo>
                <a:lnTo>
                  <a:pt x="336565" y="2427303"/>
                </a:lnTo>
                <a:lnTo>
                  <a:pt x="365409" y="2461778"/>
                </a:lnTo>
                <a:lnTo>
                  <a:pt x="395208" y="2495001"/>
                </a:lnTo>
                <a:lnTo>
                  <a:pt x="425935" y="2526939"/>
                </a:lnTo>
                <a:lnTo>
                  <a:pt x="457562" y="2557557"/>
                </a:lnTo>
                <a:lnTo>
                  <a:pt x="490061" y="2586821"/>
                </a:lnTo>
                <a:lnTo>
                  <a:pt x="523405" y="2614696"/>
                </a:lnTo>
                <a:lnTo>
                  <a:pt x="557565" y="2641148"/>
                </a:lnTo>
                <a:lnTo>
                  <a:pt x="592515" y="2666142"/>
                </a:lnTo>
                <a:lnTo>
                  <a:pt x="628225" y="2689645"/>
                </a:lnTo>
                <a:lnTo>
                  <a:pt x="664670" y="2711621"/>
                </a:lnTo>
                <a:lnTo>
                  <a:pt x="701819" y="2732037"/>
                </a:lnTo>
                <a:lnTo>
                  <a:pt x="739647" y="2750858"/>
                </a:lnTo>
                <a:lnTo>
                  <a:pt x="778125" y="2768050"/>
                </a:lnTo>
                <a:lnTo>
                  <a:pt x="817225" y="2783578"/>
                </a:lnTo>
                <a:lnTo>
                  <a:pt x="856919" y="2797408"/>
                </a:lnTo>
                <a:lnTo>
                  <a:pt x="897181" y="2809505"/>
                </a:lnTo>
                <a:lnTo>
                  <a:pt x="937981" y="2819836"/>
                </a:lnTo>
                <a:lnTo>
                  <a:pt x="979293" y="2828365"/>
                </a:lnTo>
                <a:lnTo>
                  <a:pt x="1021088" y="2835059"/>
                </a:lnTo>
                <a:lnTo>
                  <a:pt x="1063338" y="2839883"/>
                </a:lnTo>
                <a:lnTo>
                  <a:pt x="1106017" y="2842803"/>
                </a:lnTo>
                <a:lnTo>
                  <a:pt x="1149095" y="2843784"/>
                </a:lnTo>
                <a:lnTo>
                  <a:pt x="1192174" y="2842803"/>
                </a:lnTo>
                <a:lnTo>
                  <a:pt x="1234853" y="2839883"/>
                </a:lnTo>
                <a:lnTo>
                  <a:pt x="1277103" y="2835059"/>
                </a:lnTo>
                <a:lnTo>
                  <a:pt x="1318898" y="2828365"/>
                </a:lnTo>
                <a:lnTo>
                  <a:pt x="1360210" y="2819836"/>
                </a:lnTo>
                <a:lnTo>
                  <a:pt x="1401010" y="2809505"/>
                </a:lnTo>
                <a:lnTo>
                  <a:pt x="1441272" y="2797408"/>
                </a:lnTo>
                <a:lnTo>
                  <a:pt x="1480966" y="2783578"/>
                </a:lnTo>
                <a:lnTo>
                  <a:pt x="1520066" y="2768050"/>
                </a:lnTo>
                <a:lnTo>
                  <a:pt x="1558544" y="2750858"/>
                </a:lnTo>
                <a:lnTo>
                  <a:pt x="1596372" y="2732037"/>
                </a:lnTo>
                <a:lnTo>
                  <a:pt x="1633521" y="2711621"/>
                </a:lnTo>
                <a:lnTo>
                  <a:pt x="1669966" y="2689645"/>
                </a:lnTo>
                <a:lnTo>
                  <a:pt x="1705676" y="2666142"/>
                </a:lnTo>
                <a:lnTo>
                  <a:pt x="1740626" y="2641148"/>
                </a:lnTo>
                <a:lnTo>
                  <a:pt x="1774786" y="2614696"/>
                </a:lnTo>
                <a:lnTo>
                  <a:pt x="1808130" y="2586821"/>
                </a:lnTo>
                <a:lnTo>
                  <a:pt x="1840629" y="2557557"/>
                </a:lnTo>
                <a:lnTo>
                  <a:pt x="1872256" y="2526939"/>
                </a:lnTo>
                <a:lnTo>
                  <a:pt x="1902983" y="2495001"/>
                </a:lnTo>
                <a:lnTo>
                  <a:pt x="1932782" y="2461778"/>
                </a:lnTo>
                <a:lnTo>
                  <a:pt x="1961626" y="2427303"/>
                </a:lnTo>
                <a:lnTo>
                  <a:pt x="1989486" y="2391611"/>
                </a:lnTo>
                <a:lnTo>
                  <a:pt x="2016335" y="2354738"/>
                </a:lnTo>
                <a:lnTo>
                  <a:pt x="2042144" y="2316716"/>
                </a:lnTo>
                <a:lnTo>
                  <a:pt x="2066888" y="2277580"/>
                </a:lnTo>
                <a:lnTo>
                  <a:pt x="2090536" y="2237365"/>
                </a:lnTo>
                <a:lnTo>
                  <a:pt x="2113063" y="2196105"/>
                </a:lnTo>
                <a:lnTo>
                  <a:pt x="2134439" y="2153835"/>
                </a:lnTo>
                <a:lnTo>
                  <a:pt x="2154638" y="2110588"/>
                </a:lnTo>
                <a:lnTo>
                  <a:pt x="2173631" y="2066400"/>
                </a:lnTo>
                <a:lnTo>
                  <a:pt x="2191390" y="2021304"/>
                </a:lnTo>
                <a:lnTo>
                  <a:pt x="2207889" y="1975336"/>
                </a:lnTo>
                <a:lnTo>
                  <a:pt x="2223098" y="1928528"/>
                </a:lnTo>
                <a:lnTo>
                  <a:pt x="2236991" y="1880917"/>
                </a:lnTo>
                <a:lnTo>
                  <a:pt x="2249539" y="1832535"/>
                </a:lnTo>
                <a:lnTo>
                  <a:pt x="2260715" y="1783418"/>
                </a:lnTo>
                <a:lnTo>
                  <a:pt x="2270491" y="1733600"/>
                </a:lnTo>
                <a:lnTo>
                  <a:pt x="2278839" y="1683115"/>
                </a:lnTo>
                <a:lnTo>
                  <a:pt x="2285732" y="1631997"/>
                </a:lnTo>
                <a:lnTo>
                  <a:pt x="2291141" y="1580282"/>
                </a:lnTo>
                <a:lnTo>
                  <a:pt x="2295040" y="1528003"/>
                </a:lnTo>
                <a:lnTo>
                  <a:pt x="2297399" y="1475195"/>
                </a:lnTo>
                <a:lnTo>
                  <a:pt x="2298192" y="1421891"/>
                </a:lnTo>
                <a:lnTo>
                  <a:pt x="2297399" y="1368588"/>
                </a:lnTo>
                <a:lnTo>
                  <a:pt x="2295040" y="1315780"/>
                </a:lnTo>
                <a:lnTo>
                  <a:pt x="2291141" y="1263501"/>
                </a:lnTo>
                <a:lnTo>
                  <a:pt x="2285732" y="1211786"/>
                </a:lnTo>
                <a:lnTo>
                  <a:pt x="2278839" y="1160668"/>
                </a:lnTo>
                <a:lnTo>
                  <a:pt x="2270491" y="1110183"/>
                </a:lnTo>
                <a:lnTo>
                  <a:pt x="2260715" y="1060365"/>
                </a:lnTo>
                <a:lnTo>
                  <a:pt x="2249539" y="1011248"/>
                </a:lnTo>
                <a:lnTo>
                  <a:pt x="2236991" y="962866"/>
                </a:lnTo>
                <a:lnTo>
                  <a:pt x="2223098" y="915255"/>
                </a:lnTo>
                <a:lnTo>
                  <a:pt x="2207889" y="868447"/>
                </a:lnTo>
                <a:lnTo>
                  <a:pt x="2191390" y="822479"/>
                </a:lnTo>
                <a:lnTo>
                  <a:pt x="2173631" y="777383"/>
                </a:lnTo>
                <a:lnTo>
                  <a:pt x="2154638" y="733195"/>
                </a:lnTo>
                <a:lnTo>
                  <a:pt x="2134439" y="689948"/>
                </a:lnTo>
                <a:lnTo>
                  <a:pt x="2113063" y="647678"/>
                </a:lnTo>
                <a:lnTo>
                  <a:pt x="2090536" y="606418"/>
                </a:lnTo>
                <a:lnTo>
                  <a:pt x="2066888" y="566203"/>
                </a:lnTo>
                <a:lnTo>
                  <a:pt x="2042144" y="527067"/>
                </a:lnTo>
                <a:lnTo>
                  <a:pt x="2016335" y="489045"/>
                </a:lnTo>
                <a:lnTo>
                  <a:pt x="1989486" y="452172"/>
                </a:lnTo>
                <a:lnTo>
                  <a:pt x="1961626" y="416480"/>
                </a:lnTo>
                <a:lnTo>
                  <a:pt x="1932782" y="382005"/>
                </a:lnTo>
                <a:lnTo>
                  <a:pt x="1902983" y="348782"/>
                </a:lnTo>
                <a:lnTo>
                  <a:pt x="1872256" y="316844"/>
                </a:lnTo>
                <a:lnTo>
                  <a:pt x="1840629" y="286226"/>
                </a:lnTo>
                <a:lnTo>
                  <a:pt x="1808130" y="256962"/>
                </a:lnTo>
                <a:lnTo>
                  <a:pt x="1774786" y="229087"/>
                </a:lnTo>
                <a:lnTo>
                  <a:pt x="1740626" y="202635"/>
                </a:lnTo>
                <a:lnTo>
                  <a:pt x="1705676" y="177641"/>
                </a:lnTo>
                <a:lnTo>
                  <a:pt x="1669966" y="154138"/>
                </a:lnTo>
                <a:lnTo>
                  <a:pt x="1633521" y="132162"/>
                </a:lnTo>
                <a:lnTo>
                  <a:pt x="1596372" y="111746"/>
                </a:lnTo>
                <a:lnTo>
                  <a:pt x="1558544" y="92925"/>
                </a:lnTo>
                <a:lnTo>
                  <a:pt x="1520066" y="75733"/>
                </a:lnTo>
                <a:lnTo>
                  <a:pt x="1480966" y="60205"/>
                </a:lnTo>
                <a:lnTo>
                  <a:pt x="1441272" y="46375"/>
                </a:lnTo>
                <a:lnTo>
                  <a:pt x="1401010" y="34278"/>
                </a:lnTo>
                <a:lnTo>
                  <a:pt x="1360210" y="23947"/>
                </a:lnTo>
                <a:lnTo>
                  <a:pt x="1318898" y="15418"/>
                </a:lnTo>
                <a:lnTo>
                  <a:pt x="1277103" y="8724"/>
                </a:lnTo>
                <a:lnTo>
                  <a:pt x="1234853" y="3900"/>
                </a:lnTo>
                <a:lnTo>
                  <a:pt x="1192174" y="980"/>
                </a:lnTo>
                <a:lnTo>
                  <a:pt x="1149095"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4" name="object 34"/>
          <p:cNvSpPr txBox="1"/>
          <p:nvPr/>
        </p:nvSpPr>
        <p:spPr>
          <a:xfrm>
            <a:off x="2560410" y="3524071"/>
            <a:ext cx="1719631" cy="873760"/>
          </a:xfrm>
          <a:prstGeom prst="rect">
            <a:avLst/>
          </a:prstGeom>
        </p:spPr>
        <p:txBody>
          <a:bodyPr vert="horz" wrap="square" lIns="0" tIns="12691" rIns="0" bIns="0" rtlCol="0">
            <a:spAutoFit/>
          </a:bodyPr>
          <a:lstStyle/>
          <a:p>
            <a:pPr marL="12700" marR="5080" indent="222250">
              <a:lnSpc>
                <a:spcPct val="100000"/>
              </a:lnSpc>
              <a:spcBef>
                <a:spcPts val="100"/>
              </a:spcBef>
            </a:pPr>
            <a:r>
              <a:rPr sz="1400" b="1" spc="10" dirty="0">
                <a:solidFill>
                  <a:srgbClr val="FFFFFF"/>
                </a:solidFill>
                <a:latin typeface="微软雅黑" panose="020B0503020204020204" charset="-122"/>
                <a:ea typeface="微软雅黑" panose="020B0503020204020204" charset="-122"/>
                <a:cs typeface="微软雅黑" panose="020B0503020204020204" charset="-122"/>
              </a:rPr>
              <a:t>“成</a:t>
            </a:r>
            <a:r>
              <a:rPr sz="1400" b="1" dirty="0">
                <a:solidFill>
                  <a:srgbClr val="FFFFFF"/>
                </a:solidFill>
                <a:latin typeface="微软雅黑" panose="020B0503020204020204" charset="-122"/>
                <a:ea typeface="微软雅黑" panose="020B0503020204020204" charset="-122"/>
                <a:cs typeface="微软雅黑" panose="020B0503020204020204" charset="-122"/>
              </a:rPr>
              <a:t>本领</a:t>
            </a:r>
            <a:r>
              <a:rPr sz="1400" b="1" spc="-10" dirty="0">
                <a:solidFill>
                  <a:srgbClr val="FFFFFF"/>
                </a:solidFill>
                <a:latin typeface="微软雅黑" panose="020B0503020204020204" charset="-122"/>
                <a:ea typeface="微软雅黑" panose="020B0503020204020204" charset="-122"/>
                <a:cs typeface="微软雅黑" panose="020B0503020204020204" charset="-122"/>
              </a:rPr>
              <a:t>先</a:t>
            </a:r>
            <a:r>
              <a:rPr sz="1400" b="1" spc="-5" dirty="0">
                <a:solidFill>
                  <a:srgbClr val="FFFFFF"/>
                </a:solidFill>
                <a:latin typeface="微软雅黑" panose="020B0503020204020204" charset="-122"/>
                <a:ea typeface="微软雅黑" panose="020B0503020204020204" charset="-122"/>
                <a:cs typeface="微软雅黑" panose="020B0503020204020204" charset="-122"/>
              </a:rPr>
              <a:t>者</a:t>
            </a:r>
            <a:r>
              <a:rPr sz="1400" b="1" dirty="0">
                <a:solidFill>
                  <a:srgbClr val="FFFFFF"/>
                </a:solidFill>
                <a:latin typeface="微软雅黑" panose="020B0503020204020204" charset="-122"/>
                <a:ea typeface="微软雅黑" panose="020B0503020204020204" charset="-122"/>
                <a:cs typeface="微软雅黑" panose="020B0503020204020204" charset="-122"/>
              </a:rPr>
              <a:t>”</a:t>
            </a:r>
            <a:r>
              <a:rPr sz="1400" b="1" spc="-70" dirty="0">
                <a:solidFill>
                  <a:srgbClr val="FFFFFF"/>
                </a:solidFill>
                <a:latin typeface="微软雅黑" panose="020B0503020204020204" charset="-122"/>
                <a:ea typeface="微软雅黑" panose="020B0503020204020204" charset="-122"/>
                <a:cs typeface="微软雅黑" panose="020B0503020204020204" charset="-122"/>
              </a:rPr>
              <a:t> </a:t>
            </a:r>
            <a:r>
              <a:rPr sz="1400" b="1" spc="10" dirty="0">
                <a:solidFill>
                  <a:srgbClr val="FFFFFF"/>
                </a:solidFill>
                <a:latin typeface="微软雅黑" panose="020B0503020204020204" charset="-122"/>
                <a:ea typeface="微软雅黑" panose="020B0503020204020204" charset="-122"/>
                <a:cs typeface="微软雅黑" panose="020B0503020204020204" charset="-122"/>
              </a:rPr>
              <a:t>在 成</a:t>
            </a:r>
            <a:r>
              <a:rPr sz="1400" b="1" dirty="0">
                <a:solidFill>
                  <a:srgbClr val="FFFFFF"/>
                </a:solidFill>
                <a:latin typeface="微软雅黑" panose="020B0503020204020204" charset="-122"/>
                <a:ea typeface="微软雅黑" panose="020B0503020204020204" charset="-122"/>
                <a:cs typeface="微软雅黑" panose="020B0503020204020204" charset="-122"/>
              </a:rPr>
              <a:t>熟的</a:t>
            </a:r>
            <a:r>
              <a:rPr sz="1400" b="1" spc="-15" dirty="0">
                <a:solidFill>
                  <a:srgbClr val="FFFFFF"/>
                </a:solidFill>
                <a:latin typeface="微软雅黑" panose="020B0503020204020204" charset="-122"/>
                <a:ea typeface="微软雅黑" panose="020B0503020204020204" charset="-122"/>
                <a:cs typeface="微软雅黑" panose="020B0503020204020204" charset="-122"/>
              </a:rPr>
              <a:t>细</a:t>
            </a:r>
            <a:r>
              <a:rPr sz="1400" b="1" spc="5" dirty="0">
                <a:solidFill>
                  <a:srgbClr val="FFFFFF"/>
                </a:solidFill>
                <a:latin typeface="微软雅黑" panose="020B0503020204020204" charset="-122"/>
                <a:ea typeface="微软雅黑" panose="020B0503020204020204" charset="-122"/>
                <a:cs typeface="微软雅黑" panose="020B0503020204020204" charset="-122"/>
              </a:rPr>
              <a:t>分</a:t>
            </a:r>
            <a:r>
              <a:rPr sz="1400" b="1" spc="-10" dirty="0">
                <a:solidFill>
                  <a:srgbClr val="FFFFFF"/>
                </a:solidFill>
                <a:latin typeface="微软雅黑" panose="020B0503020204020204" charset="-122"/>
                <a:ea typeface="微软雅黑" panose="020B0503020204020204" charset="-122"/>
                <a:cs typeface="微软雅黑" panose="020B0503020204020204" charset="-122"/>
              </a:rPr>
              <a:t>/</a:t>
            </a:r>
            <a:r>
              <a:rPr sz="1400" b="1" dirty="0">
                <a:solidFill>
                  <a:srgbClr val="FFFFFF"/>
                </a:solidFill>
                <a:latin typeface="微软雅黑" panose="020B0503020204020204" charset="-122"/>
                <a:ea typeface="微软雅黑" panose="020B0503020204020204" charset="-122"/>
                <a:cs typeface="微软雅黑" panose="020B0503020204020204" charset="-122"/>
              </a:rPr>
              <a:t>产品领</a:t>
            </a:r>
            <a:endParaRPr sz="1400">
              <a:latin typeface="微软雅黑" panose="020B0503020204020204" charset="-122"/>
              <a:ea typeface="微软雅黑" panose="020B0503020204020204" charset="-122"/>
              <a:cs typeface="微软雅黑" panose="020B0503020204020204" charset="-122"/>
            </a:endParaRPr>
          </a:p>
          <a:p>
            <a:pPr marL="502285" marR="184785" indent="-311785">
              <a:lnSpc>
                <a:spcPct val="100000"/>
              </a:lnSpc>
            </a:pPr>
            <a:r>
              <a:rPr sz="1400" b="1" spc="10" dirty="0">
                <a:solidFill>
                  <a:srgbClr val="FFFFFF"/>
                </a:solidFill>
                <a:latin typeface="微软雅黑" panose="020B0503020204020204" charset="-122"/>
                <a:ea typeface="微软雅黑" panose="020B0503020204020204" charset="-122"/>
                <a:cs typeface="微软雅黑" panose="020B0503020204020204" charset="-122"/>
              </a:rPr>
              <a:t>域追</a:t>
            </a:r>
            <a:r>
              <a:rPr sz="1400" b="1" dirty="0">
                <a:solidFill>
                  <a:srgbClr val="FFFFFF"/>
                </a:solidFill>
                <a:latin typeface="微软雅黑" panose="020B0503020204020204" charset="-122"/>
                <a:ea typeface="微软雅黑" panose="020B0503020204020204" charset="-122"/>
                <a:cs typeface="微软雅黑" panose="020B0503020204020204" charset="-122"/>
              </a:rPr>
              <a:t>求价</a:t>
            </a:r>
            <a:r>
              <a:rPr sz="1400" b="1" spc="-10" dirty="0">
                <a:solidFill>
                  <a:srgbClr val="FFFFFF"/>
                </a:solidFill>
                <a:latin typeface="微软雅黑" panose="020B0503020204020204" charset="-122"/>
                <a:ea typeface="微软雅黑" panose="020B0503020204020204" charset="-122"/>
                <a:cs typeface="微软雅黑" panose="020B0503020204020204" charset="-122"/>
              </a:rPr>
              <a:t>格</a:t>
            </a:r>
            <a:r>
              <a:rPr sz="1400" b="1" spc="5" dirty="0">
                <a:solidFill>
                  <a:srgbClr val="FFFFFF"/>
                </a:solidFill>
                <a:latin typeface="微软雅黑" panose="020B0503020204020204" charset="-122"/>
                <a:ea typeface="微软雅黑" panose="020B0503020204020204" charset="-122"/>
                <a:cs typeface="微软雅黑" panose="020B0503020204020204" charset="-122"/>
              </a:rPr>
              <a:t>/</a:t>
            </a:r>
            <a:r>
              <a:rPr sz="1400" b="1" spc="-15" dirty="0">
                <a:solidFill>
                  <a:srgbClr val="FFFFFF"/>
                </a:solidFill>
                <a:latin typeface="微软雅黑" panose="020B0503020204020204" charset="-122"/>
                <a:ea typeface="微软雅黑" panose="020B0503020204020204" charset="-122"/>
                <a:cs typeface="微软雅黑" panose="020B0503020204020204" charset="-122"/>
              </a:rPr>
              <a:t>成本 </a:t>
            </a:r>
            <a:r>
              <a:rPr sz="1400" b="1" spc="10" dirty="0">
                <a:solidFill>
                  <a:srgbClr val="FFFFFF"/>
                </a:solidFill>
                <a:latin typeface="微软雅黑" panose="020B0503020204020204" charset="-122"/>
                <a:ea typeface="微软雅黑" panose="020B0503020204020204" charset="-122"/>
                <a:cs typeface="微软雅黑" panose="020B0503020204020204" charset="-122"/>
              </a:rPr>
              <a:t>领先</a:t>
            </a:r>
            <a:r>
              <a:rPr sz="1400" b="1" dirty="0">
                <a:solidFill>
                  <a:srgbClr val="FFFFFF"/>
                </a:solidFill>
                <a:latin typeface="微软雅黑" panose="020B0503020204020204" charset="-122"/>
                <a:ea typeface="微软雅黑" panose="020B0503020204020204" charset="-122"/>
                <a:cs typeface="微软雅黑" panose="020B0503020204020204" charset="-122"/>
              </a:rPr>
              <a:t>地位</a:t>
            </a:r>
            <a:endParaRPr sz="14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401" y="203088"/>
            <a:ext cx="6381672"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“你的成功</a:t>
            </a:r>
            <a:r>
              <a:rPr spc="-10" dirty="0">
                <a:ea typeface="微软雅黑" panose="020B0503020204020204" charset="-122"/>
              </a:rPr>
              <a:t>就是</a:t>
            </a:r>
            <a:r>
              <a:rPr spc="-5" dirty="0">
                <a:ea typeface="微软雅黑" panose="020B0503020204020204" charset="-122"/>
              </a:rPr>
              <a:t>我</a:t>
            </a:r>
            <a:r>
              <a:rPr spc="-10" dirty="0">
                <a:ea typeface="微软雅黑" panose="020B0503020204020204" charset="-122"/>
              </a:rPr>
              <a:t>们的</a:t>
            </a:r>
            <a:r>
              <a:rPr spc="-5" dirty="0">
                <a:ea typeface="微软雅黑" panose="020B0503020204020204" charset="-122"/>
              </a:rPr>
              <a:t>成</a:t>
            </a:r>
            <a:r>
              <a:rPr spc="10" dirty="0">
                <a:ea typeface="微软雅黑" panose="020B0503020204020204" charset="-122"/>
              </a:rPr>
              <a:t>功</a:t>
            </a:r>
            <a:r>
              <a:rPr spc="-25" dirty="0">
                <a:ea typeface="微软雅黑" panose="020B0503020204020204" charset="-122"/>
              </a:rPr>
              <a:t>!</a:t>
            </a:r>
            <a:r>
              <a:rPr dirty="0">
                <a:ea typeface="微软雅黑" panose="020B0503020204020204" charset="-122"/>
              </a:rPr>
              <a:t>全球领</a:t>
            </a:r>
            <a:r>
              <a:rPr spc="-10" dirty="0">
                <a:ea typeface="微软雅黑" panose="020B0503020204020204" charset="-122"/>
              </a:rPr>
              <a:t>先</a:t>
            </a:r>
            <a:r>
              <a:rPr spc="5" dirty="0">
                <a:ea typeface="微软雅黑" panose="020B0503020204020204" charset="-122"/>
              </a:rPr>
              <a:t>公</a:t>
            </a:r>
            <a:r>
              <a:rPr spc="-10" dirty="0">
                <a:ea typeface="微软雅黑" panose="020B0503020204020204" charset="-122"/>
              </a:rPr>
              <a:t>司已</a:t>
            </a:r>
            <a:r>
              <a:rPr spc="5" dirty="0">
                <a:ea typeface="微软雅黑" panose="020B0503020204020204" charset="-122"/>
              </a:rPr>
              <a:t>成</a:t>
            </a:r>
            <a:r>
              <a:rPr spc="-10" dirty="0">
                <a:ea typeface="微软雅黑" panose="020B0503020204020204" charset="-122"/>
              </a:rPr>
              <a:t>功应</a:t>
            </a:r>
            <a:r>
              <a:rPr spc="5" dirty="0">
                <a:ea typeface="微软雅黑" panose="020B0503020204020204" charset="-122"/>
              </a:rPr>
              <a:t>用</a:t>
            </a:r>
            <a:r>
              <a:rPr spc="-10" dirty="0">
                <a:ea typeface="微软雅黑" panose="020B0503020204020204" charset="-122"/>
              </a:rPr>
              <a:t>的方法</a:t>
            </a:r>
            <a:endParaRPr spc="-10" dirty="0">
              <a:ea typeface="微软雅黑" panose="020B0503020204020204" charset="-122"/>
            </a:endParaRPr>
          </a:p>
        </p:txBody>
      </p:sp>
      <p:sp>
        <p:nvSpPr>
          <p:cNvPr id="4" name="object 4"/>
          <p:cNvSpPr txBox="1"/>
          <p:nvPr/>
        </p:nvSpPr>
        <p:spPr>
          <a:xfrm>
            <a:off x="2783138" y="705397"/>
            <a:ext cx="3902484" cy="227965"/>
          </a:xfrm>
          <a:prstGeom prst="rect">
            <a:avLst/>
          </a:prstGeom>
        </p:spPr>
        <p:txBody>
          <a:bodyPr vert="horz" wrap="square" lIns="0" tIns="13325" rIns="0" bIns="0" rtlCol="0">
            <a:spAutoFit/>
          </a:bodyPr>
          <a:lstStyle/>
          <a:p>
            <a:pPr marL="12700">
              <a:lnSpc>
                <a:spcPct val="100000"/>
              </a:lnSpc>
              <a:spcBef>
                <a:spcPts val="105"/>
              </a:spcBef>
              <a:tabLst>
                <a:tab pos="2821305" algn="l"/>
              </a:tabLst>
            </a:pPr>
            <a:r>
              <a:rPr sz="1400" b="1" spc="10" dirty="0">
                <a:latin typeface="微软雅黑" panose="020B0503020204020204" charset="-122"/>
                <a:ea typeface="微软雅黑" panose="020B0503020204020204" charset="-122"/>
                <a:cs typeface="微软雅黑" panose="020B0503020204020204" charset="-122"/>
              </a:rPr>
              <a:t>于下</a:t>
            </a:r>
            <a:r>
              <a:rPr sz="1400" b="1" dirty="0">
                <a:latin typeface="微软雅黑" panose="020B0503020204020204" charset="-122"/>
                <a:ea typeface="微软雅黑" panose="020B0503020204020204" charset="-122"/>
                <a:cs typeface="微软雅黑" panose="020B0503020204020204" charset="-122"/>
              </a:rPr>
              <a:t>游发</a:t>
            </a:r>
            <a:r>
              <a:rPr sz="1400" b="1" spc="-15" dirty="0">
                <a:latin typeface="微软雅黑" panose="020B0503020204020204" charset="-122"/>
                <a:ea typeface="微软雅黑" panose="020B0503020204020204" charset="-122"/>
                <a:cs typeface="微软雅黑" panose="020B0503020204020204" charset="-122"/>
              </a:rPr>
              <a:t>掘</a:t>
            </a:r>
            <a:r>
              <a:rPr sz="1400" b="1" dirty="0">
                <a:latin typeface="微软雅黑" panose="020B0503020204020204" charset="-122"/>
                <a:ea typeface="微软雅黑" panose="020B0503020204020204" charset="-122"/>
                <a:cs typeface="微软雅黑" panose="020B0503020204020204" charset="-122"/>
              </a:rPr>
              <a:t>价值	</a:t>
            </a:r>
            <a:r>
              <a:rPr sz="1400" b="1" spc="10" dirty="0">
                <a:latin typeface="微软雅黑" panose="020B0503020204020204" charset="-122"/>
                <a:ea typeface="微软雅黑" panose="020B0503020204020204" charset="-122"/>
                <a:cs typeface="微软雅黑" panose="020B0503020204020204" charset="-122"/>
              </a:rPr>
              <a:t>对公</a:t>
            </a:r>
            <a:r>
              <a:rPr sz="1400" b="1" dirty="0">
                <a:latin typeface="微软雅黑" panose="020B0503020204020204" charset="-122"/>
                <a:ea typeface="微软雅黑" panose="020B0503020204020204" charset="-122"/>
                <a:cs typeface="微软雅黑" panose="020B0503020204020204" charset="-122"/>
              </a:rPr>
              <a:t>司的</a:t>
            </a:r>
            <a:r>
              <a:rPr sz="1400" b="1" spc="-15" dirty="0">
                <a:latin typeface="微软雅黑" panose="020B0503020204020204" charset="-122"/>
                <a:ea typeface="微软雅黑" panose="020B0503020204020204" charset="-122"/>
                <a:cs typeface="微软雅黑" panose="020B0503020204020204" charset="-122"/>
              </a:rPr>
              <a:t>影</a:t>
            </a:r>
            <a:r>
              <a:rPr sz="1400" b="1" dirty="0">
                <a:latin typeface="微软雅黑" panose="020B0503020204020204" charset="-122"/>
                <a:ea typeface="微软雅黑" panose="020B0503020204020204" charset="-122"/>
                <a:cs typeface="微软雅黑" panose="020B0503020204020204" charset="-122"/>
              </a:rPr>
              <a:t>响</a:t>
            </a:r>
            <a:endParaRPr sz="1400">
              <a:latin typeface="微软雅黑" panose="020B0503020204020204" charset="-122"/>
              <a:ea typeface="微软雅黑" panose="020B0503020204020204" charset="-122"/>
              <a:cs typeface="微软雅黑" panose="020B0503020204020204" charset="-122"/>
            </a:endParaRPr>
          </a:p>
        </p:txBody>
      </p:sp>
      <p:sp>
        <p:nvSpPr>
          <p:cNvPr id="5" name="object 5"/>
          <p:cNvSpPr/>
          <p:nvPr/>
        </p:nvSpPr>
        <p:spPr>
          <a:xfrm>
            <a:off x="196456" y="2997902"/>
            <a:ext cx="1288391" cy="310676"/>
          </a:xfrm>
          <a:prstGeom prst="rect">
            <a:avLst/>
          </a:prstGeom>
          <a:blipFill>
            <a:blip r:embed="rId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1739174" y="2831903"/>
            <a:ext cx="650287" cy="653333"/>
          </a:xfrm>
          <a:prstGeom prst="rect">
            <a:avLst/>
          </a:prstGeom>
          <a:blipFill>
            <a:blip r:embed="rId2"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txBox="1"/>
          <p:nvPr/>
        </p:nvSpPr>
        <p:spPr>
          <a:xfrm>
            <a:off x="2784659" y="2726898"/>
            <a:ext cx="2532490" cy="227965"/>
          </a:xfrm>
          <a:prstGeom prst="rect">
            <a:avLst/>
          </a:prstGeom>
        </p:spPr>
        <p:txBody>
          <a:bodyPr vert="horz" wrap="square" lIns="0" tIns="13325" rIns="0" bIns="0" rtlCol="0">
            <a:spAutoFit/>
          </a:bodyPr>
          <a:lstStyle/>
          <a:p>
            <a:pPr marL="204470" indent="-192405">
              <a:lnSpc>
                <a:spcPct val="100000"/>
              </a:lnSpc>
              <a:spcBef>
                <a:spcPts val="105"/>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包装减少了高价值产品</a:t>
            </a:r>
            <a:r>
              <a:rPr sz="1400" spc="-15" dirty="0">
                <a:latin typeface="微软雅黑" panose="020B0503020204020204" charset="-122"/>
                <a:ea typeface="微软雅黑" panose="020B0503020204020204" charset="-122"/>
                <a:cs typeface="微软雅黑" panose="020B0503020204020204" charset="-122"/>
              </a:rPr>
              <a:t>的</a:t>
            </a:r>
            <a:r>
              <a:rPr sz="1400" dirty="0">
                <a:latin typeface="微软雅黑" panose="020B0503020204020204" charset="-122"/>
                <a:ea typeface="微软雅黑" panose="020B0503020204020204" charset="-122"/>
                <a:cs typeface="微软雅黑" panose="020B0503020204020204" charset="-122"/>
              </a:rPr>
              <a:t>损坏</a:t>
            </a:r>
            <a:endParaRPr sz="1400">
              <a:latin typeface="微软雅黑" panose="020B0503020204020204" charset="-122"/>
              <a:ea typeface="微软雅黑" panose="020B0503020204020204" charset="-122"/>
              <a:cs typeface="微软雅黑" panose="020B0503020204020204" charset="-122"/>
            </a:endParaRPr>
          </a:p>
        </p:txBody>
      </p:sp>
      <p:sp>
        <p:nvSpPr>
          <p:cNvPr id="8" name="object 8"/>
          <p:cNvSpPr txBox="1"/>
          <p:nvPr/>
        </p:nvSpPr>
        <p:spPr>
          <a:xfrm>
            <a:off x="5591402" y="2726898"/>
            <a:ext cx="3012845" cy="443865"/>
          </a:xfrm>
          <a:prstGeom prst="rect">
            <a:avLst/>
          </a:prstGeom>
        </p:spPr>
        <p:txBody>
          <a:bodyPr vert="horz" wrap="square" lIns="0" tIns="13325" rIns="0" bIns="0" rtlCol="0">
            <a:spAutoFit/>
          </a:bodyPr>
          <a:lstStyle/>
          <a:p>
            <a:pPr marL="204470" indent="-192405">
              <a:lnSpc>
                <a:spcPct val="100000"/>
              </a:lnSpc>
              <a:spcBef>
                <a:spcPts val="105"/>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保护型包装细分，靠自</a:t>
            </a:r>
            <a:r>
              <a:rPr sz="1400" spc="-15" dirty="0">
                <a:latin typeface="微软雅黑" panose="020B0503020204020204" charset="-122"/>
                <a:ea typeface="微软雅黑" panose="020B0503020204020204" charset="-122"/>
                <a:cs typeface="微软雅黑" panose="020B0503020204020204" charset="-122"/>
              </a:rPr>
              <a:t>身</a:t>
            </a:r>
            <a:r>
              <a:rPr sz="1400" dirty="0">
                <a:latin typeface="微软雅黑" panose="020B0503020204020204" charset="-122"/>
                <a:ea typeface="微软雅黑" panose="020B0503020204020204" charset="-122"/>
                <a:cs typeface="微软雅黑" panose="020B0503020204020204" charset="-122"/>
              </a:rPr>
              <a:t>增</a:t>
            </a:r>
            <a:r>
              <a:rPr sz="1400" spc="5" dirty="0">
                <a:latin typeface="微软雅黑" panose="020B0503020204020204" charset="-122"/>
                <a:ea typeface="微软雅黑" panose="020B0503020204020204" charset="-122"/>
                <a:cs typeface="微软雅黑" panose="020B0503020204020204" charset="-122"/>
              </a:rPr>
              <a:t>长</a:t>
            </a:r>
            <a:r>
              <a:rPr sz="1400" spc="-5" dirty="0">
                <a:latin typeface="微软雅黑" panose="020B0503020204020204" charset="-122"/>
                <a:ea typeface="微软雅黑" panose="020B0503020204020204" charset="-122"/>
                <a:cs typeface="微软雅黑" panose="020B0503020204020204" charset="-122"/>
              </a:rPr>
              <a:t>9%</a:t>
            </a:r>
            <a:r>
              <a:rPr sz="1400" spc="-90" dirty="0">
                <a:latin typeface="微软雅黑" panose="020B0503020204020204" charset="-122"/>
                <a:ea typeface="微软雅黑" panose="020B0503020204020204" charset="-122"/>
                <a:cs typeface="微软雅黑" panose="020B0503020204020204" charset="-122"/>
              </a:rPr>
              <a:t> </a:t>
            </a:r>
            <a:r>
              <a:rPr sz="1400" spc="5" dirty="0">
                <a:latin typeface="微软雅黑" panose="020B0503020204020204" charset="-122"/>
                <a:ea typeface="微软雅黑" panose="020B0503020204020204" charset="-122"/>
                <a:cs typeface="微软雅黑" panose="020B0503020204020204" charset="-122"/>
              </a:rPr>
              <a:t>；</a:t>
            </a:r>
            <a:endParaRPr sz="1400">
              <a:latin typeface="微软雅黑" panose="020B0503020204020204" charset="-122"/>
              <a:ea typeface="微软雅黑" panose="020B0503020204020204" charset="-122"/>
              <a:cs typeface="微软雅黑" panose="020B0503020204020204" charset="-122"/>
            </a:endParaRPr>
          </a:p>
          <a:p>
            <a:pPr marL="204470">
              <a:lnSpc>
                <a:spcPct val="100000"/>
              </a:lnSpc>
              <a:spcBef>
                <a:spcPts val="5"/>
              </a:spcBef>
            </a:pPr>
            <a:r>
              <a:rPr sz="1400" dirty="0">
                <a:latin typeface="微软雅黑" panose="020B0503020204020204" charset="-122"/>
                <a:ea typeface="微软雅黑" panose="020B0503020204020204" charset="-122"/>
                <a:cs typeface="微软雅黑" panose="020B0503020204020204" charset="-122"/>
              </a:rPr>
              <a:t>如考虑购并在内，增长</a:t>
            </a:r>
            <a:r>
              <a:rPr sz="1400" spc="-15" dirty="0">
                <a:latin typeface="微软雅黑" panose="020B0503020204020204" charset="-122"/>
                <a:ea typeface="微软雅黑" panose="020B0503020204020204" charset="-122"/>
                <a:cs typeface="微软雅黑" panose="020B0503020204020204" charset="-122"/>
              </a:rPr>
              <a:t>到</a:t>
            </a:r>
            <a:r>
              <a:rPr sz="1400" dirty="0">
                <a:latin typeface="微软雅黑" panose="020B0503020204020204" charset="-122"/>
                <a:ea typeface="微软雅黑" panose="020B0503020204020204" charset="-122"/>
                <a:cs typeface="微软雅黑" panose="020B0503020204020204" charset="-122"/>
              </a:rPr>
              <a:t>达到</a:t>
            </a:r>
            <a:r>
              <a:rPr sz="1400" spc="-5" dirty="0">
                <a:latin typeface="微软雅黑" panose="020B0503020204020204" charset="-122"/>
                <a:ea typeface="微软雅黑" panose="020B0503020204020204" charset="-122"/>
                <a:cs typeface="微软雅黑" panose="020B0503020204020204" charset="-122"/>
              </a:rPr>
              <a:t>15%</a:t>
            </a:r>
            <a:endParaRPr sz="1400">
              <a:latin typeface="微软雅黑" panose="020B0503020204020204" charset="-122"/>
              <a:ea typeface="微软雅黑" panose="020B0503020204020204" charset="-122"/>
              <a:cs typeface="微软雅黑" panose="020B0503020204020204" charset="-122"/>
            </a:endParaRPr>
          </a:p>
        </p:txBody>
      </p:sp>
      <p:sp>
        <p:nvSpPr>
          <p:cNvPr id="9" name="object 9"/>
          <p:cNvSpPr/>
          <p:nvPr/>
        </p:nvSpPr>
        <p:spPr>
          <a:xfrm>
            <a:off x="522361" y="1931857"/>
            <a:ext cx="625436" cy="740138"/>
          </a:xfrm>
          <a:prstGeom prst="rect">
            <a:avLst/>
          </a:prstGeom>
          <a:blipFill>
            <a:blip r:embed="rId3"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1678259" y="1954701"/>
            <a:ext cx="770598" cy="694452"/>
          </a:xfrm>
          <a:prstGeom prst="rect">
            <a:avLst/>
          </a:prstGeom>
          <a:blipFill>
            <a:blip r:embed="rId4"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txBox="1"/>
          <p:nvPr/>
        </p:nvSpPr>
        <p:spPr>
          <a:xfrm>
            <a:off x="2784659" y="1875255"/>
            <a:ext cx="2532490" cy="445135"/>
          </a:xfrm>
          <a:prstGeom prst="rect">
            <a:avLst/>
          </a:prstGeom>
        </p:spPr>
        <p:txBody>
          <a:bodyPr vert="horz" wrap="square" lIns="0" tIns="11421" rIns="0" bIns="0" rtlCol="0">
            <a:spAutoFit/>
          </a:bodyPr>
          <a:lstStyle/>
          <a:p>
            <a:pPr marL="204470" marR="5080" indent="-192405">
              <a:lnSpc>
                <a:spcPct val="101000"/>
              </a:lnSpc>
              <a:spcBef>
                <a:spcPts val="90"/>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核心板产品提升了最终</a:t>
            </a:r>
            <a:r>
              <a:rPr sz="1400" spc="-15" dirty="0">
                <a:latin typeface="微软雅黑" panose="020B0503020204020204" charset="-122"/>
                <a:ea typeface="微软雅黑" panose="020B0503020204020204" charset="-122"/>
                <a:cs typeface="微软雅黑" panose="020B0503020204020204" charset="-122"/>
              </a:rPr>
              <a:t>客</a:t>
            </a:r>
            <a:r>
              <a:rPr sz="1400" dirty="0">
                <a:latin typeface="微软雅黑" panose="020B0503020204020204" charset="-122"/>
                <a:ea typeface="微软雅黑" panose="020B0503020204020204" charset="-122"/>
                <a:cs typeface="微软雅黑" panose="020B0503020204020204" charset="-122"/>
              </a:rPr>
              <a:t>户的 价格</a:t>
            </a:r>
            <a:endParaRPr sz="1400">
              <a:latin typeface="微软雅黑" panose="020B0503020204020204" charset="-122"/>
              <a:ea typeface="微软雅黑" panose="020B0503020204020204" charset="-122"/>
              <a:cs typeface="微软雅黑" panose="020B0503020204020204" charset="-122"/>
            </a:endParaRPr>
          </a:p>
        </p:txBody>
      </p:sp>
      <p:sp>
        <p:nvSpPr>
          <p:cNvPr id="12" name="object 12"/>
          <p:cNvSpPr txBox="1"/>
          <p:nvPr/>
        </p:nvSpPr>
        <p:spPr>
          <a:xfrm>
            <a:off x="5591402" y="1834136"/>
            <a:ext cx="3054725" cy="700405"/>
          </a:xfrm>
          <a:prstGeom prst="rect">
            <a:avLst/>
          </a:prstGeom>
        </p:spPr>
        <p:txBody>
          <a:bodyPr vert="horz" wrap="square" lIns="0" tIns="57109" rIns="0" bIns="0" rtlCol="0">
            <a:spAutoFit/>
          </a:bodyPr>
          <a:lstStyle/>
          <a:p>
            <a:pPr marL="204470" indent="-192405">
              <a:lnSpc>
                <a:spcPts val="1675"/>
              </a:lnSpc>
              <a:spcBef>
                <a:spcPts val="450"/>
              </a:spcBef>
              <a:buClr>
                <a:srgbClr val="00295F"/>
              </a:buClr>
              <a:buSzPct val="125000"/>
              <a:buChar char="▪"/>
              <a:tabLst>
                <a:tab pos="204470" algn="l"/>
              </a:tabLst>
            </a:pPr>
            <a:r>
              <a:rPr sz="1400" spc="-5" dirty="0">
                <a:latin typeface="微软雅黑" panose="020B0503020204020204" charset="-122"/>
                <a:ea typeface="微软雅黑" panose="020B0503020204020204" charset="-122"/>
                <a:cs typeface="微软雅黑" panose="020B0503020204020204" charset="-122"/>
              </a:rPr>
              <a:t>1979-1996</a:t>
            </a:r>
            <a:r>
              <a:rPr sz="1400" dirty="0">
                <a:latin typeface="微软雅黑" panose="020B0503020204020204" charset="-122"/>
                <a:ea typeface="微软雅黑" panose="020B0503020204020204" charset="-122"/>
                <a:cs typeface="微软雅黑" panose="020B0503020204020204" charset="-122"/>
              </a:rPr>
              <a:t>间业</a:t>
            </a:r>
            <a:r>
              <a:rPr sz="1400" spc="-10" dirty="0">
                <a:latin typeface="微软雅黑" panose="020B0503020204020204" charset="-122"/>
                <a:ea typeface="微软雅黑" panose="020B0503020204020204" charset="-122"/>
                <a:cs typeface="微软雅黑" panose="020B0503020204020204" charset="-122"/>
              </a:rPr>
              <a:t>绩</a:t>
            </a:r>
            <a:r>
              <a:rPr sz="1400" spc="-5" dirty="0">
                <a:latin typeface="微软雅黑" panose="020B0503020204020204" charset="-122"/>
                <a:ea typeface="微软雅黑" panose="020B0503020204020204" charset="-122"/>
                <a:cs typeface="微软雅黑" panose="020B0503020204020204" charset="-122"/>
              </a:rPr>
              <a:t>比</a:t>
            </a:r>
            <a:r>
              <a:rPr sz="1400" dirty="0">
                <a:latin typeface="微软雅黑" panose="020B0503020204020204" charset="-122"/>
                <a:ea typeface="微软雅黑" panose="020B0503020204020204" charset="-122"/>
                <a:cs typeface="微软雅黑" panose="020B0503020204020204" charset="-122"/>
              </a:rPr>
              <a:t>S&amp;P</a:t>
            </a:r>
            <a:r>
              <a:rPr sz="1400" spc="-90" dirty="0">
                <a:latin typeface="微软雅黑" panose="020B0503020204020204" charset="-122"/>
                <a:ea typeface="微软雅黑" panose="020B0503020204020204" charset="-122"/>
                <a:cs typeface="微软雅黑" panose="020B0503020204020204" charset="-122"/>
              </a:rPr>
              <a:t> </a:t>
            </a:r>
            <a:r>
              <a:rPr sz="1400" dirty="0">
                <a:latin typeface="微软雅黑" panose="020B0503020204020204" charset="-122"/>
                <a:ea typeface="微软雅黑" panose="020B0503020204020204" charset="-122"/>
                <a:cs typeface="微软雅黑" panose="020B0503020204020204" charset="-122"/>
              </a:rPr>
              <a:t>500</a:t>
            </a:r>
            <a:r>
              <a:rPr sz="1400" spc="-40" dirty="0">
                <a:latin typeface="微软雅黑" panose="020B0503020204020204" charset="-122"/>
                <a:ea typeface="微软雅黑" panose="020B0503020204020204" charset="-122"/>
                <a:cs typeface="微软雅黑" panose="020B0503020204020204" charset="-122"/>
              </a:rPr>
              <a:t> </a:t>
            </a:r>
            <a:r>
              <a:rPr sz="1400" dirty="0">
                <a:latin typeface="微软雅黑" panose="020B0503020204020204" charset="-122"/>
                <a:ea typeface="微软雅黑" panose="020B0503020204020204" charset="-122"/>
                <a:cs typeface="微软雅黑" panose="020B0503020204020204" charset="-122"/>
              </a:rPr>
              <a:t>公司超</a:t>
            </a:r>
            <a:endParaRPr sz="1400">
              <a:latin typeface="微软雅黑" panose="020B0503020204020204" charset="-122"/>
              <a:ea typeface="微软雅黑" panose="020B0503020204020204" charset="-122"/>
              <a:cs typeface="微软雅黑" panose="020B0503020204020204" charset="-122"/>
            </a:endParaRPr>
          </a:p>
          <a:p>
            <a:pPr marL="204470">
              <a:lnSpc>
                <a:spcPts val="1675"/>
              </a:lnSpc>
            </a:pPr>
            <a:r>
              <a:rPr sz="1400" spc="-5" dirty="0">
                <a:latin typeface="微软雅黑" panose="020B0503020204020204" charset="-122"/>
                <a:ea typeface="微软雅黑" panose="020B0503020204020204" charset="-122"/>
                <a:cs typeface="微软雅黑" panose="020B0503020204020204" charset="-122"/>
              </a:rPr>
              <a:t>2</a:t>
            </a:r>
            <a:r>
              <a:rPr sz="1400" dirty="0">
                <a:latin typeface="微软雅黑" panose="020B0503020204020204" charset="-122"/>
                <a:ea typeface="微软雅黑" panose="020B0503020204020204" charset="-122"/>
                <a:cs typeface="微软雅黑" panose="020B0503020204020204" charset="-122"/>
              </a:rPr>
              <a:t>倍</a:t>
            </a:r>
            <a:endParaRPr sz="1400">
              <a:latin typeface="微软雅黑" panose="020B0503020204020204" charset="-122"/>
              <a:ea typeface="微软雅黑" panose="020B0503020204020204" charset="-122"/>
              <a:cs typeface="微软雅黑" panose="020B0503020204020204" charset="-122"/>
            </a:endParaRPr>
          </a:p>
        </p:txBody>
      </p:sp>
      <p:sp>
        <p:nvSpPr>
          <p:cNvPr id="13" name="object 13"/>
          <p:cNvSpPr/>
          <p:nvPr/>
        </p:nvSpPr>
        <p:spPr>
          <a:xfrm>
            <a:off x="1708716" y="3699968"/>
            <a:ext cx="712727" cy="604600"/>
          </a:xfrm>
          <a:prstGeom prst="rect">
            <a:avLst/>
          </a:prstGeom>
          <a:blipFill>
            <a:blip r:embed="rId5"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359408" y="3873581"/>
            <a:ext cx="960963" cy="296403"/>
          </a:xfrm>
          <a:prstGeom prst="rect">
            <a:avLst/>
          </a:prstGeom>
          <a:blipFill>
            <a:blip r:embed="rId6"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txBox="1"/>
          <p:nvPr/>
        </p:nvSpPr>
        <p:spPr>
          <a:xfrm>
            <a:off x="2784659" y="3576358"/>
            <a:ext cx="2532490" cy="445135"/>
          </a:xfrm>
          <a:prstGeom prst="rect">
            <a:avLst/>
          </a:prstGeom>
        </p:spPr>
        <p:txBody>
          <a:bodyPr vert="horz" wrap="square" lIns="0" tIns="11421" rIns="0" bIns="0" rtlCol="0">
            <a:spAutoFit/>
          </a:bodyPr>
          <a:lstStyle/>
          <a:p>
            <a:pPr marL="204470" marR="5080" indent="-192405">
              <a:lnSpc>
                <a:spcPct val="101000"/>
              </a:lnSpc>
              <a:spcBef>
                <a:spcPts val="90"/>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通过新喷涂技术改善了</a:t>
            </a:r>
            <a:r>
              <a:rPr sz="1400" spc="-15" dirty="0">
                <a:latin typeface="微软雅黑" panose="020B0503020204020204" charset="-122"/>
                <a:ea typeface="微软雅黑" panose="020B0503020204020204" charset="-122"/>
                <a:cs typeface="微软雅黑" panose="020B0503020204020204" charset="-122"/>
              </a:rPr>
              <a:t>汽</a:t>
            </a:r>
            <a:r>
              <a:rPr sz="1400" dirty="0">
                <a:latin typeface="微软雅黑" panose="020B0503020204020204" charset="-122"/>
                <a:ea typeface="微软雅黑" panose="020B0503020204020204" charset="-122"/>
                <a:cs typeface="微软雅黑" panose="020B0503020204020204" charset="-122"/>
              </a:rPr>
              <a:t>车喷 漆性能</a:t>
            </a:r>
            <a:endParaRPr sz="1400">
              <a:latin typeface="微软雅黑" panose="020B0503020204020204" charset="-122"/>
              <a:ea typeface="微软雅黑" panose="020B0503020204020204" charset="-122"/>
              <a:cs typeface="微软雅黑" panose="020B0503020204020204" charset="-122"/>
            </a:endParaRPr>
          </a:p>
        </p:txBody>
      </p:sp>
      <p:sp>
        <p:nvSpPr>
          <p:cNvPr id="16" name="object 16"/>
          <p:cNvSpPr txBox="1"/>
          <p:nvPr/>
        </p:nvSpPr>
        <p:spPr>
          <a:xfrm>
            <a:off x="5591402" y="3577881"/>
            <a:ext cx="2986194" cy="443230"/>
          </a:xfrm>
          <a:prstGeom prst="rect">
            <a:avLst/>
          </a:prstGeom>
        </p:spPr>
        <p:txBody>
          <a:bodyPr vert="horz" wrap="square" lIns="0" tIns="12691" rIns="0" bIns="0" rtlCol="0">
            <a:spAutoFit/>
          </a:bodyPr>
          <a:lstStyle/>
          <a:p>
            <a:pPr marL="204470" indent="-192405">
              <a:lnSpc>
                <a:spcPct val="100000"/>
              </a:lnSpc>
              <a:spcBef>
                <a:spcPts val="100"/>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利润提高 </a:t>
            </a:r>
            <a:r>
              <a:rPr sz="1400" spc="-5" dirty="0">
                <a:latin typeface="微软雅黑" panose="020B0503020204020204" charset="-122"/>
                <a:ea typeface="微软雅黑" panose="020B0503020204020204" charset="-122"/>
                <a:cs typeface="微软雅黑" panose="020B0503020204020204" charset="-122"/>
              </a:rPr>
              <a:t>20%</a:t>
            </a:r>
            <a:r>
              <a:rPr sz="1400" spc="-20" dirty="0">
                <a:latin typeface="微软雅黑" panose="020B0503020204020204" charset="-122"/>
                <a:ea typeface="微软雅黑" panose="020B0503020204020204" charset="-122"/>
                <a:cs typeface="微软雅黑" panose="020B0503020204020204" charset="-122"/>
              </a:rPr>
              <a:t> </a:t>
            </a:r>
            <a:r>
              <a:rPr sz="1400" dirty="0">
                <a:latin typeface="微软雅黑" panose="020B0503020204020204" charset="-122"/>
                <a:ea typeface="微软雅黑" panose="020B0503020204020204" charset="-122"/>
                <a:cs typeface="微软雅黑" panose="020B0503020204020204" charset="-122"/>
              </a:rPr>
              <a:t>，相对于市场增长的</a:t>
            </a:r>
            <a:endParaRPr sz="1400">
              <a:latin typeface="微软雅黑" panose="020B0503020204020204" charset="-122"/>
              <a:ea typeface="微软雅黑" panose="020B0503020204020204" charset="-122"/>
              <a:cs typeface="微软雅黑" panose="020B0503020204020204" charset="-122"/>
            </a:endParaRPr>
          </a:p>
          <a:p>
            <a:pPr marL="204470">
              <a:lnSpc>
                <a:spcPct val="100000"/>
              </a:lnSpc>
              <a:spcBef>
                <a:spcPts val="5"/>
              </a:spcBef>
            </a:pPr>
            <a:r>
              <a:rPr sz="1400" spc="-5" dirty="0">
                <a:latin typeface="微软雅黑" panose="020B0503020204020204" charset="-122"/>
                <a:ea typeface="微软雅黑" panose="020B0503020204020204" charset="-122"/>
                <a:cs typeface="微软雅黑" panose="020B0503020204020204" charset="-122"/>
              </a:rPr>
              <a:t>2</a:t>
            </a:r>
            <a:r>
              <a:rPr sz="1400" dirty="0">
                <a:latin typeface="微软雅黑" panose="020B0503020204020204" charset="-122"/>
                <a:ea typeface="微软雅黑" panose="020B0503020204020204" charset="-122"/>
                <a:cs typeface="微软雅黑" panose="020B0503020204020204" charset="-122"/>
              </a:rPr>
              <a:t>倍</a:t>
            </a:r>
            <a:endParaRPr sz="1400">
              <a:latin typeface="微软雅黑" panose="020B0503020204020204" charset="-122"/>
              <a:ea typeface="微软雅黑" panose="020B0503020204020204" charset="-122"/>
              <a:cs typeface="微软雅黑" panose="020B0503020204020204" charset="-122"/>
            </a:endParaRPr>
          </a:p>
        </p:txBody>
      </p:sp>
      <p:sp>
        <p:nvSpPr>
          <p:cNvPr id="17" name="object 17"/>
          <p:cNvSpPr/>
          <p:nvPr/>
        </p:nvSpPr>
        <p:spPr>
          <a:xfrm>
            <a:off x="1609726" y="1213039"/>
            <a:ext cx="907661" cy="475151"/>
          </a:xfrm>
          <a:prstGeom prst="rect">
            <a:avLst/>
          </a:prstGeom>
          <a:blipFill>
            <a:blip r:embed="rId7"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p:nvPr/>
        </p:nvSpPr>
        <p:spPr>
          <a:xfrm>
            <a:off x="264987" y="1627273"/>
            <a:ext cx="1151328" cy="130970"/>
          </a:xfrm>
          <a:prstGeom prst="rect">
            <a:avLst/>
          </a:prstGeom>
          <a:blipFill>
            <a:blip r:embed="rId8"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p:nvPr/>
        </p:nvSpPr>
        <p:spPr>
          <a:xfrm>
            <a:off x="606121" y="1209993"/>
            <a:ext cx="488858" cy="382253"/>
          </a:xfrm>
          <a:prstGeom prst="rect">
            <a:avLst/>
          </a:prstGeom>
          <a:blipFill>
            <a:blip r:embed="rId9"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txBox="1"/>
          <p:nvPr/>
        </p:nvSpPr>
        <p:spPr>
          <a:xfrm>
            <a:off x="2784659" y="1023435"/>
            <a:ext cx="2532490" cy="445135"/>
          </a:xfrm>
          <a:prstGeom prst="rect">
            <a:avLst/>
          </a:prstGeom>
        </p:spPr>
        <p:txBody>
          <a:bodyPr vert="horz" wrap="square" lIns="0" tIns="11421" rIns="0" bIns="0" rtlCol="0">
            <a:spAutoFit/>
          </a:bodyPr>
          <a:lstStyle/>
          <a:p>
            <a:pPr marL="204470" marR="5080" indent="-192405">
              <a:lnSpc>
                <a:spcPct val="101000"/>
              </a:lnSpc>
              <a:spcBef>
                <a:spcPts val="90"/>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锻造车轮为卡车车队所</a:t>
            </a:r>
            <a:r>
              <a:rPr sz="1400" spc="-15" dirty="0">
                <a:latin typeface="微软雅黑" panose="020B0503020204020204" charset="-122"/>
                <a:ea typeface="微软雅黑" panose="020B0503020204020204" charset="-122"/>
                <a:cs typeface="微软雅黑" panose="020B0503020204020204" charset="-122"/>
              </a:rPr>
              <a:t>有</a:t>
            </a:r>
            <a:r>
              <a:rPr sz="1400" dirty="0">
                <a:latin typeface="微软雅黑" panose="020B0503020204020204" charset="-122"/>
                <a:ea typeface="微软雅黑" panose="020B0503020204020204" charset="-122"/>
                <a:cs typeface="微软雅黑" panose="020B0503020204020204" charset="-122"/>
              </a:rPr>
              <a:t>者节 约了总持有成本</a:t>
            </a:r>
            <a:endParaRPr sz="1400">
              <a:latin typeface="微软雅黑" panose="020B0503020204020204" charset="-122"/>
              <a:ea typeface="微软雅黑" panose="020B0503020204020204" charset="-122"/>
              <a:cs typeface="微软雅黑" panose="020B0503020204020204" charset="-122"/>
            </a:endParaRPr>
          </a:p>
        </p:txBody>
      </p:sp>
      <p:sp>
        <p:nvSpPr>
          <p:cNvPr id="21" name="object 21"/>
          <p:cNvSpPr txBox="1"/>
          <p:nvPr/>
        </p:nvSpPr>
        <p:spPr>
          <a:xfrm>
            <a:off x="5591402" y="1024958"/>
            <a:ext cx="1682827" cy="658495"/>
          </a:xfrm>
          <a:prstGeom prst="rect">
            <a:avLst/>
          </a:prstGeom>
        </p:spPr>
        <p:txBody>
          <a:bodyPr vert="horz" wrap="square" lIns="0" tIns="13325" rIns="0" bIns="0" rtlCol="0">
            <a:spAutoFit/>
          </a:bodyPr>
          <a:lstStyle/>
          <a:p>
            <a:pPr marL="204470" indent="-192405">
              <a:lnSpc>
                <a:spcPct val="100000"/>
              </a:lnSpc>
              <a:spcBef>
                <a:spcPts val="105"/>
              </a:spcBef>
              <a:buClr>
                <a:srgbClr val="00295F"/>
              </a:buClr>
              <a:buSzPct val="125000"/>
              <a:buChar char="▪"/>
              <a:tabLst>
                <a:tab pos="204470" algn="l"/>
              </a:tabLst>
            </a:pPr>
            <a:r>
              <a:rPr sz="1400" dirty="0">
                <a:latin typeface="微软雅黑" panose="020B0503020204020204" charset="-122"/>
                <a:ea typeface="微软雅黑" panose="020B0503020204020204" charset="-122"/>
                <a:cs typeface="微软雅黑" panose="020B0503020204020204" charset="-122"/>
              </a:rPr>
              <a:t>EBIT提升</a:t>
            </a:r>
            <a:r>
              <a:rPr sz="1400" spc="-5" dirty="0">
                <a:latin typeface="微软雅黑" panose="020B0503020204020204" charset="-122"/>
                <a:ea typeface="微软雅黑" panose="020B0503020204020204" charset="-122"/>
                <a:cs typeface="微软雅黑" panose="020B0503020204020204" charset="-122"/>
              </a:rPr>
              <a:t>10%</a:t>
            </a:r>
            <a:r>
              <a:rPr sz="1400" dirty="0">
                <a:latin typeface="微软雅黑" panose="020B0503020204020204" charset="-122"/>
                <a:ea typeface="微软雅黑" panose="020B0503020204020204" charset="-122"/>
                <a:cs typeface="微软雅黑" panose="020B0503020204020204" charset="-122"/>
              </a:rPr>
              <a:t>以上</a:t>
            </a:r>
            <a:endParaRPr sz="1400">
              <a:latin typeface="微软雅黑" panose="020B0503020204020204" charset="-122"/>
              <a:ea typeface="微软雅黑" panose="020B0503020204020204" charset="-122"/>
              <a:cs typeface="微软雅黑" panose="020B0503020204020204" charset="-122"/>
            </a:endParaRPr>
          </a:p>
          <a:p>
            <a:pPr marL="204470" indent="-192405">
              <a:lnSpc>
                <a:spcPct val="100000"/>
              </a:lnSpc>
              <a:buClr>
                <a:srgbClr val="00295F"/>
              </a:buClr>
              <a:buSzPct val="125000"/>
              <a:buChar char="▪"/>
              <a:tabLst>
                <a:tab pos="204470" algn="l"/>
              </a:tabLst>
            </a:pPr>
            <a:r>
              <a:rPr sz="1400" spc="-5" dirty="0">
                <a:latin typeface="微软雅黑" panose="020B0503020204020204" charset="-122"/>
                <a:ea typeface="微软雅黑" panose="020B0503020204020204" charset="-122"/>
                <a:cs typeface="微软雅黑" panose="020B0503020204020204" charset="-122"/>
              </a:rPr>
              <a:t>3</a:t>
            </a:r>
            <a:r>
              <a:rPr sz="1400" dirty="0">
                <a:latin typeface="微软雅黑" panose="020B0503020204020204" charset="-122"/>
                <a:ea typeface="微软雅黑" panose="020B0503020204020204" charset="-122"/>
                <a:cs typeface="微软雅黑" panose="020B0503020204020204" charset="-122"/>
              </a:rPr>
              <a:t>年销售翻倍</a:t>
            </a:r>
            <a:endParaRPr sz="1400">
              <a:latin typeface="微软雅黑" panose="020B0503020204020204" charset="-122"/>
              <a:ea typeface="微软雅黑" panose="020B0503020204020204" charset="-122"/>
              <a:cs typeface="微软雅黑" panose="020B0503020204020204" charset="-122"/>
            </a:endParaRPr>
          </a:p>
        </p:txBody>
      </p:sp>
      <p:sp>
        <p:nvSpPr>
          <p:cNvPr id="22" name="object 22"/>
          <p:cNvSpPr/>
          <p:nvPr/>
        </p:nvSpPr>
        <p:spPr>
          <a:xfrm>
            <a:off x="1612773" y="4641133"/>
            <a:ext cx="903092" cy="170566"/>
          </a:xfrm>
          <a:prstGeom prst="rect">
            <a:avLst/>
          </a:prstGeom>
          <a:blipFill>
            <a:blip r:embed="rId10"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p:nvPr/>
        </p:nvSpPr>
        <p:spPr>
          <a:xfrm>
            <a:off x="1612773" y="4889369"/>
            <a:ext cx="903092" cy="164475"/>
          </a:xfrm>
          <a:prstGeom prst="rect">
            <a:avLst/>
          </a:prstGeom>
          <a:blipFill>
            <a:blip r:embed="rId1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txBox="1"/>
          <p:nvPr/>
        </p:nvSpPr>
        <p:spPr>
          <a:xfrm>
            <a:off x="2784659" y="4426782"/>
            <a:ext cx="2532490" cy="445135"/>
          </a:xfrm>
          <a:prstGeom prst="rect">
            <a:avLst/>
          </a:prstGeom>
        </p:spPr>
        <p:txBody>
          <a:bodyPr vert="horz" wrap="square" lIns="0" tIns="11421" rIns="0" bIns="0" rtlCol="0">
            <a:spAutoFit/>
          </a:bodyPr>
          <a:lstStyle/>
          <a:p>
            <a:pPr marL="204470" marR="5080" indent="-192405">
              <a:lnSpc>
                <a:spcPct val="101000"/>
              </a:lnSpc>
              <a:spcBef>
                <a:spcPts val="90"/>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钢铁产品和应用为客户</a:t>
            </a:r>
            <a:r>
              <a:rPr sz="1400" spc="-15" dirty="0">
                <a:latin typeface="微软雅黑" panose="020B0503020204020204" charset="-122"/>
                <a:ea typeface="微软雅黑" panose="020B0503020204020204" charset="-122"/>
                <a:cs typeface="微软雅黑" panose="020B0503020204020204" charset="-122"/>
              </a:rPr>
              <a:t>降</a:t>
            </a:r>
            <a:r>
              <a:rPr sz="1400" dirty="0">
                <a:latin typeface="微软雅黑" panose="020B0503020204020204" charset="-122"/>
                <a:ea typeface="微软雅黑" panose="020B0503020204020204" charset="-122"/>
                <a:cs typeface="微软雅黑" panose="020B0503020204020204" charset="-122"/>
              </a:rPr>
              <a:t>低了 系统成本</a:t>
            </a:r>
            <a:endParaRPr sz="1400">
              <a:latin typeface="微软雅黑" panose="020B0503020204020204" charset="-122"/>
              <a:ea typeface="微软雅黑" panose="020B0503020204020204" charset="-122"/>
              <a:cs typeface="微软雅黑" panose="020B0503020204020204" charset="-122"/>
            </a:endParaRPr>
          </a:p>
        </p:txBody>
      </p:sp>
      <p:sp>
        <p:nvSpPr>
          <p:cNvPr id="25" name="object 25"/>
          <p:cNvSpPr txBox="1"/>
          <p:nvPr/>
        </p:nvSpPr>
        <p:spPr>
          <a:xfrm>
            <a:off x="5591402" y="4384140"/>
            <a:ext cx="2986194" cy="487045"/>
          </a:xfrm>
          <a:prstGeom prst="rect">
            <a:avLst/>
          </a:prstGeom>
        </p:spPr>
        <p:txBody>
          <a:bodyPr vert="horz" wrap="square" lIns="0" tIns="57109" rIns="0" bIns="0" rtlCol="0">
            <a:spAutoFit/>
          </a:bodyPr>
          <a:lstStyle/>
          <a:p>
            <a:pPr marL="204470" indent="-192405">
              <a:lnSpc>
                <a:spcPct val="100000"/>
              </a:lnSpc>
              <a:spcBef>
                <a:spcPts val="450"/>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年增长</a:t>
            </a:r>
            <a:r>
              <a:rPr sz="1400" spc="15" dirty="0">
                <a:latin typeface="微软雅黑" panose="020B0503020204020204" charset="-122"/>
                <a:ea typeface="微软雅黑" panose="020B0503020204020204" charset="-122"/>
                <a:cs typeface="微软雅黑" panose="020B0503020204020204" charset="-122"/>
              </a:rPr>
              <a:t> </a:t>
            </a:r>
            <a:r>
              <a:rPr sz="1400" spc="-5" dirty="0">
                <a:latin typeface="微软雅黑" panose="020B0503020204020204" charset="-122"/>
                <a:ea typeface="微软雅黑" panose="020B0503020204020204" charset="-122"/>
                <a:cs typeface="微软雅黑" panose="020B0503020204020204" charset="-122"/>
              </a:rPr>
              <a:t>10%</a:t>
            </a:r>
            <a:r>
              <a:rPr sz="1400" spc="-15" dirty="0">
                <a:latin typeface="微软雅黑" panose="020B0503020204020204" charset="-122"/>
                <a:ea typeface="微软雅黑" panose="020B0503020204020204" charset="-122"/>
                <a:cs typeface="微软雅黑" panose="020B0503020204020204" charset="-122"/>
              </a:rPr>
              <a:t> </a:t>
            </a:r>
            <a:r>
              <a:rPr sz="1400" dirty="0">
                <a:latin typeface="微软雅黑" panose="020B0503020204020204" charset="-122"/>
                <a:ea typeface="微软雅黑" panose="020B0503020204020204" charset="-122"/>
                <a:cs typeface="微软雅黑" panose="020B0503020204020204" charset="-122"/>
              </a:rPr>
              <a:t>，溢价率</a:t>
            </a:r>
            <a:r>
              <a:rPr sz="1400" spc="-10" dirty="0">
                <a:latin typeface="微软雅黑" panose="020B0503020204020204" charset="-122"/>
                <a:ea typeface="微软雅黑" panose="020B0503020204020204" charset="-122"/>
                <a:cs typeface="微软雅黑" panose="020B0503020204020204" charset="-122"/>
              </a:rPr>
              <a:t>为</a:t>
            </a:r>
            <a:r>
              <a:rPr sz="1400" spc="-5" dirty="0">
                <a:latin typeface="微软雅黑" panose="020B0503020204020204" charset="-122"/>
                <a:ea typeface="微软雅黑" panose="020B0503020204020204" charset="-122"/>
                <a:cs typeface="微软雅黑" panose="020B0503020204020204" charset="-122"/>
              </a:rPr>
              <a:t>5-10%</a:t>
            </a:r>
            <a:endParaRPr sz="1400">
              <a:latin typeface="微软雅黑" panose="020B0503020204020204" charset="-122"/>
              <a:ea typeface="微软雅黑" panose="020B0503020204020204" charset="-122"/>
              <a:cs typeface="微软雅黑" panose="020B0503020204020204" charset="-122"/>
            </a:endParaRPr>
          </a:p>
          <a:p>
            <a:pPr marL="204470" indent="-192405">
              <a:lnSpc>
                <a:spcPct val="100000"/>
              </a:lnSpc>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与竞争对手相比，是市</a:t>
            </a:r>
            <a:r>
              <a:rPr sz="1400" spc="-15" dirty="0">
                <a:latin typeface="微软雅黑" panose="020B0503020204020204" charset="-122"/>
                <a:ea typeface="微软雅黑" panose="020B0503020204020204" charset="-122"/>
                <a:cs typeface="微软雅黑" panose="020B0503020204020204" charset="-122"/>
              </a:rPr>
              <a:t>场</a:t>
            </a:r>
            <a:r>
              <a:rPr sz="1400" dirty="0">
                <a:latin typeface="微软雅黑" panose="020B0503020204020204" charset="-122"/>
                <a:ea typeface="微软雅黑" panose="020B0503020204020204" charset="-122"/>
                <a:cs typeface="微软雅黑" panose="020B0503020204020204" charset="-122"/>
              </a:rPr>
              <a:t>增长</a:t>
            </a:r>
            <a:r>
              <a:rPr sz="1400" spc="-10" dirty="0">
                <a:latin typeface="微软雅黑" panose="020B0503020204020204" charset="-122"/>
                <a:ea typeface="微软雅黑" panose="020B0503020204020204" charset="-122"/>
                <a:cs typeface="微软雅黑" panose="020B0503020204020204" charset="-122"/>
              </a:rPr>
              <a:t>的</a:t>
            </a:r>
            <a:r>
              <a:rPr sz="1400" spc="-5" dirty="0">
                <a:latin typeface="微软雅黑" panose="020B0503020204020204" charset="-122"/>
                <a:ea typeface="微软雅黑" panose="020B0503020204020204" charset="-122"/>
                <a:cs typeface="微软雅黑" panose="020B0503020204020204" charset="-122"/>
              </a:rPr>
              <a:t>2</a:t>
            </a:r>
            <a:r>
              <a:rPr sz="1400" dirty="0">
                <a:latin typeface="微软雅黑" panose="020B0503020204020204" charset="-122"/>
                <a:ea typeface="微软雅黑" panose="020B0503020204020204" charset="-122"/>
                <a:cs typeface="微软雅黑" panose="020B0503020204020204" charset="-122"/>
              </a:rPr>
              <a:t>倍</a:t>
            </a:r>
            <a:endParaRPr sz="1400">
              <a:latin typeface="微软雅黑" panose="020B0503020204020204" charset="-122"/>
              <a:ea typeface="微软雅黑" panose="020B0503020204020204" charset="-122"/>
              <a:cs typeface="微软雅黑" panose="020B0503020204020204" charset="-122"/>
            </a:endParaRPr>
          </a:p>
        </p:txBody>
      </p:sp>
      <p:sp>
        <p:nvSpPr>
          <p:cNvPr id="26" name="object 26"/>
          <p:cNvSpPr/>
          <p:nvPr/>
        </p:nvSpPr>
        <p:spPr>
          <a:xfrm>
            <a:off x="1730038" y="5394979"/>
            <a:ext cx="667039" cy="647241"/>
          </a:xfrm>
          <a:prstGeom prst="rect">
            <a:avLst/>
          </a:prstGeom>
          <a:blipFill>
            <a:blip r:embed="rId12"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27" name="object 27"/>
          <p:cNvSpPr/>
          <p:nvPr/>
        </p:nvSpPr>
        <p:spPr>
          <a:xfrm>
            <a:off x="264987" y="5541178"/>
            <a:ext cx="1151328" cy="490380"/>
          </a:xfrm>
          <a:prstGeom prst="rect">
            <a:avLst/>
          </a:prstGeom>
          <a:blipFill>
            <a:blip r:embed="rId13"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txBox="1"/>
          <p:nvPr/>
        </p:nvSpPr>
        <p:spPr>
          <a:xfrm>
            <a:off x="5591402" y="5278729"/>
            <a:ext cx="2272325" cy="443230"/>
          </a:xfrm>
          <a:prstGeom prst="rect">
            <a:avLst/>
          </a:prstGeom>
        </p:spPr>
        <p:txBody>
          <a:bodyPr vert="horz" wrap="square" lIns="0" tIns="12691" rIns="0" bIns="0" rtlCol="0">
            <a:spAutoFit/>
          </a:bodyPr>
          <a:lstStyle/>
          <a:p>
            <a:pPr marL="204470" indent="-192405">
              <a:lnSpc>
                <a:spcPct val="100000"/>
              </a:lnSpc>
              <a:spcBef>
                <a:spcPts val="100"/>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过去</a:t>
            </a:r>
            <a:r>
              <a:rPr sz="1400" spc="-5" dirty="0">
                <a:latin typeface="微软雅黑" panose="020B0503020204020204" charset="-122"/>
                <a:ea typeface="微软雅黑" panose="020B0503020204020204" charset="-122"/>
                <a:cs typeface="微软雅黑" panose="020B0503020204020204" charset="-122"/>
              </a:rPr>
              <a:t>7</a:t>
            </a:r>
            <a:r>
              <a:rPr sz="1400" dirty="0">
                <a:latin typeface="微软雅黑" panose="020B0503020204020204" charset="-122"/>
                <a:ea typeface="微软雅黑" panose="020B0503020204020204" charset="-122"/>
                <a:cs typeface="微软雅黑" panose="020B0503020204020204" charset="-122"/>
              </a:rPr>
              <a:t>年收入增长</a:t>
            </a:r>
            <a:r>
              <a:rPr sz="1400" spc="-20" dirty="0">
                <a:latin typeface="微软雅黑" panose="020B0503020204020204" charset="-122"/>
                <a:ea typeface="微软雅黑" panose="020B0503020204020204" charset="-122"/>
                <a:cs typeface="微软雅黑" panose="020B0503020204020204" charset="-122"/>
              </a:rPr>
              <a:t> </a:t>
            </a:r>
            <a:r>
              <a:rPr sz="1400" dirty="0">
                <a:latin typeface="微软雅黑" panose="020B0503020204020204" charset="-122"/>
                <a:ea typeface="微软雅黑" panose="020B0503020204020204" charset="-122"/>
                <a:cs typeface="微软雅黑" panose="020B0503020204020204" charset="-122"/>
              </a:rPr>
              <a:t>9%</a:t>
            </a:r>
            <a:r>
              <a:rPr sz="1400" spc="-35" dirty="0">
                <a:latin typeface="微软雅黑" panose="020B0503020204020204" charset="-122"/>
                <a:ea typeface="微软雅黑" panose="020B0503020204020204" charset="-122"/>
                <a:cs typeface="微软雅黑" panose="020B0503020204020204" charset="-122"/>
              </a:rPr>
              <a:t> </a:t>
            </a:r>
            <a:r>
              <a:rPr sz="1400" dirty="0">
                <a:latin typeface="微软雅黑" panose="020B0503020204020204" charset="-122"/>
                <a:ea typeface="微软雅黑" panose="020B0503020204020204" charset="-122"/>
                <a:cs typeface="微软雅黑" panose="020B0503020204020204" charset="-122"/>
              </a:rPr>
              <a:t>收入</a:t>
            </a:r>
            <a:endParaRPr sz="1400">
              <a:latin typeface="微软雅黑" panose="020B0503020204020204" charset="-122"/>
              <a:ea typeface="微软雅黑" panose="020B0503020204020204" charset="-122"/>
              <a:cs typeface="微软雅黑" panose="020B0503020204020204" charset="-122"/>
            </a:endParaRPr>
          </a:p>
          <a:p>
            <a:pPr marL="204470" indent="-192405">
              <a:lnSpc>
                <a:spcPct val="100000"/>
              </a:lnSpc>
              <a:spcBef>
                <a:spcPts val="5"/>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市场份额领先者</a:t>
            </a:r>
            <a:endParaRPr sz="1400">
              <a:latin typeface="微软雅黑" panose="020B0503020204020204" charset="-122"/>
              <a:ea typeface="微软雅黑" panose="020B0503020204020204" charset="-122"/>
              <a:cs typeface="微软雅黑" panose="020B0503020204020204" charset="-122"/>
            </a:endParaRPr>
          </a:p>
        </p:txBody>
      </p:sp>
      <p:sp>
        <p:nvSpPr>
          <p:cNvPr id="29" name="object 29"/>
          <p:cNvSpPr txBox="1"/>
          <p:nvPr/>
        </p:nvSpPr>
        <p:spPr>
          <a:xfrm>
            <a:off x="2784659" y="5277206"/>
            <a:ext cx="2532490" cy="444500"/>
          </a:xfrm>
          <a:prstGeom prst="rect">
            <a:avLst/>
          </a:prstGeom>
        </p:spPr>
        <p:txBody>
          <a:bodyPr vert="horz" wrap="square" lIns="0" tIns="10787" rIns="0" bIns="0" rtlCol="0">
            <a:spAutoFit/>
          </a:bodyPr>
          <a:lstStyle/>
          <a:p>
            <a:pPr marL="204470" marR="5080" indent="-192405">
              <a:lnSpc>
                <a:spcPct val="101000"/>
              </a:lnSpc>
              <a:spcBef>
                <a:spcPts val="85"/>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铁矿石粒主要设计目的</a:t>
            </a:r>
            <a:r>
              <a:rPr sz="1400" spc="-15" dirty="0">
                <a:latin typeface="微软雅黑" panose="020B0503020204020204" charset="-122"/>
                <a:ea typeface="微软雅黑" panose="020B0503020204020204" charset="-122"/>
                <a:cs typeface="微软雅黑" panose="020B0503020204020204" charset="-122"/>
              </a:rPr>
              <a:t>是</a:t>
            </a:r>
            <a:r>
              <a:rPr sz="1400" dirty="0">
                <a:latin typeface="微软雅黑" panose="020B0503020204020204" charset="-122"/>
                <a:ea typeface="微软雅黑" panose="020B0503020204020204" charset="-122"/>
                <a:cs typeface="微软雅黑" panose="020B0503020204020204" charset="-122"/>
              </a:rPr>
              <a:t>优化 高炉运营</a:t>
            </a:r>
            <a:endParaRPr sz="1400">
              <a:latin typeface="微软雅黑" panose="020B0503020204020204" charset="-122"/>
              <a:ea typeface="微软雅黑" panose="020B0503020204020204" charset="-122"/>
              <a:cs typeface="微软雅黑" panose="020B0503020204020204" charset="-122"/>
            </a:endParaRPr>
          </a:p>
        </p:txBody>
      </p:sp>
      <p:sp>
        <p:nvSpPr>
          <p:cNvPr id="30" name="object 30"/>
          <p:cNvSpPr/>
          <p:nvPr/>
        </p:nvSpPr>
        <p:spPr>
          <a:xfrm>
            <a:off x="2794558" y="984601"/>
            <a:ext cx="5992693" cy="0"/>
          </a:xfrm>
          <a:custGeom>
            <a:avLst/>
            <a:gdLst/>
            <a:ahLst/>
            <a:cxnLst/>
            <a:rect l="l" t="t" r="r" b="b"/>
            <a:pathLst>
              <a:path w="5996940">
                <a:moveTo>
                  <a:pt x="0" y="0"/>
                </a:moveTo>
                <a:lnTo>
                  <a:pt x="5996940" y="0"/>
                </a:lnTo>
              </a:path>
            </a:pathLst>
          </a:custGeom>
          <a:ln w="952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1" name="object 31"/>
          <p:cNvSpPr/>
          <p:nvPr/>
        </p:nvSpPr>
        <p:spPr>
          <a:xfrm>
            <a:off x="457536" y="4714110"/>
            <a:ext cx="204959" cy="277298"/>
          </a:xfrm>
          <a:custGeom>
            <a:avLst/>
            <a:gdLst/>
            <a:ahLst/>
            <a:cxnLst/>
            <a:rect l="l" t="t" r="r" b="b"/>
            <a:pathLst>
              <a:path w="205104" h="277495">
                <a:moveTo>
                  <a:pt x="16084" y="227367"/>
                </a:moveTo>
                <a:lnTo>
                  <a:pt x="8391" y="227367"/>
                </a:lnTo>
                <a:lnTo>
                  <a:pt x="4194" y="231565"/>
                </a:lnTo>
                <a:lnTo>
                  <a:pt x="2797" y="237862"/>
                </a:lnTo>
                <a:lnTo>
                  <a:pt x="0" y="253251"/>
                </a:lnTo>
                <a:lnTo>
                  <a:pt x="0" y="261647"/>
                </a:lnTo>
                <a:lnTo>
                  <a:pt x="3495" y="265843"/>
                </a:lnTo>
                <a:lnTo>
                  <a:pt x="9791" y="267243"/>
                </a:lnTo>
                <a:lnTo>
                  <a:pt x="23582" y="271134"/>
                </a:lnTo>
                <a:lnTo>
                  <a:pt x="38816" y="274238"/>
                </a:lnTo>
                <a:lnTo>
                  <a:pt x="54050" y="276293"/>
                </a:lnTo>
                <a:lnTo>
                  <a:pt x="67841" y="277037"/>
                </a:lnTo>
                <a:lnTo>
                  <a:pt x="79731" y="277037"/>
                </a:lnTo>
                <a:lnTo>
                  <a:pt x="123784" y="271276"/>
                </a:lnTo>
                <a:lnTo>
                  <a:pt x="157278" y="254563"/>
                </a:lnTo>
                <a:lnTo>
                  <a:pt x="169434" y="239259"/>
                </a:lnTo>
                <a:lnTo>
                  <a:pt x="74836" y="239259"/>
                </a:lnTo>
                <a:lnTo>
                  <a:pt x="60760" y="238396"/>
                </a:lnTo>
                <a:lnTo>
                  <a:pt x="45636" y="236024"/>
                </a:lnTo>
                <a:lnTo>
                  <a:pt x="30773" y="232471"/>
                </a:lnTo>
                <a:lnTo>
                  <a:pt x="17484" y="228066"/>
                </a:lnTo>
                <a:lnTo>
                  <a:pt x="16084" y="227367"/>
                </a:lnTo>
                <a:close/>
              </a:path>
              <a:path w="205104" h="277495">
                <a:moveTo>
                  <a:pt x="141981" y="0"/>
                </a:moveTo>
                <a:lnTo>
                  <a:pt x="91786" y="5095"/>
                </a:lnTo>
                <a:lnTo>
                  <a:pt x="34937" y="45461"/>
                </a:lnTo>
                <a:lnTo>
                  <a:pt x="26577" y="80465"/>
                </a:lnTo>
                <a:lnTo>
                  <a:pt x="30937" y="104302"/>
                </a:lnTo>
                <a:lnTo>
                  <a:pt x="42051" y="122693"/>
                </a:lnTo>
                <a:lnTo>
                  <a:pt x="56968" y="136232"/>
                </a:lnTo>
                <a:lnTo>
                  <a:pt x="72737" y="145513"/>
                </a:lnTo>
                <a:lnTo>
                  <a:pt x="104212" y="159514"/>
                </a:lnTo>
                <a:lnTo>
                  <a:pt x="117316" y="165591"/>
                </a:lnTo>
                <a:lnTo>
                  <a:pt x="127730" y="172977"/>
                </a:lnTo>
                <a:lnTo>
                  <a:pt x="134604" y="182724"/>
                </a:lnTo>
                <a:lnTo>
                  <a:pt x="137085" y="195886"/>
                </a:lnTo>
                <a:lnTo>
                  <a:pt x="133009" y="214764"/>
                </a:lnTo>
                <a:lnTo>
                  <a:pt x="121785" y="228329"/>
                </a:lnTo>
                <a:lnTo>
                  <a:pt x="104922" y="236516"/>
                </a:lnTo>
                <a:lnTo>
                  <a:pt x="83928" y="239259"/>
                </a:lnTo>
                <a:lnTo>
                  <a:pt x="169434" y="239259"/>
                </a:lnTo>
                <a:lnTo>
                  <a:pt x="178577" y="227750"/>
                </a:lnTo>
                <a:lnTo>
                  <a:pt x="186040" y="191688"/>
                </a:lnTo>
                <a:lnTo>
                  <a:pt x="181900" y="166416"/>
                </a:lnTo>
                <a:lnTo>
                  <a:pt x="170745" y="147442"/>
                </a:lnTo>
                <a:lnTo>
                  <a:pt x="154474" y="133451"/>
                </a:lnTo>
                <a:lnTo>
                  <a:pt x="134987" y="123130"/>
                </a:lnTo>
                <a:lnTo>
                  <a:pt x="101415" y="108444"/>
                </a:lnTo>
                <a:lnTo>
                  <a:pt x="91361" y="103323"/>
                </a:lnTo>
                <a:lnTo>
                  <a:pt x="82880" y="96892"/>
                </a:lnTo>
                <a:lnTo>
                  <a:pt x="77021" y="88363"/>
                </a:lnTo>
                <a:lnTo>
                  <a:pt x="74835" y="76947"/>
                </a:lnTo>
                <a:lnTo>
                  <a:pt x="79021" y="59621"/>
                </a:lnTo>
                <a:lnTo>
                  <a:pt x="90485" y="47401"/>
                </a:lnTo>
                <a:lnTo>
                  <a:pt x="107588" y="40162"/>
                </a:lnTo>
                <a:lnTo>
                  <a:pt x="128691" y="37777"/>
                </a:lnTo>
                <a:lnTo>
                  <a:pt x="201985" y="37777"/>
                </a:lnTo>
                <a:lnTo>
                  <a:pt x="202139" y="37092"/>
                </a:lnTo>
                <a:lnTo>
                  <a:pt x="204925" y="23091"/>
                </a:lnTo>
                <a:lnTo>
                  <a:pt x="204925" y="14685"/>
                </a:lnTo>
                <a:lnTo>
                  <a:pt x="201431" y="11191"/>
                </a:lnTo>
                <a:lnTo>
                  <a:pt x="181232" y="5020"/>
                </a:lnTo>
                <a:lnTo>
                  <a:pt x="167429" y="2189"/>
                </a:lnTo>
                <a:lnTo>
                  <a:pt x="154017" y="537"/>
                </a:lnTo>
                <a:lnTo>
                  <a:pt x="141981" y="0"/>
                </a:lnTo>
                <a:close/>
              </a:path>
              <a:path w="205104" h="277495">
                <a:moveTo>
                  <a:pt x="201985" y="37777"/>
                </a:moveTo>
                <a:lnTo>
                  <a:pt x="139184" y="37777"/>
                </a:lnTo>
                <a:lnTo>
                  <a:pt x="150254" y="38410"/>
                </a:lnTo>
                <a:lnTo>
                  <a:pt x="162700" y="40223"/>
                </a:lnTo>
                <a:lnTo>
                  <a:pt x="175280" y="43086"/>
                </a:lnTo>
                <a:lnTo>
                  <a:pt x="188849" y="47575"/>
                </a:lnTo>
                <a:lnTo>
                  <a:pt x="196545" y="47575"/>
                </a:lnTo>
                <a:lnTo>
                  <a:pt x="200723" y="43373"/>
                </a:lnTo>
                <a:lnTo>
                  <a:pt x="201985" y="37777"/>
                </a:lnTo>
                <a:close/>
              </a:path>
            </a:pathLst>
          </a:custGeom>
          <a:solidFill>
            <a:srgbClr val="002563"/>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2" name="object 32"/>
          <p:cNvSpPr/>
          <p:nvPr/>
        </p:nvSpPr>
        <p:spPr>
          <a:xfrm>
            <a:off x="645544" y="4714110"/>
            <a:ext cx="205594" cy="277298"/>
          </a:xfrm>
          <a:custGeom>
            <a:avLst/>
            <a:gdLst/>
            <a:ahLst/>
            <a:cxnLst/>
            <a:rect l="l" t="t" r="r" b="b"/>
            <a:pathLst>
              <a:path w="205740" h="277495">
                <a:moveTo>
                  <a:pt x="16783" y="227367"/>
                </a:moveTo>
                <a:lnTo>
                  <a:pt x="8403" y="227367"/>
                </a:lnTo>
                <a:lnTo>
                  <a:pt x="4886" y="231565"/>
                </a:lnTo>
                <a:lnTo>
                  <a:pt x="3372" y="238396"/>
                </a:lnTo>
                <a:lnTo>
                  <a:pt x="0" y="253251"/>
                </a:lnTo>
                <a:lnTo>
                  <a:pt x="0" y="261647"/>
                </a:lnTo>
                <a:lnTo>
                  <a:pt x="3493" y="265843"/>
                </a:lnTo>
                <a:lnTo>
                  <a:pt x="10480" y="267243"/>
                </a:lnTo>
                <a:lnTo>
                  <a:pt x="24184" y="271134"/>
                </a:lnTo>
                <a:lnTo>
                  <a:pt x="39258" y="274238"/>
                </a:lnTo>
                <a:lnTo>
                  <a:pt x="54460" y="276293"/>
                </a:lnTo>
                <a:lnTo>
                  <a:pt x="68549" y="277037"/>
                </a:lnTo>
                <a:lnTo>
                  <a:pt x="80423" y="277037"/>
                </a:lnTo>
                <a:lnTo>
                  <a:pt x="124374" y="271276"/>
                </a:lnTo>
                <a:lnTo>
                  <a:pt x="157636" y="254563"/>
                </a:lnTo>
                <a:lnTo>
                  <a:pt x="169658" y="239259"/>
                </a:lnTo>
                <a:lnTo>
                  <a:pt x="74828" y="239259"/>
                </a:lnTo>
                <a:lnTo>
                  <a:pt x="61160" y="238396"/>
                </a:lnTo>
                <a:lnTo>
                  <a:pt x="46245" y="236024"/>
                </a:lnTo>
                <a:lnTo>
                  <a:pt x="31459" y="232471"/>
                </a:lnTo>
                <a:lnTo>
                  <a:pt x="18176" y="228066"/>
                </a:lnTo>
                <a:lnTo>
                  <a:pt x="16783" y="227367"/>
                </a:lnTo>
                <a:close/>
              </a:path>
              <a:path w="205740" h="277495">
                <a:moveTo>
                  <a:pt x="142670" y="0"/>
                </a:moveTo>
                <a:lnTo>
                  <a:pt x="92197" y="5095"/>
                </a:lnTo>
                <a:lnTo>
                  <a:pt x="35548" y="45461"/>
                </a:lnTo>
                <a:lnTo>
                  <a:pt x="27287" y="80465"/>
                </a:lnTo>
                <a:lnTo>
                  <a:pt x="31547" y="104302"/>
                </a:lnTo>
                <a:lnTo>
                  <a:pt x="42492" y="122693"/>
                </a:lnTo>
                <a:lnTo>
                  <a:pt x="57372" y="136232"/>
                </a:lnTo>
                <a:lnTo>
                  <a:pt x="73436" y="145513"/>
                </a:lnTo>
                <a:lnTo>
                  <a:pt x="104902" y="159514"/>
                </a:lnTo>
                <a:lnTo>
                  <a:pt x="117717" y="165591"/>
                </a:lnTo>
                <a:lnTo>
                  <a:pt x="128168" y="172977"/>
                </a:lnTo>
                <a:lnTo>
                  <a:pt x="135205" y="182724"/>
                </a:lnTo>
                <a:lnTo>
                  <a:pt x="137784" y="195886"/>
                </a:lnTo>
                <a:lnTo>
                  <a:pt x="133707" y="214764"/>
                </a:lnTo>
                <a:lnTo>
                  <a:pt x="122482" y="228329"/>
                </a:lnTo>
                <a:lnTo>
                  <a:pt x="105618" y="236516"/>
                </a:lnTo>
                <a:lnTo>
                  <a:pt x="84625" y="239259"/>
                </a:lnTo>
                <a:lnTo>
                  <a:pt x="169658" y="239259"/>
                </a:lnTo>
                <a:lnTo>
                  <a:pt x="178700" y="227750"/>
                </a:lnTo>
                <a:lnTo>
                  <a:pt x="186057" y="191688"/>
                </a:lnTo>
                <a:lnTo>
                  <a:pt x="182013" y="166416"/>
                </a:lnTo>
                <a:lnTo>
                  <a:pt x="171017" y="147442"/>
                </a:lnTo>
                <a:lnTo>
                  <a:pt x="154777" y="133451"/>
                </a:lnTo>
                <a:lnTo>
                  <a:pt x="134998" y="123130"/>
                </a:lnTo>
                <a:lnTo>
                  <a:pt x="102116" y="108444"/>
                </a:lnTo>
                <a:lnTo>
                  <a:pt x="91947" y="103323"/>
                </a:lnTo>
                <a:lnTo>
                  <a:pt x="83223" y="96892"/>
                </a:lnTo>
                <a:lnTo>
                  <a:pt x="77124" y="88363"/>
                </a:lnTo>
                <a:lnTo>
                  <a:pt x="74828" y="76947"/>
                </a:lnTo>
                <a:lnTo>
                  <a:pt x="79027" y="59621"/>
                </a:lnTo>
                <a:lnTo>
                  <a:pt x="90573" y="47401"/>
                </a:lnTo>
                <a:lnTo>
                  <a:pt x="107891" y="40162"/>
                </a:lnTo>
                <a:lnTo>
                  <a:pt x="129404" y="37777"/>
                </a:lnTo>
                <a:lnTo>
                  <a:pt x="202686" y="37777"/>
                </a:lnTo>
                <a:lnTo>
                  <a:pt x="202840" y="37092"/>
                </a:lnTo>
                <a:lnTo>
                  <a:pt x="205626" y="23091"/>
                </a:lnTo>
                <a:lnTo>
                  <a:pt x="205626" y="14685"/>
                </a:lnTo>
                <a:lnTo>
                  <a:pt x="202132" y="11191"/>
                </a:lnTo>
                <a:lnTo>
                  <a:pt x="181933" y="5020"/>
                </a:lnTo>
                <a:lnTo>
                  <a:pt x="168129" y="2189"/>
                </a:lnTo>
                <a:lnTo>
                  <a:pt x="154713" y="537"/>
                </a:lnTo>
                <a:lnTo>
                  <a:pt x="142670" y="0"/>
                </a:lnTo>
                <a:close/>
              </a:path>
              <a:path w="205740" h="277495">
                <a:moveTo>
                  <a:pt x="202686" y="37777"/>
                </a:moveTo>
                <a:lnTo>
                  <a:pt x="139177" y="37777"/>
                </a:lnTo>
                <a:lnTo>
                  <a:pt x="150261" y="38410"/>
                </a:lnTo>
                <a:lnTo>
                  <a:pt x="162791" y="40223"/>
                </a:lnTo>
                <a:lnTo>
                  <a:pt x="175582" y="43086"/>
                </a:lnTo>
                <a:lnTo>
                  <a:pt x="187449" y="46867"/>
                </a:lnTo>
                <a:lnTo>
                  <a:pt x="188842" y="47575"/>
                </a:lnTo>
                <a:lnTo>
                  <a:pt x="197246" y="47575"/>
                </a:lnTo>
                <a:lnTo>
                  <a:pt x="201424" y="43373"/>
                </a:lnTo>
                <a:lnTo>
                  <a:pt x="202686" y="37777"/>
                </a:lnTo>
                <a:close/>
              </a:path>
            </a:pathLst>
          </a:custGeom>
          <a:solidFill>
            <a:srgbClr val="002563"/>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3" name="object 33"/>
          <p:cNvSpPr/>
          <p:nvPr/>
        </p:nvSpPr>
        <p:spPr>
          <a:xfrm>
            <a:off x="1089365" y="4716918"/>
            <a:ext cx="223995" cy="271588"/>
          </a:xfrm>
          <a:custGeom>
            <a:avLst/>
            <a:gdLst/>
            <a:ahLst/>
            <a:cxnLst/>
            <a:rect l="l" t="t" r="r" b="b"/>
            <a:pathLst>
              <a:path w="224155" h="271779">
                <a:moveTo>
                  <a:pt x="153175" y="0"/>
                </a:moveTo>
                <a:lnTo>
                  <a:pt x="60146" y="0"/>
                </a:lnTo>
                <a:lnTo>
                  <a:pt x="55260" y="4887"/>
                </a:lnTo>
                <a:lnTo>
                  <a:pt x="53159" y="12584"/>
                </a:lnTo>
                <a:lnTo>
                  <a:pt x="684" y="256738"/>
                </a:lnTo>
                <a:lnTo>
                  <a:pt x="684" y="258136"/>
                </a:lnTo>
                <a:lnTo>
                  <a:pt x="0" y="260934"/>
                </a:lnTo>
                <a:lnTo>
                  <a:pt x="0" y="267930"/>
                </a:lnTo>
                <a:lnTo>
                  <a:pt x="4201" y="271429"/>
                </a:lnTo>
                <a:lnTo>
                  <a:pt x="110496" y="271429"/>
                </a:lnTo>
                <a:lnTo>
                  <a:pt x="149929" y="264870"/>
                </a:lnTo>
                <a:lnTo>
                  <a:pt x="179397" y="246769"/>
                </a:lnTo>
                <a:lnTo>
                  <a:pt x="188268" y="233652"/>
                </a:lnTo>
                <a:lnTo>
                  <a:pt x="53159" y="233652"/>
                </a:lnTo>
                <a:lnTo>
                  <a:pt x="69942" y="151793"/>
                </a:lnTo>
                <a:lnTo>
                  <a:pt x="193488" y="151793"/>
                </a:lnTo>
                <a:lnTo>
                  <a:pt x="184455" y="142005"/>
                </a:lnTo>
                <a:lnTo>
                  <a:pt x="171351" y="134321"/>
                </a:lnTo>
                <a:lnTo>
                  <a:pt x="192532" y="122036"/>
                </a:lnTo>
                <a:lnTo>
                  <a:pt x="198240" y="116117"/>
                </a:lnTo>
                <a:lnTo>
                  <a:pt x="77637" y="116117"/>
                </a:lnTo>
                <a:lnTo>
                  <a:pt x="93713" y="37777"/>
                </a:lnTo>
                <a:lnTo>
                  <a:pt x="219800" y="37777"/>
                </a:lnTo>
                <a:lnTo>
                  <a:pt x="219060" y="33637"/>
                </a:lnTo>
                <a:lnTo>
                  <a:pt x="205272" y="14860"/>
                </a:lnTo>
                <a:lnTo>
                  <a:pt x="183091" y="3692"/>
                </a:lnTo>
                <a:lnTo>
                  <a:pt x="153175" y="0"/>
                </a:lnTo>
                <a:close/>
              </a:path>
              <a:path w="224155" h="271779">
                <a:moveTo>
                  <a:pt x="193488" y="151793"/>
                </a:moveTo>
                <a:lnTo>
                  <a:pt x="116799" y="151793"/>
                </a:lnTo>
                <a:lnTo>
                  <a:pt x="132358" y="153970"/>
                </a:lnTo>
                <a:lnTo>
                  <a:pt x="144771" y="160279"/>
                </a:lnTo>
                <a:lnTo>
                  <a:pt x="152988" y="170393"/>
                </a:lnTo>
                <a:lnTo>
                  <a:pt x="155960" y="183982"/>
                </a:lnTo>
                <a:lnTo>
                  <a:pt x="152835" y="203843"/>
                </a:lnTo>
                <a:lnTo>
                  <a:pt x="143547" y="219573"/>
                </a:lnTo>
                <a:lnTo>
                  <a:pt x="128226" y="229924"/>
                </a:lnTo>
                <a:lnTo>
                  <a:pt x="107002" y="233652"/>
                </a:lnTo>
                <a:lnTo>
                  <a:pt x="188268" y="233652"/>
                </a:lnTo>
                <a:lnTo>
                  <a:pt x="197849" y="219485"/>
                </a:lnTo>
                <a:lnTo>
                  <a:pt x="204233" y="185380"/>
                </a:lnTo>
                <a:lnTo>
                  <a:pt x="201751" y="167861"/>
                </a:lnTo>
                <a:lnTo>
                  <a:pt x="194873" y="153294"/>
                </a:lnTo>
                <a:lnTo>
                  <a:pt x="193488" y="151793"/>
                </a:lnTo>
                <a:close/>
              </a:path>
              <a:path w="224155" h="271779">
                <a:moveTo>
                  <a:pt x="219800" y="37777"/>
                </a:moveTo>
                <a:lnTo>
                  <a:pt x="138492" y="37777"/>
                </a:lnTo>
                <a:lnTo>
                  <a:pt x="154200" y="39503"/>
                </a:lnTo>
                <a:lnTo>
                  <a:pt x="165582" y="44771"/>
                </a:lnTo>
                <a:lnTo>
                  <a:pt x="172507" y="53714"/>
                </a:lnTo>
                <a:lnTo>
                  <a:pt x="174844" y="66464"/>
                </a:lnTo>
                <a:lnTo>
                  <a:pt x="171360" y="85139"/>
                </a:lnTo>
                <a:lnTo>
                  <a:pt x="161649" y="100995"/>
                </a:lnTo>
                <a:lnTo>
                  <a:pt x="146821" y="111998"/>
                </a:lnTo>
                <a:lnTo>
                  <a:pt x="127988" y="116117"/>
                </a:lnTo>
                <a:lnTo>
                  <a:pt x="198240" y="116117"/>
                </a:lnTo>
                <a:lnTo>
                  <a:pt x="209119" y="104837"/>
                </a:lnTo>
                <a:lnTo>
                  <a:pt x="219935" y="83840"/>
                </a:lnTo>
                <a:lnTo>
                  <a:pt x="223802" y="60160"/>
                </a:lnTo>
                <a:lnTo>
                  <a:pt x="219800" y="37777"/>
                </a:lnTo>
                <a:close/>
              </a:path>
            </a:pathLst>
          </a:custGeom>
          <a:solidFill>
            <a:srgbClr val="002563"/>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4" name="object 34"/>
          <p:cNvSpPr/>
          <p:nvPr/>
        </p:nvSpPr>
        <p:spPr>
          <a:xfrm>
            <a:off x="832862" y="4716918"/>
            <a:ext cx="233514" cy="271588"/>
          </a:xfrm>
          <a:custGeom>
            <a:avLst/>
            <a:gdLst/>
            <a:ahLst/>
            <a:cxnLst/>
            <a:rect l="l" t="t" r="r" b="b"/>
            <a:pathLst>
              <a:path w="233680" h="271779">
                <a:moveTo>
                  <a:pt x="199323" y="0"/>
                </a:moveTo>
                <a:lnTo>
                  <a:pt x="140569" y="0"/>
                </a:lnTo>
                <a:lnTo>
                  <a:pt x="95291" y="67726"/>
                </a:lnTo>
                <a:lnTo>
                  <a:pt x="70370" y="111315"/>
                </a:lnTo>
                <a:lnTo>
                  <a:pt x="45506" y="158926"/>
                </a:lnTo>
                <a:lnTo>
                  <a:pt x="21883" y="208715"/>
                </a:lnTo>
                <a:lnTo>
                  <a:pt x="684" y="258837"/>
                </a:lnTo>
                <a:lnTo>
                  <a:pt x="0" y="260235"/>
                </a:lnTo>
                <a:lnTo>
                  <a:pt x="0" y="268631"/>
                </a:lnTo>
                <a:lnTo>
                  <a:pt x="3493" y="271429"/>
                </a:lnTo>
                <a:lnTo>
                  <a:pt x="39869" y="271429"/>
                </a:lnTo>
                <a:lnTo>
                  <a:pt x="44755" y="266532"/>
                </a:lnTo>
                <a:lnTo>
                  <a:pt x="48249" y="258837"/>
                </a:lnTo>
                <a:lnTo>
                  <a:pt x="67810" y="211539"/>
                </a:lnTo>
                <a:lnTo>
                  <a:pt x="89756" y="164039"/>
                </a:lnTo>
                <a:lnTo>
                  <a:pt x="113113" y="118149"/>
                </a:lnTo>
                <a:lnTo>
                  <a:pt x="136907" y="75686"/>
                </a:lnTo>
                <a:lnTo>
                  <a:pt x="160162" y="38461"/>
                </a:lnTo>
                <a:lnTo>
                  <a:pt x="208388" y="38461"/>
                </a:lnTo>
                <a:lnTo>
                  <a:pt x="207857" y="35709"/>
                </a:lnTo>
                <a:lnTo>
                  <a:pt x="199323" y="0"/>
                </a:lnTo>
                <a:close/>
              </a:path>
              <a:path w="233680" h="271779">
                <a:moveTo>
                  <a:pt x="208388" y="38461"/>
                </a:moveTo>
                <a:lnTo>
                  <a:pt x="160162" y="38461"/>
                </a:lnTo>
                <a:lnTo>
                  <a:pt x="168607" y="82641"/>
                </a:lnTo>
                <a:lnTo>
                  <a:pt x="176331" y="136850"/>
                </a:lnTo>
                <a:lnTo>
                  <a:pt x="182090" y="196958"/>
                </a:lnTo>
                <a:lnTo>
                  <a:pt x="184640" y="258838"/>
                </a:lnTo>
                <a:lnTo>
                  <a:pt x="184640" y="266532"/>
                </a:lnTo>
                <a:lnTo>
                  <a:pt x="190235" y="271429"/>
                </a:lnTo>
                <a:lnTo>
                  <a:pt x="229396" y="271429"/>
                </a:lnTo>
                <a:lnTo>
                  <a:pt x="233598" y="266532"/>
                </a:lnTo>
                <a:lnTo>
                  <a:pt x="233598" y="258838"/>
                </a:lnTo>
                <a:lnTo>
                  <a:pt x="230774" y="195580"/>
                </a:lnTo>
                <a:lnTo>
                  <a:pt x="224759" y="135784"/>
                </a:lnTo>
                <a:lnTo>
                  <a:pt x="216728" y="81732"/>
                </a:lnTo>
                <a:lnTo>
                  <a:pt x="208388" y="38461"/>
                </a:lnTo>
                <a:close/>
              </a:path>
            </a:pathLst>
          </a:custGeom>
          <a:solidFill>
            <a:srgbClr val="002563"/>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5" name="object 35"/>
          <p:cNvSpPr/>
          <p:nvPr/>
        </p:nvSpPr>
        <p:spPr>
          <a:xfrm>
            <a:off x="934906" y="4871413"/>
            <a:ext cx="69185" cy="76197"/>
          </a:xfrm>
          <a:prstGeom prst="rect">
            <a:avLst/>
          </a:prstGeom>
          <a:blipFill>
            <a:blip r:embed="rId14"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6" name="object 36"/>
          <p:cNvSpPr txBox="1"/>
          <p:nvPr/>
        </p:nvSpPr>
        <p:spPr>
          <a:xfrm>
            <a:off x="106401" y="6412696"/>
            <a:ext cx="2048328"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资料来源：年报；文献检索；****</a:t>
            </a:r>
            <a:endParaRPr sz="1000" spc="-10" dirty="0">
              <a:latin typeface="微软雅黑" panose="020B0503020204020204" charset="-122"/>
              <a:ea typeface="微软雅黑" panose="020B0503020204020204" charset="-122"/>
              <a:cs typeface="微软雅黑" panose="020B0503020204020204" charset="-122"/>
            </a:endParaRPr>
          </a:p>
        </p:txBody>
      </p:sp>
      <p:graphicFrame>
        <p:nvGraphicFramePr>
          <p:cNvPr id="37" name="object 37"/>
          <p:cNvGraphicFramePr>
            <a:graphicFrameLocks noGrp="1"/>
          </p:cNvGraphicFramePr>
          <p:nvPr/>
        </p:nvGraphicFramePr>
        <p:xfrm>
          <a:off x="137443" y="1041329"/>
          <a:ext cx="2497455" cy="5072380"/>
        </p:xfrm>
        <a:graphic>
          <a:graphicData uri="http://schemas.openxmlformats.org/drawingml/2006/table">
            <a:tbl>
              <a:tblPr firstRow="1" bandRow="1">
                <a:tableStyleId>{2D5ABB26-0587-4C30-8999-92F81FD0307C}</a:tableStyleId>
              </a:tblPr>
              <a:tblGrid>
                <a:gridCol w="2497455"/>
              </a:tblGrid>
              <a:tr h="829310">
                <a:tc>
                  <a:txBody>
                    <a:bodyPr/>
                    <a:lstStyle/>
                    <a:p>
                      <a:pPr>
                        <a:lnSpc>
                          <a:spcPct val="100000"/>
                        </a:lnSpc>
                      </a:pPr>
                      <a:endParaRPr sz="1400">
                        <a:latin typeface="微软雅黑" panose="020B0503020204020204" charset="-122"/>
                        <a:ea typeface="微软雅黑" panose="020B0503020204020204" charset="-122"/>
                        <a:cs typeface="Times New Roman" panose="02020603050405020304"/>
                      </a:endParaRPr>
                    </a:p>
                  </a:txBody>
                  <a:tcPr marL="0" marR="0" marT="0" marB="0">
                    <a:lnL w="19050">
                      <a:solidFill>
                        <a:srgbClr val="C6DFFA"/>
                      </a:solidFill>
                      <a:prstDash val="solid"/>
                    </a:lnL>
                    <a:lnR w="19050">
                      <a:solidFill>
                        <a:srgbClr val="C6DFFA"/>
                      </a:solidFill>
                      <a:prstDash val="solid"/>
                    </a:lnR>
                    <a:lnT w="19050">
                      <a:solidFill>
                        <a:srgbClr val="C6DFFA"/>
                      </a:solidFill>
                      <a:prstDash val="solid"/>
                    </a:lnT>
                    <a:lnB w="19050">
                      <a:solidFill>
                        <a:srgbClr val="C6DFFA"/>
                      </a:solidFill>
                      <a:prstDash val="solid"/>
                    </a:lnB>
                  </a:tcPr>
                </a:tc>
              </a:tr>
              <a:tr h="853440">
                <a:tc>
                  <a:txBody>
                    <a:bodyPr/>
                    <a:lstStyle/>
                    <a:p>
                      <a:pPr>
                        <a:lnSpc>
                          <a:spcPct val="100000"/>
                        </a:lnSpc>
                      </a:pPr>
                      <a:endParaRPr sz="1400">
                        <a:latin typeface="微软雅黑" panose="020B0503020204020204" charset="-122"/>
                        <a:ea typeface="微软雅黑" panose="020B0503020204020204" charset="-122"/>
                        <a:cs typeface="Times New Roman" panose="02020603050405020304"/>
                      </a:endParaRPr>
                    </a:p>
                  </a:txBody>
                  <a:tcPr marL="0" marR="0" marT="0" marB="0">
                    <a:lnL w="19050">
                      <a:solidFill>
                        <a:srgbClr val="C6DFFA"/>
                      </a:solidFill>
                      <a:prstDash val="solid"/>
                    </a:lnL>
                    <a:lnR w="19050">
                      <a:solidFill>
                        <a:srgbClr val="C6DFFA"/>
                      </a:solidFill>
                      <a:prstDash val="solid"/>
                    </a:lnR>
                    <a:lnT w="19050">
                      <a:solidFill>
                        <a:srgbClr val="C6DFFA"/>
                      </a:solidFill>
                      <a:prstDash val="solid"/>
                    </a:lnT>
                    <a:lnB w="19050">
                      <a:solidFill>
                        <a:srgbClr val="C6DFFA"/>
                      </a:solidFill>
                      <a:prstDash val="solid"/>
                    </a:lnB>
                  </a:tcPr>
                </a:tc>
              </a:tr>
              <a:tr h="854710">
                <a:tc>
                  <a:txBody>
                    <a:bodyPr/>
                    <a:lstStyle/>
                    <a:p>
                      <a:pPr>
                        <a:lnSpc>
                          <a:spcPct val="100000"/>
                        </a:lnSpc>
                      </a:pPr>
                      <a:endParaRPr sz="1400">
                        <a:latin typeface="微软雅黑" panose="020B0503020204020204" charset="-122"/>
                        <a:ea typeface="微软雅黑" panose="020B0503020204020204" charset="-122"/>
                        <a:cs typeface="Times New Roman" panose="02020603050405020304"/>
                      </a:endParaRPr>
                    </a:p>
                  </a:txBody>
                  <a:tcPr marL="0" marR="0" marT="0" marB="0">
                    <a:lnL w="19050">
                      <a:solidFill>
                        <a:srgbClr val="C6DFFA"/>
                      </a:solidFill>
                      <a:prstDash val="solid"/>
                    </a:lnL>
                    <a:lnR w="19050">
                      <a:solidFill>
                        <a:srgbClr val="C6DFFA"/>
                      </a:solidFill>
                      <a:prstDash val="solid"/>
                    </a:lnR>
                    <a:lnT w="19050">
                      <a:solidFill>
                        <a:srgbClr val="C6DFFA"/>
                      </a:solidFill>
                      <a:prstDash val="solid"/>
                    </a:lnT>
                    <a:lnB w="19050">
                      <a:solidFill>
                        <a:srgbClr val="C6DFFA"/>
                      </a:solidFill>
                      <a:prstDash val="solid"/>
                    </a:lnB>
                  </a:tcPr>
                </a:tc>
              </a:tr>
              <a:tr h="853440">
                <a:tc>
                  <a:txBody>
                    <a:bodyPr/>
                    <a:lstStyle/>
                    <a:p>
                      <a:pPr>
                        <a:lnSpc>
                          <a:spcPct val="100000"/>
                        </a:lnSpc>
                      </a:pPr>
                      <a:endParaRPr sz="1400">
                        <a:latin typeface="微软雅黑" panose="020B0503020204020204" charset="-122"/>
                        <a:ea typeface="微软雅黑" panose="020B0503020204020204" charset="-122"/>
                        <a:cs typeface="Times New Roman" panose="02020603050405020304"/>
                      </a:endParaRPr>
                    </a:p>
                  </a:txBody>
                  <a:tcPr marL="0" marR="0" marT="0" marB="0">
                    <a:lnL w="19050">
                      <a:solidFill>
                        <a:srgbClr val="C6DFFA"/>
                      </a:solidFill>
                      <a:prstDash val="solid"/>
                    </a:lnL>
                    <a:lnR w="19050">
                      <a:solidFill>
                        <a:srgbClr val="C6DFFA"/>
                      </a:solidFill>
                      <a:prstDash val="solid"/>
                    </a:lnR>
                    <a:lnT w="19050">
                      <a:solidFill>
                        <a:srgbClr val="C6DFFA"/>
                      </a:solidFill>
                      <a:prstDash val="solid"/>
                    </a:lnT>
                    <a:lnB w="19050">
                      <a:solidFill>
                        <a:srgbClr val="C6DFFA"/>
                      </a:solidFill>
                      <a:prstDash val="solid"/>
                    </a:lnB>
                  </a:tcPr>
                </a:tc>
              </a:tr>
              <a:tr h="852805">
                <a:tc>
                  <a:txBody>
                    <a:bodyPr/>
                    <a:lstStyle/>
                    <a:p>
                      <a:pPr>
                        <a:lnSpc>
                          <a:spcPct val="100000"/>
                        </a:lnSpc>
                      </a:pPr>
                      <a:endParaRPr sz="1400">
                        <a:latin typeface="微软雅黑" panose="020B0503020204020204" charset="-122"/>
                        <a:ea typeface="微软雅黑" panose="020B0503020204020204" charset="-122"/>
                        <a:cs typeface="Times New Roman" panose="02020603050405020304"/>
                      </a:endParaRPr>
                    </a:p>
                  </a:txBody>
                  <a:tcPr marL="0" marR="0" marT="0" marB="0">
                    <a:lnL w="19050">
                      <a:solidFill>
                        <a:srgbClr val="C6DFFA"/>
                      </a:solidFill>
                      <a:prstDash val="solid"/>
                    </a:lnL>
                    <a:lnR w="19050">
                      <a:solidFill>
                        <a:srgbClr val="C6DFFA"/>
                      </a:solidFill>
                      <a:prstDash val="solid"/>
                    </a:lnR>
                    <a:lnT w="19050">
                      <a:solidFill>
                        <a:srgbClr val="C6DFFA"/>
                      </a:solidFill>
                      <a:prstDash val="solid"/>
                    </a:lnT>
                    <a:lnB w="19050">
                      <a:solidFill>
                        <a:srgbClr val="C6DFFA"/>
                      </a:solidFill>
                      <a:prstDash val="solid"/>
                    </a:lnB>
                  </a:tcPr>
                </a:tc>
              </a:tr>
              <a:tr h="828675">
                <a:tc>
                  <a:txBody>
                    <a:bodyPr/>
                    <a:lstStyle/>
                    <a:p>
                      <a:pPr>
                        <a:lnSpc>
                          <a:spcPct val="100000"/>
                        </a:lnSpc>
                      </a:pPr>
                      <a:endParaRPr sz="1400">
                        <a:latin typeface="微软雅黑" panose="020B0503020204020204" charset="-122"/>
                        <a:ea typeface="微软雅黑" panose="020B0503020204020204" charset="-122"/>
                        <a:cs typeface="Times New Roman" panose="02020603050405020304"/>
                      </a:endParaRPr>
                    </a:p>
                  </a:txBody>
                  <a:tcPr marL="0" marR="0" marT="0" marB="0">
                    <a:lnL w="19050">
                      <a:solidFill>
                        <a:srgbClr val="C6DFFA"/>
                      </a:solidFill>
                      <a:prstDash val="solid"/>
                    </a:lnL>
                    <a:lnR w="19050">
                      <a:solidFill>
                        <a:srgbClr val="C6DFFA"/>
                      </a:solidFill>
                      <a:prstDash val="solid"/>
                    </a:lnR>
                    <a:lnT w="19050">
                      <a:solidFill>
                        <a:srgbClr val="C6DFFA"/>
                      </a:solidFill>
                      <a:prstDash val="solid"/>
                    </a:lnT>
                    <a:lnB w="19050">
                      <a:solidFill>
                        <a:srgbClr val="C6DFFA"/>
                      </a:solidFill>
                      <a:prstDash val="solid"/>
                    </a:lnB>
                  </a:tcPr>
                </a:tc>
              </a:tr>
            </a:tbl>
          </a:graphicData>
        </a:graphic>
      </p:graphicFrame>
      <p:sp>
        <p:nvSpPr>
          <p:cNvPr id="38" name="object 38"/>
          <p:cNvSpPr/>
          <p:nvPr/>
        </p:nvSpPr>
        <p:spPr>
          <a:xfrm>
            <a:off x="2795320" y="1865610"/>
            <a:ext cx="5992693" cy="0"/>
          </a:xfrm>
          <a:custGeom>
            <a:avLst/>
            <a:gdLst/>
            <a:ahLst/>
            <a:cxnLst/>
            <a:rect l="l" t="t" r="r" b="b"/>
            <a:pathLst>
              <a:path w="5996940">
                <a:moveTo>
                  <a:pt x="0" y="0"/>
                </a:moveTo>
                <a:lnTo>
                  <a:pt x="5996940" y="0"/>
                </a:lnTo>
              </a:path>
            </a:pathLst>
          </a:custGeom>
          <a:ln w="19050">
            <a:solidFill>
              <a:srgbClr val="808080"/>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39" name="object 39"/>
          <p:cNvSpPr/>
          <p:nvPr/>
        </p:nvSpPr>
        <p:spPr>
          <a:xfrm>
            <a:off x="2795320" y="2718446"/>
            <a:ext cx="5992693" cy="0"/>
          </a:xfrm>
          <a:custGeom>
            <a:avLst/>
            <a:gdLst/>
            <a:ahLst/>
            <a:cxnLst/>
            <a:rect l="l" t="t" r="r" b="b"/>
            <a:pathLst>
              <a:path w="5996940">
                <a:moveTo>
                  <a:pt x="0" y="0"/>
                </a:moveTo>
                <a:lnTo>
                  <a:pt x="5996940" y="0"/>
                </a:lnTo>
              </a:path>
            </a:pathLst>
          </a:custGeom>
          <a:ln w="19050">
            <a:solidFill>
              <a:srgbClr val="808080"/>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40" name="object 40"/>
          <p:cNvSpPr/>
          <p:nvPr/>
        </p:nvSpPr>
        <p:spPr>
          <a:xfrm>
            <a:off x="2795320" y="3574327"/>
            <a:ext cx="5992693" cy="0"/>
          </a:xfrm>
          <a:custGeom>
            <a:avLst/>
            <a:gdLst/>
            <a:ahLst/>
            <a:cxnLst/>
            <a:rect l="l" t="t" r="r" b="b"/>
            <a:pathLst>
              <a:path w="5996940">
                <a:moveTo>
                  <a:pt x="0" y="0"/>
                </a:moveTo>
                <a:lnTo>
                  <a:pt x="5996940" y="0"/>
                </a:lnTo>
              </a:path>
            </a:pathLst>
          </a:custGeom>
          <a:ln w="19050">
            <a:solidFill>
              <a:srgbClr val="808080"/>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41" name="object 41"/>
          <p:cNvSpPr/>
          <p:nvPr/>
        </p:nvSpPr>
        <p:spPr>
          <a:xfrm>
            <a:off x="2795320" y="4418024"/>
            <a:ext cx="5992693" cy="0"/>
          </a:xfrm>
          <a:custGeom>
            <a:avLst/>
            <a:gdLst/>
            <a:ahLst/>
            <a:cxnLst/>
            <a:rect l="l" t="t" r="r" b="b"/>
            <a:pathLst>
              <a:path w="5996940">
                <a:moveTo>
                  <a:pt x="0" y="0"/>
                </a:moveTo>
                <a:lnTo>
                  <a:pt x="5996940" y="0"/>
                </a:lnTo>
              </a:path>
            </a:pathLst>
          </a:custGeom>
          <a:ln w="19050">
            <a:solidFill>
              <a:srgbClr val="808080"/>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42" name="object 42"/>
          <p:cNvSpPr/>
          <p:nvPr/>
        </p:nvSpPr>
        <p:spPr>
          <a:xfrm>
            <a:off x="2795320" y="5263246"/>
            <a:ext cx="5992693" cy="0"/>
          </a:xfrm>
          <a:custGeom>
            <a:avLst/>
            <a:gdLst/>
            <a:ahLst/>
            <a:cxnLst/>
            <a:rect l="l" t="t" r="r" b="b"/>
            <a:pathLst>
              <a:path w="5996940">
                <a:moveTo>
                  <a:pt x="0" y="0"/>
                </a:moveTo>
                <a:lnTo>
                  <a:pt x="5996940" y="0"/>
                </a:lnTo>
              </a:path>
            </a:pathLst>
          </a:custGeom>
          <a:ln w="19050">
            <a:solidFill>
              <a:srgbClr val="808080"/>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401" y="203088"/>
            <a:ext cx="2679706"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大客户管理</a:t>
            </a:r>
            <a:r>
              <a:rPr spc="-10" dirty="0">
                <a:ea typeface="微软雅黑" panose="020B0503020204020204" charset="-122"/>
              </a:rPr>
              <a:t>包括</a:t>
            </a:r>
            <a:r>
              <a:rPr spc="-5" dirty="0">
                <a:ea typeface="微软雅黑" panose="020B0503020204020204" charset="-122"/>
              </a:rPr>
              <a:t>五</a:t>
            </a:r>
            <a:r>
              <a:rPr spc="-10" dirty="0">
                <a:ea typeface="微软雅黑" panose="020B0503020204020204" charset="-122"/>
              </a:rPr>
              <a:t>大要素</a:t>
            </a:r>
            <a:endParaRPr spc="-10" dirty="0">
              <a:ea typeface="微软雅黑" panose="020B0503020204020204" charset="-122"/>
            </a:endParaRPr>
          </a:p>
        </p:txBody>
      </p:sp>
      <p:sp>
        <p:nvSpPr>
          <p:cNvPr id="4" name="object 4"/>
          <p:cNvSpPr/>
          <p:nvPr/>
        </p:nvSpPr>
        <p:spPr>
          <a:xfrm>
            <a:off x="2096299" y="1323450"/>
            <a:ext cx="2679071" cy="3900581"/>
          </a:xfrm>
          <a:custGeom>
            <a:avLst/>
            <a:gdLst/>
            <a:ahLst/>
            <a:cxnLst/>
            <a:rect l="l" t="t" r="r" b="b"/>
            <a:pathLst>
              <a:path w="2680970" h="3903345">
                <a:moveTo>
                  <a:pt x="1977643" y="0"/>
                </a:moveTo>
                <a:lnTo>
                  <a:pt x="0" y="0"/>
                </a:lnTo>
                <a:lnTo>
                  <a:pt x="703071" y="1952244"/>
                </a:lnTo>
                <a:lnTo>
                  <a:pt x="0" y="3902964"/>
                </a:lnTo>
                <a:lnTo>
                  <a:pt x="1977643" y="3902964"/>
                </a:lnTo>
                <a:lnTo>
                  <a:pt x="2680716" y="1952244"/>
                </a:lnTo>
                <a:lnTo>
                  <a:pt x="197764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p:nvPr/>
        </p:nvSpPr>
        <p:spPr>
          <a:xfrm>
            <a:off x="2096299" y="1323450"/>
            <a:ext cx="2679071" cy="3900581"/>
          </a:xfrm>
          <a:custGeom>
            <a:avLst/>
            <a:gdLst/>
            <a:ahLst/>
            <a:cxnLst/>
            <a:rect l="l" t="t" r="r" b="b"/>
            <a:pathLst>
              <a:path w="2680970" h="3903345">
                <a:moveTo>
                  <a:pt x="0" y="0"/>
                </a:moveTo>
                <a:lnTo>
                  <a:pt x="1977643" y="0"/>
                </a:lnTo>
                <a:lnTo>
                  <a:pt x="2680716" y="1952244"/>
                </a:lnTo>
                <a:lnTo>
                  <a:pt x="1977643" y="3902964"/>
                </a:lnTo>
                <a:lnTo>
                  <a:pt x="0" y="3902964"/>
                </a:lnTo>
                <a:lnTo>
                  <a:pt x="703071"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4074573" y="3274312"/>
            <a:ext cx="4655695" cy="1949338"/>
          </a:xfrm>
          <a:custGeom>
            <a:avLst/>
            <a:gdLst/>
            <a:ahLst/>
            <a:cxnLst/>
            <a:rect l="l" t="t" r="r" b="b"/>
            <a:pathLst>
              <a:path w="4658995" h="1950720">
                <a:moveTo>
                  <a:pt x="4658868" y="0"/>
                </a:moveTo>
                <a:lnTo>
                  <a:pt x="703199" y="0"/>
                </a:lnTo>
                <a:lnTo>
                  <a:pt x="0" y="1950720"/>
                </a:lnTo>
                <a:lnTo>
                  <a:pt x="3955668" y="1950720"/>
                </a:lnTo>
                <a:lnTo>
                  <a:pt x="4658868"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4074573" y="3274312"/>
            <a:ext cx="4655695" cy="1949338"/>
          </a:xfrm>
          <a:custGeom>
            <a:avLst/>
            <a:gdLst/>
            <a:ahLst/>
            <a:cxnLst/>
            <a:rect l="l" t="t" r="r" b="b"/>
            <a:pathLst>
              <a:path w="4658995" h="1950720">
                <a:moveTo>
                  <a:pt x="4658868" y="0"/>
                </a:moveTo>
                <a:lnTo>
                  <a:pt x="3955668" y="1950720"/>
                </a:lnTo>
                <a:lnTo>
                  <a:pt x="0" y="1950720"/>
                </a:lnTo>
                <a:lnTo>
                  <a:pt x="703199" y="0"/>
                </a:lnTo>
                <a:lnTo>
                  <a:pt x="4658868"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6051325" y="1323450"/>
            <a:ext cx="2679071" cy="1951242"/>
          </a:xfrm>
          <a:custGeom>
            <a:avLst/>
            <a:gdLst/>
            <a:ahLst/>
            <a:cxnLst/>
            <a:rect l="l" t="t" r="r" b="b"/>
            <a:pathLst>
              <a:path w="2680970" h="1952625">
                <a:moveTo>
                  <a:pt x="1977643" y="0"/>
                </a:moveTo>
                <a:lnTo>
                  <a:pt x="0" y="0"/>
                </a:lnTo>
                <a:lnTo>
                  <a:pt x="703071" y="1952244"/>
                </a:lnTo>
                <a:lnTo>
                  <a:pt x="2680716" y="1952244"/>
                </a:lnTo>
                <a:lnTo>
                  <a:pt x="197764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6051325" y="1323450"/>
            <a:ext cx="2679071" cy="1951242"/>
          </a:xfrm>
          <a:custGeom>
            <a:avLst/>
            <a:gdLst/>
            <a:ahLst/>
            <a:cxnLst/>
            <a:rect l="l" t="t" r="r" b="b"/>
            <a:pathLst>
              <a:path w="2680970" h="1952625">
                <a:moveTo>
                  <a:pt x="0" y="0"/>
                </a:moveTo>
                <a:lnTo>
                  <a:pt x="1977643" y="0"/>
                </a:lnTo>
                <a:lnTo>
                  <a:pt x="2680716" y="1952244"/>
                </a:lnTo>
                <a:lnTo>
                  <a:pt x="703071"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119549" y="1323450"/>
            <a:ext cx="2680340" cy="3900581"/>
          </a:xfrm>
          <a:custGeom>
            <a:avLst/>
            <a:gdLst/>
            <a:ahLst/>
            <a:cxnLst/>
            <a:rect l="l" t="t" r="r" b="b"/>
            <a:pathLst>
              <a:path w="2682240" h="3903345">
                <a:moveTo>
                  <a:pt x="1978787" y="0"/>
                </a:moveTo>
                <a:lnTo>
                  <a:pt x="0" y="0"/>
                </a:lnTo>
                <a:lnTo>
                  <a:pt x="0" y="3902964"/>
                </a:lnTo>
                <a:lnTo>
                  <a:pt x="1978787" y="3902964"/>
                </a:lnTo>
                <a:lnTo>
                  <a:pt x="2682240" y="1952244"/>
                </a:lnTo>
                <a:lnTo>
                  <a:pt x="1978787"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119549" y="1323450"/>
            <a:ext cx="2680340" cy="3900581"/>
          </a:xfrm>
          <a:custGeom>
            <a:avLst/>
            <a:gdLst/>
            <a:ahLst/>
            <a:cxnLst/>
            <a:rect l="l" t="t" r="r" b="b"/>
            <a:pathLst>
              <a:path w="2682240" h="3903345">
                <a:moveTo>
                  <a:pt x="0" y="0"/>
                </a:moveTo>
                <a:lnTo>
                  <a:pt x="1978787" y="0"/>
                </a:lnTo>
                <a:lnTo>
                  <a:pt x="2682240" y="1952244"/>
                </a:lnTo>
                <a:lnTo>
                  <a:pt x="1978787" y="3902964"/>
                </a:lnTo>
                <a:lnTo>
                  <a:pt x="0" y="3902964"/>
                </a:lnTo>
                <a:lnTo>
                  <a:pt x="0"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169043" y="1538944"/>
            <a:ext cx="1926495" cy="3359944"/>
          </a:xfrm>
          <a:custGeom>
            <a:avLst/>
            <a:gdLst/>
            <a:ahLst/>
            <a:cxnLst/>
            <a:rect l="l" t="t" r="r" b="b"/>
            <a:pathLst>
              <a:path w="1927860" h="3362325">
                <a:moveTo>
                  <a:pt x="0" y="3361944"/>
                </a:moveTo>
                <a:lnTo>
                  <a:pt x="1927860" y="3361944"/>
                </a:lnTo>
                <a:lnTo>
                  <a:pt x="1927860" y="0"/>
                </a:lnTo>
                <a:lnTo>
                  <a:pt x="0" y="0"/>
                </a:lnTo>
                <a:lnTo>
                  <a:pt x="0" y="336194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txBox="1"/>
          <p:nvPr/>
        </p:nvSpPr>
        <p:spPr>
          <a:xfrm>
            <a:off x="5439110" y="3524071"/>
            <a:ext cx="434032"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组织</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14" name="object 14"/>
          <p:cNvSpPr/>
          <p:nvPr/>
        </p:nvSpPr>
        <p:spPr>
          <a:xfrm>
            <a:off x="4876519" y="3421020"/>
            <a:ext cx="385807" cy="501295"/>
          </a:xfrm>
          <a:custGeom>
            <a:avLst/>
            <a:gdLst/>
            <a:ahLst/>
            <a:cxnLst/>
            <a:rect l="l" t="t" r="r" b="b"/>
            <a:pathLst>
              <a:path w="386079" h="501650">
                <a:moveTo>
                  <a:pt x="188213" y="0"/>
                </a:moveTo>
                <a:lnTo>
                  <a:pt x="146496" y="4355"/>
                </a:lnTo>
                <a:lnTo>
                  <a:pt x="109553" y="17414"/>
                </a:lnTo>
                <a:lnTo>
                  <a:pt x="77396" y="39165"/>
                </a:lnTo>
                <a:lnTo>
                  <a:pt x="50037" y="69595"/>
                </a:lnTo>
                <a:lnTo>
                  <a:pt x="28128" y="107053"/>
                </a:lnTo>
                <a:lnTo>
                  <a:pt x="12493" y="149891"/>
                </a:lnTo>
                <a:lnTo>
                  <a:pt x="3121" y="198112"/>
                </a:lnTo>
                <a:lnTo>
                  <a:pt x="0" y="251713"/>
                </a:lnTo>
                <a:lnTo>
                  <a:pt x="1549" y="289958"/>
                </a:lnTo>
                <a:lnTo>
                  <a:pt x="13983" y="358780"/>
                </a:lnTo>
                <a:lnTo>
                  <a:pt x="38179" y="416647"/>
                </a:lnTo>
                <a:lnTo>
                  <a:pt x="69611" y="459319"/>
                </a:lnTo>
                <a:lnTo>
                  <a:pt x="108547" y="486487"/>
                </a:lnTo>
                <a:lnTo>
                  <a:pt x="160605" y="499961"/>
                </a:lnTo>
                <a:lnTo>
                  <a:pt x="191897" y="501650"/>
                </a:lnTo>
                <a:lnTo>
                  <a:pt x="227782" y="499695"/>
                </a:lnTo>
                <a:lnTo>
                  <a:pt x="286265" y="484022"/>
                </a:lnTo>
                <a:lnTo>
                  <a:pt x="328509" y="452014"/>
                </a:lnTo>
                <a:lnTo>
                  <a:pt x="363370" y="400147"/>
                </a:lnTo>
                <a:lnTo>
                  <a:pt x="366288" y="393700"/>
                </a:lnTo>
                <a:lnTo>
                  <a:pt x="194817" y="393700"/>
                </a:lnTo>
                <a:lnTo>
                  <a:pt x="180578" y="391747"/>
                </a:lnTo>
                <a:lnTo>
                  <a:pt x="146430" y="362457"/>
                </a:lnTo>
                <a:lnTo>
                  <a:pt x="132125" y="317184"/>
                </a:lnTo>
                <a:lnTo>
                  <a:pt x="129794" y="296417"/>
                </a:lnTo>
                <a:lnTo>
                  <a:pt x="385825" y="296417"/>
                </a:lnTo>
                <a:lnTo>
                  <a:pt x="385825" y="275716"/>
                </a:lnTo>
                <a:lnTo>
                  <a:pt x="384468" y="230499"/>
                </a:lnTo>
                <a:lnTo>
                  <a:pt x="382249" y="208279"/>
                </a:lnTo>
                <a:lnTo>
                  <a:pt x="130175" y="208279"/>
                </a:lnTo>
                <a:lnTo>
                  <a:pt x="132244" y="188162"/>
                </a:lnTo>
                <a:lnTo>
                  <a:pt x="144907" y="143763"/>
                </a:lnTo>
                <a:lnTo>
                  <a:pt x="179071" y="111134"/>
                </a:lnTo>
                <a:lnTo>
                  <a:pt x="193548" y="108965"/>
                </a:lnTo>
                <a:lnTo>
                  <a:pt x="358683" y="108965"/>
                </a:lnTo>
                <a:lnTo>
                  <a:pt x="352087" y="93678"/>
                </a:lnTo>
                <a:lnTo>
                  <a:pt x="320567" y="48529"/>
                </a:lnTo>
                <a:lnTo>
                  <a:pt x="278493" y="17573"/>
                </a:lnTo>
                <a:lnTo>
                  <a:pt x="222053" y="1952"/>
                </a:lnTo>
                <a:lnTo>
                  <a:pt x="188213" y="0"/>
                </a:lnTo>
                <a:close/>
              </a:path>
              <a:path w="386079" h="501650">
                <a:moveTo>
                  <a:pt x="252729" y="349757"/>
                </a:moveTo>
                <a:lnTo>
                  <a:pt x="221910" y="386038"/>
                </a:lnTo>
                <a:lnTo>
                  <a:pt x="194817" y="393700"/>
                </a:lnTo>
                <a:lnTo>
                  <a:pt x="366288" y="393700"/>
                </a:lnTo>
                <a:lnTo>
                  <a:pt x="378587" y="366521"/>
                </a:lnTo>
                <a:lnTo>
                  <a:pt x="252729" y="349757"/>
                </a:lnTo>
                <a:close/>
              </a:path>
              <a:path w="386079" h="501650">
                <a:moveTo>
                  <a:pt x="358683" y="108965"/>
                </a:moveTo>
                <a:lnTo>
                  <a:pt x="193548" y="108965"/>
                </a:lnTo>
                <a:lnTo>
                  <a:pt x="206069" y="110396"/>
                </a:lnTo>
                <a:lnTo>
                  <a:pt x="217328" y="114696"/>
                </a:lnTo>
                <a:lnTo>
                  <a:pt x="243278" y="145379"/>
                </a:lnTo>
                <a:lnTo>
                  <a:pt x="253236" y="183566"/>
                </a:lnTo>
                <a:lnTo>
                  <a:pt x="255904" y="208279"/>
                </a:lnTo>
                <a:lnTo>
                  <a:pt x="382249" y="208279"/>
                </a:lnTo>
                <a:lnTo>
                  <a:pt x="380396" y="189722"/>
                </a:lnTo>
                <a:lnTo>
                  <a:pt x="373610" y="153398"/>
                </a:lnTo>
                <a:lnTo>
                  <a:pt x="364109" y="121538"/>
                </a:lnTo>
                <a:lnTo>
                  <a:pt x="358683" y="108965"/>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2485914" y="1433354"/>
            <a:ext cx="385807" cy="501295"/>
          </a:xfrm>
          <a:custGeom>
            <a:avLst/>
            <a:gdLst/>
            <a:ahLst/>
            <a:cxnLst/>
            <a:rect l="l" t="t" r="r" b="b"/>
            <a:pathLst>
              <a:path w="386080" h="501650">
                <a:moveTo>
                  <a:pt x="351348" y="440689"/>
                </a:moveTo>
                <a:lnTo>
                  <a:pt x="125603" y="440689"/>
                </a:lnTo>
                <a:lnTo>
                  <a:pt x="138412" y="456027"/>
                </a:lnTo>
                <a:lnTo>
                  <a:pt x="173862" y="486155"/>
                </a:lnTo>
                <a:lnTo>
                  <a:pt x="221243" y="500675"/>
                </a:lnTo>
                <a:lnTo>
                  <a:pt x="238506" y="501650"/>
                </a:lnTo>
                <a:lnTo>
                  <a:pt x="258699" y="500268"/>
                </a:lnTo>
                <a:lnTo>
                  <a:pt x="296227" y="489219"/>
                </a:lnTo>
                <a:lnTo>
                  <a:pt x="329588" y="467098"/>
                </a:lnTo>
                <a:lnTo>
                  <a:pt x="351348" y="440689"/>
                </a:lnTo>
                <a:close/>
              </a:path>
              <a:path w="386080" h="501650">
                <a:moveTo>
                  <a:pt x="135509" y="0"/>
                </a:moveTo>
                <a:lnTo>
                  <a:pt x="0" y="0"/>
                </a:lnTo>
                <a:lnTo>
                  <a:pt x="0" y="493522"/>
                </a:lnTo>
                <a:lnTo>
                  <a:pt x="125603" y="493522"/>
                </a:lnTo>
                <a:lnTo>
                  <a:pt x="125603" y="440689"/>
                </a:lnTo>
                <a:lnTo>
                  <a:pt x="351348" y="440689"/>
                </a:lnTo>
                <a:lnTo>
                  <a:pt x="356068" y="433760"/>
                </a:lnTo>
                <a:lnTo>
                  <a:pt x="366522" y="412876"/>
                </a:lnTo>
                <a:lnTo>
                  <a:pt x="370715" y="401319"/>
                </a:lnTo>
                <a:lnTo>
                  <a:pt x="194691" y="401319"/>
                </a:lnTo>
                <a:lnTo>
                  <a:pt x="182211" y="400012"/>
                </a:lnTo>
                <a:lnTo>
                  <a:pt x="144103" y="368589"/>
                </a:lnTo>
                <a:lnTo>
                  <a:pt x="134619" y="313689"/>
                </a:lnTo>
                <a:lnTo>
                  <a:pt x="135693" y="293993"/>
                </a:lnTo>
                <a:lnTo>
                  <a:pt x="151892" y="250951"/>
                </a:lnTo>
                <a:lnTo>
                  <a:pt x="196596" y="230250"/>
                </a:lnTo>
                <a:lnTo>
                  <a:pt x="374480" y="230250"/>
                </a:lnTo>
                <a:lnTo>
                  <a:pt x="362124" y="200880"/>
                </a:lnTo>
                <a:lnTo>
                  <a:pt x="343788" y="174878"/>
                </a:lnTo>
                <a:lnTo>
                  <a:pt x="339515" y="170941"/>
                </a:lnTo>
                <a:lnTo>
                  <a:pt x="135509" y="170941"/>
                </a:lnTo>
                <a:lnTo>
                  <a:pt x="135509" y="0"/>
                </a:lnTo>
                <a:close/>
              </a:path>
              <a:path w="386080" h="501650">
                <a:moveTo>
                  <a:pt x="374480" y="230250"/>
                </a:moveTo>
                <a:lnTo>
                  <a:pt x="196596" y="230250"/>
                </a:lnTo>
                <a:lnTo>
                  <a:pt x="207577" y="231489"/>
                </a:lnTo>
                <a:lnTo>
                  <a:pt x="217678" y="235203"/>
                </a:lnTo>
                <a:lnTo>
                  <a:pt x="247332" y="275574"/>
                </a:lnTo>
                <a:lnTo>
                  <a:pt x="251275" y="313689"/>
                </a:lnTo>
                <a:lnTo>
                  <a:pt x="250328" y="334706"/>
                </a:lnTo>
                <a:lnTo>
                  <a:pt x="235076" y="380873"/>
                </a:lnTo>
                <a:lnTo>
                  <a:pt x="194691" y="401319"/>
                </a:lnTo>
                <a:lnTo>
                  <a:pt x="370715" y="401319"/>
                </a:lnTo>
                <a:lnTo>
                  <a:pt x="374895" y="389800"/>
                </a:lnTo>
                <a:lnTo>
                  <a:pt x="380920" y="364775"/>
                </a:lnTo>
                <a:lnTo>
                  <a:pt x="384506" y="338081"/>
                </a:lnTo>
                <a:lnTo>
                  <a:pt x="385699" y="309625"/>
                </a:lnTo>
                <a:lnTo>
                  <a:pt x="383079" y="268265"/>
                </a:lnTo>
                <a:lnTo>
                  <a:pt x="375221" y="232013"/>
                </a:lnTo>
                <a:lnTo>
                  <a:pt x="374480" y="230250"/>
                </a:lnTo>
                <a:close/>
              </a:path>
              <a:path w="386080" h="501650">
                <a:moveTo>
                  <a:pt x="237871" y="127888"/>
                </a:moveTo>
                <a:lnTo>
                  <a:pt x="194401" y="133943"/>
                </a:lnTo>
                <a:lnTo>
                  <a:pt x="157035" y="152098"/>
                </a:lnTo>
                <a:lnTo>
                  <a:pt x="135509" y="170941"/>
                </a:lnTo>
                <a:lnTo>
                  <a:pt x="339515" y="170941"/>
                </a:lnTo>
                <a:lnTo>
                  <a:pt x="321452" y="154303"/>
                </a:lnTo>
                <a:lnTo>
                  <a:pt x="296354" y="139620"/>
                </a:lnTo>
                <a:lnTo>
                  <a:pt x="268493" y="130819"/>
                </a:lnTo>
                <a:lnTo>
                  <a:pt x="237871" y="127888"/>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p:nvPr/>
        </p:nvSpPr>
        <p:spPr>
          <a:xfrm>
            <a:off x="253820" y="1433354"/>
            <a:ext cx="253820" cy="503198"/>
          </a:xfrm>
          <a:custGeom>
            <a:avLst/>
            <a:gdLst/>
            <a:ahLst/>
            <a:cxnLst/>
            <a:rect l="l" t="t" r="r" b="b"/>
            <a:pathLst>
              <a:path w="254000" h="503555">
                <a:moveTo>
                  <a:pt x="237734" y="109600"/>
                </a:moveTo>
                <a:lnTo>
                  <a:pt x="131673" y="109600"/>
                </a:lnTo>
                <a:lnTo>
                  <a:pt x="139160" y="110456"/>
                </a:lnTo>
                <a:lnTo>
                  <a:pt x="145427" y="113014"/>
                </a:lnTo>
                <a:lnTo>
                  <a:pt x="160341" y="155122"/>
                </a:lnTo>
                <a:lnTo>
                  <a:pt x="160743" y="170814"/>
                </a:lnTo>
                <a:lnTo>
                  <a:pt x="152959" y="177319"/>
                </a:lnTo>
                <a:lnTo>
                  <a:pt x="108359" y="204311"/>
                </a:lnTo>
                <a:lnTo>
                  <a:pt x="69164" y="222123"/>
                </a:lnTo>
                <a:lnTo>
                  <a:pt x="50883" y="231838"/>
                </a:lnTo>
                <a:lnTo>
                  <a:pt x="14744" y="274700"/>
                </a:lnTo>
                <a:lnTo>
                  <a:pt x="3686" y="314880"/>
                </a:lnTo>
                <a:lnTo>
                  <a:pt x="0" y="364871"/>
                </a:lnTo>
                <a:lnTo>
                  <a:pt x="1278" y="392947"/>
                </a:lnTo>
                <a:lnTo>
                  <a:pt x="11508" y="442148"/>
                </a:lnTo>
                <a:lnTo>
                  <a:pt x="31875" y="480724"/>
                </a:lnTo>
                <a:lnTo>
                  <a:pt x="80378" y="503174"/>
                </a:lnTo>
                <a:lnTo>
                  <a:pt x="94772" y="501933"/>
                </a:lnTo>
                <a:lnTo>
                  <a:pt x="132499" y="483235"/>
                </a:lnTo>
                <a:lnTo>
                  <a:pt x="157232" y="449516"/>
                </a:lnTo>
                <a:lnTo>
                  <a:pt x="165531" y="433324"/>
                </a:lnTo>
                <a:lnTo>
                  <a:pt x="244579" y="433324"/>
                </a:lnTo>
                <a:lnTo>
                  <a:pt x="244517" y="432556"/>
                </a:lnTo>
                <a:lnTo>
                  <a:pt x="243901" y="420163"/>
                </a:lnTo>
                <a:lnTo>
                  <a:pt x="243531" y="405937"/>
                </a:lnTo>
                <a:lnTo>
                  <a:pt x="243491" y="400685"/>
                </a:lnTo>
                <a:lnTo>
                  <a:pt x="103149" y="400685"/>
                </a:lnTo>
                <a:lnTo>
                  <a:pt x="85169" y="361660"/>
                </a:lnTo>
                <a:lnTo>
                  <a:pt x="84734" y="351281"/>
                </a:lnTo>
                <a:lnTo>
                  <a:pt x="85175" y="342016"/>
                </a:lnTo>
                <a:lnTo>
                  <a:pt x="103378" y="302656"/>
                </a:lnTo>
                <a:lnTo>
                  <a:pt x="133767" y="282424"/>
                </a:lnTo>
                <a:lnTo>
                  <a:pt x="142943" y="276637"/>
                </a:lnTo>
                <a:lnTo>
                  <a:pt x="151935" y="270422"/>
                </a:lnTo>
                <a:lnTo>
                  <a:pt x="160743" y="263778"/>
                </a:lnTo>
                <a:lnTo>
                  <a:pt x="243408" y="263778"/>
                </a:lnTo>
                <a:lnTo>
                  <a:pt x="243408" y="177164"/>
                </a:lnTo>
                <a:lnTo>
                  <a:pt x="243017" y="159976"/>
                </a:lnTo>
                <a:lnTo>
                  <a:pt x="241847" y="142335"/>
                </a:lnTo>
                <a:lnTo>
                  <a:pt x="239890" y="124205"/>
                </a:lnTo>
                <a:lnTo>
                  <a:pt x="237734" y="109600"/>
                </a:lnTo>
                <a:close/>
              </a:path>
              <a:path w="254000" h="503555">
                <a:moveTo>
                  <a:pt x="244579" y="433324"/>
                </a:moveTo>
                <a:lnTo>
                  <a:pt x="165531" y="433324"/>
                </a:lnTo>
                <a:lnTo>
                  <a:pt x="166256" y="443102"/>
                </a:lnTo>
                <a:lnTo>
                  <a:pt x="172481" y="483540"/>
                </a:lnTo>
                <a:lnTo>
                  <a:pt x="174663" y="492251"/>
                </a:lnTo>
                <a:lnTo>
                  <a:pt x="254000" y="492251"/>
                </a:lnTo>
                <a:lnTo>
                  <a:pt x="250968" y="477964"/>
                </a:lnTo>
                <a:lnTo>
                  <a:pt x="248521" y="465010"/>
                </a:lnTo>
                <a:lnTo>
                  <a:pt x="246658" y="453389"/>
                </a:lnTo>
                <a:lnTo>
                  <a:pt x="245376" y="443102"/>
                </a:lnTo>
                <a:lnTo>
                  <a:pt x="244579" y="433324"/>
                </a:lnTo>
                <a:close/>
              </a:path>
              <a:path w="254000" h="503555">
                <a:moveTo>
                  <a:pt x="243408" y="263778"/>
                </a:moveTo>
                <a:lnTo>
                  <a:pt x="160743" y="263778"/>
                </a:lnTo>
                <a:lnTo>
                  <a:pt x="160704" y="295261"/>
                </a:lnTo>
                <a:lnTo>
                  <a:pt x="160426" y="309673"/>
                </a:lnTo>
                <a:lnTo>
                  <a:pt x="155663" y="349250"/>
                </a:lnTo>
                <a:lnTo>
                  <a:pt x="138417" y="385699"/>
                </a:lnTo>
                <a:lnTo>
                  <a:pt x="112153" y="400685"/>
                </a:lnTo>
                <a:lnTo>
                  <a:pt x="243491" y="400685"/>
                </a:lnTo>
                <a:lnTo>
                  <a:pt x="243408" y="263778"/>
                </a:lnTo>
                <a:close/>
              </a:path>
              <a:path w="254000" h="503555">
                <a:moveTo>
                  <a:pt x="120662" y="0"/>
                </a:moveTo>
                <a:lnTo>
                  <a:pt x="76631" y="7619"/>
                </a:lnTo>
                <a:lnTo>
                  <a:pt x="44653" y="29463"/>
                </a:lnTo>
                <a:lnTo>
                  <a:pt x="24618" y="62628"/>
                </a:lnTo>
                <a:lnTo>
                  <a:pt x="12225" y="106870"/>
                </a:lnTo>
                <a:lnTo>
                  <a:pt x="6642" y="148209"/>
                </a:lnTo>
                <a:lnTo>
                  <a:pt x="87439" y="166750"/>
                </a:lnTo>
                <a:lnTo>
                  <a:pt x="90122" y="152370"/>
                </a:lnTo>
                <a:lnTo>
                  <a:pt x="93198" y="140477"/>
                </a:lnTo>
                <a:lnTo>
                  <a:pt x="121939" y="110507"/>
                </a:lnTo>
                <a:lnTo>
                  <a:pt x="131673" y="109600"/>
                </a:lnTo>
                <a:lnTo>
                  <a:pt x="237734" y="109600"/>
                </a:lnTo>
                <a:lnTo>
                  <a:pt x="237172" y="105790"/>
                </a:lnTo>
                <a:lnTo>
                  <a:pt x="225256" y="59267"/>
                </a:lnTo>
                <a:lnTo>
                  <a:pt x="202857" y="23542"/>
                </a:lnTo>
                <a:lnTo>
                  <a:pt x="169263" y="5197"/>
                </a:lnTo>
                <a:lnTo>
                  <a:pt x="138731" y="573"/>
                </a:lnTo>
                <a:lnTo>
                  <a:pt x="120662"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p:nvPr/>
        </p:nvSpPr>
        <p:spPr>
          <a:xfrm>
            <a:off x="2995584" y="1980591"/>
            <a:ext cx="1057161" cy="639627"/>
          </a:xfrm>
          <a:custGeom>
            <a:avLst/>
            <a:gdLst/>
            <a:ahLst/>
            <a:cxnLst/>
            <a:rect l="l" t="t" r="r" b="b"/>
            <a:pathLst>
              <a:path w="1057910" h="640080">
                <a:moveTo>
                  <a:pt x="0" y="640079"/>
                </a:moveTo>
                <a:lnTo>
                  <a:pt x="1057656" y="640079"/>
                </a:lnTo>
                <a:lnTo>
                  <a:pt x="1057656" y="0"/>
                </a:lnTo>
                <a:lnTo>
                  <a:pt x="0" y="0"/>
                </a:lnTo>
                <a:lnTo>
                  <a:pt x="0" y="64007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txBox="1"/>
          <p:nvPr/>
        </p:nvSpPr>
        <p:spPr>
          <a:xfrm>
            <a:off x="2995584" y="1980591"/>
            <a:ext cx="1057161" cy="416560"/>
          </a:xfrm>
          <a:prstGeom prst="rect">
            <a:avLst/>
          </a:prstGeom>
          <a:ln w="9525">
            <a:solidFill>
              <a:srgbClr val="91AFFF"/>
            </a:solidFill>
          </a:ln>
        </p:spPr>
        <p:txBody>
          <a:bodyPr vert="horz" wrap="square" lIns="0" tIns="201786" rIns="0" bIns="0" rtlCol="0">
            <a:spAutoFit/>
          </a:bodyPr>
          <a:lstStyle/>
          <a:p>
            <a:pPr marL="71755">
              <a:lnSpc>
                <a:spcPct val="100000"/>
              </a:lnSpc>
              <a:spcBef>
                <a:spcPts val="1590"/>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客户背景</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19" name="object 19"/>
          <p:cNvSpPr/>
          <p:nvPr/>
        </p:nvSpPr>
        <p:spPr>
          <a:xfrm>
            <a:off x="2995584" y="2720730"/>
            <a:ext cx="1057161" cy="517792"/>
          </a:xfrm>
          <a:custGeom>
            <a:avLst/>
            <a:gdLst/>
            <a:ahLst/>
            <a:cxnLst/>
            <a:rect l="l" t="t" r="r" b="b"/>
            <a:pathLst>
              <a:path w="1057910" h="518160">
                <a:moveTo>
                  <a:pt x="0" y="518160"/>
                </a:moveTo>
                <a:lnTo>
                  <a:pt x="1057656" y="518160"/>
                </a:lnTo>
                <a:lnTo>
                  <a:pt x="1057656"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txBox="1"/>
          <p:nvPr/>
        </p:nvSpPr>
        <p:spPr>
          <a:xfrm>
            <a:off x="2995584" y="2720730"/>
            <a:ext cx="1057161" cy="464820"/>
          </a:xfrm>
          <a:prstGeom prst="rect">
            <a:avLst/>
          </a:prstGeom>
          <a:ln w="9525">
            <a:solidFill>
              <a:srgbClr val="91AFFF"/>
            </a:solidFill>
          </a:ln>
        </p:spPr>
        <p:txBody>
          <a:bodyPr vert="horz" wrap="square" lIns="0" tIns="34900" rIns="0" bIns="0" rtlCol="0">
            <a:spAutoFit/>
          </a:bodyPr>
          <a:lstStyle/>
          <a:p>
            <a:pPr marL="71755">
              <a:lnSpc>
                <a:spcPct val="100000"/>
              </a:lnSpc>
              <a:spcBef>
                <a:spcPts val="275"/>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客户经济</a:t>
            </a:r>
            <a:endParaRPr sz="1400">
              <a:latin typeface="微软雅黑" panose="020B0503020204020204" charset="-122"/>
              <a:ea typeface="微软雅黑" panose="020B0503020204020204" charset="-122"/>
              <a:cs typeface="微软雅黑" panose="020B0503020204020204" charset="-122"/>
            </a:endParaRPr>
          </a:p>
          <a:p>
            <a:pPr marL="71755">
              <a:lnSpc>
                <a:spcPct val="100000"/>
              </a:lnSpc>
            </a:pPr>
            <a:r>
              <a:rPr sz="1400" dirty="0">
                <a:solidFill>
                  <a:srgbClr val="0066CC"/>
                </a:solidFill>
                <a:latin typeface="微软雅黑" panose="020B0503020204020204" charset="-122"/>
                <a:ea typeface="微软雅黑" panose="020B0503020204020204" charset="-122"/>
                <a:cs typeface="微软雅黑" panose="020B0503020204020204" charset="-122"/>
              </a:rPr>
              <a:t>指标</a:t>
            </a:r>
            <a:endParaRPr sz="1400">
              <a:latin typeface="微软雅黑" panose="020B0503020204020204" charset="-122"/>
              <a:ea typeface="微软雅黑" panose="020B0503020204020204" charset="-122"/>
              <a:cs typeface="微软雅黑" panose="020B0503020204020204" charset="-122"/>
            </a:endParaRPr>
          </a:p>
        </p:txBody>
      </p:sp>
      <p:sp>
        <p:nvSpPr>
          <p:cNvPr id="21" name="object 21"/>
          <p:cNvSpPr/>
          <p:nvPr/>
        </p:nvSpPr>
        <p:spPr>
          <a:xfrm>
            <a:off x="2995584" y="3340559"/>
            <a:ext cx="1057161" cy="516524"/>
          </a:xfrm>
          <a:custGeom>
            <a:avLst/>
            <a:gdLst/>
            <a:ahLst/>
            <a:cxnLst/>
            <a:rect l="l" t="t" r="r" b="b"/>
            <a:pathLst>
              <a:path w="1057910" h="516889">
                <a:moveTo>
                  <a:pt x="0" y="516636"/>
                </a:moveTo>
                <a:lnTo>
                  <a:pt x="1057656" y="516636"/>
                </a:lnTo>
                <a:lnTo>
                  <a:pt x="1057656" y="0"/>
                </a:lnTo>
                <a:lnTo>
                  <a:pt x="0" y="0"/>
                </a:lnTo>
                <a:lnTo>
                  <a:pt x="0" y="51663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txBox="1"/>
          <p:nvPr/>
        </p:nvSpPr>
        <p:spPr>
          <a:xfrm>
            <a:off x="2995584" y="3340559"/>
            <a:ext cx="1057161" cy="464820"/>
          </a:xfrm>
          <a:prstGeom prst="rect">
            <a:avLst/>
          </a:prstGeom>
          <a:ln w="9525">
            <a:solidFill>
              <a:srgbClr val="91AFFF"/>
            </a:solidFill>
          </a:ln>
        </p:spPr>
        <p:txBody>
          <a:bodyPr vert="horz" wrap="square" lIns="0" tIns="31091" rIns="0" bIns="0" rtlCol="0">
            <a:spAutoFit/>
          </a:bodyPr>
          <a:lstStyle/>
          <a:p>
            <a:pPr marL="71755" marR="86360">
              <a:lnSpc>
                <a:spcPct val="101000"/>
              </a:lnSpc>
              <a:spcBef>
                <a:spcPts val="245"/>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客户关系与 决策流程</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3" name="object 23"/>
          <p:cNvSpPr/>
          <p:nvPr/>
        </p:nvSpPr>
        <p:spPr>
          <a:xfrm>
            <a:off x="2995584" y="3958865"/>
            <a:ext cx="1057161" cy="517792"/>
          </a:xfrm>
          <a:custGeom>
            <a:avLst/>
            <a:gdLst/>
            <a:ahLst/>
            <a:cxnLst/>
            <a:rect l="l" t="t" r="r" b="b"/>
            <a:pathLst>
              <a:path w="1057910" h="518160">
                <a:moveTo>
                  <a:pt x="0" y="518159"/>
                </a:moveTo>
                <a:lnTo>
                  <a:pt x="1057656" y="518159"/>
                </a:lnTo>
                <a:lnTo>
                  <a:pt x="1057656" y="0"/>
                </a:lnTo>
                <a:lnTo>
                  <a:pt x="0" y="0"/>
                </a:lnTo>
                <a:lnTo>
                  <a:pt x="0" y="51815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txBox="1"/>
          <p:nvPr/>
        </p:nvSpPr>
        <p:spPr>
          <a:xfrm>
            <a:off x="2995584" y="3958865"/>
            <a:ext cx="1057161" cy="355600"/>
          </a:xfrm>
          <a:prstGeom prst="rect">
            <a:avLst/>
          </a:prstGeom>
          <a:ln w="9525">
            <a:solidFill>
              <a:srgbClr val="91AFFF"/>
            </a:solidFill>
          </a:ln>
        </p:spPr>
        <p:txBody>
          <a:bodyPr vert="horz" wrap="square" lIns="0" tIns="140870" rIns="0" bIns="0" rtlCol="0">
            <a:spAutoFit/>
          </a:bodyPr>
          <a:lstStyle/>
          <a:p>
            <a:pPr marL="71755">
              <a:lnSpc>
                <a:spcPct val="100000"/>
              </a:lnSpc>
              <a:spcBef>
                <a:spcPts val="1110"/>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客户需求</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5" name="object 25"/>
          <p:cNvSpPr/>
          <p:nvPr/>
        </p:nvSpPr>
        <p:spPr>
          <a:xfrm>
            <a:off x="2995584" y="4577170"/>
            <a:ext cx="1057161" cy="517792"/>
          </a:xfrm>
          <a:custGeom>
            <a:avLst/>
            <a:gdLst/>
            <a:ahLst/>
            <a:cxnLst/>
            <a:rect l="l" t="t" r="r" b="b"/>
            <a:pathLst>
              <a:path w="1057910" h="518160">
                <a:moveTo>
                  <a:pt x="0" y="518160"/>
                </a:moveTo>
                <a:lnTo>
                  <a:pt x="1057656" y="518160"/>
                </a:lnTo>
                <a:lnTo>
                  <a:pt x="1057656"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6" name="object 26"/>
          <p:cNvSpPr txBox="1"/>
          <p:nvPr/>
        </p:nvSpPr>
        <p:spPr>
          <a:xfrm>
            <a:off x="2995584" y="4577170"/>
            <a:ext cx="1057161" cy="356235"/>
          </a:xfrm>
          <a:prstGeom prst="rect">
            <a:avLst/>
          </a:prstGeom>
          <a:ln w="9525">
            <a:solidFill>
              <a:srgbClr val="91AFFF"/>
            </a:solidFill>
          </a:ln>
        </p:spPr>
        <p:txBody>
          <a:bodyPr vert="horz" wrap="square" lIns="0" tIns="141504" rIns="0" bIns="0" rtlCol="0">
            <a:spAutoFit/>
          </a:bodyPr>
          <a:lstStyle/>
          <a:p>
            <a:pPr marL="71755">
              <a:lnSpc>
                <a:spcPct val="100000"/>
              </a:lnSpc>
              <a:spcBef>
                <a:spcPts val="1115"/>
              </a:spcBef>
            </a:pPr>
            <a:r>
              <a:rPr sz="1400" dirty="0">
                <a:solidFill>
                  <a:srgbClr val="0066CC"/>
                </a:solidFill>
                <a:latin typeface="微软雅黑" panose="020B0503020204020204" charset="-122"/>
                <a:ea typeface="微软雅黑" panose="020B0503020204020204" charset="-122"/>
                <a:cs typeface="微软雅黑" panose="020B0503020204020204" charset="-122"/>
              </a:rPr>
              <a:t>风险分析</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7" name="object 27"/>
          <p:cNvSpPr/>
          <p:nvPr/>
        </p:nvSpPr>
        <p:spPr>
          <a:xfrm>
            <a:off x="5450533" y="3897948"/>
            <a:ext cx="2614982" cy="335043"/>
          </a:xfrm>
          <a:custGeom>
            <a:avLst/>
            <a:gdLst/>
            <a:ahLst/>
            <a:cxnLst/>
            <a:rect l="l" t="t" r="r" b="b"/>
            <a:pathLst>
              <a:path w="2616834" h="335279">
                <a:moveTo>
                  <a:pt x="0" y="335280"/>
                </a:moveTo>
                <a:lnTo>
                  <a:pt x="2616707" y="335280"/>
                </a:lnTo>
                <a:lnTo>
                  <a:pt x="2616707" y="0"/>
                </a:lnTo>
                <a:lnTo>
                  <a:pt x="0" y="0"/>
                </a:lnTo>
                <a:lnTo>
                  <a:pt x="0" y="33528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txBox="1"/>
          <p:nvPr/>
        </p:nvSpPr>
        <p:spPr>
          <a:xfrm>
            <a:off x="5450533" y="3897948"/>
            <a:ext cx="2614982" cy="264795"/>
          </a:xfrm>
          <a:prstGeom prst="rect">
            <a:avLst/>
          </a:prstGeom>
          <a:ln w="9525">
            <a:solidFill>
              <a:srgbClr val="91AFFF"/>
            </a:solidFill>
          </a:ln>
        </p:spPr>
        <p:txBody>
          <a:bodyPr vert="horz" wrap="square" lIns="0" tIns="50129" rIns="0" bIns="0" rtlCol="0">
            <a:spAutoFit/>
          </a:bodyPr>
          <a:lstStyle/>
          <a:p>
            <a:pPr marL="73025">
              <a:lnSpc>
                <a:spcPct val="100000"/>
              </a:lnSpc>
              <a:spcBef>
                <a:spcPts val="395"/>
              </a:spcBef>
            </a:pPr>
            <a:r>
              <a:rPr sz="1400" dirty="0">
                <a:solidFill>
                  <a:srgbClr val="0066CC"/>
                </a:solidFill>
                <a:latin typeface="微软雅黑" panose="020B0503020204020204" charset="-122"/>
                <a:ea typeface="微软雅黑" panose="020B0503020204020204" charset="-122"/>
                <a:cs typeface="微软雅黑" panose="020B0503020204020204" charset="-122"/>
              </a:rPr>
              <a:t>大客户管理的组织架构</a:t>
            </a:r>
            <a:r>
              <a:rPr sz="1400" spc="-15" dirty="0">
                <a:solidFill>
                  <a:srgbClr val="0066CC"/>
                </a:solidFill>
                <a:latin typeface="微软雅黑" panose="020B0503020204020204" charset="-122"/>
                <a:ea typeface="微软雅黑" panose="020B0503020204020204" charset="-122"/>
                <a:cs typeface="微软雅黑" panose="020B0503020204020204" charset="-122"/>
              </a:rPr>
              <a:t>设</a:t>
            </a:r>
            <a:r>
              <a:rPr sz="1400" spc="5" dirty="0">
                <a:solidFill>
                  <a:srgbClr val="0066CC"/>
                </a:solidFill>
                <a:latin typeface="微软雅黑" panose="020B0503020204020204" charset="-122"/>
                <a:ea typeface="微软雅黑" panose="020B0503020204020204" charset="-122"/>
                <a:cs typeface="微软雅黑" panose="020B0503020204020204" charset="-122"/>
              </a:rPr>
              <a:t>计</a:t>
            </a:r>
            <a:endParaRPr sz="1400">
              <a:latin typeface="微软雅黑" panose="020B0503020204020204" charset="-122"/>
              <a:ea typeface="微软雅黑" panose="020B0503020204020204" charset="-122"/>
              <a:cs typeface="微软雅黑" panose="020B0503020204020204" charset="-122"/>
            </a:endParaRPr>
          </a:p>
        </p:txBody>
      </p:sp>
      <p:sp>
        <p:nvSpPr>
          <p:cNvPr id="29" name="object 29"/>
          <p:cNvSpPr/>
          <p:nvPr/>
        </p:nvSpPr>
        <p:spPr>
          <a:xfrm>
            <a:off x="6944518" y="1980591"/>
            <a:ext cx="1156151" cy="306488"/>
          </a:xfrm>
          <a:custGeom>
            <a:avLst/>
            <a:gdLst/>
            <a:ahLst/>
            <a:cxnLst/>
            <a:rect l="l" t="t" r="r" b="b"/>
            <a:pathLst>
              <a:path w="1156970" h="306705">
                <a:moveTo>
                  <a:pt x="0" y="306324"/>
                </a:moveTo>
                <a:lnTo>
                  <a:pt x="1156716" y="306324"/>
                </a:lnTo>
                <a:lnTo>
                  <a:pt x="1156716" y="0"/>
                </a:lnTo>
                <a:lnTo>
                  <a:pt x="0" y="0"/>
                </a:lnTo>
                <a:lnTo>
                  <a:pt x="0" y="30632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0" name="object 30"/>
          <p:cNvSpPr/>
          <p:nvPr/>
        </p:nvSpPr>
        <p:spPr>
          <a:xfrm>
            <a:off x="6944518" y="2330862"/>
            <a:ext cx="1156151" cy="306488"/>
          </a:xfrm>
          <a:custGeom>
            <a:avLst/>
            <a:gdLst/>
            <a:ahLst/>
            <a:cxnLst/>
            <a:rect l="l" t="t" r="r" b="b"/>
            <a:pathLst>
              <a:path w="1156970" h="306705">
                <a:moveTo>
                  <a:pt x="0" y="306324"/>
                </a:moveTo>
                <a:lnTo>
                  <a:pt x="1156716" y="306324"/>
                </a:lnTo>
                <a:lnTo>
                  <a:pt x="1156716" y="0"/>
                </a:lnTo>
                <a:lnTo>
                  <a:pt x="0" y="0"/>
                </a:lnTo>
                <a:lnTo>
                  <a:pt x="0" y="30632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1" name="object 31"/>
          <p:cNvSpPr/>
          <p:nvPr/>
        </p:nvSpPr>
        <p:spPr>
          <a:xfrm>
            <a:off x="6944518" y="2682657"/>
            <a:ext cx="1156151" cy="517792"/>
          </a:xfrm>
          <a:custGeom>
            <a:avLst/>
            <a:gdLst/>
            <a:ahLst/>
            <a:cxnLst/>
            <a:rect l="l" t="t" r="r" b="b"/>
            <a:pathLst>
              <a:path w="1156970" h="518160">
                <a:moveTo>
                  <a:pt x="0" y="518160"/>
                </a:moveTo>
                <a:lnTo>
                  <a:pt x="1156716" y="518160"/>
                </a:lnTo>
                <a:lnTo>
                  <a:pt x="1156716"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graphicFrame>
        <p:nvGraphicFramePr>
          <p:cNvPr id="32" name="object 32"/>
          <p:cNvGraphicFramePr>
            <a:graphicFrameLocks noGrp="1"/>
          </p:cNvGraphicFramePr>
          <p:nvPr/>
        </p:nvGraphicFramePr>
        <p:xfrm>
          <a:off x="6939759" y="1975831"/>
          <a:ext cx="1170305" cy="1229360"/>
        </p:xfrm>
        <a:graphic>
          <a:graphicData uri="http://schemas.openxmlformats.org/drawingml/2006/table">
            <a:tbl>
              <a:tblPr firstRow="1" bandRow="1">
                <a:tableStyleId>{2D5ABB26-0587-4C30-8999-92F81FD0307C}</a:tableStyleId>
              </a:tblPr>
              <a:tblGrid>
                <a:gridCol w="1170305"/>
              </a:tblGrid>
              <a:tr h="330835">
                <a:tc>
                  <a:txBody>
                    <a:bodyPr/>
                    <a:lstStyle/>
                    <a:p>
                      <a:pPr marL="73660">
                        <a:lnSpc>
                          <a:spcPct val="100000"/>
                        </a:lnSpc>
                        <a:spcBef>
                          <a:spcPts val="275"/>
                        </a:spcBef>
                      </a:pPr>
                      <a:r>
                        <a:rPr sz="1400" dirty="0">
                          <a:solidFill>
                            <a:srgbClr val="0066CC"/>
                          </a:solidFill>
                          <a:latin typeface="微软雅黑" panose="020B0503020204020204" charset="-122"/>
                          <a:ea typeface="微软雅黑" panose="020B0503020204020204" charset="-122"/>
                          <a:cs typeface="微软雅黑" panose="020B0503020204020204" charset="-122"/>
                        </a:rPr>
                        <a:t>价值销售</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a:txBody>
                  <a:tcPr marL="0" marR="0" marT="34900" marB="0">
                    <a:lnL w="9525">
                      <a:solidFill>
                        <a:srgbClr val="91AFFF"/>
                      </a:solidFill>
                      <a:prstDash val="solid"/>
                    </a:lnL>
                    <a:lnR w="9525">
                      <a:solidFill>
                        <a:srgbClr val="91AFFF"/>
                      </a:solidFill>
                      <a:prstDash val="solid"/>
                    </a:lnR>
                    <a:lnT w="9525">
                      <a:solidFill>
                        <a:srgbClr val="91AFFF"/>
                      </a:solidFill>
                      <a:prstDash val="solid"/>
                    </a:lnT>
                    <a:lnB w="9525">
                      <a:solidFill>
                        <a:srgbClr val="91AFFF"/>
                      </a:solidFill>
                      <a:prstDash val="solid"/>
                    </a:lnB>
                    <a:solidFill>
                      <a:srgbClr val="C6DFFA"/>
                    </a:solidFill>
                  </a:tcPr>
                </a:tc>
              </a:tr>
              <a:tr h="353695">
                <a:tc>
                  <a:txBody>
                    <a:bodyPr/>
                    <a:lstStyle/>
                    <a:p>
                      <a:pPr marL="73660">
                        <a:lnSpc>
                          <a:spcPct val="100000"/>
                        </a:lnSpc>
                        <a:spcBef>
                          <a:spcPts val="455"/>
                        </a:spcBef>
                      </a:pPr>
                      <a:r>
                        <a:rPr sz="1400" dirty="0">
                          <a:solidFill>
                            <a:srgbClr val="0066CC"/>
                          </a:solidFill>
                          <a:latin typeface="微软雅黑" panose="020B0503020204020204" charset="-122"/>
                          <a:ea typeface="微软雅黑" panose="020B0503020204020204" charset="-122"/>
                          <a:cs typeface="微软雅黑" panose="020B0503020204020204" charset="-122"/>
                        </a:rPr>
                        <a:t>谈判</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a:txBody>
                  <a:tcPr marL="0" marR="0" marT="57744" marB="0">
                    <a:lnL w="9525">
                      <a:solidFill>
                        <a:srgbClr val="91AFFF"/>
                      </a:solidFill>
                      <a:prstDash val="solid"/>
                    </a:lnL>
                    <a:lnR w="9525">
                      <a:solidFill>
                        <a:srgbClr val="91AFFF"/>
                      </a:solidFill>
                      <a:prstDash val="solid"/>
                    </a:lnR>
                    <a:lnT w="9525">
                      <a:solidFill>
                        <a:srgbClr val="91AFFF"/>
                      </a:solidFill>
                      <a:prstDash val="solid"/>
                    </a:lnT>
                    <a:lnB w="9525">
                      <a:solidFill>
                        <a:srgbClr val="91AFFF"/>
                      </a:solidFill>
                      <a:prstDash val="solid"/>
                    </a:lnB>
                    <a:solidFill>
                      <a:srgbClr val="C6DFFA"/>
                    </a:solidFill>
                  </a:tcPr>
                </a:tc>
              </a:tr>
              <a:tr h="544830">
                <a:tc>
                  <a:txBody>
                    <a:bodyPr/>
                    <a:lstStyle/>
                    <a:p>
                      <a:pPr marL="73660">
                        <a:lnSpc>
                          <a:spcPct val="100000"/>
                        </a:lnSpc>
                        <a:spcBef>
                          <a:spcPts val="1295"/>
                        </a:spcBef>
                      </a:pPr>
                      <a:r>
                        <a:rPr sz="1400" dirty="0">
                          <a:solidFill>
                            <a:srgbClr val="0066CC"/>
                          </a:solidFill>
                          <a:latin typeface="微软雅黑" panose="020B0503020204020204" charset="-122"/>
                          <a:ea typeface="微软雅黑" panose="020B0503020204020204" charset="-122"/>
                          <a:cs typeface="微软雅黑" panose="020B0503020204020204" charset="-122"/>
                        </a:rPr>
                        <a:t>绩效管理</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a:txBody>
                  <a:tcPr marL="0" marR="0" marT="164348" marB="0">
                    <a:lnL w="9525">
                      <a:solidFill>
                        <a:srgbClr val="91AFFF"/>
                      </a:solidFill>
                      <a:prstDash val="solid"/>
                    </a:lnL>
                    <a:lnR w="9525">
                      <a:solidFill>
                        <a:srgbClr val="91AFFF"/>
                      </a:solidFill>
                      <a:prstDash val="solid"/>
                    </a:lnR>
                    <a:lnT w="9525">
                      <a:solidFill>
                        <a:srgbClr val="91AFFF"/>
                      </a:solidFill>
                      <a:prstDash val="solid"/>
                    </a:lnT>
                    <a:lnB w="9525">
                      <a:solidFill>
                        <a:srgbClr val="91AFFF"/>
                      </a:solidFill>
                      <a:prstDash val="solid"/>
                    </a:lnB>
                    <a:solidFill>
                      <a:srgbClr val="C6DFFA"/>
                    </a:solidFill>
                  </a:tcPr>
                </a:tc>
              </a:tr>
            </a:tbl>
          </a:graphicData>
        </a:graphic>
      </p:graphicFrame>
      <p:sp>
        <p:nvSpPr>
          <p:cNvPr id="33" name="object 33"/>
          <p:cNvSpPr/>
          <p:nvPr/>
        </p:nvSpPr>
        <p:spPr>
          <a:xfrm>
            <a:off x="632011" y="1980591"/>
            <a:ext cx="1488020" cy="517792"/>
          </a:xfrm>
          <a:custGeom>
            <a:avLst/>
            <a:gdLst/>
            <a:ahLst/>
            <a:cxnLst/>
            <a:rect l="l" t="t" r="r" b="b"/>
            <a:pathLst>
              <a:path w="1489075" h="518160">
                <a:moveTo>
                  <a:pt x="0" y="518160"/>
                </a:moveTo>
                <a:lnTo>
                  <a:pt x="1488948" y="518160"/>
                </a:lnTo>
                <a:lnTo>
                  <a:pt x="1488948"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4" name="object 34"/>
          <p:cNvSpPr txBox="1"/>
          <p:nvPr/>
        </p:nvSpPr>
        <p:spPr>
          <a:xfrm>
            <a:off x="632011" y="1980591"/>
            <a:ext cx="1488020" cy="464185"/>
          </a:xfrm>
          <a:prstGeom prst="rect">
            <a:avLst/>
          </a:prstGeom>
          <a:ln w="9525">
            <a:solidFill>
              <a:srgbClr val="91AFFF"/>
            </a:solidFill>
          </a:ln>
        </p:spPr>
        <p:txBody>
          <a:bodyPr vert="horz" wrap="square" lIns="0" tIns="34265" rIns="0" bIns="0" rtlCol="0">
            <a:spAutoFit/>
          </a:bodyPr>
          <a:lstStyle/>
          <a:p>
            <a:pPr marL="71120" marR="518795">
              <a:lnSpc>
                <a:spcPct val="100000"/>
              </a:lnSpc>
              <a:spcBef>
                <a:spcPts val="270"/>
              </a:spcBef>
            </a:pPr>
            <a:r>
              <a:rPr sz="1400" dirty="0">
                <a:solidFill>
                  <a:srgbClr val="0066CC"/>
                </a:solidFill>
                <a:latin typeface="微软雅黑" panose="020B0503020204020204" charset="-122"/>
                <a:ea typeface="微软雅黑" panose="020B0503020204020204" charset="-122"/>
                <a:cs typeface="微软雅黑" panose="020B0503020204020204" charset="-122"/>
              </a:rPr>
              <a:t>识别并审核 大客户</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5" name="object 35"/>
          <p:cNvSpPr txBox="1"/>
          <p:nvPr/>
        </p:nvSpPr>
        <p:spPr>
          <a:xfrm>
            <a:off x="6933604" y="1535644"/>
            <a:ext cx="1045739"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实施和跟踪</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6" name="object 36"/>
          <p:cNvSpPr txBox="1"/>
          <p:nvPr/>
        </p:nvSpPr>
        <p:spPr>
          <a:xfrm>
            <a:off x="618712" y="1535644"/>
            <a:ext cx="84204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客户分类</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7" name="object 37"/>
          <p:cNvSpPr txBox="1"/>
          <p:nvPr/>
        </p:nvSpPr>
        <p:spPr>
          <a:xfrm>
            <a:off x="2982893" y="1535644"/>
            <a:ext cx="1045739"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大客户分析</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8" name="object 38"/>
          <p:cNvSpPr/>
          <p:nvPr/>
        </p:nvSpPr>
        <p:spPr>
          <a:xfrm>
            <a:off x="4074573" y="1323450"/>
            <a:ext cx="2679071" cy="1951242"/>
          </a:xfrm>
          <a:custGeom>
            <a:avLst/>
            <a:gdLst/>
            <a:ahLst/>
            <a:cxnLst/>
            <a:rect l="l" t="t" r="r" b="b"/>
            <a:pathLst>
              <a:path w="2680970" h="1952625">
                <a:moveTo>
                  <a:pt x="1977643" y="0"/>
                </a:moveTo>
                <a:lnTo>
                  <a:pt x="0" y="0"/>
                </a:lnTo>
                <a:lnTo>
                  <a:pt x="703072" y="1952244"/>
                </a:lnTo>
                <a:lnTo>
                  <a:pt x="2680716" y="1952244"/>
                </a:lnTo>
                <a:lnTo>
                  <a:pt x="1977643"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9" name="object 39"/>
          <p:cNvSpPr/>
          <p:nvPr/>
        </p:nvSpPr>
        <p:spPr>
          <a:xfrm>
            <a:off x="4074573" y="1323450"/>
            <a:ext cx="2679071" cy="1951242"/>
          </a:xfrm>
          <a:custGeom>
            <a:avLst/>
            <a:gdLst/>
            <a:ahLst/>
            <a:cxnLst/>
            <a:rect l="l" t="t" r="r" b="b"/>
            <a:pathLst>
              <a:path w="2680970" h="1952625">
                <a:moveTo>
                  <a:pt x="0" y="0"/>
                </a:moveTo>
                <a:lnTo>
                  <a:pt x="1977643" y="0"/>
                </a:lnTo>
                <a:lnTo>
                  <a:pt x="2680716" y="1952244"/>
                </a:lnTo>
                <a:lnTo>
                  <a:pt x="703072" y="1952244"/>
                </a:lnTo>
                <a:lnTo>
                  <a:pt x="0" y="0"/>
                </a:lnTo>
                <a:close/>
              </a:path>
            </a:pathLst>
          </a:custGeom>
          <a:ln w="28575">
            <a:solidFill>
              <a:srgbClr val="0066CC"/>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0" name="object 40"/>
          <p:cNvSpPr/>
          <p:nvPr/>
        </p:nvSpPr>
        <p:spPr>
          <a:xfrm>
            <a:off x="4402256" y="1433354"/>
            <a:ext cx="385807" cy="501295"/>
          </a:xfrm>
          <a:custGeom>
            <a:avLst/>
            <a:gdLst/>
            <a:ahLst/>
            <a:cxnLst/>
            <a:rect l="l" t="t" r="r" b="b"/>
            <a:pathLst>
              <a:path w="386079" h="501650">
                <a:moveTo>
                  <a:pt x="194437" y="0"/>
                </a:moveTo>
                <a:lnTo>
                  <a:pt x="141208" y="5524"/>
                </a:lnTo>
                <a:lnTo>
                  <a:pt x="98551" y="22098"/>
                </a:lnTo>
                <a:lnTo>
                  <a:pt x="63940" y="51315"/>
                </a:lnTo>
                <a:lnTo>
                  <a:pt x="32781" y="95250"/>
                </a:lnTo>
                <a:lnTo>
                  <a:pt x="9858" y="155684"/>
                </a:lnTo>
                <a:lnTo>
                  <a:pt x="1095" y="217354"/>
                </a:lnTo>
                <a:lnTo>
                  <a:pt x="0" y="252856"/>
                </a:lnTo>
                <a:lnTo>
                  <a:pt x="885" y="286529"/>
                </a:lnTo>
                <a:lnTo>
                  <a:pt x="8036" y="343350"/>
                </a:lnTo>
                <a:lnTo>
                  <a:pt x="22278" y="387336"/>
                </a:lnTo>
                <a:lnTo>
                  <a:pt x="42229" y="424725"/>
                </a:lnTo>
                <a:lnTo>
                  <a:pt x="67609" y="456136"/>
                </a:lnTo>
                <a:lnTo>
                  <a:pt x="98038" y="479186"/>
                </a:lnTo>
                <a:lnTo>
                  <a:pt x="133873" y="493613"/>
                </a:lnTo>
                <a:lnTo>
                  <a:pt x="178069" y="500749"/>
                </a:lnTo>
                <a:lnTo>
                  <a:pt x="203453" y="501650"/>
                </a:lnTo>
                <a:lnTo>
                  <a:pt x="229766" y="500249"/>
                </a:lnTo>
                <a:lnTo>
                  <a:pt x="275105" y="489112"/>
                </a:lnTo>
                <a:lnTo>
                  <a:pt x="311155" y="467256"/>
                </a:lnTo>
                <a:lnTo>
                  <a:pt x="340441" y="436205"/>
                </a:lnTo>
                <a:lnTo>
                  <a:pt x="363374" y="396392"/>
                </a:lnTo>
                <a:lnTo>
                  <a:pt x="370603" y="378205"/>
                </a:lnTo>
                <a:lnTo>
                  <a:pt x="196214" y="378205"/>
                </a:lnTo>
                <a:lnTo>
                  <a:pt x="181832" y="376297"/>
                </a:lnTo>
                <a:lnTo>
                  <a:pt x="146685" y="347472"/>
                </a:lnTo>
                <a:lnTo>
                  <a:pt x="132000" y="309737"/>
                </a:lnTo>
                <a:lnTo>
                  <a:pt x="127126" y="257810"/>
                </a:lnTo>
                <a:lnTo>
                  <a:pt x="128363" y="226704"/>
                </a:lnTo>
                <a:lnTo>
                  <a:pt x="138217" y="177210"/>
                </a:lnTo>
                <a:lnTo>
                  <a:pt x="169465" y="134175"/>
                </a:lnTo>
                <a:lnTo>
                  <a:pt x="198120" y="125984"/>
                </a:lnTo>
                <a:lnTo>
                  <a:pt x="368473" y="125984"/>
                </a:lnTo>
                <a:lnTo>
                  <a:pt x="355377" y="93710"/>
                </a:lnTo>
                <a:lnTo>
                  <a:pt x="318897" y="41910"/>
                </a:lnTo>
                <a:lnTo>
                  <a:pt x="266334" y="10477"/>
                </a:lnTo>
                <a:lnTo>
                  <a:pt x="232796" y="2619"/>
                </a:lnTo>
                <a:lnTo>
                  <a:pt x="194437" y="0"/>
                </a:lnTo>
                <a:close/>
              </a:path>
              <a:path w="386079" h="501650">
                <a:moveTo>
                  <a:pt x="264160" y="302767"/>
                </a:moveTo>
                <a:lnTo>
                  <a:pt x="246532" y="349166"/>
                </a:lnTo>
                <a:lnTo>
                  <a:pt x="208287" y="377041"/>
                </a:lnTo>
                <a:lnTo>
                  <a:pt x="196214" y="378205"/>
                </a:lnTo>
                <a:lnTo>
                  <a:pt x="370603" y="378205"/>
                </a:lnTo>
                <a:lnTo>
                  <a:pt x="372446" y="373554"/>
                </a:lnTo>
                <a:lnTo>
                  <a:pt x="379860" y="349009"/>
                </a:lnTo>
                <a:lnTo>
                  <a:pt x="385699" y="322579"/>
                </a:lnTo>
                <a:lnTo>
                  <a:pt x="264160" y="302767"/>
                </a:lnTo>
                <a:close/>
              </a:path>
              <a:path w="386079" h="501650">
                <a:moveTo>
                  <a:pt x="368473" y="125984"/>
                </a:moveTo>
                <a:lnTo>
                  <a:pt x="198120" y="125984"/>
                </a:lnTo>
                <a:lnTo>
                  <a:pt x="210052" y="126960"/>
                </a:lnTo>
                <a:lnTo>
                  <a:pt x="220710" y="129889"/>
                </a:lnTo>
                <a:lnTo>
                  <a:pt x="250825" y="161020"/>
                </a:lnTo>
                <a:lnTo>
                  <a:pt x="258825" y="187960"/>
                </a:lnTo>
                <a:lnTo>
                  <a:pt x="379095" y="164846"/>
                </a:lnTo>
                <a:lnTo>
                  <a:pt x="368831" y="126867"/>
                </a:lnTo>
                <a:lnTo>
                  <a:pt x="368473" y="125984"/>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1" name="object 41"/>
          <p:cNvSpPr/>
          <p:nvPr/>
        </p:nvSpPr>
        <p:spPr>
          <a:xfrm>
            <a:off x="6458199" y="1433354"/>
            <a:ext cx="385807" cy="501295"/>
          </a:xfrm>
          <a:custGeom>
            <a:avLst/>
            <a:gdLst/>
            <a:ahLst/>
            <a:cxnLst/>
            <a:rect l="l" t="t" r="r" b="b"/>
            <a:pathLst>
              <a:path w="386079" h="501650">
                <a:moveTo>
                  <a:pt x="147827" y="127888"/>
                </a:moveTo>
                <a:lnTo>
                  <a:pt x="89074" y="139684"/>
                </a:lnTo>
                <a:lnTo>
                  <a:pt x="41655" y="175005"/>
                </a:lnTo>
                <a:lnTo>
                  <a:pt x="10398" y="232537"/>
                </a:lnTo>
                <a:lnTo>
                  <a:pt x="0" y="311023"/>
                </a:lnTo>
                <a:lnTo>
                  <a:pt x="2357" y="349244"/>
                </a:lnTo>
                <a:lnTo>
                  <a:pt x="21216" y="416732"/>
                </a:lnTo>
                <a:lnTo>
                  <a:pt x="58697" y="470360"/>
                </a:lnTo>
                <a:lnTo>
                  <a:pt x="113371" y="498173"/>
                </a:lnTo>
                <a:lnTo>
                  <a:pt x="147066" y="501650"/>
                </a:lnTo>
                <a:lnTo>
                  <a:pt x="164472" y="500675"/>
                </a:lnTo>
                <a:lnTo>
                  <a:pt x="211835" y="486155"/>
                </a:lnTo>
                <a:lnTo>
                  <a:pt x="247036" y="456116"/>
                </a:lnTo>
                <a:lnTo>
                  <a:pt x="259969" y="440689"/>
                </a:lnTo>
                <a:lnTo>
                  <a:pt x="385699" y="440689"/>
                </a:lnTo>
                <a:lnTo>
                  <a:pt x="385699" y="401319"/>
                </a:lnTo>
                <a:lnTo>
                  <a:pt x="191007" y="401319"/>
                </a:lnTo>
                <a:lnTo>
                  <a:pt x="179459" y="400034"/>
                </a:lnTo>
                <a:lnTo>
                  <a:pt x="143454" y="369226"/>
                </a:lnTo>
                <a:lnTo>
                  <a:pt x="134239" y="316738"/>
                </a:lnTo>
                <a:lnTo>
                  <a:pt x="135237" y="294997"/>
                </a:lnTo>
                <a:lnTo>
                  <a:pt x="150114" y="250062"/>
                </a:lnTo>
                <a:lnTo>
                  <a:pt x="189356" y="230250"/>
                </a:lnTo>
                <a:lnTo>
                  <a:pt x="385699" y="230250"/>
                </a:lnTo>
                <a:lnTo>
                  <a:pt x="385699" y="170941"/>
                </a:lnTo>
                <a:lnTo>
                  <a:pt x="250063" y="170941"/>
                </a:lnTo>
                <a:lnTo>
                  <a:pt x="239799" y="160847"/>
                </a:lnTo>
                <a:lnTo>
                  <a:pt x="228822" y="152098"/>
                </a:lnTo>
                <a:lnTo>
                  <a:pt x="191583" y="133943"/>
                </a:lnTo>
                <a:lnTo>
                  <a:pt x="163111" y="128557"/>
                </a:lnTo>
                <a:lnTo>
                  <a:pt x="147827" y="127888"/>
                </a:lnTo>
                <a:close/>
              </a:path>
              <a:path w="386079" h="501650">
                <a:moveTo>
                  <a:pt x="385699" y="440689"/>
                </a:moveTo>
                <a:lnTo>
                  <a:pt x="259969" y="440689"/>
                </a:lnTo>
                <a:lnTo>
                  <a:pt x="259969" y="493522"/>
                </a:lnTo>
                <a:lnTo>
                  <a:pt x="385699" y="493522"/>
                </a:lnTo>
                <a:lnTo>
                  <a:pt x="385699" y="440689"/>
                </a:lnTo>
                <a:close/>
              </a:path>
              <a:path w="386079" h="501650">
                <a:moveTo>
                  <a:pt x="385699" y="230250"/>
                </a:moveTo>
                <a:lnTo>
                  <a:pt x="189356" y="230250"/>
                </a:lnTo>
                <a:lnTo>
                  <a:pt x="202120" y="231538"/>
                </a:lnTo>
                <a:lnTo>
                  <a:pt x="213741" y="235410"/>
                </a:lnTo>
                <a:lnTo>
                  <a:pt x="241220" y="262647"/>
                </a:lnTo>
                <a:lnTo>
                  <a:pt x="251078" y="313689"/>
                </a:lnTo>
                <a:lnTo>
                  <a:pt x="250007" y="335311"/>
                </a:lnTo>
                <a:lnTo>
                  <a:pt x="233933" y="380746"/>
                </a:lnTo>
                <a:lnTo>
                  <a:pt x="191007" y="401319"/>
                </a:lnTo>
                <a:lnTo>
                  <a:pt x="385699" y="401319"/>
                </a:lnTo>
                <a:lnTo>
                  <a:pt x="385699" y="230250"/>
                </a:lnTo>
                <a:close/>
              </a:path>
              <a:path w="386079" h="501650">
                <a:moveTo>
                  <a:pt x="385699" y="0"/>
                </a:moveTo>
                <a:lnTo>
                  <a:pt x="250063" y="0"/>
                </a:lnTo>
                <a:lnTo>
                  <a:pt x="250063" y="170941"/>
                </a:lnTo>
                <a:lnTo>
                  <a:pt x="385699" y="170941"/>
                </a:lnTo>
                <a:lnTo>
                  <a:pt x="385699"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2" name="object 42"/>
          <p:cNvSpPr/>
          <p:nvPr/>
        </p:nvSpPr>
        <p:spPr>
          <a:xfrm>
            <a:off x="4976905" y="1980591"/>
            <a:ext cx="1154882" cy="517792"/>
          </a:xfrm>
          <a:custGeom>
            <a:avLst/>
            <a:gdLst/>
            <a:ahLst/>
            <a:cxnLst/>
            <a:rect l="l" t="t" r="r" b="b"/>
            <a:pathLst>
              <a:path w="1155700" h="518160">
                <a:moveTo>
                  <a:pt x="0" y="518160"/>
                </a:moveTo>
                <a:lnTo>
                  <a:pt x="1155191" y="518160"/>
                </a:lnTo>
                <a:lnTo>
                  <a:pt x="1155191" y="0"/>
                </a:lnTo>
                <a:lnTo>
                  <a:pt x="0" y="0"/>
                </a:lnTo>
                <a:lnTo>
                  <a:pt x="0" y="51816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3" name="object 43"/>
          <p:cNvSpPr txBox="1"/>
          <p:nvPr/>
        </p:nvSpPr>
        <p:spPr>
          <a:xfrm>
            <a:off x="4976905" y="1980591"/>
            <a:ext cx="1154882" cy="355600"/>
          </a:xfrm>
          <a:prstGeom prst="rect">
            <a:avLst/>
          </a:prstGeom>
          <a:ln w="9525">
            <a:solidFill>
              <a:srgbClr val="0066CC"/>
            </a:solidFill>
          </a:ln>
        </p:spPr>
        <p:txBody>
          <a:bodyPr vert="horz" wrap="square" lIns="0" tIns="140870" rIns="0" bIns="0" rtlCol="0">
            <a:spAutoFit/>
          </a:bodyPr>
          <a:lstStyle/>
          <a:p>
            <a:pPr marL="72390">
              <a:lnSpc>
                <a:spcPct val="100000"/>
              </a:lnSpc>
              <a:spcBef>
                <a:spcPts val="1110"/>
              </a:spcBef>
            </a:pPr>
            <a:r>
              <a:rPr sz="1400" dirty="0">
                <a:solidFill>
                  <a:srgbClr val="0066CC"/>
                </a:solidFill>
                <a:latin typeface="微软雅黑" panose="020B0503020204020204" charset="-122"/>
                <a:ea typeface="微软雅黑" panose="020B0503020204020204" charset="-122"/>
                <a:cs typeface="微软雅黑" panose="020B0503020204020204" charset="-122"/>
              </a:rPr>
              <a:t>战略规划</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4" name="object 44"/>
          <p:cNvSpPr/>
          <p:nvPr/>
        </p:nvSpPr>
        <p:spPr>
          <a:xfrm>
            <a:off x="4976905" y="2560823"/>
            <a:ext cx="1154882" cy="517792"/>
          </a:xfrm>
          <a:custGeom>
            <a:avLst/>
            <a:gdLst/>
            <a:ahLst/>
            <a:cxnLst/>
            <a:rect l="l" t="t" r="r" b="b"/>
            <a:pathLst>
              <a:path w="1155700" h="518160">
                <a:moveTo>
                  <a:pt x="0" y="518160"/>
                </a:moveTo>
                <a:lnTo>
                  <a:pt x="1155191" y="518160"/>
                </a:lnTo>
                <a:lnTo>
                  <a:pt x="1155191" y="0"/>
                </a:lnTo>
                <a:lnTo>
                  <a:pt x="0" y="0"/>
                </a:lnTo>
                <a:lnTo>
                  <a:pt x="0" y="51816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5" name="object 45"/>
          <p:cNvSpPr txBox="1"/>
          <p:nvPr/>
        </p:nvSpPr>
        <p:spPr>
          <a:xfrm>
            <a:off x="4976905" y="2560823"/>
            <a:ext cx="1154882" cy="355600"/>
          </a:xfrm>
          <a:prstGeom prst="rect">
            <a:avLst/>
          </a:prstGeom>
          <a:ln w="9525">
            <a:solidFill>
              <a:srgbClr val="0066CC"/>
            </a:solidFill>
          </a:ln>
        </p:spPr>
        <p:txBody>
          <a:bodyPr vert="horz" wrap="square" lIns="0" tIns="140870" rIns="0" bIns="0" rtlCol="0">
            <a:spAutoFit/>
          </a:bodyPr>
          <a:lstStyle/>
          <a:p>
            <a:pPr marL="72390">
              <a:lnSpc>
                <a:spcPct val="100000"/>
              </a:lnSpc>
              <a:spcBef>
                <a:spcPts val="1110"/>
              </a:spcBef>
            </a:pPr>
            <a:r>
              <a:rPr sz="1400" dirty="0">
                <a:solidFill>
                  <a:srgbClr val="0066CC"/>
                </a:solidFill>
                <a:latin typeface="微软雅黑" panose="020B0503020204020204" charset="-122"/>
                <a:ea typeface="微软雅黑" panose="020B0503020204020204" charset="-122"/>
                <a:cs typeface="微软雅黑" panose="020B0503020204020204" charset="-122"/>
              </a:rPr>
              <a:t>行动计划</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6" name="object 46"/>
          <p:cNvSpPr txBox="1"/>
          <p:nvPr/>
        </p:nvSpPr>
        <p:spPr>
          <a:xfrm>
            <a:off x="4964467" y="1535644"/>
            <a:ext cx="104129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大客</a:t>
            </a:r>
            <a:r>
              <a:rPr sz="1600" b="1" spc="-10" dirty="0">
                <a:solidFill>
                  <a:srgbClr val="0066CC"/>
                </a:solidFill>
                <a:latin typeface="微软雅黑" panose="020B0503020204020204" charset="-122"/>
                <a:ea typeface="微软雅黑" panose="020B0503020204020204" charset="-122"/>
                <a:cs typeface="微软雅黑" panose="020B0503020204020204" charset="-122"/>
              </a:rPr>
              <a:t>户规划</a:t>
            </a:r>
            <a:endParaRPr sz="1600">
              <a:latin typeface="微软雅黑" panose="020B0503020204020204" charset="-122"/>
              <a:ea typeface="微软雅黑" panose="020B0503020204020204" charset="-122"/>
              <a:cs typeface="微软雅黑" panose="020B0503020204020204" charset="-122"/>
            </a:endParaRPr>
          </a:p>
        </p:txBody>
      </p:sp>
      <p:sp>
        <p:nvSpPr>
          <p:cNvPr id="47" name="object 47"/>
          <p:cNvSpPr txBox="1"/>
          <p:nvPr/>
        </p:nvSpPr>
        <p:spPr>
          <a:xfrm>
            <a:off x="106401" y="6412696"/>
            <a:ext cx="2191102"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35"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a:t>
            </a:r>
            <a:r>
              <a:rPr sz="1000" spc="-35"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营销和销售业务部</a:t>
            </a:r>
            <a:endParaRPr sz="10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401" y="200043"/>
            <a:ext cx="8464266" cy="598170"/>
          </a:xfrm>
          <a:prstGeom prst="rect">
            <a:avLst/>
          </a:prstGeom>
        </p:spPr>
        <p:txBody>
          <a:bodyPr vert="horz" wrap="square" lIns="0" tIns="8883" rIns="0" bIns="0" rtlCol="0">
            <a:spAutoFit/>
          </a:bodyPr>
          <a:lstStyle/>
          <a:p>
            <a:pPr marL="12700" marR="5080">
              <a:lnSpc>
                <a:spcPct val="101000"/>
              </a:lnSpc>
              <a:spcBef>
                <a:spcPts val="70"/>
              </a:spcBef>
            </a:pPr>
            <a:r>
              <a:rPr spc="-5" dirty="0">
                <a:ea typeface="微软雅黑" panose="020B0503020204020204" charset="-122"/>
              </a:rPr>
              <a:t>大客户规划</a:t>
            </a:r>
            <a:r>
              <a:rPr spc="-10" dirty="0">
                <a:ea typeface="微软雅黑" panose="020B0503020204020204" charset="-122"/>
              </a:rPr>
              <a:t>应包</a:t>
            </a:r>
            <a:r>
              <a:rPr spc="-5" dirty="0">
                <a:ea typeface="微软雅黑" panose="020B0503020204020204" charset="-122"/>
              </a:rPr>
              <a:t>含</a:t>
            </a:r>
            <a:r>
              <a:rPr spc="-10" dirty="0">
                <a:ea typeface="微软雅黑" panose="020B0503020204020204" charset="-122"/>
              </a:rPr>
              <a:t>详尽</a:t>
            </a:r>
            <a:r>
              <a:rPr spc="-5" dirty="0">
                <a:ea typeface="微软雅黑" panose="020B0503020204020204" charset="-122"/>
              </a:rPr>
              <a:t>的</a:t>
            </a:r>
            <a:r>
              <a:rPr spc="-10" dirty="0">
                <a:ea typeface="微软雅黑" panose="020B0503020204020204" charset="-122"/>
              </a:rPr>
              <a:t>客户</a:t>
            </a:r>
            <a:r>
              <a:rPr spc="-5" dirty="0">
                <a:ea typeface="微软雅黑" panose="020B0503020204020204" charset="-122"/>
              </a:rPr>
              <a:t>需</a:t>
            </a:r>
            <a:r>
              <a:rPr spc="-10" dirty="0">
                <a:ea typeface="微软雅黑" panose="020B0503020204020204" charset="-122"/>
              </a:rPr>
              <a:t>求和</a:t>
            </a:r>
            <a:r>
              <a:rPr spc="-5" dirty="0">
                <a:ea typeface="微软雅黑" panose="020B0503020204020204" charset="-122"/>
              </a:rPr>
              <a:t>决</a:t>
            </a:r>
            <a:r>
              <a:rPr spc="-10" dirty="0">
                <a:ea typeface="微软雅黑" panose="020B0503020204020204" charset="-122"/>
              </a:rPr>
              <a:t>策机</a:t>
            </a:r>
            <a:r>
              <a:rPr spc="-5" dirty="0">
                <a:ea typeface="微软雅黑" panose="020B0503020204020204" charset="-122"/>
              </a:rPr>
              <a:t>制</a:t>
            </a:r>
            <a:r>
              <a:rPr spc="-10" dirty="0">
                <a:ea typeface="微软雅黑" panose="020B0503020204020204" charset="-122"/>
              </a:rPr>
              <a:t>、市</a:t>
            </a:r>
            <a:r>
              <a:rPr spc="-5" dirty="0">
                <a:ea typeface="微软雅黑" panose="020B0503020204020204" charset="-122"/>
              </a:rPr>
              <a:t>场</a:t>
            </a:r>
            <a:r>
              <a:rPr spc="-10" dirty="0">
                <a:ea typeface="微软雅黑" panose="020B0503020204020204" charset="-122"/>
              </a:rPr>
              <a:t>竞争</a:t>
            </a:r>
            <a:r>
              <a:rPr spc="-5" dirty="0">
                <a:ea typeface="微软雅黑" panose="020B0503020204020204" charset="-122"/>
              </a:rPr>
              <a:t>态</a:t>
            </a:r>
            <a:r>
              <a:rPr spc="-10" dirty="0">
                <a:ea typeface="微软雅黑" panose="020B0503020204020204" charset="-122"/>
              </a:rPr>
              <a:t>势分</a:t>
            </a:r>
            <a:r>
              <a:rPr spc="-5" dirty="0">
                <a:ea typeface="微软雅黑" panose="020B0503020204020204" charset="-122"/>
              </a:rPr>
              <a:t>析</a:t>
            </a:r>
            <a:r>
              <a:rPr spc="-10" dirty="0">
                <a:ea typeface="微软雅黑" panose="020B0503020204020204" charset="-122"/>
              </a:rPr>
              <a:t>和明</a:t>
            </a:r>
            <a:r>
              <a:rPr spc="-5" dirty="0">
                <a:ea typeface="微软雅黑" panose="020B0503020204020204" charset="-122"/>
              </a:rPr>
              <a:t>确</a:t>
            </a:r>
            <a:r>
              <a:rPr spc="-10" dirty="0">
                <a:ea typeface="微软雅黑" panose="020B0503020204020204" charset="-122"/>
              </a:rPr>
              <a:t>的战略 </a:t>
            </a:r>
            <a:r>
              <a:rPr spc="-5" dirty="0">
                <a:ea typeface="微软雅黑" panose="020B0503020204020204" charset="-122"/>
              </a:rPr>
              <a:t>方案和行动</a:t>
            </a:r>
            <a:r>
              <a:rPr spc="-10" dirty="0">
                <a:ea typeface="微软雅黑" panose="020B0503020204020204" charset="-122"/>
              </a:rPr>
              <a:t>计划</a:t>
            </a:r>
            <a:endParaRPr spc="-10" dirty="0">
              <a:ea typeface="微软雅黑" panose="020B0503020204020204" charset="-122"/>
            </a:endParaRPr>
          </a:p>
        </p:txBody>
      </p:sp>
      <p:sp>
        <p:nvSpPr>
          <p:cNvPr id="4" name="object 4"/>
          <p:cNvSpPr/>
          <p:nvPr/>
        </p:nvSpPr>
        <p:spPr>
          <a:xfrm>
            <a:off x="119549" y="1360000"/>
            <a:ext cx="4627141" cy="4479290"/>
          </a:xfrm>
          <a:custGeom>
            <a:avLst/>
            <a:gdLst/>
            <a:ahLst/>
            <a:cxnLst/>
            <a:rect l="l" t="t" r="r" b="b"/>
            <a:pathLst>
              <a:path w="4630420" h="4482465">
                <a:moveTo>
                  <a:pt x="0" y="4482084"/>
                </a:moveTo>
                <a:lnTo>
                  <a:pt x="4629912" y="4482084"/>
                </a:lnTo>
                <a:lnTo>
                  <a:pt x="4629912" y="0"/>
                </a:lnTo>
                <a:lnTo>
                  <a:pt x="0" y="0"/>
                </a:lnTo>
                <a:lnTo>
                  <a:pt x="0" y="4482084"/>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p:nvPr/>
        </p:nvSpPr>
        <p:spPr>
          <a:xfrm>
            <a:off x="164475" y="1432339"/>
            <a:ext cx="219300" cy="217777"/>
          </a:xfrm>
          <a:prstGeom prst="rect">
            <a:avLst/>
          </a:prstGeom>
          <a:blipFill>
            <a:blip r:embed="rId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txBox="1"/>
          <p:nvPr/>
        </p:nvSpPr>
        <p:spPr>
          <a:xfrm>
            <a:off x="183664" y="1410511"/>
            <a:ext cx="968324" cy="227965"/>
          </a:xfrm>
          <a:prstGeom prst="rect">
            <a:avLst/>
          </a:prstGeom>
        </p:spPr>
        <p:txBody>
          <a:bodyPr vert="horz" wrap="square" lIns="0" tIns="13325" rIns="0" bIns="0" rtlCol="0">
            <a:spAutoFit/>
          </a:bodyPr>
          <a:lstStyle/>
          <a:p>
            <a:pPr>
              <a:lnSpc>
                <a:spcPct val="100000"/>
              </a:lnSpc>
              <a:spcBef>
                <a:spcPts val="105"/>
              </a:spcBef>
            </a:pPr>
            <a:r>
              <a:rPr sz="1400" b="1" dirty="0">
                <a:solidFill>
                  <a:srgbClr val="FFFFFF"/>
                </a:solidFill>
                <a:latin typeface="微软雅黑" panose="020B0503020204020204" charset="-122"/>
                <a:ea typeface="微软雅黑" panose="020B0503020204020204" charset="-122"/>
                <a:cs typeface="微软雅黑" panose="020B0503020204020204" charset="-122"/>
              </a:rPr>
              <a:t>一</a:t>
            </a:r>
            <a:r>
              <a:rPr sz="1400" b="1" spc="60" dirty="0">
                <a:solidFill>
                  <a:srgbClr val="FFFFFF"/>
                </a:solidFill>
                <a:latin typeface="微软雅黑" panose="020B0503020204020204" charset="-122"/>
                <a:ea typeface="微软雅黑" panose="020B0503020204020204" charset="-122"/>
                <a:cs typeface="微软雅黑" panose="020B0503020204020204" charset="-122"/>
              </a:rPr>
              <a:t> </a:t>
            </a:r>
            <a:r>
              <a:rPr sz="1400" b="1" spc="10" dirty="0">
                <a:latin typeface="微软雅黑" panose="020B0503020204020204" charset="-122"/>
                <a:ea typeface="微软雅黑" panose="020B0503020204020204" charset="-122"/>
                <a:cs typeface="微软雅黑" panose="020B0503020204020204" charset="-122"/>
              </a:rPr>
              <a:t>客户</a:t>
            </a:r>
            <a:r>
              <a:rPr sz="1400" b="1" dirty="0">
                <a:latin typeface="微软雅黑" panose="020B0503020204020204" charset="-122"/>
                <a:ea typeface="微软雅黑" panose="020B0503020204020204" charset="-122"/>
                <a:cs typeface="微软雅黑" panose="020B0503020204020204" charset="-122"/>
              </a:rPr>
              <a:t>洞察</a:t>
            </a:r>
            <a:endParaRPr sz="1400">
              <a:latin typeface="微软雅黑" panose="020B0503020204020204" charset="-122"/>
              <a:ea typeface="微软雅黑" panose="020B0503020204020204" charset="-122"/>
              <a:cs typeface="微软雅黑" panose="020B0503020204020204" charset="-122"/>
            </a:endParaRPr>
          </a:p>
        </p:txBody>
      </p:sp>
      <p:sp>
        <p:nvSpPr>
          <p:cNvPr id="7" name="object 7"/>
          <p:cNvSpPr/>
          <p:nvPr/>
        </p:nvSpPr>
        <p:spPr>
          <a:xfrm>
            <a:off x="3147876" y="2911095"/>
            <a:ext cx="1320499" cy="1267197"/>
          </a:xfrm>
          <a:custGeom>
            <a:avLst/>
            <a:gdLst/>
            <a:ahLst/>
            <a:cxnLst/>
            <a:rect l="l" t="t" r="r" b="b"/>
            <a:pathLst>
              <a:path w="1321435" h="1268095">
                <a:moveTo>
                  <a:pt x="1321308" y="0"/>
                </a:moveTo>
                <a:lnTo>
                  <a:pt x="0" y="0"/>
                </a:lnTo>
                <a:lnTo>
                  <a:pt x="235966" y="1267968"/>
                </a:lnTo>
                <a:lnTo>
                  <a:pt x="1321308" y="1267968"/>
                </a:lnTo>
                <a:lnTo>
                  <a:pt x="1321308"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394435" y="2911095"/>
            <a:ext cx="1323672" cy="1267197"/>
          </a:xfrm>
          <a:custGeom>
            <a:avLst/>
            <a:gdLst/>
            <a:ahLst/>
            <a:cxnLst/>
            <a:rect l="l" t="t" r="r" b="b"/>
            <a:pathLst>
              <a:path w="1324610" h="1268095">
                <a:moveTo>
                  <a:pt x="1324356" y="0"/>
                </a:moveTo>
                <a:lnTo>
                  <a:pt x="0" y="0"/>
                </a:lnTo>
                <a:lnTo>
                  <a:pt x="0" y="1267968"/>
                </a:lnTo>
                <a:lnTo>
                  <a:pt x="1087882" y="1267968"/>
                </a:lnTo>
                <a:lnTo>
                  <a:pt x="1324356"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2468654" y="4272586"/>
            <a:ext cx="1990584" cy="1264024"/>
          </a:xfrm>
          <a:custGeom>
            <a:avLst/>
            <a:gdLst/>
            <a:ahLst/>
            <a:cxnLst/>
            <a:rect l="l" t="t" r="r" b="b"/>
            <a:pathLst>
              <a:path w="1991995" h="1264920">
                <a:moveTo>
                  <a:pt x="0" y="1264920"/>
                </a:moveTo>
                <a:lnTo>
                  <a:pt x="1991868" y="1264920"/>
                </a:lnTo>
                <a:lnTo>
                  <a:pt x="1991868" y="0"/>
                </a:lnTo>
                <a:lnTo>
                  <a:pt x="0" y="0"/>
                </a:lnTo>
                <a:lnTo>
                  <a:pt x="0" y="126492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394435" y="4272586"/>
            <a:ext cx="1993757" cy="1264024"/>
          </a:xfrm>
          <a:custGeom>
            <a:avLst/>
            <a:gdLst/>
            <a:ahLst/>
            <a:cxnLst/>
            <a:rect l="l" t="t" r="r" b="b"/>
            <a:pathLst>
              <a:path w="1995170" h="1264920">
                <a:moveTo>
                  <a:pt x="0" y="1264920"/>
                </a:moveTo>
                <a:lnTo>
                  <a:pt x="1994916" y="1264920"/>
                </a:lnTo>
                <a:lnTo>
                  <a:pt x="1994916" y="0"/>
                </a:lnTo>
                <a:lnTo>
                  <a:pt x="0" y="0"/>
                </a:lnTo>
                <a:lnTo>
                  <a:pt x="0" y="126492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394435" y="2001912"/>
            <a:ext cx="4073813" cy="856008"/>
          </a:xfrm>
          <a:custGeom>
            <a:avLst/>
            <a:gdLst/>
            <a:ahLst/>
            <a:cxnLst/>
            <a:rect l="l" t="t" r="r" b="b"/>
            <a:pathLst>
              <a:path w="4076700" h="856614">
                <a:moveTo>
                  <a:pt x="0" y="856488"/>
                </a:moveTo>
                <a:lnTo>
                  <a:pt x="4076700" y="856488"/>
                </a:lnTo>
                <a:lnTo>
                  <a:pt x="4076700" y="0"/>
                </a:lnTo>
                <a:lnTo>
                  <a:pt x="0" y="0"/>
                </a:lnTo>
                <a:lnTo>
                  <a:pt x="0" y="856488"/>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1786385" y="2394825"/>
            <a:ext cx="1291944" cy="1113636"/>
          </a:xfrm>
          <a:custGeom>
            <a:avLst/>
            <a:gdLst/>
            <a:ahLst/>
            <a:cxnLst/>
            <a:rect l="l" t="t" r="r" b="b"/>
            <a:pathLst>
              <a:path w="1292860" h="1114425">
                <a:moveTo>
                  <a:pt x="656844" y="0"/>
                </a:moveTo>
                <a:lnTo>
                  <a:pt x="0" y="474599"/>
                </a:lnTo>
                <a:lnTo>
                  <a:pt x="440817" y="1114044"/>
                </a:lnTo>
                <a:lnTo>
                  <a:pt x="845185" y="1084326"/>
                </a:lnTo>
                <a:lnTo>
                  <a:pt x="1292352" y="455675"/>
                </a:lnTo>
                <a:lnTo>
                  <a:pt x="656844"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2465608" y="4057854"/>
            <a:ext cx="1063506" cy="996244"/>
          </a:xfrm>
          <a:custGeom>
            <a:avLst/>
            <a:gdLst/>
            <a:ahLst/>
            <a:cxnLst/>
            <a:rect l="l" t="t" r="r" b="b"/>
            <a:pathLst>
              <a:path w="1064260" h="996950">
                <a:moveTo>
                  <a:pt x="229616" y="0"/>
                </a:moveTo>
                <a:lnTo>
                  <a:pt x="0" y="219582"/>
                </a:lnTo>
                <a:lnTo>
                  <a:pt x="2286" y="994282"/>
                </a:lnTo>
                <a:lnTo>
                  <a:pt x="802513" y="996695"/>
                </a:lnTo>
                <a:lnTo>
                  <a:pt x="1063752" y="238886"/>
                </a:lnTo>
                <a:lnTo>
                  <a:pt x="229616"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2716890" y="2897389"/>
            <a:ext cx="1098407" cy="1288772"/>
          </a:xfrm>
          <a:custGeom>
            <a:avLst/>
            <a:gdLst/>
            <a:ahLst/>
            <a:cxnLst/>
            <a:rect l="l" t="t" r="r" b="b"/>
            <a:pathLst>
              <a:path w="1099185" h="1289685">
                <a:moveTo>
                  <a:pt x="437769" y="0"/>
                </a:moveTo>
                <a:lnTo>
                  <a:pt x="0" y="639317"/>
                </a:lnTo>
                <a:lnTo>
                  <a:pt x="149225" y="1066799"/>
                </a:lnTo>
                <a:lnTo>
                  <a:pt x="839216" y="1289303"/>
                </a:lnTo>
                <a:lnTo>
                  <a:pt x="1098804" y="489584"/>
                </a:lnTo>
                <a:lnTo>
                  <a:pt x="437769"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1079751" y="2917187"/>
            <a:ext cx="1093965" cy="1259582"/>
          </a:xfrm>
          <a:custGeom>
            <a:avLst/>
            <a:gdLst/>
            <a:ahLst/>
            <a:cxnLst/>
            <a:rect l="l" t="t" r="r" b="b"/>
            <a:pathLst>
              <a:path w="1094739" h="1260475">
                <a:moveTo>
                  <a:pt x="642111" y="0"/>
                </a:moveTo>
                <a:lnTo>
                  <a:pt x="0" y="478281"/>
                </a:lnTo>
                <a:lnTo>
                  <a:pt x="250825" y="1260347"/>
                </a:lnTo>
                <a:lnTo>
                  <a:pt x="959231" y="1027937"/>
                </a:lnTo>
                <a:lnTo>
                  <a:pt x="1094232" y="715517"/>
                </a:lnTo>
                <a:lnTo>
                  <a:pt x="642111"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p:nvPr/>
        </p:nvSpPr>
        <p:spPr>
          <a:xfrm>
            <a:off x="1340169" y="4028919"/>
            <a:ext cx="1050815" cy="1025433"/>
          </a:xfrm>
          <a:custGeom>
            <a:avLst/>
            <a:gdLst/>
            <a:ahLst/>
            <a:cxnLst/>
            <a:rect l="l" t="t" r="r" b="b"/>
            <a:pathLst>
              <a:path w="1051560" h="1026160">
                <a:moveTo>
                  <a:pt x="824611" y="0"/>
                </a:moveTo>
                <a:lnTo>
                  <a:pt x="0" y="245872"/>
                </a:lnTo>
                <a:lnTo>
                  <a:pt x="258318" y="1025652"/>
                </a:lnTo>
                <a:lnTo>
                  <a:pt x="1049274" y="1023112"/>
                </a:lnTo>
                <a:lnTo>
                  <a:pt x="1051560" y="225933"/>
                </a:lnTo>
                <a:lnTo>
                  <a:pt x="824611"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p:nvPr/>
        </p:nvSpPr>
        <p:spPr>
          <a:xfrm>
            <a:off x="2359004" y="2718065"/>
            <a:ext cx="145947" cy="241764"/>
          </a:xfrm>
          <a:custGeom>
            <a:avLst/>
            <a:gdLst/>
            <a:ahLst/>
            <a:cxnLst/>
            <a:rect l="l" t="t" r="r" b="b"/>
            <a:pathLst>
              <a:path w="146050" h="241935">
                <a:moveTo>
                  <a:pt x="146050" y="0"/>
                </a:moveTo>
                <a:lnTo>
                  <a:pt x="0" y="0"/>
                </a:lnTo>
                <a:lnTo>
                  <a:pt x="0" y="241426"/>
                </a:lnTo>
                <a:lnTo>
                  <a:pt x="146050" y="241426"/>
                </a:lnTo>
                <a:lnTo>
                  <a:pt x="146050"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p:nvPr/>
        </p:nvSpPr>
        <p:spPr>
          <a:xfrm>
            <a:off x="2359004" y="2657656"/>
            <a:ext cx="145947" cy="0"/>
          </a:xfrm>
          <a:custGeom>
            <a:avLst/>
            <a:gdLst/>
            <a:ahLst/>
            <a:cxnLst/>
            <a:rect l="l" t="t" r="r" b="b"/>
            <a:pathLst>
              <a:path w="146050">
                <a:moveTo>
                  <a:pt x="0" y="0"/>
                </a:moveTo>
                <a:lnTo>
                  <a:pt x="146050" y="0"/>
                </a:lnTo>
              </a:path>
            </a:pathLst>
          </a:custGeom>
          <a:ln w="62991">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p:nvPr/>
        </p:nvSpPr>
        <p:spPr>
          <a:xfrm>
            <a:off x="1945975" y="4656616"/>
            <a:ext cx="0" cy="241764"/>
          </a:xfrm>
          <a:custGeom>
            <a:avLst/>
            <a:gdLst/>
            <a:ahLst/>
            <a:cxnLst/>
            <a:rect l="l" t="t" r="r" b="b"/>
            <a:pathLst>
              <a:path h="241935">
                <a:moveTo>
                  <a:pt x="0" y="0"/>
                </a:moveTo>
                <a:lnTo>
                  <a:pt x="0" y="241427"/>
                </a:lnTo>
              </a:path>
            </a:pathLst>
          </a:custGeom>
          <a:ln w="54991">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p:nvPr/>
        </p:nvSpPr>
        <p:spPr>
          <a:xfrm>
            <a:off x="1853711" y="4656616"/>
            <a:ext cx="0" cy="241764"/>
          </a:xfrm>
          <a:custGeom>
            <a:avLst/>
            <a:gdLst/>
            <a:ahLst/>
            <a:cxnLst/>
            <a:rect l="l" t="t" r="r" b="b"/>
            <a:pathLst>
              <a:path h="241935">
                <a:moveTo>
                  <a:pt x="0" y="0"/>
                </a:moveTo>
                <a:lnTo>
                  <a:pt x="0" y="241427"/>
                </a:lnTo>
              </a:path>
            </a:pathLst>
          </a:custGeom>
          <a:ln w="54990">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1" name="object 21"/>
          <p:cNvSpPr/>
          <p:nvPr/>
        </p:nvSpPr>
        <p:spPr>
          <a:xfrm>
            <a:off x="1761448" y="4656616"/>
            <a:ext cx="0" cy="241764"/>
          </a:xfrm>
          <a:custGeom>
            <a:avLst/>
            <a:gdLst/>
            <a:ahLst/>
            <a:cxnLst/>
            <a:rect l="l" t="t" r="r" b="b"/>
            <a:pathLst>
              <a:path h="241935">
                <a:moveTo>
                  <a:pt x="0" y="0"/>
                </a:moveTo>
                <a:lnTo>
                  <a:pt x="0" y="241427"/>
                </a:lnTo>
              </a:path>
            </a:pathLst>
          </a:custGeom>
          <a:ln w="54991">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1918498" y="4564733"/>
            <a:ext cx="55205" cy="63455"/>
          </a:xfrm>
          <a:custGeom>
            <a:avLst/>
            <a:gdLst/>
            <a:ahLst/>
            <a:cxnLst/>
            <a:rect l="l" t="t" r="r" b="b"/>
            <a:pathLst>
              <a:path w="55244" h="63500">
                <a:moveTo>
                  <a:pt x="54991" y="0"/>
                </a:moveTo>
                <a:lnTo>
                  <a:pt x="0" y="0"/>
                </a:lnTo>
                <a:lnTo>
                  <a:pt x="0" y="62992"/>
                </a:lnTo>
                <a:lnTo>
                  <a:pt x="54991" y="62992"/>
                </a:lnTo>
                <a:lnTo>
                  <a:pt x="54991"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p:nvPr/>
        </p:nvSpPr>
        <p:spPr>
          <a:xfrm>
            <a:off x="1826235" y="4564733"/>
            <a:ext cx="55205" cy="63455"/>
          </a:xfrm>
          <a:custGeom>
            <a:avLst/>
            <a:gdLst/>
            <a:ahLst/>
            <a:cxnLst/>
            <a:rect l="l" t="t" r="r" b="b"/>
            <a:pathLst>
              <a:path w="55244" h="63500">
                <a:moveTo>
                  <a:pt x="54990" y="0"/>
                </a:moveTo>
                <a:lnTo>
                  <a:pt x="0" y="0"/>
                </a:lnTo>
                <a:lnTo>
                  <a:pt x="0" y="62992"/>
                </a:lnTo>
                <a:lnTo>
                  <a:pt x="54990" y="62992"/>
                </a:lnTo>
                <a:lnTo>
                  <a:pt x="54990"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p:nvPr/>
        </p:nvSpPr>
        <p:spPr>
          <a:xfrm>
            <a:off x="1733972" y="4564733"/>
            <a:ext cx="55205" cy="63455"/>
          </a:xfrm>
          <a:custGeom>
            <a:avLst/>
            <a:gdLst/>
            <a:ahLst/>
            <a:cxnLst/>
            <a:rect l="l" t="t" r="r" b="b"/>
            <a:pathLst>
              <a:path w="55244" h="63500">
                <a:moveTo>
                  <a:pt x="54991" y="0"/>
                </a:moveTo>
                <a:lnTo>
                  <a:pt x="0" y="0"/>
                </a:lnTo>
                <a:lnTo>
                  <a:pt x="0" y="62992"/>
                </a:lnTo>
                <a:lnTo>
                  <a:pt x="54991" y="62992"/>
                </a:lnTo>
                <a:lnTo>
                  <a:pt x="54991"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5" name="object 25"/>
          <p:cNvSpPr/>
          <p:nvPr/>
        </p:nvSpPr>
        <p:spPr>
          <a:xfrm>
            <a:off x="2885681" y="4564733"/>
            <a:ext cx="236686" cy="333139"/>
          </a:xfrm>
          <a:custGeom>
            <a:avLst/>
            <a:gdLst/>
            <a:ahLst/>
            <a:cxnLst/>
            <a:rect l="l" t="t" r="r" b="b"/>
            <a:pathLst>
              <a:path w="236855" h="333375">
                <a:moveTo>
                  <a:pt x="79756" y="0"/>
                </a:moveTo>
                <a:lnTo>
                  <a:pt x="0" y="0"/>
                </a:lnTo>
                <a:lnTo>
                  <a:pt x="83185" y="333375"/>
                </a:lnTo>
                <a:lnTo>
                  <a:pt x="151384" y="333375"/>
                </a:lnTo>
                <a:lnTo>
                  <a:pt x="182535" y="211328"/>
                </a:lnTo>
                <a:lnTo>
                  <a:pt x="118618" y="211328"/>
                </a:lnTo>
                <a:lnTo>
                  <a:pt x="79756" y="0"/>
                </a:lnTo>
                <a:close/>
              </a:path>
              <a:path w="236855" h="333375">
                <a:moveTo>
                  <a:pt x="236474" y="0"/>
                </a:moveTo>
                <a:lnTo>
                  <a:pt x="159004" y="0"/>
                </a:lnTo>
                <a:lnTo>
                  <a:pt x="118618" y="211328"/>
                </a:lnTo>
                <a:lnTo>
                  <a:pt x="182535" y="211328"/>
                </a:lnTo>
                <a:lnTo>
                  <a:pt x="236474"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6" name="object 26"/>
          <p:cNvSpPr/>
          <p:nvPr/>
        </p:nvSpPr>
        <p:spPr>
          <a:xfrm>
            <a:off x="1584726" y="3419624"/>
            <a:ext cx="89472" cy="243032"/>
          </a:xfrm>
          <a:custGeom>
            <a:avLst/>
            <a:gdLst/>
            <a:ahLst/>
            <a:cxnLst/>
            <a:rect l="l" t="t" r="r" b="b"/>
            <a:pathLst>
              <a:path w="89535" h="243204">
                <a:moveTo>
                  <a:pt x="89026" y="0"/>
                </a:moveTo>
                <a:lnTo>
                  <a:pt x="0" y="0"/>
                </a:lnTo>
                <a:lnTo>
                  <a:pt x="0" y="242697"/>
                </a:lnTo>
                <a:lnTo>
                  <a:pt x="89026" y="242697"/>
                </a:lnTo>
                <a:lnTo>
                  <a:pt x="89026"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7" name="object 27"/>
          <p:cNvSpPr/>
          <p:nvPr/>
        </p:nvSpPr>
        <p:spPr>
          <a:xfrm>
            <a:off x="1435732" y="3419624"/>
            <a:ext cx="88837" cy="243032"/>
          </a:xfrm>
          <a:custGeom>
            <a:avLst/>
            <a:gdLst/>
            <a:ahLst/>
            <a:cxnLst/>
            <a:rect l="l" t="t" r="r" b="b"/>
            <a:pathLst>
              <a:path w="88900" h="243204">
                <a:moveTo>
                  <a:pt x="88900" y="0"/>
                </a:moveTo>
                <a:lnTo>
                  <a:pt x="0" y="0"/>
                </a:lnTo>
                <a:lnTo>
                  <a:pt x="0" y="242697"/>
                </a:lnTo>
                <a:lnTo>
                  <a:pt x="88900" y="242697"/>
                </a:lnTo>
                <a:lnTo>
                  <a:pt x="88900"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p:nvPr/>
        </p:nvSpPr>
        <p:spPr>
          <a:xfrm>
            <a:off x="1584726" y="3359024"/>
            <a:ext cx="89472" cy="0"/>
          </a:xfrm>
          <a:custGeom>
            <a:avLst/>
            <a:gdLst/>
            <a:ahLst/>
            <a:cxnLst/>
            <a:rect l="l" t="t" r="r" b="b"/>
            <a:pathLst>
              <a:path w="89535">
                <a:moveTo>
                  <a:pt x="0" y="0"/>
                </a:moveTo>
                <a:lnTo>
                  <a:pt x="89026" y="0"/>
                </a:lnTo>
              </a:path>
            </a:pathLst>
          </a:custGeom>
          <a:ln w="63373">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9" name="object 29"/>
          <p:cNvSpPr/>
          <p:nvPr/>
        </p:nvSpPr>
        <p:spPr>
          <a:xfrm>
            <a:off x="1435732" y="3359024"/>
            <a:ext cx="88837" cy="0"/>
          </a:xfrm>
          <a:custGeom>
            <a:avLst/>
            <a:gdLst/>
            <a:ahLst/>
            <a:cxnLst/>
            <a:rect l="l" t="t" r="r" b="b"/>
            <a:pathLst>
              <a:path w="88900">
                <a:moveTo>
                  <a:pt x="0" y="0"/>
                </a:moveTo>
                <a:lnTo>
                  <a:pt x="88900" y="0"/>
                </a:lnTo>
              </a:path>
            </a:pathLst>
          </a:custGeom>
          <a:ln w="63373">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0" name="object 30"/>
          <p:cNvSpPr/>
          <p:nvPr/>
        </p:nvSpPr>
        <p:spPr>
          <a:xfrm>
            <a:off x="3218820" y="3327360"/>
            <a:ext cx="237956" cy="335043"/>
          </a:xfrm>
          <a:custGeom>
            <a:avLst/>
            <a:gdLst/>
            <a:ahLst/>
            <a:cxnLst/>
            <a:rect l="l" t="t" r="r" b="b"/>
            <a:pathLst>
              <a:path w="238125" h="335279">
                <a:moveTo>
                  <a:pt x="128270" y="92328"/>
                </a:moveTo>
                <a:lnTo>
                  <a:pt x="72262" y="92328"/>
                </a:lnTo>
                <a:lnTo>
                  <a:pt x="95679" y="189407"/>
                </a:lnTo>
                <a:lnTo>
                  <a:pt x="130683" y="335025"/>
                </a:lnTo>
                <a:lnTo>
                  <a:pt x="178435" y="335025"/>
                </a:lnTo>
                <a:lnTo>
                  <a:pt x="200254" y="246125"/>
                </a:lnTo>
                <a:lnTo>
                  <a:pt x="155575" y="246125"/>
                </a:lnTo>
                <a:lnTo>
                  <a:pt x="148736" y="207718"/>
                </a:lnTo>
                <a:lnTo>
                  <a:pt x="128270" y="92328"/>
                </a:lnTo>
                <a:close/>
              </a:path>
              <a:path w="238125" h="335279">
                <a:moveTo>
                  <a:pt x="238125" y="92328"/>
                </a:moveTo>
                <a:lnTo>
                  <a:pt x="183769" y="92328"/>
                </a:lnTo>
                <a:lnTo>
                  <a:pt x="155575" y="246125"/>
                </a:lnTo>
                <a:lnTo>
                  <a:pt x="200254" y="246125"/>
                </a:lnTo>
                <a:lnTo>
                  <a:pt x="238125" y="92328"/>
                </a:lnTo>
                <a:close/>
              </a:path>
              <a:path w="238125" h="335279">
                <a:moveTo>
                  <a:pt x="53721" y="92328"/>
                </a:moveTo>
                <a:lnTo>
                  <a:pt x="0" y="92328"/>
                </a:lnTo>
                <a:lnTo>
                  <a:pt x="0" y="335025"/>
                </a:lnTo>
                <a:lnTo>
                  <a:pt x="53721" y="335025"/>
                </a:lnTo>
                <a:lnTo>
                  <a:pt x="53721" y="92328"/>
                </a:lnTo>
                <a:close/>
              </a:path>
              <a:path w="238125" h="335279">
                <a:moveTo>
                  <a:pt x="53721" y="0"/>
                </a:moveTo>
                <a:lnTo>
                  <a:pt x="0" y="0"/>
                </a:lnTo>
                <a:lnTo>
                  <a:pt x="0" y="63373"/>
                </a:lnTo>
                <a:lnTo>
                  <a:pt x="53721" y="63373"/>
                </a:lnTo>
                <a:lnTo>
                  <a:pt x="53721"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1" name="object 31"/>
          <p:cNvSpPr/>
          <p:nvPr/>
        </p:nvSpPr>
        <p:spPr>
          <a:xfrm>
            <a:off x="1751359" y="3113644"/>
            <a:ext cx="1390427" cy="1544242"/>
          </a:xfrm>
          <a:prstGeom prst="rect">
            <a:avLst/>
          </a:prstGeom>
          <a:blipFill>
            <a:blip r:embed="rId2"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2" name="object 32"/>
          <p:cNvSpPr/>
          <p:nvPr/>
        </p:nvSpPr>
        <p:spPr>
          <a:xfrm>
            <a:off x="1751359" y="3113644"/>
            <a:ext cx="1390934" cy="1544495"/>
          </a:xfrm>
          <a:custGeom>
            <a:avLst/>
            <a:gdLst/>
            <a:ahLst/>
            <a:cxnLst/>
            <a:rect l="l" t="t" r="r" b="b"/>
            <a:pathLst>
              <a:path w="1391920" h="1545589">
                <a:moveTo>
                  <a:pt x="0" y="772668"/>
                </a:moveTo>
                <a:lnTo>
                  <a:pt x="1480" y="721866"/>
                </a:lnTo>
                <a:lnTo>
                  <a:pt x="5859" y="671941"/>
                </a:lnTo>
                <a:lnTo>
                  <a:pt x="13045" y="622996"/>
                </a:lnTo>
                <a:lnTo>
                  <a:pt x="22947" y="575131"/>
                </a:lnTo>
                <a:lnTo>
                  <a:pt x="35472" y="528450"/>
                </a:lnTo>
                <a:lnTo>
                  <a:pt x="50530" y="483052"/>
                </a:lnTo>
                <a:lnTo>
                  <a:pt x="68028" y="439041"/>
                </a:lnTo>
                <a:lnTo>
                  <a:pt x="87874" y="396519"/>
                </a:lnTo>
                <a:lnTo>
                  <a:pt x="109977" y="355586"/>
                </a:lnTo>
                <a:lnTo>
                  <a:pt x="134246" y="316345"/>
                </a:lnTo>
                <a:lnTo>
                  <a:pt x="160587" y="278898"/>
                </a:lnTo>
                <a:lnTo>
                  <a:pt x="188911" y="243347"/>
                </a:lnTo>
                <a:lnTo>
                  <a:pt x="219124" y="209792"/>
                </a:lnTo>
                <a:lnTo>
                  <a:pt x="251135" y="178337"/>
                </a:lnTo>
                <a:lnTo>
                  <a:pt x="284853" y="149083"/>
                </a:lnTo>
                <a:lnTo>
                  <a:pt x="320186" y="122132"/>
                </a:lnTo>
                <a:lnTo>
                  <a:pt x="357042" y="97585"/>
                </a:lnTo>
                <a:lnTo>
                  <a:pt x="395328" y="75545"/>
                </a:lnTo>
                <a:lnTo>
                  <a:pt x="434955" y="56114"/>
                </a:lnTo>
                <a:lnTo>
                  <a:pt x="475829" y="39392"/>
                </a:lnTo>
                <a:lnTo>
                  <a:pt x="517859" y="25482"/>
                </a:lnTo>
                <a:lnTo>
                  <a:pt x="560954" y="14486"/>
                </a:lnTo>
                <a:lnTo>
                  <a:pt x="605021" y="6506"/>
                </a:lnTo>
                <a:lnTo>
                  <a:pt x="649968" y="1643"/>
                </a:lnTo>
                <a:lnTo>
                  <a:pt x="695706" y="0"/>
                </a:lnTo>
                <a:lnTo>
                  <a:pt x="741443" y="1643"/>
                </a:lnTo>
                <a:lnTo>
                  <a:pt x="786390" y="6506"/>
                </a:lnTo>
                <a:lnTo>
                  <a:pt x="830457" y="14486"/>
                </a:lnTo>
                <a:lnTo>
                  <a:pt x="873552" y="25482"/>
                </a:lnTo>
                <a:lnTo>
                  <a:pt x="915582" y="39392"/>
                </a:lnTo>
                <a:lnTo>
                  <a:pt x="956456" y="56114"/>
                </a:lnTo>
                <a:lnTo>
                  <a:pt x="996083" y="75545"/>
                </a:lnTo>
                <a:lnTo>
                  <a:pt x="1034369" y="97585"/>
                </a:lnTo>
                <a:lnTo>
                  <a:pt x="1071225" y="122132"/>
                </a:lnTo>
                <a:lnTo>
                  <a:pt x="1106558" y="149083"/>
                </a:lnTo>
                <a:lnTo>
                  <a:pt x="1140276" y="178337"/>
                </a:lnTo>
                <a:lnTo>
                  <a:pt x="1172287" y="209792"/>
                </a:lnTo>
                <a:lnTo>
                  <a:pt x="1202500" y="243347"/>
                </a:lnTo>
                <a:lnTo>
                  <a:pt x="1230824" y="278898"/>
                </a:lnTo>
                <a:lnTo>
                  <a:pt x="1257165" y="316345"/>
                </a:lnTo>
                <a:lnTo>
                  <a:pt x="1281434" y="355586"/>
                </a:lnTo>
                <a:lnTo>
                  <a:pt x="1303537" y="396519"/>
                </a:lnTo>
                <a:lnTo>
                  <a:pt x="1323383" y="439041"/>
                </a:lnTo>
                <a:lnTo>
                  <a:pt x="1340881" y="483052"/>
                </a:lnTo>
                <a:lnTo>
                  <a:pt x="1355939" y="528450"/>
                </a:lnTo>
                <a:lnTo>
                  <a:pt x="1368464" y="575131"/>
                </a:lnTo>
                <a:lnTo>
                  <a:pt x="1378366" y="622996"/>
                </a:lnTo>
                <a:lnTo>
                  <a:pt x="1385552" y="671941"/>
                </a:lnTo>
                <a:lnTo>
                  <a:pt x="1389931" y="721866"/>
                </a:lnTo>
                <a:lnTo>
                  <a:pt x="1391412" y="772668"/>
                </a:lnTo>
                <a:lnTo>
                  <a:pt x="1389931" y="823469"/>
                </a:lnTo>
                <a:lnTo>
                  <a:pt x="1385552" y="873394"/>
                </a:lnTo>
                <a:lnTo>
                  <a:pt x="1378366" y="922339"/>
                </a:lnTo>
                <a:lnTo>
                  <a:pt x="1368464" y="970204"/>
                </a:lnTo>
                <a:lnTo>
                  <a:pt x="1355939" y="1016885"/>
                </a:lnTo>
                <a:lnTo>
                  <a:pt x="1340881" y="1062283"/>
                </a:lnTo>
                <a:lnTo>
                  <a:pt x="1323383" y="1106294"/>
                </a:lnTo>
                <a:lnTo>
                  <a:pt x="1303537" y="1148816"/>
                </a:lnTo>
                <a:lnTo>
                  <a:pt x="1281434" y="1189749"/>
                </a:lnTo>
                <a:lnTo>
                  <a:pt x="1257165" y="1228990"/>
                </a:lnTo>
                <a:lnTo>
                  <a:pt x="1230824" y="1266437"/>
                </a:lnTo>
                <a:lnTo>
                  <a:pt x="1202500" y="1301988"/>
                </a:lnTo>
                <a:lnTo>
                  <a:pt x="1172287" y="1335543"/>
                </a:lnTo>
                <a:lnTo>
                  <a:pt x="1140276" y="1366998"/>
                </a:lnTo>
                <a:lnTo>
                  <a:pt x="1106558" y="1396252"/>
                </a:lnTo>
                <a:lnTo>
                  <a:pt x="1071225" y="1423203"/>
                </a:lnTo>
                <a:lnTo>
                  <a:pt x="1034369" y="1447750"/>
                </a:lnTo>
                <a:lnTo>
                  <a:pt x="996083" y="1469790"/>
                </a:lnTo>
                <a:lnTo>
                  <a:pt x="956456" y="1489221"/>
                </a:lnTo>
                <a:lnTo>
                  <a:pt x="915582" y="1505943"/>
                </a:lnTo>
                <a:lnTo>
                  <a:pt x="873552" y="1519853"/>
                </a:lnTo>
                <a:lnTo>
                  <a:pt x="830457" y="1530849"/>
                </a:lnTo>
                <a:lnTo>
                  <a:pt x="786390" y="1538829"/>
                </a:lnTo>
                <a:lnTo>
                  <a:pt x="741443" y="1543692"/>
                </a:lnTo>
                <a:lnTo>
                  <a:pt x="695706" y="1545336"/>
                </a:lnTo>
                <a:lnTo>
                  <a:pt x="649968" y="1543692"/>
                </a:lnTo>
                <a:lnTo>
                  <a:pt x="605021" y="1538829"/>
                </a:lnTo>
                <a:lnTo>
                  <a:pt x="560954" y="1530849"/>
                </a:lnTo>
                <a:lnTo>
                  <a:pt x="517859" y="1519853"/>
                </a:lnTo>
                <a:lnTo>
                  <a:pt x="475829" y="1505943"/>
                </a:lnTo>
                <a:lnTo>
                  <a:pt x="434955" y="1489221"/>
                </a:lnTo>
                <a:lnTo>
                  <a:pt x="395328" y="1469790"/>
                </a:lnTo>
                <a:lnTo>
                  <a:pt x="357042" y="1447750"/>
                </a:lnTo>
                <a:lnTo>
                  <a:pt x="320186" y="1423203"/>
                </a:lnTo>
                <a:lnTo>
                  <a:pt x="284853" y="1396252"/>
                </a:lnTo>
                <a:lnTo>
                  <a:pt x="251135" y="1366998"/>
                </a:lnTo>
                <a:lnTo>
                  <a:pt x="219124" y="1335543"/>
                </a:lnTo>
                <a:lnTo>
                  <a:pt x="188911" y="1301988"/>
                </a:lnTo>
                <a:lnTo>
                  <a:pt x="160587" y="1266437"/>
                </a:lnTo>
                <a:lnTo>
                  <a:pt x="134246" y="1228990"/>
                </a:lnTo>
                <a:lnTo>
                  <a:pt x="109977" y="1189749"/>
                </a:lnTo>
                <a:lnTo>
                  <a:pt x="87874" y="1148816"/>
                </a:lnTo>
                <a:lnTo>
                  <a:pt x="68028" y="1106294"/>
                </a:lnTo>
                <a:lnTo>
                  <a:pt x="50530" y="1062283"/>
                </a:lnTo>
                <a:lnTo>
                  <a:pt x="35472" y="1016885"/>
                </a:lnTo>
                <a:lnTo>
                  <a:pt x="22947" y="970204"/>
                </a:lnTo>
                <a:lnTo>
                  <a:pt x="13045" y="922339"/>
                </a:lnTo>
                <a:lnTo>
                  <a:pt x="5859" y="873394"/>
                </a:lnTo>
                <a:lnTo>
                  <a:pt x="1480" y="823469"/>
                </a:lnTo>
                <a:lnTo>
                  <a:pt x="0" y="772668"/>
                </a:lnTo>
                <a:close/>
              </a:path>
            </a:pathLst>
          </a:custGeom>
          <a:ln w="57149">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3" name="object 33"/>
          <p:cNvSpPr txBox="1"/>
          <p:nvPr/>
        </p:nvSpPr>
        <p:spPr>
          <a:xfrm>
            <a:off x="2090336" y="2057498"/>
            <a:ext cx="729098" cy="227965"/>
          </a:xfrm>
          <a:prstGeom prst="rect">
            <a:avLst/>
          </a:prstGeom>
        </p:spPr>
        <p:txBody>
          <a:bodyPr vert="horz" wrap="square" lIns="0" tIns="13325" rIns="0" bIns="0" rtlCol="0">
            <a:spAutoFit/>
          </a:bodyPr>
          <a:lstStyle/>
          <a:p>
            <a:pPr>
              <a:lnSpc>
                <a:spcPct val="100000"/>
              </a:lnSpc>
              <a:spcBef>
                <a:spcPts val="105"/>
              </a:spcBef>
            </a:pPr>
            <a:r>
              <a:rPr sz="1400" b="1" spc="10" dirty="0">
                <a:solidFill>
                  <a:srgbClr val="0066CC"/>
                </a:solidFill>
                <a:latin typeface="微软雅黑" panose="020B0503020204020204" charset="-122"/>
                <a:ea typeface="微软雅黑" panose="020B0503020204020204" charset="-122"/>
                <a:cs typeface="微软雅黑" panose="020B0503020204020204" charset="-122"/>
              </a:rPr>
              <a:t>客户</a:t>
            </a:r>
            <a:r>
              <a:rPr sz="1400" b="1" dirty="0">
                <a:solidFill>
                  <a:srgbClr val="0066CC"/>
                </a:solidFill>
                <a:latin typeface="微软雅黑" panose="020B0503020204020204" charset="-122"/>
                <a:ea typeface="微软雅黑" panose="020B0503020204020204" charset="-122"/>
                <a:cs typeface="微软雅黑" panose="020B0503020204020204" charset="-122"/>
              </a:rPr>
              <a:t>背景</a:t>
            </a:r>
            <a:endParaRPr sz="1400">
              <a:latin typeface="微软雅黑" panose="020B0503020204020204" charset="-122"/>
              <a:ea typeface="微软雅黑" panose="020B0503020204020204" charset="-122"/>
              <a:cs typeface="微软雅黑" panose="020B0503020204020204" charset="-122"/>
            </a:endParaRPr>
          </a:p>
        </p:txBody>
      </p:sp>
      <p:sp>
        <p:nvSpPr>
          <p:cNvPr id="34" name="object 34"/>
          <p:cNvSpPr txBox="1"/>
          <p:nvPr/>
        </p:nvSpPr>
        <p:spPr>
          <a:xfrm>
            <a:off x="433118" y="3305912"/>
            <a:ext cx="552059" cy="445135"/>
          </a:xfrm>
          <a:prstGeom prst="rect">
            <a:avLst/>
          </a:prstGeom>
        </p:spPr>
        <p:txBody>
          <a:bodyPr vert="horz" wrap="square" lIns="0" tIns="11421" rIns="0" bIns="0" rtlCol="0">
            <a:spAutoFit/>
          </a:bodyPr>
          <a:lstStyle/>
          <a:p>
            <a:pPr marR="5080">
              <a:lnSpc>
                <a:spcPct val="101000"/>
              </a:lnSpc>
              <a:spcBef>
                <a:spcPts val="90"/>
              </a:spcBef>
            </a:pPr>
            <a:r>
              <a:rPr sz="1400" b="1" spc="10" dirty="0">
                <a:solidFill>
                  <a:srgbClr val="0066CC"/>
                </a:solidFill>
                <a:latin typeface="微软雅黑" panose="020B0503020204020204" charset="-122"/>
                <a:ea typeface="微软雅黑" panose="020B0503020204020204" charset="-122"/>
                <a:cs typeface="微软雅黑" panose="020B0503020204020204" charset="-122"/>
              </a:rPr>
              <a:t>客户经 济指标</a:t>
            </a:r>
            <a:endParaRPr sz="1400" b="1" spc="1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5" name="object 35"/>
          <p:cNvSpPr txBox="1"/>
          <p:nvPr/>
        </p:nvSpPr>
        <p:spPr>
          <a:xfrm>
            <a:off x="3947663" y="3305912"/>
            <a:ext cx="372481" cy="445135"/>
          </a:xfrm>
          <a:prstGeom prst="rect">
            <a:avLst/>
          </a:prstGeom>
        </p:spPr>
        <p:txBody>
          <a:bodyPr vert="horz" wrap="square" lIns="0" tIns="11421" rIns="0" bIns="0" rtlCol="0">
            <a:spAutoFit/>
          </a:bodyPr>
          <a:lstStyle/>
          <a:p>
            <a:pPr marR="5080">
              <a:lnSpc>
                <a:spcPct val="101000"/>
              </a:lnSpc>
              <a:spcBef>
                <a:spcPts val="90"/>
              </a:spcBef>
            </a:pPr>
            <a:r>
              <a:rPr sz="1400" b="1" spc="10" dirty="0">
                <a:solidFill>
                  <a:srgbClr val="0066CC"/>
                </a:solidFill>
                <a:latin typeface="微软雅黑" panose="020B0503020204020204" charset="-122"/>
                <a:ea typeface="微软雅黑" panose="020B0503020204020204" charset="-122"/>
                <a:cs typeface="微软雅黑" panose="020B0503020204020204" charset="-122"/>
              </a:rPr>
              <a:t>风险 评估</a:t>
            </a:r>
            <a:endParaRPr sz="1400" b="1" spc="1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6" name="object 36"/>
          <p:cNvSpPr txBox="1"/>
          <p:nvPr/>
        </p:nvSpPr>
        <p:spPr>
          <a:xfrm>
            <a:off x="1085233" y="5043311"/>
            <a:ext cx="906772" cy="443230"/>
          </a:xfrm>
          <a:prstGeom prst="rect">
            <a:avLst/>
          </a:prstGeom>
        </p:spPr>
        <p:txBody>
          <a:bodyPr vert="horz" wrap="square" lIns="0" tIns="12691" rIns="0" bIns="0" rtlCol="0">
            <a:spAutoFit/>
          </a:bodyPr>
          <a:lstStyle/>
          <a:p>
            <a:pPr>
              <a:lnSpc>
                <a:spcPct val="100000"/>
              </a:lnSpc>
              <a:spcBef>
                <a:spcPts val="100"/>
              </a:spcBef>
            </a:pPr>
            <a:r>
              <a:rPr sz="1400" b="1" spc="10" dirty="0">
                <a:solidFill>
                  <a:srgbClr val="0066CC"/>
                </a:solidFill>
                <a:latin typeface="微软雅黑" panose="020B0503020204020204" charset="-122"/>
                <a:ea typeface="微软雅黑" panose="020B0503020204020204" charset="-122"/>
                <a:cs typeface="微软雅黑" panose="020B0503020204020204" charset="-122"/>
              </a:rPr>
              <a:t>客户</a:t>
            </a:r>
            <a:r>
              <a:rPr sz="1400" b="1" dirty="0">
                <a:solidFill>
                  <a:srgbClr val="0066CC"/>
                </a:solidFill>
                <a:latin typeface="微软雅黑" panose="020B0503020204020204" charset="-122"/>
                <a:ea typeface="微软雅黑" panose="020B0503020204020204" charset="-122"/>
                <a:cs typeface="微软雅黑" panose="020B0503020204020204" charset="-122"/>
              </a:rPr>
              <a:t>关系与</a:t>
            </a:r>
            <a:endParaRPr sz="1400">
              <a:latin typeface="微软雅黑" panose="020B0503020204020204" charset="-122"/>
              <a:ea typeface="微软雅黑" panose="020B0503020204020204" charset="-122"/>
              <a:cs typeface="微软雅黑" panose="020B0503020204020204" charset="-122"/>
            </a:endParaRPr>
          </a:p>
          <a:p>
            <a:pPr>
              <a:lnSpc>
                <a:spcPct val="100000"/>
              </a:lnSpc>
              <a:spcBef>
                <a:spcPts val="5"/>
              </a:spcBef>
            </a:pPr>
            <a:r>
              <a:rPr sz="1400" b="1" spc="10" dirty="0">
                <a:solidFill>
                  <a:srgbClr val="0066CC"/>
                </a:solidFill>
                <a:latin typeface="微软雅黑" panose="020B0503020204020204" charset="-122"/>
                <a:ea typeface="微软雅黑" panose="020B0503020204020204" charset="-122"/>
                <a:cs typeface="微软雅黑" panose="020B0503020204020204" charset="-122"/>
              </a:rPr>
              <a:t>决策</a:t>
            </a:r>
            <a:r>
              <a:rPr sz="1400" b="1" spc="5" dirty="0">
                <a:solidFill>
                  <a:srgbClr val="0066CC"/>
                </a:solidFill>
                <a:latin typeface="微软雅黑" panose="020B0503020204020204" charset="-122"/>
                <a:ea typeface="微软雅黑" panose="020B0503020204020204" charset="-122"/>
                <a:cs typeface="微软雅黑" panose="020B0503020204020204" charset="-122"/>
              </a:rPr>
              <a:t>流程</a:t>
            </a:r>
            <a:endParaRPr sz="1400">
              <a:latin typeface="微软雅黑" panose="020B0503020204020204" charset="-122"/>
              <a:ea typeface="微软雅黑" panose="020B0503020204020204" charset="-122"/>
              <a:cs typeface="微软雅黑" panose="020B0503020204020204" charset="-122"/>
            </a:endParaRPr>
          </a:p>
        </p:txBody>
      </p:sp>
      <p:sp>
        <p:nvSpPr>
          <p:cNvPr id="37" name="object 37"/>
          <p:cNvSpPr txBox="1"/>
          <p:nvPr/>
        </p:nvSpPr>
        <p:spPr>
          <a:xfrm>
            <a:off x="2732119" y="5043565"/>
            <a:ext cx="728464" cy="227330"/>
          </a:xfrm>
          <a:prstGeom prst="rect">
            <a:avLst/>
          </a:prstGeom>
        </p:spPr>
        <p:txBody>
          <a:bodyPr vert="horz" wrap="square" lIns="0" tIns="12691" rIns="0" bIns="0" rtlCol="0">
            <a:spAutoFit/>
          </a:bodyPr>
          <a:lstStyle/>
          <a:p>
            <a:pPr>
              <a:lnSpc>
                <a:spcPct val="100000"/>
              </a:lnSpc>
              <a:spcBef>
                <a:spcPts val="100"/>
              </a:spcBef>
            </a:pPr>
            <a:r>
              <a:rPr sz="1400" b="1" spc="10" dirty="0">
                <a:solidFill>
                  <a:srgbClr val="0066CC"/>
                </a:solidFill>
                <a:latin typeface="微软雅黑" panose="020B0503020204020204" charset="-122"/>
                <a:ea typeface="微软雅黑" panose="020B0503020204020204" charset="-122"/>
                <a:cs typeface="微软雅黑" panose="020B0503020204020204" charset="-122"/>
              </a:rPr>
              <a:t>客户</a:t>
            </a:r>
            <a:r>
              <a:rPr sz="1400" b="1" dirty="0">
                <a:solidFill>
                  <a:srgbClr val="0066CC"/>
                </a:solidFill>
                <a:latin typeface="微软雅黑" panose="020B0503020204020204" charset="-122"/>
                <a:ea typeface="微软雅黑" panose="020B0503020204020204" charset="-122"/>
                <a:cs typeface="微软雅黑" panose="020B0503020204020204" charset="-122"/>
              </a:rPr>
              <a:t>需求</a:t>
            </a:r>
            <a:endParaRPr sz="1400">
              <a:latin typeface="微软雅黑" panose="020B0503020204020204" charset="-122"/>
              <a:ea typeface="微软雅黑" panose="020B0503020204020204" charset="-122"/>
              <a:cs typeface="微软雅黑" panose="020B0503020204020204" charset="-122"/>
            </a:endParaRPr>
          </a:p>
        </p:txBody>
      </p:sp>
      <p:sp>
        <p:nvSpPr>
          <p:cNvPr id="38" name="object 38"/>
          <p:cNvSpPr/>
          <p:nvPr/>
        </p:nvSpPr>
        <p:spPr>
          <a:xfrm>
            <a:off x="5182498" y="1432339"/>
            <a:ext cx="219300" cy="217777"/>
          </a:xfrm>
          <a:prstGeom prst="rect">
            <a:avLst/>
          </a:prstGeom>
          <a:blipFill>
            <a:blip r:embed="rId3"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9" name="object 39"/>
          <p:cNvSpPr txBox="1"/>
          <p:nvPr/>
        </p:nvSpPr>
        <p:spPr>
          <a:xfrm>
            <a:off x="5182498" y="1781088"/>
            <a:ext cx="1215798" cy="438150"/>
          </a:xfrm>
          <a:prstGeom prst="rect">
            <a:avLst/>
          </a:prstGeom>
          <a:solidFill>
            <a:srgbClr val="C6DFFA"/>
          </a:solidFill>
          <a:ln w="9525">
            <a:solidFill>
              <a:srgbClr val="91AFFF"/>
            </a:solidFill>
          </a:ln>
        </p:spPr>
        <p:txBody>
          <a:bodyPr vert="horz" wrap="square" lIns="0" tIns="69800" rIns="0" bIns="0" rtlCol="0">
            <a:spAutoFit/>
          </a:bodyPr>
          <a:lstStyle/>
          <a:p>
            <a:pPr marL="73025">
              <a:lnSpc>
                <a:spcPct val="100000"/>
              </a:lnSpc>
              <a:spcBef>
                <a:spcPts val="550"/>
              </a:spcBef>
            </a:pPr>
            <a:r>
              <a:rPr sz="1200" b="1" spc="-10" dirty="0">
                <a:latin typeface="微软雅黑" panose="020B0503020204020204" charset="-122"/>
                <a:ea typeface="微软雅黑" panose="020B0503020204020204" charset="-122"/>
                <a:cs typeface="楷体" panose="02010609060101010101" charset="-122"/>
              </a:rPr>
              <a:t>愿景与战略</a:t>
            </a:r>
            <a:endParaRPr sz="1200">
              <a:latin typeface="微软雅黑" panose="020B0503020204020204" charset="-122"/>
              <a:ea typeface="微软雅黑" panose="020B0503020204020204" charset="-122"/>
              <a:cs typeface="楷体" panose="02010609060101010101" charset="-122"/>
            </a:endParaRPr>
          </a:p>
          <a:p>
            <a:pPr marL="73025">
              <a:lnSpc>
                <a:spcPct val="100000"/>
              </a:lnSpc>
            </a:pPr>
            <a:r>
              <a:rPr sz="1200" b="1" spc="-5" dirty="0">
                <a:latin typeface="微软雅黑" panose="020B0503020204020204" charset="-122"/>
                <a:ea typeface="微软雅黑" panose="020B0503020204020204" charset="-122"/>
                <a:cs typeface="楷体" panose="02010609060101010101" charset="-122"/>
              </a:rPr>
              <a:t>定位</a:t>
            </a:r>
            <a:endParaRPr sz="1200">
              <a:latin typeface="微软雅黑" panose="020B0503020204020204" charset="-122"/>
              <a:ea typeface="微软雅黑" panose="020B0503020204020204" charset="-122"/>
              <a:cs typeface="楷体" panose="02010609060101010101" charset="-122"/>
            </a:endParaRPr>
          </a:p>
        </p:txBody>
      </p:sp>
      <p:sp>
        <p:nvSpPr>
          <p:cNvPr id="40" name="object 40"/>
          <p:cNvSpPr txBox="1"/>
          <p:nvPr/>
        </p:nvSpPr>
        <p:spPr>
          <a:xfrm>
            <a:off x="5182498" y="2553209"/>
            <a:ext cx="1215798" cy="354330"/>
          </a:xfrm>
          <a:prstGeom prst="rect">
            <a:avLst/>
          </a:prstGeom>
          <a:solidFill>
            <a:srgbClr val="C6DFFA"/>
          </a:solidFill>
          <a:ln w="9525">
            <a:solidFill>
              <a:srgbClr val="91AFFF"/>
            </a:solidFill>
          </a:ln>
        </p:spPr>
        <p:txBody>
          <a:bodyPr vert="horz" wrap="square" lIns="0" tIns="1269" rIns="0" bIns="0" rtlCol="0">
            <a:spAutoFit/>
          </a:bodyPr>
          <a:lstStyle/>
          <a:p>
            <a:pPr>
              <a:lnSpc>
                <a:spcPct val="100000"/>
              </a:lnSpc>
              <a:spcBef>
                <a:spcPts val="10"/>
              </a:spcBef>
            </a:pPr>
            <a:endParaRPr sz="1100">
              <a:latin typeface="微软雅黑" panose="020B0503020204020204" charset="-122"/>
              <a:ea typeface="微软雅黑" panose="020B0503020204020204" charset="-122"/>
              <a:cs typeface="Times New Roman" panose="02020603050405020304"/>
            </a:endParaRPr>
          </a:p>
          <a:p>
            <a:pPr marL="73025">
              <a:lnSpc>
                <a:spcPct val="100000"/>
              </a:lnSpc>
            </a:pPr>
            <a:r>
              <a:rPr sz="1200" b="1" spc="-10" dirty="0">
                <a:latin typeface="微软雅黑" panose="020B0503020204020204" charset="-122"/>
                <a:ea typeface="微软雅黑" panose="020B0503020204020204" charset="-122"/>
                <a:cs typeface="楷体" panose="02010609060101010101" charset="-122"/>
              </a:rPr>
              <a:t>战略目标</a:t>
            </a:r>
            <a:endParaRPr sz="1200">
              <a:latin typeface="微软雅黑" panose="020B0503020204020204" charset="-122"/>
              <a:ea typeface="微软雅黑" panose="020B0503020204020204" charset="-122"/>
              <a:cs typeface="楷体" panose="02010609060101010101" charset="-122"/>
            </a:endParaRPr>
          </a:p>
        </p:txBody>
      </p:sp>
      <p:sp>
        <p:nvSpPr>
          <p:cNvPr id="41" name="object 41"/>
          <p:cNvSpPr txBox="1"/>
          <p:nvPr/>
        </p:nvSpPr>
        <p:spPr>
          <a:xfrm>
            <a:off x="4942638" y="1360000"/>
            <a:ext cx="3789534" cy="2565400"/>
          </a:xfrm>
          <a:prstGeom prst="rect">
            <a:avLst/>
          </a:prstGeom>
          <a:ln w="28575">
            <a:solidFill>
              <a:srgbClr val="91AFFF"/>
            </a:solidFill>
          </a:ln>
        </p:spPr>
        <p:txBody>
          <a:bodyPr vert="horz" wrap="square" lIns="0" tIns="65357" rIns="0" bIns="0" rtlCol="0">
            <a:spAutoFit/>
          </a:bodyPr>
          <a:lstStyle/>
          <a:p>
            <a:pPr marL="259715">
              <a:lnSpc>
                <a:spcPct val="100000"/>
              </a:lnSpc>
              <a:spcBef>
                <a:spcPts val="515"/>
              </a:spcBef>
            </a:pPr>
            <a:r>
              <a:rPr sz="1400" b="1" spc="320" dirty="0">
                <a:solidFill>
                  <a:srgbClr val="FFFFFF"/>
                </a:solidFill>
                <a:latin typeface="微软雅黑" panose="020B0503020204020204" charset="-122"/>
                <a:ea typeface="微软雅黑" panose="020B0503020204020204" charset="-122"/>
                <a:cs typeface="微软雅黑" panose="020B0503020204020204" charset="-122"/>
              </a:rPr>
              <a:t>二</a:t>
            </a:r>
            <a:r>
              <a:rPr sz="1400" b="1" spc="10" dirty="0">
                <a:latin typeface="微软雅黑" panose="020B0503020204020204" charset="-122"/>
                <a:ea typeface="微软雅黑" panose="020B0503020204020204" charset="-122"/>
                <a:cs typeface="微软雅黑" panose="020B0503020204020204" charset="-122"/>
              </a:rPr>
              <a:t>大客</a:t>
            </a:r>
            <a:r>
              <a:rPr sz="1400" b="1" dirty="0">
                <a:latin typeface="微软雅黑" panose="020B0503020204020204" charset="-122"/>
                <a:ea typeface="微软雅黑" panose="020B0503020204020204" charset="-122"/>
                <a:cs typeface="微软雅黑" panose="020B0503020204020204" charset="-122"/>
              </a:rPr>
              <a:t>户管</a:t>
            </a:r>
            <a:r>
              <a:rPr sz="1400" b="1" spc="-15" dirty="0">
                <a:latin typeface="微软雅黑" panose="020B0503020204020204" charset="-122"/>
                <a:ea typeface="微软雅黑" panose="020B0503020204020204" charset="-122"/>
                <a:cs typeface="微软雅黑" panose="020B0503020204020204" charset="-122"/>
              </a:rPr>
              <a:t>理</a:t>
            </a:r>
            <a:r>
              <a:rPr sz="1400" b="1" dirty="0">
                <a:latin typeface="微软雅黑" panose="020B0503020204020204" charset="-122"/>
                <a:ea typeface="微软雅黑" panose="020B0503020204020204" charset="-122"/>
                <a:cs typeface="微软雅黑" panose="020B0503020204020204" charset="-122"/>
              </a:rPr>
              <a:t>战略</a:t>
            </a:r>
            <a:endParaRPr sz="1400">
              <a:latin typeface="微软雅黑" panose="020B0503020204020204" charset="-122"/>
              <a:ea typeface="微软雅黑" panose="020B0503020204020204" charset="-122"/>
              <a:cs typeface="微软雅黑" panose="020B0503020204020204" charset="-122"/>
            </a:endParaRPr>
          </a:p>
          <a:p>
            <a:pPr marL="1763395" marR="343535" indent="-192405" algn="just">
              <a:lnSpc>
                <a:spcPct val="100000"/>
              </a:lnSpc>
              <a:spcBef>
                <a:spcPts val="1160"/>
              </a:spcBef>
              <a:buClr>
                <a:srgbClr val="00295F"/>
              </a:buClr>
              <a:buSzPct val="125000"/>
              <a:buFont typeface="Arial" panose="020B0604020202020204"/>
              <a:buChar char="▪"/>
              <a:tabLst>
                <a:tab pos="1764030" algn="l"/>
              </a:tabLst>
            </a:pPr>
            <a:r>
              <a:rPr sz="1200" dirty="0">
                <a:latin typeface="微软雅黑" panose="020B0503020204020204" charset="-122"/>
                <a:ea typeface="微软雅黑" panose="020B0503020204020204" charset="-122"/>
                <a:cs typeface="微软雅黑" panose="020B0503020204020204" charset="-122"/>
              </a:rPr>
              <a:t>我们希望成为大客户怎样 的战略伙伴</a:t>
            </a:r>
            <a:endParaRPr sz="1200">
              <a:latin typeface="微软雅黑" panose="020B0503020204020204" charset="-122"/>
              <a:ea typeface="微软雅黑" panose="020B0503020204020204" charset="-122"/>
              <a:cs typeface="微软雅黑" panose="020B0503020204020204" charset="-122"/>
            </a:endParaRPr>
          </a:p>
          <a:p>
            <a:pPr marL="1763395" indent="-192405">
              <a:lnSpc>
                <a:spcPct val="100000"/>
              </a:lnSpc>
              <a:buClr>
                <a:srgbClr val="00295F"/>
              </a:buClr>
              <a:buSzPct val="125000"/>
              <a:buFont typeface="Arial" panose="020B0604020202020204"/>
              <a:buChar char="▪"/>
              <a:tabLst>
                <a:tab pos="1764030" algn="l"/>
              </a:tabLst>
            </a:pPr>
            <a:r>
              <a:rPr sz="1200" spc="-5" dirty="0">
                <a:latin typeface="微软雅黑" panose="020B0503020204020204" charset="-122"/>
                <a:ea typeface="微软雅黑" panose="020B0503020204020204" charset="-122"/>
                <a:cs typeface="微软雅黑" panose="020B0503020204020204" charset="-122"/>
              </a:rPr>
              <a:t>我们具体的价值定位</a:t>
            </a:r>
            <a:endParaRPr sz="1200">
              <a:latin typeface="微软雅黑" panose="020B0503020204020204" charset="-122"/>
              <a:ea typeface="微软雅黑" panose="020B0503020204020204" charset="-122"/>
              <a:cs typeface="微软雅黑" panose="020B0503020204020204" charset="-122"/>
            </a:endParaRPr>
          </a:p>
          <a:p>
            <a:pPr>
              <a:lnSpc>
                <a:spcPct val="100000"/>
              </a:lnSpc>
              <a:spcBef>
                <a:spcPts val="40"/>
              </a:spcBef>
              <a:buClr>
                <a:srgbClr val="00295F"/>
              </a:buClr>
              <a:buFont typeface="Arial" panose="020B0604020202020204"/>
              <a:buChar char="▪"/>
            </a:pPr>
            <a:endParaRPr sz="1500">
              <a:latin typeface="微软雅黑" panose="020B0503020204020204" charset="-122"/>
              <a:ea typeface="微软雅黑" panose="020B0503020204020204" charset="-122"/>
              <a:cs typeface="微软雅黑" panose="020B0503020204020204" charset="-122"/>
            </a:endParaRPr>
          </a:p>
          <a:p>
            <a:pPr marL="1763395" indent="-192405">
              <a:lnSpc>
                <a:spcPct val="100000"/>
              </a:lnSpc>
              <a:buClr>
                <a:srgbClr val="00295F"/>
              </a:buClr>
              <a:buSzPct val="125000"/>
              <a:buFont typeface="Arial" panose="020B0604020202020204"/>
              <a:buChar char="▪"/>
              <a:tabLst>
                <a:tab pos="1764030" algn="l"/>
              </a:tabLst>
            </a:pPr>
            <a:r>
              <a:rPr sz="1200" dirty="0">
                <a:latin typeface="微软雅黑" panose="020B0503020204020204" charset="-122"/>
                <a:ea typeface="微软雅黑" panose="020B0503020204020204" charset="-122"/>
                <a:cs typeface="微软雅黑" panose="020B0503020204020204" charset="-122"/>
              </a:rPr>
              <a:t>销售额、钱包份额、落袋</a:t>
            </a:r>
            <a:endParaRPr sz="1200">
              <a:latin typeface="微软雅黑" panose="020B0503020204020204" charset="-122"/>
              <a:ea typeface="微软雅黑" panose="020B0503020204020204" charset="-122"/>
              <a:cs typeface="微软雅黑" panose="020B0503020204020204" charset="-122"/>
            </a:endParaRPr>
          </a:p>
          <a:p>
            <a:pPr marL="1763395">
              <a:lnSpc>
                <a:spcPct val="100000"/>
              </a:lnSpc>
            </a:pPr>
            <a:r>
              <a:rPr sz="1200" spc="-5" dirty="0">
                <a:latin typeface="微软雅黑" panose="020B0503020204020204" charset="-122"/>
                <a:ea typeface="微软雅黑" panose="020B0503020204020204" charset="-122"/>
                <a:cs typeface="微软雅黑" panose="020B0503020204020204" charset="-122"/>
              </a:rPr>
              <a:t>利润率的目标</a:t>
            </a:r>
            <a:endParaRPr sz="1200">
              <a:latin typeface="微软雅黑" panose="020B0503020204020204" charset="-122"/>
              <a:ea typeface="微软雅黑" panose="020B0503020204020204" charset="-122"/>
              <a:cs typeface="微软雅黑" panose="020B0503020204020204" charset="-122"/>
            </a:endParaRPr>
          </a:p>
          <a:p>
            <a:pPr marL="1763395" indent="-192405">
              <a:lnSpc>
                <a:spcPct val="100000"/>
              </a:lnSpc>
              <a:spcBef>
                <a:spcPts val="5"/>
              </a:spcBef>
              <a:buClr>
                <a:srgbClr val="00295F"/>
              </a:buClr>
              <a:buSzPct val="125000"/>
              <a:buFont typeface="Arial" panose="020B0604020202020204"/>
              <a:buChar char="▪"/>
              <a:tabLst>
                <a:tab pos="1764030" algn="l"/>
              </a:tabLst>
            </a:pPr>
            <a:r>
              <a:rPr sz="1200" dirty="0">
                <a:latin typeface="微软雅黑" panose="020B0503020204020204" charset="-122"/>
                <a:ea typeface="微软雅黑" panose="020B0503020204020204" charset="-122"/>
                <a:cs typeface="微软雅黑" panose="020B0503020204020204" charset="-122"/>
              </a:rPr>
              <a:t>产品组合、新项目</a:t>
            </a:r>
            <a:endParaRPr sz="1200">
              <a:latin typeface="微软雅黑" panose="020B0503020204020204" charset="-122"/>
              <a:ea typeface="微软雅黑" panose="020B0503020204020204" charset="-122"/>
              <a:cs typeface="微软雅黑" panose="020B0503020204020204" charset="-122"/>
            </a:endParaRPr>
          </a:p>
          <a:p>
            <a:pPr>
              <a:lnSpc>
                <a:spcPct val="100000"/>
              </a:lnSpc>
              <a:spcBef>
                <a:spcPts val="50"/>
              </a:spcBef>
              <a:buClr>
                <a:srgbClr val="00295F"/>
              </a:buClr>
              <a:buFont typeface="Arial" panose="020B0604020202020204"/>
              <a:buChar char="▪"/>
            </a:pPr>
            <a:endParaRPr sz="1500">
              <a:latin typeface="微软雅黑" panose="020B0503020204020204" charset="-122"/>
              <a:ea typeface="微软雅黑" panose="020B0503020204020204" charset="-122"/>
              <a:cs typeface="微软雅黑" panose="020B0503020204020204" charset="-122"/>
            </a:endParaRPr>
          </a:p>
          <a:p>
            <a:pPr marL="1763395" marR="343535" indent="-192405" algn="just">
              <a:lnSpc>
                <a:spcPct val="100000"/>
              </a:lnSpc>
              <a:spcBef>
                <a:spcPts val="5"/>
              </a:spcBef>
              <a:buClr>
                <a:srgbClr val="00295F"/>
              </a:buClr>
              <a:buSzPct val="125000"/>
              <a:buFont typeface="Arial" panose="020B0604020202020204"/>
              <a:buChar char="▪"/>
              <a:tabLst>
                <a:tab pos="1764030" algn="l"/>
              </a:tabLst>
            </a:pPr>
            <a:r>
              <a:rPr sz="1200" spc="-5" dirty="0">
                <a:latin typeface="微软雅黑" panose="020B0503020204020204" charset="-122"/>
                <a:ea typeface="微软雅黑" panose="020B0503020204020204" charset="-122"/>
                <a:cs typeface="微软雅黑" panose="020B0503020204020204" charset="-122"/>
              </a:rPr>
              <a:t>大客户管理的具体改进举 </a:t>
            </a:r>
            <a:r>
              <a:rPr sz="1200" dirty="0">
                <a:latin typeface="微软雅黑" panose="020B0503020204020204" charset="-122"/>
                <a:ea typeface="微软雅黑" panose="020B0503020204020204" charset="-122"/>
                <a:cs typeface="微软雅黑" panose="020B0503020204020204" charset="-122"/>
              </a:rPr>
              <a:t>措，例如，提供更低粘度 的树脂以符合客户要求</a:t>
            </a:r>
            <a:endParaRPr sz="1200">
              <a:latin typeface="微软雅黑" panose="020B0503020204020204" charset="-122"/>
              <a:ea typeface="微软雅黑" panose="020B0503020204020204" charset="-122"/>
              <a:cs typeface="微软雅黑" panose="020B0503020204020204" charset="-122"/>
            </a:endParaRPr>
          </a:p>
        </p:txBody>
      </p:sp>
      <p:sp>
        <p:nvSpPr>
          <p:cNvPr id="42" name="object 42"/>
          <p:cNvSpPr txBox="1"/>
          <p:nvPr/>
        </p:nvSpPr>
        <p:spPr>
          <a:xfrm>
            <a:off x="5182498" y="3326853"/>
            <a:ext cx="1215798" cy="355600"/>
          </a:xfrm>
          <a:prstGeom prst="rect">
            <a:avLst/>
          </a:prstGeom>
          <a:solidFill>
            <a:srgbClr val="C6DFFA"/>
          </a:solidFill>
          <a:ln w="9525">
            <a:solidFill>
              <a:srgbClr val="91AFFF"/>
            </a:solidFill>
          </a:ln>
        </p:spPr>
        <p:txBody>
          <a:bodyPr vert="horz" wrap="square" lIns="0" tIns="1903" rIns="0" bIns="0" rtlCol="0">
            <a:spAutoFit/>
          </a:bodyPr>
          <a:lstStyle/>
          <a:p>
            <a:pPr>
              <a:lnSpc>
                <a:spcPct val="100000"/>
              </a:lnSpc>
              <a:spcBef>
                <a:spcPts val="15"/>
              </a:spcBef>
            </a:pPr>
            <a:endParaRPr sz="1100">
              <a:latin typeface="微软雅黑" panose="020B0503020204020204" charset="-122"/>
              <a:ea typeface="微软雅黑" panose="020B0503020204020204" charset="-122"/>
              <a:cs typeface="Times New Roman" panose="02020603050405020304"/>
            </a:endParaRPr>
          </a:p>
          <a:p>
            <a:pPr marL="73025">
              <a:lnSpc>
                <a:spcPct val="100000"/>
              </a:lnSpc>
              <a:spcBef>
                <a:spcPts val="5"/>
              </a:spcBef>
            </a:pPr>
            <a:r>
              <a:rPr sz="1200" b="1" spc="-5" dirty="0">
                <a:latin typeface="微软雅黑" panose="020B0503020204020204" charset="-122"/>
                <a:ea typeface="微软雅黑" panose="020B0503020204020204" charset="-122"/>
                <a:cs typeface="楷体" panose="02010609060101010101" charset="-122"/>
              </a:rPr>
              <a:t>战略举措</a:t>
            </a:r>
            <a:endParaRPr sz="1200">
              <a:latin typeface="微软雅黑" panose="020B0503020204020204" charset="-122"/>
              <a:ea typeface="微软雅黑" panose="020B0503020204020204" charset="-122"/>
              <a:cs typeface="楷体" panose="02010609060101010101" charset="-122"/>
            </a:endParaRPr>
          </a:p>
        </p:txBody>
      </p:sp>
      <p:sp>
        <p:nvSpPr>
          <p:cNvPr id="43" name="object 43"/>
          <p:cNvSpPr/>
          <p:nvPr/>
        </p:nvSpPr>
        <p:spPr>
          <a:xfrm>
            <a:off x="5197727" y="4295430"/>
            <a:ext cx="217778" cy="219301"/>
          </a:xfrm>
          <a:prstGeom prst="rect">
            <a:avLst/>
          </a:prstGeom>
          <a:blipFill>
            <a:blip r:embed="rId4"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4" name="object 44"/>
          <p:cNvSpPr txBox="1"/>
          <p:nvPr/>
        </p:nvSpPr>
        <p:spPr>
          <a:xfrm>
            <a:off x="4942638" y="4180450"/>
            <a:ext cx="3789534" cy="1418590"/>
          </a:xfrm>
          <a:prstGeom prst="rect">
            <a:avLst/>
          </a:prstGeom>
          <a:ln w="28575">
            <a:solidFill>
              <a:srgbClr val="91AFFF"/>
            </a:solidFill>
          </a:ln>
        </p:spPr>
        <p:txBody>
          <a:bodyPr vert="horz" wrap="square" lIns="0" tIns="107238" rIns="0" bIns="0" rtlCol="0">
            <a:spAutoFit/>
          </a:bodyPr>
          <a:lstStyle/>
          <a:p>
            <a:pPr marL="273685">
              <a:lnSpc>
                <a:spcPct val="100000"/>
              </a:lnSpc>
              <a:spcBef>
                <a:spcPts val="845"/>
              </a:spcBef>
            </a:pPr>
            <a:r>
              <a:rPr sz="1400" b="1" spc="335" dirty="0">
                <a:solidFill>
                  <a:srgbClr val="FFFFFF"/>
                </a:solidFill>
                <a:latin typeface="微软雅黑" panose="020B0503020204020204" charset="-122"/>
                <a:ea typeface="微软雅黑" panose="020B0503020204020204" charset="-122"/>
                <a:cs typeface="微软雅黑" panose="020B0503020204020204" charset="-122"/>
              </a:rPr>
              <a:t>三</a:t>
            </a:r>
            <a:r>
              <a:rPr sz="1400" b="1" spc="10" dirty="0">
                <a:latin typeface="微软雅黑" panose="020B0503020204020204" charset="-122"/>
                <a:ea typeface="微软雅黑" panose="020B0503020204020204" charset="-122"/>
                <a:cs typeface="微软雅黑" panose="020B0503020204020204" charset="-122"/>
              </a:rPr>
              <a:t>行动</a:t>
            </a:r>
            <a:r>
              <a:rPr sz="1400" b="1" dirty="0">
                <a:latin typeface="微软雅黑" panose="020B0503020204020204" charset="-122"/>
                <a:ea typeface="微软雅黑" panose="020B0503020204020204" charset="-122"/>
                <a:cs typeface="微软雅黑" panose="020B0503020204020204" charset="-122"/>
              </a:rPr>
              <a:t>计划</a:t>
            </a:r>
            <a:endParaRPr sz="1400">
              <a:latin typeface="微软雅黑" panose="020B0503020204020204" charset="-122"/>
              <a:ea typeface="微软雅黑" panose="020B0503020204020204" charset="-122"/>
              <a:cs typeface="微软雅黑" panose="020B0503020204020204" charset="-122"/>
            </a:endParaRPr>
          </a:p>
          <a:p>
            <a:pPr marL="1876425" indent="-193040">
              <a:lnSpc>
                <a:spcPct val="100000"/>
              </a:lnSpc>
              <a:spcBef>
                <a:spcPts val="1345"/>
              </a:spcBef>
              <a:buClr>
                <a:srgbClr val="00295F"/>
              </a:buClr>
              <a:buSzPct val="125000"/>
              <a:buFont typeface="Arial" panose="020B0604020202020204"/>
              <a:buChar char="▪"/>
              <a:tabLst>
                <a:tab pos="1877060" algn="l"/>
              </a:tabLst>
            </a:pPr>
            <a:r>
              <a:rPr sz="1200" dirty="0">
                <a:latin typeface="微软雅黑" panose="020B0503020204020204" charset="-122"/>
                <a:ea typeface="微软雅黑" panose="020B0503020204020204" charset="-122"/>
                <a:cs typeface="微软雅黑" panose="020B0503020204020204" charset="-122"/>
              </a:rPr>
              <a:t>实施战略举措的具体行</a:t>
            </a:r>
            <a:endParaRPr sz="1200">
              <a:latin typeface="微软雅黑" panose="020B0503020204020204" charset="-122"/>
              <a:ea typeface="微软雅黑" panose="020B0503020204020204" charset="-122"/>
              <a:cs typeface="微软雅黑" panose="020B0503020204020204" charset="-122"/>
            </a:endParaRPr>
          </a:p>
          <a:p>
            <a:pPr marL="418465" algn="ctr">
              <a:lnSpc>
                <a:spcPct val="100000"/>
              </a:lnSpc>
            </a:pPr>
            <a:r>
              <a:rPr sz="1200" spc="-5" dirty="0">
                <a:latin typeface="微软雅黑" panose="020B0503020204020204" charset="-122"/>
                <a:ea typeface="微软雅黑" panose="020B0503020204020204" charset="-122"/>
                <a:cs typeface="微软雅黑" panose="020B0503020204020204" charset="-122"/>
              </a:rPr>
              <a:t>动计划</a:t>
            </a:r>
            <a:endParaRPr sz="1200">
              <a:latin typeface="微软雅黑" panose="020B0503020204020204" charset="-122"/>
              <a:ea typeface="微软雅黑" panose="020B0503020204020204" charset="-122"/>
              <a:cs typeface="微软雅黑" panose="020B0503020204020204" charset="-122"/>
            </a:endParaRPr>
          </a:p>
          <a:p>
            <a:pPr marL="1876425" marR="384175" indent="-192405" algn="just">
              <a:lnSpc>
                <a:spcPct val="100000"/>
              </a:lnSpc>
              <a:spcBef>
                <a:spcPts val="5"/>
              </a:spcBef>
              <a:buClr>
                <a:srgbClr val="00295F"/>
              </a:buClr>
              <a:buSzPct val="125000"/>
              <a:buFont typeface="Arial" panose="020B0604020202020204"/>
              <a:buChar char="▪"/>
              <a:tabLst>
                <a:tab pos="1877060" algn="l"/>
              </a:tabLst>
            </a:pPr>
            <a:r>
              <a:rPr sz="1200" dirty="0">
                <a:latin typeface="微软雅黑" panose="020B0503020204020204" charset="-122"/>
                <a:ea typeface="微软雅黑" panose="020B0503020204020204" charset="-122"/>
                <a:cs typeface="微软雅黑" panose="020B0503020204020204" charset="-122"/>
              </a:rPr>
              <a:t>所需的资源，包括人力 资源和资金支持，以及 领导层的支持</a:t>
            </a:r>
            <a:endParaRPr sz="1200">
              <a:latin typeface="微软雅黑" panose="020B0503020204020204" charset="-122"/>
              <a:ea typeface="微软雅黑" panose="020B0503020204020204" charset="-122"/>
              <a:cs typeface="微软雅黑" panose="020B0503020204020204" charset="-122"/>
            </a:endParaRPr>
          </a:p>
        </p:txBody>
      </p:sp>
      <p:sp>
        <p:nvSpPr>
          <p:cNvPr id="45" name="object 45"/>
          <p:cNvSpPr txBox="1"/>
          <p:nvPr/>
        </p:nvSpPr>
        <p:spPr>
          <a:xfrm>
            <a:off x="5182498" y="4667023"/>
            <a:ext cx="1215798" cy="438785"/>
          </a:xfrm>
          <a:prstGeom prst="rect">
            <a:avLst/>
          </a:prstGeom>
          <a:solidFill>
            <a:srgbClr val="C6DFFA"/>
          </a:solidFill>
          <a:ln w="9525">
            <a:solidFill>
              <a:srgbClr val="91AFFF"/>
            </a:solidFill>
          </a:ln>
        </p:spPr>
        <p:txBody>
          <a:bodyPr vert="horz" wrap="square" lIns="0" tIns="70435" rIns="0" bIns="0" rtlCol="0">
            <a:spAutoFit/>
          </a:bodyPr>
          <a:lstStyle/>
          <a:p>
            <a:pPr marL="73025">
              <a:lnSpc>
                <a:spcPct val="100000"/>
              </a:lnSpc>
              <a:spcBef>
                <a:spcPts val="555"/>
              </a:spcBef>
            </a:pPr>
            <a:r>
              <a:rPr sz="1200" b="1" spc="-10" dirty="0">
                <a:latin typeface="微软雅黑" panose="020B0503020204020204" charset="-122"/>
                <a:ea typeface="微软雅黑" panose="020B0503020204020204" charset="-122"/>
                <a:cs typeface="楷体" panose="02010609060101010101" charset="-122"/>
              </a:rPr>
              <a:t>行动计划和资源</a:t>
            </a:r>
            <a:endParaRPr sz="1200">
              <a:latin typeface="微软雅黑" panose="020B0503020204020204" charset="-122"/>
              <a:ea typeface="微软雅黑" panose="020B0503020204020204" charset="-122"/>
              <a:cs typeface="楷体" panose="02010609060101010101" charset="-122"/>
            </a:endParaRPr>
          </a:p>
          <a:p>
            <a:pPr marL="73025">
              <a:lnSpc>
                <a:spcPct val="100000"/>
              </a:lnSpc>
            </a:pPr>
            <a:r>
              <a:rPr sz="1200" b="1" spc="-5" dirty="0">
                <a:latin typeface="微软雅黑" panose="020B0503020204020204" charset="-122"/>
                <a:ea typeface="微软雅黑" panose="020B0503020204020204" charset="-122"/>
                <a:cs typeface="楷体" panose="02010609060101010101" charset="-122"/>
              </a:rPr>
              <a:t>需求</a:t>
            </a:r>
            <a:endParaRPr sz="1200">
              <a:latin typeface="微软雅黑" panose="020B0503020204020204" charset="-122"/>
              <a:ea typeface="微软雅黑" panose="020B0503020204020204" charset="-122"/>
              <a:cs typeface="楷体" panose="02010609060101010101" charset="-122"/>
            </a:endParaRPr>
          </a:p>
        </p:txBody>
      </p:sp>
      <p:sp>
        <p:nvSpPr>
          <p:cNvPr id="46" name="object 46"/>
          <p:cNvSpPr txBox="1"/>
          <p:nvPr/>
        </p:nvSpPr>
        <p:spPr>
          <a:xfrm>
            <a:off x="106401" y="6412696"/>
            <a:ext cx="2191102"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35"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a:t>
            </a:r>
            <a:r>
              <a:rPr sz="1000" spc="-35"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营销和销售业务部</a:t>
            </a:r>
            <a:endParaRPr sz="10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519315" y="810988"/>
            <a:ext cx="7971221" cy="5198236"/>
          </a:xfrm>
          <a:custGeom>
            <a:avLst/>
            <a:gdLst/>
            <a:ahLst/>
            <a:cxnLst/>
            <a:rect l="l" t="t" r="r" b="b"/>
            <a:pathLst>
              <a:path w="7976870" h="5201920">
                <a:moveTo>
                  <a:pt x="0" y="5201412"/>
                </a:moveTo>
                <a:lnTo>
                  <a:pt x="7976616" y="5201412"/>
                </a:lnTo>
                <a:lnTo>
                  <a:pt x="7976616" y="0"/>
                </a:lnTo>
                <a:lnTo>
                  <a:pt x="0" y="0"/>
                </a:lnTo>
                <a:lnTo>
                  <a:pt x="0" y="5201412"/>
                </a:lnTo>
                <a:close/>
              </a:path>
            </a:pathLst>
          </a:custGeom>
          <a:ln w="952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 name="object 4"/>
          <p:cNvSpPr/>
          <p:nvPr/>
        </p:nvSpPr>
        <p:spPr>
          <a:xfrm>
            <a:off x="4568762" y="946527"/>
            <a:ext cx="3738770" cy="1583838"/>
          </a:xfrm>
          <a:custGeom>
            <a:avLst/>
            <a:gdLst/>
            <a:ahLst/>
            <a:cxnLst/>
            <a:rect l="l" t="t" r="r" b="b"/>
            <a:pathLst>
              <a:path w="3741420" h="1584960">
                <a:moveTo>
                  <a:pt x="0" y="1584960"/>
                </a:moveTo>
                <a:lnTo>
                  <a:pt x="3741420" y="1584960"/>
                </a:lnTo>
                <a:lnTo>
                  <a:pt x="3741420" y="0"/>
                </a:lnTo>
                <a:lnTo>
                  <a:pt x="0" y="0"/>
                </a:lnTo>
                <a:lnTo>
                  <a:pt x="0" y="1584960"/>
                </a:lnTo>
                <a:close/>
              </a:path>
            </a:pathLst>
          </a:custGeom>
          <a:ln w="952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p:nvPr/>
        </p:nvSpPr>
        <p:spPr>
          <a:xfrm>
            <a:off x="6437385" y="1147553"/>
            <a:ext cx="0" cy="1381416"/>
          </a:xfrm>
          <a:custGeom>
            <a:avLst/>
            <a:gdLst/>
            <a:ahLst/>
            <a:cxnLst/>
            <a:rect l="l" t="t" r="r" b="b"/>
            <a:pathLst>
              <a:path h="1382395">
                <a:moveTo>
                  <a:pt x="0" y="0"/>
                </a:moveTo>
                <a:lnTo>
                  <a:pt x="0" y="1382267"/>
                </a:lnTo>
              </a:path>
            </a:pathLst>
          </a:custGeom>
          <a:ln w="9525">
            <a:solidFill>
              <a:srgbClr val="000000"/>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683791" y="2617171"/>
            <a:ext cx="3738770" cy="3251436"/>
          </a:xfrm>
          <a:custGeom>
            <a:avLst/>
            <a:gdLst/>
            <a:ahLst/>
            <a:cxnLst/>
            <a:rect l="l" t="t" r="r" b="b"/>
            <a:pathLst>
              <a:path w="3741420" h="3253740">
                <a:moveTo>
                  <a:pt x="0" y="3253739"/>
                </a:moveTo>
                <a:lnTo>
                  <a:pt x="3741420" y="3253739"/>
                </a:lnTo>
                <a:lnTo>
                  <a:pt x="3741420" y="0"/>
                </a:lnTo>
                <a:lnTo>
                  <a:pt x="0" y="0"/>
                </a:lnTo>
                <a:lnTo>
                  <a:pt x="0" y="3253739"/>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txBox="1"/>
          <p:nvPr/>
        </p:nvSpPr>
        <p:spPr>
          <a:xfrm>
            <a:off x="683791" y="2617171"/>
            <a:ext cx="3738770" cy="191770"/>
          </a:xfrm>
          <a:prstGeom prst="rect">
            <a:avLst/>
          </a:prstGeom>
          <a:solidFill>
            <a:srgbClr val="00295F"/>
          </a:solidFill>
          <a:ln w="9525">
            <a:solidFill>
              <a:srgbClr val="000000"/>
            </a:solidFill>
          </a:ln>
        </p:spPr>
        <p:txBody>
          <a:bodyPr vert="horz" wrap="square" lIns="0" tIns="0" rIns="0" bIns="0" rtlCol="0">
            <a:spAutoFit/>
          </a:bodyPr>
          <a:lstStyle/>
          <a:p>
            <a:pPr marL="71755">
              <a:lnSpc>
                <a:spcPts val="1500"/>
              </a:lnSpc>
            </a:pPr>
            <a:r>
              <a:rPr sz="1500" b="1" spc="5" dirty="0">
                <a:solidFill>
                  <a:srgbClr val="FFFFFF"/>
                </a:solidFill>
                <a:latin typeface="微软雅黑" panose="020B0503020204020204" charset="-122"/>
                <a:ea typeface="微软雅黑" panose="020B0503020204020204" charset="-122"/>
                <a:cs typeface="微软雅黑" panose="020B0503020204020204" charset="-122"/>
              </a:rPr>
              <a:t>客户的</a:t>
            </a:r>
            <a:r>
              <a:rPr sz="1500" b="1" spc="-5" dirty="0">
                <a:solidFill>
                  <a:srgbClr val="FFFFFF"/>
                </a:solidFill>
                <a:latin typeface="微软雅黑" panose="020B0503020204020204" charset="-122"/>
                <a:ea typeface="微软雅黑" panose="020B0503020204020204" charset="-122"/>
                <a:cs typeface="微软雅黑" panose="020B0503020204020204" charset="-122"/>
              </a:rPr>
              <a:t>经济状况</a:t>
            </a:r>
            <a:endParaRPr sz="1500">
              <a:latin typeface="微软雅黑" panose="020B0503020204020204" charset="-122"/>
              <a:ea typeface="微软雅黑" panose="020B0503020204020204" charset="-122"/>
              <a:cs typeface="微软雅黑" panose="020B0503020204020204" charset="-122"/>
            </a:endParaRPr>
          </a:p>
        </p:txBody>
      </p:sp>
      <p:sp>
        <p:nvSpPr>
          <p:cNvPr id="8" name="object 8"/>
          <p:cNvSpPr txBox="1">
            <a:spLocks noGrp="1"/>
          </p:cNvSpPr>
          <p:nvPr>
            <p:ph type="title"/>
          </p:nvPr>
        </p:nvSpPr>
        <p:spPr>
          <a:xfrm>
            <a:off x="106401" y="203088"/>
            <a:ext cx="7021299" cy="5956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利用模板有</a:t>
            </a:r>
            <a:r>
              <a:rPr spc="-10" dirty="0">
                <a:ea typeface="微软雅黑" panose="020B0503020204020204" charset="-122"/>
              </a:rPr>
              <a:t>效的</a:t>
            </a:r>
            <a:r>
              <a:rPr spc="-5" dirty="0">
                <a:ea typeface="微软雅黑" panose="020B0503020204020204" charset="-122"/>
              </a:rPr>
              <a:t>收</a:t>
            </a:r>
            <a:r>
              <a:rPr spc="-10" dirty="0">
                <a:ea typeface="微软雅黑" panose="020B0503020204020204" charset="-122"/>
              </a:rPr>
              <a:t>集及</a:t>
            </a:r>
            <a:r>
              <a:rPr spc="-5" dirty="0">
                <a:ea typeface="微软雅黑" panose="020B0503020204020204" charset="-122"/>
              </a:rPr>
              <a:t>存</a:t>
            </a:r>
            <a:r>
              <a:rPr spc="-10" dirty="0">
                <a:ea typeface="微软雅黑" panose="020B0503020204020204" charset="-122"/>
              </a:rPr>
              <a:t>储大</a:t>
            </a:r>
            <a:r>
              <a:rPr spc="-5" dirty="0">
                <a:ea typeface="微软雅黑" panose="020B0503020204020204" charset="-122"/>
              </a:rPr>
              <a:t>客</a:t>
            </a:r>
            <a:r>
              <a:rPr spc="-10" dirty="0">
                <a:ea typeface="微软雅黑" panose="020B0503020204020204" charset="-122"/>
              </a:rPr>
              <a:t>户信</a:t>
            </a:r>
            <a:r>
              <a:rPr spc="25" dirty="0">
                <a:ea typeface="微软雅黑" panose="020B0503020204020204" charset="-122"/>
              </a:rPr>
              <a:t>息</a:t>
            </a:r>
            <a:r>
              <a:rPr spc="-10" dirty="0">
                <a:ea typeface="微软雅黑" panose="020B0503020204020204" charset="-122"/>
              </a:rPr>
              <a:t>，明</a:t>
            </a:r>
            <a:r>
              <a:rPr spc="-5" dirty="0">
                <a:ea typeface="微软雅黑" panose="020B0503020204020204" charset="-122"/>
              </a:rPr>
              <a:t>确</a:t>
            </a:r>
            <a:r>
              <a:rPr spc="-10" dirty="0">
                <a:ea typeface="微软雅黑" panose="020B0503020204020204" charset="-122"/>
              </a:rPr>
              <a:t>对该</a:t>
            </a:r>
            <a:r>
              <a:rPr spc="-5" dirty="0">
                <a:ea typeface="微软雅黑" panose="020B0503020204020204" charset="-122"/>
              </a:rPr>
              <a:t>客</a:t>
            </a:r>
            <a:r>
              <a:rPr spc="-10" dirty="0">
                <a:ea typeface="微软雅黑" panose="020B0503020204020204" charset="-122"/>
              </a:rPr>
              <a:t>户的</a:t>
            </a:r>
            <a:r>
              <a:rPr spc="-5" dirty="0">
                <a:ea typeface="微软雅黑" panose="020B0503020204020204" charset="-122"/>
              </a:rPr>
              <a:t>价</a:t>
            </a:r>
            <a:r>
              <a:rPr spc="-10" dirty="0">
                <a:ea typeface="微软雅黑" panose="020B0503020204020204" charset="-122"/>
              </a:rPr>
              <a:t>值定位</a:t>
            </a:r>
            <a:endParaRPr spc="-10" dirty="0">
              <a:ea typeface="微软雅黑" panose="020B0503020204020204" charset="-122"/>
            </a:endParaRPr>
          </a:p>
        </p:txBody>
      </p:sp>
      <p:sp>
        <p:nvSpPr>
          <p:cNvPr id="9" name="object 9"/>
          <p:cNvSpPr txBox="1"/>
          <p:nvPr/>
        </p:nvSpPr>
        <p:spPr>
          <a:xfrm>
            <a:off x="877990" y="5629001"/>
            <a:ext cx="230505" cy="215747"/>
          </a:xfrm>
          <a:prstGeom prst="rect">
            <a:avLst/>
          </a:prstGeom>
        </p:spPr>
        <p:txBody>
          <a:bodyPr vert="vert" wrap="square" lIns="0" tIns="10152" rIns="0" bIns="0" rtlCol="0">
            <a:spAutoFit/>
          </a:bodyPr>
          <a:lstStyle/>
          <a:p>
            <a:pPr marL="12700">
              <a:lnSpc>
                <a:spcPct val="100000"/>
              </a:lnSpc>
              <a:spcBef>
                <a:spcPts val="80"/>
              </a:spcBef>
            </a:pPr>
            <a:r>
              <a:rPr sz="1500" dirty="0">
                <a:latin typeface="微软雅黑" panose="020B0503020204020204" charset="-122"/>
                <a:ea typeface="微软雅黑" panose="020B0503020204020204" charset="-122"/>
                <a:cs typeface="微软雅黑" panose="020B0503020204020204" charset="-122"/>
              </a:rPr>
              <a:t>…</a:t>
            </a:r>
            <a:endParaRPr sz="1500" dirty="0">
              <a:latin typeface="微软雅黑" panose="020B0503020204020204" charset="-122"/>
              <a:ea typeface="微软雅黑" panose="020B0503020204020204" charset="-122"/>
              <a:cs typeface="微软雅黑" panose="020B0503020204020204" charset="-122"/>
            </a:endParaRPr>
          </a:p>
        </p:txBody>
      </p:sp>
      <p:sp>
        <p:nvSpPr>
          <p:cNvPr id="10" name="object 10"/>
          <p:cNvSpPr txBox="1"/>
          <p:nvPr/>
        </p:nvSpPr>
        <p:spPr>
          <a:xfrm>
            <a:off x="782172" y="2798780"/>
            <a:ext cx="1273542" cy="181610"/>
          </a:xfrm>
          <a:prstGeom prst="rect">
            <a:avLst/>
          </a:prstGeom>
        </p:spPr>
        <p:txBody>
          <a:bodyPr vert="horz" wrap="square" lIns="0" tIns="13325" rIns="0" bIns="0" rtlCol="0">
            <a:spAutoFit/>
          </a:bodyPr>
          <a:lstStyle/>
          <a:p>
            <a:pPr>
              <a:lnSpc>
                <a:spcPct val="100000"/>
              </a:lnSpc>
              <a:spcBef>
                <a:spcPts val="105"/>
              </a:spcBef>
            </a:pPr>
            <a:r>
              <a:rPr sz="1100" b="1" spc="10" dirty="0">
                <a:latin typeface="微软雅黑" panose="020B0503020204020204" charset="-122"/>
                <a:ea typeface="微软雅黑" panose="020B0503020204020204" charset="-122"/>
                <a:cs typeface="微软雅黑" panose="020B0503020204020204" charset="-122"/>
              </a:rPr>
              <a:t>销售</a:t>
            </a:r>
            <a:r>
              <a:rPr sz="1100" b="1" dirty="0">
                <a:latin typeface="微软雅黑" panose="020B0503020204020204" charset="-122"/>
                <a:ea typeface="微软雅黑" panose="020B0503020204020204" charset="-122"/>
                <a:cs typeface="微软雅黑" panose="020B0503020204020204" charset="-122"/>
              </a:rPr>
              <a:t>额与</a:t>
            </a:r>
            <a:r>
              <a:rPr sz="1100" b="1" spc="-15" dirty="0">
                <a:latin typeface="微软雅黑" panose="020B0503020204020204" charset="-122"/>
                <a:ea typeface="微软雅黑" panose="020B0503020204020204" charset="-122"/>
                <a:cs typeface="微软雅黑" panose="020B0503020204020204" charset="-122"/>
              </a:rPr>
              <a:t>利</a:t>
            </a:r>
            <a:r>
              <a:rPr sz="1100" b="1" dirty="0">
                <a:latin typeface="微软雅黑" panose="020B0503020204020204" charset="-122"/>
                <a:ea typeface="微软雅黑" panose="020B0503020204020204" charset="-122"/>
                <a:cs typeface="微软雅黑" panose="020B0503020204020204" charset="-122"/>
              </a:rPr>
              <a:t>润的</a:t>
            </a:r>
            <a:r>
              <a:rPr sz="1100" b="1" spc="-15" dirty="0">
                <a:latin typeface="微软雅黑" panose="020B0503020204020204" charset="-122"/>
                <a:ea typeface="微软雅黑" panose="020B0503020204020204" charset="-122"/>
                <a:cs typeface="微软雅黑" panose="020B0503020204020204" charset="-122"/>
              </a:rPr>
              <a:t>变</a:t>
            </a:r>
            <a:r>
              <a:rPr sz="1100" b="1" dirty="0">
                <a:latin typeface="微软雅黑" panose="020B0503020204020204" charset="-122"/>
                <a:ea typeface="微软雅黑" panose="020B0503020204020204" charset="-122"/>
                <a:cs typeface="微软雅黑" panose="020B0503020204020204" charset="-122"/>
              </a:rPr>
              <a:t>化</a:t>
            </a:r>
            <a:endParaRPr sz="1100">
              <a:latin typeface="微软雅黑" panose="020B0503020204020204" charset="-122"/>
              <a:ea typeface="微软雅黑" panose="020B0503020204020204" charset="-122"/>
              <a:cs typeface="微软雅黑" panose="020B0503020204020204" charset="-122"/>
            </a:endParaRPr>
          </a:p>
        </p:txBody>
      </p:sp>
      <p:sp>
        <p:nvSpPr>
          <p:cNvPr id="11" name="object 11"/>
          <p:cNvSpPr/>
          <p:nvPr/>
        </p:nvSpPr>
        <p:spPr>
          <a:xfrm>
            <a:off x="979050" y="3613021"/>
            <a:ext cx="266511" cy="428321"/>
          </a:xfrm>
          <a:custGeom>
            <a:avLst/>
            <a:gdLst/>
            <a:ahLst/>
            <a:cxnLst/>
            <a:rect l="l" t="t" r="r" b="b"/>
            <a:pathLst>
              <a:path w="266700" h="428625">
                <a:moveTo>
                  <a:pt x="0" y="428605"/>
                </a:moveTo>
                <a:lnTo>
                  <a:pt x="266511" y="428605"/>
                </a:lnTo>
                <a:lnTo>
                  <a:pt x="266511" y="0"/>
                </a:lnTo>
                <a:lnTo>
                  <a:pt x="0" y="0"/>
                </a:lnTo>
                <a:lnTo>
                  <a:pt x="0" y="428605"/>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979050" y="3613021"/>
            <a:ext cx="266511" cy="428321"/>
          </a:xfrm>
          <a:custGeom>
            <a:avLst/>
            <a:gdLst/>
            <a:ahLst/>
            <a:cxnLst/>
            <a:rect l="l" t="t" r="r" b="b"/>
            <a:pathLst>
              <a:path w="266700" h="428625">
                <a:moveTo>
                  <a:pt x="0" y="428605"/>
                </a:moveTo>
                <a:lnTo>
                  <a:pt x="266511" y="428605"/>
                </a:lnTo>
                <a:lnTo>
                  <a:pt x="266511" y="0"/>
                </a:lnTo>
                <a:lnTo>
                  <a:pt x="0" y="0"/>
                </a:lnTo>
                <a:lnTo>
                  <a:pt x="0" y="428605"/>
                </a:lnTo>
                <a:close/>
              </a:path>
            </a:pathLst>
          </a:custGeom>
          <a:ln w="9468">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1606787" y="3717584"/>
            <a:ext cx="266511" cy="324255"/>
          </a:xfrm>
          <a:custGeom>
            <a:avLst/>
            <a:gdLst/>
            <a:ahLst/>
            <a:cxnLst/>
            <a:rect l="l" t="t" r="r" b="b"/>
            <a:pathLst>
              <a:path w="266700" h="324485">
                <a:moveTo>
                  <a:pt x="0" y="323967"/>
                </a:moveTo>
                <a:lnTo>
                  <a:pt x="266511" y="323967"/>
                </a:lnTo>
                <a:lnTo>
                  <a:pt x="266511" y="0"/>
                </a:lnTo>
                <a:lnTo>
                  <a:pt x="0" y="0"/>
                </a:lnTo>
                <a:lnTo>
                  <a:pt x="0" y="323967"/>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1606787" y="3717584"/>
            <a:ext cx="266511" cy="324255"/>
          </a:xfrm>
          <a:custGeom>
            <a:avLst/>
            <a:gdLst/>
            <a:ahLst/>
            <a:cxnLst/>
            <a:rect l="l" t="t" r="r" b="b"/>
            <a:pathLst>
              <a:path w="266700" h="324485">
                <a:moveTo>
                  <a:pt x="0" y="323967"/>
                </a:moveTo>
                <a:lnTo>
                  <a:pt x="266511" y="323967"/>
                </a:lnTo>
                <a:lnTo>
                  <a:pt x="266511" y="0"/>
                </a:lnTo>
                <a:lnTo>
                  <a:pt x="0" y="0"/>
                </a:lnTo>
                <a:lnTo>
                  <a:pt x="0" y="323967"/>
                </a:lnTo>
                <a:close/>
              </a:path>
            </a:pathLst>
          </a:custGeom>
          <a:ln w="9461">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2243939" y="3565292"/>
            <a:ext cx="266511" cy="476546"/>
          </a:xfrm>
          <a:custGeom>
            <a:avLst/>
            <a:gdLst/>
            <a:ahLst/>
            <a:cxnLst/>
            <a:rect l="l" t="t" r="r" b="b"/>
            <a:pathLst>
              <a:path w="266700" h="476885">
                <a:moveTo>
                  <a:pt x="0" y="476367"/>
                </a:moveTo>
                <a:lnTo>
                  <a:pt x="266511" y="476367"/>
                </a:lnTo>
                <a:lnTo>
                  <a:pt x="266511" y="0"/>
                </a:lnTo>
                <a:lnTo>
                  <a:pt x="0" y="0"/>
                </a:lnTo>
                <a:lnTo>
                  <a:pt x="0" y="476367"/>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p:nvPr/>
        </p:nvSpPr>
        <p:spPr>
          <a:xfrm>
            <a:off x="2243940" y="3565292"/>
            <a:ext cx="266511" cy="476546"/>
          </a:xfrm>
          <a:custGeom>
            <a:avLst/>
            <a:gdLst/>
            <a:ahLst/>
            <a:cxnLst/>
            <a:rect l="l" t="t" r="r" b="b"/>
            <a:pathLst>
              <a:path w="266700" h="476885">
                <a:moveTo>
                  <a:pt x="0" y="476367"/>
                </a:moveTo>
                <a:lnTo>
                  <a:pt x="266511" y="476367"/>
                </a:lnTo>
                <a:lnTo>
                  <a:pt x="266511" y="0"/>
                </a:lnTo>
                <a:lnTo>
                  <a:pt x="0" y="0"/>
                </a:lnTo>
                <a:lnTo>
                  <a:pt x="0" y="476367"/>
                </a:lnTo>
                <a:close/>
              </a:path>
            </a:pathLst>
          </a:custGeom>
          <a:ln w="9470">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p:nvPr/>
        </p:nvSpPr>
        <p:spPr>
          <a:xfrm>
            <a:off x="2871740" y="3774733"/>
            <a:ext cx="266511" cy="267146"/>
          </a:xfrm>
          <a:custGeom>
            <a:avLst/>
            <a:gdLst/>
            <a:ahLst/>
            <a:cxnLst/>
            <a:rect l="l" t="t" r="r" b="b"/>
            <a:pathLst>
              <a:path w="266700" h="267335">
                <a:moveTo>
                  <a:pt x="0" y="266778"/>
                </a:moveTo>
                <a:lnTo>
                  <a:pt x="266511" y="266778"/>
                </a:lnTo>
                <a:lnTo>
                  <a:pt x="266511" y="0"/>
                </a:lnTo>
                <a:lnTo>
                  <a:pt x="0" y="0"/>
                </a:lnTo>
                <a:lnTo>
                  <a:pt x="0" y="266778"/>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p:nvPr/>
        </p:nvSpPr>
        <p:spPr>
          <a:xfrm>
            <a:off x="2871740" y="3774733"/>
            <a:ext cx="266511" cy="267146"/>
          </a:xfrm>
          <a:custGeom>
            <a:avLst/>
            <a:gdLst/>
            <a:ahLst/>
            <a:cxnLst/>
            <a:rect l="l" t="t" r="r" b="b"/>
            <a:pathLst>
              <a:path w="266700" h="267335">
                <a:moveTo>
                  <a:pt x="0" y="266778"/>
                </a:moveTo>
                <a:lnTo>
                  <a:pt x="266511" y="266778"/>
                </a:lnTo>
                <a:lnTo>
                  <a:pt x="266511" y="0"/>
                </a:lnTo>
                <a:lnTo>
                  <a:pt x="0" y="0"/>
                </a:lnTo>
                <a:lnTo>
                  <a:pt x="0" y="266778"/>
                </a:lnTo>
                <a:close/>
              </a:path>
            </a:pathLst>
          </a:custGeom>
          <a:ln w="945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p:nvPr/>
        </p:nvSpPr>
        <p:spPr>
          <a:xfrm>
            <a:off x="1245372" y="3822461"/>
            <a:ext cx="256993" cy="218920"/>
          </a:xfrm>
          <a:custGeom>
            <a:avLst/>
            <a:gdLst/>
            <a:ahLst/>
            <a:cxnLst/>
            <a:rect l="l" t="t" r="r" b="b"/>
            <a:pathLst>
              <a:path w="257175" h="219075">
                <a:moveTo>
                  <a:pt x="0" y="219015"/>
                </a:moveTo>
                <a:lnTo>
                  <a:pt x="256710" y="219015"/>
                </a:lnTo>
                <a:lnTo>
                  <a:pt x="256710" y="0"/>
                </a:lnTo>
                <a:lnTo>
                  <a:pt x="0" y="0"/>
                </a:lnTo>
                <a:lnTo>
                  <a:pt x="0" y="219015"/>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p:nvPr/>
        </p:nvSpPr>
        <p:spPr>
          <a:xfrm>
            <a:off x="1245372" y="3822461"/>
            <a:ext cx="256993" cy="218920"/>
          </a:xfrm>
          <a:custGeom>
            <a:avLst/>
            <a:gdLst/>
            <a:ahLst/>
            <a:cxnLst/>
            <a:rect l="l" t="t" r="r" b="b"/>
            <a:pathLst>
              <a:path w="257175" h="219075">
                <a:moveTo>
                  <a:pt x="0" y="219015"/>
                </a:moveTo>
                <a:lnTo>
                  <a:pt x="256710" y="219015"/>
                </a:lnTo>
                <a:lnTo>
                  <a:pt x="256710" y="0"/>
                </a:lnTo>
                <a:lnTo>
                  <a:pt x="0" y="0"/>
                </a:lnTo>
                <a:lnTo>
                  <a:pt x="0" y="219015"/>
                </a:lnTo>
                <a:close/>
              </a:path>
            </a:pathLst>
          </a:custGeom>
          <a:ln w="9451">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1" name="object 21"/>
          <p:cNvSpPr/>
          <p:nvPr/>
        </p:nvSpPr>
        <p:spPr>
          <a:xfrm>
            <a:off x="1873109" y="3879296"/>
            <a:ext cx="266511" cy="162445"/>
          </a:xfrm>
          <a:custGeom>
            <a:avLst/>
            <a:gdLst/>
            <a:ahLst/>
            <a:cxnLst/>
            <a:rect l="l" t="t" r="r" b="b"/>
            <a:pathLst>
              <a:path w="266700" h="162560">
                <a:moveTo>
                  <a:pt x="0" y="162140"/>
                </a:moveTo>
                <a:lnTo>
                  <a:pt x="266511" y="162140"/>
                </a:lnTo>
                <a:lnTo>
                  <a:pt x="266511" y="0"/>
                </a:lnTo>
                <a:lnTo>
                  <a:pt x="0" y="0"/>
                </a:lnTo>
                <a:lnTo>
                  <a:pt x="0" y="16214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1873109" y="3879296"/>
            <a:ext cx="266511" cy="162445"/>
          </a:xfrm>
          <a:custGeom>
            <a:avLst/>
            <a:gdLst/>
            <a:ahLst/>
            <a:cxnLst/>
            <a:rect l="l" t="t" r="r" b="b"/>
            <a:pathLst>
              <a:path w="266700" h="162560">
                <a:moveTo>
                  <a:pt x="0" y="162140"/>
                </a:moveTo>
                <a:lnTo>
                  <a:pt x="266511" y="162140"/>
                </a:lnTo>
                <a:lnTo>
                  <a:pt x="266511" y="0"/>
                </a:lnTo>
                <a:lnTo>
                  <a:pt x="0" y="0"/>
                </a:lnTo>
                <a:lnTo>
                  <a:pt x="0" y="162140"/>
                </a:lnTo>
                <a:close/>
              </a:path>
            </a:pathLst>
          </a:custGeom>
          <a:ln w="9442">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p:nvPr/>
        </p:nvSpPr>
        <p:spPr>
          <a:xfrm>
            <a:off x="2510325" y="3927025"/>
            <a:ext cx="256993" cy="114854"/>
          </a:xfrm>
          <a:custGeom>
            <a:avLst/>
            <a:gdLst/>
            <a:ahLst/>
            <a:cxnLst/>
            <a:rect l="l" t="t" r="r" b="b"/>
            <a:pathLst>
              <a:path w="257175" h="114935">
                <a:moveTo>
                  <a:pt x="0" y="114378"/>
                </a:moveTo>
                <a:lnTo>
                  <a:pt x="257026" y="114378"/>
                </a:lnTo>
                <a:lnTo>
                  <a:pt x="257026" y="0"/>
                </a:lnTo>
                <a:lnTo>
                  <a:pt x="0" y="0"/>
                </a:lnTo>
                <a:lnTo>
                  <a:pt x="0" y="114378"/>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p:nvPr/>
        </p:nvSpPr>
        <p:spPr>
          <a:xfrm>
            <a:off x="2510325" y="3927025"/>
            <a:ext cx="256993" cy="114854"/>
          </a:xfrm>
          <a:custGeom>
            <a:avLst/>
            <a:gdLst/>
            <a:ahLst/>
            <a:cxnLst/>
            <a:rect l="l" t="t" r="r" b="b"/>
            <a:pathLst>
              <a:path w="257175" h="114935">
                <a:moveTo>
                  <a:pt x="0" y="114378"/>
                </a:moveTo>
                <a:lnTo>
                  <a:pt x="257026" y="114378"/>
                </a:lnTo>
                <a:lnTo>
                  <a:pt x="257026" y="0"/>
                </a:lnTo>
                <a:lnTo>
                  <a:pt x="0" y="0"/>
                </a:lnTo>
                <a:lnTo>
                  <a:pt x="0" y="114378"/>
                </a:lnTo>
                <a:close/>
              </a:path>
            </a:pathLst>
          </a:custGeom>
          <a:ln w="9436">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5" name="object 25"/>
          <p:cNvSpPr/>
          <p:nvPr/>
        </p:nvSpPr>
        <p:spPr>
          <a:xfrm>
            <a:off x="3138126" y="4065029"/>
            <a:ext cx="256993" cy="0"/>
          </a:xfrm>
          <a:custGeom>
            <a:avLst/>
            <a:gdLst/>
            <a:ahLst/>
            <a:cxnLst/>
            <a:rect l="l" t="t" r="r" b="b"/>
            <a:pathLst>
              <a:path w="257175">
                <a:moveTo>
                  <a:pt x="0" y="0"/>
                </a:moveTo>
                <a:lnTo>
                  <a:pt x="257026" y="0"/>
                </a:lnTo>
              </a:path>
            </a:pathLst>
          </a:custGeom>
          <a:ln w="47448">
            <a:solidFill>
              <a:srgbClr val="0066CC"/>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6" name="object 26"/>
          <p:cNvSpPr/>
          <p:nvPr/>
        </p:nvSpPr>
        <p:spPr>
          <a:xfrm>
            <a:off x="3138126" y="4041322"/>
            <a:ext cx="256993" cy="47591"/>
          </a:xfrm>
          <a:custGeom>
            <a:avLst/>
            <a:gdLst/>
            <a:ahLst/>
            <a:cxnLst/>
            <a:rect l="l" t="t" r="r" b="b"/>
            <a:pathLst>
              <a:path w="257175" h="47625">
                <a:moveTo>
                  <a:pt x="0" y="47448"/>
                </a:moveTo>
                <a:lnTo>
                  <a:pt x="257026" y="47448"/>
                </a:lnTo>
                <a:lnTo>
                  <a:pt x="257026" y="0"/>
                </a:lnTo>
                <a:lnTo>
                  <a:pt x="0" y="0"/>
                </a:lnTo>
                <a:lnTo>
                  <a:pt x="0" y="47448"/>
                </a:lnTo>
                <a:close/>
              </a:path>
            </a:pathLst>
          </a:custGeom>
          <a:ln w="9428">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7" name="object 27"/>
          <p:cNvSpPr/>
          <p:nvPr/>
        </p:nvSpPr>
        <p:spPr>
          <a:xfrm>
            <a:off x="926606" y="4036612"/>
            <a:ext cx="2521068" cy="0"/>
          </a:xfrm>
          <a:custGeom>
            <a:avLst/>
            <a:gdLst/>
            <a:ahLst/>
            <a:cxnLst/>
            <a:rect l="l" t="t" r="r" b="b"/>
            <a:pathLst>
              <a:path w="2522854">
                <a:moveTo>
                  <a:pt x="0" y="0"/>
                </a:moveTo>
                <a:lnTo>
                  <a:pt x="2522277" y="0"/>
                </a:lnTo>
              </a:path>
            </a:pathLst>
          </a:custGeom>
          <a:ln w="28280">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p:nvPr/>
        </p:nvSpPr>
        <p:spPr>
          <a:xfrm>
            <a:off x="1106313" y="3322411"/>
            <a:ext cx="1896670" cy="227804"/>
          </a:xfrm>
          <a:custGeom>
            <a:avLst/>
            <a:gdLst/>
            <a:ahLst/>
            <a:cxnLst/>
            <a:rect l="l" t="t" r="r" b="b"/>
            <a:pathLst>
              <a:path w="1898014" h="227964">
                <a:moveTo>
                  <a:pt x="1781938" y="189768"/>
                </a:moveTo>
                <a:lnTo>
                  <a:pt x="1778723" y="227711"/>
                </a:lnTo>
                <a:lnTo>
                  <a:pt x="1870017" y="191389"/>
                </a:lnTo>
                <a:lnTo>
                  <a:pt x="1800948" y="191389"/>
                </a:lnTo>
                <a:lnTo>
                  <a:pt x="1781938" y="189768"/>
                </a:lnTo>
                <a:close/>
              </a:path>
              <a:path w="1898014" h="227964">
                <a:moveTo>
                  <a:pt x="1785155" y="151800"/>
                </a:moveTo>
                <a:lnTo>
                  <a:pt x="1781938" y="189768"/>
                </a:lnTo>
                <a:lnTo>
                  <a:pt x="1800948" y="191389"/>
                </a:lnTo>
                <a:lnTo>
                  <a:pt x="1804123" y="153416"/>
                </a:lnTo>
                <a:lnTo>
                  <a:pt x="1785155" y="151800"/>
                </a:lnTo>
                <a:close/>
              </a:path>
              <a:path w="1898014" h="227964">
                <a:moveTo>
                  <a:pt x="1788375" y="113792"/>
                </a:moveTo>
                <a:lnTo>
                  <a:pt x="1785155" y="151800"/>
                </a:lnTo>
                <a:lnTo>
                  <a:pt x="1804123" y="153416"/>
                </a:lnTo>
                <a:lnTo>
                  <a:pt x="1800948" y="191389"/>
                </a:lnTo>
                <a:lnTo>
                  <a:pt x="1870017" y="191389"/>
                </a:lnTo>
                <a:lnTo>
                  <a:pt x="1897468" y="180467"/>
                </a:lnTo>
                <a:lnTo>
                  <a:pt x="1788375" y="113792"/>
                </a:lnTo>
                <a:close/>
              </a:path>
              <a:path w="1898014" h="227964">
                <a:moveTo>
                  <a:pt x="3225" y="0"/>
                </a:moveTo>
                <a:lnTo>
                  <a:pt x="0" y="37846"/>
                </a:lnTo>
                <a:lnTo>
                  <a:pt x="1781938" y="189768"/>
                </a:lnTo>
                <a:lnTo>
                  <a:pt x="1785155" y="151800"/>
                </a:lnTo>
                <a:lnTo>
                  <a:pt x="3225" y="0"/>
                </a:lnTo>
                <a:close/>
              </a:path>
            </a:pathLst>
          </a:custGeom>
          <a:solidFill>
            <a:srgbClr val="00295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9" name="object 29"/>
          <p:cNvSpPr/>
          <p:nvPr/>
        </p:nvSpPr>
        <p:spPr>
          <a:xfrm>
            <a:off x="1106313" y="3322411"/>
            <a:ext cx="1896670" cy="227804"/>
          </a:xfrm>
          <a:custGeom>
            <a:avLst/>
            <a:gdLst/>
            <a:ahLst/>
            <a:cxnLst/>
            <a:rect l="l" t="t" r="r" b="b"/>
            <a:pathLst>
              <a:path w="1898014" h="227964">
                <a:moveTo>
                  <a:pt x="1781938" y="189768"/>
                </a:moveTo>
                <a:lnTo>
                  <a:pt x="1778723" y="227711"/>
                </a:lnTo>
                <a:lnTo>
                  <a:pt x="1870017" y="191389"/>
                </a:lnTo>
                <a:lnTo>
                  <a:pt x="1800948" y="191389"/>
                </a:lnTo>
                <a:lnTo>
                  <a:pt x="1781938" y="189768"/>
                </a:lnTo>
                <a:close/>
              </a:path>
              <a:path w="1898014" h="227964">
                <a:moveTo>
                  <a:pt x="1785155" y="151800"/>
                </a:moveTo>
                <a:lnTo>
                  <a:pt x="1781938" y="189768"/>
                </a:lnTo>
                <a:lnTo>
                  <a:pt x="1800948" y="191389"/>
                </a:lnTo>
                <a:lnTo>
                  <a:pt x="1804123" y="153416"/>
                </a:lnTo>
                <a:lnTo>
                  <a:pt x="1785155" y="151800"/>
                </a:lnTo>
                <a:close/>
              </a:path>
              <a:path w="1898014" h="227964">
                <a:moveTo>
                  <a:pt x="1788375" y="113792"/>
                </a:moveTo>
                <a:lnTo>
                  <a:pt x="1785155" y="151800"/>
                </a:lnTo>
                <a:lnTo>
                  <a:pt x="1804123" y="153416"/>
                </a:lnTo>
                <a:lnTo>
                  <a:pt x="1800948" y="191389"/>
                </a:lnTo>
                <a:lnTo>
                  <a:pt x="1870017" y="191389"/>
                </a:lnTo>
                <a:lnTo>
                  <a:pt x="1897468" y="180467"/>
                </a:lnTo>
                <a:lnTo>
                  <a:pt x="1788375" y="113792"/>
                </a:lnTo>
                <a:close/>
              </a:path>
              <a:path w="1898014" h="227964">
                <a:moveTo>
                  <a:pt x="3225" y="0"/>
                </a:moveTo>
                <a:lnTo>
                  <a:pt x="0" y="37846"/>
                </a:lnTo>
                <a:lnTo>
                  <a:pt x="1781938" y="189768"/>
                </a:lnTo>
                <a:lnTo>
                  <a:pt x="1785155" y="151800"/>
                </a:lnTo>
                <a:lnTo>
                  <a:pt x="3225" y="0"/>
                </a:lnTo>
                <a:close/>
              </a:path>
            </a:pathLst>
          </a:custGeom>
          <a:solidFill>
            <a:srgbClr val="00295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0" name="object 30"/>
          <p:cNvSpPr/>
          <p:nvPr/>
        </p:nvSpPr>
        <p:spPr>
          <a:xfrm>
            <a:off x="1906697" y="3323807"/>
            <a:ext cx="296970" cy="193538"/>
          </a:xfrm>
          <a:custGeom>
            <a:avLst/>
            <a:gdLst/>
            <a:ahLst/>
            <a:cxnLst/>
            <a:rect l="l" t="t" r="r" b="b"/>
            <a:pathLst>
              <a:path w="297180" h="193675">
                <a:moveTo>
                  <a:pt x="148589" y="0"/>
                </a:moveTo>
                <a:lnTo>
                  <a:pt x="90761" y="7602"/>
                </a:lnTo>
                <a:lnTo>
                  <a:pt x="43529" y="28336"/>
                </a:lnTo>
                <a:lnTo>
                  <a:pt x="11680" y="59096"/>
                </a:lnTo>
                <a:lnTo>
                  <a:pt x="0" y="96774"/>
                </a:lnTo>
                <a:lnTo>
                  <a:pt x="11680" y="134451"/>
                </a:lnTo>
                <a:lnTo>
                  <a:pt x="43529" y="165211"/>
                </a:lnTo>
                <a:lnTo>
                  <a:pt x="90761" y="185945"/>
                </a:lnTo>
                <a:lnTo>
                  <a:pt x="148589" y="193548"/>
                </a:lnTo>
                <a:lnTo>
                  <a:pt x="206418" y="185945"/>
                </a:lnTo>
                <a:lnTo>
                  <a:pt x="253650" y="165211"/>
                </a:lnTo>
                <a:lnTo>
                  <a:pt x="285499" y="134451"/>
                </a:lnTo>
                <a:lnTo>
                  <a:pt x="297179" y="96774"/>
                </a:lnTo>
                <a:lnTo>
                  <a:pt x="285499" y="59096"/>
                </a:lnTo>
                <a:lnTo>
                  <a:pt x="253650" y="28336"/>
                </a:lnTo>
                <a:lnTo>
                  <a:pt x="206418" y="7602"/>
                </a:lnTo>
                <a:lnTo>
                  <a:pt x="148589"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1" name="object 31"/>
          <p:cNvSpPr/>
          <p:nvPr/>
        </p:nvSpPr>
        <p:spPr>
          <a:xfrm>
            <a:off x="1906697" y="3323807"/>
            <a:ext cx="296970" cy="193538"/>
          </a:xfrm>
          <a:custGeom>
            <a:avLst/>
            <a:gdLst/>
            <a:ahLst/>
            <a:cxnLst/>
            <a:rect l="l" t="t" r="r" b="b"/>
            <a:pathLst>
              <a:path w="297180" h="193675">
                <a:moveTo>
                  <a:pt x="0" y="96774"/>
                </a:moveTo>
                <a:lnTo>
                  <a:pt x="11680" y="59096"/>
                </a:lnTo>
                <a:lnTo>
                  <a:pt x="43529" y="28336"/>
                </a:lnTo>
                <a:lnTo>
                  <a:pt x="90761" y="7602"/>
                </a:lnTo>
                <a:lnTo>
                  <a:pt x="148589" y="0"/>
                </a:lnTo>
                <a:lnTo>
                  <a:pt x="206418" y="7602"/>
                </a:lnTo>
                <a:lnTo>
                  <a:pt x="253650" y="28336"/>
                </a:lnTo>
                <a:lnTo>
                  <a:pt x="285499" y="59096"/>
                </a:lnTo>
                <a:lnTo>
                  <a:pt x="297179" y="96774"/>
                </a:lnTo>
                <a:lnTo>
                  <a:pt x="285499" y="134451"/>
                </a:lnTo>
                <a:lnTo>
                  <a:pt x="253650" y="165211"/>
                </a:lnTo>
                <a:lnTo>
                  <a:pt x="206418" y="185945"/>
                </a:lnTo>
                <a:lnTo>
                  <a:pt x="148589" y="193548"/>
                </a:lnTo>
                <a:lnTo>
                  <a:pt x="90761" y="185945"/>
                </a:lnTo>
                <a:lnTo>
                  <a:pt x="43529" y="165211"/>
                </a:lnTo>
                <a:lnTo>
                  <a:pt x="11680" y="134451"/>
                </a:lnTo>
                <a:lnTo>
                  <a:pt x="0" y="96774"/>
                </a:lnTo>
                <a:close/>
              </a:path>
            </a:pathLst>
          </a:custGeom>
          <a:ln w="9525">
            <a:solidFill>
              <a:srgbClr val="00295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2" name="object 32"/>
          <p:cNvSpPr txBox="1"/>
          <p:nvPr/>
        </p:nvSpPr>
        <p:spPr>
          <a:xfrm>
            <a:off x="1923448" y="3269108"/>
            <a:ext cx="277933" cy="473710"/>
          </a:xfrm>
          <a:prstGeom prst="rect">
            <a:avLst/>
          </a:prstGeom>
        </p:spPr>
        <p:txBody>
          <a:bodyPr vert="horz" wrap="square" lIns="0" tIns="12691" rIns="0" bIns="0" rtlCol="0">
            <a:spAutoFit/>
          </a:bodyPr>
          <a:lstStyle/>
          <a:p>
            <a:pPr>
              <a:lnSpc>
                <a:spcPct val="100000"/>
              </a:lnSpc>
              <a:spcBef>
                <a:spcPts val="100"/>
              </a:spcBef>
            </a:pPr>
            <a:r>
              <a:rPr sz="1500" b="1" dirty="0">
                <a:latin typeface="微软雅黑" panose="020B0503020204020204" charset="-122"/>
                <a:ea typeface="微软雅黑" panose="020B0503020204020204" charset="-122"/>
                <a:cs typeface="微软雅黑" panose="020B0503020204020204" charset="-122"/>
              </a:rPr>
              <a:t>xxx</a:t>
            </a:r>
            <a:endParaRPr sz="1500" b="1" dirty="0">
              <a:latin typeface="微软雅黑" panose="020B0503020204020204" charset="-122"/>
              <a:ea typeface="微软雅黑" panose="020B0503020204020204" charset="-122"/>
              <a:cs typeface="微软雅黑" panose="020B0503020204020204" charset="-122"/>
            </a:endParaRPr>
          </a:p>
        </p:txBody>
      </p:sp>
      <p:sp>
        <p:nvSpPr>
          <p:cNvPr id="33" name="object 33"/>
          <p:cNvSpPr/>
          <p:nvPr/>
        </p:nvSpPr>
        <p:spPr>
          <a:xfrm>
            <a:off x="3795118" y="3205019"/>
            <a:ext cx="109777" cy="109777"/>
          </a:xfrm>
          <a:custGeom>
            <a:avLst/>
            <a:gdLst/>
            <a:ahLst/>
            <a:cxnLst/>
            <a:rect l="l" t="t" r="r" b="b"/>
            <a:pathLst>
              <a:path w="109854" h="109854">
                <a:moveTo>
                  <a:pt x="0" y="109727"/>
                </a:moveTo>
                <a:lnTo>
                  <a:pt x="109727" y="109727"/>
                </a:lnTo>
                <a:lnTo>
                  <a:pt x="109727" y="0"/>
                </a:lnTo>
                <a:lnTo>
                  <a:pt x="0" y="0"/>
                </a:lnTo>
                <a:lnTo>
                  <a:pt x="0" y="109727"/>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4" name="object 34"/>
          <p:cNvSpPr/>
          <p:nvPr/>
        </p:nvSpPr>
        <p:spPr>
          <a:xfrm>
            <a:off x="3795118" y="3205019"/>
            <a:ext cx="109777" cy="109777"/>
          </a:xfrm>
          <a:custGeom>
            <a:avLst/>
            <a:gdLst/>
            <a:ahLst/>
            <a:cxnLst/>
            <a:rect l="l" t="t" r="r" b="b"/>
            <a:pathLst>
              <a:path w="109854" h="109854">
                <a:moveTo>
                  <a:pt x="0" y="109727"/>
                </a:moveTo>
                <a:lnTo>
                  <a:pt x="109727" y="109727"/>
                </a:lnTo>
                <a:lnTo>
                  <a:pt x="109727" y="0"/>
                </a:lnTo>
                <a:lnTo>
                  <a:pt x="0" y="0"/>
                </a:lnTo>
                <a:lnTo>
                  <a:pt x="0" y="109727"/>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5" name="object 35"/>
          <p:cNvSpPr/>
          <p:nvPr/>
        </p:nvSpPr>
        <p:spPr>
          <a:xfrm>
            <a:off x="3795118" y="3416705"/>
            <a:ext cx="109777" cy="109777"/>
          </a:xfrm>
          <a:custGeom>
            <a:avLst/>
            <a:gdLst/>
            <a:ahLst/>
            <a:cxnLst/>
            <a:rect l="l" t="t" r="r" b="b"/>
            <a:pathLst>
              <a:path w="109854" h="109854">
                <a:moveTo>
                  <a:pt x="0" y="109728"/>
                </a:moveTo>
                <a:lnTo>
                  <a:pt x="109727" y="109728"/>
                </a:lnTo>
                <a:lnTo>
                  <a:pt x="109727" y="0"/>
                </a:lnTo>
                <a:lnTo>
                  <a:pt x="0" y="0"/>
                </a:lnTo>
                <a:lnTo>
                  <a:pt x="0" y="109728"/>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6" name="object 36"/>
          <p:cNvSpPr/>
          <p:nvPr/>
        </p:nvSpPr>
        <p:spPr>
          <a:xfrm>
            <a:off x="3795118" y="3416705"/>
            <a:ext cx="109777" cy="109777"/>
          </a:xfrm>
          <a:custGeom>
            <a:avLst/>
            <a:gdLst/>
            <a:ahLst/>
            <a:cxnLst/>
            <a:rect l="l" t="t" r="r" b="b"/>
            <a:pathLst>
              <a:path w="109854" h="109854">
                <a:moveTo>
                  <a:pt x="0" y="109728"/>
                </a:moveTo>
                <a:lnTo>
                  <a:pt x="109727" y="109728"/>
                </a:lnTo>
                <a:lnTo>
                  <a:pt x="109727" y="0"/>
                </a:lnTo>
                <a:lnTo>
                  <a:pt x="0" y="0"/>
                </a:lnTo>
                <a:lnTo>
                  <a:pt x="0" y="109728"/>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7" name="object 37"/>
          <p:cNvSpPr txBox="1"/>
          <p:nvPr/>
        </p:nvSpPr>
        <p:spPr>
          <a:xfrm>
            <a:off x="4006170" y="3334594"/>
            <a:ext cx="393421" cy="242570"/>
          </a:xfrm>
          <a:prstGeom prst="rect">
            <a:avLst/>
          </a:prstGeom>
        </p:spPr>
        <p:txBody>
          <a:bodyPr vert="horz" wrap="square" lIns="0" tIns="12691" rIns="0" bIns="0" rtlCol="0">
            <a:spAutoFit/>
          </a:bodyPr>
          <a:lstStyle/>
          <a:p>
            <a:pPr>
              <a:lnSpc>
                <a:spcPct val="100000"/>
              </a:lnSpc>
              <a:spcBef>
                <a:spcPts val="100"/>
              </a:spcBef>
            </a:pPr>
            <a:r>
              <a:rPr sz="1500" dirty="0">
                <a:latin typeface="微软雅黑" panose="020B0503020204020204" charset="-122"/>
                <a:ea typeface="微软雅黑" panose="020B0503020204020204" charset="-122"/>
                <a:cs typeface="微软雅黑" panose="020B0503020204020204" charset="-122"/>
              </a:rPr>
              <a:t>利润</a:t>
            </a:r>
            <a:endParaRPr sz="1500" dirty="0">
              <a:latin typeface="微软雅黑" panose="020B0503020204020204" charset="-122"/>
              <a:ea typeface="微软雅黑" panose="020B0503020204020204" charset="-122"/>
              <a:cs typeface="微软雅黑" panose="020B0503020204020204" charset="-122"/>
            </a:endParaRPr>
          </a:p>
        </p:txBody>
      </p:sp>
      <p:sp>
        <p:nvSpPr>
          <p:cNvPr id="38" name="object 38"/>
          <p:cNvSpPr txBox="1"/>
          <p:nvPr/>
        </p:nvSpPr>
        <p:spPr>
          <a:xfrm>
            <a:off x="782172" y="2949549"/>
            <a:ext cx="3807936" cy="418465"/>
          </a:xfrm>
          <a:prstGeom prst="rect">
            <a:avLst/>
          </a:prstGeom>
        </p:spPr>
        <p:txBody>
          <a:bodyPr vert="horz" wrap="square" lIns="0" tIns="13325" rIns="0" bIns="0" rtlCol="0">
            <a:spAutoFit/>
          </a:bodyPr>
          <a:lstStyle/>
          <a:p>
            <a:pPr>
              <a:lnSpc>
                <a:spcPct val="100000"/>
              </a:lnSpc>
              <a:spcBef>
                <a:spcPts val="105"/>
              </a:spcBef>
              <a:tabLst>
                <a:tab pos="3543300" algn="l"/>
              </a:tabLst>
            </a:pPr>
            <a:r>
              <a:rPr sz="1100" u="sng" spc="-5" dirty="0">
                <a:solidFill>
                  <a:srgbClr val="808080"/>
                </a:solidFill>
                <a:uFill>
                  <a:solidFill>
                    <a:srgbClr val="000000"/>
                  </a:solidFill>
                </a:uFill>
                <a:latin typeface="微软雅黑" panose="020B0503020204020204" charset="-122"/>
                <a:ea typeface="微软雅黑" panose="020B0503020204020204" charset="-122"/>
                <a:cs typeface="微软雅黑" panose="020B0503020204020204" charset="-122"/>
              </a:rPr>
              <a:t>xxx	</a:t>
            </a:r>
            <a:endParaRPr sz="1100">
              <a:latin typeface="微软雅黑" panose="020B0503020204020204" charset="-122"/>
              <a:ea typeface="微软雅黑" panose="020B0503020204020204" charset="-122"/>
              <a:cs typeface="微软雅黑" panose="020B0503020204020204" charset="-122"/>
            </a:endParaRPr>
          </a:p>
          <a:p>
            <a:pPr marR="5080" algn="r">
              <a:lnSpc>
                <a:spcPct val="100000"/>
              </a:lnSpc>
              <a:spcBef>
                <a:spcPts val="45"/>
              </a:spcBef>
            </a:pPr>
            <a:r>
              <a:rPr sz="1500" dirty="0">
                <a:latin typeface="微软雅黑" panose="020B0503020204020204" charset="-122"/>
                <a:ea typeface="微软雅黑" panose="020B0503020204020204" charset="-122"/>
                <a:cs typeface="微软雅黑" panose="020B0503020204020204" charset="-122"/>
              </a:rPr>
              <a:t>销售额</a:t>
            </a:r>
            <a:endParaRPr sz="1500">
              <a:latin typeface="微软雅黑" panose="020B0503020204020204" charset="-122"/>
              <a:ea typeface="微软雅黑" panose="020B0503020204020204" charset="-122"/>
              <a:cs typeface="微软雅黑" panose="020B0503020204020204" charset="-122"/>
            </a:endParaRPr>
          </a:p>
        </p:txBody>
      </p:sp>
      <p:sp>
        <p:nvSpPr>
          <p:cNvPr id="39" name="object 39"/>
          <p:cNvSpPr/>
          <p:nvPr/>
        </p:nvSpPr>
        <p:spPr>
          <a:xfrm>
            <a:off x="683791" y="946527"/>
            <a:ext cx="3738770" cy="1583838"/>
          </a:xfrm>
          <a:custGeom>
            <a:avLst/>
            <a:gdLst/>
            <a:ahLst/>
            <a:cxnLst/>
            <a:rect l="l" t="t" r="r" b="b"/>
            <a:pathLst>
              <a:path w="3741420" h="1584960">
                <a:moveTo>
                  <a:pt x="0" y="1584960"/>
                </a:moveTo>
                <a:lnTo>
                  <a:pt x="3741420" y="1584960"/>
                </a:lnTo>
                <a:lnTo>
                  <a:pt x="3741420" y="0"/>
                </a:lnTo>
                <a:lnTo>
                  <a:pt x="0" y="0"/>
                </a:lnTo>
                <a:lnTo>
                  <a:pt x="0" y="1584960"/>
                </a:lnTo>
                <a:close/>
              </a:path>
            </a:pathLst>
          </a:custGeom>
          <a:ln w="952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0" name="object 40"/>
          <p:cNvSpPr txBox="1"/>
          <p:nvPr/>
        </p:nvSpPr>
        <p:spPr>
          <a:xfrm>
            <a:off x="683791" y="946527"/>
            <a:ext cx="3738770" cy="191135"/>
          </a:xfrm>
          <a:prstGeom prst="rect">
            <a:avLst/>
          </a:prstGeom>
          <a:solidFill>
            <a:srgbClr val="00295F"/>
          </a:solidFill>
          <a:ln w="9525">
            <a:solidFill>
              <a:srgbClr val="000000"/>
            </a:solidFill>
          </a:ln>
        </p:spPr>
        <p:txBody>
          <a:bodyPr vert="horz" wrap="square" lIns="0" tIns="0" rIns="0" bIns="0" rtlCol="0">
            <a:spAutoFit/>
          </a:bodyPr>
          <a:lstStyle/>
          <a:p>
            <a:pPr marL="71755">
              <a:lnSpc>
                <a:spcPts val="1495"/>
              </a:lnSpc>
            </a:pPr>
            <a:r>
              <a:rPr sz="1500" b="1" spc="5" dirty="0">
                <a:solidFill>
                  <a:srgbClr val="FFFFFF"/>
                </a:solidFill>
                <a:latin typeface="微软雅黑" panose="020B0503020204020204" charset="-122"/>
                <a:ea typeface="微软雅黑" panose="020B0503020204020204" charset="-122"/>
                <a:cs typeface="微软雅黑" panose="020B0503020204020204" charset="-122"/>
              </a:rPr>
              <a:t>客户的</a:t>
            </a:r>
            <a:r>
              <a:rPr sz="1500" b="1" spc="-5" dirty="0">
                <a:solidFill>
                  <a:srgbClr val="FFFFFF"/>
                </a:solidFill>
                <a:latin typeface="微软雅黑" panose="020B0503020204020204" charset="-122"/>
                <a:ea typeface="微软雅黑" panose="020B0503020204020204" charset="-122"/>
                <a:cs typeface="微软雅黑" panose="020B0503020204020204" charset="-122"/>
              </a:rPr>
              <a:t>背景</a:t>
            </a:r>
            <a:endParaRPr sz="1500">
              <a:latin typeface="微软雅黑" panose="020B0503020204020204" charset="-122"/>
              <a:ea typeface="微软雅黑" panose="020B0503020204020204" charset="-122"/>
              <a:cs typeface="微软雅黑" panose="020B0503020204020204" charset="-122"/>
            </a:endParaRPr>
          </a:p>
        </p:txBody>
      </p:sp>
      <p:sp>
        <p:nvSpPr>
          <p:cNvPr id="41" name="object 41"/>
          <p:cNvSpPr txBox="1"/>
          <p:nvPr/>
        </p:nvSpPr>
        <p:spPr>
          <a:xfrm>
            <a:off x="851921" y="1190017"/>
            <a:ext cx="2198717" cy="181610"/>
          </a:xfrm>
          <a:prstGeom prst="rect">
            <a:avLst/>
          </a:prstGeom>
        </p:spPr>
        <p:txBody>
          <a:bodyPr vert="horz" wrap="square" lIns="0" tIns="13325" rIns="0" bIns="0" rtlCol="0">
            <a:spAutoFit/>
          </a:bodyPr>
          <a:lstStyle/>
          <a:p>
            <a:pPr marL="89535" indent="-90170">
              <a:lnSpc>
                <a:spcPct val="100000"/>
              </a:lnSpc>
              <a:spcBef>
                <a:spcPts val="105"/>
              </a:spcBef>
              <a:buClr>
                <a:srgbClr val="00295F"/>
              </a:buClr>
              <a:buSzPct val="123000"/>
              <a:buFont typeface="Arial" panose="020B0604020202020204"/>
              <a:buChar char="▪"/>
              <a:tabLst>
                <a:tab pos="90170" algn="l"/>
                <a:tab pos="982980" algn="l"/>
              </a:tabLst>
            </a:pPr>
            <a:r>
              <a:rPr sz="1100" dirty="0">
                <a:latin typeface="微软雅黑" panose="020B0503020204020204" charset="-122"/>
                <a:ea typeface="微软雅黑" panose="020B0503020204020204" charset="-122"/>
                <a:cs typeface="微软雅黑" panose="020B0503020204020204" charset="-122"/>
              </a:rPr>
              <a:t>客户</a:t>
            </a:r>
            <a:r>
              <a:rPr sz="1100" spc="5" dirty="0">
                <a:latin typeface="微软雅黑" panose="020B0503020204020204" charset="-122"/>
                <a:ea typeface="微软雅黑" panose="020B0503020204020204" charset="-122"/>
                <a:cs typeface="微软雅黑" panose="020B0503020204020204" charset="-122"/>
              </a:rPr>
              <a:t>名	</a:t>
            </a:r>
            <a:r>
              <a:rPr sz="1100" dirty="0">
                <a:latin typeface="微软雅黑" panose="020B0503020204020204" charset="-122"/>
                <a:ea typeface="微软雅黑" panose="020B0503020204020204" charset="-122"/>
                <a:cs typeface="微软雅黑" panose="020B0503020204020204" charset="-122"/>
              </a:rPr>
              <a:t>:</a:t>
            </a:r>
            <a:r>
              <a:rPr sz="1100" spc="155" dirty="0">
                <a:latin typeface="微软雅黑" panose="020B0503020204020204" charset="-122"/>
                <a:ea typeface="微软雅黑" panose="020B0503020204020204" charset="-122"/>
                <a:cs typeface="微软雅黑" panose="020B0503020204020204" charset="-122"/>
              </a:rPr>
              <a:t> </a:t>
            </a:r>
            <a:r>
              <a:rPr sz="1100" spc="-5" dirty="0">
                <a:latin typeface="微软雅黑" panose="020B0503020204020204" charset="-122"/>
                <a:ea typeface="微软雅黑" panose="020B0503020204020204" charset="-122"/>
                <a:cs typeface="微软雅黑" panose="020B0503020204020204" charset="-122"/>
              </a:rPr>
              <a:t>xx</a:t>
            </a:r>
            <a:r>
              <a:rPr sz="1100" dirty="0">
                <a:latin typeface="微软雅黑" panose="020B0503020204020204" charset="-122"/>
                <a:ea typeface="微软雅黑" panose="020B0503020204020204" charset="-122"/>
                <a:cs typeface="微软雅黑" panose="020B0503020204020204" charset="-122"/>
              </a:rPr>
              <a:t>市城市建设公司</a:t>
            </a:r>
            <a:endParaRPr sz="1100">
              <a:latin typeface="微软雅黑" panose="020B0503020204020204" charset="-122"/>
              <a:ea typeface="微软雅黑" panose="020B0503020204020204" charset="-122"/>
              <a:cs typeface="微软雅黑" panose="020B0503020204020204" charset="-122"/>
            </a:endParaRPr>
          </a:p>
        </p:txBody>
      </p:sp>
      <p:sp>
        <p:nvSpPr>
          <p:cNvPr id="42" name="object 42"/>
          <p:cNvSpPr txBox="1"/>
          <p:nvPr/>
        </p:nvSpPr>
        <p:spPr>
          <a:xfrm>
            <a:off x="851921" y="1341345"/>
            <a:ext cx="1650465" cy="181610"/>
          </a:xfrm>
          <a:prstGeom prst="rect">
            <a:avLst/>
          </a:prstGeom>
        </p:spPr>
        <p:txBody>
          <a:bodyPr vert="horz" wrap="square" lIns="0" tIns="13325" rIns="0" bIns="0" rtlCol="0">
            <a:spAutoFit/>
          </a:bodyPr>
          <a:lstStyle/>
          <a:p>
            <a:pPr marL="89535" indent="-90170">
              <a:lnSpc>
                <a:spcPct val="100000"/>
              </a:lnSpc>
              <a:spcBef>
                <a:spcPts val="105"/>
              </a:spcBef>
              <a:buClr>
                <a:srgbClr val="00295F"/>
              </a:buClr>
              <a:buSzPct val="123000"/>
              <a:buFont typeface="Arial" panose="020B0604020202020204"/>
              <a:buChar char="▪"/>
              <a:tabLst>
                <a:tab pos="90170" algn="l"/>
                <a:tab pos="982980" algn="l"/>
              </a:tabLst>
            </a:pPr>
            <a:r>
              <a:rPr sz="1100" dirty="0">
                <a:latin typeface="微软雅黑" panose="020B0503020204020204" charset="-122"/>
                <a:ea typeface="微软雅黑" panose="020B0503020204020204" charset="-122"/>
                <a:cs typeface="微软雅黑" panose="020B0503020204020204" charset="-122"/>
              </a:rPr>
              <a:t>行业	:</a:t>
            </a:r>
            <a:r>
              <a:rPr sz="1100" spc="155" dirty="0">
                <a:latin typeface="微软雅黑" panose="020B0503020204020204" charset="-122"/>
                <a:ea typeface="微软雅黑" panose="020B0503020204020204" charset="-122"/>
                <a:cs typeface="微软雅黑" panose="020B0503020204020204" charset="-122"/>
              </a:rPr>
              <a:t> </a:t>
            </a:r>
            <a:r>
              <a:rPr sz="1100" dirty="0">
                <a:latin typeface="微软雅黑" panose="020B0503020204020204" charset="-122"/>
                <a:ea typeface="微软雅黑" panose="020B0503020204020204" charset="-122"/>
                <a:cs typeface="微软雅黑" panose="020B0503020204020204" charset="-122"/>
              </a:rPr>
              <a:t>城市建设</a:t>
            </a:r>
            <a:endParaRPr sz="1100">
              <a:latin typeface="微软雅黑" panose="020B0503020204020204" charset="-122"/>
              <a:ea typeface="微软雅黑" panose="020B0503020204020204" charset="-122"/>
              <a:cs typeface="微软雅黑" panose="020B0503020204020204" charset="-122"/>
            </a:endParaRPr>
          </a:p>
        </p:txBody>
      </p:sp>
      <p:sp>
        <p:nvSpPr>
          <p:cNvPr id="43" name="object 43"/>
          <p:cNvSpPr txBox="1"/>
          <p:nvPr/>
        </p:nvSpPr>
        <p:spPr>
          <a:xfrm>
            <a:off x="851921" y="1492114"/>
            <a:ext cx="1329383" cy="351155"/>
          </a:xfrm>
          <a:prstGeom prst="rect">
            <a:avLst/>
          </a:prstGeom>
        </p:spPr>
        <p:txBody>
          <a:bodyPr vert="horz" wrap="square" lIns="0" tIns="13325" rIns="0" bIns="0" rtlCol="0">
            <a:spAutoFit/>
          </a:bodyPr>
          <a:lstStyle/>
          <a:p>
            <a:pPr marL="89535" indent="-90170">
              <a:lnSpc>
                <a:spcPct val="100000"/>
              </a:lnSpc>
              <a:spcBef>
                <a:spcPts val="105"/>
              </a:spcBef>
              <a:buClr>
                <a:srgbClr val="00295F"/>
              </a:buClr>
              <a:buSzPct val="123000"/>
              <a:buFont typeface="Arial" panose="020B0604020202020204"/>
              <a:buChar char="▪"/>
              <a:tabLst>
                <a:tab pos="90170" algn="l"/>
              </a:tabLst>
            </a:pPr>
            <a:r>
              <a:rPr sz="1100" dirty="0">
                <a:latin typeface="微软雅黑" panose="020B0503020204020204" charset="-122"/>
                <a:ea typeface="微软雅黑" panose="020B0503020204020204" charset="-122"/>
                <a:cs typeface="微软雅黑" panose="020B0503020204020204" charset="-122"/>
              </a:rPr>
              <a:t>日立负责人员</a:t>
            </a:r>
            <a:r>
              <a:rPr sz="1100" spc="100" dirty="0">
                <a:latin typeface="微软雅黑" panose="020B0503020204020204" charset="-122"/>
                <a:ea typeface="微软雅黑" panose="020B0503020204020204" charset="-122"/>
                <a:cs typeface="微软雅黑" panose="020B0503020204020204" charset="-122"/>
              </a:rPr>
              <a:t> </a:t>
            </a:r>
            <a:r>
              <a:rPr sz="1100" dirty="0">
                <a:latin typeface="微软雅黑" panose="020B0503020204020204" charset="-122"/>
                <a:ea typeface="微软雅黑" panose="020B0503020204020204" charset="-122"/>
                <a:cs typeface="微软雅黑" panose="020B0503020204020204" charset="-122"/>
              </a:rPr>
              <a:t>:</a:t>
            </a:r>
            <a:r>
              <a:rPr sz="1100" spc="-30" dirty="0">
                <a:latin typeface="微软雅黑" panose="020B0503020204020204" charset="-122"/>
                <a:ea typeface="微软雅黑" panose="020B0503020204020204" charset="-122"/>
                <a:cs typeface="微软雅黑" panose="020B0503020204020204" charset="-122"/>
              </a:rPr>
              <a:t> </a:t>
            </a:r>
            <a:r>
              <a:rPr sz="1100" dirty="0">
                <a:latin typeface="微软雅黑" panose="020B0503020204020204" charset="-122"/>
                <a:ea typeface="微软雅黑" panose="020B0503020204020204" charset="-122"/>
                <a:cs typeface="微软雅黑" panose="020B0503020204020204" charset="-122"/>
              </a:rPr>
              <a:t>李</a:t>
            </a:r>
            <a:r>
              <a:rPr sz="1100" spc="-5" dirty="0">
                <a:latin typeface="微软雅黑" panose="020B0503020204020204" charset="-122"/>
                <a:ea typeface="微软雅黑" panose="020B0503020204020204" charset="-122"/>
                <a:cs typeface="微软雅黑" panose="020B0503020204020204" charset="-122"/>
              </a:rPr>
              <a:t>xx</a:t>
            </a:r>
            <a:endParaRPr sz="1100">
              <a:latin typeface="微软雅黑" panose="020B0503020204020204" charset="-122"/>
              <a:ea typeface="微软雅黑" panose="020B0503020204020204" charset="-122"/>
              <a:cs typeface="微软雅黑" panose="020B0503020204020204" charset="-122"/>
            </a:endParaRPr>
          </a:p>
        </p:txBody>
      </p:sp>
      <p:sp>
        <p:nvSpPr>
          <p:cNvPr id="44" name="object 44"/>
          <p:cNvSpPr txBox="1"/>
          <p:nvPr/>
        </p:nvSpPr>
        <p:spPr>
          <a:xfrm>
            <a:off x="851921" y="1642883"/>
            <a:ext cx="2491244" cy="181610"/>
          </a:xfrm>
          <a:prstGeom prst="rect">
            <a:avLst/>
          </a:prstGeom>
        </p:spPr>
        <p:txBody>
          <a:bodyPr vert="horz" wrap="square" lIns="0" tIns="13325" rIns="0" bIns="0" rtlCol="0">
            <a:spAutoFit/>
          </a:bodyPr>
          <a:lstStyle/>
          <a:p>
            <a:pPr marL="89535" indent="-90170">
              <a:lnSpc>
                <a:spcPct val="100000"/>
              </a:lnSpc>
              <a:spcBef>
                <a:spcPts val="105"/>
              </a:spcBef>
              <a:buClr>
                <a:srgbClr val="00295F"/>
              </a:buClr>
              <a:buSzPct val="123000"/>
              <a:buFont typeface="Arial" panose="020B0604020202020204"/>
              <a:buChar char="▪"/>
              <a:tabLst>
                <a:tab pos="90170" algn="l"/>
              </a:tabLst>
            </a:pPr>
            <a:r>
              <a:rPr sz="1100" dirty="0">
                <a:latin typeface="微软雅黑" panose="020B0503020204020204" charset="-122"/>
                <a:ea typeface="微软雅黑" panose="020B0503020204020204" charset="-122"/>
                <a:cs typeface="微软雅黑" panose="020B0503020204020204" charset="-122"/>
              </a:rPr>
              <a:t>主营业务内容</a:t>
            </a:r>
            <a:r>
              <a:rPr sz="1100" spc="120" dirty="0">
                <a:latin typeface="微软雅黑" panose="020B0503020204020204" charset="-122"/>
                <a:ea typeface="微软雅黑" panose="020B0503020204020204" charset="-122"/>
                <a:cs typeface="微软雅黑" panose="020B0503020204020204" charset="-122"/>
              </a:rPr>
              <a:t> </a:t>
            </a:r>
            <a:r>
              <a:rPr sz="1100" dirty="0">
                <a:latin typeface="微软雅黑" panose="020B0503020204020204" charset="-122"/>
                <a:ea typeface="微软雅黑" panose="020B0503020204020204" charset="-122"/>
                <a:cs typeface="微软雅黑" panose="020B0503020204020204" charset="-122"/>
              </a:rPr>
              <a:t>:</a:t>
            </a:r>
            <a:r>
              <a:rPr sz="1100" spc="204" dirty="0">
                <a:latin typeface="微软雅黑" panose="020B0503020204020204" charset="-122"/>
                <a:ea typeface="微软雅黑" panose="020B0503020204020204" charset="-122"/>
                <a:cs typeface="微软雅黑" panose="020B0503020204020204" charset="-122"/>
              </a:rPr>
              <a:t> </a:t>
            </a:r>
            <a:r>
              <a:rPr sz="1100" dirty="0">
                <a:latin typeface="微软雅黑" panose="020B0503020204020204" charset="-122"/>
                <a:ea typeface="微软雅黑" panose="020B0503020204020204" charset="-122"/>
                <a:cs typeface="微软雅黑" panose="020B0503020204020204" charset="-122"/>
              </a:rPr>
              <a:t>低收入人群的住房建设</a:t>
            </a:r>
            <a:endParaRPr sz="1100">
              <a:latin typeface="微软雅黑" panose="020B0503020204020204" charset="-122"/>
              <a:ea typeface="微软雅黑" panose="020B0503020204020204" charset="-122"/>
              <a:cs typeface="微软雅黑" panose="020B0503020204020204" charset="-122"/>
            </a:endParaRPr>
          </a:p>
        </p:txBody>
      </p:sp>
      <p:sp>
        <p:nvSpPr>
          <p:cNvPr id="45" name="object 45"/>
          <p:cNvSpPr txBox="1"/>
          <p:nvPr/>
        </p:nvSpPr>
        <p:spPr>
          <a:xfrm>
            <a:off x="851921" y="1793652"/>
            <a:ext cx="663105" cy="487045"/>
          </a:xfrm>
          <a:prstGeom prst="rect">
            <a:avLst/>
          </a:prstGeom>
        </p:spPr>
        <p:txBody>
          <a:bodyPr vert="horz" wrap="square" lIns="0" tIns="13325" rIns="0" bIns="0" rtlCol="0">
            <a:spAutoFit/>
          </a:bodyPr>
          <a:lstStyle/>
          <a:p>
            <a:pPr marL="89535" indent="-90170">
              <a:lnSpc>
                <a:spcPts val="1255"/>
              </a:lnSpc>
              <a:spcBef>
                <a:spcPts val="105"/>
              </a:spcBef>
              <a:buClr>
                <a:srgbClr val="00295F"/>
              </a:buClr>
              <a:buSzPct val="123000"/>
              <a:buFont typeface="Arial" panose="020B0604020202020204"/>
              <a:buChar char="▪"/>
              <a:tabLst>
                <a:tab pos="90170" algn="l"/>
              </a:tabLst>
            </a:pPr>
            <a:r>
              <a:rPr sz="1100" dirty="0">
                <a:latin typeface="微软雅黑" panose="020B0503020204020204" charset="-122"/>
                <a:ea typeface="微软雅黑" panose="020B0503020204020204" charset="-122"/>
                <a:cs typeface="微软雅黑" panose="020B0503020204020204" charset="-122"/>
              </a:rPr>
              <a:t>主要顾客</a:t>
            </a:r>
            <a:endParaRPr sz="1100">
              <a:latin typeface="微软雅黑" panose="020B0503020204020204" charset="-122"/>
              <a:ea typeface="微软雅黑" panose="020B0503020204020204" charset="-122"/>
              <a:cs typeface="微软雅黑" panose="020B0503020204020204" charset="-122"/>
            </a:endParaRPr>
          </a:p>
          <a:p>
            <a:pPr marL="89535" indent="-90170">
              <a:lnSpc>
                <a:spcPts val="1190"/>
              </a:lnSpc>
              <a:buClr>
                <a:srgbClr val="00295F"/>
              </a:buClr>
              <a:buSzPct val="123000"/>
              <a:buFont typeface="Arial" panose="020B0604020202020204"/>
              <a:buChar char="▪"/>
              <a:tabLst>
                <a:tab pos="90170" algn="l"/>
              </a:tabLst>
            </a:pPr>
            <a:r>
              <a:rPr sz="1100" dirty="0">
                <a:latin typeface="微软雅黑" panose="020B0503020204020204" charset="-122"/>
                <a:ea typeface="微软雅黑" panose="020B0503020204020204" charset="-122"/>
                <a:cs typeface="微软雅黑" panose="020B0503020204020204" charset="-122"/>
              </a:rPr>
              <a:t>地区</a:t>
            </a:r>
            <a:endParaRPr sz="1100">
              <a:latin typeface="微软雅黑" panose="020B0503020204020204" charset="-122"/>
              <a:ea typeface="微软雅黑" panose="020B0503020204020204" charset="-122"/>
              <a:cs typeface="微软雅黑" panose="020B0503020204020204" charset="-122"/>
            </a:endParaRPr>
          </a:p>
          <a:p>
            <a:pPr marL="89535" indent="-90170">
              <a:lnSpc>
                <a:spcPts val="1255"/>
              </a:lnSpc>
              <a:buClr>
                <a:srgbClr val="00295F"/>
              </a:buClr>
              <a:buSzPct val="123000"/>
              <a:buFont typeface="Arial" panose="020B0604020202020204"/>
              <a:buChar char="▪"/>
              <a:tabLst>
                <a:tab pos="90170" algn="l"/>
              </a:tabLst>
            </a:pPr>
            <a:r>
              <a:rPr sz="1100" dirty="0">
                <a:latin typeface="微软雅黑" panose="020B0503020204020204" charset="-122"/>
                <a:ea typeface="微软雅黑" panose="020B0503020204020204" charset="-122"/>
                <a:cs typeface="微软雅黑" panose="020B0503020204020204" charset="-122"/>
              </a:rPr>
              <a:t>行业环境</a:t>
            </a:r>
            <a:endParaRPr sz="1100">
              <a:latin typeface="微软雅黑" panose="020B0503020204020204" charset="-122"/>
              <a:ea typeface="微软雅黑" panose="020B0503020204020204" charset="-122"/>
              <a:cs typeface="微软雅黑" panose="020B0503020204020204" charset="-122"/>
            </a:endParaRPr>
          </a:p>
        </p:txBody>
      </p:sp>
      <p:sp>
        <p:nvSpPr>
          <p:cNvPr id="46" name="object 46"/>
          <p:cNvSpPr txBox="1"/>
          <p:nvPr/>
        </p:nvSpPr>
        <p:spPr>
          <a:xfrm>
            <a:off x="1834485" y="1793652"/>
            <a:ext cx="1088254" cy="487045"/>
          </a:xfrm>
          <a:prstGeom prst="rect">
            <a:avLst/>
          </a:prstGeom>
        </p:spPr>
        <p:txBody>
          <a:bodyPr vert="horz" wrap="square" lIns="0" tIns="13325" rIns="0" bIns="0" rtlCol="0">
            <a:spAutoFit/>
          </a:bodyPr>
          <a:lstStyle/>
          <a:p>
            <a:pPr>
              <a:lnSpc>
                <a:spcPts val="1255"/>
              </a:lnSpc>
              <a:spcBef>
                <a:spcPts val="105"/>
              </a:spcBef>
            </a:pPr>
            <a:r>
              <a:rPr sz="1100" dirty="0">
                <a:latin typeface="微软雅黑" panose="020B0503020204020204" charset="-122"/>
                <a:ea typeface="微软雅黑" panose="020B0503020204020204" charset="-122"/>
                <a:cs typeface="微软雅黑" panose="020B0503020204020204" charset="-122"/>
              </a:rPr>
              <a:t>:</a:t>
            </a:r>
            <a:r>
              <a:rPr sz="1100" spc="210" dirty="0">
                <a:latin typeface="微软雅黑" panose="020B0503020204020204" charset="-122"/>
                <a:ea typeface="微软雅黑" panose="020B0503020204020204" charset="-122"/>
                <a:cs typeface="微软雅黑" panose="020B0503020204020204" charset="-122"/>
              </a:rPr>
              <a:t> </a:t>
            </a:r>
            <a:r>
              <a:rPr sz="1100" spc="-5" dirty="0">
                <a:latin typeface="微软雅黑" panose="020B0503020204020204" charset="-122"/>
                <a:ea typeface="微软雅黑" panose="020B0503020204020204" charset="-122"/>
                <a:cs typeface="微软雅黑" panose="020B0503020204020204" charset="-122"/>
              </a:rPr>
              <a:t>xx</a:t>
            </a:r>
            <a:r>
              <a:rPr sz="1100" dirty="0">
                <a:latin typeface="微软雅黑" panose="020B0503020204020204" charset="-122"/>
                <a:ea typeface="微软雅黑" panose="020B0503020204020204" charset="-122"/>
                <a:cs typeface="微软雅黑" panose="020B0503020204020204" charset="-122"/>
              </a:rPr>
              <a:t>市、政府</a:t>
            </a:r>
            <a:endParaRPr sz="1100">
              <a:latin typeface="微软雅黑" panose="020B0503020204020204" charset="-122"/>
              <a:ea typeface="微软雅黑" panose="020B0503020204020204" charset="-122"/>
              <a:cs typeface="微软雅黑" panose="020B0503020204020204" charset="-122"/>
            </a:endParaRPr>
          </a:p>
          <a:p>
            <a:pPr>
              <a:lnSpc>
                <a:spcPts val="1190"/>
              </a:lnSpc>
            </a:pPr>
            <a:r>
              <a:rPr sz="1100" dirty="0">
                <a:latin typeface="微软雅黑" panose="020B0503020204020204" charset="-122"/>
                <a:ea typeface="微软雅黑" panose="020B0503020204020204" charset="-122"/>
                <a:cs typeface="微软雅黑" panose="020B0503020204020204" charset="-122"/>
              </a:rPr>
              <a:t>:</a:t>
            </a:r>
            <a:r>
              <a:rPr sz="1100" spc="185" dirty="0">
                <a:latin typeface="微软雅黑" panose="020B0503020204020204" charset="-122"/>
                <a:ea typeface="微软雅黑" panose="020B0503020204020204" charset="-122"/>
                <a:cs typeface="微软雅黑" panose="020B0503020204020204" charset="-122"/>
              </a:rPr>
              <a:t> </a:t>
            </a:r>
            <a:r>
              <a:rPr sz="1100" spc="-5" dirty="0">
                <a:latin typeface="微软雅黑" panose="020B0503020204020204" charset="-122"/>
                <a:ea typeface="微软雅黑" panose="020B0503020204020204" charset="-122"/>
                <a:cs typeface="微软雅黑" panose="020B0503020204020204" charset="-122"/>
              </a:rPr>
              <a:t>xx</a:t>
            </a:r>
            <a:r>
              <a:rPr sz="1100" dirty="0">
                <a:latin typeface="微软雅黑" panose="020B0503020204020204" charset="-122"/>
                <a:ea typeface="微软雅黑" panose="020B0503020204020204" charset="-122"/>
                <a:cs typeface="微软雅黑" panose="020B0503020204020204" charset="-122"/>
              </a:rPr>
              <a:t>省</a:t>
            </a:r>
            <a:r>
              <a:rPr sz="1100" spc="-5" dirty="0">
                <a:latin typeface="微软雅黑" panose="020B0503020204020204" charset="-122"/>
                <a:ea typeface="微软雅黑" panose="020B0503020204020204" charset="-122"/>
                <a:cs typeface="微软雅黑" panose="020B0503020204020204" charset="-122"/>
              </a:rPr>
              <a:t>xx</a:t>
            </a:r>
            <a:r>
              <a:rPr sz="1100" dirty="0">
                <a:latin typeface="微软雅黑" panose="020B0503020204020204" charset="-122"/>
                <a:ea typeface="微软雅黑" panose="020B0503020204020204" charset="-122"/>
                <a:cs typeface="微软雅黑" panose="020B0503020204020204" charset="-122"/>
              </a:rPr>
              <a:t>市、</a:t>
            </a:r>
            <a:r>
              <a:rPr sz="1100" spc="-5" dirty="0">
                <a:latin typeface="微软雅黑" panose="020B0503020204020204" charset="-122"/>
                <a:ea typeface="微软雅黑" panose="020B0503020204020204" charset="-122"/>
                <a:cs typeface="微软雅黑" panose="020B0503020204020204" charset="-122"/>
              </a:rPr>
              <a:t>xx</a:t>
            </a:r>
            <a:r>
              <a:rPr sz="1100" dirty="0">
                <a:latin typeface="微软雅黑" panose="020B0503020204020204" charset="-122"/>
                <a:ea typeface="微软雅黑" panose="020B0503020204020204" charset="-122"/>
                <a:cs typeface="微软雅黑" panose="020B0503020204020204" charset="-122"/>
              </a:rPr>
              <a:t>市</a:t>
            </a:r>
            <a:endParaRPr sz="1100">
              <a:latin typeface="微软雅黑" panose="020B0503020204020204" charset="-122"/>
              <a:ea typeface="微软雅黑" panose="020B0503020204020204" charset="-122"/>
              <a:cs typeface="微软雅黑" panose="020B0503020204020204" charset="-122"/>
            </a:endParaRPr>
          </a:p>
          <a:p>
            <a:pPr>
              <a:lnSpc>
                <a:spcPts val="1255"/>
              </a:lnSpc>
            </a:pPr>
            <a:r>
              <a:rPr sz="1100" dirty="0">
                <a:latin typeface="微软雅黑" panose="020B0503020204020204" charset="-122"/>
                <a:ea typeface="微软雅黑" panose="020B0503020204020204" charset="-122"/>
                <a:cs typeface="微软雅黑" panose="020B0503020204020204" charset="-122"/>
              </a:rPr>
              <a:t>:</a:t>
            </a:r>
            <a:r>
              <a:rPr sz="1100" spc="165" dirty="0">
                <a:latin typeface="微软雅黑" panose="020B0503020204020204" charset="-122"/>
                <a:ea typeface="微软雅黑" panose="020B0503020204020204" charset="-122"/>
                <a:cs typeface="微软雅黑" panose="020B0503020204020204" charset="-122"/>
              </a:rPr>
              <a:t> </a:t>
            </a:r>
            <a:r>
              <a:rPr sz="1100" dirty="0">
                <a:latin typeface="微软雅黑" panose="020B0503020204020204" charset="-122"/>
                <a:ea typeface="微软雅黑" panose="020B0503020204020204" charset="-122"/>
                <a:cs typeface="微软雅黑" panose="020B0503020204020204" charset="-122"/>
              </a:rPr>
              <a:t>近年来十分火爆</a:t>
            </a:r>
            <a:endParaRPr sz="1100">
              <a:latin typeface="微软雅黑" panose="020B0503020204020204" charset="-122"/>
              <a:ea typeface="微软雅黑" panose="020B0503020204020204" charset="-122"/>
              <a:cs typeface="微软雅黑" panose="020B0503020204020204" charset="-122"/>
            </a:endParaRPr>
          </a:p>
        </p:txBody>
      </p:sp>
      <p:sp>
        <p:nvSpPr>
          <p:cNvPr id="47" name="object 47"/>
          <p:cNvSpPr txBox="1"/>
          <p:nvPr/>
        </p:nvSpPr>
        <p:spPr>
          <a:xfrm>
            <a:off x="727327" y="2252432"/>
            <a:ext cx="639445" cy="215747"/>
          </a:xfrm>
          <a:prstGeom prst="rect">
            <a:avLst/>
          </a:prstGeom>
        </p:spPr>
        <p:txBody>
          <a:bodyPr vert="vert" wrap="square" lIns="0" tIns="23478" rIns="0" bIns="0" rtlCol="0">
            <a:spAutoFit/>
          </a:bodyPr>
          <a:lstStyle/>
          <a:p>
            <a:pPr marL="12700">
              <a:lnSpc>
                <a:spcPts val="1710"/>
              </a:lnSpc>
              <a:spcBef>
                <a:spcPts val="185"/>
              </a:spcBef>
            </a:pPr>
            <a:r>
              <a:rPr sz="1500" dirty="0">
                <a:latin typeface="微软雅黑" panose="020B0503020204020204" charset="-122"/>
                <a:ea typeface="微软雅黑" panose="020B0503020204020204" charset="-122"/>
                <a:cs typeface="微软雅黑" panose="020B0503020204020204" charset="-122"/>
              </a:rPr>
              <a:t>・</a:t>
            </a:r>
            <a:endParaRPr sz="1500">
              <a:latin typeface="微软雅黑" panose="020B0503020204020204" charset="-122"/>
              <a:ea typeface="微软雅黑" panose="020B0503020204020204" charset="-122"/>
              <a:cs typeface="微软雅黑" panose="020B0503020204020204" charset="-122"/>
            </a:endParaRPr>
          </a:p>
          <a:p>
            <a:pPr marL="12700">
              <a:lnSpc>
                <a:spcPts val="1595"/>
              </a:lnSpc>
            </a:pPr>
            <a:r>
              <a:rPr sz="1500" dirty="0">
                <a:latin typeface="微软雅黑" panose="020B0503020204020204" charset="-122"/>
                <a:ea typeface="微软雅黑" panose="020B0503020204020204" charset="-122"/>
                <a:cs typeface="微软雅黑" panose="020B0503020204020204" charset="-122"/>
              </a:rPr>
              <a:t>・</a:t>
            </a:r>
            <a:endParaRPr sz="1500">
              <a:latin typeface="微软雅黑" panose="020B0503020204020204" charset="-122"/>
              <a:ea typeface="微软雅黑" panose="020B0503020204020204" charset="-122"/>
              <a:cs typeface="微软雅黑" panose="020B0503020204020204" charset="-122"/>
            </a:endParaRPr>
          </a:p>
          <a:p>
            <a:pPr marL="12700">
              <a:lnSpc>
                <a:spcPts val="1685"/>
              </a:lnSpc>
            </a:pPr>
            <a:r>
              <a:rPr sz="1500" dirty="0">
                <a:latin typeface="微软雅黑" panose="020B0503020204020204" charset="-122"/>
                <a:ea typeface="微软雅黑" panose="020B0503020204020204" charset="-122"/>
                <a:cs typeface="微软雅黑" panose="020B0503020204020204" charset="-122"/>
              </a:rPr>
              <a:t>・</a:t>
            </a:r>
            <a:endParaRPr sz="1500">
              <a:latin typeface="微软雅黑" panose="020B0503020204020204" charset="-122"/>
              <a:ea typeface="微软雅黑" panose="020B0503020204020204" charset="-122"/>
              <a:cs typeface="微软雅黑" panose="020B0503020204020204" charset="-122"/>
            </a:endParaRPr>
          </a:p>
        </p:txBody>
      </p:sp>
      <p:sp>
        <p:nvSpPr>
          <p:cNvPr id="48" name="object 48"/>
          <p:cNvSpPr/>
          <p:nvPr/>
        </p:nvSpPr>
        <p:spPr>
          <a:xfrm>
            <a:off x="683791" y="4243651"/>
            <a:ext cx="3723540" cy="0"/>
          </a:xfrm>
          <a:custGeom>
            <a:avLst/>
            <a:gdLst/>
            <a:ahLst/>
            <a:cxnLst/>
            <a:rect l="l" t="t" r="r" b="b"/>
            <a:pathLst>
              <a:path w="3726179">
                <a:moveTo>
                  <a:pt x="0" y="0"/>
                </a:moveTo>
                <a:lnTo>
                  <a:pt x="3726179" y="0"/>
                </a:lnTo>
              </a:path>
            </a:pathLst>
          </a:custGeom>
          <a:ln w="952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49" name="object 49"/>
          <p:cNvSpPr txBox="1"/>
          <p:nvPr/>
        </p:nvSpPr>
        <p:spPr>
          <a:xfrm>
            <a:off x="1299051" y="4647352"/>
            <a:ext cx="2585792" cy="180975"/>
          </a:xfrm>
          <a:prstGeom prst="rect">
            <a:avLst/>
          </a:prstGeom>
        </p:spPr>
        <p:txBody>
          <a:bodyPr vert="horz" wrap="square" lIns="0" tIns="12691" rIns="0" bIns="0" rtlCol="0">
            <a:spAutoFit/>
          </a:bodyPr>
          <a:lstStyle/>
          <a:p>
            <a:pPr>
              <a:lnSpc>
                <a:spcPct val="100000"/>
              </a:lnSpc>
              <a:spcBef>
                <a:spcPts val="100"/>
              </a:spcBef>
              <a:tabLst>
                <a:tab pos="795655" algn="l"/>
                <a:tab pos="1684020" algn="l"/>
                <a:tab pos="2574290" algn="l"/>
              </a:tabLst>
            </a:pPr>
            <a:r>
              <a:rPr sz="1100" b="1" u="sng" spc="-275" dirty="0">
                <a:uFill>
                  <a:solidFill>
                    <a:srgbClr val="000000"/>
                  </a:solidFill>
                </a:uFill>
                <a:latin typeface="微软雅黑" panose="020B0503020204020204" charset="-122"/>
                <a:ea typeface="微软雅黑" panose="020B0503020204020204" charset="-122"/>
                <a:cs typeface="微软雅黑" panose="020B0503020204020204" charset="-122"/>
              </a:rPr>
              <a:t> </a:t>
            </a:r>
            <a:r>
              <a:rPr sz="1100" b="1" u="sng" spc="10" dirty="0">
                <a:uFill>
                  <a:solidFill>
                    <a:srgbClr val="000000"/>
                  </a:solidFill>
                </a:uFill>
                <a:latin typeface="微软雅黑" panose="020B0503020204020204" charset="-122"/>
                <a:ea typeface="微软雅黑" panose="020B0503020204020204" charset="-122"/>
                <a:cs typeface="微软雅黑" panose="020B0503020204020204" charset="-122"/>
              </a:rPr>
              <a:t>销售</a:t>
            </a:r>
            <a:r>
              <a:rPr sz="1100" b="1" u="sng" dirty="0">
                <a:uFill>
                  <a:solidFill>
                    <a:srgbClr val="000000"/>
                  </a:solidFill>
                </a:uFill>
                <a:latin typeface="微软雅黑" panose="020B0503020204020204" charset="-122"/>
                <a:ea typeface="微软雅黑" panose="020B0503020204020204" charset="-122"/>
                <a:cs typeface="微软雅黑" panose="020B0503020204020204" charset="-122"/>
              </a:rPr>
              <a:t>额	 利 </a:t>
            </a:r>
            <a:r>
              <a:rPr sz="1100" b="1" u="sng" spc="10" dirty="0">
                <a:uFill>
                  <a:solidFill>
                    <a:srgbClr val="000000"/>
                  </a:solidFill>
                </a:uFill>
                <a:latin typeface="微软雅黑" panose="020B0503020204020204" charset="-122"/>
                <a:ea typeface="微软雅黑" panose="020B0503020204020204" charset="-122"/>
                <a:cs typeface="微软雅黑" panose="020B0503020204020204" charset="-122"/>
              </a:rPr>
              <a:t> </a:t>
            </a:r>
            <a:r>
              <a:rPr sz="1100" b="1" u="sng" dirty="0">
                <a:uFill>
                  <a:solidFill>
                    <a:srgbClr val="000000"/>
                  </a:solidFill>
                </a:uFill>
                <a:latin typeface="微软雅黑" panose="020B0503020204020204" charset="-122"/>
                <a:ea typeface="微软雅黑" panose="020B0503020204020204" charset="-122"/>
                <a:cs typeface="微软雅黑" panose="020B0503020204020204" charset="-122"/>
              </a:rPr>
              <a:t>润	 人</a:t>
            </a:r>
            <a:r>
              <a:rPr sz="1100" b="1" u="sng" spc="190" dirty="0">
                <a:uFill>
                  <a:solidFill>
                    <a:srgbClr val="000000"/>
                  </a:solidFill>
                </a:uFill>
                <a:latin typeface="微软雅黑" panose="020B0503020204020204" charset="-122"/>
                <a:ea typeface="微软雅黑" panose="020B0503020204020204" charset="-122"/>
                <a:cs typeface="微软雅黑" panose="020B0503020204020204" charset="-122"/>
              </a:rPr>
              <a:t> </a:t>
            </a:r>
            <a:r>
              <a:rPr sz="1100" b="1" u="sng" dirty="0">
                <a:uFill>
                  <a:solidFill>
                    <a:srgbClr val="000000"/>
                  </a:solidFill>
                </a:uFill>
                <a:latin typeface="微软雅黑" panose="020B0503020204020204" charset="-122"/>
                <a:ea typeface="微软雅黑" panose="020B0503020204020204" charset="-122"/>
                <a:cs typeface="微软雅黑" panose="020B0503020204020204" charset="-122"/>
              </a:rPr>
              <a:t>员	</a:t>
            </a:r>
            <a:endParaRPr sz="1100">
              <a:latin typeface="微软雅黑" panose="020B0503020204020204" charset="-122"/>
              <a:ea typeface="微软雅黑" panose="020B0503020204020204" charset="-122"/>
              <a:cs typeface="微软雅黑" panose="020B0503020204020204" charset="-122"/>
            </a:endParaRPr>
          </a:p>
        </p:txBody>
      </p:sp>
      <p:sp>
        <p:nvSpPr>
          <p:cNvPr id="50" name="object 50"/>
          <p:cNvSpPr/>
          <p:nvPr/>
        </p:nvSpPr>
        <p:spPr>
          <a:xfrm>
            <a:off x="1323489" y="5005021"/>
            <a:ext cx="285548" cy="276029"/>
          </a:xfrm>
          <a:custGeom>
            <a:avLst/>
            <a:gdLst/>
            <a:ahLst/>
            <a:cxnLst/>
            <a:rect l="l" t="t" r="r" b="b"/>
            <a:pathLst>
              <a:path w="285750" h="276225">
                <a:moveTo>
                  <a:pt x="0" y="276038"/>
                </a:moveTo>
                <a:lnTo>
                  <a:pt x="285621" y="276038"/>
                </a:lnTo>
                <a:lnTo>
                  <a:pt x="285621" y="0"/>
                </a:lnTo>
                <a:lnTo>
                  <a:pt x="0" y="0"/>
                </a:lnTo>
                <a:lnTo>
                  <a:pt x="0" y="276038"/>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1" name="object 51"/>
          <p:cNvSpPr/>
          <p:nvPr/>
        </p:nvSpPr>
        <p:spPr>
          <a:xfrm>
            <a:off x="1323489" y="5005021"/>
            <a:ext cx="285548" cy="276029"/>
          </a:xfrm>
          <a:custGeom>
            <a:avLst/>
            <a:gdLst/>
            <a:ahLst/>
            <a:cxnLst/>
            <a:rect l="l" t="t" r="r" b="b"/>
            <a:pathLst>
              <a:path w="285750" h="276225">
                <a:moveTo>
                  <a:pt x="0" y="276038"/>
                </a:moveTo>
                <a:lnTo>
                  <a:pt x="285621" y="276038"/>
                </a:lnTo>
                <a:lnTo>
                  <a:pt x="285621" y="0"/>
                </a:lnTo>
                <a:lnTo>
                  <a:pt x="0" y="0"/>
                </a:lnTo>
                <a:lnTo>
                  <a:pt x="0" y="276038"/>
                </a:lnTo>
                <a:close/>
              </a:path>
            </a:pathLst>
          </a:custGeom>
          <a:ln w="944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2" name="object 52"/>
          <p:cNvSpPr/>
          <p:nvPr/>
        </p:nvSpPr>
        <p:spPr>
          <a:xfrm>
            <a:off x="1323489" y="5385797"/>
            <a:ext cx="190365" cy="266511"/>
          </a:xfrm>
          <a:custGeom>
            <a:avLst/>
            <a:gdLst/>
            <a:ahLst/>
            <a:cxnLst/>
            <a:rect l="l" t="t" r="r" b="b"/>
            <a:pathLst>
              <a:path w="190500" h="266700">
                <a:moveTo>
                  <a:pt x="0" y="266606"/>
                </a:moveTo>
                <a:lnTo>
                  <a:pt x="190414" y="266606"/>
                </a:lnTo>
                <a:lnTo>
                  <a:pt x="190414" y="0"/>
                </a:lnTo>
                <a:lnTo>
                  <a:pt x="0" y="0"/>
                </a:lnTo>
                <a:lnTo>
                  <a:pt x="0" y="26660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3" name="object 53"/>
          <p:cNvSpPr/>
          <p:nvPr/>
        </p:nvSpPr>
        <p:spPr>
          <a:xfrm>
            <a:off x="1323489" y="5385797"/>
            <a:ext cx="190365" cy="266511"/>
          </a:xfrm>
          <a:custGeom>
            <a:avLst/>
            <a:gdLst/>
            <a:ahLst/>
            <a:cxnLst/>
            <a:rect l="l" t="t" r="r" b="b"/>
            <a:pathLst>
              <a:path w="190500" h="266700">
                <a:moveTo>
                  <a:pt x="0" y="266606"/>
                </a:moveTo>
                <a:lnTo>
                  <a:pt x="190414" y="266606"/>
                </a:lnTo>
                <a:lnTo>
                  <a:pt x="190414" y="0"/>
                </a:lnTo>
                <a:lnTo>
                  <a:pt x="0" y="0"/>
                </a:lnTo>
                <a:lnTo>
                  <a:pt x="0" y="266606"/>
                </a:lnTo>
                <a:close/>
              </a:path>
            </a:pathLst>
          </a:custGeom>
          <a:ln w="9448">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4" name="object 54"/>
          <p:cNvSpPr/>
          <p:nvPr/>
        </p:nvSpPr>
        <p:spPr>
          <a:xfrm>
            <a:off x="1318763" y="4952554"/>
            <a:ext cx="0" cy="752577"/>
          </a:xfrm>
          <a:custGeom>
            <a:avLst/>
            <a:gdLst/>
            <a:ahLst/>
            <a:cxnLst/>
            <a:rect l="l" t="t" r="r" b="b"/>
            <a:pathLst>
              <a:path h="753110">
                <a:moveTo>
                  <a:pt x="0" y="0"/>
                </a:moveTo>
                <a:lnTo>
                  <a:pt x="0" y="752661"/>
                </a:lnTo>
              </a:path>
            </a:pathLst>
          </a:custGeom>
          <a:ln w="28688">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5" name="object 55"/>
          <p:cNvSpPr txBox="1"/>
          <p:nvPr/>
        </p:nvSpPr>
        <p:spPr>
          <a:xfrm>
            <a:off x="783695" y="4996050"/>
            <a:ext cx="522869" cy="622935"/>
          </a:xfrm>
          <a:prstGeom prst="rect">
            <a:avLst/>
          </a:prstGeom>
        </p:spPr>
        <p:txBody>
          <a:bodyPr vert="horz" wrap="square" lIns="0" tIns="12691" rIns="0" bIns="0" rtlCol="0">
            <a:spAutoFit/>
          </a:bodyPr>
          <a:lstStyle/>
          <a:p>
            <a:pPr>
              <a:lnSpc>
                <a:spcPct val="100000"/>
              </a:lnSpc>
              <a:spcBef>
                <a:spcPts val="100"/>
              </a:spcBef>
            </a:pPr>
            <a:r>
              <a:rPr sz="1500" dirty="0">
                <a:latin typeface="微软雅黑" panose="020B0503020204020204" charset="-122"/>
                <a:ea typeface="微软雅黑" panose="020B0503020204020204" charset="-122"/>
                <a:cs typeface="微软雅黑" panose="020B0503020204020204" charset="-122"/>
              </a:rPr>
              <a:t>部</a:t>
            </a:r>
            <a:r>
              <a:rPr sz="1500" spc="-5" dirty="0">
                <a:latin typeface="微软雅黑" panose="020B0503020204020204" charset="-122"/>
                <a:ea typeface="微软雅黑" panose="020B0503020204020204" charset="-122"/>
                <a:cs typeface="微软雅黑" panose="020B0503020204020204" charset="-122"/>
              </a:rPr>
              <a:t>门</a:t>
            </a:r>
            <a:r>
              <a:rPr sz="1500" dirty="0">
                <a:latin typeface="微软雅黑" panose="020B0503020204020204" charset="-122"/>
                <a:ea typeface="微软雅黑" panose="020B0503020204020204" charset="-122"/>
                <a:cs typeface="微软雅黑" panose="020B0503020204020204" charset="-122"/>
              </a:rPr>
              <a:t>A</a:t>
            </a:r>
            <a:endParaRPr sz="1500">
              <a:latin typeface="微软雅黑" panose="020B0503020204020204" charset="-122"/>
              <a:ea typeface="微软雅黑" panose="020B0503020204020204" charset="-122"/>
              <a:cs typeface="微软雅黑" panose="020B0503020204020204" charset="-122"/>
            </a:endParaRPr>
          </a:p>
          <a:p>
            <a:pPr>
              <a:lnSpc>
                <a:spcPct val="100000"/>
              </a:lnSpc>
              <a:spcBef>
                <a:spcPts val="1165"/>
              </a:spcBef>
            </a:pPr>
            <a:r>
              <a:rPr sz="1500" dirty="0">
                <a:latin typeface="微软雅黑" panose="020B0503020204020204" charset="-122"/>
                <a:ea typeface="微软雅黑" panose="020B0503020204020204" charset="-122"/>
                <a:cs typeface="微软雅黑" panose="020B0503020204020204" charset="-122"/>
              </a:rPr>
              <a:t>部门B</a:t>
            </a:r>
            <a:endParaRPr sz="1500">
              <a:latin typeface="微软雅黑" panose="020B0503020204020204" charset="-122"/>
              <a:ea typeface="微软雅黑" panose="020B0503020204020204" charset="-122"/>
              <a:cs typeface="微软雅黑" panose="020B0503020204020204" charset="-122"/>
            </a:endParaRPr>
          </a:p>
        </p:txBody>
      </p:sp>
      <p:sp>
        <p:nvSpPr>
          <p:cNvPr id="56" name="object 56"/>
          <p:cNvSpPr/>
          <p:nvPr/>
        </p:nvSpPr>
        <p:spPr>
          <a:xfrm>
            <a:off x="2480909" y="5005021"/>
            <a:ext cx="142774" cy="276029"/>
          </a:xfrm>
          <a:custGeom>
            <a:avLst/>
            <a:gdLst/>
            <a:ahLst/>
            <a:cxnLst/>
            <a:rect l="l" t="t" r="r" b="b"/>
            <a:pathLst>
              <a:path w="142875" h="276225">
                <a:moveTo>
                  <a:pt x="0" y="276038"/>
                </a:moveTo>
                <a:lnTo>
                  <a:pt x="142810" y="276038"/>
                </a:lnTo>
                <a:lnTo>
                  <a:pt x="142810" y="0"/>
                </a:lnTo>
                <a:lnTo>
                  <a:pt x="0" y="0"/>
                </a:lnTo>
                <a:lnTo>
                  <a:pt x="0" y="276038"/>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7" name="object 57"/>
          <p:cNvSpPr/>
          <p:nvPr/>
        </p:nvSpPr>
        <p:spPr>
          <a:xfrm>
            <a:off x="2480909" y="5005021"/>
            <a:ext cx="142774" cy="276029"/>
          </a:xfrm>
          <a:custGeom>
            <a:avLst/>
            <a:gdLst/>
            <a:ahLst/>
            <a:cxnLst/>
            <a:rect l="l" t="t" r="r" b="b"/>
            <a:pathLst>
              <a:path w="142875" h="276225">
                <a:moveTo>
                  <a:pt x="0" y="276038"/>
                </a:moveTo>
                <a:lnTo>
                  <a:pt x="142810" y="276038"/>
                </a:lnTo>
                <a:lnTo>
                  <a:pt x="142810" y="0"/>
                </a:lnTo>
                <a:lnTo>
                  <a:pt x="0" y="0"/>
                </a:lnTo>
                <a:lnTo>
                  <a:pt x="0" y="276038"/>
                </a:lnTo>
                <a:close/>
              </a:path>
            </a:pathLst>
          </a:custGeom>
          <a:ln w="9452">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8" name="object 58"/>
          <p:cNvSpPr/>
          <p:nvPr/>
        </p:nvSpPr>
        <p:spPr>
          <a:xfrm>
            <a:off x="2385769" y="5385797"/>
            <a:ext cx="95183" cy="266511"/>
          </a:xfrm>
          <a:custGeom>
            <a:avLst/>
            <a:gdLst/>
            <a:ahLst/>
            <a:cxnLst/>
            <a:rect l="l" t="t" r="r" b="b"/>
            <a:pathLst>
              <a:path w="95250" h="266700">
                <a:moveTo>
                  <a:pt x="0" y="266606"/>
                </a:moveTo>
                <a:lnTo>
                  <a:pt x="95207" y="266606"/>
                </a:lnTo>
                <a:lnTo>
                  <a:pt x="95207" y="0"/>
                </a:lnTo>
                <a:lnTo>
                  <a:pt x="0" y="0"/>
                </a:lnTo>
                <a:lnTo>
                  <a:pt x="0" y="26660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9" name="object 59"/>
          <p:cNvSpPr/>
          <p:nvPr/>
        </p:nvSpPr>
        <p:spPr>
          <a:xfrm>
            <a:off x="2385769" y="5385797"/>
            <a:ext cx="95183" cy="266511"/>
          </a:xfrm>
          <a:custGeom>
            <a:avLst/>
            <a:gdLst/>
            <a:ahLst/>
            <a:cxnLst/>
            <a:rect l="l" t="t" r="r" b="b"/>
            <a:pathLst>
              <a:path w="95250" h="266700">
                <a:moveTo>
                  <a:pt x="0" y="266606"/>
                </a:moveTo>
                <a:lnTo>
                  <a:pt x="95207" y="266606"/>
                </a:lnTo>
                <a:lnTo>
                  <a:pt x="95207" y="0"/>
                </a:lnTo>
                <a:lnTo>
                  <a:pt x="0" y="0"/>
                </a:lnTo>
                <a:lnTo>
                  <a:pt x="0" y="266606"/>
                </a:lnTo>
                <a:close/>
              </a:path>
            </a:pathLst>
          </a:custGeom>
          <a:ln w="945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0" name="object 60"/>
          <p:cNvSpPr/>
          <p:nvPr/>
        </p:nvSpPr>
        <p:spPr>
          <a:xfrm>
            <a:off x="2476183" y="4952554"/>
            <a:ext cx="0" cy="752577"/>
          </a:xfrm>
          <a:custGeom>
            <a:avLst/>
            <a:gdLst/>
            <a:ahLst/>
            <a:cxnLst/>
            <a:rect l="l" t="t" r="r" b="b"/>
            <a:pathLst>
              <a:path h="753110">
                <a:moveTo>
                  <a:pt x="0" y="0"/>
                </a:moveTo>
                <a:lnTo>
                  <a:pt x="0" y="752661"/>
                </a:lnTo>
              </a:path>
            </a:pathLst>
          </a:custGeom>
          <a:ln w="28688">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1" name="object 61"/>
          <p:cNvSpPr/>
          <p:nvPr/>
        </p:nvSpPr>
        <p:spPr>
          <a:xfrm>
            <a:off x="3126626" y="5005021"/>
            <a:ext cx="476546" cy="276029"/>
          </a:xfrm>
          <a:custGeom>
            <a:avLst/>
            <a:gdLst/>
            <a:ahLst/>
            <a:cxnLst/>
            <a:rect l="l" t="t" r="r" b="b"/>
            <a:pathLst>
              <a:path w="476885" h="276225">
                <a:moveTo>
                  <a:pt x="0" y="276038"/>
                </a:moveTo>
                <a:lnTo>
                  <a:pt x="476351" y="276038"/>
                </a:lnTo>
                <a:lnTo>
                  <a:pt x="476351" y="0"/>
                </a:lnTo>
                <a:lnTo>
                  <a:pt x="0" y="0"/>
                </a:lnTo>
                <a:lnTo>
                  <a:pt x="0" y="276038"/>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2" name="object 62"/>
          <p:cNvSpPr/>
          <p:nvPr/>
        </p:nvSpPr>
        <p:spPr>
          <a:xfrm>
            <a:off x="3126626" y="5005021"/>
            <a:ext cx="476546" cy="276029"/>
          </a:xfrm>
          <a:custGeom>
            <a:avLst/>
            <a:gdLst/>
            <a:ahLst/>
            <a:cxnLst/>
            <a:rect l="l" t="t" r="r" b="b"/>
            <a:pathLst>
              <a:path w="476885" h="276225">
                <a:moveTo>
                  <a:pt x="0" y="276038"/>
                </a:moveTo>
                <a:lnTo>
                  <a:pt x="476351" y="276038"/>
                </a:lnTo>
                <a:lnTo>
                  <a:pt x="476351" y="0"/>
                </a:lnTo>
                <a:lnTo>
                  <a:pt x="0" y="0"/>
                </a:lnTo>
                <a:lnTo>
                  <a:pt x="0" y="276038"/>
                </a:lnTo>
                <a:close/>
              </a:path>
            </a:pathLst>
          </a:custGeom>
          <a:ln w="9438">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3" name="object 63"/>
          <p:cNvSpPr/>
          <p:nvPr/>
        </p:nvSpPr>
        <p:spPr>
          <a:xfrm>
            <a:off x="3126626" y="5385797"/>
            <a:ext cx="237956" cy="266511"/>
          </a:xfrm>
          <a:custGeom>
            <a:avLst/>
            <a:gdLst/>
            <a:ahLst/>
            <a:cxnLst/>
            <a:rect l="l" t="t" r="r" b="b"/>
            <a:pathLst>
              <a:path w="238125" h="266700">
                <a:moveTo>
                  <a:pt x="0" y="266606"/>
                </a:moveTo>
                <a:lnTo>
                  <a:pt x="238017" y="266606"/>
                </a:lnTo>
                <a:lnTo>
                  <a:pt x="238017" y="0"/>
                </a:lnTo>
                <a:lnTo>
                  <a:pt x="0" y="0"/>
                </a:lnTo>
                <a:lnTo>
                  <a:pt x="0" y="26660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4" name="object 64"/>
          <p:cNvSpPr/>
          <p:nvPr/>
        </p:nvSpPr>
        <p:spPr>
          <a:xfrm>
            <a:off x="3126626" y="5385797"/>
            <a:ext cx="237956" cy="266511"/>
          </a:xfrm>
          <a:custGeom>
            <a:avLst/>
            <a:gdLst/>
            <a:ahLst/>
            <a:cxnLst/>
            <a:rect l="l" t="t" r="r" b="b"/>
            <a:pathLst>
              <a:path w="238125" h="266700">
                <a:moveTo>
                  <a:pt x="0" y="266606"/>
                </a:moveTo>
                <a:lnTo>
                  <a:pt x="238017" y="266606"/>
                </a:lnTo>
                <a:lnTo>
                  <a:pt x="238017" y="0"/>
                </a:lnTo>
                <a:lnTo>
                  <a:pt x="0" y="0"/>
                </a:lnTo>
                <a:lnTo>
                  <a:pt x="0" y="266606"/>
                </a:lnTo>
                <a:close/>
              </a:path>
            </a:pathLst>
          </a:custGeom>
          <a:ln w="9446">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5" name="object 65"/>
          <p:cNvSpPr/>
          <p:nvPr/>
        </p:nvSpPr>
        <p:spPr>
          <a:xfrm>
            <a:off x="3121900" y="4952554"/>
            <a:ext cx="0" cy="752577"/>
          </a:xfrm>
          <a:custGeom>
            <a:avLst/>
            <a:gdLst/>
            <a:ahLst/>
            <a:cxnLst/>
            <a:rect l="l" t="t" r="r" b="b"/>
            <a:pathLst>
              <a:path h="753110">
                <a:moveTo>
                  <a:pt x="0" y="0"/>
                </a:moveTo>
                <a:lnTo>
                  <a:pt x="0" y="752661"/>
                </a:lnTo>
              </a:path>
            </a:pathLst>
          </a:custGeom>
          <a:ln w="28688">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6" name="object 66"/>
          <p:cNvSpPr txBox="1"/>
          <p:nvPr/>
        </p:nvSpPr>
        <p:spPr>
          <a:xfrm>
            <a:off x="3993733" y="4681744"/>
            <a:ext cx="203056" cy="242570"/>
          </a:xfrm>
          <a:prstGeom prst="rect">
            <a:avLst/>
          </a:prstGeom>
        </p:spPr>
        <p:txBody>
          <a:bodyPr vert="horz" wrap="square" lIns="0" tIns="12691" rIns="0" bIns="0" rtlCol="0">
            <a:spAutoFit/>
          </a:bodyPr>
          <a:lstStyle/>
          <a:p>
            <a:pPr>
              <a:lnSpc>
                <a:spcPct val="100000"/>
              </a:lnSpc>
              <a:spcBef>
                <a:spcPts val="100"/>
              </a:spcBef>
            </a:pPr>
            <a:r>
              <a:rPr sz="1500" dirty="0">
                <a:latin typeface="微软雅黑" panose="020B0503020204020204" charset="-122"/>
                <a:ea typeface="微软雅黑" panose="020B0503020204020204" charset="-122"/>
                <a:cs typeface="微软雅黑" panose="020B0503020204020204" charset="-122"/>
              </a:rPr>
              <a:t>…</a:t>
            </a:r>
            <a:endParaRPr sz="1500" dirty="0">
              <a:latin typeface="微软雅黑" panose="020B0503020204020204" charset="-122"/>
              <a:ea typeface="微软雅黑" panose="020B0503020204020204" charset="-122"/>
              <a:cs typeface="微软雅黑" panose="020B0503020204020204" charset="-122"/>
            </a:endParaRPr>
          </a:p>
        </p:txBody>
      </p:sp>
      <p:sp>
        <p:nvSpPr>
          <p:cNvPr id="67" name="object 67"/>
          <p:cNvSpPr txBox="1"/>
          <p:nvPr/>
        </p:nvSpPr>
        <p:spPr>
          <a:xfrm>
            <a:off x="4644019" y="1699866"/>
            <a:ext cx="1099041" cy="351155"/>
          </a:xfrm>
          <a:prstGeom prst="rect">
            <a:avLst/>
          </a:prstGeom>
        </p:spPr>
        <p:txBody>
          <a:bodyPr vert="horz" wrap="square" lIns="0" tIns="13325" rIns="0" bIns="0" rtlCol="0">
            <a:spAutoFit/>
          </a:bodyPr>
          <a:lstStyle/>
          <a:p>
            <a:pPr marL="89535" indent="-90170">
              <a:lnSpc>
                <a:spcPct val="100000"/>
              </a:lnSpc>
              <a:spcBef>
                <a:spcPts val="105"/>
              </a:spcBef>
              <a:buClr>
                <a:srgbClr val="00295F"/>
              </a:buClr>
              <a:buSzPct val="123000"/>
              <a:buFont typeface="Arial" panose="020B0604020202020204"/>
              <a:buChar char="▪"/>
              <a:tabLst>
                <a:tab pos="90170" algn="l"/>
                <a:tab pos="804545" algn="l"/>
              </a:tabLst>
            </a:pPr>
            <a:r>
              <a:rPr sz="1100" spc="-5" dirty="0">
                <a:latin typeface="微软雅黑" panose="020B0503020204020204" charset="-122"/>
                <a:ea typeface="微软雅黑" panose="020B0503020204020204" charset="-122"/>
                <a:cs typeface="微软雅黑" panose="020B0503020204020204" charset="-122"/>
              </a:rPr>
              <a:t>CEO	</a:t>
            </a:r>
            <a:r>
              <a:rPr sz="1100" dirty="0">
                <a:latin typeface="微软雅黑" panose="020B0503020204020204" charset="-122"/>
                <a:ea typeface="微软雅黑" panose="020B0503020204020204" charset="-122"/>
                <a:cs typeface="微软雅黑" panose="020B0503020204020204" charset="-122"/>
              </a:rPr>
              <a:t>:</a:t>
            </a:r>
            <a:r>
              <a:rPr sz="1100" spc="114" dirty="0">
                <a:latin typeface="微软雅黑" panose="020B0503020204020204" charset="-122"/>
                <a:ea typeface="微软雅黑" panose="020B0503020204020204" charset="-122"/>
                <a:cs typeface="微软雅黑" panose="020B0503020204020204" charset="-122"/>
              </a:rPr>
              <a:t> </a:t>
            </a:r>
            <a:r>
              <a:rPr sz="1100" spc="-5" dirty="0">
                <a:latin typeface="微软雅黑" panose="020B0503020204020204" charset="-122"/>
                <a:ea typeface="微软雅黑" panose="020B0503020204020204" charset="-122"/>
                <a:cs typeface="微软雅黑" panose="020B0503020204020204" charset="-122"/>
              </a:rPr>
              <a:t>xxx</a:t>
            </a:r>
            <a:endParaRPr sz="1100">
              <a:latin typeface="微软雅黑" panose="020B0503020204020204" charset="-122"/>
              <a:ea typeface="微软雅黑" panose="020B0503020204020204" charset="-122"/>
              <a:cs typeface="微软雅黑" panose="020B0503020204020204" charset="-122"/>
            </a:endParaRPr>
          </a:p>
        </p:txBody>
      </p:sp>
      <p:sp>
        <p:nvSpPr>
          <p:cNvPr id="68" name="object 68"/>
          <p:cNvSpPr txBox="1"/>
          <p:nvPr/>
        </p:nvSpPr>
        <p:spPr>
          <a:xfrm>
            <a:off x="4759992" y="1950894"/>
            <a:ext cx="469265" cy="166252"/>
          </a:xfrm>
          <a:prstGeom prst="rect">
            <a:avLst/>
          </a:prstGeom>
        </p:spPr>
        <p:txBody>
          <a:bodyPr vert="vert" wrap="square" lIns="0" tIns="20940" rIns="0" bIns="0" rtlCol="0">
            <a:spAutoFit/>
          </a:bodyPr>
          <a:lstStyle/>
          <a:p>
            <a:pPr marL="12700">
              <a:lnSpc>
                <a:spcPts val="1255"/>
              </a:lnSpc>
              <a:spcBef>
                <a:spcPts val="165"/>
              </a:spcBef>
            </a:pPr>
            <a:r>
              <a:rPr sz="1100" dirty="0">
                <a:latin typeface="微软雅黑" panose="020B0503020204020204" charset="-122"/>
                <a:ea typeface="微软雅黑" panose="020B0503020204020204" charset="-122"/>
                <a:cs typeface="微软雅黑" panose="020B0503020204020204" charset="-122"/>
              </a:rPr>
              <a:t>・</a:t>
            </a:r>
            <a:endParaRPr sz="1100">
              <a:latin typeface="微软雅黑" panose="020B0503020204020204" charset="-122"/>
              <a:ea typeface="微软雅黑" panose="020B0503020204020204" charset="-122"/>
              <a:cs typeface="微软雅黑" panose="020B0503020204020204" charset="-122"/>
            </a:endParaRPr>
          </a:p>
          <a:p>
            <a:pPr marL="12700">
              <a:lnSpc>
                <a:spcPts val="1170"/>
              </a:lnSpc>
            </a:pPr>
            <a:r>
              <a:rPr sz="1100" dirty="0">
                <a:latin typeface="微软雅黑" panose="020B0503020204020204" charset="-122"/>
                <a:ea typeface="微软雅黑" panose="020B0503020204020204" charset="-122"/>
                <a:cs typeface="微软雅黑" panose="020B0503020204020204" charset="-122"/>
              </a:rPr>
              <a:t>・</a:t>
            </a:r>
            <a:endParaRPr sz="1100">
              <a:latin typeface="微软雅黑" panose="020B0503020204020204" charset="-122"/>
              <a:ea typeface="微软雅黑" panose="020B0503020204020204" charset="-122"/>
              <a:cs typeface="微软雅黑" panose="020B0503020204020204" charset="-122"/>
            </a:endParaRPr>
          </a:p>
          <a:p>
            <a:pPr marL="12700">
              <a:lnSpc>
                <a:spcPts val="1235"/>
              </a:lnSpc>
            </a:pPr>
            <a:r>
              <a:rPr sz="1100" dirty="0">
                <a:latin typeface="微软雅黑" panose="020B0503020204020204" charset="-122"/>
                <a:ea typeface="微软雅黑" panose="020B0503020204020204" charset="-122"/>
                <a:cs typeface="微软雅黑" panose="020B0503020204020204" charset="-122"/>
              </a:rPr>
              <a:t>・</a:t>
            </a:r>
            <a:endParaRPr sz="1100">
              <a:latin typeface="微软雅黑" panose="020B0503020204020204" charset="-122"/>
              <a:ea typeface="微软雅黑" panose="020B0503020204020204" charset="-122"/>
              <a:cs typeface="微软雅黑" panose="020B0503020204020204" charset="-122"/>
            </a:endParaRPr>
          </a:p>
        </p:txBody>
      </p:sp>
      <p:sp>
        <p:nvSpPr>
          <p:cNvPr id="69" name="object 69"/>
          <p:cNvSpPr txBox="1"/>
          <p:nvPr/>
        </p:nvSpPr>
        <p:spPr>
          <a:xfrm>
            <a:off x="4568762" y="946527"/>
            <a:ext cx="3738770" cy="190500"/>
          </a:xfrm>
          <a:prstGeom prst="rect">
            <a:avLst/>
          </a:prstGeom>
          <a:solidFill>
            <a:srgbClr val="00295F"/>
          </a:solidFill>
          <a:ln w="9525">
            <a:solidFill>
              <a:srgbClr val="000000"/>
            </a:solidFill>
          </a:ln>
        </p:spPr>
        <p:txBody>
          <a:bodyPr vert="horz" wrap="square" lIns="0" tIns="0" rIns="0" bIns="0" rtlCol="0">
            <a:spAutoFit/>
          </a:bodyPr>
          <a:lstStyle/>
          <a:p>
            <a:pPr marL="72390">
              <a:lnSpc>
                <a:spcPts val="1490"/>
              </a:lnSpc>
            </a:pPr>
            <a:r>
              <a:rPr sz="1500" b="1" spc="5" dirty="0">
                <a:solidFill>
                  <a:srgbClr val="FFFFFF"/>
                </a:solidFill>
                <a:latin typeface="微软雅黑" panose="020B0503020204020204" charset="-122"/>
                <a:ea typeface="微软雅黑" panose="020B0503020204020204" charset="-122"/>
                <a:cs typeface="微软雅黑" panose="020B0503020204020204" charset="-122"/>
              </a:rPr>
              <a:t>组织关系</a:t>
            </a:r>
            <a:endParaRPr sz="1500" b="1" spc="5"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0" name="object 70"/>
          <p:cNvSpPr txBox="1"/>
          <p:nvPr/>
        </p:nvSpPr>
        <p:spPr>
          <a:xfrm>
            <a:off x="106401" y="6411173"/>
            <a:ext cx="1140287" cy="165100"/>
          </a:xfrm>
          <a:prstGeom prst="rect">
            <a:avLst/>
          </a:prstGeom>
        </p:spPr>
        <p:txBody>
          <a:bodyPr vert="horz" wrap="square" lIns="0" tIns="12056" rIns="0" bIns="0" rtlCol="0">
            <a:spAutoFit/>
          </a:bodyPr>
          <a:lstStyle/>
          <a:p>
            <a:pPr marL="12700">
              <a:lnSpc>
                <a:spcPct val="100000"/>
              </a:lnSpc>
              <a:spcBef>
                <a:spcPts val="95"/>
              </a:spcBef>
              <a:tabLst>
                <a:tab pos="621665" algn="l"/>
              </a:tabLst>
            </a:pPr>
            <a:r>
              <a:rPr sz="1000" spc="-5" dirty="0">
                <a:latin typeface="微软雅黑" panose="020B0503020204020204" charset="-122"/>
                <a:ea typeface="微软雅黑" panose="020B0503020204020204" charset="-122"/>
                <a:cs typeface="微软雅黑" panose="020B0503020204020204" charset="-122"/>
              </a:rPr>
              <a:t>资  </a:t>
            </a:r>
            <a:r>
              <a:rPr sz="1000" spc="-10" dirty="0">
                <a:latin typeface="微软雅黑" panose="020B0503020204020204" charset="-122"/>
                <a:ea typeface="微软雅黑" panose="020B0503020204020204" charset="-122"/>
                <a:cs typeface="微软雅黑" panose="020B0503020204020204" charset="-122"/>
              </a:rPr>
              <a:t>料</a:t>
            </a:r>
            <a:r>
              <a:rPr sz="1000" spc="-5" dirty="0">
                <a:latin typeface="微软雅黑" panose="020B0503020204020204" charset="-122"/>
                <a:ea typeface="微软雅黑" panose="020B0503020204020204" charset="-122"/>
                <a:cs typeface="微软雅黑" panose="020B0503020204020204" charset="-122"/>
              </a:rPr>
              <a:t>:</a:t>
            </a:r>
            <a:r>
              <a:rPr sz="1000"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团队讨论</a:t>
            </a:r>
            <a:endParaRPr sz="1000">
              <a:latin typeface="微软雅黑" panose="020B0503020204020204" charset="-122"/>
              <a:ea typeface="微软雅黑" panose="020B0503020204020204" charset="-122"/>
              <a:cs typeface="微软雅黑" panose="020B0503020204020204" charset="-122"/>
            </a:endParaRPr>
          </a:p>
        </p:txBody>
      </p:sp>
      <p:sp>
        <p:nvSpPr>
          <p:cNvPr id="71" name="object 71"/>
          <p:cNvSpPr txBox="1"/>
          <p:nvPr/>
        </p:nvSpPr>
        <p:spPr>
          <a:xfrm>
            <a:off x="6512008" y="1145522"/>
            <a:ext cx="1719631" cy="181610"/>
          </a:xfrm>
          <a:prstGeom prst="rect">
            <a:avLst/>
          </a:prstGeom>
        </p:spPr>
        <p:txBody>
          <a:bodyPr vert="horz" wrap="square" lIns="0" tIns="13325" rIns="0" bIns="0" rtlCol="0">
            <a:spAutoFit/>
          </a:bodyPr>
          <a:lstStyle/>
          <a:p>
            <a:pPr>
              <a:lnSpc>
                <a:spcPct val="100000"/>
              </a:lnSpc>
              <a:spcBef>
                <a:spcPts val="105"/>
              </a:spcBef>
              <a:tabLst>
                <a:tab pos="1706880" algn="l"/>
              </a:tabLst>
            </a:pPr>
            <a:r>
              <a:rPr sz="1100" b="1" u="sng" spc="-270" dirty="0">
                <a:uFill>
                  <a:solidFill>
                    <a:srgbClr val="000000"/>
                  </a:solidFill>
                </a:uFill>
                <a:latin typeface="微软雅黑" panose="020B0503020204020204" charset="-122"/>
                <a:ea typeface="微软雅黑" panose="020B0503020204020204" charset="-122"/>
                <a:cs typeface="微软雅黑" panose="020B0503020204020204" charset="-122"/>
              </a:rPr>
              <a:t> </a:t>
            </a:r>
            <a:r>
              <a:rPr sz="1100" b="1" u="sng" spc="10" dirty="0">
                <a:uFill>
                  <a:solidFill>
                    <a:srgbClr val="000000"/>
                  </a:solidFill>
                </a:uFill>
                <a:latin typeface="微软雅黑" panose="020B0503020204020204" charset="-122"/>
                <a:ea typeface="微软雅黑" panose="020B0503020204020204" charset="-122"/>
                <a:cs typeface="微软雅黑" panose="020B0503020204020204" charset="-122"/>
              </a:rPr>
              <a:t>决策</a:t>
            </a:r>
            <a:r>
              <a:rPr sz="1100" b="1" u="sng" dirty="0">
                <a:uFill>
                  <a:solidFill>
                    <a:srgbClr val="000000"/>
                  </a:solidFill>
                </a:uFill>
                <a:latin typeface="微软雅黑" panose="020B0503020204020204" charset="-122"/>
                <a:ea typeface="微软雅黑" panose="020B0503020204020204" charset="-122"/>
                <a:cs typeface="微软雅黑" panose="020B0503020204020204" charset="-122"/>
              </a:rPr>
              <a:t>流程	</a:t>
            </a:r>
            <a:endParaRPr sz="1100">
              <a:latin typeface="微软雅黑" panose="020B0503020204020204" charset="-122"/>
              <a:ea typeface="微软雅黑" panose="020B0503020204020204" charset="-122"/>
              <a:cs typeface="微软雅黑" panose="020B0503020204020204" charset="-122"/>
            </a:endParaRPr>
          </a:p>
        </p:txBody>
      </p:sp>
      <p:sp>
        <p:nvSpPr>
          <p:cNvPr id="72" name="object 72"/>
          <p:cNvSpPr txBox="1"/>
          <p:nvPr/>
        </p:nvSpPr>
        <p:spPr>
          <a:xfrm>
            <a:off x="4641862" y="1105805"/>
            <a:ext cx="1719631" cy="628650"/>
          </a:xfrm>
          <a:prstGeom prst="rect">
            <a:avLst/>
          </a:prstGeom>
        </p:spPr>
        <p:txBody>
          <a:bodyPr vert="horz" wrap="square" lIns="0" tIns="52667" rIns="0" bIns="0" rtlCol="0">
            <a:spAutoFit/>
          </a:bodyPr>
          <a:lstStyle/>
          <a:p>
            <a:pPr>
              <a:lnSpc>
                <a:spcPct val="100000"/>
              </a:lnSpc>
              <a:spcBef>
                <a:spcPts val="415"/>
              </a:spcBef>
              <a:tabLst>
                <a:tab pos="1706880" algn="l"/>
              </a:tabLst>
            </a:pPr>
            <a:r>
              <a:rPr sz="1100" b="1" u="sng" spc="-275" dirty="0">
                <a:uFill>
                  <a:solidFill>
                    <a:srgbClr val="000000"/>
                  </a:solidFill>
                </a:uFill>
                <a:latin typeface="微软雅黑" panose="020B0503020204020204" charset="-122"/>
                <a:ea typeface="微软雅黑" panose="020B0503020204020204" charset="-122"/>
                <a:cs typeface="微软雅黑" panose="020B0503020204020204" charset="-122"/>
              </a:rPr>
              <a:t> </a:t>
            </a:r>
            <a:r>
              <a:rPr sz="1100" b="1" u="sng" spc="10" dirty="0">
                <a:uFill>
                  <a:solidFill>
                    <a:srgbClr val="000000"/>
                  </a:solidFill>
                </a:uFill>
                <a:latin typeface="微软雅黑" panose="020B0503020204020204" charset="-122"/>
                <a:ea typeface="微软雅黑" panose="020B0503020204020204" charset="-122"/>
                <a:cs typeface="微软雅黑" panose="020B0503020204020204" charset="-122"/>
              </a:rPr>
              <a:t>关键</a:t>
            </a:r>
            <a:r>
              <a:rPr sz="1100" b="1" u="sng" dirty="0">
                <a:uFill>
                  <a:solidFill>
                    <a:srgbClr val="000000"/>
                  </a:solidFill>
                </a:uFill>
                <a:latin typeface="微软雅黑" panose="020B0503020204020204" charset="-122"/>
                <a:ea typeface="微软雅黑" panose="020B0503020204020204" charset="-122"/>
                <a:cs typeface="微软雅黑" panose="020B0503020204020204" charset="-122"/>
              </a:rPr>
              <a:t>负责</a:t>
            </a:r>
            <a:r>
              <a:rPr sz="1100" b="1" u="sng" spc="-15" dirty="0">
                <a:uFill>
                  <a:solidFill>
                    <a:srgbClr val="000000"/>
                  </a:solidFill>
                </a:uFill>
                <a:latin typeface="微软雅黑" panose="020B0503020204020204" charset="-122"/>
                <a:ea typeface="微软雅黑" panose="020B0503020204020204" charset="-122"/>
                <a:cs typeface="微软雅黑" panose="020B0503020204020204" charset="-122"/>
              </a:rPr>
              <a:t>人</a:t>
            </a:r>
            <a:r>
              <a:rPr sz="1100" b="1" u="sng" dirty="0">
                <a:uFill>
                  <a:solidFill>
                    <a:srgbClr val="000000"/>
                  </a:solidFill>
                </a:uFill>
                <a:latin typeface="微软雅黑" panose="020B0503020204020204" charset="-122"/>
                <a:ea typeface="微软雅黑" panose="020B0503020204020204" charset="-122"/>
                <a:cs typeface="微软雅黑" panose="020B0503020204020204" charset="-122"/>
              </a:rPr>
              <a:t>员	</a:t>
            </a:r>
            <a:endParaRPr sz="1100">
              <a:latin typeface="微软雅黑" panose="020B0503020204020204" charset="-122"/>
              <a:ea typeface="微软雅黑" panose="020B0503020204020204" charset="-122"/>
              <a:cs typeface="微软雅黑" panose="020B0503020204020204" charset="-122"/>
            </a:endParaRPr>
          </a:p>
          <a:p>
            <a:pPr marL="92075" indent="-90170">
              <a:lnSpc>
                <a:spcPts val="1255"/>
              </a:lnSpc>
              <a:spcBef>
                <a:spcPts val="670"/>
              </a:spcBef>
              <a:buClr>
                <a:srgbClr val="00295F"/>
              </a:buClr>
              <a:buSzPct val="123000"/>
              <a:buFont typeface="Arial" panose="020B0604020202020204"/>
              <a:buChar char="▪"/>
              <a:tabLst>
                <a:tab pos="92075" algn="l"/>
              </a:tabLst>
            </a:pPr>
            <a:r>
              <a:rPr sz="1100" dirty="0">
                <a:latin typeface="微软雅黑" panose="020B0503020204020204" charset="-122"/>
                <a:ea typeface="微软雅黑" panose="020B0503020204020204" charset="-122"/>
                <a:cs typeface="微软雅黑" panose="020B0503020204020204" charset="-122"/>
              </a:rPr>
              <a:t>采购部部</a:t>
            </a:r>
            <a:r>
              <a:rPr sz="1100" spc="110" dirty="0">
                <a:latin typeface="微软雅黑" panose="020B0503020204020204" charset="-122"/>
                <a:ea typeface="微软雅黑" panose="020B0503020204020204" charset="-122"/>
                <a:cs typeface="微软雅黑" panose="020B0503020204020204" charset="-122"/>
              </a:rPr>
              <a:t>长</a:t>
            </a:r>
            <a:r>
              <a:rPr sz="1100" dirty="0">
                <a:latin typeface="微软雅黑" panose="020B0503020204020204" charset="-122"/>
                <a:ea typeface="微软雅黑" panose="020B0503020204020204" charset="-122"/>
                <a:cs typeface="微软雅黑" panose="020B0503020204020204" charset="-122"/>
              </a:rPr>
              <a:t>:</a:t>
            </a:r>
            <a:r>
              <a:rPr sz="1100" spc="114" dirty="0">
                <a:latin typeface="微软雅黑" panose="020B0503020204020204" charset="-122"/>
                <a:ea typeface="微软雅黑" panose="020B0503020204020204" charset="-122"/>
                <a:cs typeface="微软雅黑" panose="020B0503020204020204" charset="-122"/>
              </a:rPr>
              <a:t> </a:t>
            </a:r>
            <a:r>
              <a:rPr sz="1100" spc="-5" dirty="0">
                <a:latin typeface="微软雅黑" panose="020B0503020204020204" charset="-122"/>
                <a:ea typeface="微软雅黑" panose="020B0503020204020204" charset="-122"/>
                <a:cs typeface="微软雅黑" panose="020B0503020204020204" charset="-122"/>
              </a:rPr>
              <a:t>xxx</a:t>
            </a:r>
            <a:endParaRPr sz="1100">
              <a:latin typeface="微软雅黑" panose="020B0503020204020204" charset="-122"/>
              <a:ea typeface="微软雅黑" panose="020B0503020204020204" charset="-122"/>
              <a:cs typeface="微软雅黑" panose="020B0503020204020204" charset="-122"/>
            </a:endParaRPr>
          </a:p>
          <a:p>
            <a:pPr marL="92075" indent="-90170">
              <a:lnSpc>
                <a:spcPts val="1255"/>
              </a:lnSpc>
              <a:buClr>
                <a:srgbClr val="00295F"/>
              </a:buClr>
              <a:buSzPct val="123000"/>
              <a:buFont typeface="Arial" panose="020B0604020202020204"/>
              <a:buChar char="▪"/>
              <a:tabLst>
                <a:tab pos="92075" algn="l"/>
              </a:tabLst>
            </a:pPr>
            <a:r>
              <a:rPr sz="1100" dirty="0">
                <a:latin typeface="微软雅黑" panose="020B0503020204020204" charset="-122"/>
                <a:ea typeface="微软雅黑" panose="020B0503020204020204" charset="-122"/>
                <a:cs typeface="微软雅黑" panose="020B0503020204020204" charset="-122"/>
              </a:rPr>
              <a:t>建筑队队</a:t>
            </a:r>
            <a:r>
              <a:rPr sz="1100" spc="110" dirty="0">
                <a:latin typeface="微软雅黑" panose="020B0503020204020204" charset="-122"/>
                <a:ea typeface="微软雅黑" panose="020B0503020204020204" charset="-122"/>
                <a:cs typeface="微软雅黑" panose="020B0503020204020204" charset="-122"/>
              </a:rPr>
              <a:t>长</a:t>
            </a:r>
            <a:r>
              <a:rPr sz="1100" dirty="0">
                <a:latin typeface="微软雅黑" panose="020B0503020204020204" charset="-122"/>
                <a:ea typeface="微软雅黑" panose="020B0503020204020204" charset="-122"/>
                <a:cs typeface="微软雅黑" panose="020B0503020204020204" charset="-122"/>
              </a:rPr>
              <a:t>:</a:t>
            </a:r>
            <a:r>
              <a:rPr sz="1100" spc="114" dirty="0">
                <a:latin typeface="微软雅黑" panose="020B0503020204020204" charset="-122"/>
                <a:ea typeface="微软雅黑" panose="020B0503020204020204" charset="-122"/>
                <a:cs typeface="微软雅黑" panose="020B0503020204020204" charset="-122"/>
              </a:rPr>
              <a:t> </a:t>
            </a:r>
            <a:r>
              <a:rPr sz="1100" spc="-5" dirty="0">
                <a:latin typeface="微软雅黑" panose="020B0503020204020204" charset="-122"/>
                <a:ea typeface="微软雅黑" panose="020B0503020204020204" charset="-122"/>
                <a:cs typeface="微软雅黑" panose="020B0503020204020204" charset="-122"/>
              </a:rPr>
              <a:t>xxx</a:t>
            </a:r>
            <a:endParaRPr sz="1100">
              <a:latin typeface="微软雅黑" panose="020B0503020204020204" charset="-122"/>
              <a:ea typeface="微软雅黑" panose="020B0503020204020204" charset="-122"/>
              <a:cs typeface="微软雅黑" panose="020B0503020204020204" charset="-122"/>
            </a:endParaRPr>
          </a:p>
        </p:txBody>
      </p:sp>
      <p:sp>
        <p:nvSpPr>
          <p:cNvPr id="73" name="object 73"/>
          <p:cNvSpPr txBox="1"/>
          <p:nvPr/>
        </p:nvSpPr>
        <p:spPr>
          <a:xfrm>
            <a:off x="8469977" y="515287"/>
            <a:ext cx="278568" cy="165100"/>
          </a:xfrm>
          <a:prstGeom prst="rect">
            <a:avLst/>
          </a:prstGeom>
        </p:spPr>
        <p:txBody>
          <a:bodyPr vert="horz" wrap="square" lIns="0" tIns="12056" rIns="0" bIns="0" rtlCol="0">
            <a:spAutoFit/>
          </a:bodyPr>
          <a:lstStyle/>
          <a:p>
            <a:pPr marL="12700">
              <a:lnSpc>
                <a:spcPct val="100000"/>
              </a:lnSpc>
              <a:spcBef>
                <a:spcPts val="95"/>
              </a:spcBef>
            </a:pPr>
            <a:r>
              <a:rPr sz="1000" spc="-5" dirty="0">
                <a:solidFill>
                  <a:srgbClr val="808080"/>
                </a:solidFill>
                <a:latin typeface="微软雅黑" panose="020B0503020204020204" charset="-122"/>
                <a:ea typeface="微软雅黑" panose="020B0503020204020204" charset="-122"/>
                <a:cs typeface="微软雅黑" panose="020B0503020204020204" charset="-122"/>
              </a:rPr>
              <a:t>例示</a:t>
            </a:r>
            <a:endParaRPr sz="1000" spc="-5" dirty="0">
              <a:solidFill>
                <a:srgbClr val="808080"/>
              </a:solidFill>
              <a:latin typeface="微软雅黑" panose="020B0503020204020204" charset="-122"/>
              <a:ea typeface="微软雅黑" panose="020B0503020204020204" charset="-122"/>
              <a:cs typeface="微软雅黑" panose="020B0503020204020204" charset="-122"/>
            </a:endParaRPr>
          </a:p>
        </p:txBody>
      </p:sp>
      <p:sp>
        <p:nvSpPr>
          <p:cNvPr id="74" name="object 74"/>
          <p:cNvSpPr/>
          <p:nvPr/>
        </p:nvSpPr>
        <p:spPr>
          <a:xfrm>
            <a:off x="8453732" y="536862"/>
            <a:ext cx="0" cy="179578"/>
          </a:xfrm>
          <a:custGeom>
            <a:avLst/>
            <a:gdLst/>
            <a:ahLst/>
            <a:cxnLst/>
            <a:rect l="l" t="t" r="r" b="b"/>
            <a:pathLst>
              <a:path h="179704">
                <a:moveTo>
                  <a:pt x="0" y="0"/>
                </a:moveTo>
                <a:lnTo>
                  <a:pt x="0" y="179450"/>
                </a:lnTo>
              </a:path>
            </a:pathLst>
          </a:custGeom>
          <a:ln w="9525">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5" name="object 75"/>
          <p:cNvSpPr/>
          <p:nvPr/>
        </p:nvSpPr>
        <p:spPr>
          <a:xfrm>
            <a:off x="8454493" y="717328"/>
            <a:ext cx="281106" cy="0"/>
          </a:xfrm>
          <a:custGeom>
            <a:avLst/>
            <a:gdLst/>
            <a:ahLst/>
            <a:cxnLst/>
            <a:rect l="l" t="t" r="r" b="b"/>
            <a:pathLst>
              <a:path w="281304">
                <a:moveTo>
                  <a:pt x="0" y="0"/>
                </a:moveTo>
                <a:lnTo>
                  <a:pt x="280924" y="0"/>
                </a:lnTo>
              </a:path>
            </a:pathLst>
          </a:custGeom>
          <a:ln w="25400">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6" name="object 76"/>
          <p:cNvSpPr txBox="1"/>
          <p:nvPr/>
        </p:nvSpPr>
        <p:spPr>
          <a:xfrm>
            <a:off x="6850078" y="2252432"/>
            <a:ext cx="639445" cy="215747"/>
          </a:xfrm>
          <a:prstGeom prst="rect">
            <a:avLst/>
          </a:prstGeom>
        </p:spPr>
        <p:txBody>
          <a:bodyPr vert="vert" wrap="square" lIns="0" tIns="23478" rIns="0" bIns="0" rtlCol="0">
            <a:spAutoFit/>
          </a:bodyPr>
          <a:lstStyle/>
          <a:p>
            <a:pPr marL="12700">
              <a:lnSpc>
                <a:spcPts val="1710"/>
              </a:lnSpc>
              <a:spcBef>
                <a:spcPts val="185"/>
              </a:spcBef>
            </a:pPr>
            <a:r>
              <a:rPr sz="1500" dirty="0">
                <a:latin typeface="微软雅黑" panose="020B0503020204020204" charset="-122"/>
                <a:ea typeface="微软雅黑" panose="020B0503020204020204" charset="-122"/>
                <a:cs typeface="微软雅黑" panose="020B0503020204020204" charset="-122"/>
              </a:rPr>
              <a:t>・</a:t>
            </a:r>
            <a:endParaRPr sz="1500">
              <a:latin typeface="微软雅黑" panose="020B0503020204020204" charset="-122"/>
              <a:ea typeface="微软雅黑" panose="020B0503020204020204" charset="-122"/>
              <a:cs typeface="微软雅黑" panose="020B0503020204020204" charset="-122"/>
            </a:endParaRPr>
          </a:p>
          <a:p>
            <a:pPr marL="12700">
              <a:lnSpc>
                <a:spcPts val="1595"/>
              </a:lnSpc>
            </a:pPr>
            <a:r>
              <a:rPr sz="1500" dirty="0">
                <a:latin typeface="微软雅黑" panose="020B0503020204020204" charset="-122"/>
                <a:ea typeface="微软雅黑" panose="020B0503020204020204" charset="-122"/>
                <a:cs typeface="微软雅黑" panose="020B0503020204020204" charset="-122"/>
              </a:rPr>
              <a:t>・</a:t>
            </a:r>
            <a:endParaRPr sz="1500">
              <a:latin typeface="微软雅黑" panose="020B0503020204020204" charset="-122"/>
              <a:ea typeface="微软雅黑" panose="020B0503020204020204" charset="-122"/>
              <a:cs typeface="微软雅黑" panose="020B0503020204020204" charset="-122"/>
            </a:endParaRPr>
          </a:p>
          <a:p>
            <a:pPr marL="12700">
              <a:lnSpc>
                <a:spcPts val="1685"/>
              </a:lnSpc>
            </a:pPr>
            <a:r>
              <a:rPr sz="1500" dirty="0">
                <a:latin typeface="微软雅黑" panose="020B0503020204020204" charset="-122"/>
                <a:ea typeface="微软雅黑" panose="020B0503020204020204" charset="-122"/>
                <a:cs typeface="微软雅黑" panose="020B0503020204020204" charset="-122"/>
              </a:rPr>
              <a:t>・</a:t>
            </a:r>
            <a:endParaRPr sz="1500">
              <a:latin typeface="微软雅黑" panose="020B0503020204020204" charset="-122"/>
              <a:ea typeface="微软雅黑" panose="020B0503020204020204" charset="-122"/>
              <a:cs typeface="微软雅黑" panose="020B0503020204020204" charset="-122"/>
            </a:endParaRPr>
          </a:p>
        </p:txBody>
      </p:sp>
      <p:sp>
        <p:nvSpPr>
          <p:cNvPr id="77" name="object 77"/>
          <p:cNvSpPr/>
          <p:nvPr/>
        </p:nvSpPr>
        <p:spPr>
          <a:xfrm>
            <a:off x="6512008" y="1753675"/>
            <a:ext cx="466394" cy="263973"/>
          </a:xfrm>
          <a:custGeom>
            <a:avLst/>
            <a:gdLst/>
            <a:ahLst/>
            <a:cxnLst/>
            <a:rect l="l" t="t" r="r" b="b"/>
            <a:pathLst>
              <a:path w="466725" h="264160">
                <a:moveTo>
                  <a:pt x="0" y="263651"/>
                </a:moveTo>
                <a:lnTo>
                  <a:pt x="466344" y="263651"/>
                </a:lnTo>
                <a:lnTo>
                  <a:pt x="466344" y="0"/>
                </a:lnTo>
                <a:lnTo>
                  <a:pt x="0" y="0"/>
                </a:lnTo>
                <a:lnTo>
                  <a:pt x="0" y="263651"/>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8" name="object 78"/>
          <p:cNvSpPr/>
          <p:nvPr/>
        </p:nvSpPr>
        <p:spPr>
          <a:xfrm>
            <a:off x="6512008" y="1753675"/>
            <a:ext cx="466394" cy="263973"/>
          </a:xfrm>
          <a:custGeom>
            <a:avLst/>
            <a:gdLst/>
            <a:ahLst/>
            <a:cxnLst/>
            <a:rect l="l" t="t" r="r" b="b"/>
            <a:pathLst>
              <a:path w="466725" h="264160">
                <a:moveTo>
                  <a:pt x="0" y="263651"/>
                </a:moveTo>
                <a:lnTo>
                  <a:pt x="466344" y="263651"/>
                </a:lnTo>
                <a:lnTo>
                  <a:pt x="466344" y="0"/>
                </a:lnTo>
                <a:lnTo>
                  <a:pt x="0" y="0"/>
                </a:lnTo>
                <a:lnTo>
                  <a:pt x="0" y="263651"/>
                </a:lnTo>
                <a:close/>
              </a:path>
            </a:pathLst>
          </a:custGeom>
          <a:ln w="952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9" name="object 79"/>
          <p:cNvSpPr txBox="1"/>
          <p:nvPr/>
        </p:nvSpPr>
        <p:spPr>
          <a:xfrm>
            <a:off x="6606684" y="1694408"/>
            <a:ext cx="293162" cy="335915"/>
          </a:xfrm>
          <a:prstGeom prst="rect">
            <a:avLst/>
          </a:prstGeom>
        </p:spPr>
        <p:txBody>
          <a:bodyPr vert="horz" wrap="square" lIns="0" tIns="31727" rIns="0" bIns="0" rtlCol="0">
            <a:spAutoFit/>
          </a:bodyPr>
          <a:lstStyle/>
          <a:p>
            <a:pPr marR="5080">
              <a:lnSpc>
                <a:spcPts val="1190"/>
              </a:lnSpc>
              <a:spcBef>
                <a:spcPts val="250"/>
              </a:spcBef>
            </a:pPr>
            <a:r>
              <a:rPr sz="1100" dirty="0">
                <a:latin typeface="微软雅黑" panose="020B0503020204020204" charset="-122"/>
                <a:ea typeface="微软雅黑" panose="020B0503020204020204" charset="-122"/>
                <a:cs typeface="微软雅黑" panose="020B0503020204020204" charset="-122"/>
              </a:rPr>
              <a:t>建筑 队</a:t>
            </a:r>
            <a:endParaRPr sz="1100" dirty="0">
              <a:latin typeface="微软雅黑" panose="020B0503020204020204" charset="-122"/>
              <a:ea typeface="微软雅黑" panose="020B0503020204020204" charset="-122"/>
              <a:cs typeface="微软雅黑" panose="020B0503020204020204" charset="-122"/>
            </a:endParaRPr>
          </a:p>
        </p:txBody>
      </p:sp>
      <p:sp>
        <p:nvSpPr>
          <p:cNvPr id="80" name="object 80"/>
          <p:cNvSpPr txBox="1"/>
          <p:nvPr/>
        </p:nvSpPr>
        <p:spPr>
          <a:xfrm>
            <a:off x="7753188" y="1430816"/>
            <a:ext cx="466394" cy="196850"/>
          </a:xfrm>
          <a:prstGeom prst="rect">
            <a:avLst/>
          </a:prstGeom>
          <a:solidFill>
            <a:srgbClr val="C6DFFA"/>
          </a:solidFill>
          <a:ln w="9525">
            <a:solidFill>
              <a:srgbClr val="000000"/>
            </a:solidFill>
          </a:ln>
        </p:spPr>
        <p:txBody>
          <a:bodyPr vert="horz" wrap="square" lIns="0" tIns="28554" rIns="0" bIns="0" rtlCol="0">
            <a:spAutoFit/>
          </a:bodyPr>
          <a:lstStyle/>
          <a:p>
            <a:pPr marL="59055">
              <a:lnSpc>
                <a:spcPct val="100000"/>
              </a:lnSpc>
              <a:spcBef>
                <a:spcPts val="225"/>
              </a:spcBef>
            </a:pPr>
            <a:r>
              <a:rPr sz="1100" dirty="0">
                <a:latin typeface="微软雅黑" panose="020B0503020204020204" charset="-122"/>
                <a:ea typeface="微软雅黑" panose="020B0503020204020204" charset="-122"/>
                <a:cs typeface="微软雅黑" panose="020B0503020204020204" charset="-122"/>
              </a:rPr>
              <a:t>财</a:t>
            </a:r>
            <a:r>
              <a:rPr sz="1100" spc="215" dirty="0">
                <a:latin typeface="微软雅黑" panose="020B0503020204020204" charset="-122"/>
                <a:ea typeface="微软雅黑" panose="020B0503020204020204" charset="-122"/>
                <a:cs typeface="微软雅黑" panose="020B0503020204020204" charset="-122"/>
              </a:rPr>
              <a:t> </a:t>
            </a:r>
            <a:r>
              <a:rPr sz="1100" dirty="0">
                <a:latin typeface="微软雅黑" panose="020B0503020204020204" charset="-122"/>
                <a:ea typeface="微软雅黑" panose="020B0503020204020204" charset="-122"/>
                <a:cs typeface="微软雅黑" panose="020B0503020204020204" charset="-122"/>
              </a:rPr>
              <a:t>务</a:t>
            </a:r>
            <a:endParaRPr sz="1100">
              <a:latin typeface="微软雅黑" panose="020B0503020204020204" charset="-122"/>
              <a:ea typeface="微软雅黑" panose="020B0503020204020204" charset="-122"/>
              <a:cs typeface="微软雅黑" panose="020B0503020204020204" charset="-122"/>
            </a:endParaRPr>
          </a:p>
        </p:txBody>
      </p:sp>
      <p:sp>
        <p:nvSpPr>
          <p:cNvPr id="81" name="object 81"/>
          <p:cNvSpPr txBox="1"/>
          <p:nvPr/>
        </p:nvSpPr>
        <p:spPr>
          <a:xfrm>
            <a:off x="7131838" y="1753675"/>
            <a:ext cx="467664" cy="197485"/>
          </a:xfrm>
          <a:prstGeom prst="rect">
            <a:avLst/>
          </a:prstGeom>
          <a:solidFill>
            <a:srgbClr val="C6DFFA"/>
          </a:solidFill>
          <a:ln w="9525">
            <a:solidFill>
              <a:srgbClr val="000000"/>
            </a:solidFill>
          </a:ln>
        </p:spPr>
        <p:txBody>
          <a:bodyPr vert="horz" wrap="square" lIns="0" tIns="29188" rIns="0" bIns="0" rtlCol="0">
            <a:spAutoFit/>
          </a:bodyPr>
          <a:lstStyle/>
          <a:p>
            <a:pPr marL="60325">
              <a:lnSpc>
                <a:spcPct val="100000"/>
              </a:lnSpc>
              <a:spcBef>
                <a:spcPts val="230"/>
              </a:spcBef>
            </a:pPr>
            <a:r>
              <a:rPr sz="1100" spc="5" dirty="0">
                <a:latin typeface="微软雅黑" panose="020B0503020204020204" charset="-122"/>
                <a:ea typeface="微软雅黑" panose="020B0503020204020204" charset="-122"/>
                <a:cs typeface="微软雅黑" panose="020B0503020204020204" charset="-122"/>
              </a:rPr>
              <a:t>采</a:t>
            </a:r>
            <a:r>
              <a:rPr sz="1100" spc="210" dirty="0">
                <a:latin typeface="微软雅黑" panose="020B0503020204020204" charset="-122"/>
                <a:ea typeface="微软雅黑" panose="020B0503020204020204" charset="-122"/>
                <a:cs typeface="微软雅黑" panose="020B0503020204020204" charset="-122"/>
              </a:rPr>
              <a:t> </a:t>
            </a:r>
            <a:r>
              <a:rPr sz="1100" spc="5" dirty="0">
                <a:latin typeface="微软雅黑" panose="020B0503020204020204" charset="-122"/>
                <a:ea typeface="微软雅黑" panose="020B0503020204020204" charset="-122"/>
                <a:cs typeface="微软雅黑" panose="020B0503020204020204" charset="-122"/>
              </a:rPr>
              <a:t>购</a:t>
            </a:r>
            <a:endParaRPr sz="1100">
              <a:latin typeface="微软雅黑" panose="020B0503020204020204" charset="-122"/>
              <a:ea typeface="微软雅黑" panose="020B0503020204020204" charset="-122"/>
              <a:cs typeface="微软雅黑" panose="020B0503020204020204" charset="-122"/>
            </a:endParaRPr>
          </a:p>
        </p:txBody>
      </p:sp>
      <p:sp>
        <p:nvSpPr>
          <p:cNvPr id="82" name="object 82"/>
          <p:cNvSpPr/>
          <p:nvPr/>
        </p:nvSpPr>
        <p:spPr>
          <a:xfrm>
            <a:off x="7753188" y="1753675"/>
            <a:ext cx="466394" cy="263973"/>
          </a:xfrm>
          <a:custGeom>
            <a:avLst/>
            <a:gdLst/>
            <a:ahLst/>
            <a:cxnLst/>
            <a:rect l="l" t="t" r="r" b="b"/>
            <a:pathLst>
              <a:path w="466725" h="264160">
                <a:moveTo>
                  <a:pt x="0" y="263651"/>
                </a:moveTo>
                <a:lnTo>
                  <a:pt x="466344" y="263651"/>
                </a:lnTo>
                <a:lnTo>
                  <a:pt x="466344" y="0"/>
                </a:lnTo>
                <a:lnTo>
                  <a:pt x="0" y="0"/>
                </a:lnTo>
                <a:lnTo>
                  <a:pt x="0" y="263651"/>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83" name="object 83"/>
          <p:cNvSpPr/>
          <p:nvPr/>
        </p:nvSpPr>
        <p:spPr>
          <a:xfrm>
            <a:off x="7753188" y="1753675"/>
            <a:ext cx="466394" cy="263973"/>
          </a:xfrm>
          <a:custGeom>
            <a:avLst/>
            <a:gdLst/>
            <a:ahLst/>
            <a:cxnLst/>
            <a:rect l="l" t="t" r="r" b="b"/>
            <a:pathLst>
              <a:path w="466725" h="264160">
                <a:moveTo>
                  <a:pt x="0" y="263651"/>
                </a:moveTo>
                <a:lnTo>
                  <a:pt x="466344" y="263651"/>
                </a:lnTo>
                <a:lnTo>
                  <a:pt x="466344" y="0"/>
                </a:lnTo>
                <a:lnTo>
                  <a:pt x="0" y="0"/>
                </a:lnTo>
                <a:lnTo>
                  <a:pt x="0" y="263651"/>
                </a:lnTo>
                <a:close/>
              </a:path>
            </a:pathLst>
          </a:custGeom>
          <a:ln w="952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84" name="object 84"/>
          <p:cNvSpPr txBox="1"/>
          <p:nvPr/>
        </p:nvSpPr>
        <p:spPr>
          <a:xfrm>
            <a:off x="7847609" y="1694408"/>
            <a:ext cx="293162" cy="335915"/>
          </a:xfrm>
          <a:prstGeom prst="rect">
            <a:avLst/>
          </a:prstGeom>
        </p:spPr>
        <p:txBody>
          <a:bodyPr vert="horz" wrap="square" lIns="0" tIns="31727" rIns="0" bIns="0" rtlCol="0">
            <a:spAutoFit/>
          </a:bodyPr>
          <a:lstStyle/>
          <a:p>
            <a:pPr marR="5080">
              <a:lnSpc>
                <a:spcPts val="1190"/>
              </a:lnSpc>
              <a:spcBef>
                <a:spcPts val="250"/>
              </a:spcBef>
            </a:pPr>
            <a:r>
              <a:rPr sz="1100" dirty="0">
                <a:latin typeface="微软雅黑" panose="020B0503020204020204" charset="-122"/>
                <a:ea typeface="微软雅黑" panose="020B0503020204020204" charset="-122"/>
                <a:cs typeface="微软雅黑" panose="020B0503020204020204" charset="-122"/>
              </a:rPr>
              <a:t>经营 层</a:t>
            </a:r>
            <a:endParaRPr sz="1100" dirty="0">
              <a:latin typeface="微软雅黑" panose="020B0503020204020204" charset="-122"/>
              <a:ea typeface="微软雅黑" panose="020B0503020204020204" charset="-122"/>
              <a:cs typeface="微软雅黑" panose="020B0503020204020204" charset="-122"/>
            </a:endParaRPr>
          </a:p>
        </p:txBody>
      </p:sp>
      <p:sp>
        <p:nvSpPr>
          <p:cNvPr id="85" name="object 85"/>
          <p:cNvSpPr/>
          <p:nvPr/>
        </p:nvSpPr>
        <p:spPr>
          <a:xfrm>
            <a:off x="6707703" y="2017902"/>
            <a:ext cx="668181" cy="163714"/>
          </a:xfrm>
          <a:custGeom>
            <a:avLst/>
            <a:gdLst/>
            <a:ahLst/>
            <a:cxnLst/>
            <a:rect l="l" t="t" r="r" b="b"/>
            <a:pathLst>
              <a:path w="668654" h="163830">
                <a:moveTo>
                  <a:pt x="47625" y="65024"/>
                </a:moveTo>
                <a:lnTo>
                  <a:pt x="28575" y="65024"/>
                </a:lnTo>
                <a:lnTo>
                  <a:pt x="28575" y="163449"/>
                </a:lnTo>
                <a:lnTo>
                  <a:pt x="668401" y="163449"/>
                </a:lnTo>
                <a:lnTo>
                  <a:pt x="668401" y="153924"/>
                </a:lnTo>
                <a:lnTo>
                  <a:pt x="47625" y="153924"/>
                </a:lnTo>
                <a:lnTo>
                  <a:pt x="38100" y="144399"/>
                </a:lnTo>
                <a:lnTo>
                  <a:pt x="47625" y="144399"/>
                </a:lnTo>
                <a:lnTo>
                  <a:pt x="47625" y="65024"/>
                </a:lnTo>
                <a:close/>
              </a:path>
              <a:path w="668654" h="163830">
                <a:moveTo>
                  <a:pt x="47625" y="144399"/>
                </a:moveTo>
                <a:lnTo>
                  <a:pt x="38100" y="144399"/>
                </a:lnTo>
                <a:lnTo>
                  <a:pt x="47625" y="153924"/>
                </a:lnTo>
                <a:lnTo>
                  <a:pt x="47625" y="144399"/>
                </a:lnTo>
                <a:close/>
              </a:path>
              <a:path w="668654" h="163830">
                <a:moveTo>
                  <a:pt x="649351" y="144399"/>
                </a:moveTo>
                <a:lnTo>
                  <a:pt x="47625" y="144399"/>
                </a:lnTo>
                <a:lnTo>
                  <a:pt x="47625" y="153924"/>
                </a:lnTo>
                <a:lnTo>
                  <a:pt x="649351" y="153924"/>
                </a:lnTo>
                <a:lnTo>
                  <a:pt x="649351" y="144399"/>
                </a:lnTo>
                <a:close/>
              </a:path>
              <a:path w="668654" h="163830">
                <a:moveTo>
                  <a:pt x="668401" y="0"/>
                </a:moveTo>
                <a:lnTo>
                  <a:pt x="649351" y="0"/>
                </a:lnTo>
                <a:lnTo>
                  <a:pt x="649351" y="153924"/>
                </a:lnTo>
                <a:lnTo>
                  <a:pt x="658876" y="144399"/>
                </a:lnTo>
                <a:lnTo>
                  <a:pt x="668401" y="144399"/>
                </a:lnTo>
                <a:lnTo>
                  <a:pt x="668401" y="0"/>
                </a:lnTo>
                <a:close/>
              </a:path>
              <a:path w="668654" h="163830">
                <a:moveTo>
                  <a:pt x="668401" y="144399"/>
                </a:moveTo>
                <a:lnTo>
                  <a:pt x="658876" y="144399"/>
                </a:lnTo>
                <a:lnTo>
                  <a:pt x="649351" y="153924"/>
                </a:lnTo>
                <a:lnTo>
                  <a:pt x="668401" y="153924"/>
                </a:lnTo>
                <a:lnTo>
                  <a:pt x="668401" y="144399"/>
                </a:lnTo>
                <a:close/>
              </a:path>
              <a:path w="668654" h="163830">
                <a:moveTo>
                  <a:pt x="38100" y="1524"/>
                </a:moveTo>
                <a:lnTo>
                  <a:pt x="0" y="77724"/>
                </a:lnTo>
                <a:lnTo>
                  <a:pt x="28575" y="77724"/>
                </a:lnTo>
                <a:lnTo>
                  <a:pt x="28575" y="65024"/>
                </a:lnTo>
                <a:lnTo>
                  <a:pt x="69850" y="65024"/>
                </a:lnTo>
                <a:lnTo>
                  <a:pt x="38100" y="1524"/>
                </a:lnTo>
                <a:close/>
              </a:path>
              <a:path w="668654" h="163830">
                <a:moveTo>
                  <a:pt x="69850" y="65024"/>
                </a:moveTo>
                <a:lnTo>
                  <a:pt x="47625" y="65024"/>
                </a:lnTo>
                <a:lnTo>
                  <a:pt x="47625" y="77724"/>
                </a:lnTo>
                <a:lnTo>
                  <a:pt x="76200" y="77724"/>
                </a:lnTo>
                <a:lnTo>
                  <a:pt x="69850" y="65024"/>
                </a:lnTo>
                <a:close/>
              </a:path>
            </a:pathLst>
          </a:custGeom>
          <a:solidFill>
            <a:srgbClr val="00000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86" name="object 86"/>
          <p:cNvSpPr/>
          <p:nvPr/>
        </p:nvSpPr>
        <p:spPr>
          <a:xfrm>
            <a:off x="7356088" y="1524476"/>
            <a:ext cx="396594" cy="230341"/>
          </a:xfrm>
          <a:custGeom>
            <a:avLst/>
            <a:gdLst/>
            <a:ahLst/>
            <a:cxnLst/>
            <a:rect l="l" t="t" r="r" b="b"/>
            <a:pathLst>
              <a:path w="396875" h="230505">
                <a:moveTo>
                  <a:pt x="19050" y="154050"/>
                </a:moveTo>
                <a:lnTo>
                  <a:pt x="0" y="154050"/>
                </a:lnTo>
                <a:lnTo>
                  <a:pt x="0" y="230250"/>
                </a:lnTo>
                <a:lnTo>
                  <a:pt x="19050" y="230250"/>
                </a:lnTo>
                <a:lnTo>
                  <a:pt x="19050" y="154050"/>
                </a:lnTo>
                <a:close/>
              </a:path>
              <a:path w="396875" h="230505">
                <a:moveTo>
                  <a:pt x="26924" y="28575"/>
                </a:moveTo>
                <a:lnTo>
                  <a:pt x="0" y="28575"/>
                </a:lnTo>
                <a:lnTo>
                  <a:pt x="0" y="96900"/>
                </a:lnTo>
                <a:lnTo>
                  <a:pt x="19050" y="96900"/>
                </a:lnTo>
                <a:lnTo>
                  <a:pt x="19050" y="47625"/>
                </a:lnTo>
                <a:lnTo>
                  <a:pt x="9525" y="47625"/>
                </a:lnTo>
                <a:lnTo>
                  <a:pt x="19050" y="38100"/>
                </a:lnTo>
                <a:lnTo>
                  <a:pt x="26924" y="38100"/>
                </a:lnTo>
                <a:lnTo>
                  <a:pt x="26924" y="28575"/>
                </a:lnTo>
                <a:close/>
              </a:path>
              <a:path w="396875" h="230505">
                <a:moveTo>
                  <a:pt x="19050" y="38100"/>
                </a:moveTo>
                <a:lnTo>
                  <a:pt x="9525" y="47625"/>
                </a:lnTo>
                <a:lnTo>
                  <a:pt x="19050" y="47625"/>
                </a:lnTo>
                <a:lnTo>
                  <a:pt x="19050" y="38100"/>
                </a:lnTo>
                <a:close/>
              </a:path>
              <a:path w="396875" h="230505">
                <a:moveTo>
                  <a:pt x="26924" y="38100"/>
                </a:moveTo>
                <a:lnTo>
                  <a:pt x="19050" y="38100"/>
                </a:lnTo>
                <a:lnTo>
                  <a:pt x="19050" y="47625"/>
                </a:lnTo>
                <a:lnTo>
                  <a:pt x="26924" y="47625"/>
                </a:lnTo>
                <a:lnTo>
                  <a:pt x="26924" y="38100"/>
                </a:lnTo>
                <a:close/>
              </a:path>
              <a:path w="396875" h="230505">
                <a:moveTo>
                  <a:pt x="160274" y="28575"/>
                </a:moveTo>
                <a:lnTo>
                  <a:pt x="84074" y="28575"/>
                </a:lnTo>
                <a:lnTo>
                  <a:pt x="84074" y="47625"/>
                </a:lnTo>
                <a:lnTo>
                  <a:pt x="160274" y="47625"/>
                </a:lnTo>
                <a:lnTo>
                  <a:pt x="160274" y="28575"/>
                </a:lnTo>
                <a:close/>
              </a:path>
              <a:path w="396875" h="230505">
                <a:moveTo>
                  <a:pt x="293624" y="28575"/>
                </a:moveTo>
                <a:lnTo>
                  <a:pt x="217424" y="28575"/>
                </a:lnTo>
                <a:lnTo>
                  <a:pt x="217424" y="47625"/>
                </a:lnTo>
                <a:lnTo>
                  <a:pt x="293624" y="47625"/>
                </a:lnTo>
                <a:lnTo>
                  <a:pt x="293624" y="28575"/>
                </a:lnTo>
                <a:close/>
              </a:path>
              <a:path w="396875" h="230505">
                <a:moveTo>
                  <a:pt x="320675" y="0"/>
                </a:moveTo>
                <a:lnTo>
                  <a:pt x="320675" y="76200"/>
                </a:lnTo>
                <a:lnTo>
                  <a:pt x="396875" y="38100"/>
                </a:lnTo>
                <a:lnTo>
                  <a:pt x="320675" y="0"/>
                </a:lnTo>
                <a:close/>
              </a:path>
            </a:pathLst>
          </a:custGeom>
          <a:solidFill>
            <a:srgbClr val="00000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87" name="object 87"/>
          <p:cNvSpPr/>
          <p:nvPr/>
        </p:nvSpPr>
        <p:spPr>
          <a:xfrm>
            <a:off x="6978784" y="1850381"/>
            <a:ext cx="153815" cy="76146"/>
          </a:xfrm>
          <a:prstGeom prst="rect">
            <a:avLst/>
          </a:prstGeom>
          <a:blipFill>
            <a:blip r:embed="rId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88" name="object 88"/>
          <p:cNvSpPr/>
          <p:nvPr/>
        </p:nvSpPr>
        <p:spPr>
          <a:xfrm>
            <a:off x="7600135" y="1850381"/>
            <a:ext cx="153815" cy="76146"/>
          </a:xfrm>
          <a:prstGeom prst="rect">
            <a:avLst/>
          </a:prstGeom>
          <a:blipFill>
            <a:blip r:embed="rId2"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89" name="object 89"/>
          <p:cNvSpPr/>
          <p:nvPr/>
        </p:nvSpPr>
        <p:spPr>
          <a:xfrm>
            <a:off x="4568762" y="2617171"/>
            <a:ext cx="3738770" cy="1583838"/>
          </a:xfrm>
          <a:custGeom>
            <a:avLst/>
            <a:gdLst/>
            <a:ahLst/>
            <a:cxnLst/>
            <a:rect l="l" t="t" r="r" b="b"/>
            <a:pathLst>
              <a:path w="3741420" h="1584960">
                <a:moveTo>
                  <a:pt x="0" y="1584960"/>
                </a:moveTo>
                <a:lnTo>
                  <a:pt x="3741420" y="1584960"/>
                </a:lnTo>
                <a:lnTo>
                  <a:pt x="3741420" y="0"/>
                </a:lnTo>
                <a:lnTo>
                  <a:pt x="0" y="0"/>
                </a:lnTo>
                <a:lnTo>
                  <a:pt x="0" y="1584960"/>
                </a:lnTo>
                <a:close/>
              </a:path>
            </a:pathLst>
          </a:custGeom>
          <a:ln w="952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90" name="object 90"/>
          <p:cNvSpPr/>
          <p:nvPr/>
        </p:nvSpPr>
        <p:spPr>
          <a:xfrm>
            <a:off x="6437385" y="2818197"/>
            <a:ext cx="0" cy="1381416"/>
          </a:xfrm>
          <a:custGeom>
            <a:avLst/>
            <a:gdLst/>
            <a:ahLst/>
            <a:cxnLst/>
            <a:rect l="l" t="t" r="r" b="b"/>
            <a:pathLst>
              <a:path h="1382395">
                <a:moveTo>
                  <a:pt x="0" y="0"/>
                </a:moveTo>
                <a:lnTo>
                  <a:pt x="0" y="1382267"/>
                </a:lnTo>
              </a:path>
            </a:pathLst>
          </a:custGeom>
          <a:ln w="9525">
            <a:solidFill>
              <a:srgbClr val="000000"/>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91" name="object 91"/>
          <p:cNvSpPr txBox="1"/>
          <p:nvPr/>
        </p:nvSpPr>
        <p:spPr>
          <a:xfrm>
            <a:off x="4568762" y="2617171"/>
            <a:ext cx="3738770" cy="190500"/>
          </a:xfrm>
          <a:prstGeom prst="rect">
            <a:avLst/>
          </a:prstGeom>
          <a:solidFill>
            <a:srgbClr val="00295F"/>
          </a:solidFill>
          <a:ln w="9525">
            <a:solidFill>
              <a:srgbClr val="000000"/>
            </a:solidFill>
          </a:ln>
        </p:spPr>
        <p:txBody>
          <a:bodyPr vert="horz" wrap="square" lIns="0" tIns="0" rIns="0" bIns="0" rtlCol="0">
            <a:spAutoFit/>
          </a:bodyPr>
          <a:lstStyle/>
          <a:p>
            <a:pPr marL="72390">
              <a:lnSpc>
                <a:spcPts val="1490"/>
              </a:lnSpc>
            </a:pPr>
            <a:r>
              <a:rPr sz="1500" b="1" spc="5" dirty="0">
                <a:solidFill>
                  <a:srgbClr val="FFFFFF"/>
                </a:solidFill>
                <a:latin typeface="微软雅黑" panose="020B0503020204020204" charset="-122"/>
                <a:ea typeface="微软雅黑" panose="020B0503020204020204" charset="-122"/>
                <a:cs typeface="微软雅黑" panose="020B0503020204020204" charset="-122"/>
              </a:rPr>
              <a:t>顾客需求</a:t>
            </a:r>
            <a:endParaRPr sz="1500" b="1" spc="5"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92" name="object 92"/>
          <p:cNvSpPr/>
          <p:nvPr/>
        </p:nvSpPr>
        <p:spPr>
          <a:xfrm>
            <a:off x="4568762" y="4287815"/>
            <a:ext cx="3738770" cy="1583838"/>
          </a:xfrm>
          <a:custGeom>
            <a:avLst/>
            <a:gdLst/>
            <a:ahLst/>
            <a:cxnLst/>
            <a:rect l="l" t="t" r="r" b="b"/>
            <a:pathLst>
              <a:path w="3741420" h="1584960">
                <a:moveTo>
                  <a:pt x="0" y="1584959"/>
                </a:moveTo>
                <a:lnTo>
                  <a:pt x="3741420" y="1584959"/>
                </a:lnTo>
                <a:lnTo>
                  <a:pt x="3741420" y="0"/>
                </a:lnTo>
                <a:lnTo>
                  <a:pt x="0" y="0"/>
                </a:lnTo>
                <a:lnTo>
                  <a:pt x="0" y="1584959"/>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93" name="object 93"/>
          <p:cNvSpPr/>
          <p:nvPr/>
        </p:nvSpPr>
        <p:spPr>
          <a:xfrm>
            <a:off x="6437385" y="4488841"/>
            <a:ext cx="0" cy="1381416"/>
          </a:xfrm>
          <a:custGeom>
            <a:avLst/>
            <a:gdLst/>
            <a:ahLst/>
            <a:cxnLst/>
            <a:rect l="l" t="t" r="r" b="b"/>
            <a:pathLst>
              <a:path h="1382395">
                <a:moveTo>
                  <a:pt x="0" y="0"/>
                </a:moveTo>
                <a:lnTo>
                  <a:pt x="0" y="1382268"/>
                </a:lnTo>
              </a:path>
            </a:pathLst>
          </a:custGeom>
          <a:ln w="9525">
            <a:solidFill>
              <a:srgbClr val="000000"/>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94" name="object 94"/>
          <p:cNvSpPr txBox="1"/>
          <p:nvPr/>
        </p:nvSpPr>
        <p:spPr>
          <a:xfrm>
            <a:off x="4568762" y="4287815"/>
            <a:ext cx="3738770" cy="191135"/>
          </a:xfrm>
          <a:prstGeom prst="rect">
            <a:avLst/>
          </a:prstGeom>
          <a:solidFill>
            <a:srgbClr val="00295F"/>
          </a:solidFill>
          <a:ln w="9525">
            <a:solidFill>
              <a:srgbClr val="000000"/>
            </a:solidFill>
          </a:ln>
        </p:spPr>
        <p:txBody>
          <a:bodyPr vert="horz" wrap="square" lIns="0" tIns="0" rIns="0" bIns="0" rtlCol="0">
            <a:spAutoFit/>
          </a:bodyPr>
          <a:lstStyle/>
          <a:p>
            <a:pPr marL="72390">
              <a:lnSpc>
                <a:spcPts val="1495"/>
              </a:lnSpc>
            </a:pPr>
            <a:r>
              <a:rPr sz="1500" b="1" spc="5" dirty="0">
                <a:solidFill>
                  <a:srgbClr val="FFFFFF"/>
                </a:solidFill>
                <a:latin typeface="微软雅黑" panose="020B0503020204020204" charset="-122"/>
                <a:ea typeface="微软雅黑" panose="020B0503020204020204" charset="-122"/>
                <a:cs typeface="微软雅黑" panose="020B0503020204020204" charset="-122"/>
              </a:rPr>
              <a:t>风险分析</a:t>
            </a:r>
            <a:endParaRPr sz="1500" b="1" spc="5"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95" name="object 95"/>
          <p:cNvSpPr txBox="1"/>
          <p:nvPr/>
        </p:nvSpPr>
        <p:spPr>
          <a:xfrm>
            <a:off x="6512008" y="2835330"/>
            <a:ext cx="1719631" cy="181610"/>
          </a:xfrm>
          <a:prstGeom prst="rect">
            <a:avLst/>
          </a:prstGeom>
        </p:spPr>
        <p:txBody>
          <a:bodyPr vert="horz" wrap="square" lIns="0" tIns="13325" rIns="0" bIns="0" rtlCol="0">
            <a:spAutoFit/>
          </a:bodyPr>
          <a:lstStyle/>
          <a:p>
            <a:pPr>
              <a:lnSpc>
                <a:spcPct val="100000"/>
              </a:lnSpc>
              <a:spcBef>
                <a:spcPts val="105"/>
              </a:spcBef>
              <a:tabLst>
                <a:tab pos="1706880" algn="l"/>
              </a:tabLst>
            </a:pPr>
            <a:r>
              <a:rPr sz="1100" b="1" u="sng" spc="-270" dirty="0">
                <a:uFill>
                  <a:solidFill>
                    <a:srgbClr val="000000"/>
                  </a:solidFill>
                </a:uFill>
                <a:latin typeface="微软雅黑" panose="020B0503020204020204" charset="-122"/>
                <a:ea typeface="微软雅黑" panose="020B0503020204020204" charset="-122"/>
                <a:cs typeface="微软雅黑" panose="020B0503020204020204" charset="-122"/>
              </a:rPr>
              <a:t> </a:t>
            </a:r>
            <a:r>
              <a:rPr sz="1100" b="1" u="sng" spc="10" dirty="0">
                <a:uFill>
                  <a:solidFill>
                    <a:srgbClr val="000000"/>
                  </a:solidFill>
                </a:uFill>
                <a:latin typeface="微软雅黑" panose="020B0503020204020204" charset="-122"/>
                <a:ea typeface="微软雅黑" panose="020B0503020204020204" charset="-122"/>
                <a:cs typeface="微软雅黑" panose="020B0503020204020204" charset="-122"/>
              </a:rPr>
              <a:t>竞争</a:t>
            </a:r>
            <a:r>
              <a:rPr sz="1100" b="1" u="sng" dirty="0">
                <a:uFill>
                  <a:solidFill>
                    <a:srgbClr val="000000"/>
                  </a:solidFill>
                </a:uFill>
                <a:latin typeface="微软雅黑" panose="020B0503020204020204" charset="-122"/>
                <a:ea typeface="微软雅黑" panose="020B0503020204020204" charset="-122"/>
                <a:cs typeface="微软雅黑" panose="020B0503020204020204" charset="-122"/>
              </a:rPr>
              <a:t>状况	</a:t>
            </a:r>
            <a:endParaRPr sz="1100">
              <a:latin typeface="微软雅黑" panose="020B0503020204020204" charset="-122"/>
              <a:ea typeface="微软雅黑" panose="020B0503020204020204" charset="-122"/>
              <a:cs typeface="微软雅黑" panose="020B0503020204020204" charset="-122"/>
            </a:endParaRPr>
          </a:p>
        </p:txBody>
      </p:sp>
      <p:sp>
        <p:nvSpPr>
          <p:cNvPr id="96" name="object 96"/>
          <p:cNvSpPr/>
          <p:nvPr/>
        </p:nvSpPr>
        <p:spPr>
          <a:xfrm>
            <a:off x="6047327" y="3139342"/>
            <a:ext cx="154195" cy="152672"/>
          </a:xfrm>
          <a:prstGeom prst="rect">
            <a:avLst/>
          </a:prstGeom>
          <a:blipFill>
            <a:blip r:embed="rId3"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97" name="object 97"/>
          <p:cNvSpPr/>
          <p:nvPr/>
        </p:nvSpPr>
        <p:spPr>
          <a:xfrm>
            <a:off x="6047327" y="3393670"/>
            <a:ext cx="154195" cy="154196"/>
          </a:xfrm>
          <a:prstGeom prst="rect">
            <a:avLst/>
          </a:prstGeom>
          <a:blipFill>
            <a:blip r:embed="rId4"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98" name="object 98"/>
          <p:cNvSpPr/>
          <p:nvPr/>
        </p:nvSpPr>
        <p:spPr>
          <a:xfrm>
            <a:off x="6047327" y="3651044"/>
            <a:ext cx="154195" cy="154195"/>
          </a:xfrm>
          <a:prstGeom prst="rect">
            <a:avLst/>
          </a:prstGeom>
          <a:blipFill>
            <a:blip r:embed="rId5"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99" name="object 99"/>
          <p:cNvSpPr/>
          <p:nvPr/>
        </p:nvSpPr>
        <p:spPr>
          <a:xfrm>
            <a:off x="4641862" y="3343605"/>
            <a:ext cx="1708844" cy="0"/>
          </a:xfrm>
          <a:custGeom>
            <a:avLst/>
            <a:gdLst/>
            <a:ahLst/>
            <a:cxnLst/>
            <a:rect l="l" t="t" r="r" b="b"/>
            <a:pathLst>
              <a:path w="1710054">
                <a:moveTo>
                  <a:pt x="0" y="0"/>
                </a:moveTo>
                <a:lnTo>
                  <a:pt x="1709927" y="0"/>
                </a:lnTo>
              </a:path>
            </a:pathLst>
          </a:custGeom>
          <a:ln w="952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00" name="object 100"/>
          <p:cNvSpPr/>
          <p:nvPr/>
        </p:nvSpPr>
        <p:spPr>
          <a:xfrm>
            <a:off x="4641862" y="3599454"/>
            <a:ext cx="1708844" cy="0"/>
          </a:xfrm>
          <a:custGeom>
            <a:avLst/>
            <a:gdLst/>
            <a:ahLst/>
            <a:cxnLst/>
            <a:rect l="l" t="t" r="r" b="b"/>
            <a:pathLst>
              <a:path w="1710054">
                <a:moveTo>
                  <a:pt x="0" y="0"/>
                </a:moveTo>
                <a:lnTo>
                  <a:pt x="1709927" y="0"/>
                </a:lnTo>
              </a:path>
            </a:pathLst>
          </a:custGeom>
          <a:ln w="952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01" name="object 101"/>
          <p:cNvSpPr txBox="1"/>
          <p:nvPr/>
        </p:nvSpPr>
        <p:spPr>
          <a:xfrm>
            <a:off x="5139199" y="3851753"/>
            <a:ext cx="469265" cy="166252"/>
          </a:xfrm>
          <a:prstGeom prst="rect">
            <a:avLst/>
          </a:prstGeom>
        </p:spPr>
        <p:txBody>
          <a:bodyPr vert="vert" wrap="square" lIns="0" tIns="20940" rIns="0" bIns="0" rtlCol="0">
            <a:spAutoFit/>
          </a:bodyPr>
          <a:lstStyle/>
          <a:p>
            <a:pPr marL="12700">
              <a:lnSpc>
                <a:spcPts val="1255"/>
              </a:lnSpc>
              <a:spcBef>
                <a:spcPts val="165"/>
              </a:spcBef>
            </a:pPr>
            <a:r>
              <a:rPr sz="1100" dirty="0">
                <a:latin typeface="微软雅黑" panose="020B0503020204020204" charset="-122"/>
                <a:ea typeface="微软雅黑" panose="020B0503020204020204" charset="-122"/>
                <a:cs typeface="微软雅黑" panose="020B0503020204020204" charset="-122"/>
              </a:rPr>
              <a:t>・</a:t>
            </a:r>
            <a:endParaRPr sz="1100">
              <a:latin typeface="微软雅黑" panose="020B0503020204020204" charset="-122"/>
              <a:ea typeface="微软雅黑" panose="020B0503020204020204" charset="-122"/>
              <a:cs typeface="微软雅黑" panose="020B0503020204020204" charset="-122"/>
            </a:endParaRPr>
          </a:p>
          <a:p>
            <a:pPr marL="12700">
              <a:lnSpc>
                <a:spcPts val="1170"/>
              </a:lnSpc>
            </a:pPr>
            <a:r>
              <a:rPr sz="1100" dirty="0">
                <a:latin typeface="微软雅黑" panose="020B0503020204020204" charset="-122"/>
                <a:ea typeface="微软雅黑" panose="020B0503020204020204" charset="-122"/>
                <a:cs typeface="微软雅黑" panose="020B0503020204020204" charset="-122"/>
              </a:rPr>
              <a:t>・</a:t>
            </a:r>
            <a:endParaRPr sz="1100">
              <a:latin typeface="微软雅黑" panose="020B0503020204020204" charset="-122"/>
              <a:ea typeface="微软雅黑" panose="020B0503020204020204" charset="-122"/>
              <a:cs typeface="微软雅黑" panose="020B0503020204020204" charset="-122"/>
            </a:endParaRPr>
          </a:p>
          <a:p>
            <a:pPr marL="12700">
              <a:lnSpc>
                <a:spcPts val="1235"/>
              </a:lnSpc>
            </a:pPr>
            <a:r>
              <a:rPr sz="1100" dirty="0">
                <a:latin typeface="微软雅黑" panose="020B0503020204020204" charset="-122"/>
                <a:ea typeface="微软雅黑" panose="020B0503020204020204" charset="-122"/>
                <a:cs typeface="微软雅黑" panose="020B0503020204020204" charset="-122"/>
              </a:rPr>
              <a:t>・</a:t>
            </a:r>
            <a:endParaRPr sz="1100">
              <a:latin typeface="微软雅黑" panose="020B0503020204020204" charset="-122"/>
              <a:ea typeface="微软雅黑" panose="020B0503020204020204" charset="-122"/>
              <a:cs typeface="微软雅黑" panose="020B0503020204020204" charset="-122"/>
            </a:endParaRPr>
          </a:p>
        </p:txBody>
      </p:sp>
      <p:sp>
        <p:nvSpPr>
          <p:cNvPr id="102" name="object 102"/>
          <p:cNvSpPr txBox="1"/>
          <p:nvPr/>
        </p:nvSpPr>
        <p:spPr>
          <a:xfrm>
            <a:off x="5121676" y="4614735"/>
            <a:ext cx="167005" cy="855374"/>
          </a:xfrm>
          <a:prstGeom prst="rect">
            <a:avLst/>
          </a:prstGeom>
        </p:spPr>
        <p:txBody>
          <a:bodyPr vert="vert" wrap="square" lIns="0" tIns="0" rIns="0" bIns="0" rtlCol="0">
            <a:spAutoFit/>
          </a:bodyPr>
          <a:lstStyle/>
          <a:p>
            <a:pPr marL="12700">
              <a:lnSpc>
                <a:spcPts val="1305"/>
              </a:lnSpc>
              <a:tabLst>
                <a:tab pos="842010" algn="l"/>
              </a:tabLst>
            </a:pPr>
            <a:r>
              <a:rPr sz="1100" u="sng" dirty="0">
                <a:uFill>
                  <a:solidFill>
                    <a:srgbClr val="000000"/>
                  </a:solidFill>
                </a:uFill>
                <a:latin typeface="微软雅黑" panose="020B0503020204020204" charset="-122"/>
                <a:ea typeface="微软雅黑" panose="020B0503020204020204" charset="-122"/>
                <a:cs typeface="Times New Roman" panose="02020603050405020304"/>
              </a:rPr>
              <a:t> 	</a:t>
            </a:r>
            <a:endParaRPr sz="1100" u="sng" dirty="0">
              <a:uFill>
                <a:solidFill>
                  <a:srgbClr val="000000"/>
                </a:solidFill>
              </a:uFill>
              <a:latin typeface="微软雅黑" panose="020B0503020204020204" charset="-122"/>
              <a:ea typeface="微软雅黑" panose="020B0503020204020204" charset="-122"/>
              <a:cs typeface="Times New Roman" panose="02020603050405020304"/>
            </a:endParaRPr>
          </a:p>
        </p:txBody>
      </p:sp>
      <p:sp>
        <p:nvSpPr>
          <p:cNvPr id="103" name="object 103"/>
          <p:cNvSpPr txBox="1"/>
          <p:nvPr/>
        </p:nvSpPr>
        <p:spPr>
          <a:xfrm>
            <a:off x="4573521" y="2779063"/>
            <a:ext cx="1859232" cy="1031875"/>
          </a:xfrm>
          <a:prstGeom prst="rect">
            <a:avLst/>
          </a:prstGeom>
        </p:spPr>
        <p:txBody>
          <a:bodyPr vert="horz" wrap="square" lIns="0" tIns="69165" rIns="0" bIns="0" rtlCol="0">
            <a:spAutoFit/>
          </a:bodyPr>
          <a:lstStyle/>
          <a:p>
            <a:pPr marL="68580">
              <a:lnSpc>
                <a:spcPct val="100000"/>
              </a:lnSpc>
              <a:spcBef>
                <a:spcPts val="545"/>
              </a:spcBef>
              <a:tabLst>
                <a:tab pos="1190625" algn="l"/>
              </a:tabLst>
            </a:pPr>
            <a:r>
              <a:rPr sz="1100" b="1" u="sng" spc="5" dirty="0">
                <a:uFill>
                  <a:solidFill>
                    <a:srgbClr val="000000"/>
                  </a:solidFill>
                </a:uFill>
                <a:latin typeface="微软雅黑" panose="020B0503020204020204" charset="-122"/>
                <a:ea typeface="微软雅黑" panose="020B0503020204020204" charset="-122"/>
                <a:cs typeface="微软雅黑" panose="020B0503020204020204" charset="-122"/>
              </a:rPr>
              <a:t>KBF	 </a:t>
            </a:r>
            <a:r>
              <a:rPr sz="1100" b="1" u="sng" spc="10" dirty="0">
                <a:uFill>
                  <a:solidFill>
                    <a:srgbClr val="000000"/>
                  </a:solidFill>
                </a:uFill>
                <a:latin typeface="微软雅黑" panose="020B0503020204020204" charset="-122"/>
                <a:ea typeface="微软雅黑" panose="020B0503020204020204" charset="-122"/>
                <a:cs typeface="微软雅黑" panose="020B0503020204020204" charset="-122"/>
              </a:rPr>
              <a:t>重要</a:t>
            </a:r>
            <a:r>
              <a:rPr sz="1100" b="1" u="sng" dirty="0">
                <a:uFill>
                  <a:solidFill>
                    <a:srgbClr val="000000"/>
                  </a:solidFill>
                </a:uFill>
                <a:latin typeface="微软雅黑" panose="020B0503020204020204" charset="-122"/>
                <a:ea typeface="微软雅黑" panose="020B0503020204020204" charset="-122"/>
                <a:cs typeface="微软雅黑" panose="020B0503020204020204" charset="-122"/>
              </a:rPr>
              <a:t>性</a:t>
            </a:r>
            <a:r>
              <a:rPr sz="1100" b="1" u="sng" spc="-100" dirty="0">
                <a:uFill>
                  <a:solidFill>
                    <a:srgbClr val="000000"/>
                  </a:solidFill>
                </a:uFill>
                <a:latin typeface="微软雅黑" panose="020B0503020204020204" charset="-122"/>
                <a:ea typeface="微软雅黑" panose="020B0503020204020204" charset="-122"/>
                <a:cs typeface="微软雅黑" panose="020B0503020204020204" charset="-122"/>
              </a:rPr>
              <a:t> </a:t>
            </a:r>
            <a:endParaRPr sz="1100">
              <a:latin typeface="微软雅黑" panose="020B0503020204020204" charset="-122"/>
              <a:ea typeface="微软雅黑" panose="020B0503020204020204" charset="-122"/>
              <a:cs typeface="微软雅黑" panose="020B0503020204020204" charset="-122"/>
            </a:endParaRPr>
          </a:p>
          <a:p>
            <a:pPr marL="160020" indent="-90170">
              <a:lnSpc>
                <a:spcPct val="100000"/>
              </a:lnSpc>
              <a:spcBef>
                <a:spcPts val="835"/>
              </a:spcBef>
              <a:buClr>
                <a:srgbClr val="00295F"/>
              </a:buClr>
              <a:buSzPct val="123000"/>
              <a:buFont typeface="Arial" panose="020B0604020202020204"/>
              <a:buChar char="▪"/>
              <a:tabLst>
                <a:tab pos="160655" algn="l"/>
              </a:tabLst>
            </a:pPr>
            <a:r>
              <a:rPr sz="1100" dirty="0">
                <a:latin typeface="微软雅黑" panose="020B0503020204020204" charset="-122"/>
                <a:ea typeface="微软雅黑" panose="020B0503020204020204" charset="-122"/>
                <a:cs typeface="微软雅黑" panose="020B0503020204020204" charset="-122"/>
              </a:rPr>
              <a:t>售后服务</a:t>
            </a:r>
            <a:endParaRPr sz="1100">
              <a:latin typeface="微软雅黑" panose="020B0503020204020204" charset="-122"/>
              <a:ea typeface="微软雅黑" panose="020B0503020204020204" charset="-122"/>
              <a:cs typeface="微软雅黑" panose="020B0503020204020204" charset="-122"/>
            </a:endParaRPr>
          </a:p>
          <a:p>
            <a:pPr marL="160020" indent="-90170">
              <a:lnSpc>
                <a:spcPct val="100000"/>
              </a:lnSpc>
              <a:spcBef>
                <a:spcPts val="695"/>
              </a:spcBef>
              <a:buClr>
                <a:srgbClr val="00295F"/>
              </a:buClr>
              <a:buSzPct val="123000"/>
              <a:buFont typeface="Arial" panose="020B0604020202020204"/>
              <a:buChar char="▪"/>
              <a:tabLst>
                <a:tab pos="160655" algn="l"/>
              </a:tabLst>
            </a:pPr>
            <a:r>
              <a:rPr sz="1100" dirty="0">
                <a:latin typeface="微软雅黑" panose="020B0503020204020204" charset="-122"/>
                <a:ea typeface="微软雅黑" panose="020B0503020204020204" charset="-122"/>
                <a:cs typeface="微软雅黑" panose="020B0503020204020204" charset="-122"/>
              </a:rPr>
              <a:t>价格</a:t>
            </a:r>
            <a:endParaRPr sz="1100">
              <a:latin typeface="微软雅黑" panose="020B0503020204020204" charset="-122"/>
              <a:ea typeface="微软雅黑" panose="020B0503020204020204" charset="-122"/>
              <a:cs typeface="微软雅黑" panose="020B0503020204020204" charset="-122"/>
            </a:endParaRPr>
          </a:p>
          <a:p>
            <a:pPr marL="160020" indent="-90170">
              <a:lnSpc>
                <a:spcPct val="100000"/>
              </a:lnSpc>
              <a:spcBef>
                <a:spcPts val="705"/>
              </a:spcBef>
              <a:buClr>
                <a:srgbClr val="00295F"/>
              </a:buClr>
              <a:buSzPct val="123000"/>
              <a:buFont typeface="Arial" panose="020B0604020202020204"/>
              <a:buChar char="▪"/>
              <a:tabLst>
                <a:tab pos="160655" algn="l"/>
              </a:tabLst>
            </a:pPr>
            <a:r>
              <a:rPr sz="1100" dirty="0">
                <a:latin typeface="微软雅黑" panose="020B0503020204020204" charset="-122"/>
                <a:ea typeface="微软雅黑" panose="020B0503020204020204" charset="-122"/>
                <a:cs typeface="微软雅黑" panose="020B0503020204020204" charset="-122"/>
              </a:rPr>
              <a:t>交货期</a:t>
            </a:r>
            <a:endParaRPr sz="1100">
              <a:latin typeface="微软雅黑" panose="020B0503020204020204" charset="-122"/>
              <a:ea typeface="微软雅黑" panose="020B0503020204020204" charset="-122"/>
              <a:cs typeface="微软雅黑" panose="020B0503020204020204" charset="-122"/>
            </a:endParaRPr>
          </a:p>
        </p:txBody>
      </p:sp>
      <p:sp>
        <p:nvSpPr>
          <p:cNvPr id="104" name="object 104"/>
          <p:cNvSpPr txBox="1"/>
          <p:nvPr/>
        </p:nvSpPr>
        <p:spPr>
          <a:xfrm>
            <a:off x="7235141" y="3103998"/>
            <a:ext cx="281106" cy="942975"/>
          </a:xfrm>
          <a:prstGeom prst="rect">
            <a:avLst/>
          </a:prstGeom>
        </p:spPr>
        <p:txBody>
          <a:bodyPr vert="horz" wrap="square" lIns="0" tIns="31727" rIns="0" bIns="0" rtlCol="0">
            <a:spAutoFit/>
          </a:bodyPr>
          <a:lstStyle/>
          <a:p>
            <a:pPr marR="5080">
              <a:lnSpc>
                <a:spcPts val="1190"/>
              </a:lnSpc>
              <a:spcBef>
                <a:spcPts val="250"/>
              </a:spcBef>
            </a:pPr>
            <a:r>
              <a:rPr sz="1100" spc="-5" dirty="0">
                <a:latin typeface="微软雅黑" panose="020B0503020204020204" charset="-122"/>
                <a:ea typeface="微软雅黑" panose="020B0503020204020204" charset="-122"/>
                <a:cs typeface="微软雅黑" panose="020B0503020204020204" charset="-122"/>
              </a:rPr>
              <a:t>xx</a:t>
            </a:r>
            <a:r>
              <a:rPr sz="1100" dirty="0">
                <a:latin typeface="微软雅黑" panose="020B0503020204020204" charset="-122"/>
                <a:ea typeface="微软雅黑" panose="020B0503020204020204" charset="-122"/>
                <a:cs typeface="微软雅黑" panose="020B0503020204020204" charset="-122"/>
              </a:rPr>
              <a:t>台  </a:t>
            </a:r>
            <a:r>
              <a:rPr sz="1100" spc="-5" dirty="0">
                <a:latin typeface="微软雅黑" panose="020B0503020204020204" charset="-122"/>
                <a:ea typeface="微软雅黑" panose="020B0503020204020204" charset="-122"/>
                <a:cs typeface="微软雅黑" panose="020B0503020204020204" charset="-122"/>
              </a:rPr>
              <a:t>xx</a:t>
            </a:r>
            <a:r>
              <a:rPr sz="1100" dirty="0">
                <a:latin typeface="微软雅黑" panose="020B0503020204020204" charset="-122"/>
                <a:ea typeface="微软雅黑" panose="020B0503020204020204" charset="-122"/>
                <a:cs typeface="微软雅黑" panose="020B0503020204020204" charset="-122"/>
              </a:rPr>
              <a:t>台</a:t>
            </a:r>
            <a:endParaRPr sz="1100">
              <a:latin typeface="微软雅黑" panose="020B0503020204020204" charset="-122"/>
              <a:ea typeface="微软雅黑" panose="020B0503020204020204" charset="-122"/>
              <a:cs typeface="微软雅黑" panose="020B0503020204020204" charset="-122"/>
            </a:endParaRPr>
          </a:p>
          <a:p>
            <a:pPr>
              <a:lnSpc>
                <a:spcPct val="100000"/>
              </a:lnSpc>
              <a:spcBef>
                <a:spcPts val="1035"/>
              </a:spcBef>
            </a:pPr>
            <a:r>
              <a:rPr sz="1100" spc="-5" dirty="0">
                <a:latin typeface="微软雅黑" panose="020B0503020204020204" charset="-122"/>
                <a:ea typeface="微软雅黑" panose="020B0503020204020204" charset="-122"/>
                <a:cs typeface="微软雅黑" panose="020B0503020204020204" charset="-122"/>
              </a:rPr>
              <a:t>xx</a:t>
            </a:r>
            <a:r>
              <a:rPr sz="1100" dirty="0">
                <a:latin typeface="微软雅黑" panose="020B0503020204020204" charset="-122"/>
                <a:ea typeface="微软雅黑" panose="020B0503020204020204" charset="-122"/>
                <a:cs typeface="微软雅黑" panose="020B0503020204020204" charset="-122"/>
              </a:rPr>
              <a:t>台</a:t>
            </a:r>
            <a:endParaRPr sz="1100">
              <a:latin typeface="微软雅黑" panose="020B0503020204020204" charset="-122"/>
              <a:ea typeface="微软雅黑" panose="020B0503020204020204" charset="-122"/>
              <a:cs typeface="微软雅黑" panose="020B0503020204020204" charset="-122"/>
            </a:endParaRPr>
          </a:p>
        </p:txBody>
      </p:sp>
      <p:sp>
        <p:nvSpPr>
          <p:cNvPr id="105" name="object 105"/>
          <p:cNvSpPr/>
          <p:nvPr/>
        </p:nvSpPr>
        <p:spPr>
          <a:xfrm>
            <a:off x="6592723" y="3556814"/>
            <a:ext cx="388345" cy="213209"/>
          </a:xfrm>
          <a:custGeom>
            <a:avLst/>
            <a:gdLst/>
            <a:ahLst/>
            <a:cxnLst/>
            <a:rect l="l" t="t" r="r" b="b"/>
            <a:pathLst>
              <a:path w="388620" h="213360">
                <a:moveTo>
                  <a:pt x="194309" y="0"/>
                </a:moveTo>
                <a:lnTo>
                  <a:pt x="132892" y="5437"/>
                </a:lnTo>
                <a:lnTo>
                  <a:pt x="79552" y="20580"/>
                </a:lnTo>
                <a:lnTo>
                  <a:pt x="37490" y="43671"/>
                </a:lnTo>
                <a:lnTo>
                  <a:pt x="9905" y="72956"/>
                </a:lnTo>
                <a:lnTo>
                  <a:pt x="0" y="106680"/>
                </a:lnTo>
                <a:lnTo>
                  <a:pt x="9905" y="140403"/>
                </a:lnTo>
                <a:lnTo>
                  <a:pt x="37490" y="169688"/>
                </a:lnTo>
                <a:lnTo>
                  <a:pt x="79552" y="192779"/>
                </a:lnTo>
                <a:lnTo>
                  <a:pt x="132892" y="207922"/>
                </a:lnTo>
                <a:lnTo>
                  <a:pt x="194309" y="213360"/>
                </a:lnTo>
                <a:lnTo>
                  <a:pt x="255727" y="207922"/>
                </a:lnTo>
                <a:lnTo>
                  <a:pt x="309067" y="192779"/>
                </a:lnTo>
                <a:lnTo>
                  <a:pt x="351129" y="169688"/>
                </a:lnTo>
                <a:lnTo>
                  <a:pt x="378714" y="140403"/>
                </a:lnTo>
                <a:lnTo>
                  <a:pt x="388620" y="106680"/>
                </a:lnTo>
                <a:lnTo>
                  <a:pt x="378714" y="72956"/>
                </a:lnTo>
                <a:lnTo>
                  <a:pt x="351129" y="43671"/>
                </a:lnTo>
                <a:lnTo>
                  <a:pt x="309067" y="20580"/>
                </a:lnTo>
                <a:lnTo>
                  <a:pt x="255727" y="5437"/>
                </a:lnTo>
                <a:lnTo>
                  <a:pt x="194309" y="0"/>
                </a:lnTo>
                <a:close/>
              </a:path>
            </a:pathLst>
          </a:custGeom>
          <a:solidFill>
            <a:srgbClr val="D0D0D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06" name="object 106"/>
          <p:cNvSpPr/>
          <p:nvPr/>
        </p:nvSpPr>
        <p:spPr>
          <a:xfrm>
            <a:off x="6592723" y="3556814"/>
            <a:ext cx="388345" cy="213209"/>
          </a:xfrm>
          <a:custGeom>
            <a:avLst/>
            <a:gdLst/>
            <a:ahLst/>
            <a:cxnLst/>
            <a:rect l="l" t="t" r="r" b="b"/>
            <a:pathLst>
              <a:path w="388620" h="213360">
                <a:moveTo>
                  <a:pt x="0" y="106680"/>
                </a:moveTo>
                <a:lnTo>
                  <a:pt x="37490" y="43671"/>
                </a:lnTo>
                <a:lnTo>
                  <a:pt x="79552" y="20580"/>
                </a:lnTo>
                <a:lnTo>
                  <a:pt x="132892" y="5437"/>
                </a:lnTo>
                <a:lnTo>
                  <a:pt x="194309" y="0"/>
                </a:lnTo>
                <a:lnTo>
                  <a:pt x="255727" y="5437"/>
                </a:lnTo>
                <a:lnTo>
                  <a:pt x="309067" y="20580"/>
                </a:lnTo>
                <a:lnTo>
                  <a:pt x="351129" y="43671"/>
                </a:lnTo>
                <a:lnTo>
                  <a:pt x="378714" y="72956"/>
                </a:lnTo>
                <a:lnTo>
                  <a:pt x="388620" y="106680"/>
                </a:lnTo>
                <a:lnTo>
                  <a:pt x="378714" y="140403"/>
                </a:lnTo>
                <a:lnTo>
                  <a:pt x="351129" y="169688"/>
                </a:lnTo>
                <a:lnTo>
                  <a:pt x="309067" y="192779"/>
                </a:lnTo>
                <a:lnTo>
                  <a:pt x="255727" y="207922"/>
                </a:lnTo>
                <a:lnTo>
                  <a:pt x="194309" y="213360"/>
                </a:lnTo>
                <a:lnTo>
                  <a:pt x="132892" y="207922"/>
                </a:lnTo>
                <a:lnTo>
                  <a:pt x="79552" y="192779"/>
                </a:lnTo>
                <a:lnTo>
                  <a:pt x="37490" y="169688"/>
                </a:lnTo>
                <a:lnTo>
                  <a:pt x="9905" y="140403"/>
                </a:lnTo>
                <a:lnTo>
                  <a:pt x="0" y="106680"/>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7" name="object 107"/>
          <p:cNvSpPr txBox="1"/>
          <p:nvPr/>
        </p:nvSpPr>
        <p:spPr>
          <a:xfrm>
            <a:off x="6514801" y="3103998"/>
            <a:ext cx="413727" cy="709295"/>
          </a:xfrm>
          <a:prstGeom prst="rect">
            <a:avLst/>
          </a:prstGeom>
        </p:spPr>
        <p:txBody>
          <a:bodyPr vert="horz" wrap="square" lIns="0" tIns="13325" rIns="0" bIns="0" rtlCol="0">
            <a:spAutoFit/>
          </a:bodyPr>
          <a:lstStyle/>
          <a:p>
            <a:pPr marL="89535" indent="-90170">
              <a:lnSpc>
                <a:spcPts val="1255"/>
              </a:lnSpc>
              <a:spcBef>
                <a:spcPts val="105"/>
              </a:spcBef>
              <a:buClr>
                <a:srgbClr val="00295F"/>
              </a:buClr>
              <a:buSzPct val="123000"/>
              <a:buFont typeface="Arial" panose="020B0604020202020204"/>
              <a:buChar char="▪"/>
              <a:tabLst>
                <a:tab pos="90170" algn="l"/>
              </a:tabLst>
            </a:pPr>
            <a:r>
              <a:rPr sz="1100" dirty="0">
                <a:latin typeface="微软雅黑" panose="020B0503020204020204" charset="-122"/>
                <a:ea typeface="微软雅黑" panose="020B0503020204020204" charset="-122"/>
                <a:cs typeface="微软雅黑" panose="020B0503020204020204" charset="-122"/>
              </a:rPr>
              <a:t>小松:</a:t>
            </a:r>
            <a:endParaRPr sz="1100">
              <a:latin typeface="微软雅黑" panose="020B0503020204020204" charset="-122"/>
              <a:ea typeface="微软雅黑" panose="020B0503020204020204" charset="-122"/>
              <a:cs typeface="微软雅黑" panose="020B0503020204020204" charset="-122"/>
            </a:endParaRPr>
          </a:p>
          <a:p>
            <a:pPr marL="89535" indent="-90170">
              <a:lnSpc>
                <a:spcPts val="1255"/>
              </a:lnSpc>
              <a:buClr>
                <a:srgbClr val="00295F"/>
              </a:buClr>
              <a:buSzPct val="123000"/>
              <a:buFont typeface="Arial" panose="020B0604020202020204"/>
              <a:buChar char="▪"/>
              <a:tabLst>
                <a:tab pos="90170" algn="l"/>
              </a:tabLst>
            </a:pPr>
            <a:r>
              <a:rPr sz="1100" spc="-5" dirty="0">
                <a:latin typeface="微软雅黑" panose="020B0503020204020204" charset="-122"/>
                <a:ea typeface="微软雅黑" panose="020B0503020204020204" charset="-122"/>
                <a:cs typeface="微软雅黑" panose="020B0503020204020204" charset="-122"/>
              </a:rPr>
              <a:t>CAT:</a:t>
            </a:r>
            <a:endParaRPr sz="1100">
              <a:latin typeface="微软雅黑" panose="020B0503020204020204" charset="-122"/>
              <a:ea typeface="微软雅黑" panose="020B0503020204020204" charset="-122"/>
              <a:cs typeface="微软雅黑" panose="020B0503020204020204" charset="-122"/>
            </a:endParaRPr>
          </a:p>
          <a:p>
            <a:pPr marL="203200" marR="62230">
              <a:lnSpc>
                <a:spcPts val="1190"/>
              </a:lnSpc>
              <a:spcBef>
                <a:spcPts val="545"/>
              </a:spcBef>
            </a:pPr>
            <a:r>
              <a:rPr sz="1100" dirty="0">
                <a:latin typeface="微软雅黑" panose="020B0503020204020204" charset="-122"/>
                <a:ea typeface="微软雅黑" panose="020B0503020204020204" charset="-122"/>
                <a:cs typeface="微软雅黑" panose="020B0503020204020204" charset="-122"/>
              </a:rPr>
              <a:t>合 计</a:t>
            </a:r>
            <a:endParaRPr sz="1100">
              <a:latin typeface="微软雅黑" panose="020B0503020204020204" charset="-122"/>
              <a:ea typeface="微软雅黑" panose="020B0503020204020204" charset="-122"/>
              <a:cs typeface="微软雅黑" panose="020B0503020204020204" charset="-122"/>
            </a:endParaRPr>
          </a:p>
        </p:txBody>
      </p:sp>
      <p:sp>
        <p:nvSpPr>
          <p:cNvPr id="108" name="object 108"/>
          <p:cNvSpPr/>
          <p:nvPr/>
        </p:nvSpPr>
        <p:spPr>
          <a:xfrm>
            <a:off x="6512008" y="3486759"/>
            <a:ext cx="1708844" cy="0"/>
          </a:xfrm>
          <a:custGeom>
            <a:avLst/>
            <a:gdLst/>
            <a:ahLst/>
            <a:cxnLst/>
            <a:rect l="l" t="t" r="r" b="b"/>
            <a:pathLst>
              <a:path w="1710054">
                <a:moveTo>
                  <a:pt x="0" y="0"/>
                </a:moveTo>
                <a:lnTo>
                  <a:pt x="1709927" y="0"/>
                </a:lnTo>
              </a:path>
            </a:pathLst>
          </a:custGeom>
          <a:ln w="952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09" name="object 109"/>
          <p:cNvSpPr txBox="1"/>
          <p:nvPr/>
        </p:nvSpPr>
        <p:spPr>
          <a:xfrm>
            <a:off x="7009679" y="3851753"/>
            <a:ext cx="469265" cy="165618"/>
          </a:xfrm>
          <a:prstGeom prst="rect">
            <a:avLst/>
          </a:prstGeom>
        </p:spPr>
        <p:txBody>
          <a:bodyPr vert="vert" wrap="square" lIns="0" tIns="20940" rIns="0" bIns="0" rtlCol="0">
            <a:spAutoFit/>
          </a:bodyPr>
          <a:lstStyle/>
          <a:p>
            <a:pPr marL="12700">
              <a:lnSpc>
                <a:spcPts val="1255"/>
              </a:lnSpc>
              <a:spcBef>
                <a:spcPts val="165"/>
              </a:spcBef>
            </a:pPr>
            <a:r>
              <a:rPr sz="1100" dirty="0">
                <a:latin typeface="微软雅黑" panose="020B0503020204020204" charset="-122"/>
                <a:ea typeface="微软雅黑" panose="020B0503020204020204" charset="-122"/>
                <a:cs typeface="微软雅黑" panose="020B0503020204020204" charset="-122"/>
              </a:rPr>
              <a:t>・</a:t>
            </a:r>
            <a:endParaRPr sz="1100">
              <a:latin typeface="微软雅黑" panose="020B0503020204020204" charset="-122"/>
              <a:ea typeface="微软雅黑" panose="020B0503020204020204" charset="-122"/>
              <a:cs typeface="微软雅黑" panose="020B0503020204020204" charset="-122"/>
            </a:endParaRPr>
          </a:p>
          <a:p>
            <a:pPr marL="12700">
              <a:lnSpc>
                <a:spcPts val="1170"/>
              </a:lnSpc>
            </a:pPr>
            <a:r>
              <a:rPr sz="1100" dirty="0">
                <a:latin typeface="微软雅黑" panose="020B0503020204020204" charset="-122"/>
                <a:ea typeface="微软雅黑" panose="020B0503020204020204" charset="-122"/>
                <a:cs typeface="微软雅黑" panose="020B0503020204020204" charset="-122"/>
              </a:rPr>
              <a:t>・</a:t>
            </a:r>
            <a:endParaRPr sz="1100">
              <a:latin typeface="微软雅黑" panose="020B0503020204020204" charset="-122"/>
              <a:ea typeface="微软雅黑" panose="020B0503020204020204" charset="-122"/>
              <a:cs typeface="微软雅黑" panose="020B0503020204020204" charset="-122"/>
            </a:endParaRPr>
          </a:p>
          <a:p>
            <a:pPr marL="12700">
              <a:lnSpc>
                <a:spcPts val="1235"/>
              </a:lnSpc>
            </a:pPr>
            <a:r>
              <a:rPr sz="1100" dirty="0">
                <a:latin typeface="微软雅黑" panose="020B0503020204020204" charset="-122"/>
                <a:ea typeface="微软雅黑" panose="020B0503020204020204" charset="-122"/>
                <a:cs typeface="微软雅黑" panose="020B0503020204020204" charset="-122"/>
              </a:rPr>
              <a:t>・</a:t>
            </a:r>
            <a:endParaRPr sz="1100">
              <a:latin typeface="微软雅黑" panose="020B0503020204020204" charset="-122"/>
              <a:ea typeface="微软雅黑" panose="020B0503020204020204" charset="-122"/>
              <a:cs typeface="微软雅黑" panose="020B0503020204020204" charset="-122"/>
            </a:endParaRPr>
          </a:p>
        </p:txBody>
      </p:sp>
      <p:graphicFrame>
        <p:nvGraphicFramePr>
          <p:cNvPr id="110" name="object 110"/>
          <p:cNvGraphicFramePr>
            <a:graphicFrameLocks noGrp="1"/>
          </p:cNvGraphicFramePr>
          <p:nvPr/>
        </p:nvGraphicFramePr>
        <p:xfrm>
          <a:off x="5331554" y="4622667"/>
          <a:ext cx="815340" cy="807720"/>
        </p:xfrm>
        <a:graphic>
          <a:graphicData uri="http://schemas.openxmlformats.org/drawingml/2006/table">
            <a:tbl>
              <a:tblPr firstRow="1" bandRow="1">
                <a:tableStyleId>{2D5ABB26-0587-4C30-8999-92F81FD0307C}</a:tableStyleId>
              </a:tblPr>
              <a:tblGrid>
                <a:gridCol w="271780"/>
                <a:gridCol w="271780"/>
                <a:gridCol w="271780"/>
              </a:tblGrid>
              <a:tr h="268605">
                <a:tc>
                  <a:txBody>
                    <a:bodyPr/>
                    <a:lstStyle/>
                    <a:p>
                      <a:pPr>
                        <a:lnSpc>
                          <a:spcPct val="100000"/>
                        </a:lnSpc>
                      </a:pPr>
                      <a:endParaRPr sz="1200">
                        <a:latin typeface="微软雅黑" panose="020B0503020204020204" charset="-122"/>
                        <a:ea typeface="微软雅黑" panose="020B0503020204020204" charset="-122"/>
                        <a:cs typeface="Times New Roman" panose="02020603050405020304"/>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66"/>
                    </a:solidFill>
                  </a:tcPr>
                </a:tc>
                <a:tc>
                  <a:txBody>
                    <a:bodyPr/>
                    <a:lstStyle/>
                    <a:p>
                      <a:pPr>
                        <a:lnSpc>
                          <a:spcPct val="100000"/>
                        </a:lnSpc>
                      </a:pPr>
                      <a:endParaRPr sz="1200">
                        <a:latin typeface="微软雅黑" panose="020B0503020204020204" charset="-122"/>
                        <a:ea typeface="微软雅黑" panose="020B0503020204020204" charset="-122"/>
                        <a:cs typeface="Times New Roman" panose="02020603050405020304"/>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91AFFF"/>
                    </a:solidFill>
                  </a:tcPr>
                </a:tc>
                <a:tc>
                  <a:txBody>
                    <a:bodyPr/>
                    <a:lstStyle/>
                    <a:p>
                      <a:pPr>
                        <a:lnSpc>
                          <a:spcPct val="100000"/>
                        </a:lnSpc>
                      </a:pPr>
                      <a:endParaRPr sz="1200">
                        <a:latin typeface="微软雅黑" panose="020B0503020204020204" charset="-122"/>
                        <a:ea typeface="微软雅黑" panose="020B0503020204020204" charset="-122"/>
                        <a:cs typeface="Times New Roman" panose="02020603050405020304"/>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91AFFF"/>
                    </a:solidFill>
                  </a:tcPr>
                </a:tc>
              </a:tr>
              <a:tr h="269240">
                <a:tc>
                  <a:txBody>
                    <a:bodyPr/>
                    <a:lstStyle/>
                    <a:p>
                      <a:pPr>
                        <a:lnSpc>
                          <a:spcPct val="100000"/>
                        </a:lnSpc>
                      </a:pPr>
                      <a:endParaRPr sz="1200">
                        <a:latin typeface="微软雅黑" panose="020B0503020204020204" charset="-122"/>
                        <a:ea typeface="微软雅黑" panose="020B0503020204020204" charset="-122"/>
                        <a:cs typeface="Times New Roman" panose="02020603050405020304"/>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C6DFFA"/>
                    </a:solidFill>
                  </a:tcPr>
                </a:tc>
                <a:tc>
                  <a:txBody>
                    <a:bodyPr/>
                    <a:lstStyle/>
                    <a:p>
                      <a:pPr>
                        <a:lnSpc>
                          <a:spcPct val="100000"/>
                        </a:lnSpc>
                      </a:pPr>
                      <a:endParaRPr sz="1200">
                        <a:latin typeface="微软雅黑" panose="020B0503020204020204" charset="-122"/>
                        <a:ea typeface="微软雅黑" panose="020B0503020204020204" charset="-122"/>
                        <a:cs typeface="Times New Roman" panose="02020603050405020304"/>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66"/>
                    </a:solidFill>
                  </a:tcPr>
                </a:tc>
                <a:tc>
                  <a:txBody>
                    <a:bodyPr/>
                    <a:lstStyle/>
                    <a:p>
                      <a:pPr>
                        <a:lnSpc>
                          <a:spcPct val="100000"/>
                        </a:lnSpc>
                      </a:pPr>
                      <a:endParaRPr sz="1200">
                        <a:latin typeface="微软雅黑" panose="020B0503020204020204" charset="-122"/>
                        <a:ea typeface="微软雅黑" panose="020B0503020204020204" charset="-122"/>
                        <a:cs typeface="Times New Roman" panose="02020603050405020304"/>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91AFFF"/>
                    </a:solidFill>
                  </a:tcPr>
                </a:tc>
              </a:tr>
              <a:tr h="269875">
                <a:tc>
                  <a:txBody>
                    <a:bodyPr/>
                    <a:lstStyle/>
                    <a:p>
                      <a:pPr>
                        <a:lnSpc>
                          <a:spcPct val="100000"/>
                        </a:lnSpc>
                      </a:pPr>
                      <a:endParaRPr sz="1200">
                        <a:latin typeface="微软雅黑" panose="020B0503020204020204" charset="-122"/>
                        <a:ea typeface="微软雅黑" panose="020B0503020204020204" charset="-122"/>
                        <a:cs typeface="Times New Roman" panose="02020603050405020304"/>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C6DFFA"/>
                    </a:solidFill>
                  </a:tcPr>
                </a:tc>
                <a:tc>
                  <a:txBody>
                    <a:bodyPr/>
                    <a:lstStyle/>
                    <a:p>
                      <a:pPr>
                        <a:lnSpc>
                          <a:spcPct val="100000"/>
                        </a:lnSpc>
                      </a:pPr>
                      <a:endParaRPr sz="1200">
                        <a:latin typeface="微软雅黑" panose="020B0503020204020204" charset="-122"/>
                        <a:ea typeface="微软雅黑" panose="020B0503020204020204" charset="-122"/>
                        <a:cs typeface="Times New Roman" panose="02020603050405020304"/>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C6DFFA"/>
                    </a:solidFill>
                  </a:tcPr>
                </a:tc>
                <a:tc>
                  <a:txBody>
                    <a:bodyPr/>
                    <a:lstStyle/>
                    <a:p>
                      <a:pPr>
                        <a:lnSpc>
                          <a:spcPct val="100000"/>
                        </a:lnSpc>
                      </a:pPr>
                      <a:endParaRPr sz="1200">
                        <a:latin typeface="微软雅黑" panose="020B0503020204020204" charset="-122"/>
                        <a:ea typeface="微软雅黑" panose="020B0503020204020204" charset="-122"/>
                        <a:cs typeface="Times New Roman" panose="02020603050405020304"/>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66"/>
                    </a:solidFill>
                  </a:tcPr>
                </a:tc>
              </a:tr>
            </a:tbl>
          </a:graphicData>
        </a:graphic>
      </p:graphicFrame>
      <p:sp>
        <p:nvSpPr>
          <p:cNvPr id="111" name="object 111"/>
          <p:cNvSpPr txBox="1"/>
          <p:nvPr/>
        </p:nvSpPr>
        <p:spPr>
          <a:xfrm>
            <a:off x="5334790" y="5383506"/>
            <a:ext cx="814128" cy="407035"/>
          </a:xfrm>
          <a:prstGeom prst="rect">
            <a:avLst/>
          </a:prstGeom>
        </p:spPr>
        <p:txBody>
          <a:bodyPr vert="horz" wrap="square" lIns="0" tIns="12691" rIns="0" bIns="0" rtlCol="0">
            <a:spAutoFit/>
          </a:bodyPr>
          <a:lstStyle/>
          <a:p>
            <a:pPr marL="121920" marR="5080" indent="-122555">
              <a:lnSpc>
                <a:spcPct val="117000"/>
              </a:lnSpc>
              <a:spcBef>
                <a:spcPts val="100"/>
              </a:spcBef>
            </a:pPr>
            <a:r>
              <a:rPr sz="1100" u="sng" dirty="0">
                <a:uFill>
                  <a:solidFill>
                    <a:srgbClr val="000000"/>
                  </a:solidFill>
                </a:uFill>
                <a:latin typeface="微软雅黑" panose="020B0503020204020204" charset="-122"/>
                <a:ea typeface="微软雅黑" panose="020B0503020204020204" charset="-122"/>
                <a:cs typeface="微软雅黑" panose="020B0503020204020204" charset="-122"/>
              </a:rPr>
              <a:t> </a:t>
            </a:r>
            <a:r>
              <a:rPr sz="1100" u="sng" spc="-40" dirty="0">
                <a:uFill>
                  <a:solidFill>
                    <a:srgbClr val="000000"/>
                  </a:solidFill>
                </a:uFill>
                <a:latin typeface="微软雅黑" panose="020B0503020204020204" charset="-122"/>
                <a:ea typeface="微软雅黑" panose="020B0503020204020204" charset="-122"/>
                <a:cs typeface="微软雅黑" panose="020B0503020204020204" charset="-122"/>
              </a:rPr>
              <a:t> </a:t>
            </a:r>
            <a:r>
              <a:rPr sz="1100" u="sng" dirty="0">
                <a:uFill>
                  <a:solidFill>
                    <a:srgbClr val="000000"/>
                  </a:solidFill>
                </a:uFill>
                <a:latin typeface="微软雅黑" panose="020B0503020204020204" charset="-122"/>
                <a:ea typeface="微软雅黑" panose="020B0503020204020204" charset="-122"/>
                <a:cs typeface="微软雅黑" panose="020B0503020204020204" charset="-122"/>
              </a:rPr>
              <a:t>小 中</a:t>
            </a:r>
            <a:r>
              <a:rPr sz="1100" u="sng" spc="270" dirty="0">
                <a:uFill>
                  <a:solidFill>
                    <a:srgbClr val="000000"/>
                  </a:solidFill>
                </a:uFill>
                <a:latin typeface="微软雅黑" panose="020B0503020204020204" charset="-122"/>
                <a:ea typeface="微软雅黑" panose="020B0503020204020204" charset="-122"/>
                <a:cs typeface="微软雅黑" panose="020B0503020204020204" charset="-122"/>
              </a:rPr>
              <a:t> </a:t>
            </a:r>
            <a:r>
              <a:rPr sz="1100" u="sng" dirty="0">
                <a:uFill>
                  <a:solidFill>
                    <a:srgbClr val="000000"/>
                  </a:solidFill>
                </a:uFill>
                <a:latin typeface="微软雅黑" panose="020B0503020204020204" charset="-122"/>
                <a:ea typeface="微软雅黑" panose="020B0503020204020204" charset="-122"/>
                <a:cs typeface="微软雅黑" panose="020B0503020204020204" charset="-122"/>
              </a:rPr>
              <a:t>高 </a:t>
            </a:r>
            <a:r>
              <a:rPr sz="1100" b="1" spc="10" dirty="0">
                <a:latin typeface="微软雅黑" panose="020B0503020204020204" charset="-122"/>
                <a:ea typeface="微软雅黑" panose="020B0503020204020204" charset="-122"/>
                <a:cs typeface="微软雅黑" panose="020B0503020204020204" charset="-122"/>
              </a:rPr>
              <a:t>竞争</a:t>
            </a:r>
            <a:r>
              <a:rPr sz="1100" b="1" dirty="0">
                <a:latin typeface="微软雅黑" panose="020B0503020204020204" charset="-122"/>
                <a:ea typeface="微软雅黑" panose="020B0503020204020204" charset="-122"/>
                <a:cs typeface="微软雅黑" panose="020B0503020204020204" charset="-122"/>
              </a:rPr>
              <a:t>风险</a:t>
            </a:r>
            <a:endParaRPr sz="1100">
              <a:latin typeface="微软雅黑" panose="020B0503020204020204" charset="-122"/>
              <a:ea typeface="微软雅黑" panose="020B0503020204020204" charset="-122"/>
              <a:cs typeface="微软雅黑" panose="020B0503020204020204" charset="-122"/>
            </a:endParaRPr>
          </a:p>
        </p:txBody>
      </p:sp>
      <p:sp>
        <p:nvSpPr>
          <p:cNvPr id="112" name="object 112"/>
          <p:cNvSpPr txBox="1"/>
          <p:nvPr/>
        </p:nvSpPr>
        <p:spPr>
          <a:xfrm>
            <a:off x="4909641" y="4813070"/>
            <a:ext cx="441012" cy="549275"/>
          </a:xfrm>
          <a:prstGeom prst="rect">
            <a:avLst/>
          </a:prstGeom>
        </p:spPr>
        <p:txBody>
          <a:bodyPr vert="horz" wrap="square" lIns="0" tIns="111680" rIns="0" bIns="0" rtlCol="0">
            <a:spAutoFit/>
          </a:bodyPr>
          <a:lstStyle/>
          <a:p>
            <a:pPr marL="25400">
              <a:lnSpc>
                <a:spcPct val="100000"/>
              </a:lnSpc>
              <a:spcBef>
                <a:spcPts val="880"/>
              </a:spcBef>
            </a:pPr>
            <a:r>
              <a:rPr sz="1650" b="1" baseline="-35000" dirty="0">
                <a:latin typeface="微软雅黑" panose="020B0503020204020204" charset="-122"/>
                <a:ea typeface="微软雅黑" panose="020B0503020204020204" charset="-122"/>
                <a:cs typeface="微软雅黑" panose="020B0503020204020204" charset="-122"/>
              </a:rPr>
              <a:t>内 </a:t>
            </a:r>
            <a:r>
              <a:rPr sz="1650" b="1" spc="172" baseline="-35000" dirty="0">
                <a:latin typeface="微软雅黑" panose="020B0503020204020204" charset="-122"/>
                <a:ea typeface="微软雅黑" panose="020B0503020204020204" charset="-122"/>
                <a:cs typeface="微软雅黑" panose="020B0503020204020204" charset="-122"/>
              </a:rPr>
              <a:t> </a:t>
            </a:r>
            <a:r>
              <a:rPr sz="1100" dirty="0">
                <a:latin typeface="微软雅黑" panose="020B0503020204020204" charset="-122"/>
                <a:ea typeface="微软雅黑" panose="020B0503020204020204" charset="-122"/>
                <a:cs typeface="微软雅黑" panose="020B0503020204020204" charset="-122"/>
              </a:rPr>
              <a:t>中</a:t>
            </a:r>
            <a:endParaRPr sz="1100">
              <a:latin typeface="微软雅黑" panose="020B0503020204020204" charset="-122"/>
              <a:ea typeface="微软雅黑" panose="020B0503020204020204" charset="-122"/>
              <a:cs typeface="微软雅黑" panose="020B0503020204020204" charset="-122"/>
            </a:endParaRPr>
          </a:p>
          <a:p>
            <a:pPr marL="25400">
              <a:lnSpc>
                <a:spcPct val="100000"/>
              </a:lnSpc>
              <a:spcBef>
                <a:spcPts val="780"/>
              </a:spcBef>
            </a:pPr>
            <a:r>
              <a:rPr sz="1100" b="1" dirty="0">
                <a:latin typeface="微软雅黑" panose="020B0503020204020204" charset="-122"/>
                <a:ea typeface="微软雅黑" panose="020B0503020204020204" charset="-122"/>
                <a:cs typeface="微软雅黑" panose="020B0503020204020204" charset="-122"/>
              </a:rPr>
              <a:t>部 </a:t>
            </a:r>
            <a:r>
              <a:rPr sz="1100" b="1" spc="114" dirty="0">
                <a:latin typeface="微软雅黑" panose="020B0503020204020204" charset="-122"/>
                <a:ea typeface="微软雅黑" panose="020B0503020204020204" charset="-122"/>
                <a:cs typeface="微软雅黑" panose="020B0503020204020204" charset="-122"/>
              </a:rPr>
              <a:t> </a:t>
            </a:r>
            <a:r>
              <a:rPr sz="1100" dirty="0">
                <a:latin typeface="微软雅黑" panose="020B0503020204020204" charset="-122"/>
                <a:ea typeface="微软雅黑" panose="020B0503020204020204" charset="-122"/>
                <a:cs typeface="微软雅黑" panose="020B0503020204020204" charset="-122"/>
              </a:rPr>
              <a:t>低</a:t>
            </a:r>
            <a:endParaRPr sz="1100">
              <a:latin typeface="微软雅黑" panose="020B0503020204020204" charset="-122"/>
              <a:ea typeface="微软雅黑" panose="020B0503020204020204" charset="-122"/>
              <a:cs typeface="微软雅黑" panose="020B0503020204020204" charset="-122"/>
            </a:endParaRPr>
          </a:p>
        </p:txBody>
      </p:sp>
      <p:sp>
        <p:nvSpPr>
          <p:cNvPr id="113" name="object 113"/>
          <p:cNvSpPr txBox="1"/>
          <p:nvPr/>
        </p:nvSpPr>
        <p:spPr>
          <a:xfrm>
            <a:off x="4784255" y="4644940"/>
            <a:ext cx="541271" cy="356235"/>
          </a:xfrm>
          <a:prstGeom prst="rect">
            <a:avLst/>
          </a:prstGeom>
        </p:spPr>
        <p:txBody>
          <a:bodyPr vert="horz" wrap="square" lIns="0" tIns="5710" rIns="0" bIns="0" rtlCol="0">
            <a:spAutoFit/>
          </a:bodyPr>
          <a:lstStyle/>
          <a:p>
            <a:pPr marR="5080">
              <a:lnSpc>
                <a:spcPct val="104000"/>
              </a:lnSpc>
              <a:spcBef>
                <a:spcPts val="45"/>
              </a:spcBef>
            </a:pPr>
            <a:r>
              <a:rPr sz="1650" b="1" spc="120" baseline="3000" dirty="0">
                <a:latin typeface="微软雅黑" panose="020B0503020204020204" charset="-122"/>
                <a:ea typeface="微软雅黑" panose="020B0503020204020204" charset="-122"/>
                <a:cs typeface="微软雅黑" panose="020B0503020204020204" charset="-122"/>
              </a:rPr>
              <a:t>风 </a:t>
            </a:r>
            <a:r>
              <a:rPr sz="1650" b="1" baseline="3000" dirty="0">
                <a:latin typeface="微软雅黑" panose="020B0503020204020204" charset="-122"/>
                <a:ea typeface="微软雅黑" panose="020B0503020204020204" charset="-122"/>
                <a:cs typeface="微软雅黑" panose="020B0503020204020204" charset="-122"/>
              </a:rPr>
              <a:t>Ｋ</a:t>
            </a:r>
            <a:r>
              <a:rPr sz="1650" b="1" spc="60" baseline="3000" dirty="0">
                <a:latin typeface="微软雅黑" panose="020B0503020204020204" charset="-122"/>
                <a:ea typeface="微软雅黑" panose="020B0503020204020204" charset="-122"/>
                <a:cs typeface="微软雅黑" panose="020B0503020204020204" charset="-122"/>
              </a:rPr>
              <a:t> </a:t>
            </a:r>
            <a:r>
              <a:rPr sz="1100" dirty="0">
                <a:latin typeface="微软雅黑" panose="020B0503020204020204" charset="-122"/>
                <a:ea typeface="微软雅黑" panose="020B0503020204020204" charset="-122"/>
                <a:cs typeface="微软雅黑" panose="020B0503020204020204" charset="-122"/>
              </a:rPr>
              <a:t>高 </a:t>
            </a:r>
            <a:r>
              <a:rPr sz="1100" b="1" spc="80" dirty="0">
                <a:latin typeface="微软雅黑" panose="020B0503020204020204" charset="-122"/>
                <a:ea typeface="微软雅黑" panose="020B0503020204020204" charset="-122"/>
                <a:cs typeface="微软雅黑" panose="020B0503020204020204" charset="-122"/>
              </a:rPr>
              <a:t>险</a:t>
            </a:r>
            <a:r>
              <a:rPr sz="1100" b="1" dirty="0">
                <a:latin typeface="微软雅黑" panose="020B0503020204020204" charset="-122"/>
                <a:ea typeface="微软雅黑" panose="020B0503020204020204" charset="-122"/>
                <a:cs typeface="微软雅黑" panose="020B0503020204020204" charset="-122"/>
              </a:rPr>
              <a:t>Ａ</a:t>
            </a:r>
            <a:endParaRPr sz="1100">
              <a:latin typeface="微软雅黑" panose="020B0503020204020204" charset="-122"/>
              <a:ea typeface="微软雅黑" panose="020B0503020204020204" charset="-122"/>
              <a:cs typeface="微软雅黑" panose="020B0503020204020204" charset="-122"/>
            </a:endParaRPr>
          </a:p>
        </p:txBody>
      </p:sp>
      <p:sp>
        <p:nvSpPr>
          <p:cNvPr id="114" name="object 114"/>
          <p:cNvSpPr txBox="1"/>
          <p:nvPr/>
        </p:nvSpPr>
        <p:spPr>
          <a:xfrm>
            <a:off x="6442144" y="4433309"/>
            <a:ext cx="1861136" cy="674370"/>
          </a:xfrm>
          <a:prstGeom prst="rect">
            <a:avLst/>
          </a:prstGeom>
        </p:spPr>
        <p:txBody>
          <a:bodyPr vert="horz" wrap="square" lIns="0" tIns="71704" rIns="0" bIns="0" rtlCol="0">
            <a:spAutoFit/>
          </a:bodyPr>
          <a:lstStyle/>
          <a:p>
            <a:pPr marL="69850">
              <a:lnSpc>
                <a:spcPct val="100000"/>
              </a:lnSpc>
              <a:spcBef>
                <a:spcPts val="565"/>
              </a:spcBef>
              <a:tabLst>
                <a:tab pos="1778000" algn="l"/>
              </a:tabLst>
            </a:pPr>
            <a:r>
              <a:rPr sz="1100" b="1" u="sng" spc="-270" dirty="0">
                <a:uFill>
                  <a:solidFill>
                    <a:srgbClr val="000000"/>
                  </a:solidFill>
                </a:uFill>
                <a:latin typeface="微软雅黑" panose="020B0503020204020204" charset="-122"/>
                <a:ea typeface="微软雅黑" panose="020B0503020204020204" charset="-122"/>
                <a:cs typeface="微软雅黑" panose="020B0503020204020204" charset="-122"/>
              </a:rPr>
              <a:t> </a:t>
            </a:r>
            <a:r>
              <a:rPr sz="1100" b="1" u="sng" spc="10" dirty="0">
                <a:uFill>
                  <a:solidFill>
                    <a:srgbClr val="000000"/>
                  </a:solidFill>
                </a:uFill>
                <a:latin typeface="微软雅黑" panose="020B0503020204020204" charset="-122"/>
                <a:ea typeface="微软雅黑" panose="020B0503020204020204" charset="-122"/>
                <a:cs typeface="微软雅黑" panose="020B0503020204020204" charset="-122"/>
              </a:rPr>
              <a:t>竞争</a:t>
            </a:r>
            <a:r>
              <a:rPr sz="1100" b="1" u="sng" dirty="0">
                <a:uFill>
                  <a:solidFill>
                    <a:srgbClr val="000000"/>
                  </a:solidFill>
                </a:uFill>
                <a:latin typeface="微软雅黑" panose="020B0503020204020204" charset="-122"/>
                <a:ea typeface="微软雅黑" panose="020B0503020204020204" charset="-122"/>
                <a:cs typeface="微软雅黑" panose="020B0503020204020204" charset="-122"/>
              </a:rPr>
              <a:t>的跟</a:t>
            </a:r>
            <a:r>
              <a:rPr sz="1100" b="1" u="sng" spc="-15" dirty="0">
                <a:uFill>
                  <a:solidFill>
                    <a:srgbClr val="000000"/>
                  </a:solidFill>
                </a:uFill>
                <a:latin typeface="微软雅黑" panose="020B0503020204020204" charset="-122"/>
                <a:ea typeface="微软雅黑" panose="020B0503020204020204" charset="-122"/>
                <a:cs typeface="微软雅黑" panose="020B0503020204020204" charset="-122"/>
              </a:rPr>
              <a:t>踪</a:t>
            </a:r>
            <a:r>
              <a:rPr sz="1100" b="1" u="sng" dirty="0">
                <a:uFill>
                  <a:solidFill>
                    <a:srgbClr val="000000"/>
                  </a:solidFill>
                </a:uFill>
                <a:latin typeface="微软雅黑" panose="020B0503020204020204" charset="-122"/>
                <a:ea typeface="微软雅黑" panose="020B0503020204020204" charset="-122"/>
                <a:cs typeface="微软雅黑" panose="020B0503020204020204" charset="-122"/>
              </a:rPr>
              <a:t>信息	</a:t>
            </a:r>
            <a:endParaRPr sz="1100">
              <a:latin typeface="微软雅黑" panose="020B0503020204020204" charset="-122"/>
              <a:ea typeface="微软雅黑" panose="020B0503020204020204" charset="-122"/>
              <a:cs typeface="微软雅黑" panose="020B0503020204020204" charset="-122"/>
            </a:endParaRPr>
          </a:p>
          <a:p>
            <a:pPr marL="162560" marR="175260" indent="-90170">
              <a:lnSpc>
                <a:spcPts val="1190"/>
              </a:lnSpc>
              <a:spcBef>
                <a:spcPts val="1005"/>
              </a:spcBef>
              <a:buClr>
                <a:srgbClr val="00295F"/>
              </a:buClr>
              <a:buSzPct val="123000"/>
              <a:buFont typeface="Arial" panose="020B0604020202020204"/>
              <a:buChar char="▪"/>
              <a:tabLst>
                <a:tab pos="163195" algn="l"/>
              </a:tabLst>
            </a:pPr>
            <a:r>
              <a:rPr sz="1100" spc="-5" dirty="0">
                <a:latin typeface="微软雅黑" panose="020B0503020204020204" charset="-122"/>
                <a:ea typeface="微软雅黑" panose="020B0503020204020204" charset="-122"/>
                <a:cs typeface="微软雅黑" panose="020B0503020204020204" charset="-122"/>
              </a:rPr>
              <a:t>xx</a:t>
            </a:r>
            <a:r>
              <a:rPr sz="1100" dirty="0">
                <a:latin typeface="微软雅黑" panose="020B0503020204020204" charset="-122"/>
                <a:ea typeface="微软雅黑" panose="020B0503020204020204" charset="-122"/>
                <a:cs typeface="微软雅黑" panose="020B0503020204020204" charset="-122"/>
              </a:rPr>
              <a:t>月</a:t>
            </a:r>
            <a:r>
              <a:rPr sz="1100" spc="-5" dirty="0">
                <a:latin typeface="微软雅黑" panose="020B0503020204020204" charset="-122"/>
                <a:ea typeface="微软雅黑" panose="020B0503020204020204" charset="-122"/>
                <a:cs typeface="微软雅黑" panose="020B0503020204020204" charset="-122"/>
              </a:rPr>
              <a:t>xx</a:t>
            </a:r>
            <a:r>
              <a:rPr sz="1100" dirty="0">
                <a:latin typeface="微软雅黑" panose="020B0503020204020204" charset="-122"/>
                <a:ea typeface="微软雅黑" panose="020B0503020204020204" charset="-122"/>
                <a:cs typeface="微软雅黑" panose="020B0503020204020204" charset="-122"/>
              </a:rPr>
              <a:t>日，小松给</a:t>
            </a:r>
            <a:r>
              <a:rPr sz="1100" spc="-15" dirty="0">
                <a:latin typeface="微软雅黑" panose="020B0503020204020204" charset="-122"/>
                <a:ea typeface="微软雅黑" panose="020B0503020204020204" charset="-122"/>
                <a:cs typeface="微软雅黑" panose="020B0503020204020204" charset="-122"/>
              </a:rPr>
              <a:t>出</a:t>
            </a:r>
            <a:r>
              <a:rPr sz="1100" dirty="0">
                <a:latin typeface="微软雅黑" panose="020B0503020204020204" charset="-122"/>
                <a:ea typeface="微软雅黑" panose="020B0503020204020204" charset="-122"/>
                <a:cs typeface="微软雅黑" panose="020B0503020204020204" charset="-122"/>
              </a:rPr>
              <a:t>了服 务套餐折扣优惠</a:t>
            </a:r>
            <a:endParaRPr sz="1100">
              <a:latin typeface="微软雅黑" panose="020B0503020204020204" charset="-122"/>
              <a:ea typeface="微软雅黑" panose="020B0503020204020204" charset="-122"/>
              <a:cs typeface="微软雅黑" panose="020B0503020204020204" charset="-122"/>
            </a:endParaRPr>
          </a:p>
        </p:txBody>
      </p:sp>
      <p:sp>
        <p:nvSpPr>
          <p:cNvPr id="115" name="object 115"/>
          <p:cNvSpPr txBox="1"/>
          <p:nvPr/>
        </p:nvSpPr>
        <p:spPr>
          <a:xfrm>
            <a:off x="7009679" y="5230630"/>
            <a:ext cx="469265" cy="165618"/>
          </a:xfrm>
          <a:prstGeom prst="rect">
            <a:avLst/>
          </a:prstGeom>
        </p:spPr>
        <p:txBody>
          <a:bodyPr vert="vert" wrap="square" lIns="0" tIns="20940" rIns="0" bIns="0" rtlCol="0">
            <a:spAutoFit/>
          </a:bodyPr>
          <a:lstStyle/>
          <a:p>
            <a:pPr marL="12700">
              <a:lnSpc>
                <a:spcPts val="1255"/>
              </a:lnSpc>
              <a:spcBef>
                <a:spcPts val="165"/>
              </a:spcBef>
            </a:pPr>
            <a:r>
              <a:rPr sz="1100" dirty="0">
                <a:latin typeface="微软雅黑" panose="020B0503020204020204" charset="-122"/>
                <a:ea typeface="微软雅黑" panose="020B0503020204020204" charset="-122"/>
                <a:cs typeface="微软雅黑" panose="020B0503020204020204" charset="-122"/>
              </a:rPr>
              <a:t>・</a:t>
            </a:r>
            <a:endParaRPr sz="1100">
              <a:latin typeface="微软雅黑" panose="020B0503020204020204" charset="-122"/>
              <a:ea typeface="微软雅黑" panose="020B0503020204020204" charset="-122"/>
              <a:cs typeface="微软雅黑" panose="020B0503020204020204" charset="-122"/>
            </a:endParaRPr>
          </a:p>
          <a:p>
            <a:pPr marL="12700">
              <a:lnSpc>
                <a:spcPts val="1170"/>
              </a:lnSpc>
            </a:pPr>
            <a:r>
              <a:rPr sz="1100" dirty="0">
                <a:latin typeface="微软雅黑" panose="020B0503020204020204" charset="-122"/>
                <a:ea typeface="微软雅黑" panose="020B0503020204020204" charset="-122"/>
                <a:cs typeface="微软雅黑" panose="020B0503020204020204" charset="-122"/>
              </a:rPr>
              <a:t>・</a:t>
            </a:r>
            <a:endParaRPr sz="1100">
              <a:latin typeface="微软雅黑" panose="020B0503020204020204" charset="-122"/>
              <a:ea typeface="微软雅黑" panose="020B0503020204020204" charset="-122"/>
              <a:cs typeface="微软雅黑" panose="020B0503020204020204" charset="-122"/>
            </a:endParaRPr>
          </a:p>
          <a:p>
            <a:pPr marL="12700">
              <a:lnSpc>
                <a:spcPts val="1235"/>
              </a:lnSpc>
            </a:pPr>
            <a:r>
              <a:rPr sz="1100" dirty="0">
                <a:latin typeface="微软雅黑" panose="020B0503020204020204" charset="-122"/>
                <a:ea typeface="微软雅黑" panose="020B0503020204020204" charset="-122"/>
                <a:cs typeface="微软雅黑" panose="020B0503020204020204" charset="-122"/>
              </a:rPr>
              <a:t>・</a:t>
            </a:r>
            <a:endParaRPr sz="1100">
              <a:latin typeface="微软雅黑" panose="020B0503020204020204" charset="-122"/>
              <a:ea typeface="微软雅黑" panose="020B0503020204020204" charset="-122"/>
              <a:cs typeface="微软雅黑" panose="020B0503020204020204" charset="-122"/>
            </a:endParaRPr>
          </a:p>
        </p:txBody>
      </p:sp>
      <p:sp>
        <p:nvSpPr>
          <p:cNvPr id="116" name="object 116"/>
          <p:cNvSpPr/>
          <p:nvPr/>
        </p:nvSpPr>
        <p:spPr>
          <a:xfrm>
            <a:off x="187319" y="6165577"/>
            <a:ext cx="371846" cy="175136"/>
          </a:xfrm>
          <a:custGeom>
            <a:avLst/>
            <a:gdLst/>
            <a:ahLst/>
            <a:cxnLst/>
            <a:rect l="l" t="t" r="r" b="b"/>
            <a:pathLst>
              <a:path w="372109" h="175260">
                <a:moveTo>
                  <a:pt x="349669" y="0"/>
                </a:moveTo>
                <a:lnTo>
                  <a:pt x="48145" y="0"/>
                </a:lnTo>
                <a:lnTo>
                  <a:pt x="35466" y="3718"/>
                </a:lnTo>
                <a:lnTo>
                  <a:pt x="21496" y="12249"/>
                </a:lnTo>
                <a:lnTo>
                  <a:pt x="8813" y="21656"/>
                </a:lnTo>
                <a:lnTo>
                  <a:pt x="0" y="28003"/>
                </a:lnTo>
                <a:lnTo>
                  <a:pt x="0" y="145186"/>
                </a:lnTo>
                <a:lnTo>
                  <a:pt x="12430" y="146111"/>
                </a:lnTo>
                <a:lnTo>
                  <a:pt x="22928" y="147908"/>
                </a:lnTo>
                <a:lnTo>
                  <a:pt x="32566" y="151456"/>
                </a:lnTo>
                <a:lnTo>
                  <a:pt x="42418" y="157632"/>
                </a:lnTo>
                <a:lnTo>
                  <a:pt x="55958" y="164030"/>
                </a:lnTo>
                <a:lnTo>
                  <a:pt x="74229" y="168389"/>
                </a:lnTo>
                <a:lnTo>
                  <a:pt x="114642" y="175259"/>
                </a:lnTo>
                <a:lnTo>
                  <a:pt x="196037" y="175259"/>
                </a:lnTo>
                <a:lnTo>
                  <a:pt x="196037" y="49771"/>
                </a:lnTo>
                <a:lnTo>
                  <a:pt x="349669" y="49771"/>
                </a:lnTo>
                <a:lnTo>
                  <a:pt x="366274" y="41994"/>
                </a:lnTo>
                <a:lnTo>
                  <a:pt x="371595" y="24885"/>
                </a:lnTo>
                <a:lnTo>
                  <a:pt x="365953" y="7776"/>
                </a:lnTo>
                <a:lnTo>
                  <a:pt x="349669" y="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7" name="object 117"/>
          <p:cNvSpPr txBox="1"/>
          <p:nvPr/>
        </p:nvSpPr>
        <p:spPr>
          <a:xfrm>
            <a:off x="783695" y="4269667"/>
            <a:ext cx="3554116" cy="333375"/>
          </a:xfrm>
          <a:prstGeom prst="rect">
            <a:avLst/>
          </a:prstGeom>
        </p:spPr>
        <p:txBody>
          <a:bodyPr vert="horz" wrap="square" lIns="0" tIns="12691" rIns="0" bIns="0" rtlCol="0">
            <a:spAutoFit/>
          </a:bodyPr>
          <a:lstStyle/>
          <a:p>
            <a:pPr>
              <a:lnSpc>
                <a:spcPts val="1255"/>
              </a:lnSpc>
              <a:spcBef>
                <a:spcPts val="100"/>
              </a:spcBef>
            </a:pPr>
            <a:r>
              <a:rPr sz="1100" b="1" spc="10" dirty="0">
                <a:latin typeface="微软雅黑" panose="020B0503020204020204" charset="-122"/>
                <a:ea typeface="微软雅黑" panose="020B0503020204020204" charset="-122"/>
                <a:cs typeface="微软雅黑" panose="020B0503020204020204" charset="-122"/>
              </a:rPr>
              <a:t>各部</a:t>
            </a:r>
            <a:r>
              <a:rPr sz="1100" b="1" dirty="0">
                <a:latin typeface="微软雅黑" panose="020B0503020204020204" charset="-122"/>
                <a:ea typeface="微软雅黑" panose="020B0503020204020204" charset="-122"/>
                <a:cs typeface="微软雅黑" panose="020B0503020204020204" charset="-122"/>
              </a:rPr>
              <a:t>门的</a:t>
            </a:r>
            <a:r>
              <a:rPr sz="1100" b="1" spc="-15" dirty="0">
                <a:latin typeface="微软雅黑" panose="020B0503020204020204" charset="-122"/>
                <a:ea typeface="微软雅黑" panose="020B0503020204020204" charset="-122"/>
                <a:cs typeface="微软雅黑" panose="020B0503020204020204" charset="-122"/>
              </a:rPr>
              <a:t>收</a:t>
            </a:r>
            <a:r>
              <a:rPr sz="1100" b="1" dirty="0">
                <a:latin typeface="微软雅黑" panose="020B0503020204020204" charset="-122"/>
                <a:ea typeface="微软雅黑" panose="020B0503020204020204" charset="-122"/>
                <a:cs typeface="微软雅黑" panose="020B0503020204020204" charset="-122"/>
              </a:rPr>
              <a:t>益状况</a:t>
            </a:r>
            <a:endParaRPr sz="1100">
              <a:latin typeface="微软雅黑" panose="020B0503020204020204" charset="-122"/>
              <a:ea typeface="微软雅黑" panose="020B0503020204020204" charset="-122"/>
              <a:cs typeface="微软雅黑" panose="020B0503020204020204" charset="-122"/>
            </a:endParaRPr>
          </a:p>
          <a:p>
            <a:pPr>
              <a:lnSpc>
                <a:spcPts val="1255"/>
              </a:lnSpc>
              <a:tabLst>
                <a:tab pos="3543300" algn="l"/>
              </a:tabLst>
            </a:pPr>
            <a:r>
              <a:rPr sz="1100" u="sng" spc="-5" dirty="0">
                <a:solidFill>
                  <a:srgbClr val="808080"/>
                </a:solidFill>
                <a:uFill>
                  <a:solidFill>
                    <a:srgbClr val="000000"/>
                  </a:solidFill>
                </a:uFill>
                <a:latin typeface="微软雅黑" panose="020B0503020204020204" charset="-122"/>
                <a:ea typeface="微软雅黑" panose="020B0503020204020204" charset="-122"/>
                <a:cs typeface="微软雅黑" panose="020B0503020204020204" charset="-122"/>
              </a:rPr>
              <a:t>xxx	</a:t>
            </a:r>
            <a:endParaRPr sz="1100">
              <a:latin typeface="微软雅黑" panose="020B0503020204020204" charset="-122"/>
              <a:ea typeface="微软雅黑" panose="020B0503020204020204" charset="-122"/>
              <a:cs typeface="微软雅黑" panose="020B0503020204020204" charset="-122"/>
            </a:endParaRPr>
          </a:p>
        </p:txBody>
      </p:sp>
      <p:sp>
        <p:nvSpPr>
          <p:cNvPr id="118" name="object 118"/>
          <p:cNvSpPr/>
          <p:nvPr/>
        </p:nvSpPr>
        <p:spPr>
          <a:xfrm>
            <a:off x="187319" y="6165577"/>
            <a:ext cx="371846" cy="175136"/>
          </a:xfrm>
          <a:custGeom>
            <a:avLst/>
            <a:gdLst/>
            <a:ahLst/>
            <a:cxnLst/>
            <a:rect l="l" t="t" r="r" b="b"/>
            <a:pathLst>
              <a:path w="372109" h="175260">
                <a:moveTo>
                  <a:pt x="0" y="28003"/>
                </a:moveTo>
                <a:lnTo>
                  <a:pt x="8813" y="21656"/>
                </a:lnTo>
                <a:lnTo>
                  <a:pt x="21496" y="12249"/>
                </a:lnTo>
                <a:lnTo>
                  <a:pt x="35466" y="3718"/>
                </a:lnTo>
                <a:lnTo>
                  <a:pt x="48145" y="0"/>
                </a:lnTo>
                <a:lnTo>
                  <a:pt x="73667" y="0"/>
                </a:lnTo>
                <a:lnTo>
                  <a:pt x="126575" y="0"/>
                </a:lnTo>
                <a:lnTo>
                  <a:pt x="193749" y="0"/>
                </a:lnTo>
                <a:lnTo>
                  <a:pt x="262070" y="0"/>
                </a:lnTo>
                <a:lnTo>
                  <a:pt x="318416" y="0"/>
                </a:lnTo>
                <a:lnTo>
                  <a:pt x="349669" y="0"/>
                </a:lnTo>
                <a:lnTo>
                  <a:pt x="365953" y="7776"/>
                </a:lnTo>
                <a:lnTo>
                  <a:pt x="371595" y="24885"/>
                </a:lnTo>
                <a:lnTo>
                  <a:pt x="366274" y="41994"/>
                </a:lnTo>
                <a:lnTo>
                  <a:pt x="349669" y="49771"/>
                </a:lnTo>
                <a:lnTo>
                  <a:pt x="316314" y="49771"/>
                </a:lnTo>
                <a:lnTo>
                  <a:pt x="270276" y="49771"/>
                </a:lnTo>
                <a:lnTo>
                  <a:pt x="225526" y="49771"/>
                </a:lnTo>
                <a:lnTo>
                  <a:pt x="196037" y="49771"/>
                </a:lnTo>
                <a:lnTo>
                  <a:pt x="196037" y="84404"/>
                </a:lnTo>
                <a:lnTo>
                  <a:pt x="196037" y="116797"/>
                </a:lnTo>
                <a:lnTo>
                  <a:pt x="196037" y="147049"/>
                </a:lnTo>
                <a:lnTo>
                  <a:pt x="196037" y="175259"/>
                </a:lnTo>
                <a:lnTo>
                  <a:pt x="174455" y="175259"/>
                </a:lnTo>
                <a:lnTo>
                  <a:pt x="155773" y="175259"/>
                </a:lnTo>
                <a:lnTo>
                  <a:pt x="136874" y="175259"/>
                </a:lnTo>
                <a:lnTo>
                  <a:pt x="114642" y="175259"/>
                </a:lnTo>
                <a:lnTo>
                  <a:pt x="94651" y="171777"/>
                </a:lnTo>
                <a:lnTo>
                  <a:pt x="74229" y="168389"/>
                </a:lnTo>
                <a:lnTo>
                  <a:pt x="55958" y="164030"/>
                </a:lnTo>
                <a:lnTo>
                  <a:pt x="42418" y="157632"/>
                </a:lnTo>
                <a:lnTo>
                  <a:pt x="32566" y="151456"/>
                </a:lnTo>
                <a:lnTo>
                  <a:pt x="22928" y="147908"/>
                </a:lnTo>
                <a:lnTo>
                  <a:pt x="12430" y="146111"/>
                </a:lnTo>
                <a:lnTo>
                  <a:pt x="0" y="145186"/>
                </a:lnTo>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19" name="object 119"/>
          <p:cNvSpPr/>
          <p:nvPr/>
        </p:nvSpPr>
        <p:spPr>
          <a:xfrm>
            <a:off x="264797" y="6179092"/>
            <a:ext cx="202595" cy="172471"/>
          </a:xfrm>
          <a:prstGeom prst="rect">
            <a:avLst/>
          </a:prstGeom>
          <a:blipFill>
            <a:blip r:embed="rId6"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120" name="object 120"/>
          <p:cNvSpPr/>
          <p:nvPr/>
        </p:nvSpPr>
        <p:spPr>
          <a:xfrm>
            <a:off x="153054" y="6183852"/>
            <a:ext cx="0" cy="149754"/>
          </a:xfrm>
          <a:custGeom>
            <a:avLst/>
            <a:gdLst/>
            <a:ahLst/>
            <a:cxnLst/>
            <a:rect l="l" t="t" r="r" b="b"/>
            <a:pathLst>
              <a:path h="149860">
                <a:moveTo>
                  <a:pt x="0" y="0"/>
                </a:moveTo>
                <a:lnTo>
                  <a:pt x="0" y="149352"/>
                </a:lnTo>
              </a:path>
            </a:pathLst>
          </a:custGeom>
          <a:ln w="6858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21" name="object 121"/>
          <p:cNvSpPr/>
          <p:nvPr/>
        </p:nvSpPr>
        <p:spPr>
          <a:xfrm>
            <a:off x="118787" y="6183852"/>
            <a:ext cx="68531" cy="149754"/>
          </a:xfrm>
          <a:custGeom>
            <a:avLst/>
            <a:gdLst/>
            <a:ahLst/>
            <a:cxnLst/>
            <a:rect l="l" t="t" r="r" b="b"/>
            <a:pathLst>
              <a:path w="68580" h="149860">
                <a:moveTo>
                  <a:pt x="0" y="149352"/>
                </a:moveTo>
                <a:lnTo>
                  <a:pt x="68580" y="149352"/>
                </a:lnTo>
                <a:lnTo>
                  <a:pt x="68580" y="0"/>
                </a:lnTo>
                <a:lnTo>
                  <a:pt x="0" y="0"/>
                </a:lnTo>
                <a:lnTo>
                  <a:pt x="0" y="149352"/>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22" name="object 122"/>
          <p:cNvSpPr txBox="1"/>
          <p:nvPr/>
        </p:nvSpPr>
        <p:spPr>
          <a:xfrm>
            <a:off x="633027" y="6099279"/>
            <a:ext cx="4331440" cy="165100"/>
          </a:xfrm>
          <a:prstGeom prst="rect">
            <a:avLst/>
          </a:prstGeom>
        </p:spPr>
        <p:txBody>
          <a:bodyPr vert="horz" wrap="square" lIns="0" tIns="12056" rIns="0" bIns="0" rtlCol="0">
            <a:spAutoFit/>
          </a:bodyPr>
          <a:lstStyle/>
          <a:p>
            <a:pPr marL="12700">
              <a:lnSpc>
                <a:spcPct val="100000"/>
              </a:lnSpc>
              <a:spcBef>
                <a:spcPts val="95"/>
              </a:spcBef>
            </a:pPr>
            <a:r>
              <a:rPr sz="1000" spc="-5" dirty="0">
                <a:latin typeface="微软雅黑" panose="020B0503020204020204" charset="-122"/>
                <a:ea typeface="微软雅黑" panose="020B0503020204020204" charset="-122"/>
                <a:cs typeface="微软雅黑" panose="020B0503020204020204" charset="-122"/>
              </a:rPr>
              <a:t>将营业员个人所管理的大客户信息</a:t>
            </a:r>
            <a:r>
              <a:rPr sz="1000" spc="5" dirty="0">
                <a:latin typeface="微软雅黑" panose="020B0503020204020204" charset="-122"/>
                <a:ea typeface="微软雅黑" panose="020B0503020204020204" charset="-122"/>
                <a:cs typeface="微软雅黑" panose="020B0503020204020204" charset="-122"/>
              </a:rPr>
              <a:t>与</a:t>
            </a:r>
            <a:r>
              <a:rPr sz="1000" spc="-5" dirty="0">
                <a:latin typeface="微软雅黑" panose="020B0503020204020204" charset="-122"/>
                <a:ea typeface="微软雅黑" panose="020B0503020204020204" charset="-122"/>
                <a:cs typeface="微软雅黑" panose="020B0503020204020204" charset="-122"/>
              </a:rPr>
              <a:t>公司</a:t>
            </a:r>
            <a:r>
              <a:rPr sz="1000" spc="5" dirty="0">
                <a:latin typeface="微软雅黑" panose="020B0503020204020204" charset="-122"/>
                <a:ea typeface="微软雅黑" panose="020B0503020204020204" charset="-122"/>
                <a:cs typeface="微软雅黑" panose="020B0503020204020204" charset="-122"/>
              </a:rPr>
              <a:t>共</a:t>
            </a:r>
            <a:r>
              <a:rPr sz="1000" spc="-5" dirty="0">
                <a:latin typeface="微软雅黑" panose="020B0503020204020204" charset="-122"/>
                <a:ea typeface="微软雅黑" panose="020B0503020204020204" charset="-122"/>
                <a:cs typeface="微软雅黑" panose="020B0503020204020204" charset="-122"/>
              </a:rPr>
              <a:t>享，</a:t>
            </a:r>
            <a:r>
              <a:rPr sz="1000" spc="5" dirty="0">
                <a:latin typeface="微软雅黑" panose="020B0503020204020204" charset="-122"/>
                <a:ea typeface="微软雅黑" panose="020B0503020204020204" charset="-122"/>
                <a:cs typeface="微软雅黑" panose="020B0503020204020204" charset="-122"/>
              </a:rPr>
              <a:t>做</a:t>
            </a:r>
            <a:r>
              <a:rPr sz="1000" spc="-5" dirty="0">
                <a:latin typeface="微软雅黑" panose="020B0503020204020204" charset="-122"/>
                <a:ea typeface="微软雅黑" panose="020B0503020204020204" charset="-122"/>
                <a:cs typeface="微软雅黑" panose="020B0503020204020204" charset="-122"/>
              </a:rPr>
              <a:t>到人</a:t>
            </a:r>
            <a:r>
              <a:rPr sz="1000" spc="5" dirty="0">
                <a:latin typeface="微软雅黑" panose="020B0503020204020204" charset="-122"/>
                <a:ea typeface="微软雅黑" panose="020B0503020204020204" charset="-122"/>
                <a:cs typeface="微软雅黑" panose="020B0503020204020204" charset="-122"/>
              </a:rPr>
              <a:t>流</a:t>
            </a:r>
            <a:r>
              <a:rPr sz="1000" spc="-5" dirty="0">
                <a:latin typeface="微软雅黑" panose="020B0503020204020204" charset="-122"/>
                <a:ea typeface="微软雅黑" panose="020B0503020204020204" charset="-122"/>
                <a:cs typeface="微软雅黑" panose="020B0503020204020204" charset="-122"/>
              </a:rPr>
              <a:t>动但</a:t>
            </a:r>
            <a:r>
              <a:rPr sz="1000" spc="5" dirty="0">
                <a:latin typeface="微软雅黑" panose="020B0503020204020204" charset="-122"/>
                <a:ea typeface="微软雅黑" panose="020B0503020204020204" charset="-122"/>
                <a:cs typeface="微软雅黑" panose="020B0503020204020204" charset="-122"/>
              </a:rPr>
              <a:t>是</a:t>
            </a:r>
            <a:r>
              <a:rPr sz="1000" spc="-5" dirty="0">
                <a:latin typeface="微软雅黑" panose="020B0503020204020204" charset="-122"/>
                <a:ea typeface="微软雅黑" panose="020B0503020204020204" charset="-122"/>
                <a:cs typeface="微软雅黑" panose="020B0503020204020204" charset="-122"/>
              </a:rPr>
              <a:t>大客</a:t>
            </a:r>
            <a:r>
              <a:rPr sz="1000" spc="5" dirty="0">
                <a:latin typeface="微软雅黑" panose="020B0503020204020204" charset="-122"/>
                <a:ea typeface="微软雅黑" panose="020B0503020204020204" charset="-122"/>
                <a:cs typeface="微软雅黑" panose="020B0503020204020204" charset="-122"/>
              </a:rPr>
              <a:t>户</a:t>
            </a:r>
            <a:r>
              <a:rPr sz="1000" spc="-5" dirty="0">
                <a:latin typeface="微软雅黑" panose="020B0503020204020204" charset="-122"/>
                <a:ea typeface="微软雅黑" panose="020B0503020204020204" charset="-122"/>
                <a:cs typeface="微软雅黑" panose="020B0503020204020204" charset="-122"/>
              </a:rPr>
              <a:t>不流动</a:t>
            </a:r>
            <a:endParaRPr sz="10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0629" y="696007"/>
            <a:ext cx="7873500" cy="5365757"/>
          </a:xfrm>
          <a:custGeom>
            <a:avLst/>
            <a:gdLst/>
            <a:ahLst/>
            <a:cxnLst/>
            <a:rect l="l" t="t" r="r" b="b"/>
            <a:pathLst>
              <a:path w="7879080" h="5369560">
                <a:moveTo>
                  <a:pt x="0" y="5369052"/>
                </a:moveTo>
                <a:lnTo>
                  <a:pt x="7879080" y="5369052"/>
                </a:lnTo>
                <a:lnTo>
                  <a:pt x="7879080" y="0"/>
                </a:lnTo>
                <a:lnTo>
                  <a:pt x="0" y="0"/>
                </a:lnTo>
                <a:lnTo>
                  <a:pt x="0" y="5369052"/>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 name="object 4"/>
          <p:cNvSpPr txBox="1"/>
          <p:nvPr/>
        </p:nvSpPr>
        <p:spPr>
          <a:xfrm>
            <a:off x="628966" y="1538944"/>
            <a:ext cx="555866" cy="492760"/>
          </a:xfrm>
          <a:prstGeom prst="rect">
            <a:avLst/>
          </a:prstGeom>
          <a:solidFill>
            <a:srgbClr val="C6DFFA"/>
          </a:solidFill>
        </p:spPr>
        <p:txBody>
          <a:bodyPr vert="horz" wrap="square" lIns="0" tIns="0" rIns="0" bIns="0" rtlCol="0">
            <a:spAutoFit/>
          </a:bodyPr>
          <a:lstStyle/>
          <a:p>
            <a:pPr>
              <a:lnSpc>
                <a:spcPct val="100000"/>
              </a:lnSpc>
            </a:pPr>
            <a:endParaRPr sz="1300">
              <a:latin typeface="微软雅黑" panose="020B0503020204020204" charset="-122"/>
              <a:ea typeface="微软雅黑" panose="020B0503020204020204" charset="-122"/>
              <a:cs typeface="微软雅黑" panose="020B0503020204020204" charset="-122"/>
            </a:endParaRPr>
          </a:p>
          <a:p>
            <a:pPr marL="34925">
              <a:lnSpc>
                <a:spcPct val="100000"/>
              </a:lnSpc>
              <a:spcBef>
                <a:spcPts val="1085"/>
              </a:spcBef>
            </a:pPr>
            <a:r>
              <a:rPr sz="1000" b="1" spc="5" dirty="0">
                <a:latin typeface="微软雅黑" panose="020B0503020204020204" charset="-122"/>
                <a:ea typeface="微软雅黑" panose="020B0503020204020204" charset="-122"/>
                <a:cs typeface="微软雅黑" panose="020B0503020204020204" charset="-122"/>
              </a:rPr>
              <a:t>客</a:t>
            </a:r>
            <a:r>
              <a:rPr sz="1000" b="1" spc="-5" dirty="0">
                <a:latin typeface="微软雅黑" panose="020B0503020204020204" charset="-122"/>
                <a:ea typeface="微软雅黑" panose="020B0503020204020204" charset="-122"/>
                <a:cs typeface="微软雅黑" panose="020B0503020204020204" charset="-122"/>
              </a:rPr>
              <a:t>户</a:t>
            </a:r>
            <a:r>
              <a:rPr sz="1000" b="1" spc="5" dirty="0">
                <a:latin typeface="微软雅黑" panose="020B0503020204020204" charset="-122"/>
                <a:ea typeface="微软雅黑" panose="020B0503020204020204" charset="-122"/>
                <a:cs typeface="微软雅黑" panose="020B0503020204020204" charset="-122"/>
              </a:rPr>
              <a:t> </a:t>
            </a:r>
            <a:r>
              <a:rPr sz="1000" b="1" spc="-5" dirty="0">
                <a:latin typeface="微软雅黑" panose="020B0503020204020204" charset="-122"/>
                <a:ea typeface="微软雅黑" panose="020B0503020204020204" charset="-122"/>
                <a:cs typeface="微软雅黑" panose="020B0503020204020204" charset="-122"/>
              </a:rPr>
              <a:t>1</a:t>
            </a:r>
            <a:endParaRPr sz="1000">
              <a:latin typeface="微软雅黑" panose="020B0503020204020204" charset="-122"/>
              <a:ea typeface="微软雅黑" panose="020B0503020204020204" charset="-122"/>
              <a:cs typeface="微软雅黑" panose="020B0503020204020204" charset="-122"/>
            </a:endParaRPr>
          </a:p>
        </p:txBody>
      </p:sp>
      <p:sp>
        <p:nvSpPr>
          <p:cNvPr id="5" name="object 5"/>
          <p:cNvSpPr txBox="1"/>
          <p:nvPr/>
        </p:nvSpPr>
        <p:spPr>
          <a:xfrm>
            <a:off x="628966" y="2411577"/>
            <a:ext cx="555866" cy="777240"/>
          </a:xfrm>
          <a:prstGeom prst="rect">
            <a:avLst/>
          </a:prstGeom>
          <a:solidFill>
            <a:srgbClr val="C6DFFA"/>
          </a:solidFill>
        </p:spPr>
        <p:txBody>
          <a:bodyPr vert="horz" wrap="square" lIns="0" tIns="0" rIns="0" bIns="0" rtlCol="0">
            <a:spAutoFit/>
          </a:bodyPr>
          <a:lstStyle/>
          <a:p>
            <a:pPr>
              <a:lnSpc>
                <a:spcPct val="100000"/>
              </a:lnSpc>
            </a:pPr>
            <a:endParaRPr sz="1300">
              <a:latin typeface="微软雅黑" panose="020B0503020204020204" charset="-122"/>
              <a:ea typeface="微软雅黑" panose="020B0503020204020204" charset="-122"/>
              <a:cs typeface="微软雅黑" panose="020B0503020204020204" charset="-122"/>
            </a:endParaRPr>
          </a:p>
          <a:p>
            <a:pPr>
              <a:lnSpc>
                <a:spcPct val="100000"/>
              </a:lnSpc>
            </a:pPr>
            <a:endParaRPr sz="1300">
              <a:latin typeface="微软雅黑" panose="020B0503020204020204" charset="-122"/>
              <a:ea typeface="微软雅黑" panose="020B0503020204020204" charset="-122"/>
              <a:cs typeface="微软雅黑" panose="020B0503020204020204" charset="-122"/>
            </a:endParaRPr>
          </a:p>
          <a:p>
            <a:pPr>
              <a:lnSpc>
                <a:spcPct val="100000"/>
              </a:lnSpc>
              <a:spcBef>
                <a:spcPts val="5"/>
              </a:spcBef>
            </a:pPr>
            <a:endParaRPr sz="1450">
              <a:latin typeface="微软雅黑" panose="020B0503020204020204" charset="-122"/>
              <a:ea typeface="微软雅黑" panose="020B0503020204020204" charset="-122"/>
              <a:cs typeface="微软雅黑" panose="020B0503020204020204" charset="-122"/>
            </a:endParaRPr>
          </a:p>
          <a:p>
            <a:pPr marL="34925">
              <a:lnSpc>
                <a:spcPct val="100000"/>
              </a:lnSpc>
            </a:pPr>
            <a:r>
              <a:rPr sz="1000" b="1" spc="5" dirty="0">
                <a:latin typeface="微软雅黑" panose="020B0503020204020204" charset="-122"/>
                <a:ea typeface="微软雅黑" panose="020B0503020204020204" charset="-122"/>
                <a:cs typeface="微软雅黑" panose="020B0503020204020204" charset="-122"/>
              </a:rPr>
              <a:t>客</a:t>
            </a:r>
            <a:r>
              <a:rPr sz="1000" b="1" spc="-5" dirty="0">
                <a:latin typeface="微软雅黑" panose="020B0503020204020204" charset="-122"/>
                <a:ea typeface="微软雅黑" panose="020B0503020204020204" charset="-122"/>
                <a:cs typeface="微软雅黑" panose="020B0503020204020204" charset="-122"/>
              </a:rPr>
              <a:t>户</a:t>
            </a:r>
            <a:r>
              <a:rPr sz="1000" b="1" spc="5" dirty="0">
                <a:latin typeface="微软雅黑" panose="020B0503020204020204" charset="-122"/>
                <a:ea typeface="微软雅黑" panose="020B0503020204020204" charset="-122"/>
                <a:cs typeface="微软雅黑" panose="020B0503020204020204" charset="-122"/>
              </a:rPr>
              <a:t> </a:t>
            </a:r>
            <a:r>
              <a:rPr sz="1000" b="1" spc="-5" dirty="0">
                <a:latin typeface="微软雅黑" panose="020B0503020204020204" charset="-122"/>
                <a:ea typeface="微软雅黑" panose="020B0503020204020204" charset="-122"/>
                <a:cs typeface="微软雅黑" panose="020B0503020204020204" charset="-122"/>
              </a:rPr>
              <a:t>2</a:t>
            </a:r>
            <a:endParaRPr sz="1000">
              <a:latin typeface="微软雅黑" panose="020B0503020204020204" charset="-122"/>
              <a:ea typeface="微软雅黑" panose="020B0503020204020204" charset="-122"/>
              <a:cs typeface="微软雅黑" panose="020B0503020204020204" charset="-122"/>
            </a:endParaRPr>
          </a:p>
        </p:txBody>
      </p:sp>
      <p:sp>
        <p:nvSpPr>
          <p:cNvPr id="6" name="object 6"/>
          <p:cNvSpPr/>
          <p:nvPr/>
        </p:nvSpPr>
        <p:spPr>
          <a:xfrm>
            <a:off x="628966" y="3890333"/>
            <a:ext cx="555866" cy="2076249"/>
          </a:xfrm>
          <a:custGeom>
            <a:avLst/>
            <a:gdLst/>
            <a:ahLst/>
            <a:cxnLst/>
            <a:rect l="l" t="t" r="r" b="b"/>
            <a:pathLst>
              <a:path w="556260" h="2077720">
                <a:moveTo>
                  <a:pt x="0" y="2077212"/>
                </a:moveTo>
                <a:lnTo>
                  <a:pt x="556260" y="2077212"/>
                </a:lnTo>
                <a:lnTo>
                  <a:pt x="556260" y="0"/>
                </a:lnTo>
                <a:lnTo>
                  <a:pt x="0" y="0"/>
                </a:lnTo>
                <a:lnTo>
                  <a:pt x="0" y="2077212"/>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txBox="1"/>
          <p:nvPr/>
        </p:nvSpPr>
        <p:spPr>
          <a:xfrm>
            <a:off x="633941" y="4832767"/>
            <a:ext cx="385172" cy="165100"/>
          </a:xfrm>
          <a:prstGeom prst="rect">
            <a:avLst/>
          </a:prstGeom>
        </p:spPr>
        <p:txBody>
          <a:bodyPr vert="horz" wrap="square" lIns="0" tIns="12056" rIns="0" bIns="0" rtlCol="0">
            <a:spAutoFit/>
          </a:bodyPr>
          <a:lstStyle/>
          <a:p>
            <a:pPr marL="12700">
              <a:lnSpc>
                <a:spcPct val="100000"/>
              </a:lnSpc>
              <a:spcBef>
                <a:spcPts val="95"/>
              </a:spcBef>
            </a:pPr>
            <a:r>
              <a:rPr sz="1000" b="1" spc="5" dirty="0">
                <a:latin typeface="微软雅黑" panose="020B0503020204020204" charset="-122"/>
                <a:ea typeface="微软雅黑" panose="020B0503020204020204" charset="-122"/>
                <a:cs typeface="微软雅黑" panose="020B0503020204020204" charset="-122"/>
              </a:rPr>
              <a:t>客</a:t>
            </a:r>
            <a:r>
              <a:rPr sz="1000" b="1" spc="-5" dirty="0">
                <a:latin typeface="微软雅黑" panose="020B0503020204020204" charset="-122"/>
                <a:ea typeface="微软雅黑" panose="020B0503020204020204" charset="-122"/>
                <a:cs typeface="微软雅黑" panose="020B0503020204020204" charset="-122"/>
              </a:rPr>
              <a:t>户</a:t>
            </a:r>
            <a:r>
              <a:rPr sz="1000" b="1" spc="-50" dirty="0">
                <a:latin typeface="微软雅黑" panose="020B0503020204020204" charset="-122"/>
                <a:ea typeface="微软雅黑" panose="020B0503020204020204" charset="-122"/>
                <a:cs typeface="微软雅黑" panose="020B0503020204020204" charset="-122"/>
              </a:rPr>
              <a:t> </a:t>
            </a:r>
            <a:r>
              <a:rPr sz="1000" b="1" spc="-5" dirty="0">
                <a:latin typeface="微软雅黑" panose="020B0503020204020204" charset="-122"/>
                <a:ea typeface="微软雅黑" panose="020B0503020204020204" charset="-122"/>
                <a:cs typeface="微软雅黑" panose="020B0503020204020204" charset="-122"/>
              </a:rPr>
              <a:t>3</a:t>
            </a:r>
            <a:endParaRPr sz="1000">
              <a:latin typeface="微软雅黑" panose="020B0503020204020204" charset="-122"/>
              <a:ea typeface="微软雅黑" panose="020B0503020204020204" charset="-122"/>
              <a:cs typeface="微软雅黑" panose="020B0503020204020204" charset="-122"/>
            </a:endParaRPr>
          </a:p>
        </p:txBody>
      </p:sp>
      <p:sp>
        <p:nvSpPr>
          <p:cNvPr id="8" name="object 8"/>
          <p:cNvSpPr/>
          <p:nvPr/>
        </p:nvSpPr>
        <p:spPr>
          <a:xfrm>
            <a:off x="6574448" y="964803"/>
            <a:ext cx="1413778" cy="108508"/>
          </a:xfrm>
          <a:custGeom>
            <a:avLst/>
            <a:gdLst/>
            <a:ahLst/>
            <a:cxnLst/>
            <a:rect l="l" t="t" r="r" b="b"/>
            <a:pathLst>
              <a:path w="1414779" h="108584">
                <a:moveTo>
                  <a:pt x="0" y="108203"/>
                </a:moveTo>
                <a:lnTo>
                  <a:pt x="0" y="0"/>
                </a:lnTo>
                <a:lnTo>
                  <a:pt x="1414272" y="0"/>
                </a:lnTo>
                <a:lnTo>
                  <a:pt x="1414272" y="105537"/>
                </a:lnTo>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txBox="1"/>
          <p:nvPr/>
        </p:nvSpPr>
        <p:spPr>
          <a:xfrm>
            <a:off x="2382862" y="4832767"/>
            <a:ext cx="5803597" cy="165100"/>
          </a:xfrm>
          <a:prstGeom prst="rect">
            <a:avLst/>
          </a:prstGeom>
        </p:spPr>
        <p:txBody>
          <a:bodyPr vert="horz" wrap="square" lIns="0" tIns="12056" rIns="0" bIns="0" rtlCol="0">
            <a:spAutoFit/>
          </a:bodyPr>
          <a:lstStyle/>
          <a:p>
            <a:pPr marL="12700">
              <a:lnSpc>
                <a:spcPct val="100000"/>
              </a:lnSpc>
              <a:spcBef>
                <a:spcPts val="95"/>
              </a:spcBef>
              <a:tabLst>
                <a:tab pos="5793740" algn="l"/>
              </a:tabLst>
            </a:pPr>
            <a:r>
              <a:rPr sz="1000" b="1" u="dash" spc="-5" dirty="0">
                <a:uFill>
                  <a:solidFill>
                    <a:srgbClr val="808080"/>
                  </a:solidFill>
                </a:uFill>
                <a:latin typeface="微软雅黑" panose="020B0503020204020204" charset="-122"/>
                <a:ea typeface="微软雅黑" panose="020B0503020204020204" charset="-122"/>
                <a:cs typeface="Arial" panose="020B0604020202020204"/>
              </a:rPr>
              <a:t> 	</a:t>
            </a:r>
            <a:endParaRPr sz="1000" b="1" u="dash" spc="-5" dirty="0">
              <a:uFill>
                <a:solidFill>
                  <a:srgbClr val="808080"/>
                </a:solidFill>
              </a:uFill>
              <a:latin typeface="微软雅黑" panose="020B0503020204020204" charset="-122"/>
              <a:ea typeface="微软雅黑" panose="020B0503020204020204" charset="-122"/>
              <a:cs typeface="Arial" panose="020B0604020202020204"/>
            </a:endParaRPr>
          </a:p>
        </p:txBody>
      </p:sp>
      <p:sp>
        <p:nvSpPr>
          <p:cNvPr id="10" name="object 10"/>
          <p:cNvSpPr/>
          <p:nvPr/>
        </p:nvSpPr>
        <p:spPr>
          <a:xfrm>
            <a:off x="7017618" y="791190"/>
            <a:ext cx="524139" cy="304584"/>
          </a:xfrm>
          <a:custGeom>
            <a:avLst/>
            <a:gdLst/>
            <a:ahLst/>
            <a:cxnLst/>
            <a:rect l="l" t="t" r="r" b="b"/>
            <a:pathLst>
              <a:path w="524509" h="304800">
                <a:moveTo>
                  <a:pt x="0" y="304800"/>
                </a:moveTo>
                <a:lnTo>
                  <a:pt x="524255" y="304800"/>
                </a:lnTo>
                <a:lnTo>
                  <a:pt x="524255" y="0"/>
                </a:lnTo>
                <a:lnTo>
                  <a:pt x="0" y="0"/>
                </a:lnTo>
                <a:lnTo>
                  <a:pt x="0" y="30480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txBox="1"/>
          <p:nvPr/>
        </p:nvSpPr>
        <p:spPr>
          <a:xfrm>
            <a:off x="7078281" y="770325"/>
            <a:ext cx="404843" cy="319405"/>
          </a:xfrm>
          <a:prstGeom prst="rect">
            <a:avLst/>
          </a:prstGeom>
        </p:spPr>
        <p:txBody>
          <a:bodyPr vert="horz" wrap="square" lIns="0" tIns="12056" rIns="0" bIns="0" rtlCol="0">
            <a:spAutoFit/>
          </a:bodyPr>
          <a:lstStyle/>
          <a:p>
            <a:pPr marL="12700">
              <a:lnSpc>
                <a:spcPct val="100000"/>
              </a:lnSpc>
              <a:spcBef>
                <a:spcPts val="95"/>
              </a:spcBef>
            </a:pPr>
            <a:r>
              <a:rPr sz="1000" b="1" dirty="0">
                <a:latin typeface="微软雅黑" panose="020B0503020204020204" charset="-122"/>
                <a:ea typeface="微软雅黑" panose="020B0503020204020204" charset="-122"/>
                <a:cs typeface="微软雅黑" panose="020B0503020204020204" charset="-122"/>
              </a:rPr>
              <a:t>价值</a:t>
            </a:r>
            <a:endParaRPr sz="1000">
              <a:latin typeface="微软雅黑" panose="020B0503020204020204" charset="-122"/>
              <a:ea typeface="微软雅黑" panose="020B0503020204020204" charset="-122"/>
              <a:cs typeface="微软雅黑" panose="020B0503020204020204" charset="-122"/>
            </a:endParaRPr>
          </a:p>
          <a:p>
            <a:pPr marL="12700">
              <a:lnSpc>
                <a:spcPct val="100000"/>
              </a:lnSpc>
              <a:spcBef>
                <a:spcPts val="5"/>
              </a:spcBef>
            </a:pPr>
            <a:r>
              <a:rPr sz="1000" spc="-5" dirty="0">
                <a:solidFill>
                  <a:srgbClr val="808080"/>
                </a:solidFill>
                <a:latin typeface="微软雅黑" panose="020B0503020204020204" charset="-122"/>
                <a:ea typeface="微软雅黑" panose="020B0503020204020204" charset="-122"/>
                <a:cs typeface="微软雅黑" panose="020B0503020204020204" charset="-122"/>
              </a:rPr>
              <a:t>百万元</a:t>
            </a:r>
            <a:endParaRPr sz="1000">
              <a:latin typeface="微软雅黑" panose="020B0503020204020204" charset="-122"/>
              <a:ea typeface="微软雅黑" panose="020B0503020204020204" charset="-122"/>
              <a:cs typeface="微软雅黑" panose="020B0503020204020204" charset="-122"/>
            </a:endParaRPr>
          </a:p>
        </p:txBody>
      </p:sp>
      <p:sp>
        <p:nvSpPr>
          <p:cNvPr id="12" name="object 12"/>
          <p:cNvSpPr txBox="1"/>
          <p:nvPr/>
        </p:nvSpPr>
        <p:spPr>
          <a:xfrm>
            <a:off x="1461241" y="1232024"/>
            <a:ext cx="537464" cy="165100"/>
          </a:xfrm>
          <a:prstGeom prst="rect">
            <a:avLst/>
          </a:prstGeom>
        </p:spPr>
        <p:txBody>
          <a:bodyPr vert="horz" wrap="square" lIns="0" tIns="12056" rIns="0" bIns="0" rtlCol="0">
            <a:spAutoFit/>
          </a:bodyPr>
          <a:lstStyle/>
          <a:p>
            <a:pPr marL="12700">
              <a:lnSpc>
                <a:spcPct val="100000"/>
              </a:lnSpc>
              <a:spcBef>
                <a:spcPts val="95"/>
              </a:spcBef>
            </a:pPr>
            <a:r>
              <a:rPr sz="1000" b="1" dirty="0">
                <a:latin typeface="微软雅黑" panose="020B0503020204020204" charset="-122"/>
                <a:ea typeface="微软雅黑" panose="020B0503020204020204" charset="-122"/>
                <a:cs typeface="微软雅黑" panose="020B0503020204020204" charset="-122"/>
              </a:rPr>
              <a:t>价值定位</a:t>
            </a:r>
            <a:endParaRPr sz="1000" b="1" dirty="0">
              <a:latin typeface="微软雅黑" panose="020B0503020204020204" charset="-122"/>
              <a:ea typeface="微软雅黑" panose="020B0503020204020204" charset="-122"/>
              <a:cs typeface="微软雅黑" panose="020B0503020204020204" charset="-122"/>
            </a:endParaRPr>
          </a:p>
        </p:txBody>
      </p:sp>
      <p:sp>
        <p:nvSpPr>
          <p:cNvPr id="13" name="object 13"/>
          <p:cNvSpPr/>
          <p:nvPr/>
        </p:nvSpPr>
        <p:spPr>
          <a:xfrm>
            <a:off x="1728514" y="3301615"/>
            <a:ext cx="28173" cy="30675"/>
          </a:xfrm>
          <a:prstGeom prst="rect">
            <a:avLst/>
          </a:prstGeom>
          <a:blipFill>
            <a:blip r:embed="rId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txBox="1"/>
          <p:nvPr/>
        </p:nvSpPr>
        <p:spPr>
          <a:xfrm>
            <a:off x="3619220" y="1080037"/>
            <a:ext cx="1001955" cy="318770"/>
          </a:xfrm>
          <a:prstGeom prst="rect">
            <a:avLst/>
          </a:prstGeom>
        </p:spPr>
        <p:txBody>
          <a:bodyPr vert="horz" wrap="square" lIns="0" tIns="12056" rIns="0" bIns="0" rtlCol="0">
            <a:spAutoFit/>
          </a:bodyPr>
          <a:lstStyle/>
          <a:p>
            <a:pPr marL="12700">
              <a:lnSpc>
                <a:spcPct val="100000"/>
              </a:lnSpc>
              <a:spcBef>
                <a:spcPts val="95"/>
              </a:spcBef>
            </a:pPr>
            <a:r>
              <a:rPr sz="1000" b="1" spc="5" dirty="0">
                <a:latin typeface="微软雅黑" panose="020B0503020204020204" charset="-122"/>
                <a:ea typeface="微软雅黑" panose="020B0503020204020204" charset="-122"/>
                <a:cs typeface="微软雅黑" panose="020B0503020204020204" charset="-122"/>
              </a:rPr>
              <a:t>行动</a:t>
            </a:r>
            <a:endParaRPr sz="1000">
              <a:latin typeface="微软雅黑" panose="020B0503020204020204" charset="-122"/>
              <a:ea typeface="微软雅黑" panose="020B0503020204020204" charset="-122"/>
              <a:cs typeface="微软雅黑" panose="020B0503020204020204" charset="-122"/>
            </a:endParaRPr>
          </a:p>
          <a:p>
            <a:pPr marL="12700">
              <a:lnSpc>
                <a:spcPct val="100000"/>
              </a:lnSpc>
              <a:tabLst>
                <a:tab pos="733425" algn="l"/>
              </a:tabLst>
            </a:pPr>
            <a:r>
              <a:rPr sz="1000" b="1" dirty="0">
                <a:latin typeface="微软雅黑" panose="020B0503020204020204" charset="-122"/>
                <a:ea typeface="微软雅黑" panose="020B0503020204020204" charset="-122"/>
                <a:cs typeface="微软雅黑" panose="020B0503020204020204" charset="-122"/>
              </a:rPr>
              <a:t>名</a:t>
            </a:r>
            <a:r>
              <a:rPr sz="1000" b="1" spc="-5" dirty="0">
                <a:latin typeface="微软雅黑" panose="020B0503020204020204" charset="-122"/>
                <a:ea typeface="微软雅黑" panose="020B0503020204020204" charset="-122"/>
                <a:cs typeface="微软雅黑" panose="020B0503020204020204" charset="-122"/>
              </a:rPr>
              <a:t>称</a:t>
            </a:r>
            <a:r>
              <a:rPr sz="1000" b="1" dirty="0">
                <a:latin typeface="微软雅黑" panose="020B0503020204020204" charset="-122"/>
                <a:ea typeface="微软雅黑" panose="020B0503020204020204" charset="-122"/>
                <a:cs typeface="微软雅黑" panose="020B0503020204020204" charset="-122"/>
              </a:rPr>
              <a:t>	行动</a:t>
            </a:r>
            <a:endParaRPr sz="1000">
              <a:latin typeface="微软雅黑" panose="020B0503020204020204" charset="-122"/>
              <a:ea typeface="微软雅黑" panose="020B0503020204020204" charset="-122"/>
              <a:cs typeface="微软雅黑" panose="020B0503020204020204" charset="-122"/>
            </a:endParaRPr>
          </a:p>
        </p:txBody>
      </p:sp>
      <p:sp>
        <p:nvSpPr>
          <p:cNvPr id="15" name="object 15"/>
          <p:cNvSpPr txBox="1"/>
          <p:nvPr/>
        </p:nvSpPr>
        <p:spPr>
          <a:xfrm>
            <a:off x="3620743" y="2909953"/>
            <a:ext cx="2797098" cy="203200"/>
          </a:xfrm>
          <a:prstGeom prst="rect">
            <a:avLst/>
          </a:prstGeom>
        </p:spPr>
        <p:txBody>
          <a:bodyPr vert="horz" wrap="square" lIns="0" tIns="12056" rIns="0" bIns="0" rtlCol="0">
            <a:spAutoFit/>
          </a:bodyPr>
          <a:lstStyle/>
          <a:p>
            <a:pPr marL="201295" indent="-189230">
              <a:lnSpc>
                <a:spcPct val="100000"/>
              </a:lnSpc>
              <a:spcBef>
                <a:spcPts val="95"/>
              </a:spcBef>
              <a:buClr>
                <a:srgbClr val="00295F"/>
              </a:buClr>
              <a:buSzPct val="125000"/>
              <a:buFont typeface="Arial" panose="020B0604020202020204"/>
              <a:buChar char="▪"/>
              <a:tabLst>
                <a:tab pos="201295" algn="l"/>
                <a:tab pos="201930" algn="l"/>
                <a:tab pos="733425" algn="l"/>
                <a:tab pos="921385" algn="l"/>
              </a:tabLst>
            </a:pPr>
            <a:r>
              <a:rPr sz="1000" spc="-5" dirty="0">
                <a:latin typeface="微软雅黑" panose="020B0503020204020204" charset="-122"/>
                <a:ea typeface="微软雅黑" panose="020B0503020204020204" charset="-122"/>
                <a:cs typeface="微软雅黑" panose="020B0503020204020204" charset="-122"/>
              </a:rPr>
              <a:t>提高	</a:t>
            </a:r>
            <a:r>
              <a:rPr sz="1250" spc="-5" dirty="0">
                <a:solidFill>
                  <a:srgbClr val="00295F"/>
                </a:solidFill>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通过提高</a:t>
            </a: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速</a:t>
            </a:r>
            <a:r>
              <a:rPr sz="1000" spc="-10" dirty="0">
                <a:latin typeface="微软雅黑" panose="020B0503020204020204" charset="-122"/>
                <a:ea typeface="微软雅黑" panose="020B0503020204020204" charset="-122"/>
                <a:cs typeface="微软雅黑" panose="020B0503020204020204" charset="-122"/>
              </a:rPr>
              <a:t>度</a:t>
            </a:r>
            <a:r>
              <a:rPr sz="1000" spc="-5" dirty="0">
                <a:latin typeface="微软雅黑" panose="020B0503020204020204" charset="-122"/>
                <a:ea typeface="微软雅黑" panose="020B0503020204020204" charset="-122"/>
                <a:cs typeface="微软雅黑" panose="020B0503020204020204" charset="-122"/>
              </a:rPr>
              <a:t>(从</a:t>
            </a: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到XXX)</a:t>
            </a:r>
            <a:endParaRPr sz="1000">
              <a:latin typeface="微软雅黑" panose="020B0503020204020204" charset="-122"/>
              <a:ea typeface="微软雅黑" panose="020B0503020204020204" charset="-122"/>
              <a:cs typeface="微软雅黑" panose="020B0503020204020204" charset="-122"/>
            </a:endParaRPr>
          </a:p>
        </p:txBody>
      </p:sp>
      <p:sp>
        <p:nvSpPr>
          <p:cNvPr id="16" name="object 16"/>
          <p:cNvSpPr txBox="1"/>
          <p:nvPr/>
        </p:nvSpPr>
        <p:spPr>
          <a:xfrm>
            <a:off x="3809585" y="3078997"/>
            <a:ext cx="2382102" cy="165100"/>
          </a:xfrm>
          <a:prstGeom prst="rect">
            <a:avLst/>
          </a:prstGeom>
        </p:spPr>
        <p:txBody>
          <a:bodyPr vert="horz" wrap="square" lIns="0" tIns="12056" rIns="0" bIns="0" rtlCol="0">
            <a:spAutoFit/>
          </a:bodyPr>
          <a:lstStyle/>
          <a:p>
            <a:pPr marL="12700">
              <a:lnSpc>
                <a:spcPct val="100000"/>
              </a:lnSpc>
              <a:spcBef>
                <a:spcPts val="95"/>
              </a:spcBef>
              <a:tabLst>
                <a:tab pos="733425" algn="l"/>
              </a:tabLst>
            </a:pP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速	和置换</a:t>
            </a: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降低</a:t>
            </a: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的成本</a:t>
            </a:r>
            <a:endParaRPr sz="1000">
              <a:latin typeface="微软雅黑" panose="020B0503020204020204" charset="-122"/>
              <a:ea typeface="微软雅黑" panose="020B0503020204020204" charset="-122"/>
              <a:cs typeface="微软雅黑" panose="020B0503020204020204" charset="-122"/>
            </a:endParaRPr>
          </a:p>
        </p:txBody>
      </p:sp>
      <p:sp>
        <p:nvSpPr>
          <p:cNvPr id="17" name="object 17"/>
          <p:cNvSpPr txBox="1"/>
          <p:nvPr/>
        </p:nvSpPr>
        <p:spPr>
          <a:xfrm>
            <a:off x="6641837" y="2961732"/>
            <a:ext cx="1348419" cy="165100"/>
          </a:xfrm>
          <a:prstGeom prst="rect">
            <a:avLst/>
          </a:prstGeom>
        </p:spPr>
        <p:txBody>
          <a:bodyPr vert="horz" wrap="square" lIns="0" tIns="12056" rIns="0" bIns="0" rtlCol="0">
            <a:spAutoFit/>
          </a:bodyPr>
          <a:lstStyle/>
          <a:p>
            <a:pPr marL="12700">
              <a:lnSpc>
                <a:spcPct val="100000"/>
              </a:lnSpc>
              <a:spcBef>
                <a:spcPts val="95"/>
              </a:spcBef>
              <a:tabLst>
                <a:tab pos="515620" algn="l"/>
                <a:tab pos="1019810" algn="l"/>
              </a:tabLst>
            </a:pPr>
            <a:r>
              <a:rPr sz="1000" spc="-10" dirty="0">
                <a:latin typeface="微软雅黑" panose="020B0503020204020204" charset="-122"/>
                <a:ea typeface="微软雅黑" panose="020B0503020204020204" charset="-122"/>
                <a:cs typeface="Arial" panose="020B0604020202020204"/>
              </a:rPr>
              <a:t>7.</a:t>
            </a:r>
            <a:r>
              <a:rPr sz="1000" spc="-5" dirty="0">
                <a:latin typeface="微软雅黑" panose="020B0503020204020204" charset="-122"/>
                <a:ea typeface="微软雅黑" panose="020B0503020204020204" charset="-122"/>
                <a:cs typeface="Arial" panose="020B0604020202020204"/>
              </a:rPr>
              <a:t>5</a:t>
            </a:r>
            <a:r>
              <a:rPr sz="1000" dirty="0">
                <a:latin typeface="微软雅黑" panose="020B0503020204020204" charset="-122"/>
                <a:ea typeface="微软雅黑" panose="020B0503020204020204" charset="-122"/>
                <a:cs typeface="Arial" panose="020B0604020202020204"/>
              </a:rPr>
              <a:t>	</a:t>
            </a:r>
            <a:r>
              <a:rPr sz="1000" spc="-10" dirty="0">
                <a:latin typeface="微软雅黑" panose="020B0503020204020204" charset="-122"/>
                <a:ea typeface="微软雅黑" panose="020B0503020204020204" charset="-122"/>
                <a:cs typeface="Arial" panose="020B0604020202020204"/>
              </a:rPr>
              <a:t>11.</a:t>
            </a:r>
            <a:r>
              <a:rPr sz="1000" spc="-5" dirty="0">
                <a:latin typeface="微软雅黑" panose="020B0503020204020204" charset="-122"/>
                <a:ea typeface="微软雅黑" panose="020B0503020204020204" charset="-122"/>
                <a:cs typeface="Arial" panose="020B0604020202020204"/>
              </a:rPr>
              <a:t>4</a:t>
            </a:r>
            <a:r>
              <a:rPr sz="1000" dirty="0">
                <a:latin typeface="微软雅黑" panose="020B0503020204020204" charset="-122"/>
                <a:ea typeface="微软雅黑" panose="020B0503020204020204" charset="-122"/>
                <a:cs typeface="Arial" panose="020B0604020202020204"/>
              </a:rPr>
              <a:t>	</a:t>
            </a:r>
            <a:r>
              <a:rPr sz="1000" spc="-10" dirty="0">
                <a:latin typeface="微软雅黑" panose="020B0503020204020204" charset="-122"/>
                <a:ea typeface="微软雅黑" panose="020B0503020204020204" charset="-122"/>
                <a:cs typeface="Arial" panose="020B0604020202020204"/>
              </a:rPr>
              <a:t>250.4</a:t>
            </a:r>
            <a:endParaRPr sz="1000">
              <a:latin typeface="微软雅黑" panose="020B0503020204020204" charset="-122"/>
              <a:ea typeface="微软雅黑" panose="020B0503020204020204" charset="-122"/>
              <a:cs typeface="Arial" panose="020B0604020202020204"/>
            </a:endParaRPr>
          </a:p>
        </p:txBody>
      </p:sp>
      <p:sp>
        <p:nvSpPr>
          <p:cNvPr id="18" name="object 18"/>
          <p:cNvSpPr txBox="1"/>
          <p:nvPr/>
        </p:nvSpPr>
        <p:spPr>
          <a:xfrm>
            <a:off x="3448908" y="3216059"/>
            <a:ext cx="4594144" cy="328930"/>
          </a:xfrm>
          <a:prstGeom prst="rect">
            <a:avLst/>
          </a:prstGeom>
        </p:spPr>
        <p:txBody>
          <a:bodyPr vert="horz" wrap="square" lIns="0" tIns="12056" rIns="0" bIns="0" rtlCol="0">
            <a:spAutoFit/>
          </a:bodyPr>
          <a:lstStyle/>
          <a:p>
            <a:pPr marL="12700">
              <a:lnSpc>
                <a:spcPct val="100000"/>
              </a:lnSpc>
              <a:spcBef>
                <a:spcPts val="95"/>
              </a:spcBef>
              <a:tabLst>
                <a:tab pos="373380" algn="l"/>
                <a:tab pos="4584065" algn="l"/>
              </a:tabLst>
            </a:pPr>
            <a:r>
              <a:rPr sz="1000" u="dash" spc="-5" dirty="0">
                <a:uFill>
                  <a:solidFill>
                    <a:srgbClr val="808080"/>
                  </a:solidFill>
                </a:uFill>
                <a:latin typeface="微软雅黑" panose="020B0503020204020204" charset="-122"/>
                <a:ea typeface="微软雅黑" panose="020B0503020204020204" charset="-122"/>
                <a:cs typeface="微软雅黑" panose="020B0503020204020204" charset="-122"/>
              </a:rPr>
              <a:t> 	度	</a:t>
            </a:r>
            <a:endParaRPr sz="1000">
              <a:latin typeface="微软雅黑" panose="020B0503020204020204" charset="-122"/>
              <a:ea typeface="微软雅黑" panose="020B0503020204020204" charset="-122"/>
              <a:cs typeface="微软雅黑" panose="020B0503020204020204" charset="-122"/>
            </a:endParaRPr>
          </a:p>
          <a:p>
            <a:pPr marL="373380" indent="-189865">
              <a:lnSpc>
                <a:spcPct val="100000"/>
              </a:lnSpc>
              <a:spcBef>
                <a:spcPts val="80"/>
              </a:spcBef>
              <a:buClr>
                <a:srgbClr val="00295F"/>
              </a:buClr>
              <a:buSzPct val="125000"/>
              <a:buFont typeface="Arial" panose="020B0604020202020204"/>
              <a:buChar char="▪"/>
              <a:tabLst>
                <a:tab pos="373380" algn="l"/>
                <a:tab pos="374015" algn="l"/>
              </a:tabLst>
            </a:pPr>
            <a:r>
              <a:rPr sz="1000" spc="-10" dirty="0">
                <a:latin typeface="微软雅黑" panose="020B0503020204020204" charset="-122"/>
                <a:ea typeface="微软雅黑" panose="020B0503020204020204" charset="-122"/>
                <a:cs typeface="微软雅黑" panose="020B0503020204020204" charset="-122"/>
              </a:rPr>
              <a:t>提高落</a:t>
            </a:r>
            <a:endParaRPr sz="1000">
              <a:latin typeface="微软雅黑" panose="020B0503020204020204" charset="-122"/>
              <a:ea typeface="微软雅黑" panose="020B0503020204020204" charset="-122"/>
              <a:cs typeface="微软雅黑" panose="020B0503020204020204" charset="-122"/>
            </a:endParaRPr>
          </a:p>
        </p:txBody>
      </p:sp>
      <p:sp>
        <p:nvSpPr>
          <p:cNvPr id="19" name="object 19"/>
          <p:cNvSpPr txBox="1"/>
          <p:nvPr/>
        </p:nvSpPr>
        <p:spPr>
          <a:xfrm>
            <a:off x="3809585" y="3500846"/>
            <a:ext cx="404843" cy="165100"/>
          </a:xfrm>
          <a:prstGeom prst="rect">
            <a:avLst/>
          </a:prstGeom>
        </p:spPr>
        <p:txBody>
          <a:bodyPr vert="horz" wrap="square" lIns="0" tIns="12056" rIns="0" bIns="0" rtlCol="0">
            <a:spAutoFit/>
          </a:bodyPr>
          <a:lstStyle/>
          <a:p>
            <a:pPr marL="12700">
              <a:lnSpc>
                <a:spcPct val="100000"/>
              </a:lnSpc>
              <a:spcBef>
                <a:spcPts val="95"/>
              </a:spcBef>
            </a:pPr>
            <a:r>
              <a:rPr sz="1000" spc="-5" dirty="0">
                <a:latin typeface="微软雅黑" panose="020B0503020204020204" charset="-122"/>
                <a:ea typeface="微软雅黑" panose="020B0503020204020204" charset="-122"/>
                <a:cs typeface="微软雅黑" panose="020B0503020204020204" charset="-122"/>
              </a:rPr>
              <a:t>袋价格</a:t>
            </a:r>
            <a:endParaRPr sz="1000" spc="-5" dirty="0">
              <a:latin typeface="微软雅黑" panose="020B0503020204020204" charset="-122"/>
              <a:ea typeface="微软雅黑" panose="020B0503020204020204" charset="-122"/>
              <a:cs typeface="微软雅黑" panose="020B0503020204020204" charset="-122"/>
            </a:endParaRPr>
          </a:p>
        </p:txBody>
      </p:sp>
      <p:sp>
        <p:nvSpPr>
          <p:cNvPr id="20" name="object 20"/>
          <p:cNvSpPr txBox="1"/>
          <p:nvPr/>
        </p:nvSpPr>
        <p:spPr>
          <a:xfrm>
            <a:off x="4341084" y="3390637"/>
            <a:ext cx="1734226" cy="308610"/>
          </a:xfrm>
          <a:prstGeom prst="rect">
            <a:avLst/>
          </a:prstGeom>
        </p:spPr>
        <p:txBody>
          <a:bodyPr vert="horz" wrap="square" lIns="0" tIns="12056" rIns="0" bIns="0" rtlCol="0">
            <a:spAutoFit/>
          </a:bodyPr>
          <a:lstStyle/>
          <a:p>
            <a:pPr marL="201295" indent="-189230">
              <a:lnSpc>
                <a:spcPts val="1160"/>
              </a:lnSpc>
              <a:spcBef>
                <a:spcPts val="95"/>
              </a:spcBef>
              <a:buClr>
                <a:srgbClr val="00295F"/>
              </a:buClr>
              <a:buSzPct val="125000"/>
              <a:buFont typeface="Arial" panose="020B0604020202020204"/>
              <a:buChar char="▪"/>
              <a:tabLst>
                <a:tab pos="201295" algn="l"/>
                <a:tab pos="201930" algn="l"/>
              </a:tabLst>
            </a:pPr>
            <a:r>
              <a:rPr sz="1000" spc="-10" dirty="0">
                <a:latin typeface="微软雅黑" panose="020B0503020204020204" charset="-122"/>
                <a:ea typeface="微软雅黑" panose="020B0503020204020204" charset="-122"/>
                <a:cs typeface="微软雅黑" panose="020B0503020204020204" charset="-122"/>
              </a:rPr>
              <a:t>提高</a:t>
            </a:r>
            <a:r>
              <a:rPr sz="1000" dirty="0">
                <a:latin typeface="微软雅黑" panose="020B0503020204020204" charset="-122"/>
                <a:ea typeface="微软雅黑" panose="020B0503020204020204" charset="-122"/>
                <a:cs typeface="微软雅黑" panose="020B0503020204020204" charset="-122"/>
              </a:rPr>
              <a:t>XXX</a:t>
            </a:r>
            <a:r>
              <a:rPr sz="1000" spc="-10" dirty="0">
                <a:latin typeface="微软雅黑" panose="020B0503020204020204" charset="-122"/>
                <a:ea typeface="微软雅黑" panose="020B0503020204020204" charset="-122"/>
                <a:cs typeface="微软雅黑" panose="020B0503020204020204" charset="-122"/>
              </a:rPr>
              <a:t>产品价格，幅度为</a:t>
            </a:r>
            <a:endParaRPr sz="1000">
              <a:latin typeface="微软雅黑" panose="020B0503020204020204" charset="-122"/>
              <a:ea typeface="微软雅黑" panose="020B0503020204020204" charset="-122"/>
              <a:cs typeface="微软雅黑" panose="020B0503020204020204" charset="-122"/>
            </a:endParaRPr>
          </a:p>
          <a:p>
            <a:pPr marL="201295">
              <a:lnSpc>
                <a:spcPts val="1160"/>
              </a:lnSpc>
            </a:pPr>
            <a:r>
              <a:rPr sz="1000" dirty="0">
                <a:latin typeface="微软雅黑" panose="020B0503020204020204" charset="-122"/>
                <a:ea typeface="微软雅黑" panose="020B0503020204020204" charset="-122"/>
                <a:cs typeface="微软雅黑" panose="020B0503020204020204" charset="-122"/>
              </a:rPr>
              <a:t>XXX%</a:t>
            </a:r>
            <a:endParaRPr sz="1000">
              <a:latin typeface="微软雅黑" panose="020B0503020204020204" charset="-122"/>
              <a:ea typeface="微软雅黑" panose="020B0503020204020204" charset="-122"/>
              <a:cs typeface="微软雅黑" panose="020B0503020204020204" charset="-122"/>
            </a:endParaRPr>
          </a:p>
        </p:txBody>
      </p:sp>
      <p:sp>
        <p:nvSpPr>
          <p:cNvPr id="21" name="object 21"/>
          <p:cNvSpPr txBox="1"/>
          <p:nvPr/>
        </p:nvSpPr>
        <p:spPr>
          <a:xfrm>
            <a:off x="6641837" y="3410435"/>
            <a:ext cx="1279253" cy="165100"/>
          </a:xfrm>
          <a:prstGeom prst="rect">
            <a:avLst/>
          </a:prstGeom>
        </p:spPr>
        <p:txBody>
          <a:bodyPr vert="horz" wrap="square" lIns="0" tIns="12056" rIns="0" bIns="0" rtlCol="0">
            <a:spAutoFit/>
          </a:bodyPr>
          <a:lstStyle/>
          <a:p>
            <a:pPr marL="12700">
              <a:lnSpc>
                <a:spcPct val="100000"/>
              </a:lnSpc>
              <a:spcBef>
                <a:spcPts val="95"/>
              </a:spcBef>
              <a:tabLst>
                <a:tab pos="516890" algn="l"/>
                <a:tab pos="1019810" algn="l"/>
              </a:tabLst>
            </a:pPr>
            <a:r>
              <a:rPr sz="1000" spc="-10" dirty="0">
                <a:latin typeface="微软雅黑" panose="020B0503020204020204" charset="-122"/>
                <a:ea typeface="微软雅黑" panose="020B0503020204020204" charset="-122"/>
                <a:cs typeface="Arial" panose="020B0604020202020204"/>
              </a:rPr>
              <a:t>2</a:t>
            </a:r>
            <a:r>
              <a:rPr sz="1000" spc="-5" dirty="0">
                <a:latin typeface="微软雅黑" panose="020B0503020204020204" charset="-122"/>
                <a:ea typeface="微软雅黑" panose="020B0503020204020204" charset="-122"/>
                <a:cs typeface="Arial" panose="020B0604020202020204"/>
              </a:rPr>
              <a:t>.5</a:t>
            </a:r>
            <a:r>
              <a:rPr sz="1000" dirty="0">
                <a:latin typeface="微软雅黑" panose="020B0503020204020204" charset="-122"/>
                <a:ea typeface="微软雅黑" panose="020B0503020204020204" charset="-122"/>
                <a:cs typeface="Arial" panose="020B0604020202020204"/>
              </a:rPr>
              <a:t>	</a:t>
            </a:r>
            <a:r>
              <a:rPr sz="1000" spc="-10" dirty="0">
                <a:latin typeface="微软雅黑" panose="020B0503020204020204" charset="-122"/>
                <a:ea typeface="微软雅黑" panose="020B0503020204020204" charset="-122"/>
                <a:cs typeface="Arial" panose="020B0604020202020204"/>
              </a:rPr>
              <a:t>2</a:t>
            </a:r>
            <a:r>
              <a:rPr sz="1000" spc="-5" dirty="0">
                <a:latin typeface="微软雅黑" panose="020B0503020204020204" charset="-122"/>
                <a:ea typeface="微软雅黑" panose="020B0503020204020204" charset="-122"/>
                <a:cs typeface="Arial" panose="020B0604020202020204"/>
              </a:rPr>
              <a:t>.5</a:t>
            </a:r>
            <a:r>
              <a:rPr sz="1000" dirty="0">
                <a:latin typeface="微软雅黑" panose="020B0503020204020204" charset="-122"/>
                <a:ea typeface="微软雅黑" panose="020B0503020204020204" charset="-122"/>
                <a:cs typeface="Arial" panose="020B0604020202020204"/>
              </a:rPr>
              <a:t>	</a:t>
            </a:r>
            <a:r>
              <a:rPr sz="1000" spc="-10" dirty="0">
                <a:latin typeface="微软雅黑" panose="020B0503020204020204" charset="-122"/>
                <a:ea typeface="微软雅黑" panose="020B0503020204020204" charset="-122"/>
                <a:cs typeface="Arial" panose="020B0604020202020204"/>
              </a:rPr>
              <a:t>41</a:t>
            </a:r>
            <a:r>
              <a:rPr sz="1000" spc="-5" dirty="0">
                <a:latin typeface="微软雅黑" panose="020B0503020204020204" charset="-122"/>
                <a:ea typeface="微软雅黑" panose="020B0503020204020204" charset="-122"/>
                <a:cs typeface="Arial" panose="020B0604020202020204"/>
              </a:rPr>
              <a:t>.7</a:t>
            </a:r>
            <a:endParaRPr sz="1000">
              <a:latin typeface="微软雅黑" panose="020B0503020204020204" charset="-122"/>
              <a:ea typeface="微软雅黑" panose="020B0503020204020204" charset="-122"/>
              <a:cs typeface="Arial" panose="020B0604020202020204"/>
            </a:endParaRPr>
          </a:p>
        </p:txBody>
      </p:sp>
      <p:sp>
        <p:nvSpPr>
          <p:cNvPr id="22" name="object 22"/>
          <p:cNvSpPr/>
          <p:nvPr/>
        </p:nvSpPr>
        <p:spPr>
          <a:xfrm>
            <a:off x="1408702" y="1449091"/>
            <a:ext cx="6609475" cy="0"/>
          </a:xfrm>
          <a:custGeom>
            <a:avLst/>
            <a:gdLst/>
            <a:ahLst/>
            <a:cxnLst/>
            <a:rect l="l" t="t" r="r" b="b"/>
            <a:pathLst>
              <a:path w="6614159">
                <a:moveTo>
                  <a:pt x="0" y="0"/>
                </a:moveTo>
                <a:lnTo>
                  <a:pt x="6614159" y="0"/>
                </a:lnTo>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p:nvPr/>
        </p:nvSpPr>
        <p:spPr>
          <a:xfrm>
            <a:off x="1439160" y="2442036"/>
            <a:ext cx="6608207" cy="0"/>
          </a:xfrm>
          <a:custGeom>
            <a:avLst/>
            <a:gdLst/>
            <a:ahLst/>
            <a:cxnLst/>
            <a:rect l="l" t="t" r="r" b="b"/>
            <a:pathLst>
              <a:path w="6612890">
                <a:moveTo>
                  <a:pt x="0" y="0"/>
                </a:moveTo>
                <a:lnTo>
                  <a:pt x="6612636" y="0"/>
                </a:lnTo>
              </a:path>
            </a:pathLst>
          </a:custGeom>
          <a:ln w="9525">
            <a:solidFill>
              <a:srgbClr val="80808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p:nvPr/>
        </p:nvSpPr>
        <p:spPr>
          <a:xfrm>
            <a:off x="1401087" y="3703014"/>
            <a:ext cx="6660239" cy="0"/>
          </a:xfrm>
          <a:custGeom>
            <a:avLst/>
            <a:gdLst/>
            <a:ahLst/>
            <a:cxnLst/>
            <a:rect l="l" t="t" r="r" b="b"/>
            <a:pathLst>
              <a:path w="6664959">
                <a:moveTo>
                  <a:pt x="0" y="0"/>
                </a:moveTo>
                <a:lnTo>
                  <a:pt x="6664452" y="0"/>
                </a:lnTo>
              </a:path>
            </a:pathLst>
          </a:custGeom>
          <a:ln w="9525">
            <a:solidFill>
              <a:srgbClr val="80808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25" name="object 25"/>
          <p:cNvSpPr txBox="1">
            <a:spLocks noGrp="1"/>
          </p:cNvSpPr>
          <p:nvPr>
            <p:ph type="title"/>
          </p:nvPr>
        </p:nvSpPr>
        <p:spPr>
          <a:xfrm>
            <a:off x="106401" y="203088"/>
            <a:ext cx="6537137"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举例：与大</a:t>
            </a:r>
            <a:r>
              <a:rPr spc="-10" dirty="0">
                <a:ea typeface="微软雅黑" panose="020B0503020204020204" charset="-122"/>
              </a:rPr>
              <a:t>客户</a:t>
            </a:r>
            <a:r>
              <a:rPr spc="-5" dirty="0">
                <a:ea typeface="微软雅黑" panose="020B0503020204020204" charset="-122"/>
              </a:rPr>
              <a:t>经</a:t>
            </a:r>
            <a:r>
              <a:rPr spc="-10" dirty="0">
                <a:ea typeface="微软雅黑" panose="020B0503020204020204" charset="-122"/>
              </a:rPr>
              <a:t>理合</a:t>
            </a:r>
            <a:r>
              <a:rPr spc="-5" dirty="0">
                <a:ea typeface="微软雅黑" panose="020B0503020204020204" charset="-122"/>
              </a:rPr>
              <a:t>作</a:t>
            </a:r>
            <a:r>
              <a:rPr spc="-10" dirty="0">
                <a:ea typeface="微软雅黑" panose="020B0503020204020204" charset="-122"/>
              </a:rPr>
              <a:t>针对</a:t>
            </a:r>
            <a:r>
              <a:rPr spc="-5" dirty="0">
                <a:ea typeface="微软雅黑" panose="020B0503020204020204" charset="-122"/>
              </a:rPr>
              <a:t>每</a:t>
            </a:r>
            <a:r>
              <a:rPr spc="-10" dirty="0">
                <a:ea typeface="微软雅黑" panose="020B0503020204020204" charset="-122"/>
              </a:rPr>
              <a:t>个大</a:t>
            </a:r>
            <a:r>
              <a:rPr spc="-5" dirty="0">
                <a:ea typeface="微软雅黑" panose="020B0503020204020204" charset="-122"/>
              </a:rPr>
              <a:t>客</a:t>
            </a:r>
            <a:r>
              <a:rPr spc="-10" dirty="0">
                <a:ea typeface="微软雅黑" panose="020B0503020204020204" charset="-122"/>
              </a:rPr>
              <a:t>户设</a:t>
            </a:r>
            <a:r>
              <a:rPr spc="-5" dirty="0">
                <a:ea typeface="微软雅黑" panose="020B0503020204020204" charset="-122"/>
              </a:rPr>
              <a:t>计</a:t>
            </a:r>
            <a:r>
              <a:rPr spc="-10" dirty="0">
                <a:ea typeface="微软雅黑" panose="020B0503020204020204" charset="-122"/>
              </a:rPr>
              <a:t>详细</a:t>
            </a:r>
            <a:r>
              <a:rPr spc="-5" dirty="0">
                <a:ea typeface="微软雅黑" panose="020B0503020204020204" charset="-122"/>
              </a:rPr>
              <a:t>的</a:t>
            </a:r>
            <a:r>
              <a:rPr spc="-10" dirty="0">
                <a:ea typeface="微软雅黑" panose="020B0503020204020204" charset="-122"/>
              </a:rPr>
              <a:t>行动</a:t>
            </a:r>
            <a:r>
              <a:rPr spc="-5" dirty="0">
                <a:ea typeface="微软雅黑" panose="020B0503020204020204" charset="-122"/>
              </a:rPr>
              <a:t>计</a:t>
            </a:r>
            <a:r>
              <a:rPr spc="-10" dirty="0">
                <a:ea typeface="微软雅黑" panose="020B0503020204020204" charset="-122"/>
              </a:rPr>
              <a:t>划</a:t>
            </a:r>
            <a:endParaRPr spc="-10" dirty="0">
              <a:ea typeface="微软雅黑" panose="020B0503020204020204" charset="-122"/>
            </a:endParaRPr>
          </a:p>
        </p:txBody>
      </p:sp>
      <p:sp>
        <p:nvSpPr>
          <p:cNvPr id="26" name="object 26"/>
          <p:cNvSpPr txBox="1"/>
          <p:nvPr/>
        </p:nvSpPr>
        <p:spPr>
          <a:xfrm>
            <a:off x="2202269" y="1232024"/>
            <a:ext cx="537464" cy="165100"/>
          </a:xfrm>
          <a:prstGeom prst="rect">
            <a:avLst/>
          </a:prstGeom>
        </p:spPr>
        <p:txBody>
          <a:bodyPr vert="horz" wrap="square" lIns="0" tIns="12056" rIns="0" bIns="0" rtlCol="0">
            <a:spAutoFit/>
          </a:bodyPr>
          <a:lstStyle/>
          <a:p>
            <a:pPr marL="12700">
              <a:lnSpc>
                <a:spcPct val="100000"/>
              </a:lnSpc>
              <a:spcBef>
                <a:spcPts val="95"/>
              </a:spcBef>
            </a:pPr>
            <a:r>
              <a:rPr sz="1000" b="1" dirty="0">
                <a:latin typeface="微软雅黑" panose="020B0503020204020204" charset="-122"/>
                <a:ea typeface="微软雅黑" panose="020B0503020204020204" charset="-122"/>
                <a:cs typeface="微软雅黑" panose="020B0503020204020204" charset="-122"/>
              </a:rPr>
              <a:t>客户战略</a:t>
            </a:r>
            <a:endParaRPr sz="1000" b="1" dirty="0">
              <a:latin typeface="微软雅黑" panose="020B0503020204020204" charset="-122"/>
              <a:ea typeface="微软雅黑" panose="020B0503020204020204" charset="-122"/>
              <a:cs typeface="微软雅黑" panose="020B0503020204020204" charset="-122"/>
            </a:endParaRPr>
          </a:p>
        </p:txBody>
      </p:sp>
      <p:sp>
        <p:nvSpPr>
          <p:cNvPr id="27" name="object 27"/>
          <p:cNvSpPr txBox="1"/>
          <p:nvPr/>
        </p:nvSpPr>
        <p:spPr>
          <a:xfrm>
            <a:off x="1461241" y="2493053"/>
            <a:ext cx="567288" cy="1134110"/>
          </a:xfrm>
          <a:prstGeom prst="rect">
            <a:avLst/>
          </a:prstGeom>
        </p:spPr>
        <p:txBody>
          <a:bodyPr vert="horz" wrap="square" lIns="0" tIns="27285" rIns="0" bIns="0" rtlCol="0">
            <a:spAutoFit/>
          </a:bodyPr>
          <a:lstStyle/>
          <a:p>
            <a:pPr marL="12700" marR="5080" algn="just">
              <a:lnSpc>
                <a:spcPct val="90000"/>
              </a:lnSpc>
              <a:spcBef>
                <a:spcPts val="215"/>
              </a:spcBef>
            </a:pPr>
            <a:r>
              <a:rPr sz="1000" spc="-5" dirty="0">
                <a:latin typeface="微软雅黑" panose="020B0503020204020204" charset="-122"/>
                <a:ea typeface="微软雅黑" panose="020B0503020204020204" charset="-122"/>
                <a:cs typeface="微软雅黑" panose="020B0503020204020204" charset="-122"/>
              </a:rPr>
              <a:t>支持</a:t>
            </a:r>
            <a:r>
              <a:rPr sz="1000" dirty="0">
                <a:latin typeface="微软雅黑" panose="020B0503020204020204" charset="-122"/>
                <a:ea typeface="微软雅黑" panose="020B0503020204020204" charset="-122"/>
                <a:cs typeface="微软雅黑" panose="020B0503020204020204" charset="-122"/>
              </a:rPr>
              <a:t>XXX  </a:t>
            </a:r>
            <a:r>
              <a:rPr sz="1000" spc="-5" dirty="0">
                <a:latin typeface="微软雅黑" panose="020B0503020204020204" charset="-122"/>
                <a:ea typeface="微软雅黑" panose="020B0503020204020204" charset="-122"/>
                <a:cs typeface="微软雅黑" panose="020B0503020204020204" charset="-122"/>
              </a:rPr>
              <a:t>在中端市 场迅速增 长，方式 是</a:t>
            </a:r>
            <a:r>
              <a:rPr sz="1000" spc="-65"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供应质 量稳定和 </a:t>
            </a:r>
            <a:r>
              <a:rPr sz="1000" spc="-10" dirty="0">
                <a:latin typeface="微软雅黑" panose="020B0503020204020204" charset="-122"/>
                <a:ea typeface="微软雅黑" panose="020B0503020204020204" charset="-122"/>
                <a:cs typeface="微软雅黑" panose="020B0503020204020204" charset="-122"/>
              </a:rPr>
              <a:t>价格有优 </a:t>
            </a:r>
            <a:r>
              <a:rPr sz="1000" spc="-5" dirty="0">
                <a:latin typeface="微软雅黑" panose="020B0503020204020204" charset="-122"/>
                <a:ea typeface="微软雅黑" panose="020B0503020204020204" charset="-122"/>
                <a:cs typeface="微软雅黑" panose="020B0503020204020204" charset="-122"/>
              </a:rPr>
              <a:t>势的产品</a:t>
            </a:r>
            <a:endParaRPr sz="1000">
              <a:latin typeface="微软雅黑" panose="020B0503020204020204" charset="-122"/>
              <a:ea typeface="微软雅黑" panose="020B0503020204020204" charset="-122"/>
              <a:cs typeface="微软雅黑" panose="020B0503020204020204" charset="-122"/>
            </a:endParaRPr>
          </a:p>
        </p:txBody>
      </p:sp>
      <p:sp>
        <p:nvSpPr>
          <p:cNvPr id="28" name="object 28"/>
          <p:cNvSpPr txBox="1"/>
          <p:nvPr/>
        </p:nvSpPr>
        <p:spPr>
          <a:xfrm>
            <a:off x="3620743" y="2461072"/>
            <a:ext cx="2745699" cy="203200"/>
          </a:xfrm>
          <a:prstGeom prst="rect">
            <a:avLst/>
          </a:prstGeom>
        </p:spPr>
        <p:txBody>
          <a:bodyPr vert="horz" wrap="square" lIns="0" tIns="12056" rIns="0" bIns="0" rtlCol="0">
            <a:spAutoFit/>
          </a:bodyPr>
          <a:lstStyle/>
          <a:p>
            <a:pPr marL="201295" indent="-189230">
              <a:lnSpc>
                <a:spcPct val="100000"/>
              </a:lnSpc>
              <a:spcBef>
                <a:spcPts val="95"/>
              </a:spcBef>
              <a:buClr>
                <a:srgbClr val="00295F"/>
              </a:buClr>
              <a:buSzPct val="125000"/>
              <a:buFont typeface="Arial" panose="020B0604020202020204"/>
              <a:buChar char="▪"/>
              <a:tabLst>
                <a:tab pos="201295" algn="l"/>
                <a:tab pos="201930" algn="l"/>
                <a:tab pos="733425" algn="l"/>
                <a:tab pos="921385" algn="l"/>
              </a:tabLst>
            </a:pPr>
            <a:r>
              <a:rPr sz="1000" spc="-5" dirty="0">
                <a:latin typeface="微软雅黑" panose="020B0503020204020204" charset="-122"/>
                <a:ea typeface="微软雅黑" panose="020B0503020204020204" charset="-122"/>
                <a:cs typeface="微软雅黑" panose="020B0503020204020204" charset="-122"/>
              </a:rPr>
              <a:t>升级	</a:t>
            </a:r>
            <a:r>
              <a:rPr sz="1250" spc="-5" dirty="0">
                <a:solidFill>
                  <a:srgbClr val="00295F"/>
                </a:solidFill>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进入</a:t>
            </a: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市场，方式是</a:t>
            </a:r>
            <a:r>
              <a:rPr sz="1000" spc="-30"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升级</a:t>
            </a:r>
            <a:r>
              <a:rPr sz="1000" dirty="0">
                <a:latin typeface="微软雅黑" panose="020B0503020204020204" charset="-122"/>
                <a:ea typeface="微软雅黑" panose="020B0503020204020204" charset="-122"/>
                <a:cs typeface="微软雅黑" panose="020B0503020204020204" charset="-122"/>
              </a:rPr>
              <a:t>XXX</a:t>
            </a:r>
            <a:endParaRPr sz="1000">
              <a:latin typeface="微软雅黑" panose="020B0503020204020204" charset="-122"/>
              <a:ea typeface="微软雅黑" panose="020B0503020204020204" charset="-122"/>
              <a:cs typeface="微软雅黑" panose="020B0503020204020204" charset="-122"/>
            </a:endParaRPr>
          </a:p>
        </p:txBody>
      </p:sp>
      <p:sp>
        <p:nvSpPr>
          <p:cNvPr id="29" name="object 29"/>
          <p:cNvSpPr txBox="1"/>
          <p:nvPr/>
        </p:nvSpPr>
        <p:spPr>
          <a:xfrm>
            <a:off x="3809585" y="2634684"/>
            <a:ext cx="2515992" cy="165100"/>
          </a:xfrm>
          <a:prstGeom prst="rect">
            <a:avLst/>
          </a:prstGeom>
        </p:spPr>
        <p:txBody>
          <a:bodyPr vert="horz" wrap="square" lIns="0" tIns="12056" rIns="0" bIns="0" rtlCol="0">
            <a:spAutoFit/>
          </a:bodyPr>
          <a:lstStyle/>
          <a:p>
            <a:pPr marL="12700">
              <a:lnSpc>
                <a:spcPct val="100000"/>
              </a:lnSpc>
              <a:spcBef>
                <a:spcPts val="95"/>
              </a:spcBef>
              <a:tabLst>
                <a:tab pos="733425" algn="l"/>
              </a:tabLst>
            </a:pPr>
            <a:r>
              <a:rPr sz="1000" dirty="0">
                <a:latin typeface="微软雅黑" panose="020B0503020204020204" charset="-122"/>
                <a:ea typeface="微软雅黑" panose="020B0503020204020204" charset="-122"/>
                <a:cs typeface="微软雅黑" panose="020B0503020204020204" charset="-122"/>
              </a:rPr>
              <a:t>XXX	</a:t>
            </a:r>
            <a:r>
              <a:rPr sz="1500" spc="-7" baseline="3000" dirty="0">
                <a:latin typeface="微软雅黑" panose="020B0503020204020204" charset="-122"/>
                <a:ea typeface="微软雅黑" panose="020B0503020204020204" charset="-122"/>
                <a:cs typeface="微软雅黑" panose="020B0503020204020204" charset="-122"/>
              </a:rPr>
              <a:t>机械</a:t>
            </a:r>
            <a:r>
              <a:rPr sz="1500" spc="-15" baseline="3000" dirty="0">
                <a:latin typeface="微软雅黑" panose="020B0503020204020204" charset="-122"/>
                <a:ea typeface="微软雅黑" panose="020B0503020204020204" charset="-122"/>
                <a:cs typeface="微软雅黑" panose="020B0503020204020204" charset="-122"/>
              </a:rPr>
              <a:t> </a:t>
            </a:r>
            <a:r>
              <a:rPr sz="1500" spc="-7" baseline="3000" dirty="0">
                <a:latin typeface="微软雅黑" panose="020B0503020204020204" charset="-122"/>
                <a:ea typeface="微软雅黑" panose="020B0503020204020204" charset="-122"/>
                <a:cs typeface="微软雅黑" panose="020B0503020204020204" charset="-122"/>
              </a:rPr>
              <a:t>(从</a:t>
            </a:r>
            <a:r>
              <a:rPr sz="1500" baseline="3000" dirty="0">
                <a:latin typeface="微软雅黑" panose="020B0503020204020204" charset="-122"/>
                <a:ea typeface="微软雅黑" panose="020B0503020204020204" charset="-122"/>
                <a:cs typeface="微软雅黑" panose="020B0503020204020204" charset="-122"/>
              </a:rPr>
              <a:t>XXX</a:t>
            </a:r>
            <a:r>
              <a:rPr sz="1500" spc="-7" baseline="3000" dirty="0">
                <a:latin typeface="微软雅黑" panose="020B0503020204020204" charset="-122"/>
                <a:ea typeface="微软雅黑" panose="020B0503020204020204" charset="-122"/>
                <a:cs typeface="微软雅黑" panose="020B0503020204020204" charset="-122"/>
              </a:rPr>
              <a:t>到</a:t>
            </a:r>
            <a:r>
              <a:rPr sz="1500" spc="-7" baseline="3000" dirty="0">
                <a:latin typeface="微软雅黑" panose="020B0503020204020204" charset="-122"/>
                <a:ea typeface="微软雅黑" panose="020B0503020204020204" charset="-122"/>
                <a:cs typeface="微软雅黑" panose="020B0503020204020204" charset="-122"/>
              </a:rPr>
              <a:t>XXX)，预计年销</a:t>
            </a:r>
            <a:endParaRPr sz="1500" baseline="3000">
              <a:latin typeface="微软雅黑" panose="020B0503020204020204" charset="-122"/>
              <a:ea typeface="微软雅黑" panose="020B0503020204020204" charset="-122"/>
              <a:cs typeface="微软雅黑" panose="020B0503020204020204" charset="-122"/>
            </a:endParaRPr>
          </a:p>
        </p:txBody>
      </p:sp>
      <p:sp>
        <p:nvSpPr>
          <p:cNvPr id="30" name="object 30"/>
          <p:cNvSpPr txBox="1"/>
          <p:nvPr/>
        </p:nvSpPr>
        <p:spPr>
          <a:xfrm>
            <a:off x="6641837" y="2512851"/>
            <a:ext cx="1348419" cy="165100"/>
          </a:xfrm>
          <a:prstGeom prst="rect">
            <a:avLst/>
          </a:prstGeom>
        </p:spPr>
        <p:txBody>
          <a:bodyPr vert="horz" wrap="square" lIns="0" tIns="12056" rIns="0" bIns="0" rtlCol="0">
            <a:spAutoFit/>
          </a:bodyPr>
          <a:lstStyle/>
          <a:p>
            <a:pPr marL="12700">
              <a:lnSpc>
                <a:spcPct val="100000"/>
              </a:lnSpc>
              <a:spcBef>
                <a:spcPts val="95"/>
              </a:spcBef>
              <a:tabLst>
                <a:tab pos="515620" algn="l"/>
                <a:tab pos="1019810" algn="l"/>
              </a:tabLst>
            </a:pPr>
            <a:r>
              <a:rPr sz="1000" spc="-10" dirty="0">
                <a:latin typeface="微软雅黑" panose="020B0503020204020204" charset="-122"/>
                <a:ea typeface="微软雅黑" panose="020B0503020204020204" charset="-122"/>
                <a:cs typeface="Arial" panose="020B0604020202020204"/>
              </a:rPr>
              <a:t>6.</a:t>
            </a:r>
            <a:r>
              <a:rPr sz="1000" spc="-5" dirty="0">
                <a:latin typeface="微软雅黑" panose="020B0503020204020204" charset="-122"/>
                <a:ea typeface="微软雅黑" panose="020B0503020204020204" charset="-122"/>
                <a:cs typeface="Arial" panose="020B0604020202020204"/>
              </a:rPr>
              <a:t>7</a:t>
            </a:r>
            <a:r>
              <a:rPr sz="1000" dirty="0">
                <a:latin typeface="微软雅黑" panose="020B0503020204020204" charset="-122"/>
                <a:ea typeface="微软雅黑" panose="020B0503020204020204" charset="-122"/>
                <a:cs typeface="Arial" panose="020B0604020202020204"/>
              </a:rPr>
              <a:t>	</a:t>
            </a:r>
            <a:r>
              <a:rPr sz="1000" spc="-10" dirty="0">
                <a:latin typeface="微软雅黑" panose="020B0503020204020204" charset="-122"/>
                <a:ea typeface="微软雅黑" panose="020B0503020204020204" charset="-122"/>
                <a:cs typeface="Arial" panose="020B0604020202020204"/>
              </a:rPr>
              <a:t>10.</a:t>
            </a:r>
            <a:r>
              <a:rPr sz="1000" spc="-5" dirty="0">
                <a:latin typeface="微软雅黑" panose="020B0503020204020204" charset="-122"/>
                <a:ea typeface="微软雅黑" panose="020B0503020204020204" charset="-122"/>
                <a:cs typeface="Arial" panose="020B0604020202020204"/>
              </a:rPr>
              <a:t>0</a:t>
            </a:r>
            <a:r>
              <a:rPr sz="1000" dirty="0">
                <a:latin typeface="微软雅黑" panose="020B0503020204020204" charset="-122"/>
                <a:ea typeface="微软雅黑" panose="020B0503020204020204" charset="-122"/>
                <a:cs typeface="Arial" panose="020B0604020202020204"/>
              </a:rPr>
              <a:t>	</a:t>
            </a:r>
            <a:r>
              <a:rPr sz="1000" spc="-10" dirty="0">
                <a:latin typeface="微软雅黑" panose="020B0503020204020204" charset="-122"/>
                <a:ea typeface="微软雅黑" panose="020B0503020204020204" charset="-122"/>
                <a:cs typeface="Arial" panose="020B0604020202020204"/>
              </a:rPr>
              <a:t>146.9</a:t>
            </a:r>
            <a:endParaRPr sz="1000">
              <a:latin typeface="微软雅黑" panose="020B0503020204020204" charset="-122"/>
              <a:ea typeface="微软雅黑" panose="020B0503020204020204" charset="-122"/>
              <a:cs typeface="Arial" panose="020B0604020202020204"/>
            </a:endParaRPr>
          </a:p>
        </p:txBody>
      </p:sp>
      <p:sp>
        <p:nvSpPr>
          <p:cNvPr id="31" name="object 31"/>
          <p:cNvSpPr txBox="1"/>
          <p:nvPr/>
        </p:nvSpPr>
        <p:spPr>
          <a:xfrm>
            <a:off x="2203792" y="2479347"/>
            <a:ext cx="1225951" cy="165100"/>
          </a:xfrm>
          <a:prstGeom prst="rect">
            <a:avLst/>
          </a:prstGeom>
        </p:spPr>
        <p:txBody>
          <a:bodyPr vert="horz" wrap="square" lIns="0" tIns="12056" rIns="0" bIns="0" rtlCol="0">
            <a:spAutoFit/>
          </a:bodyPr>
          <a:lstStyle/>
          <a:p>
            <a:pPr marL="201295" indent="-189230">
              <a:lnSpc>
                <a:spcPct val="100000"/>
              </a:lnSpc>
              <a:spcBef>
                <a:spcPts val="95"/>
              </a:spcBef>
              <a:buClr>
                <a:srgbClr val="00295F"/>
              </a:buClr>
              <a:buSzPct val="125000"/>
              <a:buFont typeface="Arial" panose="020B0604020202020204"/>
              <a:buChar char="▪"/>
              <a:tabLst>
                <a:tab pos="201295" algn="l"/>
                <a:tab pos="201930" algn="l"/>
              </a:tabLst>
            </a:pPr>
            <a:r>
              <a:rPr sz="1000" spc="-5" dirty="0">
                <a:latin typeface="微软雅黑" panose="020B0503020204020204" charset="-122"/>
                <a:ea typeface="微软雅黑" panose="020B0503020204020204" charset="-122"/>
                <a:cs typeface="微软雅黑" panose="020B0503020204020204" charset="-122"/>
              </a:rPr>
              <a:t>在产品稳定提供的</a:t>
            </a:r>
            <a:endParaRPr sz="1000" spc="-5" dirty="0">
              <a:latin typeface="微软雅黑" panose="020B0503020204020204" charset="-122"/>
              <a:ea typeface="微软雅黑" panose="020B0503020204020204" charset="-122"/>
              <a:cs typeface="微软雅黑" panose="020B0503020204020204" charset="-122"/>
            </a:endParaRPr>
          </a:p>
        </p:txBody>
      </p:sp>
      <p:sp>
        <p:nvSpPr>
          <p:cNvPr id="32" name="object 32"/>
          <p:cNvSpPr txBox="1"/>
          <p:nvPr/>
        </p:nvSpPr>
        <p:spPr>
          <a:xfrm>
            <a:off x="2392634" y="2598135"/>
            <a:ext cx="1036855" cy="165100"/>
          </a:xfrm>
          <a:prstGeom prst="rect">
            <a:avLst/>
          </a:prstGeom>
        </p:spPr>
        <p:txBody>
          <a:bodyPr vert="horz" wrap="square" lIns="0" tIns="12056" rIns="0" bIns="0" rtlCol="0">
            <a:spAutoFit/>
          </a:bodyPr>
          <a:lstStyle/>
          <a:p>
            <a:pPr marL="12700">
              <a:lnSpc>
                <a:spcPct val="100000"/>
              </a:lnSpc>
              <a:spcBef>
                <a:spcPts val="95"/>
              </a:spcBef>
            </a:pPr>
            <a:r>
              <a:rPr sz="1000" spc="-5" dirty="0">
                <a:latin typeface="微软雅黑" panose="020B0503020204020204" charset="-122"/>
                <a:ea typeface="微软雅黑" panose="020B0503020204020204" charset="-122"/>
                <a:cs typeface="微软雅黑" panose="020B0503020204020204" charset="-122"/>
              </a:rPr>
              <a:t>基础上，保持中端</a:t>
            </a:r>
            <a:endParaRPr sz="1000" spc="-5" dirty="0">
              <a:latin typeface="微软雅黑" panose="020B0503020204020204" charset="-122"/>
              <a:ea typeface="微软雅黑" panose="020B0503020204020204" charset="-122"/>
              <a:cs typeface="微软雅黑" panose="020B0503020204020204" charset="-122"/>
            </a:endParaRPr>
          </a:p>
        </p:txBody>
      </p:sp>
      <p:sp>
        <p:nvSpPr>
          <p:cNvPr id="33" name="object 33"/>
          <p:cNvSpPr txBox="1"/>
          <p:nvPr/>
        </p:nvSpPr>
        <p:spPr>
          <a:xfrm>
            <a:off x="2367252" y="2716923"/>
            <a:ext cx="5692551" cy="165100"/>
          </a:xfrm>
          <a:prstGeom prst="rect">
            <a:avLst/>
          </a:prstGeom>
        </p:spPr>
        <p:txBody>
          <a:bodyPr vert="horz" wrap="square" lIns="0" tIns="12056" rIns="0" bIns="0" rtlCol="0">
            <a:spAutoFit/>
          </a:bodyPr>
          <a:lstStyle/>
          <a:p>
            <a:pPr marL="38100">
              <a:lnSpc>
                <a:spcPct val="100000"/>
              </a:lnSpc>
              <a:spcBef>
                <a:spcPts val="95"/>
              </a:spcBef>
              <a:tabLst>
                <a:tab pos="2176780" algn="l"/>
                <a:tab pos="5657850" algn="l"/>
              </a:tabLst>
            </a:pPr>
            <a:r>
              <a:rPr sz="1000" spc="-5" dirty="0">
                <a:latin typeface="微软雅黑" panose="020B0503020204020204" charset="-122"/>
                <a:ea typeface="微软雅黑" panose="020B0503020204020204" charset="-122"/>
                <a:cs typeface="微软雅黑" panose="020B0503020204020204" charset="-122"/>
              </a:rPr>
              <a:t>产品的独家供货商</a:t>
            </a:r>
            <a:r>
              <a:rPr sz="1000" spc="30" dirty="0">
                <a:latin typeface="微软雅黑" panose="020B0503020204020204" charset="-122"/>
                <a:ea typeface="微软雅黑" panose="020B0503020204020204" charset="-122"/>
                <a:cs typeface="微软雅黑" panose="020B0503020204020204" charset="-122"/>
              </a:rPr>
              <a:t> </a:t>
            </a:r>
            <a:r>
              <a:rPr sz="1500" u="dash" spc="-7" baseline="-22000" dirty="0">
                <a:uFill>
                  <a:solidFill>
                    <a:srgbClr val="808080"/>
                  </a:solidFill>
                </a:uFill>
                <a:latin typeface="微软雅黑" panose="020B0503020204020204" charset="-122"/>
                <a:ea typeface="微软雅黑" panose="020B0503020204020204" charset="-122"/>
                <a:cs typeface="微软雅黑" panose="020B0503020204020204" charset="-122"/>
              </a:rPr>
              <a:t> </a:t>
            </a:r>
            <a:r>
              <a:rPr sz="1500" u="dash" baseline="-22000" dirty="0">
                <a:uFill>
                  <a:solidFill>
                    <a:srgbClr val="808080"/>
                  </a:solidFill>
                </a:uFill>
                <a:latin typeface="微软雅黑" panose="020B0503020204020204" charset="-122"/>
                <a:ea typeface="微软雅黑" panose="020B0503020204020204" charset="-122"/>
                <a:cs typeface="微软雅黑" panose="020B0503020204020204" charset="-122"/>
              </a:rPr>
              <a:t>	</a:t>
            </a:r>
            <a:r>
              <a:rPr sz="1500" u="dash" spc="-7" baseline="-22000" dirty="0">
                <a:uFill>
                  <a:solidFill>
                    <a:srgbClr val="808080"/>
                  </a:solidFill>
                </a:uFill>
                <a:latin typeface="微软雅黑" panose="020B0503020204020204" charset="-122"/>
                <a:ea typeface="微软雅黑" panose="020B0503020204020204" charset="-122"/>
                <a:cs typeface="微软雅黑" panose="020B0503020204020204" charset="-122"/>
              </a:rPr>
              <a:t>售额</a:t>
            </a:r>
            <a:r>
              <a:rPr sz="1500" u="dash" baseline="-22000" dirty="0">
                <a:uFill>
                  <a:solidFill>
                    <a:srgbClr val="808080"/>
                  </a:solidFill>
                </a:uFill>
                <a:latin typeface="微软雅黑" panose="020B0503020204020204" charset="-122"/>
                <a:ea typeface="微软雅黑" panose="020B0503020204020204" charset="-122"/>
                <a:cs typeface="微软雅黑" panose="020B0503020204020204" charset="-122"/>
              </a:rPr>
              <a:t>XXX</a:t>
            </a:r>
            <a:r>
              <a:rPr sz="1500" u="dash" spc="-7" baseline="-22000" dirty="0">
                <a:uFill>
                  <a:solidFill>
                    <a:srgbClr val="808080"/>
                  </a:solidFill>
                </a:uFill>
                <a:latin typeface="微软雅黑" panose="020B0503020204020204" charset="-122"/>
                <a:ea typeface="微软雅黑" panose="020B0503020204020204" charset="-122"/>
                <a:cs typeface="微软雅黑" panose="020B0503020204020204" charset="-122"/>
              </a:rPr>
              <a:t>万</a:t>
            </a:r>
            <a:r>
              <a:rPr sz="1500" u="dash" baseline="-22000" dirty="0">
                <a:uFill>
                  <a:solidFill>
                    <a:srgbClr val="808080"/>
                  </a:solidFill>
                </a:uFill>
                <a:latin typeface="微软雅黑" panose="020B0503020204020204" charset="-122"/>
                <a:ea typeface="微软雅黑" panose="020B0503020204020204" charset="-122"/>
                <a:cs typeface="微软雅黑" panose="020B0503020204020204" charset="-122"/>
              </a:rPr>
              <a:t>	</a:t>
            </a:r>
            <a:endParaRPr sz="1500" baseline="-22000">
              <a:latin typeface="微软雅黑" panose="020B0503020204020204" charset="-122"/>
              <a:ea typeface="微软雅黑" panose="020B0503020204020204" charset="-122"/>
              <a:cs typeface="微软雅黑" panose="020B0503020204020204" charset="-122"/>
            </a:endParaRPr>
          </a:p>
        </p:txBody>
      </p:sp>
      <p:sp>
        <p:nvSpPr>
          <p:cNvPr id="34" name="object 34"/>
          <p:cNvSpPr txBox="1"/>
          <p:nvPr/>
        </p:nvSpPr>
        <p:spPr>
          <a:xfrm>
            <a:off x="2178410" y="2835711"/>
            <a:ext cx="1276715" cy="524510"/>
          </a:xfrm>
          <a:prstGeom prst="rect">
            <a:avLst/>
          </a:prstGeom>
        </p:spPr>
        <p:txBody>
          <a:bodyPr vert="horz" wrap="square" lIns="0" tIns="12056" rIns="0" bIns="0" rtlCol="0">
            <a:spAutoFit/>
          </a:bodyPr>
          <a:lstStyle/>
          <a:p>
            <a:pPr marL="226695">
              <a:lnSpc>
                <a:spcPts val="1070"/>
              </a:lnSpc>
              <a:spcBef>
                <a:spcPts val="95"/>
              </a:spcBef>
            </a:pPr>
            <a:r>
              <a:rPr sz="1000" spc="-5" dirty="0">
                <a:latin typeface="微软雅黑" panose="020B0503020204020204" charset="-122"/>
                <a:ea typeface="微软雅黑" panose="020B0503020204020204" charset="-122"/>
                <a:cs typeface="微软雅黑" panose="020B0503020204020204" charset="-122"/>
              </a:rPr>
              <a:t>地位，方式是确保</a:t>
            </a:r>
            <a:endParaRPr sz="1000">
              <a:latin typeface="微软雅黑" panose="020B0503020204020204" charset="-122"/>
              <a:ea typeface="微软雅黑" panose="020B0503020204020204" charset="-122"/>
              <a:cs typeface="微软雅黑" panose="020B0503020204020204" charset="-122"/>
            </a:endParaRPr>
          </a:p>
          <a:p>
            <a:pPr marL="226695" marR="30480" indent="-189230" algn="just">
              <a:lnSpc>
                <a:spcPct val="78000"/>
              </a:lnSpc>
              <a:spcBef>
                <a:spcPts val="130"/>
              </a:spcBef>
              <a:buClr>
                <a:srgbClr val="00295F"/>
              </a:buClr>
              <a:buSzPct val="125000"/>
              <a:buFont typeface="Arial" panose="020B0604020202020204"/>
              <a:buChar char="▪"/>
              <a:tabLst>
                <a:tab pos="226695" algn="l"/>
              </a:tabLst>
            </a:pPr>
            <a:r>
              <a:rPr sz="1000" spc="-5" dirty="0">
                <a:latin typeface="微软雅黑" panose="020B0503020204020204" charset="-122"/>
                <a:ea typeface="微软雅黑" panose="020B0503020204020204" charset="-122"/>
                <a:cs typeface="微软雅黑" panose="020B0503020204020204" charset="-122"/>
              </a:rPr>
              <a:t>可持续的成本优势 提高印刷质量，逐 </a:t>
            </a:r>
            <a:r>
              <a:rPr sz="1000" spc="-10" dirty="0">
                <a:latin typeface="微软雅黑" panose="020B0503020204020204" charset="-122"/>
                <a:ea typeface="微软雅黑" panose="020B0503020204020204" charset="-122"/>
                <a:cs typeface="微软雅黑" panose="020B0503020204020204" charset="-122"/>
              </a:rPr>
              <a:t>步进入高端市场</a:t>
            </a:r>
            <a:endParaRPr sz="1000">
              <a:latin typeface="微软雅黑" panose="020B0503020204020204" charset="-122"/>
              <a:ea typeface="微软雅黑" panose="020B0503020204020204" charset="-122"/>
              <a:cs typeface="微软雅黑" panose="020B0503020204020204" charset="-122"/>
            </a:endParaRPr>
          </a:p>
        </p:txBody>
      </p:sp>
      <p:sp>
        <p:nvSpPr>
          <p:cNvPr id="35" name="object 35"/>
          <p:cNvSpPr txBox="1"/>
          <p:nvPr/>
        </p:nvSpPr>
        <p:spPr>
          <a:xfrm>
            <a:off x="3436723" y="1778803"/>
            <a:ext cx="4594144" cy="165100"/>
          </a:xfrm>
          <a:prstGeom prst="rect">
            <a:avLst/>
          </a:prstGeom>
        </p:spPr>
        <p:txBody>
          <a:bodyPr vert="horz" wrap="square" lIns="0" tIns="12056" rIns="0" bIns="0" rtlCol="0">
            <a:spAutoFit/>
          </a:bodyPr>
          <a:lstStyle/>
          <a:p>
            <a:pPr marL="12700">
              <a:lnSpc>
                <a:spcPct val="100000"/>
              </a:lnSpc>
              <a:spcBef>
                <a:spcPts val="95"/>
              </a:spcBef>
              <a:tabLst>
                <a:tab pos="385445" algn="l"/>
                <a:tab pos="4584065" algn="l"/>
              </a:tabLst>
            </a:pPr>
            <a:r>
              <a:rPr sz="1000" u="dash" spc="-5" dirty="0">
                <a:uFill>
                  <a:solidFill>
                    <a:srgbClr val="808080"/>
                  </a:solidFill>
                </a:uFill>
                <a:latin typeface="微软雅黑" panose="020B0503020204020204" charset="-122"/>
                <a:ea typeface="微软雅黑" panose="020B0503020204020204" charset="-122"/>
                <a:cs typeface="微软雅黑" panose="020B0503020204020204" charset="-122"/>
              </a:rPr>
              <a:t> 	本	</a:t>
            </a:r>
            <a:endParaRPr sz="1000">
              <a:latin typeface="微软雅黑" panose="020B0503020204020204" charset="-122"/>
              <a:ea typeface="微软雅黑" panose="020B0503020204020204" charset="-122"/>
              <a:cs typeface="微软雅黑" panose="020B0503020204020204" charset="-122"/>
            </a:endParaRPr>
          </a:p>
        </p:txBody>
      </p:sp>
      <p:sp>
        <p:nvSpPr>
          <p:cNvPr id="36" name="object 36"/>
          <p:cNvSpPr txBox="1"/>
          <p:nvPr/>
        </p:nvSpPr>
        <p:spPr>
          <a:xfrm>
            <a:off x="3620743" y="1472316"/>
            <a:ext cx="2706992" cy="203200"/>
          </a:xfrm>
          <a:prstGeom prst="rect">
            <a:avLst/>
          </a:prstGeom>
        </p:spPr>
        <p:txBody>
          <a:bodyPr vert="horz" wrap="square" lIns="0" tIns="12056" rIns="0" bIns="0" rtlCol="0">
            <a:spAutoFit/>
          </a:bodyPr>
          <a:lstStyle/>
          <a:p>
            <a:pPr marL="201295" indent="-189230">
              <a:lnSpc>
                <a:spcPct val="100000"/>
              </a:lnSpc>
              <a:spcBef>
                <a:spcPts val="95"/>
              </a:spcBef>
              <a:buClr>
                <a:srgbClr val="00295F"/>
              </a:buClr>
              <a:buSzPct val="125000"/>
              <a:buFont typeface="Arial" panose="020B0604020202020204"/>
              <a:buChar char="▪"/>
              <a:tabLst>
                <a:tab pos="201295" algn="l"/>
                <a:tab pos="201930" algn="l"/>
                <a:tab pos="733425" algn="l"/>
                <a:tab pos="921385" algn="l"/>
              </a:tabLst>
            </a:pPr>
            <a:r>
              <a:rPr sz="1000" spc="-5" dirty="0">
                <a:latin typeface="微软雅黑" panose="020B0503020204020204" charset="-122"/>
                <a:ea typeface="微软雅黑" panose="020B0503020204020204" charset="-122"/>
                <a:cs typeface="微软雅黑" panose="020B0503020204020204" charset="-122"/>
              </a:rPr>
              <a:t>降低	</a:t>
            </a:r>
            <a:r>
              <a:rPr sz="1250" spc="-5" dirty="0">
                <a:solidFill>
                  <a:srgbClr val="00295F"/>
                </a:solidFill>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与</a:t>
            </a: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谈判，将市场份额从</a:t>
            </a:r>
            <a:r>
              <a:rPr sz="1000" spc="-10" dirty="0">
                <a:latin typeface="微软雅黑" panose="020B0503020204020204" charset="-122"/>
                <a:ea typeface="微软雅黑" panose="020B0503020204020204" charset="-122"/>
                <a:cs typeface="微软雅黑" panose="020B0503020204020204" charset="-122"/>
              </a:rPr>
              <a:t>17%</a:t>
            </a:r>
            <a:endParaRPr sz="1000">
              <a:latin typeface="微软雅黑" panose="020B0503020204020204" charset="-122"/>
              <a:ea typeface="微软雅黑" panose="020B0503020204020204" charset="-122"/>
              <a:cs typeface="微软雅黑" panose="020B0503020204020204" charset="-122"/>
            </a:endParaRPr>
          </a:p>
        </p:txBody>
      </p:sp>
      <p:sp>
        <p:nvSpPr>
          <p:cNvPr id="37" name="object 37"/>
          <p:cNvSpPr txBox="1"/>
          <p:nvPr/>
        </p:nvSpPr>
        <p:spPr>
          <a:xfrm>
            <a:off x="3809585" y="1641055"/>
            <a:ext cx="1414413" cy="165100"/>
          </a:xfrm>
          <a:prstGeom prst="rect">
            <a:avLst/>
          </a:prstGeom>
        </p:spPr>
        <p:txBody>
          <a:bodyPr vert="horz" wrap="square" lIns="0" tIns="12056" rIns="0" bIns="0" rtlCol="0">
            <a:spAutoFit/>
          </a:bodyPr>
          <a:lstStyle/>
          <a:p>
            <a:pPr marL="12700">
              <a:lnSpc>
                <a:spcPct val="100000"/>
              </a:lnSpc>
              <a:spcBef>
                <a:spcPts val="95"/>
              </a:spcBef>
              <a:tabLst>
                <a:tab pos="733425" algn="l"/>
              </a:tabLst>
            </a:pP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成	</a:t>
            </a:r>
            <a:r>
              <a:rPr sz="1000" spc="-10" dirty="0">
                <a:latin typeface="微软雅黑" panose="020B0503020204020204" charset="-122"/>
                <a:ea typeface="微软雅黑" panose="020B0503020204020204" charset="-122"/>
                <a:cs typeface="微软雅黑" panose="020B0503020204020204" charset="-122"/>
              </a:rPr>
              <a:t>增加</a:t>
            </a:r>
            <a:r>
              <a:rPr sz="1000" spc="-5" dirty="0">
                <a:latin typeface="微软雅黑" panose="020B0503020204020204" charset="-122"/>
                <a:ea typeface="微软雅黑" panose="020B0503020204020204" charset="-122"/>
                <a:cs typeface="微软雅黑" panose="020B0503020204020204" charset="-122"/>
              </a:rPr>
              <a:t>到</a:t>
            </a:r>
            <a:r>
              <a:rPr sz="1000" spc="-25"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75%</a:t>
            </a:r>
            <a:endParaRPr sz="1000">
              <a:latin typeface="微软雅黑" panose="020B0503020204020204" charset="-122"/>
              <a:ea typeface="微软雅黑" panose="020B0503020204020204" charset="-122"/>
              <a:cs typeface="微软雅黑" panose="020B0503020204020204" charset="-122"/>
            </a:endParaRPr>
          </a:p>
        </p:txBody>
      </p:sp>
      <p:sp>
        <p:nvSpPr>
          <p:cNvPr id="38" name="object 38"/>
          <p:cNvSpPr txBox="1"/>
          <p:nvPr/>
        </p:nvSpPr>
        <p:spPr>
          <a:xfrm>
            <a:off x="6545004" y="1080037"/>
            <a:ext cx="1544495" cy="614045"/>
          </a:xfrm>
          <a:prstGeom prst="rect">
            <a:avLst/>
          </a:prstGeom>
        </p:spPr>
        <p:txBody>
          <a:bodyPr vert="horz" wrap="square" lIns="0" tIns="12056" rIns="0" bIns="0" rtlCol="0">
            <a:spAutoFit/>
          </a:bodyPr>
          <a:lstStyle/>
          <a:p>
            <a:pPr marL="12700">
              <a:lnSpc>
                <a:spcPct val="100000"/>
              </a:lnSpc>
              <a:spcBef>
                <a:spcPts val="95"/>
              </a:spcBef>
              <a:tabLst>
                <a:tab pos="581025" algn="l"/>
                <a:tab pos="1022985" algn="l"/>
              </a:tabLst>
            </a:pPr>
            <a:r>
              <a:rPr sz="1000" b="1" spc="-10" dirty="0">
                <a:latin typeface="微软雅黑" panose="020B0503020204020204" charset="-122"/>
                <a:ea typeface="微软雅黑" panose="020B0503020204020204" charset="-122"/>
                <a:cs typeface="微软雅黑" panose="020B0503020204020204" charset="-122"/>
              </a:rPr>
              <a:t>1</a:t>
            </a:r>
            <a:r>
              <a:rPr sz="1000" b="1" spc="5" dirty="0">
                <a:latin typeface="微软雅黑" panose="020B0503020204020204" charset="-122"/>
                <a:ea typeface="微软雅黑" panose="020B0503020204020204" charset="-122"/>
                <a:cs typeface="微软雅黑" panose="020B0503020204020204" charset="-122"/>
              </a:rPr>
              <a:t>月</a:t>
            </a:r>
            <a:r>
              <a:rPr sz="1000" b="1" spc="-5" dirty="0">
                <a:latin typeface="微软雅黑" panose="020B0503020204020204" charset="-122"/>
                <a:ea typeface="微软雅黑" panose="020B0503020204020204" charset="-122"/>
                <a:cs typeface="微软雅黑" panose="020B0503020204020204" charset="-122"/>
              </a:rPr>
              <a:t>-</a:t>
            </a:r>
            <a:r>
              <a:rPr sz="1000" b="1" spc="-10" dirty="0">
                <a:latin typeface="微软雅黑" panose="020B0503020204020204" charset="-122"/>
                <a:ea typeface="微软雅黑" panose="020B0503020204020204" charset="-122"/>
                <a:cs typeface="微软雅黑" panose="020B0503020204020204" charset="-122"/>
              </a:rPr>
              <a:t>3</a:t>
            </a:r>
            <a:r>
              <a:rPr sz="1000" b="1" spc="-5" dirty="0">
                <a:latin typeface="微软雅黑" panose="020B0503020204020204" charset="-122"/>
                <a:ea typeface="微软雅黑" panose="020B0503020204020204" charset="-122"/>
                <a:cs typeface="微软雅黑" panose="020B0503020204020204" charset="-122"/>
              </a:rPr>
              <a:t>月</a:t>
            </a:r>
            <a:r>
              <a:rPr sz="1000" b="1" dirty="0">
                <a:latin typeface="微软雅黑" panose="020B0503020204020204" charset="-122"/>
                <a:ea typeface="微软雅黑" panose="020B0503020204020204" charset="-122"/>
                <a:cs typeface="微软雅黑" panose="020B0503020204020204" charset="-122"/>
              </a:rPr>
              <a:t>	</a:t>
            </a:r>
            <a:r>
              <a:rPr sz="1000" b="1" spc="-10" dirty="0">
                <a:latin typeface="微软雅黑" panose="020B0503020204020204" charset="-122"/>
                <a:ea typeface="微软雅黑" panose="020B0503020204020204" charset="-122"/>
                <a:cs typeface="微软雅黑" panose="020B0503020204020204" charset="-122"/>
              </a:rPr>
              <a:t>4</a:t>
            </a:r>
            <a:r>
              <a:rPr sz="1000" b="1" spc="-5" dirty="0">
                <a:latin typeface="微软雅黑" panose="020B0503020204020204" charset="-122"/>
                <a:ea typeface="微软雅黑" panose="020B0503020204020204" charset="-122"/>
                <a:cs typeface="微软雅黑" panose="020B0503020204020204" charset="-122"/>
              </a:rPr>
              <a:t>-</a:t>
            </a:r>
            <a:r>
              <a:rPr sz="1000" b="1" spc="-10" dirty="0">
                <a:latin typeface="微软雅黑" panose="020B0503020204020204" charset="-122"/>
                <a:ea typeface="微软雅黑" panose="020B0503020204020204" charset="-122"/>
                <a:cs typeface="微软雅黑" panose="020B0503020204020204" charset="-122"/>
              </a:rPr>
              <a:t>6</a:t>
            </a:r>
            <a:r>
              <a:rPr sz="1000" b="1" spc="-5" dirty="0">
                <a:latin typeface="微软雅黑" panose="020B0503020204020204" charset="-122"/>
                <a:ea typeface="微软雅黑" panose="020B0503020204020204" charset="-122"/>
                <a:cs typeface="微软雅黑" panose="020B0503020204020204" charset="-122"/>
              </a:rPr>
              <a:t>月</a:t>
            </a:r>
            <a:r>
              <a:rPr sz="1000" b="1" dirty="0">
                <a:latin typeface="微软雅黑" panose="020B0503020204020204" charset="-122"/>
                <a:ea typeface="微软雅黑" panose="020B0503020204020204" charset="-122"/>
                <a:cs typeface="微软雅黑" panose="020B0503020204020204" charset="-122"/>
              </a:rPr>
              <a:t>	</a:t>
            </a:r>
            <a:r>
              <a:rPr sz="1000" b="1" spc="-10" dirty="0">
                <a:latin typeface="微软雅黑" panose="020B0503020204020204" charset="-122"/>
                <a:ea typeface="微软雅黑" panose="020B0503020204020204" charset="-122"/>
                <a:cs typeface="微软雅黑" panose="020B0503020204020204" charset="-122"/>
              </a:rPr>
              <a:t>7</a:t>
            </a:r>
            <a:r>
              <a:rPr sz="1000" b="1" spc="5" dirty="0">
                <a:latin typeface="微软雅黑" panose="020B0503020204020204" charset="-122"/>
                <a:ea typeface="微软雅黑" panose="020B0503020204020204" charset="-122"/>
                <a:cs typeface="微软雅黑" panose="020B0503020204020204" charset="-122"/>
              </a:rPr>
              <a:t>月</a:t>
            </a:r>
            <a:r>
              <a:rPr sz="1000" b="1" spc="-10" dirty="0">
                <a:latin typeface="微软雅黑" panose="020B0503020204020204" charset="-122"/>
                <a:ea typeface="微软雅黑" panose="020B0503020204020204" charset="-122"/>
                <a:cs typeface="微软雅黑" panose="020B0503020204020204" charset="-122"/>
              </a:rPr>
              <a:t>11</a:t>
            </a:r>
            <a:r>
              <a:rPr sz="1000" b="1" spc="5" dirty="0">
                <a:latin typeface="微软雅黑" panose="020B0503020204020204" charset="-122"/>
                <a:ea typeface="微软雅黑" panose="020B0503020204020204" charset="-122"/>
                <a:cs typeface="微软雅黑" panose="020B0503020204020204" charset="-122"/>
              </a:rPr>
              <a:t>日</a:t>
            </a:r>
            <a:r>
              <a:rPr sz="1000" b="1" spc="-5" dirty="0">
                <a:latin typeface="微软雅黑" panose="020B0503020204020204" charset="-122"/>
                <a:ea typeface="微软雅黑" panose="020B0503020204020204" charset="-122"/>
                <a:cs typeface="微软雅黑" panose="020B0503020204020204" charset="-122"/>
              </a:rPr>
              <a:t>-</a:t>
            </a:r>
            <a:endParaRPr sz="1000">
              <a:latin typeface="微软雅黑" panose="020B0503020204020204" charset="-122"/>
              <a:ea typeface="微软雅黑" panose="020B0503020204020204" charset="-122"/>
              <a:cs typeface="微软雅黑" panose="020B0503020204020204" charset="-122"/>
            </a:endParaRPr>
          </a:p>
          <a:p>
            <a:pPr marL="12700">
              <a:lnSpc>
                <a:spcPct val="100000"/>
              </a:lnSpc>
              <a:spcBef>
                <a:spcPts val="35"/>
              </a:spcBef>
              <a:tabLst>
                <a:tab pos="581025" algn="l"/>
                <a:tab pos="1022985" algn="l"/>
              </a:tabLst>
            </a:pPr>
            <a:r>
              <a:rPr sz="1000" b="1" spc="-5" dirty="0">
                <a:latin typeface="微软雅黑" panose="020B0503020204020204" charset="-122"/>
                <a:ea typeface="微软雅黑" panose="020B0503020204020204" charset="-122"/>
                <a:cs typeface="微软雅黑" panose="020B0503020204020204" charset="-122"/>
              </a:rPr>
              <a:t>2013	2013	</a:t>
            </a:r>
            <a:r>
              <a:rPr sz="1500" b="1" spc="-15" baseline="3000" dirty="0">
                <a:latin typeface="微软雅黑" panose="020B0503020204020204" charset="-122"/>
                <a:ea typeface="微软雅黑" panose="020B0503020204020204" charset="-122"/>
                <a:cs typeface="微软雅黑" panose="020B0503020204020204" charset="-122"/>
              </a:rPr>
              <a:t>6</a:t>
            </a:r>
            <a:r>
              <a:rPr sz="1500" b="1" baseline="3000" dirty="0">
                <a:latin typeface="微软雅黑" panose="020B0503020204020204" charset="-122"/>
                <a:ea typeface="微软雅黑" panose="020B0503020204020204" charset="-122"/>
                <a:cs typeface="微软雅黑" panose="020B0503020204020204" charset="-122"/>
              </a:rPr>
              <a:t>月</a:t>
            </a:r>
            <a:r>
              <a:rPr sz="1500" b="1" spc="-15" baseline="3000" dirty="0">
                <a:latin typeface="微软雅黑" panose="020B0503020204020204" charset="-122"/>
                <a:ea typeface="微软雅黑" panose="020B0503020204020204" charset="-122"/>
                <a:cs typeface="微软雅黑" panose="020B0503020204020204" charset="-122"/>
              </a:rPr>
              <a:t>13</a:t>
            </a:r>
            <a:r>
              <a:rPr sz="1500" b="1" spc="-7" baseline="3000" dirty="0">
                <a:latin typeface="微软雅黑" panose="020B0503020204020204" charset="-122"/>
                <a:ea typeface="微软雅黑" panose="020B0503020204020204" charset="-122"/>
                <a:cs typeface="微软雅黑" panose="020B0503020204020204" charset="-122"/>
              </a:rPr>
              <a:t>日</a:t>
            </a:r>
            <a:endParaRPr sz="1500" baseline="3000">
              <a:latin typeface="微软雅黑" panose="020B0503020204020204" charset="-122"/>
              <a:ea typeface="微软雅黑" panose="020B0503020204020204" charset="-122"/>
              <a:cs typeface="微软雅黑" panose="020B0503020204020204" charset="-122"/>
            </a:endParaRPr>
          </a:p>
          <a:p>
            <a:pPr marL="109220">
              <a:lnSpc>
                <a:spcPct val="100000"/>
              </a:lnSpc>
              <a:spcBef>
                <a:spcPts val="1065"/>
              </a:spcBef>
              <a:tabLst>
                <a:tab pos="614045" algn="l"/>
                <a:tab pos="1117600" algn="l"/>
              </a:tabLst>
            </a:pPr>
            <a:r>
              <a:rPr sz="1000" spc="-10" dirty="0">
                <a:latin typeface="微软雅黑" panose="020B0503020204020204" charset="-122"/>
                <a:ea typeface="微软雅黑" panose="020B0503020204020204" charset="-122"/>
                <a:cs typeface="微软雅黑" panose="020B0503020204020204" charset="-122"/>
              </a:rPr>
              <a:t>8.3	8.3	67.1</a:t>
            </a:r>
            <a:endParaRPr sz="1000">
              <a:latin typeface="微软雅黑" panose="020B0503020204020204" charset="-122"/>
              <a:ea typeface="微软雅黑" panose="020B0503020204020204" charset="-122"/>
              <a:cs typeface="微软雅黑" panose="020B0503020204020204" charset="-122"/>
            </a:endParaRPr>
          </a:p>
        </p:txBody>
      </p:sp>
      <p:sp>
        <p:nvSpPr>
          <p:cNvPr id="39" name="object 39"/>
          <p:cNvSpPr txBox="1"/>
          <p:nvPr/>
        </p:nvSpPr>
        <p:spPr>
          <a:xfrm>
            <a:off x="3620743" y="1926146"/>
            <a:ext cx="2707626" cy="203200"/>
          </a:xfrm>
          <a:prstGeom prst="rect">
            <a:avLst/>
          </a:prstGeom>
        </p:spPr>
        <p:txBody>
          <a:bodyPr vert="horz" wrap="square" lIns="0" tIns="12056" rIns="0" bIns="0" rtlCol="0">
            <a:spAutoFit/>
          </a:bodyPr>
          <a:lstStyle/>
          <a:p>
            <a:pPr marL="201295" indent="-189230">
              <a:lnSpc>
                <a:spcPct val="100000"/>
              </a:lnSpc>
              <a:spcBef>
                <a:spcPts val="95"/>
              </a:spcBef>
              <a:buClr>
                <a:srgbClr val="00295F"/>
              </a:buClr>
              <a:buSzPct val="125000"/>
              <a:buFont typeface="Arial" panose="020B0604020202020204"/>
              <a:buChar char="▪"/>
              <a:tabLst>
                <a:tab pos="201295" algn="l"/>
                <a:tab pos="201930" algn="l"/>
                <a:tab pos="733425" algn="l"/>
                <a:tab pos="921385" algn="l"/>
              </a:tabLst>
            </a:pPr>
            <a:r>
              <a:rPr sz="1000" spc="-5" dirty="0">
                <a:latin typeface="微软雅黑" panose="020B0503020204020204" charset="-122"/>
                <a:ea typeface="微软雅黑" panose="020B0503020204020204" charset="-122"/>
                <a:cs typeface="微软雅黑" panose="020B0503020204020204" charset="-122"/>
              </a:rPr>
              <a:t>增加	</a:t>
            </a:r>
            <a:r>
              <a:rPr sz="1250" spc="-5" dirty="0">
                <a:solidFill>
                  <a:srgbClr val="00295F"/>
                </a:solidFill>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通过增强对</a:t>
            </a: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需求的吸引力使</a:t>
            </a:r>
            <a:endParaRPr sz="1000">
              <a:latin typeface="微软雅黑" panose="020B0503020204020204" charset="-122"/>
              <a:ea typeface="微软雅黑" panose="020B0503020204020204" charset="-122"/>
              <a:cs typeface="微软雅黑" panose="020B0503020204020204" charset="-122"/>
            </a:endParaRPr>
          </a:p>
        </p:txBody>
      </p:sp>
      <p:sp>
        <p:nvSpPr>
          <p:cNvPr id="40" name="object 40"/>
          <p:cNvSpPr txBox="1"/>
          <p:nvPr/>
        </p:nvSpPr>
        <p:spPr>
          <a:xfrm>
            <a:off x="3809585" y="2095190"/>
            <a:ext cx="1507691" cy="303530"/>
          </a:xfrm>
          <a:prstGeom prst="rect">
            <a:avLst/>
          </a:prstGeom>
        </p:spPr>
        <p:txBody>
          <a:bodyPr vert="horz" wrap="square" lIns="0" tIns="12056" rIns="0" bIns="0" rtlCol="0">
            <a:spAutoFit/>
          </a:bodyPr>
          <a:lstStyle/>
          <a:p>
            <a:pPr marL="12700">
              <a:lnSpc>
                <a:spcPts val="1140"/>
              </a:lnSpc>
              <a:spcBef>
                <a:spcPts val="95"/>
              </a:spcBef>
              <a:tabLst>
                <a:tab pos="733425" algn="l"/>
              </a:tabLst>
            </a:pP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维</a:t>
            </a:r>
            <a:r>
              <a:rPr sz="1000"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销量增加</a:t>
            </a:r>
            <a:r>
              <a:rPr sz="1000" dirty="0">
                <a:latin typeface="微软雅黑" panose="020B0503020204020204" charset="-122"/>
                <a:ea typeface="微软雅黑" panose="020B0503020204020204" charset="-122"/>
                <a:cs typeface="微软雅黑" panose="020B0503020204020204" charset="-122"/>
              </a:rPr>
              <a:t>XXX</a:t>
            </a:r>
            <a:endParaRPr sz="1000">
              <a:latin typeface="微软雅黑" panose="020B0503020204020204" charset="-122"/>
              <a:ea typeface="微软雅黑" panose="020B0503020204020204" charset="-122"/>
              <a:cs typeface="微软雅黑" panose="020B0503020204020204" charset="-122"/>
            </a:endParaRPr>
          </a:p>
          <a:p>
            <a:pPr marL="12700">
              <a:lnSpc>
                <a:spcPts val="1140"/>
              </a:lnSpc>
            </a:pPr>
            <a:r>
              <a:rPr sz="1000" spc="-5" dirty="0">
                <a:latin typeface="微软雅黑" panose="020B0503020204020204" charset="-122"/>
                <a:ea typeface="微软雅黑" panose="020B0503020204020204" charset="-122"/>
                <a:cs typeface="微软雅黑" panose="020B0503020204020204" charset="-122"/>
              </a:rPr>
              <a:t>度</a:t>
            </a:r>
            <a:endParaRPr sz="1000">
              <a:latin typeface="微软雅黑" panose="020B0503020204020204" charset="-122"/>
              <a:ea typeface="微软雅黑" panose="020B0503020204020204" charset="-122"/>
              <a:cs typeface="微软雅黑" panose="020B0503020204020204" charset="-122"/>
            </a:endParaRPr>
          </a:p>
        </p:txBody>
      </p:sp>
      <p:sp>
        <p:nvSpPr>
          <p:cNvPr id="41" name="object 41"/>
          <p:cNvSpPr txBox="1"/>
          <p:nvPr/>
        </p:nvSpPr>
        <p:spPr>
          <a:xfrm>
            <a:off x="6641837" y="1977925"/>
            <a:ext cx="1278619" cy="165100"/>
          </a:xfrm>
          <a:prstGeom prst="rect">
            <a:avLst/>
          </a:prstGeom>
        </p:spPr>
        <p:txBody>
          <a:bodyPr vert="horz" wrap="square" lIns="0" tIns="12056" rIns="0" bIns="0" rtlCol="0">
            <a:spAutoFit/>
          </a:bodyPr>
          <a:lstStyle/>
          <a:p>
            <a:pPr marL="12700">
              <a:lnSpc>
                <a:spcPct val="100000"/>
              </a:lnSpc>
              <a:spcBef>
                <a:spcPts val="95"/>
              </a:spcBef>
              <a:tabLst>
                <a:tab pos="516890" algn="l"/>
                <a:tab pos="1019810" algn="l"/>
              </a:tabLst>
            </a:pPr>
            <a:r>
              <a:rPr sz="1000" spc="-10" dirty="0">
                <a:latin typeface="微软雅黑" panose="020B0503020204020204" charset="-122"/>
                <a:ea typeface="微软雅黑" panose="020B0503020204020204" charset="-122"/>
                <a:cs typeface="Arial" panose="020B0604020202020204"/>
              </a:rPr>
              <a:t>0.</a:t>
            </a:r>
            <a:r>
              <a:rPr sz="1000" spc="-5" dirty="0">
                <a:latin typeface="微软雅黑" panose="020B0503020204020204" charset="-122"/>
                <a:ea typeface="微软雅黑" panose="020B0503020204020204" charset="-122"/>
                <a:cs typeface="Arial" panose="020B0604020202020204"/>
              </a:rPr>
              <a:t>5</a:t>
            </a:r>
            <a:r>
              <a:rPr sz="1000" dirty="0">
                <a:latin typeface="微软雅黑" panose="020B0503020204020204" charset="-122"/>
                <a:ea typeface="微软雅黑" panose="020B0503020204020204" charset="-122"/>
                <a:cs typeface="Arial" panose="020B0604020202020204"/>
              </a:rPr>
              <a:t>	</a:t>
            </a:r>
            <a:r>
              <a:rPr sz="1000" spc="-10" dirty="0">
                <a:latin typeface="微软雅黑" panose="020B0503020204020204" charset="-122"/>
                <a:ea typeface="微软雅黑" panose="020B0503020204020204" charset="-122"/>
                <a:cs typeface="Arial" panose="020B0604020202020204"/>
              </a:rPr>
              <a:t>1.</a:t>
            </a:r>
            <a:r>
              <a:rPr sz="1000" spc="-5" dirty="0">
                <a:latin typeface="微软雅黑" panose="020B0503020204020204" charset="-122"/>
                <a:ea typeface="微软雅黑" panose="020B0503020204020204" charset="-122"/>
                <a:cs typeface="Arial" panose="020B0604020202020204"/>
              </a:rPr>
              <a:t>3</a:t>
            </a:r>
            <a:r>
              <a:rPr sz="1000" dirty="0">
                <a:latin typeface="微软雅黑" panose="020B0503020204020204" charset="-122"/>
                <a:ea typeface="微软雅黑" panose="020B0503020204020204" charset="-122"/>
                <a:cs typeface="Arial" panose="020B0604020202020204"/>
              </a:rPr>
              <a:t>	</a:t>
            </a:r>
            <a:r>
              <a:rPr sz="1000" spc="-10" dirty="0">
                <a:latin typeface="微软雅黑" panose="020B0503020204020204" charset="-122"/>
                <a:ea typeface="微软雅黑" panose="020B0503020204020204" charset="-122"/>
                <a:cs typeface="Arial" panose="020B0604020202020204"/>
              </a:rPr>
              <a:t>11.2</a:t>
            </a:r>
            <a:endParaRPr sz="1000">
              <a:latin typeface="微软雅黑" panose="020B0503020204020204" charset="-122"/>
              <a:ea typeface="微软雅黑" panose="020B0503020204020204" charset="-122"/>
              <a:cs typeface="Arial" panose="020B0604020202020204"/>
            </a:endParaRPr>
          </a:p>
        </p:txBody>
      </p:sp>
      <p:sp>
        <p:nvSpPr>
          <p:cNvPr id="42" name="object 42"/>
          <p:cNvSpPr txBox="1"/>
          <p:nvPr/>
        </p:nvSpPr>
        <p:spPr>
          <a:xfrm>
            <a:off x="1461241" y="1472316"/>
            <a:ext cx="1968375" cy="892175"/>
          </a:xfrm>
          <a:prstGeom prst="rect">
            <a:avLst/>
          </a:prstGeom>
        </p:spPr>
        <p:txBody>
          <a:bodyPr vert="horz" wrap="square" lIns="0" tIns="12056" rIns="0" bIns="0" rtlCol="0">
            <a:spAutoFit/>
          </a:bodyPr>
          <a:lstStyle/>
          <a:p>
            <a:pPr marL="12700">
              <a:lnSpc>
                <a:spcPts val="1415"/>
              </a:lnSpc>
              <a:spcBef>
                <a:spcPts val="95"/>
              </a:spcBef>
              <a:tabLst>
                <a:tab pos="755650" algn="l"/>
                <a:tab pos="943610" algn="l"/>
              </a:tabLst>
            </a:pPr>
            <a:r>
              <a:rPr sz="1000" spc="-5" dirty="0">
                <a:latin typeface="微软雅黑" panose="020B0503020204020204" charset="-122"/>
                <a:ea typeface="微软雅黑" panose="020B0503020204020204" charset="-122"/>
                <a:cs typeface="微软雅黑" panose="020B0503020204020204" charset="-122"/>
              </a:rPr>
              <a:t>保证稳定	</a:t>
            </a:r>
            <a:r>
              <a:rPr sz="1250" spc="-5" dirty="0">
                <a:solidFill>
                  <a:srgbClr val="00295F"/>
                </a:solidFill>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优化产品结构，稳</a:t>
            </a:r>
            <a:endParaRPr sz="1000">
              <a:latin typeface="微软雅黑" panose="020B0503020204020204" charset="-122"/>
              <a:ea typeface="微软雅黑" panose="020B0503020204020204" charset="-122"/>
              <a:cs typeface="微软雅黑" panose="020B0503020204020204" charset="-122"/>
            </a:endParaRPr>
          </a:p>
          <a:p>
            <a:pPr marL="12700">
              <a:lnSpc>
                <a:spcPts val="1055"/>
              </a:lnSpc>
              <a:tabLst>
                <a:tab pos="943610" algn="l"/>
              </a:tabLst>
            </a:pPr>
            <a:r>
              <a:rPr sz="1000" spc="-10" dirty="0">
                <a:latin typeface="微软雅黑" panose="020B0503020204020204" charset="-122"/>
                <a:ea typeface="微软雅黑" panose="020B0503020204020204" charset="-122"/>
                <a:cs typeface="微软雅黑" panose="020B0503020204020204" charset="-122"/>
              </a:rPr>
              <a:t>高质的</a:t>
            </a:r>
            <a:r>
              <a:rPr sz="1000" spc="-5" dirty="0">
                <a:latin typeface="微软雅黑" panose="020B0503020204020204" charset="-122"/>
                <a:ea typeface="微软雅黑" panose="020B0503020204020204" charset="-122"/>
                <a:cs typeface="微软雅黑" panose="020B0503020204020204" charset="-122"/>
              </a:rPr>
              <a:t>供</a:t>
            </a:r>
            <a:r>
              <a:rPr sz="1000"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定质量，提升客户</a:t>
            </a:r>
            <a:endParaRPr sz="1000">
              <a:latin typeface="微软雅黑" panose="020B0503020204020204" charset="-122"/>
              <a:ea typeface="微软雅黑" panose="020B0503020204020204" charset="-122"/>
              <a:cs typeface="微软雅黑" panose="020B0503020204020204" charset="-122"/>
            </a:endParaRPr>
          </a:p>
          <a:p>
            <a:pPr marL="12700" marR="510540">
              <a:lnSpc>
                <a:spcPts val="1080"/>
              </a:lnSpc>
              <a:spcBef>
                <a:spcPts val="80"/>
              </a:spcBef>
              <a:tabLst>
                <a:tab pos="943610" algn="l"/>
              </a:tabLst>
            </a:pPr>
            <a:r>
              <a:rPr sz="1000" spc="-5" dirty="0">
                <a:latin typeface="微软雅黑" panose="020B0503020204020204" charset="-122"/>
                <a:ea typeface="微软雅黑" panose="020B0503020204020204" charset="-122"/>
                <a:cs typeface="微软雅黑" panose="020B0503020204020204" charset="-122"/>
              </a:rPr>
              <a:t>应，帮助	生产效率 客户成功</a:t>
            </a:r>
            <a:endParaRPr sz="1000">
              <a:latin typeface="微软雅黑" panose="020B0503020204020204" charset="-122"/>
              <a:ea typeface="微软雅黑" panose="020B0503020204020204" charset="-122"/>
              <a:cs typeface="微软雅黑" panose="020B0503020204020204" charset="-122"/>
            </a:endParaRPr>
          </a:p>
          <a:p>
            <a:pPr marL="12700" marR="1442720">
              <a:lnSpc>
                <a:spcPts val="1080"/>
              </a:lnSpc>
            </a:pPr>
            <a:r>
              <a:rPr sz="1000" spc="-5" dirty="0">
                <a:latin typeface="微软雅黑" panose="020B0503020204020204" charset="-122"/>
                <a:ea typeface="微软雅黑" panose="020B0503020204020204" charset="-122"/>
                <a:cs typeface="微软雅黑" panose="020B0503020204020204" charset="-122"/>
              </a:rPr>
              <a:t>提前准备 生产</a:t>
            </a:r>
            <a:endParaRPr sz="1000">
              <a:latin typeface="微软雅黑" panose="020B0503020204020204" charset="-122"/>
              <a:ea typeface="微软雅黑" panose="020B0503020204020204" charset="-122"/>
              <a:cs typeface="微软雅黑" panose="020B0503020204020204" charset="-122"/>
            </a:endParaRPr>
          </a:p>
        </p:txBody>
      </p:sp>
      <p:sp>
        <p:nvSpPr>
          <p:cNvPr id="43" name="object 43"/>
          <p:cNvSpPr txBox="1"/>
          <p:nvPr/>
        </p:nvSpPr>
        <p:spPr>
          <a:xfrm>
            <a:off x="3809585" y="5152961"/>
            <a:ext cx="404843" cy="165100"/>
          </a:xfrm>
          <a:prstGeom prst="rect">
            <a:avLst/>
          </a:prstGeom>
        </p:spPr>
        <p:txBody>
          <a:bodyPr vert="horz" wrap="square" lIns="0" tIns="12056" rIns="0" bIns="0" rtlCol="0">
            <a:spAutoFit/>
          </a:bodyPr>
          <a:lstStyle/>
          <a:p>
            <a:pPr marL="12700">
              <a:lnSpc>
                <a:spcPct val="100000"/>
              </a:lnSpc>
              <a:spcBef>
                <a:spcPts val="95"/>
              </a:spcBef>
            </a:pPr>
            <a:r>
              <a:rPr sz="1000" spc="-5" dirty="0">
                <a:latin typeface="微软雅黑" panose="020B0503020204020204" charset="-122"/>
                <a:ea typeface="微软雅黑" panose="020B0503020204020204" charset="-122"/>
                <a:cs typeface="微软雅黑" panose="020B0503020204020204" charset="-122"/>
              </a:rPr>
              <a:t>体质量</a:t>
            </a:r>
            <a:endParaRPr sz="1000" spc="-5" dirty="0">
              <a:latin typeface="微软雅黑" panose="020B0503020204020204" charset="-122"/>
              <a:ea typeface="微软雅黑" panose="020B0503020204020204" charset="-122"/>
              <a:cs typeface="微软雅黑" panose="020B0503020204020204" charset="-122"/>
            </a:endParaRPr>
          </a:p>
        </p:txBody>
      </p:sp>
      <p:sp>
        <p:nvSpPr>
          <p:cNvPr id="44" name="object 44"/>
          <p:cNvSpPr txBox="1"/>
          <p:nvPr/>
        </p:nvSpPr>
        <p:spPr>
          <a:xfrm>
            <a:off x="3620743" y="4983917"/>
            <a:ext cx="2835171" cy="203200"/>
          </a:xfrm>
          <a:prstGeom prst="rect">
            <a:avLst/>
          </a:prstGeom>
        </p:spPr>
        <p:txBody>
          <a:bodyPr vert="horz" wrap="square" lIns="0" tIns="12056" rIns="0" bIns="0" rtlCol="0">
            <a:spAutoFit/>
          </a:bodyPr>
          <a:lstStyle/>
          <a:p>
            <a:pPr marL="201295" indent="-189230">
              <a:lnSpc>
                <a:spcPct val="100000"/>
              </a:lnSpc>
              <a:spcBef>
                <a:spcPts val="95"/>
              </a:spcBef>
              <a:buClr>
                <a:srgbClr val="00295F"/>
              </a:buClr>
              <a:buSzPct val="125000"/>
              <a:buFont typeface="Arial" panose="020B0604020202020204"/>
              <a:buChar char="▪"/>
              <a:tabLst>
                <a:tab pos="201295" algn="l"/>
                <a:tab pos="201930" algn="l"/>
                <a:tab pos="733425" algn="l"/>
                <a:tab pos="921385" algn="l"/>
              </a:tabLst>
            </a:pPr>
            <a:r>
              <a:rPr sz="1000" spc="-5" dirty="0">
                <a:latin typeface="微软雅黑" panose="020B0503020204020204" charset="-122"/>
                <a:ea typeface="微软雅黑" panose="020B0503020204020204" charset="-122"/>
                <a:cs typeface="微软雅黑" panose="020B0503020204020204" charset="-122"/>
              </a:rPr>
              <a:t>提高整	</a:t>
            </a:r>
            <a:r>
              <a:rPr sz="1250" spc="-5" dirty="0">
                <a:solidFill>
                  <a:srgbClr val="00295F"/>
                </a:solidFill>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制定</a:t>
            </a:r>
            <a:r>
              <a:rPr sz="1000" spc="-5" dirty="0">
                <a:latin typeface="微软雅黑" panose="020B0503020204020204" charset="-122"/>
                <a:ea typeface="微软雅黑" panose="020B0503020204020204" charset="-122"/>
                <a:cs typeface="微软雅黑" panose="020B0503020204020204" charset="-122"/>
              </a:rPr>
              <a:t>XXX客户质量保</a:t>
            </a:r>
            <a:r>
              <a:rPr sz="1000" spc="5" dirty="0">
                <a:latin typeface="微软雅黑" panose="020B0503020204020204" charset="-122"/>
                <a:ea typeface="微软雅黑" panose="020B0503020204020204" charset="-122"/>
                <a:cs typeface="微软雅黑" panose="020B0503020204020204" charset="-122"/>
              </a:rPr>
              <a:t>证</a:t>
            </a:r>
            <a:r>
              <a:rPr sz="1000" spc="-5" dirty="0">
                <a:latin typeface="微软雅黑" panose="020B0503020204020204" charset="-122"/>
                <a:ea typeface="微软雅黑" panose="020B0503020204020204" charset="-122"/>
                <a:cs typeface="微软雅黑" panose="020B0503020204020204" charset="-122"/>
              </a:rPr>
              <a:t>指</a:t>
            </a:r>
            <a:r>
              <a:rPr sz="1000" spc="5" dirty="0">
                <a:latin typeface="微软雅黑" panose="020B0503020204020204" charset="-122"/>
                <a:ea typeface="微软雅黑" panose="020B0503020204020204" charset="-122"/>
                <a:cs typeface="微软雅黑" panose="020B0503020204020204" charset="-122"/>
              </a:rPr>
              <a:t>导</a:t>
            </a:r>
            <a:r>
              <a:rPr sz="1000" spc="-5" dirty="0">
                <a:latin typeface="微软雅黑" panose="020B0503020204020204" charset="-122"/>
                <a:ea typeface="微软雅黑" panose="020B0503020204020204" charset="-122"/>
                <a:cs typeface="微软雅黑" panose="020B0503020204020204" charset="-122"/>
              </a:rPr>
              <a:t>原则，</a:t>
            </a:r>
            <a:endParaRPr sz="1000">
              <a:latin typeface="微软雅黑" panose="020B0503020204020204" charset="-122"/>
              <a:ea typeface="微软雅黑" panose="020B0503020204020204" charset="-122"/>
              <a:cs typeface="微软雅黑" panose="020B0503020204020204" charset="-122"/>
            </a:endParaRPr>
          </a:p>
        </p:txBody>
      </p:sp>
      <p:sp>
        <p:nvSpPr>
          <p:cNvPr id="45" name="object 45"/>
          <p:cNvSpPr txBox="1"/>
          <p:nvPr/>
        </p:nvSpPr>
        <p:spPr>
          <a:xfrm>
            <a:off x="4529928" y="5152961"/>
            <a:ext cx="1824332" cy="691515"/>
          </a:xfrm>
          <a:prstGeom prst="rect">
            <a:avLst/>
          </a:prstGeom>
        </p:spPr>
        <p:txBody>
          <a:bodyPr vert="horz" wrap="square" lIns="0" tIns="12056" rIns="0" bIns="0" rtlCol="0">
            <a:spAutoFit/>
          </a:bodyPr>
          <a:lstStyle/>
          <a:p>
            <a:pPr marL="12700">
              <a:lnSpc>
                <a:spcPts val="1040"/>
              </a:lnSpc>
              <a:spcBef>
                <a:spcPts val="95"/>
              </a:spcBef>
            </a:pPr>
            <a:r>
              <a:rPr sz="1000" spc="-5" dirty="0">
                <a:latin typeface="微软雅黑" panose="020B0503020204020204" charset="-122"/>
                <a:ea typeface="微软雅黑" panose="020B0503020204020204" charset="-122"/>
                <a:cs typeface="微软雅黑" panose="020B0503020204020204" charset="-122"/>
              </a:rPr>
              <a:t>提升整体制造质量</a:t>
            </a:r>
            <a:endParaRPr sz="1000">
              <a:latin typeface="微软雅黑" panose="020B0503020204020204" charset="-122"/>
              <a:ea typeface="微软雅黑" panose="020B0503020204020204" charset="-122"/>
              <a:cs typeface="微软雅黑" panose="020B0503020204020204" charset="-122"/>
            </a:endParaRPr>
          </a:p>
          <a:p>
            <a:pPr marL="269875" marR="29210" indent="-256540">
              <a:lnSpc>
                <a:spcPct val="87000"/>
              </a:lnSpc>
              <a:spcBef>
                <a:spcPts val="25"/>
              </a:spcBef>
              <a:buClr>
                <a:srgbClr val="00295F"/>
              </a:buClr>
              <a:buSzPct val="120000"/>
              <a:buFont typeface="Arial" panose="020B0604020202020204"/>
              <a:buChar char="–"/>
              <a:tabLst>
                <a:tab pos="269875" algn="l"/>
                <a:tab pos="270510" algn="l"/>
              </a:tabLst>
            </a:pPr>
            <a:r>
              <a:rPr sz="1000" spc="-5" dirty="0">
                <a:latin typeface="微软雅黑" panose="020B0503020204020204" charset="-122"/>
                <a:ea typeface="微软雅黑" panose="020B0503020204020204" charset="-122"/>
                <a:cs typeface="微软雅黑" panose="020B0503020204020204" charset="-122"/>
              </a:rPr>
              <a:t>每年平均将补充运输成本降 低</a:t>
            </a: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倍，每次</a:t>
            </a: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元</a:t>
            </a:r>
            <a:endParaRPr sz="1000">
              <a:latin typeface="微软雅黑" panose="020B0503020204020204" charset="-122"/>
              <a:ea typeface="微软雅黑" panose="020B0503020204020204" charset="-122"/>
              <a:cs typeface="微软雅黑" panose="020B0503020204020204" charset="-122"/>
            </a:endParaRPr>
          </a:p>
          <a:p>
            <a:pPr marL="255905" marR="5080" indent="-255905" algn="r">
              <a:lnSpc>
                <a:spcPts val="1040"/>
              </a:lnSpc>
              <a:buClr>
                <a:srgbClr val="00295F"/>
              </a:buClr>
              <a:buSzPct val="120000"/>
              <a:buFont typeface="Arial" panose="020B0604020202020204"/>
              <a:buChar char="–"/>
              <a:tabLst>
                <a:tab pos="255270" algn="l"/>
                <a:tab pos="256540" algn="l"/>
              </a:tabLst>
            </a:pPr>
            <a:r>
              <a:rPr sz="1000" spc="-10" dirty="0">
                <a:latin typeface="微软雅黑" panose="020B0503020204020204" charset="-122"/>
                <a:ea typeface="微软雅黑" panose="020B0503020204020204" charset="-122"/>
                <a:cs typeface="微软雅黑" panose="020B0503020204020204" charset="-122"/>
              </a:rPr>
              <a:t>避免</a:t>
            </a:r>
            <a:r>
              <a:rPr sz="1000" dirty="0">
                <a:latin typeface="微软雅黑" panose="020B0503020204020204" charset="-122"/>
                <a:ea typeface="微软雅黑" panose="020B0503020204020204" charset="-122"/>
                <a:cs typeface="微软雅黑" panose="020B0503020204020204" charset="-122"/>
              </a:rPr>
              <a:t>XXX%</a:t>
            </a:r>
            <a:r>
              <a:rPr sz="1000" spc="-10" dirty="0">
                <a:latin typeface="微软雅黑" panose="020B0503020204020204" charset="-122"/>
                <a:ea typeface="微软雅黑" panose="020B0503020204020204" charset="-122"/>
                <a:cs typeface="微软雅黑" panose="020B0503020204020204" charset="-122"/>
              </a:rPr>
              <a:t>的质量损</a:t>
            </a:r>
            <a:r>
              <a:rPr sz="1000" spc="-5" dirty="0">
                <a:latin typeface="微软雅黑" panose="020B0503020204020204" charset="-122"/>
                <a:ea typeface="微软雅黑" panose="020B0503020204020204" charset="-122"/>
                <a:cs typeface="微软雅黑" panose="020B0503020204020204" charset="-122"/>
              </a:rPr>
              <a:t>失</a:t>
            </a:r>
            <a:r>
              <a:rPr sz="1000" spc="-40"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，将</a:t>
            </a:r>
            <a:endParaRPr sz="1000">
              <a:latin typeface="微软雅黑" panose="020B0503020204020204" charset="-122"/>
              <a:ea typeface="微软雅黑" panose="020B0503020204020204" charset="-122"/>
              <a:cs typeface="微软雅黑" panose="020B0503020204020204" charset="-122"/>
            </a:endParaRPr>
          </a:p>
          <a:p>
            <a:pPr marR="39370" algn="r">
              <a:lnSpc>
                <a:spcPts val="1120"/>
              </a:lnSpc>
            </a:pPr>
            <a:r>
              <a:rPr sz="1000" spc="-5" dirty="0">
                <a:latin typeface="微软雅黑" panose="020B0503020204020204" charset="-122"/>
                <a:ea typeface="微软雅黑" panose="020B0503020204020204" charset="-122"/>
                <a:cs typeface="微软雅黑" panose="020B0503020204020204" charset="-122"/>
              </a:rPr>
              <a:t>现有产品的份额提高</a:t>
            </a:r>
            <a:r>
              <a:rPr sz="1000" dirty="0">
                <a:latin typeface="微软雅黑" panose="020B0503020204020204" charset="-122"/>
                <a:ea typeface="微软雅黑" panose="020B0503020204020204" charset="-122"/>
                <a:cs typeface="微软雅黑" panose="020B0503020204020204" charset="-122"/>
              </a:rPr>
              <a:t>XXX%</a:t>
            </a:r>
            <a:endParaRPr sz="1000">
              <a:latin typeface="微软雅黑" panose="020B0503020204020204" charset="-122"/>
              <a:ea typeface="微软雅黑" panose="020B0503020204020204" charset="-122"/>
              <a:cs typeface="微软雅黑" panose="020B0503020204020204" charset="-122"/>
            </a:endParaRPr>
          </a:p>
        </p:txBody>
      </p:sp>
      <p:sp>
        <p:nvSpPr>
          <p:cNvPr id="46" name="object 46"/>
          <p:cNvSpPr txBox="1"/>
          <p:nvPr/>
        </p:nvSpPr>
        <p:spPr>
          <a:xfrm>
            <a:off x="6640314" y="5035696"/>
            <a:ext cx="1349688" cy="165100"/>
          </a:xfrm>
          <a:prstGeom prst="rect">
            <a:avLst/>
          </a:prstGeom>
        </p:spPr>
        <p:txBody>
          <a:bodyPr vert="horz" wrap="square" lIns="0" tIns="12056" rIns="0" bIns="0" rtlCol="0">
            <a:spAutoFit/>
          </a:bodyPr>
          <a:lstStyle/>
          <a:p>
            <a:pPr marL="12700">
              <a:lnSpc>
                <a:spcPct val="100000"/>
              </a:lnSpc>
              <a:spcBef>
                <a:spcPts val="95"/>
              </a:spcBef>
              <a:tabLst>
                <a:tab pos="516890" algn="l"/>
                <a:tab pos="1022350" algn="l"/>
              </a:tabLst>
            </a:pPr>
            <a:r>
              <a:rPr sz="1000" spc="-10" dirty="0">
                <a:latin typeface="微软雅黑" panose="020B0503020204020204" charset="-122"/>
                <a:ea typeface="微软雅黑" panose="020B0503020204020204" charset="-122"/>
                <a:cs typeface="Arial" panose="020B0604020202020204"/>
              </a:rPr>
              <a:t>30.</a:t>
            </a:r>
            <a:r>
              <a:rPr sz="1000" spc="-5" dirty="0">
                <a:latin typeface="微软雅黑" panose="020B0503020204020204" charset="-122"/>
                <a:ea typeface="微软雅黑" panose="020B0503020204020204" charset="-122"/>
                <a:cs typeface="Arial" panose="020B0604020202020204"/>
              </a:rPr>
              <a:t>1</a:t>
            </a:r>
            <a:r>
              <a:rPr sz="1000" dirty="0">
                <a:latin typeface="微软雅黑" panose="020B0503020204020204" charset="-122"/>
                <a:ea typeface="微软雅黑" panose="020B0503020204020204" charset="-122"/>
                <a:cs typeface="Arial" panose="020B0604020202020204"/>
              </a:rPr>
              <a:t>	</a:t>
            </a:r>
            <a:r>
              <a:rPr sz="1000" spc="-10" dirty="0">
                <a:latin typeface="微软雅黑" panose="020B0503020204020204" charset="-122"/>
                <a:ea typeface="微软雅黑" panose="020B0503020204020204" charset="-122"/>
                <a:cs typeface="Arial" panose="020B0604020202020204"/>
              </a:rPr>
              <a:t>30.</a:t>
            </a:r>
            <a:r>
              <a:rPr sz="1000" spc="-5" dirty="0">
                <a:latin typeface="微软雅黑" panose="020B0503020204020204" charset="-122"/>
                <a:ea typeface="微软雅黑" panose="020B0503020204020204" charset="-122"/>
                <a:cs typeface="Arial" panose="020B0604020202020204"/>
              </a:rPr>
              <a:t>4</a:t>
            </a:r>
            <a:r>
              <a:rPr sz="1000" dirty="0">
                <a:latin typeface="微软雅黑" panose="020B0503020204020204" charset="-122"/>
                <a:ea typeface="微软雅黑" panose="020B0503020204020204" charset="-122"/>
                <a:cs typeface="Arial" panose="020B0604020202020204"/>
              </a:rPr>
              <a:t>	</a:t>
            </a:r>
            <a:r>
              <a:rPr sz="1000" spc="-10" dirty="0">
                <a:latin typeface="微软雅黑" panose="020B0503020204020204" charset="-122"/>
                <a:ea typeface="微软雅黑" panose="020B0503020204020204" charset="-122"/>
                <a:cs typeface="Arial" panose="020B0604020202020204"/>
              </a:rPr>
              <a:t>264.6</a:t>
            </a:r>
            <a:endParaRPr sz="1000">
              <a:latin typeface="微软雅黑" panose="020B0503020204020204" charset="-122"/>
              <a:ea typeface="微软雅黑" panose="020B0503020204020204" charset="-122"/>
              <a:cs typeface="Arial" panose="020B0604020202020204"/>
            </a:endParaRPr>
          </a:p>
        </p:txBody>
      </p:sp>
      <p:sp>
        <p:nvSpPr>
          <p:cNvPr id="47" name="object 47"/>
          <p:cNvSpPr txBox="1"/>
          <p:nvPr/>
        </p:nvSpPr>
        <p:spPr>
          <a:xfrm>
            <a:off x="1461241" y="3753981"/>
            <a:ext cx="534291" cy="857250"/>
          </a:xfrm>
          <a:prstGeom prst="rect">
            <a:avLst/>
          </a:prstGeom>
        </p:spPr>
        <p:txBody>
          <a:bodyPr vert="horz" wrap="square" lIns="0" tIns="27285" rIns="0" bIns="0" rtlCol="0">
            <a:spAutoFit/>
          </a:bodyPr>
          <a:lstStyle/>
          <a:p>
            <a:pPr marL="12700" marR="5080" algn="just">
              <a:lnSpc>
                <a:spcPct val="90000"/>
              </a:lnSpc>
              <a:spcBef>
                <a:spcPts val="215"/>
              </a:spcBef>
            </a:pPr>
            <a:r>
              <a:rPr sz="1000" spc="-10" dirty="0">
                <a:latin typeface="微软雅黑" panose="020B0503020204020204" charset="-122"/>
                <a:ea typeface="微软雅黑" panose="020B0503020204020204" charset="-122"/>
                <a:cs typeface="微软雅黑" panose="020B0503020204020204" charset="-122"/>
              </a:rPr>
              <a:t>积极推进 </a:t>
            </a:r>
            <a:r>
              <a:rPr sz="1000" spc="-5" dirty="0">
                <a:latin typeface="微软雅黑" panose="020B0503020204020204" charset="-122"/>
                <a:ea typeface="微软雅黑" panose="020B0503020204020204" charset="-122"/>
                <a:cs typeface="微软雅黑" panose="020B0503020204020204" charset="-122"/>
              </a:rPr>
              <a:t>质量和产 品创新， 协助</a:t>
            </a:r>
            <a:r>
              <a:rPr sz="1000" dirty="0">
                <a:latin typeface="微软雅黑" panose="020B0503020204020204" charset="-122"/>
                <a:ea typeface="微软雅黑" panose="020B0503020204020204" charset="-122"/>
                <a:cs typeface="微软雅黑" panose="020B0503020204020204" charset="-122"/>
              </a:rPr>
              <a:t>XXX </a:t>
            </a:r>
            <a:r>
              <a:rPr sz="1000" spc="-5" dirty="0">
                <a:latin typeface="微软雅黑" panose="020B0503020204020204" charset="-122"/>
                <a:ea typeface="微软雅黑" panose="020B0503020204020204" charset="-122"/>
                <a:cs typeface="微软雅黑" panose="020B0503020204020204" charset="-122"/>
              </a:rPr>
              <a:t>提升产品 品牌价值</a:t>
            </a:r>
            <a:endParaRPr sz="1000">
              <a:latin typeface="微软雅黑" panose="020B0503020204020204" charset="-122"/>
              <a:ea typeface="微软雅黑" panose="020B0503020204020204" charset="-122"/>
              <a:cs typeface="微软雅黑" panose="020B0503020204020204" charset="-122"/>
            </a:endParaRPr>
          </a:p>
        </p:txBody>
      </p:sp>
      <p:sp>
        <p:nvSpPr>
          <p:cNvPr id="48" name="object 48"/>
          <p:cNvSpPr txBox="1"/>
          <p:nvPr/>
        </p:nvSpPr>
        <p:spPr>
          <a:xfrm>
            <a:off x="3809585" y="3721999"/>
            <a:ext cx="2628307" cy="203835"/>
          </a:xfrm>
          <a:prstGeom prst="rect">
            <a:avLst/>
          </a:prstGeom>
        </p:spPr>
        <p:txBody>
          <a:bodyPr vert="horz" wrap="square" lIns="0" tIns="12691" rIns="0" bIns="0" rtlCol="0">
            <a:spAutoFit/>
          </a:bodyPr>
          <a:lstStyle/>
          <a:p>
            <a:pPr marL="12700">
              <a:lnSpc>
                <a:spcPct val="100000"/>
              </a:lnSpc>
              <a:spcBef>
                <a:spcPts val="100"/>
              </a:spcBef>
              <a:tabLst>
                <a:tab pos="544195" algn="l"/>
                <a:tab pos="733425" algn="l"/>
              </a:tabLst>
            </a:pPr>
            <a:r>
              <a:rPr sz="1000" spc="-10" dirty="0">
                <a:latin typeface="微软雅黑" panose="020B0503020204020204" charset="-122"/>
                <a:ea typeface="微软雅黑" panose="020B0503020204020204" charset="-122"/>
                <a:cs typeface="微软雅黑" panose="020B0503020204020204" charset="-122"/>
              </a:rPr>
              <a:t>改进</a:t>
            </a:r>
            <a:r>
              <a:rPr sz="1000" spc="-5" dirty="0">
                <a:latin typeface="微软雅黑" panose="020B0503020204020204" charset="-122"/>
                <a:ea typeface="微软雅黑" panose="020B0503020204020204" charset="-122"/>
                <a:cs typeface="微软雅黑" panose="020B0503020204020204" charset="-122"/>
              </a:rPr>
              <a:t>生	</a:t>
            </a:r>
            <a:r>
              <a:rPr sz="1250" dirty="0">
                <a:solidFill>
                  <a:srgbClr val="00295F"/>
                </a:solidFill>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通过系统优化</a:t>
            </a:r>
            <a:r>
              <a:rPr sz="1000" dirty="0">
                <a:latin typeface="微软雅黑" panose="020B0503020204020204" charset="-122"/>
                <a:ea typeface="微软雅黑" panose="020B0503020204020204" charset="-122"/>
                <a:cs typeface="微软雅黑" panose="020B0503020204020204" charset="-122"/>
              </a:rPr>
              <a:t>XXX/XXX/XXX/XXX</a:t>
            </a:r>
            <a:endParaRPr sz="1000">
              <a:latin typeface="微软雅黑" panose="020B0503020204020204" charset="-122"/>
              <a:ea typeface="微软雅黑" panose="020B0503020204020204" charset="-122"/>
              <a:cs typeface="微软雅黑" panose="020B0503020204020204" charset="-122"/>
            </a:endParaRPr>
          </a:p>
        </p:txBody>
      </p:sp>
      <p:sp>
        <p:nvSpPr>
          <p:cNvPr id="49" name="object 49"/>
          <p:cNvSpPr txBox="1"/>
          <p:nvPr/>
        </p:nvSpPr>
        <p:spPr>
          <a:xfrm>
            <a:off x="4529928" y="3891602"/>
            <a:ext cx="1799585" cy="829945"/>
          </a:xfrm>
          <a:prstGeom prst="rect">
            <a:avLst/>
          </a:prstGeom>
        </p:spPr>
        <p:txBody>
          <a:bodyPr vert="horz" wrap="square" lIns="0" tIns="12056" rIns="0" bIns="0" rtlCol="0">
            <a:spAutoFit/>
          </a:bodyPr>
          <a:lstStyle/>
          <a:p>
            <a:pPr marL="12700">
              <a:lnSpc>
                <a:spcPts val="1040"/>
              </a:lnSpc>
              <a:spcBef>
                <a:spcPts val="95"/>
              </a:spcBef>
            </a:pPr>
            <a:r>
              <a:rPr sz="1000" spc="-5" dirty="0">
                <a:latin typeface="微软雅黑" panose="020B0503020204020204" charset="-122"/>
                <a:ea typeface="微软雅黑" panose="020B0503020204020204" charset="-122"/>
                <a:cs typeface="微软雅黑" panose="020B0503020204020204" charset="-122"/>
              </a:rPr>
              <a:t>成本结构</a:t>
            </a: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扩大收入份额</a:t>
            </a:r>
            <a:endParaRPr sz="1000">
              <a:latin typeface="微软雅黑" panose="020B0503020204020204" charset="-122"/>
              <a:ea typeface="微软雅黑" panose="020B0503020204020204" charset="-122"/>
              <a:cs typeface="微软雅黑" panose="020B0503020204020204" charset="-122"/>
            </a:endParaRPr>
          </a:p>
          <a:p>
            <a:pPr marL="269875" marR="5080" indent="-256540">
              <a:lnSpc>
                <a:spcPct val="87000"/>
              </a:lnSpc>
              <a:spcBef>
                <a:spcPts val="25"/>
              </a:spcBef>
              <a:buClr>
                <a:srgbClr val="00295F"/>
              </a:buClr>
              <a:buSzPct val="120000"/>
              <a:buFont typeface="Arial" panose="020B0604020202020204"/>
              <a:buChar char="–"/>
              <a:tabLst>
                <a:tab pos="269875" algn="l"/>
                <a:tab pos="270510" algn="l"/>
              </a:tabLst>
            </a:pPr>
            <a:r>
              <a:rPr sz="1000" spc="-5" dirty="0">
                <a:latin typeface="微软雅黑" panose="020B0503020204020204" charset="-122"/>
                <a:ea typeface="微软雅黑" panose="020B0503020204020204" charset="-122"/>
                <a:cs typeface="微软雅黑" panose="020B0503020204020204" charset="-122"/>
              </a:rPr>
              <a:t>通过提前生产半成品提高产 量</a:t>
            </a: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倍。</a:t>
            </a:r>
            <a:endParaRPr sz="1000">
              <a:latin typeface="微软雅黑" panose="020B0503020204020204" charset="-122"/>
              <a:ea typeface="微软雅黑" panose="020B0503020204020204" charset="-122"/>
              <a:cs typeface="微软雅黑" panose="020B0503020204020204" charset="-122"/>
            </a:endParaRPr>
          </a:p>
          <a:p>
            <a:pPr marL="269875" indent="-256540">
              <a:lnSpc>
                <a:spcPts val="940"/>
              </a:lnSpc>
              <a:buClr>
                <a:srgbClr val="00295F"/>
              </a:buClr>
              <a:buSzPct val="120000"/>
              <a:buFont typeface="Arial" panose="020B0604020202020204"/>
              <a:buChar char="–"/>
              <a:tabLst>
                <a:tab pos="269875" algn="l"/>
                <a:tab pos="270510" algn="l"/>
              </a:tabLst>
            </a:pPr>
            <a:r>
              <a:rPr sz="1000" spc="-5" dirty="0">
                <a:latin typeface="微软雅黑" panose="020B0503020204020204" charset="-122"/>
                <a:ea typeface="微软雅黑" panose="020B0503020204020204" charset="-122"/>
                <a:cs typeface="微软雅黑" panose="020B0503020204020204" charset="-122"/>
              </a:rPr>
              <a:t>用</a:t>
            </a: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替代</a:t>
            </a:r>
            <a:r>
              <a:rPr sz="1000" dirty="0">
                <a:latin typeface="微软雅黑" panose="020B0503020204020204" charset="-122"/>
                <a:ea typeface="微软雅黑" panose="020B0503020204020204" charset="-122"/>
                <a:cs typeface="微软雅黑" panose="020B0503020204020204" charset="-122"/>
              </a:rPr>
              <a:t>XXX</a:t>
            </a:r>
            <a:r>
              <a:rPr sz="1000" spc="-55"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(0.6%)</a:t>
            </a:r>
            <a:endParaRPr sz="1000">
              <a:latin typeface="微软雅黑" panose="020B0503020204020204" charset="-122"/>
              <a:ea typeface="微软雅黑" panose="020B0503020204020204" charset="-122"/>
              <a:cs typeface="微软雅黑" panose="020B0503020204020204" charset="-122"/>
            </a:endParaRPr>
          </a:p>
          <a:p>
            <a:pPr marL="269875" indent="-256540">
              <a:lnSpc>
                <a:spcPts val="1180"/>
              </a:lnSpc>
              <a:buClr>
                <a:srgbClr val="00295F"/>
              </a:buClr>
              <a:buSzPct val="120000"/>
              <a:buFont typeface="Arial" panose="020B0604020202020204"/>
              <a:buChar char="–"/>
              <a:tabLst>
                <a:tab pos="269875" algn="l"/>
                <a:tab pos="270510" algn="l"/>
              </a:tabLst>
            </a:pPr>
            <a:r>
              <a:rPr sz="1000" spc="-5" dirty="0">
                <a:latin typeface="微软雅黑" panose="020B0503020204020204" charset="-122"/>
                <a:ea typeface="微软雅黑" panose="020B0503020204020204" charset="-122"/>
                <a:cs typeface="微软雅黑" panose="020B0503020204020204" charset="-122"/>
              </a:rPr>
              <a:t>用</a:t>
            </a: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替代</a:t>
            </a:r>
            <a:r>
              <a:rPr sz="1000" spc="-5" dirty="0">
                <a:latin typeface="微软雅黑" panose="020B0503020204020204" charset="-122"/>
                <a:ea typeface="微软雅黑" panose="020B0503020204020204" charset="-122"/>
                <a:cs typeface="微软雅黑" panose="020B0503020204020204" charset="-122"/>
              </a:rPr>
              <a:t>XXX，降低</a:t>
            </a:r>
            <a:endParaRPr sz="1000">
              <a:latin typeface="微软雅黑" panose="020B0503020204020204" charset="-122"/>
              <a:ea typeface="微软雅黑" panose="020B0503020204020204" charset="-122"/>
              <a:cs typeface="微软雅黑" panose="020B0503020204020204" charset="-122"/>
            </a:endParaRPr>
          </a:p>
          <a:p>
            <a:pPr marL="269875">
              <a:lnSpc>
                <a:spcPts val="1120"/>
              </a:lnSpc>
            </a:pP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的成本，向客户提供</a:t>
            </a:r>
            <a:endParaRPr sz="1000">
              <a:latin typeface="微软雅黑" panose="020B0503020204020204" charset="-122"/>
              <a:ea typeface="微软雅黑" panose="020B0503020204020204" charset="-122"/>
              <a:cs typeface="微软雅黑" panose="020B0503020204020204" charset="-122"/>
            </a:endParaRPr>
          </a:p>
        </p:txBody>
      </p:sp>
      <p:sp>
        <p:nvSpPr>
          <p:cNvPr id="50" name="object 50"/>
          <p:cNvSpPr txBox="1"/>
          <p:nvPr/>
        </p:nvSpPr>
        <p:spPr>
          <a:xfrm>
            <a:off x="6641837" y="3773779"/>
            <a:ext cx="201152"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Arial" panose="020B0604020202020204"/>
              </a:rPr>
              <a:t>9</a:t>
            </a:r>
            <a:r>
              <a:rPr sz="1000" spc="-5" dirty="0">
                <a:latin typeface="微软雅黑" panose="020B0503020204020204" charset="-122"/>
                <a:ea typeface="微软雅黑" panose="020B0503020204020204" charset="-122"/>
                <a:cs typeface="Arial" panose="020B0604020202020204"/>
              </a:rPr>
              <a:t>.8</a:t>
            </a:r>
            <a:endParaRPr sz="1000">
              <a:latin typeface="微软雅黑" panose="020B0503020204020204" charset="-122"/>
              <a:ea typeface="微软雅黑" panose="020B0503020204020204" charset="-122"/>
              <a:cs typeface="Arial" panose="020B0604020202020204"/>
            </a:endParaRPr>
          </a:p>
        </p:txBody>
      </p:sp>
      <p:sp>
        <p:nvSpPr>
          <p:cNvPr id="51" name="object 51"/>
          <p:cNvSpPr txBox="1"/>
          <p:nvPr/>
        </p:nvSpPr>
        <p:spPr>
          <a:xfrm>
            <a:off x="7146304" y="3773779"/>
            <a:ext cx="201152"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Arial" panose="020B0604020202020204"/>
              </a:rPr>
              <a:t>9</a:t>
            </a:r>
            <a:r>
              <a:rPr sz="1000" spc="-5" dirty="0">
                <a:latin typeface="微软雅黑" panose="020B0503020204020204" charset="-122"/>
                <a:ea typeface="微软雅黑" panose="020B0503020204020204" charset="-122"/>
                <a:cs typeface="Arial" panose="020B0604020202020204"/>
              </a:rPr>
              <a:t>.8</a:t>
            </a:r>
            <a:endParaRPr sz="1000">
              <a:latin typeface="微软雅黑" panose="020B0503020204020204" charset="-122"/>
              <a:ea typeface="微软雅黑" panose="020B0503020204020204" charset="-122"/>
              <a:cs typeface="Arial" panose="020B0604020202020204"/>
            </a:endParaRPr>
          </a:p>
        </p:txBody>
      </p:sp>
      <p:sp>
        <p:nvSpPr>
          <p:cNvPr id="52" name="object 52"/>
          <p:cNvSpPr txBox="1"/>
          <p:nvPr/>
        </p:nvSpPr>
        <p:spPr>
          <a:xfrm>
            <a:off x="7649376" y="3773779"/>
            <a:ext cx="341388"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Arial" panose="020B0604020202020204"/>
              </a:rPr>
              <a:t>103</a:t>
            </a:r>
            <a:r>
              <a:rPr sz="1000" spc="-5" dirty="0">
                <a:latin typeface="微软雅黑" panose="020B0503020204020204" charset="-122"/>
                <a:ea typeface="微软雅黑" panose="020B0503020204020204" charset="-122"/>
                <a:cs typeface="Arial" panose="020B0604020202020204"/>
              </a:rPr>
              <a:t>.5</a:t>
            </a:r>
            <a:endParaRPr sz="1000">
              <a:latin typeface="微软雅黑" panose="020B0503020204020204" charset="-122"/>
              <a:ea typeface="微软雅黑" panose="020B0503020204020204" charset="-122"/>
              <a:cs typeface="Arial" panose="020B0604020202020204"/>
            </a:endParaRPr>
          </a:p>
        </p:txBody>
      </p:sp>
      <p:sp>
        <p:nvSpPr>
          <p:cNvPr id="53" name="object 53"/>
          <p:cNvSpPr txBox="1"/>
          <p:nvPr/>
        </p:nvSpPr>
        <p:spPr>
          <a:xfrm>
            <a:off x="2203792" y="3721999"/>
            <a:ext cx="2010889" cy="1026160"/>
          </a:xfrm>
          <a:prstGeom prst="rect">
            <a:avLst/>
          </a:prstGeom>
        </p:spPr>
        <p:txBody>
          <a:bodyPr vert="horz" wrap="square" lIns="0" tIns="12691" rIns="0" bIns="0" rtlCol="0">
            <a:spAutoFit/>
          </a:bodyPr>
          <a:lstStyle/>
          <a:p>
            <a:pPr marL="201295" indent="-189230">
              <a:lnSpc>
                <a:spcPts val="1415"/>
              </a:lnSpc>
              <a:spcBef>
                <a:spcPts val="100"/>
              </a:spcBef>
              <a:buClr>
                <a:srgbClr val="00295F"/>
              </a:buClr>
              <a:buSzPct val="125000"/>
              <a:buFont typeface="Arial" panose="020B0604020202020204"/>
              <a:buChar char="▪"/>
              <a:tabLst>
                <a:tab pos="201295" algn="l"/>
                <a:tab pos="201930" algn="l"/>
                <a:tab pos="1430020" algn="l"/>
              </a:tabLst>
            </a:pPr>
            <a:r>
              <a:rPr sz="1000" spc="-10" dirty="0">
                <a:latin typeface="微软雅黑" panose="020B0503020204020204" charset="-122"/>
                <a:ea typeface="微软雅黑" panose="020B0503020204020204" charset="-122"/>
                <a:cs typeface="微软雅黑" panose="020B0503020204020204" charset="-122"/>
              </a:rPr>
              <a:t>启动针对客户的</a:t>
            </a:r>
            <a:r>
              <a:rPr sz="1000" spc="-5" dirty="0">
                <a:latin typeface="微软雅黑" panose="020B0503020204020204" charset="-122"/>
                <a:ea typeface="微软雅黑" panose="020B0503020204020204" charset="-122"/>
                <a:cs typeface="微软雅黑" panose="020B0503020204020204" charset="-122"/>
              </a:rPr>
              <a:t>具	</a:t>
            </a:r>
            <a:r>
              <a:rPr sz="1250" dirty="0">
                <a:solidFill>
                  <a:srgbClr val="00295F"/>
                </a:solidFill>
                <a:latin typeface="微软雅黑" panose="020B0503020204020204" charset="-122"/>
                <a:ea typeface="微软雅黑" panose="020B0503020204020204" charset="-122"/>
                <a:cs typeface="微软雅黑" panose="020B0503020204020204" charset="-122"/>
              </a:rPr>
              <a:t>▪</a:t>
            </a:r>
            <a:endParaRPr sz="1250">
              <a:latin typeface="微软雅黑" panose="020B0503020204020204" charset="-122"/>
              <a:ea typeface="微软雅黑" panose="020B0503020204020204" charset="-122"/>
              <a:cs typeface="微软雅黑" panose="020B0503020204020204" charset="-122"/>
            </a:endParaRPr>
          </a:p>
          <a:p>
            <a:pPr marL="201295" marR="5080">
              <a:lnSpc>
                <a:spcPts val="1080"/>
              </a:lnSpc>
              <a:spcBef>
                <a:spcPts val="50"/>
              </a:spcBef>
              <a:tabLst>
                <a:tab pos="1619250" algn="l"/>
              </a:tabLst>
            </a:pPr>
            <a:r>
              <a:rPr sz="1000" spc="-5" dirty="0">
                <a:latin typeface="微软雅黑" panose="020B0503020204020204" charset="-122"/>
                <a:ea typeface="微软雅黑" panose="020B0503020204020204" charset="-122"/>
                <a:cs typeface="微软雅黑" panose="020B0503020204020204" charset="-122"/>
              </a:rPr>
              <a:t>体的质</a:t>
            </a:r>
            <a:r>
              <a:rPr sz="1000" spc="5" dirty="0">
                <a:latin typeface="微软雅黑" panose="020B0503020204020204" charset="-122"/>
                <a:ea typeface="微软雅黑" panose="020B0503020204020204" charset="-122"/>
                <a:cs typeface="微软雅黑" panose="020B0503020204020204" charset="-122"/>
              </a:rPr>
              <a:t>量</a:t>
            </a:r>
            <a:r>
              <a:rPr sz="1000" spc="-5" dirty="0">
                <a:latin typeface="微软雅黑" panose="020B0503020204020204" charset="-122"/>
                <a:ea typeface="微软雅黑" panose="020B0503020204020204" charset="-122"/>
                <a:cs typeface="微软雅黑" panose="020B0503020204020204" charset="-122"/>
              </a:rPr>
              <a:t>提升</a:t>
            </a:r>
            <a:r>
              <a:rPr sz="1000" spc="5" dirty="0">
                <a:latin typeface="微软雅黑" panose="020B0503020204020204" charset="-122"/>
                <a:ea typeface="微软雅黑" panose="020B0503020204020204" charset="-122"/>
                <a:cs typeface="微软雅黑" panose="020B0503020204020204" charset="-122"/>
              </a:rPr>
              <a:t>举</a:t>
            </a:r>
            <a:r>
              <a:rPr sz="1000" spc="-5" dirty="0">
                <a:latin typeface="微软雅黑" panose="020B0503020204020204" charset="-122"/>
                <a:ea typeface="微软雅黑" panose="020B0503020204020204" charset="-122"/>
                <a:cs typeface="微软雅黑" panose="020B0503020204020204" charset="-122"/>
              </a:rPr>
              <a:t>措，</a:t>
            </a:r>
            <a:r>
              <a:rPr sz="1000"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产成本 确保产品质量连贯</a:t>
            </a:r>
            <a:endParaRPr sz="1000">
              <a:latin typeface="微软雅黑" panose="020B0503020204020204" charset="-122"/>
              <a:ea typeface="微软雅黑" panose="020B0503020204020204" charset="-122"/>
              <a:cs typeface="微软雅黑" panose="020B0503020204020204" charset="-122"/>
            </a:endParaRPr>
          </a:p>
          <a:p>
            <a:pPr marL="201295">
              <a:lnSpc>
                <a:spcPts val="995"/>
              </a:lnSpc>
            </a:pPr>
            <a:r>
              <a:rPr sz="1000" spc="-5" dirty="0">
                <a:latin typeface="微软雅黑" panose="020B0503020204020204" charset="-122"/>
                <a:ea typeface="微软雅黑" panose="020B0503020204020204" charset="-122"/>
                <a:cs typeface="微软雅黑" panose="020B0503020204020204" charset="-122"/>
              </a:rPr>
              <a:t>稳定</a:t>
            </a:r>
            <a:endParaRPr sz="1000">
              <a:latin typeface="微软雅黑" panose="020B0503020204020204" charset="-122"/>
              <a:ea typeface="微软雅黑" panose="020B0503020204020204" charset="-122"/>
              <a:cs typeface="微软雅黑" panose="020B0503020204020204" charset="-122"/>
            </a:endParaRPr>
          </a:p>
          <a:p>
            <a:pPr marL="201295" marR="791210" indent="-189230" algn="just">
              <a:lnSpc>
                <a:spcPct val="90000"/>
              </a:lnSpc>
              <a:spcBef>
                <a:spcPts val="50"/>
              </a:spcBef>
              <a:buClr>
                <a:srgbClr val="00295F"/>
              </a:buClr>
              <a:buSzPct val="125000"/>
              <a:buFont typeface="Arial" panose="020B0604020202020204"/>
              <a:buChar char="▪"/>
              <a:tabLst>
                <a:tab pos="201930" algn="l"/>
              </a:tabLst>
            </a:pPr>
            <a:r>
              <a:rPr sz="1000" spc="-10" dirty="0">
                <a:latin typeface="微软雅黑" panose="020B0503020204020204" charset="-122"/>
                <a:ea typeface="微软雅黑" panose="020B0503020204020204" charset="-122"/>
                <a:cs typeface="微软雅黑" panose="020B0503020204020204" charset="-122"/>
              </a:rPr>
              <a:t>通过高质量服务和 </a:t>
            </a:r>
            <a:r>
              <a:rPr sz="1000" spc="-5" dirty="0">
                <a:latin typeface="微软雅黑" panose="020B0503020204020204" charset="-122"/>
                <a:ea typeface="微软雅黑" panose="020B0503020204020204" charset="-122"/>
                <a:cs typeface="微软雅黑" panose="020B0503020204020204" charset="-122"/>
              </a:rPr>
              <a:t>全球技术优势成为 客户供应链合作伙</a:t>
            </a:r>
            <a:endParaRPr sz="1000">
              <a:latin typeface="微软雅黑" panose="020B0503020204020204" charset="-122"/>
              <a:ea typeface="微软雅黑" panose="020B0503020204020204" charset="-122"/>
              <a:cs typeface="微软雅黑" panose="020B0503020204020204" charset="-122"/>
            </a:endParaRPr>
          </a:p>
        </p:txBody>
      </p:sp>
      <p:sp>
        <p:nvSpPr>
          <p:cNvPr id="54" name="object 54"/>
          <p:cNvSpPr txBox="1"/>
          <p:nvPr/>
        </p:nvSpPr>
        <p:spPr>
          <a:xfrm>
            <a:off x="2392634" y="4713979"/>
            <a:ext cx="3168310" cy="165100"/>
          </a:xfrm>
          <a:prstGeom prst="rect">
            <a:avLst/>
          </a:prstGeom>
        </p:spPr>
        <p:txBody>
          <a:bodyPr vert="horz" wrap="square" lIns="0" tIns="12056" rIns="0" bIns="0" rtlCol="0">
            <a:spAutoFit/>
          </a:bodyPr>
          <a:lstStyle/>
          <a:p>
            <a:pPr marL="12700">
              <a:lnSpc>
                <a:spcPct val="100000"/>
              </a:lnSpc>
              <a:spcBef>
                <a:spcPts val="95"/>
              </a:spcBef>
              <a:tabLst>
                <a:tab pos="2408555" algn="l"/>
              </a:tabLst>
            </a:pPr>
            <a:r>
              <a:rPr sz="1000" spc="-5" dirty="0">
                <a:latin typeface="微软雅黑" panose="020B0503020204020204" charset="-122"/>
                <a:ea typeface="微软雅黑" panose="020B0503020204020204" charset="-122"/>
                <a:cs typeface="微软雅黑" panose="020B0503020204020204" charset="-122"/>
              </a:rPr>
              <a:t>伴	</a:t>
            </a: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%的返利</a:t>
            </a:r>
            <a:endParaRPr sz="1000">
              <a:latin typeface="微软雅黑" panose="020B0503020204020204" charset="-122"/>
              <a:ea typeface="微软雅黑" panose="020B0503020204020204" charset="-122"/>
              <a:cs typeface="微软雅黑" panose="020B0503020204020204" charset="-122"/>
            </a:endParaRPr>
          </a:p>
        </p:txBody>
      </p:sp>
      <p:sp>
        <p:nvSpPr>
          <p:cNvPr id="55" name="object 55"/>
          <p:cNvSpPr/>
          <p:nvPr/>
        </p:nvSpPr>
        <p:spPr>
          <a:xfrm>
            <a:off x="370069" y="5322149"/>
            <a:ext cx="7919188" cy="818570"/>
          </a:xfrm>
          <a:custGeom>
            <a:avLst/>
            <a:gdLst/>
            <a:ahLst/>
            <a:cxnLst/>
            <a:rect l="l" t="t" r="r" b="b"/>
            <a:pathLst>
              <a:path w="7924800" h="819150">
                <a:moveTo>
                  <a:pt x="0" y="565060"/>
                </a:moveTo>
                <a:lnTo>
                  <a:pt x="0" y="818618"/>
                </a:lnTo>
                <a:lnTo>
                  <a:pt x="7924561" y="762218"/>
                </a:lnTo>
                <a:lnTo>
                  <a:pt x="7924561" y="655431"/>
                </a:lnTo>
                <a:lnTo>
                  <a:pt x="1193797" y="655431"/>
                </a:lnTo>
                <a:lnTo>
                  <a:pt x="1142686" y="586198"/>
                </a:lnTo>
                <a:lnTo>
                  <a:pt x="158110" y="586198"/>
                </a:lnTo>
                <a:lnTo>
                  <a:pt x="0" y="565060"/>
                </a:lnTo>
                <a:close/>
              </a:path>
              <a:path w="7924800" h="819150">
                <a:moveTo>
                  <a:pt x="1711602" y="504212"/>
                </a:moveTo>
                <a:lnTo>
                  <a:pt x="1193797" y="655431"/>
                </a:lnTo>
                <a:lnTo>
                  <a:pt x="7924561" y="655431"/>
                </a:lnTo>
                <a:lnTo>
                  <a:pt x="7924561" y="620815"/>
                </a:lnTo>
                <a:lnTo>
                  <a:pt x="2850858" y="620815"/>
                </a:lnTo>
                <a:lnTo>
                  <a:pt x="2785947" y="597130"/>
                </a:lnTo>
                <a:lnTo>
                  <a:pt x="1970524" y="597130"/>
                </a:lnTo>
                <a:lnTo>
                  <a:pt x="1711602" y="504212"/>
                </a:lnTo>
                <a:close/>
              </a:path>
              <a:path w="7924800" h="819150">
                <a:moveTo>
                  <a:pt x="3079098" y="294692"/>
                </a:moveTo>
                <a:lnTo>
                  <a:pt x="2985239" y="456842"/>
                </a:lnTo>
                <a:lnTo>
                  <a:pt x="2850858" y="620815"/>
                </a:lnTo>
                <a:lnTo>
                  <a:pt x="7924561" y="620815"/>
                </a:lnTo>
                <a:lnTo>
                  <a:pt x="7924561" y="456842"/>
                </a:lnTo>
                <a:lnTo>
                  <a:pt x="4580844" y="456842"/>
                </a:lnTo>
                <a:lnTo>
                  <a:pt x="4560085" y="445911"/>
                </a:lnTo>
                <a:lnTo>
                  <a:pt x="3627624" y="445911"/>
                </a:lnTo>
                <a:lnTo>
                  <a:pt x="3607126" y="376678"/>
                </a:lnTo>
                <a:lnTo>
                  <a:pt x="3234451" y="376678"/>
                </a:lnTo>
                <a:lnTo>
                  <a:pt x="3079098" y="294692"/>
                </a:lnTo>
                <a:close/>
              </a:path>
              <a:path w="7924800" h="819150">
                <a:moveTo>
                  <a:pt x="2074093" y="411294"/>
                </a:moveTo>
                <a:lnTo>
                  <a:pt x="1970524" y="597130"/>
                </a:lnTo>
                <a:lnTo>
                  <a:pt x="2785947" y="597130"/>
                </a:lnTo>
                <a:lnTo>
                  <a:pt x="2561254" y="515144"/>
                </a:lnTo>
                <a:lnTo>
                  <a:pt x="2281230" y="515144"/>
                </a:lnTo>
                <a:lnTo>
                  <a:pt x="2074093" y="411294"/>
                </a:lnTo>
                <a:close/>
              </a:path>
              <a:path w="7924800" h="819150">
                <a:moveTo>
                  <a:pt x="841016" y="493281"/>
                </a:moveTo>
                <a:lnTo>
                  <a:pt x="417032" y="527897"/>
                </a:lnTo>
                <a:lnTo>
                  <a:pt x="158110" y="586198"/>
                </a:lnTo>
                <a:lnTo>
                  <a:pt x="1142686" y="586198"/>
                </a:lnTo>
                <a:lnTo>
                  <a:pt x="1090229" y="515144"/>
                </a:lnTo>
                <a:lnTo>
                  <a:pt x="841016" y="493281"/>
                </a:lnTo>
                <a:close/>
              </a:path>
              <a:path w="7924800" h="819150">
                <a:moveTo>
                  <a:pt x="5284723" y="178089"/>
                </a:moveTo>
                <a:lnTo>
                  <a:pt x="5016092" y="363925"/>
                </a:lnTo>
                <a:lnTo>
                  <a:pt x="4580844" y="456842"/>
                </a:lnTo>
                <a:lnTo>
                  <a:pt x="7924561" y="456842"/>
                </a:lnTo>
                <a:lnTo>
                  <a:pt x="7924561" y="376678"/>
                </a:lnTo>
                <a:lnTo>
                  <a:pt x="5647214" y="376678"/>
                </a:lnTo>
                <a:lnTo>
                  <a:pt x="5626241" y="212706"/>
                </a:lnTo>
                <a:lnTo>
                  <a:pt x="5284723" y="178089"/>
                </a:lnTo>
                <a:close/>
              </a:path>
              <a:path w="7924800" h="819150">
                <a:moveTo>
                  <a:pt x="4279848" y="247322"/>
                </a:moveTo>
                <a:lnTo>
                  <a:pt x="3844471" y="422226"/>
                </a:lnTo>
                <a:lnTo>
                  <a:pt x="3627624" y="445911"/>
                </a:lnTo>
                <a:lnTo>
                  <a:pt x="4560085" y="445911"/>
                </a:lnTo>
                <a:lnTo>
                  <a:pt x="4404389" y="363925"/>
                </a:lnTo>
                <a:lnTo>
                  <a:pt x="4279848" y="247322"/>
                </a:lnTo>
                <a:close/>
              </a:path>
              <a:path w="7924800" h="819150">
                <a:moveTo>
                  <a:pt x="3575839" y="271007"/>
                </a:moveTo>
                <a:lnTo>
                  <a:pt x="3234451" y="376678"/>
                </a:lnTo>
                <a:lnTo>
                  <a:pt x="3607126" y="376678"/>
                </a:lnTo>
                <a:lnTo>
                  <a:pt x="3575839" y="271007"/>
                </a:lnTo>
                <a:close/>
              </a:path>
              <a:path w="7924800" h="819150">
                <a:moveTo>
                  <a:pt x="6433689" y="130720"/>
                </a:moveTo>
                <a:lnTo>
                  <a:pt x="5906136" y="363925"/>
                </a:lnTo>
                <a:lnTo>
                  <a:pt x="5647214" y="376678"/>
                </a:lnTo>
                <a:lnTo>
                  <a:pt x="7924561" y="376678"/>
                </a:lnTo>
                <a:lnTo>
                  <a:pt x="7924561" y="236391"/>
                </a:lnTo>
                <a:lnTo>
                  <a:pt x="6589042" y="236391"/>
                </a:lnTo>
                <a:lnTo>
                  <a:pt x="6433689" y="130720"/>
                </a:lnTo>
                <a:close/>
              </a:path>
              <a:path w="7924800" h="819150">
                <a:moveTo>
                  <a:pt x="7200745" y="107035"/>
                </a:moveTo>
                <a:lnTo>
                  <a:pt x="6786470" y="189021"/>
                </a:lnTo>
                <a:lnTo>
                  <a:pt x="6589042" y="236391"/>
                </a:lnTo>
                <a:lnTo>
                  <a:pt x="7924561" y="236391"/>
                </a:lnTo>
                <a:lnTo>
                  <a:pt x="7924561" y="178089"/>
                </a:lnTo>
                <a:lnTo>
                  <a:pt x="7449957" y="178089"/>
                </a:lnTo>
                <a:lnTo>
                  <a:pt x="7200745" y="107035"/>
                </a:lnTo>
                <a:close/>
              </a:path>
              <a:path w="7924800" h="819150">
                <a:moveTo>
                  <a:pt x="7924561" y="0"/>
                </a:moveTo>
                <a:lnTo>
                  <a:pt x="7449957" y="178089"/>
                </a:lnTo>
                <a:lnTo>
                  <a:pt x="7924561" y="178089"/>
                </a:lnTo>
                <a:lnTo>
                  <a:pt x="7924561" y="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6" name="object 56"/>
          <p:cNvSpPr/>
          <p:nvPr/>
        </p:nvSpPr>
        <p:spPr>
          <a:xfrm>
            <a:off x="370069" y="5322149"/>
            <a:ext cx="7919188" cy="655490"/>
          </a:xfrm>
          <a:custGeom>
            <a:avLst/>
            <a:gdLst/>
            <a:ahLst/>
            <a:cxnLst/>
            <a:rect l="l" t="t" r="r" b="b"/>
            <a:pathLst>
              <a:path w="7924800" h="655954">
                <a:moveTo>
                  <a:pt x="0" y="565060"/>
                </a:moveTo>
                <a:lnTo>
                  <a:pt x="158110" y="586198"/>
                </a:lnTo>
                <a:lnTo>
                  <a:pt x="417032" y="527897"/>
                </a:lnTo>
                <a:lnTo>
                  <a:pt x="841016" y="493281"/>
                </a:lnTo>
                <a:lnTo>
                  <a:pt x="1090229" y="515144"/>
                </a:lnTo>
                <a:lnTo>
                  <a:pt x="1193797" y="655431"/>
                </a:lnTo>
                <a:lnTo>
                  <a:pt x="1711602" y="504212"/>
                </a:lnTo>
                <a:lnTo>
                  <a:pt x="1970524" y="597130"/>
                </a:lnTo>
                <a:lnTo>
                  <a:pt x="2074093" y="411294"/>
                </a:lnTo>
                <a:lnTo>
                  <a:pt x="2281230" y="515144"/>
                </a:lnTo>
                <a:lnTo>
                  <a:pt x="2561254" y="515144"/>
                </a:lnTo>
                <a:lnTo>
                  <a:pt x="2850858" y="620815"/>
                </a:lnTo>
                <a:lnTo>
                  <a:pt x="2985239" y="456842"/>
                </a:lnTo>
                <a:lnTo>
                  <a:pt x="3079098" y="294692"/>
                </a:lnTo>
                <a:lnTo>
                  <a:pt x="3234451" y="376678"/>
                </a:lnTo>
                <a:lnTo>
                  <a:pt x="3575839" y="271007"/>
                </a:lnTo>
                <a:lnTo>
                  <a:pt x="3627624" y="445911"/>
                </a:lnTo>
                <a:lnTo>
                  <a:pt x="3844471" y="422226"/>
                </a:lnTo>
                <a:lnTo>
                  <a:pt x="4279848" y="247322"/>
                </a:lnTo>
                <a:lnTo>
                  <a:pt x="4404389" y="363925"/>
                </a:lnTo>
                <a:lnTo>
                  <a:pt x="4580844" y="456842"/>
                </a:lnTo>
                <a:lnTo>
                  <a:pt x="5016092" y="363925"/>
                </a:lnTo>
                <a:lnTo>
                  <a:pt x="5284723" y="178089"/>
                </a:lnTo>
                <a:lnTo>
                  <a:pt x="5626241" y="212706"/>
                </a:lnTo>
                <a:lnTo>
                  <a:pt x="5647214" y="376678"/>
                </a:lnTo>
                <a:lnTo>
                  <a:pt x="5906136" y="363925"/>
                </a:lnTo>
                <a:lnTo>
                  <a:pt x="6433689" y="130720"/>
                </a:lnTo>
                <a:lnTo>
                  <a:pt x="6589042" y="236391"/>
                </a:lnTo>
                <a:lnTo>
                  <a:pt x="6786470" y="189021"/>
                </a:lnTo>
                <a:lnTo>
                  <a:pt x="7200745" y="107035"/>
                </a:lnTo>
                <a:lnTo>
                  <a:pt x="7449957" y="178089"/>
                </a:lnTo>
                <a:lnTo>
                  <a:pt x="7924561" y="0"/>
                </a:lnTo>
              </a:path>
            </a:pathLst>
          </a:custGeom>
          <a:ln w="32769">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7" name="object 57"/>
          <p:cNvSpPr txBox="1"/>
          <p:nvPr/>
        </p:nvSpPr>
        <p:spPr>
          <a:xfrm>
            <a:off x="106401" y="6412696"/>
            <a:ext cx="1416316"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资料来源：匿名客户案例</a:t>
            </a:r>
            <a:endParaRPr sz="1000" spc="-10" dirty="0">
              <a:latin typeface="微软雅黑" panose="020B0503020204020204" charset="-122"/>
              <a:ea typeface="微软雅黑" panose="020B0503020204020204" charset="-122"/>
              <a:cs typeface="微软雅黑" panose="020B0503020204020204" charset="-122"/>
            </a:endParaRPr>
          </a:p>
        </p:txBody>
      </p:sp>
      <p:sp>
        <p:nvSpPr>
          <p:cNvPr id="58" name="object 58"/>
          <p:cNvSpPr txBox="1"/>
          <p:nvPr/>
        </p:nvSpPr>
        <p:spPr>
          <a:xfrm>
            <a:off x="7808395" y="177579"/>
            <a:ext cx="939134" cy="196215"/>
          </a:xfrm>
          <a:prstGeom prst="rect">
            <a:avLst/>
          </a:prstGeom>
        </p:spPr>
        <p:txBody>
          <a:bodyPr vert="horz" wrap="square" lIns="0" tIns="12691" rIns="0" bIns="0" rtlCol="0">
            <a:spAutoFit/>
          </a:bodyPr>
          <a:lstStyle/>
          <a:p>
            <a:pPr marL="12700">
              <a:lnSpc>
                <a:spcPct val="100000"/>
              </a:lnSpc>
              <a:spcBef>
                <a:spcPts val="100"/>
              </a:spcBef>
            </a:pPr>
            <a:r>
              <a:rPr sz="1200" dirty="0">
                <a:solidFill>
                  <a:srgbClr val="808080"/>
                </a:solidFill>
                <a:latin typeface="微软雅黑" panose="020B0503020204020204" charset="-122"/>
                <a:ea typeface="微软雅黑" panose="020B0503020204020204" charset="-122"/>
                <a:cs typeface="微软雅黑" panose="020B0503020204020204" charset="-122"/>
              </a:rPr>
              <a:t>匿名客户案例</a:t>
            </a:r>
            <a:endParaRPr sz="1200" dirty="0">
              <a:solidFill>
                <a:srgbClr val="808080"/>
              </a:solidFill>
              <a:latin typeface="微软雅黑" panose="020B0503020204020204" charset="-122"/>
              <a:ea typeface="微软雅黑" panose="020B0503020204020204" charset="-122"/>
              <a:cs typeface="微软雅黑" panose="020B0503020204020204" charset="-122"/>
            </a:endParaRPr>
          </a:p>
        </p:txBody>
      </p:sp>
      <p:sp>
        <p:nvSpPr>
          <p:cNvPr id="59" name="object 59"/>
          <p:cNvSpPr/>
          <p:nvPr/>
        </p:nvSpPr>
        <p:spPr>
          <a:xfrm>
            <a:off x="7794307" y="200296"/>
            <a:ext cx="0" cy="209402"/>
          </a:xfrm>
          <a:custGeom>
            <a:avLst/>
            <a:gdLst/>
            <a:ahLst/>
            <a:cxnLst/>
            <a:rect l="l" t="t" r="r" b="b"/>
            <a:pathLst>
              <a:path h="209550">
                <a:moveTo>
                  <a:pt x="0" y="0"/>
                </a:moveTo>
                <a:lnTo>
                  <a:pt x="0" y="209550"/>
                </a:lnTo>
              </a:path>
            </a:pathLst>
          </a:custGeom>
          <a:ln w="9525">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0" name="object 60"/>
          <p:cNvSpPr/>
          <p:nvPr/>
        </p:nvSpPr>
        <p:spPr>
          <a:xfrm>
            <a:off x="7795069" y="411221"/>
            <a:ext cx="941038" cy="0"/>
          </a:xfrm>
          <a:custGeom>
            <a:avLst/>
            <a:gdLst/>
            <a:ahLst/>
            <a:cxnLst/>
            <a:rect l="l" t="t" r="r" b="b"/>
            <a:pathLst>
              <a:path w="941704">
                <a:moveTo>
                  <a:pt x="0" y="0"/>
                </a:moveTo>
                <a:lnTo>
                  <a:pt x="941324" y="0"/>
                </a:lnTo>
              </a:path>
            </a:pathLst>
          </a:custGeom>
          <a:ln w="25400">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2576781" y="2361321"/>
            <a:ext cx="5104830" cy="1783340"/>
          </a:xfrm>
          <a:prstGeom prst="rect">
            <a:avLst/>
          </a:prstGeom>
          <a:blipFill>
            <a:blip r:embed="rId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 name="object 4"/>
          <p:cNvSpPr/>
          <p:nvPr/>
        </p:nvSpPr>
        <p:spPr>
          <a:xfrm>
            <a:off x="2570435" y="2354975"/>
            <a:ext cx="5117648" cy="1796412"/>
          </a:xfrm>
          <a:custGeom>
            <a:avLst/>
            <a:gdLst/>
            <a:ahLst/>
            <a:cxnLst/>
            <a:rect l="l" t="t" r="r" b="b"/>
            <a:pathLst>
              <a:path w="5121275" h="1797685">
                <a:moveTo>
                  <a:pt x="0" y="1797304"/>
                </a:moveTo>
                <a:lnTo>
                  <a:pt x="5121148" y="1797304"/>
                </a:lnTo>
                <a:lnTo>
                  <a:pt x="5121148" y="0"/>
                </a:lnTo>
                <a:lnTo>
                  <a:pt x="0" y="0"/>
                </a:lnTo>
                <a:lnTo>
                  <a:pt x="0" y="1797304"/>
                </a:lnTo>
                <a:close/>
              </a:path>
            </a:pathLst>
          </a:custGeom>
          <a:ln w="12700">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txBox="1"/>
          <p:nvPr/>
        </p:nvSpPr>
        <p:spPr>
          <a:xfrm>
            <a:off x="106401" y="6412696"/>
            <a:ext cx="1036855"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endParaRPr sz="1000" spc="-10" dirty="0">
              <a:latin typeface="微软雅黑" panose="020B0503020204020204" charset="-122"/>
              <a:ea typeface="微软雅黑" panose="020B0503020204020204" charset="-122"/>
              <a:cs typeface="微软雅黑" panose="020B0503020204020204" charset="-122"/>
            </a:endParaRPr>
          </a:p>
        </p:txBody>
      </p:sp>
      <p:sp>
        <p:nvSpPr>
          <p:cNvPr id="6" name="object 6"/>
          <p:cNvSpPr/>
          <p:nvPr/>
        </p:nvSpPr>
        <p:spPr>
          <a:xfrm>
            <a:off x="2196051" y="4281724"/>
            <a:ext cx="5485560" cy="1941724"/>
          </a:xfrm>
          <a:prstGeom prst="rect">
            <a:avLst/>
          </a:prstGeom>
          <a:blipFill>
            <a:blip r:embed="rId2"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2189705" y="4275378"/>
            <a:ext cx="5498378" cy="1954415"/>
          </a:xfrm>
          <a:custGeom>
            <a:avLst/>
            <a:gdLst/>
            <a:ahLst/>
            <a:cxnLst/>
            <a:rect l="l" t="t" r="r" b="b"/>
            <a:pathLst>
              <a:path w="5502275" h="1955800">
                <a:moveTo>
                  <a:pt x="0" y="1955800"/>
                </a:moveTo>
                <a:lnTo>
                  <a:pt x="5502148" y="1955800"/>
                </a:lnTo>
                <a:lnTo>
                  <a:pt x="5502148" y="0"/>
                </a:lnTo>
                <a:lnTo>
                  <a:pt x="0" y="0"/>
                </a:lnTo>
                <a:lnTo>
                  <a:pt x="0" y="1955800"/>
                </a:lnTo>
                <a:close/>
              </a:path>
            </a:pathLst>
          </a:custGeom>
          <a:ln w="12700">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2196051" y="1924243"/>
            <a:ext cx="5485560" cy="345703"/>
          </a:xfrm>
          <a:prstGeom prst="rect">
            <a:avLst/>
          </a:prstGeom>
          <a:blipFill>
            <a:blip r:embed="rId3"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2189705" y="1917897"/>
            <a:ext cx="5498378" cy="358521"/>
          </a:xfrm>
          <a:custGeom>
            <a:avLst/>
            <a:gdLst/>
            <a:ahLst/>
            <a:cxnLst/>
            <a:rect l="l" t="t" r="r" b="b"/>
            <a:pathLst>
              <a:path w="5502275" h="358775">
                <a:moveTo>
                  <a:pt x="0" y="358648"/>
                </a:moveTo>
                <a:lnTo>
                  <a:pt x="5502148" y="358648"/>
                </a:lnTo>
                <a:lnTo>
                  <a:pt x="5502148" y="0"/>
                </a:lnTo>
                <a:lnTo>
                  <a:pt x="0" y="0"/>
                </a:lnTo>
                <a:lnTo>
                  <a:pt x="0" y="358648"/>
                </a:lnTo>
                <a:close/>
              </a:path>
            </a:pathLst>
          </a:custGeom>
          <a:ln w="12700">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2576781" y="809465"/>
            <a:ext cx="5104830" cy="1021879"/>
          </a:xfrm>
          <a:prstGeom prst="rect">
            <a:avLst/>
          </a:prstGeom>
          <a:blipFill>
            <a:blip r:embed="rId4"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2570435" y="803119"/>
            <a:ext cx="5117648" cy="1034952"/>
          </a:xfrm>
          <a:custGeom>
            <a:avLst/>
            <a:gdLst/>
            <a:ahLst/>
            <a:cxnLst/>
            <a:rect l="l" t="t" r="r" b="b"/>
            <a:pathLst>
              <a:path w="5121275" h="1035685">
                <a:moveTo>
                  <a:pt x="0" y="1035303"/>
                </a:moveTo>
                <a:lnTo>
                  <a:pt x="5121148" y="1035303"/>
                </a:lnTo>
                <a:lnTo>
                  <a:pt x="5121148" y="0"/>
                </a:lnTo>
                <a:lnTo>
                  <a:pt x="0" y="0"/>
                </a:lnTo>
                <a:lnTo>
                  <a:pt x="0" y="1035303"/>
                </a:lnTo>
                <a:close/>
              </a:path>
            </a:pathLst>
          </a:custGeom>
          <a:ln w="12700">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7561300" y="273397"/>
            <a:ext cx="1186355" cy="226914"/>
          </a:xfrm>
          <a:prstGeom prst="rect">
            <a:avLst/>
          </a:prstGeom>
          <a:blipFill>
            <a:blip r:embed="rId5"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1470380" y="1215069"/>
            <a:ext cx="2073076" cy="85664"/>
          </a:xfrm>
          <a:custGeom>
            <a:avLst/>
            <a:gdLst/>
            <a:ahLst/>
            <a:cxnLst/>
            <a:rect l="l" t="t" r="r" b="b"/>
            <a:pathLst>
              <a:path w="2074545" h="85725">
                <a:moveTo>
                  <a:pt x="2071403" y="28575"/>
                </a:moveTo>
                <a:lnTo>
                  <a:pt x="2031491" y="28575"/>
                </a:lnTo>
                <a:lnTo>
                  <a:pt x="2031491" y="57150"/>
                </a:lnTo>
                <a:lnTo>
                  <a:pt x="1991496" y="57180"/>
                </a:lnTo>
                <a:lnTo>
                  <a:pt x="1992004" y="59650"/>
                </a:lnTo>
                <a:lnTo>
                  <a:pt x="2001218" y="73278"/>
                </a:lnTo>
                <a:lnTo>
                  <a:pt x="2014837" y="82430"/>
                </a:lnTo>
                <a:lnTo>
                  <a:pt x="2031491" y="85725"/>
                </a:lnTo>
                <a:lnTo>
                  <a:pt x="2048216" y="82359"/>
                </a:lnTo>
                <a:lnTo>
                  <a:pt x="2061844" y="73183"/>
                </a:lnTo>
                <a:lnTo>
                  <a:pt x="2070996" y="59578"/>
                </a:lnTo>
                <a:lnTo>
                  <a:pt x="2074290" y="42925"/>
                </a:lnTo>
                <a:lnTo>
                  <a:pt x="2071403" y="28575"/>
                </a:lnTo>
                <a:close/>
              </a:path>
              <a:path w="2074545" h="85725">
                <a:moveTo>
                  <a:pt x="1991461" y="28605"/>
                </a:moveTo>
                <a:lnTo>
                  <a:pt x="0" y="30099"/>
                </a:lnTo>
                <a:lnTo>
                  <a:pt x="0" y="58674"/>
                </a:lnTo>
                <a:lnTo>
                  <a:pt x="1991496" y="57180"/>
                </a:lnTo>
                <a:lnTo>
                  <a:pt x="1988565" y="42925"/>
                </a:lnTo>
                <a:lnTo>
                  <a:pt x="1991461" y="28605"/>
                </a:lnTo>
                <a:close/>
              </a:path>
              <a:path w="2074545" h="85725">
                <a:moveTo>
                  <a:pt x="2031491" y="28575"/>
                </a:moveTo>
                <a:lnTo>
                  <a:pt x="1991461" y="28605"/>
                </a:lnTo>
                <a:lnTo>
                  <a:pt x="1988565" y="42925"/>
                </a:lnTo>
                <a:lnTo>
                  <a:pt x="1991496" y="57180"/>
                </a:lnTo>
                <a:lnTo>
                  <a:pt x="2031491" y="57150"/>
                </a:lnTo>
                <a:lnTo>
                  <a:pt x="2031491" y="28575"/>
                </a:lnTo>
                <a:close/>
              </a:path>
              <a:path w="2074545" h="85725">
                <a:moveTo>
                  <a:pt x="2031491" y="0"/>
                </a:moveTo>
                <a:lnTo>
                  <a:pt x="2014765" y="3438"/>
                </a:lnTo>
                <a:lnTo>
                  <a:pt x="2001123" y="12652"/>
                </a:lnTo>
                <a:lnTo>
                  <a:pt x="1991933" y="26271"/>
                </a:lnTo>
                <a:lnTo>
                  <a:pt x="1991461" y="28605"/>
                </a:lnTo>
                <a:lnTo>
                  <a:pt x="2071403" y="28575"/>
                </a:lnTo>
                <a:lnTo>
                  <a:pt x="2070925" y="26199"/>
                </a:lnTo>
                <a:lnTo>
                  <a:pt x="2061749" y="12557"/>
                </a:lnTo>
                <a:lnTo>
                  <a:pt x="2048144" y="3367"/>
                </a:lnTo>
                <a:lnTo>
                  <a:pt x="2031491"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1118572" y="2113592"/>
            <a:ext cx="2353547" cy="85664"/>
          </a:xfrm>
          <a:custGeom>
            <a:avLst/>
            <a:gdLst/>
            <a:ahLst/>
            <a:cxnLst/>
            <a:rect l="l" t="t" r="r" b="b"/>
            <a:pathLst>
              <a:path w="2355215" h="85725">
                <a:moveTo>
                  <a:pt x="2351896" y="28575"/>
                </a:moveTo>
                <a:lnTo>
                  <a:pt x="2311920" y="28575"/>
                </a:lnTo>
                <a:lnTo>
                  <a:pt x="2311920" y="57150"/>
                </a:lnTo>
                <a:lnTo>
                  <a:pt x="2271989" y="57176"/>
                </a:lnTo>
                <a:lnTo>
                  <a:pt x="2272487" y="59650"/>
                </a:lnTo>
                <a:lnTo>
                  <a:pt x="2281662" y="73279"/>
                </a:lnTo>
                <a:lnTo>
                  <a:pt x="2295267" y="82430"/>
                </a:lnTo>
                <a:lnTo>
                  <a:pt x="2311920" y="85725"/>
                </a:lnTo>
                <a:lnTo>
                  <a:pt x="2328646" y="82359"/>
                </a:lnTo>
                <a:lnTo>
                  <a:pt x="2342289" y="73183"/>
                </a:lnTo>
                <a:lnTo>
                  <a:pt x="2351479" y="59578"/>
                </a:lnTo>
                <a:lnTo>
                  <a:pt x="2354846" y="42926"/>
                </a:lnTo>
                <a:lnTo>
                  <a:pt x="2351896" y="28575"/>
                </a:lnTo>
                <a:close/>
              </a:path>
              <a:path w="2355215" h="85725">
                <a:moveTo>
                  <a:pt x="2271954" y="28601"/>
                </a:moveTo>
                <a:lnTo>
                  <a:pt x="0" y="30099"/>
                </a:lnTo>
                <a:lnTo>
                  <a:pt x="25" y="58674"/>
                </a:lnTo>
                <a:lnTo>
                  <a:pt x="2271989" y="57176"/>
                </a:lnTo>
                <a:lnTo>
                  <a:pt x="2269121" y="42926"/>
                </a:lnTo>
                <a:lnTo>
                  <a:pt x="2271954" y="28601"/>
                </a:lnTo>
                <a:close/>
              </a:path>
              <a:path w="2355215" h="85725">
                <a:moveTo>
                  <a:pt x="2311920" y="28575"/>
                </a:moveTo>
                <a:lnTo>
                  <a:pt x="2271954" y="28601"/>
                </a:lnTo>
                <a:lnTo>
                  <a:pt x="2269121" y="42926"/>
                </a:lnTo>
                <a:lnTo>
                  <a:pt x="2271989" y="57176"/>
                </a:lnTo>
                <a:lnTo>
                  <a:pt x="2311920" y="57150"/>
                </a:lnTo>
                <a:lnTo>
                  <a:pt x="2311920" y="28575"/>
                </a:lnTo>
                <a:close/>
              </a:path>
              <a:path w="2355215" h="85725">
                <a:moveTo>
                  <a:pt x="2311920" y="0"/>
                </a:moveTo>
                <a:lnTo>
                  <a:pt x="2295196" y="3438"/>
                </a:lnTo>
                <a:lnTo>
                  <a:pt x="2281567" y="12652"/>
                </a:lnTo>
                <a:lnTo>
                  <a:pt x="2272415" y="26271"/>
                </a:lnTo>
                <a:lnTo>
                  <a:pt x="2271954" y="28601"/>
                </a:lnTo>
                <a:lnTo>
                  <a:pt x="2351896" y="28575"/>
                </a:lnTo>
                <a:lnTo>
                  <a:pt x="2351407" y="26199"/>
                </a:lnTo>
                <a:lnTo>
                  <a:pt x="2342194" y="12557"/>
                </a:lnTo>
                <a:lnTo>
                  <a:pt x="2328575" y="3367"/>
                </a:lnTo>
                <a:lnTo>
                  <a:pt x="2311920"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612963" y="2922263"/>
            <a:ext cx="1996930" cy="85664"/>
          </a:xfrm>
          <a:custGeom>
            <a:avLst/>
            <a:gdLst/>
            <a:ahLst/>
            <a:cxnLst/>
            <a:rect l="l" t="t" r="r" b="b"/>
            <a:pathLst>
              <a:path w="1998345" h="85725">
                <a:moveTo>
                  <a:pt x="1995280" y="28575"/>
                </a:moveTo>
                <a:lnTo>
                  <a:pt x="1955304" y="28575"/>
                </a:lnTo>
                <a:lnTo>
                  <a:pt x="1955304" y="57150"/>
                </a:lnTo>
                <a:lnTo>
                  <a:pt x="1915374" y="57181"/>
                </a:lnTo>
                <a:lnTo>
                  <a:pt x="1915871" y="59650"/>
                </a:lnTo>
                <a:lnTo>
                  <a:pt x="1925046" y="73278"/>
                </a:lnTo>
                <a:lnTo>
                  <a:pt x="1938651" y="82430"/>
                </a:lnTo>
                <a:lnTo>
                  <a:pt x="1955304" y="85725"/>
                </a:lnTo>
                <a:lnTo>
                  <a:pt x="1972030" y="82359"/>
                </a:lnTo>
                <a:lnTo>
                  <a:pt x="1985673" y="73183"/>
                </a:lnTo>
                <a:lnTo>
                  <a:pt x="1994863" y="59578"/>
                </a:lnTo>
                <a:lnTo>
                  <a:pt x="1998230" y="42925"/>
                </a:lnTo>
                <a:lnTo>
                  <a:pt x="1995280" y="28575"/>
                </a:lnTo>
                <a:close/>
              </a:path>
              <a:path w="1998345" h="85725">
                <a:moveTo>
                  <a:pt x="1915337" y="28606"/>
                </a:moveTo>
                <a:lnTo>
                  <a:pt x="0" y="30099"/>
                </a:lnTo>
                <a:lnTo>
                  <a:pt x="25" y="58674"/>
                </a:lnTo>
                <a:lnTo>
                  <a:pt x="1915374" y="57181"/>
                </a:lnTo>
                <a:lnTo>
                  <a:pt x="1912505" y="42925"/>
                </a:lnTo>
                <a:lnTo>
                  <a:pt x="1915337" y="28606"/>
                </a:lnTo>
                <a:close/>
              </a:path>
              <a:path w="1998345" h="85725">
                <a:moveTo>
                  <a:pt x="1955304" y="28575"/>
                </a:moveTo>
                <a:lnTo>
                  <a:pt x="1915337" y="28606"/>
                </a:lnTo>
                <a:lnTo>
                  <a:pt x="1912505" y="42925"/>
                </a:lnTo>
                <a:lnTo>
                  <a:pt x="1915374" y="57181"/>
                </a:lnTo>
                <a:lnTo>
                  <a:pt x="1955304" y="57150"/>
                </a:lnTo>
                <a:lnTo>
                  <a:pt x="1955304" y="28575"/>
                </a:lnTo>
                <a:close/>
              </a:path>
              <a:path w="1998345" h="85725">
                <a:moveTo>
                  <a:pt x="1955304" y="0"/>
                </a:moveTo>
                <a:lnTo>
                  <a:pt x="1938580" y="3438"/>
                </a:lnTo>
                <a:lnTo>
                  <a:pt x="1924951" y="12652"/>
                </a:lnTo>
                <a:lnTo>
                  <a:pt x="1915799" y="26271"/>
                </a:lnTo>
                <a:lnTo>
                  <a:pt x="1915337" y="28606"/>
                </a:lnTo>
                <a:lnTo>
                  <a:pt x="1995280" y="28575"/>
                </a:lnTo>
                <a:lnTo>
                  <a:pt x="1994791" y="26199"/>
                </a:lnTo>
                <a:lnTo>
                  <a:pt x="1985578" y="12557"/>
                </a:lnTo>
                <a:lnTo>
                  <a:pt x="1971959" y="3367"/>
                </a:lnTo>
                <a:lnTo>
                  <a:pt x="1955304"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p:nvPr/>
        </p:nvSpPr>
        <p:spPr>
          <a:xfrm>
            <a:off x="1333316" y="4777181"/>
            <a:ext cx="2856111" cy="85664"/>
          </a:xfrm>
          <a:custGeom>
            <a:avLst/>
            <a:gdLst/>
            <a:ahLst/>
            <a:cxnLst/>
            <a:rect l="l" t="t" r="r" b="b"/>
            <a:pathLst>
              <a:path w="2858135" h="85725">
                <a:moveTo>
                  <a:pt x="2854739" y="28575"/>
                </a:moveTo>
                <a:lnTo>
                  <a:pt x="2814828" y="28575"/>
                </a:lnTo>
                <a:lnTo>
                  <a:pt x="2814828" y="57150"/>
                </a:lnTo>
                <a:lnTo>
                  <a:pt x="2774831" y="57171"/>
                </a:lnTo>
                <a:lnTo>
                  <a:pt x="2775340" y="59650"/>
                </a:lnTo>
                <a:lnTo>
                  <a:pt x="2784554" y="73279"/>
                </a:lnTo>
                <a:lnTo>
                  <a:pt x="2798173" y="82430"/>
                </a:lnTo>
                <a:lnTo>
                  <a:pt x="2814828" y="85725"/>
                </a:lnTo>
                <a:lnTo>
                  <a:pt x="2831552" y="82359"/>
                </a:lnTo>
                <a:lnTo>
                  <a:pt x="2845180" y="73183"/>
                </a:lnTo>
                <a:lnTo>
                  <a:pt x="2854332" y="59578"/>
                </a:lnTo>
                <a:lnTo>
                  <a:pt x="2857627" y="42926"/>
                </a:lnTo>
                <a:lnTo>
                  <a:pt x="2854739" y="28575"/>
                </a:lnTo>
                <a:close/>
              </a:path>
              <a:path w="2858135" h="85725">
                <a:moveTo>
                  <a:pt x="2774799" y="28596"/>
                </a:moveTo>
                <a:lnTo>
                  <a:pt x="0" y="30099"/>
                </a:lnTo>
                <a:lnTo>
                  <a:pt x="0" y="58674"/>
                </a:lnTo>
                <a:lnTo>
                  <a:pt x="2774831" y="57171"/>
                </a:lnTo>
                <a:lnTo>
                  <a:pt x="2771902" y="42926"/>
                </a:lnTo>
                <a:lnTo>
                  <a:pt x="2774799" y="28596"/>
                </a:lnTo>
                <a:close/>
              </a:path>
              <a:path w="2858135" h="85725">
                <a:moveTo>
                  <a:pt x="2814828" y="28575"/>
                </a:moveTo>
                <a:lnTo>
                  <a:pt x="2774799" y="28596"/>
                </a:lnTo>
                <a:lnTo>
                  <a:pt x="2771902" y="42926"/>
                </a:lnTo>
                <a:lnTo>
                  <a:pt x="2774831" y="57171"/>
                </a:lnTo>
                <a:lnTo>
                  <a:pt x="2814828" y="57150"/>
                </a:lnTo>
                <a:lnTo>
                  <a:pt x="2814828" y="28575"/>
                </a:lnTo>
                <a:close/>
              </a:path>
              <a:path w="2858135" h="85725">
                <a:moveTo>
                  <a:pt x="2814828" y="0"/>
                </a:moveTo>
                <a:lnTo>
                  <a:pt x="2798101" y="3438"/>
                </a:lnTo>
                <a:lnTo>
                  <a:pt x="2784459" y="12652"/>
                </a:lnTo>
                <a:lnTo>
                  <a:pt x="2775269" y="26271"/>
                </a:lnTo>
                <a:lnTo>
                  <a:pt x="2774799" y="28596"/>
                </a:lnTo>
                <a:lnTo>
                  <a:pt x="2854739" y="28575"/>
                </a:lnTo>
                <a:lnTo>
                  <a:pt x="2854261" y="26199"/>
                </a:lnTo>
                <a:lnTo>
                  <a:pt x="2845085" y="12557"/>
                </a:lnTo>
                <a:lnTo>
                  <a:pt x="2831480" y="3367"/>
                </a:lnTo>
                <a:lnTo>
                  <a:pt x="2814828"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p:nvPr/>
        </p:nvSpPr>
        <p:spPr>
          <a:xfrm>
            <a:off x="998275" y="5427468"/>
            <a:ext cx="3804763" cy="86299"/>
          </a:xfrm>
          <a:custGeom>
            <a:avLst/>
            <a:gdLst/>
            <a:ahLst/>
            <a:cxnLst/>
            <a:rect l="l" t="t" r="r" b="b"/>
            <a:pathLst>
              <a:path w="3807460" h="86360">
                <a:moveTo>
                  <a:pt x="3804269" y="28638"/>
                </a:moveTo>
                <a:lnTo>
                  <a:pt x="3764279" y="28638"/>
                </a:lnTo>
                <a:lnTo>
                  <a:pt x="3764279" y="57213"/>
                </a:lnTo>
                <a:lnTo>
                  <a:pt x="3724363" y="57229"/>
                </a:lnTo>
                <a:lnTo>
                  <a:pt x="3724846" y="59622"/>
                </a:lnTo>
                <a:lnTo>
                  <a:pt x="3734022" y="73245"/>
                </a:lnTo>
                <a:lnTo>
                  <a:pt x="3747627" y="82427"/>
                </a:lnTo>
                <a:lnTo>
                  <a:pt x="3764279" y="85788"/>
                </a:lnTo>
                <a:lnTo>
                  <a:pt x="3781006" y="82411"/>
                </a:lnTo>
                <a:lnTo>
                  <a:pt x="3794648" y="73218"/>
                </a:lnTo>
                <a:lnTo>
                  <a:pt x="3803838" y="59592"/>
                </a:lnTo>
                <a:lnTo>
                  <a:pt x="3807205" y="42913"/>
                </a:lnTo>
                <a:lnTo>
                  <a:pt x="3804269" y="28638"/>
                </a:lnTo>
                <a:close/>
              </a:path>
              <a:path w="3807460" h="86360">
                <a:moveTo>
                  <a:pt x="3724304" y="28654"/>
                </a:moveTo>
                <a:lnTo>
                  <a:pt x="0" y="30162"/>
                </a:lnTo>
                <a:lnTo>
                  <a:pt x="0" y="58737"/>
                </a:lnTo>
                <a:lnTo>
                  <a:pt x="3724363" y="57229"/>
                </a:lnTo>
                <a:lnTo>
                  <a:pt x="3721486" y="42913"/>
                </a:lnTo>
                <a:lnTo>
                  <a:pt x="3724304" y="28654"/>
                </a:lnTo>
                <a:close/>
              </a:path>
              <a:path w="3807460" h="86360">
                <a:moveTo>
                  <a:pt x="3764279" y="28638"/>
                </a:moveTo>
                <a:lnTo>
                  <a:pt x="3724304" y="28654"/>
                </a:lnTo>
                <a:lnTo>
                  <a:pt x="3721480" y="42938"/>
                </a:lnTo>
                <a:lnTo>
                  <a:pt x="3724363" y="57229"/>
                </a:lnTo>
                <a:lnTo>
                  <a:pt x="3764279" y="57213"/>
                </a:lnTo>
                <a:lnTo>
                  <a:pt x="3764279" y="28638"/>
                </a:lnTo>
                <a:close/>
              </a:path>
              <a:path w="3807460" h="86360">
                <a:moveTo>
                  <a:pt x="3764279" y="0"/>
                </a:moveTo>
                <a:lnTo>
                  <a:pt x="3747555" y="3439"/>
                </a:lnTo>
                <a:lnTo>
                  <a:pt x="3733927" y="12653"/>
                </a:lnTo>
                <a:lnTo>
                  <a:pt x="3724775" y="26276"/>
                </a:lnTo>
                <a:lnTo>
                  <a:pt x="3724304" y="28654"/>
                </a:lnTo>
                <a:lnTo>
                  <a:pt x="3804269" y="28638"/>
                </a:lnTo>
                <a:lnTo>
                  <a:pt x="3803767" y="26194"/>
                </a:lnTo>
                <a:lnTo>
                  <a:pt x="3794553" y="12555"/>
                </a:lnTo>
                <a:lnTo>
                  <a:pt x="3780934" y="3367"/>
                </a:lnTo>
                <a:lnTo>
                  <a:pt x="3764279"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p:nvPr/>
        </p:nvSpPr>
        <p:spPr>
          <a:xfrm>
            <a:off x="229961" y="882565"/>
            <a:ext cx="1888422" cy="702447"/>
          </a:xfrm>
          <a:custGeom>
            <a:avLst/>
            <a:gdLst/>
            <a:ahLst/>
            <a:cxnLst/>
            <a:rect l="l" t="t" r="r" b="b"/>
            <a:pathLst>
              <a:path w="1889760" h="702944">
                <a:moveTo>
                  <a:pt x="0" y="702563"/>
                </a:moveTo>
                <a:lnTo>
                  <a:pt x="1889760" y="702563"/>
                </a:lnTo>
                <a:lnTo>
                  <a:pt x="1889760" y="0"/>
                </a:lnTo>
                <a:lnTo>
                  <a:pt x="0" y="0"/>
                </a:lnTo>
                <a:lnTo>
                  <a:pt x="0" y="702563"/>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p:nvPr/>
        </p:nvSpPr>
        <p:spPr>
          <a:xfrm>
            <a:off x="114028" y="1116904"/>
            <a:ext cx="230342" cy="228818"/>
          </a:xfrm>
          <a:prstGeom prst="rect">
            <a:avLst/>
          </a:prstGeom>
          <a:blipFill>
            <a:blip r:embed="rId6"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txBox="1"/>
          <p:nvPr/>
        </p:nvSpPr>
        <p:spPr>
          <a:xfrm>
            <a:off x="129854" y="995642"/>
            <a:ext cx="1715823" cy="443230"/>
          </a:xfrm>
          <a:prstGeom prst="rect">
            <a:avLst/>
          </a:prstGeom>
        </p:spPr>
        <p:txBody>
          <a:bodyPr vert="horz" wrap="square" lIns="0" tIns="13325" rIns="0" bIns="0" rtlCol="0">
            <a:spAutoFit/>
          </a:bodyPr>
          <a:lstStyle/>
          <a:p>
            <a:pPr marL="236855" marR="43180" indent="-186690">
              <a:lnSpc>
                <a:spcPct val="100000"/>
              </a:lnSpc>
              <a:spcBef>
                <a:spcPts val="105"/>
              </a:spcBef>
            </a:pPr>
            <a:r>
              <a:rPr sz="2100" b="1" baseline="-36000" dirty="0">
                <a:solidFill>
                  <a:srgbClr val="FFFFFF"/>
                </a:solidFill>
                <a:latin typeface="微软雅黑" panose="020B0503020204020204" charset="-122"/>
                <a:ea typeface="微软雅黑" panose="020B0503020204020204" charset="-122"/>
                <a:cs typeface="微软雅黑" panose="020B0503020204020204" charset="-122"/>
              </a:rPr>
              <a:t>1</a:t>
            </a:r>
            <a:r>
              <a:rPr sz="2100" b="1" spc="352" baseline="-36000" dirty="0">
                <a:solidFill>
                  <a:srgbClr val="FFFFFF"/>
                </a:solidFill>
                <a:latin typeface="微软雅黑" panose="020B0503020204020204" charset="-122"/>
                <a:ea typeface="微软雅黑" panose="020B0503020204020204" charset="-122"/>
                <a:cs typeface="微软雅黑" panose="020B0503020204020204" charset="-122"/>
              </a:rPr>
              <a:t> </a:t>
            </a:r>
            <a:r>
              <a:rPr sz="1400" dirty="0">
                <a:latin typeface="微软雅黑" panose="020B0503020204020204" charset="-122"/>
                <a:ea typeface="微软雅黑" panose="020B0503020204020204" charset="-122"/>
                <a:cs typeface="微软雅黑" panose="020B0503020204020204" charset="-122"/>
              </a:rPr>
              <a:t>大客户潜力和竞争 定位</a:t>
            </a:r>
            <a:endParaRPr sz="1400">
              <a:latin typeface="微软雅黑" panose="020B0503020204020204" charset="-122"/>
              <a:ea typeface="微软雅黑" panose="020B0503020204020204" charset="-122"/>
              <a:cs typeface="微软雅黑" panose="020B0503020204020204" charset="-122"/>
            </a:endParaRPr>
          </a:p>
        </p:txBody>
      </p:sp>
      <p:sp>
        <p:nvSpPr>
          <p:cNvPr id="21" name="object 21"/>
          <p:cNvSpPr/>
          <p:nvPr/>
        </p:nvSpPr>
        <p:spPr>
          <a:xfrm>
            <a:off x="229961" y="1867895"/>
            <a:ext cx="1888422" cy="530484"/>
          </a:xfrm>
          <a:custGeom>
            <a:avLst/>
            <a:gdLst/>
            <a:ahLst/>
            <a:cxnLst/>
            <a:rect l="l" t="t" r="r" b="b"/>
            <a:pathLst>
              <a:path w="1889760" h="530860">
                <a:moveTo>
                  <a:pt x="0" y="530351"/>
                </a:moveTo>
                <a:lnTo>
                  <a:pt x="1889760" y="530351"/>
                </a:lnTo>
                <a:lnTo>
                  <a:pt x="1889760" y="0"/>
                </a:lnTo>
                <a:lnTo>
                  <a:pt x="0" y="0"/>
                </a:lnTo>
                <a:lnTo>
                  <a:pt x="0" y="530351"/>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114028" y="1957556"/>
            <a:ext cx="230342" cy="227295"/>
          </a:xfrm>
          <a:prstGeom prst="rect">
            <a:avLst/>
          </a:prstGeom>
          <a:blipFill>
            <a:blip r:embed="rId7"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txBox="1"/>
          <p:nvPr/>
        </p:nvSpPr>
        <p:spPr>
          <a:xfrm>
            <a:off x="142545" y="2001734"/>
            <a:ext cx="1560359" cy="227965"/>
          </a:xfrm>
          <a:prstGeom prst="rect">
            <a:avLst/>
          </a:prstGeom>
        </p:spPr>
        <p:txBody>
          <a:bodyPr vert="horz" wrap="square" lIns="0" tIns="13325" rIns="0" bIns="0" rtlCol="0">
            <a:spAutoFit/>
          </a:bodyPr>
          <a:lstStyle/>
          <a:p>
            <a:pPr marL="38100">
              <a:lnSpc>
                <a:spcPct val="100000"/>
              </a:lnSpc>
              <a:spcBef>
                <a:spcPts val="105"/>
              </a:spcBef>
            </a:pPr>
            <a:r>
              <a:rPr sz="2100" b="1" baseline="18000" dirty="0">
                <a:solidFill>
                  <a:srgbClr val="FFFFFF"/>
                </a:solidFill>
                <a:latin typeface="微软雅黑" panose="020B0503020204020204" charset="-122"/>
                <a:ea typeface="微软雅黑" panose="020B0503020204020204" charset="-122"/>
                <a:cs typeface="微软雅黑" panose="020B0503020204020204" charset="-122"/>
              </a:rPr>
              <a:t>2</a:t>
            </a:r>
            <a:r>
              <a:rPr sz="2100" b="1" spc="367" baseline="18000" dirty="0">
                <a:solidFill>
                  <a:srgbClr val="FFFFFF"/>
                </a:solidFill>
                <a:latin typeface="微软雅黑" panose="020B0503020204020204" charset="-122"/>
                <a:ea typeface="微软雅黑" panose="020B0503020204020204" charset="-122"/>
                <a:cs typeface="微软雅黑" panose="020B0503020204020204" charset="-122"/>
              </a:rPr>
              <a:t> </a:t>
            </a:r>
            <a:r>
              <a:rPr sz="1400" dirty="0">
                <a:latin typeface="微软雅黑" panose="020B0503020204020204" charset="-122"/>
                <a:ea typeface="微软雅黑" panose="020B0503020204020204" charset="-122"/>
                <a:cs typeface="微软雅黑" panose="020B0503020204020204" charset="-122"/>
              </a:rPr>
              <a:t>关键联络</a:t>
            </a:r>
            <a:r>
              <a:rPr sz="1400" spc="-10" dirty="0">
                <a:latin typeface="微软雅黑" panose="020B0503020204020204" charset="-122"/>
                <a:ea typeface="微软雅黑" panose="020B0503020204020204" charset="-122"/>
                <a:cs typeface="微软雅黑" panose="020B0503020204020204" charset="-122"/>
              </a:rPr>
              <a:t>人</a:t>
            </a:r>
            <a:r>
              <a:rPr sz="1400" spc="5" dirty="0">
                <a:latin typeface="微软雅黑" panose="020B0503020204020204" charset="-122"/>
                <a:ea typeface="微软雅黑" panose="020B0503020204020204" charset="-122"/>
                <a:cs typeface="微软雅黑" panose="020B0503020204020204" charset="-122"/>
              </a:rPr>
              <a:t>/</a:t>
            </a:r>
            <a:r>
              <a:rPr sz="1400" dirty="0">
                <a:latin typeface="微软雅黑" panose="020B0503020204020204" charset="-122"/>
                <a:ea typeface="微软雅黑" panose="020B0503020204020204" charset="-122"/>
                <a:cs typeface="微软雅黑" panose="020B0503020204020204" charset="-122"/>
              </a:rPr>
              <a:t>角色</a:t>
            </a:r>
            <a:endParaRPr sz="1400">
              <a:latin typeface="微软雅黑" panose="020B0503020204020204" charset="-122"/>
              <a:ea typeface="微软雅黑" panose="020B0503020204020204" charset="-122"/>
              <a:cs typeface="微软雅黑" panose="020B0503020204020204" charset="-122"/>
            </a:endParaRPr>
          </a:p>
        </p:txBody>
      </p:sp>
      <p:sp>
        <p:nvSpPr>
          <p:cNvPr id="24" name="object 24"/>
          <p:cNvSpPr/>
          <p:nvPr/>
        </p:nvSpPr>
        <p:spPr>
          <a:xfrm>
            <a:off x="229961" y="2647630"/>
            <a:ext cx="1888422" cy="626301"/>
          </a:xfrm>
          <a:custGeom>
            <a:avLst/>
            <a:gdLst/>
            <a:ahLst/>
            <a:cxnLst/>
            <a:rect l="l" t="t" r="r" b="b"/>
            <a:pathLst>
              <a:path w="1889760" h="626745">
                <a:moveTo>
                  <a:pt x="0" y="626363"/>
                </a:moveTo>
                <a:lnTo>
                  <a:pt x="1889760" y="626363"/>
                </a:lnTo>
                <a:lnTo>
                  <a:pt x="1889760" y="0"/>
                </a:lnTo>
                <a:lnTo>
                  <a:pt x="0" y="0"/>
                </a:lnTo>
                <a:lnTo>
                  <a:pt x="0" y="626363"/>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5" name="object 25"/>
          <p:cNvSpPr/>
          <p:nvPr/>
        </p:nvSpPr>
        <p:spPr>
          <a:xfrm>
            <a:off x="114028" y="2845419"/>
            <a:ext cx="230342" cy="228819"/>
          </a:xfrm>
          <a:prstGeom prst="rect">
            <a:avLst/>
          </a:prstGeom>
          <a:blipFill>
            <a:blip r:embed="rId6"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26" name="object 26"/>
          <p:cNvSpPr txBox="1"/>
          <p:nvPr/>
        </p:nvSpPr>
        <p:spPr>
          <a:xfrm>
            <a:off x="167927" y="2834391"/>
            <a:ext cx="1639677" cy="227965"/>
          </a:xfrm>
          <a:prstGeom prst="rect">
            <a:avLst/>
          </a:prstGeom>
        </p:spPr>
        <p:txBody>
          <a:bodyPr vert="horz" wrap="square" lIns="0" tIns="13325" rIns="0" bIns="0" rtlCol="0">
            <a:spAutoFit/>
          </a:bodyPr>
          <a:lstStyle/>
          <a:p>
            <a:pPr marL="12700">
              <a:lnSpc>
                <a:spcPct val="100000"/>
              </a:lnSpc>
              <a:spcBef>
                <a:spcPts val="105"/>
              </a:spcBef>
            </a:pPr>
            <a:r>
              <a:rPr sz="1400" b="1" dirty="0">
                <a:solidFill>
                  <a:srgbClr val="FFFFFF"/>
                </a:solidFill>
                <a:latin typeface="微软雅黑" panose="020B0503020204020204" charset="-122"/>
                <a:ea typeface="微软雅黑" panose="020B0503020204020204" charset="-122"/>
                <a:cs typeface="微软雅黑" panose="020B0503020204020204" charset="-122"/>
              </a:rPr>
              <a:t>3</a:t>
            </a:r>
            <a:r>
              <a:rPr sz="1400" b="1" spc="220" dirty="0">
                <a:solidFill>
                  <a:srgbClr val="FFFFFF"/>
                </a:solidFill>
                <a:latin typeface="微软雅黑" panose="020B0503020204020204" charset="-122"/>
                <a:ea typeface="微软雅黑" panose="020B0503020204020204" charset="-122"/>
                <a:cs typeface="微软雅黑" panose="020B0503020204020204" charset="-122"/>
              </a:rPr>
              <a:t> </a:t>
            </a:r>
            <a:r>
              <a:rPr sz="2100" spc="7" baseline="2000" dirty="0">
                <a:latin typeface="微软雅黑" panose="020B0503020204020204" charset="-122"/>
                <a:ea typeface="微软雅黑" panose="020B0503020204020204" charset="-122"/>
                <a:cs typeface="微软雅黑" panose="020B0503020204020204" charset="-122"/>
              </a:rPr>
              <a:t>各产品线潜在机会</a:t>
            </a:r>
            <a:endParaRPr sz="2100" baseline="2000">
              <a:latin typeface="微软雅黑" panose="020B0503020204020204" charset="-122"/>
              <a:ea typeface="微软雅黑" panose="020B0503020204020204" charset="-122"/>
              <a:cs typeface="微软雅黑" panose="020B0503020204020204" charset="-122"/>
            </a:endParaRPr>
          </a:p>
        </p:txBody>
      </p:sp>
      <p:sp>
        <p:nvSpPr>
          <p:cNvPr id="27" name="object 27"/>
          <p:cNvSpPr/>
          <p:nvPr/>
        </p:nvSpPr>
        <p:spPr>
          <a:xfrm>
            <a:off x="229961" y="3689308"/>
            <a:ext cx="1888422" cy="761460"/>
          </a:xfrm>
          <a:custGeom>
            <a:avLst/>
            <a:gdLst/>
            <a:ahLst/>
            <a:cxnLst/>
            <a:rect l="l" t="t" r="r" b="b"/>
            <a:pathLst>
              <a:path w="1889760" h="762000">
                <a:moveTo>
                  <a:pt x="0" y="762000"/>
                </a:moveTo>
                <a:lnTo>
                  <a:pt x="1889760" y="762000"/>
                </a:lnTo>
                <a:lnTo>
                  <a:pt x="1889760" y="0"/>
                </a:lnTo>
                <a:lnTo>
                  <a:pt x="0" y="0"/>
                </a:lnTo>
                <a:lnTo>
                  <a:pt x="0" y="76200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p:nvPr/>
        </p:nvSpPr>
        <p:spPr>
          <a:xfrm>
            <a:off x="114028" y="3955628"/>
            <a:ext cx="230342" cy="228819"/>
          </a:xfrm>
          <a:prstGeom prst="rect">
            <a:avLst/>
          </a:prstGeom>
          <a:blipFill>
            <a:blip r:embed="rId6"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29" name="object 29"/>
          <p:cNvSpPr txBox="1"/>
          <p:nvPr/>
        </p:nvSpPr>
        <p:spPr>
          <a:xfrm>
            <a:off x="129854" y="3830761"/>
            <a:ext cx="1894767" cy="445135"/>
          </a:xfrm>
          <a:prstGeom prst="rect">
            <a:avLst/>
          </a:prstGeom>
        </p:spPr>
        <p:txBody>
          <a:bodyPr vert="horz" wrap="square" lIns="0" tIns="13325" rIns="0" bIns="0" rtlCol="0">
            <a:spAutoFit/>
          </a:bodyPr>
          <a:lstStyle/>
          <a:p>
            <a:pPr marL="50800">
              <a:lnSpc>
                <a:spcPct val="100000"/>
              </a:lnSpc>
              <a:spcBef>
                <a:spcPts val="105"/>
              </a:spcBef>
            </a:pPr>
            <a:r>
              <a:rPr sz="2100" b="1" baseline="-36000" dirty="0">
                <a:solidFill>
                  <a:srgbClr val="FFFFFF"/>
                </a:solidFill>
                <a:latin typeface="微软雅黑" panose="020B0503020204020204" charset="-122"/>
                <a:ea typeface="微软雅黑" panose="020B0503020204020204" charset="-122"/>
                <a:cs typeface="微软雅黑" panose="020B0503020204020204" charset="-122"/>
              </a:rPr>
              <a:t>4</a:t>
            </a:r>
            <a:r>
              <a:rPr sz="2100" b="1" spc="359" baseline="-36000" dirty="0">
                <a:solidFill>
                  <a:srgbClr val="FFFFFF"/>
                </a:solidFill>
                <a:latin typeface="微软雅黑" panose="020B0503020204020204" charset="-122"/>
                <a:ea typeface="微软雅黑" panose="020B0503020204020204" charset="-122"/>
                <a:cs typeface="微软雅黑" panose="020B0503020204020204" charset="-122"/>
              </a:rPr>
              <a:t> </a:t>
            </a:r>
            <a:r>
              <a:rPr sz="1400" spc="5" dirty="0">
                <a:latin typeface="微软雅黑" panose="020B0503020204020204" charset="-122"/>
                <a:ea typeface="微软雅黑" panose="020B0503020204020204" charset="-122"/>
                <a:cs typeface="微软雅黑" panose="020B0503020204020204" charset="-122"/>
              </a:rPr>
              <a:t>各类别内的客户基本</a:t>
            </a:r>
            <a:endParaRPr sz="1400">
              <a:latin typeface="微软雅黑" panose="020B0503020204020204" charset="-122"/>
              <a:ea typeface="微软雅黑" panose="020B0503020204020204" charset="-122"/>
              <a:cs typeface="微软雅黑" panose="020B0503020204020204" charset="-122"/>
            </a:endParaRPr>
          </a:p>
          <a:p>
            <a:pPr marL="236855">
              <a:lnSpc>
                <a:spcPct val="100000"/>
              </a:lnSpc>
              <a:spcBef>
                <a:spcPts val="15"/>
              </a:spcBef>
            </a:pPr>
            <a:r>
              <a:rPr sz="1400" dirty="0">
                <a:latin typeface="微软雅黑" panose="020B0503020204020204" charset="-122"/>
                <a:ea typeface="微软雅黑" panose="020B0503020204020204" charset="-122"/>
                <a:cs typeface="微软雅黑" panose="020B0503020204020204" charset="-122"/>
              </a:rPr>
              <a:t>需要</a:t>
            </a:r>
            <a:endParaRPr sz="1400">
              <a:latin typeface="微软雅黑" panose="020B0503020204020204" charset="-122"/>
              <a:ea typeface="微软雅黑" panose="020B0503020204020204" charset="-122"/>
              <a:cs typeface="微软雅黑" panose="020B0503020204020204" charset="-122"/>
            </a:endParaRPr>
          </a:p>
        </p:txBody>
      </p:sp>
      <p:sp>
        <p:nvSpPr>
          <p:cNvPr id="30" name="object 30"/>
          <p:cNvSpPr/>
          <p:nvPr/>
        </p:nvSpPr>
        <p:spPr>
          <a:xfrm>
            <a:off x="229961" y="4545189"/>
            <a:ext cx="1888422" cy="761460"/>
          </a:xfrm>
          <a:custGeom>
            <a:avLst/>
            <a:gdLst/>
            <a:ahLst/>
            <a:cxnLst/>
            <a:rect l="l" t="t" r="r" b="b"/>
            <a:pathLst>
              <a:path w="1889760" h="762000">
                <a:moveTo>
                  <a:pt x="0" y="762000"/>
                </a:moveTo>
                <a:lnTo>
                  <a:pt x="1889760" y="762000"/>
                </a:lnTo>
                <a:lnTo>
                  <a:pt x="1889760" y="0"/>
                </a:lnTo>
                <a:lnTo>
                  <a:pt x="0" y="0"/>
                </a:lnTo>
                <a:lnTo>
                  <a:pt x="0" y="76200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1" name="object 31"/>
          <p:cNvSpPr/>
          <p:nvPr/>
        </p:nvSpPr>
        <p:spPr>
          <a:xfrm>
            <a:off x="114028" y="4809986"/>
            <a:ext cx="230342" cy="228819"/>
          </a:xfrm>
          <a:prstGeom prst="rect">
            <a:avLst/>
          </a:prstGeom>
          <a:blipFill>
            <a:blip r:embed="rId6"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2" name="object 32"/>
          <p:cNvSpPr txBox="1"/>
          <p:nvPr/>
        </p:nvSpPr>
        <p:spPr>
          <a:xfrm>
            <a:off x="167927" y="4800227"/>
            <a:ext cx="1835754" cy="227965"/>
          </a:xfrm>
          <a:prstGeom prst="rect">
            <a:avLst/>
          </a:prstGeom>
        </p:spPr>
        <p:txBody>
          <a:bodyPr vert="horz" wrap="square" lIns="0" tIns="13325" rIns="0" bIns="0" rtlCol="0">
            <a:spAutoFit/>
          </a:bodyPr>
          <a:lstStyle/>
          <a:p>
            <a:pPr marL="12700">
              <a:lnSpc>
                <a:spcPct val="100000"/>
              </a:lnSpc>
              <a:spcBef>
                <a:spcPts val="105"/>
              </a:spcBef>
            </a:pPr>
            <a:r>
              <a:rPr sz="1400" b="1" dirty="0">
                <a:solidFill>
                  <a:srgbClr val="FFFFFF"/>
                </a:solidFill>
                <a:latin typeface="微软雅黑" panose="020B0503020204020204" charset="-122"/>
                <a:ea typeface="微软雅黑" panose="020B0503020204020204" charset="-122"/>
                <a:cs typeface="微软雅黑" panose="020B0503020204020204" charset="-122"/>
              </a:rPr>
              <a:t>5</a:t>
            </a:r>
            <a:r>
              <a:rPr sz="1400" b="1" spc="240" dirty="0">
                <a:solidFill>
                  <a:srgbClr val="FFFFFF"/>
                </a:solidFill>
                <a:latin typeface="微软雅黑" panose="020B0503020204020204" charset="-122"/>
                <a:ea typeface="微软雅黑" panose="020B0503020204020204" charset="-122"/>
                <a:cs typeface="微软雅黑" panose="020B0503020204020204" charset="-122"/>
              </a:rPr>
              <a:t> </a:t>
            </a:r>
            <a:r>
              <a:rPr sz="2100" baseline="2000" dirty="0">
                <a:latin typeface="微软雅黑" panose="020B0503020204020204" charset="-122"/>
                <a:ea typeface="微软雅黑" panose="020B0503020204020204" charset="-122"/>
                <a:cs typeface="微软雅黑" panose="020B0503020204020204" charset="-122"/>
              </a:rPr>
              <a:t>各类别</a:t>
            </a:r>
            <a:r>
              <a:rPr sz="2100" spc="-7" baseline="2000" dirty="0">
                <a:latin typeface="微软雅黑" panose="020B0503020204020204" charset="-122"/>
                <a:ea typeface="微软雅黑" panose="020B0503020204020204" charset="-122"/>
                <a:cs typeface="微软雅黑" panose="020B0503020204020204" charset="-122"/>
              </a:rPr>
              <a:t>的12</a:t>
            </a:r>
            <a:r>
              <a:rPr sz="2100" baseline="2000" dirty="0">
                <a:latin typeface="微软雅黑" panose="020B0503020204020204" charset="-122"/>
                <a:ea typeface="微软雅黑" panose="020B0503020204020204" charset="-122"/>
                <a:cs typeface="微软雅黑" panose="020B0503020204020204" charset="-122"/>
              </a:rPr>
              <a:t>个月目标</a:t>
            </a:r>
            <a:endParaRPr sz="2100" baseline="2000">
              <a:latin typeface="微软雅黑" panose="020B0503020204020204" charset="-122"/>
              <a:ea typeface="微软雅黑" panose="020B0503020204020204" charset="-122"/>
              <a:cs typeface="微软雅黑" panose="020B0503020204020204" charset="-122"/>
            </a:endParaRPr>
          </a:p>
        </p:txBody>
      </p:sp>
      <p:sp>
        <p:nvSpPr>
          <p:cNvPr id="33" name="object 33"/>
          <p:cNvSpPr/>
          <p:nvPr/>
        </p:nvSpPr>
        <p:spPr>
          <a:xfrm>
            <a:off x="229961" y="5404116"/>
            <a:ext cx="1888422" cy="761460"/>
          </a:xfrm>
          <a:custGeom>
            <a:avLst/>
            <a:gdLst/>
            <a:ahLst/>
            <a:cxnLst/>
            <a:rect l="l" t="t" r="r" b="b"/>
            <a:pathLst>
              <a:path w="1889760" h="762000">
                <a:moveTo>
                  <a:pt x="0" y="762000"/>
                </a:moveTo>
                <a:lnTo>
                  <a:pt x="1889760" y="762000"/>
                </a:lnTo>
                <a:lnTo>
                  <a:pt x="1889760" y="0"/>
                </a:lnTo>
                <a:lnTo>
                  <a:pt x="0" y="0"/>
                </a:lnTo>
                <a:lnTo>
                  <a:pt x="0" y="76200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4" name="object 34"/>
          <p:cNvSpPr/>
          <p:nvPr/>
        </p:nvSpPr>
        <p:spPr>
          <a:xfrm>
            <a:off x="114028" y="5670437"/>
            <a:ext cx="230342" cy="228819"/>
          </a:xfrm>
          <a:prstGeom prst="rect">
            <a:avLst/>
          </a:prstGeom>
          <a:blipFill>
            <a:blip r:embed="rId8"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5" name="object 35"/>
          <p:cNvSpPr txBox="1"/>
          <p:nvPr/>
        </p:nvSpPr>
        <p:spPr>
          <a:xfrm>
            <a:off x="167927" y="5660677"/>
            <a:ext cx="1301463" cy="227330"/>
          </a:xfrm>
          <a:prstGeom prst="rect">
            <a:avLst/>
          </a:prstGeom>
        </p:spPr>
        <p:txBody>
          <a:bodyPr vert="horz" wrap="square" lIns="0" tIns="12691" rIns="0" bIns="0" rtlCol="0">
            <a:spAutoFit/>
          </a:bodyPr>
          <a:lstStyle/>
          <a:p>
            <a:pPr marL="12700">
              <a:lnSpc>
                <a:spcPct val="100000"/>
              </a:lnSpc>
              <a:spcBef>
                <a:spcPts val="100"/>
              </a:spcBef>
            </a:pPr>
            <a:r>
              <a:rPr sz="1400" b="1" dirty="0">
                <a:solidFill>
                  <a:srgbClr val="FFFFFF"/>
                </a:solidFill>
                <a:latin typeface="微软雅黑" panose="020B0503020204020204" charset="-122"/>
                <a:ea typeface="微软雅黑" panose="020B0503020204020204" charset="-122"/>
                <a:cs typeface="微软雅黑" panose="020B0503020204020204" charset="-122"/>
              </a:rPr>
              <a:t>6</a:t>
            </a:r>
            <a:r>
              <a:rPr sz="1400" b="1" spc="235" dirty="0">
                <a:solidFill>
                  <a:srgbClr val="FFFFFF"/>
                </a:solidFill>
                <a:latin typeface="微软雅黑" panose="020B0503020204020204" charset="-122"/>
                <a:ea typeface="微软雅黑" panose="020B0503020204020204" charset="-122"/>
                <a:cs typeface="微软雅黑" panose="020B0503020204020204" charset="-122"/>
              </a:rPr>
              <a:t> </a:t>
            </a:r>
            <a:r>
              <a:rPr sz="2100" spc="-7" baseline="2000" dirty="0">
                <a:latin typeface="微软雅黑" panose="020B0503020204020204" charset="-122"/>
                <a:ea typeface="微软雅黑" panose="020B0503020204020204" charset="-122"/>
                <a:cs typeface="微软雅黑" panose="020B0503020204020204" charset="-122"/>
              </a:rPr>
              <a:t>90</a:t>
            </a:r>
            <a:r>
              <a:rPr sz="2100" baseline="2000" dirty="0">
                <a:latin typeface="微软雅黑" panose="020B0503020204020204" charset="-122"/>
                <a:ea typeface="微软雅黑" panose="020B0503020204020204" charset="-122"/>
                <a:cs typeface="微软雅黑" panose="020B0503020204020204" charset="-122"/>
              </a:rPr>
              <a:t>天行动计划</a:t>
            </a:r>
            <a:endParaRPr sz="2100" baseline="2000">
              <a:latin typeface="微软雅黑" panose="020B0503020204020204" charset="-122"/>
              <a:ea typeface="微软雅黑" panose="020B0503020204020204" charset="-122"/>
              <a:cs typeface="微软雅黑" panose="020B0503020204020204" charset="-122"/>
            </a:endParaRPr>
          </a:p>
        </p:txBody>
      </p:sp>
      <p:sp>
        <p:nvSpPr>
          <p:cNvPr id="36" name="object 36"/>
          <p:cNvSpPr/>
          <p:nvPr/>
        </p:nvSpPr>
        <p:spPr>
          <a:xfrm>
            <a:off x="7344030" y="4996481"/>
            <a:ext cx="805879" cy="85664"/>
          </a:xfrm>
          <a:custGeom>
            <a:avLst/>
            <a:gdLst/>
            <a:ahLst/>
            <a:cxnLst/>
            <a:rect l="l" t="t" r="r" b="b"/>
            <a:pathLst>
              <a:path w="806450" h="85725">
                <a:moveTo>
                  <a:pt x="43053" y="0"/>
                </a:moveTo>
                <a:lnTo>
                  <a:pt x="26324" y="3365"/>
                </a:lnTo>
                <a:lnTo>
                  <a:pt x="12668" y="12541"/>
                </a:lnTo>
                <a:lnTo>
                  <a:pt x="3440" y="26146"/>
                </a:lnTo>
                <a:lnTo>
                  <a:pt x="0" y="42799"/>
                </a:lnTo>
                <a:lnTo>
                  <a:pt x="3365" y="59525"/>
                </a:lnTo>
                <a:lnTo>
                  <a:pt x="12541" y="73167"/>
                </a:lnTo>
                <a:lnTo>
                  <a:pt x="26146" y="82357"/>
                </a:lnTo>
                <a:lnTo>
                  <a:pt x="42799" y="85725"/>
                </a:lnTo>
                <a:lnTo>
                  <a:pt x="59525" y="82432"/>
                </a:lnTo>
                <a:lnTo>
                  <a:pt x="73167" y="73294"/>
                </a:lnTo>
                <a:lnTo>
                  <a:pt x="82357" y="59703"/>
                </a:lnTo>
                <a:lnTo>
                  <a:pt x="82857" y="57229"/>
                </a:lnTo>
                <a:lnTo>
                  <a:pt x="42925" y="57150"/>
                </a:lnTo>
                <a:lnTo>
                  <a:pt x="42925" y="28575"/>
                </a:lnTo>
                <a:lnTo>
                  <a:pt x="82875" y="28575"/>
                </a:lnTo>
                <a:lnTo>
                  <a:pt x="82432" y="26324"/>
                </a:lnTo>
                <a:lnTo>
                  <a:pt x="73294" y="12668"/>
                </a:lnTo>
                <a:lnTo>
                  <a:pt x="59703" y="3440"/>
                </a:lnTo>
                <a:lnTo>
                  <a:pt x="43053" y="0"/>
                </a:lnTo>
                <a:close/>
              </a:path>
              <a:path w="806450" h="85725">
                <a:moveTo>
                  <a:pt x="82891" y="28654"/>
                </a:moveTo>
                <a:lnTo>
                  <a:pt x="85725" y="43053"/>
                </a:lnTo>
                <a:lnTo>
                  <a:pt x="82857" y="57229"/>
                </a:lnTo>
                <a:lnTo>
                  <a:pt x="806450" y="58674"/>
                </a:lnTo>
                <a:lnTo>
                  <a:pt x="806450" y="30099"/>
                </a:lnTo>
                <a:lnTo>
                  <a:pt x="82891" y="28654"/>
                </a:lnTo>
                <a:close/>
              </a:path>
              <a:path w="806450" h="85725">
                <a:moveTo>
                  <a:pt x="42925" y="28575"/>
                </a:moveTo>
                <a:lnTo>
                  <a:pt x="42925" y="57150"/>
                </a:lnTo>
                <a:lnTo>
                  <a:pt x="82857" y="57229"/>
                </a:lnTo>
                <a:lnTo>
                  <a:pt x="85725" y="43053"/>
                </a:lnTo>
                <a:lnTo>
                  <a:pt x="82891" y="28654"/>
                </a:lnTo>
                <a:lnTo>
                  <a:pt x="42925" y="28575"/>
                </a:lnTo>
                <a:close/>
              </a:path>
              <a:path w="806450" h="85725">
                <a:moveTo>
                  <a:pt x="82875" y="28575"/>
                </a:moveTo>
                <a:lnTo>
                  <a:pt x="42925" y="28575"/>
                </a:lnTo>
                <a:lnTo>
                  <a:pt x="82891" y="28654"/>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7" name="object 37"/>
          <p:cNvSpPr/>
          <p:nvPr/>
        </p:nvSpPr>
        <p:spPr>
          <a:xfrm>
            <a:off x="7792784" y="4802563"/>
            <a:ext cx="1031144" cy="486065"/>
          </a:xfrm>
          <a:custGeom>
            <a:avLst/>
            <a:gdLst/>
            <a:ahLst/>
            <a:cxnLst/>
            <a:rect l="l" t="t" r="r" b="b"/>
            <a:pathLst>
              <a:path w="1031875" h="486410">
                <a:moveTo>
                  <a:pt x="0" y="486156"/>
                </a:moveTo>
                <a:lnTo>
                  <a:pt x="1031748" y="486156"/>
                </a:lnTo>
                <a:lnTo>
                  <a:pt x="1031748" y="0"/>
                </a:lnTo>
                <a:lnTo>
                  <a:pt x="0" y="0"/>
                </a:lnTo>
                <a:lnTo>
                  <a:pt x="0" y="48615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8" name="object 38"/>
          <p:cNvSpPr txBox="1"/>
          <p:nvPr/>
        </p:nvSpPr>
        <p:spPr>
          <a:xfrm>
            <a:off x="7808395" y="4915005"/>
            <a:ext cx="916291" cy="227330"/>
          </a:xfrm>
          <a:prstGeom prst="rect">
            <a:avLst/>
          </a:prstGeom>
        </p:spPr>
        <p:txBody>
          <a:bodyPr vert="horz" wrap="square" lIns="0" tIns="12691" rIns="0" bIns="0" rtlCol="0">
            <a:spAutoFit/>
          </a:bodyPr>
          <a:lstStyle/>
          <a:p>
            <a:pPr marL="12700">
              <a:lnSpc>
                <a:spcPct val="100000"/>
              </a:lnSpc>
              <a:spcBef>
                <a:spcPts val="100"/>
              </a:spcBef>
            </a:pPr>
            <a:r>
              <a:rPr sz="1400" dirty="0">
                <a:latin typeface="微软雅黑" panose="020B0503020204020204" charset="-122"/>
                <a:ea typeface="微软雅黑" panose="020B0503020204020204" charset="-122"/>
                <a:cs typeface="微软雅黑" panose="020B0503020204020204" charset="-122"/>
              </a:rPr>
              <a:t>增长的障碍</a:t>
            </a:r>
            <a:endParaRPr sz="1400" dirty="0">
              <a:latin typeface="微软雅黑" panose="020B0503020204020204" charset="-122"/>
              <a:ea typeface="微软雅黑" panose="020B0503020204020204" charset="-122"/>
              <a:cs typeface="微软雅黑" panose="020B0503020204020204" charset="-122"/>
            </a:endParaRPr>
          </a:p>
        </p:txBody>
      </p:sp>
      <p:sp>
        <p:nvSpPr>
          <p:cNvPr id="39" name="object 39"/>
          <p:cNvSpPr/>
          <p:nvPr/>
        </p:nvSpPr>
        <p:spPr>
          <a:xfrm>
            <a:off x="8110885" y="4640942"/>
            <a:ext cx="230341" cy="230341"/>
          </a:xfrm>
          <a:prstGeom prst="rect">
            <a:avLst/>
          </a:prstGeom>
          <a:blipFill>
            <a:blip r:embed="rId9"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0" name="object 40"/>
          <p:cNvSpPr txBox="1"/>
          <p:nvPr/>
        </p:nvSpPr>
        <p:spPr>
          <a:xfrm>
            <a:off x="8166028" y="4631742"/>
            <a:ext cx="125006" cy="227330"/>
          </a:xfrm>
          <a:prstGeom prst="rect">
            <a:avLst/>
          </a:prstGeom>
        </p:spPr>
        <p:txBody>
          <a:bodyPr vert="horz" wrap="square" lIns="0" tIns="12691" rIns="0" bIns="0" rtlCol="0">
            <a:spAutoFit/>
          </a:bodyPr>
          <a:lstStyle/>
          <a:p>
            <a:pPr marL="12700">
              <a:lnSpc>
                <a:spcPct val="100000"/>
              </a:lnSpc>
              <a:spcBef>
                <a:spcPts val="100"/>
              </a:spcBef>
            </a:pPr>
            <a:r>
              <a:rPr sz="1400" b="1" dirty="0">
                <a:solidFill>
                  <a:srgbClr val="FFFFFF"/>
                </a:solidFill>
                <a:latin typeface="微软雅黑" panose="020B0503020204020204" charset="-122"/>
                <a:ea typeface="微软雅黑" panose="020B0503020204020204" charset="-122"/>
                <a:cs typeface="Arial" panose="020B0604020202020204"/>
              </a:rPr>
              <a:t>7</a:t>
            </a:r>
            <a:endParaRPr sz="1400" b="1" dirty="0">
              <a:solidFill>
                <a:srgbClr val="FFFFFF"/>
              </a:solidFill>
              <a:latin typeface="微软雅黑" panose="020B0503020204020204" charset="-122"/>
              <a:ea typeface="微软雅黑" panose="020B0503020204020204" charset="-122"/>
              <a:cs typeface="Arial" panose="020B0604020202020204"/>
            </a:endParaRPr>
          </a:p>
        </p:txBody>
      </p:sp>
      <p:sp>
        <p:nvSpPr>
          <p:cNvPr id="41" name="object 41"/>
          <p:cNvSpPr/>
          <p:nvPr/>
        </p:nvSpPr>
        <p:spPr>
          <a:xfrm>
            <a:off x="2122316" y="4075114"/>
            <a:ext cx="840779" cy="640261"/>
          </a:xfrm>
          <a:custGeom>
            <a:avLst/>
            <a:gdLst/>
            <a:ahLst/>
            <a:cxnLst/>
            <a:rect l="l" t="t" r="r" b="b"/>
            <a:pathLst>
              <a:path w="841375" h="640714">
                <a:moveTo>
                  <a:pt x="784098" y="557649"/>
                </a:moveTo>
                <a:lnTo>
                  <a:pt x="781776" y="558121"/>
                </a:lnTo>
                <a:lnTo>
                  <a:pt x="768127" y="567340"/>
                </a:lnTo>
                <a:lnTo>
                  <a:pt x="758908" y="580989"/>
                </a:lnTo>
                <a:lnTo>
                  <a:pt x="755523" y="597661"/>
                </a:lnTo>
                <a:lnTo>
                  <a:pt x="758908" y="614314"/>
                </a:lnTo>
                <a:lnTo>
                  <a:pt x="768127" y="627919"/>
                </a:lnTo>
                <a:lnTo>
                  <a:pt x="781776" y="637095"/>
                </a:lnTo>
                <a:lnTo>
                  <a:pt x="798449" y="640460"/>
                </a:lnTo>
                <a:lnTo>
                  <a:pt x="815101" y="637095"/>
                </a:lnTo>
                <a:lnTo>
                  <a:pt x="828706" y="627919"/>
                </a:lnTo>
                <a:lnTo>
                  <a:pt x="837882" y="614314"/>
                </a:lnTo>
                <a:lnTo>
                  <a:pt x="841248" y="597661"/>
                </a:lnTo>
                <a:lnTo>
                  <a:pt x="784098" y="597661"/>
                </a:lnTo>
                <a:lnTo>
                  <a:pt x="784098" y="557649"/>
                </a:lnTo>
                <a:close/>
              </a:path>
              <a:path w="841375" h="640714">
                <a:moveTo>
                  <a:pt x="798449" y="554735"/>
                </a:moveTo>
                <a:lnTo>
                  <a:pt x="784208" y="557627"/>
                </a:lnTo>
                <a:lnTo>
                  <a:pt x="784098" y="597661"/>
                </a:lnTo>
                <a:lnTo>
                  <a:pt x="812673" y="597661"/>
                </a:lnTo>
                <a:lnTo>
                  <a:pt x="812673" y="557627"/>
                </a:lnTo>
                <a:lnTo>
                  <a:pt x="798449" y="554735"/>
                </a:lnTo>
                <a:close/>
              </a:path>
              <a:path w="841375" h="640714">
                <a:moveTo>
                  <a:pt x="812673" y="557627"/>
                </a:moveTo>
                <a:lnTo>
                  <a:pt x="812673" y="597661"/>
                </a:lnTo>
                <a:lnTo>
                  <a:pt x="841248" y="597661"/>
                </a:lnTo>
                <a:lnTo>
                  <a:pt x="837882" y="580989"/>
                </a:lnTo>
                <a:lnTo>
                  <a:pt x="828706" y="567340"/>
                </a:lnTo>
                <a:lnTo>
                  <a:pt x="815101" y="558121"/>
                </a:lnTo>
                <a:lnTo>
                  <a:pt x="812673" y="557627"/>
                </a:lnTo>
                <a:close/>
              </a:path>
              <a:path w="841375" h="640714">
                <a:moveTo>
                  <a:pt x="784098" y="193546"/>
                </a:moveTo>
                <a:lnTo>
                  <a:pt x="784098" y="557649"/>
                </a:lnTo>
                <a:lnTo>
                  <a:pt x="798449" y="554735"/>
                </a:lnTo>
                <a:lnTo>
                  <a:pt x="812673" y="554735"/>
                </a:lnTo>
                <a:lnTo>
                  <a:pt x="812673" y="195960"/>
                </a:lnTo>
                <a:lnTo>
                  <a:pt x="795528" y="195960"/>
                </a:lnTo>
                <a:lnTo>
                  <a:pt x="784098" y="193546"/>
                </a:lnTo>
                <a:close/>
              </a:path>
              <a:path w="841375" h="640714">
                <a:moveTo>
                  <a:pt x="812673" y="554735"/>
                </a:moveTo>
                <a:lnTo>
                  <a:pt x="798449" y="554735"/>
                </a:lnTo>
                <a:lnTo>
                  <a:pt x="812673" y="557627"/>
                </a:lnTo>
                <a:lnTo>
                  <a:pt x="812673" y="554735"/>
                </a:lnTo>
                <a:close/>
              </a:path>
              <a:path w="841375" h="640714">
                <a:moveTo>
                  <a:pt x="784098" y="181990"/>
                </a:moveTo>
                <a:lnTo>
                  <a:pt x="784098" y="193546"/>
                </a:lnTo>
                <a:lnTo>
                  <a:pt x="795528" y="195960"/>
                </a:lnTo>
                <a:lnTo>
                  <a:pt x="784098" y="181990"/>
                </a:lnTo>
                <a:close/>
              </a:path>
              <a:path w="841375" h="640714">
                <a:moveTo>
                  <a:pt x="812673" y="181990"/>
                </a:moveTo>
                <a:lnTo>
                  <a:pt x="784098" y="181990"/>
                </a:lnTo>
                <a:lnTo>
                  <a:pt x="795528" y="195960"/>
                </a:lnTo>
                <a:lnTo>
                  <a:pt x="812673" y="195960"/>
                </a:lnTo>
                <a:lnTo>
                  <a:pt x="812673" y="181990"/>
                </a:lnTo>
                <a:close/>
              </a:path>
              <a:path w="841375" h="640714">
                <a:moveTo>
                  <a:pt x="5842" y="0"/>
                </a:moveTo>
                <a:lnTo>
                  <a:pt x="0" y="27939"/>
                </a:lnTo>
                <a:lnTo>
                  <a:pt x="784098" y="193546"/>
                </a:lnTo>
                <a:lnTo>
                  <a:pt x="784098" y="181990"/>
                </a:lnTo>
                <a:lnTo>
                  <a:pt x="812673" y="181990"/>
                </a:lnTo>
                <a:lnTo>
                  <a:pt x="812673" y="175259"/>
                </a:lnTo>
                <a:lnTo>
                  <a:pt x="807974" y="169417"/>
                </a:lnTo>
                <a:lnTo>
                  <a:pt x="5842"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2" name="object 42"/>
          <p:cNvSpPr txBox="1">
            <a:spLocks noGrp="1"/>
          </p:cNvSpPr>
          <p:nvPr>
            <p:ph type="title"/>
          </p:nvPr>
        </p:nvSpPr>
        <p:spPr>
          <a:xfrm>
            <a:off x="109446" y="203088"/>
            <a:ext cx="4367610"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创造直接销</a:t>
            </a:r>
            <a:r>
              <a:rPr spc="-10" dirty="0">
                <a:ea typeface="微软雅黑" panose="020B0503020204020204" charset="-122"/>
              </a:rPr>
              <a:t>售：</a:t>
            </a:r>
            <a:r>
              <a:rPr spc="-5" dirty="0">
                <a:ea typeface="微软雅黑" panose="020B0503020204020204" charset="-122"/>
              </a:rPr>
              <a:t>大</a:t>
            </a:r>
            <a:r>
              <a:rPr spc="-10" dirty="0">
                <a:ea typeface="微软雅黑" panose="020B0503020204020204" charset="-122"/>
              </a:rPr>
              <a:t>客户</a:t>
            </a:r>
            <a:r>
              <a:rPr spc="-5" dirty="0">
                <a:ea typeface="微软雅黑" panose="020B0503020204020204" charset="-122"/>
              </a:rPr>
              <a:t>规</a:t>
            </a:r>
            <a:r>
              <a:rPr spc="-10" dirty="0">
                <a:ea typeface="微软雅黑" panose="020B0503020204020204" charset="-122"/>
              </a:rPr>
              <a:t>划最</a:t>
            </a:r>
            <a:r>
              <a:rPr spc="-5" dirty="0">
                <a:ea typeface="微软雅黑" panose="020B0503020204020204" charset="-122"/>
              </a:rPr>
              <a:t>佳</a:t>
            </a:r>
            <a:r>
              <a:rPr spc="-10" dirty="0">
                <a:ea typeface="微软雅黑" panose="020B0503020204020204" charset="-122"/>
              </a:rPr>
              <a:t>做法</a:t>
            </a:r>
            <a:r>
              <a:rPr spc="-5" dirty="0">
                <a:ea typeface="微软雅黑" panose="020B0503020204020204" charset="-122"/>
              </a:rPr>
              <a:t>示</a:t>
            </a:r>
            <a:r>
              <a:rPr spc="-10" dirty="0">
                <a:ea typeface="微软雅黑" panose="020B0503020204020204" charset="-122"/>
              </a:rPr>
              <a:t>例</a:t>
            </a:r>
            <a:endParaRPr spc="-10" dirty="0">
              <a:ea typeface="微软雅黑" panose="020B0503020204020204" charset="-122"/>
            </a:endParaRPr>
          </a:p>
        </p:txBody>
      </p:sp>
      <p:sp>
        <p:nvSpPr>
          <p:cNvPr id="43" name="object 43"/>
          <p:cNvSpPr/>
          <p:nvPr/>
        </p:nvSpPr>
        <p:spPr>
          <a:xfrm>
            <a:off x="7702551" y="2452696"/>
            <a:ext cx="1089523" cy="1423931"/>
          </a:xfrm>
          <a:custGeom>
            <a:avLst/>
            <a:gdLst/>
            <a:ahLst/>
            <a:cxnLst/>
            <a:rect l="l" t="t" r="r" b="b"/>
            <a:pathLst>
              <a:path w="1090295" h="1424939">
                <a:moveTo>
                  <a:pt x="163449" y="0"/>
                </a:moveTo>
                <a:lnTo>
                  <a:pt x="317881" y="0"/>
                </a:lnTo>
                <a:lnTo>
                  <a:pt x="549529" y="0"/>
                </a:lnTo>
                <a:lnTo>
                  <a:pt x="1090041" y="0"/>
                </a:lnTo>
                <a:lnTo>
                  <a:pt x="1090041" y="237489"/>
                </a:lnTo>
                <a:lnTo>
                  <a:pt x="1090041" y="593725"/>
                </a:lnTo>
                <a:lnTo>
                  <a:pt x="1090041" y="1424939"/>
                </a:lnTo>
                <a:lnTo>
                  <a:pt x="549529" y="1424939"/>
                </a:lnTo>
                <a:lnTo>
                  <a:pt x="317881" y="1424939"/>
                </a:lnTo>
                <a:lnTo>
                  <a:pt x="163449" y="1424939"/>
                </a:lnTo>
                <a:lnTo>
                  <a:pt x="163449" y="593725"/>
                </a:lnTo>
                <a:lnTo>
                  <a:pt x="0" y="314578"/>
                </a:lnTo>
                <a:lnTo>
                  <a:pt x="163449" y="237489"/>
                </a:lnTo>
                <a:lnTo>
                  <a:pt x="163449" y="0"/>
                </a:lnTo>
                <a:close/>
              </a:path>
            </a:pathLst>
          </a:custGeom>
          <a:ln w="9525">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4" name="object 44"/>
          <p:cNvSpPr txBox="1"/>
          <p:nvPr/>
        </p:nvSpPr>
        <p:spPr>
          <a:xfrm>
            <a:off x="7926040" y="2819212"/>
            <a:ext cx="738617" cy="657225"/>
          </a:xfrm>
          <a:prstGeom prst="rect">
            <a:avLst/>
          </a:prstGeom>
        </p:spPr>
        <p:txBody>
          <a:bodyPr vert="horz" wrap="square" lIns="0" tIns="12056" rIns="0" bIns="0" rtlCol="0">
            <a:spAutoFit/>
          </a:bodyPr>
          <a:lstStyle/>
          <a:p>
            <a:pPr marL="12700" marR="5080" algn="just">
              <a:lnSpc>
                <a:spcPct val="100000"/>
              </a:lnSpc>
              <a:spcBef>
                <a:spcPts val="95"/>
              </a:spcBef>
            </a:pPr>
            <a:r>
              <a:rPr sz="1400" dirty="0">
                <a:latin typeface="微软雅黑" panose="020B0503020204020204" charset="-122"/>
                <a:ea typeface="微软雅黑" panose="020B0503020204020204" charset="-122"/>
                <a:cs typeface="微软雅黑" panose="020B0503020204020204" charset="-122"/>
              </a:rPr>
              <a:t>与相应的 销售指导 关联</a:t>
            </a:r>
            <a:endParaRPr sz="14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401" y="203088"/>
            <a:ext cx="2679706"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大客户管理</a:t>
            </a:r>
            <a:r>
              <a:rPr spc="-10" dirty="0">
                <a:ea typeface="微软雅黑" panose="020B0503020204020204" charset="-122"/>
              </a:rPr>
              <a:t>包括</a:t>
            </a:r>
            <a:r>
              <a:rPr spc="-5" dirty="0">
                <a:ea typeface="微软雅黑" panose="020B0503020204020204" charset="-122"/>
              </a:rPr>
              <a:t>五</a:t>
            </a:r>
            <a:r>
              <a:rPr spc="-10" dirty="0">
                <a:ea typeface="微软雅黑" panose="020B0503020204020204" charset="-122"/>
              </a:rPr>
              <a:t>大要素</a:t>
            </a:r>
            <a:endParaRPr spc="-10" dirty="0">
              <a:ea typeface="微软雅黑" panose="020B0503020204020204" charset="-122"/>
            </a:endParaRPr>
          </a:p>
        </p:txBody>
      </p:sp>
      <p:sp>
        <p:nvSpPr>
          <p:cNvPr id="4" name="object 4"/>
          <p:cNvSpPr/>
          <p:nvPr/>
        </p:nvSpPr>
        <p:spPr>
          <a:xfrm>
            <a:off x="2096299" y="1323450"/>
            <a:ext cx="2679071" cy="3900581"/>
          </a:xfrm>
          <a:custGeom>
            <a:avLst/>
            <a:gdLst/>
            <a:ahLst/>
            <a:cxnLst/>
            <a:rect l="l" t="t" r="r" b="b"/>
            <a:pathLst>
              <a:path w="2680970" h="3903345">
                <a:moveTo>
                  <a:pt x="1977643" y="0"/>
                </a:moveTo>
                <a:lnTo>
                  <a:pt x="0" y="0"/>
                </a:lnTo>
                <a:lnTo>
                  <a:pt x="703071" y="1952244"/>
                </a:lnTo>
                <a:lnTo>
                  <a:pt x="0" y="3902964"/>
                </a:lnTo>
                <a:lnTo>
                  <a:pt x="1977643" y="3902964"/>
                </a:lnTo>
                <a:lnTo>
                  <a:pt x="2680716" y="1952244"/>
                </a:lnTo>
                <a:lnTo>
                  <a:pt x="197764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p:nvPr/>
        </p:nvSpPr>
        <p:spPr>
          <a:xfrm>
            <a:off x="2096299" y="1323450"/>
            <a:ext cx="2679071" cy="3900581"/>
          </a:xfrm>
          <a:custGeom>
            <a:avLst/>
            <a:gdLst/>
            <a:ahLst/>
            <a:cxnLst/>
            <a:rect l="l" t="t" r="r" b="b"/>
            <a:pathLst>
              <a:path w="2680970" h="3903345">
                <a:moveTo>
                  <a:pt x="0" y="0"/>
                </a:moveTo>
                <a:lnTo>
                  <a:pt x="1977643" y="0"/>
                </a:lnTo>
                <a:lnTo>
                  <a:pt x="2680716" y="1952244"/>
                </a:lnTo>
                <a:lnTo>
                  <a:pt x="1977643" y="3902964"/>
                </a:lnTo>
                <a:lnTo>
                  <a:pt x="0" y="3902964"/>
                </a:lnTo>
                <a:lnTo>
                  <a:pt x="703071"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4074573" y="1323450"/>
            <a:ext cx="2679071" cy="1951242"/>
          </a:xfrm>
          <a:custGeom>
            <a:avLst/>
            <a:gdLst/>
            <a:ahLst/>
            <a:cxnLst/>
            <a:rect l="l" t="t" r="r" b="b"/>
            <a:pathLst>
              <a:path w="2680970" h="1952625">
                <a:moveTo>
                  <a:pt x="1977643" y="0"/>
                </a:moveTo>
                <a:lnTo>
                  <a:pt x="0" y="0"/>
                </a:lnTo>
                <a:lnTo>
                  <a:pt x="703072" y="1952244"/>
                </a:lnTo>
                <a:lnTo>
                  <a:pt x="2680716" y="1952244"/>
                </a:lnTo>
                <a:lnTo>
                  <a:pt x="197764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4074573" y="1323450"/>
            <a:ext cx="2679071" cy="1951242"/>
          </a:xfrm>
          <a:custGeom>
            <a:avLst/>
            <a:gdLst/>
            <a:ahLst/>
            <a:cxnLst/>
            <a:rect l="l" t="t" r="r" b="b"/>
            <a:pathLst>
              <a:path w="2680970" h="1952625">
                <a:moveTo>
                  <a:pt x="0" y="0"/>
                </a:moveTo>
                <a:lnTo>
                  <a:pt x="1977643" y="0"/>
                </a:lnTo>
                <a:lnTo>
                  <a:pt x="2680716" y="1952244"/>
                </a:lnTo>
                <a:lnTo>
                  <a:pt x="703072"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4074573" y="3274312"/>
            <a:ext cx="4655695" cy="1949338"/>
          </a:xfrm>
          <a:custGeom>
            <a:avLst/>
            <a:gdLst/>
            <a:ahLst/>
            <a:cxnLst/>
            <a:rect l="l" t="t" r="r" b="b"/>
            <a:pathLst>
              <a:path w="4658995" h="1950720">
                <a:moveTo>
                  <a:pt x="4658868" y="0"/>
                </a:moveTo>
                <a:lnTo>
                  <a:pt x="703199" y="0"/>
                </a:lnTo>
                <a:lnTo>
                  <a:pt x="0" y="1950720"/>
                </a:lnTo>
                <a:lnTo>
                  <a:pt x="3955668" y="1950720"/>
                </a:lnTo>
                <a:lnTo>
                  <a:pt x="4658868"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4074573" y="3274312"/>
            <a:ext cx="4655695" cy="1949338"/>
          </a:xfrm>
          <a:custGeom>
            <a:avLst/>
            <a:gdLst/>
            <a:ahLst/>
            <a:cxnLst/>
            <a:rect l="l" t="t" r="r" b="b"/>
            <a:pathLst>
              <a:path w="4658995" h="1950720">
                <a:moveTo>
                  <a:pt x="4658868" y="0"/>
                </a:moveTo>
                <a:lnTo>
                  <a:pt x="3955668" y="1950720"/>
                </a:lnTo>
                <a:lnTo>
                  <a:pt x="0" y="1950720"/>
                </a:lnTo>
                <a:lnTo>
                  <a:pt x="703199" y="0"/>
                </a:lnTo>
                <a:lnTo>
                  <a:pt x="4658868"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6051325" y="1323450"/>
            <a:ext cx="2679071" cy="1951242"/>
          </a:xfrm>
          <a:custGeom>
            <a:avLst/>
            <a:gdLst/>
            <a:ahLst/>
            <a:cxnLst/>
            <a:rect l="l" t="t" r="r" b="b"/>
            <a:pathLst>
              <a:path w="2680970" h="1952625">
                <a:moveTo>
                  <a:pt x="1977643" y="0"/>
                </a:moveTo>
                <a:lnTo>
                  <a:pt x="0" y="0"/>
                </a:lnTo>
                <a:lnTo>
                  <a:pt x="703071" y="1952244"/>
                </a:lnTo>
                <a:lnTo>
                  <a:pt x="2680716" y="1952244"/>
                </a:lnTo>
                <a:lnTo>
                  <a:pt x="1977643"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6051325" y="1323450"/>
            <a:ext cx="2679071" cy="1951242"/>
          </a:xfrm>
          <a:custGeom>
            <a:avLst/>
            <a:gdLst/>
            <a:ahLst/>
            <a:cxnLst/>
            <a:rect l="l" t="t" r="r" b="b"/>
            <a:pathLst>
              <a:path w="2680970" h="1952625">
                <a:moveTo>
                  <a:pt x="0" y="0"/>
                </a:moveTo>
                <a:lnTo>
                  <a:pt x="1977643" y="0"/>
                </a:lnTo>
                <a:lnTo>
                  <a:pt x="2680716" y="1952244"/>
                </a:lnTo>
                <a:lnTo>
                  <a:pt x="703071"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119549" y="1323450"/>
            <a:ext cx="2680340" cy="3900581"/>
          </a:xfrm>
          <a:custGeom>
            <a:avLst/>
            <a:gdLst/>
            <a:ahLst/>
            <a:cxnLst/>
            <a:rect l="l" t="t" r="r" b="b"/>
            <a:pathLst>
              <a:path w="2682240" h="3903345">
                <a:moveTo>
                  <a:pt x="1978787" y="0"/>
                </a:moveTo>
                <a:lnTo>
                  <a:pt x="0" y="0"/>
                </a:lnTo>
                <a:lnTo>
                  <a:pt x="0" y="3902964"/>
                </a:lnTo>
                <a:lnTo>
                  <a:pt x="1978787" y="3902964"/>
                </a:lnTo>
                <a:lnTo>
                  <a:pt x="2682240" y="1952244"/>
                </a:lnTo>
                <a:lnTo>
                  <a:pt x="1978787"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119549" y="1323450"/>
            <a:ext cx="2680340" cy="3900581"/>
          </a:xfrm>
          <a:custGeom>
            <a:avLst/>
            <a:gdLst/>
            <a:ahLst/>
            <a:cxnLst/>
            <a:rect l="l" t="t" r="r" b="b"/>
            <a:pathLst>
              <a:path w="2682240" h="3903345">
                <a:moveTo>
                  <a:pt x="0" y="0"/>
                </a:moveTo>
                <a:lnTo>
                  <a:pt x="1978787" y="0"/>
                </a:lnTo>
                <a:lnTo>
                  <a:pt x="2682240" y="1952244"/>
                </a:lnTo>
                <a:lnTo>
                  <a:pt x="1978787" y="3902964"/>
                </a:lnTo>
                <a:lnTo>
                  <a:pt x="0" y="3902964"/>
                </a:lnTo>
                <a:lnTo>
                  <a:pt x="0"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169043" y="1538944"/>
            <a:ext cx="1926495" cy="3359944"/>
          </a:xfrm>
          <a:custGeom>
            <a:avLst/>
            <a:gdLst/>
            <a:ahLst/>
            <a:cxnLst/>
            <a:rect l="l" t="t" r="r" b="b"/>
            <a:pathLst>
              <a:path w="1927860" h="3362325">
                <a:moveTo>
                  <a:pt x="0" y="3361944"/>
                </a:moveTo>
                <a:lnTo>
                  <a:pt x="1927860" y="3361944"/>
                </a:lnTo>
                <a:lnTo>
                  <a:pt x="1927860" y="0"/>
                </a:lnTo>
                <a:lnTo>
                  <a:pt x="0" y="0"/>
                </a:lnTo>
                <a:lnTo>
                  <a:pt x="0" y="336194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txBox="1"/>
          <p:nvPr/>
        </p:nvSpPr>
        <p:spPr>
          <a:xfrm>
            <a:off x="4964467" y="1535644"/>
            <a:ext cx="104129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大客</a:t>
            </a:r>
            <a:r>
              <a:rPr sz="1600" b="1" spc="-10" dirty="0">
                <a:solidFill>
                  <a:srgbClr val="0066CC"/>
                </a:solidFill>
                <a:latin typeface="微软雅黑" panose="020B0503020204020204" charset="-122"/>
                <a:ea typeface="微软雅黑" panose="020B0503020204020204" charset="-122"/>
                <a:cs typeface="微软雅黑" panose="020B0503020204020204" charset="-122"/>
              </a:rPr>
              <a:t>户规划</a:t>
            </a:r>
            <a:endParaRPr sz="1600">
              <a:latin typeface="微软雅黑" panose="020B0503020204020204" charset="-122"/>
              <a:ea typeface="微软雅黑" panose="020B0503020204020204" charset="-122"/>
              <a:cs typeface="微软雅黑" panose="020B0503020204020204" charset="-122"/>
            </a:endParaRPr>
          </a:p>
        </p:txBody>
      </p:sp>
      <p:sp>
        <p:nvSpPr>
          <p:cNvPr id="16" name="object 16"/>
          <p:cNvSpPr txBox="1"/>
          <p:nvPr/>
        </p:nvSpPr>
        <p:spPr>
          <a:xfrm>
            <a:off x="6933604" y="1535644"/>
            <a:ext cx="1045739"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实施和跟踪</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17" name="object 17"/>
          <p:cNvSpPr txBox="1"/>
          <p:nvPr/>
        </p:nvSpPr>
        <p:spPr>
          <a:xfrm>
            <a:off x="5439110" y="3524071"/>
            <a:ext cx="434032"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组织</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18" name="object 18"/>
          <p:cNvSpPr/>
          <p:nvPr/>
        </p:nvSpPr>
        <p:spPr>
          <a:xfrm>
            <a:off x="4876519" y="3421020"/>
            <a:ext cx="385807" cy="501295"/>
          </a:xfrm>
          <a:custGeom>
            <a:avLst/>
            <a:gdLst/>
            <a:ahLst/>
            <a:cxnLst/>
            <a:rect l="l" t="t" r="r" b="b"/>
            <a:pathLst>
              <a:path w="386079" h="501650">
                <a:moveTo>
                  <a:pt x="188213" y="0"/>
                </a:moveTo>
                <a:lnTo>
                  <a:pt x="146496" y="4355"/>
                </a:lnTo>
                <a:lnTo>
                  <a:pt x="109553" y="17414"/>
                </a:lnTo>
                <a:lnTo>
                  <a:pt x="77396" y="39165"/>
                </a:lnTo>
                <a:lnTo>
                  <a:pt x="50037" y="69595"/>
                </a:lnTo>
                <a:lnTo>
                  <a:pt x="28128" y="107053"/>
                </a:lnTo>
                <a:lnTo>
                  <a:pt x="12493" y="149891"/>
                </a:lnTo>
                <a:lnTo>
                  <a:pt x="3121" y="198112"/>
                </a:lnTo>
                <a:lnTo>
                  <a:pt x="0" y="251713"/>
                </a:lnTo>
                <a:lnTo>
                  <a:pt x="1549" y="289958"/>
                </a:lnTo>
                <a:lnTo>
                  <a:pt x="13983" y="358780"/>
                </a:lnTo>
                <a:lnTo>
                  <a:pt x="38179" y="416647"/>
                </a:lnTo>
                <a:lnTo>
                  <a:pt x="69611" y="459319"/>
                </a:lnTo>
                <a:lnTo>
                  <a:pt x="108547" y="486487"/>
                </a:lnTo>
                <a:lnTo>
                  <a:pt x="160605" y="499961"/>
                </a:lnTo>
                <a:lnTo>
                  <a:pt x="191897" y="501650"/>
                </a:lnTo>
                <a:lnTo>
                  <a:pt x="227782" y="499695"/>
                </a:lnTo>
                <a:lnTo>
                  <a:pt x="286265" y="484022"/>
                </a:lnTo>
                <a:lnTo>
                  <a:pt x="328509" y="452014"/>
                </a:lnTo>
                <a:lnTo>
                  <a:pt x="363370" y="400147"/>
                </a:lnTo>
                <a:lnTo>
                  <a:pt x="366288" y="393700"/>
                </a:lnTo>
                <a:lnTo>
                  <a:pt x="194817" y="393700"/>
                </a:lnTo>
                <a:lnTo>
                  <a:pt x="180578" y="391747"/>
                </a:lnTo>
                <a:lnTo>
                  <a:pt x="146430" y="362457"/>
                </a:lnTo>
                <a:lnTo>
                  <a:pt x="132125" y="317184"/>
                </a:lnTo>
                <a:lnTo>
                  <a:pt x="129794" y="296417"/>
                </a:lnTo>
                <a:lnTo>
                  <a:pt x="385825" y="296417"/>
                </a:lnTo>
                <a:lnTo>
                  <a:pt x="385825" y="275716"/>
                </a:lnTo>
                <a:lnTo>
                  <a:pt x="384468" y="230499"/>
                </a:lnTo>
                <a:lnTo>
                  <a:pt x="382249" y="208279"/>
                </a:lnTo>
                <a:lnTo>
                  <a:pt x="130175" y="208279"/>
                </a:lnTo>
                <a:lnTo>
                  <a:pt x="132244" y="188162"/>
                </a:lnTo>
                <a:lnTo>
                  <a:pt x="144907" y="143763"/>
                </a:lnTo>
                <a:lnTo>
                  <a:pt x="179071" y="111134"/>
                </a:lnTo>
                <a:lnTo>
                  <a:pt x="193548" y="108965"/>
                </a:lnTo>
                <a:lnTo>
                  <a:pt x="358683" y="108965"/>
                </a:lnTo>
                <a:lnTo>
                  <a:pt x="352087" y="93678"/>
                </a:lnTo>
                <a:lnTo>
                  <a:pt x="320567" y="48529"/>
                </a:lnTo>
                <a:lnTo>
                  <a:pt x="278493" y="17573"/>
                </a:lnTo>
                <a:lnTo>
                  <a:pt x="222053" y="1952"/>
                </a:lnTo>
                <a:lnTo>
                  <a:pt x="188213" y="0"/>
                </a:lnTo>
                <a:close/>
              </a:path>
              <a:path w="386079" h="501650">
                <a:moveTo>
                  <a:pt x="252729" y="349757"/>
                </a:moveTo>
                <a:lnTo>
                  <a:pt x="221910" y="386038"/>
                </a:lnTo>
                <a:lnTo>
                  <a:pt x="194817" y="393700"/>
                </a:lnTo>
                <a:lnTo>
                  <a:pt x="366288" y="393700"/>
                </a:lnTo>
                <a:lnTo>
                  <a:pt x="378587" y="366521"/>
                </a:lnTo>
                <a:lnTo>
                  <a:pt x="252729" y="349757"/>
                </a:lnTo>
                <a:close/>
              </a:path>
              <a:path w="386079" h="501650">
                <a:moveTo>
                  <a:pt x="358683" y="108965"/>
                </a:moveTo>
                <a:lnTo>
                  <a:pt x="193548" y="108965"/>
                </a:lnTo>
                <a:lnTo>
                  <a:pt x="206069" y="110396"/>
                </a:lnTo>
                <a:lnTo>
                  <a:pt x="217328" y="114696"/>
                </a:lnTo>
                <a:lnTo>
                  <a:pt x="243278" y="145379"/>
                </a:lnTo>
                <a:lnTo>
                  <a:pt x="253236" y="183566"/>
                </a:lnTo>
                <a:lnTo>
                  <a:pt x="255904" y="208279"/>
                </a:lnTo>
                <a:lnTo>
                  <a:pt x="382249" y="208279"/>
                </a:lnTo>
                <a:lnTo>
                  <a:pt x="380396" y="189722"/>
                </a:lnTo>
                <a:lnTo>
                  <a:pt x="373610" y="153398"/>
                </a:lnTo>
                <a:lnTo>
                  <a:pt x="364109" y="121538"/>
                </a:lnTo>
                <a:lnTo>
                  <a:pt x="358683" y="108965"/>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p:nvPr/>
        </p:nvSpPr>
        <p:spPr>
          <a:xfrm>
            <a:off x="4402256" y="1433354"/>
            <a:ext cx="385807" cy="501295"/>
          </a:xfrm>
          <a:custGeom>
            <a:avLst/>
            <a:gdLst/>
            <a:ahLst/>
            <a:cxnLst/>
            <a:rect l="l" t="t" r="r" b="b"/>
            <a:pathLst>
              <a:path w="386079" h="501650">
                <a:moveTo>
                  <a:pt x="194437" y="0"/>
                </a:moveTo>
                <a:lnTo>
                  <a:pt x="141208" y="5524"/>
                </a:lnTo>
                <a:lnTo>
                  <a:pt x="98551" y="22098"/>
                </a:lnTo>
                <a:lnTo>
                  <a:pt x="63940" y="51315"/>
                </a:lnTo>
                <a:lnTo>
                  <a:pt x="32781" y="95250"/>
                </a:lnTo>
                <a:lnTo>
                  <a:pt x="9858" y="155684"/>
                </a:lnTo>
                <a:lnTo>
                  <a:pt x="1095" y="217354"/>
                </a:lnTo>
                <a:lnTo>
                  <a:pt x="0" y="252856"/>
                </a:lnTo>
                <a:lnTo>
                  <a:pt x="885" y="286529"/>
                </a:lnTo>
                <a:lnTo>
                  <a:pt x="8036" y="343350"/>
                </a:lnTo>
                <a:lnTo>
                  <a:pt x="22278" y="387336"/>
                </a:lnTo>
                <a:lnTo>
                  <a:pt x="42229" y="424725"/>
                </a:lnTo>
                <a:lnTo>
                  <a:pt x="67609" y="456136"/>
                </a:lnTo>
                <a:lnTo>
                  <a:pt x="98038" y="479186"/>
                </a:lnTo>
                <a:lnTo>
                  <a:pt x="133873" y="493613"/>
                </a:lnTo>
                <a:lnTo>
                  <a:pt x="178069" y="500749"/>
                </a:lnTo>
                <a:lnTo>
                  <a:pt x="203453" y="501650"/>
                </a:lnTo>
                <a:lnTo>
                  <a:pt x="229766" y="500249"/>
                </a:lnTo>
                <a:lnTo>
                  <a:pt x="275105" y="489112"/>
                </a:lnTo>
                <a:lnTo>
                  <a:pt x="311155" y="467256"/>
                </a:lnTo>
                <a:lnTo>
                  <a:pt x="340441" y="436205"/>
                </a:lnTo>
                <a:lnTo>
                  <a:pt x="363374" y="396392"/>
                </a:lnTo>
                <a:lnTo>
                  <a:pt x="370603" y="378205"/>
                </a:lnTo>
                <a:lnTo>
                  <a:pt x="196214" y="378205"/>
                </a:lnTo>
                <a:lnTo>
                  <a:pt x="181832" y="376297"/>
                </a:lnTo>
                <a:lnTo>
                  <a:pt x="146685" y="347472"/>
                </a:lnTo>
                <a:lnTo>
                  <a:pt x="132000" y="309737"/>
                </a:lnTo>
                <a:lnTo>
                  <a:pt x="127126" y="257810"/>
                </a:lnTo>
                <a:lnTo>
                  <a:pt x="128363" y="226704"/>
                </a:lnTo>
                <a:lnTo>
                  <a:pt x="138217" y="177210"/>
                </a:lnTo>
                <a:lnTo>
                  <a:pt x="169465" y="134175"/>
                </a:lnTo>
                <a:lnTo>
                  <a:pt x="198120" y="125984"/>
                </a:lnTo>
                <a:lnTo>
                  <a:pt x="368473" y="125984"/>
                </a:lnTo>
                <a:lnTo>
                  <a:pt x="355377" y="93710"/>
                </a:lnTo>
                <a:lnTo>
                  <a:pt x="318897" y="41910"/>
                </a:lnTo>
                <a:lnTo>
                  <a:pt x="266334" y="10477"/>
                </a:lnTo>
                <a:lnTo>
                  <a:pt x="232796" y="2619"/>
                </a:lnTo>
                <a:lnTo>
                  <a:pt x="194437" y="0"/>
                </a:lnTo>
                <a:close/>
              </a:path>
              <a:path w="386079" h="501650">
                <a:moveTo>
                  <a:pt x="264160" y="302767"/>
                </a:moveTo>
                <a:lnTo>
                  <a:pt x="246532" y="349166"/>
                </a:lnTo>
                <a:lnTo>
                  <a:pt x="208287" y="377041"/>
                </a:lnTo>
                <a:lnTo>
                  <a:pt x="196214" y="378205"/>
                </a:lnTo>
                <a:lnTo>
                  <a:pt x="370603" y="378205"/>
                </a:lnTo>
                <a:lnTo>
                  <a:pt x="372446" y="373554"/>
                </a:lnTo>
                <a:lnTo>
                  <a:pt x="379860" y="349009"/>
                </a:lnTo>
                <a:lnTo>
                  <a:pt x="385699" y="322579"/>
                </a:lnTo>
                <a:lnTo>
                  <a:pt x="264160" y="302767"/>
                </a:lnTo>
                <a:close/>
              </a:path>
              <a:path w="386079" h="501650">
                <a:moveTo>
                  <a:pt x="368473" y="125984"/>
                </a:moveTo>
                <a:lnTo>
                  <a:pt x="198120" y="125984"/>
                </a:lnTo>
                <a:lnTo>
                  <a:pt x="210052" y="126960"/>
                </a:lnTo>
                <a:lnTo>
                  <a:pt x="220710" y="129889"/>
                </a:lnTo>
                <a:lnTo>
                  <a:pt x="250825" y="161020"/>
                </a:lnTo>
                <a:lnTo>
                  <a:pt x="258825" y="187960"/>
                </a:lnTo>
                <a:lnTo>
                  <a:pt x="379095" y="164846"/>
                </a:lnTo>
                <a:lnTo>
                  <a:pt x="368831" y="126867"/>
                </a:lnTo>
                <a:lnTo>
                  <a:pt x="368473" y="125984"/>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p:nvPr/>
        </p:nvSpPr>
        <p:spPr>
          <a:xfrm>
            <a:off x="6458199" y="1433354"/>
            <a:ext cx="385807" cy="501295"/>
          </a:xfrm>
          <a:custGeom>
            <a:avLst/>
            <a:gdLst/>
            <a:ahLst/>
            <a:cxnLst/>
            <a:rect l="l" t="t" r="r" b="b"/>
            <a:pathLst>
              <a:path w="386079" h="501650">
                <a:moveTo>
                  <a:pt x="147827" y="127888"/>
                </a:moveTo>
                <a:lnTo>
                  <a:pt x="89074" y="139684"/>
                </a:lnTo>
                <a:lnTo>
                  <a:pt x="41655" y="175005"/>
                </a:lnTo>
                <a:lnTo>
                  <a:pt x="10398" y="232537"/>
                </a:lnTo>
                <a:lnTo>
                  <a:pt x="0" y="311023"/>
                </a:lnTo>
                <a:lnTo>
                  <a:pt x="2357" y="349244"/>
                </a:lnTo>
                <a:lnTo>
                  <a:pt x="21216" y="416732"/>
                </a:lnTo>
                <a:lnTo>
                  <a:pt x="58697" y="470360"/>
                </a:lnTo>
                <a:lnTo>
                  <a:pt x="113371" y="498173"/>
                </a:lnTo>
                <a:lnTo>
                  <a:pt x="147066" y="501650"/>
                </a:lnTo>
                <a:lnTo>
                  <a:pt x="164472" y="500675"/>
                </a:lnTo>
                <a:lnTo>
                  <a:pt x="211835" y="486155"/>
                </a:lnTo>
                <a:lnTo>
                  <a:pt x="247036" y="456116"/>
                </a:lnTo>
                <a:lnTo>
                  <a:pt x="259969" y="440689"/>
                </a:lnTo>
                <a:lnTo>
                  <a:pt x="385699" y="440689"/>
                </a:lnTo>
                <a:lnTo>
                  <a:pt x="385699" y="401319"/>
                </a:lnTo>
                <a:lnTo>
                  <a:pt x="191007" y="401319"/>
                </a:lnTo>
                <a:lnTo>
                  <a:pt x="179459" y="400034"/>
                </a:lnTo>
                <a:lnTo>
                  <a:pt x="143454" y="369226"/>
                </a:lnTo>
                <a:lnTo>
                  <a:pt x="134239" y="316738"/>
                </a:lnTo>
                <a:lnTo>
                  <a:pt x="135237" y="294997"/>
                </a:lnTo>
                <a:lnTo>
                  <a:pt x="150114" y="250062"/>
                </a:lnTo>
                <a:lnTo>
                  <a:pt x="189356" y="230250"/>
                </a:lnTo>
                <a:lnTo>
                  <a:pt x="385699" y="230250"/>
                </a:lnTo>
                <a:lnTo>
                  <a:pt x="385699" y="170941"/>
                </a:lnTo>
                <a:lnTo>
                  <a:pt x="250063" y="170941"/>
                </a:lnTo>
                <a:lnTo>
                  <a:pt x="239799" y="160847"/>
                </a:lnTo>
                <a:lnTo>
                  <a:pt x="228822" y="152098"/>
                </a:lnTo>
                <a:lnTo>
                  <a:pt x="191583" y="133943"/>
                </a:lnTo>
                <a:lnTo>
                  <a:pt x="163111" y="128557"/>
                </a:lnTo>
                <a:lnTo>
                  <a:pt x="147827" y="127888"/>
                </a:lnTo>
                <a:close/>
              </a:path>
              <a:path w="386079" h="501650">
                <a:moveTo>
                  <a:pt x="385699" y="440689"/>
                </a:moveTo>
                <a:lnTo>
                  <a:pt x="259969" y="440689"/>
                </a:lnTo>
                <a:lnTo>
                  <a:pt x="259969" y="493522"/>
                </a:lnTo>
                <a:lnTo>
                  <a:pt x="385699" y="493522"/>
                </a:lnTo>
                <a:lnTo>
                  <a:pt x="385699" y="440689"/>
                </a:lnTo>
                <a:close/>
              </a:path>
              <a:path w="386079" h="501650">
                <a:moveTo>
                  <a:pt x="385699" y="230250"/>
                </a:moveTo>
                <a:lnTo>
                  <a:pt x="189356" y="230250"/>
                </a:lnTo>
                <a:lnTo>
                  <a:pt x="202120" y="231538"/>
                </a:lnTo>
                <a:lnTo>
                  <a:pt x="213741" y="235410"/>
                </a:lnTo>
                <a:lnTo>
                  <a:pt x="241220" y="262647"/>
                </a:lnTo>
                <a:lnTo>
                  <a:pt x="251078" y="313689"/>
                </a:lnTo>
                <a:lnTo>
                  <a:pt x="250007" y="335311"/>
                </a:lnTo>
                <a:lnTo>
                  <a:pt x="233933" y="380746"/>
                </a:lnTo>
                <a:lnTo>
                  <a:pt x="191007" y="401319"/>
                </a:lnTo>
                <a:lnTo>
                  <a:pt x="385699" y="401319"/>
                </a:lnTo>
                <a:lnTo>
                  <a:pt x="385699" y="230250"/>
                </a:lnTo>
                <a:close/>
              </a:path>
              <a:path w="386079" h="501650">
                <a:moveTo>
                  <a:pt x="385699" y="0"/>
                </a:moveTo>
                <a:lnTo>
                  <a:pt x="250063" y="0"/>
                </a:lnTo>
                <a:lnTo>
                  <a:pt x="250063" y="170941"/>
                </a:lnTo>
                <a:lnTo>
                  <a:pt x="385699" y="170941"/>
                </a:lnTo>
                <a:lnTo>
                  <a:pt x="385699"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1" name="object 21"/>
          <p:cNvSpPr/>
          <p:nvPr/>
        </p:nvSpPr>
        <p:spPr>
          <a:xfrm>
            <a:off x="2485914" y="1433354"/>
            <a:ext cx="385807" cy="501295"/>
          </a:xfrm>
          <a:custGeom>
            <a:avLst/>
            <a:gdLst/>
            <a:ahLst/>
            <a:cxnLst/>
            <a:rect l="l" t="t" r="r" b="b"/>
            <a:pathLst>
              <a:path w="386080" h="501650">
                <a:moveTo>
                  <a:pt x="351348" y="440689"/>
                </a:moveTo>
                <a:lnTo>
                  <a:pt x="125603" y="440689"/>
                </a:lnTo>
                <a:lnTo>
                  <a:pt x="138412" y="456027"/>
                </a:lnTo>
                <a:lnTo>
                  <a:pt x="173862" y="486155"/>
                </a:lnTo>
                <a:lnTo>
                  <a:pt x="221243" y="500675"/>
                </a:lnTo>
                <a:lnTo>
                  <a:pt x="238506" y="501650"/>
                </a:lnTo>
                <a:lnTo>
                  <a:pt x="258699" y="500268"/>
                </a:lnTo>
                <a:lnTo>
                  <a:pt x="296227" y="489219"/>
                </a:lnTo>
                <a:lnTo>
                  <a:pt x="329588" y="467098"/>
                </a:lnTo>
                <a:lnTo>
                  <a:pt x="351348" y="440689"/>
                </a:lnTo>
                <a:close/>
              </a:path>
              <a:path w="386080" h="501650">
                <a:moveTo>
                  <a:pt x="135509" y="0"/>
                </a:moveTo>
                <a:lnTo>
                  <a:pt x="0" y="0"/>
                </a:lnTo>
                <a:lnTo>
                  <a:pt x="0" y="493522"/>
                </a:lnTo>
                <a:lnTo>
                  <a:pt x="125603" y="493522"/>
                </a:lnTo>
                <a:lnTo>
                  <a:pt x="125603" y="440689"/>
                </a:lnTo>
                <a:lnTo>
                  <a:pt x="351348" y="440689"/>
                </a:lnTo>
                <a:lnTo>
                  <a:pt x="356068" y="433760"/>
                </a:lnTo>
                <a:lnTo>
                  <a:pt x="366522" y="412876"/>
                </a:lnTo>
                <a:lnTo>
                  <a:pt x="370715" y="401319"/>
                </a:lnTo>
                <a:lnTo>
                  <a:pt x="194691" y="401319"/>
                </a:lnTo>
                <a:lnTo>
                  <a:pt x="182211" y="400012"/>
                </a:lnTo>
                <a:lnTo>
                  <a:pt x="144103" y="368589"/>
                </a:lnTo>
                <a:lnTo>
                  <a:pt x="134619" y="313689"/>
                </a:lnTo>
                <a:lnTo>
                  <a:pt x="135693" y="293993"/>
                </a:lnTo>
                <a:lnTo>
                  <a:pt x="151892" y="250951"/>
                </a:lnTo>
                <a:lnTo>
                  <a:pt x="196596" y="230250"/>
                </a:lnTo>
                <a:lnTo>
                  <a:pt x="374480" y="230250"/>
                </a:lnTo>
                <a:lnTo>
                  <a:pt x="362124" y="200880"/>
                </a:lnTo>
                <a:lnTo>
                  <a:pt x="343788" y="174878"/>
                </a:lnTo>
                <a:lnTo>
                  <a:pt x="339515" y="170941"/>
                </a:lnTo>
                <a:lnTo>
                  <a:pt x="135509" y="170941"/>
                </a:lnTo>
                <a:lnTo>
                  <a:pt x="135509" y="0"/>
                </a:lnTo>
                <a:close/>
              </a:path>
              <a:path w="386080" h="501650">
                <a:moveTo>
                  <a:pt x="374480" y="230250"/>
                </a:moveTo>
                <a:lnTo>
                  <a:pt x="196596" y="230250"/>
                </a:lnTo>
                <a:lnTo>
                  <a:pt x="207577" y="231489"/>
                </a:lnTo>
                <a:lnTo>
                  <a:pt x="217678" y="235203"/>
                </a:lnTo>
                <a:lnTo>
                  <a:pt x="247332" y="275574"/>
                </a:lnTo>
                <a:lnTo>
                  <a:pt x="251275" y="313689"/>
                </a:lnTo>
                <a:lnTo>
                  <a:pt x="250328" y="334706"/>
                </a:lnTo>
                <a:lnTo>
                  <a:pt x="235076" y="380873"/>
                </a:lnTo>
                <a:lnTo>
                  <a:pt x="194691" y="401319"/>
                </a:lnTo>
                <a:lnTo>
                  <a:pt x="370715" y="401319"/>
                </a:lnTo>
                <a:lnTo>
                  <a:pt x="374895" y="389800"/>
                </a:lnTo>
                <a:lnTo>
                  <a:pt x="380920" y="364775"/>
                </a:lnTo>
                <a:lnTo>
                  <a:pt x="384506" y="338081"/>
                </a:lnTo>
                <a:lnTo>
                  <a:pt x="385699" y="309625"/>
                </a:lnTo>
                <a:lnTo>
                  <a:pt x="383079" y="268265"/>
                </a:lnTo>
                <a:lnTo>
                  <a:pt x="375221" y="232013"/>
                </a:lnTo>
                <a:lnTo>
                  <a:pt x="374480" y="230250"/>
                </a:lnTo>
                <a:close/>
              </a:path>
              <a:path w="386080" h="501650">
                <a:moveTo>
                  <a:pt x="237871" y="127888"/>
                </a:moveTo>
                <a:lnTo>
                  <a:pt x="194401" y="133943"/>
                </a:lnTo>
                <a:lnTo>
                  <a:pt x="157035" y="152098"/>
                </a:lnTo>
                <a:lnTo>
                  <a:pt x="135509" y="170941"/>
                </a:lnTo>
                <a:lnTo>
                  <a:pt x="339515" y="170941"/>
                </a:lnTo>
                <a:lnTo>
                  <a:pt x="321452" y="154303"/>
                </a:lnTo>
                <a:lnTo>
                  <a:pt x="296354" y="139620"/>
                </a:lnTo>
                <a:lnTo>
                  <a:pt x="268493" y="130819"/>
                </a:lnTo>
                <a:lnTo>
                  <a:pt x="237871" y="127888"/>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253820" y="1433354"/>
            <a:ext cx="253820" cy="503198"/>
          </a:xfrm>
          <a:custGeom>
            <a:avLst/>
            <a:gdLst/>
            <a:ahLst/>
            <a:cxnLst/>
            <a:rect l="l" t="t" r="r" b="b"/>
            <a:pathLst>
              <a:path w="254000" h="503555">
                <a:moveTo>
                  <a:pt x="237734" y="109600"/>
                </a:moveTo>
                <a:lnTo>
                  <a:pt x="131673" y="109600"/>
                </a:lnTo>
                <a:lnTo>
                  <a:pt x="139160" y="110456"/>
                </a:lnTo>
                <a:lnTo>
                  <a:pt x="145427" y="113014"/>
                </a:lnTo>
                <a:lnTo>
                  <a:pt x="160341" y="155122"/>
                </a:lnTo>
                <a:lnTo>
                  <a:pt x="160743" y="170814"/>
                </a:lnTo>
                <a:lnTo>
                  <a:pt x="152959" y="177319"/>
                </a:lnTo>
                <a:lnTo>
                  <a:pt x="108359" y="204311"/>
                </a:lnTo>
                <a:lnTo>
                  <a:pt x="69164" y="222123"/>
                </a:lnTo>
                <a:lnTo>
                  <a:pt x="50883" y="231838"/>
                </a:lnTo>
                <a:lnTo>
                  <a:pt x="14744" y="274700"/>
                </a:lnTo>
                <a:lnTo>
                  <a:pt x="3686" y="314880"/>
                </a:lnTo>
                <a:lnTo>
                  <a:pt x="0" y="364871"/>
                </a:lnTo>
                <a:lnTo>
                  <a:pt x="1278" y="392947"/>
                </a:lnTo>
                <a:lnTo>
                  <a:pt x="11508" y="442148"/>
                </a:lnTo>
                <a:lnTo>
                  <a:pt x="31875" y="480724"/>
                </a:lnTo>
                <a:lnTo>
                  <a:pt x="80378" y="503174"/>
                </a:lnTo>
                <a:lnTo>
                  <a:pt x="94772" y="501933"/>
                </a:lnTo>
                <a:lnTo>
                  <a:pt x="132499" y="483235"/>
                </a:lnTo>
                <a:lnTo>
                  <a:pt x="157232" y="449516"/>
                </a:lnTo>
                <a:lnTo>
                  <a:pt x="165531" y="433324"/>
                </a:lnTo>
                <a:lnTo>
                  <a:pt x="244579" y="433324"/>
                </a:lnTo>
                <a:lnTo>
                  <a:pt x="244517" y="432556"/>
                </a:lnTo>
                <a:lnTo>
                  <a:pt x="243901" y="420163"/>
                </a:lnTo>
                <a:lnTo>
                  <a:pt x="243531" y="405937"/>
                </a:lnTo>
                <a:lnTo>
                  <a:pt x="243491" y="400685"/>
                </a:lnTo>
                <a:lnTo>
                  <a:pt x="103149" y="400685"/>
                </a:lnTo>
                <a:lnTo>
                  <a:pt x="85169" y="361660"/>
                </a:lnTo>
                <a:lnTo>
                  <a:pt x="84734" y="351281"/>
                </a:lnTo>
                <a:lnTo>
                  <a:pt x="85175" y="342016"/>
                </a:lnTo>
                <a:lnTo>
                  <a:pt x="103378" y="302656"/>
                </a:lnTo>
                <a:lnTo>
                  <a:pt x="133767" y="282424"/>
                </a:lnTo>
                <a:lnTo>
                  <a:pt x="142943" y="276637"/>
                </a:lnTo>
                <a:lnTo>
                  <a:pt x="151935" y="270422"/>
                </a:lnTo>
                <a:lnTo>
                  <a:pt x="160743" y="263778"/>
                </a:lnTo>
                <a:lnTo>
                  <a:pt x="243408" y="263778"/>
                </a:lnTo>
                <a:lnTo>
                  <a:pt x="243408" y="177164"/>
                </a:lnTo>
                <a:lnTo>
                  <a:pt x="243017" y="159976"/>
                </a:lnTo>
                <a:lnTo>
                  <a:pt x="241847" y="142335"/>
                </a:lnTo>
                <a:lnTo>
                  <a:pt x="239890" y="124205"/>
                </a:lnTo>
                <a:lnTo>
                  <a:pt x="237734" y="109600"/>
                </a:lnTo>
                <a:close/>
              </a:path>
              <a:path w="254000" h="503555">
                <a:moveTo>
                  <a:pt x="244579" y="433324"/>
                </a:moveTo>
                <a:lnTo>
                  <a:pt x="165531" y="433324"/>
                </a:lnTo>
                <a:lnTo>
                  <a:pt x="166256" y="443102"/>
                </a:lnTo>
                <a:lnTo>
                  <a:pt x="172481" y="483540"/>
                </a:lnTo>
                <a:lnTo>
                  <a:pt x="174663" y="492251"/>
                </a:lnTo>
                <a:lnTo>
                  <a:pt x="254000" y="492251"/>
                </a:lnTo>
                <a:lnTo>
                  <a:pt x="250968" y="477964"/>
                </a:lnTo>
                <a:lnTo>
                  <a:pt x="248521" y="465010"/>
                </a:lnTo>
                <a:lnTo>
                  <a:pt x="246658" y="453389"/>
                </a:lnTo>
                <a:lnTo>
                  <a:pt x="245376" y="443102"/>
                </a:lnTo>
                <a:lnTo>
                  <a:pt x="244579" y="433324"/>
                </a:lnTo>
                <a:close/>
              </a:path>
              <a:path w="254000" h="503555">
                <a:moveTo>
                  <a:pt x="243408" y="263778"/>
                </a:moveTo>
                <a:lnTo>
                  <a:pt x="160743" y="263778"/>
                </a:lnTo>
                <a:lnTo>
                  <a:pt x="160704" y="295261"/>
                </a:lnTo>
                <a:lnTo>
                  <a:pt x="160426" y="309673"/>
                </a:lnTo>
                <a:lnTo>
                  <a:pt x="155663" y="349250"/>
                </a:lnTo>
                <a:lnTo>
                  <a:pt x="138417" y="385699"/>
                </a:lnTo>
                <a:lnTo>
                  <a:pt x="112153" y="400685"/>
                </a:lnTo>
                <a:lnTo>
                  <a:pt x="243491" y="400685"/>
                </a:lnTo>
                <a:lnTo>
                  <a:pt x="243408" y="263778"/>
                </a:lnTo>
                <a:close/>
              </a:path>
              <a:path w="254000" h="503555">
                <a:moveTo>
                  <a:pt x="120662" y="0"/>
                </a:moveTo>
                <a:lnTo>
                  <a:pt x="76631" y="7619"/>
                </a:lnTo>
                <a:lnTo>
                  <a:pt x="44653" y="29463"/>
                </a:lnTo>
                <a:lnTo>
                  <a:pt x="24618" y="62628"/>
                </a:lnTo>
                <a:lnTo>
                  <a:pt x="12225" y="106870"/>
                </a:lnTo>
                <a:lnTo>
                  <a:pt x="6642" y="148209"/>
                </a:lnTo>
                <a:lnTo>
                  <a:pt x="87439" y="166750"/>
                </a:lnTo>
                <a:lnTo>
                  <a:pt x="90122" y="152370"/>
                </a:lnTo>
                <a:lnTo>
                  <a:pt x="93198" y="140477"/>
                </a:lnTo>
                <a:lnTo>
                  <a:pt x="121939" y="110507"/>
                </a:lnTo>
                <a:lnTo>
                  <a:pt x="131673" y="109600"/>
                </a:lnTo>
                <a:lnTo>
                  <a:pt x="237734" y="109600"/>
                </a:lnTo>
                <a:lnTo>
                  <a:pt x="237172" y="105790"/>
                </a:lnTo>
                <a:lnTo>
                  <a:pt x="225256" y="59267"/>
                </a:lnTo>
                <a:lnTo>
                  <a:pt x="202857" y="23542"/>
                </a:lnTo>
                <a:lnTo>
                  <a:pt x="169263" y="5197"/>
                </a:lnTo>
                <a:lnTo>
                  <a:pt x="138731" y="573"/>
                </a:lnTo>
                <a:lnTo>
                  <a:pt x="120662"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txBox="1"/>
          <p:nvPr/>
        </p:nvSpPr>
        <p:spPr>
          <a:xfrm>
            <a:off x="618712" y="1535644"/>
            <a:ext cx="84204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客户分类</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4" name="object 24"/>
          <p:cNvSpPr txBox="1"/>
          <p:nvPr/>
        </p:nvSpPr>
        <p:spPr>
          <a:xfrm>
            <a:off x="2982893" y="1535644"/>
            <a:ext cx="1045739"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大客户分析</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5" name="object 25"/>
          <p:cNvSpPr/>
          <p:nvPr/>
        </p:nvSpPr>
        <p:spPr>
          <a:xfrm>
            <a:off x="2995584" y="1980591"/>
            <a:ext cx="1057161" cy="639627"/>
          </a:xfrm>
          <a:custGeom>
            <a:avLst/>
            <a:gdLst/>
            <a:ahLst/>
            <a:cxnLst/>
            <a:rect l="l" t="t" r="r" b="b"/>
            <a:pathLst>
              <a:path w="1057910" h="640080">
                <a:moveTo>
                  <a:pt x="0" y="640079"/>
                </a:moveTo>
                <a:lnTo>
                  <a:pt x="1057656" y="640079"/>
                </a:lnTo>
                <a:lnTo>
                  <a:pt x="1057656" y="0"/>
                </a:lnTo>
                <a:lnTo>
                  <a:pt x="0" y="0"/>
                </a:lnTo>
                <a:lnTo>
                  <a:pt x="0" y="64007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6" name="object 26"/>
          <p:cNvSpPr txBox="1"/>
          <p:nvPr/>
        </p:nvSpPr>
        <p:spPr>
          <a:xfrm>
            <a:off x="2995584" y="1980591"/>
            <a:ext cx="1057161" cy="416560"/>
          </a:xfrm>
          <a:prstGeom prst="rect">
            <a:avLst/>
          </a:prstGeom>
          <a:ln w="9525">
            <a:solidFill>
              <a:srgbClr val="91AFFF"/>
            </a:solidFill>
          </a:ln>
        </p:spPr>
        <p:txBody>
          <a:bodyPr vert="horz" wrap="square" lIns="0" tIns="201786" rIns="0" bIns="0" rtlCol="0">
            <a:spAutoFit/>
          </a:bodyPr>
          <a:lstStyle/>
          <a:p>
            <a:pPr marL="71755">
              <a:lnSpc>
                <a:spcPct val="100000"/>
              </a:lnSpc>
              <a:spcBef>
                <a:spcPts val="1590"/>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客户背景</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7" name="object 27"/>
          <p:cNvSpPr/>
          <p:nvPr/>
        </p:nvSpPr>
        <p:spPr>
          <a:xfrm>
            <a:off x="2995584" y="2720730"/>
            <a:ext cx="1057161" cy="517792"/>
          </a:xfrm>
          <a:custGeom>
            <a:avLst/>
            <a:gdLst/>
            <a:ahLst/>
            <a:cxnLst/>
            <a:rect l="l" t="t" r="r" b="b"/>
            <a:pathLst>
              <a:path w="1057910" h="518160">
                <a:moveTo>
                  <a:pt x="0" y="518160"/>
                </a:moveTo>
                <a:lnTo>
                  <a:pt x="1057656" y="518160"/>
                </a:lnTo>
                <a:lnTo>
                  <a:pt x="1057656"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txBox="1"/>
          <p:nvPr/>
        </p:nvSpPr>
        <p:spPr>
          <a:xfrm>
            <a:off x="2995584" y="2720730"/>
            <a:ext cx="1057161" cy="464820"/>
          </a:xfrm>
          <a:prstGeom prst="rect">
            <a:avLst/>
          </a:prstGeom>
          <a:ln w="9525">
            <a:solidFill>
              <a:srgbClr val="91AFFF"/>
            </a:solidFill>
          </a:ln>
        </p:spPr>
        <p:txBody>
          <a:bodyPr vert="horz" wrap="square" lIns="0" tIns="34900" rIns="0" bIns="0" rtlCol="0">
            <a:spAutoFit/>
          </a:bodyPr>
          <a:lstStyle/>
          <a:p>
            <a:pPr marL="71755">
              <a:lnSpc>
                <a:spcPct val="100000"/>
              </a:lnSpc>
              <a:spcBef>
                <a:spcPts val="275"/>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客户经济</a:t>
            </a:r>
            <a:endParaRPr sz="1400">
              <a:latin typeface="微软雅黑" panose="020B0503020204020204" charset="-122"/>
              <a:ea typeface="微软雅黑" panose="020B0503020204020204" charset="-122"/>
              <a:cs typeface="微软雅黑" panose="020B0503020204020204" charset="-122"/>
            </a:endParaRPr>
          </a:p>
          <a:p>
            <a:pPr marL="71755">
              <a:lnSpc>
                <a:spcPct val="100000"/>
              </a:lnSpc>
            </a:pPr>
            <a:r>
              <a:rPr sz="1400" dirty="0">
                <a:solidFill>
                  <a:srgbClr val="0066CC"/>
                </a:solidFill>
                <a:latin typeface="微软雅黑" panose="020B0503020204020204" charset="-122"/>
                <a:ea typeface="微软雅黑" panose="020B0503020204020204" charset="-122"/>
                <a:cs typeface="微软雅黑" panose="020B0503020204020204" charset="-122"/>
              </a:rPr>
              <a:t>指标</a:t>
            </a:r>
            <a:endParaRPr sz="1400">
              <a:latin typeface="微软雅黑" panose="020B0503020204020204" charset="-122"/>
              <a:ea typeface="微软雅黑" panose="020B0503020204020204" charset="-122"/>
              <a:cs typeface="微软雅黑" panose="020B0503020204020204" charset="-122"/>
            </a:endParaRPr>
          </a:p>
        </p:txBody>
      </p:sp>
      <p:sp>
        <p:nvSpPr>
          <p:cNvPr id="29" name="object 29"/>
          <p:cNvSpPr/>
          <p:nvPr/>
        </p:nvSpPr>
        <p:spPr>
          <a:xfrm>
            <a:off x="2995584" y="3340559"/>
            <a:ext cx="1057161" cy="516524"/>
          </a:xfrm>
          <a:custGeom>
            <a:avLst/>
            <a:gdLst/>
            <a:ahLst/>
            <a:cxnLst/>
            <a:rect l="l" t="t" r="r" b="b"/>
            <a:pathLst>
              <a:path w="1057910" h="516889">
                <a:moveTo>
                  <a:pt x="0" y="516636"/>
                </a:moveTo>
                <a:lnTo>
                  <a:pt x="1057656" y="516636"/>
                </a:lnTo>
                <a:lnTo>
                  <a:pt x="1057656" y="0"/>
                </a:lnTo>
                <a:lnTo>
                  <a:pt x="0" y="0"/>
                </a:lnTo>
                <a:lnTo>
                  <a:pt x="0" y="51663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0" name="object 30"/>
          <p:cNvSpPr txBox="1"/>
          <p:nvPr/>
        </p:nvSpPr>
        <p:spPr>
          <a:xfrm>
            <a:off x="2995584" y="3340559"/>
            <a:ext cx="1057161" cy="464820"/>
          </a:xfrm>
          <a:prstGeom prst="rect">
            <a:avLst/>
          </a:prstGeom>
          <a:ln w="9525">
            <a:solidFill>
              <a:srgbClr val="91AFFF"/>
            </a:solidFill>
          </a:ln>
        </p:spPr>
        <p:txBody>
          <a:bodyPr vert="horz" wrap="square" lIns="0" tIns="31091" rIns="0" bIns="0" rtlCol="0">
            <a:spAutoFit/>
          </a:bodyPr>
          <a:lstStyle/>
          <a:p>
            <a:pPr marL="71755" marR="86360">
              <a:lnSpc>
                <a:spcPct val="101000"/>
              </a:lnSpc>
              <a:spcBef>
                <a:spcPts val="245"/>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客户关系与 决策流程</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1" name="object 31"/>
          <p:cNvSpPr/>
          <p:nvPr/>
        </p:nvSpPr>
        <p:spPr>
          <a:xfrm>
            <a:off x="2995584" y="3958865"/>
            <a:ext cx="1057161" cy="517792"/>
          </a:xfrm>
          <a:custGeom>
            <a:avLst/>
            <a:gdLst/>
            <a:ahLst/>
            <a:cxnLst/>
            <a:rect l="l" t="t" r="r" b="b"/>
            <a:pathLst>
              <a:path w="1057910" h="518160">
                <a:moveTo>
                  <a:pt x="0" y="518159"/>
                </a:moveTo>
                <a:lnTo>
                  <a:pt x="1057656" y="518159"/>
                </a:lnTo>
                <a:lnTo>
                  <a:pt x="1057656" y="0"/>
                </a:lnTo>
                <a:lnTo>
                  <a:pt x="0" y="0"/>
                </a:lnTo>
                <a:lnTo>
                  <a:pt x="0" y="51815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2" name="object 32"/>
          <p:cNvSpPr txBox="1"/>
          <p:nvPr/>
        </p:nvSpPr>
        <p:spPr>
          <a:xfrm>
            <a:off x="2995584" y="3958865"/>
            <a:ext cx="1057161" cy="355600"/>
          </a:xfrm>
          <a:prstGeom prst="rect">
            <a:avLst/>
          </a:prstGeom>
          <a:ln w="9525">
            <a:solidFill>
              <a:srgbClr val="91AFFF"/>
            </a:solidFill>
          </a:ln>
        </p:spPr>
        <p:txBody>
          <a:bodyPr vert="horz" wrap="square" lIns="0" tIns="140870" rIns="0" bIns="0" rtlCol="0">
            <a:spAutoFit/>
          </a:bodyPr>
          <a:lstStyle/>
          <a:p>
            <a:pPr marL="71755">
              <a:lnSpc>
                <a:spcPct val="100000"/>
              </a:lnSpc>
              <a:spcBef>
                <a:spcPts val="1110"/>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客户需求</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3" name="object 33"/>
          <p:cNvSpPr/>
          <p:nvPr/>
        </p:nvSpPr>
        <p:spPr>
          <a:xfrm>
            <a:off x="2995584" y="4577170"/>
            <a:ext cx="1057161" cy="517792"/>
          </a:xfrm>
          <a:custGeom>
            <a:avLst/>
            <a:gdLst/>
            <a:ahLst/>
            <a:cxnLst/>
            <a:rect l="l" t="t" r="r" b="b"/>
            <a:pathLst>
              <a:path w="1057910" h="518160">
                <a:moveTo>
                  <a:pt x="0" y="518160"/>
                </a:moveTo>
                <a:lnTo>
                  <a:pt x="1057656" y="518160"/>
                </a:lnTo>
                <a:lnTo>
                  <a:pt x="1057656"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4" name="object 34"/>
          <p:cNvSpPr txBox="1"/>
          <p:nvPr/>
        </p:nvSpPr>
        <p:spPr>
          <a:xfrm>
            <a:off x="2995584" y="4577170"/>
            <a:ext cx="1057161" cy="356235"/>
          </a:xfrm>
          <a:prstGeom prst="rect">
            <a:avLst/>
          </a:prstGeom>
          <a:ln w="9525">
            <a:solidFill>
              <a:srgbClr val="91AFFF"/>
            </a:solidFill>
          </a:ln>
        </p:spPr>
        <p:txBody>
          <a:bodyPr vert="horz" wrap="square" lIns="0" tIns="141504" rIns="0" bIns="0" rtlCol="0">
            <a:spAutoFit/>
          </a:bodyPr>
          <a:lstStyle/>
          <a:p>
            <a:pPr marL="71755">
              <a:lnSpc>
                <a:spcPct val="100000"/>
              </a:lnSpc>
              <a:spcBef>
                <a:spcPts val="1115"/>
              </a:spcBef>
            </a:pPr>
            <a:r>
              <a:rPr sz="1400" dirty="0">
                <a:solidFill>
                  <a:srgbClr val="0066CC"/>
                </a:solidFill>
                <a:latin typeface="微软雅黑" panose="020B0503020204020204" charset="-122"/>
                <a:ea typeface="微软雅黑" panose="020B0503020204020204" charset="-122"/>
                <a:cs typeface="微软雅黑" panose="020B0503020204020204" charset="-122"/>
              </a:rPr>
              <a:t>风险分析</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5" name="object 35"/>
          <p:cNvSpPr/>
          <p:nvPr/>
        </p:nvSpPr>
        <p:spPr>
          <a:xfrm>
            <a:off x="5450533" y="3897948"/>
            <a:ext cx="2614982" cy="335043"/>
          </a:xfrm>
          <a:custGeom>
            <a:avLst/>
            <a:gdLst/>
            <a:ahLst/>
            <a:cxnLst/>
            <a:rect l="l" t="t" r="r" b="b"/>
            <a:pathLst>
              <a:path w="2616834" h="335279">
                <a:moveTo>
                  <a:pt x="0" y="335280"/>
                </a:moveTo>
                <a:lnTo>
                  <a:pt x="2616707" y="335280"/>
                </a:lnTo>
                <a:lnTo>
                  <a:pt x="2616707" y="0"/>
                </a:lnTo>
                <a:lnTo>
                  <a:pt x="0" y="0"/>
                </a:lnTo>
                <a:lnTo>
                  <a:pt x="0" y="33528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6" name="object 36"/>
          <p:cNvSpPr txBox="1"/>
          <p:nvPr/>
        </p:nvSpPr>
        <p:spPr>
          <a:xfrm>
            <a:off x="5450533" y="3897948"/>
            <a:ext cx="2614982" cy="264795"/>
          </a:xfrm>
          <a:prstGeom prst="rect">
            <a:avLst/>
          </a:prstGeom>
          <a:ln w="9525">
            <a:solidFill>
              <a:srgbClr val="91AFFF"/>
            </a:solidFill>
          </a:ln>
        </p:spPr>
        <p:txBody>
          <a:bodyPr vert="horz" wrap="square" lIns="0" tIns="50129" rIns="0" bIns="0" rtlCol="0">
            <a:spAutoFit/>
          </a:bodyPr>
          <a:lstStyle/>
          <a:p>
            <a:pPr marL="73025">
              <a:lnSpc>
                <a:spcPct val="100000"/>
              </a:lnSpc>
              <a:spcBef>
                <a:spcPts val="395"/>
              </a:spcBef>
            </a:pPr>
            <a:r>
              <a:rPr sz="1400" dirty="0">
                <a:solidFill>
                  <a:srgbClr val="0066CC"/>
                </a:solidFill>
                <a:latin typeface="微软雅黑" panose="020B0503020204020204" charset="-122"/>
                <a:ea typeface="微软雅黑" panose="020B0503020204020204" charset="-122"/>
                <a:cs typeface="微软雅黑" panose="020B0503020204020204" charset="-122"/>
              </a:rPr>
              <a:t>大客户管理的组织架构</a:t>
            </a:r>
            <a:r>
              <a:rPr sz="1400" spc="-15" dirty="0">
                <a:solidFill>
                  <a:srgbClr val="0066CC"/>
                </a:solidFill>
                <a:latin typeface="微软雅黑" panose="020B0503020204020204" charset="-122"/>
                <a:ea typeface="微软雅黑" panose="020B0503020204020204" charset="-122"/>
                <a:cs typeface="微软雅黑" panose="020B0503020204020204" charset="-122"/>
              </a:rPr>
              <a:t>设</a:t>
            </a:r>
            <a:r>
              <a:rPr sz="1400" spc="5" dirty="0">
                <a:solidFill>
                  <a:srgbClr val="0066CC"/>
                </a:solidFill>
                <a:latin typeface="微软雅黑" panose="020B0503020204020204" charset="-122"/>
                <a:ea typeface="微软雅黑" panose="020B0503020204020204" charset="-122"/>
                <a:cs typeface="微软雅黑" panose="020B0503020204020204" charset="-122"/>
              </a:rPr>
              <a:t>计</a:t>
            </a:r>
            <a:endParaRPr sz="1400">
              <a:latin typeface="微软雅黑" panose="020B0503020204020204" charset="-122"/>
              <a:ea typeface="微软雅黑" panose="020B0503020204020204" charset="-122"/>
              <a:cs typeface="微软雅黑" panose="020B0503020204020204" charset="-122"/>
            </a:endParaRPr>
          </a:p>
        </p:txBody>
      </p:sp>
      <p:sp>
        <p:nvSpPr>
          <p:cNvPr id="37" name="object 37"/>
          <p:cNvSpPr/>
          <p:nvPr/>
        </p:nvSpPr>
        <p:spPr>
          <a:xfrm>
            <a:off x="4976905" y="1980591"/>
            <a:ext cx="1154882" cy="517792"/>
          </a:xfrm>
          <a:custGeom>
            <a:avLst/>
            <a:gdLst/>
            <a:ahLst/>
            <a:cxnLst/>
            <a:rect l="l" t="t" r="r" b="b"/>
            <a:pathLst>
              <a:path w="1155700" h="518160">
                <a:moveTo>
                  <a:pt x="0" y="518160"/>
                </a:moveTo>
                <a:lnTo>
                  <a:pt x="1155191" y="518160"/>
                </a:lnTo>
                <a:lnTo>
                  <a:pt x="1155191"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8" name="object 38"/>
          <p:cNvSpPr txBox="1"/>
          <p:nvPr/>
        </p:nvSpPr>
        <p:spPr>
          <a:xfrm>
            <a:off x="4976905" y="1980591"/>
            <a:ext cx="1154882" cy="336550"/>
          </a:xfrm>
          <a:prstGeom prst="rect">
            <a:avLst/>
          </a:prstGeom>
          <a:ln w="9525">
            <a:solidFill>
              <a:srgbClr val="91AFFF"/>
            </a:solidFill>
          </a:ln>
        </p:spPr>
        <p:txBody>
          <a:bodyPr vert="horz" wrap="square" lIns="0" tIns="121833" rIns="0" bIns="0" rtlCol="0">
            <a:spAutoFit/>
          </a:bodyPr>
          <a:lstStyle/>
          <a:p>
            <a:pPr marL="72390">
              <a:lnSpc>
                <a:spcPct val="100000"/>
              </a:lnSpc>
              <a:spcBef>
                <a:spcPts val="960"/>
              </a:spcBef>
            </a:pPr>
            <a:r>
              <a:rPr sz="1400" dirty="0">
                <a:solidFill>
                  <a:srgbClr val="0066CC"/>
                </a:solidFill>
                <a:latin typeface="微软雅黑" panose="020B0503020204020204" charset="-122"/>
                <a:ea typeface="微软雅黑" panose="020B0503020204020204" charset="-122"/>
                <a:cs typeface="微软雅黑" panose="020B0503020204020204" charset="-122"/>
              </a:rPr>
              <a:t>战略规划</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9" name="object 39"/>
          <p:cNvSpPr/>
          <p:nvPr/>
        </p:nvSpPr>
        <p:spPr>
          <a:xfrm>
            <a:off x="4976905" y="2560823"/>
            <a:ext cx="1154882" cy="517792"/>
          </a:xfrm>
          <a:custGeom>
            <a:avLst/>
            <a:gdLst/>
            <a:ahLst/>
            <a:cxnLst/>
            <a:rect l="l" t="t" r="r" b="b"/>
            <a:pathLst>
              <a:path w="1155700" h="518160">
                <a:moveTo>
                  <a:pt x="0" y="518160"/>
                </a:moveTo>
                <a:lnTo>
                  <a:pt x="1155191" y="518160"/>
                </a:lnTo>
                <a:lnTo>
                  <a:pt x="1155191"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0" name="object 40"/>
          <p:cNvSpPr txBox="1"/>
          <p:nvPr/>
        </p:nvSpPr>
        <p:spPr>
          <a:xfrm>
            <a:off x="4976905" y="2560823"/>
            <a:ext cx="1154882" cy="336550"/>
          </a:xfrm>
          <a:prstGeom prst="rect">
            <a:avLst/>
          </a:prstGeom>
          <a:ln w="9525">
            <a:solidFill>
              <a:srgbClr val="91AFFF"/>
            </a:solidFill>
          </a:ln>
        </p:spPr>
        <p:txBody>
          <a:bodyPr vert="horz" wrap="square" lIns="0" tIns="121833" rIns="0" bIns="0" rtlCol="0">
            <a:spAutoFit/>
          </a:bodyPr>
          <a:lstStyle/>
          <a:p>
            <a:pPr marL="72390">
              <a:lnSpc>
                <a:spcPct val="100000"/>
              </a:lnSpc>
              <a:spcBef>
                <a:spcPts val="960"/>
              </a:spcBef>
            </a:pPr>
            <a:r>
              <a:rPr sz="1400" dirty="0">
                <a:solidFill>
                  <a:srgbClr val="0066CC"/>
                </a:solidFill>
                <a:latin typeface="微软雅黑" panose="020B0503020204020204" charset="-122"/>
                <a:ea typeface="微软雅黑" panose="020B0503020204020204" charset="-122"/>
                <a:cs typeface="微软雅黑" panose="020B0503020204020204" charset="-122"/>
              </a:rPr>
              <a:t>行动计划</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1" name="object 41"/>
          <p:cNvSpPr/>
          <p:nvPr/>
        </p:nvSpPr>
        <p:spPr>
          <a:xfrm>
            <a:off x="632011" y="1980591"/>
            <a:ext cx="1488020" cy="517792"/>
          </a:xfrm>
          <a:custGeom>
            <a:avLst/>
            <a:gdLst/>
            <a:ahLst/>
            <a:cxnLst/>
            <a:rect l="l" t="t" r="r" b="b"/>
            <a:pathLst>
              <a:path w="1489075" h="518160">
                <a:moveTo>
                  <a:pt x="0" y="518160"/>
                </a:moveTo>
                <a:lnTo>
                  <a:pt x="1488948" y="518160"/>
                </a:lnTo>
                <a:lnTo>
                  <a:pt x="1488948"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2" name="object 42"/>
          <p:cNvSpPr txBox="1"/>
          <p:nvPr/>
        </p:nvSpPr>
        <p:spPr>
          <a:xfrm>
            <a:off x="632011" y="1980591"/>
            <a:ext cx="1488020" cy="464185"/>
          </a:xfrm>
          <a:prstGeom prst="rect">
            <a:avLst/>
          </a:prstGeom>
          <a:ln w="9525">
            <a:solidFill>
              <a:srgbClr val="91AFFF"/>
            </a:solidFill>
          </a:ln>
        </p:spPr>
        <p:txBody>
          <a:bodyPr vert="horz" wrap="square" lIns="0" tIns="34265" rIns="0" bIns="0" rtlCol="0">
            <a:spAutoFit/>
          </a:bodyPr>
          <a:lstStyle/>
          <a:p>
            <a:pPr marL="71120" marR="518795">
              <a:lnSpc>
                <a:spcPct val="100000"/>
              </a:lnSpc>
              <a:spcBef>
                <a:spcPts val="270"/>
              </a:spcBef>
            </a:pPr>
            <a:r>
              <a:rPr sz="1400" dirty="0">
                <a:solidFill>
                  <a:srgbClr val="0066CC"/>
                </a:solidFill>
                <a:latin typeface="微软雅黑" panose="020B0503020204020204" charset="-122"/>
                <a:ea typeface="微软雅黑" panose="020B0503020204020204" charset="-122"/>
                <a:cs typeface="微软雅黑" panose="020B0503020204020204" charset="-122"/>
              </a:rPr>
              <a:t>识别并审核 大客户</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3" name="object 43"/>
          <p:cNvSpPr txBox="1"/>
          <p:nvPr/>
        </p:nvSpPr>
        <p:spPr>
          <a:xfrm>
            <a:off x="106401" y="6412696"/>
            <a:ext cx="2191102"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35"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a:t>
            </a:r>
            <a:r>
              <a:rPr sz="1000" spc="-35"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营销和销售业务部</a:t>
            </a:r>
            <a:endParaRPr sz="1000">
              <a:latin typeface="微软雅黑" panose="020B0503020204020204" charset="-122"/>
              <a:ea typeface="微软雅黑" panose="020B0503020204020204" charset="-122"/>
              <a:cs typeface="微软雅黑" panose="020B0503020204020204" charset="-122"/>
            </a:endParaRPr>
          </a:p>
        </p:txBody>
      </p:sp>
      <p:sp>
        <p:nvSpPr>
          <p:cNvPr id="44" name="object 44"/>
          <p:cNvSpPr/>
          <p:nvPr/>
        </p:nvSpPr>
        <p:spPr>
          <a:xfrm>
            <a:off x="6944518" y="1980591"/>
            <a:ext cx="1156151" cy="306488"/>
          </a:xfrm>
          <a:custGeom>
            <a:avLst/>
            <a:gdLst/>
            <a:ahLst/>
            <a:cxnLst/>
            <a:rect l="l" t="t" r="r" b="b"/>
            <a:pathLst>
              <a:path w="1156970" h="306705">
                <a:moveTo>
                  <a:pt x="0" y="306324"/>
                </a:moveTo>
                <a:lnTo>
                  <a:pt x="1156716" y="306324"/>
                </a:lnTo>
                <a:lnTo>
                  <a:pt x="1156716" y="0"/>
                </a:lnTo>
                <a:lnTo>
                  <a:pt x="0" y="0"/>
                </a:lnTo>
                <a:lnTo>
                  <a:pt x="0" y="306324"/>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5" name="object 45"/>
          <p:cNvSpPr txBox="1"/>
          <p:nvPr/>
        </p:nvSpPr>
        <p:spPr>
          <a:xfrm>
            <a:off x="6944518" y="1980591"/>
            <a:ext cx="1156151" cy="230505"/>
          </a:xfrm>
          <a:prstGeom prst="rect">
            <a:avLst/>
          </a:prstGeom>
          <a:ln w="9525">
            <a:solidFill>
              <a:srgbClr val="0066CC"/>
            </a:solidFill>
          </a:ln>
        </p:spPr>
        <p:txBody>
          <a:bodyPr vert="horz" wrap="square" lIns="0" tIns="15863" rIns="0" bIns="0" rtlCol="0">
            <a:spAutoFit/>
          </a:bodyPr>
          <a:lstStyle/>
          <a:p>
            <a:pPr marL="73660">
              <a:lnSpc>
                <a:spcPct val="100000"/>
              </a:lnSpc>
              <a:spcBef>
                <a:spcPts val="125"/>
              </a:spcBef>
            </a:pPr>
            <a:r>
              <a:rPr sz="1400" dirty="0">
                <a:solidFill>
                  <a:srgbClr val="0066CC"/>
                </a:solidFill>
                <a:latin typeface="微软雅黑" panose="020B0503020204020204" charset="-122"/>
                <a:ea typeface="微软雅黑" panose="020B0503020204020204" charset="-122"/>
                <a:cs typeface="微软雅黑" panose="020B0503020204020204" charset="-122"/>
              </a:rPr>
              <a:t>价值销售</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6" name="object 46"/>
          <p:cNvSpPr/>
          <p:nvPr/>
        </p:nvSpPr>
        <p:spPr>
          <a:xfrm>
            <a:off x="6944518" y="2375027"/>
            <a:ext cx="1156151" cy="306488"/>
          </a:xfrm>
          <a:custGeom>
            <a:avLst/>
            <a:gdLst/>
            <a:ahLst/>
            <a:cxnLst/>
            <a:rect l="l" t="t" r="r" b="b"/>
            <a:pathLst>
              <a:path w="1156970" h="306705">
                <a:moveTo>
                  <a:pt x="0" y="306324"/>
                </a:moveTo>
                <a:lnTo>
                  <a:pt x="1156716" y="306324"/>
                </a:lnTo>
                <a:lnTo>
                  <a:pt x="1156716" y="0"/>
                </a:lnTo>
                <a:lnTo>
                  <a:pt x="0" y="0"/>
                </a:lnTo>
                <a:lnTo>
                  <a:pt x="0" y="306324"/>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7" name="object 47"/>
          <p:cNvSpPr txBox="1"/>
          <p:nvPr/>
        </p:nvSpPr>
        <p:spPr>
          <a:xfrm>
            <a:off x="6944518" y="2375027"/>
            <a:ext cx="1156151" cy="231775"/>
          </a:xfrm>
          <a:prstGeom prst="rect">
            <a:avLst/>
          </a:prstGeom>
          <a:ln w="9525">
            <a:solidFill>
              <a:srgbClr val="0066CC"/>
            </a:solidFill>
          </a:ln>
        </p:spPr>
        <p:txBody>
          <a:bodyPr vert="horz" wrap="square" lIns="0" tIns="17132" rIns="0" bIns="0" rtlCol="0">
            <a:spAutoFit/>
          </a:bodyPr>
          <a:lstStyle/>
          <a:p>
            <a:pPr marL="73660">
              <a:lnSpc>
                <a:spcPct val="100000"/>
              </a:lnSpc>
              <a:spcBef>
                <a:spcPts val="135"/>
              </a:spcBef>
            </a:pPr>
            <a:r>
              <a:rPr sz="1400" dirty="0">
                <a:solidFill>
                  <a:srgbClr val="0066CC"/>
                </a:solidFill>
                <a:latin typeface="微软雅黑" panose="020B0503020204020204" charset="-122"/>
                <a:ea typeface="微软雅黑" panose="020B0503020204020204" charset="-122"/>
                <a:cs typeface="微软雅黑" panose="020B0503020204020204" charset="-122"/>
              </a:rPr>
              <a:t>谈判</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8" name="object 48"/>
          <p:cNvSpPr/>
          <p:nvPr/>
        </p:nvSpPr>
        <p:spPr>
          <a:xfrm>
            <a:off x="6944518" y="2772509"/>
            <a:ext cx="1156151" cy="306488"/>
          </a:xfrm>
          <a:custGeom>
            <a:avLst/>
            <a:gdLst/>
            <a:ahLst/>
            <a:cxnLst/>
            <a:rect l="l" t="t" r="r" b="b"/>
            <a:pathLst>
              <a:path w="1156970" h="306705">
                <a:moveTo>
                  <a:pt x="0" y="306324"/>
                </a:moveTo>
                <a:lnTo>
                  <a:pt x="1156716" y="306324"/>
                </a:lnTo>
                <a:lnTo>
                  <a:pt x="1156716" y="0"/>
                </a:lnTo>
                <a:lnTo>
                  <a:pt x="0" y="0"/>
                </a:lnTo>
                <a:lnTo>
                  <a:pt x="0" y="306324"/>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9" name="object 49"/>
          <p:cNvSpPr txBox="1"/>
          <p:nvPr/>
        </p:nvSpPr>
        <p:spPr>
          <a:xfrm>
            <a:off x="6944518" y="2772509"/>
            <a:ext cx="1156151" cy="230505"/>
          </a:xfrm>
          <a:prstGeom prst="rect">
            <a:avLst/>
          </a:prstGeom>
          <a:ln w="9525">
            <a:solidFill>
              <a:srgbClr val="0066CC"/>
            </a:solidFill>
          </a:ln>
        </p:spPr>
        <p:txBody>
          <a:bodyPr vert="horz" wrap="square" lIns="0" tIns="15863" rIns="0" bIns="0" rtlCol="0">
            <a:spAutoFit/>
          </a:bodyPr>
          <a:lstStyle/>
          <a:p>
            <a:pPr marL="73660">
              <a:lnSpc>
                <a:spcPct val="100000"/>
              </a:lnSpc>
              <a:spcBef>
                <a:spcPts val="125"/>
              </a:spcBef>
            </a:pPr>
            <a:r>
              <a:rPr sz="1400" dirty="0">
                <a:solidFill>
                  <a:srgbClr val="0066CC"/>
                </a:solidFill>
                <a:latin typeface="微软雅黑" panose="020B0503020204020204" charset="-122"/>
                <a:ea typeface="微软雅黑" panose="020B0503020204020204" charset="-122"/>
                <a:cs typeface="微软雅黑" panose="020B0503020204020204" charset="-122"/>
              </a:rPr>
              <a:t>绩效管理</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62190" y="1195525"/>
            <a:ext cx="8650189" cy="4910150"/>
          </a:xfrm>
          <a:custGeom>
            <a:avLst/>
            <a:gdLst/>
            <a:ahLst/>
            <a:cxnLst/>
            <a:rect l="l" t="t" r="r" b="b"/>
            <a:pathLst>
              <a:path w="8656320" h="4913630">
                <a:moveTo>
                  <a:pt x="0" y="4913376"/>
                </a:moveTo>
                <a:lnTo>
                  <a:pt x="8656320" y="4913376"/>
                </a:lnTo>
                <a:lnTo>
                  <a:pt x="8656320" y="0"/>
                </a:lnTo>
                <a:lnTo>
                  <a:pt x="0" y="0"/>
                </a:lnTo>
                <a:lnTo>
                  <a:pt x="0" y="4913376"/>
                </a:lnTo>
                <a:close/>
              </a:path>
            </a:pathLst>
          </a:custGeom>
          <a:ln w="19050">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 name="object 4"/>
          <p:cNvSpPr/>
          <p:nvPr/>
        </p:nvSpPr>
        <p:spPr>
          <a:xfrm>
            <a:off x="6544964" y="2507521"/>
            <a:ext cx="99624" cy="0"/>
          </a:xfrm>
          <a:custGeom>
            <a:avLst/>
            <a:gdLst/>
            <a:ahLst/>
            <a:cxnLst/>
            <a:rect l="l" t="t" r="r" b="b"/>
            <a:pathLst>
              <a:path w="99695">
                <a:moveTo>
                  <a:pt x="0" y="0"/>
                </a:moveTo>
                <a:lnTo>
                  <a:pt x="99608"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p:nvPr/>
        </p:nvSpPr>
        <p:spPr>
          <a:xfrm>
            <a:off x="6126596" y="2438990"/>
            <a:ext cx="107238" cy="0"/>
          </a:xfrm>
          <a:custGeom>
            <a:avLst/>
            <a:gdLst/>
            <a:ahLst/>
            <a:cxnLst/>
            <a:rect l="l" t="t" r="r" b="b"/>
            <a:pathLst>
              <a:path w="107314">
                <a:moveTo>
                  <a:pt x="0" y="0"/>
                </a:moveTo>
                <a:lnTo>
                  <a:pt x="106793"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5700292" y="2376550"/>
            <a:ext cx="114219" cy="0"/>
          </a:xfrm>
          <a:custGeom>
            <a:avLst/>
            <a:gdLst/>
            <a:ahLst/>
            <a:cxnLst/>
            <a:rect l="l" t="t" r="r" b="b"/>
            <a:pathLst>
              <a:path w="114300">
                <a:moveTo>
                  <a:pt x="0" y="0"/>
                </a:moveTo>
                <a:lnTo>
                  <a:pt x="114300"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5289351" y="2317156"/>
            <a:ext cx="106604" cy="0"/>
          </a:xfrm>
          <a:custGeom>
            <a:avLst/>
            <a:gdLst/>
            <a:ahLst/>
            <a:cxnLst/>
            <a:rect l="l" t="t" r="r" b="b"/>
            <a:pathLst>
              <a:path w="106679">
                <a:moveTo>
                  <a:pt x="0" y="0"/>
                </a:moveTo>
                <a:lnTo>
                  <a:pt x="106431"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4870602" y="2248625"/>
            <a:ext cx="106604" cy="0"/>
          </a:xfrm>
          <a:custGeom>
            <a:avLst/>
            <a:gdLst/>
            <a:ahLst/>
            <a:cxnLst/>
            <a:rect l="l" t="t" r="r" b="b"/>
            <a:pathLst>
              <a:path w="106679">
                <a:moveTo>
                  <a:pt x="0" y="0"/>
                </a:moveTo>
                <a:lnTo>
                  <a:pt x="106376"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4451497" y="2186185"/>
            <a:ext cx="114219" cy="0"/>
          </a:xfrm>
          <a:custGeom>
            <a:avLst/>
            <a:gdLst/>
            <a:ahLst/>
            <a:cxnLst/>
            <a:rect l="l" t="t" r="r" b="b"/>
            <a:pathLst>
              <a:path w="114300">
                <a:moveTo>
                  <a:pt x="0" y="0"/>
                </a:moveTo>
                <a:lnTo>
                  <a:pt x="114300"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6949086" y="2507521"/>
            <a:ext cx="114219" cy="0"/>
          </a:xfrm>
          <a:custGeom>
            <a:avLst/>
            <a:gdLst/>
            <a:ahLst/>
            <a:cxnLst/>
            <a:rect l="l" t="t" r="r" b="b"/>
            <a:pathLst>
              <a:path w="114300">
                <a:moveTo>
                  <a:pt x="0" y="0"/>
                </a:moveTo>
                <a:lnTo>
                  <a:pt x="114300"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8209824" y="3891856"/>
            <a:ext cx="100893" cy="0"/>
          </a:xfrm>
          <a:custGeom>
            <a:avLst/>
            <a:gdLst/>
            <a:ahLst/>
            <a:cxnLst/>
            <a:rect l="l" t="t" r="r" b="b"/>
            <a:pathLst>
              <a:path w="100965">
                <a:moveTo>
                  <a:pt x="0" y="0"/>
                </a:moveTo>
                <a:lnTo>
                  <a:pt x="100825"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2783899" y="2064351"/>
            <a:ext cx="114219" cy="0"/>
          </a:xfrm>
          <a:custGeom>
            <a:avLst/>
            <a:gdLst/>
            <a:ahLst/>
            <a:cxnLst/>
            <a:rect l="l" t="t" r="r" b="b"/>
            <a:pathLst>
              <a:path w="114300">
                <a:moveTo>
                  <a:pt x="0" y="0"/>
                </a:moveTo>
                <a:lnTo>
                  <a:pt x="114300"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7372706" y="3511126"/>
            <a:ext cx="109777" cy="0"/>
          </a:xfrm>
          <a:custGeom>
            <a:avLst/>
            <a:gdLst/>
            <a:ahLst/>
            <a:cxnLst/>
            <a:rect l="l" t="t" r="r" b="b"/>
            <a:pathLst>
              <a:path w="109854">
                <a:moveTo>
                  <a:pt x="0" y="0"/>
                </a:moveTo>
                <a:lnTo>
                  <a:pt x="109479"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7786692" y="3511126"/>
            <a:ext cx="114219" cy="0"/>
          </a:xfrm>
          <a:custGeom>
            <a:avLst/>
            <a:gdLst/>
            <a:ahLst/>
            <a:cxnLst/>
            <a:rect l="l" t="t" r="r" b="b"/>
            <a:pathLst>
              <a:path w="114300">
                <a:moveTo>
                  <a:pt x="0" y="0"/>
                </a:moveTo>
                <a:lnTo>
                  <a:pt x="114300"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3195087" y="1936426"/>
            <a:ext cx="114219" cy="0"/>
          </a:xfrm>
          <a:custGeom>
            <a:avLst/>
            <a:gdLst/>
            <a:ahLst/>
            <a:cxnLst/>
            <a:rect l="l" t="t" r="r" b="b"/>
            <a:pathLst>
              <a:path w="114300">
                <a:moveTo>
                  <a:pt x="0" y="0"/>
                </a:moveTo>
                <a:lnTo>
                  <a:pt x="114300"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p:nvPr/>
        </p:nvSpPr>
        <p:spPr>
          <a:xfrm>
            <a:off x="3613891" y="1936426"/>
            <a:ext cx="114219" cy="0"/>
          </a:xfrm>
          <a:custGeom>
            <a:avLst/>
            <a:gdLst/>
            <a:ahLst/>
            <a:cxnLst/>
            <a:rect l="l" t="t" r="r" b="b"/>
            <a:pathLst>
              <a:path w="114300">
                <a:moveTo>
                  <a:pt x="0" y="0"/>
                </a:moveTo>
                <a:lnTo>
                  <a:pt x="114300"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p:nvPr/>
        </p:nvSpPr>
        <p:spPr>
          <a:xfrm>
            <a:off x="4043304" y="2186185"/>
            <a:ext cx="104065" cy="0"/>
          </a:xfrm>
          <a:custGeom>
            <a:avLst/>
            <a:gdLst/>
            <a:ahLst/>
            <a:cxnLst/>
            <a:rect l="l" t="t" r="r" b="b"/>
            <a:pathLst>
              <a:path w="104139">
                <a:moveTo>
                  <a:pt x="0" y="0"/>
                </a:moveTo>
                <a:lnTo>
                  <a:pt x="103681"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p:nvPr/>
        </p:nvSpPr>
        <p:spPr>
          <a:xfrm>
            <a:off x="1946293" y="2317156"/>
            <a:ext cx="114219" cy="0"/>
          </a:xfrm>
          <a:custGeom>
            <a:avLst/>
            <a:gdLst/>
            <a:ahLst/>
            <a:cxnLst/>
            <a:rect l="l" t="t" r="r" b="b"/>
            <a:pathLst>
              <a:path w="114300">
                <a:moveTo>
                  <a:pt x="0" y="0"/>
                </a:moveTo>
                <a:lnTo>
                  <a:pt x="114300"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p:nvPr/>
        </p:nvSpPr>
        <p:spPr>
          <a:xfrm>
            <a:off x="2365096" y="2186185"/>
            <a:ext cx="114219" cy="0"/>
          </a:xfrm>
          <a:custGeom>
            <a:avLst/>
            <a:gdLst/>
            <a:ahLst/>
            <a:cxnLst/>
            <a:rect l="l" t="t" r="r" b="b"/>
            <a:pathLst>
              <a:path w="114300">
                <a:moveTo>
                  <a:pt x="0" y="0"/>
                </a:moveTo>
                <a:lnTo>
                  <a:pt x="114300"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p:nvPr/>
        </p:nvSpPr>
        <p:spPr>
          <a:xfrm>
            <a:off x="1527489" y="2438990"/>
            <a:ext cx="114219" cy="0"/>
          </a:xfrm>
          <a:custGeom>
            <a:avLst/>
            <a:gdLst/>
            <a:ahLst/>
            <a:cxnLst/>
            <a:rect l="l" t="t" r="r" b="b"/>
            <a:pathLst>
              <a:path w="114300">
                <a:moveTo>
                  <a:pt x="0" y="0"/>
                </a:moveTo>
                <a:lnTo>
                  <a:pt x="114300"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21" name="object 21"/>
          <p:cNvSpPr/>
          <p:nvPr/>
        </p:nvSpPr>
        <p:spPr>
          <a:xfrm>
            <a:off x="1114777" y="2566915"/>
            <a:ext cx="114219" cy="0"/>
          </a:xfrm>
          <a:custGeom>
            <a:avLst/>
            <a:gdLst/>
            <a:ahLst/>
            <a:cxnLst/>
            <a:rect l="l" t="t" r="r" b="b"/>
            <a:pathLst>
              <a:path w="114300">
                <a:moveTo>
                  <a:pt x="0" y="0"/>
                </a:moveTo>
                <a:lnTo>
                  <a:pt x="114300"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695975" y="3071002"/>
            <a:ext cx="114219" cy="0"/>
          </a:xfrm>
          <a:custGeom>
            <a:avLst/>
            <a:gdLst/>
            <a:ahLst/>
            <a:cxnLst/>
            <a:rect l="l" t="t" r="r" b="b"/>
            <a:pathLst>
              <a:path w="114300">
                <a:moveTo>
                  <a:pt x="0" y="0"/>
                </a:moveTo>
                <a:lnTo>
                  <a:pt x="114300"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p:nvPr/>
        </p:nvSpPr>
        <p:spPr>
          <a:xfrm>
            <a:off x="399619" y="3073691"/>
            <a:ext cx="304584" cy="1267831"/>
          </a:xfrm>
          <a:custGeom>
            <a:avLst/>
            <a:gdLst/>
            <a:ahLst/>
            <a:cxnLst/>
            <a:rect l="l" t="t" r="r" b="b"/>
            <a:pathLst>
              <a:path w="304800" h="1268729">
                <a:moveTo>
                  <a:pt x="0" y="1268476"/>
                </a:moveTo>
                <a:lnTo>
                  <a:pt x="304616" y="1268476"/>
                </a:lnTo>
                <a:lnTo>
                  <a:pt x="304616" y="0"/>
                </a:lnTo>
                <a:lnTo>
                  <a:pt x="0" y="0"/>
                </a:lnTo>
                <a:lnTo>
                  <a:pt x="0" y="126847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p:nvPr/>
        </p:nvSpPr>
        <p:spPr>
          <a:xfrm>
            <a:off x="399619" y="3073691"/>
            <a:ext cx="304584" cy="1267831"/>
          </a:xfrm>
          <a:custGeom>
            <a:avLst/>
            <a:gdLst/>
            <a:ahLst/>
            <a:cxnLst/>
            <a:rect l="l" t="t" r="r" b="b"/>
            <a:pathLst>
              <a:path w="304800" h="1268729">
                <a:moveTo>
                  <a:pt x="0" y="1268476"/>
                </a:moveTo>
                <a:lnTo>
                  <a:pt x="304616" y="1268476"/>
                </a:lnTo>
                <a:lnTo>
                  <a:pt x="304616" y="0"/>
                </a:lnTo>
                <a:lnTo>
                  <a:pt x="0" y="0"/>
                </a:lnTo>
                <a:lnTo>
                  <a:pt x="0" y="1268476"/>
                </a:lnTo>
                <a:close/>
              </a:path>
            </a:pathLst>
          </a:custGeom>
          <a:ln w="9509">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5" name="object 25"/>
          <p:cNvSpPr/>
          <p:nvPr/>
        </p:nvSpPr>
        <p:spPr>
          <a:xfrm>
            <a:off x="818051" y="2568458"/>
            <a:ext cx="304584" cy="505737"/>
          </a:xfrm>
          <a:custGeom>
            <a:avLst/>
            <a:gdLst/>
            <a:ahLst/>
            <a:cxnLst/>
            <a:rect l="l" t="t" r="r" b="b"/>
            <a:pathLst>
              <a:path w="304800" h="506094">
                <a:moveTo>
                  <a:pt x="0" y="505616"/>
                </a:moveTo>
                <a:lnTo>
                  <a:pt x="304616" y="505616"/>
                </a:lnTo>
                <a:lnTo>
                  <a:pt x="304616" y="0"/>
                </a:lnTo>
                <a:lnTo>
                  <a:pt x="0" y="0"/>
                </a:lnTo>
                <a:lnTo>
                  <a:pt x="0" y="50561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6" name="object 26"/>
          <p:cNvSpPr/>
          <p:nvPr/>
        </p:nvSpPr>
        <p:spPr>
          <a:xfrm>
            <a:off x="818051" y="2568458"/>
            <a:ext cx="304584" cy="505737"/>
          </a:xfrm>
          <a:custGeom>
            <a:avLst/>
            <a:gdLst/>
            <a:ahLst/>
            <a:cxnLst/>
            <a:rect l="l" t="t" r="r" b="b"/>
            <a:pathLst>
              <a:path w="304800" h="506094">
                <a:moveTo>
                  <a:pt x="0" y="505616"/>
                </a:moveTo>
                <a:lnTo>
                  <a:pt x="304616" y="505616"/>
                </a:lnTo>
                <a:lnTo>
                  <a:pt x="304616" y="0"/>
                </a:lnTo>
                <a:lnTo>
                  <a:pt x="0" y="0"/>
                </a:lnTo>
                <a:lnTo>
                  <a:pt x="0" y="505616"/>
                </a:lnTo>
                <a:close/>
              </a:path>
            </a:pathLst>
          </a:custGeom>
          <a:ln w="9507">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7" name="object 27"/>
          <p:cNvSpPr/>
          <p:nvPr/>
        </p:nvSpPr>
        <p:spPr>
          <a:xfrm>
            <a:off x="1236800" y="2444676"/>
            <a:ext cx="304584" cy="124372"/>
          </a:xfrm>
          <a:custGeom>
            <a:avLst/>
            <a:gdLst/>
            <a:ahLst/>
            <a:cxnLst/>
            <a:rect l="l" t="t" r="r" b="b"/>
            <a:pathLst>
              <a:path w="304800" h="124460">
                <a:moveTo>
                  <a:pt x="0" y="123869"/>
                </a:moveTo>
                <a:lnTo>
                  <a:pt x="304616" y="123869"/>
                </a:lnTo>
                <a:lnTo>
                  <a:pt x="304616" y="0"/>
                </a:lnTo>
                <a:lnTo>
                  <a:pt x="0" y="0"/>
                </a:lnTo>
                <a:lnTo>
                  <a:pt x="0" y="12386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p:nvPr/>
        </p:nvSpPr>
        <p:spPr>
          <a:xfrm>
            <a:off x="1236800" y="2444676"/>
            <a:ext cx="304584" cy="124372"/>
          </a:xfrm>
          <a:custGeom>
            <a:avLst/>
            <a:gdLst/>
            <a:ahLst/>
            <a:cxnLst/>
            <a:rect l="l" t="t" r="r" b="b"/>
            <a:pathLst>
              <a:path w="304800" h="124460">
                <a:moveTo>
                  <a:pt x="0" y="123869"/>
                </a:moveTo>
                <a:lnTo>
                  <a:pt x="304616" y="123869"/>
                </a:lnTo>
                <a:lnTo>
                  <a:pt x="304616" y="0"/>
                </a:lnTo>
                <a:lnTo>
                  <a:pt x="0" y="0"/>
                </a:lnTo>
                <a:lnTo>
                  <a:pt x="0" y="123869"/>
                </a:lnTo>
                <a:close/>
              </a:path>
            </a:pathLst>
          </a:custGeom>
          <a:ln w="950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9" name="object 29"/>
          <p:cNvSpPr/>
          <p:nvPr/>
        </p:nvSpPr>
        <p:spPr>
          <a:xfrm>
            <a:off x="1655232" y="2320514"/>
            <a:ext cx="295066" cy="124372"/>
          </a:xfrm>
          <a:custGeom>
            <a:avLst/>
            <a:gdLst/>
            <a:ahLst/>
            <a:cxnLst/>
            <a:rect l="l" t="t" r="r" b="b"/>
            <a:pathLst>
              <a:path w="295275" h="124460">
                <a:moveTo>
                  <a:pt x="0" y="124186"/>
                </a:moveTo>
                <a:lnTo>
                  <a:pt x="295107" y="124186"/>
                </a:lnTo>
                <a:lnTo>
                  <a:pt x="295107" y="0"/>
                </a:lnTo>
                <a:lnTo>
                  <a:pt x="0" y="0"/>
                </a:lnTo>
                <a:lnTo>
                  <a:pt x="0" y="12418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0" name="object 30"/>
          <p:cNvSpPr/>
          <p:nvPr/>
        </p:nvSpPr>
        <p:spPr>
          <a:xfrm>
            <a:off x="1655232" y="2320514"/>
            <a:ext cx="295066" cy="124372"/>
          </a:xfrm>
          <a:custGeom>
            <a:avLst/>
            <a:gdLst/>
            <a:ahLst/>
            <a:cxnLst/>
            <a:rect l="l" t="t" r="r" b="b"/>
            <a:pathLst>
              <a:path w="295275" h="124460">
                <a:moveTo>
                  <a:pt x="0" y="124186"/>
                </a:moveTo>
                <a:lnTo>
                  <a:pt x="295107" y="124186"/>
                </a:lnTo>
                <a:lnTo>
                  <a:pt x="295107" y="0"/>
                </a:lnTo>
                <a:lnTo>
                  <a:pt x="0" y="0"/>
                </a:lnTo>
                <a:lnTo>
                  <a:pt x="0" y="124186"/>
                </a:lnTo>
                <a:close/>
              </a:path>
            </a:pathLst>
          </a:custGeom>
          <a:ln w="950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1" name="object 31"/>
          <p:cNvSpPr/>
          <p:nvPr/>
        </p:nvSpPr>
        <p:spPr>
          <a:xfrm>
            <a:off x="2064225" y="2196732"/>
            <a:ext cx="305219" cy="124372"/>
          </a:xfrm>
          <a:custGeom>
            <a:avLst/>
            <a:gdLst/>
            <a:ahLst/>
            <a:cxnLst/>
            <a:rect l="l" t="t" r="r" b="b"/>
            <a:pathLst>
              <a:path w="305435" h="124460">
                <a:moveTo>
                  <a:pt x="0" y="123869"/>
                </a:moveTo>
                <a:lnTo>
                  <a:pt x="304933" y="123869"/>
                </a:lnTo>
                <a:lnTo>
                  <a:pt x="304933" y="0"/>
                </a:lnTo>
                <a:lnTo>
                  <a:pt x="0" y="0"/>
                </a:lnTo>
                <a:lnTo>
                  <a:pt x="0" y="12386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2" name="object 32"/>
          <p:cNvSpPr/>
          <p:nvPr/>
        </p:nvSpPr>
        <p:spPr>
          <a:xfrm>
            <a:off x="2064225" y="2196732"/>
            <a:ext cx="305219" cy="124372"/>
          </a:xfrm>
          <a:custGeom>
            <a:avLst/>
            <a:gdLst/>
            <a:ahLst/>
            <a:cxnLst/>
            <a:rect l="l" t="t" r="r" b="b"/>
            <a:pathLst>
              <a:path w="305435" h="124460">
                <a:moveTo>
                  <a:pt x="0" y="123869"/>
                </a:moveTo>
                <a:lnTo>
                  <a:pt x="304933" y="123869"/>
                </a:lnTo>
                <a:lnTo>
                  <a:pt x="304933" y="0"/>
                </a:lnTo>
                <a:lnTo>
                  <a:pt x="0" y="0"/>
                </a:lnTo>
                <a:lnTo>
                  <a:pt x="0" y="123869"/>
                </a:lnTo>
                <a:close/>
              </a:path>
            </a:pathLst>
          </a:custGeom>
          <a:ln w="950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3" name="object 33"/>
          <p:cNvSpPr/>
          <p:nvPr/>
        </p:nvSpPr>
        <p:spPr>
          <a:xfrm>
            <a:off x="2482973" y="2063516"/>
            <a:ext cx="304584" cy="133890"/>
          </a:xfrm>
          <a:custGeom>
            <a:avLst/>
            <a:gdLst/>
            <a:ahLst/>
            <a:cxnLst/>
            <a:rect l="l" t="t" r="r" b="b"/>
            <a:pathLst>
              <a:path w="304800" h="133985">
                <a:moveTo>
                  <a:pt x="0" y="133373"/>
                </a:moveTo>
                <a:lnTo>
                  <a:pt x="304616" y="133373"/>
                </a:lnTo>
                <a:lnTo>
                  <a:pt x="304616" y="0"/>
                </a:lnTo>
                <a:lnTo>
                  <a:pt x="0" y="0"/>
                </a:lnTo>
                <a:lnTo>
                  <a:pt x="0" y="133373"/>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4" name="object 34"/>
          <p:cNvSpPr/>
          <p:nvPr/>
        </p:nvSpPr>
        <p:spPr>
          <a:xfrm>
            <a:off x="2482973" y="2063516"/>
            <a:ext cx="304584" cy="133890"/>
          </a:xfrm>
          <a:custGeom>
            <a:avLst/>
            <a:gdLst/>
            <a:ahLst/>
            <a:cxnLst/>
            <a:rect l="l" t="t" r="r" b="b"/>
            <a:pathLst>
              <a:path w="304800" h="133985">
                <a:moveTo>
                  <a:pt x="0" y="133373"/>
                </a:moveTo>
                <a:lnTo>
                  <a:pt x="304616" y="133373"/>
                </a:lnTo>
                <a:lnTo>
                  <a:pt x="304616" y="0"/>
                </a:lnTo>
                <a:lnTo>
                  <a:pt x="0" y="0"/>
                </a:lnTo>
                <a:lnTo>
                  <a:pt x="0" y="133373"/>
                </a:lnTo>
                <a:close/>
              </a:path>
            </a:pathLst>
          </a:custGeom>
          <a:ln w="950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5" name="object 35"/>
          <p:cNvSpPr/>
          <p:nvPr/>
        </p:nvSpPr>
        <p:spPr>
          <a:xfrm>
            <a:off x="2901343" y="1939354"/>
            <a:ext cx="305219" cy="124372"/>
          </a:xfrm>
          <a:custGeom>
            <a:avLst/>
            <a:gdLst/>
            <a:ahLst/>
            <a:cxnLst/>
            <a:rect l="l" t="t" r="r" b="b"/>
            <a:pathLst>
              <a:path w="305435" h="124460">
                <a:moveTo>
                  <a:pt x="0" y="124186"/>
                </a:moveTo>
                <a:lnTo>
                  <a:pt x="304933" y="124186"/>
                </a:lnTo>
                <a:lnTo>
                  <a:pt x="304933" y="0"/>
                </a:lnTo>
                <a:lnTo>
                  <a:pt x="0" y="0"/>
                </a:lnTo>
                <a:lnTo>
                  <a:pt x="0" y="12418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6" name="object 36"/>
          <p:cNvSpPr/>
          <p:nvPr/>
        </p:nvSpPr>
        <p:spPr>
          <a:xfrm>
            <a:off x="2901343" y="1939354"/>
            <a:ext cx="305219" cy="124372"/>
          </a:xfrm>
          <a:custGeom>
            <a:avLst/>
            <a:gdLst/>
            <a:ahLst/>
            <a:cxnLst/>
            <a:rect l="l" t="t" r="r" b="b"/>
            <a:pathLst>
              <a:path w="305435" h="124460">
                <a:moveTo>
                  <a:pt x="0" y="124186"/>
                </a:moveTo>
                <a:lnTo>
                  <a:pt x="304933" y="124186"/>
                </a:lnTo>
                <a:lnTo>
                  <a:pt x="304933" y="0"/>
                </a:lnTo>
                <a:lnTo>
                  <a:pt x="0" y="0"/>
                </a:lnTo>
                <a:lnTo>
                  <a:pt x="0" y="124186"/>
                </a:lnTo>
                <a:close/>
              </a:path>
            </a:pathLst>
          </a:custGeom>
          <a:ln w="950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7" name="object 37"/>
          <p:cNvSpPr/>
          <p:nvPr/>
        </p:nvSpPr>
        <p:spPr>
          <a:xfrm>
            <a:off x="3320091" y="1939329"/>
            <a:ext cx="304584" cy="2402407"/>
          </a:xfrm>
          <a:custGeom>
            <a:avLst/>
            <a:gdLst/>
            <a:ahLst/>
            <a:cxnLst/>
            <a:rect l="l" t="t" r="r" b="b"/>
            <a:pathLst>
              <a:path w="304800" h="2404110">
                <a:moveTo>
                  <a:pt x="0" y="2403643"/>
                </a:moveTo>
                <a:lnTo>
                  <a:pt x="304616" y="2403643"/>
                </a:lnTo>
                <a:lnTo>
                  <a:pt x="304616" y="0"/>
                </a:lnTo>
                <a:lnTo>
                  <a:pt x="0" y="0"/>
                </a:lnTo>
                <a:lnTo>
                  <a:pt x="0" y="2403643"/>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8" name="object 38"/>
          <p:cNvSpPr/>
          <p:nvPr/>
        </p:nvSpPr>
        <p:spPr>
          <a:xfrm>
            <a:off x="3320091" y="1939329"/>
            <a:ext cx="304584" cy="2402407"/>
          </a:xfrm>
          <a:custGeom>
            <a:avLst/>
            <a:gdLst/>
            <a:ahLst/>
            <a:cxnLst/>
            <a:rect l="l" t="t" r="r" b="b"/>
            <a:pathLst>
              <a:path w="304800" h="2404110">
                <a:moveTo>
                  <a:pt x="0" y="2403643"/>
                </a:moveTo>
                <a:lnTo>
                  <a:pt x="304616" y="2403643"/>
                </a:lnTo>
                <a:lnTo>
                  <a:pt x="304616" y="0"/>
                </a:lnTo>
                <a:lnTo>
                  <a:pt x="0" y="0"/>
                </a:lnTo>
                <a:lnTo>
                  <a:pt x="0" y="2403643"/>
                </a:lnTo>
                <a:close/>
              </a:path>
            </a:pathLst>
          </a:custGeom>
          <a:ln w="9509">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9" name="object 39"/>
          <p:cNvSpPr/>
          <p:nvPr/>
        </p:nvSpPr>
        <p:spPr>
          <a:xfrm>
            <a:off x="3738587" y="1939418"/>
            <a:ext cx="305219" cy="257627"/>
          </a:xfrm>
          <a:custGeom>
            <a:avLst/>
            <a:gdLst/>
            <a:ahLst/>
            <a:cxnLst/>
            <a:rect l="l" t="t" r="r" b="b"/>
            <a:pathLst>
              <a:path w="305435" h="257810">
                <a:moveTo>
                  <a:pt x="0" y="257560"/>
                </a:moveTo>
                <a:lnTo>
                  <a:pt x="304933" y="257560"/>
                </a:lnTo>
                <a:lnTo>
                  <a:pt x="304933" y="0"/>
                </a:lnTo>
                <a:lnTo>
                  <a:pt x="0" y="0"/>
                </a:lnTo>
                <a:lnTo>
                  <a:pt x="0" y="2575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0" name="object 40"/>
          <p:cNvSpPr/>
          <p:nvPr/>
        </p:nvSpPr>
        <p:spPr>
          <a:xfrm>
            <a:off x="3738587" y="1939418"/>
            <a:ext cx="305219" cy="257627"/>
          </a:xfrm>
          <a:custGeom>
            <a:avLst/>
            <a:gdLst/>
            <a:ahLst/>
            <a:cxnLst/>
            <a:rect l="l" t="t" r="r" b="b"/>
            <a:pathLst>
              <a:path w="305435" h="257810">
                <a:moveTo>
                  <a:pt x="0" y="257560"/>
                </a:moveTo>
                <a:lnTo>
                  <a:pt x="304933" y="257560"/>
                </a:lnTo>
                <a:lnTo>
                  <a:pt x="304933" y="0"/>
                </a:lnTo>
                <a:lnTo>
                  <a:pt x="0" y="0"/>
                </a:lnTo>
                <a:lnTo>
                  <a:pt x="0" y="257560"/>
                </a:lnTo>
                <a:close/>
              </a:path>
            </a:pathLst>
          </a:custGeom>
          <a:ln w="9506">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1" name="object 41"/>
          <p:cNvSpPr/>
          <p:nvPr/>
        </p:nvSpPr>
        <p:spPr>
          <a:xfrm>
            <a:off x="4157336" y="2196770"/>
            <a:ext cx="304584" cy="2144780"/>
          </a:xfrm>
          <a:custGeom>
            <a:avLst/>
            <a:gdLst/>
            <a:ahLst/>
            <a:cxnLst/>
            <a:rect l="l" t="t" r="r" b="b"/>
            <a:pathLst>
              <a:path w="304800" h="2146300">
                <a:moveTo>
                  <a:pt x="0" y="2146019"/>
                </a:moveTo>
                <a:lnTo>
                  <a:pt x="304616" y="2146019"/>
                </a:lnTo>
                <a:lnTo>
                  <a:pt x="304616" y="0"/>
                </a:lnTo>
                <a:lnTo>
                  <a:pt x="0" y="0"/>
                </a:lnTo>
                <a:lnTo>
                  <a:pt x="0" y="2146019"/>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2" name="object 42"/>
          <p:cNvSpPr/>
          <p:nvPr/>
        </p:nvSpPr>
        <p:spPr>
          <a:xfrm>
            <a:off x="4157336" y="2196770"/>
            <a:ext cx="304584" cy="2144780"/>
          </a:xfrm>
          <a:custGeom>
            <a:avLst/>
            <a:gdLst/>
            <a:ahLst/>
            <a:cxnLst/>
            <a:rect l="l" t="t" r="r" b="b"/>
            <a:pathLst>
              <a:path w="304800" h="2146300">
                <a:moveTo>
                  <a:pt x="0" y="2146019"/>
                </a:moveTo>
                <a:lnTo>
                  <a:pt x="304616" y="2146019"/>
                </a:lnTo>
                <a:lnTo>
                  <a:pt x="304616" y="0"/>
                </a:lnTo>
                <a:lnTo>
                  <a:pt x="0" y="0"/>
                </a:lnTo>
                <a:lnTo>
                  <a:pt x="0" y="2146019"/>
                </a:lnTo>
                <a:close/>
              </a:path>
            </a:pathLst>
          </a:custGeom>
          <a:ln w="9509">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3" name="object 43"/>
          <p:cNvSpPr/>
          <p:nvPr/>
        </p:nvSpPr>
        <p:spPr>
          <a:xfrm>
            <a:off x="4575705" y="2225382"/>
            <a:ext cx="295066" cy="0"/>
          </a:xfrm>
          <a:custGeom>
            <a:avLst/>
            <a:gdLst/>
            <a:ahLst/>
            <a:cxnLst/>
            <a:rect l="l" t="t" r="r" b="b"/>
            <a:pathLst>
              <a:path w="295275">
                <a:moveTo>
                  <a:pt x="0" y="0"/>
                </a:moveTo>
                <a:lnTo>
                  <a:pt x="295107" y="0"/>
                </a:lnTo>
              </a:path>
            </a:pathLst>
          </a:custGeom>
          <a:ln w="57341">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4" name="object 44"/>
          <p:cNvSpPr/>
          <p:nvPr/>
        </p:nvSpPr>
        <p:spPr>
          <a:xfrm>
            <a:off x="4575705" y="2196732"/>
            <a:ext cx="295066" cy="57744"/>
          </a:xfrm>
          <a:custGeom>
            <a:avLst/>
            <a:gdLst/>
            <a:ahLst/>
            <a:cxnLst/>
            <a:rect l="l" t="t" r="r" b="b"/>
            <a:pathLst>
              <a:path w="295275" h="57785">
                <a:moveTo>
                  <a:pt x="0" y="57341"/>
                </a:moveTo>
                <a:lnTo>
                  <a:pt x="295107" y="57341"/>
                </a:lnTo>
                <a:lnTo>
                  <a:pt x="295107" y="0"/>
                </a:lnTo>
                <a:lnTo>
                  <a:pt x="0" y="0"/>
                </a:lnTo>
                <a:lnTo>
                  <a:pt x="0" y="57341"/>
                </a:lnTo>
                <a:close/>
              </a:path>
            </a:pathLst>
          </a:custGeom>
          <a:ln w="950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5" name="object 45"/>
          <p:cNvSpPr/>
          <p:nvPr/>
        </p:nvSpPr>
        <p:spPr>
          <a:xfrm>
            <a:off x="4984951" y="2287273"/>
            <a:ext cx="304584" cy="0"/>
          </a:xfrm>
          <a:custGeom>
            <a:avLst/>
            <a:gdLst/>
            <a:ahLst/>
            <a:cxnLst/>
            <a:rect l="l" t="t" r="r" b="b"/>
            <a:pathLst>
              <a:path w="304800">
                <a:moveTo>
                  <a:pt x="0" y="0"/>
                </a:moveTo>
                <a:lnTo>
                  <a:pt x="304616" y="0"/>
                </a:lnTo>
              </a:path>
            </a:pathLst>
          </a:custGeom>
          <a:ln w="66528">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6" name="object 46"/>
          <p:cNvSpPr/>
          <p:nvPr/>
        </p:nvSpPr>
        <p:spPr>
          <a:xfrm>
            <a:off x="4984951" y="2254033"/>
            <a:ext cx="304584" cy="66628"/>
          </a:xfrm>
          <a:custGeom>
            <a:avLst/>
            <a:gdLst/>
            <a:ahLst/>
            <a:cxnLst/>
            <a:rect l="l" t="t" r="r" b="b"/>
            <a:pathLst>
              <a:path w="304800" h="66675">
                <a:moveTo>
                  <a:pt x="0" y="66528"/>
                </a:moveTo>
                <a:lnTo>
                  <a:pt x="304616" y="66528"/>
                </a:lnTo>
                <a:lnTo>
                  <a:pt x="304616" y="0"/>
                </a:lnTo>
                <a:lnTo>
                  <a:pt x="0" y="0"/>
                </a:lnTo>
                <a:lnTo>
                  <a:pt x="0" y="66528"/>
                </a:lnTo>
                <a:close/>
              </a:path>
            </a:pathLst>
          </a:custGeom>
          <a:ln w="950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7" name="object 47"/>
          <p:cNvSpPr/>
          <p:nvPr/>
        </p:nvSpPr>
        <p:spPr>
          <a:xfrm>
            <a:off x="5403446" y="2349227"/>
            <a:ext cx="304584" cy="0"/>
          </a:xfrm>
          <a:custGeom>
            <a:avLst/>
            <a:gdLst/>
            <a:ahLst/>
            <a:cxnLst/>
            <a:rect l="l" t="t" r="r" b="b"/>
            <a:pathLst>
              <a:path w="304800">
                <a:moveTo>
                  <a:pt x="0" y="0"/>
                </a:moveTo>
                <a:lnTo>
                  <a:pt x="304616" y="0"/>
                </a:lnTo>
              </a:path>
            </a:pathLst>
          </a:custGeom>
          <a:ln w="57341">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8" name="object 48"/>
          <p:cNvSpPr/>
          <p:nvPr/>
        </p:nvSpPr>
        <p:spPr>
          <a:xfrm>
            <a:off x="5403446" y="2320578"/>
            <a:ext cx="304584" cy="57744"/>
          </a:xfrm>
          <a:custGeom>
            <a:avLst/>
            <a:gdLst/>
            <a:ahLst/>
            <a:cxnLst/>
            <a:rect l="l" t="t" r="r" b="b"/>
            <a:pathLst>
              <a:path w="304800" h="57785">
                <a:moveTo>
                  <a:pt x="0" y="57341"/>
                </a:moveTo>
                <a:lnTo>
                  <a:pt x="304616" y="57341"/>
                </a:lnTo>
                <a:lnTo>
                  <a:pt x="304616" y="0"/>
                </a:lnTo>
                <a:lnTo>
                  <a:pt x="0" y="0"/>
                </a:lnTo>
                <a:lnTo>
                  <a:pt x="0" y="57341"/>
                </a:lnTo>
                <a:close/>
              </a:path>
            </a:pathLst>
          </a:custGeom>
          <a:ln w="950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9" name="object 49"/>
          <p:cNvSpPr/>
          <p:nvPr/>
        </p:nvSpPr>
        <p:spPr>
          <a:xfrm>
            <a:off x="5822195" y="2411213"/>
            <a:ext cx="304584" cy="0"/>
          </a:xfrm>
          <a:custGeom>
            <a:avLst/>
            <a:gdLst/>
            <a:ahLst/>
            <a:cxnLst/>
            <a:rect l="l" t="t" r="r" b="b"/>
            <a:pathLst>
              <a:path w="304800">
                <a:moveTo>
                  <a:pt x="0" y="0"/>
                </a:moveTo>
                <a:lnTo>
                  <a:pt x="304616" y="0"/>
                </a:lnTo>
              </a:path>
            </a:pathLst>
          </a:custGeom>
          <a:ln w="66845">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0" name="object 50"/>
          <p:cNvSpPr/>
          <p:nvPr/>
        </p:nvSpPr>
        <p:spPr>
          <a:xfrm>
            <a:off x="5822195" y="2377815"/>
            <a:ext cx="304584" cy="67262"/>
          </a:xfrm>
          <a:custGeom>
            <a:avLst/>
            <a:gdLst/>
            <a:ahLst/>
            <a:cxnLst/>
            <a:rect l="l" t="t" r="r" b="b"/>
            <a:pathLst>
              <a:path w="304800" h="67310">
                <a:moveTo>
                  <a:pt x="0" y="66845"/>
                </a:moveTo>
                <a:lnTo>
                  <a:pt x="304616" y="66845"/>
                </a:lnTo>
                <a:lnTo>
                  <a:pt x="304616" y="0"/>
                </a:lnTo>
                <a:lnTo>
                  <a:pt x="0" y="0"/>
                </a:lnTo>
                <a:lnTo>
                  <a:pt x="0" y="66845"/>
                </a:lnTo>
                <a:close/>
              </a:path>
            </a:pathLst>
          </a:custGeom>
          <a:ln w="950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1" name="object 51"/>
          <p:cNvSpPr/>
          <p:nvPr/>
        </p:nvSpPr>
        <p:spPr>
          <a:xfrm>
            <a:off x="6240564" y="2478075"/>
            <a:ext cx="304584" cy="0"/>
          </a:xfrm>
          <a:custGeom>
            <a:avLst/>
            <a:gdLst/>
            <a:ahLst/>
            <a:cxnLst/>
            <a:rect l="l" t="t" r="r" b="b"/>
            <a:pathLst>
              <a:path w="304800">
                <a:moveTo>
                  <a:pt x="0" y="0"/>
                </a:moveTo>
                <a:lnTo>
                  <a:pt x="304616" y="0"/>
                </a:lnTo>
              </a:path>
            </a:pathLst>
          </a:custGeom>
          <a:ln w="66845">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2" name="object 52"/>
          <p:cNvSpPr/>
          <p:nvPr/>
        </p:nvSpPr>
        <p:spPr>
          <a:xfrm>
            <a:off x="6240564" y="2444676"/>
            <a:ext cx="304584" cy="67262"/>
          </a:xfrm>
          <a:custGeom>
            <a:avLst/>
            <a:gdLst/>
            <a:ahLst/>
            <a:cxnLst/>
            <a:rect l="l" t="t" r="r" b="b"/>
            <a:pathLst>
              <a:path w="304800" h="67310">
                <a:moveTo>
                  <a:pt x="0" y="66845"/>
                </a:moveTo>
                <a:lnTo>
                  <a:pt x="304616" y="66845"/>
                </a:lnTo>
                <a:lnTo>
                  <a:pt x="304616" y="0"/>
                </a:lnTo>
                <a:lnTo>
                  <a:pt x="0" y="0"/>
                </a:lnTo>
                <a:lnTo>
                  <a:pt x="0" y="66845"/>
                </a:lnTo>
                <a:close/>
              </a:path>
            </a:pathLst>
          </a:custGeom>
          <a:ln w="950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3" name="object 53"/>
          <p:cNvSpPr/>
          <p:nvPr/>
        </p:nvSpPr>
        <p:spPr>
          <a:xfrm>
            <a:off x="6659312" y="2511448"/>
            <a:ext cx="304584" cy="1830042"/>
          </a:xfrm>
          <a:custGeom>
            <a:avLst/>
            <a:gdLst/>
            <a:ahLst/>
            <a:cxnLst/>
            <a:rect l="l" t="t" r="r" b="b"/>
            <a:pathLst>
              <a:path w="304800" h="1831339">
                <a:moveTo>
                  <a:pt x="0" y="1831118"/>
                </a:moveTo>
                <a:lnTo>
                  <a:pt x="304616" y="1831118"/>
                </a:lnTo>
                <a:lnTo>
                  <a:pt x="304616" y="0"/>
                </a:lnTo>
                <a:lnTo>
                  <a:pt x="0" y="0"/>
                </a:lnTo>
                <a:lnTo>
                  <a:pt x="0" y="1831118"/>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4" name="object 54"/>
          <p:cNvSpPr/>
          <p:nvPr/>
        </p:nvSpPr>
        <p:spPr>
          <a:xfrm>
            <a:off x="6659312" y="2511448"/>
            <a:ext cx="304584" cy="1830042"/>
          </a:xfrm>
          <a:custGeom>
            <a:avLst/>
            <a:gdLst/>
            <a:ahLst/>
            <a:cxnLst/>
            <a:rect l="l" t="t" r="r" b="b"/>
            <a:pathLst>
              <a:path w="304800" h="1831339">
                <a:moveTo>
                  <a:pt x="0" y="1831118"/>
                </a:moveTo>
                <a:lnTo>
                  <a:pt x="304616" y="1831118"/>
                </a:lnTo>
                <a:lnTo>
                  <a:pt x="304616" y="0"/>
                </a:lnTo>
                <a:lnTo>
                  <a:pt x="0" y="0"/>
                </a:lnTo>
                <a:lnTo>
                  <a:pt x="0" y="1831118"/>
                </a:lnTo>
                <a:close/>
              </a:path>
            </a:pathLst>
          </a:custGeom>
          <a:ln w="9509">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5" name="object 55"/>
          <p:cNvSpPr/>
          <p:nvPr/>
        </p:nvSpPr>
        <p:spPr>
          <a:xfrm>
            <a:off x="7077809" y="2511448"/>
            <a:ext cx="295066" cy="1010203"/>
          </a:xfrm>
          <a:custGeom>
            <a:avLst/>
            <a:gdLst/>
            <a:ahLst/>
            <a:cxnLst/>
            <a:rect l="l" t="t" r="r" b="b"/>
            <a:pathLst>
              <a:path w="295275" h="1010920">
                <a:moveTo>
                  <a:pt x="0" y="1010916"/>
                </a:moveTo>
                <a:lnTo>
                  <a:pt x="295107" y="1010916"/>
                </a:lnTo>
                <a:lnTo>
                  <a:pt x="295107" y="0"/>
                </a:lnTo>
                <a:lnTo>
                  <a:pt x="0" y="0"/>
                </a:lnTo>
                <a:lnTo>
                  <a:pt x="0" y="101091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6" name="object 56"/>
          <p:cNvSpPr/>
          <p:nvPr/>
        </p:nvSpPr>
        <p:spPr>
          <a:xfrm>
            <a:off x="7077809" y="2511448"/>
            <a:ext cx="295066" cy="1010203"/>
          </a:xfrm>
          <a:custGeom>
            <a:avLst/>
            <a:gdLst/>
            <a:ahLst/>
            <a:cxnLst/>
            <a:rect l="l" t="t" r="r" b="b"/>
            <a:pathLst>
              <a:path w="295275" h="1010920">
                <a:moveTo>
                  <a:pt x="0" y="1010916"/>
                </a:moveTo>
                <a:lnTo>
                  <a:pt x="295107" y="1010916"/>
                </a:lnTo>
                <a:lnTo>
                  <a:pt x="295107" y="0"/>
                </a:lnTo>
                <a:lnTo>
                  <a:pt x="0" y="0"/>
                </a:lnTo>
                <a:lnTo>
                  <a:pt x="0" y="1010916"/>
                </a:lnTo>
                <a:close/>
              </a:path>
            </a:pathLst>
          </a:custGeom>
          <a:ln w="9508">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7" name="object 57"/>
          <p:cNvSpPr/>
          <p:nvPr/>
        </p:nvSpPr>
        <p:spPr>
          <a:xfrm>
            <a:off x="7487055" y="3521649"/>
            <a:ext cx="304584" cy="819838"/>
          </a:xfrm>
          <a:custGeom>
            <a:avLst/>
            <a:gdLst/>
            <a:ahLst/>
            <a:cxnLst/>
            <a:rect l="l" t="t" r="r" b="b"/>
            <a:pathLst>
              <a:path w="304800" h="820420">
                <a:moveTo>
                  <a:pt x="0" y="820201"/>
                </a:moveTo>
                <a:lnTo>
                  <a:pt x="304616" y="820201"/>
                </a:lnTo>
                <a:lnTo>
                  <a:pt x="304616" y="0"/>
                </a:lnTo>
                <a:lnTo>
                  <a:pt x="0" y="0"/>
                </a:lnTo>
                <a:lnTo>
                  <a:pt x="0" y="820201"/>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8" name="object 58"/>
          <p:cNvSpPr/>
          <p:nvPr/>
        </p:nvSpPr>
        <p:spPr>
          <a:xfrm>
            <a:off x="7487055" y="3521649"/>
            <a:ext cx="304584" cy="819838"/>
          </a:xfrm>
          <a:custGeom>
            <a:avLst/>
            <a:gdLst/>
            <a:ahLst/>
            <a:cxnLst/>
            <a:rect l="l" t="t" r="r" b="b"/>
            <a:pathLst>
              <a:path w="304800" h="820420">
                <a:moveTo>
                  <a:pt x="0" y="820201"/>
                </a:moveTo>
                <a:lnTo>
                  <a:pt x="304616" y="820201"/>
                </a:lnTo>
                <a:lnTo>
                  <a:pt x="304616" y="0"/>
                </a:lnTo>
                <a:lnTo>
                  <a:pt x="0" y="0"/>
                </a:lnTo>
                <a:lnTo>
                  <a:pt x="0" y="820201"/>
                </a:lnTo>
                <a:close/>
              </a:path>
            </a:pathLst>
          </a:custGeom>
          <a:ln w="9508">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9" name="object 59"/>
          <p:cNvSpPr/>
          <p:nvPr/>
        </p:nvSpPr>
        <p:spPr>
          <a:xfrm>
            <a:off x="7905423" y="3521649"/>
            <a:ext cx="304584" cy="381365"/>
          </a:xfrm>
          <a:custGeom>
            <a:avLst/>
            <a:gdLst/>
            <a:ahLst/>
            <a:cxnLst/>
            <a:rect l="l" t="t" r="r" b="b"/>
            <a:pathLst>
              <a:path w="304800" h="381635">
                <a:moveTo>
                  <a:pt x="0" y="381430"/>
                </a:moveTo>
                <a:lnTo>
                  <a:pt x="304616" y="381430"/>
                </a:lnTo>
                <a:lnTo>
                  <a:pt x="304616" y="0"/>
                </a:lnTo>
                <a:lnTo>
                  <a:pt x="0" y="0"/>
                </a:lnTo>
                <a:lnTo>
                  <a:pt x="0" y="38143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0" name="object 60"/>
          <p:cNvSpPr/>
          <p:nvPr/>
        </p:nvSpPr>
        <p:spPr>
          <a:xfrm>
            <a:off x="7905423" y="3521649"/>
            <a:ext cx="304584" cy="381365"/>
          </a:xfrm>
          <a:custGeom>
            <a:avLst/>
            <a:gdLst/>
            <a:ahLst/>
            <a:cxnLst/>
            <a:rect l="l" t="t" r="r" b="b"/>
            <a:pathLst>
              <a:path w="304800" h="381635">
                <a:moveTo>
                  <a:pt x="0" y="381430"/>
                </a:moveTo>
                <a:lnTo>
                  <a:pt x="304616" y="381430"/>
                </a:lnTo>
                <a:lnTo>
                  <a:pt x="304616" y="0"/>
                </a:lnTo>
                <a:lnTo>
                  <a:pt x="0" y="0"/>
                </a:lnTo>
                <a:lnTo>
                  <a:pt x="0" y="381430"/>
                </a:lnTo>
                <a:close/>
              </a:path>
            </a:pathLst>
          </a:custGeom>
          <a:ln w="9507">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1" name="object 61"/>
          <p:cNvSpPr/>
          <p:nvPr/>
        </p:nvSpPr>
        <p:spPr>
          <a:xfrm>
            <a:off x="8324173" y="3902809"/>
            <a:ext cx="304584" cy="438473"/>
          </a:xfrm>
          <a:custGeom>
            <a:avLst/>
            <a:gdLst/>
            <a:ahLst/>
            <a:cxnLst/>
            <a:rect l="l" t="t" r="r" b="b"/>
            <a:pathLst>
              <a:path w="304800" h="438785">
                <a:moveTo>
                  <a:pt x="0" y="438771"/>
                </a:moveTo>
                <a:lnTo>
                  <a:pt x="304616" y="438771"/>
                </a:lnTo>
                <a:lnTo>
                  <a:pt x="304616" y="0"/>
                </a:lnTo>
                <a:lnTo>
                  <a:pt x="0" y="0"/>
                </a:lnTo>
                <a:lnTo>
                  <a:pt x="0" y="438771"/>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2" name="object 62"/>
          <p:cNvSpPr/>
          <p:nvPr/>
        </p:nvSpPr>
        <p:spPr>
          <a:xfrm>
            <a:off x="8324173" y="3902809"/>
            <a:ext cx="304584" cy="438473"/>
          </a:xfrm>
          <a:custGeom>
            <a:avLst/>
            <a:gdLst/>
            <a:ahLst/>
            <a:cxnLst/>
            <a:rect l="l" t="t" r="r" b="b"/>
            <a:pathLst>
              <a:path w="304800" h="438785">
                <a:moveTo>
                  <a:pt x="0" y="438771"/>
                </a:moveTo>
                <a:lnTo>
                  <a:pt x="304616" y="438771"/>
                </a:lnTo>
                <a:lnTo>
                  <a:pt x="304616" y="0"/>
                </a:lnTo>
                <a:lnTo>
                  <a:pt x="0" y="0"/>
                </a:lnTo>
                <a:lnTo>
                  <a:pt x="0" y="438771"/>
                </a:lnTo>
                <a:close/>
              </a:path>
            </a:pathLst>
          </a:custGeom>
          <a:ln w="9507">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3" name="object 63"/>
          <p:cNvSpPr/>
          <p:nvPr/>
        </p:nvSpPr>
        <p:spPr>
          <a:xfrm>
            <a:off x="337535" y="4336521"/>
            <a:ext cx="8343702" cy="0"/>
          </a:xfrm>
          <a:custGeom>
            <a:avLst/>
            <a:gdLst/>
            <a:ahLst/>
            <a:cxnLst/>
            <a:rect l="l" t="t" r="r" b="b"/>
            <a:pathLst>
              <a:path w="8349615">
                <a:moveTo>
                  <a:pt x="0" y="0"/>
                </a:moveTo>
                <a:lnTo>
                  <a:pt x="8349215" y="0"/>
                </a:lnTo>
              </a:path>
            </a:pathLst>
          </a:custGeom>
          <a:ln w="28512">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4" name="object 64"/>
          <p:cNvSpPr/>
          <p:nvPr/>
        </p:nvSpPr>
        <p:spPr>
          <a:xfrm>
            <a:off x="7367889" y="2507521"/>
            <a:ext cx="1361745" cy="0"/>
          </a:xfrm>
          <a:custGeom>
            <a:avLst/>
            <a:gdLst/>
            <a:ahLst/>
            <a:cxnLst/>
            <a:rect l="l" t="t" r="r" b="b"/>
            <a:pathLst>
              <a:path w="1362709">
                <a:moveTo>
                  <a:pt x="0" y="0"/>
                </a:moveTo>
                <a:lnTo>
                  <a:pt x="1362456"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65" name="object 65"/>
          <p:cNvSpPr/>
          <p:nvPr/>
        </p:nvSpPr>
        <p:spPr>
          <a:xfrm>
            <a:off x="8616685" y="1934142"/>
            <a:ext cx="114219" cy="577441"/>
          </a:xfrm>
          <a:custGeom>
            <a:avLst/>
            <a:gdLst/>
            <a:ahLst/>
            <a:cxnLst/>
            <a:rect l="l" t="t" r="r" b="b"/>
            <a:pathLst>
              <a:path w="114300" h="577850">
                <a:moveTo>
                  <a:pt x="38100" y="463296"/>
                </a:moveTo>
                <a:lnTo>
                  <a:pt x="0" y="463296"/>
                </a:lnTo>
                <a:lnTo>
                  <a:pt x="57150" y="577596"/>
                </a:lnTo>
                <a:lnTo>
                  <a:pt x="104775" y="482346"/>
                </a:lnTo>
                <a:lnTo>
                  <a:pt x="38100" y="482346"/>
                </a:lnTo>
                <a:lnTo>
                  <a:pt x="38100" y="463296"/>
                </a:lnTo>
                <a:close/>
              </a:path>
              <a:path w="114300" h="577850">
                <a:moveTo>
                  <a:pt x="76200" y="0"/>
                </a:moveTo>
                <a:lnTo>
                  <a:pt x="38100" y="0"/>
                </a:lnTo>
                <a:lnTo>
                  <a:pt x="38100" y="482346"/>
                </a:lnTo>
                <a:lnTo>
                  <a:pt x="76200" y="482346"/>
                </a:lnTo>
                <a:lnTo>
                  <a:pt x="76200" y="0"/>
                </a:lnTo>
                <a:close/>
              </a:path>
              <a:path w="114300" h="577850">
                <a:moveTo>
                  <a:pt x="114300" y="463296"/>
                </a:moveTo>
                <a:lnTo>
                  <a:pt x="76200" y="463296"/>
                </a:lnTo>
                <a:lnTo>
                  <a:pt x="76200" y="482346"/>
                </a:lnTo>
                <a:lnTo>
                  <a:pt x="104775" y="482346"/>
                </a:lnTo>
                <a:lnTo>
                  <a:pt x="114300" y="463296"/>
                </a:lnTo>
                <a:close/>
              </a:path>
            </a:pathLst>
          </a:custGeom>
          <a:solidFill>
            <a:srgbClr val="00295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6" name="object 66"/>
          <p:cNvSpPr/>
          <p:nvPr/>
        </p:nvSpPr>
        <p:spPr>
          <a:xfrm>
            <a:off x="4032694" y="1936426"/>
            <a:ext cx="4696941" cy="0"/>
          </a:xfrm>
          <a:custGeom>
            <a:avLst/>
            <a:gdLst/>
            <a:ahLst/>
            <a:cxnLst/>
            <a:rect l="l" t="t" r="r" b="b"/>
            <a:pathLst>
              <a:path w="4700270">
                <a:moveTo>
                  <a:pt x="0" y="0"/>
                </a:moveTo>
                <a:lnTo>
                  <a:pt x="4700016"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67" name="object 67"/>
          <p:cNvSpPr/>
          <p:nvPr/>
        </p:nvSpPr>
        <p:spPr>
          <a:xfrm>
            <a:off x="8421750" y="2053691"/>
            <a:ext cx="501295" cy="234784"/>
          </a:xfrm>
          <a:custGeom>
            <a:avLst/>
            <a:gdLst/>
            <a:ahLst/>
            <a:cxnLst/>
            <a:rect l="l" t="t" r="r" b="b"/>
            <a:pathLst>
              <a:path w="501650" h="234950">
                <a:moveTo>
                  <a:pt x="250698" y="0"/>
                </a:moveTo>
                <a:lnTo>
                  <a:pt x="184061" y="4194"/>
                </a:lnTo>
                <a:lnTo>
                  <a:pt x="124177" y="16030"/>
                </a:lnTo>
                <a:lnTo>
                  <a:pt x="73437" y="34385"/>
                </a:lnTo>
                <a:lnTo>
                  <a:pt x="34233" y="58137"/>
                </a:lnTo>
                <a:lnTo>
                  <a:pt x="0" y="117348"/>
                </a:lnTo>
                <a:lnTo>
                  <a:pt x="8957" y="148530"/>
                </a:lnTo>
                <a:lnTo>
                  <a:pt x="73437" y="200310"/>
                </a:lnTo>
                <a:lnTo>
                  <a:pt x="124177" y="218665"/>
                </a:lnTo>
                <a:lnTo>
                  <a:pt x="184061" y="230501"/>
                </a:lnTo>
                <a:lnTo>
                  <a:pt x="250698" y="234696"/>
                </a:lnTo>
                <a:lnTo>
                  <a:pt x="317334" y="230501"/>
                </a:lnTo>
                <a:lnTo>
                  <a:pt x="377218" y="218665"/>
                </a:lnTo>
                <a:lnTo>
                  <a:pt x="427958" y="200310"/>
                </a:lnTo>
                <a:lnTo>
                  <a:pt x="467162" y="176558"/>
                </a:lnTo>
                <a:lnTo>
                  <a:pt x="501396" y="117348"/>
                </a:lnTo>
                <a:lnTo>
                  <a:pt x="492438" y="86165"/>
                </a:lnTo>
                <a:lnTo>
                  <a:pt x="427958" y="34385"/>
                </a:lnTo>
                <a:lnTo>
                  <a:pt x="377218" y="16030"/>
                </a:lnTo>
                <a:lnTo>
                  <a:pt x="317334" y="4194"/>
                </a:lnTo>
                <a:lnTo>
                  <a:pt x="250698"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8" name="object 68"/>
          <p:cNvSpPr/>
          <p:nvPr/>
        </p:nvSpPr>
        <p:spPr>
          <a:xfrm>
            <a:off x="8421750" y="2053691"/>
            <a:ext cx="501295" cy="234784"/>
          </a:xfrm>
          <a:custGeom>
            <a:avLst/>
            <a:gdLst/>
            <a:ahLst/>
            <a:cxnLst/>
            <a:rect l="l" t="t" r="r" b="b"/>
            <a:pathLst>
              <a:path w="501650" h="234950">
                <a:moveTo>
                  <a:pt x="0" y="117348"/>
                </a:moveTo>
                <a:lnTo>
                  <a:pt x="34233" y="58137"/>
                </a:lnTo>
                <a:lnTo>
                  <a:pt x="73437" y="34385"/>
                </a:lnTo>
                <a:lnTo>
                  <a:pt x="124177" y="16030"/>
                </a:lnTo>
                <a:lnTo>
                  <a:pt x="184061" y="4194"/>
                </a:lnTo>
                <a:lnTo>
                  <a:pt x="250698" y="0"/>
                </a:lnTo>
                <a:lnTo>
                  <a:pt x="317334" y="4194"/>
                </a:lnTo>
                <a:lnTo>
                  <a:pt x="377218" y="16030"/>
                </a:lnTo>
                <a:lnTo>
                  <a:pt x="427958" y="34385"/>
                </a:lnTo>
                <a:lnTo>
                  <a:pt x="467162" y="58137"/>
                </a:lnTo>
                <a:lnTo>
                  <a:pt x="501396" y="117348"/>
                </a:lnTo>
                <a:lnTo>
                  <a:pt x="492438" y="148530"/>
                </a:lnTo>
                <a:lnTo>
                  <a:pt x="427958" y="200310"/>
                </a:lnTo>
                <a:lnTo>
                  <a:pt x="377218" y="218665"/>
                </a:lnTo>
                <a:lnTo>
                  <a:pt x="317334" y="230501"/>
                </a:lnTo>
                <a:lnTo>
                  <a:pt x="250698" y="234696"/>
                </a:lnTo>
                <a:lnTo>
                  <a:pt x="184061" y="230501"/>
                </a:lnTo>
                <a:lnTo>
                  <a:pt x="124177" y="218665"/>
                </a:lnTo>
                <a:lnTo>
                  <a:pt x="73437" y="200310"/>
                </a:lnTo>
                <a:lnTo>
                  <a:pt x="34233" y="176558"/>
                </a:lnTo>
                <a:lnTo>
                  <a:pt x="0" y="117348"/>
                </a:lnTo>
                <a:close/>
              </a:path>
            </a:pathLst>
          </a:custGeom>
          <a:ln w="9525">
            <a:solidFill>
              <a:srgbClr val="00295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9" name="object 69"/>
          <p:cNvSpPr txBox="1"/>
          <p:nvPr/>
        </p:nvSpPr>
        <p:spPr>
          <a:xfrm>
            <a:off x="8484571" y="2053818"/>
            <a:ext cx="382634" cy="196215"/>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Arial" panose="020B0604020202020204"/>
              </a:rPr>
              <a:t>-24%</a:t>
            </a:r>
            <a:endParaRPr sz="1200" b="1" spc="-5" dirty="0">
              <a:latin typeface="微软雅黑" panose="020B0503020204020204" charset="-122"/>
              <a:ea typeface="微软雅黑" panose="020B0503020204020204" charset="-122"/>
              <a:cs typeface="Arial" panose="020B0604020202020204"/>
            </a:endParaRPr>
          </a:p>
        </p:txBody>
      </p:sp>
      <p:sp>
        <p:nvSpPr>
          <p:cNvPr id="70" name="object 70"/>
          <p:cNvSpPr txBox="1"/>
          <p:nvPr/>
        </p:nvSpPr>
        <p:spPr>
          <a:xfrm>
            <a:off x="8299663" y="4779465"/>
            <a:ext cx="177674" cy="196215"/>
          </a:xfrm>
          <a:prstGeom prst="rect">
            <a:avLst/>
          </a:prstGeom>
        </p:spPr>
        <p:txBody>
          <a:bodyPr vert="horz" wrap="square" lIns="0" tIns="12691" rIns="0" bIns="0" rtlCol="0">
            <a:spAutoFit/>
          </a:bodyPr>
          <a:lstStyle/>
          <a:p>
            <a:pPr marL="12700">
              <a:lnSpc>
                <a:spcPct val="100000"/>
              </a:lnSpc>
              <a:spcBef>
                <a:spcPts val="100"/>
              </a:spcBef>
            </a:pPr>
            <a:r>
              <a:rPr sz="1200" dirty="0">
                <a:latin typeface="微软雅黑" panose="020B0503020204020204" charset="-122"/>
                <a:ea typeface="微软雅黑" panose="020B0503020204020204" charset="-122"/>
                <a:cs typeface="微软雅黑" panose="020B0503020204020204" charset="-122"/>
              </a:rPr>
              <a:t>率</a:t>
            </a:r>
            <a:endParaRPr sz="1200" dirty="0">
              <a:latin typeface="微软雅黑" panose="020B0503020204020204" charset="-122"/>
              <a:ea typeface="微软雅黑" panose="020B0503020204020204" charset="-122"/>
              <a:cs typeface="微软雅黑" panose="020B0503020204020204" charset="-122"/>
            </a:endParaRPr>
          </a:p>
        </p:txBody>
      </p:sp>
      <p:sp>
        <p:nvSpPr>
          <p:cNvPr id="71" name="object 71"/>
          <p:cNvSpPr txBox="1"/>
          <p:nvPr/>
        </p:nvSpPr>
        <p:spPr>
          <a:xfrm>
            <a:off x="7050869" y="4779465"/>
            <a:ext cx="749404" cy="565785"/>
          </a:xfrm>
          <a:prstGeom prst="rect">
            <a:avLst/>
          </a:prstGeom>
        </p:spPr>
        <p:txBody>
          <a:bodyPr vert="horz" wrap="square" lIns="0" tIns="12691" rIns="0" bIns="0" rtlCol="0">
            <a:spAutoFit/>
          </a:bodyPr>
          <a:lstStyle/>
          <a:p>
            <a:pPr marR="5080" algn="r">
              <a:lnSpc>
                <a:spcPct val="100000"/>
              </a:lnSpc>
              <a:spcBef>
                <a:spcPts val="100"/>
              </a:spcBef>
            </a:pPr>
            <a:r>
              <a:rPr sz="1200" dirty="0">
                <a:latin typeface="微软雅黑" panose="020B0503020204020204" charset="-122"/>
                <a:ea typeface="微软雅黑" panose="020B0503020204020204" charset="-122"/>
                <a:cs typeface="微软雅黑" panose="020B0503020204020204" charset="-122"/>
              </a:rPr>
              <a:t>购价 </a:t>
            </a:r>
            <a:r>
              <a:rPr sz="1200" spc="20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料的</a:t>
            </a:r>
            <a:endParaRPr sz="1200">
              <a:latin typeface="微软雅黑" panose="020B0503020204020204" charset="-122"/>
              <a:ea typeface="微软雅黑" panose="020B0503020204020204" charset="-122"/>
              <a:cs typeface="微软雅黑" panose="020B0503020204020204" charset="-122"/>
            </a:endParaRPr>
          </a:p>
          <a:p>
            <a:pPr marR="5080" algn="r">
              <a:lnSpc>
                <a:spcPct val="100000"/>
              </a:lnSpc>
            </a:pPr>
            <a:r>
              <a:rPr sz="1200" dirty="0">
                <a:latin typeface="微软雅黑" panose="020B0503020204020204" charset="-122"/>
                <a:ea typeface="微软雅黑" panose="020B0503020204020204" charset="-122"/>
                <a:cs typeface="微软雅黑" panose="020B0503020204020204" charset="-122"/>
              </a:rPr>
              <a:t>落袋</a:t>
            </a:r>
            <a:endParaRPr sz="1200">
              <a:latin typeface="微软雅黑" panose="020B0503020204020204" charset="-122"/>
              <a:ea typeface="微软雅黑" panose="020B0503020204020204" charset="-122"/>
              <a:cs typeface="微软雅黑" panose="020B0503020204020204" charset="-122"/>
            </a:endParaRPr>
          </a:p>
          <a:p>
            <a:pPr marR="5080" algn="r">
              <a:lnSpc>
                <a:spcPct val="100000"/>
              </a:lnSpc>
            </a:pPr>
            <a:r>
              <a:rPr sz="1200" spc="-5" dirty="0">
                <a:latin typeface="微软雅黑" panose="020B0503020204020204" charset="-122"/>
                <a:ea typeface="微软雅黑" panose="020B0503020204020204" charset="-122"/>
                <a:cs typeface="微软雅黑" panose="020B0503020204020204" charset="-122"/>
              </a:rPr>
              <a:t>价格</a:t>
            </a:r>
            <a:endParaRPr sz="1200">
              <a:latin typeface="微软雅黑" panose="020B0503020204020204" charset="-122"/>
              <a:ea typeface="微软雅黑" panose="020B0503020204020204" charset="-122"/>
              <a:cs typeface="微软雅黑" panose="020B0503020204020204" charset="-122"/>
            </a:endParaRPr>
          </a:p>
        </p:txBody>
      </p:sp>
      <p:sp>
        <p:nvSpPr>
          <p:cNvPr id="72" name="object 72"/>
          <p:cNvSpPr txBox="1"/>
          <p:nvPr/>
        </p:nvSpPr>
        <p:spPr>
          <a:xfrm>
            <a:off x="3296868" y="4596715"/>
            <a:ext cx="5332761" cy="196215"/>
          </a:xfrm>
          <a:prstGeom prst="rect">
            <a:avLst/>
          </a:prstGeom>
        </p:spPr>
        <p:txBody>
          <a:bodyPr vert="horz" wrap="square" lIns="0" tIns="12691" rIns="0" bIns="0" rtlCol="0">
            <a:spAutoFit/>
          </a:bodyPr>
          <a:lstStyle/>
          <a:p>
            <a:pPr marL="12700">
              <a:lnSpc>
                <a:spcPct val="100000"/>
              </a:lnSpc>
              <a:spcBef>
                <a:spcPts val="100"/>
              </a:spcBef>
              <a:tabLst>
                <a:tab pos="850900" algn="l"/>
                <a:tab pos="1680845" algn="l"/>
                <a:tab pos="2938780" algn="l"/>
              </a:tabLst>
            </a:pPr>
            <a:r>
              <a:rPr sz="1200" dirty="0">
                <a:latin typeface="微软雅黑" panose="020B0503020204020204" charset="-122"/>
                <a:ea typeface="微软雅黑" panose="020B0503020204020204" charset="-122"/>
                <a:cs typeface="微软雅黑" panose="020B0503020204020204" charset="-122"/>
              </a:rPr>
              <a:t>价格	价格	账款</a:t>
            </a:r>
            <a:r>
              <a:rPr sz="1200" dirty="0">
                <a:latin typeface="微软雅黑" panose="020B0503020204020204" charset="-122"/>
                <a:ea typeface="微软雅黑" panose="020B0503020204020204" charset="-122"/>
                <a:cs typeface="微软雅黑" panose="020B0503020204020204" charset="-122"/>
              </a:rPr>
              <a:t>.	成本</a:t>
            </a:r>
            <a:r>
              <a:rPr sz="1200" spc="215"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价格</a:t>
            </a:r>
            <a:r>
              <a:rPr sz="1200" spc="28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料采</a:t>
            </a:r>
            <a:r>
              <a:rPr sz="1200" spc="28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原材</a:t>
            </a:r>
            <a:r>
              <a:rPr sz="1200" spc="28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成本</a:t>
            </a:r>
            <a:r>
              <a:rPr sz="1200" spc="215"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利润</a:t>
            </a:r>
            <a:endParaRPr sz="1200">
              <a:latin typeface="微软雅黑" panose="020B0503020204020204" charset="-122"/>
              <a:ea typeface="微软雅黑" panose="020B0503020204020204" charset="-122"/>
              <a:cs typeface="微软雅黑" panose="020B0503020204020204" charset="-122"/>
            </a:endParaRPr>
          </a:p>
        </p:txBody>
      </p:sp>
      <p:sp>
        <p:nvSpPr>
          <p:cNvPr id="73" name="object 73"/>
          <p:cNvSpPr txBox="1"/>
          <p:nvPr/>
        </p:nvSpPr>
        <p:spPr>
          <a:xfrm>
            <a:off x="2886062" y="4413963"/>
            <a:ext cx="5743949" cy="196215"/>
          </a:xfrm>
          <a:prstGeom prst="rect">
            <a:avLst/>
          </a:prstGeom>
        </p:spPr>
        <p:txBody>
          <a:bodyPr vert="horz" wrap="square" lIns="0" tIns="12691" rIns="0" bIns="0" rtlCol="0">
            <a:spAutoFit/>
          </a:bodyPr>
          <a:lstStyle/>
          <a:p>
            <a:pPr marL="12700">
              <a:lnSpc>
                <a:spcPct val="100000"/>
              </a:lnSpc>
              <a:spcBef>
                <a:spcPts val="100"/>
              </a:spcBef>
            </a:pPr>
            <a:r>
              <a:rPr sz="1200" dirty="0">
                <a:latin typeface="微软雅黑" panose="020B0503020204020204" charset="-122"/>
                <a:ea typeface="微软雅黑" panose="020B0503020204020204" charset="-122"/>
                <a:cs typeface="微软雅黑" panose="020B0503020204020204" charset="-122"/>
              </a:rPr>
              <a:t>市场</a:t>
            </a:r>
            <a:r>
              <a:rPr sz="1200" spc="225"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目标</a:t>
            </a:r>
            <a:r>
              <a:rPr sz="1200" spc="295"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折扣</a:t>
            </a:r>
            <a:r>
              <a:rPr sz="1200" spc="29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发票</a:t>
            </a:r>
            <a:r>
              <a:rPr sz="1200" spc="29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货运</a:t>
            </a:r>
            <a:r>
              <a:rPr sz="1200" spc="229"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应收</a:t>
            </a:r>
            <a:r>
              <a:rPr sz="1200" spc="29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库存</a:t>
            </a:r>
            <a:r>
              <a:rPr sz="1200" spc="295"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退货</a:t>
            </a:r>
            <a:r>
              <a:rPr sz="1200" spc="29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营销</a:t>
            </a:r>
            <a:r>
              <a:rPr sz="1200" spc="229"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落袋</a:t>
            </a:r>
            <a:r>
              <a:rPr sz="1200" spc="29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原材</a:t>
            </a:r>
            <a:r>
              <a:rPr sz="1200" spc="295"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去除</a:t>
            </a:r>
            <a:r>
              <a:rPr sz="1200" spc="29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加工</a:t>
            </a:r>
            <a:r>
              <a:rPr sz="1200" spc="229"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落袋</a:t>
            </a:r>
            <a:endParaRPr sz="1200">
              <a:latin typeface="微软雅黑" panose="020B0503020204020204" charset="-122"/>
              <a:ea typeface="微软雅黑" panose="020B0503020204020204" charset="-122"/>
              <a:cs typeface="微软雅黑" panose="020B0503020204020204" charset="-122"/>
            </a:endParaRPr>
          </a:p>
        </p:txBody>
      </p:sp>
      <p:sp>
        <p:nvSpPr>
          <p:cNvPr id="74" name="object 74"/>
          <p:cNvSpPr txBox="1"/>
          <p:nvPr/>
        </p:nvSpPr>
        <p:spPr>
          <a:xfrm>
            <a:off x="379308" y="4413963"/>
            <a:ext cx="2418271" cy="565785"/>
          </a:xfrm>
          <a:prstGeom prst="rect">
            <a:avLst/>
          </a:prstGeom>
        </p:spPr>
        <p:txBody>
          <a:bodyPr vert="horz" wrap="square" lIns="0" tIns="12691" rIns="0" bIns="0" rtlCol="0">
            <a:spAutoFit/>
          </a:bodyPr>
          <a:lstStyle/>
          <a:p>
            <a:pPr marL="12700" marR="5080">
              <a:lnSpc>
                <a:spcPct val="100000"/>
              </a:lnSpc>
              <a:spcBef>
                <a:spcPts val="100"/>
              </a:spcBef>
            </a:pPr>
            <a:r>
              <a:rPr sz="1200" dirty="0">
                <a:latin typeface="微软雅黑" panose="020B0503020204020204" charset="-122"/>
                <a:ea typeface="微软雅黑" panose="020B0503020204020204" charset="-122"/>
                <a:cs typeface="微软雅黑" panose="020B0503020204020204" charset="-122"/>
              </a:rPr>
              <a:t>原材</a:t>
            </a:r>
            <a:r>
              <a:rPr sz="1200" spc="275"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基础</a:t>
            </a:r>
            <a:r>
              <a:rPr sz="1200" spc="28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小订</a:t>
            </a:r>
            <a:r>
              <a:rPr sz="1200" spc="235"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产品</a:t>
            </a:r>
            <a:r>
              <a:rPr sz="1200" spc="28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服务</a:t>
            </a:r>
            <a:r>
              <a:rPr sz="1200" spc="28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运费 料 标 加 工</a:t>
            </a:r>
            <a:r>
              <a:rPr sz="1200" spc="-15"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单</a:t>
            </a:r>
            <a:endParaRPr sz="1200">
              <a:latin typeface="微软雅黑" panose="020B0503020204020204" charset="-122"/>
              <a:ea typeface="微软雅黑" panose="020B0503020204020204" charset="-122"/>
              <a:cs typeface="微软雅黑" panose="020B0503020204020204" charset="-122"/>
            </a:endParaRPr>
          </a:p>
          <a:p>
            <a:pPr marL="12700">
              <a:lnSpc>
                <a:spcPct val="100000"/>
              </a:lnSpc>
            </a:pPr>
            <a:r>
              <a:rPr sz="1200" dirty="0">
                <a:latin typeface="微软雅黑" panose="020B0503020204020204" charset="-122"/>
                <a:ea typeface="微软雅黑" panose="020B0503020204020204" charset="-122"/>
                <a:cs typeface="微软雅黑" panose="020B0503020204020204" charset="-122"/>
              </a:rPr>
              <a:t>准 价</a:t>
            </a:r>
            <a:r>
              <a:rPr sz="1200" spc="29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费</a:t>
            </a:r>
            <a:endParaRPr sz="1200">
              <a:latin typeface="微软雅黑" panose="020B0503020204020204" charset="-122"/>
              <a:ea typeface="微软雅黑" panose="020B0503020204020204" charset="-122"/>
              <a:cs typeface="微软雅黑" panose="020B0503020204020204" charset="-122"/>
            </a:endParaRPr>
          </a:p>
        </p:txBody>
      </p:sp>
      <p:sp>
        <p:nvSpPr>
          <p:cNvPr id="75" name="object 75"/>
          <p:cNvSpPr txBox="1">
            <a:spLocks noGrp="1"/>
          </p:cNvSpPr>
          <p:nvPr>
            <p:ph type="title"/>
          </p:nvPr>
        </p:nvSpPr>
        <p:spPr>
          <a:xfrm>
            <a:off x="106401" y="200043"/>
            <a:ext cx="8469977" cy="598170"/>
          </a:xfrm>
          <a:prstGeom prst="rect">
            <a:avLst/>
          </a:prstGeom>
        </p:spPr>
        <p:txBody>
          <a:bodyPr vert="horz" wrap="square" lIns="0" tIns="8883" rIns="0" bIns="0" rtlCol="0">
            <a:spAutoFit/>
          </a:bodyPr>
          <a:lstStyle/>
          <a:p>
            <a:pPr marL="12700" marR="5080">
              <a:lnSpc>
                <a:spcPct val="101000"/>
              </a:lnSpc>
              <a:spcBef>
                <a:spcPts val="70"/>
              </a:spcBef>
            </a:pPr>
            <a:r>
              <a:rPr spc="-5" dirty="0">
                <a:ea typeface="微软雅黑" panose="020B0503020204020204" charset="-122"/>
              </a:rPr>
              <a:t>如何把握客</a:t>
            </a:r>
            <a:r>
              <a:rPr spc="-10" dirty="0">
                <a:ea typeface="微软雅黑" panose="020B0503020204020204" charset="-122"/>
              </a:rPr>
              <a:t>户定</a:t>
            </a:r>
            <a:r>
              <a:rPr spc="-5" dirty="0">
                <a:ea typeface="微软雅黑" panose="020B0503020204020204" charset="-122"/>
              </a:rPr>
              <a:t>价</a:t>
            </a:r>
            <a:r>
              <a:rPr spc="-10" dirty="0">
                <a:ea typeface="微软雅黑" panose="020B0503020204020204" charset="-122"/>
              </a:rPr>
              <a:t>？一</a:t>
            </a:r>
            <a:r>
              <a:rPr spc="15" dirty="0">
                <a:ea typeface="微软雅黑" panose="020B0503020204020204" charset="-122"/>
              </a:rPr>
              <a:t>、</a:t>
            </a:r>
            <a:r>
              <a:rPr spc="-10" dirty="0">
                <a:ea typeface="微软雅黑" panose="020B0503020204020204" charset="-122"/>
              </a:rPr>
              <a:t>准确</a:t>
            </a:r>
            <a:r>
              <a:rPr dirty="0">
                <a:ea typeface="微软雅黑" panose="020B0503020204020204" charset="-122"/>
              </a:rPr>
              <a:t>地</a:t>
            </a:r>
            <a:r>
              <a:rPr spc="-10" dirty="0">
                <a:ea typeface="微软雅黑" panose="020B0503020204020204" charset="-122"/>
              </a:rPr>
              <a:t>计算</a:t>
            </a:r>
            <a:r>
              <a:rPr spc="-5" dirty="0">
                <a:ea typeface="微软雅黑" panose="020B0503020204020204" charset="-122"/>
              </a:rPr>
              <a:t>每</a:t>
            </a:r>
            <a:r>
              <a:rPr spc="-10" dirty="0">
                <a:ea typeface="微软雅黑" panose="020B0503020204020204" charset="-122"/>
              </a:rPr>
              <a:t>笔交</a:t>
            </a:r>
            <a:r>
              <a:rPr spc="-5" dirty="0">
                <a:ea typeface="微软雅黑" panose="020B0503020204020204" charset="-122"/>
              </a:rPr>
              <a:t>易</a:t>
            </a:r>
            <a:r>
              <a:rPr spc="-10" dirty="0">
                <a:ea typeface="微软雅黑" panose="020B0503020204020204" charset="-122"/>
              </a:rPr>
              <a:t>对于</a:t>
            </a:r>
            <a:r>
              <a:rPr spc="-5" dirty="0">
                <a:ea typeface="微软雅黑" panose="020B0503020204020204" charset="-122"/>
              </a:rPr>
              <a:t>企</a:t>
            </a:r>
            <a:r>
              <a:rPr spc="-10" dirty="0">
                <a:ea typeface="微软雅黑" panose="020B0503020204020204" charset="-122"/>
              </a:rPr>
              <a:t>业的</a:t>
            </a:r>
            <a:r>
              <a:rPr spc="-5" dirty="0">
                <a:ea typeface="微软雅黑" panose="020B0503020204020204" charset="-122"/>
              </a:rPr>
              <a:t>真</a:t>
            </a:r>
            <a:r>
              <a:rPr spc="-10" dirty="0">
                <a:ea typeface="微软雅黑" panose="020B0503020204020204" charset="-122"/>
              </a:rPr>
              <a:t>实价</a:t>
            </a:r>
            <a:r>
              <a:rPr spc="-5" dirty="0">
                <a:ea typeface="微软雅黑" panose="020B0503020204020204" charset="-122"/>
              </a:rPr>
              <a:t>值</a:t>
            </a:r>
            <a:r>
              <a:rPr spc="5" dirty="0">
                <a:ea typeface="微软雅黑" panose="020B0503020204020204" charset="-122"/>
              </a:rPr>
              <a:t>，</a:t>
            </a:r>
            <a:r>
              <a:rPr spc="-10" dirty="0">
                <a:ea typeface="微软雅黑" panose="020B0503020204020204" charset="-122"/>
              </a:rPr>
              <a:t>以</a:t>
            </a:r>
            <a:r>
              <a:rPr spc="-5" dirty="0">
                <a:ea typeface="微软雅黑" panose="020B0503020204020204" charset="-122"/>
              </a:rPr>
              <a:t>准</a:t>
            </a:r>
            <a:r>
              <a:rPr spc="-10" dirty="0">
                <a:ea typeface="微软雅黑" panose="020B0503020204020204" charset="-122"/>
              </a:rPr>
              <a:t>确把握 </a:t>
            </a:r>
            <a:r>
              <a:rPr dirty="0">
                <a:ea typeface="微软雅黑" panose="020B0503020204020204" charset="-122"/>
              </a:rPr>
              <a:t>提升价值的</a:t>
            </a:r>
            <a:r>
              <a:rPr spc="-10" dirty="0">
                <a:ea typeface="微软雅黑" panose="020B0503020204020204" charset="-122"/>
              </a:rPr>
              <a:t>机会</a:t>
            </a:r>
            <a:endParaRPr spc="-10" dirty="0">
              <a:ea typeface="微软雅黑" panose="020B0503020204020204" charset="-122"/>
            </a:endParaRPr>
          </a:p>
        </p:txBody>
      </p:sp>
      <p:sp>
        <p:nvSpPr>
          <p:cNvPr id="76" name="object 76"/>
          <p:cNvSpPr/>
          <p:nvPr/>
        </p:nvSpPr>
        <p:spPr>
          <a:xfrm>
            <a:off x="7035894" y="1959270"/>
            <a:ext cx="1227855" cy="484796"/>
          </a:xfrm>
          <a:custGeom>
            <a:avLst/>
            <a:gdLst/>
            <a:ahLst/>
            <a:cxnLst/>
            <a:rect l="l" t="t" r="r" b="b"/>
            <a:pathLst>
              <a:path w="1228725" h="485139">
                <a:moveTo>
                  <a:pt x="614172" y="0"/>
                </a:moveTo>
                <a:lnTo>
                  <a:pt x="547247" y="1421"/>
                </a:lnTo>
                <a:lnTo>
                  <a:pt x="482411" y="5587"/>
                </a:lnTo>
                <a:lnTo>
                  <a:pt x="420038" y="12350"/>
                </a:lnTo>
                <a:lnTo>
                  <a:pt x="360502" y="21562"/>
                </a:lnTo>
                <a:lnTo>
                  <a:pt x="304179" y="33076"/>
                </a:lnTo>
                <a:lnTo>
                  <a:pt x="251441" y="46744"/>
                </a:lnTo>
                <a:lnTo>
                  <a:pt x="202665" y="62418"/>
                </a:lnTo>
                <a:lnTo>
                  <a:pt x="158224" y="79950"/>
                </a:lnTo>
                <a:lnTo>
                  <a:pt x="118494" y="99194"/>
                </a:lnTo>
                <a:lnTo>
                  <a:pt x="83848" y="120000"/>
                </a:lnTo>
                <a:lnTo>
                  <a:pt x="31309" y="165713"/>
                </a:lnTo>
                <a:lnTo>
                  <a:pt x="3603" y="215907"/>
                </a:lnTo>
                <a:lnTo>
                  <a:pt x="0" y="242315"/>
                </a:lnTo>
                <a:lnTo>
                  <a:pt x="3603" y="268724"/>
                </a:lnTo>
                <a:lnTo>
                  <a:pt x="31309" y="318918"/>
                </a:lnTo>
                <a:lnTo>
                  <a:pt x="83848" y="364631"/>
                </a:lnTo>
                <a:lnTo>
                  <a:pt x="118494" y="385437"/>
                </a:lnTo>
                <a:lnTo>
                  <a:pt x="158224" y="404681"/>
                </a:lnTo>
                <a:lnTo>
                  <a:pt x="202665" y="422213"/>
                </a:lnTo>
                <a:lnTo>
                  <a:pt x="251441" y="437887"/>
                </a:lnTo>
                <a:lnTo>
                  <a:pt x="304179" y="451555"/>
                </a:lnTo>
                <a:lnTo>
                  <a:pt x="360502" y="463069"/>
                </a:lnTo>
                <a:lnTo>
                  <a:pt x="420038" y="472281"/>
                </a:lnTo>
                <a:lnTo>
                  <a:pt x="482411" y="479044"/>
                </a:lnTo>
                <a:lnTo>
                  <a:pt x="547247" y="483210"/>
                </a:lnTo>
                <a:lnTo>
                  <a:pt x="614172" y="484631"/>
                </a:lnTo>
                <a:lnTo>
                  <a:pt x="681096" y="483210"/>
                </a:lnTo>
                <a:lnTo>
                  <a:pt x="745932" y="479044"/>
                </a:lnTo>
                <a:lnTo>
                  <a:pt x="808305" y="472281"/>
                </a:lnTo>
                <a:lnTo>
                  <a:pt x="867841" y="463069"/>
                </a:lnTo>
                <a:lnTo>
                  <a:pt x="924164" y="451555"/>
                </a:lnTo>
                <a:lnTo>
                  <a:pt x="976902" y="437887"/>
                </a:lnTo>
                <a:lnTo>
                  <a:pt x="1025678" y="422213"/>
                </a:lnTo>
                <a:lnTo>
                  <a:pt x="1070119" y="404681"/>
                </a:lnTo>
                <a:lnTo>
                  <a:pt x="1109849" y="385437"/>
                </a:lnTo>
                <a:lnTo>
                  <a:pt x="1144495" y="364631"/>
                </a:lnTo>
                <a:lnTo>
                  <a:pt x="1197034" y="318918"/>
                </a:lnTo>
                <a:lnTo>
                  <a:pt x="1224740" y="268724"/>
                </a:lnTo>
                <a:lnTo>
                  <a:pt x="1228344" y="242315"/>
                </a:lnTo>
                <a:lnTo>
                  <a:pt x="1224740" y="215907"/>
                </a:lnTo>
                <a:lnTo>
                  <a:pt x="1197034" y="165713"/>
                </a:lnTo>
                <a:lnTo>
                  <a:pt x="1144495" y="120000"/>
                </a:lnTo>
                <a:lnTo>
                  <a:pt x="1109849" y="99194"/>
                </a:lnTo>
                <a:lnTo>
                  <a:pt x="1070119" y="79950"/>
                </a:lnTo>
                <a:lnTo>
                  <a:pt x="1025678" y="62418"/>
                </a:lnTo>
                <a:lnTo>
                  <a:pt x="976902" y="46744"/>
                </a:lnTo>
                <a:lnTo>
                  <a:pt x="924164" y="33076"/>
                </a:lnTo>
                <a:lnTo>
                  <a:pt x="867841" y="21562"/>
                </a:lnTo>
                <a:lnTo>
                  <a:pt x="808305" y="12350"/>
                </a:lnTo>
                <a:lnTo>
                  <a:pt x="745932" y="5587"/>
                </a:lnTo>
                <a:lnTo>
                  <a:pt x="681096" y="1421"/>
                </a:lnTo>
                <a:lnTo>
                  <a:pt x="614172"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7" name="object 77"/>
          <p:cNvSpPr txBox="1"/>
          <p:nvPr/>
        </p:nvSpPr>
        <p:spPr>
          <a:xfrm>
            <a:off x="7287302" y="1995058"/>
            <a:ext cx="725926" cy="365760"/>
          </a:xfrm>
          <a:prstGeom prst="rect">
            <a:avLst/>
          </a:prstGeom>
        </p:spPr>
        <p:txBody>
          <a:bodyPr vert="horz" wrap="square" lIns="0" tIns="32996" rIns="0" bIns="0" rtlCol="0">
            <a:spAutoFit/>
          </a:bodyPr>
          <a:lstStyle/>
          <a:p>
            <a:pPr marL="76200" marR="5080" indent="-64135">
              <a:lnSpc>
                <a:spcPts val="1300"/>
              </a:lnSpc>
              <a:spcBef>
                <a:spcPts val="260"/>
              </a:spcBef>
            </a:pPr>
            <a:r>
              <a:rPr sz="1200" b="1" spc="-5" dirty="0">
                <a:solidFill>
                  <a:srgbClr val="FFFFFF"/>
                </a:solidFill>
                <a:latin typeface="微软雅黑" panose="020B0503020204020204" charset="-122"/>
                <a:ea typeface="微软雅黑" panose="020B0503020204020204" charset="-122"/>
                <a:cs typeface="微软雅黑" panose="020B0503020204020204" charset="-122"/>
              </a:rPr>
              <a:t>~24</a:t>
            </a:r>
            <a:r>
              <a:rPr sz="1200" b="1" spc="-15" dirty="0">
                <a:solidFill>
                  <a:srgbClr val="FFFFFF"/>
                </a:solidFill>
                <a:latin typeface="微软雅黑" panose="020B0503020204020204" charset="-122"/>
                <a:ea typeface="微软雅黑" panose="020B0503020204020204" charset="-122"/>
                <a:cs typeface="微软雅黑" panose="020B0503020204020204" charset="-122"/>
              </a:rPr>
              <a:t>%</a:t>
            </a:r>
            <a:r>
              <a:rPr sz="1200" b="1" spc="5" dirty="0">
                <a:solidFill>
                  <a:srgbClr val="FFFFFF"/>
                </a:solidFill>
                <a:latin typeface="微软雅黑" panose="020B0503020204020204" charset="-122"/>
                <a:ea typeface="微软雅黑" panose="020B0503020204020204" charset="-122"/>
                <a:cs typeface="微软雅黑" panose="020B0503020204020204" charset="-122"/>
              </a:rPr>
              <a:t>价格  “损失”</a:t>
            </a:r>
            <a:endParaRPr sz="1200">
              <a:latin typeface="微软雅黑" panose="020B0503020204020204" charset="-122"/>
              <a:ea typeface="微软雅黑" panose="020B0503020204020204" charset="-122"/>
              <a:cs typeface="微软雅黑" panose="020B0503020204020204" charset="-122"/>
            </a:endParaRPr>
          </a:p>
        </p:txBody>
      </p:sp>
      <p:sp>
        <p:nvSpPr>
          <p:cNvPr id="78" name="object 78"/>
          <p:cNvSpPr/>
          <p:nvPr/>
        </p:nvSpPr>
        <p:spPr>
          <a:xfrm>
            <a:off x="2150871" y="4830482"/>
            <a:ext cx="85664" cy="560942"/>
          </a:xfrm>
          <a:custGeom>
            <a:avLst/>
            <a:gdLst/>
            <a:ahLst/>
            <a:cxnLst/>
            <a:rect l="l" t="t" r="r" b="b"/>
            <a:pathLst>
              <a:path w="85725" h="561339">
                <a:moveTo>
                  <a:pt x="28584" y="82830"/>
                </a:moveTo>
                <a:lnTo>
                  <a:pt x="28702" y="561085"/>
                </a:lnTo>
                <a:lnTo>
                  <a:pt x="57277" y="561085"/>
                </a:lnTo>
                <a:lnTo>
                  <a:pt x="57160" y="85725"/>
                </a:lnTo>
                <a:lnTo>
                  <a:pt x="42926" y="85725"/>
                </a:lnTo>
                <a:lnTo>
                  <a:pt x="28584" y="82830"/>
                </a:lnTo>
                <a:close/>
              </a:path>
              <a:path w="85725" h="561339">
                <a:moveTo>
                  <a:pt x="57150" y="42925"/>
                </a:moveTo>
                <a:lnTo>
                  <a:pt x="28575" y="42925"/>
                </a:lnTo>
                <a:lnTo>
                  <a:pt x="28675" y="82848"/>
                </a:lnTo>
                <a:lnTo>
                  <a:pt x="42926" y="85725"/>
                </a:lnTo>
                <a:lnTo>
                  <a:pt x="57159" y="82848"/>
                </a:lnTo>
                <a:lnTo>
                  <a:pt x="57150" y="42925"/>
                </a:lnTo>
                <a:close/>
              </a:path>
              <a:path w="85725" h="561339">
                <a:moveTo>
                  <a:pt x="57159" y="82848"/>
                </a:moveTo>
                <a:lnTo>
                  <a:pt x="42926" y="85725"/>
                </a:lnTo>
                <a:lnTo>
                  <a:pt x="57160" y="85725"/>
                </a:lnTo>
                <a:lnTo>
                  <a:pt x="57159" y="82848"/>
                </a:lnTo>
                <a:close/>
              </a:path>
              <a:path w="85725" h="561339">
                <a:moveTo>
                  <a:pt x="85725" y="42925"/>
                </a:moveTo>
                <a:lnTo>
                  <a:pt x="57150" y="42925"/>
                </a:lnTo>
                <a:lnTo>
                  <a:pt x="57159" y="82848"/>
                </a:lnTo>
                <a:lnTo>
                  <a:pt x="59578" y="82359"/>
                </a:lnTo>
                <a:lnTo>
                  <a:pt x="73183" y="73183"/>
                </a:lnTo>
                <a:lnTo>
                  <a:pt x="82359" y="59578"/>
                </a:lnTo>
                <a:lnTo>
                  <a:pt x="85725" y="42925"/>
                </a:lnTo>
                <a:close/>
              </a:path>
              <a:path w="85725" h="561339">
                <a:moveTo>
                  <a:pt x="42926" y="0"/>
                </a:moveTo>
                <a:lnTo>
                  <a:pt x="26253" y="3385"/>
                </a:lnTo>
                <a:lnTo>
                  <a:pt x="12604" y="12604"/>
                </a:lnTo>
                <a:lnTo>
                  <a:pt x="3385" y="26253"/>
                </a:lnTo>
                <a:lnTo>
                  <a:pt x="0" y="42925"/>
                </a:lnTo>
                <a:lnTo>
                  <a:pt x="3385" y="59578"/>
                </a:lnTo>
                <a:lnTo>
                  <a:pt x="12604" y="73183"/>
                </a:lnTo>
                <a:lnTo>
                  <a:pt x="26253" y="82359"/>
                </a:lnTo>
                <a:lnTo>
                  <a:pt x="28584" y="82830"/>
                </a:lnTo>
                <a:lnTo>
                  <a:pt x="28575" y="42925"/>
                </a:lnTo>
                <a:lnTo>
                  <a:pt x="85725" y="42925"/>
                </a:lnTo>
                <a:lnTo>
                  <a:pt x="82359" y="26253"/>
                </a:lnTo>
                <a:lnTo>
                  <a:pt x="73183" y="12604"/>
                </a:lnTo>
                <a:lnTo>
                  <a:pt x="59578" y="3385"/>
                </a:lnTo>
                <a:lnTo>
                  <a:pt x="42926" y="0"/>
                </a:lnTo>
                <a:close/>
              </a:path>
            </a:pathLst>
          </a:custGeom>
          <a:solidFill>
            <a:srgbClr val="80808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9" name="object 79"/>
          <p:cNvSpPr/>
          <p:nvPr/>
        </p:nvSpPr>
        <p:spPr>
          <a:xfrm>
            <a:off x="5498250" y="4830482"/>
            <a:ext cx="85664" cy="560942"/>
          </a:xfrm>
          <a:custGeom>
            <a:avLst/>
            <a:gdLst/>
            <a:ahLst/>
            <a:cxnLst/>
            <a:rect l="l" t="t" r="r" b="b"/>
            <a:pathLst>
              <a:path w="85725" h="561339">
                <a:moveTo>
                  <a:pt x="28575" y="82828"/>
                </a:moveTo>
                <a:lnTo>
                  <a:pt x="28575" y="561085"/>
                </a:lnTo>
                <a:lnTo>
                  <a:pt x="57150" y="561085"/>
                </a:lnTo>
                <a:lnTo>
                  <a:pt x="57150" y="85725"/>
                </a:lnTo>
                <a:lnTo>
                  <a:pt x="42925" y="85725"/>
                </a:lnTo>
                <a:lnTo>
                  <a:pt x="28575" y="82828"/>
                </a:lnTo>
                <a:close/>
              </a:path>
              <a:path w="85725" h="561339">
                <a:moveTo>
                  <a:pt x="57150" y="42925"/>
                </a:moveTo>
                <a:lnTo>
                  <a:pt x="28575" y="42925"/>
                </a:lnTo>
                <a:lnTo>
                  <a:pt x="28685" y="82850"/>
                </a:lnTo>
                <a:lnTo>
                  <a:pt x="42925" y="85725"/>
                </a:lnTo>
                <a:lnTo>
                  <a:pt x="57150" y="82850"/>
                </a:lnTo>
                <a:lnTo>
                  <a:pt x="57150" y="42925"/>
                </a:lnTo>
                <a:close/>
              </a:path>
              <a:path w="85725" h="561339">
                <a:moveTo>
                  <a:pt x="57150" y="82850"/>
                </a:moveTo>
                <a:lnTo>
                  <a:pt x="42925" y="85725"/>
                </a:lnTo>
                <a:lnTo>
                  <a:pt x="57150" y="85725"/>
                </a:lnTo>
                <a:lnTo>
                  <a:pt x="57150" y="82850"/>
                </a:lnTo>
                <a:close/>
              </a:path>
              <a:path w="85725" h="561339">
                <a:moveTo>
                  <a:pt x="85725" y="42925"/>
                </a:moveTo>
                <a:lnTo>
                  <a:pt x="57150" y="42925"/>
                </a:lnTo>
                <a:lnTo>
                  <a:pt x="57150" y="82850"/>
                </a:lnTo>
                <a:lnTo>
                  <a:pt x="59578" y="82359"/>
                </a:lnTo>
                <a:lnTo>
                  <a:pt x="73183" y="73183"/>
                </a:lnTo>
                <a:lnTo>
                  <a:pt x="82359" y="59578"/>
                </a:lnTo>
                <a:lnTo>
                  <a:pt x="85725" y="42925"/>
                </a:lnTo>
                <a:close/>
              </a:path>
              <a:path w="85725" h="561339">
                <a:moveTo>
                  <a:pt x="42925" y="0"/>
                </a:moveTo>
                <a:lnTo>
                  <a:pt x="26253" y="3385"/>
                </a:lnTo>
                <a:lnTo>
                  <a:pt x="12604" y="12604"/>
                </a:lnTo>
                <a:lnTo>
                  <a:pt x="3385" y="26253"/>
                </a:lnTo>
                <a:lnTo>
                  <a:pt x="0" y="42925"/>
                </a:lnTo>
                <a:lnTo>
                  <a:pt x="3385" y="59578"/>
                </a:lnTo>
                <a:lnTo>
                  <a:pt x="12604" y="73183"/>
                </a:lnTo>
                <a:lnTo>
                  <a:pt x="26253" y="82359"/>
                </a:lnTo>
                <a:lnTo>
                  <a:pt x="28575" y="82828"/>
                </a:lnTo>
                <a:lnTo>
                  <a:pt x="28575" y="42925"/>
                </a:lnTo>
                <a:lnTo>
                  <a:pt x="85725" y="42925"/>
                </a:lnTo>
                <a:lnTo>
                  <a:pt x="82359" y="26253"/>
                </a:lnTo>
                <a:lnTo>
                  <a:pt x="73183" y="12604"/>
                </a:lnTo>
                <a:lnTo>
                  <a:pt x="59578" y="3385"/>
                </a:lnTo>
                <a:lnTo>
                  <a:pt x="42925" y="0"/>
                </a:lnTo>
                <a:close/>
              </a:path>
            </a:pathLst>
          </a:custGeom>
          <a:solidFill>
            <a:srgbClr val="80808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80" name="object 80"/>
          <p:cNvSpPr/>
          <p:nvPr/>
        </p:nvSpPr>
        <p:spPr>
          <a:xfrm>
            <a:off x="6325196" y="4830482"/>
            <a:ext cx="85664" cy="560942"/>
          </a:xfrm>
          <a:custGeom>
            <a:avLst/>
            <a:gdLst/>
            <a:ahLst/>
            <a:cxnLst/>
            <a:rect l="l" t="t" r="r" b="b"/>
            <a:pathLst>
              <a:path w="85725" h="561339">
                <a:moveTo>
                  <a:pt x="28575" y="82828"/>
                </a:moveTo>
                <a:lnTo>
                  <a:pt x="28575" y="561085"/>
                </a:lnTo>
                <a:lnTo>
                  <a:pt x="57150" y="561085"/>
                </a:lnTo>
                <a:lnTo>
                  <a:pt x="57150" y="85725"/>
                </a:lnTo>
                <a:lnTo>
                  <a:pt x="42925" y="85725"/>
                </a:lnTo>
                <a:lnTo>
                  <a:pt x="28575" y="82828"/>
                </a:lnTo>
                <a:close/>
              </a:path>
              <a:path w="85725" h="561339">
                <a:moveTo>
                  <a:pt x="57150" y="42925"/>
                </a:moveTo>
                <a:lnTo>
                  <a:pt x="28575" y="42925"/>
                </a:lnTo>
                <a:lnTo>
                  <a:pt x="28685" y="82850"/>
                </a:lnTo>
                <a:lnTo>
                  <a:pt x="42925" y="85725"/>
                </a:lnTo>
                <a:lnTo>
                  <a:pt x="57150" y="82850"/>
                </a:lnTo>
                <a:lnTo>
                  <a:pt x="57150" y="42925"/>
                </a:lnTo>
                <a:close/>
              </a:path>
              <a:path w="85725" h="561339">
                <a:moveTo>
                  <a:pt x="57150" y="82850"/>
                </a:moveTo>
                <a:lnTo>
                  <a:pt x="42925" y="85725"/>
                </a:lnTo>
                <a:lnTo>
                  <a:pt x="57150" y="85725"/>
                </a:lnTo>
                <a:lnTo>
                  <a:pt x="57150" y="82850"/>
                </a:lnTo>
                <a:close/>
              </a:path>
              <a:path w="85725" h="561339">
                <a:moveTo>
                  <a:pt x="85725" y="42925"/>
                </a:moveTo>
                <a:lnTo>
                  <a:pt x="57150" y="42925"/>
                </a:lnTo>
                <a:lnTo>
                  <a:pt x="57150" y="82850"/>
                </a:lnTo>
                <a:lnTo>
                  <a:pt x="59578" y="82359"/>
                </a:lnTo>
                <a:lnTo>
                  <a:pt x="73183" y="73183"/>
                </a:lnTo>
                <a:lnTo>
                  <a:pt x="82359" y="59578"/>
                </a:lnTo>
                <a:lnTo>
                  <a:pt x="85725" y="42925"/>
                </a:lnTo>
                <a:close/>
              </a:path>
              <a:path w="85725" h="561339">
                <a:moveTo>
                  <a:pt x="42925" y="0"/>
                </a:moveTo>
                <a:lnTo>
                  <a:pt x="26253" y="3385"/>
                </a:lnTo>
                <a:lnTo>
                  <a:pt x="12604" y="12604"/>
                </a:lnTo>
                <a:lnTo>
                  <a:pt x="3385" y="26253"/>
                </a:lnTo>
                <a:lnTo>
                  <a:pt x="0" y="42925"/>
                </a:lnTo>
                <a:lnTo>
                  <a:pt x="3385" y="59578"/>
                </a:lnTo>
                <a:lnTo>
                  <a:pt x="12604" y="73183"/>
                </a:lnTo>
                <a:lnTo>
                  <a:pt x="26253" y="82359"/>
                </a:lnTo>
                <a:lnTo>
                  <a:pt x="28575" y="82828"/>
                </a:lnTo>
                <a:lnTo>
                  <a:pt x="28575" y="42925"/>
                </a:lnTo>
                <a:lnTo>
                  <a:pt x="85725" y="42925"/>
                </a:lnTo>
                <a:lnTo>
                  <a:pt x="82359" y="26253"/>
                </a:lnTo>
                <a:lnTo>
                  <a:pt x="73183" y="12604"/>
                </a:lnTo>
                <a:lnTo>
                  <a:pt x="59578" y="3385"/>
                </a:lnTo>
                <a:lnTo>
                  <a:pt x="42925" y="0"/>
                </a:lnTo>
                <a:close/>
              </a:path>
            </a:pathLst>
          </a:custGeom>
          <a:solidFill>
            <a:srgbClr val="80808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81" name="object 81"/>
          <p:cNvSpPr/>
          <p:nvPr/>
        </p:nvSpPr>
        <p:spPr>
          <a:xfrm>
            <a:off x="180466" y="4335787"/>
            <a:ext cx="8515030" cy="0"/>
          </a:xfrm>
          <a:custGeom>
            <a:avLst/>
            <a:gdLst/>
            <a:ahLst/>
            <a:cxnLst/>
            <a:rect l="l" t="t" r="r" b="b"/>
            <a:pathLst>
              <a:path w="8521065">
                <a:moveTo>
                  <a:pt x="0" y="0"/>
                </a:moveTo>
                <a:lnTo>
                  <a:pt x="8520684" y="0"/>
                </a:lnTo>
              </a:path>
            </a:pathLst>
          </a:custGeom>
          <a:ln w="2857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82" name="object 82"/>
          <p:cNvSpPr/>
          <p:nvPr/>
        </p:nvSpPr>
        <p:spPr>
          <a:xfrm>
            <a:off x="4453782" y="1915867"/>
            <a:ext cx="2185391" cy="1401087"/>
          </a:xfrm>
          <a:custGeom>
            <a:avLst/>
            <a:gdLst/>
            <a:ahLst/>
            <a:cxnLst/>
            <a:rect l="l" t="t" r="r" b="b"/>
            <a:pathLst>
              <a:path w="2186940" h="1402079">
                <a:moveTo>
                  <a:pt x="0" y="701039"/>
                </a:moveTo>
                <a:lnTo>
                  <a:pt x="6012" y="627074"/>
                </a:lnTo>
                <a:lnTo>
                  <a:pt x="23647" y="555330"/>
                </a:lnTo>
                <a:lnTo>
                  <a:pt x="52299" y="486193"/>
                </a:lnTo>
                <a:lnTo>
                  <a:pt x="70568" y="452724"/>
                </a:lnTo>
                <a:lnTo>
                  <a:pt x="91365" y="420052"/>
                </a:lnTo>
                <a:lnTo>
                  <a:pt x="114613" y="388225"/>
                </a:lnTo>
                <a:lnTo>
                  <a:pt x="140238" y="357293"/>
                </a:lnTo>
                <a:lnTo>
                  <a:pt x="168164" y="327303"/>
                </a:lnTo>
                <a:lnTo>
                  <a:pt x="198315" y="298304"/>
                </a:lnTo>
                <a:lnTo>
                  <a:pt x="230616" y="270345"/>
                </a:lnTo>
                <a:lnTo>
                  <a:pt x="264991" y="243473"/>
                </a:lnTo>
                <a:lnTo>
                  <a:pt x="301365" y="217737"/>
                </a:lnTo>
                <a:lnTo>
                  <a:pt x="339662" y="193186"/>
                </a:lnTo>
                <a:lnTo>
                  <a:pt x="379806" y="169869"/>
                </a:lnTo>
                <a:lnTo>
                  <a:pt x="421721" y="147832"/>
                </a:lnTo>
                <a:lnTo>
                  <a:pt x="465333" y="127125"/>
                </a:lnTo>
                <a:lnTo>
                  <a:pt x="510566" y="107797"/>
                </a:lnTo>
                <a:lnTo>
                  <a:pt x="557344" y="89895"/>
                </a:lnTo>
                <a:lnTo>
                  <a:pt x="605591" y="73469"/>
                </a:lnTo>
                <a:lnTo>
                  <a:pt x="655232" y="58566"/>
                </a:lnTo>
                <a:lnTo>
                  <a:pt x="706191" y="45235"/>
                </a:lnTo>
                <a:lnTo>
                  <a:pt x="758393" y="33524"/>
                </a:lnTo>
                <a:lnTo>
                  <a:pt x="811762" y="23482"/>
                </a:lnTo>
                <a:lnTo>
                  <a:pt x="866223" y="15158"/>
                </a:lnTo>
                <a:lnTo>
                  <a:pt x="921700" y="8599"/>
                </a:lnTo>
                <a:lnTo>
                  <a:pt x="978117" y="3854"/>
                </a:lnTo>
                <a:lnTo>
                  <a:pt x="1035398" y="971"/>
                </a:lnTo>
                <a:lnTo>
                  <a:pt x="1093470" y="0"/>
                </a:lnTo>
                <a:lnTo>
                  <a:pt x="1151541" y="971"/>
                </a:lnTo>
                <a:lnTo>
                  <a:pt x="1208822" y="3854"/>
                </a:lnTo>
                <a:lnTo>
                  <a:pt x="1265239" y="8599"/>
                </a:lnTo>
                <a:lnTo>
                  <a:pt x="1320716" y="15158"/>
                </a:lnTo>
                <a:lnTo>
                  <a:pt x="1375177" y="23482"/>
                </a:lnTo>
                <a:lnTo>
                  <a:pt x="1428546" y="33524"/>
                </a:lnTo>
                <a:lnTo>
                  <a:pt x="1480748" y="45235"/>
                </a:lnTo>
                <a:lnTo>
                  <a:pt x="1531707" y="58566"/>
                </a:lnTo>
                <a:lnTo>
                  <a:pt x="1581348" y="73469"/>
                </a:lnTo>
                <a:lnTo>
                  <a:pt x="1629595" y="89895"/>
                </a:lnTo>
                <a:lnTo>
                  <a:pt x="1676373" y="107797"/>
                </a:lnTo>
                <a:lnTo>
                  <a:pt x="1721606" y="127125"/>
                </a:lnTo>
                <a:lnTo>
                  <a:pt x="1765218" y="147832"/>
                </a:lnTo>
                <a:lnTo>
                  <a:pt x="1807133" y="169869"/>
                </a:lnTo>
                <a:lnTo>
                  <a:pt x="1847277" y="193186"/>
                </a:lnTo>
                <a:lnTo>
                  <a:pt x="1885574" y="217737"/>
                </a:lnTo>
                <a:lnTo>
                  <a:pt x="1921948" y="243473"/>
                </a:lnTo>
                <a:lnTo>
                  <a:pt x="1956323" y="270345"/>
                </a:lnTo>
                <a:lnTo>
                  <a:pt x="1988624" y="298304"/>
                </a:lnTo>
                <a:lnTo>
                  <a:pt x="2018775" y="327303"/>
                </a:lnTo>
                <a:lnTo>
                  <a:pt x="2046701" y="357293"/>
                </a:lnTo>
                <a:lnTo>
                  <a:pt x="2072326" y="388225"/>
                </a:lnTo>
                <a:lnTo>
                  <a:pt x="2095574" y="420052"/>
                </a:lnTo>
                <a:lnTo>
                  <a:pt x="2116371" y="452724"/>
                </a:lnTo>
                <a:lnTo>
                  <a:pt x="2134640" y="486193"/>
                </a:lnTo>
                <a:lnTo>
                  <a:pt x="2163292" y="555330"/>
                </a:lnTo>
                <a:lnTo>
                  <a:pt x="2180927" y="627074"/>
                </a:lnTo>
                <a:lnTo>
                  <a:pt x="2186940" y="701039"/>
                </a:lnTo>
                <a:lnTo>
                  <a:pt x="2185424" y="738275"/>
                </a:lnTo>
                <a:lnTo>
                  <a:pt x="2173524" y="811179"/>
                </a:lnTo>
                <a:lnTo>
                  <a:pt x="2150305" y="881668"/>
                </a:lnTo>
                <a:lnTo>
                  <a:pt x="2116371" y="949355"/>
                </a:lnTo>
                <a:lnTo>
                  <a:pt x="2095574" y="982027"/>
                </a:lnTo>
                <a:lnTo>
                  <a:pt x="2072326" y="1013854"/>
                </a:lnTo>
                <a:lnTo>
                  <a:pt x="2046701" y="1044786"/>
                </a:lnTo>
                <a:lnTo>
                  <a:pt x="2018775" y="1074776"/>
                </a:lnTo>
                <a:lnTo>
                  <a:pt x="1988624" y="1103775"/>
                </a:lnTo>
                <a:lnTo>
                  <a:pt x="1956323" y="1131734"/>
                </a:lnTo>
                <a:lnTo>
                  <a:pt x="1921948" y="1158606"/>
                </a:lnTo>
                <a:lnTo>
                  <a:pt x="1885574" y="1184342"/>
                </a:lnTo>
                <a:lnTo>
                  <a:pt x="1847277" y="1208893"/>
                </a:lnTo>
                <a:lnTo>
                  <a:pt x="1807133" y="1232210"/>
                </a:lnTo>
                <a:lnTo>
                  <a:pt x="1765218" y="1254247"/>
                </a:lnTo>
                <a:lnTo>
                  <a:pt x="1721606" y="1274954"/>
                </a:lnTo>
                <a:lnTo>
                  <a:pt x="1676373" y="1294282"/>
                </a:lnTo>
                <a:lnTo>
                  <a:pt x="1629595" y="1312184"/>
                </a:lnTo>
                <a:lnTo>
                  <a:pt x="1581348" y="1328610"/>
                </a:lnTo>
                <a:lnTo>
                  <a:pt x="1531707" y="1343513"/>
                </a:lnTo>
                <a:lnTo>
                  <a:pt x="1480748" y="1356844"/>
                </a:lnTo>
                <a:lnTo>
                  <a:pt x="1428546" y="1368555"/>
                </a:lnTo>
                <a:lnTo>
                  <a:pt x="1375177" y="1378597"/>
                </a:lnTo>
                <a:lnTo>
                  <a:pt x="1320716" y="1386921"/>
                </a:lnTo>
                <a:lnTo>
                  <a:pt x="1265239" y="1393480"/>
                </a:lnTo>
                <a:lnTo>
                  <a:pt x="1208822" y="1398225"/>
                </a:lnTo>
                <a:lnTo>
                  <a:pt x="1151541" y="1401108"/>
                </a:lnTo>
                <a:lnTo>
                  <a:pt x="1093470" y="1402080"/>
                </a:lnTo>
                <a:lnTo>
                  <a:pt x="1035398" y="1401108"/>
                </a:lnTo>
                <a:lnTo>
                  <a:pt x="978117" y="1398225"/>
                </a:lnTo>
                <a:lnTo>
                  <a:pt x="921700" y="1393480"/>
                </a:lnTo>
                <a:lnTo>
                  <a:pt x="866223" y="1386921"/>
                </a:lnTo>
                <a:lnTo>
                  <a:pt x="811762" y="1378597"/>
                </a:lnTo>
                <a:lnTo>
                  <a:pt x="758393" y="1368555"/>
                </a:lnTo>
                <a:lnTo>
                  <a:pt x="706191" y="1356844"/>
                </a:lnTo>
                <a:lnTo>
                  <a:pt x="655232" y="1343513"/>
                </a:lnTo>
                <a:lnTo>
                  <a:pt x="605591" y="1328610"/>
                </a:lnTo>
                <a:lnTo>
                  <a:pt x="557344" y="1312184"/>
                </a:lnTo>
                <a:lnTo>
                  <a:pt x="510566" y="1294282"/>
                </a:lnTo>
                <a:lnTo>
                  <a:pt x="465333" y="1274954"/>
                </a:lnTo>
                <a:lnTo>
                  <a:pt x="421721" y="1254247"/>
                </a:lnTo>
                <a:lnTo>
                  <a:pt x="379806" y="1232210"/>
                </a:lnTo>
                <a:lnTo>
                  <a:pt x="339662" y="1208893"/>
                </a:lnTo>
                <a:lnTo>
                  <a:pt x="301365" y="1184342"/>
                </a:lnTo>
                <a:lnTo>
                  <a:pt x="264991" y="1158606"/>
                </a:lnTo>
                <a:lnTo>
                  <a:pt x="230616" y="1131734"/>
                </a:lnTo>
                <a:lnTo>
                  <a:pt x="198315" y="1103775"/>
                </a:lnTo>
                <a:lnTo>
                  <a:pt x="168164" y="1074776"/>
                </a:lnTo>
                <a:lnTo>
                  <a:pt x="140238" y="1044786"/>
                </a:lnTo>
                <a:lnTo>
                  <a:pt x="114613" y="1013854"/>
                </a:lnTo>
                <a:lnTo>
                  <a:pt x="91365" y="982027"/>
                </a:lnTo>
                <a:lnTo>
                  <a:pt x="70568" y="949355"/>
                </a:lnTo>
                <a:lnTo>
                  <a:pt x="52299" y="915886"/>
                </a:lnTo>
                <a:lnTo>
                  <a:pt x="23647" y="846749"/>
                </a:lnTo>
                <a:lnTo>
                  <a:pt x="6012" y="775005"/>
                </a:lnTo>
                <a:lnTo>
                  <a:pt x="0" y="701039"/>
                </a:lnTo>
                <a:close/>
              </a:path>
            </a:pathLst>
          </a:custGeom>
          <a:ln w="19050">
            <a:solidFill>
              <a:srgbClr val="FF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83" name="object 83"/>
          <p:cNvSpPr txBox="1"/>
          <p:nvPr/>
        </p:nvSpPr>
        <p:spPr>
          <a:xfrm>
            <a:off x="4775624" y="2636411"/>
            <a:ext cx="1451851" cy="382905"/>
          </a:xfrm>
          <a:prstGeom prst="rect">
            <a:avLst/>
          </a:prstGeom>
        </p:spPr>
        <p:txBody>
          <a:bodyPr vert="horz" wrap="square" lIns="0" tIns="12691" rIns="0" bIns="0" rtlCol="0">
            <a:spAutoFit/>
          </a:bodyPr>
          <a:lstStyle/>
          <a:p>
            <a:pPr marL="12700">
              <a:lnSpc>
                <a:spcPct val="100000"/>
              </a:lnSpc>
              <a:spcBef>
                <a:spcPts val="100"/>
              </a:spcBef>
            </a:pPr>
            <a:r>
              <a:rPr sz="1200" b="1" spc="10" dirty="0">
                <a:latin typeface="微软雅黑" panose="020B0503020204020204" charset="-122"/>
                <a:ea typeface="微软雅黑" panose="020B0503020204020204" charset="-122"/>
                <a:cs typeface="微软雅黑" panose="020B0503020204020204" charset="-122"/>
              </a:rPr>
              <a:t>一般在</a:t>
            </a:r>
            <a:r>
              <a:rPr sz="1200" b="1" dirty="0">
                <a:latin typeface="微软雅黑" panose="020B0503020204020204" charset="-122"/>
                <a:ea typeface="微软雅黑" panose="020B0503020204020204" charset="-122"/>
                <a:cs typeface="微软雅黑" panose="020B0503020204020204" charset="-122"/>
              </a:rPr>
              <a:t>定价时常被乎</a:t>
            </a:r>
            <a:endParaRPr sz="1200">
              <a:latin typeface="微软雅黑" panose="020B0503020204020204" charset="-122"/>
              <a:ea typeface="微软雅黑" panose="020B0503020204020204" charset="-122"/>
              <a:cs typeface="微软雅黑" panose="020B0503020204020204" charset="-122"/>
            </a:endParaRPr>
          </a:p>
          <a:p>
            <a:pPr marL="12700">
              <a:lnSpc>
                <a:spcPct val="100000"/>
              </a:lnSpc>
              <a:spcBef>
                <a:spcPts val="15"/>
              </a:spcBef>
            </a:pPr>
            <a:r>
              <a:rPr sz="1200" b="1" spc="5" dirty="0">
                <a:latin typeface="微软雅黑" panose="020B0503020204020204" charset="-122"/>
                <a:ea typeface="微软雅黑" panose="020B0503020204020204" charset="-122"/>
                <a:cs typeface="微软雅黑" panose="020B0503020204020204" charset="-122"/>
              </a:rPr>
              <a:t>略的成</a:t>
            </a:r>
            <a:r>
              <a:rPr sz="1200" b="1" spc="-5" dirty="0">
                <a:latin typeface="微软雅黑" panose="020B0503020204020204" charset="-122"/>
                <a:ea typeface="微软雅黑" panose="020B0503020204020204" charset="-122"/>
                <a:cs typeface="微软雅黑" panose="020B0503020204020204" charset="-122"/>
              </a:rPr>
              <a:t>本，约</a:t>
            </a:r>
            <a:r>
              <a:rPr sz="1200" b="1" spc="-10" dirty="0">
                <a:latin typeface="微软雅黑" panose="020B0503020204020204" charset="-122"/>
                <a:ea typeface="微软雅黑" panose="020B0503020204020204" charset="-122"/>
                <a:cs typeface="微软雅黑" panose="020B0503020204020204" charset="-122"/>
              </a:rPr>
              <a:t>占</a:t>
            </a:r>
            <a:r>
              <a:rPr sz="1200" b="1" spc="-5" dirty="0">
                <a:latin typeface="微软雅黑" panose="020B0503020204020204" charset="-122"/>
                <a:ea typeface="微软雅黑" panose="020B0503020204020204" charset="-122"/>
                <a:cs typeface="微软雅黑" panose="020B0503020204020204" charset="-122"/>
              </a:rPr>
              <a:t>2-3%</a:t>
            </a:r>
            <a:endParaRPr sz="1200">
              <a:latin typeface="微软雅黑" panose="020B0503020204020204" charset="-122"/>
              <a:ea typeface="微软雅黑" panose="020B0503020204020204" charset="-122"/>
              <a:cs typeface="微软雅黑" panose="020B0503020204020204" charset="-122"/>
            </a:endParaRPr>
          </a:p>
        </p:txBody>
      </p:sp>
      <p:sp>
        <p:nvSpPr>
          <p:cNvPr id="84" name="object 84"/>
          <p:cNvSpPr txBox="1"/>
          <p:nvPr/>
        </p:nvSpPr>
        <p:spPr>
          <a:xfrm>
            <a:off x="106401" y="6412696"/>
            <a:ext cx="1416316"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资料来源：匿名客户案例</a:t>
            </a:r>
            <a:endParaRPr sz="1000" spc="-10" dirty="0">
              <a:latin typeface="微软雅黑" panose="020B0503020204020204" charset="-122"/>
              <a:ea typeface="微软雅黑" panose="020B0503020204020204" charset="-122"/>
              <a:cs typeface="微软雅黑" panose="020B0503020204020204" charset="-122"/>
            </a:endParaRPr>
          </a:p>
        </p:txBody>
      </p:sp>
      <p:sp>
        <p:nvSpPr>
          <p:cNvPr id="85" name="object 85"/>
          <p:cNvSpPr/>
          <p:nvPr/>
        </p:nvSpPr>
        <p:spPr>
          <a:xfrm>
            <a:off x="4775879" y="5180247"/>
            <a:ext cx="1128865" cy="812224"/>
          </a:xfrm>
          <a:custGeom>
            <a:avLst/>
            <a:gdLst/>
            <a:ahLst/>
            <a:cxnLst/>
            <a:rect l="l" t="t" r="r" b="b"/>
            <a:pathLst>
              <a:path w="1129664" h="812800">
                <a:moveTo>
                  <a:pt x="0" y="812291"/>
                </a:moveTo>
                <a:lnTo>
                  <a:pt x="1129284" y="812291"/>
                </a:lnTo>
                <a:lnTo>
                  <a:pt x="1129284" y="0"/>
                </a:lnTo>
                <a:lnTo>
                  <a:pt x="0" y="0"/>
                </a:lnTo>
                <a:lnTo>
                  <a:pt x="0" y="812291"/>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86" name="object 86"/>
          <p:cNvSpPr txBox="1"/>
          <p:nvPr/>
        </p:nvSpPr>
        <p:spPr>
          <a:xfrm>
            <a:off x="4775879" y="5180247"/>
            <a:ext cx="1128865" cy="674370"/>
          </a:xfrm>
          <a:prstGeom prst="rect">
            <a:avLst/>
          </a:prstGeom>
          <a:ln w="9525">
            <a:solidFill>
              <a:srgbClr val="808080"/>
            </a:solidFill>
          </a:ln>
        </p:spPr>
        <p:txBody>
          <a:bodyPr vert="horz" wrap="square" lIns="0" tIns="121199" rIns="0" bIns="0" rtlCol="0">
            <a:spAutoFit/>
          </a:bodyPr>
          <a:lstStyle/>
          <a:p>
            <a:pPr marL="73025" marR="133350" algn="just">
              <a:lnSpc>
                <a:spcPct val="100000"/>
              </a:lnSpc>
              <a:spcBef>
                <a:spcPts val="955"/>
              </a:spcBef>
            </a:pPr>
            <a:r>
              <a:rPr sz="1200" dirty="0">
                <a:latin typeface="微软雅黑" panose="020B0503020204020204" charset="-122"/>
                <a:ea typeface="微软雅黑" panose="020B0503020204020204" charset="-122"/>
                <a:cs typeface="微软雅黑" panose="020B0503020204020204" charset="-122"/>
              </a:rPr>
              <a:t>在送货或取货 前库存成品的 持有成本</a:t>
            </a:r>
            <a:endParaRPr sz="1200" dirty="0">
              <a:latin typeface="微软雅黑" panose="020B0503020204020204" charset="-122"/>
              <a:ea typeface="微软雅黑" panose="020B0503020204020204" charset="-122"/>
              <a:cs typeface="微软雅黑" panose="020B0503020204020204" charset="-122"/>
            </a:endParaRPr>
          </a:p>
        </p:txBody>
      </p:sp>
      <p:sp>
        <p:nvSpPr>
          <p:cNvPr id="87" name="object 87"/>
          <p:cNvSpPr/>
          <p:nvPr/>
        </p:nvSpPr>
        <p:spPr>
          <a:xfrm>
            <a:off x="6052087" y="5180247"/>
            <a:ext cx="954998" cy="812224"/>
          </a:xfrm>
          <a:custGeom>
            <a:avLst/>
            <a:gdLst/>
            <a:ahLst/>
            <a:cxnLst/>
            <a:rect l="l" t="t" r="r" b="b"/>
            <a:pathLst>
              <a:path w="955675" h="812800">
                <a:moveTo>
                  <a:pt x="0" y="812291"/>
                </a:moveTo>
                <a:lnTo>
                  <a:pt x="955548" y="812291"/>
                </a:lnTo>
                <a:lnTo>
                  <a:pt x="955548" y="0"/>
                </a:lnTo>
                <a:lnTo>
                  <a:pt x="0" y="0"/>
                </a:lnTo>
                <a:lnTo>
                  <a:pt x="0" y="812291"/>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88" name="object 88"/>
          <p:cNvSpPr txBox="1"/>
          <p:nvPr/>
        </p:nvSpPr>
        <p:spPr>
          <a:xfrm>
            <a:off x="6873956" y="5471531"/>
            <a:ext cx="177674" cy="196215"/>
          </a:xfrm>
          <a:prstGeom prst="rect">
            <a:avLst/>
          </a:prstGeom>
        </p:spPr>
        <p:txBody>
          <a:bodyPr vert="horz" wrap="square" lIns="0" tIns="12691" rIns="0" bIns="0" rtlCol="0">
            <a:spAutoFit/>
          </a:bodyPr>
          <a:lstStyle/>
          <a:p>
            <a:pPr marL="12700">
              <a:lnSpc>
                <a:spcPct val="100000"/>
              </a:lnSpc>
              <a:spcBef>
                <a:spcPts val="100"/>
              </a:spcBef>
            </a:pPr>
            <a:r>
              <a:rPr sz="1200" dirty="0">
                <a:latin typeface="微软雅黑" panose="020B0503020204020204" charset="-122"/>
                <a:ea typeface="微软雅黑" panose="020B0503020204020204" charset="-122"/>
                <a:cs typeface="微软雅黑" panose="020B0503020204020204" charset="-122"/>
              </a:rPr>
              <a:t>、</a:t>
            </a:r>
            <a:endParaRPr sz="1200" dirty="0">
              <a:latin typeface="微软雅黑" panose="020B0503020204020204" charset="-122"/>
              <a:ea typeface="微软雅黑" panose="020B0503020204020204" charset="-122"/>
              <a:cs typeface="微软雅黑" panose="020B0503020204020204" charset="-122"/>
            </a:endParaRPr>
          </a:p>
        </p:txBody>
      </p:sp>
      <p:sp>
        <p:nvSpPr>
          <p:cNvPr id="89" name="object 89"/>
          <p:cNvSpPr txBox="1"/>
          <p:nvPr/>
        </p:nvSpPr>
        <p:spPr>
          <a:xfrm>
            <a:off x="6052087" y="5180247"/>
            <a:ext cx="954998" cy="674370"/>
          </a:xfrm>
          <a:prstGeom prst="rect">
            <a:avLst/>
          </a:prstGeom>
          <a:ln w="9525">
            <a:solidFill>
              <a:srgbClr val="808080"/>
            </a:solidFill>
          </a:ln>
        </p:spPr>
        <p:txBody>
          <a:bodyPr vert="horz" wrap="square" lIns="0" tIns="121199" rIns="0" bIns="0" rtlCol="0">
            <a:spAutoFit/>
          </a:bodyPr>
          <a:lstStyle/>
          <a:p>
            <a:pPr marL="73025" marR="112395" algn="just">
              <a:lnSpc>
                <a:spcPct val="100000"/>
              </a:lnSpc>
              <a:spcBef>
                <a:spcPts val="955"/>
              </a:spcBef>
            </a:pPr>
            <a:r>
              <a:rPr sz="1200" dirty="0">
                <a:latin typeface="微软雅黑" panose="020B0503020204020204" charset="-122"/>
                <a:ea typeface="微软雅黑" panose="020B0503020204020204" charset="-122"/>
                <a:cs typeface="微软雅黑" panose="020B0503020204020204" charset="-122"/>
              </a:rPr>
              <a:t>包括数量折 扣、招待费 联合营销</a:t>
            </a:r>
            <a:endParaRPr sz="1200" dirty="0">
              <a:latin typeface="微软雅黑" panose="020B0503020204020204" charset="-122"/>
              <a:ea typeface="微软雅黑" panose="020B0503020204020204" charset="-122"/>
              <a:cs typeface="微软雅黑" panose="020B0503020204020204" charset="-122"/>
            </a:endParaRPr>
          </a:p>
        </p:txBody>
      </p:sp>
      <p:sp>
        <p:nvSpPr>
          <p:cNvPr id="90" name="object 90"/>
          <p:cNvSpPr/>
          <p:nvPr/>
        </p:nvSpPr>
        <p:spPr>
          <a:xfrm>
            <a:off x="1708716" y="5180247"/>
            <a:ext cx="954998" cy="812224"/>
          </a:xfrm>
          <a:custGeom>
            <a:avLst/>
            <a:gdLst/>
            <a:ahLst/>
            <a:cxnLst/>
            <a:rect l="l" t="t" r="r" b="b"/>
            <a:pathLst>
              <a:path w="955675" h="812800">
                <a:moveTo>
                  <a:pt x="0" y="812291"/>
                </a:moveTo>
                <a:lnTo>
                  <a:pt x="955548" y="812291"/>
                </a:lnTo>
                <a:lnTo>
                  <a:pt x="955548" y="0"/>
                </a:lnTo>
                <a:lnTo>
                  <a:pt x="0" y="0"/>
                </a:lnTo>
                <a:lnTo>
                  <a:pt x="0" y="812291"/>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1" name="object 91"/>
          <p:cNvSpPr txBox="1"/>
          <p:nvPr/>
        </p:nvSpPr>
        <p:spPr>
          <a:xfrm>
            <a:off x="1708716" y="5180247"/>
            <a:ext cx="954998" cy="731520"/>
          </a:xfrm>
          <a:prstGeom prst="rect">
            <a:avLst/>
          </a:prstGeom>
          <a:ln w="9525">
            <a:solidFill>
              <a:srgbClr val="808080"/>
            </a:solidFill>
          </a:ln>
        </p:spPr>
        <p:txBody>
          <a:bodyPr vert="horz" wrap="square" lIns="0" tIns="48859" rIns="0" bIns="0" rtlCol="0">
            <a:spAutoFit/>
          </a:bodyPr>
          <a:lstStyle/>
          <a:p>
            <a:pPr marL="71755">
              <a:lnSpc>
                <a:spcPts val="1370"/>
              </a:lnSpc>
              <a:spcBef>
                <a:spcPts val="385"/>
              </a:spcBef>
            </a:pPr>
            <a:r>
              <a:rPr sz="1200" spc="-5" dirty="0">
                <a:latin typeface="微软雅黑" panose="020B0503020204020204" charset="-122"/>
                <a:ea typeface="微软雅黑" panose="020B0503020204020204" charset="-122"/>
                <a:cs typeface="微软雅黑" panose="020B0503020204020204" charset="-122"/>
              </a:rPr>
              <a:t>包括</a:t>
            </a:r>
            <a:endParaRPr sz="1200">
              <a:latin typeface="微软雅黑" panose="020B0503020204020204" charset="-122"/>
              <a:ea typeface="微软雅黑" panose="020B0503020204020204" charset="-122"/>
              <a:cs typeface="微软雅黑" panose="020B0503020204020204" charset="-122"/>
            </a:endParaRPr>
          </a:p>
          <a:p>
            <a:pPr marL="265430" indent="-192405">
              <a:lnSpc>
                <a:spcPts val="1295"/>
              </a:lnSpc>
              <a:buClr>
                <a:srgbClr val="00295F"/>
              </a:buClr>
              <a:buSzPct val="125000"/>
              <a:buFont typeface="Arial" panose="020B0604020202020204"/>
              <a:buChar char="▪"/>
              <a:tabLst>
                <a:tab pos="266065" algn="l"/>
              </a:tabLst>
            </a:pPr>
            <a:r>
              <a:rPr sz="1200" dirty="0">
                <a:latin typeface="微软雅黑" panose="020B0503020204020204" charset="-122"/>
                <a:ea typeface="微软雅黑" panose="020B0503020204020204" charset="-122"/>
                <a:cs typeface="微软雅黑" panose="020B0503020204020204" charset="-122"/>
              </a:rPr>
              <a:t>寄售</a:t>
            </a:r>
            <a:endParaRPr sz="1200">
              <a:latin typeface="微软雅黑" panose="020B0503020204020204" charset="-122"/>
              <a:ea typeface="微软雅黑" panose="020B0503020204020204" charset="-122"/>
              <a:cs typeface="微软雅黑" panose="020B0503020204020204" charset="-122"/>
            </a:endParaRPr>
          </a:p>
          <a:p>
            <a:pPr marL="265430" indent="-192405">
              <a:lnSpc>
                <a:spcPts val="1295"/>
              </a:lnSpc>
              <a:buClr>
                <a:srgbClr val="00295F"/>
              </a:buClr>
              <a:buSzPct val="125000"/>
              <a:buFont typeface="Arial" panose="020B0604020202020204"/>
              <a:buChar char="▪"/>
              <a:tabLst>
                <a:tab pos="266065" algn="l"/>
              </a:tabLst>
            </a:pPr>
            <a:r>
              <a:rPr sz="1200" dirty="0">
                <a:latin typeface="微软雅黑" panose="020B0503020204020204" charset="-122"/>
                <a:ea typeface="微软雅黑" panose="020B0503020204020204" charset="-122"/>
                <a:cs typeface="微软雅黑" panose="020B0503020204020204" charset="-122"/>
              </a:rPr>
              <a:t>快速送货</a:t>
            </a:r>
            <a:endParaRPr sz="1200">
              <a:latin typeface="微软雅黑" panose="020B0503020204020204" charset="-122"/>
              <a:ea typeface="微软雅黑" panose="020B0503020204020204" charset="-122"/>
              <a:cs typeface="微软雅黑" panose="020B0503020204020204" charset="-122"/>
            </a:endParaRPr>
          </a:p>
          <a:p>
            <a:pPr marL="265430" indent="-192405">
              <a:lnSpc>
                <a:spcPts val="1370"/>
              </a:lnSpc>
              <a:buClr>
                <a:srgbClr val="00295F"/>
              </a:buClr>
              <a:buSzPct val="125000"/>
              <a:buFont typeface="Arial" panose="020B0604020202020204"/>
              <a:buChar char="▪"/>
              <a:tabLst>
                <a:tab pos="266065" algn="l"/>
              </a:tabLst>
            </a:pPr>
            <a:r>
              <a:rPr sz="1200" dirty="0">
                <a:latin typeface="微软雅黑" panose="020B0503020204020204" charset="-122"/>
                <a:ea typeface="微软雅黑" panose="020B0503020204020204" charset="-122"/>
                <a:cs typeface="微软雅黑" panose="020B0503020204020204" charset="-122"/>
              </a:rPr>
              <a:t>保证交货</a:t>
            </a:r>
            <a:endParaRPr sz="1200">
              <a:latin typeface="微软雅黑" panose="020B0503020204020204" charset="-122"/>
              <a:ea typeface="微软雅黑" panose="020B0503020204020204" charset="-122"/>
              <a:cs typeface="微软雅黑" panose="020B0503020204020204" charset="-122"/>
            </a:endParaRPr>
          </a:p>
        </p:txBody>
      </p:sp>
      <p:sp>
        <p:nvSpPr>
          <p:cNvPr id="92" name="object 92"/>
          <p:cNvSpPr/>
          <p:nvPr/>
        </p:nvSpPr>
        <p:spPr>
          <a:xfrm>
            <a:off x="161430" y="1027242"/>
            <a:ext cx="8660977" cy="395959"/>
          </a:xfrm>
          <a:custGeom>
            <a:avLst/>
            <a:gdLst/>
            <a:ahLst/>
            <a:cxnLst/>
            <a:rect l="l" t="t" r="r" b="b"/>
            <a:pathLst>
              <a:path w="8667115" h="396240">
                <a:moveTo>
                  <a:pt x="0" y="396239"/>
                </a:moveTo>
                <a:lnTo>
                  <a:pt x="8666988" y="396239"/>
                </a:lnTo>
                <a:lnTo>
                  <a:pt x="8666988" y="0"/>
                </a:lnTo>
                <a:lnTo>
                  <a:pt x="0" y="0"/>
                </a:lnTo>
                <a:lnTo>
                  <a:pt x="0" y="39623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3" name="object 93"/>
          <p:cNvSpPr/>
          <p:nvPr/>
        </p:nvSpPr>
        <p:spPr>
          <a:xfrm>
            <a:off x="161430" y="1027242"/>
            <a:ext cx="8660977" cy="395959"/>
          </a:xfrm>
          <a:custGeom>
            <a:avLst/>
            <a:gdLst/>
            <a:ahLst/>
            <a:cxnLst/>
            <a:rect l="l" t="t" r="r" b="b"/>
            <a:pathLst>
              <a:path w="8667115" h="396240">
                <a:moveTo>
                  <a:pt x="0" y="396239"/>
                </a:moveTo>
                <a:lnTo>
                  <a:pt x="8666988" y="396239"/>
                </a:lnTo>
                <a:lnTo>
                  <a:pt x="8666988" y="0"/>
                </a:lnTo>
                <a:lnTo>
                  <a:pt x="0" y="0"/>
                </a:lnTo>
                <a:lnTo>
                  <a:pt x="0" y="396239"/>
                </a:lnTo>
                <a:close/>
              </a:path>
            </a:pathLst>
          </a:custGeom>
          <a:ln w="9525">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94" name="object 94"/>
          <p:cNvSpPr txBox="1"/>
          <p:nvPr/>
        </p:nvSpPr>
        <p:spPr>
          <a:xfrm>
            <a:off x="221229" y="1094378"/>
            <a:ext cx="2340221" cy="227965"/>
          </a:xfrm>
          <a:prstGeom prst="rect">
            <a:avLst/>
          </a:prstGeom>
        </p:spPr>
        <p:txBody>
          <a:bodyPr vert="horz" wrap="square" lIns="0" tIns="13325" rIns="0" bIns="0" rtlCol="0">
            <a:spAutoFit/>
          </a:bodyPr>
          <a:lstStyle/>
          <a:p>
            <a:pPr marL="12700">
              <a:lnSpc>
                <a:spcPct val="100000"/>
              </a:lnSpc>
              <a:spcBef>
                <a:spcPts val="105"/>
              </a:spcBef>
            </a:pPr>
            <a:r>
              <a:rPr sz="1400" b="1" spc="10" dirty="0">
                <a:latin typeface="微软雅黑" panose="020B0503020204020204" charset="-122"/>
                <a:ea typeface="微软雅黑" panose="020B0503020204020204" charset="-122"/>
                <a:cs typeface="微软雅黑" panose="020B0503020204020204" charset="-122"/>
              </a:rPr>
              <a:t>交易</a:t>
            </a:r>
            <a:r>
              <a:rPr sz="1400" b="1" dirty="0">
                <a:latin typeface="微软雅黑" panose="020B0503020204020204" charset="-122"/>
                <a:ea typeface="微软雅黑" panose="020B0503020204020204" charset="-122"/>
                <a:cs typeface="微软雅黑" panose="020B0503020204020204" charset="-122"/>
              </a:rPr>
              <a:t>定价</a:t>
            </a:r>
            <a:r>
              <a:rPr sz="1400" b="1" spc="-15" dirty="0">
                <a:latin typeface="微软雅黑" panose="020B0503020204020204" charset="-122"/>
                <a:ea typeface="微软雅黑" panose="020B0503020204020204" charset="-122"/>
                <a:cs typeface="微软雅黑" panose="020B0503020204020204" charset="-122"/>
              </a:rPr>
              <a:t>落</a:t>
            </a:r>
            <a:r>
              <a:rPr sz="1400" b="1" dirty="0">
                <a:latin typeface="微软雅黑" panose="020B0503020204020204" charset="-122"/>
                <a:ea typeface="微软雅黑" panose="020B0503020204020204" charset="-122"/>
                <a:cs typeface="微软雅黑" panose="020B0503020204020204" charset="-122"/>
              </a:rPr>
              <a:t>袋利</a:t>
            </a:r>
            <a:r>
              <a:rPr sz="1400" b="1" spc="-15" dirty="0">
                <a:latin typeface="微软雅黑" panose="020B0503020204020204" charset="-122"/>
                <a:ea typeface="微软雅黑" panose="020B0503020204020204" charset="-122"/>
                <a:cs typeface="微软雅黑" panose="020B0503020204020204" charset="-122"/>
              </a:rPr>
              <a:t>润</a:t>
            </a:r>
            <a:r>
              <a:rPr sz="1400" b="1" dirty="0">
                <a:latin typeface="微软雅黑" panose="020B0503020204020204" charset="-122"/>
                <a:ea typeface="微软雅黑" panose="020B0503020204020204" charset="-122"/>
                <a:cs typeface="微软雅黑" panose="020B0503020204020204" charset="-122"/>
              </a:rPr>
              <a:t>瀑布</a:t>
            </a:r>
            <a:r>
              <a:rPr sz="1400" b="1" spc="-15" dirty="0">
                <a:latin typeface="微软雅黑" panose="020B0503020204020204" charset="-122"/>
                <a:ea typeface="微软雅黑" panose="020B0503020204020204" charset="-122"/>
                <a:cs typeface="微软雅黑" panose="020B0503020204020204" charset="-122"/>
              </a:rPr>
              <a:t>分</a:t>
            </a:r>
            <a:r>
              <a:rPr sz="1400" b="1" dirty="0">
                <a:latin typeface="微软雅黑" panose="020B0503020204020204" charset="-122"/>
                <a:ea typeface="微软雅黑" panose="020B0503020204020204" charset="-122"/>
                <a:cs typeface="微软雅黑" panose="020B0503020204020204" charset="-122"/>
              </a:rPr>
              <a:t>析图</a:t>
            </a:r>
            <a:endParaRPr sz="14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88080" y="839162"/>
            <a:ext cx="8560718" cy="5266767"/>
          </a:xfrm>
          <a:custGeom>
            <a:avLst/>
            <a:gdLst/>
            <a:ahLst/>
            <a:cxnLst/>
            <a:rect l="l" t="t" r="r" b="b"/>
            <a:pathLst>
              <a:path w="8566785" h="5270500">
                <a:moveTo>
                  <a:pt x="0" y="5269992"/>
                </a:moveTo>
                <a:lnTo>
                  <a:pt x="8566404" y="5269992"/>
                </a:lnTo>
                <a:lnTo>
                  <a:pt x="8566404" y="0"/>
                </a:lnTo>
                <a:lnTo>
                  <a:pt x="0" y="0"/>
                </a:lnTo>
                <a:lnTo>
                  <a:pt x="0" y="5269992"/>
                </a:lnTo>
                <a:close/>
              </a:path>
            </a:pathLst>
          </a:custGeom>
          <a:ln w="19050">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 name="object 4"/>
          <p:cNvSpPr/>
          <p:nvPr/>
        </p:nvSpPr>
        <p:spPr>
          <a:xfrm>
            <a:off x="7005513" y="4091359"/>
            <a:ext cx="314102" cy="0"/>
          </a:xfrm>
          <a:custGeom>
            <a:avLst/>
            <a:gdLst/>
            <a:ahLst/>
            <a:cxnLst/>
            <a:rect l="l" t="t" r="r" b="b"/>
            <a:pathLst>
              <a:path w="314325">
                <a:moveTo>
                  <a:pt x="0" y="0"/>
                </a:moveTo>
                <a:lnTo>
                  <a:pt x="313865"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p:nvPr/>
        </p:nvSpPr>
        <p:spPr>
          <a:xfrm>
            <a:off x="5879997" y="3322284"/>
            <a:ext cx="319813" cy="0"/>
          </a:xfrm>
          <a:custGeom>
            <a:avLst/>
            <a:gdLst/>
            <a:ahLst/>
            <a:cxnLst/>
            <a:rect l="l" t="t" r="r" b="b"/>
            <a:pathLst>
              <a:path w="320039">
                <a:moveTo>
                  <a:pt x="0" y="0"/>
                </a:moveTo>
                <a:lnTo>
                  <a:pt x="320039"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4768265" y="3322284"/>
            <a:ext cx="319813" cy="0"/>
          </a:xfrm>
          <a:custGeom>
            <a:avLst/>
            <a:gdLst/>
            <a:ahLst/>
            <a:cxnLst/>
            <a:rect l="l" t="t" r="r" b="b"/>
            <a:pathLst>
              <a:path w="320039">
                <a:moveTo>
                  <a:pt x="0" y="0"/>
                </a:moveTo>
                <a:lnTo>
                  <a:pt x="320039"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3656137" y="3139533"/>
            <a:ext cx="312833" cy="0"/>
          </a:xfrm>
          <a:custGeom>
            <a:avLst/>
            <a:gdLst/>
            <a:ahLst/>
            <a:cxnLst/>
            <a:rect l="l" t="t" r="r" b="b"/>
            <a:pathLst>
              <a:path w="313054">
                <a:moveTo>
                  <a:pt x="0" y="0"/>
                </a:moveTo>
                <a:lnTo>
                  <a:pt x="312815"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2537185" y="2720730"/>
            <a:ext cx="319813" cy="0"/>
          </a:xfrm>
          <a:custGeom>
            <a:avLst/>
            <a:gdLst/>
            <a:ahLst/>
            <a:cxnLst/>
            <a:rect l="l" t="t" r="r" b="b"/>
            <a:pathLst>
              <a:path w="320039">
                <a:moveTo>
                  <a:pt x="0" y="0"/>
                </a:moveTo>
                <a:lnTo>
                  <a:pt x="320040"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1417839" y="3238523"/>
            <a:ext cx="319813" cy="0"/>
          </a:xfrm>
          <a:custGeom>
            <a:avLst/>
            <a:gdLst/>
            <a:ahLst/>
            <a:cxnLst/>
            <a:rect l="l" t="t" r="r" b="b"/>
            <a:pathLst>
              <a:path w="320039">
                <a:moveTo>
                  <a:pt x="0" y="0"/>
                </a:moveTo>
                <a:lnTo>
                  <a:pt x="320039"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621069" y="3239722"/>
            <a:ext cx="799533" cy="2067365"/>
          </a:xfrm>
          <a:custGeom>
            <a:avLst/>
            <a:gdLst/>
            <a:ahLst/>
            <a:cxnLst/>
            <a:rect l="l" t="t" r="r" b="b"/>
            <a:pathLst>
              <a:path w="800100" h="2068829">
                <a:moveTo>
                  <a:pt x="0" y="2068723"/>
                </a:moveTo>
                <a:lnTo>
                  <a:pt x="799801" y="2068723"/>
                </a:lnTo>
                <a:lnTo>
                  <a:pt x="799801" y="0"/>
                </a:lnTo>
                <a:lnTo>
                  <a:pt x="0" y="0"/>
                </a:lnTo>
                <a:lnTo>
                  <a:pt x="0" y="2068723"/>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621069" y="3239722"/>
            <a:ext cx="799533" cy="2067365"/>
          </a:xfrm>
          <a:custGeom>
            <a:avLst/>
            <a:gdLst/>
            <a:ahLst/>
            <a:cxnLst/>
            <a:rect l="l" t="t" r="r" b="b"/>
            <a:pathLst>
              <a:path w="800100" h="2068829">
                <a:moveTo>
                  <a:pt x="0" y="2068723"/>
                </a:moveTo>
                <a:lnTo>
                  <a:pt x="799801" y="2068723"/>
                </a:lnTo>
                <a:lnTo>
                  <a:pt x="799801" y="0"/>
                </a:lnTo>
                <a:lnTo>
                  <a:pt x="0" y="0"/>
                </a:lnTo>
                <a:lnTo>
                  <a:pt x="0" y="2068723"/>
                </a:lnTo>
                <a:close/>
              </a:path>
            </a:pathLst>
          </a:custGeom>
          <a:ln w="9508">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5083610" y="3325426"/>
            <a:ext cx="799533" cy="1981701"/>
          </a:xfrm>
          <a:custGeom>
            <a:avLst/>
            <a:gdLst/>
            <a:ahLst/>
            <a:cxnLst/>
            <a:rect l="l" t="t" r="r" b="b"/>
            <a:pathLst>
              <a:path w="800100" h="1983104">
                <a:moveTo>
                  <a:pt x="0" y="1982959"/>
                </a:moveTo>
                <a:lnTo>
                  <a:pt x="799801" y="1982959"/>
                </a:lnTo>
                <a:lnTo>
                  <a:pt x="799801" y="0"/>
                </a:lnTo>
                <a:lnTo>
                  <a:pt x="0" y="0"/>
                </a:lnTo>
                <a:lnTo>
                  <a:pt x="0" y="198295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5083610" y="3325426"/>
            <a:ext cx="799533" cy="1981701"/>
          </a:xfrm>
          <a:custGeom>
            <a:avLst/>
            <a:gdLst/>
            <a:ahLst/>
            <a:cxnLst/>
            <a:rect l="l" t="t" r="r" b="b"/>
            <a:pathLst>
              <a:path w="800100" h="1983104">
                <a:moveTo>
                  <a:pt x="0" y="1982959"/>
                </a:moveTo>
                <a:lnTo>
                  <a:pt x="799801" y="1982959"/>
                </a:lnTo>
                <a:lnTo>
                  <a:pt x="799801" y="0"/>
                </a:lnTo>
                <a:lnTo>
                  <a:pt x="0" y="0"/>
                </a:lnTo>
                <a:lnTo>
                  <a:pt x="0" y="1982959"/>
                </a:lnTo>
                <a:close/>
              </a:path>
            </a:pathLst>
          </a:custGeom>
          <a:ln w="9508">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6196774" y="3325463"/>
            <a:ext cx="809052" cy="781131"/>
          </a:xfrm>
          <a:custGeom>
            <a:avLst/>
            <a:gdLst/>
            <a:ahLst/>
            <a:cxnLst/>
            <a:rect l="l" t="t" r="r" b="b"/>
            <a:pathLst>
              <a:path w="809625" h="781685">
                <a:moveTo>
                  <a:pt x="0" y="781630"/>
                </a:moveTo>
                <a:lnTo>
                  <a:pt x="809312" y="781630"/>
                </a:lnTo>
                <a:lnTo>
                  <a:pt x="809312" y="0"/>
                </a:lnTo>
                <a:lnTo>
                  <a:pt x="0" y="0"/>
                </a:lnTo>
                <a:lnTo>
                  <a:pt x="0" y="78163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7319442" y="4106565"/>
            <a:ext cx="799533" cy="1200569"/>
          </a:xfrm>
          <a:custGeom>
            <a:avLst/>
            <a:gdLst/>
            <a:ahLst/>
            <a:cxnLst/>
            <a:rect l="l" t="t" r="r" b="b"/>
            <a:pathLst>
              <a:path w="800100" h="1201420">
                <a:moveTo>
                  <a:pt x="0" y="1201265"/>
                </a:moveTo>
                <a:lnTo>
                  <a:pt x="799801" y="1201265"/>
                </a:lnTo>
                <a:lnTo>
                  <a:pt x="799801" y="0"/>
                </a:lnTo>
                <a:lnTo>
                  <a:pt x="0" y="0"/>
                </a:lnTo>
                <a:lnTo>
                  <a:pt x="0" y="1201265"/>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p:nvPr/>
        </p:nvSpPr>
        <p:spPr>
          <a:xfrm>
            <a:off x="7319442" y="4106565"/>
            <a:ext cx="799533" cy="1200569"/>
          </a:xfrm>
          <a:custGeom>
            <a:avLst/>
            <a:gdLst/>
            <a:ahLst/>
            <a:cxnLst/>
            <a:rect l="l" t="t" r="r" b="b"/>
            <a:pathLst>
              <a:path w="800100" h="1201420">
                <a:moveTo>
                  <a:pt x="0" y="1201265"/>
                </a:moveTo>
                <a:lnTo>
                  <a:pt x="799801" y="1201265"/>
                </a:lnTo>
                <a:lnTo>
                  <a:pt x="799801" y="0"/>
                </a:lnTo>
                <a:lnTo>
                  <a:pt x="0" y="0"/>
                </a:lnTo>
                <a:lnTo>
                  <a:pt x="0" y="1201265"/>
                </a:lnTo>
                <a:close/>
              </a:path>
            </a:pathLst>
          </a:custGeom>
          <a:ln w="9507">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p:nvPr/>
        </p:nvSpPr>
        <p:spPr>
          <a:xfrm>
            <a:off x="463946" y="5302234"/>
            <a:ext cx="7811948" cy="0"/>
          </a:xfrm>
          <a:custGeom>
            <a:avLst/>
            <a:gdLst/>
            <a:ahLst/>
            <a:cxnLst/>
            <a:rect l="l" t="t" r="r" b="b"/>
            <a:pathLst>
              <a:path w="7817484">
                <a:moveTo>
                  <a:pt x="0" y="0"/>
                </a:moveTo>
                <a:lnTo>
                  <a:pt x="7817327" y="0"/>
                </a:lnTo>
              </a:path>
            </a:pathLst>
          </a:custGeom>
          <a:ln w="28503">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p:nvPr/>
        </p:nvSpPr>
        <p:spPr>
          <a:xfrm>
            <a:off x="7256716" y="4542143"/>
            <a:ext cx="900427" cy="298873"/>
          </a:xfrm>
          <a:custGeom>
            <a:avLst/>
            <a:gdLst/>
            <a:ahLst/>
            <a:cxnLst/>
            <a:rect l="l" t="t" r="r" b="b"/>
            <a:pathLst>
              <a:path w="901065" h="299085">
                <a:moveTo>
                  <a:pt x="900684" y="0"/>
                </a:moveTo>
                <a:lnTo>
                  <a:pt x="0" y="241427"/>
                </a:lnTo>
                <a:lnTo>
                  <a:pt x="0" y="298577"/>
                </a:lnTo>
                <a:lnTo>
                  <a:pt x="900684" y="57150"/>
                </a:lnTo>
                <a:lnTo>
                  <a:pt x="900684" y="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p:nvPr/>
        </p:nvSpPr>
        <p:spPr>
          <a:xfrm>
            <a:off x="5027160" y="4542143"/>
            <a:ext cx="901696" cy="298873"/>
          </a:xfrm>
          <a:custGeom>
            <a:avLst/>
            <a:gdLst/>
            <a:ahLst/>
            <a:cxnLst/>
            <a:rect l="l" t="t" r="r" b="b"/>
            <a:pathLst>
              <a:path w="902335" h="299085">
                <a:moveTo>
                  <a:pt x="902080" y="0"/>
                </a:moveTo>
                <a:lnTo>
                  <a:pt x="0" y="241427"/>
                </a:lnTo>
                <a:lnTo>
                  <a:pt x="0" y="298577"/>
                </a:lnTo>
                <a:lnTo>
                  <a:pt x="902080" y="57150"/>
                </a:lnTo>
                <a:lnTo>
                  <a:pt x="902080" y="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p:nvPr/>
        </p:nvSpPr>
        <p:spPr>
          <a:xfrm>
            <a:off x="568048" y="4542143"/>
            <a:ext cx="901696" cy="298873"/>
          </a:xfrm>
          <a:custGeom>
            <a:avLst/>
            <a:gdLst/>
            <a:ahLst/>
            <a:cxnLst/>
            <a:rect l="l" t="t" r="r" b="b"/>
            <a:pathLst>
              <a:path w="902335" h="299085">
                <a:moveTo>
                  <a:pt x="902081" y="0"/>
                </a:moveTo>
                <a:lnTo>
                  <a:pt x="0" y="241427"/>
                </a:lnTo>
                <a:lnTo>
                  <a:pt x="0" y="298577"/>
                </a:lnTo>
                <a:lnTo>
                  <a:pt x="902081" y="57150"/>
                </a:lnTo>
                <a:lnTo>
                  <a:pt x="902081" y="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1" name="object 21"/>
          <p:cNvSpPr/>
          <p:nvPr/>
        </p:nvSpPr>
        <p:spPr>
          <a:xfrm>
            <a:off x="7256716" y="4542143"/>
            <a:ext cx="900427" cy="242398"/>
          </a:xfrm>
          <a:custGeom>
            <a:avLst/>
            <a:gdLst/>
            <a:ahLst/>
            <a:cxnLst/>
            <a:rect l="l" t="t" r="r" b="b"/>
            <a:pathLst>
              <a:path w="901065" h="242570">
                <a:moveTo>
                  <a:pt x="0" y="242189"/>
                </a:moveTo>
                <a:lnTo>
                  <a:pt x="900684" y="0"/>
                </a:lnTo>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7256716" y="4600014"/>
            <a:ext cx="900427" cy="241129"/>
          </a:xfrm>
          <a:custGeom>
            <a:avLst/>
            <a:gdLst/>
            <a:ahLst/>
            <a:cxnLst/>
            <a:rect l="l" t="t" r="r" b="b"/>
            <a:pathLst>
              <a:path w="901065" h="241300">
                <a:moveTo>
                  <a:pt x="0" y="240792"/>
                </a:moveTo>
                <a:lnTo>
                  <a:pt x="900684" y="0"/>
                </a:lnTo>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p:nvPr/>
        </p:nvSpPr>
        <p:spPr>
          <a:xfrm>
            <a:off x="5027160" y="4542143"/>
            <a:ext cx="901696" cy="242398"/>
          </a:xfrm>
          <a:custGeom>
            <a:avLst/>
            <a:gdLst/>
            <a:ahLst/>
            <a:cxnLst/>
            <a:rect l="l" t="t" r="r" b="b"/>
            <a:pathLst>
              <a:path w="902335" h="242570">
                <a:moveTo>
                  <a:pt x="0" y="242189"/>
                </a:moveTo>
                <a:lnTo>
                  <a:pt x="902080" y="0"/>
                </a:lnTo>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p:nvPr/>
        </p:nvSpPr>
        <p:spPr>
          <a:xfrm>
            <a:off x="5027160" y="4600014"/>
            <a:ext cx="901696" cy="241129"/>
          </a:xfrm>
          <a:custGeom>
            <a:avLst/>
            <a:gdLst/>
            <a:ahLst/>
            <a:cxnLst/>
            <a:rect l="l" t="t" r="r" b="b"/>
            <a:pathLst>
              <a:path w="902335" h="241300">
                <a:moveTo>
                  <a:pt x="0" y="240792"/>
                </a:moveTo>
                <a:lnTo>
                  <a:pt x="902080" y="0"/>
                </a:lnTo>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5" name="object 25"/>
          <p:cNvSpPr/>
          <p:nvPr/>
        </p:nvSpPr>
        <p:spPr>
          <a:xfrm>
            <a:off x="568048" y="4542143"/>
            <a:ext cx="901696" cy="242398"/>
          </a:xfrm>
          <a:custGeom>
            <a:avLst/>
            <a:gdLst/>
            <a:ahLst/>
            <a:cxnLst/>
            <a:rect l="l" t="t" r="r" b="b"/>
            <a:pathLst>
              <a:path w="902335" h="242570">
                <a:moveTo>
                  <a:pt x="0" y="242189"/>
                </a:moveTo>
                <a:lnTo>
                  <a:pt x="902081" y="0"/>
                </a:lnTo>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6" name="object 26"/>
          <p:cNvSpPr/>
          <p:nvPr/>
        </p:nvSpPr>
        <p:spPr>
          <a:xfrm>
            <a:off x="568048" y="4600014"/>
            <a:ext cx="901696" cy="241129"/>
          </a:xfrm>
          <a:custGeom>
            <a:avLst/>
            <a:gdLst/>
            <a:ahLst/>
            <a:cxnLst/>
            <a:rect l="l" t="t" r="r" b="b"/>
            <a:pathLst>
              <a:path w="902335" h="241300">
                <a:moveTo>
                  <a:pt x="0" y="240792"/>
                </a:moveTo>
                <a:lnTo>
                  <a:pt x="902081" y="0"/>
                </a:lnTo>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7" name="object 27"/>
          <p:cNvSpPr txBox="1"/>
          <p:nvPr/>
        </p:nvSpPr>
        <p:spPr>
          <a:xfrm>
            <a:off x="7307989" y="5372541"/>
            <a:ext cx="739886" cy="227330"/>
          </a:xfrm>
          <a:prstGeom prst="rect">
            <a:avLst/>
          </a:prstGeom>
        </p:spPr>
        <p:txBody>
          <a:bodyPr vert="horz" wrap="square" lIns="0" tIns="12691" rIns="0" bIns="0" rtlCol="0">
            <a:spAutoFit/>
          </a:bodyPr>
          <a:lstStyle/>
          <a:p>
            <a:pPr marL="12700">
              <a:lnSpc>
                <a:spcPct val="100000"/>
              </a:lnSpc>
              <a:spcBef>
                <a:spcPts val="100"/>
              </a:spcBef>
            </a:pPr>
            <a:r>
              <a:rPr sz="1400" dirty="0">
                <a:latin typeface="微软雅黑" panose="020B0503020204020204" charset="-122"/>
                <a:ea typeface="微软雅黑" panose="020B0503020204020204" charset="-122"/>
                <a:cs typeface="微软雅黑" panose="020B0503020204020204" charset="-122"/>
              </a:rPr>
              <a:t>当前价格</a:t>
            </a:r>
            <a:endParaRPr sz="1400" dirty="0">
              <a:latin typeface="微软雅黑" panose="020B0503020204020204" charset="-122"/>
              <a:ea typeface="微软雅黑" panose="020B0503020204020204" charset="-122"/>
              <a:cs typeface="微软雅黑" panose="020B0503020204020204" charset="-122"/>
            </a:endParaRPr>
          </a:p>
        </p:txBody>
      </p:sp>
      <p:sp>
        <p:nvSpPr>
          <p:cNvPr id="28" name="object 28"/>
          <p:cNvSpPr txBox="1"/>
          <p:nvPr/>
        </p:nvSpPr>
        <p:spPr>
          <a:xfrm>
            <a:off x="7480966" y="3835635"/>
            <a:ext cx="472105" cy="227330"/>
          </a:xfrm>
          <a:prstGeom prst="rect">
            <a:avLst/>
          </a:prstGeom>
        </p:spPr>
        <p:txBody>
          <a:bodyPr vert="horz" wrap="square" lIns="0" tIns="12691" rIns="0" bIns="0" rtlCol="0">
            <a:spAutoFit/>
          </a:bodyPr>
          <a:lstStyle/>
          <a:p>
            <a:pPr marL="12700">
              <a:lnSpc>
                <a:spcPct val="100000"/>
              </a:lnSpc>
              <a:spcBef>
                <a:spcPts val="100"/>
              </a:spcBef>
            </a:pPr>
            <a:r>
              <a:rPr sz="1400" dirty="0">
                <a:latin typeface="微软雅黑" panose="020B0503020204020204" charset="-122"/>
                <a:ea typeface="微软雅黑" panose="020B0503020204020204" charset="-122"/>
                <a:cs typeface="Arial" panose="020B0604020202020204"/>
              </a:rPr>
              <a:t>5,850</a:t>
            </a:r>
            <a:endParaRPr sz="1400" dirty="0">
              <a:latin typeface="微软雅黑" panose="020B0503020204020204" charset="-122"/>
              <a:ea typeface="微软雅黑" panose="020B0503020204020204" charset="-122"/>
              <a:cs typeface="Arial" panose="020B0604020202020204"/>
            </a:endParaRPr>
          </a:p>
        </p:txBody>
      </p:sp>
      <p:sp>
        <p:nvSpPr>
          <p:cNvPr id="29" name="object 29"/>
          <p:cNvSpPr txBox="1"/>
          <p:nvPr/>
        </p:nvSpPr>
        <p:spPr>
          <a:xfrm>
            <a:off x="6188006" y="5372541"/>
            <a:ext cx="738617" cy="442595"/>
          </a:xfrm>
          <a:prstGeom prst="rect">
            <a:avLst/>
          </a:prstGeom>
        </p:spPr>
        <p:txBody>
          <a:bodyPr vert="horz" wrap="square" lIns="0" tIns="12691" rIns="0" bIns="0" rtlCol="0">
            <a:spAutoFit/>
          </a:bodyPr>
          <a:lstStyle/>
          <a:p>
            <a:pPr marL="12700" marR="5080">
              <a:lnSpc>
                <a:spcPct val="100000"/>
              </a:lnSpc>
              <a:spcBef>
                <a:spcPts val="100"/>
              </a:spcBef>
            </a:pPr>
            <a:r>
              <a:rPr sz="1400" dirty="0">
                <a:latin typeface="微软雅黑" panose="020B0503020204020204" charset="-122"/>
                <a:ea typeface="微软雅黑" panose="020B0503020204020204" charset="-122"/>
                <a:cs typeface="微软雅黑" panose="020B0503020204020204" charset="-122"/>
              </a:rPr>
              <a:t>潜在价格 提升空间</a:t>
            </a:r>
            <a:endParaRPr sz="1400" dirty="0">
              <a:latin typeface="微软雅黑" panose="020B0503020204020204" charset="-122"/>
              <a:ea typeface="微软雅黑" panose="020B0503020204020204" charset="-122"/>
              <a:cs typeface="微软雅黑" panose="020B0503020204020204" charset="-122"/>
            </a:endParaRPr>
          </a:p>
        </p:txBody>
      </p:sp>
      <p:sp>
        <p:nvSpPr>
          <p:cNvPr id="30" name="object 30"/>
          <p:cNvSpPr txBox="1"/>
          <p:nvPr/>
        </p:nvSpPr>
        <p:spPr>
          <a:xfrm>
            <a:off x="6196774" y="3325445"/>
            <a:ext cx="809052" cy="498475"/>
          </a:xfrm>
          <a:prstGeom prst="rect">
            <a:avLst/>
          </a:prstGeom>
          <a:ln w="9505">
            <a:solidFill>
              <a:srgbClr val="000000"/>
            </a:solidFill>
          </a:ln>
        </p:spPr>
        <p:txBody>
          <a:bodyPr vert="horz" wrap="square" lIns="0" tIns="6980" rIns="0" bIns="0" rtlCol="0">
            <a:spAutoFit/>
          </a:bodyPr>
          <a:lstStyle/>
          <a:p>
            <a:pPr>
              <a:lnSpc>
                <a:spcPct val="100000"/>
              </a:lnSpc>
              <a:spcBef>
                <a:spcPts val="55"/>
              </a:spcBef>
            </a:pPr>
            <a:endParaRPr>
              <a:latin typeface="微软雅黑" panose="020B0503020204020204" charset="-122"/>
              <a:ea typeface="微软雅黑" panose="020B0503020204020204" charset="-122"/>
              <a:cs typeface="Times New Roman" panose="02020603050405020304"/>
            </a:endParaRPr>
          </a:p>
          <a:p>
            <a:pPr marL="55880">
              <a:lnSpc>
                <a:spcPct val="100000"/>
              </a:lnSpc>
            </a:pPr>
            <a:r>
              <a:rPr sz="1400" dirty="0">
                <a:latin typeface="微软雅黑" panose="020B0503020204020204" charset="-122"/>
                <a:ea typeface="微软雅黑" panose="020B0503020204020204" charset="-122"/>
                <a:cs typeface="Arial" panose="020B0604020202020204"/>
              </a:rPr>
              <a:t>260~290</a:t>
            </a:r>
            <a:endParaRPr sz="1400">
              <a:latin typeface="微软雅黑" panose="020B0503020204020204" charset="-122"/>
              <a:ea typeface="微软雅黑" panose="020B0503020204020204" charset="-122"/>
              <a:cs typeface="Arial" panose="020B0604020202020204"/>
            </a:endParaRPr>
          </a:p>
        </p:txBody>
      </p:sp>
      <p:sp>
        <p:nvSpPr>
          <p:cNvPr id="31" name="object 31"/>
          <p:cNvSpPr txBox="1"/>
          <p:nvPr/>
        </p:nvSpPr>
        <p:spPr>
          <a:xfrm>
            <a:off x="5075641" y="5372541"/>
            <a:ext cx="738617" cy="227330"/>
          </a:xfrm>
          <a:prstGeom prst="rect">
            <a:avLst/>
          </a:prstGeom>
        </p:spPr>
        <p:txBody>
          <a:bodyPr vert="horz" wrap="square" lIns="0" tIns="12691" rIns="0" bIns="0" rtlCol="0">
            <a:spAutoFit/>
          </a:bodyPr>
          <a:lstStyle/>
          <a:p>
            <a:pPr marL="12700">
              <a:lnSpc>
                <a:spcPct val="100000"/>
              </a:lnSpc>
              <a:spcBef>
                <a:spcPts val="100"/>
              </a:spcBef>
            </a:pPr>
            <a:r>
              <a:rPr sz="1400" dirty="0">
                <a:latin typeface="微软雅黑" panose="020B0503020204020204" charset="-122"/>
                <a:ea typeface="微软雅黑" panose="020B0503020204020204" charset="-122"/>
                <a:cs typeface="微软雅黑" panose="020B0503020204020204" charset="-122"/>
              </a:rPr>
              <a:t>潜在价格</a:t>
            </a:r>
            <a:endParaRPr sz="1400" dirty="0">
              <a:latin typeface="微软雅黑" panose="020B0503020204020204" charset="-122"/>
              <a:ea typeface="微软雅黑" panose="020B0503020204020204" charset="-122"/>
              <a:cs typeface="微软雅黑" panose="020B0503020204020204" charset="-122"/>
            </a:endParaRPr>
          </a:p>
        </p:txBody>
      </p:sp>
      <p:sp>
        <p:nvSpPr>
          <p:cNvPr id="32" name="object 32"/>
          <p:cNvSpPr txBox="1"/>
          <p:nvPr/>
        </p:nvSpPr>
        <p:spPr>
          <a:xfrm>
            <a:off x="5005586" y="3065925"/>
            <a:ext cx="962612" cy="227965"/>
          </a:xfrm>
          <a:prstGeom prst="rect">
            <a:avLst/>
          </a:prstGeom>
        </p:spPr>
        <p:txBody>
          <a:bodyPr vert="horz" wrap="square" lIns="0" tIns="13325" rIns="0" bIns="0" rtlCol="0">
            <a:spAutoFit/>
          </a:bodyPr>
          <a:lstStyle/>
          <a:p>
            <a:pPr marL="12700">
              <a:lnSpc>
                <a:spcPct val="100000"/>
              </a:lnSpc>
              <a:spcBef>
                <a:spcPts val="105"/>
              </a:spcBef>
            </a:pPr>
            <a:r>
              <a:rPr sz="1400" dirty="0">
                <a:latin typeface="微软雅黑" panose="020B0503020204020204" charset="-122"/>
                <a:ea typeface="微软雅黑" panose="020B0503020204020204" charset="-122"/>
                <a:cs typeface="Arial" panose="020B0604020202020204"/>
              </a:rPr>
              <a:t>6,</a:t>
            </a:r>
            <a:r>
              <a:rPr sz="1400" spc="-110" dirty="0">
                <a:latin typeface="微软雅黑" panose="020B0503020204020204" charset="-122"/>
                <a:ea typeface="微软雅黑" panose="020B0503020204020204" charset="-122"/>
                <a:cs typeface="Arial" panose="020B0604020202020204"/>
              </a:rPr>
              <a:t>1</a:t>
            </a:r>
            <a:r>
              <a:rPr sz="1400" dirty="0">
                <a:latin typeface="微软雅黑" panose="020B0503020204020204" charset="-122"/>
                <a:ea typeface="微软雅黑" panose="020B0503020204020204" charset="-122"/>
                <a:cs typeface="Arial" panose="020B0604020202020204"/>
              </a:rPr>
              <a:t>1</a:t>
            </a:r>
            <a:r>
              <a:rPr sz="1400" spc="-5" dirty="0">
                <a:latin typeface="微软雅黑" panose="020B0503020204020204" charset="-122"/>
                <a:ea typeface="微软雅黑" panose="020B0503020204020204" charset="-122"/>
                <a:cs typeface="Arial" panose="020B0604020202020204"/>
              </a:rPr>
              <a:t>0</a:t>
            </a:r>
            <a:r>
              <a:rPr sz="1400" dirty="0">
                <a:latin typeface="微软雅黑" panose="020B0503020204020204" charset="-122"/>
                <a:ea typeface="微软雅黑" panose="020B0503020204020204" charset="-122"/>
                <a:cs typeface="Arial" panose="020B0604020202020204"/>
              </a:rPr>
              <a:t>-6</a:t>
            </a:r>
            <a:r>
              <a:rPr sz="1400" spc="-5" dirty="0">
                <a:latin typeface="微软雅黑" panose="020B0503020204020204" charset="-122"/>
                <a:ea typeface="微软雅黑" panose="020B0503020204020204" charset="-122"/>
                <a:cs typeface="Arial" panose="020B0604020202020204"/>
              </a:rPr>
              <a:t>,</a:t>
            </a:r>
            <a:r>
              <a:rPr sz="1400" dirty="0">
                <a:latin typeface="微软雅黑" panose="020B0503020204020204" charset="-122"/>
                <a:ea typeface="微软雅黑" panose="020B0503020204020204" charset="-122"/>
                <a:cs typeface="Arial" panose="020B0604020202020204"/>
              </a:rPr>
              <a:t>140</a:t>
            </a:r>
            <a:endParaRPr sz="1400">
              <a:latin typeface="微软雅黑" panose="020B0503020204020204" charset="-122"/>
              <a:ea typeface="微软雅黑" panose="020B0503020204020204" charset="-122"/>
              <a:cs typeface="Arial" panose="020B0604020202020204"/>
            </a:endParaRPr>
          </a:p>
        </p:txBody>
      </p:sp>
      <p:sp>
        <p:nvSpPr>
          <p:cNvPr id="33" name="object 33"/>
          <p:cNvSpPr txBox="1"/>
          <p:nvPr/>
        </p:nvSpPr>
        <p:spPr>
          <a:xfrm>
            <a:off x="3970445" y="3144436"/>
            <a:ext cx="799533" cy="182245"/>
          </a:xfrm>
          <a:prstGeom prst="rect">
            <a:avLst/>
          </a:prstGeom>
          <a:solidFill>
            <a:srgbClr val="91AFFF"/>
          </a:solidFill>
          <a:ln w="9501">
            <a:solidFill>
              <a:srgbClr val="000000"/>
            </a:solidFill>
          </a:ln>
        </p:spPr>
        <p:txBody>
          <a:bodyPr vert="horz" wrap="square" lIns="0" tIns="0" rIns="0" bIns="0" rtlCol="0">
            <a:spAutoFit/>
          </a:bodyPr>
          <a:lstStyle/>
          <a:p>
            <a:pPr marL="149860">
              <a:lnSpc>
                <a:spcPts val="1425"/>
              </a:lnSpc>
            </a:pPr>
            <a:r>
              <a:rPr sz="1400" dirty="0">
                <a:latin typeface="微软雅黑" panose="020B0503020204020204" charset="-122"/>
                <a:ea typeface="微软雅黑" panose="020B0503020204020204" charset="-122"/>
                <a:cs typeface="Arial" panose="020B0604020202020204"/>
              </a:rPr>
              <a:t>60~70</a:t>
            </a:r>
            <a:endParaRPr sz="1400" dirty="0">
              <a:latin typeface="微软雅黑" panose="020B0503020204020204" charset="-122"/>
              <a:ea typeface="微软雅黑" panose="020B0503020204020204" charset="-122"/>
              <a:cs typeface="Arial" panose="020B0604020202020204"/>
            </a:endParaRPr>
          </a:p>
        </p:txBody>
      </p:sp>
      <p:sp>
        <p:nvSpPr>
          <p:cNvPr id="34" name="object 34"/>
          <p:cNvSpPr txBox="1"/>
          <p:nvPr/>
        </p:nvSpPr>
        <p:spPr>
          <a:xfrm>
            <a:off x="2856901" y="2725129"/>
            <a:ext cx="799533" cy="308610"/>
          </a:xfrm>
          <a:prstGeom prst="rect">
            <a:avLst/>
          </a:prstGeom>
          <a:solidFill>
            <a:srgbClr val="91AFFF"/>
          </a:solidFill>
          <a:ln w="9503">
            <a:solidFill>
              <a:srgbClr val="000000"/>
            </a:solidFill>
          </a:ln>
        </p:spPr>
        <p:txBody>
          <a:bodyPr vert="horz" wrap="square" lIns="0" tIns="93913" rIns="0" bIns="0" rtlCol="0">
            <a:spAutoFit/>
          </a:bodyPr>
          <a:lstStyle/>
          <a:p>
            <a:pPr marL="47625">
              <a:lnSpc>
                <a:spcPct val="100000"/>
              </a:lnSpc>
              <a:spcBef>
                <a:spcPts val="740"/>
              </a:spcBef>
            </a:pPr>
            <a:r>
              <a:rPr sz="1400" dirty="0">
                <a:latin typeface="微软雅黑" panose="020B0503020204020204" charset="-122"/>
                <a:ea typeface="微软雅黑" panose="020B0503020204020204" charset="-122"/>
                <a:cs typeface="Arial" panose="020B0604020202020204"/>
              </a:rPr>
              <a:t>140~150</a:t>
            </a:r>
            <a:endParaRPr sz="1400" dirty="0">
              <a:latin typeface="微软雅黑" panose="020B0503020204020204" charset="-122"/>
              <a:ea typeface="微软雅黑" panose="020B0503020204020204" charset="-122"/>
              <a:cs typeface="Arial" panose="020B0604020202020204"/>
            </a:endParaRPr>
          </a:p>
        </p:txBody>
      </p:sp>
      <p:sp>
        <p:nvSpPr>
          <p:cNvPr id="35" name="object 35"/>
          <p:cNvSpPr txBox="1"/>
          <p:nvPr/>
        </p:nvSpPr>
        <p:spPr>
          <a:xfrm>
            <a:off x="1734233" y="2725129"/>
            <a:ext cx="809052" cy="358140"/>
          </a:xfrm>
          <a:prstGeom prst="rect">
            <a:avLst/>
          </a:prstGeom>
          <a:solidFill>
            <a:srgbClr val="C6DFFA"/>
          </a:solidFill>
          <a:ln w="9503">
            <a:solidFill>
              <a:srgbClr val="000000"/>
            </a:solidFill>
          </a:ln>
        </p:spPr>
        <p:txBody>
          <a:bodyPr vert="horz" wrap="square" lIns="0" tIns="143408" rIns="0" bIns="0" rtlCol="0">
            <a:spAutoFit/>
          </a:bodyPr>
          <a:lstStyle/>
          <a:p>
            <a:pPr marL="54610">
              <a:lnSpc>
                <a:spcPct val="100000"/>
              </a:lnSpc>
              <a:spcBef>
                <a:spcPts val="1130"/>
              </a:spcBef>
            </a:pPr>
            <a:r>
              <a:rPr sz="1400" dirty="0">
                <a:latin typeface="微软雅黑" panose="020B0503020204020204" charset="-122"/>
                <a:ea typeface="微软雅黑" panose="020B0503020204020204" charset="-122"/>
                <a:cs typeface="Arial" panose="020B0604020202020204"/>
              </a:rPr>
              <a:t>180~190</a:t>
            </a:r>
            <a:endParaRPr sz="1400" dirty="0">
              <a:latin typeface="微软雅黑" panose="020B0503020204020204" charset="-122"/>
              <a:ea typeface="微软雅黑" panose="020B0503020204020204" charset="-122"/>
              <a:cs typeface="Arial" panose="020B0604020202020204"/>
            </a:endParaRPr>
          </a:p>
        </p:txBody>
      </p:sp>
      <p:sp>
        <p:nvSpPr>
          <p:cNvPr id="36" name="object 36"/>
          <p:cNvSpPr txBox="1"/>
          <p:nvPr/>
        </p:nvSpPr>
        <p:spPr>
          <a:xfrm>
            <a:off x="614143" y="5372541"/>
            <a:ext cx="3725445" cy="227330"/>
          </a:xfrm>
          <a:prstGeom prst="rect">
            <a:avLst/>
          </a:prstGeom>
        </p:spPr>
        <p:txBody>
          <a:bodyPr vert="horz" wrap="square" lIns="0" tIns="12691" rIns="0" bIns="0" rtlCol="0">
            <a:spAutoFit/>
          </a:bodyPr>
          <a:lstStyle/>
          <a:p>
            <a:pPr marL="12700">
              <a:lnSpc>
                <a:spcPct val="100000"/>
              </a:lnSpc>
              <a:spcBef>
                <a:spcPts val="100"/>
              </a:spcBef>
              <a:tabLst>
                <a:tab pos="2244725" algn="l"/>
                <a:tab pos="3357245" algn="l"/>
              </a:tabLst>
            </a:pPr>
            <a:r>
              <a:rPr sz="1400" dirty="0">
                <a:latin typeface="微软雅黑" panose="020B0503020204020204" charset="-122"/>
                <a:ea typeface="微软雅黑" panose="020B0503020204020204" charset="-122"/>
                <a:cs typeface="微软雅黑" panose="020B0503020204020204" charset="-122"/>
              </a:rPr>
              <a:t>参考企业购</a:t>
            </a:r>
            <a:r>
              <a:rPr sz="1400" spc="325" dirty="0">
                <a:latin typeface="微软雅黑" panose="020B0503020204020204" charset="-122"/>
                <a:ea typeface="微软雅黑" panose="020B0503020204020204" charset="-122"/>
                <a:cs typeface="微软雅黑" panose="020B0503020204020204" charset="-122"/>
              </a:rPr>
              <a:t>价</a:t>
            </a:r>
            <a:r>
              <a:rPr sz="1400" dirty="0">
                <a:latin typeface="微软雅黑" panose="020B0503020204020204" charset="-122"/>
                <a:ea typeface="微软雅黑" panose="020B0503020204020204" charset="-122"/>
                <a:cs typeface="微软雅黑" panose="020B0503020204020204" charset="-122"/>
              </a:rPr>
              <a:t>付款	产品质量	交付</a:t>
            </a:r>
            <a:endParaRPr sz="1400">
              <a:latin typeface="微软雅黑" panose="020B0503020204020204" charset="-122"/>
              <a:ea typeface="微软雅黑" panose="020B0503020204020204" charset="-122"/>
              <a:cs typeface="微软雅黑" panose="020B0503020204020204" charset="-122"/>
            </a:endParaRPr>
          </a:p>
        </p:txBody>
      </p:sp>
      <p:sp>
        <p:nvSpPr>
          <p:cNvPr id="37" name="object 37"/>
          <p:cNvSpPr txBox="1"/>
          <p:nvPr/>
        </p:nvSpPr>
        <p:spPr>
          <a:xfrm>
            <a:off x="787756" y="2981911"/>
            <a:ext cx="472105" cy="227965"/>
          </a:xfrm>
          <a:prstGeom prst="rect">
            <a:avLst/>
          </a:prstGeom>
        </p:spPr>
        <p:txBody>
          <a:bodyPr vert="horz" wrap="square" lIns="0" tIns="13325" rIns="0" bIns="0" rtlCol="0">
            <a:spAutoFit/>
          </a:bodyPr>
          <a:lstStyle/>
          <a:p>
            <a:pPr marL="12700">
              <a:lnSpc>
                <a:spcPct val="100000"/>
              </a:lnSpc>
              <a:spcBef>
                <a:spcPts val="105"/>
              </a:spcBef>
            </a:pPr>
            <a:r>
              <a:rPr sz="1400" dirty="0">
                <a:latin typeface="微软雅黑" panose="020B0503020204020204" charset="-122"/>
                <a:ea typeface="微软雅黑" panose="020B0503020204020204" charset="-122"/>
                <a:cs typeface="Arial" panose="020B0604020202020204"/>
              </a:rPr>
              <a:t>6,150</a:t>
            </a:r>
            <a:endParaRPr sz="1400" dirty="0">
              <a:latin typeface="微软雅黑" panose="020B0503020204020204" charset="-122"/>
              <a:ea typeface="微软雅黑" panose="020B0503020204020204" charset="-122"/>
              <a:cs typeface="Arial" panose="020B0604020202020204"/>
            </a:endParaRPr>
          </a:p>
        </p:txBody>
      </p:sp>
      <p:sp>
        <p:nvSpPr>
          <p:cNvPr id="38" name="object 38"/>
          <p:cNvSpPr txBox="1">
            <a:spLocks noGrp="1"/>
          </p:cNvSpPr>
          <p:nvPr>
            <p:ph type="title"/>
          </p:nvPr>
        </p:nvSpPr>
        <p:spPr>
          <a:xfrm>
            <a:off x="106401" y="203088"/>
            <a:ext cx="7702806" cy="5956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匿名钢铁客</a:t>
            </a:r>
            <a:r>
              <a:rPr spc="-10" dirty="0">
                <a:ea typeface="微软雅黑" panose="020B0503020204020204" charset="-122"/>
              </a:rPr>
              <a:t>户案例</a:t>
            </a:r>
            <a:r>
              <a:rPr spc="50" dirty="0">
                <a:ea typeface="微软雅黑" panose="020B0503020204020204" charset="-122"/>
              </a:rPr>
              <a:t> </a:t>
            </a:r>
            <a:r>
              <a:rPr spc="-5" dirty="0">
                <a:ea typeface="微软雅黑" panose="020B0503020204020204" charset="-122"/>
              </a:rPr>
              <a:t>–通过次优选择</a:t>
            </a:r>
            <a:r>
              <a:rPr spc="-10" dirty="0">
                <a:ea typeface="微软雅黑" panose="020B0503020204020204" charset="-122"/>
              </a:rPr>
              <a:t>分</a:t>
            </a:r>
            <a:r>
              <a:rPr spc="-5" dirty="0">
                <a:ea typeface="微软雅黑" panose="020B0503020204020204" charset="-122"/>
              </a:rPr>
              <a:t>析</a:t>
            </a:r>
            <a:r>
              <a:rPr spc="-10" dirty="0">
                <a:ea typeface="微软雅黑" panose="020B0503020204020204" charset="-122"/>
              </a:rPr>
              <a:t>明确</a:t>
            </a:r>
            <a:r>
              <a:rPr spc="-5" dirty="0">
                <a:ea typeface="微软雅黑" panose="020B0503020204020204" charset="-122"/>
              </a:rPr>
              <a:t>价</a:t>
            </a:r>
            <a:r>
              <a:rPr spc="-10" dirty="0">
                <a:ea typeface="微软雅黑" panose="020B0503020204020204" charset="-122"/>
              </a:rPr>
              <a:t>格提</a:t>
            </a:r>
            <a:r>
              <a:rPr spc="-5" dirty="0">
                <a:ea typeface="微软雅黑" panose="020B0503020204020204" charset="-122"/>
              </a:rPr>
              <a:t>升</a:t>
            </a:r>
            <a:r>
              <a:rPr spc="-10" dirty="0">
                <a:ea typeface="微软雅黑" panose="020B0503020204020204" charset="-122"/>
              </a:rPr>
              <a:t>空间</a:t>
            </a:r>
            <a:r>
              <a:rPr spc="-5" dirty="0">
                <a:ea typeface="微软雅黑" panose="020B0503020204020204" charset="-122"/>
              </a:rPr>
              <a:t>及</a:t>
            </a:r>
            <a:r>
              <a:rPr spc="-10" dirty="0">
                <a:ea typeface="微软雅黑" panose="020B0503020204020204" charset="-122"/>
              </a:rPr>
              <a:t>潜在</a:t>
            </a:r>
            <a:r>
              <a:rPr spc="-5" dirty="0">
                <a:ea typeface="微软雅黑" panose="020B0503020204020204" charset="-122"/>
              </a:rPr>
              <a:t>关</a:t>
            </a:r>
            <a:r>
              <a:rPr spc="-10" dirty="0">
                <a:ea typeface="微软雅黑" panose="020B0503020204020204" charset="-122"/>
              </a:rPr>
              <a:t>键举措</a:t>
            </a:r>
            <a:endParaRPr spc="-10" dirty="0">
              <a:ea typeface="微软雅黑" panose="020B0503020204020204" charset="-122"/>
            </a:endParaRPr>
          </a:p>
        </p:txBody>
      </p:sp>
      <p:sp>
        <p:nvSpPr>
          <p:cNvPr id="39" name="object 39"/>
          <p:cNvSpPr/>
          <p:nvPr/>
        </p:nvSpPr>
        <p:spPr>
          <a:xfrm>
            <a:off x="187319" y="838400"/>
            <a:ext cx="8560718" cy="365501"/>
          </a:xfrm>
          <a:custGeom>
            <a:avLst/>
            <a:gdLst/>
            <a:ahLst/>
            <a:cxnLst/>
            <a:rect l="l" t="t" r="r" b="b"/>
            <a:pathLst>
              <a:path w="8566785" h="365759">
                <a:moveTo>
                  <a:pt x="0" y="365760"/>
                </a:moveTo>
                <a:lnTo>
                  <a:pt x="8566404" y="365760"/>
                </a:lnTo>
                <a:lnTo>
                  <a:pt x="8566404" y="0"/>
                </a:lnTo>
                <a:lnTo>
                  <a:pt x="0" y="0"/>
                </a:lnTo>
                <a:lnTo>
                  <a:pt x="0" y="3657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0" name="object 40"/>
          <p:cNvSpPr/>
          <p:nvPr/>
        </p:nvSpPr>
        <p:spPr>
          <a:xfrm>
            <a:off x="187319" y="838400"/>
            <a:ext cx="8560718" cy="365501"/>
          </a:xfrm>
          <a:custGeom>
            <a:avLst/>
            <a:gdLst/>
            <a:ahLst/>
            <a:cxnLst/>
            <a:rect l="l" t="t" r="r" b="b"/>
            <a:pathLst>
              <a:path w="8566785" h="365759">
                <a:moveTo>
                  <a:pt x="0" y="365760"/>
                </a:moveTo>
                <a:lnTo>
                  <a:pt x="8566404" y="365760"/>
                </a:lnTo>
                <a:lnTo>
                  <a:pt x="8566404" y="0"/>
                </a:lnTo>
                <a:lnTo>
                  <a:pt x="0" y="0"/>
                </a:lnTo>
                <a:lnTo>
                  <a:pt x="0" y="365760"/>
                </a:lnTo>
                <a:close/>
              </a:path>
            </a:pathLst>
          </a:custGeom>
          <a:ln w="9525">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1" name="object 41"/>
          <p:cNvSpPr txBox="1"/>
          <p:nvPr/>
        </p:nvSpPr>
        <p:spPr>
          <a:xfrm>
            <a:off x="246509" y="889672"/>
            <a:ext cx="919463" cy="227965"/>
          </a:xfrm>
          <a:prstGeom prst="rect">
            <a:avLst/>
          </a:prstGeom>
        </p:spPr>
        <p:txBody>
          <a:bodyPr vert="horz" wrap="square" lIns="0" tIns="13325" rIns="0" bIns="0" rtlCol="0">
            <a:spAutoFit/>
          </a:bodyPr>
          <a:lstStyle/>
          <a:p>
            <a:pPr marL="12700">
              <a:lnSpc>
                <a:spcPct val="100000"/>
              </a:lnSpc>
              <a:spcBef>
                <a:spcPts val="105"/>
              </a:spcBef>
            </a:pPr>
            <a:r>
              <a:rPr sz="1400" b="1" spc="10" dirty="0">
                <a:latin typeface="微软雅黑" panose="020B0503020204020204" charset="-122"/>
                <a:ea typeface="微软雅黑" panose="020B0503020204020204" charset="-122"/>
                <a:cs typeface="微软雅黑" panose="020B0503020204020204" charset="-122"/>
              </a:rPr>
              <a:t>价值</a:t>
            </a:r>
            <a:r>
              <a:rPr sz="1400" b="1" dirty="0">
                <a:latin typeface="微软雅黑" panose="020B0503020204020204" charset="-122"/>
                <a:ea typeface="微软雅黑" panose="020B0503020204020204" charset="-122"/>
                <a:cs typeface="微软雅黑" panose="020B0503020204020204" charset="-122"/>
              </a:rPr>
              <a:t>分析图</a:t>
            </a:r>
            <a:endParaRPr sz="1400">
              <a:latin typeface="微软雅黑" panose="020B0503020204020204" charset="-122"/>
              <a:ea typeface="微软雅黑" panose="020B0503020204020204" charset="-122"/>
              <a:cs typeface="微软雅黑" panose="020B0503020204020204" charset="-122"/>
            </a:endParaRPr>
          </a:p>
        </p:txBody>
      </p:sp>
      <p:sp>
        <p:nvSpPr>
          <p:cNvPr id="42" name="object 42"/>
          <p:cNvSpPr txBox="1"/>
          <p:nvPr/>
        </p:nvSpPr>
        <p:spPr>
          <a:xfrm>
            <a:off x="7402410" y="866193"/>
            <a:ext cx="1272908" cy="227965"/>
          </a:xfrm>
          <a:prstGeom prst="rect">
            <a:avLst/>
          </a:prstGeom>
        </p:spPr>
        <p:txBody>
          <a:bodyPr vert="horz" wrap="square" lIns="0" tIns="13325" rIns="0" bIns="0" rtlCol="0">
            <a:spAutoFit/>
          </a:bodyPr>
          <a:lstStyle/>
          <a:p>
            <a:pPr marL="12700">
              <a:lnSpc>
                <a:spcPct val="100000"/>
              </a:lnSpc>
              <a:spcBef>
                <a:spcPts val="105"/>
              </a:spcBef>
            </a:pPr>
            <a:r>
              <a:rPr sz="1400" dirty="0">
                <a:solidFill>
                  <a:srgbClr val="808080"/>
                </a:solidFill>
                <a:latin typeface="微软雅黑" panose="020B0503020204020204" charset="-122"/>
                <a:ea typeface="微软雅黑" panose="020B0503020204020204" charset="-122"/>
                <a:cs typeface="微软雅黑" panose="020B0503020204020204" charset="-122"/>
              </a:rPr>
              <a:t>单月份价格示例</a:t>
            </a:r>
            <a:endParaRPr sz="1400" dirty="0">
              <a:solidFill>
                <a:srgbClr val="808080"/>
              </a:solidFill>
              <a:latin typeface="微软雅黑" panose="020B0503020204020204" charset="-122"/>
              <a:ea typeface="微软雅黑" panose="020B0503020204020204" charset="-122"/>
              <a:cs typeface="微软雅黑" panose="020B0503020204020204" charset="-122"/>
            </a:endParaRPr>
          </a:p>
        </p:txBody>
      </p:sp>
      <p:sp>
        <p:nvSpPr>
          <p:cNvPr id="43" name="object 43"/>
          <p:cNvSpPr/>
          <p:nvPr/>
        </p:nvSpPr>
        <p:spPr>
          <a:xfrm>
            <a:off x="7404440" y="890179"/>
            <a:ext cx="0" cy="209402"/>
          </a:xfrm>
          <a:custGeom>
            <a:avLst/>
            <a:gdLst/>
            <a:ahLst/>
            <a:cxnLst/>
            <a:rect l="l" t="t" r="r" b="b"/>
            <a:pathLst>
              <a:path h="209550">
                <a:moveTo>
                  <a:pt x="0" y="0"/>
                </a:moveTo>
                <a:lnTo>
                  <a:pt x="0" y="209550"/>
                </a:lnTo>
              </a:path>
            </a:pathLst>
          </a:custGeom>
          <a:ln w="9525">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4" name="object 44"/>
          <p:cNvSpPr/>
          <p:nvPr/>
        </p:nvSpPr>
        <p:spPr>
          <a:xfrm>
            <a:off x="7405202" y="1101104"/>
            <a:ext cx="1258313" cy="0"/>
          </a:xfrm>
          <a:custGeom>
            <a:avLst/>
            <a:gdLst/>
            <a:ahLst/>
            <a:cxnLst/>
            <a:rect l="l" t="t" r="r" b="b"/>
            <a:pathLst>
              <a:path w="1259204">
                <a:moveTo>
                  <a:pt x="0" y="0"/>
                </a:moveTo>
                <a:lnTo>
                  <a:pt x="1258824" y="0"/>
                </a:lnTo>
              </a:path>
            </a:pathLst>
          </a:custGeom>
          <a:ln w="25400">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5" name="object 45"/>
          <p:cNvSpPr/>
          <p:nvPr/>
        </p:nvSpPr>
        <p:spPr>
          <a:xfrm>
            <a:off x="2754202" y="2581383"/>
            <a:ext cx="2175238" cy="904869"/>
          </a:xfrm>
          <a:custGeom>
            <a:avLst/>
            <a:gdLst/>
            <a:ahLst/>
            <a:cxnLst/>
            <a:rect l="l" t="t" r="r" b="b"/>
            <a:pathLst>
              <a:path w="2176779" h="905510">
                <a:moveTo>
                  <a:pt x="0" y="905256"/>
                </a:moveTo>
                <a:lnTo>
                  <a:pt x="2176272" y="905256"/>
                </a:lnTo>
                <a:lnTo>
                  <a:pt x="2176272" y="0"/>
                </a:lnTo>
                <a:lnTo>
                  <a:pt x="0" y="0"/>
                </a:lnTo>
                <a:lnTo>
                  <a:pt x="0" y="905256"/>
                </a:lnTo>
                <a:close/>
              </a:path>
            </a:pathLst>
          </a:custGeom>
          <a:ln w="19050">
            <a:solidFill>
              <a:srgbClr val="FF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46" name="object 46"/>
          <p:cNvSpPr txBox="1"/>
          <p:nvPr/>
        </p:nvSpPr>
        <p:spPr>
          <a:xfrm>
            <a:off x="106401" y="6412696"/>
            <a:ext cx="1416316"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资料来源：匿名客户案例</a:t>
            </a:r>
            <a:endParaRPr sz="1000" spc="-10" dirty="0">
              <a:latin typeface="微软雅黑" panose="020B0503020204020204" charset="-122"/>
              <a:ea typeface="微软雅黑" panose="020B0503020204020204" charset="-122"/>
              <a:cs typeface="微软雅黑" panose="020B0503020204020204" charset="-122"/>
            </a:endParaRPr>
          </a:p>
        </p:txBody>
      </p:sp>
      <p:sp>
        <p:nvSpPr>
          <p:cNvPr id="47" name="object 47"/>
          <p:cNvSpPr txBox="1"/>
          <p:nvPr/>
        </p:nvSpPr>
        <p:spPr>
          <a:xfrm>
            <a:off x="249250" y="1254283"/>
            <a:ext cx="432128" cy="227965"/>
          </a:xfrm>
          <a:prstGeom prst="rect">
            <a:avLst/>
          </a:prstGeom>
        </p:spPr>
        <p:txBody>
          <a:bodyPr vert="horz" wrap="square" lIns="0" tIns="13325" rIns="0" bIns="0" rtlCol="0">
            <a:spAutoFit/>
          </a:bodyPr>
          <a:lstStyle/>
          <a:p>
            <a:pPr marL="12700">
              <a:lnSpc>
                <a:spcPct val="100000"/>
              </a:lnSpc>
              <a:spcBef>
                <a:spcPts val="105"/>
              </a:spcBef>
            </a:pPr>
            <a:r>
              <a:rPr sz="1400" dirty="0">
                <a:solidFill>
                  <a:srgbClr val="959595"/>
                </a:solidFill>
                <a:latin typeface="微软雅黑" panose="020B0503020204020204" charset="-122"/>
                <a:ea typeface="微软雅黑" panose="020B0503020204020204" charset="-122"/>
                <a:cs typeface="微软雅黑" panose="020B0503020204020204" charset="-122"/>
              </a:rPr>
              <a:t>元</a:t>
            </a:r>
            <a:r>
              <a:rPr sz="1400" spc="5" dirty="0">
                <a:solidFill>
                  <a:srgbClr val="959595"/>
                </a:solidFill>
                <a:latin typeface="微软雅黑" panose="020B0503020204020204" charset="-122"/>
                <a:ea typeface="微软雅黑" panose="020B0503020204020204" charset="-122"/>
                <a:cs typeface="微软雅黑" panose="020B0503020204020204" charset="-122"/>
              </a:rPr>
              <a:t>/</a:t>
            </a:r>
            <a:r>
              <a:rPr sz="1400" dirty="0">
                <a:solidFill>
                  <a:srgbClr val="959595"/>
                </a:solidFill>
                <a:latin typeface="微软雅黑" panose="020B0503020204020204" charset="-122"/>
                <a:ea typeface="微软雅黑" panose="020B0503020204020204" charset="-122"/>
                <a:cs typeface="微软雅黑" panose="020B0503020204020204" charset="-122"/>
              </a:rPr>
              <a:t>吨</a:t>
            </a:r>
            <a:endParaRPr sz="1400">
              <a:latin typeface="微软雅黑" panose="020B0503020204020204" charset="-122"/>
              <a:ea typeface="微软雅黑" panose="020B0503020204020204" charset="-122"/>
              <a:cs typeface="微软雅黑" panose="020B0503020204020204" charset="-122"/>
            </a:endParaRPr>
          </a:p>
        </p:txBody>
      </p:sp>
      <p:sp>
        <p:nvSpPr>
          <p:cNvPr id="48" name="object 48"/>
          <p:cNvSpPr/>
          <p:nvPr/>
        </p:nvSpPr>
        <p:spPr>
          <a:xfrm>
            <a:off x="6536883" y="1964600"/>
            <a:ext cx="85664" cy="1404260"/>
          </a:xfrm>
          <a:custGeom>
            <a:avLst/>
            <a:gdLst/>
            <a:ahLst/>
            <a:cxnLst/>
            <a:rect l="l" t="t" r="r" b="b"/>
            <a:pathLst>
              <a:path w="85725" h="1405254">
                <a:moveTo>
                  <a:pt x="28578" y="1322443"/>
                </a:moveTo>
                <a:lnTo>
                  <a:pt x="26253" y="1322915"/>
                </a:lnTo>
                <a:lnTo>
                  <a:pt x="12604" y="1332134"/>
                </a:lnTo>
                <a:lnTo>
                  <a:pt x="3385" y="1345783"/>
                </a:lnTo>
                <a:lnTo>
                  <a:pt x="0" y="1362455"/>
                </a:lnTo>
                <a:lnTo>
                  <a:pt x="3385" y="1379108"/>
                </a:lnTo>
                <a:lnTo>
                  <a:pt x="12604" y="1392713"/>
                </a:lnTo>
                <a:lnTo>
                  <a:pt x="26253" y="1401889"/>
                </a:lnTo>
                <a:lnTo>
                  <a:pt x="42925" y="1405254"/>
                </a:lnTo>
                <a:lnTo>
                  <a:pt x="59578" y="1401889"/>
                </a:lnTo>
                <a:lnTo>
                  <a:pt x="73183" y="1392713"/>
                </a:lnTo>
                <a:lnTo>
                  <a:pt x="82359" y="1379108"/>
                </a:lnTo>
                <a:lnTo>
                  <a:pt x="85725" y="1362455"/>
                </a:lnTo>
                <a:lnTo>
                  <a:pt x="28575" y="1362455"/>
                </a:lnTo>
                <a:lnTo>
                  <a:pt x="28578" y="1322443"/>
                </a:lnTo>
                <a:close/>
              </a:path>
              <a:path w="85725" h="1405254">
                <a:moveTo>
                  <a:pt x="42925" y="1319529"/>
                </a:moveTo>
                <a:lnTo>
                  <a:pt x="28681" y="1322422"/>
                </a:lnTo>
                <a:lnTo>
                  <a:pt x="28575" y="1362455"/>
                </a:lnTo>
                <a:lnTo>
                  <a:pt x="57150" y="1362455"/>
                </a:lnTo>
                <a:lnTo>
                  <a:pt x="57153" y="1322422"/>
                </a:lnTo>
                <a:lnTo>
                  <a:pt x="42925" y="1319529"/>
                </a:lnTo>
                <a:close/>
              </a:path>
              <a:path w="85725" h="1405254">
                <a:moveTo>
                  <a:pt x="57153" y="1322422"/>
                </a:moveTo>
                <a:lnTo>
                  <a:pt x="57150" y="1362455"/>
                </a:lnTo>
                <a:lnTo>
                  <a:pt x="85725" y="1362455"/>
                </a:lnTo>
                <a:lnTo>
                  <a:pt x="82359" y="1345783"/>
                </a:lnTo>
                <a:lnTo>
                  <a:pt x="73183" y="1332134"/>
                </a:lnTo>
                <a:lnTo>
                  <a:pt x="59578" y="1322915"/>
                </a:lnTo>
                <a:lnTo>
                  <a:pt x="57153" y="1322422"/>
                </a:lnTo>
                <a:close/>
              </a:path>
              <a:path w="85725" h="1405254">
                <a:moveTo>
                  <a:pt x="57276" y="0"/>
                </a:moveTo>
                <a:lnTo>
                  <a:pt x="28701" y="0"/>
                </a:lnTo>
                <a:lnTo>
                  <a:pt x="28578" y="1322443"/>
                </a:lnTo>
                <a:lnTo>
                  <a:pt x="42925" y="1319529"/>
                </a:lnTo>
                <a:lnTo>
                  <a:pt x="57154" y="1319529"/>
                </a:lnTo>
                <a:lnTo>
                  <a:pt x="57276" y="0"/>
                </a:lnTo>
                <a:close/>
              </a:path>
              <a:path w="85725" h="1405254">
                <a:moveTo>
                  <a:pt x="57154" y="1319529"/>
                </a:moveTo>
                <a:lnTo>
                  <a:pt x="42925" y="1319529"/>
                </a:lnTo>
                <a:lnTo>
                  <a:pt x="57153" y="1322422"/>
                </a:lnTo>
                <a:lnTo>
                  <a:pt x="57154" y="1319529"/>
                </a:lnTo>
                <a:close/>
              </a:path>
            </a:pathLst>
          </a:custGeom>
          <a:solidFill>
            <a:srgbClr val="959595"/>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9" name="object 49"/>
          <p:cNvSpPr txBox="1"/>
          <p:nvPr/>
        </p:nvSpPr>
        <p:spPr>
          <a:xfrm>
            <a:off x="5074371" y="1438431"/>
            <a:ext cx="3565538" cy="1332230"/>
          </a:xfrm>
          <a:prstGeom prst="rect">
            <a:avLst/>
          </a:prstGeom>
          <a:solidFill>
            <a:srgbClr val="91AFFF"/>
          </a:solidFill>
        </p:spPr>
        <p:txBody>
          <a:bodyPr vert="horz" wrap="square" lIns="0" tIns="39976" rIns="0" bIns="0" rtlCol="0">
            <a:spAutoFit/>
          </a:bodyPr>
          <a:lstStyle/>
          <a:p>
            <a:pPr marL="266700" marR="265430" indent="-192405">
              <a:lnSpc>
                <a:spcPct val="100000"/>
              </a:lnSpc>
              <a:spcBef>
                <a:spcPts val="315"/>
              </a:spcBef>
              <a:buFont typeface="Arial" panose="020B0604020202020204"/>
              <a:buChar char="▪"/>
              <a:tabLst>
                <a:tab pos="266700" algn="l"/>
                <a:tab pos="267335" algn="l"/>
              </a:tabLst>
            </a:pPr>
            <a:r>
              <a:rPr sz="1400" b="1" spc="10" dirty="0">
                <a:latin typeface="微软雅黑" panose="020B0503020204020204" charset="-122"/>
                <a:ea typeface="微软雅黑" panose="020B0503020204020204" charset="-122"/>
                <a:cs typeface="微软雅黑" panose="020B0503020204020204" charset="-122"/>
              </a:rPr>
              <a:t>通过</a:t>
            </a:r>
            <a:r>
              <a:rPr sz="1400" b="1" dirty="0">
                <a:latin typeface="微软雅黑" panose="020B0503020204020204" charset="-122"/>
                <a:ea typeface="微软雅黑" panose="020B0503020204020204" charset="-122"/>
                <a:cs typeface="微软雅黑" panose="020B0503020204020204" charset="-122"/>
              </a:rPr>
              <a:t>大客</a:t>
            </a:r>
            <a:r>
              <a:rPr sz="1400" b="1" spc="-15" dirty="0">
                <a:latin typeface="微软雅黑" panose="020B0503020204020204" charset="-122"/>
                <a:ea typeface="微软雅黑" panose="020B0503020204020204" charset="-122"/>
                <a:cs typeface="微软雅黑" panose="020B0503020204020204" charset="-122"/>
              </a:rPr>
              <a:t>户</a:t>
            </a:r>
            <a:r>
              <a:rPr sz="1400" b="1" dirty="0">
                <a:latin typeface="微软雅黑" panose="020B0503020204020204" charset="-122"/>
                <a:ea typeface="微软雅黑" panose="020B0503020204020204" charset="-122"/>
                <a:cs typeface="微软雅黑" panose="020B0503020204020204" charset="-122"/>
              </a:rPr>
              <a:t>管理</a:t>
            </a:r>
            <a:r>
              <a:rPr sz="1400" b="1" spc="-15" dirty="0">
                <a:latin typeface="微软雅黑" panose="020B0503020204020204" charset="-122"/>
                <a:ea typeface="微软雅黑" panose="020B0503020204020204" charset="-122"/>
                <a:cs typeface="微软雅黑" panose="020B0503020204020204" charset="-122"/>
              </a:rPr>
              <a:t>体</a:t>
            </a:r>
            <a:r>
              <a:rPr sz="1400" b="1" dirty="0">
                <a:latin typeface="微软雅黑" panose="020B0503020204020204" charset="-122"/>
                <a:ea typeface="微软雅黑" panose="020B0503020204020204" charset="-122"/>
                <a:cs typeface="微软雅黑" panose="020B0503020204020204" charset="-122"/>
              </a:rPr>
              <a:t>系建</a:t>
            </a:r>
            <a:r>
              <a:rPr sz="1400" b="1" spc="-15" dirty="0">
                <a:latin typeface="微软雅黑" panose="020B0503020204020204" charset="-122"/>
                <a:ea typeface="微软雅黑" panose="020B0503020204020204" charset="-122"/>
                <a:cs typeface="微软雅黑" panose="020B0503020204020204" charset="-122"/>
              </a:rPr>
              <a:t>设</a:t>
            </a:r>
            <a:r>
              <a:rPr sz="1400" b="1" dirty="0">
                <a:latin typeface="微软雅黑" panose="020B0503020204020204" charset="-122"/>
                <a:ea typeface="微软雅黑" panose="020B0503020204020204" charset="-122"/>
                <a:cs typeface="微软雅黑" panose="020B0503020204020204" charset="-122"/>
              </a:rPr>
              <a:t>和能</a:t>
            </a:r>
            <a:r>
              <a:rPr sz="1400" b="1" spc="-15" dirty="0">
                <a:latin typeface="微软雅黑" panose="020B0503020204020204" charset="-122"/>
                <a:ea typeface="微软雅黑" panose="020B0503020204020204" charset="-122"/>
                <a:cs typeface="微软雅黑" panose="020B0503020204020204" charset="-122"/>
              </a:rPr>
              <a:t>力</a:t>
            </a:r>
            <a:r>
              <a:rPr sz="1400" b="1" dirty="0">
                <a:latin typeface="微软雅黑" panose="020B0503020204020204" charset="-122"/>
                <a:ea typeface="微软雅黑" panose="020B0503020204020204" charset="-122"/>
                <a:cs typeface="微软雅黑" panose="020B0503020204020204" charset="-122"/>
              </a:rPr>
              <a:t>提升， </a:t>
            </a:r>
            <a:r>
              <a:rPr sz="1400" b="1" spc="10" dirty="0">
                <a:latin typeface="微软雅黑" panose="020B0503020204020204" charset="-122"/>
                <a:ea typeface="微软雅黑" panose="020B0503020204020204" charset="-122"/>
                <a:cs typeface="微软雅黑" panose="020B0503020204020204" charset="-122"/>
              </a:rPr>
              <a:t>初步</a:t>
            </a:r>
            <a:r>
              <a:rPr sz="1400" b="1" dirty="0">
                <a:latin typeface="微软雅黑" panose="020B0503020204020204" charset="-122"/>
                <a:ea typeface="微软雅黑" panose="020B0503020204020204" charset="-122"/>
                <a:cs typeface="微软雅黑" panose="020B0503020204020204" charset="-122"/>
              </a:rPr>
              <a:t>明确</a:t>
            </a:r>
            <a:r>
              <a:rPr sz="1400" b="1" spc="-15" dirty="0">
                <a:latin typeface="微软雅黑" panose="020B0503020204020204" charset="-122"/>
                <a:ea typeface="微软雅黑" panose="020B0503020204020204" charset="-122"/>
                <a:cs typeface="微软雅黑" panose="020B0503020204020204" charset="-122"/>
              </a:rPr>
              <a:t>潜</a:t>
            </a:r>
            <a:r>
              <a:rPr sz="1400" b="1" dirty="0">
                <a:latin typeface="微软雅黑" panose="020B0503020204020204" charset="-122"/>
                <a:ea typeface="微软雅黑" panose="020B0503020204020204" charset="-122"/>
                <a:cs typeface="微软雅黑" panose="020B0503020204020204" charset="-122"/>
              </a:rPr>
              <a:t>在价</a:t>
            </a:r>
            <a:r>
              <a:rPr sz="1400" b="1" spc="-15" dirty="0">
                <a:latin typeface="微软雅黑" panose="020B0503020204020204" charset="-122"/>
                <a:ea typeface="微软雅黑" panose="020B0503020204020204" charset="-122"/>
                <a:cs typeface="微软雅黑" panose="020B0503020204020204" charset="-122"/>
              </a:rPr>
              <a:t>格</a:t>
            </a:r>
            <a:r>
              <a:rPr sz="1400" b="1" dirty="0">
                <a:latin typeface="微软雅黑" panose="020B0503020204020204" charset="-122"/>
                <a:ea typeface="微软雅黑" panose="020B0503020204020204" charset="-122"/>
                <a:cs typeface="微软雅黑" panose="020B0503020204020204" charset="-122"/>
              </a:rPr>
              <a:t>提升</a:t>
            </a:r>
            <a:r>
              <a:rPr sz="1400" b="1" spc="-15" dirty="0">
                <a:latin typeface="微软雅黑" panose="020B0503020204020204" charset="-122"/>
                <a:ea typeface="微软雅黑" panose="020B0503020204020204" charset="-122"/>
                <a:cs typeface="微软雅黑" panose="020B0503020204020204" charset="-122"/>
              </a:rPr>
              <a:t>举</a:t>
            </a:r>
            <a:r>
              <a:rPr sz="1400" b="1" dirty="0">
                <a:latin typeface="微软雅黑" panose="020B0503020204020204" charset="-122"/>
                <a:ea typeface="微软雅黑" panose="020B0503020204020204" charset="-122"/>
                <a:cs typeface="微软雅黑" panose="020B0503020204020204" charset="-122"/>
              </a:rPr>
              <a:t>措</a:t>
            </a:r>
            <a:endParaRPr sz="1400">
              <a:latin typeface="微软雅黑" panose="020B0503020204020204" charset="-122"/>
              <a:ea typeface="微软雅黑" panose="020B0503020204020204" charset="-122"/>
              <a:cs typeface="微软雅黑" panose="020B0503020204020204" charset="-122"/>
            </a:endParaRPr>
          </a:p>
          <a:p>
            <a:pPr marL="530225" lvl="1" indent="-262890">
              <a:lnSpc>
                <a:spcPct val="100000"/>
              </a:lnSpc>
              <a:buFont typeface="Arial" panose="020B0604020202020204"/>
              <a:buChar char="–"/>
              <a:tabLst>
                <a:tab pos="530225" algn="l"/>
                <a:tab pos="530860" algn="l"/>
              </a:tabLst>
            </a:pPr>
            <a:r>
              <a:rPr sz="1400" b="1" spc="10" dirty="0">
                <a:latin typeface="微软雅黑" panose="020B0503020204020204" charset="-122"/>
                <a:ea typeface="微软雅黑" panose="020B0503020204020204" charset="-122"/>
                <a:cs typeface="微软雅黑" panose="020B0503020204020204" charset="-122"/>
              </a:rPr>
              <a:t>分阶</a:t>
            </a:r>
            <a:r>
              <a:rPr sz="1400" b="1" dirty="0">
                <a:latin typeface="微软雅黑" panose="020B0503020204020204" charset="-122"/>
                <a:ea typeface="微软雅黑" panose="020B0503020204020204" charset="-122"/>
                <a:cs typeface="微软雅黑" panose="020B0503020204020204" charset="-122"/>
              </a:rPr>
              <a:t>段缩</a:t>
            </a:r>
            <a:r>
              <a:rPr sz="1400" b="1" spc="-15" dirty="0">
                <a:latin typeface="微软雅黑" panose="020B0503020204020204" charset="-122"/>
                <a:ea typeface="微软雅黑" panose="020B0503020204020204" charset="-122"/>
                <a:cs typeface="微软雅黑" panose="020B0503020204020204" charset="-122"/>
              </a:rPr>
              <a:t>小</a:t>
            </a:r>
            <a:r>
              <a:rPr sz="1400" b="1" dirty="0">
                <a:latin typeface="微软雅黑" panose="020B0503020204020204" charset="-122"/>
                <a:ea typeface="微软雅黑" panose="020B0503020204020204" charset="-122"/>
                <a:cs typeface="微软雅黑" panose="020B0503020204020204" charset="-122"/>
              </a:rPr>
              <a:t>差距</a:t>
            </a:r>
            <a:endParaRPr sz="1400">
              <a:latin typeface="微软雅黑" panose="020B0503020204020204" charset="-122"/>
              <a:ea typeface="微软雅黑" panose="020B0503020204020204" charset="-122"/>
              <a:cs typeface="微软雅黑" panose="020B0503020204020204" charset="-122"/>
            </a:endParaRPr>
          </a:p>
          <a:p>
            <a:pPr marL="530225" lvl="1" indent="-262890">
              <a:lnSpc>
                <a:spcPct val="100000"/>
              </a:lnSpc>
              <a:buFont typeface="Arial" panose="020B0604020202020204"/>
              <a:buChar char="–"/>
              <a:tabLst>
                <a:tab pos="530225" algn="l"/>
                <a:tab pos="530860" algn="l"/>
              </a:tabLst>
            </a:pPr>
            <a:r>
              <a:rPr sz="1400" b="1" spc="10" dirty="0">
                <a:latin typeface="微软雅黑" panose="020B0503020204020204" charset="-122"/>
                <a:ea typeface="微软雅黑" panose="020B0503020204020204" charset="-122"/>
                <a:cs typeface="微软雅黑" panose="020B0503020204020204" charset="-122"/>
              </a:rPr>
              <a:t>产品</a:t>
            </a:r>
            <a:r>
              <a:rPr sz="1400" b="1" dirty="0">
                <a:latin typeface="微软雅黑" panose="020B0503020204020204" charset="-122"/>
                <a:ea typeface="微软雅黑" panose="020B0503020204020204" charset="-122"/>
                <a:cs typeface="微软雅黑" panose="020B0503020204020204" charset="-122"/>
              </a:rPr>
              <a:t>捆绑</a:t>
            </a:r>
            <a:r>
              <a:rPr sz="1400" b="1" spc="-15" dirty="0">
                <a:latin typeface="微软雅黑" panose="020B0503020204020204" charset="-122"/>
                <a:ea typeface="微软雅黑" panose="020B0503020204020204" charset="-122"/>
                <a:cs typeface="微软雅黑" panose="020B0503020204020204" charset="-122"/>
              </a:rPr>
              <a:t>销</a:t>
            </a:r>
            <a:r>
              <a:rPr sz="1400" b="1" dirty="0">
                <a:latin typeface="微软雅黑" panose="020B0503020204020204" charset="-122"/>
                <a:ea typeface="微软雅黑" panose="020B0503020204020204" charset="-122"/>
                <a:cs typeface="微软雅黑" panose="020B0503020204020204" charset="-122"/>
              </a:rPr>
              <a:t>售</a:t>
            </a:r>
            <a:endParaRPr sz="1400">
              <a:latin typeface="微软雅黑" panose="020B0503020204020204" charset="-122"/>
              <a:ea typeface="微软雅黑" panose="020B0503020204020204" charset="-122"/>
              <a:cs typeface="微软雅黑" panose="020B0503020204020204" charset="-122"/>
            </a:endParaRPr>
          </a:p>
          <a:p>
            <a:pPr marL="530225" lvl="1" indent="-262890">
              <a:lnSpc>
                <a:spcPct val="100000"/>
              </a:lnSpc>
              <a:buFont typeface="Arial" panose="020B0604020202020204"/>
              <a:buChar char="–"/>
              <a:tabLst>
                <a:tab pos="530225" algn="l"/>
                <a:tab pos="530860" algn="l"/>
              </a:tabLst>
            </a:pPr>
            <a:r>
              <a:rPr sz="1400" b="1" spc="10" dirty="0">
                <a:latin typeface="微软雅黑" panose="020B0503020204020204" charset="-122"/>
                <a:ea typeface="微软雅黑" panose="020B0503020204020204" charset="-122"/>
                <a:cs typeface="微软雅黑" panose="020B0503020204020204" charset="-122"/>
              </a:rPr>
              <a:t>提供</a:t>
            </a:r>
            <a:r>
              <a:rPr sz="1400" b="1" spc="5" dirty="0">
                <a:latin typeface="微软雅黑" panose="020B0503020204020204" charset="-122"/>
                <a:ea typeface="微软雅黑" panose="020B0503020204020204" charset="-122"/>
                <a:cs typeface="微软雅黑" panose="020B0503020204020204" charset="-122"/>
              </a:rPr>
              <a:t>增</a:t>
            </a:r>
            <a:r>
              <a:rPr sz="1400" b="1" dirty="0">
                <a:latin typeface="微软雅黑" panose="020B0503020204020204" charset="-122"/>
                <a:ea typeface="微软雅黑" panose="020B0503020204020204" charset="-122"/>
                <a:cs typeface="微软雅黑" panose="020B0503020204020204" charset="-122"/>
              </a:rPr>
              <a:t>值</a:t>
            </a:r>
            <a:r>
              <a:rPr sz="1400" b="1" spc="-10" dirty="0">
                <a:latin typeface="微软雅黑" panose="020B0503020204020204" charset="-122"/>
                <a:ea typeface="微软雅黑" panose="020B0503020204020204" charset="-122"/>
                <a:cs typeface="微软雅黑" panose="020B0503020204020204" charset="-122"/>
              </a:rPr>
              <a:t>服</a:t>
            </a:r>
            <a:r>
              <a:rPr sz="1400" b="1" spc="5" dirty="0">
                <a:latin typeface="微软雅黑" panose="020B0503020204020204" charset="-122"/>
                <a:ea typeface="微软雅黑" panose="020B0503020204020204" charset="-122"/>
                <a:cs typeface="微软雅黑" panose="020B0503020204020204" charset="-122"/>
              </a:rPr>
              <a:t>务包</a:t>
            </a:r>
            <a:endParaRPr sz="1400">
              <a:latin typeface="微软雅黑" panose="020B0503020204020204" charset="-122"/>
              <a:ea typeface="微软雅黑" panose="020B0503020204020204" charset="-122"/>
              <a:cs typeface="微软雅黑" panose="020B0503020204020204" charset="-122"/>
            </a:endParaRPr>
          </a:p>
          <a:p>
            <a:pPr marL="530225" lvl="1" indent="-262890">
              <a:lnSpc>
                <a:spcPct val="100000"/>
              </a:lnSpc>
              <a:spcBef>
                <a:spcPts val="5"/>
              </a:spcBef>
              <a:buFont typeface="Arial" panose="020B0604020202020204"/>
              <a:buChar char="–"/>
              <a:tabLst>
                <a:tab pos="530225" algn="l"/>
                <a:tab pos="530860" algn="l"/>
              </a:tabLst>
            </a:pPr>
            <a:r>
              <a:rPr sz="1400" b="1" spc="10" dirty="0">
                <a:latin typeface="微软雅黑" panose="020B0503020204020204" charset="-122"/>
                <a:ea typeface="微软雅黑" panose="020B0503020204020204" charset="-122"/>
                <a:cs typeface="微软雅黑" panose="020B0503020204020204" charset="-122"/>
              </a:rPr>
              <a:t>产品</a:t>
            </a:r>
            <a:r>
              <a:rPr sz="1400" b="1" dirty="0">
                <a:latin typeface="微软雅黑" panose="020B0503020204020204" charset="-122"/>
                <a:ea typeface="微软雅黑" panose="020B0503020204020204" charset="-122"/>
                <a:cs typeface="微软雅黑" panose="020B0503020204020204" charset="-122"/>
              </a:rPr>
              <a:t>改进</a:t>
            </a:r>
            <a:r>
              <a:rPr sz="1400" b="1" spc="-15" dirty="0">
                <a:latin typeface="微软雅黑" panose="020B0503020204020204" charset="-122"/>
                <a:ea typeface="微软雅黑" panose="020B0503020204020204" charset="-122"/>
                <a:cs typeface="微软雅黑" panose="020B0503020204020204" charset="-122"/>
              </a:rPr>
              <a:t>后</a:t>
            </a:r>
            <a:r>
              <a:rPr sz="1400" b="1" dirty="0">
                <a:latin typeface="微软雅黑" panose="020B0503020204020204" charset="-122"/>
                <a:ea typeface="微软雅黑" panose="020B0503020204020204" charset="-122"/>
                <a:cs typeface="微软雅黑" panose="020B0503020204020204" charset="-122"/>
              </a:rPr>
              <a:t>重新</a:t>
            </a:r>
            <a:r>
              <a:rPr sz="1400" b="1" spc="-15" dirty="0">
                <a:latin typeface="微软雅黑" panose="020B0503020204020204" charset="-122"/>
                <a:ea typeface="微软雅黑" panose="020B0503020204020204" charset="-122"/>
                <a:cs typeface="微软雅黑" panose="020B0503020204020204" charset="-122"/>
              </a:rPr>
              <a:t>发</a:t>
            </a:r>
            <a:r>
              <a:rPr sz="1400" b="1" spc="5" dirty="0">
                <a:latin typeface="微软雅黑" panose="020B0503020204020204" charset="-122"/>
                <a:ea typeface="微软雅黑" panose="020B0503020204020204" charset="-122"/>
                <a:cs typeface="微软雅黑" panose="020B0503020204020204" charset="-122"/>
              </a:rPr>
              <a:t>布</a:t>
            </a:r>
            <a:r>
              <a:rPr sz="1400" b="1" spc="-10" dirty="0">
                <a:latin typeface="微软雅黑" panose="020B0503020204020204" charset="-122"/>
                <a:ea typeface="微软雅黑" panose="020B0503020204020204" charset="-122"/>
                <a:cs typeface="微软雅黑" panose="020B0503020204020204" charset="-122"/>
              </a:rPr>
              <a:t>/</a:t>
            </a:r>
            <a:r>
              <a:rPr sz="1400" b="1" dirty="0">
                <a:latin typeface="微软雅黑" panose="020B0503020204020204" charset="-122"/>
                <a:ea typeface="微软雅黑" panose="020B0503020204020204" charset="-122"/>
                <a:cs typeface="微软雅黑" panose="020B0503020204020204" charset="-122"/>
              </a:rPr>
              <a:t>定制</a:t>
            </a:r>
            <a:r>
              <a:rPr sz="1400" b="1" spc="-15" dirty="0">
                <a:latin typeface="微软雅黑" panose="020B0503020204020204" charset="-122"/>
                <a:ea typeface="微软雅黑" panose="020B0503020204020204" charset="-122"/>
                <a:cs typeface="微软雅黑" panose="020B0503020204020204" charset="-122"/>
              </a:rPr>
              <a:t>化</a:t>
            </a:r>
            <a:r>
              <a:rPr sz="1400" b="1" dirty="0">
                <a:latin typeface="微软雅黑" panose="020B0503020204020204" charset="-122"/>
                <a:ea typeface="微软雅黑" panose="020B0503020204020204" charset="-122"/>
                <a:cs typeface="微软雅黑" panose="020B0503020204020204" charset="-122"/>
              </a:rPr>
              <a:t>产品</a:t>
            </a:r>
            <a:r>
              <a:rPr sz="1400" b="1" spc="-15" dirty="0">
                <a:latin typeface="微软雅黑" panose="020B0503020204020204" charset="-122"/>
                <a:ea typeface="微软雅黑" panose="020B0503020204020204" charset="-122"/>
                <a:cs typeface="微软雅黑" panose="020B0503020204020204" charset="-122"/>
              </a:rPr>
              <a:t>牌</a:t>
            </a:r>
            <a:r>
              <a:rPr sz="1400" b="1" dirty="0">
                <a:latin typeface="微软雅黑" panose="020B0503020204020204" charset="-122"/>
                <a:ea typeface="微软雅黑" panose="020B0503020204020204" charset="-122"/>
                <a:cs typeface="微软雅黑" panose="020B0503020204020204" charset="-122"/>
              </a:rPr>
              <a:t>号</a:t>
            </a:r>
            <a:endParaRPr sz="1400">
              <a:latin typeface="微软雅黑" panose="020B0503020204020204" charset="-122"/>
              <a:ea typeface="微软雅黑" panose="020B0503020204020204" charset="-122"/>
              <a:cs typeface="微软雅黑" panose="020B0503020204020204" charset="-122"/>
            </a:endParaRPr>
          </a:p>
        </p:txBody>
      </p:sp>
      <p:sp>
        <p:nvSpPr>
          <p:cNvPr id="50" name="object 50"/>
          <p:cNvSpPr/>
          <p:nvPr/>
        </p:nvSpPr>
        <p:spPr>
          <a:xfrm>
            <a:off x="3710341" y="3433965"/>
            <a:ext cx="85664" cy="854738"/>
          </a:xfrm>
          <a:custGeom>
            <a:avLst/>
            <a:gdLst/>
            <a:ahLst/>
            <a:cxnLst/>
            <a:rect l="l" t="t" r="r" b="b"/>
            <a:pathLst>
              <a:path w="85725" h="855345">
                <a:moveTo>
                  <a:pt x="28575" y="82828"/>
                </a:moveTo>
                <a:lnTo>
                  <a:pt x="28575" y="855218"/>
                </a:lnTo>
                <a:lnTo>
                  <a:pt x="57150" y="855218"/>
                </a:lnTo>
                <a:lnTo>
                  <a:pt x="57150" y="85725"/>
                </a:lnTo>
                <a:lnTo>
                  <a:pt x="42925" y="85725"/>
                </a:lnTo>
                <a:lnTo>
                  <a:pt x="28575" y="82828"/>
                </a:lnTo>
                <a:close/>
              </a:path>
              <a:path w="85725" h="855345">
                <a:moveTo>
                  <a:pt x="57150" y="42925"/>
                </a:moveTo>
                <a:lnTo>
                  <a:pt x="28575" y="42925"/>
                </a:lnTo>
                <a:lnTo>
                  <a:pt x="28685" y="82850"/>
                </a:lnTo>
                <a:lnTo>
                  <a:pt x="42925" y="85725"/>
                </a:lnTo>
                <a:lnTo>
                  <a:pt x="57150" y="82850"/>
                </a:lnTo>
                <a:lnTo>
                  <a:pt x="57150" y="42925"/>
                </a:lnTo>
                <a:close/>
              </a:path>
              <a:path w="85725" h="855345">
                <a:moveTo>
                  <a:pt x="57150" y="82850"/>
                </a:moveTo>
                <a:lnTo>
                  <a:pt x="42925" y="85725"/>
                </a:lnTo>
                <a:lnTo>
                  <a:pt x="57150" y="85725"/>
                </a:lnTo>
                <a:lnTo>
                  <a:pt x="57150" y="82850"/>
                </a:lnTo>
                <a:close/>
              </a:path>
              <a:path w="85725" h="855345">
                <a:moveTo>
                  <a:pt x="85725" y="42925"/>
                </a:moveTo>
                <a:lnTo>
                  <a:pt x="57150" y="42925"/>
                </a:lnTo>
                <a:lnTo>
                  <a:pt x="57150" y="82850"/>
                </a:lnTo>
                <a:lnTo>
                  <a:pt x="59578" y="82359"/>
                </a:lnTo>
                <a:lnTo>
                  <a:pt x="73183" y="73183"/>
                </a:lnTo>
                <a:lnTo>
                  <a:pt x="82359" y="59578"/>
                </a:lnTo>
                <a:lnTo>
                  <a:pt x="85725" y="42925"/>
                </a:lnTo>
                <a:close/>
              </a:path>
              <a:path w="85725" h="855345">
                <a:moveTo>
                  <a:pt x="42925" y="0"/>
                </a:moveTo>
                <a:lnTo>
                  <a:pt x="26253" y="3385"/>
                </a:lnTo>
                <a:lnTo>
                  <a:pt x="12604" y="12604"/>
                </a:lnTo>
                <a:lnTo>
                  <a:pt x="3385" y="26253"/>
                </a:lnTo>
                <a:lnTo>
                  <a:pt x="0" y="42925"/>
                </a:lnTo>
                <a:lnTo>
                  <a:pt x="3385" y="59578"/>
                </a:lnTo>
                <a:lnTo>
                  <a:pt x="12604" y="73183"/>
                </a:lnTo>
                <a:lnTo>
                  <a:pt x="26253" y="82359"/>
                </a:lnTo>
                <a:lnTo>
                  <a:pt x="28575" y="82828"/>
                </a:lnTo>
                <a:lnTo>
                  <a:pt x="28575" y="42925"/>
                </a:lnTo>
                <a:lnTo>
                  <a:pt x="85725" y="42925"/>
                </a:lnTo>
                <a:lnTo>
                  <a:pt x="82359" y="26253"/>
                </a:lnTo>
                <a:lnTo>
                  <a:pt x="73183" y="12604"/>
                </a:lnTo>
                <a:lnTo>
                  <a:pt x="59578" y="3385"/>
                </a:lnTo>
                <a:lnTo>
                  <a:pt x="42925" y="0"/>
                </a:lnTo>
                <a:close/>
              </a:path>
            </a:pathLst>
          </a:custGeom>
          <a:solidFill>
            <a:srgbClr val="959595"/>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1" name="object 51"/>
          <p:cNvSpPr txBox="1"/>
          <p:nvPr/>
        </p:nvSpPr>
        <p:spPr>
          <a:xfrm>
            <a:off x="1702625" y="3786775"/>
            <a:ext cx="3201306" cy="1339850"/>
          </a:xfrm>
          <a:prstGeom prst="rect">
            <a:avLst/>
          </a:prstGeom>
          <a:solidFill>
            <a:srgbClr val="91AFFF"/>
          </a:solidFill>
        </p:spPr>
        <p:txBody>
          <a:bodyPr vert="horz" wrap="square" lIns="0" tIns="48225" rIns="0" bIns="0" rtlCol="0">
            <a:spAutoFit/>
          </a:bodyPr>
          <a:lstStyle/>
          <a:p>
            <a:pPr marL="265430" indent="-192405">
              <a:lnSpc>
                <a:spcPct val="100000"/>
              </a:lnSpc>
              <a:spcBef>
                <a:spcPts val="380"/>
              </a:spcBef>
              <a:buFont typeface="Arial" panose="020B0604020202020204"/>
              <a:buChar char="▪"/>
              <a:tabLst>
                <a:tab pos="264795" algn="l"/>
                <a:tab pos="265430" algn="l"/>
              </a:tabLst>
            </a:pPr>
            <a:r>
              <a:rPr sz="1400" b="1" spc="10" dirty="0">
                <a:latin typeface="微软雅黑" panose="020B0503020204020204" charset="-122"/>
                <a:ea typeface="微软雅黑" panose="020B0503020204020204" charset="-122"/>
                <a:cs typeface="微软雅黑" panose="020B0503020204020204" charset="-122"/>
              </a:rPr>
              <a:t>主要</a:t>
            </a:r>
            <a:r>
              <a:rPr sz="1400" b="1" dirty="0">
                <a:latin typeface="微软雅黑" panose="020B0503020204020204" charset="-122"/>
                <a:ea typeface="微软雅黑" panose="020B0503020204020204" charset="-122"/>
                <a:cs typeface="微软雅黑" panose="020B0503020204020204" charset="-122"/>
              </a:rPr>
              <a:t>价值</a:t>
            </a:r>
            <a:r>
              <a:rPr sz="1400" b="1" spc="-15" dirty="0">
                <a:latin typeface="微软雅黑" panose="020B0503020204020204" charset="-122"/>
                <a:ea typeface="微软雅黑" panose="020B0503020204020204" charset="-122"/>
                <a:cs typeface="微软雅黑" panose="020B0503020204020204" charset="-122"/>
              </a:rPr>
              <a:t>提</a:t>
            </a:r>
            <a:r>
              <a:rPr sz="1400" b="1" dirty="0">
                <a:latin typeface="微软雅黑" panose="020B0503020204020204" charset="-122"/>
                <a:ea typeface="微软雅黑" panose="020B0503020204020204" charset="-122"/>
                <a:cs typeface="微软雅黑" panose="020B0503020204020204" charset="-122"/>
              </a:rPr>
              <a:t>升空</a:t>
            </a:r>
            <a:r>
              <a:rPr sz="1400" b="1" spc="-15" dirty="0">
                <a:latin typeface="微软雅黑" panose="020B0503020204020204" charset="-122"/>
                <a:ea typeface="微软雅黑" panose="020B0503020204020204" charset="-122"/>
                <a:cs typeface="微软雅黑" panose="020B0503020204020204" charset="-122"/>
              </a:rPr>
              <a:t>间</a:t>
            </a:r>
            <a:r>
              <a:rPr sz="1400" b="1" dirty="0">
                <a:latin typeface="微软雅黑" panose="020B0503020204020204" charset="-122"/>
                <a:ea typeface="微软雅黑" panose="020B0503020204020204" charset="-122"/>
                <a:cs typeface="微软雅黑" panose="020B0503020204020204" charset="-122"/>
              </a:rPr>
              <a:t>集中</a:t>
            </a:r>
            <a:r>
              <a:rPr sz="1400" b="1" spc="-10" dirty="0">
                <a:latin typeface="微软雅黑" panose="020B0503020204020204" charset="-122"/>
                <a:ea typeface="微软雅黑" panose="020B0503020204020204" charset="-122"/>
                <a:cs typeface="微软雅黑" panose="020B0503020204020204" charset="-122"/>
              </a:rPr>
              <a:t>在</a:t>
            </a:r>
            <a:r>
              <a:rPr sz="1400" b="1" spc="-5" dirty="0">
                <a:latin typeface="微软雅黑" panose="020B0503020204020204" charset="-122"/>
                <a:ea typeface="微软雅黑" panose="020B0503020204020204" charset="-122"/>
                <a:cs typeface="微软雅黑" panose="020B0503020204020204" charset="-122"/>
              </a:rPr>
              <a:t>4</a:t>
            </a:r>
            <a:r>
              <a:rPr sz="1400" b="1" dirty="0">
                <a:latin typeface="微软雅黑" panose="020B0503020204020204" charset="-122"/>
                <a:ea typeface="微软雅黑" panose="020B0503020204020204" charset="-122"/>
                <a:cs typeface="微软雅黑" panose="020B0503020204020204" charset="-122"/>
              </a:rPr>
              <a:t>个</a:t>
            </a:r>
            <a:r>
              <a:rPr sz="1400" b="1" spc="-15" dirty="0">
                <a:latin typeface="微软雅黑" panose="020B0503020204020204" charset="-122"/>
                <a:ea typeface="微软雅黑" panose="020B0503020204020204" charset="-122"/>
                <a:cs typeface="微软雅黑" panose="020B0503020204020204" charset="-122"/>
              </a:rPr>
              <a:t>方</a:t>
            </a:r>
            <a:r>
              <a:rPr sz="1400" b="1" dirty="0">
                <a:latin typeface="微软雅黑" panose="020B0503020204020204" charset="-122"/>
                <a:ea typeface="微软雅黑" panose="020B0503020204020204" charset="-122"/>
                <a:cs typeface="微软雅黑" panose="020B0503020204020204" charset="-122"/>
              </a:rPr>
              <a:t>面</a:t>
            </a:r>
            <a:endParaRPr sz="1400">
              <a:latin typeface="微软雅黑" panose="020B0503020204020204" charset="-122"/>
              <a:ea typeface="微软雅黑" panose="020B0503020204020204" charset="-122"/>
              <a:cs typeface="微软雅黑" panose="020B0503020204020204" charset="-122"/>
            </a:endParaRPr>
          </a:p>
          <a:p>
            <a:pPr marL="528955" lvl="1" indent="-262890">
              <a:lnSpc>
                <a:spcPct val="100000"/>
              </a:lnSpc>
              <a:buFont typeface="Arial" panose="020B0604020202020204"/>
              <a:buChar char="–"/>
              <a:tabLst>
                <a:tab pos="528955" algn="l"/>
                <a:tab pos="529590" algn="l"/>
              </a:tabLst>
            </a:pPr>
            <a:r>
              <a:rPr sz="1400" b="1" spc="10" dirty="0">
                <a:latin typeface="微软雅黑" panose="020B0503020204020204" charset="-122"/>
                <a:ea typeface="微软雅黑" panose="020B0503020204020204" charset="-122"/>
                <a:cs typeface="微软雅黑" panose="020B0503020204020204" charset="-122"/>
              </a:rPr>
              <a:t>力学</a:t>
            </a:r>
            <a:r>
              <a:rPr sz="1400" b="1" dirty="0">
                <a:latin typeface="微软雅黑" panose="020B0503020204020204" charset="-122"/>
                <a:ea typeface="微软雅黑" panose="020B0503020204020204" charset="-122"/>
                <a:cs typeface="微软雅黑" panose="020B0503020204020204" charset="-122"/>
              </a:rPr>
              <a:t>性能</a:t>
            </a:r>
            <a:endParaRPr sz="1400">
              <a:latin typeface="微软雅黑" panose="020B0503020204020204" charset="-122"/>
              <a:ea typeface="微软雅黑" panose="020B0503020204020204" charset="-122"/>
              <a:cs typeface="微软雅黑" panose="020B0503020204020204" charset="-122"/>
            </a:endParaRPr>
          </a:p>
          <a:p>
            <a:pPr marL="528955" lvl="1" indent="-262890">
              <a:lnSpc>
                <a:spcPct val="100000"/>
              </a:lnSpc>
              <a:buFont typeface="Arial" panose="020B0604020202020204"/>
              <a:buChar char="–"/>
              <a:tabLst>
                <a:tab pos="528955" algn="l"/>
                <a:tab pos="529590" algn="l"/>
              </a:tabLst>
            </a:pPr>
            <a:r>
              <a:rPr sz="1400" b="1" spc="10" dirty="0">
                <a:latin typeface="微软雅黑" panose="020B0503020204020204" charset="-122"/>
                <a:ea typeface="微软雅黑" panose="020B0503020204020204" charset="-122"/>
                <a:cs typeface="微软雅黑" panose="020B0503020204020204" charset="-122"/>
              </a:rPr>
              <a:t>表面</a:t>
            </a:r>
            <a:r>
              <a:rPr sz="1400" b="1" dirty="0">
                <a:latin typeface="微软雅黑" panose="020B0503020204020204" charset="-122"/>
                <a:ea typeface="微软雅黑" panose="020B0503020204020204" charset="-122"/>
                <a:cs typeface="微软雅黑" panose="020B0503020204020204" charset="-122"/>
              </a:rPr>
              <a:t>质量</a:t>
            </a:r>
            <a:endParaRPr sz="1400">
              <a:latin typeface="微软雅黑" panose="020B0503020204020204" charset="-122"/>
              <a:ea typeface="微软雅黑" panose="020B0503020204020204" charset="-122"/>
              <a:cs typeface="微软雅黑" panose="020B0503020204020204" charset="-122"/>
            </a:endParaRPr>
          </a:p>
          <a:p>
            <a:pPr marL="528955" lvl="1" indent="-262890">
              <a:lnSpc>
                <a:spcPct val="100000"/>
              </a:lnSpc>
              <a:buFont typeface="Arial" panose="020B0604020202020204"/>
              <a:buChar char="–"/>
              <a:tabLst>
                <a:tab pos="528955" algn="l"/>
                <a:tab pos="529590" algn="l"/>
              </a:tabLst>
            </a:pPr>
            <a:r>
              <a:rPr sz="1400" b="1" spc="10" dirty="0">
                <a:latin typeface="微软雅黑" panose="020B0503020204020204" charset="-122"/>
                <a:ea typeface="微软雅黑" panose="020B0503020204020204" charset="-122"/>
                <a:cs typeface="微软雅黑" panose="020B0503020204020204" charset="-122"/>
              </a:rPr>
              <a:t>按时</a:t>
            </a:r>
            <a:r>
              <a:rPr sz="1400" b="1" spc="5" dirty="0">
                <a:latin typeface="微软雅黑" panose="020B0503020204020204" charset="-122"/>
                <a:ea typeface="微软雅黑" panose="020B0503020204020204" charset="-122"/>
                <a:cs typeface="微软雅黑" panose="020B0503020204020204" charset="-122"/>
              </a:rPr>
              <a:t>交</a:t>
            </a:r>
            <a:r>
              <a:rPr sz="1400" b="1" dirty="0">
                <a:latin typeface="微软雅黑" panose="020B0503020204020204" charset="-122"/>
                <a:ea typeface="微软雅黑" panose="020B0503020204020204" charset="-122"/>
                <a:cs typeface="微软雅黑" panose="020B0503020204020204" charset="-122"/>
              </a:rPr>
              <a:t>付</a:t>
            </a:r>
            <a:r>
              <a:rPr sz="1400" b="1" spc="5" dirty="0">
                <a:latin typeface="微软雅黑" panose="020B0503020204020204" charset="-122"/>
                <a:ea typeface="微软雅黑" panose="020B0503020204020204" charset="-122"/>
                <a:cs typeface="微软雅黑" panose="020B0503020204020204" charset="-122"/>
              </a:rPr>
              <a:t>率</a:t>
            </a:r>
            <a:endParaRPr sz="1400">
              <a:latin typeface="微软雅黑" panose="020B0503020204020204" charset="-122"/>
              <a:ea typeface="微软雅黑" panose="020B0503020204020204" charset="-122"/>
              <a:cs typeface="微软雅黑" panose="020B0503020204020204" charset="-122"/>
            </a:endParaRPr>
          </a:p>
          <a:p>
            <a:pPr marL="528955" lvl="1" indent="-262890">
              <a:lnSpc>
                <a:spcPct val="100000"/>
              </a:lnSpc>
              <a:buFont typeface="Arial" panose="020B0604020202020204"/>
              <a:buChar char="–"/>
              <a:tabLst>
                <a:tab pos="528955" algn="l"/>
                <a:tab pos="529590" algn="l"/>
              </a:tabLst>
            </a:pPr>
            <a:r>
              <a:rPr sz="1400" b="1" spc="10" dirty="0">
                <a:latin typeface="微软雅黑" panose="020B0503020204020204" charset="-122"/>
                <a:ea typeface="微软雅黑" panose="020B0503020204020204" charset="-122"/>
                <a:cs typeface="微软雅黑" panose="020B0503020204020204" charset="-122"/>
              </a:rPr>
              <a:t>交付</a:t>
            </a:r>
            <a:r>
              <a:rPr sz="1400" b="1" dirty="0">
                <a:latin typeface="微软雅黑" panose="020B0503020204020204" charset="-122"/>
                <a:ea typeface="微软雅黑" panose="020B0503020204020204" charset="-122"/>
                <a:cs typeface="微软雅黑" panose="020B0503020204020204" charset="-122"/>
              </a:rPr>
              <a:t>周期</a:t>
            </a:r>
            <a:endParaRPr sz="1400">
              <a:latin typeface="微软雅黑" panose="020B0503020204020204" charset="-122"/>
              <a:ea typeface="微软雅黑" panose="020B0503020204020204" charset="-122"/>
              <a:cs typeface="微软雅黑" panose="020B0503020204020204" charset="-122"/>
            </a:endParaRPr>
          </a:p>
          <a:p>
            <a:pPr marL="265430" indent="-192405">
              <a:lnSpc>
                <a:spcPct val="100000"/>
              </a:lnSpc>
              <a:buFont typeface="Arial" panose="020B0604020202020204"/>
              <a:buChar char="▪"/>
              <a:tabLst>
                <a:tab pos="264795" algn="l"/>
                <a:tab pos="265430" algn="l"/>
              </a:tabLst>
            </a:pPr>
            <a:r>
              <a:rPr sz="1400" b="1" spc="10" dirty="0">
                <a:latin typeface="微软雅黑" panose="020B0503020204020204" charset="-122"/>
                <a:ea typeface="微软雅黑" panose="020B0503020204020204" charset="-122"/>
                <a:cs typeface="微软雅黑" panose="020B0503020204020204" charset="-122"/>
              </a:rPr>
              <a:t>折约</a:t>
            </a:r>
            <a:r>
              <a:rPr sz="1400" b="1" spc="-5" dirty="0">
                <a:latin typeface="微软雅黑" panose="020B0503020204020204" charset="-122"/>
                <a:ea typeface="微软雅黑" panose="020B0503020204020204" charset="-122"/>
                <a:cs typeface="微软雅黑" panose="020B0503020204020204" charset="-122"/>
              </a:rPr>
              <a:t>220</a:t>
            </a:r>
            <a:r>
              <a:rPr sz="1400" b="1" dirty="0">
                <a:latin typeface="微软雅黑" panose="020B0503020204020204" charset="-122"/>
                <a:ea typeface="微软雅黑" panose="020B0503020204020204" charset="-122"/>
                <a:cs typeface="微软雅黑" panose="020B0503020204020204" charset="-122"/>
              </a:rPr>
              <a:t>元</a:t>
            </a:r>
            <a:r>
              <a:rPr sz="1400" b="1" spc="-15" dirty="0">
                <a:latin typeface="微软雅黑" panose="020B0503020204020204" charset="-122"/>
                <a:ea typeface="微软雅黑" panose="020B0503020204020204" charset="-122"/>
                <a:cs typeface="微软雅黑" panose="020B0503020204020204" charset="-122"/>
              </a:rPr>
              <a:t>，</a:t>
            </a:r>
            <a:r>
              <a:rPr sz="1400" b="1" dirty="0">
                <a:latin typeface="微软雅黑" panose="020B0503020204020204" charset="-122"/>
                <a:ea typeface="微软雅黑" panose="020B0503020204020204" charset="-122"/>
                <a:cs typeface="微软雅黑" panose="020B0503020204020204" charset="-122"/>
              </a:rPr>
              <a:t>为参</a:t>
            </a:r>
            <a:r>
              <a:rPr sz="1400" b="1" spc="-15" dirty="0">
                <a:latin typeface="微软雅黑" panose="020B0503020204020204" charset="-122"/>
                <a:ea typeface="微软雅黑" panose="020B0503020204020204" charset="-122"/>
                <a:cs typeface="微软雅黑" panose="020B0503020204020204" charset="-122"/>
              </a:rPr>
              <a:t>考</a:t>
            </a:r>
            <a:r>
              <a:rPr sz="1400" b="1" dirty="0">
                <a:latin typeface="微软雅黑" panose="020B0503020204020204" charset="-122"/>
                <a:ea typeface="微软雅黑" panose="020B0503020204020204" charset="-122"/>
                <a:cs typeface="微软雅黑" panose="020B0503020204020204" charset="-122"/>
              </a:rPr>
              <a:t>公司</a:t>
            </a:r>
            <a:r>
              <a:rPr sz="1400" b="1" spc="-15" dirty="0">
                <a:latin typeface="微软雅黑" panose="020B0503020204020204" charset="-122"/>
                <a:ea typeface="微软雅黑" panose="020B0503020204020204" charset="-122"/>
                <a:cs typeface="微软雅黑" panose="020B0503020204020204" charset="-122"/>
              </a:rPr>
              <a:t>价</a:t>
            </a:r>
            <a:r>
              <a:rPr sz="1400" b="1" dirty="0">
                <a:latin typeface="微软雅黑" panose="020B0503020204020204" charset="-122"/>
                <a:ea typeface="微软雅黑" panose="020B0503020204020204" charset="-122"/>
                <a:cs typeface="微软雅黑" panose="020B0503020204020204" charset="-122"/>
              </a:rPr>
              <a:t>格的</a:t>
            </a:r>
            <a:r>
              <a:rPr sz="1400" b="1" spc="-5" dirty="0">
                <a:latin typeface="微软雅黑" panose="020B0503020204020204" charset="-122"/>
                <a:ea typeface="微软雅黑" panose="020B0503020204020204" charset="-122"/>
                <a:cs typeface="微软雅黑" panose="020B0503020204020204" charset="-122"/>
              </a:rPr>
              <a:t>~3%</a:t>
            </a:r>
            <a:endParaRPr sz="1400">
              <a:latin typeface="微软雅黑" panose="020B0503020204020204" charset="-122"/>
              <a:ea typeface="微软雅黑" panose="020B0503020204020204" charset="-122"/>
              <a:cs typeface="微软雅黑" panose="020B0503020204020204" charset="-122"/>
            </a:endParaRPr>
          </a:p>
        </p:txBody>
      </p:sp>
      <p:sp>
        <p:nvSpPr>
          <p:cNvPr id="52" name="object 52"/>
          <p:cNvSpPr txBox="1"/>
          <p:nvPr/>
        </p:nvSpPr>
        <p:spPr>
          <a:xfrm>
            <a:off x="7414847" y="518714"/>
            <a:ext cx="1096503" cy="227965"/>
          </a:xfrm>
          <a:prstGeom prst="rect">
            <a:avLst/>
          </a:prstGeom>
        </p:spPr>
        <p:txBody>
          <a:bodyPr vert="horz" wrap="square" lIns="0" tIns="13325" rIns="0" bIns="0" rtlCol="0">
            <a:spAutoFit/>
          </a:bodyPr>
          <a:lstStyle/>
          <a:p>
            <a:pPr marL="12700">
              <a:lnSpc>
                <a:spcPct val="100000"/>
              </a:lnSpc>
              <a:spcBef>
                <a:spcPts val="105"/>
              </a:spcBef>
            </a:pPr>
            <a:r>
              <a:rPr sz="1400" dirty="0">
                <a:solidFill>
                  <a:srgbClr val="808080"/>
                </a:solidFill>
                <a:latin typeface="微软雅黑" panose="020B0503020204020204" charset="-122"/>
                <a:ea typeface="微软雅黑" panose="020B0503020204020204" charset="-122"/>
                <a:cs typeface="微软雅黑" panose="020B0503020204020204" charset="-122"/>
              </a:rPr>
              <a:t>匿名客户案例</a:t>
            </a:r>
            <a:endParaRPr sz="1400" dirty="0">
              <a:solidFill>
                <a:srgbClr val="808080"/>
              </a:solidFill>
              <a:latin typeface="微软雅黑" panose="020B0503020204020204" charset="-122"/>
              <a:ea typeface="微软雅黑" panose="020B0503020204020204" charset="-122"/>
              <a:cs typeface="微软雅黑" panose="020B0503020204020204" charset="-122"/>
            </a:endParaRPr>
          </a:p>
        </p:txBody>
      </p:sp>
      <p:sp>
        <p:nvSpPr>
          <p:cNvPr id="53" name="object 53"/>
          <p:cNvSpPr/>
          <p:nvPr/>
        </p:nvSpPr>
        <p:spPr>
          <a:xfrm>
            <a:off x="7402917" y="542954"/>
            <a:ext cx="0" cy="239859"/>
          </a:xfrm>
          <a:custGeom>
            <a:avLst/>
            <a:gdLst/>
            <a:ahLst/>
            <a:cxnLst/>
            <a:rect l="l" t="t" r="r" b="b"/>
            <a:pathLst>
              <a:path h="240029">
                <a:moveTo>
                  <a:pt x="0" y="0"/>
                </a:moveTo>
                <a:lnTo>
                  <a:pt x="0" y="239775"/>
                </a:lnTo>
              </a:path>
            </a:pathLst>
          </a:custGeom>
          <a:ln w="9525">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4" name="object 54"/>
          <p:cNvSpPr/>
          <p:nvPr/>
        </p:nvSpPr>
        <p:spPr>
          <a:xfrm>
            <a:off x="7403679" y="784336"/>
            <a:ext cx="1093330" cy="0"/>
          </a:xfrm>
          <a:custGeom>
            <a:avLst/>
            <a:gdLst/>
            <a:ahLst/>
            <a:cxnLst/>
            <a:rect l="l" t="t" r="r" b="b"/>
            <a:pathLst>
              <a:path w="1094104">
                <a:moveTo>
                  <a:pt x="0" y="0"/>
                </a:moveTo>
                <a:lnTo>
                  <a:pt x="1093724" y="0"/>
                </a:lnTo>
              </a:path>
            </a:pathLst>
          </a:custGeom>
          <a:ln w="25400">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401" y="203088"/>
            <a:ext cx="7259889"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在与客户进</a:t>
            </a:r>
            <a:r>
              <a:rPr spc="-10" dirty="0">
                <a:ea typeface="微软雅黑" panose="020B0503020204020204" charset="-122"/>
              </a:rPr>
              <a:t>行讨</a:t>
            </a:r>
            <a:r>
              <a:rPr spc="-5" dirty="0">
                <a:ea typeface="微软雅黑" panose="020B0503020204020204" charset="-122"/>
              </a:rPr>
              <a:t>论</a:t>
            </a:r>
            <a:r>
              <a:rPr spc="-10" dirty="0">
                <a:ea typeface="微软雅黑" panose="020B0503020204020204" charset="-122"/>
              </a:rPr>
              <a:t>之前</a:t>
            </a:r>
            <a:r>
              <a:rPr spc="-5" dirty="0">
                <a:ea typeface="微软雅黑" panose="020B0503020204020204" charset="-122"/>
              </a:rPr>
              <a:t>，</a:t>
            </a:r>
            <a:r>
              <a:rPr spc="-10" dirty="0">
                <a:ea typeface="微软雅黑" panose="020B0503020204020204" charset="-122"/>
              </a:rPr>
              <a:t>可以</a:t>
            </a:r>
            <a:r>
              <a:rPr spc="-5" dirty="0">
                <a:ea typeface="微软雅黑" panose="020B0503020204020204" charset="-122"/>
              </a:rPr>
              <a:t>使</a:t>
            </a:r>
            <a:r>
              <a:rPr spc="-10" dirty="0">
                <a:ea typeface="微软雅黑" panose="020B0503020204020204" charset="-122"/>
              </a:rPr>
              <a:t>用客</a:t>
            </a:r>
            <a:r>
              <a:rPr spc="-5" dirty="0">
                <a:ea typeface="微软雅黑" panose="020B0503020204020204" charset="-122"/>
              </a:rPr>
              <a:t>户</a:t>
            </a:r>
            <a:r>
              <a:rPr spc="-10" dirty="0">
                <a:ea typeface="微软雅黑" panose="020B0503020204020204" charset="-122"/>
              </a:rPr>
              <a:t>价值</a:t>
            </a:r>
            <a:r>
              <a:rPr spc="-5" dirty="0">
                <a:ea typeface="微软雅黑" panose="020B0503020204020204" charset="-122"/>
              </a:rPr>
              <a:t>分</a:t>
            </a:r>
            <a:r>
              <a:rPr spc="-10" dirty="0">
                <a:ea typeface="微软雅黑" panose="020B0503020204020204" charset="-122"/>
              </a:rPr>
              <a:t>析表</a:t>
            </a:r>
            <a:r>
              <a:rPr spc="-5" dirty="0">
                <a:ea typeface="微软雅黑" panose="020B0503020204020204" charset="-122"/>
              </a:rPr>
              <a:t>格</a:t>
            </a:r>
            <a:r>
              <a:rPr spc="-10" dirty="0">
                <a:ea typeface="微软雅黑" panose="020B0503020204020204" charset="-122"/>
              </a:rPr>
              <a:t>为讨</a:t>
            </a:r>
            <a:r>
              <a:rPr spc="-5" dirty="0">
                <a:ea typeface="微软雅黑" panose="020B0503020204020204" charset="-122"/>
              </a:rPr>
              <a:t>论</a:t>
            </a:r>
            <a:r>
              <a:rPr spc="-10" dirty="0">
                <a:ea typeface="微软雅黑" panose="020B0503020204020204" charset="-122"/>
              </a:rPr>
              <a:t>进行</a:t>
            </a:r>
            <a:r>
              <a:rPr spc="-5" dirty="0">
                <a:ea typeface="微软雅黑" panose="020B0503020204020204" charset="-122"/>
              </a:rPr>
              <a:t>准</a:t>
            </a:r>
            <a:r>
              <a:rPr spc="-10" dirty="0">
                <a:ea typeface="微软雅黑" panose="020B0503020204020204" charset="-122"/>
              </a:rPr>
              <a:t>备</a:t>
            </a:r>
            <a:endParaRPr spc="-10" dirty="0">
              <a:ea typeface="微软雅黑" panose="020B0503020204020204" charset="-122"/>
            </a:endParaRPr>
          </a:p>
        </p:txBody>
      </p:sp>
      <p:sp>
        <p:nvSpPr>
          <p:cNvPr id="4" name="object 4"/>
          <p:cNvSpPr/>
          <p:nvPr/>
        </p:nvSpPr>
        <p:spPr>
          <a:xfrm>
            <a:off x="1649323" y="2091764"/>
            <a:ext cx="6980053" cy="1904"/>
          </a:xfrm>
          <a:custGeom>
            <a:avLst/>
            <a:gdLst/>
            <a:ahLst/>
            <a:cxnLst/>
            <a:rect l="l" t="t" r="r" b="b"/>
            <a:pathLst>
              <a:path w="6985000" h="1905">
                <a:moveTo>
                  <a:pt x="0" y="0"/>
                </a:moveTo>
                <a:lnTo>
                  <a:pt x="6984491" y="1524"/>
                </a:lnTo>
              </a:path>
            </a:pathLst>
          </a:custGeom>
          <a:ln w="12700">
            <a:solidFill>
              <a:srgbClr val="B1B1B1"/>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p:nvPr/>
        </p:nvSpPr>
        <p:spPr>
          <a:xfrm>
            <a:off x="1649323" y="2589759"/>
            <a:ext cx="6980053" cy="1904"/>
          </a:xfrm>
          <a:custGeom>
            <a:avLst/>
            <a:gdLst/>
            <a:ahLst/>
            <a:cxnLst/>
            <a:rect l="l" t="t" r="r" b="b"/>
            <a:pathLst>
              <a:path w="6985000" h="1905">
                <a:moveTo>
                  <a:pt x="0" y="0"/>
                </a:moveTo>
                <a:lnTo>
                  <a:pt x="6984491" y="1524"/>
                </a:lnTo>
              </a:path>
            </a:pathLst>
          </a:custGeom>
          <a:ln w="12700">
            <a:solidFill>
              <a:srgbClr val="B1B1B1"/>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1649323" y="3739564"/>
            <a:ext cx="6980053" cy="1904"/>
          </a:xfrm>
          <a:custGeom>
            <a:avLst/>
            <a:gdLst/>
            <a:ahLst/>
            <a:cxnLst/>
            <a:rect l="l" t="t" r="r" b="b"/>
            <a:pathLst>
              <a:path w="6985000" h="1904">
                <a:moveTo>
                  <a:pt x="0" y="0"/>
                </a:moveTo>
                <a:lnTo>
                  <a:pt x="6984491" y="1524"/>
                </a:lnTo>
              </a:path>
            </a:pathLst>
          </a:custGeom>
          <a:ln w="12700">
            <a:solidFill>
              <a:srgbClr val="B1B1B1"/>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1640186" y="4211669"/>
            <a:ext cx="6978149" cy="1904"/>
          </a:xfrm>
          <a:custGeom>
            <a:avLst/>
            <a:gdLst/>
            <a:ahLst/>
            <a:cxnLst/>
            <a:rect l="l" t="t" r="r" b="b"/>
            <a:pathLst>
              <a:path w="6983095" h="1904">
                <a:moveTo>
                  <a:pt x="0" y="0"/>
                </a:moveTo>
                <a:lnTo>
                  <a:pt x="6982968" y="1523"/>
                </a:lnTo>
              </a:path>
            </a:pathLst>
          </a:custGeom>
          <a:ln w="12700">
            <a:solidFill>
              <a:srgbClr val="B1B1B1"/>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1649323" y="4665499"/>
            <a:ext cx="6980053" cy="0"/>
          </a:xfrm>
          <a:custGeom>
            <a:avLst/>
            <a:gdLst/>
            <a:ahLst/>
            <a:cxnLst/>
            <a:rect l="l" t="t" r="r" b="b"/>
            <a:pathLst>
              <a:path w="6985000">
                <a:moveTo>
                  <a:pt x="0" y="0"/>
                </a:moveTo>
                <a:lnTo>
                  <a:pt x="6984491" y="0"/>
                </a:lnTo>
              </a:path>
            </a:pathLst>
          </a:custGeom>
          <a:ln w="12700">
            <a:solidFill>
              <a:srgbClr val="B1B1B1"/>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1649323" y="5314264"/>
            <a:ext cx="6980053" cy="1904"/>
          </a:xfrm>
          <a:custGeom>
            <a:avLst/>
            <a:gdLst/>
            <a:ahLst/>
            <a:cxnLst/>
            <a:rect l="l" t="t" r="r" b="b"/>
            <a:pathLst>
              <a:path w="6985000" h="1904">
                <a:moveTo>
                  <a:pt x="0" y="0"/>
                </a:moveTo>
                <a:lnTo>
                  <a:pt x="6984491" y="1523"/>
                </a:lnTo>
              </a:path>
            </a:pathLst>
          </a:custGeom>
          <a:ln w="12700">
            <a:solidFill>
              <a:srgbClr val="B1B1B1"/>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1640186" y="3093846"/>
            <a:ext cx="6978149" cy="1904"/>
          </a:xfrm>
          <a:custGeom>
            <a:avLst/>
            <a:gdLst/>
            <a:ahLst/>
            <a:cxnLst/>
            <a:rect l="l" t="t" r="r" b="b"/>
            <a:pathLst>
              <a:path w="6983095" h="1905">
                <a:moveTo>
                  <a:pt x="0" y="0"/>
                </a:moveTo>
                <a:lnTo>
                  <a:pt x="6982968" y="1524"/>
                </a:lnTo>
              </a:path>
            </a:pathLst>
          </a:custGeom>
          <a:ln w="12700">
            <a:solidFill>
              <a:srgbClr val="B1B1B1"/>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435554" y="1704942"/>
            <a:ext cx="1061603" cy="306488"/>
          </a:xfrm>
          <a:custGeom>
            <a:avLst/>
            <a:gdLst/>
            <a:ahLst/>
            <a:cxnLst/>
            <a:rect l="l" t="t" r="r" b="b"/>
            <a:pathLst>
              <a:path w="1062355" h="306705">
                <a:moveTo>
                  <a:pt x="0" y="306324"/>
                </a:moveTo>
                <a:lnTo>
                  <a:pt x="1062228" y="306324"/>
                </a:lnTo>
                <a:lnTo>
                  <a:pt x="1062228" y="0"/>
                </a:lnTo>
                <a:lnTo>
                  <a:pt x="0" y="0"/>
                </a:lnTo>
                <a:lnTo>
                  <a:pt x="0" y="30632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6837723" y="609771"/>
            <a:ext cx="152673" cy="151149"/>
          </a:xfrm>
          <a:prstGeom prst="rect">
            <a:avLst/>
          </a:prstGeom>
          <a:blipFill>
            <a:blip r:embed="rId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txBox="1"/>
          <p:nvPr/>
        </p:nvSpPr>
        <p:spPr>
          <a:xfrm>
            <a:off x="7052392" y="594225"/>
            <a:ext cx="634550" cy="196215"/>
          </a:xfrm>
          <a:prstGeom prst="rect">
            <a:avLst/>
          </a:prstGeom>
        </p:spPr>
        <p:txBody>
          <a:bodyPr vert="horz" wrap="square" lIns="0" tIns="12691" rIns="0" bIns="0" rtlCol="0">
            <a:spAutoFit/>
          </a:bodyPr>
          <a:lstStyle/>
          <a:p>
            <a:pPr marL="12700">
              <a:lnSpc>
                <a:spcPct val="100000"/>
              </a:lnSpc>
              <a:spcBef>
                <a:spcPts val="100"/>
              </a:spcBef>
            </a:pPr>
            <a:r>
              <a:rPr sz="1200" dirty="0">
                <a:latin typeface="微软雅黑" panose="020B0503020204020204" charset="-122"/>
                <a:ea typeface="微软雅黑" panose="020B0503020204020204" charset="-122"/>
                <a:cs typeface="微软雅黑" panose="020B0503020204020204" charset="-122"/>
              </a:rPr>
              <a:t>中等潜力</a:t>
            </a:r>
            <a:endParaRPr sz="1200" dirty="0">
              <a:latin typeface="微软雅黑" panose="020B0503020204020204" charset="-122"/>
              <a:ea typeface="微软雅黑" panose="020B0503020204020204" charset="-122"/>
              <a:cs typeface="微软雅黑" panose="020B0503020204020204" charset="-122"/>
            </a:endParaRPr>
          </a:p>
        </p:txBody>
      </p:sp>
      <p:sp>
        <p:nvSpPr>
          <p:cNvPr id="14" name="object 14"/>
          <p:cNvSpPr/>
          <p:nvPr/>
        </p:nvSpPr>
        <p:spPr>
          <a:xfrm>
            <a:off x="7824576" y="609771"/>
            <a:ext cx="152673" cy="149626"/>
          </a:xfrm>
          <a:prstGeom prst="rect">
            <a:avLst/>
          </a:prstGeom>
          <a:blipFill>
            <a:blip r:embed="rId2"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txBox="1"/>
          <p:nvPr/>
        </p:nvSpPr>
        <p:spPr>
          <a:xfrm>
            <a:off x="8038991" y="595748"/>
            <a:ext cx="634550" cy="196215"/>
          </a:xfrm>
          <a:prstGeom prst="rect">
            <a:avLst/>
          </a:prstGeom>
        </p:spPr>
        <p:txBody>
          <a:bodyPr vert="horz" wrap="square" lIns="0" tIns="12691" rIns="0" bIns="0" rtlCol="0">
            <a:spAutoFit/>
          </a:bodyPr>
          <a:lstStyle/>
          <a:p>
            <a:pPr marL="12700">
              <a:lnSpc>
                <a:spcPct val="100000"/>
              </a:lnSpc>
              <a:spcBef>
                <a:spcPts val="100"/>
              </a:spcBef>
            </a:pPr>
            <a:r>
              <a:rPr sz="1200" dirty="0">
                <a:latin typeface="微软雅黑" panose="020B0503020204020204" charset="-122"/>
                <a:ea typeface="微软雅黑" panose="020B0503020204020204" charset="-122"/>
                <a:cs typeface="微软雅黑" panose="020B0503020204020204" charset="-122"/>
              </a:rPr>
              <a:t>巨大潜力</a:t>
            </a:r>
            <a:endParaRPr sz="1200" dirty="0">
              <a:latin typeface="微软雅黑" panose="020B0503020204020204" charset="-122"/>
              <a:ea typeface="微软雅黑" panose="020B0503020204020204" charset="-122"/>
              <a:cs typeface="微软雅黑" panose="020B0503020204020204" charset="-122"/>
            </a:endParaRPr>
          </a:p>
        </p:txBody>
      </p:sp>
      <p:sp>
        <p:nvSpPr>
          <p:cNvPr id="16" name="object 16"/>
          <p:cNvSpPr/>
          <p:nvPr/>
        </p:nvSpPr>
        <p:spPr>
          <a:xfrm>
            <a:off x="5826504" y="580836"/>
            <a:ext cx="152672" cy="151150"/>
          </a:xfrm>
          <a:prstGeom prst="rect">
            <a:avLst/>
          </a:prstGeom>
          <a:blipFill>
            <a:blip r:embed="rId3"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txBox="1"/>
          <p:nvPr/>
        </p:nvSpPr>
        <p:spPr>
          <a:xfrm>
            <a:off x="6038760" y="567066"/>
            <a:ext cx="677700" cy="196215"/>
          </a:xfrm>
          <a:prstGeom prst="rect">
            <a:avLst/>
          </a:prstGeom>
        </p:spPr>
        <p:txBody>
          <a:bodyPr vert="horz" wrap="square" lIns="0" tIns="12691" rIns="0" bIns="0" rtlCol="0">
            <a:spAutoFit/>
          </a:bodyPr>
          <a:lstStyle/>
          <a:p>
            <a:pPr marL="12700">
              <a:lnSpc>
                <a:spcPct val="100000"/>
              </a:lnSpc>
              <a:spcBef>
                <a:spcPts val="100"/>
              </a:spcBef>
            </a:pPr>
            <a:r>
              <a:rPr sz="1200" dirty="0">
                <a:latin typeface="微软雅黑" panose="020B0503020204020204" charset="-122"/>
                <a:ea typeface="微软雅黑" panose="020B0503020204020204" charset="-122"/>
                <a:cs typeface="微软雅黑" panose="020B0503020204020204" charset="-122"/>
              </a:rPr>
              <a:t>低</a:t>
            </a:r>
            <a:r>
              <a:rPr sz="1200" dirty="0">
                <a:latin typeface="微软雅黑" panose="020B0503020204020204" charset="-122"/>
                <a:ea typeface="微软雅黑" panose="020B0503020204020204" charset="-122"/>
                <a:cs typeface="微软雅黑" panose="020B0503020204020204" charset="-122"/>
              </a:rPr>
              <a:t>/无潜力</a:t>
            </a:r>
            <a:endParaRPr sz="1200">
              <a:latin typeface="微软雅黑" panose="020B0503020204020204" charset="-122"/>
              <a:ea typeface="微软雅黑" panose="020B0503020204020204" charset="-122"/>
              <a:cs typeface="微软雅黑" panose="020B0503020204020204" charset="-122"/>
            </a:endParaRPr>
          </a:p>
        </p:txBody>
      </p:sp>
      <p:sp>
        <p:nvSpPr>
          <p:cNvPr id="18" name="object 18"/>
          <p:cNvSpPr/>
          <p:nvPr/>
        </p:nvSpPr>
        <p:spPr>
          <a:xfrm>
            <a:off x="3662624" y="5606665"/>
            <a:ext cx="2263441" cy="652318"/>
          </a:xfrm>
          <a:custGeom>
            <a:avLst/>
            <a:gdLst/>
            <a:ahLst/>
            <a:cxnLst/>
            <a:rect l="l" t="t" r="r" b="b"/>
            <a:pathLst>
              <a:path w="2265045" h="652779">
                <a:moveTo>
                  <a:pt x="2169794" y="0"/>
                </a:moveTo>
                <a:lnTo>
                  <a:pt x="94868" y="0"/>
                </a:lnTo>
                <a:lnTo>
                  <a:pt x="57917" y="7456"/>
                </a:lnTo>
                <a:lnTo>
                  <a:pt x="27765" y="27790"/>
                </a:lnTo>
                <a:lnTo>
                  <a:pt x="7447" y="57950"/>
                </a:lnTo>
                <a:lnTo>
                  <a:pt x="0" y="94881"/>
                </a:lnTo>
                <a:lnTo>
                  <a:pt x="0" y="557390"/>
                </a:lnTo>
                <a:lnTo>
                  <a:pt x="7447" y="594321"/>
                </a:lnTo>
                <a:lnTo>
                  <a:pt x="27765" y="624481"/>
                </a:lnTo>
                <a:lnTo>
                  <a:pt x="57917" y="644815"/>
                </a:lnTo>
                <a:lnTo>
                  <a:pt x="94868" y="652272"/>
                </a:lnTo>
                <a:lnTo>
                  <a:pt x="2169794" y="652272"/>
                </a:lnTo>
                <a:lnTo>
                  <a:pt x="2206746" y="644815"/>
                </a:lnTo>
                <a:lnTo>
                  <a:pt x="2236898" y="624481"/>
                </a:lnTo>
                <a:lnTo>
                  <a:pt x="2257216" y="594321"/>
                </a:lnTo>
                <a:lnTo>
                  <a:pt x="2264664" y="557390"/>
                </a:lnTo>
                <a:lnTo>
                  <a:pt x="2264664" y="94881"/>
                </a:lnTo>
                <a:lnTo>
                  <a:pt x="2257216" y="57950"/>
                </a:lnTo>
                <a:lnTo>
                  <a:pt x="2236898" y="27790"/>
                </a:lnTo>
                <a:lnTo>
                  <a:pt x="2206746" y="7456"/>
                </a:lnTo>
                <a:lnTo>
                  <a:pt x="2169794"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txBox="1"/>
          <p:nvPr/>
        </p:nvSpPr>
        <p:spPr>
          <a:xfrm>
            <a:off x="3739785" y="5829722"/>
            <a:ext cx="1131403" cy="381000"/>
          </a:xfrm>
          <a:prstGeom prst="rect">
            <a:avLst/>
          </a:prstGeom>
        </p:spPr>
        <p:txBody>
          <a:bodyPr vert="horz" wrap="square" lIns="0" tIns="12691" rIns="0" bIns="0" rtlCol="0">
            <a:spAutoFit/>
          </a:bodyPr>
          <a:lstStyle/>
          <a:p>
            <a:pPr marL="204470" indent="-192405">
              <a:lnSpc>
                <a:spcPct val="100000"/>
              </a:lnSpc>
              <a:spcBef>
                <a:spcPts val="100"/>
              </a:spcBef>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突出潜在不同</a:t>
            </a:r>
            <a:endParaRPr sz="1200">
              <a:latin typeface="微软雅黑" panose="020B0503020204020204" charset="-122"/>
              <a:ea typeface="微软雅黑" panose="020B0503020204020204" charset="-122"/>
              <a:cs typeface="微软雅黑" panose="020B0503020204020204" charset="-122"/>
            </a:endParaRPr>
          </a:p>
          <a:p>
            <a:pPr marL="204470" indent="-192405">
              <a:lnSpc>
                <a:spcPct val="100000"/>
              </a:lnSpc>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推导谈判潜力</a:t>
            </a:r>
            <a:endParaRPr sz="1200">
              <a:latin typeface="微软雅黑" panose="020B0503020204020204" charset="-122"/>
              <a:ea typeface="微软雅黑" panose="020B0503020204020204" charset="-122"/>
              <a:cs typeface="微软雅黑" panose="020B0503020204020204" charset="-122"/>
            </a:endParaRPr>
          </a:p>
        </p:txBody>
      </p:sp>
      <p:sp>
        <p:nvSpPr>
          <p:cNvPr id="20" name="object 20"/>
          <p:cNvSpPr/>
          <p:nvPr/>
        </p:nvSpPr>
        <p:spPr>
          <a:xfrm>
            <a:off x="435554" y="4289338"/>
            <a:ext cx="1061603" cy="307757"/>
          </a:xfrm>
          <a:custGeom>
            <a:avLst/>
            <a:gdLst/>
            <a:ahLst/>
            <a:cxnLst/>
            <a:rect l="l" t="t" r="r" b="b"/>
            <a:pathLst>
              <a:path w="1062355" h="307975">
                <a:moveTo>
                  <a:pt x="0" y="307847"/>
                </a:moveTo>
                <a:lnTo>
                  <a:pt x="1062228" y="307847"/>
                </a:lnTo>
                <a:lnTo>
                  <a:pt x="1062228" y="0"/>
                </a:lnTo>
                <a:lnTo>
                  <a:pt x="0" y="0"/>
                </a:lnTo>
                <a:lnTo>
                  <a:pt x="0" y="307847"/>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1" name="object 21"/>
          <p:cNvSpPr/>
          <p:nvPr/>
        </p:nvSpPr>
        <p:spPr>
          <a:xfrm>
            <a:off x="435554" y="3806573"/>
            <a:ext cx="1061603" cy="306488"/>
          </a:xfrm>
          <a:custGeom>
            <a:avLst/>
            <a:gdLst/>
            <a:ahLst/>
            <a:cxnLst/>
            <a:rect l="l" t="t" r="r" b="b"/>
            <a:pathLst>
              <a:path w="1062355" h="306704">
                <a:moveTo>
                  <a:pt x="0" y="306324"/>
                </a:moveTo>
                <a:lnTo>
                  <a:pt x="1062228" y="306324"/>
                </a:lnTo>
                <a:lnTo>
                  <a:pt x="1062228" y="0"/>
                </a:lnTo>
                <a:lnTo>
                  <a:pt x="0" y="0"/>
                </a:lnTo>
                <a:lnTo>
                  <a:pt x="0" y="30632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435554" y="2702455"/>
            <a:ext cx="1061603" cy="304584"/>
          </a:xfrm>
          <a:custGeom>
            <a:avLst/>
            <a:gdLst/>
            <a:ahLst/>
            <a:cxnLst/>
            <a:rect l="l" t="t" r="r" b="b"/>
            <a:pathLst>
              <a:path w="1062355" h="304800">
                <a:moveTo>
                  <a:pt x="0" y="304800"/>
                </a:moveTo>
                <a:lnTo>
                  <a:pt x="1062228" y="304800"/>
                </a:lnTo>
                <a:lnTo>
                  <a:pt x="1062228" y="0"/>
                </a:lnTo>
                <a:lnTo>
                  <a:pt x="0" y="0"/>
                </a:lnTo>
                <a:lnTo>
                  <a:pt x="0" y="30480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p:nvPr/>
        </p:nvSpPr>
        <p:spPr>
          <a:xfrm>
            <a:off x="435554" y="2202937"/>
            <a:ext cx="1061603" cy="306488"/>
          </a:xfrm>
          <a:custGeom>
            <a:avLst/>
            <a:gdLst/>
            <a:ahLst/>
            <a:cxnLst/>
            <a:rect l="l" t="t" r="r" b="b"/>
            <a:pathLst>
              <a:path w="1062355" h="306705">
                <a:moveTo>
                  <a:pt x="0" y="306324"/>
                </a:moveTo>
                <a:lnTo>
                  <a:pt x="1062228" y="306324"/>
                </a:lnTo>
                <a:lnTo>
                  <a:pt x="1062228" y="0"/>
                </a:lnTo>
                <a:lnTo>
                  <a:pt x="0" y="0"/>
                </a:lnTo>
                <a:lnTo>
                  <a:pt x="0" y="30632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p:nvPr/>
        </p:nvSpPr>
        <p:spPr>
          <a:xfrm>
            <a:off x="435554" y="4711187"/>
            <a:ext cx="1061603" cy="306488"/>
          </a:xfrm>
          <a:custGeom>
            <a:avLst/>
            <a:gdLst/>
            <a:ahLst/>
            <a:cxnLst/>
            <a:rect l="l" t="t" r="r" b="b"/>
            <a:pathLst>
              <a:path w="1062355" h="306704">
                <a:moveTo>
                  <a:pt x="0" y="306323"/>
                </a:moveTo>
                <a:lnTo>
                  <a:pt x="1062228" y="306323"/>
                </a:lnTo>
                <a:lnTo>
                  <a:pt x="1062228" y="0"/>
                </a:lnTo>
                <a:lnTo>
                  <a:pt x="0" y="0"/>
                </a:lnTo>
                <a:lnTo>
                  <a:pt x="0" y="306323"/>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5" name="object 25"/>
          <p:cNvSpPr/>
          <p:nvPr/>
        </p:nvSpPr>
        <p:spPr>
          <a:xfrm>
            <a:off x="435554" y="5356906"/>
            <a:ext cx="1061603" cy="306488"/>
          </a:xfrm>
          <a:custGeom>
            <a:avLst/>
            <a:gdLst/>
            <a:ahLst/>
            <a:cxnLst/>
            <a:rect l="l" t="t" r="r" b="b"/>
            <a:pathLst>
              <a:path w="1062355" h="306704">
                <a:moveTo>
                  <a:pt x="0" y="306324"/>
                </a:moveTo>
                <a:lnTo>
                  <a:pt x="1062228" y="306324"/>
                </a:lnTo>
                <a:lnTo>
                  <a:pt x="1062228" y="0"/>
                </a:lnTo>
                <a:lnTo>
                  <a:pt x="0" y="0"/>
                </a:lnTo>
                <a:lnTo>
                  <a:pt x="0" y="30632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6" name="object 26"/>
          <p:cNvSpPr/>
          <p:nvPr/>
        </p:nvSpPr>
        <p:spPr>
          <a:xfrm>
            <a:off x="435554" y="3157808"/>
            <a:ext cx="1061603" cy="304584"/>
          </a:xfrm>
          <a:custGeom>
            <a:avLst/>
            <a:gdLst/>
            <a:ahLst/>
            <a:cxnLst/>
            <a:rect l="l" t="t" r="r" b="b"/>
            <a:pathLst>
              <a:path w="1062355" h="304800">
                <a:moveTo>
                  <a:pt x="0" y="304800"/>
                </a:moveTo>
                <a:lnTo>
                  <a:pt x="1062228" y="304800"/>
                </a:lnTo>
                <a:lnTo>
                  <a:pt x="1062228" y="0"/>
                </a:lnTo>
                <a:lnTo>
                  <a:pt x="0" y="0"/>
                </a:lnTo>
                <a:lnTo>
                  <a:pt x="0" y="30480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7" name="object 27"/>
          <p:cNvSpPr/>
          <p:nvPr/>
        </p:nvSpPr>
        <p:spPr>
          <a:xfrm>
            <a:off x="3427904" y="4284579"/>
            <a:ext cx="186176" cy="181608"/>
          </a:xfrm>
          <a:prstGeom prst="rect">
            <a:avLst/>
          </a:prstGeom>
          <a:blipFill>
            <a:blip r:embed="rId4"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p:nvPr/>
        </p:nvSpPr>
        <p:spPr>
          <a:xfrm>
            <a:off x="3427904" y="3801813"/>
            <a:ext cx="186176" cy="180084"/>
          </a:xfrm>
          <a:prstGeom prst="rect">
            <a:avLst/>
          </a:prstGeom>
          <a:blipFill>
            <a:blip r:embed="rId5"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29" name="object 29"/>
          <p:cNvSpPr/>
          <p:nvPr/>
        </p:nvSpPr>
        <p:spPr>
          <a:xfrm>
            <a:off x="3427904" y="2697695"/>
            <a:ext cx="186176" cy="178561"/>
          </a:xfrm>
          <a:prstGeom prst="rect">
            <a:avLst/>
          </a:prstGeom>
          <a:blipFill>
            <a:blip r:embed="rId6"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0" name="object 30"/>
          <p:cNvSpPr/>
          <p:nvPr/>
        </p:nvSpPr>
        <p:spPr>
          <a:xfrm>
            <a:off x="3427904" y="2198177"/>
            <a:ext cx="186176" cy="180084"/>
          </a:xfrm>
          <a:prstGeom prst="rect">
            <a:avLst/>
          </a:prstGeom>
          <a:blipFill>
            <a:blip r:embed="rId7"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1" name="object 31"/>
          <p:cNvSpPr/>
          <p:nvPr/>
        </p:nvSpPr>
        <p:spPr>
          <a:xfrm>
            <a:off x="3427904" y="4736886"/>
            <a:ext cx="186176" cy="178561"/>
          </a:xfrm>
          <a:prstGeom prst="rect">
            <a:avLst/>
          </a:prstGeom>
          <a:blipFill>
            <a:blip r:embed="rId8"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2" name="object 32"/>
          <p:cNvSpPr/>
          <p:nvPr/>
        </p:nvSpPr>
        <p:spPr>
          <a:xfrm>
            <a:off x="3427904" y="5352146"/>
            <a:ext cx="186176" cy="180084"/>
          </a:xfrm>
          <a:prstGeom prst="rect">
            <a:avLst/>
          </a:prstGeom>
          <a:blipFill>
            <a:blip r:embed="rId9"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3" name="object 33"/>
          <p:cNvSpPr/>
          <p:nvPr/>
        </p:nvSpPr>
        <p:spPr>
          <a:xfrm>
            <a:off x="3427904" y="3153049"/>
            <a:ext cx="186176" cy="178561"/>
          </a:xfrm>
          <a:prstGeom prst="rect">
            <a:avLst/>
          </a:prstGeom>
          <a:blipFill>
            <a:blip r:embed="rId10"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4" name="object 34"/>
          <p:cNvSpPr/>
          <p:nvPr/>
        </p:nvSpPr>
        <p:spPr>
          <a:xfrm>
            <a:off x="3417243" y="1700182"/>
            <a:ext cx="186177" cy="180084"/>
          </a:xfrm>
          <a:prstGeom prst="rect">
            <a:avLst/>
          </a:prstGeom>
          <a:blipFill>
            <a:blip r:embed="rId1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5" name="object 35"/>
          <p:cNvSpPr/>
          <p:nvPr/>
        </p:nvSpPr>
        <p:spPr>
          <a:xfrm>
            <a:off x="5904173" y="1700182"/>
            <a:ext cx="187699" cy="180084"/>
          </a:xfrm>
          <a:prstGeom prst="rect">
            <a:avLst/>
          </a:prstGeom>
          <a:blipFill>
            <a:blip r:embed="rId12"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6" name="object 36"/>
          <p:cNvSpPr/>
          <p:nvPr/>
        </p:nvSpPr>
        <p:spPr>
          <a:xfrm>
            <a:off x="5904173" y="4284579"/>
            <a:ext cx="184653" cy="180084"/>
          </a:xfrm>
          <a:prstGeom prst="rect">
            <a:avLst/>
          </a:prstGeom>
          <a:blipFill>
            <a:blip r:embed="rId13"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7" name="object 37"/>
          <p:cNvSpPr/>
          <p:nvPr/>
        </p:nvSpPr>
        <p:spPr>
          <a:xfrm>
            <a:off x="5904173" y="3801813"/>
            <a:ext cx="184653" cy="180084"/>
          </a:xfrm>
          <a:prstGeom prst="rect">
            <a:avLst/>
          </a:prstGeom>
          <a:blipFill>
            <a:blip r:embed="rId14"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8" name="object 38"/>
          <p:cNvSpPr/>
          <p:nvPr/>
        </p:nvSpPr>
        <p:spPr>
          <a:xfrm>
            <a:off x="5904173" y="2697695"/>
            <a:ext cx="184653" cy="178561"/>
          </a:xfrm>
          <a:prstGeom prst="rect">
            <a:avLst/>
          </a:prstGeom>
          <a:blipFill>
            <a:blip r:embed="rId15"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9" name="object 39"/>
          <p:cNvSpPr/>
          <p:nvPr/>
        </p:nvSpPr>
        <p:spPr>
          <a:xfrm>
            <a:off x="5904173" y="2198177"/>
            <a:ext cx="184653" cy="180084"/>
          </a:xfrm>
          <a:prstGeom prst="rect">
            <a:avLst/>
          </a:prstGeom>
          <a:blipFill>
            <a:blip r:embed="rId16"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0" name="object 40"/>
          <p:cNvSpPr/>
          <p:nvPr/>
        </p:nvSpPr>
        <p:spPr>
          <a:xfrm>
            <a:off x="5904173" y="4736886"/>
            <a:ext cx="184653" cy="178561"/>
          </a:xfrm>
          <a:prstGeom prst="rect">
            <a:avLst/>
          </a:prstGeom>
          <a:blipFill>
            <a:blip r:embed="rId17"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1" name="object 41"/>
          <p:cNvSpPr/>
          <p:nvPr/>
        </p:nvSpPr>
        <p:spPr>
          <a:xfrm>
            <a:off x="5904173" y="5352146"/>
            <a:ext cx="184653" cy="180084"/>
          </a:xfrm>
          <a:prstGeom prst="rect">
            <a:avLst/>
          </a:prstGeom>
          <a:blipFill>
            <a:blip r:embed="rId18"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2" name="object 42"/>
          <p:cNvSpPr/>
          <p:nvPr/>
        </p:nvSpPr>
        <p:spPr>
          <a:xfrm>
            <a:off x="5904173" y="3153049"/>
            <a:ext cx="184653" cy="178561"/>
          </a:xfrm>
          <a:prstGeom prst="rect">
            <a:avLst/>
          </a:prstGeom>
          <a:blipFill>
            <a:blip r:embed="rId15"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3" name="object 43"/>
          <p:cNvSpPr/>
          <p:nvPr/>
        </p:nvSpPr>
        <p:spPr>
          <a:xfrm>
            <a:off x="8284498" y="1700182"/>
            <a:ext cx="183131" cy="180084"/>
          </a:xfrm>
          <a:prstGeom prst="rect">
            <a:avLst/>
          </a:prstGeom>
          <a:blipFill>
            <a:blip r:embed="rId19"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4" name="object 44"/>
          <p:cNvSpPr/>
          <p:nvPr/>
        </p:nvSpPr>
        <p:spPr>
          <a:xfrm>
            <a:off x="8284498" y="4284579"/>
            <a:ext cx="183131" cy="180084"/>
          </a:xfrm>
          <a:prstGeom prst="rect">
            <a:avLst/>
          </a:prstGeom>
          <a:blipFill>
            <a:blip r:embed="rId19"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5" name="object 45"/>
          <p:cNvSpPr/>
          <p:nvPr/>
        </p:nvSpPr>
        <p:spPr>
          <a:xfrm>
            <a:off x="8284498" y="3801813"/>
            <a:ext cx="183131" cy="180084"/>
          </a:xfrm>
          <a:prstGeom prst="rect">
            <a:avLst/>
          </a:prstGeom>
          <a:blipFill>
            <a:blip r:embed="rId19"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6" name="object 46"/>
          <p:cNvSpPr/>
          <p:nvPr/>
        </p:nvSpPr>
        <p:spPr>
          <a:xfrm>
            <a:off x="8284498" y="2697695"/>
            <a:ext cx="183131" cy="178561"/>
          </a:xfrm>
          <a:prstGeom prst="rect">
            <a:avLst/>
          </a:prstGeom>
          <a:blipFill>
            <a:blip r:embed="rId20"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7" name="object 47"/>
          <p:cNvSpPr/>
          <p:nvPr/>
        </p:nvSpPr>
        <p:spPr>
          <a:xfrm>
            <a:off x="8284498" y="2198177"/>
            <a:ext cx="183131" cy="180084"/>
          </a:xfrm>
          <a:prstGeom prst="rect">
            <a:avLst/>
          </a:prstGeom>
          <a:blipFill>
            <a:blip r:embed="rId2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8" name="object 48"/>
          <p:cNvSpPr/>
          <p:nvPr/>
        </p:nvSpPr>
        <p:spPr>
          <a:xfrm>
            <a:off x="8284498" y="4736886"/>
            <a:ext cx="183131" cy="180084"/>
          </a:xfrm>
          <a:prstGeom prst="rect">
            <a:avLst/>
          </a:prstGeom>
          <a:blipFill>
            <a:blip r:embed="rId22"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9" name="object 49"/>
          <p:cNvSpPr/>
          <p:nvPr/>
        </p:nvSpPr>
        <p:spPr>
          <a:xfrm>
            <a:off x="8284498" y="5352146"/>
            <a:ext cx="183131" cy="180084"/>
          </a:xfrm>
          <a:prstGeom prst="rect">
            <a:avLst/>
          </a:prstGeom>
          <a:blipFill>
            <a:blip r:embed="rId23"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50" name="object 50"/>
          <p:cNvSpPr/>
          <p:nvPr/>
        </p:nvSpPr>
        <p:spPr>
          <a:xfrm>
            <a:off x="8284498" y="3153049"/>
            <a:ext cx="183131" cy="178561"/>
          </a:xfrm>
          <a:prstGeom prst="rect">
            <a:avLst/>
          </a:prstGeom>
          <a:blipFill>
            <a:blip r:embed="rId20"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51" name="object 51"/>
          <p:cNvSpPr/>
          <p:nvPr/>
        </p:nvSpPr>
        <p:spPr>
          <a:xfrm>
            <a:off x="1589168" y="1632603"/>
            <a:ext cx="1977259" cy="0"/>
          </a:xfrm>
          <a:custGeom>
            <a:avLst/>
            <a:gdLst/>
            <a:ahLst/>
            <a:cxnLst/>
            <a:rect l="l" t="t" r="r" b="b"/>
            <a:pathLst>
              <a:path w="1978660">
                <a:moveTo>
                  <a:pt x="0" y="0"/>
                </a:moveTo>
                <a:lnTo>
                  <a:pt x="1978152" y="0"/>
                </a:lnTo>
              </a:path>
            </a:pathLst>
          </a:custGeom>
          <a:ln w="19050">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2" name="object 52"/>
          <p:cNvSpPr/>
          <p:nvPr/>
        </p:nvSpPr>
        <p:spPr>
          <a:xfrm>
            <a:off x="3926851" y="1632603"/>
            <a:ext cx="2116860" cy="0"/>
          </a:xfrm>
          <a:custGeom>
            <a:avLst/>
            <a:gdLst/>
            <a:ahLst/>
            <a:cxnLst/>
            <a:rect l="l" t="t" r="r" b="b"/>
            <a:pathLst>
              <a:path w="2118360">
                <a:moveTo>
                  <a:pt x="0" y="0"/>
                </a:moveTo>
                <a:lnTo>
                  <a:pt x="2118360" y="0"/>
                </a:lnTo>
              </a:path>
            </a:pathLst>
          </a:custGeom>
          <a:ln w="19050">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3" name="object 53"/>
          <p:cNvSpPr/>
          <p:nvPr/>
        </p:nvSpPr>
        <p:spPr>
          <a:xfrm>
            <a:off x="6406165" y="1632603"/>
            <a:ext cx="2120032" cy="1904"/>
          </a:xfrm>
          <a:custGeom>
            <a:avLst/>
            <a:gdLst/>
            <a:ahLst/>
            <a:cxnLst/>
            <a:rect l="l" t="t" r="r" b="b"/>
            <a:pathLst>
              <a:path w="2121534" h="1905">
                <a:moveTo>
                  <a:pt x="0" y="0"/>
                </a:moveTo>
                <a:lnTo>
                  <a:pt x="2121408" y="1524"/>
                </a:lnTo>
              </a:path>
            </a:pathLst>
          </a:custGeom>
          <a:ln w="19050">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graphicFrame>
        <p:nvGraphicFramePr>
          <p:cNvPr id="54" name="object 54"/>
          <p:cNvGraphicFramePr>
            <a:graphicFrameLocks noGrp="1"/>
          </p:cNvGraphicFramePr>
          <p:nvPr/>
        </p:nvGraphicFramePr>
        <p:xfrm>
          <a:off x="285166" y="888466"/>
          <a:ext cx="8465185" cy="4972050"/>
        </p:xfrm>
        <a:graphic>
          <a:graphicData uri="http://schemas.openxmlformats.org/drawingml/2006/table">
            <a:tbl>
              <a:tblPr firstRow="1" bandRow="1">
                <a:tableStyleId>{2D5ABB26-0587-4C30-8999-92F81FD0307C}</a:tableStyleId>
              </a:tblPr>
              <a:tblGrid>
                <a:gridCol w="1202690"/>
                <a:gridCol w="2063750"/>
                <a:gridCol w="2559685"/>
                <a:gridCol w="2639060"/>
              </a:tblGrid>
              <a:tr h="405765">
                <a:tc gridSpan="4">
                  <a:txBody>
                    <a:bodyPr/>
                    <a:lstStyle/>
                    <a:p>
                      <a:pPr marL="60960">
                        <a:lnSpc>
                          <a:spcPct val="100000"/>
                        </a:lnSpc>
                        <a:spcBef>
                          <a:spcPts val="800"/>
                        </a:spcBef>
                      </a:pPr>
                      <a:r>
                        <a:rPr sz="1200" b="1" spc="5" dirty="0">
                          <a:latin typeface="微软雅黑" panose="020B0503020204020204" charset="-122"/>
                          <a:ea typeface="微软雅黑" panose="020B0503020204020204" charset="-122"/>
                          <a:cs typeface="微软雅黑" panose="020B0503020204020204" charset="-122"/>
                        </a:rPr>
                        <a:t>汽车客</a:t>
                      </a:r>
                      <a:r>
                        <a:rPr sz="1200" b="1" spc="-5" dirty="0">
                          <a:latin typeface="微软雅黑" panose="020B0503020204020204" charset="-122"/>
                          <a:ea typeface="微软雅黑" panose="020B0503020204020204" charset="-122"/>
                          <a:cs typeface="微软雅黑" panose="020B0503020204020204" charset="-122"/>
                        </a:rPr>
                        <a:t>户案例：客户价值分析表格</a:t>
                      </a:r>
                      <a:endParaRPr sz="1200">
                        <a:latin typeface="微软雅黑" panose="020B0503020204020204" charset="-122"/>
                        <a:ea typeface="微软雅黑" panose="020B0503020204020204" charset="-122"/>
                        <a:cs typeface="微软雅黑" panose="020B0503020204020204" charset="-122"/>
                      </a:endParaRPr>
                    </a:p>
                  </a:txBody>
                  <a:tcPr marL="0" marR="0" marT="101528" marB="0">
                    <a:solidFill>
                      <a:srgbClr val="C6DFFA"/>
                    </a:solidFill>
                  </a:tcPr>
                </a:tc>
                <a:tc hMerge="1">
                  <a:tcPr marL="0" marR="0" marT="0" marB="0"/>
                </a:tc>
                <a:tc hMerge="1">
                  <a:tcPr marL="0" marR="0" marT="0" marB="0"/>
                </a:tc>
                <a:tc hMerge="1">
                  <a:tcPr marL="0" marR="0" marT="0" marB="0"/>
                </a:tc>
              </a:tr>
              <a:tr h="4566285">
                <a:tc>
                  <a:txBody>
                    <a:bodyPr/>
                    <a:lstStyle/>
                    <a:p>
                      <a:pPr marL="141605">
                        <a:lnSpc>
                          <a:spcPct val="100000"/>
                        </a:lnSpc>
                        <a:spcBef>
                          <a:spcPts val="865"/>
                        </a:spcBef>
                      </a:pPr>
                      <a:r>
                        <a:rPr sz="1200" b="1" spc="10" dirty="0">
                          <a:solidFill>
                            <a:srgbClr val="00295F"/>
                          </a:solidFill>
                          <a:latin typeface="微软雅黑" panose="020B0503020204020204" charset="-122"/>
                          <a:ea typeface="微软雅黑" panose="020B0503020204020204" charset="-122"/>
                          <a:cs typeface="微软雅黑" panose="020B0503020204020204" charset="-122"/>
                        </a:rPr>
                        <a:t>合同条款</a:t>
                      </a:r>
                      <a:endParaRPr sz="1200">
                        <a:latin typeface="微软雅黑" panose="020B0503020204020204" charset="-122"/>
                        <a:ea typeface="微软雅黑" panose="020B0503020204020204" charset="-122"/>
                        <a:cs typeface="微软雅黑" panose="020B0503020204020204" charset="-122"/>
                      </a:endParaRPr>
                    </a:p>
                    <a:p>
                      <a:pPr marL="186055">
                        <a:lnSpc>
                          <a:spcPct val="100000"/>
                        </a:lnSpc>
                        <a:spcBef>
                          <a:spcPts val="1310"/>
                        </a:spcBef>
                      </a:pPr>
                      <a:r>
                        <a:rPr sz="1200" b="1" spc="10" dirty="0">
                          <a:solidFill>
                            <a:srgbClr val="00295F"/>
                          </a:solidFill>
                          <a:latin typeface="微软雅黑" panose="020B0503020204020204" charset="-122"/>
                          <a:ea typeface="微软雅黑" panose="020B0503020204020204" charset="-122"/>
                          <a:cs typeface="微软雅黑" panose="020B0503020204020204" charset="-122"/>
                        </a:rPr>
                        <a:t>付款条款</a:t>
                      </a:r>
                      <a:endParaRPr sz="1200">
                        <a:latin typeface="微软雅黑" panose="020B0503020204020204" charset="-122"/>
                        <a:ea typeface="微软雅黑" panose="020B0503020204020204" charset="-122"/>
                        <a:cs typeface="微软雅黑" panose="020B0503020204020204" charset="-122"/>
                      </a:endParaRPr>
                    </a:p>
                    <a:p>
                      <a:pPr>
                        <a:lnSpc>
                          <a:spcPct val="100000"/>
                        </a:lnSpc>
                        <a:spcBef>
                          <a:spcPts val="15"/>
                        </a:spcBef>
                      </a:pPr>
                      <a:endParaRPr sz="2150">
                        <a:latin typeface="微软雅黑" panose="020B0503020204020204" charset="-122"/>
                        <a:ea typeface="微软雅黑" panose="020B0503020204020204" charset="-122"/>
                        <a:cs typeface="微软雅黑" panose="020B0503020204020204" charset="-122"/>
                      </a:endParaRPr>
                    </a:p>
                    <a:p>
                      <a:pPr marL="186055">
                        <a:lnSpc>
                          <a:spcPct val="100000"/>
                        </a:lnSpc>
                      </a:pPr>
                      <a:r>
                        <a:rPr sz="1200" b="1" spc="10" dirty="0">
                          <a:solidFill>
                            <a:srgbClr val="00295F"/>
                          </a:solidFill>
                          <a:latin typeface="微软雅黑" panose="020B0503020204020204" charset="-122"/>
                          <a:ea typeface="微软雅黑" panose="020B0503020204020204" charset="-122"/>
                          <a:cs typeface="微软雅黑" panose="020B0503020204020204" charset="-122"/>
                        </a:rPr>
                        <a:t>保证条款</a:t>
                      </a:r>
                      <a:endParaRPr sz="1200">
                        <a:latin typeface="微软雅黑" panose="020B0503020204020204" charset="-122"/>
                        <a:ea typeface="微软雅黑" panose="020B0503020204020204" charset="-122"/>
                        <a:cs typeface="微软雅黑" panose="020B0503020204020204" charset="-122"/>
                      </a:endParaRPr>
                    </a:p>
                    <a:p>
                      <a:pPr marL="186055" marR="388620">
                        <a:lnSpc>
                          <a:spcPct val="249000"/>
                        </a:lnSpc>
                        <a:spcBef>
                          <a:spcPts val="345"/>
                        </a:spcBef>
                      </a:pPr>
                      <a:r>
                        <a:rPr sz="1200" b="1" spc="10" dirty="0">
                          <a:solidFill>
                            <a:srgbClr val="00295F"/>
                          </a:solidFill>
                          <a:latin typeface="微软雅黑" panose="020B0503020204020204" charset="-122"/>
                          <a:ea typeface="微软雅黑" panose="020B0503020204020204" charset="-122"/>
                          <a:cs typeface="微软雅黑" panose="020B0503020204020204" charset="-122"/>
                        </a:rPr>
                        <a:t>一般责任 知识产权</a:t>
                      </a:r>
                      <a:endParaRPr sz="1200">
                        <a:latin typeface="微软雅黑" panose="020B0503020204020204" charset="-122"/>
                        <a:ea typeface="微软雅黑" panose="020B0503020204020204" charset="-122"/>
                        <a:cs typeface="微软雅黑" panose="020B0503020204020204" charset="-122"/>
                      </a:endParaRPr>
                    </a:p>
                    <a:p>
                      <a:pPr>
                        <a:lnSpc>
                          <a:spcPct val="100000"/>
                        </a:lnSpc>
                      </a:pPr>
                      <a:endParaRPr sz="1500">
                        <a:latin typeface="微软雅黑" panose="020B0503020204020204" charset="-122"/>
                        <a:ea typeface="微软雅黑" panose="020B0503020204020204" charset="-122"/>
                        <a:cs typeface="微软雅黑" panose="020B0503020204020204" charset="-122"/>
                      </a:endParaRPr>
                    </a:p>
                    <a:p>
                      <a:pPr>
                        <a:lnSpc>
                          <a:spcPct val="100000"/>
                        </a:lnSpc>
                        <a:spcBef>
                          <a:spcPts val="55"/>
                        </a:spcBef>
                      </a:pPr>
                      <a:endParaRPr sz="1650">
                        <a:latin typeface="微软雅黑" panose="020B0503020204020204" charset="-122"/>
                        <a:ea typeface="微软雅黑" panose="020B0503020204020204" charset="-122"/>
                        <a:cs typeface="微软雅黑" panose="020B0503020204020204" charset="-122"/>
                      </a:endParaRPr>
                    </a:p>
                    <a:p>
                      <a:pPr marL="186055">
                        <a:lnSpc>
                          <a:spcPct val="100000"/>
                        </a:lnSpc>
                      </a:pPr>
                      <a:r>
                        <a:rPr sz="1200" b="1" spc="5" dirty="0">
                          <a:solidFill>
                            <a:srgbClr val="00295F"/>
                          </a:solidFill>
                          <a:latin typeface="微软雅黑" panose="020B0503020204020204" charset="-122"/>
                          <a:ea typeface="微软雅黑" panose="020B0503020204020204" charset="-122"/>
                          <a:cs typeface="微软雅黑" panose="020B0503020204020204" charset="-122"/>
                        </a:rPr>
                        <a:t>产量短</a:t>
                      </a:r>
                      <a:r>
                        <a:rPr sz="1200" b="1" dirty="0">
                          <a:solidFill>
                            <a:srgbClr val="00295F"/>
                          </a:solidFill>
                          <a:latin typeface="微软雅黑" panose="020B0503020204020204" charset="-122"/>
                          <a:ea typeface="微软雅黑" panose="020B0503020204020204" charset="-122"/>
                          <a:cs typeface="微软雅黑" panose="020B0503020204020204" charset="-122"/>
                        </a:rPr>
                        <a:t>缺</a:t>
                      </a:r>
                      <a:r>
                        <a:rPr sz="1200" b="1" spc="-5" dirty="0">
                          <a:solidFill>
                            <a:srgbClr val="00295F"/>
                          </a:solidFill>
                          <a:latin typeface="微软雅黑" panose="020B0503020204020204" charset="-122"/>
                          <a:ea typeface="微软雅黑" panose="020B0503020204020204" charset="-122"/>
                          <a:cs typeface="微软雅黑" panose="020B0503020204020204" charset="-122"/>
                        </a:rPr>
                        <a:t>条</a:t>
                      </a:r>
                      <a:r>
                        <a:rPr sz="1200" b="1" dirty="0">
                          <a:solidFill>
                            <a:srgbClr val="00295F"/>
                          </a:solidFill>
                          <a:latin typeface="微软雅黑" panose="020B0503020204020204" charset="-122"/>
                          <a:ea typeface="微软雅黑" panose="020B0503020204020204" charset="-122"/>
                          <a:cs typeface="微软雅黑" panose="020B0503020204020204" charset="-122"/>
                        </a:rPr>
                        <a:t>款</a:t>
                      </a:r>
                      <a:endParaRPr sz="1200">
                        <a:latin typeface="微软雅黑" panose="020B0503020204020204" charset="-122"/>
                        <a:ea typeface="微软雅黑" panose="020B0503020204020204" charset="-122"/>
                        <a:cs typeface="微软雅黑" panose="020B0503020204020204" charset="-122"/>
                      </a:endParaRPr>
                    </a:p>
                    <a:p>
                      <a:pPr marL="186055" marR="389890">
                        <a:lnSpc>
                          <a:spcPct val="235000"/>
                        </a:lnSpc>
                        <a:spcBef>
                          <a:spcPts val="360"/>
                        </a:spcBef>
                      </a:pPr>
                      <a:r>
                        <a:rPr sz="1200" b="1" spc="10" dirty="0">
                          <a:solidFill>
                            <a:srgbClr val="00295F"/>
                          </a:solidFill>
                          <a:latin typeface="微软雅黑" panose="020B0503020204020204" charset="-122"/>
                          <a:ea typeface="微软雅黑" panose="020B0503020204020204" charset="-122"/>
                          <a:cs typeface="微软雅黑" panose="020B0503020204020204" charset="-122"/>
                        </a:rPr>
                        <a:t>备品配件 </a:t>
                      </a:r>
                      <a:r>
                        <a:rPr sz="1200" b="1" spc="5" dirty="0">
                          <a:solidFill>
                            <a:srgbClr val="00295F"/>
                          </a:solidFill>
                          <a:latin typeface="微软雅黑" panose="020B0503020204020204" charset="-122"/>
                          <a:ea typeface="微软雅黑" panose="020B0503020204020204" charset="-122"/>
                          <a:cs typeface="微软雅黑" panose="020B0503020204020204" charset="-122"/>
                        </a:rPr>
                        <a:t>磨具</a:t>
                      </a:r>
                      <a:endParaRPr sz="1200">
                        <a:latin typeface="微软雅黑" panose="020B0503020204020204" charset="-122"/>
                        <a:ea typeface="微软雅黑" panose="020B0503020204020204" charset="-122"/>
                        <a:cs typeface="微软雅黑" panose="020B0503020204020204" charset="-122"/>
                      </a:endParaRPr>
                    </a:p>
                    <a:p>
                      <a:pPr>
                        <a:lnSpc>
                          <a:spcPct val="100000"/>
                        </a:lnSpc>
                      </a:pPr>
                      <a:endParaRPr sz="1500">
                        <a:latin typeface="微软雅黑" panose="020B0503020204020204" charset="-122"/>
                        <a:ea typeface="微软雅黑" panose="020B0503020204020204" charset="-122"/>
                        <a:cs typeface="微软雅黑" panose="020B0503020204020204" charset="-122"/>
                      </a:endParaRPr>
                    </a:p>
                    <a:p>
                      <a:pPr>
                        <a:lnSpc>
                          <a:spcPct val="100000"/>
                        </a:lnSpc>
                        <a:spcBef>
                          <a:spcPts val="25"/>
                        </a:spcBef>
                      </a:pPr>
                      <a:endParaRPr sz="1650">
                        <a:latin typeface="微软雅黑" panose="020B0503020204020204" charset="-122"/>
                        <a:ea typeface="微软雅黑" panose="020B0503020204020204" charset="-122"/>
                        <a:cs typeface="微软雅黑" panose="020B0503020204020204" charset="-122"/>
                      </a:endParaRPr>
                    </a:p>
                    <a:p>
                      <a:pPr marL="186055">
                        <a:lnSpc>
                          <a:spcPct val="100000"/>
                        </a:lnSpc>
                      </a:pPr>
                      <a:r>
                        <a:rPr sz="1200" b="1" spc="5" dirty="0">
                          <a:solidFill>
                            <a:srgbClr val="00295F"/>
                          </a:solidFill>
                          <a:latin typeface="微软雅黑" panose="020B0503020204020204" charset="-122"/>
                          <a:ea typeface="微软雅黑" panose="020B0503020204020204" charset="-122"/>
                          <a:cs typeface="微软雅黑" panose="020B0503020204020204" charset="-122"/>
                        </a:rPr>
                        <a:t>取消或</a:t>
                      </a:r>
                      <a:r>
                        <a:rPr sz="1200" b="1" spc="-5" dirty="0">
                          <a:solidFill>
                            <a:srgbClr val="00295F"/>
                          </a:solidFill>
                          <a:latin typeface="微软雅黑" panose="020B0503020204020204" charset="-122"/>
                          <a:ea typeface="微软雅黑" panose="020B0503020204020204" charset="-122"/>
                          <a:cs typeface="微软雅黑" panose="020B0503020204020204" charset="-122"/>
                        </a:rPr>
                        <a:t>中止</a:t>
                      </a:r>
                      <a:endParaRPr sz="1200">
                        <a:latin typeface="微软雅黑" panose="020B0503020204020204" charset="-122"/>
                        <a:ea typeface="微软雅黑" panose="020B0503020204020204" charset="-122"/>
                        <a:cs typeface="微软雅黑" panose="020B0503020204020204" charset="-122"/>
                      </a:endParaRPr>
                    </a:p>
                  </a:txBody>
                  <a:tcPr marL="0" marR="0" marT="109777" marB="0">
                    <a:lnL w="19050">
                      <a:solidFill>
                        <a:srgbClr val="C6DFFA"/>
                      </a:solidFill>
                      <a:prstDash val="solid"/>
                    </a:lnL>
                    <a:lnB w="19050">
                      <a:solidFill>
                        <a:srgbClr val="C6DFFA"/>
                      </a:solidFill>
                      <a:prstDash val="solid"/>
                    </a:lnB>
                  </a:tcPr>
                </a:tc>
                <a:tc>
                  <a:txBody>
                    <a:bodyPr/>
                    <a:lstStyle/>
                    <a:p>
                      <a:pPr marL="93980">
                        <a:lnSpc>
                          <a:spcPct val="100000"/>
                        </a:lnSpc>
                        <a:spcBef>
                          <a:spcPts val="865"/>
                        </a:spcBef>
                      </a:pPr>
                      <a:r>
                        <a:rPr sz="1200" b="1" spc="5" dirty="0">
                          <a:solidFill>
                            <a:srgbClr val="00295F"/>
                          </a:solidFill>
                          <a:latin typeface="微软雅黑" panose="020B0503020204020204" charset="-122"/>
                          <a:ea typeface="微软雅黑" panose="020B0503020204020204" charset="-122"/>
                          <a:cs typeface="微软雅黑" panose="020B0503020204020204" charset="-122"/>
                        </a:rPr>
                        <a:t>客户</a:t>
                      </a:r>
                      <a:r>
                        <a:rPr sz="1200" b="1" spc="-5" dirty="0">
                          <a:solidFill>
                            <a:srgbClr val="00295F"/>
                          </a:solidFill>
                          <a:latin typeface="微软雅黑" panose="020B0503020204020204" charset="-122"/>
                          <a:ea typeface="微软雅黑" panose="020B0503020204020204" charset="-122"/>
                          <a:cs typeface="微软雅黑" panose="020B0503020204020204" charset="-122"/>
                        </a:rPr>
                        <a:t>1</a:t>
                      </a:r>
                      <a:endParaRPr sz="1200">
                        <a:latin typeface="微软雅黑" panose="020B0503020204020204" charset="-122"/>
                        <a:ea typeface="微软雅黑" panose="020B0503020204020204" charset="-122"/>
                        <a:cs typeface="微软雅黑" panose="020B0503020204020204" charset="-122"/>
                      </a:endParaRPr>
                    </a:p>
                    <a:p>
                      <a:pPr marL="288290" indent="-193040">
                        <a:lnSpc>
                          <a:spcPct val="100000"/>
                        </a:lnSpc>
                        <a:spcBef>
                          <a:spcPts val="835"/>
                        </a:spcBef>
                        <a:buClr>
                          <a:srgbClr val="00295F"/>
                        </a:buClr>
                        <a:buSzPct val="125000"/>
                        <a:buChar char="▪"/>
                        <a:tabLst>
                          <a:tab pos="288925" algn="l"/>
                        </a:tabLst>
                      </a:pPr>
                      <a:r>
                        <a:rPr sz="1200" spc="-5" dirty="0">
                          <a:latin typeface="微软雅黑" panose="020B0503020204020204" charset="-122"/>
                          <a:ea typeface="微软雅黑" panose="020B0503020204020204" charset="-122"/>
                          <a:cs typeface="微软雅黑" panose="020B0503020204020204" charset="-122"/>
                        </a:rPr>
                        <a:t>90</a:t>
                      </a:r>
                      <a:r>
                        <a:rPr sz="1200" dirty="0">
                          <a:latin typeface="微软雅黑" panose="020B0503020204020204" charset="-122"/>
                          <a:ea typeface="微软雅黑" panose="020B0503020204020204" charset="-122"/>
                          <a:cs typeface="微软雅黑" panose="020B0503020204020204" charset="-122"/>
                        </a:rPr>
                        <a:t>天月结</a:t>
                      </a:r>
                      <a:endParaRPr sz="1200">
                        <a:latin typeface="微软雅黑" panose="020B0503020204020204" charset="-122"/>
                        <a:ea typeface="微软雅黑" panose="020B0503020204020204" charset="-122"/>
                        <a:cs typeface="微软雅黑" panose="020B0503020204020204" charset="-122"/>
                      </a:endParaRPr>
                    </a:p>
                    <a:p>
                      <a:pPr>
                        <a:lnSpc>
                          <a:spcPct val="100000"/>
                        </a:lnSpc>
                        <a:spcBef>
                          <a:spcPts val="15"/>
                        </a:spcBef>
                        <a:buClr>
                          <a:srgbClr val="00295F"/>
                        </a:buClr>
                        <a:buFont typeface="Arial" panose="020B0604020202020204"/>
                        <a:buChar char="▪"/>
                      </a:pPr>
                      <a:endParaRPr sz="2150">
                        <a:latin typeface="微软雅黑" panose="020B0503020204020204" charset="-122"/>
                        <a:ea typeface="微软雅黑" panose="020B0503020204020204" charset="-122"/>
                        <a:cs typeface="微软雅黑" panose="020B0503020204020204" charset="-122"/>
                      </a:endParaRPr>
                    </a:p>
                    <a:p>
                      <a:pPr marL="288290" indent="-193040">
                        <a:lnSpc>
                          <a:spcPct val="100000"/>
                        </a:lnSpc>
                        <a:buClr>
                          <a:srgbClr val="00295F"/>
                        </a:buClr>
                        <a:buSzPct val="125000"/>
                        <a:buFont typeface="Arial" panose="020B0604020202020204"/>
                        <a:buChar char="▪"/>
                        <a:tabLst>
                          <a:tab pos="288925" algn="l"/>
                        </a:tabLst>
                      </a:pPr>
                      <a:r>
                        <a:rPr sz="1200" dirty="0">
                          <a:latin typeface="微软雅黑" panose="020B0503020204020204" charset="-122"/>
                          <a:ea typeface="微软雅黑" panose="020B0503020204020204" charset="-122"/>
                          <a:cs typeface="微软雅黑" panose="020B0503020204020204" charset="-122"/>
                        </a:rPr>
                        <a:t>无限制财务风险</a:t>
                      </a:r>
                      <a:endParaRPr sz="1200">
                        <a:latin typeface="微软雅黑" panose="020B0503020204020204" charset="-122"/>
                        <a:ea typeface="微软雅黑" panose="020B0503020204020204" charset="-122"/>
                        <a:cs typeface="微软雅黑" panose="020B0503020204020204" charset="-122"/>
                      </a:endParaRPr>
                    </a:p>
                    <a:p>
                      <a:pPr>
                        <a:lnSpc>
                          <a:spcPct val="100000"/>
                        </a:lnSpc>
                        <a:spcBef>
                          <a:spcPts val="25"/>
                        </a:spcBef>
                        <a:buClr>
                          <a:srgbClr val="00295F"/>
                        </a:buClr>
                        <a:buFont typeface="Arial" panose="020B0604020202020204"/>
                        <a:buChar char="▪"/>
                      </a:pPr>
                      <a:endParaRPr sz="2150">
                        <a:latin typeface="微软雅黑" panose="020B0503020204020204" charset="-122"/>
                        <a:ea typeface="微软雅黑" panose="020B0503020204020204" charset="-122"/>
                        <a:cs typeface="微软雅黑" panose="020B0503020204020204" charset="-122"/>
                      </a:endParaRPr>
                    </a:p>
                    <a:p>
                      <a:pPr marL="288290" indent="-193040">
                        <a:lnSpc>
                          <a:spcPct val="100000"/>
                        </a:lnSpc>
                        <a:buClr>
                          <a:srgbClr val="00295F"/>
                        </a:buClr>
                        <a:buSzPct val="125000"/>
                        <a:buFont typeface="Arial" panose="020B0604020202020204"/>
                        <a:buChar char="▪"/>
                        <a:tabLst>
                          <a:tab pos="288925" algn="l"/>
                        </a:tabLst>
                      </a:pPr>
                      <a:r>
                        <a:rPr sz="1200" dirty="0">
                          <a:latin typeface="微软雅黑" panose="020B0503020204020204" charset="-122"/>
                          <a:ea typeface="微软雅黑" panose="020B0503020204020204" charset="-122"/>
                          <a:cs typeface="微软雅黑" panose="020B0503020204020204" charset="-122"/>
                        </a:rPr>
                        <a:t>无限制财务风险</a:t>
                      </a:r>
                      <a:endParaRPr sz="1200">
                        <a:latin typeface="微软雅黑" panose="020B0503020204020204" charset="-122"/>
                        <a:ea typeface="微软雅黑" panose="020B0503020204020204" charset="-122"/>
                        <a:cs typeface="微软雅黑" panose="020B0503020204020204" charset="-122"/>
                      </a:endParaRPr>
                    </a:p>
                    <a:p>
                      <a:pPr>
                        <a:lnSpc>
                          <a:spcPct val="100000"/>
                        </a:lnSpc>
                        <a:buClr>
                          <a:srgbClr val="00295F"/>
                        </a:buClr>
                        <a:buFont typeface="Arial" panose="020B0604020202020204"/>
                        <a:buChar char="▪"/>
                      </a:pPr>
                      <a:endParaRPr sz="1850">
                        <a:latin typeface="微软雅黑" panose="020B0503020204020204" charset="-122"/>
                        <a:ea typeface="微软雅黑" panose="020B0503020204020204" charset="-122"/>
                        <a:cs typeface="微软雅黑" panose="020B0503020204020204" charset="-122"/>
                      </a:endParaRPr>
                    </a:p>
                    <a:p>
                      <a:pPr marL="288290" marR="237490" indent="-192405">
                        <a:lnSpc>
                          <a:spcPct val="101000"/>
                        </a:lnSpc>
                        <a:buClr>
                          <a:srgbClr val="00295F"/>
                        </a:buClr>
                        <a:buSzPct val="125000"/>
                        <a:buFont typeface="Arial" panose="020B0604020202020204"/>
                        <a:buChar char="▪"/>
                        <a:tabLst>
                          <a:tab pos="288925" algn="l"/>
                        </a:tabLst>
                      </a:pPr>
                      <a:r>
                        <a:rPr sz="1200" dirty="0">
                          <a:latin typeface="微软雅黑" panose="020B0503020204020204" charset="-122"/>
                          <a:ea typeface="微软雅黑" panose="020B0503020204020204" charset="-122"/>
                          <a:cs typeface="微软雅黑" panose="020B0503020204020204" charset="-122"/>
                        </a:rPr>
                        <a:t>如果购买条件不降，知 识产权自动转移给客户</a:t>
                      </a:r>
                      <a:endParaRPr sz="1200">
                        <a:latin typeface="微软雅黑" panose="020B0503020204020204" charset="-122"/>
                        <a:ea typeface="微软雅黑" panose="020B0503020204020204" charset="-122"/>
                        <a:cs typeface="微软雅黑" panose="020B0503020204020204" charset="-122"/>
                      </a:endParaRPr>
                    </a:p>
                    <a:p>
                      <a:pPr>
                        <a:lnSpc>
                          <a:spcPct val="100000"/>
                        </a:lnSpc>
                        <a:spcBef>
                          <a:spcPts val="25"/>
                        </a:spcBef>
                        <a:buClr>
                          <a:srgbClr val="00295F"/>
                        </a:buClr>
                        <a:buFont typeface="Arial" panose="020B0604020202020204"/>
                        <a:buChar char="▪"/>
                      </a:pPr>
                      <a:endParaRPr sz="1900">
                        <a:latin typeface="微软雅黑" panose="020B0503020204020204" charset="-122"/>
                        <a:ea typeface="微软雅黑" panose="020B0503020204020204" charset="-122"/>
                        <a:cs typeface="微软雅黑" panose="020B0503020204020204" charset="-122"/>
                      </a:endParaRPr>
                    </a:p>
                    <a:p>
                      <a:pPr marL="288290" marR="237490" indent="-192405">
                        <a:lnSpc>
                          <a:spcPct val="101000"/>
                        </a:lnSpc>
                        <a:buClr>
                          <a:srgbClr val="00295F"/>
                        </a:buClr>
                        <a:buSzPct val="125000"/>
                        <a:buFont typeface="Arial" panose="020B0604020202020204"/>
                        <a:buChar char="▪"/>
                        <a:tabLst>
                          <a:tab pos="288925" algn="l"/>
                        </a:tabLst>
                      </a:pPr>
                      <a:r>
                        <a:rPr sz="1200" dirty="0">
                          <a:latin typeface="微软雅黑" panose="020B0503020204020204" charset="-122"/>
                          <a:ea typeface="微软雅黑" panose="020B0503020204020204" charset="-122"/>
                          <a:cs typeface="微软雅黑" panose="020B0503020204020204" charset="-122"/>
                        </a:rPr>
                        <a:t>对产量降低的补偿可以 谈判</a:t>
                      </a:r>
                      <a:endParaRPr sz="1200">
                        <a:latin typeface="微软雅黑" panose="020B0503020204020204" charset="-122"/>
                        <a:ea typeface="微软雅黑" panose="020B0503020204020204" charset="-122"/>
                        <a:cs typeface="微软雅黑" panose="020B0503020204020204" charset="-122"/>
                      </a:endParaRPr>
                    </a:p>
                    <a:p>
                      <a:pPr marL="288290" indent="-193040">
                        <a:lnSpc>
                          <a:spcPct val="100000"/>
                        </a:lnSpc>
                        <a:spcBef>
                          <a:spcPts val="920"/>
                        </a:spcBef>
                        <a:buClr>
                          <a:srgbClr val="00295F"/>
                        </a:buClr>
                        <a:buSzPct val="125000"/>
                        <a:buFont typeface="Arial" panose="020B0604020202020204"/>
                        <a:buChar char="▪"/>
                        <a:tabLst>
                          <a:tab pos="288925" algn="l"/>
                        </a:tabLst>
                      </a:pPr>
                      <a:r>
                        <a:rPr sz="1200" spc="-5" dirty="0">
                          <a:latin typeface="微软雅黑" panose="020B0503020204020204" charset="-122"/>
                          <a:ea typeface="微软雅黑" panose="020B0503020204020204" charset="-122"/>
                          <a:cs typeface="微软雅黑" panose="020B0503020204020204" charset="-122"/>
                        </a:rPr>
                        <a:t>价格</a:t>
                      </a:r>
                      <a:r>
                        <a:rPr sz="1200" dirty="0">
                          <a:latin typeface="微软雅黑" panose="020B0503020204020204" charset="-122"/>
                          <a:ea typeface="微软雅黑" panose="020B0503020204020204" charset="-122"/>
                          <a:cs typeface="微软雅黑" panose="020B0503020204020204" charset="-122"/>
                        </a:rPr>
                        <a:t>/</a:t>
                      </a:r>
                      <a:r>
                        <a:rPr sz="1200" spc="-5" dirty="0">
                          <a:latin typeface="微软雅黑" panose="020B0503020204020204" charset="-122"/>
                          <a:ea typeface="微软雅黑" panose="020B0503020204020204" charset="-122"/>
                          <a:cs typeface="微软雅黑" panose="020B0503020204020204" charset="-122"/>
                        </a:rPr>
                        <a:t>成本提高可以协商</a:t>
                      </a:r>
                      <a:endParaRPr sz="1200">
                        <a:latin typeface="微软雅黑" panose="020B0503020204020204" charset="-122"/>
                        <a:ea typeface="微软雅黑" panose="020B0503020204020204" charset="-122"/>
                        <a:cs typeface="微软雅黑" panose="020B0503020204020204" charset="-122"/>
                      </a:endParaRPr>
                    </a:p>
                    <a:p>
                      <a:pPr>
                        <a:lnSpc>
                          <a:spcPct val="100000"/>
                        </a:lnSpc>
                        <a:spcBef>
                          <a:spcPts val="20"/>
                        </a:spcBef>
                        <a:buClr>
                          <a:srgbClr val="00295F"/>
                        </a:buClr>
                        <a:buFont typeface="Arial" panose="020B0604020202020204"/>
                        <a:buChar char="▪"/>
                      </a:pPr>
                      <a:endParaRPr sz="1600">
                        <a:latin typeface="微软雅黑" panose="020B0503020204020204" charset="-122"/>
                        <a:ea typeface="微软雅黑" panose="020B0503020204020204" charset="-122"/>
                        <a:cs typeface="微软雅黑" panose="020B0503020204020204" charset="-122"/>
                      </a:endParaRPr>
                    </a:p>
                    <a:p>
                      <a:pPr marL="288290" marR="237490" indent="-192405">
                        <a:lnSpc>
                          <a:spcPct val="101000"/>
                        </a:lnSpc>
                        <a:buClr>
                          <a:srgbClr val="00295F"/>
                        </a:buClr>
                        <a:buSzPct val="125000"/>
                        <a:buFont typeface="Arial" panose="020B0604020202020204"/>
                        <a:buChar char="▪"/>
                        <a:tabLst>
                          <a:tab pos="288925" algn="l"/>
                        </a:tabLst>
                      </a:pPr>
                      <a:r>
                        <a:rPr sz="1200" dirty="0">
                          <a:latin typeface="微软雅黑" panose="020B0503020204020204" charset="-122"/>
                          <a:ea typeface="微软雅黑" panose="020B0503020204020204" charset="-122"/>
                          <a:cs typeface="微软雅黑" panose="020B0503020204020204" charset="-122"/>
                        </a:rPr>
                        <a:t>对于特定磨具，现金付 款后用有权转移到客户</a:t>
                      </a:r>
                      <a:endParaRPr sz="1200">
                        <a:latin typeface="微软雅黑" panose="020B0503020204020204" charset="-122"/>
                        <a:ea typeface="微软雅黑" panose="020B0503020204020204" charset="-122"/>
                        <a:cs typeface="微软雅黑" panose="020B0503020204020204" charset="-122"/>
                      </a:endParaRPr>
                    </a:p>
                    <a:p>
                      <a:pPr>
                        <a:lnSpc>
                          <a:spcPct val="100000"/>
                        </a:lnSpc>
                        <a:spcBef>
                          <a:spcPts val="25"/>
                        </a:spcBef>
                        <a:buClr>
                          <a:srgbClr val="00295F"/>
                        </a:buClr>
                        <a:buFont typeface="Arial" panose="020B0604020202020204"/>
                        <a:buChar char="▪"/>
                      </a:pPr>
                      <a:endParaRPr sz="1900">
                        <a:latin typeface="微软雅黑" panose="020B0503020204020204" charset="-122"/>
                        <a:ea typeface="微软雅黑" panose="020B0503020204020204" charset="-122"/>
                        <a:cs typeface="微软雅黑" panose="020B0503020204020204" charset="-122"/>
                      </a:endParaRPr>
                    </a:p>
                    <a:p>
                      <a:pPr marL="288290" indent="-193040">
                        <a:lnSpc>
                          <a:spcPct val="100000"/>
                        </a:lnSpc>
                        <a:buClr>
                          <a:srgbClr val="00295F"/>
                        </a:buClr>
                        <a:buSzPct val="125000"/>
                        <a:buFont typeface="Arial" panose="020B0604020202020204"/>
                        <a:buChar char="▪"/>
                        <a:tabLst>
                          <a:tab pos="288925" algn="l"/>
                        </a:tabLst>
                      </a:pPr>
                      <a:r>
                        <a:rPr sz="1200" spc="-5" dirty="0">
                          <a:latin typeface="微软雅黑" panose="020B0503020204020204" charset="-122"/>
                          <a:ea typeface="微软雅黑" panose="020B0503020204020204" charset="-122"/>
                          <a:cs typeface="微软雅黑" panose="020B0503020204020204" charset="-122"/>
                        </a:rPr>
                        <a:t>可以随时中止</a:t>
                      </a:r>
                      <a:endParaRPr sz="1200">
                        <a:latin typeface="微软雅黑" panose="020B0503020204020204" charset="-122"/>
                        <a:ea typeface="微软雅黑" panose="020B0503020204020204" charset="-122"/>
                        <a:cs typeface="微软雅黑" panose="020B0503020204020204" charset="-122"/>
                      </a:endParaRPr>
                    </a:p>
                  </a:txBody>
                  <a:tcPr marL="0" marR="0" marT="109777" marB="0">
                    <a:lnB w="19050">
                      <a:solidFill>
                        <a:srgbClr val="C6DFFA"/>
                      </a:solidFill>
                      <a:prstDash val="solid"/>
                    </a:lnB>
                  </a:tcPr>
                </a:tc>
                <a:tc>
                  <a:txBody>
                    <a:bodyPr/>
                    <a:lstStyle/>
                    <a:p>
                      <a:pPr marL="376555">
                        <a:lnSpc>
                          <a:spcPct val="100000"/>
                        </a:lnSpc>
                        <a:spcBef>
                          <a:spcPts val="865"/>
                        </a:spcBef>
                      </a:pPr>
                      <a:r>
                        <a:rPr sz="1200" b="1" spc="5" dirty="0">
                          <a:solidFill>
                            <a:srgbClr val="00295F"/>
                          </a:solidFill>
                          <a:latin typeface="微软雅黑" panose="020B0503020204020204" charset="-122"/>
                          <a:ea typeface="微软雅黑" panose="020B0503020204020204" charset="-122"/>
                          <a:cs typeface="微软雅黑" panose="020B0503020204020204" charset="-122"/>
                        </a:rPr>
                        <a:t>客</a:t>
                      </a:r>
                      <a:r>
                        <a:rPr sz="1200" b="1" spc="-5" dirty="0">
                          <a:solidFill>
                            <a:srgbClr val="00295F"/>
                          </a:solidFill>
                          <a:latin typeface="微软雅黑" panose="020B0503020204020204" charset="-122"/>
                          <a:ea typeface="微软雅黑" panose="020B0503020204020204" charset="-122"/>
                          <a:cs typeface="微软雅黑" panose="020B0503020204020204" charset="-122"/>
                        </a:rPr>
                        <a:t>户</a:t>
                      </a:r>
                      <a:r>
                        <a:rPr sz="1200" b="1" spc="15" dirty="0">
                          <a:solidFill>
                            <a:srgbClr val="00295F"/>
                          </a:solidFill>
                          <a:latin typeface="微软雅黑" panose="020B0503020204020204" charset="-122"/>
                          <a:ea typeface="微软雅黑" panose="020B0503020204020204" charset="-122"/>
                          <a:cs typeface="微软雅黑" panose="020B0503020204020204" charset="-122"/>
                        </a:rPr>
                        <a:t> </a:t>
                      </a:r>
                      <a:r>
                        <a:rPr sz="1200" b="1" spc="-5" dirty="0">
                          <a:solidFill>
                            <a:srgbClr val="00295F"/>
                          </a:solidFill>
                          <a:latin typeface="微软雅黑" panose="020B0503020204020204" charset="-122"/>
                          <a:ea typeface="微软雅黑" panose="020B0503020204020204" charset="-122"/>
                          <a:cs typeface="微软雅黑" panose="020B0503020204020204" charset="-122"/>
                        </a:rPr>
                        <a:t>2</a:t>
                      </a:r>
                      <a:endParaRPr sz="1200">
                        <a:latin typeface="微软雅黑" panose="020B0503020204020204" charset="-122"/>
                        <a:ea typeface="微软雅黑" panose="020B0503020204020204" charset="-122"/>
                        <a:cs typeface="微软雅黑" panose="020B0503020204020204" charset="-122"/>
                      </a:endParaRPr>
                    </a:p>
                    <a:p>
                      <a:pPr marL="570230" indent="-192405">
                        <a:lnSpc>
                          <a:spcPct val="100000"/>
                        </a:lnSpc>
                        <a:spcBef>
                          <a:spcPts val="835"/>
                        </a:spcBef>
                        <a:buClr>
                          <a:srgbClr val="00295F"/>
                        </a:buClr>
                        <a:buSzPct val="125000"/>
                        <a:buChar char="▪"/>
                        <a:tabLst>
                          <a:tab pos="570865" algn="l"/>
                        </a:tabLst>
                      </a:pPr>
                      <a:r>
                        <a:rPr sz="1200" spc="-5" dirty="0">
                          <a:latin typeface="微软雅黑" panose="020B0503020204020204" charset="-122"/>
                          <a:ea typeface="微软雅黑" panose="020B0503020204020204" charset="-122"/>
                          <a:cs typeface="微软雅黑" panose="020B0503020204020204" charset="-122"/>
                        </a:rPr>
                        <a:t>90</a:t>
                      </a:r>
                      <a:r>
                        <a:rPr sz="1200" dirty="0">
                          <a:latin typeface="微软雅黑" panose="020B0503020204020204" charset="-122"/>
                          <a:ea typeface="微软雅黑" panose="020B0503020204020204" charset="-122"/>
                          <a:cs typeface="微软雅黑" panose="020B0503020204020204" charset="-122"/>
                        </a:rPr>
                        <a:t>天月结</a:t>
                      </a:r>
                      <a:endParaRPr sz="1200">
                        <a:latin typeface="微软雅黑" panose="020B0503020204020204" charset="-122"/>
                        <a:ea typeface="微软雅黑" panose="020B0503020204020204" charset="-122"/>
                        <a:cs typeface="微软雅黑" panose="020B0503020204020204" charset="-122"/>
                      </a:endParaRPr>
                    </a:p>
                    <a:p>
                      <a:pPr>
                        <a:lnSpc>
                          <a:spcPct val="100000"/>
                        </a:lnSpc>
                        <a:spcBef>
                          <a:spcPts val="15"/>
                        </a:spcBef>
                        <a:buClr>
                          <a:srgbClr val="00295F"/>
                        </a:buClr>
                        <a:buFont typeface="Arial" panose="020B0604020202020204"/>
                        <a:buChar char="▪"/>
                      </a:pPr>
                      <a:endParaRPr sz="2150">
                        <a:latin typeface="微软雅黑" panose="020B0503020204020204" charset="-122"/>
                        <a:ea typeface="微软雅黑" panose="020B0503020204020204" charset="-122"/>
                        <a:cs typeface="微软雅黑" panose="020B0503020204020204" charset="-122"/>
                      </a:endParaRPr>
                    </a:p>
                    <a:p>
                      <a:pPr marL="570230" indent="-192405">
                        <a:lnSpc>
                          <a:spcPct val="100000"/>
                        </a:lnSpc>
                        <a:buClr>
                          <a:srgbClr val="00295F"/>
                        </a:buClr>
                        <a:buSzPct val="125000"/>
                        <a:buFont typeface="Arial" panose="020B0604020202020204"/>
                        <a:buChar char="▪"/>
                        <a:tabLst>
                          <a:tab pos="570865" algn="l"/>
                        </a:tabLst>
                      </a:pPr>
                      <a:r>
                        <a:rPr sz="1200" dirty="0">
                          <a:latin typeface="微软雅黑" panose="020B0503020204020204" charset="-122"/>
                          <a:ea typeface="微软雅黑" panose="020B0503020204020204" charset="-122"/>
                          <a:cs typeface="微软雅黑" panose="020B0503020204020204" charset="-122"/>
                        </a:rPr>
                        <a:t>接受</a:t>
                      </a:r>
                      <a:r>
                        <a:rPr sz="1200" spc="-5" dirty="0">
                          <a:latin typeface="微软雅黑" panose="020B0503020204020204" charset="-122"/>
                          <a:ea typeface="微软雅黑" panose="020B0503020204020204" charset="-122"/>
                          <a:cs typeface="微软雅黑" panose="020B0503020204020204" charset="-122"/>
                        </a:rPr>
                        <a:t>3</a:t>
                      </a:r>
                      <a:r>
                        <a:rPr sz="1200" dirty="0">
                          <a:latin typeface="微软雅黑" panose="020B0503020204020204" charset="-122"/>
                          <a:ea typeface="微软雅黑" panose="020B0503020204020204" charset="-122"/>
                          <a:cs typeface="微软雅黑" panose="020B0503020204020204" charset="-122"/>
                        </a:rPr>
                        <a:t>年保证条款</a:t>
                      </a:r>
                      <a:endParaRPr sz="1200">
                        <a:latin typeface="微软雅黑" panose="020B0503020204020204" charset="-122"/>
                        <a:ea typeface="微软雅黑" panose="020B0503020204020204" charset="-122"/>
                        <a:cs typeface="微软雅黑" panose="020B0503020204020204" charset="-122"/>
                      </a:endParaRPr>
                    </a:p>
                    <a:p>
                      <a:pPr marL="570230" indent="-192405">
                        <a:lnSpc>
                          <a:spcPct val="100000"/>
                        </a:lnSpc>
                        <a:buClr>
                          <a:srgbClr val="00295F"/>
                        </a:buClr>
                        <a:buSzPct val="125000"/>
                        <a:buFont typeface="Arial" panose="020B0604020202020204"/>
                        <a:buChar char="▪"/>
                        <a:tabLst>
                          <a:tab pos="570865" algn="l"/>
                        </a:tabLst>
                      </a:pPr>
                      <a:r>
                        <a:rPr sz="1200" dirty="0">
                          <a:latin typeface="微软雅黑" panose="020B0503020204020204" charset="-122"/>
                          <a:ea typeface="微软雅黑" panose="020B0503020204020204" charset="-122"/>
                          <a:cs typeface="微软雅黑" panose="020B0503020204020204" charset="-122"/>
                        </a:rPr>
                        <a:t>财务风险无法预估</a:t>
                      </a:r>
                      <a:endParaRPr sz="1200">
                        <a:latin typeface="微软雅黑" panose="020B0503020204020204" charset="-122"/>
                        <a:ea typeface="微软雅黑" panose="020B0503020204020204" charset="-122"/>
                        <a:cs typeface="微软雅黑" panose="020B0503020204020204" charset="-122"/>
                      </a:endParaRPr>
                    </a:p>
                    <a:p>
                      <a:pPr marL="570230" indent="-192405">
                        <a:lnSpc>
                          <a:spcPct val="100000"/>
                        </a:lnSpc>
                        <a:spcBef>
                          <a:spcPts val="1060"/>
                        </a:spcBef>
                        <a:buClr>
                          <a:srgbClr val="00295F"/>
                        </a:buClr>
                        <a:buSzPct val="125000"/>
                        <a:buFont typeface="Arial" panose="020B0604020202020204"/>
                        <a:buChar char="▪"/>
                        <a:tabLst>
                          <a:tab pos="570865" algn="l"/>
                        </a:tabLst>
                      </a:pPr>
                      <a:r>
                        <a:rPr sz="1200" dirty="0">
                          <a:latin typeface="微软雅黑" panose="020B0503020204020204" charset="-122"/>
                          <a:ea typeface="微软雅黑" panose="020B0503020204020204" charset="-122"/>
                          <a:cs typeface="微软雅黑" panose="020B0503020204020204" charset="-122"/>
                        </a:rPr>
                        <a:t>附件中签署责任无限条款</a:t>
                      </a:r>
                      <a:endParaRPr sz="1200">
                        <a:latin typeface="微软雅黑" panose="020B0503020204020204" charset="-122"/>
                        <a:ea typeface="微软雅黑" panose="020B0503020204020204" charset="-122"/>
                        <a:cs typeface="微软雅黑" panose="020B0503020204020204" charset="-122"/>
                      </a:endParaRPr>
                    </a:p>
                    <a:p>
                      <a:pPr>
                        <a:lnSpc>
                          <a:spcPct val="100000"/>
                        </a:lnSpc>
                        <a:buClr>
                          <a:srgbClr val="00295F"/>
                        </a:buClr>
                        <a:buFont typeface="Arial" panose="020B0604020202020204"/>
                        <a:buChar char="▪"/>
                      </a:pPr>
                      <a:endParaRPr sz="1850">
                        <a:latin typeface="微软雅黑" panose="020B0503020204020204" charset="-122"/>
                        <a:ea typeface="微软雅黑" panose="020B0503020204020204" charset="-122"/>
                        <a:cs typeface="微软雅黑" panose="020B0503020204020204" charset="-122"/>
                      </a:endParaRPr>
                    </a:p>
                    <a:p>
                      <a:pPr marL="570230" marR="297815" indent="-192405" algn="just">
                        <a:lnSpc>
                          <a:spcPct val="100000"/>
                        </a:lnSpc>
                        <a:buClr>
                          <a:srgbClr val="00295F"/>
                        </a:buClr>
                        <a:buSzPct val="125000"/>
                        <a:buFont typeface="Arial" panose="020B0604020202020204"/>
                        <a:buChar char="▪"/>
                        <a:tabLst>
                          <a:tab pos="570865" algn="l"/>
                        </a:tabLst>
                      </a:pPr>
                      <a:r>
                        <a:rPr sz="1200" dirty="0">
                          <a:latin typeface="微软雅黑" panose="020B0503020204020204" charset="-122"/>
                          <a:ea typeface="微软雅黑" panose="020B0503020204020204" charset="-122"/>
                          <a:cs typeface="微软雅黑" panose="020B0503020204020204" charset="-122"/>
                        </a:rPr>
                        <a:t>知识产权不会自动转移给 客户供应商对自己的信息 保持独家拥有权</a:t>
                      </a:r>
                      <a:endParaRPr sz="1200">
                        <a:latin typeface="微软雅黑" panose="020B0503020204020204" charset="-122"/>
                        <a:ea typeface="微软雅黑" panose="020B0503020204020204" charset="-122"/>
                        <a:cs typeface="微软雅黑" panose="020B0503020204020204" charset="-122"/>
                      </a:endParaRPr>
                    </a:p>
                    <a:p>
                      <a:pPr marL="570230" marR="364490" indent="-192405" algn="just">
                        <a:lnSpc>
                          <a:spcPct val="100000"/>
                        </a:lnSpc>
                        <a:spcBef>
                          <a:spcPts val="795"/>
                        </a:spcBef>
                        <a:buClr>
                          <a:srgbClr val="00295F"/>
                        </a:buClr>
                        <a:buSzPct val="125000"/>
                        <a:buFont typeface="Arial" panose="020B0604020202020204"/>
                        <a:buChar char="▪"/>
                        <a:tabLst>
                          <a:tab pos="570865" algn="l"/>
                        </a:tabLst>
                      </a:pPr>
                      <a:r>
                        <a:rPr sz="1200" dirty="0">
                          <a:latin typeface="微软雅黑" panose="020B0503020204020204" charset="-122"/>
                          <a:ea typeface="微软雅黑" panose="020B0503020204020204" charset="-122"/>
                          <a:cs typeface="微软雅黑" panose="020B0503020204020204" charset="-122"/>
                        </a:rPr>
                        <a:t>如果供量改变</a:t>
                      </a:r>
                      <a:r>
                        <a:rPr sz="1200" spc="5" dirty="0">
                          <a:latin typeface="微软雅黑" panose="020B0503020204020204" charset="-122"/>
                          <a:ea typeface="微软雅黑" panose="020B0503020204020204" charset="-122"/>
                          <a:cs typeface="微软雅黑" panose="020B0503020204020204" charset="-122"/>
                        </a:rPr>
                        <a:t>8</a:t>
                      </a:r>
                      <a:r>
                        <a:rPr sz="1200" dirty="0">
                          <a:latin typeface="微软雅黑" panose="020B0503020204020204" charset="-122"/>
                          <a:ea typeface="微软雅黑" panose="020B0503020204020204" charset="-122"/>
                          <a:cs typeface="微软雅黑" panose="020B0503020204020204" charset="-122"/>
                        </a:rPr>
                        <a:t>％或供应 推迟</a:t>
                      </a:r>
                      <a:r>
                        <a:rPr sz="1200" spc="-5" dirty="0">
                          <a:latin typeface="微软雅黑" panose="020B0503020204020204" charset="-122"/>
                          <a:ea typeface="微软雅黑" panose="020B0503020204020204" charset="-122"/>
                          <a:cs typeface="微软雅黑" panose="020B0503020204020204" charset="-122"/>
                        </a:rPr>
                        <a:t>3</a:t>
                      </a:r>
                      <a:r>
                        <a:rPr sz="1200" dirty="0">
                          <a:latin typeface="微软雅黑" panose="020B0503020204020204" charset="-122"/>
                          <a:ea typeface="微软雅黑" panose="020B0503020204020204" charset="-122"/>
                          <a:cs typeface="微软雅黑" panose="020B0503020204020204" charset="-122"/>
                        </a:rPr>
                        <a:t>个月，可以谈判</a:t>
                      </a:r>
                      <a:endParaRPr sz="1200">
                        <a:latin typeface="微软雅黑" panose="020B0503020204020204" charset="-122"/>
                        <a:ea typeface="微软雅黑" panose="020B0503020204020204" charset="-122"/>
                        <a:cs typeface="微软雅黑" panose="020B0503020204020204" charset="-122"/>
                      </a:endParaRPr>
                    </a:p>
                    <a:p>
                      <a:pPr marL="570230" indent="-192405">
                        <a:lnSpc>
                          <a:spcPct val="100000"/>
                        </a:lnSpc>
                        <a:spcBef>
                          <a:spcPts val="920"/>
                        </a:spcBef>
                        <a:buClr>
                          <a:srgbClr val="00295F"/>
                        </a:buClr>
                        <a:buSzPct val="125000"/>
                        <a:buFont typeface="Arial" panose="020B0604020202020204"/>
                        <a:buChar char="▪"/>
                        <a:tabLst>
                          <a:tab pos="570865" algn="l"/>
                        </a:tabLst>
                      </a:pPr>
                      <a:r>
                        <a:rPr sz="1200" spc="-5" dirty="0">
                          <a:latin typeface="微软雅黑" panose="020B0503020204020204" charset="-122"/>
                          <a:ea typeface="微软雅黑" panose="020B0503020204020204" charset="-122"/>
                          <a:cs typeface="微软雅黑" panose="020B0503020204020204" charset="-122"/>
                        </a:rPr>
                        <a:t>价格</a:t>
                      </a:r>
                      <a:r>
                        <a:rPr sz="1200" dirty="0">
                          <a:latin typeface="微软雅黑" panose="020B0503020204020204" charset="-122"/>
                          <a:ea typeface="微软雅黑" panose="020B0503020204020204" charset="-122"/>
                          <a:cs typeface="微软雅黑" panose="020B0503020204020204" charset="-122"/>
                        </a:rPr>
                        <a:t>/</a:t>
                      </a:r>
                      <a:r>
                        <a:rPr sz="1200" spc="-5" dirty="0">
                          <a:latin typeface="微软雅黑" panose="020B0503020204020204" charset="-122"/>
                          <a:ea typeface="微软雅黑" panose="020B0503020204020204" charset="-122"/>
                          <a:cs typeface="微软雅黑" panose="020B0503020204020204" charset="-122"/>
                        </a:rPr>
                        <a:t>成本提高可以协商</a:t>
                      </a:r>
                      <a:endParaRPr sz="1200">
                        <a:latin typeface="微软雅黑" panose="020B0503020204020204" charset="-122"/>
                        <a:ea typeface="微软雅黑" panose="020B0503020204020204" charset="-122"/>
                        <a:cs typeface="微软雅黑" panose="020B0503020204020204" charset="-122"/>
                      </a:endParaRPr>
                    </a:p>
                    <a:p>
                      <a:pPr>
                        <a:lnSpc>
                          <a:spcPct val="100000"/>
                        </a:lnSpc>
                        <a:spcBef>
                          <a:spcPts val="30"/>
                        </a:spcBef>
                        <a:buClr>
                          <a:srgbClr val="00295F"/>
                        </a:buClr>
                        <a:buFont typeface="Arial" panose="020B0604020202020204"/>
                        <a:buChar char="▪"/>
                      </a:pPr>
                      <a:endParaRPr sz="1800">
                        <a:latin typeface="微软雅黑" panose="020B0503020204020204" charset="-122"/>
                        <a:ea typeface="微软雅黑" panose="020B0503020204020204" charset="-122"/>
                        <a:cs typeface="微软雅黑" panose="020B0503020204020204" charset="-122"/>
                      </a:endParaRPr>
                    </a:p>
                    <a:p>
                      <a:pPr marL="570230" marR="297815" indent="-192405">
                        <a:lnSpc>
                          <a:spcPct val="101000"/>
                        </a:lnSpc>
                        <a:buClr>
                          <a:srgbClr val="00295F"/>
                        </a:buClr>
                        <a:buSzPct val="125000"/>
                        <a:buFont typeface="Arial" panose="020B0604020202020204"/>
                        <a:buChar char="▪"/>
                        <a:tabLst>
                          <a:tab pos="570865" algn="l"/>
                        </a:tabLst>
                      </a:pPr>
                      <a:r>
                        <a:rPr sz="1200" dirty="0">
                          <a:latin typeface="微软雅黑" panose="020B0503020204020204" charset="-122"/>
                          <a:ea typeface="微软雅黑" panose="020B0503020204020204" charset="-122"/>
                          <a:cs typeface="微软雅黑" panose="020B0503020204020204" charset="-122"/>
                        </a:rPr>
                        <a:t>磨具费用转嫁到产品价格 之中</a:t>
                      </a:r>
                      <a:endParaRPr sz="1200">
                        <a:latin typeface="微软雅黑" panose="020B0503020204020204" charset="-122"/>
                        <a:ea typeface="微软雅黑" panose="020B0503020204020204" charset="-122"/>
                        <a:cs typeface="微软雅黑" panose="020B0503020204020204" charset="-122"/>
                      </a:endParaRPr>
                    </a:p>
                    <a:p>
                      <a:pPr marL="570230" indent="-192405">
                        <a:lnSpc>
                          <a:spcPct val="100000"/>
                        </a:lnSpc>
                        <a:buClr>
                          <a:srgbClr val="00295F"/>
                        </a:buClr>
                        <a:buSzPct val="125000"/>
                        <a:buFont typeface="Arial" panose="020B0604020202020204"/>
                        <a:buChar char="▪"/>
                        <a:tabLst>
                          <a:tab pos="570865" algn="l"/>
                        </a:tabLst>
                      </a:pPr>
                      <a:r>
                        <a:rPr sz="1200" spc="-5" dirty="0">
                          <a:latin typeface="微软雅黑" panose="020B0503020204020204" charset="-122"/>
                          <a:ea typeface="微软雅黑" panose="020B0503020204020204" charset="-122"/>
                          <a:cs typeface="微软雅黑" panose="020B0503020204020204" charset="-122"/>
                        </a:rPr>
                        <a:t>供应商对磨具保有拥有权</a:t>
                      </a:r>
                      <a:endParaRPr sz="1200">
                        <a:latin typeface="微软雅黑" panose="020B0503020204020204" charset="-122"/>
                        <a:ea typeface="微软雅黑" panose="020B0503020204020204" charset="-122"/>
                        <a:cs typeface="微软雅黑" panose="020B0503020204020204" charset="-122"/>
                      </a:endParaRPr>
                    </a:p>
                    <a:p>
                      <a:pPr marL="570230" indent="-192405">
                        <a:lnSpc>
                          <a:spcPct val="100000"/>
                        </a:lnSpc>
                        <a:spcBef>
                          <a:spcPts val="530"/>
                        </a:spcBef>
                        <a:buClr>
                          <a:srgbClr val="00295F"/>
                        </a:buClr>
                        <a:buSzPct val="125000"/>
                        <a:buFont typeface="Arial" panose="020B0604020202020204"/>
                        <a:buChar char="▪"/>
                        <a:tabLst>
                          <a:tab pos="570865" algn="l"/>
                        </a:tabLst>
                      </a:pPr>
                      <a:r>
                        <a:rPr sz="1200" spc="-5" dirty="0">
                          <a:latin typeface="微软雅黑" panose="020B0503020204020204" charset="-122"/>
                          <a:ea typeface="微软雅黑" panose="020B0503020204020204" charset="-122"/>
                          <a:cs typeface="微软雅黑" panose="020B0503020204020204" charset="-122"/>
                        </a:rPr>
                        <a:t>可以随时中止</a:t>
                      </a:r>
                      <a:endParaRPr sz="1200">
                        <a:latin typeface="微软雅黑" panose="020B0503020204020204" charset="-122"/>
                        <a:ea typeface="微软雅黑" panose="020B0503020204020204" charset="-122"/>
                        <a:cs typeface="微软雅黑" panose="020B0503020204020204" charset="-122"/>
                      </a:endParaRPr>
                    </a:p>
                    <a:p>
                      <a:pPr marL="394335" indent="-193040">
                        <a:lnSpc>
                          <a:spcPts val="1300"/>
                        </a:lnSpc>
                        <a:spcBef>
                          <a:spcPts val="1025"/>
                        </a:spcBef>
                        <a:buClr>
                          <a:srgbClr val="00295F"/>
                        </a:buClr>
                        <a:buSzPct val="125000"/>
                        <a:buFont typeface="Arial" panose="020B0604020202020204"/>
                        <a:buChar char="▪"/>
                        <a:tabLst>
                          <a:tab pos="394970" algn="l"/>
                        </a:tabLst>
                      </a:pPr>
                      <a:r>
                        <a:rPr sz="1200" dirty="0">
                          <a:latin typeface="微软雅黑" panose="020B0503020204020204" charset="-122"/>
                          <a:ea typeface="微软雅黑" panose="020B0503020204020204" charset="-122"/>
                          <a:cs typeface="微软雅黑" panose="020B0503020204020204" charset="-122"/>
                        </a:rPr>
                        <a:t>比较不同客户的条件与条款</a:t>
                      </a:r>
                      <a:endParaRPr sz="1200">
                        <a:latin typeface="微软雅黑" panose="020B0503020204020204" charset="-122"/>
                        <a:ea typeface="微软雅黑" panose="020B0503020204020204" charset="-122"/>
                        <a:cs typeface="微软雅黑" panose="020B0503020204020204" charset="-122"/>
                      </a:endParaRPr>
                    </a:p>
                  </a:txBody>
                  <a:tcPr marL="0" marR="0" marT="109777" marB="0">
                    <a:lnB w="19050">
                      <a:solidFill>
                        <a:srgbClr val="C6DFFA"/>
                      </a:solidFill>
                      <a:prstDash val="solid"/>
                    </a:lnB>
                  </a:tcPr>
                </a:tc>
                <a:tc>
                  <a:txBody>
                    <a:bodyPr/>
                    <a:lstStyle/>
                    <a:p>
                      <a:pPr marL="305435">
                        <a:lnSpc>
                          <a:spcPct val="100000"/>
                        </a:lnSpc>
                        <a:spcBef>
                          <a:spcPts val="865"/>
                        </a:spcBef>
                      </a:pPr>
                      <a:r>
                        <a:rPr sz="1200" b="1" spc="5" dirty="0">
                          <a:solidFill>
                            <a:srgbClr val="00295F"/>
                          </a:solidFill>
                          <a:latin typeface="微软雅黑" panose="020B0503020204020204" charset="-122"/>
                          <a:ea typeface="微软雅黑" panose="020B0503020204020204" charset="-122"/>
                          <a:cs typeface="微软雅黑" panose="020B0503020204020204" charset="-122"/>
                        </a:rPr>
                        <a:t>客</a:t>
                      </a:r>
                      <a:r>
                        <a:rPr sz="1200" b="1" spc="-5" dirty="0">
                          <a:solidFill>
                            <a:srgbClr val="00295F"/>
                          </a:solidFill>
                          <a:latin typeface="微软雅黑" panose="020B0503020204020204" charset="-122"/>
                          <a:ea typeface="微软雅黑" panose="020B0503020204020204" charset="-122"/>
                          <a:cs typeface="微软雅黑" panose="020B0503020204020204" charset="-122"/>
                        </a:rPr>
                        <a:t>户</a:t>
                      </a:r>
                      <a:r>
                        <a:rPr sz="1200" b="1" spc="15" dirty="0">
                          <a:solidFill>
                            <a:srgbClr val="00295F"/>
                          </a:solidFill>
                          <a:latin typeface="微软雅黑" panose="020B0503020204020204" charset="-122"/>
                          <a:ea typeface="微软雅黑" panose="020B0503020204020204" charset="-122"/>
                          <a:cs typeface="微软雅黑" panose="020B0503020204020204" charset="-122"/>
                        </a:rPr>
                        <a:t> </a:t>
                      </a:r>
                      <a:r>
                        <a:rPr sz="1200" b="1" spc="-5" dirty="0">
                          <a:solidFill>
                            <a:srgbClr val="00295F"/>
                          </a:solidFill>
                          <a:latin typeface="微软雅黑" panose="020B0503020204020204" charset="-122"/>
                          <a:ea typeface="微软雅黑" panose="020B0503020204020204" charset="-122"/>
                          <a:cs typeface="微软雅黑" panose="020B0503020204020204" charset="-122"/>
                        </a:rPr>
                        <a:t>3</a:t>
                      </a:r>
                      <a:endParaRPr sz="1200">
                        <a:latin typeface="微软雅黑" panose="020B0503020204020204" charset="-122"/>
                        <a:ea typeface="微软雅黑" panose="020B0503020204020204" charset="-122"/>
                        <a:cs typeface="微软雅黑" panose="020B0503020204020204" charset="-122"/>
                      </a:endParaRPr>
                    </a:p>
                    <a:p>
                      <a:pPr marL="499110" indent="-193040">
                        <a:lnSpc>
                          <a:spcPct val="100000"/>
                        </a:lnSpc>
                        <a:spcBef>
                          <a:spcPts val="835"/>
                        </a:spcBef>
                        <a:buClr>
                          <a:srgbClr val="00295F"/>
                        </a:buClr>
                        <a:buSzPct val="125000"/>
                        <a:buChar char="▪"/>
                        <a:tabLst>
                          <a:tab pos="499745" algn="l"/>
                        </a:tabLst>
                      </a:pPr>
                      <a:r>
                        <a:rPr sz="1200" spc="-5" dirty="0">
                          <a:latin typeface="微软雅黑" panose="020B0503020204020204" charset="-122"/>
                          <a:ea typeface="微软雅黑" panose="020B0503020204020204" charset="-122"/>
                          <a:cs typeface="微软雅黑" panose="020B0503020204020204" charset="-122"/>
                        </a:rPr>
                        <a:t>30</a:t>
                      </a:r>
                      <a:r>
                        <a:rPr sz="1200" dirty="0">
                          <a:latin typeface="微软雅黑" panose="020B0503020204020204" charset="-122"/>
                          <a:ea typeface="微软雅黑" panose="020B0503020204020204" charset="-122"/>
                          <a:cs typeface="微软雅黑" panose="020B0503020204020204" charset="-122"/>
                        </a:rPr>
                        <a:t>天月结</a:t>
                      </a:r>
                      <a:endParaRPr sz="1200">
                        <a:latin typeface="微软雅黑" panose="020B0503020204020204" charset="-122"/>
                        <a:ea typeface="微软雅黑" panose="020B0503020204020204" charset="-122"/>
                        <a:cs typeface="微软雅黑" panose="020B0503020204020204" charset="-122"/>
                      </a:endParaRPr>
                    </a:p>
                    <a:p>
                      <a:pPr>
                        <a:lnSpc>
                          <a:spcPct val="100000"/>
                        </a:lnSpc>
                        <a:spcBef>
                          <a:spcPts val="15"/>
                        </a:spcBef>
                        <a:buClr>
                          <a:srgbClr val="00295F"/>
                        </a:buClr>
                        <a:buFont typeface="Arial" panose="020B0604020202020204"/>
                        <a:buChar char="▪"/>
                      </a:pPr>
                      <a:endParaRPr sz="2150">
                        <a:latin typeface="微软雅黑" panose="020B0503020204020204" charset="-122"/>
                        <a:ea typeface="微软雅黑" panose="020B0503020204020204" charset="-122"/>
                        <a:cs typeface="微软雅黑" panose="020B0503020204020204" charset="-122"/>
                      </a:endParaRPr>
                    </a:p>
                    <a:p>
                      <a:pPr marL="499110" indent="-193040">
                        <a:lnSpc>
                          <a:spcPct val="100000"/>
                        </a:lnSpc>
                        <a:buClr>
                          <a:srgbClr val="00295F"/>
                        </a:buClr>
                        <a:buSzPct val="125000"/>
                        <a:buFont typeface="Arial" panose="020B0604020202020204"/>
                        <a:buChar char="▪"/>
                        <a:tabLst>
                          <a:tab pos="499745" algn="l"/>
                        </a:tabLst>
                      </a:pPr>
                      <a:r>
                        <a:rPr sz="1200" dirty="0">
                          <a:latin typeface="微软雅黑" panose="020B0503020204020204" charset="-122"/>
                          <a:ea typeface="微软雅黑" panose="020B0503020204020204" charset="-122"/>
                          <a:cs typeface="微软雅黑" panose="020B0503020204020204" charset="-122"/>
                        </a:rPr>
                        <a:t>无限制财务风险</a:t>
                      </a:r>
                      <a:endParaRPr sz="1200">
                        <a:latin typeface="微软雅黑" panose="020B0503020204020204" charset="-122"/>
                        <a:ea typeface="微软雅黑" panose="020B0503020204020204" charset="-122"/>
                        <a:cs typeface="微软雅黑" panose="020B0503020204020204" charset="-122"/>
                      </a:endParaRPr>
                    </a:p>
                    <a:p>
                      <a:pPr>
                        <a:lnSpc>
                          <a:spcPct val="100000"/>
                        </a:lnSpc>
                        <a:spcBef>
                          <a:spcPts val="25"/>
                        </a:spcBef>
                        <a:buClr>
                          <a:srgbClr val="00295F"/>
                        </a:buClr>
                        <a:buFont typeface="Arial" panose="020B0604020202020204"/>
                        <a:buChar char="▪"/>
                      </a:pPr>
                      <a:endParaRPr sz="2150">
                        <a:latin typeface="微软雅黑" panose="020B0503020204020204" charset="-122"/>
                        <a:ea typeface="微软雅黑" panose="020B0503020204020204" charset="-122"/>
                        <a:cs typeface="微软雅黑" panose="020B0503020204020204" charset="-122"/>
                      </a:endParaRPr>
                    </a:p>
                    <a:p>
                      <a:pPr marL="499110" indent="-193040">
                        <a:lnSpc>
                          <a:spcPct val="100000"/>
                        </a:lnSpc>
                        <a:buClr>
                          <a:srgbClr val="00295F"/>
                        </a:buClr>
                        <a:buSzPct val="125000"/>
                        <a:buFont typeface="Arial" panose="020B0604020202020204"/>
                        <a:buChar char="▪"/>
                        <a:tabLst>
                          <a:tab pos="499745" algn="l"/>
                        </a:tabLst>
                      </a:pPr>
                      <a:r>
                        <a:rPr sz="1200" dirty="0">
                          <a:latin typeface="微软雅黑" panose="020B0503020204020204" charset="-122"/>
                          <a:ea typeface="微软雅黑" panose="020B0503020204020204" charset="-122"/>
                          <a:cs typeface="微软雅黑" panose="020B0503020204020204" charset="-122"/>
                        </a:rPr>
                        <a:t>无限制财务风险</a:t>
                      </a:r>
                      <a:endParaRPr sz="1200">
                        <a:latin typeface="微软雅黑" panose="020B0503020204020204" charset="-122"/>
                        <a:ea typeface="微软雅黑" panose="020B0503020204020204" charset="-122"/>
                        <a:cs typeface="微软雅黑" panose="020B0503020204020204" charset="-122"/>
                      </a:endParaRPr>
                    </a:p>
                    <a:p>
                      <a:pPr>
                        <a:lnSpc>
                          <a:spcPct val="100000"/>
                        </a:lnSpc>
                        <a:buClr>
                          <a:srgbClr val="00295F"/>
                        </a:buClr>
                        <a:buFont typeface="Arial" panose="020B0604020202020204"/>
                        <a:buChar char="▪"/>
                      </a:pPr>
                      <a:endParaRPr sz="1850">
                        <a:latin typeface="微软雅黑" panose="020B0503020204020204" charset="-122"/>
                        <a:ea typeface="微软雅黑" panose="020B0503020204020204" charset="-122"/>
                        <a:cs typeface="微软雅黑" panose="020B0503020204020204" charset="-122"/>
                      </a:endParaRPr>
                    </a:p>
                    <a:p>
                      <a:pPr marL="499110" marR="600710" indent="-192405">
                        <a:lnSpc>
                          <a:spcPct val="101000"/>
                        </a:lnSpc>
                        <a:buClr>
                          <a:srgbClr val="00295F"/>
                        </a:buClr>
                        <a:buSzPct val="125000"/>
                        <a:buFont typeface="Arial" panose="020B0604020202020204"/>
                        <a:buChar char="▪"/>
                        <a:tabLst>
                          <a:tab pos="499745" algn="l"/>
                        </a:tabLst>
                      </a:pPr>
                      <a:r>
                        <a:rPr sz="1200" dirty="0">
                          <a:latin typeface="微软雅黑" panose="020B0503020204020204" charset="-122"/>
                          <a:ea typeface="微软雅黑" panose="020B0503020204020204" charset="-122"/>
                          <a:cs typeface="微软雅黑" panose="020B0503020204020204" charset="-122"/>
                        </a:rPr>
                        <a:t>前景权利转让给客户， 背景许可需谈判</a:t>
                      </a:r>
                      <a:endParaRPr sz="1200">
                        <a:latin typeface="微软雅黑" panose="020B0503020204020204" charset="-122"/>
                        <a:ea typeface="微软雅黑" panose="020B0503020204020204" charset="-122"/>
                        <a:cs typeface="微软雅黑" panose="020B0503020204020204" charset="-122"/>
                      </a:endParaRPr>
                    </a:p>
                    <a:p>
                      <a:pPr>
                        <a:lnSpc>
                          <a:spcPct val="100000"/>
                        </a:lnSpc>
                        <a:spcBef>
                          <a:spcPts val="25"/>
                        </a:spcBef>
                        <a:buClr>
                          <a:srgbClr val="00295F"/>
                        </a:buClr>
                        <a:buFont typeface="Arial" panose="020B0604020202020204"/>
                        <a:buChar char="▪"/>
                      </a:pPr>
                      <a:endParaRPr sz="1900">
                        <a:latin typeface="微软雅黑" panose="020B0503020204020204" charset="-122"/>
                        <a:ea typeface="微软雅黑" panose="020B0503020204020204" charset="-122"/>
                        <a:cs typeface="微软雅黑" panose="020B0503020204020204" charset="-122"/>
                      </a:endParaRPr>
                    </a:p>
                    <a:p>
                      <a:pPr marL="499110" marR="600710" indent="-192405">
                        <a:lnSpc>
                          <a:spcPct val="101000"/>
                        </a:lnSpc>
                        <a:buClr>
                          <a:srgbClr val="00295F"/>
                        </a:buClr>
                        <a:buSzPct val="125000"/>
                        <a:buFont typeface="Arial" panose="020B0604020202020204"/>
                        <a:buChar char="▪"/>
                        <a:tabLst>
                          <a:tab pos="499745" algn="l"/>
                        </a:tabLst>
                      </a:pPr>
                      <a:r>
                        <a:rPr sz="1200" dirty="0">
                          <a:latin typeface="微软雅黑" panose="020B0503020204020204" charset="-122"/>
                          <a:ea typeface="微软雅黑" panose="020B0503020204020204" charset="-122"/>
                          <a:cs typeface="微软雅黑" panose="020B0503020204020204" charset="-122"/>
                        </a:rPr>
                        <a:t>对产量降低的补偿可以 谈判</a:t>
                      </a:r>
                      <a:endParaRPr sz="1200">
                        <a:latin typeface="微软雅黑" panose="020B0503020204020204" charset="-122"/>
                        <a:ea typeface="微软雅黑" panose="020B0503020204020204" charset="-122"/>
                        <a:cs typeface="微软雅黑" panose="020B0503020204020204" charset="-122"/>
                      </a:endParaRPr>
                    </a:p>
                    <a:p>
                      <a:pPr marL="499110" indent="-193040">
                        <a:lnSpc>
                          <a:spcPct val="100000"/>
                        </a:lnSpc>
                        <a:spcBef>
                          <a:spcPts val="905"/>
                        </a:spcBef>
                        <a:buClr>
                          <a:srgbClr val="00295F"/>
                        </a:buClr>
                        <a:buSzPct val="125000"/>
                        <a:buFont typeface="Arial" panose="020B0604020202020204"/>
                        <a:buChar char="▪"/>
                        <a:tabLst>
                          <a:tab pos="499745" algn="l"/>
                        </a:tabLst>
                      </a:pPr>
                      <a:r>
                        <a:rPr sz="1200" spc="-5" dirty="0">
                          <a:latin typeface="微软雅黑" panose="020B0503020204020204" charset="-122"/>
                          <a:ea typeface="微软雅黑" panose="020B0503020204020204" charset="-122"/>
                          <a:cs typeface="微软雅黑" panose="020B0503020204020204" charset="-122"/>
                        </a:rPr>
                        <a:t>串行价格，包装需要字</a:t>
                      </a:r>
                      <a:endParaRPr sz="1200">
                        <a:latin typeface="微软雅黑" panose="020B0503020204020204" charset="-122"/>
                        <a:ea typeface="微软雅黑" panose="020B0503020204020204" charset="-122"/>
                        <a:cs typeface="微软雅黑" panose="020B0503020204020204" charset="-122"/>
                      </a:endParaRPr>
                    </a:p>
                    <a:p>
                      <a:pPr marL="499110">
                        <a:lnSpc>
                          <a:spcPct val="100000"/>
                        </a:lnSpc>
                        <a:spcBef>
                          <a:spcPts val="15"/>
                        </a:spcBef>
                      </a:pPr>
                      <a:r>
                        <a:rPr sz="1200" dirty="0">
                          <a:latin typeface="微软雅黑" panose="020B0503020204020204" charset="-122"/>
                          <a:ea typeface="微软雅黑" panose="020B0503020204020204" charset="-122"/>
                          <a:cs typeface="微软雅黑" panose="020B0503020204020204" charset="-122"/>
                        </a:rPr>
                        <a:t>符额外费用</a:t>
                      </a:r>
                      <a:endParaRPr sz="1200">
                        <a:latin typeface="微软雅黑" panose="020B0503020204020204" charset="-122"/>
                        <a:ea typeface="微软雅黑" panose="020B0503020204020204" charset="-122"/>
                        <a:cs typeface="微软雅黑" panose="020B0503020204020204" charset="-122"/>
                      </a:endParaRPr>
                    </a:p>
                    <a:p>
                      <a:pPr marL="499110" marR="600710" indent="-192405">
                        <a:lnSpc>
                          <a:spcPct val="101000"/>
                        </a:lnSpc>
                        <a:spcBef>
                          <a:spcPts val="660"/>
                        </a:spcBef>
                        <a:buClr>
                          <a:srgbClr val="00295F"/>
                        </a:buClr>
                        <a:buSzPct val="125000"/>
                        <a:buFont typeface="Arial" panose="020B0604020202020204"/>
                        <a:buChar char="▪"/>
                        <a:tabLst>
                          <a:tab pos="499745" algn="l"/>
                        </a:tabLst>
                      </a:pPr>
                      <a:r>
                        <a:rPr sz="1200" dirty="0">
                          <a:latin typeface="微软雅黑" panose="020B0503020204020204" charset="-122"/>
                          <a:ea typeface="微软雅黑" panose="020B0503020204020204" charset="-122"/>
                          <a:cs typeface="微软雅黑" panose="020B0503020204020204" charset="-122"/>
                        </a:rPr>
                        <a:t>在现金付款之后，拥有 权转给代工工厂</a:t>
                      </a:r>
                      <a:endParaRPr sz="1200">
                        <a:latin typeface="微软雅黑" panose="020B0503020204020204" charset="-122"/>
                        <a:ea typeface="微软雅黑" panose="020B0503020204020204" charset="-122"/>
                        <a:cs typeface="微软雅黑" panose="020B0503020204020204" charset="-122"/>
                      </a:endParaRPr>
                    </a:p>
                    <a:p>
                      <a:pPr>
                        <a:lnSpc>
                          <a:spcPct val="100000"/>
                        </a:lnSpc>
                        <a:spcBef>
                          <a:spcPts val="15"/>
                        </a:spcBef>
                        <a:buClr>
                          <a:srgbClr val="00295F"/>
                        </a:buClr>
                        <a:buFont typeface="Arial" panose="020B0604020202020204"/>
                        <a:buChar char="▪"/>
                      </a:pPr>
                      <a:endParaRPr sz="1700">
                        <a:latin typeface="微软雅黑" panose="020B0503020204020204" charset="-122"/>
                        <a:ea typeface="微软雅黑" panose="020B0503020204020204" charset="-122"/>
                        <a:cs typeface="微软雅黑" panose="020B0503020204020204" charset="-122"/>
                      </a:endParaRPr>
                    </a:p>
                    <a:p>
                      <a:pPr marL="499110" indent="-193040">
                        <a:lnSpc>
                          <a:spcPct val="100000"/>
                        </a:lnSpc>
                        <a:buClr>
                          <a:srgbClr val="00295F"/>
                        </a:buClr>
                        <a:buSzPct val="125000"/>
                        <a:buFont typeface="Arial" panose="020B0604020202020204"/>
                        <a:buChar char="▪"/>
                        <a:tabLst>
                          <a:tab pos="499745" algn="l"/>
                        </a:tabLst>
                      </a:pPr>
                      <a:r>
                        <a:rPr sz="1200" spc="-5" dirty="0">
                          <a:latin typeface="微软雅黑" panose="020B0503020204020204" charset="-122"/>
                          <a:ea typeface="微软雅黑" panose="020B0503020204020204" charset="-122"/>
                          <a:cs typeface="微软雅黑" panose="020B0503020204020204" charset="-122"/>
                        </a:rPr>
                        <a:t>可以随时中止</a:t>
                      </a:r>
                      <a:endParaRPr sz="1200">
                        <a:latin typeface="微软雅黑" panose="020B0503020204020204" charset="-122"/>
                        <a:ea typeface="微软雅黑" panose="020B0503020204020204" charset="-122"/>
                        <a:cs typeface="微软雅黑" panose="020B0503020204020204" charset="-122"/>
                      </a:endParaRPr>
                    </a:p>
                  </a:txBody>
                  <a:tcPr marL="0" marR="0" marT="109777" marB="0">
                    <a:lnR w="19050">
                      <a:solidFill>
                        <a:srgbClr val="C6DFFA"/>
                      </a:solidFill>
                      <a:prstDash val="solid"/>
                    </a:lnR>
                    <a:lnB w="19050">
                      <a:solidFill>
                        <a:srgbClr val="C6DFFA"/>
                      </a:solidFill>
                      <a:prstDash val="solid"/>
                    </a:lnB>
                  </a:tcPr>
                </a:tc>
              </a:tr>
            </a:tbl>
          </a:graphicData>
        </a:graphic>
      </p:graphicFrame>
      <p:sp>
        <p:nvSpPr>
          <p:cNvPr id="55" name="object 55"/>
          <p:cNvSpPr txBox="1"/>
          <p:nvPr/>
        </p:nvSpPr>
        <p:spPr>
          <a:xfrm>
            <a:off x="106401" y="6412696"/>
            <a:ext cx="1416316"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资料来源：匿名客户案例</a:t>
            </a:r>
            <a:endParaRPr sz="1000" spc="-1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401" y="203088"/>
            <a:ext cx="4367610"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领先的公司</a:t>
            </a:r>
            <a:r>
              <a:rPr spc="-10" dirty="0">
                <a:ea typeface="微软雅黑" panose="020B0503020204020204" charset="-122"/>
              </a:rPr>
              <a:t>将业</a:t>
            </a:r>
            <a:r>
              <a:rPr spc="-5" dirty="0">
                <a:ea typeface="微软雅黑" panose="020B0503020204020204" charset="-122"/>
              </a:rPr>
              <a:t>绩</a:t>
            </a:r>
            <a:r>
              <a:rPr spc="-10" dirty="0">
                <a:ea typeface="微软雅黑" panose="020B0503020204020204" charset="-122"/>
              </a:rPr>
              <a:t>对话</a:t>
            </a:r>
            <a:r>
              <a:rPr spc="-5" dirty="0">
                <a:ea typeface="微软雅黑" panose="020B0503020204020204" charset="-122"/>
              </a:rPr>
              <a:t>植</a:t>
            </a:r>
            <a:r>
              <a:rPr spc="-10" dirty="0">
                <a:ea typeface="微软雅黑" panose="020B0503020204020204" charset="-122"/>
              </a:rPr>
              <a:t>入核</a:t>
            </a:r>
            <a:r>
              <a:rPr spc="-5" dirty="0">
                <a:ea typeface="微软雅黑" panose="020B0503020204020204" charset="-122"/>
              </a:rPr>
              <a:t>心</a:t>
            </a:r>
            <a:r>
              <a:rPr spc="-10" dirty="0">
                <a:ea typeface="微软雅黑" panose="020B0503020204020204" charset="-122"/>
              </a:rPr>
              <a:t>管理</a:t>
            </a:r>
            <a:r>
              <a:rPr spc="-5" dirty="0">
                <a:ea typeface="微软雅黑" panose="020B0503020204020204" charset="-122"/>
              </a:rPr>
              <a:t>流</a:t>
            </a:r>
            <a:r>
              <a:rPr spc="-10" dirty="0">
                <a:ea typeface="微软雅黑" panose="020B0503020204020204" charset="-122"/>
              </a:rPr>
              <a:t>程</a:t>
            </a:r>
            <a:endParaRPr spc="-10" dirty="0">
              <a:ea typeface="微软雅黑" panose="020B0503020204020204" charset="-122"/>
            </a:endParaRPr>
          </a:p>
        </p:txBody>
      </p:sp>
      <p:sp>
        <p:nvSpPr>
          <p:cNvPr id="4" name="object 4"/>
          <p:cNvSpPr/>
          <p:nvPr/>
        </p:nvSpPr>
        <p:spPr>
          <a:xfrm>
            <a:off x="118787" y="810988"/>
            <a:ext cx="8617193" cy="318544"/>
          </a:xfrm>
          <a:custGeom>
            <a:avLst/>
            <a:gdLst/>
            <a:ahLst/>
            <a:cxnLst/>
            <a:rect l="l" t="t" r="r" b="b"/>
            <a:pathLst>
              <a:path w="8623300" h="318769">
                <a:moveTo>
                  <a:pt x="0" y="318515"/>
                </a:moveTo>
                <a:lnTo>
                  <a:pt x="8622792" y="318515"/>
                </a:lnTo>
                <a:lnTo>
                  <a:pt x="8622792" y="0"/>
                </a:lnTo>
                <a:lnTo>
                  <a:pt x="0" y="0"/>
                </a:lnTo>
                <a:lnTo>
                  <a:pt x="0" y="318515"/>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txBox="1"/>
          <p:nvPr/>
        </p:nvSpPr>
        <p:spPr>
          <a:xfrm>
            <a:off x="178283" y="845761"/>
            <a:ext cx="1857329" cy="196215"/>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业绩对</a:t>
            </a:r>
            <a:r>
              <a:rPr sz="1200" b="1" spc="-5" dirty="0">
                <a:latin typeface="微软雅黑" panose="020B0503020204020204" charset="-122"/>
                <a:ea typeface="微软雅黑" panose="020B0503020204020204" charset="-122"/>
                <a:cs typeface="微软雅黑" panose="020B0503020204020204" charset="-122"/>
              </a:rPr>
              <a:t>话贯穿核心管理流程</a:t>
            </a:r>
            <a:endParaRPr sz="1200">
              <a:latin typeface="微软雅黑" panose="020B0503020204020204" charset="-122"/>
              <a:ea typeface="微软雅黑" panose="020B0503020204020204" charset="-122"/>
              <a:cs typeface="微软雅黑" panose="020B0503020204020204" charset="-122"/>
            </a:endParaRPr>
          </a:p>
        </p:txBody>
      </p:sp>
      <p:sp>
        <p:nvSpPr>
          <p:cNvPr id="6" name="object 6"/>
          <p:cNvSpPr/>
          <p:nvPr/>
        </p:nvSpPr>
        <p:spPr>
          <a:xfrm>
            <a:off x="1410225" y="1160625"/>
            <a:ext cx="6737655" cy="4432968"/>
          </a:xfrm>
          <a:custGeom>
            <a:avLst/>
            <a:gdLst/>
            <a:ahLst/>
            <a:cxnLst/>
            <a:rect l="l" t="t" r="r" b="b"/>
            <a:pathLst>
              <a:path w="6742430" h="4436110">
                <a:moveTo>
                  <a:pt x="5946902" y="0"/>
                </a:moveTo>
                <a:lnTo>
                  <a:pt x="6049009" y="181101"/>
                </a:lnTo>
                <a:lnTo>
                  <a:pt x="0" y="3590798"/>
                </a:lnTo>
                <a:lnTo>
                  <a:pt x="476376" y="4435881"/>
                </a:lnTo>
                <a:lnTo>
                  <a:pt x="6525386" y="1026160"/>
                </a:lnTo>
                <a:lnTo>
                  <a:pt x="6651539" y="1026160"/>
                </a:lnTo>
                <a:lnTo>
                  <a:pt x="6742176" y="347090"/>
                </a:lnTo>
                <a:lnTo>
                  <a:pt x="5946902" y="0"/>
                </a:lnTo>
                <a:close/>
              </a:path>
              <a:path w="6742430" h="4436110">
                <a:moveTo>
                  <a:pt x="6651539" y="1026160"/>
                </a:moveTo>
                <a:lnTo>
                  <a:pt x="6525386" y="1026160"/>
                </a:lnTo>
                <a:lnTo>
                  <a:pt x="6627368" y="1207262"/>
                </a:lnTo>
                <a:lnTo>
                  <a:pt x="6651539" y="102616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1662267" y="1818400"/>
            <a:ext cx="6114527" cy="3286970"/>
          </a:xfrm>
          <a:custGeom>
            <a:avLst/>
            <a:gdLst/>
            <a:ahLst/>
            <a:cxnLst/>
            <a:rect l="l" t="t" r="r" b="b"/>
            <a:pathLst>
              <a:path w="6118859" h="3289300">
                <a:moveTo>
                  <a:pt x="0" y="3288791"/>
                </a:moveTo>
                <a:lnTo>
                  <a:pt x="6118859" y="3288791"/>
                </a:lnTo>
                <a:lnTo>
                  <a:pt x="6118859" y="0"/>
                </a:lnTo>
                <a:lnTo>
                  <a:pt x="0" y="0"/>
                </a:lnTo>
                <a:lnTo>
                  <a:pt x="0" y="3288791"/>
                </a:lnTo>
                <a:close/>
              </a:path>
            </a:pathLst>
          </a:custGeom>
          <a:ln w="28575">
            <a:solidFill>
              <a:srgbClr val="808080"/>
            </a:solidFill>
            <a:prstDash val="dot"/>
          </a:ln>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5232755" y="4002268"/>
            <a:ext cx="2544547" cy="0"/>
          </a:xfrm>
          <a:custGeom>
            <a:avLst/>
            <a:gdLst/>
            <a:ahLst/>
            <a:cxnLst/>
            <a:rect l="l" t="t" r="r" b="b"/>
            <a:pathLst>
              <a:path w="2546350">
                <a:moveTo>
                  <a:pt x="0" y="0"/>
                </a:moveTo>
                <a:lnTo>
                  <a:pt x="2545841" y="0"/>
                </a:lnTo>
              </a:path>
            </a:pathLst>
          </a:custGeom>
          <a:ln w="28575">
            <a:solidFill>
              <a:srgbClr val="808080"/>
            </a:solidFill>
            <a:prstDash val="dot"/>
          </a:ln>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4006804" y="4002268"/>
            <a:ext cx="223995" cy="0"/>
          </a:xfrm>
          <a:custGeom>
            <a:avLst/>
            <a:gdLst/>
            <a:ahLst/>
            <a:cxnLst/>
            <a:rect l="l" t="t" r="r" b="b"/>
            <a:pathLst>
              <a:path w="224154">
                <a:moveTo>
                  <a:pt x="0" y="0"/>
                </a:moveTo>
                <a:lnTo>
                  <a:pt x="224028" y="0"/>
                </a:lnTo>
              </a:path>
            </a:pathLst>
          </a:custGeom>
          <a:ln w="28575">
            <a:solidFill>
              <a:srgbClr val="808080"/>
            </a:solidFill>
            <a:prstDash val="dot"/>
          </a:ln>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1662267" y="4002268"/>
            <a:ext cx="1342708" cy="0"/>
          </a:xfrm>
          <a:custGeom>
            <a:avLst/>
            <a:gdLst/>
            <a:ahLst/>
            <a:cxnLst/>
            <a:rect l="l" t="t" r="r" b="b"/>
            <a:pathLst>
              <a:path w="1343660">
                <a:moveTo>
                  <a:pt x="0" y="0"/>
                </a:moveTo>
                <a:lnTo>
                  <a:pt x="1343406" y="0"/>
                </a:lnTo>
              </a:path>
            </a:pathLst>
          </a:custGeom>
          <a:ln w="28575">
            <a:solidFill>
              <a:srgbClr val="808080"/>
            </a:solidFill>
            <a:prstDash val="dot"/>
          </a:ln>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7663337" y="2920994"/>
            <a:ext cx="113584" cy="0"/>
          </a:xfrm>
          <a:custGeom>
            <a:avLst/>
            <a:gdLst/>
            <a:ahLst/>
            <a:cxnLst/>
            <a:rect l="l" t="t" r="r" b="b"/>
            <a:pathLst>
              <a:path w="113665">
                <a:moveTo>
                  <a:pt x="0" y="0"/>
                </a:moveTo>
                <a:lnTo>
                  <a:pt x="113537" y="0"/>
                </a:lnTo>
              </a:path>
            </a:pathLst>
          </a:custGeom>
          <a:ln w="28575">
            <a:solidFill>
              <a:srgbClr val="808080"/>
            </a:solidFill>
            <a:prstDash val="dot"/>
          </a:ln>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6463274" y="2920994"/>
            <a:ext cx="196711" cy="0"/>
          </a:xfrm>
          <a:custGeom>
            <a:avLst/>
            <a:gdLst/>
            <a:ahLst/>
            <a:cxnLst/>
            <a:rect l="l" t="t" r="r" b="b"/>
            <a:pathLst>
              <a:path w="196850">
                <a:moveTo>
                  <a:pt x="0" y="0"/>
                </a:moveTo>
                <a:lnTo>
                  <a:pt x="196596" y="0"/>
                </a:lnTo>
              </a:path>
            </a:pathLst>
          </a:custGeom>
          <a:ln w="28575">
            <a:solidFill>
              <a:srgbClr val="808080"/>
            </a:solidFill>
            <a:prstDash val="dot"/>
          </a:ln>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5232755" y="2920994"/>
            <a:ext cx="223995" cy="0"/>
          </a:xfrm>
          <a:custGeom>
            <a:avLst/>
            <a:gdLst/>
            <a:ahLst/>
            <a:cxnLst/>
            <a:rect l="l" t="t" r="r" b="b"/>
            <a:pathLst>
              <a:path w="224154">
                <a:moveTo>
                  <a:pt x="0" y="0"/>
                </a:moveTo>
                <a:lnTo>
                  <a:pt x="224027" y="0"/>
                </a:lnTo>
              </a:path>
            </a:pathLst>
          </a:custGeom>
          <a:ln w="28575">
            <a:solidFill>
              <a:srgbClr val="808080"/>
            </a:solidFill>
            <a:prstDash val="dot"/>
          </a:ln>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1662267" y="2920994"/>
            <a:ext cx="2568660" cy="0"/>
          </a:xfrm>
          <a:custGeom>
            <a:avLst/>
            <a:gdLst/>
            <a:ahLst/>
            <a:cxnLst/>
            <a:rect l="l" t="t" r="r" b="b"/>
            <a:pathLst>
              <a:path w="2570479">
                <a:moveTo>
                  <a:pt x="0" y="0"/>
                </a:moveTo>
                <a:lnTo>
                  <a:pt x="2570226" y="0"/>
                </a:lnTo>
              </a:path>
            </a:pathLst>
          </a:custGeom>
          <a:ln w="28575">
            <a:solidFill>
              <a:srgbClr val="808080"/>
            </a:solidFill>
            <a:prstDash val="dot"/>
          </a:ln>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2885172" y="1818400"/>
            <a:ext cx="0" cy="3286970"/>
          </a:xfrm>
          <a:custGeom>
            <a:avLst/>
            <a:gdLst/>
            <a:ahLst/>
            <a:cxnLst/>
            <a:rect l="l" t="t" r="r" b="b"/>
            <a:pathLst>
              <a:path h="3289300">
                <a:moveTo>
                  <a:pt x="0" y="0"/>
                </a:moveTo>
                <a:lnTo>
                  <a:pt x="0" y="3288792"/>
                </a:lnTo>
              </a:path>
            </a:pathLst>
          </a:custGeom>
          <a:ln w="28575">
            <a:solidFill>
              <a:srgbClr val="808080"/>
            </a:solidFill>
            <a:prstDash val="dot"/>
          </a:ln>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p:nvPr/>
        </p:nvSpPr>
        <p:spPr>
          <a:xfrm>
            <a:off x="4109601" y="1818400"/>
            <a:ext cx="0" cy="3286970"/>
          </a:xfrm>
          <a:custGeom>
            <a:avLst/>
            <a:gdLst/>
            <a:ahLst/>
            <a:cxnLst/>
            <a:rect l="l" t="t" r="r" b="b"/>
            <a:pathLst>
              <a:path h="3289300">
                <a:moveTo>
                  <a:pt x="0" y="0"/>
                </a:moveTo>
                <a:lnTo>
                  <a:pt x="0" y="3288792"/>
                </a:lnTo>
              </a:path>
            </a:pathLst>
          </a:custGeom>
          <a:ln w="28575">
            <a:solidFill>
              <a:srgbClr val="808080"/>
            </a:solidFill>
            <a:prstDash val="dot"/>
          </a:ln>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p:nvPr/>
        </p:nvSpPr>
        <p:spPr>
          <a:xfrm>
            <a:off x="5337076" y="1818400"/>
            <a:ext cx="0" cy="3286970"/>
          </a:xfrm>
          <a:custGeom>
            <a:avLst/>
            <a:gdLst/>
            <a:ahLst/>
            <a:cxnLst/>
            <a:rect l="l" t="t" r="r" b="b"/>
            <a:pathLst>
              <a:path h="3289300">
                <a:moveTo>
                  <a:pt x="0" y="0"/>
                </a:moveTo>
                <a:lnTo>
                  <a:pt x="0" y="3288792"/>
                </a:lnTo>
              </a:path>
            </a:pathLst>
          </a:custGeom>
          <a:ln w="28575">
            <a:solidFill>
              <a:srgbClr val="808080"/>
            </a:solidFill>
            <a:prstDash val="dot"/>
          </a:ln>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p:nvPr/>
        </p:nvSpPr>
        <p:spPr>
          <a:xfrm>
            <a:off x="6553888" y="1818400"/>
            <a:ext cx="0" cy="3286970"/>
          </a:xfrm>
          <a:custGeom>
            <a:avLst/>
            <a:gdLst/>
            <a:ahLst/>
            <a:cxnLst/>
            <a:rect l="l" t="t" r="r" b="b"/>
            <a:pathLst>
              <a:path h="3289300">
                <a:moveTo>
                  <a:pt x="0" y="0"/>
                </a:moveTo>
                <a:lnTo>
                  <a:pt x="0" y="3288792"/>
                </a:lnTo>
              </a:path>
            </a:pathLst>
          </a:custGeom>
          <a:ln w="28575">
            <a:solidFill>
              <a:srgbClr val="808080"/>
            </a:solidFill>
            <a:prstDash val="dot"/>
          </a:ln>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txBox="1"/>
          <p:nvPr/>
        </p:nvSpPr>
        <p:spPr>
          <a:xfrm>
            <a:off x="1800853" y="1553919"/>
            <a:ext cx="333139" cy="196215"/>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实时</a:t>
            </a:r>
            <a:endParaRPr sz="1200" b="1" spc="5" dirty="0">
              <a:latin typeface="微软雅黑" panose="020B0503020204020204" charset="-122"/>
              <a:ea typeface="微软雅黑" panose="020B0503020204020204" charset="-122"/>
              <a:cs typeface="微软雅黑" panose="020B0503020204020204" charset="-122"/>
            </a:endParaRPr>
          </a:p>
        </p:txBody>
      </p:sp>
      <p:sp>
        <p:nvSpPr>
          <p:cNvPr id="20" name="object 20"/>
          <p:cNvSpPr txBox="1"/>
          <p:nvPr/>
        </p:nvSpPr>
        <p:spPr>
          <a:xfrm>
            <a:off x="3155871" y="1553919"/>
            <a:ext cx="333139" cy="196215"/>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每周</a:t>
            </a:r>
            <a:endParaRPr sz="1200" b="1" spc="5" dirty="0">
              <a:latin typeface="微软雅黑" panose="020B0503020204020204" charset="-122"/>
              <a:ea typeface="微软雅黑" panose="020B0503020204020204" charset="-122"/>
              <a:cs typeface="微软雅黑" panose="020B0503020204020204" charset="-122"/>
            </a:endParaRPr>
          </a:p>
        </p:txBody>
      </p:sp>
      <p:sp>
        <p:nvSpPr>
          <p:cNvPr id="21" name="object 21"/>
          <p:cNvSpPr txBox="1"/>
          <p:nvPr/>
        </p:nvSpPr>
        <p:spPr>
          <a:xfrm>
            <a:off x="4307835" y="1553919"/>
            <a:ext cx="333139" cy="196215"/>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每月</a:t>
            </a:r>
            <a:endParaRPr sz="1200" b="1" spc="5" dirty="0">
              <a:latin typeface="微软雅黑" panose="020B0503020204020204" charset="-122"/>
              <a:ea typeface="微软雅黑" panose="020B0503020204020204" charset="-122"/>
              <a:cs typeface="微软雅黑" panose="020B0503020204020204" charset="-122"/>
            </a:endParaRPr>
          </a:p>
        </p:txBody>
      </p:sp>
      <p:sp>
        <p:nvSpPr>
          <p:cNvPr id="22" name="object 22"/>
          <p:cNvSpPr txBox="1"/>
          <p:nvPr/>
        </p:nvSpPr>
        <p:spPr>
          <a:xfrm>
            <a:off x="5451801" y="1553919"/>
            <a:ext cx="487335" cy="196215"/>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每季度</a:t>
            </a:r>
            <a:endParaRPr sz="1200" b="1" spc="5" dirty="0">
              <a:latin typeface="微软雅黑" panose="020B0503020204020204" charset="-122"/>
              <a:ea typeface="微软雅黑" panose="020B0503020204020204" charset="-122"/>
              <a:cs typeface="微软雅黑" panose="020B0503020204020204" charset="-122"/>
            </a:endParaRPr>
          </a:p>
        </p:txBody>
      </p:sp>
      <p:sp>
        <p:nvSpPr>
          <p:cNvPr id="23" name="object 23"/>
          <p:cNvSpPr txBox="1"/>
          <p:nvPr/>
        </p:nvSpPr>
        <p:spPr>
          <a:xfrm>
            <a:off x="6693998" y="1553919"/>
            <a:ext cx="333139" cy="196215"/>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每年</a:t>
            </a:r>
            <a:endParaRPr sz="1200" b="1" spc="5" dirty="0">
              <a:latin typeface="微软雅黑" panose="020B0503020204020204" charset="-122"/>
              <a:ea typeface="微软雅黑" panose="020B0503020204020204" charset="-122"/>
              <a:cs typeface="微软雅黑" panose="020B0503020204020204" charset="-122"/>
            </a:endParaRPr>
          </a:p>
        </p:txBody>
      </p:sp>
      <p:sp>
        <p:nvSpPr>
          <p:cNvPr id="24" name="object 24"/>
          <p:cNvSpPr txBox="1"/>
          <p:nvPr/>
        </p:nvSpPr>
        <p:spPr>
          <a:xfrm>
            <a:off x="596477" y="2210374"/>
            <a:ext cx="333139" cy="196215"/>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高管</a:t>
            </a:r>
            <a:endParaRPr sz="1200" b="1" spc="5" dirty="0">
              <a:latin typeface="微软雅黑" panose="020B0503020204020204" charset="-122"/>
              <a:ea typeface="微软雅黑" panose="020B0503020204020204" charset="-122"/>
              <a:cs typeface="微软雅黑" panose="020B0503020204020204" charset="-122"/>
            </a:endParaRPr>
          </a:p>
        </p:txBody>
      </p:sp>
      <p:sp>
        <p:nvSpPr>
          <p:cNvPr id="25" name="object 25"/>
          <p:cNvSpPr txBox="1"/>
          <p:nvPr/>
        </p:nvSpPr>
        <p:spPr>
          <a:xfrm>
            <a:off x="596477" y="3342209"/>
            <a:ext cx="791284" cy="196215"/>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地区管</a:t>
            </a:r>
            <a:r>
              <a:rPr sz="1200" b="1" spc="-5" dirty="0">
                <a:latin typeface="微软雅黑" panose="020B0503020204020204" charset="-122"/>
                <a:ea typeface="微软雅黑" panose="020B0503020204020204" charset="-122"/>
                <a:cs typeface="微软雅黑" panose="020B0503020204020204" charset="-122"/>
              </a:rPr>
              <a:t>理层</a:t>
            </a:r>
            <a:endParaRPr sz="1200">
              <a:latin typeface="微软雅黑" panose="020B0503020204020204" charset="-122"/>
              <a:ea typeface="微软雅黑" panose="020B0503020204020204" charset="-122"/>
              <a:cs typeface="微软雅黑" panose="020B0503020204020204" charset="-122"/>
            </a:endParaRPr>
          </a:p>
        </p:txBody>
      </p:sp>
      <p:sp>
        <p:nvSpPr>
          <p:cNvPr id="26" name="object 26"/>
          <p:cNvSpPr txBox="1"/>
          <p:nvPr/>
        </p:nvSpPr>
        <p:spPr>
          <a:xfrm>
            <a:off x="596477" y="4110014"/>
            <a:ext cx="943575" cy="365760"/>
          </a:xfrm>
          <a:prstGeom prst="rect">
            <a:avLst/>
          </a:prstGeom>
        </p:spPr>
        <p:txBody>
          <a:bodyPr vert="horz" wrap="square" lIns="0" tIns="32995" rIns="0" bIns="0" rtlCol="0">
            <a:spAutoFit/>
          </a:bodyPr>
          <a:lstStyle/>
          <a:p>
            <a:pPr marL="12700" marR="5080">
              <a:lnSpc>
                <a:spcPts val="1300"/>
              </a:lnSpc>
              <a:spcBef>
                <a:spcPts val="260"/>
              </a:spcBef>
            </a:pPr>
            <a:r>
              <a:rPr sz="1200" b="1" spc="5" dirty="0">
                <a:latin typeface="微软雅黑" panose="020B0503020204020204" charset="-122"/>
                <a:ea typeface="微软雅黑" panose="020B0503020204020204" charset="-122"/>
                <a:cs typeface="微软雅黑" panose="020B0503020204020204" charset="-122"/>
              </a:rPr>
              <a:t>一线管</a:t>
            </a:r>
            <a:r>
              <a:rPr sz="1200" b="1" spc="-5" dirty="0">
                <a:latin typeface="微软雅黑" panose="020B0503020204020204" charset="-122"/>
                <a:ea typeface="微软雅黑" panose="020B0503020204020204" charset="-122"/>
                <a:cs typeface="微软雅黑" panose="020B0503020204020204" charset="-122"/>
              </a:rPr>
              <a:t>理层和 </a:t>
            </a:r>
            <a:r>
              <a:rPr sz="1200" b="1" spc="5" dirty="0">
                <a:latin typeface="微软雅黑" panose="020B0503020204020204" charset="-122"/>
                <a:ea typeface="微软雅黑" panose="020B0503020204020204" charset="-122"/>
                <a:cs typeface="微软雅黑" panose="020B0503020204020204" charset="-122"/>
              </a:rPr>
              <a:t>销售</a:t>
            </a:r>
            <a:endParaRPr sz="1200">
              <a:latin typeface="微软雅黑" panose="020B0503020204020204" charset="-122"/>
              <a:ea typeface="微软雅黑" panose="020B0503020204020204" charset="-122"/>
              <a:cs typeface="微软雅黑" panose="020B0503020204020204" charset="-122"/>
            </a:endParaRPr>
          </a:p>
        </p:txBody>
      </p:sp>
      <p:sp>
        <p:nvSpPr>
          <p:cNvPr id="27" name="object 27"/>
          <p:cNvSpPr txBox="1"/>
          <p:nvPr/>
        </p:nvSpPr>
        <p:spPr>
          <a:xfrm>
            <a:off x="596477" y="5122503"/>
            <a:ext cx="943575" cy="365760"/>
          </a:xfrm>
          <a:prstGeom prst="rect">
            <a:avLst/>
          </a:prstGeom>
        </p:spPr>
        <p:txBody>
          <a:bodyPr vert="horz" wrap="square" lIns="0" tIns="32995" rIns="0" bIns="0" rtlCol="0">
            <a:spAutoFit/>
          </a:bodyPr>
          <a:lstStyle/>
          <a:p>
            <a:pPr marL="12700" marR="5080">
              <a:lnSpc>
                <a:spcPts val="1300"/>
              </a:lnSpc>
              <a:spcBef>
                <a:spcPts val="260"/>
              </a:spcBef>
            </a:pPr>
            <a:r>
              <a:rPr sz="1200" b="1" spc="5" dirty="0">
                <a:latin typeface="微软雅黑" panose="020B0503020204020204" charset="-122"/>
                <a:ea typeface="微软雅黑" panose="020B0503020204020204" charset="-122"/>
                <a:cs typeface="微软雅黑" panose="020B0503020204020204" charset="-122"/>
              </a:rPr>
              <a:t>对照关</a:t>
            </a:r>
            <a:r>
              <a:rPr sz="1200" b="1" spc="-5" dirty="0">
                <a:latin typeface="微软雅黑" panose="020B0503020204020204" charset="-122"/>
                <a:ea typeface="微软雅黑" panose="020B0503020204020204" charset="-122"/>
                <a:cs typeface="微软雅黑" panose="020B0503020204020204" charset="-122"/>
              </a:rPr>
              <a:t>键业绩 </a:t>
            </a:r>
            <a:r>
              <a:rPr sz="1200" b="1" spc="5" dirty="0">
                <a:latin typeface="微软雅黑" panose="020B0503020204020204" charset="-122"/>
                <a:ea typeface="微软雅黑" panose="020B0503020204020204" charset="-122"/>
                <a:cs typeface="微软雅黑" panose="020B0503020204020204" charset="-122"/>
              </a:rPr>
              <a:t>指标监</a:t>
            </a:r>
            <a:r>
              <a:rPr sz="1200" b="1" spc="-5" dirty="0">
                <a:latin typeface="微软雅黑" panose="020B0503020204020204" charset="-122"/>
                <a:ea typeface="微软雅黑" panose="020B0503020204020204" charset="-122"/>
                <a:cs typeface="微软雅黑" panose="020B0503020204020204" charset="-122"/>
              </a:rPr>
              <a:t>督业绩</a:t>
            </a:r>
            <a:endParaRPr sz="1200">
              <a:latin typeface="微软雅黑" panose="020B0503020204020204" charset="-122"/>
              <a:ea typeface="微软雅黑" panose="020B0503020204020204" charset="-122"/>
              <a:cs typeface="微软雅黑" panose="020B0503020204020204" charset="-122"/>
            </a:endParaRPr>
          </a:p>
        </p:txBody>
      </p:sp>
      <p:sp>
        <p:nvSpPr>
          <p:cNvPr id="28" name="object 28"/>
          <p:cNvSpPr txBox="1"/>
          <p:nvPr/>
        </p:nvSpPr>
        <p:spPr>
          <a:xfrm>
            <a:off x="2978071" y="5139255"/>
            <a:ext cx="979111" cy="381635"/>
          </a:xfrm>
          <a:prstGeom prst="rect">
            <a:avLst/>
          </a:prstGeom>
        </p:spPr>
        <p:txBody>
          <a:bodyPr vert="horz" wrap="square" lIns="0" tIns="10787" rIns="0" bIns="0" rtlCol="0">
            <a:spAutoFit/>
          </a:bodyPr>
          <a:lstStyle/>
          <a:p>
            <a:pPr marL="204470" marR="5080" indent="-192405">
              <a:lnSpc>
                <a:spcPct val="101000"/>
              </a:lnSpc>
              <a:spcBef>
                <a:spcPts val="85"/>
              </a:spcBef>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总销售时间 与销售开支</a:t>
            </a:r>
            <a:endParaRPr sz="1200" dirty="0">
              <a:latin typeface="微软雅黑" panose="020B0503020204020204" charset="-122"/>
              <a:ea typeface="微软雅黑" panose="020B0503020204020204" charset="-122"/>
              <a:cs typeface="微软雅黑" panose="020B0503020204020204" charset="-122"/>
            </a:endParaRPr>
          </a:p>
        </p:txBody>
      </p:sp>
      <p:sp>
        <p:nvSpPr>
          <p:cNvPr id="29" name="object 29"/>
          <p:cNvSpPr txBox="1"/>
          <p:nvPr/>
        </p:nvSpPr>
        <p:spPr>
          <a:xfrm>
            <a:off x="4145771" y="5140778"/>
            <a:ext cx="1131403" cy="750570"/>
          </a:xfrm>
          <a:prstGeom prst="rect">
            <a:avLst/>
          </a:prstGeom>
        </p:spPr>
        <p:txBody>
          <a:bodyPr vert="horz" wrap="square" lIns="0" tIns="12691" rIns="0" bIns="0" rtlCol="0">
            <a:spAutoFit/>
          </a:bodyPr>
          <a:lstStyle/>
          <a:p>
            <a:pPr marL="204470" marR="114300" indent="-192405">
              <a:lnSpc>
                <a:spcPct val="100000"/>
              </a:lnSpc>
              <a:spcBef>
                <a:spcPts val="100"/>
              </a:spcBef>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各客户</a:t>
            </a:r>
            <a:r>
              <a:rPr sz="1200" dirty="0">
                <a:latin typeface="微软雅黑" panose="020B0503020204020204" charset="-122"/>
                <a:ea typeface="微软雅黑" panose="020B0503020204020204" charset="-122"/>
                <a:cs typeface="微软雅黑" panose="020B0503020204020204" charset="-122"/>
              </a:rPr>
              <a:t>/产品 的落袋利润</a:t>
            </a:r>
            <a:endParaRPr sz="1200">
              <a:latin typeface="微软雅黑" panose="020B0503020204020204" charset="-122"/>
              <a:ea typeface="微软雅黑" panose="020B0503020204020204" charset="-122"/>
              <a:cs typeface="微软雅黑" panose="020B0503020204020204" charset="-122"/>
            </a:endParaRPr>
          </a:p>
          <a:p>
            <a:pPr marL="204470" indent="-192405">
              <a:lnSpc>
                <a:spcPct val="100000"/>
              </a:lnSpc>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产品组合改善</a:t>
            </a:r>
            <a:endParaRPr sz="1200">
              <a:latin typeface="微软雅黑" panose="020B0503020204020204" charset="-122"/>
              <a:ea typeface="微软雅黑" panose="020B0503020204020204" charset="-122"/>
              <a:cs typeface="微软雅黑" panose="020B0503020204020204" charset="-122"/>
            </a:endParaRPr>
          </a:p>
          <a:p>
            <a:pPr marL="204470" indent="-192405">
              <a:lnSpc>
                <a:spcPct val="100000"/>
              </a:lnSpc>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客户新销量</a:t>
            </a:r>
            <a:endParaRPr sz="1200">
              <a:latin typeface="微软雅黑" panose="020B0503020204020204" charset="-122"/>
              <a:ea typeface="微软雅黑" panose="020B0503020204020204" charset="-122"/>
              <a:cs typeface="微软雅黑" panose="020B0503020204020204" charset="-122"/>
            </a:endParaRPr>
          </a:p>
        </p:txBody>
      </p:sp>
      <p:sp>
        <p:nvSpPr>
          <p:cNvPr id="30" name="object 30"/>
          <p:cNvSpPr txBox="1"/>
          <p:nvPr/>
        </p:nvSpPr>
        <p:spPr>
          <a:xfrm>
            <a:off x="5358016" y="5139255"/>
            <a:ext cx="1131403" cy="749935"/>
          </a:xfrm>
          <a:prstGeom prst="rect">
            <a:avLst/>
          </a:prstGeom>
        </p:spPr>
        <p:txBody>
          <a:bodyPr vert="horz" wrap="square" lIns="0" tIns="12056" rIns="0" bIns="0" rtlCol="0">
            <a:spAutoFit/>
          </a:bodyPr>
          <a:lstStyle/>
          <a:p>
            <a:pPr marL="204470" marR="5080" indent="-192405" algn="just">
              <a:lnSpc>
                <a:spcPct val="100000"/>
              </a:lnSpc>
              <a:spcBef>
                <a:spcPts val="95"/>
              </a:spcBef>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高利润领域上 的精力与时间 分配</a:t>
            </a:r>
            <a:endParaRPr sz="1200">
              <a:latin typeface="微软雅黑" panose="020B0503020204020204" charset="-122"/>
              <a:ea typeface="微软雅黑" panose="020B0503020204020204" charset="-122"/>
              <a:cs typeface="微软雅黑" panose="020B0503020204020204" charset="-122"/>
            </a:endParaRPr>
          </a:p>
          <a:p>
            <a:pPr marL="204470" indent="-192405" algn="just">
              <a:lnSpc>
                <a:spcPct val="100000"/>
              </a:lnSpc>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猎寻新客户</a:t>
            </a:r>
            <a:endParaRPr sz="1200">
              <a:latin typeface="微软雅黑" panose="020B0503020204020204" charset="-122"/>
              <a:ea typeface="微软雅黑" panose="020B0503020204020204" charset="-122"/>
              <a:cs typeface="微软雅黑" panose="020B0503020204020204" charset="-122"/>
            </a:endParaRPr>
          </a:p>
        </p:txBody>
      </p:sp>
      <p:sp>
        <p:nvSpPr>
          <p:cNvPr id="31" name="object 31"/>
          <p:cNvSpPr txBox="1"/>
          <p:nvPr/>
        </p:nvSpPr>
        <p:spPr>
          <a:xfrm>
            <a:off x="6576732" y="5140778"/>
            <a:ext cx="1224047" cy="935355"/>
          </a:xfrm>
          <a:prstGeom prst="rect">
            <a:avLst/>
          </a:prstGeom>
        </p:spPr>
        <p:txBody>
          <a:bodyPr vert="horz" wrap="square" lIns="0" tIns="12691" rIns="0" bIns="0" rtlCol="0">
            <a:spAutoFit/>
          </a:bodyPr>
          <a:lstStyle/>
          <a:p>
            <a:pPr marL="204470" indent="-192405">
              <a:lnSpc>
                <a:spcPct val="100000"/>
              </a:lnSpc>
              <a:spcBef>
                <a:spcPts val="100"/>
              </a:spcBef>
              <a:buClr>
                <a:srgbClr val="00295F"/>
              </a:buClr>
              <a:buSzPct val="125000"/>
              <a:buChar char="▪"/>
              <a:tabLst>
                <a:tab pos="204470" algn="l"/>
              </a:tabLst>
            </a:pPr>
            <a:r>
              <a:rPr sz="1200" spc="-5" dirty="0">
                <a:latin typeface="微软雅黑" panose="020B0503020204020204" charset="-122"/>
                <a:ea typeface="微软雅黑" panose="020B0503020204020204" charset="-122"/>
                <a:cs typeface="微软雅黑" panose="020B0503020204020204" charset="-122"/>
              </a:rPr>
              <a:t>ABC</a:t>
            </a:r>
            <a:r>
              <a:rPr sz="1200" spc="-10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资源分配</a:t>
            </a:r>
            <a:endParaRPr sz="1200">
              <a:latin typeface="微软雅黑" panose="020B0503020204020204" charset="-122"/>
              <a:ea typeface="微软雅黑" panose="020B0503020204020204" charset="-122"/>
              <a:cs typeface="微软雅黑" panose="020B0503020204020204" charset="-122"/>
            </a:endParaRPr>
          </a:p>
          <a:p>
            <a:pPr marL="204470" indent="-192405">
              <a:lnSpc>
                <a:spcPct val="100000"/>
              </a:lnSpc>
              <a:buClr>
                <a:srgbClr val="00295F"/>
              </a:buClr>
              <a:buSzPct val="125000"/>
              <a:buChar char="▪"/>
              <a:tabLst>
                <a:tab pos="204470" algn="l"/>
              </a:tabLst>
            </a:pPr>
            <a:r>
              <a:rPr sz="1200" spc="-5" dirty="0">
                <a:latin typeface="微软雅黑" panose="020B0503020204020204" charset="-122"/>
                <a:ea typeface="微软雅黑" panose="020B0503020204020204" charset="-122"/>
                <a:cs typeface="微软雅黑" panose="020B0503020204020204" charset="-122"/>
              </a:rPr>
              <a:t>ABC</a:t>
            </a:r>
            <a:r>
              <a:rPr sz="1200" spc="-10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损失利润</a:t>
            </a:r>
            <a:endParaRPr sz="1200">
              <a:latin typeface="微软雅黑" panose="020B0503020204020204" charset="-122"/>
              <a:ea typeface="微软雅黑" panose="020B0503020204020204" charset="-122"/>
              <a:cs typeface="微软雅黑" panose="020B0503020204020204" charset="-122"/>
            </a:endParaRPr>
          </a:p>
          <a:p>
            <a:pPr marL="204470" marR="5080" indent="-192405">
              <a:lnSpc>
                <a:spcPct val="100000"/>
              </a:lnSpc>
              <a:buClr>
                <a:srgbClr val="00295F"/>
              </a:buClr>
              <a:buSzPct val="125000"/>
              <a:buChar char="▪"/>
              <a:tabLst>
                <a:tab pos="204470" algn="l"/>
              </a:tabLst>
            </a:pPr>
            <a:r>
              <a:rPr sz="1200" spc="-5" dirty="0">
                <a:latin typeface="微软雅黑" panose="020B0503020204020204" charset="-122"/>
                <a:ea typeface="微软雅黑" panose="020B0503020204020204" charset="-122"/>
                <a:cs typeface="微软雅黑" panose="020B0503020204020204" charset="-122"/>
              </a:rPr>
              <a:t>ABC</a:t>
            </a:r>
            <a:r>
              <a:rPr sz="1200" spc="-9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销售时间</a:t>
            </a:r>
            <a:r>
              <a:rPr sz="1200" dirty="0">
                <a:latin typeface="微软雅黑" panose="020B0503020204020204" charset="-122"/>
                <a:ea typeface="微软雅黑" panose="020B0503020204020204" charset="-122"/>
                <a:cs typeface="微软雅黑" panose="020B0503020204020204" charset="-122"/>
              </a:rPr>
              <a:t>/  利润</a:t>
            </a:r>
            <a:endParaRPr sz="1200">
              <a:latin typeface="微软雅黑" panose="020B0503020204020204" charset="-122"/>
              <a:ea typeface="微软雅黑" panose="020B0503020204020204" charset="-122"/>
              <a:cs typeface="微软雅黑" panose="020B0503020204020204" charset="-122"/>
            </a:endParaRPr>
          </a:p>
          <a:p>
            <a:pPr marL="239395" indent="-227330">
              <a:lnSpc>
                <a:spcPct val="100000"/>
              </a:lnSpc>
              <a:buClr>
                <a:srgbClr val="00295F"/>
              </a:buClr>
              <a:buSzPct val="125000"/>
              <a:buChar char="▪"/>
              <a:tabLst>
                <a:tab pos="239395" algn="l"/>
                <a:tab pos="239395" algn="l"/>
              </a:tabLst>
            </a:pPr>
            <a:r>
              <a:rPr sz="1200" dirty="0">
                <a:latin typeface="微软雅黑" panose="020B0503020204020204" charset="-122"/>
                <a:ea typeface="微软雅黑" panose="020B0503020204020204" charset="-122"/>
                <a:cs typeface="微软雅黑" panose="020B0503020204020204" charset="-122"/>
              </a:rPr>
              <a:t>ABC</a:t>
            </a:r>
            <a:r>
              <a:rPr sz="1200" spc="-70" dirty="0">
                <a:latin typeface="微软雅黑" panose="020B0503020204020204" charset="-122"/>
                <a:ea typeface="微软雅黑" panose="020B0503020204020204" charset="-122"/>
                <a:cs typeface="微软雅黑" panose="020B0503020204020204" charset="-122"/>
              </a:rPr>
              <a:t> </a:t>
            </a:r>
            <a:r>
              <a:rPr sz="1200" spc="-5" dirty="0">
                <a:latin typeface="微软雅黑" panose="020B0503020204020204" charset="-122"/>
                <a:ea typeface="微软雅黑" panose="020B0503020204020204" charset="-122"/>
                <a:cs typeface="微软雅黑" panose="020B0503020204020204" charset="-122"/>
              </a:rPr>
              <a:t>销售技能</a:t>
            </a:r>
            <a:endParaRPr sz="1200">
              <a:latin typeface="微软雅黑" panose="020B0503020204020204" charset="-122"/>
              <a:ea typeface="微软雅黑" panose="020B0503020204020204" charset="-122"/>
              <a:cs typeface="微软雅黑" panose="020B0503020204020204" charset="-122"/>
            </a:endParaRPr>
          </a:p>
        </p:txBody>
      </p:sp>
      <p:sp>
        <p:nvSpPr>
          <p:cNvPr id="32" name="object 32"/>
          <p:cNvSpPr/>
          <p:nvPr/>
        </p:nvSpPr>
        <p:spPr>
          <a:xfrm>
            <a:off x="4230673" y="3489805"/>
            <a:ext cx="1002589" cy="845220"/>
          </a:xfrm>
          <a:custGeom>
            <a:avLst/>
            <a:gdLst/>
            <a:ahLst/>
            <a:cxnLst/>
            <a:rect l="l" t="t" r="r" b="b"/>
            <a:pathLst>
              <a:path w="1003300" h="845820">
                <a:moveTo>
                  <a:pt x="0" y="845819"/>
                </a:moveTo>
                <a:lnTo>
                  <a:pt x="1002791" y="845819"/>
                </a:lnTo>
                <a:lnTo>
                  <a:pt x="1002791" y="0"/>
                </a:lnTo>
                <a:lnTo>
                  <a:pt x="0" y="0"/>
                </a:lnTo>
                <a:lnTo>
                  <a:pt x="0" y="84581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3" name="object 33"/>
          <p:cNvSpPr/>
          <p:nvPr/>
        </p:nvSpPr>
        <p:spPr>
          <a:xfrm>
            <a:off x="4230673" y="3489805"/>
            <a:ext cx="1002589" cy="845220"/>
          </a:xfrm>
          <a:custGeom>
            <a:avLst/>
            <a:gdLst/>
            <a:ahLst/>
            <a:cxnLst/>
            <a:rect l="l" t="t" r="r" b="b"/>
            <a:pathLst>
              <a:path w="1003300" h="845820">
                <a:moveTo>
                  <a:pt x="0" y="845819"/>
                </a:moveTo>
                <a:lnTo>
                  <a:pt x="1002791" y="845819"/>
                </a:lnTo>
                <a:lnTo>
                  <a:pt x="1002791" y="0"/>
                </a:lnTo>
                <a:lnTo>
                  <a:pt x="0" y="0"/>
                </a:lnTo>
                <a:lnTo>
                  <a:pt x="0" y="845819"/>
                </a:lnTo>
                <a:close/>
              </a:path>
            </a:pathLst>
          </a:custGeom>
          <a:ln w="9525">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4" name="object 34"/>
          <p:cNvSpPr/>
          <p:nvPr/>
        </p:nvSpPr>
        <p:spPr>
          <a:xfrm>
            <a:off x="6659732" y="1814592"/>
            <a:ext cx="1003858" cy="680872"/>
          </a:xfrm>
          <a:custGeom>
            <a:avLst/>
            <a:gdLst/>
            <a:ahLst/>
            <a:cxnLst/>
            <a:rect l="l" t="t" r="r" b="b"/>
            <a:pathLst>
              <a:path w="1004570" h="681355">
                <a:moveTo>
                  <a:pt x="0" y="681227"/>
                </a:moveTo>
                <a:lnTo>
                  <a:pt x="1004316" y="681227"/>
                </a:lnTo>
                <a:lnTo>
                  <a:pt x="1004316" y="0"/>
                </a:lnTo>
                <a:lnTo>
                  <a:pt x="0" y="0"/>
                </a:lnTo>
                <a:lnTo>
                  <a:pt x="0" y="681227"/>
                </a:lnTo>
                <a:close/>
              </a:path>
            </a:pathLst>
          </a:custGeom>
          <a:ln w="9525">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5" name="object 35"/>
          <p:cNvSpPr txBox="1"/>
          <p:nvPr/>
        </p:nvSpPr>
        <p:spPr>
          <a:xfrm>
            <a:off x="1801615" y="4057854"/>
            <a:ext cx="1003858" cy="417830"/>
          </a:xfrm>
          <a:prstGeom prst="rect">
            <a:avLst/>
          </a:prstGeom>
          <a:solidFill>
            <a:srgbClr val="C6DFFA"/>
          </a:solidFill>
          <a:ln w="9525">
            <a:solidFill>
              <a:srgbClr val="FFFFFF"/>
            </a:solidFill>
          </a:ln>
        </p:spPr>
        <p:txBody>
          <a:bodyPr vert="horz" wrap="square" lIns="0" tIns="85029" rIns="0" bIns="0" rtlCol="0">
            <a:spAutoFit/>
          </a:bodyPr>
          <a:lstStyle/>
          <a:p>
            <a:pPr marL="33655" marR="47625">
              <a:lnSpc>
                <a:spcPts val="1300"/>
              </a:lnSpc>
              <a:spcBef>
                <a:spcPts val="670"/>
              </a:spcBef>
            </a:pPr>
            <a:r>
              <a:rPr sz="1200" dirty="0">
                <a:latin typeface="微软雅黑" panose="020B0503020204020204" charset="-122"/>
                <a:ea typeface="微软雅黑" panose="020B0503020204020204" charset="-122"/>
                <a:cs typeface="微软雅黑" panose="020B0503020204020204" charset="-122"/>
              </a:rPr>
              <a:t>每日销售活动 计划</a:t>
            </a:r>
            <a:endParaRPr sz="1200" dirty="0">
              <a:latin typeface="微软雅黑" panose="020B0503020204020204" charset="-122"/>
              <a:ea typeface="微软雅黑" panose="020B0503020204020204" charset="-122"/>
              <a:cs typeface="微软雅黑" panose="020B0503020204020204" charset="-122"/>
            </a:endParaRPr>
          </a:p>
        </p:txBody>
      </p:sp>
      <p:sp>
        <p:nvSpPr>
          <p:cNvPr id="36" name="object 36"/>
          <p:cNvSpPr txBox="1"/>
          <p:nvPr/>
        </p:nvSpPr>
        <p:spPr>
          <a:xfrm>
            <a:off x="2994252" y="4278868"/>
            <a:ext cx="993071" cy="187325"/>
          </a:xfrm>
          <a:prstGeom prst="rect">
            <a:avLst/>
          </a:prstGeom>
          <a:solidFill>
            <a:srgbClr val="C6DFFA"/>
          </a:solidFill>
        </p:spPr>
        <p:txBody>
          <a:bodyPr vert="horz" wrap="square" lIns="0" tIns="3807" rIns="0" bIns="0" rtlCol="0">
            <a:spAutoFit/>
          </a:bodyPr>
          <a:lstStyle/>
          <a:p>
            <a:pPr marL="29845">
              <a:lnSpc>
                <a:spcPct val="100000"/>
              </a:lnSpc>
              <a:spcBef>
                <a:spcPts val="30"/>
              </a:spcBef>
            </a:pPr>
            <a:r>
              <a:rPr sz="1200" dirty="0">
                <a:latin typeface="微软雅黑" panose="020B0503020204020204" charset="-122"/>
                <a:ea typeface="微软雅黑" panose="020B0503020204020204" charset="-122"/>
                <a:cs typeface="微软雅黑" panose="020B0503020204020204" charset="-122"/>
              </a:rPr>
              <a:t>大客户管理关</a:t>
            </a:r>
            <a:endParaRPr sz="1200" dirty="0">
              <a:latin typeface="微软雅黑" panose="020B0503020204020204" charset="-122"/>
              <a:ea typeface="微软雅黑" panose="020B0503020204020204" charset="-122"/>
              <a:cs typeface="微软雅黑" panose="020B0503020204020204" charset="-122"/>
            </a:endParaRPr>
          </a:p>
        </p:txBody>
      </p:sp>
      <p:sp>
        <p:nvSpPr>
          <p:cNvPr id="37" name="object 37"/>
          <p:cNvSpPr txBox="1"/>
          <p:nvPr/>
        </p:nvSpPr>
        <p:spPr>
          <a:xfrm>
            <a:off x="2994252" y="4466278"/>
            <a:ext cx="993071" cy="165100"/>
          </a:xfrm>
          <a:prstGeom prst="rect">
            <a:avLst/>
          </a:prstGeom>
          <a:solidFill>
            <a:srgbClr val="C6DFFA"/>
          </a:solidFill>
        </p:spPr>
        <p:txBody>
          <a:bodyPr vert="horz" wrap="square" lIns="0" tIns="0" rIns="0" bIns="0" rtlCol="0">
            <a:spAutoFit/>
          </a:bodyPr>
          <a:lstStyle/>
          <a:p>
            <a:pPr marL="29845">
              <a:lnSpc>
                <a:spcPts val="1290"/>
              </a:lnSpc>
            </a:pPr>
            <a:r>
              <a:rPr sz="1200" spc="-5" dirty="0">
                <a:latin typeface="微软雅黑" panose="020B0503020204020204" charset="-122"/>
                <a:ea typeface="微软雅黑" panose="020B0503020204020204" charset="-122"/>
                <a:cs typeface="微软雅黑" panose="020B0503020204020204" charset="-122"/>
              </a:rPr>
              <a:t>键业绩指标板</a:t>
            </a:r>
            <a:endParaRPr sz="1200" spc="-5" dirty="0">
              <a:latin typeface="微软雅黑" panose="020B0503020204020204" charset="-122"/>
              <a:ea typeface="微软雅黑" panose="020B0503020204020204" charset="-122"/>
              <a:cs typeface="微软雅黑" panose="020B0503020204020204" charset="-122"/>
            </a:endParaRPr>
          </a:p>
        </p:txBody>
      </p:sp>
      <p:sp>
        <p:nvSpPr>
          <p:cNvPr id="38" name="object 38"/>
          <p:cNvSpPr txBox="1"/>
          <p:nvPr/>
        </p:nvSpPr>
        <p:spPr>
          <a:xfrm>
            <a:off x="3004722" y="3723714"/>
            <a:ext cx="1002589" cy="363220"/>
          </a:xfrm>
          <a:prstGeom prst="rect">
            <a:avLst/>
          </a:prstGeom>
          <a:solidFill>
            <a:srgbClr val="C6DFFA"/>
          </a:solidFill>
          <a:ln w="9525">
            <a:solidFill>
              <a:srgbClr val="FFFFFF"/>
            </a:solidFill>
          </a:ln>
        </p:spPr>
        <p:txBody>
          <a:bodyPr vert="horz" wrap="square" lIns="0" tIns="30458" rIns="0" bIns="0" rtlCol="0">
            <a:spAutoFit/>
          </a:bodyPr>
          <a:lstStyle/>
          <a:p>
            <a:pPr marL="27305" marR="53975">
              <a:lnSpc>
                <a:spcPts val="1300"/>
              </a:lnSpc>
              <a:spcBef>
                <a:spcPts val="240"/>
              </a:spcBef>
            </a:pPr>
            <a:r>
              <a:rPr sz="1200" dirty="0">
                <a:latin typeface="微软雅黑" panose="020B0503020204020204" charset="-122"/>
                <a:ea typeface="微软雅黑" panose="020B0503020204020204" charset="-122"/>
                <a:cs typeface="微软雅黑" panose="020B0503020204020204" charset="-122"/>
              </a:rPr>
              <a:t>大客户销售新 报</a:t>
            </a:r>
            <a:endParaRPr sz="1200" dirty="0">
              <a:latin typeface="微软雅黑" panose="020B0503020204020204" charset="-122"/>
              <a:ea typeface="微软雅黑" panose="020B0503020204020204" charset="-122"/>
              <a:cs typeface="微软雅黑" panose="020B0503020204020204" charset="-122"/>
            </a:endParaRPr>
          </a:p>
        </p:txBody>
      </p:sp>
      <p:sp>
        <p:nvSpPr>
          <p:cNvPr id="39" name="object 39"/>
          <p:cNvSpPr txBox="1"/>
          <p:nvPr/>
        </p:nvSpPr>
        <p:spPr>
          <a:xfrm>
            <a:off x="4230673" y="2920994"/>
            <a:ext cx="1002589" cy="361315"/>
          </a:xfrm>
          <a:prstGeom prst="rect">
            <a:avLst/>
          </a:prstGeom>
          <a:solidFill>
            <a:srgbClr val="C6DFFA"/>
          </a:solidFill>
          <a:ln w="9525">
            <a:solidFill>
              <a:srgbClr val="FFFFFF"/>
            </a:solidFill>
          </a:ln>
        </p:spPr>
        <p:txBody>
          <a:bodyPr vert="horz" wrap="square" lIns="0" tIns="28554" rIns="0" bIns="0" rtlCol="0">
            <a:spAutoFit/>
          </a:bodyPr>
          <a:lstStyle/>
          <a:p>
            <a:pPr marL="52705" marR="27305">
              <a:lnSpc>
                <a:spcPts val="1300"/>
              </a:lnSpc>
              <a:spcBef>
                <a:spcPts val="225"/>
              </a:spcBef>
            </a:pPr>
            <a:r>
              <a:rPr sz="1200" dirty="0">
                <a:latin typeface="微软雅黑" panose="020B0503020204020204" charset="-122"/>
                <a:ea typeface="微软雅黑" panose="020B0503020204020204" charset="-122"/>
                <a:cs typeface="微软雅黑" panose="020B0503020204020204" charset="-122"/>
              </a:rPr>
              <a:t>大客户规划审 核与辅导</a:t>
            </a:r>
            <a:endParaRPr sz="1200" dirty="0">
              <a:latin typeface="微软雅黑" panose="020B0503020204020204" charset="-122"/>
              <a:ea typeface="微软雅黑" panose="020B0503020204020204" charset="-122"/>
              <a:cs typeface="微软雅黑" panose="020B0503020204020204" charset="-122"/>
            </a:endParaRPr>
          </a:p>
        </p:txBody>
      </p:sp>
      <p:sp>
        <p:nvSpPr>
          <p:cNvPr id="40" name="object 40"/>
          <p:cNvSpPr txBox="1"/>
          <p:nvPr/>
        </p:nvSpPr>
        <p:spPr>
          <a:xfrm>
            <a:off x="4235432" y="3494564"/>
            <a:ext cx="993071" cy="229870"/>
          </a:xfrm>
          <a:prstGeom prst="rect">
            <a:avLst/>
          </a:prstGeom>
          <a:solidFill>
            <a:srgbClr val="C6DFFA"/>
          </a:solidFill>
        </p:spPr>
        <p:txBody>
          <a:bodyPr vert="horz" wrap="square" lIns="0" tIns="67896" rIns="0" bIns="0" rtlCol="0">
            <a:spAutoFit/>
          </a:bodyPr>
          <a:lstStyle/>
          <a:p>
            <a:pPr marL="8890">
              <a:lnSpc>
                <a:spcPts val="1270"/>
              </a:lnSpc>
              <a:spcBef>
                <a:spcPts val="535"/>
              </a:spcBef>
            </a:pPr>
            <a:r>
              <a:rPr sz="1200" dirty="0">
                <a:latin typeface="微软雅黑" panose="020B0503020204020204" charset="-122"/>
                <a:ea typeface="微软雅黑" panose="020B0503020204020204" charset="-122"/>
                <a:cs typeface="微软雅黑" panose="020B0503020204020204" charset="-122"/>
              </a:rPr>
              <a:t>大客户管理评</a:t>
            </a:r>
            <a:endParaRPr sz="1200" dirty="0">
              <a:latin typeface="微软雅黑" panose="020B0503020204020204" charset="-122"/>
              <a:ea typeface="微软雅黑" panose="020B0503020204020204" charset="-122"/>
              <a:cs typeface="微软雅黑" panose="020B0503020204020204" charset="-122"/>
            </a:endParaRPr>
          </a:p>
        </p:txBody>
      </p:sp>
      <p:sp>
        <p:nvSpPr>
          <p:cNvPr id="41" name="object 41"/>
          <p:cNvSpPr txBox="1"/>
          <p:nvPr/>
        </p:nvSpPr>
        <p:spPr>
          <a:xfrm>
            <a:off x="4235432" y="3723714"/>
            <a:ext cx="993071" cy="186690"/>
          </a:xfrm>
          <a:prstGeom prst="rect">
            <a:avLst/>
          </a:prstGeom>
          <a:solidFill>
            <a:srgbClr val="C6DFFA"/>
          </a:solidFill>
        </p:spPr>
        <p:txBody>
          <a:bodyPr vert="horz" wrap="square" lIns="0" tIns="3172" rIns="0" bIns="0" rtlCol="0">
            <a:spAutoFit/>
          </a:bodyPr>
          <a:lstStyle/>
          <a:p>
            <a:pPr marL="8890">
              <a:lnSpc>
                <a:spcPct val="100000"/>
              </a:lnSpc>
              <a:spcBef>
                <a:spcPts val="25"/>
              </a:spcBef>
            </a:pPr>
            <a:r>
              <a:rPr sz="1200" spc="-5" dirty="0">
                <a:latin typeface="微软雅黑" panose="020B0503020204020204" charset="-122"/>
                <a:ea typeface="微软雅黑" panose="020B0503020204020204" charset="-122"/>
                <a:cs typeface="微软雅黑" panose="020B0503020204020204" charset="-122"/>
              </a:rPr>
              <a:t>分卡：与销售</a:t>
            </a:r>
            <a:r>
              <a:rPr sz="1200" dirty="0">
                <a:latin typeface="微软雅黑" panose="020B0503020204020204" charset="-122"/>
                <a:ea typeface="微软雅黑" panose="020B0503020204020204" charset="-122"/>
                <a:cs typeface="微软雅黑" panose="020B0503020204020204" charset="-122"/>
              </a:rPr>
              <a:t>/</a:t>
            </a:r>
            <a:endParaRPr sz="1200">
              <a:latin typeface="微软雅黑" panose="020B0503020204020204" charset="-122"/>
              <a:ea typeface="微软雅黑" panose="020B0503020204020204" charset="-122"/>
              <a:cs typeface="微软雅黑" panose="020B0503020204020204" charset="-122"/>
            </a:endParaRPr>
          </a:p>
        </p:txBody>
      </p:sp>
      <p:sp>
        <p:nvSpPr>
          <p:cNvPr id="42" name="object 42"/>
          <p:cNvSpPr txBox="1"/>
          <p:nvPr/>
        </p:nvSpPr>
        <p:spPr>
          <a:xfrm>
            <a:off x="4235432" y="3910460"/>
            <a:ext cx="993071" cy="165100"/>
          </a:xfrm>
          <a:prstGeom prst="rect">
            <a:avLst/>
          </a:prstGeom>
          <a:solidFill>
            <a:srgbClr val="C6DFFA"/>
          </a:solidFill>
        </p:spPr>
        <p:txBody>
          <a:bodyPr vert="horz" wrap="square" lIns="0" tIns="0" rIns="0" bIns="0" rtlCol="0">
            <a:spAutoFit/>
          </a:bodyPr>
          <a:lstStyle/>
          <a:p>
            <a:pPr marL="8890">
              <a:lnSpc>
                <a:spcPts val="1290"/>
              </a:lnSpc>
            </a:pPr>
            <a:r>
              <a:rPr sz="1200" spc="-5" dirty="0">
                <a:latin typeface="微软雅黑" panose="020B0503020204020204" charset="-122"/>
                <a:ea typeface="微软雅黑" panose="020B0503020204020204" charset="-122"/>
                <a:cs typeface="微软雅黑" panose="020B0503020204020204" charset="-122"/>
              </a:rPr>
              <a:t>大客户部负责</a:t>
            </a:r>
            <a:endParaRPr sz="1200" spc="-5" dirty="0">
              <a:latin typeface="微软雅黑" panose="020B0503020204020204" charset="-122"/>
              <a:ea typeface="微软雅黑" panose="020B0503020204020204" charset="-122"/>
              <a:cs typeface="微软雅黑" panose="020B0503020204020204" charset="-122"/>
            </a:endParaRPr>
          </a:p>
        </p:txBody>
      </p:sp>
      <p:sp>
        <p:nvSpPr>
          <p:cNvPr id="43" name="object 43"/>
          <p:cNvSpPr txBox="1"/>
          <p:nvPr/>
        </p:nvSpPr>
        <p:spPr>
          <a:xfrm>
            <a:off x="4235432" y="4100038"/>
            <a:ext cx="993071" cy="140335"/>
          </a:xfrm>
          <a:prstGeom prst="rect">
            <a:avLst/>
          </a:prstGeom>
          <a:solidFill>
            <a:srgbClr val="C6DFFA"/>
          </a:solidFill>
        </p:spPr>
        <p:txBody>
          <a:bodyPr vert="horz" wrap="square" lIns="0" tIns="0" rIns="0" bIns="0" rtlCol="0">
            <a:spAutoFit/>
          </a:bodyPr>
          <a:lstStyle/>
          <a:p>
            <a:pPr marL="8890">
              <a:lnSpc>
                <a:spcPts val="1095"/>
              </a:lnSpc>
            </a:pPr>
            <a:r>
              <a:rPr sz="1200" dirty="0">
                <a:latin typeface="微软雅黑" panose="020B0503020204020204" charset="-122"/>
                <a:ea typeface="微软雅黑" panose="020B0503020204020204" charset="-122"/>
                <a:cs typeface="微软雅黑" panose="020B0503020204020204" charset="-122"/>
              </a:rPr>
              <a:t>人共同进行</a:t>
            </a:r>
            <a:endParaRPr sz="1200" dirty="0">
              <a:latin typeface="微软雅黑" panose="020B0503020204020204" charset="-122"/>
              <a:ea typeface="微软雅黑" panose="020B0503020204020204" charset="-122"/>
              <a:cs typeface="微软雅黑" panose="020B0503020204020204" charset="-122"/>
            </a:endParaRPr>
          </a:p>
        </p:txBody>
      </p:sp>
      <p:sp>
        <p:nvSpPr>
          <p:cNvPr id="44" name="object 44"/>
          <p:cNvSpPr txBox="1"/>
          <p:nvPr/>
        </p:nvSpPr>
        <p:spPr>
          <a:xfrm>
            <a:off x="5456624" y="3185221"/>
            <a:ext cx="1007030" cy="387350"/>
          </a:xfrm>
          <a:prstGeom prst="rect">
            <a:avLst/>
          </a:prstGeom>
          <a:solidFill>
            <a:srgbClr val="C6DFFA"/>
          </a:solidFill>
          <a:ln w="9525">
            <a:solidFill>
              <a:srgbClr val="FFFFFF"/>
            </a:solidFill>
          </a:ln>
        </p:spPr>
        <p:txBody>
          <a:bodyPr vert="horz" wrap="square" lIns="0" tIns="54571" rIns="0" bIns="0" rtlCol="0">
            <a:spAutoFit/>
          </a:bodyPr>
          <a:lstStyle/>
          <a:p>
            <a:pPr marL="29845" marR="54610">
              <a:lnSpc>
                <a:spcPts val="1300"/>
              </a:lnSpc>
              <a:spcBef>
                <a:spcPts val="430"/>
              </a:spcBef>
            </a:pPr>
            <a:r>
              <a:rPr sz="1200" dirty="0">
                <a:latin typeface="微软雅黑" panose="020B0503020204020204" charset="-122"/>
                <a:ea typeface="微软雅黑" panose="020B0503020204020204" charset="-122"/>
                <a:cs typeface="微软雅黑" panose="020B0503020204020204" charset="-122"/>
              </a:rPr>
              <a:t>大客户管理利 润表现分析</a:t>
            </a:r>
            <a:endParaRPr sz="1200" dirty="0">
              <a:latin typeface="微软雅黑" panose="020B0503020204020204" charset="-122"/>
              <a:ea typeface="微软雅黑" panose="020B0503020204020204" charset="-122"/>
              <a:cs typeface="微软雅黑" panose="020B0503020204020204" charset="-122"/>
            </a:endParaRPr>
          </a:p>
        </p:txBody>
      </p:sp>
      <p:sp>
        <p:nvSpPr>
          <p:cNvPr id="45" name="object 45"/>
          <p:cNvSpPr txBox="1"/>
          <p:nvPr/>
        </p:nvSpPr>
        <p:spPr>
          <a:xfrm>
            <a:off x="5456624" y="2326294"/>
            <a:ext cx="1007030" cy="488950"/>
          </a:xfrm>
          <a:prstGeom prst="rect">
            <a:avLst/>
          </a:prstGeom>
          <a:solidFill>
            <a:srgbClr val="C6DFFA"/>
          </a:solidFill>
          <a:ln w="9525">
            <a:solidFill>
              <a:srgbClr val="FFFFFF"/>
            </a:solidFill>
          </a:ln>
        </p:spPr>
        <p:txBody>
          <a:bodyPr vert="horz" wrap="square" lIns="0" tIns="138331" rIns="0" bIns="0" rtlCol="0">
            <a:spAutoFit/>
          </a:bodyPr>
          <a:lstStyle/>
          <a:p>
            <a:pPr marL="29845">
              <a:lnSpc>
                <a:spcPts val="1370"/>
              </a:lnSpc>
              <a:spcBef>
                <a:spcPts val="1090"/>
              </a:spcBef>
            </a:pPr>
            <a:r>
              <a:rPr sz="1200" dirty="0">
                <a:latin typeface="微软雅黑" panose="020B0503020204020204" charset="-122"/>
                <a:ea typeface="微软雅黑" panose="020B0503020204020204" charset="-122"/>
                <a:cs typeface="微软雅黑" panose="020B0503020204020204" charset="-122"/>
              </a:rPr>
              <a:t>发展性建议</a:t>
            </a:r>
            <a:r>
              <a:rPr sz="1200" dirty="0">
                <a:latin typeface="微软雅黑" panose="020B0503020204020204" charset="-122"/>
                <a:ea typeface="微软雅黑" panose="020B0503020204020204" charset="-122"/>
                <a:cs typeface="微软雅黑" panose="020B0503020204020204" charset="-122"/>
              </a:rPr>
              <a:t>/目</a:t>
            </a:r>
            <a:endParaRPr sz="1200">
              <a:latin typeface="微软雅黑" panose="020B0503020204020204" charset="-122"/>
              <a:ea typeface="微软雅黑" panose="020B0503020204020204" charset="-122"/>
              <a:cs typeface="微软雅黑" panose="020B0503020204020204" charset="-122"/>
            </a:endParaRPr>
          </a:p>
          <a:p>
            <a:pPr marL="29845">
              <a:lnSpc>
                <a:spcPts val="1370"/>
              </a:lnSpc>
            </a:pPr>
            <a:r>
              <a:rPr sz="1200" spc="-5" dirty="0">
                <a:latin typeface="微软雅黑" panose="020B0503020204020204" charset="-122"/>
                <a:ea typeface="微软雅黑" panose="020B0503020204020204" charset="-122"/>
                <a:cs typeface="微软雅黑" panose="020B0503020204020204" charset="-122"/>
              </a:rPr>
              <a:t>标设定</a:t>
            </a:r>
            <a:endParaRPr sz="1200">
              <a:latin typeface="微软雅黑" panose="020B0503020204020204" charset="-122"/>
              <a:ea typeface="微软雅黑" panose="020B0503020204020204" charset="-122"/>
              <a:cs typeface="微软雅黑" panose="020B0503020204020204" charset="-122"/>
            </a:endParaRPr>
          </a:p>
        </p:txBody>
      </p:sp>
      <p:sp>
        <p:nvSpPr>
          <p:cNvPr id="46" name="object 46"/>
          <p:cNvSpPr txBox="1"/>
          <p:nvPr/>
        </p:nvSpPr>
        <p:spPr>
          <a:xfrm>
            <a:off x="6659732" y="2671997"/>
            <a:ext cx="1003858" cy="274320"/>
          </a:xfrm>
          <a:prstGeom prst="rect">
            <a:avLst/>
          </a:prstGeom>
          <a:solidFill>
            <a:srgbClr val="C6DFFA"/>
          </a:solidFill>
          <a:ln w="9525">
            <a:solidFill>
              <a:srgbClr val="FFFFFF"/>
            </a:solidFill>
          </a:ln>
        </p:spPr>
        <p:txBody>
          <a:bodyPr vert="horz" wrap="square" lIns="0" tIns="90740" rIns="0" bIns="0" rtlCol="0">
            <a:spAutoFit/>
          </a:bodyPr>
          <a:lstStyle/>
          <a:p>
            <a:pPr marL="45085">
              <a:lnSpc>
                <a:spcPct val="100000"/>
              </a:lnSpc>
              <a:spcBef>
                <a:spcPts val="715"/>
              </a:spcBef>
            </a:pPr>
            <a:r>
              <a:rPr sz="1200" dirty="0">
                <a:latin typeface="微软雅黑" panose="020B0503020204020204" charset="-122"/>
                <a:ea typeface="微软雅黑" panose="020B0503020204020204" charset="-122"/>
                <a:cs typeface="微软雅黑" panose="020B0503020204020204" charset="-122"/>
              </a:rPr>
              <a:t>年度评分卡</a:t>
            </a:r>
            <a:endParaRPr sz="1200" dirty="0">
              <a:latin typeface="微软雅黑" panose="020B0503020204020204" charset="-122"/>
              <a:ea typeface="微软雅黑" panose="020B0503020204020204" charset="-122"/>
              <a:cs typeface="微软雅黑" panose="020B0503020204020204" charset="-122"/>
            </a:endParaRPr>
          </a:p>
        </p:txBody>
      </p:sp>
      <p:sp>
        <p:nvSpPr>
          <p:cNvPr id="47" name="object 47"/>
          <p:cNvSpPr txBox="1"/>
          <p:nvPr/>
        </p:nvSpPr>
        <p:spPr>
          <a:xfrm>
            <a:off x="6664491" y="1832676"/>
            <a:ext cx="994339" cy="565785"/>
          </a:xfrm>
          <a:prstGeom prst="rect">
            <a:avLst/>
          </a:prstGeom>
          <a:solidFill>
            <a:srgbClr val="C6DFFA"/>
          </a:solidFill>
        </p:spPr>
        <p:txBody>
          <a:bodyPr vert="horz" wrap="square" lIns="0" tIns="66627" rIns="0" bIns="0" rtlCol="0">
            <a:spAutoFit/>
          </a:bodyPr>
          <a:lstStyle/>
          <a:p>
            <a:pPr marL="40640" marR="31750">
              <a:lnSpc>
                <a:spcPts val="1300"/>
              </a:lnSpc>
              <a:spcBef>
                <a:spcPts val="525"/>
              </a:spcBef>
            </a:pPr>
            <a:r>
              <a:rPr sz="1200" dirty="0">
                <a:latin typeface="微软雅黑" panose="020B0503020204020204" charset="-122"/>
                <a:ea typeface="微软雅黑" panose="020B0503020204020204" charset="-122"/>
                <a:cs typeface="微软雅黑" panose="020B0503020204020204" charset="-122"/>
              </a:rPr>
              <a:t>战略业绩考 核，大客户计 划审核</a:t>
            </a:r>
            <a:endParaRPr sz="1200" dirty="0">
              <a:latin typeface="微软雅黑" panose="020B0503020204020204" charset="-122"/>
              <a:ea typeface="微软雅黑" panose="020B0503020204020204" charset="-122"/>
              <a:cs typeface="微软雅黑" panose="020B0503020204020204" charset="-122"/>
            </a:endParaRPr>
          </a:p>
        </p:txBody>
      </p:sp>
      <p:sp>
        <p:nvSpPr>
          <p:cNvPr id="48" name="object 48"/>
          <p:cNvSpPr/>
          <p:nvPr/>
        </p:nvSpPr>
        <p:spPr>
          <a:xfrm>
            <a:off x="2252907" y="4450007"/>
            <a:ext cx="85664" cy="205594"/>
          </a:xfrm>
          <a:prstGeom prst="rect">
            <a:avLst/>
          </a:prstGeom>
          <a:blipFill>
            <a:blip r:embed="rId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9" name="object 49"/>
          <p:cNvSpPr/>
          <p:nvPr/>
        </p:nvSpPr>
        <p:spPr>
          <a:xfrm>
            <a:off x="2815119" y="4647986"/>
            <a:ext cx="702447" cy="210671"/>
          </a:xfrm>
          <a:custGeom>
            <a:avLst/>
            <a:gdLst/>
            <a:ahLst/>
            <a:cxnLst/>
            <a:rect l="l" t="t" r="r" b="b"/>
            <a:pathLst>
              <a:path w="702945" h="210820">
                <a:moveTo>
                  <a:pt x="645540" y="182244"/>
                </a:moveTo>
                <a:lnTo>
                  <a:pt x="0" y="182244"/>
                </a:lnTo>
                <a:lnTo>
                  <a:pt x="0" y="210819"/>
                </a:lnTo>
                <a:lnTo>
                  <a:pt x="667765" y="210819"/>
                </a:lnTo>
                <a:lnTo>
                  <a:pt x="674115" y="204469"/>
                </a:lnTo>
                <a:lnTo>
                  <a:pt x="674115" y="196595"/>
                </a:lnTo>
                <a:lnTo>
                  <a:pt x="645540" y="196595"/>
                </a:lnTo>
                <a:lnTo>
                  <a:pt x="645540" y="182244"/>
                </a:lnTo>
                <a:close/>
              </a:path>
              <a:path w="702945" h="210820">
                <a:moveTo>
                  <a:pt x="674115" y="71373"/>
                </a:moveTo>
                <a:lnTo>
                  <a:pt x="645540" y="71373"/>
                </a:lnTo>
                <a:lnTo>
                  <a:pt x="645540" y="196595"/>
                </a:lnTo>
                <a:lnTo>
                  <a:pt x="659891" y="182244"/>
                </a:lnTo>
                <a:lnTo>
                  <a:pt x="674115" y="182244"/>
                </a:lnTo>
                <a:lnTo>
                  <a:pt x="674115" y="71373"/>
                </a:lnTo>
                <a:close/>
              </a:path>
              <a:path w="702945" h="210820">
                <a:moveTo>
                  <a:pt x="674115" y="182244"/>
                </a:moveTo>
                <a:lnTo>
                  <a:pt x="659891" y="182244"/>
                </a:lnTo>
                <a:lnTo>
                  <a:pt x="645540" y="196595"/>
                </a:lnTo>
                <a:lnTo>
                  <a:pt x="674115" y="196595"/>
                </a:lnTo>
                <a:lnTo>
                  <a:pt x="674115" y="182244"/>
                </a:lnTo>
                <a:close/>
              </a:path>
              <a:path w="702945" h="210820">
                <a:moveTo>
                  <a:pt x="659891" y="0"/>
                </a:moveTo>
                <a:lnTo>
                  <a:pt x="616965" y="85724"/>
                </a:lnTo>
                <a:lnTo>
                  <a:pt x="645540" y="85724"/>
                </a:lnTo>
                <a:lnTo>
                  <a:pt x="645540" y="71373"/>
                </a:lnTo>
                <a:lnTo>
                  <a:pt x="695526" y="71373"/>
                </a:lnTo>
                <a:lnTo>
                  <a:pt x="659891" y="0"/>
                </a:lnTo>
                <a:close/>
              </a:path>
              <a:path w="702945" h="210820">
                <a:moveTo>
                  <a:pt x="695526" y="71373"/>
                </a:moveTo>
                <a:lnTo>
                  <a:pt x="674115" y="71373"/>
                </a:lnTo>
                <a:lnTo>
                  <a:pt x="674115" y="85724"/>
                </a:lnTo>
                <a:lnTo>
                  <a:pt x="702690" y="85724"/>
                </a:lnTo>
                <a:lnTo>
                  <a:pt x="695526" y="71373"/>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0" name="object 50"/>
          <p:cNvSpPr/>
          <p:nvPr/>
        </p:nvSpPr>
        <p:spPr>
          <a:xfrm>
            <a:off x="3431647" y="4121056"/>
            <a:ext cx="85664" cy="147722"/>
          </a:xfrm>
          <a:prstGeom prst="rect">
            <a:avLst/>
          </a:prstGeom>
          <a:blipFill>
            <a:blip r:embed="rId2"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51" name="object 51"/>
          <p:cNvSpPr/>
          <p:nvPr/>
        </p:nvSpPr>
        <p:spPr>
          <a:xfrm>
            <a:off x="4022795" y="4343402"/>
            <a:ext cx="740520" cy="178943"/>
          </a:xfrm>
          <a:custGeom>
            <a:avLst/>
            <a:gdLst/>
            <a:ahLst/>
            <a:cxnLst/>
            <a:rect l="l" t="t" r="r" b="b"/>
            <a:pathLst>
              <a:path w="741045" h="179070">
                <a:moveTo>
                  <a:pt x="683640" y="150240"/>
                </a:moveTo>
                <a:lnTo>
                  <a:pt x="0" y="150240"/>
                </a:lnTo>
                <a:lnTo>
                  <a:pt x="0" y="178815"/>
                </a:lnTo>
                <a:lnTo>
                  <a:pt x="705865" y="178815"/>
                </a:lnTo>
                <a:lnTo>
                  <a:pt x="712215" y="172465"/>
                </a:lnTo>
                <a:lnTo>
                  <a:pt x="712215" y="164591"/>
                </a:lnTo>
                <a:lnTo>
                  <a:pt x="683640" y="164591"/>
                </a:lnTo>
                <a:lnTo>
                  <a:pt x="683640" y="150240"/>
                </a:lnTo>
                <a:close/>
              </a:path>
              <a:path w="741045" h="179070">
                <a:moveTo>
                  <a:pt x="712215" y="71373"/>
                </a:moveTo>
                <a:lnTo>
                  <a:pt x="683640" y="71373"/>
                </a:lnTo>
                <a:lnTo>
                  <a:pt x="683640" y="164591"/>
                </a:lnTo>
                <a:lnTo>
                  <a:pt x="697991" y="150240"/>
                </a:lnTo>
                <a:lnTo>
                  <a:pt x="712215" y="150240"/>
                </a:lnTo>
                <a:lnTo>
                  <a:pt x="712215" y="71373"/>
                </a:lnTo>
                <a:close/>
              </a:path>
              <a:path w="741045" h="179070">
                <a:moveTo>
                  <a:pt x="712215" y="150240"/>
                </a:moveTo>
                <a:lnTo>
                  <a:pt x="697991" y="150240"/>
                </a:lnTo>
                <a:lnTo>
                  <a:pt x="683640" y="164591"/>
                </a:lnTo>
                <a:lnTo>
                  <a:pt x="712215" y="164591"/>
                </a:lnTo>
                <a:lnTo>
                  <a:pt x="712215" y="150240"/>
                </a:lnTo>
                <a:close/>
              </a:path>
              <a:path w="741045" h="179070">
                <a:moveTo>
                  <a:pt x="697991" y="0"/>
                </a:moveTo>
                <a:lnTo>
                  <a:pt x="655065" y="85724"/>
                </a:lnTo>
                <a:lnTo>
                  <a:pt x="683640" y="85724"/>
                </a:lnTo>
                <a:lnTo>
                  <a:pt x="683640" y="71373"/>
                </a:lnTo>
                <a:lnTo>
                  <a:pt x="733626" y="71373"/>
                </a:lnTo>
                <a:lnTo>
                  <a:pt x="697991" y="0"/>
                </a:lnTo>
                <a:close/>
              </a:path>
              <a:path w="741045" h="179070">
                <a:moveTo>
                  <a:pt x="733626" y="71373"/>
                </a:moveTo>
                <a:lnTo>
                  <a:pt x="712215" y="71373"/>
                </a:lnTo>
                <a:lnTo>
                  <a:pt x="712215" y="85724"/>
                </a:lnTo>
                <a:lnTo>
                  <a:pt x="740790" y="85724"/>
                </a:lnTo>
                <a:lnTo>
                  <a:pt x="733626" y="71373"/>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2" name="object 52"/>
          <p:cNvSpPr/>
          <p:nvPr/>
        </p:nvSpPr>
        <p:spPr>
          <a:xfrm>
            <a:off x="5912486" y="2986480"/>
            <a:ext cx="85664" cy="199502"/>
          </a:xfrm>
          <a:prstGeom prst="rect">
            <a:avLst/>
          </a:prstGeom>
          <a:blipFill>
            <a:blip r:embed="rId3"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53" name="object 53"/>
          <p:cNvSpPr/>
          <p:nvPr/>
        </p:nvSpPr>
        <p:spPr>
          <a:xfrm>
            <a:off x="6465559" y="3068717"/>
            <a:ext cx="743693" cy="212574"/>
          </a:xfrm>
          <a:custGeom>
            <a:avLst/>
            <a:gdLst/>
            <a:ahLst/>
            <a:cxnLst/>
            <a:rect l="l" t="t" r="r" b="b"/>
            <a:pathLst>
              <a:path w="744220" h="212725">
                <a:moveTo>
                  <a:pt x="686688" y="183768"/>
                </a:moveTo>
                <a:lnTo>
                  <a:pt x="0" y="183768"/>
                </a:lnTo>
                <a:lnTo>
                  <a:pt x="0" y="212343"/>
                </a:lnTo>
                <a:lnTo>
                  <a:pt x="708913" y="212343"/>
                </a:lnTo>
                <a:lnTo>
                  <a:pt x="715263" y="205993"/>
                </a:lnTo>
                <a:lnTo>
                  <a:pt x="715263" y="198119"/>
                </a:lnTo>
                <a:lnTo>
                  <a:pt x="686688" y="198119"/>
                </a:lnTo>
                <a:lnTo>
                  <a:pt x="686688" y="183768"/>
                </a:lnTo>
                <a:close/>
              </a:path>
              <a:path w="744220" h="212725">
                <a:moveTo>
                  <a:pt x="715263" y="71374"/>
                </a:moveTo>
                <a:lnTo>
                  <a:pt x="686688" y="71374"/>
                </a:lnTo>
                <a:lnTo>
                  <a:pt x="686688" y="198119"/>
                </a:lnTo>
                <a:lnTo>
                  <a:pt x="701039" y="183768"/>
                </a:lnTo>
                <a:lnTo>
                  <a:pt x="715263" y="183768"/>
                </a:lnTo>
                <a:lnTo>
                  <a:pt x="715263" y="71374"/>
                </a:lnTo>
                <a:close/>
              </a:path>
              <a:path w="744220" h="212725">
                <a:moveTo>
                  <a:pt x="715263" y="183768"/>
                </a:moveTo>
                <a:lnTo>
                  <a:pt x="701039" y="183768"/>
                </a:lnTo>
                <a:lnTo>
                  <a:pt x="686688" y="198119"/>
                </a:lnTo>
                <a:lnTo>
                  <a:pt x="715263" y="198119"/>
                </a:lnTo>
                <a:lnTo>
                  <a:pt x="715263" y="183768"/>
                </a:lnTo>
                <a:close/>
              </a:path>
              <a:path w="744220" h="212725">
                <a:moveTo>
                  <a:pt x="701039" y="0"/>
                </a:moveTo>
                <a:lnTo>
                  <a:pt x="658113" y="85725"/>
                </a:lnTo>
                <a:lnTo>
                  <a:pt x="686688" y="85725"/>
                </a:lnTo>
                <a:lnTo>
                  <a:pt x="686688" y="71374"/>
                </a:lnTo>
                <a:lnTo>
                  <a:pt x="736674" y="71374"/>
                </a:lnTo>
                <a:lnTo>
                  <a:pt x="701039" y="0"/>
                </a:lnTo>
                <a:close/>
              </a:path>
              <a:path w="744220" h="212725">
                <a:moveTo>
                  <a:pt x="736674" y="71374"/>
                </a:moveTo>
                <a:lnTo>
                  <a:pt x="715263" y="71374"/>
                </a:lnTo>
                <a:lnTo>
                  <a:pt x="715263" y="85725"/>
                </a:lnTo>
                <a:lnTo>
                  <a:pt x="743838" y="85725"/>
                </a:lnTo>
                <a:lnTo>
                  <a:pt x="736674" y="71374"/>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4" name="object 54"/>
          <p:cNvSpPr/>
          <p:nvPr/>
        </p:nvSpPr>
        <p:spPr>
          <a:xfrm>
            <a:off x="7103409" y="2497622"/>
            <a:ext cx="85664" cy="175135"/>
          </a:xfrm>
          <a:prstGeom prst="rect">
            <a:avLst/>
          </a:prstGeom>
          <a:blipFill>
            <a:blip r:embed="rId4"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55" name="object 55"/>
          <p:cNvSpPr/>
          <p:nvPr/>
        </p:nvSpPr>
        <p:spPr>
          <a:xfrm>
            <a:off x="4695163" y="3360357"/>
            <a:ext cx="76146" cy="127925"/>
          </a:xfrm>
          <a:prstGeom prst="rect">
            <a:avLst/>
          </a:prstGeom>
          <a:blipFill>
            <a:blip r:embed="rId5"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56" name="object 56"/>
          <p:cNvSpPr/>
          <p:nvPr/>
        </p:nvSpPr>
        <p:spPr>
          <a:xfrm>
            <a:off x="5244177" y="3770783"/>
            <a:ext cx="760191" cy="163714"/>
          </a:xfrm>
          <a:custGeom>
            <a:avLst/>
            <a:gdLst/>
            <a:ahLst/>
            <a:cxnLst/>
            <a:rect l="l" t="t" r="r" b="b"/>
            <a:pathLst>
              <a:path w="760729" h="163829">
                <a:moveTo>
                  <a:pt x="703452" y="135000"/>
                </a:moveTo>
                <a:lnTo>
                  <a:pt x="0" y="135000"/>
                </a:lnTo>
                <a:lnTo>
                  <a:pt x="0" y="163575"/>
                </a:lnTo>
                <a:lnTo>
                  <a:pt x="725677" y="163575"/>
                </a:lnTo>
                <a:lnTo>
                  <a:pt x="732027" y="157225"/>
                </a:lnTo>
                <a:lnTo>
                  <a:pt x="732027" y="149351"/>
                </a:lnTo>
                <a:lnTo>
                  <a:pt x="703452" y="149351"/>
                </a:lnTo>
                <a:lnTo>
                  <a:pt x="703452" y="135000"/>
                </a:lnTo>
                <a:close/>
              </a:path>
              <a:path w="760729" h="163829">
                <a:moveTo>
                  <a:pt x="732027" y="71373"/>
                </a:moveTo>
                <a:lnTo>
                  <a:pt x="703452" y="71373"/>
                </a:lnTo>
                <a:lnTo>
                  <a:pt x="703452" y="149351"/>
                </a:lnTo>
                <a:lnTo>
                  <a:pt x="717803" y="135000"/>
                </a:lnTo>
                <a:lnTo>
                  <a:pt x="732027" y="135000"/>
                </a:lnTo>
                <a:lnTo>
                  <a:pt x="732027" y="71373"/>
                </a:lnTo>
                <a:close/>
              </a:path>
              <a:path w="760729" h="163829">
                <a:moveTo>
                  <a:pt x="732027" y="135000"/>
                </a:moveTo>
                <a:lnTo>
                  <a:pt x="717803" y="135000"/>
                </a:lnTo>
                <a:lnTo>
                  <a:pt x="703452" y="149351"/>
                </a:lnTo>
                <a:lnTo>
                  <a:pt x="732027" y="149351"/>
                </a:lnTo>
                <a:lnTo>
                  <a:pt x="732027" y="135000"/>
                </a:lnTo>
                <a:close/>
              </a:path>
              <a:path w="760729" h="163829">
                <a:moveTo>
                  <a:pt x="717803" y="0"/>
                </a:moveTo>
                <a:lnTo>
                  <a:pt x="674877" y="85725"/>
                </a:lnTo>
                <a:lnTo>
                  <a:pt x="703452" y="85725"/>
                </a:lnTo>
                <a:lnTo>
                  <a:pt x="703452" y="71373"/>
                </a:lnTo>
                <a:lnTo>
                  <a:pt x="753438" y="71373"/>
                </a:lnTo>
                <a:lnTo>
                  <a:pt x="717803" y="0"/>
                </a:lnTo>
                <a:close/>
              </a:path>
              <a:path w="760729" h="163829">
                <a:moveTo>
                  <a:pt x="753438" y="71373"/>
                </a:moveTo>
                <a:lnTo>
                  <a:pt x="732027" y="71373"/>
                </a:lnTo>
                <a:lnTo>
                  <a:pt x="732027" y="85725"/>
                </a:lnTo>
                <a:lnTo>
                  <a:pt x="760602" y="85725"/>
                </a:lnTo>
                <a:lnTo>
                  <a:pt x="753438" y="71373"/>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7" name="object 57"/>
          <p:cNvSpPr txBox="1"/>
          <p:nvPr/>
        </p:nvSpPr>
        <p:spPr>
          <a:xfrm>
            <a:off x="1694503" y="5139255"/>
            <a:ext cx="1131403" cy="382270"/>
          </a:xfrm>
          <a:prstGeom prst="rect">
            <a:avLst/>
          </a:prstGeom>
        </p:spPr>
        <p:txBody>
          <a:bodyPr vert="horz" wrap="square" lIns="0" tIns="12691" rIns="0" bIns="0" rtlCol="0">
            <a:spAutoFit/>
          </a:bodyPr>
          <a:lstStyle/>
          <a:p>
            <a:pPr marL="192405" marR="5080" indent="-192405" algn="r">
              <a:lnSpc>
                <a:spcPct val="100000"/>
              </a:lnSpc>
              <a:spcBef>
                <a:spcPts val="100"/>
              </a:spcBef>
              <a:buClr>
                <a:srgbClr val="00295F"/>
              </a:buClr>
              <a:buSzPct val="125000"/>
              <a:buFont typeface="Arial" panose="020B0604020202020204"/>
              <a:buChar char="▪"/>
              <a:tabLst>
                <a:tab pos="192405" algn="l"/>
              </a:tabLst>
            </a:pPr>
            <a:r>
              <a:rPr sz="1200" dirty="0">
                <a:latin typeface="微软雅黑" panose="020B0503020204020204" charset="-122"/>
                <a:ea typeface="微软雅黑" panose="020B0503020204020204" charset="-122"/>
                <a:cs typeface="微软雅黑" panose="020B0503020204020204" charset="-122"/>
              </a:rPr>
              <a:t>个人资源分配</a:t>
            </a:r>
            <a:endParaRPr sz="1200">
              <a:latin typeface="微软雅黑" panose="020B0503020204020204" charset="-122"/>
              <a:ea typeface="微软雅黑" panose="020B0503020204020204" charset="-122"/>
              <a:cs typeface="微软雅黑" panose="020B0503020204020204" charset="-122"/>
            </a:endParaRPr>
          </a:p>
          <a:p>
            <a:pPr marR="5080" algn="r">
              <a:lnSpc>
                <a:spcPct val="100000"/>
              </a:lnSpc>
              <a:spcBef>
                <a:spcPts val="10"/>
              </a:spcBef>
            </a:pPr>
            <a:r>
              <a:rPr sz="1200" dirty="0">
                <a:latin typeface="微软雅黑" panose="020B0503020204020204" charset="-122"/>
                <a:ea typeface="微软雅黑" panose="020B0503020204020204" charset="-122"/>
                <a:cs typeface="微软雅黑" panose="020B0503020204020204" charset="-122"/>
              </a:rPr>
              <a:t>（自我监督）</a:t>
            </a:r>
            <a:endParaRPr sz="1200">
              <a:latin typeface="微软雅黑" panose="020B0503020204020204" charset="-122"/>
              <a:ea typeface="微软雅黑" panose="020B0503020204020204" charset="-122"/>
              <a:cs typeface="微软雅黑" panose="020B0503020204020204" charset="-122"/>
            </a:endParaRPr>
          </a:p>
        </p:txBody>
      </p:sp>
      <p:sp>
        <p:nvSpPr>
          <p:cNvPr id="58" name="object 58"/>
          <p:cNvSpPr txBox="1"/>
          <p:nvPr/>
        </p:nvSpPr>
        <p:spPr>
          <a:xfrm>
            <a:off x="1801615" y="4598490"/>
            <a:ext cx="1003858" cy="323215"/>
          </a:xfrm>
          <a:prstGeom prst="rect">
            <a:avLst/>
          </a:prstGeom>
          <a:solidFill>
            <a:srgbClr val="C6DFFA"/>
          </a:solidFill>
          <a:ln w="9525">
            <a:solidFill>
              <a:srgbClr val="FFFFFF"/>
            </a:solidFill>
          </a:ln>
        </p:spPr>
        <p:txBody>
          <a:bodyPr vert="horz" wrap="square" lIns="0" tIns="139601" rIns="0" bIns="0" rtlCol="0">
            <a:spAutoFit/>
          </a:bodyPr>
          <a:lstStyle/>
          <a:p>
            <a:pPr marL="33655">
              <a:lnSpc>
                <a:spcPct val="100000"/>
              </a:lnSpc>
              <a:spcBef>
                <a:spcPts val="1100"/>
              </a:spcBef>
            </a:pPr>
            <a:r>
              <a:rPr sz="1200" dirty="0">
                <a:latin typeface="微软雅黑" panose="020B0503020204020204" charset="-122"/>
                <a:ea typeface="微软雅黑" panose="020B0503020204020204" charset="-122"/>
                <a:cs typeface="微软雅黑" panose="020B0503020204020204" charset="-122"/>
              </a:rPr>
              <a:t>客户优先计划</a:t>
            </a:r>
            <a:endParaRPr sz="1200" dirty="0">
              <a:latin typeface="微软雅黑" panose="020B0503020204020204" charset="-122"/>
              <a:ea typeface="微软雅黑" panose="020B0503020204020204" charset="-122"/>
              <a:cs typeface="微软雅黑" panose="020B0503020204020204" charset="-122"/>
            </a:endParaRPr>
          </a:p>
        </p:txBody>
      </p:sp>
      <p:sp>
        <p:nvSpPr>
          <p:cNvPr id="59" name="object 59"/>
          <p:cNvSpPr txBox="1"/>
          <p:nvPr/>
        </p:nvSpPr>
        <p:spPr>
          <a:xfrm>
            <a:off x="106401" y="6412696"/>
            <a:ext cx="1361110"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5" dirty="0">
                <a:latin typeface="微软雅黑" panose="020B0503020204020204" charset="-122"/>
                <a:ea typeface="微软雅黑" panose="020B0503020204020204" charset="-122"/>
                <a:cs typeface="微软雅黑" panose="020B0503020204020204" charset="-122"/>
              </a:rPr>
              <a:t>:</a:t>
            </a:r>
            <a:r>
              <a:rPr sz="1000" spc="-40"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匿名客户分析</a:t>
            </a:r>
            <a:endParaRPr sz="1000">
              <a:latin typeface="微软雅黑" panose="020B0503020204020204" charset="-122"/>
              <a:ea typeface="微软雅黑" panose="020B0503020204020204" charset="-122"/>
              <a:cs typeface="微软雅黑" panose="020B0503020204020204" charset="-122"/>
            </a:endParaRPr>
          </a:p>
        </p:txBody>
      </p:sp>
      <p:sp>
        <p:nvSpPr>
          <p:cNvPr id="60" name="object 60"/>
          <p:cNvSpPr txBox="1"/>
          <p:nvPr/>
        </p:nvSpPr>
        <p:spPr>
          <a:xfrm>
            <a:off x="7478302" y="263117"/>
            <a:ext cx="1270370" cy="196215"/>
          </a:xfrm>
          <a:prstGeom prst="rect">
            <a:avLst/>
          </a:prstGeom>
        </p:spPr>
        <p:txBody>
          <a:bodyPr vert="horz" wrap="square" lIns="0" tIns="12691" rIns="0" bIns="0" rtlCol="0">
            <a:spAutoFit/>
          </a:bodyPr>
          <a:lstStyle/>
          <a:p>
            <a:pPr marL="12700">
              <a:lnSpc>
                <a:spcPct val="100000"/>
              </a:lnSpc>
              <a:spcBef>
                <a:spcPts val="100"/>
              </a:spcBef>
            </a:pPr>
            <a:r>
              <a:rPr sz="1200" dirty="0">
                <a:solidFill>
                  <a:srgbClr val="808080"/>
                </a:solidFill>
                <a:latin typeface="微软雅黑" panose="020B0503020204020204" charset="-122"/>
                <a:ea typeface="微软雅黑" panose="020B0503020204020204" charset="-122"/>
                <a:cs typeface="微软雅黑" panose="020B0503020204020204" charset="-122"/>
              </a:rPr>
              <a:t>B2B</a:t>
            </a:r>
            <a:r>
              <a:rPr sz="1200" spc="-85" dirty="0">
                <a:solidFill>
                  <a:srgbClr val="808080"/>
                </a:solidFill>
                <a:latin typeface="微软雅黑" panose="020B0503020204020204" charset="-122"/>
                <a:ea typeface="微软雅黑" panose="020B0503020204020204" charset="-122"/>
                <a:cs typeface="微软雅黑" panose="020B0503020204020204" charset="-122"/>
              </a:rPr>
              <a:t> </a:t>
            </a:r>
            <a:r>
              <a:rPr sz="1200" dirty="0">
                <a:solidFill>
                  <a:srgbClr val="808080"/>
                </a:solidFill>
                <a:latin typeface="微软雅黑" panose="020B0503020204020204" charset="-122"/>
                <a:ea typeface="微软雅黑" panose="020B0503020204020204" charset="-122"/>
                <a:cs typeface="微软雅黑" panose="020B0503020204020204" charset="-122"/>
              </a:rPr>
              <a:t>工业公司举例</a:t>
            </a:r>
            <a:endParaRPr sz="1200">
              <a:latin typeface="微软雅黑" panose="020B0503020204020204" charset="-122"/>
              <a:ea typeface="微软雅黑" panose="020B0503020204020204" charset="-122"/>
              <a:cs typeface="微软雅黑" panose="020B0503020204020204" charset="-122"/>
            </a:endParaRPr>
          </a:p>
        </p:txBody>
      </p:sp>
      <p:sp>
        <p:nvSpPr>
          <p:cNvPr id="61" name="object 61"/>
          <p:cNvSpPr/>
          <p:nvPr/>
        </p:nvSpPr>
        <p:spPr>
          <a:xfrm>
            <a:off x="7463833" y="287103"/>
            <a:ext cx="0" cy="209402"/>
          </a:xfrm>
          <a:custGeom>
            <a:avLst/>
            <a:gdLst/>
            <a:ahLst/>
            <a:cxnLst/>
            <a:rect l="l" t="t" r="r" b="b"/>
            <a:pathLst>
              <a:path h="209550">
                <a:moveTo>
                  <a:pt x="0" y="0"/>
                </a:moveTo>
                <a:lnTo>
                  <a:pt x="0" y="209550"/>
                </a:lnTo>
              </a:path>
            </a:pathLst>
          </a:custGeom>
          <a:ln w="9525">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2" name="object 62"/>
          <p:cNvSpPr/>
          <p:nvPr/>
        </p:nvSpPr>
        <p:spPr>
          <a:xfrm>
            <a:off x="7464595" y="496504"/>
            <a:ext cx="1271004" cy="0"/>
          </a:xfrm>
          <a:custGeom>
            <a:avLst/>
            <a:gdLst/>
            <a:ahLst/>
            <a:cxnLst/>
            <a:rect l="l" t="t" r="r" b="b"/>
            <a:pathLst>
              <a:path w="1271904">
                <a:moveTo>
                  <a:pt x="0" y="0"/>
                </a:moveTo>
                <a:lnTo>
                  <a:pt x="1271524" y="0"/>
                </a:lnTo>
              </a:path>
            </a:pathLst>
          </a:custGeom>
          <a:ln w="25400">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3" name="object 63"/>
          <p:cNvSpPr/>
          <p:nvPr/>
        </p:nvSpPr>
        <p:spPr>
          <a:xfrm>
            <a:off x="119549" y="811749"/>
            <a:ext cx="8617193" cy="5304840"/>
          </a:xfrm>
          <a:custGeom>
            <a:avLst/>
            <a:gdLst/>
            <a:ahLst/>
            <a:cxnLst/>
            <a:rect l="l" t="t" r="r" b="b"/>
            <a:pathLst>
              <a:path w="8623300" h="5308600">
                <a:moveTo>
                  <a:pt x="0" y="5308091"/>
                </a:moveTo>
                <a:lnTo>
                  <a:pt x="8622792" y="5308091"/>
                </a:lnTo>
                <a:lnTo>
                  <a:pt x="8622792" y="0"/>
                </a:lnTo>
                <a:lnTo>
                  <a:pt x="0" y="0"/>
                </a:lnTo>
                <a:lnTo>
                  <a:pt x="0" y="5308091"/>
                </a:lnTo>
                <a:close/>
              </a:path>
            </a:pathLst>
          </a:custGeom>
          <a:ln w="19050">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321895" y="1255680"/>
            <a:ext cx="6243975" cy="3364132"/>
          </a:xfrm>
          <a:prstGeom prst="rect">
            <a:avLst/>
          </a:prstGeom>
          <a:blipFill>
            <a:blip r:embed="rId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 name="object 4"/>
          <p:cNvSpPr txBox="1">
            <a:spLocks noGrp="1"/>
          </p:cNvSpPr>
          <p:nvPr>
            <p:ph type="title"/>
          </p:nvPr>
        </p:nvSpPr>
        <p:spPr>
          <a:xfrm>
            <a:off x="106401" y="203088"/>
            <a:ext cx="8560718" cy="595630"/>
          </a:xfrm>
          <a:prstGeom prst="rect">
            <a:avLst/>
          </a:prstGeom>
        </p:spPr>
        <p:txBody>
          <a:bodyPr vert="horz" wrap="square" lIns="0" tIns="12056" rIns="0" bIns="0" rtlCol="0">
            <a:spAutoFit/>
          </a:bodyPr>
          <a:lstStyle/>
          <a:p>
            <a:pPr marL="12700" marR="5080">
              <a:lnSpc>
                <a:spcPct val="100000"/>
              </a:lnSpc>
              <a:spcBef>
                <a:spcPts val="95"/>
              </a:spcBef>
              <a:tabLst>
                <a:tab pos="3725545" algn="l"/>
              </a:tabLst>
            </a:pPr>
            <a:r>
              <a:rPr spc="-5" dirty="0">
                <a:ea typeface="微软雅黑" panose="020B0503020204020204" charset="-122"/>
              </a:rPr>
              <a:t>中国销售人</a:t>
            </a:r>
            <a:r>
              <a:rPr spc="-10" dirty="0">
                <a:ea typeface="微软雅黑" panose="020B0503020204020204" charset="-122"/>
              </a:rPr>
              <a:t>员都</a:t>
            </a:r>
            <a:r>
              <a:rPr spc="-5" dirty="0">
                <a:ea typeface="微软雅黑" panose="020B0503020204020204" charset="-122"/>
              </a:rPr>
              <a:t>非</a:t>
            </a:r>
            <a:r>
              <a:rPr spc="-10" dirty="0">
                <a:ea typeface="微软雅黑" panose="020B0503020204020204" charset="-122"/>
              </a:rPr>
              <a:t>常“</a:t>
            </a:r>
            <a:r>
              <a:rPr spc="-5" dirty="0">
                <a:ea typeface="微软雅黑" panose="020B0503020204020204" charset="-122"/>
              </a:rPr>
              <a:t>爱</a:t>
            </a:r>
            <a:r>
              <a:rPr spc="-10" dirty="0">
                <a:ea typeface="微软雅黑" panose="020B0503020204020204" charset="-122"/>
              </a:rPr>
              <a:t>面子”</a:t>
            </a:r>
            <a:r>
              <a:rPr spc="50" dirty="0">
                <a:ea typeface="微软雅黑" panose="020B0503020204020204" charset="-122"/>
              </a:rPr>
              <a:t> </a:t>
            </a:r>
            <a:r>
              <a:rPr spc="-5" dirty="0">
                <a:ea typeface="微软雅黑" panose="020B0503020204020204" charset="-122"/>
              </a:rPr>
              <a:t>–	聪明的雇主</a:t>
            </a:r>
            <a:r>
              <a:rPr spc="-10" dirty="0">
                <a:ea typeface="微软雅黑" panose="020B0503020204020204" charset="-122"/>
              </a:rPr>
              <a:t>懂</a:t>
            </a:r>
            <a:r>
              <a:rPr spc="-5" dirty="0">
                <a:ea typeface="微软雅黑" panose="020B0503020204020204" charset="-122"/>
              </a:rPr>
              <a:t>得</a:t>
            </a:r>
            <a:r>
              <a:rPr spc="-10" dirty="0">
                <a:ea typeface="微软雅黑" panose="020B0503020204020204" charset="-122"/>
              </a:rPr>
              <a:t>通过</a:t>
            </a:r>
            <a:r>
              <a:rPr spc="-5" dirty="0">
                <a:ea typeface="微软雅黑" panose="020B0503020204020204" charset="-122"/>
              </a:rPr>
              <a:t>财</a:t>
            </a:r>
            <a:r>
              <a:rPr spc="-10" dirty="0">
                <a:ea typeface="微软雅黑" panose="020B0503020204020204" charset="-122"/>
              </a:rPr>
              <a:t>务激</a:t>
            </a:r>
            <a:r>
              <a:rPr spc="-5" dirty="0">
                <a:ea typeface="微软雅黑" panose="020B0503020204020204" charset="-122"/>
              </a:rPr>
              <a:t>励</a:t>
            </a:r>
            <a:r>
              <a:rPr spc="-10" dirty="0">
                <a:ea typeface="微软雅黑" panose="020B0503020204020204" charset="-122"/>
              </a:rPr>
              <a:t>的透</a:t>
            </a:r>
            <a:r>
              <a:rPr spc="-5" dirty="0">
                <a:ea typeface="微软雅黑" panose="020B0503020204020204" charset="-122"/>
              </a:rPr>
              <a:t>明</a:t>
            </a:r>
            <a:r>
              <a:rPr spc="-10" dirty="0">
                <a:ea typeface="微软雅黑" panose="020B0503020204020204" charset="-122"/>
              </a:rPr>
              <a:t>化形</a:t>
            </a:r>
            <a:r>
              <a:rPr spc="-5" dirty="0">
                <a:ea typeface="微软雅黑" panose="020B0503020204020204" charset="-122"/>
              </a:rPr>
              <a:t>成</a:t>
            </a:r>
            <a:r>
              <a:rPr spc="-10" dirty="0">
                <a:ea typeface="微软雅黑" panose="020B0503020204020204" charset="-122"/>
              </a:rPr>
              <a:t>业 </a:t>
            </a:r>
            <a:r>
              <a:rPr dirty="0">
                <a:ea typeface="微软雅黑" panose="020B0503020204020204" charset="-122"/>
              </a:rPr>
              <a:t>绩压力</a:t>
            </a:r>
            <a:endParaRPr dirty="0">
              <a:ea typeface="微软雅黑" panose="020B0503020204020204" charset="-122"/>
            </a:endParaRPr>
          </a:p>
        </p:txBody>
      </p:sp>
      <p:sp>
        <p:nvSpPr>
          <p:cNvPr id="5" name="object 5"/>
          <p:cNvSpPr txBox="1"/>
          <p:nvPr/>
        </p:nvSpPr>
        <p:spPr>
          <a:xfrm>
            <a:off x="106401" y="6412696"/>
            <a:ext cx="1361110"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5" dirty="0">
                <a:latin typeface="微软雅黑" panose="020B0503020204020204" charset="-122"/>
                <a:ea typeface="微软雅黑" panose="020B0503020204020204" charset="-122"/>
                <a:cs typeface="微软雅黑" panose="020B0503020204020204" charset="-122"/>
              </a:rPr>
              <a:t>:</a:t>
            </a:r>
            <a:r>
              <a:rPr sz="1000" spc="-40"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匿名客户举例</a:t>
            </a:r>
            <a:endParaRPr sz="1000">
              <a:latin typeface="微软雅黑" panose="020B0503020204020204" charset="-122"/>
              <a:ea typeface="微软雅黑" panose="020B0503020204020204" charset="-122"/>
              <a:cs typeface="微软雅黑" panose="020B0503020204020204" charset="-122"/>
            </a:endParaRPr>
          </a:p>
        </p:txBody>
      </p:sp>
      <p:sp>
        <p:nvSpPr>
          <p:cNvPr id="6" name="object 6"/>
          <p:cNvSpPr/>
          <p:nvPr/>
        </p:nvSpPr>
        <p:spPr>
          <a:xfrm>
            <a:off x="410427" y="1133085"/>
            <a:ext cx="8070211" cy="4200723"/>
          </a:xfrm>
          <a:custGeom>
            <a:avLst/>
            <a:gdLst/>
            <a:ahLst/>
            <a:cxnLst/>
            <a:rect l="l" t="t" r="r" b="b"/>
            <a:pathLst>
              <a:path w="8075930" h="4203700">
                <a:moveTo>
                  <a:pt x="0" y="4203192"/>
                </a:moveTo>
                <a:lnTo>
                  <a:pt x="8075676" y="4203192"/>
                </a:lnTo>
                <a:lnTo>
                  <a:pt x="8075676" y="0"/>
                </a:lnTo>
                <a:lnTo>
                  <a:pt x="0" y="0"/>
                </a:lnTo>
                <a:lnTo>
                  <a:pt x="0" y="4203192"/>
                </a:lnTo>
                <a:close/>
              </a:path>
            </a:pathLst>
          </a:custGeom>
          <a:ln w="19050">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1873192" y="4697481"/>
            <a:ext cx="5289104" cy="1206153"/>
          </a:xfrm>
          <a:prstGeom prst="rect">
            <a:avLst/>
          </a:prstGeom>
          <a:blipFill>
            <a:blip r:embed="rId2"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txBox="1"/>
          <p:nvPr/>
        </p:nvSpPr>
        <p:spPr>
          <a:xfrm>
            <a:off x="2108738" y="4909294"/>
            <a:ext cx="4821948" cy="751205"/>
          </a:xfrm>
          <a:prstGeom prst="rect">
            <a:avLst/>
          </a:prstGeom>
        </p:spPr>
        <p:txBody>
          <a:bodyPr vert="horz" wrap="square" lIns="0" tIns="12056" rIns="0" bIns="0" rtlCol="0">
            <a:spAutoFit/>
          </a:bodyPr>
          <a:lstStyle/>
          <a:p>
            <a:pPr marL="12700" marR="26035">
              <a:lnSpc>
                <a:spcPct val="100000"/>
              </a:lnSpc>
              <a:spcBef>
                <a:spcPts val="95"/>
              </a:spcBef>
            </a:pPr>
            <a:r>
              <a:rPr sz="1600" b="1" spc="-5" dirty="0">
                <a:latin typeface="微软雅黑" panose="020B0503020204020204" charset="-122"/>
                <a:ea typeface="微软雅黑" panose="020B0503020204020204" charset="-122"/>
                <a:cs typeface="微软雅黑" panose="020B0503020204020204" charset="-122"/>
              </a:rPr>
              <a:t>“…</a:t>
            </a:r>
            <a:r>
              <a:rPr sz="1600" b="1" dirty="0">
                <a:latin typeface="微软雅黑" panose="020B0503020204020204" charset="-122"/>
                <a:ea typeface="微软雅黑" panose="020B0503020204020204" charset="-122"/>
                <a:cs typeface="微软雅黑" panose="020B0503020204020204" charset="-122"/>
              </a:rPr>
              <a:t>没有人愿意</a:t>
            </a:r>
            <a:r>
              <a:rPr sz="1600" b="1" spc="-10" dirty="0">
                <a:latin typeface="微软雅黑" panose="020B0503020204020204" charset="-122"/>
                <a:ea typeface="微软雅黑" panose="020B0503020204020204" charset="-122"/>
                <a:cs typeface="微软雅黑" panose="020B0503020204020204" charset="-122"/>
              </a:rPr>
              <a:t>让自</a:t>
            </a:r>
            <a:r>
              <a:rPr sz="1600" b="1" dirty="0">
                <a:latin typeface="微软雅黑" panose="020B0503020204020204" charset="-122"/>
                <a:ea typeface="微软雅黑" panose="020B0503020204020204" charset="-122"/>
                <a:cs typeface="微软雅黑" panose="020B0503020204020204" charset="-122"/>
              </a:rPr>
              <a:t>己</a:t>
            </a:r>
            <a:r>
              <a:rPr sz="1600" b="1" spc="-10" dirty="0">
                <a:latin typeface="微软雅黑" panose="020B0503020204020204" charset="-122"/>
                <a:ea typeface="微软雅黑" panose="020B0503020204020204" charset="-122"/>
                <a:cs typeface="微软雅黑" panose="020B0503020204020204" charset="-122"/>
              </a:rPr>
              <a:t>的名</a:t>
            </a:r>
            <a:r>
              <a:rPr sz="1600" b="1" dirty="0">
                <a:latin typeface="微软雅黑" panose="020B0503020204020204" charset="-122"/>
                <a:ea typeface="微软雅黑" panose="020B0503020204020204" charset="-122"/>
                <a:cs typeface="微软雅黑" panose="020B0503020204020204" charset="-122"/>
              </a:rPr>
              <a:t>字</a:t>
            </a:r>
            <a:r>
              <a:rPr sz="1600" b="1" spc="-10" dirty="0">
                <a:latin typeface="微软雅黑" panose="020B0503020204020204" charset="-122"/>
                <a:ea typeface="微软雅黑" panose="020B0503020204020204" charset="-122"/>
                <a:cs typeface="微软雅黑" panose="020B0503020204020204" charset="-122"/>
              </a:rPr>
              <a:t>标成</a:t>
            </a:r>
            <a:r>
              <a:rPr sz="1600" b="1" dirty="0">
                <a:latin typeface="微软雅黑" panose="020B0503020204020204" charset="-122"/>
                <a:ea typeface="微软雅黑" panose="020B0503020204020204" charset="-122"/>
                <a:cs typeface="微软雅黑" panose="020B0503020204020204" charset="-122"/>
              </a:rPr>
              <a:t>红</a:t>
            </a:r>
            <a:r>
              <a:rPr sz="1600" b="1" spc="-10" dirty="0">
                <a:latin typeface="微软雅黑" panose="020B0503020204020204" charset="-122"/>
                <a:ea typeface="微软雅黑" panose="020B0503020204020204" charset="-122"/>
                <a:cs typeface="微软雅黑" panose="020B0503020204020204" charset="-122"/>
              </a:rPr>
              <a:t>的或</a:t>
            </a:r>
            <a:r>
              <a:rPr sz="1600" b="1" dirty="0">
                <a:latin typeface="微软雅黑" panose="020B0503020204020204" charset="-122"/>
                <a:ea typeface="微软雅黑" panose="020B0503020204020204" charset="-122"/>
                <a:cs typeface="微软雅黑" panose="020B0503020204020204" charset="-122"/>
              </a:rPr>
              <a:t>黄</a:t>
            </a:r>
            <a:r>
              <a:rPr sz="1600" b="1" spc="-10" dirty="0">
                <a:latin typeface="微软雅黑" panose="020B0503020204020204" charset="-122"/>
                <a:ea typeface="微软雅黑" panose="020B0503020204020204" charset="-122"/>
                <a:cs typeface="微软雅黑" panose="020B0503020204020204" charset="-122"/>
              </a:rPr>
              <a:t>的。</a:t>
            </a:r>
            <a:r>
              <a:rPr sz="1600" b="1" dirty="0">
                <a:latin typeface="微软雅黑" panose="020B0503020204020204" charset="-122"/>
                <a:ea typeface="微软雅黑" panose="020B0503020204020204" charset="-122"/>
                <a:cs typeface="微软雅黑" panose="020B0503020204020204" charset="-122"/>
              </a:rPr>
              <a:t>大</a:t>
            </a:r>
            <a:r>
              <a:rPr sz="1600" b="1" spc="-10" dirty="0">
                <a:latin typeface="微软雅黑" panose="020B0503020204020204" charset="-122"/>
                <a:ea typeface="微软雅黑" panose="020B0503020204020204" charset="-122"/>
                <a:cs typeface="微软雅黑" panose="020B0503020204020204" charset="-122"/>
              </a:rPr>
              <a:t>家干 </a:t>
            </a:r>
            <a:r>
              <a:rPr sz="1600" b="1" dirty="0">
                <a:latin typeface="微软雅黑" panose="020B0503020204020204" charset="-122"/>
                <a:ea typeface="微软雅黑" panose="020B0503020204020204" charset="-122"/>
                <a:cs typeface="微软雅黑" panose="020B0503020204020204" charset="-122"/>
              </a:rPr>
              <a:t>了一个晚上</a:t>
            </a:r>
            <a:r>
              <a:rPr sz="1600" b="1" spc="-10" dirty="0">
                <a:latin typeface="微软雅黑" panose="020B0503020204020204" charset="-122"/>
                <a:ea typeface="微软雅黑" panose="020B0503020204020204" charset="-122"/>
                <a:cs typeface="微软雅黑" panose="020B0503020204020204" charset="-122"/>
              </a:rPr>
              <a:t>，凌</a:t>
            </a:r>
            <a:r>
              <a:rPr sz="1600" b="1" spc="5" dirty="0">
                <a:latin typeface="微软雅黑" panose="020B0503020204020204" charset="-122"/>
                <a:ea typeface="微软雅黑" panose="020B0503020204020204" charset="-122"/>
                <a:cs typeface="微软雅黑" panose="020B0503020204020204" charset="-122"/>
              </a:rPr>
              <a:t>晨</a:t>
            </a:r>
            <a:r>
              <a:rPr sz="1600" b="1" spc="-5" dirty="0">
                <a:latin typeface="微软雅黑" panose="020B0503020204020204" charset="-122"/>
                <a:ea typeface="微软雅黑" panose="020B0503020204020204" charset="-122"/>
                <a:cs typeface="微软雅黑" panose="020B0503020204020204" charset="-122"/>
              </a:rPr>
              <a:t>2</a:t>
            </a:r>
            <a:r>
              <a:rPr sz="1600" b="1" spc="-10" dirty="0">
                <a:latin typeface="微软雅黑" panose="020B0503020204020204" charset="-122"/>
                <a:ea typeface="微软雅黑" panose="020B0503020204020204" charset="-122"/>
                <a:cs typeface="微软雅黑" panose="020B0503020204020204" charset="-122"/>
              </a:rPr>
              <a:t>点才</a:t>
            </a:r>
            <a:r>
              <a:rPr sz="1600" b="1" dirty="0">
                <a:latin typeface="微软雅黑" panose="020B0503020204020204" charset="-122"/>
                <a:ea typeface="微软雅黑" panose="020B0503020204020204" charset="-122"/>
                <a:cs typeface="微软雅黑" panose="020B0503020204020204" charset="-122"/>
              </a:rPr>
              <a:t>完</a:t>
            </a:r>
            <a:r>
              <a:rPr sz="1600" b="1" spc="-10" dirty="0">
                <a:latin typeface="微软雅黑" panose="020B0503020204020204" charset="-122"/>
                <a:ea typeface="微软雅黑" panose="020B0503020204020204" charset="-122"/>
                <a:cs typeface="微软雅黑" panose="020B0503020204020204" charset="-122"/>
              </a:rPr>
              <a:t>成</a:t>
            </a:r>
            <a:r>
              <a:rPr sz="1600" b="1" dirty="0">
                <a:latin typeface="微软雅黑" panose="020B0503020204020204" charset="-122"/>
                <a:ea typeface="微软雅黑" panose="020B0503020204020204" charset="-122"/>
                <a:cs typeface="微软雅黑" panose="020B0503020204020204" charset="-122"/>
              </a:rPr>
              <a:t> </a:t>
            </a:r>
            <a:r>
              <a:rPr sz="1600" b="1" spc="-5" dirty="0">
                <a:latin typeface="微软雅黑" panose="020B0503020204020204" charset="-122"/>
                <a:ea typeface="微软雅黑" panose="020B0503020204020204" charset="-122"/>
                <a:cs typeface="微软雅黑" panose="020B0503020204020204" charset="-122"/>
              </a:rPr>
              <a:t>…”</a:t>
            </a:r>
            <a:endParaRPr sz="1600">
              <a:latin typeface="微软雅黑" panose="020B0503020204020204" charset="-122"/>
              <a:ea typeface="微软雅黑" panose="020B0503020204020204" charset="-122"/>
              <a:cs typeface="微软雅黑" panose="020B0503020204020204" charset="-122"/>
            </a:endParaRPr>
          </a:p>
          <a:p>
            <a:pPr marL="3825875">
              <a:lnSpc>
                <a:spcPts val="1930"/>
              </a:lnSpc>
            </a:pPr>
            <a:r>
              <a:rPr sz="1600" b="1" i="1" spc="-5" dirty="0">
                <a:latin typeface="微软雅黑" panose="020B0503020204020204" charset="-122"/>
                <a:ea typeface="微软雅黑" panose="020B0503020204020204" charset="-122"/>
                <a:cs typeface="微软雅黑" panose="020B0503020204020204" charset="-122"/>
              </a:rPr>
              <a:t>–</a:t>
            </a:r>
            <a:r>
              <a:rPr sz="1600" b="1" i="1" spc="-70" dirty="0">
                <a:latin typeface="微软雅黑" panose="020B0503020204020204" charset="-122"/>
                <a:ea typeface="微软雅黑" panose="020B0503020204020204" charset="-122"/>
                <a:cs typeface="微软雅黑" panose="020B0503020204020204" charset="-122"/>
              </a:rPr>
              <a:t> </a:t>
            </a:r>
            <a:r>
              <a:rPr sz="1650" b="1" i="1" spc="-50" dirty="0">
                <a:latin typeface="微软雅黑" panose="020B0503020204020204" charset="-122"/>
                <a:ea typeface="微软雅黑" panose="020B0503020204020204" charset="-122"/>
                <a:cs typeface="微软雅黑" panose="020B0503020204020204" charset="-122"/>
              </a:rPr>
              <a:t>项目教练</a:t>
            </a:r>
            <a:endParaRPr sz="165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401" y="203088"/>
            <a:ext cx="5331491"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训练有素的</a:t>
            </a:r>
            <a:r>
              <a:rPr spc="-10" dirty="0">
                <a:ea typeface="微软雅黑" panose="020B0503020204020204" charset="-122"/>
              </a:rPr>
              <a:t>销售</a:t>
            </a:r>
            <a:r>
              <a:rPr spc="-5" dirty="0">
                <a:ea typeface="微软雅黑" panose="020B0503020204020204" charset="-122"/>
              </a:rPr>
              <a:t>队</a:t>
            </a:r>
            <a:r>
              <a:rPr spc="-10" dirty="0">
                <a:ea typeface="微软雅黑" panose="020B0503020204020204" charset="-122"/>
              </a:rPr>
              <a:t>伍能</a:t>
            </a:r>
            <a:r>
              <a:rPr spc="-5" dirty="0">
                <a:ea typeface="微软雅黑" panose="020B0503020204020204" charset="-122"/>
              </a:rPr>
              <a:t>从</a:t>
            </a:r>
            <a:r>
              <a:rPr spc="-10" dirty="0">
                <a:ea typeface="微软雅黑" panose="020B0503020204020204" charset="-122"/>
              </a:rPr>
              <a:t>大客</a:t>
            </a:r>
            <a:r>
              <a:rPr spc="-5" dirty="0">
                <a:ea typeface="微软雅黑" panose="020B0503020204020204" charset="-122"/>
              </a:rPr>
              <a:t>户</a:t>
            </a:r>
            <a:r>
              <a:rPr spc="-10" dirty="0">
                <a:ea typeface="微软雅黑" panose="020B0503020204020204" charset="-122"/>
              </a:rPr>
              <a:t>身上</a:t>
            </a:r>
            <a:r>
              <a:rPr spc="-5" dirty="0">
                <a:ea typeface="微软雅黑" panose="020B0503020204020204" charset="-122"/>
              </a:rPr>
              <a:t>获</a:t>
            </a:r>
            <a:r>
              <a:rPr spc="-10" dirty="0">
                <a:ea typeface="微软雅黑" panose="020B0503020204020204" charset="-122"/>
              </a:rPr>
              <a:t>取巨</a:t>
            </a:r>
            <a:r>
              <a:rPr spc="-5" dirty="0">
                <a:ea typeface="微软雅黑" panose="020B0503020204020204" charset="-122"/>
              </a:rPr>
              <a:t>大</a:t>
            </a:r>
            <a:r>
              <a:rPr spc="-10" dirty="0">
                <a:ea typeface="微软雅黑" panose="020B0503020204020204" charset="-122"/>
              </a:rPr>
              <a:t>价值</a:t>
            </a:r>
            <a:endParaRPr spc="-10" dirty="0">
              <a:ea typeface="微软雅黑" panose="020B0503020204020204" charset="-122"/>
            </a:endParaRPr>
          </a:p>
        </p:txBody>
      </p:sp>
      <p:sp>
        <p:nvSpPr>
          <p:cNvPr id="4" name="object 4"/>
          <p:cNvSpPr txBox="1"/>
          <p:nvPr/>
        </p:nvSpPr>
        <p:spPr>
          <a:xfrm>
            <a:off x="106401" y="6412696"/>
            <a:ext cx="1361110"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5" dirty="0">
                <a:latin typeface="微软雅黑" panose="020B0503020204020204" charset="-122"/>
                <a:ea typeface="微软雅黑" panose="020B0503020204020204" charset="-122"/>
                <a:cs typeface="微软雅黑" panose="020B0503020204020204" charset="-122"/>
              </a:rPr>
              <a:t>:</a:t>
            </a:r>
            <a:r>
              <a:rPr sz="1000" spc="-40"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匿名客户分析</a:t>
            </a:r>
            <a:endParaRPr sz="1000">
              <a:latin typeface="微软雅黑" panose="020B0503020204020204" charset="-122"/>
              <a:ea typeface="微软雅黑" panose="020B0503020204020204" charset="-122"/>
              <a:cs typeface="微软雅黑" panose="020B0503020204020204" charset="-122"/>
            </a:endParaRPr>
          </a:p>
        </p:txBody>
      </p:sp>
      <p:sp>
        <p:nvSpPr>
          <p:cNvPr id="5" name="object 5"/>
          <p:cNvSpPr/>
          <p:nvPr/>
        </p:nvSpPr>
        <p:spPr>
          <a:xfrm>
            <a:off x="223107" y="1081306"/>
            <a:ext cx="8480130" cy="4502134"/>
          </a:xfrm>
          <a:custGeom>
            <a:avLst/>
            <a:gdLst/>
            <a:ahLst/>
            <a:cxnLst/>
            <a:rect l="l" t="t" r="r" b="b"/>
            <a:pathLst>
              <a:path w="8486140" h="4505325">
                <a:moveTo>
                  <a:pt x="0" y="4504944"/>
                </a:moveTo>
                <a:lnTo>
                  <a:pt x="8485632" y="4504944"/>
                </a:lnTo>
                <a:lnTo>
                  <a:pt x="8485632" y="0"/>
                </a:lnTo>
                <a:lnTo>
                  <a:pt x="0" y="0"/>
                </a:lnTo>
                <a:lnTo>
                  <a:pt x="0" y="4504944"/>
                </a:lnTo>
                <a:close/>
              </a:path>
            </a:pathLst>
          </a:custGeom>
          <a:ln w="19050">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222346" y="1080545"/>
            <a:ext cx="8480130" cy="365501"/>
          </a:xfrm>
          <a:custGeom>
            <a:avLst/>
            <a:gdLst/>
            <a:ahLst/>
            <a:cxnLst/>
            <a:rect l="l" t="t" r="r" b="b"/>
            <a:pathLst>
              <a:path w="8486140" h="365759">
                <a:moveTo>
                  <a:pt x="0" y="365760"/>
                </a:moveTo>
                <a:lnTo>
                  <a:pt x="8485632" y="365760"/>
                </a:lnTo>
                <a:lnTo>
                  <a:pt x="8485632" y="0"/>
                </a:lnTo>
                <a:lnTo>
                  <a:pt x="0" y="0"/>
                </a:lnTo>
                <a:lnTo>
                  <a:pt x="0" y="3657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txBox="1"/>
          <p:nvPr/>
        </p:nvSpPr>
        <p:spPr>
          <a:xfrm>
            <a:off x="281536" y="1132451"/>
            <a:ext cx="3138486" cy="589915"/>
          </a:xfrm>
          <a:prstGeom prst="rect">
            <a:avLst/>
          </a:prstGeom>
        </p:spPr>
        <p:txBody>
          <a:bodyPr vert="horz" wrap="square" lIns="0" tIns="13325" rIns="0" bIns="0" rtlCol="0">
            <a:spAutoFit/>
          </a:bodyPr>
          <a:lstStyle/>
          <a:p>
            <a:pPr marL="12700">
              <a:lnSpc>
                <a:spcPct val="100000"/>
              </a:lnSpc>
              <a:spcBef>
                <a:spcPts val="105"/>
              </a:spcBef>
            </a:pPr>
            <a:r>
              <a:rPr sz="1400" b="1" spc="10" dirty="0">
                <a:solidFill>
                  <a:srgbClr val="0066CC"/>
                </a:solidFill>
                <a:latin typeface="微软雅黑" panose="020B0503020204020204" charset="-122"/>
                <a:ea typeface="微软雅黑" panose="020B0503020204020204" charset="-122"/>
                <a:cs typeface="微软雅黑" panose="020B0503020204020204" charset="-122"/>
              </a:rPr>
              <a:t>大客</a:t>
            </a:r>
            <a:r>
              <a:rPr sz="1400" b="1" dirty="0">
                <a:solidFill>
                  <a:srgbClr val="0066CC"/>
                </a:solidFill>
                <a:latin typeface="微软雅黑" panose="020B0503020204020204" charset="-122"/>
                <a:ea typeface="微软雅黑" panose="020B0503020204020204" charset="-122"/>
                <a:cs typeface="微软雅黑" panose="020B0503020204020204" charset="-122"/>
              </a:rPr>
              <a:t>户管</a:t>
            </a:r>
            <a:r>
              <a:rPr sz="1400" b="1" spc="-15" dirty="0">
                <a:solidFill>
                  <a:srgbClr val="0066CC"/>
                </a:solidFill>
                <a:latin typeface="微软雅黑" panose="020B0503020204020204" charset="-122"/>
                <a:ea typeface="微软雅黑" panose="020B0503020204020204" charset="-122"/>
                <a:cs typeface="微软雅黑" panose="020B0503020204020204" charset="-122"/>
              </a:rPr>
              <a:t>理</a:t>
            </a:r>
            <a:r>
              <a:rPr sz="1400" b="1" dirty="0">
                <a:solidFill>
                  <a:srgbClr val="0066CC"/>
                </a:solidFill>
                <a:latin typeface="微软雅黑" panose="020B0503020204020204" charset="-122"/>
                <a:ea typeface="微软雅黑" panose="020B0503020204020204" charset="-122"/>
                <a:cs typeface="微软雅黑" panose="020B0503020204020204" charset="-122"/>
              </a:rPr>
              <a:t>对毛</a:t>
            </a:r>
            <a:r>
              <a:rPr sz="1400" b="1" spc="-15" dirty="0">
                <a:solidFill>
                  <a:srgbClr val="0066CC"/>
                </a:solidFill>
                <a:latin typeface="微软雅黑" panose="020B0503020204020204" charset="-122"/>
                <a:ea typeface="微软雅黑" panose="020B0503020204020204" charset="-122"/>
                <a:cs typeface="微软雅黑" panose="020B0503020204020204" charset="-122"/>
              </a:rPr>
              <a:t>利</a:t>
            </a:r>
            <a:r>
              <a:rPr sz="1400" b="1" dirty="0">
                <a:solidFill>
                  <a:srgbClr val="0066CC"/>
                </a:solidFill>
                <a:latin typeface="微软雅黑" panose="020B0503020204020204" charset="-122"/>
                <a:ea typeface="微软雅黑" panose="020B0503020204020204" charset="-122"/>
                <a:cs typeface="微软雅黑" panose="020B0503020204020204" charset="-122"/>
              </a:rPr>
              <a:t>的影响</a:t>
            </a:r>
            <a:r>
              <a:rPr sz="1400" b="1" spc="10" dirty="0">
                <a:solidFill>
                  <a:srgbClr val="0066CC"/>
                </a:solidFill>
                <a:latin typeface="微软雅黑" panose="020B0503020204020204" charset="-122"/>
                <a:ea typeface="微软雅黑" panose="020B0503020204020204" charset="-122"/>
                <a:cs typeface="微软雅黑" panose="020B0503020204020204" charset="-122"/>
              </a:rPr>
              <a:t> </a:t>
            </a:r>
            <a:r>
              <a:rPr sz="1400" b="1" dirty="0">
                <a:solidFill>
                  <a:srgbClr val="0066CC"/>
                </a:solidFill>
                <a:latin typeface="微软雅黑" panose="020B0503020204020204" charset="-122"/>
                <a:ea typeface="微软雅黑" panose="020B0503020204020204" charset="-122"/>
                <a:cs typeface="微软雅黑" panose="020B0503020204020204" charset="-122"/>
              </a:rPr>
              <a:t>–</a:t>
            </a:r>
            <a:r>
              <a:rPr sz="1400" b="1" spc="-35" dirty="0">
                <a:solidFill>
                  <a:srgbClr val="0066CC"/>
                </a:solidFill>
                <a:latin typeface="微软雅黑" panose="020B0503020204020204" charset="-122"/>
                <a:ea typeface="微软雅黑" panose="020B0503020204020204" charset="-122"/>
                <a:cs typeface="微软雅黑" panose="020B0503020204020204" charset="-122"/>
              </a:rPr>
              <a:t> </a:t>
            </a:r>
            <a:r>
              <a:rPr sz="1400" b="1" spc="-5" dirty="0">
                <a:solidFill>
                  <a:srgbClr val="0066CC"/>
                </a:solidFill>
                <a:latin typeface="微软雅黑" panose="020B0503020204020204" charset="-122"/>
                <a:ea typeface="微软雅黑" panose="020B0503020204020204" charset="-122"/>
                <a:cs typeface="微软雅黑" panose="020B0503020204020204" charset="-122"/>
              </a:rPr>
              <a:t>18</a:t>
            </a:r>
            <a:r>
              <a:rPr sz="1400" b="1" spc="10" dirty="0">
                <a:solidFill>
                  <a:srgbClr val="0066CC"/>
                </a:solidFill>
                <a:latin typeface="微软雅黑" panose="020B0503020204020204" charset="-122"/>
                <a:ea typeface="微软雅黑" panose="020B0503020204020204" charset="-122"/>
                <a:cs typeface="微软雅黑" panose="020B0503020204020204" charset="-122"/>
              </a:rPr>
              <a:t>个</a:t>
            </a:r>
            <a:r>
              <a:rPr sz="1400" b="1" dirty="0">
                <a:solidFill>
                  <a:srgbClr val="0066CC"/>
                </a:solidFill>
                <a:latin typeface="微软雅黑" panose="020B0503020204020204" charset="-122"/>
                <a:ea typeface="微软雅黑" panose="020B0503020204020204" charset="-122"/>
                <a:cs typeface="微软雅黑" panose="020B0503020204020204" charset="-122"/>
              </a:rPr>
              <a:t>月翻倍</a:t>
            </a:r>
            <a:endParaRPr sz="1400">
              <a:latin typeface="微软雅黑" panose="020B0503020204020204" charset="-122"/>
              <a:ea typeface="微软雅黑" panose="020B0503020204020204" charset="-122"/>
              <a:cs typeface="微软雅黑" panose="020B0503020204020204" charset="-122"/>
            </a:endParaRPr>
          </a:p>
          <a:p>
            <a:pPr marL="16510">
              <a:lnSpc>
                <a:spcPct val="100000"/>
              </a:lnSpc>
              <a:spcBef>
                <a:spcPts val="1145"/>
              </a:spcBef>
            </a:pPr>
            <a:r>
              <a:rPr sz="1400" dirty="0">
                <a:solidFill>
                  <a:srgbClr val="808080"/>
                </a:solidFill>
                <a:latin typeface="微软雅黑" panose="020B0503020204020204" charset="-122"/>
                <a:ea typeface="微软雅黑" panose="020B0503020204020204" charset="-122"/>
                <a:cs typeface="微软雅黑" panose="020B0503020204020204" charset="-122"/>
              </a:rPr>
              <a:t>按当前价值指数</a:t>
            </a:r>
            <a:r>
              <a:rPr sz="1400" spc="310" dirty="0">
                <a:solidFill>
                  <a:srgbClr val="808080"/>
                </a:solidFill>
                <a:latin typeface="微软雅黑" panose="020B0503020204020204" charset="-122"/>
                <a:ea typeface="微软雅黑" panose="020B0503020204020204" charset="-122"/>
                <a:cs typeface="微软雅黑" panose="020B0503020204020204" charset="-122"/>
              </a:rPr>
              <a:t>化</a:t>
            </a:r>
            <a:r>
              <a:rPr sz="1400" dirty="0">
                <a:solidFill>
                  <a:srgbClr val="808080"/>
                </a:solidFill>
                <a:latin typeface="微软雅黑" panose="020B0503020204020204" charset="-122"/>
                <a:ea typeface="微软雅黑" panose="020B0503020204020204" charset="-122"/>
                <a:cs typeface="微软雅黑" panose="020B0503020204020204" charset="-122"/>
              </a:rPr>
              <a:t>=</a:t>
            </a:r>
            <a:r>
              <a:rPr sz="1400" spc="-5" dirty="0">
                <a:solidFill>
                  <a:srgbClr val="808080"/>
                </a:solidFill>
                <a:latin typeface="微软雅黑" panose="020B0503020204020204" charset="-122"/>
                <a:ea typeface="微软雅黑" panose="020B0503020204020204" charset="-122"/>
                <a:cs typeface="微软雅黑" panose="020B0503020204020204" charset="-122"/>
              </a:rPr>
              <a:t> </a:t>
            </a:r>
            <a:r>
              <a:rPr sz="1400" dirty="0">
                <a:solidFill>
                  <a:srgbClr val="808080"/>
                </a:solidFill>
                <a:latin typeface="微软雅黑" panose="020B0503020204020204" charset="-122"/>
                <a:ea typeface="微软雅黑" panose="020B0503020204020204" charset="-122"/>
                <a:cs typeface="微软雅黑" panose="020B0503020204020204" charset="-122"/>
              </a:rPr>
              <a:t>100</a:t>
            </a:r>
            <a:endParaRPr sz="1400">
              <a:latin typeface="微软雅黑" panose="020B0503020204020204" charset="-122"/>
              <a:ea typeface="微软雅黑" panose="020B0503020204020204" charset="-122"/>
              <a:cs typeface="微软雅黑" panose="020B0503020204020204" charset="-122"/>
            </a:endParaRPr>
          </a:p>
        </p:txBody>
      </p:sp>
      <p:sp>
        <p:nvSpPr>
          <p:cNvPr id="8" name="object 8"/>
          <p:cNvSpPr/>
          <p:nvPr/>
        </p:nvSpPr>
        <p:spPr>
          <a:xfrm>
            <a:off x="2814356" y="3367971"/>
            <a:ext cx="246840" cy="0"/>
          </a:xfrm>
          <a:custGeom>
            <a:avLst/>
            <a:gdLst/>
            <a:ahLst/>
            <a:cxnLst/>
            <a:rect l="l" t="t" r="r" b="b"/>
            <a:pathLst>
              <a:path w="247014">
                <a:moveTo>
                  <a:pt x="0" y="0"/>
                </a:moveTo>
                <a:lnTo>
                  <a:pt x="246887"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3699174" y="2225781"/>
            <a:ext cx="248744" cy="0"/>
          </a:xfrm>
          <a:custGeom>
            <a:avLst/>
            <a:gdLst/>
            <a:ahLst/>
            <a:cxnLst/>
            <a:rect l="l" t="t" r="r" b="b"/>
            <a:pathLst>
              <a:path w="248920">
                <a:moveTo>
                  <a:pt x="0" y="0"/>
                </a:moveTo>
                <a:lnTo>
                  <a:pt x="248412"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1938677" y="4129432"/>
            <a:ext cx="246840" cy="0"/>
          </a:xfrm>
          <a:custGeom>
            <a:avLst/>
            <a:gdLst/>
            <a:ahLst/>
            <a:cxnLst/>
            <a:rect l="l" t="t" r="r" b="b"/>
            <a:pathLst>
              <a:path w="247014">
                <a:moveTo>
                  <a:pt x="0" y="0"/>
                </a:moveTo>
                <a:lnTo>
                  <a:pt x="246887"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1053861" y="4263449"/>
            <a:ext cx="246840" cy="0"/>
          </a:xfrm>
          <a:custGeom>
            <a:avLst/>
            <a:gdLst/>
            <a:ahLst/>
            <a:cxnLst/>
            <a:rect l="l" t="t" r="r" b="b"/>
            <a:pathLst>
              <a:path w="247015">
                <a:moveTo>
                  <a:pt x="0" y="0"/>
                </a:moveTo>
                <a:lnTo>
                  <a:pt x="246887"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419898" y="4267067"/>
            <a:ext cx="637723" cy="637723"/>
          </a:xfrm>
          <a:custGeom>
            <a:avLst/>
            <a:gdLst/>
            <a:ahLst/>
            <a:cxnLst/>
            <a:rect l="l" t="t" r="r" b="b"/>
            <a:pathLst>
              <a:path w="638175" h="638175">
                <a:moveTo>
                  <a:pt x="0" y="637664"/>
                </a:moveTo>
                <a:lnTo>
                  <a:pt x="638180" y="637664"/>
                </a:lnTo>
                <a:lnTo>
                  <a:pt x="638180" y="0"/>
                </a:lnTo>
                <a:lnTo>
                  <a:pt x="0" y="0"/>
                </a:lnTo>
                <a:lnTo>
                  <a:pt x="0" y="63766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419898" y="4267067"/>
            <a:ext cx="637723" cy="637723"/>
          </a:xfrm>
          <a:custGeom>
            <a:avLst/>
            <a:gdLst/>
            <a:ahLst/>
            <a:cxnLst/>
            <a:rect l="l" t="t" r="r" b="b"/>
            <a:pathLst>
              <a:path w="638175" h="638175">
                <a:moveTo>
                  <a:pt x="0" y="637664"/>
                </a:moveTo>
                <a:lnTo>
                  <a:pt x="638180" y="637664"/>
                </a:lnTo>
                <a:lnTo>
                  <a:pt x="638180" y="0"/>
                </a:lnTo>
                <a:lnTo>
                  <a:pt x="0" y="0"/>
                </a:lnTo>
                <a:lnTo>
                  <a:pt x="0" y="637664"/>
                </a:lnTo>
                <a:close/>
              </a:path>
            </a:pathLst>
          </a:custGeom>
          <a:ln w="9495">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1740698" y="4133683"/>
            <a:ext cx="201787" cy="133890"/>
          </a:xfrm>
          <a:custGeom>
            <a:avLst/>
            <a:gdLst/>
            <a:ahLst/>
            <a:cxnLst/>
            <a:rect l="l" t="t" r="r" b="b"/>
            <a:pathLst>
              <a:path w="201930" h="133985">
                <a:moveTo>
                  <a:pt x="0" y="133479"/>
                </a:moveTo>
                <a:lnTo>
                  <a:pt x="201662" y="133479"/>
                </a:lnTo>
                <a:lnTo>
                  <a:pt x="201662" y="0"/>
                </a:lnTo>
                <a:lnTo>
                  <a:pt x="0" y="0"/>
                </a:lnTo>
                <a:lnTo>
                  <a:pt x="0" y="13347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1304805" y="4133683"/>
            <a:ext cx="194172" cy="133890"/>
          </a:xfrm>
          <a:custGeom>
            <a:avLst/>
            <a:gdLst/>
            <a:ahLst/>
            <a:cxnLst/>
            <a:rect l="l" t="t" r="r" b="b"/>
            <a:pathLst>
              <a:path w="194309" h="133985">
                <a:moveTo>
                  <a:pt x="0" y="133479"/>
                </a:moveTo>
                <a:lnTo>
                  <a:pt x="193885" y="133479"/>
                </a:lnTo>
                <a:lnTo>
                  <a:pt x="193885" y="0"/>
                </a:lnTo>
                <a:lnTo>
                  <a:pt x="0" y="0"/>
                </a:lnTo>
                <a:lnTo>
                  <a:pt x="0" y="13347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p:nvPr/>
        </p:nvSpPr>
        <p:spPr>
          <a:xfrm>
            <a:off x="3950032" y="2231148"/>
            <a:ext cx="637723" cy="2673360"/>
          </a:xfrm>
          <a:custGeom>
            <a:avLst/>
            <a:gdLst/>
            <a:ahLst/>
            <a:cxnLst/>
            <a:rect l="l" t="t" r="r" b="b"/>
            <a:pathLst>
              <a:path w="638175" h="2675254">
                <a:moveTo>
                  <a:pt x="0" y="2675025"/>
                </a:moveTo>
                <a:lnTo>
                  <a:pt x="637863" y="2675025"/>
                </a:lnTo>
                <a:lnTo>
                  <a:pt x="637863" y="0"/>
                </a:lnTo>
                <a:lnTo>
                  <a:pt x="0" y="0"/>
                </a:lnTo>
                <a:lnTo>
                  <a:pt x="0" y="2675025"/>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p:nvPr/>
        </p:nvSpPr>
        <p:spPr>
          <a:xfrm>
            <a:off x="291720" y="4899539"/>
            <a:ext cx="4415201" cy="0"/>
          </a:xfrm>
          <a:custGeom>
            <a:avLst/>
            <a:gdLst/>
            <a:ahLst/>
            <a:cxnLst/>
            <a:rect l="l" t="t" r="r" b="b"/>
            <a:pathLst>
              <a:path w="4418330">
                <a:moveTo>
                  <a:pt x="0" y="0"/>
                </a:moveTo>
                <a:lnTo>
                  <a:pt x="4417852" y="0"/>
                </a:lnTo>
              </a:path>
            </a:pathLst>
          </a:custGeom>
          <a:ln w="28467">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txBox="1"/>
          <p:nvPr/>
        </p:nvSpPr>
        <p:spPr>
          <a:xfrm>
            <a:off x="2189713" y="3367971"/>
            <a:ext cx="628205" cy="497840"/>
          </a:xfrm>
          <a:prstGeom prst="rect">
            <a:avLst/>
          </a:prstGeom>
          <a:solidFill>
            <a:srgbClr val="C6DFFA"/>
          </a:solidFill>
        </p:spPr>
        <p:txBody>
          <a:bodyPr vert="horz" wrap="square" lIns="0" tIns="6345" rIns="0" bIns="0" rtlCol="0">
            <a:spAutoFit/>
          </a:bodyPr>
          <a:lstStyle/>
          <a:p>
            <a:pPr>
              <a:lnSpc>
                <a:spcPct val="100000"/>
              </a:lnSpc>
              <a:spcBef>
                <a:spcPts val="50"/>
              </a:spcBef>
            </a:pPr>
            <a:endParaRPr>
              <a:latin typeface="微软雅黑" panose="020B0503020204020204" charset="-122"/>
              <a:ea typeface="微软雅黑" panose="020B0503020204020204" charset="-122"/>
              <a:cs typeface="Times New Roman" panose="02020603050405020304"/>
            </a:endParaRPr>
          </a:p>
          <a:p>
            <a:pPr marL="156845">
              <a:lnSpc>
                <a:spcPct val="100000"/>
              </a:lnSpc>
            </a:pPr>
            <a:r>
              <a:rPr sz="1400" spc="40" dirty="0">
                <a:latin typeface="微软雅黑" panose="020B0503020204020204" charset="-122"/>
                <a:ea typeface="微软雅黑" panose="020B0503020204020204" charset="-122"/>
                <a:cs typeface="Arial" panose="020B0604020202020204"/>
              </a:rPr>
              <a:t>120</a:t>
            </a:r>
            <a:endParaRPr sz="1400">
              <a:latin typeface="微软雅黑" panose="020B0503020204020204" charset="-122"/>
              <a:ea typeface="微软雅黑" panose="020B0503020204020204" charset="-122"/>
              <a:cs typeface="Arial" panose="020B0604020202020204"/>
            </a:endParaRPr>
          </a:p>
        </p:txBody>
      </p:sp>
      <p:sp>
        <p:nvSpPr>
          <p:cNvPr id="19" name="object 19"/>
          <p:cNvSpPr txBox="1"/>
          <p:nvPr/>
        </p:nvSpPr>
        <p:spPr>
          <a:xfrm>
            <a:off x="3065125" y="2225781"/>
            <a:ext cx="637723" cy="700405"/>
          </a:xfrm>
          <a:prstGeom prst="rect">
            <a:avLst/>
          </a:prstGeom>
          <a:solidFill>
            <a:srgbClr val="C6DFFA"/>
          </a:solidFill>
        </p:spPr>
        <p:txBody>
          <a:bodyPr vert="horz" wrap="square" lIns="0" tIns="0" rIns="0" bIns="0" rtlCol="0">
            <a:spAutoFit/>
          </a:bodyPr>
          <a:lstStyle/>
          <a:p>
            <a:pPr>
              <a:lnSpc>
                <a:spcPct val="100000"/>
              </a:lnSpc>
            </a:pPr>
            <a:endParaRPr sz="1600">
              <a:latin typeface="微软雅黑" panose="020B0503020204020204" charset="-122"/>
              <a:ea typeface="微软雅黑" panose="020B0503020204020204" charset="-122"/>
              <a:cs typeface="Times New Roman" panose="02020603050405020304"/>
            </a:endParaRPr>
          </a:p>
          <a:p>
            <a:pPr>
              <a:lnSpc>
                <a:spcPct val="100000"/>
              </a:lnSpc>
            </a:pPr>
            <a:endParaRPr sz="1550">
              <a:latin typeface="微软雅黑" panose="020B0503020204020204" charset="-122"/>
              <a:ea typeface="微软雅黑" panose="020B0503020204020204" charset="-122"/>
              <a:cs typeface="Times New Roman" panose="02020603050405020304"/>
            </a:endParaRPr>
          </a:p>
          <a:p>
            <a:pPr marL="156845">
              <a:lnSpc>
                <a:spcPct val="100000"/>
              </a:lnSpc>
              <a:spcBef>
                <a:spcPts val="5"/>
              </a:spcBef>
            </a:pPr>
            <a:r>
              <a:rPr sz="1400" spc="40" dirty="0">
                <a:latin typeface="微软雅黑" panose="020B0503020204020204" charset="-122"/>
                <a:ea typeface="微软雅黑" panose="020B0503020204020204" charset="-122"/>
                <a:cs typeface="Arial" panose="020B0604020202020204"/>
              </a:rPr>
              <a:t>180</a:t>
            </a:r>
            <a:endParaRPr sz="1400">
              <a:latin typeface="微软雅黑" panose="020B0503020204020204" charset="-122"/>
              <a:ea typeface="微软雅黑" panose="020B0503020204020204" charset="-122"/>
              <a:cs typeface="Arial" panose="020B0604020202020204"/>
            </a:endParaRPr>
          </a:p>
        </p:txBody>
      </p:sp>
      <p:sp>
        <p:nvSpPr>
          <p:cNvPr id="20" name="object 20"/>
          <p:cNvSpPr txBox="1"/>
          <p:nvPr/>
        </p:nvSpPr>
        <p:spPr>
          <a:xfrm>
            <a:off x="4107011" y="3431335"/>
            <a:ext cx="327428" cy="230505"/>
          </a:xfrm>
          <a:prstGeom prst="rect">
            <a:avLst/>
          </a:prstGeom>
        </p:spPr>
        <p:txBody>
          <a:bodyPr vert="horz" wrap="square" lIns="0" tIns="15863" rIns="0" bIns="0" rtlCol="0">
            <a:spAutoFit/>
          </a:bodyPr>
          <a:lstStyle/>
          <a:p>
            <a:pPr>
              <a:lnSpc>
                <a:spcPct val="100000"/>
              </a:lnSpc>
              <a:spcBef>
                <a:spcPts val="125"/>
              </a:spcBef>
            </a:pPr>
            <a:r>
              <a:rPr sz="1400" spc="40" dirty="0">
                <a:latin typeface="微软雅黑" panose="020B0503020204020204" charset="-122"/>
                <a:ea typeface="微软雅黑" panose="020B0503020204020204" charset="-122"/>
                <a:cs typeface="Arial" panose="020B0604020202020204"/>
              </a:rPr>
              <a:t>422</a:t>
            </a:r>
            <a:endParaRPr sz="1400" spc="40" dirty="0">
              <a:latin typeface="微软雅黑" panose="020B0503020204020204" charset="-122"/>
              <a:ea typeface="微软雅黑" panose="020B0503020204020204" charset="-122"/>
              <a:cs typeface="Arial" panose="020B0604020202020204"/>
            </a:endParaRPr>
          </a:p>
        </p:txBody>
      </p:sp>
      <p:sp>
        <p:nvSpPr>
          <p:cNvPr id="21" name="object 21"/>
          <p:cNvSpPr txBox="1"/>
          <p:nvPr/>
        </p:nvSpPr>
        <p:spPr>
          <a:xfrm>
            <a:off x="419898" y="4449396"/>
            <a:ext cx="637723" cy="230505"/>
          </a:xfrm>
          <a:prstGeom prst="rect">
            <a:avLst/>
          </a:prstGeom>
        </p:spPr>
        <p:txBody>
          <a:bodyPr vert="horz" wrap="square" lIns="0" tIns="15863" rIns="0" bIns="0" rtlCol="0">
            <a:spAutoFit/>
          </a:bodyPr>
          <a:lstStyle/>
          <a:p>
            <a:pPr marL="156845">
              <a:lnSpc>
                <a:spcPct val="100000"/>
              </a:lnSpc>
              <a:spcBef>
                <a:spcPts val="125"/>
              </a:spcBef>
            </a:pPr>
            <a:r>
              <a:rPr sz="1400" spc="40" dirty="0">
                <a:latin typeface="微软雅黑" panose="020B0503020204020204" charset="-122"/>
                <a:ea typeface="微软雅黑" panose="020B0503020204020204" charset="-122"/>
                <a:cs typeface="Arial" panose="020B0604020202020204"/>
              </a:rPr>
              <a:t>100</a:t>
            </a:r>
            <a:endParaRPr sz="1400" spc="40" dirty="0">
              <a:latin typeface="微软雅黑" panose="020B0503020204020204" charset="-122"/>
              <a:ea typeface="微软雅黑" panose="020B0503020204020204" charset="-122"/>
              <a:cs typeface="Arial" panose="020B0604020202020204"/>
            </a:endParaRPr>
          </a:p>
        </p:txBody>
      </p:sp>
      <p:sp>
        <p:nvSpPr>
          <p:cNvPr id="22" name="object 22"/>
          <p:cNvSpPr txBox="1"/>
          <p:nvPr/>
        </p:nvSpPr>
        <p:spPr>
          <a:xfrm>
            <a:off x="3049649" y="4978968"/>
            <a:ext cx="1267197" cy="442595"/>
          </a:xfrm>
          <a:prstGeom prst="rect">
            <a:avLst/>
          </a:prstGeom>
        </p:spPr>
        <p:txBody>
          <a:bodyPr vert="horz" wrap="square" lIns="0" tIns="12691" rIns="0" bIns="0" rtlCol="0">
            <a:spAutoFit/>
          </a:bodyPr>
          <a:lstStyle/>
          <a:p>
            <a:pPr marL="12700" marR="5080">
              <a:lnSpc>
                <a:spcPct val="100000"/>
              </a:lnSpc>
              <a:spcBef>
                <a:spcPts val="100"/>
              </a:spcBef>
              <a:tabLst>
                <a:tab pos="898525" algn="l"/>
              </a:tabLst>
            </a:pPr>
            <a:r>
              <a:rPr sz="1400" spc="-5" dirty="0">
                <a:latin typeface="微软雅黑" panose="020B0503020204020204" charset="-122"/>
                <a:ea typeface="微软雅黑" panose="020B0503020204020204" charset="-122"/>
                <a:cs typeface="微软雅黑" panose="020B0503020204020204" charset="-122"/>
              </a:rPr>
              <a:t>36</a:t>
            </a:r>
            <a:r>
              <a:rPr sz="1400" dirty="0">
                <a:latin typeface="微软雅黑" panose="020B0503020204020204" charset="-122"/>
                <a:ea typeface="微软雅黑" panose="020B0503020204020204" charset="-122"/>
                <a:cs typeface="微软雅黑" panose="020B0503020204020204" charset="-122"/>
              </a:rPr>
              <a:t>个月	总计 实现毛利</a:t>
            </a:r>
            <a:endParaRPr sz="1400">
              <a:latin typeface="微软雅黑" panose="020B0503020204020204" charset="-122"/>
              <a:ea typeface="微软雅黑" panose="020B0503020204020204" charset="-122"/>
              <a:cs typeface="微软雅黑" panose="020B0503020204020204" charset="-122"/>
            </a:endParaRPr>
          </a:p>
        </p:txBody>
      </p:sp>
      <p:sp>
        <p:nvSpPr>
          <p:cNvPr id="23" name="object 23"/>
          <p:cNvSpPr/>
          <p:nvPr/>
        </p:nvSpPr>
        <p:spPr>
          <a:xfrm>
            <a:off x="1498554" y="4089836"/>
            <a:ext cx="242398" cy="213209"/>
          </a:xfrm>
          <a:custGeom>
            <a:avLst/>
            <a:gdLst/>
            <a:ahLst/>
            <a:cxnLst/>
            <a:rect l="l" t="t" r="r" b="b"/>
            <a:pathLst>
              <a:path w="242569" h="213360">
                <a:moveTo>
                  <a:pt x="0" y="213360"/>
                </a:moveTo>
                <a:lnTo>
                  <a:pt x="242315" y="213360"/>
                </a:lnTo>
                <a:lnTo>
                  <a:pt x="242315" y="0"/>
                </a:lnTo>
                <a:lnTo>
                  <a:pt x="0" y="0"/>
                </a:lnTo>
                <a:lnTo>
                  <a:pt x="0" y="2133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txBox="1"/>
          <p:nvPr/>
        </p:nvSpPr>
        <p:spPr>
          <a:xfrm>
            <a:off x="1508961" y="4072322"/>
            <a:ext cx="223362" cy="227330"/>
          </a:xfrm>
          <a:prstGeom prst="rect">
            <a:avLst/>
          </a:prstGeom>
        </p:spPr>
        <p:txBody>
          <a:bodyPr vert="horz" wrap="square" lIns="0" tIns="12691" rIns="0" bIns="0" rtlCol="0">
            <a:spAutoFit/>
          </a:bodyPr>
          <a:lstStyle/>
          <a:p>
            <a:pPr marL="12700">
              <a:lnSpc>
                <a:spcPct val="100000"/>
              </a:lnSpc>
              <a:spcBef>
                <a:spcPts val="100"/>
              </a:spcBef>
            </a:pPr>
            <a:r>
              <a:rPr sz="1400" spc="-5" dirty="0">
                <a:latin typeface="微软雅黑" panose="020B0503020204020204" charset="-122"/>
                <a:ea typeface="微软雅黑" panose="020B0503020204020204" charset="-122"/>
                <a:cs typeface="Arial" panose="020B0604020202020204"/>
              </a:rPr>
              <a:t>22</a:t>
            </a:r>
            <a:endParaRPr sz="1400" spc="-5" dirty="0">
              <a:latin typeface="微软雅黑" panose="020B0503020204020204" charset="-122"/>
              <a:ea typeface="微软雅黑" panose="020B0503020204020204" charset="-122"/>
              <a:cs typeface="Arial" panose="020B0604020202020204"/>
            </a:endParaRPr>
          </a:p>
        </p:txBody>
      </p:sp>
      <p:sp>
        <p:nvSpPr>
          <p:cNvPr id="25" name="object 25"/>
          <p:cNvSpPr txBox="1"/>
          <p:nvPr/>
        </p:nvSpPr>
        <p:spPr>
          <a:xfrm>
            <a:off x="1288517" y="4978968"/>
            <a:ext cx="1623180" cy="442595"/>
          </a:xfrm>
          <a:prstGeom prst="rect">
            <a:avLst/>
          </a:prstGeom>
        </p:spPr>
        <p:txBody>
          <a:bodyPr vert="horz" wrap="square" lIns="0" tIns="12691" rIns="0" bIns="0" rtlCol="0">
            <a:spAutoFit/>
          </a:bodyPr>
          <a:lstStyle/>
          <a:p>
            <a:pPr marL="12700" marR="5080">
              <a:lnSpc>
                <a:spcPct val="100000"/>
              </a:lnSpc>
              <a:spcBef>
                <a:spcPts val="100"/>
              </a:spcBef>
              <a:tabLst>
                <a:tab pos="897890" algn="l"/>
              </a:tabLst>
            </a:pPr>
            <a:r>
              <a:rPr sz="1400" spc="-5" dirty="0">
                <a:latin typeface="微软雅黑" panose="020B0503020204020204" charset="-122"/>
                <a:ea typeface="微软雅黑" panose="020B0503020204020204" charset="-122"/>
                <a:cs typeface="微软雅黑" panose="020B0503020204020204" charset="-122"/>
              </a:rPr>
              <a:t>6</a:t>
            </a:r>
            <a:r>
              <a:rPr sz="1400" dirty="0">
                <a:latin typeface="微软雅黑" panose="020B0503020204020204" charset="-122"/>
                <a:ea typeface="微软雅黑" panose="020B0503020204020204" charset="-122"/>
                <a:cs typeface="微软雅黑" panose="020B0503020204020204" charset="-122"/>
              </a:rPr>
              <a:t>个月实	</a:t>
            </a:r>
            <a:r>
              <a:rPr sz="1400" spc="-5" dirty="0">
                <a:latin typeface="微软雅黑" panose="020B0503020204020204" charset="-122"/>
                <a:ea typeface="微软雅黑" panose="020B0503020204020204" charset="-122"/>
                <a:cs typeface="微软雅黑" panose="020B0503020204020204" charset="-122"/>
              </a:rPr>
              <a:t>18</a:t>
            </a:r>
            <a:r>
              <a:rPr sz="1400" dirty="0">
                <a:latin typeface="微软雅黑" panose="020B0503020204020204" charset="-122"/>
                <a:ea typeface="微软雅黑" panose="020B0503020204020204" charset="-122"/>
                <a:cs typeface="微软雅黑" panose="020B0503020204020204" charset="-122"/>
              </a:rPr>
              <a:t>个月 现毛利	实现毛利</a:t>
            </a:r>
            <a:endParaRPr sz="1400">
              <a:latin typeface="微软雅黑" panose="020B0503020204020204" charset="-122"/>
              <a:ea typeface="微软雅黑" panose="020B0503020204020204" charset="-122"/>
              <a:cs typeface="微软雅黑" panose="020B0503020204020204" charset="-122"/>
            </a:endParaRPr>
          </a:p>
        </p:txBody>
      </p:sp>
      <p:sp>
        <p:nvSpPr>
          <p:cNvPr id="26" name="object 26"/>
          <p:cNvSpPr txBox="1"/>
          <p:nvPr/>
        </p:nvSpPr>
        <p:spPr>
          <a:xfrm>
            <a:off x="403066" y="4978968"/>
            <a:ext cx="381999" cy="227330"/>
          </a:xfrm>
          <a:prstGeom prst="rect">
            <a:avLst/>
          </a:prstGeom>
        </p:spPr>
        <p:txBody>
          <a:bodyPr vert="horz" wrap="square" lIns="0" tIns="12691" rIns="0" bIns="0" rtlCol="0">
            <a:spAutoFit/>
          </a:bodyPr>
          <a:lstStyle/>
          <a:p>
            <a:pPr marL="12700">
              <a:lnSpc>
                <a:spcPct val="100000"/>
              </a:lnSpc>
              <a:spcBef>
                <a:spcPts val="100"/>
              </a:spcBef>
            </a:pPr>
            <a:r>
              <a:rPr sz="1400" dirty="0">
                <a:latin typeface="微软雅黑" panose="020B0503020204020204" charset="-122"/>
                <a:ea typeface="微软雅黑" panose="020B0503020204020204" charset="-122"/>
                <a:cs typeface="微软雅黑" panose="020B0503020204020204" charset="-122"/>
              </a:rPr>
              <a:t>起点</a:t>
            </a:r>
            <a:endParaRPr sz="1400" dirty="0">
              <a:latin typeface="微软雅黑" panose="020B0503020204020204" charset="-122"/>
              <a:ea typeface="微软雅黑" panose="020B0503020204020204" charset="-122"/>
              <a:cs typeface="微软雅黑" panose="020B0503020204020204" charset="-122"/>
            </a:endParaRPr>
          </a:p>
        </p:txBody>
      </p:sp>
      <p:sp>
        <p:nvSpPr>
          <p:cNvPr id="27" name="object 27"/>
          <p:cNvSpPr txBox="1"/>
          <p:nvPr/>
        </p:nvSpPr>
        <p:spPr>
          <a:xfrm>
            <a:off x="5886087" y="1921197"/>
            <a:ext cx="2667015" cy="2790190"/>
          </a:xfrm>
          <a:prstGeom prst="rect">
            <a:avLst/>
          </a:prstGeom>
          <a:solidFill>
            <a:srgbClr val="0066CC"/>
          </a:solidFill>
        </p:spPr>
        <p:txBody>
          <a:bodyPr vert="horz" wrap="square" lIns="0" tIns="1903" rIns="0" bIns="0" rtlCol="0">
            <a:spAutoFit/>
          </a:bodyPr>
          <a:lstStyle/>
          <a:p>
            <a:pPr>
              <a:lnSpc>
                <a:spcPct val="100000"/>
              </a:lnSpc>
              <a:spcBef>
                <a:spcPts val="15"/>
              </a:spcBef>
            </a:pPr>
            <a:endParaRPr sz="2650">
              <a:latin typeface="微软雅黑" panose="020B0503020204020204" charset="-122"/>
              <a:ea typeface="微软雅黑" panose="020B0503020204020204" charset="-122"/>
              <a:cs typeface="微软雅黑" panose="020B0503020204020204" charset="-122"/>
            </a:endParaRPr>
          </a:p>
          <a:p>
            <a:pPr marL="73660">
              <a:lnSpc>
                <a:spcPct val="100000"/>
              </a:lnSpc>
            </a:pPr>
            <a:r>
              <a:rPr sz="1400" b="1" spc="10" dirty="0">
                <a:solidFill>
                  <a:srgbClr val="FFFFFF"/>
                </a:solidFill>
                <a:latin typeface="微软雅黑" panose="020B0503020204020204" charset="-122"/>
                <a:ea typeface="微软雅黑" panose="020B0503020204020204" charset="-122"/>
                <a:cs typeface="微软雅黑" panose="020B0503020204020204" charset="-122"/>
              </a:rPr>
              <a:t>成效</a:t>
            </a:r>
            <a:r>
              <a:rPr sz="1400" b="1" dirty="0">
                <a:solidFill>
                  <a:srgbClr val="FFFFFF"/>
                </a:solidFill>
                <a:latin typeface="微软雅黑" panose="020B0503020204020204" charset="-122"/>
                <a:ea typeface="微软雅黑" panose="020B0503020204020204" charset="-122"/>
                <a:cs typeface="微软雅黑" panose="020B0503020204020204" charset="-122"/>
              </a:rPr>
              <a:t>源于：</a:t>
            </a:r>
            <a:endParaRPr sz="1400">
              <a:latin typeface="微软雅黑" panose="020B0503020204020204" charset="-122"/>
              <a:ea typeface="微软雅黑" panose="020B0503020204020204" charset="-122"/>
              <a:cs typeface="微软雅黑" panose="020B0503020204020204" charset="-122"/>
            </a:endParaRPr>
          </a:p>
          <a:p>
            <a:pPr>
              <a:lnSpc>
                <a:spcPct val="100000"/>
              </a:lnSpc>
              <a:spcBef>
                <a:spcPts val="25"/>
              </a:spcBef>
            </a:pPr>
            <a:endParaRPr sz="1450">
              <a:latin typeface="微软雅黑" panose="020B0503020204020204" charset="-122"/>
              <a:ea typeface="微软雅黑" panose="020B0503020204020204" charset="-122"/>
              <a:cs typeface="微软雅黑" panose="020B0503020204020204" charset="-122"/>
            </a:endParaRPr>
          </a:p>
          <a:p>
            <a:pPr marL="266065" indent="-192405">
              <a:lnSpc>
                <a:spcPct val="100000"/>
              </a:lnSpc>
              <a:buSzPct val="125000"/>
              <a:buFont typeface="Arial" panose="020B0604020202020204"/>
              <a:buChar char="▪"/>
              <a:tabLst>
                <a:tab pos="266065" algn="l"/>
              </a:tabLst>
            </a:pPr>
            <a:r>
              <a:rPr sz="1400" b="1" spc="10" dirty="0">
                <a:solidFill>
                  <a:srgbClr val="FFFFFF"/>
                </a:solidFill>
                <a:latin typeface="微软雅黑" panose="020B0503020204020204" charset="-122"/>
                <a:ea typeface="微软雅黑" panose="020B0503020204020204" charset="-122"/>
                <a:cs typeface="微软雅黑" panose="020B0503020204020204" charset="-122"/>
              </a:rPr>
              <a:t>销量</a:t>
            </a:r>
            <a:r>
              <a:rPr sz="1400" b="1" dirty="0">
                <a:solidFill>
                  <a:srgbClr val="FFFFFF"/>
                </a:solidFill>
                <a:latin typeface="微软雅黑" panose="020B0503020204020204" charset="-122"/>
                <a:ea typeface="微软雅黑" panose="020B0503020204020204" charset="-122"/>
                <a:cs typeface="微软雅黑" panose="020B0503020204020204" charset="-122"/>
              </a:rPr>
              <a:t>增长</a:t>
            </a:r>
            <a:r>
              <a:rPr sz="1400" b="1" spc="-45" dirty="0">
                <a:solidFill>
                  <a:srgbClr val="FFFFFF"/>
                </a:solidFill>
                <a:latin typeface="微软雅黑" panose="020B0503020204020204" charset="-122"/>
                <a:ea typeface="微软雅黑" panose="020B0503020204020204" charset="-122"/>
                <a:cs typeface="微软雅黑" panose="020B0503020204020204" charset="-122"/>
              </a:rPr>
              <a:t> </a:t>
            </a:r>
            <a:r>
              <a:rPr sz="1400" b="1" spc="-10" dirty="0">
                <a:solidFill>
                  <a:srgbClr val="FFFFFF"/>
                </a:solidFill>
                <a:latin typeface="微软雅黑" panose="020B0503020204020204" charset="-122"/>
                <a:ea typeface="微软雅黑" panose="020B0503020204020204" charset="-122"/>
                <a:cs typeface="微软雅黑" panose="020B0503020204020204" charset="-122"/>
              </a:rPr>
              <a:t>(~50%)</a:t>
            </a:r>
            <a:endParaRPr sz="1400">
              <a:latin typeface="微软雅黑" panose="020B0503020204020204" charset="-122"/>
              <a:ea typeface="微软雅黑" panose="020B0503020204020204" charset="-122"/>
              <a:cs typeface="微软雅黑" panose="020B0503020204020204" charset="-122"/>
            </a:endParaRPr>
          </a:p>
          <a:p>
            <a:pPr marL="266065" indent="-192405">
              <a:lnSpc>
                <a:spcPct val="100000"/>
              </a:lnSpc>
              <a:spcBef>
                <a:spcPts val="1680"/>
              </a:spcBef>
              <a:buSzPct val="125000"/>
              <a:buFont typeface="Arial" panose="020B0604020202020204"/>
              <a:buChar char="▪"/>
              <a:tabLst>
                <a:tab pos="266065" algn="l"/>
              </a:tabLst>
            </a:pPr>
            <a:r>
              <a:rPr sz="1400" b="1" spc="10" dirty="0">
                <a:solidFill>
                  <a:srgbClr val="FFFFFF"/>
                </a:solidFill>
                <a:latin typeface="微软雅黑" panose="020B0503020204020204" charset="-122"/>
                <a:ea typeface="微软雅黑" panose="020B0503020204020204" charset="-122"/>
                <a:cs typeface="微软雅黑" panose="020B0503020204020204" charset="-122"/>
              </a:rPr>
              <a:t>产品</a:t>
            </a:r>
            <a:r>
              <a:rPr sz="1400" b="1" dirty="0">
                <a:solidFill>
                  <a:srgbClr val="FFFFFF"/>
                </a:solidFill>
                <a:latin typeface="微软雅黑" panose="020B0503020204020204" charset="-122"/>
                <a:ea typeface="微软雅黑" panose="020B0503020204020204" charset="-122"/>
                <a:cs typeface="微软雅黑" panose="020B0503020204020204" charset="-122"/>
              </a:rPr>
              <a:t>/</a:t>
            </a:r>
            <a:r>
              <a:rPr sz="1400" b="1" spc="-10" dirty="0">
                <a:solidFill>
                  <a:srgbClr val="FFFFFF"/>
                </a:solidFill>
                <a:latin typeface="微软雅黑" panose="020B0503020204020204" charset="-122"/>
                <a:ea typeface="微软雅黑" panose="020B0503020204020204" charset="-122"/>
                <a:cs typeface="微软雅黑" panose="020B0503020204020204" charset="-122"/>
              </a:rPr>
              <a:t>客</a:t>
            </a:r>
            <a:r>
              <a:rPr sz="1400" b="1" spc="5" dirty="0">
                <a:solidFill>
                  <a:srgbClr val="FFFFFF"/>
                </a:solidFill>
                <a:latin typeface="微软雅黑" panose="020B0503020204020204" charset="-122"/>
                <a:ea typeface="微软雅黑" panose="020B0503020204020204" charset="-122"/>
                <a:cs typeface="微软雅黑" panose="020B0503020204020204" charset="-122"/>
              </a:rPr>
              <a:t>户</a:t>
            </a:r>
            <a:r>
              <a:rPr sz="1400" b="1" dirty="0">
                <a:solidFill>
                  <a:srgbClr val="FFFFFF"/>
                </a:solidFill>
                <a:latin typeface="微软雅黑" panose="020B0503020204020204" charset="-122"/>
                <a:ea typeface="微软雅黑" panose="020B0503020204020204" charset="-122"/>
                <a:cs typeface="微软雅黑" panose="020B0503020204020204" charset="-122"/>
              </a:rPr>
              <a:t>组</a:t>
            </a:r>
            <a:r>
              <a:rPr sz="1400" b="1" spc="-10" dirty="0">
                <a:solidFill>
                  <a:srgbClr val="FFFFFF"/>
                </a:solidFill>
                <a:latin typeface="微软雅黑" panose="020B0503020204020204" charset="-122"/>
                <a:ea typeface="微软雅黑" panose="020B0503020204020204" charset="-122"/>
                <a:cs typeface="微软雅黑" panose="020B0503020204020204" charset="-122"/>
              </a:rPr>
              <a:t>合</a:t>
            </a:r>
            <a:r>
              <a:rPr sz="1400" b="1" spc="5" dirty="0">
                <a:solidFill>
                  <a:srgbClr val="FFFFFF"/>
                </a:solidFill>
                <a:latin typeface="微软雅黑" panose="020B0503020204020204" charset="-122"/>
                <a:ea typeface="微软雅黑" panose="020B0503020204020204" charset="-122"/>
                <a:cs typeface="微软雅黑" panose="020B0503020204020204" charset="-122"/>
              </a:rPr>
              <a:t>变化</a:t>
            </a:r>
            <a:r>
              <a:rPr sz="1400" b="1" spc="-60" dirty="0">
                <a:solidFill>
                  <a:srgbClr val="FFFFFF"/>
                </a:solidFill>
                <a:latin typeface="微软雅黑" panose="020B0503020204020204" charset="-122"/>
                <a:ea typeface="微软雅黑" panose="020B0503020204020204" charset="-122"/>
                <a:cs typeface="微软雅黑" panose="020B0503020204020204" charset="-122"/>
              </a:rPr>
              <a:t> </a:t>
            </a:r>
            <a:r>
              <a:rPr sz="1400" b="1" spc="-10" dirty="0">
                <a:solidFill>
                  <a:srgbClr val="FFFFFF"/>
                </a:solidFill>
                <a:latin typeface="微软雅黑" panose="020B0503020204020204" charset="-122"/>
                <a:ea typeface="微软雅黑" panose="020B0503020204020204" charset="-122"/>
                <a:cs typeface="微软雅黑" panose="020B0503020204020204" charset="-122"/>
              </a:rPr>
              <a:t>(~10%)</a:t>
            </a:r>
            <a:endParaRPr sz="1400">
              <a:latin typeface="微软雅黑" panose="020B0503020204020204" charset="-122"/>
              <a:ea typeface="微软雅黑" panose="020B0503020204020204" charset="-122"/>
              <a:cs typeface="微软雅黑" panose="020B0503020204020204" charset="-122"/>
            </a:endParaRPr>
          </a:p>
          <a:p>
            <a:pPr marL="266065" indent="-192405">
              <a:lnSpc>
                <a:spcPct val="100000"/>
              </a:lnSpc>
              <a:spcBef>
                <a:spcPts val="1685"/>
              </a:spcBef>
              <a:buSzPct val="125000"/>
              <a:buFont typeface="Arial" panose="020B0604020202020204"/>
              <a:buChar char="▪"/>
              <a:tabLst>
                <a:tab pos="266065" algn="l"/>
              </a:tabLst>
            </a:pPr>
            <a:r>
              <a:rPr sz="1400" b="1" spc="10" dirty="0">
                <a:solidFill>
                  <a:srgbClr val="FFFFFF"/>
                </a:solidFill>
                <a:latin typeface="微软雅黑" panose="020B0503020204020204" charset="-122"/>
                <a:ea typeface="微软雅黑" panose="020B0503020204020204" charset="-122"/>
                <a:cs typeface="微软雅黑" panose="020B0503020204020204" charset="-122"/>
              </a:rPr>
              <a:t>服务</a:t>
            </a:r>
            <a:r>
              <a:rPr sz="1400" b="1" dirty="0">
                <a:solidFill>
                  <a:srgbClr val="FFFFFF"/>
                </a:solidFill>
                <a:latin typeface="微软雅黑" panose="020B0503020204020204" charset="-122"/>
                <a:ea typeface="微软雅黑" panose="020B0503020204020204" charset="-122"/>
                <a:cs typeface="微软雅黑" panose="020B0503020204020204" charset="-122"/>
              </a:rPr>
              <a:t>成本</a:t>
            </a:r>
            <a:r>
              <a:rPr sz="1400" b="1" spc="-15" dirty="0">
                <a:solidFill>
                  <a:srgbClr val="FFFFFF"/>
                </a:solidFill>
                <a:latin typeface="微软雅黑" panose="020B0503020204020204" charset="-122"/>
                <a:ea typeface="微软雅黑" panose="020B0503020204020204" charset="-122"/>
                <a:cs typeface="微软雅黑" panose="020B0503020204020204" charset="-122"/>
              </a:rPr>
              <a:t>降</a:t>
            </a:r>
            <a:r>
              <a:rPr sz="1400" b="1" dirty="0">
                <a:solidFill>
                  <a:srgbClr val="FFFFFF"/>
                </a:solidFill>
                <a:latin typeface="微软雅黑" panose="020B0503020204020204" charset="-122"/>
                <a:ea typeface="微软雅黑" panose="020B0503020204020204" charset="-122"/>
                <a:cs typeface="微软雅黑" panose="020B0503020204020204" charset="-122"/>
              </a:rPr>
              <a:t>低</a:t>
            </a:r>
            <a:r>
              <a:rPr sz="1400" b="1" spc="-45" dirty="0">
                <a:solidFill>
                  <a:srgbClr val="FFFFFF"/>
                </a:solidFill>
                <a:latin typeface="微软雅黑" panose="020B0503020204020204" charset="-122"/>
                <a:ea typeface="微软雅黑" panose="020B0503020204020204" charset="-122"/>
                <a:cs typeface="微软雅黑" panose="020B0503020204020204" charset="-122"/>
              </a:rPr>
              <a:t> </a:t>
            </a:r>
            <a:r>
              <a:rPr sz="1400" b="1" spc="-10" dirty="0">
                <a:solidFill>
                  <a:srgbClr val="FFFFFF"/>
                </a:solidFill>
                <a:latin typeface="微软雅黑" panose="020B0503020204020204" charset="-122"/>
                <a:ea typeface="微软雅黑" panose="020B0503020204020204" charset="-122"/>
                <a:cs typeface="微软雅黑" panose="020B0503020204020204" charset="-122"/>
              </a:rPr>
              <a:t>(~20%)</a:t>
            </a:r>
            <a:endParaRPr sz="1400">
              <a:latin typeface="微软雅黑" panose="020B0503020204020204" charset="-122"/>
              <a:ea typeface="微软雅黑" panose="020B0503020204020204" charset="-122"/>
              <a:cs typeface="微软雅黑" panose="020B0503020204020204" charset="-122"/>
            </a:endParaRPr>
          </a:p>
          <a:p>
            <a:pPr marL="266065" indent="-192405">
              <a:lnSpc>
                <a:spcPct val="100000"/>
              </a:lnSpc>
              <a:spcBef>
                <a:spcPts val="1680"/>
              </a:spcBef>
              <a:buSzPct val="125000"/>
              <a:buFont typeface="Arial" panose="020B0604020202020204"/>
              <a:buChar char="▪"/>
              <a:tabLst>
                <a:tab pos="266065" algn="l"/>
              </a:tabLst>
            </a:pPr>
            <a:r>
              <a:rPr sz="1400" b="1" spc="10" dirty="0">
                <a:solidFill>
                  <a:srgbClr val="FFFFFF"/>
                </a:solidFill>
                <a:latin typeface="微软雅黑" panose="020B0503020204020204" charset="-122"/>
                <a:ea typeface="微软雅黑" panose="020B0503020204020204" charset="-122"/>
                <a:cs typeface="微软雅黑" panose="020B0503020204020204" charset="-122"/>
              </a:rPr>
              <a:t>价格</a:t>
            </a:r>
            <a:r>
              <a:rPr sz="1400" b="1" dirty="0">
                <a:solidFill>
                  <a:srgbClr val="FFFFFF"/>
                </a:solidFill>
                <a:latin typeface="微软雅黑" panose="020B0503020204020204" charset="-122"/>
                <a:ea typeface="微软雅黑" panose="020B0503020204020204" charset="-122"/>
                <a:cs typeface="微软雅黑" panose="020B0503020204020204" charset="-122"/>
              </a:rPr>
              <a:t>上涨</a:t>
            </a:r>
            <a:r>
              <a:rPr sz="1400" b="1" spc="-45" dirty="0">
                <a:solidFill>
                  <a:srgbClr val="FFFFFF"/>
                </a:solidFill>
                <a:latin typeface="微软雅黑" panose="020B0503020204020204" charset="-122"/>
                <a:ea typeface="微软雅黑" panose="020B0503020204020204" charset="-122"/>
                <a:cs typeface="微软雅黑" panose="020B0503020204020204" charset="-122"/>
              </a:rPr>
              <a:t> </a:t>
            </a:r>
            <a:r>
              <a:rPr sz="1400" b="1" spc="-10" dirty="0">
                <a:solidFill>
                  <a:srgbClr val="FFFFFF"/>
                </a:solidFill>
                <a:latin typeface="微软雅黑" panose="020B0503020204020204" charset="-122"/>
                <a:ea typeface="微软雅黑" panose="020B0503020204020204" charset="-122"/>
                <a:cs typeface="微软雅黑" panose="020B0503020204020204" charset="-122"/>
              </a:rPr>
              <a:t>(~10%)</a:t>
            </a:r>
            <a:endParaRPr sz="1400">
              <a:latin typeface="微软雅黑" panose="020B0503020204020204" charset="-122"/>
              <a:ea typeface="微软雅黑" panose="020B0503020204020204" charset="-122"/>
              <a:cs typeface="微软雅黑" panose="020B0503020204020204" charset="-122"/>
            </a:endParaRPr>
          </a:p>
          <a:p>
            <a:pPr marL="266065" indent="-192405">
              <a:lnSpc>
                <a:spcPct val="100000"/>
              </a:lnSpc>
              <a:spcBef>
                <a:spcPts val="1680"/>
              </a:spcBef>
              <a:buSzPct val="125000"/>
              <a:buFont typeface="Arial" panose="020B0604020202020204"/>
              <a:buChar char="▪"/>
              <a:tabLst>
                <a:tab pos="266065" algn="l"/>
              </a:tabLst>
            </a:pPr>
            <a:r>
              <a:rPr sz="1400" b="1" spc="10" dirty="0">
                <a:solidFill>
                  <a:srgbClr val="FFFFFF"/>
                </a:solidFill>
                <a:latin typeface="微软雅黑" panose="020B0503020204020204" charset="-122"/>
                <a:ea typeface="微软雅黑" panose="020B0503020204020204" charset="-122"/>
                <a:cs typeface="微软雅黑" panose="020B0503020204020204" charset="-122"/>
              </a:rPr>
              <a:t>补损</a:t>
            </a:r>
            <a:r>
              <a:rPr sz="1400" b="1" spc="5" dirty="0">
                <a:solidFill>
                  <a:srgbClr val="FFFFFF"/>
                </a:solidFill>
                <a:latin typeface="微软雅黑" panose="020B0503020204020204" charset="-122"/>
                <a:ea typeface="微软雅黑" panose="020B0503020204020204" charset="-122"/>
                <a:cs typeface="微软雅黑" panose="020B0503020204020204" charset="-122"/>
              </a:rPr>
              <a:t>堵漏</a:t>
            </a:r>
            <a:r>
              <a:rPr sz="1400" b="1" spc="-50" dirty="0">
                <a:solidFill>
                  <a:srgbClr val="FFFFFF"/>
                </a:solidFill>
                <a:latin typeface="微软雅黑" panose="020B0503020204020204" charset="-122"/>
                <a:ea typeface="微软雅黑" panose="020B0503020204020204" charset="-122"/>
                <a:cs typeface="微软雅黑" panose="020B0503020204020204" charset="-122"/>
              </a:rPr>
              <a:t> </a:t>
            </a:r>
            <a:r>
              <a:rPr sz="1400" b="1" spc="-15" dirty="0">
                <a:solidFill>
                  <a:srgbClr val="FFFFFF"/>
                </a:solidFill>
                <a:latin typeface="微软雅黑" panose="020B0503020204020204" charset="-122"/>
                <a:ea typeface="微软雅黑" panose="020B0503020204020204" charset="-122"/>
                <a:cs typeface="微软雅黑" panose="020B0503020204020204" charset="-122"/>
              </a:rPr>
              <a:t>(~5%)</a:t>
            </a:r>
            <a:endParaRPr sz="1400">
              <a:latin typeface="微软雅黑" panose="020B0503020204020204" charset="-122"/>
              <a:ea typeface="微软雅黑" panose="020B0503020204020204" charset="-122"/>
              <a:cs typeface="微软雅黑" panose="020B0503020204020204" charset="-122"/>
            </a:endParaRPr>
          </a:p>
        </p:txBody>
      </p:sp>
      <p:sp>
        <p:nvSpPr>
          <p:cNvPr id="28" name="object 28"/>
          <p:cNvSpPr txBox="1"/>
          <p:nvPr/>
        </p:nvSpPr>
        <p:spPr>
          <a:xfrm>
            <a:off x="7656103" y="263117"/>
            <a:ext cx="1091426" cy="196215"/>
          </a:xfrm>
          <a:prstGeom prst="rect">
            <a:avLst/>
          </a:prstGeom>
        </p:spPr>
        <p:txBody>
          <a:bodyPr vert="horz" wrap="square" lIns="0" tIns="12691" rIns="0" bIns="0" rtlCol="0">
            <a:spAutoFit/>
          </a:bodyPr>
          <a:lstStyle/>
          <a:p>
            <a:pPr marL="12700">
              <a:lnSpc>
                <a:spcPct val="100000"/>
              </a:lnSpc>
              <a:spcBef>
                <a:spcPts val="100"/>
              </a:spcBef>
            </a:pPr>
            <a:r>
              <a:rPr sz="1200" dirty="0">
                <a:solidFill>
                  <a:srgbClr val="808080"/>
                </a:solidFill>
                <a:latin typeface="微软雅黑" panose="020B0503020204020204" charset="-122"/>
                <a:ea typeface="微软雅黑" panose="020B0503020204020204" charset="-122"/>
                <a:cs typeface="微软雅黑" panose="020B0503020204020204" charset="-122"/>
              </a:rPr>
              <a:t>工业包装提供商</a:t>
            </a:r>
            <a:endParaRPr sz="1200" dirty="0">
              <a:solidFill>
                <a:srgbClr val="808080"/>
              </a:solidFill>
              <a:latin typeface="微软雅黑" panose="020B0503020204020204" charset="-122"/>
              <a:ea typeface="微软雅黑" panose="020B0503020204020204" charset="-122"/>
              <a:cs typeface="微软雅黑" panose="020B0503020204020204" charset="-122"/>
            </a:endParaRPr>
          </a:p>
        </p:txBody>
      </p:sp>
      <p:sp>
        <p:nvSpPr>
          <p:cNvPr id="29" name="object 29"/>
          <p:cNvSpPr/>
          <p:nvPr/>
        </p:nvSpPr>
        <p:spPr>
          <a:xfrm>
            <a:off x="7642015" y="287103"/>
            <a:ext cx="0" cy="209402"/>
          </a:xfrm>
          <a:custGeom>
            <a:avLst/>
            <a:gdLst/>
            <a:ahLst/>
            <a:cxnLst/>
            <a:rect l="l" t="t" r="r" b="b"/>
            <a:pathLst>
              <a:path h="209550">
                <a:moveTo>
                  <a:pt x="0" y="0"/>
                </a:moveTo>
                <a:lnTo>
                  <a:pt x="0" y="209550"/>
                </a:lnTo>
              </a:path>
            </a:pathLst>
          </a:custGeom>
          <a:ln w="9525">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0" name="object 30"/>
          <p:cNvSpPr/>
          <p:nvPr/>
        </p:nvSpPr>
        <p:spPr>
          <a:xfrm>
            <a:off x="7642776" y="496504"/>
            <a:ext cx="1093330" cy="0"/>
          </a:xfrm>
          <a:custGeom>
            <a:avLst/>
            <a:gdLst/>
            <a:ahLst/>
            <a:cxnLst/>
            <a:rect l="l" t="t" r="r" b="b"/>
            <a:pathLst>
              <a:path w="1094104">
                <a:moveTo>
                  <a:pt x="0" y="0"/>
                </a:moveTo>
                <a:lnTo>
                  <a:pt x="1093724" y="0"/>
                </a:lnTo>
              </a:path>
            </a:pathLst>
          </a:custGeom>
          <a:ln w="25400">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1" name="object 31"/>
          <p:cNvSpPr/>
          <p:nvPr/>
        </p:nvSpPr>
        <p:spPr>
          <a:xfrm>
            <a:off x="5162700" y="1953178"/>
            <a:ext cx="347734" cy="3088991"/>
          </a:xfrm>
          <a:custGeom>
            <a:avLst/>
            <a:gdLst/>
            <a:ahLst/>
            <a:cxnLst/>
            <a:rect l="l" t="t" r="r" b="b"/>
            <a:pathLst>
              <a:path w="347979" h="3091179">
                <a:moveTo>
                  <a:pt x="0" y="0"/>
                </a:moveTo>
                <a:lnTo>
                  <a:pt x="0" y="3090672"/>
                </a:lnTo>
                <a:lnTo>
                  <a:pt x="347472" y="1545336"/>
                </a:lnTo>
                <a:lnTo>
                  <a:pt x="0"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401" y="203088"/>
            <a:ext cx="2679706"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大客户管理</a:t>
            </a:r>
            <a:r>
              <a:rPr spc="-10" dirty="0">
                <a:ea typeface="微软雅黑" panose="020B0503020204020204" charset="-122"/>
              </a:rPr>
              <a:t>包括</a:t>
            </a:r>
            <a:r>
              <a:rPr spc="-5" dirty="0">
                <a:ea typeface="微软雅黑" panose="020B0503020204020204" charset="-122"/>
              </a:rPr>
              <a:t>五</a:t>
            </a:r>
            <a:r>
              <a:rPr spc="-10" dirty="0">
                <a:ea typeface="微软雅黑" panose="020B0503020204020204" charset="-122"/>
              </a:rPr>
              <a:t>大要素</a:t>
            </a:r>
            <a:endParaRPr spc="-10" dirty="0">
              <a:ea typeface="微软雅黑" panose="020B0503020204020204" charset="-122"/>
            </a:endParaRPr>
          </a:p>
        </p:txBody>
      </p:sp>
      <p:sp>
        <p:nvSpPr>
          <p:cNvPr id="4" name="object 4"/>
          <p:cNvSpPr/>
          <p:nvPr/>
        </p:nvSpPr>
        <p:spPr>
          <a:xfrm>
            <a:off x="2096299" y="1323450"/>
            <a:ext cx="2679071" cy="3900581"/>
          </a:xfrm>
          <a:custGeom>
            <a:avLst/>
            <a:gdLst/>
            <a:ahLst/>
            <a:cxnLst/>
            <a:rect l="l" t="t" r="r" b="b"/>
            <a:pathLst>
              <a:path w="2680970" h="3903345">
                <a:moveTo>
                  <a:pt x="1977643" y="0"/>
                </a:moveTo>
                <a:lnTo>
                  <a:pt x="0" y="0"/>
                </a:lnTo>
                <a:lnTo>
                  <a:pt x="703071" y="1952244"/>
                </a:lnTo>
                <a:lnTo>
                  <a:pt x="0" y="3902964"/>
                </a:lnTo>
                <a:lnTo>
                  <a:pt x="1977643" y="3902964"/>
                </a:lnTo>
                <a:lnTo>
                  <a:pt x="2680716" y="1952244"/>
                </a:lnTo>
                <a:lnTo>
                  <a:pt x="197764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p:nvPr/>
        </p:nvSpPr>
        <p:spPr>
          <a:xfrm>
            <a:off x="2096299" y="1323450"/>
            <a:ext cx="2679071" cy="3900581"/>
          </a:xfrm>
          <a:custGeom>
            <a:avLst/>
            <a:gdLst/>
            <a:ahLst/>
            <a:cxnLst/>
            <a:rect l="l" t="t" r="r" b="b"/>
            <a:pathLst>
              <a:path w="2680970" h="3903345">
                <a:moveTo>
                  <a:pt x="0" y="0"/>
                </a:moveTo>
                <a:lnTo>
                  <a:pt x="1977643" y="0"/>
                </a:lnTo>
                <a:lnTo>
                  <a:pt x="2680716" y="1952244"/>
                </a:lnTo>
                <a:lnTo>
                  <a:pt x="1977643" y="3902964"/>
                </a:lnTo>
                <a:lnTo>
                  <a:pt x="0" y="3902964"/>
                </a:lnTo>
                <a:lnTo>
                  <a:pt x="703071"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4074573" y="1323450"/>
            <a:ext cx="2679071" cy="1951242"/>
          </a:xfrm>
          <a:custGeom>
            <a:avLst/>
            <a:gdLst/>
            <a:ahLst/>
            <a:cxnLst/>
            <a:rect l="l" t="t" r="r" b="b"/>
            <a:pathLst>
              <a:path w="2680970" h="1952625">
                <a:moveTo>
                  <a:pt x="1977643" y="0"/>
                </a:moveTo>
                <a:lnTo>
                  <a:pt x="0" y="0"/>
                </a:lnTo>
                <a:lnTo>
                  <a:pt x="703072" y="1952244"/>
                </a:lnTo>
                <a:lnTo>
                  <a:pt x="2680716" y="1952244"/>
                </a:lnTo>
                <a:lnTo>
                  <a:pt x="197764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4074573" y="1323450"/>
            <a:ext cx="2679071" cy="1951242"/>
          </a:xfrm>
          <a:custGeom>
            <a:avLst/>
            <a:gdLst/>
            <a:ahLst/>
            <a:cxnLst/>
            <a:rect l="l" t="t" r="r" b="b"/>
            <a:pathLst>
              <a:path w="2680970" h="1952625">
                <a:moveTo>
                  <a:pt x="0" y="0"/>
                </a:moveTo>
                <a:lnTo>
                  <a:pt x="1977643" y="0"/>
                </a:lnTo>
                <a:lnTo>
                  <a:pt x="2680716" y="1952244"/>
                </a:lnTo>
                <a:lnTo>
                  <a:pt x="703072"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4074573" y="3274312"/>
            <a:ext cx="4655695" cy="1949338"/>
          </a:xfrm>
          <a:custGeom>
            <a:avLst/>
            <a:gdLst/>
            <a:ahLst/>
            <a:cxnLst/>
            <a:rect l="l" t="t" r="r" b="b"/>
            <a:pathLst>
              <a:path w="4658995" h="1950720">
                <a:moveTo>
                  <a:pt x="4658868" y="0"/>
                </a:moveTo>
                <a:lnTo>
                  <a:pt x="703199" y="0"/>
                </a:lnTo>
                <a:lnTo>
                  <a:pt x="0" y="1950720"/>
                </a:lnTo>
                <a:lnTo>
                  <a:pt x="3955668" y="1950720"/>
                </a:lnTo>
                <a:lnTo>
                  <a:pt x="4658868"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4074573" y="3274312"/>
            <a:ext cx="4655695" cy="1949338"/>
          </a:xfrm>
          <a:custGeom>
            <a:avLst/>
            <a:gdLst/>
            <a:ahLst/>
            <a:cxnLst/>
            <a:rect l="l" t="t" r="r" b="b"/>
            <a:pathLst>
              <a:path w="4658995" h="1950720">
                <a:moveTo>
                  <a:pt x="4658868" y="0"/>
                </a:moveTo>
                <a:lnTo>
                  <a:pt x="3955668" y="1950720"/>
                </a:lnTo>
                <a:lnTo>
                  <a:pt x="0" y="1950720"/>
                </a:lnTo>
                <a:lnTo>
                  <a:pt x="703199" y="0"/>
                </a:lnTo>
                <a:lnTo>
                  <a:pt x="4658868"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6051325" y="1323450"/>
            <a:ext cx="2679071" cy="1951242"/>
          </a:xfrm>
          <a:custGeom>
            <a:avLst/>
            <a:gdLst/>
            <a:ahLst/>
            <a:cxnLst/>
            <a:rect l="l" t="t" r="r" b="b"/>
            <a:pathLst>
              <a:path w="2680970" h="1952625">
                <a:moveTo>
                  <a:pt x="1977643" y="0"/>
                </a:moveTo>
                <a:lnTo>
                  <a:pt x="0" y="0"/>
                </a:lnTo>
                <a:lnTo>
                  <a:pt x="703071" y="1952244"/>
                </a:lnTo>
                <a:lnTo>
                  <a:pt x="2680716" y="1952244"/>
                </a:lnTo>
                <a:lnTo>
                  <a:pt x="197764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6051325" y="1323450"/>
            <a:ext cx="2679071" cy="1951242"/>
          </a:xfrm>
          <a:custGeom>
            <a:avLst/>
            <a:gdLst/>
            <a:ahLst/>
            <a:cxnLst/>
            <a:rect l="l" t="t" r="r" b="b"/>
            <a:pathLst>
              <a:path w="2680970" h="1952625">
                <a:moveTo>
                  <a:pt x="0" y="0"/>
                </a:moveTo>
                <a:lnTo>
                  <a:pt x="1977643" y="0"/>
                </a:lnTo>
                <a:lnTo>
                  <a:pt x="2680716" y="1952244"/>
                </a:lnTo>
                <a:lnTo>
                  <a:pt x="703071"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119549" y="1323450"/>
            <a:ext cx="2680340" cy="3900581"/>
          </a:xfrm>
          <a:custGeom>
            <a:avLst/>
            <a:gdLst/>
            <a:ahLst/>
            <a:cxnLst/>
            <a:rect l="l" t="t" r="r" b="b"/>
            <a:pathLst>
              <a:path w="2682240" h="3903345">
                <a:moveTo>
                  <a:pt x="1978787" y="0"/>
                </a:moveTo>
                <a:lnTo>
                  <a:pt x="0" y="0"/>
                </a:lnTo>
                <a:lnTo>
                  <a:pt x="0" y="3902964"/>
                </a:lnTo>
                <a:lnTo>
                  <a:pt x="1978787" y="3902964"/>
                </a:lnTo>
                <a:lnTo>
                  <a:pt x="2682240" y="1952244"/>
                </a:lnTo>
                <a:lnTo>
                  <a:pt x="1978787"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119549" y="1323450"/>
            <a:ext cx="2680340" cy="3900581"/>
          </a:xfrm>
          <a:custGeom>
            <a:avLst/>
            <a:gdLst/>
            <a:ahLst/>
            <a:cxnLst/>
            <a:rect l="l" t="t" r="r" b="b"/>
            <a:pathLst>
              <a:path w="2682240" h="3903345">
                <a:moveTo>
                  <a:pt x="0" y="0"/>
                </a:moveTo>
                <a:lnTo>
                  <a:pt x="1978787" y="0"/>
                </a:lnTo>
                <a:lnTo>
                  <a:pt x="2682240" y="1952244"/>
                </a:lnTo>
                <a:lnTo>
                  <a:pt x="1978787" y="3902964"/>
                </a:lnTo>
                <a:lnTo>
                  <a:pt x="0" y="3902964"/>
                </a:lnTo>
                <a:lnTo>
                  <a:pt x="0"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169043" y="1538944"/>
            <a:ext cx="1926495" cy="3359944"/>
          </a:xfrm>
          <a:custGeom>
            <a:avLst/>
            <a:gdLst/>
            <a:ahLst/>
            <a:cxnLst/>
            <a:rect l="l" t="t" r="r" b="b"/>
            <a:pathLst>
              <a:path w="1927860" h="3362325">
                <a:moveTo>
                  <a:pt x="0" y="3361944"/>
                </a:moveTo>
                <a:lnTo>
                  <a:pt x="1927860" y="3361944"/>
                </a:lnTo>
                <a:lnTo>
                  <a:pt x="1927860" y="0"/>
                </a:lnTo>
                <a:lnTo>
                  <a:pt x="0" y="0"/>
                </a:lnTo>
                <a:lnTo>
                  <a:pt x="0" y="336194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txBox="1"/>
          <p:nvPr/>
        </p:nvSpPr>
        <p:spPr>
          <a:xfrm>
            <a:off x="4964467" y="1535644"/>
            <a:ext cx="104129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大客</a:t>
            </a:r>
            <a:r>
              <a:rPr sz="1600" b="1" spc="-10" dirty="0">
                <a:solidFill>
                  <a:srgbClr val="0066CC"/>
                </a:solidFill>
                <a:latin typeface="微软雅黑" panose="020B0503020204020204" charset="-122"/>
                <a:ea typeface="微软雅黑" panose="020B0503020204020204" charset="-122"/>
                <a:cs typeface="微软雅黑" panose="020B0503020204020204" charset="-122"/>
              </a:rPr>
              <a:t>户规划</a:t>
            </a:r>
            <a:endParaRPr sz="1600">
              <a:latin typeface="微软雅黑" panose="020B0503020204020204" charset="-122"/>
              <a:ea typeface="微软雅黑" panose="020B0503020204020204" charset="-122"/>
              <a:cs typeface="微软雅黑" panose="020B0503020204020204" charset="-122"/>
            </a:endParaRPr>
          </a:p>
        </p:txBody>
      </p:sp>
      <p:sp>
        <p:nvSpPr>
          <p:cNvPr id="16" name="object 16"/>
          <p:cNvSpPr txBox="1"/>
          <p:nvPr/>
        </p:nvSpPr>
        <p:spPr>
          <a:xfrm>
            <a:off x="6933604" y="1535644"/>
            <a:ext cx="1045739"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实施和跟踪</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17" name="object 17"/>
          <p:cNvSpPr txBox="1"/>
          <p:nvPr/>
        </p:nvSpPr>
        <p:spPr>
          <a:xfrm>
            <a:off x="5439110" y="3524071"/>
            <a:ext cx="434032"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组织</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18" name="object 18"/>
          <p:cNvSpPr/>
          <p:nvPr/>
        </p:nvSpPr>
        <p:spPr>
          <a:xfrm>
            <a:off x="4876519" y="3421020"/>
            <a:ext cx="385807" cy="501295"/>
          </a:xfrm>
          <a:custGeom>
            <a:avLst/>
            <a:gdLst/>
            <a:ahLst/>
            <a:cxnLst/>
            <a:rect l="l" t="t" r="r" b="b"/>
            <a:pathLst>
              <a:path w="386079" h="501650">
                <a:moveTo>
                  <a:pt x="188213" y="0"/>
                </a:moveTo>
                <a:lnTo>
                  <a:pt x="146496" y="4355"/>
                </a:lnTo>
                <a:lnTo>
                  <a:pt x="109553" y="17414"/>
                </a:lnTo>
                <a:lnTo>
                  <a:pt x="77396" y="39165"/>
                </a:lnTo>
                <a:lnTo>
                  <a:pt x="50037" y="69595"/>
                </a:lnTo>
                <a:lnTo>
                  <a:pt x="28128" y="107053"/>
                </a:lnTo>
                <a:lnTo>
                  <a:pt x="12493" y="149891"/>
                </a:lnTo>
                <a:lnTo>
                  <a:pt x="3121" y="198112"/>
                </a:lnTo>
                <a:lnTo>
                  <a:pt x="0" y="251713"/>
                </a:lnTo>
                <a:lnTo>
                  <a:pt x="1549" y="289958"/>
                </a:lnTo>
                <a:lnTo>
                  <a:pt x="13983" y="358780"/>
                </a:lnTo>
                <a:lnTo>
                  <a:pt x="38179" y="416647"/>
                </a:lnTo>
                <a:lnTo>
                  <a:pt x="69611" y="459319"/>
                </a:lnTo>
                <a:lnTo>
                  <a:pt x="108547" y="486487"/>
                </a:lnTo>
                <a:lnTo>
                  <a:pt x="160605" y="499961"/>
                </a:lnTo>
                <a:lnTo>
                  <a:pt x="191897" y="501650"/>
                </a:lnTo>
                <a:lnTo>
                  <a:pt x="227782" y="499695"/>
                </a:lnTo>
                <a:lnTo>
                  <a:pt x="286265" y="484022"/>
                </a:lnTo>
                <a:lnTo>
                  <a:pt x="328509" y="452014"/>
                </a:lnTo>
                <a:lnTo>
                  <a:pt x="363370" y="400147"/>
                </a:lnTo>
                <a:lnTo>
                  <a:pt x="366288" y="393700"/>
                </a:lnTo>
                <a:lnTo>
                  <a:pt x="194817" y="393700"/>
                </a:lnTo>
                <a:lnTo>
                  <a:pt x="180578" y="391747"/>
                </a:lnTo>
                <a:lnTo>
                  <a:pt x="146430" y="362457"/>
                </a:lnTo>
                <a:lnTo>
                  <a:pt x="132125" y="317184"/>
                </a:lnTo>
                <a:lnTo>
                  <a:pt x="129794" y="296417"/>
                </a:lnTo>
                <a:lnTo>
                  <a:pt x="385825" y="296417"/>
                </a:lnTo>
                <a:lnTo>
                  <a:pt x="385825" y="275716"/>
                </a:lnTo>
                <a:lnTo>
                  <a:pt x="384468" y="230499"/>
                </a:lnTo>
                <a:lnTo>
                  <a:pt x="382249" y="208279"/>
                </a:lnTo>
                <a:lnTo>
                  <a:pt x="130175" y="208279"/>
                </a:lnTo>
                <a:lnTo>
                  <a:pt x="132244" y="188162"/>
                </a:lnTo>
                <a:lnTo>
                  <a:pt x="144907" y="143763"/>
                </a:lnTo>
                <a:lnTo>
                  <a:pt x="179071" y="111134"/>
                </a:lnTo>
                <a:lnTo>
                  <a:pt x="193548" y="108965"/>
                </a:lnTo>
                <a:lnTo>
                  <a:pt x="358683" y="108965"/>
                </a:lnTo>
                <a:lnTo>
                  <a:pt x="352087" y="93678"/>
                </a:lnTo>
                <a:lnTo>
                  <a:pt x="320567" y="48529"/>
                </a:lnTo>
                <a:lnTo>
                  <a:pt x="278493" y="17573"/>
                </a:lnTo>
                <a:lnTo>
                  <a:pt x="222053" y="1952"/>
                </a:lnTo>
                <a:lnTo>
                  <a:pt x="188213" y="0"/>
                </a:lnTo>
                <a:close/>
              </a:path>
              <a:path w="386079" h="501650">
                <a:moveTo>
                  <a:pt x="252729" y="349757"/>
                </a:moveTo>
                <a:lnTo>
                  <a:pt x="221910" y="386038"/>
                </a:lnTo>
                <a:lnTo>
                  <a:pt x="194817" y="393700"/>
                </a:lnTo>
                <a:lnTo>
                  <a:pt x="366288" y="393700"/>
                </a:lnTo>
                <a:lnTo>
                  <a:pt x="378587" y="366521"/>
                </a:lnTo>
                <a:lnTo>
                  <a:pt x="252729" y="349757"/>
                </a:lnTo>
                <a:close/>
              </a:path>
              <a:path w="386079" h="501650">
                <a:moveTo>
                  <a:pt x="358683" y="108965"/>
                </a:moveTo>
                <a:lnTo>
                  <a:pt x="193548" y="108965"/>
                </a:lnTo>
                <a:lnTo>
                  <a:pt x="206069" y="110396"/>
                </a:lnTo>
                <a:lnTo>
                  <a:pt x="217328" y="114696"/>
                </a:lnTo>
                <a:lnTo>
                  <a:pt x="243278" y="145379"/>
                </a:lnTo>
                <a:lnTo>
                  <a:pt x="253236" y="183566"/>
                </a:lnTo>
                <a:lnTo>
                  <a:pt x="255904" y="208279"/>
                </a:lnTo>
                <a:lnTo>
                  <a:pt x="382249" y="208279"/>
                </a:lnTo>
                <a:lnTo>
                  <a:pt x="380396" y="189722"/>
                </a:lnTo>
                <a:lnTo>
                  <a:pt x="373610" y="153398"/>
                </a:lnTo>
                <a:lnTo>
                  <a:pt x="364109" y="121538"/>
                </a:lnTo>
                <a:lnTo>
                  <a:pt x="358683" y="108965"/>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p:nvPr/>
        </p:nvSpPr>
        <p:spPr>
          <a:xfrm>
            <a:off x="4402256" y="1433354"/>
            <a:ext cx="385807" cy="501295"/>
          </a:xfrm>
          <a:custGeom>
            <a:avLst/>
            <a:gdLst/>
            <a:ahLst/>
            <a:cxnLst/>
            <a:rect l="l" t="t" r="r" b="b"/>
            <a:pathLst>
              <a:path w="386079" h="501650">
                <a:moveTo>
                  <a:pt x="194437" y="0"/>
                </a:moveTo>
                <a:lnTo>
                  <a:pt x="141208" y="5524"/>
                </a:lnTo>
                <a:lnTo>
                  <a:pt x="98551" y="22098"/>
                </a:lnTo>
                <a:lnTo>
                  <a:pt x="63940" y="51315"/>
                </a:lnTo>
                <a:lnTo>
                  <a:pt x="32781" y="95250"/>
                </a:lnTo>
                <a:lnTo>
                  <a:pt x="9858" y="155684"/>
                </a:lnTo>
                <a:lnTo>
                  <a:pt x="1095" y="217354"/>
                </a:lnTo>
                <a:lnTo>
                  <a:pt x="0" y="252856"/>
                </a:lnTo>
                <a:lnTo>
                  <a:pt x="885" y="286529"/>
                </a:lnTo>
                <a:lnTo>
                  <a:pt x="8036" y="343350"/>
                </a:lnTo>
                <a:lnTo>
                  <a:pt x="22278" y="387336"/>
                </a:lnTo>
                <a:lnTo>
                  <a:pt x="42229" y="424725"/>
                </a:lnTo>
                <a:lnTo>
                  <a:pt x="67609" y="456136"/>
                </a:lnTo>
                <a:lnTo>
                  <a:pt x="98038" y="479186"/>
                </a:lnTo>
                <a:lnTo>
                  <a:pt x="133873" y="493613"/>
                </a:lnTo>
                <a:lnTo>
                  <a:pt x="178069" y="500749"/>
                </a:lnTo>
                <a:lnTo>
                  <a:pt x="203453" y="501650"/>
                </a:lnTo>
                <a:lnTo>
                  <a:pt x="229766" y="500249"/>
                </a:lnTo>
                <a:lnTo>
                  <a:pt x="275105" y="489112"/>
                </a:lnTo>
                <a:lnTo>
                  <a:pt x="311155" y="467256"/>
                </a:lnTo>
                <a:lnTo>
                  <a:pt x="340441" y="436205"/>
                </a:lnTo>
                <a:lnTo>
                  <a:pt x="363374" y="396392"/>
                </a:lnTo>
                <a:lnTo>
                  <a:pt x="370603" y="378205"/>
                </a:lnTo>
                <a:lnTo>
                  <a:pt x="196214" y="378205"/>
                </a:lnTo>
                <a:lnTo>
                  <a:pt x="181832" y="376297"/>
                </a:lnTo>
                <a:lnTo>
                  <a:pt x="146685" y="347472"/>
                </a:lnTo>
                <a:lnTo>
                  <a:pt x="132000" y="309737"/>
                </a:lnTo>
                <a:lnTo>
                  <a:pt x="127126" y="257810"/>
                </a:lnTo>
                <a:lnTo>
                  <a:pt x="128363" y="226704"/>
                </a:lnTo>
                <a:lnTo>
                  <a:pt x="138217" y="177210"/>
                </a:lnTo>
                <a:lnTo>
                  <a:pt x="169465" y="134175"/>
                </a:lnTo>
                <a:lnTo>
                  <a:pt x="198120" y="125984"/>
                </a:lnTo>
                <a:lnTo>
                  <a:pt x="368473" y="125984"/>
                </a:lnTo>
                <a:lnTo>
                  <a:pt x="355377" y="93710"/>
                </a:lnTo>
                <a:lnTo>
                  <a:pt x="318897" y="41910"/>
                </a:lnTo>
                <a:lnTo>
                  <a:pt x="266334" y="10477"/>
                </a:lnTo>
                <a:lnTo>
                  <a:pt x="232796" y="2619"/>
                </a:lnTo>
                <a:lnTo>
                  <a:pt x="194437" y="0"/>
                </a:lnTo>
                <a:close/>
              </a:path>
              <a:path w="386079" h="501650">
                <a:moveTo>
                  <a:pt x="264160" y="302767"/>
                </a:moveTo>
                <a:lnTo>
                  <a:pt x="246532" y="349166"/>
                </a:lnTo>
                <a:lnTo>
                  <a:pt x="208287" y="377041"/>
                </a:lnTo>
                <a:lnTo>
                  <a:pt x="196214" y="378205"/>
                </a:lnTo>
                <a:lnTo>
                  <a:pt x="370603" y="378205"/>
                </a:lnTo>
                <a:lnTo>
                  <a:pt x="372446" y="373554"/>
                </a:lnTo>
                <a:lnTo>
                  <a:pt x="379860" y="349009"/>
                </a:lnTo>
                <a:lnTo>
                  <a:pt x="385699" y="322579"/>
                </a:lnTo>
                <a:lnTo>
                  <a:pt x="264160" y="302767"/>
                </a:lnTo>
                <a:close/>
              </a:path>
              <a:path w="386079" h="501650">
                <a:moveTo>
                  <a:pt x="368473" y="125984"/>
                </a:moveTo>
                <a:lnTo>
                  <a:pt x="198120" y="125984"/>
                </a:lnTo>
                <a:lnTo>
                  <a:pt x="210052" y="126960"/>
                </a:lnTo>
                <a:lnTo>
                  <a:pt x="220710" y="129889"/>
                </a:lnTo>
                <a:lnTo>
                  <a:pt x="250825" y="161020"/>
                </a:lnTo>
                <a:lnTo>
                  <a:pt x="258825" y="187960"/>
                </a:lnTo>
                <a:lnTo>
                  <a:pt x="379095" y="164846"/>
                </a:lnTo>
                <a:lnTo>
                  <a:pt x="368831" y="126867"/>
                </a:lnTo>
                <a:lnTo>
                  <a:pt x="368473" y="125984"/>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p:nvPr/>
        </p:nvSpPr>
        <p:spPr>
          <a:xfrm>
            <a:off x="6458199" y="1433354"/>
            <a:ext cx="385807" cy="501295"/>
          </a:xfrm>
          <a:custGeom>
            <a:avLst/>
            <a:gdLst/>
            <a:ahLst/>
            <a:cxnLst/>
            <a:rect l="l" t="t" r="r" b="b"/>
            <a:pathLst>
              <a:path w="386079" h="501650">
                <a:moveTo>
                  <a:pt x="147827" y="127888"/>
                </a:moveTo>
                <a:lnTo>
                  <a:pt x="89074" y="139684"/>
                </a:lnTo>
                <a:lnTo>
                  <a:pt x="41655" y="175005"/>
                </a:lnTo>
                <a:lnTo>
                  <a:pt x="10398" y="232537"/>
                </a:lnTo>
                <a:lnTo>
                  <a:pt x="0" y="311023"/>
                </a:lnTo>
                <a:lnTo>
                  <a:pt x="2357" y="349244"/>
                </a:lnTo>
                <a:lnTo>
                  <a:pt x="21216" y="416732"/>
                </a:lnTo>
                <a:lnTo>
                  <a:pt x="58697" y="470360"/>
                </a:lnTo>
                <a:lnTo>
                  <a:pt x="113371" y="498173"/>
                </a:lnTo>
                <a:lnTo>
                  <a:pt x="147066" y="501650"/>
                </a:lnTo>
                <a:lnTo>
                  <a:pt x="164472" y="500675"/>
                </a:lnTo>
                <a:lnTo>
                  <a:pt x="211835" y="486155"/>
                </a:lnTo>
                <a:lnTo>
                  <a:pt x="247036" y="456116"/>
                </a:lnTo>
                <a:lnTo>
                  <a:pt x="259969" y="440689"/>
                </a:lnTo>
                <a:lnTo>
                  <a:pt x="385699" y="440689"/>
                </a:lnTo>
                <a:lnTo>
                  <a:pt x="385699" y="401319"/>
                </a:lnTo>
                <a:lnTo>
                  <a:pt x="191007" y="401319"/>
                </a:lnTo>
                <a:lnTo>
                  <a:pt x="179459" y="400034"/>
                </a:lnTo>
                <a:lnTo>
                  <a:pt x="143454" y="369226"/>
                </a:lnTo>
                <a:lnTo>
                  <a:pt x="134239" y="316738"/>
                </a:lnTo>
                <a:lnTo>
                  <a:pt x="135237" y="294997"/>
                </a:lnTo>
                <a:lnTo>
                  <a:pt x="150114" y="250062"/>
                </a:lnTo>
                <a:lnTo>
                  <a:pt x="189356" y="230250"/>
                </a:lnTo>
                <a:lnTo>
                  <a:pt x="385699" y="230250"/>
                </a:lnTo>
                <a:lnTo>
                  <a:pt x="385699" y="170941"/>
                </a:lnTo>
                <a:lnTo>
                  <a:pt x="250063" y="170941"/>
                </a:lnTo>
                <a:lnTo>
                  <a:pt x="239799" y="160847"/>
                </a:lnTo>
                <a:lnTo>
                  <a:pt x="228822" y="152098"/>
                </a:lnTo>
                <a:lnTo>
                  <a:pt x="191583" y="133943"/>
                </a:lnTo>
                <a:lnTo>
                  <a:pt x="163111" y="128557"/>
                </a:lnTo>
                <a:lnTo>
                  <a:pt x="147827" y="127888"/>
                </a:lnTo>
                <a:close/>
              </a:path>
              <a:path w="386079" h="501650">
                <a:moveTo>
                  <a:pt x="385699" y="440689"/>
                </a:moveTo>
                <a:lnTo>
                  <a:pt x="259969" y="440689"/>
                </a:lnTo>
                <a:lnTo>
                  <a:pt x="259969" y="493522"/>
                </a:lnTo>
                <a:lnTo>
                  <a:pt x="385699" y="493522"/>
                </a:lnTo>
                <a:lnTo>
                  <a:pt x="385699" y="440689"/>
                </a:lnTo>
                <a:close/>
              </a:path>
              <a:path w="386079" h="501650">
                <a:moveTo>
                  <a:pt x="385699" y="230250"/>
                </a:moveTo>
                <a:lnTo>
                  <a:pt x="189356" y="230250"/>
                </a:lnTo>
                <a:lnTo>
                  <a:pt x="202120" y="231538"/>
                </a:lnTo>
                <a:lnTo>
                  <a:pt x="213741" y="235410"/>
                </a:lnTo>
                <a:lnTo>
                  <a:pt x="241220" y="262647"/>
                </a:lnTo>
                <a:lnTo>
                  <a:pt x="251078" y="313689"/>
                </a:lnTo>
                <a:lnTo>
                  <a:pt x="250007" y="335311"/>
                </a:lnTo>
                <a:lnTo>
                  <a:pt x="233933" y="380746"/>
                </a:lnTo>
                <a:lnTo>
                  <a:pt x="191007" y="401319"/>
                </a:lnTo>
                <a:lnTo>
                  <a:pt x="385699" y="401319"/>
                </a:lnTo>
                <a:lnTo>
                  <a:pt x="385699" y="230250"/>
                </a:lnTo>
                <a:close/>
              </a:path>
              <a:path w="386079" h="501650">
                <a:moveTo>
                  <a:pt x="385699" y="0"/>
                </a:moveTo>
                <a:lnTo>
                  <a:pt x="250063" y="0"/>
                </a:lnTo>
                <a:lnTo>
                  <a:pt x="250063" y="170941"/>
                </a:lnTo>
                <a:lnTo>
                  <a:pt x="385699" y="170941"/>
                </a:lnTo>
                <a:lnTo>
                  <a:pt x="385699"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1" name="object 21"/>
          <p:cNvSpPr/>
          <p:nvPr/>
        </p:nvSpPr>
        <p:spPr>
          <a:xfrm>
            <a:off x="2485914" y="1433354"/>
            <a:ext cx="385807" cy="501295"/>
          </a:xfrm>
          <a:custGeom>
            <a:avLst/>
            <a:gdLst/>
            <a:ahLst/>
            <a:cxnLst/>
            <a:rect l="l" t="t" r="r" b="b"/>
            <a:pathLst>
              <a:path w="386080" h="501650">
                <a:moveTo>
                  <a:pt x="351348" y="440689"/>
                </a:moveTo>
                <a:lnTo>
                  <a:pt x="125603" y="440689"/>
                </a:lnTo>
                <a:lnTo>
                  <a:pt x="138412" y="456027"/>
                </a:lnTo>
                <a:lnTo>
                  <a:pt x="173862" y="486155"/>
                </a:lnTo>
                <a:lnTo>
                  <a:pt x="221243" y="500675"/>
                </a:lnTo>
                <a:lnTo>
                  <a:pt x="238506" y="501650"/>
                </a:lnTo>
                <a:lnTo>
                  <a:pt x="258699" y="500268"/>
                </a:lnTo>
                <a:lnTo>
                  <a:pt x="296227" y="489219"/>
                </a:lnTo>
                <a:lnTo>
                  <a:pt x="329588" y="467098"/>
                </a:lnTo>
                <a:lnTo>
                  <a:pt x="351348" y="440689"/>
                </a:lnTo>
                <a:close/>
              </a:path>
              <a:path w="386080" h="501650">
                <a:moveTo>
                  <a:pt x="135509" y="0"/>
                </a:moveTo>
                <a:lnTo>
                  <a:pt x="0" y="0"/>
                </a:lnTo>
                <a:lnTo>
                  <a:pt x="0" y="493522"/>
                </a:lnTo>
                <a:lnTo>
                  <a:pt x="125603" y="493522"/>
                </a:lnTo>
                <a:lnTo>
                  <a:pt x="125603" y="440689"/>
                </a:lnTo>
                <a:lnTo>
                  <a:pt x="351348" y="440689"/>
                </a:lnTo>
                <a:lnTo>
                  <a:pt x="356068" y="433760"/>
                </a:lnTo>
                <a:lnTo>
                  <a:pt x="366522" y="412876"/>
                </a:lnTo>
                <a:lnTo>
                  <a:pt x="370715" y="401319"/>
                </a:lnTo>
                <a:lnTo>
                  <a:pt x="194691" y="401319"/>
                </a:lnTo>
                <a:lnTo>
                  <a:pt x="182211" y="400012"/>
                </a:lnTo>
                <a:lnTo>
                  <a:pt x="144103" y="368589"/>
                </a:lnTo>
                <a:lnTo>
                  <a:pt x="134619" y="313689"/>
                </a:lnTo>
                <a:lnTo>
                  <a:pt x="135693" y="293993"/>
                </a:lnTo>
                <a:lnTo>
                  <a:pt x="151892" y="250951"/>
                </a:lnTo>
                <a:lnTo>
                  <a:pt x="196596" y="230250"/>
                </a:lnTo>
                <a:lnTo>
                  <a:pt x="374480" y="230250"/>
                </a:lnTo>
                <a:lnTo>
                  <a:pt x="362124" y="200880"/>
                </a:lnTo>
                <a:lnTo>
                  <a:pt x="343788" y="174878"/>
                </a:lnTo>
                <a:lnTo>
                  <a:pt x="339515" y="170941"/>
                </a:lnTo>
                <a:lnTo>
                  <a:pt x="135509" y="170941"/>
                </a:lnTo>
                <a:lnTo>
                  <a:pt x="135509" y="0"/>
                </a:lnTo>
                <a:close/>
              </a:path>
              <a:path w="386080" h="501650">
                <a:moveTo>
                  <a:pt x="374480" y="230250"/>
                </a:moveTo>
                <a:lnTo>
                  <a:pt x="196596" y="230250"/>
                </a:lnTo>
                <a:lnTo>
                  <a:pt x="207577" y="231489"/>
                </a:lnTo>
                <a:lnTo>
                  <a:pt x="217678" y="235203"/>
                </a:lnTo>
                <a:lnTo>
                  <a:pt x="247332" y="275574"/>
                </a:lnTo>
                <a:lnTo>
                  <a:pt x="251275" y="313689"/>
                </a:lnTo>
                <a:lnTo>
                  <a:pt x="250328" y="334706"/>
                </a:lnTo>
                <a:lnTo>
                  <a:pt x="235076" y="380873"/>
                </a:lnTo>
                <a:lnTo>
                  <a:pt x="194691" y="401319"/>
                </a:lnTo>
                <a:lnTo>
                  <a:pt x="370715" y="401319"/>
                </a:lnTo>
                <a:lnTo>
                  <a:pt x="374895" y="389800"/>
                </a:lnTo>
                <a:lnTo>
                  <a:pt x="380920" y="364775"/>
                </a:lnTo>
                <a:lnTo>
                  <a:pt x="384506" y="338081"/>
                </a:lnTo>
                <a:lnTo>
                  <a:pt x="385699" y="309625"/>
                </a:lnTo>
                <a:lnTo>
                  <a:pt x="383079" y="268265"/>
                </a:lnTo>
                <a:lnTo>
                  <a:pt x="375221" y="232013"/>
                </a:lnTo>
                <a:lnTo>
                  <a:pt x="374480" y="230250"/>
                </a:lnTo>
                <a:close/>
              </a:path>
              <a:path w="386080" h="501650">
                <a:moveTo>
                  <a:pt x="237871" y="127888"/>
                </a:moveTo>
                <a:lnTo>
                  <a:pt x="194401" y="133943"/>
                </a:lnTo>
                <a:lnTo>
                  <a:pt x="157035" y="152098"/>
                </a:lnTo>
                <a:lnTo>
                  <a:pt x="135509" y="170941"/>
                </a:lnTo>
                <a:lnTo>
                  <a:pt x="339515" y="170941"/>
                </a:lnTo>
                <a:lnTo>
                  <a:pt x="321452" y="154303"/>
                </a:lnTo>
                <a:lnTo>
                  <a:pt x="296354" y="139620"/>
                </a:lnTo>
                <a:lnTo>
                  <a:pt x="268493" y="130819"/>
                </a:lnTo>
                <a:lnTo>
                  <a:pt x="237871" y="127888"/>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253820" y="1433354"/>
            <a:ext cx="253820" cy="503198"/>
          </a:xfrm>
          <a:custGeom>
            <a:avLst/>
            <a:gdLst/>
            <a:ahLst/>
            <a:cxnLst/>
            <a:rect l="l" t="t" r="r" b="b"/>
            <a:pathLst>
              <a:path w="254000" h="503555">
                <a:moveTo>
                  <a:pt x="237734" y="109600"/>
                </a:moveTo>
                <a:lnTo>
                  <a:pt x="131673" y="109600"/>
                </a:lnTo>
                <a:lnTo>
                  <a:pt x="139160" y="110456"/>
                </a:lnTo>
                <a:lnTo>
                  <a:pt x="145427" y="113014"/>
                </a:lnTo>
                <a:lnTo>
                  <a:pt x="160341" y="155122"/>
                </a:lnTo>
                <a:lnTo>
                  <a:pt x="160743" y="170814"/>
                </a:lnTo>
                <a:lnTo>
                  <a:pt x="152959" y="177319"/>
                </a:lnTo>
                <a:lnTo>
                  <a:pt x="108359" y="204311"/>
                </a:lnTo>
                <a:lnTo>
                  <a:pt x="69164" y="222123"/>
                </a:lnTo>
                <a:lnTo>
                  <a:pt x="50883" y="231838"/>
                </a:lnTo>
                <a:lnTo>
                  <a:pt x="14744" y="274700"/>
                </a:lnTo>
                <a:lnTo>
                  <a:pt x="3686" y="314880"/>
                </a:lnTo>
                <a:lnTo>
                  <a:pt x="0" y="364871"/>
                </a:lnTo>
                <a:lnTo>
                  <a:pt x="1278" y="392947"/>
                </a:lnTo>
                <a:lnTo>
                  <a:pt x="11508" y="442148"/>
                </a:lnTo>
                <a:lnTo>
                  <a:pt x="31875" y="480724"/>
                </a:lnTo>
                <a:lnTo>
                  <a:pt x="80378" y="503174"/>
                </a:lnTo>
                <a:lnTo>
                  <a:pt x="94772" y="501933"/>
                </a:lnTo>
                <a:lnTo>
                  <a:pt x="132499" y="483235"/>
                </a:lnTo>
                <a:lnTo>
                  <a:pt x="157232" y="449516"/>
                </a:lnTo>
                <a:lnTo>
                  <a:pt x="165531" y="433324"/>
                </a:lnTo>
                <a:lnTo>
                  <a:pt x="244579" y="433324"/>
                </a:lnTo>
                <a:lnTo>
                  <a:pt x="244517" y="432556"/>
                </a:lnTo>
                <a:lnTo>
                  <a:pt x="243901" y="420163"/>
                </a:lnTo>
                <a:lnTo>
                  <a:pt x="243531" y="405937"/>
                </a:lnTo>
                <a:lnTo>
                  <a:pt x="243491" y="400685"/>
                </a:lnTo>
                <a:lnTo>
                  <a:pt x="103149" y="400685"/>
                </a:lnTo>
                <a:lnTo>
                  <a:pt x="85169" y="361660"/>
                </a:lnTo>
                <a:lnTo>
                  <a:pt x="84734" y="351281"/>
                </a:lnTo>
                <a:lnTo>
                  <a:pt x="85175" y="342016"/>
                </a:lnTo>
                <a:lnTo>
                  <a:pt x="103378" y="302656"/>
                </a:lnTo>
                <a:lnTo>
                  <a:pt x="133767" y="282424"/>
                </a:lnTo>
                <a:lnTo>
                  <a:pt x="142943" y="276637"/>
                </a:lnTo>
                <a:lnTo>
                  <a:pt x="151935" y="270422"/>
                </a:lnTo>
                <a:lnTo>
                  <a:pt x="160743" y="263778"/>
                </a:lnTo>
                <a:lnTo>
                  <a:pt x="243408" y="263778"/>
                </a:lnTo>
                <a:lnTo>
                  <a:pt x="243408" y="177164"/>
                </a:lnTo>
                <a:lnTo>
                  <a:pt x="243017" y="159976"/>
                </a:lnTo>
                <a:lnTo>
                  <a:pt x="241847" y="142335"/>
                </a:lnTo>
                <a:lnTo>
                  <a:pt x="239890" y="124205"/>
                </a:lnTo>
                <a:lnTo>
                  <a:pt x="237734" y="109600"/>
                </a:lnTo>
                <a:close/>
              </a:path>
              <a:path w="254000" h="503555">
                <a:moveTo>
                  <a:pt x="244579" y="433324"/>
                </a:moveTo>
                <a:lnTo>
                  <a:pt x="165531" y="433324"/>
                </a:lnTo>
                <a:lnTo>
                  <a:pt x="166256" y="443102"/>
                </a:lnTo>
                <a:lnTo>
                  <a:pt x="172481" y="483540"/>
                </a:lnTo>
                <a:lnTo>
                  <a:pt x="174663" y="492251"/>
                </a:lnTo>
                <a:lnTo>
                  <a:pt x="254000" y="492251"/>
                </a:lnTo>
                <a:lnTo>
                  <a:pt x="250968" y="477964"/>
                </a:lnTo>
                <a:lnTo>
                  <a:pt x="248521" y="465010"/>
                </a:lnTo>
                <a:lnTo>
                  <a:pt x="246658" y="453389"/>
                </a:lnTo>
                <a:lnTo>
                  <a:pt x="245376" y="443102"/>
                </a:lnTo>
                <a:lnTo>
                  <a:pt x="244579" y="433324"/>
                </a:lnTo>
                <a:close/>
              </a:path>
              <a:path w="254000" h="503555">
                <a:moveTo>
                  <a:pt x="243408" y="263778"/>
                </a:moveTo>
                <a:lnTo>
                  <a:pt x="160743" y="263778"/>
                </a:lnTo>
                <a:lnTo>
                  <a:pt x="160704" y="295261"/>
                </a:lnTo>
                <a:lnTo>
                  <a:pt x="160426" y="309673"/>
                </a:lnTo>
                <a:lnTo>
                  <a:pt x="155663" y="349250"/>
                </a:lnTo>
                <a:lnTo>
                  <a:pt x="138417" y="385699"/>
                </a:lnTo>
                <a:lnTo>
                  <a:pt x="112153" y="400685"/>
                </a:lnTo>
                <a:lnTo>
                  <a:pt x="243491" y="400685"/>
                </a:lnTo>
                <a:lnTo>
                  <a:pt x="243408" y="263778"/>
                </a:lnTo>
                <a:close/>
              </a:path>
              <a:path w="254000" h="503555">
                <a:moveTo>
                  <a:pt x="120662" y="0"/>
                </a:moveTo>
                <a:lnTo>
                  <a:pt x="76631" y="7619"/>
                </a:lnTo>
                <a:lnTo>
                  <a:pt x="44653" y="29463"/>
                </a:lnTo>
                <a:lnTo>
                  <a:pt x="24618" y="62628"/>
                </a:lnTo>
                <a:lnTo>
                  <a:pt x="12225" y="106870"/>
                </a:lnTo>
                <a:lnTo>
                  <a:pt x="6642" y="148209"/>
                </a:lnTo>
                <a:lnTo>
                  <a:pt x="87439" y="166750"/>
                </a:lnTo>
                <a:lnTo>
                  <a:pt x="90122" y="152370"/>
                </a:lnTo>
                <a:lnTo>
                  <a:pt x="93198" y="140477"/>
                </a:lnTo>
                <a:lnTo>
                  <a:pt x="121939" y="110507"/>
                </a:lnTo>
                <a:lnTo>
                  <a:pt x="131673" y="109600"/>
                </a:lnTo>
                <a:lnTo>
                  <a:pt x="237734" y="109600"/>
                </a:lnTo>
                <a:lnTo>
                  <a:pt x="237172" y="105790"/>
                </a:lnTo>
                <a:lnTo>
                  <a:pt x="225256" y="59267"/>
                </a:lnTo>
                <a:lnTo>
                  <a:pt x="202857" y="23542"/>
                </a:lnTo>
                <a:lnTo>
                  <a:pt x="169263" y="5197"/>
                </a:lnTo>
                <a:lnTo>
                  <a:pt x="138731" y="573"/>
                </a:lnTo>
                <a:lnTo>
                  <a:pt x="120662"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txBox="1"/>
          <p:nvPr/>
        </p:nvSpPr>
        <p:spPr>
          <a:xfrm>
            <a:off x="618712" y="1535644"/>
            <a:ext cx="84204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客户分类</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4" name="object 24"/>
          <p:cNvSpPr txBox="1"/>
          <p:nvPr/>
        </p:nvSpPr>
        <p:spPr>
          <a:xfrm>
            <a:off x="2982893" y="1535644"/>
            <a:ext cx="1045739"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大客户分析</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5" name="object 25"/>
          <p:cNvSpPr/>
          <p:nvPr/>
        </p:nvSpPr>
        <p:spPr>
          <a:xfrm>
            <a:off x="2995584" y="1980591"/>
            <a:ext cx="1057161" cy="639627"/>
          </a:xfrm>
          <a:custGeom>
            <a:avLst/>
            <a:gdLst/>
            <a:ahLst/>
            <a:cxnLst/>
            <a:rect l="l" t="t" r="r" b="b"/>
            <a:pathLst>
              <a:path w="1057910" h="640080">
                <a:moveTo>
                  <a:pt x="0" y="640079"/>
                </a:moveTo>
                <a:lnTo>
                  <a:pt x="1057656" y="640079"/>
                </a:lnTo>
                <a:lnTo>
                  <a:pt x="1057656" y="0"/>
                </a:lnTo>
                <a:lnTo>
                  <a:pt x="0" y="0"/>
                </a:lnTo>
                <a:lnTo>
                  <a:pt x="0" y="64007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6" name="object 26"/>
          <p:cNvSpPr txBox="1"/>
          <p:nvPr/>
        </p:nvSpPr>
        <p:spPr>
          <a:xfrm>
            <a:off x="2995584" y="1980591"/>
            <a:ext cx="1057161" cy="416560"/>
          </a:xfrm>
          <a:prstGeom prst="rect">
            <a:avLst/>
          </a:prstGeom>
          <a:ln w="9525">
            <a:solidFill>
              <a:srgbClr val="91AFFF"/>
            </a:solidFill>
          </a:ln>
        </p:spPr>
        <p:txBody>
          <a:bodyPr vert="horz" wrap="square" lIns="0" tIns="201786" rIns="0" bIns="0" rtlCol="0">
            <a:spAutoFit/>
          </a:bodyPr>
          <a:lstStyle/>
          <a:p>
            <a:pPr marL="71755">
              <a:lnSpc>
                <a:spcPct val="100000"/>
              </a:lnSpc>
              <a:spcBef>
                <a:spcPts val="1590"/>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客户背景</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7" name="object 27"/>
          <p:cNvSpPr/>
          <p:nvPr/>
        </p:nvSpPr>
        <p:spPr>
          <a:xfrm>
            <a:off x="2995584" y="2720730"/>
            <a:ext cx="1057161" cy="517792"/>
          </a:xfrm>
          <a:custGeom>
            <a:avLst/>
            <a:gdLst/>
            <a:ahLst/>
            <a:cxnLst/>
            <a:rect l="l" t="t" r="r" b="b"/>
            <a:pathLst>
              <a:path w="1057910" h="518160">
                <a:moveTo>
                  <a:pt x="0" y="518160"/>
                </a:moveTo>
                <a:lnTo>
                  <a:pt x="1057656" y="518160"/>
                </a:lnTo>
                <a:lnTo>
                  <a:pt x="1057656"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txBox="1"/>
          <p:nvPr/>
        </p:nvSpPr>
        <p:spPr>
          <a:xfrm>
            <a:off x="2995584" y="2720730"/>
            <a:ext cx="1057161" cy="464820"/>
          </a:xfrm>
          <a:prstGeom prst="rect">
            <a:avLst/>
          </a:prstGeom>
          <a:ln w="9525">
            <a:solidFill>
              <a:srgbClr val="91AFFF"/>
            </a:solidFill>
          </a:ln>
        </p:spPr>
        <p:txBody>
          <a:bodyPr vert="horz" wrap="square" lIns="0" tIns="34900" rIns="0" bIns="0" rtlCol="0">
            <a:spAutoFit/>
          </a:bodyPr>
          <a:lstStyle/>
          <a:p>
            <a:pPr marL="71755">
              <a:lnSpc>
                <a:spcPct val="100000"/>
              </a:lnSpc>
              <a:spcBef>
                <a:spcPts val="275"/>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客户经济</a:t>
            </a:r>
            <a:endParaRPr sz="1400">
              <a:latin typeface="微软雅黑" panose="020B0503020204020204" charset="-122"/>
              <a:ea typeface="微软雅黑" panose="020B0503020204020204" charset="-122"/>
              <a:cs typeface="微软雅黑" panose="020B0503020204020204" charset="-122"/>
            </a:endParaRPr>
          </a:p>
          <a:p>
            <a:pPr marL="71755">
              <a:lnSpc>
                <a:spcPct val="100000"/>
              </a:lnSpc>
            </a:pPr>
            <a:r>
              <a:rPr sz="1400" dirty="0">
                <a:solidFill>
                  <a:srgbClr val="0066CC"/>
                </a:solidFill>
                <a:latin typeface="微软雅黑" panose="020B0503020204020204" charset="-122"/>
                <a:ea typeface="微软雅黑" panose="020B0503020204020204" charset="-122"/>
                <a:cs typeface="微软雅黑" panose="020B0503020204020204" charset="-122"/>
              </a:rPr>
              <a:t>指标</a:t>
            </a:r>
            <a:endParaRPr sz="1400">
              <a:latin typeface="微软雅黑" panose="020B0503020204020204" charset="-122"/>
              <a:ea typeface="微软雅黑" panose="020B0503020204020204" charset="-122"/>
              <a:cs typeface="微软雅黑" panose="020B0503020204020204" charset="-122"/>
            </a:endParaRPr>
          </a:p>
        </p:txBody>
      </p:sp>
      <p:sp>
        <p:nvSpPr>
          <p:cNvPr id="29" name="object 29"/>
          <p:cNvSpPr/>
          <p:nvPr/>
        </p:nvSpPr>
        <p:spPr>
          <a:xfrm>
            <a:off x="2995584" y="3340559"/>
            <a:ext cx="1057161" cy="516524"/>
          </a:xfrm>
          <a:custGeom>
            <a:avLst/>
            <a:gdLst/>
            <a:ahLst/>
            <a:cxnLst/>
            <a:rect l="l" t="t" r="r" b="b"/>
            <a:pathLst>
              <a:path w="1057910" h="516889">
                <a:moveTo>
                  <a:pt x="0" y="516636"/>
                </a:moveTo>
                <a:lnTo>
                  <a:pt x="1057656" y="516636"/>
                </a:lnTo>
                <a:lnTo>
                  <a:pt x="1057656" y="0"/>
                </a:lnTo>
                <a:lnTo>
                  <a:pt x="0" y="0"/>
                </a:lnTo>
                <a:lnTo>
                  <a:pt x="0" y="51663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0" name="object 30"/>
          <p:cNvSpPr txBox="1"/>
          <p:nvPr/>
        </p:nvSpPr>
        <p:spPr>
          <a:xfrm>
            <a:off x="2995584" y="3340559"/>
            <a:ext cx="1057161" cy="464820"/>
          </a:xfrm>
          <a:prstGeom prst="rect">
            <a:avLst/>
          </a:prstGeom>
          <a:ln w="9525">
            <a:solidFill>
              <a:srgbClr val="91AFFF"/>
            </a:solidFill>
          </a:ln>
        </p:spPr>
        <p:txBody>
          <a:bodyPr vert="horz" wrap="square" lIns="0" tIns="31091" rIns="0" bIns="0" rtlCol="0">
            <a:spAutoFit/>
          </a:bodyPr>
          <a:lstStyle/>
          <a:p>
            <a:pPr marL="71755" marR="86360">
              <a:lnSpc>
                <a:spcPct val="101000"/>
              </a:lnSpc>
              <a:spcBef>
                <a:spcPts val="245"/>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客户关系与 决策流程</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1" name="object 31"/>
          <p:cNvSpPr/>
          <p:nvPr/>
        </p:nvSpPr>
        <p:spPr>
          <a:xfrm>
            <a:off x="2995584" y="3958865"/>
            <a:ext cx="1057161" cy="517792"/>
          </a:xfrm>
          <a:custGeom>
            <a:avLst/>
            <a:gdLst/>
            <a:ahLst/>
            <a:cxnLst/>
            <a:rect l="l" t="t" r="r" b="b"/>
            <a:pathLst>
              <a:path w="1057910" h="518160">
                <a:moveTo>
                  <a:pt x="0" y="518159"/>
                </a:moveTo>
                <a:lnTo>
                  <a:pt x="1057656" y="518159"/>
                </a:lnTo>
                <a:lnTo>
                  <a:pt x="1057656" y="0"/>
                </a:lnTo>
                <a:lnTo>
                  <a:pt x="0" y="0"/>
                </a:lnTo>
                <a:lnTo>
                  <a:pt x="0" y="51815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2" name="object 32"/>
          <p:cNvSpPr txBox="1"/>
          <p:nvPr/>
        </p:nvSpPr>
        <p:spPr>
          <a:xfrm>
            <a:off x="2995584" y="3958865"/>
            <a:ext cx="1057161" cy="355600"/>
          </a:xfrm>
          <a:prstGeom prst="rect">
            <a:avLst/>
          </a:prstGeom>
          <a:ln w="9525">
            <a:solidFill>
              <a:srgbClr val="91AFFF"/>
            </a:solidFill>
          </a:ln>
        </p:spPr>
        <p:txBody>
          <a:bodyPr vert="horz" wrap="square" lIns="0" tIns="140870" rIns="0" bIns="0" rtlCol="0">
            <a:spAutoFit/>
          </a:bodyPr>
          <a:lstStyle/>
          <a:p>
            <a:pPr marL="71755">
              <a:lnSpc>
                <a:spcPct val="100000"/>
              </a:lnSpc>
              <a:spcBef>
                <a:spcPts val="1110"/>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客户需求</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3" name="object 33"/>
          <p:cNvSpPr/>
          <p:nvPr/>
        </p:nvSpPr>
        <p:spPr>
          <a:xfrm>
            <a:off x="2995584" y="4577170"/>
            <a:ext cx="1057161" cy="517792"/>
          </a:xfrm>
          <a:custGeom>
            <a:avLst/>
            <a:gdLst/>
            <a:ahLst/>
            <a:cxnLst/>
            <a:rect l="l" t="t" r="r" b="b"/>
            <a:pathLst>
              <a:path w="1057910" h="518160">
                <a:moveTo>
                  <a:pt x="0" y="518160"/>
                </a:moveTo>
                <a:lnTo>
                  <a:pt x="1057656" y="518160"/>
                </a:lnTo>
                <a:lnTo>
                  <a:pt x="1057656"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4" name="object 34"/>
          <p:cNvSpPr txBox="1"/>
          <p:nvPr/>
        </p:nvSpPr>
        <p:spPr>
          <a:xfrm>
            <a:off x="2995584" y="4577170"/>
            <a:ext cx="1057161" cy="356235"/>
          </a:xfrm>
          <a:prstGeom prst="rect">
            <a:avLst/>
          </a:prstGeom>
          <a:ln w="9525">
            <a:solidFill>
              <a:srgbClr val="91AFFF"/>
            </a:solidFill>
          </a:ln>
        </p:spPr>
        <p:txBody>
          <a:bodyPr vert="horz" wrap="square" lIns="0" tIns="141504" rIns="0" bIns="0" rtlCol="0">
            <a:spAutoFit/>
          </a:bodyPr>
          <a:lstStyle/>
          <a:p>
            <a:pPr marL="71755">
              <a:lnSpc>
                <a:spcPct val="100000"/>
              </a:lnSpc>
              <a:spcBef>
                <a:spcPts val="1115"/>
              </a:spcBef>
            </a:pPr>
            <a:r>
              <a:rPr sz="1400" dirty="0">
                <a:solidFill>
                  <a:srgbClr val="0066CC"/>
                </a:solidFill>
                <a:latin typeface="微软雅黑" panose="020B0503020204020204" charset="-122"/>
                <a:ea typeface="微软雅黑" panose="020B0503020204020204" charset="-122"/>
                <a:cs typeface="微软雅黑" panose="020B0503020204020204" charset="-122"/>
              </a:rPr>
              <a:t>风险分析</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5" name="object 35"/>
          <p:cNvSpPr/>
          <p:nvPr/>
        </p:nvSpPr>
        <p:spPr>
          <a:xfrm>
            <a:off x="5450533" y="3897948"/>
            <a:ext cx="2614982" cy="335043"/>
          </a:xfrm>
          <a:custGeom>
            <a:avLst/>
            <a:gdLst/>
            <a:ahLst/>
            <a:cxnLst/>
            <a:rect l="l" t="t" r="r" b="b"/>
            <a:pathLst>
              <a:path w="2616834" h="335279">
                <a:moveTo>
                  <a:pt x="0" y="335280"/>
                </a:moveTo>
                <a:lnTo>
                  <a:pt x="2616707" y="335280"/>
                </a:lnTo>
                <a:lnTo>
                  <a:pt x="2616707" y="0"/>
                </a:lnTo>
                <a:lnTo>
                  <a:pt x="0" y="0"/>
                </a:lnTo>
                <a:lnTo>
                  <a:pt x="0" y="33528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6" name="object 36"/>
          <p:cNvSpPr txBox="1"/>
          <p:nvPr/>
        </p:nvSpPr>
        <p:spPr>
          <a:xfrm>
            <a:off x="5450533" y="3897948"/>
            <a:ext cx="2614982" cy="264795"/>
          </a:xfrm>
          <a:prstGeom prst="rect">
            <a:avLst/>
          </a:prstGeom>
          <a:ln w="9525">
            <a:solidFill>
              <a:srgbClr val="0066CC"/>
            </a:solidFill>
          </a:ln>
        </p:spPr>
        <p:txBody>
          <a:bodyPr vert="horz" wrap="square" lIns="0" tIns="50129" rIns="0" bIns="0" rtlCol="0">
            <a:spAutoFit/>
          </a:bodyPr>
          <a:lstStyle/>
          <a:p>
            <a:pPr marL="73025">
              <a:lnSpc>
                <a:spcPct val="100000"/>
              </a:lnSpc>
              <a:spcBef>
                <a:spcPts val="395"/>
              </a:spcBef>
            </a:pPr>
            <a:r>
              <a:rPr sz="1400" dirty="0">
                <a:solidFill>
                  <a:srgbClr val="0066CC"/>
                </a:solidFill>
                <a:latin typeface="微软雅黑" panose="020B0503020204020204" charset="-122"/>
                <a:ea typeface="微软雅黑" panose="020B0503020204020204" charset="-122"/>
                <a:cs typeface="微软雅黑" panose="020B0503020204020204" charset="-122"/>
              </a:rPr>
              <a:t>大客户管理的组织架构</a:t>
            </a:r>
            <a:r>
              <a:rPr sz="1400" spc="-15" dirty="0">
                <a:solidFill>
                  <a:srgbClr val="0066CC"/>
                </a:solidFill>
                <a:latin typeface="微软雅黑" panose="020B0503020204020204" charset="-122"/>
                <a:ea typeface="微软雅黑" panose="020B0503020204020204" charset="-122"/>
                <a:cs typeface="微软雅黑" panose="020B0503020204020204" charset="-122"/>
              </a:rPr>
              <a:t>设</a:t>
            </a:r>
            <a:r>
              <a:rPr sz="1400" spc="5" dirty="0">
                <a:solidFill>
                  <a:srgbClr val="0066CC"/>
                </a:solidFill>
                <a:latin typeface="微软雅黑" panose="020B0503020204020204" charset="-122"/>
                <a:ea typeface="微软雅黑" panose="020B0503020204020204" charset="-122"/>
                <a:cs typeface="微软雅黑" panose="020B0503020204020204" charset="-122"/>
              </a:rPr>
              <a:t>计</a:t>
            </a:r>
            <a:endParaRPr sz="1400">
              <a:latin typeface="微软雅黑" panose="020B0503020204020204" charset="-122"/>
              <a:ea typeface="微软雅黑" panose="020B0503020204020204" charset="-122"/>
              <a:cs typeface="微软雅黑" panose="020B0503020204020204" charset="-122"/>
            </a:endParaRPr>
          </a:p>
        </p:txBody>
      </p:sp>
      <p:sp>
        <p:nvSpPr>
          <p:cNvPr id="37" name="object 37"/>
          <p:cNvSpPr/>
          <p:nvPr/>
        </p:nvSpPr>
        <p:spPr>
          <a:xfrm>
            <a:off x="4976905" y="1980591"/>
            <a:ext cx="1154882" cy="517792"/>
          </a:xfrm>
          <a:custGeom>
            <a:avLst/>
            <a:gdLst/>
            <a:ahLst/>
            <a:cxnLst/>
            <a:rect l="l" t="t" r="r" b="b"/>
            <a:pathLst>
              <a:path w="1155700" h="518160">
                <a:moveTo>
                  <a:pt x="0" y="518160"/>
                </a:moveTo>
                <a:lnTo>
                  <a:pt x="1155191" y="518160"/>
                </a:lnTo>
                <a:lnTo>
                  <a:pt x="1155191"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8" name="object 38"/>
          <p:cNvSpPr txBox="1"/>
          <p:nvPr/>
        </p:nvSpPr>
        <p:spPr>
          <a:xfrm>
            <a:off x="4976905" y="1980591"/>
            <a:ext cx="1154882" cy="336550"/>
          </a:xfrm>
          <a:prstGeom prst="rect">
            <a:avLst/>
          </a:prstGeom>
          <a:ln w="9525">
            <a:solidFill>
              <a:srgbClr val="91AFFF"/>
            </a:solidFill>
          </a:ln>
        </p:spPr>
        <p:txBody>
          <a:bodyPr vert="horz" wrap="square" lIns="0" tIns="121833" rIns="0" bIns="0" rtlCol="0">
            <a:spAutoFit/>
          </a:bodyPr>
          <a:lstStyle/>
          <a:p>
            <a:pPr marL="72390">
              <a:lnSpc>
                <a:spcPct val="100000"/>
              </a:lnSpc>
              <a:spcBef>
                <a:spcPts val="960"/>
              </a:spcBef>
            </a:pPr>
            <a:r>
              <a:rPr sz="1400" dirty="0">
                <a:solidFill>
                  <a:srgbClr val="0066CC"/>
                </a:solidFill>
                <a:latin typeface="微软雅黑" panose="020B0503020204020204" charset="-122"/>
                <a:ea typeface="微软雅黑" panose="020B0503020204020204" charset="-122"/>
                <a:cs typeface="微软雅黑" panose="020B0503020204020204" charset="-122"/>
              </a:rPr>
              <a:t>战略规划</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9" name="object 39"/>
          <p:cNvSpPr/>
          <p:nvPr/>
        </p:nvSpPr>
        <p:spPr>
          <a:xfrm>
            <a:off x="4976905" y="2560823"/>
            <a:ext cx="1154882" cy="517792"/>
          </a:xfrm>
          <a:custGeom>
            <a:avLst/>
            <a:gdLst/>
            <a:ahLst/>
            <a:cxnLst/>
            <a:rect l="l" t="t" r="r" b="b"/>
            <a:pathLst>
              <a:path w="1155700" h="518160">
                <a:moveTo>
                  <a:pt x="0" y="518160"/>
                </a:moveTo>
                <a:lnTo>
                  <a:pt x="1155191" y="518160"/>
                </a:lnTo>
                <a:lnTo>
                  <a:pt x="1155191"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0" name="object 40"/>
          <p:cNvSpPr txBox="1"/>
          <p:nvPr/>
        </p:nvSpPr>
        <p:spPr>
          <a:xfrm>
            <a:off x="4976905" y="2560823"/>
            <a:ext cx="1154882" cy="336550"/>
          </a:xfrm>
          <a:prstGeom prst="rect">
            <a:avLst/>
          </a:prstGeom>
          <a:ln w="9525">
            <a:solidFill>
              <a:srgbClr val="91AFFF"/>
            </a:solidFill>
          </a:ln>
        </p:spPr>
        <p:txBody>
          <a:bodyPr vert="horz" wrap="square" lIns="0" tIns="121833" rIns="0" bIns="0" rtlCol="0">
            <a:spAutoFit/>
          </a:bodyPr>
          <a:lstStyle/>
          <a:p>
            <a:pPr marL="72390">
              <a:lnSpc>
                <a:spcPct val="100000"/>
              </a:lnSpc>
              <a:spcBef>
                <a:spcPts val="960"/>
              </a:spcBef>
            </a:pPr>
            <a:r>
              <a:rPr sz="1400" dirty="0">
                <a:solidFill>
                  <a:srgbClr val="0066CC"/>
                </a:solidFill>
                <a:latin typeface="微软雅黑" panose="020B0503020204020204" charset="-122"/>
                <a:ea typeface="微软雅黑" panose="020B0503020204020204" charset="-122"/>
                <a:cs typeface="微软雅黑" panose="020B0503020204020204" charset="-122"/>
              </a:rPr>
              <a:t>行动计划</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1" name="object 41"/>
          <p:cNvSpPr/>
          <p:nvPr/>
        </p:nvSpPr>
        <p:spPr>
          <a:xfrm>
            <a:off x="6944518" y="1980591"/>
            <a:ext cx="1156151" cy="306488"/>
          </a:xfrm>
          <a:custGeom>
            <a:avLst/>
            <a:gdLst/>
            <a:ahLst/>
            <a:cxnLst/>
            <a:rect l="l" t="t" r="r" b="b"/>
            <a:pathLst>
              <a:path w="1156970" h="306705">
                <a:moveTo>
                  <a:pt x="0" y="306324"/>
                </a:moveTo>
                <a:lnTo>
                  <a:pt x="1156716" y="306324"/>
                </a:lnTo>
                <a:lnTo>
                  <a:pt x="1156716" y="0"/>
                </a:lnTo>
                <a:lnTo>
                  <a:pt x="0" y="0"/>
                </a:lnTo>
                <a:lnTo>
                  <a:pt x="0" y="30632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2" name="object 42"/>
          <p:cNvSpPr txBox="1"/>
          <p:nvPr/>
        </p:nvSpPr>
        <p:spPr>
          <a:xfrm>
            <a:off x="6944518" y="1980591"/>
            <a:ext cx="1156151" cy="230505"/>
          </a:xfrm>
          <a:prstGeom prst="rect">
            <a:avLst/>
          </a:prstGeom>
          <a:ln w="9525">
            <a:solidFill>
              <a:srgbClr val="91AFFF"/>
            </a:solidFill>
          </a:ln>
        </p:spPr>
        <p:txBody>
          <a:bodyPr vert="horz" wrap="square" lIns="0" tIns="15863" rIns="0" bIns="0" rtlCol="0">
            <a:spAutoFit/>
          </a:bodyPr>
          <a:lstStyle/>
          <a:p>
            <a:pPr marL="73660">
              <a:lnSpc>
                <a:spcPct val="100000"/>
              </a:lnSpc>
              <a:spcBef>
                <a:spcPts val="125"/>
              </a:spcBef>
            </a:pPr>
            <a:r>
              <a:rPr sz="1400" dirty="0">
                <a:solidFill>
                  <a:srgbClr val="0066CC"/>
                </a:solidFill>
                <a:latin typeface="微软雅黑" panose="020B0503020204020204" charset="-122"/>
                <a:ea typeface="微软雅黑" panose="020B0503020204020204" charset="-122"/>
                <a:cs typeface="微软雅黑" panose="020B0503020204020204" charset="-122"/>
              </a:rPr>
              <a:t>价值销售</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3" name="object 43"/>
          <p:cNvSpPr/>
          <p:nvPr/>
        </p:nvSpPr>
        <p:spPr>
          <a:xfrm>
            <a:off x="6944518" y="2375027"/>
            <a:ext cx="1156151" cy="306488"/>
          </a:xfrm>
          <a:custGeom>
            <a:avLst/>
            <a:gdLst/>
            <a:ahLst/>
            <a:cxnLst/>
            <a:rect l="l" t="t" r="r" b="b"/>
            <a:pathLst>
              <a:path w="1156970" h="306705">
                <a:moveTo>
                  <a:pt x="0" y="306324"/>
                </a:moveTo>
                <a:lnTo>
                  <a:pt x="1156716" y="306324"/>
                </a:lnTo>
                <a:lnTo>
                  <a:pt x="1156716" y="0"/>
                </a:lnTo>
                <a:lnTo>
                  <a:pt x="0" y="0"/>
                </a:lnTo>
                <a:lnTo>
                  <a:pt x="0" y="30632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4" name="object 44"/>
          <p:cNvSpPr txBox="1"/>
          <p:nvPr/>
        </p:nvSpPr>
        <p:spPr>
          <a:xfrm>
            <a:off x="6944518" y="2375027"/>
            <a:ext cx="1156151" cy="231775"/>
          </a:xfrm>
          <a:prstGeom prst="rect">
            <a:avLst/>
          </a:prstGeom>
          <a:ln w="9525">
            <a:solidFill>
              <a:srgbClr val="91AFFF"/>
            </a:solidFill>
          </a:ln>
        </p:spPr>
        <p:txBody>
          <a:bodyPr vert="horz" wrap="square" lIns="0" tIns="17132" rIns="0" bIns="0" rtlCol="0">
            <a:spAutoFit/>
          </a:bodyPr>
          <a:lstStyle/>
          <a:p>
            <a:pPr marL="73660">
              <a:lnSpc>
                <a:spcPct val="100000"/>
              </a:lnSpc>
              <a:spcBef>
                <a:spcPts val="135"/>
              </a:spcBef>
            </a:pPr>
            <a:r>
              <a:rPr sz="1400" dirty="0">
                <a:solidFill>
                  <a:srgbClr val="0066CC"/>
                </a:solidFill>
                <a:latin typeface="微软雅黑" panose="020B0503020204020204" charset="-122"/>
                <a:ea typeface="微软雅黑" panose="020B0503020204020204" charset="-122"/>
                <a:cs typeface="微软雅黑" panose="020B0503020204020204" charset="-122"/>
              </a:rPr>
              <a:t>谈判</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5" name="object 45"/>
          <p:cNvSpPr/>
          <p:nvPr/>
        </p:nvSpPr>
        <p:spPr>
          <a:xfrm>
            <a:off x="6944518" y="2772509"/>
            <a:ext cx="1156151" cy="306488"/>
          </a:xfrm>
          <a:custGeom>
            <a:avLst/>
            <a:gdLst/>
            <a:ahLst/>
            <a:cxnLst/>
            <a:rect l="l" t="t" r="r" b="b"/>
            <a:pathLst>
              <a:path w="1156970" h="306705">
                <a:moveTo>
                  <a:pt x="0" y="306324"/>
                </a:moveTo>
                <a:lnTo>
                  <a:pt x="1156716" y="306324"/>
                </a:lnTo>
                <a:lnTo>
                  <a:pt x="1156716" y="0"/>
                </a:lnTo>
                <a:lnTo>
                  <a:pt x="0" y="0"/>
                </a:lnTo>
                <a:lnTo>
                  <a:pt x="0" y="30632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6" name="object 46"/>
          <p:cNvSpPr txBox="1"/>
          <p:nvPr/>
        </p:nvSpPr>
        <p:spPr>
          <a:xfrm>
            <a:off x="6944518" y="2772509"/>
            <a:ext cx="1156151" cy="230505"/>
          </a:xfrm>
          <a:prstGeom prst="rect">
            <a:avLst/>
          </a:prstGeom>
          <a:ln w="9525">
            <a:solidFill>
              <a:srgbClr val="91AFFF"/>
            </a:solidFill>
          </a:ln>
        </p:spPr>
        <p:txBody>
          <a:bodyPr vert="horz" wrap="square" lIns="0" tIns="15863" rIns="0" bIns="0" rtlCol="0">
            <a:spAutoFit/>
          </a:bodyPr>
          <a:lstStyle/>
          <a:p>
            <a:pPr marL="73660">
              <a:lnSpc>
                <a:spcPct val="100000"/>
              </a:lnSpc>
              <a:spcBef>
                <a:spcPts val="125"/>
              </a:spcBef>
            </a:pPr>
            <a:r>
              <a:rPr sz="1400" dirty="0">
                <a:solidFill>
                  <a:srgbClr val="0066CC"/>
                </a:solidFill>
                <a:latin typeface="微软雅黑" panose="020B0503020204020204" charset="-122"/>
                <a:ea typeface="微软雅黑" panose="020B0503020204020204" charset="-122"/>
                <a:cs typeface="微软雅黑" panose="020B0503020204020204" charset="-122"/>
              </a:rPr>
              <a:t>绩效管理</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7" name="object 47"/>
          <p:cNvSpPr/>
          <p:nvPr/>
        </p:nvSpPr>
        <p:spPr>
          <a:xfrm>
            <a:off x="632011" y="1980591"/>
            <a:ext cx="1488020" cy="517792"/>
          </a:xfrm>
          <a:custGeom>
            <a:avLst/>
            <a:gdLst/>
            <a:ahLst/>
            <a:cxnLst/>
            <a:rect l="l" t="t" r="r" b="b"/>
            <a:pathLst>
              <a:path w="1489075" h="518160">
                <a:moveTo>
                  <a:pt x="0" y="518160"/>
                </a:moveTo>
                <a:lnTo>
                  <a:pt x="1488948" y="518160"/>
                </a:lnTo>
                <a:lnTo>
                  <a:pt x="1488948"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8" name="object 48"/>
          <p:cNvSpPr txBox="1"/>
          <p:nvPr/>
        </p:nvSpPr>
        <p:spPr>
          <a:xfrm>
            <a:off x="632011" y="1980591"/>
            <a:ext cx="1488020" cy="464185"/>
          </a:xfrm>
          <a:prstGeom prst="rect">
            <a:avLst/>
          </a:prstGeom>
          <a:ln w="9525">
            <a:solidFill>
              <a:srgbClr val="91AFFF"/>
            </a:solidFill>
          </a:ln>
        </p:spPr>
        <p:txBody>
          <a:bodyPr vert="horz" wrap="square" lIns="0" tIns="34265" rIns="0" bIns="0" rtlCol="0">
            <a:spAutoFit/>
          </a:bodyPr>
          <a:lstStyle/>
          <a:p>
            <a:pPr marL="71120" marR="518795">
              <a:lnSpc>
                <a:spcPct val="100000"/>
              </a:lnSpc>
              <a:spcBef>
                <a:spcPts val="270"/>
              </a:spcBef>
            </a:pPr>
            <a:r>
              <a:rPr sz="1400" dirty="0">
                <a:solidFill>
                  <a:srgbClr val="0066CC"/>
                </a:solidFill>
                <a:latin typeface="微软雅黑" panose="020B0503020204020204" charset="-122"/>
                <a:ea typeface="微软雅黑" panose="020B0503020204020204" charset="-122"/>
                <a:cs typeface="微软雅黑" panose="020B0503020204020204" charset="-122"/>
              </a:rPr>
              <a:t>识别并审核 大客户</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9" name="object 49"/>
          <p:cNvSpPr txBox="1"/>
          <p:nvPr/>
        </p:nvSpPr>
        <p:spPr>
          <a:xfrm>
            <a:off x="106401" y="6412696"/>
            <a:ext cx="2191102"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35"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a:t>
            </a:r>
            <a:r>
              <a:rPr sz="1000" spc="-35"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营销和销售业务部</a:t>
            </a:r>
            <a:endParaRPr sz="10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8228" y="200043"/>
            <a:ext cx="7018126" cy="598170"/>
          </a:xfrm>
          <a:prstGeom prst="rect">
            <a:avLst/>
          </a:prstGeom>
        </p:spPr>
        <p:txBody>
          <a:bodyPr vert="horz" wrap="square" lIns="0" tIns="8883" rIns="0" bIns="0" rtlCol="0">
            <a:spAutoFit/>
          </a:bodyPr>
          <a:lstStyle/>
          <a:p>
            <a:pPr marL="12700" marR="5080">
              <a:lnSpc>
                <a:spcPct val="101000"/>
              </a:lnSpc>
              <a:spcBef>
                <a:spcPts val="70"/>
              </a:spcBef>
            </a:pPr>
            <a:r>
              <a:rPr spc="-5" dirty="0">
                <a:ea typeface="微软雅黑" panose="020B0503020204020204" charset="-122"/>
              </a:rPr>
              <a:t>企业往往需</a:t>
            </a:r>
            <a:r>
              <a:rPr spc="-10" dirty="0">
                <a:ea typeface="微软雅黑" panose="020B0503020204020204" charset="-122"/>
              </a:rPr>
              <a:t>要组</a:t>
            </a:r>
            <a:r>
              <a:rPr spc="-5" dirty="0">
                <a:ea typeface="微软雅黑" panose="020B0503020204020204" charset="-122"/>
              </a:rPr>
              <a:t>建</a:t>
            </a:r>
            <a:r>
              <a:rPr spc="-10" dirty="0">
                <a:ea typeface="微软雅黑" panose="020B0503020204020204" charset="-122"/>
              </a:rPr>
              <a:t>一个</a:t>
            </a:r>
            <a:r>
              <a:rPr spc="-5" dirty="0">
                <a:ea typeface="微软雅黑" panose="020B0503020204020204" charset="-122"/>
              </a:rPr>
              <a:t>虚</a:t>
            </a:r>
            <a:r>
              <a:rPr spc="-10" dirty="0">
                <a:ea typeface="微软雅黑" panose="020B0503020204020204" charset="-122"/>
              </a:rPr>
              <a:t>拟的</a:t>
            </a:r>
            <a:r>
              <a:rPr spc="-5" dirty="0">
                <a:ea typeface="微软雅黑" panose="020B0503020204020204" charset="-122"/>
              </a:rPr>
              <a:t>或</a:t>
            </a:r>
            <a:r>
              <a:rPr spc="-10" dirty="0">
                <a:ea typeface="微软雅黑" panose="020B0503020204020204" charset="-122"/>
              </a:rPr>
              <a:t>真实</a:t>
            </a:r>
            <a:r>
              <a:rPr spc="-5" dirty="0">
                <a:ea typeface="微软雅黑" panose="020B0503020204020204" charset="-122"/>
              </a:rPr>
              <a:t>的</a:t>
            </a:r>
            <a:r>
              <a:rPr spc="-10" dirty="0">
                <a:ea typeface="微软雅黑" panose="020B0503020204020204" charset="-122"/>
              </a:rPr>
              <a:t>跨职</a:t>
            </a:r>
            <a:r>
              <a:rPr spc="-5" dirty="0">
                <a:ea typeface="微软雅黑" panose="020B0503020204020204" charset="-122"/>
              </a:rPr>
              <a:t>能</a:t>
            </a:r>
            <a:r>
              <a:rPr spc="-10" dirty="0">
                <a:ea typeface="微软雅黑" panose="020B0503020204020204" charset="-122"/>
              </a:rPr>
              <a:t>团队</a:t>
            </a:r>
            <a:r>
              <a:rPr spc="-5" dirty="0">
                <a:ea typeface="微软雅黑" panose="020B0503020204020204" charset="-122"/>
              </a:rPr>
              <a:t>来</a:t>
            </a:r>
            <a:r>
              <a:rPr spc="-10" dirty="0">
                <a:ea typeface="微软雅黑" panose="020B0503020204020204" charset="-122"/>
              </a:rPr>
              <a:t>服务</a:t>
            </a:r>
            <a:r>
              <a:rPr spc="-5" dirty="0">
                <a:ea typeface="微软雅黑" panose="020B0503020204020204" charset="-122"/>
              </a:rPr>
              <a:t>大</a:t>
            </a:r>
            <a:r>
              <a:rPr spc="-10" dirty="0">
                <a:ea typeface="微软雅黑" panose="020B0503020204020204" charset="-122"/>
              </a:rPr>
              <a:t>客户，  </a:t>
            </a:r>
            <a:r>
              <a:rPr spc="-5" dirty="0">
                <a:ea typeface="微软雅黑" panose="020B0503020204020204" charset="-122"/>
              </a:rPr>
              <a:t>真正实现以</a:t>
            </a:r>
            <a:r>
              <a:rPr spc="-10" dirty="0">
                <a:ea typeface="微软雅黑" panose="020B0503020204020204" charset="-122"/>
              </a:rPr>
              <a:t>市场</a:t>
            </a:r>
            <a:r>
              <a:rPr spc="-5" dirty="0">
                <a:ea typeface="微软雅黑" panose="020B0503020204020204" charset="-122"/>
              </a:rPr>
              <a:t>为</a:t>
            </a:r>
            <a:r>
              <a:rPr spc="-10" dirty="0">
                <a:ea typeface="微软雅黑" panose="020B0503020204020204" charset="-122"/>
              </a:rPr>
              <a:t>导向</a:t>
            </a:r>
            <a:r>
              <a:rPr spc="-5" dirty="0">
                <a:ea typeface="微软雅黑" panose="020B0503020204020204" charset="-122"/>
              </a:rPr>
              <a:t>的</a:t>
            </a:r>
            <a:r>
              <a:rPr spc="-10" dirty="0">
                <a:ea typeface="微软雅黑" panose="020B0503020204020204" charset="-122"/>
              </a:rPr>
              <a:t>大客</a:t>
            </a:r>
            <a:r>
              <a:rPr spc="-5" dirty="0">
                <a:ea typeface="微软雅黑" panose="020B0503020204020204" charset="-122"/>
              </a:rPr>
              <a:t>户</a:t>
            </a:r>
            <a:r>
              <a:rPr spc="-10" dirty="0">
                <a:ea typeface="微软雅黑" panose="020B0503020204020204" charset="-122"/>
              </a:rPr>
              <a:t>营销</a:t>
            </a:r>
            <a:endParaRPr spc="-10" dirty="0">
              <a:ea typeface="微软雅黑" panose="020B0503020204020204" charset="-122"/>
            </a:endParaRPr>
          </a:p>
        </p:txBody>
      </p:sp>
      <p:sp>
        <p:nvSpPr>
          <p:cNvPr id="4" name="object 4"/>
          <p:cNvSpPr/>
          <p:nvPr/>
        </p:nvSpPr>
        <p:spPr>
          <a:xfrm>
            <a:off x="2685670" y="2127552"/>
            <a:ext cx="3565538" cy="3137217"/>
          </a:xfrm>
          <a:custGeom>
            <a:avLst/>
            <a:gdLst/>
            <a:ahLst/>
            <a:cxnLst/>
            <a:rect l="l" t="t" r="r" b="b"/>
            <a:pathLst>
              <a:path w="3568065" h="3139440">
                <a:moveTo>
                  <a:pt x="0" y="3139440"/>
                </a:moveTo>
                <a:lnTo>
                  <a:pt x="3567684" y="3139440"/>
                </a:lnTo>
                <a:lnTo>
                  <a:pt x="3567684" y="0"/>
                </a:lnTo>
                <a:lnTo>
                  <a:pt x="0" y="0"/>
                </a:lnTo>
                <a:lnTo>
                  <a:pt x="0" y="313944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p:nvPr/>
        </p:nvSpPr>
        <p:spPr>
          <a:xfrm>
            <a:off x="2840247" y="2815151"/>
            <a:ext cx="1206280" cy="860450"/>
          </a:xfrm>
          <a:custGeom>
            <a:avLst/>
            <a:gdLst/>
            <a:ahLst/>
            <a:cxnLst/>
            <a:rect l="l" t="t" r="r" b="b"/>
            <a:pathLst>
              <a:path w="1207135" h="861060">
                <a:moveTo>
                  <a:pt x="913511" y="0"/>
                </a:moveTo>
                <a:lnTo>
                  <a:pt x="316229" y="0"/>
                </a:lnTo>
                <a:lnTo>
                  <a:pt x="0" y="435737"/>
                </a:lnTo>
                <a:lnTo>
                  <a:pt x="316229" y="861060"/>
                </a:lnTo>
                <a:lnTo>
                  <a:pt x="913511" y="861060"/>
                </a:lnTo>
                <a:lnTo>
                  <a:pt x="1207135" y="435737"/>
                </a:lnTo>
                <a:lnTo>
                  <a:pt x="913511" y="0"/>
                </a:lnTo>
                <a:close/>
              </a:path>
            </a:pathLst>
          </a:custGeom>
          <a:solidFill>
            <a:srgbClr val="DDDDDD"/>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2840247" y="2815151"/>
            <a:ext cx="1206280" cy="860450"/>
          </a:xfrm>
          <a:custGeom>
            <a:avLst/>
            <a:gdLst/>
            <a:ahLst/>
            <a:cxnLst/>
            <a:rect l="l" t="t" r="r" b="b"/>
            <a:pathLst>
              <a:path w="1207135" h="861060">
                <a:moveTo>
                  <a:pt x="316229" y="0"/>
                </a:moveTo>
                <a:lnTo>
                  <a:pt x="913511" y="0"/>
                </a:lnTo>
                <a:lnTo>
                  <a:pt x="1207135" y="435737"/>
                </a:lnTo>
                <a:lnTo>
                  <a:pt x="913511" y="861060"/>
                </a:lnTo>
                <a:lnTo>
                  <a:pt x="316229" y="861060"/>
                </a:lnTo>
                <a:lnTo>
                  <a:pt x="0" y="435737"/>
                </a:lnTo>
                <a:lnTo>
                  <a:pt x="316229" y="0"/>
                </a:lnTo>
              </a:path>
            </a:pathLst>
          </a:custGeom>
          <a:ln w="952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3843852" y="2320202"/>
            <a:ext cx="1211356" cy="860450"/>
          </a:xfrm>
          <a:custGeom>
            <a:avLst/>
            <a:gdLst/>
            <a:ahLst/>
            <a:cxnLst/>
            <a:rect l="l" t="t" r="r" b="b"/>
            <a:pathLst>
              <a:path w="1212214" h="861060">
                <a:moveTo>
                  <a:pt x="917321" y="0"/>
                </a:moveTo>
                <a:lnTo>
                  <a:pt x="317119" y="0"/>
                </a:lnTo>
                <a:lnTo>
                  <a:pt x="0" y="437261"/>
                </a:lnTo>
                <a:lnTo>
                  <a:pt x="317119" y="861060"/>
                </a:lnTo>
                <a:lnTo>
                  <a:pt x="917321" y="861060"/>
                </a:lnTo>
                <a:lnTo>
                  <a:pt x="1211707" y="437261"/>
                </a:lnTo>
                <a:lnTo>
                  <a:pt x="917321"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3843852" y="2320202"/>
            <a:ext cx="1211356" cy="860450"/>
          </a:xfrm>
          <a:custGeom>
            <a:avLst/>
            <a:gdLst/>
            <a:ahLst/>
            <a:cxnLst/>
            <a:rect l="l" t="t" r="r" b="b"/>
            <a:pathLst>
              <a:path w="1212214" h="861060">
                <a:moveTo>
                  <a:pt x="317119" y="0"/>
                </a:moveTo>
                <a:lnTo>
                  <a:pt x="917321" y="0"/>
                </a:lnTo>
                <a:lnTo>
                  <a:pt x="1211707" y="437261"/>
                </a:lnTo>
                <a:lnTo>
                  <a:pt x="917321" y="861060"/>
                </a:lnTo>
                <a:lnTo>
                  <a:pt x="317119" y="861060"/>
                </a:lnTo>
                <a:lnTo>
                  <a:pt x="0" y="437261"/>
                </a:lnTo>
                <a:lnTo>
                  <a:pt x="317119" y="0"/>
                </a:lnTo>
              </a:path>
            </a:pathLst>
          </a:custGeom>
          <a:ln w="952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4850502" y="2815151"/>
            <a:ext cx="1208184" cy="860450"/>
          </a:xfrm>
          <a:custGeom>
            <a:avLst/>
            <a:gdLst/>
            <a:ahLst/>
            <a:cxnLst/>
            <a:rect l="l" t="t" r="r" b="b"/>
            <a:pathLst>
              <a:path w="1209039" h="861060">
                <a:moveTo>
                  <a:pt x="914654" y="0"/>
                </a:moveTo>
                <a:lnTo>
                  <a:pt x="316611" y="0"/>
                </a:lnTo>
                <a:lnTo>
                  <a:pt x="0" y="435737"/>
                </a:lnTo>
                <a:lnTo>
                  <a:pt x="316611" y="861060"/>
                </a:lnTo>
                <a:lnTo>
                  <a:pt x="914654" y="861060"/>
                </a:lnTo>
                <a:lnTo>
                  <a:pt x="1208659" y="435737"/>
                </a:lnTo>
                <a:lnTo>
                  <a:pt x="914654"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4850502" y="2815151"/>
            <a:ext cx="1208184" cy="860450"/>
          </a:xfrm>
          <a:custGeom>
            <a:avLst/>
            <a:gdLst/>
            <a:ahLst/>
            <a:cxnLst/>
            <a:rect l="l" t="t" r="r" b="b"/>
            <a:pathLst>
              <a:path w="1209039" h="861060">
                <a:moveTo>
                  <a:pt x="316611" y="0"/>
                </a:moveTo>
                <a:lnTo>
                  <a:pt x="914654" y="0"/>
                </a:lnTo>
                <a:lnTo>
                  <a:pt x="1208659" y="435737"/>
                </a:lnTo>
                <a:lnTo>
                  <a:pt x="914654" y="861060"/>
                </a:lnTo>
                <a:lnTo>
                  <a:pt x="316611" y="861060"/>
                </a:lnTo>
                <a:lnTo>
                  <a:pt x="0" y="435737"/>
                </a:lnTo>
                <a:lnTo>
                  <a:pt x="316611" y="0"/>
                </a:lnTo>
              </a:path>
            </a:pathLst>
          </a:custGeom>
          <a:ln w="952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2840247" y="3805050"/>
            <a:ext cx="1206280" cy="848393"/>
          </a:xfrm>
          <a:custGeom>
            <a:avLst/>
            <a:gdLst/>
            <a:ahLst/>
            <a:cxnLst/>
            <a:rect l="l" t="t" r="r" b="b"/>
            <a:pathLst>
              <a:path w="1207135" h="848995">
                <a:moveTo>
                  <a:pt x="913511" y="0"/>
                </a:moveTo>
                <a:lnTo>
                  <a:pt x="316229" y="0"/>
                </a:lnTo>
                <a:lnTo>
                  <a:pt x="0" y="425195"/>
                </a:lnTo>
                <a:lnTo>
                  <a:pt x="316229" y="848868"/>
                </a:lnTo>
                <a:lnTo>
                  <a:pt x="913511" y="848868"/>
                </a:lnTo>
                <a:lnTo>
                  <a:pt x="1207135" y="425195"/>
                </a:lnTo>
                <a:lnTo>
                  <a:pt x="913511" y="0"/>
                </a:lnTo>
                <a:close/>
              </a:path>
            </a:pathLst>
          </a:custGeom>
          <a:solidFill>
            <a:srgbClr val="DDDDDD"/>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2840247" y="3805050"/>
            <a:ext cx="1206280" cy="848393"/>
          </a:xfrm>
          <a:custGeom>
            <a:avLst/>
            <a:gdLst/>
            <a:ahLst/>
            <a:cxnLst/>
            <a:rect l="l" t="t" r="r" b="b"/>
            <a:pathLst>
              <a:path w="1207135" h="848995">
                <a:moveTo>
                  <a:pt x="316229" y="0"/>
                </a:moveTo>
                <a:lnTo>
                  <a:pt x="913511" y="0"/>
                </a:lnTo>
                <a:lnTo>
                  <a:pt x="1207135" y="425195"/>
                </a:lnTo>
                <a:lnTo>
                  <a:pt x="913511" y="848868"/>
                </a:lnTo>
                <a:lnTo>
                  <a:pt x="316229" y="848868"/>
                </a:lnTo>
                <a:lnTo>
                  <a:pt x="0" y="425195"/>
                </a:lnTo>
                <a:lnTo>
                  <a:pt x="316229" y="0"/>
                </a:lnTo>
              </a:path>
            </a:pathLst>
          </a:custGeom>
          <a:ln w="952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3843852" y="3310100"/>
            <a:ext cx="1211356" cy="862354"/>
          </a:xfrm>
          <a:custGeom>
            <a:avLst/>
            <a:gdLst/>
            <a:ahLst/>
            <a:cxnLst/>
            <a:rect l="l" t="t" r="r" b="b"/>
            <a:pathLst>
              <a:path w="1212214" h="862964">
                <a:moveTo>
                  <a:pt x="917321" y="0"/>
                </a:moveTo>
                <a:lnTo>
                  <a:pt x="317119" y="0"/>
                </a:lnTo>
                <a:lnTo>
                  <a:pt x="0" y="425450"/>
                </a:lnTo>
                <a:lnTo>
                  <a:pt x="317119" y="862583"/>
                </a:lnTo>
                <a:lnTo>
                  <a:pt x="917321" y="862583"/>
                </a:lnTo>
                <a:lnTo>
                  <a:pt x="1211707" y="425450"/>
                </a:lnTo>
                <a:lnTo>
                  <a:pt x="917321"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3843852" y="3310100"/>
            <a:ext cx="1211356" cy="862354"/>
          </a:xfrm>
          <a:custGeom>
            <a:avLst/>
            <a:gdLst/>
            <a:ahLst/>
            <a:cxnLst/>
            <a:rect l="l" t="t" r="r" b="b"/>
            <a:pathLst>
              <a:path w="1212214" h="862964">
                <a:moveTo>
                  <a:pt x="317119" y="0"/>
                </a:moveTo>
                <a:lnTo>
                  <a:pt x="917321" y="0"/>
                </a:lnTo>
                <a:lnTo>
                  <a:pt x="1211707" y="425450"/>
                </a:lnTo>
                <a:lnTo>
                  <a:pt x="917321" y="862583"/>
                </a:lnTo>
                <a:lnTo>
                  <a:pt x="317119" y="862583"/>
                </a:lnTo>
                <a:lnTo>
                  <a:pt x="0" y="425450"/>
                </a:lnTo>
                <a:lnTo>
                  <a:pt x="317119" y="0"/>
                </a:lnTo>
              </a:path>
            </a:pathLst>
          </a:custGeom>
          <a:ln w="952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txBox="1"/>
          <p:nvPr/>
        </p:nvSpPr>
        <p:spPr>
          <a:xfrm>
            <a:off x="4078127" y="2605115"/>
            <a:ext cx="741155" cy="227965"/>
          </a:xfrm>
          <a:prstGeom prst="rect">
            <a:avLst/>
          </a:prstGeom>
        </p:spPr>
        <p:txBody>
          <a:bodyPr vert="horz" wrap="square" lIns="0" tIns="13325" rIns="0" bIns="0" rtlCol="0">
            <a:spAutoFit/>
          </a:bodyPr>
          <a:lstStyle/>
          <a:p>
            <a:pPr marL="12700">
              <a:lnSpc>
                <a:spcPct val="100000"/>
              </a:lnSpc>
              <a:spcBef>
                <a:spcPts val="105"/>
              </a:spcBef>
            </a:pPr>
            <a:r>
              <a:rPr sz="1400" b="1" spc="10" dirty="0">
                <a:latin typeface="微软雅黑" panose="020B0503020204020204" charset="-122"/>
                <a:ea typeface="微软雅黑" panose="020B0503020204020204" charset="-122"/>
                <a:cs typeface="微软雅黑" panose="020B0503020204020204" charset="-122"/>
              </a:rPr>
              <a:t>产品</a:t>
            </a:r>
            <a:r>
              <a:rPr sz="1400" b="1" dirty="0">
                <a:latin typeface="微软雅黑" panose="020B0503020204020204" charset="-122"/>
                <a:ea typeface="微软雅黑" panose="020B0503020204020204" charset="-122"/>
                <a:cs typeface="微软雅黑" panose="020B0503020204020204" charset="-122"/>
              </a:rPr>
              <a:t>经理</a:t>
            </a:r>
            <a:endParaRPr sz="1400">
              <a:latin typeface="微软雅黑" panose="020B0503020204020204" charset="-122"/>
              <a:ea typeface="微软雅黑" panose="020B0503020204020204" charset="-122"/>
              <a:cs typeface="微软雅黑" panose="020B0503020204020204" charset="-122"/>
            </a:endParaRPr>
          </a:p>
        </p:txBody>
      </p:sp>
      <p:sp>
        <p:nvSpPr>
          <p:cNvPr id="16" name="object 16"/>
          <p:cNvSpPr txBox="1"/>
          <p:nvPr/>
        </p:nvSpPr>
        <p:spPr>
          <a:xfrm>
            <a:off x="3050790" y="2920613"/>
            <a:ext cx="791284" cy="594995"/>
          </a:xfrm>
          <a:prstGeom prst="rect">
            <a:avLst/>
          </a:prstGeom>
        </p:spPr>
        <p:txBody>
          <a:bodyPr vert="horz" wrap="square" lIns="0" tIns="45687" rIns="0" bIns="0" rtlCol="0">
            <a:spAutoFit/>
          </a:bodyPr>
          <a:lstStyle/>
          <a:p>
            <a:pPr marL="12065" marR="5080" algn="ctr">
              <a:lnSpc>
                <a:spcPts val="1430"/>
              </a:lnSpc>
              <a:spcBef>
                <a:spcPts val="360"/>
              </a:spcBef>
            </a:pPr>
            <a:r>
              <a:rPr sz="1400" b="1" spc="10" dirty="0">
                <a:latin typeface="微软雅黑" panose="020B0503020204020204" charset="-122"/>
                <a:ea typeface="微软雅黑" panose="020B0503020204020204" charset="-122"/>
                <a:cs typeface="微软雅黑" panose="020B0503020204020204" charset="-122"/>
              </a:rPr>
              <a:t>业务</a:t>
            </a:r>
            <a:r>
              <a:rPr sz="1400" b="1" dirty="0">
                <a:latin typeface="微软雅黑" panose="020B0503020204020204" charset="-122"/>
                <a:ea typeface="微软雅黑" panose="020B0503020204020204" charset="-122"/>
                <a:cs typeface="微软雅黑" panose="020B0503020204020204" charset="-122"/>
              </a:rPr>
              <a:t>单元/ </a:t>
            </a:r>
            <a:r>
              <a:rPr sz="1400" b="1" spc="10" dirty="0">
                <a:latin typeface="微软雅黑" panose="020B0503020204020204" charset="-122"/>
                <a:ea typeface="微软雅黑" panose="020B0503020204020204" charset="-122"/>
                <a:cs typeface="微软雅黑" panose="020B0503020204020204" charset="-122"/>
              </a:rPr>
              <a:t>生产</a:t>
            </a:r>
            <a:r>
              <a:rPr sz="1400" b="1" dirty="0">
                <a:latin typeface="微软雅黑" panose="020B0503020204020204" charset="-122"/>
                <a:ea typeface="微软雅黑" panose="020B0503020204020204" charset="-122"/>
                <a:cs typeface="微软雅黑" panose="020B0503020204020204" charset="-122"/>
              </a:rPr>
              <a:t>线</a:t>
            </a:r>
            <a:r>
              <a:rPr sz="1400" b="1" spc="-90" dirty="0">
                <a:latin typeface="微软雅黑" panose="020B0503020204020204" charset="-122"/>
                <a:ea typeface="微软雅黑" panose="020B0503020204020204" charset="-122"/>
                <a:cs typeface="微软雅黑" panose="020B0503020204020204" charset="-122"/>
              </a:rPr>
              <a:t> </a:t>
            </a:r>
            <a:r>
              <a:rPr sz="1400" b="1" dirty="0">
                <a:latin typeface="微软雅黑" panose="020B0503020204020204" charset="-122"/>
                <a:ea typeface="微软雅黑" panose="020B0503020204020204" charset="-122"/>
                <a:cs typeface="微软雅黑" panose="020B0503020204020204" charset="-122"/>
              </a:rPr>
              <a:t>管 </a:t>
            </a:r>
            <a:r>
              <a:rPr sz="1400" b="1" spc="10" dirty="0">
                <a:latin typeface="微软雅黑" panose="020B0503020204020204" charset="-122"/>
                <a:ea typeface="微软雅黑" panose="020B0503020204020204" charset="-122"/>
                <a:cs typeface="微软雅黑" panose="020B0503020204020204" charset="-122"/>
              </a:rPr>
              <a:t>理层</a:t>
            </a:r>
            <a:endParaRPr sz="1400">
              <a:latin typeface="微软雅黑" panose="020B0503020204020204" charset="-122"/>
              <a:ea typeface="微软雅黑" panose="020B0503020204020204" charset="-122"/>
              <a:cs typeface="微软雅黑" panose="020B0503020204020204" charset="-122"/>
            </a:endParaRPr>
          </a:p>
        </p:txBody>
      </p:sp>
      <p:sp>
        <p:nvSpPr>
          <p:cNvPr id="17" name="object 17"/>
          <p:cNvSpPr txBox="1"/>
          <p:nvPr/>
        </p:nvSpPr>
        <p:spPr>
          <a:xfrm>
            <a:off x="5084778" y="3011100"/>
            <a:ext cx="741155" cy="411480"/>
          </a:xfrm>
          <a:prstGeom prst="rect">
            <a:avLst/>
          </a:prstGeom>
        </p:spPr>
        <p:txBody>
          <a:bodyPr vert="horz" wrap="square" lIns="0" tIns="13325" rIns="0" bIns="0" rtlCol="0">
            <a:spAutoFit/>
          </a:bodyPr>
          <a:lstStyle/>
          <a:p>
            <a:pPr algn="ctr">
              <a:lnSpc>
                <a:spcPts val="1555"/>
              </a:lnSpc>
              <a:spcBef>
                <a:spcPts val="105"/>
              </a:spcBef>
            </a:pPr>
            <a:r>
              <a:rPr sz="1400" b="1" spc="10" dirty="0">
                <a:latin typeface="微软雅黑" panose="020B0503020204020204" charset="-122"/>
                <a:ea typeface="微软雅黑" panose="020B0503020204020204" charset="-122"/>
                <a:cs typeface="微软雅黑" panose="020B0503020204020204" charset="-122"/>
              </a:rPr>
              <a:t>本地</a:t>
            </a:r>
            <a:r>
              <a:rPr sz="1400" b="1" dirty="0">
                <a:latin typeface="微软雅黑" panose="020B0503020204020204" charset="-122"/>
                <a:ea typeface="微软雅黑" panose="020B0503020204020204" charset="-122"/>
                <a:cs typeface="微软雅黑" panose="020B0503020204020204" charset="-122"/>
              </a:rPr>
              <a:t>客户</a:t>
            </a:r>
            <a:endParaRPr sz="1400">
              <a:latin typeface="微软雅黑" panose="020B0503020204020204" charset="-122"/>
              <a:ea typeface="微软雅黑" panose="020B0503020204020204" charset="-122"/>
              <a:cs typeface="微软雅黑" panose="020B0503020204020204" charset="-122"/>
            </a:endParaRPr>
          </a:p>
          <a:p>
            <a:pPr algn="ctr">
              <a:lnSpc>
                <a:spcPts val="1555"/>
              </a:lnSpc>
            </a:pPr>
            <a:r>
              <a:rPr sz="1400" b="1" spc="10" dirty="0">
                <a:latin typeface="微软雅黑" panose="020B0503020204020204" charset="-122"/>
                <a:ea typeface="微软雅黑" panose="020B0503020204020204" charset="-122"/>
                <a:cs typeface="微软雅黑" panose="020B0503020204020204" charset="-122"/>
              </a:rPr>
              <a:t>经理</a:t>
            </a:r>
            <a:endParaRPr sz="1400">
              <a:latin typeface="微软雅黑" panose="020B0503020204020204" charset="-122"/>
              <a:ea typeface="微软雅黑" panose="020B0503020204020204" charset="-122"/>
              <a:cs typeface="微软雅黑" panose="020B0503020204020204" charset="-122"/>
            </a:endParaRPr>
          </a:p>
        </p:txBody>
      </p:sp>
      <p:sp>
        <p:nvSpPr>
          <p:cNvPr id="18" name="object 18"/>
          <p:cNvSpPr txBox="1"/>
          <p:nvPr/>
        </p:nvSpPr>
        <p:spPr>
          <a:xfrm>
            <a:off x="4078127" y="3506303"/>
            <a:ext cx="741155" cy="411480"/>
          </a:xfrm>
          <a:prstGeom prst="rect">
            <a:avLst/>
          </a:prstGeom>
        </p:spPr>
        <p:txBody>
          <a:bodyPr vert="horz" wrap="square" lIns="0" tIns="45686" rIns="0" bIns="0" rtlCol="0">
            <a:spAutoFit/>
          </a:bodyPr>
          <a:lstStyle/>
          <a:p>
            <a:pPr marL="280670" marR="5080" indent="-268605">
              <a:lnSpc>
                <a:spcPts val="1430"/>
              </a:lnSpc>
              <a:spcBef>
                <a:spcPts val="360"/>
              </a:spcBef>
            </a:pPr>
            <a:r>
              <a:rPr sz="1400" b="1" spc="10" dirty="0">
                <a:latin typeface="微软雅黑" panose="020B0503020204020204" charset="-122"/>
                <a:ea typeface="微软雅黑" panose="020B0503020204020204" charset="-122"/>
                <a:cs typeface="微软雅黑" panose="020B0503020204020204" charset="-122"/>
              </a:rPr>
              <a:t>大客</a:t>
            </a:r>
            <a:r>
              <a:rPr sz="1400" b="1" dirty="0">
                <a:latin typeface="微软雅黑" panose="020B0503020204020204" charset="-122"/>
                <a:ea typeface="微软雅黑" panose="020B0503020204020204" charset="-122"/>
                <a:cs typeface="微软雅黑" panose="020B0503020204020204" charset="-122"/>
              </a:rPr>
              <a:t>户经 理</a:t>
            </a:r>
            <a:endParaRPr sz="1400">
              <a:latin typeface="微软雅黑" panose="020B0503020204020204" charset="-122"/>
              <a:ea typeface="微软雅黑" panose="020B0503020204020204" charset="-122"/>
              <a:cs typeface="微软雅黑" panose="020B0503020204020204" charset="-122"/>
            </a:endParaRPr>
          </a:p>
        </p:txBody>
      </p:sp>
      <p:sp>
        <p:nvSpPr>
          <p:cNvPr id="19" name="object 19"/>
          <p:cNvSpPr txBox="1"/>
          <p:nvPr/>
        </p:nvSpPr>
        <p:spPr>
          <a:xfrm>
            <a:off x="3075157" y="4084125"/>
            <a:ext cx="741155" cy="227330"/>
          </a:xfrm>
          <a:prstGeom prst="rect">
            <a:avLst/>
          </a:prstGeom>
        </p:spPr>
        <p:txBody>
          <a:bodyPr vert="horz" wrap="square" lIns="0" tIns="12691" rIns="0" bIns="0" rtlCol="0">
            <a:spAutoFit/>
          </a:bodyPr>
          <a:lstStyle/>
          <a:p>
            <a:pPr marL="12700">
              <a:lnSpc>
                <a:spcPct val="100000"/>
              </a:lnSpc>
              <a:spcBef>
                <a:spcPts val="100"/>
              </a:spcBef>
            </a:pPr>
            <a:r>
              <a:rPr sz="1400" b="1" spc="10" dirty="0">
                <a:latin typeface="微软雅黑" panose="020B0503020204020204" charset="-122"/>
                <a:ea typeface="微软雅黑" panose="020B0503020204020204" charset="-122"/>
                <a:cs typeface="微软雅黑" panose="020B0503020204020204" charset="-122"/>
              </a:rPr>
              <a:t>客户</a:t>
            </a:r>
            <a:r>
              <a:rPr sz="1400" b="1" dirty="0">
                <a:latin typeface="微软雅黑" panose="020B0503020204020204" charset="-122"/>
                <a:ea typeface="微软雅黑" panose="020B0503020204020204" charset="-122"/>
                <a:cs typeface="微软雅黑" panose="020B0503020204020204" charset="-122"/>
              </a:rPr>
              <a:t>服务</a:t>
            </a:r>
            <a:endParaRPr sz="1400">
              <a:latin typeface="微软雅黑" panose="020B0503020204020204" charset="-122"/>
              <a:ea typeface="微软雅黑" panose="020B0503020204020204" charset="-122"/>
              <a:cs typeface="微软雅黑" panose="020B0503020204020204" charset="-122"/>
            </a:endParaRPr>
          </a:p>
        </p:txBody>
      </p:sp>
      <p:sp>
        <p:nvSpPr>
          <p:cNvPr id="20" name="object 20"/>
          <p:cNvSpPr/>
          <p:nvPr/>
        </p:nvSpPr>
        <p:spPr>
          <a:xfrm>
            <a:off x="4850502" y="3805050"/>
            <a:ext cx="1208184" cy="848393"/>
          </a:xfrm>
          <a:custGeom>
            <a:avLst/>
            <a:gdLst/>
            <a:ahLst/>
            <a:cxnLst/>
            <a:rect l="l" t="t" r="r" b="b"/>
            <a:pathLst>
              <a:path w="1209039" h="848995">
                <a:moveTo>
                  <a:pt x="914654" y="0"/>
                </a:moveTo>
                <a:lnTo>
                  <a:pt x="316611" y="0"/>
                </a:lnTo>
                <a:lnTo>
                  <a:pt x="0" y="425195"/>
                </a:lnTo>
                <a:lnTo>
                  <a:pt x="316611" y="848868"/>
                </a:lnTo>
                <a:lnTo>
                  <a:pt x="914654" y="848868"/>
                </a:lnTo>
                <a:lnTo>
                  <a:pt x="1208659" y="425195"/>
                </a:lnTo>
                <a:lnTo>
                  <a:pt x="914654" y="0"/>
                </a:lnTo>
                <a:close/>
              </a:path>
            </a:pathLst>
          </a:custGeom>
          <a:solidFill>
            <a:srgbClr val="DDDDDD"/>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1" name="object 21"/>
          <p:cNvSpPr/>
          <p:nvPr/>
        </p:nvSpPr>
        <p:spPr>
          <a:xfrm>
            <a:off x="4850502" y="3805050"/>
            <a:ext cx="1208184" cy="848393"/>
          </a:xfrm>
          <a:custGeom>
            <a:avLst/>
            <a:gdLst/>
            <a:ahLst/>
            <a:cxnLst/>
            <a:rect l="l" t="t" r="r" b="b"/>
            <a:pathLst>
              <a:path w="1209039" h="848995">
                <a:moveTo>
                  <a:pt x="316611" y="0"/>
                </a:moveTo>
                <a:lnTo>
                  <a:pt x="914654" y="0"/>
                </a:lnTo>
                <a:lnTo>
                  <a:pt x="1208659" y="425195"/>
                </a:lnTo>
                <a:lnTo>
                  <a:pt x="914654" y="848868"/>
                </a:lnTo>
                <a:lnTo>
                  <a:pt x="316611" y="848868"/>
                </a:lnTo>
                <a:lnTo>
                  <a:pt x="0" y="425195"/>
                </a:lnTo>
                <a:lnTo>
                  <a:pt x="316611" y="0"/>
                </a:lnTo>
              </a:path>
            </a:pathLst>
          </a:custGeom>
          <a:ln w="952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3843852" y="4289338"/>
            <a:ext cx="1211356" cy="859181"/>
          </a:xfrm>
          <a:custGeom>
            <a:avLst/>
            <a:gdLst/>
            <a:ahLst/>
            <a:cxnLst/>
            <a:rect l="l" t="t" r="r" b="b"/>
            <a:pathLst>
              <a:path w="1212214" h="859789">
                <a:moveTo>
                  <a:pt x="917321" y="0"/>
                </a:moveTo>
                <a:lnTo>
                  <a:pt x="317119" y="0"/>
                </a:lnTo>
                <a:lnTo>
                  <a:pt x="0" y="434974"/>
                </a:lnTo>
                <a:lnTo>
                  <a:pt x="317119" y="859535"/>
                </a:lnTo>
                <a:lnTo>
                  <a:pt x="917321" y="859535"/>
                </a:lnTo>
                <a:lnTo>
                  <a:pt x="1211707" y="434974"/>
                </a:lnTo>
                <a:lnTo>
                  <a:pt x="917321" y="0"/>
                </a:lnTo>
                <a:close/>
              </a:path>
            </a:pathLst>
          </a:custGeom>
          <a:solidFill>
            <a:srgbClr val="DDDDDD"/>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p:nvPr/>
        </p:nvSpPr>
        <p:spPr>
          <a:xfrm>
            <a:off x="3843852" y="4289338"/>
            <a:ext cx="1211356" cy="859181"/>
          </a:xfrm>
          <a:custGeom>
            <a:avLst/>
            <a:gdLst/>
            <a:ahLst/>
            <a:cxnLst/>
            <a:rect l="l" t="t" r="r" b="b"/>
            <a:pathLst>
              <a:path w="1212214" h="859789">
                <a:moveTo>
                  <a:pt x="317119" y="0"/>
                </a:moveTo>
                <a:lnTo>
                  <a:pt x="917321" y="0"/>
                </a:lnTo>
                <a:lnTo>
                  <a:pt x="1211707" y="434974"/>
                </a:lnTo>
                <a:lnTo>
                  <a:pt x="917321" y="859535"/>
                </a:lnTo>
                <a:lnTo>
                  <a:pt x="317119" y="859535"/>
                </a:lnTo>
                <a:lnTo>
                  <a:pt x="0" y="434974"/>
                </a:lnTo>
                <a:lnTo>
                  <a:pt x="317119" y="0"/>
                </a:lnTo>
              </a:path>
            </a:pathLst>
          </a:custGeom>
          <a:ln w="952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txBox="1"/>
          <p:nvPr/>
        </p:nvSpPr>
        <p:spPr>
          <a:xfrm>
            <a:off x="5083889" y="4131716"/>
            <a:ext cx="741155" cy="227330"/>
          </a:xfrm>
          <a:prstGeom prst="rect">
            <a:avLst/>
          </a:prstGeom>
        </p:spPr>
        <p:txBody>
          <a:bodyPr vert="horz" wrap="square" lIns="0" tIns="12691" rIns="0" bIns="0" rtlCol="0">
            <a:spAutoFit/>
          </a:bodyPr>
          <a:lstStyle/>
          <a:p>
            <a:pPr marL="12700">
              <a:lnSpc>
                <a:spcPct val="100000"/>
              </a:lnSpc>
              <a:spcBef>
                <a:spcPts val="100"/>
              </a:spcBef>
            </a:pPr>
            <a:r>
              <a:rPr sz="1400" b="1" spc="10" dirty="0">
                <a:latin typeface="微软雅黑" panose="020B0503020204020204" charset="-122"/>
                <a:ea typeface="微软雅黑" panose="020B0503020204020204" charset="-122"/>
                <a:cs typeface="微软雅黑" panose="020B0503020204020204" charset="-122"/>
              </a:rPr>
              <a:t>产品</a:t>
            </a:r>
            <a:r>
              <a:rPr sz="1400" b="1" dirty="0">
                <a:latin typeface="微软雅黑" panose="020B0503020204020204" charset="-122"/>
                <a:ea typeface="微软雅黑" panose="020B0503020204020204" charset="-122"/>
                <a:cs typeface="微软雅黑" panose="020B0503020204020204" charset="-122"/>
              </a:rPr>
              <a:t>开发</a:t>
            </a:r>
            <a:endParaRPr sz="1400">
              <a:latin typeface="微软雅黑" panose="020B0503020204020204" charset="-122"/>
              <a:ea typeface="微软雅黑" panose="020B0503020204020204" charset="-122"/>
              <a:cs typeface="微软雅黑" panose="020B0503020204020204" charset="-122"/>
            </a:endParaRPr>
          </a:p>
        </p:txBody>
      </p:sp>
      <p:sp>
        <p:nvSpPr>
          <p:cNvPr id="25" name="object 25"/>
          <p:cNvSpPr txBox="1"/>
          <p:nvPr/>
        </p:nvSpPr>
        <p:spPr>
          <a:xfrm>
            <a:off x="4029394" y="4485288"/>
            <a:ext cx="839510" cy="411480"/>
          </a:xfrm>
          <a:prstGeom prst="rect">
            <a:avLst/>
          </a:prstGeom>
        </p:spPr>
        <p:txBody>
          <a:bodyPr vert="horz" wrap="square" lIns="0" tIns="45686" rIns="0" bIns="0" rtlCol="0">
            <a:spAutoFit/>
          </a:bodyPr>
          <a:lstStyle/>
          <a:p>
            <a:pPr marL="151130" marR="5080" indent="-139065">
              <a:lnSpc>
                <a:spcPts val="1430"/>
              </a:lnSpc>
              <a:spcBef>
                <a:spcPts val="360"/>
              </a:spcBef>
            </a:pPr>
            <a:r>
              <a:rPr sz="1400" b="1" spc="10" dirty="0">
                <a:latin typeface="微软雅黑" panose="020B0503020204020204" charset="-122"/>
                <a:ea typeface="微软雅黑" panose="020B0503020204020204" charset="-122"/>
                <a:cs typeface="微软雅黑" panose="020B0503020204020204" charset="-122"/>
              </a:rPr>
              <a:t>技术</a:t>
            </a:r>
            <a:r>
              <a:rPr sz="1400" b="1" spc="-10" dirty="0">
                <a:latin typeface="微软雅黑" panose="020B0503020204020204" charset="-122"/>
                <a:ea typeface="微软雅黑" panose="020B0503020204020204" charset="-122"/>
                <a:cs typeface="微软雅黑" panose="020B0503020204020204" charset="-122"/>
              </a:rPr>
              <a:t>/</a:t>
            </a:r>
            <a:r>
              <a:rPr sz="1400" b="1" dirty="0">
                <a:latin typeface="微软雅黑" panose="020B0503020204020204" charset="-122"/>
                <a:ea typeface="微软雅黑" panose="020B0503020204020204" charset="-122"/>
                <a:cs typeface="微软雅黑" panose="020B0503020204020204" charset="-122"/>
              </a:rPr>
              <a:t>生产/ </a:t>
            </a:r>
            <a:r>
              <a:rPr sz="1400" b="1" spc="10" dirty="0">
                <a:latin typeface="微软雅黑" panose="020B0503020204020204" charset="-122"/>
                <a:ea typeface="微软雅黑" panose="020B0503020204020204" charset="-122"/>
                <a:cs typeface="微软雅黑" panose="020B0503020204020204" charset="-122"/>
              </a:rPr>
              <a:t>供应链</a:t>
            </a:r>
            <a:endParaRPr sz="1400">
              <a:latin typeface="微软雅黑" panose="020B0503020204020204" charset="-122"/>
              <a:ea typeface="微软雅黑" panose="020B0503020204020204" charset="-122"/>
              <a:cs typeface="微软雅黑" panose="020B0503020204020204" charset="-122"/>
            </a:endParaRPr>
          </a:p>
        </p:txBody>
      </p:sp>
      <p:sp>
        <p:nvSpPr>
          <p:cNvPr id="26" name="object 26"/>
          <p:cNvSpPr/>
          <p:nvPr/>
        </p:nvSpPr>
        <p:spPr>
          <a:xfrm>
            <a:off x="5878474" y="4316751"/>
            <a:ext cx="847125" cy="76146"/>
          </a:xfrm>
          <a:custGeom>
            <a:avLst/>
            <a:gdLst/>
            <a:ahLst/>
            <a:cxnLst/>
            <a:rect l="l" t="t" r="r" b="b"/>
            <a:pathLst>
              <a:path w="847725" h="7620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4921" y="44450"/>
                </a:lnTo>
                <a:lnTo>
                  <a:pt x="38100" y="44450"/>
                </a:lnTo>
                <a:lnTo>
                  <a:pt x="38100" y="31750"/>
                </a:lnTo>
                <a:lnTo>
                  <a:pt x="74921" y="31750"/>
                </a:lnTo>
                <a:lnTo>
                  <a:pt x="73211" y="23252"/>
                </a:lnTo>
                <a:lnTo>
                  <a:pt x="65055" y="11144"/>
                </a:lnTo>
                <a:lnTo>
                  <a:pt x="52947" y="2988"/>
                </a:lnTo>
                <a:lnTo>
                  <a:pt x="38100" y="0"/>
                </a:lnTo>
                <a:close/>
              </a:path>
              <a:path w="847725" h="76200">
                <a:moveTo>
                  <a:pt x="74921" y="31750"/>
                </a:moveTo>
                <a:lnTo>
                  <a:pt x="38100" y="31750"/>
                </a:lnTo>
                <a:lnTo>
                  <a:pt x="38100" y="44450"/>
                </a:lnTo>
                <a:lnTo>
                  <a:pt x="74921" y="44450"/>
                </a:lnTo>
                <a:lnTo>
                  <a:pt x="76200" y="38100"/>
                </a:lnTo>
                <a:lnTo>
                  <a:pt x="74921" y="31750"/>
                </a:lnTo>
                <a:close/>
              </a:path>
              <a:path w="847725" h="76200">
                <a:moveTo>
                  <a:pt x="847343" y="31750"/>
                </a:moveTo>
                <a:lnTo>
                  <a:pt x="74921" y="31750"/>
                </a:lnTo>
                <a:lnTo>
                  <a:pt x="76200" y="38100"/>
                </a:lnTo>
                <a:lnTo>
                  <a:pt x="74921" y="44450"/>
                </a:lnTo>
                <a:lnTo>
                  <a:pt x="847343" y="44450"/>
                </a:lnTo>
                <a:lnTo>
                  <a:pt x="847343" y="3175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7" name="object 27"/>
          <p:cNvSpPr/>
          <p:nvPr/>
        </p:nvSpPr>
        <p:spPr>
          <a:xfrm>
            <a:off x="3350425" y="4499501"/>
            <a:ext cx="76146" cy="890909"/>
          </a:xfrm>
          <a:custGeom>
            <a:avLst/>
            <a:gdLst/>
            <a:ahLst/>
            <a:cxnLst/>
            <a:rect l="l" t="t" r="r" b="b"/>
            <a:pathLst>
              <a:path w="76200" h="891539">
                <a:moveTo>
                  <a:pt x="31750" y="74921"/>
                </a:moveTo>
                <a:lnTo>
                  <a:pt x="31750" y="891540"/>
                </a:lnTo>
                <a:lnTo>
                  <a:pt x="44450" y="891540"/>
                </a:lnTo>
                <a:lnTo>
                  <a:pt x="44450" y="76200"/>
                </a:lnTo>
                <a:lnTo>
                  <a:pt x="38100" y="76200"/>
                </a:lnTo>
                <a:lnTo>
                  <a:pt x="31750" y="74921"/>
                </a:lnTo>
                <a:close/>
              </a:path>
              <a:path w="76200" h="891539">
                <a:moveTo>
                  <a:pt x="44450" y="38100"/>
                </a:moveTo>
                <a:lnTo>
                  <a:pt x="31750" y="38100"/>
                </a:lnTo>
                <a:lnTo>
                  <a:pt x="31750" y="74921"/>
                </a:lnTo>
                <a:lnTo>
                  <a:pt x="38100" y="76200"/>
                </a:lnTo>
                <a:lnTo>
                  <a:pt x="44450" y="74921"/>
                </a:lnTo>
                <a:lnTo>
                  <a:pt x="44450" y="38100"/>
                </a:lnTo>
                <a:close/>
              </a:path>
              <a:path w="76200" h="891539">
                <a:moveTo>
                  <a:pt x="44450" y="74921"/>
                </a:moveTo>
                <a:lnTo>
                  <a:pt x="38100" y="76200"/>
                </a:lnTo>
                <a:lnTo>
                  <a:pt x="44450" y="76200"/>
                </a:lnTo>
                <a:lnTo>
                  <a:pt x="44450" y="74921"/>
                </a:lnTo>
                <a:close/>
              </a:path>
              <a:path w="76200" h="891539">
                <a:moveTo>
                  <a:pt x="38100" y="0"/>
                </a:moveTo>
                <a:lnTo>
                  <a:pt x="23252" y="2988"/>
                </a:lnTo>
                <a:lnTo>
                  <a:pt x="11144" y="11144"/>
                </a:lnTo>
                <a:lnTo>
                  <a:pt x="2988" y="23252"/>
                </a:lnTo>
                <a:lnTo>
                  <a:pt x="0" y="38100"/>
                </a:lnTo>
                <a:lnTo>
                  <a:pt x="2988" y="52947"/>
                </a:lnTo>
                <a:lnTo>
                  <a:pt x="11144" y="65055"/>
                </a:lnTo>
                <a:lnTo>
                  <a:pt x="23252" y="73211"/>
                </a:lnTo>
                <a:lnTo>
                  <a:pt x="31750" y="74921"/>
                </a:lnTo>
                <a:lnTo>
                  <a:pt x="31750" y="38100"/>
                </a:lnTo>
                <a:lnTo>
                  <a:pt x="76200" y="38100"/>
                </a:lnTo>
                <a:lnTo>
                  <a:pt x="73211" y="23252"/>
                </a:lnTo>
                <a:lnTo>
                  <a:pt x="65055" y="11144"/>
                </a:lnTo>
                <a:lnTo>
                  <a:pt x="52947" y="2988"/>
                </a:lnTo>
                <a:lnTo>
                  <a:pt x="38100" y="0"/>
                </a:lnTo>
                <a:close/>
              </a:path>
              <a:path w="76200" h="891539">
                <a:moveTo>
                  <a:pt x="76200" y="38100"/>
                </a:moveTo>
                <a:lnTo>
                  <a:pt x="44450" y="38100"/>
                </a:lnTo>
                <a:lnTo>
                  <a:pt x="44450" y="74921"/>
                </a:lnTo>
                <a:lnTo>
                  <a:pt x="52947" y="73211"/>
                </a:lnTo>
                <a:lnTo>
                  <a:pt x="65055" y="65055"/>
                </a:lnTo>
                <a:lnTo>
                  <a:pt x="73211" y="52947"/>
                </a:lnTo>
                <a:lnTo>
                  <a:pt x="76200" y="3810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p:nvPr/>
        </p:nvSpPr>
        <p:spPr>
          <a:xfrm>
            <a:off x="4574854" y="4995974"/>
            <a:ext cx="76146" cy="428321"/>
          </a:xfrm>
          <a:custGeom>
            <a:avLst/>
            <a:gdLst/>
            <a:ahLst/>
            <a:cxnLst/>
            <a:rect l="l" t="t" r="r" b="b"/>
            <a:pathLst>
              <a:path w="76200" h="428625">
                <a:moveTo>
                  <a:pt x="31750" y="74921"/>
                </a:moveTo>
                <a:lnTo>
                  <a:pt x="31750" y="428244"/>
                </a:lnTo>
                <a:lnTo>
                  <a:pt x="44450" y="428244"/>
                </a:lnTo>
                <a:lnTo>
                  <a:pt x="44450" y="76200"/>
                </a:lnTo>
                <a:lnTo>
                  <a:pt x="38100" y="76200"/>
                </a:lnTo>
                <a:lnTo>
                  <a:pt x="31750" y="74921"/>
                </a:lnTo>
                <a:close/>
              </a:path>
              <a:path w="76200" h="428625">
                <a:moveTo>
                  <a:pt x="44450" y="38100"/>
                </a:moveTo>
                <a:lnTo>
                  <a:pt x="31750" y="38100"/>
                </a:lnTo>
                <a:lnTo>
                  <a:pt x="31750" y="74921"/>
                </a:lnTo>
                <a:lnTo>
                  <a:pt x="38100" y="76200"/>
                </a:lnTo>
                <a:lnTo>
                  <a:pt x="44450" y="74921"/>
                </a:lnTo>
                <a:lnTo>
                  <a:pt x="44450" y="38100"/>
                </a:lnTo>
                <a:close/>
              </a:path>
              <a:path w="76200" h="428625">
                <a:moveTo>
                  <a:pt x="44450" y="74921"/>
                </a:moveTo>
                <a:lnTo>
                  <a:pt x="38100" y="76200"/>
                </a:lnTo>
                <a:lnTo>
                  <a:pt x="44450" y="76200"/>
                </a:lnTo>
                <a:lnTo>
                  <a:pt x="44450" y="74921"/>
                </a:lnTo>
                <a:close/>
              </a:path>
              <a:path w="76200" h="428625">
                <a:moveTo>
                  <a:pt x="38100" y="0"/>
                </a:moveTo>
                <a:lnTo>
                  <a:pt x="23252" y="2988"/>
                </a:lnTo>
                <a:lnTo>
                  <a:pt x="11144" y="11144"/>
                </a:lnTo>
                <a:lnTo>
                  <a:pt x="2988" y="23252"/>
                </a:lnTo>
                <a:lnTo>
                  <a:pt x="0" y="38100"/>
                </a:lnTo>
                <a:lnTo>
                  <a:pt x="2988" y="52947"/>
                </a:lnTo>
                <a:lnTo>
                  <a:pt x="11144" y="65055"/>
                </a:lnTo>
                <a:lnTo>
                  <a:pt x="23252" y="73211"/>
                </a:lnTo>
                <a:lnTo>
                  <a:pt x="31750" y="74921"/>
                </a:lnTo>
                <a:lnTo>
                  <a:pt x="31750" y="38100"/>
                </a:lnTo>
                <a:lnTo>
                  <a:pt x="76200" y="38100"/>
                </a:lnTo>
                <a:lnTo>
                  <a:pt x="73211" y="23252"/>
                </a:lnTo>
                <a:lnTo>
                  <a:pt x="65055" y="11144"/>
                </a:lnTo>
                <a:lnTo>
                  <a:pt x="52947" y="2988"/>
                </a:lnTo>
                <a:lnTo>
                  <a:pt x="38100" y="0"/>
                </a:lnTo>
                <a:close/>
              </a:path>
              <a:path w="76200" h="428625">
                <a:moveTo>
                  <a:pt x="76200" y="38100"/>
                </a:moveTo>
                <a:lnTo>
                  <a:pt x="44450" y="38100"/>
                </a:lnTo>
                <a:lnTo>
                  <a:pt x="44450" y="74921"/>
                </a:lnTo>
                <a:lnTo>
                  <a:pt x="52947" y="73211"/>
                </a:lnTo>
                <a:lnTo>
                  <a:pt x="65055" y="65055"/>
                </a:lnTo>
                <a:lnTo>
                  <a:pt x="73211" y="52947"/>
                </a:lnTo>
                <a:lnTo>
                  <a:pt x="76200" y="3810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9" name="object 29"/>
          <p:cNvSpPr/>
          <p:nvPr/>
        </p:nvSpPr>
        <p:spPr>
          <a:xfrm>
            <a:off x="5878474" y="3010085"/>
            <a:ext cx="847125" cy="76146"/>
          </a:xfrm>
          <a:custGeom>
            <a:avLst/>
            <a:gdLst/>
            <a:ahLst/>
            <a:cxnLst/>
            <a:rect l="l" t="t" r="r" b="b"/>
            <a:pathLst>
              <a:path w="847725" h="7620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4921" y="44450"/>
                </a:lnTo>
                <a:lnTo>
                  <a:pt x="38100" y="44450"/>
                </a:lnTo>
                <a:lnTo>
                  <a:pt x="38100" y="31750"/>
                </a:lnTo>
                <a:lnTo>
                  <a:pt x="74921" y="31750"/>
                </a:lnTo>
                <a:lnTo>
                  <a:pt x="73211" y="23252"/>
                </a:lnTo>
                <a:lnTo>
                  <a:pt x="65055" y="11144"/>
                </a:lnTo>
                <a:lnTo>
                  <a:pt x="52947" y="2988"/>
                </a:lnTo>
                <a:lnTo>
                  <a:pt x="38100" y="0"/>
                </a:lnTo>
                <a:close/>
              </a:path>
              <a:path w="847725" h="76200">
                <a:moveTo>
                  <a:pt x="74921" y="31750"/>
                </a:moveTo>
                <a:lnTo>
                  <a:pt x="38100" y="31750"/>
                </a:lnTo>
                <a:lnTo>
                  <a:pt x="38100" y="44450"/>
                </a:lnTo>
                <a:lnTo>
                  <a:pt x="74921" y="44450"/>
                </a:lnTo>
                <a:lnTo>
                  <a:pt x="76200" y="38100"/>
                </a:lnTo>
                <a:lnTo>
                  <a:pt x="74921" y="31750"/>
                </a:lnTo>
                <a:close/>
              </a:path>
              <a:path w="847725" h="76200">
                <a:moveTo>
                  <a:pt x="847343" y="31750"/>
                </a:moveTo>
                <a:lnTo>
                  <a:pt x="74921" y="31750"/>
                </a:lnTo>
                <a:lnTo>
                  <a:pt x="76200" y="38100"/>
                </a:lnTo>
                <a:lnTo>
                  <a:pt x="74921" y="44450"/>
                </a:lnTo>
                <a:lnTo>
                  <a:pt x="847343" y="44450"/>
                </a:lnTo>
                <a:lnTo>
                  <a:pt x="847343" y="3175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0" name="object 30"/>
          <p:cNvSpPr/>
          <p:nvPr/>
        </p:nvSpPr>
        <p:spPr>
          <a:xfrm>
            <a:off x="2325500" y="3506557"/>
            <a:ext cx="845220" cy="76146"/>
          </a:xfrm>
          <a:custGeom>
            <a:avLst/>
            <a:gdLst/>
            <a:ahLst/>
            <a:cxnLst/>
            <a:rect l="l" t="t" r="r" b="b"/>
            <a:pathLst>
              <a:path w="845819" h="76200">
                <a:moveTo>
                  <a:pt x="807719" y="0"/>
                </a:moveTo>
                <a:lnTo>
                  <a:pt x="792872" y="2988"/>
                </a:lnTo>
                <a:lnTo>
                  <a:pt x="780764" y="11144"/>
                </a:lnTo>
                <a:lnTo>
                  <a:pt x="772608" y="23252"/>
                </a:lnTo>
                <a:lnTo>
                  <a:pt x="769619" y="38100"/>
                </a:lnTo>
                <a:lnTo>
                  <a:pt x="772608" y="52947"/>
                </a:lnTo>
                <a:lnTo>
                  <a:pt x="780764" y="65055"/>
                </a:lnTo>
                <a:lnTo>
                  <a:pt x="792872" y="73211"/>
                </a:lnTo>
                <a:lnTo>
                  <a:pt x="807719" y="76200"/>
                </a:lnTo>
                <a:lnTo>
                  <a:pt x="822567" y="73211"/>
                </a:lnTo>
                <a:lnTo>
                  <a:pt x="834675" y="65055"/>
                </a:lnTo>
                <a:lnTo>
                  <a:pt x="842831" y="52947"/>
                </a:lnTo>
                <a:lnTo>
                  <a:pt x="844541" y="44450"/>
                </a:lnTo>
                <a:lnTo>
                  <a:pt x="807719" y="44450"/>
                </a:lnTo>
                <a:lnTo>
                  <a:pt x="807719" y="31750"/>
                </a:lnTo>
                <a:lnTo>
                  <a:pt x="844541" y="31750"/>
                </a:lnTo>
                <a:lnTo>
                  <a:pt x="842831" y="23252"/>
                </a:lnTo>
                <a:lnTo>
                  <a:pt x="834675" y="11144"/>
                </a:lnTo>
                <a:lnTo>
                  <a:pt x="822567" y="2988"/>
                </a:lnTo>
                <a:lnTo>
                  <a:pt x="807719" y="0"/>
                </a:lnTo>
                <a:close/>
              </a:path>
              <a:path w="845819" h="76200">
                <a:moveTo>
                  <a:pt x="770898" y="31750"/>
                </a:moveTo>
                <a:lnTo>
                  <a:pt x="0" y="31750"/>
                </a:lnTo>
                <a:lnTo>
                  <a:pt x="0" y="44450"/>
                </a:lnTo>
                <a:lnTo>
                  <a:pt x="770898" y="44450"/>
                </a:lnTo>
                <a:lnTo>
                  <a:pt x="769619" y="38100"/>
                </a:lnTo>
                <a:lnTo>
                  <a:pt x="770898" y="31750"/>
                </a:lnTo>
                <a:close/>
              </a:path>
              <a:path w="845819" h="76200">
                <a:moveTo>
                  <a:pt x="844541" y="31750"/>
                </a:moveTo>
                <a:lnTo>
                  <a:pt x="807719" y="31750"/>
                </a:lnTo>
                <a:lnTo>
                  <a:pt x="807719" y="44450"/>
                </a:lnTo>
                <a:lnTo>
                  <a:pt x="844541" y="44450"/>
                </a:lnTo>
                <a:lnTo>
                  <a:pt x="845819" y="38100"/>
                </a:lnTo>
                <a:lnTo>
                  <a:pt x="844541" y="3175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1" name="object 31"/>
          <p:cNvSpPr/>
          <p:nvPr/>
        </p:nvSpPr>
        <p:spPr>
          <a:xfrm>
            <a:off x="4532211" y="5350813"/>
            <a:ext cx="4210876" cy="738617"/>
          </a:xfrm>
          <a:custGeom>
            <a:avLst/>
            <a:gdLst/>
            <a:ahLst/>
            <a:cxnLst/>
            <a:rect l="l" t="t" r="r" b="b"/>
            <a:pathLst>
              <a:path w="4213859" h="739139">
                <a:moveTo>
                  <a:pt x="0" y="739139"/>
                </a:moveTo>
                <a:lnTo>
                  <a:pt x="4213860" y="739139"/>
                </a:lnTo>
                <a:lnTo>
                  <a:pt x="4213860" y="0"/>
                </a:lnTo>
                <a:lnTo>
                  <a:pt x="0" y="0"/>
                </a:lnTo>
                <a:lnTo>
                  <a:pt x="0" y="739139"/>
                </a:lnTo>
                <a:close/>
              </a:path>
            </a:pathLst>
          </a:custGeom>
          <a:solidFill>
            <a:srgbClr val="DDDDDD"/>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2" name="object 32"/>
          <p:cNvSpPr/>
          <p:nvPr/>
        </p:nvSpPr>
        <p:spPr>
          <a:xfrm>
            <a:off x="181227" y="5350813"/>
            <a:ext cx="4278138" cy="738617"/>
          </a:xfrm>
          <a:custGeom>
            <a:avLst/>
            <a:gdLst/>
            <a:ahLst/>
            <a:cxnLst/>
            <a:rect l="l" t="t" r="r" b="b"/>
            <a:pathLst>
              <a:path w="4281170" h="739139">
                <a:moveTo>
                  <a:pt x="0" y="739139"/>
                </a:moveTo>
                <a:lnTo>
                  <a:pt x="4280916" y="739139"/>
                </a:lnTo>
                <a:lnTo>
                  <a:pt x="4280916" y="0"/>
                </a:lnTo>
                <a:lnTo>
                  <a:pt x="0" y="0"/>
                </a:lnTo>
                <a:lnTo>
                  <a:pt x="0" y="739139"/>
                </a:lnTo>
                <a:close/>
              </a:path>
            </a:pathLst>
          </a:custGeom>
          <a:solidFill>
            <a:srgbClr val="DDDDDD"/>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3" name="object 33"/>
          <p:cNvSpPr/>
          <p:nvPr/>
        </p:nvSpPr>
        <p:spPr>
          <a:xfrm>
            <a:off x="182749" y="1103388"/>
            <a:ext cx="2420175" cy="2264710"/>
          </a:xfrm>
          <a:custGeom>
            <a:avLst/>
            <a:gdLst/>
            <a:ahLst/>
            <a:cxnLst/>
            <a:rect l="l" t="t" r="r" b="b"/>
            <a:pathLst>
              <a:path w="2421890" h="2266315">
                <a:moveTo>
                  <a:pt x="0" y="2266188"/>
                </a:moveTo>
                <a:lnTo>
                  <a:pt x="2421636" y="2266188"/>
                </a:lnTo>
                <a:lnTo>
                  <a:pt x="2421636" y="0"/>
                </a:lnTo>
                <a:lnTo>
                  <a:pt x="0" y="0"/>
                </a:lnTo>
                <a:lnTo>
                  <a:pt x="0" y="2266188"/>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4" name="object 34"/>
          <p:cNvSpPr txBox="1"/>
          <p:nvPr/>
        </p:nvSpPr>
        <p:spPr>
          <a:xfrm>
            <a:off x="4598077" y="5482801"/>
            <a:ext cx="3953248" cy="421005"/>
          </a:xfrm>
          <a:prstGeom prst="rect">
            <a:avLst/>
          </a:prstGeom>
        </p:spPr>
        <p:txBody>
          <a:bodyPr vert="horz" wrap="square" lIns="0" tIns="12691" rIns="0" bIns="0" rtlCol="0">
            <a:spAutoFit/>
          </a:bodyPr>
          <a:lstStyle/>
          <a:p>
            <a:pPr marL="204470" indent="-192405">
              <a:lnSpc>
                <a:spcPts val="1595"/>
              </a:lnSpc>
              <a:spcBef>
                <a:spcPts val="100"/>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发现改善供应链管理和</a:t>
            </a:r>
            <a:r>
              <a:rPr sz="1400" spc="-15" dirty="0">
                <a:latin typeface="微软雅黑" panose="020B0503020204020204" charset="-122"/>
                <a:ea typeface="微软雅黑" panose="020B0503020204020204" charset="-122"/>
                <a:cs typeface="微软雅黑" panose="020B0503020204020204" charset="-122"/>
              </a:rPr>
              <a:t>优</a:t>
            </a:r>
            <a:r>
              <a:rPr sz="1400" dirty="0">
                <a:latin typeface="微软雅黑" panose="020B0503020204020204" charset="-122"/>
                <a:ea typeface="微软雅黑" panose="020B0503020204020204" charset="-122"/>
                <a:cs typeface="微软雅黑" panose="020B0503020204020204" charset="-122"/>
              </a:rPr>
              <a:t>化生</a:t>
            </a:r>
            <a:r>
              <a:rPr sz="1400" spc="-15" dirty="0">
                <a:latin typeface="微软雅黑" panose="020B0503020204020204" charset="-122"/>
                <a:ea typeface="微软雅黑" panose="020B0503020204020204" charset="-122"/>
                <a:cs typeface="微软雅黑" panose="020B0503020204020204" charset="-122"/>
              </a:rPr>
              <a:t>产</a:t>
            </a:r>
            <a:r>
              <a:rPr sz="1400" dirty="0">
                <a:latin typeface="微软雅黑" panose="020B0503020204020204" charset="-122"/>
                <a:ea typeface="微软雅黑" panose="020B0503020204020204" charset="-122"/>
                <a:cs typeface="微软雅黑" panose="020B0503020204020204" charset="-122"/>
              </a:rPr>
              <a:t>界面</a:t>
            </a:r>
            <a:r>
              <a:rPr sz="1400" spc="-15" dirty="0">
                <a:latin typeface="微软雅黑" panose="020B0503020204020204" charset="-122"/>
                <a:ea typeface="微软雅黑" panose="020B0503020204020204" charset="-122"/>
                <a:cs typeface="微软雅黑" panose="020B0503020204020204" charset="-122"/>
              </a:rPr>
              <a:t>的</a:t>
            </a:r>
            <a:r>
              <a:rPr sz="1400" dirty="0">
                <a:latin typeface="微软雅黑" panose="020B0503020204020204" charset="-122"/>
                <a:ea typeface="微软雅黑" panose="020B0503020204020204" charset="-122"/>
                <a:cs typeface="微软雅黑" panose="020B0503020204020204" charset="-122"/>
              </a:rPr>
              <a:t>各种</a:t>
            </a:r>
            <a:r>
              <a:rPr sz="1400" spc="-15" dirty="0">
                <a:latin typeface="微软雅黑" panose="020B0503020204020204" charset="-122"/>
                <a:ea typeface="微软雅黑" panose="020B0503020204020204" charset="-122"/>
                <a:cs typeface="微软雅黑" panose="020B0503020204020204" charset="-122"/>
              </a:rPr>
              <a:t>机</a:t>
            </a:r>
            <a:r>
              <a:rPr sz="1400" dirty="0">
                <a:latin typeface="微软雅黑" panose="020B0503020204020204" charset="-122"/>
                <a:ea typeface="微软雅黑" panose="020B0503020204020204" charset="-122"/>
                <a:cs typeface="微软雅黑" panose="020B0503020204020204" charset="-122"/>
              </a:rPr>
              <a:t>会</a:t>
            </a:r>
            <a:endParaRPr sz="1400">
              <a:latin typeface="微软雅黑" panose="020B0503020204020204" charset="-122"/>
              <a:ea typeface="微软雅黑" panose="020B0503020204020204" charset="-122"/>
              <a:cs typeface="微软雅黑" panose="020B0503020204020204" charset="-122"/>
            </a:endParaRPr>
          </a:p>
          <a:p>
            <a:pPr marL="204470" indent="-192405">
              <a:lnSpc>
                <a:spcPts val="1595"/>
              </a:lnSpc>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解决各种技术问题</a:t>
            </a:r>
            <a:endParaRPr sz="1400">
              <a:latin typeface="微软雅黑" panose="020B0503020204020204" charset="-122"/>
              <a:ea typeface="微软雅黑" panose="020B0503020204020204" charset="-122"/>
              <a:cs typeface="微软雅黑" panose="020B0503020204020204" charset="-122"/>
            </a:endParaRPr>
          </a:p>
        </p:txBody>
      </p:sp>
      <p:sp>
        <p:nvSpPr>
          <p:cNvPr id="35" name="object 35"/>
          <p:cNvSpPr txBox="1"/>
          <p:nvPr/>
        </p:nvSpPr>
        <p:spPr>
          <a:xfrm>
            <a:off x="6336873" y="3447162"/>
            <a:ext cx="2404946" cy="1319530"/>
          </a:xfrm>
          <a:prstGeom prst="rect">
            <a:avLst/>
          </a:prstGeom>
          <a:solidFill>
            <a:srgbClr val="DDDDDD"/>
          </a:solidFill>
        </p:spPr>
        <p:txBody>
          <a:bodyPr vert="horz" wrap="square" lIns="0" tIns="0" rIns="0" bIns="0" rtlCol="0">
            <a:spAutoFit/>
          </a:bodyPr>
          <a:lstStyle/>
          <a:p>
            <a:pPr>
              <a:lnSpc>
                <a:spcPct val="100000"/>
              </a:lnSpc>
            </a:pPr>
            <a:endParaRPr>
              <a:latin typeface="微软雅黑" panose="020B0503020204020204" charset="-122"/>
              <a:ea typeface="微软雅黑" panose="020B0503020204020204" charset="-122"/>
              <a:cs typeface="微软雅黑" panose="020B0503020204020204" charset="-122"/>
            </a:endParaRPr>
          </a:p>
          <a:p>
            <a:pPr>
              <a:lnSpc>
                <a:spcPct val="100000"/>
              </a:lnSpc>
              <a:spcBef>
                <a:spcPts val="45"/>
              </a:spcBef>
            </a:pPr>
            <a:endParaRPr sz="1700">
              <a:latin typeface="微软雅黑" panose="020B0503020204020204" charset="-122"/>
              <a:ea typeface="微软雅黑" panose="020B0503020204020204" charset="-122"/>
              <a:cs typeface="微软雅黑" panose="020B0503020204020204" charset="-122"/>
            </a:endParaRPr>
          </a:p>
          <a:p>
            <a:pPr marL="293370" marR="321310" indent="-192405">
              <a:lnSpc>
                <a:spcPts val="1510"/>
              </a:lnSpc>
              <a:buClr>
                <a:srgbClr val="00295F"/>
              </a:buClr>
              <a:buSzPct val="125000"/>
              <a:buFont typeface="Arial" panose="020B0604020202020204"/>
              <a:buChar char="▪"/>
              <a:tabLst>
                <a:tab pos="294005" algn="l"/>
              </a:tabLst>
            </a:pPr>
            <a:r>
              <a:rPr sz="1400" dirty="0">
                <a:latin typeface="微软雅黑" panose="020B0503020204020204" charset="-122"/>
                <a:ea typeface="微软雅黑" panose="020B0503020204020204" charset="-122"/>
                <a:cs typeface="微软雅黑" panose="020B0503020204020204" charset="-122"/>
              </a:rPr>
              <a:t>识别未来的产品开发机 会</a:t>
            </a:r>
            <a:endParaRPr sz="1400">
              <a:latin typeface="微软雅黑" panose="020B0503020204020204" charset="-122"/>
              <a:ea typeface="微软雅黑" panose="020B0503020204020204" charset="-122"/>
              <a:cs typeface="微软雅黑" panose="020B0503020204020204" charset="-122"/>
            </a:endParaRPr>
          </a:p>
          <a:p>
            <a:pPr marL="293370" marR="321310" indent="-192405">
              <a:lnSpc>
                <a:spcPts val="1510"/>
              </a:lnSpc>
              <a:spcBef>
                <a:spcPts val="5"/>
              </a:spcBef>
              <a:buClr>
                <a:srgbClr val="00295F"/>
              </a:buClr>
              <a:buSzPct val="125000"/>
              <a:buFont typeface="Arial" panose="020B0604020202020204"/>
              <a:buChar char="▪"/>
              <a:tabLst>
                <a:tab pos="294005" algn="l"/>
              </a:tabLst>
            </a:pPr>
            <a:r>
              <a:rPr sz="1400" dirty="0">
                <a:latin typeface="微软雅黑" panose="020B0503020204020204" charset="-122"/>
                <a:ea typeface="微软雅黑" panose="020B0503020204020204" charset="-122"/>
                <a:cs typeface="微软雅黑" panose="020B0503020204020204" charset="-122"/>
              </a:rPr>
              <a:t>提供现有的能力、技能 与资源投入</a:t>
            </a:r>
            <a:endParaRPr sz="1400">
              <a:latin typeface="微软雅黑" panose="020B0503020204020204" charset="-122"/>
              <a:ea typeface="微软雅黑" panose="020B0503020204020204" charset="-122"/>
              <a:cs typeface="微软雅黑" panose="020B0503020204020204" charset="-122"/>
            </a:endParaRPr>
          </a:p>
        </p:txBody>
      </p:sp>
      <p:sp>
        <p:nvSpPr>
          <p:cNvPr id="36" name="object 36"/>
          <p:cNvSpPr txBox="1"/>
          <p:nvPr/>
        </p:nvSpPr>
        <p:spPr>
          <a:xfrm>
            <a:off x="6336873" y="1100342"/>
            <a:ext cx="2404946" cy="1647825"/>
          </a:xfrm>
          <a:prstGeom prst="rect">
            <a:avLst/>
          </a:prstGeom>
          <a:solidFill>
            <a:srgbClr val="C6DFFA"/>
          </a:solidFill>
        </p:spPr>
        <p:txBody>
          <a:bodyPr vert="horz" wrap="square" lIns="0" tIns="0" rIns="0" bIns="0" rtlCol="0">
            <a:spAutoFit/>
          </a:bodyPr>
          <a:lstStyle/>
          <a:p>
            <a:pPr>
              <a:lnSpc>
                <a:spcPct val="100000"/>
              </a:lnSpc>
            </a:pPr>
            <a:endParaRPr sz="2000">
              <a:latin typeface="微软雅黑" panose="020B0503020204020204" charset="-122"/>
              <a:ea typeface="微软雅黑" panose="020B0503020204020204" charset="-122"/>
              <a:cs typeface="微软雅黑" panose="020B0503020204020204" charset="-122"/>
            </a:endParaRPr>
          </a:p>
          <a:p>
            <a:pPr>
              <a:lnSpc>
                <a:spcPct val="100000"/>
              </a:lnSpc>
              <a:spcBef>
                <a:spcPts val="5"/>
              </a:spcBef>
            </a:pPr>
            <a:endParaRPr sz="2250">
              <a:latin typeface="微软雅黑" panose="020B0503020204020204" charset="-122"/>
              <a:ea typeface="微软雅黑" panose="020B0503020204020204" charset="-122"/>
              <a:cs typeface="微软雅黑" panose="020B0503020204020204" charset="-122"/>
            </a:endParaRPr>
          </a:p>
          <a:p>
            <a:pPr marL="293370" indent="-192405">
              <a:lnSpc>
                <a:spcPts val="1595"/>
              </a:lnSpc>
              <a:buClr>
                <a:srgbClr val="00295F"/>
              </a:buClr>
              <a:buSzPct val="125000"/>
              <a:buFont typeface="Arial" panose="020B0604020202020204"/>
              <a:buChar char="▪"/>
              <a:tabLst>
                <a:tab pos="294005" algn="l"/>
              </a:tabLst>
            </a:pPr>
            <a:r>
              <a:rPr sz="1400" dirty="0">
                <a:latin typeface="微软雅黑" panose="020B0503020204020204" charset="-122"/>
                <a:ea typeface="微软雅黑" panose="020B0503020204020204" charset="-122"/>
                <a:cs typeface="微软雅黑" panose="020B0503020204020204" charset="-122"/>
              </a:rPr>
              <a:t>管理当地的大客户联系人</a:t>
            </a:r>
            <a:endParaRPr sz="1400">
              <a:latin typeface="微软雅黑" panose="020B0503020204020204" charset="-122"/>
              <a:ea typeface="微软雅黑" panose="020B0503020204020204" charset="-122"/>
              <a:cs typeface="微软雅黑" panose="020B0503020204020204" charset="-122"/>
            </a:endParaRPr>
          </a:p>
          <a:p>
            <a:pPr marL="293370" marR="144145" indent="-192405">
              <a:lnSpc>
                <a:spcPts val="1510"/>
              </a:lnSpc>
              <a:spcBef>
                <a:spcPts val="105"/>
              </a:spcBef>
              <a:buClr>
                <a:srgbClr val="00295F"/>
              </a:buClr>
              <a:buSzPct val="125000"/>
              <a:buFont typeface="Arial" panose="020B0604020202020204"/>
              <a:buChar char="▪"/>
              <a:tabLst>
                <a:tab pos="294005" algn="l"/>
              </a:tabLst>
            </a:pPr>
            <a:r>
              <a:rPr sz="1400" dirty="0">
                <a:latin typeface="微软雅黑" panose="020B0503020204020204" charset="-122"/>
                <a:ea typeface="微软雅黑" panose="020B0503020204020204" charset="-122"/>
                <a:cs typeface="微软雅黑" panose="020B0503020204020204" charset="-122"/>
              </a:rPr>
              <a:t>在规划过程中，提供区域 性的背景信息</a:t>
            </a:r>
            <a:endParaRPr sz="1400">
              <a:latin typeface="微软雅黑" panose="020B0503020204020204" charset="-122"/>
              <a:ea typeface="微软雅黑" panose="020B0503020204020204" charset="-122"/>
              <a:cs typeface="微软雅黑" panose="020B0503020204020204" charset="-122"/>
            </a:endParaRPr>
          </a:p>
          <a:p>
            <a:pPr marL="293370" marR="144145" indent="-192405">
              <a:lnSpc>
                <a:spcPts val="1510"/>
              </a:lnSpc>
              <a:spcBef>
                <a:spcPts val="5"/>
              </a:spcBef>
              <a:buClr>
                <a:srgbClr val="00295F"/>
              </a:buClr>
              <a:buSzPct val="125000"/>
              <a:buFont typeface="Arial" panose="020B0604020202020204"/>
              <a:buChar char="▪"/>
              <a:tabLst>
                <a:tab pos="294005" algn="l"/>
              </a:tabLst>
            </a:pPr>
            <a:r>
              <a:rPr sz="1400" dirty="0">
                <a:latin typeface="微软雅黑" panose="020B0503020204020204" charset="-122"/>
                <a:ea typeface="微软雅黑" panose="020B0503020204020204" charset="-122"/>
                <a:cs typeface="微软雅黑" panose="020B0503020204020204" charset="-122"/>
              </a:rPr>
              <a:t>扮演公司与大客户间的联 系人</a:t>
            </a:r>
            <a:endParaRPr sz="1400">
              <a:latin typeface="微软雅黑" panose="020B0503020204020204" charset="-122"/>
              <a:ea typeface="微软雅黑" panose="020B0503020204020204" charset="-122"/>
              <a:cs typeface="微软雅黑" panose="020B0503020204020204" charset="-122"/>
            </a:endParaRPr>
          </a:p>
        </p:txBody>
      </p:sp>
      <p:sp>
        <p:nvSpPr>
          <p:cNvPr id="37" name="object 37"/>
          <p:cNvSpPr txBox="1"/>
          <p:nvPr/>
        </p:nvSpPr>
        <p:spPr>
          <a:xfrm>
            <a:off x="182749" y="3447162"/>
            <a:ext cx="2403676" cy="1403350"/>
          </a:xfrm>
          <a:prstGeom prst="rect">
            <a:avLst/>
          </a:prstGeom>
          <a:solidFill>
            <a:srgbClr val="DDDDDD"/>
          </a:solidFill>
        </p:spPr>
        <p:txBody>
          <a:bodyPr vert="horz" wrap="square" lIns="0" tIns="5076" rIns="0" bIns="0" rtlCol="0">
            <a:spAutoFit/>
          </a:bodyPr>
          <a:lstStyle/>
          <a:p>
            <a:pPr>
              <a:lnSpc>
                <a:spcPct val="100000"/>
              </a:lnSpc>
              <a:spcBef>
                <a:spcPts val="40"/>
              </a:spcBef>
            </a:pPr>
            <a:endParaRPr sz="2650">
              <a:latin typeface="微软雅黑" panose="020B0503020204020204" charset="-122"/>
              <a:ea typeface="微软雅黑" panose="020B0503020204020204" charset="-122"/>
              <a:cs typeface="微软雅黑" panose="020B0503020204020204" charset="-122"/>
            </a:endParaRPr>
          </a:p>
          <a:p>
            <a:pPr marL="287020" indent="-193040">
              <a:lnSpc>
                <a:spcPts val="1595"/>
              </a:lnSpc>
              <a:buClr>
                <a:srgbClr val="00295F"/>
              </a:buClr>
              <a:buSzPct val="125000"/>
              <a:buFont typeface="Arial" panose="020B0604020202020204"/>
              <a:buChar char="▪"/>
              <a:tabLst>
                <a:tab pos="287655" algn="l"/>
              </a:tabLst>
            </a:pPr>
            <a:r>
              <a:rPr sz="1400" dirty="0">
                <a:latin typeface="微软雅黑" panose="020B0503020204020204" charset="-122"/>
                <a:ea typeface="微软雅黑" panose="020B0503020204020204" charset="-122"/>
                <a:cs typeface="微软雅黑" panose="020B0503020204020204" charset="-122"/>
              </a:rPr>
              <a:t>解决跨职能、跨区域、跨</a:t>
            </a:r>
            <a:endParaRPr sz="1400">
              <a:latin typeface="微软雅黑" panose="020B0503020204020204" charset="-122"/>
              <a:ea typeface="微软雅黑" panose="020B0503020204020204" charset="-122"/>
              <a:cs typeface="微软雅黑" panose="020B0503020204020204" charset="-122"/>
            </a:endParaRPr>
          </a:p>
          <a:p>
            <a:pPr marL="287020">
              <a:lnSpc>
                <a:spcPts val="1515"/>
              </a:lnSpc>
            </a:pPr>
            <a:r>
              <a:rPr sz="1400" dirty="0">
                <a:latin typeface="微软雅黑" panose="020B0503020204020204" charset="-122"/>
                <a:ea typeface="微软雅黑" panose="020B0503020204020204" charset="-122"/>
                <a:cs typeface="微软雅黑" panose="020B0503020204020204" charset="-122"/>
              </a:rPr>
              <a:t>行业资源配置问题</a:t>
            </a:r>
            <a:endParaRPr sz="1400">
              <a:latin typeface="微软雅黑" panose="020B0503020204020204" charset="-122"/>
              <a:ea typeface="微软雅黑" panose="020B0503020204020204" charset="-122"/>
              <a:cs typeface="微软雅黑" panose="020B0503020204020204" charset="-122"/>
            </a:endParaRPr>
          </a:p>
          <a:p>
            <a:pPr marL="287020" marR="148590" indent="-192405">
              <a:lnSpc>
                <a:spcPts val="1510"/>
              </a:lnSpc>
              <a:spcBef>
                <a:spcPts val="110"/>
              </a:spcBef>
              <a:buClr>
                <a:srgbClr val="00295F"/>
              </a:buClr>
              <a:buSzPct val="125000"/>
              <a:buFont typeface="Arial" panose="020B0604020202020204"/>
              <a:buChar char="▪"/>
              <a:tabLst>
                <a:tab pos="287655" algn="l"/>
              </a:tabLst>
            </a:pPr>
            <a:r>
              <a:rPr sz="1400" dirty="0">
                <a:latin typeface="微软雅黑" panose="020B0503020204020204" charset="-122"/>
                <a:ea typeface="微软雅黑" panose="020B0503020204020204" charset="-122"/>
                <a:cs typeface="微软雅黑" panose="020B0503020204020204" charset="-122"/>
              </a:rPr>
              <a:t>建立并维持与大客户高管 间的关系</a:t>
            </a:r>
            <a:endParaRPr sz="1400">
              <a:latin typeface="微软雅黑" panose="020B0503020204020204" charset="-122"/>
              <a:ea typeface="微软雅黑" panose="020B0503020204020204" charset="-122"/>
              <a:cs typeface="微软雅黑" panose="020B0503020204020204" charset="-122"/>
            </a:endParaRPr>
          </a:p>
          <a:p>
            <a:pPr marL="287020" indent="-193040">
              <a:lnSpc>
                <a:spcPts val="1490"/>
              </a:lnSpc>
              <a:buClr>
                <a:srgbClr val="00295F"/>
              </a:buClr>
              <a:buSzPct val="125000"/>
              <a:buFont typeface="Arial" panose="020B0604020202020204"/>
              <a:buChar char="▪"/>
              <a:tabLst>
                <a:tab pos="287655" algn="l"/>
              </a:tabLst>
            </a:pPr>
            <a:r>
              <a:rPr sz="1400" dirty="0">
                <a:latin typeface="微软雅黑" panose="020B0503020204020204" charset="-122"/>
                <a:ea typeface="微软雅黑" panose="020B0503020204020204" charset="-122"/>
                <a:cs typeface="微软雅黑" panose="020B0503020204020204" charset="-122"/>
              </a:rPr>
              <a:t>支持全球合同的谈判事务</a:t>
            </a:r>
            <a:endParaRPr sz="1400">
              <a:latin typeface="微软雅黑" panose="020B0503020204020204" charset="-122"/>
              <a:ea typeface="微软雅黑" panose="020B0503020204020204" charset="-122"/>
              <a:cs typeface="微软雅黑" panose="020B0503020204020204" charset="-122"/>
            </a:endParaRPr>
          </a:p>
        </p:txBody>
      </p:sp>
      <p:sp>
        <p:nvSpPr>
          <p:cNvPr id="38" name="object 38"/>
          <p:cNvSpPr txBox="1"/>
          <p:nvPr/>
        </p:nvSpPr>
        <p:spPr>
          <a:xfrm>
            <a:off x="264784" y="5578135"/>
            <a:ext cx="4131557" cy="227330"/>
          </a:xfrm>
          <a:prstGeom prst="rect">
            <a:avLst/>
          </a:prstGeom>
        </p:spPr>
        <p:txBody>
          <a:bodyPr vert="horz" wrap="square" lIns="0" tIns="12691" rIns="0" bIns="0" rtlCol="0">
            <a:spAutoFit/>
          </a:bodyPr>
          <a:lstStyle/>
          <a:p>
            <a:pPr marL="204470" indent="-192405">
              <a:lnSpc>
                <a:spcPct val="100000"/>
              </a:lnSpc>
              <a:spcBef>
                <a:spcPts val="100"/>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就目前的客户服务存在</a:t>
            </a:r>
            <a:r>
              <a:rPr sz="1400" spc="-15" dirty="0">
                <a:latin typeface="微软雅黑" panose="020B0503020204020204" charset="-122"/>
                <a:ea typeface="微软雅黑" panose="020B0503020204020204" charset="-122"/>
                <a:cs typeface="微软雅黑" panose="020B0503020204020204" charset="-122"/>
              </a:rPr>
              <a:t>的</a:t>
            </a:r>
            <a:r>
              <a:rPr sz="1400" dirty="0">
                <a:latin typeface="微软雅黑" panose="020B0503020204020204" charset="-122"/>
                <a:ea typeface="微软雅黑" panose="020B0503020204020204" charset="-122"/>
                <a:cs typeface="微软雅黑" panose="020B0503020204020204" charset="-122"/>
              </a:rPr>
              <a:t>问题</a:t>
            </a:r>
            <a:r>
              <a:rPr sz="1400" spc="-15" dirty="0">
                <a:latin typeface="微软雅黑" panose="020B0503020204020204" charset="-122"/>
                <a:ea typeface="微软雅黑" panose="020B0503020204020204" charset="-122"/>
                <a:cs typeface="微软雅黑" panose="020B0503020204020204" charset="-122"/>
              </a:rPr>
              <a:t>提</a:t>
            </a:r>
            <a:r>
              <a:rPr sz="1400" dirty="0">
                <a:latin typeface="微软雅黑" panose="020B0503020204020204" charset="-122"/>
                <a:ea typeface="微软雅黑" panose="020B0503020204020204" charset="-122"/>
                <a:cs typeface="微软雅黑" panose="020B0503020204020204" charset="-122"/>
              </a:rPr>
              <a:t>供日</a:t>
            </a:r>
            <a:r>
              <a:rPr sz="1400" spc="-15" dirty="0">
                <a:latin typeface="微软雅黑" panose="020B0503020204020204" charset="-122"/>
                <a:ea typeface="微软雅黑" panose="020B0503020204020204" charset="-122"/>
                <a:cs typeface="微软雅黑" panose="020B0503020204020204" charset="-122"/>
              </a:rPr>
              <a:t>常</a:t>
            </a:r>
            <a:r>
              <a:rPr sz="1400" dirty="0">
                <a:latin typeface="微软雅黑" panose="020B0503020204020204" charset="-122"/>
                <a:ea typeface="微软雅黑" panose="020B0503020204020204" charset="-122"/>
                <a:cs typeface="微软雅黑" panose="020B0503020204020204" charset="-122"/>
              </a:rPr>
              <a:t>的背</a:t>
            </a:r>
            <a:r>
              <a:rPr sz="1400" spc="-15" dirty="0">
                <a:latin typeface="微软雅黑" panose="020B0503020204020204" charset="-122"/>
                <a:ea typeface="微软雅黑" panose="020B0503020204020204" charset="-122"/>
                <a:cs typeface="微软雅黑" panose="020B0503020204020204" charset="-122"/>
              </a:rPr>
              <a:t>景</a:t>
            </a:r>
            <a:r>
              <a:rPr sz="1400" dirty="0">
                <a:latin typeface="微软雅黑" panose="020B0503020204020204" charset="-122"/>
                <a:ea typeface="微软雅黑" panose="020B0503020204020204" charset="-122"/>
                <a:cs typeface="微软雅黑" panose="020B0503020204020204" charset="-122"/>
              </a:rPr>
              <a:t>信息</a:t>
            </a:r>
            <a:endParaRPr sz="1400">
              <a:latin typeface="微软雅黑" panose="020B0503020204020204" charset="-122"/>
              <a:ea typeface="微软雅黑" panose="020B0503020204020204" charset="-122"/>
              <a:cs typeface="微软雅黑" panose="020B0503020204020204" charset="-122"/>
            </a:endParaRPr>
          </a:p>
        </p:txBody>
      </p:sp>
      <p:sp>
        <p:nvSpPr>
          <p:cNvPr id="39" name="object 39"/>
          <p:cNvSpPr txBox="1"/>
          <p:nvPr/>
        </p:nvSpPr>
        <p:spPr>
          <a:xfrm>
            <a:off x="182749" y="1422439"/>
            <a:ext cx="2420175" cy="1782445"/>
          </a:xfrm>
          <a:prstGeom prst="rect">
            <a:avLst/>
          </a:prstGeom>
        </p:spPr>
        <p:txBody>
          <a:bodyPr vert="horz" wrap="square" lIns="0" tIns="13325" rIns="0" bIns="0" rtlCol="0">
            <a:spAutoFit/>
          </a:bodyPr>
          <a:lstStyle/>
          <a:p>
            <a:pPr marL="287020" indent="-193040">
              <a:lnSpc>
                <a:spcPts val="1595"/>
              </a:lnSpc>
              <a:spcBef>
                <a:spcPts val="105"/>
              </a:spcBef>
              <a:buClr>
                <a:srgbClr val="00295F"/>
              </a:buClr>
              <a:buSzPct val="125000"/>
              <a:buFont typeface="Arial" panose="020B0604020202020204"/>
              <a:buChar char="▪"/>
              <a:tabLst>
                <a:tab pos="287655" algn="l"/>
              </a:tabLst>
            </a:pPr>
            <a:r>
              <a:rPr sz="1400" dirty="0">
                <a:latin typeface="微软雅黑" panose="020B0503020204020204" charset="-122"/>
                <a:ea typeface="微软雅黑" panose="020B0503020204020204" charset="-122"/>
                <a:cs typeface="微软雅黑" panose="020B0503020204020204" charset="-122"/>
              </a:rPr>
              <a:t>领导团队，分配角色</a:t>
            </a:r>
            <a:endParaRPr sz="1400">
              <a:latin typeface="微软雅黑" panose="020B0503020204020204" charset="-122"/>
              <a:ea typeface="微软雅黑" panose="020B0503020204020204" charset="-122"/>
              <a:cs typeface="微软雅黑" panose="020B0503020204020204" charset="-122"/>
            </a:endParaRPr>
          </a:p>
          <a:p>
            <a:pPr marL="287020" marR="165100" indent="-192405">
              <a:lnSpc>
                <a:spcPts val="1510"/>
              </a:lnSpc>
              <a:spcBef>
                <a:spcPts val="105"/>
              </a:spcBef>
              <a:buClr>
                <a:srgbClr val="00295F"/>
              </a:buClr>
              <a:buSzPct val="125000"/>
              <a:buFont typeface="Arial" panose="020B0604020202020204"/>
              <a:buChar char="▪"/>
              <a:tabLst>
                <a:tab pos="287655" algn="l"/>
              </a:tabLst>
            </a:pPr>
            <a:r>
              <a:rPr sz="1400" dirty="0">
                <a:latin typeface="微软雅黑" panose="020B0503020204020204" charset="-122"/>
                <a:ea typeface="微软雅黑" panose="020B0503020204020204" charset="-122"/>
                <a:cs typeface="微软雅黑" panose="020B0503020204020204" charset="-122"/>
              </a:rPr>
              <a:t>推动行动规划的制定和实 施</a:t>
            </a:r>
            <a:endParaRPr sz="1400">
              <a:latin typeface="微软雅黑" panose="020B0503020204020204" charset="-122"/>
              <a:ea typeface="微软雅黑" panose="020B0503020204020204" charset="-122"/>
              <a:cs typeface="微软雅黑" panose="020B0503020204020204" charset="-122"/>
            </a:endParaRPr>
          </a:p>
          <a:p>
            <a:pPr marL="287020" indent="-193040">
              <a:lnSpc>
                <a:spcPts val="1410"/>
              </a:lnSpc>
              <a:buClr>
                <a:srgbClr val="00295F"/>
              </a:buClr>
              <a:buSzPct val="125000"/>
              <a:buFont typeface="Arial" panose="020B0604020202020204"/>
              <a:buChar char="▪"/>
              <a:tabLst>
                <a:tab pos="287655" algn="l"/>
              </a:tabLst>
            </a:pPr>
            <a:r>
              <a:rPr sz="1400" dirty="0">
                <a:latin typeface="微软雅黑" panose="020B0503020204020204" charset="-122"/>
                <a:ea typeface="微软雅黑" panose="020B0503020204020204" charset="-122"/>
                <a:cs typeface="微软雅黑" panose="020B0503020204020204" charset="-122"/>
              </a:rPr>
              <a:t>起草客户合同</a:t>
            </a:r>
            <a:endParaRPr sz="1400">
              <a:latin typeface="微软雅黑" panose="020B0503020204020204" charset="-122"/>
              <a:ea typeface="微软雅黑" panose="020B0503020204020204" charset="-122"/>
              <a:cs typeface="微软雅黑" panose="020B0503020204020204" charset="-122"/>
            </a:endParaRPr>
          </a:p>
          <a:p>
            <a:pPr marL="287020" marR="165100" indent="-192405">
              <a:lnSpc>
                <a:spcPts val="1510"/>
              </a:lnSpc>
              <a:spcBef>
                <a:spcPts val="110"/>
              </a:spcBef>
              <a:buClr>
                <a:srgbClr val="00295F"/>
              </a:buClr>
              <a:buSzPct val="125000"/>
              <a:buFont typeface="Arial" panose="020B0604020202020204"/>
              <a:buChar char="▪"/>
              <a:tabLst>
                <a:tab pos="287655" algn="l"/>
              </a:tabLst>
            </a:pPr>
            <a:r>
              <a:rPr sz="1400" dirty="0">
                <a:latin typeface="微软雅黑" panose="020B0503020204020204" charset="-122"/>
                <a:ea typeface="微软雅黑" panose="020B0503020204020204" charset="-122"/>
                <a:cs typeface="微软雅黑" panose="020B0503020204020204" charset="-122"/>
              </a:rPr>
              <a:t>总结并提供有关大客户的 信息</a:t>
            </a:r>
            <a:endParaRPr sz="1400">
              <a:latin typeface="微软雅黑" panose="020B0503020204020204" charset="-122"/>
              <a:ea typeface="微软雅黑" panose="020B0503020204020204" charset="-122"/>
              <a:cs typeface="微软雅黑" panose="020B0503020204020204" charset="-122"/>
            </a:endParaRPr>
          </a:p>
          <a:p>
            <a:pPr marL="287020" indent="-193040">
              <a:lnSpc>
                <a:spcPts val="1410"/>
              </a:lnSpc>
              <a:buClr>
                <a:srgbClr val="00295F"/>
              </a:buClr>
              <a:buSzPct val="125000"/>
              <a:buFont typeface="Arial" panose="020B0604020202020204"/>
              <a:buChar char="▪"/>
              <a:tabLst>
                <a:tab pos="287655" algn="l"/>
              </a:tabLst>
            </a:pPr>
            <a:r>
              <a:rPr sz="1400" dirty="0">
                <a:latin typeface="微软雅黑" panose="020B0503020204020204" charset="-122"/>
                <a:ea typeface="微软雅黑" panose="020B0503020204020204" charset="-122"/>
                <a:cs typeface="微软雅黑" panose="020B0503020204020204" charset="-122"/>
              </a:rPr>
              <a:t>根据需要调整团队构成</a:t>
            </a:r>
            <a:endParaRPr sz="1400">
              <a:latin typeface="微软雅黑" panose="020B0503020204020204" charset="-122"/>
              <a:ea typeface="微软雅黑" panose="020B0503020204020204" charset="-122"/>
              <a:cs typeface="微软雅黑" panose="020B0503020204020204" charset="-122"/>
            </a:endParaRPr>
          </a:p>
          <a:p>
            <a:pPr marL="287020" marR="165100" indent="-192405">
              <a:lnSpc>
                <a:spcPts val="1510"/>
              </a:lnSpc>
              <a:spcBef>
                <a:spcPts val="110"/>
              </a:spcBef>
              <a:buClr>
                <a:srgbClr val="00295F"/>
              </a:buClr>
              <a:buSzPct val="125000"/>
              <a:buFont typeface="Arial" panose="020B0604020202020204"/>
              <a:buChar char="▪"/>
              <a:tabLst>
                <a:tab pos="287655" algn="l"/>
              </a:tabLst>
            </a:pPr>
            <a:r>
              <a:rPr sz="1400" dirty="0">
                <a:latin typeface="微软雅黑" panose="020B0503020204020204" charset="-122"/>
                <a:ea typeface="微软雅黑" panose="020B0503020204020204" charset="-122"/>
                <a:cs typeface="微软雅黑" panose="020B0503020204020204" charset="-122"/>
              </a:rPr>
              <a:t>全面负责大客户业务的总 体成功</a:t>
            </a:r>
            <a:endParaRPr sz="1400">
              <a:latin typeface="微软雅黑" panose="020B0503020204020204" charset="-122"/>
              <a:ea typeface="微软雅黑" panose="020B0503020204020204" charset="-122"/>
              <a:cs typeface="微软雅黑" panose="020B0503020204020204" charset="-122"/>
            </a:endParaRPr>
          </a:p>
        </p:txBody>
      </p:sp>
      <p:sp>
        <p:nvSpPr>
          <p:cNvPr id="40" name="object 40"/>
          <p:cNvSpPr/>
          <p:nvPr/>
        </p:nvSpPr>
        <p:spPr>
          <a:xfrm>
            <a:off x="7535412" y="766823"/>
            <a:ext cx="164983" cy="159907"/>
          </a:xfrm>
          <a:custGeom>
            <a:avLst/>
            <a:gdLst/>
            <a:ahLst/>
            <a:cxnLst/>
            <a:rect l="l" t="t" r="r" b="b"/>
            <a:pathLst>
              <a:path w="165100" h="160019">
                <a:moveTo>
                  <a:pt x="0" y="160020"/>
                </a:moveTo>
                <a:lnTo>
                  <a:pt x="164592" y="160020"/>
                </a:lnTo>
                <a:lnTo>
                  <a:pt x="164592" y="0"/>
                </a:lnTo>
                <a:lnTo>
                  <a:pt x="0" y="0"/>
                </a:lnTo>
                <a:lnTo>
                  <a:pt x="0" y="160020"/>
                </a:lnTo>
                <a:close/>
              </a:path>
            </a:pathLst>
          </a:custGeom>
          <a:solidFill>
            <a:srgbClr val="C0C0C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1" name="object 41"/>
          <p:cNvSpPr txBox="1"/>
          <p:nvPr/>
        </p:nvSpPr>
        <p:spPr>
          <a:xfrm>
            <a:off x="7728568" y="532039"/>
            <a:ext cx="1091426" cy="387350"/>
          </a:xfrm>
          <a:prstGeom prst="rect">
            <a:avLst/>
          </a:prstGeom>
        </p:spPr>
        <p:txBody>
          <a:bodyPr vert="horz" wrap="square" lIns="0" tIns="5076" rIns="0" bIns="0" rtlCol="0">
            <a:spAutoFit/>
          </a:bodyPr>
          <a:lstStyle/>
          <a:p>
            <a:pPr marL="12700" marR="5080">
              <a:lnSpc>
                <a:spcPct val="104000"/>
              </a:lnSpc>
              <a:spcBef>
                <a:spcPts val="40"/>
              </a:spcBef>
            </a:pPr>
            <a:r>
              <a:rPr sz="1200" dirty="0">
                <a:latin typeface="微软雅黑" panose="020B0503020204020204" charset="-122"/>
                <a:ea typeface="微软雅黑" panose="020B0503020204020204" charset="-122"/>
                <a:cs typeface="微软雅黑" panose="020B0503020204020204" charset="-122"/>
              </a:rPr>
              <a:t>大客户核心团队 大客户虚拟团队</a:t>
            </a:r>
            <a:endParaRPr sz="1200" dirty="0">
              <a:latin typeface="微软雅黑" panose="020B0503020204020204" charset="-122"/>
              <a:ea typeface="微软雅黑" panose="020B0503020204020204" charset="-122"/>
              <a:cs typeface="微软雅黑" panose="020B0503020204020204" charset="-122"/>
            </a:endParaRPr>
          </a:p>
        </p:txBody>
      </p:sp>
      <p:sp>
        <p:nvSpPr>
          <p:cNvPr id="42" name="object 42"/>
          <p:cNvSpPr/>
          <p:nvPr/>
        </p:nvSpPr>
        <p:spPr>
          <a:xfrm>
            <a:off x="7535412" y="574935"/>
            <a:ext cx="164983" cy="159907"/>
          </a:xfrm>
          <a:custGeom>
            <a:avLst/>
            <a:gdLst/>
            <a:ahLst/>
            <a:cxnLst/>
            <a:rect l="l" t="t" r="r" b="b"/>
            <a:pathLst>
              <a:path w="165100" h="160020">
                <a:moveTo>
                  <a:pt x="0" y="160020"/>
                </a:moveTo>
                <a:lnTo>
                  <a:pt x="164592" y="160020"/>
                </a:lnTo>
                <a:lnTo>
                  <a:pt x="164592" y="0"/>
                </a:lnTo>
                <a:lnTo>
                  <a:pt x="0" y="0"/>
                </a:lnTo>
                <a:lnTo>
                  <a:pt x="0" y="16002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3" name="object 43"/>
          <p:cNvSpPr txBox="1"/>
          <p:nvPr/>
        </p:nvSpPr>
        <p:spPr>
          <a:xfrm>
            <a:off x="8417563" y="263117"/>
            <a:ext cx="329966" cy="196215"/>
          </a:xfrm>
          <a:prstGeom prst="rect">
            <a:avLst/>
          </a:prstGeom>
        </p:spPr>
        <p:txBody>
          <a:bodyPr vert="horz" wrap="square" lIns="0" tIns="12691" rIns="0" bIns="0" rtlCol="0">
            <a:spAutoFit/>
          </a:bodyPr>
          <a:lstStyle/>
          <a:p>
            <a:pPr marL="12700">
              <a:lnSpc>
                <a:spcPct val="100000"/>
              </a:lnSpc>
              <a:spcBef>
                <a:spcPts val="100"/>
              </a:spcBef>
            </a:pPr>
            <a:r>
              <a:rPr sz="1200" dirty="0">
                <a:solidFill>
                  <a:srgbClr val="808080"/>
                </a:solidFill>
                <a:latin typeface="微软雅黑" panose="020B0503020204020204" charset="-122"/>
                <a:ea typeface="微软雅黑" panose="020B0503020204020204" charset="-122"/>
                <a:cs typeface="微软雅黑" panose="020B0503020204020204" charset="-122"/>
              </a:rPr>
              <a:t>示例</a:t>
            </a:r>
            <a:endParaRPr sz="1200" dirty="0">
              <a:solidFill>
                <a:srgbClr val="808080"/>
              </a:solidFill>
              <a:latin typeface="微软雅黑" panose="020B0503020204020204" charset="-122"/>
              <a:ea typeface="微软雅黑" panose="020B0503020204020204" charset="-122"/>
              <a:cs typeface="微软雅黑" panose="020B0503020204020204" charset="-122"/>
            </a:endParaRPr>
          </a:p>
        </p:txBody>
      </p:sp>
      <p:sp>
        <p:nvSpPr>
          <p:cNvPr id="44" name="object 44"/>
          <p:cNvSpPr/>
          <p:nvPr/>
        </p:nvSpPr>
        <p:spPr>
          <a:xfrm>
            <a:off x="8403475" y="287103"/>
            <a:ext cx="0" cy="209402"/>
          </a:xfrm>
          <a:custGeom>
            <a:avLst/>
            <a:gdLst/>
            <a:ahLst/>
            <a:cxnLst/>
            <a:rect l="l" t="t" r="r" b="b"/>
            <a:pathLst>
              <a:path h="209550">
                <a:moveTo>
                  <a:pt x="0" y="0"/>
                </a:moveTo>
                <a:lnTo>
                  <a:pt x="0" y="209550"/>
                </a:lnTo>
              </a:path>
            </a:pathLst>
          </a:custGeom>
          <a:ln w="9525">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5" name="object 45"/>
          <p:cNvSpPr/>
          <p:nvPr/>
        </p:nvSpPr>
        <p:spPr>
          <a:xfrm>
            <a:off x="8404237" y="496504"/>
            <a:ext cx="331870" cy="0"/>
          </a:xfrm>
          <a:custGeom>
            <a:avLst/>
            <a:gdLst/>
            <a:ahLst/>
            <a:cxnLst/>
            <a:rect l="l" t="t" r="r" b="b"/>
            <a:pathLst>
              <a:path w="332104">
                <a:moveTo>
                  <a:pt x="0" y="0"/>
                </a:moveTo>
                <a:lnTo>
                  <a:pt x="331724" y="0"/>
                </a:lnTo>
              </a:path>
            </a:pathLst>
          </a:custGeom>
          <a:ln w="25400">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6" name="object 46"/>
          <p:cNvSpPr/>
          <p:nvPr/>
        </p:nvSpPr>
        <p:spPr>
          <a:xfrm>
            <a:off x="4363167" y="1707988"/>
            <a:ext cx="76146" cy="667547"/>
          </a:xfrm>
          <a:custGeom>
            <a:avLst/>
            <a:gdLst/>
            <a:ahLst/>
            <a:cxnLst/>
            <a:rect l="l" t="t" r="r" b="b"/>
            <a:pathLst>
              <a:path w="76200" h="668019">
                <a:moveTo>
                  <a:pt x="31750" y="592590"/>
                </a:moveTo>
                <a:lnTo>
                  <a:pt x="23252" y="594300"/>
                </a:lnTo>
                <a:lnTo>
                  <a:pt x="11144" y="602456"/>
                </a:lnTo>
                <a:lnTo>
                  <a:pt x="2988" y="614564"/>
                </a:lnTo>
                <a:lnTo>
                  <a:pt x="0" y="629412"/>
                </a:lnTo>
                <a:lnTo>
                  <a:pt x="2988" y="644259"/>
                </a:lnTo>
                <a:lnTo>
                  <a:pt x="11144" y="656367"/>
                </a:lnTo>
                <a:lnTo>
                  <a:pt x="23252" y="664523"/>
                </a:lnTo>
                <a:lnTo>
                  <a:pt x="38100" y="667512"/>
                </a:lnTo>
                <a:lnTo>
                  <a:pt x="52947" y="664523"/>
                </a:lnTo>
                <a:lnTo>
                  <a:pt x="65055" y="656367"/>
                </a:lnTo>
                <a:lnTo>
                  <a:pt x="73211" y="644259"/>
                </a:lnTo>
                <a:lnTo>
                  <a:pt x="76200" y="629412"/>
                </a:lnTo>
                <a:lnTo>
                  <a:pt x="31750" y="629412"/>
                </a:lnTo>
                <a:lnTo>
                  <a:pt x="31750" y="592590"/>
                </a:lnTo>
                <a:close/>
              </a:path>
              <a:path w="76200" h="668019">
                <a:moveTo>
                  <a:pt x="38100" y="591312"/>
                </a:moveTo>
                <a:lnTo>
                  <a:pt x="31750" y="592590"/>
                </a:lnTo>
                <a:lnTo>
                  <a:pt x="31750" y="629412"/>
                </a:lnTo>
                <a:lnTo>
                  <a:pt x="44450" y="629412"/>
                </a:lnTo>
                <a:lnTo>
                  <a:pt x="44450" y="592590"/>
                </a:lnTo>
                <a:lnTo>
                  <a:pt x="38100" y="591312"/>
                </a:lnTo>
                <a:close/>
              </a:path>
              <a:path w="76200" h="668019">
                <a:moveTo>
                  <a:pt x="44450" y="592590"/>
                </a:moveTo>
                <a:lnTo>
                  <a:pt x="44450" y="629412"/>
                </a:lnTo>
                <a:lnTo>
                  <a:pt x="76200" y="629412"/>
                </a:lnTo>
                <a:lnTo>
                  <a:pt x="73211" y="614564"/>
                </a:lnTo>
                <a:lnTo>
                  <a:pt x="65055" y="602456"/>
                </a:lnTo>
                <a:lnTo>
                  <a:pt x="52947" y="594300"/>
                </a:lnTo>
                <a:lnTo>
                  <a:pt x="44450" y="592590"/>
                </a:lnTo>
                <a:close/>
              </a:path>
              <a:path w="76200" h="668019">
                <a:moveTo>
                  <a:pt x="44450" y="0"/>
                </a:moveTo>
                <a:lnTo>
                  <a:pt x="31750" y="0"/>
                </a:lnTo>
                <a:lnTo>
                  <a:pt x="31750" y="592590"/>
                </a:lnTo>
                <a:lnTo>
                  <a:pt x="38100" y="591312"/>
                </a:lnTo>
                <a:lnTo>
                  <a:pt x="44450" y="591312"/>
                </a:lnTo>
                <a:lnTo>
                  <a:pt x="44450" y="0"/>
                </a:lnTo>
                <a:close/>
              </a:path>
              <a:path w="76200" h="668019">
                <a:moveTo>
                  <a:pt x="44450" y="591312"/>
                </a:moveTo>
                <a:lnTo>
                  <a:pt x="38100" y="591312"/>
                </a:lnTo>
                <a:lnTo>
                  <a:pt x="44450" y="592590"/>
                </a:lnTo>
                <a:lnTo>
                  <a:pt x="44450" y="591312"/>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7" name="object 47"/>
          <p:cNvSpPr/>
          <p:nvPr/>
        </p:nvSpPr>
        <p:spPr>
          <a:xfrm>
            <a:off x="2684908" y="1103388"/>
            <a:ext cx="3565538" cy="944211"/>
          </a:xfrm>
          <a:custGeom>
            <a:avLst/>
            <a:gdLst/>
            <a:ahLst/>
            <a:cxnLst/>
            <a:rect l="l" t="t" r="r" b="b"/>
            <a:pathLst>
              <a:path w="3568065" h="944880">
                <a:moveTo>
                  <a:pt x="0" y="944880"/>
                </a:moveTo>
                <a:lnTo>
                  <a:pt x="3567684" y="944880"/>
                </a:lnTo>
                <a:lnTo>
                  <a:pt x="3567684" y="0"/>
                </a:lnTo>
                <a:lnTo>
                  <a:pt x="0" y="0"/>
                </a:lnTo>
                <a:lnTo>
                  <a:pt x="0" y="94488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8" name="object 48"/>
          <p:cNvSpPr txBox="1"/>
          <p:nvPr/>
        </p:nvSpPr>
        <p:spPr>
          <a:xfrm>
            <a:off x="2792528" y="1241466"/>
            <a:ext cx="3243186" cy="614680"/>
          </a:xfrm>
          <a:prstGeom prst="rect">
            <a:avLst/>
          </a:prstGeom>
        </p:spPr>
        <p:txBody>
          <a:bodyPr vert="horz" wrap="square" lIns="0" tIns="37438" rIns="0" bIns="0" rtlCol="0">
            <a:spAutoFit/>
          </a:bodyPr>
          <a:lstStyle/>
          <a:p>
            <a:pPr marL="204470" marR="5080" indent="-192405">
              <a:lnSpc>
                <a:spcPts val="1510"/>
              </a:lnSpc>
              <a:spcBef>
                <a:spcPts val="295"/>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为大客户团队提供有助</a:t>
            </a:r>
            <a:r>
              <a:rPr sz="1400" spc="-15" dirty="0">
                <a:latin typeface="微软雅黑" panose="020B0503020204020204" charset="-122"/>
                <a:ea typeface="微软雅黑" panose="020B0503020204020204" charset="-122"/>
                <a:cs typeface="微软雅黑" panose="020B0503020204020204" charset="-122"/>
              </a:rPr>
              <a:t>于</a:t>
            </a:r>
            <a:r>
              <a:rPr sz="1400" dirty="0">
                <a:latin typeface="微软雅黑" panose="020B0503020204020204" charset="-122"/>
                <a:ea typeface="微软雅黑" panose="020B0503020204020204" charset="-122"/>
                <a:cs typeface="微软雅黑" panose="020B0503020204020204" charset="-122"/>
              </a:rPr>
              <a:t>增加</a:t>
            </a:r>
            <a:r>
              <a:rPr sz="1400" spc="-15" dirty="0">
                <a:latin typeface="微软雅黑" panose="020B0503020204020204" charset="-122"/>
                <a:ea typeface="微软雅黑" panose="020B0503020204020204" charset="-122"/>
                <a:cs typeface="微软雅黑" panose="020B0503020204020204" charset="-122"/>
              </a:rPr>
              <a:t>价</a:t>
            </a:r>
            <a:r>
              <a:rPr sz="1400" dirty="0">
                <a:latin typeface="微软雅黑" panose="020B0503020204020204" charset="-122"/>
                <a:ea typeface="微软雅黑" panose="020B0503020204020204" charset="-122"/>
                <a:cs typeface="微软雅黑" panose="020B0503020204020204" charset="-122"/>
              </a:rPr>
              <a:t>值的建 设性意见</a:t>
            </a:r>
            <a:endParaRPr sz="1400">
              <a:latin typeface="微软雅黑" panose="020B0503020204020204" charset="-122"/>
              <a:ea typeface="微软雅黑" panose="020B0503020204020204" charset="-122"/>
              <a:cs typeface="微软雅黑" panose="020B0503020204020204" charset="-122"/>
            </a:endParaRPr>
          </a:p>
          <a:p>
            <a:pPr marL="204470" indent="-192405">
              <a:lnSpc>
                <a:spcPts val="1490"/>
              </a:lnSpc>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协调业务运营，监督产</a:t>
            </a:r>
            <a:r>
              <a:rPr sz="1400" spc="-15" dirty="0">
                <a:latin typeface="微软雅黑" panose="020B0503020204020204" charset="-122"/>
                <a:ea typeface="微软雅黑" panose="020B0503020204020204" charset="-122"/>
                <a:cs typeface="微软雅黑" panose="020B0503020204020204" charset="-122"/>
              </a:rPr>
              <a:t>品</a:t>
            </a:r>
            <a:r>
              <a:rPr sz="1400" dirty="0">
                <a:latin typeface="微软雅黑" panose="020B0503020204020204" charset="-122"/>
                <a:ea typeface="微软雅黑" panose="020B0503020204020204" charset="-122"/>
                <a:cs typeface="微软雅黑" panose="020B0503020204020204" charset="-122"/>
              </a:rPr>
              <a:t>交付</a:t>
            </a:r>
            <a:r>
              <a:rPr sz="1400" spc="-15" dirty="0">
                <a:latin typeface="微软雅黑" panose="020B0503020204020204" charset="-122"/>
                <a:ea typeface="微软雅黑" panose="020B0503020204020204" charset="-122"/>
                <a:cs typeface="微软雅黑" panose="020B0503020204020204" charset="-122"/>
              </a:rPr>
              <a:t>事</a:t>
            </a:r>
            <a:r>
              <a:rPr sz="1400" dirty="0">
                <a:latin typeface="微软雅黑" panose="020B0503020204020204" charset="-122"/>
                <a:ea typeface="微软雅黑" panose="020B0503020204020204" charset="-122"/>
                <a:cs typeface="微软雅黑" panose="020B0503020204020204" charset="-122"/>
              </a:rPr>
              <a:t>项</a:t>
            </a:r>
            <a:endParaRPr sz="1400">
              <a:latin typeface="微软雅黑" panose="020B0503020204020204" charset="-122"/>
              <a:ea typeface="微软雅黑" panose="020B0503020204020204" charset="-122"/>
              <a:cs typeface="微软雅黑" panose="020B0503020204020204" charset="-122"/>
            </a:endParaRPr>
          </a:p>
        </p:txBody>
      </p:sp>
      <p:sp>
        <p:nvSpPr>
          <p:cNvPr id="49" name="object 49"/>
          <p:cNvSpPr/>
          <p:nvPr/>
        </p:nvSpPr>
        <p:spPr>
          <a:xfrm>
            <a:off x="5927207" y="5000542"/>
            <a:ext cx="322986" cy="263973"/>
          </a:xfrm>
          <a:custGeom>
            <a:avLst/>
            <a:gdLst/>
            <a:ahLst/>
            <a:cxnLst/>
            <a:rect l="l" t="t" r="r" b="b"/>
            <a:pathLst>
              <a:path w="323214" h="264160">
                <a:moveTo>
                  <a:pt x="323088" y="0"/>
                </a:moveTo>
                <a:lnTo>
                  <a:pt x="0" y="263652"/>
                </a:lnTo>
                <a:lnTo>
                  <a:pt x="323088" y="263652"/>
                </a:lnTo>
                <a:lnTo>
                  <a:pt x="323088"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0" name="object 50"/>
          <p:cNvSpPr txBox="1"/>
          <p:nvPr/>
        </p:nvSpPr>
        <p:spPr>
          <a:xfrm>
            <a:off x="106401" y="6412696"/>
            <a:ext cx="2444288"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40"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a:t>
            </a:r>
            <a:r>
              <a:rPr sz="1000" spc="-35"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市场营销和销售业务部</a:t>
            </a:r>
            <a:endParaRPr sz="1000">
              <a:latin typeface="微软雅黑" panose="020B0503020204020204" charset="-122"/>
              <a:ea typeface="微软雅黑" panose="020B0503020204020204" charset="-122"/>
              <a:cs typeface="微软雅黑" panose="020B0503020204020204" charset="-122"/>
            </a:endParaRPr>
          </a:p>
        </p:txBody>
      </p:sp>
      <p:sp>
        <p:nvSpPr>
          <p:cNvPr id="51" name="object 51"/>
          <p:cNvSpPr/>
          <p:nvPr/>
        </p:nvSpPr>
        <p:spPr>
          <a:xfrm>
            <a:off x="3640796" y="2565138"/>
            <a:ext cx="569192" cy="765268"/>
          </a:xfrm>
          <a:custGeom>
            <a:avLst/>
            <a:gdLst/>
            <a:ahLst/>
            <a:cxnLst/>
            <a:rect l="l" t="t" r="r" b="b"/>
            <a:pathLst>
              <a:path w="569595" h="765810">
                <a:moveTo>
                  <a:pt x="504573" y="702179"/>
                </a:moveTo>
                <a:lnTo>
                  <a:pt x="498774" y="708475"/>
                </a:lnTo>
                <a:lnTo>
                  <a:pt x="493760" y="722201"/>
                </a:lnTo>
                <a:lnTo>
                  <a:pt x="494246" y="736808"/>
                </a:lnTo>
                <a:lnTo>
                  <a:pt x="500507" y="750569"/>
                </a:lnTo>
                <a:lnTo>
                  <a:pt x="511679" y="760791"/>
                </a:lnTo>
                <a:lnTo>
                  <a:pt x="525399" y="765762"/>
                </a:lnTo>
                <a:lnTo>
                  <a:pt x="539976" y="765232"/>
                </a:lnTo>
                <a:lnTo>
                  <a:pt x="553720" y="758951"/>
                </a:lnTo>
                <a:lnTo>
                  <a:pt x="563961" y="747833"/>
                </a:lnTo>
                <a:lnTo>
                  <a:pt x="568975" y="734107"/>
                </a:lnTo>
                <a:lnTo>
                  <a:pt x="568902" y="731901"/>
                </a:lnTo>
                <a:lnTo>
                  <a:pt x="526161" y="731901"/>
                </a:lnTo>
                <a:lnTo>
                  <a:pt x="504573" y="702179"/>
                </a:lnTo>
                <a:close/>
              </a:path>
              <a:path w="569595" h="765810">
                <a:moveTo>
                  <a:pt x="514847" y="694669"/>
                </a:moveTo>
                <a:lnTo>
                  <a:pt x="509015" y="697356"/>
                </a:lnTo>
                <a:lnTo>
                  <a:pt x="504573" y="702179"/>
                </a:lnTo>
                <a:lnTo>
                  <a:pt x="526161" y="731901"/>
                </a:lnTo>
                <a:lnTo>
                  <a:pt x="536448" y="724407"/>
                </a:lnTo>
                <a:lnTo>
                  <a:pt x="514847" y="694669"/>
                </a:lnTo>
                <a:close/>
              </a:path>
              <a:path w="569595" h="765810">
                <a:moveTo>
                  <a:pt x="537337" y="690499"/>
                </a:moveTo>
                <a:lnTo>
                  <a:pt x="522759" y="691022"/>
                </a:lnTo>
                <a:lnTo>
                  <a:pt x="514847" y="694669"/>
                </a:lnTo>
                <a:lnTo>
                  <a:pt x="536448" y="724407"/>
                </a:lnTo>
                <a:lnTo>
                  <a:pt x="526161" y="731901"/>
                </a:lnTo>
                <a:lnTo>
                  <a:pt x="568902" y="731901"/>
                </a:lnTo>
                <a:lnTo>
                  <a:pt x="568489" y="719500"/>
                </a:lnTo>
                <a:lnTo>
                  <a:pt x="562228" y="705738"/>
                </a:lnTo>
                <a:lnTo>
                  <a:pt x="551056" y="695499"/>
                </a:lnTo>
                <a:lnTo>
                  <a:pt x="537337" y="690499"/>
                </a:lnTo>
                <a:close/>
              </a:path>
              <a:path w="569595" h="765810">
                <a:moveTo>
                  <a:pt x="10287" y="0"/>
                </a:moveTo>
                <a:lnTo>
                  <a:pt x="0" y="7492"/>
                </a:lnTo>
                <a:lnTo>
                  <a:pt x="504573" y="702179"/>
                </a:lnTo>
                <a:lnTo>
                  <a:pt x="509015" y="697356"/>
                </a:lnTo>
                <a:lnTo>
                  <a:pt x="514847" y="694669"/>
                </a:lnTo>
                <a:lnTo>
                  <a:pt x="10287"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2" name="object 52"/>
          <p:cNvSpPr/>
          <p:nvPr/>
        </p:nvSpPr>
        <p:spPr>
          <a:xfrm>
            <a:off x="2553938" y="2566915"/>
            <a:ext cx="1099676" cy="0"/>
          </a:xfrm>
          <a:custGeom>
            <a:avLst/>
            <a:gdLst/>
            <a:ahLst/>
            <a:cxnLst/>
            <a:rect l="l" t="t" r="r" b="b"/>
            <a:pathLst>
              <a:path w="1100454">
                <a:moveTo>
                  <a:pt x="0" y="0"/>
                </a:moveTo>
                <a:lnTo>
                  <a:pt x="1100327" y="0"/>
                </a:lnTo>
              </a:path>
            </a:pathLst>
          </a:custGeom>
          <a:ln w="9525">
            <a:solidFill>
              <a:srgbClr val="0066CC"/>
            </a:solidFill>
          </a:ln>
        </p:spPr>
        <p:txBody>
          <a:bodyPr wrap="square" lIns="0" tIns="0" rIns="0" bIns="0" rtlCol="0"/>
          <a:lstStyle/>
          <a:p>
            <a:endParaRPr>
              <a:latin typeface="微软雅黑" panose="020B0503020204020204" charset="-122"/>
              <a:ea typeface="微软雅黑" panose="020B0503020204020204"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0" y="934344"/>
            <a:ext cx="8954774" cy="4749990"/>
          </a:xfrm>
          <a:prstGeom prst="rect">
            <a:avLst/>
          </a:prstGeom>
          <a:blipFill>
            <a:blip r:embed="rId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 name="object 4"/>
          <p:cNvSpPr/>
          <p:nvPr/>
        </p:nvSpPr>
        <p:spPr>
          <a:xfrm>
            <a:off x="647241" y="934344"/>
            <a:ext cx="4184986" cy="4749990"/>
          </a:xfrm>
          <a:prstGeom prst="rect">
            <a:avLst/>
          </a:prstGeom>
          <a:blipFill>
            <a:blip r:embed="rId2"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txBox="1"/>
          <p:nvPr/>
        </p:nvSpPr>
        <p:spPr>
          <a:xfrm>
            <a:off x="5608663" y="2698597"/>
            <a:ext cx="2311032" cy="935355"/>
          </a:xfrm>
          <a:prstGeom prst="rect">
            <a:avLst/>
          </a:prstGeom>
        </p:spPr>
        <p:txBody>
          <a:bodyPr vert="horz" wrap="square" lIns="0" tIns="12691" rIns="0" bIns="0" rtlCol="0">
            <a:spAutoFit/>
          </a:bodyPr>
          <a:lstStyle/>
          <a:p>
            <a:pPr marL="12700">
              <a:lnSpc>
                <a:spcPct val="100000"/>
              </a:lnSpc>
              <a:spcBef>
                <a:spcPts val="100"/>
              </a:spcBef>
            </a:pPr>
            <a:r>
              <a:rPr sz="5995" dirty="0">
                <a:solidFill>
                  <a:srgbClr val="0066CC"/>
                </a:solidFill>
                <a:latin typeface="微软雅黑" panose="020B0503020204020204" charset="-122"/>
                <a:ea typeface="微软雅黑" panose="020B0503020204020204" charset="-122"/>
                <a:cs typeface="微软雅黑" panose="020B0503020204020204" charset="-122"/>
              </a:rPr>
              <a:t>谢谢！</a:t>
            </a:r>
            <a:endParaRPr sz="5995" dirty="0">
              <a:solidFill>
                <a:srgbClr val="0066C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4" name="textbox 1304"/>
          <p:cNvSpPr/>
          <p:nvPr/>
        </p:nvSpPr>
        <p:spPr>
          <a:xfrm>
            <a:off x="8818509" y="1037437"/>
            <a:ext cx="114935" cy="3257550"/>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r>
              <a:rPr sz="600" spc="0" dirty="0">
                <a:solidFill>
                  <a:srgbClr val="808080">
                    <a:alpha val="100000"/>
                  </a:srgbClr>
                </a:solidFill>
                <a:latin typeface="Arial" panose="020B0604020202020204"/>
                <a:ea typeface="Arial" panose="020B0604020202020204"/>
                <a:cs typeface="Arial" panose="020B0604020202020204"/>
              </a:rPr>
              <a:t>                                                       </a:t>
            </a:r>
            <a:endParaRPr lang="en-US" altLang="en-US" sz="600" dirty="0"/>
          </a:p>
        </p:txBody>
      </p:sp>
      <p:pic>
        <p:nvPicPr>
          <p:cNvPr id="1305" name="picture 1305"/>
          <p:cNvPicPr>
            <a:picLocks noChangeAspect="1"/>
          </p:cNvPicPr>
          <p:nvPr/>
        </p:nvPicPr>
        <p:blipFill>
          <a:blip r:embed="rId1"/>
          <a:stretch>
            <a:fillRect/>
          </a:stretch>
        </p:blipFill>
        <p:spPr>
          <a:xfrm rot="21600000">
            <a:off x="-24511" y="0"/>
            <a:ext cx="8958071" cy="6489192"/>
          </a:xfrm>
          <a:prstGeom prst="rect">
            <a:avLst/>
          </a:prstGeom>
        </p:spPr>
      </p:pic>
      <p:pic>
        <p:nvPicPr>
          <p:cNvPr id="1306" name="picture 1306"/>
          <p:cNvPicPr>
            <a:picLocks noChangeAspect="1"/>
          </p:cNvPicPr>
          <p:nvPr/>
        </p:nvPicPr>
        <p:blipFill>
          <a:blip r:embed="rId2"/>
          <a:stretch>
            <a:fillRect/>
          </a:stretch>
        </p:blipFill>
        <p:spPr>
          <a:xfrm rot="21600000">
            <a:off x="0" y="1246632"/>
            <a:ext cx="5000244" cy="1805940"/>
          </a:xfrm>
          <a:prstGeom prst="rect">
            <a:avLst/>
          </a:prstGeom>
        </p:spPr>
      </p:pic>
      <p:pic>
        <p:nvPicPr>
          <p:cNvPr id="1307" name="picture 1307"/>
          <p:cNvPicPr>
            <a:picLocks noChangeAspect="1"/>
          </p:cNvPicPr>
          <p:nvPr/>
        </p:nvPicPr>
        <p:blipFill>
          <a:blip r:embed="rId3"/>
          <a:stretch>
            <a:fillRect/>
          </a:stretch>
        </p:blipFill>
        <p:spPr>
          <a:xfrm rot="21600000">
            <a:off x="0" y="3454908"/>
            <a:ext cx="5000244" cy="1805940"/>
          </a:xfrm>
          <a:prstGeom prst="rect">
            <a:avLst/>
          </a:prstGeom>
        </p:spPr>
      </p:pic>
      <p:pic>
        <p:nvPicPr>
          <p:cNvPr id="1308" name="picture 1308"/>
          <p:cNvPicPr>
            <a:picLocks noChangeAspect="1"/>
          </p:cNvPicPr>
          <p:nvPr/>
        </p:nvPicPr>
        <p:blipFill>
          <a:blip r:embed="rId4"/>
          <a:stretch>
            <a:fillRect/>
          </a:stretch>
        </p:blipFill>
        <p:spPr>
          <a:xfrm rot="21600000">
            <a:off x="5012435" y="2351532"/>
            <a:ext cx="3948683" cy="1804415"/>
          </a:xfrm>
          <a:prstGeom prst="rect">
            <a:avLst/>
          </a:prstGeom>
        </p:spPr>
      </p:pic>
      <p:grpSp>
        <p:nvGrpSpPr>
          <p:cNvPr id="224" name="group 224"/>
          <p:cNvGrpSpPr/>
          <p:nvPr/>
        </p:nvGrpSpPr>
        <p:grpSpPr>
          <a:xfrm rot="21600000">
            <a:off x="4111752" y="2340864"/>
            <a:ext cx="1805939" cy="2197607"/>
            <a:chOff x="0" y="0"/>
            <a:chExt cx="1805939" cy="2197607"/>
          </a:xfrm>
        </p:grpSpPr>
        <p:sp>
          <p:nvSpPr>
            <p:cNvPr id="1309" name="path"/>
            <p:cNvSpPr/>
            <p:nvPr/>
          </p:nvSpPr>
          <p:spPr>
            <a:xfrm>
              <a:off x="0" y="10667"/>
              <a:ext cx="1805939" cy="1804416"/>
            </a:xfrm>
            <a:custGeom>
              <a:avLst/>
              <a:gdLst/>
              <a:ahLst/>
              <a:cxnLst/>
              <a:rect l="0" t="0" r="0" b="0"/>
              <a:pathLst>
                <a:path w="2843" h="2841">
                  <a:moveTo>
                    <a:pt x="0" y="1420"/>
                  </a:moveTo>
                  <a:lnTo>
                    <a:pt x="1421" y="0"/>
                  </a:lnTo>
                  <a:lnTo>
                    <a:pt x="2843" y="1420"/>
                  </a:lnTo>
                  <a:lnTo>
                    <a:pt x="1421" y="2841"/>
                  </a:lnTo>
                  <a:lnTo>
                    <a:pt x="0" y="1420"/>
                  </a:lnTo>
                  <a:close/>
                </a:path>
              </a:pathLst>
            </a:custGeom>
            <a:solidFill>
              <a:srgbClr val="00ADEF">
                <a:alpha val="100000"/>
              </a:srgbClr>
            </a:solidFill>
            <a:ln cap="flat">
              <a:noFill/>
              <a:prstDash val="solid"/>
              <a:miter lim="0"/>
            </a:ln>
          </p:spPr>
          <p:txBody>
            <a:bodyPr rtlCol="0"/>
            <a:lstStyle/>
            <a:p>
              <a:pPr algn="ctr"/>
              <a:endParaRPr lang="zh-CN" altLang="en-US"/>
            </a:p>
          </p:txBody>
        </p:sp>
        <p:sp>
          <p:nvSpPr>
            <p:cNvPr id="1310" name="path"/>
            <p:cNvSpPr/>
            <p:nvPr/>
          </p:nvSpPr>
          <p:spPr>
            <a:xfrm>
              <a:off x="443483" y="551687"/>
              <a:ext cx="917447" cy="722376"/>
            </a:xfrm>
            <a:custGeom>
              <a:avLst/>
              <a:gdLst/>
              <a:ahLst/>
              <a:cxnLst/>
              <a:rect l="0" t="0" r="0" b="0"/>
              <a:pathLst>
                <a:path w="1444" h="1137">
                  <a:moveTo>
                    <a:pt x="177" y="306"/>
                  </a:moveTo>
                  <a:lnTo>
                    <a:pt x="177" y="306"/>
                  </a:lnTo>
                  <a:lnTo>
                    <a:pt x="191" y="341"/>
                  </a:lnTo>
                  <a:lnTo>
                    <a:pt x="206" y="370"/>
                  </a:lnTo>
                  <a:lnTo>
                    <a:pt x="223" y="398"/>
                  </a:lnTo>
                  <a:lnTo>
                    <a:pt x="241" y="421"/>
                  </a:lnTo>
                  <a:lnTo>
                    <a:pt x="264" y="441"/>
                  </a:lnTo>
                  <a:lnTo>
                    <a:pt x="284" y="456"/>
                  </a:lnTo>
                  <a:lnTo>
                    <a:pt x="307" y="465"/>
                  </a:lnTo>
                  <a:lnTo>
                    <a:pt x="330" y="467"/>
                  </a:lnTo>
                  <a:lnTo>
                    <a:pt x="330" y="467"/>
                  </a:lnTo>
                  <a:lnTo>
                    <a:pt x="349" y="465"/>
                  </a:lnTo>
                  <a:lnTo>
                    <a:pt x="372" y="456"/>
                  </a:lnTo>
                  <a:lnTo>
                    <a:pt x="392" y="441"/>
                  </a:lnTo>
                  <a:lnTo>
                    <a:pt x="416" y="421"/>
                  </a:lnTo>
                  <a:lnTo>
                    <a:pt x="433" y="398"/>
                  </a:lnTo>
                  <a:lnTo>
                    <a:pt x="450" y="370"/>
                  </a:lnTo>
                  <a:lnTo>
                    <a:pt x="465" y="341"/>
                  </a:lnTo>
                  <a:lnTo>
                    <a:pt x="479" y="309"/>
                  </a:lnTo>
                  <a:lnTo>
                    <a:pt x="479" y="309"/>
                  </a:lnTo>
                  <a:lnTo>
                    <a:pt x="479" y="309"/>
                  </a:lnTo>
                  <a:lnTo>
                    <a:pt x="479" y="309"/>
                  </a:lnTo>
                  <a:lnTo>
                    <a:pt x="482" y="306"/>
                  </a:lnTo>
                  <a:lnTo>
                    <a:pt x="488" y="303"/>
                  </a:lnTo>
                  <a:lnTo>
                    <a:pt x="494" y="292"/>
                  </a:lnTo>
                  <a:lnTo>
                    <a:pt x="500" y="274"/>
                  </a:lnTo>
                  <a:lnTo>
                    <a:pt x="505" y="257"/>
                  </a:lnTo>
                  <a:lnTo>
                    <a:pt x="508" y="237"/>
                  </a:lnTo>
                  <a:lnTo>
                    <a:pt x="508" y="222"/>
                  </a:lnTo>
                  <a:lnTo>
                    <a:pt x="505" y="210"/>
                  </a:lnTo>
                  <a:lnTo>
                    <a:pt x="502" y="207"/>
                  </a:lnTo>
                  <a:lnTo>
                    <a:pt x="500" y="205"/>
                  </a:lnTo>
                  <a:lnTo>
                    <a:pt x="500" y="205"/>
                  </a:lnTo>
                  <a:lnTo>
                    <a:pt x="497" y="205"/>
                  </a:lnTo>
                  <a:lnTo>
                    <a:pt x="497" y="205"/>
                  </a:lnTo>
                  <a:lnTo>
                    <a:pt x="500" y="196"/>
                  </a:lnTo>
                  <a:lnTo>
                    <a:pt x="500" y="196"/>
                  </a:lnTo>
                  <a:lnTo>
                    <a:pt x="497" y="172"/>
                  </a:lnTo>
                  <a:lnTo>
                    <a:pt x="494" y="151"/>
                  </a:lnTo>
                  <a:lnTo>
                    <a:pt x="491" y="130"/>
                  </a:lnTo>
                  <a:lnTo>
                    <a:pt x="482" y="113"/>
                  </a:lnTo>
                  <a:lnTo>
                    <a:pt x="477" y="95"/>
                  </a:lnTo>
                  <a:lnTo>
                    <a:pt x="468" y="78"/>
                  </a:lnTo>
                  <a:lnTo>
                    <a:pt x="456" y="63"/>
                  </a:lnTo>
                  <a:lnTo>
                    <a:pt x="445" y="52"/>
                  </a:lnTo>
                  <a:lnTo>
                    <a:pt x="433" y="40"/>
                  </a:lnTo>
                  <a:lnTo>
                    <a:pt x="419" y="29"/>
                  </a:lnTo>
                  <a:lnTo>
                    <a:pt x="390" y="14"/>
                  </a:lnTo>
                  <a:lnTo>
                    <a:pt x="358" y="5"/>
                  </a:lnTo>
                  <a:lnTo>
                    <a:pt x="330" y="0"/>
                  </a:lnTo>
                  <a:lnTo>
                    <a:pt x="330" y="0"/>
                  </a:lnTo>
                  <a:lnTo>
                    <a:pt x="298" y="5"/>
                  </a:lnTo>
                  <a:lnTo>
                    <a:pt x="267" y="14"/>
                  </a:lnTo>
                  <a:lnTo>
                    <a:pt x="237" y="29"/>
                  </a:lnTo>
                  <a:lnTo>
                    <a:pt x="223" y="40"/>
                  </a:lnTo>
                  <a:lnTo>
                    <a:pt x="212" y="52"/>
                  </a:lnTo>
                  <a:lnTo>
                    <a:pt x="200" y="63"/>
                  </a:lnTo>
                  <a:lnTo>
                    <a:pt x="191" y="78"/>
                  </a:lnTo>
                  <a:lnTo>
                    <a:pt x="180" y="95"/>
                  </a:lnTo>
                  <a:lnTo>
                    <a:pt x="174" y="113"/>
                  </a:lnTo>
                  <a:lnTo>
                    <a:pt x="165" y="130"/>
                  </a:lnTo>
                  <a:lnTo>
                    <a:pt x="162" y="151"/>
                  </a:lnTo>
                  <a:lnTo>
                    <a:pt x="159" y="172"/>
                  </a:lnTo>
                  <a:lnTo>
                    <a:pt x="157" y="196"/>
                  </a:lnTo>
                  <a:lnTo>
                    <a:pt x="157" y="196"/>
                  </a:lnTo>
                  <a:lnTo>
                    <a:pt x="159" y="205"/>
                  </a:lnTo>
                  <a:lnTo>
                    <a:pt x="159" y="205"/>
                  </a:lnTo>
                  <a:lnTo>
                    <a:pt x="157" y="207"/>
                  </a:lnTo>
                  <a:lnTo>
                    <a:pt x="153" y="210"/>
                  </a:lnTo>
                  <a:lnTo>
                    <a:pt x="151" y="222"/>
                  </a:lnTo>
                  <a:lnTo>
                    <a:pt x="151" y="239"/>
                  </a:lnTo>
                  <a:lnTo>
                    <a:pt x="153" y="257"/>
                  </a:lnTo>
                  <a:lnTo>
                    <a:pt x="157" y="274"/>
                  </a:lnTo>
                  <a:lnTo>
                    <a:pt x="162" y="292"/>
                  </a:lnTo>
                  <a:lnTo>
                    <a:pt x="168" y="300"/>
                  </a:lnTo>
                  <a:lnTo>
                    <a:pt x="177" y="306"/>
                  </a:lnTo>
                  <a:lnTo>
                    <a:pt x="177" y="306"/>
                  </a:lnTo>
                  <a:close/>
                </a:path>
                <a:path w="1444" h="1137">
                  <a:moveTo>
                    <a:pt x="965" y="306"/>
                  </a:moveTo>
                  <a:lnTo>
                    <a:pt x="965" y="306"/>
                  </a:lnTo>
                  <a:lnTo>
                    <a:pt x="980" y="341"/>
                  </a:lnTo>
                  <a:lnTo>
                    <a:pt x="994" y="370"/>
                  </a:lnTo>
                  <a:lnTo>
                    <a:pt x="1012" y="398"/>
                  </a:lnTo>
                  <a:lnTo>
                    <a:pt x="1029" y="421"/>
                  </a:lnTo>
                  <a:lnTo>
                    <a:pt x="1052" y="441"/>
                  </a:lnTo>
                  <a:lnTo>
                    <a:pt x="1072" y="456"/>
                  </a:lnTo>
                  <a:lnTo>
                    <a:pt x="1096" y="465"/>
                  </a:lnTo>
                  <a:lnTo>
                    <a:pt x="1119" y="467"/>
                  </a:lnTo>
                  <a:lnTo>
                    <a:pt x="1119" y="467"/>
                  </a:lnTo>
                  <a:lnTo>
                    <a:pt x="1140" y="465"/>
                  </a:lnTo>
                  <a:lnTo>
                    <a:pt x="1163" y="456"/>
                  </a:lnTo>
                  <a:lnTo>
                    <a:pt x="1182" y="441"/>
                  </a:lnTo>
                  <a:lnTo>
                    <a:pt x="1205" y="421"/>
                  </a:lnTo>
                  <a:lnTo>
                    <a:pt x="1222" y="398"/>
                  </a:lnTo>
                  <a:lnTo>
                    <a:pt x="1240" y="370"/>
                  </a:lnTo>
                  <a:lnTo>
                    <a:pt x="1254" y="341"/>
                  </a:lnTo>
                  <a:lnTo>
                    <a:pt x="1269" y="309"/>
                  </a:lnTo>
                  <a:lnTo>
                    <a:pt x="1269" y="309"/>
                  </a:lnTo>
                  <a:lnTo>
                    <a:pt x="1269" y="309"/>
                  </a:lnTo>
                  <a:lnTo>
                    <a:pt x="1269" y="309"/>
                  </a:lnTo>
                  <a:lnTo>
                    <a:pt x="1272" y="306"/>
                  </a:lnTo>
                  <a:lnTo>
                    <a:pt x="1277" y="303"/>
                  </a:lnTo>
                  <a:lnTo>
                    <a:pt x="1283" y="292"/>
                  </a:lnTo>
                  <a:lnTo>
                    <a:pt x="1289" y="274"/>
                  </a:lnTo>
                  <a:lnTo>
                    <a:pt x="1295" y="257"/>
                  </a:lnTo>
                  <a:lnTo>
                    <a:pt x="1298" y="237"/>
                  </a:lnTo>
                  <a:lnTo>
                    <a:pt x="1298" y="222"/>
                  </a:lnTo>
                  <a:lnTo>
                    <a:pt x="1295" y="210"/>
                  </a:lnTo>
                  <a:lnTo>
                    <a:pt x="1292" y="207"/>
                  </a:lnTo>
                  <a:lnTo>
                    <a:pt x="1289" y="205"/>
                  </a:lnTo>
                  <a:lnTo>
                    <a:pt x="1289" y="205"/>
                  </a:lnTo>
                  <a:lnTo>
                    <a:pt x="1286" y="205"/>
                  </a:lnTo>
                  <a:lnTo>
                    <a:pt x="1286" y="205"/>
                  </a:lnTo>
                  <a:lnTo>
                    <a:pt x="1289" y="196"/>
                  </a:lnTo>
                  <a:lnTo>
                    <a:pt x="1289" y="196"/>
                  </a:lnTo>
                  <a:lnTo>
                    <a:pt x="1286" y="172"/>
                  </a:lnTo>
                  <a:lnTo>
                    <a:pt x="1283" y="151"/>
                  </a:lnTo>
                  <a:lnTo>
                    <a:pt x="1281" y="130"/>
                  </a:lnTo>
                  <a:lnTo>
                    <a:pt x="1272" y="113"/>
                  </a:lnTo>
                  <a:lnTo>
                    <a:pt x="1266" y="95"/>
                  </a:lnTo>
                  <a:lnTo>
                    <a:pt x="1257" y="78"/>
                  </a:lnTo>
                  <a:lnTo>
                    <a:pt x="1245" y="63"/>
                  </a:lnTo>
                  <a:lnTo>
                    <a:pt x="1234" y="52"/>
                  </a:lnTo>
                  <a:lnTo>
                    <a:pt x="1222" y="40"/>
                  </a:lnTo>
                  <a:lnTo>
                    <a:pt x="1208" y="29"/>
                  </a:lnTo>
                  <a:lnTo>
                    <a:pt x="1179" y="14"/>
                  </a:lnTo>
                  <a:lnTo>
                    <a:pt x="1148" y="5"/>
                  </a:lnTo>
                  <a:lnTo>
                    <a:pt x="1119" y="0"/>
                  </a:lnTo>
                  <a:lnTo>
                    <a:pt x="1119" y="0"/>
                  </a:lnTo>
                  <a:lnTo>
                    <a:pt x="1087" y="5"/>
                  </a:lnTo>
                  <a:lnTo>
                    <a:pt x="1055" y="14"/>
                  </a:lnTo>
                  <a:lnTo>
                    <a:pt x="1026" y="29"/>
                  </a:lnTo>
                  <a:lnTo>
                    <a:pt x="1012" y="40"/>
                  </a:lnTo>
                  <a:lnTo>
                    <a:pt x="1000" y="52"/>
                  </a:lnTo>
                  <a:lnTo>
                    <a:pt x="988" y="63"/>
                  </a:lnTo>
                  <a:lnTo>
                    <a:pt x="977" y="78"/>
                  </a:lnTo>
                  <a:lnTo>
                    <a:pt x="968" y="95"/>
                  </a:lnTo>
                  <a:lnTo>
                    <a:pt x="962" y="113"/>
                  </a:lnTo>
                  <a:lnTo>
                    <a:pt x="955" y="130"/>
                  </a:lnTo>
                  <a:lnTo>
                    <a:pt x="952" y="151"/>
                  </a:lnTo>
                  <a:lnTo>
                    <a:pt x="949" y="172"/>
                  </a:lnTo>
                  <a:lnTo>
                    <a:pt x="946" y="196"/>
                  </a:lnTo>
                  <a:lnTo>
                    <a:pt x="946" y="196"/>
                  </a:lnTo>
                  <a:lnTo>
                    <a:pt x="949" y="205"/>
                  </a:lnTo>
                  <a:lnTo>
                    <a:pt x="949" y="205"/>
                  </a:lnTo>
                  <a:lnTo>
                    <a:pt x="943" y="207"/>
                  </a:lnTo>
                  <a:lnTo>
                    <a:pt x="943" y="210"/>
                  </a:lnTo>
                  <a:lnTo>
                    <a:pt x="940" y="222"/>
                  </a:lnTo>
                  <a:lnTo>
                    <a:pt x="940" y="239"/>
                  </a:lnTo>
                  <a:lnTo>
                    <a:pt x="943" y="257"/>
                  </a:lnTo>
                  <a:lnTo>
                    <a:pt x="946" y="274"/>
                  </a:lnTo>
                  <a:lnTo>
                    <a:pt x="952" y="292"/>
                  </a:lnTo>
                  <a:lnTo>
                    <a:pt x="956" y="300"/>
                  </a:lnTo>
                  <a:lnTo>
                    <a:pt x="965" y="306"/>
                  </a:lnTo>
                  <a:lnTo>
                    <a:pt x="965" y="306"/>
                  </a:lnTo>
                  <a:close/>
                </a:path>
                <a:path w="1444" h="1137">
                  <a:moveTo>
                    <a:pt x="1410" y="620"/>
                  </a:moveTo>
                  <a:lnTo>
                    <a:pt x="1410" y="620"/>
                  </a:lnTo>
                  <a:lnTo>
                    <a:pt x="1404" y="626"/>
                  </a:lnTo>
                  <a:lnTo>
                    <a:pt x="1395" y="629"/>
                  </a:lnTo>
                  <a:lnTo>
                    <a:pt x="1381" y="632"/>
                  </a:lnTo>
                  <a:lnTo>
                    <a:pt x="1365" y="629"/>
                  </a:lnTo>
                  <a:lnTo>
                    <a:pt x="1356" y="626"/>
                  </a:lnTo>
                  <a:lnTo>
                    <a:pt x="1350" y="620"/>
                  </a:lnTo>
                  <a:lnTo>
                    <a:pt x="1309" y="581"/>
                  </a:lnTo>
                  <a:lnTo>
                    <a:pt x="1309" y="581"/>
                  </a:lnTo>
                  <a:lnTo>
                    <a:pt x="1303" y="572"/>
                  </a:lnTo>
                  <a:lnTo>
                    <a:pt x="1301" y="567"/>
                  </a:lnTo>
                  <a:lnTo>
                    <a:pt x="1298" y="549"/>
                  </a:lnTo>
                  <a:lnTo>
                    <a:pt x="1301" y="535"/>
                  </a:lnTo>
                  <a:lnTo>
                    <a:pt x="1303" y="526"/>
                  </a:lnTo>
                  <a:lnTo>
                    <a:pt x="1309" y="520"/>
                  </a:lnTo>
                  <a:lnTo>
                    <a:pt x="1338" y="491"/>
                  </a:lnTo>
                  <a:lnTo>
                    <a:pt x="1338" y="491"/>
                  </a:lnTo>
                  <a:lnTo>
                    <a:pt x="1306" y="480"/>
                  </a:lnTo>
                  <a:lnTo>
                    <a:pt x="1269" y="468"/>
                  </a:lnTo>
                  <a:lnTo>
                    <a:pt x="1269" y="468"/>
                  </a:lnTo>
                  <a:lnTo>
                    <a:pt x="1219" y="564"/>
                  </a:lnTo>
                  <a:lnTo>
                    <a:pt x="1190" y="612"/>
                  </a:lnTo>
                  <a:lnTo>
                    <a:pt x="1167" y="647"/>
                  </a:lnTo>
                  <a:lnTo>
                    <a:pt x="1167" y="647"/>
                  </a:lnTo>
                  <a:lnTo>
                    <a:pt x="1167" y="612"/>
                  </a:lnTo>
                  <a:lnTo>
                    <a:pt x="1167" y="612"/>
                  </a:lnTo>
                  <a:lnTo>
                    <a:pt x="1164" y="597"/>
                  </a:lnTo>
                  <a:lnTo>
                    <a:pt x="1160" y="581"/>
                  </a:lnTo>
                  <a:lnTo>
                    <a:pt x="1154" y="567"/>
                  </a:lnTo>
                  <a:lnTo>
                    <a:pt x="1151" y="552"/>
                  </a:lnTo>
                  <a:lnTo>
                    <a:pt x="1151" y="552"/>
                  </a:lnTo>
                  <a:lnTo>
                    <a:pt x="1154" y="543"/>
                  </a:lnTo>
                  <a:lnTo>
                    <a:pt x="1160" y="535"/>
                  </a:lnTo>
                  <a:lnTo>
                    <a:pt x="1164" y="529"/>
                  </a:lnTo>
                  <a:lnTo>
                    <a:pt x="1167" y="517"/>
                  </a:lnTo>
                  <a:lnTo>
                    <a:pt x="1167" y="517"/>
                  </a:lnTo>
                  <a:lnTo>
                    <a:pt x="1167" y="506"/>
                  </a:lnTo>
                  <a:lnTo>
                    <a:pt x="1160" y="500"/>
                  </a:lnTo>
                  <a:lnTo>
                    <a:pt x="1148" y="500"/>
                  </a:lnTo>
                  <a:lnTo>
                    <a:pt x="1131" y="500"/>
                  </a:lnTo>
                  <a:lnTo>
                    <a:pt x="1131" y="500"/>
                  </a:lnTo>
                  <a:lnTo>
                    <a:pt x="1119" y="500"/>
                  </a:lnTo>
                  <a:lnTo>
                    <a:pt x="1119" y="500"/>
                  </a:lnTo>
                  <a:lnTo>
                    <a:pt x="1099" y="500"/>
                  </a:lnTo>
                  <a:lnTo>
                    <a:pt x="1087" y="500"/>
                  </a:lnTo>
                  <a:lnTo>
                    <a:pt x="1081" y="506"/>
                  </a:lnTo>
                  <a:lnTo>
                    <a:pt x="1078" y="517"/>
                  </a:lnTo>
                  <a:lnTo>
                    <a:pt x="1078" y="517"/>
                  </a:lnTo>
                  <a:lnTo>
                    <a:pt x="1081" y="529"/>
                  </a:lnTo>
                  <a:lnTo>
                    <a:pt x="1087" y="535"/>
                  </a:lnTo>
                  <a:lnTo>
                    <a:pt x="1093" y="543"/>
                  </a:lnTo>
                  <a:lnTo>
                    <a:pt x="1096" y="552"/>
                  </a:lnTo>
                  <a:lnTo>
                    <a:pt x="1096" y="552"/>
                  </a:lnTo>
                  <a:lnTo>
                    <a:pt x="1093" y="567"/>
                  </a:lnTo>
                  <a:lnTo>
                    <a:pt x="1087" y="581"/>
                  </a:lnTo>
                  <a:lnTo>
                    <a:pt x="1081" y="597"/>
                  </a:lnTo>
                  <a:lnTo>
                    <a:pt x="1081" y="612"/>
                  </a:lnTo>
                  <a:lnTo>
                    <a:pt x="1081" y="612"/>
                  </a:lnTo>
                  <a:lnTo>
                    <a:pt x="1081" y="647"/>
                  </a:lnTo>
                  <a:lnTo>
                    <a:pt x="1081" y="647"/>
                  </a:lnTo>
                  <a:lnTo>
                    <a:pt x="1064" y="623"/>
                  </a:lnTo>
                  <a:lnTo>
                    <a:pt x="1043" y="591"/>
                  </a:lnTo>
                  <a:lnTo>
                    <a:pt x="1003" y="517"/>
                  </a:lnTo>
                  <a:lnTo>
                    <a:pt x="977" y="465"/>
                  </a:lnTo>
                  <a:lnTo>
                    <a:pt x="479" y="465"/>
                  </a:lnTo>
                  <a:lnTo>
                    <a:pt x="479" y="465"/>
                  </a:lnTo>
                  <a:lnTo>
                    <a:pt x="479" y="468"/>
                  </a:lnTo>
                  <a:lnTo>
                    <a:pt x="479" y="468"/>
                  </a:lnTo>
                  <a:lnTo>
                    <a:pt x="476" y="471"/>
                  </a:lnTo>
                  <a:lnTo>
                    <a:pt x="476" y="471"/>
                  </a:lnTo>
                  <a:lnTo>
                    <a:pt x="429" y="567"/>
                  </a:lnTo>
                  <a:lnTo>
                    <a:pt x="400" y="612"/>
                  </a:lnTo>
                  <a:lnTo>
                    <a:pt x="377" y="647"/>
                  </a:lnTo>
                  <a:lnTo>
                    <a:pt x="377" y="647"/>
                  </a:lnTo>
                  <a:lnTo>
                    <a:pt x="377" y="612"/>
                  </a:lnTo>
                  <a:lnTo>
                    <a:pt x="377" y="612"/>
                  </a:lnTo>
                  <a:lnTo>
                    <a:pt x="374" y="597"/>
                  </a:lnTo>
                  <a:lnTo>
                    <a:pt x="368" y="581"/>
                  </a:lnTo>
                  <a:lnTo>
                    <a:pt x="362" y="567"/>
                  </a:lnTo>
                  <a:lnTo>
                    <a:pt x="360" y="552"/>
                  </a:lnTo>
                  <a:lnTo>
                    <a:pt x="360" y="552"/>
                  </a:lnTo>
                  <a:lnTo>
                    <a:pt x="362" y="543"/>
                  </a:lnTo>
                  <a:lnTo>
                    <a:pt x="368" y="535"/>
                  </a:lnTo>
                  <a:lnTo>
                    <a:pt x="374" y="529"/>
                  </a:lnTo>
                  <a:lnTo>
                    <a:pt x="377" y="517"/>
                  </a:lnTo>
                  <a:lnTo>
                    <a:pt x="377" y="517"/>
                  </a:lnTo>
                  <a:lnTo>
                    <a:pt x="377" y="506"/>
                  </a:lnTo>
                  <a:lnTo>
                    <a:pt x="368" y="500"/>
                  </a:lnTo>
                  <a:lnTo>
                    <a:pt x="357" y="500"/>
                  </a:lnTo>
                  <a:lnTo>
                    <a:pt x="339" y="500"/>
                  </a:lnTo>
                  <a:lnTo>
                    <a:pt x="339" y="500"/>
                  </a:lnTo>
                  <a:lnTo>
                    <a:pt x="329" y="500"/>
                  </a:lnTo>
                  <a:lnTo>
                    <a:pt x="329" y="500"/>
                  </a:lnTo>
                  <a:lnTo>
                    <a:pt x="309" y="500"/>
                  </a:lnTo>
                  <a:lnTo>
                    <a:pt x="297" y="500"/>
                  </a:lnTo>
                  <a:lnTo>
                    <a:pt x="291" y="506"/>
                  </a:lnTo>
                  <a:lnTo>
                    <a:pt x="289" y="517"/>
                  </a:lnTo>
                  <a:lnTo>
                    <a:pt x="289" y="517"/>
                  </a:lnTo>
                  <a:lnTo>
                    <a:pt x="291" y="529"/>
                  </a:lnTo>
                  <a:lnTo>
                    <a:pt x="297" y="535"/>
                  </a:lnTo>
                  <a:lnTo>
                    <a:pt x="303" y="543"/>
                  </a:lnTo>
                  <a:lnTo>
                    <a:pt x="306" y="552"/>
                  </a:lnTo>
                  <a:lnTo>
                    <a:pt x="306" y="552"/>
                  </a:lnTo>
                  <a:lnTo>
                    <a:pt x="303" y="567"/>
                  </a:lnTo>
                  <a:lnTo>
                    <a:pt x="297" y="581"/>
                  </a:lnTo>
                  <a:lnTo>
                    <a:pt x="291" y="597"/>
                  </a:lnTo>
                  <a:lnTo>
                    <a:pt x="291" y="612"/>
                  </a:lnTo>
                  <a:lnTo>
                    <a:pt x="291" y="612"/>
                  </a:lnTo>
                  <a:lnTo>
                    <a:pt x="291" y="647"/>
                  </a:lnTo>
                  <a:lnTo>
                    <a:pt x="291" y="647"/>
                  </a:lnTo>
                  <a:lnTo>
                    <a:pt x="265" y="612"/>
                  </a:lnTo>
                  <a:lnTo>
                    <a:pt x="236" y="561"/>
                  </a:lnTo>
                  <a:lnTo>
                    <a:pt x="187" y="465"/>
                  </a:lnTo>
                  <a:lnTo>
                    <a:pt x="187" y="465"/>
                  </a:lnTo>
                  <a:lnTo>
                    <a:pt x="137" y="480"/>
                  </a:lnTo>
                  <a:lnTo>
                    <a:pt x="98" y="497"/>
                  </a:lnTo>
                  <a:lnTo>
                    <a:pt x="63" y="517"/>
                  </a:lnTo>
                  <a:lnTo>
                    <a:pt x="37" y="535"/>
                  </a:lnTo>
                  <a:lnTo>
                    <a:pt x="20" y="552"/>
                  </a:lnTo>
                  <a:lnTo>
                    <a:pt x="8" y="567"/>
                  </a:lnTo>
                  <a:lnTo>
                    <a:pt x="0" y="581"/>
                  </a:lnTo>
                  <a:lnTo>
                    <a:pt x="0" y="1137"/>
                  </a:lnTo>
                  <a:lnTo>
                    <a:pt x="329" y="1137"/>
                  </a:lnTo>
                  <a:lnTo>
                    <a:pt x="654" y="1137"/>
                  </a:lnTo>
                  <a:lnTo>
                    <a:pt x="654" y="658"/>
                  </a:lnTo>
                  <a:lnTo>
                    <a:pt x="790" y="658"/>
                  </a:lnTo>
                  <a:lnTo>
                    <a:pt x="790" y="1137"/>
                  </a:lnTo>
                  <a:lnTo>
                    <a:pt x="1119" y="1137"/>
                  </a:lnTo>
                  <a:lnTo>
                    <a:pt x="1444" y="1137"/>
                  </a:lnTo>
                  <a:lnTo>
                    <a:pt x="1444" y="585"/>
                  </a:lnTo>
                  <a:lnTo>
                    <a:pt x="1410" y="620"/>
                  </a:lnTo>
                  <a:close/>
                  <a:moveTo>
                    <a:pt x="582" y="757"/>
                  </a:moveTo>
                  <a:lnTo>
                    <a:pt x="432" y="757"/>
                  </a:lnTo>
                  <a:lnTo>
                    <a:pt x="432" y="679"/>
                  </a:lnTo>
                  <a:lnTo>
                    <a:pt x="582" y="679"/>
                  </a:lnTo>
                  <a:lnTo>
                    <a:pt x="582" y="757"/>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1311" name="path"/>
            <p:cNvSpPr/>
            <p:nvPr/>
          </p:nvSpPr>
          <p:spPr>
            <a:xfrm>
              <a:off x="201167" y="1716023"/>
              <a:ext cx="254508" cy="481583"/>
            </a:xfrm>
            <a:custGeom>
              <a:avLst/>
              <a:gdLst/>
              <a:ahLst/>
              <a:cxnLst/>
              <a:rect l="0" t="0" r="0" b="0"/>
              <a:pathLst>
                <a:path w="400" h="758">
                  <a:moveTo>
                    <a:pt x="400" y="400"/>
                  </a:moveTo>
                  <a:lnTo>
                    <a:pt x="400" y="400"/>
                  </a:lnTo>
                  <a:lnTo>
                    <a:pt x="397" y="388"/>
                  </a:lnTo>
                  <a:lnTo>
                    <a:pt x="394" y="376"/>
                  </a:lnTo>
                  <a:lnTo>
                    <a:pt x="388" y="370"/>
                  </a:lnTo>
                  <a:lnTo>
                    <a:pt x="379" y="367"/>
                  </a:lnTo>
                  <a:lnTo>
                    <a:pt x="93" y="373"/>
                  </a:lnTo>
                  <a:lnTo>
                    <a:pt x="93" y="373"/>
                  </a:lnTo>
                  <a:lnTo>
                    <a:pt x="84" y="376"/>
                  </a:lnTo>
                  <a:lnTo>
                    <a:pt x="77" y="382"/>
                  </a:lnTo>
                  <a:lnTo>
                    <a:pt x="74" y="394"/>
                  </a:lnTo>
                  <a:lnTo>
                    <a:pt x="72" y="406"/>
                  </a:lnTo>
                  <a:lnTo>
                    <a:pt x="72" y="406"/>
                  </a:lnTo>
                  <a:lnTo>
                    <a:pt x="72" y="406"/>
                  </a:lnTo>
                  <a:lnTo>
                    <a:pt x="74" y="418"/>
                  </a:lnTo>
                  <a:lnTo>
                    <a:pt x="77" y="430"/>
                  </a:lnTo>
                  <a:lnTo>
                    <a:pt x="84" y="436"/>
                  </a:lnTo>
                  <a:lnTo>
                    <a:pt x="93" y="439"/>
                  </a:lnTo>
                  <a:lnTo>
                    <a:pt x="379" y="433"/>
                  </a:lnTo>
                  <a:lnTo>
                    <a:pt x="379" y="433"/>
                  </a:lnTo>
                  <a:lnTo>
                    <a:pt x="388" y="430"/>
                  </a:lnTo>
                  <a:lnTo>
                    <a:pt x="394" y="424"/>
                  </a:lnTo>
                  <a:lnTo>
                    <a:pt x="397" y="412"/>
                  </a:lnTo>
                  <a:lnTo>
                    <a:pt x="400" y="400"/>
                  </a:lnTo>
                  <a:lnTo>
                    <a:pt x="400" y="400"/>
                  </a:lnTo>
                  <a:close/>
                </a:path>
                <a:path w="400" h="758">
                  <a:moveTo>
                    <a:pt x="330" y="734"/>
                  </a:moveTo>
                  <a:lnTo>
                    <a:pt x="330" y="734"/>
                  </a:lnTo>
                  <a:lnTo>
                    <a:pt x="333" y="722"/>
                  </a:lnTo>
                  <a:lnTo>
                    <a:pt x="333" y="713"/>
                  </a:lnTo>
                  <a:lnTo>
                    <a:pt x="330" y="704"/>
                  </a:lnTo>
                  <a:lnTo>
                    <a:pt x="324" y="698"/>
                  </a:lnTo>
                  <a:lnTo>
                    <a:pt x="60" y="592"/>
                  </a:lnTo>
                  <a:lnTo>
                    <a:pt x="60" y="592"/>
                  </a:lnTo>
                  <a:lnTo>
                    <a:pt x="51" y="592"/>
                  </a:lnTo>
                  <a:lnTo>
                    <a:pt x="42" y="595"/>
                  </a:lnTo>
                  <a:lnTo>
                    <a:pt x="33" y="601"/>
                  </a:lnTo>
                  <a:lnTo>
                    <a:pt x="26" y="613"/>
                  </a:lnTo>
                  <a:lnTo>
                    <a:pt x="26" y="613"/>
                  </a:lnTo>
                  <a:lnTo>
                    <a:pt x="26" y="613"/>
                  </a:lnTo>
                  <a:lnTo>
                    <a:pt x="23" y="626"/>
                  </a:lnTo>
                  <a:lnTo>
                    <a:pt x="23" y="637"/>
                  </a:lnTo>
                  <a:lnTo>
                    <a:pt x="26" y="647"/>
                  </a:lnTo>
                  <a:lnTo>
                    <a:pt x="36" y="652"/>
                  </a:lnTo>
                  <a:lnTo>
                    <a:pt x="300" y="758"/>
                  </a:lnTo>
                  <a:lnTo>
                    <a:pt x="300" y="758"/>
                  </a:lnTo>
                  <a:lnTo>
                    <a:pt x="309" y="758"/>
                  </a:lnTo>
                  <a:lnTo>
                    <a:pt x="318" y="755"/>
                  </a:lnTo>
                  <a:lnTo>
                    <a:pt x="324" y="746"/>
                  </a:lnTo>
                  <a:lnTo>
                    <a:pt x="330" y="734"/>
                  </a:lnTo>
                  <a:lnTo>
                    <a:pt x="330" y="734"/>
                  </a:lnTo>
                  <a:close/>
                </a:path>
                <a:path w="400" h="758">
                  <a:moveTo>
                    <a:pt x="263" y="15"/>
                  </a:moveTo>
                  <a:lnTo>
                    <a:pt x="263" y="15"/>
                  </a:lnTo>
                  <a:lnTo>
                    <a:pt x="272" y="24"/>
                  </a:lnTo>
                  <a:lnTo>
                    <a:pt x="275" y="36"/>
                  </a:lnTo>
                  <a:lnTo>
                    <a:pt x="272" y="45"/>
                  </a:lnTo>
                  <a:lnTo>
                    <a:pt x="270" y="54"/>
                  </a:lnTo>
                  <a:lnTo>
                    <a:pt x="48" y="232"/>
                  </a:lnTo>
                  <a:lnTo>
                    <a:pt x="48" y="232"/>
                  </a:lnTo>
                  <a:lnTo>
                    <a:pt x="39" y="235"/>
                  </a:lnTo>
                  <a:lnTo>
                    <a:pt x="30" y="232"/>
                  </a:lnTo>
                  <a:lnTo>
                    <a:pt x="18" y="229"/>
                  </a:lnTo>
                  <a:lnTo>
                    <a:pt x="8" y="220"/>
                  </a:lnTo>
                  <a:lnTo>
                    <a:pt x="8" y="220"/>
                  </a:lnTo>
                  <a:lnTo>
                    <a:pt x="8" y="220"/>
                  </a:lnTo>
                  <a:lnTo>
                    <a:pt x="2" y="207"/>
                  </a:lnTo>
                  <a:lnTo>
                    <a:pt x="0" y="196"/>
                  </a:lnTo>
                  <a:lnTo>
                    <a:pt x="0" y="187"/>
                  </a:lnTo>
                  <a:lnTo>
                    <a:pt x="5" y="181"/>
                  </a:lnTo>
                  <a:lnTo>
                    <a:pt x="227" y="2"/>
                  </a:lnTo>
                  <a:lnTo>
                    <a:pt x="227" y="2"/>
                  </a:lnTo>
                  <a:lnTo>
                    <a:pt x="236" y="0"/>
                  </a:lnTo>
                  <a:lnTo>
                    <a:pt x="245" y="0"/>
                  </a:lnTo>
                  <a:lnTo>
                    <a:pt x="254" y="6"/>
                  </a:lnTo>
                  <a:lnTo>
                    <a:pt x="263" y="15"/>
                  </a:lnTo>
                  <a:lnTo>
                    <a:pt x="263" y="15"/>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1312" name="path"/>
            <p:cNvSpPr/>
            <p:nvPr/>
          </p:nvSpPr>
          <p:spPr>
            <a:xfrm>
              <a:off x="172211" y="0"/>
              <a:ext cx="187452" cy="181355"/>
            </a:xfrm>
            <a:custGeom>
              <a:avLst/>
              <a:gdLst/>
              <a:ahLst/>
              <a:cxnLst/>
              <a:rect l="0" t="0" r="0" b="0"/>
              <a:pathLst>
                <a:path w="295" h="285">
                  <a:moveTo>
                    <a:pt x="240" y="72"/>
                  </a:moveTo>
                  <a:lnTo>
                    <a:pt x="240" y="72"/>
                  </a:lnTo>
                  <a:lnTo>
                    <a:pt x="198" y="55"/>
                  </a:lnTo>
                  <a:lnTo>
                    <a:pt x="153" y="41"/>
                  </a:lnTo>
                  <a:lnTo>
                    <a:pt x="101" y="24"/>
                  </a:lnTo>
                  <a:lnTo>
                    <a:pt x="44" y="0"/>
                  </a:lnTo>
                  <a:lnTo>
                    <a:pt x="0" y="285"/>
                  </a:lnTo>
                  <a:lnTo>
                    <a:pt x="0" y="285"/>
                  </a:lnTo>
                  <a:lnTo>
                    <a:pt x="88" y="285"/>
                  </a:lnTo>
                  <a:lnTo>
                    <a:pt x="160" y="278"/>
                  </a:lnTo>
                  <a:lnTo>
                    <a:pt x="215" y="268"/>
                  </a:lnTo>
                  <a:lnTo>
                    <a:pt x="257" y="257"/>
                  </a:lnTo>
                  <a:lnTo>
                    <a:pt x="257" y="257"/>
                  </a:lnTo>
                  <a:lnTo>
                    <a:pt x="278" y="233"/>
                  </a:lnTo>
                  <a:lnTo>
                    <a:pt x="295" y="207"/>
                  </a:lnTo>
                  <a:lnTo>
                    <a:pt x="295" y="207"/>
                  </a:lnTo>
                  <a:lnTo>
                    <a:pt x="288" y="169"/>
                  </a:lnTo>
                  <a:lnTo>
                    <a:pt x="281" y="131"/>
                  </a:lnTo>
                  <a:lnTo>
                    <a:pt x="274" y="110"/>
                  </a:lnTo>
                  <a:lnTo>
                    <a:pt x="264" y="93"/>
                  </a:lnTo>
                  <a:lnTo>
                    <a:pt x="253" y="79"/>
                  </a:lnTo>
                  <a:lnTo>
                    <a:pt x="240" y="72"/>
                  </a:lnTo>
                  <a:lnTo>
                    <a:pt x="240" y="72"/>
                  </a:lnTo>
                  <a:close/>
                </a:path>
              </a:pathLst>
            </a:custGeom>
            <a:solidFill>
              <a:srgbClr val="FFFFFF">
                <a:alpha val="100000"/>
              </a:srgbClr>
            </a:solidFill>
            <a:ln cap="flat">
              <a:noFill/>
              <a:prstDash val="solid"/>
              <a:miter lim="0"/>
            </a:ln>
          </p:spPr>
          <p:txBody>
            <a:bodyPr rtlCol="0"/>
            <a:lstStyle/>
            <a:p>
              <a:pPr algn="ctr"/>
              <a:endParaRPr lang="zh-CN" altLang="en-US"/>
            </a:p>
          </p:txBody>
        </p:sp>
      </p:grpSp>
      <p:sp>
        <p:nvSpPr>
          <p:cNvPr id="1313" name="textbox 1313"/>
          <p:cNvSpPr/>
          <p:nvPr/>
        </p:nvSpPr>
        <p:spPr>
          <a:xfrm>
            <a:off x="33641" y="1707117"/>
            <a:ext cx="657225" cy="3328670"/>
          </a:xfrm>
          <a:prstGeom prst="rect">
            <a:avLst/>
          </a:prstGeom>
        </p:spPr>
        <p:txBody>
          <a:bodyPr vert="horz" wrap="square" lIns="0" tIns="0" rIns="0" bIns="0"/>
          <a:lstStyle/>
          <a:p>
            <a:pPr algn="l" rtl="0" eaLnBrk="0">
              <a:lnSpc>
                <a:spcPct val="77000"/>
              </a:lnSpc>
            </a:pPr>
            <a:endParaRPr lang="en-US" altLang="en-US" sz="100" dirty="0">
              <a:latin typeface="微软雅黑" panose="020B0503020204020204" charset="-122"/>
              <a:ea typeface="微软雅黑" panose="020B0503020204020204" charset="-122"/>
            </a:endParaRPr>
          </a:p>
          <a:p>
            <a:pPr marL="62865" algn="l" rtl="0" eaLnBrk="0">
              <a:lnSpc>
                <a:spcPct val="84000"/>
              </a:lnSpc>
            </a:pPr>
            <a:r>
              <a:rPr sz="9000" b="1" spc="-430" dirty="0">
                <a:solidFill>
                  <a:srgbClr val="00ADEF">
                    <a:alpha val="100000"/>
                  </a:srgbClr>
                </a:solidFill>
                <a:latin typeface="微软雅黑" panose="020B0503020204020204" charset="-122"/>
                <a:ea typeface="微软雅黑" panose="020B0503020204020204" charset="-122"/>
                <a:cs typeface="Arial" panose="020B0604020202020204"/>
              </a:rPr>
              <a:t>1</a:t>
            </a:r>
            <a:endParaRPr lang="en-US" altLang="en-US" sz="9000" dirty="0">
              <a:latin typeface="微软雅黑" panose="020B0503020204020204" charset="-122"/>
              <a:ea typeface="微软雅黑" panose="020B0503020204020204" charset="-122"/>
            </a:endParaRPr>
          </a:p>
          <a:p>
            <a:pPr algn="l" rtl="0" eaLnBrk="0">
              <a:lnSpc>
                <a:spcPct val="100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0000"/>
              </a:lnSpc>
            </a:pPr>
            <a:endParaRPr lang="en-US" altLang="en-US" sz="2400" dirty="0">
              <a:latin typeface="微软雅黑" panose="020B0503020204020204" charset="-122"/>
              <a:ea typeface="微软雅黑" panose="020B0503020204020204" charset="-122"/>
            </a:endParaRPr>
          </a:p>
          <a:p>
            <a:pPr algn="l" rtl="0" eaLnBrk="0">
              <a:lnSpc>
                <a:spcPct val="9000"/>
              </a:lnSpc>
            </a:pPr>
            <a:endParaRPr lang="en-US" altLang="en-US" sz="100" dirty="0">
              <a:latin typeface="微软雅黑" panose="020B0503020204020204" charset="-122"/>
              <a:ea typeface="微软雅黑" panose="020B0503020204020204" charset="-122"/>
            </a:endParaRPr>
          </a:p>
          <a:p>
            <a:pPr marL="12700" algn="l" rtl="0" eaLnBrk="0">
              <a:lnSpc>
                <a:spcPct val="80000"/>
              </a:lnSpc>
            </a:pPr>
            <a:r>
              <a:rPr sz="9600" b="1" spc="-370" dirty="0">
                <a:solidFill>
                  <a:srgbClr val="00ADEF">
                    <a:alpha val="100000"/>
                  </a:srgbClr>
                </a:solidFill>
                <a:latin typeface="微软雅黑" panose="020B0503020204020204" charset="-122"/>
                <a:ea typeface="微软雅黑" panose="020B0503020204020204" charset="-122"/>
                <a:cs typeface="Arial" panose="020B0604020202020204"/>
              </a:rPr>
              <a:t>3</a:t>
            </a:r>
            <a:endParaRPr lang="en-US" altLang="en-US" sz="9600" dirty="0">
              <a:latin typeface="微软雅黑" panose="020B0503020204020204" charset="-122"/>
              <a:ea typeface="微软雅黑" panose="020B0503020204020204" charset="-122"/>
            </a:endParaRPr>
          </a:p>
        </p:txBody>
      </p:sp>
      <p:sp>
        <p:nvSpPr>
          <p:cNvPr id="1314" name="textbox 1314"/>
          <p:cNvSpPr/>
          <p:nvPr/>
        </p:nvSpPr>
        <p:spPr>
          <a:xfrm>
            <a:off x="111566" y="248992"/>
            <a:ext cx="4594859" cy="311150"/>
          </a:xfrm>
          <a:prstGeom prst="rect">
            <a:avLst/>
          </a:prstGeom>
        </p:spPr>
        <p:txBody>
          <a:bodyPr vert="horz" wrap="square" lIns="0" tIns="0" rIns="0" bIns="0"/>
          <a:lstStyle/>
          <a:p>
            <a:pPr algn="l" rtl="0" eaLnBrk="0">
              <a:lnSpc>
                <a:spcPct val="78000"/>
              </a:lnSpc>
            </a:pPr>
            <a:endParaRPr lang="en-US" altLang="en-US" sz="100" dirty="0">
              <a:latin typeface="微软雅黑" panose="020B0503020204020204" charset="-122"/>
              <a:ea typeface="微软雅黑" panose="020B0503020204020204" charset="-122"/>
            </a:endParaRPr>
          </a:p>
          <a:p>
            <a:pPr marL="12700" algn="l" rtl="0" eaLnBrk="0">
              <a:lnSpc>
                <a:spcPct val="94000"/>
              </a:lnSpc>
            </a:pPr>
            <a:r>
              <a:rPr sz="2000" spc="-10" dirty="0">
                <a:solidFill>
                  <a:srgbClr val="002960">
                    <a:alpha val="100000"/>
                  </a:srgbClr>
                </a:solidFill>
                <a:latin typeface="微软雅黑" panose="020B0503020204020204" charset="-122"/>
                <a:ea typeface="微软雅黑" panose="020B0503020204020204" charset="-122"/>
                <a:cs typeface="楷体" panose="02010609060101010101" charset="-122"/>
              </a:rPr>
              <a:t>在小组</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讨论环节我们将讨论以下三个话题</a:t>
            </a:r>
            <a:endParaRPr lang="en-US" altLang="en-US" sz="2000" dirty="0">
              <a:latin typeface="微软雅黑" panose="020B0503020204020204" charset="-122"/>
              <a:ea typeface="微软雅黑" panose="020B0503020204020204" charset="-122"/>
            </a:endParaRPr>
          </a:p>
        </p:txBody>
      </p:sp>
      <p:sp>
        <p:nvSpPr>
          <p:cNvPr id="1315" name="textbox 1315"/>
          <p:cNvSpPr/>
          <p:nvPr/>
        </p:nvSpPr>
        <p:spPr>
          <a:xfrm>
            <a:off x="8194936" y="2812272"/>
            <a:ext cx="673100" cy="1195069"/>
          </a:xfrm>
          <a:prstGeom prst="rect">
            <a:avLst/>
          </a:prstGeom>
        </p:spPr>
        <p:txBody>
          <a:bodyPr vert="horz" wrap="square" lIns="0" tIns="0" rIns="0" bIns="0"/>
          <a:lstStyle/>
          <a:p>
            <a:pPr algn="l" rtl="0" eaLnBrk="0">
              <a:lnSpc>
                <a:spcPct val="77000"/>
              </a:lnSpc>
            </a:pPr>
            <a:endParaRPr lang="en-US" altLang="en-US" sz="100" dirty="0">
              <a:latin typeface="微软雅黑" panose="020B0503020204020204" charset="-122"/>
              <a:ea typeface="微软雅黑" panose="020B0503020204020204" charset="-122"/>
            </a:endParaRPr>
          </a:p>
          <a:p>
            <a:pPr marL="12700" algn="l" rtl="0" eaLnBrk="0">
              <a:lnSpc>
                <a:spcPct val="80000"/>
              </a:lnSpc>
            </a:pPr>
            <a:r>
              <a:rPr sz="9600" b="1" spc="-250" dirty="0">
                <a:solidFill>
                  <a:srgbClr val="00ADEF">
                    <a:alpha val="100000"/>
                  </a:srgbClr>
                </a:solidFill>
                <a:latin typeface="微软雅黑" panose="020B0503020204020204" charset="-122"/>
                <a:ea typeface="微软雅黑" panose="020B0503020204020204" charset="-122"/>
                <a:cs typeface="Arial" panose="020B0604020202020204"/>
              </a:rPr>
              <a:t>2</a:t>
            </a:r>
            <a:endParaRPr lang="en-US" altLang="en-US" sz="9600" dirty="0">
              <a:latin typeface="微软雅黑" panose="020B0503020204020204" charset="-122"/>
              <a:ea typeface="微软雅黑" panose="020B0503020204020204" charset="-122"/>
            </a:endParaRPr>
          </a:p>
        </p:txBody>
      </p:sp>
      <p:sp>
        <p:nvSpPr>
          <p:cNvPr id="1316" name="textbox 1316"/>
          <p:cNvSpPr/>
          <p:nvPr/>
        </p:nvSpPr>
        <p:spPr>
          <a:xfrm>
            <a:off x="839978" y="4162018"/>
            <a:ext cx="2066289" cy="288925"/>
          </a:xfrm>
          <a:prstGeom prst="rect">
            <a:avLst/>
          </a:prstGeom>
        </p:spPr>
        <p:txBody>
          <a:bodyPr vert="horz" wrap="square" lIns="0" tIns="0" rIns="0" bIns="0"/>
          <a:lstStyle/>
          <a:p>
            <a:pPr algn="l" rtl="0" eaLnBrk="0">
              <a:lnSpc>
                <a:spcPct val="81000"/>
              </a:lnSpc>
            </a:pPr>
            <a:endParaRPr lang="en-US" altLang="en-US" sz="100" dirty="0">
              <a:latin typeface="微软雅黑" panose="020B0503020204020204" charset="-122"/>
              <a:ea typeface="微软雅黑" panose="020B0503020204020204" charset="-122"/>
            </a:endParaRPr>
          </a:p>
          <a:p>
            <a:pPr marL="12700" algn="l" rtl="0" eaLnBrk="0">
              <a:lnSpc>
                <a:spcPct val="96000"/>
              </a:lnSpc>
            </a:pPr>
            <a:r>
              <a:rPr sz="1800" spc="-20" dirty="0">
                <a:solidFill>
                  <a:srgbClr val="000000">
                    <a:alpha val="100000"/>
                  </a:srgbClr>
                </a:solidFill>
                <a:latin typeface="微软雅黑" panose="020B0503020204020204" charset="-122"/>
                <a:ea typeface="微软雅黑" panose="020B0503020204020204" charset="-122"/>
                <a:cs typeface="楷体" panose="02010609060101010101" charset="-122"/>
              </a:rPr>
              <a:t>组织和机制如</a:t>
            </a:r>
            <a:r>
              <a:rPr sz="1800" spc="0" dirty="0">
                <a:solidFill>
                  <a:srgbClr val="000000">
                    <a:alpha val="100000"/>
                  </a:srgbClr>
                </a:solidFill>
                <a:latin typeface="微软雅黑" panose="020B0503020204020204" charset="-122"/>
                <a:ea typeface="微软雅黑" panose="020B0503020204020204" charset="-122"/>
                <a:cs typeface="楷体" panose="02010609060101010101" charset="-122"/>
              </a:rPr>
              <a:t>何优化</a:t>
            </a:r>
            <a:endParaRPr lang="en-US" altLang="en-US" sz="1800" dirty="0">
              <a:latin typeface="微软雅黑" panose="020B0503020204020204" charset="-122"/>
              <a:ea typeface="微软雅黑" panose="020B0503020204020204" charset="-122"/>
            </a:endParaRPr>
          </a:p>
        </p:txBody>
      </p:sp>
      <p:sp>
        <p:nvSpPr>
          <p:cNvPr id="1317" name="textbox 1317"/>
          <p:cNvSpPr/>
          <p:nvPr/>
        </p:nvSpPr>
        <p:spPr>
          <a:xfrm>
            <a:off x="827633" y="2027529"/>
            <a:ext cx="1621155" cy="287020"/>
          </a:xfrm>
          <a:prstGeom prst="rect">
            <a:avLst/>
          </a:prstGeom>
        </p:spPr>
        <p:txBody>
          <a:bodyPr vert="horz" wrap="square" lIns="0" tIns="0" rIns="0" bIns="0"/>
          <a:lstStyle/>
          <a:p>
            <a:pPr algn="l" rtl="0" eaLnBrk="0">
              <a:lnSpc>
                <a:spcPct val="87000"/>
              </a:lnSpc>
            </a:pPr>
            <a:endParaRPr lang="en-US" altLang="en-US" sz="100" dirty="0">
              <a:latin typeface="微软雅黑" panose="020B0503020204020204" charset="-122"/>
              <a:ea typeface="微软雅黑" panose="020B0503020204020204" charset="-122"/>
            </a:endParaRPr>
          </a:p>
          <a:p>
            <a:pPr marL="12700" algn="l" rtl="0" eaLnBrk="0">
              <a:lnSpc>
                <a:spcPct val="95000"/>
              </a:lnSpc>
            </a:pPr>
            <a:r>
              <a:rPr sz="1800" spc="-10" dirty="0">
                <a:solidFill>
                  <a:srgbClr val="000000">
                    <a:alpha val="100000"/>
                  </a:srgbClr>
                </a:solidFill>
                <a:latin typeface="微软雅黑" panose="020B0503020204020204" charset="-122"/>
                <a:ea typeface="微软雅黑" panose="020B0503020204020204" charset="-122"/>
                <a:cs typeface="楷体" panose="02010609060101010101" charset="-122"/>
              </a:rPr>
              <a:t>客户分类</a:t>
            </a:r>
            <a:r>
              <a:rPr sz="1800" spc="0" dirty="0">
                <a:solidFill>
                  <a:srgbClr val="000000">
                    <a:alpha val="100000"/>
                  </a:srgbClr>
                </a:solidFill>
                <a:latin typeface="微软雅黑" panose="020B0503020204020204" charset="-122"/>
                <a:ea typeface="微软雅黑" panose="020B0503020204020204" charset="-122"/>
                <a:cs typeface="楷体" panose="02010609060101010101" charset="-122"/>
              </a:rPr>
              <a:t>怎么做</a:t>
            </a:r>
            <a:endParaRPr lang="en-US" altLang="en-US" sz="1800" dirty="0">
              <a:latin typeface="微软雅黑" panose="020B0503020204020204" charset="-122"/>
              <a:ea typeface="微软雅黑" panose="020B0503020204020204" charset="-122"/>
            </a:endParaRPr>
          </a:p>
        </p:txBody>
      </p:sp>
      <p:sp>
        <p:nvSpPr>
          <p:cNvPr id="1318" name="textbox 1318"/>
          <p:cNvSpPr/>
          <p:nvPr/>
        </p:nvSpPr>
        <p:spPr>
          <a:xfrm>
            <a:off x="6193256" y="3132429"/>
            <a:ext cx="1598294" cy="287020"/>
          </a:xfrm>
          <a:prstGeom prst="rect">
            <a:avLst/>
          </a:prstGeom>
        </p:spPr>
        <p:txBody>
          <a:bodyPr vert="horz" wrap="square" lIns="0" tIns="0" rIns="0" bIns="0"/>
          <a:lstStyle/>
          <a:p>
            <a:pPr algn="l" rtl="0" eaLnBrk="0">
              <a:lnSpc>
                <a:spcPct val="87000"/>
              </a:lnSpc>
            </a:pPr>
            <a:endParaRPr lang="en-US" altLang="en-US" sz="100" dirty="0">
              <a:latin typeface="微软雅黑" panose="020B0503020204020204" charset="-122"/>
              <a:ea typeface="微软雅黑" panose="020B0503020204020204" charset="-122"/>
            </a:endParaRPr>
          </a:p>
          <a:p>
            <a:pPr marL="12700" algn="l" rtl="0" eaLnBrk="0">
              <a:lnSpc>
                <a:spcPct val="95000"/>
              </a:lnSpc>
            </a:pPr>
            <a:r>
              <a:rPr sz="1800" spc="-40" dirty="0">
                <a:solidFill>
                  <a:srgbClr val="000000">
                    <a:alpha val="100000"/>
                  </a:srgbClr>
                </a:solidFill>
                <a:latin typeface="微软雅黑" panose="020B0503020204020204" charset="-122"/>
                <a:ea typeface="微软雅黑" panose="020B0503020204020204" charset="-122"/>
                <a:cs typeface="楷体" panose="02010609060101010101" charset="-122"/>
              </a:rPr>
              <a:t>大客户如何</a:t>
            </a:r>
            <a:r>
              <a:rPr sz="1800" spc="-20" dirty="0">
                <a:solidFill>
                  <a:srgbClr val="000000">
                    <a:alpha val="100000"/>
                  </a:srgbClr>
                </a:solidFill>
                <a:latin typeface="微软雅黑" panose="020B0503020204020204" charset="-122"/>
                <a:ea typeface="微软雅黑" panose="020B0503020204020204" charset="-122"/>
                <a:cs typeface="楷体" panose="02010609060101010101" charset="-122"/>
              </a:rPr>
              <a:t>突</a:t>
            </a:r>
            <a:r>
              <a:rPr sz="1800" spc="0" dirty="0">
                <a:solidFill>
                  <a:srgbClr val="000000">
                    <a:alpha val="100000"/>
                  </a:srgbClr>
                </a:solidFill>
                <a:latin typeface="微软雅黑" panose="020B0503020204020204" charset="-122"/>
                <a:ea typeface="微软雅黑" panose="020B0503020204020204" charset="-122"/>
                <a:cs typeface="楷体" panose="02010609060101010101" charset="-122"/>
              </a:rPr>
              <a:t>破</a:t>
            </a:r>
            <a:endParaRPr lang="en-US" altLang="en-US" sz="1800" dirty="0">
              <a:latin typeface="微软雅黑" panose="020B0503020204020204" charset="-122"/>
              <a:ea typeface="微软雅黑" panose="020B0503020204020204"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 name="textbox 1320"/>
          <p:cNvSpPr/>
          <p:nvPr/>
        </p:nvSpPr>
        <p:spPr>
          <a:xfrm>
            <a:off x="8818509" y="1037437"/>
            <a:ext cx="114935" cy="3257550"/>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r>
              <a:rPr sz="600" spc="0" dirty="0">
                <a:solidFill>
                  <a:srgbClr val="808080">
                    <a:alpha val="100000"/>
                  </a:srgbClr>
                </a:solidFill>
                <a:latin typeface="Arial" panose="020B0604020202020204"/>
                <a:ea typeface="Arial" panose="020B0604020202020204"/>
                <a:cs typeface="Arial" panose="020B0604020202020204"/>
              </a:rPr>
              <a:t>                                                       </a:t>
            </a:r>
            <a:endParaRPr lang="en-US" altLang="en-US" sz="600" dirty="0"/>
          </a:p>
        </p:txBody>
      </p:sp>
      <p:pic>
        <p:nvPicPr>
          <p:cNvPr id="1321" name="picture 1321"/>
          <p:cNvPicPr>
            <a:picLocks noChangeAspect="1"/>
          </p:cNvPicPr>
          <p:nvPr/>
        </p:nvPicPr>
        <p:blipFill>
          <a:blip r:embed="rId1"/>
          <a:stretch>
            <a:fillRect/>
          </a:stretch>
        </p:blipFill>
        <p:spPr>
          <a:xfrm rot="21600000">
            <a:off x="0" y="1755648"/>
            <a:ext cx="8961119" cy="4171188"/>
          </a:xfrm>
          <a:prstGeom prst="rect">
            <a:avLst/>
          </a:prstGeom>
        </p:spPr>
      </p:pic>
      <p:sp>
        <p:nvSpPr>
          <p:cNvPr id="1322" name="textbox 1322"/>
          <p:cNvSpPr/>
          <p:nvPr/>
        </p:nvSpPr>
        <p:spPr>
          <a:xfrm>
            <a:off x="873262" y="2634052"/>
            <a:ext cx="3326129" cy="2888614"/>
          </a:xfrm>
          <a:prstGeom prst="rect">
            <a:avLst/>
          </a:prstGeom>
        </p:spPr>
        <p:txBody>
          <a:bodyPr vert="horz" wrap="square" lIns="0" tIns="0" rIns="0" bIns="0"/>
          <a:lstStyle/>
          <a:p>
            <a:pPr algn="l" rtl="0" eaLnBrk="0">
              <a:lnSpc>
                <a:spcPct val="72000"/>
              </a:lnSpc>
            </a:pPr>
            <a:endParaRPr lang="en-US" altLang="en-US" sz="100" dirty="0">
              <a:latin typeface="微软雅黑" panose="020B0503020204020204" charset="-122"/>
              <a:ea typeface="微软雅黑" panose="020B0503020204020204" charset="-122"/>
            </a:endParaRPr>
          </a:p>
          <a:p>
            <a:pPr marL="27305" indent="-14605" algn="l" rtl="0" eaLnBrk="0">
              <a:lnSpc>
                <a:spcPct val="95000"/>
              </a:lnSpc>
            </a:pPr>
            <a:r>
              <a:rPr sz="2000" spc="-10" dirty="0">
                <a:solidFill>
                  <a:srgbClr val="000000">
                    <a:alpha val="100000"/>
                  </a:srgbClr>
                </a:solidFill>
                <a:latin typeface="微软雅黑" panose="020B0503020204020204" charset="-122"/>
                <a:ea typeface="微软雅黑" panose="020B0503020204020204" charset="-122"/>
                <a:cs typeface="楷体" panose="02010609060101010101" charset="-122"/>
              </a:rPr>
              <a:t>如何对客</a:t>
            </a:r>
            <a:r>
              <a:rPr sz="2000" spc="0" dirty="0">
                <a:solidFill>
                  <a:srgbClr val="000000">
                    <a:alpha val="100000"/>
                  </a:srgbClr>
                </a:solidFill>
                <a:latin typeface="微软雅黑" panose="020B0503020204020204" charset="-122"/>
                <a:ea typeface="微软雅黑" panose="020B0503020204020204" charset="-122"/>
                <a:cs typeface="楷体" panose="02010609060101010101" charset="-122"/>
              </a:rPr>
              <a:t>户进行有效的分类， </a:t>
            </a:r>
            <a:r>
              <a:rPr sz="2000" spc="-60" dirty="0">
                <a:solidFill>
                  <a:srgbClr val="000000">
                    <a:alpha val="100000"/>
                  </a:srgbClr>
                </a:solidFill>
                <a:latin typeface="微软雅黑" panose="020B0503020204020204" charset="-122"/>
                <a:ea typeface="微软雅黑" panose="020B0503020204020204" charset="-122"/>
                <a:cs typeface="楷体" panose="02010609060101010101" charset="-122"/>
              </a:rPr>
              <a:t>可以更好的指导资源分</a:t>
            </a:r>
            <a:r>
              <a:rPr sz="2000" spc="-10" dirty="0">
                <a:solidFill>
                  <a:srgbClr val="000000">
                    <a:alpha val="100000"/>
                  </a:srgbClr>
                </a:solidFill>
                <a:latin typeface="微软雅黑" panose="020B0503020204020204" charset="-122"/>
                <a:ea typeface="微软雅黑" panose="020B0503020204020204" charset="-122"/>
                <a:cs typeface="楷体" panose="02010609060101010101" charset="-122"/>
              </a:rPr>
              <a:t>配</a:t>
            </a:r>
            <a:r>
              <a:rPr sz="2000" spc="0" dirty="0">
                <a:solidFill>
                  <a:srgbClr val="000000">
                    <a:alpha val="100000"/>
                  </a:srgbClr>
                </a:solidFill>
                <a:latin typeface="微软雅黑" panose="020B0503020204020204" charset="-122"/>
                <a:ea typeface="微软雅黑" panose="020B0503020204020204" charset="-122"/>
                <a:cs typeface="楷体" panose="02010609060101010101" charset="-122"/>
              </a:rPr>
              <a:t>？</a:t>
            </a:r>
            <a:endParaRPr lang="en-US" altLang="en-US" sz="2000" dirty="0">
              <a:latin typeface="微软雅黑" panose="020B0503020204020204" charset="-122"/>
              <a:ea typeface="微软雅黑" panose="020B0503020204020204" charset="-122"/>
            </a:endParaRPr>
          </a:p>
          <a:p>
            <a:pPr algn="l" rtl="0" eaLnBrk="0">
              <a:lnSpc>
                <a:spcPct val="197000"/>
              </a:lnSpc>
            </a:pPr>
            <a:endParaRPr lang="en-US" altLang="en-US" sz="1000" dirty="0">
              <a:latin typeface="微软雅黑" panose="020B0503020204020204" charset="-122"/>
              <a:ea typeface="微软雅黑" panose="020B0503020204020204" charset="-122"/>
            </a:endParaRPr>
          </a:p>
          <a:p>
            <a:pPr marL="28575" indent="-15875" algn="l" rtl="0" eaLnBrk="0">
              <a:lnSpc>
                <a:spcPct val="100000"/>
              </a:lnSpc>
              <a:spcBef>
                <a:spcPts val="600"/>
              </a:spcBef>
            </a:pPr>
            <a:r>
              <a:rPr sz="2000" spc="-10" dirty="0">
                <a:solidFill>
                  <a:srgbClr val="000000">
                    <a:alpha val="100000"/>
                  </a:srgbClr>
                </a:solidFill>
                <a:latin typeface="微软雅黑" panose="020B0503020204020204" charset="-122"/>
                <a:ea typeface="微软雅黑" panose="020B0503020204020204" charset="-122"/>
                <a:cs typeface="楷体" panose="02010609060101010101" charset="-122"/>
              </a:rPr>
              <a:t>如</a:t>
            </a:r>
            <a:r>
              <a:rPr sz="2000" spc="0" dirty="0">
                <a:solidFill>
                  <a:srgbClr val="000000">
                    <a:alpha val="100000"/>
                  </a:srgbClr>
                </a:solidFill>
                <a:latin typeface="微软雅黑" panose="020B0503020204020204" charset="-122"/>
                <a:ea typeface="微软雅黑" panose="020B0503020204020204" charset="-122"/>
                <a:cs typeface="楷体" panose="02010609060101010101" charset="-122"/>
              </a:rPr>
              <a:t>何针对每类客户的实际需  </a:t>
            </a:r>
            <a:r>
              <a:rPr sz="2000" spc="-20" dirty="0">
                <a:solidFill>
                  <a:srgbClr val="000000">
                    <a:alpha val="100000"/>
                  </a:srgbClr>
                </a:solidFill>
                <a:latin typeface="微软雅黑" panose="020B0503020204020204" charset="-122"/>
                <a:ea typeface="微软雅黑" panose="020B0503020204020204" charset="-122"/>
                <a:cs typeface="楷体" panose="02010609060101010101" charset="-122"/>
              </a:rPr>
              <a:t>求、业务增长潜</a:t>
            </a:r>
            <a:r>
              <a:rPr sz="2000" spc="0" dirty="0">
                <a:solidFill>
                  <a:srgbClr val="000000">
                    <a:alpha val="100000"/>
                  </a:srgbClr>
                </a:solidFill>
                <a:latin typeface="微软雅黑" panose="020B0503020204020204" charset="-122"/>
                <a:ea typeface="微软雅黑" panose="020B0503020204020204" charset="-122"/>
                <a:cs typeface="楷体" panose="02010609060101010101" charset="-122"/>
              </a:rPr>
              <a:t>力和面对的竞 </a:t>
            </a:r>
            <a:r>
              <a:rPr sz="2000" spc="-60" dirty="0">
                <a:solidFill>
                  <a:srgbClr val="000000">
                    <a:alpha val="100000"/>
                  </a:srgbClr>
                </a:solidFill>
                <a:latin typeface="微软雅黑" panose="020B0503020204020204" charset="-122"/>
                <a:ea typeface="微软雅黑" panose="020B0503020204020204" charset="-122"/>
                <a:cs typeface="楷体" panose="02010609060101010101" charset="-122"/>
              </a:rPr>
              <a:t>争挑战，形成固定的打</a:t>
            </a:r>
            <a:r>
              <a:rPr sz="2000" spc="-20" dirty="0">
                <a:solidFill>
                  <a:srgbClr val="000000">
                    <a:alpha val="100000"/>
                  </a:srgbClr>
                </a:solidFill>
                <a:latin typeface="微软雅黑" panose="020B0503020204020204" charset="-122"/>
                <a:ea typeface="微软雅黑" panose="020B0503020204020204" charset="-122"/>
                <a:cs typeface="楷体" panose="02010609060101010101" charset="-122"/>
              </a:rPr>
              <a:t>法</a:t>
            </a:r>
            <a:r>
              <a:rPr sz="2000" spc="0" dirty="0">
                <a:solidFill>
                  <a:srgbClr val="000000">
                    <a:alpha val="100000"/>
                  </a:srgbClr>
                </a:solidFill>
                <a:latin typeface="微软雅黑" panose="020B0503020204020204" charset="-122"/>
                <a:ea typeface="微软雅黑" panose="020B0503020204020204" charset="-122"/>
                <a:cs typeface="楷体" panose="02010609060101010101" charset="-122"/>
              </a:rPr>
              <a:t>？</a:t>
            </a:r>
            <a:endParaRPr lang="en-US" altLang="en-US" sz="2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500" dirty="0">
              <a:latin typeface="微软雅黑" panose="020B0503020204020204" charset="-122"/>
              <a:ea typeface="微软雅黑" panose="020B0503020204020204" charset="-122"/>
            </a:endParaRPr>
          </a:p>
          <a:p>
            <a:pPr marL="15240" indent="-2540" algn="l" rtl="0" eaLnBrk="0">
              <a:lnSpc>
                <a:spcPct val="100000"/>
              </a:lnSpc>
              <a:spcBef>
                <a:spcPts val="5"/>
              </a:spcBef>
            </a:pPr>
            <a:r>
              <a:rPr sz="2000" spc="-10" dirty="0">
                <a:solidFill>
                  <a:srgbClr val="000000">
                    <a:alpha val="100000"/>
                  </a:srgbClr>
                </a:solidFill>
                <a:latin typeface="微软雅黑" panose="020B0503020204020204" charset="-122"/>
                <a:ea typeface="微软雅黑" panose="020B0503020204020204" charset="-122"/>
                <a:cs typeface="楷体" panose="02010609060101010101" charset="-122"/>
              </a:rPr>
              <a:t>如何</a:t>
            </a:r>
            <a:r>
              <a:rPr sz="2000" spc="0" dirty="0">
                <a:solidFill>
                  <a:srgbClr val="000000">
                    <a:alpha val="100000"/>
                  </a:srgbClr>
                </a:solidFill>
                <a:latin typeface="微软雅黑" panose="020B0503020204020204" charset="-122"/>
                <a:ea typeface="微软雅黑" panose="020B0503020204020204" charset="-122"/>
                <a:cs typeface="楷体" panose="02010609060101010101" charset="-122"/>
              </a:rPr>
              <a:t>调整相应的管理体系以保 </a:t>
            </a:r>
            <a:r>
              <a:rPr sz="2000" spc="-10" dirty="0">
                <a:solidFill>
                  <a:srgbClr val="000000">
                    <a:alpha val="100000"/>
                  </a:srgbClr>
                </a:solidFill>
                <a:latin typeface="微软雅黑" panose="020B0503020204020204" charset="-122"/>
                <a:ea typeface="微软雅黑" panose="020B0503020204020204" charset="-122"/>
                <a:cs typeface="楷体" panose="02010609060101010101" charset="-122"/>
              </a:rPr>
              <a:t>证客户分</a:t>
            </a:r>
            <a:r>
              <a:rPr sz="2000" spc="0" dirty="0">
                <a:solidFill>
                  <a:srgbClr val="000000">
                    <a:alpha val="100000"/>
                  </a:srgbClr>
                </a:solidFill>
                <a:latin typeface="微软雅黑" panose="020B0503020204020204" charset="-122"/>
                <a:ea typeface="微软雅黑" panose="020B0503020204020204" charset="-122"/>
                <a:cs typeface="楷体" panose="02010609060101010101" charset="-122"/>
              </a:rPr>
              <a:t>类管理的优化和落地</a:t>
            </a:r>
            <a:endParaRPr lang="en-US" altLang="en-US" sz="2000" dirty="0">
              <a:latin typeface="微软雅黑" panose="020B0503020204020204" charset="-122"/>
              <a:ea typeface="微软雅黑" panose="020B0503020204020204" charset="-122"/>
            </a:endParaRPr>
          </a:p>
        </p:txBody>
      </p:sp>
      <p:sp>
        <p:nvSpPr>
          <p:cNvPr id="1323" name="textbox 1323"/>
          <p:cNvSpPr/>
          <p:nvPr/>
        </p:nvSpPr>
        <p:spPr>
          <a:xfrm>
            <a:off x="448876" y="569032"/>
            <a:ext cx="7897494" cy="614044"/>
          </a:xfrm>
          <a:prstGeom prst="rect">
            <a:avLst/>
          </a:prstGeom>
        </p:spPr>
        <p:txBody>
          <a:bodyPr vert="horz" wrap="square" lIns="0" tIns="0" rIns="0" bIns="0"/>
          <a:lstStyle/>
          <a:p>
            <a:pPr algn="l" rtl="0" eaLnBrk="0">
              <a:lnSpc>
                <a:spcPct val="65000"/>
              </a:lnSpc>
            </a:pPr>
            <a:endParaRPr lang="en-US" altLang="en-US" sz="100" dirty="0">
              <a:latin typeface="微软雅黑" panose="020B0503020204020204" charset="-122"/>
              <a:ea typeface="微软雅黑" panose="020B0503020204020204" charset="-122"/>
            </a:endParaRPr>
          </a:p>
          <a:p>
            <a:pPr marL="12700" indent="1270" algn="l" rtl="0" eaLnBrk="0">
              <a:lnSpc>
                <a:spcPct val="97000"/>
              </a:lnSpc>
            </a:pPr>
            <a:r>
              <a:rPr sz="2000" spc="-10" dirty="0">
                <a:solidFill>
                  <a:srgbClr val="002960">
                    <a:alpha val="100000"/>
                  </a:srgbClr>
                </a:solidFill>
                <a:latin typeface="微软雅黑" panose="020B0503020204020204" charset="-122"/>
                <a:ea typeface="微软雅黑" panose="020B0503020204020204" charset="-122"/>
                <a:cs typeface="楷体" panose="02010609060101010101" charset="-122"/>
              </a:rPr>
              <a:t>客户分</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类管理要基于业务特点，对客户进行有效分类并配套相应的管理 </a:t>
            </a:r>
            <a:r>
              <a:rPr sz="2000" spc="-10" dirty="0">
                <a:solidFill>
                  <a:srgbClr val="002960">
                    <a:alpha val="100000"/>
                  </a:srgbClr>
                </a:solidFill>
                <a:latin typeface="微软雅黑" panose="020B0503020204020204" charset="-122"/>
                <a:ea typeface="微软雅黑" panose="020B0503020204020204" charset="-122"/>
                <a:cs typeface="楷体" panose="02010609060101010101" charset="-122"/>
              </a:rPr>
              <a:t>体系</a:t>
            </a:r>
            <a:endParaRPr lang="en-US" altLang="en-US" sz="2000" dirty="0">
              <a:latin typeface="微软雅黑" panose="020B0503020204020204" charset="-122"/>
              <a:ea typeface="微软雅黑" panose="020B0503020204020204" charset="-122"/>
            </a:endParaRPr>
          </a:p>
        </p:txBody>
      </p:sp>
      <p:sp>
        <p:nvSpPr>
          <p:cNvPr id="1324" name="rect"/>
          <p:cNvSpPr/>
          <p:nvPr/>
        </p:nvSpPr>
        <p:spPr>
          <a:xfrm>
            <a:off x="761" y="1726691"/>
            <a:ext cx="8960357" cy="38100"/>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1325" name="path"/>
          <p:cNvSpPr/>
          <p:nvPr/>
        </p:nvSpPr>
        <p:spPr>
          <a:xfrm>
            <a:off x="0" y="1280160"/>
            <a:ext cx="4599432" cy="457200"/>
          </a:xfrm>
          <a:custGeom>
            <a:avLst/>
            <a:gdLst/>
            <a:ahLst/>
            <a:cxnLst/>
            <a:rect l="0" t="0" r="0" b="0"/>
            <a:pathLst>
              <a:path w="7243" h="720">
                <a:moveTo>
                  <a:pt x="519" y="0"/>
                </a:moveTo>
                <a:moveTo>
                  <a:pt x="519" y="0"/>
                </a:moveTo>
                <a:lnTo>
                  <a:pt x="6911" y="0"/>
                </a:lnTo>
                <a:cubicBezTo>
                  <a:pt x="7094" y="0"/>
                  <a:pt x="7243" y="148"/>
                  <a:pt x="7243" y="331"/>
                </a:cubicBezTo>
                <a:lnTo>
                  <a:pt x="7243" y="720"/>
                </a:lnTo>
                <a:lnTo>
                  <a:pt x="187" y="720"/>
                </a:lnTo>
                <a:lnTo>
                  <a:pt x="187" y="331"/>
                </a:lnTo>
                <a:cubicBezTo>
                  <a:pt x="187" y="148"/>
                  <a:pt x="335" y="0"/>
                  <a:pt x="519" y="0"/>
                </a:cubicBezTo>
              </a:path>
              <a:path w="7243" h="720">
                <a:moveTo>
                  <a:pt x="0" y="720"/>
                </a:moveTo>
                <a:lnTo>
                  <a:pt x="1245" y="720"/>
                </a:lnTo>
                <a:lnTo>
                  <a:pt x="1245" y="0"/>
                </a:lnTo>
                <a:lnTo>
                  <a:pt x="0" y="0"/>
                </a:lnTo>
                <a:lnTo>
                  <a:pt x="0" y="720"/>
                </a:lnTo>
                <a:close/>
              </a:path>
            </a:pathLst>
          </a:custGeom>
          <a:solidFill>
            <a:srgbClr val="0065BD">
              <a:alpha val="100000"/>
            </a:srgbClr>
          </a:solidFill>
          <a:ln cap="flat">
            <a:noFill/>
            <a:prstDash val="solid"/>
            <a:miter lim="0"/>
          </a:ln>
        </p:spPr>
        <p:txBody>
          <a:bodyPr rtlCol="0"/>
          <a:lstStyle/>
          <a:p>
            <a:pPr algn="ctr"/>
            <a:endParaRPr lang="zh-CN" altLang="en-US"/>
          </a:p>
        </p:txBody>
      </p:sp>
      <p:sp>
        <p:nvSpPr>
          <p:cNvPr id="1326" name="textbox 1326"/>
          <p:cNvSpPr/>
          <p:nvPr/>
        </p:nvSpPr>
        <p:spPr>
          <a:xfrm>
            <a:off x="388020" y="1370655"/>
            <a:ext cx="3339465" cy="309245"/>
          </a:xfrm>
          <a:prstGeom prst="rect">
            <a:avLst/>
          </a:prstGeom>
        </p:spPr>
        <p:txBody>
          <a:bodyPr vert="horz" wrap="square" lIns="0" tIns="0" rIns="0" bIns="0"/>
          <a:lstStyle/>
          <a:p>
            <a:pPr algn="l" rtl="0" eaLnBrk="0">
              <a:lnSpc>
                <a:spcPct val="85000"/>
              </a:lnSpc>
            </a:pPr>
            <a:endParaRPr lang="en-US" altLang="en-US" sz="100" dirty="0">
              <a:latin typeface="微软雅黑" panose="020B0503020204020204" charset="-122"/>
              <a:ea typeface="微软雅黑" panose="020B0503020204020204" charset="-122"/>
            </a:endParaRPr>
          </a:p>
          <a:p>
            <a:pPr marL="12700" algn="l" rtl="0" eaLnBrk="0">
              <a:lnSpc>
                <a:spcPct val="93000"/>
              </a:lnSpc>
            </a:pPr>
            <a:r>
              <a:rPr sz="2000" spc="10" dirty="0">
                <a:ln w="7271" cap="flat" cmpd="sng">
                  <a:solidFill>
                    <a:srgbClr val="FFFFFF">
                      <a:alpha val="100000"/>
                    </a:srgbClr>
                  </a:solidFill>
                  <a:prstDash val="solid"/>
                  <a:miter lim="10"/>
                </a:ln>
                <a:solidFill>
                  <a:srgbClr val="FFFFFF">
                    <a:alpha val="100000"/>
                  </a:srgbClr>
                </a:solidFill>
                <a:latin typeface="微软雅黑" panose="020B0503020204020204" charset="-122"/>
                <a:ea typeface="微软雅黑" panose="020B0503020204020204" charset="-122"/>
                <a:cs typeface="楷体" panose="02010609060101010101" charset="-122"/>
              </a:rPr>
              <a:t>客户分类管理的关键</a:t>
            </a:r>
            <a:r>
              <a:rPr sz="2000" spc="0" dirty="0">
                <a:ln w="7271" cap="flat" cmpd="sng">
                  <a:solidFill>
                    <a:srgbClr val="FFFFFF">
                      <a:alpha val="100000"/>
                    </a:srgbClr>
                  </a:solidFill>
                  <a:prstDash val="solid"/>
                  <a:miter lim="10"/>
                </a:ln>
                <a:solidFill>
                  <a:srgbClr val="FFFFFF">
                    <a:alpha val="100000"/>
                  </a:srgbClr>
                </a:solidFill>
                <a:latin typeface="微软雅黑" panose="020B0503020204020204" charset="-122"/>
                <a:ea typeface="微软雅黑" panose="020B0503020204020204" charset="-122"/>
                <a:cs typeface="楷体" panose="02010609060101010101" charset="-122"/>
              </a:rPr>
              <a:t>考虑要素</a:t>
            </a:r>
            <a:endParaRPr lang="en-US" altLang="en-US" sz="2000" dirty="0">
              <a:latin typeface="微软雅黑" panose="020B0503020204020204" charset="-122"/>
              <a:ea typeface="微软雅黑" panose="020B0503020204020204" charset="-122"/>
            </a:endParaRPr>
          </a:p>
        </p:txBody>
      </p:sp>
      <p:grpSp>
        <p:nvGrpSpPr>
          <p:cNvPr id="226" name="group 226"/>
          <p:cNvGrpSpPr/>
          <p:nvPr/>
        </p:nvGrpSpPr>
        <p:grpSpPr>
          <a:xfrm rot="21600000">
            <a:off x="118872" y="237744"/>
            <a:ext cx="292608" cy="292607"/>
            <a:chOff x="0" y="0"/>
            <a:chExt cx="292608" cy="292607"/>
          </a:xfrm>
        </p:grpSpPr>
        <p:sp>
          <p:nvSpPr>
            <p:cNvPr id="1328" name="path"/>
            <p:cNvSpPr/>
            <p:nvPr/>
          </p:nvSpPr>
          <p:spPr>
            <a:xfrm>
              <a:off x="0" y="0"/>
              <a:ext cx="292608" cy="292607"/>
            </a:xfrm>
            <a:custGeom>
              <a:avLst/>
              <a:gdLst/>
              <a:ahLst/>
              <a:cxnLst/>
              <a:rect l="0" t="0" r="0" b="0"/>
              <a:pathLst>
                <a:path w="460" h="460">
                  <a:moveTo>
                    <a:pt x="0" y="230"/>
                  </a:moveTo>
                  <a:cubicBezTo>
                    <a:pt x="0" y="103"/>
                    <a:pt x="103" y="0"/>
                    <a:pt x="230" y="0"/>
                  </a:cubicBezTo>
                  <a:cubicBezTo>
                    <a:pt x="357" y="0"/>
                    <a:pt x="460" y="103"/>
                    <a:pt x="460" y="230"/>
                  </a:cubicBezTo>
                  <a:cubicBezTo>
                    <a:pt x="460" y="357"/>
                    <a:pt x="357" y="460"/>
                    <a:pt x="230" y="460"/>
                  </a:cubicBezTo>
                  <a:cubicBezTo>
                    <a:pt x="103" y="460"/>
                    <a:pt x="0" y="357"/>
                    <a:pt x="0" y="230"/>
                  </a:cubicBezTo>
                </a:path>
              </a:pathLst>
            </a:custGeom>
            <a:solidFill>
              <a:srgbClr val="00ADEF">
                <a:alpha val="100000"/>
              </a:srgbClr>
            </a:solidFill>
            <a:ln cap="flat">
              <a:noFill/>
              <a:prstDash val="solid"/>
              <a:miter lim="0"/>
            </a:ln>
          </p:spPr>
          <p:txBody>
            <a:bodyPr rtlCol="0"/>
            <a:lstStyle/>
            <a:p>
              <a:pPr algn="ctr"/>
              <a:endParaRPr lang="zh-CN" altLang="en-US"/>
            </a:p>
          </p:txBody>
        </p:sp>
        <p:sp>
          <p:nvSpPr>
            <p:cNvPr id="1329" name="textbox 1329"/>
            <p:cNvSpPr/>
            <p:nvPr/>
          </p:nvSpPr>
          <p:spPr>
            <a:xfrm>
              <a:off x="-12700" y="-12700"/>
              <a:ext cx="318134" cy="379095"/>
            </a:xfrm>
            <a:prstGeom prst="rect">
              <a:avLst/>
            </a:prstGeom>
          </p:spPr>
          <p:txBody>
            <a:bodyPr vert="horz" wrap="square" lIns="0" tIns="0" rIns="0" bIns="0"/>
            <a:lstStyle/>
            <a:p>
              <a:pPr algn="l" rtl="0" eaLnBrk="0">
                <a:lnSpc>
                  <a:spcPct val="116000"/>
                </a:lnSpc>
              </a:pPr>
              <a:endParaRPr lang="en-US" altLang="en-US" sz="400" dirty="0">
                <a:latin typeface="微软雅黑" panose="020B0503020204020204" charset="-122"/>
                <a:ea typeface="微软雅黑" panose="020B0503020204020204" charset="-122"/>
              </a:endParaRPr>
            </a:p>
            <a:p>
              <a:pPr marL="107950" algn="l" rtl="0" eaLnBrk="0">
                <a:lnSpc>
                  <a:spcPct val="80000"/>
                </a:lnSpc>
                <a:spcBef>
                  <a:spcPts val="0"/>
                </a:spcBef>
              </a:pPr>
              <a:r>
                <a:rPr sz="2000" b="1" spc="0" dirty="0">
                  <a:solidFill>
                    <a:srgbClr val="FFFFFF">
                      <a:alpha val="100000"/>
                    </a:srgbClr>
                  </a:solidFill>
                  <a:latin typeface="微软雅黑" panose="020B0503020204020204" charset="-122"/>
                  <a:ea typeface="微软雅黑" panose="020B0503020204020204" charset="-122"/>
                  <a:cs typeface="Arial" panose="020B0604020202020204"/>
                </a:rPr>
                <a:t>1</a:t>
              </a:r>
              <a:endParaRPr lang="en-US" altLang="en-US" sz="2000" dirty="0">
                <a:latin typeface="微软雅黑" panose="020B0503020204020204" charset="-122"/>
                <a:ea typeface="微软雅黑" panose="020B0503020204020204" charset="-122"/>
              </a:endParaRPr>
            </a:p>
          </p:txBody>
        </p:sp>
      </p:grpSp>
      <p:sp>
        <p:nvSpPr>
          <p:cNvPr id="1330" name="rect"/>
          <p:cNvSpPr/>
          <p:nvPr/>
        </p:nvSpPr>
        <p:spPr>
          <a:xfrm>
            <a:off x="0" y="5922264"/>
            <a:ext cx="8961119" cy="9144"/>
          </a:xfrm>
          <a:prstGeom prst="rect">
            <a:avLst/>
          </a:prstGeom>
          <a:solidFill>
            <a:srgbClr val="0065BD">
              <a:alpha val="100000"/>
            </a:srgbClr>
          </a:solidFill>
          <a:ln cap="flat">
            <a:noFill/>
            <a:prstDash val="solid"/>
            <a:miter lim="0"/>
          </a:ln>
        </p:spPr>
        <p:txBody>
          <a:bodyPr rtlCol="0"/>
          <a:lstStyle/>
          <a:p>
            <a:pPr algn="ctr"/>
            <a:endParaRPr lang="zh-CN"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 name="picture 1331"/>
          <p:cNvPicPr>
            <a:picLocks noChangeAspect="1"/>
          </p:cNvPicPr>
          <p:nvPr/>
        </p:nvPicPr>
        <p:blipFill>
          <a:blip r:embed="rId1"/>
          <a:stretch>
            <a:fillRect/>
          </a:stretch>
        </p:blipFill>
        <p:spPr>
          <a:xfrm rot="21600000">
            <a:off x="1536191" y="1127760"/>
            <a:ext cx="7424927" cy="5068823"/>
          </a:xfrm>
          <a:prstGeom prst="rect">
            <a:avLst/>
          </a:prstGeom>
        </p:spPr>
      </p:pic>
      <p:sp>
        <p:nvSpPr>
          <p:cNvPr id="1332" name="textbox 1332"/>
          <p:cNvSpPr/>
          <p:nvPr/>
        </p:nvSpPr>
        <p:spPr>
          <a:xfrm>
            <a:off x="8818509" y="1037437"/>
            <a:ext cx="114935" cy="3257550"/>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r>
              <a:rPr sz="600" spc="0" dirty="0">
                <a:solidFill>
                  <a:srgbClr val="808080">
                    <a:alpha val="100000"/>
                  </a:srgbClr>
                </a:solidFill>
                <a:latin typeface="Arial" panose="020B0604020202020204"/>
                <a:ea typeface="Arial" panose="020B0604020202020204"/>
                <a:cs typeface="Arial" panose="020B0604020202020204"/>
              </a:rPr>
              <a:t>                                                       </a:t>
            </a:r>
            <a:endParaRPr lang="en-US" altLang="en-US" sz="600" dirty="0"/>
          </a:p>
        </p:txBody>
      </p:sp>
      <p:pic>
        <p:nvPicPr>
          <p:cNvPr id="1333" name="picture 1333"/>
          <p:cNvPicPr>
            <a:picLocks noChangeAspect="1"/>
          </p:cNvPicPr>
          <p:nvPr/>
        </p:nvPicPr>
        <p:blipFill>
          <a:blip r:embed="rId2"/>
          <a:stretch>
            <a:fillRect/>
          </a:stretch>
        </p:blipFill>
        <p:spPr>
          <a:xfrm rot="21600000">
            <a:off x="2897123" y="1208532"/>
            <a:ext cx="6063995" cy="4907279"/>
          </a:xfrm>
          <a:prstGeom prst="rect">
            <a:avLst/>
          </a:prstGeom>
        </p:spPr>
      </p:pic>
      <p:grpSp>
        <p:nvGrpSpPr>
          <p:cNvPr id="228" name="group 228"/>
          <p:cNvGrpSpPr/>
          <p:nvPr/>
        </p:nvGrpSpPr>
        <p:grpSpPr>
          <a:xfrm rot="21600000">
            <a:off x="1699260" y="1475232"/>
            <a:ext cx="6187440" cy="914400"/>
            <a:chOff x="0" y="0"/>
            <a:chExt cx="6187440" cy="914400"/>
          </a:xfrm>
        </p:grpSpPr>
        <p:pic>
          <p:nvPicPr>
            <p:cNvPr id="1334" name="picture 1334"/>
            <p:cNvPicPr>
              <a:picLocks noChangeAspect="1"/>
            </p:cNvPicPr>
            <p:nvPr/>
          </p:nvPicPr>
          <p:blipFill>
            <a:blip r:embed="rId3"/>
            <a:stretch>
              <a:fillRect/>
            </a:stretch>
          </p:blipFill>
          <p:spPr>
            <a:xfrm rot="21600000">
              <a:off x="0" y="0"/>
              <a:ext cx="6187440" cy="914400"/>
            </a:xfrm>
            <a:prstGeom prst="rect">
              <a:avLst/>
            </a:prstGeom>
          </p:spPr>
        </p:pic>
        <p:sp>
          <p:nvSpPr>
            <p:cNvPr id="1335" name="textbox 1335"/>
            <p:cNvSpPr/>
            <p:nvPr/>
          </p:nvSpPr>
          <p:spPr>
            <a:xfrm>
              <a:off x="-12700" y="-12700"/>
              <a:ext cx="6213475" cy="966469"/>
            </a:xfrm>
            <a:prstGeom prst="rect">
              <a:avLst/>
            </a:prstGeom>
          </p:spPr>
          <p:txBody>
            <a:bodyPr vert="horz" wrap="square" lIns="0" tIns="0" rIns="0" bIns="0"/>
            <a:lstStyle/>
            <a:p>
              <a:pPr algn="l" rtl="0" eaLnBrk="0">
                <a:lnSpc>
                  <a:spcPct val="118000"/>
                </a:lnSpc>
              </a:pPr>
              <a:endParaRPr lang="en-US" altLang="en-US" sz="1000" dirty="0">
                <a:latin typeface="微软雅黑" panose="020B0503020204020204" charset="-122"/>
                <a:ea typeface="微软雅黑" panose="020B0503020204020204" charset="-122"/>
              </a:endParaRPr>
            </a:p>
            <a:p>
              <a:pPr algn="l" rtl="0" eaLnBrk="0">
                <a:lnSpc>
                  <a:spcPct val="118000"/>
                </a:lnSpc>
              </a:pPr>
              <a:endParaRPr lang="en-US" altLang="en-US" sz="1000" dirty="0">
                <a:latin typeface="微软雅黑" panose="020B0503020204020204" charset="-122"/>
                <a:ea typeface="微软雅黑" panose="020B0503020204020204" charset="-122"/>
              </a:endParaRPr>
            </a:p>
            <a:p>
              <a:pPr algn="l" rtl="0" eaLnBrk="0">
                <a:lnSpc>
                  <a:spcPct val="8000"/>
                </a:lnSpc>
              </a:pPr>
              <a:endParaRPr lang="en-US" altLang="en-US" sz="100" dirty="0">
                <a:latin typeface="微软雅黑" panose="020B0503020204020204" charset="-122"/>
                <a:ea typeface="微软雅黑" panose="020B0503020204020204" charset="-122"/>
              </a:endParaRPr>
            </a:p>
            <a:p>
              <a:pPr marL="357505" algn="l" rtl="0" eaLnBrk="0">
                <a:lnSpc>
                  <a:spcPct val="93000"/>
                </a:lnSpc>
              </a:pPr>
              <a:r>
                <a:rPr sz="1800" spc="-10" dirty="0">
                  <a:ln w="653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当前传化的客户</a:t>
              </a:r>
              <a:r>
                <a:rPr sz="1800" spc="0" dirty="0">
                  <a:ln w="653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分类管理的主要问题是什么</a:t>
              </a:r>
              <a:endParaRPr lang="en-US" altLang="en-US" sz="1800" dirty="0">
                <a:latin typeface="微软雅黑" panose="020B0503020204020204" charset="-122"/>
                <a:ea typeface="微软雅黑" panose="020B0503020204020204" charset="-122"/>
              </a:endParaRPr>
            </a:p>
          </p:txBody>
        </p:sp>
      </p:grpSp>
      <p:grpSp>
        <p:nvGrpSpPr>
          <p:cNvPr id="230" name="group 230"/>
          <p:cNvGrpSpPr/>
          <p:nvPr/>
        </p:nvGrpSpPr>
        <p:grpSpPr>
          <a:xfrm rot="21600000">
            <a:off x="1699260" y="2634996"/>
            <a:ext cx="6187440" cy="914400"/>
            <a:chOff x="0" y="0"/>
            <a:chExt cx="6187440" cy="914400"/>
          </a:xfrm>
        </p:grpSpPr>
        <p:pic>
          <p:nvPicPr>
            <p:cNvPr id="1336" name="picture 1336"/>
            <p:cNvPicPr>
              <a:picLocks noChangeAspect="1"/>
            </p:cNvPicPr>
            <p:nvPr/>
          </p:nvPicPr>
          <p:blipFill>
            <a:blip r:embed="rId4"/>
            <a:stretch>
              <a:fillRect/>
            </a:stretch>
          </p:blipFill>
          <p:spPr>
            <a:xfrm rot="21600000">
              <a:off x="0" y="0"/>
              <a:ext cx="6187440" cy="914400"/>
            </a:xfrm>
            <a:prstGeom prst="rect">
              <a:avLst/>
            </a:prstGeom>
          </p:spPr>
        </p:pic>
        <p:sp>
          <p:nvSpPr>
            <p:cNvPr id="1337" name="textbox 1337"/>
            <p:cNvSpPr/>
            <p:nvPr/>
          </p:nvSpPr>
          <p:spPr>
            <a:xfrm>
              <a:off x="-12700" y="-12700"/>
              <a:ext cx="6213475" cy="962025"/>
            </a:xfrm>
            <a:prstGeom prst="rect">
              <a:avLst/>
            </a:prstGeom>
          </p:spPr>
          <p:txBody>
            <a:bodyPr vert="horz" wrap="square" lIns="0" tIns="0" rIns="0" bIns="0"/>
            <a:lstStyle/>
            <a:p>
              <a:pPr algn="l" rtl="0" eaLnBrk="0">
                <a:lnSpc>
                  <a:spcPct val="118000"/>
                </a:lnSpc>
              </a:pPr>
              <a:endParaRPr lang="en-US" altLang="en-US" sz="1000" dirty="0">
                <a:latin typeface="微软雅黑" panose="020B0503020204020204" charset="-122"/>
                <a:ea typeface="微软雅黑" panose="020B0503020204020204" charset="-122"/>
              </a:endParaRPr>
            </a:p>
            <a:p>
              <a:pPr algn="l" rtl="0" eaLnBrk="0">
                <a:lnSpc>
                  <a:spcPct val="119000"/>
                </a:lnSpc>
              </a:pPr>
              <a:endParaRPr lang="en-US" altLang="en-US" sz="1000" dirty="0">
                <a:latin typeface="微软雅黑" panose="020B0503020204020204" charset="-122"/>
                <a:ea typeface="微软雅黑" panose="020B0503020204020204" charset="-122"/>
              </a:endParaRPr>
            </a:p>
            <a:p>
              <a:pPr algn="l" rtl="0" eaLnBrk="0">
                <a:lnSpc>
                  <a:spcPct val="9000"/>
                </a:lnSpc>
              </a:pPr>
              <a:endParaRPr lang="en-US" altLang="en-US" sz="100" dirty="0">
                <a:latin typeface="微软雅黑" panose="020B0503020204020204" charset="-122"/>
                <a:ea typeface="微软雅黑" panose="020B0503020204020204" charset="-122"/>
              </a:endParaRPr>
            </a:p>
            <a:p>
              <a:pPr marL="325120" algn="l" rtl="0" eaLnBrk="0">
                <a:lnSpc>
                  <a:spcPct val="91000"/>
                </a:lnSpc>
              </a:pPr>
              <a:r>
                <a:rPr sz="1800" spc="10" dirty="0">
                  <a:ln w="653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针对客户分类管理的主要问题有哪些可能的解决方</a:t>
              </a:r>
              <a:r>
                <a:rPr sz="1800" spc="0" dirty="0">
                  <a:ln w="653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案</a:t>
              </a:r>
              <a:endParaRPr lang="en-US" altLang="en-US" sz="1800" dirty="0">
                <a:latin typeface="微软雅黑" panose="020B0503020204020204" charset="-122"/>
                <a:ea typeface="微软雅黑" panose="020B0503020204020204" charset="-122"/>
              </a:endParaRPr>
            </a:p>
          </p:txBody>
        </p:sp>
      </p:grpSp>
      <p:grpSp>
        <p:nvGrpSpPr>
          <p:cNvPr id="232" name="group 232"/>
          <p:cNvGrpSpPr/>
          <p:nvPr/>
        </p:nvGrpSpPr>
        <p:grpSpPr>
          <a:xfrm rot="21600000">
            <a:off x="1699260" y="3794760"/>
            <a:ext cx="6187440" cy="914400"/>
            <a:chOff x="0" y="0"/>
            <a:chExt cx="6187440" cy="914400"/>
          </a:xfrm>
        </p:grpSpPr>
        <p:pic>
          <p:nvPicPr>
            <p:cNvPr id="1338" name="picture 1338"/>
            <p:cNvPicPr>
              <a:picLocks noChangeAspect="1"/>
            </p:cNvPicPr>
            <p:nvPr/>
          </p:nvPicPr>
          <p:blipFill>
            <a:blip r:embed="rId5"/>
            <a:stretch>
              <a:fillRect/>
            </a:stretch>
          </p:blipFill>
          <p:spPr>
            <a:xfrm rot="21600000">
              <a:off x="0" y="0"/>
              <a:ext cx="6187440" cy="914400"/>
            </a:xfrm>
            <a:prstGeom prst="rect">
              <a:avLst/>
            </a:prstGeom>
          </p:spPr>
        </p:pic>
        <p:sp>
          <p:nvSpPr>
            <p:cNvPr id="1339" name="textbox 1339"/>
            <p:cNvSpPr/>
            <p:nvPr/>
          </p:nvSpPr>
          <p:spPr>
            <a:xfrm>
              <a:off x="-12700" y="-12700"/>
              <a:ext cx="6213475" cy="966469"/>
            </a:xfrm>
            <a:prstGeom prst="rect">
              <a:avLst/>
            </a:prstGeom>
          </p:spPr>
          <p:txBody>
            <a:bodyPr vert="horz" wrap="square" lIns="0" tIns="0" rIns="0" bIns="0"/>
            <a:lstStyle/>
            <a:p>
              <a:pPr algn="l" rtl="0" eaLnBrk="0">
                <a:lnSpc>
                  <a:spcPct val="118000"/>
                </a:lnSpc>
              </a:pPr>
              <a:endParaRPr lang="en-US" altLang="en-US" sz="1000" dirty="0">
                <a:latin typeface="微软雅黑" panose="020B0503020204020204" charset="-122"/>
                <a:ea typeface="微软雅黑" panose="020B0503020204020204" charset="-122"/>
              </a:endParaRPr>
            </a:p>
            <a:p>
              <a:pPr algn="l" rtl="0" eaLnBrk="0">
                <a:lnSpc>
                  <a:spcPct val="119000"/>
                </a:lnSpc>
              </a:pPr>
              <a:endParaRPr lang="en-US" altLang="en-US" sz="1000" dirty="0">
                <a:latin typeface="微软雅黑" panose="020B0503020204020204" charset="-122"/>
                <a:ea typeface="微软雅黑" panose="020B0503020204020204" charset="-122"/>
              </a:endParaRPr>
            </a:p>
            <a:p>
              <a:pPr marL="334645" algn="l" rtl="0" eaLnBrk="0">
                <a:lnSpc>
                  <a:spcPct val="93000"/>
                </a:lnSpc>
                <a:spcBef>
                  <a:spcPts val="5"/>
                </a:spcBef>
              </a:pPr>
              <a:r>
                <a:rPr sz="1800" spc="10" dirty="0">
                  <a:ln w="6540"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制定和实施客户分类管理问题解决方案的</a:t>
              </a:r>
              <a:r>
                <a:rPr sz="1800" spc="0" dirty="0">
                  <a:ln w="6540"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可能风险和挑战</a:t>
              </a:r>
              <a:endParaRPr lang="en-US" altLang="en-US" sz="1800" dirty="0">
                <a:latin typeface="微软雅黑" panose="020B0503020204020204" charset="-122"/>
                <a:ea typeface="微软雅黑" panose="020B0503020204020204" charset="-122"/>
              </a:endParaRPr>
            </a:p>
          </p:txBody>
        </p:sp>
      </p:grpSp>
      <p:grpSp>
        <p:nvGrpSpPr>
          <p:cNvPr id="234" name="group 234"/>
          <p:cNvGrpSpPr/>
          <p:nvPr/>
        </p:nvGrpSpPr>
        <p:grpSpPr>
          <a:xfrm rot="21600000">
            <a:off x="1699260" y="4954523"/>
            <a:ext cx="6187440" cy="914400"/>
            <a:chOff x="0" y="0"/>
            <a:chExt cx="6187440" cy="914400"/>
          </a:xfrm>
        </p:grpSpPr>
        <p:pic>
          <p:nvPicPr>
            <p:cNvPr id="1340" name="picture 1340"/>
            <p:cNvPicPr>
              <a:picLocks noChangeAspect="1"/>
            </p:cNvPicPr>
            <p:nvPr/>
          </p:nvPicPr>
          <p:blipFill>
            <a:blip r:embed="rId6"/>
            <a:stretch>
              <a:fillRect/>
            </a:stretch>
          </p:blipFill>
          <p:spPr>
            <a:xfrm rot="21600000">
              <a:off x="0" y="0"/>
              <a:ext cx="6187440" cy="914400"/>
            </a:xfrm>
            <a:prstGeom prst="rect">
              <a:avLst/>
            </a:prstGeom>
          </p:spPr>
        </p:pic>
        <p:sp>
          <p:nvSpPr>
            <p:cNvPr id="1341" name="textbox 1341"/>
            <p:cNvSpPr/>
            <p:nvPr/>
          </p:nvSpPr>
          <p:spPr>
            <a:xfrm>
              <a:off x="-12700" y="-12700"/>
              <a:ext cx="6213475" cy="966469"/>
            </a:xfrm>
            <a:prstGeom prst="rect">
              <a:avLst/>
            </a:prstGeom>
          </p:spPr>
          <p:txBody>
            <a:bodyPr vert="horz" wrap="square" lIns="0" tIns="0" rIns="0" bIns="0"/>
            <a:lstStyle/>
            <a:p>
              <a:pPr algn="l" rtl="0" eaLnBrk="0">
                <a:lnSpc>
                  <a:spcPct val="118000"/>
                </a:lnSpc>
              </a:pPr>
              <a:endParaRPr lang="en-US" altLang="en-US" sz="1000" dirty="0">
                <a:latin typeface="微软雅黑" panose="020B0503020204020204" charset="-122"/>
                <a:ea typeface="微软雅黑" panose="020B0503020204020204" charset="-122"/>
              </a:endParaRPr>
            </a:p>
            <a:p>
              <a:pPr algn="l" rtl="0" eaLnBrk="0">
                <a:lnSpc>
                  <a:spcPct val="119000"/>
                </a:lnSpc>
              </a:pPr>
              <a:endParaRPr lang="en-US" altLang="en-US" sz="1000" dirty="0">
                <a:latin typeface="微软雅黑" panose="020B0503020204020204" charset="-122"/>
                <a:ea typeface="微软雅黑" panose="020B0503020204020204" charset="-122"/>
              </a:endParaRPr>
            </a:p>
            <a:p>
              <a:pPr algn="l" rtl="0" eaLnBrk="0">
                <a:lnSpc>
                  <a:spcPct val="8000"/>
                </a:lnSpc>
              </a:pPr>
              <a:endParaRPr lang="en-US" altLang="en-US" sz="100" dirty="0">
                <a:latin typeface="微软雅黑" panose="020B0503020204020204" charset="-122"/>
                <a:ea typeface="微软雅黑" panose="020B0503020204020204" charset="-122"/>
              </a:endParaRPr>
            </a:p>
            <a:p>
              <a:pPr marL="325755" algn="l" rtl="0" eaLnBrk="0">
                <a:lnSpc>
                  <a:spcPct val="93000"/>
                </a:lnSpc>
              </a:pPr>
              <a:r>
                <a:rPr sz="1800" spc="10" dirty="0">
                  <a:ln w="653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客户分类管理经验和案</a:t>
              </a:r>
              <a:r>
                <a:rPr sz="1800" spc="0" dirty="0">
                  <a:ln w="653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例分享</a:t>
              </a:r>
              <a:endParaRPr lang="en-US" altLang="en-US" sz="1800" dirty="0">
                <a:latin typeface="微软雅黑" panose="020B0503020204020204" charset="-122"/>
                <a:ea typeface="微软雅黑" panose="020B0503020204020204" charset="-122"/>
              </a:endParaRPr>
            </a:p>
          </p:txBody>
        </p:sp>
      </p:grpSp>
      <p:sp>
        <p:nvSpPr>
          <p:cNvPr id="1342" name="textbox 1342"/>
          <p:cNvSpPr/>
          <p:nvPr/>
        </p:nvSpPr>
        <p:spPr>
          <a:xfrm>
            <a:off x="201295" y="248920"/>
            <a:ext cx="3746500" cy="309245"/>
          </a:xfrm>
          <a:prstGeom prst="rect">
            <a:avLst/>
          </a:prstGeom>
        </p:spPr>
        <p:txBody>
          <a:bodyPr vert="horz" wrap="square" lIns="0" tIns="0" rIns="0" bIns="0"/>
          <a:lstStyle/>
          <a:p>
            <a:pPr algn="l" rtl="0" eaLnBrk="0">
              <a:lnSpc>
                <a:spcPct val="85000"/>
              </a:lnSpc>
            </a:pPr>
            <a:endParaRPr lang="en-US" altLang="en-US" sz="100" dirty="0">
              <a:latin typeface="微软雅黑" panose="020B0503020204020204" charset="-122"/>
              <a:ea typeface="微软雅黑" panose="020B0503020204020204" charset="-122"/>
            </a:endParaRPr>
          </a:p>
          <a:p>
            <a:pPr marL="12700" algn="l" rtl="0" eaLnBrk="0">
              <a:lnSpc>
                <a:spcPct val="93000"/>
              </a:lnSpc>
            </a:pPr>
            <a:r>
              <a:rPr sz="2000" b="1" spc="20" dirty="0">
                <a:solidFill>
                  <a:srgbClr val="D9D9D9">
                    <a:alpha val="100000"/>
                  </a:srgbClr>
                </a:solidFill>
                <a:latin typeface="微软雅黑" panose="020B0503020204020204" charset="-122"/>
                <a:ea typeface="微软雅黑" panose="020B0503020204020204" charset="-122"/>
                <a:cs typeface="Arial" panose="020B0604020202020204"/>
              </a:rPr>
              <a:t>1</a:t>
            </a:r>
            <a:r>
              <a:rPr sz="2000" spc="20" dirty="0">
                <a:solidFill>
                  <a:srgbClr val="D9D9D9">
                    <a:alpha val="100000"/>
                  </a:srgbClr>
                </a:solidFill>
                <a:latin typeface="微软雅黑" panose="020B0503020204020204" charset="-122"/>
                <a:ea typeface="微软雅黑" panose="020B0503020204020204" charset="-122"/>
                <a:cs typeface="Arial" panose="020B0604020202020204"/>
              </a:rPr>
              <a:t> </a:t>
            </a:r>
            <a:r>
              <a:rPr sz="2000" spc="20" dirty="0">
                <a:solidFill>
                  <a:srgbClr val="002960">
                    <a:alpha val="100000"/>
                  </a:srgbClr>
                </a:solidFill>
                <a:latin typeface="微软雅黑" panose="020B0503020204020204" charset="-122"/>
                <a:ea typeface="微软雅黑" panose="020B0503020204020204" charset="-122"/>
                <a:cs typeface="楷体" panose="02010609060101010101" charset="-122"/>
              </a:rPr>
              <a:t>客户分类管理小组讨论安</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排</a:t>
            </a:r>
            <a:endParaRPr lang="en-US" altLang="en-US" sz="2000" dirty="0">
              <a:latin typeface="微软雅黑" panose="020B0503020204020204" charset="-122"/>
              <a:ea typeface="微软雅黑" panose="020B0503020204020204" charset="-122"/>
            </a:endParaRPr>
          </a:p>
        </p:txBody>
      </p:sp>
      <p:sp>
        <p:nvSpPr>
          <p:cNvPr id="1343" name="textbox 1343"/>
          <p:cNvSpPr/>
          <p:nvPr/>
        </p:nvSpPr>
        <p:spPr>
          <a:xfrm>
            <a:off x="7457883" y="6522553"/>
            <a:ext cx="1234439" cy="124460"/>
          </a:xfrm>
          <a:prstGeom prst="rect">
            <a:avLst/>
          </a:prstGeom>
        </p:spPr>
        <p:txBody>
          <a:bodyPr vert="horz" wrap="square" lIns="0" tIns="0" rIns="0" bIns="0"/>
          <a:lstStyle/>
          <a:p>
            <a:pPr algn="l" rtl="0" eaLnBrk="0">
              <a:lnSpc>
                <a:spcPct val="84000"/>
              </a:lnSpc>
            </a:pPr>
            <a:endParaRPr lang="en-US" altLang="en-US" sz="100" dirty="0"/>
          </a:p>
          <a:p>
            <a:pPr marL="12700" algn="l" rtl="0" eaLnBrk="0">
              <a:lnSpc>
                <a:spcPct val="81000"/>
              </a:lnSpc>
            </a:pPr>
            <a:r>
              <a:rPr sz="800" spc="20" dirty="0">
                <a:solidFill>
                  <a:srgbClr val="808080">
                    <a:alpha val="100000"/>
                  </a:srgbClr>
                </a:solidFill>
                <a:latin typeface="Arial" panose="020B0604020202020204"/>
                <a:ea typeface="Arial" panose="020B0604020202020204"/>
                <a:cs typeface="Arial" panose="020B0604020202020204"/>
              </a:rPr>
              <a:t>  </a:t>
            </a:r>
            <a:r>
              <a:rPr sz="800" spc="0" dirty="0">
                <a:solidFill>
                  <a:srgbClr val="808080">
                    <a:alpha val="100000"/>
                  </a:srgbClr>
                </a:solidFill>
                <a:latin typeface="Arial" panose="020B0604020202020204"/>
                <a:ea typeface="Arial" panose="020B0604020202020204"/>
                <a:cs typeface="Arial" panose="020B0604020202020204"/>
              </a:rPr>
              <a:t> 36</a:t>
            </a:r>
            <a:endParaRPr lang="en-US" altLang="en-US" sz="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4" name="textbox 1344"/>
          <p:cNvSpPr/>
          <p:nvPr/>
        </p:nvSpPr>
        <p:spPr>
          <a:xfrm>
            <a:off x="8818509" y="1037437"/>
            <a:ext cx="114935" cy="1840229"/>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endParaRPr sz="600" spc="0" dirty="0">
              <a:solidFill>
                <a:srgbClr val="808080">
                  <a:alpha val="100000"/>
                </a:srgbClr>
              </a:solidFill>
              <a:latin typeface="Arial" panose="020B0604020202020204"/>
              <a:ea typeface="Arial" panose="020B0604020202020204"/>
              <a:cs typeface="Arial" panose="020B0604020202020204"/>
            </a:endParaRPr>
          </a:p>
        </p:txBody>
      </p:sp>
      <p:sp>
        <p:nvSpPr>
          <p:cNvPr id="1345" name="textbox 1345"/>
          <p:cNvSpPr/>
          <p:nvPr/>
        </p:nvSpPr>
        <p:spPr>
          <a:xfrm>
            <a:off x="8818435" y="4032021"/>
            <a:ext cx="114935" cy="262890"/>
          </a:xfrm>
          <a:prstGeom prst="rect">
            <a:avLst/>
          </a:prstGeom>
        </p:spPr>
        <p:txBody>
          <a:bodyPr vert="eaVert" wrap="square" lIns="0" tIns="0" rIns="0" bIns="0"/>
          <a:lstStyle/>
          <a:p>
            <a:pPr algn="l" rtl="0" eaLnBrk="0">
              <a:lnSpc>
                <a:spcPct val="85000"/>
              </a:lnSpc>
            </a:pPr>
            <a:endParaRPr lang="en-US" altLang="en-US" sz="100" dirty="0"/>
          </a:p>
          <a:p>
            <a:pPr marL="12700" algn="l" rtl="0" eaLnBrk="0">
              <a:lnSpc>
                <a:spcPct val="79000"/>
              </a:lnSpc>
            </a:pPr>
            <a:endParaRPr sz="600" spc="-10" dirty="0">
              <a:solidFill>
                <a:srgbClr val="808080">
                  <a:alpha val="100000"/>
                </a:srgbClr>
              </a:solidFill>
              <a:latin typeface="Arial" panose="020B0604020202020204"/>
              <a:ea typeface="Arial" panose="020B0604020202020204"/>
              <a:cs typeface="Arial" panose="020B0604020202020204"/>
            </a:endParaRPr>
          </a:p>
        </p:txBody>
      </p:sp>
      <p:pic>
        <p:nvPicPr>
          <p:cNvPr id="1346" name="picture 1346"/>
          <p:cNvPicPr>
            <a:picLocks noChangeAspect="1"/>
          </p:cNvPicPr>
          <p:nvPr/>
        </p:nvPicPr>
        <p:blipFill>
          <a:blip r:embed="rId1"/>
          <a:stretch>
            <a:fillRect/>
          </a:stretch>
        </p:blipFill>
        <p:spPr>
          <a:xfrm rot="21600000">
            <a:off x="4346447" y="1755648"/>
            <a:ext cx="4614671" cy="4171188"/>
          </a:xfrm>
          <a:prstGeom prst="rect">
            <a:avLst/>
          </a:prstGeom>
        </p:spPr>
      </p:pic>
      <p:grpSp>
        <p:nvGrpSpPr>
          <p:cNvPr id="236" name="group 236"/>
          <p:cNvGrpSpPr/>
          <p:nvPr/>
        </p:nvGrpSpPr>
        <p:grpSpPr>
          <a:xfrm rot="21600000">
            <a:off x="0" y="1894332"/>
            <a:ext cx="4317491" cy="4032503"/>
            <a:chOff x="0" y="0"/>
            <a:chExt cx="4317491" cy="4032503"/>
          </a:xfrm>
        </p:grpSpPr>
        <p:pic>
          <p:nvPicPr>
            <p:cNvPr id="1347" name="picture 1347"/>
            <p:cNvPicPr>
              <a:picLocks noChangeAspect="1"/>
            </p:cNvPicPr>
            <p:nvPr/>
          </p:nvPicPr>
          <p:blipFill>
            <a:blip r:embed="rId2"/>
            <a:stretch>
              <a:fillRect/>
            </a:stretch>
          </p:blipFill>
          <p:spPr>
            <a:xfrm rot="21600000">
              <a:off x="0" y="0"/>
              <a:ext cx="4317491" cy="4032503"/>
            </a:xfrm>
            <a:prstGeom prst="rect">
              <a:avLst/>
            </a:prstGeom>
          </p:spPr>
        </p:pic>
        <p:sp>
          <p:nvSpPr>
            <p:cNvPr id="1348" name="textbox 1348"/>
            <p:cNvSpPr/>
            <p:nvPr/>
          </p:nvSpPr>
          <p:spPr>
            <a:xfrm>
              <a:off x="870210" y="200858"/>
              <a:ext cx="3329304" cy="3345815"/>
            </a:xfrm>
            <a:prstGeom prst="rect">
              <a:avLst/>
            </a:prstGeom>
          </p:spPr>
          <p:txBody>
            <a:bodyPr vert="horz" wrap="square" lIns="0" tIns="0" rIns="0" bIns="0"/>
            <a:lstStyle/>
            <a:p>
              <a:pPr algn="l" rtl="0" eaLnBrk="0">
                <a:lnSpc>
                  <a:spcPct val="73000"/>
                </a:lnSpc>
              </a:pPr>
              <a:endParaRPr lang="en-US" altLang="en-US" sz="100" dirty="0">
                <a:latin typeface="微软雅黑" panose="020B0503020204020204" charset="-122"/>
                <a:ea typeface="微软雅黑" panose="020B0503020204020204" charset="-122"/>
              </a:endParaRPr>
            </a:p>
            <a:p>
              <a:pPr marL="29210" indent="-13970" algn="l" rtl="0" eaLnBrk="0">
                <a:lnSpc>
                  <a:spcPct val="96000"/>
                </a:lnSpc>
              </a:pPr>
              <a:r>
                <a:rPr sz="2000" spc="-10" dirty="0">
                  <a:solidFill>
                    <a:srgbClr val="000000">
                      <a:alpha val="100000"/>
                    </a:srgbClr>
                  </a:solidFill>
                  <a:latin typeface="微软雅黑" panose="020B0503020204020204" charset="-122"/>
                  <a:ea typeface="微软雅黑" panose="020B0503020204020204" charset="-122"/>
                  <a:cs typeface="楷体" panose="02010609060101010101" charset="-122"/>
                </a:rPr>
                <a:t>如何</a:t>
              </a:r>
              <a:r>
                <a:rPr sz="2000" spc="0" dirty="0">
                  <a:solidFill>
                    <a:srgbClr val="000000">
                      <a:alpha val="100000"/>
                    </a:srgbClr>
                  </a:solidFill>
                  <a:latin typeface="微软雅黑" panose="020B0503020204020204" charset="-122"/>
                  <a:ea typeface="微软雅黑" panose="020B0503020204020204" charset="-122"/>
                  <a:cs typeface="楷体" panose="02010609060101010101" charset="-122"/>
                </a:rPr>
                <a:t>定义大客户？什么样的客 </a:t>
              </a:r>
              <a:r>
                <a:rPr sz="2000" spc="-90" dirty="0">
                  <a:solidFill>
                    <a:srgbClr val="000000">
                      <a:alpha val="100000"/>
                    </a:srgbClr>
                  </a:solidFill>
                  <a:latin typeface="微软雅黑" panose="020B0503020204020204" charset="-122"/>
                  <a:ea typeface="微软雅黑" panose="020B0503020204020204" charset="-122"/>
                  <a:cs typeface="楷体" panose="02010609060101010101" charset="-122"/>
                </a:rPr>
                <a:t>户是我们的大客户</a:t>
              </a:r>
              <a:r>
                <a:rPr sz="2000" spc="-60" dirty="0">
                  <a:solidFill>
                    <a:srgbClr val="000000">
                      <a:alpha val="100000"/>
                    </a:srgbClr>
                  </a:solidFill>
                  <a:latin typeface="微软雅黑" panose="020B0503020204020204" charset="-122"/>
                  <a:ea typeface="微软雅黑" panose="020B0503020204020204" charset="-122"/>
                  <a:cs typeface="楷体" panose="02010609060101010101" charset="-122"/>
                </a:rPr>
                <a:t>？</a:t>
              </a:r>
              <a:endParaRPr lang="en-US" altLang="en-US" sz="2000" dirty="0">
                <a:latin typeface="微软雅黑" panose="020B0503020204020204" charset="-122"/>
                <a:ea typeface="微软雅黑" panose="020B0503020204020204" charset="-122"/>
              </a:endParaRPr>
            </a:p>
            <a:p>
              <a:pPr marL="12700" indent="3175" algn="l" rtl="0" eaLnBrk="0">
                <a:lnSpc>
                  <a:spcPct val="103000"/>
                </a:lnSpc>
                <a:spcBef>
                  <a:spcPts val="1025"/>
                </a:spcBef>
              </a:pPr>
              <a:r>
                <a:rPr sz="2000" spc="-10" dirty="0">
                  <a:solidFill>
                    <a:srgbClr val="000000">
                      <a:alpha val="100000"/>
                    </a:srgbClr>
                  </a:solidFill>
                  <a:latin typeface="微软雅黑" panose="020B0503020204020204" charset="-122"/>
                  <a:ea typeface="微软雅黑" panose="020B0503020204020204" charset="-122"/>
                  <a:cs typeface="楷体" panose="02010609060101010101" charset="-122"/>
                </a:rPr>
                <a:t>如何对大</a:t>
              </a:r>
              <a:r>
                <a:rPr sz="2000" spc="0" dirty="0">
                  <a:solidFill>
                    <a:srgbClr val="000000">
                      <a:alpha val="100000"/>
                    </a:srgbClr>
                  </a:solidFill>
                  <a:latin typeface="微软雅黑" panose="020B0503020204020204" charset="-122"/>
                  <a:ea typeface="微软雅黑" panose="020B0503020204020204" charset="-122"/>
                  <a:cs typeface="楷体" panose="02010609060101010101" charset="-122"/>
                </a:rPr>
                <a:t>客户进行全面深入分 析，包括客户背景、决策流  </a:t>
              </a:r>
              <a:r>
                <a:rPr sz="2000" spc="10" dirty="0">
                  <a:solidFill>
                    <a:srgbClr val="000000">
                      <a:alpha val="100000"/>
                    </a:srgbClr>
                  </a:solidFill>
                  <a:latin typeface="微软雅黑" panose="020B0503020204020204" charset="-122"/>
                  <a:ea typeface="微软雅黑" panose="020B0503020204020204" charset="-122"/>
                  <a:cs typeface="楷体" panose="02010609060101010101" charset="-122"/>
                </a:rPr>
                <a:t>程、</a:t>
              </a:r>
              <a:r>
                <a:rPr sz="2000" spc="0" dirty="0">
                  <a:solidFill>
                    <a:srgbClr val="000000">
                      <a:alpha val="100000"/>
                    </a:srgbClr>
                  </a:solidFill>
                  <a:latin typeface="微软雅黑" panose="020B0503020204020204" charset="-122"/>
                  <a:ea typeface="微软雅黑" panose="020B0503020204020204" charset="-122"/>
                  <a:cs typeface="楷体" panose="02010609060101010101" charset="-122"/>
                </a:rPr>
                <a:t>需求和可能的流失风险， </a:t>
              </a:r>
              <a:r>
                <a:rPr sz="2000" spc="-10" dirty="0">
                  <a:solidFill>
                    <a:srgbClr val="000000">
                      <a:alpha val="100000"/>
                    </a:srgbClr>
                  </a:solidFill>
                  <a:latin typeface="微软雅黑" panose="020B0503020204020204" charset="-122"/>
                  <a:ea typeface="微软雅黑" panose="020B0503020204020204" charset="-122"/>
                  <a:cs typeface="楷体" panose="02010609060101010101" charset="-122"/>
                </a:rPr>
                <a:t>并</a:t>
              </a:r>
              <a:r>
                <a:rPr sz="2000" spc="0" dirty="0">
                  <a:solidFill>
                    <a:srgbClr val="000000">
                      <a:alpha val="100000"/>
                    </a:srgbClr>
                  </a:solidFill>
                  <a:latin typeface="微软雅黑" panose="020B0503020204020204" charset="-122"/>
                  <a:ea typeface="微软雅黑" panose="020B0503020204020204" charset="-122"/>
                  <a:cs typeface="楷体" panose="02010609060101010101" charset="-122"/>
                </a:rPr>
                <a:t>分析近期客户可能的需求变 </a:t>
              </a:r>
              <a:r>
                <a:rPr sz="1900" spc="-150" dirty="0">
                  <a:solidFill>
                    <a:srgbClr val="000000">
                      <a:alpha val="100000"/>
                    </a:srgbClr>
                  </a:solidFill>
                  <a:latin typeface="微软雅黑" panose="020B0503020204020204" charset="-122"/>
                  <a:ea typeface="微软雅黑" panose="020B0503020204020204" charset="-122"/>
                  <a:cs typeface="楷体" panose="02010609060101010101" charset="-122"/>
                </a:rPr>
                <a:t>化</a:t>
              </a:r>
              <a:r>
                <a:rPr sz="1900" spc="-140" dirty="0">
                  <a:solidFill>
                    <a:srgbClr val="000000">
                      <a:alpha val="100000"/>
                    </a:srgbClr>
                  </a:solidFill>
                  <a:latin typeface="微软雅黑" panose="020B0503020204020204" charset="-122"/>
                  <a:ea typeface="微软雅黑" panose="020B0503020204020204" charset="-122"/>
                  <a:cs typeface="楷体" panose="02010609060101010101" charset="-122"/>
                </a:rPr>
                <a:t>？</a:t>
              </a:r>
              <a:endParaRPr lang="en-US" altLang="en-US" sz="1900" dirty="0">
                <a:latin typeface="微软雅黑" panose="020B0503020204020204" charset="-122"/>
                <a:ea typeface="微软雅黑" panose="020B0503020204020204" charset="-122"/>
              </a:endParaRPr>
            </a:p>
            <a:p>
              <a:pPr algn="l" rtl="0" eaLnBrk="0">
                <a:lnSpc>
                  <a:spcPct val="105000"/>
                </a:lnSpc>
              </a:pPr>
              <a:endParaRPr lang="en-US" altLang="en-US" sz="800" dirty="0">
                <a:latin typeface="微软雅黑" panose="020B0503020204020204" charset="-122"/>
                <a:ea typeface="微软雅黑" panose="020B0503020204020204" charset="-122"/>
              </a:endParaRPr>
            </a:p>
            <a:p>
              <a:pPr algn="l" rtl="0" eaLnBrk="0">
                <a:lnSpc>
                  <a:spcPct val="7000"/>
                </a:lnSpc>
              </a:pPr>
              <a:endParaRPr lang="en-US" altLang="en-US" sz="100" dirty="0">
                <a:latin typeface="微软雅黑" panose="020B0503020204020204" charset="-122"/>
                <a:ea typeface="微软雅黑" panose="020B0503020204020204" charset="-122"/>
              </a:endParaRPr>
            </a:p>
            <a:p>
              <a:pPr marL="14605" indent="1270" algn="l" rtl="0" eaLnBrk="0">
                <a:lnSpc>
                  <a:spcPct val="101000"/>
                </a:lnSpc>
              </a:pPr>
              <a:r>
                <a:rPr sz="2000" spc="-80" dirty="0">
                  <a:solidFill>
                    <a:srgbClr val="000000">
                      <a:alpha val="100000"/>
                    </a:srgbClr>
                  </a:solidFill>
                  <a:latin typeface="微软雅黑" panose="020B0503020204020204" charset="-122"/>
                  <a:ea typeface="微软雅黑" panose="020B0503020204020204" charset="-122"/>
                  <a:cs typeface="楷体" panose="02010609060101010101" charset="-122"/>
                </a:rPr>
                <a:t>如何配套相应的管理体系，</a:t>
              </a:r>
              <a:r>
                <a:rPr sz="2000" spc="-6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2000" spc="0" dirty="0">
                  <a:solidFill>
                    <a:srgbClr val="000000">
                      <a:alpha val="100000"/>
                    </a:srgbClr>
                  </a:solidFill>
                  <a:latin typeface="微软雅黑" panose="020B0503020204020204" charset="-122"/>
                  <a:ea typeface="微软雅黑" panose="020B0503020204020204" charset="-122"/>
                  <a:cs typeface="楷体" panose="02010609060101010101" charset="-122"/>
                </a:rPr>
                <a:t>包 </a:t>
              </a:r>
              <a:r>
                <a:rPr sz="2000" spc="-10" dirty="0">
                  <a:solidFill>
                    <a:srgbClr val="000000">
                      <a:alpha val="100000"/>
                    </a:srgbClr>
                  </a:solidFill>
                  <a:latin typeface="微软雅黑" panose="020B0503020204020204" charset="-122"/>
                  <a:ea typeface="微软雅黑" panose="020B0503020204020204" charset="-122"/>
                  <a:cs typeface="楷体" panose="02010609060101010101" charset="-122"/>
                </a:rPr>
                <a:t>括</a:t>
              </a:r>
              <a:r>
                <a:rPr sz="2000" spc="0" dirty="0">
                  <a:solidFill>
                    <a:srgbClr val="000000">
                      <a:alpha val="100000"/>
                    </a:srgbClr>
                  </a:solidFill>
                  <a:latin typeface="微软雅黑" panose="020B0503020204020204" charset="-122"/>
                  <a:ea typeface="微软雅黑" panose="020B0503020204020204" charset="-122"/>
                  <a:cs typeface="楷体" panose="02010609060101010101" charset="-122"/>
                </a:rPr>
                <a:t>关键绩效指标体系，以实现 </a:t>
              </a:r>
              <a:r>
                <a:rPr sz="2000" spc="-10" dirty="0">
                  <a:solidFill>
                    <a:srgbClr val="000000">
                      <a:alpha val="100000"/>
                    </a:srgbClr>
                  </a:solidFill>
                  <a:latin typeface="微软雅黑" panose="020B0503020204020204" charset="-122"/>
                  <a:ea typeface="微软雅黑" panose="020B0503020204020204" charset="-122"/>
                  <a:cs typeface="楷体" panose="02010609060101010101" charset="-122"/>
                </a:rPr>
                <a:t>大客</a:t>
              </a:r>
              <a:r>
                <a:rPr sz="2000" spc="0" dirty="0">
                  <a:solidFill>
                    <a:srgbClr val="000000">
                      <a:alpha val="100000"/>
                    </a:srgbClr>
                  </a:solidFill>
                  <a:latin typeface="微软雅黑" panose="020B0503020204020204" charset="-122"/>
                  <a:ea typeface="微软雅黑" panose="020B0503020204020204" charset="-122"/>
                  <a:cs typeface="楷体" panose="02010609060101010101" charset="-122"/>
                </a:rPr>
                <a:t>户的高效服务和管理</a:t>
              </a:r>
              <a:endParaRPr lang="en-US" altLang="en-US" sz="2000" dirty="0">
                <a:latin typeface="微软雅黑" panose="020B0503020204020204" charset="-122"/>
                <a:ea typeface="微软雅黑" panose="020B0503020204020204" charset="-122"/>
              </a:endParaRPr>
            </a:p>
          </p:txBody>
        </p:sp>
        <p:pic>
          <p:nvPicPr>
            <p:cNvPr id="1349" name="picture 1349"/>
            <p:cNvPicPr>
              <a:picLocks noChangeAspect="1"/>
            </p:cNvPicPr>
            <p:nvPr/>
          </p:nvPicPr>
          <p:blipFill>
            <a:blip r:embed="rId3"/>
            <a:stretch>
              <a:fillRect/>
            </a:stretch>
          </p:blipFill>
          <p:spPr>
            <a:xfrm rot="21600000">
              <a:off x="388620" y="231647"/>
              <a:ext cx="320040" cy="321564"/>
            </a:xfrm>
            <a:prstGeom prst="rect">
              <a:avLst/>
            </a:prstGeom>
          </p:spPr>
        </p:pic>
        <p:pic>
          <p:nvPicPr>
            <p:cNvPr id="1350" name="picture 1350"/>
            <p:cNvPicPr>
              <a:picLocks noChangeAspect="1"/>
            </p:cNvPicPr>
            <p:nvPr/>
          </p:nvPicPr>
          <p:blipFill>
            <a:blip r:embed="rId3"/>
            <a:stretch>
              <a:fillRect/>
            </a:stretch>
          </p:blipFill>
          <p:spPr>
            <a:xfrm rot="21600000">
              <a:off x="388620" y="995171"/>
              <a:ext cx="320040" cy="321564"/>
            </a:xfrm>
            <a:prstGeom prst="rect">
              <a:avLst/>
            </a:prstGeom>
          </p:spPr>
        </p:pic>
        <p:pic>
          <p:nvPicPr>
            <p:cNvPr id="1351" name="picture 1351"/>
            <p:cNvPicPr>
              <a:picLocks noChangeAspect="1"/>
            </p:cNvPicPr>
            <p:nvPr/>
          </p:nvPicPr>
          <p:blipFill>
            <a:blip r:embed="rId3"/>
            <a:stretch>
              <a:fillRect/>
            </a:stretch>
          </p:blipFill>
          <p:spPr>
            <a:xfrm rot="21600000">
              <a:off x="388620" y="2406395"/>
              <a:ext cx="320040" cy="321564"/>
            </a:xfrm>
            <a:prstGeom prst="rect">
              <a:avLst/>
            </a:prstGeom>
          </p:spPr>
        </p:pic>
      </p:grpSp>
      <p:sp>
        <p:nvSpPr>
          <p:cNvPr id="1352" name="textbox 1352"/>
          <p:cNvSpPr/>
          <p:nvPr/>
        </p:nvSpPr>
        <p:spPr>
          <a:xfrm>
            <a:off x="449894" y="634564"/>
            <a:ext cx="8149590" cy="601980"/>
          </a:xfrm>
          <a:prstGeom prst="rect">
            <a:avLst/>
          </a:prstGeom>
        </p:spPr>
        <p:txBody>
          <a:bodyPr vert="horz" wrap="square" lIns="0" tIns="0" rIns="0" bIns="0"/>
          <a:lstStyle/>
          <a:p>
            <a:pPr algn="l" rtl="0" eaLnBrk="0">
              <a:lnSpc>
                <a:spcPct val="65000"/>
              </a:lnSpc>
            </a:pPr>
            <a:endParaRPr lang="en-US" altLang="en-US" sz="100" dirty="0">
              <a:latin typeface="微软雅黑" panose="020B0503020204020204" charset="-122"/>
              <a:ea typeface="微软雅黑" panose="020B0503020204020204" charset="-122"/>
            </a:endParaRPr>
          </a:p>
          <a:p>
            <a:pPr marL="12700" indent="25400" algn="l" rtl="0" eaLnBrk="0">
              <a:lnSpc>
                <a:spcPct val="95000"/>
              </a:lnSpc>
            </a:pPr>
            <a:r>
              <a:rPr sz="2000" spc="-40" dirty="0">
                <a:solidFill>
                  <a:srgbClr val="002960">
                    <a:alpha val="100000"/>
                  </a:srgbClr>
                </a:solidFill>
                <a:latin typeface="微软雅黑" panose="020B0503020204020204" charset="-122"/>
                <a:ea typeface="微软雅黑" panose="020B0503020204020204" charset="-122"/>
                <a:cs typeface="楷体" panose="02010609060101010101" charset="-122"/>
              </a:rPr>
              <a:t>大客户的突破需要基于对客户的全面分析，深入了解客户动态， 并配</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套相 </a:t>
            </a:r>
            <a:r>
              <a:rPr sz="2000" spc="-10" dirty="0">
                <a:solidFill>
                  <a:srgbClr val="002960">
                    <a:alpha val="100000"/>
                  </a:srgbClr>
                </a:solidFill>
                <a:latin typeface="微软雅黑" panose="020B0503020204020204" charset="-122"/>
                <a:ea typeface="微软雅黑" panose="020B0503020204020204" charset="-122"/>
                <a:cs typeface="楷体" panose="02010609060101010101" charset="-122"/>
              </a:rPr>
              <a:t>应的管</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理和组织体系以保障与大客户的有效对接</a:t>
            </a:r>
            <a:endParaRPr lang="en-US" altLang="en-US" sz="2000" dirty="0">
              <a:latin typeface="微软雅黑" panose="020B0503020204020204" charset="-122"/>
              <a:ea typeface="微软雅黑" panose="020B0503020204020204" charset="-122"/>
            </a:endParaRPr>
          </a:p>
        </p:txBody>
      </p:sp>
      <p:sp>
        <p:nvSpPr>
          <p:cNvPr id="1353" name="rect"/>
          <p:cNvSpPr/>
          <p:nvPr/>
        </p:nvSpPr>
        <p:spPr>
          <a:xfrm>
            <a:off x="761" y="1726691"/>
            <a:ext cx="8960357" cy="38100"/>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1354" name="path"/>
          <p:cNvSpPr/>
          <p:nvPr/>
        </p:nvSpPr>
        <p:spPr>
          <a:xfrm>
            <a:off x="0" y="1280160"/>
            <a:ext cx="4599432" cy="457200"/>
          </a:xfrm>
          <a:custGeom>
            <a:avLst/>
            <a:gdLst/>
            <a:ahLst/>
            <a:cxnLst/>
            <a:rect l="0" t="0" r="0" b="0"/>
            <a:pathLst>
              <a:path w="7243" h="720">
                <a:moveTo>
                  <a:pt x="519" y="0"/>
                </a:moveTo>
                <a:moveTo>
                  <a:pt x="519" y="0"/>
                </a:moveTo>
                <a:lnTo>
                  <a:pt x="6911" y="0"/>
                </a:lnTo>
                <a:cubicBezTo>
                  <a:pt x="7094" y="0"/>
                  <a:pt x="7243" y="148"/>
                  <a:pt x="7243" y="331"/>
                </a:cubicBezTo>
                <a:lnTo>
                  <a:pt x="7243" y="720"/>
                </a:lnTo>
                <a:lnTo>
                  <a:pt x="187" y="720"/>
                </a:lnTo>
                <a:lnTo>
                  <a:pt x="187" y="331"/>
                </a:lnTo>
                <a:cubicBezTo>
                  <a:pt x="187" y="148"/>
                  <a:pt x="335" y="0"/>
                  <a:pt x="519" y="0"/>
                </a:cubicBezTo>
              </a:path>
              <a:path w="7243" h="720">
                <a:moveTo>
                  <a:pt x="0" y="720"/>
                </a:moveTo>
                <a:lnTo>
                  <a:pt x="1245" y="720"/>
                </a:lnTo>
                <a:lnTo>
                  <a:pt x="1245" y="0"/>
                </a:lnTo>
                <a:lnTo>
                  <a:pt x="0" y="0"/>
                </a:lnTo>
                <a:lnTo>
                  <a:pt x="0" y="720"/>
                </a:lnTo>
                <a:close/>
              </a:path>
            </a:pathLst>
          </a:custGeom>
          <a:solidFill>
            <a:srgbClr val="0065BD">
              <a:alpha val="100000"/>
            </a:srgbClr>
          </a:solidFill>
          <a:ln cap="flat">
            <a:noFill/>
            <a:prstDash val="solid"/>
            <a:miter lim="0"/>
          </a:ln>
        </p:spPr>
        <p:txBody>
          <a:bodyPr rtlCol="0"/>
          <a:lstStyle/>
          <a:p>
            <a:pPr algn="ctr"/>
            <a:endParaRPr lang="zh-CN" altLang="en-US"/>
          </a:p>
        </p:txBody>
      </p:sp>
      <p:sp>
        <p:nvSpPr>
          <p:cNvPr id="1355" name="textbox 1355"/>
          <p:cNvSpPr/>
          <p:nvPr/>
        </p:nvSpPr>
        <p:spPr>
          <a:xfrm>
            <a:off x="413725" y="1370655"/>
            <a:ext cx="3059429" cy="312420"/>
          </a:xfrm>
          <a:prstGeom prst="rect">
            <a:avLst/>
          </a:prstGeom>
        </p:spPr>
        <p:txBody>
          <a:bodyPr vert="horz" wrap="square" lIns="0" tIns="0" rIns="0" bIns="0"/>
          <a:lstStyle/>
          <a:p>
            <a:pPr algn="l" rtl="0" eaLnBrk="0">
              <a:lnSpc>
                <a:spcPct val="85000"/>
              </a:lnSpc>
            </a:pPr>
            <a:endParaRPr lang="en-US" altLang="en-US" sz="100" dirty="0">
              <a:latin typeface="微软雅黑" panose="020B0503020204020204" charset="-122"/>
              <a:ea typeface="微软雅黑" panose="020B0503020204020204" charset="-122"/>
            </a:endParaRPr>
          </a:p>
          <a:p>
            <a:pPr marL="12700" algn="l" rtl="0" eaLnBrk="0">
              <a:lnSpc>
                <a:spcPct val="94000"/>
              </a:lnSpc>
            </a:pPr>
            <a:r>
              <a:rPr sz="2000" spc="-10" dirty="0">
                <a:ln w="7271" cap="flat" cmpd="sng">
                  <a:solidFill>
                    <a:srgbClr val="FFFFFF">
                      <a:alpha val="100000"/>
                    </a:srgbClr>
                  </a:solidFill>
                  <a:prstDash val="solid"/>
                  <a:miter lim="10"/>
                </a:ln>
                <a:solidFill>
                  <a:srgbClr val="FFFFFF">
                    <a:alpha val="100000"/>
                  </a:srgbClr>
                </a:solidFill>
                <a:latin typeface="微软雅黑" panose="020B0503020204020204" charset="-122"/>
                <a:ea typeface="微软雅黑" panose="020B0503020204020204" charset="-122"/>
                <a:cs typeface="楷体" panose="02010609060101010101" charset="-122"/>
              </a:rPr>
              <a:t>大客户突破的关键考虑要素</a:t>
            </a:r>
            <a:endParaRPr lang="en-US" altLang="en-US" sz="2000" dirty="0">
              <a:latin typeface="微软雅黑" panose="020B0503020204020204" charset="-122"/>
              <a:ea typeface="微软雅黑" panose="020B0503020204020204" charset="-122"/>
            </a:endParaRPr>
          </a:p>
        </p:txBody>
      </p:sp>
      <p:grpSp>
        <p:nvGrpSpPr>
          <p:cNvPr id="238" name="group 238"/>
          <p:cNvGrpSpPr/>
          <p:nvPr/>
        </p:nvGrpSpPr>
        <p:grpSpPr>
          <a:xfrm rot="21600000">
            <a:off x="118872" y="237744"/>
            <a:ext cx="292608" cy="292607"/>
            <a:chOff x="0" y="0"/>
            <a:chExt cx="292608" cy="292607"/>
          </a:xfrm>
        </p:grpSpPr>
        <p:sp>
          <p:nvSpPr>
            <p:cNvPr id="1357" name="path"/>
            <p:cNvSpPr/>
            <p:nvPr/>
          </p:nvSpPr>
          <p:spPr>
            <a:xfrm>
              <a:off x="0" y="0"/>
              <a:ext cx="292608" cy="292607"/>
            </a:xfrm>
            <a:custGeom>
              <a:avLst/>
              <a:gdLst/>
              <a:ahLst/>
              <a:cxnLst/>
              <a:rect l="0" t="0" r="0" b="0"/>
              <a:pathLst>
                <a:path w="460" h="460">
                  <a:moveTo>
                    <a:pt x="0" y="230"/>
                  </a:moveTo>
                  <a:cubicBezTo>
                    <a:pt x="0" y="103"/>
                    <a:pt x="103" y="0"/>
                    <a:pt x="230" y="0"/>
                  </a:cubicBezTo>
                  <a:cubicBezTo>
                    <a:pt x="357" y="0"/>
                    <a:pt x="460" y="103"/>
                    <a:pt x="460" y="230"/>
                  </a:cubicBezTo>
                  <a:cubicBezTo>
                    <a:pt x="460" y="357"/>
                    <a:pt x="357" y="460"/>
                    <a:pt x="230" y="460"/>
                  </a:cubicBezTo>
                  <a:cubicBezTo>
                    <a:pt x="103" y="460"/>
                    <a:pt x="0" y="357"/>
                    <a:pt x="0" y="230"/>
                  </a:cubicBezTo>
                </a:path>
              </a:pathLst>
            </a:custGeom>
            <a:solidFill>
              <a:srgbClr val="00ADEF">
                <a:alpha val="100000"/>
              </a:srgbClr>
            </a:solidFill>
            <a:ln cap="flat">
              <a:noFill/>
              <a:prstDash val="solid"/>
              <a:miter lim="0"/>
            </a:ln>
          </p:spPr>
          <p:txBody>
            <a:bodyPr rtlCol="0"/>
            <a:lstStyle/>
            <a:p>
              <a:pPr algn="ctr"/>
              <a:endParaRPr lang="zh-CN" altLang="en-US"/>
            </a:p>
          </p:txBody>
        </p:sp>
        <p:sp>
          <p:nvSpPr>
            <p:cNvPr id="1358" name="textbox 1358"/>
            <p:cNvSpPr/>
            <p:nvPr/>
          </p:nvSpPr>
          <p:spPr>
            <a:xfrm>
              <a:off x="-12700" y="-12700"/>
              <a:ext cx="318134" cy="379095"/>
            </a:xfrm>
            <a:prstGeom prst="rect">
              <a:avLst/>
            </a:prstGeom>
          </p:spPr>
          <p:txBody>
            <a:bodyPr vert="horz" wrap="square" lIns="0" tIns="0" rIns="0" bIns="0"/>
            <a:lstStyle/>
            <a:p>
              <a:pPr algn="l" rtl="0" eaLnBrk="0">
                <a:lnSpc>
                  <a:spcPct val="116000"/>
                </a:lnSpc>
              </a:pPr>
              <a:endParaRPr lang="en-US" altLang="en-US" sz="400" dirty="0">
                <a:latin typeface="微软雅黑" panose="020B0503020204020204" charset="-122"/>
                <a:ea typeface="微软雅黑" panose="020B0503020204020204" charset="-122"/>
              </a:endParaRPr>
            </a:p>
            <a:p>
              <a:pPr marL="94615" algn="l" rtl="0" eaLnBrk="0">
                <a:lnSpc>
                  <a:spcPct val="80000"/>
                </a:lnSpc>
                <a:spcBef>
                  <a:spcPts val="0"/>
                </a:spcBef>
              </a:pPr>
              <a:r>
                <a:rPr sz="2000" b="1" spc="0" dirty="0">
                  <a:solidFill>
                    <a:srgbClr val="FFFFFF">
                      <a:alpha val="100000"/>
                    </a:srgbClr>
                  </a:solidFill>
                  <a:latin typeface="微软雅黑" panose="020B0503020204020204" charset="-122"/>
                  <a:ea typeface="微软雅黑" panose="020B0503020204020204" charset="-122"/>
                  <a:cs typeface="Arial" panose="020B0604020202020204"/>
                </a:rPr>
                <a:t>2</a:t>
              </a:r>
              <a:endParaRPr lang="en-US" altLang="en-US" sz="2000" dirty="0">
                <a:latin typeface="微软雅黑" panose="020B0503020204020204" charset="-122"/>
                <a:ea typeface="微软雅黑" panose="020B0503020204020204" charset="-122"/>
              </a:endParaRPr>
            </a:p>
          </p:txBody>
        </p:sp>
      </p:grpSp>
      <p:sp>
        <p:nvSpPr>
          <p:cNvPr id="1359" name="rect"/>
          <p:cNvSpPr/>
          <p:nvPr/>
        </p:nvSpPr>
        <p:spPr>
          <a:xfrm>
            <a:off x="0" y="5922264"/>
            <a:ext cx="8961119" cy="9144"/>
          </a:xfrm>
          <a:prstGeom prst="rect">
            <a:avLst/>
          </a:prstGeom>
          <a:solidFill>
            <a:srgbClr val="0065BD">
              <a:alpha val="100000"/>
            </a:srgbClr>
          </a:solidFill>
          <a:ln cap="flat">
            <a:noFill/>
            <a:prstDash val="solid"/>
            <a:miter lim="0"/>
          </a:ln>
        </p:spPr>
        <p:txBody>
          <a:bodyPr rtlCol="0"/>
          <a:lstStyle/>
          <a:p>
            <a:pPr algn="ctr"/>
            <a:endParaRPr lang="zh-CN"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60" name="picture 1360"/>
          <p:cNvPicPr>
            <a:picLocks noChangeAspect="1"/>
          </p:cNvPicPr>
          <p:nvPr/>
        </p:nvPicPr>
        <p:blipFill>
          <a:blip r:embed="rId1"/>
          <a:stretch>
            <a:fillRect/>
          </a:stretch>
        </p:blipFill>
        <p:spPr>
          <a:xfrm rot="21600000">
            <a:off x="1536191" y="1127760"/>
            <a:ext cx="7424927" cy="5068823"/>
          </a:xfrm>
          <a:prstGeom prst="rect">
            <a:avLst/>
          </a:prstGeom>
        </p:spPr>
      </p:pic>
      <p:sp>
        <p:nvSpPr>
          <p:cNvPr id="1361" name="textbox 1361"/>
          <p:cNvSpPr/>
          <p:nvPr/>
        </p:nvSpPr>
        <p:spPr>
          <a:xfrm>
            <a:off x="8818509" y="1037437"/>
            <a:ext cx="114935" cy="3257550"/>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r>
              <a:rPr sz="600" spc="0" dirty="0">
                <a:solidFill>
                  <a:srgbClr val="808080">
                    <a:alpha val="100000"/>
                  </a:srgbClr>
                </a:solidFill>
                <a:latin typeface="Arial" panose="020B0604020202020204"/>
                <a:ea typeface="Arial" panose="020B0604020202020204"/>
                <a:cs typeface="Arial" panose="020B0604020202020204"/>
              </a:rPr>
              <a:t>                                                       </a:t>
            </a:r>
            <a:endParaRPr lang="en-US" altLang="en-US" sz="600" dirty="0"/>
          </a:p>
        </p:txBody>
      </p:sp>
      <p:pic>
        <p:nvPicPr>
          <p:cNvPr id="1362" name="picture 1362"/>
          <p:cNvPicPr>
            <a:picLocks noChangeAspect="1"/>
          </p:cNvPicPr>
          <p:nvPr/>
        </p:nvPicPr>
        <p:blipFill>
          <a:blip r:embed="rId2"/>
          <a:stretch>
            <a:fillRect/>
          </a:stretch>
        </p:blipFill>
        <p:spPr>
          <a:xfrm rot="21600000">
            <a:off x="2897123" y="1208532"/>
            <a:ext cx="6063995" cy="4907279"/>
          </a:xfrm>
          <a:prstGeom prst="rect">
            <a:avLst/>
          </a:prstGeom>
        </p:spPr>
      </p:pic>
      <p:grpSp>
        <p:nvGrpSpPr>
          <p:cNvPr id="240" name="group 240"/>
          <p:cNvGrpSpPr/>
          <p:nvPr/>
        </p:nvGrpSpPr>
        <p:grpSpPr>
          <a:xfrm rot="21600000">
            <a:off x="1699260" y="1475232"/>
            <a:ext cx="6187440" cy="914400"/>
            <a:chOff x="0" y="0"/>
            <a:chExt cx="6187440" cy="914400"/>
          </a:xfrm>
        </p:grpSpPr>
        <p:pic>
          <p:nvPicPr>
            <p:cNvPr id="1363" name="picture 1363"/>
            <p:cNvPicPr>
              <a:picLocks noChangeAspect="1"/>
            </p:cNvPicPr>
            <p:nvPr/>
          </p:nvPicPr>
          <p:blipFill>
            <a:blip r:embed="rId3"/>
            <a:stretch>
              <a:fillRect/>
            </a:stretch>
          </p:blipFill>
          <p:spPr>
            <a:xfrm rot="21600000">
              <a:off x="0" y="0"/>
              <a:ext cx="6187440" cy="914400"/>
            </a:xfrm>
            <a:prstGeom prst="rect">
              <a:avLst/>
            </a:prstGeom>
          </p:spPr>
        </p:pic>
        <p:sp>
          <p:nvSpPr>
            <p:cNvPr id="1364" name="textbox 1364"/>
            <p:cNvSpPr/>
            <p:nvPr/>
          </p:nvSpPr>
          <p:spPr>
            <a:xfrm>
              <a:off x="-12700" y="-12700"/>
              <a:ext cx="6213475" cy="962025"/>
            </a:xfrm>
            <a:prstGeom prst="rect">
              <a:avLst/>
            </a:prstGeom>
          </p:spPr>
          <p:txBody>
            <a:bodyPr vert="horz" wrap="square" lIns="0" tIns="0" rIns="0" bIns="0"/>
            <a:lstStyle/>
            <a:p>
              <a:pPr algn="l" rtl="0" eaLnBrk="0">
                <a:lnSpc>
                  <a:spcPct val="118000"/>
                </a:lnSpc>
              </a:pPr>
              <a:endParaRPr lang="en-US" altLang="en-US" sz="1000" dirty="0">
                <a:latin typeface="微软雅黑" panose="020B0503020204020204" charset="-122"/>
                <a:ea typeface="微软雅黑" panose="020B0503020204020204" charset="-122"/>
              </a:endParaRPr>
            </a:p>
            <a:p>
              <a:pPr algn="l" rtl="0" eaLnBrk="0">
                <a:lnSpc>
                  <a:spcPct val="119000"/>
                </a:lnSpc>
              </a:pPr>
              <a:endParaRPr lang="en-US" altLang="en-US" sz="1000" dirty="0">
                <a:latin typeface="微软雅黑" panose="020B0503020204020204" charset="-122"/>
                <a:ea typeface="微软雅黑" panose="020B0503020204020204" charset="-122"/>
              </a:endParaRPr>
            </a:p>
            <a:p>
              <a:pPr marL="357505" algn="l" rtl="0" eaLnBrk="0">
                <a:lnSpc>
                  <a:spcPct val="91000"/>
                </a:lnSpc>
                <a:spcBef>
                  <a:spcPts val="5"/>
                </a:spcBef>
              </a:pPr>
              <a:r>
                <a:rPr sz="1800" spc="-10" dirty="0">
                  <a:ln w="653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当前传化的大客户</a:t>
              </a:r>
              <a:r>
                <a:rPr sz="1800" spc="0" dirty="0">
                  <a:ln w="653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突破存在哪些主要问题</a:t>
              </a:r>
              <a:endParaRPr lang="en-US" altLang="en-US" sz="1800" dirty="0">
                <a:latin typeface="微软雅黑" panose="020B0503020204020204" charset="-122"/>
                <a:ea typeface="微软雅黑" panose="020B0503020204020204" charset="-122"/>
              </a:endParaRPr>
            </a:p>
          </p:txBody>
        </p:sp>
      </p:grpSp>
      <p:grpSp>
        <p:nvGrpSpPr>
          <p:cNvPr id="242" name="group 242"/>
          <p:cNvGrpSpPr/>
          <p:nvPr/>
        </p:nvGrpSpPr>
        <p:grpSpPr>
          <a:xfrm rot="21600000">
            <a:off x="1699260" y="2634996"/>
            <a:ext cx="6187440" cy="914400"/>
            <a:chOff x="0" y="0"/>
            <a:chExt cx="6187440" cy="914400"/>
          </a:xfrm>
        </p:grpSpPr>
        <p:pic>
          <p:nvPicPr>
            <p:cNvPr id="1365" name="picture 1365"/>
            <p:cNvPicPr>
              <a:picLocks noChangeAspect="1"/>
            </p:cNvPicPr>
            <p:nvPr/>
          </p:nvPicPr>
          <p:blipFill>
            <a:blip r:embed="rId4"/>
            <a:stretch>
              <a:fillRect/>
            </a:stretch>
          </p:blipFill>
          <p:spPr>
            <a:xfrm rot="21600000">
              <a:off x="0" y="0"/>
              <a:ext cx="6187440" cy="914400"/>
            </a:xfrm>
            <a:prstGeom prst="rect">
              <a:avLst/>
            </a:prstGeom>
          </p:spPr>
        </p:pic>
        <p:sp>
          <p:nvSpPr>
            <p:cNvPr id="1366" name="textbox 1366"/>
            <p:cNvSpPr/>
            <p:nvPr/>
          </p:nvSpPr>
          <p:spPr>
            <a:xfrm>
              <a:off x="-12700" y="-12700"/>
              <a:ext cx="6213475" cy="962025"/>
            </a:xfrm>
            <a:prstGeom prst="rect">
              <a:avLst/>
            </a:prstGeom>
          </p:spPr>
          <p:txBody>
            <a:bodyPr vert="horz" wrap="square" lIns="0" tIns="0" rIns="0" bIns="0"/>
            <a:lstStyle/>
            <a:p>
              <a:pPr algn="l" rtl="0" eaLnBrk="0">
                <a:lnSpc>
                  <a:spcPct val="118000"/>
                </a:lnSpc>
              </a:pPr>
              <a:endParaRPr lang="en-US" altLang="en-US" sz="1000" dirty="0">
                <a:latin typeface="微软雅黑" panose="020B0503020204020204" charset="-122"/>
                <a:ea typeface="微软雅黑" panose="020B0503020204020204" charset="-122"/>
              </a:endParaRPr>
            </a:p>
            <a:p>
              <a:pPr algn="l" rtl="0" eaLnBrk="0">
                <a:lnSpc>
                  <a:spcPct val="119000"/>
                </a:lnSpc>
              </a:pPr>
              <a:endParaRPr lang="en-US" altLang="en-US" sz="1000" dirty="0">
                <a:latin typeface="微软雅黑" panose="020B0503020204020204" charset="-122"/>
                <a:ea typeface="微软雅黑" panose="020B0503020204020204" charset="-122"/>
              </a:endParaRPr>
            </a:p>
            <a:p>
              <a:pPr algn="l" rtl="0" eaLnBrk="0">
                <a:lnSpc>
                  <a:spcPct val="9000"/>
                </a:lnSpc>
              </a:pPr>
              <a:endParaRPr lang="en-US" altLang="en-US" sz="100" dirty="0">
                <a:latin typeface="微软雅黑" panose="020B0503020204020204" charset="-122"/>
                <a:ea typeface="微软雅黑" panose="020B0503020204020204" charset="-122"/>
              </a:endParaRPr>
            </a:p>
            <a:p>
              <a:pPr marL="325120" algn="l" rtl="0" eaLnBrk="0">
                <a:lnSpc>
                  <a:spcPct val="91000"/>
                </a:lnSpc>
              </a:pPr>
              <a:r>
                <a:rPr sz="1800" spc="10" dirty="0">
                  <a:ln w="653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针对大客户突破的主要问题有哪些可能的解决方</a:t>
              </a:r>
              <a:r>
                <a:rPr sz="1800" spc="0" dirty="0">
                  <a:ln w="653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案</a:t>
              </a:r>
              <a:endParaRPr lang="en-US" altLang="en-US" sz="1800" dirty="0">
                <a:latin typeface="微软雅黑" panose="020B0503020204020204" charset="-122"/>
                <a:ea typeface="微软雅黑" panose="020B0503020204020204" charset="-122"/>
              </a:endParaRPr>
            </a:p>
          </p:txBody>
        </p:sp>
      </p:grpSp>
      <p:grpSp>
        <p:nvGrpSpPr>
          <p:cNvPr id="244" name="group 244"/>
          <p:cNvGrpSpPr/>
          <p:nvPr/>
        </p:nvGrpSpPr>
        <p:grpSpPr>
          <a:xfrm rot="21600000">
            <a:off x="1699260" y="3794760"/>
            <a:ext cx="6187440" cy="914400"/>
            <a:chOff x="0" y="0"/>
            <a:chExt cx="6187440" cy="914400"/>
          </a:xfrm>
        </p:grpSpPr>
        <p:pic>
          <p:nvPicPr>
            <p:cNvPr id="1367" name="picture 1367"/>
            <p:cNvPicPr>
              <a:picLocks noChangeAspect="1"/>
            </p:cNvPicPr>
            <p:nvPr/>
          </p:nvPicPr>
          <p:blipFill>
            <a:blip r:embed="rId5"/>
            <a:stretch>
              <a:fillRect/>
            </a:stretch>
          </p:blipFill>
          <p:spPr>
            <a:xfrm rot="21600000">
              <a:off x="0" y="0"/>
              <a:ext cx="6187440" cy="914400"/>
            </a:xfrm>
            <a:prstGeom prst="rect">
              <a:avLst/>
            </a:prstGeom>
          </p:spPr>
        </p:pic>
        <p:sp>
          <p:nvSpPr>
            <p:cNvPr id="1368" name="textbox 1368"/>
            <p:cNvSpPr/>
            <p:nvPr/>
          </p:nvSpPr>
          <p:spPr>
            <a:xfrm>
              <a:off x="-12700" y="-12700"/>
              <a:ext cx="6213475" cy="971550"/>
            </a:xfrm>
            <a:prstGeom prst="rect">
              <a:avLst/>
            </a:prstGeom>
          </p:spPr>
          <p:txBody>
            <a:bodyPr vert="horz" wrap="square" lIns="0" tIns="0" rIns="0" bIns="0"/>
            <a:lstStyle/>
            <a:p>
              <a:pPr algn="l" rtl="0" eaLnBrk="0">
                <a:lnSpc>
                  <a:spcPct val="118000"/>
                </a:lnSpc>
              </a:pPr>
              <a:endParaRPr lang="en-US" altLang="en-US" sz="1000" dirty="0">
                <a:latin typeface="微软雅黑" panose="020B0503020204020204" charset="-122"/>
                <a:ea typeface="微软雅黑" panose="020B0503020204020204" charset="-122"/>
              </a:endParaRPr>
            </a:p>
            <a:p>
              <a:pPr algn="l" rtl="0" eaLnBrk="0">
                <a:lnSpc>
                  <a:spcPct val="119000"/>
                </a:lnSpc>
              </a:pPr>
              <a:endParaRPr lang="en-US" altLang="en-US" sz="1000" dirty="0">
                <a:latin typeface="微软雅黑" panose="020B0503020204020204" charset="-122"/>
                <a:ea typeface="微软雅黑" panose="020B0503020204020204" charset="-122"/>
              </a:endParaRPr>
            </a:p>
            <a:p>
              <a:pPr marL="334645" algn="l" rtl="0" eaLnBrk="0">
                <a:lnSpc>
                  <a:spcPct val="95000"/>
                </a:lnSpc>
                <a:spcBef>
                  <a:spcPts val="5"/>
                </a:spcBef>
              </a:pPr>
              <a:r>
                <a:rPr sz="1800" spc="10" dirty="0">
                  <a:ln w="6540"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制定和实施大客户突破问题解决方案的</a:t>
              </a:r>
              <a:r>
                <a:rPr sz="1800" spc="0" dirty="0">
                  <a:ln w="6540"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可能风险和挑战</a:t>
              </a:r>
              <a:endParaRPr lang="en-US" altLang="en-US" sz="1800" dirty="0">
                <a:latin typeface="微软雅黑" panose="020B0503020204020204" charset="-122"/>
                <a:ea typeface="微软雅黑" panose="020B0503020204020204" charset="-122"/>
              </a:endParaRPr>
            </a:p>
          </p:txBody>
        </p:sp>
      </p:grpSp>
      <p:grpSp>
        <p:nvGrpSpPr>
          <p:cNvPr id="246" name="group 246"/>
          <p:cNvGrpSpPr/>
          <p:nvPr/>
        </p:nvGrpSpPr>
        <p:grpSpPr>
          <a:xfrm rot="21600000">
            <a:off x="1699260" y="4954523"/>
            <a:ext cx="6187440" cy="914400"/>
            <a:chOff x="0" y="0"/>
            <a:chExt cx="6187440" cy="914400"/>
          </a:xfrm>
        </p:grpSpPr>
        <p:pic>
          <p:nvPicPr>
            <p:cNvPr id="1369" name="picture 1369"/>
            <p:cNvPicPr>
              <a:picLocks noChangeAspect="1"/>
            </p:cNvPicPr>
            <p:nvPr/>
          </p:nvPicPr>
          <p:blipFill>
            <a:blip r:embed="rId6"/>
            <a:stretch>
              <a:fillRect/>
            </a:stretch>
          </p:blipFill>
          <p:spPr>
            <a:xfrm rot="21600000">
              <a:off x="0" y="0"/>
              <a:ext cx="6187440" cy="914400"/>
            </a:xfrm>
            <a:prstGeom prst="rect">
              <a:avLst/>
            </a:prstGeom>
          </p:spPr>
        </p:pic>
        <p:sp>
          <p:nvSpPr>
            <p:cNvPr id="1370" name="textbox 1370"/>
            <p:cNvSpPr/>
            <p:nvPr/>
          </p:nvSpPr>
          <p:spPr>
            <a:xfrm>
              <a:off x="-12700" y="-12700"/>
              <a:ext cx="6213475" cy="967105"/>
            </a:xfrm>
            <a:prstGeom prst="rect">
              <a:avLst/>
            </a:prstGeom>
          </p:spPr>
          <p:txBody>
            <a:bodyPr vert="horz" wrap="square" lIns="0" tIns="0" rIns="0" bIns="0"/>
            <a:lstStyle/>
            <a:p>
              <a:pPr algn="l" rtl="0" eaLnBrk="0">
                <a:lnSpc>
                  <a:spcPct val="119000"/>
                </a:lnSpc>
              </a:pPr>
              <a:endParaRPr lang="en-US" altLang="en-US" sz="1000" dirty="0">
                <a:latin typeface="微软雅黑" panose="020B0503020204020204" charset="-122"/>
                <a:ea typeface="微软雅黑" panose="020B0503020204020204" charset="-122"/>
              </a:endParaRPr>
            </a:p>
            <a:p>
              <a:pPr algn="l" rtl="0" eaLnBrk="0">
                <a:lnSpc>
                  <a:spcPct val="119000"/>
                </a:lnSpc>
              </a:pPr>
              <a:endParaRPr lang="en-US" altLang="en-US" sz="1000" dirty="0">
                <a:latin typeface="微软雅黑" panose="020B0503020204020204" charset="-122"/>
                <a:ea typeface="微软雅黑" panose="020B0503020204020204" charset="-122"/>
              </a:endParaRPr>
            </a:p>
            <a:p>
              <a:pPr marL="349250" algn="l" rtl="0" eaLnBrk="0">
                <a:lnSpc>
                  <a:spcPct val="93000"/>
                </a:lnSpc>
                <a:spcBef>
                  <a:spcPts val="5"/>
                </a:spcBef>
              </a:pPr>
              <a:r>
                <a:rPr sz="1800" spc="-10" dirty="0">
                  <a:ln w="653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大客户突破的经</a:t>
              </a:r>
              <a:r>
                <a:rPr sz="1800" spc="0" dirty="0">
                  <a:ln w="653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验和案例分享</a:t>
              </a:r>
              <a:endParaRPr lang="en-US" altLang="en-US" sz="1800" dirty="0">
                <a:latin typeface="微软雅黑" panose="020B0503020204020204" charset="-122"/>
                <a:ea typeface="微软雅黑" panose="020B0503020204020204" charset="-122"/>
              </a:endParaRPr>
            </a:p>
          </p:txBody>
        </p:sp>
      </p:grpSp>
      <p:sp>
        <p:nvSpPr>
          <p:cNvPr id="1371" name="textbox 1371"/>
          <p:cNvSpPr/>
          <p:nvPr/>
        </p:nvSpPr>
        <p:spPr>
          <a:xfrm>
            <a:off x="187960" y="248920"/>
            <a:ext cx="3996055" cy="309245"/>
          </a:xfrm>
          <a:prstGeom prst="rect">
            <a:avLst/>
          </a:prstGeom>
        </p:spPr>
        <p:txBody>
          <a:bodyPr vert="horz" wrap="square" lIns="0" tIns="0" rIns="0" bIns="0"/>
          <a:lstStyle/>
          <a:p>
            <a:pPr algn="l" rtl="0" eaLnBrk="0">
              <a:lnSpc>
                <a:spcPct val="85000"/>
              </a:lnSpc>
            </a:pPr>
            <a:endParaRPr lang="en-US" altLang="en-US" sz="100" dirty="0">
              <a:latin typeface="微软雅黑" panose="020B0503020204020204" charset="-122"/>
              <a:ea typeface="微软雅黑" panose="020B0503020204020204" charset="-122"/>
            </a:endParaRPr>
          </a:p>
          <a:p>
            <a:pPr marL="12700" algn="l" rtl="0" eaLnBrk="0">
              <a:lnSpc>
                <a:spcPct val="93000"/>
              </a:lnSpc>
            </a:pPr>
            <a:r>
              <a:rPr sz="2000" b="1" spc="-20" dirty="0">
                <a:solidFill>
                  <a:srgbClr val="D9D9D9">
                    <a:alpha val="100000"/>
                  </a:srgbClr>
                </a:solidFill>
                <a:latin typeface="微软雅黑" panose="020B0503020204020204" charset="-122"/>
                <a:ea typeface="微软雅黑" panose="020B0503020204020204" charset="-122"/>
                <a:cs typeface="Arial" panose="020B0604020202020204"/>
              </a:rPr>
              <a:t>2</a:t>
            </a:r>
            <a:r>
              <a:rPr sz="2000" spc="-20" dirty="0">
                <a:solidFill>
                  <a:srgbClr val="D9D9D9">
                    <a:alpha val="100000"/>
                  </a:srgbClr>
                </a:solidFill>
                <a:latin typeface="微软雅黑" panose="020B0503020204020204" charset="-122"/>
                <a:ea typeface="微软雅黑" panose="020B0503020204020204" charset="-122"/>
                <a:cs typeface="Arial" panose="020B0604020202020204"/>
              </a:rPr>
              <a:t>  </a:t>
            </a:r>
            <a:r>
              <a:rPr sz="2000" spc="-20" dirty="0">
                <a:solidFill>
                  <a:srgbClr val="002960">
                    <a:alpha val="100000"/>
                  </a:srgbClr>
                </a:solidFill>
                <a:latin typeface="微软雅黑" panose="020B0503020204020204" charset="-122"/>
                <a:ea typeface="微软雅黑" panose="020B0503020204020204" charset="-122"/>
                <a:cs typeface="楷体" panose="02010609060101010101" charset="-122"/>
              </a:rPr>
              <a:t>大客户突破小</a:t>
            </a:r>
            <a:r>
              <a:rPr sz="2000" spc="-10" dirty="0">
                <a:solidFill>
                  <a:srgbClr val="002960">
                    <a:alpha val="100000"/>
                  </a:srgbClr>
                </a:solidFill>
                <a:latin typeface="微软雅黑" panose="020B0503020204020204" charset="-122"/>
                <a:ea typeface="微软雅黑" panose="020B0503020204020204" charset="-122"/>
                <a:cs typeface="楷体" panose="02010609060101010101" charset="-122"/>
              </a:rPr>
              <a:t>组</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讨论安排</a:t>
            </a:r>
            <a:endParaRPr lang="en-US" altLang="en-US" sz="2000" dirty="0">
              <a:latin typeface="微软雅黑" panose="020B0503020204020204" charset="-122"/>
              <a:ea typeface="微软雅黑" panose="020B0503020204020204"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3" name="textbox 1373"/>
          <p:cNvSpPr/>
          <p:nvPr/>
        </p:nvSpPr>
        <p:spPr>
          <a:xfrm>
            <a:off x="8818509" y="1037437"/>
            <a:ext cx="114935" cy="3257550"/>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r>
              <a:rPr sz="600" spc="0" dirty="0">
                <a:solidFill>
                  <a:srgbClr val="808080">
                    <a:alpha val="100000"/>
                  </a:srgbClr>
                </a:solidFill>
                <a:latin typeface="Arial" panose="020B0604020202020204"/>
                <a:ea typeface="Arial" panose="020B0604020202020204"/>
                <a:cs typeface="Arial" panose="020B0604020202020204"/>
              </a:rPr>
              <a:t>                                                       </a:t>
            </a:r>
            <a:endParaRPr lang="en-US" altLang="en-US" sz="600" dirty="0"/>
          </a:p>
        </p:txBody>
      </p:sp>
      <p:pic>
        <p:nvPicPr>
          <p:cNvPr id="1374" name="picture 1374"/>
          <p:cNvPicPr>
            <a:picLocks noChangeAspect="1"/>
          </p:cNvPicPr>
          <p:nvPr/>
        </p:nvPicPr>
        <p:blipFill>
          <a:blip r:embed="rId1"/>
          <a:stretch>
            <a:fillRect/>
          </a:stretch>
        </p:blipFill>
        <p:spPr>
          <a:xfrm rot="21600000">
            <a:off x="0" y="1894332"/>
            <a:ext cx="4317491" cy="4032503"/>
          </a:xfrm>
          <a:prstGeom prst="rect">
            <a:avLst/>
          </a:prstGeom>
        </p:spPr>
      </p:pic>
      <p:sp>
        <p:nvSpPr>
          <p:cNvPr id="1375" name="rect"/>
          <p:cNvSpPr/>
          <p:nvPr/>
        </p:nvSpPr>
        <p:spPr>
          <a:xfrm>
            <a:off x="0" y="5922264"/>
            <a:ext cx="8961119" cy="9144"/>
          </a:xfrm>
          <a:prstGeom prst="rect">
            <a:avLst/>
          </a:prstGeom>
          <a:solidFill>
            <a:srgbClr val="0065BD">
              <a:alpha val="100000"/>
            </a:srgbClr>
          </a:solidFill>
          <a:ln cap="flat">
            <a:noFill/>
            <a:prstDash val="solid"/>
            <a:miter lim="0"/>
          </a:ln>
        </p:spPr>
        <p:txBody>
          <a:bodyPr rtlCol="0"/>
          <a:lstStyle/>
          <a:p>
            <a:pPr algn="ctr"/>
            <a:endParaRPr lang="zh-CN" altLang="en-US"/>
          </a:p>
        </p:txBody>
      </p:sp>
      <p:sp>
        <p:nvSpPr>
          <p:cNvPr id="1376" name="rect"/>
          <p:cNvSpPr/>
          <p:nvPr/>
        </p:nvSpPr>
        <p:spPr>
          <a:xfrm>
            <a:off x="761" y="1726691"/>
            <a:ext cx="8960357" cy="38100"/>
          </a:xfrm>
          <a:prstGeom prst="rect">
            <a:avLst/>
          </a:prstGeom>
          <a:solidFill>
            <a:srgbClr val="FFFFFF">
              <a:alpha val="100000"/>
            </a:srgbClr>
          </a:solidFill>
          <a:ln cap="flat">
            <a:noFill/>
            <a:prstDash val="solid"/>
            <a:miter lim="0"/>
          </a:ln>
        </p:spPr>
        <p:txBody>
          <a:bodyPr rtlCol="0"/>
          <a:lstStyle/>
          <a:p>
            <a:pPr algn="ctr"/>
            <a:endParaRPr lang="zh-CN" altLang="en-US"/>
          </a:p>
        </p:txBody>
      </p:sp>
      <p:pic>
        <p:nvPicPr>
          <p:cNvPr id="1377" name="picture 1377"/>
          <p:cNvPicPr>
            <a:picLocks noChangeAspect="1"/>
          </p:cNvPicPr>
          <p:nvPr/>
        </p:nvPicPr>
        <p:blipFill>
          <a:blip r:embed="rId2"/>
          <a:stretch>
            <a:fillRect/>
          </a:stretch>
        </p:blipFill>
        <p:spPr>
          <a:xfrm rot="21600000">
            <a:off x="4346447" y="1755648"/>
            <a:ext cx="4614671" cy="4171188"/>
          </a:xfrm>
          <a:prstGeom prst="rect">
            <a:avLst/>
          </a:prstGeom>
        </p:spPr>
      </p:pic>
      <p:sp>
        <p:nvSpPr>
          <p:cNvPr id="1378" name="path"/>
          <p:cNvSpPr/>
          <p:nvPr/>
        </p:nvSpPr>
        <p:spPr>
          <a:xfrm>
            <a:off x="0" y="1280160"/>
            <a:ext cx="4599432" cy="457200"/>
          </a:xfrm>
          <a:custGeom>
            <a:avLst/>
            <a:gdLst/>
            <a:ahLst/>
            <a:cxnLst/>
            <a:rect l="0" t="0" r="0" b="0"/>
            <a:pathLst>
              <a:path w="7243" h="720">
                <a:moveTo>
                  <a:pt x="519" y="0"/>
                </a:moveTo>
                <a:moveTo>
                  <a:pt x="519" y="0"/>
                </a:moveTo>
                <a:lnTo>
                  <a:pt x="6911" y="0"/>
                </a:lnTo>
                <a:cubicBezTo>
                  <a:pt x="7094" y="0"/>
                  <a:pt x="7243" y="148"/>
                  <a:pt x="7243" y="331"/>
                </a:cubicBezTo>
                <a:lnTo>
                  <a:pt x="7243" y="720"/>
                </a:lnTo>
                <a:lnTo>
                  <a:pt x="187" y="720"/>
                </a:lnTo>
                <a:lnTo>
                  <a:pt x="187" y="331"/>
                </a:lnTo>
                <a:cubicBezTo>
                  <a:pt x="187" y="148"/>
                  <a:pt x="335" y="0"/>
                  <a:pt x="519" y="0"/>
                </a:cubicBezTo>
              </a:path>
              <a:path w="7243" h="720">
                <a:moveTo>
                  <a:pt x="0" y="720"/>
                </a:moveTo>
                <a:lnTo>
                  <a:pt x="1245" y="720"/>
                </a:lnTo>
                <a:lnTo>
                  <a:pt x="1245" y="0"/>
                </a:lnTo>
                <a:lnTo>
                  <a:pt x="0" y="0"/>
                </a:lnTo>
                <a:lnTo>
                  <a:pt x="0" y="720"/>
                </a:lnTo>
                <a:close/>
              </a:path>
            </a:pathLst>
          </a:custGeom>
          <a:solidFill>
            <a:srgbClr val="0065BD">
              <a:alpha val="100000"/>
            </a:srgbClr>
          </a:solidFill>
          <a:ln cap="flat">
            <a:noFill/>
            <a:prstDash val="solid"/>
            <a:miter lim="0"/>
          </a:ln>
        </p:spPr>
        <p:txBody>
          <a:bodyPr rtlCol="0"/>
          <a:lstStyle/>
          <a:p>
            <a:pPr algn="ctr"/>
            <a:endParaRPr lang="zh-CN" altLang="en-US"/>
          </a:p>
        </p:txBody>
      </p:sp>
      <p:sp>
        <p:nvSpPr>
          <p:cNvPr id="1379" name="textbox 1379"/>
          <p:cNvSpPr/>
          <p:nvPr/>
        </p:nvSpPr>
        <p:spPr>
          <a:xfrm>
            <a:off x="401763" y="1370655"/>
            <a:ext cx="3793490" cy="3218814"/>
          </a:xfrm>
          <a:prstGeom prst="rect">
            <a:avLst/>
          </a:prstGeom>
        </p:spPr>
        <p:txBody>
          <a:bodyPr vert="horz" wrap="square" lIns="0" tIns="0" rIns="0" bIns="0"/>
          <a:lstStyle/>
          <a:p>
            <a:pPr algn="l" rtl="0" eaLnBrk="0">
              <a:lnSpc>
                <a:spcPct val="85000"/>
              </a:lnSpc>
            </a:pPr>
            <a:endParaRPr lang="en-US" altLang="en-US" sz="100" dirty="0">
              <a:latin typeface="微软雅黑" panose="020B0503020204020204" charset="-122"/>
              <a:ea typeface="微软雅黑" panose="020B0503020204020204" charset="-122"/>
            </a:endParaRPr>
          </a:p>
          <a:p>
            <a:pPr marL="12700" algn="l" rtl="0" eaLnBrk="0">
              <a:lnSpc>
                <a:spcPct val="94000"/>
              </a:lnSpc>
            </a:pPr>
            <a:r>
              <a:rPr sz="2000" spc="10" dirty="0">
                <a:ln w="7271" cap="flat" cmpd="sng">
                  <a:solidFill>
                    <a:srgbClr val="FFFFFF">
                      <a:alpha val="100000"/>
                    </a:srgbClr>
                  </a:solidFill>
                  <a:prstDash val="solid"/>
                  <a:miter lim="10"/>
                </a:ln>
                <a:solidFill>
                  <a:srgbClr val="FFFFFF">
                    <a:alpha val="100000"/>
                  </a:srgbClr>
                </a:solidFill>
                <a:latin typeface="微软雅黑" panose="020B0503020204020204" charset="-122"/>
                <a:ea typeface="微软雅黑" panose="020B0503020204020204" charset="-122"/>
                <a:cs typeface="楷体" panose="02010609060101010101" charset="-122"/>
              </a:rPr>
              <a:t>组织</a:t>
            </a:r>
            <a:r>
              <a:rPr sz="2000" spc="0" dirty="0">
                <a:ln w="7271" cap="flat" cmpd="sng">
                  <a:solidFill>
                    <a:srgbClr val="FFFFFF">
                      <a:alpha val="100000"/>
                    </a:srgbClr>
                  </a:solidFill>
                  <a:prstDash val="solid"/>
                  <a:miter lim="10"/>
                </a:ln>
                <a:solidFill>
                  <a:srgbClr val="FFFFFF">
                    <a:alpha val="100000"/>
                  </a:srgbClr>
                </a:solidFill>
                <a:latin typeface="微软雅黑" panose="020B0503020204020204" charset="-122"/>
                <a:ea typeface="微软雅黑" panose="020B0503020204020204" charset="-122"/>
                <a:cs typeface="楷体" panose="02010609060101010101" charset="-122"/>
              </a:rPr>
              <a:t>和机制设计的关键考虑要素</a:t>
            </a:r>
            <a:endParaRPr lang="en-US" altLang="en-US" sz="2000" dirty="0">
              <a:latin typeface="微软雅黑" panose="020B0503020204020204" charset="-122"/>
              <a:ea typeface="微软雅黑" panose="020B0503020204020204" charset="-122"/>
            </a:endParaRPr>
          </a:p>
          <a:p>
            <a:pPr algn="l" rtl="0" eaLnBrk="0">
              <a:lnSpc>
                <a:spcPct val="124000"/>
              </a:lnSpc>
            </a:pPr>
            <a:endParaRPr lang="en-US" altLang="en-US" sz="1000" dirty="0">
              <a:latin typeface="微软雅黑" panose="020B0503020204020204" charset="-122"/>
              <a:ea typeface="微软雅黑" panose="020B0503020204020204" charset="-122"/>
            </a:endParaRPr>
          </a:p>
          <a:p>
            <a:pPr algn="l" rtl="0" eaLnBrk="0">
              <a:lnSpc>
                <a:spcPct val="124000"/>
              </a:lnSpc>
            </a:pPr>
            <a:endParaRPr lang="en-US" altLang="en-US" sz="1000" dirty="0">
              <a:latin typeface="微软雅黑" panose="020B0503020204020204" charset="-122"/>
              <a:ea typeface="微软雅黑" panose="020B0503020204020204" charset="-122"/>
            </a:endParaRPr>
          </a:p>
          <a:p>
            <a:pPr marL="486410" indent="33655" algn="l" rtl="0" eaLnBrk="0">
              <a:lnSpc>
                <a:spcPct val="101000"/>
              </a:lnSpc>
              <a:spcBef>
                <a:spcPts val="610"/>
              </a:spcBef>
            </a:pPr>
            <a:r>
              <a:rPr sz="2000" spc="-40" dirty="0">
                <a:solidFill>
                  <a:srgbClr val="000000">
                    <a:alpha val="100000"/>
                  </a:srgbClr>
                </a:solidFill>
                <a:latin typeface="微软雅黑" panose="020B0503020204020204" charset="-122"/>
                <a:ea typeface="微软雅黑" panose="020B0503020204020204" charset="-122"/>
                <a:cs typeface="楷体" panose="02010609060101010101" charset="-122"/>
              </a:rPr>
              <a:t>团队应如何组织和构建？一</a:t>
            </a:r>
            <a:r>
              <a:rPr sz="2000" spc="-30" dirty="0">
                <a:solidFill>
                  <a:srgbClr val="000000">
                    <a:alpha val="100000"/>
                  </a:srgbClr>
                </a:solidFill>
                <a:latin typeface="微软雅黑" panose="020B0503020204020204" charset="-122"/>
                <a:ea typeface="微软雅黑" panose="020B0503020204020204" charset="-122"/>
                <a:cs typeface="楷体" panose="02010609060101010101" charset="-122"/>
              </a:rPr>
              <a:t>线</a:t>
            </a:r>
            <a:r>
              <a:rPr sz="2000" spc="0" dirty="0">
                <a:solidFill>
                  <a:srgbClr val="000000">
                    <a:alpha val="100000"/>
                  </a:srgbClr>
                </a:solidFill>
                <a:latin typeface="微软雅黑" panose="020B0503020204020204" charset="-122"/>
                <a:ea typeface="微软雅黑" panose="020B0503020204020204" charset="-122"/>
                <a:cs typeface="楷体" panose="02010609060101010101" charset="-122"/>
              </a:rPr>
              <a:t> </a:t>
            </a:r>
            <a:r>
              <a:rPr sz="2000" spc="-50" dirty="0">
                <a:solidFill>
                  <a:srgbClr val="000000">
                    <a:alpha val="100000"/>
                  </a:srgbClr>
                </a:solidFill>
                <a:latin typeface="微软雅黑" panose="020B0503020204020204" charset="-122"/>
                <a:ea typeface="微软雅黑" panose="020B0503020204020204" charset="-122"/>
                <a:cs typeface="楷体" panose="02010609060101010101" charset="-122"/>
              </a:rPr>
              <a:t>销售市场组织应如何建</a:t>
            </a:r>
            <a:r>
              <a:rPr sz="2000" spc="-40" dirty="0">
                <a:solidFill>
                  <a:srgbClr val="000000">
                    <a:alpha val="100000"/>
                  </a:srgbClr>
                </a:solidFill>
                <a:latin typeface="微软雅黑" panose="020B0503020204020204" charset="-122"/>
                <a:ea typeface="微软雅黑" panose="020B0503020204020204" charset="-122"/>
                <a:cs typeface="楷体" panose="02010609060101010101" charset="-122"/>
              </a:rPr>
              <a:t>设</a:t>
            </a:r>
            <a:r>
              <a:rPr sz="2000" spc="0" dirty="0">
                <a:solidFill>
                  <a:srgbClr val="000000">
                    <a:alpha val="100000"/>
                  </a:srgbClr>
                </a:solidFill>
                <a:latin typeface="微软雅黑" panose="020B0503020204020204" charset="-122"/>
                <a:ea typeface="微软雅黑" panose="020B0503020204020204" charset="-122"/>
                <a:cs typeface="楷体" panose="02010609060101010101" charset="-122"/>
              </a:rPr>
              <a:t>？</a:t>
            </a:r>
            <a:endParaRPr lang="en-US" altLang="en-US" sz="2000" dirty="0">
              <a:latin typeface="微软雅黑" panose="020B0503020204020204" charset="-122"/>
              <a:ea typeface="微软雅黑" panose="020B0503020204020204" charset="-122"/>
            </a:endParaRPr>
          </a:p>
          <a:p>
            <a:pPr algn="l" rtl="0" eaLnBrk="0">
              <a:lnSpc>
                <a:spcPct val="146000"/>
              </a:lnSpc>
            </a:pPr>
            <a:endParaRPr lang="en-US" altLang="en-US" sz="1000" dirty="0">
              <a:latin typeface="微软雅黑" panose="020B0503020204020204" charset="-122"/>
              <a:ea typeface="微软雅黑" panose="020B0503020204020204" charset="-122"/>
            </a:endParaRPr>
          </a:p>
          <a:p>
            <a:pPr marL="491490" indent="26035" algn="l" rtl="0" eaLnBrk="0">
              <a:lnSpc>
                <a:spcPct val="101000"/>
              </a:lnSpc>
              <a:spcBef>
                <a:spcPts val="605"/>
              </a:spcBef>
            </a:pPr>
            <a:r>
              <a:rPr sz="2000" spc="-30" dirty="0">
                <a:solidFill>
                  <a:srgbClr val="000000">
                    <a:alpha val="100000"/>
                  </a:srgbClr>
                </a:solidFill>
                <a:latin typeface="微软雅黑" panose="020B0503020204020204" charset="-122"/>
                <a:ea typeface="微软雅黑" panose="020B0503020204020204" charset="-122"/>
                <a:cs typeface="楷体" panose="02010609060101010101" charset="-122"/>
              </a:rPr>
              <a:t>中后台部门应如何更好</a:t>
            </a:r>
            <a:r>
              <a:rPr sz="2000" spc="-10" dirty="0">
                <a:solidFill>
                  <a:srgbClr val="000000">
                    <a:alpha val="100000"/>
                  </a:srgbClr>
                </a:solidFill>
                <a:latin typeface="微软雅黑" panose="020B0503020204020204" charset="-122"/>
                <a:ea typeface="微软雅黑" panose="020B0503020204020204" charset="-122"/>
                <a:cs typeface="楷体" panose="02010609060101010101" charset="-122"/>
              </a:rPr>
              <a:t>的</a:t>
            </a:r>
            <a:r>
              <a:rPr sz="2000" spc="0" dirty="0">
                <a:solidFill>
                  <a:srgbClr val="000000">
                    <a:alpha val="100000"/>
                  </a:srgbClr>
                </a:solidFill>
                <a:latin typeface="微软雅黑" panose="020B0503020204020204" charset="-122"/>
                <a:ea typeface="微软雅黑" panose="020B0503020204020204" charset="-122"/>
                <a:cs typeface="楷体" panose="02010609060101010101" charset="-122"/>
              </a:rPr>
              <a:t>支持 </a:t>
            </a:r>
            <a:r>
              <a:rPr sz="2000" spc="-10" dirty="0">
                <a:solidFill>
                  <a:srgbClr val="000000">
                    <a:alpha val="100000"/>
                  </a:srgbClr>
                </a:solidFill>
                <a:latin typeface="微软雅黑" panose="020B0503020204020204" charset="-122"/>
                <a:ea typeface="微软雅黑" panose="020B0503020204020204" charset="-122"/>
                <a:cs typeface="楷体" panose="02010609060101010101" charset="-122"/>
              </a:rPr>
              <a:t>一线销售和市场组织</a:t>
            </a:r>
            <a:r>
              <a:rPr sz="2000" spc="0" dirty="0">
                <a:solidFill>
                  <a:srgbClr val="000000">
                    <a:alpha val="100000"/>
                  </a:srgbClr>
                </a:solidFill>
                <a:latin typeface="微软雅黑" panose="020B0503020204020204" charset="-122"/>
                <a:ea typeface="微软雅黑" panose="020B0503020204020204" charset="-122"/>
                <a:cs typeface="楷体" panose="02010609060101010101" charset="-122"/>
              </a:rPr>
              <a:t>？</a:t>
            </a:r>
            <a:endParaRPr lang="en-US" altLang="en-US" sz="2000" dirty="0">
              <a:latin typeface="微软雅黑" panose="020B0503020204020204" charset="-122"/>
              <a:ea typeface="微软雅黑" panose="020B0503020204020204" charset="-122"/>
            </a:endParaRPr>
          </a:p>
          <a:p>
            <a:pPr algn="l" rtl="0" eaLnBrk="0">
              <a:lnSpc>
                <a:spcPct val="145000"/>
              </a:lnSpc>
            </a:pPr>
            <a:endParaRPr lang="en-US" altLang="en-US" sz="1000" dirty="0">
              <a:latin typeface="微软雅黑" panose="020B0503020204020204" charset="-122"/>
              <a:ea typeface="微软雅黑" panose="020B0503020204020204" charset="-122"/>
            </a:endParaRPr>
          </a:p>
          <a:p>
            <a:pPr algn="l" rtl="0" eaLnBrk="0">
              <a:lnSpc>
                <a:spcPct val="101000"/>
              </a:lnSpc>
            </a:pPr>
            <a:endParaRPr lang="en-US" altLang="en-US" sz="500" dirty="0">
              <a:latin typeface="微软雅黑" panose="020B0503020204020204" charset="-122"/>
              <a:ea typeface="微软雅黑" panose="020B0503020204020204" charset="-122"/>
            </a:endParaRPr>
          </a:p>
          <a:p>
            <a:pPr marL="487680" indent="-1905" algn="l" rtl="0" eaLnBrk="0">
              <a:lnSpc>
                <a:spcPct val="102000"/>
              </a:lnSpc>
              <a:spcBef>
                <a:spcPts val="5"/>
              </a:spcBef>
            </a:pPr>
            <a:r>
              <a:rPr sz="2000" spc="-10" dirty="0">
                <a:solidFill>
                  <a:srgbClr val="000000">
                    <a:alpha val="100000"/>
                  </a:srgbClr>
                </a:solidFill>
                <a:latin typeface="微软雅黑" panose="020B0503020204020204" charset="-122"/>
                <a:ea typeface="微软雅黑" panose="020B0503020204020204" charset="-122"/>
                <a:cs typeface="楷体" panose="02010609060101010101" charset="-122"/>
              </a:rPr>
              <a:t>对于不同组织</a:t>
            </a:r>
            <a:r>
              <a:rPr sz="2000" spc="0" dirty="0">
                <a:solidFill>
                  <a:srgbClr val="000000">
                    <a:alpha val="100000"/>
                  </a:srgbClr>
                </a:solidFill>
                <a:latin typeface="微软雅黑" panose="020B0503020204020204" charset="-122"/>
                <a:ea typeface="微软雅黑" panose="020B0503020204020204" charset="-122"/>
                <a:cs typeface="楷体" panose="02010609060101010101" charset="-122"/>
              </a:rPr>
              <a:t>，绩效导向如何 </a:t>
            </a:r>
            <a:r>
              <a:rPr sz="2000" spc="-30" dirty="0">
                <a:solidFill>
                  <a:srgbClr val="000000">
                    <a:alpha val="100000"/>
                  </a:srgbClr>
                </a:solidFill>
                <a:latin typeface="微软雅黑" panose="020B0503020204020204" charset="-122"/>
                <a:ea typeface="微软雅黑" panose="020B0503020204020204" charset="-122"/>
                <a:cs typeface="楷体" panose="02010609060101010101" charset="-122"/>
              </a:rPr>
              <a:t>设计</a:t>
            </a:r>
            <a:r>
              <a:rPr sz="2000" spc="-10" dirty="0">
                <a:solidFill>
                  <a:srgbClr val="000000">
                    <a:alpha val="100000"/>
                  </a:srgbClr>
                </a:solidFill>
                <a:latin typeface="微软雅黑" panose="020B0503020204020204" charset="-122"/>
                <a:ea typeface="微软雅黑" panose="020B0503020204020204" charset="-122"/>
                <a:cs typeface="楷体" panose="02010609060101010101" charset="-122"/>
              </a:rPr>
              <a:t>？</a:t>
            </a:r>
            <a:endParaRPr lang="en-US" altLang="en-US" sz="2000" dirty="0">
              <a:latin typeface="微软雅黑" panose="020B0503020204020204" charset="-122"/>
              <a:ea typeface="微软雅黑" panose="020B0503020204020204" charset="-122"/>
            </a:endParaRPr>
          </a:p>
        </p:txBody>
      </p:sp>
      <p:sp>
        <p:nvSpPr>
          <p:cNvPr id="1380" name="textbox 1380"/>
          <p:cNvSpPr/>
          <p:nvPr/>
        </p:nvSpPr>
        <p:spPr>
          <a:xfrm>
            <a:off x="462620" y="536774"/>
            <a:ext cx="8136890" cy="598805"/>
          </a:xfrm>
          <a:prstGeom prst="rect">
            <a:avLst/>
          </a:prstGeom>
        </p:spPr>
        <p:txBody>
          <a:bodyPr vert="horz" wrap="square" lIns="0" tIns="0" rIns="0" bIns="0"/>
          <a:lstStyle/>
          <a:p>
            <a:pPr algn="l" rtl="0" eaLnBrk="0">
              <a:lnSpc>
                <a:spcPct val="86000"/>
              </a:lnSpc>
            </a:pPr>
            <a:endParaRPr lang="en-US" altLang="en-US" sz="100" dirty="0">
              <a:latin typeface="微软雅黑" panose="020B0503020204020204" charset="-122"/>
              <a:ea typeface="微软雅黑" panose="020B0503020204020204" charset="-122"/>
            </a:endParaRPr>
          </a:p>
          <a:p>
            <a:pPr marL="12700" indent="1270" algn="l" rtl="0" eaLnBrk="0">
              <a:lnSpc>
                <a:spcPct val="94000"/>
              </a:lnSpc>
            </a:pPr>
            <a:r>
              <a:rPr sz="2000" spc="-10" dirty="0">
                <a:solidFill>
                  <a:srgbClr val="002960">
                    <a:alpha val="100000"/>
                  </a:srgbClr>
                </a:solidFill>
                <a:latin typeface="微软雅黑" panose="020B0503020204020204" charset="-122"/>
                <a:ea typeface="微软雅黑" panose="020B0503020204020204" charset="-122"/>
                <a:cs typeface="楷体" panose="02010609060101010101" charset="-122"/>
              </a:rPr>
              <a:t>组织和机制设计需要以前端客户需</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求和组织绩效为导向，打造具有创业者 </a:t>
            </a:r>
            <a:r>
              <a:rPr sz="2000" spc="-20" dirty="0">
                <a:solidFill>
                  <a:srgbClr val="002960">
                    <a:alpha val="100000"/>
                  </a:srgbClr>
                </a:solidFill>
                <a:latin typeface="微软雅黑" panose="020B0503020204020204" charset="-122"/>
                <a:ea typeface="微软雅黑" panose="020B0503020204020204" charset="-122"/>
                <a:cs typeface="楷体" panose="02010609060101010101" charset="-122"/>
              </a:rPr>
              <a:t>文化和战斗力</a:t>
            </a:r>
            <a:r>
              <a:rPr sz="2000" spc="-10" dirty="0">
                <a:solidFill>
                  <a:srgbClr val="002960">
                    <a:alpha val="100000"/>
                  </a:srgbClr>
                </a:solidFill>
                <a:latin typeface="微软雅黑" panose="020B0503020204020204" charset="-122"/>
                <a:ea typeface="微软雅黑" panose="020B0503020204020204" charset="-122"/>
                <a:cs typeface="楷体" panose="02010609060101010101" charset="-122"/>
              </a:rPr>
              <a:t>的</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团队</a:t>
            </a:r>
            <a:endParaRPr lang="en-US" altLang="en-US" sz="2000" dirty="0">
              <a:latin typeface="微软雅黑" panose="020B0503020204020204" charset="-122"/>
              <a:ea typeface="微软雅黑" panose="020B0503020204020204" charset="-122"/>
            </a:endParaRPr>
          </a:p>
        </p:txBody>
      </p:sp>
      <p:grpSp>
        <p:nvGrpSpPr>
          <p:cNvPr id="248" name="group 248"/>
          <p:cNvGrpSpPr/>
          <p:nvPr/>
        </p:nvGrpSpPr>
        <p:grpSpPr>
          <a:xfrm rot="21600000">
            <a:off x="118872" y="237744"/>
            <a:ext cx="292608" cy="292607"/>
            <a:chOff x="0" y="0"/>
            <a:chExt cx="292608" cy="292607"/>
          </a:xfrm>
        </p:grpSpPr>
        <p:sp>
          <p:nvSpPr>
            <p:cNvPr id="1382" name="path"/>
            <p:cNvSpPr/>
            <p:nvPr/>
          </p:nvSpPr>
          <p:spPr>
            <a:xfrm>
              <a:off x="0" y="0"/>
              <a:ext cx="292608" cy="292607"/>
            </a:xfrm>
            <a:custGeom>
              <a:avLst/>
              <a:gdLst/>
              <a:ahLst/>
              <a:cxnLst/>
              <a:rect l="0" t="0" r="0" b="0"/>
              <a:pathLst>
                <a:path w="460" h="460">
                  <a:moveTo>
                    <a:pt x="0" y="230"/>
                  </a:moveTo>
                  <a:cubicBezTo>
                    <a:pt x="0" y="103"/>
                    <a:pt x="103" y="0"/>
                    <a:pt x="230" y="0"/>
                  </a:cubicBezTo>
                  <a:cubicBezTo>
                    <a:pt x="357" y="0"/>
                    <a:pt x="460" y="103"/>
                    <a:pt x="460" y="230"/>
                  </a:cubicBezTo>
                  <a:cubicBezTo>
                    <a:pt x="460" y="357"/>
                    <a:pt x="357" y="460"/>
                    <a:pt x="230" y="460"/>
                  </a:cubicBezTo>
                  <a:cubicBezTo>
                    <a:pt x="103" y="460"/>
                    <a:pt x="0" y="357"/>
                    <a:pt x="0" y="230"/>
                  </a:cubicBezTo>
                </a:path>
              </a:pathLst>
            </a:custGeom>
            <a:solidFill>
              <a:srgbClr val="00ADEF">
                <a:alpha val="100000"/>
              </a:srgbClr>
            </a:solidFill>
            <a:ln cap="flat">
              <a:noFill/>
              <a:prstDash val="solid"/>
              <a:miter lim="0"/>
            </a:ln>
          </p:spPr>
          <p:txBody>
            <a:bodyPr rtlCol="0"/>
            <a:lstStyle/>
            <a:p>
              <a:pPr algn="ctr"/>
              <a:endParaRPr lang="zh-CN" altLang="en-US"/>
            </a:p>
          </p:txBody>
        </p:sp>
        <p:sp>
          <p:nvSpPr>
            <p:cNvPr id="1383" name="textbox 1383"/>
            <p:cNvSpPr/>
            <p:nvPr/>
          </p:nvSpPr>
          <p:spPr>
            <a:xfrm>
              <a:off x="-12700" y="-12700"/>
              <a:ext cx="318134" cy="375920"/>
            </a:xfrm>
            <a:prstGeom prst="rect">
              <a:avLst/>
            </a:prstGeom>
          </p:spPr>
          <p:txBody>
            <a:bodyPr vert="horz" wrap="square" lIns="0" tIns="0" rIns="0" bIns="0"/>
            <a:lstStyle/>
            <a:p>
              <a:pPr algn="l" rtl="0" eaLnBrk="0">
                <a:lnSpc>
                  <a:spcPct val="115000"/>
                </a:lnSpc>
              </a:pPr>
              <a:endParaRPr lang="en-US" altLang="en-US" sz="400" dirty="0">
                <a:latin typeface="微软雅黑" panose="020B0503020204020204" charset="-122"/>
                <a:ea typeface="微软雅黑" panose="020B0503020204020204" charset="-122"/>
              </a:endParaRPr>
            </a:p>
            <a:p>
              <a:pPr marL="97790" algn="l" rtl="0" eaLnBrk="0">
                <a:lnSpc>
                  <a:spcPct val="80000"/>
                </a:lnSpc>
                <a:spcBef>
                  <a:spcPts val="5"/>
                </a:spcBef>
              </a:pPr>
              <a:r>
                <a:rPr sz="2000" b="1" spc="0" dirty="0">
                  <a:solidFill>
                    <a:srgbClr val="FFFFFF">
                      <a:alpha val="100000"/>
                    </a:srgbClr>
                  </a:solidFill>
                  <a:latin typeface="微软雅黑" panose="020B0503020204020204" charset="-122"/>
                  <a:ea typeface="微软雅黑" panose="020B0503020204020204" charset="-122"/>
                  <a:cs typeface="Arial" panose="020B0604020202020204"/>
                </a:rPr>
                <a:t>3</a:t>
              </a:r>
              <a:endParaRPr lang="en-US" altLang="en-US" sz="2000" dirty="0">
                <a:latin typeface="微软雅黑" panose="020B0503020204020204" charset="-122"/>
                <a:ea typeface="微软雅黑" panose="020B0503020204020204" charset="-122"/>
              </a:endParaRPr>
            </a:p>
          </p:txBody>
        </p:sp>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84" name="picture 1384"/>
          <p:cNvPicPr>
            <a:picLocks noChangeAspect="1"/>
          </p:cNvPicPr>
          <p:nvPr/>
        </p:nvPicPr>
        <p:blipFill>
          <a:blip r:embed="rId1"/>
          <a:stretch>
            <a:fillRect/>
          </a:stretch>
        </p:blipFill>
        <p:spPr>
          <a:xfrm rot="21600000">
            <a:off x="1536191" y="1127760"/>
            <a:ext cx="7424927" cy="5068823"/>
          </a:xfrm>
          <a:prstGeom prst="rect">
            <a:avLst/>
          </a:prstGeom>
        </p:spPr>
      </p:pic>
      <p:sp>
        <p:nvSpPr>
          <p:cNvPr id="1385" name="textbox 1385"/>
          <p:cNvSpPr/>
          <p:nvPr/>
        </p:nvSpPr>
        <p:spPr>
          <a:xfrm>
            <a:off x="8818509" y="1037437"/>
            <a:ext cx="114935" cy="3257550"/>
          </a:xfrm>
          <a:prstGeom prst="rect">
            <a:avLst/>
          </a:prstGeom>
        </p:spPr>
        <p:txBody>
          <a:bodyPr vert="eaVert" wrap="square" lIns="0" tIns="0" rIns="0" bIns="0"/>
          <a:lstStyle/>
          <a:p>
            <a:pPr algn="l" rtl="0" eaLnBrk="0">
              <a:lnSpc>
                <a:spcPct val="81000"/>
              </a:lnSpc>
            </a:pPr>
            <a:endParaRPr lang="en-US" altLang="en-US" sz="100" dirty="0"/>
          </a:p>
          <a:p>
            <a:pPr marL="12700" algn="l" rtl="0" eaLnBrk="0">
              <a:lnSpc>
                <a:spcPct val="96000"/>
              </a:lnSpc>
            </a:pPr>
            <a:r>
              <a:rPr sz="600" spc="0" dirty="0">
                <a:solidFill>
                  <a:srgbClr val="808080">
                    <a:alpha val="100000"/>
                  </a:srgbClr>
                </a:solidFill>
                <a:latin typeface="Arial" panose="020B0604020202020204"/>
                <a:ea typeface="Arial" panose="020B0604020202020204"/>
                <a:cs typeface="Arial" panose="020B0604020202020204"/>
              </a:rPr>
              <a:t>                                                       </a:t>
            </a:r>
            <a:endParaRPr lang="en-US" altLang="en-US" sz="600" dirty="0"/>
          </a:p>
        </p:txBody>
      </p:sp>
      <p:pic>
        <p:nvPicPr>
          <p:cNvPr id="1386" name="picture 1386"/>
          <p:cNvPicPr>
            <a:picLocks noChangeAspect="1"/>
          </p:cNvPicPr>
          <p:nvPr/>
        </p:nvPicPr>
        <p:blipFill>
          <a:blip r:embed="rId2"/>
          <a:stretch>
            <a:fillRect/>
          </a:stretch>
        </p:blipFill>
        <p:spPr>
          <a:xfrm rot="21600000">
            <a:off x="2897123" y="1208532"/>
            <a:ext cx="6063995" cy="4907279"/>
          </a:xfrm>
          <a:prstGeom prst="rect">
            <a:avLst/>
          </a:prstGeom>
        </p:spPr>
      </p:pic>
      <p:grpSp>
        <p:nvGrpSpPr>
          <p:cNvPr id="250" name="group 250"/>
          <p:cNvGrpSpPr/>
          <p:nvPr/>
        </p:nvGrpSpPr>
        <p:grpSpPr>
          <a:xfrm rot="21600000">
            <a:off x="1699260" y="1475232"/>
            <a:ext cx="6187440" cy="914400"/>
            <a:chOff x="0" y="0"/>
            <a:chExt cx="6187440" cy="914400"/>
          </a:xfrm>
        </p:grpSpPr>
        <p:pic>
          <p:nvPicPr>
            <p:cNvPr id="1387" name="picture 1387"/>
            <p:cNvPicPr>
              <a:picLocks noChangeAspect="1"/>
            </p:cNvPicPr>
            <p:nvPr/>
          </p:nvPicPr>
          <p:blipFill>
            <a:blip r:embed="rId3"/>
            <a:stretch>
              <a:fillRect/>
            </a:stretch>
          </p:blipFill>
          <p:spPr>
            <a:xfrm rot="21600000">
              <a:off x="0" y="0"/>
              <a:ext cx="6187440" cy="914400"/>
            </a:xfrm>
            <a:prstGeom prst="rect">
              <a:avLst/>
            </a:prstGeom>
          </p:spPr>
        </p:pic>
        <p:sp>
          <p:nvSpPr>
            <p:cNvPr id="1388" name="textbox 1388"/>
            <p:cNvSpPr/>
            <p:nvPr/>
          </p:nvSpPr>
          <p:spPr>
            <a:xfrm>
              <a:off x="-12700" y="-12700"/>
              <a:ext cx="6213475" cy="962025"/>
            </a:xfrm>
            <a:prstGeom prst="rect">
              <a:avLst/>
            </a:prstGeom>
          </p:spPr>
          <p:txBody>
            <a:bodyPr vert="horz" wrap="square" lIns="0" tIns="0" rIns="0" bIns="0"/>
            <a:lstStyle/>
            <a:p>
              <a:pPr algn="l" rtl="0" eaLnBrk="0">
                <a:lnSpc>
                  <a:spcPct val="118000"/>
                </a:lnSpc>
              </a:pPr>
              <a:endParaRPr lang="en-US" altLang="en-US" sz="1000" dirty="0">
                <a:latin typeface="微软雅黑" panose="020B0503020204020204" charset="-122"/>
                <a:ea typeface="微软雅黑" panose="020B0503020204020204" charset="-122"/>
              </a:endParaRPr>
            </a:p>
            <a:p>
              <a:pPr algn="l" rtl="0" eaLnBrk="0">
                <a:lnSpc>
                  <a:spcPct val="119000"/>
                </a:lnSpc>
              </a:pPr>
              <a:endParaRPr lang="en-US" altLang="en-US" sz="1000" dirty="0">
                <a:latin typeface="微软雅黑" panose="020B0503020204020204" charset="-122"/>
                <a:ea typeface="微软雅黑" panose="020B0503020204020204" charset="-122"/>
              </a:endParaRPr>
            </a:p>
            <a:p>
              <a:pPr marL="357505" algn="l" rtl="0" eaLnBrk="0">
                <a:lnSpc>
                  <a:spcPct val="91000"/>
                </a:lnSpc>
                <a:spcBef>
                  <a:spcPts val="5"/>
                </a:spcBef>
              </a:pPr>
              <a:r>
                <a:rPr sz="1800" spc="-10" dirty="0">
                  <a:ln w="653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当前传化</a:t>
              </a:r>
              <a:r>
                <a:rPr sz="1800" spc="0" dirty="0">
                  <a:ln w="653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在组织和机制上存在哪些主要问题和需求</a:t>
              </a:r>
              <a:endParaRPr lang="en-US" altLang="en-US" sz="1800" dirty="0">
                <a:latin typeface="微软雅黑" panose="020B0503020204020204" charset="-122"/>
                <a:ea typeface="微软雅黑" panose="020B0503020204020204" charset="-122"/>
              </a:endParaRPr>
            </a:p>
          </p:txBody>
        </p:sp>
      </p:grpSp>
      <p:grpSp>
        <p:nvGrpSpPr>
          <p:cNvPr id="252" name="group 252"/>
          <p:cNvGrpSpPr/>
          <p:nvPr/>
        </p:nvGrpSpPr>
        <p:grpSpPr>
          <a:xfrm rot="21600000">
            <a:off x="1699260" y="2634996"/>
            <a:ext cx="6187440" cy="914400"/>
            <a:chOff x="0" y="0"/>
            <a:chExt cx="6187440" cy="914400"/>
          </a:xfrm>
        </p:grpSpPr>
        <p:pic>
          <p:nvPicPr>
            <p:cNvPr id="1389" name="picture 1389"/>
            <p:cNvPicPr>
              <a:picLocks noChangeAspect="1"/>
            </p:cNvPicPr>
            <p:nvPr/>
          </p:nvPicPr>
          <p:blipFill>
            <a:blip r:embed="rId4"/>
            <a:stretch>
              <a:fillRect/>
            </a:stretch>
          </p:blipFill>
          <p:spPr>
            <a:xfrm rot="21600000">
              <a:off x="0" y="0"/>
              <a:ext cx="6187440" cy="914400"/>
            </a:xfrm>
            <a:prstGeom prst="rect">
              <a:avLst/>
            </a:prstGeom>
          </p:spPr>
        </p:pic>
        <p:sp>
          <p:nvSpPr>
            <p:cNvPr id="1390" name="textbox 1390"/>
            <p:cNvSpPr/>
            <p:nvPr/>
          </p:nvSpPr>
          <p:spPr>
            <a:xfrm>
              <a:off x="-12700" y="-12700"/>
              <a:ext cx="6213475" cy="962025"/>
            </a:xfrm>
            <a:prstGeom prst="rect">
              <a:avLst/>
            </a:prstGeom>
          </p:spPr>
          <p:txBody>
            <a:bodyPr vert="horz" wrap="square" lIns="0" tIns="0" rIns="0" bIns="0"/>
            <a:lstStyle/>
            <a:p>
              <a:pPr algn="l" rtl="0" eaLnBrk="0">
                <a:lnSpc>
                  <a:spcPct val="118000"/>
                </a:lnSpc>
              </a:pPr>
              <a:endParaRPr lang="en-US" altLang="en-US" sz="1000" dirty="0">
                <a:latin typeface="微软雅黑" panose="020B0503020204020204" charset="-122"/>
                <a:ea typeface="微软雅黑" panose="020B0503020204020204" charset="-122"/>
              </a:endParaRPr>
            </a:p>
            <a:p>
              <a:pPr algn="l" rtl="0" eaLnBrk="0">
                <a:lnSpc>
                  <a:spcPct val="119000"/>
                </a:lnSpc>
              </a:pPr>
              <a:endParaRPr lang="en-US" altLang="en-US" sz="1000" dirty="0">
                <a:latin typeface="微软雅黑" panose="020B0503020204020204" charset="-122"/>
                <a:ea typeface="微软雅黑" panose="020B0503020204020204" charset="-122"/>
              </a:endParaRPr>
            </a:p>
            <a:p>
              <a:pPr algn="l" rtl="0" eaLnBrk="0">
                <a:lnSpc>
                  <a:spcPct val="9000"/>
                </a:lnSpc>
              </a:pPr>
              <a:endParaRPr lang="en-US" altLang="en-US" sz="100" dirty="0">
                <a:latin typeface="微软雅黑" panose="020B0503020204020204" charset="-122"/>
                <a:ea typeface="微软雅黑" panose="020B0503020204020204" charset="-122"/>
              </a:endParaRPr>
            </a:p>
            <a:p>
              <a:pPr marL="325120" algn="l" rtl="0" eaLnBrk="0">
                <a:lnSpc>
                  <a:spcPct val="91000"/>
                </a:lnSpc>
              </a:pPr>
              <a:r>
                <a:rPr sz="1800" spc="20" dirty="0">
                  <a:ln w="653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针对组织和机制设计和优</a:t>
              </a:r>
              <a:r>
                <a:rPr sz="1800" spc="0" dirty="0">
                  <a:ln w="653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化有哪些可能的解决方案</a:t>
              </a:r>
              <a:endParaRPr lang="en-US" altLang="en-US" sz="1800" dirty="0">
                <a:latin typeface="微软雅黑" panose="020B0503020204020204" charset="-122"/>
                <a:ea typeface="微软雅黑" panose="020B0503020204020204" charset="-122"/>
              </a:endParaRPr>
            </a:p>
          </p:txBody>
        </p:sp>
      </p:grpSp>
      <p:grpSp>
        <p:nvGrpSpPr>
          <p:cNvPr id="254" name="group 254"/>
          <p:cNvGrpSpPr/>
          <p:nvPr/>
        </p:nvGrpSpPr>
        <p:grpSpPr>
          <a:xfrm rot="21600000">
            <a:off x="1699260" y="3794760"/>
            <a:ext cx="6187440" cy="914400"/>
            <a:chOff x="0" y="0"/>
            <a:chExt cx="6187440" cy="914400"/>
          </a:xfrm>
        </p:grpSpPr>
        <p:pic>
          <p:nvPicPr>
            <p:cNvPr id="1391" name="picture 1391"/>
            <p:cNvPicPr>
              <a:picLocks noChangeAspect="1"/>
            </p:cNvPicPr>
            <p:nvPr/>
          </p:nvPicPr>
          <p:blipFill>
            <a:blip r:embed="rId5"/>
            <a:stretch>
              <a:fillRect/>
            </a:stretch>
          </p:blipFill>
          <p:spPr>
            <a:xfrm rot="21600000">
              <a:off x="0" y="0"/>
              <a:ext cx="6187440" cy="914400"/>
            </a:xfrm>
            <a:prstGeom prst="rect">
              <a:avLst/>
            </a:prstGeom>
          </p:spPr>
        </p:pic>
        <p:sp>
          <p:nvSpPr>
            <p:cNvPr id="1392" name="textbox 1392"/>
            <p:cNvSpPr/>
            <p:nvPr/>
          </p:nvSpPr>
          <p:spPr>
            <a:xfrm>
              <a:off x="-12700" y="-12700"/>
              <a:ext cx="6213475" cy="972819"/>
            </a:xfrm>
            <a:prstGeom prst="rect">
              <a:avLst/>
            </a:prstGeom>
          </p:spPr>
          <p:txBody>
            <a:bodyPr vert="horz" wrap="square" lIns="0" tIns="0" rIns="0" bIns="0"/>
            <a:lstStyle/>
            <a:p>
              <a:pPr algn="l" rtl="0" eaLnBrk="0">
                <a:lnSpc>
                  <a:spcPct val="118000"/>
                </a:lnSpc>
              </a:pPr>
              <a:endParaRPr lang="en-US" altLang="en-US" sz="1000" dirty="0">
                <a:latin typeface="微软雅黑" panose="020B0503020204020204" charset="-122"/>
                <a:ea typeface="微软雅黑" panose="020B0503020204020204" charset="-122"/>
              </a:endParaRPr>
            </a:p>
            <a:p>
              <a:pPr algn="l" rtl="0" eaLnBrk="0">
                <a:lnSpc>
                  <a:spcPct val="119000"/>
                </a:lnSpc>
              </a:pPr>
              <a:endParaRPr lang="en-US" altLang="en-US" sz="1000" dirty="0">
                <a:latin typeface="微软雅黑" panose="020B0503020204020204" charset="-122"/>
                <a:ea typeface="微软雅黑" panose="020B0503020204020204" charset="-122"/>
              </a:endParaRPr>
            </a:p>
            <a:p>
              <a:pPr algn="l" rtl="0" eaLnBrk="0">
                <a:lnSpc>
                  <a:spcPct val="9000"/>
                </a:lnSpc>
              </a:pPr>
              <a:endParaRPr lang="en-US" altLang="en-US" sz="100" dirty="0">
                <a:latin typeface="微软雅黑" panose="020B0503020204020204" charset="-122"/>
                <a:ea typeface="微软雅黑" panose="020B0503020204020204" charset="-122"/>
              </a:endParaRPr>
            </a:p>
            <a:p>
              <a:pPr marL="334645" algn="l" rtl="0" eaLnBrk="0">
                <a:lnSpc>
                  <a:spcPct val="95000"/>
                </a:lnSpc>
              </a:pPr>
              <a:r>
                <a:rPr sz="1800" spc="10" dirty="0">
                  <a:ln w="6540"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制定和实施组织和机制优化方案的</a:t>
              </a:r>
              <a:r>
                <a:rPr sz="1800" spc="0" dirty="0">
                  <a:ln w="6540"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可能风险和挑战</a:t>
              </a:r>
              <a:endParaRPr lang="en-US" altLang="en-US" sz="1800" dirty="0">
                <a:latin typeface="微软雅黑" panose="020B0503020204020204" charset="-122"/>
                <a:ea typeface="微软雅黑" panose="020B0503020204020204" charset="-122"/>
              </a:endParaRPr>
            </a:p>
          </p:txBody>
        </p:sp>
      </p:grpSp>
      <p:grpSp>
        <p:nvGrpSpPr>
          <p:cNvPr id="256" name="group 256"/>
          <p:cNvGrpSpPr/>
          <p:nvPr/>
        </p:nvGrpSpPr>
        <p:grpSpPr>
          <a:xfrm rot="21600000">
            <a:off x="1699260" y="4954523"/>
            <a:ext cx="6187440" cy="914400"/>
            <a:chOff x="0" y="0"/>
            <a:chExt cx="6187440" cy="914400"/>
          </a:xfrm>
        </p:grpSpPr>
        <p:pic>
          <p:nvPicPr>
            <p:cNvPr id="1393" name="picture 1393"/>
            <p:cNvPicPr>
              <a:picLocks noChangeAspect="1"/>
            </p:cNvPicPr>
            <p:nvPr/>
          </p:nvPicPr>
          <p:blipFill>
            <a:blip r:embed="rId6"/>
            <a:stretch>
              <a:fillRect/>
            </a:stretch>
          </p:blipFill>
          <p:spPr>
            <a:xfrm rot="21600000">
              <a:off x="0" y="0"/>
              <a:ext cx="6187440" cy="914400"/>
            </a:xfrm>
            <a:prstGeom prst="rect">
              <a:avLst/>
            </a:prstGeom>
          </p:spPr>
        </p:pic>
        <p:sp>
          <p:nvSpPr>
            <p:cNvPr id="1394" name="textbox 1394"/>
            <p:cNvSpPr/>
            <p:nvPr/>
          </p:nvSpPr>
          <p:spPr>
            <a:xfrm>
              <a:off x="-12700" y="-12700"/>
              <a:ext cx="6213475" cy="967105"/>
            </a:xfrm>
            <a:prstGeom prst="rect">
              <a:avLst/>
            </a:prstGeom>
          </p:spPr>
          <p:txBody>
            <a:bodyPr vert="horz" wrap="square" lIns="0" tIns="0" rIns="0" bIns="0"/>
            <a:lstStyle/>
            <a:p>
              <a:pPr algn="l" rtl="0" eaLnBrk="0">
                <a:lnSpc>
                  <a:spcPct val="119000"/>
                </a:lnSpc>
              </a:pPr>
              <a:endParaRPr lang="en-US" altLang="en-US" sz="1000" dirty="0">
                <a:latin typeface="微软雅黑" panose="020B0503020204020204" charset="-122"/>
                <a:ea typeface="微软雅黑" panose="020B0503020204020204" charset="-122"/>
              </a:endParaRPr>
            </a:p>
            <a:p>
              <a:pPr algn="l" rtl="0" eaLnBrk="0">
                <a:lnSpc>
                  <a:spcPct val="119000"/>
                </a:lnSpc>
              </a:pPr>
              <a:endParaRPr lang="en-US" altLang="en-US" sz="1000" dirty="0">
                <a:latin typeface="微软雅黑" panose="020B0503020204020204" charset="-122"/>
                <a:ea typeface="微软雅黑" panose="020B0503020204020204" charset="-122"/>
              </a:endParaRPr>
            </a:p>
            <a:p>
              <a:pPr marL="338455" algn="l" rtl="0" eaLnBrk="0">
                <a:lnSpc>
                  <a:spcPct val="93000"/>
                </a:lnSpc>
                <a:spcBef>
                  <a:spcPts val="5"/>
                </a:spcBef>
              </a:pPr>
              <a:r>
                <a:rPr sz="1800" spc="10" dirty="0">
                  <a:ln w="653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组织和</a:t>
              </a:r>
              <a:r>
                <a:rPr sz="1800" spc="0" dirty="0">
                  <a:ln w="6531"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楷体" panose="02010609060101010101" charset="-122"/>
                </a:rPr>
                <a:t>机制设计的经验和案例分享</a:t>
              </a:r>
              <a:endParaRPr lang="en-US" altLang="en-US" sz="1800" dirty="0">
                <a:latin typeface="微软雅黑" panose="020B0503020204020204" charset="-122"/>
                <a:ea typeface="微软雅黑" panose="020B0503020204020204" charset="-122"/>
              </a:endParaRPr>
            </a:p>
          </p:txBody>
        </p:sp>
      </p:grpSp>
      <p:sp>
        <p:nvSpPr>
          <p:cNvPr id="1395" name="textbox 1395"/>
          <p:cNvSpPr/>
          <p:nvPr/>
        </p:nvSpPr>
        <p:spPr>
          <a:xfrm>
            <a:off x="191135" y="248920"/>
            <a:ext cx="4688205" cy="309245"/>
          </a:xfrm>
          <a:prstGeom prst="rect">
            <a:avLst/>
          </a:prstGeom>
        </p:spPr>
        <p:txBody>
          <a:bodyPr vert="horz" wrap="square" lIns="0" tIns="0" rIns="0" bIns="0"/>
          <a:lstStyle/>
          <a:p>
            <a:pPr algn="l" rtl="0" eaLnBrk="0">
              <a:lnSpc>
                <a:spcPct val="85000"/>
              </a:lnSpc>
            </a:pPr>
            <a:endParaRPr lang="en-US" altLang="en-US" sz="100" dirty="0">
              <a:latin typeface="微软雅黑" panose="020B0503020204020204" charset="-122"/>
              <a:ea typeface="微软雅黑" panose="020B0503020204020204" charset="-122"/>
            </a:endParaRPr>
          </a:p>
          <a:p>
            <a:pPr marL="12700" algn="l" rtl="0" eaLnBrk="0">
              <a:lnSpc>
                <a:spcPct val="93000"/>
              </a:lnSpc>
            </a:pPr>
            <a:r>
              <a:rPr sz="2000" b="1" spc="30" dirty="0">
                <a:solidFill>
                  <a:srgbClr val="D9D9D9">
                    <a:alpha val="100000"/>
                  </a:srgbClr>
                </a:solidFill>
                <a:latin typeface="微软雅黑" panose="020B0503020204020204" charset="-122"/>
                <a:ea typeface="微软雅黑" panose="020B0503020204020204" charset="-122"/>
                <a:cs typeface="Arial" panose="020B0604020202020204"/>
              </a:rPr>
              <a:t>3</a:t>
            </a:r>
            <a:r>
              <a:rPr sz="2000" spc="30" dirty="0">
                <a:solidFill>
                  <a:srgbClr val="D9D9D9">
                    <a:alpha val="100000"/>
                  </a:srgbClr>
                </a:solidFill>
                <a:latin typeface="微软雅黑" panose="020B0503020204020204" charset="-122"/>
                <a:ea typeface="微软雅黑" panose="020B0503020204020204" charset="-122"/>
                <a:cs typeface="Arial" panose="020B0604020202020204"/>
              </a:rPr>
              <a:t> </a:t>
            </a:r>
            <a:r>
              <a:rPr sz="2000" spc="30" dirty="0">
                <a:solidFill>
                  <a:srgbClr val="002960">
                    <a:alpha val="100000"/>
                  </a:srgbClr>
                </a:solidFill>
                <a:latin typeface="微软雅黑" panose="020B0503020204020204" charset="-122"/>
                <a:ea typeface="微软雅黑" panose="020B0503020204020204" charset="-122"/>
                <a:cs typeface="楷体" panose="02010609060101010101" charset="-122"/>
              </a:rPr>
              <a:t>组织和机制设计小组</a:t>
            </a:r>
            <a:r>
              <a:rPr sz="2000" spc="10" dirty="0">
                <a:solidFill>
                  <a:srgbClr val="002960">
                    <a:alpha val="100000"/>
                  </a:srgbClr>
                </a:solidFill>
                <a:latin typeface="微软雅黑" panose="020B0503020204020204" charset="-122"/>
                <a:ea typeface="微软雅黑" panose="020B0503020204020204" charset="-122"/>
                <a:cs typeface="楷体" panose="02010609060101010101" charset="-122"/>
              </a:rPr>
              <a:t>讨</a:t>
            </a:r>
            <a:r>
              <a:rPr sz="2000" spc="0" dirty="0">
                <a:solidFill>
                  <a:srgbClr val="002960">
                    <a:alpha val="100000"/>
                  </a:srgbClr>
                </a:solidFill>
                <a:latin typeface="微软雅黑" panose="020B0503020204020204" charset="-122"/>
                <a:ea typeface="微软雅黑" panose="020B0503020204020204" charset="-122"/>
                <a:cs typeface="楷体" panose="02010609060101010101" charset="-122"/>
              </a:rPr>
              <a:t>论安排</a:t>
            </a:r>
            <a:endParaRPr lang="en-US" altLang="en-US" sz="2000" dirty="0">
              <a:latin typeface="微软雅黑" panose="020B0503020204020204" charset="-122"/>
              <a:ea typeface="微软雅黑" panose="020B0503020204020204"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401" y="203088"/>
            <a:ext cx="6945153" cy="595630"/>
          </a:xfrm>
          <a:prstGeom prst="rect">
            <a:avLst/>
          </a:prstGeom>
        </p:spPr>
        <p:txBody>
          <a:bodyPr vert="horz" wrap="square" lIns="0" tIns="12056" rIns="0" bIns="0" rtlCol="0">
            <a:spAutoFit/>
          </a:bodyPr>
          <a:lstStyle/>
          <a:p>
            <a:pPr marL="12700" marR="5080">
              <a:lnSpc>
                <a:spcPct val="100000"/>
              </a:lnSpc>
              <a:spcBef>
                <a:spcPts val="95"/>
              </a:spcBef>
            </a:pPr>
            <a:r>
              <a:rPr spc="-5" dirty="0">
                <a:ea typeface="微软雅黑" panose="020B0503020204020204" charset="-122"/>
              </a:rPr>
              <a:t>B2B</a:t>
            </a:r>
            <a:r>
              <a:rPr dirty="0">
                <a:ea typeface="微软雅黑" panose="020B0503020204020204" charset="-122"/>
              </a:rPr>
              <a:t>销售管理有</a:t>
            </a:r>
            <a:r>
              <a:rPr spc="-5" dirty="0">
                <a:ea typeface="微软雅黑" panose="020B0503020204020204" charset="-122"/>
              </a:rPr>
              <a:t>13个关键模</a:t>
            </a:r>
            <a:r>
              <a:rPr spc="-10" dirty="0">
                <a:ea typeface="微软雅黑" panose="020B0503020204020204" charset="-122"/>
              </a:rPr>
              <a:t>块，</a:t>
            </a:r>
            <a:r>
              <a:rPr spc="-5" dirty="0">
                <a:ea typeface="微软雅黑" panose="020B0503020204020204" charset="-122"/>
              </a:rPr>
              <a:t>其</a:t>
            </a:r>
            <a:r>
              <a:rPr spc="-10" dirty="0">
                <a:ea typeface="微软雅黑" panose="020B0503020204020204" charset="-122"/>
              </a:rPr>
              <a:t>中</a:t>
            </a:r>
            <a:r>
              <a:rPr dirty="0">
                <a:ea typeface="微软雅黑" panose="020B0503020204020204" charset="-122"/>
              </a:rPr>
              <a:t>有</a:t>
            </a:r>
            <a:r>
              <a:rPr spc="-5" dirty="0">
                <a:ea typeface="微软雅黑" panose="020B0503020204020204" charset="-122"/>
              </a:rPr>
              <a:t>7个模</a:t>
            </a:r>
            <a:r>
              <a:rPr spc="-10" dirty="0">
                <a:ea typeface="微软雅黑" panose="020B0503020204020204" charset="-122"/>
              </a:rPr>
              <a:t>块最</a:t>
            </a:r>
            <a:r>
              <a:rPr spc="-5" dirty="0">
                <a:ea typeface="微软雅黑" panose="020B0503020204020204" charset="-122"/>
              </a:rPr>
              <a:t>为</a:t>
            </a:r>
            <a:r>
              <a:rPr spc="-10" dirty="0">
                <a:ea typeface="微软雅黑" panose="020B0503020204020204" charset="-122"/>
              </a:rPr>
              <a:t>基础</a:t>
            </a:r>
            <a:r>
              <a:rPr spc="-5" dirty="0">
                <a:ea typeface="微软雅黑" panose="020B0503020204020204" charset="-122"/>
              </a:rPr>
              <a:t>，</a:t>
            </a:r>
            <a:r>
              <a:rPr spc="-10" dirty="0">
                <a:ea typeface="微软雅黑" panose="020B0503020204020204" charset="-122"/>
              </a:rPr>
              <a:t>集中在 </a:t>
            </a:r>
            <a:r>
              <a:rPr spc="-5" dirty="0">
                <a:ea typeface="微软雅黑" panose="020B0503020204020204" charset="-122"/>
              </a:rPr>
              <a:t>销售战略，</a:t>
            </a:r>
            <a:r>
              <a:rPr spc="-10" dirty="0">
                <a:ea typeface="微软雅黑" panose="020B0503020204020204" charset="-122"/>
              </a:rPr>
              <a:t>客户</a:t>
            </a:r>
            <a:r>
              <a:rPr spc="-5" dirty="0">
                <a:ea typeface="微软雅黑" panose="020B0503020204020204" charset="-122"/>
              </a:rPr>
              <a:t>管</a:t>
            </a:r>
            <a:r>
              <a:rPr spc="-10" dirty="0">
                <a:ea typeface="微软雅黑" panose="020B0503020204020204" charset="-122"/>
              </a:rPr>
              <a:t>理和</a:t>
            </a:r>
            <a:r>
              <a:rPr spc="-5" dirty="0">
                <a:ea typeface="微软雅黑" panose="020B0503020204020204" charset="-122"/>
              </a:rPr>
              <a:t>渠</a:t>
            </a:r>
            <a:r>
              <a:rPr spc="-10" dirty="0">
                <a:ea typeface="微软雅黑" panose="020B0503020204020204" charset="-122"/>
              </a:rPr>
              <a:t>道管</a:t>
            </a:r>
            <a:r>
              <a:rPr spc="-5" dirty="0">
                <a:ea typeface="微软雅黑" panose="020B0503020204020204" charset="-122"/>
              </a:rPr>
              <a:t>理</a:t>
            </a:r>
            <a:r>
              <a:rPr spc="-10" dirty="0">
                <a:ea typeface="微软雅黑" panose="020B0503020204020204" charset="-122"/>
              </a:rPr>
              <a:t>三大</a:t>
            </a:r>
            <a:r>
              <a:rPr spc="-5" dirty="0">
                <a:ea typeface="微软雅黑" panose="020B0503020204020204" charset="-122"/>
              </a:rPr>
              <a:t>范</a:t>
            </a:r>
            <a:r>
              <a:rPr spc="-10" dirty="0">
                <a:ea typeface="微软雅黑" panose="020B0503020204020204" charset="-122"/>
              </a:rPr>
              <a:t>畴</a:t>
            </a:r>
            <a:endParaRPr spc="-10" dirty="0">
              <a:ea typeface="微软雅黑" panose="020B0503020204020204" charset="-122"/>
            </a:endParaRPr>
          </a:p>
        </p:txBody>
      </p:sp>
      <p:sp>
        <p:nvSpPr>
          <p:cNvPr id="4" name="object 4"/>
          <p:cNvSpPr txBox="1"/>
          <p:nvPr/>
        </p:nvSpPr>
        <p:spPr>
          <a:xfrm>
            <a:off x="7449366" y="566178"/>
            <a:ext cx="634550" cy="196215"/>
          </a:xfrm>
          <a:prstGeom prst="rect">
            <a:avLst/>
          </a:prstGeom>
        </p:spPr>
        <p:txBody>
          <a:bodyPr vert="horz" wrap="square" lIns="0" tIns="12691" rIns="0" bIns="0" rtlCol="0">
            <a:spAutoFit/>
          </a:bodyPr>
          <a:lstStyle/>
          <a:p>
            <a:pPr marL="12700">
              <a:lnSpc>
                <a:spcPct val="100000"/>
              </a:lnSpc>
              <a:spcBef>
                <a:spcPts val="100"/>
              </a:spcBef>
            </a:pPr>
            <a:r>
              <a:rPr sz="1200" dirty="0">
                <a:latin typeface="微软雅黑" panose="020B0503020204020204" charset="-122"/>
                <a:ea typeface="微软雅黑" panose="020B0503020204020204" charset="-122"/>
                <a:cs typeface="微软雅黑" panose="020B0503020204020204" charset="-122"/>
              </a:rPr>
              <a:t>核心基础</a:t>
            </a:r>
            <a:endParaRPr sz="1200" dirty="0">
              <a:latin typeface="微软雅黑" panose="020B0503020204020204" charset="-122"/>
              <a:ea typeface="微软雅黑" panose="020B0503020204020204" charset="-122"/>
              <a:cs typeface="微软雅黑" panose="020B0503020204020204" charset="-122"/>
            </a:endParaRPr>
          </a:p>
        </p:txBody>
      </p:sp>
      <p:sp>
        <p:nvSpPr>
          <p:cNvPr id="5" name="object 5"/>
          <p:cNvSpPr/>
          <p:nvPr/>
        </p:nvSpPr>
        <p:spPr>
          <a:xfrm>
            <a:off x="7206461" y="600824"/>
            <a:ext cx="166252" cy="159907"/>
          </a:xfrm>
          <a:custGeom>
            <a:avLst/>
            <a:gdLst/>
            <a:ahLst/>
            <a:cxnLst/>
            <a:rect l="l" t="t" r="r" b="b"/>
            <a:pathLst>
              <a:path w="166370" h="160020">
                <a:moveTo>
                  <a:pt x="0" y="160020"/>
                </a:moveTo>
                <a:lnTo>
                  <a:pt x="166116" y="160020"/>
                </a:lnTo>
                <a:lnTo>
                  <a:pt x="166116" y="0"/>
                </a:lnTo>
                <a:lnTo>
                  <a:pt x="0" y="0"/>
                </a:lnTo>
                <a:lnTo>
                  <a:pt x="0" y="16002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183512" y="1257965"/>
            <a:ext cx="8622904" cy="4884134"/>
          </a:xfrm>
          <a:custGeom>
            <a:avLst/>
            <a:gdLst/>
            <a:ahLst/>
            <a:cxnLst/>
            <a:rect l="l" t="t" r="r" b="b"/>
            <a:pathLst>
              <a:path w="8629015" h="4887595">
                <a:moveTo>
                  <a:pt x="7748142" y="0"/>
                </a:moveTo>
                <a:lnTo>
                  <a:pt x="0" y="0"/>
                </a:lnTo>
                <a:lnTo>
                  <a:pt x="0" y="4887468"/>
                </a:lnTo>
                <a:lnTo>
                  <a:pt x="7748142" y="4887468"/>
                </a:lnTo>
                <a:lnTo>
                  <a:pt x="8628888" y="2443734"/>
                </a:lnTo>
                <a:lnTo>
                  <a:pt x="7748142"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7476207" y="2468306"/>
            <a:ext cx="0" cy="1852887"/>
          </a:xfrm>
          <a:custGeom>
            <a:avLst/>
            <a:gdLst/>
            <a:ahLst/>
            <a:cxnLst/>
            <a:rect l="l" t="t" r="r" b="b"/>
            <a:pathLst>
              <a:path h="1854200">
                <a:moveTo>
                  <a:pt x="0" y="0"/>
                </a:moveTo>
                <a:lnTo>
                  <a:pt x="0" y="1853945"/>
                </a:lnTo>
              </a:path>
            </a:pathLst>
          </a:custGeom>
          <a:ln w="35433">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189603" y="4852058"/>
            <a:ext cx="8339894" cy="0"/>
          </a:xfrm>
          <a:custGeom>
            <a:avLst/>
            <a:gdLst/>
            <a:ahLst/>
            <a:cxnLst/>
            <a:rect l="l" t="t" r="r" b="b"/>
            <a:pathLst>
              <a:path w="8345805">
                <a:moveTo>
                  <a:pt x="8345423" y="0"/>
                </a:moveTo>
                <a:lnTo>
                  <a:pt x="0" y="0"/>
                </a:lnTo>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189603" y="5732306"/>
            <a:ext cx="8020081" cy="0"/>
          </a:xfrm>
          <a:custGeom>
            <a:avLst/>
            <a:gdLst/>
            <a:ahLst/>
            <a:cxnLst/>
            <a:rect l="l" t="t" r="r" b="b"/>
            <a:pathLst>
              <a:path w="8025765">
                <a:moveTo>
                  <a:pt x="8025383" y="0"/>
                </a:moveTo>
                <a:lnTo>
                  <a:pt x="0" y="0"/>
                </a:lnTo>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5198489" y="1256442"/>
            <a:ext cx="2258999" cy="1215798"/>
          </a:xfrm>
          <a:custGeom>
            <a:avLst/>
            <a:gdLst/>
            <a:ahLst/>
            <a:cxnLst/>
            <a:rect l="l" t="t" r="r" b="b"/>
            <a:pathLst>
              <a:path w="2260600" h="1216660">
                <a:moveTo>
                  <a:pt x="1817497" y="0"/>
                </a:moveTo>
                <a:lnTo>
                  <a:pt x="0" y="1650"/>
                </a:lnTo>
                <a:lnTo>
                  <a:pt x="444246" y="1216152"/>
                </a:lnTo>
                <a:lnTo>
                  <a:pt x="2260092" y="1216152"/>
                </a:lnTo>
                <a:lnTo>
                  <a:pt x="1817497"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5198489" y="1256442"/>
            <a:ext cx="2258999" cy="1215798"/>
          </a:xfrm>
          <a:custGeom>
            <a:avLst/>
            <a:gdLst/>
            <a:ahLst/>
            <a:cxnLst/>
            <a:rect l="l" t="t" r="r" b="b"/>
            <a:pathLst>
              <a:path w="2260600" h="1216660">
                <a:moveTo>
                  <a:pt x="0" y="1650"/>
                </a:moveTo>
                <a:lnTo>
                  <a:pt x="1817497" y="0"/>
                </a:lnTo>
                <a:lnTo>
                  <a:pt x="2260092" y="1216152"/>
                </a:lnTo>
                <a:lnTo>
                  <a:pt x="444246" y="1216152"/>
                </a:lnTo>
                <a:lnTo>
                  <a:pt x="0" y="1650"/>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1993248" y="2474651"/>
            <a:ext cx="76146" cy="1833850"/>
          </a:xfrm>
          <a:custGeom>
            <a:avLst/>
            <a:gdLst/>
            <a:ahLst/>
            <a:cxnLst/>
            <a:rect l="l" t="t" r="r" b="b"/>
            <a:pathLst>
              <a:path w="76200" h="1835150">
                <a:moveTo>
                  <a:pt x="28522" y="1758950"/>
                </a:moveTo>
                <a:lnTo>
                  <a:pt x="0" y="1759330"/>
                </a:lnTo>
                <a:lnTo>
                  <a:pt x="39115" y="1835022"/>
                </a:lnTo>
                <a:lnTo>
                  <a:pt x="69648" y="1771649"/>
                </a:lnTo>
                <a:lnTo>
                  <a:pt x="28701" y="1771649"/>
                </a:lnTo>
                <a:lnTo>
                  <a:pt x="28522" y="1758950"/>
                </a:lnTo>
                <a:close/>
              </a:path>
              <a:path w="76200" h="1835150">
                <a:moveTo>
                  <a:pt x="47572" y="1758695"/>
                </a:moveTo>
                <a:lnTo>
                  <a:pt x="28522" y="1758950"/>
                </a:lnTo>
                <a:lnTo>
                  <a:pt x="28701" y="1771649"/>
                </a:lnTo>
                <a:lnTo>
                  <a:pt x="47751" y="1771395"/>
                </a:lnTo>
                <a:lnTo>
                  <a:pt x="47572" y="1758695"/>
                </a:lnTo>
                <a:close/>
              </a:path>
              <a:path w="76200" h="1835150">
                <a:moveTo>
                  <a:pt x="76073" y="1758314"/>
                </a:moveTo>
                <a:lnTo>
                  <a:pt x="47572" y="1758695"/>
                </a:lnTo>
                <a:lnTo>
                  <a:pt x="47751" y="1771395"/>
                </a:lnTo>
                <a:lnTo>
                  <a:pt x="28701" y="1771649"/>
                </a:lnTo>
                <a:lnTo>
                  <a:pt x="69648" y="1771649"/>
                </a:lnTo>
                <a:lnTo>
                  <a:pt x="76073" y="1758314"/>
                </a:lnTo>
                <a:close/>
              </a:path>
              <a:path w="76200" h="1835150">
                <a:moveTo>
                  <a:pt x="22732" y="0"/>
                </a:moveTo>
                <a:lnTo>
                  <a:pt x="3682" y="253"/>
                </a:lnTo>
                <a:lnTo>
                  <a:pt x="28522" y="1758950"/>
                </a:lnTo>
                <a:lnTo>
                  <a:pt x="47572" y="1758695"/>
                </a:lnTo>
                <a:lnTo>
                  <a:pt x="22732" y="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7927563" y="1257965"/>
            <a:ext cx="437205" cy="1217067"/>
          </a:xfrm>
          <a:custGeom>
            <a:avLst/>
            <a:gdLst/>
            <a:ahLst/>
            <a:cxnLst/>
            <a:rect l="l" t="t" r="r" b="b"/>
            <a:pathLst>
              <a:path w="437515" h="1217930">
                <a:moveTo>
                  <a:pt x="0" y="0"/>
                </a:moveTo>
                <a:lnTo>
                  <a:pt x="437388" y="1217676"/>
                </a:lnTo>
              </a:path>
            </a:pathLst>
          </a:custGeom>
          <a:ln w="19049">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1564801" y="1256442"/>
            <a:ext cx="4075715" cy="1215798"/>
          </a:xfrm>
          <a:custGeom>
            <a:avLst/>
            <a:gdLst/>
            <a:ahLst/>
            <a:cxnLst/>
            <a:rect l="l" t="t" r="r" b="b"/>
            <a:pathLst>
              <a:path w="4078604" h="1216660">
                <a:moveTo>
                  <a:pt x="0" y="0"/>
                </a:moveTo>
                <a:lnTo>
                  <a:pt x="437769" y="1214501"/>
                </a:lnTo>
                <a:lnTo>
                  <a:pt x="4078224" y="1216152"/>
                </a:lnTo>
                <a:lnTo>
                  <a:pt x="3635629" y="4825"/>
                </a:lnTo>
                <a:lnTo>
                  <a:pt x="0"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1564801" y="1256442"/>
            <a:ext cx="4075715" cy="1215798"/>
          </a:xfrm>
          <a:custGeom>
            <a:avLst/>
            <a:gdLst/>
            <a:ahLst/>
            <a:cxnLst/>
            <a:rect l="l" t="t" r="r" b="b"/>
            <a:pathLst>
              <a:path w="4078604" h="1216660">
                <a:moveTo>
                  <a:pt x="0" y="0"/>
                </a:moveTo>
                <a:lnTo>
                  <a:pt x="3635629" y="4825"/>
                </a:lnTo>
                <a:lnTo>
                  <a:pt x="4078224" y="1216152"/>
                </a:lnTo>
                <a:lnTo>
                  <a:pt x="437769" y="1214501"/>
                </a:lnTo>
                <a:lnTo>
                  <a:pt x="0" y="0"/>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p:nvPr/>
        </p:nvSpPr>
        <p:spPr>
          <a:xfrm>
            <a:off x="185034" y="1257965"/>
            <a:ext cx="1819890" cy="1213895"/>
          </a:xfrm>
          <a:custGeom>
            <a:avLst/>
            <a:gdLst/>
            <a:ahLst/>
            <a:cxnLst/>
            <a:rect l="l" t="t" r="r" b="b"/>
            <a:pathLst>
              <a:path w="1821180" h="1214755">
                <a:moveTo>
                  <a:pt x="1385062" y="0"/>
                </a:moveTo>
                <a:lnTo>
                  <a:pt x="0" y="0"/>
                </a:lnTo>
                <a:lnTo>
                  <a:pt x="0" y="1214627"/>
                </a:lnTo>
                <a:lnTo>
                  <a:pt x="1821179" y="1214627"/>
                </a:lnTo>
                <a:lnTo>
                  <a:pt x="1385062"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p:nvPr/>
        </p:nvSpPr>
        <p:spPr>
          <a:xfrm>
            <a:off x="185034" y="1257965"/>
            <a:ext cx="1819890" cy="1213895"/>
          </a:xfrm>
          <a:custGeom>
            <a:avLst/>
            <a:gdLst/>
            <a:ahLst/>
            <a:cxnLst/>
            <a:rect l="l" t="t" r="r" b="b"/>
            <a:pathLst>
              <a:path w="1821180" h="1214755">
                <a:moveTo>
                  <a:pt x="1385062" y="0"/>
                </a:moveTo>
                <a:lnTo>
                  <a:pt x="0" y="0"/>
                </a:lnTo>
                <a:lnTo>
                  <a:pt x="0" y="1214627"/>
                </a:lnTo>
                <a:lnTo>
                  <a:pt x="1821179" y="1214627"/>
                </a:lnTo>
                <a:lnTo>
                  <a:pt x="1385062" y="0"/>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p:nvPr/>
        </p:nvSpPr>
        <p:spPr>
          <a:xfrm>
            <a:off x="4730952" y="2471733"/>
            <a:ext cx="909311" cy="1840196"/>
          </a:xfrm>
          <a:custGeom>
            <a:avLst/>
            <a:gdLst/>
            <a:ahLst/>
            <a:cxnLst/>
            <a:rect l="l" t="t" r="r" b="b"/>
            <a:pathLst>
              <a:path w="909954" h="1841500">
                <a:moveTo>
                  <a:pt x="0" y="1840992"/>
                </a:moveTo>
                <a:lnTo>
                  <a:pt x="909827" y="1840992"/>
                </a:lnTo>
                <a:lnTo>
                  <a:pt x="909827" y="0"/>
                </a:lnTo>
                <a:lnTo>
                  <a:pt x="0" y="0"/>
                </a:lnTo>
                <a:lnTo>
                  <a:pt x="0" y="1840992"/>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p:nvPr/>
        </p:nvSpPr>
        <p:spPr>
          <a:xfrm>
            <a:off x="4730952" y="2471733"/>
            <a:ext cx="909311" cy="1840196"/>
          </a:xfrm>
          <a:custGeom>
            <a:avLst/>
            <a:gdLst/>
            <a:ahLst/>
            <a:cxnLst/>
            <a:rect l="l" t="t" r="r" b="b"/>
            <a:pathLst>
              <a:path w="909954" h="1841500">
                <a:moveTo>
                  <a:pt x="0" y="1840992"/>
                </a:moveTo>
                <a:lnTo>
                  <a:pt x="909827" y="1840992"/>
                </a:lnTo>
                <a:lnTo>
                  <a:pt x="909827" y="0"/>
                </a:lnTo>
                <a:lnTo>
                  <a:pt x="0" y="0"/>
                </a:lnTo>
                <a:lnTo>
                  <a:pt x="0" y="1840992"/>
                </a:lnTo>
                <a:close/>
              </a:path>
            </a:pathLst>
          </a:custGeom>
          <a:ln w="19049">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p:nvPr/>
        </p:nvSpPr>
        <p:spPr>
          <a:xfrm>
            <a:off x="5640137" y="2471733"/>
            <a:ext cx="909311" cy="1840196"/>
          </a:xfrm>
          <a:custGeom>
            <a:avLst/>
            <a:gdLst/>
            <a:ahLst/>
            <a:cxnLst/>
            <a:rect l="l" t="t" r="r" b="b"/>
            <a:pathLst>
              <a:path w="909954" h="1841500">
                <a:moveTo>
                  <a:pt x="0" y="1840992"/>
                </a:moveTo>
                <a:lnTo>
                  <a:pt x="909828" y="1840992"/>
                </a:lnTo>
                <a:lnTo>
                  <a:pt x="909828" y="0"/>
                </a:lnTo>
                <a:lnTo>
                  <a:pt x="0" y="0"/>
                </a:lnTo>
                <a:lnTo>
                  <a:pt x="0" y="1840992"/>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1" name="object 21"/>
          <p:cNvSpPr/>
          <p:nvPr/>
        </p:nvSpPr>
        <p:spPr>
          <a:xfrm>
            <a:off x="6549319" y="2471733"/>
            <a:ext cx="909311" cy="1840196"/>
          </a:xfrm>
          <a:custGeom>
            <a:avLst/>
            <a:gdLst/>
            <a:ahLst/>
            <a:cxnLst/>
            <a:rect l="l" t="t" r="r" b="b"/>
            <a:pathLst>
              <a:path w="909954" h="1841500">
                <a:moveTo>
                  <a:pt x="0" y="1840992"/>
                </a:moveTo>
                <a:lnTo>
                  <a:pt x="909827" y="1840992"/>
                </a:lnTo>
                <a:lnTo>
                  <a:pt x="909827" y="0"/>
                </a:lnTo>
                <a:lnTo>
                  <a:pt x="0" y="0"/>
                </a:lnTo>
                <a:lnTo>
                  <a:pt x="0" y="1840992"/>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6549319" y="2471733"/>
            <a:ext cx="909311" cy="1840196"/>
          </a:xfrm>
          <a:custGeom>
            <a:avLst/>
            <a:gdLst/>
            <a:ahLst/>
            <a:cxnLst/>
            <a:rect l="l" t="t" r="r" b="b"/>
            <a:pathLst>
              <a:path w="909954" h="1841500">
                <a:moveTo>
                  <a:pt x="0" y="1840992"/>
                </a:moveTo>
                <a:lnTo>
                  <a:pt x="909827" y="1840992"/>
                </a:lnTo>
                <a:lnTo>
                  <a:pt x="909827" y="0"/>
                </a:lnTo>
                <a:lnTo>
                  <a:pt x="0" y="0"/>
                </a:lnTo>
                <a:lnTo>
                  <a:pt x="0" y="1840992"/>
                </a:lnTo>
                <a:close/>
              </a:path>
            </a:pathLst>
          </a:custGeom>
          <a:ln w="19049">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p:nvPr/>
        </p:nvSpPr>
        <p:spPr>
          <a:xfrm>
            <a:off x="3821769" y="2471733"/>
            <a:ext cx="909311" cy="1840196"/>
          </a:xfrm>
          <a:custGeom>
            <a:avLst/>
            <a:gdLst/>
            <a:ahLst/>
            <a:cxnLst/>
            <a:rect l="l" t="t" r="r" b="b"/>
            <a:pathLst>
              <a:path w="909954" h="1841500">
                <a:moveTo>
                  <a:pt x="0" y="1840992"/>
                </a:moveTo>
                <a:lnTo>
                  <a:pt x="909827" y="1840992"/>
                </a:lnTo>
                <a:lnTo>
                  <a:pt x="909827" y="0"/>
                </a:lnTo>
                <a:lnTo>
                  <a:pt x="0" y="0"/>
                </a:lnTo>
                <a:lnTo>
                  <a:pt x="0" y="1840992"/>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p:nvPr/>
        </p:nvSpPr>
        <p:spPr>
          <a:xfrm>
            <a:off x="2915632" y="2471733"/>
            <a:ext cx="908041" cy="1840196"/>
          </a:xfrm>
          <a:custGeom>
            <a:avLst/>
            <a:gdLst/>
            <a:ahLst/>
            <a:cxnLst/>
            <a:rect l="l" t="t" r="r" b="b"/>
            <a:pathLst>
              <a:path w="908685" h="1841500">
                <a:moveTo>
                  <a:pt x="0" y="1840992"/>
                </a:moveTo>
                <a:lnTo>
                  <a:pt x="908303" y="1840992"/>
                </a:lnTo>
                <a:lnTo>
                  <a:pt x="908303" y="0"/>
                </a:lnTo>
                <a:lnTo>
                  <a:pt x="0" y="0"/>
                </a:lnTo>
                <a:lnTo>
                  <a:pt x="0" y="1840992"/>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5" name="object 25"/>
          <p:cNvSpPr/>
          <p:nvPr/>
        </p:nvSpPr>
        <p:spPr>
          <a:xfrm>
            <a:off x="2004924" y="2471733"/>
            <a:ext cx="909311" cy="1840196"/>
          </a:xfrm>
          <a:custGeom>
            <a:avLst/>
            <a:gdLst/>
            <a:ahLst/>
            <a:cxnLst/>
            <a:rect l="l" t="t" r="r" b="b"/>
            <a:pathLst>
              <a:path w="909955" h="1841500">
                <a:moveTo>
                  <a:pt x="0" y="1840992"/>
                </a:moveTo>
                <a:lnTo>
                  <a:pt x="909828" y="1840992"/>
                </a:lnTo>
                <a:lnTo>
                  <a:pt x="909828" y="0"/>
                </a:lnTo>
                <a:lnTo>
                  <a:pt x="0" y="0"/>
                </a:lnTo>
                <a:lnTo>
                  <a:pt x="0" y="1840992"/>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6" name="object 26"/>
          <p:cNvSpPr/>
          <p:nvPr/>
        </p:nvSpPr>
        <p:spPr>
          <a:xfrm>
            <a:off x="1095740" y="2471733"/>
            <a:ext cx="909311" cy="1840196"/>
          </a:xfrm>
          <a:custGeom>
            <a:avLst/>
            <a:gdLst/>
            <a:ahLst/>
            <a:cxnLst/>
            <a:rect l="l" t="t" r="r" b="b"/>
            <a:pathLst>
              <a:path w="909955" h="1841500">
                <a:moveTo>
                  <a:pt x="0" y="1840992"/>
                </a:moveTo>
                <a:lnTo>
                  <a:pt x="909828" y="1840992"/>
                </a:lnTo>
                <a:lnTo>
                  <a:pt x="909828" y="0"/>
                </a:lnTo>
                <a:lnTo>
                  <a:pt x="0" y="0"/>
                </a:lnTo>
                <a:lnTo>
                  <a:pt x="0" y="1840992"/>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7" name="object 27"/>
          <p:cNvSpPr/>
          <p:nvPr/>
        </p:nvSpPr>
        <p:spPr>
          <a:xfrm>
            <a:off x="185034" y="2471733"/>
            <a:ext cx="909311" cy="1840196"/>
          </a:xfrm>
          <a:custGeom>
            <a:avLst/>
            <a:gdLst/>
            <a:ahLst/>
            <a:cxnLst/>
            <a:rect l="l" t="t" r="r" b="b"/>
            <a:pathLst>
              <a:path w="909955" h="1841500">
                <a:moveTo>
                  <a:pt x="0" y="1840992"/>
                </a:moveTo>
                <a:lnTo>
                  <a:pt x="909828" y="1840992"/>
                </a:lnTo>
                <a:lnTo>
                  <a:pt x="909828" y="0"/>
                </a:lnTo>
                <a:lnTo>
                  <a:pt x="0" y="0"/>
                </a:lnTo>
                <a:lnTo>
                  <a:pt x="0" y="1840992"/>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p:nvPr/>
        </p:nvSpPr>
        <p:spPr>
          <a:xfrm>
            <a:off x="185034" y="2471733"/>
            <a:ext cx="909311" cy="1840196"/>
          </a:xfrm>
          <a:custGeom>
            <a:avLst/>
            <a:gdLst/>
            <a:ahLst/>
            <a:cxnLst/>
            <a:rect l="l" t="t" r="r" b="b"/>
            <a:pathLst>
              <a:path w="909955" h="1841500">
                <a:moveTo>
                  <a:pt x="0" y="1840992"/>
                </a:moveTo>
                <a:lnTo>
                  <a:pt x="909828" y="1840992"/>
                </a:lnTo>
                <a:lnTo>
                  <a:pt x="909828" y="0"/>
                </a:lnTo>
                <a:lnTo>
                  <a:pt x="0" y="0"/>
                </a:lnTo>
                <a:lnTo>
                  <a:pt x="0" y="1840992"/>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9" name="object 29"/>
          <p:cNvSpPr/>
          <p:nvPr/>
        </p:nvSpPr>
        <p:spPr>
          <a:xfrm>
            <a:off x="7458504" y="2470210"/>
            <a:ext cx="1331286" cy="1844638"/>
          </a:xfrm>
          <a:custGeom>
            <a:avLst/>
            <a:gdLst/>
            <a:ahLst/>
            <a:cxnLst/>
            <a:rect l="l" t="t" r="r" b="b"/>
            <a:pathLst>
              <a:path w="1332229" h="1845945">
                <a:moveTo>
                  <a:pt x="0" y="0"/>
                </a:moveTo>
                <a:lnTo>
                  <a:pt x="0" y="1845564"/>
                </a:lnTo>
                <a:lnTo>
                  <a:pt x="1111250" y="1811782"/>
                </a:lnTo>
                <a:lnTo>
                  <a:pt x="1331976" y="1203706"/>
                </a:lnTo>
                <a:lnTo>
                  <a:pt x="910843" y="4445"/>
                </a:lnTo>
                <a:lnTo>
                  <a:pt x="0"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0" name="object 30"/>
          <p:cNvSpPr/>
          <p:nvPr/>
        </p:nvSpPr>
        <p:spPr>
          <a:xfrm>
            <a:off x="7458504" y="2470210"/>
            <a:ext cx="1331286" cy="1844638"/>
          </a:xfrm>
          <a:custGeom>
            <a:avLst/>
            <a:gdLst/>
            <a:ahLst/>
            <a:cxnLst/>
            <a:rect l="l" t="t" r="r" b="b"/>
            <a:pathLst>
              <a:path w="1332229" h="1845945">
                <a:moveTo>
                  <a:pt x="0" y="0"/>
                </a:moveTo>
                <a:lnTo>
                  <a:pt x="0" y="1845564"/>
                </a:lnTo>
                <a:lnTo>
                  <a:pt x="1111250" y="1811782"/>
                </a:lnTo>
                <a:lnTo>
                  <a:pt x="1331976" y="1203706"/>
                </a:lnTo>
                <a:lnTo>
                  <a:pt x="910843" y="4445"/>
                </a:lnTo>
                <a:lnTo>
                  <a:pt x="0" y="0"/>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1" name="object 31"/>
          <p:cNvSpPr/>
          <p:nvPr/>
        </p:nvSpPr>
        <p:spPr>
          <a:xfrm>
            <a:off x="7016857" y="1253396"/>
            <a:ext cx="1354130" cy="1218337"/>
          </a:xfrm>
          <a:custGeom>
            <a:avLst/>
            <a:gdLst/>
            <a:ahLst/>
            <a:cxnLst/>
            <a:rect l="l" t="t" r="r" b="b"/>
            <a:pathLst>
              <a:path w="1355090" h="1219200">
                <a:moveTo>
                  <a:pt x="0" y="0"/>
                </a:moveTo>
                <a:lnTo>
                  <a:pt x="442975" y="1219200"/>
                </a:lnTo>
                <a:lnTo>
                  <a:pt x="1354836" y="1219200"/>
                </a:lnTo>
                <a:lnTo>
                  <a:pt x="908685" y="4825"/>
                </a:lnTo>
                <a:lnTo>
                  <a:pt x="0"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2" name="object 32"/>
          <p:cNvSpPr/>
          <p:nvPr/>
        </p:nvSpPr>
        <p:spPr>
          <a:xfrm>
            <a:off x="7016857" y="1253396"/>
            <a:ext cx="1354130" cy="1218337"/>
          </a:xfrm>
          <a:custGeom>
            <a:avLst/>
            <a:gdLst/>
            <a:ahLst/>
            <a:cxnLst/>
            <a:rect l="l" t="t" r="r" b="b"/>
            <a:pathLst>
              <a:path w="1355090" h="1219200">
                <a:moveTo>
                  <a:pt x="0" y="0"/>
                </a:moveTo>
                <a:lnTo>
                  <a:pt x="908685" y="4825"/>
                </a:lnTo>
                <a:lnTo>
                  <a:pt x="1354836" y="1219200"/>
                </a:lnTo>
                <a:lnTo>
                  <a:pt x="442975" y="1219200"/>
                </a:lnTo>
                <a:lnTo>
                  <a:pt x="0" y="0"/>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3" name="object 33"/>
          <p:cNvSpPr txBox="1"/>
          <p:nvPr/>
        </p:nvSpPr>
        <p:spPr>
          <a:xfrm>
            <a:off x="252296" y="1733624"/>
            <a:ext cx="741155" cy="227965"/>
          </a:xfrm>
          <a:prstGeom prst="rect">
            <a:avLst/>
          </a:prstGeom>
        </p:spPr>
        <p:txBody>
          <a:bodyPr vert="horz" wrap="square" lIns="0" tIns="13325" rIns="0" bIns="0" rtlCol="0">
            <a:spAutoFit/>
          </a:bodyPr>
          <a:lstStyle/>
          <a:p>
            <a:pPr marL="12700">
              <a:lnSpc>
                <a:spcPct val="100000"/>
              </a:lnSpc>
              <a:spcBef>
                <a:spcPts val="105"/>
              </a:spcBef>
            </a:pPr>
            <a:r>
              <a:rPr sz="1400" b="1" spc="10" dirty="0">
                <a:solidFill>
                  <a:srgbClr val="00295F"/>
                </a:solidFill>
                <a:latin typeface="微软雅黑" panose="020B0503020204020204" charset="-122"/>
                <a:ea typeface="微软雅黑" panose="020B0503020204020204" charset="-122"/>
                <a:cs typeface="微软雅黑" panose="020B0503020204020204" charset="-122"/>
              </a:rPr>
              <a:t>销售</a:t>
            </a:r>
            <a:r>
              <a:rPr sz="1400" b="1" dirty="0">
                <a:solidFill>
                  <a:srgbClr val="00295F"/>
                </a:solidFill>
                <a:latin typeface="微软雅黑" panose="020B0503020204020204" charset="-122"/>
                <a:ea typeface="微软雅黑" panose="020B0503020204020204" charset="-122"/>
                <a:cs typeface="微软雅黑" panose="020B0503020204020204" charset="-122"/>
              </a:rPr>
              <a:t>战略</a:t>
            </a:r>
            <a:endParaRPr sz="1400">
              <a:latin typeface="微软雅黑" panose="020B0503020204020204" charset="-122"/>
              <a:ea typeface="微软雅黑" panose="020B0503020204020204" charset="-122"/>
              <a:cs typeface="微软雅黑" panose="020B0503020204020204" charset="-122"/>
            </a:endParaRPr>
          </a:p>
        </p:txBody>
      </p:sp>
      <p:sp>
        <p:nvSpPr>
          <p:cNvPr id="34" name="object 34"/>
          <p:cNvSpPr txBox="1"/>
          <p:nvPr/>
        </p:nvSpPr>
        <p:spPr>
          <a:xfrm>
            <a:off x="2124601" y="1733116"/>
            <a:ext cx="741155" cy="227965"/>
          </a:xfrm>
          <a:prstGeom prst="rect">
            <a:avLst/>
          </a:prstGeom>
        </p:spPr>
        <p:txBody>
          <a:bodyPr vert="horz" wrap="square" lIns="0" tIns="13325" rIns="0" bIns="0" rtlCol="0">
            <a:spAutoFit/>
          </a:bodyPr>
          <a:lstStyle/>
          <a:p>
            <a:pPr marL="12700">
              <a:lnSpc>
                <a:spcPct val="100000"/>
              </a:lnSpc>
              <a:spcBef>
                <a:spcPts val="105"/>
              </a:spcBef>
            </a:pPr>
            <a:r>
              <a:rPr sz="1400" b="1" spc="10" dirty="0">
                <a:solidFill>
                  <a:srgbClr val="00295F"/>
                </a:solidFill>
                <a:latin typeface="微软雅黑" panose="020B0503020204020204" charset="-122"/>
                <a:ea typeface="微软雅黑" panose="020B0503020204020204" charset="-122"/>
                <a:cs typeface="微软雅黑" panose="020B0503020204020204" charset="-122"/>
              </a:rPr>
              <a:t>客户</a:t>
            </a:r>
            <a:r>
              <a:rPr sz="1400" b="1" dirty="0">
                <a:solidFill>
                  <a:srgbClr val="00295F"/>
                </a:solidFill>
                <a:latin typeface="微软雅黑" panose="020B0503020204020204" charset="-122"/>
                <a:ea typeface="微软雅黑" panose="020B0503020204020204" charset="-122"/>
                <a:cs typeface="微软雅黑" panose="020B0503020204020204" charset="-122"/>
              </a:rPr>
              <a:t>管理</a:t>
            </a:r>
            <a:endParaRPr sz="1400">
              <a:latin typeface="微软雅黑" panose="020B0503020204020204" charset="-122"/>
              <a:ea typeface="微软雅黑" panose="020B0503020204020204" charset="-122"/>
              <a:cs typeface="微软雅黑" panose="020B0503020204020204" charset="-122"/>
            </a:endParaRPr>
          </a:p>
        </p:txBody>
      </p:sp>
      <p:sp>
        <p:nvSpPr>
          <p:cNvPr id="35" name="object 35"/>
          <p:cNvSpPr txBox="1"/>
          <p:nvPr/>
        </p:nvSpPr>
        <p:spPr>
          <a:xfrm>
            <a:off x="5729355" y="1733624"/>
            <a:ext cx="741155" cy="227965"/>
          </a:xfrm>
          <a:prstGeom prst="rect">
            <a:avLst/>
          </a:prstGeom>
        </p:spPr>
        <p:txBody>
          <a:bodyPr vert="horz" wrap="square" lIns="0" tIns="13325" rIns="0" bIns="0" rtlCol="0">
            <a:spAutoFit/>
          </a:bodyPr>
          <a:lstStyle/>
          <a:p>
            <a:pPr marL="12700">
              <a:lnSpc>
                <a:spcPct val="100000"/>
              </a:lnSpc>
              <a:spcBef>
                <a:spcPts val="105"/>
              </a:spcBef>
            </a:pPr>
            <a:r>
              <a:rPr sz="1400" b="1" spc="10" dirty="0">
                <a:solidFill>
                  <a:srgbClr val="00295F"/>
                </a:solidFill>
                <a:latin typeface="微软雅黑" panose="020B0503020204020204" charset="-122"/>
                <a:ea typeface="微软雅黑" panose="020B0503020204020204" charset="-122"/>
                <a:cs typeface="微软雅黑" panose="020B0503020204020204" charset="-122"/>
              </a:rPr>
              <a:t>渠道</a:t>
            </a:r>
            <a:r>
              <a:rPr sz="1400" b="1" dirty="0">
                <a:solidFill>
                  <a:srgbClr val="00295F"/>
                </a:solidFill>
                <a:latin typeface="微软雅黑" panose="020B0503020204020204" charset="-122"/>
                <a:ea typeface="微软雅黑" panose="020B0503020204020204" charset="-122"/>
                <a:cs typeface="微软雅黑" panose="020B0503020204020204" charset="-122"/>
              </a:rPr>
              <a:t>管理</a:t>
            </a:r>
            <a:endParaRPr sz="1400">
              <a:latin typeface="微软雅黑" panose="020B0503020204020204" charset="-122"/>
              <a:ea typeface="微软雅黑" panose="020B0503020204020204" charset="-122"/>
              <a:cs typeface="微软雅黑" panose="020B0503020204020204" charset="-122"/>
            </a:endParaRPr>
          </a:p>
        </p:txBody>
      </p:sp>
      <p:sp>
        <p:nvSpPr>
          <p:cNvPr id="36" name="object 36"/>
          <p:cNvSpPr txBox="1"/>
          <p:nvPr/>
        </p:nvSpPr>
        <p:spPr>
          <a:xfrm>
            <a:off x="7368271" y="1733624"/>
            <a:ext cx="741155" cy="227965"/>
          </a:xfrm>
          <a:prstGeom prst="rect">
            <a:avLst/>
          </a:prstGeom>
        </p:spPr>
        <p:txBody>
          <a:bodyPr vert="horz" wrap="square" lIns="0" tIns="13325" rIns="0" bIns="0" rtlCol="0">
            <a:spAutoFit/>
          </a:bodyPr>
          <a:lstStyle/>
          <a:p>
            <a:pPr marL="12700">
              <a:lnSpc>
                <a:spcPct val="100000"/>
              </a:lnSpc>
              <a:spcBef>
                <a:spcPts val="105"/>
              </a:spcBef>
            </a:pPr>
            <a:r>
              <a:rPr sz="1400" b="1" spc="10" dirty="0">
                <a:solidFill>
                  <a:srgbClr val="00295F"/>
                </a:solidFill>
                <a:latin typeface="微软雅黑" panose="020B0503020204020204" charset="-122"/>
                <a:ea typeface="微软雅黑" panose="020B0503020204020204" charset="-122"/>
                <a:cs typeface="微软雅黑" panose="020B0503020204020204" charset="-122"/>
              </a:rPr>
              <a:t>市场</a:t>
            </a:r>
            <a:r>
              <a:rPr sz="1400" b="1" dirty="0">
                <a:solidFill>
                  <a:srgbClr val="00295F"/>
                </a:solidFill>
                <a:latin typeface="微软雅黑" panose="020B0503020204020204" charset="-122"/>
                <a:ea typeface="微软雅黑" panose="020B0503020204020204" charset="-122"/>
                <a:cs typeface="微软雅黑" panose="020B0503020204020204" charset="-122"/>
              </a:rPr>
              <a:t>推广</a:t>
            </a:r>
            <a:endParaRPr sz="1400">
              <a:latin typeface="微软雅黑" panose="020B0503020204020204" charset="-122"/>
              <a:ea typeface="微软雅黑" panose="020B0503020204020204" charset="-122"/>
              <a:cs typeface="微软雅黑" panose="020B0503020204020204" charset="-122"/>
            </a:endParaRPr>
          </a:p>
        </p:txBody>
      </p:sp>
      <p:sp>
        <p:nvSpPr>
          <p:cNvPr id="37" name="object 37"/>
          <p:cNvSpPr txBox="1"/>
          <p:nvPr/>
        </p:nvSpPr>
        <p:spPr>
          <a:xfrm>
            <a:off x="598304" y="5327767"/>
            <a:ext cx="1272908" cy="227330"/>
          </a:xfrm>
          <a:prstGeom prst="rect">
            <a:avLst/>
          </a:prstGeom>
        </p:spPr>
        <p:txBody>
          <a:bodyPr vert="horz" wrap="square" lIns="0" tIns="12691" rIns="0" bIns="0" rtlCol="0">
            <a:spAutoFit/>
          </a:bodyPr>
          <a:lstStyle/>
          <a:p>
            <a:pPr marL="12700">
              <a:lnSpc>
                <a:spcPct val="100000"/>
              </a:lnSpc>
              <a:spcBef>
                <a:spcPts val="100"/>
              </a:spcBef>
            </a:pPr>
            <a:r>
              <a:rPr sz="1400" dirty="0">
                <a:latin typeface="微软雅黑" panose="020B0503020204020204" charset="-122"/>
                <a:ea typeface="微软雅黑" panose="020B0503020204020204" charset="-122"/>
                <a:cs typeface="微软雅黑" panose="020B0503020204020204" charset="-122"/>
              </a:rPr>
              <a:t>绩效管理和激励</a:t>
            </a:r>
            <a:endParaRPr sz="1400" dirty="0">
              <a:latin typeface="微软雅黑" panose="020B0503020204020204" charset="-122"/>
              <a:ea typeface="微软雅黑" panose="020B0503020204020204" charset="-122"/>
              <a:cs typeface="微软雅黑" panose="020B0503020204020204" charset="-122"/>
            </a:endParaRPr>
          </a:p>
        </p:txBody>
      </p:sp>
      <p:sp>
        <p:nvSpPr>
          <p:cNvPr id="38" name="object 38"/>
          <p:cNvSpPr/>
          <p:nvPr/>
        </p:nvSpPr>
        <p:spPr>
          <a:xfrm>
            <a:off x="492664" y="2550924"/>
            <a:ext cx="295700" cy="292528"/>
          </a:xfrm>
          <a:custGeom>
            <a:avLst/>
            <a:gdLst/>
            <a:ahLst/>
            <a:cxnLst/>
            <a:rect l="l" t="t" r="r" b="b"/>
            <a:pathLst>
              <a:path w="295909" h="292735">
                <a:moveTo>
                  <a:pt x="147828" y="0"/>
                </a:moveTo>
                <a:lnTo>
                  <a:pt x="101100" y="7461"/>
                </a:lnTo>
                <a:lnTo>
                  <a:pt x="60520" y="28236"/>
                </a:lnTo>
                <a:lnTo>
                  <a:pt x="28520" y="59911"/>
                </a:lnTo>
                <a:lnTo>
                  <a:pt x="7535" y="100071"/>
                </a:lnTo>
                <a:lnTo>
                  <a:pt x="0" y="146303"/>
                </a:lnTo>
                <a:lnTo>
                  <a:pt x="7535" y="192536"/>
                </a:lnTo>
                <a:lnTo>
                  <a:pt x="28520" y="232696"/>
                </a:lnTo>
                <a:lnTo>
                  <a:pt x="60520" y="264371"/>
                </a:lnTo>
                <a:lnTo>
                  <a:pt x="101100" y="285146"/>
                </a:lnTo>
                <a:lnTo>
                  <a:pt x="147828" y="292607"/>
                </a:lnTo>
                <a:lnTo>
                  <a:pt x="194555" y="285146"/>
                </a:lnTo>
                <a:lnTo>
                  <a:pt x="235135" y="264371"/>
                </a:lnTo>
                <a:lnTo>
                  <a:pt x="267135" y="232696"/>
                </a:lnTo>
                <a:lnTo>
                  <a:pt x="288120" y="192536"/>
                </a:lnTo>
                <a:lnTo>
                  <a:pt x="295656" y="146303"/>
                </a:lnTo>
                <a:lnTo>
                  <a:pt x="288120" y="100071"/>
                </a:lnTo>
                <a:lnTo>
                  <a:pt x="267135" y="59911"/>
                </a:lnTo>
                <a:lnTo>
                  <a:pt x="235135" y="28236"/>
                </a:lnTo>
                <a:lnTo>
                  <a:pt x="194555" y="7461"/>
                </a:lnTo>
                <a:lnTo>
                  <a:pt x="147828"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9" name="object 39"/>
          <p:cNvSpPr/>
          <p:nvPr/>
        </p:nvSpPr>
        <p:spPr>
          <a:xfrm>
            <a:off x="492664" y="2550924"/>
            <a:ext cx="295700" cy="292528"/>
          </a:xfrm>
          <a:custGeom>
            <a:avLst/>
            <a:gdLst/>
            <a:ahLst/>
            <a:cxnLst/>
            <a:rect l="l" t="t" r="r" b="b"/>
            <a:pathLst>
              <a:path w="295909" h="292735">
                <a:moveTo>
                  <a:pt x="0" y="146303"/>
                </a:moveTo>
                <a:lnTo>
                  <a:pt x="7535" y="100071"/>
                </a:lnTo>
                <a:lnTo>
                  <a:pt x="28520" y="59911"/>
                </a:lnTo>
                <a:lnTo>
                  <a:pt x="60520" y="28236"/>
                </a:lnTo>
                <a:lnTo>
                  <a:pt x="101100" y="7461"/>
                </a:lnTo>
                <a:lnTo>
                  <a:pt x="147828" y="0"/>
                </a:lnTo>
                <a:lnTo>
                  <a:pt x="194555" y="7461"/>
                </a:lnTo>
                <a:lnTo>
                  <a:pt x="235135" y="28236"/>
                </a:lnTo>
                <a:lnTo>
                  <a:pt x="267135" y="59911"/>
                </a:lnTo>
                <a:lnTo>
                  <a:pt x="288120" y="100071"/>
                </a:lnTo>
                <a:lnTo>
                  <a:pt x="295656" y="146303"/>
                </a:lnTo>
                <a:lnTo>
                  <a:pt x="288120" y="192536"/>
                </a:lnTo>
                <a:lnTo>
                  <a:pt x="267135" y="232696"/>
                </a:lnTo>
                <a:lnTo>
                  <a:pt x="235135" y="264371"/>
                </a:lnTo>
                <a:lnTo>
                  <a:pt x="194555" y="285146"/>
                </a:lnTo>
                <a:lnTo>
                  <a:pt x="147828" y="292607"/>
                </a:lnTo>
                <a:lnTo>
                  <a:pt x="101100" y="285146"/>
                </a:lnTo>
                <a:lnTo>
                  <a:pt x="60520" y="264371"/>
                </a:lnTo>
                <a:lnTo>
                  <a:pt x="28520" y="232696"/>
                </a:lnTo>
                <a:lnTo>
                  <a:pt x="7535" y="192536"/>
                </a:lnTo>
                <a:lnTo>
                  <a:pt x="0" y="146303"/>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0" name="object 40"/>
          <p:cNvSpPr/>
          <p:nvPr/>
        </p:nvSpPr>
        <p:spPr>
          <a:xfrm>
            <a:off x="1401847" y="2550924"/>
            <a:ext cx="295700" cy="292528"/>
          </a:xfrm>
          <a:custGeom>
            <a:avLst/>
            <a:gdLst/>
            <a:ahLst/>
            <a:cxnLst/>
            <a:rect l="l" t="t" r="r" b="b"/>
            <a:pathLst>
              <a:path w="295910" h="292735">
                <a:moveTo>
                  <a:pt x="147828" y="0"/>
                </a:moveTo>
                <a:lnTo>
                  <a:pt x="101096" y="7461"/>
                </a:lnTo>
                <a:lnTo>
                  <a:pt x="60514" y="28236"/>
                </a:lnTo>
                <a:lnTo>
                  <a:pt x="28517" y="59911"/>
                </a:lnTo>
                <a:lnTo>
                  <a:pt x="7534" y="100071"/>
                </a:lnTo>
                <a:lnTo>
                  <a:pt x="0" y="146303"/>
                </a:lnTo>
                <a:lnTo>
                  <a:pt x="7534" y="192536"/>
                </a:lnTo>
                <a:lnTo>
                  <a:pt x="28517" y="232696"/>
                </a:lnTo>
                <a:lnTo>
                  <a:pt x="60514" y="264371"/>
                </a:lnTo>
                <a:lnTo>
                  <a:pt x="101096" y="285146"/>
                </a:lnTo>
                <a:lnTo>
                  <a:pt x="147828" y="292607"/>
                </a:lnTo>
                <a:lnTo>
                  <a:pt x="194559" y="285146"/>
                </a:lnTo>
                <a:lnTo>
                  <a:pt x="235141" y="264371"/>
                </a:lnTo>
                <a:lnTo>
                  <a:pt x="267138" y="232696"/>
                </a:lnTo>
                <a:lnTo>
                  <a:pt x="288121" y="192536"/>
                </a:lnTo>
                <a:lnTo>
                  <a:pt x="295656" y="146303"/>
                </a:lnTo>
                <a:lnTo>
                  <a:pt x="288121" y="100071"/>
                </a:lnTo>
                <a:lnTo>
                  <a:pt x="267138" y="59911"/>
                </a:lnTo>
                <a:lnTo>
                  <a:pt x="235141" y="28236"/>
                </a:lnTo>
                <a:lnTo>
                  <a:pt x="194559" y="7461"/>
                </a:lnTo>
                <a:lnTo>
                  <a:pt x="147828"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1" name="object 41"/>
          <p:cNvSpPr/>
          <p:nvPr/>
        </p:nvSpPr>
        <p:spPr>
          <a:xfrm>
            <a:off x="1401847" y="2550924"/>
            <a:ext cx="295700" cy="292528"/>
          </a:xfrm>
          <a:custGeom>
            <a:avLst/>
            <a:gdLst/>
            <a:ahLst/>
            <a:cxnLst/>
            <a:rect l="l" t="t" r="r" b="b"/>
            <a:pathLst>
              <a:path w="295910" h="292735">
                <a:moveTo>
                  <a:pt x="0" y="146303"/>
                </a:moveTo>
                <a:lnTo>
                  <a:pt x="7534" y="100071"/>
                </a:lnTo>
                <a:lnTo>
                  <a:pt x="28517" y="59911"/>
                </a:lnTo>
                <a:lnTo>
                  <a:pt x="60514" y="28236"/>
                </a:lnTo>
                <a:lnTo>
                  <a:pt x="101096" y="7461"/>
                </a:lnTo>
                <a:lnTo>
                  <a:pt x="147828" y="0"/>
                </a:lnTo>
                <a:lnTo>
                  <a:pt x="194559" y="7461"/>
                </a:lnTo>
                <a:lnTo>
                  <a:pt x="235141" y="28236"/>
                </a:lnTo>
                <a:lnTo>
                  <a:pt x="267138" y="59911"/>
                </a:lnTo>
                <a:lnTo>
                  <a:pt x="288121" y="100071"/>
                </a:lnTo>
                <a:lnTo>
                  <a:pt x="295656" y="146303"/>
                </a:lnTo>
                <a:lnTo>
                  <a:pt x="288121" y="192536"/>
                </a:lnTo>
                <a:lnTo>
                  <a:pt x="267138" y="232696"/>
                </a:lnTo>
                <a:lnTo>
                  <a:pt x="235141" y="264371"/>
                </a:lnTo>
                <a:lnTo>
                  <a:pt x="194559" y="285146"/>
                </a:lnTo>
                <a:lnTo>
                  <a:pt x="147828" y="292607"/>
                </a:lnTo>
                <a:lnTo>
                  <a:pt x="101096" y="285146"/>
                </a:lnTo>
                <a:lnTo>
                  <a:pt x="60514" y="264371"/>
                </a:lnTo>
                <a:lnTo>
                  <a:pt x="28517" y="232696"/>
                </a:lnTo>
                <a:lnTo>
                  <a:pt x="7534" y="192536"/>
                </a:lnTo>
                <a:lnTo>
                  <a:pt x="0" y="146303"/>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2" name="object 42"/>
          <p:cNvSpPr/>
          <p:nvPr/>
        </p:nvSpPr>
        <p:spPr>
          <a:xfrm>
            <a:off x="2311032" y="2550924"/>
            <a:ext cx="294431" cy="292528"/>
          </a:xfrm>
          <a:custGeom>
            <a:avLst/>
            <a:gdLst/>
            <a:ahLst/>
            <a:cxnLst/>
            <a:rect l="l" t="t" r="r" b="b"/>
            <a:pathLst>
              <a:path w="294639" h="292735">
                <a:moveTo>
                  <a:pt x="147066" y="0"/>
                </a:moveTo>
                <a:lnTo>
                  <a:pt x="100559" y="7461"/>
                </a:lnTo>
                <a:lnTo>
                  <a:pt x="60185" y="28236"/>
                </a:lnTo>
                <a:lnTo>
                  <a:pt x="28358" y="59911"/>
                </a:lnTo>
                <a:lnTo>
                  <a:pt x="7491" y="100071"/>
                </a:lnTo>
                <a:lnTo>
                  <a:pt x="0" y="146303"/>
                </a:lnTo>
                <a:lnTo>
                  <a:pt x="7491" y="192536"/>
                </a:lnTo>
                <a:lnTo>
                  <a:pt x="28358" y="232696"/>
                </a:lnTo>
                <a:lnTo>
                  <a:pt x="60185" y="264371"/>
                </a:lnTo>
                <a:lnTo>
                  <a:pt x="100559" y="285146"/>
                </a:lnTo>
                <a:lnTo>
                  <a:pt x="147066" y="292607"/>
                </a:lnTo>
                <a:lnTo>
                  <a:pt x="193572" y="285146"/>
                </a:lnTo>
                <a:lnTo>
                  <a:pt x="233946" y="264371"/>
                </a:lnTo>
                <a:lnTo>
                  <a:pt x="265773" y="232696"/>
                </a:lnTo>
                <a:lnTo>
                  <a:pt x="286640" y="192536"/>
                </a:lnTo>
                <a:lnTo>
                  <a:pt x="294131" y="146303"/>
                </a:lnTo>
                <a:lnTo>
                  <a:pt x="286640" y="100071"/>
                </a:lnTo>
                <a:lnTo>
                  <a:pt x="265773" y="59911"/>
                </a:lnTo>
                <a:lnTo>
                  <a:pt x="233946" y="28236"/>
                </a:lnTo>
                <a:lnTo>
                  <a:pt x="193572" y="7461"/>
                </a:lnTo>
                <a:lnTo>
                  <a:pt x="147066"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3" name="object 43"/>
          <p:cNvSpPr/>
          <p:nvPr/>
        </p:nvSpPr>
        <p:spPr>
          <a:xfrm>
            <a:off x="2311032" y="2550924"/>
            <a:ext cx="294431" cy="292528"/>
          </a:xfrm>
          <a:custGeom>
            <a:avLst/>
            <a:gdLst/>
            <a:ahLst/>
            <a:cxnLst/>
            <a:rect l="l" t="t" r="r" b="b"/>
            <a:pathLst>
              <a:path w="294639" h="292735">
                <a:moveTo>
                  <a:pt x="0" y="146303"/>
                </a:moveTo>
                <a:lnTo>
                  <a:pt x="7491" y="100071"/>
                </a:lnTo>
                <a:lnTo>
                  <a:pt x="28358" y="59911"/>
                </a:lnTo>
                <a:lnTo>
                  <a:pt x="60185" y="28236"/>
                </a:lnTo>
                <a:lnTo>
                  <a:pt x="100559" y="7461"/>
                </a:lnTo>
                <a:lnTo>
                  <a:pt x="147066" y="0"/>
                </a:lnTo>
                <a:lnTo>
                  <a:pt x="193572" y="7461"/>
                </a:lnTo>
                <a:lnTo>
                  <a:pt x="233946" y="28236"/>
                </a:lnTo>
                <a:lnTo>
                  <a:pt x="265773" y="59911"/>
                </a:lnTo>
                <a:lnTo>
                  <a:pt x="286640" y="100071"/>
                </a:lnTo>
                <a:lnTo>
                  <a:pt x="294131" y="146303"/>
                </a:lnTo>
                <a:lnTo>
                  <a:pt x="286640" y="192536"/>
                </a:lnTo>
                <a:lnTo>
                  <a:pt x="265773" y="232696"/>
                </a:lnTo>
                <a:lnTo>
                  <a:pt x="233946" y="264371"/>
                </a:lnTo>
                <a:lnTo>
                  <a:pt x="193572" y="285146"/>
                </a:lnTo>
                <a:lnTo>
                  <a:pt x="147066" y="292607"/>
                </a:lnTo>
                <a:lnTo>
                  <a:pt x="100559" y="285146"/>
                </a:lnTo>
                <a:lnTo>
                  <a:pt x="60185" y="264371"/>
                </a:lnTo>
                <a:lnTo>
                  <a:pt x="28358" y="232696"/>
                </a:lnTo>
                <a:lnTo>
                  <a:pt x="7491" y="192536"/>
                </a:lnTo>
                <a:lnTo>
                  <a:pt x="0" y="146303"/>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4" name="object 44"/>
          <p:cNvSpPr/>
          <p:nvPr/>
        </p:nvSpPr>
        <p:spPr>
          <a:xfrm>
            <a:off x="3221739" y="2550924"/>
            <a:ext cx="294431" cy="292528"/>
          </a:xfrm>
          <a:custGeom>
            <a:avLst/>
            <a:gdLst/>
            <a:ahLst/>
            <a:cxnLst/>
            <a:rect l="l" t="t" r="r" b="b"/>
            <a:pathLst>
              <a:path w="294639" h="292735">
                <a:moveTo>
                  <a:pt x="147065" y="0"/>
                </a:moveTo>
                <a:lnTo>
                  <a:pt x="100559" y="7461"/>
                </a:lnTo>
                <a:lnTo>
                  <a:pt x="60185" y="28236"/>
                </a:lnTo>
                <a:lnTo>
                  <a:pt x="28358" y="59911"/>
                </a:lnTo>
                <a:lnTo>
                  <a:pt x="7491" y="100071"/>
                </a:lnTo>
                <a:lnTo>
                  <a:pt x="0" y="146303"/>
                </a:lnTo>
                <a:lnTo>
                  <a:pt x="7491" y="192536"/>
                </a:lnTo>
                <a:lnTo>
                  <a:pt x="28358" y="232696"/>
                </a:lnTo>
                <a:lnTo>
                  <a:pt x="60185" y="264371"/>
                </a:lnTo>
                <a:lnTo>
                  <a:pt x="100559" y="285146"/>
                </a:lnTo>
                <a:lnTo>
                  <a:pt x="147065" y="292607"/>
                </a:lnTo>
                <a:lnTo>
                  <a:pt x="193572" y="285146"/>
                </a:lnTo>
                <a:lnTo>
                  <a:pt x="233946" y="264371"/>
                </a:lnTo>
                <a:lnTo>
                  <a:pt x="265773" y="232696"/>
                </a:lnTo>
                <a:lnTo>
                  <a:pt x="286640" y="192536"/>
                </a:lnTo>
                <a:lnTo>
                  <a:pt x="294131" y="146303"/>
                </a:lnTo>
                <a:lnTo>
                  <a:pt x="286640" y="100071"/>
                </a:lnTo>
                <a:lnTo>
                  <a:pt x="265773" y="59911"/>
                </a:lnTo>
                <a:lnTo>
                  <a:pt x="233946" y="28236"/>
                </a:lnTo>
                <a:lnTo>
                  <a:pt x="193572" y="7461"/>
                </a:lnTo>
                <a:lnTo>
                  <a:pt x="147065"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5" name="object 45"/>
          <p:cNvSpPr/>
          <p:nvPr/>
        </p:nvSpPr>
        <p:spPr>
          <a:xfrm>
            <a:off x="3221739" y="2550924"/>
            <a:ext cx="294431" cy="292528"/>
          </a:xfrm>
          <a:custGeom>
            <a:avLst/>
            <a:gdLst/>
            <a:ahLst/>
            <a:cxnLst/>
            <a:rect l="l" t="t" r="r" b="b"/>
            <a:pathLst>
              <a:path w="294639" h="292735">
                <a:moveTo>
                  <a:pt x="0" y="146303"/>
                </a:moveTo>
                <a:lnTo>
                  <a:pt x="7491" y="100071"/>
                </a:lnTo>
                <a:lnTo>
                  <a:pt x="28358" y="59911"/>
                </a:lnTo>
                <a:lnTo>
                  <a:pt x="60185" y="28236"/>
                </a:lnTo>
                <a:lnTo>
                  <a:pt x="100559" y="7461"/>
                </a:lnTo>
                <a:lnTo>
                  <a:pt x="147065" y="0"/>
                </a:lnTo>
                <a:lnTo>
                  <a:pt x="193572" y="7461"/>
                </a:lnTo>
                <a:lnTo>
                  <a:pt x="233946" y="28236"/>
                </a:lnTo>
                <a:lnTo>
                  <a:pt x="265773" y="59911"/>
                </a:lnTo>
                <a:lnTo>
                  <a:pt x="286640" y="100071"/>
                </a:lnTo>
                <a:lnTo>
                  <a:pt x="294131" y="146303"/>
                </a:lnTo>
                <a:lnTo>
                  <a:pt x="286640" y="192536"/>
                </a:lnTo>
                <a:lnTo>
                  <a:pt x="265773" y="232696"/>
                </a:lnTo>
                <a:lnTo>
                  <a:pt x="233946" y="264371"/>
                </a:lnTo>
                <a:lnTo>
                  <a:pt x="193572" y="285146"/>
                </a:lnTo>
                <a:lnTo>
                  <a:pt x="147065" y="292607"/>
                </a:lnTo>
                <a:lnTo>
                  <a:pt x="100559" y="285146"/>
                </a:lnTo>
                <a:lnTo>
                  <a:pt x="60185" y="264371"/>
                </a:lnTo>
                <a:lnTo>
                  <a:pt x="28358" y="232696"/>
                </a:lnTo>
                <a:lnTo>
                  <a:pt x="7491" y="192536"/>
                </a:lnTo>
                <a:lnTo>
                  <a:pt x="0" y="146303"/>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6" name="object 46"/>
          <p:cNvSpPr/>
          <p:nvPr/>
        </p:nvSpPr>
        <p:spPr>
          <a:xfrm>
            <a:off x="4126354" y="2550924"/>
            <a:ext cx="295700" cy="292528"/>
          </a:xfrm>
          <a:custGeom>
            <a:avLst/>
            <a:gdLst/>
            <a:ahLst/>
            <a:cxnLst/>
            <a:rect l="l" t="t" r="r" b="b"/>
            <a:pathLst>
              <a:path w="295910" h="292735">
                <a:moveTo>
                  <a:pt x="147827" y="0"/>
                </a:moveTo>
                <a:lnTo>
                  <a:pt x="101096" y="7461"/>
                </a:lnTo>
                <a:lnTo>
                  <a:pt x="60514" y="28236"/>
                </a:lnTo>
                <a:lnTo>
                  <a:pt x="28517" y="59911"/>
                </a:lnTo>
                <a:lnTo>
                  <a:pt x="7534" y="100071"/>
                </a:lnTo>
                <a:lnTo>
                  <a:pt x="0" y="146303"/>
                </a:lnTo>
                <a:lnTo>
                  <a:pt x="7534" y="192536"/>
                </a:lnTo>
                <a:lnTo>
                  <a:pt x="28517" y="232696"/>
                </a:lnTo>
                <a:lnTo>
                  <a:pt x="60514" y="264371"/>
                </a:lnTo>
                <a:lnTo>
                  <a:pt x="101096" y="285146"/>
                </a:lnTo>
                <a:lnTo>
                  <a:pt x="147827" y="292607"/>
                </a:lnTo>
                <a:lnTo>
                  <a:pt x="194559" y="285146"/>
                </a:lnTo>
                <a:lnTo>
                  <a:pt x="235141" y="264371"/>
                </a:lnTo>
                <a:lnTo>
                  <a:pt x="267138" y="232696"/>
                </a:lnTo>
                <a:lnTo>
                  <a:pt x="288121" y="192536"/>
                </a:lnTo>
                <a:lnTo>
                  <a:pt x="295656" y="146303"/>
                </a:lnTo>
                <a:lnTo>
                  <a:pt x="288121" y="100071"/>
                </a:lnTo>
                <a:lnTo>
                  <a:pt x="267138" y="59911"/>
                </a:lnTo>
                <a:lnTo>
                  <a:pt x="235141" y="28236"/>
                </a:lnTo>
                <a:lnTo>
                  <a:pt x="194559" y="7461"/>
                </a:lnTo>
                <a:lnTo>
                  <a:pt x="147827"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7" name="object 47"/>
          <p:cNvSpPr/>
          <p:nvPr/>
        </p:nvSpPr>
        <p:spPr>
          <a:xfrm>
            <a:off x="4126354" y="2550924"/>
            <a:ext cx="295700" cy="292528"/>
          </a:xfrm>
          <a:custGeom>
            <a:avLst/>
            <a:gdLst/>
            <a:ahLst/>
            <a:cxnLst/>
            <a:rect l="l" t="t" r="r" b="b"/>
            <a:pathLst>
              <a:path w="295910" h="292735">
                <a:moveTo>
                  <a:pt x="0" y="146303"/>
                </a:moveTo>
                <a:lnTo>
                  <a:pt x="7534" y="100071"/>
                </a:lnTo>
                <a:lnTo>
                  <a:pt x="28517" y="59911"/>
                </a:lnTo>
                <a:lnTo>
                  <a:pt x="60514" y="28236"/>
                </a:lnTo>
                <a:lnTo>
                  <a:pt x="101096" y="7461"/>
                </a:lnTo>
                <a:lnTo>
                  <a:pt x="147827" y="0"/>
                </a:lnTo>
                <a:lnTo>
                  <a:pt x="194559" y="7461"/>
                </a:lnTo>
                <a:lnTo>
                  <a:pt x="235141" y="28236"/>
                </a:lnTo>
                <a:lnTo>
                  <a:pt x="267138" y="59911"/>
                </a:lnTo>
                <a:lnTo>
                  <a:pt x="288121" y="100071"/>
                </a:lnTo>
                <a:lnTo>
                  <a:pt x="295656" y="146303"/>
                </a:lnTo>
                <a:lnTo>
                  <a:pt x="288121" y="192536"/>
                </a:lnTo>
                <a:lnTo>
                  <a:pt x="267138" y="232696"/>
                </a:lnTo>
                <a:lnTo>
                  <a:pt x="235141" y="264371"/>
                </a:lnTo>
                <a:lnTo>
                  <a:pt x="194559" y="285146"/>
                </a:lnTo>
                <a:lnTo>
                  <a:pt x="147827" y="292607"/>
                </a:lnTo>
                <a:lnTo>
                  <a:pt x="101096" y="285146"/>
                </a:lnTo>
                <a:lnTo>
                  <a:pt x="60514" y="264371"/>
                </a:lnTo>
                <a:lnTo>
                  <a:pt x="28517" y="232696"/>
                </a:lnTo>
                <a:lnTo>
                  <a:pt x="7534" y="192536"/>
                </a:lnTo>
                <a:lnTo>
                  <a:pt x="0" y="146303"/>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graphicFrame>
        <p:nvGraphicFramePr>
          <p:cNvPr id="48" name="object 48"/>
          <p:cNvGraphicFramePr>
            <a:graphicFrameLocks noGrp="1"/>
          </p:cNvGraphicFramePr>
          <p:nvPr/>
        </p:nvGraphicFramePr>
        <p:xfrm>
          <a:off x="180084" y="2462214"/>
          <a:ext cx="4547235" cy="1839595"/>
        </p:xfrm>
        <a:graphic>
          <a:graphicData uri="http://schemas.openxmlformats.org/drawingml/2006/table">
            <a:tbl>
              <a:tblPr firstRow="1" bandRow="1">
                <a:tableStyleId>{2D5ABB26-0587-4C30-8999-92F81FD0307C}</a:tableStyleId>
              </a:tblPr>
              <a:tblGrid>
                <a:gridCol w="913130"/>
                <a:gridCol w="909320"/>
                <a:gridCol w="909320"/>
                <a:gridCol w="907415"/>
                <a:gridCol w="908050"/>
              </a:tblGrid>
              <a:tr h="1839595">
                <a:tc>
                  <a:txBody>
                    <a:bodyPr/>
                    <a:lstStyle/>
                    <a:p>
                      <a:pPr marL="1270" algn="ctr">
                        <a:lnSpc>
                          <a:spcPct val="100000"/>
                        </a:lnSpc>
                        <a:spcBef>
                          <a:spcPts val="885"/>
                        </a:spcBef>
                      </a:pPr>
                      <a:r>
                        <a:rPr sz="1400" dirty="0">
                          <a:solidFill>
                            <a:srgbClr val="FFFFFF"/>
                          </a:solidFill>
                          <a:latin typeface="微软雅黑" panose="020B0503020204020204" charset="-122"/>
                          <a:ea typeface="微软雅黑" panose="020B0503020204020204" charset="-122"/>
                          <a:cs typeface="微软雅黑" panose="020B0503020204020204" charset="-122"/>
                        </a:rPr>
                        <a:t>1</a:t>
                      </a:r>
                      <a:endParaRPr sz="1400">
                        <a:latin typeface="微软雅黑" panose="020B0503020204020204" charset="-122"/>
                        <a:ea typeface="微软雅黑" panose="020B0503020204020204" charset="-122"/>
                        <a:cs typeface="微软雅黑" panose="020B0503020204020204" charset="-122"/>
                      </a:endParaRPr>
                    </a:p>
                    <a:p>
                      <a:pPr marL="58420" marR="133985" algn="just">
                        <a:lnSpc>
                          <a:spcPct val="100000"/>
                        </a:lnSpc>
                        <a:spcBef>
                          <a:spcPts val="410"/>
                        </a:spcBef>
                      </a:pPr>
                      <a:r>
                        <a:rPr sz="1400" dirty="0">
                          <a:solidFill>
                            <a:srgbClr val="FFFFFF"/>
                          </a:solidFill>
                          <a:latin typeface="微软雅黑" panose="020B0503020204020204" charset="-122"/>
                          <a:ea typeface="微软雅黑" panose="020B0503020204020204" charset="-122"/>
                          <a:cs typeface="微软雅黑" panose="020B0503020204020204" charset="-122"/>
                        </a:rPr>
                        <a:t>客户分类 和优先排 </a:t>
                      </a:r>
                      <a:r>
                        <a:rPr sz="1400" spc="5" dirty="0">
                          <a:solidFill>
                            <a:srgbClr val="FFFFFF"/>
                          </a:solidFill>
                          <a:latin typeface="微软雅黑" panose="020B0503020204020204" charset="-122"/>
                          <a:ea typeface="微软雅黑" panose="020B0503020204020204" charset="-122"/>
                          <a:cs typeface="微软雅黑" panose="020B0503020204020204" charset="-122"/>
                        </a:rPr>
                        <a:t>序</a:t>
                      </a:r>
                      <a:endParaRPr sz="1400">
                        <a:latin typeface="微软雅黑" panose="020B0503020204020204" charset="-122"/>
                        <a:ea typeface="微软雅黑" panose="020B0503020204020204" charset="-122"/>
                        <a:cs typeface="微软雅黑" panose="020B0503020204020204" charset="-122"/>
                      </a:endParaRPr>
                    </a:p>
                  </a:txBody>
                  <a:tcPr marL="0" marR="0" marT="112315" marB="0">
                    <a:lnL w="6350">
                      <a:solidFill>
                        <a:srgbClr val="FFFFFF"/>
                      </a:solidFill>
                      <a:prstDash val="solid"/>
                    </a:lnL>
                    <a:lnR w="19050">
                      <a:solidFill>
                        <a:srgbClr val="FFFFFF"/>
                      </a:solidFill>
                      <a:prstDash val="solid"/>
                    </a:lnR>
                  </a:tcPr>
                </a:tc>
                <a:tc>
                  <a:txBody>
                    <a:bodyPr/>
                    <a:lstStyle/>
                    <a:p>
                      <a:pPr algn="ctr">
                        <a:lnSpc>
                          <a:spcPct val="100000"/>
                        </a:lnSpc>
                        <a:spcBef>
                          <a:spcPts val="885"/>
                        </a:spcBef>
                      </a:pPr>
                      <a:r>
                        <a:rPr sz="1400" dirty="0">
                          <a:solidFill>
                            <a:srgbClr val="FFFFFF"/>
                          </a:solidFill>
                          <a:latin typeface="微软雅黑" panose="020B0503020204020204" charset="-122"/>
                          <a:ea typeface="微软雅黑" panose="020B0503020204020204" charset="-122"/>
                          <a:cs typeface="微软雅黑" panose="020B0503020204020204" charset="-122"/>
                        </a:rPr>
                        <a:t>2</a:t>
                      </a:r>
                      <a:endParaRPr sz="1400">
                        <a:latin typeface="微软雅黑" panose="020B0503020204020204" charset="-122"/>
                        <a:ea typeface="微软雅黑" panose="020B0503020204020204" charset="-122"/>
                        <a:cs typeface="微软雅黑" panose="020B0503020204020204" charset="-122"/>
                      </a:endParaRPr>
                    </a:p>
                    <a:p>
                      <a:pPr marL="79375" marR="108585">
                        <a:lnSpc>
                          <a:spcPct val="101000"/>
                        </a:lnSpc>
                        <a:spcBef>
                          <a:spcPts val="405"/>
                        </a:spcBef>
                      </a:pPr>
                      <a:r>
                        <a:rPr sz="1400" dirty="0">
                          <a:solidFill>
                            <a:srgbClr val="FFFFFF"/>
                          </a:solidFill>
                          <a:latin typeface="微软雅黑" panose="020B0503020204020204" charset="-122"/>
                          <a:ea typeface="微软雅黑" panose="020B0503020204020204" charset="-122"/>
                          <a:cs typeface="微软雅黑" panose="020B0503020204020204" charset="-122"/>
                        </a:rPr>
                        <a:t>客户销售 模式</a:t>
                      </a:r>
                      <a:endParaRPr sz="1400">
                        <a:latin typeface="微软雅黑" panose="020B0503020204020204" charset="-122"/>
                        <a:ea typeface="微软雅黑" panose="020B0503020204020204" charset="-122"/>
                        <a:cs typeface="微软雅黑" panose="020B0503020204020204" charset="-122"/>
                      </a:endParaRPr>
                    </a:p>
                  </a:txBody>
                  <a:tcPr marL="0" marR="0" marT="112315" marB="0">
                    <a:lnL w="19050">
                      <a:solidFill>
                        <a:srgbClr val="FFFFFF"/>
                      </a:solidFill>
                      <a:prstDash val="solid"/>
                    </a:lnL>
                    <a:lnR w="28575">
                      <a:solidFill>
                        <a:srgbClr val="FFFFFF"/>
                      </a:solidFill>
                      <a:prstDash val="solid"/>
                    </a:lnR>
                    <a:lnT w="19050">
                      <a:solidFill>
                        <a:srgbClr val="FFFFFF"/>
                      </a:solidFill>
                      <a:prstDash val="solid"/>
                    </a:lnT>
                    <a:lnB w="19050">
                      <a:solidFill>
                        <a:srgbClr val="FFFFFF"/>
                      </a:solidFill>
                      <a:prstDash val="solid"/>
                    </a:lnB>
                  </a:tcPr>
                </a:tc>
                <a:tc>
                  <a:txBody>
                    <a:bodyPr/>
                    <a:lstStyle/>
                    <a:p>
                      <a:pPr algn="ctr">
                        <a:lnSpc>
                          <a:spcPct val="100000"/>
                        </a:lnSpc>
                        <a:spcBef>
                          <a:spcPts val="885"/>
                        </a:spcBef>
                      </a:pPr>
                      <a:r>
                        <a:rPr sz="1400" dirty="0">
                          <a:solidFill>
                            <a:srgbClr val="FFFFFF"/>
                          </a:solidFill>
                          <a:latin typeface="微软雅黑" panose="020B0503020204020204" charset="-122"/>
                          <a:ea typeface="微软雅黑" panose="020B0503020204020204" charset="-122"/>
                          <a:cs typeface="微软雅黑" panose="020B0503020204020204" charset="-122"/>
                        </a:rPr>
                        <a:t>3</a:t>
                      </a:r>
                      <a:endParaRPr sz="1400">
                        <a:latin typeface="微软雅黑" panose="020B0503020204020204" charset="-122"/>
                        <a:ea typeface="微软雅黑" panose="020B0503020204020204" charset="-122"/>
                        <a:cs typeface="微软雅黑" panose="020B0503020204020204" charset="-122"/>
                      </a:endParaRPr>
                    </a:p>
                    <a:p>
                      <a:pPr marL="79375" marR="109220">
                        <a:lnSpc>
                          <a:spcPct val="100000"/>
                        </a:lnSpc>
                        <a:spcBef>
                          <a:spcPts val="425"/>
                        </a:spcBef>
                      </a:pPr>
                      <a:r>
                        <a:rPr sz="1400" dirty="0">
                          <a:solidFill>
                            <a:srgbClr val="FFFFFF"/>
                          </a:solidFill>
                          <a:latin typeface="微软雅黑" panose="020B0503020204020204" charset="-122"/>
                          <a:ea typeface="微软雅黑" panose="020B0503020204020204" charset="-122"/>
                          <a:cs typeface="微软雅黑" panose="020B0503020204020204" charset="-122"/>
                        </a:rPr>
                        <a:t>客户需求 分析</a:t>
                      </a:r>
                      <a:endParaRPr sz="1400">
                        <a:latin typeface="微软雅黑" panose="020B0503020204020204" charset="-122"/>
                        <a:ea typeface="微软雅黑" panose="020B0503020204020204" charset="-122"/>
                        <a:cs typeface="微软雅黑" panose="020B0503020204020204" charset="-122"/>
                      </a:endParaRPr>
                    </a:p>
                  </a:txBody>
                  <a:tcPr marL="0" marR="0" marT="112315" marB="0">
                    <a:lnL w="28575">
                      <a:solidFill>
                        <a:srgbClr val="FFFFFF"/>
                      </a:solidFill>
                      <a:prstDash val="solid"/>
                    </a:lnL>
                    <a:lnR w="28575">
                      <a:solidFill>
                        <a:srgbClr val="FFFFFF"/>
                      </a:solidFill>
                      <a:prstDash val="solid"/>
                    </a:lnR>
                    <a:lnT w="19050">
                      <a:solidFill>
                        <a:srgbClr val="FFFFFF"/>
                      </a:solidFill>
                      <a:prstDash val="solid"/>
                    </a:lnT>
                    <a:lnB w="19050">
                      <a:solidFill>
                        <a:srgbClr val="FFFFFF"/>
                      </a:solidFill>
                      <a:prstDash val="solid"/>
                    </a:lnB>
                  </a:tcPr>
                </a:tc>
                <a:tc>
                  <a:txBody>
                    <a:bodyPr/>
                    <a:lstStyle/>
                    <a:p>
                      <a:pPr algn="ctr">
                        <a:lnSpc>
                          <a:spcPct val="100000"/>
                        </a:lnSpc>
                        <a:spcBef>
                          <a:spcPts val="885"/>
                        </a:spcBef>
                      </a:pPr>
                      <a:r>
                        <a:rPr sz="1400" dirty="0">
                          <a:solidFill>
                            <a:srgbClr val="FFFFFF"/>
                          </a:solidFill>
                          <a:latin typeface="微软雅黑" panose="020B0503020204020204" charset="-122"/>
                          <a:ea typeface="微软雅黑" panose="020B0503020204020204" charset="-122"/>
                          <a:cs typeface="微软雅黑" panose="020B0503020204020204" charset="-122"/>
                        </a:rPr>
                        <a:t>4</a:t>
                      </a:r>
                      <a:endParaRPr sz="1400">
                        <a:latin typeface="微软雅黑" panose="020B0503020204020204" charset="-122"/>
                        <a:ea typeface="微软雅黑" panose="020B0503020204020204" charset="-122"/>
                        <a:cs typeface="微软雅黑" panose="020B0503020204020204" charset="-122"/>
                      </a:endParaRPr>
                    </a:p>
                    <a:p>
                      <a:pPr marL="80645" marR="107315">
                        <a:lnSpc>
                          <a:spcPct val="101000"/>
                        </a:lnSpc>
                        <a:spcBef>
                          <a:spcPts val="405"/>
                        </a:spcBef>
                      </a:pPr>
                      <a:r>
                        <a:rPr sz="1400" dirty="0">
                          <a:solidFill>
                            <a:srgbClr val="FFFFFF"/>
                          </a:solidFill>
                          <a:latin typeface="微软雅黑" panose="020B0503020204020204" charset="-122"/>
                          <a:ea typeface="微软雅黑" panose="020B0503020204020204" charset="-122"/>
                          <a:cs typeface="微软雅黑" panose="020B0503020204020204" charset="-122"/>
                        </a:rPr>
                        <a:t>客户规划 和管理</a:t>
                      </a:r>
                      <a:endParaRPr sz="1400">
                        <a:latin typeface="微软雅黑" panose="020B0503020204020204" charset="-122"/>
                        <a:ea typeface="微软雅黑" panose="020B0503020204020204" charset="-122"/>
                        <a:cs typeface="微软雅黑" panose="020B0503020204020204" charset="-122"/>
                      </a:endParaRPr>
                    </a:p>
                  </a:txBody>
                  <a:tcPr marL="0" marR="0" marT="112315" marB="0">
                    <a:lnL w="28575">
                      <a:solidFill>
                        <a:srgbClr val="FFFFFF"/>
                      </a:solidFill>
                      <a:prstDash val="solid"/>
                    </a:lnL>
                    <a:lnR w="28575">
                      <a:solidFill>
                        <a:srgbClr val="FFFFFF"/>
                      </a:solidFill>
                      <a:prstDash val="solid"/>
                    </a:lnR>
                    <a:lnT w="19050">
                      <a:solidFill>
                        <a:srgbClr val="FFFFFF"/>
                      </a:solidFill>
                      <a:prstDash val="solid"/>
                    </a:lnT>
                    <a:lnB w="19050">
                      <a:solidFill>
                        <a:srgbClr val="FFFFFF"/>
                      </a:solidFill>
                      <a:prstDash val="solid"/>
                    </a:lnB>
                  </a:tcPr>
                </a:tc>
                <a:tc>
                  <a:txBody>
                    <a:bodyPr/>
                    <a:lstStyle/>
                    <a:p>
                      <a:pPr algn="ctr">
                        <a:lnSpc>
                          <a:spcPct val="100000"/>
                        </a:lnSpc>
                        <a:spcBef>
                          <a:spcPts val="885"/>
                        </a:spcBef>
                      </a:pPr>
                      <a:r>
                        <a:rPr sz="1400" dirty="0">
                          <a:solidFill>
                            <a:srgbClr val="FFFFFF"/>
                          </a:solidFill>
                          <a:latin typeface="微软雅黑" panose="020B0503020204020204" charset="-122"/>
                          <a:ea typeface="微软雅黑" panose="020B0503020204020204" charset="-122"/>
                          <a:cs typeface="微软雅黑" panose="020B0503020204020204" charset="-122"/>
                        </a:rPr>
                        <a:t>5</a:t>
                      </a:r>
                      <a:endParaRPr sz="1400">
                        <a:latin typeface="微软雅黑" panose="020B0503020204020204" charset="-122"/>
                        <a:ea typeface="微软雅黑" panose="020B0503020204020204" charset="-122"/>
                        <a:cs typeface="微软雅黑" panose="020B0503020204020204" charset="-122"/>
                      </a:endParaRPr>
                    </a:p>
                    <a:p>
                      <a:pPr marL="80645" marR="107315" algn="just">
                        <a:lnSpc>
                          <a:spcPct val="100000"/>
                        </a:lnSpc>
                        <a:spcBef>
                          <a:spcPts val="410"/>
                        </a:spcBef>
                      </a:pPr>
                      <a:r>
                        <a:rPr sz="1400" dirty="0">
                          <a:solidFill>
                            <a:srgbClr val="FFFFFF"/>
                          </a:solidFill>
                          <a:latin typeface="微软雅黑" panose="020B0503020204020204" charset="-122"/>
                          <a:ea typeface="微软雅黑" panose="020B0503020204020204" charset="-122"/>
                          <a:cs typeface="微软雅黑" panose="020B0503020204020204" charset="-122"/>
                        </a:rPr>
                        <a:t>量身定制 的产品或 服务</a:t>
                      </a:r>
                      <a:endParaRPr sz="1400">
                        <a:latin typeface="微软雅黑" panose="020B0503020204020204" charset="-122"/>
                        <a:ea typeface="微软雅黑" panose="020B0503020204020204" charset="-122"/>
                        <a:cs typeface="微软雅黑" panose="020B0503020204020204" charset="-122"/>
                      </a:endParaRPr>
                    </a:p>
                  </a:txBody>
                  <a:tcPr marL="0" marR="0" marT="112315" marB="0">
                    <a:lnL w="28575">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tcPr>
                </a:tc>
              </a:tr>
            </a:tbl>
          </a:graphicData>
        </a:graphic>
      </p:graphicFrame>
      <p:sp>
        <p:nvSpPr>
          <p:cNvPr id="49" name="object 49"/>
          <p:cNvSpPr/>
          <p:nvPr/>
        </p:nvSpPr>
        <p:spPr>
          <a:xfrm>
            <a:off x="5035536" y="2550924"/>
            <a:ext cx="295700" cy="292528"/>
          </a:xfrm>
          <a:custGeom>
            <a:avLst/>
            <a:gdLst/>
            <a:ahLst/>
            <a:cxnLst/>
            <a:rect l="l" t="t" r="r" b="b"/>
            <a:pathLst>
              <a:path w="295910" h="292735">
                <a:moveTo>
                  <a:pt x="147828" y="0"/>
                </a:moveTo>
                <a:lnTo>
                  <a:pt x="101096" y="7461"/>
                </a:lnTo>
                <a:lnTo>
                  <a:pt x="60514" y="28236"/>
                </a:lnTo>
                <a:lnTo>
                  <a:pt x="28517" y="59911"/>
                </a:lnTo>
                <a:lnTo>
                  <a:pt x="7534" y="100071"/>
                </a:lnTo>
                <a:lnTo>
                  <a:pt x="0" y="146303"/>
                </a:lnTo>
                <a:lnTo>
                  <a:pt x="7534" y="192536"/>
                </a:lnTo>
                <a:lnTo>
                  <a:pt x="28517" y="232696"/>
                </a:lnTo>
                <a:lnTo>
                  <a:pt x="60514" y="264371"/>
                </a:lnTo>
                <a:lnTo>
                  <a:pt x="101096" y="285146"/>
                </a:lnTo>
                <a:lnTo>
                  <a:pt x="147828" y="292607"/>
                </a:lnTo>
                <a:lnTo>
                  <a:pt x="194559" y="285146"/>
                </a:lnTo>
                <a:lnTo>
                  <a:pt x="235141" y="264371"/>
                </a:lnTo>
                <a:lnTo>
                  <a:pt x="267138" y="232696"/>
                </a:lnTo>
                <a:lnTo>
                  <a:pt x="288121" y="192536"/>
                </a:lnTo>
                <a:lnTo>
                  <a:pt x="295656" y="146303"/>
                </a:lnTo>
                <a:lnTo>
                  <a:pt x="288121" y="100071"/>
                </a:lnTo>
                <a:lnTo>
                  <a:pt x="267138" y="59911"/>
                </a:lnTo>
                <a:lnTo>
                  <a:pt x="235141" y="28236"/>
                </a:lnTo>
                <a:lnTo>
                  <a:pt x="194559" y="7461"/>
                </a:lnTo>
                <a:lnTo>
                  <a:pt x="147828"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0" name="object 50"/>
          <p:cNvSpPr/>
          <p:nvPr/>
        </p:nvSpPr>
        <p:spPr>
          <a:xfrm>
            <a:off x="5035536" y="2550924"/>
            <a:ext cx="295700" cy="292528"/>
          </a:xfrm>
          <a:custGeom>
            <a:avLst/>
            <a:gdLst/>
            <a:ahLst/>
            <a:cxnLst/>
            <a:rect l="l" t="t" r="r" b="b"/>
            <a:pathLst>
              <a:path w="295910" h="292735">
                <a:moveTo>
                  <a:pt x="0" y="146303"/>
                </a:moveTo>
                <a:lnTo>
                  <a:pt x="7534" y="100071"/>
                </a:lnTo>
                <a:lnTo>
                  <a:pt x="28517" y="59911"/>
                </a:lnTo>
                <a:lnTo>
                  <a:pt x="60514" y="28236"/>
                </a:lnTo>
                <a:lnTo>
                  <a:pt x="101096" y="7461"/>
                </a:lnTo>
                <a:lnTo>
                  <a:pt x="147828" y="0"/>
                </a:lnTo>
                <a:lnTo>
                  <a:pt x="194559" y="7461"/>
                </a:lnTo>
                <a:lnTo>
                  <a:pt x="235141" y="28236"/>
                </a:lnTo>
                <a:lnTo>
                  <a:pt x="267138" y="59911"/>
                </a:lnTo>
                <a:lnTo>
                  <a:pt x="288121" y="100071"/>
                </a:lnTo>
                <a:lnTo>
                  <a:pt x="295656" y="146303"/>
                </a:lnTo>
                <a:lnTo>
                  <a:pt x="288121" y="192536"/>
                </a:lnTo>
                <a:lnTo>
                  <a:pt x="267138" y="232696"/>
                </a:lnTo>
                <a:lnTo>
                  <a:pt x="235141" y="264371"/>
                </a:lnTo>
                <a:lnTo>
                  <a:pt x="194559" y="285146"/>
                </a:lnTo>
                <a:lnTo>
                  <a:pt x="147828" y="292607"/>
                </a:lnTo>
                <a:lnTo>
                  <a:pt x="101096" y="285146"/>
                </a:lnTo>
                <a:lnTo>
                  <a:pt x="60514" y="264371"/>
                </a:lnTo>
                <a:lnTo>
                  <a:pt x="28517" y="232696"/>
                </a:lnTo>
                <a:lnTo>
                  <a:pt x="7534" y="192536"/>
                </a:lnTo>
                <a:lnTo>
                  <a:pt x="0" y="146303"/>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1" name="object 51"/>
          <p:cNvSpPr txBox="1"/>
          <p:nvPr/>
        </p:nvSpPr>
        <p:spPr>
          <a:xfrm>
            <a:off x="4799738" y="2517902"/>
            <a:ext cx="560308" cy="766445"/>
          </a:xfrm>
          <a:prstGeom prst="rect">
            <a:avLst/>
          </a:prstGeom>
        </p:spPr>
        <p:txBody>
          <a:bodyPr vert="horz" wrap="square" lIns="0" tIns="66627" rIns="0" bIns="0" rtlCol="0">
            <a:spAutoFit/>
          </a:bodyPr>
          <a:lstStyle/>
          <a:p>
            <a:pPr marL="334645">
              <a:lnSpc>
                <a:spcPct val="100000"/>
              </a:lnSpc>
              <a:spcBef>
                <a:spcPts val="525"/>
              </a:spcBef>
            </a:pPr>
            <a:r>
              <a:rPr sz="1400" dirty="0">
                <a:solidFill>
                  <a:srgbClr val="FFFFFF"/>
                </a:solidFill>
                <a:latin typeface="微软雅黑" panose="020B0503020204020204" charset="-122"/>
                <a:ea typeface="微软雅黑" panose="020B0503020204020204" charset="-122"/>
                <a:cs typeface="微软雅黑" panose="020B0503020204020204" charset="-122"/>
              </a:rPr>
              <a:t>6</a:t>
            </a:r>
            <a:endParaRPr sz="1400">
              <a:latin typeface="微软雅黑" panose="020B0503020204020204" charset="-122"/>
              <a:ea typeface="微软雅黑" panose="020B0503020204020204" charset="-122"/>
              <a:cs typeface="微软雅黑" panose="020B0503020204020204" charset="-122"/>
            </a:endParaRPr>
          </a:p>
          <a:p>
            <a:pPr marL="12700" marR="5080">
              <a:lnSpc>
                <a:spcPct val="100000"/>
              </a:lnSpc>
              <a:spcBef>
                <a:spcPts val="425"/>
              </a:spcBef>
            </a:pPr>
            <a:r>
              <a:rPr sz="1400" dirty="0">
                <a:latin typeface="微软雅黑" panose="020B0503020204020204" charset="-122"/>
                <a:ea typeface="微软雅黑" panose="020B0503020204020204" charset="-122"/>
                <a:cs typeface="微软雅黑" panose="020B0503020204020204" charset="-122"/>
              </a:rPr>
              <a:t>谈判 和成交</a:t>
            </a:r>
            <a:endParaRPr sz="1400">
              <a:latin typeface="微软雅黑" panose="020B0503020204020204" charset="-122"/>
              <a:ea typeface="微软雅黑" panose="020B0503020204020204" charset="-122"/>
              <a:cs typeface="微软雅黑" panose="020B0503020204020204" charset="-122"/>
            </a:endParaRPr>
          </a:p>
        </p:txBody>
      </p:sp>
      <p:sp>
        <p:nvSpPr>
          <p:cNvPr id="52" name="object 52"/>
          <p:cNvSpPr/>
          <p:nvPr/>
        </p:nvSpPr>
        <p:spPr>
          <a:xfrm>
            <a:off x="5944721" y="2550924"/>
            <a:ext cx="295700" cy="292528"/>
          </a:xfrm>
          <a:custGeom>
            <a:avLst/>
            <a:gdLst/>
            <a:ahLst/>
            <a:cxnLst/>
            <a:rect l="l" t="t" r="r" b="b"/>
            <a:pathLst>
              <a:path w="295910" h="292735">
                <a:moveTo>
                  <a:pt x="147827" y="0"/>
                </a:moveTo>
                <a:lnTo>
                  <a:pt x="101096" y="7461"/>
                </a:lnTo>
                <a:lnTo>
                  <a:pt x="60514" y="28236"/>
                </a:lnTo>
                <a:lnTo>
                  <a:pt x="28517" y="59911"/>
                </a:lnTo>
                <a:lnTo>
                  <a:pt x="7534" y="100071"/>
                </a:lnTo>
                <a:lnTo>
                  <a:pt x="0" y="146303"/>
                </a:lnTo>
                <a:lnTo>
                  <a:pt x="7534" y="192536"/>
                </a:lnTo>
                <a:lnTo>
                  <a:pt x="28517" y="232696"/>
                </a:lnTo>
                <a:lnTo>
                  <a:pt x="60514" y="264371"/>
                </a:lnTo>
                <a:lnTo>
                  <a:pt x="101096" y="285146"/>
                </a:lnTo>
                <a:lnTo>
                  <a:pt x="147827" y="292607"/>
                </a:lnTo>
                <a:lnTo>
                  <a:pt x="194559" y="285146"/>
                </a:lnTo>
                <a:lnTo>
                  <a:pt x="235141" y="264371"/>
                </a:lnTo>
                <a:lnTo>
                  <a:pt x="267138" y="232696"/>
                </a:lnTo>
                <a:lnTo>
                  <a:pt x="288121" y="192536"/>
                </a:lnTo>
                <a:lnTo>
                  <a:pt x="295655" y="146303"/>
                </a:lnTo>
                <a:lnTo>
                  <a:pt x="288121" y="100071"/>
                </a:lnTo>
                <a:lnTo>
                  <a:pt x="267138" y="59911"/>
                </a:lnTo>
                <a:lnTo>
                  <a:pt x="235141" y="28236"/>
                </a:lnTo>
                <a:lnTo>
                  <a:pt x="194559" y="7461"/>
                </a:lnTo>
                <a:lnTo>
                  <a:pt x="147827"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3" name="object 53"/>
          <p:cNvSpPr/>
          <p:nvPr/>
        </p:nvSpPr>
        <p:spPr>
          <a:xfrm>
            <a:off x="5944721" y="2550924"/>
            <a:ext cx="295700" cy="292528"/>
          </a:xfrm>
          <a:custGeom>
            <a:avLst/>
            <a:gdLst/>
            <a:ahLst/>
            <a:cxnLst/>
            <a:rect l="l" t="t" r="r" b="b"/>
            <a:pathLst>
              <a:path w="295910" h="292735">
                <a:moveTo>
                  <a:pt x="0" y="146303"/>
                </a:moveTo>
                <a:lnTo>
                  <a:pt x="7534" y="100071"/>
                </a:lnTo>
                <a:lnTo>
                  <a:pt x="28517" y="59911"/>
                </a:lnTo>
                <a:lnTo>
                  <a:pt x="60514" y="28236"/>
                </a:lnTo>
                <a:lnTo>
                  <a:pt x="101096" y="7461"/>
                </a:lnTo>
                <a:lnTo>
                  <a:pt x="147827" y="0"/>
                </a:lnTo>
                <a:lnTo>
                  <a:pt x="194559" y="7461"/>
                </a:lnTo>
                <a:lnTo>
                  <a:pt x="235141" y="28236"/>
                </a:lnTo>
                <a:lnTo>
                  <a:pt x="267138" y="59911"/>
                </a:lnTo>
                <a:lnTo>
                  <a:pt x="288121" y="100071"/>
                </a:lnTo>
                <a:lnTo>
                  <a:pt x="295655" y="146303"/>
                </a:lnTo>
                <a:lnTo>
                  <a:pt x="288121" y="192536"/>
                </a:lnTo>
                <a:lnTo>
                  <a:pt x="267138" y="232696"/>
                </a:lnTo>
                <a:lnTo>
                  <a:pt x="235141" y="264371"/>
                </a:lnTo>
                <a:lnTo>
                  <a:pt x="194559" y="285146"/>
                </a:lnTo>
                <a:lnTo>
                  <a:pt x="147827" y="292607"/>
                </a:lnTo>
                <a:lnTo>
                  <a:pt x="101096" y="285146"/>
                </a:lnTo>
                <a:lnTo>
                  <a:pt x="60514" y="264371"/>
                </a:lnTo>
                <a:lnTo>
                  <a:pt x="28517" y="232696"/>
                </a:lnTo>
                <a:lnTo>
                  <a:pt x="7534" y="192536"/>
                </a:lnTo>
                <a:lnTo>
                  <a:pt x="0" y="146303"/>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4" name="object 54"/>
          <p:cNvSpPr txBox="1"/>
          <p:nvPr/>
        </p:nvSpPr>
        <p:spPr>
          <a:xfrm>
            <a:off x="5640137" y="2471733"/>
            <a:ext cx="909311" cy="596900"/>
          </a:xfrm>
          <a:prstGeom prst="rect">
            <a:avLst/>
          </a:prstGeom>
          <a:ln w="19050">
            <a:solidFill>
              <a:srgbClr val="FFFFFF"/>
            </a:solidFill>
          </a:ln>
        </p:spPr>
        <p:txBody>
          <a:bodyPr vert="horz" wrap="square" lIns="0" tIns="112315" rIns="0" bIns="0" rtlCol="0">
            <a:spAutoFit/>
          </a:bodyPr>
          <a:lstStyle/>
          <a:p>
            <a:pPr algn="ctr">
              <a:lnSpc>
                <a:spcPct val="100000"/>
              </a:lnSpc>
              <a:spcBef>
                <a:spcPts val="885"/>
              </a:spcBef>
            </a:pPr>
            <a:r>
              <a:rPr sz="1400" dirty="0">
                <a:solidFill>
                  <a:srgbClr val="FFFFFF"/>
                </a:solidFill>
                <a:latin typeface="微软雅黑" panose="020B0503020204020204" charset="-122"/>
                <a:ea typeface="微软雅黑" panose="020B0503020204020204" charset="-122"/>
                <a:cs typeface="微软雅黑" panose="020B0503020204020204" charset="-122"/>
              </a:rPr>
              <a:t>7</a:t>
            </a:r>
            <a:endParaRPr sz="1400">
              <a:latin typeface="微软雅黑" panose="020B0503020204020204" charset="-122"/>
              <a:ea typeface="微软雅黑" panose="020B0503020204020204" charset="-122"/>
              <a:cs typeface="微软雅黑" panose="020B0503020204020204" charset="-122"/>
            </a:endParaRPr>
          </a:p>
          <a:p>
            <a:pPr marR="24765" algn="ctr">
              <a:lnSpc>
                <a:spcPct val="100000"/>
              </a:lnSpc>
              <a:spcBef>
                <a:spcPts val="425"/>
              </a:spcBef>
            </a:pPr>
            <a:r>
              <a:rPr sz="1400" dirty="0">
                <a:solidFill>
                  <a:srgbClr val="FFFFFF"/>
                </a:solidFill>
                <a:latin typeface="微软雅黑" panose="020B0503020204020204" charset="-122"/>
                <a:ea typeface="微软雅黑" panose="020B0503020204020204" charset="-122"/>
                <a:cs typeface="微软雅黑" panose="020B0503020204020204" charset="-122"/>
              </a:rPr>
              <a:t>渠道组合</a:t>
            </a:r>
            <a:endParaRPr sz="1400">
              <a:latin typeface="微软雅黑" panose="020B0503020204020204" charset="-122"/>
              <a:ea typeface="微软雅黑" panose="020B0503020204020204" charset="-122"/>
              <a:cs typeface="微软雅黑" panose="020B0503020204020204" charset="-122"/>
            </a:endParaRPr>
          </a:p>
        </p:txBody>
      </p:sp>
      <p:sp>
        <p:nvSpPr>
          <p:cNvPr id="55" name="object 55"/>
          <p:cNvSpPr/>
          <p:nvPr/>
        </p:nvSpPr>
        <p:spPr>
          <a:xfrm>
            <a:off x="6853904" y="2550924"/>
            <a:ext cx="295700" cy="292528"/>
          </a:xfrm>
          <a:custGeom>
            <a:avLst/>
            <a:gdLst/>
            <a:ahLst/>
            <a:cxnLst/>
            <a:rect l="l" t="t" r="r" b="b"/>
            <a:pathLst>
              <a:path w="295909" h="292735">
                <a:moveTo>
                  <a:pt x="147828" y="0"/>
                </a:moveTo>
                <a:lnTo>
                  <a:pt x="101096" y="7461"/>
                </a:lnTo>
                <a:lnTo>
                  <a:pt x="60514" y="28236"/>
                </a:lnTo>
                <a:lnTo>
                  <a:pt x="28517" y="59911"/>
                </a:lnTo>
                <a:lnTo>
                  <a:pt x="7534" y="100071"/>
                </a:lnTo>
                <a:lnTo>
                  <a:pt x="0" y="146303"/>
                </a:lnTo>
                <a:lnTo>
                  <a:pt x="7534" y="192536"/>
                </a:lnTo>
                <a:lnTo>
                  <a:pt x="28517" y="232696"/>
                </a:lnTo>
                <a:lnTo>
                  <a:pt x="60514" y="264371"/>
                </a:lnTo>
                <a:lnTo>
                  <a:pt x="101096" y="285146"/>
                </a:lnTo>
                <a:lnTo>
                  <a:pt x="147828" y="292607"/>
                </a:lnTo>
                <a:lnTo>
                  <a:pt x="194559" y="285146"/>
                </a:lnTo>
                <a:lnTo>
                  <a:pt x="235141" y="264371"/>
                </a:lnTo>
                <a:lnTo>
                  <a:pt x="267138" y="232696"/>
                </a:lnTo>
                <a:lnTo>
                  <a:pt x="288121" y="192536"/>
                </a:lnTo>
                <a:lnTo>
                  <a:pt x="295656" y="146303"/>
                </a:lnTo>
                <a:lnTo>
                  <a:pt x="288121" y="100071"/>
                </a:lnTo>
                <a:lnTo>
                  <a:pt x="267138" y="59911"/>
                </a:lnTo>
                <a:lnTo>
                  <a:pt x="235141" y="28236"/>
                </a:lnTo>
                <a:lnTo>
                  <a:pt x="194559" y="7461"/>
                </a:lnTo>
                <a:lnTo>
                  <a:pt x="147828"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6" name="object 56"/>
          <p:cNvSpPr/>
          <p:nvPr/>
        </p:nvSpPr>
        <p:spPr>
          <a:xfrm>
            <a:off x="6853904" y="2550924"/>
            <a:ext cx="295700" cy="292528"/>
          </a:xfrm>
          <a:custGeom>
            <a:avLst/>
            <a:gdLst/>
            <a:ahLst/>
            <a:cxnLst/>
            <a:rect l="l" t="t" r="r" b="b"/>
            <a:pathLst>
              <a:path w="295909" h="292735">
                <a:moveTo>
                  <a:pt x="0" y="146303"/>
                </a:moveTo>
                <a:lnTo>
                  <a:pt x="7534" y="100071"/>
                </a:lnTo>
                <a:lnTo>
                  <a:pt x="28517" y="59911"/>
                </a:lnTo>
                <a:lnTo>
                  <a:pt x="60514" y="28236"/>
                </a:lnTo>
                <a:lnTo>
                  <a:pt x="101096" y="7461"/>
                </a:lnTo>
                <a:lnTo>
                  <a:pt x="147828" y="0"/>
                </a:lnTo>
                <a:lnTo>
                  <a:pt x="194559" y="7461"/>
                </a:lnTo>
                <a:lnTo>
                  <a:pt x="235141" y="28236"/>
                </a:lnTo>
                <a:lnTo>
                  <a:pt x="267138" y="59911"/>
                </a:lnTo>
                <a:lnTo>
                  <a:pt x="288121" y="100071"/>
                </a:lnTo>
                <a:lnTo>
                  <a:pt x="295656" y="146303"/>
                </a:lnTo>
                <a:lnTo>
                  <a:pt x="288121" y="192536"/>
                </a:lnTo>
                <a:lnTo>
                  <a:pt x="267138" y="232696"/>
                </a:lnTo>
                <a:lnTo>
                  <a:pt x="235141" y="264371"/>
                </a:lnTo>
                <a:lnTo>
                  <a:pt x="194559" y="285146"/>
                </a:lnTo>
                <a:lnTo>
                  <a:pt x="147828" y="292607"/>
                </a:lnTo>
                <a:lnTo>
                  <a:pt x="101096" y="285146"/>
                </a:lnTo>
                <a:lnTo>
                  <a:pt x="60514" y="264371"/>
                </a:lnTo>
                <a:lnTo>
                  <a:pt x="28517" y="232696"/>
                </a:lnTo>
                <a:lnTo>
                  <a:pt x="7534" y="192536"/>
                </a:lnTo>
                <a:lnTo>
                  <a:pt x="0" y="146303"/>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7" name="object 57"/>
          <p:cNvSpPr/>
          <p:nvPr/>
        </p:nvSpPr>
        <p:spPr>
          <a:xfrm>
            <a:off x="7790500" y="2550924"/>
            <a:ext cx="294431" cy="292528"/>
          </a:xfrm>
          <a:custGeom>
            <a:avLst/>
            <a:gdLst/>
            <a:ahLst/>
            <a:cxnLst/>
            <a:rect l="l" t="t" r="r" b="b"/>
            <a:pathLst>
              <a:path w="294640" h="292735">
                <a:moveTo>
                  <a:pt x="147066" y="0"/>
                </a:moveTo>
                <a:lnTo>
                  <a:pt x="100559" y="7461"/>
                </a:lnTo>
                <a:lnTo>
                  <a:pt x="60185" y="28236"/>
                </a:lnTo>
                <a:lnTo>
                  <a:pt x="28358" y="59911"/>
                </a:lnTo>
                <a:lnTo>
                  <a:pt x="7491" y="100071"/>
                </a:lnTo>
                <a:lnTo>
                  <a:pt x="0" y="146303"/>
                </a:lnTo>
                <a:lnTo>
                  <a:pt x="7491" y="192536"/>
                </a:lnTo>
                <a:lnTo>
                  <a:pt x="28358" y="232696"/>
                </a:lnTo>
                <a:lnTo>
                  <a:pt x="60185" y="264371"/>
                </a:lnTo>
                <a:lnTo>
                  <a:pt x="100559" y="285146"/>
                </a:lnTo>
                <a:lnTo>
                  <a:pt x="147066" y="292607"/>
                </a:lnTo>
                <a:lnTo>
                  <a:pt x="193572" y="285146"/>
                </a:lnTo>
                <a:lnTo>
                  <a:pt x="233946" y="264371"/>
                </a:lnTo>
                <a:lnTo>
                  <a:pt x="265773" y="232696"/>
                </a:lnTo>
                <a:lnTo>
                  <a:pt x="286640" y="192536"/>
                </a:lnTo>
                <a:lnTo>
                  <a:pt x="294131" y="146303"/>
                </a:lnTo>
                <a:lnTo>
                  <a:pt x="286640" y="100071"/>
                </a:lnTo>
                <a:lnTo>
                  <a:pt x="265773" y="59911"/>
                </a:lnTo>
                <a:lnTo>
                  <a:pt x="233946" y="28236"/>
                </a:lnTo>
                <a:lnTo>
                  <a:pt x="193572" y="7461"/>
                </a:lnTo>
                <a:lnTo>
                  <a:pt x="147066"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8" name="object 58"/>
          <p:cNvSpPr/>
          <p:nvPr/>
        </p:nvSpPr>
        <p:spPr>
          <a:xfrm>
            <a:off x="7790500" y="2550924"/>
            <a:ext cx="294431" cy="292528"/>
          </a:xfrm>
          <a:custGeom>
            <a:avLst/>
            <a:gdLst/>
            <a:ahLst/>
            <a:cxnLst/>
            <a:rect l="l" t="t" r="r" b="b"/>
            <a:pathLst>
              <a:path w="294640" h="292735">
                <a:moveTo>
                  <a:pt x="0" y="146303"/>
                </a:moveTo>
                <a:lnTo>
                  <a:pt x="7491" y="100071"/>
                </a:lnTo>
                <a:lnTo>
                  <a:pt x="28358" y="59911"/>
                </a:lnTo>
                <a:lnTo>
                  <a:pt x="60185" y="28236"/>
                </a:lnTo>
                <a:lnTo>
                  <a:pt x="100559" y="7461"/>
                </a:lnTo>
                <a:lnTo>
                  <a:pt x="147066" y="0"/>
                </a:lnTo>
                <a:lnTo>
                  <a:pt x="193572" y="7461"/>
                </a:lnTo>
                <a:lnTo>
                  <a:pt x="233946" y="28236"/>
                </a:lnTo>
                <a:lnTo>
                  <a:pt x="265773" y="59911"/>
                </a:lnTo>
                <a:lnTo>
                  <a:pt x="286640" y="100071"/>
                </a:lnTo>
                <a:lnTo>
                  <a:pt x="294131" y="146303"/>
                </a:lnTo>
                <a:lnTo>
                  <a:pt x="286640" y="192536"/>
                </a:lnTo>
                <a:lnTo>
                  <a:pt x="265773" y="232696"/>
                </a:lnTo>
                <a:lnTo>
                  <a:pt x="233946" y="264371"/>
                </a:lnTo>
                <a:lnTo>
                  <a:pt x="193572" y="285146"/>
                </a:lnTo>
                <a:lnTo>
                  <a:pt x="147066" y="292607"/>
                </a:lnTo>
                <a:lnTo>
                  <a:pt x="100559" y="285146"/>
                </a:lnTo>
                <a:lnTo>
                  <a:pt x="60185" y="264371"/>
                </a:lnTo>
                <a:lnTo>
                  <a:pt x="28358" y="232696"/>
                </a:lnTo>
                <a:lnTo>
                  <a:pt x="7491" y="192536"/>
                </a:lnTo>
                <a:lnTo>
                  <a:pt x="0" y="146303"/>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9" name="object 59"/>
          <p:cNvSpPr txBox="1"/>
          <p:nvPr/>
        </p:nvSpPr>
        <p:spPr>
          <a:xfrm>
            <a:off x="6558838" y="2517902"/>
            <a:ext cx="1873827" cy="766445"/>
          </a:xfrm>
          <a:prstGeom prst="rect">
            <a:avLst/>
          </a:prstGeom>
        </p:spPr>
        <p:txBody>
          <a:bodyPr vert="horz" wrap="square" lIns="0" tIns="66627" rIns="0" bIns="0" rtlCol="0">
            <a:spAutoFit/>
          </a:bodyPr>
          <a:lstStyle/>
          <a:p>
            <a:pPr marL="393700">
              <a:lnSpc>
                <a:spcPct val="100000"/>
              </a:lnSpc>
              <a:spcBef>
                <a:spcPts val="525"/>
              </a:spcBef>
              <a:tabLst>
                <a:tab pos="1330325" algn="l"/>
              </a:tabLst>
            </a:pPr>
            <a:r>
              <a:rPr sz="1400" dirty="0">
                <a:solidFill>
                  <a:srgbClr val="FFFFFF"/>
                </a:solidFill>
                <a:latin typeface="微软雅黑" panose="020B0503020204020204" charset="-122"/>
                <a:ea typeface="微软雅黑" panose="020B0503020204020204" charset="-122"/>
                <a:cs typeface="微软雅黑" panose="020B0503020204020204" charset="-122"/>
              </a:rPr>
              <a:t>8	9</a:t>
            </a:r>
            <a:endParaRPr sz="1400">
              <a:latin typeface="微软雅黑" panose="020B0503020204020204" charset="-122"/>
              <a:ea typeface="微软雅黑" panose="020B0503020204020204" charset="-122"/>
              <a:cs typeface="微软雅黑" panose="020B0503020204020204" charset="-122"/>
            </a:endParaRPr>
          </a:p>
          <a:p>
            <a:pPr marL="71755" marR="5080">
              <a:lnSpc>
                <a:spcPct val="100000"/>
              </a:lnSpc>
              <a:spcBef>
                <a:spcPts val="425"/>
              </a:spcBef>
              <a:tabLst>
                <a:tab pos="970280" algn="l"/>
              </a:tabLst>
            </a:pPr>
            <a:r>
              <a:rPr sz="1400" dirty="0">
                <a:solidFill>
                  <a:srgbClr val="FFFFFF"/>
                </a:solidFill>
                <a:latin typeface="微软雅黑" panose="020B0503020204020204" charset="-122"/>
                <a:ea typeface="微软雅黑" panose="020B0503020204020204" charset="-122"/>
                <a:cs typeface="微软雅黑" panose="020B0503020204020204" charset="-122"/>
              </a:rPr>
              <a:t>渠道销售	</a:t>
            </a:r>
            <a:r>
              <a:rPr sz="1400" dirty="0">
                <a:latin typeface="微软雅黑" panose="020B0503020204020204" charset="-122"/>
                <a:ea typeface="微软雅黑" panose="020B0503020204020204" charset="-122"/>
                <a:cs typeface="微软雅黑" panose="020B0503020204020204" charset="-122"/>
              </a:rPr>
              <a:t>跨市场协调 </a:t>
            </a:r>
            <a:r>
              <a:rPr sz="1400" dirty="0">
                <a:solidFill>
                  <a:srgbClr val="FFFFFF"/>
                </a:solidFill>
                <a:latin typeface="微软雅黑" panose="020B0503020204020204" charset="-122"/>
                <a:ea typeface="微软雅黑" panose="020B0503020204020204" charset="-122"/>
                <a:cs typeface="微软雅黑" panose="020B0503020204020204" charset="-122"/>
              </a:rPr>
              <a:t>管理</a:t>
            </a:r>
            <a:endParaRPr sz="1400">
              <a:latin typeface="微软雅黑" panose="020B0503020204020204" charset="-122"/>
              <a:ea typeface="微软雅黑" panose="020B0503020204020204" charset="-122"/>
              <a:cs typeface="微软雅黑" panose="020B0503020204020204" charset="-122"/>
            </a:endParaRPr>
          </a:p>
        </p:txBody>
      </p:sp>
      <p:sp>
        <p:nvSpPr>
          <p:cNvPr id="60" name="object 60"/>
          <p:cNvSpPr/>
          <p:nvPr/>
        </p:nvSpPr>
        <p:spPr>
          <a:xfrm>
            <a:off x="252043" y="4421071"/>
            <a:ext cx="294431" cy="292528"/>
          </a:xfrm>
          <a:custGeom>
            <a:avLst/>
            <a:gdLst/>
            <a:ahLst/>
            <a:cxnLst/>
            <a:rect l="l" t="t" r="r" b="b"/>
            <a:pathLst>
              <a:path w="294640" h="292735">
                <a:moveTo>
                  <a:pt x="147066" y="0"/>
                </a:moveTo>
                <a:lnTo>
                  <a:pt x="100584" y="7461"/>
                </a:lnTo>
                <a:lnTo>
                  <a:pt x="60213" y="28236"/>
                </a:lnTo>
                <a:lnTo>
                  <a:pt x="28376" y="59911"/>
                </a:lnTo>
                <a:lnTo>
                  <a:pt x="7498" y="100071"/>
                </a:lnTo>
                <a:lnTo>
                  <a:pt x="0" y="146303"/>
                </a:lnTo>
                <a:lnTo>
                  <a:pt x="7498" y="192536"/>
                </a:lnTo>
                <a:lnTo>
                  <a:pt x="28376" y="232696"/>
                </a:lnTo>
                <a:lnTo>
                  <a:pt x="60213" y="264371"/>
                </a:lnTo>
                <a:lnTo>
                  <a:pt x="100584" y="285146"/>
                </a:lnTo>
                <a:lnTo>
                  <a:pt x="147066" y="292607"/>
                </a:lnTo>
                <a:lnTo>
                  <a:pt x="193548" y="285146"/>
                </a:lnTo>
                <a:lnTo>
                  <a:pt x="233918" y="264371"/>
                </a:lnTo>
                <a:lnTo>
                  <a:pt x="265755" y="232696"/>
                </a:lnTo>
                <a:lnTo>
                  <a:pt x="286633" y="192536"/>
                </a:lnTo>
                <a:lnTo>
                  <a:pt x="294132" y="146303"/>
                </a:lnTo>
                <a:lnTo>
                  <a:pt x="286633" y="100071"/>
                </a:lnTo>
                <a:lnTo>
                  <a:pt x="265755" y="59911"/>
                </a:lnTo>
                <a:lnTo>
                  <a:pt x="233918" y="28236"/>
                </a:lnTo>
                <a:lnTo>
                  <a:pt x="193548" y="7461"/>
                </a:lnTo>
                <a:lnTo>
                  <a:pt x="147066"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1" name="object 61"/>
          <p:cNvSpPr/>
          <p:nvPr/>
        </p:nvSpPr>
        <p:spPr>
          <a:xfrm>
            <a:off x="252043" y="4421071"/>
            <a:ext cx="294431" cy="292528"/>
          </a:xfrm>
          <a:custGeom>
            <a:avLst/>
            <a:gdLst/>
            <a:ahLst/>
            <a:cxnLst/>
            <a:rect l="l" t="t" r="r" b="b"/>
            <a:pathLst>
              <a:path w="294640" h="292735">
                <a:moveTo>
                  <a:pt x="0" y="146303"/>
                </a:moveTo>
                <a:lnTo>
                  <a:pt x="7498" y="100071"/>
                </a:lnTo>
                <a:lnTo>
                  <a:pt x="28376" y="59911"/>
                </a:lnTo>
                <a:lnTo>
                  <a:pt x="60213" y="28236"/>
                </a:lnTo>
                <a:lnTo>
                  <a:pt x="100584" y="7461"/>
                </a:lnTo>
                <a:lnTo>
                  <a:pt x="147066" y="0"/>
                </a:lnTo>
                <a:lnTo>
                  <a:pt x="193548" y="7461"/>
                </a:lnTo>
                <a:lnTo>
                  <a:pt x="233918" y="28236"/>
                </a:lnTo>
                <a:lnTo>
                  <a:pt x="265755" y="59911"/>
                </a:lnTo>
                <a:lnTo>
                  <a:pt x="286633" y="100071"/>
                </a:lnTo>
                <a:lnTo>
                  <a:pt x="294132" y="146303"/>
                </a:lnTo>
                <a:lnTo>
                  <a:pt x="286633" y="192536"/>
                </a:lnTo>
                <a:lnTo>
                  <a:pt x="265755" y="232696"/>
                </a:lnTo>
                <a:lnTo>
                  <a:pt x="233918" y="264371"/>
                </a:lnTo>
                <a:lnTo>
                  <a:pt x="193548" y="285146"/>
                </a:lnTo>
                <a:lnTo>
                  <a:pt x="147066" y="292607"/>
                </a:lnTo>
                <a:lnTo>
                  <a:pt x="100584" y="285146"/>
                </a:lnTo>
                <a:lnTo>
                  <a:pt x="60213" y="264371"/>
                </a:lnTo>
                <a:lnTo>
                  <a:pt x="28376" y="232696"/>
                </a:lnTo>
                <a:lnTo>
                  <a:pt x="7498" y="192536"/>
                </a:lnTo>
                <a:lnTo>
                  <a:pt x="0" y="146303"/>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2" name="object 62"/>
          <p:cNvSpPr/>
          <p:nvPr/>
        </p:nvSpPr>
        <p:spPr>
          <a:xfrm>
            <a:off x="169806" y="5292182"/>
            <a:ext cx="8341163" cy="0"/>
          </a:xfrm>
          <a:custGeom>
            <a:avLst/>
            <a:gdLst/>
            <a:ahLst/>
            <a:cxnLst/>
            <a:rect l="l" t="t" r="r" b="b"/>
            <a:pathLst>
              <a:path w="8347075">
                <a:moveTo>
                  <a:pt x="8346948" y="0"/>
                </a:moveTo>
                <a:lnTo>
                  <a:pt x="0" y="0"/>
                </a:lnTo>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3" name="object 63"/>
          <p:cNvSpPr/>
          <p:nvPr/>
        </p:nvSpPr>
        <p:spPr>
          <a:xfrm>
            <a:off x="241383" y="4917543"/>
            <a:ext cx="295700" cy="292528"/>
          </a:xfrm>
          <a:custGeom>
            <a:avLst/>
            <a:gdLst/>
            <a:ahLst/>
            <a:cxnLst/>
            <a:rect l="l" t="t" r="r" b="b"/>
            <a:pathLst>
              <a:path w="295909" h="292735">
                <a:moveTo>
                  <a:pt x="147828" y="0"/>
                </a:moveTo>
                <a:lnTo>
                  <a:pt x="101100" y="7461"/>
                </a:lnTo>
                <a:lnTo>
                  <a:pt x="60520" y="28236"/>
                </a:lnTo>
                <a:lnTo>
                  <a:pt x="28520" y="59911"/>
                </a:lnTo>
                <a:lnTo>
                  <a:pt x="7535" y="100071"/>
                </a:lnTo>
                <a:lnTo>
                  <a:pt x="0" y="146303"/>
                </a:lnTo>
                <a:lnTo>
                  <a:pt x="7535" y="192536"/>
                </a:lnTo>
                <a:lnTo>
                  <a:pt x="28520" y="232696"/>
                </a:lnTo>
                <a:lnTo>
                  <a:pt x="60520" y="264371"/>
                </a:lnTo>
                <a:lnTo>
                  <a:pt x="101100" y="285146"/>
                </a:lnTo>
                <a:lnTo>
                  <a:pt x="147828" y="292607"/>
                </a:lnTo>
                <a:lnTo>
                  <a:pt x="194555" y="285146"/>
                </a:lnTo>
                <a:lnTo>
                  <a:pt x="235135" y="264371"/>
                </a:lnTo>
                <a:lnTo>
                  <a:pt x="267135" y="232696"/>
                </a:lnTo>
                <a:lnTo>
                  <a:pt x="288120" y="192536"/>
                </a:lnTo>
                <a:lnTo>
                  <a:pt x="295655" y="146303"/>
                </a:lnTo>
                <a:lnTo>
                  <a:pt x="288120" y="100071"/>
                </a:lnTo>
                <a:lnTo>
                  <a:pt x="267135" y="59911"/>
                </a:lnTo>
                <a:lnTo>
                  <a:pt x="235135" y="28236"/>
                </a:lnTo>
                <a:lnTo>
                  <a:pt x="194555" y="7461"/>
                </a:lnTo>
                <a:lnTo>
                  <a:pt x="147828"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4" name="object 64"/>
          <p:cNvSpPr/>
          <p:nvPr/>
        </p:nvSpPr>
        <p:spPr>
          <a:xfrm>
            <a:off x="241383" y="4917543"/>
            <a:ext cx="295700" cy="292528"/>
          </a:xfrm>
          <a:custGeom>
            <a:avLst/>
            <a:gdLst/>
            <a:ahLst/>
            <a:cxnLst/>
            <a:rect l="l" t="t" r="r" b="b"/>
            <a:pathLst>
              <a:path w="295909" h="292735">
                <a:moveTo>
                  <a:pt x="0" y="146303"/>
                </a:moveTo>
                <a:lnTo>
                  <a:pt x="7535" y="100071"/>
                </a:lnTo>
                <a:lnTo>
                  <a:pt x="28520" y="59911"/>
                </a:lnTo>
                <a:lnTo>
                  <a:pt x="60520" y="28236"/>
                </a:lnTo>
                <a:lnTo>
                  <a:pt x="101100" y="7461"/>
                </a:lnTo>
                <a:lnTo>
                  <a:pt x="147828" y="0"/>
                </a:lnTo>
                <a:lnTo>
                  <a:pt x="194555" y="7461"/>
                </a:lnTo>
                <a:lnTo>
                  <a:pt x="235135" y="28236"/>
                </a:lnTo>
                <a:lnTo>
                  <a:pt x="267135" y="59911"/>
                </a:lnTo>
                <a:lnTo>
                  <a:pt x="288120" y="100071"/>
                </a:lnTo>
                <a:lnTo>
                  <a:pt x="295655" y="146303"/>
                </a:lnTo>
                <a:lnTo>
                  <a:pt x="288120" y="192536"/>
                </a:lnTo>
                <a:lnTo>
                  <a:pt x="267135" y="232696"/>
                </a:lnTo>
                <a:lnTo>
                  <a:pt x="235135" y="264371"/>
                </a:lnTo>
                <a:lnTo>
                  <a:pt x="194555" y="285146"/>
                </a:lnTo>
                <a:lnTo>
                  <a:pt x="147828" y="292607"/>
                </a:lnTo>
                <a:lnTo>
                  <a:pt x="101100" y="285146"/>
                </a:lnTo>
                <a:lnTo>
                  <a:pt x="60520" y="264371"/>
                </a:lnTo>
                <a:lnTo>
                  <a:pt x="28520" y="232696"/>
                </a:lnTo>
                <a:lnTo>
                  <a:pt x="7535" y="192536"/>
                </a:lnTo>
                <a:lnTo>
                  <a:pt x="0" y="146303"/>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5" name="object 65"/>
          <p:cNvSpPr txBox="1"/>
          <p:nvPr/>
        </p:nvSpPr>
        <p:spPr>
          <a:xfrm>
            <a:off x="284278" y="4442011"/>
            <a:ext cx="696102" cy="730250"/>
          </a:xfrm>
          <a:prstGeom prst="rect">
            <a:avLst/>
          </a:prstGeom>
        </p:spPr>
        <p:txBody>
          <a:bodyPr vert="horz" wrap="square" lIns="0" tIns="12691" rIns="0" bIns="0" rtlCol="0">
            <a:spAutoFit/>
          </a:bodyPr>
          <a:lstStyle/>
          <a:p>
            <a:pPr marL="326390" indent="-311785">
              <a:lnSpc>
                <a:spcPct val="100000"/>
              </a:lnSpc>
              <a:spcBef>
                <a:spcPts val="100"/>
              </a:spcBef>
              <a:buClr>
                <a:srgbClr val="FFFFFF"/>
              </a:buClr>
              <a:buFont typeface="Arial" panose="020B0604020202020204"/>
              <a:buAutoNum type="arabicPlain" startAt="10"/>
              <a:tabLst>
                <a:tab pos="327025" algn="l"/>
              </a:tabLst>
            </a:pPr>
            <a:r>
              <a:rPr sz="2100" baseline="2000" dirty="0">
                <a:latin typeface="微软雅黑" panose="020B0503020204020204" charset="-122"/>
                <a:ea typeface="微软雅黑" panose="020B0503020204020204" charset="-122"/>
                <a:cs typeface="微软雅黑" panose="020B0503020204020204" charset="-122"/>
              </a:rPr>
              <a:t>组织</a:t>
            </a:r>
            <a:endParaRPr sz="2100" baseline="2000">
              <a:latin typeface="微软雅黑" panose="020B0503020204020204" charset="-122"/>
              <a:ea typeface="微软雅黑" panose="020B0503020204020204" charset="-122"/>
              <a:cs typeface="微软雅黑" panose="020B0503020204020204" charset="-122"/>
            </a:endParaRPr>
          </a:p>
          <a:p>
            <a:pPr>
              <a:lnSpc>
                <a:spcPct val="100000"/>
              </a:lnSpc>
              <a:spcBef>
                <a:spcPts val="50"/>
              </a:spcBef>
              <a:buClr>
                <a:srgbClr val="FFFFFF"/>
              </a:buClr>
              <a:buFont typeface="Arial" panose="020B0604020202020204"/>
              <a:buAutoNum type="arabicPlain" startAt="10"/>
            </a:pPr>
            <a:endParaRPr sz="1900">
              <a:latin typeface="微软雅黑" panose="020B0503020204020204" charset="-122"/>
              <a:ea typeface="微软雅黑" panose="020B0503020204020204" charset="-122"/>
              <a:cs typeface="Times New Roman" panose="02020603050405020304"/>
            </a:endParaRPr>
          </a:p>
          <a:p>
            <a:pPr marL="316865" indent="-304800">
              <a:lnSpc>
                <a:spcPct val="100000"/>
              </a:lnSpc>
              <a:spcBef>
                <a:spcPts val="5"/>
              </a:spcBef>
              <a:buClr>
                <a:srgbClr val="FFFFFF"/>
              </a:buClr>
              <a:buFont typeface="Arial" panose="020B0604020202020204"/>
              <a:buAutoNum type="arabicPlain" startAt="10"/>
              <a:tabLst>
                <a:tab pos="317500" algn="l"/>
              </a:tabLst>
            </a:pPr>
            <a:r>
              <a:rPr sz="2100" baseline="2000" dirty="0">
                <a:latin typeface="微软雅黑" panose="020B0503020204020204" charset="-122"/>
                <a:ea typeface="微软雅黑" panose="020B0503020204020204" charset="-122"/>
                <a:cs typeface="微软雅黑" panose="020B0503020204020204" charset="-122"/>
              </a:rPr>
              <a:t>品牌</a:t>
            </a:r>
            <a:endParaRPr sz="2100" baseline="2000">
              <a:latin typeface="微软雅黑" panose="020B0503020204020204" charset="-122"/>
              <a:ea typeface="微软雅黑" panose="020B0503020204020204" charset="-122"/>
              <a:cs typeface="微软雅黑" panose="020B0503020204020204" charset="-122"/>
            </a:endParaRPr>
          </a:p>
        </p:txBody>
      </p:sp>
      <p:sp>
        <p:nvSpPr>
          <p:cNvPr id="66" name="object 66"/>
          <p:cNvSpPr/>
          <p:nvPr/>
        </p:nvSpPr>
        <p:spPr>
          <a:xfrm>
            <a:off x="233768" y="5360713"/>
            <a:ext cx="295700" cy="291259"/>
          </a:xfrm>
          <a:custGeom>
            <a:avLst/>
            <a:gdLst/>
            <a:ahLst/>
            <a:cxnLst/>
            <a:rect l="l" t="t" r="r" b="b"/>
            <a:pathLst>
              <a:path w="295909" h="291464">
                <a:moveTo>
                  <a:pt x="147827" y="0"/>
                </a:moveTo>
                <a:lnTo>
                  <a:pt x="101100" y="7418"/>
                </a:lnTo>
                <a:lnTo>
                  <a:pt x="60520" y="28078"/>
                </a:lnTo>
                <a:lnTo>
                  <a:pt x="28520" y="59582"/>
                </a:lnTo>
                <a:lnTo>
                  <a:pt x="7535" y="99535"/>
                </a:lnTo>
                <a:lnTo>
                  <a:pt x="0" y="145542"/>
                </a:lnTo>
                <a:lnTo>
                  <a:pt x="7535" y="191543"/>
                </a:lnTo>
                <a:lnTo>
                  <a:pt x="28520" y="231496"/>
                </a:lnTo>
                <a:lnTo>
                  <a:pt x="60520" y="263002"/>
                </a:lnTo>
                <a:lnTo>
                  <a:pt x="101100" y="283663"/>
                </a:lnTo>
                <a:lnTo>
                  <a:pt x="147827" y="291084"/>
                </a:lnTo>
                <a:lnTo>
                  <a:pt x="194555" y="283663"/>
                </a:lnTo>
                <a:lnTo>
                  <a:pt x="235135" y="263002"/>
                </a:lnTo>
                <a:lnTo>
                  <a:pt x="267135" y="231496"/>
                </a:lnTo>
                <a:lnTo>
                  <a:pt x="288120" y="191543"/>
                </a:lnTo>
                <a:lnTo>
                  <a:pt x="295656" y="145542"/>
                </a:lnTo>
                <a:lnTo>
                  <a:pt x="288120" y="99535"/>
                </a:lnTo>
                <a:lnTo>
                  <a:pt x="267135" y="59582"/>
                </a:lnTo>
                <a:lnTo>
                  <a:pt x="235135" y="28078"/>
                </a:lnTo>
                <a:lnTo>
                  <a:pt x="194555" y="7418"/>
                </a:lnTo>
                <a:lnTo>
                  <a:pt x="147827"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7" name="object 67"/>
          <p:cNvSpPr/>
          <p:nvPr/>
        </p:nvSpPr>
        <p:spPr>
          <a:xfrm>
            <a:off x="233768" y="5360713"/>
            <a:ext cx="295700" cy="291259"/>
          </a:xfrm>
          <a:custGeom>
            <a:avLst/>
            <a:gdLst/>
            <a:ahLst/>
            <a:cxnLst/>
            <a:rect l="l" t="t" r="r" b="b"/>
            <a:pathLst>
              <a:path w="295909" h="291464">
                <a:moveTo>
                  <a:pt x="0" y="145542"/>
                </a:moveTo>
                <a:lnTo>
                  <a:pt x="7535" y="99535"/>
                </a:lnTo>
                <a:lnTo>
                  <a:pt x="28520" y="59582"/>
                </a:lnTo>
                <a:lnTo>
                  <a:pt x="60520" y="28078"/>
                </a:lnTo>
                <a:lnTo>
                  <a:pt x="101100" y="7418"/>
                </a:lnTo>
                <a:lnTo>
                  <a:pt x="147827" y="0"/>
                </a:lnTo>
                <a:lnTo>
                  <a:pt x="194555" y="7418"/>
                </a:lnTo>
                <a:lnTo>
                  <a:pt x="235135" y="28078"/>
                </a:lnTo>
                <a:lnTo>
                  <a:pt x="267135" y="59582"/>
                </a:lnTo>
                <a:lnTo>
                  <a:pt x="288120" y="99535"/>
                </a:lnTo>
                <a:lnTo>
                  <a:pt x="295656" y="145542"/>
                </a:lnTo>
                <a:lnTo>
                  <a:pt x="288120" y="191543"/>
                </a:lnTo>
                <a:lnTo>
                  <a:pt x="267135" y="231496"/>
                </a:lnTo>
                <a:lnTo>
                  <a:pt x="235135" y="263002"/>
                </a:lnTo>
                <a:lnTo>
                  <a:pt x="194555" y="283663"/>
                </a:lnTo>
                <a:lnTo>
                  <a:pt x="147827" y="291084"/>
                </a:lnTo>
                <a:lnTo>
                  <a:pt x="101100" y="283663"/>
                </a:lnTo>
                <a:lnTo>
                  <a:pt x="60520" y="263002"/>
                </a:lnTo>
                <a:lnTo>
                  <a:pt x="28520" y="231496"/>
                </a:lnTo>
                <a:lnTo>
                  <a:pt x="7535" y="191543"/>
                </a:lnTo>
                <a:lnTo>
                  <a:pt x="0" y="145542"/>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8" name="object 68"/>
          <p:cNvSpPr txBox="1"/>
          <p:nvPr/>
        </p:nvSpPr>
        <p:spPr>
          <a:xfrm>
            <a:off x="269658" y="5381373"/>
            <a:ext cx="223362" cy="227330"/>
          </a:xfrm>
          <a:prstGeom prst="rect">
            <a:avLst/>
          </a:prstGeom>
        </p:spPr>
        <p:txBody>
          <a:bodyPr vert="horz" wrap="square" lIns="0" tIns="12691" rIns="0" bIns="0" rtlCol="0">
            <a:spAutoFit/>
          </a:bodyPr>
          <a:lstStyle/>
          <a:p>
            <a:pPr marL="12700">
              <a:lnSpc>
                <a:spcPct val="100000"/>
              </a:lnSpc>
              <a:spcBef>
                <a:spcPts val="100"/>
              </a:spcBef>
            </a:pPr>
            <a:r>
              <a:rPr sz="1400" spc="-5" dirty="0">
                <a:solidFill>
                  <a:srgbClr val="FFFFFF"/>
                </a:solidFill>
                <a:latin typeface="微软雅黑" panose="020B0503020204020204" charset="-122"/>
                <a:ea typeface="微软雅黑" panose="020B0503020204020204" charset="-122"/>
                <a:cs typeface="Arial" panose="020B0604020202020204"/>
              </a:rPr>
              <a:t>12</a:t>
            </a:r>
            <a:endParaRPr sz="1400" spc="-5" dirty="0">
              <a:solidFill>
                <a:srgbClr val="FFFFFF"/>
              </a:solidFill>
              <a:latin typeface="微软雅黑" panose="020B0503020204020204" charset="-122"/>
              <a:ea typeface="微软雅黑" panose="020B0503020204020204" charset="-122"/>
              <a:cs typeface="Arial" panose="020B0604020202020204"/>
            </a:endParaRPr>
          </a:p>
        </p:txBody>
      </p:sp>
      <p:sp>
        <p:nvSpPr>
          <p:cNvPr id="69" name="object 69"/>
          <p:cNvSpPr/>
          <p:nvPr/>
        </p:nvSpPr>
        <p:spPr>
          <a:xfrm>
            <a:off x="235291" y="5770379"/>
            <a:ext cx="295700" cy="291259"/>
          </a:xfrm>
          <a:custGeom>
            <a:avLst/>
            <a:gdLst/>
            <a:ahLst/>
            <a:cxnLst/>
            <a:rect l="l" t="t" r="r" b="b"/>
            <a:pathLst>
              <a:path w="295909" h="291464">
                <a:moveTo>
                  <a:pt x="147828" y="0"/>
                </a:moveTo>
                <a:lnTo>
                  <a:pt x="101100" y="7420"/>
                </a:lnTo>
                <a:lnTo>
                  <a:pt x="60520" y="28081"/>
                </a:lnTo>
                <a:lnTo>
                  <a:pt x="28520" y="59587"/>
                </a:lnTo>
                <a:lnTo>
                  <a:pt x="7535" y="99540"/>
                </a:lnTo>
                <a:lnTo>
                  <a:pt x="0" y="145541"/>
                </a:lnTo>
                <a:lnTo>
                  <a:pt x="7535" y="191543"/>
                </a:lnTo>
                <a:lnTo>
                  <a:pt x="28520" y="231496"/>
                </a:lnTo>
                <a:lnTo>
                  <a:pt x="60520" y="263002"/>
                </a:lnTo>
                <a:lnTo>
                  <a:pt x="101100" y="283663"/>
                </a:lnTo>
                <a:lnTo>
                  <a:pt x="147828" y="291083"/>
                </a:lnTo>
                <a:lnTo>
                  <a:pt x="194555" y="283663"/>
                </a:lnTo>
                <a:lnTo>
                  <a:pt x="235135" y="263002"/>
                </a:lnTo>
                <a:lnTo>
                  <a:pt x="267135" y="231496"/>
                </a:lnTo>
                <a:lnTo>
                  <a:pt x="288120" y="191543"/>
                </a:lnTo>
                <a:lnTo>
                  <a:pt x="295656" y="145541"/>
                </a:lnTo>
                <a:lnTo>
                  <a:pt x="288120" y="99540"/>
                </a:lnTo>
                <a:lnTo>
                  <a:pt x="267135" y="59587"/>
                </a:lnTo>
                <a:lnTo>
                  <a:pt x="235135" y="28081"/>
                </a:lnTo>
                <a:lnTo>
                  <a:pt x="194555" y="7420"/>
                </a:lnTo>
                <a:lnTo>
                  <a:pt x="147828"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0" name="object 70"/>
          <p:cNvSpPr/>
          <p:nvPr/>
        </p:nvSpPr>
        <p:spPr>
          <a:xfrm>
            <a:off x="235291" y="5770379"/>
            <a:ext cx="295700" cy="291259"/>
          </a:xfrm>
          <a:custGeom>
            <a:avLst/>
            <a:gdLst/>
            <a:ahLst/>
            <a:cxnLst/>
            <a:rect l="l" t="t" r="r" b="b"/>
            <a:pathLst>
              <a:path w="295909" h="291464">
                <a:moveTo>
                  <a:pt x="0" y="145541"/>
                </a:moveTo>
                <a:lnTo>
                  <a:pt x="7535" y="99540"/>
                </a:lnTo>
                <a:lnTo>
                  <a:pt x="28520" y="59587"/>
                </a:lnTo>
                <a:lnTo>
                  <a:pt x="60520" y="28081"/>
                </a:lnTo>
                <a:lnTo>
                  <a:pt x="101100" y="7420"/>
                </a:lnTo>
                <a:lnTo>
                  <a:pt x="147828" y="0"/>
                </a:lnTo>
                <a:lnTo>
                  <a:pt x="194555" y="7420"/>
                </a:lnTo>
                <a:lnTo>
                  <a:pt x="235135" y="28081"/>
                </a:lnTo>
                <a:lnTo>
                  <a:pt x="267135" y="59587"/>
                </a:lnTo>
                <a:lnTo>
                  <a:pt x="288120" y="99540"/>
                </a:lnTo>
                <a:lnTo>
                  <a:pt x="295656" y="145541"/>
                </a:lnTo>
                <a:lnTo>
                  <a:pt x="288120" y="191543"/>
                </a:lnTo>
                <a:lnTo>
                  <a:pt x="267135" y="231496"/>
                </a:lnTo>
                <a:lnTo>
                  <a:pt x="235135" y="263002"/>
                </a:lnTo>
                <a:lnTo>
                  <a:pt x="194555" y="283663"/>
                </a:lnTo>
                <a:lnTo>
                  <a:pt x="147828" y="291083"/>
                </a:lnTo>
                <a:lnTo>
                  <a:pt x="101100" y="283663"/>
                </a:lnTo>
                <a:lnTo>
                  <a:pt x="60520" y="263002"/>
                </a:lnTo>
                <a:lnTo>
                  <a:pt x="28520" y="231496"/>
                </a:lnTo>
                <a:lnTo>
                  <a:pt x="7535" y="191543"/>
                </a:lnTo>
                <a:lnTo>
                  <a:pt x="0" y="145541"/>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1" name="object 71"/>
          <p:cNvSpPr txBox="1"/>
          <p:nvPr/>
        </p:nvSpPr>
        <p:spPr>
          <a:xfrm>
            <a:off x="271181" y="5800481"/>
            <a:ext cx="1224047" cy="227330"/>
          </a:xfrm>
          <a:prstGeom prst="rect">
            <a:avLst/>
          </a:prstGeom>
        </p:spPr>
        <p:txBody>
          <a:bodyPr vert="horz" wrap="square" lIns="0" tIns="12691" rIns="0" bIns="0" rtlCol="0">
            <a:spAutoFit/>
          </a:bodyPr>
          <a:lstStyle/>
          <a:p>
            <a:pPr marL="12700">
              <a:lnSpc>
                <a:spcPct val="100000"/>
              </a:lnSpc>
              <a:spcBef>
                <a:spcPts val="100"/>
              </a:spcBef>
              <a:tabLst>
                <a:tab pos="339725" algn="l"/>
              </a:tabLst>
            </a:pPr>
            <a:r>
              <a:rPr sz="2100" baseline="4000" dirty="0">
                <a:solidFill>
                  <a:srgbClr val="FFFFFF"/>
                </a:solidFill>
                <a:latin typeface="微软雅黑" panose="020B0503020204020204" charset="-122"/>
                <a:ea typeface="微软雅黑" panose="020B0503020204020204" charset="-122"/>
                <a:cs typeface="微软雅黑" panose="020B0503020204020204" charset="-122"/>
              </a:rPr>
              <a:t>13	</a:t>
            </a:r>
            <a:r>
              <a:rPr sz="1400" spc="5" dirty="0">
                <a:latin typeface="微软雅黑" panose="020B0503020204020204" charset="-122"/>
                <a:ea typeface="微软雅黑" panose="020B0503020204020204" charset="-122"/>
                <a:cs typeface="微软雅黑" panose="020B0503020204020204" charset="-122"/>
              </a:rPr>
              <a:t>I</a:t>
            </a:r>
            <a:r>
              <a:rPr sz="1400" spc="-10" dirty="0">
                <a:latin typeface="微软雅黑" panose="020B0503020204020204" charset="-122"/>
                <a:ea typeface="微软雅黑" panose="020B0503020204020204" charset="-122"/>
                <a:cs typeface="微软雅黑" panose="020B0503020204020204" charset="-122"/>
              </a:rPr>
              <a:t>T</a:t>
            </a:r>
            <a:r>
              <a:rPr sz="1400" dirty="0">
                <a:latin typeface="微软雅黑" panose="020B0503020204020204" charset="-122"/>
                <a:ea typeface="微软雅黑" panose="020B0503020204020204" charset="-122"/>
                <a:cs typeface="微软雅黑" panose="020B0503020204020204" charset="-122"/>
              </a:rPr>
              <a:t>基础架构</a:t>
            </a:r>
            <a:endParaRPr sz="1400">
              <a:latin typeface="微软雅黑" panose="020B0503020204020204" charset="-122"/>
              <a:ea typeface="微软雅黑" panose="020B0503020204020204" charset="-122"/>
              <a:cs typeface="微软雅黑" panose="020B0503020204020204" charset="-122"/>
            </a:endParaRPr>
          </a:p>
        </p:txBody>
      </p:sp>
      <p:sp>
        <p:nvSpPr>
          <p:cNvPr id="72" name="object 72"/>
          <p:cNvSpPr txBox="1"/>
          <p:nvPr/>
        </p:nvSpPr>
        <p:spPr>
          <a:xfrm>
            <a:off x="106401" y="6412696"/>
            <a:ext cx="982284"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5" dirty="0">
                <a:latin typeface="微软雅黑" panose="020B0503020204020204" charset="-122"/>
                <a:ea typeface="微软雅黑" panose="020B0503020204020204" charset="-122"/>
                <a:cs typeface="微软雅黑" panose="020B0503020204020204" charset="-122"/>
              </a:rPr>
              <a:t>:</a:t>
            </a:r>
            <a:r>
              <a:rPr sz="1000" spc="-45"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a:t>
            </a:r>
            <a:endParaRPr sz="10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4940354" y="3265935"/>
            <a:ext cx="76146" cy="723387"/>
          </a:xfrm>
          <a:custGeom>
            <a:avLst/>
            <a:gdLst/>
            <a:ahLst/>
            <a:cxnLst/>
            <a:rect l="l" t="t" r="r" b="b"/>
            <a:pathLst>
              <a:path w="76200" h="723900">
                <a:moveTo>
                  <a:pt x="31750" y="74921"/>
                </a:moveTo>
                <a:lnTo>
                  <a:pt x="31750" y="723900"/>
                </a:lnTo>
                <a:lnTo>
                  <a:pt x="44450" y="723900"/>
                </a:lnTo>
                <a:lnTo>
                  <a:pt x="44450" y="76200"/>
                </a:lnTo>
                <a:lnTo>
                  <a:pt x="38100" y="76200"/>
                </a:lnTo>
                <a:lnTo>
                  <a:pt x="31750" y="74921"/>
                </a:lnTo>
                <a:close/>
              </a:path>
              <a:path w="76200" h="723900">
                <a:moveTo>
                  <a:pt x="44450" y="38100"/>
                </a:moveTo>
                <a:lnTo>
                  <a:pt x="31750" y="38100"/>
                </a:lnTo>
                <a:lnTo>
                  <a:pt x="31750" y="74921"/>
                </a:lnTo>
                <a:lnTo>
                  <a:pt x="38100" y="76200"/>
                </a:lnTo>
                <a:lnTo>
                  <a:pt x="44450" y="74921"/>
                </a:lnTo>
                <a:lnTo>
                  <a:pt x="44450" y="38100"/>
                </a:lnTo>
                <a:close/>
              </a:path>
              <a:path w="76200" h="723900">
                <a:moveTo>
                  <a:pt x="44450" y="74921"/>
                </a:moveTo>
                <a:lnTo>
                  <a:pt x="38100" y="76200"/>
                </a:lnTo>
                <a:lnTo>
                  <a:pt x="44450" y="76200"/>
                </a:lnTo>
                <a:lnTo>
                  <a:pt x="44450" y="74921"/>
                </a:lnTo>
                <a:close/>
              </a:path>
              <a:path w="76200" h="723900">
                <a:moveTo>
                  <a:pt x="38100" y="0"/>
                </a:moveTo>
                <a:lnTo>
                  <a:pt x="23252" y="2988"/>
                </a:lnTo>
                <a:lnTo>
                  <a:pt x="11144" y="11144"/>
                </a:lnTo>
                <a:lnTo>
                  <a:pt x="2988" y="23252"/>
                </a:lnTo>
                <a:lnTo>
                  <a:pt x="0" y="38100"/>
                </a:lnTo>
                <a:lnTo>
                  <a:pt x="2988" y="52947"/>
                </a:lnTo>
                <a:lnTo>
                  <a:pt x="11144" y="65055"/>
                </a:lnTo>
                <a:lnTo>
                  <a:pt x="23252" y="73211"/>
                </a:lnTo>
                <a:lnTo>
                  <a:pt x="31750" y="74921"/>
                </a:lnTo>
                <a:lnTo>
                  <a:pt x="31750" y="38100"/>
                </a:lnTo>
                <a:lnTo>
                  <a:pt x="76200" y="38100"/>
                </a:lnTo>
                <a:lnTo>
                  <a:pt x="73211" y="23252"/>
                </a:lnTo>
                <a:lnTo>
                  <a:pt x="65055" y="11144"/>
                </a:lnTo>
                <a:lnTo>
                  <a:pt x="52947" y="2988"/>
                </a:lnTo>
                <a:lnTo>
                  <a:pt x="38100" y="0"/>
                </a:lnTo>
                <a:close/>
              </a:path>
              <a:path w="76200" h="723900">
                <a:moveTo>
                  <a:pt x="76200" y="38100"/>
                </a:moveTo>
                <a:lnTo>
                  <a:pt x="44450" y="38100"/>
                </a:lnTo>
                <a:lnTo>
                  <a:pt x="44450" y="74921"/>
                </a:lnTo>
                <a:lnTo>
                  <a:pt x="52947" y="73211"/>
                </a:lnTo>
                <a:lnTo>
                  <a:pt x="65055" y="65055"/>
                </a:lnTo>
                <a:lnTo>
                  <a:pt x="73211" y="52947"/>
                </a:lnTo>
                <a:lnTo>
                  <a:pt x="76200" y="3810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 name="object 4"/>
          <p:cNvSpPr txBox="1"/>
          <p:nvPr/>
        </p:nvSpPr>
        <p:spPr>
          <a:xfrm>
            <a:off x="2779456" y="2573388"/>
            <a:ext cx="3585844" cy="658495"/>
          </a:xfrm>
          <a:prstGeom prst="rect">
            <a:avLst/>
          </a:prstGeom>
        </p:spPr>
        <p:txBody>
          <a:bodyPr vert="horz" wrap="square" lIns="0" tIns="13325" rIns="0" bIns="0" rtlCol="0">
            <a:spAutoFit/>
          </a:bodyPr>
          <a:lstStyle/>
          <a:p>
            <a:pPr marL="12700" marR="5080" indent="-1270" algn="ctr">
              <a:lnSpc>
                <a:spcPct val="100000"/>
              </a:lnSpc>
              <a:spcBef>
                <a:spcPts val="105"/>
              </a:spcBef>
            </a:pPr>
            <a:r>
              <a:rPr sz="1400" b="1" spc="10" dirty="0">
                <a:latin typeface="微软雅黑" panose="020B0503020204020204" charset="-122"/>
                <a:ea typeface="微软雅黑" panose="020B0503020204020204" charset="-122"/>
                <a:cs typeface="微软雅黑" panose="020B0503020204020204" charset="-122"/>
              </a:rPr>
              <a:t>大客</a:t>
            </a:r>
            <a:r>
              <a:rPr sz="1400" b="1" dirty="0">
                <a:latin typeface="微软雅黑" panose="020B0503020204020204" charset="-122"/>
                <a:ea typeface="微软雅黑" panose="020B0503020204020204" charset="-122"/>
                <a:cs typeface="微软雅黑" panose="020B0503020204020204" charset="-122"/>
              </a:rPr>
              <a:t>户是</a:t>
            </a:r>
            <a:r>
              <a:rPr sz="1400" b="1" spc="-15" dirty="0">
                <a:latin typeface="微软雅黑" panose="020B0503020204020204" charset="-122"/>
                <a:ea typeface="微软雅黑" panose="020B0503020204020204" charset="-122"/>
                <a:cs typeface="微软雅黑" panose="020B0503020204020204" charset="-122"/>
              </a:rPr>
              <a:t>指</a:t>
            </a:r>
            <a:r>
              <a:rPr sz="1400" b="1" dirty="0">
                <a:latin typeface="微软雅黑" panose="020B0503020204020204" charset="-122"/>
                <a:ea typeface="微软雅黑" panose="020B0503020204020204" charset="-122"/>
                <a:cs typeface="微软雅黑" panose="020B0503020204020204" charset="-122"/>
              </a:rPr>
              <a:t>具有</a:t>
            </a:r>
            <a:r>
              <a:rPr sz="1400" b="1" spc="-15" dirty="0">
                <a:latin typeface="微软雅黑" panose="020B0503020204020204" charset="-122"/>
                <a:ea typeface="微软雅黑" panose="020B0503020204020204" charset="-122"/>
                <a:cs typeface="微软雅黑" panose="020B0503020204020204" charset="-122"/>
              </a:rPr>
              <a:t>一</a:t>
            </a:r>
            <a:r>
              <a:rPr sz="1400" b="1" dirty="0">
                <a:latin typeface="微软雅黑" panose="020B0503020204020204" charset="-122"/>
                <a:ea typeface="微软雅黑" panose="020B0503020204020204" charset="-122"/>
                <a:cs typeface="微软雅黑" panose="020B0503020204020204" charset="-122"/>
              </a:rPr>
              <a:t>定</a:t>
            </a:r>
            <a:r>
              <a:rPr sz="1400" b="1" dirty="0">
                <a:solidFill>
                  <a:srgbClr val="0066CC"/>
                </a:solidFill>
                <a:latin typeface="微软雅黑" panose="020B0503020204020204" charset="-122"/>
                <a:ea typeface="微软雅黑" panose="020B0503020204020204" charset="-122"/>
                <a:cs typeface="微软雅黑" panose="020B0503020204020204" charset="-122"/>
              </a:rPr>
              <a:t>规</a:t>
            </a:r>
            <a:r>
              <a:rPr sz="1400" b="1" spc="-15" dirty="0">
                <a:solidFill>
                  <a:srgbClr val="0066CC"/>
                </a:solidFill>
                <a:latin typeface="微软雅黑" panose="020B0503020204020204" charset="-122"/>
                <a:ea typeface="微软雅黑" panose="020B0503020204020204" charset="-122"/>
                <a:cs typeface="微软雅黑" panose="020B0503020204020204" charset="-122"/>
              </a:rPr>
              <a:t>模</a:t>
            </a:r>
            <a:r>
              <a:rPr sz="1400" b="1" dirty="0">
                <a:latin typeface="微软雅黑" panose="020B0503020204020204" charset="-122"/>
                <a:ea typeface="微软雅黑" panose="020B0503020204020204" charset="-122"/>
                <a:cs typeface="微软雅黑" panose="020B0503020204020204" charset="-122"/>
              </a:rPr>
              <a:t>，使</a:t>
            </a:r>
            <a:r>
              <a:rPr sz="1400" b="1" spc="-15" dirty="0">
                <a:latin typeface="微软雅黑" panose="020B0503020204020204" charset="-122"/>
                <a:ea typeface="微软雅黑" panose="020B0503020204020204" charset="-122"/>
                <a:cs typeface="微软雅黑" panose="020B0503020204020204" charset="-122"/>
              </a:rPr>
              <a:t>得</a:t>
            </a:r>
            <a:r>
              <a:rPr sz="1400" b="1" dirty="0">
                <a:latin typeface="微软雅黑" panose="020B0503020204020204" charset="-122"/>
                <a:ea typeface="微软雅黑" panose="020B0503020204020204" charset="-122"/>
                <a:cs typeface="微软雅黑" panose="020B0503020204020204" charset="-122"/>
              </a:rPr>
              <a:t>公司</a:t>
            </a:r>
            <a:r>
              <a:rPr sz="1400" b="1" spc="-15" dirty="0">
                <a:latin typeface="微软雅黑" panose="020B0503020204020204" charset="-122"/>
                <a:ea typeface="微软雅黑" panose="020B0503020204020204" charset="-122"/>
                <a:cs typeface="微软雅黑" panose="020B0503020204020204" charset="-122"/>
              </a:rPr>
              <a:t>可</a:t>
            </a:r>
            <a:r>
              <a:rPr sz="1400" b="1" dirty="0">
                <a:latin typeface="微软雅黑" panose="020B0503020204020204" charset="-122"/>
                <a:ea typeface="微软雅黑" panose="020B0503020204020204" charset="-122"/>
                <a:cs typeface="微软雅黑" panose="020B0503020204020204" charset="-122"/>
              </a:rPr>
              <a:t>以采取 </a:t>
            </a:r>
            <a:r>
              <a:rPr sz="1400" b="1" spc="10" dirty="0">
                <a:solidFill>
                  <a:srgbClr val="0066CC"/>
                </a:solidFill>
                <a:latin typeface="微软雅黑" panose="020B0503020204020204" charset="-122"/>
                <a:ea typeface="微软雅黑" panose="020B0503020204020204" charset="-122"/>
                <a:cs typeface="微软雅黑" panose="020B0503020204020204" charset="-122"/>
              </a:rPr>
              <a:t>长期</a:t>
            </a:r>
            <a:r>
              <a:rPr sz="1400" b="1" spc="5" dirty="0">
                <a:solidFill>
                  <a:srgbClr val="0066CC"/>
                </a:solidFill>
                <a:latin typeface="微软雅黑" panose="020B0503020204020204" charset="-122"/>
                <a:ea typeface="微软雅黑" panose="020B0503020204020204" charset="-122"/>
                <a:cs typeface="微软雅黑" panose="020B0503020204020204" charset="-122"/>
              </a:rPr>
              <a:t>、</a:t>
            </a:r>
            <a:r>
              <a:rPr sz="1400" b="1" dirty="0">
                <a:solidFill>
                  <a:srgbClr val="0066CC"/>
                </a:solidFill>
                <a:latin typeface="微软雅黑" panose="020B0503020204020204" charset="-122"/>
                <a:ea typeface="微软雅黑" panose="020B0503020204020204" charset="-122"/>
                <a:cs typeface="微软雅黑" panose="020B0503020204020204" charset="-122"/>
              </a:rPr>
              <a:t>一</a:t>
            </a:r>
            <a:r>
              <a:rPr sz="1400" b="1" spc="-10" dirty="0">
                <a:solidFill>
                  <a:srgbClr val="0066CC"/>
                </a:solidFill>
                <a:latin typeface="微软雅黑" panose="020B0503020204020204" charset="-122"/>
                <a:ea typeface="微软雅黑" panose="020B0503020204020204" charset="-122"/>
                <a:cs typeface="微软雅黑" panose="020B0503020204020204" charset="-122"/>
              </a:rPr>
              <a:t>致</a:t>
            </a:r>
            <a:r>
              <a:rPr sz="1400" b="1" spc="5" dirty="0">
                <a:solidFill>
                  <a:srgbClr val="0066CC"/>
                </a:solidFill>
                <a:latin typeface="微软雅黑" panose="020B0503020204020204" charset="-122"/>
                <a:ea typeface="微软雅黑" panose="020B0503020204020204" charset="-122"/>
                <a:cs typeface="微软雅黑" panose="020B0503020204020204" charset="-122"/>
              </a:rPr>
              <a:t>的</a:t>
            </a:r>
            <a:r>
              <a:rPr sz="1400" b="1" dirty="0">
                <a:solidFill>
                  <a:srgbClr val="0066CC"/>
                </a:solidFill>
                <a:latin typeface="微软雅黑" panose="020B0503020204020204" charset="-122"/>
                <a:ea typeface="微软雅黑" panose="020B0503020204020204" charset="-122"/>
                <a:cs typeface="微软雅黑" panose="020B0503020204020204" charset="-122"/>
              </a:rPr>
              <a:t>最</a:t>
            </a:r>
            <a:r>
              <a:rPr sz="1400" b="1" spc="-10" dirty="0">
                <a:solidFill>
                  <a:srgbClr val="0066CC"/>
                </a:solidFill>
                <a:latin typeface="微软雅黑" panose="020B0503020204020204" charset="-122"/>
                <a:ea typeface="微软雅黑" panose="020B0503020204020204" charset="-122"/>
                <a:cs typeface="微软雅黑" panose="020B0503020204020204" charset="-122"/>
              </a:rPr>
              <a:t>佳</a:t>
            </a:r>
            <a:r>
              <a:rPr sz="1400" b="1" spc="5" dirty="0">
                <a:solidFill>
                  <a:srgbClr val="0066CC"/>
                </a:solidFill>
                <a:latin typeface="微软雅黑" panose="020B0503020204020204" charset="-122"/>
                <a:ea typeface="微软雅黑" panose="020B0503020204020204" charset="-122"/>
                <a:cs typeface="微软雅黑" panose="020B0503020204020204" charset="-122"/>
              </a:rPr>
              <a:t>方</a:t>
            </a:r>
            <a:r>
              <a:rPr sz="1400" b="1" dirty="0">
                <a:solidFill>
                  <a:srgbClr val="0066CC"/>
                </a:solidFill>
                <a:latin typeface="微软雅黑" panose="020B0503020204020204" charset="-122"/>
                <a:ea typeface="微软雅黑" panose="020B0503020204020204" charset="-122"/>
                <a:cs typeface="微软雅黑" panose="020B0503020204020204" charset="-122"/>
              </a:rPr>
              <a:t>案</a:t>
            </a:r>
            <a:r>
              <a:rPr sz="1400" b="1" spc="-10" dirty="0">
                <a:latin typeface="微软雅黑" panose="020B0503020204020204" charset="-122"/>
                <a:ea typeface="微软雅黑" panose="020B0503020204020204" charset="-122"/>
                <a:cs typeface="微软雅黑" panose="020B0503020204020204" charset="-122"/>
              </a:rPr>
              <a:t>，</a:t>
            </a:r>
            <a:r>
              <a:rPr sz="1400" b="1" spc="5" dirty="0">
                <a:latin typeface="微软雅黑" panose="020B0503020204020204" charset="-122"/>
                <a:ea typeface="微软雅黑" panose="020B0503020204020204" charset="-122"/>
                <a:cs typeface="微软雅黑" panose="020B0503020204020204" charset="-122"/>
              </a:rPr>
              <a:t>并</a:t>
            </a:r>
            <a:r>
              <a:rPr sz="1400" b="1" dirty="0">
                <a:latin typeface="微软雅黑" panose="020B0503020204020204" charset="-122"/>
                <a:ea typeface="微软雅黑" panose="020B0503020204020204" charset="-122"/>
                <a:cs typeface="微软雅黑" panose="020B0503020204020204" charset="-122"/>
              </a:rPr>
              <a:t>通</a:t>
            </a:r>
            <a:r>
              <a:rPr sz="1400" b="1" spc="-10" dirty="0">
                <a:latin typeface="微软雅黑" panose="020B0503020204020204" charset="-122"/>
                <a:ea typeface="微软雅黑" panose="020B0503020204020204" charset="-122"/>
                <a:cs typeface="微软雅黑" panose="020B0503020204020204" charset="-122"/>
              </a:rPr>
              <a:t>过</a:t>
            </a:r>
            <a:r>
              <a:rPr sz="1400" b="1" spc="5" dirty="0">
                <a:latin typeface="微软雅黑" panose="020B0503020204020204" charset="-122"/>
                <a:ea typeface="微软雅黑" panose="020B0503020204020204" charset="-122"/>
                <a:cs typeface="微软雅黑" panose="020B0503020204020204" charset="-122"/>
              </a:rPr>
              <a:t>这</a:t>
            </a:r>
            <a:r>
              <a:rPr sz="1400" b="1" dirty="0">
                <a:latin typeface="微软雅黑" panose="020B0503020204020204" charset="-122"/>
                <a:ea typeface="微软雅黑" panose="020B0503020204020204" charset="-122"/>
                <a:cs typeface="微软雅黑" panose="020B0503020204020204" charset="-122"/>
              </a:rPr>
              <a:t>种</a:t>
            </a:r>
            <a:r>
              <a:rPr sz="1400" b="1" spc="-10" dirty="0">
                <a:latin typeface="微软雅黑" panose="020B0503020204020204" charset="-122"/>
                <a:ea typeface="微软雅黑" panose="020B0503020204020204" charset="-122"/>
                <a:cs typeface="微软雅黑" panose="020B0503020204020204" charset="-122"/>
              </a:rPr>
              <a:t>最</a:t>
            </a:r>
            <a:r>
              <a:rPr sz="1400" b="1" spc="5" dirty="0">
                <a:latin typeface="微软雅黑" panose="020B0503020204020204" charset="-122"/>
                <a:ea typeface="微软雅黑" panose="020B0503020204020204" charset="-122"/>
                <a:cs typeface="微软雅黑" panose="020B0503020204020204" charset="-122"/>
              </a:rPr>
              <a:t>佳</a:t>
            </a:r>
            <a:r>
              <a:rPr sz="1400" b="1" dirty="0">
                <a:latin typeface="微软雅黑" panose="020B0503020204020204" charset="-122"/>
                <a:ea typeface="微软雅黑" panose="020B0503020204020204" charset="-122"/>
                <a:cs typeface="微软雅黑" panose="020B0503020204020204" charset="-122"/>
              </a:rPr>
              <a:t>方案 </a:t>
            </a:r>
            <a:r>
              <a:rPr sz="1400" b="1" spc="10" dirty="0">
                <a:latin typeface="微软雅黑" panose="020B0503020204020204" charset="-122"/>
                <a:ea typeface="微软雅黑" panose="020B0503020204020204" charset="-122"/>
                <a:cs typeface="微软雅黑" panose="020B0503020204020204" charset="-122"/>
              </a:rPr>
              <a:t>支持</a:t>
            </a:r>
            <a:r>
              <a:rPr sz="1400" b="1" dirty="0">
                <a:latin typeface="微软雅黑" panose="020B0503020204020204" charset="-122"/>
                <a:ea typeface="微软雅黑" panose="020B0503020204020204" charset="-122"/>
                <a:cs typeface="微软雅黑" panose="020B0503020204020204" charset="-122"/>
              </a:rPr>
              <a:t>公司</a:t>
            </a:r>
            <a:r>
              <a:rPr sz="1400" b="1" spc="-15" dirty="0">
                <a:latin typeface="微软雅黑" panose="020B0503020204020204" charset="-122"/>
                <a:ea typeface="微软雅黑" panose="020B0503020204020204" charset="-122"/>
                <a:cs typeface="微软雅黑" panose="020B0503020204020204" charset="-122"/>
              </a:rPr>
              <a:t>保</a:t>
            </a:r>
            <a:r>
              <a:rPr sz="1400" b="1" dirty="0">
                <a:latin typeface="微软雅黑" panose="020B0503020204020204" charset="-122"/>
                <a:ea typeface="微软雅黑" panose="020B0503020204020204" charset="-122"/>
                <a:cs typeface="微软雅黑" panose="020B0503020204020204" charset="-122"/>
              </a:rPr>
              <a:t>持</a:t>
            </a:r>
            <a:r>
              <a:rPr sz="1400" b="1" dirty="0">
                <a:solidFill>
                  <a:srgbClr val="0066CC"/>
                </a:solidFill>
                <a:latin typeface="微软雅黑" panose="020B0503020204020204" charset="-122"/>
                <a:ea typeface="微软雅黑" panose="020B0503020204020204" charset="-122"/>
                <a:cs typeface="微软雅黑" panose="020B0503020204020204" charset="-122"/>
              </a:rPr>
              <a:t>最</a:t>
            </a:r>
            <a:r>
              <a:rPr sz="1400" b="1" spc="-15" dirty="0">
                <a:solidFill>
                  <a:srgbClr val="0066CC"/>
                </a:solidFill>
                <a:latin typeface="微软雅黑" panose="020B0503020204020204" charset="-122"/>
                <a:ea typeface="微软雅黑" panose="020B0503020204020204" charset="-122"/>
                <a:cs typeface="微软雅黑" panose="020B0503020204020204" charset="-122"/>
              </a:rPr>
              <a:t>佳</a:t>
            </a:r>
            <a:r>
              <a:rPr sz="1400" b="1" dirty="0">
                <a:solidFill>
                  <a:srgbClr val="0066CC"/>
                </a:solidFill>
                <a:latin typeface="微软雅黑" panose="020B0503020204020204" charset="-122"/>
                <a:ea typeface="微软雅黑" panose="020B0503020204020204" charset="-122"/>
                <a:cs typeface="微软雅黑" panose="020B0503020204020204" charset="-122"/>
              </a:rPr>
              <a:t>运营</a:t>
            </a:r>
            <a:r>
              <a:rPr sz="1400" b="1" spc="-15" dirty="0">
                <a:solidFill>
                  <a:srgbClr val="0066CC"/>
                </a:solidFill>
                <a:latin typeface="微软雅黑" panose="020B0503020204020204" charset="-122"/>
                <a:ea typeface="微软雅黑" panose="020B0503020204020204" charset="-122"/>
                <a:cs typeface="微软雅黑" panose="020B0503020204020204" charset="-122"/>
              </a:rPr>
              <a:t>状</a:t>
            </a:r>
            <a:r>
              <a:rPr sz="1400" b="1" dirty="0">
                <a:solidFill>
                  <a:srgbClr val="0066CC"/>
                </a:solidFill>
                <a:latin typeface="微软雅黑" panose="020B0503020204020204" charset="-122"/>
                <a:ea typeface="微软雅黑" panose="020B0503020204020204" charset="-122"/>
                <a:cs typeface="微软雅黑" panose="020B0503020204020204" charset="-122"/>
              </a:rPr>
              <a:t>态</a:t>
            </a:r>
            <a:r>
              <a:rPr sz="1400" b="1" dirty="0">
                <a:latin typeface="微软雅黑" panose="020B0503020204020204" charset="-122"/>
                <a:ea typeface="微软雅黑" panose="020B0503020204020204" charset="-122"/>
                <a:cs typeface="微软雅黑" panose="020B0503020204020204" charset="-122"/>
              </a:rPr>
              <a:t>的</a:t>
            </a:r>
            <a:r>
              <a:rPr sz="1400" b="1" spc="-15" dirty="0">
                <a:latin typeface="微软雅黑" panose="020B0503020204020204" charset="-122"/>
                <a:ea typeface="微软雅黑" panose="020B0503020204020204" charset="-122"/>
                <a:cs typeface="微软雅黑" panose="020B0503020204020204" charset="-122"/>
              </a:rPr>
              <a:t>重</a:t>
            </a:r>
            <a:r>
              <a:rPr sz="1400" b="1" dirty="0">
                <a:latin typeface="微软雅黑" panose="020B0503020204020204" charset="-122"/>
                <a:ea typeface="微软雅黑" panose="020B0503020204020204" charset="-122"/>
                <a:cs typeface="微软雅黑" panose="020B0503020204020204" charset="-122"/>
              </a:rPr>
              <a:t>要客户</a:t>
            </a:r>
            <a:endParaRPr sz="1400">
              <a:latin typeface="微软雅黑" panose="020B0503020204020204" charset="-122"/>
              <a:ea typeface="微软雅黑" panose="020B0503020204020204" charset="-122"/>
              <a:cs typeface="微软雅黑" panose="020B0503020204020204" charset="-122"/>
            </a:endParaRPr>
          </a:p>
        </p:txBody>
      </p:sp>
      <p:sp>
        <p:nvSpPr>
          <p:cNvPr id="5" name="object 5"/>
          <p:cNvSpPr txBox="1">
            <a:spLocks noGrp="1"/>
          </p:cNvSpPr>
          <p:nvPr>
            <p:ph type="title"/>
          </p:nvPr>
        </p:nvSpPr>
        <p:spPr>
          <a:xfrm>
            <a:off x="106401" y="200043"/>
            <a:ext cx="1715823"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什么是大客</a:t>
            </a:r>
            <a:r>
              <a:rPr spc="-10" dirty="0">
                <a:ea typeface="微软雅黑" panose="020B0503020204020204" charset="-122"/>
              </a:rPr>
              <a:t>户？</a:t>
            </a:r>
            <a:endParaRPr spc="-10" dirty="0">
              <a:ea typeface="微软雅黑" panose="020B0503020204020204" charset="-122"/>
            </a:endParaRPr>
          </a:p>
        </p:txBody>
      </p:sp>
      <p:sp>
        <p:nvSpPr>
          <p:cNvPr id="6" name="object 6"/>
          <p:cNvSpPr txBox="1"/>
          <p:nvPr/>
        </p:nvSpPr>
        <p:spPr>
          <a:xfrm>
            <a:off x="529975" y="3913176"/>
            <a:ext cx="3932308" cy="1244600"/>
          </a:xfrm>
          <a:prstGeom prst="rect">
            <a:avLst/>
          </a:prstGeom>
          <a:solidFill>
            <a:srgbClr val="C6DFFA"/>
          </a:solidFill>
          <a:ln w="9525">
            <a:solidFill>
              <a:srgbClr val="0066CC"/>
            </a:solidFill>
          </a:ln>
        </p:spPr>
        <p:txBody>
          <a:bodyPr vert="horz" wrap="square" lIns="0" tIns="168155" rIns="0" bIns="0" rtlCol="0">
            <a:spAutoFit/>
          </a:bodyPr>
          <a:lstStyle/>
          <a:p>
            <a:pPr marL="71755">
              <a:lnSpc>
                <a:spcPct val="100000"/>
              </a:lnSpc>
              <a:spcBef>
                <a:spcPts val="1325"/>
              </a:spcBef>
            </a:pPr>
            <a:r>
              <a:rPr sz="1400" b="1" spc="10" dirty="0">
                <a:latin typeface="微软雅黑" panose="020B0503020204020204" charset="-122"/>
                <a:ea typeface="微软雅黑" panose="020B0503020204020204" charset="-122"/>
                <a:cs typeface="微软雅黑" panose="020B0503020204020204" charset="-122"/>
              </a:rPr>
              <a:t>按客</a:t>
            </a:r>
            <a:r>
              <a:rPr sz="1400" b="1" dirty="0">
                <a:latin typeface="微软雅黑" panose="020B0503020204020204" charset="-122"/>
                <a:ea typeface="微软雅黑" panose="020B0503020204020204" charset="-122"/>
                <a:cs typeface="微软雅黑" panose="020B0503020204020204" charset="-122"/>
              </a:rPr>
              <a:t>户细</a:t>
            </a:r>
            <a:r>
              <a:rPr sz="1400" b="1" spc="-15" dirty="0">
                <a:latin typeface="微软雅黑" panose="020B0503020204020204" charset="-122"/>
                <a:ea typeface="微软雅黑" panose="020B0503020204020204" charset="-122"/>
                <a:cs typeface="微软雅黑" panose="020B0503020204020204" charset="-122"/>
              </a:rPr>
              <a:t>分</a:t>
            </a:r>
            <a:r>
              <a:rPr sz="1400" b="1" dirty="0">
                <a:latin typeface="微软雅黑" panose="020B0503020204020204" charset="-122"/>
                <a:ea typeface="微软雅黑" panose="020B0503020204020204" charset="-122"/>
                <a:cs typeface="微软雅黑" panose="020B0503020204020204" charset="-122"/>
              </a:rPr>
              <a:t>和机</a:t>
            </a:r>
            <a:r>
              <a:rPr sz="1400" b="1" spc="-15" dirty="0">
                <a:latin typeface="微软雅黑" panose="020B0503020204020204" charset="-122"/>
                <a:ea typeface="微软雅黑" panose="020B0503020204020204" charset="-122"/>
                <a:cs typeface="微软雅黑" panose="020B0503020204020204" charset="-122"/>
              </a:rPr>
              <a:t>会</a:t>
            </a:r>
            <a:r>
              <a:rPr sz="1400" b="1" dirty="0">
                <a:latin typeface="微软雅黑" panose="020B0503020204020204" charset="-122"/>
                <a:ea typeface="微软雅黑" panose="020B0503020204020204" charset="-122"/>
                <a:cs typeface="微软雅黑" panose="020B0503020204020204" charset="-122"/>
              </a:rPr>
              <a:t>潜力</a:t>
            </a:r>
            <a:r>
              <a:rPr sz="1400" b="1" spc="-15" dirty="0">
                <a:latin typeface="微软雅黑" panose="020B0503020204020204" charset="-122"/>
                <a:ea typeface="微软雅黑" panose="020B0503020204020204" charset="-122"/>
                <a:cs typeface="微软雅黑" panose="020B0503020204020204" charset="-122"/>
              </a:rPr>
              <a:t>进</a:t>
            </a:r>
            <a:r>
              <a:rPr sz="1400" b="1" dirty="0">
                <a:latin typeface="微软雅黑" panose="020B0503020204020204" charset="-122"/>
                <a:ea typeface="微软雅黑" panose="020B0503020204020204" charset="-122"/>
                <a:cs typeface="微软雅黑" panose="020B0503020204020204" charset="-122"/>
              </a:rPr>
              <a:t>行相</a:t>
            </a:r>
            <a:r>
              <a:rPr sz="1400" b="1" spc="-15" dirty="0">
                <a:latin typeface="微软雅黑" panose="020B0503020204020204" charset="-122"/>
                <a:ea typeface="微软雅黑" panose="020B0503020204020204" charset="-122"/>
                <a:cs typeface="微软雅黑" panose="020B0503020204020204" charset="-122"/>
              </a:rPr>
              <a:t>应</a:t>
            </a:r>
            <a:r>
              <a:rPr sz="1400" b="1" dirty="0">
                <a:latin typeface="微软雅黑" panose="020B0503020204020204" charset="-122"/>
                <a:ea typeface="微软雅黑" panose="020B0503020204020204" charset="-122"/>
                <a:cs typeface="微软雅黑" panose="020B0503020204020204" charset="-122"/>
              </a:rPr>
              <a:t>调整</a:t>
            </a:r>
            <a:endParaRPr sz="1400">
              <a:latin typeface="微软雅黑" panose="020B0503020204020204" charset="-122"/>
              <a:ea typeface="微软雅黑" panose="020B0503020204020204" charset="-122"/>
              <a:cs typeface="微软雅黑" panose="020B0503020204020204" charset="-122"/>
            </a:endParaRPr>
          </a:p>
          <a:p>
            <a:pPr marL="297180" indent="-224790">
              <a:lnSpc>
                <a:spcPct val="100000"/>
              </a:lnSpc>
              <a:buClr>
                <a:srgbClr val="00295F"/>
              </a:buClr>
              <a:buSzPct val="125000"/>
              <a:buFont typeface="Arial" panose="020B0604020202020204"/>
              <a:buChar char="▪"/>
              <a:tabLst>
                <a:tab pos="297180" algn="l"/>
                <a:tab pos="297815" algn="l"/>
              </a:tabLst>
            </a:pPr>
            <a:r>
              <a:rPr sz="1400" dirty="0">
                <a:latin typeface="微软雅黑" panose="020B0503020204020204" charset="-122"/>
                <a:ea typeface="微软雅黑" panose="020B0503020204020204" charset="-122"/>
                <a:cs typeface="微软雅黑" panose="020B0503020204020204" charset="-122"/>
              </a:rPr>
              <a:t>地域分布的广度</a:t>
            </a:r>
            <a:endParaRPr sz="1400">
              <a:latin typeface="微软雅黑" panose="020B0503020204020204" charset="-122"/>
              <a:ea typeface="微软雅黑" panose="020B0503020204020204" charset="-122"/>
              <a:cs typeface="微软雅黑" panose="020B0503020204020204" charset="-122"/>
            </a:endParaRPr>
          </a:p>
          <a:p>
            <a:pPr marL="297180" indent="-224790">
              <a:lnSpc>
                <a:spcPct val="100000"/>
              </a:lnSpc>
              <a:buClr>
                <a:srgbClr val="00295F"/>
              </a:buClr>
              <a:buSzPct val="125000"/>
              <a:buFont typeface="Arial" panose="020B0604020202020204"/>
              <a:buChar char="▪"/>
              <a:tabLst>
                <a:tab pos="297180" algn="l"/>
                <a:tab pos="297815" algn="l"/>
              </a:tabLst>
            </a:pPr>
            <a:r>
              <a:rPr sz="1400" dirty="0">
                <a:latin typeface="微软雅黑" panose="020B0503020204020204" charset="-122"/>
                <a:ea typeface="微软雅黑" panose="020B0503020204020204" charset="-122"/>
                <a:cs typeface="微软雅黑" panose="020B0503020204020204" charset="-122"/>
              </a:rPr>
              <a:t>业务线的广度</a:t>
            </a:r>
            <a:endParaRPr sz="1400">
              <a:latin typeface="微软雅黑" panose="020B0503020204020204" charset="-122"/>
              <a:ea typeface="微软雅黑" panose="020B0503020204020204" charset="-122"/>
              <a:cs typeface="微软雅黑" panose="020B0503020204020204" charset="-122"/>
            </a:endParaRPr>
          </a:p>
          <a:p>
            <a:pPr marL="297180" indent="-224790">
              <a:lnSpc>
                <a:spcPct val="100000"/>
              </a:lnSpc>
              <a:buClr>
                <a:srgbClr val="00295F"/>
              </a:buClr>
              <a:buSzPct val="125000"/>
              <a:buFont typeface="Arial" panose="020B0604020202020204"/>
              <a:buChar char="▪"/>
              <a:tabLst>
                <a:tab pos="297180" algn="l"/>
                <a:tab pos="297815" algn="l"/>
              </a:tabLst>
            </a:pPr>
            <a:r>
              <a:rPr sz="1400" dirty="0">
                <a:latin typeface="微软雅黑" panose="020B0503020204020204" charset="-122"/>
                <a:ea typeface="微软雅黑" panose="020B0503020204020204" charset="-122"/>
                <a:cs typeface="微软雅黑" panose="020B0503020204020204" charset="-122"/>
              </a:rPr>
              <a:t>数据库、工具、专业知</a:t>
            </a:r>
            <a:r>
              <a:rPr sz="1400" spc="-15" dirty="0">
                <a:latin typeface="微软雅黑" panose="020B0503020204020204" charset="-122"/>
                <a:ea typeface="微软雅黑" panose="020B0503020204020204" charset="-122"/>
                <a:cs typeface="微软雅黑" panose="020B0503020204020204" charset="-122"/>
              </a:rPr>
              <a:t>识</a:t>
            </a:r>
            <a:r>
              <a:rPr sz="1400" dirty="0">
                <a:latin typeface="微软雅黑" panose="020B0503020204020204" charset="-122"/>
                <a:ea typeface="微软雅黑" panose="020B0503020204020204" charset="-122"/>
                <a:cs typeface="微软雅黑" panose="020B0503020204020204" charset="-122"/>
              </a:rPr>
              <a:t>等方</a:t>
            </a:r>
            <a:r>
              <a:rPr sz="1400" spc="-15" dirty="0">
                <a:latin typeface="微软雅黑" panose="020B0503020204020204" charset="-122"/>
                <a:ea typeface="微软雅黑" panose="020B0503020204020204" charset="-122"/>
                <a:cs typeface="微软雅黑" panose="020B0503020204020204" charset="-122"/>
              </a:rPr>
              <a:t>面</a:t>
            </a:r>
            <a:r>
              <a:rPr sz="1400" dirty="0">
                <a:latin typeface="微软雅黑" panose="020B0503020204020204" charset="-122"/>
                <a:ea typeface="微软雅黑" panose="020B0503020204020204" charset="-122"/>
                <a:cs typeface="微软雅黑" panose="020B0503020204020204" charset="-122"/>
              </a:rPr>
              <a:t>的规</a:t>
            </a:r>
            <a:r>
              <a:rPr sz="1400" spc="-15" dirty="0">
                <a:latin typeface="微软雅黑" panose="020B0503020204020204" charset="-122"/>
                <a:ea typeface="微软雅黑" panose="020B0503020204020204" charset="-122"/>
                <a:cs typeface="微软雅黑" panose="020B0503020204020204" charset="-122"/>
              </a:rPr>
              <a:t>模</a:t>
            </a:r>
            <a:r>
              <a:rPr sz="1400" dirty="0">
                <a:latin typeface="微软雅黑" panose="020B0503020204020204" charset="-122"/>
                <a:ea typeface="微软雅黑" panose="020B0503020204020204" charset="-122"/>
                <a:cs typeface="微软雅黑" panose="020B0503020204020204" charset="-122"/>
              </a:rPr>
              <a:t>经济</a:t>
            </a:r>
            <a:endParaRPr sz="1400">
              <a:latin typeface="微软雅黑" panose="020B0503020204020204" charset="-122"/>
              <a:ea typeface="微软雅黑" panose="020B0503020204020204" charset="-122"/>
              <a:cs typeface="微软雅黑" panose="020B0503020204020204" charset="-122"/>
            </a:endParaRPr>
          </a:p>
          <a:p>
            <a:pPr marL="297180" indent="-224790">
              <a:lnSpc>
                <a:spcPct val="100000"/>
              </a:lnSpc>
              <a:buClr>
                <a:srgbClr val="00295F"/>
              </a:buClr>
              <a:buSzPct val="125000"/>
              <a:buFont typeface="Arial" panose="020B0604020202020204"/>
              <a:buChar char="▪"/>
              <a:tabLst>
                <a:tab pos="297180" algn="l"/>
                <a:tab pos="297815" algn="l"/>
              </a:tabLst>
            </a:pPr>
            <a:r>
              <a:rPr sz="1400" dirty="0">
                <a:latin typeface="微软雅黑" panose="020B0503020204020204" charset="-122"/>
                <a:ea typeface="微软雅黑" panose="020B0503020204020204" charset="-122"/>
                <a:cs typeface="微软雅黑" panose="020B0503020204020204" charset="-122"/>
              </a:rPr>
              <a:t>最佳实践在组织内部的</a:t>
            </a:r>
            <a:r>
              <a:rPr sz="1400" spc="-15" dirty="0">
                <a:latin typeface="微软雅黑" panose="020B0503020204020204" charset="-122"/>
                <a:ea typeface="微软雅黑" panose="020B0503020204020204" charset="-122"/>
                <a:cs typeface="微软雅黑" panose="020B0503020204020204" charset="-122"/>
              </a:rPr>
              <a:t>系</a:t>
            </a:r>
            <a:r>
              <a:rPr sz="1400" dirty="0">
                <a:latin typeface="微软雅黑" panose="020B0503020204020204" charset="-122"/>
                <a:ea typeface="微软雅黑" panose="020B0503020204020204" charset="-122"/>
                <a:cs typeface="微软雅黑" panose="020B0503020204020204" charset="-122"/>
              </a:rPr>
              <a:t>统分享</a:t>
            </a:r>
            <a:endParaRPr sz="1400">
              <a:latin typeface="微软雅黑" panose="020B0503020204020204" charset="-122"/>
              <a:ea typeface="微软雅黑" panose="020B0503020204020204" charset="-122"/>
              <a:cs typeface="微软雅黑" panose="020B0503020204020204" charset="-122"/>
            </a:endParaRPr>
          </a:p>
        </p:txBody>
      </p:sp>
      <p:sp>
        <p:nvSpPr>
          <p:cNvPr id="7" name="object 7"/>
          <p:cNvSpPr txBox="1"/>
          <p:nvPr/>
        </p:nvSpPr>
        <p:spPr>
          <a:xfrm>
            <a:off x="4842888" y="3913176"/>
            <a:ext cx="3108662" cy="1244600"/>
          </a:xfrm>
          <a:prstGeom prst="rect">
            <a:avLst/>
          </a:prstGeom>
          <a:solidFill>
            <a:srgbClr val="C6DFFA"/>
          </a:solidFill>
          <a:ln w="9525">
            <a:solidFill>
              <a:srgbClr val="0066CC"/>
            </a:solidFill>
          </a:ln>
        </p:spPr>
        <p:txBody>
          <a:bodyPr vert="horz" wrap="square" lIns="0" tIns="168155" rIns="0" bIns="0" rtlCol="0">
            <a:spAutoFit/>
          </a:bodyPr>
          <a:lstStyle/>
          <a:p>
            <a:pPr marL="298450" indent="-224790">
              <a:lnSpc>
                <a:spcPct val="100000"/>
              </a:lnSpc>
              <a:spcBef>
                <a:spcPts val="1325"/>
              </a:spcBef>
              <a:buClr>
                <a:srgbClr val="00295F"/>
              </a:buClr>
              <a:buSzPct val="125000"/>
              <a:buFont typeface="Arial" panose="020B0604020202020204"/>
              <a:buChar char="▪"/>
              <a:tabLst>
                <a:tab pos="298450" algn="l"/>
                <a:tab pos="299085" algn="l"/>
              </a:tabLst>
            </a:pPr>
            <a:r>
              <a:rPr sz="1400" dirty="0">
                <a:latin typeface="微软雅黑" panose="020B0503020204020204" charset="-122"/>
                <a:ea typeface="微软雅黑" panose="020B0503020204020204" charset="-122"/>
                <a:cs typeface="微软雅黑" panose="020B0503020204020204" charset="-122"/>
              </a:rPr>
              <a:t>跨地域和业务线进行协调</a:t>
            </a:r>
            <a:endParaRPr sz="1400">
              <a:latin typeface="微软雅黑" panose="020B0503020204020204" charset="-122"/>
              <a:ea typeface="微软雅黑" panose="020B0503020204020204" charset="-122"/>
              <a:cs typeface="微软雅黑" panose="020B0503020204020204" charset="-122"/>
            </a:endParaRPr>
          </a:p>
          <a:p>
            <a:pPr marL="298450" marR="132715" indent="-224155">
              <a:lnSpc>
                <a:spcPct val="100000"/>
              </a:lnSpc>
              <a:buClr>
                <a:srgbClr val="00295F"/>
              </a:buClr>
              <a:buSzPct val="125000"/>
              <a:buFont typeface="Arial" panose="020B0604020202020204"/>
              <a:buChar char="▪"/>
              <a:tabLst>
                <a:tab pos="298450" algn="l"/>
                <a:tab pos="299085" algn="l"/>
              </a:tabLst>
            </a:pPr>
            <a:r>
              <a:rPr sz="1400" dirty="0">
                <a:latin typeface="微软雅黑" panose="020B0503020204020204" charset="-122"/>
                <a:ea typeface="微软雅黑" panose="020B0503020204020204" charset="-122"/>
                <a:cs typeface="微软雅黑" panose="020B0503020204020204" charset="-122"/>
              </a:rPr>
              <a:t>采用标准的客户方法、</a:t>
            </a:r>
            <a:r>
              <a:rPr sz="1400" spc="-15" dirty="0">
                <a:latin typeface="微软雅黑" panose="020B0503020204020204" charset="-122"/>
                <a:ea typeface="微软雅黑" panose="020B0503020204020204" charset="-122"/>
                <a:cs typeface="微软雅黑" panose="020B0503020204020204" charset="-122"/>
              </a:rPr>
              <a:t>工</a:t>
            </a:r>
            <a:r>
              <a:rPr sz="1400" dirty="0">
                <a:latin typeface="微软雅黑" panose="020B0503020204020204" charset="-122"/>
                <a:ea typeface="微软雅黑" panose="020B0503020204020204" charset="-122"/>
                <a:cs typeface="微软雅黑" panose="020B0503020204020204" charset="-122"/>
              </a:rPr>
              <a:t>具、</a:t>
            </a:r>
            <a:r>
              <a:rPr sz="1400" spc="-15" dirty="0">
                <a:latin typeface="微软雅黑" panose="020B0503020204020204" charset="-122"/>
                <a:ea typeface="微软雅黑" panose="020B0503020204020204" charset="-122"/>
                <a:cs typeface="微软雅黑" panose="020B0503020204020204" charset="-122"/>
              </a:rPr>
              <a:t>指</a:t>
            </a:r>
            <a:r>
              <a:rPr sz="1400" dirty="0">
                <a:latin typeface="微软雅黑" panose="020B0503020204020204" charset="-122"/>
                <a:ea typeface="微软雅黑" panose="020B0503020204020204" charset="-122"/>
                <a:cs typeface="微软雅黑" panose="020B0503020204020204" charset="-122"/>
              </a:rPr>
              <a:t>标 和术语</a:t>
            </a:r>
            <a:endParaRPr sz="1400">
              <a:latin typeface="微软雅黑" panose="020B0503020204020204" charset="-122"/>
              <a:ea typeface="微软雅黑" panose="020B0503020204020204" charset="-122"/>
              <a:cs typeface="微软雅黑" panose="020B0503020204020204" charset="-122"/>
            </a:endParaRPr>
          </a:p>
          <a:p>
            <a:pPr marL="298450" marR="132715" indent="-224155">
              <a:lnSpc>
                <a:spcPct val="100000"/>
              </a:lnSpc>
              <a:buClr>
                <a:srgbClr val="00295F"/>
              </a:buClr>
              <a:buSzPct val="125000"/>
              <a:buFont typeface="Arial" panose="020B0604020202020204"/>
              <a:buChar char="▪"/>
              <a:tabLst>
                <a:tab pos="298450" algn="l"/>
                <a:tab pos="299085" algn="l"/>
              </a:tabLst>
            </a:pPr>
            <a:r>
              <a:rPr sz="1400" dirty="0">
                <a:latin typeface="微软雅黑" panose="020B0503020204020204" charset="-122"/>
                <a:ea typeface="微软雅黑" panose="020B0503020204020204" charset="-122"/>
                <a:cs typeface="微软雅黑" panose="020B0503020204020204" charset="-122"/>
              </a:rPr>
              <a:t>根据各个细分客户的需</a:t>
            </a:r>
            <a:r>
              <a:rPr sz="1400" spc="-15" dirty="0">
                <a:latin typeface="微软雅黑" panose="020B0503020204020204" charset="-122"/>
                <a:ea typeface="微软雅黑" panose="020B0503020204020204" charset="-122"/>
                <a:cs typeface="微软雅黑" panose="020B0503020204020204" charset="-122"/>
              </a:rPr>
              <a:t>求</a:t>
            </a:r>
            <a:r>
              <a:rPr sz="1400" dirty="0">
                <a:latin typeface="微软雅黑" panose="020B0503020204020204" charset="-122"/>
                <a:ea typeface="微软雅黑" panose="020B0503020204020204" charset="-122"/>
                <a:cs typeface="微软雅黑" panose="020B0503020204020204" charset="-122"/>
              </a:rPr>
              <a:t>和潜</a:t>
            </a:r>
            <a:r>
              <a:rPr sz="1400" spc="-15" dirty="0">
                <a:latin typeface="微软雅黑" panose="020B0503020204020204" charset="-122"/>
                <a:ea typeface="微软雅黑" panose="020B0503020204020204" charset="-122"/>
                <a:cs typeface="微软雅黑" panose="020B0503020204020204" charset="-122"/>
              </a:rPr>
              <a:t>力</a:t>
            </a:r>
            <a:r>
              <a:rPr sz="1400" dirty="0">
                <a:latin typeface="微软雅黑" panose="020B0503020204020204" charset="-122"/>
                <a:ea typeface="微软雅黑" panose="020B0503020204020204" charset="-122"/>
                <a:cs typeface="微软雅黑" panose="020B0503020204020204" charset="-122"/>
              </a:rPr>
              <a:t>定 制解决方案</a:t>
            </a:r>
            <a:endParaRPr sz="1400">
              <a:latin typeface="微软雅黑" panose="020B0503020204020204" charset="-122"/>
              <a:ea typeface="微软雅黑" panose="020B0503020204020204" charset="-122"/>
              <a:cs typeface="微软雅黑" panose="020B0503020204020204" charset="-122"/>
            </a:endParaRPr>
          </a:p>
        </p:txBody>
      </p:sp>
      <p:sp>
        <p:nvSpPr>
          <p:cNvPr id="8" name="object 8"/>
          <p:cNvSpPr txBox="1"/>
          <p:nvPr/>
        </p:nvSpPr>
        <p:spPr>
          <a:xfrm>
            <a:off x="5561705" y="1115572"/>
            <a:ext cx="2618154" cy="848995"/>
          </a:xfrm>
          <a:prstGeom prst="rect">
            <a:avLst/>
          </a:prstGeom>
          <a:solidFill>
            <a:srgbClr val="C6DFFA"/>
          </a:solidFill>
          <a:ln w="9525">
            <a:solidFill>
              <a:srgbClr val="0066CC"/>
            </a:solidFill>
          </a:ln>
        </p:spPr>
        <p:txBody>
          <a:bodyPr vert="horz" wrap="square" lIns="0" tIns="203690" rIns="0" bIns="0" rtlCol="0">
            <a:spAutoFit/>
          </a:bodyPr>
          <a:lstStyle/>
          <a:p>
            <a:pPr marL="73025">
              <a:lnSpc>
                <a:spcPct val="100000"/>
              </a:lnSpc>
              <a:spcBef>
                <a:spcPts val="1605"/>
              </a:spcBef>
            </a:pPr>
            <a:r>
              <a:rPr sz="1400" dirty="0">
                <a:latin typeface="微软雅黑" panose="020B0503020204020204" charset="-122"/>
                <a:ea typeface="微软雅黑" panose="020B0503020204020204" charset="-122"/>
                <a:cs typeface="微软雅黑" panose="020B0503020204020204" charset="-122"/>
              </a:rPr>
              <a:t>用于衡量大客户的指标有</a:t>
            </a:r>
            <a:endParaRPr sz="1400">
              <a:latin typeface="微软雅黑" panose="020B0503020204020204" charset="-122"/>
              <a:ea typeface="微软雅黑" panose="020B0503020204020204" charset="-122"/>
              <a:cs typeface="微软雅黑" panose="020B0503020204020204" charset="-122"/>
            </a:endParaRPr>
          </a:p>
          <a:p>
            <a:pPr marL="298450" indent="-224790">
              <a:lnSpc>
                <a:spcPct val="100000"/>
              </a:lnSpc>
              <a:buClr>
                <a:srgbClr val="00295F"/>
              </a:buClr>
              <a:buSzPct val="125000"/>
              <a:buFont typeface="Arial" panose="020B0604020202020204"/>
              <a:buChar char="▪"/>
              <a:tabLst>
                <a:tab pos="298450" algn="l"/>
                <a:tab pos="299085" algn="l"/>
              </a:tabLst>
            </a:pPr>
            <a:r>
              <a:rPr sz="1400" dirty="0">
                <a:latin typeface="微软雅黑" panose="020B0503020204020204" charset="-122"/>
                <a:ea typeface="微软雅黑" panose="020B0503020204020204" charset="-122"/>
                <a:cs typeface="微软雅黑" panose="020B0503020204020204" charset="-122"/>
              </a:rPr>
              <a:t>销售额和利润</a:t>
            </a:r>
            <a:endParaRPr sz="1400">
              <a:latin typeface="微软雅黑" panose="020B0503020204020204" charset="-122"/>
              <a:ea typeface="微软雅黑" panose="020B0503020204020204" charset="-122"/>
              <a:cs typeface="微软雅黑" panose="020B0503020204020204" charset="-122"/>
            </a:endParaRPr>
          </a:p>
          <a:p>
            <a:pPr marL="298450" indent="-224790">
              <a:lnSpc>
                <a:spcPct val="100000"/>
              </a:lnSpc>
              <a:buClr>
                <a:srgbClr val="00295F"/>
              </a:buClr>
              <a:buSzPct val="125000"/>
              <a:buFont typeface="Arial" panose="020B0604020202020204"/>
              <a:buChar char="▪"/>
              <a:tabLst>
                <a:tab pos="298450" algn="l"/>
                <a:tab pos="299085" algn="l"/>
              </a:tabLst>
            </a:pPr>
            <a:r>
              <a:rPr sz="1400" dirty="0">
                <a:latin typeface="微软雅黑" panose="020B0503020204020204" charset="-122"/>
                <a:ea typeface="微软雅黑" panose="020B0503020204020204" charset="-122"/>
                <a:cs typeface="微软雅黑" panose="020B0503020204020204" charset="-122"/>
              </a:rPr>
              <a:t>战略意义</a:t>
            </a:r>
            <a:endParaRPr sz="1400">
              <a:latin typeface="微软雅黑" panose="020B0503020204020204" charset="-122"/>
              <a:ea typeface="微软雅黑" panose="020B0503020204020204" charset="-122"/>
              <a:cs typeface="微软雅黑" panose="020B0503020204020204" charset="-122"/>
            </a:endParaRPr>
          </a:p>
        </p:txBody>
      </p:sp>
      <p:sp>
        <p:nvSpPr>
          <p:cNvPr id="9" name="object 9"/>
          <p:cNvSpPr/>
          <p:nvPr/>
        </p:nvSpPr>
        <p:spPr>
          <a:xfrm>
            <a:off x="8373018" y="5510721"/>
            <a:ext cx="321717" cy="321717"/>
          </a:xfrm>
          <a:custGeom>
            <a:avLst/>
            <a:gdLst/>
            <a:ahLst/>
            <a:cxnLst/>
            <a:rect l="l" t="t" r="r" b="b"/>
            <a:pathLst>
              <a:path w="321945" h="321945">
                <a:moveTo>
                  <a:pt x="321564" y="0"/>
                </a:moveTo>
                <a:lnTo>
                  <a:pt x="0" y="321564"/>
                </a:lnTo>
                <a:lnTo>
                  <a:pt x="321564" y="321564"/>
                </a:lnTo>
                <a:lnTo>
                  <a:pt x="321564"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4488047" y="1640726"/>
            <a:ext cx="1071121" cy="949287"/>
          </a:xfrm>
          <a:custGeom>
            <a:avLst/>
            <a:gdLst/>
            <a:ahLst/>
            <a:cxnLst/>
            <a:rect l="l" t="t" r="r" b="b"/>
            <a:pathLst>
              <a:path w="1071879" h="949960">
                <a:moveTo>
                  <a:pt x="31750" y="874784"/>
                </a:moveTo>
                <a:lnTo>
                  <a:pt x="23252" y="876494"/>
                </a:lnTo>
                <a:lnTo>
                  <a:pt x="11144" y="884650"/>
                </a:lnTo>
                <a:lnTo>
                  <a:pt x="2988" y="896758"/>
                </a:lnTo>
                <a:lnTo>
                  <a:pt x="0" y="911606"/>
                </a:lnTo>
                <a:lnTo>
                  <a:pt x="2988" y="926453"/>
                </a:lnTo>
                <a:lnTo>
                  <a:pt x="11144" y="938561"/>
                </a:lnTo>
                <a:lnTo>
                  <a:pt x="23252" y="946717"/>
                </a:lnTo>
                <a:lnTo>
                  <a:pt x="38100" y="949706"/>
                </a:lnTo>
                <a:lnTo>
                  <a:pt x="52947" y="946717"/>
                </a:lnTo>
                <a:lnTo>
                  <a:pt x="65055" y="938561"/>
                </a:lnTo>
                <a:lnTo>
                  <a:pt x="73211" y="926453"/>
                </a:lnTo>
                <a:lnTo>
                  <a:pt x="76200" y="911606"/>
                </a:lnTo>
                <a:lnTo>
                  <a:pt x="31750" y="911606"/>
                </a:lnTo>
                <a:lnTo>
                  <a:pt x="31750" y="874784"/>
                </a:lnTo>
                <a:close/>
              </a:path>
              <a:path w="1071879" h="949960">
                <a:moveTo>
                  <a:pt x="38100" y="873506"/>
                </a:moveTo>
                <a:lnTo>
                  <a:pt x="31750" y="874784"/>
                </a:lnTo>
                <a:lnTo>
                  <a:pt x="31750" y="911606"/>
                </a:lnTo>
                <a:lnTo>
                  <a:pt x="44450" y="911606"/>
                </a:lnTo>
                <a:lnTo>
                  <a:pt x="44450" y="874784"/>
                </a:lnTo>
                <a:lnTo>
                  <a:pt x="38100" y="873506"/>
                </a:lnTo>
                <a:close/>
              </a:path>
              <a:path w="1071879" h="949960">
                <a:moveTo>
                  <a:pt x="44450" y="874784"/>
                </a:moveTo>
                <a:lnTo>
                  <a:pt x="44450" y="911606"/>
                </a:lnTo>
                <a:lnTo>
                  <a:pt x="76200" y="911606"/>
                </a:lnTo>
                <a:lnTo>
                  <a:pt x="73211" y="896758"/>
                </a:lnTo>
                <a:lnTo>
                  <a:pt x="65055" y="884650"/>
                </a:lnTo>
                <a:lnTo>
                  <a:pt x="52947" y="876494"/>
                </a:lnTo>
                <a:lnTo>
                  <a:pt x="44450" y="874784"/>
                </a:lnTo>
                <a:close/>
              </a:path>
              <a:path w="1071879" h="949960">
                <a:moveTo>
                  <a:pt x="1071372" y="0"/>
                </a:moveTo>
                <a:lnTo>
                  <a:pt x="34544" y="0"/>
                </a:lnTo>
                <a:lnTo>
                  <a:pt x="31750" y="2794"/>
                </a:lnTo>
                <a:lnTo>
                  <a:pt x="31750" y="874784"/>
                </a:lnTo>
                <a:lnTo>
                  <a:pt x="38100" y="873506"/>
                </a:lnTo>
                <a:lnTo>
                  <a:pt x="44450" y="873506"/>
                </a:lnTo>
                <a:lnTo>
                  <a:pt x="44450" y="12700"/>
                </a:lnTo>
                <a:lnTo>
                  <a:pt x="38100" y="12700"/>
                </a:lnTo>
                <a:lnTo>
                  <a:pt x="44450" y="6350"/>
                </a:lnTo>
                <a:lnTo>
                  <a:pt x="1071372" y="6350"/>
                </a:lnTo>
                <a:lnTo>
                  <a:pt x="1071372" y="0"/>
                </a:lnTo>
                <a:close/>
              </a:path>
              <a:path w="1071879" h="949960">
                <a:moveTo>
                  <a:pt x="44450" y="873506"/>
                </a:moveTo>
                <a:lnTo>
                  <a:pt x="38100" y="873506"/>
                </a:lnTo>
                <a:lnTo>
                  <a:pt x="44450" y="874784"/>
                </a:lnTo>
                <a:lnTo>
                  <a:pt x="44450" y="873506"/>
                </a:lnTo>
                <a:close/>
              </a:path>
              <a:path w="1071879" h="949960">
                <a:moveTo>
                  <a:pt x="44450" y="6350"/>
                </a:moveTo>
                <a:lnTo>
                  <a:pt x="38100" y="12700"/>
                </a:lnTo>
                <a:lnTo>
                  <a:pt x="44450" y="12700"/>
                </a:lnTo>
                <a:lnTo>
                  <a:pt x="44450" y="6350"/>
                </a:lnTo>
                <a:close/>
              </a:path>
              <a:path w="1071879" h="949960">
                <a:moveTo>
                  <a:pt x="1071372" y="6350"/>
                </a:moveTo>
                <a:lnTo>
                  <a:pt x="44450" y="6350"/>
                </a:lnTo>
                <a:lnTo>
                  <a:pt x="44450" y="12700"/>
                </a:lnTo>
                <a:lnTo>
                  <a:pt x="1071372" y="12700"/>
                </a:lnTo>
                <a:lnTo>
                  <a:pt x="1071372" y="635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1234835" y="2888251"/>
            <a:ext cx="1557186" cy="1008300"/>
          </a:xfrm>
          <a:custGeom>
            <a:avLst/>
            <a:gdLst/>
            <a:ahLst/>
            <a:cxnLst/>
            <a:rect l="l" t="t" r="r" b="b"/>
            <a:pathLst>
              <a:path w="1558289" h="1009014">
                <a:moveTo>
                  <a:pt x="1482860" y="31750"/>
                </a:moveTo>
                <a:lnTo>
                  <a:pt x="2844" y="31750"/>
                </a:lnTo>
                <a:lnTo>
                  <a:pt x="0" y="34544"/>
                </a:lnTo>
                <a:lnTo>
                  <a:pt x="0" y="1008888"/>
                </a:lnTo>
                <a:lnTo>
                  <a:pt x="12700" y="1008888"/>
                </a:lnTo>
                <a:lnTo>
                  <a:pt x="12700" y="44450"/>
                </a:lnTo>
                <a:lnTo>
                  <a:pt x="6350" y="44450"/>
                </a:lnTo>
                <a:lnTo>
                  <a:pt x="12700" y="38100"/>
                </a:lnTo>
                <a:lnTo>
                  <a:pt x="1481582" y="38100"/>
                </a:lnTo>
                <a:lnTo>
                  <a:pt x="1482860" y="31750"/>
                </a:lnTo>
                <a:close/>
              </a:path>
              <a:path w="1558289" h="1009014">
                <a:moveTo>
                  <a:pt x="1519682" y="0"/>
                </a:moveTo>
                <a:lnTo>
                  <a:pt x="1504834" y="2988"/>
                </a:lnTo>
                <a:lnTo>
                  <a:pt x="1492726" y="11144"/>
                </a:lnTo>
                <a:lnTo>
                  <a:pt x="1484570" y="23252"/>
                </a:lnTo>
                <a:lnTo>
                  <a:pt x="1481582" y="38100"/>
                </a:lnTo>
                <a:lnTo>
                  <a:pt x="1484570" y="52947"/>
                </a:lnTo>
                <a:lnTo>
                  <a:pt x="1492726" y="65055"/>
                </a:lnTo>
                <a:lnTo>
                  <a:pt x="1504834" y="73211"/>
                </a:lnTo>
                <a:lnTo>
                  <a:pt x="1519682" y="76200"/>
                </a:lnTo>
                <a:lnTo>
                  <a:pt x="1534529" y="73211"/>
                </a:lnTo>
                <a:lnTo>
                  <a:pt x="1546637" y="65055"/>
                </a:lnTo>
                <a:lnTo>
                  <a:pt x="1554793" y="52947"/>
                </a:lnTo>
                <a:lnTo>
                  <a:pt x="1556503" y="44450"/>
                </a:lnTo>
                <a:lnTo>
                  <a:pt x="1519682" y="44450"/>
                </a:lnTo>
                <a:lnTo>
                  <a:pt x="1519682" y="31750"/>
                </a:lnTo>
                <a:lnTo>
                  <a:pt x="1556503" y="31750"/>
                </a:lnTo>
                <a:lnTo>
                  <a:pt x="1554793" y="23252"/>
                </a:lnTo>
                <a:lnTo>
                  <a:pt x="1546637" y="11144"/>
                </a:lnTo>
                <a:lnTo>
                  <a:pt x="1534529" y="2988"/>
                </a:lnTo>
                <a:lnTo>
                  <a:pt x="1519682" y="0"/>
                </a:lnTo>
                <a:close/>
              </a:path>
              <a:path w="1558289" h="1009014">
                <a:moveTo>
                  <a:pt x="12700" y="38100"/>
                </a:moveTo>
                <a:lnTo>
                  <a:pt x="6350" y="44450"/>
                </a:lnTo>
                <a:lnTo>
                  <a:pt x="12700" y="44450"/>
                </a:lnTo>
                <a:lnTo>
                  <a:pt x="12700" y="38100"/>
                </a:lnTo>
                <a:close/>
              </a:path>
              <a:path w="1558289" h="1009014">
                <a:moveTo>
                  <a:pt x="1481582" y="38100"/>
                </a:moveTo>
                <a:lnTo>
                  <a:pt x="12700" y="38100"/>
                </a:lnTo>
                <a:lnTo>
                  <a:pt x="12700" y="44450"/>
                </a:lnTo>
                <a:lnTo>
                  <a:pt x="1482860" y="44450"/>
                </a:lnTo>
                <a:lnTo>
                  <a:pt x="1481582" y="38100"/>
                </a:lnTo>
                <a:close/>
              </a:path>
              <a:path w="1558289" h="1009014">
                <a:moveTo>
                  <a:pt x="1556503" y="31750"/>
                </a:moveTo>
                <a:lnTo>
                  <a:pt x="1519682" y="31750"/>
                </a:lnTo>
                <a:lnTo>
                  <a:pt x="1519682" y="44450"/>
                </a:lnTo>
                <a:lnTo>
                  <a:pt x="1556503" y="44450"/>
                </a:lnTo>
                <a:lnTo>
                  <a:pt x="1557782" y="38100"/>
                </a:lnTo>
                <a:lnTo>
                  <a:pt x="1556503" y="3175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119549" y="945766"/>
            <a:ext cx="8575947" cy="4887306"/>
          </a:xfrm>
          <a:custGeom>
            <a:avLst/>
            <a:gdLst/>
            <a:ahLst/>
            <a:cxnLst/>
            <a:rect l="l" t="t" r="r" b="b"/>
            <a:pathLst>
              <a:path w="8582025" h="4890770">
                <a:moveTo>
                  <a:pt x="0" y="4890516"/>
                </a:moveTo>
                <a:lnTo>
                  <a:pt x="8581644" y="4890516"/>
                </a:lnTo>
                <a:lnTo>
                  <a:pt x="8581644" y="0"/>
                </a:lnTo>
                <a:lnTo>
                  <a:pt x="0" y="0"/>
                </a:lnTo>
                <a:lnTo>
                  <a:pt x="0" y="4890516"/>
                </a:lnTo>
                <a:close/>
              </a:path>
            </a:pathLst>
          </a:custGeom>
          <a:ln w="28574">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txBox="1"/>
          <p:nvPr/>
        </p:nvSpPr>
        <p:spPr>
          <a:xfrm>
            <a:off x="106401" y="6412696"/>
            <a:ext cx="2191102"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35"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a:t>
            </a:r>
            <a:r>
              <a:rPr sz="1000" spc="-35"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营销和销售业务部</a:t>
            </a:r>
            <a:endParaRPr sz="10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64590" y="1772648"/>
            <a:ext cx="2818799" cy="3464771"/>
          </a:xfrm>
          <a:prstGeom prst="rect">
            <a:avLst/>
          </a:prstGeom>
          <a:blipFill>
            <a:blip r:embed="rId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 name="object 4"/>
          <p:cNvSpPr/>
          <p:nvPr/>
        </p:nvSpPr>
        <p:spPr>
          <a:xfrm>
            <a:off x="1285344" y="1892261"/>
            <a:ext cx="2416875" cy="3065638"/>
          </a:xfrm>
          <a:prstGeom prst="rect">
            <a:avLst/>
          </a:prstGeom>
          <a:blipFill>
            <a:blip r:embed="rId2"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p:nvPr/>
        </p:nvSpPr>
        <p:spPr>
          <a:xfrm>
            <a:off x="7453174" y="5026432"/>
            <a:ext cx="387076" cy="355348"/>
          </a:xfrm>
          <a:custGeom>
            <a:avLst/>
            <a:gdLst/>
            <a:ahLst/>
            <a:cxnLst/>
            <a:rect l="l" t="t" r="r" b="b"/>
            <a:pathLst>
              <a:path w="387350" h="355600">
                <a:moveTo>
                  <a:pt x="387096" y="0"/>
                </a:moveTo>
                <a:lnTo>
                  <a:pt x="0" y="355091"/>
                </a:lnTo>
                <a:lnTo>
                  <a:pt x="387096" y="355091"/>
                </a:lnTo>
                <a:lnTo>
                  <a:pt x="387096"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txBox="1"/>
          <p:nvPr/>
        </p:nvSpPr>
        <p:spPr>
          <a:xfrm>
            <a:off x="878205" y="1562735"/>
            <a:ext cx="6962775" cy="3815080"/>
          </a:xfrm>
          <a:prstGeom prst="rect">
            <a:avLst/>
          </a:prstGeom>
          <a:ln w="28575">
            <a:solidFill>
              <a:srgbClr val="91AFFF"/>
            </a:solidFill>
          </a:ln>
        </p:spPr>
        <p:txBody>
          <a:bodyPr vert="horz" wrap="square" lIns="0" tIns="0" rIns="0" bIns="0" rtlCol="0">
            <a:noAutofit/>
          </a:bodyPr>
          <a:lstStyle/>
          <a:p>
            <a:pPr>
              <a:lnSpc>
                <a:spcPct val="100000"/>
              </a:lnSpc>
            </a:pPr>
            <a:endParaRPr sz="2100">
              <a:latin typeface="微软雅黑" panose="020B0503020204020204" charset="-122"/>
              <a:ea typeface="微软雅黑" panose="020B0503020204020204" charset="-122"/>
              <a:cs typeface="微软雅黑" panose="020B0503020204020204" charset="-122"/>
            </a:endParaRPr>
          </a:p>
          <a:p>
            <a:pPr>
              <a:lnSpc>
                <a:spcPct val="100000"/>
              </a:lnSpc>
            </a:pPr>
            <a:endParaRPr sz="2100">
              <a:latin typeface="微软雅黑" panose="020B0503020204020204" charset="-122"/>
              <a:ea typeface="微软雅黑" panose="020B0503020204020204" charset="-122"/>
              <a:cs typeface="微软雅黑" panose="020B0503020204020204" charset="-122"/>
            </a:endParaRPr>
          </a:p>
          <a:p>
            <a:pPr>
              <a:lnSpc>
                <a:spcPct val="100000"/>
              </a:lnSpc>
            </a:pPr>
            <a:endParaRPr sz="2100">
              <a:latin typeface="微软雅黑" panose="020B0503020204020204" charset="-122"/>
              <a:ea typeface="微软雅黑" panose="020B0503020204020204" charset="-122"/>
              <a:cs typeface="微软雅黑" panose="020B0503020204020204" charset="-122"/>
            </a:endParaRPr>
          </a:p>
          <a:p>
            <a:pPr>
              <a:lnSpc>
                <a:spcPct val="100000"/>
              </a:lnSpc>
              <a:spcBef>
                <a:spcPts val="10"/>
              </a:spcBef>
            </a:pPr>
            <a:endParaRPr sz="2200">
              <a:latin typeface="微软雅黑" panose="020B0503020204020204" charset="-122"/>
              <a:ea typeface="微软雅黑" panose="020B0503020204020204" charset="-122"/>
              <a:cs typeface="微软雅黑" panose="020B0503020204020204" charset="-122"/>
            </a:endParaRPr>
          </a:p>
          <a:p>
            <a:pPr marL="530225" algn="ctr">
              <a:lnSpc>
                <a:spcPct val="100000"/>
              </a:lnSpc>
            </a:pPr>
            <a:r>
              <a:rPr sz="1600" b="1" dirty="0">
                <a:latin typeface="微软雅黑" panose="020B0503020204020204" charset="-122"/>
                <a:ea typeface="微软雅黑" panose="020B0503020204020204" charset="-122"/>
                <a:cs typeface="微软雅黑" panose="020B0503020204020204" charset="-122"/>
              </a:rPr>
              <a:t>大客户管理</a:t>
            </a:r>
            <a:endParaRPr sz="1600">
              <a:latin typeface="微软雅黑" panose="020B0503020204020204" charset="-122"/>
              <a:ea typeface="微软雅黑" panose="020B0503020204020204" charset="-122"/>
              <a:cs typeface="微软雅黑" panose="020B0503020204020204" charset="-122"/>
            </a:endParaRPr>
          </a:p>
          <a:p>
            <a:pPr>
              <a:lnSpc>
                <a:spcPct val="100000"/>
              </a:lnSpc>
              <a:spcBef>
                <a:spcPts val="55"/>
              </a:spcBef>
            </a:pPr>
            <a:endParaRPr sz="2200">
              <a:latin typeface="微软雅黑" panose="020B0503020204020204" charset="-122"/>
              <a:ea typeface="微软雅黑" panose="020B0503020204020204" charset="-122"/>
              <a:cs typeface="微软雅黑" panose="020B0503020204020204" charset="-122"/>
            </a:endParaRPr>
          </a:p>
          <a:p>
            <a:pPr marL="3238500" marR="467995" algn="just">
              <a:lnSpc>
                <a:spcPct val="100000"/>
              </a:lnSpc>
            </a:pPr>
            <a:r>
              <a:rPr sz="1600" spc="-5" dirty="0">
                <a:latin typeface="微软雅黑" panose="020B0503020204020204" charset="-122"/>
                <a:ea typeface="微软雅黑" panose="020B0503020204020204" charset="-122"/>
                <a:cs typeface="微软雅黑" panose="020B0503020204020204" charset="-122"/>
              </a:rPr>
              <a:t>大客户管理指的是以</a:t>
            </a:r>
            <a:r>
              <a:rPr sz="1600" b="1" dirty="0">
                <a:latin typeface="微软雅黑" panose="020B0503020204020204" charset="-122"/>
                <a:ea typeface="微软雅黑" panose="020B0503020204020204" charset="-122"/>
                <a:cs typeface="微软雅黑" panose="020B0503020204020204" charset="-122"/>
              </a:rPr>
              <a:t>主动的、系统的 </a:t>
            </a:r>
            <a:r>
              <a:rPr sz="1600" spc="-5" dirty="0">
                <a:latin typeface="微软雅黑" panose="020B0503020204020204" charset="-122"/>
                <a:ea typeface="微软雅黑" panose="020B0503020204020204" charset="-122"/>
                <a:cs typeface="微软雅黑" panose="020B0503020204020204" charset="-122"/>
              </a:rPr>
              <a:t>方式，为公司和大客户</a:t>
            </a:r>
            <a:r>
              <a:rPr sz="1600" b="1" spc="5" dirty="0">
                <a:latin typeface="微软雅黑" panose="020B0503020204020204" charset="-122"/>
                <a:ea typeface="微软雅黑" panose="020B0503020204020204" charset="-122"/>
                <a:cs typeface="微软雅黑" panose="020B0503020204020204" charset="-122"/>
              </a:rPr>
              <a:t>同时创造价值 </a:t>
            </a:r>
            <a:r>
              <a:rPr sz="1600" spc="-5" dirty="0">
                <a:latin typeface="微软雅黑" panose="020B0503020204020204" charset="-122"/>
                <a:ea typeface="微软雅黑" panose="020B0503020204020204" charset="-122"/>
                <a:cs typeface="微软雅黑" panose="020B0503020204020204" charset="-122"/>
              </a:rPr>
              <a:t>的过程</a:t>
            </a:r>
            <a:endParaRPr sz="1600">
              <a:latin typeface="微软雅黑" panose="020B0503020204020204" charset="-122"/>
              <a:ea typeface="微软雅黑" panose="020B0503020204020204" charset="-122"/>
              <a:cs typeface="微软雅黑" panose="020B0503020204020204" charset="-122"/>
            </a:endParaRPr>
          </a:p>
        </p:txBody>
      </p:sp>
      <p:sp>
        <p:nvSpPr>
          <p:cNvPr id="7" name="object 7"/>
          <p:cNvSpPr txBox="1"/>
          <p:nvPr/>
        </p:nvSpPr>
        <p:spPr>
          <a:xfrm>
            <a:off x="106401" y="6412696"/>
            <a:ext cx="2191102"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35"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a:t>
            </a:r>
            <a:r>
              <a:rPr sz="1000" spc="-35"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营销和销售业务部</a:t>
            </a:r>
            <a:endParaRPr sz="1000">
              <a:latin typeface="微软雅黑" panose="020B0503020204020204" charset="-122"/>
              <a:ea typeface="微软雅黑" panose="020B0503020204020204" charset="-122"/>
              <a:cs typeface="微软雅黑" panose="020B0503020204020204" charset="-122"/>
            </a:endParaRPr>
          </a:p>
        </p:txBody>
      </p:sp>
      <p:sp>
        <p:nvSpPr>
          <p:cNvPr id="8" name="object 8"/>
          <p:cNvSpPr txBox="1">
            <a:spLocks noGrp="1"/>
          </p:cNvSpPr>
          <p:nvPr>
            <p:ph type="title"/>
          </p:nvPr>
        </p:nvSpPr>
        <p:spPr>
          <a:xfrm>
            <a:off x="106401" y="203088"/>
            <a:ext cx="1956952"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大客户管理</a:t>
            </a:r>
            <a:r>
              <a:rPr spc="-10" dirty="0">
                <a:ea typeface="微软雅黑" panose="020B0503020204020204" charset="-122"/>
              </a:rPr>
              <a:t>的定义</a:t>
            </a:r>
            <a:endParaRPr spc="-10" dirty="0">
              <a:ea typeface="微软雅黑" panose="020B0503020204020204"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82749" y="1595292"/>
            <a:ext cx="3900581" cy="335043"/>
          </a:xfrm>
          <a:custGeom>
            <a:avLst/>
            <a:gdLst/>
            <a:ahLst/>
            <a:cxnLst/>
            <a:rect l="l" t="t" r="r" b="b"/>
            <a:pathLst>
              <a:path w="3903345" h="335280">
                <a:moveTo>
                  <a:pt x="0" y="335279"/>
                </a:moveTo>
                <a:lnTo>
                  <a:pt x="3902964" y="335279"/>
                </a:lnTo>
                <a:lnTo>
                  <a:pt x="3902964" y="0"/>
                </a:lnTo>
                <a:lnTo>
                  <a:pt x="0" y="0"/>
                </a:lnTo>
                <a:lnTo>
                  <a:pt x="0" y="33527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 name="object 4"/>
          <p:cNvSpPr/>
          <p:nvPr/>
        </p:nvSpPr>
        <p:spPr>
          <a:xfrm>
            <a:off x="182749" y="1595292"/>
            <a:ext cx="3900581" cy="335043"/>
          </a:xfrm>
          <a:custGeom>
            <a:avLst/>
            <a:gdLst/>
            <a:ahLst/>
            <a:cxnLst/>
            <a:rect l="l" t="t" r="r" b="b"/>
            <a:pathLst>
              <a:path w="3903345" h="335280">
                <a:moveTo>
                  <a:pt x="0" y="335279"/>
                </a:moveTo>
                <a:lnTo>
                  <a:pt x="3902964" y="335279"/>
                </a:lnTo>
                <a:lnTo>
                  <a:pt x="3902964" y="0"/>
                </a:lnTo>
                <a:lnTo>
                  <a:pt x="0" y="0"/>
                </a:lnTo>
                <a:lnTo>
                  <a:pt x="0" y="335279"/>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txBox="1"/>
          <p:nvPr/>
        </p:nvSpPr>
        <p:spPr>
          <a:xfrm>
            <a:off x="182749" y="1595292"/>
            <a:ext cx="3900581" cy="263525"/>
          </a:xfrm>
          <a:prstGeom prst="rect">
            <a:avLst/>
          </a:prstGeom>
          <a:solidFill>
            <a:srgbClr val="C6DFFA"/>
          </a:solidFill>
          <a:ln w="9525">
            <a:solidFill>
              <a:srgbClr val="000000"/>
            </a:solidFill>
          </a:ln>
        </p:spPr>
        <p:txBody>
          <a:bodyPr vert="horz" wrap="square" lIns="0" tIns="48860" rIns="0" bIns="0" rtlCol="0">
            <a:spAutoFit/>
          </a:bodyPr>
          <a:lstStyle/>
          <a:p>
            <a:pPr marL="71120">
              <a:lnSpc>
                <a:spcPct val="100000"/>
              </a:lnSpc>
              <a:spcBef>
                <a:spcPts val="385"/>
              </a:spcBef>
            </a:pPr>
            <a:r>
              <a:rPr sz="1400" b="1" spc="10" dirty="0">
                <a:latin typeface="微软雅黑" panose="020B0503020204020204" charset="-122"/>
                <a:ea typeface="微软雅黑" panose="020B0503020204020204" charset="-122"/>
                <a:cs typeface="微软雅黑" panose="020B0503020204020204" charset="-122"/>
              </a:rPr>
              <a:t>很少</a:t>
            </a:r>
            <a:r>
              <a:rPr sz="1400" b="1" dirty="0">
                <a:latin typeface="微软雅黑" panose="020B0503020204020204" charset="-122"/>
                <a:ea typeface="微软雅黑" panose="020B0503020204020204" charset="-122"/>
                <a:cs typeface="微软雅黑" panose="020B0503020204020204" charset="-122"/>
              </a:rPr>
              <a:t>几个</a:t>
            </a:r>
            <a:r>
              <a:rPr sz="1400" b="1" spc="-10" dirty="0">
                <a:latin typeface="微软雅黑" panose="020B0503020204020204" charset="-122"/>
                <a:ea typeface="微软雅黑" panose="020B0503020204020204" charset="-122"/>
                <a:cs typeface="微软雅黑" panose="020B0503020204020204" charset="-122"/>
              </a:rPr>
              <a:t>客</a:t>
            </a:r>
            <a:r>
              <a:rPr sz="1400" b="1" dirty="0">
                <a:latin typeface="微软雅黑" panose="020B0503020204020204" charset="-122"/>
                <a:ea typeface="微软雅黑" panose="020B0503020204020204" charset="-122"/>
                <a:cs typeface="微软雅黑" panose="020B0503020204020204" charset="-122"/>
              </a:rPr>
              <a:t>户成</a:t>
            </a:r>
            <a:r>
              <a:rPr sz="1400" b="1" spc="-10" dirty="0">
                <a:latin typeface="微软雅黑" panose="020B0503020204020204" charset="-122"/>
                <a:ea typeface="微软雅黑" panose="020B0503020204020204" charset="-122"/>
                <a:cs typeface="微软雅黑" panose="020B0503020204020204" charset="-122"/>
              </a:rPr>
              <a:t>为</a:t>
            </a:r>
            <a:r>
              <a:rPr sz="1400" b="1" dirty="0">
                <a:latin typeface="微软雅黑" panose="020B0503020204020204" charset="-122"/>
                <a:ea typeface="微软雅黑" panose="020B0503020204020204" charset="-122"/>
                <a:cs typeface="微软雅黑" panose="020B0503020204020204" charset="-122"/>
              </a:rPr>
              <a:t>公司</a:t>
            </a:r>
            <a:r>
              <a:rPr sz="1400" b="1" spc="-10" dirty="0">
                <a:latin typeface="微软雅黑" panose="020B0503020204020204" charset="-122"/>
                <a:ea typeface="微软雅黑" panose="020B0503020204020204" charset="-122"/>
                <a:cs typeface="微软雅黑" panose="020B0503020204020204" charset="-122"/>
              </a:rPr>
              <a:t>的</a:t>
            </a:r>
            <a:r>
              <a:rPr sz="1400" b="1" dirty="0">
                <a:latin typeface="微软雅黑" panose="020B0503020204020204" charset="-122"/>
                <a:ea typeface="微软雅黑" panose="020B0503020204020204" charset="-122"/>
                <a:cs typeface="微软雅黑" panose="020B0503020204020204" charset="-122"/>
              </a:rPr>
              <a:t>主要</a:t>
            </a:r>
            <a:r>
              <a:rPr sz="1400" b="1" spc="-10" dirty="0">
                <a:latin typeface="微软雅黑" panose="020B0503020204020204" charset="-122"/>
                <a:ea typeface="微软雅黑" panose="020B0503020204020204" charset="-122"/>
                <a:cs typeface="微软雅黑" panose="020B0503020204020204" charset="-122"/>
              </a:rPr>
              <a:t>贡</a:t>
            </a:r>
            <a:r>
              <a:rPr sz="1400" b="1" dirty="0">
                <a:latin typeface="微软雅黑" panose="020B0503020204020204" charset="-122"/>
                <a:ea typeface="微软雅黑" panose="020B0503020204020204" charset="-122"/>
                <a:cs typeface="微软雅黑" panose="020B0503020204020204" charset="-122"/>
              </a:rPr>
              <a:t>献</a:t>
            </a:r>
            <a:r>
              <a:rPr sz="1400" b="1" spc="330" dirty="0">
                <a:latin typeface="微软雅黑" panose="020B0503020204020204" charset="-122"/>
                <a:ea typeface="微软雅黑" panose="020B0503020204020204" charset="-122"/>
                <a:cs typeface="微软雅黑" panose="020B0503020204020204" charset="-122"/>
              </a:rPr>
              <a:t>者</a:t>
            </a:r>
            <a:r>
              <a:rPr sz="1400" b="1" spc="5" dirty="0">
                <a:latin typeface="微软雅黑" panose="020B0503020204020204" charset="-122"/>
                <a:ea typeface="微软雅黑" panose="020B0503020204020204" charset="-122"/>
                <a:cs typeface="微软雅黑" panose="020B0503020204020204" charset="-122"/>
              </a:rPr>
              <a:t>...</a:t>
            </a:r>
            <a:endParaRPr sz="1400">
              <a:latin typeface="微软雅黑" panose="020B0503020204020204" charset="-122"/>
              <a:ea typeface="微软雅黑" panose="020B0503020204020204" charset="-122"/>
              <a:cs typeface="微软雅黑" panose="020B0503020204020204" charset="-122"/>
            </a:endParaRPr>
          </a:p>
        </p:txBody>
      </p:sp>
      <p:sp>
        <p:nvSpPr>
          <p:cNvPr id="6" name="object 6"/>
          <p:cNvSpPr txBox="1">
            <a:spLocks noGrp="1"/>
          </p:cNvSpPr>
          <p:nvPr>
            <p:ph type="title"/>
          </p:nvPr>
        </p:nvSpPr>
        <p:spPr>
          <a:xfrm>
            <a:off x="106401" y="203088"/>
            <a:ext cx="4128384" cy="303530"/>
          </a:xfrm>
          <a:prstGeom prst="rect">
            <a:avLst/>
          </a:prstGeom>
        </p:spPr>
        <p:txBody>
          <a:bodyPr vert="horz" wrap="square" lIns="0" tIns="12056" rIns="0" bIns="0" rtlCol="0">
            <a:spAutoFit/>
          </a:bodyPr>
          <a:lstStyle/>
          <a:p>
            <a:pPr marL="12700">
              <a:lnSpc>
                <a:spcPct val="100000"/>
              </a:lnSpc>
              <a:spcBef>
                <a:spcPts val="95"/>
              </a:spcBef>
            </a:pPr>
            <a:r>
              <a:rPr dirty="0">
                <a:ea typeface="微软雅黑" panose="020B0503020204020204" charset="-122"/>
              </a:rPr>
              <a:t>大客户在</a:t>
            </a:r>
            <a:r>
              <a:rPr spc="-5" dirty="0">
                <a:ea typeface="微软雅黑" panose="020B0503020204020204" charset="-122"/>
              </a:rPr>
              <a:t>B2B公司中</a:t>
            </a:r>
            <a:r>
              <a:rPr spc="-10" dirty="0">
                <a:ea typeface="微软雅黑" panose="020B0503020204020204" charset="-122"/>
              </a:rPr>
              <a:t>的</a:t>
            </a:r>
            <a:r>
              <a:rPr spc="-5" dirty="0">
                <a:ea typeface="微软雅黑" panose="020B0503020204020204" charset="-122"/>
              </a:rPr>
              <a:t>地</a:t>
            </a:r>
            <a:r>
              <a:rPr spc="-10" dirty="0">
                <a:ea typeface="微软雅黑" panose="020B0503020204020204" charset="-122"/>
              </a:rPr>
              <a:t>位越</a:t>
            </a:r>
            <a:r>
              <a:rPr spc="-5" dirty="0">
                <a:ea typeface="微软雅黑" panose="020B0503020204020204" charset="-122"/>
              </a:rPr>
              <a:t>来</a:t>
            </a:r>
            <a:r>
              <a:rPr spc="-10" dirty="0">
                <a:ea typeface="微软雅黑" panose="020B0503020204020204" charset="-122"/>
              </a:rPr>
              <a:t>越重要</a:t>
            </a:r>
            <a:endParaRPr spc="-10" dirty="0">
              <a:ea typeface="微软雅黑" panose="020B0503020204020204" charset="-122"/>
            </a:endParaRPr>
          </a:p>
        </p:txBody>
      </p:sp>
      <p:sp>
        <p:nvSpPr>
          <p:cNvPr id="7" name="object 7"/>
          <p:cNvSpPr/>
          <p:nvPr/>
        </p:nvSpPr>
        <p:spPr>
          <a:xfrm>
            <a:off x="932641" y="2886315"/>
            <a:ext cx="0" cy="1637774"/>
          </a:xfrm>
          <a:custGeom>
            <a:avLst/>
            <a:gdLst/>
            <a:ahLst/>
            <a:cxnLst/>
            <a:rect l="l" t="t" r="r" b="b"/>
            <a:pathLst>
              <a:path h="1638935">
                <a:moveTo>
                  <a:pt x="0" y="0"/>
                </a:moveTo>
                <a:lnTo>
                  <a:pt x="0" y="1638411"/>
                </a:lnTo>
              </a:path>
            </a:pathLst>
          </a:custGeom>
          <a:ln w="9491">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932641" y="4528302"/>
            <a:ext cx="47591" cy="9518"/>
          </a:xfrm>
          <a:custGeom>
            <a:avLst/>
            <a:gdLst/>
            <a:ahLst/>
            <a:cxnLst/>
            <a:rect l="l" t="t" r="r" b="b"/>
            <a:pathLst>
              <a:path w="47625" h="9525">
                <a:moveTo>
                  <a:pt x="0" y="9477"/>
                </a:moveTo>
                <a:lnTo>
                  <a:pt x="47456" y="9477"/>
                </a:lnTo>
                <a:lnTo>
                  <a:pt x="47456" y="0"/>
                </a:lnTo>
                <a:lnTo>
                  <a:pt x="0" y="0"/>
                </a:lnTo>
                <a:lnTo>
                  <a:pt x="0" y="9477"/>
                </a:lnTo>
                <a:close/>
              </a:path>
            </a:pathLst>
          </a:custGeom>
          <a:solidFill>
            <a:srgbClr val="00000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932641" y="3976136"/>
            <a:ext cx="47591" cy="9518"/>
          </a:xfrm>
          <a:custGeom>
            <a:avLst/>
            <a:gdLst/>
            <a:ahLst/>
            <a:cxnLst/>
            <a:rect l="l" t="t" r="r" b="b"/>
            <a:pathLst>
              <a:path w="47625" h="9525">
                <a:moveTo>
                  <a:pt x="0" y="9477"/>
                </a:moveTo>
                <a:lnTo>
                  <a:pt x="47456" y="9477"/>
                </a:lnTo>
                <a:lnTo>
                  <a:pt x="47456" y="0"/>
                </a:lnTo>
                <a:lnTo>
                  <a:pt x="0" y="0"/>
                </a:lnTo>
                <a:lnTo>
                  <a:pt x="0" y="9477"/>
                </a:lnTo>
                <a:close/>
              </a:path>
            </a:pathLst>
          </a:custGeom>
          <a:solidFill>
            <a:srgbClr val="00000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932641" y="3433442"/>
            <a:ext cx="47591" cy="9518"/>
          </a:xfrm>
          <a:custGeom>
            <a:avLst/>
            <a:gdLst/>
            <a:ahLst/>
            <a:cxnLst/>
            <a:rect l="l" t="t" r="r" b="b"/>
            <a:pathLst>
              <a:path w="47625" h="9525">
                <a:moveTo>
                  <a:pt x="0" y="9477"/>
                </a:moveTo>
                <a:lnTo>
                  <a:pt x="47456" y="9477"/>
                </a:lnTo>
                <a:lnTo>
                  <a:pt x="47456" y="0"/>
                </a:lnTo>
                <a:lnTo>
                  <a:pt x="0" y="0"/>
                </a:lnTo>
                <a:lnTo>
                  <a:pt x="0" y="9477"/>
                </a:lnTo>
                <a:close/>
              </a:path>
            </a:pathLst>
          </a:custGeom>
          <a:solidFill>
            <a:srgbClr val="00000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932641" y="2881579"/>
            <a:ext cx="47591" cy="9518"/>
          </a:xfrm>
          <a:custGeom>
            <a:avLst/>
            <a:gdLst/>
            <a:ahLst/>
            <a:cxnLst/>
            <a:rect l="l" t="t" r="r" b="b"/>
            <a:pathLst>
              <a:path w="47625" h="9525">
                <a:moveTo>
                  <a:pt x="0" y="9477"/>
                </a:moveTo>
                <a:lnTo>
                  <a:pt x="47456" y="9477"/>
                </a:lnTo>
                <a:lnTo>
                  <a:pt x="47456" y="0"/>
                </a:lnTo>
                <a:lnTo>
                  <a:pt x="0" y="0"/>
                </a:lnTo>
                <a:lnTo>
                  <a:pt x="0" y="9477"/>
                </a:lnTo>
                <a:close/>
              </a:path>
            </a:pathLst>
          </a:custGeom>
          <a:solidFill>
            <a:srgbClr val="00000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932641" y="4533038"/>
            <a:ext cx="105970" cy="0"/>
          </a:xfrm>
          <a:custGeom>
            <a:avLst/>
            <a:gdLst/>
            <a:ahLst/>
            <a:cxnLst/>
            <a:rect l="l" t="t" r="r" b="b"/>
            <a:pathLst>
              <a:path w="106044">
                <a:moveTo>
                  <a:pt x="0" y="0"/>
                </a:moveTo>
                <a:lnTo>
                  <a:pt x="105549" y="0"/>
                </a:lnTo>
              </a:path>
            </a:pathLst>
          </a:custGeom>
          <a:ln w="9477">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927898" y="3090891"/>
            <a:ext cx="2531221" cy="1342074"/>
          </a:xfrm>
          <a:custGeom>
            <a:avLst/>
            <a:gdLst/>
            <a:ahLst/>
            <a:cxnLst/>
            <a:rect l="l" t="t" r="r" b="b"/>
            <a:pathLst>
              <a:path w="2533015" h="1343025">
                <a:moveTo>
                  <a:pt x="0" y="1343019"/>
                </a:moveTo>
                <a:lnTo>
                  <a:pt x="9491" y="1295314"/>
                </a:lnTo>
                <a:lnTo>
                  <a:pt x="18982" y="1247925"/>
                </a:lnTo>
                <a:lnTo>
                  <a:pt x="18982" y="1209698"/>
                </a:lnTo>
                <a:lnTo>
                  <a:pt x="28473" y="1161993"/>
                </a:lnTo>
                <a:lnTo>
                  <a:pt x="37965" y="1124081"/>
                </a:lnTo>
                <a:lnTo>
                  <a:pt x="47456" y="1085854"/>
                </a:lnTo>
                <a:lnTo>
                  <a:pt x="47456" y="1057421"/>
                </a:lnTo>
                <a:lnTo>
                  <a:pt x="56947" y="1028671"/>
                </a:lnTo>
                <a:lnTo>
                  <a:pt x="66439" y="1009716"/>
                </a:lnTo>
                <a:lnTo>
                  <a:pt x="75930" y="980966"/>
                </a:lnTo>
                <a:lnTo>
                  <a:pt x="85421" y="952533"/>
                </a:lnTo>
                <a:lnTo>
                  <a:pt x="85421" y="933577"/>
                </a:lnTo>
                <a:lnTo>
                  <a:pt x="94913" y="914306"/>
                </a:lnTo>
                <a:lnTo>
                  <a:pt x="104720" y="895350"/>
                </a:lnTo>
                <a:lnTo>
                  <a:pt x="114212" y="876394"/>
                </a:lnTo>
                <a:lnTo>
                  <a:pt x="123703" y="857123"/>
                </a:lnTo>
                <a:lnTo>
                  <a:pt x="123703" y="838167"/>
                </a:lnTo>
                <a:lnTo>
                  <a:pt x="133194" y="828689"/>
                </a:lnTo>
                <a:lnTo>
                  <a:pt x="142685" y="809734"/>
                </a:lnTo>
                <a:lnTo>
                  <a:pt x="152177" y="790462"/>
                </a:lnTo>
                <a:lnTo>
                  <a:pt x="152177" y="780984"/>
                </a:lnTo>
                <a:lnTo>
                  <a:pt x="161668" y="771506"/>
                </a:lnTo>
                <a:lnTo>
                  <a:pt x="171159" y="752551"/>
                </a:lnTo>
                <a:lnTo>
                  <a:pt x="180651" y="743073"/>
                </a:lnTo>
                <a:lnTo>
                  <a:pt x="190142" y="733595"/>
                </a:lnTo>
                <a:lnTo>
                  <a:pt x="190142" y="714324"/>
                </a:lnTo>
                <a:lnTo>
                  <a:pt x="199633" y="704846"/>
                </a:lnTo>
                <a:lnTo>
                  <a:pt x="209441" y="695368"/>
                </a:lnTo>
                <a:lnTo>
                  <a:pt x="218932" y="685890"/>
                </a:lnTo>
                <a:lnTo>
                  <a:pt x="218932" y="676412"/>
                </a:lnTo>
                <a:lnTo>
                  <a:pt x="228424" y="666619"/>
                </a:lnTo>
                <a:lnTo>
                  <a:pt x="237915" y="657141"/>
                </a:lnTo>
                <a:lnTo>
                  <a:pt x="247406" y="647663"/>
                </a:lnTo>
                <a:lnTo>
                  <a:pt x="256897" y="638185"/>
                </a:lnTo>
                <a:lnTo>
                  <a:pt x="256897" y="628707"/>
                </a:lnTo>
                <a:lnTo>
                  <a:pt x="266389" y="619229"/>
                </a:lnTo>
                <a:lnTo>
                  <a:pt x="275880" y="609752"/>
                </a:lnTo>
                <a:lnTo>
                  <a:pt x="285371" y="599958"/>
                </a:lnTo>
                <a:lnTo>
                  <a:pt x="294863" y="590480"/>
                </a:lnTo>
                <a:lnTo>
                  <a:pt x="294863" y="581002"/>
                </a:lnTo>
                <a:lnTo>
                  <a:pt x="304354" y="571524"/>
                </a:lnTo>
                <a:lnTo>
                  <a:pt x="314162" y="562047"/>
                </a:lnTo>
                <a:lnTo>
                  <a:pt x="323653" y="552569"/>
                </a:lnTo>
                <a:lnTo>
                  <a:pt x="333144" y="542775"/>
                </a:lnTo>
                <a:lnTo>
                  <a:pt x="342636" y="533297"/>
                </a:lnTo>
                <a:lnTo>
                  <a:pt x="352127" y="523819"/>
                </a:lnTo>
                <a:lnTo>
                  <a:pt x="361618" y="523819"/>
                </a:lnTo>
                <a:lnTo>
                  <a:pt x="361618" y="514342"/>
                </a:lnTo>
                <a:lnTo>
                  <a:pt x="371109" y="504864"/>
                </a:lnTo>
                <a:lnTo>
                  <a:pt x="380601" y="504864"/>
                </a:lnTo>
                <a:lnTo>
                  <a:pt x="390092" y="495386"/>
                </a:lnTo>
                <a:lnTo>
                  <a:pt x="390092" y="485908"/>
                </a:lnTo>
                <a:lnTo>
                  <a:pt x="399583" y="485908"/>
                </a:lnTo>
                <a:lnTo>
                  <a:pt x="409075" y="476114"/>
                </a:lnTo>
                <a:lnTo>
                  <a:pt x="418566" y="476114"/>
                </a:lnTo>
                <a:lnTo>
                  <a:pt x="428374" y="466637"/>
                </a:lnTo>
                <a:lnTo>
                  <a:pt x="428374" y="457159"/>
                </a:lnTo>
                <a:lnTo>
                  <a:pt x="437865" y="457159"/>
                </a:lnTo>
                <a:lnTo>
                  <a:pt x="447356" y="447681"/>
                </a:lnTo>
                <a:lnTo>
                  <a:pt x="456848" y="447681"/>
                </a:lnTo>
                <a:lnTo>
                  <a:pt x="466339" y="438203"/>
                </a:lnTo>
                <a:lnTo>
                  <a:pt x="475830" y="428725"/>
                </a:lnTo>
                <a:lnTo>
                  <a:pt x="485321" y="428725"/>
                </a:lnTo>
                <a:lnTo>
                  <a:pt x="494813" y="419248"/>
                </a:lnTo>
                <a:lnTo>
                  <a:pt x="504304" y="409454"/>
                </a:lnTo>
                <a:lnTo>
                  <a:pt x="513795" y="399976"/>
                </a:lnTo>
                <a:lnTo>
                  <a:pt x="523287" y="399976"/>
                </a:lnTo>
                <a:lnTo>
                  <a:pt x="533094" y="390498"/>
                </a:lnTo>
                <a:lnTo>
                  <a:pt x="542586" y="381020"/>
                </a:lnTo>
                <a:lnTo>
                  <a:pt x="552077" y="381020"/>
                </a:lnTo>
                <a:lnTo>
                  <a:pt x="561568" y="371543"/>
                </a:lnTo>
                <a:lnTo>
                  <a:pt x="571060" y="371543"/>
                </a:lnTo>
                <a:lnTo>
                  <a:pt x="580551" y="362065"/>
                </a:lnTo>
                <a:lnTo>
                  <a:pt x="590042" y="362065"/>
                </a:lnTo>
                <a:lnTo>
                  <a:pt x="599534" y="352271"/>
                </a:lnTo>
                <a:lnTo>
                  <a:pt x="609025" y="342793"/>
                </a:lnTo>
                <a:lnTo>
                  <a:pt x="618516" y="342793"/>
                </a:lnTo>
                <a:lnTo>
                  <a:pt x="628007" y="333366"/>
                </a:lnTo>
                <a:lnTo>
                  <a:pt x="637815" y="333366"/>
                </a:lnTo>
                <a:lnTo>
                  <a:pt x="647306" y="323888"/>
                </a:lnTo>
                <a:lnTo>
                  <a:pt x="656798" y="323888"/>
                </a:lnTo>
                <a:lnTo>
                  <a:pt x="666289" y="314410"/>
                </a:lnTo>
                <a:lnTo>
                  <a:pt x="675780" y="314410"/>
                </a:lnTo>
                <a:lnTo>
                  <a:pt x="685272" y="304932"/>
                </a:lnTo>
                <a:lnTo>
                  <a:pt x="694763" y="304932"/>
                </a:lnTo>
                <a:lnTo>
                  <a:pt x="704254" y="295455"/>
                </a:lnTo>
                <a:lnTo>
                  <a:pt x="713746" y="295455"/>
                </a:lnTo>
                <a:lnTo>
                  <a:pt x="723237" y="285598"/>
                </a:lnTo>
                <a:lnTo>
                  <a:pt x="732728" y="285598"/>
                </a:lnTo>
                <a:lnTo>
                  <a:pt x="742536" y="276120"/>
                </a:lnTo>
                <a:lnTo>
                  <a:pt x="752027" y="276120"/>
                </a:lnTo>
                <a:lnTo>
                  <a:pt x="761518" y="276120"/>
                </a:lnTo>
                <a:lnTo>
                  <a:pt x="771010" y="266642"/>
                </a:lnTo>
                <a:lnTo>
                  <a:pt x="780501" y="266642"/>
                </a:lnTo>
                <a:lnTo>
                  <a:pt x="789992" y="257164"/>
                </a:lnTo>
                <a:lnTo>
                  <a:pt x="799484" y="257164"/>
                </a:lnTo>
                <a:lnTo>
                  <a:pt x="808975" y="247686"/>
                </a:lnTo>
                <a:lnTo>
                  <a:pt x="818466" y="247686"/>
                </a:lnTo>
                <a:lnTo>
                  <a:pt x="827958" y="247686"/>
                </a:lnTo>
                <a:lnTo>
                  <a:pt x="837449" y="247686"/>
                </a:lnTo>
                <a:lnTo>
                  <a:pt x="837449" y="238209"/>
                </a:lnTo>
                <a:lnTo>
                  <a:pt x="847257" y="238209"/>
                </a:lnTo>
                <a:lnTo>
                  <a:pt x="856748" y="238209"/>
                </a:lnTo>
                <a:lnTo>
                  <a:pt x="866239" y="228731"/>
                </a:lnTo>
                <a:lnTo>
                  <a:pt x="875730" y="228731"/>
                </a:lnTo>
                <a:lnTo>
                  <a:pt x="885222" y="228731"/>
                </a:lnTo>
                <a:lnTo>
                  <a:pt x="894713" y="219000"/>
                </a:lnTo>
                <a:lnTo>
                  <a:pt x="904204" y="219000"/>
                </a:lnTo>
                <a:lnTo>
                  <a:pt x="913696" y="219000"/>
                </a:lnTo>
                <a:lnTo>
                  <a:pt x="923187" y="209522"/>
                </a:lnTo>
                <a:lnTo>
                  <a:pt x="932678" y="209522"/>
                </a:lnTo>
                <a:lnTo>
                  <a:pt x="942170" y="209522"/>
                </a:lnTo>
                <a:lnTo>
                  <a:pt x="951977" y="200045"/>
                </a:lnTo>
                <a:lnTo>
                  <a:pt x="961469" y="200045"/>
                </a:lnTo>
                <a:lnTo>
                  <a:pt x="970960" y="200045"/>
                </a:lnTo>
                <a:lnTo>
                  <a:pt x="970960" y="190567"/>
                </a:lnTo>
                <a:lnTo>
                  <a:pt x="980451" y="190567"/>
                </a:lnTo>
                <a:lnTo>
                  <a:pt x="989942" y="190567"/>
                </a:lnTo>
                <a:lnTo>
                  <a:pt x="999434" y="190567"/>
                </a:lnTo>
                <a:lnTo>
                  <a:pt x="1008925" y="181089"/>
                </a:lnTo>
                <a:lnTo>
                  <a:pt x="1018416" y="181089"/>
                </a:lnTo>
                <a:lnTo>
                  <a:pt x="1027908" y="181089"/>
                </a:lnTo>
                <a:lnTo>
                  <a:pt x="1037399" y="181089"/>
                </a:lnTo>
                <a:lnTo>
                  <a:pt x="1046890" y="171611"/>
                </a:lnTo>
                <a:lnTo>
                  <a:pt x="1056382" y="171611"/>
                </a:lnTo>
                <a:lnTo>
                  <a:pt x="1066189" y="171611"/>
                </a:lnTo>
                <a:lnTo>
                  <a:pt x="1075681" y="161754"/>
                </a:lnTo>
                <a:lnTo>
                  <a:pt x="1085172" y="161754"/>
                </a:lnTo>
                <a:lnTo>
                  <a:pt x="1094663" y="161754"/>
                </a:lnTo>
                <a:lnTo>
                  <a:pt x="1104155" y="161754"/>
                </a:lnTo>
                <a:lnTo>
                  <a:pt x="1113646" y="152276"/>
                </a:lnTo>
                <a:lnTo>
                  <a:pt x="1123137" y="152276"/>
                </a:lnTo>
                <a:lnTo>
                  <a:pt x="1132628" y="152276"/>
                </a:lnTo>
                <a:lnTo>
                  <a:pt x="1142120" y="152276"/>
                </a:lnTo>
                <a:lnTo>
                  <a:pt x="1142120" y="142799"/>
                </a:lnTo>
                <a:lnTo>
                  <a:pt x="1151611" y="142799"/>
                </a:lnTo>
                <a:lnTo>
                  <a:pt x="1161102" y="142799"/>
                </a:lnTo>
                <a:lnTo>
                  <a:pt x="1170973" y="142799"/>
                </a:lnTo>
                <a:lnTo>
                  <a:pt x="1180465" y="142799"/>
                </a:lnTo>
                <a:lnTo>
                  <a:pt x="1189956" y="133321"/>
                </a:lnTo>
                <a:lnTo>
                  <a:pt x="1199447" y="133321"/>
                </a:lnTo>
                <a:lnTo>
                  <a:pt x="1208939" y="133321"/>
                </a:lnTo>
                <a:lnTo>
                  <a:pt x="1218430" y="133321"/>
                </a:lnTo>
                <a:lnTo>
                  <a:pt x="1227921" y="133321"/>
                </a:lnTo>
                <a:lnTo>
                  <a:pt x="1237412" y="123843"/>
                </a:lnTo>
                <a:lnTo>
                  <a:pt x="1246904" y="123843"/>
                </a:lnTo>
                <a:lnTo>
                  <a:pt x="1256395" y="123843"/>
                </a:lnTo>
                <a:lnTo>
                  <a:pt x="1265886" y="123843"/>
                </a:lnTo>
                <a:lnTo>
                  <a:pt x="1275631" y="123843"/>
                </a:lnTo>
                <a:lnTo>
                  <a:pt x="1285122" y="114365"/>
                </a:lnTo>
                <a:lnTo>
                  <a:pt x="1294613" y="114365"/>
                </a:lnTo>
                <a:lnTo>
                  <a:pt x="1304105" y="114365"/>
                </a:lnTo>
                <a:lnTo>
                  <a:pt x="1313596" y="114365"/>
                </a:lnTo>
                <a:lnTo>
                  <a:pt x="1323087" y="114365"/>
                </a:lnTo>
                <a:lnTo>
                  <a:pt x="1332579" y="104887"/>
                </a:lnTo>
                <a:lnTo>
                  <a:pt x="1342070" y="104887"/>
                </a:lnTo>
                <a:lnTo>
                  <a:pt x="1351561" y="104887"/>
                </a:lnTo>
                <a:lnTo>
                  <a:pt x="1361052" y="104887"/>
                </a:lnTo>
                <a:lnTo>
                  <a:pt x="1370544" y="104887"/>
                </a:lnTo>
                <a:lnTo>
                  <a:pt x="1380288" y="95157"/>
                </a:lnTo>
                <a:lnTo>
                  <a:pt x="1389780" y="95157"/>
                </a:lnTo>
                <a:lnTo>
                  <a:pt x="1399271" y="95157"/>
                </a:lnTo>
                <a:lnTo>
                  <a:pt x="1408762" y="95157"/>
                </a:lnTo>
                <a:lnTo>
                  <a:pt x="1418253" y="95157"/>
                </a:lnTo>
                <a:lnTo>
                  <a:pt x="1427745" y="85679"/>
                </a:lnTo>
                <a:lnTo>
                  <a:pt x="1437236" y="85679"/>
                </a:lnTo>
                <a:lnTo>
                  <a:pt x="1446727" y="85679"/>
                </a:lnTo>
                <a:lnTo>
                  <a:pt x="1456219" y="85679"/>
                </a:lnTo>
                <a:lnTo>
                  <a:pt x="1465836" y="85679"/>
                </a:lnTo>
                <a:lnTo>
                  <a:pt x="1475328" y="85679"/>
                </a:lnTo>
                <a:lnTo>
                  <a:pt x="1485072" y="85679"/>
                </a:lnTo>
                <a:lnTo>
                  <a:pt x="1485072" y="76201"/>
                </a:lnTo>
                <a:lnTo>
                  <a:pt x="1494564" y="76201"/>
                </a:lnTo>
                <a:lnTo>
                  <a:pt x="1504055" y="76201"/>
                </a:lnTo>
                <a:lnTo>
                  <a:pt x="1513546" y="76201"/>
                </a:lnTo>
                <a:lnTo>
                  <a:pt x="1523037" y="76201"/>
                </a:lnTo>
                <a:lnTo>
                  <a:pt x="1532529" y="76201"/>
                </a:lnTo>
                <a:lnTo>
                  <a:pt x="1542020" y="76201"/>
                </a:lnTo>
                <a:lnTo>
                  <a:pt x="1551511" y="66723"/>
                </a:lnTo>
                <a:lnTo>
                  <a:pt x="1561003" y="66723"/>
                </a:lnTo>
                <a:lnTo>
                  <a:pt x="1570494" y="66723"/>
                </a:lnTo>
                <a:lnTo>
                  <a:pt x="1579985" y="66723"/>
                </a:lnTo>
                <a:lnTo>
                  <a:pt x="1589856" y="66723"/>
                </a:lnTo>
                <a:lnTo>
                  <a:pt x="1599348" y="66723"/>
                </a:lnTo>
                <a:lnTo>
                  <a:pt x="1608839" y="66723"/>
                </a:lnTo>
                <a:lnTo>
                  <a:pt x="1618330" y="57245"/>
                </a:lnTo>
                <a:lnTo>
                  <a:pt x="1627821" y="57245"/>
                </a:lnTo>
                <a:lnTo>
                  <a:pt x="1637313" y="57245"/>
                </a:lnTo>
                <a:lnTo>
                  <a:pt x="1646804" y="57245"/>
                </a:lnTo>
                <a:lnTo>
                  <a:pt x="1656295" y="57245"/>
                </a:lnTo>
                <a:lnTo>
                  <a:pt x="1665787" y="57245"/>
                </a:lnTo>
                <a:lnTo>
                  <a:pt x="1675278" y="57245"/>
                </a:lnTo>
                <a:lnTo>
                  <a:pt x="1684769" y="57245"/>
                </a:lnTo>
                <a:lnTo>
                  <a:pt x="1694261" y="47768"/>
                </a:lnTo>
                <a:lnTo>
                  <a:pt x="1704005" y="47768"/>
                </a:lnTo>
                <a:lnTo>
                  <a:pt x="1713496" y="47768"/>
                </a:lnTo>
                <a:lnTo>
                  <a:pt x="1722988" y="47768"/>
                </a:lnTo>
                <a:lnTo>
                  <a:pt x="1732479" y="47768"/>
                </a:lnTo>
                <a:lnTo>
                  <a:pt x="1741970" y="47768"/>
                </a:lnTo>
                <a:lnTo>
                  <a:pt x="1751461" y="47768"/>
                </a:lnTo>
                <a:lnTo>
                  <a:pt x="1760953" y="47768"/>
                </a:lnTo>
                <a:lnTo>
                  <a:pt x="1770444" y="37911"/>
                </a:lnTo>
                <a:lnTo>
                  <a:pt x="1779935" y="37911"/>
                </a:lnTo>
                <a:lnTo>
                  <a:pt x="1789427" y="37911"/>
                </a:lnTo>
                <a:lnTo>
                  <a:pt x="1798918" y="37911"/>
                </a:lnTo>
                <a:lnTo>
                  <a:pt x="1808789" y="37911"/>
                </a:lnTo>
                <a:lnTo>
                  <a:pt x="1818280" y="37911"/>
                </a:lnTo>
                <a:lnTo>
                  <a:pt x="1827772" y="37911"/>
                </a:lnTo>
                <a:lnTo>
                  <a:pt x="1837263" y="37911"/>
                </a:lnTo>
                <a:lnTo>
                  <a:pt x="1846754" y="37911"/>
                </a:lnTo>
                <a:lnTo>
                  <a:pt x="1856245" y="37911"/>
                </a:lnTo>
                <a:lnTo>
                  <a:pt x="1865737" y="37911"/>
                </a:lnTo>
                <a:lnTo>
                  <a:pt x="1865737" y="28433"/>
                </a:lnTo>
                <a:lnTo>
                  <a:pt x="1875228" y="28433"/>
                </a:lnTo>
                <a:lnTo>
                  <a:pt x="1884719" y="28433"/>
                </a:lnTo>
                <a:lnTo>
                  <a:pt x="1894211" y="28433"/>
                </a:lnTo>
                <a:lnTo>
                  <a:pt x="1903702" y="28433"/>
                </a:lnTo>
                <a:lnTo>
                  <a:pt x="1913446" y="28433"/>
                </a:lnTo>
                <a:lnTo>
                  <a:pt x="1922938" y="28433"/>
                </a:lnTo>
                <a:lnTo>
                  <a:pt x="1932429" y="28433"/>
                </a:lnTo>
                <a:lnTo>
                  <a:pt x="1941920" y="28433"/>
                </a:lnTo>
                <a:lnTo>
                  <a:pt x="1951412" y="28433"/>
                </a:lnTo>
                <a:lnTo>
                  <a:pt x="1960903" y="28433"/>
                </a:lnTo>
                <a:lnTo>
                  <a:pt x="1970394" y="18955"/>
                </a:lnTo>
                <a:lnTo>
                  <a:pt x="1979886" y="18955"/>
                </a:lnTo>
                <a:lnTo>
                  <a:pt x="1989377" y="18955"/>
                </a:lnTo>
                <a:lnTo>
                  <a:pt x="1998868" y="18955"/>
                </a:lnTo>
                <a:lnTo>
                  <a:pt x="2008359" y="18955"/>
                </a:lnTo>
                <a:lnTo>
                  <a:pt x="2018230" y="18955"/>
                </a:lnTo>
                <a:lnTo>
                  <a:pt x="2027722" y="18955"/>
                </a:lnTo>
                <a:lnTo>
                  <a:pt x="2037213" y="18955"/>
                </a:lnTo>
                <a:lnTo>
                  <a:pt x="2046704" y="18955"/>
                </a:lnTo>
                <a:lnTo>
                  <a:pt x="2056196" y="18955"/>
                </a:lnTo>
                <a:lnTo>
                  <a:pt x="2065687" y="18955"/>
                </a:lnTo>
                <a:lnTo>
                  <a:pt x="2075178" y="18955"/>
                </a:lnTo>
                <a:lnTo>
                  <a:pt x="2084670" y="9477"/>
                </a:lnTo>
                <a:lnTo>
                  <a:pt x="2094161" y="9477"/>
                </a:lnTo>
                <a:lnTo>
                  <a:pt x="2103652" y="9477"/>
                </a:lnTo>
                <a:lnTo>
                  <a:pt x="2113143" y="9477"/>
                </a:lnTo>
                <a:lnTo>
                  <a:pt x="2122888" y="9477"/>
                </a:lnTo>
                <a:lnTo>
                  <a:pt x="2132379" y="9477"/>
                </a:lnTo>
                <a:lnTo>
                  <a:pt x="2141870" y="9477"/>
                </a:lnTo>
                <a:lnTo>
                  <a:pt x="2151362" y="9477"/>
                </a:lnTo>
                <a:lnTo>
                  <a:pt x="2160853" y="9477"/>
                </a:lnTo>
                <a:lnTo>
                  <a:pt x="2170344" y="9477"/>
                </a:lnTo>
                <a:lnTo>
                  <a:pt x="2179836" y="9477"/>
                </a:lnTo>
                <a:lnTo>
                  <a:pt x="2189327" y="9477"/>
                </a:lnTo>
                <a:lnTo>
                  <a:pt x="2198818" y="9477"/>
                </a:lnTo>
                <a:lnTo>
                  <a:pt x="2208310" y="9477"/>
                </a:lnTo>
                <a:lnTo>
                  <a:pt x="2217801" y="9477"/>
                </a:lnTo>
                <a:lnTo>
                  <a:pt x="2227672" y="9477"/>
                </a:lnTo>
                <a:lnTo>
                  <a:pt x="2237163" y="9477"/>
                </a:lnTo>
                <a:lnTo>
                  <a:pt x="2246654" y="9477"/>
                </a:lnTo>
                <a:lnTo>
                  <a:pt x="2256146" y="9477"/>
                </a:lnTo>
                <a:lnTo>
                  <a:pt x="2265637" y="9477"/>
                </a:lnTo>
                <a:lnTo>
                  <a:pt x="2275128" y="9477"/>
                </a:lnTo>
                <a:lnTo>
                  <a:pt x="2284620" y="9477"/>
                </a:lnTo>
                <a:lnTo>
                  <a:pt x="2294111" y="9477"/>
                </a:lnTo>
                <a:lnTo>
                  <a:pt x="2303602" y="9477"/>
                </a:lnTo>
                <a:lnTo>
                  <a:pt x="2313094" y="0"/>
                </a:lnTo>
                <a:lnTo>
                  <a:pt x="2322585" y="0"/>
                </a:lnTo>
                <a:lnTo>
                  <a:pt x="2332076" y="0"/>
                </a:lnTo>
                <a:lnTo>
                  <a:pt x="2341821" y="0"/>
                </a:lnTo>
                <a:lnTo>
                  <a:pt x="2351312" y="0"/>
                </a:lnTo>
                <a:lnTo>
                  <a:pt x="2360803" y="0"/>
                </a:lnTo>
                <a:lnTo>
                  <a:pt x="2370295" y="0"/>
                </a:lnTo>
                <a:lnTo>
                  <a:pt x="2379786" y="0"/>
                </a:lnTo>
                <a:lnTo>
                  <a:pt x="2389277" y="0"/>
                </a:lnTo>
                <a:lnTo>
                  <a:pt x="2398768" y="0"/>
                </a:lnTo>
                <a:lnTo>
                  <a:pt x="2408260" y="0"/>
                </a:lnTo>
                <a:lnTo>
                  <a:pt x="2417751" y="0"/>
                </a:lnTo>
                <a:lnTo>
                  <a:pt x="2427242" y="0"/>
                </a:lnTo>
                <a:lnTo>
                  <a:pt x="2436734" y="0"/>
                </a:lnTo>
                <a:lnTo>
                  <a:pt x="2446605" y="0"/>
                </a:lnTo>
                <a:lnTo>
                  <a:pt x="2456096" y="0"/>
                </a:lnTo>
                <a:lnTo>
                  <a:pt x="2465587" y="0"/>
                </a:lnTo>
                <a:lnTo>
                  <a:pt x="2475079" y="0"/>
                </a:lnTo>
                <a:lnTo>
                  <a:pt x="2484570" y="0"/>
                </a:lnTo>
                <a:lnTo>
                  <a:pt x="2494061" y="0"/>
                </a:lnTo>
                <a:lnTo>
                  <a:pt x="2503552" y="0"/>
                </a:lnTo>
                <a:lnTo>
                  <a:pt x="2513044" y="0"/>
                </a:lnTo>
                <a:lnTo>
                  <a:pt x="2522535" y="0"/>
                </a:lnTo>
                <a:lnTo>
                  <a:pt x="2532026" y="0"/>
                </a:lnTo>
                <a:lnTo>
                  <a:pt x="2532718" y="0"/>
                </a:lnTo>
              </a:path>
            </a:pathLst>
          </a:custGeom>
          <a:ln w="28442">
            <a:solidFill>
              <a:srgbClr val="00295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txBox="1"/>
          <p:nvPr/>
        </p:nvSpPr>
        <p:spPr>
          <a:xfrm>
            <a:off x="3514647" y="4576358"/>
            <a:ext cx="372481" cy="227965"/>
          </a:xfrm>
          <a:prstGeom prst="rect">
            <a:avLst/>
          </a:prstGeom>
        </p:spPr>
        <p:txBody>
          <a:bodyPr vert="horz" wrap="square" lIns="0" tIns="13325" rIns="0" bIns="0" rtlCol="0">
            <a:spAutoFit/>
          </a:bodyPr>
          <a:lstStyle/>
          <a:p>
            <a:pPr>
              <a:lnSpc>
                <a:spcPct val="100000"/>
              </a:lnSpc>
              <a:spcBef>
                <a:spcPts val="105"/>
              </a:spcBef>
            </a:pPr>
            <a:r>
              <a:rPr sz="1400" b="1" spc="10" dirty="0">
                <a:solidFill>
                  <a:srgbClr val="00295F"/>
                </a:solidFill>
                <a:latin typeface="微软雅黑" panose="020B0503020204020204" charset="-122"/>
                <a:ea typeface="微软雅黑" panose="020B0503020204020204" charset="-122"/>
                <a:cs typeface="微软雅黑" panose="020B0503020204020204" charset="-122"/>
              </a:rPr>
              <a:t>客户</a:t>
            </a:r>
            <a:endParaRPr sz="1400" b="1" spc="10" dirty="0">
              <a:solidFill>
                <a:srgbClr val="00295F"/>
              </a:solidFill>
              <a:latin typeface="微软雅黑" panose="020B0503020204020204" charset="-122"/>
              <a:ea typeface="微软雅黑" panose="020B0503020204020204" charset="-122"/>
              <a:cs typeface="微软雅黑" panose="020B0503020204020204" charset="-122"/>
            </a:endParaRPr>
          </a:p>
        </p:txBody>
      </p:sp>
      <p:sp>
        <p:nvSpPr>
          <p:cNvPr id="15" name="object 15"/>
          <p:cNvSpPr txBox="1"/>
          <p:nvPr/>
        </p:nvSpPr>
        <p:spPr>
          <a:xfrm>
            <a:off x="243058" y="3299186"/>
            <a:ext cx="558404" cy="227965"/>
          </a:xfrm>
          <a:prstGeom prst="rect">
            <a:avLst/>
          </a:prstGeom>
        </p:spPr>
        <p:txBody>
          <a:bodyPr vert="horz" wrap="square" lIns="0" tIns="13325" rIns="0" bIns="0" rtlCol="0">
            <a:spAutoFit/>
          </a:bodyPr>
          <a:lstStyle/>
          <a:p>
            <a:pPr>
              <a:lnSpc>
                <a:spcPct val="100000"/>
              </a:lnSpc>
              <a:spcBef>
                <a:spcPts val="105"/>
              </a:spcBef>
            </a:pPr>
            <a:r>
              <a:rPr sz="1400" dirty="0">
                <a:latin typeface="微软雅黑" panose="020B0503020204020204" charset="-122"/>
                <a:ea typeface="微软雅黑" panose="020B0503020204020204" charset="-122"/>
                <a:cs typeface="Arial" panose="020B0604020202020204"/>
              </a:rPr>
              <a:t>10,000</a:t>
            </a:r>
            <a:endParaRPr sz="1400" dirty="0">
              <a:latin typeface="微软雅黑" panose="020B0503020204020204" charset="-122"/>
              <a:ea typeface="微软雅黑" panose="020B0503020204020204" charset="-122"/>
              <a:cs typeface="Arial" panose="020B0604020202020204"/>
            </a:endParaRPr>
          </a:p>
        </p:txBody>
      </p:sp>
      <p:sp>
        <p:nvSpPr>
          <p:cNvPr id="16" name="object 16"/>
          <p:cNvSpPr txBox="1"/>
          <p:nvPr/>
        </p:nvSpPr>
        <p:spPr>
          <a:xfrm>
            <a:off x="690187" y="4394166"/>
            <a:ext cx="112315" cy="227330"/>
          </a:xfrm>
          <a:prstGeom prst="rect">
            <a:avLst/>
          </a:prstGeom>
        </p:spPr>
        <p:txBody>
          <a:bodyPr vert="horz" wrap="square" lIns="0" tIns="12691" rIns="0" bIns="0" rtlCol="0">
            <a:spAutoFit/>
          </a:bodyPr>
          <a:lstStyle/>
          <a:p>
            <a:pPr>
              <a:lnSpc>
                <a:spcPct val="100000"/>
              </a:lnSpc>
              <a:spcBef>
                <a:spcPts val="100"/>
              </a:spcBef>
            </a:pPr>
            <a:r>
              <a:rPr sz="1400" dirty="0">
                <a:latin typeface="微软雅黑" panose="020B0503020204020204" charset="-122"/>
                <a:ea typeface="微软雅黑" panose="020B0503020204020204" charset="-122"/>
                <a:cs typeface="Arial" panose="020B0604020202020204"/>
              </a:rPr>
              <a:t>0</a:t>
            </a:r>
            <a:endParaRPr sz="1400" dirty="0">
              <a:latin typeface="微软雅黑" panose="020B0503020204020204" charset="-122"/>
              <a:ea typeface="微软雅黑" panose="020B0503020204020204" charset="-122"/>
              <a:cs typeface="Arial" panose="020B0604020202020204"/>
            </a:endParaRPr>
          </a:p>
        </p:txBody>
      </p:sp>
      <p:sp>
        <p:nvSpPr>
          <p:cNvPr id="17" name="object 17"/>
          <p:cNvSpPr txBox="1"/>
          <p:nvPr/>
        </p:nvSpPr>
        <p:spPr>
          <a:xfrm>
            <a:off x="243058" y="2268169"/>
            <a:ext cx="558404" cy="711200"/>
          </a:xfrm>
          <a:prstGeom prst="rect">
            <a:avLst/>
          </a:prstGeom>
        </p:spPr>
        <p:txBody>
          <a:bodyPr vert="horz" wrap="square" lIns="0" tIns="37438" rIns="0" bIns="0" rtlCol="0">
            <a:spAutoFit/>
          </a:bodyPr>
          <a:lstStyle/>
          <a:p>
            <a:pPr marL="4445" marR="186055">
              <a:lnSpc>
                <a:spcPts val="1510"/>
              </a:lnSpc>
              <a:spcBef>
                <a:spcPts val="295"/>
              </a:spcBef>
            </a:pPr>
            <a:r>
              <a:rPr sz="1400" b="1" spc="10" dirty="0">
                <a:latin typeface="微软雅黑" panose="020B0503020204020204" charset="-122"/>
                <a:ea typeface="微软雅黑" panose="020B0503020204020204" charset="-122"/>
                <a:cs typeface="微软雅黑" panose="020B0503020204020204" charset="-122"/>
              </a:rPr>
              <a:t>销售 </a:t>
            </a:r>
            <a:r>
              <a:rPr sz="1400" dirty="0">
                <a:solidFill>
                  <a:srgbClr val="808080"/>
                </a:solidFill>
                <a:latin typeface="微软雅黑" panose="020B0503020204020204" charset="-122"/>
                <a:ea typeface="微软雅黑" panose="020B0503020204020204" charset="-122"/>
                <a:cs typeface="微软雅黑" panose="020B0503020204020204" charset="-122"/>
              </a:rPr>
              <a:t>百万</a:t>
            </a:r>
            <a:endParaRPr sz="1400">
              <a:latin typeface="微软雅黑" panose="020B0503020204020204" charset="-122"/>
              <a:ea typeface="微软雅黑" panose="020B0503020204020204" charset="-122"/>
              <a:cs typeface="微软雅黑" panose="020B0503020204020204" charset="-122"/>
            </a:endParaRPr>
          </a:p>
          <a:p>
            <a:pPr>
              <a:lnSpc>
                <a:spcPct val="100000"/>
              </a:lnSpc>
              <a:spcBef>
                <a:spcPts val="560"/>
              </a:spcBef>
            </a:pPr>
            <a:r>
              <a:rPr sz="1400" dirty="0">
                <a:latin typeface="微软雅黑" panose="020B0503020204020204" charset="-122"/>
                <a:ea typeface="微软雅黑" panose="020B0503020204020204" charset="-122"/>
                <a:cs typeface="微软雅黑" panose="020B0503020204020204" charset="-122"/>
              </a:rPr>
              <a:t>15,000</a:t>
            </a:r>
            <a:endParaRPr sz="1400">
              <a:latin typeface="微软雅黑" panose="020B0503020204020204" charset="-122"/>
              <a:ea typeface="微软雅黑" panose="020B0503020204020204" charset="-122"/>
              <a:cs typeface="微软雅黑" panose="020B0503020204020204" charset="-122"/>
            </a:endParaRPr>
          </a:p>
        </p:txBody>
      </p:sp>
      <p:sp>
        <p:nvSpPr>
          <p:cNvPr id="18" name="object 18"/>
          <p:cNvSpPr txBox="1"/>
          <p:nvPr/>
        </p:nvSpPr>
        <p:spPr>
          <a:xfrm>
            <a:off x="342961" y="3841980"/>
            <a:ext cx="459414" cy="227330"/>
          </a:xfrm>
          <a:prstGeom prst="rect">
            <a:avLst/>
          </a:prstGeom>
        </p:spPr>
        <p:txBody>
          <a:bodyPr vert="horz" wrap="square" lIns="0" tIns="12691" rIns="0" bIns="0" rtlCol="0">
            <a:spAutoFit/>
          </a:bodyPr>
          <a:lstStyle/>
          <a:p>
            <a:pPr>
              <a:lnSpc>
                <a:spcPct val="100000"/>
              </a:lnSpc>
              <a:spcBef>
                <a:spcPts val="100"/>
              </a:spcBef>
            </a:pPr>
            <a:r>
              <a:rPr sz="1400" dirty="0">
                <a:latin typeface="微软雅黑" panose="020B0503020204020204" charset="-122"/>
                <a:ea typeface="微软雅黑" panose="020B0503020204020204" charset="-122"/>
                <a:cs typeface="Arial" panose="020B0604020202020204"/>
              </a:rPr>
              <a:t>5,000</a:t>
            </a:r>
            <a:endParaRPr sz="1400" dirty="0">
              <a:latin typeface="微软雅黑" panose="020B0503020204020204" charset="-122"/>
              <a:ea typeface="微软雅黑" panose="020B0503020204020204" charset="-122"/>
              <a:cs typeface="Arial" panose="020B0604020202020204"/>
            </a:endParaRPr>
          </a:p>
        </p:txBody>
      </p:sp>
      <p:sp>
        <p:nvSpPr>
          <p:cNvPr id="19" name="object 19"/>
          <p:cNvSpPr/>
          <p:nvPr/>
        </p:nvSpPr>
        <p:spPr>
          <a:xfrm>
            <a:off x="1300574" y="3584226"/>
            <a:ext cx="0" cy="947384"/>
          </a:xfrm>
          <a:custGeom>
            <a:avLst/>
            <a:gdLst/>
            <a:ahLst/>
            <a:cxnLst/>
            <a:rect l="l" t="t" r="r" b="b"/>
            <a:pathLst>
              <a:path h="948054">
                <a:moveTo>
                  <a:pt x="0" y="0"/>
                </a:moveTo>
                <a:lnTo>
                  <a:pt x="0" y="947928"/>
                </a:lnTo>
              </a:path>
            </a:pathLst>
          </a:custGeom>
          <a:ln w="952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p:nvPr/>
        </p:nvSpPr>
        <p:spPr>
          <a:xfrm>
            <a:off x="930504" y="3588795"/>
            <a:ext cx="368674" cy="0"/>
          </a:xfrm>
          <a:custGeom>
            <a:avLst/>
            <a:gdLst/>
            <a:ahLst/>
            <a:cxnLst/>
            <a:rect l="l" t="t" r="r" b="b"/>
            <a:pathLst>
              <a:path w="368934">
                <a:moveTo>
                  <a:pt x="368808" y="0"/>
                </a:moveTo>
                <a:lnTo>
                  <a:pt x="0" y="0"/>
                </a:lnTo>
              </a:path>
            </a:pathLst>
          </a:custGeom>
          <a:ln w="952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21" name="object 21"/>
          <p:cNvSpPr/>
          <p:nvPr/>
        </p:nvSpPr>
        <p:spPr>
          <a:xfrm>
            <a:off x="935073" y="3588795"/>
            <a:ext cx="0" cy="947384"/>
          </a:xfrm>
          <a:custGeom>
            <a:avLst/>
            <a:gdLst/>
            <a:ahLst/>
            <a:cxnLst/>
            <a:rect l="l" t="t" r="r" b="b"/>
            <a:pathLst>
              <a:path h="948054">
                <a:moveTo>
                  <a:pt x="0" y="0"/>
                </a:moveTo>
                <a:lnTo>
                  <a:pt x="0" y="947928"/>
                </a:lnTo>
              </a:path>
            </a:pathLst>
          </a:custGeom>
          <a:ln w="12700">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1813798" y="3415182"/>
            <a:ext cx="1771664" cy="793822"/>
          </a:xfrm>
          <a:custGeom>
            <a:avLst/>
            <a:gdLst/>
            <a:ahLst/>
            <a:cxnLst/>
            <a:rect l="l" t="t" r="r" b="b"/>
            <a:pathLst>
              <a:path w="1772920" h="794385">
                <a:moveTo>
                  <a:pt x="886206" y="0"/>
                </a:moveTo>
                <a:lnTo>
                  <a:pt x="822914" y="997"/>
                </a:lnTo>
                <a:lnTo>
                  <a:pt x="760824" y="3943"/>
                </a:lnTo>
                <a:lnTo>
                  <a:pt x="700085" y="8772"/>
                </a:lnTo>
                <a:lnTo>
                  <a:pt x="640848" y="15415"/>
                </a:lnTo>
                <a:lnTo>
                  <a:pt x="583261" y="23806"/>
                </a:lnTo>
                <a:lnTo>
                  <a:pt x="527477" y="33877"/>
                </a:lnTo>
                <a:lnTo>
                  <a:pt x="473643" y="45562"/>
                </a:lnTo>
                <a:lnTo>
                  <a:pt x="421910" y="58792"/>
                </a:lnTo>
                <a:lnTo>
                  <a:pt x="372428" y="73501"/>
                </a:lnTo>
                <a:lnTo>
                  <a:pt x="325347" y="89621"/>
                </a:lnTo>
                <a:lnTo>
                  <a:pt x="280817" y="107085"/>
                </a:lnTo>
                <a:lnTo>
                  <a:pt x="238988" y="125826"/>
                </a:lnTo>
                <a:lnTo>
                  <a:pt x="200010" y="145776"/>
                </a:lnTo>
                <a:lnTo>
                  <a:pt x="164032" y="166868"/>
                </a:lnTo>
                <a:lnTo>
                  <a:pt x="131205" y="189036"/>
                </a:lnTo>
                <a:lnTo>
                  <a:pt x="75602" y="236326"/>
                </a:lnTo>
                <a:lnTo>
                  <a:pt x="34400" y="287109"/>
                </a:lnTo>
                <a:lnTo>
                  <a:pt x="8800" y="340847"/>
                </a:lnTo>
                <a:lnTo>
                  <a:pt x="0" y="397002"/>
                </a:lnTo>
                <a:lnTo>
                  <a:pt x="2224" y="425347"/>
                </a:lnTo>
                <a:lnTo>
                  <a:pt x="19575" y="480360"/>
                </a:lnTo>
                <a:lnTo>
                  <a:pt x="53126" y="532688"/>
                </a:lnTo>
                <a:lnTo>
                  <a:pt x="101678" y="581792"/>
                </a:lnTo>
                <a:lnTo>
                  <a:pt x="164032" y="627135"/>
                </a:lnTo>
                <a:lnTo>
                  <a:pt x="200010" y="648227"/>
                </a:lnTo>
                <a:lnTo>
                  <a:pt x="238988" y="668177"/>
                </a:lnTo>
                <a:lnTo>
                  <a:pt x="280817" y="686918"/>
                </a:lnTo>
                <a:lnTo>
                  <a:pt x="325347" y="704382"/>
                </a:lnTo>
                <a:lnTo>
                  <a:pt x="372428" y="720502"/>
                </a:lnTo>
                <a:lnTo>
                  <a:pt x="421910" y="735211"/>
                </a:lnTo>
                <a:lnTo>
                  <a:pt x="473643" y="748441"/>
                </a:lnTo>
                <a:lnTo>
                  <a:pt x="527477" y="760126"/>
                </a:lnTo>
                <a:lnTo>
                  <a:pt x="583261" y="770197"/>
                </a:lnTo>
                <a:lnTo>
                  <a:pt x="640848" y="778588"/>
                </a:lnTo>
                <a:lnTo>
                  <a:pt x="700085" y="785231"/>
                </a:lnTo>
                <a:lnTo>
                  <a:pt x="760824" y="790060"/>
                </a:lnTo>
                <a:lnTo>
                  <a:pt x="822914" y="793006"/>
                </a:lnTo>
                <a:lnTo>
                  <a:pt x="886206" y="794004"/>
                </a:lnTo>
                <a:lnTo>
                  <a:pt x="949497" y="793006"/>
                </a:lnTo>
                <a:lnTo>
                  <a:pt x="1011587" y="790060"/>
                </a:lnTo>
                <a:lnTo>
                  <a:pt x="1072326" y="785231"/>
                </a:lnTo>
                <a:lnTo>
                  <a:pt x="1131563" y="778588"/>
                </a:lnTo>
                <a:lnTo>
                  <a:pt x="1189150" y="770197"/>
                </a:lnTo>
                <a:lnTo>
                  <a:pt x="1244934" y="760126"/>
                </a:lnTo>
                <a:lnTo>
                  <a:pt x="1298768" y="748441"/>
                </a:lnTo>
                <a:lnTo>
                  <a:pt x="1350501" y="735211"/>
                </a:lnTo>
                <a:lnTo>
                  <a:pt x="1399983" y="720502"/>
                </a:lnTo>
                <a:lnTo>
                  <a:pt x="1447064" y="704382"/>
                </a:lnTo>
                <a:lnTo>
                  <a:pt x="1491594" y="686918"/>
                </a:lnTo>
                <a:lnTo>
                  <a:pt x="1533423" y="668177"/>
                </a:lnTo>
                <a:lnTo>
                  <a:pt x="1572401" y="648227"/>
                </a:lnTo>
                <a:lnTo>
                  <a:pt x="1608379" y="627135"/>
                </a:lnTo>
                <a:lnTo>
                  <a:pt x="1641206" y="604967"/>
                </a:lnTo>
                <a:lnTo>
                  <a:pt x="1696809" y="557677"/>
                </a:lnTo>
                <a:lnTo>
                  <a:pt x="1738011" y="506894"/>
                </a:lnTo>
                <a:lnTo>
                  <a:pt x="1763611" y="453156"/>
                </a:lnTo>
                <a:lnTo>
                  <a:pt x="1772412" y="397002"/>
                </a:lnTo>
                <a:lnTo>
                  <a:pt x="1770187" y="368656"/>
                </a:lnTo>
                <a:lnTo>
                  <a:pt x="1752836" y="313643"/>
                </a:lnTo>
                <a:lnTo>
                  <a:pt x="1719285" y="261315"/>
                </a:lnTo>
                <a:lnTo>
                  <a:pt x="1670733" y="212211"/>
                </a:lnTo>
                <a:lnTo>
                  <a:pt x="1608379" y="166868"/>
                </a:lnTo>
                <a:lnTo>
                  <a:pt x="1572401" y="145776"/>
                </a:lnTo>
                <a:lnTo>
                  <a:pt x="1533423" y="125826"/>
                </a:lnTo>
                <a:lnTo>
                  <a:pt x="1491594" y="107085"/>
                </a:lnTo>
                <a:lnTo>
                  <a:pt x="1447064" y="89621"/>
                </a:lnTo>
                <a:lnTo>
                  <a:pt x="1399983" y="73501"/>
                </a:lnTo>
                <a:lnTo>
                  <a:pt x="1350501" y="58792"/>
                </a:lnTo>
                <a:lnTo>
                  <a:pt x="1298768" y="45562"/>
                </a:lnTo>
                <a:lnTo>
                  <a:pt x="1244934" y="33877"/>
                </a:lnTo>
                <a:lnTo>
                  <a:pt x="1189150" y="23806"/>
                </a:lnTo>
                <a:lnTo>
                  <a:pt x="1131563" y="15415"/>
                </a:lnTo>
                <a:lnTo>
                  <a:pt x="1072326" y="8772"/>
                </a:lnTo>
                <a:lnTo>
                  <a:pt x="1011587" y="3943"/>
                </a:lnTo>
                <a:lnTo>
                  <a:pt x="949497" y="997"/>
                </a:lnTo>
                <a:lnTo>
                  <a:pt x="886206"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p:nvPr/>
        </p:nvSpPr>
        <p:spPr>
          <a:xfrm>
            <a:off x="1813798" y="3415182"/>
            <a:ext cx="1771664" cy="793822"/>
          </a:xfrm>
          <a:custGeom>
            <a:avLst/>
            <a:gdLst/>
            <a:ahLst/>
            <a:cxnLst/>
            <a:rect l="l" t="t" r="r" b="b"/>
            <a:pathLst>
              <a:path w="1772920" h="794385">
                <a:moveTo>
                  <a:pt x="0" y="397002"/>
                </a:moveTo>
                <a:lnTo>
                  <a:pt x="8800" y="340847"/>
                </a:lnTo>
                <a:lnTo>
                  <a:pt x="34400" y="287109"/>
                </a:lnTo>
                <a:lnTo>
                  <a:pt x="75602" y="236326"/>
                </a:lnTo>
                <a:lnTo>
                  <a:pt x="131205" y="189036"/>
                </a:lnTo>
                <a:lnTo>
                  <a:pt x="164032" y="166868"/>
                </a:lnTo>
                <a:lnTo>
                  <a:pt x="200010" y="145776"/>
                </a:lnTo>
                <a:lnTo>
                  <a:pt x="238988" y="125826"/>
                </a:lnTo>
                <a:lnTo>
                  <a:pt x="280817" y="107085"/>
                </a:lnTo>
                <a:lnTo>
                  <a:pt x="325347" y="89621"/>
                </a:lnTo>
                <a:lnTo>
                  <a:pt x="372428" y="73501"/>
                </a:lnTo>
                <a:lnTo>
                  <a:pt x="421910" y="58792"/>
                </a:lnTo>
                <a:lnTo>
                  <a:pt x="473643" y="45562"/>
                </a:lnTo>
                <a:lnTo>
                  <a:pt x="527477" y="33877"/>
                </a:lnTo>
                <a:lnTo>
                  <a:pt x="583261" y="23806"/>
                </a:lnTo>
                <a:lnTo>
                  <a:pt x="640848" y="15415"/>
                </a:lnTo>
                <a:lnTo>
                  <a:pt x="700085" y="8772"/>
                </a:lnTo>
                <a:lnTo>
                  <a:pt x="760824" y="3943"/>
                </a:lnTo>
                <a:lnTo>
                  <a:pt x="822914" y="997"/>
                </a:lnTo>
                <a:lnTo>
                  <a:pt x="886206" y="0"/>
                </a:lnTo>
                <a:lnTo>
                  <a:pt x="949497" y="997"/>
                </a:lnTo>
                <a:lnTo>
                  <a:pt x="1011587" y="3943"/>
                </a:lnTo>
                <a:lnTo>
                  <a:pt x="1072326" y="8772"/>
                </a:lnTo>
                <a:lnTo>
                  <a:pt x="1131563" y="15415"/>
                </a:lnTo>
                <a:lnTo>
                  <a:pt x="1189150" y="23806"/>
                </a:lnTo>
                <a:lnTo>
                  <a:pt x="1244934" y="33877"/>
                </a:lnTo>
                <a:lnTo>
                  <a:pt x="1298768" y="45562"/>
                </a:lnTo>
                <a:lnTo>
                  <a:pt x="1350501" y="58792"/>
                </a:lnTo>
                <a:lnTo>
                  <a:pt x="1399983" y="73501"/>
                </a:lnTo>
                <a:lnTo>
                  <a:pt x="1447064" y="89621"/>
                </a:lnTo>
                <a:lnTo>
                  <a:pt x="1491594" y="107085"/>
                </a:lnTo>
                <a:lnTo>
                  <a:pt x="1533423" y="125826"/>
                </a:lnTo>
                <a:lnTo>
                  <a:pt x="1572401" y="145776"/>
                </a:lnTo>
                <a:lnTo>
                  <a:pt x="1608379" y="166868"/>
                </a:lnTo>
                <a:lnTo>
                  <a:pt x="1641206" y="189036"/>
                </a:lnTo>
                <a:lnTo>
                  <a:pt x="1696809" y="236326"/>
                </a:lnTo>
                <a:lnTo>
                  <a:pt x="1738011" y="287109"/>
                </a:lnTo>
                <a:lnTo>
                  <a:pt x="1763611" y="340847"/>
                </a:lnTo>
                <a:lnTo>
                  <a:pt x="1772412" y="397002"/>
                </a:lnTo>
                <a:lnTo>
                  <a:pt x="1770187" y="425347"/>
                </a:lnTo>
                <a:lnTo>
                  <a:pt x="1752836" y="480360"/>
                </a:lnTo>
                <a:lnTo>
                  <a:pt x="1719285" y="532688"/>
                </a:lnTo>
                <a:lnTo>
                  <a:pt x="1670733" y="581792"/>
                </a:lnTo>
                <a:lnTo>
                  <a:pt x="1608379" y="627135"/>
                </a:lnTo>
                <a:lnTo>
                  <a:pt x="1572401" y="648227"/>
                </a:lnTo>
                <a:lnTo>
                  <a:pt x="1533423" y="668177"/>
                </a:lnTo>
                <a:lnTo>
                  <a:pt x="1491594" y="686918"/>
                </a:lnTo>
                <a:lnTo>
                  <a:pt x="1447064" y="704382"/>
                </a:lnTo>
                <a:lnTo>
                  <a:pt x="1399983" y="720502"/>
                </a:lnTo>
                <a:lnTo>
                  <a:pt x="1350501" y="735211"/>
                </a:lnTo>
                <a:lnTo>
                  <a:pt x="1298768" y="748441"/>
                </a:lnTo>
                <a:lnTo>
                  <a:pt x="1244934" y="760126"/>
                </a:lnTo>
                <a:lnTo>
                  <a:pt x="1189150" y="770197"/>
                </a:lnTo>
                <a:lnTo>
                  <a:pt x="1131563" y="778588"/>
                </a:lnTo>
                <a:lnTo>
                  <a:pt x="1072326" y="785231"/>
                </a:lnTo>
                <a:lnTo>
                  <a:pt x="1011587" y="790060"/>
                </a:lnTo>
                <a:lnTo>
                  <a:pt x="949497" y="793006"/>
                </a:lnTo>
                <a:lnTo>
                  <a:pt x="886206" y="794004"/>
                </a:lnTo>
                <a:lnTo>
                  <a:pt x="822914" y="793006"/>
                </a:lnTo>
                <a:lnTo>
                  <a:pt x="760824" y="790060"/>
                </a:lnTo>
                <a:lnTo>
                  <a:pt x="700085" y="785231"/>
                </a:lnTo>
                <a:lnTo>
                  <a:pt x="640848" y="778588"/>
                </a:lnTo>
                <a:lnTo>
                  <a:pt x="583261" y="770197"/>
                </a:lnTo>
                <a:lnTo>
                  <a:pt x="527477" y="760126"/>
                </a:lnTo>
                <a:lnTo>
                  <a:pt x="473643" y="748441"/>
                </a:lnTo>
                <a:lnTo>
                  <a:pt x="421910" y="735211"/>
                </a:lnTo>
                <a:lnTo>
                  <a:pt x="372428" y="720502"/>
                </a:lnTo>
                <a:lnTo>
                  <a:pt x="325347" y="704382"/>
                </a:lnTo>
                <a:lnTo>
                  <a:pt x="280817" y="686918"/>
                </a:lnTo>
                <a:lnTo>
                  <a:pt x="238988" y="668177"/>
                </a:lnTo>
                <a:lnTo>
                  <a:pt x="200010" y="648227"/>
                </a:lnTo>
                <a:lnTo>
                  <a:pt x="164032" y="627135"/>
                </a:lnTo>
                <a:lnTo>
                  <a:pt x="131205" y="604967"/>
                </a:lnTo>
                <a:lnTo>
                  <a:pt x="75602" y="557677"/>
                </a:lnTo>
                <a:lnTo>
                  <a:pt x="34400" y="506894"/>
                </a:lnTo>
                <a:lnTo>
                  <a:pt x="8800" y="453156"/>
                </a:lnTo>
                <a:lnTo>
                  <a:pt x="0" y="397002"/>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txBox="1"/>
          <p:nvPr/>
        </p:nvSpPr>
        <p:spPr>
          <a:xfrm>
            <a:off x="2166228" y="3574581"/>
            <a:ext cx="1080639" cy="443230"/>
          </a:xfrm>
          <a:prstGeom prst="rect">
            <a:avLst/>
          </a:prstGeom>
        </p:spPr>
        <p:txBody>
          <a:bodyPr vert="horz" wrap="square" lIns="0" tIns="12691" rIns="0" bIns="0" rtlCol="0">
            <a:spAutoFit/>
          </a:bodyPr>
          <a:lstStyle/>
          <a:p>
            <a:pPr marL="89535">
              <a:lnSpc>
                <a:spcPct val="100000"/>
              </a:lnSpc>
              <a:spcBef>
                <a:spcPts val="100"/>
              </a:spcBef>
            </a:pPr>
            <a:r>
              <a:rPr sz="1400" b="1" spc="-25" dirty="0">
                <a:latin typeface="微软雅黑" panose="020B0503020204020204" charset="-122"/>
                <a:ea typeface="微软雅黑" panose="020B0503020204020204" charset="-122"/>
                <a:cs typeface="微软雅黑" panose="020B0503020204020204" charset="-122"/>
              </a:rPr>
              <a:t>20%</a:t>
            </a:r>
            <a:r>
              <a:rPr sz="1400" b="1" spc="10" dirty="0">
                <a:latin typeface="微软雅黑" panose="020B0503020204020204" charset="-122"/>
                <a:ea typeface="微软雅黑" panose="020B0503020204020204" charset="-122"/>
                <a:cs typeface="微软雅黑" panose="020B0503020204020204" charset="-122"/>
              </a:rPr>
              <a:t>的客户</a:t>
            </a:r>
            <a:endParaRPr sz="1400">
              <a:latin typeface="微软雅黑" panose="020B0503020204020204" charset="-122"/>
              <a:ea typeface="微软雅黑" panose="020B0503020204020204" charset="-122"/>
              <a:cs typeface="微软雅黑" panose="020B0503020204020204" charset="-122"/>
            </a:endParaRPr>
          </a:p>
          <a:p>
            <a:pPr>
              <a:lnSpc>
                <a:spcPct val="100000"/>
              </a:lnSpc>
              <a:spcBef>
                <a:spcPts val="5"/>
              </a:spcBef>
            </a:pPr>
            <a:r>
              <a:rPr sz="1400" b="1" spc="10" dirty="0">
                <a:latin typeface="微软雅黑" panose="020B0503020204020204" charset="-122"/>
                <a:ea typeface="微软雅黑" panose="020B0503020204020204" charset="-122"/>
                <a:cs typeface="微软雅黑" panose="020B0503020204020204" charset="-122"/>
              </a:rPr>
              <a:t>占</a:t>
            </a:r>
            <a:r>
              <a:rPr sz="1400" b="1" spc="-5" dirty="0">
                <a:latin typeface="微软雅黑" panose="020B0503020204020204" charset="-122"/>
                <a:ea typeface="微软雅黑" panose="020B0503020204020204" charset="-122"/>
                <a:cs typeface="微软雅黑" panose="020B0503020204020204" charset="-122"/>
              </a:rPr>
              <a:t>75</a:t>
            </a:r>
            <a:r>
              <a:rPr sz="1400" b="1" spc="-60" dirty="0">
                <a:latin typeface="微软雅黑" panose="020B0503020204020204" charset="-122"/>
                <a:ea typeface="微软雅黑" panose="020B0503020204020204" charset="-122"/>
                <a:cs typeface="微软雅黑" panose="020B0503020204020204" charset="-122"/>
              </a:rPr>
              <a:t>%</a:t>
            </a:r>
            <a:r>
              <a:rPr sz="1400" b="1" spc="10" dirty="0">
                <a:latin typeface="微软雅黑" panose="020B0503020204020204" charset="-122"/>
                <a:ea typeface="微软雅黑" panose="020B0503020204020204" charset="-122"/>
                <a:cs typeface="微软雅黑" panose="020B0503020204020204" charset="-122"/>
              </a:rPr>
              <a:t>的销售</a:t>
            </a:r>
            <a:endParaRPr sz="1400">
              <a:latin typeface="微软雅黑" panose="020B0503020204020204" charset="-122"/>
              <a:ea typeface="微软雅黑" panose="020B0503020204020204" charset="-122"/>
              <a:cs typeface="微软雅黑" panose="020B0503020204020204" charset="-122"/>
            </a:endParaRPr>
          </a:p>
        </p:txBody>
      </p:sp>
      <p:sp>
        <p:nvSpPr>
          <p:cNvPr id="25" name="object 25"/>
          <p:cNvSpPr txBox="1"/>
          <p:nvPr/>
        </p:nvSpPr>
        <p:spPr>
          <a:xfrm>
            <a:off x="106401" y="6412696"/>
            <a:ext cx="1036855"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endParaRPr sz="1000" spc="-10" dirty="0">
              <a:latin typeface="微软雅黑" panose="020B0503020204020204" charset="-122"/>
              <a:ea typeface="微软雅黑" panose="020B0503020204020204" charset="-122"/>
              <a:cs typeface="微软雅黑" panose="020B0503020204020204" charset="-122"/>
            </a:endParaRPr>
          </a:p>
        </p:txBody>
      </p:sp>
      <p:sp>
        <p:nvSpPr>
          <p:cNvPr id="26" name="object 26"/>
          <p:cNvSpPr txBox="1"/>
          <p:nvPr/>
        </p:nvSpPr>
        <p:spPr>
          <a:xfrm>
            <a:off x="5738365" y="4995974"/>
            <a:ext cx="1902382" cy="493395"/>
          </a:xfrm>
          <a:prstGeom prst="rect">
            <a:avLst/>
          </a:prstGeom>
          <a:solidFill>
            <a:srgbClr val="91AFFF"/>
          </a:solidFill>
          <a:ln w="9525">
            <a:solidFill>
              <a:srgbClr val="000000"/>
            </a:solidFill>
          </a:ln>
        </p:spPr>
        <p:txBody>
          <a:bodyPr vert="horz" wrap="square" lIns="0" tIns="63455" rIns="0" bIns="0" rtlCol="0">
            <a:spAutoFit/>
          </a:bodyPr>
          <a:lstStyle/>
          <a:p>
            <a:pPr marL="72390" marR="218440">
              <a:lnSpc>
                <a:spcPct val="100000"/>
              </a:lnSpc>
              <a:spcBef>
                <a:spcPts val="500"/>
              </a:spcBef>
            </a:pPr>
            <a:r>
              <a:rPr sz="1400" b="1" spc="10" dirty="0">
                <a:latin typeface="微软雅黑" panose="020B0503020204020204" charset="-122"/>
                <a:ea typeface="微软雅黑" panose="020B0503020204020204" charset="-122"/>
                <a:cs typeface="微软雅黑" panose="020B0503020204020204" charset="-122"/>
              </a:rPr>
              <a:t>利润</a:t>
            </a:r>
            <a:r>
              <a:rPr sz="1400" b="1" dirty="0">
                <a:latin typeface="微软雅黑" panose="020B0503020204020204" charset="-122"/>
                <a:ea typeface="微软雅黑" panose="020B0503020204020204" charset="-122"/>
                <a:cs typeface="微软雅黑" panose="020B0503020204020204" charset="-122"/>
              </a:rPr>
              <a:t>潜力</a:t>
            </a:r>
            <a:r>
              <a:rPr sz="1400" b="1" spc="-15" dirty="0">
                <a:latin typeface="微软雅黑" panose="020B0503020204020204" charset="-122"/>
                <a:ea typeface="微软雅黑" panose="020B0503020204020204" charset="-122"/>
                <a:cs typeface="微软雅黑" panose="020B0503020204020204" charset="-122"/>
              </a:rPr>
              <a:t>较</a:t>
            </a:r>
            <a:r>
              <a:rPr sz="1400" b="1" dirty="0">
                <a:latin typeface="微软雅黑" panose="020B0503020204020204" charset="-122"/>
                <a:ea typeface="微软雅黑" panose="020B0503020204020204" charset="-122"/>
                <a:cs typeface="微软雅黑" panose="020B0503020204020204" charset="-122"/>
              </a:rPr>
              <a:t>高的</a:t>
            </a:r>
            <a:r>
              <a:rPr sz="1400" b="1" spc="-15" dirty="0">
                <a:latin typeface="微软雅黑" panose="020B0503020204020204" charset="-122"/>
                <a:ea typeface="微软雅黑" panose="020B0503020204020204" charset="-122"/>
                <a:cs typeface="微软雅黑" panose="020B0503020204020204" charset="-122"/>
              </a:rPr>
              <a:t>客</a:t>
            </a:r>
            <a:r>
              <a:rPr sz="1400" b="1" dirty="0">
                <a:latin typeface="微软雅黑" panose="020B0503020204020204" charset="-122"/>
                <a:ea typeface="微软雅黑" panose="020B0503020204020204" charset="-122"/>
                <a:cs typeface="微软雅黑" panose="020B0503020204020204" charset="-122"/>
              </a:rPr>
              <a:t>户 </a:t>
            </a:r>
            <a:r>
              <a:rPr sz="1400" b="1" spc="10" dirty="0">
                <a:latin typeface="微软雅黑" panose="020B0503020204020204" charset="-122"/>
                <a:ea typeface="微软雅黑" panose="020B0503020204020204" charset="-122"/>
                <a:cs typeface="微软雅黑" panose="020B0503020204020204" charset="-122"/>
              </a:rPr>
              <a:t>需要</a:t>
            </a:r>
            <a:r>
              <a:rPr sz="1400" b="1" dirty="0">
                <a:latin typeface="微软雅黑" panose="020B0503020204020204" charset="-122"/>
                <a:ea typeface="微软雅黑" panose="020B0503020204020204" charset="-122"/>
                <a:cs typeface="微软雅黑" panose="020B0503020204020204" charset="-122"/>
              </a:rPr>
              <a:t>差异</a:t>
            </a:r>
            <a:r>
              <a:rPr sz="1400" b="1" spc="-15" dirty="0">
                <a:latin typeface="微软雅黑" panose="020B0503020204020204" charset="-122"/>
                <a:ea typeface="微软雅黑" panose="020B0503020204020204" charset="-122"/>
                <a:cs typeface="微软雅黑" panose="020B0503020204020204" charset="-122"/>
              </a:rPr>
              <a:t>化</a:t>
            </a:r>
            <a:r>
              <a:rPr sz="1400" b="1" dirty="0">
                <a:latin typeface="微软雅黑" panose="020B0503020204020204" charset="-122"/>
                <a:ea typeface="微软雅黑" panose="020B0503020204020204" charset="-122"/>
                <a:cs typeface="微软雅黑" panose="020B0503020204020204" charset="-122"/>
              </a:rPr>
              <a:t>的服务</a:t>
            </a:r>
            <a:endParaRPr sz="1400">
              <a:latin typeface="微软雅黑" panose="020B0503020204020204" charset="-122"/>
              <a:ea typeface="微软雅黑" panose="020B0503020204020204" charset="-122"/>
              <a:cs typeface="微软雅黑" panose="020B0503020204020204" charset="-122"/>
            </a:endParaRPr>
          </a:p>
        </p:txBody>
      </p:sp>
      <p:sp>
        <p:nvSpPr>
          <p:cNvPr id="27" name="object 27"/>
          <p:cNvSpPr/>
          <p:nvPr/>
        </p:nvSpPr>
        <p:spPr>
          <a:xfrm>
            <a:off x="4651000" y="925207"/>
            <a:ext cx="4028124" cy="335043"/>
          </a:xfrm>
          <a:custGeom>
            <a:avLst/>
            <a:gdLst/>
            <a:ahLst/>
            <a:cxnLst/>
            <a:rect l="l" t="t" r="r" b="b"/>
            <a:pathLst>
              <a:path w="4030979" h="335280">
                <a:moveTo>
                  <a:pt x="0" y="335279"/>
                </a:moveTo>
                <a:lnTo>
                  <a:pt x="4030979" y="335279"/>
                </a:lnTo>
                <a:lnTo>
                  <a:pt x="4030979" y="0"/>
                </a:lnTo>
                <a:lnTo>
                  <a:pt x="0" y="0"/>
                </a:lnTo>
                <a:lnTo>
                  <a:pt x="0" y="33527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p:nvPr/>
        </p:nvSpPr>
        <p:spPr>
          <a:xfrm>
            <a:off x="4651000" y="925207"/>
            <a:ext cx="4028124" cy="335043"/>
          </a:xfrm>
          <a:custGeom>
            <a:avLst/>
            <a:gdLst/>
            <a:ahLst/>
            <a:cxnLst/>
            <a:rect l="l" t="t" r="r" b="b"/>
            <a:pathLst>
              <a:path w="4030979" h="335280">
                <a:moveTo>
                  <a:pt x="0" y="335279"/>
                </a:moveTo>
                <a:lnTo>
                  <a:pt x="4030979" y="335279"/>
                </a:lnTo>
                <a:lnTo>
                  <a:pt x="4030979" y="0"/>
                </a:lnTo>
                <a:lnTo>
                  <a:pt x="0" y="0"/>
                </a:lnTo>
                <a:lnTo>
                  <a:pt x="0" y="335279"/>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9" name="object 29"/>
          <p:cNvSpPr txBox="1"/>
          <p:nvPr/>
        </p:nvSpPr>
        <p:spPr>
          <a:xfrm>
            <a:off x="4711408" y="961884"/>
            <a:ext cx="2003910" cy="227965"/>
          </a:xfrm>
          <a:prstGeom prst="rect">
            <a:avLst/>
          </a:prstGeom>
        </p:spPr>
        <p:txBody>
          <a:bodyPr vert="horz" wrap="square" lIns="0" tIns="13325" rIns="0" bIns="0" rtlCol="0">
            <a:spAutoFit/>
          </a:bodyPr>
          <a:lstStyle/>
          <a:p>
            <a:pPr marL="12700">
              <a:lnSpc>
                <a:spcPct val="100000"/>
              </a:lnSpc>
              <a:spcBef>
                <a:spcPts val="105"/>
              </a:spcBef>
            </a:pPr>
            <a:r>
              <a:rPr sz="1400" b="1" dirty="0">
                <a:latin typeface="微软雅黑" panose="020B0503020204020204" charset="-122"/>
                <a:ea typeface="微软雅黑" panose="020B0503020204020204" charset="-122"/>
                <a:cs typeface="微软雅黑" panose="020B0503020204020204" charset="-122"/>
              </a:rPr>
              <a:t>...</a:t>
            </a:r>
            <a:r>
              <a:rPr sz="1400" b="1" spc="-75" dirty="0">
                <a:latin typeface="微软雅黑" panose="020B0503020204020204" charset="-122"/>
                <a:ea typeface="微软雅黑" panose="020B0503020204020204" charset="-122"/>
                <a:cs typeface="微软雅黑" panose="020B0503020204020204" charset="-122"/>
              </a:rPr>
              <a:t> </a:t>
            </a:r>
            <a:r>
              <a:rPr sz="1400" b="1" spc="10" dirty="0">
                <a:latin typeface="微软雅黑" panose="020B0503020204020204" charset="-122"/>
                <a:ea typeface="微软雅黑" panose="020B0503020204020204" charset="-122"/>
                <a:cs typeface="微软雅黑" panose="020B0503020204020204" charset="-122"/>
              </a:rPr>
              <a:t>并且</a:t>
            </a:r>
            <a:r>
              <a:rPr sz="1400" b="1" dirty="0">
                <a:latin typeface="微软雅黑" panose="020B0503020204020204" charset="-122"/>
                <a:ea typeface="微软雅黑" panose="020B0503020204020204" charset="-122"/>
                <a:cs typeface="微软雅黑" panose="020B0503020204020204" charset="-122"/>
              </a:rPr>
              <a:t>需要</a:t>
            </a:r>
            <a:r>
              <a:rPr sz="1400" b="1" spc="-15" dirty="0">
                <a:latin typeface="微软雅黑" panose="020B0503020204020204" charset="-122"/>
                <a:ea typeface="微软雅黑" panose="020B0503020204020204" charset="-122"/>
                <a:cs typeface="微软雅黑" panose="020B0503020204020204" charset="-122"/>
              </a:rPr>
              <a:t>差</a:t>
            </a:r>
            <a:r>
              <a:rPr sz="1400" b="1" dirty="0">
                <a:latin typeface="微软雅黑" panose="020B0503020204020204" charset="-122"/>
                <a:ea typeface="微软雅黑" panose="020B0503020204020204" charset="-122"/>
                <a:cs typeface="微软雅黑" panose="020B0503020204020204" charset="-122"/>
              </a:rPr>
              <a:t>异化的</a:t>
            </a:r>
            <a:r>
              <a:rPr sz="1400" b="1" spc="-15" dirty="0">
                <a:latin typeface="微软雅黑" panose="020B0503020204020204" charset="-122"/>
                <a:ea typeface="微软雅黑" panose="020B0503020204020204" charset="-122"/>
                <a:cs typeface="微软雅黑" panose="020B0503020204020204" charset="-122"/>
              </a:rPr>
              <a:t>方</a:t>
            </a:r>
            <a:r>
              <a:rPr sz="1400" b="1" dirty="0">
                <a:latin typeface="微软雅黑" panose="020B0503020204020204" charset="-122"/>
                <a:ea typeface="微软雅黑" panose="020B0503020204020204" charset="-122"/>
                <a:cs typeface="微软雅黑" panose="020B0503020204020204" charset="-122"/>
              </a:rPr>
              <a:t>法</a:t>
            </a:r>
            <a:endParaRPr sz="1400">
              <a:latin typeface="微软雅黑" panose="020B0503020204020204" charset="-122"/>
              <a:ea typeface="微软雅黑" panose="020B0503020204020204" charset="-122"/>
              <a:cs typeface="微软雅黑" panose="020B0503020204020204" charset="-122"/>
            </a:endParaRPr>
          </a:p>
        </p:txBody>
      </p:sp>
      <p:sp>
        <p:nvSpPr>
          <p:cNvPr id="30" name="object 30"/>
          <p:cNvSpPr txBox="1"/>
          <p:nvPr/>
        </p:nvSpPr>
        <p:spPr>
          <a:xfrm>
            <a:off x="4792631" y="1423202"/>
            <a:ext cx="1488020" cy="549275"/>
          </a:xfrm>
          <a:prstGeom prst="rect">
            <a:avLst/>
          </a:prstGeom>
          <a:solidFill>
            <a:srgbClr val="C6DFFA"/>
          </a:solidFill>
          <a:ln w="9525">
            <a:solidFill>
              <a:srgbClr val="000000"/>
            </a:solidFill>
          </a:ln>
        </p:spPr>
        <p:txBody>
          <a:bodyPr vert="horz" wrap="square" lIns="0" tIns="119295" rIns="0" bIns="0" rtlCol="0">
            <a:spAutoFit/>
          </a:bodyPr>
          <a:lstStyle/>
          <a:p>
            <a:pPr marL="72390" marR="158115">
              <a:lnSpc>
                <a:spcPct val="100000"/>
              </a:lnSpc>
              <a:spcBef>
                <a:spcPts val="940"/>
              </a:spcBef>
            </a:pPr>
            <a:r>
              <a:rPr sz="1400" b="1" spc="10" dirty="0">
                <a:latin typeface="微软雅黑" panose="020B0503020204020204" charset="-122"/>
                <a:ea typeface="微软雅黑" panose="020B0503020204020204" charset="-122"/>
                <a:cs typeface="微软雅黑" panose="020B0503020204020204" charset="-122"/>
              </a:rPr>
              <a:t>需要</a:t>
            </a:r>
            <a:r>
              <a:rPr sz="1400" b="1" dirty="0">
                <a:latin typeface="微软雅黑" panose="020B0503020204020204" charset="-122"/>
                <a:ea typeface="微软雅黑" panose="020B0503020204020204" charset="-122"/>
                <a:cs typeface="微软雅黑" panose="020B0503020204020204" charset="-122"/>
              </a:rPr>
              <a:t>差异</a:t>
            </a:r>
            <a:r>
              <a:rPr sz="1400" b="1" spc="-10" dirty="0">
                <a:latin typeface="微软雅黑" panose="020B0503020204020204" charset="-122"/>
                <a:ea typeface="微软雅黑" panose="020B0503020204020204" charset="-122"/>
                <a:cs typeface="微软雅黑" panose="020B0503020204020204" charset="-122"/>
              </a:rPr>
              <a:t>化</a:t>
            </a:r>
            <a:r>
              <a:rPr sz="1400" b="1" dirty="0">
                <a:latin typeface="微软雅黑" panose="020B0503020204020204" charset="-122"/>
                <a:ea typeface="微软雅黑" panose="020B0503020204020204" charset="-122"/>
                <a:cs typeface="微软雅黑" panose="020B0503020204020204" charset="-122"/>
              </a:rPr>
              <a:t>的供 </a:t>
            </a:r>
            <a:r>
              <a:rPr sz="1400" b="1" spc="10" dirty="0">
                <a:latin typeface="微软雅黑" panose="020B0503020204020204" charset="-122"/>
                <a:ea typeface="微软雅黑" panose="020B0503020204020204" charset="-122"/>
                <a:cs typeface="微软雅黑" panose="020B0503020204020204" charset="-122"/>
              </a:rPr>
              <a:t>应商</a:t>
            </a:r>
            <a:r>
              <a:rPr sz="1400" b="1" dirty="0">
                <a:latin typeface="微软雅黑" panose="020B0503020204020204" charset="-122"/>
                <a:ea typeface="微软雅黑" panose="020B0503020204020204" charset="-122"/>
                <a:cs typeface="微软雅黑" panose="020B0503020204020204" charset="-122"/>
              </a:rPr>
              <a:t>关系</a:t>
            </a:r>
            <a:endParaRPr sz="1400">
              <a:latin typeface="微软雅黑" panose="020B0503020204020204" charset="-122"/>
              <a:ea typeface="微软雅黑" panose="020B0503020204020204" charset="-122"/>
              <a:cs typeface="微软雅黑" panose="020B0503020204020204" charset="-122"/>
            </a:endParaRPr>
          </a:p>
        </p:txBody>
      </p:sp>
      <p:sp>
        <p:nvSpPr>
          <p:cNvPr id="31" name="object 31"/>
          <p:cNvSpPr txBox="1"/>
          <p:nvPr/>
        </p:nvSpPr>
        <p:spPr>
          <a:xfrm>
            <a:off x="4792631" y="2317156"/>
            <a:ext cx="1488020" cy="451485"/>
          </a:xfrm>
          <a:prstGeom prst="rect">
            <a:avLst/>
          </a:prstGeom>
          <a:solidFill>
            <a:srgbClr val="C6DFFA"/>
          </a:solidFill>
          <a:ln w="9525">
            <a:solidFill>
              <a:srgbClr val="000000"/>
            </a:solidFill>
          </a:ln>
        </p:spPr>
        <p:txBody>
          <a:bodyPr vert="horz" wrap="square" lIns="0" tIns="6345" rIns="0" bIns="0" rtlCol="0">
            <a:spAutoFit/>
          </a:bodyPr>
          <a:lstStyle/>
          <a:p>
            <a:pPr>
              <a:lnSpc>
                <a:spcPct val="100000"/>
              </a:lnSpc>
              <a:spcBef>
                <a:spcPts val="50"/>
              </a:spcBef>
            </a:pPr>
            <a:endParaRPr sz="1500">
              <a:latin typeface="微软雅黑" panose="020B0503020204020204" charset="-122"/>
              <a:ea typeface="微软雅黑" panose="020B0503020204020204" charset="-122"/>
              <a:cs typeface="Times New Roman" panose="02020603050405020304"/>
            </a:endParaRPr>
          </a:p>
          <a:p>
            <a:pPr marL="72390">
              <a:lnSpc>
                <a:spcPct val="100000"/>
              </a:lnSpc>
            </a:pPr>
            <a:r>
              <a:rPr sz="1400" b="1" spc="10" dirty="0">
                <a:latin typeface="微软雅黑" panose="020B0503020204020204" charset="-122"/>
                <a:ea typeface="微软雅黑" panose="020B0503020204020204" charset="-122"/>
                <a:cs typeface="微软雅黑" panose="020B0503020204020204" charset="-122"/>
              </a:rPr>
              <a:t>大客</a:t>
            </a:r>
            <a:r>
              <a:rPr sz="1400" b="1" dirty="0">
                <a:latin typeface="微软雅黑" panose="020B0503020204020204" charset="-122"/>
                <a:ea typeface="微软雅黑" panose="020B0503020204020204" charset="-122"/>
                <a:cs typeface="微软雅黑" panose="020B0503020204020204" charset="-122"/>
              </a:rPr>
              <a:t>户利</a:t>
            </a:r>
            <a:r>
              <a:rPr sz="1400" b="1" spc="-10" dirty="0">
                <a:latin typeface="微软雅黑" panose="020B0503020204020204" charset="-122"/>
                <a:ea typeface="微软雅黑" panose="020B0503020204020204" charset="-122"/>
                <a:cs typeface="微软雅黑" panose="020B0503020204020204" charset="-122"/>
              </a:rPr>
              <a:t>润</a:t>
            </a:r>
            <a:r>
              <a:rPr sz="1400" b="1" dirty="0">
                <a:latin typeface="微软雅黑" panose="020B0503020204020204" charset="-122"/>
                <a:ea typeface="微软雅黑" panose="020B0503020204020204" charset="-122"/>
                <a:cs typeface="微软雅黑" panose="020B0503020204020204" charset="-122"/>
              </a:rPr>
              <a:t>减少</a:t>
            </a:r>
            <a:endParaRPr sz="1400">
              <a:latin typeface="微软雅黑" panose="020B0503020204020204" charset="-122"/>
              <a:ea typeface="微软雅黑" panose="020B0503020204020204" charset="-122"/>
              <a:cs typeface="微软雅黑" panose="020B0503020204020204" charset="-122"/>
            </a:endParaRPr>
          </a:p>
        </p:txBody>
      </p:sp>
      <p:sp>
        <p:nvSpPr>
          <p:cNvPr id="32" name="object 32"/>
          <p:cNvSpPr txBox="1"/>
          <p:nvPr/>
        </p:nvSpPr>
        <p:spPr>
          <a:xfrm>
            <a:off x="4792631" y="3558336"/>
            <a:ext cx="1488020" cy="549910"/>
          </a:xfrm>
          <a:prstGeom prst="rect">
            <a:avLst/>
          </a:prstGeom>
          <a:solidFill>
            <a:srgbClr val="C6DFFA"/>
          </a:solidFill>
          <a:ln w="9525">
            <a:solidFill>
              <a:srgbClr val="000000"/>
            </a:solidFill>
          </a:ln>
        </p:spPr>
        <p:txBody>
          <a:bodyPr vert="horz" wrap="square" lIns="0" tIns="119929" rIns="0" bIns="0" rtlCol="0">
            <a:spAutoFit/>
          </a:bodyPr>
          <a:lstStyle/>
          <a:p>
            <a:pPr marL="72390" marR="158115">
              <a:lnSpc>
                <a:spcPct val="100000"/>
              </a:lnSpc>
              <a:spcBef>
                <a:spcPts val="945"/>
              </a:spcBef>
            </a:pPr>
            <a:r>
              <a:rPr sz="1400" b="1" spc="10" dirty="0">
                <a:latin typeface="微软雅黑" panose="020B0503020204020204" charset="-122"/>
                <a:ea typeface="微软雅黑" panose="020B0503020204020204" charset="-122"/>
                <a:cs typeface="微软雅黑" panose="020B0503020204020204" charset="-122"/>
              </a:rPr>
              <a:t>产品</a:t>
            </a:r>
            <a:r>
              <a:rPr sz="1400" b="1" dirty="0">
                <a:latin typeface="微软雅黑" panose="020B0503020204020204" charset="-122"/>
                <a:ea typeface="微软雅黑" panose="020B0503020204020204" charset="-122"/>
                <a:cs typeface="微软雅黑" panose="020B0503020204020204" charset="-122"/>
              </a:rPr>
              <a:t>和服</a:t>
            </a:r>
            <a:r>
              <a:rPr sz="1400" b="1" spc="-10" dirty="0">
                <a:latin typeface="微软雅黑" panose="020B0503020204020204" charset="-122"/>
                <a:ea typeface="微软雅黑" panose="020B0503020204020204" charset="-122"/>
                <a:cs typeface="微软雅黑" panose="020B0503020204020204" charset="-122"/>
              </a:rPr>
              <a:t>务</a:t>
            </a:r>
            <a:r>
              <a:rPr sz="1400" b="1" dirty="0">
                <a:latin typeface="微软雅黑" panose="020B0503020204020204" charset="-122"/>
                <a:ea typeface="微软雅黑" panose="020B0503020204020204" charset="-122"/>
                <a:cs typeface="微软雅黑" panose="020B0503020204020204" charset="-122"/>
              </a:rPr>
              <a:t>的复 </a:t>
            </a:r>
            <a:r>
              <a:rPr sz="1400" b="1" spc="10" dirty="0">
                <a:latin typeface="微软雅黑" panose="020B0503020204020204" charset="-122"/>
                <a:ea typeface="微软雅黑" panose="020B0503020204020204" charset="-122"/>
                <a:cs typeface="微软雅黑" panose="020B0503020204020204" charset="-122"/>
              </a:rPr>
              <a:t>杂性</a:t>
            </a:r>
            <a:r>
              <a:rPr sz="1400" b="1" dirty="0">
                <a:latin typeface="微软雅黑" panose="020B0503020204020204" charset="-122"/>
                <a:ea typeface="微软雅黑" panose="020B0503020204020204" charset="-122"/>
                <a:cs typeface="微软雅黑" panose="020B0503020204020204" charset="-122"/>
              </a:rPr>
              <a:t>越来</a:t>
            </a:r>
            <a:r>
              <a:rPr sz="1400" b="1" spc="-10" dirty="0">
                <a:latin typeface="微软雅黑" panose="020B0503020204020204" charset="-122"/>
                <a:ea typeface="微软雅黑" panose="020B0503020204020204" charset="-122"/>
                <a:cs typeface="微软雅黑" panose="020B0503020204020204" charset="-122"/>
              </a:rPr>
              <a:t>越</a:t>
            </a:r>
            <a:r>
              <a:rPr sz="1400" b="1" dirty="0">
                <a:latin typeface="微软雅黑" panose="020B0503020204020204" charset="-122"/>
                <a:ea typeface="微软雅黑" panose="020B0503020204020204" charset="-122"/>
                <a:cs typeface="微软雅黑" panose="020B0503020204020204" charset="-122"/>
              </a:rPr>
              <a:t>高</a:t>
            </a:r>
            <a:endParaRPr sz="1400">
              <a:latin typeface="微软雅黑" panose="020B0503020204020204" charset="-122"/>
              <a:ea typeface="微软雅黑" panose="020B0503020204020204" charset="-122"/>
              <a:cs typeface="微软雅黑" panose="020B0503020204020204" charset="-122"/>
            </a:endParaRPr>
          </a:p>
        </p:txBody>
      </p:sp>
      <p:sp>
        <p:nvSpPr>
          <p:cNvPr id="33" name="object 33"/>
          <p:cNvSpPr/>
          <p:nvPr/>
        </p:nvSpPr>
        <p:spPr>
          <a:xfrm>
            <a:off x="182749" y="1595292"/>
            <a:ext cx="3900581" cy="3539520"/>
          </a:xfrm>
          <a:custGeom>
            <a:avLst/>
            <a:gdLst/>
            <a:ahLst/>
            <a:cxnLst/>
            <a:rect l="l" t="t" r="r" b="b"/>
            <a:pathLst>
              <a:path w="3903345" h="3542029">
                <a:moveTo>
                  <a:pt x="0" y="3541776"/>
                </a:moveTo>
                <a:lnTo>
                  <a:pt x="3902964" y="3541776"/>
                </a:lnTo>
                <a:lnTo>
                  <a:pt x="3902964" y="0"/>
                </a:lnTo>
                <a:lnTo>
                  <a:pt x="0" y="0"/>
                </a:lnTo>
                <a:lnTo>
                  <a:pt x="0" y="3541776"/>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4" name="object 34"/>
          <p:cNvSpPr/>
          <p:nvPr/>
        </p:nvSpPr>
        <p:spPr>
          <a:xfrm>
            <a:off x="4184986" y="1822207"/>
            <a:ext cx="347734" cy="3088991"/>
          </a:xfrm>
          <a:custGeom>
            <a:avLst/>
            <a:gdLst/>
            <a:ahLst/>
            <a:cxnLst/>
            <a:rect l="l" t="t" r="r" b="b"/>
            <a:pathLst>
              <a:path w="347979" h="3091179">
                <a:moveTo>
                  <a:pt x="0" y="0"/>
                </a:moveTo>
                <a:lnTo>
                  <a:pt x="0" y="3090672"/>
                </a:lnTo>
                <a:lnTo>
                  <a:pt x="347472" y="1545336"/>
                </a:lnTo>
                <a:lnTo>
                  <a:pt x="0"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5" name="object 35"/>
          <p:cNvSpPr/>
          <p:nvPr/>
        </p:nvSpPr>
        <p:spPr>
          <a:xfrm>
            <a:off x="4184986" y="1822207"/>
            <a:ext cx="347734" cy="3088991"/>
          </a:xfrm>
          <a:custGeom>
            <a:avLst/>
            <a:gdLst/>
            <a:ahLst/>
            <a:cxnLst/>
            <a:rect l="l" t="t" r="r" b="b"/>
            <a:pathLst>
              <a:path w="347979" h="3091179">
                <a:moveTo>
                  <a:pt x="0" y="0"/>
                </a:moveTo>
                <a:lnTo>
                  <a:pt x="347472" y="1545336"/>
                </a:lnTo>
                <a:lnTo>
                  <a:pt x="0" y="3090672"/>
                </a:lnTo>
                <a:lnTo>
                  <a:pt x="0" y="0"/>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6" name="object 36"/>
          <p:cNvSpPr/>
          <p:nvPr/>
        </p:nvSpPr>
        <p:spPr>
          <a:xfrm>
            <a:off x="4651000" y="925207"/>
            <a:ext cx="4028124" cy="4888575"/>
          </a:xfrm>
          <a:custGeom>
            <a:avLst/>
            <a:gdLst/>
            <a:ahLst/>
            <a:cxnLst/>
            <a:rect l="l" t="t" r="r" b="b"/>
            <a:pathLst>
              <a:path w="4030979" h="4892040">
                <a:moveTo>
                  <a:pt x="0" y="4892040"/>
                </a:moveTo>
                <a:lnTo>
                  <a:pt x="4030979" y="4892040"/>
                </a:lnTo>
                <a:lnTo>
                  <a:pt x="4030979" y="0"/>
                </a:lnTo>
                <a:lnTo>
                  <a:pt x="0" y="0"/>
                </a:lnTo>
                <a:lnTo>
                  <a:pt x="0" y="4892040"/>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7" name="object 37"/>
          <p:cNvSpPr txBox="1"/>
          <p:nvPr/>
        </p:nvSpPr>
        <p:spPr>
          <a:xfrm>
            <a:off x="6357685" y="1399216"/>
            <a:ext cx="1821159" cy="443230"/>
          </a:xfrm>
          <a:prstGeom prst="rect">
            <a:avLst/>
          </a:prstGeom>
        </p:spPr>
        <p:txBody>
          <a:bodyPr vert="horz" wrap="square" lIns="0" tIns="13325" rIns="0" bIns="0" rtlCol="0">
            <a:spAutoFit/>
          </a:bodyPr>
          <a:lstStyle/>
          <a:p>
            <a:pPr marL="204470" indent="-192405">
              <a:lnSpc>
                <a:spcPct val="100000"/>
              </a:lnSpc>
              <a:spcBef>
                <a:spcPts val="105"/>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无法再提供部分要求</a:t>
            </a:r>
            <a:endParaRPr sz="1400">
              <a:latin typeface="微软雅黑" panose="020B0503020204020204" charset="-122"/>
              <a:ea typeface="微软雅黑" panose="020B0503020204020204" charset="-122"/>
              <a:cs typeface="微软雅黑" panose="020B0503020204020204" charset="-122"/>
            </a:endParaRPr>
          </a:p>
          <a:p>
            <a:pPr marL="204470" indent="-192405">
              <a:lnSpc>
                <a:spcPct val="100000"/>
              </a:lnSpc>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不断增加的服务需求</a:t>
            </a:r>
            <a:endParaRPr sz="1400">
              <a:latin typeface="微软雅黑" panose="020B0503020204020204" charset="-122"/>
              <a:ea typeface="微软雅黑" panose="020B0503020204020204" charset="-122"/>
              <a:cs typeface="微软雅黑" panose="020B0503020204020204" charset="-122"/>
            </a:endParaRPr>
          </a:p>
        </p:txBody>
      </p:sp>
      <p:sp>
        <p:nvSpPr>
          <p:cNvPr id="38" name="object 38"/>
          <p:cNvSpPr txBox="1"/>
          <p:nvPr/>
        </p:nvSpPr>
        <p:spPr>
          <a:xfrm>
            <a:off x="6370376" y="2292536"/>
            <a:ext cx="2152395" cy="1699260"/>
          </a:xfrm>
          <a:prstGeom prst="rect">
            <a:avLst/>
          </a:prstGeom>
        </p:spPr>
        <p:txBody>
          <a:bodyPr vert="horz" wrap="square" lIns="0" tIns="13325" rIns="0" bIns="0" rtlCol="0">
            <a:spAutoFit/>
          </a:bodyPr>
          <a:lstStyle/>
          <a:p>
            <a:pPr marL="191770" indent="-192405">
              <a:lnSpc>
                <a:spcPct val="100000"/>
              </a:lnSpc>
              <a:spcBef>
                <a:spcPts val="105"/>
              </a:spcBef>
              <a:buClr>
                <a:srgbClr val="00295F"/>
              </a:buClr>
              <a:buSzPct val="125000"/>
              <a:buFont typeface="Arial" panose="020B0604020202020204"/>
              <a:buChar char="▪"/>
              <a:tabLst>
                <a:tab pos="192405" algn="l"/>
              </a:tabLst>
            </a:pPr>
            <a:r>
              <a:rPr sz="1400" dirty="0">
                <a:latin typeface="微软雅黑" panose="020B0503020204020204" charset="-122"/>
                <a:ea typeface="微软雅黑" panose="020B0503020204020204" charset="-122"/>
                <a:cs typeface="微软雅黑" panose="020B0503020204020204" charset="-122"/>
              </a:rPr>
              <a:t>客户的同类最佳采购做法</a:t>
            </a:r>
            <a:endParaRPr sz="1400">
              <a:latin typeface="微软雅黑" panose="020B0503020204020204" charset="-122"/>
              <a:ea typeface="微软雅黑" panose="020B0503020204020204" charset="-122"/>
              <a:cs typeface="微软雅黑" panose="020B0503020204020204" charset="-122"/>
            </a:endParaRPr>
          </a:p>
          <a:p>
            <a:pPr marL="191770" indent="-192405">
              <a:lnSpc>
                <a:spcPct val="100000"/>
              </a:lnSpc>
              <a:buClr>
                <a:srgbClr val="00295F"/>
              </a:buClr>
              <a:buSzPct val="125000"/>
              <a:buFont typeface="Arial" panose="020B0604020202020204"/>
              <a:buChar char="▪"/>
              <a:tabLst>
                <a:tab pos="192405" algn="l"/>
              </a:tabLst>
            </a:pPr>
            <a:r>
              <a:rPr sz="1400" dirty="0">
                <a:latin typeface="微软雅黑" panose="020B0503020204020204" charset="-122"/>
                <a:ea typeface="微软雅黑" panose="020B0503020204020204" charset="-122"/>
                <a:cs typeface="微软雅黑" panose="020B0503020204020204" charset="-122"/>
              </a:rPr>
              <a:t>新的复杂的供应合同</a:t>
            </a:r>
            <a:endParaRPr sz="1400">
              <a:latin typeface="微软雅黑" panose="020B0503020204020204" charset="-122"/>
              <a:ea typeface="微软雅黑" panose="020B0503020204020204" charset="-122"/>
              <a:cs typeface="微软雅黑" panose="020B0503020204020204" charset="-122"/>
            </a:endParaRPr>
          </a:p>
          <a:p>
            <a:pPr marL="191770" indent="-192405">
              <a:lnSpc>
                <a:spcPts val="1675"/>
              </a:lnSpc>
              <a:buClr>
                <a:srgbClr val="00295F"/>
              </a:buClr>
              <a:buSzPct val="125000"/>
              <a:buFont typeface="Arial" panose="020B0604020202020204"/>
              <a:buChar char="▪"/>
              <a:tabLst>
                <a:tab pos="192405" algn="l"/>
              </a:tabLst>
            </a:pPr>
            <a:r>
              <a:rPr sz="1400" dirty="0">
                <a:latin typeface="微软雅黑" panose="020B0503020204020204" charset="-122"/>
                <a:ea typeface="微软雅黑" panose="020B0503020204020204" charset="-122"/>
                <a:cs typeface="微软雅黑" panose="020B0503020204020204" charset="-122"/>
              </a:rPr>
              <a:t>新客户细分和地域的增长</a:t>
            </a:r>
            <a:endParaRPr sz="1400">
              <a:latin typeface="微软雅黑" panose="020B0503020204020204" charset="-122"/>
              <a:ea typeface="微软雅黑" panose="020B0503020204020204" charset="-122"/>
              <a:cs typeface="微软雅黑" panose="020B0503020204020204" charset="-122"/>
            </a:endParaRPr>
          </a:p>
          <a:p>
            <a:pPr marL="191770" indent="-192405">
              <a:lnSpc>
                <a:spcPts val="1690"/>
              </a:lnSpc>
              <a:spcBef>
                <a:spcPts val="40"/>
              </a:spcBef>
              <a:buClr>
                <a:srgbClr val="00295F"/>
              </a:buClr>
              <a:buSzPct val="125000"/>
              <a:buFont typeface="Arial" panose="020B0604020202020204"/>
              <a:buChar char="▪"/>
              <a:tabLst>
                <a:tab pos="192405" algn="l"/>
              </a:tabLst>
            </a:pPr>
            <a:r>
              <a:rPr sz="1400" dirty="0">
                <a:latin typeface="微软雅黑" panose="020B0503020204020204" charset="-122"/>
                <a:ea typeface="微软雅黑" panose="020B0503020204020204" charset="-122"/>
                <a:cs typeface="微软雅黑" panose="020B0503020204020204" charset="-122"/>
              </a:rPr>
              <a:t>现有市场得到的关注越来 越少</a:t>
            </a:r>
            <a:endParaRPr sz="1400">
              <a:latin typeface="微软雅黑" panose="020B0503020204020204" charset="-122"/>
              <a:ea typeface="微软雅黑" panose="020B0503020204020204" charset="-122"/>
              <a:cs typeface="微软雅黑" panose="020B0503020204020204" charset="-122"/>
            </a:endParaRPr>
          </a:p>
          <a:p>
            <a:pPr marL="191770" indent="-192405">
              <a:lnSpc>
                <a:spcPct val="101000"/>
              </a:lnSpc>
              <a:spcBef>
                <a:spcPts val="1310"/>
              </a:spcBef>
              <a:buClr>
                <a:srgbClr val="00295F"/>
              </a:buClr>
              <a:buSzPct val="125000"/>
              <a:buFont typeface="Arial" panose="020B0604020202020204"/>
              <a:buChar char="▪"/>
              <a:tabLst>
                <a:tab pos="192405" algn="l"/>
              </a:tabLst>
            </a:pPr>
            <a:r>
              <a:rPr sz="1400" dirty="0">
                <a:latin typeface="微软雅黑" panose="020B0503020204020204" charset="-122"/>
                <a:ea typeface="微软雅黑" panose="020B0503020204020204" charset="-122"/>
                <a:cs typeface="微软雅黑" panose="020B0503020204020204" charset="-122"/>
              </a:rPr>
              <a:t>客户对市场间协调的需求 越来越高</a:t>
            </a:r>
            <a:endParaRPr sz="1400">
              <a:latin typeface="微软雅黑" panose="020B0503020204020204" charset="-122"/>
              <a:ea typeface="微软雅黑" panose="020B0503020204020204" charset="-122"/>
              <a:cs typeface="微软雅黑" panose="020B0503020204020204" charset="-122"/>
            </a:endParaRPr>
          </a:p>
        </p:txBody>
      </p:sp>
      <p:sp>
        <p:nvSpPr>
          <p:cNvPr id="39" name="object 39"/>
          <p:cNvSpPr txBox="1"/>
          <p:nvPr/>
        </p:nvSpPr>
        <p:spPr>
          <a:xfrm>
            <a:off x="6370376" y="3961098"/>
            <a:ext cx="2214580" cy="227965"/>
          </a:xfrm>
          <a:prstGeom prst="rect">
            <a:avLst/>
          </a:prstGeom>
        </p:spPr>
        <p:txBody>
          <a:bodyPr vert="horz" wrap="square" lIns="0" tIns="13325" rIns="0" bIns="0" rtlCol="0">
            <a:spAutoFit/>
          </a:bodyPr>
          <a:lstStyle/>
          <a:p>
            <a:pPr marL="191770" indent="-192405">
              <a:lnSpc>
                <a:spcPct val="100000"/>
              </a:lnSpc>
              <a:spcBef>
                <a:spcPts val="105"/>
              </a:spcBef>
              <a:buClr>
                <a:srgbClr val="00295F"/>
              </a:buClr>
              <a:buSzPct val="125000"/>
              <a:buFont typeface="Arial" panose="020B0604020202020204"/>
              <a:buChar char="▪"/>
              <a:tabLst>
                <a:tab pos="192405" algn="l"/>
              </a:tabLst>
            </a:pPr>
            <a:r>
              <a:rPr sz="1400" dirty="0">
                <a:latin typeface="微软雅黑" panose="020B0503020204020204" charset="-122"/>
                <a:ea typeface="微软雅黑" panose="020B0503020204020204" charset="-122"/>
                <a:cs typeface="微软雅黑" panose="020B0503020204020204" charset="-122"/>
              </a:rPr>
              <a:t>对解决方案和</a:t>
            </a:r>
            <a:r>
              <a:rPr sz="1400" spc="5" dirty="0">
                <a:latin typeface="微软雅黑" panose="020B0503020204020204" charset="-122"/>
                <a:ea typeface="微软雅黑" panose="020B0503020204020204" charset="-122"/>
                <a:cs typeface="微软雅黑" panose="020B0503020204020204" charset="-122"/>
              </a:rPr>
              <a:t>/或</a:t>
            </a:r>
            <a:r>
              <a:rPr sz="1400" dirty="0">
                <a:latin typeface="微软雅黑" panose="020B0503020204020204" charset="-122"/>
                <a:ea typeface="微软雅黑" panose="020B0503020204020204" charset="-122"/>
                <a:cs typeface="微软雅黑" panose="020B0503020204020204" charset="-122"/>
              </a:rPr>
              <a:t>合</a:t>
            </a:r>
            <a:r>
              <a:rPr sz="1400" spc="-10" dirty="0">
                <a:latin typeface="微软雅黑" panose="020B0503020204020204" charset="-122"/>
                <a:ea typeface="微软雅黑" panose="020B0503020204020204" charset="-122"/>
                <a:cs typeface="微软雅黑" panose="020B0503020204020204" charset="-122"/>
              </a:rPr>
              <a:t>作</a:t>
            </a:r>
            <a:r>
              <a:rPr sz="1400" spc="5" dirty="0">
                <a:latin typeface="微软雅黑" panose="020B0503020204020204" charset="-122"/>
                <a:ea typeface="微软雅黑" panose="020B0503020204020204" charset="-122"/>
                <a:cs typeface="微软雅黑" panose="020B0503020204020204" charset="-122"/>
              </a:rPr>
              <a:t>关系</a:t>
            </a:r>
            <a:endParaRPr sz="1400">
              <a:latin typeface="微软雅黑" panose="020B0503020204020204" charset="-122"/>
              <a:ea typeface="微软雅黑" panose="020B0503020204020204" charset="-122"/>
              <a:cs typeface="微软雅黑" panose="020B0503020204020204" charset="-122"/>
            </a:endParaRPr>
          </a:p>
        </p:txBody>
      </p:sp>
      <p:sp>
        <p:nvSpPr>
          <p:cNvPr id="40" name="object 40"/>
          <p:cNvSpPr txBox="1"/>
          <p:nvPr/>
        </p:nvSpPr>
        <p:spPr>
          <a:xfrm>
            <a:off x="6549574" y="4174866"/>
            <a:ext cx="560308" cy="227330"/>
          </a:xfrm>
          <a:prstGeom prst="rect">
            <a:avLst/>
          </a:prstGeom>
        </p:spPr>
        <p:txBody>
          <a:bodyPr vert="horz" wrap="square" lIns="0" tIns="12691" rIns="0" bIns="0" rtlCol="0">
            <a:spAutoFit/>
          </a:bodyPr>
          <a:lstStyle/>
          <a:p>
            <a:pPr marL="12700">
              <a:lnSpc>
                <a:spcPct val="100000"/>
              </a:lnSpc>
              <a:spcBef>
                <a:spcPts val="100"/>
              </a:spcBef>
            </a:pPr>
            <a:r>
              <a:rPr sz="1400" dirty="0">
                <a:latin typeface="微软雅黑" panose="020B0503020204020204" charset="-122"/>
                <a:ea typeface="微软雅黑" panose="020B0503020204020204" charset="-122"/>
                <a:cs typeface="微软雅黑" panose="020B0503020204020204" charset="-122"/>
              </a:rPr>
              <a:t>的要求</a:t>
            </a:r>
            <a:endParaRPr sz="1400" dirty="0">
              <a:latin typeface="微软雅黑" panose="020B0503020204020204" charset="-122"/>
              <a:ea typeface="微软雅黑" panose="020B0503020204020204" charset="-122"/>
              <a:cs typeface="微软雅黑" panose="020B0503020204020204" charset="-122"/>
            </a:endParaRPr>
          </a:p>
        </p:txBody>
      </p:sp>
      <p:sp>
        <p:nvSpPr>
          <p:cNvPr id="41" name="object 41"/>
          <p:cNvSpPr/>
          <p:nvPr/>
        </p:nvSpPr>
        <p:spPr>
          <a:xfrm>
            <a:off x="5916547" y="4628950"/>
            <a:ext cx="1544495" cy="172598"/>
          </a:xfrm>
          <a:custGeom>
            <a:avLst/>
            <a:gdLst/>
            <a:ahLst/>
            <a:cxnLst/>
            <a:rect l="l" t="t" r="r" b="b"/>
            <a:pathLst>
              <a:path w="1545590" h="172720">
                <a:moveTo>
                  <a:pt x="1545336" y="0"/>
                </a:moveTo>
                <a:lnTo>
                  <a:pt x="0" y="0"/>
                </a:lnTo>
                <a:lnTo>
                  <a:pt x="772667" y="172211"/>
                </a:lnTo>
                <a:lnTo>
                  <a:pt x="1545336"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2" name="object 42"/>
          <p:cNvSpPr/>
          <p:nvPr/>
        </p:nvSpPr>
        <p:spPr>
          <a:xfrm>
            <a:off x="5916547" y="4628950"/>
            <a:ext cx="1544495" cy="172598"/>
          </a:xfrm>
          <a:custGeom>
            <a:avLst/>
            <a:gdLst/>
            <a:ahLst/>
            <a:cxnLst/>
            <a:rect l="l" t="t" r="r" b="b"/>
            <a:pathLst>
              <a:path w="1545590" h="172720">
                <a:moveTo>
                  <a:pt x="1545336" y="0"/>
                </a:moveTo>
                <a:lnTo>
                  <a:pt x="772667" y="172211"/>
                </a:lnTo>
                <a:lnTo>
                  <a:pt x="0" y="0"/>
                </a:lnTo>
                <a:lnTo>
                  <a:pt x="1545336" y="0"/>
                </a:lnTo>
                <a:close/>
              </a:path>
            </a:pathLst>
          </a:custGeom>
          <a:ln w="952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04584" y="4385282"/>
            <a:ext cx="1293213" cy="576172"/>
          </a:xfrm>
          <a:custGeom>
            <a:avLst/>
            <a:gdLst/>
            <a:ahLst/>
            <a:cxnLst/>
            <a:rect l="l" t="t" r="r" b="b"/>
            <a:pathLst>
              <a:path w="1294130" h="576579">
                <a:moveTo>
                  <a:pt x="646938" y="0"/>
                </a:moveTo>
                <a:lnTo>
                  <a:pt x="580793" y="1486"/>
                </a:lnTo>
                <a:lnTo>
                  <a:pt x="516558" y="5849"/>
                </a:lnTo>
                <a:lnTo>
                  <a:pt x="454560" y="12944"/>
                </a:lnTo>
                <a:lnTo>
                  <a:pt x="395122" y="22627"/>
                </a:lnTo>
                <a:lnTo>
                  <a:pt x="338571" y="34753"/>
                </a:lnTo>
                <a:lnTo>
                  <a:pt x="285230" y="49178"/>
                </a:lnTo>
                <a:lnTo>
                  <a:pt x="235427" y="65756"/>
                </a:lnTo>
                <a:lnTo>
                  <a:pt x="189485" y="84343"/>
                </a:lnTo>
                <a:lnTo>
                  <a:pt x="147730" y="104796"/>
                </a:lnTo>
                <a:lnTo>
                  <a:pt x="110488" y="126968"/>
                </a:lnTo>
                <a:lnTo>
                  <a:pt x="78082" y="150717"/>
                </a:lnTo>
                <a:lnTo>
                  <a:pt x="29085" y="202363"/>
                </a:lnTo>
                <a:lnTo>
                  <a:pt x="3340" y="258577"/>
                </a:lnTo>
                <a:lnTo>
                  <a:pt x="0" y="288036"/>
                </a:lnTo>
                <a:lnTo>
                  <a:pt x="3340" y="317494"/>
                </a:lnTo>
                <a:lnTo>
                  <a:pt x="29085" y="373708"/>
                </a:lnTo>
                <a:lnTo>
                  <a:pt x="78082" y="425354"/>
                </a:lnTo>
                <a:lnTo>
                  <a:pt x="110488" y="449103"/>
                </a:lnTo>
                <a:lnTo>
                  <a:pt x="147730" y="471275"/>
                </a:lnTo>
                <a:lnTo>
                  <a:pt x="189485" y="491728"/>
                </a:lnTo>
                <a:lnTo>
                  <a:pt x="235427" y="510315"/>
                </a:lnTo>
                <a:lnTo>
                  <a:pt x="285230" y="526893"/>
                </a:lnTo>
                <a:lnTo>
                  <a:pt x="338571" y="541318"/>
                </a:lnTo>
                <a:lnTo>
                  <a:pt x="395122" y="553444"/>
                </a:lnTo>
                <a:lnTo>
                  <a:pt x="454560" y="563127"/>
                </a:lnTo>
                <a:lnTo>
                  <a:pt x="516558" y="570222"/>
                </a:lnTo>
                <a:lnTo>
                  <a:pt x="580793" y="574585"/>
                </a:lnTo>
                <a:lnTo>
                  <a:pt x="646938" y="576072"/>
                </a:lnTo>
                <a:lnTo>
                  <a:pt x="713076" y="574585"/>
                </a:lnTo>
                <a:lnTo>
                  <a:pt x="777306" y="570222"/>
                </a:lnTo>
                <a:lnTo>
                  <a:pt x="839301" y="563127"/>
                </a:lnTo>
                <a:lnTo>
                  <a:pt x="898737" y="553444"/>
                </a:lnTo>
                <a:lnTo>
                  <a:pt x="955288" y="541318"/>
                </a:lnTo>
                <a:lnTo>
                  <a:pt x="1008628" y="526893"/>
                </a:lnTo>
                <a:lnTo>
                  <a:pt x="1058432" y="510315"/>
                </a:lnTo>
                <a:lnTo>
                  <a:pt x="1104376" y="491728"/>
                </a:lnTo>
                <a:lnTo>
                  <a:pt x="1146132" y="471275"/>
                </a:lnTo>
                <a:lnTo>
                  <a:pt x="1183377" y="449103"/>
                </a:lnTo>
                <a:lnTo>
                  <a:pt x="1215785" y="425354"/>
                </a:lnTo>
                <a:lnTo>
                  <a:pt x="1264787" y="373708"/>
                </a:lnTo>
                <a:lnTo>
                  <a:pt x="1290535" y="317494"/>
                </a:lnTo>
                <a:lnTo>
                  <a:pt x="1293876" y="288036"/>
                </a:lnTo>
                <a:lnTo>
                  <a:pt x="1290535" y="258577"/>
                </a:lnTo>
                <a:lnTo>
                  <a:pt x="1264787" y="202363"/>
                </a:lnTo>
                <a:lnTo>
                  <a:pt x="1215785" y="150717"/>
                </a:lnTo>
                <a:lnTo>
                  <a:pt x="1183377" y="126968"/>
                </a:lnTo>
                <a:lnTo>
                  <a:pt x="1146132" y="104796"/>
                </a:lnTo>
                <a:lnTo>
                  <a:pt x="1104376" y="84343"/>
                </a:lnTo>
                <a:lnTo>
                  <a:pt x="1058432" y="65756"/>
                </a:lnTo>
                <a:lnTo>
                  <a:pt x="1008628" y="49178"/>
                </a:lnTo>
                <a:lnTo>
                  <a:pt x="955288" y="34753"/>
                </a:lnTo>
                <a:lnTo>
                  <a:pt x="898737" y="22627"/>
                </a:lnTo>
                <a:lnTo>
                  <a:pt x="839301" y="12944"/>
                </a:lnTo>
                <a:lnTo>
                  <a:pt x="777306" y="5849"/>
                </a:lnTo>
                <a:lnTo>
                  <a:pt x="713076" y="1486"/>
                </a:lnTo>
                <a:lnTo>
                  <a:pt x="646938" y="0"/>
                </a:lnTo>
                <a:close/>
              </a:path>
            </a:pathLst>
          </a:custGeom>
          <a:solidFill>
            <a:srgbClr val="1F1F7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 name="object 4"/>
          <p:cNvSpPr/>
          <p:nvPr/>
        </p:nvSpPr>
        <p:spPr>
          <a:xfrm>
            <a:off x="304584" y="4385282"/>
            <a:ext cx="1293213" cy="576172"/>
          </a:xfrm>
          <a:custGeom>
            <a:avLst/>
            <a:gdLst/>
            <a:ahLst/>
            <a:cxnLst/>
            <a:rect l="l" t="t" r="r" b="b"/>
            <a:pathLst>
              <a:path w="1294130" h="576579">
                <a:moveTo>
                  <a:pt x="0" y="288036"/>
                </a:moveTo>
                <a:lnTo>
                  <a:pt x="13143" y="229971"/>
                </a:lnTo>
                <a:lnTo>
                  <a:pt x="50840" y="175896"/>
                </a:lnTo>
                <a:lnTo>
                  <a:pt x="110488" y="126968"/>
                </a:lnTo>
                <a:lnTo>
                  <a:pt x="147730" y="104796"/>
                </a:lnTo>
                <a:lnTo>
                  <a:pt x="189485" y="84343"/>
                </a:lnTo>
                <a:lnTo>
                  <a:pt x="235427" y="65756"/>
                </a:lnTo>
                <a:lnTo>
                  <a:pt x="285230" y="49178"/>
                </a:lnTo>
                <a:lnTo>
                  <a:pt x="338571" y="34753"/>
                </a:lnTo>
                <a:lnTo>
                  <a:pt x="395122" y="22627"/>
                </a:lnTo>
                <a:lnTo>
                  <a:pt x="454560" y="12944"/>
                </a:lnTo>
                <a:lnTo>
                  <a:pt x="516558" y="5849"/>
                </a:lnTo>
                <a:lnTo>
                  <a:pt x="580793" y="1486"/>
                </a:lnTo>
                <a:lnTo>
                  <a:pt x="646938" y="0"/>
                </a:lnTo>
                <a:lnTo>
                  <a:pt x="713076" y="1486"/>
                </a:lnTo>
                <a:lnTo>
                  <a:pt x="777306" y="5849"/>
                </a:lnTo>
                <a:lnTo>
                  <a:pt x="839301" y="12944"/>
                </a:lnTo>
                <a:lnTo>
                  <a:pt x="898737" y="22627"/>
                </a:lnTo>
                <a:lnTo>
                  <a:pt x="955288" y="34753"/>
                </a:lnTo>
                <a:lnTo>
                  <a:pt x="1008628" y="49178"/>
                </a:lnTo>
                <a:lnTo>
                  <a:pt x="1058432" y="65756"/>
                </a:lnTo>
                <a:lnTo>
                  <a:pt x="1104376" y="84343"/>
                </a:lnTo>
                <a:lnTo>
                  <a:pt x="1146132" y="104796"/>
                </a:lnTo>
                <a:lnTo>
                  <a:pt x="1183377" y="126968"/>
                </a:lnTo>
                <a:lnTo>
                  <a:pt x="1215785" y="150717"/>
                </a:lnTo>
                <a:lnTo>
                  <a:pt x="1264787" y="202363"/>
                </a:lnTo>
                <a:lnTo>
                  <a:pt x="1290535" y="258577"/>
                </a:lnTo>
                <a:lnTo>
                  <a:pt x="1293876" y="288036"/>
                </a:lnTo>
                <a:lnTo>
                  <a:pt x="1290535" y="317494"/>
                </a:lnTo>
                <a:lnTo>
                  <a:pt x="1264787" y="373708"/>
                </a:lnTo>
                <a:lnTo>
                  <a:pt x="1215785" y="425354"/>
                </a:lnTo>
                <a:lnTo>
                  <a:pt x="1183377" y="449103"/>
                </a:lnTo>
                <a:lnTo>
                  <a:pt x="1146132" y="471275"/>
                </a:lnTo>
                <a:lnTo>
                  <a:pt x="1104376" y="491728"/>
                </a:lnTo>
                <a:lnTo>
                  <a:pt x="1058432" y="510315"/>
                </a:lnTo>
                <a:lnTo>
                  <a:pt x="1008628" y="526893"/>
                </a:lnTo>
                <a:lnTo>
                  <a:pt x="955288" y="541318"/>
                </a:lnTo>
                <a:lnTo>
                  <a:pt x="898737" y="553444"/>
                </a:lnTo>
                <a:lnTo>
                  <a:pt x="839301" y="563127"/>
                </a:lnTo>
                <a:lnTo>
                  <a:pt x="777306" y="570222"/>
                </a:lnTo>
                <a:lnTo>
                  <a:pt x="713076" y="574585"/>
                </a:lnTo>
                <a:lnTo>
                  <a:pt x="646938" y="576072"/>
                </a:lnTo>
                <a:lnTo>
                  <a:pt x="580793" y="574585"/>
                </a:lnTo>
                <a:lnTo>
                  <a:pt x="516558" y="570222"/>
                </a:lnTo>
                <a:lnTo>
                  <a:pt x="454560" y="563127"/>
                </a:lnTo>
                <a:lnTo>
                  <a:pt x="395122" y="553444"/>
                </a:lnTo>
                <a:lnTo>
                  <a:pt x="338571" y="541318"/>
                </a:lnTo>
                <a:lnTo>
                  <a:pt x="285230" y="526893"/>
                </a:lnTo>
                <a:lnTo>
                  <a:pt x="235427" y="510315"/>
                </a:lnTo>
                <a:lnTo>
                  <a:pt x="189485" y="491728"/>
                </a:lnTo>
                <a:lnTo>
                  <a:pt x="147730" y="471275"/>
                </a:lnTo>
                <a:lnTo>
                  <a:pt x="110488" y="449103"/>
                </a:lnTo>
                <a:lnTo>
                  <a:pt x="78082" y="425354"/>
                </a:lnTo>
                <a:lnTo>
                  <a:pt x="29085" y="373708"/>
                </a:lnTo>
                <a:lnTo>
                  <a:pt x="3340" y="317494"/>
                </a:lnTo>
                <a:lnTo>
                  <a:pt x="0" y="288036"/>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txBox="1"/>
          <p:nvPr/>
        </p:nvSpPr>
        <p:spPr>
          <a:xfrm>
            <a:off x="758515" y="4543158"/>
            <a:ext cx="385807" cy="227330"/>
          </a:xfrm>
          <a:prstGeom prst="rect">
            <a:avLst/>
          </a:prstGeom>
        </p:spPr>
        <p:txBody>
          <a:bodyPr vert="horz" wrap="square" lIns="0" tIns="12691" rIns="0" bIns="0" rtlCol="0">
            <a:spAutoFit/>
          </a:bodyPr>
          <a:lstStyle/>
          <a:p>
            <a:pPr marL="12700">
              <a:lnSpc>
                <a:spcPct val="100000"/>
              </a:lnSpc>
              <a:spcBef>
                <a:spcPts val="100"/>
              </a:spcBef>
            </a:pPr>
            <a:r>
              <a:rPr sz="1400" b="1" spc="10" dirty="0">
                <a:solidFill>
                  <a:srgbClr val="FFFFFF"/>
                </a:solidFill>
                <a:latin typeface="微软雅黑" panose="020B0503020204020204" charset="-122"/>
                <a:ea typeface="微软雅黑" panose="020B0503020204020204" charset="-122"/>
                <a:cs typeface="微软雅黑" panose="020B0503020204020204" charset="-122"/>
              </a:rPr>
              <a:t>合计</a:t>
            </a:r>
            <a:endParaRPr sz="1400" b="1" spc="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 name="object 6"/>
          <p:cNvSpPr txBox="1"/>
          <p:nvPr/>
        </p:nvSpPr>
        <p:spPr>
          <a:xfrm>
            <a:off x="846744" y="2038462"/>
            <a:ext cx="897254" cy="370205"/>
          </a:xfrm>
          <a:prstGeom prst="rect">
            <a:avLst/>
          </a:prstGeom>
          <a:solidFill>
            <a:srgbClr val="0066CC"/>
          </a:solidFill>
          <a:ln w="9525">
            <a:solidFill>
              <a:srgbClr val="000000"/>
            </a:solidFill>
          </a:ln>
        </p:spPr>
        <p:txBody>
          <a:bodyPr vert="horz" wrap="square" lIns="0" tIns="155464" rIns="0" bIns="0" rtlCol="0">
            <a:spAutoFit/>
          </a:bodyPr>
          <a:lstStyle/>
          <a:p>
            <a:pPr marL="72390">
              <a:lnSpc>
                <a:spcPct val="100000"/>
              </a:lnSpc>
              <a:spcBef>
                <a:spcPts val="1225"/>
              </a:spcBef>
            </a:pPr>
            <a:r>
              <a:rPr sz="1400" dirty="0">
                <a:latin typeface="微软雅黑" panose="020B0503020204020204" charset="-122"/>
                <a:ea typeface="微软雅黑" panose="020B0503020204020204" charset="-122"/>
                <a:cs typeface="微软雅黑" panose="020B0503020204020204" charset="-122"/>
              </a:rPr>
              <a:t>服务</a:t>
            </a:r>
            <a:endParaRPr sz="1400" dirty="0">
              <a:latin typeface="微软雅黑" panose="020B0503020204020204" charset="-122"/>
              <a:ea typeface="微软雅黑" panose="020B0503020204020204" charset="-122"/>
              <a:cs typeface="微软雅黑" panose="020B0503020204020204" charset="-122"/>
            </a:endParaRPr>
          </a:p>
        </p:txBody>
      </p:sp>
      <p:sp>
        <p:nvSpPr>
          <p:cNvPr id="7" name="object 7"/>
          <p:cNvSpPr txBox="1"/>
          <p:nvPr/>
        </p:nvSpPr>
        <p:spPr>
          <a:xfrm>
            <a:off x="846744" y="2828857"/>
            <a:ext cx="897254" cy="480695"/>
          </a:xfrm>
          <a:prstGeom prst="rect">
            <a:avLst/>
          </a:prstGeom>
          <a:solidFill>
            <a:srgbClr val="0066CC"/>
          </a:solidFill>
          <a:ln w="9525">
            <a:solidFill>
              <a:srgbClr val="000000"/>
            </a:solidFill>
          </a:ln>
        </p:spPr>
        <p:txBody>
          <a:bodyPr vert="horz" wrap="square" lIns="0" tIns="50764" rIns="0" bIns="0" rtlCol="0">
            <a:spAutoFit/>
          </a:bodyPr>
          <a:lstStyle/>
          <a:p>
            <a:pPr marL="72390" marR="104140">
              <a:lnSpc>
                <a:spcPct val="100000"/>
              </a:lnSpc>
              <a:spcBef>
                <a:spcPts val="400"/>
              </a:spcBef>
            </a:pPr>
            <a:r>
              <a:rPr sz="1400" dirty="0">
                <a:latin typeface="微软雅黑" panose="020B0503020204020204" charset="-122"/>
                <a:ea typeface="微软雅黑" panose="020B0503020204020204" charset="-122"/>
                <a:cs typeface="微软雅黑" panose="020B0503020204020204" charset="-122"/>
              </a:rPr>
              <a:t>零件及 应用产品</a:t>
            </a:r>
            <a:endParaRPr sz="1400" dirty="0">
              <a:latin typeface="微软雅黑" panose="020B0503020204020204" charset="-122"/>
              <a:ea typeface="微软雅黑" panose="020B0503020204020204" charset="-122"/>
              <a:cs typeface="微软雅黑" panose="020B0503020204020204" charset="-122"/>
            </a:endParaRPr>
          </a:p>
        </p:txBody>
      </p:sp>
      <p:sp>
        <p:nvSpPr>
          <p:cNvPr id="8" name="object 8"/>
          <p:cNvSpPr txBox="1"/>
          <p:nvPr/>
        </p:nvSpPr>
        <p:spPr>
          <a:xfrm>
            <a:off x="846744" y="3593364"/>
            <a:ext cx="897254" cy="372110"/>
          </a:xfrm>
          <a:prstGeom prst="rect">
            <a:avLst/>
          </a:prstGeom>
          <a:solidFill>
            <a:srgbClr val="0066CC"/>
          </a:solidFill>
          <a:ln w="9525">
            <a:solidFill>
              <a:srgbClr val="000000"/>
            </a:solidFill>
          </a:ln>
        </p:spPr>
        <p:txBody>
          <a:bodyPr vert="horz" wrap="square" lIns="0" tIns="157368" rIns="0" bIns="0" rtlCol="0">
            <a:spAutoFit/>
          </a:bodyPr>
          <a:lstStyle/>
          <a:p>
            <a:pPr marL="72390">
              <a:lnSpc>
                <a:spcPct val="100000"/>
              </a:lnSpc>
              <a:spcBef>
                <a:spcPts val="1240"/>
              </a:spcBef>
            </a:pPr>
            <a:r>
              <a:rPr sz="1400" dirty="0">
                <a:latin typeface="微软雅黑" panose="020B0503020204020204" charset="-122"/>
                <a:ea typeface="微软雅黑" panose="020B0503020204020204" charset="-122"/>
                <a:cs typeface="微软雅黑" panose="020B0503020204020204" charset="-122"/>
              </a:rPr>
              <a:t>融资</a:t>
            </a:r>
            <a:endParaRPr sz="1400" dirty="0">
              <a:latin typeface="微软雅黑" panose="020B0503020204020204" charset="-122"/>
              <a:ea typeface="微软雅黑" panose="020B0503020204020204" charset="-122"/>
              <a:cs typeface="微软雅黑" panose="020B0503020204020204" charset="-122"/>
            </a:endParaRPr>
          </a:p>
        </p:txBody>
      </p:sp>
      <p:sp>
        <p:nvSpPr>
          <p:cNvPr id="9" name="object 9"/>
          <p:cNvSpPr txBox="1"/>
          <p:nvPr/>
        </p:nvSpPr>
        <p:spPr>
          <a:xfrm>
            <a:off x="846744" y="1292230"/>
            <a:ext cx="897254" cy="370840"/>
          </a:xfrm>
          <a:prstGeom prst="rect">
            <a:avLst/>
          </a:prstGeom>
          <a:solidFill>
            <a:srgbClr val="0066CC"/>
          </a:solidFill>
          <a:ln w="9525">
            <a:solidFill>
              <a:srgbClr val="000000"/>
            </a:solidFill>
          </a:ln>
        </p:spPr>
        <p:txBody>
          <a:bodyPr vert="horz" wrap="square" lIns="0" tIns="156099" rIns="0" bIns="0" rtlCol="0">
            <a:spAutoFit/>
          </a:bodyPr>
          <a:lstStyle/>
          <a:p>
            <a:pPr marL="72390">
              <a:lnSpc>
                <a:spcPct val="100000"/>
              </a:lnSpc>
              <a:spcBef>
                <a:spcPts val="1230"/>
              </a:spcBef>
            </a:pPr>
            <a:r>
              <a:rPr sz="1400" dirty="0">
                <a:latin typeface="微软雅黑" panose="020B0503020204020204" charset="-122"/>
                <a:ea typeface="微软雅黑" panose="020B0503020204020204" charset="-122"/>
                <a:cs typeface="微软雅黑" panose="020B0503020204020204" charset="-122"/>
              </a:rPr>
              <a:t>新机销售</a:t>
            </a:r>
            <a:endParaRPr sz="1400" dirty="0">
              <a:latin typeface="微软雅黑" panose="020B0503020204020204" charset="-122"/>
              <a:ea typeface="微软雅黑" panose="020B0503020204020204" charset="-122"/>
              <a:cs typeface="微软雅黑" panose="020B0503020204020204" charset="-122"/>
            </a:endParaRPr>
          </a:p>
        </p:txBody>
      </p:sp>
      <p:sp>
        <p:nvSpPr>
          <p:cNvPr id="10" name="object 10"/>
          <p:cNvSpPr txBox="1"/>
          <p:nvPr/>
        </p:nvSpPr>
        <p:spPr>
          <a:xfrm>
            <a:off x="2740115" y="1986428"/>
            <a:ext cx="2172700" cy="227965"/>
          </a:xfrm>
          <a:prstGeom prst="rect">
            <a:avLst/>
          </a:prstGeom>
        </p:spPr>
        <p:txBody>
          <a:bodyPr vert="horz" wrap="square" lIns="0" tIns="13325" rIns="0" bIns="0" rtlCol="0">
            <a:spAutoFit/>
          </a:bodyPr>
          <a:lstStyle/>
          <a:p>
            <a:pPr marL="204470" indent="-192405">
              <a:lnSpc>
                <a:spcPct val="100000"/>
              </a:lnSpc>
              <a:spcBef>
                <a:spcPts val="105"/>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客户要</a:t>
            </a:r>
            <a:r>
              <a:rPr sz="1400" spc="-15" dirty="0">
                <a:latin typeface="微软雅黑" panose="020B0503020204020204" charset="-122"/>
                <a:ea typeface="微软雅黑" panose="020B0503020204020204" charset="-122"/>
                <a:cs typeface="微软雅黑" panose="020B0503020204020204" charset="-122"/>
              </a:rPr>
              <a:t>求</a:t>
            </a:r>
            <a:r>
              <a:rPr sz="1400" dirty="0">
                <a:latin typeface="微软雅黑" panose="020B0503020204020204" charset="-122"/>
                <a:ea typeface="微软雅黑" panose="020B0503020204020204" charset="-122"/>
                <a:cs typeface="微软雅黑" panose="020B0503020204020204" charset="-122"/>
              </a:rPr>
              <a:t>廉价</a:t>
            </a:r>
            <a:r>
              <a:rPr sz="1400" spc="-15" dirty="0">
                <a:latin typeface="微软雅黑" panose="020B0503020204020204" charset="-122"/>
                <a:ea typeface="微软雅黑" panose="020B0503020204020204" charset="-122"/>
                <a:cs typeface="微软雅黑" panose="020B0503020204020204" charset="-122"/>
              </a:rPr>
              <a:t>提供</a:t>
            </a:r>
            <a:r>
              <a:rPr sz="1400" dirty="0">
                <a:latin typeface="微软雅黑" panose="020B0503020204020204" charset="-122"/>
                <a:ea typeface="微软雅黑" panose="020B0503020204020204" charset="-122"/>
                <a:cs typeface="微软雅黑" panose="020B0503020204020204" charset="-122"/>
              </a:rPr>
              <a:t>服务，</a:t>
            </a:r>
            <a:endParaRPr sz="1400">
              <a:latin typeface="微软雅黑" panose="020B0503020204020204" charset="-122"/>
              <a:ea typeface="微软雅黑" panose="020B0503020204020204" charset="-122"/>
              <a:cs typeface="微软雅黑" panose="020B0503020204020204" charset="-122"/>
            </a:endParaRPr>
          </a:p>
        </p:txBody>
      </p:sp>
      <p:sp>
        <p:nvSpPr>
          <p:cNvPr id="11" name="object 11"/>
          <p:cNvSpPr txBox="1"/>
          <p:nvPr/>
        </p:nvSpPr>
        <p:spPr>
          <a:xfrm>
            <a:off x="2932002" y="2201160"/>
            <a:ext cx="1629525" cy="227965"/>
          </a:xfrm>
          <a:prstGeom prst="rect">
            <a:avLst/>
          </a:prstGeom>
        </p:spPr>
        <p:txBody>
          <a:bodyPr vert="horz" wrap="square" lIns="0" tIns="13325" rIns="0" bIns="0" rtlCol="0">
            <a:spAutoFit/>
          </a:bodyPr>
          <a:lstStyle/>
          <a:p>
            <a:pPr marL="12700">
              <a:lnSpc>
                <a:spcPct val="100000"/>
              </a:lnSpc>
              <a:spcBef>
                <a:spcPts val="105"/>
              </a:spcBef>
            </a:pPr>
            <a:r>
              <a:rPr sz="1400" dirty="0">
                <a:latin typeface="微软雅黑" panose="020B0503020204020204" charset="-122"/>
                <a:ea typeface="微软雅黑" panose="020B0503020204020204" charset="-122"/>
                <a:cs typeface="微软雅黑" panose="020B0503020204020204" charset="-122"/>
              </a:rPr>
              <a:t>导致服务部门负利润</a:t>
            </a:r>
            <a:endParaRPr sz="1400" dirty="0">
              <a:latin typeface="微软雅黑" panose="020B0503020204020204" charset="-122"/>
              <a:ea typeface="微软雅黑" panose="020B0503020204020204" charset="-122"/>
              <a:cs typeface="微软雅黑" panose="020B0503020204020204" charset="-122"/>
            </a:endParaRPr>
          </a:p>
        </p:txBody>
      </p:sp>
      <p:sp>
        <p:nvSpPr>
          <p:cNvPr id="12" name="object 12"/>
          <p:cNvSpPr/>
          <p:nvPr/>
        </p:nvSpPr>
        <p:spPr>
          <a:xfrm>
            <a:off x="2182345" y="4177581"/>
            <a:ext cx="0" cy="215747"/>
          </a:xfrm>
          <a:custGeom>
            <a:avLst/>
            <a:gdLst/>
            <a:ahLst/>
            <a:cxnLst/>
            <a:rect l="l" t="t" r="r" b="b"/>
            <a:pathLst>
              <a:path h="215900">
                <a:moveTo>
                  <a:pt x="0" y="0"/>
                </a:moveTo>
                <a:lnTo>
                  <a:pt x="0" y="215468"/>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1991980" y="3397786"/>
            <a:ext cx="0" cy="215747"/>
          </a:xfrm>
          <a:custGeom>
            <a:avLst/>
            <a:gdLst/>
            <a:ahLst/>
            <a:cxnLst/>
            <a:rect l="l" t="t" r="r" b="b"/>
            <a:pathLst>
              <a:path h="215900">
                <a:moveTo>
                  <a:pt x="0" y="0"/>
                </a:moveTo>
                <a:lnTo>
                  <a:pt x="0" y="215527"/>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1915834" y="2603465"/>
            <a:ext cx="0" cy="219554"/>
          </a:xfrm>
          <a:custGeom>
            <a:avLst/>
            <a:gdLst/>
            <a:ahLst/>
            <a:cxnLst/>
            <a:rect l="l" t="t" r="r" b="b"/>
            <a:pathLst>
              <a:path h="219710">
                <a:moveTo>
                  <a:pt x="0" y="0"/>
                </a:moveTo>
                <a:lnTo>
                  <a:pt x="0" y="219456"/>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2601149" y="1828504"/>
            <a:ext cx="0" cy="215113"/>
          </a:xfrm>
          <a:custGeom>
            <a:avLst/>
            <a:gdLst/>
            <a:ahLst/>
            <a:cxnLst/>
            <a:rect l="l" t="t" r="r" b="b"/>
            <a:pathLst>
              <a:path h="215264">
                <a:moveTo>
                  <a:pt x="0" y="0"/>
                </a:moveTo>
                <a:lnTo>
                  <a:pt x="0" y="214677"/>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p:nvPr/>
        </p:nvSpPr>
        <p:spPr>
          <a:xfrm>
            <a:off x="2225926" y="1257518"/>
            <a:ext cx="380730" cy="571095"/>
          </a:xfrm>
          <a:custGeom>
            <a:avLst/>
            <a:gdLst/>
            <a:ahLst/>
            <a:cxnLst/>
            <a:rect l="l" t="t" r="r" b="b"/>
            <a:pathLst>
              <a:path w="381000" h="571500">
                <a:moveTo>
                  <a:pt x="0" y="571391"/>
                </a:moveTo>
                <a:lnTo>
                  <a:pt x="380840" y="571391"/>
                </a:lnTo>
                <a:lnTo>
                  <a:pt x="380840" y="0"/>
                </a:lnTo>
                <a:lnTo>
                  <a:pt x="0" y="0"/>
                </a:lnTo>
                <a:lnTo>
                  <a:pt x="0" y="571391"/>
                </a:lnTo>
                <a:close/>
              </a:path>
            </a:pathLst>
          </a:custGeom>
          <a:solidFill>
            <a:srgbClr val="D0D0D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p:nvPr/>
        </p:nvSpPr>
        <p:spPr>
          <a:xfrm>
            <a:off x="2225926" y="1257518"/>
            <a:ext cx="380730" cy="571095"/>
          </a:xfrm>
          <a:custGeom>
            <a:avLst/>
            <a:gdLst/>
            <a:ahLst/>
            <a:cxnLst/>
            <a:rect l="l" t="t" r="r" b="b"/>
            <a:pathLst>
              <a:path w="381000" h="571500">
                <a:moveTo>
                  <a:pt x="0" y="571391"/>
                </a:moveTo>
                <a:lnTo>
                  <a:pt x="380840" y="571391"/>
                </a:lnTo>
                <a:lnTo>
                  <a:pt x="380840" y="0"/>
                </a:lnTo>
                <a:lnTo>
                  <a:pt x="0" y="0"/>
                </a:lnTo>
                <a:lnTo>
                  <a:pt x="0" y="571391"/>
                </a:lnTo>
                <a:close/>
              </a:path>
            </a:pathLst>
          </a:custGeom>
          <a:ln w="9469">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p:nvPr/>
        </p:nvSpPr>
        <p:spPr>
          <a:xfrm>
            <a:off x="2225926" y="2047030"/>
            <a:ext cx="380730" cy="561577"/>
          </a:xfrm>
          <a:custGeom>
            <a:avLst/>
            <a:gdLst/>
            <a:ahLst/>
            <a:cxnLst/>
            <a:rect l="l" t="t" r="r" b="b"/>
            <a:pathLst>
              <a:path w="381000" h="561975">
                <a:moveTo>
                  <a:pt x="0" y="561578"/>
                </a:moveTo>
                <a:lnTo>
                  <a:pt x="380840" y="561578"/>
                </a:lnTo>
                <a:lnTo>
                  <a:pt x="380840" y="0"/>
                </a:lnTo>
                <a:lnTo>
                  <a:pt x="0" y="0"/>
                </a:lnTo>
                <a:lnTo>
                  <a:pt x="0" y="561578"/>
                </a:lnTo>
                <a:close/>
              </a:path>
            </a:pathLst>
          </a:custGeom>
          <a:solidFill>
            <a:srgbClr val="D0D0D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p:nvPr/>
        </p:nvSpPr>
        <p:spPr>
          <a:xfrm>
            <a:off x="2225926" y="2047030"/>
            <a:ext cx="380730" cy="561577"/>
          </a:xfrm>
          <a:custGeom>
            <a:avLst/>
            <a:gdLst/>
            <a:ahLst/>
            <a:cxnLst/>
            <a:rect l="l" t="t" r="r" b="b"/>
            <a:pathLst>
              <a:path w="381000" h="561975">
                <a:moveTo>
                  <a:pt x="0" y="561578"/>
                </a:moveTo>
                <a:lnTo>
                  <a:pt x="380840" y="561578"/>
                </a:lnTo>
                <a:lnTo>
                  <a:pt x="380840" y="0"/>
                </a:lnTo>
                <a:lnTo>
                  <a:pt x="0" y="0"/>
                </a:lnTo>
                <a:lnTo>
                  <a:pt x="0" y="561578"/>
                </a:lnTo>
                <a:close/>
              </a:path>
            </a:pathLst>
          </a:custGeom>
          <a:ln w="9470">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p:nvPr/>
        </p:nvSpPr>
        <p:spPr>
          <a:xfrm>
            <a:off x="1959401" y="2827116"/>
            <a:ext cx="0" cy="571095"/>
          </a:xfrm>
          <a:custGeom>
            <a:avLst/>
            <a:gdLst/>
            <a:ahLst/>
            <a:cxnLst/>
            <a:rect l="l" t="t" r="r" b="b"/>
            <a:pathLst>
              <a:path h="571500">
                <a:moveTo>
                  <a:pt x="0" y="0"/>
                </a:moveTo>
                <a:lnTo>
                  <a:pt x="0" y="571075"/>
                </a:lnTo>
              </a:path>
            </a:pathLst>
          </a:custGeom>
          <a:ln w="76294">
            <a:solidFill>
              <a:srgbClr val="D0D0D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1" name="object 21"/>
          <p:cNvSpPr/>
          <p:nvPr/>
        </p:nvSpPr>
        <p:spPr>
          <a:xfrm>
            <a:off x="1921280" y="2827116"/>
            <a:ext cx="76781" cy="571095"/>
          </a:xfrm>
          <a:custGeom>
            <a:avLst/>
            <a:gdLst/>
            <a:ahLst/>
            <a:cxnLst/>
            <a:rect l="l" t="t" r="r" b="b"/>
            <a:pathLst>
              <a:path w="76835" h="571500">
                <a:moveTo>
                  <a:pt x="0" y="571075"/>
                </a:moveTo>
                <a:lnTo>
                  <a:pt x="76294" y="571075"/>
                </a:lnTo>
                <a:lnTo>
                  <a:pt x="76294" y="0"/>
                </a:lnTo>
                <a:lnTo>
                  <a:pt x="0" y="0"/>
                </a:lnTo>
                <a:lnTo>
                  <a:pt x="0" y="571075"/>
                </a:lnTo>
                <a:close/>
              </a:path>
            </a:pathLst>
          </a:custGeom>
          <a:ln w="9458">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1997521" y="3616400"/>
            <a:ext cx="190365" cy="561577"/>
          </a:xfrm>
          <a:custGeom>
            <a:avLst/>
            <a:gdLst/>
            <a:ahLst/>
            <a:cxnLst/>
            <a:rect l="l" t="t" r="r" b="b"/>
            <a:pathLst>
              <a:path w="190500" h="561975">
                <a:moveTo>
                  <a:pt x="0" y="561578"/>
                </a:moveTo>
                <a:lnTo>
                  <a:pt x="190420" y="561578"/>
                </a:lnTo>
                <a:lnTo>
                  <a:pt x="190420" y="0"/>
                </a:lnTo>
                <a:lnTo>
                  <a:pt x="0" y="0"/>
                </a:lnTo>
                <a:lnTo>
                  <a:pt x="0" y="561578"/>
                </a:lnTo>
                <a:close/>
              </a:path>
            </a:pathLst>
          </a:custGeom>
          <a:solidFill>
            <a:srgbClr val="D0D0D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p:nvPr/>
        </p:nvSpPr>
        <p:spPr>
          <a:xfrm>
            <a:off x="1997521" y="3616400"/>
            <a:ext cx="190365" cy="561577"/>
          </a:xfrm>
          <a:custGeom>
            <a:avLst/>
            <a:gdLst/>
            <a:ahLst/>
            <a:cxnLst/>
            <a:rect l="l" t="t" r="r" b="b"/>
            <a:pathLst>
              <a:path w="190500" h="561975">
                <a:moveTo>
                  <a:pt x="0" y="561578"/>
                </a:moveTo>
                <a:lnTo>
                  <a:pt x="190420" y="561578"/>
                </a:lnTo>
                <a:lnTo>
                  <a:pt x="190420" y="0"/>
                </a:lnTo>
                <a:lnTo>
                  <a:pt x="0" y="0"/>
                </a:lnTo>
                <a:lnTo>
                  <a:pt x="0" y="561578"/>
                </a:lnTo>
                <a:close/>
              </a:path>
            </a:pathLst>
          </a:custGeom>
          <a:ln w="9461">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p:nvPr/>
        </p:nvSpPr>
        <p:spPr>
          <a:xfrm>
            <a:off x="2206866" y="4396485"/>
            <a:ext cx="0" cy="571095"/>
          </a:xfrm>
          <a:custGeom>
            <a:avLst/>
            <a:gdLst/>
            <a:ahLst/>
            <a:cxnLst/>
            <a:rect l="l" t="t" r="r" b="b"/>
            <a:pathLst>
              <a:path h="571500">
                <a:moveTo>
                  <a:pt x="0" y="0"/>
                </a:moveTo>
                <a:lnTo>
                  <a:pt x="0" y="571075"/>
                </a:lnTo>
              </a:path>
            </a:pathLst>
          </a:custGeom>
          <a:ln w="38147">
            <a:solidFill>
              <a:srgbClr val="1F1F7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5" name="object 25"/>
          <p:cNvSpPr/>
          <p:nvPr/>
        </p:nvSpPr>
        <p:spPr>
          <a:xfrm>
            <a:off x="2187806" y="4396485"/>
            <a:ext cx="38708" cy="571095"/>
          </a:xfrm>
          <a:custGeom>
            <a:avLst/>
            <a:gdLst/>
            <a:ahLst/>
            <a:cxnLst/>
            <a:rect l="l" t="t" r="r" b="b"/>
            <a:pathLst>
              <a:path w="38735" h="571500">
                <a:moveTo>
                  <a:pt x="0" y="571075"/>
                </a:moveTo>
                <a:lnTo>
                  <a:pt x="38147" y="571075"/>
                </a:lnTo>
                <a:lnTo>
                  <a:pt x="38147" y="0"/>
                </a:lnTo>
                <a:lnTo>
                  <a:pt x="0" y="0"/>
                </a:lnTo>
                <a:lnTo>
                  <a:pt x="0" y="571075"/>
                </a:lnTo>
                <a:close/>
              </a:path>
            </a:pathLst>
          </a:custGeom>
          <a:ln w="9458">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6" name="object 26"/>
          <p:cNvSpPr/>
          <p:nvPr/>
        </p:nvSpPr>
        <p:spPr>
          <a:xfrm>
            <a:off x="1921280" y="2047030"/>
            <a:ext cx="305219" cy="561577"/>
          </a:xfrm>
          <a:custGeom>
            <a:avLst/>
            <a:gdLst/>
            <a:ahLst/>
            <a:cxnLst/>
            <a:rect l="l" t="t" r="r" b="b"/>
            <a:pathLst>
              <a:path w="305435" h="561975">
                <a:moveTo>
                  <a:pt x="0" y="561578"/>
                </a:moveTo>
                <a:lnTo>
                  <a:pt x="304861" y="561578"/>
                </a:lnTo>
                <a:lnTo>
                  <a:pt x="304861" y="0"/>
                </a:lnTo>
                <a:lnTo>
                  <a:pt x="0" y="0"/>
                </a:lnTo>
                <a:lnTo>
                  <a:pt x="0" y="561578"/>
                </a:lnTo>
                <a:close/>
              </a:path>
            </a:pathLst>
          </a:custGeom>
          <a:solidFill>
            <a:srgbClr val="D0D0D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7" name="object 27"/>
          <p:cNvSpPr/>
          <p:nvPr/>
        </p:nvSpPr>
        <p:spPr>
          <a:xfrm>
            <a:off x="1921280" y="2047030"/>
            <a:ext cx="305219" cy="561577"/>
          </a:xfrm>
          <a:custGeom>
            <a:avLst/>
            <a:gdLst/>
            <a:ahLst/>
            <a:cxnLst/>
            <a:rect l="l" t="t" r="r" b="b"/>
            <a:pathLst>
              <a:path w="305435" h="561975">
                <a:moveTo>
                  <a:pt x="0" y="561578"/>
                </a:moveTo>
                <a:lnTo>
                  <a:pt x="304861" y="561578"/>
                </a:lnTo>
                <a:lnTo>
                  <a:pt x="304861" y="0"/>
                </a:lnTo>
                <a:lnTo>
                  <a:pt x="0" y="0"/>
                </a:lnTo>
                <a:lnTo>
                  <a:pt x="0" y="561578"/>
                </a:lnTo>
                <a:close/>
              </a:path>
            </a:pathLst>
          </a:custGeom>
          <a:ln w="9466">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p:nvPr/>
        </p:nvSpPr>
        <p:spPr>
          <a:xfrm>
            <a:off x="2221201" y="1148381"/>
            <a:ext cx="0" cy="899792"/>
          </a:xfrm>
          <a:custGeom>
            <a:avLst/>
            <a:gdLst/>
            <a:ahLst/>
            <a:cxnLst/>
            <a:rect l="l" t="t" r="r" b="b"/>
            <a:pathLst>
              <a:path h="900430">
                <a:moveTo>
                  <a:pt x="0" y="0"/>
                </a:moveTo>
                <a:lnTo>
                  <a:pt x="0" y="899854"/>
                </a:lnTo>
              </a:path>
            </a:pathLst>
          </a:custGeom>
          <a:ln w="28689">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9" name="object 29"/>
          <p:cNvSpPr/>
          <p:nvPr/>
        </p:nvSpPr>
        <p:spPr>
          <a:xfrm>
            <a:off x="2221201" y="2598896"/>
            <a:ext cx="0" cy="2477919"/>
          </a:xfrm>
          <a:custGeom>
            <a:avLst/>
            <a:gdLst/>
            <a:ahLst/>
            <a:cxnLst/>
            <a:rect l="l" t="t" r="r" b="b"/>
            <a:pathLst>
              <a:path h="2479675">
                <a:moveTo>
                  <a:pt x="0" y="0"/>
                </a:moveTo>
                <a:lnTo>
                  <a:pt x="0" y="2479465"/>
                </a:lnTo>
              </a:path>
            </a:pathLst>
          </a:custGeom>
          <a:ln w="28689">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0" name="object 30"/>
          <p:cNvSpPr/>
          <p:nvPr/>
        </p:nvSpPr>
        <p:spPr>
          <a:xfrm>
            <a:off x="2221180" y="2047599"/>
            <a:ext cx="0" cy="551424"/>
          </a:xfrm>
          <a:custGeom>
            <a:avLst/>
            <a:gdLst/>
            <a:ahLst/>
            <a:cxnLst/>
            <a:rect l="l" t="t" r="r" b="b"/>
            <a:pathLst>
              <a:path h="551814">
                <a:moveTo>
                  <a:pt x="0" y="0"/>
                </a:moveTo>
                <a:lnTo>
                  <a:pt x="0" y="551688"/>
                </a:lnTo>
              </a:path>
            </a:pathLst>
          </a:custGeom>
          <a:ln w="53339">
            <a:solidFill>
              <a:srgbClr val="D0D0D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1" name="object 31"/>
          <p:cNvSpPr txBox="1"/>
          <p:nvPr/>
        </p:nvSpPr>
        <p:spPr>
          <a:xfrm>
            <a:off x="1802377" y="782179"/>
            <a:ext cx="2976675" cy="227965"/>
          </a:xfrm>
          <a:prstGeom prst="rect">
            <a:avLst/>
          </a:prstGeom>
        </p:spPr>
        <p:txBody>
          <a:bodyPr vert="horz" wrap="square" lIns="0" tIns="13325" rIns="0" bIns="0" rtlCol="0">
            <a:spAutoFit/>
          </a:bodyPr>
          <a:lstStyle/>
          <a:p>
            <a:pPr marL="12700">
              <a:lnSpc>
                <a:spcPct val="100000"/>
              </a:lnSpc>
              <a:spcBef>
                <a:spcPts val="105"/>
              </a:spcBef>
              <a:tabLst>
                <a:tab pos="192405" algn="l"/>
                <a:tab pos="710565" algn="l"/>
                <a:tab pos="2965450" algn="l"/>
              </a:tabLst>
            </a:pPr>
            <a:r>
              <a:rPr sz="1400" b="1" u="sng" spc="-1405" dirty="0">
                <a:uFill>
                  <a:solidFill>
                    <a:srgbClr val="000000"/>
                  </a:solidFill>
                </a:uFill>
                <a:latin typeface="微软雅黑" panose="020B0503020204020204" charset="-122"/>
                <a:ea typeface="微软雅黑" panose="020B0503020204020204" charset="-122"/>
                <a:cs typeface="微软雅黑" panose="020B0503020204020204" charset="-122"/>
              </a:rPr>
              <a:t>客</a:t>
            </a:r>
            <a:r>
              <a:rPr sz="1400" b="1" u="sng" dirty="0">
                <a:uFill>
                  <a:solidFill>
                    <a:srgbClr val="000000"/>
                  </a:solidFill>
                </a:uFill>
                <a:latin typeface="微软雅黑" panose="020B0503020204020204" charset="-122"/>
                <a:ea typeface="微软雅黑" panose="020B0503020204020204" charset="-122"/>
                <a:cs typeface="微软雅黑" panose="020B0503020204020204" charset="-122"/>
              </a:rPr>
              <a:t> </a:t>
            </a:r>
            <a:r>
              <a:rPr sz="1400" b="1" dirty="0">
                <a:latin typeface="微软雅黑" panose="020B0503020204020204" charset="-122"/>
                <a:ea typeface="微软雅黑" panose="020B0503020204020204" charset="-122"/>
                <a:cs typeface="微软雅黑" panose="020B0503020204020204" charset="-122"/>
              </a:rPr>
              <a:t>	</a:t>
            </a:r>
            <a:r>
              <a:rPr sz="1400" b="1" u="sng" spc="320" dirty="0">
                <a:uFill>
                  <a:solidFill>
                    <a:srgbClr val="000000"/>
                  </a:solidFill>
                </a:uFill>
                <a:latin typeface="微软雅黑" panose="020B0503020204020204" charset="-122"/>
                <a:ea typeface="微软雅黑" panose="020B0503020204020204" charset="-122"/>
                <a:cs typeface="微软雅黑" panose="020B0503020204020204" charset="-122"/>
              </a:rPr>
              <a:t>户</a:t>
            </a:r>
            <a:r>
              <a:rPr sz="1400" b="1" u="sng" dirty="0">
                <a:uFill>
                  <a:solidFill>
                    <a:srgbClr val="000000"/>
                  </a:solidFill>
                </a:uFill>
                <a:latin typeface="微软雅黑" panose="020B0503020204020204" charset="-122"/>
                <a:ea typeface="微软雅黑" panose="020B0503020204020204" charset="-122"/>
                <a:cs typeface="微软雅黑" panose="020B0503020204020204" charset="-122"/>
              </a:rPr>
              <a:t>A	</a:t>
            </a:r>
            <a:r>
              <a:rPr sz="1400" b="1" u="sng" spc="5" dirty="0">
                <a:uFill>
                  <a:solidFill>
                    <a:srgbClr val="000000"/>
                  </a:solidFill>
                </a:uFill>
                <a:latin typeface="微软雅黑" panose="020B0503020204020204" charset="-122"/>
                <a:ea typeface="微软雅黑" panose="020B0503020204020204" charset="-122"/>
                <a:cs typeface="微软雅黑" panose="020B0503020204020204" charset="-122"/>
              </a:rPr>
              <a:t>(</a:t>
            </a:r>
            <a:r>
              <a:rPr sz="1400" b="1" u="sng" spc="10" dirty="0">
                <a:uFill>
                  <a:solidFill>
                    <a:srgbClr val="000000"/>
                  </a:solidFill>
                </a:uFill>
                <a:latin typeface="微软雅黑" panose="020B0503020204020204" charset="-122"/>
                <a:ea typeface="微软雅黑" panose="020B0503020204020204" charset="-122"/>
                <a:cs typeface="微软雅黑" panose="020B0503020204020204" charset="-122"/>
              </a:rPr>
              <a:t>获利</a:t>
            </a:r>
            <a:r>
              <a:rPr sz="1400" b="1" u="sng" dirty="0">
                <a:uFill>
                  <a:solidFill>
                    <a:srgbClr val="000000"/>
                  </a:solidFill>
                </a:uFill>
                <a:latin typeface="微软雅黑" panose="020B0503020204020204" charset="-122"/>
                <a:ea typeface="微软雅黑" panose="020B0503020204020204" charset="-122"/>
                <a:cs typeface="微软雅黑" panose="020B0503020204020204" charset="-122"/>
              </a:rPr>
              <a:t>率</a:t>
            </a:r>
            <a:r>
              <a:rPr sz="1400" b="1" u="sng" spc="-15" dirty="0">
                <a:uFill>
                  <a:solidFill>
                    <a:srgbClr val="000000"/>
                  </a:solidFill>
                </a:uFill>
                <a:latin typeface="微软雅黑" panose="020B0503020204020204" charset="-122"/>
                <a:ea typeface="微软雅黑" panose="020B0503020204020204" charset="-122"/>
                <a:cs typeface="微软雅黑" panose="020B0503020204020204" charset="-122"/>
              </a:rPr>
              <a:t>低</a:t>
            </a:r>
            <a:r>
              <a:rPr sz="1400" b="1" u="sng" spc="-5" dirty="0">
                <a:uFill>
                  <a:solidFill>
                    <a:srgbClr val="000000"/>
                  </a:solidFill>
                </a:uFill>
                <a:latin typeface="微软雅黑" panose="020B0503020204020204" charset="-122"/>
                <a:ea typeface="微软雅黑" panose="020B0503020204020204" charset="-122"/>
                <a:cs typeface="微软雅黑" panose="020B0503020204020204" charset="-122"/>
              </a:rPr>
              <a:t>)</a:t>
            </a:r>
            <a:r>
              <a:rPr sz="1400" b="1" u="sng" dirty="0">
                <a:uFill>
                  <a:solidFill>
                    <a:srgbClr val="000000"/>
                  </a:solidFill>
                </a:uFill>
                <a:latin typeface="微软雅黑" panose="020B0503020204020204" charset="-122"/>
                <a:ea typeface="微软雅黑" panose="020B0503020204020204" charset="-122"/>
                <a:cs typeface="微软雅黑" panose="020B0503020204020204" charset="-122"/>
              </a:rPr>
              <a:t>	</a:t>
            </a:r>
            <a:endParaRPr sz="1400">
              <a:latin typeface="微软雅黑" panose="020B0503020204020204" charset="-122"/>
              <a:ea typeface="微软雅黑" panose="020B0503020204020204" charset="-122"/>
              <a:cs typeface="微软雅黑" panose="020B0503020204020204" charset="-122"/>
            </a:endParaRPr>
          </a:p>
        </p:txBody>
      </p:sp>
      <p:sp>
        <p:nvSpPr>
          <p:cNvPr id="32" name="object 32"/>
          <p:cNvSpPr txBox="1"/>
          <p:nvPr/>
        </p:nvSpPr>
        <p:spPr>
          <a:xfrm>
            <a:off x="5111936" y="782179"/>
            <a:ext cx="3625185" cy="227965"/>
          </a:xfrm>
          <a:prstGeom prst="rect">
            <a:avLst/>
          </a:prstGeom>
        </p:spPr>
        <p:txBody>
          <a:bodyPr vert="horz" wrap="square" lIns="0" tIns="13325" rIns="0" bIns="0" rtlCol="0">
            <a:spAutoFit/>
          </a:bodyPr>
          <a:lstStyle/>
          <a:p>
            <a:pPr marL="12700">
              <a:lnSpc>
                <a:spcPct val="100000"/>
              </a:lnSpc>
              <a:spcBef>
                <a:spcPts val="105"/>
              </a:spcBef>
              <a:tabLst>
                <a:tab pos="3614420" algn="l"/>
              </a:tabLst>
            </a:pPr>
            <a:r>
              <a:rPr sz="1400" b="1" u="sng" spc="-350" dirty="0">
                <a:uFill>
                  <a:solidFill>
                    <a:srgbClr val="000000"/>
                  </a:solidFill>
                </a:uFill>
                <a:latin typeface="微软雅黑" panose="020B0503020204020204" charset="-122"/>
                <a:ea typeface="微软雅黑" panose="020B0503020204020204" charset="-122"/>
                <a:cs typeface="微软雅黑" panose="020B0503020204020204" charset="-122"/>
              </a:rPr>
              <a:t> </a:t>
            </a:r>
            <a:r>
              <a:rPr sz="1400" b="1" u="sng" spc="10" dirty="0">
                <a:uFill>
                  <a:solidFill>
                    <a:srgbClr val="000000"/>
                  </a:solidFill>
                </a:uFill>
                <a:latin typeface="微软雅黑" panose="020B0503020204020204" charset="-122"/>
                <a:ea typeface="微软雅黑" panose="020B0503020204020204" charset="-122"/>
                <a:cs typeface="微软雅黑" panose="020B0503020204020204" charset="-122"/>
              </a:rPr>
              <a:t>客</a:t>
            </a:r>
            <a:r>
              <a:rPr sz="1400" b="1" u="sng" spc="320" dirty="0">
                <a:uFill>
                  <a:solidFill>
                    <a:srgbClr val="000000"/>
                  </a:solidFill>
                </a:uFill>
                <a:latin typeface="微软雅黑" panose="020B0503020204020204" charset="-122"/>
                <a:ea typeface="微软雅黑" panose="020B0503020204020204" charset="-122"/>
                <a:cs typeface="微软雅黑" panose="020B0503020204020204" charset="-122"/>
              </a:rPr>
              <a:t>户</a:t>
            </a:r>
            <a:r>
              <a:rPr sz="1400" b="1" u="sng" dirty="0">
                <a:uFill>
                  <a:solidFill>
                    <a:srgbClr val="000000"/>
                  </a:solidFill>
                </a:uFill>
                <a:latin typeface="微软雅黑" panose="020B0503020204020204" charset="-122"/>
                <a:ea typeface="微软雅黑" panose="020B0503020204020204" charset="-122"/>
                <a:cs typeface="微软雅黑" panose="020B0503020204020204" charset="-122"/>
              </a:rPr>
              <a:t>B</a:t>
            </a:r>
            <a:r>
              <a:rPr sz="1400" b="1" u="sng" spc="-65" dirty="0">
                <a:uFill>
                  <a:solidFill>
                    <a:srgbClr val="000000"/>
                  </a:solidFill>
                </a:uFill>
                <a:latin typeface="微软雅黑" panose="020B0503020204020204" charset="-122"/>
                <a:ea typeface="微软雅黑" panose="020B0503020204020204" charset="-122"/>
                <a:cs typeface="微软雅黑" panose="020B0503020204020204" charset="-122"/>
              </a:rPr>
              <a:t> </a:t>
            </a:r>
            <a:r>
              <a:rPr sz="1400" b="1" u="sng" dirty="0">
                <a:uFill>
                  <a:solidFill>
                    <a:srgbClr val="000000"/>
                  </a:solidFill>
                </a:uFill>
                <a:latin typeface="微软雅黑" panose="020B0503020204020204" charset="-122"/>
                <a:ea typeface="微软雅黑" panose="020B0503020204020204" charset="-122"/>
                <a:cs typeface="微软雅黑" panose="020B0503020204020204" charset="-122"/>
              </a:rPr>
              <a:t>(</a:t>
            </a:r>
            <a:r>
              <a:rPr sz="1400" b="1" u="sng" spc="10" dirty="0">
                <a:uFill>
                  <a:solidFill>
                    <a:srgbClr val="000000"/>
                  </a:solidFill>
                </a:uFill>
                <a:latin typeface="微软雅黑" panose="020B0503020204020204" charset="-122"/>
                <a:ea typeface="微软雅黑" panose="020B0503020204020204" charset="-122"/>
                <a:cs typeface="微软雅黑" panose="020B0503020204020204" charset="-122"/>
              </a:rPr>
              <a:t>获</a:t>
            </a:r>
            <a:r>
              <a:rPr sz="1400" b="1" u="sng" dirty="0">
                <a:uFill>
                  <a:solidFill>
                    <a:srgbClr val="000000"/>
                  </a:solidFill>
                </a:uFill>
                <a:latin typeface="微软雅黑" panose="020B0503020204020204" charset="-122"/>
                <a:ea typeface="微软雅黑" panose="020B0503020204020204" charset="-122"/>
                <a:cs typeface="微软雅黑" panose="020B0503020204020204" charset="-122"/>
              </a:rPr>
              <a:t>利率高</a:t>
            </a:r>
            <a:r>
              <a:rPr sz="1400" b="1" u="sng" spc="-5" dirty="0">
                <a:uFill>
                  <a:solidFill>
                    <a:srgbClr val="000000"/>
                  </a:solidFill>
                </a:uFill>
                <a:latin typeface="微软雅黑" panose="020B0503020204020204" charset="-122"/>
                <a:ea typeface="微软雅黑" panose="020B0503020204020204" charset="-122"/>
                <a:cs typeface="微软雅黑" panose="020B0503020204020204" charset="-122"/>
              </a:rPr>
              <a:t>)	</a:t>
            </a:r>
            <a:endParaRPr sz="1400">
              <a:latin typeface="微软雅黑" panose="020B0503020204020204" charset="-122"/>
              <a:ea typeface="微软雅黑" panose="020B0503020204020204" charset="-122"/>
              <a:cs typeface="微软雅黑" panose="020B0503020204020204" charset="-122"/>
            </a:endParaRPr>
          </a:p>
        </p:txBody>
      </p:sp>
      <p:sp>
        <p:nvSpPr>
          <p:cNvPr id="33" name="object 33"/>
          <p:cNvSpPr txBox="1"/>
          <p:nvPr/>
        </p:nvSpPr>
        <p:spPr>
          <a:xfrm>
            <a:off x="233007" y="1312028"/>
            <a:ext cx="502564" cy="2026920"/>
          </a:xfrm>
          <a:prstGeom prst="rect">
            <a:avLst/>
          </a:prstGeom>
          <a:solidFill>
            <a:srgbClr val="CCCCFF"/>
          </a:solidFill>
          <a:ln w="9525">
            <a:solidFill>
              <a:srgbClr val="000000"/>
            </a:solidFill>
          </a:ln>
        </p:spPr>
        <p:txBody>
          <a:bodyPr vert="horz" wrap="square" lIns="0" tIns="0" rIns="0" bIns="0" rtlCol="0">
            <a:spAutoFit/>
          </a:bodyPr>
          <a:lstStyle/>
          <a:p>
            <a:pPr>
              <a:lnSpc>
                <a:spcPct val="100000"/>
              </a:lnSpc>
            </a:pPr>
            <a:endParaRPr>
              <a:latin typeface="微软雅黑" panose="020B0503020204020204" charset="-122"/>
              <a:ea typeface="微软雅黑" panose="020B0503020204020204" charset="-122"/>
              <a:cs typeface="微软雅黑" panose="020B0503020204020204" charset="-122"/>
            </a:endParaRPr>
          </a:p>
          <a:p>
            <a:pPr>
              <a:lnSpc>
                <a:spcPct val="100000"/>
              </a:lnSpc>
            </a:pPr>
            <a:endParaRPr>
              <a:latin typeface="微软雅黑" panose="020B0503020204020204" charset="-122"/>
              <a:ea typeface="微软雅黑" panose="020B0503020204020204" charset="-122"/>
              <a:cs typeface="微软雅黑" panose="020B0503020204020204" charset="-122"/>
            </a:endParaRPr>
          </a:p>
          <a:p>
            <a:pPr>
              <a:lnSpc>
                <a:spcPct val="100000"/>
              </a:lnSpc>
              <a:spcBef>
                <a:spcPts val="55"/>
              </a:spcBef>
            </a:pPr>
            <a:endParaRPr sz="2050">
              <a:latin typeface="微软雅黑" panose="020B0503020204020204" charset="-122"/>
              <a:ea typeface="微软雅黑" panose="020B0503020204020204" charset="-122"/>
              <a:cs typeface="微软雅黑" panose="020B0503020204020204" charset="-122"/>
            </a:endParaRPr>
          </a:p>
          <a:p>
            <a:pPr marL="145415" marR="170815" algn="just">
              <a:lnSpc>
                <a:spcPct val="107000"/>
              </a:lnSpc>
            </a:pPr>
            <a:r>
              <a:rPr sz="1400" b="1" dirty="0">
                <a:latin typeface="微软雅黑" panose="020B0503020204020204" charset="-122"/>
                <a:ea typeface="微软雅黑" panose="020B0503020204020204" charset="-122"/>
                <a:cs typeface="微软雅黑" panose="020B0503020204020204" charset="-122"/>
              </a:rPr>
              <a:t>收 益 示 意 图</a:t>
            </a:r>
            <a:endParaRPr sz="1400">
              <a:latin typeface="微软雅黑" panose="020B0503020204020204" charset="-122"/>
              <a:ea typeface="微软雅黑" panose="020B0503020204020204" charset="-122"/>
              <a:cs typeface="微软雅黑" panose="020B0503020204020204" charset="-122"/>
            </a:endParaRPr>
          </a:p>
        </p:txBody>
      </p:sp>
      <p:sp>
        <p:nvSpPr>
          <p:cNvPr id="34" name="object 34"/>
          <p:cNvSpPr txBox="1"/>
          <p:nvPr/>
        </p:nvSpPr>
        <p:spPr>
          <a:xfrm>
            <a:off x="2740115" y="2778093"/>
            <a:ext cx="2172700" cy="445135"/>
          </a:xfrm>
          <a:prstGeom prst="rect">
            <a:avLst/>
          </a:prstGeom>
        </p:spPr>
        <p:txBody>
          <a:bodyPr vert="horz" wrap="square" lIns="0" tIns="11421" rIns="0" bIns="0" rtlCol="0">
            <a:spAutoFit/>
          </a:bodyPr>
          <a:lstStyle/>
          <a:p>
            <a:pPr marL="204470" marR="5080" indent="-192405">
              <a:lnSpc>
                <a:spcPct val="101000"/>
              </a:lnSpc>
              <a:spcBef>
                <a:spcPts val="90"/>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使用正</a:t>
            </a:r>
            <a:r>
              <a:rPr sz="1400" spc="-15" dirty="0">
                <a:latin typeface="微软雅黑" panose="020B0503020204020204" charset="-122"/>
                <a:ea typeface="微软雅黑" panose="020B0503020204020204" charset="-122"/>
                <a:cs typeface="微软雅黑" panose="020B0503020204020204" charset="-122"/>
              </a:rPr>
              <a:t>规</a:t>
            </a:r>
            <a:r>
              <a:rPr sz="1400" dirty="0">
                <a:latin typeface="微软雅黑" panose="020B0503020204020204" charset="-122"/>
                <a:ea typeface="微软雅黑" panose="020B0503020204020204" charset="-122"/>
                <a:cs typeface="微软雅黑" panose="020B0503020204020204" charset="-122"/>
              </a:rPr>
              <a:t>零件</a:t>
            </a:r>
            <a:r>
              <a:rPr sz="1400" spc="-15" dirty="0">
                <a:latin typeface="微软雅黑" panose="020B0503020204020204" charset="-122"/>
                <a:ea typeface="微软雅黑" panose="020B0503020204020204" charset="-122"/>
                <a:cs typeface="微软雅黑" panose="020B0503020204020204" charset="-122"/>
              </a:rPr>
              <a:t>的比</a:t>
            </a:r>
            <a:r>
              <a:rPr sz="1400" dirty="0">
                <a:latin typeface="微软雅黑" panose="020B0503020204020204" charset="-122"/>
                <a:ea typeface="微软雅黑" panose="020B0503020204020204" charset="-122"/>
                <a:cs typeface="微软雅黑" panose="020B0503020204020204" charset="-122"/>
              </a:rPr>
              <a:t>率低， 零件利润较低</a:t>
            </a:r>
            <a:endParaRPr sz="1400">
              <a:latin typeface="微软雅黑" panose="020B0503020204020204" charset="-122"/>
              <a:ea typeface="微软雅黑" panose="020B0503020204020204" charset="-122"/>
              <a:cs typeface="微软雅黑" panose="020B0503020204020204" charset="-122"/>
            </a:endParaRPr>
          </a:p>
        </p:txBody>
      </p:sp>
      <p:sp>
        <p:nvSpPr>
          <p:cNvPr id="35" name="object 35"/>
          <p:cNvSpPr txBox="1"/>
          <p:nvPr/>
        </p:nvSpPr>
        <p:spPr>
          <a:xfrm>
            <a:off x="2740115" y="3571535"/>
            <a:ext cx="1999468" cy="445135"/>
          </a:xfrm>
          <a:prstGeom prst="rect">
            <a:avLst/>
          </a:prstGeom>
        </p:spPr>
        <p:txBody>
          <a:bodyPr vert="horz" wrap="square" lIns="0" tIns="11421" rIns="0" bIns="0" rtlCol="0">
            <a:spAutoFit/>
          </a:bodyPr>
          <a:lstStyle/>
          <a:p>
            <a:pPr marL="204470" marR="5080" indent="-192405">
              <a:lnSpc>
                <a:spcPct val="101000"/>
              </a:lnSpc>
              <a:spcBef>
                <a:spcPts val="90"/>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现金流充足，账期要求 低</a:t>
            </a:r>
            <a:endParaRPr sz="1400" dirty="0">
              <a:latin typeface="微软雅黑" panose="020B0503020204020204" charset="-122"/>
              <a:ea typeface="微软雅黑" panose="020B0503020204020204" charset="-122"/>
              <a:cs typeface="微软雅黑" panose="020B0503020204020204" charset="-122"/>
            </a:endParaRPr>
          </a:p>
        </p:txBody>
      </p:sp>
      <p:sp>
        <p:nvSpPr>
          <p:cNvPr id="36" name="object 36"/>
          <p:cNvSpPr/>
          <p:nvPr/>
        </p:nvSpPr>
        <p:spPr>
          <a:xfrm>
            <a:off x="6135847" y="4177581"/>
            <a:ext cx="0" cy="215747"/>
          </a:xfrm>
          <a:custGeom>
            <a:avLst/>
            <a:gdLst/>
            <a:ahLst/>
            <a:cxnLst/>
            <a:rect l="l" t="t" r="r" b="b"/>
            <a:pathLst>
              <a:path h="215900">
                <a:moveTo>
                  <a:pt x="0" y="0"/>
                </a:moveTo>
                <a:lnTo>
                  <a:pt x="0" y="215468"/>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37" name="object 37"/>
          <p:cNvSpPr/>
          <p:nvPr/>
        </p:nvSpPr>
        <p:spPr>
          <a:xfrm>
            <a:off x="5793190" y="3397786"/>
            <a:ext cx="0" cy="215747"/>
          </a:xfrm>
          <a:custGeom>
            <a:avLst/>
            <a:gdLst/>
            <a:ahLst/>
            <a:cxnLst/>
            <a:rect l="l" t="t" r="r" b="b"/>
            <a:pathLst>
              <a:path h="215900">
                <a:moveTo>
                  <a:pt x="0" y="0"/>
                </a:moveTo>
                <a:lnTo>
                  <a:pt x="0" y="215527"/>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38" name="object 38"/>
          <p:cNvSpPr/>
          <p:nvPr/>
        </p:nvSpPr>
        <p:spPr>
          <a:xfrm>
            <a:off x="5117013" y="2603465"/>
            <a:ext cx="0" cy="219554"/>
          </a:xfrm>
          <a:custGeom>
            <a:avLst/>
            <a:gdLst/>
            <a:ahLst/>
            <a:cxnLst/>
            <a:rect l="l" t="t" r="r" b="b"/>
            <a:pathLst>
              <a:path h="219710">
                <a:moveTo>
                  <a:pt x="0" y="0"/>
                </a:moveTo>
                <a:lnTo>
                  <a:pt x="0" y="219456"/>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39" name="object 39"/>
          <p:cNvSpPr/>
          <p:nvPr/>
        </p:nvSpPr>
        <p:spPr>
          <a:xfrm>
            <a:off x="5793190" y="1828504"/>
            <a:ext cx="0" cy="215113"/>
          </a:xfrm>
          <a:custGeom>
            <a:avLst/>
            <a:gdLst/>
            <a:ahLst/>
            <a:cxnLst/>
            <a:rect l="l" t="t" r="r" b="b"/>
            <a:pathLst>
              <a:path h="215264">
                <a:moveTo>
                  <a:pt x="0" y="0"/>
                </a:moveTo>
                <a:lnTo>
                  <a:pt x="0" y="214677"/>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40" name="object 40"/>
          <p:cNvSpPr/>
          <p:nvPr/>
        </p:nvSpPr>
        <p:spPr>
          <a:xfrm>
            <a:off x="5664962" y="1257518"/>
            <a:ext cx="133890" cy="571095"/>
          </a:xfrm>
          <a:custGeom>
            <a:avLst/>
            <a:gdLst/>
            <a:ahLst/>
            <a:cxnLst/>
            <a:rect l="l" t="t" r="r" b="b"/>
            <a:pathLst>
              <a:path w="133985" h="571500">
                <a:moveTo>
                  <a:pt x="0" y="571391"/>
                </a:moveTo>
                <a:lnTo>
                  <a:pt x="133357" y="571391"/>
                </a:lnTo>
                <a:lnTo>
                  <a:pt x="133357" y="0"/>
                </a:lnTo>
                <a:lnTo>
                  <a:pt x="0" y="0"/>
                </a:lnTo>
                <a:lnTo>
                  <a:pt x="0" y="571391"/>
                </a:lnTo>
                <a:close/>
              </a:path>
            </a:pathLst>
          </a:custGeom>
          <a:solidFill>
            <a:srgbClr val="D0D0D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1" name="object 41"/>
          <p:cNvSpPr/>
          <p:nvPr/>
        </p:nvSpPr>
        <p:spPr>
          <a:xfrm>
            <a:off x="5664962" y="1257518"/>
            <a:ext cx="133890" cy="571095"/>
          </a:xfrm>
          <a:custGeom>
            <a:avLst/>
            <a:gdLst/>
            <a:ahLst/>
            <a:cxnLst/>
            <a:rect l="l" t="t" r="r" b="b"/>
            <a:pathLst>
              <a:path w="133985" h="571500">
                <a:moveTo>
                  <a:pt x="0" y="571391"/>
                </a:moveTo>
                <a:lnTo>
                  <a:pt x="133357" y="571391"/>
                </a:lnTo>
                <a:lnTo>
                  <a:pt x="133357" y="0"/>
                </a:lnTo>
                <a:lnTo>
                  <a:pt x="0" y="0"/>
                </a:lnTo>
                <a:lnTo>
                  <a:pt x="0" y="571391"/>
                </a:lnTo>
                <a:close/>
              </a:path>
            </a:pathLst>
          </a:custGeom>
          <a:ln w="9459">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2" name="object 42"/>
          <p:cNvSpPr/>
          <p:nvPr/>
        </p:nvSpPr>
        <p:spPr>
          <a:xfrm>
            <a:off x="5664962" y="2047030"/>
            <a:ext cx="133890" cy="561577"/>
          </a:xfrm>
          <a:custGeom>
            <a:avLst/>
            <a:gdLst/>
            <a:ahLst/>
            <a:cxnLst/>
            <a:rect l="l" t="t" r="r" b="b"/>
            <a:pathLst>
              <a:path w="133985" h="561975">
                <a:moveTo>
                  <a:pt x="0" y="561578"/>
                </a:moveTo>
                <a:lnTo>
                  <a:pt x="133357" y="561578"/>
                </a:lnTo>
                <a:lnTo>
                  <a:pt x="133357" y="0"/>
                </a:lnTo>
                <a:lnTo>
                  <a:pt x="0" y="0"/>
                </a:lnTo>
                <a:lnTo>
                  <a:pt x="0" y="561578"/>
                </a:lnTo>
                <a:close/>
              </a:path>
            </a:pathLst>
          </a:custGeom>
          <a:solidFill>
            <a:srgbClr val="D0D0D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3" name="object 43"/>
          <p:cNvSpPr/>
          <p:nvPr/>
        </p:nvSpPr>
        <p:spPr>
          <a:xfrm>
            <a:off x="5664962" y="2047030"/>
            <a:ext cx="133890" cy="561577"/>
          </a:xfrm>
          <a:custGeom>
            <a:avLst/>
            <a:gdLst/>
            <a:ahLst/>
            <a:cxnLst/>
            <a:rect l="l" t="t" r="r" b="b"/>
            <a:pathLst>
              <a:path w="133985" h="561975">
                <a:moveTo>
                  <a:pt x="0" y="561578"/>
                </a:moveTo>
                <a:lnTo>
                  <a:pt x="133357" y="561578"/>
                </a:lnTo>
                <a:lnTo>
                  <a:pt x="133357" y="0"/>
                </a:lnTo>
                <a:lnTo>
                  <a:pt x="0" y="0"/>
                </a:lnTo>
                <a:lnTo>
                  <a:pt x="0" y="561578"/>
                </a:lnTo>
                <a:close/>
              </a:path>
            </a:pathLst>
          </a:custGeom>
          <a:ln w="9460">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4" name="object 44"/>
          <p:cNvSpPr/>
          <p:nvPr/>
        </p:nvSpPr>
        <p:spPr>
          <a:xfrm>
            <a:off x="5664962" y="2827116"/>
            <a:ext cx="133890" cy="571095"/>
          </a:xfrm>
          <a:custGeom>
            <a:avLst/>
            <a:gdLst/>
            <a:ahLst/>
            <a:cxnLst/>
            <a:rect l="l" t="t" r="r" b="b"/>
            <a:pathLst>
              <a:path w="133985" h="571500">
                <a:moveTo>
                  <a:pt x="0" y="571075"/>
                </a:moveTo>
                <a:lnTo>
                  <a:pt x="133357" y="571075"/>
                </a:lnTo>
                <a:lnTo>
                  <a:pt x="133357" y="0"/>
                </a:lnTo>
                <a:lnTo>
                  <a:pt x="0" y="0"/>
                </a:lnTo>
                <a:lnTo>
                  <a:pt x="0" y="571075"/>
                </a:lnTo>
                <a:close/>
              </a:path>
            </a:pathLst>
          </a:custGeom>
          <a:solidFill>
            <a:srgbClr val="D0D0D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5" name="object 45"/>
          <p:cNvSpPr/>
          <p:nvPr/>
        </p:nvSpPr>
        <p:spPr>
          <a:xfrm>
            <a:off x="5664962" y="2827116"/>
            <a:ext cx="133890" cy="571095"/>
          </a:xfrm>
          <a:custGeom>
            <a:avLst/>
            <a:gdLst/>
            <a:ahLst/>
            <a:cxnLst/>
            <a:rect l="l" t="t" r="r" b="b"/>
            <a:pathLst>
              <a:path w="133985" h="571500">
                <a:moveTo>
                  <a:pt x="0" y="571075"/>
                </a:moveTo>
                <a:lnTo>
                  <a:pt x="133357" y="571075"/>
                </a:lnTo>
                <a:lnTo>
                  <a:pt x="133357" y="0"/>
                </a:lnTo>
                <a:lnTo>
                  <a:pt x="0" y="0"/>
                </a:lnTo>
                <a:lnTo>
                  <a:pt x="0" y="571075"/>
                </a:lnTo>
                <a:close/>
              </a:path>
            </a:pathLst>
          </a:custGeom>
          <a:ln w="9459">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6" name="object 46"/>
          <p:cNvSpPr/>
          <p:nvPr/>
        </p:nvSpPr>
        <p:spPr>
          <a:xfrm>
            <a:off x="5798225" y="3616400"/>
            <a:ext cx="343292" cy="561577"/>
          </a:xfrm>
          <a:custGeom>
            <a:avLst/>
            <a:gdLst/>
            <a:ahLst/>
            <a:cxnLst/>
            <a:rect l="l" t="t" r="r" b="b"/>
            <a:pathLst>
              <a:path w="343535" h="561975">
                <a:moveTo>
                  <a:pt x="0" y="561578"/>
                </a:moveTo>
                <a:lnTo>
                  <a:pt x="343008" y="561578"/>
                </a:lnTo>
                <a:lnTo>
                  <a:pt x="343008" y="0"/>
                </a:lnTo>
                <a:lnTo>
                  <a:pt x="0" y="0"/>
                </a:lnTo>
                <a:lnTo>
                  <a:pt x="0" y="561578"/>
                </a:lnTo>
                <a:close/>
              </a:path>
            </a:pathLst>
          </a:custGeom>
          <a:solidFill>
            <a:srgbClr val="D0D0D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7" name="object 47"/>
          <p:cNvSpPr/>
          <p:nvPr/>
        </p:nvSpPr>
        <p:spPr>
          <a:xfrm>
            <a:off x="5798225" y="3616400"/>
            <a:ext cx="343292" cy="561577"/>
          </a:xfrm>
          <a:custGeom>
            <a:avLst/>
            <a:gdLst/>
            <a:ahLst/>
            <a:cxnLst/>
            <a:rect l="l" t="t" r="r" b="b"/>
            <a:pathLst>
              <a:path w="343535" h="561975">
                <a:moveTo>
                  <a:pt x="0" y="561578"/>
                </a:moveTo>
                <a:lnTo>
                  <a:pt x="343008" y="561578"/>
                </a:lnTo>
                <a:lnTo>
                  <a:pt x="343008" y="0"/>
                </a:lnTo>
                <a:lnTo>
                  <a:pt x="0" y="0"/>
                </a:lnTo>
                <a:lnTo>
                  <a:pt x="0" y="561578"/>
                </a:lnTo>
                <a:close/>
              </a:path>
            </a:pathLst>
          </a:custGeom>
          <a:ln w="9468">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8" name="object 48"/>
          <p:cNvSpPr/>
          <p:nvPr/>
        </p:nvSpPr>
        <p:spPr>
          <a:xfrm>
            <a:off x="5664962" y="4396485"/>
            <a:ext cx="476546" cy="571095"/>
          </a:xfrm>
          <a:custGeom>
            <a:avLst/>
            <a:gdLst/>
            <a:ahLst/>
            <a:cxnLst/>
            <a:rect l="l" t="t" r="r" b="b"/>
            <a:pathLst>
              <a:path w="476885" h="571500">
                <a:moveTo>
                  <a:pt x="0" y="571075"/>
                </a:moveTo>
                <a:lnTo>
                  <a:pt x="476365" y="571075"/>
                </a:lnTo>
                <a:lnTo>
                  <a:pt x="476365" y="0"/>
                </a:lnTo>
                <a:lnTo>
                  <a:pt x="0" y="0"/>
                </a:lnTo>
                <a:lnTo>
                  <a:pt x="0" y="571075"/>
                </a:lnTo>
                <a:close/>
              </a:path>
            </a:pathLst>
          </a:custGeom>
          <a:solidFill>
            <a:srgbClr val="1F1F7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9" name="object 49"/>
          <p:cNvSpPr/>
          <p:nvPr/>
        </p:nvSpPr>
        <p:spPr>
          <a:xfrm>
            <a:off x="5664962" y="4396485"/>
            <a:ext cx="476546" cy="571095"/>
          </a:xfrm>
          <a:custGeom>
            <a:avLst/>
            <a:gdLst/>
            <a:ahLst/>
            <a:cxnLst/>
            <a:rect l="l" t="t" r="r" b="b"/>
            <a:pathLst>
              <a:path w="476885" h="571500">
                <a:moveTo>
                  <a:pt x="0" y="571075"/>
                </a:moveTo>
                <a:lnTo>
                  <a:pt x="476365" y="571075"/>
                </a:lnTo>
                <a:lnTo>
                  <a:pt x="476365" y="0"/>
                </a:lnTo>
                <a:lnTo>
                  <a:pt x="0" y="0"/>
                </a:lnTo>
                <a:lnTo>
                  <a:pt x="0" y="571075"/>
                </a:lnTo>
                <a:close/>
              </a:path>
            </a:pathLst>
          </a:custGeom>
          <a:ln w="9473">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0" name="object 50"/>
          <p:cNvSpPr/>
          <p:nvPr/>
        </p:nvSpPr>
        <p:spPr>
          <a:xfrm>
            <a:off x="5122460" y="2047030"/>
            <a:ext cx="542540" cy="561577"/>
          </a:xfrm>
          <a:custGeom>
            <a:avLst/>
            <a:gdLst/>
            <a:ahLst/>
            <a:cxnLst/>
            <a:rect l="l" t="t" r="r" b="b"/>
            <a:pathLst>
              <a:path w="542925" h="561975">
                <a:moveTo>
                  <a:pt x="0" y="561578"/>
                </a:moveTo>
                <a:lnTo>
                  <a:pt x="542886" y="561578"/>
                </a:lnTo>
                <a:lnTo>
                  <a:pt x="542886" y="0"/>
                </a:lnTo>
                <a:lnTo>
                  <a:pt x="0" y="0"/>
                </a:lnTo>
                <a:lnTo>
                  <a:pt x="0" y="561578"/>
                </a:lnTo>
                <a:close/>
              </a:path>
            </a:pathLst>
          </a:custGeom>
          <a:solidFill>
            <a:srgbClr val="D0D0D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1" name="object 51"/>
          <p:cNvSpPr/>
          <p:nvPr/>
        </p:nvSpPr>
        <p:spPr>
          <a:xfrm>
            <a:off x="5122460" y="2047030"/>
            <a:ext cx="542540" cy="561577"/>
          </a:xfrm>
          <a:custGeom>
            <a:avLst/>
            <a:gdLst/>
            <a:ahLst/>
            <a:cxnLst/>
            <a:rect l="l" t="t" r="r" b="b"/>
            <a:pathLst>
              <a:path w="542925" h="561975">
                <a:moveTo>
                  <a:pt x="0" y="561578"/>
                </a:moveTo>
                <a:lnTo>
                  <a:pt x="542886" y="561578"/>
                </a:lnTo>
                <a:lnTo>
                  <a:pt x="542886" y="0"/>
                </a:lnTo>
                <a:lnTo>
                  <a:pt x="0" y="0"/>
                </a:lnTo>
                <a:lnTo>
                  <a:pt x="0" y="561578"/>
                </a:lnTo>
                <a:close/>
              </a:path>
            </a:pathLst>
          </a:custGeom>
          <a:ln w="9476">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2" name="object 52"/>
          <p:cNvSpPr/>
          <p:nvPr/>
        </p:nvSpPr>
        <p:spPr>
          <a:xfrm>
            <a:off x="5122460" y="2827116"/>
            <a:ext cx="542540" cy="571095"/>
          </a:xfrm>
          <a:custGeom>
            <a:avLst/>
            <a:gdLst/>
            <a:ahLst/>
            <a:cxnLst/>
            <a:rect l="l" t="t" r="r" b="b"/>
            <a:pathLst>
              <a:path w="542925" h="571500">
                <a:moveTo>
                  <a:pt x="0" y="571075"/>
                </a:moveTo>
                <a:lnTo>
                  <a:pt x="542886" y="571075"/>
                </a:lnTo>
                <a:lnTo>
                  <a:pt x="542886" y="0"/>
                </a:lnTo>
                <a:lnTo>
                  <a:pt x="0" y="0"/>
                </a:lnTo>
                <a:lnTo>
                  <a:pt x="0" y="571075"/>
                </a:lnTo>
                <a:close/>
              </a:path>
            </a:pathLst>
          </a:custGeom>
          <a:solidFill>
            <a:srgbClr val="D0D0D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3" name="object 53"/>
          <p:cNvSpPr/>
          <p:nvPr/>
        </p:nvSpPr>
        <p:spPr>
          <a:xfrm>
            <a:off x="5122460" y="2827116"/>
            <a:ext cx="542540" cy="571095"/>
          </a:xfrm>
          <a:custGeom>
            <a:avLst/>
            <a:gdLst/>
            <a:ahLst/>
            <a:cxnLst/>
            <a:rect l="l" t="t" r="r" b="b"/>
            <a:pathLst>
              <a:path w="542925" h="571500">
                <a:moveTo>
                  <a:pt x="0" y="571075"/>
                </a:moveTo>
                <a:lnTo>
                  <a:pt x="542886" y="571075"/>
                </a:lnTo>
                <a:lnTo>
                  <a:pt x="542886" y="0"/>
                </a:lnTo>
                <a:lnTo>
                  <a:pt x="0" y="0"/>
                </a:lnTo>
                <a:lnTo>
                  <a:pt x="0" y="571075"/>
                </a:lnTo>
                <a:close/>
              </a:path>
            </a:pathLst>
          </a:custGeom>
          <a:ln w="9476">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4" name="object 54"/>
          <p:cNvSpPr/>
          <p:nvPr/>
        </p:nvSpPr>
        <p:spPr>
          <a:xfrm>
            <a:off x="5660236" y="1148381"/>
            <a:ext cx="0" cy="899792"/>
          </a:xfrm>
          <a:custGeom>
            <a:avLst/>
            <a:gdLst/>
            <a:ahLst/>
            <a:cxnLst/>
            <a:rect l="l" t="t" r="r" b="b"/>
            <a:pathLst>
              <a:path h="900430">
                <a:moveTo>
                  <a:pt x="0" y="0"/>
                </a:moveTo>
                <a:lnTo>
                  <a:pt x="0" y="899854"/>
                </a:lnTo>
              </a:path>
            </a:pathLst>
          </a:custGeom>
          <a:ln w="28689">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5" name="object 55"/>
          <p:cNvSpPr/>
          <p:nvPr/>
        </p:nvSpPr>
        <p:spPr>
          <a:xfrm>
            <a:off x="5660236" y="2598896"/>
            <a:ext cx="0" cy="228438"/>
          </a:xfrm>
          <a:custGeom>
            <a:avLst/>
            <a:gdLst/>
            <a:ahLst/>
            <a:cxnLst/>
            <a:rect l="l" t="t" r="r" b="b"/>
            <a:pathLst>
              <a:path h="228600">
                <a:moveTo>
                  <a:pt x="0" y="0"/>
                </a:moveTo>
                <a:lnTo>
                  <a:pt x="0" y="228600"/>
                </a:lnTo>
              </a:path>
            </a:pathLst>
          </a:custGeom>
          <a:ln w="28689">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6" name="object 56"/>
          <p:cNvSpPr/>
          <p:nvPr/>
        </p:nvSpPr>
        <p:spPr>
          <a:xfrm>
            <a:off x="5660236" y="3389292"/>
            <a:ext cx="0" cy="1687904"/>
          </a:xfrm>
          <a:custGeom>
            <a:avLst/>
            <a:gdLst/>
            <a:ahLst/>
            <a:cxnLst/>
            <a:rect l="l" t="t" r="r" b="b"/>
            <a:pathLst>
              <a:path h="1689100">
                <a:moveTo>
                  <a:pt x="0" y="0"/>
                </a:moveTo>
                <a:lnTo>
                  <a:pt x="0" y="1688509"/>
                </a:lnTo>
              </a:path>
            </a:pathLst>
          </a:custGeom>
          <a:ln w="28689">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7" name="object 57"/>
          <p:cNvSpPr/>
          <p:nvPr/>
        </p:nvSpPr>
        <p:spPr>
          <a:xfrm>
            <a:off x="5659935" y="2827335"/>
            <a:ext cx="0" cy="562212"/>
          </a:xfrm>
          <a:custGeom>
            <a:avLst/>
            <a:gdLst/>
            <a:ahLst/>
            <a:cxnLst/>
            <a:rect l="l" t="t" r="r" b="b"/>
            <a:pathLst>
              <a:path h="562610">
                <a:moveTo>
                  <a:pt x="0" y="0"/>
                </a:moveTo>
                <a:lnTo>
                  <a:pt x="0" y="562356"/>
                </a:lnTo>
              </a:path>
            </a:pathLst>
          </a:custGeom>
          <a:ln w="53339">
            <a:solidFill>
              <a:srgbClr val="D0D0D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8" name="object 58"/>
          <p:cNvSpPr/>
          <p:nvPr/>
        </p:nvSpPr>
        <p:spPr>
          <a:xfrm>
            <a:off x="5659935" y="2047599"/>
            <a:ext cx="0" cy="551424"/>
          </a:xfrm>
          <a:custGeom>
            <a:avLst/>
            <a:gdLst/>
            <a:ahLst/>
            <a:cxnLst/>
            <a:rect l="l" t="t" r="r" b="b"/>
            <a:pathLst>
              <a:path h="551814">
                <a:moveTo>
                  <a:pt x="0" y="0"/>
                </a:moveTo>
                <a:lnTo>
                  <a:pt x="0" y="551688"/>
                </a:lnTo>
              </a:path>
            </a:pathLst>
          </a:custGeom>
          <a:ln w="53339">
            <a:solidFill>
              <a:srgbClr val="D0D0D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9" name="object 59"/>
          <p:cNvSpPr txBox="1"/>
          <p:nvPr/>
        </p:nvSpPr>
        <p:spPr>
          <a:xfrm>
            <a:off x="6206916" y="1986428"/>
            <a:ext cx="2527414" cy="657225"/>
          </a:xfrm>
          <a:prstGeom prst="rect">
            <a:avLst/>
          </a:prstGeom>
        </p:spPr>
        <p:txBody>
          <a:bodyPr vert="horz" wrap="square" lIns="0" tIns="12056" rIns="0" bIns="0" rtlCol="0">
            <a:spAutoFit/>
          </a:bodyPr>
          <a:lstStyle/>
          <a:p>
            <a:pPr marL="204470" marR="5080" indent="-192405">
              <a:lnSpc>
                <a:spcPct val="100000"/>
              </a:lnSpc>
              <a:spcBef>
                <a:spcPts val="95"/>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通过向</a:t>
            </a:r>
            <a:r>
              <a:rPr sz="1400" spc="-15" dirty="0">
                <a:latin typeface="微软雅黑" panose="020B0503020204020204" charset="-122"/>
                <a:ea typeface="微软雅黑" panose="020B0503020204020204" charset="-122"/>
                <a:cs typeface="微软雅黑" panose="020B0503020204020204" charset="-122"/>
              </a:rPr>
              <a:t>其</a:t>
            </a:r>
            <a:r>
              <a:rPr sz="1400" dirty="0">
                <a:latin typeface="微软雅黑" panose="020B0503020204020204" charset="-122"/>
                <a:ea typeface="微软雅黑" panose="020B0503020204020204" charset="-122"/>
                <a:cs typeface="微软雅黑" panose="020B0503020204020204" charset="-122"/>
              </a:rPr>
              <a:t>客户</a:t>
            </a:r>
            <a:r>
              <a:rPr sz="1400" spc="-15" dirty="0">
                <a:latin typeface="微软雅黑" panose="020B0503020204020204" charset="-122"/>
                <a:ea typeface="微软雅黑" panose="020B0503020204020204" charset="-122"/>
                <a:cs typeface="微软雅黑" panose="020B0503020204020204" charset="-122"/>
              </a:rPr>
              <a:t>提供</a:t>
            </a:r>
            <a:r>
              <a:rPr sz="1400" dirty="0">
                <a:latin typeface="微软雅黑" panose="020B0503020204020204" charset="-122"/>
                <a:ea typeface="微软雅黑" panose="020B0503020204020204" charset="-122"/>
                <a:cs typeface="微软雅黑" panose="020B0503020204020204" charset="-122"/>
              </a:rPr>
              <a:t>免费服</a:t>
            </a:r>
            <a:r>
              <a:rPr sz="1400" spc="-15" dirty="0">
                <a:latin typeface="微软雅黑" panose="020B0503020204020204" charset="-122"/>
                <a:ea typeface="微软雅黑" panose="020B0503020204020204" charset="-122"/>
                <a:cs typeface="微软雅黑" panose="020B0503020204020204" charset="-122"/>
              </a:rPr>
              <a:t>务</a:t>
            </a:r>
            <a:r>
              <a:rPr sz="1400" dirty="0">
                <a:latin typeface="微软雅黑" panose="020B0503020204020204" charset="-122"/>
                <a:ea typeface="微软雅黑" panose="020B0503020204020204" charset="-122"/>
                <a:cs typeface="微软雅黑" panose="020B0503020204020204" charset="-122"/>
              </a:rPr>
              <a:t>， 获得客户信赖，并通过</a:t>
            </a:r>
            <a:r>
              <a:rPr sz="1400" spc="-15" dirty="0">
                <a:latin typeface="微软雅黑" panose="020B0503020204020204" charset="-122"/>
                <a:ea typeface="微软雅黑" panose="020B0503020204020204" charset="-122"/>
                <a:cs typeface="微软雅黑" panose="020B0503020204020204" charset="-122"/>
              </a:rPr>
              <a:t>延</a:t>
            </a:r>
            <a:r>
              <a:rPr sz="1400" dirty="0">
                <a:latin typeface="微软雅黑" panose="020B0503020204020204" charset="-122"/>
                <a:ea typeface="微软雅黑" panose="020B0503020204020204" charset="-122"/>
                <a:cs typeface="微软雅黑" panose="020B0503020204020204" charset="-122"/>
              </a:rPr>
              <a:t>长 免费服务期限竞标成功</a:t>
            </a:r>
            <a:endParaRPr sz="1400">
              <a:latin typeface="微软雅黑" panose="020B0503020204020204" charset="-122"/>
              <a:ea typeface="微软雅黑" panose="020B0503020204020204" charset="-122"/>
              <a:cs typeface="微软雅黑" panose="020B0503020204020204" charset="-122"/>
            </a:endParaRPr>
          </a:p>
        </p:txBody>
      </p:sp>
      <p:sp>
        <p:nvSpPr>
          <p:cNvPr id="60" name="object 60"/>
          <p:cNvSpPr txBox="1"/>
          <p:nvPr/>
        </p:nvSpPr>
        <p:spPr>
          <a:xfrm>
            <a:off x="6206916" y="2778093"/>
            <a:ext cx="2354182" cy="227965"/>
          </a:xfrm>
          <a:prstGeom prst="rect">
            <a:avLst/>
          </a:prstGeom>
        </p:spPr>
        <p:txBody>
          <a:bodyPr vert="horz" wrap="square" lIns="0" tIns="13325" rIns="0" bIns="0" rtlCol="0">
            <a:spAutoFit/>
          </a:bodyPr>
          <a:lstStyle/>
          <a:p>
            <a:pPr marL="204470" indent="-192405">
              <a:lnSpc>
                <a:spcPct val="100000"/>
              </a:lnSpc>
              <a:spcBef>
                <a:spcPts val="105"/>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因客户只使用正规零件</a:t>
            </a:r>
            <a:r>
              <a:rPr sz="1400" spc="-15" dirty="0">
                <a:latin typeface="微软雅黑" panose="020B0503020204020204" charset="-122"/>
                <a:ea typeface="微软雅黑" panose="020B0503020204020204" charset="-122"/>
                <a:cs typeface="微软雅黑" panose="020B0503020204020204" charset="-122"/>
              </a:rPr>
              <a:t>，</a:t>
            </a:r>
            <a:r>
              <a:rPr sz="1400" dirty="0">
                <a:latin typeface="微软雅黑" panose="020B0503020204020204" charset="-122"/>
                <a:ea typeface="微软雅黑" panose="020B0503020204020204" charset="-122"/>
                <a:cs typeface="微软雅黑" panose="020B0503020204020204" charset="-122"/>
              </a:rPr>
              <a:t>并</a:t>
            </a:r>
            <a:endParaRPr sz="1400">
              <a:latin typeface="微软雅黑" panose="020B0503020204020204" charset="-122"/>
              <a:ea typeface="微软雅黑" panose="020B0503020204020204" charset="-122"/>
              <a:cs typeface="微软雅黑" panose="020B0503020204020204" charset="-122"/>
            </a:endParaRPr>
          </a:p>
        </p:txBody>
      </p:sp>
      <p:sp>
        <p:nvSpPr>
          <p:cNvPr id="61" name="object 61"/>
          <p:cNvSpPr txBox="1"/>
          <p:nvPr/>
        </p:nvSpPr>
        <p:spPr>
          <a:xfrm>
            <a:off x="6398805" y="2991556"/>
            <a:ext cx="2162547" cy="445135"/>
          </a:xfrm>
          <a:prstGeom prst="rect">
            <a:avLst/>
          </a:prstGeom>
        </p:spPr>
        <p:txBody>
          <a:bodyPr vert="horz" wrap="square" lIns="0" tIns="11421" rIns="0" bIns="0" rtlCol="0">
            <a:spAutoFit/>
          </a:bodyPr>
          <a:lstStyle/>
          <a:p>
            <a:pPr marL="12700" marR="5080">
              <a:lnSpc>
                <a:spcPct val="101000"/>
              </a:lnSpc>
              <a:spcBef>
                <a:spcPts val="90"/>
              </a:spcBef>
            </a:pPr>
            <a:r>
              <a:rPr sz="1400" dirty="0">
                <a:latin typeface="微软雅黑" panose="020B0503020204020204" charset="-122"/>
                <a:ea typeface="微软雅黑" panose="020B0503020204020204" charset="-122"/>
                <a:cs typeface="微软雅黑" panose="020B0503020204020204" charset="-122"/>
              </a:rPr>
              <a:t>购买我应用产品，此项</a:t>
            </a:r>
            <a:r>
              <a:rPr sz="1400" spc="-15" dirty="0">
                <a:latin typeface="微软雅黑" panose="020B0503020204020204" charset="-122"/>
                <a:ea typeface="微软雅黑" panose="020B0503020204020204" charset="-122"/>
                <a:cs typeface="微软雅黑" panose="020B0503020204020204" charset="-122"/>
              </a:rPr>
              <a:t>获</a:t>
            </a:r>
            <a:r>
              <a:rPr sz="1400" dirty="0">
                <a:latin typeface="微软雅黑" panose="020B0503020204020204" charset="-122"/>
                <a:ea typeface="微软雅黑" panose="020B0503020204020204" charset="-122"/>
                <a:cs typeface="微软雅黑" panose="020B0503020204020204" charset="-122"/>
              </a:rPr>
              <a:t>得 较高利润</a:t>
            </a:r>
            <a:endParaRPr sz="1400">
              <a:latin typeface="微软雅黑" panose="020B0503020204020204" charset="-122"/>
              <a:ea typeface="微软雅黑" panose="020B0503020204020204" charset="-122"/>
              <a:cs typeface="微软雅黑" panose="020B0503020204020204" charset="-122"/>
            </a:endParaRPr>
          </a:p>
        </p:txBody>
      </p:sp>
      <p:sp>
        <p:nvSpPr>
          <p:cNvPr id="62" name="object 62"/>
          <p:cNvSpPr txBox="1"/>
          <p:nvPr/>
        </p:nvSpPr>
        <p:spPr>
          <a:xfrm>
            <a:off x="6206916" y="3571535"/>
            <a:ext cx="2354182" cy="227330"/>
          </a:xfrm>
          <a:prstGeom prst="rect">
            <a:avLst/>
          </a:prstGeom>
        </p:spPr>
        <p:txBody>
          <a:bodyPr vert="horz" wrap="square" lIns="0" tIns="12691" rIns="0" bIns="0" rtlCol="0">
            <a:spAutoFit/>
          </a:bodyPr>
          <a:lstStyle/>
          <a:p>
            <a:pPr marL="204470" indent="-192405">
              <a:lnSpc>
                <a:spcPct val="100000"/>
              </a:lnSpc>
              <a:spcBef>
                <a:spcPts val="100"/>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客户业务稳定，但对账</a:t>
            </a:r>
            <a:r>
              <a:rPr sz="1400" spc="-15" dirty="0">
                <a:latin typeface="微软雅黑" panose="020B0503020204020204" charset="-122"/>
                <a:ea typeface="微软雅黑" panose="020B0503020204020204" charset="-122"/>
                <a:cs typeface="微软雅黑" panose="020B0503020204020204" charset="-122"/>
              </a:rPr>
              <a:t>期</a:t>
            </a:r>
            <a:r>
              <a:rPr sz="1400" dirty="0">
                <a:latin typeface="微软雅黑" panose="020B0503020204020204" charset="-122"/>
                <a:ea typeface="微软雅黑" panose="020B0503020204020204" charset="-122"/>
                <a:cs typeface="微软雅黑" panose="020B0503020204020204" charset="-122"/>
              </a:rPr>
              <a:t>需</a:t>
            </a:r>
            <a:endParaRPr sz="1400">
              <a:latin typeface="微软雅黑" panose="020B0503020204020204" charset="-122"/>
              <a:ea typeface="微软雅黑" panose="020B0503020204020204" charset="-122"/>
              <a:cs typeface="微软雅黑" panose="020B0503020204020204" charset="-122"/>
            </a:endParaRPr>
          </a:p>
        </p:txBody>
      </p:sp>
      <p:sp>
        <p:nvSpPr>
          <p:cNvPr id="63" name="object 63"/>
          <p:cNvSpPr txBox="1"/>
          <p:nvPr/>
        </p:nvSpPr>
        <p:spPr>
          <a:xfrm>
            <a:off x="6398805" y="3786266"/>
            <a:ext cx="1629525" cy="227330"/>
          </a:xfrm>
          <a:prstGeom prst="rect">
            <a:avLst/>
          </a:prstGeom>
        </p:spPr>
        <p:txBody>
          <a:bodyPr vert="horz" wrap="square" lIns="0" tIns="12691" rIns="0" bIns="0" rtlCol="0">
            <a:spAutoFit/>
          </a:bodyPr>
          <a:lstStyle/>
          <a:p>
            <a:pPr marL="12700">
              <a:lnSpc>
                <a:spcPct val="100000"/>
              </a:lnSpc>
              <a:spcBef>
                <a:spcPts val="100"/>
              </a:spcBef>
            </a:pPr>
            <a:r>
              <a:rPr sz="1400" dirty="0">
                <a:latin typeface="微软雅黑" panose="020B0503020204020204" charset="-122"/>
                <a:ea typeface="微软雅黑" panose="020B0503020204020204" charset="-122"/>
                <a:cs typeface="微软雅黑" panose="020B0503020204020204" charset="-122"/>
              </a:rPr>
              <a:t>求大，愿意支付利息</a:t>
            </a:r>
            <a:endParaRPr sz="1400" dirty="0">
              <a:latin typeface="微软雅黑" panose="020B0503020204020204" charset="-122"/>
              <a:ea typeface="微软雅黑" panose="020B0503020204020204" charset="-122"/>
              <a:cs typeface="微软雅黑" panose="020B0503020204020204" charset="-122"/>
            </a:endParaRPr>
          </a:p>
        </p:txBody>
      </p:sp>
      <p:sp>
        <p:nvSpPr>
          <p:cNvPr id="64" name="object 64"/>
          <p:cNvSpPr txBox="1"/>
          <p:nvPr/>
        </p:nvSpPr>
        <p:spPr>
          <a:xfrm>
            <a:off x="2740115" y="1200982"/>
            <a:ext cx="2172700" cy="227965"/>
          </a:xfrm>
          <a:prstGeom prst="rect">
            <a:avLst/>
          </a:prstGeom>
        </p:spPr>
        <p:txBody>
          <a:bodyPr vert="horz" wrap="square" lIns="0" tIns="13325" rIns="0" bIns="0" rtlCol="0">
            <a:spAutoFit/>
          </a:bodyPr>
          <a:lstStyle/>
          <a:p>
            <a:pPr marL="204470" indent="-192405">
              <a:lnSpc>
                <a:spcPct val="100000"/>
              </a:lnSpc>
              <a:spcBef>
                <a:spcPts val="105"/>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因客户</a:t>
            </a:r>
            <a:r>
              <a:rPr sz="1400" spc="-15" dirty="0">
                <a:latin typeface="微软雅黑" panose="020B0503020204020204" charset="-122"/>
                <a:ea typeface="微软雅黑" panose="020B0503020204020204" charset="-122"/>
                <a:cs typeface="微软雅黑" panose="020B0503020204020204" charset="-122"/>
              </a:rPr>
              <a:t>对</a:t>
            </a:r>
            <a:r>
              <a:rPr sz="1400" dirty="0">
                <a:latin typeface="微软雅黑" panose="020B0503020204020204" charset="-122"/>
                <a:ea typeface="微软雅黑" panose="020B0503020204020204" charset="-122"/>
                <a:cs typeface="微软雅黑" panose="020B0503020204020204" charset="-122"/>
              </a:rPr>
              <a:t>价格</a:t>
            </a:r>
            <a:r>
              <a:rPr sz="1400" spc="-15" dirty="0">
                <a:latin typeface="微软雅黑" panose="020B0503020204020204" charset="-122"/>
                <a:ea typeface="微软雅黑" panose="020B0503020204020204" charset="-122"/>
                <a:cs typeface="微软雅黑" panose="020B0503020204020204" charset="-122"/>
              </a:rPr>
              <a:t>敏感</a:t>
            </a:r>
            <a:r>
              <a:rPr sz="1400" dirty="0">
                <a:latin typeface="微软雅黑" panose="020B0503020204020204" charset="-122"/>
                <a:ea typeface="微软雅黑" panose="020B0503020204020204" charset="-122"/>
                <a:cs typeface="微软雅黑" panose="020B0503020204020204" charset="-122"/>
              </a:rPr>
              <a:t>度低，</a:t>
            </a:r>
            <a:endParaRPr sz="1400">
              <a:latin typeface="微软雅黑" panose="020B0503020204020204" charset="-122"/>
              <a:ea typeface="微软雅黑" panose="020B0503020204020204" charset="-122"/>
              <a:cs typeface="微软雅黑" panose="020B0503020204020204" charset="-122"/>
            </a:endParaRPr>
          </a:p>
        </p:txBody>
      </p:sp>
      <p:sp>
        <p:nvSpPr>
          <p:cNvPr id="65" name="object 65"/>
          <p:cNvSpPr txBox="1"/>
          <p:nvPr/>
        </p:nvSpPr>
        <p:spPr>
          <a:xfrm>
            <a:off x="2932002" y="1414191"/>
            <a:ext cx="1807199" cy="444500"/>
          </a:xfrm>
          <a:prstGeom prst="rect">
            <a:avLst/>
          </a:prstGeom>
        </p:spPr>
        <p:txBody>
          <a:bodyPr vert="horz" wrap="square" lIns="0" tIns="13325" rIns="0" bIns="0" rtlCol="0">
            <a:spAutoFit/>
          </a:bodyPr>
          <a:lstStyle/>
          <a:p>
            <a:pPr marL="12700">
              <a:lnSpc>
                <a:spcPct val="100000"/>
              </a:lnSpc>
              <a:spcBef>
                <a:spcPts val="105"/>
              </a:spcBef>
            </a:pPr>
            <a:r>
              <a:rPr sz="1400" dirty="0">
                <a:latin typeface="微软雅黑" panose="020B0503020204020204" charset="-122"/>
                <a:ea typeface="微软雅黑" panose="020B0503020204020204" charset="-122"/>
                <a:cs typeface="微软雅黑" panose="020B0503020204020204" charset="-122"/>
              </a:rPr>
              <a:t>新机销售利润利润比较</a:t>
            </a:r>
            <a:endParaRPr sz="1400">
              <a:latin typeface="微软雅黑" panose="020B0503020204020204" charset="-122"/>
              <a:ea typeface="微软雅黑" panose="020B0503020204020204" charset="-122"/>
              <a:cs typeface="微软雅黑" panose="020B0503020204020204" charset="-122"/>
            </a:endParaRPr>
          </a:p>
          <a:p>
            <a:pPr marL="12700">
              <a:lnSpc>
                <a:spcPct val="100000"/>
              </a:lnSpc>
              <a:spcBef>
                <a:spcPts val="10"/>
              </a:spcBef>
            </a:pPr>
            <a:r>
              <a:rPr sz="1400" spc="5" dirty="0">
                <a:latin typeface="微软雅黑" panose="020B0503020204020204" charset="-122"/>
                <a:ea typeface="微软雅黑" panose="020B0503020204020204" charset="-122"/>
                <a:cs typeface="微软雅黑" panose="020B0503020204020204" charset="-122"/>
              </a:rPr>
              <a:t>高</a:t>
            </a:r>
            <a:endParaRPr sz="1400">
              <a:latin typeface="微软雅黑" panose="020B0503020204020204" charset="-122"/>
              <a:ea typeface="微软雅黑" panose="020B0503020204020204" charset="-122"/>
              <a:cs typeface="微软雅黑" panose="020B0503020204020204" charset="-122"/>
            </a:endParaRPr>
          </a:p>
        </p:txBody>
      </p:sp>
      <p:sp>
        <p:nvSpPr>
          <p:cNvPr id="66" name="object 66"/>
          <p:cNvSpPr txBox="1"/>
          <p:nvPr/>
        </p:nvSpPr>
        <p:spPr>
          <a:xfrm>
            <a:off x="6206916" y="1200982"/>
            <a:ext cx="2527414" cy="227965"/>
          </a:xfrm>
          <a:prstGeom prst="rect">
            <a:avLst/>
          </a:prstGeom>
        </p:spPr>
        <p:txBody>
          <a:bodyPr vert="horz" wrap="square" lIns="0" tIns="13325" rIns="0" bIns="0" rtlCol="0">
            <a:spAutoFit/>
          </a:bodyPr>
          <a:lstStyle/>
          <a:p>
            <a:pPr marL="204470" indent="-192405">
              <a:lnSpc>
                <a:spcPct val="100000"/>
              </a:lnSpc>
              <a:spcBef>
                <a:spcPts val="105"/>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通过降</a:t>
            </a:r>
            <a:r>
              <a:rPr sz="1400" spc="-15" dirty="0">
                <a:latin typeface="微软雅黑" panose="020B0503020204020204" charset="-122"/>
                <a:ea typeface="微软雅黑" panose="020B0503020204020204" charset="-122"/>
                <a:cs typeface="微软雅黑" panose="020B0503020204020204" charset="-122"/>
              </a:rPr>
              <a:t>低</a:t>
            </a:r>
            <a:r>
              <a:rPr sz="1400" dirty="0">
                <a:latin typeface="微软雅黑" panose="020B0503020204020204" charset="-122"/>
                <a:ea typeface="微软雅黑" panose="020B0503020204020204" charset="-122"/>
                <a:cs typeface="微软雅黑" panose="020B0503020204020204" charset="-122"/>
              </a:rPr>
              <a:t>新机</a:t>
            </a:r>
            <a:r>
              <a:rPr sz="1400" spc="-15" dirty="0">
                <a:latin typeface="微软雅黑" panose="020B0503020204020204" charset="-122"/>
                <a:ea typeface="微软雅黑" panose="020B0503020204020204" charset="-122"/>
                <a:cs typeface="微软雅黑" panose="020B0503020204020204" charset="-122"/>
              </a:rPr>
              <a:t>价格</a:t>
            </a:r>
            <a:r>
              <a:rPr sz="1400" dirty="0">
                <a:latin typeface="微软雅黑" panose="020B0503020204020204" charset="-122"/>
                <a:ea typeface="微软雅黑" panose="020B0503020204020204" charset="-122"/>
                <a:cs typeface="微软雅黑" panose="020B0503020204020204" charset="-122"/>
              </a:rPr>
              <a:t>竞标成</a:t>
            </a:r>
            <a:r>
              <a:rPr sz="1400" spc="-15" dirty="0">
                <a:latin typeface="微软雅黑" panose="020B0503020204020204" charset="-122"/>
                <a:ea typeface="微软雅黑" panose="020B0503020204020204" charset="-122"/>
                <a:cs typeface="微软雅黑" panose="020B0503020204020204" charset="-122"/>
              </a:rPr>
              <a:t>功</a:t>
            </a:r>
            <a:r>
              <a:rPr sz="1400" dirty="0">
                <a:latin typeface="微软雅黑" panose="020B0503020204020204" charset="-122"/>
                <a:ea typeface="微软雅黑" panose="020B0503020204020204" charset="-122"/>
                <a:cs typeface="微软雅黑" panose="020B0503020204020204" charset="-122"/>
              </a:rPr>
              <a:t>。</a:t>
            </a:r>
            <a:endParaRPr sz="1400">
              <a:latin typeface="微软雅黑" panose="020B0503020204020204" charset="-122"/>
              <a:ea typeface="微软雅黑" panose="020B0503020204020204" charset="-122"/>
              <a:cs typeface="微软雅黑" panose="020B0503020204020204" charset="-122"/>
            </a:endParaRPr>
          </a:p>
        </p:txBody>
      </p:sp>
      <p:sp>
        <p:nvSpPr>
          <p:cNvPr id="67" name="object 67"/>
          <p:cNvSpPr txBox="1"/>
          <p:nvPr/>
        </p:nvSpPr>
        <p:spPr>
          <a:xfrm>
            <a:off x="6398805" y="1415713"/>
            <a:ext cx="738617" cy="227965"/>
          </a:xfrm>
          <a:prstGeom prst="rect">
            <a:avLst/>
          </a:prstGeom>
        </p:spPr>
        <p:txBody>
          <a:bodyPr vert="horz" wrap="square" lIns="0" tIns="13325" rIns="0" bIns="0" rtlCol="0">
            <a:spAutoFit/>
          </a:bodyPr>
          <a:lstStyle/>
          <a:p>
            <a:pPr marL="12700">
              <a:lnSpc>
                <a:spcPct val="100000"/>
              </a:lnSpc>
              <a:spcBef>
                <a:spcPts val="105"/>
              </a:spcBef>
            </a:pPr>
            <a:r>
              <a:rPr sz="1400" dirty="0">
                <a:latin typeface="微软雅黑" panose="020B0503020204020204" charset="-122"/>
                <a:ea typeface="微软雅黑" panose="020B0503020204020204" charset="-122"/>
                <a:cs typeface="微软雅黑" panose="020B0503020204020204" charset="-122"/>
              </a:rPr>
              <a:t>利润较低</a:t>
            </a:r>
            <a:endParaRPr sz="1400" dirty="0">
              <a:latin typeface="微软雅黑" panose="020B0503020204020204" charset="-122"/>
              <a:ea typeface="微软雅黑" panose="020B0503020204020204" charset="-122"/>
              <a:cs typeface="微软雅黑" panose="020B0503020204020204" charset="-122"/>
            </a:endParaRPr>
          </a:p>
        </p:txBody>
      </p:sp>
      <p:sp>
        <p:nvSpPr>
          <p:cNvPr id="68" name="object 68"/>
          <p:cNvSpPr txBox="1">
            <a:spLocks noGrp="1"/>
          </p:cNvSpPr>
          <p:nvPr>
            <p:ph type="title"/>
          </p:nvPr>
        </p:nvSpPr>
        <p:spPr>
          <a:xfrm>
            <a:off x="69850" y="203088"/>
            <a:ext cx="3644857" cy="303530"/>
          </a:xfrm>
          <a:prstGeom prst="rect">
            <a:avLst/>
          </a:prstGeom>
        </p:spPr>
        <p:txBody>
          <a:bodyPr vert="horz" wrap="square" lIns="0" tIns="12056" rIns="0" bIns="0" rtlCol="0">
            <a:spAutoFit/>
          </a:bodyPr>
          <a:lstStyle/>
          <a:p>
            <a:pPr marL="12700">
              <a:lnSpc>
                <a:spcPct val="100000"/>
              </a:lnSpc>
              <a:spcBef>
                <a:spcPts val="95"/>
              </a:spcBef>
            </a:pPr>
            <a:r>
              <a:rPr dirty="0">
                <a:ea typeface="微软雅黑" panose="020B0503020204020204" charset="-122"/>
              </a:rPr>
              <a:t>但</a:t>
            </a:r>
            <a:r>
              <a:rPr spc="-5" dirty="0">
                <a:ea typeface="微软雅黑" panose="020B0503020204020204" charset="-122"/>
              </a:rPr>
              <a:t>并非每一</a:t>
            </a:r>
            <a:r>
              <a:rPr spc="-10" dirty="0">
                <a:ea typeface="微软雅黑" panose="020B0503020204020204" charset="-122"/>
              </a:rPr>
              <a:t>个大</a:t>
            </a:r>
            <a:r>
              <a:rPr spc="-5" dirty="0">
                <a:ea typeface="微软雅黑" panose="020B0503020204020204" charset="-122"/>
              </a:rPr>
              <a:t>客</a:t>
            </a:r>
            <a:r>
              <a:rPr spc="-10" dirty="0">
                <a:ea typeface="微软雅黑" panose="020B0503020204020204" charset="-122"/>
              </a:rPr>
              <a:t>户都</a:t>
            </a:r>
            <a:r>
              <a:rPr spc="-5" dirty="0">
                <a:ea typeface="微软雅黑" panose="020B0503020204020204" charset="-122"/>
              </a:rPr>
              <a:t>能</a:t>
            </a:r>
            <a:r>
              <a:rPr spc="-10" dirty="0">
                <a:ea typeface="微软雅黑" panose="020B0503020204020204" charset="-122"/>
              </a:rPr>
              <a:t>带来</a:t>
            </a:r>
            <a:r>
              <a:rPr spc="-5" dirty="0">
                <a:ea typeface="微软雅黑" panose="020B0503020204020204" charset="-122"/>
              </a:rPr>
              <a:t>获</a:t>
            </a:r>
            <a:r>
              <a:rPr spc="-10" dirty="0">
                <a:ea typeface="微软雅黑" panose="020B0503020204020204" charset="-122"/>
              </a:rPr>
              <a:t>利</a:t>
            </a:r>
            <a:endParaRPr spc="-10" dirty="0">
              <a:ea typeface="微软雅黑" panose="020B0503020204020204" charset="-122"/>
            </a:endParaRPr>
          </a:p>
        </p:txBody>
      </p:sp>
      <p:sp>
        <p:nvSpPr>
          <p:cNvPr id="69" name="object 69"/>
          <p:cNvSpPr/>
          <p:nvPr/>
        </p:nvSpPr>
        <p:spPr>
          <a:xfrm>
            <a:off x="880248" y="1939472"/>
            <a:ext cx="7843042" cy="0"/>
          </a:xfrm>
          <a:custGeom>
            <a:avLst/>
            <a:gdLst/>
            <a:ahLst/>
            <a:cxnLst/>
            <a:rect l="l" t="t" r="r" b="b"/>
            <a:pathLst>
              <a:path w="7848600">
                <a:moveTo>
                  <a:pt x="0" y="0"/>
                </a:moveTo>
                <a:lnTo>
                  <a:pt x="7848600" y="0"/>
                </a:lnTo>
              </a:path>
            </a:pathLst>
          </a:custGeom>
          <a:ln w="3175">
            <a:solidFill>
              <a:srgbClr val="000000"/>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70" name="object 70"/>
          <p:cNvSpPr/>
          <p:nvPr/>
        </p:nvSpPr>
        <p:spPr>
          <a:xfrm>
            <a:off x="880248" y="2726822"/>
            <a:ext cx="7843042" cy="0"/>
          </a:xfrm>
          <a:custGeom>
            <a:avLst/>
            <a:gdLst/>
            <a:ahLst/>
            <a:cxnLst/>
            <a:rect l="l" t="t" r="r" b="b"/>
            <a:pathLst>
              <a:path w="7848600">
                <a:moveTo>
                  <a:pt x="0" y="0"/>
                </a:moveTo>
                <a:lnTo>
                  <a:pt x="7848600" y="0"/>
                </a:lnTo>
              </a:path>
            </a:pathLst>
          </a:custGeom>
          <a:ln w="3175">
            <a:solidFill>
              <a:srgbClr val="000000"/>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71" name="object 71"/>
          <p:cNvSpPr/>
          <p:nvPr/>
        </p:nvSpPr>
        <p:spPr>
          <a:xfrm>
            <a:off x="880248" y="3518741"/>
            <a:ext cx="7843042" cy="0"/>
          </a:xfrm>
          <a:custGeom>
            <a:avLst/>
            <a:gdLst/>
            <a:ahLst/>
            <a:cxnLst/>
            <a:rect l="l" t="t" r="r" b="b"/>
            <a:pathLst>
              <a:path w="7848600">
                <a:moveTo>
                  <a:pt x="0" y="0"/>
                </a:moveTo>
                <a:lnTo>
                  <a:pt x="7848600" y="0"/>
                </a:lnTo>
              </a:path>
            </a:pathLst>
          </a:custGeom>
          <a:ln w="3175">
            <a:solidFill>
              <a:srgbClr val="000000"/>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72" name="object 72"/>
          <p:cNvSpPr txBox="1"/>
          <p:nvPr/>
        </p:nvSpPr>
        <p:spPr>
          <a:xfrm>
            <a:off x="8423400" y="494296"/>
            <a:ext cx="329966" cy="196215"/>
          </a:xfrm>
          <a:prstGeom prst="rect">
            <a:avLst/>
          </a:prstGeom>
        </p:spPr>
        <p:txBody>
          <a:bodyPr vert="horz" wrap="square" lIns="0" tIns="12691" rIns="0" bIns="0" rtlCol="0">
            <a:spAutoFit/>
          </a:bodyPr>
          <a:lstStyle/>
          <a:p>
            <a:pPr marL="12700">
              <a:lnSpc>
                <a:spcPct val="100000"/>
              </a:lnSpc>
              <a:spcBef>
                <a:spcPts val="100"/>
              </a:spcBef>
            </a:pPr>
            <a:r>
              <a:rPr sz="1200" spc="-5" dirty="0">
                <a:solidFill>
                  <a:srgbClr val="808080"/>
                </a:solidFill>
                <a:latin typeface="微软雅黑" panose="020B0503020204020204" charset="-122"/>
                <a:ea typeface="微软雅黑" panose="020B0503020204020204" charset="-122"/>
                <a:cs typeface="微软雅黑" panose="020B0503020204020204" charset="-122"/>
              </a:rPr>
              <a:t>举例</a:t>
            </a:r>
            <a:endParaRPr sz="1200" spc="-5" dirty="0">
              <a:solidFill>
                <a:srgbClr val="808080"/>
              </a:solidFill>
              <a:latin typeface="微软雅黑" panose="020B0503020204020204" charset="-122"/>
              <a:ea typeface="微软雅黑" panose="020B0503020204020204" charset="-122"/>
              <a:cs typeface="微软雅黑" panose="020B0503020204020204" charset="-122"/>
            </a:endParaRPr>
          </a:p>
        </p:txBody>
      </p:sp>
      <p:sp>
        <p:nvSpPr>
          <p:cNvPr id="73" name="object 73"/>
          <p:cNvSpPr/>
          <p:nvPr/>
        </p:nvSpPr>
        <p:spPr>
          <a:xfrm>
            <a:off x="8408045" y="518587"/>
            <a:ext cx="0" cy="209402"/>
          </a:xfrm>
          <a:custGeom>
            <a:avLst/>
            <a:gdLst/>
            <a:ahLst/>
            <a:cxnLst/>
            <a:rect l="l" t="t" r="r" b="b"/>
            <a:pathLst>
              <a:path h="209550">
                <a:moveTo>
                  <a:pt x="0" y="0"/>
                </a:moveTo>
                <a:lnTo>
                  <a:pt x="0" y="209550"/>
                </a:lnTo>
              </a:path>
            </a:pathLst>
          </a:custGeom>
          <a:ln w="9525">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4" name="object 74"/>
          <p:cNvSpPr/>
          <p:nvPr/>
        </p:nvSpPr>
        <p:spPr>
          <a:xfrm>
            <a:off x="8408807" y="727988"/>
            <a:ext cx="331870" cy="0"/>
          </a:xfrm>
          <a:custGeom>
            <a:avLst/>
            <a:gdLst/>
            <a:ahLst/>
            <a:cxnLst/>
            <a:rect l="l" t="t" r="r" b="b"/>
            <a:pathLst>
              <a:path w="332104">
                <a:moveTo>
                  <a:pt x="0" y="0"/>
                </a:moveTo>
                <a:lnTo>
                  <a:pt x="331850" y="0"/>
                </a:lnTo>
              </a:path>
            </a:pathLst>
          </a:custGeom>
          <a:ln w="25400">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5" name="object 75"/>
          <p:cNvSpPr/>
          <p:nvPr/>
        </p:nvSpPr>
        <p:spPr>
          <a:xfrm>
            <a:off x="2104675" y="5227458"/>
            <a:ext cx="6273164" cy="760191"/>
          </a:xfrm>
          <a:custGeom>
            <a:avLst/>
            <a:gdLst/>
            <a:ahLst/>
            <a:cxnLst/>
            <a:rect l="l" t="t" r="r" b="b"/>
            <a:pathLst>
              <a:path w="6277609" h="760729">
                <a:moveTo>
                  <a:pt x="6232143" y="0"/>
                </a:moveTo>
                <a:lnTo>
                  <a:pt x="45212" y="0"/>
                </a:lnTo>
                <a:lnTo>
                  <a:pt x="27592" y="3546"/>
                </a:lnTo>
                <a:lnTo>
                  <a:pt x="13223" y="13223"/>
                </a:lnTo>
                <a:lnTo>
                  <a:pt x="3546" y="27592"/>
                </a:lnTo>
                <a:lnTo>
                  <a:pt x="0" y="45212"/>
                </a:lnTo>
                <a:lnTo>
                  <a:pt x="0" y="715302"/>
                </a:lnTo>
                <a:lnTo>
                  <a:pt x="3546" y="732883"/>
                </a:lnTo>
                <a:lnTo>
                  <a:pt x="13223" y="747242"/>
                </a:lnTo>
                <a:lnTo>
                  <a:pt x="27592" y="756925"/>
                </a:lnTo>
                <a:lnTo>
                  <a:pt x="45212" y="760476"/>
                </a:lnTo>
                <a:lnTo>
                  <a:pt x="6232143" y="760476"/>
                </a:lnTo>
                <a:lnTo>
                  <a:pt x="6249763" y="756925"/>
                </a:lnTo>
                <a:lnTo>
                  <a:pt x="6264132" y="747242"/>
                </a:lnTo>
                <a:lnTo>
                  <a:pt x="6273809" y="732883"/>
                </a:lnTo>
                <a:lnTo>
                  <a:pt x="6277356" y="715302"/>
                </a:lnTo>
                <a:lnTo>
                  <a:pt x="6277356" y="45212"/>
                </a:lnTo>
                <a:lnTo>
                  <a:pt x="6273809" y="27592"/>
                </a:lnTo>
                <a:lnTo>
                  <a:pt x="6264132" y="13223"/>
                </a:lnTo>
                <a:lnTo>
                  <a:pt x="6249763" y="3546"/>
                </a:lnTo>
                <a:lnTo>
                  <a:pt x="623214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6" name="object 76"/>
          <p:cNvSpPr/>
          <p:nvPr/>
        </p:nvSpPr>
        <p:spPr>
          <a:xfrm>
            <a:off x="2104675" y="5227458"/>
            <a:ext cx="6273164" cy="760191"/>
          </a:xfrm>
          <a:custGeom>
            <a:avLst/>
            <a:gdLst/>
            <a:ahLst/>
            <a:cxnLst/>
            <a:rect l="l" t="t" r="r" b="b"/>
            <a:pathLst>
              <a:path w="6277609" h="760729">
                <a:moveTo>
                  <a:pt x="0" y="45212"/>
                </a:moveTo>
                <a:lnTo>
                  <a:pt x="3546" y="27592"/>
                </a:lnTo>
                <a:lnTo>
                  <a:pt x="13223" y="13223"/>
                </a:lnTo>
                <a:lnTo>
                  <a:pt x="27592" y="3546"/>
                </a:lnTo>
                <a:lnTo>
                  <a:pt x="45212" y="0"/>
                </a:lnTo>
                <a:lnTo>
                  <a:pt x="6232143" y="0"/>
                </a:lnTo>
                <a:lnTo>
                  <a:pt x="6249763" y="3546"/>
                </a:lnTo>
                <a:lnTo>
                  <a:pt x="6264132" y="13223"/>
                </a:lnTo>
                <a:lnTo>
                  <a:pt x="6273809" y="27592"/>
                </a:lnTo>
                <a:lnTo>
                  <a:pt x="6277356" y="45212"/>
                </a:lnTo>
                <a:lnTo>
                  <a:pt x="6277356" y="715302"/>
                </a:lnTo>
                <a:lnTo>
                  <a:pt x="6273809" y="732883"/>
                </a:lnTo>
                <a:lnTo>
                  <a:pt x="6264132" y="747242"/>
                </a:lnTo>
                <a:lnTo>
                  <a:pt x="6249763" y="756925"/>
                </a:lnTo>
                <a:lnTo>
                  <a:pt x="6232143" y="760476"/>
                </a:lnTo>
                <a:lnTo>
                  <a:pt x="45212" y="760476"/>
                </a:lnTo>
                <a:lnTo>
                  <a:pt x="27592" y="756925"/>
                </a:lnTo>
                <a:lnTo>
                  <a:pt x="13223" y="747242"/>
                </a:lnTo>
                <a:lnTo>
                  <a:pt x="3546" y="732883"/>
                </a:lnTo>
                <a:lnTo>
                  <a:pt x="0" y="715302"/>
                </a:lnTo>
                <a:lnTo>
                  <a:pt x="0" y="45212"/>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7" name="object 77"/>
          <p:cNvSpPr txBox="1"/>
          <p:nvPr/>
        </p:nvSpPr>
        <p:spPr>
          <a:xfrm>
            <a:off x="2116042" y="5492547"/>
            <a:ext cx="6250320" cy="257175"/>
          </a:xfrm>
          <a:prstGeom prst="rect">
            <a:avLst/>
          </a:prstGeom>
        </p:spPr>
        <p:txBody>
          <a:bodyPr vert="horz" wrap="square" lIns="0" tIns="12056" rIns="0" bIns="0" rtlCol="0">
            <a:spAutoFit/>
          </a:bodyPr>
          <a:lstStyle/>
          <a:p>
            <a:pPr marL="381635">
              <a:lnSpc>
                <a:spcPct val="100000"/>
              </a:lnSpc>
              <a:spcBef>
                <a:spcPts val="95"/>
              </a:spcBef>
            </a:pPr>
            <a:r>
              <a:rPr sz="1600" b="1" dirty="0">
                <a:latin typeface="微软雅黑" panose="020B0503020204020204" charset="-122"/>
                <a:ea typeface="微软雅黑" panose="020B0503020204020204" charset="-122"/>
                <a:cs typeface="微软雅黑" panose="020B0503020204020204" charset="-122"/>
              </a:rPr>
              <a:t>深入理解客</a:t>
            </a:r>
            <a:r>
              <a:rPr sz="1600" b="1" spc="-10" dirty="0">
                <a:latin typeface="微软雅黑" panose="020B0503020204020204" charset="-122"/>
                <a:ea typeface="微软雅黑" panose="020B0503020204020204" charset="-122"/>
                <a:cs typeface="微软雅黑" panose="020B0503020204020204" charset="-122"/>
              </a:rPr>
              <a:t>户的</a:t>
            </a:r>
            <a:r>
              <a:rPr sz="1600" b="1" dirty="0">
                <a:latin typeface="微软雅黑" panose="020B0503020204020204" charset="-122"/>
                <a:ea typeface="微软雅黑" panose="020B0503020204020204" charset="-122"/>
                <a:cs typeface="微软雅黑" panose="020B0503020204020204" charset="-122"/>
              </a:rPr>
              <a:t>需</a:t>
            </a:r>
            <a:r>
              <a:rPr sz="1600" b="1" spc="-10" dirty="0">
                <a:latin typeface="微软雅黑" panose="020B0503020204020204" charset="-122"/>
                <a:ea typeface="微软雅黑" panose="020B0503020204020204" charset="-122"/>
                <a:cs typeface="微软雅黑" panose="020B0503020204020204" charset="-122"/>
              </a:rPr>
              <a:t>求，</a:t>
            </a:r>
            <a:r>
              <a:rPr sz="1600" b="1" dirty="0">
                <a:latin typeface="微软雅黑" panose="020B0503020204020204" charset="-122"/>
                <a:ea typeface="微软雅黑" panose="020B0503020204020204" charset="-122"/>
                <a:cs typeface="微软雅黑" panose="020B0503020204020204" charset="-122"/>
              </a:rPr>
              <a:t>优</a:t>
            </a:r>
            <a:r>
              <a:rPr sz="1600" b="1" spc="-10" dirty="0">
                <a:latin typeface="微软雅黑" panose="020B0503020204020204" charset="-122"/>
                <a:ea typeface="微软雅黑" panose="020B0503020204020204" charset="-122"/>
                <a:cs typeface="微软雅黑" panose="020B0503020204020204" charset="-122"/>
              </a:rPr>
              <a:t>化销</a:t>
            </a:r>
            <a:r>
              <a:rPr sz="1600" b="1" dirty="0">
                <a:latin typeface="微软雅黑" panose="020B0503020204020204" charset="-122"/>
                <a:ea typeface="微软雅黑" panose="020B0503020204020204" charset="-122"/>
                <a:cs typeface="微软雅黑" panose="020B0503020204020204" charset="-122"/>
              </a:rPr>
              <a:t>售</a:t>
            </a:r>
            <a:r>
              <a:rPr sz="1600" b="1" spc="-10" dirty="0">
                <a:latin typeface="微软雅黑" panose="020B0503020204020204" charset="-122"/>
                <a:ea typeface="微软雅黑" panose="020B0503020204020204" charset="-122"/>
                <a:cs typeface="微软雅黑" panose="020B0503020204020204" charset="-122"/>
              </a:rPr>
              <a:t>的价</a:t>
            </a:r>
            <a:r>
              <a:rPr sz="1600" b="1" dirty="0">
                <a:latin typeface="微软雅黑" panose="020B0503020204020204" charset="-122"/>
                <a:ea typeface="微软雅黑" panose="020B0503020204020204" charset="-122"/>
                <a:cs typeface="微软雅黑" panose="020B0503020204020204" charset="-122"/>
              </a:rPr>
              <a:t>值</a:t>
            </a:r>
            <a:r>
              <a:rPr sz="1600" b="1" spc="-10" dirty="0">
                <a:latin typeface="微软雅黑" panose="020B0503020204020204" charset="-122"/>
                <a:ea typeface="微软雅黑" panose="020B0503020204020204" charset="-122"/>
                <a:cs typeface="微软雅黑" panose="020B0503020204020204" charset="-122"/>
              </a:rPr>
              <a:t>定位</a:t>
            </a:r>
            <a:r>
              <a:rPr sz="1600" b="1" dirty="0">
                <a:latin typeface="微软雅黑" panose="020B0503020204020204" charset="-122"/>
                <a:ea typeface="微软雅黑" panose="020B0503020204020204" charset="-122"/>
                <a:cs typeface="微软雅黑" panose="020B0503020204020204" charset="-122"/>
              </a:rPr>
              <a:t>，</a:t>
            </a:r>
            <a:r>
              <a:rPr sz="1600" b="1" spc="-10" dirty="0">
                <a:latin typeface="微软雅黑" panose="020B0503020204020204" charset="-122"/>
                <a:ea typeface="微软雅黑" panose="020B0503020204020204" charset="-122"/>
                <a:cs typeface="微软雅黑" panose="020B0503020204020204" charset="-122"/>
              </a:rPr>
              <a:t>实现</a:t>
            </a:r>
            <a:r>
              <a:rPr sz="1600" b="1" dirty="0">
                <a:latin typeface="微软雅黑" panose="020B0503020204020204" charset="-122"/>
                <a:ea typeface="微软雅黑" panose="020B0503020204020204" charset="-122"/>
                <a:cs typeface="微软雅黑" panose="020B0503020204020204" charset="-122"/>
              </a:rPr>
              <a:t>利</a:t>
            </a:r>
            <a:r>
              <a:rPr sz="1600" b="1" spc="-10" dirty="0">
                <a:latin typeface="微软雅黑" panose="020B0503020204020204" charset="-122"/>
                <a:ea typeface="微软雅黑" panose="020B0503020204020204" charset="-122"/>
                <a:cs typeface="微软雅黑" panose="020B0503020204020204" charset="-122"/>
              </a:rPr>
              <a:t>润最</a:t>
            </a:r>
            <a:r>
              <a:rPr sz="1600" b="1" dirty="0">
                <a:latin typeface="微软雅黑" panose="020B0503020204020204" charset="-122"/>
                <a:ea typeface="微软雅黑" panose="020B0503020204020204" charset="-122"/>
                <a:cs typeface="微软雅黑" panose="020B0503020204020204" charset="-122"/>
              </a:rPr>
              <a:t>大</a:t>
            </a:r>
            <a:r>
              <a:rPr sz="1600" b="1" spc="-10" dirty="0">
                <a:latin typeface="微软雅黑" panose="020B0503020204020204" charset="-122"/>
                <a:ea typeface="微软雅黑" panose="020B0503020204020204" charset="-122"/>
                <a:cs typeface="微软雅黑" panose="020B0503020204020204" charset="-122"/>
              </a:rPr>
              <a:t>化</a:t>
            </a:r>
            <a:endParaRPr sz="16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401" y="203088"/>
            <a:ext cx="2679706"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大客户管理</a:t>
            </a:r>
            <a:r>
              <a:rPr spc="-10" dirty="0">
                <a:ea typeface="微软雅黑" panose="020B0503020204020204" charset="-122"/>
              </a:rPr>
              <a:t>包括</a:t>
            </a:r>
            <a:r>
              <a:rPr spc="-5" dirty="0">
                <a:ea typeface="微软雅黑" panose="020B0503020204020204" charset="-122"/>
              </a:rPr>
              <a:t>五</a:t>
            </a:r>
            <a:r>
              <a:rPr spc="-10" dirty="0">
                <a:ea typeface="微软雅黑" panose="020B0503020204020204" charset="-122"/>
              </a:rPr>
              <a:t>大要素</a:t>
            </a:r>
            <a:endParaRPr spc="-10" dirty="0">
              <a:ea typeface="微软雅黑" panose="020B0503020204020204" charset="-122"/>
            </a:endParaRPr>
          </a:p>
        </p:txBody>
      </p:sp>
      <p:sp>
        <p:nvSpPr>
          <p:cNvPr id="4" name="object 4"/>
          <p:cNvSpPr txBox="1"/>
          <p:nvPr/>
        </p:nvSpPr>
        <p:spPr>
          <a:xfrm>
            <a:off x="106401" y="6412696"/>
            <a:ext cx="2191102"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35"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a:t>
            </a:r>
            <a:r>
              <a:rPr sz="1000" spc="-35"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营销和销售业务部</a:t>
            </a:r>
            <a:endParaRPr sz="1000">
              <a:latin typeface="微软雅黑" panose="020B0503020204020204" charset="-122"/>
              <a:ea typeface="微软雅黑" panose="020B0503020204020204" charset="-122"/>
              <a:cs typeface="微软雅黑" panose="020B0503020204020204" charset="-122"/>
            </a:endParaRPr>
          </a:p>
        </p:txBody>
      </p:sp>
      <p:sp>
        <p:nvSpPr>
          <p:cNvPr id="5" name="object 5"/>
          <p:cNvSpPr/>
          <p:nvPr/>
        </p:nvSpPr>
        <p:spPr>
          <a:xfrm>
            <a:off x="2096299" y="1323450"/>
            <a:ext cx="2679071" cy="3900581"/>
          </a:xfrm>
          <a:custGeom>
            <a:avLst/>
            <a:gdLst/>
            <a:ahLst/>
            <a:cxnLst/>
            <a:rect l="l" t="t" r="r" b="b"/>
            <a:pathLst>
              <a:path w="2680970" h="3903345">
                <a:moveTo>
                  <a:pt x="1977643" y="0"/>
                </a:moveTo>
                <a:lnTo>
                  <a:pt x="0" y="0"/>
                </a:lnTo>
                <a:lnTo>
                  <a:pt x="703071" y="1952244"/>
                </a:lnTo>
                <a:lnTo>
                  <a:pt x="0" y="3902964"/>
                </a:lnTo>
                <a:lnTo>
                  <a:pt x="1977643" y="3902964"/>
                </a:lnTo>
                <a:lnTo>
                  <a:pt x="2680716" y="1952244"/>
                </a:lnTo>
                <a:lnTo>
                  <a:pt x="197764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2096299" y="1323450"/>
            <a:ext cx="2679071" cy="3900581"/>
          </a:xfrm>
          <a:custGeom>
            <a:avLst/>
            <a:gdLst/>
            <a:ahLst/>
            <a:cxnLst/>
            <a:rect l="l" t="t" r="r" b="b"/>
            <a:pathLst>
              <a:path w="2680970" h="3903345">
                <a:moveTo>
                  <a:pt x="0" y="0"/>
                </a:moveTo>
                <a:lnTo>
                  <a:pt x="1977643" y="0"/>
                </a:lnTo>
                <a:lnTo>
                  <a:pt x="2680716" y="1952244"/>
                </a:lnTo>
                <a:lnTo>
                  <a:pt x="1977643" y="3902964"/>
                </a:lnTo>
                <a:lnTo>
                  <a:pt x="0" y="3902964"/>
                </a:lnTo>
                <a:lnTo>
                  <a:pt x="703071"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4074573" y="1323450"/>
            <a:ext cx="2679071" cy="1951242"/>
          </a:xfrm>
          <a:custGeom>
            <a:avLst/>
            <a:gdLst/>
            <a:ahLst/>
            <a:cxnLst/>
            <a:rect l="l" t="t" r="r" b="b"/>
            <a:pathLst>
              <a:path w="2680970" h="1952625">
                <a:moveTo>
                  <a:pt x="1977643" y="0"/>
                </a:moveTo>
                <a:lnTo>
                  <a:pt x="0" y="0"/>
                </a:lnTo>
                <a:lnTo>
                  <a:pt x="703072" y="1952244"/>
                </a:lnTo>
                <a:lnTo>
                  <a:pt x="2680716" y="1952244"/>
                </a:lnTo>
                <a:lnTo>
                  <a:pt x="197764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4074573" y="1323450"/>
            <a:ext cx="2679071" cy="1951242"/>
          </a:xfrm>
          <a:custGeom>
            <a:avLst/>
            <a:gdLst/>
            <a:ahLst/>
            <a:cxnLst/>
            <a:rect l="l" t="t" r="r" b="b"/>
            <a:pathLst>
              <a:path w="2680970" h="1952625">
                <a:moveTo>
                  <a:pt x="0" y="0"/>
                </a:moveTo>
                <a:lnTo>
                  <a:pt x="1977643" y="0"/>
                </a:lnTo>
                <a:lnTo>
                  <a:pt x="2680716" y="1952244"/>
                </a:lnTo>
                <a:lnTo>
                  <a:pt x="703072"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4074573" y="3274312"/>
            <a:ext cx="4655695" cy="1949338"/>
          </a:xfrm>
          <a:custGeom>
            <a:avLst/>
            <a:gdLst/>
            <a:ahLst/>
            <a:cxnLst/>
            <a:rect l="l" t="t" r="r" b="b"/>
            <a:pathLst>
              <a:path w="4658995" h="1950720">
                <a:moveTo>
                  <a:pt x="4658868" y="0"/>
                </a:moveTo>
                <a:lnTo>
                  <a:pt x="703199" y="0"/>
                </a:lnTo>
                <a:lnTo>
                  <a:pt x="0" y="1950720"/>
                </a:lnTo>
                <a:lnTo>
                  <a:pt x="3955668" y="1950720"/>
                </a:lnTo>
                <a:lnTo>
                  <a:pt x="4658868"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4074573" y="3274312"/>
            <a:ext cx="4655695" cy="1949338"/>
          </a:xfrm>
          <a:custGeom>
            <a:avLst/>
            <a:gdLst/>
            <a:ahLst/>
            <a:cxnLst/>
            <a:rect l="l" t="t" r="r" b="b"/>
            <a:pathLst>
              <a:path w="4658995" h="1950720">
                <a:moveTo>
                  <a:pt x="4658868" y="0"/>
                </a:moveTo>
                <a:lnTo>
                  <a:pt x="3955668" y="1950720"/>
                </a:lnTo>
                <a:lnTo>
                  <a:pt x="0" y="1950720"/>
                </a:lnTo>
                <a:lnTo>
                  <a:pt x="703199" y="0"/>
                </a:lnTo>
                <a:lnTo>
                  <a:pt x="4658868"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6051325" y="1323450"/>
            <a:ext cx="2679071" cy="1951242"/>
          </a:xfrm>
          <a:custGeom>
            <a:avLst/>
            <a:gdLst/>
            <a:ahLst/>
            <a:cxnLst/>
            <a:rect l="l" t="t" r="r" b="b"/>
            <a:pathLst>
              <a:path w="2680970" h="1952625">
                <a:moveTo>
                  <a:pt x="1977643" y="0"/>
                </a:moveTo>
                <a:lnTo>
                  <a:pt x="0" y="0"/>
                </a:lnTo>
                <a:lnTo>
                  <a:pt x="703071" y="1952244"/>
                </a:lnTo>
                <a:lnTo>
                  <a:pt x="2680716" y="1952244"/>
                </a:lnTo>
                <a:lnTo>
                  <a:pt x="197764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6051325" y="1323450"/>
            <a:ext cx="2679071" cy="1951242"/>
          </a:xfrm>
          <a:custGeom>
            <a:avLst/>
            <a:gdLst/>
            <a:ahLst/>
            <a:cxnLst/>
            <a:rect l="l" t="t" r="r" b="b"/>
            <a:pathLst>
              <a:path w="2680970" h="1952625">
                <a:moveTo>
                  <a:pt x="0" y="0"/>
                </a:moveTo>
                <a:lnTo>
                  <a:pt x="1977643" y="0"/>
                </a:lnTo>
                <a:lnTo>
                  <a:pt x="2680716" y="1952244"/>
                </a:lnTo>
                <a:lnTo>
                  <a:pt x="703071"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119549" y="1323450"/>
            <a:ext cx="2680340" cy="3900581"/>
          </a:xfrm>
          <a:custGeom>
            <a:avLst/>
            <a:gdLst/>
            <a:ahLst/>
            <a:cxnLst/>
            <a:rect l="l" t="t" r="r" b="b"/>
            <a:pathLst>
              <a:path w="2682240" h="3903345">
                <a:moveTo>
                  <a:pt x="1978787" y="0"/>
                </a:moveTo>
                <a:lnTo>
                  <a:pt x="0" y="0"/>
                </a:lnTo>
                <a:lnTo>
                  <a:pt x="0" y="3902964"/>
                </a:lnTo>
                <a:lnTo>
                  <a:pt x="1978787" y="3902964"/>
                </a:lnTo>
                <a:lnTo>
                  <a:pt x="2682240" y="1952244"/>
                </a:lnTo>
                <a:lnTo>
                  <a:pt x="1978787"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119549" y="1323450"/>
            <a:ext cx="2680340" cy="3900581"/>
          </a:xfrm>
          <a:custGeom>
            <a:avLst/>
            <a:gdLst/>
            <a:ahLst/>
            <a:cxnLst/>
            <a:rect l="l" t="t" r="r" b="b"/>
            <a:pathLst>
              <a:path w="2682240" h="3903345">
                <a:moveTo>
                  <a:pt x="0" y="0"/>
                </a:moveTo>
                <a:lnTo>
                  <a:pt x="1978787" y="0"/>
                </a:lnTo>
                <a:lnTo>
                  <a:pt x="2682240" y="1952244"/>
                </a:lnTo>
                <a:lnTo>
                  <a:pt x="1978787" y="3902964"/>
                </a:lnTo>
                <a:lnTo>
                  <a:pt x="0" y="3902964"/>
                </a:lnTo>
                <a:lnTo>
                  <a:pt x="0"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169043" y="1538944"/>
            <a:ext cx="1926495" cy="3359944"/>
          </a:xfrm>
          <a:custGeom>
            <a:avLst/>
            <a:gdLst/>
            <a:ahLst/>
            <a:cxnLst/>
            <a:rect l="l" t="t" r="r" b="b"/>
            <a:pathLst>
              <a:path w="1927860" h="3362325">
                <a:moveTo>
                  <a:pt x="0" y="3361944"/>
                </a:moveTo>
                <a:lnTo>
                  <a:pt x="1927860" y="3361944"/>
                </a:lnTo>
                <a:lnTo>
                  <a:pt x="1927860" y="0"/>
                </a:lnTo>
                <a:lnTo>
                  <a:pt x="0" y="0"/>
                </a:lnTo>
                <a:lnTo>
                  <a:pt x="0" y="336194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txBox="1"/>
          <p:nvPr/>
        </p:nvSpPr>
        <p:spPr>
          <a:xfrm>
            <a:off x="5439110" y="3524071"/>
            <a:ext cx="434032"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组织</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17" name="object 17"/>
          <p:cNvSpPr/>
          <p:nvPr/>
        </p:nvSpPr>
        <p:spPr>
          <a:xfrm>
            <a:off x="4876519" y="3421020"/>
            <a:ext cx="385807" cy="501295"/>
          </a:xfrm>
          <a:custGeom>
            <a:avLst/>
            <a:gdLst/>
            <a:ahLst/>
            <a:cxnLst/>
            <a:rect l="l" t="t" r="r" b="b"/>
            <a:pathLst>
              <a:path w="386079" h="501650">
                <a:moveTo>
                  <a:pt x="188213" y="0"/>
                </a:moveTo>
                <a:lnTo>
                  <a:pt x="146496" y="4355"/>
                </a:lnTo>
                <a:lnTo>
                  <a:pt x="109553" y="17414"/>
                </a:lnTo>
                <a:lnTo>
                  <a:pt x="77396" y="39165"/>
                </a:lnTo>
                <a:lnTo>
                  <a:pt x="50037" y="69595"/>
                </a:lnTo>
                <a:lnTo>
                  <a:pt x="28128" y="107053"/>
                </a:lnTo>
                <a:lnTo>
                  <a:pt x="12493" y="149891"/>
                </a:lnTo>
                <a:lnTo>
                  <a:pt x="3121" y="198112"/>
                </a:lnTo>
                <a:lnTo>
                  <a:pt x="0" y="251713"/>
                </a:lnTo>
                <a:lnTo>
                  <a:pt x="1549" y="289958"/>
                </a:lnTo>
                <a:lnTo>
                  <a:pt x="13983" y="358780"/>
                </a:lnTo>
                <a:lnTo>
                  <a:pt x="38179" y="416647"/>
                </a:lnTo>
                <a:lnTo>
                  <a:pt x="69611" y="459319"/>
                </a:lnTo>
                <a:lnTo>
                  <a:pt x="108547" y="486487"/>
                </a:lnTo>
                <a:lnTo>
                  <a:pt x="160605" y="499961"/>
                </a:lnTo>
                <a:lnTo>
                  <a:pt x="191897" y="501650"/>
                </a:lnTo>
                <a:lnTo>
                  <a:pt x="227782" y="499695"/>
                </a:lnTo>
                <a:lnTo>
                  <a:pt x="286265" y="484022"/>
                </a:lnTo>
                <a:lnTo>
                  <a:pt x="328562" y="452014"/>
                </a:lnTo>
                <a:lnTo>
                  <a:pt x="363388" y="400147"/>
                </a:lnTo>
                <a:lnTo>
                  <a:pt x="366302" y="393700"/>
                </a:lnTo>
                <a:lnTo>
                  <a:pt x="194817" y="393700"/>
                </a:lnTo>
                <a:lnTo>
                  <a:pt x="180578" y="391747"/>
                </a:lnTo>
                <a:lnTo>
                  <a:pt x="146430" y="362457"/>
                </a:lnTo>
                <a:lnTo>
                  <a:pt x="132125" y="317184"/>
                </a:lnTo>
                <a:lnTo>
                  <a:pt x="129794" y="296417"/>
                </a:lnTo>
                <a:lnTo>
                  <a:pt x="385825" y="296417"/>
                </a:lnTo>
                <a:lnTo>
                  <a:pt x="385825" y="275716"/>
                </a:lnTo>
                <a:lnTo>
                  <a:pt x="384468" y="230499"/>
                </a:lnTo>
                <a:lnTo>
                  <a:pt x="382249" y="208279"/>
                </a:lnTo>
                <a:lnTo>
                  <a:pt x="130175" y="208279"/>
                </a:lnTo>
                <a:lnTo>
                  <a:pt x="132244" y="188162"/>
                </a:lnTo>
                <a:lnTo>
                  <a:pt x="144907" y="143763"/>
                </a:lnTo>
                <a:lnTo>
                  <a:pt x="179071" y="111134"/>
                </a:lnTo>
                <a:lnTo>
                  <a:pt x="193548" y="108965"/>
                </a:lnTo>
                <a:lnTo>
                  <a:pt x="358683" y="108965"/>
                </a:lnTo>
                <a:lnTo>
                  <a:pt x="352087" y="93678"/>
                </a:lnTo>
                <a:lnTo>
                  <a:pt x="320567" y="48529"/>
                </a:lnTo>
                <a:lnTo>
                  <a:pt x="278493" y="17573"/>
                </a:lnTo>
                <a:lnTo>
                  <a:pt x="222053" y="1952"/>
                </a:lnTo>
                <a:lnTo>
                  <a:pt x="188213" y="0"/>
                </a:lnTo>
                <a:close/>
              </a:path>
              <a:path w="386079" h="501650">
                <a:moveTo>
                  <a:pt x="252729" y="349757"/>
                </a:moveTo>
                <a:lnTo>
                  <a:pt x="221910" y="386038"/>
                </a:lnTo>
                <a:lnTo>
                  <a:pt x="194817" y="393700"/>
                </a:lnTo>
                <a:lnTo>
                  <a:pt x="366302" y="393700"/>
                </a:lnTo>
                <a:lnTo>
                  <a:pt x="378587" y="366521"/>
                </a:lnTo>
                <a:lnTo>
                  <a:pt x="252729" y="349757"/>
                </a:lnTo>
                <a:close/>
              </a:path>
              <a:path w="386079" h="501650">
                <a:moveTo>
                  <a:pt x="358683" y="108965"/>
                </a:moveTo>
                <a:lnTo>
                  <a:pt x="193548" y="108965"/>
                </a:lnTo>
                <a:lnTo>
                  <a:pt x="206069" y="110396"/>
                </a:lnTo>
                <a:lnTo>
                  <a:pt x="217328" y="114696"/>
                </a:lnTo>
                <a:lnTo>
                  <a:pt x="243278" y="145379"/>
                </a:lnTo>
                <a:lnTo>
                  <a:pt x="253236" y="183566"/>
                </a:lnTo>
                <a:lnTo>
                  <a:pt x="255904" y="208279"/>
                </a:lnTo>
                <a:lnTo>
                  <a:pt x="382249" y="208279"/>
                </a:lnTo>
                <a:lnTo>
                  <a:pt x="380396" y="189722"/>
                </a:lnTo>
                <a:lnTo>
                  <a:pt x="373610" y="153398"/>
                </a:lnTo>
                <a:lnTo>
                  <a:pt x="364109" y="121538"/>
                </a:lnTo>
                <a:lnTo>
                  <a:pt x="358683" y="108965"/>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p:nvPr/>
        </p:nvSpPr>
        <p:spPr>
          <a:xfrm>
            <a:off x="4402256" y="1433354"/>
            <a:ext cx="385807" cy="501295"/>
          </a:xfrm>
          <a:custGeom>
            <a:avLst/>
            <a:gdLst/>
            <a:ahLst/>
            <a:cxnLst/>
            <a:rect l="l" t="t" r="r" b="b"/>
            <a:pathLst>
              <a:path w="386079" h="501650">
                <a:moveTo>
                  <a:pt x="194437" y="0"/>
                </a:moveTo>
                <a:lnTo>
                  <a:pt x="141208" y="5524"/>
                </a:lnTo>
                <a:lnTo>
                  <a:pt x="98551" y="22098"/>
                </a:lnTo>
                <a:lnTo>
                  <a:pt x="63940" y="51315"/>
                </a:lnTo>
                <a:lnTo>
                  <a:pt x="32781" y="95250"/>
                </a:lnTo>
                <a:lnTo>
                  <a:pt x="9858" y="155684"/>
                </a:lnTo>
                <a:lnTo>
                  <a:pt x="1095" y="217354"/>
                </a:lnTo>
                <a:lnTo>
                  <a:pt x="0" y="252856"/>
                </a:lnTo>
                <a:lnTo>
                  <a:pt x="885" y="286529"/>
                </a:lnTo>
                <a:lnTo>
                  <a:pt x="8036" y="343350"/>
                </a:lnTo>
                <a:lnTo>
                  <a:pt x="22278" y="387336"/>
                </a:lnTo>
                <a:lnTo>
                  <a:pt x="42229" y="424725"/>
                </a:lnTo>
                <a:lnTo>
                  <a:pt x="67609" y="456136"/>
                </a:lnTo>
                <a:lnTo>
                  <a:pt x="98038" y="479186"/>
                </a:lnTo>
                <a:lnTo>
                  <a:pt x="133873" y="493613"/>
                </a:lnTo>
                <a:lnTo>
                  <a:pt x="178069" y="500749"/>
                </a:lnTo>
                <a:lnTo>
                  <a:pt x="203453" y="501650"/>
                </a:lnTo>
                <a:lnTo>
                  <a:pt x="229766" y="500249"/>
                </a:lnTo>
                <a:lnTo>
                  <a:pt x="275105" y="489112"/>
                </a:lnTo>
                <a:lnTo>
                  <a:pt x="311155" y="467256"/>
                </a:lnTo>
                <a:lnTo>
                  <a:pt x="340441" y="436205"/>
                </a:lnTo>
                <a:lnTo>
                  <a:pt x="363374" y="396392"/>
                </a:lnTo>
                <a:lnTo>
                  <a:pt x="370603" y="378205"/>
                </a:lnTo>
                <a:lnTo>
                  <a:pt x="196214" y="378205"/>
                </a:lnTo>
                <a:lnTo>
                  <a:pt x="181832" y="376297"/>
                </a:lnTo>
                <a:lnTo>
                  <a:pt x="146685" y="347472"/>
                </a:lnTo>
                <a:lnTo>
                  <a:pt x="132000" y="309737"/>
                </a:lnTo>
                <a:lnTo>
                  <a:pt x="127126" y="257810"/>
                </a:lnTo>
                <a:lnTo>
                  <a:pt x="128363" y="226704"/>
                </a:lnTo>
                <a:lnTo>
                  <a:pt x="138217" y="177210"/>
                </a:lnTo>
                <a:lnTo>
                  <a:pt x="169465" y="134175"/>
                </a:lnTo>
                <a:lnTo>
                  <a:pt x="198120" y="125984"/>
                </a:lnTo>
                <a:lnTo>
                  <a:pt x="368473" y="125984"/>
                </a:lnTo>
                <a:lnTo>
                  <a:pt x="355377" y="93710"/>
                </a:lnTo>
                <a:lnTo>
                  <a:pt x="318897" y="41910"/>
                </a:lnTo>
                <a:lnTo>
                  <a:pt x="266334" y="10477"/>
                </a:lnTo>
                <a:lnTo>
                  <a:pt x="232796" y="2619"/>
                </a:lnTo>
                <a:lnTo>
                  <a:pt x="194437" y="0"/>
                </a:lnTo>
                <a:close/>
              </a:path>
              <a:path w="386079" h="501650">
                <a:moveTo>
                  <a:pt x="264160" y="302767"/>
                </a:moveTo>
                <a:lnTo>
                  <a:pt x="246532" y="349166"/>
                </a:lnTo>
                <a:lnTo>
                  <a:pt x="208287" y="377041"/>
                </a:lnTo>
                <a:lnTo>
                  <a:pt x="196214" y="378205"/>
                </a:lnTo>
                <a:lnTo>
                  <a:pt x="370603" y="378205"/>
                </a:lnTo>
                <a:lnTo>
                  <a:pt x="372446" y="373554"/>
                </a:lnTo>
                <a:lnTo>
                  <a:pt x="379860" y="349009"/>
                </a:lnTo>
                <a:lnTo>
                  <a:pt x="385699" y="322579"/>
                </a:lnTo>
                <a:lnTo>
                  <a:pt x="264160" y="302767"/>
                </a:lnTo>
                <a:close/>
              </a:path>
              <a:path w="386079" h="501650">
                <a:moveTo>
                  <a:pt x="368473" y="125984"/>
                </a:moveTo>
                <a:lnTo>
                  <a:pt x="198120" y="125984"/>
                </a:lnTo>
                <a:lnTo>
                  <a:pt x="210052" y="126960"/>
                </a:lnTo>
                <a:lnTo>
                  <a:pt x="220710" y="129889"/>
                </a:lnTo>
                <a:lnTo>
                  <a:pt x="250825" y="161020"/>
                </a:lnTo>
                <a:lnTo>
                  <a:pt x="258825" y="187960"/>
                </a:lnTo>
                <a:lnTo>
                  <a:pt x="379095" y="164846"/>
                </a:lnTo>
                <a:lnTo>
                  <a:pt x="368831" y="126867"/>
                </a:lnTo>
                <a:lnTo>
                  <a:pt x="368473" y="125984"/>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p:nvPr/>
        </p:nvSpPr>
        <p:spPr>
          <a:xfrm>
            <a:off x="6458199" y="1433354"/>
            <a:ext cx="385807" cy="501295"/>
          </a:xfrm>
          <a:custGeom>
            <a:avLst/>
            <a:gdLst/>
            <a:ahLst/>
            <a:cxnLst/>
            <a:rect l="l" t="t" r="r" b="b"/>
            <a:pathLst>
              <a:path w="386079" h="501650">
                <a:moveTo>
                  <a:pt x="147827" y="127888"/>
                </a:moveTo>
                <a:lnTo>
                  <a:pt x="89074" y="139684"/>
                </a:lnTo>
                <a:lnTo>
                  <a:pt x="41655" y="175005"/>
                </a:lnTo>
                <a:lnTo>
                  <a:pt x="10398" y="232537"/>
                </a:lnTo>
                <a:lnTo>
                  <a:pt x="0" y="311023"/>
                </a:lnTo>
                <a:lnTo>
                  <a:pt x="2357" y="349244"/>
                </a:lnTo>
                <a:lnTo>
                  <a:pt x="21216" y="416732"/>
                </a:lnTo>
                <a:lnTo>
                  <a:pt x="58697" y="470360"/>
                </a:lnTo>
                <a:lnTo>
                  <a:pt x="113371" y="498173"/>
                </a:lnTo>
                <a:lnTo>
                  <a:pt x="147066" y="501650"/>
                </a:lnTo>
                <a:lnTo>
                  <a:pt x="164472" y="500675"/>
                </a:lnTo>
                <a:lnTo>
                  <a:pt x="211835" y="486155"/>
                </a:lnTo>
                <a:lnTo>
                  <a:pt x="247036" y="456116"/>
                </a:lnTo>
                <a:lnTo>
                  <a:pt x="259969" y="440689"/>
                </a:lnTo>
                <a:lnTo>
                  <a:pt x="385699" y="440689"/>
                </a:lnTo>
                <a:lnTo>
                  <a:pt x="385699" y="401319"/>
                </a:lnTo>
                <a:lnTo>
                  <a:pt x="191007" y="401319"/>
                </a:lnTo>
                <a:lnTo>
                  <a:pt x="179459" y="400034"/>
                </a:lnTo>
                <a:lnTo>
                  <a:pt x="143454" y="369226"/>
                </a:lnTo>
                <a:lnTo>
                  <a:pt x="134239" y="316738"/>
                </a:lnTo>
                <a:lnTo>
                  <a:pt x="135237" y="294997"/>
                </a:lnTo>
                <a:lnTo>
                  <a:pt x="150114" y="250062"/>
                </a:lnTo>
                <a:lnTo>
                  <a:pt x="189356" y="230250"/>
                </a:lnTo>
                <a:lnTo>
                  <a:pt x="385699" y="230250"/>
                </a:lnTo>
                <a:lnTo>
                  <a:pt x="385699" y="170941"/>
                </a:lnTo>
                <a:lnTo>
                  <a:pt x="250063" y="170941"/>
                </a:lnTo>
                <a:lnTo>
                  <a:pt x="239799" y="160847"/>
                </a:lnTo>
                <a:lnTo>
                  <a:pt x="228822" y="152098"/>
                </a:lnTo>
                <a:lnTo>
                  <a:pt x="191583" y="133943"/>
                </a:lnTo>
                <a:lnTo>
                  <a:pt x="163111" y="128557"/>
                </a:lnTo>
                <a:lnTo>
                  <a:pt x="147827" y="127888"/>
                </a:lnTo>
                <a:close/>
              </a:path>
              <a:path w="386079" h="501650">
                <a:moveTo>
                  <a:pt x="385699" y="440689"/>
                </a:moveTo>
                <a:lnTo>
                  <a:pt x="259969" y="440689"/>
                </a:lnTo>
                <a:lnTo>
                  <a:pt x="259969" y="493522"/>
                </a:lnTo>
                <a:lnTo>
                  <a:pt x="385699" y="493522"/>
                </a:lnTo>
                <a:lnTo>
                  <a:pt x="385699" y="440689"/>
                </a:lnTo>
                <a:close/>
              </a:path>
              <a:path w="386079" h="501650">
                <a:moveTo>
                  <a:pt x="385699" y="230250"/>
                </a:moveTo>
                <a:lnTo>
                  <a:pt x="189356" y="230250"/>
                </a:lnTo>
                <a:lnTo>
                  <a:pt x="202120" y="231538"/>
                </a:lnTo>
                <a:lnTo>
                  <a:pt x="213741" y="235410"/>
                </a:lnTo>
                <a:lnTo>
                  <a:pt x="241220" y="262647"/>
                </a:lnTo>
                <a:lnTo>
                  <a:pt x="251078" y="313689"/>
                </a:lnTo>
                <a:lnTo>
                  <a:pt x="250007" y="335311"/>
                </a:lnTo>
                <a:lnTo>
                  <a:pt x="233933" y="380746"/>
                </a:lnTo>
                <a:lnTo>
                  <a:pt x="191007" y="401319"/>
                </a:lnTo>
                <a:lnTo>
                  <a:pt x="385699" y="401319"/>
                </a:lnTo>
                <a:lnTo>
                  <a:pt x="385699" y="230250"/>
                </a:lnTo>
                <a:close/>
              </a:path>
              <a:path w="386079" h="501650">
                <a:moveTo>
                  <a:pt x="385699" y="0"/>
                </a:moveTo>
                <a:lnTo>
                  <a:pt x="250063" y="0"/>
                </a:lnTo>
                <a:lnTo>
                  <a:pt x="250063" y="170941"/>
                </a:lnTo>
                <a:lnTo>
                  <a:pt x="385699" y="170941"/>
                </a:lnTo>
                <a:lnTo>
                  <a:pt x="385699"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p:nvPr/>
        </p:nvSpPr>
        <p:spPr>
          <a:xfrm>
            <a:off x="2485914" y="1433354"/>
            <a:ext cx="385807" cy="501295"/>
          </a:xfrm>
          <a:custGeom>
            <a:avLst/>
            <a:gdLst/>
            <a:ahLst/>
            <a:cxnLst/>
            <a:rect l="l" t="t" r="r" b="b"/>
            <a:pathLst>
              <a:path w="386080" h="501650">
                <a:moveTo>
                  <a:pt x="351348" y="440689"/>
                </a:moveTo>
                <a:lnTo>
                  <a:pt x="125603" y="440689"/>
                </a:lnTo>
                <a:lnTo>
                  <a:pt x="138412" y="456027"/>
                </a:lnTo>
                <a:lnTo>
                  <a:pt x="173862" y="486155"/>
                </a:lnTo>
                <a:lnTo>
                  <a:pt x="221243" y="500675"/>
                </a:lnTo>
                <a:lnTo>
                  <a:pt x="238506" y="501650"/>
                </a:lnTo>
                <a:lnTo>
                  <a:pt x="258699" y="500268"/>
                </a:lnTo>
                <a:lnTo>
                  <a:pt x="296227" y="489219"/>
                </a:lnTo>
                <a:lnTo>
                  <a:pt x="329588" y="467098"/>
                </a:lnTo>
                <a:lnTo>
                  <a:pt x="351348" y="440689"/>
                </a:lnTo>
                <a:close/>
              </a:path>
              <a:path w="386080" h="501650">
                <a:moveTo>
                  <a:pt x="135509" y="0"/>
                </a:moveTo>
                <a:lnTo>
                  <a:pt x="0" y="0"/>
                </a:lnTo>
                <a:lnTo>
                  <a:pt x="0" y="493522"/>
                </a:lnTo>
                <a:lnTo>
                  <a:pt x="125603" y="493522"/>
                </a:lnTo>
                <a:lnTo>
                  <a:pt x="125603" y="440689"/>
                </a:lnTo>
                <a:lnTo>
                  <a:pt x="351348" y="440689"/>
                </a:lnTo>
                <a:lnTo>
                  <a:pt x="356068" y="433760"/>
                </a:lnTo>
                <a:lnTo>
                  <a:pt x="366522" y="412876"/>
                </a:lnTo>
                <a:lnTo>
                  <a:pt x="370715" y="401319"/>
                </a:lnTo>
                <a:lnTo>
                  <a:pt x="194691" y="401319"/>
                </a:lnTo>
                <a:lnTo>
                  <a:pt x="182211" y="400012"/>
                </a:lnTo>
                <a:lnTo>
                  <a:pt x="144103" y="368589"/>
                </a:lnTo>
                <a:lnTo>
                  <a:pt x="134619" y="313689"/>
                </a:lnTo>
                <a:lnTo>
                  <a:pt x="135693" y="293993"/>
                </a:lnTo>
                <a:lnTo>
                  <a:pt x="151892" y="250951"/>
                </a:lnTo>
                <a:lnTo>
                  <a:pt x="196596" y="230250"/>
                </a:lnTo>
                <a:lnTo>
                  <a:pt x="374480" y="230250"/>
                </a:lnTo>
                <a:lnTo>
                  <a:pt x="362124" y="200880"/>
                </a:lnTo>
                <a:lnTo>
                  <a:pt x="343788" y="174878"/>
                </a:lnTo>
                <a:lnTo>
                  <a:pt x="339515" y="170941"/>
                </a:lnTo>
                <a:lnTo>
                  <a:pt x="135509" y="170941"/>
                </a:lnTo>
                <a:lnTo>
                  <a:pt x="135509" y="0"/>
                </a:lnTo>
                <a:close/>
              </a:path>
              <a:path w="386080" h="501650">
                <a:moveTo>
                  <a:pt x="374480" y="230250"/>
                </a:moveTo>
                <a:lnTo>
                  <a:pt x="196596" y="230250"/>
                </a:lnTo>
                <a:lnTo>
                  <a:pt x="207577" y="231489"/>
                </a:lnTo>
                <a:lnTo>
                  <a:pt x="217678" y="235203"/>
                </a:lnTo>
                <a:lnTo>
                  <a:pt x="247332" y="275574"/>
                </a:lnTo>
                <a:lnTo>
                  <a:pt x="251275" y="313689"/>
                </a:lnTo>
                <a:lnTo>
                  <a:pt x="250328" y="334706"/>
                </a:lnTo>
                <a:lnTo>
                  <a:pt x="235076" y="380873"/>
                </a:lnTo>
                <a:lnTo>
                  <a:pt x="194691" y="401319"/>
                </a:lnTo>
                <a:lnTo>
                  <a:pt x="370715" y="401319"/>
                </a:lnTo>
                <a:lnTo>
                  <a:pt x="374895" y="389800"/>
                </a:lnTo>
                <a:lnTo>
                  <a:pt x="380920" y="364775"/>
                </a:lnTo>
                <a:lnTo>
                  <a:pt x="384506" y="338081"/>
                </a:lnTo>
                <a:lnTo>
                  <a:pt x="385699" y="309625"/>
                </a:lnTo>
                <a:lnTo>
                  <a:pt x="383079" y="268265"/>
                </a:lnTo>
                <a:lnTo>
                  <a:pt x="375221" y="232013"/>
                </a:lnTo>
                <a:lnTo>
                  <a:pt x="374480" y="230250"/>
                </a:lnTo>
                <a:close/>
              </a:path>
              <a:path w="386080" h="501650">
                <a:moveTo>
                  <a:pt x="237871" y="127888"/>
                </a:moveTo>
                <a:lnTo>
                  <a:pt x="194401" y="133943"/>
                </a:lnTo>
                <a:lnTo>
                  <a:pt x="157035" y="152098"/>
                </a:lnTo>
                <a:lnTo>
                  <a:pt x="135509" y="170941"/>
                </a:lnTo>
                <a:lnTo>
                  <a:pt x="339515" y="170941"/>
                </a:lnTo>
                <a:lnTo>
                  <a:pt x="321452" y="154303"/>
                </a:lnTo>
                <a:lnTo>
                  <a:pt x="296354" y="139620"/>
                </a:lnTo>
                <a:lnTo>
                  <a:pt x="268493" y="130819"/>
                </a:lnTo>
                <a:lnTo>
                  <a:pt x="237871" y="127888"/>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1" name="object 21"/>
          <p:cNvSpPr/>
          <p:nvPr/>
        </p:nvSpPr>
        <p:spPr>
          <a:xfrm>
            <a:off x="253820" y="1433354"/>
            <a:ext cx="253820" cy="503198"/>
          </a:xfrm>
          <a:custGeom>
            <a:avLst/>
            <a:gdLst/>
            <a:ahLst/>
            <a:cxnLst/>
            <a:rect l="l" t="t" r="r" b="b"/>
            <a:pathLst>
              <a:path w="254000" h="503555">
                <a:moveTo>
                  <a:pt x="237735" y="109600"/>
                </a:moveTo>
                <a:lnTo>
                  <a:pt x="131673" y="109600"/>
                </a:lnTo>
                <a:lnTo>
                  <a:pt x="139162" y="110456"/>
                </a:lnTo>
                <a:lnTo>
                  <a:pt x="145434" y="113014"/>
                </a:lnTo>
                <a:lnTo>
                  <a:pt x="160341" y="155122"/>
                </a:lnTo>
                <a:lnTo>
                  <a:pt x="160743" y="170814"/>
                </a:lnTo>
                <a:lnTo>
                  <a:pt x="152959" y="177319"/>
                </a:lnTo>
                <a:lnTo>
                  <a:pt x="108359" y="204311"/>
                </a:lnTo>
                <a:lnTo>
                  <a:pt x="69164" y="222123"/>
                </a:lnTo>
                <a:lnTo>
                  <a:pt x="50883" y="231838"/>
                </a:lnTo>
                <a:lnTo>
                  <a:pt x="14744" y="274700"/>
                </a:lnTo>
                <a:lnTo>
                  <a:pt x="3686" y="314880"/>
                </a:lnTo>
                <a:lnTo>
                  <a:pt x="0" y="364871"/>
                </a:lnTo>
                <a:lnTo>
                  <a:pt x="1278" y="392947"/>
                </a:lnTo>
                <a:lnTo>
                  <a:pt x="11508" y="442148"/>
                </a:lnTo>
                <a:lnTo>
                  <a:pt x="31875" y="480724"/>
                </a:lnTo>
                <a:lnTo>
                  <a:pt x="80378" y="503174"/>
                </a:lnTo>
                <a:lnTo>
                  <a:pt x="94772" y="501933"/>
                </a:lnTo>
                <a:lnTo>
                  <a:pt x="132499" y="483235"/>
                </a:lnTo>
                <a:lnTo>
                  <a:pt x="157232" y="449516"/>
                </a:lnTo>
                <a:lnTo>
                  <a:pt x="165531" y="433324"/>
                </a:lnTo>
                <a:lnTo>
                  <a:pt x="244579" y="433324"/>
                </a:lnTo>
                <a:lnTo>
                  <a:pt x="244517" y="432556"/>
                </a:lnTo>
                <a:lnTo>
                  <a:pt x="243901" y="420163"/>
                </a:lnTo>
                <a:lnTo>
                  <a:pt x="243531" y="405937"/>
                </a:lnTo>
                <a:lnTo>
                  <a:pt x="243491" y="400685"/>
                </a:lnTo>
                <a:lnTo>
                  <a:pt x="103149" y="400685"/>
                </a:lnTo>
                <a:lnTo>
                  <a:pt x="85169" y="361660"/>
                </a:lnTo>
                <a:lnTo>
                  <a:pt x="84734" y="351281"/>
                </a:lnTo>
                <a:lnTo>
                  <a:pt x="85176" y="342016"/>
                </a:lnTo>
                <a:lnTo>
                  <a:pt x="103378" y="302656"/>
                </a:lnTo>
                <a:lnTo>
                  <a:pt x="133767" y="282424"/>
                </a:lnTo>
                <a:lnTo>
                  <a:pt x="142943" y="276637"/>
                </a:lnTo>
                <a:lnTo>
                  <a:pt x="151935" y="270422"/>
                </a:lnTo>
                <a:lnTo>
                  <a:pt x="160743" y="263778"/>
                </a:lnTo>
                <a:lnTo>
                  <a:pt x="243408" y="263778"/>
                </a:lnTo>
                <a:lnTo>
                  <a:pt x="243408" y="177164"/>
                </a:lnTo>
                <a:lnTo>
                  <a:pt x="243019" y="159976"/>
                </a:lnTo>
                <a:lnTo>
                  <a:pt x="241852" y="142335"/>
                </a:lnTo>
                <a:lnTo>
                  <a:pt x="239895" y="124205"/>
                </a:lnTo>
                <a:lnTo>
                  <a:pt x="237735" y="109600"/>
                </a:lnTo>
                <a:close/>
              </a:path>
              <a:path w="254000" h="503555">
                <a:moveTo>
                  <a:pt x="244579" y="433324"/>
                </a:moveTo>
                <a:lnTo>
                  <a:pt x="165531" y="433324"/>
                </a:lnTo>
                <a:lnTo>
                  <a:pt x="166257" y="443102"/>
                </a:lnTo>
                <a:lnTo>
                  <a:pt x="172481" y="483540"/>
                </a:lnTo>
                <a:lnTo>
                  <a:pt x="174663" y="492251"/>
                </a:lnTo>
                <a:lnTo>
                  <a:pt x="254000" y="492251"/>
                </a:lnTo>
                <a:lnTo>
                  <a:pt x="250968" y="477964"/>
                </a:lnTo>
                <a:lnTo>
                  <a:pt x="248521" y="465010"/>
                </a:lnTo>
                <a:lnTo>
                  <a:pt x="246658" y="453389"/>
                </a:lnTo>
                <a:lnTo>
                  <a:pt x="245376" y="443102"/>
                </a:lnTo>
                <a:lnTo>
                  <a:pt x="244579" y="433324"/>
                </a:lnTo>
                <a:close/>
              </a:path>
              <a:path w="254000" h="503555">
                <a:moveTo>
                  <a:pt x="243408" y="263778"/>
                </a:moveTo>
                <a:lnTo>
                  <a:pt x="160743" y="263778"/>
                </a:lnTo>
                <a:lnTo>
                  <a:pt x="160704" y="295261"/>
                </a:lnTo>
                <a:lnTo>
                  <a:pt x="160426" y="309673"/>
                </a:lnTo>
                <a:lnTo>
                  <a:pt x="155663" y="349250"/>
                </a:lnTo>
                <a:lnTo>
                  <a:pt x="138429" y="385699"/>
                </a:lnTo>
                <a:lnTo>
                  <a:pt x="112153" y="400685"/>
                </a:lnTo>
                <a:lnTo>
                  <a:pt x="243491" y="400685"/>
                </a:lnTo>
                <a:lnTo>
                  <a:pt x="243408" y="263778"/>
                </a:lnTo>
                <a:close/>
              </a:path>
              <a:path w="254000" h="503555">
                <a:moveTo>
                  <a:pt x="120662" y="0"/>
                </a:moveTo>
                <a:lnTo>
                  <a:pt x="76631" y="7619"/>
                </a:lnTo>
                <a:lnTo>
                  <a:pt x="44653" y="29463"/>
                </a:lnTo>
                <a:lnTo>
                  <a:pt x="24618" y="62628"/>
                </a:lnTo>
                <a:lnTo>
                  <a:pt x="12225" y="106870"/>
                </a:lnTo>
                <a:lnTo>
                  <a:pt x="6642" y="148209"/>
                </a:lnTo>
                <a:lnTo>
                  <a:pt x="87439" y="166750"/>
                </a:lnTo>
                <a:lnTo>
                  <a:pt x="90122" y="152370"/>
                </a:lnTo>
                <a:lnTo>
                  <a:pt x="93198" y="140477"/>
                </a:lnTo>
                <a:lnTo>
                  <a:pt x="121939" y="110507"/>
                </a:lnTo>
                <a:lnTo>
                  <a:pt x="131673" y="109600"/>
                </a:lnTo>
                <a:lnTo>
                  <a:pt x="237735" y="109600"/>
                </a:lnTo>
                <a:lnTo>
                  <a:pt x="237172" y="105790"/>
                </a:lnTo>
                <a:lnTo>
                  <a:pt x="225262" y="59267"/>
                </a:lnTo>
                <a:lnTo>
                  <a:pt x="202858" y="23542"/>
                </a:lnTo>
                <a:lnTo>
                  <a:pt x="169263" y="5197"/>
                </a:lnTo>
                <a:lnTo>
                  <a:pt x="138731" y="573"/>
                </a:lnTo>
                <a:lnTo>
                  <a:pt x="120662"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2995584" y="1980591"/>
            <a:ext cx="1057161" cy="639627"/>
          </a:xfrm>
          <a:custGeom>
            <a:avLst/>
            <a:gdLst/>
            <a:ahLst/>
            <a:cxnLst/>
            <a:rect l="l" t="t" r="r" b="b"/>
            <a:pathLst>
              <a:path w="1057910" h="640080">
                <a:moveTo>
                  <a:pt x="0" y="640079"/>
                </a:moveTo>
                <a:lnTo>
                  <a:pt x="1057656" y="640079"/>
                </a:lnTo>
                <a:lnTo>
                  <a:pt x="1057656" y="0"/>
                </a:lnTo>
                <a:lnTo>
                  <a:pt x="0" y="0"/>
                </a:lnTo>
                <a:lnTo>
                  <a:pt x="0" y="64007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txBox="1"/>
          <p:nvPr/>
        </p:nvSpPr>
        <p:spPr>
          <a:xfrm>
            <a:off x="2995584" y="1980591"/>
            <a:ext cx="1057161" cy="416560"/>
          </a:xfrm>
          <a:prstGeom prst="rect">
            <a:avLst/>
          </a:prstGeom>
          <a:ln w="9525">
            <a:solidFill>
              <a:srgbClr val="91AFFF"/>
            </a:solidFill>
          </a:ln>
        </p:spPr>
        <p:txBody>
          <a:bodyPr vert="horz" wrap="square" lIns="0" tIns="201786" rIns="0" bIns="0" rtlCol="0">
            <a:spAutoFit/>
          </a:bodyPr>
          <a:lstStyle/>
          <a:p>
            <a:pPr marL="71755">
              <a:lnSpc>
                <a:spcPct val="100000"/>
              </a:lnSpc>
              <a:spcBef>
                <a:spcPts val="1590"/>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客户背景</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4" name="object 24"/>
          <p:cNvSpPr/>
          <p:nvPr/>
        </p:nvSpPr>
        <p:spPr>
          <a:xfrm>
            <a:off x="2995584" y="2720730"/>
            <a:ext cx="1057161" cy="517792"/>
          </a:xfrm>
          <a:custGeom>
            <a:avLst/>
            <a:gdLst/>
            <a:ahLst/>
            <a:cxnLst/>
            <a:rect l="l" t="t" r="r" b="b"/>
            <a:pathLst>
              <a:path w="1057910" h="518160">
                <a:moveTo>
                  <a:pt x="0" y="518160"/>
                </a:moveTo>
                <a:lnTo>
                  <a:pt x="1057656" y="518160"/>
                </a:lnTo>
                <a:lnTo>
                  <a:pt x="1057656"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5" name="object 25"/>
          <p:cNvSpPr txBox="1"/>
          <p:nvPr/>
        </p:nvSpPr>
        <p:spPr>
          <a:xfrm>
            <a:off x="2995584" y="2720730"/>
            <a:ext cx="1057161" cy="464820"/>
          </a:xfrm>
          <a:prstGeom prst="rect">
            <a:avLst/>
          </a:prstGeom>
          <a:ln w="9525">
            <a:solidFill>
              <a:srgbClr val="91AFFF"/>
            </a:solidFill>
          </a:ln>
        </p:spPr>
        <p:txBody>
          <a:bodyPr vert="horz" wrap="square" lIns="0" tIns="34900" rIns="0" bIns="0" rtlCol="0">
            <a:spAutoFit/>
          </a:bodyPr>
          <a:lstStyle/>
          <a:p>
            <a:pPr marL="71755">
              <a:lnSpc>
                <a:spcPct val="100000"/>
              </a:lnSpc>
              <a:spcBef>
                <a:spcPts val="275"/>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客户经济</a:t>
            </a:r>
            <a:endParaRPr sz="1400">
              <a:latin typeface="微软雅黑" panose="020B0503020204020204" charset="-122"/>
              <a:ea typeface="微软雅黑" panose="020B0503020204020204" charset="-122"/>
              <a:cs typeface="微软雅黑" panose="020B0503020204020204" charset="-122"/>
            </a:endParaRPr>
          </a:p>
          <a:p>
            <a:pPr marL="71755">
              <a:lnSpc>
                <a:spcPct val="100000"/>
              </a:lnSpc>
            </a:pPr>
            <a:r>
              <a:rPr sz="1400" dirty="0">
                <a:solidFill>
                  <a:srgbClr val="0066CC"/>
                </a:solidFill>
                <a:latin typeface="微软雅黑" panose="020B0503020204020204" charset="-122"/>
                <a:ea typeface="微软雅黑" panose="020B0503020204020204" charset="-122"/>
                <a:cs typeface="微软雅黑" panose="020B0503020204020204" charset="-122"/>
              </a:rPr>
              <a:t>指标</a:t>
            </a:r>
            <a:endParaRPr sz="1400">
              <a:latin typeface="微软雅黑" panose="020B0503020204020204" charset="-122"/>
              <a:ea typeface="微软雅黑" panose="020B0503020204020204" charset="-122"/>
              <a:cs typeface="微软雅黑" panose="020B0503020204020204" charset="-122"/>
            </a:endParaRPr>
          </a:p>
        </p:txBody>
      </p:sp>
      <p:sp>
        <p:nvSpPr>
          <p:cNvPr id="26" name="object 26"/>
          <p:cNvSpPr/>
          <p:nvPr/>
        </p:nvSpPr>
        <p:spPr>
          <a:xfrm>
            <a:off x="2995584" y="3340559"/>
            <a:ext cx="1057161" cy="516524"/>
          </a:xfrm>
          <a:custGeom>
            <a:avLst/>
            <a:gdLst/>
            <a:ahLst/>
            <a:cxnLst/>
            <a:rect l="l" t="t" r="r" b="b"/>
            <a:pathLst>
              <a:path w="1057910" h="516889">
                <a:moveTo>
                  <a:pt x="0" y="516636"/>
                </a:moveTo>
                <a:lnTo>
                  <a:pt x="1057656" y="516636"/>
                </a:lnTo>
                <a:lnTo>
                  <a:pt x="1057656" y="0"/>
                </a:lnTo>
                <a:lnTo>
                  <a:pt x="0" y="0"/>
                </a:lnTo>
                <a:lnTo>
                  <a:pt x="0" y="51663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7" name="object 27"/>
          <p:cNvSpPr txBox="1"/>
          <p:nvPr/>
        </p:nvSpPr>
        <p:spPr>
          <a:xfrm>
            <a:off x="2995584" y="3340559"/>
            <a:ext cx="1057161" cy="464820"/>
          </a:xfrm>
          <a:prstGeom prst="rect">
            <a:avLst/>
          </a:prstGeom>
          <a:ln w="9525">
            <a:solidFill>
              <a:srgbClr val="91AFFF"/>
            </a:solidFill>
          </a:ln>
        </p:spPr>
        <p:txBody>
          <a:bodyPr vert="horz" wrap="square" lIns="0" tIns="31091" rIns="0" bIns="0" rtlCol="0">
            <a:spAutoFit/>
          </a:bodyPr>
          <a:lstStyle/>
          <a:p>
            <a:pPr marL="71755" marR="86360">
              <a:lnSpc>
                <a:spcPct val="101000"/>
              </a:lnSpc>
              <a:spcBef>
                <a:spcPts val="245"/>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客户关系与 决策流程</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8" name="object 28"/>
          <p:cNvSpPr/>
          <p:nvPr/>
        </p:nvSpPr>
        <p:spPr>
          <a:xfrm>
            <a:off x="2995584" y="3958865"/>
            <a:ext cx="1057161" cy="517792"/>
          </a:xfrm>
          <a:custGeom>
            <a:avLst/>
            <a:gdLst/>
            <a:ahLst/>
            <a:cxnLst/>
            <a:rect l="l" t="t" r="r" b="b"/>
            <a:pathLst>
              <a:path w="1057910" h="518160">
                <a:moveTo>
                  <a:pt x="0" y="518159"/>
                </a:moveTo>
                <a:lnTo>
                  <a:pt x="1057656" y="518159"/>
                </a:lnTo>
                <a:lnTo>
                  <a:pt x="1057656" y="0"/>
                </a:lnTo>
                <a:lnTo>
                  <a:pt x="0" y="0"/>
                </a:lnTo>
                <a:lnTo>
                  <a:pt x="0" y="51815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9" name="object 29"/>
          <p:cNvSpPr txBox="1"/>
          <p:nvPr/>
        </p:nvSpPr>
        <p:spPr>
          <a:xfrm>
            <a:off x="2995584" y="3958865"/>
            <a:ext cx="1057161" cy="355600"/>
          </a:xfrm>
          <a:prstGeom prst="rect">
            <a:avLst/>
          </a:prstGeom>
          <a:ln w="9525">
            <a:solidFill>
              <a:srgbClr val="91AFFF"/>
            </a:solidFill>
          </a:ln>
        </p:spPr>
        <p:txBody>
          <a:bodyPr vert="horz" wrap="square" lIns="0" tIns="140870" rIns="0" bIns="0" rtlCol="0">
            <a:spAutoFit/>
          </a:bodyPr>
          <a:lstStyle/>
          <a:p>
            <a:pPr marL="71755">
              <a:lnSpc>
                <a:spcPct val="100000"/>
              </a:lnSpc>
              <a:spcBef>
                <a:spcPts val="1110"/>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客户需求</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0" name="object 30"/>
          <p:cNvSpPr/>
          <p:nvPr/>
        </p:nvSpPr>
        <p:spPr>
          <a:xfrm>
            <a:off x="2995584" y="4577170"/>
            <a:ext cx="1057161" cy="517792"/>
          </a:xfrm>
          <a:custGeom>
            <a:avLst/>
            <a:gdLst/>
            <a:ahLst/>
            <a:cxnLst/>
            <a:rect l="l" t="t" r="r" b="b"/>
            <a:pathLst>
              <a:path w="1057910" h="518160">
                <a:moveTo>
                  <a:pt x="0" y="518160"/>
                </a:moveTo>
                <a:lnTo>
                  <a:pt x="1057656" y="518160"/>
                </a:lnTo>
                <a:lnTo>
                  <a:pt x="1057656"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1" name="object 31"/>
          <p:cNvSpPr txBox="1"/>
          <p:nvPr/>
        </p:nvSpPr>
        <p:spPr>
          <a:xfrm>
            <a:off x="2995584" y="4577170"/>
            <a:ext cx="1057161" cy="356235"/>
          </a:xfrm>
          <a:prstGeom prst="rect">
            <a:avLst/>
          </a:prstGeom>
          <a:ln w="9525">
            <a:solidFill>
              <a:srgbClr val="91AFFF"/>
            </a:solidFill>
          </a:ln>
        </p:spPr>
        <p:txBody>
          <a:bodyPr vert="horz" wrap="square" lIns="0" tIns="141504" rIns="0" bIns="0" rtlCol="0">
            <a:spAutoFit/>
          </a:bodyPr>
          <a:lstStyle/>
          <a:p>
            <a:pPr marL="71755">
              <a:lnSpc>
                <a:spcPct val="100000"/>
              </a:lnSpc>
              <a:spcBef>
                <a:spcPts val="1115"/>
              </a:spcBef>
            </a:pPr>
            <a:r>
              <a:rPr sz="1400" dirty="0">
                <a:solidFill>
                  <a:srgbClr val="0066CC"/>
                </a:solidFill>
                <a:latin typeface="微软雅黑" panose="020B0503020204020204" charset="-122"/>
                <a:ea typeface="微软雅黑" panose="020B0503020204020204" charset="-122"/>
                <a:cs typeface="微软雅黑" panose="020B0503020204020204" charset="-122"/>
              </a:rPr>
              <a:t>风险分析</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2" name="object 32"/>
          <p:cNvSpPr/>
          <p:nvPr/>
        </p:nvSpPr>
        <p:spPr>
          <a:xfrm>
            <a:off x="5450533" y="3897948"/>
            <a:ext cx="2614982" cy="335043"/>
          </a:xfrm>
          <a:custGeom>
            <a:avLst/>
            <a:gdLst/>
            <a:ahLst/>
            <a:cxnLst/>
            <a:rect l="l" t="t" r="r" b="b"/>
            <a:pathLst>
              <a:path w="2616834" h="335279">
                <a:moveTo>
                  <a:pt x="0" y="335280"/>
                </a:moveTo>
                <a:lnTo>
                  <a:pt x="2616707" y="335280"/>
                </a:lnTo>
                <a:lnTo>
                  <a:pt x="2616707" y="0"/>
                </a:lnTo>
                <a:lnTo>
                  <a:pt x="0" y="0"/>
                </a:lnTo>
                <a:lnTo>
                  <a:pt x="0" y="33528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3" name="object 33"/>
          <p:cNvSpPr txBox="1"/>
          <p:nvPr/>
        </p:nvSpPr>
        <p:spPr>
          <a:xfrm>
            <a:off x="5450533" y="3897948"/>
            <a:ext cx="2614982" cy="264795"/>
          </a:xfrm>
          <a:prstGeom prst="rect">
            <a:avLst/>
          </a:prstGeom>
          <a:ln w="9525">
            <a:solidFill>
              <a:srgbClr val="91AFFF"/>
            </a:solidFill>
          </a:ln>
        </p:spPr>
        <p:txBody>
          <a:bodyPr vert="horz" wrap="square" lIns="0" tIns="50129" rIns="0" bIns="0" rtlCol="0">
            <a:spAutoFit/>
          </a:bodyPr>
          <a:lstStyle/>
          <a:p>
            <a:pPr marL="73025">
              <a:lnSpc>
                <a:spcPct val="100000"/>
              </a:lnSpc>
              <a:spcBef>
                <a:spcPts val="395"/>
              </a:spcBef>
            </a:pPr>
            <a:r>
              <a:rPr sz="1400" dirty="0">
                <a:solidFill>
                  <a:srgbClr val="0066CC"/>
                </a:solidFill>
                <a:latin typeface="微软雅黑" panose="020B0503020204020204" charset="-122"/>
                <a:ea typeface="微软雅黑" panose="020B0503020204020204" charset="-122"/>
                <a:cs typeface="微软雅黑" panose="020B0503020204020204" charset="-122"/>
              </a:rPr>
              <a:t>大客户管理的组织架构</a:t>
            </a:r>
            <a:r>
              <a:rPr sz="1400" spc="-15" dirty="0">
                <a:solidFill>
                  <a:srgbClr val="0066CC"/>
                </a:solidFill>
                <a:latin typeface="微软雅黑" panose="020B0503020204020204" charset="-122"/>
                <a:ea typeface="微软雅黑" panose="020B0503020204020204" charset="-122"/>
                <a:cs typeface="微软雅黑" panose="020B0503020204020204" charset="-122"/>
              </a:rPr>
              <a:t>设</a:t>
            </a:r>
            <a:r>
              <a:rPr sz="1400" spc="5" dirty="0">
                <a:solidFill>
                  <a:srgbClr val="0066CC"/>
                </a:solidFill>
                <a:latin typeface="微软雅黑" panose="020B0503020204020204" charset="-122"/>
                <a:ea typeface="微软雅黑" panose="020B0503020204020204" charset="-122"/>
                <a:cs typeface="微软雅黑" panose="020B0503020204020204" charset="-122"/>
              </a:rPr>
              <a:t>计</a:t>
            </a:r>
            <a:endParaRPr sz="1400">
              <a:latin typeface="微软雅黑" panose="020B0503020204020204" charset="-122"/>
              <a:ea typeface="微软雅黑" panose="020B0503020204020204" charset="-122"/>
              <a:cs typeface="微软雅黑" panose="020B0503020204020204" charset="-122"/>
            </a:endParaRPr>
          </a:p>
        </p:txBody>
      </p:sp>
      <p:sp>
        <p:nvSpPr>
          <p:cNvPr id="34" name="object 34"/>
          <p:cNvSpPr/>
          <p:nvPr/>
        </p:nvSpPr>
        <p:spPr>
          <a:xfrm>
            <a:off x="4976905" y="1980591"/>
            <a:ext cx="1154882" cy="517792"/>
          </a:xfrm>
          <a:custGeom>
            <a:avLst/>
            <a:gdLst/>
            <a:ahLst/>
            <a:cxnLst/>
            <a:rect l="l" t="t" r="r" b="b"/>
            <a:pathLst>
              <a:path w="1155700" h="518160">
                <a:moveTo>
                  <a:pt x="0" y="518160"/>
                </a:moveTo>
                <a:lnTo>
                  <a:pt x="1155191" y="518160"/>
                </a:lnTo>
                <a:lnTo>
                  <a:pt x="1155191"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5" name="object 35"/>
          <p:cNvSpPr txBox="1"/>
          <p:nvPr/>
        </p:nvSpPr>
        <p:spPr>
          <a:xfrm>
            <a:off x="4976905" y="1980591"/>
            <a:ext cx="1154882" cy="336550"/>
          </a:xfrm>
          <a:prstGeom prst="rect">
            <a:avLst/>
          </a:prstGeom>
          <a:ln w="9525">
            <a:solidFill>
              <a:srgbClr val="91AFFF"/>
            </a:solidFill>
          </a:ln>
        </p:spPr>
        <p:txBody>
          <a:bodyPr vert="horz" wrap="square" lIns="0" tIns="121833" rIns="0" bIns="0" rtlCol="0">
            <a:spAutoFit/>
          </a:bodyPr>
          <a:lstStyle/>
          <a:p>
            <a:pPr marL="72390">
              <a:lnSpc>
                <a:spcPct val="100000"/>
              </a:lnSpc>
              <a:spcBef>
                <a:spcPts val="960"/>
              </a:spcBef>
            </a:pPr>
            <a:r>
              <a:rPr sz="1400" dirty="0">
                <a:solidFill>
                  <a:srgbClr val="0066CC"/>
                </a:solidFill>
                <a:latin typeface="微软雅黑" panose="020B0503020204020204" charset="-122"/>
                <a:ea typeface="微软雅黑" panose="020B0503020204020204" charset="-122"/>
                <a:cs typeface="微软雅黑" panose="020B0503020204020204" charset="-122"/>
              </a:rPr>
              <a:t>战略规划</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6" name="object 36"/>
          <p:cNvSpPr/>
          <p:nvPr/>
        </p:nvSpPr>
        <p:spPr>
          <a:xfrm>
            <a:off x="4976905" y="2560823"/>
            <a:ext cx="1154882" cy="517792"/>
          </a:xfrm>
          <a:custGeom>
            <a:avLst/>
            <a:gdLst/>
            <a:ahLst/>
            <a:cxnLst/>
            <a:rect l="l" t="t" r="r" b="b"/>
            <a:pathLst>
              <a:path w="1155700" h="518160">
                <a:moveTo>
                  <a:pt x="0" y="518160"/>
                </a:moveTo>
                <a:lnTo>
                  <a:pt x="1155191" y="518160"/>
                </a:lnTo>
                <a:lnTo>
                  <a:pt x="1155191"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7" name="object 37"/>
          <p:cNvSpPr txBox="1"/>
          <p:nvPr/>
        </p:nvSpPr>
        <p:spPr>
          <a:xfrm>
            <a:off x="4976905" y="2560823"/>
            <a:ext cx="1154882" cy="336550"/>
          </a:xfrm>
          <a:prstGeom prst="rect">
            <a:avLst/>
          </a:prstGeom>
          <a:ln w="9525">
            <a:solidFill>
              <a:srgbClr val="91AFFF"/>
            </a:solidFill>
          </a:ln>
        </p:spPr>
        <p:txBody>
          <a:bodyPr vert="horz" wrap="square" lIns="0" tIns="121833" rIns="0" bIns="0" rtlCol="0">
            <a:spAutoFit/>
          </a:bodyPr>
          <a:lstStyle/>
          <a:p>
            <a:pPr marL="72390">
              <a:lnSpc>
                <a:spcPct val="100000"/>
              </a:lnSpc>
              <a:spcBef>
                <a:spcPts val="960"/>
              </a:spcBef>
            </a:pPr>
            <a:r>
              <a:rPr sz="1400" dirty="0">
                <a:solidFill>
                  <a:srgbClr val="0066CC"/>
                </a:solidFill>
                <a:latin typeface="微软雅黑" panose="020B0503020204020204" charset="-122"/>
                <a:ea typeface="微软雅黑" panose="020B0503020204020204" charset="-122"/>
                <a:cs typeface="微软雅黑" panose="020B0503020204020204" charset="-122"/>
              </a:rPr>
              <a:t>行动计划</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8" name="object 38"/>
          <p:cNvSpPr/>
          <p:nvPr/>
        </p:nvSpPr>
        <p:spPr>
          <a:xfrm>
            <a:off x="6944518" y="1980591"/>
            <a:ext cx="1156151" cy="306488"/>
          </a:xfrm>
          <a:custGeom>
            <a:avLst/>
            <a:gdLst/>
            <a:ahLst/>
            <a:cxnLst/>
            <a:rect l="l" t="t" r="r" b="b"/>
            <a:pathLst>
              <a:path w="1156970" h="306705">
                <a:moveTo>
                  <a:pt x="0" y="306324"/>
                </a:moveTo>
                <a:lnTo>
                  <a:pt x="1156716" y="306324"/>
                </a:lnTo>
                <a:lnTo>
                  <a:pt x="1156716" y="0"/>
                </a:lnTo>
                <a:lnTo>
                  <a:pt x="0" y="0"/>
                </a:lnTo>
                <a:lnTo>
                  <a:pt x="0" y="30632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9" name="object 39"/>
          <p:cNvSpPr/>
          <p:nvPr/>
        </p:nvSpPr>
        <p:spPr>
          <a:xfrm>
            <a:off x="6944518" y="2330862"/>
            <a:ext cx="1156151" cy="306488"/>
          </a:xfrm>
          <a:custGeom>
            <a:avLst/>
            <a:gdLst/>
            <a:ahLst/>
            <a:cxnLst/>
            <a:rect l="l" t="t" r="r" b="b"/>
            <a:pathLst>
              <a:path w="1156970" h="306705">
                <a:moveTo>
                  <a:pt x="0" y="306324"/>
                </a:moveTo>
                <a:lnTo>
                  <a:pt x="1156716" y="306324"/>
                </a:lnTo>
                <a:lnTo>
                  <a:pt x="1156716" y="0"/>
                </a:lnTo>
                <a:lnTo>
                  <a:pt x="0" y="0"/>
                </a:lnTo>
                <a:lnTo>
                  <a:pt x="0" y="30632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0" name="object 40"/>
          <p:cNvSpPr/>
          <p:nvPr/>
        </p:nvSpPr>
        <p:spPr>
          <a:xfrm>
            <a:off x="6944518" y="2682657"/>
            <a:ext cx="1156151" cy="517792"/>
          </a:xfrm>
          <a:custGeom>
            <a:avLst/>
            <a:gdLst/>
            <a:ahLst/>
            <a:cxnLst/>
            <a:rect l="l" t="t" r="r" b="b"/>
            <a:pathLst>
              <a:path w="1156970" h="518160">
                <a:moveTo>
                  <a:pt x="0" y="518160"/>
                </a:moveTo>
                <a:lnTo>
                  <a:pt x="1156716" y="518160"/>
                </a:lnTo>
                <a:lnTo>
                  <a:pt x="1156716"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graphicFrame>
        <p:nvGraphicFramePr>
          <p:cNvPr id="41" name="object 41"/>
          <p:cNvGraphicFramePr>
            <a:graphicFrameLocks noGrp="1"/>
          </p:cNvGraphicFramePr>
          <p:nvPr/>
        </p:nvGraphicFramePr>
        <p:xfrm>
          <a:off x="6939759" y="1975831"/>
          <a:ext cx="1170305" cy="1229360"/>
        </p:xfrm>
        <a:graphic>
          <a:graphicData uri="http://schemas.openxmlformats.org/drawingml/2006/table">
            <a:tbl>
              <a:tblPr firstRow="1" bandRow="1">
                <a:tableStyleId>{2D5ABB26-0587-4C30-8999-92F81FD0307C}</a:tableStyleId>
              </a:tblPr>
              <a:tblGrid>
                <a:gridCol w="1170305"/>
              </a:tblGrid>
              <a:tr h="330835">
                <a:tc>
                  <a:txBody>
                    <a:bodyPr/>
                    <a:lstStyle/>
                    <a:p>
                      <a:pPr marL="73660">
                        <a:lnSpc>
                          <a:spcPct val="100000"/>
                        </a:lnSpc>
                        <a:spcBef>
                          <a:spcPts val="275"/>
                        </a:spcBef>
                      </a:pPr>
                      <a:r>
                        <a:rPr sz="1400" dirty="0">
                          <a:solidFill>
                            <a:srgbClr val="0066CC"/>
                          </a:solidFill>
                          <a:latin typeface="微软雅黑" panose="020B0503020204020204" charset="-122"/>
                          <a:ea typeface="微软雅黑" panose="020B0503020204020204" charset="-122"/>
                          <a:cs typeface="微软雅黑" panose="020B0503020204020204" charset="-122"/>
                        </a:rPr>
                        <a:t>价值销售</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a:txBody>
                  <a:tcPr marL="0" marR="0" marT="34900" marB="0">
                    <a:lnL w="9525">
                      <a:solidFill>
                        <a:srgbClr val="91AFFF"/>
                      </a:solidFill>
                      <a:prstDash val="solid"/>
                    </a:lnL>
                    <a:lnR w="9525">
                      <a:solidFill>
                        <a:srgbClr val="91AFFF"/>
                      </a:solidFill>
                      <a:prstDash val="solid"/>
                    </a:lnR>
                    <a:lnT w="9525">
                      <a:solidFill>
                        <a:srgbClr val="91AFFF"/>
                      </a:solidFill>
                      <a:prstDash val="solid"/>
                    </a:lnT>
                    <a:lnB w="9525">
                      <a:solidFill>
                        <a:srgbClr val="91AFFF"/>
                      </a:solidFill>
                      <a:prstDash val="solid"/>
                    </a:lnB>
                    <a:solidFill>
                      <a:srgbClr val="C6DFFA"/>
                    </a:solidFill>
                  </a:tcPr>
                </a:tc>
              </a:tr>
              <a:tr h="353695">
                <a:tc>
                  <a:txBody>
                    <a:bodyPr/>
                    <a:lstStyle/>
                    <a:p>
                      <a:pPr marL="73660">
                        <a:lnSpc>
                          <a:spcPct val="100000"/>
                        </a:lnSpc>
                        <a:spcBef>
                          <a:spcPts val="455"/>
                        </a:spcBef>
                      </a:pPr>
                      <a:r>
                        <a:rPr sz="1400" dirty="0">
                          <a:solidFill>
                            <a:srgbClr val="0066CC"/>
                          </a:solidFill>
                          <a:latin typeface="微软雅黑" panose="020B0503020204020204" charset="-122"/>
                          <a:ea typeface="微软雅黑" panose="020B0503020204020204" charset="-122"/>
                          <a:cs typeface="微软雅黑" panose="020B0503020204020204" charset="-122"/>
                        </a:rPr>
                        <a:t>谈判</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a:txBody>
                  <a:tcPr marL="0" marR="0" marT="57744" marB="0">
                    <a:lnL w="9525">
                      <a:solidFill>
                        <a:srgbClr val="91AFFF"/>
                      </a:solidFill>
                      <a:prstDash val="solid"/>
                    </a:lnL>
                    <a:lnR w="9525">
                      <a:solidFill>
                        <a:srgbClr val="91AFFF"/>
                      </a:solidFill>
                      <a:prstDash val="solid"/>
                    </a:lnR>
                    <a:lnT w="9525">
                      <a:solidFill>
                        <a:srgbClr val="91AFFF"/>
                      </a:solidFill>
                      <a:prstDash val="solid"/>
                    </a:lnT>
                    <a:lnB w="9525">
                      <a:solidFill>
                        <a:srgbClr val="91AFFF"/>
                      </a:solidFill>
                      <a:prstDash val="solid"/>
                    </a:lnB>
                    <a:solidFill>
                      <a:srgbClr val="C6DFFA"/>
                    </a:solidFill>
                  </a:tcPr>
                </a:tc>
              </a:tr>
              <a:tr h="544830">
                <a:tc>
                  <a:txBody>
                    <a:bodyPr/>
                    <a:lstStyle/>
                    <a:p>
                      <a:pPr marL="73660">
                        <a:lnSpc>
                          <a:spcPct val="100000"/>
                        </a:lnSpc>
                        <a:spcBef>
                          <a:spcPts val="1295"/>
                        </a:spcBef>
                      </a:pPr>
                      <a:r>
                        <a:rPr sz="1400" dirty="0">
                          <a:solidFill>
                            <a:srgbClr val="0066CC"/>
                          </a:solidFill>
                          <a:latin typeface="微软雅黑" panose="020B0503020204020204" charset="-122"/>
                          <a:ea typeface="微软雅黑" panose="020B0503020204020204" charset="-122"/>
                          <a:cs typeface="微软雅黑" panose="020B0503020204020204" charset="-122"/>
                        </a:rPr>
                        <a:t>绩效管理</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a:txBody>
                  <a:tcPr marL="0" marR="0" marT="164348" marB="0">
                    <a:lnL w="9525">
                      <a:solidFill>
                        <a:srgbClr val="91AFFF"/>
                      </a:solidFill>
                      <a:prstDash val="solid"/>
                    </a:lnL>
                    <a:lnR w="9525">
                      <a:solidFill>
                        <a:srgbClr val="91AFFF"/>
                      </a:solidFill>
                      <a:prstDash val="solid"/>
                    </a:lnR>
                    <a:lnT w="9525">
                      <a:solidFill>
                        <a:srgbClr val="91AFFF"/>
                      </a:solidFill>
                      <a:prstDash val="solid"/>
                    </a:lnT>
                    <a:lnB w="9525">
                      <a:solidFill>
                        <a:srgbClr val="91AFFF"/>
                      </a:solidFill>
                      <a:prstDash val="solid"/>
                    </a:lnB>
                    <a:solidFill>
                      <a:srgbClr val="C6DFFA"/>
                    </a:solidFill>
                  </a:tcPr>
                </a:tc>
              </a:tr>
            </a:tbl>
          </a:graphicData>
        </a:graphic>
      </p:graphicFrame>
      <p:sp>
        <p:nvSpPr>
          <p:cNvPr id="42" name="object 42"/>
          <p:cNvSpPr/>
          <p:nvPr/>
        </p:nvSpPr>
        <p:spPr>
          <a:xfrm>
            <a:off x="632011" y="1980591"/>
            <a:ext cx="1488020" cy="517792"/>
          </a:xfrm>
          <a:custGeom>
            <a:avLst/>
            <a:gdLst/>
            <a:ahLst/>
            <a:cxnLst/>
            <a:rect l="l" t="t" r="r" b="b"/>
            <a:pathLst>
              <a:path w="1489075" h="518160">
                <a:moveTo>
                  <a:pt x="0" y="518160"/>
                </a:moveTo>
                <a:lnTo>
                  <a:pt x="1488948" y="518160"/>
                </a:lnTo>
                <a:lnTo>
                  <a:pt x="1488948"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3" name="object 43"/>
          <p:cNvSpPr txBox="1"/>
          <p:nvPr/>
        </p:nvSpPr>
        <p:spPr>
          <a:xfrm>
            <a:off x="632011" y="1980591"/>
            <a:ext cx="1488020" cy="464185"/>
          </a:xfrm>
          <a:prstGeom prst="rect">
            <a:avLst/>
          </a:prstGeom>
          <a:ln w="9525">
            <a:solidFill>
              <a:srgbClr val="91AFFF"/>
            </a:solidFill>
          </a:ln>
        </p:spPr>
        <p:txBody>
          <a:bodyPr vert="horz" wrap="square" lIns="0" tIns="34265" rIns="0" bIns="0" rtlCol="0">
            <a:spAutoFit/>
          </a:bodyPr>
          <a:lstStyle/>
          <a:p>
            <a:pPr marL="71120" marR="518795">
              <a:lnSpc>
                <a:spcPct val="100000"/>
              </a:lnSpc>
              <a:spcBef>
                <a:spcPts val="270"/>
              </a:spcBef>
            </a:pPr>
            <a:r>
              <a:rPr sz="1400" dirty="0">
                <a:solidFill>
                  <a:srgbClr val="0066CC"/>
                </a:solidFill>
                <a:latin typeface="微软雅黑" panose="020B0503020204020204" charset="-122"/>
                <a:ea typeface="微软雅黑" panose="020B0503020204020204" charset="-122"/>
                <a:cs typeface="微软雅黑" panose="020B0503020204020204" charset="-122"/>
              </a:rPr>
              <a:t>识别并审核 大客户</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4" name="object 44"/>
          <p:cNvSpPr txBox="1"/>
          <p:nvPr/>
        </p:nvSpPr>
        <p:spPr>
          <a:xfrm>
            <a:off x="4964467" y="1535644"/>
            <a:ext cx="104129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大客</a:t>
            </a:r>
            <a:r>
              <a:rPr sz="1600" b="1" spc="-10" dirty="0">
                <a:solidFill>
                  <a:srgbClr val="0066CC"/>
                </a:solidFill>
                <a:latin typeface="微软雅黑" panose="020B0503020204020204" charset="-122"/>
                <a:ea typeface="微软雅黑" panose="020B0503020204020204" charset="-122"/>
                <a:cs typeface="微软雅黑" panose="020B0503020204020204" charset="-122"/>
              </a:rPr>
              <a:t>户规划</a:t>
            </a:r>
            <a:endParaRPr sz="1600">
              <a:latin typeface="微软雅黑" panose="020B0503020204020204" charset="-122"/>
              <a:ea typeface="微软雅黑" panose="020B0503020204020204" charset="-122"/>
              <a:cs typeface="微软雅黑" panose="020B0503020204020204" charset="-122"/>
            </a:endParaRPr>
          </a:p>
        </p:txBody>
      </p:sp>
      <p:sp>
        <p:nvSpPr>
          <p:cNvPr id="45" name="object 45"/>
          <p:cNvSpPr txBox="1"/>
          <p:nvPr/>
        </p:nvSpPr>
        <p:spPr>
          <a:xfrm>
            <a:off x="6933604" y="1535644"/>
            <a:ext cx="1045739"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实施和跟踪</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6" name="object 46"/>
          <p:cNvSpPr txBox="1"/>
          <p:nvPr/>
        </p:nvSpPr>
        <p:spPr>
          <a:xfrm>
            <a:off x="618712" y="1535644"/>
            <a:ext cx="84204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客户分类</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7" name="object 47"/>
          <p:cNvSpPr txBox="1"/>
          <p:nvPr/>
        </p:nvSpPr>
        <p:spPr>
          <a:xfrm>
            <a:off x="2982893" y="1535644"/>
            <a:ext cx="1045739"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大客户分析</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401" y="203088"/>
            <a:ext cx="2679706"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大客户管理</a:t>
            </a:r>
            <a:r>
              <a:rPr spc="-10" dirty="0">
                <a:ea typeface="微软雅黑" panose="020B0503020204020204" charset="-122"/>
              </a:rPr>
              <a:t>包括</a:t>
            </a:r>
            <a:r>
              <a:rPr spc="-5" dirty="0">
                <a:ea typeface="微软雅黑" panose="020B0503020204020204" charset="-122"/>
              </a:rPr>
              <a:t>五</a:t>
            </a:r>
            <a:r>
              <a:rPr spc="-10" dirty="0">
                <a:ea typeface="微软雅黑" panose="020B0503020204020204" charset="-122"/>
              </a:rPr>
              <a:t>大要素</a:t>
            </a:r>
            <a:endParaRPr spc="-10" dirty="0">
              <a:ea typeface="微软雅黑" panose="020B0503020204020204" charset="-122"/>
            </a:endParaRPr>
          </a:p>
        </p:txBody>
      </p:sp>
      <p:sp>
        <p:nvSpPr>
          <p:cNvPr id="4" name="object 4"/>
          <p:cNvSpPr/>
          <p:nvPr/>
        </p:nvSpPr>
        <p:spPr>
          <a:xfrm>
            <a:off x="2096299" y="1323450"/>
            <a:ext cx="2679071" cy="3900581"/>
          </a:xfrm>
          <a:custGeom>
            <a:avLst/>
            <a:gdLst/>
            <a:ahLst/>
            <a:cxnLst/>
            <a:rect l="l" t="t" r="r" b="b"/>
            <a:pathLst>
              <a:path w="2680970" h="3903345">
                <a:moveTo>
                  <a:pt x="1977643" y="0"/>
                </a:moveTo>
                <a:lnTo>
                  <a:pt x="0" y="0"/>
                </a:lnTo>
                <a:lnTo>
                  <a:pt x="703071" y="1952244"/>
                </a:lnTo>
                <a:lnTo>
                  <a:pt x="0" y="3902964"/>
                </a:lnTo>
                <a:lnTo>
                  <a:pt x="1977643" y="3902964"/>
                </a:lnTo>
                <a:lnTo>
                  <a:pt x="2680716" y="1952244"/>
                </a:lnTo>
                <a:lnTo>
                  <a:pt x="197764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p:nvPr/>
        </p:nvSpPr>
        <p:spPr>
          <a:xfrm>
            <a:off x="2096299" y="1323450"/>
            <a:ext cx="2679071" cy="3900581"/>
          </a:xfrm>
          <a:custGeom>
            <a:avLst/>
            <a:gdLst/>
            <a:ahLst/>
            <a:cxnLst/>
            <a:rect l="l" t="t" r="r" b="b"/>
            <a:pathLst>
              <a:path w="2680970" h="3903345">
                <a:moveTo>
                  <a:pt x="0" y="0"/>
                </a:moveTo>
                <a:lnTo>
                  <a:pt x="1977643" y="0"/>
                </a:lnTo>
                <a:lnTo>
                  <a:pt x="2680716" y="1952244"/>
                </a:lnTo>
                <a:lnTo>
                  <a:pt x="1977643" y="3902964"/>
                </a:lnTo>
                <a:lnTo>
                  <a:pt x="0" y="3902964"/>
                </a:lnTo>
                <a:lnTo>
                  <a:pt x="703071"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4074573" y="1323450"/>
            <a:ext cx="2679071" cy="1951242"/>
          </a:xfrm>
          <a:custGeom>
            <a:avLst/>
            <a:gdLst/>
            <a:ahLst/>
            <a:cxnLst/>
            <a:rect l="l" t="t" r="r" b="b"/>
            <a:pathLst>
              <a:path w="2680970" h="1952625">
                <a:moveTo>
                  <a:pt x="1977643" y="0"/>
                </a:moveTo>
                <a:lnTo>
                  <a:pt x="0" y="0"/>
                </a:lnTo>
                <a:lnTo>
                  <a:pt x="703072" y="1952244"/>
                </a:lnTo>
                <a:lnTo>
                  <a:pt x="2680716" y="1952244"/>
                </a:lnTo>
                <a:lnTo>
                  <a:pt x="197764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4074573" y="1323450"/>
            <a:ext cx="2679071" cy="1951242"/>
          </a:xfrm>
          <a:custGeom>
            <a:avLst/>
            <a:gdLst/>
            <a:ahLst/>
            <a:cxnLst/>
            <a:rect l="l" t="t" r="r" b="b"/>
            <a:pathLst>
              <a:path w="2680970" h="1952625">
                <a:moveTo>
                  <a:pt x="0" y="0"/>
                </a:moveTo>
                <a:lnTo>
                  <a:pt x="1977643" y="0"/>
                </a:lnTo>
                <a:lnTo>
                  <a:pt x="2680716" y="1952244"/>
                </a:lnTo>
                <a:lnTo>
                  <a:pt x="703072"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4074573" y="3274312"/>
            <a:ext cx="4655695" cy="1949338"/>
          </a:xfrm>
          <a:custGeom>
            <a:avLst/>
            <a:gdLst/>
            <a:ahLst/>
            <a:cxnLst/>
            <a:rect l="l" t="t" r="r" b="b"/>
            <a:pathLst>
              <a:path w="4658995" h="1950720">
                <a:moveTo>
                  <a:pt x="4658868" y="0"/>
                </a:moveTo>
                <a:lnTo>
                  <a:pt x="703199" y="0"/>
                </a:lnTo>
                <a:lnTo>
                  <a:pt x="0" y="1950720"/>
                </a:lnTo>
                <a:lnTo>
                  <a:pt x="3955668" y="1950720"/>
                </a:lnTo>
                <a:lnTo>
                  <a:pt x="4658868"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4074573" y="3274312"/>
            <a:ext cx="4655695" cy="1949338"/>
          </a:xfrm>
          <a:custGeom>
            <a:avLst/>
            <a:gdLst/>
            <a:ahLst/>
            <a:cxnLst/>
            <a:rect l="l" t="t" r="r" b="b"/>
            <a:pathLst>
              <a:path w="4658995" h="1950720">
                <a:moveTo>
                  <a:pt x="4658868" y="0"/>
                </a:moveTo>
                <a:lnTo>
                  <a:pt x="3955668" y="1950720"/>
                </a:lnTo>
                <a:lnTo>
                  <a:pt x="0" y="1950720"/>
                </a:lnTo>
                <a:lnTo>
                  <a:pt x="703199" y="0"/>
                </a:lnTo>
                <a:lnTo>
                  <a:pt x="4658868"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6051325" y="1323450"/>
            <a:ext cx="2679071" cy="1951242"/>
          </a:xfrm>
          <a:custGeom>
            <a:avLst/>
            <a:gdLst/>
            <a:ahLst/>
            <a:cxnLst/>
            <a:rect l="l" t="t" r="r" b="b"/>
            <a:pathLst>
              <a:path w="2680970" h="1952625">
                <a:moveTo>
                  <a:pt x="1977643" y="0"/>
                </a:moveTo>
                <a:lnTo>
                  <a:pt x="0" y="0"/>
                </a:lnTo>
                <a:lnTo>
                  <a:pt x="703071" y="1952244"/>
                </a:lnTo>
                <a:lnTo>
                  <a:pt x="2680716" y="1952244"/>
                </a:lnTo>
                <a:lnTo>
                  <a:pt x="197764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6051325" y="1323450"/>
            <a:ext cx="2679071" cy="1951242"/>
          </a:xfrm>
          <a:custGeom>
            <a:avLst/>
            <a:gdLst/>
            <a:ahLst/>
            <a:cxnLst/>
            <a:rect l="l" t="t" r="r" b="b"/>
            <a:pathLst>
              <a:path w="2680970" h="1952625">
                <a:moveTo>
                  <a:pt x="0" y="0"/>
                </a:moveTo>
                <a:lnTo>
                  <a:pt x="1977643" y="0"/>
                </a:lnTo>
                <a:lnTo>
                  <a:pt x="2680716" y="1952244"/>
                </a:lnTo>
                <a:lnTo>
                  <a:pt x="703071"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119549" y="1323450"/>
            <a:ext cx="2680340" cy="3900581"/>
          </a:xfrm>
          <a:custGeom>
            <a:avLst/>
            <a:gdLst/>
            <a:ahLst/>
            <a:cxnLst/>
            <a:rect l="l" t="t" r="r" b="b"/>
            <a:pathLst>
              <a:path w="2682240" h="3903345">
                <a:moveTo>
                  <a:pt x="1978787" y="0"/>
                </a:moveTo>
                <a:lnTo>
                  <a:pt x="0" y="0"/>
                </a:lnTo>
                <a:lnTo>
                  <a:pt x="0" y="3902964"/>
                </a:lnTo>
                <a:lnTo>
                  <a:pt x="1978787" y="3902964"/>
                </a:lnTo>
                <a:lnTo>
                  <a:pt x="2682240" y="1952244"/>
                </a:lnTo>
                <a:lnTo>
                  <a:pt x="1978787"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119549" y="1323450"/>
            <a:ext cx="2680340" cy="3900581"/>
          </a:xfrm>
          <a:custGeom>
            <a:avLst/>
            <a:gdLst/>
            <a:ahLst/>
            <a:cxnLst/>
            <a:rect l="l" t="t" r="r" b="b"/>
            <a:pathLst>
              <a:path w="2682240" h="3903345">
                <a:moveTo>
                  <a:pt x="0" y="0"/>
                </a:moveTo>
                <a:lnTo>
                  <a:pt x="1978787" y="0"/>
                </a:lnTo>
                <a:lnTo>
                  <a:pt x="2682240" y="1952244"/>
                </a:lnTo>
                <a:lnTo>
                  <a:pt x="1978787" y="3902964"/>
                </a:lnTo>
                <a:lnTo>
                  <a:pt x="0" y="3902964"/>
                </a:lnTo>
                <a:lnTo>
                  <a:pt x="0" y="1952244"/>
                </a:lnTo>
                <a:lnTo>
                  <a:pt x="0" y="0"/>
                </a:lnTo>
                <a:close/>
              </a:path>
            </a:pathLst>
          </a:custGeom>
          <a:ln w="28575">
            <a:solidFill>
              <a:srgbClr val="0066CC"/>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169043" y="1538944"/>
            <a:ext cx="1926495" cy="3359944"/>
          </a:xfrm>
          <a:custGeom>
            <a:avLst/>
            <a:gdLst/>
            <a:ahLst/>
            <a:cxnLst/>
            <a:rect l="l" t="t" r="r" b="b"/>
            <a:pathLst>
              <a:path w="1927860" h="3362325">
                <a:moveTo>
                  <a:pt x="0" y="3361944"/>
                </a:moveTo>
                <a:lnTo>
                  <a:pt x="1927860" y="3361944"/>
                </a:lnTo>
                <a:lnTo>
                  <a:pt x="1927860" y="0"/>
                </a:lnTo>
                <a:lnTo>
                  <a:pt x="0" y="0"/>
                </a:lnTo>
                <a:lnTo>
                  <a:pt x="0" y="3361944"/>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txBox="1"/>
          <p:nvPr/>
        </p:nvSpPr>
        <p:spPr>
          <a:xfrm>
            <a:off x="4964467" y="1535644"/>
            <a:ext cx="104129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大客</a:t>
            </a:r>
            <a:r>
              <a:rPr sz="1600" b="1" spc="-10" dirty="0">
                <a:solidFill>
                  <a:srgbClr val="0066CC"/>
                </a:solidFill>
                <a:latin typeface="微软雅黑" panose="020B0503020204020204" charset="-122"/>
                <a:ea typeface="微软雅黑" panose="020B0503020204020204" charset="-122"/>
                <a:cs typeface="微软雅黑" panose="020B0503020204020204" charset="-122"/>
              </a:rPr>
              <a:t>户规划</a:t>
            </a:r>
            <a:endParaRPr sz="1600">
              <a:latin typeface="微软雅黑" panose="020B0503020204020204" charset="-122"/>
              <a:ea typeface="微软雅黑" panose="020B0503020204020204" charset="-122"/>
              <a:cs typeface="微软雅黑" panose="020B0503020204020204" charset="-122"/>
            </a:endParaRPr>
          </a:p>
        </p:txBody>
      </p:sp>
      <p:sp>
        <p:nvSpPr>
          <p:cNvPr id="16" name="object 16"/>
          <p:cNvSpPr txBox="1"/>
          <p:nvPr/>
        </p:nvSpPr>
        <p:spPr>
          <a:xfrm>
            <a:off x="6933604" y="1535644"/>
            <a:ext cx="1045739"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实施和跟踪</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17" name="object 17"/>
          <p:cNvSpPr txBox="1"/>
          <p:nvPr/>
        </p:nvSpPr>
        <p:spPr>
          <a:xfrm>
            <a:off x="5439110" y="3524071"/>
            <a:ext cx="434032"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组织</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18" name="object 18"/>
          <p:cNvSpPr/>
          <p:nvPr/>
        </p:nvSpPr>
        <p:spPr>
          <a:xfrm>
            <a:off x="4876519" y="3421020"/>
            <a:ext cx="385807" cy="501295"/>
          </a:xfrm>
          <a:custGeom>
            <a:avLst/>
            <a:gdLst/>
            <a:ahLst/>
            <a:cxnLst/>
            <a:rect l="l" t="t" r="r" b="b"/>
            <a:pathLst>
              <a:path w="386079" h="501650">
                <a:moveTo>
                  <a:pt x="188213" y="0"/>
                </a:moveTo>
                <a:lnTo>
                  <a:pt x="146496" y="4355"/>
                </a:lnTo>
                <a:lnTo>
                  <a:pt x="109553" y="17414"/>
                </a:lnTo>
                <a:lnTo>
                  <a:pt x="77396" y="39165"/>
                </a:lnTo>
                <a:lnTo>
                  <a:pt x="50037" y="69595"/>
                </a:lnTo>
                <a:lnTo>
                  <a:pt x="28128" y="107053"/>
                </a:lnTo>
                <a:lnTo>
                  <a:pt x="12493" y="149891"/>
                </a:lnTo>
                <a:lnTo>
                  <a:pt x="3121" y="198112"/>
                </a:lnTo>
                <a:lnTo>
                  <a:pt x="0" y="251713"/>
                </a:lnTo>
                <a:lnTo>
                  <a:pt x="1549" y="289958"/>
                </a:lnTo>
                <a:lnTo>
                  <a:pt x="13983" y="358780"/>
                </a:lnTo>
                <a:lnTo>
                  <a:pt x="38179" y="416647"/>
                </a:lnTo>
                <a:lnTo>
                  <a:pt x="69611" y="459319"/>
                </a:lnTo>
                <a:lnTo>
                  <a:pt x="108547" y="486487"/>
                </a:lnTo>
                <a:lnTo>
                  <a:pt x="160605" y="499961"/>
                </a:lnTo>
                <a:lnTo>
                  <a:pt x="191897" y="501650"/>
                </a:lnTo>
                <a:lnTo>
                  <a:pt x="227782" y="499695"/>
                </a:lnTo>
                <a:lnTo>
                  <a:pt x="286265" y="484022"/>
                </a:lnTo>
                <a:lnTo>
                  <a:pt x="328509" y="452014"/>
                </a:lnTo>
                <a:lnTo>
                  <a:pt x="363370" y="400147"/>
                </a:lnTo>
                <a:lnTo>
                  <a:pt x="366288" y="393700"/>
                </a:lnTo>
                <a:lnTo>
                  <a:pt x="194817" y="393700"/>
                </a:lnTo>
                <a:lnTo>
                  <a:pt x="180578" y="391747"/>
                </a:lnTo>
                <a:lnTo>
                  <a:pt x="146430" y="362457"/>
                </a:lnTo>
                <a:lnTo>
                  <a:pt x="132125" y="317184"/>
                </a:lnTo>
                <a:lnTo>
                  <a:pt x="129794" y="296417"/>
                </a:lnTo>
                <a:lnTo>
                  <a:pt x="385825" y="296417"/>
                </a:lnTo>
                <a:lnTo>
                  <a:pt x="385825" y="275716"/>
                </a:lnTo>
                <a:lnTo>
                  <a:pt x="384468" y="230499"/>
                </a:lnTo>
                <a:lnTo>
                  <a:pt x="382249" y="208279"/>
                </a:lnTo>
                <a:lnTo>
                  <a:pt x="130175" y="208279"/>
                </a:lnTo>
                <a:lnTo>
                  <a:pt x="132244" y="188162"/>
                </a:lnTo>
                <a:lnTo>
                  <a:pt x="144907" y="143763"/>
                </a:lnTo>
                <a:lnTo>
                  <a:pt x="179071" y="111134"/>
                </a:lnTo>
                <a:lnTo>
                  <a:pt x="193548" y="108965"/>
                </a:lnTo>
                <a:lnTo>
                  <a:pt x="358683" y="108965"/>
                </a:lnTo>
                <a:lnTo>
                  <a:pt x="352087" y="93678"/>
                </a:lnTo>
                <a:lnTo>
                  <a:pt x="320567" y="48529"/>
                </a:lnTo>
                <a:lnTo>
                  <a:pt x="278493" y="17573"/>
                </a:lnTo>
                <a:lnTo>
                  <a:pt x="222053" y="1952"/>
                </a:lnTo>
                <a:lnTo>
                  <a:pt x="188213" y="0"/>
                </a:lnTo>
                <a:close/>
              </a:path>
              <a:path w="386079" h="501650">
                <a:moveTo>
                  <a:pt x="252729" y="349757"/>
                </a:moveTo>
                <a:lnTo>
                  <a:pt x="221910" y="386038"/>
                </a:lnTo>
                <a:lnTo>
                  <a:pt x="194817" y="393700"/>
                </a:lnTo>
                <a:lnTo>
                  <a:pt x="366288" y="393700"/>
                </a:lnTo>
                <a:lnTo>
                  <a:pt x="378587" y="366521"/>
                </a:lnTo>
                <a:lnTo>
                  <a:pt x="252729" y="349757"/>
                </a:lnTo>
                <a:close/>
              </a:path>
              <a:path w="386079" h="501650">
                <a:moveTo>
                  <a:pt x="358683" y="108965"/>
                </a:moveTo>
                <a:lnTo>
                  <a:pt x="193548" y="108965"/>
                </a:lnTo>
                <a:lnTo>
                  <a:pt x="206069" y="110396"/>
                </a:lnTo>
                <a:lnTo>
                  <a:pt x="217328" y="114696"/>
                </a:lnTo>
                <a:lnTo>
                  <a:pt x="243278" y="145379"/>
                </a:lnTo>
                <a:lnTo>
                  <a:pt x="253236" y="183566"/>
                </a:lnTo>
                <a:lnTo>
                  <a:pt x="255904" y="208279"/>
                </a:lnTo>
                <a:lnTo>
                  <a:pt x="382249" y="208279"/>
                </a:lnTo>
                <a:lnTo>
                  <a:pt x="380396" y="189722"/>
                </a:lnTo>
                <a:lnTo>
                  <a:pt x="373610" y="153398"/>
                </a:lnTo>
                <a:lnTo>
                  <a:pt x="364109" y="121538"/>
                </a:lnTo>
                <a:lnTo>
                  <a:pt x="358683" y="108965"/>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p:nvPr/>
        </p:nvSpPr>
        <p:spPr>
          <a:xfrm>
            <a:off x="4402256" y="1433354"/>
            <a:ext cx="385807" cy="501295"/>
          </a:xfrm>
          <a:custGeom>
            <a:avLst/>
            <a:gdLst/>
            <a:ahLst/>
            <a:cxnLst/>
            <a:rect l="l" t="t" r="r" b="b"/>
            <a:pathLst>
              <a:path w="386079" h="501650">
                <a:moveTo>
                  <a:pt x="194437" y="0"/>
                </a:moveTo>
                <a:lnTo>
                  <a:pt x="141208" y="5524"/>
                </a:lnTo>
                <a:lnTo>
                  <a:pt x="98551" y="22098"/>
                </a:lnTo>
                <a:lnTo>
                  <a:pt x="63940" y="51315"/>
                </a:lnTo>
                <a:lnTo>
                  <a:pt x="32781" y="95250"/>
                </a:lnTo>
                <a:lnTo>
                  <a:pt x="9858" y="155684"/>
                </a:lnTo>
                <a:lnTo>
                  <a:pt x="1095" y="217354"/>
                </a:lnTo>
                <a:lnTo>
                  <a:pt x="0" y="252856"/>
                </a:lnTo>
                <a:lnTo>
                  <a:pt x="885" y="286529"/>
                </a:lnTo>
                <a:lnTo>
                  <a:pt x="8036" y="343350"/>
                </a:lnTo>
                <a:lnTo>
                  <a:pt x="22278" y="387336"/>
                </a:lnTo>
                <a:lnTo>
                  <a:pt x="42229" y="424725"/>
                </a:lnTo>
                <a:lnTo>
                  <a:pt x="67609" y="456136"/>
                </a:lnTo>
                <a:lnTo>
                  <a:pt x="98038" y="479186"/>
                </a:lnTo>
                <a:lnTo>
                  <a:pt x="133873" y="493613"/>
                </a:lnTo>
                <a:lnTo>
                  <a:pt x="178069" y="500749"/>
                </a:lnTo>
                <a:lnTo>
                  <a:pt x="203453" y="501650"/>
                </a:lnTo>
                <a:lnTo>
                  <a:pt x="229766" y="500249"/>
                </a:lnTo>
                <a:lnTo>
                  <a:pt x="275105" y="489112"/>
                </a:lnTo>
                <a:lnTo>
                  <a:pt x="311155" y="467256"/>
                </a:lnTo>
                <a:lnTo>
                  <a:pt x="340441" y="436205"/>
                </a:lnTo>
                <a:lnTo>
                  <a:pt x="363374" y="396392"/>
                </a:lnTo>
                <a:lnTo>
                  <a:pt x="370603" y="378205"/>
                </a:lnTo>
                <a:lnTo>
                  <a:pt x="196214" y="378205"/>
                </a:lnTo>
                <a:lnTo>
                  <a:pt x="181832" y="376297"/>
                </a:lnTo>
                <a:lnTo>
                  <a:pt x="146685" y="347472"/>
                </a:lnTo>
                <a:lnTo>
                  <a:pt x="132000" y="309737"/>
                </a:lnTo>
                <a:lnTo>
                  <a:pt x="127126" y="257810"/>
                </a:lnTo>
                <a:lnTo>
                  <a:pt x="128363" y="226704"/>
                </a:lnTo>
                <a:lnTo>
                  <a:pt x="138217" y="177210"/>
                </a:lnTo>
                <a:lnTo>
                  <a:pt x="169465" y="134175"/>
                </a:lnTo>
                <a:lnTo>
                  <a:pt x="198120" y="125984"/>
                </a:lnTo>
                <a:lnTo>
                  <a:pt x="368473" y="125984"/>
                </a:lnTo>
                <a:lnTo>
                  <a:pt x="355377" y="93710"/>
                </a:lnTo>
                <a:lnTo>
                  <a:pt x="318897" y="41910"/>
                </a:lnTo>
                <a:lnTo>
                  <a:pt x="266334" y="10477"/>
                </a:lnTo>
                <a:lnTo>
                  <a:pt x="232796" y="2619"/>
                </a:lnTo>
                <a:lnTo>
                  <a:pt x="194437" y="0"/>
                </a:lnTo>
                <a:close/>
              </a:path>
              <a:path w="386079" h="501650">
                <a:moveTo>
                  <a:pt x="264160" y="302767"/>
                </a:moveTo>
                <a:lnTo>
                  <a:pt x="246532" y="349166"/>
                </a:lnTo>
                <a:lnTo>
                  <a:pt x="208287" y="377041"/>
                </a:lnTo>
                <a:lnTo>
                  <a:pt x="196214" y="378205"/>
                </a:lnTo>
                <a:lnTo>
                  <a:pt x="370603" y="378205"/>
                </a:lnTo>
                <a:lnTo>
                  <a:pt x="372446" y="373554"/>
                </a:lnTo>
                <a:lnTo>
                  <a:pt x="379860" y="349009"/>
                </a:lnTo>
                <a:lnTo>
                  <a:pt x="385699" y="322579"/>
                </a:lnTo>
                <a:lnTo>
                  <a:pt x="264160" y="302767"/>
                </a:lnTo>
                <a:close/>
              </a:path>
              <a:path w="386079" h="501650">
                <a:moveTo>
                  <a:pt x="368473" y="125984"/>
                </a:moveTo>
                <a:lnTo>
                  <a:pt x="198120" y="125984"/>
                </a:lnTo>
                <a:lnTo>
                  <a:pt x="210052" y="126960"/>
                </a:lnTo>
                <a:lnTo>
                  <a:pt x="220710" y="129889"/>
                </a:lnTo>
                <a:lnTo>
                  <a:pt x="250825" y="161020"/>
                </a:lnTo>
                <a:lnTo>
                  <a:pt x="258825" y="187960"/>
                </a:lnTo>
                <a:lnTo>
                  <a:pt x="379095" y="164846"/>
                </a:lnTo>
                <a:lnTo>
                  <a:pt x="368831" y="126867"/>
                </a:lnTo>
                <a:lnTo>
                  <a:pt x="368473" y="125984"/>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p:nvPr/>
        </p:nvSpPr>
        <p:spPr>
          <a:xfrm>
            <a:off x="6458199" y="1433354"/>
            <a:ext cx="385807" cy="501295"/>
          </a:xfrm>
          <a:custGeom>
            <a:avLst/>
            <a:gdLst/>
            <a:ahLst/>
            <a:cxnLst/>
            <a:rect l="l" t="t" r="r" b="b"/>
            <a:pathLst>
              <a:path w="386079" h="501650">
                <a:moveTo>
                  <a:pt x="147827" y="127888"/>
                </a:moveTo>
                <a:lnTo>
                  <a:pt x="89074" y="139684"/>
                </a:lnTo>
                <a:lnTo>
                  <a:pt x="41655" y="175005"/>
                </a:lnTo>
                <a:lnTo>
                  <a:pt x="10398" y="232537"/>
                </a:lnTo>
                <a:lnTo>
                  <a:pt x="0" y="311023"/>
                </a:lnTo>
                <a:lnTo>
                  <a:pt x="2357" y="349244"/>
                </a:lnTo>
                <a:lnTo>
                  <a:pt x="21216" y="416732"/>
                </a:lnTo>
                <a:lnTo>
                  <a:pt x="58697" y="470360"/>
                </a:lnTo>
                <a:lnTo>
                  <a:pt x="113371" y="498173"/>
                </a:lnTo>
                <a:lnTo>
                  <a:pt x="147066" y="501650"/>
                </a:lnTo>
                <a:lnTo>
                  <a:pt x="164472" y="500675"/>
                </a:lnTo>
                <a:lnTo>
                  <a:pt x="211835" y="486155"/>
                </a:lnTo>
                <a:lnTo>
                  <a:pt x="247036" y="456116"/>
                </a:lnTo>
                <a:lnTo>
                  <a:pt x="259969" y="440689"/>
                </a:lnTo>
                <a:lnTo>
                  <a:pt x="385699" y="440689"/>
                </a:lnTo>
                <a:lnTo>
                  <a:pt x="385699" y="401319"/>
                </a:lnTo>
                <a:lnTo>
                  <a:pt x="191007" y="401319"/>
                </a:lnTo>
                <a:lnTo>
                  <a:pt x="179459" y="400034"/>
                </a:lnTo>
                <a:lnTo>
                  <a:pt x="143454" y="369226"/>
                </a:lnTo>
                <a:lnTo>
                  <a:pt x="134239" y="316738"/>
                </a:lnTo>
                <a:lnTo>
                  <a:pt x="135237" y="294997"/>
                </a:lnTo>
                <a:lnTo>
                  <a:pt x="150114" y="250062"/>
                </a:lnTo>
                <a:lnTo>
                  <a:pt x="189356" y="230250"/>
                </a:lnTo>
                <a:lnTo>
                  <a:pt x="385699" y="230250"/>
                </a:lnTo>
                <a:lnTo>
                  <a:pt x="385699" y="170941"/>
                </a:lnTo>
                <a:lnTo>
                  <a:pt x="250063" y="170941"/>
                </a:lnTo>
                <a:lnTo>
                  <a:pt x="239799" y="160847"/>
                </a:lnTo>
                <a:lnTo>
                  <a:pt x="228822" y="152098"/>
                </a:lnTo>
                <a:lnTo>
                  <a:pt x="191583" y="133943"/>
                </a:lnTo>
                <a:lnTo>
                  <a:pt x="163111" y="128557"/>
                </a:lnTo>
                <a:lnTo>
                  <a:pt x="147827" y="127888"/>
                </a:lnTo>
                <a:close/>
              </a:path>
              <a:path w="386079" h="501650">
                <a:moveTo>
                  <a:pt x="385699" y="440689"/>
                </a:moveTo>
                <a:lnTo>
                  <a:pt x="259969" y="440689"/>
                </a:lnTo>
                <a:lnTo>
                  <a:pt x="259969" y="493522"/>
                </a:lnTo>
                <a:lnTo>
                  <a:pt x="385699" y="493522"/>
                </a:lnTo>
                <a:lnTo>
                  <a:pt x="385699" y="440689"/>
                </a:lnTo>
                <a:close/>
              </a:path>
              <a:path w="386079" h="501650">
                <a:moveTo>
                  <a:pt x="385699" y="230250"/>
                </a:moveTo>
                <a:lnTo>
                  <a:pt x="189356" y="230250"/>
                </a:lnTo>
                <a:lnTo>
                  <a:pt x="202120" y="231538"/>
                </a:lnTo>
                <a:lnTo>
                  <a:pt x="213741" y="235410"/>
                </a:lnTo>
                <a:lnTo>
                  <a:pt x="241220" y="262647"/>
                </a:lnTo>
                <a:lnTo>
                  <a:pt x="251078" y="313689"/>
                </a:lnTo>
                <a:lnTo>
                  <a:pt x="250007" y="335311"/>
                </a:lnTo>
                <a:lnTo>
                  <a:pt x="233933" y="380746"/>
                </a:lnTo>
                <a:lnTo>
                  <a:pt x="191007" y="401319"/>
                </a:lnTo>
                <a:lnTo>
                  <a:pt x="385699" y="401319"/>
                </a:lnTo>
                <a:lnTo>
                  <a:pt x="385699" y="230250"/>
                </a:lnTo>
                <a:close/>
              </a:path>
              <a:path w="386079" h="501650">
                <a:moveTo>
                  <a:pt x="385699" y="0"/>
                </a:moveTo>
                <a:lnTo>
                  <a:pt x="250063" y="0"/>
                </a:lnTo>
                <a:lnTo>
                  <a:pt x="250063" y="170941"/>
                </a:lnTo>
                <a:lnTo>
                  <a:pt x="385699" y="170941"/>
                </a:lnTo>
                <a:lnTo>
                  <a:pt x="385699"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1" name="object 21"/>
          <p:cNvSpPr/>
          <p:nvPr/>
        </p:nvSpPr>
        <p:spPr>
          <a:xfrm>
            <a:off x="2485914" y="1433354"/>
            <a:ext cx="385807" cy="501295"/>
          </a:xfrm>
          <a:custGeom>
            <a:avLst/>
            <a:gdLst/>
            <a:ahLst/>
            <a:cxnLst/>
            <a:rect l="l" t="t" r="r" b="b"/>
            <a:pathLst>
              <a:path w="386080" h="501650">
                <a:moveTo>
                  <a:pt x="351348" y="440689"/>
                </a:moveTo>
                <a:lnTo>
                  <a:pt x="125603" y="440689"/>
                </a:lnTo>
                <a:lnTo>
                  <a:pt x="138412" y="456027"/>
                </a:lnTo>
                <a:lnTo>
                  <a:pt x="173862" y="486155"/>
                </a:lnTo>
                <a:lnTo>
                  <a:pt x="221243" y="500675"/>
                </a:lnTo>
                <a:lnTo>
                  <a:pt x="238506" y="501650"/>
                </a:lnTo>
                <a:lnTo>
                  <a:pt x="258699" y="500268"/>
                </a:lnTo>
                <a:lnTo>
                  <a:pt x="296227" y="489219"/>
                </a:lnTo>
                <a:lnTo>
                  <a:pt x="329588" y="467098"/>
                </a:lnTo>
                <a:lnTo>
                  <a:pt x="351348" y="440689"/>
                </a:lnTo>
                <a:close/>
              </a:path>
              <a:path w="386080" h="501650">
                <a:moveTo>
                  <a:pt x="135509" y="0"/>
                </a:moveTo>
                <a:lnTo>
                  <a:pt x="0" y="0"/>
                </a:lnTo>
                <a:lnTo>
                  <a:pt x="0" y="493522"/>
                </a:lnTo>
                <a:lnTo>
                  <a:pt x="125603" y="493522"/>
                </a:lnTo>
                <a:lnTo>
                  <a:pt x="125603" y="440689"/>
                </a:lnTo>
                <a:lnTo>
                  <a:pt x="351348" y="440689"/>
                </a:lnTo>
                <a:lnTo>
                  <a:pt x="356068" y="433760"/>
                </a:lnTo>
                <a:lnTo>
                  <a:pt x="366522" y="412876"/>
                </a:lnTo>
                <a:lnTo>
                  <a:pt x="370715" y="401319"/>
                </a:lnTo>
                <a:lnTo>
                  <a:pt x="194691" y="401319"/>
                </a:lnTo>
                <a:lnTo>
                  <a:pt x="182211" y="400012"/>
                </a:lnTo>
                <a:lnTo>
                  <a:pt x="144103" y="368589"/>
                </a:lnTo>
                <a:lnTo>
                  <a:pt x="134619" y="313689"/>
                </a:lnTo>
                <a:lnTo>
                  <a:pt x="135693" y="293993"/>
                </a:lnTo>
                <a:lnTo>
                  <a:pt x="151892" y="250951"/>
                </a:lnTo>
                <a:lnTo>
                  <a:pt x="196596" y="230250"/>
                </a:lnTo>
                <a:lnTo>
                  <a:pt x="374480" y="230250"/>
                </a:lnTo>
                <a:lnTo>
                  <a:pt x="362124" y="200880"/>
                </a:lnTo>
                <a:lnTo>
                  <a:pt x="343788" y="174878"/>
                </a:lnTo>
                <a:lnTo>
                  <a:pt x="339515" y="170941"/>
                </a:lnTo>
                <a:lnTo>
                  <a:pt x="135509" y="170941"/>
                </a:lnTo>
                <a:lnTo>
                  <a:pt x="135509" y="0"/>
                </a:lnTo>
                <a:close/>
              </a:path>
              <a:path w="386080" h="501650">
                <a:moveTo>
                  <a:pt x="374480" y="230250"/>
                </a:moveTo>
                <a:lnTo>
                  <a:pt x="196596" y="230250"/>
                </a:lnTo>
                <a:lnTo>
                  <a:pt x="207577" y="231489"/>
                </a:lnTo>
                <a:lnTo>
                  <a:pt x="217678" y="235203"/>
                </a:lnTo>
                <a:lnTo>
                  <a:pt x="247332" y="275574"/>
                </a:lnTo>
                <a:lnTo>
                  <a:pt x="251275" y="313689"/>
                </a:lnTo>
                <a:lnTo>
                  <a:pt x="250328" y="334706"/>
                </a:lnTo>
                <a:lnTo>
                  <a:pt x="235076" y="380873"/>
                </a:lnTo>
                <a:lnTo>
                  <a:pt x="194691" y="401319"/>
                </a:lnTo>
                <a:lnTo>
                  <a:pt x="370715" y="401319"/>
                </a:lnTo>
                <a:lnTo>
                  <a:pt x="374895" y="389800"/>
                </a:lnTo>
                <a:lnTo>
                  <a:pt x="380920" y="364775"/>
                </a:lnTo>
                <a:lnTo>
                  <a:pt x="384506" y="338081"/>
                </a:lnTo>
                <a:lnTo>
                  <a:pt x="385699" y="309625"/>
                </a:lnTo>
                <a:lnTo>
                  <a:pt x="383079" y="268265"/>
                </a:lnTo>
                <a:lnTo>
                  <a:pt x="375221" y="232013"/>
                </a:lnTo>
                <a:lnTo>
                  <a:pt x="374480" y="230250"/>
                </a:lnTo>
                <a:close/>
              </a:path>
              <a:path w="386080" h="501650">
                <a:moveTo>
                  <a:pt x="237871" y="127888"/>
                </a:moveTo>
                <a:lnTo>
                  <a:pt x="194401" y="133943"/>
                </a:lnTo>
                <a:lnTo>
                  <a:pt x="157035" y="152098"/>
                </a:lnTo>
                <a:lnTo>
                  <a:pt x="135509" y="170941"/>
                </a:lnTo>
                <a:lnTo>
                  <a:pt x="339515" y="170941"/>
                </a:lnTo>
                <a:lnTo>
                  <a:pt x="321452" y="154303"/>
                </a:lnTo>
                <a:lnTo>
                  <a:pt x="296354" y="139620"/>
                </a:lnTo>
                <a:lnTo>
                  <a:pt x="268493" y="130819"/>
                </a:lnTo>
                <a:lnTo>
                  <a:pt x="237871" y="127888"/>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253820" y="1433354"/>
            <a:ext cx="253820" cy="503198"/>
          </a:xfrm>
          <a:custGeom>
            <a:avLst/>
            <a:gdLst/>
            <a:ahLst/>
            <a:cxnLst/>
            <a:rect l="l" t="t" r="r" b="b"/>
            <a:pathLst>
              <a:path w="254000" h="503555">
                <a:moveTo>
                  <a:pt x="237734" y="109600"/>
                </a:moveTo>
                <a:lnTo>
                  <a:pt x="131673" y="109600"/>
                </a:lnTo>
                <a:lnTo>
                  <a:pt x="139160" y="110456"/>
                </a:lnTo>
                <a:lnTo>
                  <a:pt x="145427" y="113014"/>
                </a:lnTo>
                <a:lnTo>
                  <a:pt x="160341" y="155122"/>
                </a:lnTo>
                <a:lnTo>
                  <a:pt x="160743" y="170814"/>
                </a:lnTo>
                <a:lnTo>
                  <a:pt x="152959" y="177319"/>
                </a:lnTo>
                <a:lnTo>
                  <a:pt x="108359" y="204311"/>
                </a:lnTo>
                <a:lnTo>
                  <a:pt x="69164" y="222123"/>
                </a:lnTo>
                <a:lnTo>
                  <a:pt x="50883" y="231838"/>
                </a:lnTo>
                <a:lnTo>
                  <a:pt x="14744" y="274700"/>
                </a:lnTo>
                <a:lnTo>
                  <a:pt x="3686" y="314880"/>
                </a:lnTo>
                <a:lnTo>
                  <a:pt x="0" y="364871"/>
                </a:lnTo>
                <a:lnTo>
                  <a:pt x="1278" y="392947"/>
                </a:lnTo>
                <a:lnTo>
                  <a:pt x="11508" y="442148"/>
                </a:lnTo>
                <a:lnTo>
                  <a:pt x="31875" y="480724"/>
                </a:lnTo>
                <a:lnTo>
                  <a:pt x="80378" y="503174"/>
                </a:lnTo>
                <a:lnTo>
                  <a:pt x="94772" y="501933"/>
                </a:lnTo>
                <a:lnTo>
                  <a:pt x="132499" y="483235"/>
                </a:lnTo>
                <a:lnTo>
                  <a:pt x="157232" y="449516"/>
                </a:lnTo>
                <a:lnTo>
                  <a:pt x="165531" y="433324"/>
                </a:lnTo>
                <a:lnTo>
                  <a:pt x="244579" y="433324"/>
                </a:lnTo>
                <a:lnTo>
                  <a:pt x="244517" y="432556"/>
                </a:lnTo>
                <a:lnTo>
                  <a:pt x="243901" y="420163"/>
                </a:lnTo>
                <a:lnTo>
                  <a:pt x="243531" y="405937"/>
                </a:lnTo>
                <a:lnTo>
                  <a:pt x="243491" y="400685"/>
                </a:lnTo>
                <a:lnTo>
                  <a:pt x="103149" y="400685"/>
                </a:lnTo>
                <a:lnTo>
                  <a:pt x="85169" y="361660"/>
                </a:lnTo>
                <a:lnTo>
                  <a:pt x="84734" y="351281"/>
                </a:lnTo>
                <a:lnTo>
                  <a:pt x="85175" y="342016"/>
                </a:lnTo>
                <a:lnTo>
                  <a:pt x="103378" y="302656"/>
                </a:lnTo>
                <a:lnTo>
                  <a:pt x="133767" y="282424"/>
                </a:lnTo>
                <a:lnTo>
                  <a:pt x="142943" y="276637"/>
                </a:lnTo>
                <a:lnTo>
                  <a:pt x="151935" y="270422"/>
                </a:lnTo>
                <a:lnTo>
                  <a:pt x="160743" y="263778"/>
                </a:lnTo>
                <a:lnTo>
                  <a:pt x="243408" y="263778"/>
                </a:lnTo>
                <a:lnTo>
                  <a:pt x="243408" y="177164"/>
                </a:lnTo>
                <a:lnTo>
                  <a:pt x="243017" y="159976"/>
                </a:lnTo>
                <a:lnTo>
                  <a:pt x="241847" y="142335"/>
                </a:lnTo>
                <a:lnTo>
                  <a:pt x="239890" y="124205"/>
                </a:lnTo>
                <a:lnTo>
                  <a:pt x="237734" y="109600"/>
                </a:lnTo>
                <a:close/>
              </a:path>
              <a:path w="254000" h="503555">
                <a:moveTo>
                  <a:pt x="244579" y="433324"/>
                </a:moveTo>
                <a:lnTo>
                  <a:pt x="165531" y="433324"/>
                </a:lnTo>
                <a:lnTo>
                  <a:pt x="166256" y="443102"/>
                </a:lnTo>
                <a:lnTo>
                  <a:pt x="172481" y="483540"/>
                </a:lnTo>
                <a:lnTo>
                  <a:pt x="174663" y="492251"/>
                </a:lnTo>
                <a:lnTo>
                  <a:pt x="254000" y="492251"/>
                </a:lnTo>
                <a:lnTo>
                  <a:pt x="250968" y="477964"/>
                </a:lnTo>
                <a:lnTo>
                  <a:pt x="248521" y="465010"/>
                </a:lnTo>
                <a:lnTo>
                  <a:pt x="246658" y="453389"/>
                </a:lnTo>
                <a:lnTo>
                  <a:pt x="245376" y="443102"/>
                </a:lnTo>
                <a:lnTo>
                  <a:pt x="244579" y="433324"/>
                </a:lnTo>
                <a:close/>
              </a:path>
              <a:path w="254000" h="503555">
                <a:moveTo>
                  <a:pt x="243408" y="263778"/>
                </a:moveTo>
                <a:lnTo>
                  <a:pt x="160743" y="263778"/>
                </a:lnTo>
                <a:lnTo>
                  <a:pt x="160704" y="295261"/>
                </a:lnTo>
                <a:lnTo>
                  <a:pt x="160426" y="309673"/>
                </a:lnTo>
                <a:lnTo>
                  <a:pt x="155663" y="349250"/>
                </a:lnTo>
                <a:lnTo>
                  <a:pt x="138417" y="385699"/>
                </a:lnTo>
                <a:lnTo>
                  <a:pt x="112153" y="400685"/>
                </a:lnTo>
                <a:lnTo>
                  <a:pt x="243491" y="400685"/>
                </a:lnTo>
                <a:lnTo>
                  <a:pt x="243408" y="263778"/>
                </a:lnTo>
                <a:close/>
              </a:path>
              <a:path w="254000" h="503555">
                <a:moveTo>
                  <a:pt x="120662" y="0"/>
                </a:moveTo>
                <a:lnTo>
                  <a:pt x="76631" y="7619"/>
                </a:lnTo>
                <a:lnTo>
                  <a:pt x="44653" y="29463"/>
                </a:lnTo>
                <a:lnTo>
                  <a:pt x="24618" y="62628"/>
                </a:lnTo>
                <a:lnTo>
                  <a:pt x="12225" y="106870"/>
                </a:lnTo>
                <a:lnTo>
                  <a:pt x="6642" y="148209"/>
                </a:lnTo>
                <a:lnTo>
                  <a:pt x="87439" y="166750"/>
                </a:lnTo>
                <a:lnTo>
                  <a:pt x="90122" y="152370"/>
                </a:lnTo>
                <a:lnTo>
                  <a:pt x="93198" y="140477"/>
                </a:lnTo>
                <a:lnTo>
                  <a:pt x="121939" y="110507"/>
                </a:lnTo>
                <a:lnTo>
                  <a:pt x="131673" y="109600"/>
                </a:lnTo>
                <a:lnTo>
                  <a:pt x="237734" y="109600"/>
                </a:lnTo>
                <a:lnTo>
                  <a:pt x="237172" y="105790"/>
                </a:lnTo>
                <a:lnTo>
                  <a:pt x="225256" y="59267"/>
                </a:lnTo>
                <a:lnTo>
                  <a:pt x="202857" y="23542"/>
                </a:lnTo>
                <a:lnTo>
                  <a:pt x="169263" y="5197"/>
                </a:lnTo>
                <a:lnTo>
                  <a:pt x="138731" y="573"/>
                </a:lnTo>
                <a:lnTo>
                  <a:pt x="120662"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txBox="1"/>
          <p:nvPr/>
        </p:nvSpPr>
        <p:spPr>
          <a:xfrm>
            <a:off x="618712" y="1535644"/>
            <a:ext cx="84204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客户分类</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4" name="object 24"/>
          <p:cNvSpPr txBox="1"/>
          <p:nvPr/>
        </p:nvSpPr>
        <p:spPr>
          <a:xfrm>
            <a:off x="2982893" y="1535644"/>
            <a:ext cx="1045739"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大客户分析</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5" name="object 25"/>
          <p:cNvSpPr/>
          <p:nvPr/>
        </p:nvSpPr>
        <p:spPr>
          <a:xfrm>
            <a:off x="2995584" y="1980591"/>
            <a:ext cx="1057161" cy="639627"/>
          </a:xfrm>
          <a:custGeom>
            <a:avLst/>
            <a:gdLst/>
            <a:ahLst/>
            <a:cxnLst/>
            <a:rect l="l" t="t" r="r" b="b"/>
            <a:pathLst>
              <a:path w="1057910" h="640080">
                <a:moveTo>
                  <a:pt x="0" y="640079"/>
                </a:moveTo>
                <a:lnTo>
                  <a:pt x="1057656" y="640079"/>
                </a:lnTo>
                <a:lnTo>
                  <a:pt x="1057656" y="0"/>
                </a:lnTo>
                <a:lnTo>
                  <a:pt x="0" y="0"/>
                </a:lnTo>
                <a:lnTo>
                  <a:pt x="0" y="64007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6" name="object 26"/>
          <p:cNvSpPr txBox="1"/>
          <p:nvPr/>
        </p:nvSpPr>
        <p:spPr>
          <a:xfrm>
            <a:off x="2995584" y="1980591"/>
            <a:ext cx="1057161" cy="416560"/>
          </a:xfrm>
          <a:prstGeom prst="rect">
            <a:avLst/>
          </a:prstGeom>
          <a:ln w="9525">
            <a:solidFill>
              <a:srgbClr val="91AFFF"/>
            </a:solidFill>
          </a:ln>
        </p:spPr>
        <p:txBody>
          <a:bodyPr vert="horz" wrap="square" lIns="0" tIns="201786" rIns="0" bIns="0" rtlCol="0">
            <a:spAutoFit/>
          </a:bodyPr>
          <a:lstStyle/>
          <a:p>
            <a:pPr marL="71755">
              <a:lnSpc>
                <a:spcPct val="100000"/>
              </a:lnSpc>
              <a:spcBef>
                <a:spcPts val="1590"/>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客户背景</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7" name="object 27"/>
          <p:cNvSpPr/>
          <p:nvPr/>
        </p:nvSpPr>
        <p:spPr>
          <a:xfrm>
            <a:off x="2995584" y="2720730"/>
            <a:ext cx="1057161" cy="517792"/>
          </a:xfrm>
          <a:custGeom>
            <a:avLst/>
            <a:gdLst/>
            <a:ahLst/>
            <a:cxnLst/>
            <a:rect l="l" t="t" r="r" b="b"/>
            <a:pathLst>
              <a:path w="1057910" h="518160">
                <a:moveTo>
                  <a:pt x="0" y="518160"/>
                </a:moveTo>
                <a:lnTo>
                  <a:pt x="1057656" y="518160"/>
                </a:lnTo>
                <a:lnTo>
                  <a:pt x="1057656"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txBox="1"/>
          <p:nvPr/>
        </p:nvSpPr>
        <p:spPr>
          <a:xfrm>
            <a:off x="2995584" y="2720730"/>
            <a:ext cx="1057161" cy="464820"/>
          </a:xfrm>
          <a:prstGeom prst="rect">
            <a:avLst/>
          </a:prstGeom>
          <a:ln w="9525">
            <a:solidFill>
              <a:srgbClr val="91AFFF"/>
            </a:solidFill>
          </a:ln>
        </p:spPr>
        <p:txBody>
          <a:bodyPr vert="horz" wrap="square" lIns="0" tIns="34900" rIns="0" bIns="0" rtlCol="0">
            <a:spAutoFit/>
          </a:bodyPr>
          <a:lstStyle/>
          <a:p>
            <a:pPr marL="71755">
              <a:lnSpc>
                <a:spcPct val="100000"/>
              </a:lnSpc>
              <a:spcBef>
                <a:spcPts val="275"/>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客户经济</a:t>
            </a:r>
            <a:endParaRPr sz="1400">
              <a:latin typeface="微软雅黑" panose="020B0503020204020204" charset="-122"/>
              <a:ea typeface="微软雅黑" panose="020B0503020204020204" charset="-122"/>
              <a:cs typeface="微软雅黑" panose="020B0503020204020204" charset="-122"/>
            </a:endParaRPr>
          </a:p>
          <a:p>
            <a:pPr marL="71755">
              <a:lnSpc>
                <a:spcPct val="100000"/>
              </a:lnSpc>
            </a:pPr>
            <a:r>
              <a:rPr sz="1400" dirty="0">
                <a:solidFill>
                  <a:srgbClr val="0066CC"/>
                </a:solidFill>
                <a:latin typeface="微软雅黑" panose="020B0503020204020204" charset="-122"/>
                <a:ea typeface="微软雅黑" panose="020B0503020204020204" charset="-122"/>
                <a:cs typeface="微软雅黑" panose="020B0503020204020204" charset="-122"/>
              </a:rPr>
              <a:t>指标</a:t>
            </a:r>
            <a:endParaRPr sz="1400">
              <a:latin typeface="微软雅黑" panose="020B0503020204020204" charset="-122"/>
              <a:ea typeface="微软雅黑" panose="020B0503020204020204" charset="-122"/>
              <a:cs typeface="微软雅黑" panose="020B0503020204020204" charset="-122"/>
            </a:endParaRPr>
          </a:p>
        </p:txBody>
      </p:sp>
      <p:sp>
        <p:nvSpPr>
          <p:cNvPr id="29" name="object 29"/>
          <p:cNvSpPr/>
          <p:nvPr/>
        </p:nvSpPr>
        <p:spPr>
          <a:xfrm>
            <a:off x="2995584" y="3340559"/>
            <a:ext cx="1057161" cy="516524"/>
          </a:xfrm>
          <a:custGeom>
            <a:avLst/>
            <a:gdLst/>
            <a:ahLst/>
            <a:cxnLst/>
            <a:rect l="l" t="t" r="r" b="b"/>
            <a:pathLst>
              <a:path w="1057910" h="516889">
                <a:moveTo>
                  <a:pt x="0" y="516636"/>
                </a:moveTo>
                <a:lnTo>
                  <a:pt x="1057656" y="516636"/>
                </a:lnTo>
                <a:lnTo>
                  <a:pt x="1057656" y="0"/>
                </a:lnTo>
                <a:lnTo>
                  <a:pt x="0" y="0"/>
                </a:lnTo>
                <a:lnTo>
                  <a:pt x="0" y="51663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0" name="object 30"/>
          <p:cNvSpPr txBox="1"/>
          <p:nvPr/>
        </p:nvSpPr>
        <p:spPr>
          <a:xfrm>
            <a:off x="2995584" y="3340559"/>
            <a:ext cx="1057161" cy="464820"/>
          </a:xfrm>
          <a:prstGeom prst="rect">
            <a:avLst/>
          </a:prstGeom>
          <a:ln w="9525">
            <a:solidFill>
              <a:srgbClr val="91AFFF"/>
            </a:solidFill>
          </a:ln>
        </p:spPr>
        <p:txBody>
          <a:bodyPr vert="horz" wrap="square" lIns="0" tIns="31091" rIns="0" bIns="0" rtlCol="0">
            <a:spAutoFit/>
          </a:bodyPr>
          <a:lstStyle/>
          <a:p>
            <a:pPr marL="71755" marR="86360">
              <a:lnSpc>
                <a:spcPct val="101000"/>
              </a:lnSpc>
              <a:spcBef>
                <a:spcPts val="245"/>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客户关系与 决策流程</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1" name="object 31"/>
          <p:cNvSpPr/>
          <p:nvPr/>
        </p:nvSpPr>
        <p:spPr>
          <a:xfrm>
            <a:off x="2995584" y="3958865"/>
            <a:ext cx="1057161" cy="517792"/>
          </a:xfrm>
          <a:custGeom>
            <a:avLst/>
            <a:gdLst/>
            <a:ahLst/>
            <a:cxnLst/>
            <a:rect l="l" t="t" r="r" b="b"/>
            <a:pathLst>
              <a:path w="1057910" h="518160">
                <a:moveTo>
                  <a:pt x="0" y="518159"/>
                </a:moveTo>
                <a:lnTo>
                  <a:pt x="1057656" y="518159"/>
                </a:lnTo>
                <a:lnTo>
                  <a:pt x="1057656" y="0"/>
                </a:lnTo>
                <a:lnTo>
                  <a:pt x="0" y="0"/>
                </a:lnTo>
                <a:lnTo>
                  <a:pt x="0" y="51815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2" name="object 32"/>
          <p:cNvSpPr txBox="1"/>
          <p:nvPr/>
        </p:nvSpPr>
        <p:spPr>
          <a:xfrm>
            <a:off x="2995584" y="3958865"/>
            <a:ext cx="1057161" cy="355600"/>
          </a:xfrm>
          <a:prstGeom prst="rect">
            <a:avLst/>
          </a:prstGeom>
          <a:ln w="9525">
            <a:solidFill>
              <a:srgbClr val="91AFFF"/>
            </a:solidFill>
          </a:ln>
        </p:spPr>
        <p:txBody>
          <a:bodyPr vert="horz" wrap="square" lIns="0" tIns="140870" rIns="0" bIns="0" rtlCol="0">
            <a:spAutoFit/>
          </a:bodyPr>
          <a:lstStyle/>
          <a:p>
            <a:pPr marL="71755">
              <a:lnSpc>
                <a:spcPct val="100000"/>
              </a:lnSpc>
              <a:spcBef>
                <a:spcPts val="1110"/>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客户需求</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3" name="object 33"/>
          <p:cNvSpPr/>
          <p:nvPr/>
        </p:nvSpPr>
        <p:spPr>
          <a:xfrm>
            <a:off x="2995584" y="4577170"/>
            <a:ext cx="1057161" cy="517792"/>
          </a:xfrm>
          <a:custGeom>
            <a:avLst/>
            <a:gdLst/>
            <a:ahLst/>
            <a:cxnLst/>
            <a:rect l="l" t="t" r="r" b="b"/>
            <a:pathLst>
              <a:path w="1057910" h="518160">
                <a:moveTo>
                  <a:pt x="0" y="518160"/>
                </a:moveTo>
                <a:lnTo>
                  <a:pt x="1057656" y="518160"/>
                </a:lnTo>
                <a:lnTo>
                  <a:pt x="1057656"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4" name="object 34"/>
          <p:cNvSpPr txBox="1"/>
          <p:nvPr/>
        </p:nvSpPr>
        <p:spPr>
          <a:xfrm>
            <a:off x="2995584" y="4577170"/>
            <a:ext cx="1057161" cy="356235"/>
          </a:xfrm>
          <a:prstGeom prst="rect">
            <a:avLst/>
          </a:prstGeom>
          <a:ln w="9525">
            <a:solidFill>
              <a:srgbClr val="91AFFF"/>
            </a:solidFill>
          </a:ln>
        </p:spPr>
        <p:txBody>
          <a:bodyPr vert="horz" wrap="square" lIns="0" tIns="141504" rIns="0" bIns="0" rtlCol="0">
            <a:spAutoFit/>
          </a:bodyPr>
          <a:lstStyle/>
          <a:p>
            <a:pPr marL="71755">
              <a:lnSpc>
                <a:spcPct val="100000"/>
              </a:lnSpc>
              <a:spcBef>
                <a:spcPts val="1115"/>
              </a:spcBef>
            </a:pPr>
            <a:r>
              <a:rPr sz="1400" dirty="0">
                <a:solidFill>
                  <a:srgbClr val="0066CC"/>
                </a:solidFill>
                <a:latin typeface="微软雅黑" panose="020B0503020204020204" charset="-122"/>
                <a:ea typeface="微软雅黑" panose="020B0503020204020204" charset="-122"/>
                <a:cs typeface="微软雅黑" panose="020B0503020204020204" charset="-122"/>
              </a:rPr>
              <a:t>风险分析</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5" name="object 35"/>
          <p:cNvSpPr/>
          <p:nvPr/>
        </p:nvSpPr>
        <p:spPr>
          <a:xfrm>
            <a:off x="5450533" y="3897948"/>
            <a:ext cx="2614982" cy="335043"/>
          </a:xfrm>
          <a:custGeom>
            <a:avLst/>
            <a:gdLst/>
            <a:ahLst/>
            <a:cxnLst/>
            <a:rect l="l" t="t" r="r" b="b"/>
            <a:pathLst>
              <a:path w="2616834" h="335279">
                <a:moveTo>
                  <a:pt x="0" y="335280"/>
                </a:moveTo>
                <a:lnTo>
                  <a:pt x="2616707" y="335280"/>
                </a:lnTo>
                <a:lnTo>
                  <a:pt x="2616707" y="0"/>
                </a:lnTo>
                <a:lnTo>
                  <a:pt x="0" y="0"/>
                </a:lnTo>
                <a:lnTo>
                  <a:pt x="0" y="33528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6" name="object 36"/>
          <p:cNvSpPr txBox="1"/>
          <p:nvPr/>
        </p:nvSpPr>
        <p:spPr>
          <a:xfrm>
            <a:off x="5450533" y="3897948"/>
            <a:ext cx="2614982" cy="264795"/>
          </a:xfrm>
          <a:prstGeom prst="rect">
            <a:avLst/>
          </a:prstGeom>
          <a:ln w="9525">
            <a:solidFill>
              <a:srgbClr val="91AFFF"/>
            </a:solidFill>
          </a:ln>
        </p:spPr>
        <p:txBody>
          <a:bodyPr vert="horz" wrap="square" lIns="0" tIns="50129" rIns="0" bIns="0" rtlCol="0">
            <a:spAutoFit/>
          </a:bodyPr>
          <a:lstStyle/>
          <a:p>
            <a:pPr marL="73025">
              <a:lnSpc>
                <a:spcPct val="100000"/>
              </a:lnSpc>
              <a:spcBef>
                <a:spcPts val="395"/>
              </a:spcBef>
            </a:pPr>
            <a:r>
              <a:rPr sz="1400" dirty="0">
                <a:solidFill>
                  <a:srgbClr val="0066CC"/>
                </a:solidFill>
                <a:latin typeface="微软雅黑" panose="020B0503020204020204" charset="-122"/>
                <a:ea typeface="微软雅黑" panose="020B0503020204020204" charset="-122"/>
                <a:cs typeface="微软雅黑" panose="020B0503020204020204" charset="-122"/>
              </a:rPr>
              <a:t>大客户管理的组织架构</a:t>
            </a:r>
            <a:r>
              <a:rPr sz="1400" spc="-15" dirty="0">
                <a:solidFill>
                  <a:srgbClr val="0066CC"/>
                </a:solidFill>
                <a:latin typeface="微软雅黑" panose="020B0503020204020204" charset="-122"/>
                <a:ea typeface="微软雅黑" panose="020B0503020204020204" charset="-122"/>
                <a:cs typeface="微软雅黑" panose="020B0503020204020204" charset="-122"/>
              </a:rPr>
              <a:t>设</a:t>
            </a:r>
            <a:r>
              <a:rPr sz="1400" spc="5" dirty="0">
                <a:solidFill>
                  <a:srgbClr val="0066CC"/>
                </a:solidFill>
                <a:latin typeface="微软雅黑" panose="020B0503020204020204" charset="-122"/>
                <a:ea typeface="微软雅黑" panose="020B0503020204020204" charset="-122"/>
                <a:cs typeface="微软雅黑" panose="020B0503020204020204" charset="-122"/>
              </a:rPr>
              <a:t>计</a:t>
            </a:r>
            <a:endParaRPr sz="1400">
              <a:latin typeface="微软雅黑" panose="020B0503020204020204" charset="-122"/>
              <a:ea typeface="微软雅黑" panose="020B0503020204020204" charset="-122"/>
              <a:cs typeface="微软雅黑" panose="020B0503020204020204" charset="-122"/>
            </a:endParaRPr>
          </a:p>
        </p:txBody>
      </p:sp>
      <p:sp>
        <p:nvSpPr>
          <p:cNvPr id="37" name="object 37"/>
          <p:cNvSpPr/>
          <p:nvPr/>
        </p:nvSpPr>
        <p:spPr>
          <a:xfrm>
            <a:off x="4976905" y="1980591"/>
            <a:ext cx="1154882" cy="517792"/>
          </a:xfrm>
          <a:custGeom>
            <a:avLst/>
            <a:gdLst/>
            <a:ahLst/>
            <a:cxnLst/>
            <a:rect l="l" t="t" r="r" b="b"/>
            <a:pathLst>
              <a:path w="1155700" h="518160">
                <a:moveTo>
                  <a:pt x="0" y="518160"/>
                </a:moveTo>
                <a:lnTo>
                  <a:pt x="1155191" y="518160"/>
                </a:lnTo>
                <a:lnTo>
                  <a:pt x="1155191"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8" name="object 38"/>
          <p:cNvSpPr txBox="1"/>
          <p:nvPr/>
        </p:nvSpPr>
        <p:spPr>
          <a:xfrm>
            <a:off x="4976905" y="1980591"/>
            <a:ext cx="1154882" cy="336550"/>
          </a:xfrm>
          <a:prstGeom prst="rect">
            <a:avLst/>
          </a:prstGeom>
          <a:ln w="9525">
            <a:solidFill>
              <a:srgbClr val="91AFFF"/>
            </a:solidFill>
          </a:ln>
        </p:spPr>
        <p:txBody>
          <a:bodyPr vert="horz" wrap="square" lIns="0" tIns="121833" rIns="0" bIns="0" rtlCol="0">
            <a:spAutoFit/>
          </a:bodyPr>
          <a:lstStyle/>
          <a:p>
            <a:pPr marL="72390">
              <a:lnSpc>
                <a:spcPct val="100000"/>
              </a:lnSpc>
              <a:spcBef>
                <a:spcPts val="960"/>
              </a:spcBef>
            </a:pPr>
            <a:r>
              <a:rPr sz="1400" dirty="0">
                <a:solidFill>
                  <a:srgbClr val="0066CC"/>
                </a:solidFill>
                <a:latin typeface="微软雅黑" panose="020B0503020204020204" charset="-122"/>
                <a:ea typeface="微软雅黑" panose="020B0503020204020204" charset="-122"/>
                <a:cs typeface="微软雅黑" panose="020B0503020204020204" charset="-122"/>
              </a:rPr>
              <a:t>战略规划</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9" name="object 39"/>
          <p:cNvSpPr/>
          <p:nvPr/>
        </p:nvSpPr>
        <p:spPr>
          <a:xfrm>
            <a:off x="4976905" y="2560823"/>
            <a:ext cx="1154882" cy="517792"/>
          </a:xfrm>
          <a:custGeom>
            <a:avLst/>
            <a:gdLst/>
            <a:ahLst/>
            <a:cxnLst/>
            <a:rect l="l" t="t" r="r" b="b"/>
            <a:pathLst>
              <a:path w="1155700" h="518160">
                <a:moveTo>
                  <a:pt x="0" y="518160"/>
                </a:moveTo>
                <a:lnTo>
                  <a:pt x="1155191" y="518160"/>
                </a:lnTo>
                <a:lnTo>
                  <a:pt x="1155191"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0" name="object 40"/>
          <p:cNvSpPr txBox="1"/>
          <p:nvPr/>
        </p:nvSpPr>
        <p:spPr>
          <a:xfrm>
            <a:off x="4976905" y="2560823"/>
            <a:ext cx="1154882" cy="336550"/>
          </a:xfrm>
          <a:prstGeom prst="rect">
            <a:avLst/>
          </a:prstGeom>
          <a:ln w="9525">
            <a:solidFill>
              <a:srgbClr val="91AFFF"/>
            </a:solidFill>
          </a:ln>
        </p:spPr>
        <p:txBody>
          <a:bodyPr vert="horz" wrap="square" lIns="0" tIns="121833" rIns="0" bIns="0" rtlCol="0">
            <a:spAutoFit/>
          </a:bodyPr>
          <a:lstStyle/>
          <a:p>
            <a:pPr marL="72390">
              <a:lnSpc>
                <a:spcPct val="100000"/>
              </a:lnSpc>
              <a:spcBef>
                <a:spcPts val="960"/>
              </a:spcBef>
            </a:pPr>
            <a:r>
              <a:rPr sz="1400" dirty="0">
                <a:solidFill>
                  <a:srgbClr val="0066CC"/>
                </a:solidFill>
                <a:latin typeface="微软雅黑" panose="020B0503020204020204" charset="-122"/>
                <a:ea typeface="微软雅黑" panose="020B0503020204020204" charset="-122"/>
                <a:cs typeface="微软雅黑" panose="020B0503020204020204" charset="-122"/>
              </a:rPr>
              <a:t>行动计划</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1" name="object 41"/>
          <p:cNvSpPr/>
          <p:nvPr/>
        </p:nvSpPr>
        <p:spPr>
          <a:xfrm>
            <a:off x="6944518" y="1980591"/>
            <a:ext cx="1156151" cy="306488"/>
          </a:xfrm>
          <a:custGeom>
            <a:avLst/>
            <a:gdLst/>
            <a:ahLst/>
            <a:cxnLst/>
            <a:rect l="l" t="t" r="r" b="b"/>
            <a:pathLst>
              <a:path w="1156970" h="306705">
                <a:moveTo>
                  <a:pt x="0" y="306324"/>
                </a:moveTo>
                <a:lnTo>
                  <a:pt x="1156716" y="306324"/>
                </a:lnTo>
                <a:lnTo>
                  <a:pt x="1156716" y="0"/>
                </a:lnTo>
                <a:lnTo>
                  <a:pt x="0" y="0"/>
                </a:lnTo>
                <a:lnTo>
                  <a:pt x="0" y="30632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2" name="object 42"/>
          <p:cNvSpPr/>
          <p:nvPr/>
        </p:nvSpPr>
        <p:spPr>
          <a:xfrm>
            <a:off x="6944518" y="2330862"/>
            <a:ext cx="1156151" cy="306488"/>
          </a:xfrm>
          <a:custGeom>
            <a:avLst/>
            <a:gdLst/>
            <a:ahLst/>
            <a:cxnLst/>
            <a:rect l="l" t="t" r="r" b="b"/>
            <a:pathLst>
              <a:path w="1156970" h="306705">
                <a:moveTo>
                  <a:pt x="0" y="306324"/>
                </a:moveTo>
                <a:lnTo>
                  <a:pt x="1156716" y="306324"/>
                </a:lnTo>
                <a:lnTo>
                  <a:pt x="1156716" y="0"/>
                </a:lnTo>
                <a:lnTo>
                  <a:pt x="0" y="0"/>
                </a:lnTo>
                <a:lnTo>
                  <a:pt x="0" y="30632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3" name="object 43"/>
          <p:cNvSpPr/>
          <p:nvPr/>
        </p:nvSpPr>
        <p:spPr>
          <a:xfrm>
            <a:off x="6944518" y="2682657"/>
            <a:ext cx="1156151" cy="517792"/>
          </a:xfrm>
          <a:custGeom>
            <a:avLst/>
            <a:gdLst/>
            <a:ahLst/>
            <a:cxnLst/>
            <a:rect l="l" t="t" r="r" b="b"/>
            <a:pathLst>
              <a:path w="1156970" h="518160">
                <a:moveTo>
                  <a:pt x="0" y="518160"/>
                </a:moveTo>
                <a:lnTo>
                  <a:pt x="1156716" y="518160"/>
                </a:lnTo>
                <a:lnTo>
                  <a:pt x="1156716"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graphicFrame>
        <p:nvGraphicFramePr>
          <p:cNvPr id="44" name="object 44"/>
          <p:cNvGraphicFramePr>
            <a:graphicFrameLocks noGrp="1"/>
          </p:cNvGraphicFramePr>
          <p:nvPr/>
        </p:nvGraphicFramePr>
        <p:xfrm>
          <a:off x="6939759" y="1975831"/>
          <a:ext cx="1170305" cy="1229360"/>
        </p:xfrm>
        <a:graphic>
          <a:graphicData uri="http://schemas.openxmlformats.org/drawingml/2006/table">
            <a:tbl>
              <a:tblPr firstRow="1" bandRow="1">
                <a:tableStyleId>{2D5ABB26-0587-4C30-8999-92F81FD0307C}</a:tableStyleId>
              </a:tblPr>
              <a:tblGrid>
                <a:gridCol w="1170305"/>
              </a:tblGrid>
              <a:tr h="330835">
                <a:tc>
                  <a:txBody>
                    <a:bodyPr/>
                    <a:lstStyle/>
                    <a:p>
                      <a:pPr marL="73660">
                        <a:lnSpc>
                          <a:spcPct val="100000"/>
                        </a:lnSpc>
                        <a:spcBef>
                          <a:spcPts val="275"/>
                        </a:spcBef>
                      </a:pPr>
                      <a:r>
                        <a:rPr sz="1400" dirty="0">
                          <a:solidFill>
                            <a:srgbClr val="0066CC"/>
                          </a:solidFill>
                          <a:latin typeface="微软雅黑" panose="020B0503020204020204" charset="-122"/>
                          <a:ea typeface="微软雅黑" panose="020B0503020204020204" charset="-122"/>
                          <a:cs typeface="微软雅黑" panose="020B0503020204020204" charset="-122"/>
                        </a:rPr>
                        <a:t>价值销售</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a:txBody>
                  <a:tcPr marL="0" marR="0" marT="34900" marB="0">
                    <a:lnL w="9525">
                      <a:solidFill>
                        <a:srgbClr val="91AFFF"/>
                      </a:solidFill>
                      <a:prstDash val="solid"/>
                    </a:lnL>
                    <a:lnR w="9525">
                      <a:solidFill>
                        <a:srgbClr val="91AFFF"/>
                      </a:solidFill>
                      <a:prstDash val="solid"/>
                    </a:lnR>
                    <a:lnT w="9525">
                      <a:solidFill>
                        <a:srgbClr val="91AFFF"/>
                      </a:solidFill>
                      <a:prstDash val="solid"/>
                    </a:lnT>
                    <a:lnB w="9525">
                      <a:solidFill>
                        <a:srgbClr val="91AFFF"/>
                      </a:solidFill>
                      <a:prstDash val="solid"/>
                    </a:lnB>
                    <a:solidFill>
                      <a:srgbClr val="C6DFFA"/>
                    </a:solidFill>
                  </a:tcPr>
                </a:tc>
              </a:tr>
              <a:tr h="353695">
                <a:tc>
                  <a:txBody>
                    <a:bodyPr/>
                    <a:lstStyle/>
                    <a:p>
                      <a:pPr marL="73660">
                        <a:lnSpc>
                          <a:spcPct val="100000"/>
                        </a:lnSpc>
                        <a:spcBef>
                          <a:spcPts val="455"/>
                        </a:spcBef>
                      </a:pPr>
                      <a:r>
                        <a:rPr sz="1400" dirty="0">
                          <a:solidFill>
                            <a:srgbClr val="0066CC"/>
                          </a:solidFill>
                          <a:latin typeface="微软雅黑" panose="020B0503020204020204" charset="-122"/>
                          <a:ea typeface="微软雅黑" panose="020B0503020204020204" charset="-122"/>
                          <a:cs typeface="微软雅黑" panose="020B0503020204020204" charset="-122"/>
                        </a:rPr>
                        <a:t>谈判</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a:txBody>
                  <a:tcPr marL="0" marR="0" marT="57744" marB="0">
                    <a:lnL w="9525">
                      <a:solidFill>
                        <a:srgbClr val="91AFFF"/>
                      </a:solidFill>
                      <a:prstDash val="solid"/>
                    </a:lnL>
                    <a:lnR w="9525">
                      <a:solidFill>
                        <a:srgbClr val="91AFFF"/>
                      </a:solidFill>
                      <a:prstDash val="solid"/>
                    </a:lnR>
                    <a:lnT w="9525">
                      <a:solidFill>
                        <a:srgbClr val="91AFFF"/>
                      </a:solidFill>
                      <a:prstDash val="solid"/>
                    </a:lnT>
                    <a:lnB w="9525">
                      <a:solidFill>
                        <a:srgbClr val="91AFFF"/>
                      </a:solidFill>
                      <a:prstDash val="solid"/>
                    </a:lnB>
                    <a:solidFill>
                      <a:srgbClr val="C6DFFA"/>
                    </a:solidFill>
                  </a:tcPr>
                </a:tc>
              </a:tr>
              <a:tr h="544830">
                <a:tc>
                  <a:txBody>
                    <a:bodyPr/>
                    <a:lstStyle/>
                    <a:p>
                      <a:pPr marL="73660">
                        <a:lnSpc>
                          <a:spcPct val="100000"/>
                        </a:lnSpc>
                        <a:spcBef>
                          <a:spcPts val="1295"/>
                        </a:spcBef>
                      </a:pPr>
                      <a:r>
                        <a:rPr sz="1400" dirty="0">
                          <a:solidFill>
                            <a:srgbClr val="0066CC"/>
                          </a:solidFill>
                          <a:latin typeface="微软雅黑" panose="020B0503020204020204" charset="-122"/>
                          <a:ea typeface="微软雅黑" panose="020B0503020204020204" charset="-122"/>
                          <a:cs typeface="微软雅黑" panose="020B0503020204020204" charset="-122"/>
                        </a:rPr>
                        <a:t>绩效管理</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a:txBody>
                  <a:tcPr marL="0" marR="0" marT="164348" marB="0">
                    <a:lnL w="9525">
                      <a:solidFill>
                        <a:srgbClr val="91AFFF"/>
                      </a:solidFill>
                      <a:prstDash val="solid"/>
                    </a:lnL>
                    <a:lnR w="9525">
                      <a:solidFill>
                        <a:srgbClr val="91AFFF"/>
                      </a:solidFill>
                      <a:prstDash val="solid"/>
                    </a:lnR>
                    <a:lnT w="9525">
                      <a:solidFill>
                        <a:srgbClr val="91AFFF"/>
                      </a:solidFill>
                      <a:prstDash val="solid"/>
                    </a:lnT>
                    <a:lnB w="9525">
                      <a:solidFill>
                        <a:srgbClr val="91AFFF"/>
                      </a:solidFill>
                      <a:prstDash val="solid"/>
                    </a:lnB>
                    <a:solidFill>
                      <a:srgbClr val="C6DFFA"/>
                    </a:solidFill>
                  </a:tcPr>
                </a:tc>
              </a:tr>
            </a:tbl>
          </a:graphicData>
        </a:graphic>
      </p:graphicFrame>
      <p:sp>
        <p:nvSpPr>
          <p:cNvPr id="45" name="object 45"/>
          <p:cNvSpPr/>
          <p:nvPr/>
        </p:nvSpPr>
        <p:spPr>
          <a:xfrm>
            <a:off x="632011" y="1980591"/>
            <a:ext cx="1488020" cy="517792"/>
          </a:xfrm>
          <a:custGeom>
            <a:avLst/>
            <a:gdLst/>
            <a:ahLst/>
            <a:cxnLst/>
            <a:rect l="l" t="t" r="r" b="b"/>
            <a:pathLst>
              <a:path w="1489075" h="518160">
                <a:moveTo>
                  <a:pt x="0" y="518160"/>
                </a:moveTo>
                <a:lnTo>
                  <a:pt x="1488948" y="518160"/>
                </a:lnTo>
                <a:lnTo>
                  <a:pt x="1488948" y="0"/>
                </a:lnTo>
                <a:lnTo>
                  <a:pt x="0" y="0"/>
                </a:lnTo>
                <a:lnTo>
                  <a:pt x="0" y="51816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6" name="object 46"/>
          <p:cNvSpPr txBox="1"/>
          <p:nvPr/>
        </p:nvSpPr>
        <p:spPr>
          <a:xfrm>
            <a:off x="632011" y="1980591"/>
            <a:ext cx="1488020" cy="464185"/>
          </a:xfrm>
          <a:prstGeom prst="rect">
            <a:avLst/>
          </a:prstGeom>
          <a:ln w="9525">
            <a:solidFill>
              <a:srgbClr val="0066CC"/>
            </a:solidFill>
          </a:ln>
        </p:spPr>
        <p:txBody>
          <a:bodyPr vert="horz" wrap="square" lIns="0" tIns="34265" rIns="0" bIns="0" rtlCol="0">
            <a:spAutoFit/>
          </a:bodyPr>
          <a:lstStyle/>
          <a:p>
            <a:pPr marL="71120" marR="518795">
              <a:lnSpc>
                <a:spcPct val="100000"/>
              </a:lnSpc>
              <a:spcBef>
                <a:spcPts val="270"/>
              </a:spcBef>
            </a:pPr>
            <a:r>
              <a:rPr sz="1400" dirty="0">
                <a:solidFill>
                  <a:srgbClr val="0066CC"/>
                </a:solidFill>
                <a:latin typeface="微软雅黑" panose="020B0503020204020204" charset="-122"/>
                <a:ea typeface="微软雅黑" panose="020B0503020204020204" charset="-122"/>
                <a:cs typeface="微软雅黑" panose="020B0503020204020204" charset="-122"/>
              </a:rPr>
              <a:t>识别并审核 大客户</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7" name="object 47"/>
          <p:cNvSpPr txBox="1"/>
          <p:nvPr/>
        </p:nvSpPr>
        <p:spPr>
          <a:xfrm>
            <a:off x="106401" y="6412696"/>
            <a:ext cx="2191102"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35"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a:t>
            </a:r>
            <a:r>
              <a:rPr sz="1000" spc="-35"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营销和销售业务部</a:t>
            </a:r>
            <a:endParaRPr sz="10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18279" y="180879"/>
            <a:ext cx="5571986"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客户分类决</a:t>
            </a:r>
            <a:r>
              <a:rPr spc="-10" dirty="0">
                <a:ea typeface="微软雅黑" panose="020B0503020204020204" charset="-122"/>
              </a:rPr>
              <a:t>定客</a:t>
            </a:r>
            <a:r>
              <a:rPr spc="-5" dirty="0">
                <a:ea typeface="微软雅黑" panose="020B0503020204020204" charset="-122"/>
              </a:rPr>
              <a:t>户</a:t>
            </a:r>
            <a:r>
              <a:rPr spc="-10" dirty="0">
                <a:ea typeface="微软雅黑" panose="020B0503020204020204" charset="-122"/>
              </a:rPr>
              <a:t>资源</a:t>
            </a:r>
            <a:r>
              <a:rPr spc="-5" dirty="0">
                <a:ea typeface="微软雅黑" panose="020B0503020204020204" charset="-122"/>
              </a:rPr>
              <a:t>配</a:t>
            </a:r>
            <a:r>
              <a:rPr spc="-10" dirty="0">
                <a:ea typeface="微软雅黑" panose="020B0503020204020204" charset="-122"/>
              </a:rPr>
              <a:t>置，</a:t>
            </a:r>
            <a:r>
              <a:rPr spc="-5" dirty="0">
                <a:ea typeface="微软雅黑" panose="020B0503020204020204" charset="-122"/>
              </a:rPr>
              <a:t>因</a:t>
            </a:r>
            <a:r>
              <a:rPr spc="-10" dirty="0">
                <a:ea typeface="微软雅黑" panose="020B0503020204020204" charset="-122"/>
              </a:rPr>
              <a:t>此是</a:t>
            </a:r>
            <a:r>
              <a:rPr spc="-5" dirty="0">
                <a:ea typeface="微软雅黑" panose="020B0503020204020204" charset="-122"/>
              </a:rPr>
              <a:t>销</a:t>
            </a:r>
            <a:r>
              <a:rPr spc="-10" dirty="0">
                <a:ea typeface="微软雅黑" panose="020B0503020204020204" charset="-122"/>
              </a:rPr>
              <a:t>售战</a:t>
            </a:r>
            <a:r>
              <a:rPr spc="-5" dirty="0">
                <a:ea typeface="微软雅黑" panose="020B0503020204020204" charset="-122"/>
              </a:rPr>
              <a:t>略</a:t>
            </a:r>
            <a:r>
              <a:rPr spc="-10" dirty="0">
                <a:ea typeface="微软雅黑" panose="020B0503020204020204" charset="-122"/>
              </a:rPr>
              <a:t>的基础</a:t>
            </a:r>
            <a:endParaRPr spc="-10" dirty="0">
              <a:ea typeface="微软雅黑" panose="020B0503020204020204" charset="-122"/>
            </a:endParaRPr>
          </a:p>
        </p:txBody>
      </p:sp>
      <p:sp>
        <p:nvSpPr>
          <p:cNvPr id="4" name="object 4"/>
          <p:cNvSpPr txBox="1"/>
          <p:nvPr/>
        </p:nvSpPr>
        <p:spPr>
          <a:xfrm>
            <a:off x="106401" y="6412696"/>
            <a:ext cx="982284"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5" dirty="0">
                <a:latin typeface="微软雅黑" panose="020B0503020204020204" charset="-122"/>
                <a:ea typeface="微软雅黑" panose="020B0503020204020204" charset="-122"/>
                <a:cs typeface="微软雅黑" panose="020B0503020204020204" charset="-122"/>
              </a:rPr>
              <a:t>:</a:t>
            </a:r>
            <a:r>
              <a:rPr sz="1000" spc="-45"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a:t>
            </a:r>
            <a:endParaRPr sz="1000">
              <a:latin typeface="微软雅黑" panose="020B0503020204020204" charset="-122"/>
              <a:ea typeface="微软雅黑" panose="020B0503020204020204" charset="-122"/>
              <a:cs typeface="微软雅黑" panose="020B0503020204020204" charset="-122"/>
            </a:endParaRPr>
          </a:p>
        </p:txBody>
      </p:sp>
      <p:sp>
        <p:nvSpPr>
          <p:cNvPr id="5" name="object 5"/>
          <p:cNvSpPr/>
          <p:nvPr/>
        </p:nvSpPr>
        <p:spPr>
          <a:xfrm>
            <a:off x="4419515" y="751530"/>
            <a:ext cx="4271538" cy="5284408"/>
          </a:xfrm>
          <a:prstGeom prst="rect">
            <a:avLst/>
          </a:prstGeom>
          <a:blipFill>
            <a:blip r:embed="rId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4405048" y="737126"/>
            <a:ext cx="4255294" cy="5268036"/>
          </a:xfrm>
          <a:custGeom>
            <a:avLst/>
            <a:gdLst/>
            <a:ahLst/>
            <a:cxnLst/>
            <a:rect l="l" t="t" r="r" b="b"/>
            <a:pathLst>
              <a:path w="4258309" h="5271770">
                <a:moveTo>
                  <a:pt x="0" y="5271516"/>
                </a:moveTo>
                <a:lnTo>
                  <a:pt x="4258056" y="5271516"/>
                </a:lnTo>
                <a:lnTo>
                  <a:pt x="4258056" y="0"/>
                </a:lnTo>
                <a:lnTo>
                  <a:pt x="0" y="0"/>
                </a:lnTo>
                <a:lnTo>
                  <a:pt x="0" y="5271516"/>
                </a:lnTo>
                <a:close/>
              </a:path>
            </a:pathLst>
          </a:custGeom>
          <a:ln w="19050">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205594" y="751530"/>
            <a:ext cx="4442106" cy="5284408"/>
          </a:xfrm>
          <a:prstGeom prst="rect">
            <a:avLst/>
          </a:prstGeom>
          <a:blipFill>
            <a:blip r:embed="rId2"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191127" y="737126"/>
            <a:ext cx="4425988" cy="5268036"/>
          </a:xfrm>
          <a:custGeom>
            <a:avLst/>
            <a:gdLst/>
            <a:ahLst/>
            <a:cxnLst/>
            <a:rect l="l" t="t" r="r" b="b"/>
            <a:pathLst>
              <a:path w="4429125" h="5271770">
                <a:moveTo>
                  <a:pt x="4028948" y="0"/>
                </a:moveTo>
                <a:lnTo>
                  <a:pt x="0" y="0"/>
                </a:lnTo>
                <a:lnTo>
                  <a:pt x="0" y="5271516"/>
                </a:lnTo>
                <a:lnTo>
                  <a:pt x="4028948" y="5271516"/>
                </a:lnTo>
                <a:lnTo>
                  <a:pt x="4428744" y="2635758"/>
                </a:lnTo>
                <a:lnTo>
                  <a:pt x="4028948" y="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191127" y="737126"/>
            <a:ext cx="4425988" cy="5268036"/>
          </a:xfrm>
          <a:custGeom>
            <a:avLst/>
            <a:gdLst/>
            <a:ahLst/>
            <a:cxnLst/>
            <a:rect l="l" t="t" r="r" b="b"/>
            <a:pathLst>
              <a:path w="4429125" h="5271770">
                <a:moveTo>
                  <a:pt x="0" y="0"/>
                </a:moveTo>
                <a:lnTo>
                  <a:pt x="4028948" y="0"/>
                </a:lnTo>
                <a:lnTo>
                  <a:pt x="4428744" y="2635758"/>
                </a:lnTo>
                <a:lnTo>
                  <a:pt x="4028948" y="5271516"/>
                </a:lnTo>
                <a:lnTo>
                  <a:pt x="0" y="5271516"/>
                </a:lnTo>
                <a:lnTo>
                  <a:pt x="0" y="2635758"/>
                </a:lnTo>
                <a:lnTo>
                  <a:pt x="0" y="0"/>
                </a:lnTo>
                <a:close/>
              </a:path>
            </a:pathLst>
          </a:custGeom>
          <a:ln w="19049">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4556579" y="4781242"/>
            <a:ext cx="1573050" cy="796361"/>
          </a:xfrm>
          <a:custGeom>
            <a:avLst/>
            <a:gdLst/>
            <a:ahLst/>
            <a:cxnLst/>
            <a:rect l="l" t="t" r="r" b="b"/>
            <a:pathLst>
              <a:path w="1574164" h="796925">
                <a:moveTo>
                  <a:pt x="1414271" y="0"/>
                </a:moveTo>
                <a:lnTo>
                  <a:pt x="159384" y="0"/>
                </a:lnTo>
                <a:lnTo>
                  <a:pt x="0" y="796924"/>
                </a:lnTo>
                <a:lnTo>
                  <a:pt x="1573656" y="796924"/>
                </a:lnTo>
                <a:lnTo>
                  <a:pt x="1414271"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4556579" y="4781242"/>
            <a:ext cx="1573050" cy="796361"/>
          </a:xfrm>
          <a:custGeom>
            <a:avLst/>
            <a:gdLst/>
            <a:ahLst/>
            <a:cxnLst/>
            <a:rect l="l" t="t" r="r" b="b"/>
            <a:pathLst>
              <a:path w="1574164" h="796925">
                <a:moveTo>
                  <a:pt x="159384" y="0"/>
                </a:moveTo>
                <a:lnTo>
                  <a:pt x="0" y="796924"/>
                </a:lnTo>
                <a:lnTo>
                  <a:pt x="1573656" y="796924"/>
                </a:lnTo>
                <a:lnTo>
                  <a:pt x="1414271" y="0"/>
                </a:lnTo>
                <a:lnTo>
                  <a:pt x="159384" y="0"/>
                </a:lnTo>
              </a:path>
            </a:pathLst>
          </a:custGeom>
          <a:ln w="9525">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5068279" y="1627273"/>
            <a:ext cx="550790" cy="1382685"/>
          </a:xfrm>
          <a:custGeom>
            <a:avLst/>
            <a:gdLst/>
            <a:ahLst/>
            <a:cxnLst/>
            <a:rect l="l" t="t" r="r" b="b"/>
            <a:pathLst>
              <a:path w="551179" h="1383664">
                <a:moveTo>
                  <a:pt x="275589" y="0"/>
                </a:moveTo>
                <a:lnTo>
                  <a:pt x="0" y="1383665"/>
                </a:lnTo>
                <a:lnTo>
                  <a:pt x="551052" y="1383665"/>
                </a:lnTo>
                <a:lnTo>
                  <a:pt x="275589"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4890098" y="3022268"/>
            <a:ext cx="904234" cy="875679"/>
          </a:xfrm>
          <a:custGeom>
            <a:avLst/>
            <a:gdLst/>
            <a:ahLst/>
            <a:cxnLst/>
            <a:rect l="l" t="t" r="r" b="b"/>
            <a:pathLst>
              <a:path w="904875" h="876300">
                <a:moveTo>
                  <a:pt x="728980" y="0"/>
                </a:moveTo>
                <a:lnTo>
                  <a:pt x="176275" y="0"/>
                </a:lnTo>
                <a:lnTo>
                  <a:pt x="0" y="876173"/>
                </a:lnTo>
                <a:lnTo>
                  <a:pt x="904621" y="876173"/>
                </a:lnTo>
                <a:lnTo>
                  <a:pt x="728980"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4890098" y="3022268"/>
            <a:ext cx="904234" cy="875679"/>
          </a:xfrm>
          <a:custGeom>
            <a:avLst/>
            <a:gdLst/>
            <a:ahLst/>
            <a:cxnLst/>
            <a:rect l="l" t="t" r="r" b="b"/>
            <a:pathLst>
              <a:path w="904875" h="876300">
                <a:moveTo>
                  <a:pt x="0" y="876173"/>
                </a:moveTo>
                <a:lnTo>
                  <a:pt x="904621" y="876173"/>
                </a:lnTo>
                <a:lnTo>
                  <a:pt x="728980" y="0"/>
                </a:lnTo>
                <a:lnTo>
                  <a:pt x="176275" y="0"/>
                </a:lnTo>
                <a:lnTo>
                  <a:pt x="0" y="876173"/>
                </a:lnTo>
              </a:path>
            </a:pathLst>
          </a:custGeom>
          <a:ln w="9525">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4716485" y="3897948"/>
            <a:ext cx="1253237" cy="883293"/>
          </a:xfrm>
          <a:custGeom>
            <a:avLst/>
            <a:gdLst/>
            <a:ahLst/>
            <a:cxnLst/>
            <a:rect l="l" t="t" r="r" b="b"/>
            <a:pathLst>
              <a:path w="1254125" h="883920">
                <a:moveTo>
                  <a:pt x="1077976" y="0"/>
                </a:moveTo>
                <a:lnTo>
                  <a:pt x="175768" y="0"/>
                </a:lnTo>
                <a:lnTo>
                  <a:pt x="0" y="883793"/>
                </a:lnTo>
                <a:lnTo>
                  <a:pt x="1253617" y="883793"/>
                </a:lnTo>
                <a:lnTo>
                  <a:pt x="1077976"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p:nvPr/>
        </p:nvSpPr>
        <p:spPr>
          <a:xfrm>
            <a:off x="4716485" y="3897948"/>
            <a:ext cx="1253237" cy="883293"/>
          </a:xfrm>
          <a:custGeom>
            <a:avLst/>
            <a:gdLst/>
            <a:ahLst/>
            <a:cxnLst/>
            <a:rect l="l" t="t" r="r" b="b"/>
            <a:pathLst>
              <a:path w="1254125" h="883920">
                <a:moveTo>
                  <a:pt x="175768" y="0"/>
                </a:moveTo>
                <a:lnTo>
                  <a:pt x="0" y="883793"/>
                </a:lnTo>
                <a:lnTo>
                  <a:pt x="1253617" y="883793"/>
                </a:lnTo>
                <a:lnTo>
                  <a:pt x="1077976" y="0"/>
                </a:lnTo>
                <a:lnTo>
                  <a:pt x="175768" y="0"/>
                </a:lnTo>
              </a:path>
            </a:pathLst>
          </a:custGeom>
          <a:ln w="9525">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txBox="1"/>
          <p:nvPr/>
        </p:nvSpPr>
        <p:spPr>
          <a:xfrm>
            <a:off x="5261182" y="2514323"/>
            <a:ext cx="171963" cy="257175"/>
          </a:xfrm>
          <a:prstGeom prst="rect">
            <a:avLst/>
          </a:prstGeom>
        </p:spPr>
        <p:txBody>
          <a:bodyPr vert="horz" wrap="square" lIns="0" tIns="12056" rIns="0" bIns="0" rtlCol="0">
            <a:spAutoFit/>
          </a:bodyPr>
          <a:lstStyle/>
          <a:p>
            <a:pPr marL="12700">
              <a:lnSpc>
                <a:spcPct val="100000"/>
              </a:lnSpc>
              <a:spcBef>
                <a:spcPts val="95"/>
              </a:spcBef>
            </a:pPr>
            <a:r>
              <a:rPr sz="1600" b="1" spc="-5" dirty="0">
                <a:solidFill>
                  <a:srgbClr val="FFFFFF"/>
                </a:solidFill>
                <a:latin typeface="微软雅黑" panose="020B0503020204020204" charset="-122"/>
                <a:ea typeface="微软雅黑" panose="020B0503020204020204" charset="-122"/>
                <a:cs typeface="Arial" panose="020B0604020202020204"/>
              </a:rPr>
              <a:t>A</a:t>
            </a:r>
            <a:endParaRPr sz="1600" b="1" spc="-5" dirty="0">
              <a:solidFill>
                <a:srgbClr val="FFFFFF"/>
              </a:solidFill>
              <a:latin typeface="微软雅黑" panose="020B0503020204020204" charset="-122"/>
              <a:ea typeface="微软雅黑" panose="020B0503020204020204" charset="-122"/>
              <a:cs typeface="Arial" panose="020B0604020202020204"/>
            </a:endParaRPr>
          </a:p>
        </p:txBody>
      </p:sp>
      <p:sp>
        <p:nvSpPr>
          <p:cNvPr id="18" name="object 18"/>
          <p:cNvSpPr txBox="1"/>
          <p:nvPr/>
        </p:nvSpPr>
        <p:spPr>
          <a:xfrm>
            <a:off x="5261182" y="3398557"/>
            <a:ext cx="171963" cy="1137285"/>
          </a:xfrm>
          <a:prstGeom prst="rect">
            <a:avLst/>
          </a:prstGeom>
        </p:spPr>
        <p:txBody>
          <a:bodyPr vert="horz" wrap="square" lIns="0" tIns="12056" rIns="0" bIns="0" rtlCol="0">
            <a:spAutoFit/>
          </a:bodyPr>
          <a:lstStyle/>
          <a:p>
            <a:pPr marL="12700">
              <a:lnSpc>
                <a:spcPct val="100000"/>
              </a:lnSpc>
              <a:spcBef>
                <a:spcPts val="95"/>
              </a:spcBef>
            </a:pPr>
            <a:r>
              <a:rPr sz="1600" b="1" spc="-5" dirty="0">
                <a:solidFill>
                  <a:srgbClr val="00295F"/>
                </a:solidFill>
                <a:latin typeface="微软雅黑" panose="020B0503020204020204" charset="-122"/>
                <a:ea typeface="微软雅黑" panose="020B0503020204020204" charset="-122"/>
                <a:cs typeface="Arial" panose="020B0604020202020204"/>
              </a:rPr>
              <a:t>B</a:t>
            </a:r>
            <a:endParaRPr sz="1600">
              <a:latin typeface="微软雅黑" panose="020B0503020204020204" charset="-122"/>
              <a:ea typeface="微软雅黑" panose="020B0503020204020204" charset="-122"/>
              <a:cs typeface="Arial" panose="020B0604020202020204"/>
            </a:endParaRPr>
          </a:p>
          <a:p>
            <a:pPr>
              <a:lnSpc>
                <a:spcPct val="100000"/>
              </a:lnSpc>
            </a:pPr>
            <a:endParaRPr>
              <a:latin typeface="微软雅黑" panose="020B0503020204020204" charset="-122"/>
              <a:ea typeface="微软雅黑" panose="020B0503020204020204" charset="-122"/>
              <a:cs typeface="Times New Roman" panose="02020603050405020304"/>
            </a:endParaRPr>
          </a:p>
          <a:p>
            <a:pPr>
              <a:lnSpc>
                <a:spcPct val="100000"/>
              </a:lnSpc>
              <a:spcBef>
                <a:spcPts val="15"/>
              </a:spcBef>
            </a:pPr>
            <a:endParaRPr sz="2300">
              <a:latin typeface="微软雅黑" panose="020B0503020204020204" charset="-122"/>
              <a:ea typeface="微软雅黑" panose="020B0503020204020204" charset="-122"/>
              <a:cs typeface="Times New Roman" panose="02020603050405020304"/>
            </a:endParaRPr>
          </a:p>
          <a:p>
            <a:pPr marL="12700">
              <a:lnSpc>
                <a:spcPct val="100000"/>
              </a:lnSpc>
              <a:spcBef>
                <a:spcPts val="5"/>
              </a:spcBef>
            </a:pPr>
            <a:r>
              <a:rPr sz="1600" b="1" spc="-5" dirty="0">
                <a:solidFill>
                  <a:srgbClr val="00295F"/>
                </a:solidFill>
                <a:latin typeface="微软雅黑" panose="020B0503020204020204" charset="-122"/>
                <a:ea typeface="微软雅黑" panose="020B0503020204020204" charset="-122"/>
                <a:cs typeface="Arial" panose="020B0604020202020204"/>
              </a:rPr>
              <a:t>C</a:t>
            </a:r>
            <a:endParaRPr sz="1600">
              <a:latin typeface="微软雅黑" panose="020B0503020204020204" charset="-122"/>
              <a:ea typeface="微软雅黑" panose="020B0503020204020204" charset="-122"/>
              <a:cs typeface="Arial" panose="020B0604020202020204"/>
            </a:endParaRPr>
          </a:p>
        </p:txBody>
      </p:sp>
      <p:sp>
        <p:nvSpPr>
          <p:cNvPr id="19" name="object 19"/>
          <p:cNvSpPr txBox="1"/>
          <p:nvPr/>
        </p:nvSpPr>
        <p:spPr>
          <a:xfrm>
            <a:off x="5261182" y="5075927"/>
            <a:ext cx="171963" cy="257175"/>
          </a:xfrm>
          <a:prstGeom prst="rect">
            <a:avLst/>
          </a:prstGeom>
        </p:spPr>
        <p:txBody>
          <a:bodyPr vert="horz" wrap="square" lIns="0" tIns="12056" rIns="0" bIns="0" rtlCol="0">
            <a:spAutoFit/>
          </a:bodyPr>
          <a:lstStyle/>
          <a:p>
            <a:pPr marL="12700">
              <a:lnSpc>
                <a:spcPct val="100000"/>
              </a:lnSpc>
              <a:spcBef>
                <a:spcPts val="95"/>
              </a:spcBef>
            </a:pPr>
            <a:r>
              <a:rPr sz="1600" b="1" spc="-5" dirty="0">
                <a:solidFill>
                  <a:srgbClr val="00295F"/>
                </a:solidFill>
                <a:latin typeface="微软雅黑" panose="020B0503020204020204" charset="-122"/>
                <a:ea typeface="微软雅黑" panose="020B0503020204020204" charset="-122"/>
                <a:cs typeface="Arial" panose="020B0604020202020204"/>
              </a:rPr>
              <a:t>D</a:t>
            </a:r>
            <a:endParaRPr sz="1600" b="1" spc="-5" dirty="0">
              <a:solidFill>
                <a:srgbClr val="00295F"/>
              </a:solidFill>
              <a:latin typeface="微软雅黑" panose="020B0503020204020204" charset="-122"/>
              <a:ea typeface="微软雅黑" panose="020B0503020204020204" charset="-122"/>
              <a:cs typeface="Arial" panose="020B0604020202020204"/>
            </a:endParaRPr>
          </a:p>
        </p:txBody>
      </p:sp>
      <p:sp>
        <p:nvSpPr>
          <p:cNvPr id="20" name="object 20"/>
          <p:cNvSpPr txBox="1"/>
          <p:nvPr/>
        </p:nvSpPr>
        <p:spPr>
          <a:xfrm>
            <a:off x="4469265" y="1189941"/>
            <a:ext cx="4103002" cy="471805"/>
          </a:xfrm>
          <a:prstGeom prst="rect">
            <a:avLst/>
          </a:prstGeom>
        </p:spPr>
        <p:txBody>
          <a:bodyPr vert="horz" wrap="square" lIns="0" tIns="3172" rIns="0" bIns="0" rtlCol="0">
            <a:spAutoFit/>
          </a:bodyPr>
          <a:lstStyle/>
          <a:p>
            <a:pPr>
              <a:lnSpc>
                <a:spcPct val="100000"/>
              </a:lnSpc>
              <a:spcBef>
                <a:spcPts val="25"/>
              </a:spcBef>
            </a:pPr>
            <a:endParaRPr sz="1450">
              <a:latin typeface="微软雅黑" panose="020B0503020204020204" charset="-122"/>
              <a:ea typeface="微软雅黑" panose="020B0503020204020204" charset="-122"/>
              <a:cs typeface="Times New Roman" panose="02020603050405020304"/>
            </a:endParaRPr>
          </a:p>
          <a:p>
            <a:pPr marL="12700">
              <a:lnSpc>
                <a:spcPct val="100000"/>
              </a:lnSpc>
              <a:tabLst>
                <a:tab pos="1605280" algn="l"/>
                <a:tab pos="1816735" algn="l"/>
                <a:tab pos="2882265" algn="l"/>
                <a:tab pos="3027045" algn="l"/>
                <a:tab pos="4092575" algn="l"/>
              </a:tabLst>
            </a:pPr>
            <a:r>
              <a:rPr sz="1600" b="1" u="sng" spc="-5" dirty="0">
                <a:solidFill>
                  <a:srgbClr val="00295F"/>
                </a:solidFill>
                <a:uFill>
                  <a:solidFill>
                    <a:srgbClr val="C6DFFA"/>
                  </a:solidFill>
                </a:uFill>
                <a:latin typeface="微软雅黑" panose="020B0503020204020204" charset="-122"/>
                <a:ea typeface="微软雅黑" panose="020B0503020204020204" charset="-122"/>
                <a:cs typeface="Times New Roman" panose="02020603050405020304"/>
              </a:rPr>
              <a:t> 	</a:t>
            </a:r>
            <a:r>
              <a:rPr sz="1600" b="1" spc="-5" dirty="0">
                <a:solidFill>
                  <a:srgbClr val="00295F"/>
                </a:solidFill>
                <a:latin typeface="微软雅黑" panose="020B0503020204020204" charset="-122"/>
                <a:ea typeface="微软雅黑" panose="020B0503020204020204" charset="-122"/>
                <a:cs typeface="Times New Roman" panose="02020603050405020304"/>
              </a:rPr>
              <a:t>	</a:t>
            </a:r>
            <a:r>
              <a:rPr sz="1600" b="1" u="sng" spc="-5" dirty="0">
                <a:solidFill>
                  <a:srgbClr val="00295F"/>
                </a:solidFill>
                <a:uFill>
                  <a:solidFill>
                    <a:srgbClr val="C6DFFA"/>
                  </a:solidFill>
                </a:uFill>
                <a:latin typeface="微软雅黑" panose="020B0503020204020204" charset="-122"/>
                <a:ea typeface="微软雅黑" panose="020B0503020204020204" charset="-122"/>
                <a:cs typeface="Times New Roman" panose="02020603050405020304"/>
              </a:rPr>
              <a:t> 	</a:t>
            </a:r>
            <a:r>
              <a:rPr sz="1600" b="1" spc="-5" dirty="0">
                <a:solidFill>
                  <a:srgbClr val="00295F"/>
                </a:solidFill>
                <a:latin typeface="微软雅黑" panose="020B0503020204020204" charset="-122"/>
                <a:ea typeface="微软雅黑" panose="020B0503020204020204" charset="-122"/>
                <a:cs typeface="Times New Roman" panose="02020603050405020304"/>
              </a:rPr>
              <a:t>	</a:t>
            </a:r>
            <a:r>
              <a:rPr sz="1600" b="1" u="sng" spc="-5" dirty="0">
                <a:solidFill>
                  <a:srgbClr val="00295F"/>
                </a:solidFill>
                <a:uFill>
                  <a:solidFill>
                    <a:srgbClr val="C6DFFA"/>
                  </a:solidFill>
                </a:uFill>
                <a:latin typeface="微软雅黑" panose="020B0503020204020204" charset="-122"/>
                <a:ea typeface="微软雅黑" panose="020B0503020204020204" charset="-122"/>
                <a:cs typeface="Times New Roman" panose="02020603050405020304"/>
              </a:rPr>
              <a:t> 	</a:t>
            </a:r>
            <a:endParaRPr sz="1600">
              <a:latin typeface="微软雅黑" panose="020B0503020204020204" charset="-122"/>
              <a:ea typeface="微软雅黑" panose="020B0503020204020204" charset="-122"/>
              <a:cs typeface="Times New Roman" panose="02020603050405020304"/>
            </a:endParaRPr>
          </a:p>
        </p:txBody>
      </p:sp>
      <p:sp>
        <p:nvSpPr>
          <p:cNvPr id="21" name="object 21"/>
          <p:cNvSpPr txBox="1"/>
          <p:nvPr/>
        </p:nvSpPr>
        <p:spPr>
          <a:xfrm>
            <a:off x="361643" y="811935"/>
            <a:ext cx="3880275" cy="2065655"/>
          </a:xfrm>
          <a:prstGeom prst="rect">
            <a:avLst/>
          </a:prstGeom>
        </p:spPr>
        <p:txBody>
          <a:bodyPr vert="horz" wrap="square" lIns="0" tIns="48860" rIns="0" bIns="0" rtlCol="0">
            <a:spAutoFit/>
          </a:bodyPr>
          <a:lstStyle/>
          <a:p>
            <a:pPr marL="12700">
              <a:lnSpc>
                <a:spcPct val="100000"/>
              </a:lnSpc>
              <a:spcBef>
                <a:spcPts val="385"/>
              </a:spcBef>
            </a:pPr>
            <a:r>
              <a:rPr sz="1600" b="1" dirty="0">
                <a:solidFill>
                  <a:srgbClr val="00295F"/>
                </a:solidFill>
                <a:latin typeface="微软雅黑" panose="020B0503020204020204" charset="-122"/>
                <a:ea typeface="微软雅黑" panose="020B0503020204020204" charset="-122"/>
                <a:cs typeface="微软雅黑" panose="020B0503020204020204" charset="-122"/>
              </a:rPr>
              <a:t>客户分</a:t>
            </a:r>
            <a:r>
              <a:rPr sz="1600" b="1" spc="-5" dirty="0">
                <a:solidFill>
                  <a:srgbClr val="00295F"/>
                </a:solidFill>
                <a:latin typeface="微软雅黑" panose="020B0503020204020204" charset="-122"/>
                <a:ea typeface="微软雅黑" panose="020B0503020204020204" charset="-122"/>
                <a:cs typeface="微软雅黑" panose="020B0503020204020204" charset="-122"/>
              </a:rPr>
              <a:t>类</a:t>
            </a:r>
            <a:r>
              <a:rPr sz="1600" spc="-5" dirty="0">
                <a:latin typeface="微软雅黑" panose="020B0503020204020204" charset="-122"/>
                <a:ea typeface="微软雅黑" panose="020B0503020204020204" charset="-122"/>
                <a:cs typeface="微软雅黑" panose="020B0503020204020204" charset="-122"/>
              </a:rPr>
              <a:t>是</a:t>
            </a:r>
            <a:r>
              <a:rPr sz="1600" b="1" dirty="0">
                <a:solidFill>
                  <a:srgbClr val="00295F"/>
                </a:solidFill>
                <a:latin typeface="微软雅黑" panose="020B0503020204020204" charset="-122"/>
                <a:ea typeface="微软雅黑" panose="020B0503020204020204" charset="-122"/>
                <a:cs typeface="微软雅黑" panose="020B0503020204020204" charset="-122"/>
              </a:rPr>
              <a:t>销</a:t>
            </a:r>
            <a:r>
              <a:rPr sz="1600" b="1" spc="-10" dirty="0">
                <a:solidFill>
                  <a:srgbClr val="00295F"/>
                </a:solidFill>
                <a:latin typeface="微软雅黑" panose="020B0503020204020204" charset="-122"/>
                <a:ea typeface="微软雅黑" panose="020B0503020204020204" charset="-122"/>
                <a:cs typeface="微软雅黑" panose="020B0503020204020204" charset="-122"/>
              </a:rPr>
              <a:t>售</a:t>
            </a:r>
            <a:r>
              <a:rPr sz="1600" b="1" dirty="0">
                <a:solidFill>
                  <a:srgbClr val="00295F"/>
                </a:solidFill>
                <a:latin typeface="微软雅黑" panose="020B0503020204020204" charset="-122"/>
                <a:ea typeface="微软雅黑" panose="020B0503020204020204" charset="-122"/>
                <a:cs typeface="微软雅黑" panose="020B0503020204020204" charset="-122"/>
              </a:rPr>
              <a:t>战</a:t>
            </a:r>
            <a:r>
              <a:rPr sz="1600" b="1" spc="-10" dirty="0">
                <a:solidFill>
                  <a:srgbClr val="00295F"/>
                </a:solidFill>
                <a:latin typeface="微软雅黑" panose="020B0503020204020204" charset="-122"/>
                <a:ea typeface="微软雅黑" panose="020B0503020204020204" charset="-122"/>
                <a:cs typeface="微软雅黑" panose="020B0503020204020204" charset="-122"/>
              </a:rPr>
              <a:t>略的</a:t>
            </a:r>
            <a:r>
              <a:rPr sz="1600" b="1" dirty="0">
                <a:solidFill>
                  <a:srgbClr val="00295F"/>
                </a:solidFill>
                <a:latin typeface="微软雅黑" panose="020B0503020204020204" charset="-122"/>
                <a:ea typeface="微软雅黑" panose="020B0503020204020204" charset="-122"/>
                <a:cs typeface="微软雅黑" panose="020B0503020204020204" charset="-122"/>
              </a:rPr>
              <a:t>第</a:t>
            </a:r>
            <a:r>
              <a:rPr sz="1600" b="1" spc="-10" dirty="0">
                <a:solidFill>
                  <a:srgbClr val="00295F"/>
                </a:solidFill>
                <a:latin typeface="微软雅黑" panose="020B0503020204020204" charset="-122"/>
                <a:ea typeface="微软雅黑" panose="020B0503020204020204" charset="-122"/>
                <a:cs typeface="微软雅黑" panose="020B0503020204020204" charset="-122"/>
              </a:rPr>
              <a:t>一步</a:t>
            </a:r>
            <a:endParaRPr sz="1600">
              <a:latin typeface="微软雅黑" panose="020B0503020204020204" charset="-122"/>
              <a:ea typeface="微软雅黑" panose="020B0503020204020204" charset="-122"/>
              <a:cs typeface="微软雅黑" panose="020B0503020204020204" charset="-122"/>
            </a:endParaRPr>
          </a:p>
          <a:p>
            <a:pPr marL="206375" indent="-193040" algn="just">
              <a:lnSpc>
                <a:spcPct val="100000"/>
              </a:lnSpc>
              <a:spcBef>
                <a:spcPts val="770"/>
              </a:spcBef>
              <a:buClr>
                <a:srgbClr val="00295F"/>
              </a:buClr>
              <a:buSzPct val="125000"/>
              <a:buFont typeface="Arial" panose="020B0604020202020204"/>
              <a:buChar char="▪"/>
              <a:tabLst>
                <a:tab pos="207010" algn="l"/>
              </a:tabLst>
            </a:pPr>
            <a:r>
              <a:rPr sz="1600" spc="-5" dirty="0">
                <a:latin typeface="微软雅黑" panose="020B0503020204020204" charset="-122"/>
                <a:ea typeface="微软雅黑" panose="020B0503020204020204" charset="-122"/>
                <a:cs typeface="微软雅黑" panose="020B0503020204020204" charset="-122"/>
              </a:rPr>
              <a:t>对直接和间接客户名单实施</a:t>
            </a:r>
            <a:r>
              <a:rPr sz="1600" b="1" dirty="0">
                <a:solidFill>
                  <a:srgbClr val="00295F"/>
                </a:solidFill>
                <a:latin typeface="微软雅黑" panose="020B0503020204020204" charset="-122"/>
                <a:ea typeface="微软雅黑" panose="020B0503020204020204" charset="-122"/>
                <a:cs typeface="微软雅黑" panose="020B0503020204020204" charset="-122"/>
              </a:rPr>
              <a:t>优先排序</a:t>
            </a:r>
            <a:endParaRPr sz="1600">
              <a:latin typeface="微软雅黑" panose="020B0503020204020204" charset="-122"/>
              <a:ea typeface="微软雅黑" panose="020B0503020204020204" charset="-122"/>
              <a:cs typeface="微软雅黑" panose="020B0503020204020204" charset="-122"/>
            </a:endParaRPr>
          </a:p>
          <a:p>
            <a:pPr marL="206375" marR="8890" indent="-192405" algn="just">
              <a:lnSpc>
                <a:spcPct val="101000"/>
              </a:lnSpc>
              <a:spcBef>
                <a:spcPts val="745"/>
              </a:spcBef>
              <a:buClr>
                <a:srgbClr val="00295F"/>
              </a:buClr>
              <a:buSzPct val="125000"/>
              <a:buFont typeface="Arial" panose="020B0604020202020204"/>
              <a:buChar char="▪"/>
              <a:tabLst>
                <a:tab pos="207010" algn="l"/>
              </a:tabLst>
            </a:pPr>
            <a:r>
              <a:rPr sz="1600" spc="-5" dirty="0">
                <a:latin typeface="微软雅黑" panose="020B0503020204020204" charset="-122"/>
                <a:ea typeface="微软雅黑" panose="020B0503020204020204" charset="-122"/>
                <a:cs typeface="微软雅黑" panose="020B0503020204020204" charset="-122"/>
              </a:rPr>
              <a:t>将全公司的</a:t>
            </a:r>
            <a:r>
              <a:rPr sz="1600" b="1" dirty="0">
                <a:solidFill>
                  <a:srgbClr val="00295F"/>
                </a:solidFill>
                <a:latin typeface="微软雅黑" panose="020B0503020204020204" charset="-122"/>
                <a:ea typeface="微软雅黑" panose="020B0503020204020204" charset="-122"/>
                <a:cs typeface="微软雅黑" panose="020B0503020204020204" charset="-122"/>
              </a:rPr>
              <a:t>销售和营销资源</a:t>
            </a:r>
            <a:r>
              <a:rPr sz="1600" spc="-5" dirty="0">
                <a:latin typeface="微软雅黑" panose="020B0503020204020204" charset="-122"/>
                <a:ea typeface="微软雅黑" panose="020B0503020204020204" charset="-122"/>
                <a:cs typeface="微软雅黑" panose="020B0503020204020204" charset="-122"/>
              </a:rPr>
              <a:t>集中到最有前 途的客户上</a:t>
            </a:r>
            <a:endParaRPr sz="1600">
              <a:latin typeface="微软雅黑" panose="020B0503020204020204" charset="-122"/>
              <a:ea typeface="微软雅黑" panose="020B0503020204020204" charset="-122"/>
              <a:cs typeface="微软雅黑" panose="020B0503020204020204" charset="-122"/>
            </a:endParaRPr>
          </a:p>
          <a:p>
            <a:pPr marL="206375" marR="5080" indent="-192405" algn="just">
              <a:lnSpc>
                <a:spcPct val="100000"/>
              </a:lnSpc>
              <a:spcBef>
                <a:spcPts val="750"/>
              </a:spcBef>
              <a:buClr>
                <a:srgbClr val="00295F"/>
              </a:buClr>
              <a:buSzPct val="125000"/>
              <a:buFont typeface="Arial" panose="020B0604020202020204"/>
              <a:buChar char="▪"/>
              <a:tabLst>
                <a:tab pos="207010" algn="l"/>
              </a:tabLst>
            </a:pPr>
            <a:r>
              <a:rPr sz="1600" spc="-5" dirty="0">
                <a:latin typeface="微软雅黑" panose="020B0503020204020204" charset="-122"/>
                <a:ea typeface="微软雅黑" panose="020B0503020204020204" charset="-122"/>
                <a:cs typeface="微软雅黑" panose="020B0503020204020204" charset="-122"/>
              </a:rPr>
              <a:t>开展统一的</a:t>
            </a:r>
            <a:r>
              <a:rPr sz="1600" b="1" dirty="0">
                <a:solidFill>
                  <a:srgbClr val="00295F"/>
                </a:solidFill>
                <a:latin typeface="微软雅黑" panose="020B0503020204020204" charset="-122"/>
                <a:ea typeface="微软雅黑" panose="020B0503020204020204" charset="-122"/>
                <a:cs typeface="微软雅黑" panose="020B0503020204020204" charset="-122"/>
              </a:rPr>
              <a:t>客户和销售规划</a:t>
            </a:r>
            <a:r>
              <a:rPr sz="1600" b="1" spc="-15" dirty="0">
                <a:solidFill>
                  <a:srgbClr val="00295F"/>
                </a:solidFill>
                <a:latin typeface="微软雅黑" panose="020B0503020204020204" charset="-122"/>
                <a:ea typeface="微软雅黑" panose="020B0503020204020204" charset="-122"/>
                <a:cs typeface="微软雅黑" panose="020B0503020204020204" charset="-122"/>
              </a:rPr>
              <a:t>，</a:t>
            </a:r>
            <a:r>
              <a:rPr sz="1600" b="1" dirty="0">
                <a:solidFill>
                  <a:srgbClr val="00295F"/>
                </a:solidFill>
                <a:latin typeface="微软雅黑" panose="020B0503020204020204" charset="-122"/>
                <a:ea typeface="微软雅黑" panose="020B0503020204020204" charset="-122"/>
                <a:cs typeface="微软雅黑" panose="020B0503020204020204" charset="-122"/>
              </a:rPr>
              <a:t>根</a:t>
            </a:r>
            <a:r>
              <a:rPr sz="1600" b="1" spc="-15" dirty="0">
                <a:solidFill>
                  <a:srgbClr val="00295F"/>
                </a:solidFill>
                <a:latin typeface="微软雅黑" panose="020B0503020204020204" charset="-122"/>
                <a:ea typeface="微软雅黑" panose="020B0503020204020204" charset="-122"/>
                <a:cs typeface="微软雅黑" panose="020B0503020204020204" charset="-122"/>
              </a:rPr>
              <a:t>据最</a:t>
            </a:r>
            <a:r>
              <a:rPr sz="1600" b="1" spc="5" dirty="0">
                <a:solidFill>
                  <a:srgbClr val="00295F"/>
                </a:solidFill>
                <a:latin typeface="微软雅黑" panose="020B0503020204020204" charset="-122"/>
                <a:ea typeface="微软雅黑" panose="020B0503020204020204" charset="-122"/>
                <a:cs typeface="微软雅黑" panose="020B0503020204020204" charset="-122"/>
              </a:rPr>
              <a:t>重要 </a:t>
            </a:r>
            <a:r>
              <a:rPr sz="1600" b="1" dirty="0">
                <a:solidFill>
                  <a:srgbClr val="00295F"/>
                </a:solidFill>
                <a:latin typeface="微软雅黑" panose="020B0503020204020204" charset="-122"/>
                <a:ea typeface="微软雅黑" panose="020B0503020204020204" charset="-122"/>
                <a:cs typeface="微软雅黑" panose="020B0503020204020204" charset="-122"/>
              </a:rPr>
              <a:t>的客户和渠</a:t>
            </a:r>
            <a:r>
              <a:rPr sz="1600" b="1" spc="-10" dirty="0">
                <a:solidFill>
                  <a:srgbClr val="00295F"/>
                </a:solidFill>
                <a:latin typeface="微软雅黑" panose="020B0503020204020204" charset="-122"/>
                <a:ea typeface="微软雅黑" panose="020B0503020204020204" charset="-122"/>
                <a:cs typeface="微软雅黑" panose="020B0503020204020204" charset="-122"/>
              </a:rPr>
              <a:t>道合</a:t>
            </a:r>
            <a:r>
              <a:rPr sz="1600" b="1" dirty="0">
                <a:solidFill>
                  <a:srgbClr val="00295F"/>
                </a:solidFill>
                <a:latin typeface="微软雅黑" panose="020B0503020204020204" charset="-122"/>
                <a:ea typeface="微软雅黑" panose="020B0503020204020204" charset="-122"/>
                <a:cs typeface="微软雅黑" panose="020B0503020204020204" charset="-122"/>
              </a:rPr>
              <a:t>作</a:t>
            </a:r>
            <a:r>
              <a:rPr sz="1600" b="1" spc="-10" dirty="0">
                <a:solidFill>
                  <a:srgbClr val="00295F"/>
                </a:solidFill>
                <a:latin typeface="微软雅黑" panose="020B0503020204020204" charset="-122"/>
                <a:ea typeface="微软雅黑" panose="020B0503020204020204" charset="-122"/>
                <a:cs typeface="微软雅黑" panose="020B0503020204020204" charset="-122"/>
              </a:rPr>
              <a:t>伙伴</a:t>
            </a:r>
            <a:r>
              <a:rPr sz="1600" b="1" dirty="0">
                <a:solidFill>
                  <a:srgbClr val="00295F"/>
                </a:solidFill>
                <a:latin typeface="微软雅黑" panose="020B0503020204020204" charset="-122"/>
                <a:ea typeface="微软雅黑" panose="020B0503020204020204" charset="-122"/>
                <a:cs typeface="微软雅黑" panose="020B0503020204020204" charset="-122"/>
              </a:rPr>
              <a:t>的</a:t>
            </a:r>
            <a:r>
              <a:rPr sz="1600" b="1" spc="-10" dirty="0">
                <a:solidFill>
                  <a:srgbClr val="00295F"/>
                </a:solidFill>
                <a:latin typeface="微软雅黑" panose="020B0503020204020204" charset="-122"/>
                <a:ea typeface="微软雅黑" panose="020B0503020204020204" charset="-122"/>
                <a:cs typeface="微软雅黑" panose="020B0503020204020204" charset="-122"/>
              </a:rPr>
              <a:t>需</a:t>
            </a:r>
            <a:r>
              <a:rPr sz="1600" b="1" spc="-5" dirty="0">
                <a:solidFill>
                  <a:srgbClr val="00295F"/>
                </a:solidFill>
                <a:latin typeface="微软雅黑" panose="020B0503020204020204" charset="-122"/>
                <a:ea typeface="微软雅黑" panose="020B0503020204020204" charset="-122"/>
                <a:cs typeface="微软雅黑" panose="020B0503020204020204" charset="-122"/>
              </a:rPr>
              <a:t>求</a:t>
            </a:r>
            <a:r>
              <a:rPr sz="1600" spc="-5" dirty="0">
                <a:latin typeface="微软雅黑" panose="020B0503020204020204" charset="-122"/>
                <a:ea typeface="微软雅黑" panose="020B0503020204020204" charset="-122"/>
                <a:cs typeface="微软雅黑" panose="020B0503020204020204" charset="-122"/>
              </a:rPr>
              <a:t>，交付最佳 </a:t>
            </a:r>
            <a:r>
              <a:rPr sz="1600" b="1" dirty="0">
                <a:solidFill>
                  <a:srgbClr val="00295F"/>
                </a:solidFill>
                <a:latin typeface="微软雅黑" panose="020B0503020204020204" charset="-122"/>
                <a:ea typeface="微软雅黑" panose="020B0503020204020204" charset="-122"/>
                <a:cs typeface="微软雅黑" panose="020B0503020204020204" charset="-122"/>
              </a:rPr>
              <a:t>价值定位</a:t>
            </a:r>
            <a:endParaRPr sz="1600">
              <a:latin typeface="微软雅黑" panose="020B0503020204020204" charset="-122"/>
              <a:ea typeface="微软雅黑" panose="020B0503020204020204" charset="-122"/>
              <a:cs typeface="微软雅黑" panose="020B0503020204020204" charset="-122"/>
            </a:endParaRPr>
          </a:p>
        </p:txBody>
      </p:sp>
      <p:sp>
        <p:nvSpPr>
          <p:cNvPr id="22" name="object 22"/>
          <p:cNvSpPr/>
          <p:nvPr/>
        </p:nvSpPr>
        <p:spPr>
          <a:xfrm>
            <a:off x="723387" y="3456300"/>
            <a:ext cx="3085818" cy="835068"/>
          </a:xfrm>
          <a:custGeom>
            <a:avLst/>
            <a:gdLst/>
            <a:ahLst/>
            <a:cxnLst/>
            <a:rect l="l" t="t" r="r" b="b"/>
            <a:pathLst>
              <a:path w="3088004" h="835660">
                <a:moveTo>
                  <a:pt x="3087624" y="0"/>
                </a:moveTo>
                <a:lnTo>
                  <a:pt x="0" y="0"/>
                </a:lnTo>
                <a:lnTo>
                  <a:pt x="1543812" y="835152"/>
                </a:lnTo>
                <a:lnTo>
                  <a:pt x="3087624"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p:nvPr/>
        </p:nvSpPr>
        <p:spPr>
          <a:xfrm>
            <a:off x="723387" y="3456300"/>
            <a:ext cx="3085818" cy="835068"/>
          </a:xfrm>
          <a:custGeom>
            <a:avLst/>
            <a:gdLst/>
            <a:ahLst/>
            <a:cxnLst/>
            <a:rect l="l" t="t" r="r" b="b"/>
            <a:pathLst>
              <a:path w="3088004" h="835660">
                <a:moveTo>
                  <a:pt x="3087624" y="0"/>
                </a:moveTo>
                <a:lnTo>
                  <a:pt x="1543812" y="835152"/>
                </a:lnTo>
                <a:lnTo>
                  <a:pt x="0" y="0"/>
                </a:lnTo>
                <a:lnTo>
                  <a:pt x="3087624" y="0"/>
                </a:lnTo>
                <a:close/>
              </a:path>
            </a:pathLst>
          </a:custGeom>
          <a:ln w="9525">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txBox="1"/>
          <p:nvPr/>
        </p:nvSpPr>
        <p:spPr>
          <a:xfrm>
            <a:off x="361643" y="4542524"/>
            <a:ext cx="3078203" cy="74993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295F"/>
                </a:solidFill>
                <a:latin typeface="微软雅黑" panose="020B0503020204020204" charset="-122"/>
                <a:ea typeface="微软雅黑" panose="020B0503020204020204" charset="-122"/>
                <a:cs typeface="微软雅黑" panose="020B0503020204020204" charset="-122"/>
              </a:rPr>
              <a:t>在保证盈利</a:t>
            </a:r>
            <a:r>
              <a:rPr sz="1600" b="1" spc="-10" dirty="0">
                <a:solidFill>
                  <a:srgbClr val="00295F"/>
                </a:solidFill>
                <a:latin typeface="微软雅黑" panose="020B0503020204020204" charset="-122"/>
                <a:ea typeface="微软雅黑" panose="020B0503020204020204" charset="-122"/>
                <a:cs typeface="微软雅黑" panose="020B0503020204020204" charset="-122"/>
              </a:rPr>
              <a:t>的前</a:t>
            </a:r>
            <a:r>
              <a:rPr sz="1600" b="1" dirty="0">
                <a:solidFill>
                  <a:srgbClr val="00295F"/>
                </a:solidFill>
                <a:latin typeface="微软雅黑" panose="020B0503020204020204" charset="-122"/>
                <a:ea typeface="微软雅黑" panose="020B0503020204020204" charset="-122"/>
                <a:cs typeface="微软雅黑" panose="020B0503020204020204" charset="-122"/>
              </a:rPr>
              <a:t>提</a:t>
            </a:r>
            <a:r>
              <a:rPr sz="1600" b="1" spc="-10" dirty="0">
                <a:solidFill>
                  <a:srgbClr val="00295F"/>
                </a:solidFill>
                <a:latin typeface="微软雅黑" panose="020B0503020204020204" charset="-122"/>
                <a:ea typeface="微软雅黑" panose="020B0503020204020204" charset="-122"/>
                <a:cs typeface="微软雅黑" panose="020B0503020204020204" charset="-122"/>
              </a:rPr>
              <a:t>下推</a:t>
            </a:r>
            <a:r>
              <a:rPr sz="1600" b="1" dirty="0">
                <a:solidFill>
                  <a:srgbClr val="00295F"/>
                </a:solidFill>
                <a:latin typeface="微软雅黑" panose="020B0503020204020204" charset="-122"/>
                <a:ea typeface="微软雅黑" panose="020B0503020204020204" charset="-122"/>
                <a:cs typeface="微软雅黑" panose="020B0503020204020204" charset="-122"/>
              </a:rPr>
              <a:t>动</a:t>
            </a:r>
            <a:r>
              <a:rPr sz="1600" b="1" spc="-10" dirty="0">
                <a:solidFill>
                  <a:srgbClr val="00295F"/>
                </a:solidFill>
                <a:latin typeface="微软雅黑" panose="020B0503020204020204" charset="-122"/>
                <a:ea typeface="微软雅黑" panose="020B0503020204020204" charset="-122"/>
                <a:cs typeface="微软雅黑" panose="020B0503020204020204" charset="-122"/>
              </a:rPr>
              <a:t>销售</a:t>
            </a:r>
            <a:r>
              <a:rPr sz="1600" b="1" dirty="0">
                <a:solidFill>
                  <a:srgbClr val="00295F"/>
                </a:solidFill>
                <a:latin typeface="微软雅黑" panose="020B0503020204020204" charset="-122"/>
                <a:ea typeface="微软雅黑" panose="020B0503020204020204" charset="-122"/>
                <a:cs typeface="微软雅黑" panose="020B0503020204020204" charset="-122"/>
              </a:rPr>
              <a:t>增</a:t>
            </a:r>
            <a:r>
              <a:rPr sz="1600" b="1" spc="-10" dirty="0">
                <a:solidFill>
                  <a:srgbClr val="00295F"/>
                </a:solidFill>
                <a:latin typeface="微软雅黑" panose="020B0503020204020204" charset="-122"/>
                <a:ea typeface="微软雅黑" panose="020B0503020204020204" charset="-122"/>
                <a:cs typeface="微软雅黑" panose="020B0503020204020204" charset="-122"/>
              </a:rPr>
              <a:t>长</a:t>
            </a:r>
            <a:endParaRPr sz="1600">
              <a:latin typeface="微软雅黑" panose="020B0503020204020204" charset="-122"/>
              <a:ea typeface="微软雅黑" panose="020B0503020204020204" charset="-122"/>
              <a:cs typeface="微软雅黑" panose="020B0503020204020204" charset="-122"/>
            </a:endParaRPr>
          </a:p>
          <a:p>
            <a:pPr marL="206375" indent="-193040">
              <a:lnSpc>
                <a:spcPct val="100000"/>
              </a:lnSpc>
              <a:buClr>
                <a:srgbClr val="00295F"/>
              </a:buClr>
              <a:buSzPct val="125000"/>
              <a:buFont typeface="Arial" panose="020B0604020202020204"/>
              <a:buChar char="▪"/>
              <a:tabLst>
                <a:tab pos="207010" algn="l"/>
              </a:tabLst>
            </a:pPr>
            <a:r>
              <a:rPr sz="1600" spc="-5" dirty="0">
                <a:latin typeface="微软雅黑" panose="020B0503020204020204" charset="-122"/>
                <a:ea typeface="微软雅黑" panose="020B0503020204020204" charset="-122"/>
                <a:cs typeface="微软雅黑" panose="020B0503020204020204" charset="-122"/>
              </a:rPr>
              <a:t>钱包份额提高</a:t>
            </a:r>
            <a:endParaRPr sz="1600">
              <a:latin typeface="微软雅黑" panose="020B0503020204020204" charset="-122"/>
              <a:ea typeface="微软雅黑" panose="020B0503020204020204" charset="-122"/>
              <a:cs typeface="微软雅黑" panose="020B0503020204020204" charset="-122"/>
            </a:endParaRPr>
          </a:p>
          <a:p>
            <a:pPr marL="206375" indent="-193040">
              <a:lnSpc>
                <a:spcPct val="100000"/>
              </a:lnSpc>
              <a:buClr>
                <a:srgbClr val="00295F"/>
              </a:buClr>
              <a:buSzPct val="125000"/>
              <a:buFont typeface="Arial" panose="020B0604020202020204"/>
              <a:buChar char="▪"/>
              <a:tabLst>
                <a:tab pos="207010" algn="l"/>
              </a:tabLst>
            </a:pPr>
            <a:r>
              <a:rPr sz="1600" spc="-5" dirty="0">
                <a:latin typeface="微软雅黑" panose="020B0503020204020204" charset="-122"/>
                <a:ea typeface="微软雅黑" panose="020B0503020204020204" charset="-122"/>
                <a:cs typeface="微软雅黑" panose="020B0503020204020204" charset="-122"/>
              </a:rPr>
              <a:t>销售额增幅巨大</a:t>
            </a:r>
            <a:endParaRPr sz="1600">
              <a:latin typeface="微软雅黑" panose="020B0503020204020204" charset="-122"/>
              <a:ea typeface="微软雅黑" panose="020B0503020204020204" charset="-122"/>
              <a:cs typeface="微软雅黑" panose="020B0503020204020204" charset="-122"/>
            </a:endParaRPr>
          </a:p>
        </p:txBody>
      </p:sp>
      <p:sp>
        <p:nvSpPr>
          <p:cNvPr id="25" name="object 25"/>
          <p:cNvSpPr txBox="1"/>
          <p:nvPr/>
        </p:nvSpPr>
        <p:spPr>
          <a:xfrm>
            <a:off x="4469517" y="1045644"/>
            <a:ext cx="84204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295F"/>
                </a:solidFill>
                <a:latin typeface="微软雅黑" panose="020B0503020204020204" charset="-122"/>
                <a:ea typeface="微软雅黑" panose="020B0503020204020204" charset="-122"/>
                <a:cs typeface="微软雅黑" panose="020B0503020204020204" charset="-122"/>
              </a:rPr>
              <a:t>客户分级</a:t>
            </a:r>
            <a:endParaRPr sz="1600" b="1" dirty="0">
              <a:solidFill>
                <a:srgbClr val="00295F"/>
              </a:solidFill>
              <a:latin typeface="微软雅黑" panose="020B0503020204020204" charset="-122"/>
              <a:ea typeface="微软雅黑" panose="020B0503020204020204" charset="-122"/>
              <a:cs typeface="微软雅黑" panose="020B0503020204020204" charset="-122"/>
            </a:endParaRPr>
          </a:p>
        </p:txBody>
      </p:sp>
      <p:sp>
        <p:nvSpPr>
          <p:cNvPr id="26" name="object 26"/>
          <p:cNvSpPr txBox="1"/>
          <p:nvPr/>
        </p:nvSpPr>
        <p:spPr>
          <a:xfrm>
            <a:off x="6273671" y="1021227"/>
            <a:ext cx="84204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295F"/>
                </a:solidFill>
                <a:latin typeface="微软雅黑" panose="020B0503020204020204" charset="-122"/>
                <a:ea typeface="微软雅黑" panose="020B0503020204020204" charset="-122"/>
                <a:cs typeface="微软雅黑" panose="020B0503020204020204" charset="-122"/>
              </a:rPr>
              <a:t>资源配置</a:t>
            </a:r>
            <a:endParaRPr sz="1600" b="1" dirty="0">
              <a:solidFill>
                <a:srgbClr val="00295F"/>
              </a:solidFill>
              <a:latin typeface="微软雅黑" panose="020B0503020204020204" charset="-122"/>
              <a:ea typeface="微软雅黑" panose="020B0503020204020204" charset="-122"/>
              <a:cs typeface="微软雅黑" panose="020B0503020204020204" charset="-122"/>
            </a:endParaRPr>
          </a:p>
        </p:txBody>
      </p:sp>
      <p:sp>
        <p:nvSpPr>
          <p:cNvPr id="27" name="object 27"/>
          <p:cNvSpPr txBox="1"/>
          <p:nvPr/>
        </p:nvSpPr>
        <p:spPr>
          <a:xfrm>
            <a:off x="7482490" y="1032825"/>
            <a:ext cx="84331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295F"/>
                </a:solidFill>
                <a:latin typeface="微软雅黑" panose="020B0503020204020204" charset="-122"/>
                <a:ea typeface="微软雅黑" panose="020B0503020204020204" charset="-122"/>
                <a:cs typeface="微软雅黑" panose="020B0503020204020204" charset="-122"/>
              </a:rPr>
              <a:t>规划水平</a:t>
            </a:r>
            <a:endParaRPr sz="1600" b="1" dirty="0">
              <a:solidFill>
                <a:srgbClr val="00295F"/>
              </a:solidFill>
              <a:latin typeface="微软雅黑" panose="020B0503020204020204" charset="-122"/>
              <a:ea typeface="微软雅黑" panose="020B0503020204020204" charset="-122"/>
              <a:cs typeface="微软雅黑" panose="020B0503020204020204" charset="-122"/>
            </a:endParaRPr>
          </a:p>
        </p:txBody>
      </p:sp>
      <p:sp>
        <p:nvSpPr>
          <p:cNvPr id="28" name="object 28"/>
          <p:cNvSpPr/>
          <p:nvPr/>
        </p:nvSpPr>
        <p:spPr>
          <a:xfrm>
            <a:off x="6323166" y="1630319"/>
            <a:ext cx="885198" cy="3951978"/>
          </a:xfrm>
          <a:custGeom>
            <a:avLst/>
            <a:gdLst/>
            <a:ahLst/>
            <a:cxnLst/>
            <a:rect l="l" t="t" r="r" b="b"/>
            <a:pathLst>
              <a:path w="885825" h="3954779">
                <a:moveTo>
                  <a:pt x="885444" y="0"/>
                </a:moveTo>
                <a:lnTo>
                  <a:pt x="0" y="0"/>
                </a:lnTo>
                <a:lnTo>
                  <a:pt x="442722" y="3954779"/>
                </a:lnTo>
                <a:lnTo>
                  <a:pt x="885444" y="0"/>
                </a:lnTo>
                <a:close/>
              </a:path>
            </a:pathLst>
          </a:custGeom>
          <a:solidFill>
            <a:srgbClr val="80808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9" name="object 29"/>
          <p:cNvSpPr/>
          <p:nvPr/>
        </p:nvSpPr>
        <p:spPr>
          <a:xfrm>
            <a:off x="7546071" y="1630319"/>
            <a:ext cx="885198" cy="3951978"/>
          </a:xfrm>
          <a:custGeom>
            <a:avLst/>
            <a:gdLst/>
            <a:ahLst/>
            <a:cxnLst/>
            <a:rect l="l" t="t" r="r" b="b"/>
            <a:pathLst>
              <a:path w="885825" h="3954779">
                <a:moveTo>
                  <a:pt x="885444" y="0"/>
                </a:moveTo>
                <a:lnTo>
                  <a:pt x="0" y="0"/>
                </a:lnTo>
                <a:lnTo>
                  <a:pt x="442722" y="3954779"/>
                </a:lnTo>
                <a:lnTo>
                  <a:pt x="885444" y="0"/>
                </a:lnTo>
                <a:close/>
              </a:path>
            </a:pathLst>
          </a:custGeom>
          <a:solidFill>
            <a:srgbClr val="808080"/>
          </a:solidFill>
        </p:spPr>
        <p:txBody>
          <a:bodyPr wrap="square" lIns="0" tIns="0" rIns="0" bIns="0" rtlCol="0"/>
          <a:lstStyle/>
          <a:p>
            <a:endParaRPr>
              <a:latin typeface="微软雅黑" panose="020B0503020204020204" charset="-122"/>
              <a:ea typeface="微软雅黑" panose="020B0503020204020204"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401" y="203088"/>
            <a:ext cx="5331491"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同时利用速</a:t>
            </a:r>
            <a:r>
              <a:rPr spc="-10" dirty="0">
                <a:ea typeface="微软雅黑" panose="020B0503020204020204" charset="-122"/>
              </a:rPr>
              <a:t>查表</a:t>
            </a:r>
            <a:r>
              <a:rPr spc="-5" dirty="0">
                <a:ea typeface="微软雅黑" panose="020B0503020204020204" charset="-122"/>
              </a:rPr>
              <a:t>授</a:t>
            </a:r>
            <a:r>
              <a:rPr spc="-10" dirty="0">
                <a:ea typeface="微软雅黑" panose="020B0503020204020204" charset="-122"/>
              </a:rPr>
              <a:t>权并</a:t>
            </a:r>
            <a:r>
              <a:rPr spc="-5" dirty="0">
                <a:ea typeface="微软雅黑" panose="020B0503020204020204" charset="-122"/>
              </a:rPr>
              <a:t>指</a:t>
            </a:r>
            <a:r>
              <a:rPr spc="-10" dirty="0">
                <a:ea typeface="微软雅黑" panose="020B0503020204020204" charset="-122"/>
              </a:rPr>
              <a:t>导销</a:t>
            </a:r>
            <a:r>
              <a:rPr spc="-5" dirty="0">
                <a:ea typeface="微软雅黑" panose="020B0503020204020204" charset="-122"/>
              </a:rPr>
              <a:t>售</a:t>
            </a:r>
            <a:r>
              <a:rPr spc="-10" dirty="0">
                <a:ea typeface="微软雅黑" panose="020B0503020204020204" charset="-122"/>
              </a:rPr>
              <a:t>人员</a:t>
            </a:r>
            <a:r>
              <a:rPr spc="-5" dirty="0">
                <a:ea typeface="微软雅黑" panose="020B0503020204020204" charset="-122"/>
              </a:rPr>
              <a:t>与</a:t>
            </a:r>
            <a:r>
              <a:rPr spc="-10" dirty="0">
                <a:ea typeface="微软雅黑" panose="020B0503020204020204" charset="-122"/>
              </a:rPr>
              <a:t>客户</a:t>
            </a:r>
            <a:r>
              <a:rPr spc="-5" dirty="0">
                <a:ea typeface="微软雅黑" panose="020B0503020204020204" charset="-122"/>
              </a:rPr>
              <a:t>的</a:t>
            </a:r>
            <a:r>
              <a:rPr spc="-10" dirty="0">
                <a:ea typeface="微软雅黑" panose="020B0503020204020204" charset="-122"/>
              </a:rPr>
              <a:t>互动</a:t>
            </a:r>
            <a:endParaRPr spc="-10" dirty="0">
              <a:ea typeface="微软雅黑" panose="020B0503020204020204" charset="-122"/>
            </a:endParaRPr>
          </a:p>
        </p:txBody>
      </p:sp>
      <p:sp>
        <p:nvSpPr>
          <p:cNvPr id="4" name="object 4"/>
          <p:cNvSpPr/>
          <p:nvPr/>
        </p:nvSpPr>
        <p:spPr>
          <a:xfrm>
            <a:off x="1369105" y="4933534"/>
            <a:ext cx="1375705" cy="1064775"/>
          </a:xfrm>
          <a:custGeom>
            <a:avLst/>
            <a:gdLst/>
            <a:ahLst/>
            <a:cxnLst/>
            <a:rect l="l" t="t" r="r" b="b"/>
            <a:pathLst>
              <a:path w="1376680" h="1065529">
                <a:moveTo>
                  <a:pt x="0" y="1065275"/>
                </a:moveTo>
                <a:lnTo>
                  <a:pt x="1376172" y="1065275"/>
                </a:lnTo>
                <a:lnTo>
                  <a:pt x="1376172" y="0"/>
                </a:lnTo>
                <a:lnTo>
                  <a:pt x="0" y="0"/>
                </a:lnTo>
                <a:lnTo>
                  <a:pt x="0" y="1065275"/>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p:nvPr/>
        </p:nvSpPr>
        <p:spPr>
          <a:xfrm>
            <a:off x="1547775" y="5740474"/>
            <a:ext cx="162445" cy="87568"/>
          </a:xfrm>
          <a:custGeom>
            <a:avLst/>
            <a:gdLst/>
            <a:ahLst/>
            <a:cxnLst/>
            <a:rect l="l" t="t" r="r" b="b"/>
            <a:pathLst>
              <a:path w="162560" h="87629">
                <a:moveTo>
                  <a:pt x="0" y="87593"/>
                </a:moveTo>
                <a:lnTo>
                  <a:pt x="162520" y="87593"/>
                </a:lnTo>
                <a:lnTo>
                  <a:pt x="162520" y="0"/>
                </a:lnTo>
                <a:lnTo>
                  <a:pt x="0" y="0"/>
                </a:lnTo>
                <a:lnTo>
                  <a:pt x="0" y="87593"/>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1547775" y="5740474"/>
            <a:ext cx="162445" cy="87568"/>
          </a:xfrm>
          <a:custGeom>
            <a:avLst/>
            <a:gdLst/>
            <a:ahLst/>
            <a:cxnLst/>
            <a:rect l="l" t="t" r="r" b="b"/>
            <a:pathLst>
              <a:path w="162560" h="87629">
                <a:moveTo>
                  <a:pt x="0" y="87593"/>
                </a:moveTo>
                <a:lnTo>
                  <a:pt x="162520" y="87593"/>
                </a:lnTo>
                <a:lnTo>
                  <a:pt x="162520" y="0"/>
                </a:lnTo>
                <a:lnTo>
                  <a:pt x="0" y="0"/>
                </a:lnTo>
                <a:lnTo>
                  <a:pt x="0" y="87593"/>
                </a:lnTo>
                <a:close/>
              </a:path>
            </a:pathLst>
          </a:custGeom>
          <a:ln w="8250">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1767685" y="5645056"/>
            <a:ext cx="162445" cy="95817"/>
          </a:xfrm>
          <a:custGeom>
            <a:avLst/>
            <a:gdLst/>
            <a:ahLst/>
            <a:cxnLst/>
            <a:rect l="l" t="t" r="r" b="b"/>
            <a:pathLst>
              <a:path w="162560" h="95885">
                <a:moveTo>
                  <a:pt x="0" y="95485"/>
                </a:moveTo>
                <a:lnTo>
                  <a:pt x="162520" y="95485"/>
                </a:lnTo>
                <a:lnTo>
                  <a:pt x="162520" y="0"/>
                </a:lnTo>
                <a:lnTo>
                  <a:pt x="0" y="0"/>
                </a:lnTo>
                <a:lnTo>
                  <a:pt x="0" y="95485"/>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1767685" y="5645056"/>
            <a:ext cx="162445" cy="95817"/>
          </a:xfrm>
          <a:custGeom>
            <a:avLst/>
            <a:gdLst/>
            <a:ahLst/>
            <a:cxnLst/>
            <a:rect l="l" t="t" r="r" b="b"/>
            <a:pathLst>
              <a:path w="162560" h="95885">
                <a:moveTo>
                  <a:pt x="0" y="95485"/>
                </a:moveTo>
                <a:lnTo>
                  <a:pt x="162520" y="95485"/>
                </a:lnTo>
                <a:lnTo>
                  <a:pt x="162520" y="0"/>
                </a:lnTo>
                <a:lnTo>
                  <a:pt x="0" y="0"/>
                </a:lnTo>
                <a:lnTo>
                  <a:pt x="0" y="95485"/>
                </a:lnTo>
                <a:close/>
              </a:path>
            </a:pathLst>
          </a:custGeom>
          <a:ln w="8300">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1987280" y="5557524"/>
            <a:ext cx="152927" cy="87568"/>
          </a:xfrm>
          <a:custGeom>
            <a:avLst/>
            <a:gdLst/>
            <a:ahLst/>
            <a:cxnLst/>
            <a:rect l="l" t="t" r="r" b="b"/>
            <a:pathLst>
              <a:path w="153035" h="87629">
                <a:moveTo>
                  <a:pt x="0" y="87593"/>
                </a:moveTo>
                <a:lnTo>
                  <a:pt x="153034" y="87593"/>
                </a:lnTo>
                <a:lnTo>
                  <a:pt x="153034" y="0"/>
                </a:lnTo>
                <a:lnTo>
                  <a:pt x="0" y="0"/>
                </a:lnTo>
                <a:lnTo>
                  <a:pt x="0" y="87593"/>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1987280" y="5557524"/>
            <a:ext cx="152927" cy="87568"/>
          </a:xfrm>
          <a:custGeom>
            <a:avLst/>
            <a:gdLst/>
            <a:ahLst/>
            <a:cxnLst/>
            <a:rect l="l" t="t" r="r" b="b"/>
            <a:pathLst>
              <a:path w="153035" h="87629">
                <a:moveTo>
                  <a:pt x="0" y="87593"/>
                </a:moveTo>
                <a:lnTo>
                  <a:pt x="153034" y="87593"/>
                </a:lnTo>
                <a:lnTo>
                  <a:pt x="153034" y="0"/>
                </a:lnTo>
                <a:lnTo>
                  <a:pt x="0" y="0"/>
                </a:lnTo>
                <a:lnTo>
                  <a:pt x="0" y="87593"/>
                </a:lnTo>
                <a:close/>
              </a:path>
            </a:pathLst>
          </a:custGeom>
          <a:ln w="828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2197396" y="5469992"/>
            <a:ext cx="163079" cy="87568"/>
          </a:xfrm>
          <a:custGeom>
            <a:avLst/>
            <a:gdLst/>
            <a:ahLst/>
            <a:cxnLst/>
            <a:rect l="l" t="t" r="r" b="b"/>
            <a:pathLst>
              <a:path w="163194" h="87629">
                <a:moveTo>
                  <a:pt x="0" y="87593"/>
                </a:moveTo>
                <a:lnTo>
                  <a:pt x="162836" y="87593"/>
                </a:lnTo>
                <a:lnTo>
                  <a:pt x="162836" y="0"/>
                </a:lnTo>
                <a:lnTo>
                  <a:pt x="0" y="0"/>
                </a:lnTo>
                <a:lnTo>
                  <a:pt x="0" y="87593"/>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2197396" y="5469992"/>
            <a:ext cx="163079" cy="87568"/>
          </a:xfrm>
          <a:custGeom>
            <a:avLst/>
            <a:gdLst/>
            <a:ahLst/>
            <a:cxnLst/>
            <a:rect l="l" t="t" r="r" b="b"/>
            <a:pathLst>
              <a:path w="163194" h="87629">
                <a:moveTo>
                  <a:pt x="0" y="87593"/>
                </a:moveTo>
                <a:lnTo>
                  <a:pt x="162836" y="87593"/>
                </a:lnTo>
                <a:lnTo>
                  <a:pt x="162836" y="0"/>
                </a:lnTo>
                <a:lnTo>
                  <a:pt x="0" y="0"/>
                </a:lnTo>
                <a:lnTo>
                  <a:pt x="0" y="87593"/>
                </a:lnTo>
                <a:close/>
              </a:path>
            </a:pathLst>
          </a:custGeom>
          <a:ln w="8249">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2417306" y="5469994"/>
            <a:ext cx="162445" cy="358521"/>
          </a:xfrm>
          <a:custGeom>
            <a:avLst/>
            <a:gdLst/>
            <a:ahLst/>
            <a:cxnLst/>
            <a:rect l="l" t="t" r="r" b="b"/>
            <a:pathLst>
              <a:path w="162560" h="358775">
                <a:moveTo>
                  <a:pt x="0" y="358266"/>
                </a:moveTo>
                <a:lnTo>
                  <a:pt x="162520" y="358266"/>
                </a:lnTo>
                <a:lnTo>
                  <a:pt x="162520" y="0"/>
                </a:lnTo>
                <a:lnTo>
                  <a:pt x="0" y="0"/>
                </a:lnTo>
                <a:lnTo>
                  <a:pt x="0" y="358266"/>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2417306" y="5469994"/>
            <a:ext cx="162445" cy="358521"/>
          </a:xfrm>
          <a:custGeom>
            <a:avLst/>
            <a:gdLst/>
            <a:ahLst/>
            <a:cxnLst/>
            <a:rect l="l" t="t" r="r" b="b"/>
            <a:pathLst>
              <a:path w="162560" h="358775">
                <a:moveTo>
                  <a:pt x="0" y="358266"/>
                </a:moveTo>
                <a:lnTo>
                  <a:pt x="162520" y="358266"/>
                </a:lnTo>
                <a:lnTo>
                  <a:pt x="162520" y="0"/>
                </a:lnTo>
                <a:lnTo>
                  <a:pt x="0" y="0"/>
                </a:lnTo>
                <a:lnTo>
                  <a:pt x="0" y="358266"/>
                </a:lnTo>
                <a:close/>
              </a:path>
            </a:pathLst>
          </a:custGeom>
          <a:ln w="9213">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1514283" y="5824063"/>
            <a:ext cx="1089523" cy="0"/>
          </a:xfrm>
          <a:custGeom>
            <a:avLst/>
            <a:gdLst/>
            <a:ahLst/>
            <a:cxnLst/>
            <a:rect l="l" t="t" r="r" b="b"/>
            <a:pathLst>
              <a:path w="1090295">
                <a:moveTo>
                  <a:pt x="0" y="0"/>
                </a:moveTo>
                <a:lnTo>
                  <a:pt x="1090213" y="0"/>
                </a:lnTo>
              </a:path>
            </a:pathLst>
          </a:custGeom>
          <a:ln w="23937">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p:nvPr/>
        </p:nvSpPr>
        <p:spPr>
          <a:xfrm>
            <a:off x="1132292" y="1713318"/>
            <a:ext cx="237956" cy="1753262"/>
          </a:xfrm>
          <a:custGeom>
            <a:avLst/>
            <a:gdLst/>
            <a:ahLst/>
            <a:cxnLst/>
            <a:rect l="l" t="t" r="r" b="b"/>
            <a:pathLst>
              <a:path w="238125" h="1754504">
                <a:moveTo>
                  <a:pt x="238125" y="0"/>
                </a:moveTo>
                <a:lnTo>
                  <a:pt x="119062" y="0"/>
                </a:lnTo>
                <a:lnTo>
                  <a:pt x="119062" y="1754124"/>
                </a:lnTo>
                <a:lnTo>
                  <a:pt x="0" y="1754124"/>
                </a:lnTo>
              </a:path>
            </a:pathLst>
          </a:custGeom>
          <a:ln w="28575">
            <a:solidFill>
              <a:srgbClr val="0066CC"/>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p:nvPr/>
        </p:nvSpPr>
        <p:spPr>
          <a:xfrm>
            <a:off x="1132292" y="2963636"/>
            <a:ext cx="237956" cy="503198"/>
          </a:xfrm>
          <a:custGeom>
            <a:avLst/>
            <a:gdLst/>
            <a:ahLst/>
            <a:cxnLst/>
            <a:rect l="l" t="t" r="r" b="b"/>
            <a:pathLst>
              <a:path w="238125" h="503554">
                <a:moveTo>
                  <a:pt x="238125" y="0"/>
                </a:moveTo>
                <a:lnTo>
                  <a:pt x="119062" y="0"/>
                </a:lnTo>
                <a:lnTo>
                  <a:pt x="119062" y="503174"/>
                </a:lnTo>
                <a:lnTo>
                  <a:pt x="0" y="503174"/>
                </a:lnTo>
              </a:path>
            </a:pathLst>
          </a:custGeom>
          <a:ln w="28575">
            <a:solidFill>
              <a:srgbClr val="0066CC"/>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p:nvPr/>
        </p:nvSpPr>
        <p:spPr>
          <a:xfrm>
            <a:off x="1132292" y="3466199"/>
            <a:ext cx="237956" cy="748769"/>
          </a:xfrm>
          <a:custGeom>
            <a:avLst/>
            <a:gdLst/>
            <a:ahLst/>
            <a:cxnLst/>
            <a:rect l="l" t="t" r="r" b="b"/>
            <a:pathLst>
              <a:path w="238125" h="749300">
                <a:moveTo>
                  <a:pt x="238125" y="749300"/>
                </a:moveTo>
                <a:lnTo>
                  <a:pt x="119062" y="749300"/>
                </a:lnTo>
                <a:lnTo>
                  <a:pt x="119062" y="0"/>
                </a:lnTo>
                <a:lnTo>
                  <a:pt x="0" y="0"/>
                </a:lnTo>
              </a:path>
            </a:pathLst>
          </a:custGeom>
          <a:ln w="28575">
            <a:solidFill>
              <a:srgbClr val="0066CC"/>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txBox="1"/>
          <p:nvPr/>
        </p:nvSpPr>
        <p:spPr>
          <a:xfrm>
            <a:off x="2791005" y="841522"/>
            <a:ext cx="943575" cy="196215"/>
          </a:xfrm>
          <a:prstGeom prst="rect">
            <a:avLst/>
          </a:prstGeom>
        </p:spPr>
        <p:txBody>
          <a:bodyPr vert="horz" wrap="square" lIns="0" tIns="12691" rIns="0" bIns="0" rtlCol="0">
            <a:spAutoFit/>
          </a:bodyPr>
          <a:lstStyle/>
          <a:p>
            <a:pPr marL="12700">
              <a:lnSpc>
                <a:spcPct val="100000"/>
              </a:lnSpc>
              <a:spcBef>
                <a:spcPts val="100"/>
              </a:spcBef>
            </a:pPr>
            <a:r>
              <a:rPr sz="1200" b="1" spc="5" dirty="0">
                <a:solidFill>
                  <a:srgbClr val="0066CC"/>
                </a:solidFill>
                <a:latin typeface="微软雅黑" panose="020B0503020204020204" charset="-122"/>
                <a:ea typeface="微软雅黑" panose="020B0503020204020204" charset="-122"/>
                <a:cs typeface="微软雅黑" panose="020B0503020204020204" charset="-122"/>
              </a:rPr>
              <a:t>典型客</a:t>
            </a:r>
            <a:r>
              <a:rPr sz="1200" b="1" dirty="0">
                <a:solidFill>
                  <a:srgbClr val="0066CC"/>
                </a:solidFill>
                <a:latin typeface="微软雅黑" panose="020B0503020204020204" charset="-122"/>
                <a:ea typeface="微软雅黑" panose="020B0503020204020204" charset="-122"/>
                <a:cs typeface="微软雅黑" panose="020B0503020204020204" charset="-122"/>
              </a:rPr>
              <a:t>户</a:t>
            </a:r>
            <a:r>
              <a:rPr sz="1200" b="1" spc="-5" dirty="0">
                <a:solidFill>
                  <a:srgbClr val="0066CC"/>
                </a:solidFill>
                <a:latin typeface="微软雅黑" panose="020B0503020204020204" charset="-122"/>
                <a:ea typeface="微软雅黑" panose="020B0503020204020204" charset="-122"/>
                <a:cs typeface="微软雅黑" panose="020B0503020204020204" charset="-122"/>
              </a:rPr>
              <a:t>特</a:t>
            </a:r>
            <a:r>
              <a:rPr sz="1200" b="1" dirty="0">
                <a:solidFill>
                  <a:srgbClr val="0066CC"/>
                </a:solidFill>
                <a:latin typeface="微软雅黑" panose="020B0503020204020204" charset="-122"/>
                <a:ea typeface="微软雅黑" panose="020B0503020204020204" charset="-122"/>
                <a:cs typeface="微软雅黑" panose="020B0503020204020204" charset="-122"/>
              </a:rPr>
              <a:t>点</a:t>
            </a:r>
            <a:endParaRPr sz="1200">
              <a:latin typeface="微软雅黑" panose="020B0503020204020204" charset="-122"/>
              <a:ea typeface="微软雅黑" panose="020B0503020204020204" charset="-122"/>
              <a:cs typeface="微软雅黑" panose="020B0503020204020204" charset="-122"/>
            </a:endParaRPr>
          </a:p>
        </p:txBody>
      </p:sp>
      <p:sp>
        <p:nvSpPr>
          <p:cNvPr id="20" name="object 20"/>
          <p:cNvSpPr txBox="1"/>
          <p:nvPr/>
        </p:nvSpPr>
        <p:spPr>
          <a:xfrm>
            <a:off x="7333624" y="841522"/>
            <a:ext cx="640896" cy="196215"/>
          </a:xfrm>
          <a:prstGeom prst="rect">
            <a:avLst/>
          </a:prstGeom>
        </p:spPr>
        <p:txBody>
          <a:bodyPr vert="horz" wrap="square" lIns="0" tIns="12691" rIns="0" bIns="0" rtlCol="0">
            <a:spAutoFit/>
          </a:bodyPr>
          <a:lstStyle/>
          <a:p>
            <a:pPr marL="12700">
              <a:lnSpc>
                <a:spcPct val="100000"/>
              </a:lnSpc>
              <a:spcBef>
                <a:spcPts val="100"/>
              </a:spcBef>
            </a:pPr>
            <a:r>
              <a:rPr sz="1200" b="1" spc="5" dirty="0">
                <a:solidFill>
                  <a:srgbClr val="0066CC"/>
                </a:solidFill>
                <a:latin typeface="微软雅黑" panose="020B0503020204020204" charset="-122"/>
                <a:ea typeface="微软雅黑" panose="020B0503020204020204" charset="-122"/>
                <a:cs typeface="微软雅黑" panose="020B0503020204020204" charset="-122"/>
              </a:rPr>
              <a:t>价值定位</a:t>
            </a:r>
            <a:endParaRPr sz="1200" b="1" spc="5"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1" name="object 21"/>
          <p:cNvSpPr/>
          <p:nvPr/>
        </p:nvSpPr>
        <p:spPr>
          <a:xfrm>
            <a:off x="1369105" y="2429852"/>
            <a:ext cx="1375705" cy="1064775"/>
          </a:xfrm>
          <a:custGeom>
            <a:avLst/>
            <a:gdLst/>
            <a:ahLst/>
            <a:cxnLst/>
            <a:rect l="l" t="t" r="r" b="b"/>
            <a:pathLst>
              <a:path w="1376680" h="1065529">
                <a:moveTo>
                  <a:pt x="0" y="1065275"/>
                </a:moveTo>
                <a:lnTo>
                  <a:pt x="1376172" y="1065275"/>
                </a:lnTo>
                <a:lnTo>
                  <a:pt x="1376172" y="0"/>
                </a:lnTo>
                <a:lnTo>
                  <a:pt x="0" y="0"/>
                </a:lnTo>
                <a:lnTo>
                  <a:pt x="0" y="1065275"/>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2808265" y="1107957"/>
            <a:ext cx="4171534" cy="0"/>
          </a:xfrm>
          <a:custGeom>
            <a:avLst/>
            <a:gdLst/>
            <a:ahLst/>
            <a:cxnLst/>
            <a:rect l="l" t="t" r="r" b="b"/>
            <a:pathLst>
              <a:path w="4174490">
                <a:moveTo>
                  <a:pt x="0" y="0"/>
                </a:moveTo>
                <a:lnTo>
                  <a:pt x="4174236" y="0"/>
                </a:lnTo>
              </a:path>
            </a:pathLst>
          </a:custGeom>
          <a:ln w="952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p:nvPr/>
        </p:nvSpPr>
        <p:spPr>
          <a:xfrm>
            <a:off x="1369105" y="3681693"/>
            <a:ext cx="1375705" cy="1064775"/>
          </a:xfrm>
          <a:custGeom>
            <a:avLst/>
            <a:gdLst/>
            <a:ahLst/>
            <a:cxnLst/>
            <a:rect l="l" t="t" r="r" b="b"/>
            <a:pathLst>
              <a:path w="1376680" h="1065529">
                <a:moveTo>
                  <a:pt x="0" y="1065275"/>
                </a:moveTo>
                <a:lnTo>
                  <a:pt x="1376172" y="1065275"/>
                </a:lnTo>
                <a:lnTo>
                  <a:pt x="1376172" y="0"/>
                </a:lnTo>
                <a:lnTo>
                  <a:pt x="0" y="0"/>
                </a:lnTo>
                <a:lnTo>
                  <a:pt x="0" y="1065275"/>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p:nvPr/>
        </p:nvSpPr>
        <p:spPr>
          <a:xfrm>
            <a:off x="1369105" y="1179534"/>
            <a:ext cx="1375705" cy="1064775"/>
          </a:xfrm>
          <a:custGeom>
            <a:avLst/>
            <a:gdLst/>
            <a:ahLst/>
            <a:cxnLst/>
            <a:rect l="l" t="t" r="r" b="b"/>
            <a:pathLst>
              <a:path w="1376680" h="1065530">
                <a:moveTo>
                  <a:pt x="0" y="1065276"/>
                </a:moveTo>
                <a:lnTo>
                  <a:pt x="1376172" y="1065276"/>
                </a:lnTo>
                <a:lnTo>
                  <a:pt x="1376172" y="0"/>
                </a:lnTo>
                <a:lnTo>
                  <a:pt x="0" y="0"/>
                </a:lnTo>
                <a:lnTo>
                  <a:pt x="0" y="106527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5" name="object 25"/>
          <p:cNvSpPr txBox="1"/>
          <p:nvPr/>
        </p:nvSpPr>
        <p:spPr>
          <a:xfrm>
            <a:off x="1356669" y="841522"/>
            <a:ext cx="640896" cy="196215"/>
          </a:xfrm>
          <a:prstGeom prst="rect">
            <a:avLst/>
          </a:prstGeom>
        </p:spPr>
        <p:txBody>
          <a:bodyPr vert="horz" wrap="square" lIns="0" tIns="12691" rIns="0" bIns="0" rtlCol="0">
            <a:spAutoFit/>
          </a:bodyPr>
          <a:lstStyle/>
          <a:p>
            <a:pPr marL="12700">
              <a:lnSpc>
                <a:spcPct val="100000"/>
              </a:lnSpc>
              <a:spcBef>
                <a:spcPts val="100"/>
              </a:spcBef>
            </a:pPr>
            <a:r>
              <a:rPr sz="1200" b="1" spc="5" dirty="0">
                <a:solidFill>
                  <a:srgbClr val="0066CC"/>
                </a:solidFill>
                <a:latin typeface="微软雅黑" panose="020B0503020204020204" charset="-122"/>
                <a:ea typeface="微软雅黑" panose="020B0503020204020204" charset="-122"/>
                <a:cs typeface="微软雅黑" panose="020B0503020204020204" charset="-122"/>
              </a:rPr>
              <a:t>购买导向</a:t>
            </a:r>
            <a:endParaRPr sz="1200" b="1" spc="5"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6" name="object 26"/>
          <p:cNvSpPr/>
          <p:nvPr/>
        </p:nvSpPr>
        <p:spPr>
          <a:xfrm>
            <a:off x="118787" y="2368935"/>
            <a:ext cx="1012742" cy="2193006"/>
          </a:xfrm>
          <a:custGeom>
            <a:avLst/>
            <a:gdLst/>
            <a:ahLst/>
            <a:cxnLst/>
            <a:rect l="l" t="t" r="r" b="b"/>
            <a:pathLst>
              <a:path w="1013460" h="2194560">
                <a:moveTo>
                  <a:pt x="0" y="2194560"/>
                </a:moveTo>
                <a:lnTo>
                  <a:pt x="1013460" y="2194560"/>
                </a:lnTo>
                <a:lnTo>
                  <a:pt x="1013460" y="0"/>
                </a:lnTo>
                <a:lnTo>
                  <a:pt x="0" y="0"/>
                </a:lnTo>
                <a:lnTo>
                  <a:pt x="0" y="219456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7" name="object 27"/>
          <p:cNvSpPr txBox="1"/>
          <p:nvPr/>
        </p:nvSpPr>
        <p:spPr>
          <a:xfrm>
            <a:off x="1369105" y="2479855"/>
            <a:ext cx="1375705" cy="335915"/>
          </a:xfrm>
          <a:prstGeom prst="rect">
            <a:avLst/>
          </a:prstGeom>
        </p:spPr>
        <p:txBody>
          <a:bodyPr vert="horz" wrap="square" lIns="0" tIns="12691" rIns="0" bIns="0" rtlCol="0">
            <a:spAutoFit/>
          </a:bodyPr>
          <a:lstStyle/>
          <a:p>
            <a:pPr marL="48895">
              <a:lnSpc>
                <a:spcPts val="1265"/>
              </a:lnSpc>
              <a:spcBef>
                <a:spcPts val="100"/>
              </a:spcBef>
            </a:pPr>
            <a:r>
              <a:rPr sz="1200" b="1" spc="5" dirty="0">
                <a:solidFill>
                  <a:srgbClr val="0066CC"/>
                </a:solidFill>
                <a:latin typeface="微软雅黑" panose="020B0503020204020204" charset="-122"/>
                <a:ea typeface="微软雅黑" panose="020B0503020204020204" charset="-122"/>
                <a:cs typeface="微软雅黑" panose="020B0503020204020204" charset="-122"/>
              </a:rPr>
              <a:t>追求产</a:t>
            </a:r>
            <a:r>
              <a:rPr sz="1200" b="1" spc="-5" dirty="0">
                <a:solidFill>
                  <a:srgbClr val="0066CC"/>
                </a:solidFill>
                <a:latin typeface="微软雅黑" panose="020B0503020204020204" charset="-122"/>
                <a:ea typeface="微软雅黑" panose="020B0503020204020204" charset="-122"/>
                <a:cs typeface="微软雅黑" panose="020B0503020204020204" charset="-122"/>
              </a:rPr>
              <a:t>品性能</a:t>
            </a:r>
            <a:endParaRPr sz="1200">
              <a:latin typeface="微软雅黑" panose="020B0503020204020204" charset="-122"/>
              <a:ea typeface="微软雅黑" panose="020B0503020204020204" charset="-122"/>
              <a:cs typeface="微软雅黑" panose="020B0503020204020204" charset="-122"/>
            </a:endParaRPr>
          </a:p>
          <a:p>
            <a:pPr marL="37465" algn="ctr">
              <a:lnSpc>
                <a:spcPts val="1265"/>
              </a:lnSpc>
              <a:tabLst>
                <a:tab pos="335915" algn="l"/>
              </a:tabLst>
            </a:pPr>
            <a:r>
              <a:rPr sz="1200" b="1" u="sng" dirty="0">
                <a:uFill>
                  <a:solidFill>
                    <a:srgbClr val="000000"/>
                  </a:solidFill>
                </a:uFill>
                <a:latin typeface="微软雅黑" panose="020B0503020204020204" charset="-122"/>
                <a:ea typeface="微软雅黑" panose="020B0503020204020204" charset="-122"/>
                <a:cs typeface="微软雅黑" panose="020B0503020204020204" charset="-122"/>
              </a:rPr>
              <a:t> 	</a:t>
            </a:r>
            <a:endParaRPr sz="1200">
              <a:latin typeface="微软雅黑" panose="020B0503020204020204" charset="-122"/>
              <a:ea typeface="微软雅黑" panose="020B0503020204020204" charset="-122"/>
              <a:cs typeface="微软雅黑" panose="020B0503020204020204" charset="-122"/>
            </a:endParaRPr>
          </a:p>
        </p:txBody>
      </p:sp>
      <p:sp>
        <p:nvSpPr>
          <p:cNvPr id="28" name="object 28"/>
          <p:cNvSpPr txBox="1"/>
          <p:nvPr/>
        </p:nvSpPr>
        <p:spPr>
          <a:xfrm>
            <a:off x="178283" y="2618821"/>
            <a:ext cx="791284" cy="1673860"/>
          </a:xfrm>
          <a:prstGeom prst="rect">
            <a:avLst/>
          </a:prstGeom>
        </p:spPr>
        <p:txBody>
          <a:bodyPr vert="horz" wrap="square" lIns="0" tIns="12691" rIns="0" bIns="0" rtlCol="0">
            <a:spAutoFit/>
          </a:bodyPr>
          <a:lstStyle/>
          <a:p>
            <a:pPr marL="12700" marR="5080" algn="just">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“作为</a:t>
            </a:r>
            <a:r>
              <a:rPr sz="1200" b="1" spc="-5" dirty="0">
                <a:latin typeface="微软雅黑" panose="020B0503020204020204" charset="-122"/>
                <a:ea typeface="微软雅黑" panose="020B0503020204020204" charset="-122"/>
                <a:cs typeface="微软雅黑" panose="020B0503020204020204" charset="-122"/>
              </a:rPr>
              <a:t>你们 </a:t>
            </a:r>
            <a:r>
              <a:rPr sz="1200" b="1" spc="5" dirty="0">
                <a:latin typeface="微软雅黑" panose="020B0503020204020204" charset="-122"/>
                <a:ea typeface="微软雅黑" panose="020B0503020204020204" charset="-122"/>
                <a:cs typeface="微软雅黑" panose="020B0503020204020204" charset="-122"/>
              </a:rPr>
              <a:t>提高生</a:t>
            </a:r>
            <a:r>
              <a:rPr sz="1200" b="1" spc="-5" dirty="0">
                <a:latin typeface="微软雅黑" panose="020B0503020204020204" charset="-122"/>
                <a:ea typeface="微软雅黑" panose="020B0503020204020204" charset="-122"/>
                <a:cs typeface="微软雅黑" panose="020B0503020204020204" charset="-122"/>
              </a:rPr>
              <a:t>产率 </a:t>
            </a:r>
            <a:r>
              <a:rPr sz="1200" b="1" spc="5" dirty="0">
                <a:latin typeface="微软雅黑" panose="020B0503020204020204" charset="-122"/>
                <a:ea typeface="微软雅黑" panose="020B0503020204020204" charset="-122"/>
                <a:cs typeface="微软雅黑" panose="020B0503020204020204" charset="-122"/>
              </a:rPr>
              <a:t>的伙伴</a:t>
            </a:r>
            <a:r>
              <a:rPr sz="1200" b="1" spc="-5" dirty="0">
                <a:latin typeface="微软雅黑" panose="020B0503020204020204" charset="-122"/>
                <a:ea typeface="微软雅黑" panose="020B0503020204020204" charset="-122"/>
                <a:cs typeface="微软雅黑" panose="020B0503020204020204" charset="-122"/>
              </a:rPr>
              <a:t>，我 </a:t>
            </a:r>
            <a:r>
              <a:rPr sz="1200" b="1" spc="5" dirty="0">
                <a:latin typeface="微软雅黑" panose="020B0503020204020204" charset="-122"/>
                <a:ea typeface="微软雅黑" panose="020B0503020204020204" charset="-122"/>
                <a:cs typeface="微软雅黑" panose="020B0503020204020204" charset="-122"/>
              </a:rPr>
              <a:t>们以优</a:t>
            </a:r>
            <a:r>
              <a:rPr sz="1200" b="1" spc="-5" dirty="0">
                <a:latin typeface="微软雅黑" panose="020B0503020204020204" charset="-122"/>
                <a:ea typeface="微软雅黑" panose="020B0503020204020204" charset="-122"/>
                <a:cs typeface="微软雅黑" panose="020B0503020204020204" charset="-122"/>
              </a:rPr>
              <a:t>秀的 </a:t>
            </a:r>
            <a:r>
              <a:rPr sz="1200" b="1" spc="5" dirty="0">
                <a:latin typeface="微软雅黑" panose="020B0503020204020204" charset="-122"/>
                <a:ea typeface="微软雅黑" panose="020B0503020204020204" charset="-122"/>
                <a:cs typeface="微软雅黑" panose="020B0503020204020204" charset="-122"/>
              </a:rPr>
              <a:t>稳定性</a:t>
            </a:r>
            <a:r>
              <a:rPr sz="1200" b="1" spc="-5" dirty="0">
                <a:latin typeface="微软雅黑" panose="020B0503020204020204" charset="-122"/>
                <a:ea typeface="微软雅黑" panose="020B0503020204020204" charset="-122"/>
                <a:cs typeface="微软雅黑" panose="020B0503020204020204" charset="-122"/>
              </a:rPr>
              <a:t>、超 </a:t>
            </a:r>
            <a:r>
              <a:rPr sz="1200" b="1" spc="5" dirty="0">
                <a:latin typeface="微软雅黑" panose="020B0503020204020204" charset="-122"/>
                <a:ea typeface="微软雅黑" panose="020B0503020204020204" charset="-122"/>
                <a:cs typeface="微软雅黑" panose="020B0503020204020204" charset="-122"/>
              </a:rPr>
              <a:t>群的品</a:t>
            </a:r>
            <a:r>
              <a:rPr sz="1200" b="1" spc="-5" dirty="0">
                <a:latin typeface="微软雅黑" panose="020B0503020204020204" charset="-122"/>
                <a:ea typeface="微软雅黑" panose="020B0503020204020204" charset="-122"/>
                <a:cs typeface="微软雅黑" panose="020B0503020204020204" charset="-122"/>
              </a:rPr>
              <a:t>质和 </a:t>
            </a:r>
            <a:r>
              <a:rPr sz="1200" b="1" spc="5" dirty="0">
                <a:latin typeface="微软雅黑" panose="020B0503020204020204" charset="-122"/>
                <a:ea typeface="微软雅黑" panose="020B0503020204020204" charset="-122"/>
                <a:cs typeface="微软雅黑" panose="020B0503020204020204" charset="-122"/>
              </a:rPr>
              <a:t>定制的</a:t>
            </a:r>
            <a:r>
              <a:rPr sz="1200" b="1" spc="-5" dirty="0">
                <a:latin typeface="微软雅黑" panose="020B0503020204020204" charset="-122"/>
                <a:ea typeface="微软雅黑" panose="020B0503020204020204" charset="-122"/>
                <a:cs typeface="微软雅黑" panose="020B0503020204020204" charset="-122"/>
              </a:rPr>
              <a:t>服务 </a:t>
            </a:r>
            <a:r>
              <a:rPr sz="1200" b="1" spc="5" dirty="0">
                <a:latin typeface="微软雅黑" panose="020B0503020204020204" charset="-122"/>
                <a:ea typeface="微软雅黑" panose="020B0503020204020204" charset="-122"/>
                <a:cs typeface="微软雅黑" panose="020B0503020204020204" charset="-122"/>
              </a:rPr>
              <a:t>满足您</a:t>
            </a:r>
            <a:r>
              <a:rPr sz="1200" b="1" spc="-5" dirty="0">
                <a:latin typeface="微软雅黑" panose="020B0503020204020204" charset="-122"/>
                <a:ea typeface="微软雅黑" panose="020B0503020204020204" charset="-122"/>
                <a:cs typeface="微软雅黑" panose="020B0503020204020204" charset="-122"/>
              </a:rPr>
              <a:t>的特 </a:t>
            </a:r>
            <a:r>
              <a:rPr sz="1200" b="1" spc="5" dirty="0">
                <a:latin typeface="微软雅黑" panose="020B0503020204020204" charset="-122"/>
                <a:ea typeface="微软雅黑" panose="020B0503020204020204" charset="-122"/>
                <a:cs typeface="微软雅黑" panose="020B0503020204020204" charset="-122"/>
              </a:rPr>
              <a:t>殊要求”</a:t>
            </a:r>
            <a:endParaRPr sz="1200">
              <a:latin typeface="微软雅黑" panose="020B0503020204020204" charset="-122"/>
              <a:ea typeface="微软雅黑" panose="020B0503020204020204" charset="-122"/>
              <a:cs typeface="微软雅黑" panose="020B0503020204020204" charset="-122"/>
            </a:endParaRPr>
          </a:p>
        </p:txBody>
      </p:sp>
      <p:sp>
        <p:nvSpPr>
          <p:cNvPr id="29" name="object 29"/>
          <p:cNvSpPr txBox="1"/>
          <p:nvPr/>
        </p:nvSpPr>
        <p:spPr>
          <a:xfrm>
            <a:off x="1369105" y="4978968"/>
            <a:ext cx="1375705" cy="196215"/>
          </a:xfrm>
          <a:prstGeom prst="rect">
            <a:avLst/>
          </a:prstGeom>
        </p:spPr>
        <p:txBody>
          <a:bodyPr vert="horz" wrap="square" lIns="0" tIns="12691" rIns="0" bIns="0" rtlCol="0">
            <a:spAutoFit/>
          </a:bodyPr>
          <a:lstStyle/>
          <a:p>
            <a:pPr marL="48895">
              <a:lnSpc>
                <a:spcPct val="100000"/>
              </a:lnSpc>
              <a:spcBef>
                <a:spcPts val="100"/>
              </a:spcBef>
            </a:pPr>
            <a:r>
              <a:rPr sz="1200" b="1" spc="5" dirty="0">
                <a:solidFill>
                  <a:srgbClr val="0066CC"/>
                </a:solidFill>
                <a:latin typeface="微软雅黑" panose="020B0503020204020204" charset="-122"/>
                <a:ea typeface="微软雅黑" panose="020B0503020204020204" charset="-122"/>
                <a:cs typeface="微软雅黑" panose="020B0503020204020204" charset="-122"/>
              </a:rPr>
              <a:t>总持有</a:t>
            </a:r>
            <a:r>
              <a:rPr sz="1200" b="1" spc="-5" dirty="0">
                <a:solidFill>
                  <a:srgbClr val="0066CC"/>
                </a:solidFill>
                <a:latin typeface="微软雅黑" panose="020B0503020204020204" charset="-122"/>
                <a:ea typeface="微软雅黑" panose="020B0503020204020204" charset="-122"/>
                <a:cs typeface="微软雅黑" panose="020B0503020204020204" charset="-122"/>
              </a:rPr>
              <a:t>成</a:t>
            </a:r>
            <a:r>
              <a:rPr sz="1200" b="1" dirty="0">
                <a:solidFill>
                  <a:srgbClr val="0066CC"/>
                </a:solidFill>
                <a:latin typeface="微软雅黑" panose="020B0503020204020204" charset="-122"/>
                <a:ea typeface="微软雅黑" panose="020B0503020204020204" charset="-122"/>
                <a:cs typeface="微软雅黑" panose="020B0503020204020204" charset="-122"/>
              </a:rPr>
              <a:t>本</a:t>
            </a:r>
            <a:r>
              <a:rPr sz="1200" b="1" spc="-5" dirty="0">
                <a:solidFill>
                  <a:srgbClr val="0066CC"/>
                </a:solidFill>
                <a:latin typeface="微软雅黑" panose="020B0503020204020204" charset="-122"/>
                <a:ea typeface="微软雅黑" panose="020B0503020204020204" charset="-122"/>
                <a:cs typeface="微软雅黑" panose="020B0503020204020204" charset="-122"/>
              </a:rPr>
              <a:t>(TCO)</a:t>
            </a:r>
            <a:endParaRPr sz="1200">
              <a:latin typeface="微软雅黑" panose="020B0503020204020204" charset="-122"/>
              <a:ea typeface="微软雅黑" panose="020B0503020204020204" charset="-122"/>
              <a:cs typeface="微软雅黑" panose="020B0503020204020204" charset="-122"/>
            </a:endParaRPr>
          </a:p>
        </p:txBody>
      </p:sp>
      <p:sp>
        <p:nvSpPr>
          <p:cNvPr id="30" name="object 30"/>
          <p:cNvSpPr/>
          <p:nvPr/>
        </p:nvSpPr>
        <p:spPr>
          <a:xfrm>
            <a:off x="1132292" y="3466199"/>
            <a:ext cx="237956" cy="2000737"/>
          </a:xfrm>
          <a:custGeom>
            <a:avLst/>
            <a:gdLst/>
            <a:ahLst/>
            <a:cxnLst/>
            <a:rect l="l" t="t" r="r" b="b"/>
            <a:pathLst>
              <a:path w="238125" h="2002154">
                <a:moveTo>
                  <a:pt x="238125" y="2001837"/>
                </a:moveTo>
                <a:lnTo>
                  <a:pt x="119062" y="2001837"/>
                </a:lnTo>
                <a:lnTo>
                  <a:pt x="119062" y="0"/>
                </a:lnTo>
                <a:lnTo>
                  <a:pt x="0" y="0"/>
                </a:lnTo>
              </a:path>
            </a:pathLst>
          </a:custGeom>
          <a:ln w="28575">
            <a:solidFill>
              <a:srgbClr val="0066CC"/>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1" name="object 31"/>
          <p:cNvSpPr txBox="1"/>
          <p:nvPr/>
        </p:nvSpPr>
        <p:spPr>
          <a:xfrm>
            <a:off x="2792528" y="2405232"/>
            <a:ext cx="4029394" cy="935355"/>
          </a:xfrm>
          <a:prstGeom prst="rect">
            <a:avLst/>
          </a:prstGeom>
        </p:spPr>
        <p:txBody>
          <a:bodyPr vert="horz" wrap="square" lIns="0" tIns="12691" rIns="0" bIns="0" rtlCol="0">
            <a:spAutoFit/>
          </a:bodyPr>
          <a:lstStyle/>
          <a:p>
            <a:pPr marL="204470" marR="5080" indent="-192405">
              <a:lnSpc>
                <a:spcPct val="100000"/>
              </a:lnSpc>
              <a:spcBef>
                <a:spcPts val="100"/>
              </a:spcBef>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关注容器的</a:t>
            </a:r>
            <a:r>
              <a:rPr sz="1200" b="1" spc="5" dirty="0">
                <a:latin typeface="微软雅黑" panose="020B0503020204020204" charset="-122"/>
                <a:ea typeface="微软雅黑" panose="020B0503020204020204" charset="-122"/>
                <a:cs typeface="微软雅黑" panose="020B0503020204020204" charset="-122"/>
              </a:rPr>
              <a:t>性能与</a:t>
            </a:r>
            <a:r>
              <a:rPr sz="1200" b="1" spc="-5" dirty="0">
                <a:latin typeface="微软雅黑" panose="020B0503020204020204" charset="-122"/>
                <a:ea typeface="微软雅黑" panose="020B0503020204020204" charset="-122"/>
                <a:cs typeface="微软雅黑" panose="020B0503020204020204" charset="-122"/>
              </a:rPr>
              <a:t>质</a:t>
            </a:r>
            <a:r>
              <a:rPr sz="1200" b="1" dirty="0">
                <a:latin typeface="微软雅黑" panose="020B0503020204020204" charset="-122"/>
                <a:ea typeface="微软雅黑" panose="020B0503020204020204" charset="-122"/>
                <a:cs typeface="微软雅黑" panose="020B0503020204020204" charset="-122"/>
              </a:rPr>
              <a:t>量</a:t>
            </a:r>
            <a:r>
              <a:rPr sz="1200" dirty="0">
                <a:latin typeface="微软雅黑" panose="020B0503020204020204" charset="-122"/>
                <a:ea typeface="微软雅黑" panose="020B0503020204020204" charset="-122"/>
                <a:cs typeface="微软雅黑" panose="020B0503020204020204" charset="-122"/>
              </a:rPr>
              <a:t>，如有审美要求：高质量标签、屏 蔽、</a:t>
            </a:r>
            <a:r>
              <a:rPr sz="1200" spc="-5"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艺术品或表面处理工艺等</a:t>
            </a:r>
            <a:endParaRPr sz="1200">
              <a:latin typeface="微软雅黑" panose="020B0503020204020204" charset="-122"/>
              <a:ea typeface="微软雅黑" panose="020B0503020204020204" charset="-122"/>
              <a:cs typeface="微软雅黑" panose="020B0503020204020204" charset="-122"/>
            </a:endParaRPr>
          </a:p>
          <a:p>
            <a:pPr marL="204470" indent="-192405">
              <a:lnSpc>
                <a:spcPct val="100000"/>
              </a:lnSpc>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可能要求</a:t>
            </a:r>
            <a:r>
              <a:rPr sz="1200" b="1" spc="5" dirty="0">
                <a:latin typeface="微软雅黑" panose="020B0503020204020204" charset="-122"/>
                <a:ea typeface="微软雅黑" panose="020B0503020204020204" charset="-122"/>
                <a:cs typeface="微软雅黑" panose="020B0503020204020204" charset="-122"/>
              </a:rPr>
              <a:t>特殊功</a:t>
            </a:r>
            <a:r>
              <a:rPr sz="1200" b="1" spc="-5" dirty="0">
                <a:latin typeface="微软雅黑" panose="020B0503020204020204" charset="-122"/>
                <a:ea typeface="微软雅黑" panose="020B0503020204020204" charset="-122"/>
                <a:cs typeface="微软雅黑" panose="020B0503020204020204" charset="-122"/>
              </a:rPr>
              <a:t>能</a:t>
            </a:r>
            <a:r>
              <a:rPr sz="1200" dirty="0">
                <a:latin typeface="微软雅黑" panose="020B0503020204020204" charset="-122"/>
                <a:ea typeface="微软雅黑" panose="020B0503020204020204" charset="-122"/>
                <a:cs typeface="微软雅黑" panose="020B0503020204020204" charset="-122"/>
              </a:rPr>
              <a:t>（如非常规尺寸、装置、衬里等）</a:t>
            </a:r>
            <a:endParaRPr sz="1200">
              <a:latin typeface="微软雅黑" panose="020B0503020204020204" charset="-122"/>
              <a:ea typeface="微软雅黑" panose="020B0503020204020204" charset="-122"/>
              <a:cs typeface="微软雅黑" panose="020B0503020204020204" charset="-122"/>
            </a:endParaRPr>
          </a:p>
          <a:p>
            <a:pPr marL="204470" indent="-192405">
              <a:lnSpc>
                <a:spcPct val="100000"/>
              </a:lnSpc>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可满足其特定需求的地区替代品有限</a:t>
            </a:r>
            <a:r>
              <a:rPr sz="1200" spc="-25"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a:t>
            </a:r>
            <a:r>
              <a:rPr sz="1200" spc="-2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或之前可能因质</a:t>
            </a:r>
            <a:endParaRPr sz="1200">
              <a:latin typeface="微软雅黑" panose="020B0503020204020204" charset="-122"/>
              <a:ea typeface="微软雅黑" panose="020B0503020204020204" charset="-122"/>
              <a:cs typeface="微软雅黑" panose="020B0503020204020204" charset="-122"/>
            </a:endParaRPr>
          </a:p>
          <a:p>
            <a:pPr marL="204470">
              <a:lnSpc>
                <a:spcPct val="100000"/>
              </a:lnSpc>
            </a:pPr>
            <a:r>
              <a:rPr sz="1200" spc="-5" dirty="0">
                <a:latin typeface="微软雅黑" panose="020B0503020204020204" charset="-122"/>
                <a:ea typeface="微软雅黑" panose="020B0503020204020204" charset="-122"/>
                <a:cs typeface="微软雅黑" panose="020B0503020204020204" charset="-122"/>
              </a:rPr>
              <a:t>量问题已更换过供应商</a:t>
            </a:r>
            <a:endParaRPr sz="1200">
              <a:latin typeface="微软雅黑" panose="020B0503020204020204" charset="-122"/>
              <a:ea typeface="微软雅黑" panose="020B0503020204020204" charset="-122"/>
              <a:cs typeface="微软雅黑" panose="020B0503020204020204" charset="-122"/>
            </a:endParaRPr>
          </a:p>
        </p:txBody>
      </p:sp>
      <p:sp>
        <p:nvSpPr>
          <p:cNvPr id="32" name="object 32"/>
          <p:cNvSpPr txBox="1"/>
          <p:nvPr/>
        </p:nvSpPr>
        <p:spPr>
          <a:xfrm>
            <a:off x="2792528" y="3657072"/>
            <a:ext cx="4177244" cy="750570"/>
          </a:xfrm>
          <a:prstGeom prst="rect">
            <a:avLst/>
          </a:prstGeom>
        </p:spPr>
        <p:txBody>
          <a:bodyPr vert="horz" wrap="square" lIns="0" tIns="12691" rIns="0" bIns="0" rtlCol="0">
            <a:spAutoFit/>
          </a:bodyPr>
          <a:lstStyle/>
          <a:p>
            <a:pPr marL="204470" indent="-192405">
              <a:lnSpc>
                <a:spcPct val="100000"/>
              </a:lnSpc>
              <a:spcBef>
                <a:spcPts val="100"/>
              </a:spcBef>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关注</a:t>
            </a:r>
            <a:r>
              <a:rPr sz="1200" b="1" spc="-5" dirty="0">
                <a:latin typeface="微软雅黑" panose="020B0503020204020204" charset="-122"/>
                <a:ea typeface="微软雅黑" panose="020B0503020204020204" charset="-122"/>
                <a:cs typeface="微软雅黑" panose="020B0503020204020204" charset="-122"/>
              </a:rPr>
              <a:t>配送表现</a:t>
            </a:r>
            <a:r>
              <a:rPr sz="1200" b="1" spc="5" dirty="0">
                <a:latin typeface="微软雅黑" panose="020B0503020204020204" charset="-122"/>
                <a:ea typeface="微软雅黑" panose="020B0503020204020204" charset="-122"/>
                <a:cs typeface="微软雅黑" panose="020B0503020204020204" charset="-122"/>
              </a:rPr>
              <a:t>，</a:t>
            </a:r>
            <a:r>
              <a:rPr sz="1200" dirty="0">
                <a:latin typeface="微软雅黑" panose="020B0503020204020204" charset="-122"/>
                <a:ea typeface="微软雅黑" panose="020B0503020204020204" charset="-122"/>
                <a:cs typeface="微软雅黑" panose="020B0503020204020204" charset="-122"/>
              </a:rPr>
              <a:t>如供</a:t>
            </a:r>
            <a:r>
              <a:rPr sz="1200" spc="-15" dirty="0">
                <a:latin typeface="微软雅黑" panose="020B0503020204020204" charset="-122"/>
                <a:ea typeface="微软雅黑" panose="020B0503020204020204" charset="-122"/>
                <a:cs typeface="微软雅黑" panose="020B0503020204020204" charset="-122"/>
              </a:rPr>
              <a:t>应</a:t>
            </a:r>
            <a:r>
              <a:rPr sz="1200" dirty="0">
                <a:latin typeface="微软雅黑" panose="020B0503020204020204" charset="-122"/>
                <a:ea typeface="微软雅黑" panose="020B0503020204020204" charset="-122"/>
                <a:cs typeface="微软雅黑" panose="020B0503020204020204" charset="-122"/>
              </a:rPr>
              <a:t>安全性（如潜在缺货成本是否高等）</a:t>
            </a:r>
            <a:endParaRPr sz="1200">
              <a:latin typeface="微软雅黑" panose="020B0503020204020204" charset="-122"/>
              <a:ea typeface="微软雅黑" panose="020B0503020204020204" charset="-122"/>
              <a:cs typeface="微软雅黑" panose="020B0503020204020204" charset="-122"/>
            </a:endParaRPr>
          </a:p>
          <a:p>
            <a:pPr marL="204470" indent="-192405">
              <a:lnSpc>
                <a:spcPct val="100000"/>
              </a:lnSpc>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关注</a:t>
            </a:r>
            <a:r>
              <a:rPr sz="1200" b="1" spc="5" dirty="0">
                <a:latin typeface="微软雅黑" panose="020B0503020204020204" charset="-122"/>
                <a:ea typeface="微软雅黑" panose="020B0503020204020204" charset="-122"/>
                <a:cs typeface="微软雅黑" panose="020B0503020204020204" charset="-122"/>
              </a:rPr>
              <a:t>客户服</a:t>
            </a:r>
            <a:r>
              <a:rPr sz="1200" b="1" spc="-5" dirty="0">
                <a:latin typeface="微软雅黑" panose="020B0503020204020204" charset="-122"/>
                <a:ea typeface="微软雅黑" panose="020B0503020204020204" charset="-122"/>
                <a:cs typeface="微软雅黑" panose="020B0503020204020204" charset="-122"/>
              </a:rPr>
              <a:t>务，</a:t>
            </a:r>
            <a:r>
              <a:rPr sz="1200" dirty="0">
                <a:latin typeface="微软雅黑" panose="020B0503020204020204" charset="-122"/>
                <a:ea typeface="微软雅黑" panose="020B0503020204020204" charset="-122"/>
                <a:cs typeface="微软雅黑" panose="020B0503020204020204" charset="-122"/>
              </a:rPr>
              <a:t>如工厂订单合同、加急合同；积极响应的</a:t>
            </a:r>
            <a:endParaRPr sz="1200">
              <a:latin typeface="微软雅黑" panose="020B0503020204020204" charset="-122"/>
              <a:ea typeface="微软雅黑" panose="020B0503020204020204" charset="-122"/>
              <a:cs typeface="微软雅黑" panose="020B0503020204020204" charset="-122"/>
            </a:endParaRPr>
          </a:p>
          <a:p>
            <a:pPr marL="204470">
              <a:lnSpc>
                <a:spcPct val="100000"/>
              </a:lnSpc>
            </a:pPr>
            <a:r>
              <a:rPr sz="1200" spc="-5" dirty="0">
                <a:latin typeface="微软雅黑" panose="020B0503020204020204" charset="-122"/>
                <a:ea typeface="微软雅黑" panose="020B0503020204020204" charset="-122"/>
                <a:cs typeface="微软雅黑" panose="020B0503020204020204" charset="-122"/>
              </a:rPr>
              <a:t>客户经理等</a:t>
            </a:r>
            <a:endParaRPr sz="1200">
              <a:latin typeface="微软雅黑" panose="020B0503020204020204" charset="-122"/>
              <a:ea typeface="微软雅黑" panose="020B0503020204020204" charset="-122"/>
              <a:cs typeface="微软雅黑" panose="020B0503020204020204" charset="-122"/>
            </a:endParaRPr>
          </a:p>
          <a:p>
            <a:pPr marL="204470" indent="-192405">
              <a:lnSpc>
                <a:spcPct val="100000"/>
              </a:lnSpc>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之前因服务差而更换了供应商</a:t>
            </a:r>
            <a:endParaRPr sz="1200">
              <a:latin typeface="微软雅黑" panose="020B0503020204020204" charset="-122"/>
              <a:ea typeface="微软雅黑" panose="020B0503020204020204" charset="-122"/>
              <a:cs typeface="微软雅黑" panose="020B0503020204020204" charset="-122"/>
            </a:endParaRPr>
          </a:p>
        </p:txBody>
      </p:sp>
      <p:sp>
        <p:nvSpPr>
          <p:cNvPr id="33" name="object 33"/>
          <p:cNvSpPr txBox="1"/>
          <p:nvPr/>
        </p:nvSpPr>
        <p:spPr>
          <a:xfrm>
            <a:off x="2792528" y="1154914"/>
            <a:ext cx="4033202" cy="565785"/>
          </a:xfrm>
          <a:prstGeom prst="rect">
            <a:avLst/>
          </a:prstGeom>
        </p:spPr>
        <p:txBody>
          <a:bodyPr vert="horz" wrap="square" lIns="0" tIns="12691" rIns="0" bIns="0" rtlCol="0">
            <a:spAutoFit/>
          </a:bodyPr>
          <a:lstStyle/>
          <a:p>
            <a:pPr marL="204470" indent="-192405">
              <a:lnSpc>
                <a:spcPct val="100000"/>
              </a:lnSpc>
              <a:spcBef>
                <a:spcPts val="100"/>
              </a:spcBef>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几乎只关注</a:t>
            </a:r>
            <a:r>
              <a:rPr sz="1200" b="1" spc="5" dirty="0">
                <a:latin typeface="微软雅黑" panose="020B0503020204020204" charset="-122"/>
                <a:ea typeface="微软雅黑" panose="020B0503020204020204" charset="-122"/>
                <a:cs typeface="微软雅黑" panose="020B0503020204020204" charset="-122"/>
              </a:rPr>
              <a:t>价格</a:t>
            </a:r>
            <a:r>
              <a:rPr sz="1200" dirty="0">
                <a:latin typeface="微软雅黑" panose="020B0503020204020204" charset="-122"/>
                <a:ea typeface="微软雅黑" panose="020B0503020204020204" charset="-122"/>
                <a:cs typeface="微软雅黑" panose="020B0503020204020204" charset="-122"/>
              </a:rPr>
              <a:t>；愿意牺牲额外服务或优质换取较低价格</a:t>
            </a:r>
            <a:endParaRPr sz="1200">
              <a:latin typeface="微软雅黑" panose="020B0503020204020204" charset="-122"/>
              <a:ea typeface="微软雅黑" panose="020B0503020204020204" charset="-122"/>
              <a:cs typeface="微软雅黑" panose="020B0503020204020204" charset="-122"/>
            </a:endParaRPr>
          </a:p>
          <a:p>
            <a:pPr marL="204470" indent="-192405">
              <a:lnSpc>
                <a:spcPct val="100000"/>
              </a:lnSpc>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通常处于激烈竞争压力下，利润较小</a:t>
            </a:r>
            <a:endParaRPr sz="1200">
              <a:latin typeface="微软雅黑" panose="020B0503020204020204" charset="-122"/>
              <a:ea typeface="微软雅黑" panose="020B0503020204020204" charset="-122"/>
              <a:cs typeface="微软雅黑" panose="020B0503020204020204" charset="-122"/>
            </a:endParaRPr>
          </a:p>
          <a:p>
            <a:pPr marL="204470" indent="-192405">
              <a:lnSpc>
                <a:spcPct val="100000"/>
              </a:lnSpc>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有标准需求（如有限特殊规格）</a:t>
            </a:r>
            <a:endParaRPr sz="1200">
              <a:latin typeface="微软雅黑" panose="020B0503020204020204" charset="-122"/>
              <a:ea typeface="微软雅黑" panose="020B0503020204020204" charset="-122"/>
              <a:cs typeface="微软雅黑" panose="020B0503020204020204" charset="-122"/>
            </a:endParaRPr>
          </a:p>
        </p:txBody>
      </p:sp>
      <p:sp>
        <p:nvSpPr>
          <p:cNvPr id="34" name="object 34"/>
          <p:cNvSpPr txBox="1"/>
          <p:nvPr/>
        </p:nvSpPr>
        <p:spPr>
          <a:xfrm>
            <a:off x="2792528" y="4909294"/>
            <a:ext cx="4177879" cy="750570"/>
          </a:xfrm>
          <a:prstGeom prst="rect">
            <a:avLst/>
          </a:prstGeom>
        </p:spPr>
        <p:txBody>
          <a:bodyPr vert="horz" wrap="square" lIns="0" tIns="12691" rIns="0" bIns="0" rtlCol="0">
            <a:spAutoFit/>
          </a:bodyPr>
          <a:lstStyle/>
          <a:p>
            <a:pPr marL="204470" marR="5080" indent="-192405">
              <a:lnSpc>
                <a:spcPct val="100000"/>
              </a:lnSpc>
              <a:spcBef>
                <a:spcPts val="100"/>
              </a:spcBef>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看似价格型买家，实则在关注</a:t>
            </a:r>
            <a:r>
              <a:rPr sz="1200" b="1" spc="-5" dirty="0">
                <a:latin typeface="微软雅黑" panose="020B0503020204020204" charset="-122"/>
                <a:ea typeface="微软雅黑" panose="020B0503020204020204" charset="-122"/>
                <a:cs typeface="微软雅黑" panose="020B0503020204020204" charset="-122"/>
              </a:rPr>
              <a:t>系统总成本</a:t>
            </a:r>
            <a:r>
              <a:rPr sz="1200" b="1" spc="5" dirty="0">
                <a:latin typeface="微软雅黑" panose="020B0503020204020204" charset="-122"/>
                <a:ea typeface="微软雅黑" panose="020B0503020204020204" charset="-122"/>
                <a:cs typeface="微软雅黑" panose="020B0503020204020204" charset="-122"/>
              </a:rPr>
              <a:t>计</a:t>
            </a:r>
            <a:r>
              <a:rPr sz="1200" spc="-10" dirty="0">
                <a:latin typeface="微软雅黑" panose="020B0503020204020204" charset="-122"/>
                <a:ea typeface="微软雅黑" panose="020B0503020204020204" charset="-122"/>
                <a:cs typeface="微软雅黑" panose="020B0503020204020204" charset="-122"/>
              </a:rPr>
              <a:t>–</a:t>
            </a:r>
            <a:r>
              <a:rPr sz="1200" dirty="0">
                <a:latin typeface="微软雅黑" panose="020B0503020204020204" charset="-122"/>
                <a:ea typeface="微软雅黑" panose="020B0503020204020204" charset="-122"/>
                <a:cs typeface="微软雅黑" panose="020B0503020204020204" charset="-122"/>
              </a:rPr>
              <a:t>采购、搬运、 库存、处置等</a:t>
            </a:r>
            <a:endParaRPr sz="1200">
              <a:latin typeface="微软雅黑" panose="020B0503020204020204" charset="-122"/>
              <a:ea typeface="微软雅黑" panose="020B0503020204020204" charset="-122"/>
              <a:cs typeface="微软雅黑" panose="020B0503020204020204" charset="-122"/>
            </a:endParaRPr>
          </a:p>
          <a:p>
            <a:pPr marL="204470" marR="158750" indent="-192405">
              <a:lnSpc>
                <a:spcPct val="100000"/>
              </a:lnSpc>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通常设有完善的采购部门管理总持有成本，负责在与供应 商的谈判中从各个方面降低成本</a:t>
            </a:r>
            <a:endParaRPr sz="1200">
              <a:latin typeface="微软雅黑" panose="020B0503020204020204" charset="-122"/>
              <a:ea typeface="微软雅黑" panose="020B0503020204020204" charset="-122"/>
              <a:cs typeface="微软雅黑" panose="020B0503020204020204" charset="-122"/>
            </a:endParaRPr>
          </a:p>
        </p:txBody>
      </p:sp>
      <p:sp>
        <p:nvSpPr>
          <p:cNvPr id="35" name="object 35"/>
          <p:cNvSpPr/>
          <p:nvPr/>
        </p:nvSpPr>
        <p:spPr>
          <a:xfrm>
            <a:off x="7070920" y="2437467"/>
            <a:ext cx="146581" cy="1055892"/>
          </a:xfrm>
          <a:custGeom>
            <a:avLst/>
            <a:gdLst/>
            <a:ahLst/>
            <a:cxnLst/>
            <a:rect l="l" t="t" r="r" b="b"/>
            <a:pathLst>
              <a:path w="146684" h="1056639">
                <a:moveTo>
                  <a:pt x="0" y="0"/>
                </a:moveTo>
                <a:lnTo>
                  <a:pt x="0" y="1056132"/>
                </a:lnTo>
                <a:lnTo>
                  <a:pt x="146303" y="528065"/>
                </a:lnTo>
                <a:lnTo>
                  <a:pt x="0"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6" name="object 36"/>
          <p:cNvSpPr/>
          <p:nvPr/>
        </p:nvSpPr>
        <p:spPr>
          <a:xfrm>
            <a:off x="7070920" y="1144507"/>
            <a:ext cx="146581" cy="1057161"/>
          </a:xfrm>
          <a:custGeom>
            <a:avLst/>
            <a:gdLst/>
            <a:ahLst/>
            <a:cxnLst/>
            <a:rect l="l" t="t" r="r" b="b"/>
            <a:pathLst>
              <a:path w="146684" h="1057910">
                <a:moveTo>
                  <a:pt x="0" y="0"/>
                </a:moveTo>
                <a:lnTo>
                  <a:pt x="0" y="1057655"/>
                </a:lnTo>
                <a:lnTo>
                  <a:pt x="146303" y="528827"/>
                </a:lnTo>
                <a:lnTo>
                  <a:pt x="0"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7" name="object 37"/>
          <p:cNvSpPr/>
          <p:nvPr/>
        </p:nvSpPr>
        <p:spPr>
          <a:xfrm>
            <a:off x="7070920" y="3704537"/>
            <a:ext cx="146581" cy="1058430"/>
          </a:xfrm>
          <a:custGeom>
            <a:avLst/>
            <a:gdLst/>
            <a:ahLst/>
            <a:cxnLst/>
            <a:rect l="l" t="t" r="r" b="b"/>
            <a:pathLst>
              <a:path w="146684" h="1059179">
                <a:moveTo>
                  <a:pt x="0" y="0"/>
                </a:moveTo>
                <a:lnTo>
                  <a:pt x="0" y="1059180"/>
                </a:lnTo>
                <a:lnTo>
                  <a:pt x="146303" y="529590"/>
                </a:lnTo>
                <a:lnTo>
                  <a:pt x="0"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8" name="object 38"/>
          <p:cNvSpPr/>
          <p:nvPr/>
        </p:nvSpPr>
        <p:spPr>
          <a:xfrm>
            <a:off x="7070920" y="4925919"/>
            <a:ext cx="146581" cy="1057161"/>
          </a:xfrm>
          <a:custGeom>
            <a:avLst/>
            <a:gdLst/>
            <a:ahLst/>
            <a:cxnLst/>
            <a:rect l="l" t="t" r="r" b="b"/>
            <a:pathLst>
              <a:path w="146684" h="1057910">
                <a:moveTo>
                  <a:pt x="0" y="0"/>
                </a:moveTo>
                <a:lnTo>
                  <a:pt x="0" y="1057656"/>
                </a:lnTo>
                <a:lnTo>
                  <a:pt x="146303" y="528828"/>
                </a:lnTo>
                <a:lnTo>
                  <a:pt x="0"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9" name="object 39"/>
          <p:cNvSpPr/>
          <p:nvPr/>
        </p:nvSpPr>
        <p:spPr>
          <a:xfrm>
            <a:off x="1524444" y="1497825"/>
            <a:ext cx="1064522" cy="674654"/>
          </a:xfrm>
          <a:prstGeom prst="rect">
            <a:avLst/>
          </a:prstGeom>
          <a:blipFill>
            <a:blip r:embed="rId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0" name="object 40"/>
          <p:cNvSpPr/>
          <p:nvPr/>
        </p:nvSpPr>
        <p:spPr>
          <a:xfrm>
            <a:off x="1712941" y="2902374"/>
            <a:ext cx="691025" cy="474009"/>
          </a:xfrm>
          <a:custGeom>
            <a:avLst/>
            <a:gdLst/>
            <a:ahLst/>
            <a:cxnLst/>
            <a:rect l="l" t="t" r="r" b="b"/>
            <a:pathLst>
              <a:path w="691514" h="474345">
                <a:moveTo>
                  <a:pt x="497772" y="0"/>
                </a:moveTo>
                <a:lnTo>
                  <a:pt x="214036" y="0"/>
                </a:lnTo>
                <a:lnTo>
                  <a:pt x="0" y="154355"/>
                </a:lnTo>
                <a:lnTo>
                  <a:pt x="22482" y="172995"/>
                </a:lnTo>
                <a:lnTo>
                  <a:pt x="31475" y="180826"/>
                </a:lnTo>
                <a:lnTo>
                  <a:pt x="53506" y="199093"/>
                </a:lnTo>
                <a:lnTo>
                  <a:pt x="79136" y="221088"/>
                </a:lnTo>
                <a:lnTo>
                  <a:pt x="93526" y="233024"/>
                </a:lnTo>
                <a:lnTo>
                  <a:pt x="108365" y="245698"/>
                </a:lnTo>
                <a:lnTo>
                  <a:pt x="123657" y="259117"/>
                </a:lnTo>
                <a:lnTo>
                  <a:pt x="139391" y="272542"/>
                </a:lnTo>
                <a:lnTo>
                  <a:pt x="171321" y="300507"/>
                </a:lnTo>
                <a:lnTo>
                  <a:pt x="187055" y="314670"/>
                </a:lnTo>
                <a:lnTo>
                  <a:pt x="203244" y="328839"/>
                </a:lnTo>
                <a:lnTo>
                  <a:pt x="234271" y="356804"/>
                </a:lnTo>
                <a:lnTo>
                  <a:pt x="276538" y="396321"/>
                </a:lnTo>
                <a:lnTo>
                  <a:pt x="311611" y="430997"/>
                </a:lnTo>
                <a:lnTo>
                  <a:pt x="320605" y="441063"/>
                </a:lnTo>
                <a:lnTo>
                  <a:pt x="328702" y="450012"/>
                </a:lnTo>
                <a:lnTo>
                  <a:pt x="334995" y="457841"/>
                </a:lnTo>
                <a:lnTo>
                  <a:pt x="339943" y="464552"/>
                </a:lnTo>
                <a:lnTo>
                  <a:pt x="342638" y="470145"/>
                </a:lnTo>
                <a:lnTo>
                  <a:pt x="343988" y="474246"/>
                </a:lnTo>
                <a:lnTo>
                  <a:pt x="345339" y="474246"/>
                </a:lnTo>
                <a:lnTo>
                  <a:pt x="348482" y="472755"/>
                </a:lnTo>
                <a:lnTo>
                  <a:pt x="351183" y="470890"/>
                </a:lnTo>
                <a:lnTo>
                  <a:pt x="352534" y="470145"/>
                </a:lnTo>
                <a:lnTo>
                  <a:pt x="353430" y="469399"/>
                </a:lnTo>
                <a:lnTo>
                  <a:pt x="355677" y="467162"/>
                </a:lnTo>
                <a:lnTo>
                  <a:pt x="359275" y="463434"/>
                </a:lnTo>
                <a:lnTo>
                  <a:pt x="364671" y="458214"/>
                </a:lnTo>
                <a:lnTo>
                  <a:pt x="370970" y="452248"/>
                </a:lnTo>
                <a:lnTo>
                  <a:pt x="378613" y="444792"/>
                </a:lnTo>
                <a:lnTo>
                  <a:pt x="387152" y="436590"/>
                </a:lnTo>
                <a:lnTo>
                  <a:pt x="397048" y="426897"/>
                </a:lnTo>
                <a:lnTo>
                  <a:pt x="407841" y="416827"/>
                </a:lnTo>
                <a:lnTo>
                  <a:pt x="431218" y="394461"/>
                </a:lnTo>
                <a:lnTo>
                  <a:pt x="443810" y="382153"/>
                </a:lnTo>
                <a:lnTo>
                  <a:pt x="457303" y="369478"/>
                </a:lnTo>
                <a:lnTo>
                  <a:pt x="470791" y="356431"/>
                </a:lnTo>
                <a:lnTo>
                  <a:pt x="513961" y="316164"/>
                </a:lnTo>
                <a:lnTo>
                  <a:pt x="528345" y="302368"/>
                </a:lnTo>
                <a:lnTo>
                  <a:pt x="543183" y="288949"/>
                </a:lnTo>
                <a:lnTo>
                  <a:pt x="557573" y="275524"/>
                </a:lnTo>
                <a:lnTo>
                  <a:pt x="585904" y="249798"/>
                </a:lnTo>
                <a:lnTo>
                  <a:pt x="599828" y="237495"/>
                </a:lnTo>
                <a:lnTo>
                  <a:pt x="612898" y="225565"/>
                </a:lnTo>
                <a:lnTo>
                  <a:pt x="648873" y="194617"/>
                </a:lnTo>
                <a:lnTo>
                  <a:pt x="684848" y="167030"/>
                </a:lnTo>
                <a:lnTo>
                  <a:pt x="691134" y="162931"/>
                </a:lnTo>
                <a:lnTo>
                  <a:pt x="497772" y="0"/>
                </a:lnTo>
                <a:close/>
              </a:path>
            </a:pathLst>
          </a:custGeom>
          <a:solidFill>
            <a:srgbClr val="ACF7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1" name="object 41"/>
          <p:cNvSpPr/>
          <p:nvPr/>
        </p:nvSpPr>
        <p:spPr>
          <a:xfrm>
            <a:off x="2135769" y="2919885"/>
            <a:ext cx="152927" cy="150388"/>
          </a:xfrm>
          <a:custGeom>
            <a:avLst/>
            <a:gdLst/>
            <a:ahLst/>
            <a:cxnLst/>
            <a:rect l="l" t="t" r="r" b="b"/>
            <a:pathLst>
              <a:path w="153035" h="150494">
                <a:moveTo>
                  <a:pt x="60703" y="0"/>
                </a:moveTo>
                <a:lnTo>
                  <a:pt x="0" y="35418"/>
                </a:lnTo>
                <a:lnTo>
                  <a:pt x="152433" y="149878"/>
                </a:lnTo>
                <a:lnTo>
                  <a:pt x="60703" y="0"/>
                </a:lnTo>
                <a:close/>
              </a:path>
            </a:pathLst>
          </a:custGeom>
          <a:solidFill>
            <a:srgbClr val="7EBE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2" name="object 42"/>
          <p:cNvSpPr/>
          <p:nvPr/>
        </p:nvSpPr>
        <p:spPr>
          <a:xfrm>
            <a:off x="2058932" y="3114737"/>
            <a:ext cx="146581" cy="204325"/>
          </a:xfrm>
          <a:custGeom>
            <a:avLst/>
            <a:gdLst/>
            <a:ahLst/>
            <a:cxnLst/>
            <a:rect l="l" t="t" r="r" b="b"/>
            <a:pathLst>
              <a:path w="146685" h="204470">
                <a:moveTo>
                  <a:pt x="146140" y="0"/>
                </a:moveTo>
                <a:lnTo>
                  <a:pt x="0" y="21255"/>
                </a:lnTo>
                <a:lnTo>
                  <a:pt x="5844" y="204314"/>
                </a:lnTo>
                <a:lnTo>
                  <a:pt x="146140" y="0"/>
                </a:lnTo>
                <a:close/>
              </a:path>
            </a:pathLst>
          </a:custGeom>
          <a:solidFill>
            <a:srgbClr val="86E4E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3" name="object 43"/>
          <p:cNvSpPr/>
          <p:nvPr/>
        </p:nvSpPr>
        <p:spPr>
          <a:xfrm>
            <a:off x="1915594" y="2890080"/>
            <a:ext cx="283644" cy="44419"/>
          </a:xfrm>
          <a:custGeom>
            <a:avLst/>
            <a:gdLst/>
            <a:ahLst/>
            <a:cxnLst/>
            <a:rect l="l" t="t" r="r" b="b"/>
            <a:pathLst>
              <a:path w="283844" h="44450">
                <a:moveTo>
                  <a:pt x="223928" y="0"/>
                </a:moveTo>
                <a:lnTo>
                  <a:pt x="152881" y="0"/>
                </a:lnTo>
                <a:lnTo>
                  <a:pt x="102522" y="744"/>
                </a:lnTo>
                <a:lnTo>
                  <a:pt x="56657" y="2982"/>
                </a:lnTo>
                <a:lnTo>
                  <a:pt x="8091" y="9692"/>
                </a:lnTo>
                <a:lnTo>
                  <a:pt x="0" y="13046"/>
                </a:lnTo>
                <a:lnTo>
                  <a:pt x="76891" y="43994"/>
                </a:lnTo>
                <a:lnTo>
                  <a:pt x="231571" y="43994"/>
                </a:lnTo>
                <a:lnTo>
                  <a:pt x="283735" y="1116"/>
                </a:lnTo>
                <a:lnTo>
                  <a:pt x="281034" y="1116"/>
                </a:lnTo>
                <a:lnTo>
                  <a:pt x="272943" y="744"/>
                </a:lnTo>
                <a:lnTo>
                  <a:pt x="259903" y="744"/>
                </a:lnTo>
                <a:lnTo>
                  <a:pt x="223928" y="0"/>
                </a:lnTo>
                <a:close/>
              </a:path>
            </a:pathLst>
          </a:custGeom>
          <a:solidFill>
            <a:srgbClr val="C5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4" name="object 44"/>
          <p:cNvSpPr/>
          <p:nvPr/>
        </p:nvSpPr>
        <p:spPr>
          <a:xfrm>
            <a:off x="1695417" y="3068170"/>
            <a:ext cx="340754" cy="314102"/>
          </a:xfrm>
          <a:custGeom>
            <a:avLst/>
            <a:gdLst/>
            <a:ahLst/>
            <a:cxnLst/>
            <a:rect l="l" t="t" r="r" b="b"/>
            <a:pathLst>
              <a:path w="340994" h="314325">
                <a:moveTo>
                  <a:pt x="339339" y="312957"/>
                </a:moveTo>
                <a:lnTo>
                  <a:pt x="339492" y="313179"/>
                </a:lnTo>
                <a:lnTo>
                  <a:pt x="340388" y="313925"/>
                </a:lnTo>
                <a:lnTo>
                  <a:pt x="339339" y="312957"/>
                </a:lnTo>
                <a:close/>
              </a:path>
              <a:path w="340994" h="314325">
                <a:moveTo>
                  <a:pt x="0" y="0"/>
                </a:moveTo>
                <a:lnTo>
                  <a:pt x="339339" y="312957"/>
                </a:lnTo>
                <a:lnTo>
                  <a:pt x="337693" y="310570"/>
                </a:lnTo>
                <a:lnTo>
                  <a:pt x="334096" y="306096"/>
                </a:lnTo>
                <a:lnTo>
                  <a:pt x="329148" y="300503"/>
                </a:lnTo>
                <a:lnTo>
                  <a:pt x="323303" y="293419"/>
                </a:lnTo>
                <a:lnTo>
                  <a:pt x="316556" y="284844"/>
                </a:lnTo>
                <a:lnTo>
                  <a:pt x="308465" y="275523"/>
                </a:lnTo>
                <a:lnTo>
                  <a:pt x="299471" y="264711"/>
                </a:lnTo>
                <a:lnTo>
                  <a:pt x="289581" y="253525"/>
                </a:lnTo>
                <a:lnTo>
                  <a:pt x="279237" y="241222"/>
                </a:lnTo>
                <a:lnTo>
                  <a:pt x="267996" y="228175"/>
                </a:lnTo>
                <a:lnTo>
                  <a:pt x="255853" y="214751"/>
                </a:lnTo>
                <a:lnTo>
                  <a:pt x="243262" y="200582"/>
                </a:lnTo>
                <a:lnTo>
                  <a:pt x="230223" y="186414"/>
                </a:lnTo>
                <a:lnTo>
                  <a:pt x="216735" y="171501"/>
                </a:lnTo>
                <a:lnTo>
                  <a:pt x="203248" y="156960"/>
                </a:lnTo>
                <a:lnTo>
                  <a:pt x="188858" y="142419"/>
                </a:lnTo>
                <a:lnTo>
                  <a:pt x="174916" y="127506"/>
                </a:lnTo>
                <a:lnTo>
                  <a:pt x="146136" y="99169"/>
                </a:lnTo>
                <a:lnTo>
                  <a:pt x="117810" y="72698"/>
                </a:lnTo>
                <a:lnTo>
                  <a:pt x="76893" y="38401"/>
                </a:lnTo>
                <a:lnTo>
                  <a:pt x="40019" y="13419"/>
                </a:lnTo>
                <a:lnTo>
                  <a:pt x="8543" y="744"/>
                </a:lnTo>
                <a:lnTo>
                  <a:pt x="0" y="0"/>
                </a:lnTo>
                <a:close/>
              </a:path>
            </a:pathLst>
          </a:custGeom>
          <a:solidFill>
            <a:srgbClr val="00000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5" name="object 45"/>
          <p:cNvSpPr/>
          <p:nvPr/>
        </p:nvSpPr>
        <p:spPr>
          <a:xfrm>
            <a:off x="2077802" y="3068170"/>
            <a:ext cx="350272" cy="310930"/>
          </a:xfrm>
          <a:custGeom>
            <a:avLst/>
            <a:gdLst/>
            <a:ahLst/>
            <a:cxnLst/>
            <a:rect l="l" t="t" r="r" b="b"/>
            <a:pathLst>
              <a:path w="350519" h="311150">
                <a:moveTo>
                  <a:pt x="350289" y="0"/>
                </a:moveTo>
                <a:lnTo>
                  <a:pt x="349853" y="0"/>
                </a:lnTo>
                <a:lnTo>
                  <a:pt x="348484" y="372"/>
                </a:lnTo>
                <a:lnTo>
                  <a:pt x="340392" y="3726"/>
                </a:lnTo>
                <a:lnTo>
                  <a:pt x="335911" y="5965"/>
                </a:lnTo>
                <a:lnTo>
                  <a:pt x="325081" y="10808"/>
                </a:lnTo>
                <a:lnTo>
                  <a:pt x="318359" y="14540"/>
                </a:lnTo>
                <a:lnTo>
                  <a:pt x="311139" y="18267"/>
                </a:lnTo>
                <a:lnTo>
                  <a:pt x="303546" y="22738"/>
                </a:lnTo>
                <a:lnTo>
                  <a:pt x="294957" y="27959"/>
                </a:lnTo>
                <a:lnTo>
                  <a:pt x="285559" y="33552"/>
                </a:lnTo>
                <a:lnTo>
                  <a:pt x="275662" y="40262"/>
                </a:lnTo>
                <a:lnTo>
                  <a:pt x="241928" y="63750"/>
                </a:lnTo>
                <a:lnTo>
                  <a:pt x="203246" y="95070"/>
                </a:lnTo>
                <a:lnTo>
                  <a:pt x="174472" y="120425"/>
                </a:lnTo>
                <a:lnTo>
                  <a:pt x="143445" y="149506"/>
                </a:lnTo>
                <a:lnTo>
                  <a:pt x="110165" y="183059"/>
                </a:lnTo>
                <a:lnTo>
                  <a:pt x="75547" y="220716"/>
                </a:lnTo>
                <a:lnTo>
                  <a:pt x="38669" y="263219"/>
                </a:lnTo>
                <a:lnTo>
                  <a:pt x="0" y="310942"/>
                </a:lnTo>
                <a:lnTo>
                  <a:pt x="350289" y="0"/>
                </a:lnTo>
                <a:close/>
              </a:path>
            </a:pathLst>
          </a:custGeom>
          <a:solidFill>
            <a:srgbClr val="00000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6" name="object 46"/>
          <p:cNvSpPr/>
          <p:nvPr/>
        </p:nvSpPr>
        <p:spPr>
          <a:xfrm>
            <a:off x="1688677" y="2896785"/>
            <a:ext cx="213886" cy="136734"/>
          </a:xfrm>
          <a:prstGeom prst="rect">
            <a:avLst/>
          </a:prstGeom>
          <a:blipFill>
            <a:blip r:embed="rId2"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7" name="object 47"/>
          <p:cNvSpPr/>
          <p:nvPr/>
        </p:nvSpPr>
        <p:spPr>
          <a:xfrm>
            <a:off x="2227882" y="2893804"/>
            <a:ext cx="189637" cy="154246"/>
          </a:xfrm>
          <a:prstGeom prst="rect">
            <a:avLst/>
          </a:prstGeom>
          <a:blipFill>
            <a:blip r:embed="rId3"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8" name="object 48"/>
          <p:cNvSpPr/>
          <p:nvPr/>
        </p:nvSpPr>
        <p:spPr>
          <a:xfrm>
            <a:off x="1734060" y="3068170"/>
            <a:ext cx="322986" cy="308391"/>
          </a:xfrm>
          <a:custGeom>
            <a:avLst/>
            <a:gdLst/>
            <a:ahLst/>
            <a:cxnLst/>
            <a:rect l="l" t="t" r="r" b="b"/>
            <a:pathLst>
              <a:path w="323214" h="308610">
                <a:moveTo>
                  <a:pt x="0" y="0"/>
                </a:moveTo>
                <a:lnTo>
                  <a:pt x="44963" y="18267"/>
                </a:lnTo>
                <a:lnTo>
                  <a:pt x="83185" y="44738"/>
                </a:lnTo>
                <a:lnTo>
                  <a:pt x="123206" y="79413"/>
                </a:lnTo>
                <a:lnTo>
                  <a:pt x="163226" y="118931"/>
                </a:lnTo>
                <a:lnTo>
                  <a:pt x="176714" y="132727"/>
                </a:lnTo>
                <a:lnTo>
                  <a:pt x="202345" y="160687"/>
                </a:lnTo>
                <a:lnTo>
                  <a:pt x="214488" y="174856"/>
                </a:lnTo>
                <a:lnTo>
                  <a:pt x="226625" y="188652"/>
                </a:lnTo>
                <a:lnTo>
                  <a:pt x="238320" y="202076"/>
                </a:lnTo>
                <a:lnTo>
                  <a:pt x="249560" y="215495"/>
                </a:lnTo>
                <a:lnTo>
                  <a:pt x="259905" y="228175"/>
                </a:lnTo>
                <a:lnTo>
                  <a:pt x="269795" y="240478"/>
                </a:lnTo>
                <a:lnTo>
                  <a:pt x="287782" y="262474"/>
                </a:lnTo>
                <a:lnTo>
                  <a:pt x="302172" y="281488"/>
                </a:lnTo>
                <a:lnTo>
                  <a:pt x="308465" y="289318"/>
                </a:lnTo>
                <a:lnTo>
                  <a:pt x="313413" y="295656"/>
                </a:lnTo>
                <a:lnTo>
                  <a:pt x="317458" y="301248"/>
                </a:lnTo>
                <a:lnTo>
                  <a:pt x="320608" y="304977"/>
                </a:lnTo>
                <a:lnTo>
                  <a:pt x="322406" y="307587"/>
                </a:lnTo>
                <a:lnTo>
                  <a:pt x="322855" y="308333"/>
                </a:lnTo>
                <a:lnTo>
                  <a:pt x="242365" y="32064"/>
                </a:lnTo>
                <a:lnTo>
                  <a:pt x="0" y="0"/>
                </a:lnTo>
                <a:close/>
              </a:path>
            </a:pathLst>
          </a:custGeom>
          <a:solidFill>
            <a:srgbClr val="7EBE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9" name="object 49"/>
          <p:cNvSpPr/>
          <p:nvPr/>
        </p:nvSpPr>
        <p:spPr>
          <a:xfrm>
            <a:off x="1723276" y="2955279"/>
            <a:ext cx="269684" cy="133890"/>
          </a:xfrm>
          <a:custGeom>
            <a:avLst/>
            <a:gdLst/>
            <a:ahLst/>
            <a:cxnLst/>
            <a:rect l="l" t="t" r="r" b="b"/>
            <a:pathLst>
              <a:path w="269875" h="133985">
                <a:moveTo>
                  <a:pt x="269794" y="0"/>
                </a:moveTo>
                <a:lnTo>
                  <a:pt x="242364" y="35791"/>
                </a:lnTo>
                <a:lnTo>
                  <a:pt x="204591" y="61889"/>
                </a:lnTo>
                <a:lnTo>
                  <a:pt x="160524" y="79785"/>
                </a:lnTo>
                <a:lnTo>
                  <a:pt x="114659" y="91343"/>
                </a:lnTo>
                <a:lnTo>
                  <a:pt x="51709" y="99174"/>
                </a:lnTo>
                <a:lnTo>
                  <a:pt x="20234" y="100291"/>
                </a:lnTo>
                <a:lnTo>
                  <a:pt x="0" y="100291"/>
                </a:lnTo>
                <a:lnTo>
                  <a:pt x="238319" y="133477"/>
                </a:lnTo>
                <a:lnTo>
                  <a:pt x="269794" y="0"/>
                </a:lnTo>
                <a:close/>
              </a:path>
            </a:pathLst>
          </a:custGeom>
          <a:solidFill>
            <a:srgbClr val="C5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0" name="object 50"/>
          <p:cNvSpPr/>
          <p:nvPr/>
        </p:nvSpPr>
        <p:spPr>
          <a:xfrm>
            <a:off x="1901215" y="3119581"/>
            <a:ext cx="143408" cy="242398"/>
          </a:xfrm>
          <a:custGeom>
            <a:avLst/>
            <a:gdLst/>
            <a:ahLst/>
            <a:cxnLst/>
            <a:rect l="l" t="t" r="r" b="b"/>
            <a:pathLst>
              <a:path w="143510" h="242570">
                <a:moveTo>
                  <a:pt x="51709" y="0"/>
                </a:moveTo>
                <a:lnTo>
                  <a:pt x="0" y="30575"/>
                </a:lnTo>
                <a:lnTo>
                  <a:pt x="143439" y="242344"/>
                </a:lnTo>
                <a:lnTo>
                  <a:pt x="51709" y="0"/>
                </a:lnTo>
                <a:close/>
              </a:path>
            </a:pathLst>
          </a:custGeom>
          <a:solidFill>
            <a:srgbClr val="C5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1" name="object 51"/>
          <p:cNvSpPr/>
          <p:nvPr/>
        </p:nvSpPr>
        <p:spPr>
          <a:xfrm>
            <a:off x="2067472" y="3100584"/>
            <a:ext cx="206863" cy="259531"/>
          </a:xfrm>
          <a:custGeom>
            <a:avLst/>
            <a:gdLst/>
            <a:ahLst/>
            <a:cxnLst/>
            <a:rect l="l" t="t" r="r" b="b"/>
            <a:pathLst>
              <a:path w="207010" h="259714">
                <a:moveTo>
                  <a:pt x="206389" y="0"/>
                </a:moveTo>
                <a:lnTo>
                  <a:pt x="168167" y="5215"/>
                </a:lnTo>
                <a:lnTo>
                  <a:pt x="129951" y="16029"/>
                </a:lnTo>
                <a:lnTo>
                  <a:pt x="87684" y="35790"/>
                </a:lnTo>
                <a:lnTo>
                  <a:pt x="47663" y="67482"/>
                </a:lnTo>
                <a:lnTo>
                  <a:pt x="16636" y="113338"/>
                </a:lnTo>
                <a:lnTo>
                  <a:pt x="448" y="176349"/>
                </a:lnTo>
                <a:lnTo>
                  <a:pt x="0" y="215123"/>
                </a:lnTo>
                <a:lnTo>
                  <a:pt x="5844" y="259118"/>
                </a:lnTo>
                <a:lnTo>
                  <a:pt x="206389" y="0"/>
                </a:lnTo>
                <a:close/>
              </a:path>
            </a:pathLst>
          </a:custGeom>
          <a:solidFill>
            <a:srgbClr val="D2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2" name="object 52"/>
          <p:cNvSpPr/>
          <p:nvPr/>
        </p:nvSpPr>
        <p:spPr>
          <a:xfrm>
            <a:off x="2224741" y="2915040"/>
            <a:ext cx="178943" cy="164349"/>
          </a:xfrm>
          <a:custGeom>
            <a:avLst/>
            <a:gdLst/>
            <a:ahLst/>
            <a:cxnLst/>
            <a:rect l="l" t="t" r="r" b="b"/>
            <a:pathLst>
              <a:path w="179069" h="164464">
                <a:moveTo>
                  <a:pt x="0" y="0"/>
                </a:moveTo>
                <a:lnTo>
                  <a:pt x="83184" y="164047"/>
                </a:lnTo>
                <a:lnTo>
                  <a:pt x="178972" y="150256"/>
                </a:lnTo>
                <a:lnTo>
                  <a:pt x="0" y="0"/>
                </a:lnTo>
                <a:close/>
              </a:path>
            </a:pathLst>
          </a:custGeom>
          <a:solidFill>
            <a:srgbClr val="D2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3" name="object 53"/>
          <p:cNvSpPr/>
          <p:nvPr/>
        </p:nvSpPr>
        <p:spPr>
          <a:xfrm>
            <a:off x="2041859" y="2962728"/>
            <a:ext cx="37438" cy="90741"/>
          </a:xfrm>
          <a:custGeom>
            <a:avLst/>
            <a:gdLst/>
            <a:ahLst/>
            <a:cxnLst/>
            <a:rect l="l" t="t" r="r" b="b"/>
            <a:pathLst>
              <a:path w="37464" h="90805">
                <a:moveTo>
                  <a:pt x="0" y="0"/>
                </a:moveTo>
                <a:lnTo>
                  <a:pt x="5844" y="90227"/>
                </a:lnTo>
                <a:lnTo>
                  <a:pt x="37319" y="2238"/>
                </a:lnTo>
                <a:lnTo>
                  <a:pt x="0" y="0"/>
                </a:lnTo>
                <a:close/>
              </a:path>
            </a:pathLst>
          </a:custGeom>
          <a:solidFill>
            <a:srgbClr val="86E4E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4" name="object 54"/>
          <p:cNvSpPr/>
          <p:nvPr/>
        </p:nvSpPr>
        <p:spPr>
          <a:xfrm>
            <a:off x="1848640" y="2960868"/>
            <a:ext cx="147216" cy="118661"/>
          </a:xfrm>
          <a:custGeom>
            <a:avLst/>
            <a:gdLst/>
            <a:ahLst/>
            <a:cxnLst/>
            <a:rect l="l" t="t" r="r" b="b"/>
            <a:pathLst>
              <a:path w="147319" h="118744">
                <a:moveTo>
                  <a:pt x="141125" y="13751"/>
                </a:moveTo>
                <a:lnTo>
                  <a:pt x="121412" y="46976"/>
                </a:lnTo>
                <a:lnTo>
                  <a:pt x="93080" y="78296"/>
                </a:lnTo>
                <a:lnTo>
                  <a:pt x="53059" y="103273"/>
                </a:lnTo>
                <a:lnTo>
                  <a:pt x="0" y="111849"/>
                </a:lnTo>
                <a:lnTo>
                  <a:pt x="96229" y="118186"/>
                </a:lnTo>
                <a:lnTo>
                  <a:pt x="141125" y="13751"/>
                </a:lnTo>
                <a:close/>
              </a:path>
              <a:path w="147319" h="118744">
                <a:moveTo>
                  <a:pt x="147036" y="0"/>
                </a:moveTo>
                <a:lnTo>
                  <a:pt x="141125" y="13751"/>
                </a:lnTo>
                <a:lnTo>
                  <a:pt x="142543" y="10813"/>
                </a:lnTo>
                <a:lnTo>
                  <a:pt x="145244" y="4848"/>
                </a:lnTo>
                <a:lnTo>
                  <a:pt x="146588" y="1488"/>
                </a:lnTo>
                <a:lnTo>
                  <a:pt x="147036" y="0"/>
                </a:lnTo>
                <a:close/>
              </a:path>
            </a:pathLst>
          </a:custGeom>
          <a:solidFill>
            <a:srgbClr val="6BC4E8"/>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5" name="object 55"/>
          <p:cNvSpPr/>
          <p:nvPr/>
        </p:nvSpPr>
        <p:spPr>
          <a:xfrm>
            <a:off x="2000517" y="3015637"/>
            <a:ext cx="232880" cy="57744"/>
          </a:xfrm>
          <a:custGeom>
            <a:avLst/>
            <a:gdLst/>
            <a:ahLst/>
            <a:cxnLst/>
            <a:rect l="l" t="t" r="r" b="b"/>
            <a:pathLst>
              <a:path w="233044" h="57785">
                <a:moveTo>
                  <a:pt x="0" y="0"/>
                </a:moveTo>
                <a:lnTo>
                  <a:pt x="14838" y="57413"/>
                </a:lnTo>
                <a:lnTo>
                  <a:pt x="232922" y="52192"/>
                </a:lnTo>
                <a:lnTo>
                  <a:pt x="0" y="0"/>
                </a:lnTo>
                <a:close/>
              </a:path>
            </a:pathLst>
          </a:custGeom>
          <a:solidFill>
            <a:srgbClr val="6BC4E8"/>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6" name="object 56"/>
          <p:cNvSpPr/>
          <p:nvPr/>
        </p:nvSpPr>
        <p:spPr>
          <a:xfrm>
            <a:off x="2090832" y="3104679"/>
            <a:ext cx="167606" cy="230622"/>
          </a:xfrm>
          <a:prstGeom prst="rect">
            <a:avLst/>
          </a:prstGeom>
          <a:blipFill>
            <a:blip r:embed="rId4"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57" name="object 57"/>
          <p:cNvSpPr/>
          <p:nvPr/>
        </p:nvSpPr>
        <p:spPr>
          <a:xfrm>
            <a:off x="1979401" y="2938140"/>
            <a:ext cx="286817" cy="157368"/>
          </a:xfrm>
          <a:custGeom>
            <a:avLst/>
            <a:gdLst/>
            <a:ahLst/>
            <a:cxnLst/>
            <a:rect l="l" t="t" r="r" b="b"/>
            <a:pathLst>
              <a:path w="287019" h="157480">
                <a:moveTo>
                  <a:pt x="165920" y="0"/>
                </a:moveTo>
                <a:lnTo>
                  <a:pt x="159173" y="55180"/>
                </a:lnTo>
                <a:lnTo>
                  <a:pt x="123653" y="97680"/>
                </a:lnTo>
                <a:lnTo>
                  <a:pt x="91729" y="119308"/>
                </a:lnTo>
                <a:lnTo>
                  <a:pt x="43163" y="142424"/>
                </a:lnTo>
                <a:lnTo>
                  <a:pt x="2246" y="156216"/>
                </a:lnTo>
                <a:lnTo>
                  <a:pt x="0" y="156965"/>
                </a:lnTo>
                <a:lnTo>
                  <a:pt x="286878" y="152117"/>
                </a:lnTo>
                <a:lnTo>
                  <a:pt x="165920" y="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8" name="object 58"/>
          <p:cNvSpPr/>
          <p:nvPr/>
        </p:nvSpPr>
        <p:spPr>
          <a:xfrm>
            <a:off x="1778545" y="3090335"/>
            <a:ext cx="358521" cy="0"/>
          </a:xfrm>
          <a:custGeom>
            <a:avLst/>
            <a:gdLst/>
            <a:ahLst/>
            <a:cxnLst/>
            <a:rect l="l" t="t" r="r" b="b"/>
            <a:pathLst>
              <a:path w="358775">
                <a:moveTo>
                  <a:pt x="0" y="0"/>
                </a:moveTo>
                <a:lnTo>
                  <a:pt x="358380" y="0"/>
                </a:lnTo>
              </a:path>
            </a:pathLst>
          </a:custGeom>
          <a:ln w="33185">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9" name="object 59"/>
          <p:cNvSpPr/>
          <p:nvPr/>
        </p:nvSpPr>
        <p:spPr>
          <a:xfrm>
            <a:off x="1843248" y="2905354"/>
            <a:ext cx="120565" cy="121199"/>
          </a:xfrm>
          <a:custGeom>
            <a:avLst/>
            <a:gdLst/>
            <a:ahLst/>
            <a:cxnLst/>
            <a:rect l="l" t="t" r="r" b="b"/>
            <a:pathLst>
              <a:path w="120650" h="121285">
                <a:moveTo>
                  <a:pt x="89034" y="0"/>
                </a:moveTo>
                <a:lnTo>
                  <a:pt x="0" y="121169"/>
                </a:lnTo>
                <a:lnTo>
                  <a:pt x="120509" y="26098"/>
                </a:lnTo>
                <a:lnTo>
                  <a:pt x="89034" y="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0" name="object 60"/>
          <p:cNvSpPr/>
          <p:nvPr/>
        </p:nvSpPr>
        <p:spPr>
          <a:xfrm>
            <a:off x="2057134" y="3118838"/>
            <a:ext cx="196076" cy="244936"/>
          </a:xfrm>
          <a:custGeom>
            <a:avLst/>
            <a:gdLst/>
            <a:ahLst/>
            <a:cxnLst/>
            <a:rect l="l" t="t" r="r" b="b"/>
            <a:pathLst>
              <a:path w="196214" h="245110">
                <a:moveTo>
                  <a:pt x="194700" y="0"/>
                </a:moveTo>
                <a:lnTo>
                  <a:pt x="0" y="244579"/>
                </a:lnTo>
                <a:lnTo>
                  <a:pt x="39118" y="205803"/>
                </a:lnTo>
                <a:lnTo>
                  <a:pt x="72398" y="171128"/>
                </a:lnTo>
                <a:lnTo>
                  <a:pt x="101171" y="140558"/>
                </a:lnTo>
                <a:lnTo>
                  <a:pt x="144341" y="90971"/>
                </a:lnTo>
                <a:lnTo>
                  <a:pt x="172219" y="54058"/>
                </a:lnTo>
                <a:lnTo>
                  <a:pt x="192005" y="19761"/>
                </a:lnTo>
                <a:lnTo>
                  <a:pt x="196051" y="3726"/>
                </a:lnTo>
                <a:lnTo>
                  <a:pt x="195603" y="1488"/>
                </a:lnTo>
                <a:lnTo>
                  <a:pt x="195154" y="372"/>
                </a:lnTo>
                <a:lnTo>
                  <a:pt x="194700" y="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1" name="object 61"/>
          <p:cNvSpPr/>
          <p:nvPr/>
        </p:nvSpPr>
        <p:spPr>
          <a:xfrm>
            <a:off x="1989284" y="2912803"/>
            <a:ext cx="174501" cy="26651"/>
          </a:xfrm>
          <a:custGeom>
            <a:avLst/>
            <a:gdLst/>
            <a:ahLst/>
            <a:cxnLst/>
            <a:rect l="l" t="t" r="r" b="b"/>
            <a:pathLst>
              <a:path w="174625" h="26669">
                <a:moveTo>
                  <a:pt x="174018" y="0"/>
                </a:moveTo>
                <a:lnTo>
                  <a:pt x="0" y="26098"/>
                </a:lnTo>
                <a:lnTo>
                  <a:pt x="156030" y="25354"/>
                </a:lnTo>
                <a:lnTo>
                  <a:pt x="174018" y="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2" name="object 62"/>
          <p:cNvSpPr/>
          <p:nvPr/>
        </p:nvSpPr>
        <p:spPr>
          <a:xfrm>
            <a:off x="2303824" y="2999614"/>
            <a:ext cx="86299" cy="80588"/>
          </a:xfrm>
          <a:custGeom>
            <a:avLst/>
            <a:gdLst/>
            <a:ahLst/>
            <a:cxnLst/>
            <a:rect l="l" t="t" r="r" b="b"/>
            <a:pathLst>
              <a:path w="86360" h="80644">
                <a:moveTo>
                  <a:pt x="0" y="0"/>
                </a:moveTo>
                <a:lnTo>
                  <a:pt x="15746" y="12674"/>
                </a:lnTo>
                <a:lnTo>
                  <a:pt x="22904" y="26098"/>
                </a:lnTo>
                <a:lnTo>
                  <a:pt x="24273" y="39523"/>
                </a:lnTo>
                <a:lnTo>
                  <a:pt x="20663" y="52197"/>
                </a:lnTo>
                <a:lnTo>
                  <a:pt x="14377" y="63383"/>
                </a:lnTo>
                <a:lnTo>
                  <a:pt x="7655" y="72331"/>
                </a:lnTo>
                <a:lnTo>
                  <a:pt x="2246" y="77924"/>
                </a:lnTo>
                <a:lnTo>
                  <a:pt x="0" y="80162"/>
                </a:lnTo>
                <a:lnTo>
                  <a:pt x="86327" y="62639"/>
                </a:lnTo>
                <a:lnTo>
                  <a:pt x="0" y="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3" name="object 63"/>
          <p:cNvSpPr/>
          <p:nvPr/>
        </p:nvSpPr>
        <p:spPr>
          <a:xfrm>
            <a:off x="2244507" y="3079721"/>
            <a:ext cx="109777" cy="104065"/>
          </a:xfrm>
          <a:custGeom>
            <a:avLst/>
            <a:gdLst/>
            <a:ahLst/>
            <a:cxnLst/>
            <a:rect l="l" t="t" r="r" b="b"/>
            <a:pathLst>
              <a:path w="109855" h="104139">
                <a:moveTo>
                  <a:pt x="109711" y="0"/>
                </a:moveTo>
                <a:lnTo>
                  <a:pt x="54858" y="15285"/>
                </a:lnTo>
                <a:lnTo>
                  <a:pt x="0" y="103646"/>
                </a:lnTo>
                <a:lnTo>
                  <a:pt x="109711" y="0"/>
                </a:lnTo>
                <a:close/>
              </a:path>
            </a:pathLst>
          </a:custGeom>
          <a:solidFill>
            <a:srgbClr val="7EBE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4" name="object 64"/>
          <p:cNvSpPr/>
          <p:nvPr/>
        </p:nvSpPr>
        <p:spPr>
          <a:xfrm>
            <a:off x="1980297" y="2928083"/>
            <a:ext cx="54571" cy="56475"/>
          </a:xfrm>
          <a:custGeom>
            <a:avLst/>
            <a:gdLst/>
            <a:ahLst/>
            <a:cxnLst/>
            <a:rect l="l" t="t" r="r" b="b"/>
            <a:pathLst>
              <a:path w="54610" h="56514">
                <a:moveTo>
                  <a:pt x="0" y="0"/>
                </a:moveTo>
                <a:lnTo>
                  <a:pt x="902" y="1860"/>
                </a:lnTo>
                <a:lnTo>
                  <a:pt x="2701" y="6337"/>
                </a:lnTo>
                <a:lnTo>
                  <a:pt x="5844" y="13419"/>
                </a:lnTo>
                <a:lnTo>
                  <a:pt x="8993" y="21622"/>
                </a:lnTo>
                <a:lnTo>
                  <a:pt x="11694" y="30942"/>
                </a:lnTo>
                <a:lnTo>
                  <a:pt x="13493" y="40262"/>
                </a:lnTo>
                <a:lnTo>
                  <a:pt x="14390" y="48837"/>
                </a:lnTo>
                <a:lnTo>
                  <a:pt x="13493" y="55924"/>
                </a:lnTo>
                <a:lnTo>
                  <a:pt x="15286" y="48465"/>
                </a:lnTo>
                <a:lnTo>
                  <a:pt x="43169" y="11180"/>
                </a:lnTo>
                <a:lnTo>
                  <a:pt x="54410" y="9319"/>
                </a:lnTo>
                <a:lnTo>
                  <a:pt x="0" y="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5" name="object 65"/>
          <p:cNvSpPr/>
          <p:nvPr/>
        </p:nvSpPr>
        <p:spPr>
          <a:xfrm>
            <a:off x="1524444" y="4044148"/>
            <a:ext cx="1066044" cy="590893"/>
          </a:xfrm>
          <a:prstGeom prst="rect">
            <a:avLst/>
          </a:prstGeom>
          <a:blipFill>
            <a:blip r:embed="rId5"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66" name="object 66"/>
          <p:cNvSpPr txBox="1"/>
          <p:nvPr/>
        </p:nvSpPr>
        <p:spPr>
          <a:xfrm>
            <a:off x="1369105" y="1213419"/>
            <a:ext cx="1375705" cy="196215"/>
          </a:xfrm>
          <a:prstGeom prst="rect">
            <a:avLst/>
          </a:prstGeom>
        </p:spPr>
        <p:txBody>
          <a:bodyPr vert="horz" wrap="square" lIns="0" tIns="12691" rIns="0" bIns="0" rtlCol="0">
            <a:spAutoFit/>
          </a:bodyPr>
          <a:lstStyle/>
          <a:p>
            <a:pPr marL="48895">
              <a:lnSpc>
                <a:spcPct val="100000"/>
              </a:lnSpc>
              <a:spcBef>
                <a:spcPts val="100"/>
              </a:spcBef>
            </a:pPr>
            <a:r>
              <a:rPr sz="1200" b="1" spc="5" dirty="0">
                <a:solidFill>
                  <a:srgbClr val="0066CC"/>
                </a:solidFill>
                <a:latin typeface="微软雅黑" panose="020B0503020204020204" charset="-122"/>
                <a:ea typeface="微软雅黑" panose="020B0503020204020204" charset="-122"/>
                <a:cs typeface="微软雅黑" panose="020B0503020204020204" charset="-122"/>
              </a:rPr>
              <a:t>价格为重</a:t>
            </a:r>
            <a:endParaRPr sz="1200" b="1" spc="5"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67" name="object 67"/>
          <p:cNvSpPr txBox="1"/>
          <p:nvPr/>
        </p:nvSpPr>
        <p:spPr>
          <a:xfrm>
            <a:off x="1369105" y="3725350"/>
            <a:ext cx="1375705" cy="196215"/>
          </a:xfrm>
          <a:prstGeom prst="rect">
            <a:avLst/>
          </a:prstGeom>
        </p:spPr>
        <p:txBody>
          <a:bodyPr vert="horz" wrap="square" lIns="0" tIns="12691" rIns="0" bIns="0" rtlCol="0">
            <a:spAutoFit/>
          </a:bodyPr>
          <a:lstStyle/>
          <a:p>
            <a:pPr marL="48895">
              <a:lnSpc>
                <a:spcPct val="100000"/>
              </a:lnSpc>
              <a:spcBef>
                <a:spcPts val="100"/>
              </a:spcBef>
            </a:pPr>
            <a:r>
              <a:rPr sz="1200" b="1" spc="5" dirty="0">
                <a:solidFill>
                  <a:srgbClr val="0066CC"/>
                </a:solidFill>
                <a:latin typeface="微软雅黑" panose="020B0503020204020204" charset="-122"/>
                <a:ea typeface="微软雅黑" panose="020B0503020204020204" charset="-122"/>
                <a:cs typeface="微软雅黑" panose="020B0503020204020204" charset="-122"/>
              </a:rPr>
              <a:t>服务要</a:t>
            </a:r>
            <a:r>
              <a:rPr sz="1200" b="1" spc="-5" dirty="0">
                <a:solidFill>
                  <a:srgbClr val="0066CC"/>
                </a:solidFill>
                <a:latin typeface="微软雅黑" panose="020B0503020204020204" charset="-122"/>
                <a:ea typeface="微软雅黑" panose="020B0503020204020204" charset="-122"/>
                <a:cs typeface="微软雅黑" panose="020B0503020204020204" charset="-122"/>
              </a:rPr>
              <a:t>求高</a:t>
            </a:r>
            <a:endParaRPr sz="1200">
              <a:latin typeface="微软雅黑" panose="020B0503020204020204" charset="-122"/>
              <a:ea typeface="微软雅黑" panose="020B0503020204020204" charset="-122"/>
              <a:cs typeface="微软雅黑" panose="020B0503020204020204" charset="-122"/>
            </a:endParaRPr>
          </a:p>
        </p:txBody>
      </p:sp>
      <p:sp>
        <p:nvSpPr>
          <p:cNvPr id="68" name="object 68"/>
          <p:cNvSpPr txBox="1"/>
          <p:nvPr/>
        </p:nvSpPr>
        <p:spPr>
          <a:xfrm>
            <a:off x="7345046" y="1179534"/>
            <a:ext cx="1331286" cy="812165"/>
          </a:xfrm>
          <a:prstGeom prst="rect">
            <a:avLst/>
          </a:prstGeom>
          <a:solidFill>
            <a:srgbClr val="0066CC"/>
          </a:solidFill>
        </p:spPr>
        <p:txBody>
          <a:bodyPr vert="horz" wrap="square" lIns="0" tIns="5076" rIns="0" bIns="0" rtlCol="0">
            <a:spAutoFit/>
          </a:bodyPr>
          <a:lstStyle/>
          <a:p>
            <a:pPr>
              <a:lnSpc>
                <a:spcPct val="100000"/>
              </a:lnSpc>
              <a:spcBef>
                <a:spcPts val="40"/>
              </a:spcBef>
            </a:pPr>
            <a:endParaRPr sz="1650">
              <a:latin typeface="微软雅黑" panose="020B0503020204020204" charset="-122"/>
              <a:ea typeface="微软雅黑" panose="020B0503020204020204" charset="-122"/>
              <a:cs typeface="微软雅黑" panose="020B0503020204020204" charset="-122"/>
            </a:endParaRPr>
          </a:p>
          <a:p>
            <a:pPr marL="73025">
              <a:lnSpc>
                <a:spcPct val="100000"/>
              </a:lnSpc>
            </a:pPr>
            <a:r>
              <a:rPr sz="1200" b="1" spc="5" dirty="0">
                <a:solidFill>
                  <a:srgbClr val="FFFFFF"/>
                </a:solidFill>
                <a:latin typeface="微软雅黑" panose="020B0503020204020204" charset="-122"/>
                <a:ea typeface="微软雅黑" panose="020B0503020204020204" charset="-122"/>
                <a:cs typeface="微软雅黑" panose="020B0503020204020204" charset="-122"/>
              </a:rPr>
              <a:t>“我们</a:t>
            </a:r>
            <a:r>
              <a:rPr sz="1200" b="1" dirty="0">
                <a:solidFill>
                  <a:srgbClr val="FFFFFF"/>
                </a:solidFill>
                <a:latin typeface="微软雅黑" panose="020B0503020204020204" charset="-122"/>
                <a:ea typeface="微软雅黑" panose="020B0503020204020204" charset="-122"/>
                <a:cs typeface="微软雅黑" panose="020B0503020204020204" charset="-122"/>
              </a:rPr>
              <a:t>以</a:t>
            </a:r>
            <a:r>
              <a:rPr sz="1200" b="1" spc="-5" dirty="0">
                <a:solidFill>
                  <a:srgbClr val="FFFFFF"/>
                </a:solidFill>
                <a:latin typeface="微软雅黑" panose="020B0503020204020204" charset="-122"/>
                <a:ea typeface="微软雅黑" panose="020B0503020204020204" charset="-122"/>
                <a:cs typeface="微软雅黑" panose="020B0503020204020204" charset="-122"/>
              </a:rPr>
              <a:t>富</a:t>
            </a:r>
            <a:r>
              <a:rPr sz="1200" b="1" dirty="0">
                <a:solidFill>
                  <a:srgbClr val="FFFFFF"/>
                </a:solidFill>
                <a:latin typeface="微软雅黑" panose="020B0503020204020204" charset="-122"/>
                <a:ea typeface="微软雅黑" panose="020B0503020204020204" charset="-122"/>
                <a:cs typeface="微软雅黑" panose="020B0503020204020204" charset="-122"/>
              </a:rPr>
              <a:t>于竞 </a:t>
            </a:r>
            <a:r>
              <a:rPr sz="1200" b="1" spc="5" dirty="0">
                <a:solidFill>
                  <a:srgbClr val="FFFFFF"/>
                </a:solidFill>
                <a:latin typeface="微软雅黑" panose="020B0503020204020204" charset="-122"/>
                <a:ea typeface="微软雅黑" panose="020B0503020204020204" charset="-122"/>
                <a:cs typeface="微软雅黑" panose="020B0503020204020204" charset="-122"/>
              </a:rPr>
              <a:t>争力的</a:t>
            </a:r>
            <a:r>
              <a:rPr sz="1200" b="1" spc="-5" dirty="0">
                <a:solidFill>
                  <a:srgbClr val="FFFFFF"/>
                </a:solidFill>
                <a:latin typeface="微软雅黑" panose="020B0503020204020204" charset="-122"/>
                <a:ea typeface="微软雅黑" panose="020B0503020204020204" charset="-122"/>
                <a:cs typeface="微软雅黑" panose="020B0503020204020204" charset="-122"/>
              </a:rPr>
              <a:t>价格提供 标准</a:t>
            </a:r>
            <a:r>
              <a:rPr sz="1200" b="1" spc="-75" dirty="0">
                <a:solidFill>
                  <a:srgbClr val="FFFFFF"/>
                </a:solidFill>
                <a:latin typeface="微软雅黑" panose="020B0503020204020204" charset="-122"/>
                <a:ea typeface="微软雅黑" panose="020B0503020204020204" charset="-122"/>
                <a:cs typeface="微软雅黑" panose="020B0503020204020204" charset="-122"/>
              </a:rPr>
              <a:t> </a:t>
            </a:r>
            <a:r>
              <a:rPr sz="1200" b="1" spc="-5" dirty="0">
                <a:solidFill>
                  <a:srgbClr val="FFFFFF"/>
                </a:solidFill>
                <a:latin typeface="微软雅黑" panose="020B0503020204020204" charset="-122"/>
                <a:ea typeface="微软雅黑" panose="020B0503020204020204" charset="-122"/>
                <a:cs typeface="微软雅黑" panose="020B0503020204020204" charset="-122"/>
              </a:rPr>
              <a:t>质量的包装”</a:t>
            </a:r>
            <a:endParaRPr sz="1200">
              <a:latin typeface="微软雅黑" panose="020B0503020204020204" charset="-122"/>
              <a:ea typeface="微软雅黑" panose="020B0503020204020204" charset="-122"/>
              <a:cs typeface="微软雅黑" panose="020B0503020204020204" charset="-122"/>
            </a:endParaRPr>
          </a:p>
        </p:txBody>
      </p:sp>
      <p:sp>
        <p:nvSpPr>
          <p:cNvPr id="69" name="object 69"/>
          <p:cNvSpPr txBox="1"/>
          <p:nvPr/>
        </p:nvSpPr>
        <p:spPr>
          <a:xfrm>
            <a:off x="7345046" y="2429852"/>
            <a:ext cx="1324941" cy="986155"/>
          </a:xfrm>
          <a:prstGeom prst="rect">
            <a:avLst/>
          </a:prstGeom>
          <a:solidFill>
            <a:srgbClr val="0066CC"/>
          </a:solidFill>
        </p:spPr>
        <p:txBody>
          <a:bodyPr vert="horz" wrap="square" lIns="0" tIns="63455" rIns="0" bIns="0" rtlCol="0">
            <a:spAutoFit/>
          </a:bodyPr>
          <a:lstStyle/>
          <a:p>
            <a:pPr marL="73025" marR="173355" algn="just">
              <a:lnSpc>
                <a:spcPct val="100000"/>
              </a:lnSpc>
              <a:spcBef>
                <a:spcPts val="500"/>
              </a:spcBef>
            </a:pPr>
            <a:r>
              <a:rPr sz="1200" b="1" spc="5" dirty="0">
                <a:solidFill>
                  <a:srgbClr val="FFFFFF"/>
                </a:solidFill>
                <a:latin typeface="微软雅黑" panose="020B0503020204020204" charset="-122"/>
                <a:ea typeface="微软雅黑" panose="020B0503020204020204" charset="-122"/>
                <a:cs typeface="微软雅黑" panose="020B0503020204020204" charset="-122"/>
              </a:rPr>
              <a:t>“我们</a:t>
            </a:r>
            <a:r>
              <a:rPr sz="1200" b="1" spc="-5" dirty="0">
                <a:solidFill>
                  <a:srgbClr val="FFFFFF"/>
                </a:solidFill>
                <a:latin typeface="微软雅黑" panose="020B0503020204020204" charset="-122"/>
                <a:ea typeface="微软雅黑" panose="020B0503020204020204" charset="-122"/>
                <a:cs typeface="微软雅黑" panose="020B0503020204020204" charset="-122"/>
              </a:rPr>
              <a:t>提供最优 </a:t>
            </a:r>
            <a:r>
              <a:rPr sz="1200" b="1" spc="5" dirty="0">
                <a:solidFill>
                  <a:srgbClr val="FFFFFF"/>
                </a:solidFill>
                <a:latin typeface="微软雅黑" panose="020B0503020204020204" charset="-122"/>
                <a:ea typeface="微软雅黑" panose="020B0503020204020204" charset="-122"/>
                <a:cs typeface="微软雅黑" panose="020B0503020204020204" charset="-122"/>
              </a:rPr>
              <a:t>质的包</a:t>
            </a:r>
            <a:r>
              <a:rPr sz="1200" b="1" dirty="0">
                <a:solidFill>
                  <a:srgbClr val="FFFFFF"/>
                </a:solidFill>
                <a:latin typeface="微软雅黑" panose="020B0503020204020204" charset="-122"/>
                <a:ea typeface="微软雅黑" panose="020B0503020204020204" charset="-122"/>
                <a:cs typeface="微软雅黑" panose="020B0503020204020204" charset="-122"/>
              </a:rPr>
              <a:t>装</a:t>
            </a:r>
            <a:r>
              <a:rPr sz="1200" b="1" spc="-5" dirty="0">
                <a:solidFill>
                  <a:srgbClr val="FFFFFF"/>
                </a:solidFill>
                <a:latin typeface="微软雅黑" panose="020B0503020204020204" charset="-122"/>
                <a:ea typeface="微软雅黑" panose="020B0503020204020204" charset="-122"/>
                <a:cs typeface="微软雅黑" panose="020B0503020204020204" charset="-122"/>
              </a:rPr>
              <a:t>品</a:t>
            </a:r>
            <a:r>
              <a:rPr sz="1200" b="1" dirty="0">
                <a:solidFill>
                  <a:srgbClr val="FFFFFF"/>
                </a:solidFill>
                <a:latin typeface="微软雅黑" panose="020B0503020204020204" charset="-122"/>
                <a:ea typeface="微软雅黑" panose="020B0503020204020204" charset="-122"/>
                <a:cs typeface="微软雅黑" panose="020B0503020204020204" charset="-122"/>
              </a:rPr>
              <a:t>和最 </a:t>
            </a:r>
            <a:r>
              <a:rPr sz="1200" b="1" spc="5" dirty="0">
                <a:solidFill>
                  <a:srgbClr val="FFFFFF"/>
                </a:solidFill>
                <a:latin typeface="微软雅黑" panose="020B0503020204020204" charset="-122"/>
                <a:ea typeface="微软雅黑" panose="020B0503020204020204" charset="-122"/>
                <a:cs typeface="微软雅黑" panose="020B0503020204020204" charset="-122"/>
              </a:rPr>
              <a:t>出色的</a:t>
            </a:r>
            <a:r>
              <a:rPr sz="1200" b="1" spc="-5" dirty="0">
                <a:solidFill>
                  <a:srgbClr val="FFFFFF"/>
                </a:solidFill>
                <a:latin typeface="微软雅黑" panose="020B0503020204020204" charset="-122"/>
                <a:ea typeface="微软雅黑" panose="020B0503020204020204" charset="-122"/>
                <a:cs typeface="微软雅黑" panose="020B0503020204020204" charset="-122"/>
              </a:rPr>
              <a:t>定制化方 </a:t>
            </a:r>
            <a:r>
              <a:rPr sz="1200" b="1" spc="5" dirty="0">
                <a:solidFill>
                  <a:srgbClr val="FFFFFF"/>
                </a:solidFill>
                <a:latin typeface="微软雅黑" panose="020B0503020204020204" charset="-122"/>
                <a:ea typeface="微软雅黑" panose="020B0503020204020204" charset="-122"/>
                <a:cs typeface="微软雅黑" panose="020B0503020204020204" charset="-122"/>
              </a:rPr>
              <a:t>案，满</a:t>
            </a:r>
            <a:r>
              <a:rPr sz="1200" b="1" spc="-5" dirty="0">
                <a:solidFill>
                  <a:srgbClr val="FFFFFF"/>
                </a:solidFill>
                <a:latin typeface="微软雅黑" panose="020B0503020204020204" charset="-122"/>
                <a:ea typeface="微软雅黑" panose="020B0503020204020204" charset="-122"/>
                <a:cs typeface="微软雅黑" panose="020B0503020204020204" charset="-122"/>
              </a:rPr>
              <a:t>足最挑剔 </a:t>
            </a:r>
            <a:r>
              <a:rPr sz="1200" b="1" spc="5" dirty="0">
                <a:solidFill>
                  <a:srgbClr val="FFFFFF"/>
                </a:solidFill>
                <a:latin typeface="微软雅黑" panose="020B0503020204020204" charset="-122"/>
                <a:ea typeface="微软雅黑" panose="020B0503020204020204" charset="-122"/>
                <a:cs typeface="微软雅黑" panose="020B0503020204020204" charset="-122"/>
              </a:rPr>
              <a:t>的性能</a:t>
            </a:r>
            <a:r>
              <a:rPr sz="1200" b="1" spc="-5" dirty="0">
                <a:solidFill>
                  <a:srgbClr val="FFFFFF"/>
                </a:solidFill>
                <a:latin typeface="微软雅黑" panose="020B0503020204020204" charset="-122"/>
                <a:ea typeface="微软雅黑" panose="020B0503020204020204" charset="-122"/>
                <a:cs typeface="微软雅黑" panose="020B0503020204020204" charset="-122"/>
              </a:rPr>
              <a:t>要求”</a:t>
            </a:r>
            <a:endParaRPr sz="1200">
              <a:latin typeface="微软雅黑" panose="020B0503020204020204" charset="-122"/>
              <a:ea typeface="微软雅黑" panose="020B0503020204020204" charset="-122"/>
              <a:cs typeface="微软雅黑" panose="020B0503020204020204" charset="-122"/>
            </a:endParaRPr>
          </a:p>
        </p:txBody>
      </p:sp>
      <p:sp>
        <p:nvSpPr>
          <p:cNvPr id="70" name="object 70"/>
          <p:cNvSpPr txBox="1"/>
          <p:nvPr/>
        </p:nvSpPr>
        <p:spPr>
          <a:xfrm>
            <a:off x="7345046" y="3681693"/>
            <a:ext cx="1328114" cy="892810"/>
          </a:xfrm>
          <a:prstGeom prst="rect">
            <a:avLst/>
          </a:prstGeom>
          <a:solidFill>
            <a:srgbClr val="0066CC"/>
          </a:solidFill>
        </p:spPr>
        <p:txBody>
          <a:bodyPr vert="horz" wrap="square" lIns="0" tIns="154830" rIns="0" bIns="0" rtlCol="0">
            <a:spAutoFit/>
          </a:bodyPr>
          <a:lstStyle/>
          <a:p>
            <a:pPr marL="73025" marR="177165" algn="just">
              <a:lnSpc>
                <a:spcPct val="100000"/>
              </a:lnSpc>
              <a:spcBef>
                <a:spcPts val="1220"/>
              </a:spcBef>
            </a:pPr>
            <a:r>
              <a:rPr sz="1200" b="1" spc="5" dirty="0">
                <a:solidFill>
                  <a:srgbClr val="FFFFFF"/>
                </a:solidFill>
                <a:latin typeface="微软雅黑" panose="020B0503020204020204" charset="-122"/>
                <a:ea typeface="微软雅黑" panose="020B0503020204020204" charset="-122"/>
                <a:cs typeface="微软雅黑" panose="020B0503020204020204" charset="-122"/>
              </a:rPr>
              <a:t>“我们</a:t>
            </a:r>
            <a:r>
              <a:rPr sz="1200" b="1" spc="-5" dirty="0">
                <a:solidFill>
                  <a:srgbClr val="FFFFFF"/>
                </a:solidFill>
                <a:latin typeface="微软雅黑" panose="020B0503020204020204" charset="-122"/>
                <a:ea typeface="微软雅黑" panose="020B0503020204020204" charset="-122"/>
                <a:cs typeface="微软雅黑" panose="020B0503020204020204" charset="-122"/>
              </a:rPr>
              <a:t>提供的优 </a:t>
            </a:r>
            <a:r>
              <a:rPr sz="1200" b="1" spc="5" dirty="0">
                <a:solidFill>
                  <a:srgbClr val="FFFFFF"/>
                </a:solidFill>
                <a:latin typeface="微软雅黑" panose="020B0503020204020204" charset="-122"/>
                <a:ea typeface="微软雅黑" panose="020B0503020204020204" charset="-122"/>
                <a:cs typeface="微软雅黑" panose="020B0503020204020204" charset="-122"/>
              </a:rPr>
              <a:t>质的本</a:t>
            </a:r>
            <a:r>
              <a:rPr sz="1200" b="1" spc="-5" dirty="0">
                <a:solidFill>
                  <a:srgbClr val="FFFFFF"/>
                </a:solidFill>
                <a:latin typeface="微软雅黑" panose="020B0503020204020204" charset="-122"/>
                <a:ea typeface="微软雅黑" panose="020B0503020204020204" charset="-122"/>
                <a:cs typeface="微软雅黑" panose="020B0503020204020204" charset="-122"/>
              </a:rPr>
              <a:t>地服务， </a:t>
            </a:r>
            <a:r>
              <a:rPr sz="1200" b="1" spc="5" dirty="0">
                <a:solidFill>
                  <a:srgbClr val="FFFFFF"/>
                </a:solidFill>
                <a:latin typeface="微软雅黑" panose="020B0503020204020204" charset="-122"/>
                <a:ea typeface="微软雅黑" panose="020B0503020204020204" charset="-122"/>
                <a:cs typeface="微软雅黑" panose="020B0503020204020204" charset="-122"/>
              </a:rPr>
              <a:t>正契合</a:t>
            </a:r>
            <a:r>
              <a:rPr sz="1200" b="1" spc="-5" dirty="0">
                <a:solidFill>
                  <a:srgbClr val="FFFFFF"/>
                </a:solidFill>
                <a:latin typeface="微软雅黑" panose="020B0503020204020204" charset="-122"/>
                <a:ea typeface="微软雅黑" panose="020B0503020204020204" charset="-122"/>
                <a:cs typeface="微软雅黑" panose="020B0503020204020204" charset="-122"/>
              </a:rPr>
              <a:t>你们在服 </a:t>
            </a:r>
            <a:r>
              <a:rPr sz="1200" b="1" spc="5" dirty="0">
                <a:solidFill>
                  <a:srgbClr val="FFFFFF"/>
                </a:solidFill>
                <a:latin typeface="微软雅黑" panose="020B0503020204020204" charset="-122"/>
                <a:ea typeface="微软雅黑" panose="020B0503020204020204" charset="-122"/>
                <a:cs typeface="微软雅黑" panose="020B0503020204020204" charset="-122"/>
              </a:rPr>
              <a:t>务方面</a:t>
            </a:r>
            <a:r>
              <a:rPr sz="1200" b="1" spc="-5" dirty="0">
                <a:solidFill>
                  <a:srgbClr val="FFFFFF"/>
                </a:solidFill>
                <a:latin typeface="微软雅黑" panose="020B0503020204020204" charset="-122"/>
                <a:ea typeface="微软雅黑" panose="020B0503020204020204" charset="-122"/>
                <a:cs typeface="微软雅黑" panose="020B0503020204020204" charset="-122"/>
              </a:rPr>
              <a:t>的要求”</a:t>
            </a:r>
            <a:endParaRPr sz="1200">
              <a:latin typeface="微软雅黑" panose="020B0503020204020204" charset="-122"/>
              <a:ea typeface="微软雅黑" panose="020B0503020204020204" charset="-122"/>
              <a:cs typeface="微软雅黑" panose="020B0503020204020204" charset="-122"/>
            </a:endParaRPr>
          </a:p>
        </p:txBody>
      </p:sp>
      <p:sp>
        <p:nvSpPr>
          <p:cNvPr id="71" name="object 71"/>
          <p:cNvSpPr txBox="1"/>
          <p:nvPr/>
        </p:nvSpPr>
        <p:spPr>
          <a:xfrm>
            <a:off x="7345046" y="4933534"/>
            <a:ext cx="1307174" cy="986155"/>
          </a:xfrm>
          <a:prstGeom prst="rect">
            <a:avLst/>
          </a:prstGeom>
          <a:solidFill>
            <a:srgbClr val="0066CC"/>
          </a:solidFill>
        </p:spPr>
        <p:txBody>
          <a:bodyPr vert="horz" wrap="square" lIns="0" tIns="63455" rIns="0" bIns="0" rtlCol="0">
            <a:spAutoFit/>
          </a:bodyPr>
          <a:lstStyle/>
          <a:p>
            <a:pPr marL="73025" marR="155575" algn="just">
              <a:lnSpc>
                <a:spcPct val="100000"/>
              </a:lnSpc>
              <a:spcBef>
                <a:spcPts val="500"/>
              </a:spcBef>
            </a:pPr>
            <a:r>
              <a:rPr sz="1200" b="1" spc="5" dirty="0">
                <a:solidFill>
                  <a:srgbClr val="FFFFFF"/>
                </a:solidFill>
                <a:latin typeface="微软雅黑" panose="020B0503020204020204" charset="-122"/>
                <a:ea typeface="微软雅黑" panose="020B0503020204020204" charset="-122"/>
                <a:cs typeface="微软雅黑" panose="020B0503020204020204" charset="-122"/>
              </a:rPr>
              <a:t>“我们</a:t>
            </a:r>
            <a:r>
              <a:rPr sz="1200" b="1" spc="-5" dirty="0">
                <a:solidFill>
                  <a:srgbClr val="FFFFFF"/>
                </a:solidFill>
                <a:latin typeface="微软雅黑" panose="020B0503020204020204" charset="-122"/>
                <a:ea typeface="微软雅黑" panose="020B0503020204020204" charset="-122"/>
                <a:cs typeface="微软雅黑" panose="020B0503020204020204" charset="-122"/>
              </a:rPr>
              <a:t>把技术专 </a:t>
            </a:r>
            <a:r>
              <a:rPr sz="1200" b="1" spc="5" dirty="0">
                <a:solidFill>
                  <a:srgbClr val="FFFFFF"/>
                </a:solidFill>
                <a:latin typeface="微软雅黑" panose="020B0503020204020204" charset="-122"/>
                <a:ea typeface="微软雅黑" panose="020B0503020204020204" charset="-122"/>
                <a:cs typeface="微软雅黑" panose="020B0503020204020204" charset="-122"/>
              </a:rPr>
              <a:t>长与独</a:t>
            </a:r>
            <a:r>
              <a:rPr sz="1200" b="1" spc="-5" dirty="0">
                <a:solidFill>
                  <a:srgbClr val="FFFFFF"/>
                </a:solidFill>
                <a:latin typeface="微软雅黑" panose="020B0503020204020204" charset="-122"/>
                <a:ea typeface="微软雅黑" panose="020B0503020204020204" charset="-122"/>
                <a:cs typeface="微软雅黑" panose="020B0503020204020204" charset="-122"/>
              </a:rPr>
              <a:t>特的产品 </a:t>
            </a:r>
            <a:r>
              <a:rPr sz="1200" b="1" spc="5" dirty="0">
                <a:solidFill>
                  <a:srgbClr val="FFFFFF"/>
                </a:solidFill>
                <a:latin typeface="微软雅黑" panose="020B0503020204020204" charset="-122"/>
                <a:ea typeface="微软雅黑" panose="020B0503020204020204" charset="-122"/>
                <a:cs typeface="微软雅黑" panose="020B0503020204020204" charset="-122"/>
              </a:rPr>
              <a:t>系列相</a:t>
            </a:r>
            <a:r>
              <a:rPr sz="1200" b="1" spc="-5" dirty="0">
                <a:solidFill>
                  <a:srgbClr val="FFFFFF"/>
                </a:solidFill>
                <a:latin typeface="微软雅黑" panose="020B0503020204020204" charset="-122"/>
                <a:ea typeface="微软雅黑" panose="020B0503020204020204" charset="-122"/>
                <a:cs typeface="微软雅黑" panose="020B0503020204020204" charset="-122"/>
              </a:rPr>
              <a:t>结合，是 </a:t>
            </a:r>
            <a:r>
              <a:rPr sz="1200" b="1" spc="5" dirty="0">
                <a:solidFill>
                  <a:srgbClr val="FFFFFF"/>
                </a:solidFill>
                <a:latin typeface="微软雅黑" panose="020B0503020204020204" charset="-122"/>
                <a:ea typeface="微软雅黑" panose="020B0503020204020204" charset="-122"/>
                <a:cs typeface="微软雅黑" panose="020B0503020204020204" charset="-122"/>
              </a:rPr>
              <a:t>理想的</a:t>
            </a:r>
            <a:r>
              <a:rPr sz="1200" b="1" spc="-5" dirty="0">
                <a:solidFill>
                  <a:srgbClr val="FFFFFF"/>
                </a:solidFill>
                <a:latin typeface="微软雅黑" panose="020B0503020204020204" charset="-122"/>
                <a:ea typeface="微软雅黑" panose="020B0503020204020204" charset="-122"/>
                <a:cs typeface="微软雅黑" panose="020B0503020204020204" charset="-122"/>
              </a:rPr>
              <a:t>降低总持 </a:t>
            </a:r>
            <a:r>
              <a:rPr sz="1200" b="1" spc="5" dirty="0">
                <a:solidFill>
                  <a:srgbClr val="FFFFFF"/>
                </a:solidFill>
                <a:latin typeface="微软雅黑" panose="020B0503020204020204" charset="-122"/>
                <a:ea typeface="微软雅黑" panose="020B0503020204020204" charset="-122"/>
                <a:cs typeface="微软雅黑" panose="020B0503020204020204" charset="-122"/>
              </a:rPr>
              <a:t>有成本</a:t>
            </a:r>
            <a:r>
              <a:rPr sz="1200" b="1" spc="-5" dirty="0">
                <a:solidFill>
                  <a:srgbClr val="FFFFFF"/>
                </a:solidFill>
                <a:latin typeface="微软雅黑" panose="020B0503020204020204" charset="-122"/>
                <a:ea typeface="微软雅黑" panose="020B0503020204020204" charset="-122"/>
                <a:cs typeface="微软雅黑" panose="020B0503020204020204" charset="-122"/>
              </a:rPr>
              <a:t>的伙伴”</a:t>
            </a:r>
            <a:endParaRPr sz="1200">
              <a:latin typeface="微软雅黑" panose="020B0503020204020204" charset="-122"/>
              <a:ea typeface="微软雅黑" panose="020B0503020204020204" charset="-122"/>
              <a:cs typeface="微软雅黑" panose="020B0503020204020204" charset="-122"/>
            </a:endParaRPr>
          </a:p>
        </p:txBody>
      </p:sp>
      <p:sp>
        <p:nvSpPr>
          <p:cNvPr id="72" name="object 72"/>
          <p:cNvSpPr/>
          <p:nvPr/>
        </p:nvSpPr>
        <p:spPr>
          <a:xfrm>
            <a:off x="1368343" y="2336193"/>
            <a:ext cx="5596733" cy="0"/>
          </a:xfrm>
          <a:custGeom>
            <a:avLst/>
            <a:gdLst/>
            <a:ahLst/>
            <a:cxnLst/>
            <a:rect l="l" t="t" r="r" b="b"/>
            <a:pathLst>
              <a:path w="5600700">
                <a:moveTo>
                  <a:pt x="0" y="0"/>
                </a:moveTo>
                <a:lnTo>
                  <a:pt x="5600700" y="0"/>
                </a:lnTo>
              </a:path>
            </a:pathLst>
          </a:custGeom>
          <a:ln w="19050">
            <a:solidFill>
              <a:srgbClr val="808080"/>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73" name="object 73"/>
          <p:cNvSpPr txBox="1"/>
          <p:nvPr/>
        </p:nvSpPr>
        <p:spPr>
          <a:xfrm>
            <a:off x="106401" y="6412696"/>
            <a:ext cx="1361110"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5" dirty="0">
                <a:latin typeface="微软雅黑" panose="020B0503020204020204" charset="-122"/>
                <a:ea typeface="微软雅黑" panose="020B0503020204020204" charset="-122"/>
                <a:cs typeface="微软雅黑" panose="020B0503020204020204" charset="-122"/>
              </a:rPr>
              <a:t>:</a:t>
            </a:r>
            <a:r>
              <a:rPr sz="1000" spc="-40"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匿名客户举例</a:t>
            </a:r>
            <a:endParaRPr sz="1000">
              <a:latin typeface="微软雅黑" panose="020B0503020204020204" charset="-122"/>
              <a:ea typeface="微软雅黑" panose="020B0503020204020204" charset="-122"/>
              <a:cs typeface="微软雅黑" panose="020B0503020204020204" charset="-122"/>
            </a:endParaRPr>
          </a:p>
        </p:txBody>
      </p:sp>
      <p:sp>
        <p:nvSpPr>
          <p:cNvPr id="74" name="object 74"/>
          <p:cNvSpPr txBox="1"/>
          <p:nvPr/>
        </p:nvSpPr>
        <p:spPr>
          <a:xfrm>
            <a:off x="7460915" y="263117"/>
            <a:ext cx="1243719" cy="196215"/>
          </a:xfrm>
          <a:prstGeom prst="rect">
            <a:avLst/>
          </a:prstGeom>
        </p:spPr>
        <p:txBody>
          <a:bodyPr vert="horz" wrap="square" lIns="0" tIns="12691" rIns="0" bIns="0" rtlCol="0">
            <a:spAutoFit/>
          </a:bodyPr>
          <a:lstStyle/>
          <a:p>
            <a:pPr marL="12700">
              <a:lnSpc>
                <a:spcPct val="100000"/>
              </a:lnSpc>
              <a:spcBef>
                <a:spcPts val="100"/>
              </a:spcBef>
            </a:pPr>
            <a:r>
              <a:rPr sz="1200" dirty="0">
                <a:solidFill>
                  <a:srgbClr val="808080"/>
                </a:solidFill>
                <a:latin typeface="微软雅黑" panose="020B0503020204020204" charset="-122"/>
                <a:ea typeface="微软雅黑" panose="020B0503020204020204" charset="-122"/>
                <a:cs typeface="微软雅黑" panose="020B0503020204020204" charset="-122"/>
              </a:rPr>
              <a:t>中国工业包装案例</a:t>
            </a:r>
            <a:endParaRPr sz="1200" dirty="0">
              <a:solidFill>
                <a:srgbClr val="808080"/>
              </a:solidFill>
              <a:latin typeface="微软雅黑" panose="020B0503020204020204" charset="-122"/>
              <a:ea typeface="微软雅黑" panose="020B0503020204020204" charset="-122"/>
              <a:cs typeface="微软雅黑" panose="020B0503020204020204" charset="-122"/>
            </a:endParaRPr>
          </a:p>
        </p:txBody>
      </p:sp>
      <p:sp>
        <p:nvSpPr>
          <p:cNvPr id="75" name="object 75"/>
          <p:cNvSpPr/>
          <p:nvPr/>
        </p:nvSpPr>
        <p:spPr>
          <a:xfrm>
            <a:off x="7447081" y="287103"/>
            <a:ext cx="0" cy="209402"/>
          </a:xfrm>
          <a:custGeom>
            <a:avLst/>
            <a:gdLst/>
            <a:ahLst/>
            <a:cxnLst/>
            <a:rect l="l" t="t" r="r" b="b"/>
            <a:pathLst>
              <a:path h="209550">
                <a:moveTo>
                  <a:pt x="0" y="0"/>
                </a:moveTo>
                <a:lnTo>
                  <a:pt x="0" y="209550"/>
                </a:lnTo>
              </a:path>
            </a:pathLst>
          </a:custGeom>
          <a:ln w="9525">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6" name="object 76"/>
          <p:cNvSpPr/>
          <p:nvPr/>
        </p:nvSpPr>
        <p:spPr>
          <a:xfrm>
            <a:off x="7447843" y="496504"/>
            <a:ext cx="1288137" cy="0"/>
          </a:xfrm>
          <a:custGeom>
            <a:avLst/>
            <a:gdLst/>
            <a:ahLst/>
            <a:cxnLst/>
            <a:rect l="l" t="t" r="r" b="b"/>
            <a:pathLst>
              <a:path w="1289050">
                <a:moveTo>
                  <a:pt x="0" y="0"/>
                </a:moveTo>
                <a:lnTo>
                  <a:pt x="1289050" y="0"/>
                </a:lnTo>
              </a:path>
            </a:pathLst>
          </a:custGeom>
          <a:ln w="25400">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7" name="object 77"/>
          <p:cNvSpPr/>
          <p:nvPr/>
        </p:nvSpPr>
        <p:spPr>
          <a:xfrm>
            <a:off x="1368343" y="3583465"/>
            <a:ext cx="5596733" cy="0"/>
          </a:xfrm>
          <a:custGeom>
            <a:avLst/>
            <a:gdLst/>
            <a:ahLst/>
            <a:cxnLst/>
            <a:rect l="l" t="t" r="r" b="b"/>
            <a:pathLst>
              <a:path w="5600700">
                <a:moveTo>
                  <a:pt x="0" y="0"/>
                </a:moveTo>
                <a:lnTo>
                  <a:pt x="5600700" y="0"/>
                </a:lnTo>
              </a:path>
            </a:pathLst>
          </a:custGeom>
          <a:ln w="19050">
            <a:solidFill>
              <a:srgbClr val="808080"/>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78" name="object 78"/>
          <p:cNvSpPr/>
          <p:nvPr/>
        </p:nvSpPr>
        <p:spPr>
          <a:xfrm>
            <a:off x="1368343" y="4856626"/>
            <a:ext cx="5596733" cy="0"/>
          </a:xfrm>
          <a:custGeom>
            <a:avLst/>
            <a:gdLst/>
            <a:ahLst/>
            <a:cxnLst/>
            <a:rect l="l" t="t" r="r" b="b"/>
            <a:pathLst>
              <a:path w="5600700">
                <a:moveTo>
                  <a:pt x="0" y="0"/>
                </a:moveTo>
                <a:lnTo>
                  <a:pt x="5600700" y="0"/>
                </a:lnTo>
              </a:path>
            </a:pathLst>
          </a:custGeom>
          <a:ln w="19050">
            <a:solidFill>
              <a:srgbClr val="808080"/>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401" y="203088"/>
            <a:ext cx="5571986"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根据基于“</a:t>
            </a:r>
            <a:r>
              <a:rPr spc="-10" dirty="0">
                <a:ea typeface="微软雅黑" panose="020B0503020204020204" charset="-122"/>
              </a:rPr>
              <a:t>需求</a:t>
            </a:r>
            <a:r>
              <a:rPr spc="-5" dirty="0">
                <a:ea typeface="微软雅黑" panose="020B0503020204020204" charset="-122"/>
              </a:rPr>
              <a:t>”</a:t>
            </a:r>
            <a:r>
              <a:rPr spc="-10" dirty="0">
                <a:ea typeface="微软雅黑" panose="020B0503020204020204" charset="-122"/>
              </a:rPr>
              <a:t>和“</a:t>
            </a:r>
            <a:r>
              <a:rPr spc="-5" dirty="0">
                <a:ea typeface="微软雅黑" panose="020B0503020204020204" charset="-122"/>
              </a:rPr>
              <a:t>规</a:t>
            </a:r>
            <a:r>
              <a:rPr spc="-10" dirty="0">
                <a:ea typeface="微软雅黑" panose="020B0503020204020204" charset="-122"/>
              </a:rPr>
              <a:t>模”</a:t>
            </a:r>
            <a:r>
              <a:rPr spc="-5" dirty="0">
                <a:ea typeface="微软雅黑" panose="020B0503020204020204" charset="-122"/>
              </a:rPr>
              <a:t>的</a:t>
            </a:r>
            <a:r>
              <a:rPr spc="-10" dirty="0">
                <a:ea typeface="微软雅黑" panose="020B0503020204020204" charset="-122"/>
              </a:rPr>
              <a:t>分类</a:t>
            </a:r>
            <a:r>
              <a:rPr spc="-5" dirty="0">
                <a:ea typeface="微软雅黑" panose="020B0503020204020204" charset="-122"/>
              </a:rPr>
              <a:t>对</a:t>
            </a:r>
            <a:r>
              <a:rPr spc="-10" dirty="0">
                <a:ea typeface="微软雅黑" panose="020B0503020204020204" charset="-122"/>
              </a:rPr>
              <a:t>客户</a:t>
            </a:r>
            <a:r>
              <a:rPr spc="-5" dirty="0">
                <a:ea typeface="微软雅黑" panose="020B0503020204020204" charset="-122"/>
              </a:rPr>
              <a:t>进</a:t>
            </a:r>
            <a:r>
              <a:rPr spc="-10" dirty="0">
                <a:ea typeface="微软雅黑" panose="020B0503020204020204" charset="-122"/>
              </a:rPr>
              <a:t>行细分</a:t>
            </a:r>
            <a:endParaRPr spc="-10" dirty="0">
              <a:ea typeface="微软雅黑" panose="020B0503020204020204" charset="-122"/>
            </a:endParaRPr>
          </a:p>
        </p:txBody>
      </p:sp>
      <p:sp>
        <p:nvSpPr>
          <p:cNvPr id="4" name="object 4"/>
          <p:cNvSpPr txBox="1"/>
          <p:nvPr/>
        </p:nvSpPr>
        <p:spPr>
          <a:xfrm>
            <a:off x="7808395" y="263117"/>
            <a:ext cx="939134" cy="196215"/>
          </a:xfrm>
          <a:prstGeom prst="rect">
            <a:avLst/>
          </a:prstGeom>
        </p:spPr>
        <p:txBody>
          <a:bodyPr vert="horz" wrap="square" lIns="0" tIns="12691" rIns="0" bIns="0" rtlCol="0">
            <a:spAutoFit/>
          </a:bodyPr>
          <a:lstStyle/>
          <a:p>
            <a:pPr marL="12700">
              <a:lnSpc>
                <a:spcPct val="100000"/>
              </a:lnSpc>
              <a:spcBef>
                <a:spcPts val="100"/>
              </a:spcBef>
            </a:pPr>
            <a:r>
              <a:rPr sz="1200" dirty="0">
                <a:solidFill>
                  <a:srgbClr val="808080"/>
                </a:solidFill>
                <a:latin typeface="微软雅黑" panose="020B0503020204020204" charset="-122"/>
                <a:ea typeface="微软雅黑" panose="020B0503020204020204" charset="-122"/>
                <a:cs typeface="微软雅黑" panose="020B0503020204020204" charset="-122"/>
              </a:rPr>
              <a:t>工业包装举例</a:t>
            </a:r>
            <a:endParaRPr sz="1200" dirty="0">
              <a:solidFill>
                <a:srgbClr val="808080"/>
              </a:solidFill>
              <a:latin typeface="微软雅黑" panose="020B0503020204020204" charset="-122"/>
              <a:ea typeface="微软雅黑" panose="020B0503020204020204" charset="-122"/>
              <a:cs typeface="微软雅黑" panose="020B0503020204020204" charset="-122"/>
            </a:endParaRPr>
          </a:p>
        </p:txBody>
      </p:sp>
      <p:sp>
        <p:nvSpPr>
          <p:cNvPr id="5" name="object 5"/>
          <p:cNvSpPr/>
          <p:nvPr/>
        </p:nvSpPr>
        <p:spPr>
          <a:xfrm>
            <a:off x="7794307" y="287103"/>
            <a:ext cx="0" cy="209402"/>
          </a:xfrm>
          <a:custGeom>
            <a:avLst/>
            <a:gdLst/>
            <a:ahLst/>
            <a:cxnLst/>
            <a:rect l="l" t="t" r="r" b="b"/>
            <a:pathLst>
              <a:path h="209550">
                <a:moveTo>
                  <a:pt x="0" y="0"/>
                </a:moveTo>
                <a:lnTo>
                  <a:pt x="0" y="209550"/>
                </a:lnTo>
              </a:path>
            </a:pathLst>
          </a:custGeom>
          <a:ln w="9525">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7795069" y="424927"/>
            <a:ext cx="941038" cy="0"/>
          </a:xfrm>
          <a:custGeom>
            <a:avLst/>
            <a:gdLst/>
            <a:ahLst/>
            <a:cxnLst/>
            <a:rect l="l" t="t" r="r" b="b"/>
            <a:pathLst>
              <a:path w="941704">
                <a:moveTo>
                  <a:pt x="0" y="0"/>
                </a:moveTo>
                <a:lnTo>
                  <a:pt x="941324" y="0"/>
                </a:lnTo>
              </a:path>
            </a:pathLst>
          </a:custGeom>
          <a:ln w="25400">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txBox="1"/>
          <p:nvPr/>
        </p:nvSpPr>
        <p:spPr>
          <a:xfrm>
            <a:off x="106401" y="6412696"/>
            <a:ext cx="1416316"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资料来源：匿名客户举例</a:t>
            </a:r>
            <a:endParaRPr sz="1000" spc="-10" dirty="0">
              <a:latin typeface="微软雅黑" panose="020B0503020204020204" charset="-122"/>
              <a:ea typeface="微软雅黑" panose="020B0503020204020204" charset="-122"/>
              <a:cs typeface="微软雅黑" panose="020B0503020204020204" charset="-122"/>
            </a:endParaRPr>
          </a:p>
        </p:txBody>
      </p:sp>
      <p:sp>
        <p:nvSpPr>
          <p:cNvPr id="8" name="object 8"/>
          <p:cNvSpPr/>
          <p:nvPr/>
        </p:nvSpPr>
        <p:spPr>
          <a:xfrm>
            <a:off x="187319" y="4112680"/>
            <a:ext cx="659932" cy="1332556"/>
          </a:xfrm>
          <a:custGeom>
            <a:avLst/>
            <a:gdLst/>
            <a:ahLst/>
            <a:cxnLst/>
            <a:rect l="l" t="t" r="r" b="b"/>
            <a:pathLst>
              <a:path w="660400" h="1333500">
                <a:moveTo>
                  <a:pt x="0" y="1333499"/>
                </a:moveTo>
                <a:lnTo>
                  <a:pt x="659892" y="1333499"/>
                </a:lnTo>
                <a:lnTo>
                  <a:pt x="659892" y="0"/>
                </a:lnTo>
                <a:lnTo>
                  <a:pt x="0" y="0"/>
                </a:lnTo>
                <a:lnTo>
                  <a:pt x="0" y="1333499"/>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187319" y="4112680"/>
            <a:ext cx="659932" cy="1332556"/>
          </a:xfrm>
          <a:custGeom>
            <a:avLst/>
            <a:gdLst/>
            <a:ahLst/>
            <a:cxnLst/>
            <a:rect l="l" t="t" r="r" b="b"/>
            <a:pathLst>
              <a:path w="660400" h="1333500">
                <a:moveTo>
                  <a:pt x="0" y="1333499"/>
                </a:moveTo>
                <a:lnTo>
                  <a:pt x="659892" y="1333499"/>
                </a:lnTo>
                <a:lnTo>
                  <a:pt x="659892" y="0"/>
                </a:lnTo>
                <a:lnTo>
                  <a:pt x="0" y="0"/>
                </a:lnTo>
                <a:lnTo>
                  <a:pt x="0" y="1333499"/>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187319" y="2789262"/>
            <a:ext cx="659932" cy="1323672"/>
          </a:xfrm>
          <a:custGeom>
            <a:avLst/>
            <a:gdLst/>
            <a:ahLst/>
            <a:cxnLst/>
            <a:rect l="l" t="t" r="r" b="b"/>
            <a:pathLst>
              <a:path w="660400" h="1324610">
                <a:moveTo>
                  <a:pt x="0" y="1324356"/>
                </a:moveTo>
                <a:lnTo>
                  <a:pt x="659892" y="1324356"/>
                </a:lnTo>
                <a:lnTo>
                  <a:pt x="659892" y="0"/>
                </a:lnTo>
                <a:lnTo>
                  <a:pt x="0" y="0"/>
                </a:lnTo>
                <a:lnTo>
                  <a:pt x="0" y="1324356"/>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187319" y="2789262"/>
            <a:ext cx="659932" cy="1323672"/>
          </a:xfrm>
          <a:custGeom>
            <a:avLst/>
            <a:gdLst/>
            <a:ahLst/>
            <a:cxnLst/>
            <a:rect l="l" t="t" r="r" b="b"/>
            <a:pathLst>
              <a:path w="660400" h="1324610">
                <a:moveTo>
                  <a:pt x="0" y="1324356"/>
                </a:moveTo>
                <a:lnTo>
                  <a:pt x="659892" y="1324356"/>
                </a:lnTo>
                <a:lnTo>
                  <a:pt x="659892" y="0"/>
                </a:lnTo>
                <a:lnTo>
                  <a:pt x="0" y="0"/>
                </a:lnTo>
                <a:lnTo>
                  <a:pt x="0" y="1324356"/>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187319" y="1456706"/>
            <a:ext cx="659932" cy="1332556"/>
          </a:xfrm>
          <a:custGeom>
            <a:avLst/>
            <a:gdLst/>
            <a:ahLst/>
            <a:cxnLst/>
            <a:rect l="l" t="t" r="r" b="b"/>
            <a:pathLst>
              <a:path w="660400" h="1333500">
                <a:moveTo>
                  <a:pt x="0" y="1333500"/>
                </a:moveTo>
                <a:lnTo>
                  <a:pt x="659892" y="1333500"/>
                </a:lnTo>
                <a:lnTo>
                  <a:pt x="659892" y="0"/>
                </a:lnTo>
                <a:lnTo>
                  <a:pt x="0" y="0"/>
                </a:lnTo>
                <a:lnTo>
                  <a:pt x="0" y="133350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187319" y="1456706"/>
            <a:ext cx="659932" cy="1332556"/>
          </a:xfrm>
          <a:custGeom>
            <a:avLst/>
            <a:gdLst/>
            <a:ahLst/>
            <a:cxnLst/>
            <a:rect l="l" t="t" r="r" b="b"/>
            <a:pathLst>
              <a:path w="660400" h="1333500">
                <a:moveTo>
                  <a:pt x="0" y="1333500"/>
                </a:moveTo>
                <a:lnTo>
                  <a:pt x="659892" y="1333500"/>
                </a:lnTo>
                <a:lnTo>
                  <a:pt x="659892" y="0"/>
                </a:lnTo>
                <a:lnTo>
                  <a:pt x="0" y="0"/>
                </a:lnTo>
                <a:lnTo>
                  <a:pt x="0" y="1333500"/>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887862" y="4112680"/>
            <a:ext cx="787477" cy="1332556"/>
          </a:xfrm>
          <a:custGeom>
            <a:avLst/>
            <a:gdLst/>
            <a:ahLst/>
            <a:cxnLst/>
            <a:rect l="l" t="t" r="r" b="b"/>
            <a:pathLst>
              <a:path w="788035" h="1333500">
                <a:moveTo>
                  <a:pt x="0" y="1333499"/>
                </a:moveTo>
                <a:lnTo>
                  <a:pt x="787908" y="1333499"/>
                </a:lnTo>
                <a:lnTo>
                  <a:pt x="787908" y="0"/>
                </a:lnTo>
                <a:lnTo>
                  <a:pt x="0" y="0"/>
                </a:lnTo>
                <a:lnTo>
                  <a:pt x="0" y="1333499"/>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887862" y="4112680"/>
            <a:ext cx="829992" cy="1332556"/>
          </a:xfrm>
          <a:custGeom>
            <a:avLst/>
            <a:gdLst/>
            <a:ahLst/>
            <a:cxnLst/>
            <a:rect l="l" t="t" r="r" b="b"/>
            <a:pathLst>
              <a:path w="830580" h="1333500">
                <a:moveTo>
                  <a:pt x="0" y="1333499"/>
                </a:moveTo>
                <a:lnTo>
                  <a:pt x="830580" y="1333499"/>
                </a:lnTo>
                <a:lnTo>
                  <a:pt x="830580" y="0"/>
                </a:lnTo>
                <a:lnTo>
                  <a:pt x="0" y="0"/>
                </a:lnTo>
                <a:lnTo>
                  <a:pt x="0" y="1333499"/>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p:nvPr/>
        </p:nvSpPr>
        <p:spPr>
          <a:xfrm>
            <a:off x="887862" y="2789262"/>
            <a:ext cx="787477" cy="1323672"/>
          </a:xfrm>
          <a:custGeom>
            <a:avLst/>
            <a:gdLst/>
            <a:ahLst/>
            <a:cxnLst/>
            <a:rect l="l" t="t" r="r" b="b"/>
            <a:pathLst>
              <a:path w="788035" h="1324610">
                <a:moveTo>
                  <a:pt x="0" y="1324356"/>
                </a:moveTo>
                <a:lnTo>
                  <a:pt x="787908" y="1324356"/>
                </a:lnTo>
                <a:lnTo>
                  <a:pt x="787908" y="0"/>
                </a:lnTo>
                <a:lnTo>
                  <a:pt x="0" y="0"/>
                </a:lnTo>
                <a:lnTo>
                  <a:pt x="0" y="1324356"/>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p:nvPr/>
        </p:nvSpPr>
        <p:spPr>
          <a:xfrm>
            <a:off x="887862" y="2789262"/>
            <a:ext cx="829992" cy="1323672"/>
          </a:xfrm>
          <a:custGeom>
            <a:avLst/>
            <a:gdLst/>
            <a:ahLst/>
            <a:cxnLst/>
            <a:rect l="l" t="t" r="r" b="b"/>
            <a:pathLst>
              <a:path w="830580" h="1324610">
                <a:moveTo>
                  <a:pt x="0" y="1324356"/>
                </a:moveTo>
                <a:lnTo>
                  <a:pt x="830580" y="1324356"/>
                </a:lnTo>
                <a:lnTo>
                  <a:pt x="830580" y="0"/>
                </a:lnTo>
                <a:lnTo>
                  <a:pt x="0" y="0"/>
                </a:lnTo>
                <a:lnTo>
                  <a:pt x="0" y="1324356"/>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p:nvPr/>
        </p:nvSpPr>
        <p:spPr>
          <a:xfrm>
            <a:off x="887862" y="1467366"/>
            <a:ext cx="787477" cy="1322403"/>
          </a:xfrm>
          <a:custGeom>
            <a:avLst/>
            <a:gdLst/>
            <a:ahLst/>
            <a:cxnLst/>
            <a:rect l="l" t="t" r="r" b="b"/>
            <a:pathLst>
              <a:path w="788035" h="1323339">
                <a:moveTo>
                  <a:pt x="0" y="1322831"/>
                </a:moveTo>
                <a:lnTo>
                  <a:pt x="787908" y="1322831"/>
                </a:lnTo>
                <a:lnTo>
                  <a:pt x="787908" y="0"/>
                </a:lnTo>
                <a:lnTo>
                  <a:pt x="0" y="0"/>
                </a:lnTo>
                <a:lnTo>
                  <a:pt x="0" y="1322831"/>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p:nvPr/>
        </p:nvSpPr>
        <p:spPr>
          <a:xfrm>
            <a:off x="887862" y="1467366"/>
            <a:ext cx="829992" cy="1322403"/>
          </a:xfrm>
          <a:custGeom>
            <a:avLst/>
            <a:gdLst/>
            <a:ahLst/>
            <a:cxnLst/>
            <a:rect l="l" t="t" r="r" b="b"/>
            <a:pathLst>
              <a:path w="830580" h="1323339">
                <a:moveTo>
                  <a:pt x="0" y="1322831"/>
                </a:moveTo>
                <a:lnTo>
                  <a:pt x="830580" y="1322831"/>
                </a:lnTo>
                <a:lnTo>
                  <a:pt x="830580" y="0"/>
                </a:lnTo>
                <a:lnTo>
                  <a:pt x="0" y="0"/>
                </a:lnTo>
                <a:lnTo>
                  <a:pt x="0" y="1322831"/>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p:nvPr/>
        </p:nvSpPr>
        <p:spPr>
          <a:xfrm>
            <a:off x="137063" y="2789262"/>
            <a:ext cx="1587010" cy="0"/>
          </a:xfrm>
          <a:custGeom>
            <a:avLst/>
            <a:gdLst/>
            <a:ahLst/>
            <a:cxnLst/>
            <a:rect l="l" t="t" r="r" b="b"/>
            <a:pathLst>
              <a:path w="1588135">
                <a:moveTo>
                  <a:pt x="0" y="0"/>
                </a:moveTo>
                <a:lnTo>
                  <a:pt x="1588008" y="0"/>
                </a:lnTo>
              </a:path>
            </a:pathLst>
          </a:custGeom>
          <a:ln w="1270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1" name="object 21"/>
          <p:cNvSpPr/>
          <p:nvPr/>
        </p:nvSpPr>
        <p:spPr>
          <a:xfrm>
            <a:off x="137063" y="4112680"/>
            <a:ext cx="1587010" cy="0"/>
          </a:xfrm>
          <a:custGeom>
            <a:avLst/>
            <a:gdLst/>
            <a:ahLst/>
            <a:cxnLst/>
            <a:rect l="l" t="t" r="r" b="b"/>
            <a:pathLst>
              <a:path w="1588135">
                <a:moveTo>
                  <a:pt x="0" y="0"/>
                </a:moveTo>
                <a:lnTo>
                  <a:pt x="1588008" y="0"/>
                </a:lnTo>
              </a:path>
            </a:pathLst>
          </a:custGeom>
          <a:ln w="1270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1675213" y="5454373"/>
            <a:ext cx="1734859" cy="403574"/>
          </a:xfrm>
          <a:custGeom>
            <a:avLst/>
            <a:gdLst/>
            <a:ahLst/>
            <a:cxnLst/>
            <a:rect l="l" t="t" r="r" b="b"/>
            <a:pathLst>
              <a:path w="1736089" h="403860">
                <a:moveTo>
                  <a:pt x="0" y="403860"/>
                </a:moveTo>
                <a:lnTo>
                  <a:pt x="1735836" y="403860"/>
                </a:lnTo>
                <a:lnTo>
                  <a:pt x="1735836" y="0"/>
                </a:lnTo>
                <a:lnTo>
                  <a:pt x="0" y="0"/>
                </a:lnTo>
                <a:lnTo>
                  <a:pt x="0" y="40386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p:nvPr/>
        </p:nvSpPr>
        <p:spPr>
          <a:xfrm>
            <a:off x="1675213" y="5454373"/>
            <a:ext cx="1734859" cy="403574"/>
          </a:xfrm>
          <a:custGeom>
            <a:avLst/>
            <a:gdLst/>
            <a:ahLst/>
            <a:cxnLst/>
            <a:rect l="l" t="t" r="r" b="b"/>
            <a:pathLst>
              <a:path w="1736089" h="403860">
                <a:moveTo>
                  <a:pt x="0" y="403860"/>
                </a:moveTo>
                <a:lnTo>
                  <a:pt x="1735836" y="403860"/>
                </a:lnTo>
                <a:lnTo>
                  <a:pt x="1735836" y="0"/>
                </a:lnTo>
                <a:lnTo>
                  <a:pt x="0" y="0"/>
                </a:lnTo>
                <a:lnTo>
                  <a:pt x="0" y="403860"/>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p:nvPr/>
        </p:nvSpPr>
        <p:spPr>
          <a:xfrm>
            <a:off x="3409818" y="5454373"/>
            <a:ext cx="1734859" cy="403574"/>
          </a:xfrm>
          <a:custGeom>
            <a:avLst/>
            <a:gdLst/>
            <a:ahLst/>
            <a:cxnLst/>
            <a:rect l="l" t="t" r="r" b="b"/>
            <a:pathLst>
              <a:path w="1736089" h="403860">
                <a:moveTo>
                  <a:pt x="0" y="403860"/>
                </a:moveTo>
                <a:lnTo>
                  <a:pt x="1735836" y="403860"/>
                </a:lnTo>
                <a:lnTo>
                  <a:pt x="1735836" y="0"/>
                </a:lnTo>
                <a:lnTo>
                  <a:pt x="0" y="0"/>
                </a:lnTo>
                <a:lnTo>
                  <a:pt x="0" y="40386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5" name="object 25"/>
          <p:cNvSpPr/>
          <p:nvPr/>
        </p:nvSpPr>
        <p:spPr>
          <a:xfrm>
            <a:off x="3409818" y="5454373"/>
            <a:ext cx="1734859" cy="403574"/>
          </a:xfrm>
          <a:custGeom>
            <a:avLst/>
            <a:gdLst/>
            <a:ahLst/>
            <a:cxnLst/>
            <a:rect l="l" t="t" r="r" b="b"/>
            <a:pathLst>
              <a:path w="1736089" h="403860">
                <a:moveTo>
                  <a:pt x="0" y="403860"/>
                </a:moveTo>
                <a:lnTo>
                  <a:pt x="1735836" y="403860"/>
                </a:lnTo>
                <a:lnTo>
                  <a:pt x="1735836" y="0"/>
                </a:lnTo>
                <a:lnTo>
                  <a:pt x="0" y="0"/>
                </a:lnTo>
                <a:lnTo>
                  <a:pt x="0" y="403860"/>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6" name="object 26"/>
          <p:cNvSpPr/>
          <p:nvPr/>
        </p:nvSpPr>
        <p:spPr>
          <a:xfrm>
            <a:off x="5144425" y="5454373"/>
            <a:ext cx="1738032" cy="403574"/>
          </a:xfrm>
          <a:custGeom>
            <a:avLst/>
            <a:gdLst/>
            <a:ahLst/>
            <a:cxnLst/>
            <a:rect l="l" t="t" r="r" b="b"/>
            <a:pathLst>
              <a:path w="1739265" h="403860">
                <a:moveTo>
                  <a:pt x="0" y="403860"/>
                </a:moveTo>
                <a:lnTo>
                  <a:pt x="1738883" y="403860"/>
                </a:lnTo>
                <a:lnTo>
                  <a:pt x="1738883" y="0"/>
                </a:lnTo>
                <a:lnTo>
                  <a:pt x="0" y="0"/>
                </a:lnTo>
                <a:lnTo>
                  <a:pt x="0" y="40386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7" name="object 27"/>
          <p:cNvSpPr/>
          <p:nvPr/>
        </p:nvSpPr>
        <p:spPr>
          <a:xfrm>
            <a:off x="5144425" y="5454373"/>
            <a:ext cx="1738032" cy="403574"/>
          </a:xfrm>
          <a:custGeom>
            <a:avLst/>
            <a:gdLst/>
            <a:ahLst/>
            <a:cxnLst/>
            <a:rect l="l" t="t" r="r" b="b"/>
            <a:pathLst>
              <a:path w="1739265" h="403860">
                <a:moveTo>
                  <a:pt x="0" y="403860"/>
                </a:moveTo>
                <a:lnTo>
                  <a:pt x="1738883" y="403860"/>
                </a:lnTo>
                <a:lnTo>
                  <a:pt x="1738883" y="0"/>
                </a:lnTo>
                <a:lnTo>
                  <a:pt x="0" y="0"/>
                </a:lnTo>
                <a:lnTo>
                  <a:pt x="0" y="403860"/>
                </a:lnTo>
                <a:close/>
              </a:path>
            </a:pathLst>
          </a:custGeom>
          <a:ln w="952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p:nvPr/>
        </p:nvSpPr>
        <p:spPr>
          <a:xfrm>
            <a:off x="6882079" y="5454373"/>
            <a:ext cx="1734859" cy="403574"/>
          </a:xfrm>
          <a:custGeom>
            <a:avLst/>
            <a:gdLst/>
            <a:ahLst/>
            <a:cxnLst/>
            <a:rect l="l" t="t" r="r" b="b"/>
            <a:pathLst>
              <a:path w="1736090" h="403860">
                <a:moveTo>
                  <a:pt x="0" y="403860"/>
                </a:moveTo>
                <a:lnTo>
                  <a:pt x="1735836" y="403860"/>
                </a:lnTo>
                <a:lnTo>
                  <a:pt x="1735836" y="0"/>
                </a:lnTo>
                <a:lnTo>
                  <a:pt x="0" y="0"/>
                </a:lnTo>
                <a:lnTo>
                  <a:pt x="0" y="40386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9" name="object 29"/>
          <p:cNvSpPr/>
          <p:nvPr/>
        </p:nvSpPr>
        <p:spPr>
          <a:xfrm>
            <a:off x="6882079" y="5454373"/>
            <a:ext cx="1734859" cy="403574"/>
          </a:xfrm>
          <a:custGeom>
            <a:avLst/>
            <a:gdLst/>
            <a:ahLst/>
            <a:cxnLst/>
            <a:rect l="l" t="t" r="r" b="b"/>
            <a:pathLst>
              <a:path w="1736090" h="403860">
                <a:moveTo>
                  <a:pt x="0" y="403860"/>
                </a:moveTo>
                <a:lnTo>
                  <a:pt x="1735836" y="403860"/>
                </a:lnTo>
                <a:lnTo>
                  <a:pt x="1735836" y="0"/>
                </a:lnTo>
                <a:lnTo>
                  <a:pt x="0" y="0"/>
                </a:lnTo>
                <a:lnTo>
                  <a:pt x="0" y="403860"/>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0" name="object 30"/>
          <p:cNvSpPr txBox="1"/>
          <p:nvPr/>
        </p:nvSpPr>
        <p:spPr>
          <a:xfrm>
            <a:off x="174628" y="703875"/>
            <a:ext cx="640896" cy="196215"/>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盈利潜力</a:t>
            </a:r>
            <a:endParaRPr sz="1200" b="1" spc="5" dirty="0">
              <a:latin typeface="微软雅黑" panose="020B0503020204020204" charset="-122"/>
              <a:ea typeface="微软雅黑" panose="020B0503020204020204" charset="-122"/>
              <a:cs typeface="微软雅黑" panose="020B0503020204020204" charset="-122"/>
            </a:endParaRPr>
          </a:p>
        </p:txBody>
      </p:sp>
      <p:sp>
        <p:nvSpPr>
          <p:cNvPr id="31" name="object 31"/>
          <p:cNvSpPr txBox="1"/>
          <p:nvPr/>
        </p:nvSpPr>
        <p:spPr>
          <a:xfrm>
            <a:off x="2070917" y="5542194"/>
            <a:ext cx="943575" cy="196215"/>
          </a:xfrm>
          <a:prstGeom prst="rect">
            <a:avLst/>
          </a:prstGeom>
        </p:spPr>
        <p:txBody>
          <a:bodyPr vert="horz" wrap="square" lIns="0" tIns="12691" rIns="0" bIns="0" rtlCol="0">
            <a:spAutoFit/>
          </a:bodyPr>
          <a:lstStyle/>
          <a:p>
            <a:pPr marL="12700">
              <a:lnSpc>
                <a:spcPct val="100000"/>
              </a:lnSpc>
              <a:spcBef>
                <a:spcPts val="100"/>
              </a:spcBef>
            </a:pPr>
            <a:r>
              <a:rPr sz="1200" b="1" spc="5" dirty="0">
                <a:solidFill>
                  <a:srgbClr val="FFFFFF"/>
                </a:solidFill>
                <a:latin typeface="微软雅黑" panose="020B0503020204020204" charset="-122"/>
                <a:ea typeface="微软雅黑" panose="020B0503020204020204" charset="-122"/>
                <a:cs typeface="微软雅黑" panose="020B0503020204020204" charset="-122"/>
              </a:rPr>
              <a:t>以价格</a:t>
            </a:r>
            <a:r>
              <a:rPr sz="1200" b="1" spc="-5" dirty="0">
                <a:solidFill>
                  <a:srgbClr val="FFFFFF"/>
                </a:solidFill>
                <a:latin typeface="微软雅黑" panose="020B0503020204020204" charset="-122"/>
                <a:ea typeface="微软雅黑" panose="020B0503020204020204" charset="-122"/>
                <a:cs typeface="微软雅黑" panose="020B0503020204020204" charset="-122"/>
              </a:rPr>
              <a:t>为重点</a:t>
            </a:r>
            <a:endParaRPr sz="1200">
              <a:latin typeface="微软雅黑" panose="020B0503020204020204" charset="-122"/>
              <a:ea typeface="微软雅黑" panose="020B0503020204020204" charset="-122"/>
              <a:cs typeface="微软雅黑" panose="020B0503020204020204" charset="-122"/>
            </a:endParaRPr>
          </a:p>
        </p:txBody>
      </p:sp>
      <p:sp>
        <p:nvSpPr>
          <p:cNvPr id="32" name="object 32"/>
          <p:cNvSpPr txBox="1"/>
          <p:nvPr/>
        </p:nvSpPr>
        <p:spPr>
          <a:xfrm>
            <a:off x="3577468" y="5542194"/>
            <a:ext cx="1400452" cy="196215"/>
          </a:xfrm>
          <a:prstGeom prst="rect">
            <a:avLst/>
          </a:prstGeom>
        </p:spPr>
        <p:txBody>
          <a:bodyPr vert="horz" wrap="square" lIns="0" tIns="12691" rIns="0" bIns="0" rtlCol="0">
            <a:spAutoFit/>
          </a:bodyPr>
          <a:lstStyle/>
          <a:p>
            <a:pPr marL="12700">
              <a:lnSpc>
                <a:spcPct val="100000"/>
              </a:lnSpc>
              <a:spcBef>
                <a:spcPts val="100"/>
              </a:spcBef>
            </a:pPr>
            <a:r>
              <a:rPr sz="1200" b="1" spc="5" dirty="0">
                <a:solidFill>
                  <a:srgbClr val="FFFFFF"/>
                </a:solidFill>
                <a:latin typeface="微软雅黑" panose="020B0503020204020204" charset="-122"/>
                <a:ea typeface="微软雅黑" panose="020B0503020204020204" charset="-122"/>
                <a:cs typeface="微软雅黑" panose="020B0503020204020204" charset="-122"/>
              </a:rPr>
              <a:t>以产品</a:t>
            </a:r>
            <a:r>
              <a:rPr sz="1200" b="1" spc="-5" dirty="0">
                <a:solidFill>
                  <a:srgbClr val="FFFFFF"/>
                </a:solidFill>
                <a:latin typeface="微软雅黑" panose="020B0503020204020204" charset="-122"/>
                <a:ea typeface="微软雅黑" panose="020B0503020204020204" charset="-122"/>
                <a:cs typeface="微软雅黑" panose="020B0503020204020204" charset="-122"/>
              </a:rPr>
              <a:t>的绩效为导向</a:t>
            </a:r>
            <a:endParaRPr sz="1200">
              <a:latin typeface="微软雅黑" panose="020B0503020204020204" charset="-122"/>
              <a:ea typeface="微软雅黑" panose="020B0503020204020204" charset="-122"/>
              <a:cs typeface="微软雅黑" panose="020B0503020204020204" charset="-122"/>
            </a:endParaRPr>
          </a:p>
        </p:txBody>
      </p:sp>
      <p:sp>
        <p:nvSpPr>
          <p:cNvPr id="33" name="object 33"/>
          <p:cNvSpPr txBox="1"/>
          <p:nvPr/>
        </p:nvSpPr>
        <p:spPr>
          <a:xfrm>
            <a:off x="5692424" y="5542194"/>
            <a:ext cx="642165" cy="196215"/>
          </a:xfrm>
          <a:prstGeom prst="rect">
            <a:avLst/>
          </a:prstGeom>
        </p:spPr>
        <p:txBody>
          <a:bodyPr vert="horz" wrap="square" lIns="0" tIns="12691" rIns="0" bIns="0" rtlCol="0">
            <a:spAutoFit/>
          </a:bodyPr>
          <a:lstStyle/>
          <a:p>
            <a:pPr marL="12700">
              <a:lnSpc>
                <a:spcPct val="100000"/>
              </a:lnSpc>
              <a:spcBef>
                <a:spcPts val="100"/>
              </a:spcBef>
            </a:pPr>
            <a:r>
              <a:rPr sz="1200" b="1" spc="5" dirty="0">
                <a:solidFill>
                  <a:srgbClr val="FFFFFF"/>
                </a:solidFill>
                <a:latin typeface="微软雅黑" panose="020B0503020204020204" charset="-122"/>
                <a:ea typeface="微软雅黑" panose="020B0503020204020204" charset="-122"/>
                <a:cs typeface="微软雅黑" panose="020B0503020204020204" charset="-122"/>
              </a:rPr>
              <a:t>追求服务</a:t>
            </a:r>
            <a:endParaRPr sz="1200" b="1" spc="5"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4" name="object 34"/>
          <p:cNvSpPr txBox="1"/>
          <p:nvPr/>
        </p:nvSpPr>
        <p:spPr>
          <a:xfrm>
            <a:off x="6974723" y="5542194"/>
            <a:ext cx="1552745" cy="196215"/>
          </a:xfrm>
          <a:prstGeom prst="rect">
            <a:avLst/>
          </a:prstGeom>
        </p:spPr>
        <p:txBody>
          <a:bodyPr vert="horz" wrap="square" lIns="0" tIns="12691" rIns="0" bIns="0" rtlCol="0">
            <a:spAutoFit/>
          </a:bodyPr>
          <a:lstStyle/>
          <a:p>
            <a:pPr marL="12700">
              <a:lnSpc>
                <a:spcPct val="100000"/>
              </a:lnSpc>
              <a:spcBef>
                <a:spcPts val="100"/>
              </a:spcBef>
            </a:pPr>
            <a:r>
              <a:rPr sz="1200" b="1" spc="5" dirty="0">
                <a:solidFill>
                  <a:srgbClr val="FFFFFF"/>
                </a:solidFill>
                <a:latin typeface="微软雅黑" panose="020B0503020204020204" charset="-122"/>
                <a:ea typeface="微软雅黑" panose="020B0503020204020204" charset="-122"/>
                <a:cs typeface="微软雅黑" panose="020B0503020204020204" charset="-122"/>
              </a:rPr>
              <a:t>以总体</a:t>
            </a:r>
            <a:r>
              <a:rPr sz="1200" b="1" spc="-5" dirty="0">
                <a:solidFill>
                  <a:srgbClr val="FFFFFF"/>
                </a:solidFill>
                <a:latin typeface="微软雅黑" panose="020B0503020204020204" charset="-122"/>
                <a:ea typeface="微软雅黑" panose="020B0503020204020204" charset="-122"/>
                <a:cs typeface="微软雅黑" panose="020B0503020204020204" charset="-122"/>
              </a:rPr>
              <a:t>拥有成本为重点</a:t>
            </a:r>
            <a:endParaRPr sz="1200">
              <a:latin typeface="微软雅黑" panose="020B0503020204020204" charset="-122"/>
              <a:ea typeface="微软雅黑" panose="020B0503020204020204" charset="-122"/>
              <a:cs typeface="微软雅黑" panose="020B0503020204020204" charset="-122"/>
            </a:endParaRPr>
          </a:p>
        </p:txBody>
      </p:sp>
      <p:sp>
        <p:nvSpPr>
          <p:cNvPr id="35" name="object 35"/>
          <p:cNvSpPr txBox="1"/>
          <p:nvPr/>
        </p:nvSpPr>
        <p:spPr>
          <a:xfrm>
            <a:off x="1212346" y="1470538"/>
            <a:ext cx="177674" cy="196215"/>
          </a:xfrm>
          <a:prstGeom prst="rect">
            <a:avLst/>
          </a:prstGeom>
        </p:spPr>
        <p:txBody>
          <a:bodyPr vert="horz" wrap="square" lIns="0" tIns="12691" rIns="0" bIns="0" rtlCol="0">
            <a:spAutoFit/>
          </a:bodyPr>
          <a:lstStyle/>
          <a:p>
            <a:pPr marL="12700">
              <a:lnSpc>
                <a:spcPct val="100000"/>
              </a:lnSpc>
              <a:spcBef>
                <a:spcPts val="100"/>
              </a:spcBef>
            </a:pPr>
            <a:r>
              <a:rPr sz="1200" b="1" spc="-5" dirty="0">
                <a:solidFill>
                  <a:srgbClr val="FFFFFF"/>
                </a:solidFill>
                <a:latin typeface="微软雅黑" panose="020B0503020204020204" charset="-122"/>
                <a:ea typeface="微软雅黑" panose="020B0503020204020204" charset="-122"/>
                <a:cs typeface="微软雅黑" panose="020B0503020204020204" charset="-122"/>
              </a:rPr>
              <a:t>高</a:t>
            </a:r>
            <a:endParaRPr sz="1200" b="1" spc="-5"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6" name="object 36"/>
          <p:cNvSpPr txBox="1"/>
          <p:nvPr/>
        </p:nvSpPr>
        <p:spPr>
          <a:xfrm>
            <a:off x="1214783" y="2552701"/>
            <a:ext cx="177674" cy="196215"/>
          </a:xfrm>
          <a:prstGeom prst="rect">
            <a:avLst/>
          </a:prstGeom>
        </p:spPr>
        <p:txBody>
          <a:bodyPr vert="horz" wrap="square" lIns="0" tIns="12691" rIns="0" bIns="0" rtlCol="0">
            <a:spAutoFit/>
          </a:bodyPr>
          <a:lstStyle/>
          <a:p>
            <a:pPr marL="12700">
              <a:lnSpc>
                <a:spcPct val="100000"/>
              </a:lnSpc>
              <a:spcBef>
                <a:spcPts val="100"/>
              </a:spcBef>
            </a:pPr>
            <a:r>
              <a:rPr sz="1200" b="1" spc="-5" dirty="0">
                <a:solidFill>
                  <a:srgbClr val="FFFFFF"/>
                </a:solidFill>
                <a:latin typeface="微软雅黑" panose="020B0503020204020204" charset="-122"/>
                <a:ea typeface="微软雅黑" panose="020B0503020204020204" charset="-122"/>
                <a:cs typeface="微软雅黑" panose="020B0503020204020204" charset="-122"/>
              </a:rPr>
              <a:t>低</a:t>
            </a:r>
            <a:endParaRPr sz="1200" b="1" spc="-5"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7" name="object 37"/>
          <p:cNvSpPr txBox="1"/>
          <p:nvPr/>
        </p:nvSpPr>
        <p:spPr>
          <a:xfrm>
            <a:off x="1212346" y="2795480"/>
            <a:ext cx="177674" cy="196215"/>
          </a:xfrm>
          <a:prstGeom prst="rect">
            <a:avLst/>
          </a:prstGeom>
        </p:spPr>
        <p:txBody>
          <a:bodyPr vert="horz" wrap="square" lIns="0" tIns="12691" rIns="0" bIns="0" rtlCol="0">
            <a:spAutoFit/>
          </a:bodyPr>
          <a:lstStyle/>
          <a:p>
            <a:pPr marL="12700">
              <a:lnSpc>
                <a:spcPct val="100000"/>
              </a:lnSpc>
              <a:spcBef>
                <a:spcPts val="100"/>
              </a:spcBef>
            </a:pPr>
            <a:r>
              <a:rPr sz="1200" b="1" spc="-5" dirty="0">
                <a:solidFill>
                  <a:srgbClr val="FFFFFF"/>
                </a:solidFill>
                <a:latin typeface="微软雅黑" panose="020B0503020204020204" charset="-122"/>
                <a:ea typeface="微软雅黑" panose="020B0503020204020204" charset="-122"/>
                <a:cs typeface="微软雅黑" panose="020B0503020204020204" charset="-122"/>
              </a:rPr>
              <a:t>高</a:t>
            </a:r>
            <a:endParaRPr sz="1200" b="1" spc="-5"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8" name="object 38"/>
          <p:cNvSpPr txBox="1"/>
          <p:nvPr/>
        </p:nvSpPr>
        <p:spPr>
          <a:xfrm>
            <a:off x="1212346" y="3808222"/>
            <a:ext cx="180212" cy="516890"/>
          </a:xfrm>
          <a:prstGeom prst="rect">
            <a:avLst/>
          </a:prstGeom>
        </p:spPr>
        <p:txBody>
          <a:bodyPr vert="horz" wrap="square" lIns="0" tIns="12691" rIns="0" bIns="0" rtlCol="0">
            <a:spAutoFit/>
          </a:bodyPr>
          <a:lstStyle/>
          <a:p>
            <a:pPr marL="12700" marR="5080" indent="1905">
              <a:lnSpc>
                <a:spcPct val="137000"/>
              </a:lnSpc>
              <a:spcBef>
                <a:spcPts val="100"/>
              </a:spcBef>
            </a:pPr>
            <a:r>
              <a:rPr sz="1200" b="1" spc="-5" dirty="0">
                <a:solidFill>
                  <a:srgbClr val="FFFFFF"/>
                </a:solidFill>
                <a:latin typeface="微软雅黑" panose="020B0503020204020204" charset="-122"/>
                <a:ea typeface="微软雅黑" panose="020B0503020204020204" charset="-122"/>
                <a:cs typeface="微软雅黑" panose="020B0503020204020204" charset="-122"/>
              </a:rPr>
              <a:t>低 高</a:t>
            </a:r>
            <a:endParaRPr sz="1200" b="1" spc="-5"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9" name="object 39"/>
          <p:cNvSpPr txBox="1"/>
          <p:nvPr/>
        </p:nvSpPr>
        <p:spPr>
          <a:xfrm>
            <a:off x="1214783" y="5210452"/>
            <a:ext cx="177674" cy="196215"/>
          </a:xfrm>
          <a:prstGeom prst="rect">
            <a:avLst/>
          </a:prstGeom>
        </p:spPr>
        <p:txBody>
          <a:bodyPr vert="horz" wrap="square" lIns="0" tIns="12691" rIns="0" bIns="0" rtlCol="0">
            <a:spAutoFit/>
          </a:bodyPr>
          <a:lstStyle/>
          <a:p>
            <a:pPr marL="12700">
              <a:lnSpc>
                <a:spcPct val="100000"/>
              </a:lnSpc>
              <a:spcBef>
                <a:spcPts val="100"/>
              </a:spcBef>
            </a:pPr>
            <a:r>
              <a:rPr sz="1200" b="1" spc="-5" dirty="0">
                <a:solidFill>
                  <a:srgbClr val="FFFFFF"/>
                </a:solidFill>
                <a:latin typeface="微软雅黑" panose="020B0503020204020204" charset="-122"/>
                <a:ea typeface="微软雅黑" panose="020B0503020204020204" charset="-122"/>
                <a:cs typeface="微软雅黑" panose="020B0503020204020204" charset="-122"/>
              </a:rPr>
              <a:t>低</a:t>
            </a:r>
            <a:endParaRPr sz="1200" b="1" spc="-5"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0" name="object 40"/>
          <p:cNvSpPr/>
          <p:nvPr/>
        </p:nvSpPr>
        <p:spPr>
          <a:xfrm>
            <a:off x="1231471" y="1716364"/>
            <a:ext cx="143408" cy="825550"/>
          </a:xfrm>
          <a:custGeom>
            <a:avLst/>
            <a:gdLst/>
            <a:ahLst/>
            <a:cxnLst/>
            <a:rect l="l" t="t" r="r" b="b"/>
            <a:pathLst>
              <a:path w="143509" h="826135">
                <a:moveTo>
                  <a:pt x="0" y="740282"/>
                </a:moveTo>
                <a:lnTo>
                  <a:pt x="71437" y="826007"/>
                </a:lnTo>
                <a:lnTo>
                  <a:pt x="119020" y="768857"/>
                </a:lnTo>
                <a:lnTo>
                  <a:pt x="57086" y="768857"/>
                </a:lnTo>
                <a:lnTo>
                  <a:pt x="57087" y="763118"/>
                </a:lnTo>
                <a:lnTo>
                  <a:pt x="0" y="740282"/>
                </a:lnTo>
                <a:close/>
              </a:path>
              <a:path w="143509" h="826135">
                <a:moveTo>
                  <a:pt x="57087" y="763118"/>
                </a:moveTo>
                <a:lnTo>
                  <a:pt x="57086" y="768857"/>
                </a:lnTo>
                <a:lnTo>
                  <a:pt x="71437" y="768857"/>
                </a:lnTo>
                <a:lnTo>
                  <a:pt x="57087" y="763118"/>
                </a:lnTo>
                <a:close/>
              </a:path>
              <a:path w="143509" h="826135">
                <a:moveTo>
                  <a:pt x="71437" y="57150"/>
                </a:moveTo>
                <a:lnTo>
                  <a:pt x="57212" y="62840"/>
                </a:lnTo>
                <a:lnTo>
                  <a:pt x="57199" y="763162"/>
                </a:lnTo>
                <a:lnTo>
                  <a:pt x="71437" y="768857"/>
                </a:lnTo>
                <a:lnTo>
                  <a:pt x="85662" y="763162"/>
                </a:lnTo>
                <a:lnTo>
                  <a:pt x="85675" y="62840"/>
                </a:lnTo>
                <a:lnTo>
                  <a:pt x="71437" y="57150"/>
                </a:lnTo>
                <a:close/>
              </a:path>
              <a:path w="143509" h="826135">
                <a:moveTo>
                  <a:pt x="85662" y="763162"/>
                </a:moveTo>
                <a:lnTo>
                  <a:pt x="71437" y="768857"/>
                </a:lnTo>
                <a:lnTo>
                  <a:pt x="85661" y="768857"/>
                </a:lnTo>
                <a:lnTo>
                  <a:pt x="85662" y="763162"/>
                </a:lnTo>
                <a:close/>
              </a:path>
              <a:path w="143509" h="826135">
                <a:moveTo>
                  <a:pt x="142811" y="740282"/>
                </a:moveTo>
                <a:lnTo>
                  <a:pt x="85774" y="763118"/>
                </a:lnTo>
                <a:lnTo>
                  <a:pt x="85661" y="768857"/>
                </a:lnTo>
                <a:lnTo>
                  <a:pt x="119020" y="768857"/>
                </a:lnTo>
                <a:lnTo>
                  <a:pt x="142811" y="740282"/>
                </a:lnTo>
                <a:close/>
              </a:path>
              <a:path w="143509" h="826135">
                <a:moveTo>
                  <a:pt x="71437" y="0"/>
                </a:moveTo>
                <a:lnTo>
                  <a:pt x="0" y="85725"/>
                </a:lnTo>
                <a:lnTo>
                  <a:pt x="57100" y="62884"/>
                </a:lnTo>
                <a:lnTo>
                  <a:pt x="57213" y="57150"/>
                </a:lnTo>
                <a:lnTo>
                  <a:pt x="119104" y="57150"/>
                </a:lnTo>
                <a:lnTo>
                  <a:pt x="71437" y="0"/>
                </a:lnTo>
                <a:close/>
              </a:path>
              <a:path w="143509" h="826135">
                <a:moveTo>
                  <a:pt x="119104" y="57150"/>
                </a:moveTo>
                <a:lnTo>
                  <a:pt x="85788" y="57150"/>
                </a:lnTo>
                <a:lnTo>
                  <a:pt x="85787" y="62884"/>
                </a:lnTo>
                <a:lnTo>
                  <a:pt x="142938" y="85725"/>
                </a:lnTo>
                <a:lnTo>
                  <a:pt x="119104" y="57150"/>
                </a:lnTo>
                <a:close/>
              </a:path>
              <a:path w="143509" h="826135">
                <a:moveTo>
                  <a:pt x="85788" y="57150"/>
                </a:moveTo>
                <a:lnTo>
                  <a:pt x="71437" y="57150"/>
                </a:lnTo>
                <a:lnTo>
                  <a:pt x="85787" y="62884"/>
                </a:lnTo>
                <a:lnTo>
                  <a:pt x="85788" y="57150"/>
                </a:lnTo>
                <a:close/>
              </a:path>
              <a:path w="143509" h="826135">
                <a:moveTo>
                  <a:pt x="71437" y="57150"/>
                </a:moveTo>
                <a:lnTo>
                  <a:pt x="57213" y="57150"/>
                </a:lnTo>
                <a:lnTo>
                  <a:pt x="57212" y="62840"/>
                </a:lnTo>
                <a:lnTo>
                  <a:pt x="71437" y="5715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1" name="object 41"/>
          <p:cNvSpPr/>
          <p:nvPr/>
        </p:nvSpPr>
        <p:spPr>
          <a:xfrm>
            <a:off x="1231471" y="3039782"/>
            <a:ext cx="143408" cy="824281"/>
          </a:xfrm>
          <a:custGeom>
            <a:avLst/>
            <a:gdLst/>
            <a:ahLst/>
            <a:cxnLst/>
            <a:rect l="l" t="t" r="r" b="b"/>
            <a:pathLst>
              <a:path w="143509" h="824864">
                <a:moveTo>
                  <a:pt x="0" y="738759"/>
                </a:moveTo>
                <a:lnTo>
                  <a:pt x="71437" y="824484"/>
                </a:lnTo>
                <a:lnTo>
                  <a:pt x="119020" y="767334"/>
                </a:lnTo>
                <a:lnTo>
                  <a:pt x="57086" y="767334"/>
                </a:lnTo>
                <a:lnTo>
                  <a:pt x="57087" y="761594"/>
                </a:lnTo>
                <a:lnTo>
                  <a:pt x="0" y="738759"/>
                </a:lnTo>
                <a:close/>
              </a:path>
              <a:path w="143509" h="824864">
                <a:moveTo>
                  <a:pt x="57087" y="761594"/>
                </a:moveTo>
                <a:lnTo>
                  <a:pt x="57086" y="767334"/>
                </a:lnTo>
                <a:lnTo>
                  <a:pt x="71437" y="767334"/>
                </a:lnTo>
                <a:lnTo>
                  <a:pt x="57087" y="761594"/>
                </a:lnTo>
                <a:close/>
              </a:path>
              <a:path w="143509" h="824864">
                <a:moveTo>
                  <a:pt x="71437" y="57150"/>
                </a:moveTo>
                <a:lnTo>
                  <a:pt x="57212" y="62840"/>
                </a:lnTo>
                <a:lnTo>
                  <a:pt x="57199" y="761638"/>
                </a:lnTo>
                <a:lnTo>
                  <a:pt x="71437" y="767334"/>
                </a:lnTo>
                <a:lnTo>
                  <a:pt x="85662" y="761638"/>
                </a:lnTo>
                <a:lnTo>
                  <a:pt x="85675" y="62840"/>
                </a:lnTo>
                <a:lnTo>
                  <a:pt x="71437" y="57150"/>
                </a:lnTo>
                <a:close/>
              </a:path>
              <a:path w="143509" h="824864">
                <a:moveTo>
                  <a:pt x="85662" y="761638"/>
                </a:moveTo>
                <a:lnTo>
                  <a:pt x="71437" y="767334"/>
                </a:lnTo>
                <a:lnTo>
                  <a:pt x="85661" y="767334"/>
                </a:lnTo>
                <a:lnTo>
                  <a:pt x="85662" y="761638"/>
                </a:lnTo>
                <a:close/>
              </a:path>
              <a:path w="143509" h="824864">
                <a:moveTo>
                  <a:pt x="142811" y="738759"/>
                </a:moveTo>
                <a:lnTo>
                  <a:pt x="85774" y="761594"/>
                </a:lnTo>
                <a:lnTo>
                  <a:pt x="85661" y="767334"/>
                </a:lnTo>
                <a:lnTo>
                  <a:pt x="119020" y="767334"/>
                </a:lnTo>
                <a:lnTo>
                  <a:pt x="142811" y="738759"/>
                </a:lnTo>
                <a:close/>
              </a:path>
              <a:path w="143509" h="824864">
                <a:moveTo>
                  <a:pt x="71437" y="0"/>
                </a:moveTo>
                <a:lnTo>
                  <a:pt x="0" y="85725"/>
                </a:lnTo>
                <a:lnTo>
                  <a:pt x="57100" y="62884"/>
                </a:lnTo>
                <a:lnTo>
                  <a:pt x="57213" y="57150"/>
                </a:lnTo>
                <a:lnTo>
                  <a:pt x="119104" y="57150"/>
                </a:lnTo>
                <a:lnTo>
                  <a:pt x="71437" y="0"/>
                </a:lnTo>
                <a:close/>
              </a:path>
              <a:path w="143509" h="824864">
                <a:moveTo>
                  <a:pt x="119104" y="57150"/>
                </a:moveTo>
                <a:lnTo>
                  <a:pt x="85788" y="57150"/>
                </a:lnTo>
                <a:lnTo>
                  <a:pt x="85787" y="62884"/>
                </a:lnTo>
                <a:lnTo>
                  <a:pt x="142938" y="85725"/>
                </a:lnTo>
                <a:lnTo>
                  <a:pt x="119104" y="57150"/>
                </a:lnTo>
                <a:close/>
              </a:path>
              <a:path w="143509" h="824864">
                <a:moveTo>
                  <a:pt x="85788" y="57150"/>
                </a:moveTo>
                <a:lnTo>
                  <a:pt x="71437" y="57150"/>
                </a:lnTo>
                <a:lnTo>
                  <a:pt x="85787" y="62884"/>
                </a:lnTo>
                <a:lnTo>
                  <a:pt x="85788" y="57150"/>
                </a:lnTo>
                <a:close/>
              </a:path>
              <a:path w="143509" h="824864">
                <a:moveTo>
                  <a:pt x="71437" y="57150"/>
                </a:moveTo>
                <a:lnTo>
                  <a:pt x="57213" y="57150"/>
                </a:lnTo>
                <a:lnTo>
                  <a:pt x="57212" y="62840"/>
                </a:lnTo>
                <a:lnTo>
                  <a:pt x="71437" y="5715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2" name="object 42"/>
          <p:cNvSpPr/>
          <p:nvPr/>
        </p:nvSpPr>
        <p:spPr>
          <a:xfrm>
            <a:off x="1231471" y="4369292"/>
            <a:ext cx="143408" cy="822377"/>
          </a:xfrm>
          <a:custGeom>
            <a:avLst/>
            <a:gdLst/>
            <a:ahLst/>
            <a:cxnLst/>
            <a:rect l="l" t="t" r="r" b="b"/>
            <a:pathLst>
              <a:path w="143509" h="822960">
                <a:moveTo>
                  <a:pt x="0" y="737235"/>
                </a:moveTo>
                <a:lnTo>
                  <a:pt x="71437" y="822960"/>
                </a:lnTo>
                <a:lnTo>
                  <a:pt x="119020" y="765810"/>
                </a:lnTo>
                <a:lnTo>
                  <a:pt x="57086" y="765810"/>
                </a:lnTo>
                <a:lnTo>
                  <a:pt x="57087" y="760070"/>
                </a:lnTo>
                <a:lnTo>
                  <a:pt x="0" y="737235"/>
                </a:lnTo>
                <a:close/>
              </a:path>
              <a:path w="143509" h="822960">
                <a:moveTo>
                  <a:pt x="57087" y="760070"/>
                </a:moveTo>
                <a:lnTo>
                  <a:pt x="57086" y="765810"/>
                </a:lnTo>
                <a:lnTo>
                  <a:pt x="71437" y="765810"/>
                </a:lnTo>
                <a:lnTo>
                  <a:pt x="57087" y="760070"/>
                </a:lnTo>
                <a:close/>
              </a:path>
              <a:path w="143509" h="822960">
                <a:moveTo>
                  <a:pt x="71437" y="57150"/>
                </a:moveTo>
                <a:lnTo>
                  <a:pt x="57212" y="62840"/>
                </a:lnTo>
                <a:lnTo>
                  <a:pt x="57199" y="760114"/>
                </a:lnTo>
                <a:lnTo>
                  <a:pt x="71437" y="765810"/>
                </a:lnTo>
                <a:lnTo>
                  <a:pt x="85662" y="760114"/>
                </a:lnTo>
                <a:lnTo>
                  <a:pt x="85675" y="62840"/>
                </a:lnTo>
                <a:lnTo>
                  <a:pt x="71437" y="57150"/>
                </a:lnTo>
                <a:close/>
              </a:path>
              <a:path w="143509" h="822960">
                <a:moveTo>
                  <a:pt x="85662" y="760114"/>
                </a:moveTo>
                <a:lnTo>
                  <a:pt x="71437" y="765810"/>
                </a:lnTo>
                <a:lnTo>
                  <a:pt x="85661" y="765810"/>
                </a:lnTo>
                <a:lnTo>
                  <a:pt x="85662" y="760114"/>
                </a:lnTo>
                <a:close/>
              </a:path>
              <a:path w="143509" h="822960">
                <a:moveTo>
                  <a:pt x="142811" y="737235"/>
                </a:moveTo>
                <a:lnTo>
                  <a:pt x="85774" y="760070"/>
                </a:lnTo>
                <a:lnTo>
                  <a:pt x="85661" y="765810"/>
                </a:lnTo>
                <a:lnTo>
                  <a:pt x="119020" y="765810"/>
                </a:lnTo>
                <a:lnTo>
                  <a:pt x="142811" y="737235"/>
                </a:lnTo>
                <a:close/>
              </a:path>
              <a:path w="143509" h="822960">
                <a:moveTo>
                  <a:pt x="71437" y="0"/>
                </a:moveTo>
                <a:lnTo>
                  <a:pt x="0" y="85725"/>
                </a:lnTo>
                <a:lnTo>
                  <a:pt x="57100" y="62884"/>
                </a:lnTo>
                <a:lnTo>
                  <a:pt x="57213" y="57150"/>
                </a:lnTo>
                <a:lnTo>
                  <a:pt x="119104" y="57150"/>
                </a:lnTo>
                <a:lnTo>
                  <a:pt x="71437" y="0"/>
                </a:lnTo>
                <a:close/>
              </a:path>
              <a:path w="143509" h="822960">
                <a:moveTo>
                  <a:pt x="119104" y="57150"/>
                </a:moveTo>
                <a:lnTo>
                  <a:pt x="85788" y="57150"/>
                </a:lnTo>
                <a:lnTo>
                  <a:pt x="85787" y="62884"/>
                </a:lnTo>
                <a:lnTo>
                  <a:pt x="142938" y="85725"/>
                </a:lnTo>
                <a:lnTo>
                  <a:pt x="119104" y="57150"/>
                </a:lnTo>
                <a:close/>
              </a:path>
              <a:path w="143509" h="822960">
                <a:moveTo>
                  <a:pt x="85788" y="57150"/>
                </a:moveTo>
                <a:lnTo>
                  <a:pt x="71437" y="57150"/>
                </a:lnTo>
                <a:lnTo>
                  <a:pt x="85787" y="62884"/>
                </a:lnTo>
                <a:lnTo>
                  <a:pt x="85788" y="57150"/>
                </a:lnTo>
                <a:close/>
              </a:path>
              <a:path w="143509" h="822960">
                <a:moveTo>
                  <a:pt x="71437" y="57150"/>
                </a:moveTo>
                <a:lnTo>
                  <a:pt x="57213" y="57150"/>
                </a:lnTo>
                <a:lnTo>
                  <a:pt x="57212" y="62840"/>
                </a:lnTo>
                <a:lnTo>
                  <a:pt x="71437" y="5715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3" name="object 43"/>
          <p:cNvSpPr txBox="1"/>
          <p:nvPr/>
        </p:nvSpPr>
        <p:spPr>
          <a:xfrm>
            <a:off x="231585" y="2010288"/>
            <a:ext cx="487335" cy="196215"/>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大客户</a:t>
            </a:r>
            <a:endParaRPr sz="1200" b="1" spc="5" dirty="0">
              <a:latin typeface="微软雅黑" panose="020B0503020204020204" charset="-122"/>
              <a:ea typeface="微软雅黑" panose="020B0503020204020204" charset="-122"/>
              <a:cs typeface="微软雅黑" panose="020B0503020204020204" charset="-122"/>
            </a:endParaRPr>
          </a:p>
        </p:txBody>
      </p:sp>
      <p:sp>
        <p:nvSpPr>
          <p:cNvPr id="44" name="object 44"/>
          <p:cNvSpPr txBox="1"/>
          <p:nvPr/>
        </p:nvSpPr>
        <p:spPr>
          <a:xfrm>
            <a:off x="231585" y="3154255"/>
            <a:ext cx="487335" cy="565150"/>
          </a:xfrm>
          <a:prstGeom prst="rect">
            <a:avLst/>
          </a:prstGeom>
        </p:spPr>
        <p:txBody>
          <a:bodyPr vert="horz" wrap="square" lIns="0" tIns="12056" rIns="0" bIns="0" rtlCol="0">
            <a:spAutoFit/>
          </a:bodyPr>
          <a:lstStyle/>
          <a:p>
            <a:pPr marL="12700" marR="5080" algn="just">
              <a:lnSpc>
                <a:spcPct val="100000"/>
              </a:lnSpc>
              <a:spcBef>
                <a:spcPts val="95"/>
              </a:spcBef>
            </a:pPr>
            <a:r>
              <a:rPr sz="1200" b="1" spc="5" dirty="0">
                <a:latin typeface="微软雅黑" panose="020B0503020204020204" charset="-122"/>
                <a:ea typeface="微软雅黑" panose="020B0503020204020204" charset="-122"/>
                <a:cs typeface="微软雅黑" panose="020B0503020204020204" charset="-122"/>
              </a:rPr>
              <a:t>中等规 模的客 </a:t>
            </a:r>
            <a:r>
              <a:rPr sz="1200" b="1" spc="-5" dirty="0">
                <a:latin typeface="微软雅黑" panose="020B0503020204020204" charset="-122"/>
                <a:ea typeface="微软雅黑" panose="020B0503020204020204" charset="-122"/>
                <a:cs typeface="微软雅黑" panose="020B0503020204020204" charset="-122"/>
              </a:rPr>
              <a:t>户</a:t>
            </a:r>
            <a:endParaRPr sz="1200">
              <a:latin typeface="微软雅黑" panose="020B0503020204020204" charset="-122"/>
              <a:ea typeface="微软雅黑" panose="020B0503020204020204" charset="-122"/>
              <a:cs typeface="微软雅黑" panose="020B0503020204020204" charset="-122"/>
            </a:endParaRPr>
          </a:p>
        </p:txBody>
      </p:sp>
      <p:sp>
        <p:nvSpPr>
          <p:cNvPr id="45" name="object 45"/>
          <p:cNvSpPr txBox="1"/>
          <p:nvPr/>
        </p:nvSpPr>
        <p:spPr>
          <a:xfrm>
            <a:off x="231585" y="4572729"/>
            <a:ext cx="487335" cy="381635"/>
          </a:xfrm>
          <a:prstGeom prst="rect">
            <a:avLst/>
          </a:prstGeom>
        </p:spPr>
        <p:txBody>
          <a:bodyPr vert="horz" wrap="square" lIns="0" tIns="10787" rIns="0" bIns="0" rtlCol="0">
            <a:spAutoFit/>
          </a:bodyPr>
          <a:lstStyle/>
          <a:p>
            <a:pPr marL="12700" marR="5080">
              <a:lnSpc>
                <a:spcPct val="101000"/>
              </a:lnSpc>
              <a:spcBef>
                <a:spcPts val="85"/>
              </a:spcBef>
            </a:pPr>
            <a:r>
              <a:rPr sz="1200" b="1" spc="5" dirty="0">
                <a:latin typeface="微软雅黑" panose="020B0503020204020204" charset="-122"/>
                <a:ea typeface="微软雅黑" panose="020B0503020204020204" charset="-122"/>
                <a:cs typeface="微软雅黑" panose="020B0503020204020204" charset="-122"/>
              </a:rPr>
              <a:t>小型客 </a:t>
            </a:r>
            <a:r>
              <a:rPr sz="1200" b="1" spc="-5" dirty="0">
                <a:latin typeface="微软雅黑" panose="020B0503020204020204" charset="-122"/>
                <a:ea typeface="微软雅黑" panose="020B0503020204020204" charset="-122"/>
                <a:cs typeface="微软雅黑" panose="020B0503020204020204" charset="-122"/>
              </a:rPr>
              <a:t>户</a:t>
            </a:r>
            <a:endParaRPr sz="1200">
              <a:latin typeface="微软雅黑" panose="020B0503020204020204" charset="-122"/>
              <a:ea typeface="微软雅黑" panose="020B0503020204020204" charset="-122"/>
              <a:cs typeface="微软雅黑" panose="020B0503020204020204" charset="-122"/>
            </a:endParaRPr>
          </a:p>
        </p:txBody>
      </p:sp>
      <p:sp>
        <p:nvSpPr>
          <p:cNvPr id="46" name="object 46"/>
          <p:cNvSpPr txBox="1"/>
          <p:nvPr/>
        </p:nvSpPr>
        <p:spPr>
          <a:xfrm>
            <a:off x="174628" y="1160447"/>
            <a:ext cx="1188513" cy="196215"/>
          </a:xfrm>
          <a:prstGeom prst="rect">
            <a:avLst/>
          </a:prstGeom>
        </p:spPr>
        <p:txBody>
          <a:bodyPr vert="horz" wrap="square" lIns="0" tIns="12691" rIns="0" bIns="0" rtlCol="0">
            <a:spAutoFit/>
          </a:bodyPr>
          <a:lstStyle/>
          <a:p>
            <a:pPr marL="12700">
              <a:lnSpc>
                <a:spcPct val="100000"/>
              </a:lnSpc>
              <a:spcBef>
                <a:spcPts val="100"/>
              </a:spcBef>
              <a:tabLst>
                <a:tab pos="713740" algn="l"/>
              </a:tabLst>
            </a:pPr>
            <a:r>
              <a:rPr sz="1200" b="1" spc="5" dirty="0">
                <a:latin typeface="微软雅黑" panose="020B0503020204020204" charset="-122"/>
                <a:ea typeface="微软雅黑" panose="020B0503020204020204" charset="-122"/>
                <a:cs typeface="微软雅黑" panose="020B0503020204020204" charset="-122"/>
              </a:rPr>
              <a:t>规</a:t>
            </a:r>
            <a:r>
              <a:rPr sz="1200" b="1" dirty="0">
                <a:latin typeface="微软雅黑" panose="020B0503020204020204" charset="-122"/>
                <a:ea typeface="微软雅黑" panose="020B0503020204020204" charset="-122"/>
                <a:cs typeface="微软雅黑" panose="020B0503020204020204" charset="-122"/>
              </a:rPr>
              <a:t>模	</a:t>
            </a:r>
            <a:r>
              <a:rPr sz="1200" b="1" spc="5" dirty="0">
                <a:latin typeface="微软雅黑" panose="020B0503020204020204" charset="-122"/>
                <a:ea typeface="微软雅黑" panose="020B0503020204020204" charset="-122"/>
                <a:cs typeface="微软雅黑" panose="020B0503020204020204" charset="-122"/>
              </a:rPr>
              <a:t>利润率</a:t>
            </a:r>
            <a:endParaRPr sz="1200">
              <a:latin typeface="微软雅黑" panose="020B0503020204020204" charset="-122"/>
              <a:ea typeface="微软雅黑" panose="020B0503020204020204" charset="-122"/>
              <a:cs typeface="微软雅黑" panose="020B0503020204020204" charset="-122"/>
            </a:endParaRPr>
          </a:p>
        </p:txBody>
      </p:sp>
      <p:sp>
        <p:nvSpPr>
          <p:cNvPr id="47" name="object 47"/>
          <p:cNvSpPr/>
          <p:nvPr/>
        </p:nvSpPr>
        <p:spPr>
          <a:xfrm>
            <a:off x="187319" y="948050"/>
            <a:ext cx="1492462" cy="0"/>
          </a:xfrm>
          <a:custGeom>
            <a:avLst/>
            <a:gdLst/>
            <a:ahLst/>
            <a:cxnLst/>
            <a:rect l="l" t="t" r="r" b="b"/>
            <a:pathLst>
              <a:path w="1493520">
                <a:moveTo>
                  <a:pt x="0" y="0"/>
                </a:moveTo>
                <a:lnTo>
                  <a:pt x="1493520" y="0"/>
                </a:lnTo>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8" name="object 48"/>
          <p:cNvSpPr/>
          <p:nvPr/>
        </p:nvSpPr>
        <p:spPr>
          <a:xfrm>
            <a:off x="1675213" y="4112680"/>
            <a:ext cx="1734859" cy="1342074"/>
          </a:xfrm>
          <a:custGeom>
            <a:avLst/>
            <a:gdLst/>
            <a:ahLst/>
            <a:cxnLst/>
            <a:rect l="l" t="t" r="r" b="b"/>
            <a:pathLst>
              <a:path w="1736089" h="1343025">
                <a:moveTo>
                  <a:pt x="0" y="1342643"/>
                </a:moveTo>
                <a:lnTo>
                  <a:pt x="1735836" y="1342643"/>
                </a:lnTo>
                <a:lnTo>
                  <a:pt x="1735836" y="0"/>
                </a:lnTo>
                <a:lnTo>
                  <a:pt x="0" y="0"/>
                </a:lnTo>
                <a:lnTo>
                  <a:pt x="0" y="1342643"/>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9" name="object 49"/>
          <p:cNvSpPr/>
          <p:nvPr/>
        </p:nvSpPr>
        <p:spPr>
          <a:xfrm>
            <a:off x="1675213" y="4112680"/>
            <a:ext cx="1734859" cy="1342074"/>
          </a:xfrm>
          <a:custGeom>
            <a:avLst/>
            <a:gdLst/>
            <a:ahLst/>
            <a:cxnLst/>
            <a:rect l="l" t="t" r="r" b="b"/>
            <a:pathLst>
              <a:path w="1736089" h="1343025">
                <a:moveTo>
                  <a:pt x="0" y="1342643"/>
                </a:moveTo>
                <a:lnTo>
                  <a:pt x="1735836" y="1342643"/>
                </a:lnTo>
                <a:lnTo>
                  <a:pt x="1735836" y="0"/>
                </a:lnTo>
                <a:lnTo>
                  <a:pt x="0" y="0"/>
                </a:lnTo>
                <a:lnTo>
                  <a:pt x="0" y="1342643"/>
                </a:lnTo>
                <a:close/>
              </a:path>
            </a:pathLst>
          </a:custGeom>
          <a:ln w="952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0" name="object 50"/>
          <p:cNvSpPr/>
          <p:nvPr/>
        </p:nvSpPr>
        <p:spPr>
          <a:xfrm>
            <a:off x="3409818" y="4112680"/>
            <a:ext cx="1734859" cy="225900"/>
          </a:xfrm>
          <a:custGeom>
            <a:avLst/>
            <a:gdLst/>
            <a:ahLst/>
            <a:cxnLst/>
            <a:rect l="l" t="t" r="r" b="b"/>
            <a:pathLst>
              <a:path w="1736089" h="226060">
                <a:moveTo>
                  <a:pt x="0" y="225551"/>
                </a:moveTo>
                <a:lnTo>
                  <a:pt x="1735836" y="225551"/>
                </a:lnTo>
                <a:lnTo>
                  <a:pt x="1735836" y="0"/>
                </a:lnTo>
                <a:lnTo>
                  <a:pt x="0" y="0"/>
                </a:lnTo>
                <a:lnTo>
                  <a:pt x="0" y="225551"/>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1" name="object 51"/>
          <p:cNvSpPr/>
          <p:nvPr/>
        </p:nvSpPr>
        <p:spPr>
          <a:xfrm>
            <a:off x="3409818" y="5218320"/>
            <a:ext cx="1734859" cy="236053"/>
          </a:xfrm>
          <a:custGeom>
            <a:avLst/>
            <a:gdLst/>
            <a:ahLst/>
            <a:cxnLst/>
            <a:rect l="l" t="t" r="r" b="b"/>
            <a:pathLst>
              <a:path w="1736089" h="236220">
                <a:moveTo>
                  <a:pt x="0" y="236219"/>
                </a:moveTo>
                <a:lnTo>
                  <a:pt x="1735836" y="236219"/>
                </a:lnTo>
                <a:lnTo>
                  <a:pt x="1735836" y="0"/>
                </a:lnTo>
                <a:lnTo>
                  <a:pt x="0" y="0"/>
                </a:lnTo>
                <a:lnTo>
                  <a:pt x="0" y="23621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2" name="object 52"/>
          <p:cNvSpPr/>
          <p:nvPr/>
        </p:nvSpPr>
        <p:spPr>
          <a:xfrm>
            <a:off x="3409818" y="4112680"/>
            <a:ext cx="1734859" cy="1342074"/>
          </a:xfrm>
          <a:custGeom>
            <a:avLst/>
            <a:gdLst/>
            <a:ahLst/>
            <a:cxnLst/>
            <a:rect l="l" t="t" r="r" b="b"/>
            <a:pathLst>
              <a:path w="1736089" h="1343025">
                <a:moveTo>
                  <a:pt x="0" y="1342643"/>
                </a:moveTo>
                <a:lnTo>
                  <a:pt x="1735836" y="1342643"/>
                </a:lnTo>
                <a:lnTo>
                  <a:pt x="1735836" y="0"/>
                </a:lnTo>
                <a:lnTo>
                  <a:pt x="0" y="0"/>
                </a:lnTo>
                <a:lnTo>
                  <a:pt x="0" y="1342643"/>
                </a:lnTo>
                <a:close/>
              </a:path>
            </a:pathLst>
          </a:custGeom>
          <a:ln w="952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3" name="object 53"/>
          <p:cNvSpPr/>
          <p:nvPr/>
        </p:nvSpPr>
        <p:spPr>
          <a:xfrm>
            <a:off x="5144425" y="4112680"/>
            <a:ext cx="1738032" cy="225900"/>
          </a:xfrm>
          <a:custGeom>
            <a:avLst/>
            <a:gdLst/>
            <a:ahLst/>
            <a:cxnLst/>
            <a:rect l="l" t="t" r="r" b="b"/>
            <a:pathLst>
              <a:path w="1739265" h="226060">
                <a:moveTo>
                  <a:pt x="0" y="225551"/>
                </a:moveTo>
                <a:lnTo>
                  <a:pt x="1738883" y="225551"/>
                </a:lnTo>
                <a:lnTo>
                  <a:pt x="1738883" y="0"/>
                </a:lnTo>
                <a:lnTo>
                  <a:pt x="0" y="0"/>
                </a:lnTo>
                <a:lnTo>
                  <a:pt x="0" y="225551"/>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4" name="object 54"/>
          <p:cNvSpPr/>
          <p:nvPr/>
        </p:nvSpPr>
        <p:spPr>
          <a:xfrm>
            <a:off x="5144425" y="5218320"/>
            <a:ext cx="1738032" cy="236053"/>
          </a:xfrm>
          <a:custGeom>
            <a:avLst/>
            <a:gdLst/>
            <a:ahLst/>
            <a:cxnLst/>
            <a:rect l="l" t="t" r="r" b="b"/>
            <a:pathLst>
              <a:path w="1739265" h="236220">
                <a:moveTo>
                  <a:pt x="0" y="236219"/>
                </a:moveTo>
                <a:lnTo>
                  <a:pt x="1738883" y="236219"/>
                </a:lnTo>
                <a:lnTo>
                  <a:pt x="1738883" y="0"/>
                </a:lnTo>
                <a:lnTo>
                  <a:pt x="0" y="0"/>
                </a:lnTo>
                <a:lnTo>
                  <a:pt x="0" y="23621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5" name="object 55"/>
          <p:cNvSpPr/>
          <p:nvPr/>
        </p:nvSpPr>
        <p:spPr>
          <a:xfrm>
            <a:off x="5144425" y="4112680"/>
            <a:ext cx="1738032" cy="1342074"/>
          </a:xfrm>
          <a:custGeom>
            <a:avLst/>
            <a:gdLst/>
            <a:ahLst/>
            <a:cxnLst/>
            <a:rect l="l" t="t" r="r" b="b"/>
            <a:pathLst>
              <a:path w="1739265" h="1343025">
                <a:moveTo>
                  <a:pt x="0" y="1342643"/>
                </a:moveTo>
                <a:lnTo>
                  <a:pt x="1738883" y="1342643"/>
                </a:lnTo>
                <a:lnTo>
                  <a:pt x="1738883" y="0"/>
                </a:lnTo>
                <a:lnTo>
                  <a:pt x="0" y="0"/>
                </a:lnTo>
                <a:lnTo>
                  <a:pt x="0" y="1342643"/>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6" name="object 56"/>
          <p:cNvSpPr/>
          <p:nvPr/>
        </p:nvSpPr>
        <p:spPr>
          <a:xfrm>
            <a:off x="6882079" y="4112680"/>
            <a:ext cx="1734859" cy="1342074"/>
          </a:xfrm>
          <a:custGeom>
            <a:avLst/>
            <a:gdLst/>
            <a:ahLst/>
            <a:cxnLst/>
            <a:rect l="l" t="t" r="r" b="b"/>
            <a:pathLst>
              <a:path w="1736090" h="1343025">
                <a:moveTo>
                  <a:pt x="0" y="1342643"/>
                </a:moveTo>
                <a:lnTo>
                  <a:pt x="1735836" y="1342643"/>
                </a:lnTo>
                <a:lnTo>
                  <a:pt x="1735836" y="0"/>
                </a:lnTo>
                <a:lnTo>
                  <a:pt x="0" y="0"/>
                </a:lnTo>
                <a:lnTo>
                  <a:pt x="0" y="1342643"/>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7" name="object 57"/>
          <p:cNvSpPr/>
          <p:nvPr/>
        </p:nvSpPr>
        <p:spPr>
          <a:xfrm>
            <a:off x="6882079" y="4112680"/>
            <a:ext cx="1734859" cy="1342074"/>
          </a:xfrm>
          <a:custGeom>
            <a:avLst/>
            <a:gdLst/>
            <a:ahLst/>
            <a:cxnLst/>
            <a:rect l="l" t="t" r="r" b="b"/>
            <a:pathLst>
              <a:path w="1736090" h="1343025">
                <a:moveTo>
                  <a:pt x="0" y="1342643"/>
                </a:moveTo>
                <a:lnTo>
                  <a:pt x="1735836" y="1342643"/>
                </a:lnTo>
                <a:lnTo>
                  <a:pt x="1735836" y="0"/>
                </a:lnTo>
                <a:lnTo>
                  <a:pt x="0" y="0"/>
                </a:lnTo>
                <a:lnTo>
                  <a:pt x="0" y="1342643"/>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8" name="object 58"/>
          <p:cNvSpPr/>
          <p:nvPr/>
        </p:nvSpPr>
        <p:spPr>
          <a:xfrm>
            <a:off x="1675213" y="2789262"/>
            <a:ext cx="1734859" cy="1323672"/>
          </a:xfrm>
          <a:custGeom>
            <a:avLst/>
            <a:gdLst/>
            <a:ahLst/>
            <a:cxnLst/>
            <a:rect l="l" t="t" r="r" b="b"/>
            <a:pathLst>
              <a:path w="1736089" h="1324610">
                <a:moveTo>
                  <a:pt x="0" y="1324356"/>
                </a:moveTo>
                <a:lnTo>
                  <a:pt x="1735836" y="1324356"/>
                </a:lnTo>
                <a:lnTo>
                  <a:pt x="1735836" y="0"/>
                </a:lnTo>
                <a:lnTo>
                  <a:pt x="0" y="0"/>
                </a:lnTo>
                <a:lnTo>
                  <a:pt x="0" y="132435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9" name="object 59"/>
          <p:cNvSpPr/>
          <p:nvPr/>
        </p:nvSpPr>
        <p:spPr>
          <a:xfrm>
            <a:off x="1675213" y="2789262"/>
            <a:ext cx="1734859" cy="1323672"/>
          </a:xfrm>
          <a:custGeom>
            <a:avLst/>
            <a:gdLst/>
            <a:ahLst/>
            <a:cxnLst/>
            <a:rect l="l" t="t" r="r" b="b"/>
            <a:pathLst>
              <a:path w="1736089" h="1324610">
                <a:moveTo>
                  <a:pt x="0" y="1324356"/>
                </a:moveTo>
                <a:lnTo>
                  <a:pt x="1735836" y="1324356"/>
                </a:lnTo>
                <a:lnTo>
                  <a:pt x="1735836" y="0"/>
                </a:lnTo>
                <a:lnTo>
                  <a:pt x="0" y="0"/>
                </a:lnTo>
                <a:lnTo>
                  <a:pt x="0" y="1324356"/>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0" name="object 60"/>
          <p:cNvSpPr/>
          <p:nvPr/>
        </p:nvSpPr>
        <p:spPr>
          <a:xfrm>
            <a:off x="3409818" y="2789262"/>
            <a:ext cx="1734859" cy="1323672"/>
          </a:xfrm>
          <a:custGeom>
            <a:avLst/>
            <a:gdLst/>
            <a:ahLst/>
            <a:cxnLst/>
            <a:rect l="l" t="t" r="r" b="b"/>
            <a:pathLst>
              <a:path w="1736089" h="1324610">
                <a:moveTo>
                  <a:pt x="0" y="1324356"/>
                </a:moveTo>
                <a:lnTo>
                  <a:pt x="1735836" y="1324356"/>
                </a:lnTo>
                <a:lnTo>
                  <a:pt x="1735836" y="0"/>
                </a:lnTo>
                <a:lnTo>
                  <a:pt x="0" y="0"/>
                </a:lnTo>
                <a:lnTo>
                  <a:pt x="0" y="132435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1" name="object 61"/>
          <p:cNvSpPr/>
          <p:nvPr/>
        </p:nvSpPr>
        <p:spPr>
          <a:xfrm>
            <a:off x="3409818" y="2789262"/>
            <a:ext cx="1734859" cy="1323672"/>
          </a:xfrm>
          <a:custGeom>
            <a:avLst/>
            <a:gdLst/>
            <a:ahLst/>
            <a:cxnLst/>
            <a:rect l="l" t="t" r="r" b="b"/>
            <a:pathLst>
              <a:path w="1736089" h="1324610">
                <a:moveTo>
                  <a:pt x="0" y="1324356"/>
                </a:moveTo>
                <a:lnTo>
                  <a:pt x="1735836" y="1324356"/>
                </a:lnTo>
                <a:lnTo>
                  <a:pt x="1735836" y="0"/>
                </a:lnTo>
                <a:lnTo>
                  <a:pt x="0" y="0"/>
                </a:lnTo>
                <a:lnTo>
                  <a:pt x="0" y="1324356"/>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2" name="object 62"/>
          <p:cNvSpPr/>
          <p:nvPr/>
        </p:nvSpPr>
        <p:spPr>
          <a:xfrm>
            <a:off x="5144425" y="2789262"/>
            <a:ext cx="1738032" cy="1323672"/>
          </a:xfrm>
          <a:custGeom>
            <a:avLst/>
            <a:gdLst/>
            <a:ahLst/>
            <a:cxnLst/>
            <a:rect l="l" t="t" r="r" b="b"/>
            <a:pathLst>
              <a:path w="1739265" h="1324610">
                <a:moveTo>
                  <a:pt x="0" y="1324356"/>
                </a:moveTo>
                <a:lnTo>
                  <a:pt x="1738883" y="1324356"/>
                </a:lnTo>
                <a:lnTo>
                  <a:pt x="1738883" y="0"/>
                </a:lnTo>
                <a:lnTo>
                  <a:pt x="0" y="0"/>
                </a:lnTo>
                <a:lnTo>
                  <a:pt x="0" y="132435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3" name="object 63"/>
          <p:cNvSpPr/>
          <p:nvPr/>
        </p:nvSpPr>
        <p:spPr>
          <a:xfrm>
            <a:off x="5144425" y="2789262"/>
            <a:ext cx="1738032" cy="1323672"/>
          </a:xfrm>
          <a:custGeom>
            <a:avLst/>
            <a:gdLst/>
            <a:ahLst/>
            <a:cxnLst/>
            <a:rect l="l" t="t" r="r" b="b"/>
            <a:pathLst>
              <a:path w="1739265" h="1324610">
                <a:moveTo>
                  <a:pt x="0" y="1324356"/>
                </a:moveTo>
                <a:lnTo>
                  <a:pt x="1738883" y="1324356"/>
                </a:lnTo>
                <a:lnTo>
                  <a:pt x="1738883" y="0"/>
                </a:lnTo>
                <a:lnTo>
                  <a:pt x="0" y="0"/>
                </a:lnTo>
                <a:lnTo>
                  <a:pt x="0" y="1324356"/>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4" name="object 64"/>
          <p:cNvSpPr/>
          <p:nvPr/>
        </p:nvSpPr>
        <p:spPr>
          <a:xfrm>
            <a:off x="6882079" y="2789262"/>
            <a:ext cx="1734859" cy="1323672"/>
          </a:xfrm>
          <a:custGeom>
            <a:avLst/>
            <a:gdLst/>
            <a:ahLst/>
            <a:cxnLst/>
            <a:rect l="l" t="t" r="r" b="b"/>
            <a:pathLst>
              <a:path w="1736090" h="1324610">
                <a:moveTo>
                  <a:pt x="0" y="1324356"/>
                </a:moveTo>
                <a:lnTo>
                  <a:pt x="1735836" y="1324356"/>
                </a:lnTo>
                <a:lnTo>
                  <a:pt x="1735836" y="0"/>
                </a:lnTo>
                <a:lnTo>
                  <a:pt x="0" y="0"/>
                </a:lnTo>
                <a:lnTo>
                  <a:pt x="0" y="132435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5" name="object 65"/>
          <p:cNvSpPr/>
          <p:nvPr/>
        </p:nvSpPr>
        <p:spPr>
          <a:xfrm>
            <a:off x="6882079" y="2789262"/>
            <a:ext cx="1734859" cy="1323672"/>
          </a:xfrm>
          <a:custGeom>
            <a:avLst/>
            <a:gdLst/>
            <a:ahLst/>
            <a:cxnLst/>
            <a:rect l="l" t="t" r="r" b="b"/>
            <a:pathLst>
              <a:path w="1736090" h="1324610">
                <a:moveTo>
                  <a:pt x="0" y="1324356"/>
                </a:moveTo>
                <a:lnTo>
                  <a:pt x="1735836" y="1324356"/>
                </a:lnTo>
                <a:lnTo>
                  <a:pt x="1735836" y="0"/>
                </a:lnTo>
                <a:lnTo>
                  <a:pt x="0" y="0"/>
                </a:lnTo>
                <a:lnTo>
                  <a:pt x="0" y="1324356"/>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6" name="object 66"/>
          <p:cNvSpPr/>
          <p:nvPr/>
        </p:nvSpPr>
        <p:spPr>
          <a:xfrm>
            <a:off x="1675213" y="1464321"/>
            <a:ext cx="1734859" cy="1323672"/>
          </a:xfrm>
          <a:custGeom>
            <a:avLst/>
            <a:gdLst/>
            <a:ahLst/>
            <a:cxnLst/>
            <a:rect l="l" t="t" r="r" b="b"/>
            <a:pathLst>
              <a:path w="1736089" h="1324610">
                <a:moveTo>
                  <a:pt x="0" y="1324355"/>
                </a:moveTo>
                <a:lnTo>
                  <a:pt x="1735836" y="1324355"/>
                </a:lnTo>
                <a:lnTo>
                  <a:pt x="1735836" y="0"/>
                </a:lnTo>
                <a:lnTo>
                  <a:pt x="0" y="0"/>
                </a:lnTo>
                <a:lnTo>
                  <a:pt x="0" y="1324355"/>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7" name="object 67"/>
          <p:cNvSpPr/>
          <p:nvPr/>
        </p:nvSpPr>
        <p:spPr>
          <a:xfrm>
            <a:off x="1675213" y="1464321"/>
            <a:ext cx="1734859" cy="1323672"/>
          </a:xfrm>
          <a:custGeom>
            <a:avLst/>
            <a:gdLst/>
            <a:ahLst/>
            <a:cxnLst/>
            <a:rect l="l" t="t" r="r" b="b"/>
            <a:pathLst>
              <a:path w="1736089" h="1324610">
                <a:moveTo>
                  <a:pt x="0" y="1324355"/>
                </a:moveTo>
                <a:lnTo>
                  <a:pt x="1735836" y="1324355"/>
                </a:lnTo>
                <a:lnTo>
                  <a:pt x="1735836" y="0"/>
                </a:lnTo>
                <a:lnTo>
                  <a:pt x="0" y="0"/>
                </a:lnTo>
                <a:lnTo>
                  <a:pt x="0" y="1324355"/>
                </a:lnTo>
                <a:close/>
              </a:path>
            </a:pathLst>
          </a:custGeom>
          <a:ln w="952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8" name="object 68"/>
          <p:cNvSpPr/>
          <p:nvPr/>
        </p:nvSpPr>
        <p:spPr>
          <a:xfrm>
            <a:off x="3409818" y="1464321"/>
            <a:ext cx="1734859" cy="1323672"/>
          </a:xfrm>
          <a:custGeom>
            <a:avLst/>
            <a:gdLst/>
            <a:ahLst/>
            <a:cxnLst/>
            <a:rect l="l" t="t" r="r" b="b"/>
            <a:pathLst>
              <a:path w="1736089" h="1324610">
                <a:moveTo>
                  <a:pt x="0" y="1324355"/>
                </a:moveTo>
                <a:lnTo>
                  <a:pt x="1735836" y="1324355"/>
                </a:lnTo>
                <a:lnTo>
                  <a:pt x="1735836" y="0"/>
                </a:lnTo>
                <a:lnTo>
                  <a:pt x="0" y="0"/>
                </a:lnTo>
                <a:lnTo>
                  <a:pt x="0" y="1324355"/>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9" name="object 69"/>
          <p:cNvSpPr/>
          <p:nvPr/>
        </p:nvSpPr>
        <p:spPr>
          <a:xfrm>
            <a:off x="3409818" y="1464321"/>
            <a:ext cx="1734859" cy="1323672"/>
          </a:xfrm>
          <a:custGeom>
            <a:avLst/>
            <a:gdLst/>
            <a:ahLst/>
            <a:cxnLst/>
            <a:rect l="l" t="t" r="r" b="b"/>
            <a:pathLst>
              <a:path w="1736089" h="1324610">
                <a:moveTo>
                  <a:pt x="0" y="1324355"/>
                </a:moveTo>
                <a:lnTo>
                  <a:pt x="1735836" y="1324355"/>
                </a:lnTo>
                <a:lnTo>
                  <a:pt x="1735836" y="0"/>
                </a:lnTo>
                <a:lnTo>
                  <a:pt x="0" y="0"/>
                </a:lnTo>
                <a:lnTo>
                  <a:pt x="0" y="1324355"/>
                </a:lnTo>
                <a:close/>
              </a:path>
            </a:pathLst>
          </a:custGeom>
          <a:ln w="952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0" name="object 70"/>
          <p:cNvSpPr/>
          <p:nvPr/>
        </p:nvSpPr>
        <p:spPr>
          <a:xfrm>
            <a:off x="5144425" y="1464321"/>
            <a:ext cx="1738032" cy="1323672"/>
          </a:xfrm>
          <a:custGeom>
            <a:avLst/>
            <a:gdLst/>
            <a:ahLst/>
            <a:cxnLst/>
            <a:rect l="l" t="t" r="r" b="b"/>
            <a:pathLst>
              <a:path w="1739265" h="1324610">
                <a:moveTo>
                  <a:pt x="0" y="1324355"/>
                </a:moveTo>
                <a:lnTo>
                  <a:pt x="1738883" y="1324355"/>
                </a:lnTo>
                <a:lnTo>
                  <a:pt x="1738883" y="0"/>
                </a:lnTo>
                <a:lnTo>
                  <a:pt x="0" y="0"/>
                </a:lnTo>
                <a:lnTo>
                  <a:pt x="0" y="1324355"/>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1" name="object 71"/>
          <p:cNvSpPr/>
          <p:nvPr/>
        </p:nvSpPr>
        <p:spPr>
          <a:xfrm>
            <a:off x="5144425" y="1464321"/>
            <a:ext cx="1738032" cy="1323672"/>
          </a:xfrm>
          <a:custGeom>
            <a:avLst/>
            <a:gdLst/>
            <a:ahLst/>
            <a:cxnLst/>
            <a:rect l="l" t="t" r="r" b="b"/>
            <a:pathLst>
              <a:path w="1739265" h="1324610">
                <a:moveTo>
                  <a:pt x="0" y="1324355"/>
                </a:moveTo>
                <a:lnTo>
                  <a:pt x="1738883" y="1324355"/>
                </a:lnTo>
                <a:lnTo>
                  <a:pt x="1738883" y="0"/>
                </a:lnTo>
                <a:lnTo>
                  <a:pt x="0" y="0"/>
                </a:lnTo>
                <a:lnTo>
                  <a:pt x="0" y="1324355"/>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2" name="object 72"/>
          <p:cNvSpPr/>
          <p:nvPr/>
        </p:nvSpPr>
        <p:spPr>
          <a:xfrm>
            <a:off x="6882079" y="1464321"/>
            <a:ext cx="1734859" cy="1323672"/>
          </a:xfrm>
          <a:custGeom>
            <a:avLst/>
            <a:gdLst/>
            <a:ahLst/>
            <a:cxnLst/>
            <a:rect l="l" t="t" r="r" b="b"/>
            <a:pathLst>
              <a:path w="1736090" h="1324610">
                <a:moveTo>
                  <a:pt x="0" y="1324355"/>
                </a:moveTo>
                <a:lnTo>
                  <a:pt x="1735836" y="1324355"/>
                </a:lnTo>
                <a:lnTo>
                  <a:pt x="1735836" y="0"/>
                </a:lnTo>
                <a:lnTo>
                  <a:pt x="0" y="0"/>
                </a:lnTo>
                <a:lnTo>
                  <a:pt x="0" y="1324355"/>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3" name="object 73"/>
          <p:cNvSpPr/>
          <p:nvPr/>
        </p:nvSpPr>
        <p:spPr>
          <a:xfrm>
            <a:off x="6882079" y="1464321"/>
            <a:ext cx="1734859" cy="1323672"/>
          </a:xfrm>
          <a:custGeom>
            <a:avLst/>
            <a:gdLst/>
            <a:ahLst/>
            <a:cxnLst/>
            <a:rect l="l" t="t" r="r" b="b"/>
            <a:pathLst>
              <a:path w="1736090" h="1324610">
                <a:moveTo>
                  <a:pt x="0" y="1324355"/>
                </a:moveTo>
                <a:lnTo>
                  <a:pt x="1735836" y="1324355"/>
                </a:lnTo>
                <a:lnTo>
                  <a:pt x="1735836" y="0"/>
                </a:lnTo>
                <a:lnTo>
                  <a:pt x="0" y="0"/>
                </a:lnTo>
                <a:lnTo>
                  <a:pt x="0" y="1324355"/>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4" name="object 74"/>
          <p:cNvSpPr txBox="1"/>
          <p:nvPr/>
        </p:nvSpPr>
        <p:spPr>
          <a:xfrm>
            <a:off x="1725469" y="952619"/>
            <a:ext cx="6839818" cy="407670"/>
          </a:xfrm>
          <a:prstGeom prst="rect">
            <a:avLst/>
          </a:prstGeom>
          <a:ln w="9525">
            <a:solidFill>
              <a:srgbClr val="000000"/>
            </a:solidFill>
          </a:ln>
        </p:spPr>
        <p:txBody>
          <a:bodyPr vert="horz" wrap="square" lIns="0" tIns="39341" rIns="0" bIns="0" rtlCol="0">
            <a:spAutoFit/>
          </a:bodyPr>
          <a:lstStyle/>
          <a:p>
            <a:pPr marL="46355">
              <a:lnSpc>
                <a:spcPct val="100000"/>
              </a:lnSpc>
              <a:spcBef>
                <a:spcPts val="310"/>
              </a:spcBef>
            </a:pPr>
            <a:r>
              <a:rPr sz="1200" b="1" spc="5" dirty="0">
                <a:latin typeface="微软雅黑" panose="020B0503020204020204" charset="-122"/>
                <a:ea typeface="微软雅黑" panose="020B0503020204020204" charset="-122"/>
                <a:cs typeface="微软雅黑" panose="020B0503020204020204" charset="-122"/>
              </a:rPr>
              <a:t>总体价</a:t>
            </a:r>
            <a:r>
              <a:rPr sz="1200" b="1" spc="-5" dirty="0">
                <a:latin typeface="微软雅黑" panose="020B0503020204020204" charset="-122"/>
                <a:ea typeface="微软雅黑" panose="020B0503020204020204" charset="-122"/>
                <a:cs typeface="微软雅黑" panose="020B0503020204020204" charset="-122"/>
              </a:rPr>
              <a:t>值定位</a:t>
            </a:r>
            <a:endParaRPr sz="1200">
              <a:latin typeface="微软雅黑" panose="020B0503020204020204" charset="-122"/>
              <a:ea typeface="微软雅黑" panose="020B0503020204020204" charset="-122"/>
              <a:cs typeface="微软雅黑" panose="020B0503020204020204" charset="-122"/>
            </a:endParaRPr>
          </a:p>
          <a:p>
            <a:pPr marL="46355">
              <a:lnSpc>
                <a:spcPct val="100000"/>
              </a:lnSpc>
            </a:pPr>
            <a:r>
              <a:rPr sz="1200" spc="-10" dirty="0">
                <a:latin typeface="微软雅黑" panose="020B0503020204020204" charset="-122"/>
                <a:ea typeface="微软雅黑" panose="020B0503020204020204" charset="-122"/>
                <a:cs typeface="微软雅黑" panose="020B0503020204020204" charset="-122"/>
              </a:rPr>
              <a:t>“X</a:t>
            </a:r>
            <a:r>
              <a:rPr sz="1200" dirty="0">
                <a:latin typeface="微软雅黑" panose="020B0503020204020204" charset="-122"/>
                <a:ea typeface="微软雅黑" panose="020B0503020204020204" charset="-122"/>
                <a:cs typeface="微软雅黑" panose="020B0503020204020204" charset="-122"/>
              </a:rPr>
              <a:t>公司是完全可靠的工业包装合作伙伴”</a:t>
            </a:r>
            <a:endParaRPr sz="1200">
              <a:latin typeface="微软雅黑" panose="020B0503020204020204" charset="-122"/>
              <a:ea typeface="微软雅黑" panose="020B0503020204020204" charset="-122"/>
              <a:cs typeface="微软雅黑" panose="020B0503020204020204" charset="-122"/>
            </a:endParaRPr>
          </a:p>
        </p:txBody>
      </p:sp>
      <p:sp>
        <p:nvSpPr>
          <p:cNvPr id="75" name="object 75"/>
          <p:cNvSpPr/>
          <p:nvPr/>
        </p:nvSpPr>
        <p:spPr>
          <a:xfrm>
            <a:off x="3458552" y="1493256"/>
            <a:ext cx="3379615" cy="1265928"/>
          </a:xfrm>
          <a:custGeom>
            <a:avLst/>
            <a:gdLst/>
            <a:ahLst/>
            <a:cxnLst/>
            <a:rect l="l" t="t" r="r" b="b"/>
            <a:pathLst>
              <a:path w="3382009" h="1266825">
                <a:moveTo>
                  <a:pt x="0" y="1266444"/>
                </a:moveTo>
                <a:lnTo>
                  <a:pt x="3381755" y="1266444"/>
                </a:lnTo>
                <a:lnTo>
                  <a:pt x="3381755" y="0"/>
                </a:lnTo>
                <a:lnTo>
                  <a:pt x="0" y="0"/>
                </a:lnTo>
                <a:lnTo>
                  <a:pt x="0" y="1266444"/>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6" name="object 76"/>
          <p:cNvSpPr/>
          <p:nvPr/>
        </p:nvSpPr>
        <p:spPr>
          <a:xfrm>
            <a:off x="3458552" y="1493256"/>
            <a:ext cx="3379615" cy="1265928"/>
          </a:xfrm>
          <a:custGeom>
            <a:avLst/>
            <a:gdLst/>
            <a:ahLst/>
            <a:cxnLst/>
            <a:rect l="l" t="t" r="r" b="b"/>
            <a:pathLst>
              <a:path w="3382009" h="1266825">
                <a:moveTo>
                  <a:pt x="0" y="1266444"/>
                </a:moveTo>
                <a:lnTo>
                  <a:pt x="3381755" y="1266444"/>
                </a:lnTo>
                <a:lnTo>
                  <a:pt x="3381755" y="0"/>
                </a:lnTo>
                <a:lnTo>
                  <a:pt x="0" y="0"/>
                </a:lnTo>
                <a:lnTo>
                  <a:pt x="0" y="1266444"/>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7" name="object 77"/>
          <p:cNvSpPr txBox="1"/>
          <p:nvPr/>
        </p:nvSpPr>
        <p:spPr>
          <a:xfrm>
            <a:off x="3491803" y="1829568"/>
            <a:ext cx="1095868" cy="196215"/>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定制型</a:t>
            </a:r>
            <a:r>
              <a:rPr sz="1200" b="1" spc="-5" dirty="0">
                <a:latin typeface="微软雅黑" panose="020B0503020204020204" charset="-122"/>
                <a:ea typeface="微软雅黑" panose="020B0503020204020204" charset="-122"/>
                <a:cs typeface="微软雅黑" panose="020B0503020204020204" charset="-122"/>
              </a:rPr>
              <a:t>的大客户</a:t>
            </a:r>
            <a:endParaRPr sz="1200">
              <a:latin typeface="微软雅黑" panose="020B0503020204020204" charset="-122"/>
              <a:ea typeface="微软雅黑" panose="020B0503020204020204" charset="-122"/>
              <a:cs typeface="微软雅黑" panose="020B0503020204020204" charset="-122"/>
            </a:endParaRPr>
          </a:p>
        </p:txBody>
      </p:sp>
      <p:sp>
        <p:nvSpPr>
          <p:cNvPr id="78" name="object 78"/>
          <p:cNvSpPr txBox="1"/>
          <p:nvPr/>
        </p:nvSpPr>
        <p:spPr>
          <a:xfrm>
            <a:off x="3491803" y="2012318"/>
            <a:ext cx="3274914" cy="196215"/>
          </a:xfrm>
          <a:prstGeom prst="rect">
            <a:avLst/>
          </a:prstGeom>
        </p:spPr>
        <p:txBody>
          <a:bodyPr vert="horz" wrap="square" lIns="0" tIns="12691" rIns="0" bIns="0" rtlCol="0">
            <a:spAutoFit/>
          </a:bodyPr>
          <a:lstStyle/>
          <a:p>
            <a:pPr marL="12700">
              <a:lnSpc>
                <a:spcPct val="100000"/>
              </a:lnSpc>
              <a:spcBef>
                <a:spcPts val="100"/>
              </a:spcBef>
            </a:pPr>
            <a:r>
              <a:rPr sz="1200" spc="-5" dirty="0">
                <a:latin typeface="微软雅黑" panose="020B0503020204020204" charset="-122"/>
                <a:ea typeface="微软雅黑" panose="020B0503020204020204" charset="-122"/>
                <a:cs typeface="微软雅黑" panose="020B0503020204020204" charset="-122"/>
              </a:rPr>
              <a:t>“</a:t>
            </a:r>
            <a:r>
              <a:rPr sz="1200" dirty="0">
                <a:latin typeface="微软雅黑" panose="020B0503020204020204" charset="-122"/>
                <a:ea typeface="微软雅黑" panose="020B0503020204020204" charset="-122"/>
                <a:cs typeface="微软雅黑" panose="020B0503020204020204" charset="-122"/>
              </a:rPr>
              <a:t>我们保证提供定制的客户服务和品质，确保</a:t>
            </a:r>
            <a:r>
              <a:rPr sz="1200" spc="5" dirty="0">
                <a:latin typeface="微软雅黑" panose="020B0503020204020204" charset="-122"/>
                <a:ea typeface="微软雅黑" panose="020B0503020204020204" charset="-122"/>
                <a:cs typeface="微软雅黑" panose="020B0503020204020204" charset="-122"/>
              </a:rPr>
              <a:t>满</a:t>
            </a:r>
            <a:r>
              <a:rPr sz="1200" dirty="0">
                <a:latin typeface="微软雅黑" panose="020B0503020204020204" charset="-122"/>
                <a:ea typeface="微软雅黑" panose="020B0503020204020204" charset="-122"/>
                <a:cs typeface="微软雅黑" panose="020B0503020204020204" charset="-122"/>
              </a:rPr>
              <a:t>足</a:t>
            </a:r>
            <a:endParaRPr sz="1200">
              <a:latin typeface="微软雅黑" panose="020B0503020204020204" charset="-122"/>
              <a:ea typeface="微软雅黑" panose="020B0503020204020204" charset="-122"/>
              <a:cs typeface="微软雅黑" panose="020B0503020204020204" charset="-122"/>
            </a:endParaRPr>
          </a:p>
        </p:txBody>
      </p:sp>
      <p:sp>
        <p:nvSpPr>
          <p:cNvPr id="79" name="object 79"/>
          <p:cNvSpPr txBox="1"/>
          <p:nvPr/>
        </p:nvSpPr>
        <p:spPr>
          <a:xfrm>
            <a:off x="3491803" y="2195069"/>
            <a:ext cx="1396011" cy="196215"/>
          </a:xfrm>
          <a:prstGeom prst="rect">
            <a:avLst/>
          </a:prstGeom>
        </p:spPr>
        <p:txBody>
          <a:bodyPr vert="horz" wrap="square" lIns="0" tIns="12691" rIns="0" bIns="0" rtlCol="0">
            <a:spAutoFit/>
          </a:bodyPr>
          <a:lstStyle/>
          <a:p>
            <a:pPr marL="12700">
              <a:lnSpc>
                <a:spcPct val="100000"/>
              </a:lnSpc>
              <a:spcBef>
                <a:spcPts val="100"/>
              </a:spcBef>
            </a:pPr>
            <a:r>
              <a:rPr sz="1200" dirty="0">
                <a:latin typeface="微软雅黑" panose="020B0503020204020204" charset="-122"/>
                <a:ea typeface="微软雅黑" panose="020B0503020204020204" charset="-122"/>
                <a:cs typeface="微软雅黑" panose="020B0503020204020204" charset="-122"/>
              </a:rPr>
              <a:t>贵公司的特定需求”</a:t>
            </a:r>
            <a:endParaRPr sz="1200" dirty="0">
              <a:latin typeface="微软雅黑" panose="020B0503020204020204" charset="-122"/>
              <a:ea typeface="微软雅黑" panose="020B0503020204020204" charset="-122"/>
              <a:cs typeface="微软雅黑" panose="020B0503020204020204" charset="-122"/>
            </a:endParaRPr>
          </a:p>
        </p:txBody>
      </p:sp>
      <p:sp>
        <p:nvSpPr>
          <p:cNvPr id="80" name="object 80"/>
          <p:cNvSpPr/>
          <p:nvPr/>
        </p:nvSpPr>
        <p:spPr>
          <a:xfrm>
            <a:off x="1734606" y="1493256"/>
            <a:ext cx="1629525" cy="1265928"/>
          </a:xfrm>
          <a:custGeom>
            <a:avLst/>
            <a:gdLst/>
            <a:ahLst/>
            <a:cxnLst/>
            <a:rect l="l" t="t" r="r" b="b"/>
            <a:pathLst>
              <a:path w="1630679" h="1266825">
                <a:moveTo>
                  <a:pt x="0" y="1266444"/>
                </a:moveTo>
                <a:lnTo>
                  <a:pt x="1630680" y="1266444"/>
                </a:lnTo>
                <a:lnTo>
                  <a:pt x="1630680" y="0"/>
                </a:lnTo>
                <a:lnTo>
                  <a:pt x="0" y="0"/>
                </a:lnTo>
                <a:lnTo>
                  <a:pt x="0" y="1266444"/>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81" name="object 81"/>
          <p:cNvSpPr/>
          <p:nvPr/>
        </p:nvSpPr>
        <p:spPr>
          <a:xfrm>
            <a:off x="1734606" y="1493256"/>
            <a:ext cx="1629525" cy="1265928"/>
          </a:xfrm>
          <a:custGeom>
            <a:avLst/>
            <a:gdLst/>
            <a:ahLst/>
            <a:cxnLst/>
            <a:rect l="l" t="t" r="r" b="b"/>
            <a:pathLst>
              <a:path w="1630679" h="1266825">
                <a:moveTo>
                  <a:pt x="0" y="1266444"/>
                </a:moveTo>
                <a:lnTo>
                  <a:pt x="1630680" y="1266444"/>
                </a:lnTo>
                <a:lnTo>
                  <a:pt x="1630680" y="0"/>
                </a:lnTo>
                <a:lnTo>
                  <a:pt x="0" y="0"/>
                </a:lnTo>
                <a:lnTo>
                  <a:pt x="0" y="1266444"/>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82" name="object 82"/>
          <p:cNvSpPr txBox="1"/>
          <p:nvPr/>
        </p:nvSpPr>
        <p:spPr>
          <a:xfrm>
            <a:off x="1767348" y="1738192"/>
            <a:ext cx="1548303" cy="750570"/>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交易型</a:t>
            </a:r>
            <a:r>
              <a:rPr sz="1200" b="1" spc="-5" dirty="0">
                <a:latin typeface="微软雅黑" panose="020B0503020204020204" charset="-122"/>
                <a:ea typeface="微软雅黑" panose="020B0503020204020204" charset="-122"/>
                <a:cs typeface="微软雅黑" panose="020B0503020204020204" charset="-122"/>
              </a:rPr>
              <a:t>的大客户</a:t>
            </a:r>
            <a:endParaRPr sz="1200">
              <a:latin typeface="微软雅黑" panose="020B0503020204020204" charset="-122"/>
              <a:ea typeface="微软雅黑" panose="020B0503020204020204" charset="-122"/>
              <a:cs typeface="微软雅黑" panose="020B0503020204020204" charset="-122"/>
            </a:endParaRPr>
          </a:p>
          <a:p>
            <a:pPr marL="12700" marR="5080">
              <a:lnSpc>
                <a:spcPct val="100000"/>
              </a:lnSpc>
            </a:pPr>
            <a:r>
              <a:rPr sz="1200" spc="-5" dirty="0">
                <a:latin typeface="微软雅黑" panose="020B0503020204020204" charset="-122"/>
                <a:ea typeface="微软雅黑" panose="020B0503020204020204" charset="-122"/>
                <a:cs typeface="微软雅黑" panose="020B0503020204020204" charset="-122"/>
              </a:rPr>
              <a:t>“</a:t>
            </a:r>
            <a:r>
              <a:rPr sz="1200" dirty="0">
                <a:latin typeface="微软雅黑" panose="020B0503020204020204" charset="-122"/>
                <a:ea typeface="微软雅黑" panose="020B0503020204020204" charset="-122"/>
                <a:cs typeface="微软雅黑" panose="020B0503020204020204" charset="-122"/>
              </a:rPr>
              <a:t>我们将以具有竞争力 的价格提供贵公司需要 的所有的标准产品”</a:t>
            </a:r>
            <a:endParaRPr sz="1200">
              <a:latin typeface="微软雅黑" panose="020B0503020204020204" charset="-122"/>
              <a:ea typeface="微软雅黑" panose="020B0503020204020204" charset="-122"/>
              <a:cs typeface="微软雅黑" panose="020B0503020204020204" charset="-122"/>
            </a:endParaRPr>
          </a:p>
        </p:txBody>
      </p:sp>
      <p:sp>
        <p:nvSpPr>
          <p:cNvPr id="83" name="object 83"/>
          <p:cNvSpPr/>
          <p:nvPr/>
        </p:nvSpPr>
        <p:spPr>
          <a:xfrm>
            <a:off x="6933857" y="1493256"/>
            <a:ext cx="1631429" cy="1265928"/>
          </a:xfrm>
          <a:custGeom>
            <a:avLst/>
            <a:gdLst/>
            <a:ahLst/>
            <a:cxnLst/>
            <a:rect l="l" t="t" r="r" b="b"/>
            <a:pathLst>
              <a:path w="1632584" h="1266825">
                <a:moveTo>
                  <a:pt x="0" y="1266444"/>
                </a:moveTo>
                <a:lnTo>
                  <a:pt x="1632203" y="1266444"/>
                </a:lnTo>
                <a:lnTo>
                  <a:pt x="1632203" y="0"/>
                </a:lnTo>
                <a:lnTo>
                  <a:pt x="0" y="0"/>
                </a:lnTo>
                <a:lnTo>
                  <a:pt x="0" y="1266444"/>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84" name="object 84"/>
          <p:cNvSpPr/>
          <p:nvPr/>
        </p:nvSpPr>
        <p:spPr>
          <a:xfrm>
            <a:off x="6933857" y="1493256"/>
            <a:ext cx="1631429" cy="1265928"/>
          </a:xfrm>
          <a:custGeom>
            <a:avLst/>
            <a:gdLst/>
            <a:ahLst/>
            <a:cxnLst/>
            <a:rect l="l" t="t" r="r" b="b"/>
            <a:pathLst>
              <a:path w="1632584" h="1266825">
                <a:moveTo>
                  <a:pt x="0" y="1266444"/>
                </a:moveTo>
                <a:lnTo>
                  <a:pt x="1632203" y="1266444"/>
                </a:lnTo>
                <a:lnTo>
                  <a:pt x="1632203" y="0"/>
                </a:lnTo>
                <a:lnTo>
                  <a:pt x="0" y="0"/>
                </a:lnTo>
                <a:lnTo>
                  <a:pt x="0" y="1266444"/>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85" name="object 85"/>
          <p:cNvSpPr txBox="1"/>
          <p:nvPr/>
        </p:nvSpPr>
        <p:spPr>
          <a:xfrm>
            <a:off x="6968377" y="1553360"/>
            <a:ext cx="1552745" cy="1121410"/>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总体拥</a:t>
            </a:r>
            <a:r>
              <a:rPr sz="1200" b="1" dirty="0">
                <a:latin typeface="微软雅黑" panose="020B0503020204020204" charset="-122"/>
                <a:ea typeface="微软雅黑" panose="020B0503020204020204" charset="-122"/>
                <a:cs typeface="微软雅黑" panose="020B0503020204020204" charset="-122"/>
              </a:rPr>
              <a:t>有</a:t>
            </a:r>
            <a:r>
              <a:rPr sz="1200" b="1" spc="-5" dirty="0">
                <a:latin typeface="微软雅黑" panose="020B0503020204020204" charset="-122"/>
                <a:ea typeface="微软雅黑" panose="020B0503020204020204" charset="-122"/>
                <a:cs typeface="微软雅黑" panose="020B0503020204020204" charset="-122"/>
              </a:rPr>
              <a:t>成</a:t>
            </a:r>
            <a:r>
              <a:rPr sz="1200" b="1" dirty="0">
                <a:latin typeface="微软雅黑" panose="020B0503020204020204" charset="-122"/>
                <a:ea typeface="微软雅黑" panose="020B0503020204020204" charset="-122"/>
                <a:cs typeface="微软雅黑" panose="020B0503020204020204" charset="-122"/>
              </a:rPr>
              <a:t>本</a:t>
            </a:r>
            <a:r>
              <a:rPr sz="1200" b="1" spc="-5" dirty="0">
                <a:latin typeface="微软雅黑" panose="020B0503020204020204" charset="-122"/>
                <a:ea typeface="微软雅黑" panose="020B0503020204020204" charset="-122"/>
                <a:cs typeface="微软雅黑" panose="020B0503020204020204" charset="-122"/>
              </a:rPr>
              <a:t>合</a:t>
            </a:r>
            <a:r>
              <a:rPr sz="1200" b="1" dirty="0">
                <a:latin typeface="微软雅黑" panose="020B0503020204020204" charset="-122"/>
                <a:ea typeface="微软雅黑" panose="020B0503020204020204" charset="-122"/>
                <a:cs typeface="微软雅黑" panose="020B0503020204020204" charset="-122"/>
              </a:rPr>
              <a:t>作</a:t>
            </a:r>
            <a:r>
              <a:rPr sz="1200" b="1" spc="-5" dirty="0">
                <a:latin typeface="微软雅黑" panose="020B0503020204020204" charset="-122"/>
                <a:ea typeface="微软雅黑" panose="020B0503020204020204" charset="-122"/>
                <a:cs typeface="微软雅黑" panose="020B0503020204020204" charset="-122"/>
              </a:rPr>
              <a:t>伙</a:t>
            </a:r>
            <a:r>
              <a:rPr sz="1200" b="1" dirty="0">
                <a:latin typeface="微软雅黑" panose="020B0503020204020204" charset="-122"/>
                <a:ea typeface="微软雅黑" panose="020B0503020204020204" charset="-122"/>
                <a:cs typeface="微软雅黑" panose="020B0503020204020204" charset="-122"/>
              </a:rPr>
              <a:t>伴</a:t>
            </a:r>
            <a:endParaRPr sz="1200">
              <a:latin typeface="微软雅黑" panose="020B0503020204020204" charset="-122"/>
              <a:ea typeface="微软雅黑" panose="020B0503020204020204" charset="-122"/>
              <a:cs typeface="微软雅黑" panose="020B0503020204020204" charset="-122"/>
            </a:endParaRPr>
          </a:p>
          <a:p>
            <a:pPr marL="12700">
              <a:lnSpc>
                <a:spcPct val="100000"/>
              </a:lnSpc>
              <a:spcBef>
                <a:spcPts val="15"/>
              </a:spcBef>
            </a:pPr>
            <a:r>
              <a:rPr sz="1200" b="1" spc="5" dirty="0">
                <a:latin typeface="微软雅黑" panose="020B0503020204020204" charset="-122"/>
                <a:ea typeface="微软雅黑" panose="020B0503020204020204" charset="-122"/>
                <a:cs typeface="微软雅黑" panose="020B0503020204020204" charset="-122"/>
              </a:rPr>
              <a:t>大客户</a:t>
            </a:r>
            <a:endParaRPr sz="1200">
              <a:latin typeface="微软雅黑" panose="020B0503020204020204" charset="-122"/>
              <a:ea typeface="微软雅黑" panose="020B0503020204020204" charset="-122"/>
              <a:cs typeface="微软雅黑" panose="020B0503020204020204" charset="-122"/>
            </a:endParaRPr>
          </a:p>
          <a:p>
            <a:pPr marL="12700" marR="8890">
              <a:lnSpc>
                <a:spcPct val="100000"/>
              </a:lnSpc>
            </a:pPr>
            <a:r>
              <a:rPr sz="1200" spc="-5" dirty="0">
                <a:latin typeface="微软雅黑" panose="020B0503020204020204" charset="-122"/>
                <a:ea typeface="微软雅黑" panose="020B0503020204020204" charset="-122"/>
                <a:cs typeface="微软雅黑" panose="020B0503020204020204" charset="-122"/>
              </a:rPr>
              <a:t>“</a:t>
            </a:r>
            <a:r>
              <a:rPr sz="1200" dirty="0">
                <a:latin typeface="微软雅黑" panose="020B0503020204020204" charset="-122"/>
                <a:ea typeface="微软雅黑" panose="020B0503020204020204" charset="-122"/>
                <a:cs typeface="微软雅黑" panose="020B0503020204020204" charset="-122"/>
              </a:rPr>
              <a:t>客户保证通过提供专 门的服务和利用规模、 范围和专业知识对整个 系统的成本进行削减”</a:t>
            </a:r>
            <a:endParaRPr sz="1200">
              <a:latin typeface="微软雅黑" panose="020B0503020204020204" charset="-122"/>
              <a:ea typeface="微软雅黑" panose="020B0503020204020204" charset="-122"/>
              <a:cs typeface="微软雅黑" panose="020B0503020204020204" charset="-122"/>
            </a:endParaRPr>
          </a:p>
        </p:txBody>
      </p:sp>
      <p:sp>
        <p:nvSpPr>
          <p:cNvPr id="86" name="object 86"/>
          <p:cNvSpPr/>
          <p:nvPr/>
        </p:nvSpPr>
        <p:spPr>
          <a:xfrm>
            <a:off x="3458552" y="2816674"/>
            <a:ext cx="1631429" cy="1267197"/>
          </a:xfrm>
          <a:custGeom>
            <a:avLst/>
            <a:gdLst/>
            <a:ahLst/>
            <a:cxnLst/>
            <a:rect l="l" t="t" r="r" b="b"/>
            <a:pathLst>
              <a:path w="1632585" h="1268095">
                <a:moveTo>
                  <a:pt x="0" y="1267968"/>
                </a:moveTo>
                <a:lnTo>
                  <a:pt x="1632203" y="1267968"/>
                </a:lnTo>
                <a:lnTo>
                  <a:pt x="1632203" y="0"/>
                </a:lnTo>
                <a:lnTo>
                  <a:pt x="0" y="0"/>
                </a:lnTo>
                <a:lnTo>
                  <a:pt x="0" y="1267968"/>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87" name="object 87"/>
          <p:cNvSpPr/>
          <p:nvPr/>
        </p:nvSpPr>
        <p:spPr>
          <a:xfrm>
            <a:off x="3458552" y="2816674"/>
            <a:ext cx="1631429" cy="1267197"/>
          </a:xfrm>
          <a:custGeom>
            <a:avLst/>
            <a:gdLst/>
            <a:ahLst/>
            <a:cxnLst/>
            <a:rect l="l" t="t" r="r" b="b"/>
            <a:pathLst>
              <a:path w="1632585" h="1268095">
                <a:moveTo>
                  <a:pt x="0" y="1267968"/>
                </a:moveTo>
                <a:lnTo>
                  <a:pt x="1632203" y="1267968"/>
                </a:lnTo>
                <a:lnTo>
                  <a:pt x="1632203" y="0"/>
                </a:lnTo>
                <a:lnTo>
                  <a:pt x="0" y="0"/>
                </a:lnTo>
                <a:lnTo>
                  <a:pt x="0" y="1267968"/>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88" name="object 88"/>
          <p:cNvSpPr txBox="1"/>
          <p:nvPr/>
        </p:nvSpPr>
        <p:spPr>
          <a:xfrm>
            <a:off x="3491803" y="3062245"/>
            <a:ext cx="1548303" cy="750570"/>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产品绩</a:t>
            </a:r>
            <a:r>
              <a:rPr sz="1200" b="1" spc="-5" dirty="0">
                <a:latin typeface="微软雅黑" panose="020B0503020204020204" charset="-122"/>
                <a:ea typeface="微软雅黑" panose="020B0503020204020204" charset="-122"/>
                <a:cs typeface="微软雅黑" panose="020B0503020204020204" charset="-122"/>
              </a:rPr>
              <a:t>效细分</a:t>
            </a:r>
            <a:endParaRPr sz="1200">
              <a:latin typeface="微软雅黑" panose="020B0503020204020204" charset="-122"/>
              <a:ea typeface="微软雅黑" panose="020B0503020204020204" charset="-122"/>
              <a:cs typeface="微软雅黑" panose="020B0503020204020204" charset="-122"/>
            </a:endParaRPr>
          </a:p>
          <a:p>
            <a:pPr marL="12700" marR="5080">
              <a:lnSpc>
                <a:spcPct val="100000"/>
              </a:lnSpc>
            </a:pPr>
            <a:r>
              <a:rPr sz="1200" spc="-5" dirty="0">
                <a:latin typeface="微软雅黑" panose="020B0503020204020204" charset="-122"/>
                <a:ea typeface="微软雅黑" panose="020B0503020204020204" charset="-122"/>
                <a:cs typeface="微软雅黑" panose="020B0503020204020204" charset="-122"/>
              </a:rPr>
              <a:t>“</a:t>
            </a:r>
            <a:r>
              <a:rPr sz="1200" dirty="0">
                <a:latin typeface="微软雅黑" panose="020B0503020204020204" charset="-122"/>
                <a:ea typeface="微软雅黑" panose="020B0503020204020204" charset="-122"/>
                <a:cs typeface="微软雅黑" panose="020B0503020204020204" charset="-122"/>
              </a:rPr>
              <a:t>我们保证根据贵公司 的特定需求提供质量绝 对最佳的产品”</a:t>
            </a:r>
            <a:endParaRPr sz="1200">
              <a:latin typeface="微软雅黑" panose="020B0503020204020204" charset="-122"/>
              <a:ea typeface="微软雅黑" panose="020B0503020204020204" charset="-122"/>
              <a:cs typeface="微软雅黑" panose="020B0503020204020204" charset="-122"/>
            </a:endParaRPr>
          </a:p>
        </p:txBody>
      </p:sp>
      <p:sp>
        <p:nvSpPr>
          <p:cNvPr id="89" name="object 89"/>
          <p:cNvSpPr/>
          <p:nvPr/>
        </p:nvSpPr>
        <p:spPr>
          <a:xfrm>
            <a:off x="5206865" y="2816674"/>
            <a:ext cx="1631429" cy="1267197"/>
          </a:xfrm>
          <a:custGeom>
            <a:avLst/>
            <a:gdLst/>
            <a:ahLst/>
            <a:cxnLst/>
            <a:rect l="l" t="t" r="r" b="b"/>
            <a:pathLst>
              <a:path w="1632584" h="1268095">
                <a:moveTo>
                  <a:pt x="0" y="1267968"/>
                </a:moveTo>
                <a:lnTo>
                  <a:pt x="1632203" y="1267968"/>
                </a:lnTo>
                <a:lnTo>
                  <a:pt x="1632203" y="0"/>
                </a:lnTo>
                <a:lnTo>
                  <a:pt x="0" y="0"/>
                </a:lnTo>
                <a:lnTo>
                  <a:pt x="0" y="1267968"/>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0" name="object 90"/>
          <p:cNvSpPr/>
          <p:nvPr/>
        </p:nvSpPr>
        <p:spPr>
          <a:xfrm>
            <a:off x="5206865" y="2816674"/>
            <a:ext cx="1631429" cy="1267197"/>
          </a:xfrm>
          <a:custGeom>
            <a:avLst/>
            <a:gdLst/>
            <a:ahLst/>
            <a:cxnLst/>
            <a:rect l="l" t="t" r="r" b="b"/>
            <a:pathLst>
              <a:path w="1632584" h="1268095">
                <a:moveTo>
                  <a:pt x="0" y="1267968"/>
                </a:moveTo>
                <a:lnTo>
                  <a:pt x="1632203" y="1267968"/>
                </a:lnTo>
                <a:lnTo>
                  <a:pt x="1632203" y="0"/>
                </a:lnTo>
                <a:lnTo>
                  <a:pt x="0" y="0"/>
                </a:lnTo>
                <a:lnTo>
                  <a:pt x="0" y="1267968"/>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91" name="object 91"/>
          <p:cNvSpPr txBox="1"/>
          <p:nvPr/>
        </p:nvSpPr>
        <p:spPr>
          <a:xfrm>
            <a:off x="5240496" y="3062245"/>
            <a:ext cx="1548303" cy="750570"/>
          </a:xfrm>
          <a:prstGeom prst="rect">
            <a:avLst/>
          </a:prstGeom>
        </p:spPr>
        <p:txBody>
          <a:bodyPr vert="horz" wrap="square" lIns="0" tIns="12691" rIns="0" bIns="0" rtlCol="0">
            <a:spAutoFit/>
          </a:bodyPr>
          <a:lstStyle/>
          <a:p>
            <a:pPr marL="12700" marR="508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高度定</a:t>
            </a:r>
            <a:r>
              <a:rPr sz="1200" b="1" spc="-5" dirty="0">
                <a:latin typeface="微软雅黑" panose="020B0503020204020204" charset="-122"/>
                <a:ea typeface="微软雅黑" panose="020B0503020204020204" charset="-122"/>
                <a:cs typeface="微软雅黑" panose="020B0503020204020204" charset="-122"/>
              </a:rPr>
              <a:t>制的细分 </a:t>
            </a:r>
            <a:r>
              <a:rPr sz="1200" dirty="0">
                <a:latin typeface="微软雅黑" panose="020B0503020204020204" charset="-122"/>
                <a:ea typeface="微软雅黑" panose="020B0503020204020204" charset="-122"/>
                <a:cs typeface="微软雅黑" panose="020B0503020204020204" charset="-122"/>
              </a:rPr>
              <a:t>“我们保证提供卓越的 客户服务，确保满足贵 公司的特殊需求”</a:t>
            </a:r>
            <a:endParaRPr sz="1200">
              <a:latin typeface="微软雅黑" panose="020B0503020204020204" charset="-122"/>
              <a:ea typeface="微软雅黑" panose="020B0503020204020204" charset="-122"/>
              <a:cs typeface="微软雅黑" panose="020B0503020204020204" charset="-122"/>
            </a:endParaRPr>
          </a:p>
        </p:txBody>
      </p:sp>
      <p:sp>
        <p:nvSpPr>
          <p:cNvPr id="92" name="object 92"/>
          <p:cNvSpPr/>
          <p:nvPr/>
        </p:nvSpPr>
        <p:spPr>
          <a:xfrm>
            <a:off x="1725469" y="2816674"/>
            <a:ext cx="1631429" cy="1267197"/>
          </a:xfrm>
          <a:custGeom>
            <a:avLst/>
            <a:gdLst/>
            <a:ahLst/>
            <a:cxnLst/>
            <a:rect l="l" t="t" r="r" b="b"/>
            <a:pathLst>
              <a:path w="1632585" h="1268095">
                <a:moveTo>
                  <a:pt x="0" y="1267968"/>
                </a:moveTo>
                <a:lnTo>
                  <a:pt x="1632204" y="1267968"/>
                </a:lnTo>
                <a:lnTo>
                  <a:pt x="1632204" y="0"/>
                </a:lnTo>
                <a:lnTo>
                  <a:pt x="0" y="0"/>
                </a:lnTo>
                <a:lnTo>
                  <a:pt x="0" y="1267968"/>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3" name="object 93"/>
          <p:cNvSpPr/>
          <p:nvPr/>
        </p:nvSpPr>
        <p:spPr>
          <a:xfrm>
            <a:off x="1725469" y="2816674"/>
            <a:ext cx="1631429" cy="1267197"/>
          </a:xfrm>
          <a:custGeom>
            <a:avLst/>
            <a:gdLst/>
            <a:ahLst/>
            <a:cxnLst/>
            <a:rect l="l" t="t" r="r" b="b"/>
            <a:pathLst>
              <a:path w="1632585" h="1268095">
                <a:moveTo>
                  <a:pt x="0" y="1267968"/>
                </a:moveTo>
                <a:lnTo>
                  <a:pt x="1632204" y="1267968"/>
                </a:lnTo>
                <a:lnTo>
                  <a:pt x="1632204" y="0"/>
                </a:lnTo>
                <a:lnTo>
                  <a:pt x="0" y="0"/>
                </a:lnTo>
                <a:lnTo>
                  <a:pt x="0" y="1267968"/>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94" name="object 94"/>
          <p:cNvSpPr txBox="1"/>
          <p:nvPr/>
        </p:nvSpPr>
        <p:spPr>
          <a:xfrm>
            <a:off x="1759354" y="3062245"/>
            <a:ext cx="1552745" cy="750570"/>
          </a:xfrm>
          <a:prstGeom prst="rect">
            <a:avLst/>
          </a:prstGeom>
        </p:spPr>
        <p:txBody>
          <a:bodyPr vert="horz" wrap="square" lIns="0" tIns="12691" rIns="0" bIns="0" rtlCol="0">
            <a:spAutoFit/>
          </a:bodyPr>
          <a:lstStyle/>
          <a:p>
            <a:pPr marL="12700" marR="508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交易性</a:t>
            </a:r>
            <a:r>
              <a:rPr sz="1200" b="1" spc="-5" dirty="0">
                <a:latin typeface="微软雅黑" panose="020B0503020204020204" charset="-122"/>
                <a:ea typeface="微软雅黑" panose="020B0503020204020204" charset="-122"/>
                <a:cs typeface="微软雅黑" panose="020B0503020204020204" charset="-122"/>
              </a:rPr>
              <a:t>中等规模的客户  </a:t>
            </a:r>
            <a:r>
              <a:rPr sz="1200" spc="-5" dirty="0">
                <a:latin typeface="微软雅黑" panose="020B0503020204020204" charset="-122"/>
                <a:ea typeface="微软雅黑" panose="020B0503020204020204" charset="-122"/>
                <a:cs typeface="微软雅黑" panose="020B0503020204020204" charset="-122"/>
              </a:rPr>
              <a:t>“</a:t>
            </a:r>
            <a:r>
              <a:rPr sz="1200" dirty="0">
                <a:latin typeface="微软雅黑" panose="020B0503020204020204" charset="-122"/>
                <a:ea typeface="微软雅黑" panose="020B0503020204020204" charset="-122"/>
                <a:cs typeface="微软雅黑" panose="020B0503020204020204" charset="-122"/>
              </a:rPr>
              <a:t>我们将以具有竞争力 的价格为贵公司提供标 准的产品”</a:t>
            </a:r>
            <a:endParaRPr sz="1200">
              <a:latin typeface="微软雅黑" panose="020B0503020204020204" charset="-122"/>
              <a:ea typeface="微软雅黑" panose="020B0503020204020204" charset="-122"/>
              <a:cs typeface="微软雅黑" panose="020B0503020204020204" charset="-122"/>
            </a:endParaRPr>
          </a:p>
        </p:txBody>
      </p:sp>
      <p:sp>
        <p:nvSpPr>
          <p:cNvPr id="95" name="object 95"/>
          <p:cNvSpPr/>
          <p:nvPr/>
        </p:nvSpPr>
        <p:spPr>
          <a:xfrm>
            <a:off x="1725469" y="4338072"/>
            <a:ext cx="6839818" cy="880756"/>
          </a:xfrm>
          <a:custGeom>
            <a:avLst/>
            <a:gdLst/>
            <a:ahLst/>
            <a:cxnLst/>
            <a:rect l="l" t="t" r="r" b="b"/>
            <a:pathLst>
              <a:path w="6844665" h="881379">
                <a:moveTo>
                  <a:pt x="0" y="880872"/>
                </a:moveTo>
                <a:lnTo>
                  <a:pt x="6844283" y="880872"/>
                </a:lnTo>
                <a:lnTo>
                  <a:pt x="6844283" y="0"/>
                </a:lnTo>
                <a:lnTo>
                  <a:pt x="0" y="0"/>
                </a:lnTo>
                <a:lnTo>
                  <a:pt x="0" y="880872"/>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6" name="object 96"/>
          <p:cNvSpPr/>
          <p:nvPr/>
        </p:nvSpPr>
        <p:spPr>
          <a:xfrm>
            <a:off x="1725469" y="4338072"/>
            <a:ext cx="6839818" cy="880756"/>
          </a:xfrm>
          <a:custGeom>
            <a:avLst/>
            <a:gdLst/>
            <a:ahLst/>
            <a:cxnLst/>
            <a:rect l="l" t="t" r="r" b="b"/>
            <a:pathLst>
              <a:path w="6844665" h="881379">
                <a:moveTo>
                  <a:pt x="0" y="880872"/>
                </a:moveTo>
                <a:lnTo>
                  <a:pt x="6844283" y="880872"/>
                </a:lnTo>
                <a:lnTo>
                  <a:pt x="6844283" y="0"/>
                </a:lnTo>
                <a:lnTo>
                  <a:pt x="0" y="0"/>
                </a:lnTo>
                <a:lnTo>
                  <a:pt x="0" y="880872"/>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97" name="object 97"/>
          <p:cNvSpPr txBox="1"/>
          <p:nvPr/>
        </p:nvSpPr>
        <p:spPr>
          <a:xfrm>
            <a:off x="1759354" y="4572678"/>
            <a:ext cx="1096503" cy="196215"/>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交易型</a:t>
            </a:r>
            <a:r>
              <a:rPr sz="1200" b="1" dirty="0">
                <a:latin typeface="微软雅黑" panose="020B0503020204020204" charset="-122"/>
                <a:ea typeface="微软雅黑" panose="020B0503020204020204" charset="-122"/>
                <a:cs typeface="微软雅黑" panose="020B0503020204020204" charset="-122"/>
              </a:rPr>
              <a:t>小</a:t>
            </a:r>
            <a:r>
              <a:rPr sz="1200" b="1" spc="-5" dirty="0">
                <a:latin typeface="微软雅黑" panose="020B0503020204020204" charset="-122"/>
                <a:ea typeface="微软雅黑" panose="020B0503020204020204" charset="-122"/>
                <a:cs typeface="微软雅黑" panose="020B0503020204020204" charset="-122"/>
              </a:rPr>
              <a:t>型</a:t>
            </a:r>
            <a:r>
              <a:rPr sz="1200" b="1" dirty="0">
                <a:latin typeface="微软雅黑" panose="020B0503020204020204" charset="-122"/>
                <a:ea typeface="微软雅黑" panose="020B0503020204020204" charset="-122"/>
                <a:cs typeface="微软雅黑" panose="020B0503020204020204" charset="-122"/>
              </a:rPr>
              <a:t>客户</a:t>
            </a:r>
            <a:endParaRPr sz="1200">
              <a:latin typeface="微软雅黑" panose="020B0503020204020204" charset="-122"/>
              <a:ea typeface="微软雅黑" panose="020B0503020204020204" charset="-122"/>
              <a:cs typeface="微软雅黑" panose="020B0503020204020204" charset="-122"/>
            </a:endParaRPr>
          </a:p>
        </p:txBody>
      </p:sp>
      <p:sp>
        <p:nvSpPr>
          <p:cNvPr id="98" name="object 98"/>
          <p:cNvSpPr txBox="1"/>
          <p:nvPr/>
        </p:nvSpPr>
        <p:spPr>
          <a:xfrm>
            <a:off x="1759354" y="4756114"/>
            <a:ext cx="6624705" cy="196215"/>
          </a:xfrm>
          <a:prstGeom prst="rect">
            <a:avLst/>
          </a:prstGeom>
        </p:spPr>
        <p:txBody>
          <a:bodyPr vert="horz" wrap="square" lIns="0" tIns="12691" rIns="0" bIns="0" rtlCol="0">
            <a:spAutoFit/>
          </a:bodyPr>
          <a:lstStyle/>
          <a:p>
            <a:pPr marL="12700">
              <a:lnSpc>
                <a:spcPct val="100000"/>
              </a:lnSpc>
              <a:spcBef>
                <a:spcPts val="100"/>
              </a:spcBef>
            </a:pPr>
            <a:r>
              <a:rPr sz="1200" spc="-5" dirty="0">
                <a:latin typeface="微软雅黑" panose="020B0503020204020204" charset="-122"/>
                <a:ea typeface="微软雅黑" panose="020B0503020204020204" charset="-122"/>
                <a:cs typeface="微软雅黑" panose="020B0503020204020204" charset="-122"/>
              </a:rPr>
              <a:t>“</a:t>
            </a:r>
            <a:r>
              <a:rPr sz="1200" dirty="0">
                <a:latin typeface="微软雅黑" panose="020B0503020204020204" charset="-122"/>
                <a:ea typeface="微软雅黑" panose="020B0503020204020204" charset="-122"/>
                <a:cs typeface="微软雅黑" panose="020B0503020204020204" charset="-122"/>
              </a:rPr>
              <a:t>我们将以具有竞争力的价格为贵公司提供标准的产品，对于特殊的产品和服务则收取适当的溢价”</a:t>
            </a:r>
            <a:endParaRPr sz="1200">
              <a:latin typeface="微软雅黑" panose="020B0503020204020204" charset="-122"/>
              <a:ea typeface="微软雅黑" panose="020B0503020204020204" charset="-122"/>
              <a:cs typeface="微软雅黑" panose="020B0503020204020204" charset="-122"/>
            </a:endParaRPr>
          </a:p>
        </p:txBody>
      </p:sp>
      <p:sp>
        <p:nvSpPr>
          <p:cNvPr id="99" name="object 99"/>
          <p:cNvSpPr/>
          <p:nvPr/>
        </p:nvSpPr>
        <p:spPr>
          <a:xfrm>
            <a:off x="3411341" y="5474170"/>
            <a:ext cx="0" cy="416264"/>
          </a:xfrm>
          <a:custGeom>
            <a:avLst/>
            <a:gdLst/>
            <a:ahLst/>
            <a:cxnLst/>
            <a:rect l="l" t="t" r="r" b="b"/>
            <a:pathLst>
              <a:path h="416560">
                <a:moveTo>
                  <a:pt x="0" y="0"/>
                </a:moveTo>
                <a:lnTo>
                  <a:pt x="0" y="416052"/>
                </a:lnTo>
              </a:path>
            </a:pathLst>
          </a:custGeom>
          <a:ln w="1270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0" name="object 100"/>
          <p:cNvSpPr/>
          <p:nvPr/>
        </p:nvSpPr>
        <p:spPr>
          <a:xfrm>
            <a:off x="5144425" y="5474170"/>
            <a:ext cx="0" cy="416264"/>
          </a:xfrm>
          <a:custGeom>
            <a:avLst/>
            <a:gdLst/>
            <a:ahLst/>
            <a:cxnLst/>
            <a:rect l="l" t="t" r="r" b="b"/>
            <a:pathLst>
              <a:path h="416560">
                <a:moveTo>
                  <a:pt x="0" y="0"/>
                </a:moveTo>
                <a:lnTo>
                  <a:pt x="0" y="416052"/>
                </a:lnTo>
              </a:path>
            </a:pathLst>
          </a:custGeom>
          <a:ln w="1270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1" name="object 101"/>
          <p:cNvSpPr/>
          <p:nvPr/>
        </p:nvSpPr>
        <p:spPr>
          <a:xfrm>
            <a:off x="6882079" y="5474170"/>
            <a:ext cx="0" cy="416264"/>
          </a:xfrm>
          <a:custGeom>
            <a:avLst/>
            <a:gdLst/>
            <a:ahLst/>
            <a:cxnLst/>
            <a:rect l="l" t="t" r="r" b="b"/>
            <a:pathLst>
              <a:path h="416560">
                <a:moveTo>
                  <a:pt x="0" y="0"/>
                </a:moveTo>
                <a:lnTo>
                  <a:pt x="0" y="416052"/>
                </a:lnTo>
              </a:path>
            </a:pathLst>
          </a:custGeom>
          <a:ln w="1270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2" name="object 102"/>
          <p:cNvSpPr/>
          <p:nvPr/>
        </p:nvSpPr>
        <p:spPr>
          <a:xfrm>
            <a:off x="187319" y="1417110"/>
            <a:ext cx="659932" cy="0"/>
          </a:xfrm>
          <a:custGeom>
            <a:avLst/>
            <a:gdLst/>
            <a:ahLst/>
            <a:cxnLst/>
            <a:rect l="l" t="t" r="r" b="b"/>
            <a:pathLst>
              <a:path w="660400">
                <a:moveTo>
                  <a:pt x="0" y="0"/>
                </a:moveTo>
                <a:lnTo>
                  <a:pt x="659892" y="0"/>
                </a:lnTo>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3" name="object 103"/>
          <p:cNvSpPr/>
          <p:nvPr/>
        </p:nvSpPr>
        <p:spPr>
          <a:xfrm>
            <a:off x="887862" y="1417110"/>
            <a:ext cx="791919" cy="0"/>
          </a:xfrm>
          <a:custGeom>
            <a:avLst/>
            <a:gdLst/>
            <a:ahLst/>
            <a:cxnLst/>
            <a:rect l="l" t="t" r="r" b="b"/>
            <a:pathLst>
              <a:path w="792480">
                <a:moveTo>
                  <a:pt x="0" y="0"/>
                </a:moveTo>
                <a:lnTo>
                  <a:pt x="792480" y="0"/>
                </a:lnTo>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4" name="object 104"/>
          <p:cNvSpPr/>
          <p:nvPr/>
        </p:nvSpPr>
        <p:spPr>
          <a:xfrm>
            <a:off x="1675213" y="5889928"/>
            <a:ext cx="6941980" cy="199883"/>
          </a:xfrm>
          <a:custGeom>
            <a:avLst/>
            <a:gdLst/>
            <a:ahLst/>
            <a:cxnLst/>
            <a:rect l="l" t="t" r="r" b="b"/>
            <a:pathLst>
              <a:path w="6946900" h="200025">
                <a:moveTo>
                  <a:pt x="0" y="199643"/>
                </a:moveTo>
                <a:lnTo>
                  <a:pt x="6946392" y="199643"/>
                </a:lnTo>
                <a:lnTo>
                  <a:pt x="6946392" y="0"/>
                </a:lnTo>
                <a:lnTo>
                  <a:pt x="0" y="0"/>
                </a:lnTo>
                <a:lnTo>
                  <a:pt x="0" y="199643"/>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05" name="object 105"/>
          <p:cNvSpPr/>
          <p:nvPr/>
        </p:nvSpPr>
        <p:spPr>
          <a:xfrm>
            <a:off x="1675213" y="5889928"/>
            <a:ext cx="6941980" cy="199883"/>
          </a:xfrm>
          <a:custGeom>
            <a:avLst/>
            <a:gdLst/>
            <a:ahLst/>
            <a:cxnLst/>
            <a:rect l="l" t="t" r="r" b="b"/>
            <a:pathLst>
              <a:path w="6946900" h="200025">
                <a:moveTo>
                  <a:pt x="0" y="199643"/>
                </a:moveTo>
                <a:lnTo>
                  <a:pt x="6946392" y="199643"/>
                </a:lnTo>
                <a:lnTo>
                  <a:pt x="6946392" y="0"/>
                </a:lnTo>
                <a:lnTo>
                  <a:pt x="0" y="0"/>
                </a:lnTo>
                <a:lnTo>
                  <a:pt x="0" y="199643"/>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6" name="object 106"/>
          <p:cNvSpPr txBox="1"/>
          <p:nvPr/>
        </p:nvSpPr>
        <p:spPr>
          <a:xfrm>
            <a:off x="4825627" y="5883329"/>
            <a:ext cx="640896" cy="196215"/>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需求群体</a:t>
            </a:r>
            <a:endParaRPr sz="1200" b="1" spc="5" dirty="0">
              <a:latin typeface="微软雅黑" panose="020B0503020204020204" charset="-122"/>
              <a:ea typeface="微软雅黑" panose="020B0503020204020204" charset="-122"/>
              <a:cs typeface="微软雅黑" panose="020B0503020204020204" charset="-122"/>
            </a:endParaRPr>
          </a:p>
        </p:txBody>
      </p:sp>
      <p:sp>
        <p:nvSpPr>
          <p:cNvPr id="107" name="object 107"/>
          <p:cNvSpPr/>
          <p:nvPr/>
        </p:nvSpPr>
        <p:spPr>
          <a:xfrm>
            <a:off x="725672" y="982316"/>
            <a:ext cx="1904" cy="0"/>
          </a:xfrm>
          <a:custGeom>
            <a:avLst/>
            <a:gdLst/>
            <a:ahLst/>
            <a:cxnLst/>
            <a:rect l="l" t="t" r="r" b="b"/>
            <a:pathLst>
              <a:path w="1904">
                <a:moveTo>
                  <a:pt x="0" y="0"/>
                </a:moveTo>
                <a:lnTo>
                  <a:pt x="1523" y="0"/>
                </a:lnTo>
              </a:path>
            </a:pathLst>
          </a:custGeom>
          <a:ln w="19050">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03259" y="180879"/>
            <a:ext cx="4505942"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然后将各个</a:t>
            </a:r>
            <a:r>
              <a:rPr spc="-10" dirty="0">
                <a:ea typeface="微软雅黑" panose="020B0503020204020204" charset="-122"/>
              </a:rPr>
              <a:t>客户</a:t>
            </a:r>
            <a:r>
              <a:rPr spc="-5" dirty="0">
                <a:ea typeface="微软雅黑" panose="020B0503020204020204" charset="-122"/>
              </a:rPr>
              <a:t>细</a:t>
            </a:r>
            <a:r>
              <a:rPr spc="-10" dirty="0">
                <a:ea typeface="微软雅黑" panose="020B0503020204020204" charset="-122"/>
              </a:rPr>
              <a:t>分</a:t>
            </a:r>
            <a:r>
              <a:rPr spc="5" dirty="0">
                <a:ea typeface="微软雅黑" panose="020B0503020204020204" charset="-122"/>
              </a:rPr>
              <a:t>按</a:t>
            </a:r>
            <a:r>
              <a:rPr spc="-5" dirty="0">
                <a:ea typeface="微软雅黑" panose="020B0503020204020204" charset="-122"/>
              </a:rPr>
              <a:t>4</a:t>
            </a:r>
            <a:r>
              <a:rPr dirty="0">
                <a:ea typeface="微软雅黑" panose="020B0503020204020204" charset="-122"/>
              </a:rPr>
              <a:t>个层</a:t>
            </a:r>
            <a:r>
              <a:rPr spc="-10" dirty="0">
                <a:ea typeface="微软雅黑" panose="020B0503020204020204" charset="-122"/>
              </a:rPr>
              <a:t>面来</a:t>
            </a:r>
            <a:r>
              <a:rPr spc="5" dirty="0">
                <a:ea typeface="微软雅黑" panose="020B0503020204020204" charset="-122"/>
              </a:rPr>
              <a:t>优</a:t>
            </a:r>
            <a:r>
              <a:rPr spc="-10" dirty="0">
                <a:ea typeface="微软雅黑" panose="020B0503020204020204" charset="-122"/>
              </a:rPr>
              <a:t>先排序</a:t>
            </a:r>
            <a:endParaRPr spc="-10" dirty="0">
              <a:ea typeface="微软雅黑" panose="020B0503020204020204" charset="-122"/>
            </a:endParaRPr>
          </a:p>
        </p:txBody>
      </p:sp>
      <p:sp>
        <p:nvSpPr>
          <p:cNvPr id="4" name="object 4"/>
          <p:cNvSpPr/>
          <p:nvPr/>
        </p:nvSpPr>
        <p:spPr>
          <a:xfrm>
            <a:off x="5447486" y="2827335"/>
            <a:ext cx="2292630" cy="498756"/>
          </a:xfrm>
          <a:custGeom>
            <a:avLst/>
            <a:gdLst/>
            <a:ahLst/>
            <a:cxnLst/>
            <a:rect l="l" t="t" r="r" b="b"/>
            <a:pathLst>
              <a:path w="2294254" h="499110">
                <a:moveTo>
                  <a:pt x="2061845" y="0"/>
                </a:moveTo>
                <a:lnTo>
                  <a:pt x="232410" y="0"/>
                </a:lnTo>
                <a:lnTo>
                  <a:pt x="0" y="498856"/>
                </a:lnTo>
                <a:lnTo>
                  <a:pt x="2294254" y="498856"/>
                </a:lnTo>
                <a:lnTo>
                  <a:pt x="2061845" y="0"/>
                </a:lnTo>
                <a:close/>
              </a:path>
            </a:pathLst>
          </a:custGeom>
          <a:solidFill>
            <a:srgbClr val="C0C0C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p:nvPr/>
        </p:nvSpPr>
        <p:spPr>
          <a:xfrm>
            <a:off x="6193718" y="861244"/>
            <a:ext cx="803341" cy="865527"/>
          </a:xfrm>
          <a:custGeom>
            <a:avLst/>
            <a:gdLst/>
            <a:ahLst/>
            <a:cxnLst/>
            <a:rect l="l" t="t" r="r" b="b"/>
            <a:pathLst>
              <a:path w="803909" h="866139">
                <a:moveTo>
                  <a:pt x="401955" y="0"/>
                </a:moveTo>
                <a:lnTo>
                  <a:pt x="0" y="866139"/>
                </a:lnTo>
                <a:lnTo>
                  <a:pt x="803783" y="866139"/>
                </a:lnTo>
                <a:lnTo>
                  <a:pt x="401955"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5934822" y="1726263"/>
            <a:ext cx="1317961" cy="548886"/>
          </a:xfrm>
          <a:custGeom>
            <a:avLst/>
            <a:gdLst/>
            <a:ahLst/>
            <a:cxnLst/>
            <a:rect l="l" t="t" r="r" b="b"/>
            <a:pathLst>
              <a:path w="1318895" h="549275">
                <a:moveTo>
                  <a:pt x="1062863" y="0"/>
                </a:moveTo>
                <a:lnTo>
                  <a:pt x="256921" y="0"/>
                </a:lnTo>
                <a:lnTo>
                  <a:pt x="0" y="549148"/>
                </a:lnTo>
                <a:lnTo>
                  <a:pt x="1318895" y="549148"/>
                </a:lnTo>
                <a:lnTo>
                  <a:pt x="106286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5934822" y="1726263"/>
            <a:ext cx="1317961" cy="548886"/>
          </a:xfrm>
          <a:custGeom>
            <a:avLst/>
            <a:gdLst/>
            <a:ahLst/>
            <a:cxnLst/>
            <a:rect l="l" t="t" r="r" b="b"/>
            <a:pathLst>
              <a:path w="1318895" h="549275">
                <a:moveTo>
                  <a:pt x="0" y="549148"/>
                </a:moveTo>
                <a:lnTo>
                  <a:pt x="1318895" y="549148"/>
                </a:lnTo>
                <a:lnTo>
                  <a:pt x="1062863" y="0"/>
                </a:lnTo>
                <a:lnTo>
                  <a:pt x="256921" y="0"/>
                </a:lnTo>
                <a:lnTo>
                  <a:pt x="0" y="549148"/>
                </a:lnTo>
              </a:path>
            </a:pathLst>
          </a:custGeom>
          <a:ln w="9525">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5680494" y="2276037"/>
            <a:ext cx="1826869" cy="552059"/>
          </a:xfrm>
          <a:custGeom>
            <a:avLst/>
            <a:gdLst/>
            <a:ahLst/>
            <a:cxnLst/>
            <a:rect l="l" t="t" r="r" b="b"/>
            <a:pathLst>
              <a:path w="1828165" h="552450">
                <a:moveTo>
                  <a:pt x="1571752" y="0"/>
                </a:moveTo>
                <a:lnTo>
                  <a:pt x="256285" y="0"/>
                </a:lnTo>
                <a:lnTo>
                  <a:pt x="0" y="552196"/>
                </a:lnTo>
                <a:lnTo>
                  <a:pt x="1827910" y="552196"/>
                </a:lnTo>
                <a:lnTo>
                  <a:pt x="1571752" y="0"/>
                </a:lnTo>
                <a:close/>
              </a:path>
            </a:pathLst>
          </a:custGeom>
          <a:solidFill>
            <a:srgbClr val="C0C0C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5680494" y="2276037"/>
            <a:ext cx="1826869" cy="552059"/>
          </a:xfrm>
          <a:custGeom>
            <a:avLst/>
            <a:gdLst/>
            <a:ahLst/>
            <a:cxnLst/>
            <a:rect l="l" t="t" r="r" b="b"/>
            <a:pathLst>
              <a:path w="1828165" h="552450">
                <a:moveTo>
                  <a:pt x="256285" y="0"/>
                </a:moveTo>
                <a:lnTo>
                  <a:pt x="0" y="552196"/>
                </a:lnTo>
                <a:lnTo>
                  <a:pt x="1827910" y="552196"/>
                </a:lnTo>
                <a:lnTo>
                  <a:pt x="1571752" y="0"/>
                </a:lnTo>
                <a:lnTo>
                  <a:pt x="256285" y="0"/>
                </a:lnTo>
              </a:path>
            </a:pathLst>
          </a:custGeom>
          <a:ln w="9524">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6460230" y="865813"/>
            <a:ext cx="278568" cy="300142"/>
          </a:xfrm>
          <a:custGeom>
            <a:avLst/>
            <a:gdLst/>
            <a:ahLst/>
            <a:cxnLst/>
            <a:rect l="l" t="t" r="r" b="b"/>
            <a:pathLst>
              <a:path w="278765" h="300355">
                <a:moveTo>
                  <a:pt x="139318" y="0"/>
                </a:moveTo>
                <a:lnTo>
                  <a:pt x="0" y="299847"/>
                </a:lnTo>
                <a:lnTo>
                  <a:pt x="278638" y="299847"/>
                </a:lnTo>
                <a:lnTo>
                  <a:pt x="139318"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6460230" y="865813"/>
            <a:ext cx="278568" cy="300142"/>
          </a:xfrm>
          <a:custGeom>
            <a:avLst/>
            <a:gdLst/>
            <a:ahLst/>
            <a:cxnLst/>
            <a:rect l="l" t="t" r="r" b="b"/>
            <a:pathLst>
              <a:path w="278765" h="300355">
                <a:moveTo>
                  <a:pt x="0" y="299847"/>
                </a:moveTo>
                <a:lnTo>
                  <a:pt x="278638" y="299847"/>
                </a:lnTo>
                <a:lnTo>
                  <a:pt x="139318" y="0"/>
                </a:lnTo>
                <a:lnTo>
                  <a:pt x="0" y="299847"/>
                </a:lnTo>
              </a:path>
            </a:pathLst>
          </a:custGeom>
          <a:ln w="9525">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txBox="1"/>
          <p:nvPr/>
        </p:nvSpPr>
        <p:spPr>
          <a:xfrm>
            <a:off x="6528253" y="968864"/>
            <a:ext cx="144677" cy="211455"/>
          </a:xfrm>
          <a:prstGeom prst="rect">
            <a:avLst/>
          </a:prstGeom>
        </p:spPr>
        <p:txBody>
          <a:bodyPr vert="horz" wrap="square" lIns="0" tIns="12056" rIns="0" bIns="0" rtlCol="0">
            <a:spAutoFit/>
          </a:bodyPr>
          <a:lstStyle/>
          <a:p>
            <a:pPr marL="12700">
              <a:lnSpc>
                <a:spcPct val="100000"/>
              </a:lnSpc>
              <a:spcBef>
                <a:spcPts val="95"/>
              </a:spcBef>
            </a:pPr>
            <a:r>
              <a:rPr sz="1300" b="1" spc="-5" dirty="0">
                <a:solidFill>
                  <a:srgbClr val="FFFFFF"/>
                </a:solidFill>
                <a:latin typeface="微软雅黑" panose="020B0503020204020204" charset="-122"/>
                <a:ea typeface="微软雅黑" panose="020B0503020204020204" charset="-122"/>
                <a:cs typeface="Arial" panose="020B0604020202020204"/>
              </a:rPr>
              <a:t>A</a:t>
            </a:r>
            <a:endParaRPr sz="1300" b="1" spc="-5" dirty="0">
              <a:solidFill>
                <a:srgbClr val="FFFFFF"/>
              </a:solidFill>
              <a:latin typeface="微软雅黑" panose="020B0503020204020204" charset="-122"/>
              <a:ea typeface="微软雅黑" panose="020B0503020204020204" charset="-122"/>
              <a:cs typeface="Arial" panose="020B0604020202020204"/>
            </a:endParaRPr>
          </a:p>
        </p:txBody>
      </p:sp>
      <p:sp>
        <p:nvSpPr>
          <p:cNvPr id="13" name="object 13"/>
          <p:cNvSpPr txBox="1"/>
          <p:nvPr/>
        </p:nvSpPr>
        <p:spPr>
          <a:xfrm>
            <a:off x="6528253" y="1521429"/>
            <a:ext cx="144677" cy="211455"/>
          </a:xfrm>
          <a:prstGeom prst="rect">
            <a:avLst/>
          </a:prstGeom>
        </p:spPr>
        <p:txBody>
          <a:bodyPr vert="horz" wrap="square" lIns="0" tIns="12056" rIns="0" bIns="0" rtlCol="0">
            <a:spAutoFit/>
          </a:bodyPr>
          <a:lstStyle/>
          <a:p>
            <a:pPr marL="12700">
              <a:lnSpc>
                <a:spcPct val="100000"/>
              </a:lnSpc>
              <a:spcBef>
                <a:spcPts val="95"/>
              </a:spcBef>
            </a:pPr>
            <a:r>
              <a:rPr sz="1300" b="1" spc="-5" dirty="0">
                <a:solidFill>
                  <a:srgbClr val="00295F"/>
                </a:solidFill>
                <a:latin typeface="微软雅黑" panose="020B0503020204020204" charset="-122"/>
                <a:ea typeface="微软雅黑" panose="020B0503020204020204" charset="-122"/>
                <a:cs typeface="Arial" panose="020B0604020202020204"/>
              </a:rPr>
              <a:t>B</a:t>
            </a:r>
            <a:endParaRPr sz="1300" b="1" spc="-5" dirty="0">
              <a:solidFill>
                <a:srgbClr val="00295F"/>
              </a:solidFill>
              <a:latin typeface="微软雅黑" panose="020B0503020204020204" charset="-122"/>
              <a:ea typeface="微软雅黑" panose="020B0503020204020204" charset="-122"/>
              <a:cs typeface="Arial" panose="020B0604020202020204"/>
            </a:endParaRPr>
          </a:p>
        </p:txBody>
      </p:sp>
      <p:sp>
        <p:nvSpPr>
          <p:cNvPr id="14" name="object 14"/>
          <p:cNvSpPr txBox="1"/>
          <p:nvPr/>
        </p:nvSpPr>
        <p:spPr>
          <a:xfrm>
            <a:off x="6527618" y="2051406"/>
            <a:ext cx="144677" cy="211455"/>
          </a:xfrm>
          <a:prstGeom prst="rect">
            <a:avLst/>
          </a:prstGeom>
        </p:spPr>
        <p:txBody>
          <a:bodyPr vert="horz" wrap="square" lIns="0" tIns="12056" rIns="0" bIns="0" rtlCol="0">
            <a:spAutoFit/>
          </a:bodyPr>
          <a:lstStyle/>
          <a:p>
            <a:pPr marL="12700">
              <a:lnSpc>
                <a:spcPct val="100000"/>
              </a:lnSpc>
              <a:spcBef>
                <a:spcPts val="95"/>
              </a:spcBef>
            </a:pPr>
            <a:r>
              <a:rPr sz="1300" b="1" spc="-5" dirty="0">
                <a:solidFill>
                  <a:srgbClr val="00295F"/>
                </a:solidFill>
                <a:latin typeface="微软雅黑" panose="020B0503020204020204" charset="-122"/>
                <a:ea typeface="微软雅黑" panose="020B0503020204020204" charset="-122"/>
                <a:cs typeface="Arial" panose="020B0604020202020204"/>
              </a:rPr>
              <a:t>C</a:t>
            </a:r>
            <a:endParaRPr sz="1300" b="1" spc="-5" dirty="0">
              <a:solidFill>
                <a:srgbClr val="00295F"/>
              </a:solidFill>
              <a:latin typeface="微软雅黑" panose="020B0503020204020204" charset="-122"/>
              <a:ea typeface="微软雅黑" panose="020B0503020204020204" charset="-122"/>
              <a:cs typeface="Arial" panose="020B0604020202020204"/>
            </a:endParaRPr>
          </a:p>
        </p:txBody>
      </p:sp>
      <p:sp>
        <p:nvSpPr>
          <p:cNvPr id="15" name="object 15"/>
          <p:cNvSpPr txBox="1"/>
          <p:nvPr/>
        </p:nvSpPr>
        <p:spPr>
          <a:xfrm>
            <a:off x="6528253" y="2573134"/>
            <a:ext cx="144677" cy="211455"/>
          </a:xfrm>
          <a:prstGeom prst="rect">
            <a:avLst/>
          </a:prstGeom>
        </p:spPr>
        <p:txBody>
          <a:bodyPr vert="horz" wrap="square" lIns="0" tIns="12056" rIns="0" bIns="0" rtlCol="0">
            <a:spAutoFit/>
          </a:bodyPr>
          <a:lstStyle/>
          <a:p>
            <a:pPr marL="12700">
              <a:lnSpc>
                <a:spcPct val="100000"/>
              </a:lnSpc>
              <a:spcBef>
                <a:spcPts val="95"/>
              </a:spcBef>
            </a:pPr>
            <a:r>
              <a:rPr sz="1300" b="1" spc="-5" dirty="0">
                <a:solidFill>
                  <a:srgbClr val="FFFFFF"/>
                </a:solidFill>
                <a:latin typeface="微软雅黑" panose="020B0503020204020204" charset="-122"/>
                <a:ea typeface="微软雅黑" panose="020B0503020204020204" charset="-122"/>
                <a:cs typeface="Arial" panose="020B0604020202020204"/>
              </a:rPr>
              <a:t>D</a:t>
            </a:r>
            <a:endParaRPr sz="1300" b="1" spc="-5" dirty="0">
              <a:solidFill>
                <a:srgbClr val="FFFFFF"/>
              </a:solidFill>
              <a:latin typeface="微软雅黑" panose="020B0503020204020204" charset="-122"/>
              <a:ea typeface="微软雅黑" panose="020B0503020204020204" charset="-122"/>
              <a:cs typeface="Arial" panose="020B0604020202020204"/>
            </a:endParaRPr>
          </a:p>
        </p:txBody>
      </p:sp>
      <p:sp>
        <p:nvSpPr>
          <p:cNvPr id="16" name="object 16"/>
          <p:cNvSpPr txBox="1"/>
          <p:nvPr/>
        </p:nvSpPr>
        <p:spPr>
          <a:xfrm>
            <a:off x="6533076" y="3117451"/>
            <a:ext cx="135159" cy="211455"/>
          </a:xfrm>
          <a:prstGeom prst="rect">
            <a:avLst/>
          </a:prstGeom>
        </p:spPr>
        <p:txBody>
          <a:bodyPr vert="horz" wrap="square" lIns="0" tIns="12056" rIns="0" bIns="0" rtlCol="0">
            <a:spAutoFit/>
          </a:bodyPr>
          <a:lstStyle/>
          <a:p>
            <a:pPr marL="12700">
              <a:lnSpc>
                <a:spcPct val="100000"/>
              </a:lnSpc>
              <a:spcBef>
                <a:spcPts val="95"/>
              </a:spcBef>
            </a:pPr>
            <a:r>
              <a:rPr sz="1300" b="1" spc="-5" dirty="0">
                <a:solidFill>
                  <a:srgbClr val="959595"/>
                </a:solidFill>
                <a:latin typeface="微软雅黑" panose="020B0503020204020204" charset="-122"/>
                <a:ea typeface="微软雅黑" panose="020B0503020204020204" charset="-122"/>
                <a:cs typeface="Arial" panose="020B0604020202020204"/>
              </a:rPr>
              <a:t>E</a:t>
            </a:r>
            <a:endParaRPr sz="1300" b="1" spc="-5" dirty="0">
              <a:solidFill>
                <a:srgbClr val="959595"/>
              </a:solidFill>
              <a:latin typeface="微软雅黑" panose="020B0503020204020204" charset="-122"/>
              <a:ea typeface="微软雅黑" panose="020B0503020204020204" charset="-122"/>
              <a:cs typeface="Arial" panose="020B0604020202020204"/>
            </a:endParaRPr>
          </a:p>
        </p:txBody>
      </p:sp>
      <p:graphicFrame>
        <p:nvGraphicFramePr>
          <p:cNvPr id="17" name="object 17"/>
          <p:cNvGraphicFramePr>
            <a:graphicFrameLocks noGrp="1"/>
          </p:cNvGraphicFramePr>
          <p:nvPr/>
        </p:nvGraphicFramePr>
        <p:xfrm>
          <a:off x="1399563" y="981555"/>
          <a:ext cx="2535555" cy="2406015"/>
        </p:xfrm>
        <a:graphic>
          <a:graphicData uri="http://schemas.openxmlformats.org/drawingml/2006/table">
            <a:tbl>
              <a:tblPr firstRow="1" bandRow="1">
                <a:tableStyleId>{2D5ABB26-0587-4C30-8999-92F81FD0307C}</a:tableStyleId>
              </a:tblPr>
              <a:tblGrid>
                <a:gridCol w="835025"/>
                <a:gridCol w="866140"/>
                <a:gridCol w="834390"/>
              </a:tblGrid>
              <a:tr h="788670">
                <a:tc>
                  <a:txBody>
                    <a:bodyPr/>
                    <a:lstStyle/>
                    <a:p>
                      <a:pPr>
                        <a:lnSpc>
                          <a:spcPct val="100000"/>
                        </a:lnSpc>
                        <a:spcBef>
                          <a:spcPts val="15"/>
                        </a:spcBef>
                      </a:pPr>
                      <a:endParaRPr sz="1850">
                        <a:latin typeface="微软雅黑" panose="020B0503020204020204" charset="-122"/>
                        <a:ea typeface="微软雅黑" panose="020B0503020204020204" charset="-122"/>
                        <a:cs typeface="Times New Roman" panose="02020603050405020304"/>
                      </a:endParaRPr>
                    </a:p>
                    <a:p>
                      <a:pPr marL="342265">
                        <a:lnSpc>
                          <a:spcPct val="100000"/>
                        </a:lnSpc>
                      </a:pPr>
                      <a:r>
                        <a:rPr sz="1300" b="1" dirty="0">
                          <a:solidFill>
                            <a:srgbClr val="00295F"/>
                          </a:solidFill>
                          <a:latin typeface="微软雅黑" panose="020B0503020204020204" charset="-122"/>
                          <a:ea typeface="微软雅黑" panose="020B0503020204020204" charset="-122"/>
                          <a:cs typeface="Arial" panose="020B0604020202020204"/>
                        </a:rPr>
                        <a:t>C</a:t>
                      </a:r>
                      <a:endParaRPr sz="1300">
                        <a:latin typeface="微软雅黑" panose="020B0503020204020204" charset="-122"/>
                        <a:ea typeface="微软雅黑" panose="020B0503020204020204" charset="-122"/>
                        <a:cs typeface="Arial" panose="020B0604020202020204"/>
                      </a:endParaRPr>
                    </a:p>
                  </a:txBody>
                  <a:tcPr marL="0" marR="0" marT="1903" marB="0">
                    <a:lnR w="76200">
                      <a:solidFill>
                        <a:srgbClr val="FFFFFF"/>
                      </a:solidFill>
                      <a:prstDash val="solid"/>
                    </a:lnR>
                    <a:lnB w="76200">
                      <a:solidFill>
                        <a:srgbClr val="FFFFFF"/>
                      </a:solidFill>
                      <a:prstDash val="solid"/>
                    </a:lnB>
                    <a:solidFill>
                      <a:srgbClr val="C6DFFA"/>
                    </a:solidFill>
                  </a:tcPr>
                </a:tc>
                <a:tc>
                  <a:txBody>
                    <a:bodyPr/>
                    <a:lstStyle/>
                    <a:p>
                      <a:pPr>
                        <a:lnSpc>
                          <a:spcPct val="100000"/>
                        </a:lnSpc>
                        <a:spcBef>
                          <a:spcPts val="10"/>
                        </a:spcBef>
                      </a:pPr>
                      <a:endParaRPr sz="1850">
                        <a:latin typeface="微软雅黑" panose="020B0503020204020204" charset="-122"/>
                        <a:ea typeface="微软雅黑" panose="020B0503020204020204" charset="-122"/>
                        <a:cs typeface="Times New Roman" panose="02020603050405020304"/>
                      </a:endParaRPr>
                    </a:p>
                    <a:p>
                      <a:pPr algn="ctr">
                        <a:lnSpc>
                          <a:spcPct val="100000"/>
                        </a:lnSpc>
                        <a:spcBef>
                          <a:spcPts val="5"/>
                        </a:spcBef>
                      </a:pPr>
                      <a:r>
                        <a:rPr sz="1300" b="1" dirty="0">
                          <a:solidFill>
                            <a:srgbClr val="00295F"/>
                          </a:solidFill>
                          <a:latin typeface="微软雅黑" panose="020B0503020204020204" charset="-122"/>
                          <a:ea typeface="微软雅黑" panose="020B0503020204020204" charset="-122"/>
                          <a:cs typeface="Arial" panose="020B0604020202020204"/>
                        </a:rPr>
                        <a:t>B</a:t>
                      </a:r>
                      <a:endParaRPr sz="1300">
                        <a:latin typeface="微软雅黑" panose="020B0503020204020204" charset="-122"/>
                        <a:ea typeface="微软雅黑" panose="020B0503020204020204" charset="-122"/>
                        <a:cs typeface="Arial" panose="020B0604020202020204"/>
                      </a:endParaRPr>
                    </a:p>
                  </a:txBody>
                  <a:tcPr marL="0" marR="0" marT="1269" marB="0">
                    <a:lnL w="76200">
                      <a:solidFill>
                        <a:srgbClr val="FFFFFF"/>
                      </a:solidFill>
                      <a:prstDash val="solid"/>
                    </a:lnL>
                    <a:lnR w="76200">
                      <a:solidFill>
                        <a:srgbClr val="FFFFFF"/>
                      </a:solidFill>
                      <a:prstDash val="solid"/>
                    </a:lnR>
                    <a:lnB w="76200">
                      <a:solidFill>
                        <a:srgbClr val="FFFFFF"/>
                      </a:solidFill>
                      <a:prstDash val="solid"/>
                    </a:lnB>
                    <a:solidFill>
                      <a:srgbClr val="91AFFF"/>
                    </a:solidFill>
                  </a:tcPr>
                </a:tc>
                <a:tc>
                  <a:txBody>
                    <a:bodyPr/>
                    <a:lstStyle/>
                    <a:p>
                      <a:pPr>
                        <a:lnSpc>
                          <a:spcPct val="100000"/>
                        </a:lnSpc>
                        <a:spcBef>
                          <a:spcPts val="10"/>
                        </a:spcBef>
                      </a:pPr>
                      <a:endParaRPr sz="1850">
                        <a:latin typeface="微软雅黑" panose="020B0503020204020204" charset="-122"/>
                        <a:ea typeface="微软雅黑" panose="020B0503020204020204" charset="-122"/>
                        <a:cs typeface="Times New Roman" panose="02020603050405020304"/>
                      </a:endParaRPr>
                    </a:p>
                    <a:p>
                      <a:pPr marL="34925" algn="ctr">
                        <a:lnSpc>
                          <a:spcPct val="100000"/>
                        </a:lnSpc>
                        <a:spcBef>
                          <a:spcPts val="5"/>
                        </a:spcBef>
                      </a:pPr>
                      <a:r>
                        <a:rPr sz="1300" b="1" dirty="0">
                          <a:solidFill>
                            <a:srgbClr val="FFFFFF"/>
                          </a:solidFill>
                          <a:latin typeface="微软雅黑" panose="020B0503020204020204" charset="-122"/>
                          <a:ea typeface="微软雅黑" panose="020B0503020204020204" charset="-122"/>
                          <a:cs typeface="Arial" panose="020B0604020202020204"/>
                        </a:rPr>
                        <a:t>A</a:t>
                      </a:r>
                      <a:endParaRPr sz="1300">
                        <a:latin typeface="微软雅黑" panose="020B0503020204020204" charset="-122"/>
                        <a:ea typeface="微软雅黑" panose="020B0503020204020204" charset="-122"/>
                        <a:cs typeface="Arial" panose="020B0604020202020204"/>
                      </a:endParaRPr>
                    </a:p>
                  </a:txBody>
                  <a:tcPr marL="0" marR="0" marT="1269" marB="0">
                    <a:lnL w="76200">
                      <a:solidFill>
                        <a:srgbClr val="FFFFFF"/>
                      </a:solidFill>
                      <a:prstDash val="solid"/>
                    </a:lnL>
                    <a:lnB w="76200">
                      <a:solidFill>
                        <a:srgbClr val="FFFFFF"/>
                      </a:solidFill>
                      <a:prstDash val="solid"/>
                    </a:lnB>
                    <a:solidFill>
                      <a:srgbClr val="0066CC"/>
                    </a:solidFill>
                  </a:tcPr>
                </a:tc>
              </a:tr>
              <a:tr h="826135">
                <a:tc>
                  <a:txBody>
                    <a:bodyPr/>
                    <a:lstStyle/>
                    <a:p>
                      <a:pPr>
                        <a:lnSpc>
                          <a:spcPct val="100000"/>
                        </a:lnSpc>
                      </a:pPr>
                      <a:endParaRPr sz="1400">
                        <a:latin typeface="微软雅黑" panose="020B0503020204020204" charset="-122"/>
                        <a:ea typeface="微软雅黑" panose="020B0503020204020204" charset="-122"/>
                        <a:cs typeface="Times New Roman" panose="02020603050405020304"/>
                      </a:endParaRPr>
                    </a:p>
                    <a:p>
                      <a:pPr marL="342265">
                        <a:lnSpc>
                          <a:spcPct val="100000"/>
                        </a:lnSpc>
                        <a:spcBef>
                          <a:spcPts val="825"/>
                        </a:spcBef>
                      </a:pPr>
                      <a:r>
                        <a:rPr sz="1300" b="1" dirty="0">
                          <a:solidFill>
                            <a:srgbClr val="FFFFFF"/>
                          </a:solidFill>
                          <a:latin typeface="微软雅黑" panose="020B0503020204020204" charset="-122"/>
                          <a:ea typeface="微软雅黑" panose="020B0503020204020204" charset="-122"/>
                          <a:cs typeface="Arial" panose="020B0604020202020204"/>
                        </a:rPr>
                        <a:t>D</a:t>
                      </a:r>
                      <a:endParaRPr sz="1300">
                        <a:latin typeface="微软雅黑" panose="020B0503020204020204" charset="-122"/>
                        <a:ea typeface="微软雅黑" panose="020B0503020204020204" charset="-122"/>
                        <a:cs typeface="Arial" panose="020B0604020202020204"/>
                      </a:endParaRPr>
                    </a:p>
                  </a:txBody>
                  <a:tcPr marL="0" marR="0" marT="0" marB="0">
                    <a:lnR w="76200">
                      <a:solidFill>
                        <a:srgbClr val="FFFFFF"/>
                      </a:solidFill>
                      <a:prstDash val="solid"/>
                    </a:lnR>
                    <a:lnT w="76200">
                      <a:solidFill>
                        <a:srgbClr val="FFFFFF"/>
                      </a:solidFill>
                      <a:prstDash val="solid"/>
                    </a:lnT>
                    <a:lnB w="76200">
                      <a:solidFill>
                        <a:srgbClr val="FFFFFF"/>
                      </a:solidFill>
                      <a:prstDash val="solid"/>
                    </a:lnB>
                    <a:solidFill>
                      <a:srgbClr val="C0C0C0"/>
                    </a:solidFill>
                  </a:tcPr>
                </a:tc>
                <a:tc>
                  <a:txBody>
                    <a:bodyPr/>
                    <a:lstStyle/>
                    <a:p>
                      <a:pPr>
                        <a:lnSpc>
                          <a:spcPct val="100000"/>
                        </a:lnSpc>
                      </a:pPr>
                      <a:endParaRPr sz="1400">
                        <a:latin typeface="微软雅黑" panose="020B0503020204020204" charset="-122"/>
                        <a:ea typeface="微软雅黑" panose="020B0503020204020204" charset="-122"/>
                        <a:cs typeface="Times New Roman" panose="02020603050405020304"/>
                      </a:endParaRPr>
                    </a:p>
                    <a:p>
                      <a:pPr algn="ctr">
                        <a:lnSpc>
                          <a:spcPct val="100000"/>
                        </a:lnSpc>
                        <a:spcBef>
                          <a:spcPts val="830"/>
                        </a:spcBef>
                      </a:pPr>
                      <a:r>
                        <a:rPr sz="1300" b="1" dirty="0">
                          <a:solidFill>
                            <a:srgbClr val="00295F"/>
                          </a:solidFill>
                          <a:latin typeface="微软雅黑" panose="020B0503020204020204" charset="-122"/>
                          <a:ea typeface="微软雅黑" panose="020B0503020204020204" charset="-122"/>
                          <a:cs typeface="Arial" panose="020B0604020202020204"/>
                        </a:rPr>
                        <a:t>C</a:t>
                      </a:r>
                      <a:endParaRPr sz="1300">
                        <a:latin typeface="微软雅黑" panose="020B0503020204020204" charset="-122"/>
                        <a:ea typeface="微软雅黑" panose="020B0503020204020204" charset="-122"/>
                        <a:cs typeface="Arial" panose="020B0604020202020204"/>
                      </a:endParaRPr>
                    </a:p>
                  </a:txBody>
                  <a:tcPr marL="0" marR="0" marT="0" marB="0">
                    <a:lnL w="76200">
                      <a:solidFill>
                        <a:srgbClr val="FFFFFF"/>
                      </a:solidFill>
                      <a:prstDash val="solid"/>
                    </a:lnL>
                    <a:lnR w="76200">
                      <a:solidFill>
                        <a:srgbClr val="FFFFFF"/>
                      </a:solidFill>
                      <a:prstDash val="solid"/>
                    </a:lnR>
                    <a:lnT w="76200">
                      <a:solidFill>
                        <a:srgbClr val="FFFFFF"/>
                      </a:solidFill>
                      <a:prstDash val="solid"/>
                    </a:lnT>
                    <a:lnB w="76200">
                      <a:solidFill>
                        <a:srgbClr val="FFFFFF"/>
                      </a:solidFill>
                      <a:prstDash val="solid"/>
                    </a:lnB>
                    <a:solidFill>
                      <a:srgbClr val="C6DFFA"/>
                    </a:solidFill>
                  </a:tcPr>
                </a:tc>
                <a:tc>
                  <a:txBody>
                    <a:bodyPr/>
                    <a:lstStyle/>
                    <a:p>
                      <a:pPr>
                        <a:lnSpc>
                          <a:spcPct val="100000"/>
                        </a:lnSpc>
                      </a:pPr>
                      <a:endParaRPr sz="1400">
                        <a:latin typeface="微软雅黑" panose="020B0503020204020204" charset="-122"/>
                        <a:ea typeface="微软雅黑" panose="020B0503020204020204" charset="-122"/>
                        <a:cs typeface="Times New Roman" panose="02020603050405020304"/>
                      </a:endParaRPr>
                    </a:p>
                    <a:p>
                      <a:pPr marL="31750" algn="ctr">
                        <a:lnSpc>
                          <a:spcPct val="100000"/>
                        </a:lnSpc>
                        <a:spcBef>
                          <a:spcPts val="830"/>
                        </a:spcBef>
                      </a:pPr>
                      <a:r>
                        <a:rPr sz="1300" b="1" dirty="0">
                          <a:solidFill>
                            <a:srgbClr val="00295F"/>
                          </a:solidFill>
                          <a:latin typeface="微软雅黑" panose="020B0503020204020204" charset="-122"/>
                          <a:ea typeface="微软雅黑" panose="020B0503020204020204" charset="-122"/>
                          <a:cs typeface="Arial" panose="020B0604020202020204"/>
                        </a:rPr>
                        <a:t>B</a:t>
                      </a:r>
                      <a:endParaRPr sz="1300">
                        <a:latin typeface="微软雅黑" panose="020B0503020204020204" charset="-122"/>
                        <a:ea typeface="微软雅黑" panose="020B0503020204020204" charset="-122"/>
                        <a:cs typeface="Arial" panose="020B0604020202020204"/>
                      </a:endParaRPr>
                    </a:p>
                  </a:txBody>
                  <a:tcPr marL="0" marR="0" marT="0" marB="0">
                    <a:lnL w="76200">
                      <a:solidFill>
                        <a:srgbClr val="FFFFFF"/>
                      </a:solidFill>
                      <a:prstDash val="solid"/>
                    </a:lnL>
                    <a:lnT w="76200">
                      <a:solidFill>
                        <a:srgbClr val="FFFFFF"/>
                      </a:solidFill>
                      <a:prstDash val="solid"/>
                    </a:lnT>
                    <a:lnB w="76200">
                      <a:solidFill>
                        <a:srgbClr val="FFFFFF"/>
                      </a:solidFill>
                      <a:prstDash val="solid"/>
                    </a:lnB>
                    <a:solidFill>
                      <a:srgbClr val="91AFFF"/>
                    </a:solidFill>
                  </a:tcPr>
                </a:tc>
              </a:tr>
              <a:tr h="791210">
                <a:tc>
                  <a:txBody>
                    <a:bodyPr/>
                    <a:lstStyle/>
                    <a:p>
                      <a:pPr>
                        <a:lnSpc>
                          <a:spcPct val="100000"/>
                        </a:lnSpc>
                      </a:pPr>
                      <a:endParaRPr sz="1400">
                        <a:latin typeface="微软雅黑" panose="020B0503020204020204" charset="-122"/>
                        <a:ea typeface="微软雅黑" panose="020B0503020204020204" charset="-122"/>
                        <a:cs typeface="Times New Roman" panose="02020603050405020304"/>
                      </a:endParaRPr>
                    </a:p>
                    <a:p>
                      <a:pPr marL="346710">
                        <a:lnSpc>
                          <a:spcPct val="100000"/>
                        </a:lnSpc>
                        <a:spcBef>
                          <a:spcPts val="840"/>
                        </a:spcBef>
                      </a:pPr>
                      <a:r>
                        <a:rPr sz="1300" b="1" dirty="0">
                          <a:solidFill>
                            <a:srgbClr val="959595"/>
                          </a:solidFill>
                          <a:latin typeface="微软雅黑" panose="020B0503020204020204" charset="-122"/>
                          <a:ea typeface="微软雅黑" panose="020B0503020204020204" charset="-122"/>
                          <a:cs typeface="Arial" panose="020B0604020202020204"/>
                        </a:rPr>
                        <a:t>E</a:t>
                      </a:r>
                      <a:endParaRPr sz="1300">
                        <a:latin typeface="微软雅黑" panose="020B0503020204020204" charset="-122"/>
                        <a:ea typeface="微软雅黑" panose="020B0503020204020204" charset="-122"/>
                        <a:cs typeface="Arial" panose="020B0604020202020204"/>
                      </a:endParaRPr>
                    </a:p>
                  </a:txBody>
                  <a:tcPr marL="0" marR="0" marT="0" marB="0">
                    <a:lnR w="76200">
                      <a:solidFill>
                        <a:srgbClr val="FFFFFF"/>
                      </a:solidFill>
                      <a:prstDash val="solid"/>
                    </a:lnR>
                    <a:lnT w="76200">
                      <a:solidFill>
                        <a:srgbClr val="FFFFFF"/>
                      </a:solidFill>
                      <a:prstDash val="solid"/>
                    </a:lnT>
                    <a:solidFill>
                      <a:srgbClr val="DDDDDD"/>
                    </a:solidFill>
                  </a:tcPr>
                </a:tc>
                <a:tc>
                  <a:txBody>
                    <a:bodyPr/>
                    <a:lstStyle/>
                    <a:p>
                      <a:pPr>
                        <a:lnSpc>
                          <a:spcPct val="100000"/>
                        </a:lnSpc>
                      </a:pPr>
                      <a:endParaRPr sz="1400">
                        <a:latin typeface="微软雅黑" panose="020B0503020204020204" charset="-122"/>
                        <a:ea typeface="微软雅黑" panose="020B0503020204020204" charset="-122"/>
                        <a:cs typeface="Times New Roman" panose="02020603050405020304"/>
                      </a:endParaRPr>
                    </a:p>
                    <a:p>
                      <a:pPr algn="ctr">
                        <a:lnSpc>
                          <a:spcPct val="100000"/>
                        </a:lnSpc>
                        <a:spcBef>
                          <a:spcPts val="840"/>
                        </a:spcBef>
                      </a:pPr>
                      <a:r>
                        <a:rPr sz="1300" b="1" dirty="0">
                          <a:solidFill>
                            <a:srgbClr val="FFFFFF"/>
                          </a:solidFill>
                          <a:latin typeface="微软雅黑" panose="020B0503020204020204" charset="-122"/>
                          <a:ea typeface="微软雅黑" panose="020B0503020204020204" charset="-122"/>
                          <a:cs typeface="Arial" panose="020B0604020202020204"/>
                        </a:rPr>
                        <a:t>D</a:t>
                      </a:r>
                      <a:endParaRPr sz="1300">
                        <a:latin typeface="微软雅黑" panose="020B0503020204020204" charset="-122"/>
                        <a:ea typeface="微软雅黑" panose="020B0503020204020204" charset="-122"/>
                        <a:cs typeface="Arial" panose="020B0604020202020204"/>
                      </a:endParaRPr>
                    </a:p>
                  </a:txBody>
                  <a:tcPr marL="0" marR="0" marT="0" marB="0">
                    <a:lnL w="76200">
                      <a:solidFill>
                        <a:srgbClr val="FFFFFF"/>
                      </a:solidFill>
                      <a:prstDash val="solid"/>
                    </a:lnL>
                    <a:lnR w="76200">
                      <a:solidFill>
                        <a:srgbClr val="FFFFFF"/>
                      </a:solidFill>
                      <a:prstDash val="solid"/>
                    </a:lnR>
                    <a:lnT w="76200">
                      <a:solidFill>
                        <a:srgbClr val="FFFFFF"/>
                      </a:solidFill>
                      <a:prstDash val="solid"/>
                    </a:lnT>
                    <a:solidFill>
                      <a:srgbClr val="C0C0C0"/>
                    </a:solidFill>
                  </a:tcPr>
                </a:tc>
                <a:tc>
                  <a:txBody>
                    <a:bodyPr/>
                    <a:lstStyle/>
                    <a:p>
                      <a:pPr>
                        <a:lnSpc>
                          <a:spcPct val="100000"/>
                        </a:lnSpc>
                      </a:pPr>
                      <a:endParaRPr sz="1400">
                        <a:latin typeface="微软雅黑" panose="020B0503020204020204" charset="-122"/>
                        <a:ea typeface="微软雅黑" panose="020B0503020204020204" charset="-122"/>
                        <a:cs typeface="Times New Roman" panose="02020603050405020304"/>
                      </a:endParaRPr>
                    </a:p>
                    <a:p>
                      <a:pPr marL="31750" algn="ctr">
                        <a:lnSpc>
                          <a:spcPct val="100000"/>
                        </a:lnSpc>
                        <a:spcBef>
                          <a:spcPts val="840"/>
                        </a:spcBef>
                      </a:pPr>
                      <a:r>
                        <a:rPr sz="1300" b="1" dirty="0">
                          <a:solidFill>
                            <a:srgbClr val="00295F"/>
                          </a:solidFill>
                          <a:latin typeface="微软雅黑" panose="020B0503020204020204" charset="-122"/>
                          <a:ea typeface="微软雅黑" panose="020B0503020204020204" charset="-122"/>
                          <a:cs typeface="Arial" panose="020B0604020202020204"/>
                        </a:rPr>
                        <a:t>C</a:t>
                      </a:r>
                      <a:endParaRPr sz="1300">
                        <a:latin typeface="微软雅黑" panose="020B0503020204020204" charset="-122"/>
                        <a:ea typeface="微软雅黑" panose="020B0503020204020204" charset="-122"/>
                        <a:cs typeface="Arial" panose="020B0604020202020204"/>
                      </a:endParaRPr>
                    </a:p>
                  </a:txBody>
                  <a:tcPr marL="0" marR="0" marT="0" marB="0">
                    <a:lnL w="76200">
                      <a:solidFill>
                        <a:srgbClr val="FFFFFF"/>
                      </a:solidFill>
                      <a:prstDash val="solid"/>
                    </a:lnL>
                    <a:lnT w="76200">
                      <a:solidFill>
                        <a:srgbClr val="FFFFFF"/>
                      </a:solidFill>
                      <a:prstDash val="solid"/>
                    </a:lnT>
                    <a:solidFill>
                      <a:srgbClr val="C6DFFA"/>
                    </a:solidFill>
                  </a:tcPr>
                </a:tc>
              </a:tr>
            </a:tbl>
          </a:graphicData>
        </a:graphic>
      </p:graphicFrame>
      <p:sp>
        <p:nvSpPr>
          <p:cNvPr id="18" name="object 18"/>
          <p:cNvSpPr txBox="1"/>
          <p:nvPr/>
        </p:nvSpPr>
        <p:spPr>
          <a:xfrm>
            <a:off x="453493" y="2001404"/>
            <a:ext cx="200025" cy="357886"/>
          </a:xfrm>
          <a:prstGeom prst="rect">
            <a:avLst/>
          </a:prstGeom>
        </p:spPr>
        <p:txBody>
          <a:bodyPr vert="vert270" wrap="square" lIns="0" tIns="9518" rIns="0" bIns="0" rtlCol="0">
            <a:spAutoFit/>
          </a:bodyPr>
          <a:lstStyle/>
          <a:p>
            <a:pPr marL="12700">
              <a:lnSpc>
                <a:spcPct val="100000"/>
              </a:lnSpc>
              <a:spcBef>
                <a:spcPts val="75"/>
              </a:spcBef>
            </a:pPr>
            <a:r>
              <a:rPr sz="1300" b="1" spc="10" dirty="0">
                <a:latin typeface="微软雅黑" panose="020B0503020204020204" charset="-122"/>
                <a:ea typeface="微软雅黑" panose="020B0503020204020204" charset="-122"/>
                <a:cs typeface="微软雅黑" panose="020B0503020204020204" charset="-122"/>
              </a:rPr>
              <a:t>影响</a:t>
            </a:r>
            <a:endParaRPr sz="1300" b="1" spc="10" dirty="0">
              <a:latin typeface="微软雅黑" panose="020B0503020204020204" charset="-122"/>
              <a:ea typeface="微软雅黑" panose="020B0503020204020204" charset="-122"/>
              <a:cs typeface="微软雅黑" panose="020B0503020204020204" charset="-122"/>
            </a:endParaRPr>
          </a:p>
        </p:txBody>
      </p:sp>
      <p:sp>
        <p:nvSpPr>
          <p:cNvPr id="19" name="object 19"/>
          <p:cNvSpPr/>
          <p:nvPr/>
        </p:nvSpPr>
        <p:spPr>
          <a:xfrm>
            <a:off x="725672" y="982316"/>
            <a:ext cx="1904" cy="0"/>
          </a:xfrm>
          <a:custGeom>
            <a:avLst/>
            <a:gdLst/>
            <a:ahLst/>
            <a:cxnLst/>
            <a:rect l="l" t="t" r="r" b="b"/>
            <a:pathLst>
              <a:path w="1904">
                <a:moveTo>
                  <a:pt x="0" y="0"/>
                </a:moveTo>
                <a:lnTo>
                  <a:pt x="1523" y="0"/>
                </a:lnTo>
              </a:path>
            </a:pathLst>
          </a:custGeom>
          <a:ln w="19050">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txBox="1"/>
          <p:nvPr/>
        </p:nvSpPr>
        <p:spPr>
          <a:xfrm>
            <a:off x="772831" y="2062575"/>
            <a:ext cx="190365" cy="211455"/>
          </a:xfrm>
          <a:prstGeom prst="rect">
            <a:avLst/>
          </a:prstGeom>
        </p:spPr>
        <p:txBody>
          <a:bodyPr vert="horz" wrap="square" lIns="0" tIns="12056" rIns="0" bIns="0" rtlCol="0">
            <a:spAutoFit/>
          </a:bodyPr>
          <a:lstStyle/>
          <a:p>
            <a:pPr marL="12700">
              <a:lnSpc>
                <a:spcPct val="100000"/>
              </a:lnSpc>
              <a:spcBef>
                <a:spcPts val="95"/>
              </a:spcBef>
            </a:pPr>
            <a:r>
              <a:rPr sz="1300" spc="-5" dirty="0">
                <a:latin typeface="微软雅黑" panose="020B0503020204020204" charset="-122"/>
                <a:ea typeface="微软雅黑" panose="020B0503020204020204" charset="-122"/>
                <a:cs typeface="微软雅黑" panose="020B0503020204020204" charset="-122"/>
              </a:rPr>
              <a:t>中</a:t>
            </a:r>
            <a:endParaRPr sz="1300" spc="-5" dirty="0">
              <a:latin typeface="微软雅黑" panose="020B0503020204020204" charset="-122"/>
              <a:ea typeface="微软雅黑" panose="020B0503020204020204" charset="-122"/>
              <a:cs typeface="微软雅黑" panose="020B0503020204020204" charset="-122"/>
            </a:endParaRPr>
          </a:p>
        </p:txBody>
      </p:sp>
      <p:sp>
        <p:nvSpPr>
          <p:cNvPr id="21" name="object 21"/>
          <p:cNvSpPr txBox="1"/>
          <p:nvPr/>
        </p:nvSpPr>
        <p:spPr>
          <a:xfrm>
            <a:off x="772831" y="2890790"/>
            <a:ext cx="190365" cy="211455"/>
          </a:xfrm>
          <a:prstGeom prst="rect">
            <a:avLst/>
          </a:prstGeom>
        </p:spPr>
        <p:txBody>
          <a:bodyPr vert="horz" wrap="square" lIns="0" tIns="12056" rIns="0" bIns="0" rtlCol="0">
            <a:spAutoFit/>
          </a:bodyPr>
          <a:lstStyle/>
          <a:p>
            <a:pPr marL="12700">
              <a:lnSpc>
                <a:spcPct val="100000"/>
              </a:lnSpc>
              <a:spcBef>
                <a:spcPts val="95"/>
              </a:spcBef>
            </a:pPr>
            <a:r>
              <a:rPr sz="1300" spc="-5" dirty="0">
                <a:latin typeface="微软雅黑" panose="020B0503020204020204" charset="-122"/>
                <a:ea typeface="微软雅黑" panose="020B0503020204020204" charset="-122"/>
                <a:cs typeface="微软雅黑" panose="020B0503020204020204" charset="-122"/>
              </a:rPr>
              <a:t>低</a:t>
            </a:r>
            <a:endParaRPr sz="1300" spc="-5" dirty="0">
              <a:latin typeface="微软雅黑" panose="020B0503020204020204" charset="-122"/>
              <a:ea typeface="微软雅黑" panose="020B0503020204020204" charset="-122"/>
              <a:cs typeface="微软雅黑" panose="020B0503020204020204" charset="-122"/>
            </a:endParaRPr>
          </a:p>
        </p:txBody>
      </p:sp>
      <p:sp>
        <p:nvSpPr>
          <p:cNvPr id="22" name="object 22"/>
          <p:cNvSpPr txBox="1"/>
          <p:nvPr/>
        </p:nvSpPr>
        <p:spPr>
          <a:xfrm>
            <a:off x="1707320" y="3415943"/>
            <a:ext cx="190365" cy="211455"/>
          </a:xfrm>
          <a:prstGeom prst="rect">
            <a:avLst/>
          </a:prstGeom>
        </p:spPr>
        <p:txBody>
          <a:bodyPr vert="horz" wrap="square" lIns="0" tIns="12056" rIns="0" bIns="0" rtlCol="0">
            <a:spAutoFit/>
          </a:bodyPr>
          <a:lstStyle/>
          <a:p>
            <a:pPr marL="12700">
              <a:lnSpc>
                <a:spcPct val="100000"/>
              </a:lnSpc>
              <a:spcBef>
                <a:spcPts val="95"/>
              </a:spcBef>
            </a:pPr>
            <a:r>
              <a:rPr sz="1300" spc="-5" dirty="0">
                <a:latin typeface="微软雅黑" panose="020B0503020204020204" charset="-122"/>
                <a:ea typeface="微软雅黑" panose="020B0503020204020204" charset="-122"/>
                <a:cs typeface="微软雅黑" panose="020B0503020204020204" charset="-122"/>
              </a:rPr>
              <a:t>低</a:t>
            </a:r>
            <a:endParaRPr sz="1300" spc="-5" dirty="0">
              <a:latin typeface="微软雅黑" panose="020B0503020204020204" charset="-122"/>
              <a:ea typeface="微软雅黑" panose="020B0503020204020204" charset="-122"/>
              <a:cs typeface="微软雅黑" panose="020B0503020204020204" charset="-122"/>
            </a:endParaRPr>
          </a:p>
        </p:txBody>
      </p:sp>
      <p:sp>
        <p:nvSpPr>
          <p:cNvPr id="23" name="object 23"/>
          <p:cNvSpPr txBox="1"/>
          <p:nvPr/>
        </p:nvSpPr>
        <p:spPr>
          <a:xfrm>
            <a:off x="2571959" y="3415943"/>
            <a:ext cx="190365" cy="211455"/>
          </a:xfrm>
          <a:prstGeom prst="rect">
            <a:avLst/>
          </a:prstGeom>
        </p:spPr>
        <p:txBody>
          <a:bodyPr vert="horz" wrap="square" lIns="0" tIns="12056" rIns="0" bIns="0" rtlCol="0">
            <a:spAutoFit/>
          </a:bodyPr>
          <a:lstStyle/>
          <a:p>
            <a:pPr marL="12700">
              <a:lnSpc>
                <a:spcPct val="100000"/>
              </a:lnSpc>
              <a:spcBef>
                <a:spcPts val="95"/>
              </a:spcBef>
            </a:pPr>
            <a:r>
              <a:rPr sz="1300" spc="-5" dirty="0">
                <a:latin typeface="微软雅黑" panose="020B0503020204020204" charset="-122"/>
                <a:ea typeface="微软雅黑" panose="020B0503020204020204" charset="-122"/>
                <a:cs typeface="微软雅黑" panose="020B0503020204020204" charset="-122"/>
              </a:rPr>
              <a:t>中</a:t>
            </a:r>
            <a:endParaRPr sz="1300" spc="-5" dirty="0">
              <a:latin typeface="微软雅黑" panose="020B0503020204020204" charset="-122"/>
              <a:ea typeface="微软雅黑" panose="020B0503020204020204" charset="-122"/>
              <a:cs typeface="微软雅黑" panose="020B0503020204020204" charset="-122"/>
            </a:endParaRPr>
          </a:p>
        </p:txBody>
      </p:sp>
      <p:sp>
        <p:nvSpPr>
          <p:cNvPr id="24" name="object 24"/>
          <p:cNvSpPr txBox="1"/>
          <p:nvPr/>
        </p:nvSpPr>
        <p:spPr>
          <a:xfrm>
            <a:off x="3439770" y="3415943"/>
            <a:ext cx="190365" cy="211455"/>
          </a:xfrm>
          <a:prstGeom prst="rect">
            <a:avLst/>
          </a:prstGeom>
        </p:spPr>
        <p:txBody>
          <a:bodyPr vert="horz" wrap="square" lIns="0" tIns="12056" rIns="0" bIns="0" rtlCol="0">
            <a:spAutoFit/>
          </a:bodyPr>
          <a:lstStyle/>
          <a:p>
            <a:pPr marL="12700">
              <a:lnSpc>
                <a:spcPct val="100000"/>
              </a:lnSpc>
              <a:spcBef>
                <a:spcPts val="95"/>
              </a:spcBef>
            </a:pPr>
            <a:r>
              <a:rPr sz="1300" spc="-5" dirty="0">
                <a:latin typeface="微软雅黑" panose="020B0503020204020204" charset="-122"/>
                <a:ea typeface="微软雅黑" panose="020B0503020204020204" charset="-122"/>
                <a:cs typeface="微软雅黑" panose="020B0503020204020204" charset="-122"/>
              </a:rPr>
              <a:t>高</a:t>
            </a:r>
            <a:endParaRPr sz="1300" spc="-5" dirty="0">
              <a:latin typeface="微软雅黑" panose="020B0503020204020204" charset="-122"/>
              <a:ea typeface="微软雅黑" panose="020B0503020204020204" charset="-122"/>
              <a:cs typeface="微软雅黑" panose="020B0503020204020204" charset="-122"/>
            </a:endParaRPr>
          </a:p>
        </p:txBody>
      </p:sp>
      <p:sp>
        <p:nvSpPr>
          <p:cNvPr id="25" name="object 25"/>
          <p:cNvSpPr txBox="1"/>
          <p:nvPr/>
        </p:nvSpPr>
        <p:spPr>
          <a:xfrm>
            <a:off x="772831" y="1237532"/>
            <a:ext cx="190365" cy="211455"/>
          </a:xfrm>
          <a:prstGeom prst="rect">
            <a:avLst/>
          </a:prstGeom>
        </p:spPr>
        <p:txBody>
          <a:bodyPr vert="horz" wrap="square" lIns="0" tIns="12056" rIns="0" bIns="0" rtlCol="0">
            <a:spAutoFit/>
          </a:bodyPr>
          <a:lstStyle/>
          <a:p>
            <a:pPr marL="12700">
              <a:lnSpc>
                <a:spcPct val="100000"/>
              </a:lnSpc>
              <a:spcBef>
                <a:spcPts val="95"/>
              </a:spcBef>
            </a:pPr>
            <a:r>
              <a:rPr sz="1300" spc="-5" dirty="0">
                <a:latin typeface="微软雅黑" panose="020B0503020204020204" charset="-122"/>
                <a:ea typeface="微软雅黑" panose="020B0503020204020204" charset="-122"/>
                <a:cs typeface="微软雅黑" panose="020B0503020204020204" charset="-122"/>
              </a:rPr>
              <a:t>高</a:t>
            </a:r>
            <a:endParaRPr sz="1300" spc="-5" dirty="0">
              <a:latin typeface="微软雅黑" panose="020B0503020204020204" charset="-122"/>
              <a:ea typeface="微软雅黑" panose="020B0503020204020204" charset="-122"/>
              <a:cs typeface="微软雅黑" panose="020B0503020204020204" charset="-122"/>
            </a:endParaRPr>
          </a:p>
        </p:txBody>
      </p:sp>
      <p:sp>
        <p:nvSpPr>
          <p:cNvPr id="26" name="object 26"/>
          <p:cNvSpPr txBox="1"/>
          <p:nvPr/>
        </p:nvSpPr>
        <p:spPr>
          <a:xfrm>
            <a:off x="2238820" y="3704664"/>
            <a:ext cx="855374" cy="211455"/>
          </a:xfrm>
          <a:prstGeom prst="rect">
            <a:avLst/>
          </a:prstGeom>
        </p:spPr>
        <p:txBody>
          <a:bodyPr vert="horz" wrap="square" lIns="0" tIns="12056" rIns="0" bIns="0" rtlCol="0">
            <a:spAutoFit/>
          </a:bodyPr>
          <a:lstStyle/>
          <a:p>
            <a:pPr marL="12700">
              <a:lnSpc>
                <a:spcPct val="100000"/>
              </a:lnSpc>
              <a:spcBef>
                <a:spcPts val="95"/>
              </a:spcBef>
            </a:pPr>
            <a:r>
              <a:rPr sz="1300" b="1" dirty="0">
                <a:latin typeface="微软雅黑" panose="020B0503020204020204" charset="-122"/>
                <a:ea typeface="微软雅黑" panose="020B0503020204020204" charset="-122"/>
                <a:cs typeface="微软雅黑" panose="020B0503020204020204" charset="-122"/>
              </a:rPr>
              <a:t>战略相关性</a:t>
            </a:r>
            <a:endParaRPr sz="1300" b="1" dirty="0">
              <a:latin typeface="微软雅黑" panose="020B0503020204020204" charset="-122"/>
              <a:ea typeface="微软雅黑" panose="020B0503020204020204" charset="-122"/>
              <a:cs typeface="微软雅黑" panose="020B0503020204020204" charset="-122"/>
            </a:endParaRPr>
          </a:p>
        </p:txBody>
      </p:sp>
      <p:sp>
        <p:nvSpPr>
          <p:cNvPr id="27" name="object 27"/>
          <p:cNvSpPr/>
          <p:nvPr/>
        </p:nvSpPr>
        <p:spPr>
          <a:xfrm>
            <a:off x="1399563" y="3681693"/>
            <a:ext cx="2533125" cy="0"/>
          </a:xfrm>
          <a:custGeom>
            <a:avLst/>
            <a:gdLst/>
            <a:ahLst/>
            <a:cxnLst/>
            <a:rect l="l" t="t" r="r" b="b"/>
            <a:pathLst>
              <a:path w="2534920">
                <a:moveTo>
                  <a:pt x="0" y="0"/>
                </a:moveTo>
                <a:lnTo>
                  <a:pt x="2534411" y="0"/>
                </a:lnTo>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p:nvPr/>
        </p:nvSpPr>
        <p:spPr>
          <a:xfrm>
            <a:off x="4372304" y="1883124"/>
            <a:ext cx="472105" cy="599015"/>
          </a:xfrm>
          <a:custGeom>
            <a:avLst/>
            <a:gdLst/>
            <a:ahLst/>
            <a:cxnLst/>
            <a:rect l="l" t="t" r="r" b="b"/>
            <a:pathLst>
              <a:path w="472439" h="599439">
                <a:moveTo>
                  <a:pt x="263017" y="0"/>
                </a:moveTo>
                <a:lnTo>
                  <a:pt x="263017" y="89788"/>
                </a:lnTo>
                <a:lnTo>
                  <a:pt x="0" y="89788"/>
                </a:lnTo>
                <a:lnTo>
                  <a:pt x="0" y="509142"/>
                </a:lnTo>
                <a:lnTo>
                  <a:pt x="263017" y="509142"/>
                </a:lnTo>
                <a:lnTo>
                  <a:pt x="263017" y="598931"/>
                </a:lnTo>
                <a:lnTo>
                  <a:pt x="472440" y="299465"/>
                </a:lnTo>
                <a:lnTo>
                  <a:pt x="263017"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9" name="object 29"/>
          <p:cNvSpPr/>
          <p:nvPr/>
        </p:nvSpPr>
        <p:spPr>
          <a:xfrm>
            <a:off x="718818" y="981555"/>
            <a:ext cx="0" cy="2406215"/>
          </a:xfrm>
          <a:custGeom>
            <a:avLst/>
            <a:gdLst/>
            <a:ahLst/>
            <a:cxnLst/>
            <a:rect l="l" t="t" r="r" b="b"/>
            <a:pathLst>
              <a:path h="2407920">
                <a:moveTo>
                  <a:pt x="0" y="0"/>
                </a:moveTo>
                <a:lnTo>
                  <a:pt x="0" y="2407920"/>
                </a:lnTo>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0" name="object 30"/>
          <p:cNvSpPr/>
          <p:nvPr/>
        </p:nvSpPr>
        <p:spPr>
          <a:xfrm>
            <a:off x="405857" y="4139331"/>
            <a:ext cx="4072543" cy="2173335"/>
          </a:xfrm>
          <a:custGeom>
            <a:avLst/>
            <a:gdLst/>
            <a:ahLst/>
            <a:cxnLst/>
            <a:rect l="l" t="t" r="r" b="b"/>
            <a:pathLst>
              <a:path w="4075429" h="2174875">
                <a:moveTo>
                  <a:pt x="0" y="2174748"/>
                </a:moveTo>
                <a:lnTo>
                  <a:pt x="4075176" y="2174748"/>
                </a:lnTo>
                <a:lnTo>
                  <a:pt x="4075176" y="0"/>
                </a:lnTo>
                <a:lnTo>
                  <a:pt x="0" y="0"/>
                </a:lnTo>
                <a:lnTo>
                  <a:pt x="0" y="2174748"/>
                </a:lnTo>
                <a:close/>
              </a:path>
            </a:pathLst>
          </a:custGeom>
          <a:ln w="28575">
            <a:solidFill>
              <a:srgbClr val="0066CC"/>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1" name="object 31"/>
          <p:cNvSpPr txBox="1"/>
          <p:nvPr/>
        </p:nvSpPr>
        <p:spPr>
          <a:xfrm>
            <a:off x="463983" y="4187683"/>
            <a:ext cx="2219022" cy="1417955"/>
          </a:xfrm>
          <a:prstGeom prst="rect">
            <a:avLst/>
          </a:prstGeom>
        </p:spPr>
        <p:txBody>
          <a:bodyPr vert="horz" wrap="square" lIns="0" tIns="12056" rIns="0" bIns="0" rtlCol="0">
            <a:spAutoFit/>
          </a:bodyPr>
          <a:lstStyle/>
          <a:p>
            <a:pPr marL="12700">
              <a:lnSpc>
                <a:spcPts val="1410"/>
              </a:lnSpc>
              <a:spcBef>
                <a:spcPts val="95"/>
              </a:spcBef>
            </a:pPr>
            <a:r>
              <a:rPr sz="1300" b="1" dirty="0">
                <a:latin typeface="微软雅黑" panose="020B0503020204020204" charset="-122"/>
                <a:ea typeface="微软雅黑" panose="020B0503020204020204" charset="-122"/>
                <a:cs typeface="微软雅黑" panose="020B0503020204020204" charset="-122"/>
              </a:rPr>
              <a:t>影响</a:t>
            </a:r>
            <a:endParaRPr sz="1300">
              <a:latin typeface="微软雅黑" panose="020B0503020204020204" charset="-122"/>
              <a:ea typeface="微软雅黑" panose="020B0503020204020204" charset="-122"/>
              <a:cs typeface="微软雅黑" panose="020B0503020204020204" charset="-122"/>
            </a:endParaRPr>
          </a:p>
          <a:p>
            <a:pPr marL="85725" indent="-73660">
              <a:lnSpc>
                <a:spcPts val="1615"/>
              </a:lnSpc>
              <a:buClr>
                <a:srgbClr val="00295F"/>
              </a:buClr>
              <a:buSzPct val="115000"/>
              <a:buFont typeface="Arial" panose="020B0604020202020204"/>
              <a:buChar char="▪"/>
              <a:tabLst>
                <a:tab pos="86360" algn="l"/>
              </a:tabLst>
            </a:pPr>
            <a:r>
              <a:rPr sz="1300" spc="-5" dirty="0">
                <a:latin typeface="微软雅黑" panose="020B0503020204020204" charset="-122"/>
                <a:ea typeface="微软雅黑" panose="020B0503020204020204" charset="-122"/>
                <a:cs typeface="微软雅黑" panose="020B0503020204020204" charset="-122"/>
              </a:rPr>
              <a:t>收入(</a:t>
            </a:r>
            <a:r>
              <a:rPr sz="1300" spc="-5" dirty="0">
                <a:latin typeface="微软雅黑" panose="020B0503020204020204" charset="-122"/>
                <a:ea typeface="微软雅黑" panose="020B0503020204020204" charset="-122"/>
                <a:cs typeface="微软雅黑" panose="020B0503020204020204" charset="-122"/>
              </a:rPr>
              <a:t>人民币元)</a:t>
            </a:r>
            <a:endParaRPr sz="1300">
              <a:latin typeface="微软雅黑" panose="020B0503020204020204" charset="-122"/>
              <a:ea typeface="微软雅黑" panose="020B0503020204020204" charset="-122"/>
              <a:cs typeface="微软雅黑" panose="020B0503020204020204" charset="-122"/>
            </a:endParaRPr>
          </a:p>
          <a:p>
            <a:pPr marL="469900" lvl="1" indent="-262255">
              <a:lnSpc>
                <a:spcPts val="1555"/>
              </a:lnSpc>
              <a:buClr>
                <a:srgbClr val="00295F"/>
              </a:buClr>
              <a:buSzPct val="119000"/>
              <a:buFont typeface="Arial" panose="020B0604020202020204"/>
              <a:buChar char="–"/>
              <a:tabLst>
                <a:tab pos="469265" algn="l"/>
                <a:tab pos="469900" algn="l"/>
              </a:tabLst>
            </a:pPr>
            <a:r>
              <a:rPr sz="1300" spc="-5" dirty="0">
                <a:latin typeface="微软雅黑" panose="020B0503020204020204" charset="-122"/>
                <a:ea typeface="微软雅黑" panose="020B0503020204020204" charset="-122"/>
                <a:cs typeface="微软雅黑" panose="020B0503020204020204" charset="-122"/>
              </a:rPr>
              <a:t>该客户带来多少收入?</a:t>
            </a:r>
            <a:endParaRPr sz="1300">
              <a:latin typeface="微软雅黑" panose="020B0503020204020204" charset="-122"/>
              <a:ea typeface="微软雅黑" panose="020B0503020204020204" charset="-122"/>
              <a:cs typeface="微软雅黑" panose="020B0503020204020204" charset="-122"/>
            </a:endParaRPr>
          </a:p>
          <a:p>
            <a:pPr marL="469900" lvl="1" indent="-262255">
              <a:lnSpc>
                <a:spcPts val="1535"/>
              </a:lnSpc>
              <a:buClr>
                <a:srgbClr val="00295F"/>
              </a:buClr>
              <a:buSzPct val="119000"/>
              <a:buFont typeface="Arial" panose="020B0604020202020204"/>
              <a:buChar char="–"/>
              <a:tabLst>
                <a:tab pos="469265" algn="l"/>
                <a:tab pos="469900" algn="l"/>
              </a:tabLst>
            </a:pPr>
            <a:r>
              <a:rPr sz="1300" spc="-5" dirty="0">
                <a:latin typeface="微软雅黑" panose="020B0503020204020204" charset="-122"/>
                <a:ea typeface="微软雅黑" panose="020B0503020204020204" charset="-122"/>
                <a:cs typeface="微软雅黑" panose="020B0503020204020204" charset="-122"/>
              </a:rPr>
              <a:t>收入增长速度有多快?</a:t>
            </a:r>
            <a:endParaRPr sz="1300">
              <a:latin typeface="微软雅黑" panose="020B0503020204020204" charset="-122"/>
              <a:ea typeface="微软雅黑" panose="020B0503020204020204" charset="-122"/>
              <a:cs typeface="微软雅黑" panose="020B0503020204020204" charset="-122"/>
            </a:endParaRPr>
          </a:p>
          <a:p>
            <a:pPr marL="86360" indent="-74295">
              <a:lnSpc>
                <a:spcPts val="1590"/>
              </a:lnSpc>
              <a:buClr>
                <a:srgbClr val="00295F"/>
              </a:buClr>
              <a:buSzPct val="115000"/>
              <a:buFont typeface="Arial" panose="020B0604020202020204"/>
              <a:buChar char="▪"/>
              <a:tabLst>
                <a:tab pos="86995" algn="l"/>
              </a:tabLst>
            </a:pPr>
            <a:r>
              <a:rPr sz="1300" spc="-10" dirty="0">
                <a:latin typeface="微软雅黑" panose="020B0503020204020204" charset="-122"/>
                <a:ea typeface="微软雅黑" panose="020B0503020204020204" charset="-122"/>
                <a:cs typeface="微软雅黑" panose="020B0503020204020204" charset="-122"/>
              </a:rPr>
              <a:t>盈利</a:t>
            </a:r>
            <a:r>
              <a:rPr sz="1300" spc="-5" dirty="0">
                <a:latin typeface="微软雅黑" panose="020B0503020204020204" charset="-122"/>
                <a:ea typeface="微软雅黑" panose="020B0503020204020204" charset="-122"/>
                <a:cs typeface="微软雅黑" panose="020B0503020204020204" charset="-122"/>
              </a:rPr>
              <a:t>率</a:t>
            </a:r>
            <a:r>
              <a:rPr sz="1300" spc="35" dirty="0">
                <a:latin typeface="微软雅黑" panose="020B0503020204020204" charset="-122"/>
                <a:ea typeface="微软雅黑" panose="020B0503020204020204" charset="-122"/>
                <a:cs typeface="微软雅黑" panose="020B0503020204020204" charset="-122"/>
              </a:rPr>
              <a:t> </a:t>
            </a:r>
            <a:r>
              <a:rPr sz="1300" spc="-5" dirty="0">
                <a:latin typeface="微软雅黑" panose="020B0503020204020204" charset="-122"/>
                <a:ea typeface="微软雅黑" panose="020B0503020204020204" charset="-122"/>
                <a:cs typeface="微软雅黑" panose="020B0503020204020204" charset="-122"/>
              </a:rPr>
              <a:t>(%)</a:t>
            </a:r>
            <a:endParaRPr sz="1300">
              <a:latin typeface="微软雅黑" panose="020B0503020204020204" charset="-122"/>
              <a:ea typeface="微软雅黑" panose="020B0503020204020204" charset="-122"/>
              <a:cs typeface="微软雅黑" panose="020B0503020204020204" charset="-122"/>
            </a:endParaRPr>
          </a:p>
          <a:p>
            <a:pPr marL="469900" lvl="1" indent="-262255">
              <a:lnSpc>
                <a:spcPts val="1555"/>
              </a:lnSpc>
              <a:buClr>
                <a:srgbClr val="00295F"/>
              </a:buClr>
              <a:buSzPct val="119000"/>
              <a:buFont typeface="Arial" panose="020B0604020202020204"/>
              <a:buChar char="–"/>
              <a:tabLst>
                <a:tab pos="469265" algn="l"/>
                <a:tab pos="469900" algn="l"/>
              </a:tabLst>
            </a:pPr>
            <a:r>
              <a:rPr sz="1300" spc="-5" dirty="0">
                <a:latin typeface="微软雅黑" panose="020B0503020204020204" charset="-122"/>
                <a:ea typeface="微软雅黑" panose="020B0503020204020204" charset="-122"/>
                <a:cs typeface="微软雅黑" panose="020B0503020204020204" charset="-122"/>
              </a:rPr>
              <a:t>该客户带来了多大盈利?</a:t>
            </a:r>
            <a:endParaRPr sz="1300">
              <a:latin typeface="微软雅黑" panose="020B0503020204020204" charset="-122"/>
              <a:ea typeface="微软雅黑" panose="020B0503020204020204" charset="-122"/>
              <a:cs typeface="微软雅黑" panose="020B0503020204020204" charset="-122"/>
            </a:endParaRPr>
          </a:p>
          <a:p>
            <a:pPr marL="469900" lvl="1" indent="-262255">
              <a:lnSpc>
                <a:spcPts val="1710"/>
              </a:lnSpc>
              <a:buClr>
                <a:srgbClr val="00295F"/>
              </a:buClr>
              <a:buSzPct val="119000"/>
              <a:buFont typeface="Arial" panose="020B0604020202020204"/>
              <a:buChar char="–"/>
              <a:tabLst>
                <a:tab pos="469265" algn="l"/>
                <a:tab pos="469900" algn="l"/>
              </a:tabLst>
            </a:pPr>
            <a:r>
              <a:rPr sz="1300" spc="-5" dirty="0">
                <a:latin typeface="微软雅黑" panose="020B0503020204020204" charset="-122"/>
                <a:ea typeface="微软雅黑" panose="020B0503020204020204" charset="-122"/>
                <a:cs typeface="微软雅黑" panose="020B0503020204020204" charset="-122"/>
              </a:rPr>
              <a:t>盈利率增长速度有多快?</a:t>
            </a:r>
            <a:endParaRPr sz="1300">
              <a:latin typeface="微软雅黑" panose="020B0503020204020204" charset="-122"/>
              <a:ea typeface="微软雅黑" panose="020B0503020204020204" charset="-122"/>
              <a:cs typeface="微软雅黑" panose="020B0503020204020204" charset="-122"/>
            </a:endParaRPr>
          </a:p>
        </p:txBody>
      </p:sp>
      <p:sp>
        <p:nvSpPr>
          <p:cNvPr id="32" name="object 32"/>
          <p:cNvSpPr txBox="1"/>
          <p:nvPr/>
        </p:nvSpPr>
        <p:spPr>
          <a:xfrm>
            <a:off x="6027847" y="3503257"/>
            <a:ext cx="84204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客户级别</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3" name="object 33"/>
          <p:cNvSpPr/>
          <p:nvPr/>
        </p:nvSpPr>
        <p:spPr>
          <a:xfrm>
            <a:off x="4609118" y="4139331"/>
            <a:ext cx="4072543" cy="2173335"/>
          </a:xfrm>
          <a:custGeom>
            <a:avLst/>
            <a:gdLst/>
            <a:ahLst/>
            <a:cxnLst/>
            <a:rect l="l" t="t" r="r" b="b"/>
            <a:pathLst>
              <a:path w="4075429" h="2174875">
                <a:moveTo>
                  <a:pt x="0" y="2174748"/>
                </a:moveTo>
                <a:lnTo>
                  <a:pt x="4075175" y="2174748"/>
                </a:lnTo>
                <a:lnTo>
                  <a:pt x="4075175" y="0"/>
                </a:lnTo>
                <a:lnTo>
                  <a:pt x="0" y="0"/>
                </a:lnTo>
                <a:lnTo>
                  <a:pt x="0" y="2174748"/>
                </a:lnTo>
                <a:close/>
              </a:path>
            </a:pathLst>
          </a:custGeom>
          <a:ln w="28575">
            <a:solidFill>
              <a:srgbClr val="0066CC"/>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4" name="object 34"/>
          <p:cNvSpPr txBox="1"/>
          <p:nvPr/>
        </p:nvSpPr>
        <p:spPr>
          <a:xfrm>
            <a:off x="4668512" y="4187683"/>
            <a:ext cx="791284" cy="196215"/>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战略相</a:t>
            </a:r>
            <a:r>
              <a:rPr sz="1200" b="1" spc="-5" dirty="0">
                <a:latin typeface="微软雅黑" panose="020B0503020204020204" charset="-122"/>
                <a:ea typeface="微软雅黑" panose="020B0503020204020204" charset="-122"/>
                <a:cs typeface="微软雅黑" panose="020B0503020204020204" charset="-122"/>
              </a:rPr>
              <a:t>关性</a:t>
            </a:r>
            <a:endParaRPr sz="1200">
              <a:latin typeface="微软雅黑" panose="020B0503020204020204" charset="-122"/>
              <a:ea typeface="微软雅黑" panose="020B0503020204020204" charset="-122"/>
              <a:cs typeface="微软雅黑" panose="020B0503020204020204" charset="-122"/>
            </a:endParaRPr>
          </a:p>
        </p:txBody>
      </p:sp>
      <p:sp>
        <p:nvSpPr>
          <p:cNvPr id="35" name="object 35"/>
          <p:cNvSpPr txBox="1"/>
          <p:nvPr/>
        </p:nvSpPr>
        <p:spPr>
          <a:xfrm>
            <a:off x="4668512" y="4370433"/>
            <a:ext cx="1616834" cy="205105"/>
          </a:xfrm>
          <a:prstGeom prst="rect">
            <a:avLst/>
          </a:prstGeom>
        </p:spPr>
        <p:txBody>
          <a:bodyPr vert="horz" wrap="square" lIns="0" tIns="0" rIns="0" bIns="0" rtlCol="0">
            <a:spAutoFit/>
          </a:bodyPr>
          <a:lstStyle/>
          <a:p>
            <a:pPr marL="81280" indent="-68580">
              <a:lnSpc>
                <a:spcPts val="1600"/>
              </a:lnSpc>
              <a:buClr>
                <a:srgbClr val="00295F"/>
              </a:buClr>
              <a:buSzPct val="117000"/>
              <a:buFont typeface="Arial" panose="020B0604020202020204"/>
              <a:buChar char="▪"/>
              <a:tabLst>
                <a:tab pos="81280" algn="l"/>
              </a:tabLst>
            </a:pPr>
            <a:r>
              <a:rPr sz="1200" dirty="0">
                <a:latin typeface="微软雅黑" panose="020B0503020204020204" charset="-122"/>
                <a:ea typeface="微软雅黑" panose="020B0503020204020204" charset="-122"/>
                <a:cs typeface="微软雅黑" panose="020B0503020204020204" charset="-122"/>
              </a:rPr>
              <a:t>战略计划的战略优先度</a:t>
            </a:r>
            <a:endParaRPr sz="1200" dirty="0">
              <a:latin typeface="微软雅黑" panose="020B0503020204020204" charset="-122"/>
              <a:ea typeface="微软雅黑" panose="020B0503020204020204" charset="-122"/>
              <a:cs typeface="微软雅黑" panose="020B0503020204020204" charset="-122"/>
            </a:endParaRPr>
          </a:p>
        </p:txBody>
      </p:sp>
      <p:sp>
        <p:nvSpPr>
          <p:cNvPr id="36" name="object 36"/>
          <p:cNvSpPr txBox="1"/>
          <p:nvPr/>
        </p:nvSpPr>
        <p:spPr>
          <a:xfrm>
            <a:off x="4863447" y="4553184"/>
            <a:ext cx="3816820" cy="203835"/>
          </a:xfrm>
          <a:prstGeom prst="rect">
            <a:avLst/>
          </a:prstGeom>
        </p:spPr>
        <p:txBody>
          <a:bodyPr vert="horz" wrap="square" lIns="0" tIns="0" rIns="0" bIns="0" rtlCol="0">
            <a:spAutoFit/>
          </a:bodyPr>
          <a:lstStyle/>
          <a:p>
            <a:pPr marL="12700">
              <a:lnSpc>
                <a:spcPts val="1590"/>
              </a:lnSpc>
              <a:tabLst>
                <a:tab pos="274320" algn="l"/>
              </a:tabLst>
            </a:pPr>
            <a:r>
              <a:rPr sz="1450" spc="-10" dirty="0">
                <a:solidFill>
                  <a:srgbClr val="00295F"/>
                </a:solidFill>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客户满足公司的战略优先度吗</a:t>
            </a:r>
            <a:r>
              <a:rPr sz="1200" spc="-5" dirty="0">
                <a:latin typeface="微软雅黑" panose="020B0503020204020204" charset="-122"/>
                <a:ea typeface="微软雅黑" panose="020B0503020204020204" charset="-122"/>
                <a:cs typeface="微软雅黑" panose="020B0503020204020204" charset="-122"/>
              </a:rPr>
              <a:t>?</a:t>
            </a:r>
            <a:r>
              <a:rPr sz="1200" spc="-70" dirty="0">
                <a:latin typeface="微软雅黑" panose="020B0503020204020204" charset="-122"/>
                <a:ea typeface="微软雅黑" panose="020B0503020204020204" charset="-122"/>
                <a:cs typeface="微软雅黑" panose="020B0503020204020204" charset="-122"/>
              </a:rPr>
              <a:t> </a:t>
            </a:r>
            <a:r>
              <a:rPr sz="1200" spc="-5" dirty="0">
                <a:latin typeface="微软雅黑" panose="020B0503020204020204" charset="-122"/>
                <a:ea typeface="微软雅黑" panose="020B0503020204020204" charset="-122"/>
                <a:cs typeface="微软雅黑" panose="020B0503020204020204" charset="-122"/>
              </a:rPr>
              <a:t>(</a:t>
            </a:r>
            <a:r>
              <a:rPr sz="1200" dirty="0">
                <a:latin typeface="微软雅黑" panose="020B0503020204020204" charset="-122"/>
                <a:ea typeface="微软雅黑" panose="020B0503020204020204" charset="-122"/>
                <a:cs typeface="微软雅黑" panose="020B0503020204020204" charset="-122"/>
              </a:rPr>
              <a:t>如：客户留住倾向、</a:t>
            </a:r>
            <a:endParaRPr sz="1200">
              <a:latin typeface="微软雅黑" panose="020B0503020204020204" charset="-122"/>
              <a:ea typeface="微软雅黑" panose="020B0503020204020204" charset="-122"/>
              <a:cs typeface="微软雅黑" panose="020B0503020204020204" charset="-122"/>
            </a:endParaRPr>
          </a:p>
        </p:txBody>
      </p:sp>
      <p:sp>
        <p:nvSpPr>
          <p:cNvPr id="37" name="object 37"/>
          <p:cNvSpPr txBox="1"/>
          <p:nvPr/>
        </p:nvSpPr>
        <p:spPr>
          <a:xfrm>
            <a:off x="4668512" y="4735935"/>
            <a:ext cx="3858066" cy="935355"/>
          </a:xfrm>
          <a:prstGeom prst="rect">
            <a:avLst/>
          </a:prstGeom>
        </p:spPr>
        <p:txBody>
          <a:bodyPr vert="horz" wrap="square" lIns="0" tIns="12691" rIns="0" bIns="0" rtlCol="0">
            <a:spAutoFit/>
          </a:bodyPr>
          <a:lstStyle/>
          <a:p>
            <a:pPr marL="469900">
              <a:lnSpc>
                <a:spcPts val="1290"/>
              </a:lnSpc>
              <a:spcBef>
                <a:spcPts val="100"/>
              </a:spcBef>
            </a:pPr>
            <a:r>
              <a:rPr sz="1200" dirty="0">
                <a:latin typeface="微软雅黑" panose="020B0503020204020204" charset="-122"/>
                <a:ea typeface="微软雅黑" panose="020B0503020204020204" charset="-122"/>
                <a:cs typeface="微软雅黑" panose="020B0503020204020204" charset="-122"/>
              </a:rPr>
              <a:t>自身盈利率以及对客户所在行业的战略重要性)</a:t>
            </a:r>
            <a:endParaRPr sz="1200">
              <a:latin typeface="微软雅黑" panose="020B0503020204020204" charset="-122"/>
              <a:ea typeface="微软雅黑" panose="020B0503020204020204" charset="-122"/>
              <a:cs typeface="微软雅黑" panose="020B0503020204020204" charset="-122"/>
            </a:endParaRPr>
          </a:p>
          <a:p>
            <a:pPr marL="81280" indent="-68580">
              <a:lnSpc>
                <a:spcPts val="1495"/>
              </a:lnSpc>
              <a:buClr>
                <a:srgbClr val="00295F"/>
              </a:buClr>
              <a:buSzPct val="117000"/>
              <a:buFont typeface="Arial" panose="020B0604020202020204"/>
              <a:buChar char="▪"/>
              <a:tabLst>
                <a:tab pos="81280" algn="l"/>
              </a:tabLst>
            </a:pPr>
            <a:r>
              <a:rPr sz="1200" spc="-5" dirty="0">
                <a:latin typeface="微软雅黑" panose="020B0503020204020204" charset="-122"/>
                <a:ea typeface="微软雅黑" panose="020B0503020204020204" charset="-122"/>
                <a:cs typeface="微软雅黑" panose="020B0503020204020204" charset="-122"/>
              </a:rPr>
              <a:t>满足需求的能力</a:t>
            </a:r>
            <a:endParaRPr sz="1200">
              <a:latin typeface="微软雅黑" panose="020B0503020204020204" charset="-122"/>
              <a:ea typeface="微软雅黑" panose="020B0503020204020204" charset="-122"/>
              <a:cs typeface="微软雅黑" panose="020B0503020204020204" charset="-122"/>
            </a:endParaRPr>
          </a:p>
          <a:p>
            <a:pPr marL="469900" marR="5080" indent="-262255">
              <a:lnSpc>
                <a:spcPts val="1430"/>
              </a:lnSpc>
              <a:spcBef>
                <a:spcPts val="150"/>
              </a:spcBef>
              <a:tabLst>
                <a:tab pos="469265" algn="l"/>
              </a:tabLst>
            </a:pPr>
            <a:r>
              <a:rPr sz="1450" spc="-10" dirty="0">
                <a:solidFill>
                  <a:srgbClr val="00295F"/>
                </a:solidFill>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公司具备满足客户需求的强大能力吗</a:t>
            </a:r>
            <a:r>
              <a:rPr sz="1200" spc="-5" dirty="0">
                <a:latin typeface="微软雅黑" panose="020B0503020204020204" charset="-122"/>
                <a:ea typeface="微软雅黑" panose="020B0503020204020204" charset="-122"/>
                <a:cs typeface="微软雅黑" panose="020B0503020204020204" charset="-122"/>
              </a:rPr>
              <a:t>?</a:t>
            </a:r>
            <a:r>
              <a:rPr sz="1200" spc="-100" dirty="0">
                <a:latin typeface="微软雅黑" panose="020B0503020204020204" charset="-122"/>
                <a:ea typeface="微软雅黑" panose="020B0503020204020204" charset="-122"/>
                <a:cs typeface="微软雅黑" panose="020B0503020204020204" charset="-122"/>
              </a:rPr>
              <a:t> </a:t>
            </a:r>
            <a:r>
              <a:rPr sz="1200" spc="-5" dirty="0">
                <a:latin typeface="微软雅黑" panose="020B0503020204020204" charset="-122"/>
                <a:ea typeface="微软雅黑" panose="020B0503020204020204" charset="-122"/>
                <a:cs typeface="微软雅黑" panose="020B0503020204020204" charset="-122"/>
              </a:rPr>
              <a:t>(</a:t>
            </a:r>
            <a:r>
              <a:rPr sz="1200" dirty="0">
                <a:latin typeface="微软雅黑" panose="020B0503020204020204" charset="-122"/>
                <a:ea typeface="微软雅黑" panose="020B0503020204020204" charset="-122"/>
                <a:cs typeface="微软雅黑" panose="020B0503020204020204" charset="-122"/>
              </a:rPr>
              <a:t>如：产品和 服务、服务成本竞争力、客户团队可用性和能力、</a:t>
            </a:r>
            <a:endParaRPr sz="1200">
              <a:latin typeface="微软雅黑" panose="020B0503020204020204" charset="-122"/>
              <a:ea typeface="微软雅黑" panose="020B0503020204020204" charset="-122"/>
              <a:cs typeface="微软雅黑" panose="020B0503020204020204" charset="-122"/>
            </a:endParaRPr>
          </a:p>
          <a:p>
            <a:pPr marL="469900">
              <a:lnSpc>
                <a:spcPts val="1405"/>
              </a:lnSpc>
            </a:pPr>
            <a:r>
              <a:rPr sz="1200" dirty="0">
                <a:latin typeface="微软雅黑" panose="020B0503020204020204" charset="-122"/>
                <a:ea typeface="微软雅黑" panose="020B0503020204020204" charset="-122"/>
                <a:cs typeface="微软雅黑" panose="020B0503020204020204" charset="-122"/>
              </a:rPr>
              <a:t>过往表现以及与客户的关系)</a:t>
            </a:r>
            <a:endParaRPr sz="1200">
              <a:latin typeface="微软雅黑" panose="020B0503020204020204" charset="-122"/>
              <a:ea typeface="微软雅黑" panose="020B0503020204020204" charset="-122"/>
              <a:cs typeface="微软雅黑" panose="020B0503020204020204" charset="-122"/>
            </a:endParaRPr>
          </a:p>
        </p:txBody>
      </p:sp>
      <p:sp>
        <p:nvSpPr>
          <p:cNvPr id="38" name="object 38"/>
          <p:cNvSpPr txBox="1"/>
          <p:nvPr/>
        </p:nvSpPr>
        <p:spPr>
          <a:xfrm>
            <a:off x="106401" y="6412696"/>
            <a:ext cx="982284"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5" dirty="0">
                <a:latin typeface="微软雅黑" panose="020B0503020204020204" charset="-122"/>
                <a:ea typeface="微软雅黑" panose="020B0503020204020204" charset="-122"/>
                <a:cs typeface="微软雅黑" panose="020B0503020204020204" charset="-122"/>
              </a:rPr>
              <a:t>:</a:t>
            </a:r>
            <a:r>
              <a:rPr sz="1000" spc="-45"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a:t>
            </a:r>
            <a:endParaRPr sz="10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401" y="152324"/>
            <a:ext cx="4367610"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不同类型的</a:t>
            </a:r>
            <a:r>
              <a:rPr spc="-10" dirty="0">
                <a:ea typeface="微软雅黑" panose="020B0503020204020204" charset="-122"/>
              </a:rPr>
              <a:t>客户</a:t>
            </a:r>
            <a:r>
              <a:rPr spc="-5" dirty="0">
                <a:ea typeface="微软雅黑" panose="020B0503020204020204" charset="-122"/>
              </a:rPr>
              <a:t>往</a:t>
            </a:r>
            <a:r>
              <a:rPr spc="-10" dirty="0">
                <a:ea typeface="微软雅黑" panose="020B0503020204020204" charset="-122"/>
              </a:rPr>
              <a:t>往需</a:t>
            </a:r>
            <a:r>
              <a:rPr spc="-5" dirty="0">
                <a:ea typeface="微软雅黑" panose="020B0503020204020204" charset="-122"/>
              </a:rPr>
              <a:t>要</a:t>
            </a:r>
            <a:r>
              <a:rPr spc="-10" dirty="0">
                <a:ea typeface="微软雅黑" panose="020B0503020204020204" charset="-122"/>
              </a:rPr>
              <a:t>不同</a:t>
            </a:r>
            <a:r>
              <a:rPr spc="-5" dirty="0">
                <a:ea typeface="微软雅黑" panose="020B0503020204020204" charset="-122"/>
              </a:rPr>
              <a:t>的</a:t>
            </a:r>
            <a:r>
              <a:rPr spc="-10" dirty="0">
                <a:ea typeface="微软雅黑" panose="020B0503020204020204" charset="-122"/>
              </a:rPr>
              <a:t>销售</a:t>
            </a:r>
            <a:r>
              <a:rPr spc="-5" dirty="0">
                <a:ea typeface="微软雅黑" panose="020B0503020204020204" charset="-122"/>
              </a:rPr>
              <a:t>模</a:t>
            </a:r>
            <a:r>
              <a:rPr spc="-10" dirty="0">
                <a:ea typeface="微软雅黑" panose="020B0503020204020204" charset="-122"/>
              </a:rPr>
              <a:t>式</a:t>
            </a:r>
            <a:endParaRPr spc="-10" dirty="0">
              <a:ea typeface="微软雅黑" panose="020B0503020204020204" charset="-122"/>
            </a:endParaRPr>
          </a:p>
        </p:txBody>
      </p:sp>
      <p:sp>
        <p:nvSpPr>
          <p:cNvPr id="4" name="object 4"/>
          <p:cNvSpPr txBox="1"/>
          <p:nvPr/>
        </p:nvSpPr>
        <p:spPr>
          <a:xfrm>
            <a:off x="112797" y="6411477"/>
            <a:ext cx="1361110" cy="165100"/>
          </a:xfrm>
          <a:prstGeom prst="rect">
            <a:avLst/>
          </a:prstGeom>
        </p:spPr>
        <p:txBody>
          <a:bodyPr vert="horz" wrap="square" lIns="0" tIns="12056" rIns="0" bIns="0" rtlCol="0">
            <a:spAutoFit/>
          </a:bodyPr>
          <a:lstStyle/>
          <a:p>
            <a:pPr marL="12700">
              <a:lnSpc>
                <a:spcPct val="100000"/>
              </a:lnSpc>
              <a:spcBef>
                <a:spcPts val="95"/>
              </a:spcBef>
            </a:pPr>
            <a:r>
              <a:rPr sz="1000" spc="-5" dirty="0">
                <a:latin typeface="微软雅黑" panose="020B0503020204020204" charset="-122"/>
                <a:ea typeface="微软雅黑" panose="020B0503020204020204" charset="-122"/>
                <a:cs typeface="微软雅黑" panose="020B0503020204020204" charset="-122"/>
              </a:rPr>
              <a:t>资料来源:</a:t>
            </a:r>
            <a:r>
              <a:rPr sz="1000" spc="-60"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****，访谈</a:t>
            </a:r>
            <a:endParaRPr sz="1000">
              <a:latin typeface="微软雅黑" panose="020B0503020204020204" charset="-122"/>
              <a:ea typeface="微软雅黑" panose="020B0503020204020204" charset="-122"/>
              <a:cs typeface="微软雅黑" panose="020B0503020204020204" charset="-122"/>
            </a:endParaRPr>
          </a:p>
        </p:txBody>
      </p:sp>
      <p:sp>
        <p:nvSpPr>
          <p:cNvPr id="5" name="object 5"/>
          <p:cNvSpPr/>
          <p:nvPr/>
        </p:nvSpPr>
        <p:spPr>
          <a:xfrm>
            <a:off x="8341036" y="1162782"/>
            <a:ext cx="354841" cy="5115491"/>
          </a:xfrm>
          <a:prstGeom prst="rect">
            <a:avLst/>
          </a:prstGeom>
          <a:blipFill>
            <a:blip r:embed="rId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8341036" y="1162782"/>
            <a:ext cx="355348" cy="5115744"/>
          </a:xfrm>
          <a:custGeom>
            <a:avLst/>
            <a:gdLst/>
            <a:ahLst/>
            <a:cxnLst/>
            <a:rect l="l" t="t" r="r" b="b"/>
            <a:pathLst>
              <a:path w="355600" h="5119370">
                <a:moveTo>
                  <a:pt x="355092" y="0"/>
                </a:moveTo>
                <a:lnTo>
                  <a:pt x="355092" y="5119116"/>
                </a:lnTo>
                <a:lnTo>
                  <a:pt x="0" y="0"/>
                </a:lnTo>
                <a:lnTo>
                  <a:pt x="355092" y="0"/>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txBox="1"/>
          <p:nvPr/>
        </p:nvSpPr>
        <p:spPr>
          <a:xfrm>
            <a:off x="7871468" y="788271"/>
            <a:ext cx="917560" cy="319405"/>
          </a:xfrm>
          <a:prstGeom prst="rect">
            <a:avLst/>
          </a:prstGeom>
        </p:spPr>
        <p:txBody>
          <a:bodyPr vert="horz" wrap="square" lIns="0" tIns="10152" rIns="0" bIns="0" rtlCol="0">
            <a:spAutoFit/>
          </a:bodyPr>
          <a:lstStyle/>
          <a:p>
            <a:pPr marL="12700" marR="5080">
              <a:lnSpc>
                <a:spcPct val="101000"/>
              </a:lnSpc>
              <a:spcBef>
                <a:spcPts val="80"/>
              </a:spcBef>
            </a:pPr>
            <a:r>
              <a:rPr sz="1000" b="1" spc="5" dirty="0">
                <a:latin typeface="微软雅黑" panose="020B0503020204020204" charset="-122"/>
                <a:ea typeface="微软雅黑" panose="020B0503020204020204" charset="-122"/>
                <a:cs typeface="微软雅黑" panose="020B0503020204020204" charset="-122"/>
              </a:rPr>
              <a:t>企业与客户</a:t>
            </a:r>
            <a:r>
              <a:rPr sz="1000" b="1" spc="-5" dirty="0">
                <a:latin typeface="微软雅黑" panose="020B0503020204020204" charset="-122"/>
                <a:ea typeface="微软雅黑" panose="020B0503020204020204" charset="-122"/>
                <a:cs typeface="微软雅黑" panose="020B0503020204020204" charset="-122"/>
              </a:rPr>
              <a:t>的关 </a:t>
            </a:r>
            <a:r>
              <a:rPr sz="1000" b="1" spc="5" dirty="0">
                <a:latin typeface="微软雅黑" panose="020B0503020204020204" charset="-122"/>
                <a:ea typeface="微软雅黑" panose="020B0503020204020204" charset="-122"/>
                <a:cs typeface="微软雅黑" panose="020B0503020204020204" charset="-122"/>
              </a:rPr>
              <a:t>系密切程度</a:t>
            </a:r>
            <a:endParaRPr sz="1000">
              <a:latin typeface="微软雅黑" panose="020B0503020204020204" charset="-122"/>
              <a:ea typeface="微软雅黑" panose="020B0503020204020204" charset="-122"/>
              <a:cs typeface="微软雅黑" panose="020B0503020204020204" charset="-122"/>
            </a:endParaRPr>
          </a:p>
        </p:txBody>
      </p:sp>
      <p:sp>
        <p:nvSpPr>
          <p:cNvPr id="8" name="object 8"/>
          <p:cNvSpPr txBox="1"/>
          <p:nvPr/>
        </p:nvSpPr>
        <p:spPr>
          <a:xfrm>
            <a:off x="8399668" y="6106893"/>
            <a:ext cx="152292" cy="165100"/>
          </a:xfrm>
          <a:prstGeom prst="rect">
            <a:avLst/>
          </a:prstGeom>
        </p:spPr>
        <p:txBody>
          <a:bodyPr vert="horz" wrap="square" lIns="0" tIns="12056" rIns="0" bIns="0" rtlCol="0">
            <a:spAutoFit/>
          </a:bodyPr>
          <a:lstStyle/>
          <a:p>
            <a:pPr marL="12700">
              <a:lnSpc>
                <a:spcPct val="100000"/>
              </a:lnSpc>
              <a:spcBef>
                <a:spcPts val="95"/>
              </a:spcBef>
            </a:pPr>
            <a:r>
              <a:rPr sz="1000" b="1" spc="-5" dirty="0">
                <a:latin typeface="微软雅黑" panose="020B0503020204020204" charset="-122"/>
                <a:ea typeface="微软雅黑" panose="020B0503020204020204" charset="-122"/>
                <a:cs typeface="微软雅黑" panose="020B0503020204020204" charset="-122"/>
              </a:rPr>
              <a:t>低</a:t>
            </a:r>
            <a:endParaRPr sz="1000" b="1" spc="-5" dirty="0">
              <a:latin typeface="微软雅黑" panose="020B0503020204020204" charset="-122"/>
              <a:ea typeface="微软雅黑" panose="020B0503020204020204" charset="-122"/>
              <a:cs typeface="微软雅黑" panose="020B0503020204020204" charset="-122"/>
            </a:endParaRPr>
          </a:p>
        </p:txBody>
      </p:sp>
      <p:sp>
        <p:nvSpPr>
          <p:cNvPr id="9" name="object 9"/>
          <p:cNvSpPr txBox="1"/>
          <p:nvPr/>
        </p:nvSpPr>
        <p:spPr>
          <a:xfrm>
            <a:off x="1943627" y="1357462"/>
            <a:ext cx="409285" cy="165100"/>
          </a:xfrm>
          <a:prstGeom prst="rect">
            <a:avLst/>
          </a:prstGeom>
        </p:spPr>
        <p:txBody>
          <a:bodyPr vert="horz" wrap="square" lIns="0" tIns="12056" rIns="0" bIns="0" rtlCol="0">
            <a:spAutoFit/>
          </a:bodyPr>
          <a:lstStyle/>
          <a:p>
            <a:pPr marL="12700">
              <a:lnSpc>
                <a:spcPct val="100000"/>
              </a:lnSpc>
              <a:spcBef>
                <a:spcPts val="95"/>
              </a:spcBef>
            </a:pPr>
            <a:r>
              <a:rPr sz="1000" b="1" spc="5" dirty="0">
                <a:latin typeface="微软雅黑" panose="020B0503020204020204" charset="-122"/>
                <a:ea typeface="微软雅黑" panose="020B0503020204020204" charset="-122"/>
                <a:cs typeface="微软雅黑" panose="020B0503020204020204" charset="-122"/>
              </a:rPr>
              <a:t>盖模式</a:t>
            </a:r>
            <a:endParaRPr sz="1000" b="1" spc="5" dirty="0">
              <a:latin typeface="微软雅黑" panose="020B0503020204020204" charset="-122"/>
              <a:ea typeface="微软雅黑" panose="020B0503020204020204" charset="-122"/>
              <a:cs typeface="微软雅黑" panose="020B0503020204020204" charset="-122"/>
            </a:endParaRPr>
          </a:p>
        </p:txBody>
      </p:sp>
      <p:sp>
        <p:nvSpPr>
          <p:cNvPr id="10" name="object 10"/>
          <p:cNvSpPr txBox="1"/>
          <p:nvPr/>
        </p:nvSpPr>
        <p:spPr>
          <a:xfrm>
            <a:off x="1943627" y="3171260"/>
            <a:ext cx="665009" cy="319405"/>
          </a:xfrm>
          <a:prstGeom prst="rect">
            <a:avLst/>
          </a:prstGeom>
        </p:spPr>
        <p:txBody>
          <a:bodyPr vert="horz" wrap="square" lIns="0" tIns="10152" rIns="0" bIns="0" rtlCol="0">
            <a:spAutoFit/>
          </a:bodyPr>
          <a:lstStyle/>
          <a:p>
            <a:pPr marL="12700" marR="5080">
              <a:lnSpc>
                <a:spcPct val="101000"/>
              </a:lnSpc>
              <a:spcBef>
                <a:spcPts val="80"/>
              </a:spcBef>
            </a:pPr>
            <a:r>
              <a:rPr sz="1000" b="1" spc="5" dirty="0">
                <a:latin typeface="微软雅黑" panose="020B0503020204020204" charset="-122"/>
                <a:ea typeface="微软雅黑" panose="020B0503020204020204" charset="-122"/>
                <a:cs typeface="微软雅黑" panose="020B0503020204020204" charset="-122"/>
              </a:rPr>
              <a:t>企业主导、 分销商协助</a:t>
            </a:r>
            <a:endParaRPr sz="1000" b="1" spc="5" dirty="0">
              <a:latin typeface="微软雅黑" panose="020B0503020204020204" charset="-122"/>
              <a:ea typeface="微软雅黑" panose="020B0503020204020204" charset="-122"/>
              <a:cs typeface="微软雅黑" panose="020B0503020204020204" charset="-122"/>
            </a:endParaRPr>
          </a:p>
        </p:txBody>
      </p:sp>
      <p:sp>
        <p:nvSpPr>
          <p:cNvPr id="11" name="object 11"/>
          <p:cNvSpPr txBox="1"/>
          <p:nvPr/>
        </p:nvSpPr>
        <p:spPr>
          <a:xfrm>
            <a:off x="3730394" y="919876"/>
            <a:ext cx="537464" cy="165100"/>
          </a:xfrm>
          <a:prstGeom prst="rect">
            <a:avLst/>
          </a:prstGeom>
        </p:spPr>
        <p:txBody>
          <a:bodyPr vert="horz" wrap="square" lIns="0" tIns="12056" rIns="0" bIns="0" rtlCol="0">
            <a:spAutoFit/>
          </a:bodyPr>
          <a:lstStyle/>
          <a:p>
            <a:pPr marL="12700">
              <a:lnSpc>
                <a:spcPct val="100000"/>
              </a:lnSpc>
              <a:spcBef>
                <a:spcPts val="95"/>
              </a:spcBef>
            </a:pPr>
            <a:r>
              <a:rPr sz="1000" b="1" spc="5" dirty="0">
                <a:latin typeface="微软雅黑" panose="020B0503020204020204" charset="-122"/>
                <a:ea typeface="微软雅黑" panose="020B0503020204020204" charset="-122"/>
                <a:cs typeface="微软雅黑" panose="020B0503020204020204" charset="-122"/>
              </a:rPr>
              <a:t>角色细分</a:t>
            </a:r>
            <a:endParaRPr sz="1000" b="1" spc="5" dirty="0">
              <a:latin typeface="微软雅黑" panose="020B0503020204020204" charset="-122"/>
              <a:ea typeface="微软雅黑" panose="020B0503020204020204" charset="-122"/>
              <a:cs typeface="微软雅黑" panose="020B0503020204020204" charset="-122"/>
            </a:endParaRPr>
          </a:p>
        </p:txBody>
      </p:sp>
      <p:sp>
        <p:nvSpPr>
          <p:cNvPr id="12" name="object 12"/>
          <p:cNvSpPr/>
          <p:nvPr/>
        </p:nvSpPr>
        <p:spPr>
          <a:xfrm>
            <a:off x="3722017" y="1118618"/>
            <a:ext cx="4278138" cy="0"/>
          </a:xfrm>
          <a:custGeom>
            <a:avLst/>
            <a:gdLst/>
            <a:ahLst/>
            <a:cxnLst/>
            <a:rect l="l" t="t" r="r" b="b"/>
            <a:pathLst>
              <a:path w="4281170">
                <a:moveTo>
                  <a:pt x="0" y="0"/>
                </a:moveTo>
                <a:lnTo>
                  <a:pt x="4280916" y="0"/>
                </a:lnTo>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txBox="1">
            <a:spLocks noGrp="1"/>
          </p:cNvSpPr>
          <p:nvPr>
            <p:ph type="body" idx="1"/>
          </p:nvPr>
        </p:nvSpPr>
        <p:spPr>
          <a:xfrm>
            <a:off x="1326590" y="1141013"/>
            <a:ext cx="6306668" cy="2324735"/>
          </a:xfrm>
          <a:prstGeom prst="rect">
            <a:avLst/>
          </a:prstGeom>
        </p:spPr>
        <p:txBody>
          <a:bodyPr vert="horz" wrap="square" lIns="0" tIns="12056" rIns="0" bIns="0" rtlCol="0">
            <a:spAutoFit/>
          </a:bodyPr>
          <a:lstStyle/>
          <a:p>
            <a:pPr marL="2577465" indent="-192405">
              <a:lnSpc>
                <a:spcPts val="1100"/>
              </a:lnSpc>
              <a:spcBef>
                <a:spcPts val="95"/>
              </a:spcBef>
              <a:buClr>
                <a:srgbClr val="00295F"/>
              </a:buClr>
              <a:buSzPct val="125000"/>
              <a:buFont typeface="Arial" panose="020B0604020202020204"/>
              <a:buChar char="▪"/>
              <a:tabLst>
                <a:tab pos="2578100" algn="l"/>
                <a:tab pos="2578735" algn="l"/>
              </a:tabLst>
            </a:pPr>
            <a:r>
              <a:rPr dirty="0">
                <a:ea typeface="微软雅黑" panose="020B0503020204020204" charset="-122"/>
              </a:rPr>
              <a:t>企业客户经</a:t>
            </a:r>
            <a:r>
              <a:rPr spc="-10" dirty="0">
                <a:ea typeface="微软雅黑" panose="020B0503020204020204" charset="-122"/>
              </a:rPr>
              <a:t>理</a:t>
            </a:r>
            <a:r>
              <a:rPr spc="-5" dirty="0">
                <a:ea typeface="微软雅黑" panose="020B0503020204020204" charset="-122"/>
              </a:rPr>
              <a:t>:</a:t>
            </a:r>
            <a:endParaRPr spc="-5" dirty="0">
              <a:ea typeface="微软雅黑" panose="020B0503020204020204" charset="-122"/>
            </a:endParaRPr>
          </a:p>
          <a:p>
            <a:pPr marL="2840990" lvl="1" indent="-262890">
              <a:lnSpc>
                <a:spcPts val="1220"/>
              </a:lnSpc>
              <a:buClr>
                <a:srgbClr val="00295F"/>
              </a:buClr>
              <a:buSzPct val="120000"/>
              <a:buFont typeface="Arial" panose="020B0604020202020204"/>
              <a:buChar char="–"/>
              <a:tabLst>
                <a:tab pos="2841625" algn="l"/>
                <a:tab pos="2842260" algn="l"/>
              </a:tabLst>
            </a:pPr>
            <a:r>
              <a:rPr sz="1000" spc="-5" dirty="0">
                <a:ea typeface="微软雅黑" panose="020B0503020204020204" charset="-122"/>
              </a:rPr>
              <a:t>总体客户关系开发</a:t>
            </a:r>
            <a:endParaRPr sz="1000">
              <a:ea typeface="微软雅黑" panose="020B0503020204020204" charset="-122"/>
            </a:endParaRPr>
          </a:p>
          <a:p>
            <a:pPr marL="2840990" lvl="1" indent="-262890">
              <a:lnSpc>
                <a:spcPts val="1200"/>
              </a:lnSpc>
              <a:buClr>
                <a:srgbClr val="00295F"/>
              </a:buClr>
              <a:buSzPct val="120000"/>
              <a:buFont typeface="Arial" panose="020B0604020202020204"/>
              <a:buChar char="–"/>
              <a:tabLst>
                <a:tab pos="2841625" algn="l"/>
                <a:tab pos="2842260" algn="l"/>
              </a:tabLst>
            </a:pPr>
            <a:r>
              <a:rPr sz="1000" spc="-5" dirty="0">
                <a:ea typeface="微软雅黑" panose="020B0503020204020204" charset="-122"/>
              </a:rPr>
              <a:t>客户商务支持</a:t>
            </a:r>
            <a:endParaRPr sz="1000">
              <a:ea typeface="微软雅黑" panose="020B0503020204020204" charset="-122"/>
            </a:endParaRPr>
          </a:p>
          <a:p>
            <a:pPr marL="2840990" lvl="1" indent="-262890">
              <a:lnSpc>
                <a:spcPts val="1300"/>
              </a:lnSpc>
              <a:buClr>
                <a:srgbClr val="00295F"/>
              </a:buClr>
              <a:buSzPct val="120000"/>
              <a:buFont typeface="Arial" panose="020B0604020202020204"/>
              <a:buChar char="–"/>
              <a:tabLst>
                <a:tab pos="2841625" algn="l"/>
                <a:tab pos="2842260" algn="l"/>
              </a:tabLst>
            </a:pPr>
            <a:r>
              <a:rPr sz="1000" spc="-5" dirty="0">
                <a:ea typeface="微软雅黑" panose="020B0503020204020204" charset="-122"/>
              </a:rPr>
              <a:t>新机会发现和培育</a:t>
            </a:r>
            <a:endParaRPr sz="1000">
              <a:ea typeface="微软雅黑" panose="020B0503020204020204" charset="-122"/>
            </a:endParaRPr>
          </a:p>
          <a:p>
            <a:pPr marL="2577465" indent="-192405">
              <a:lnSpc>
                <a:spcPts val="1080"/>
              </a:lnSpc>
              <a:buClr>
                <a:srgbClr val="00295F"/>
              </a:buClr>
              <a:buSzPct val="125000"/>
              <a:buFont typeface="Arial" panose="020B0604020202020204"/>
              <a:buChar char="▪"/>
              <a:tabLst>
                <a:tab pos="2578100" algn="l"/>
                <a:tab pos="2578735" algn="l"/>
              </a:tabLst>
            </a:pPr>
            <a:r>
              <a:rPr spc="5" dirty="0">
                <a:ea typeface="微软雅黑" panose="020B0503020204020204" charset="-122"/>
              </a:rPr>
              <a:t>企业技术销</a:t>
            </a:r>
            <a:r>
              <a:rPr spc="-5" dirty="0">
                <a:ea typeface="微软雅黑" panose="020B0503020204020204" charset="-122"/>
              </a:rPr>
              <a:t>售</a:t>
            </a:r>
            <a:r>
              <a:rPr spc="-5" dirty="0">
                <a:ea typeface="微软雅黑" panose="020B0503020204020204" charset="-122"/>
              </a:rPr>
              <a:t>:</a:t>
            </a:r>
            <a:endParaRPr spc="-5" dirty="0">
              <a:ea typeface="微软雅黑" panose="020B0503020204020204" charset="-122"/>
            </a:endParaRPr>
          </a:p>
          <a:p>
            <a:pPr marL="2840990" lvl="1" indent="-262890">
              <a:lnSpc>
                <a:spcPts val="1220"/>
              </a:lnSpc>
              <a:buClr>
                <a:srgbClr val="00295F"/>
              </a:buClr>
              <a:buSzPct val="120000"/>
              <a:buFont typeface="Arial" panose="020B0604020202020204"/>
              <a:buChar char="–"/>
              <a:tabLst>
                <a:tab pos="2841625" algn="l"/>
                <a:tab pos="2842260" algn="l"/>
              </a:tabLst>
            </a:pPr>
            <a:r>
              <a:rPr sz="1000" spc="-5" dirty="0">
                <a:ea typeface="微软雅黑" panose="020B0503020204020204" charset="-122"/>
              </a:rPr>
              <a:t>客户技术支持</a:t>
            </a:r>
            <a:endParaRPr sz="1000">
              <a:ea typeface="微软雅黑" panose="020B0503020204020204" charset="-122"/>
            </a:endParaRPr>
          </a:p>
          <a:p>
            <a:pPr marL="2840990" lvl="1" indent="-262890">
              <a:lnSpc>
                <a:spcPts val="1300"/>
              </a:lnSpc>
              <a:buClr>
                <a:srgbClr val="00295F"/>
              </a:buClr>
              <a:buSzPct val="120000"/>
              <a:buFont typeface="Arial" panose="020B0604020202020204"/>
              <a:buChar char="–"/>
              <a:tabLst>
                <a:tab pos="2841625" algn="l"/>
                <a:tab pos="2842260" algn="l"/>
              </a:tabLst>
            </a:pPr>
            <a:r>
              <a:rPr sz="1000" spc="-5" dirty="0">
                <a:ea typeface="微软雅黑" panose="020B0503020204020204" charset="-122"/>
              </a:rPr>
              <a:t>新技</a:t>
            </a:r>
            <a:r>
              <a:rPr sz="1000" spc="-10" dirty="0">
                <a:ea typeface="微软雅黑" panose="020B0503020204020204" charset="-122"/>
              </a:rPr>
              <a:t>术/</a:t>
            </a:r>
            <a:r>
              <a:rPr sz="1000" spc="-5" dirty="0">
                <a:ea typeface="微软雅黑" panose="020B0503020204020204" charset="-122"/>
              </a:rPr>
              <a:t>应用介绍</a:t>
            </a:r>
            <a:endParaRPr sz="1000">
              <a:ea typeface="微软雅黑" panose="020B0503020204020204" charset="-122"/>
            </a:endParaRPr>
          </a:p>
          <a:p>
            <a:pPr marL="2577465" indent="-192405">
              <a:lnSpc>
                <a:spcPts val="1180"/>
              </a:lnSpc>
              <a:buClr>
                <a:srgbClr val="00295F"/>
              </a:buClr>
              <a:buSzPct val="125000"/>
              <a:buFont typeface="Arial" panose="020B0604020202020204"/>
              <a:buChar char="▪"/>
              <a:tabLst>
                <a:tab pos="2578100" algn="l"/>
                <a:tab pos="2578735" algn="l"/>
              </a:tabLst>
            </a:pPr>
            <a:r>
              <a:rPr spc="5" dirty="0">
                <a:ea typeface="微软雅黑" panose="020B0503020204020204" charset="-122"/>
              </a:rPr>
              <a:t>企业技术服</a:t>
            </a:r>
            <a:r>
              <a:rPr spc="-5" dirty="0">
                <a:ea typeface="微软雅黑" panose="020B0503020204020204" charset="-122"/>
              </a:rPr>
              <a:t>务:</a:t>
            </a:r>
            <a:r>
              <a:rPr spc="-40" dirty="0">
                <a:ea typeface="微软雅黑" panose="020B0503020204020204" charset="-122"/>
              </a:rPr>
              <a:t> </a:t>
            </a:r>
            <a:r>
              <a:rPr b="0" spc="-5" dirty="0">
                <a:ea typeface="微软雅黑" panose="020B0503020204020204" charset="-122"/>
              </a:rPr>
              <a:t>高级技术咨询</a:t>
            </a:r>
            <a:endParaRPr b="0" spc="-5" dirty="0">
              <a:ea typeface="微软雅黑" panose="020B0503020204020204" charset="-122"/>
            </a:endParaRPr>
          </a:p>
          <a:p>
            <a:pPr marL="2577465" indent="-192405">
              <a:lnSpc>
                <a:spcPts val="1100"/>
              </a:lnSpc>
              <a:buClr>
                <a:srgbClr val="00295F"/>
              </a:buClr>
              <a:buSzPct val="125000"/>
              <a:buFont typeface="Arial" panose="020B0604020202020204"/>
              <a:buChar char="▪"/>
              <a:tabLst>
                <a:tab pos="2578100" algn="l"/>
                <a:tab pos="2578735" algn="l"/>
              </a:tabLst>
            </a:pPr>
            <a:r>
              <a:rPr dirty="0">
                <a:ea typeface="微软雅黑" panose="020B0503020204020204" charset="-122"/>
              </a:rPr>
              <a:t>远程渠</a:t>
            </a:r>
            <a:r>
              <a:rPr spc="5" dirty="0">
                <a:ea typeface="微软雅黑" panose="020B0503020204020204" charset="-122"/>
              </a:rPr>
              <a:t>道</a:t>
            </a:r>
            <a:r>
              <a:rPr b="0" spc="-5" dirty="0">
                <a:ea typeface="微软雅黑" panose="020B0503020204020204" charset="-122"/>
              </a:rPr>
              <a:t>:</a:t>
            </a:r>
            <a:endParaRPr b="0" spc="-5" dirty="0">
              <a:ea typeface="微软雅黑" panose="020B0503020204020204" charset="-122"/>
            </a:endParaRPr>
          </a:p>
          <a:p>
            <a:pPr marL="2840990" lvl="1" indent="-262890">
              <a:lnSpc>
                <a:spcPts val="1340"/>
              </a:lnSpc>
              <a:buClr>
                <a:srgbClr val="00295F"/>
              </a:buClr>
              <a:buSzPct val="120000"/>
              <a:buFont typeface="Arial" panose="020B0604020202020204"/>
              <a:buChar char="–"/>
              <a:tabLst>
                <a:tab pos="2841625" algn="l"/>
                <a:tab pos="2842260" algn="l"/>
              </a:tabLst>
            </a:pPr>
            <a:r>
              <a:rPr sz="1000" spc="-5" dirty="0">
                <a:ea typeface="微软雅黑" panose="020B0503020204020204" charset="-122"/>
              </a:rPr>
              <a:t>电子渠道提供产品信</a:t>
            </a:r>
            <a:r>
              <a:rPr sz="1000" spc="-25" dirty="0">
                <a:ea typeface="微软雅黑" panose="020B0503020204020204" charset="-122"/>
              </a:rPr>
              <a:t>息</a:t>
            </a:r>
            <a:r>
              <a:rPr sz="1000" spc="-10" dirty="0">
                <a:ea typeface="微软雅黑" panose="020B0503020204020204" charset="-122"/>
              </a:rPr>
              <a:t>/</a:t>
            </a:r>
            <a:r>
              <a:rPr sz="1000" spc="-5" dirty="0">
                <a:ea typeface="微软雅黑" panose="020B0503020204020204" charset="-122"/>
              </a:rPr>
              <a:t>比较和基本</a:t>
            </a:r>
            <a:r>
              <a:rPr sz="1000" spc="5" dirty="0">
                <a:ea typeface="微软雅黑" panose="020B0503020204020204" charset="-122"/>
              </a:rPr>
              <a:t>的</a:t>
            </a:r>
            <a:r>
              <a:rPr sz="1000" spc="-5" dirty="0">
                <a:ea typeface="微软雅黑" panose="020B0503020204020204" charset="-122"/>
              </a:rPr>
              <a:t>技术</a:t>
            </a:r>
            <a:r>
              <a:rPr sz="1000" spc="5" dirty="0">
                <a:ea typeface="微软雅黑" panose="020B0503020204020204" charset="-122"/>
              </a:rPr>
              <a:t>支</a:t>
            </a:r>
            <a:r>
              <a:rPr sz="1000" spc="-5" dirty="0">
                <a:ea typeface="微软雅黑" panose="020B0503020204020204" charset="-122"/>
              </a:rPr>
              <a:t>持和</a:t>
            </a:r>
            <a:r>
              <a:rPr sz="1000" spc="5" dirty="0">
                <a:ea typeface="微软雅黑" panose="020B0503020204020204" charset="-122"/>
              </a:rPr>
              <a:t>订</a:t>
            </a:r>
            <a:r>
              <a:rPr sz="1000" spc="-5" dirty="0">
                <a:ea typeface="微软雅黑" panose="020B0503020204020204" charset="-122"/>
              </a:rPr>
              <a:t>单跟</a:t>
            </a:r>
            <a:r>
              <a:rPr sz="1000" spc="5" dirty="0">
                <a:ea typeface="微软雅黑" panose="020B0503020204020204" charset="-122"/>
              </a:rPr>
              <a:t>踪</a:t>
            </a:r>
            <a:r>
              <a:rPr sz="1000" spc="-5" dirty="0">
                <a:ea typeface="微软雅黑" panose="020B0503020204020204" charset="-122"/>
              </a:rPr>
              <a:t>服务</a:t>
            </a:r>
            <a:endParaRPr sz="1000">
              <a:ea typeface="微软雅黑" panose="020B0503020204020204" charset="-122"/>
            </a:endParaRPr>
          </a:p>
        </p:txBody>
      </p:sp>
      <p:sp>
        <p:nvSpPr>
          <p:cNvPr id="14" name="object 14"/>
          <p:cNvSpPr txBox="1"/>
          <p:nvPr/>
        </p:nvSpPr>
        <p:spPr>
          <a:xfrm>
            <a:off x="3698413" y="3109455"/>
            <a:ext cx="3207652" cy="1247775"/>
          </a:xfrm>
          <a:prstGeom prst="rect">
            <a:avLst/>
          </a:prstGeom>
        </p:spPr>
        <p:txBody>
          <a:bodyPr vert="horz" wrap="square" lIns="0" tIns="12056" rIns="0" bIns="0" rtlCol="0">
            <a:spAutoFit/>
          </a:bodyPr>
          <a:lstStyle/>
          <a:p>
            <a:pPr marL="204470" indent="-192405">
              <a:lnSpc>
                <a:spcPct val="100000"/>
              </a:lnSpc>
              <a:spcBef>
                <a:spcPts val="95"/>
              </a:spcBef>
              <a:buClr>
                <a:srgbClr val="00295F"/>
              </a:buClr>
              <a:buSzPct val="125000"/>
              <a:buFont typeface="Arial" panose="020B0604020202020204"/>
              <a:buChar char="▪"/>
              <a:tabLst>
                <a:tab pos="204470" algn="l"/>
                <a:tab pos="204470" algn="l"/>
              </a:tabLst>
            </a:pPr>
            <a:r>
              <a:rPr sz="1000" b="1" spc="5" dirty="0">
                <a:latin typeface="微软雅黑" panose="020B0503020204020204" charset="-122"/>
                <a:ea typeface="微软雅黑" panose="020B0503020204020204" charset="-122"/>
                <a:cs typeface="微软雅黑" panose="020B0503020204020204" charset="-122"/>
              </a:rPr>
              <a:t>企业分销商</a:t>
            </a:r>
            <a:r>
              <a:rPr sz="1000" b="1" spc="-5" dirty="0">
                <a:latin typeface="微软雅黑" panose="020B0503020204020204" charset="-122"/>
                <a:ea typeface="微软雅黑" panose="020B0503020204020204" charset="-122"/>
                <a:cs typeface="微软雅黑" panose="020B0503020204020204" charset="-122"/>
              </a:rPr>
              <a:t>管理</a:t>
            </a:r>
            <a:r>
              <a:rPr sz="1000" b="1" spc="5" dirty="0">
                <a:latin typeface="微软雅黑" panose="020B0503020204020204" charset="-122"/>
                <a:ea typeface="微软雅黑" panose="020B0503020204020204" charset="-122"/>
                <a:cs typeface="微软雅黑" panose="020B0503020204020204" charset="-122"/>
              </a:rPr>
              <a:t>人</a:t>
            </a:r>
            <a:r>
              <a:rPr sz="1000" b="1" dirty="0">
                <a:latin typeface="微软雅黑" panose="020B0503020204020204" charset="-122"/>
                <a:ea typeface="微软雅黑" panose="020B0503020204020204" charset="-122"/>
                <a:cs typeface="微软雅黑" panose="020B0503020204020204" charset="-122"/>
              </a:rPr>
              <a:t>员</a:t>
            </a:r>
            <a:r>
              <a:rPr sz="1000" b="1" spc="-5" dirty="0">
                <a:latin typeface="微软雅黑" panose="020B0503020204020204" charset="-122"/>
                <a:ea typeface="微软雅黑" panose="020B0503020204020204" charset="-122"/>
                <a:cs typeface="微软雅黑" panose="020B0503020204020204" charset="-122"/>
              </a:rPr>
              <a:t>:</a:t>
            </a:r>
            <a:r>
              <a:rPr sz="1000" spc="-5" dirty="0">
                <a:latin typeface="微软雅黑" panose="020B0503020204020204" charset="-122"/>
                <a:ea typeface="微软雅黑" panose="020B0503020204020204" charset="-122"/>
                <a:cs typeface="微软雅黑" panose="020B0503020204020204" charset="-122"/>
              </a:rPr>
              <a:t>分销商销售流程控制和培训</a:t>
            </a:r>
            <a:endParaRPr sz="1000">
              <a:latin typeface="微软雅黑" panose="020B0503020204020204" charset="-122"/>
              <a:ea typeface="微软雅黑" panose="020B0503020204020204" charset="-122"/>
              <a:cs typeface="微软雅黑" panose="020B0503020204020204" charset="-122"/>
            </a:endParaRPr>
          </a:p>
          <a:p>
            <a:pPr marL="204470" indent="-192405">
              <a:lnSpc>
                <a:spcPct val="100000"/>
              </a:lnSpc>
              <a:buClr>
                <a:srgbClr val="00295F"/>
              </a:buClr>
              <a:buSzPct val="125000"/>
              <a:buFont typeface="Arial" panose="020B0604020202020204"/>
              <a:buChar char="▪"/>
              <a:tabLst>
                <a:tab pos="204470" algn="l"/>
                <a:tab pos="204470" algn="l"/>
              </a:tabLst>
            </a:pPr>
            <a:r>
              <a:rPr sz="1000" b="1" dirty="0">
                <a:latin typeface="微软雅黑" panose="020B0503020204020204" charset="-122"/>
                <a:ea typeface="微软雅黑" panose="020B0503020204020204" charset="-122"/>
                <a:cs typeface="微软雅黑" panose="020B0503020204020204" charset="-122"/>
              </a:rPr>
              <a:t>企业技术销</a:t>
            </a:r>
            <a:r>
              <a:rPr sz="1000" b="1" spc="-10" dirty="0">
                <a:latin typeface="微软雅黑" panose="020B0503020204020204" charset="-122"/>
                <a:ea typeface="微软雅黑" panose="020B0503020204020204" charset="-122"/>
                <a:cs typeface="微软雅黑" panose="020B0503020204020204" charset="-122"/>
              </a:rPr>
              <a:t>售</a:t>
            </a:r>
            <a:r>
              <a:rPr sz="1000" b="1" spc="-5" dirty="0">
                <a:latin typeface="微软雅黑" panose="020B0503020204020204" charset="-122"/>
                <a:ea typeface="微软雅黑" panose="020B0503020204020204" charset="-122"/>
                <a:cs typeface="微软雅黑" panose="020B0503020204020204" charset="-122"/>
              </a:rPr>
              <a:t>:</a:t>
            </a:r>
            <a:r>
              <a:rPr sz="1000" b="1" spc="-50"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为现有客户和新客户转化提供技术</a:t>
            </a:r>
            <a:r>
              <a:rPr sz="1000" dirty="0">
                <a:latin typeface="微软雅黑" panose="020B0503020204020204" charset="-122"/>
                <a:ea typeface="微软雅黑" panose="020B0503020204020204" charset="-122"/>
                <a:cs typeface="微软雅黑" panose="020B0503020204020204" charset="-122"/>
              </a:rPr>
              <a:t>支</a:t>
            </a:r>
            <a:r>
              <a:rPr sz="1000" spc="-5" dirty="0">
                <a:latin typeface="微软雅黑" panose="020B0503020204020204" charset="-122"/>
                <a:ea typeface="微软雅黑" panose="020B0503020204020204" charset="-122"/>
                <a:cs typeface="微软雅黑" panose="020B0503020204020204" charset="-122"/>
              </a:rPr>
              <a:t>持</a:t>
            </a:r>
            <a:endParaRPr sz="1000">
              <a:latin typeface="微软雅黑" panose="020B0503020204020204" charset="-122"/>
              <a:ea typeface="微软雅黑" panose="020B0503020204020204" charset="-122"/>
              <a:cs typeface="微软雅黑" panose="020B0503020204020204" charset="-122"/>
            </a:endParaRPr>
          </a:p>
          <a:p>
            <a:pPr marL="204470" indent="-192405">
              <a:lnSpc>
                <a:spcPct val="100000"/>
              </a:lnSpc>
              <a:spcBef>
                <a:spcPts val="5"/>
              </a:spcBef>
              <a:buClr>
                <a:srgbClr val="00295F"/>
              </a:buClr>
              <a:buSzPct val="125000"/>
              <a:buFont typeface="Arial" panose="020B0604020202020204"/>
              <a:buChar char="▪"/>
              <a:tabLst>
                <a:tab pos="204470" algn="l"/>
                <a:tab pos="204470" algn="l"/>
              </a:tabLst>
            </a:pPr>
            <a:r>
              <a:rPr sz="1000" b="1" spc="5" dirty="0">
                <a:latin typeface="微软雅黑" panose="020B0503020204020204" charset="-122"/>
                <a:ea typeface="微软雅黑" panose="020B0503020204020204" charset="-122"/>
                <a:cs typeface="微软雅黑" panose="020B0503020204020204" charset="-122"/>
              </a:rPr>
              <a:t>分销商</a:t>
            </a:r>
            <a:r>
              <a:rPr sz="1000" b="1" spc="-5" dirty="0">
                <a:latin typeface="微软雅黑" panose="020B0503020204020204" charset="-122"/>
                <a:ea typeface="微软雅黑" panose="020B0503020204020204" charset="-122"/>
                <a:cs typeface="微软雅黑" panose="020B0503020204020204" charset="-122"/>
              </a:rPr>
              <a:t>:</a:t>
            </a:r>
            <a:r>
              <a:rPr sz="1000" spc="-5" dirty="0">
                <a:latin typeface="微软雅黑" panose="020B0503020204020204" charset="-122"/>
                <a:ea typeface="微软雅黑" panose="020B0503020204020204" charset="-122"/>
                <a:cs typeface="微软雅黑" panose="020B0503020204020204" charset="-122"/>
              </a:rPr>
              <a:t>全面负责客户关系开发和维护</a:t>
            </a:r>
            <a:endParaRPr sz="1000">
              <a:latin typeface="微软雅黑" panose="020B0503020204020204" charset="-122"/>
              <a:ea typeface="微软雅黑" panose="020B0503020204020204" charset="-122"/>
              <a:cs typeface="微软雅黑" panose="020B0503020204020204" charset="-122"/>
            </a:endParaRPr>
          </a:p>
          <a:p>
            <a:pPr marL="204470" indent="-192405">
              <a:lnSpc>
                <a:spcPts val="1100"/>
              </a:lnSpc>
              <a:buClr>
                <a:srgbClr val="00295F"/>
              </a:buClr>
              <a:buSzPct val="125000"/>
              <a:buFont typeface="Arial" panose="020B0604020202020204"/>
              <a:buChar char="▪"/>
              <a:tabLst>
                <a:tab pos="204470" algn="l"/>
                <a:tab pos="204470" algn="l"/>
              </a:tabLst>
            </a:pPr>
            <a:r>
              <a:rPr sz="1000" b="1" spc="5" dirty="0">
                <a:latin typeface="微软雅黑" panose="020B0503020204020204" charset="-122"/>
                <a:ea typeface="微软雅黑" panose="020B0503020204020204" charset="-122"/>
                <a:cs typeface="微软雅黑" panose="020B0503020204020204" charset="-122"/>
              </a:rPr>
              <a:t>远程渠道</a:t>
            </a:r>
            <a:r>
              <a:rPr sz="1000" b="1" spc="-5" dirty="0">
                <a:latin typeface="微软雅黑" panose="020B0503020204020204" charset="-122"/>
                <a:ea typeface="微软雅黑" panose="020B0503020204020204" charset="-122"/>
                <a:cs typeface="微软雅黑" panose="020B0503020204020204" charset="-122"/>
              </a:rPr>
              <a:t>:</a:t>
            </a:r>
            <a:endParaRPr sz="1000">
              <a:latin typeface="微软雅黑" panose="020B0503020204020204" charset="-122"/>
              <a:ea typeface="微软雅黑" panose="020B0503020204020204" charset="-122"/>
              <a:cs typeface="微软雅黑" panose="020B0503020204020204" charset="-122"/>
            </a:endParaRPr>
          </a:p>
          <a:p>
            <a:pPr marL="467995" lvl="1" indent="-262890">
              <a:lnSpc>
                <a:spcPts val="1220"/>
              </a:lnSpc>
              <a:buClr>
                <a:srgbClr val="00295F"/>
              </a:buClr>
              <a:buSzPct val="120000"/>
              <a:buFont typeface="Arial" panose="020B0604020202020204"/>
              <a:buChar char="–"/>
              <a:tabLst>
                <a:tab pos="467995" algn="l"/>
                <a:tab pos="468630" algn="l"/>
              </a:tabLst>
            </a:pPr>
            <a:r>
              <a:rPr sz="1000" spc="-5" dirty="0">
                <a:latin typeface="微软雅黑" panose="020B0503020204020204" charset="-122"/>
                <a:ea typeface="微软雅黑" panose="020B0503020204020204" charset="-122"/>
                <a:cs typeface="微软雅黑" panose="020B0503020204020204" charset="-122"/>
              </a:rPr>
              <a:t>电子渠道提供产品信</a:t>
            </a:r>
            <a:r>
              <a:rPr sz="1000" spc="-25" dirty="0">
                <a:latin typeface="微软雅黑" panose="020B0503020204020204" charset="-122"/>
                <a:ea typeface="微软雅黑" panose="020B0503020204020204" charset="-122"/>
                <a:cs typeface="微软雅黑" panose="020B0503020204020204" charset="-122"/>
              </a:rPr>
              <a:t>息</a:t>
            </a:r>
            <a:r>
              <a:rPr sz="1000" spc="-10" dirty="0">
                <a:latin typeface="微软雅黑" panose="020B0503020204020204" charset="-122"/>
                <a:ea typeface="微软雅黑" panose="020B0503020204020204" charset="-122"/>
                <a:cs typeface="微软雅黑" panose="020B0503020204020204" charset="-122"/>
              </a:rPr>
              <a:t>/</a:t>
            </a:r>
            <a:r>
              <a:rPr sz="1000" spc="-5" dirty="0">
                <a:latin typeface="微软雅黑" panose="020B0503020204020204" charset="-122"/>
                <a:ea typeface="微软雅黑" panose="020B0503020204020204" charset="-122"/>
                <a:cs typeface="微软雅黑" panose="020B0503020204020204" charset="-122"/>
              </a:rPr>
              <a:t>比较和基本</a:t>
            </a:r>
            <a:r>
              <a:rPr sz="1000" spc="5" dirty="0">
                <a:latin typeface="微软雅黑" panose="020B0503020204020204" charset="-122"/>
                <a:ea typeface="微软雅黑" panose="020B0503020204020204" charset="-122"/>
                <a:cs typeface="微软雅黑" panose="020B0503020204020204" charset="-122"/>
              </a:rPr>
              <a:t>的</a:t>
            </a:r>
            <a:r>
              <a:rPr sz="1000" spc="-5" dirty="0">
                <a:latin typeface="微软雅黑" panose="020B0503020204020204" charset="-122"/>
                <a:ea typeface="微软雅黑" panose="020B0503020204020204" charset="-122"/>
                <a:cs typeface="微软雅黑" panose="020B0503020204020204" charset="-122"/>
              </a:rPr>
              <a:t>技术</a:t>
            </a:r>
            <a:r>
              <a:rPr sz="1000" spc="5" dirty="0">
                <a:latin typeface="微软雅黑" panose="020B0503020204020204" charset="-122"/>
                <a:ea typeface="微软雅黑" panose="020B0503020204020204" charset="-122"/>
                <a:cs typeface="微软雅黑" panose="020B0503020204020204" charset="-122"/>
              </a:rPr>
              <a:t>支</a:t>
            </a:r>
            <a:r>
              <a:rPr sz="1000" spc="-5" dirty="0">
                <a:latin typeface="微软雅黑" panose="020B0503020204020204" charset="-122"/>
                <a:ea typeface="微软雅黑" panose="020B0503020204020204" charset="-122"/>
                <a:cs typeface="微软雅黑" panose="020B0503020204020204" charset="-122"/>
              </a:rPr>
              <a:t>持</a:t>
            </a:r>
            <a:endParaRPr sz="1000">
              <a:latin typeface="微软雅黑" panose="020B0503020204020204" charset="-122"/>
              <a:ea typeface="微软雅黑" panose="020B0503020204020204" charset="-122"/>
              <a:cs typeface="微软雅黑" panose="020B0503020204020204" charset="-122"/>
            </a:endParaRPr>
          </a:p>
          <a:p>
            <a:pPr marL="467995" lvl="1" indent="-262890">
              <a:lnSpc>
                <a:spcPts val="1200"/>
              </a:lnSpc>
              <a:buClr>
                <a:srgbClr val="00295F"/>
              </a:buClr>
              <a:buSzPct val="120000"/>
              <a:buFont typeface="Arial" panose="020B0604020202020204"/>
              <a:buChar char="–"/>
              <a:tabLst>
                <a:tab pos="467995" algn="l"/>
                <a:tab pos="468630" algn="l"/>
              </a:tabLst>
            </a:pPr>
            <a:r>
              <a:rPr sz="1000" spc="-5" dirty="0">
                <a:latin typeface="微软雅黑" panose="020B0503020204020204" charset="-122"/>
                <a:ea typeface="微软雅黑" panose="020B0503020204020204" charset="-122"/>
                <a:cs typeface="微软雅黑" panose="020B0503020204020204" charset="-122"/>
              </a:rPr>
              <a:t>呼叫中心</a:t>
            </a:r>
            <a:endParaRPr sz="1000">
              <a:latin typeface="微软雅黑" panose="020B0503020204020204" charset="-122"/>
              <a:ea typeface="微软雅黑" panose="020B0503020204020204" charset="-122"/>
              <a:cs typeface="微软雅黑" panose="020B0503020204020204" charset="-122"/>
            </a:endParaRPr>
          </a:p>
          <a:p>
            <a:pPr marL="469900">
              <a:lnSpc>
                <a:spcPts val="1200"/>
              </a:lnSpc>
            </a:pPr>
            <a:r>
              <a:rPr sz="1200" dirty="0">
                <a:solidFill>
                  <a:srgbClr val="00295F"/>
                </a:solidFill>
                <a:latin typeface="微软雅黑" panose="020B0503020204020204" charset="-122"/>
                <a:ea typeface="微软雅黑" panose="020B0503020204020204" charset="-122"/>
                <a:cs typeface="微软雅黑" panose="020B0503020204020204" charset="-122"/>
              </a:rPr>
              <a:t>▫</a:t>
            </a:r>
            <a:r>
              <a:rPr sz="1200" spc="120" dirty="0">
                <a:solidFill>
                  <a:srgbClr val="00295F"/>
                </a:solidFill>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接触潜在客户确定新的客户线索</a:t>
            </a:r>
            <a:endParaRPr sz="1000">
              <a:latin typeface="微软雅黑" panose="020B0503020204020204" charset="-122"/>
              <a:ea typeface="微软雅黑" panose="020B0503020204020204" charset="-122"/>
              <a:cs typeface="微软雅黑" panose="020B0503020204020204" charset="-122"/>
            </a:endParaRPr>
          </a:p>
          <a:p>
            <a:pPr marL="469900">
              <a:lnSpc>
                <a:spcPts val="1320"/>
              </a:lnSpc>
            </a:pPr>
            <a:r>
              <a:rPr sz="1200" dirty="0">
                <a:solidFill>
                  <a:srgbClr val="00295F"/>
                </a:solidFill>
                <a:latin typeface="微软雅黑" panose="020B0503020204020204" charset="-122"/>
                <a:ea typeface="微软雅黑" panose="020B0503020204020204" charset="-122"/>
                <a:cs typeface="微软雅黑" panose="020B0503020204020204" charset="-122"/>
              </a:rPr>
              <a:t>▫</a:t>
            </a:r>
            <a:r>
              <a:rPr sz="1200" spc="120" dirty="0">
                <a:solidFill>
                  <a:srgbClr val="00295F"/>
                </a:solidFill>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提供基本的产品和技术信息</a:t>
            </a:r>
            <a:endParaRPr sz="1000">
              <a:latin typeface="微软雅黑" panose="020B0503020204020204" charset="-122"/>
              <a:ea typeface="微软雅黑" panose="020B0503020204020204" charset="-122"/>
              <a:cs typeface="微软雅黑" panose="020B0503020204020204" charset="-122"/>
            </a:endParaRPr>
          </a:p>
        </p:txBody>
      </p:sp>
      <p:sp>
        <p:nvSpPr>
          <p:cNvPr id="15" name="object 15"/>
          <p:cNvSpPr txBox="1"/>
          <p:nvPr/>
        </p:nvSpPr>
        <p:spPr>
          <a:xfrm>
            <a:off x="3698413" y="4893176"/>
            <a:ext cx="3047110" cy="1247140"/>
          </a:xfrm>
          <a:prstGeom prst="rect">
            <a:avLst/>
          </a:prstGeom>
        </p:spPr>
        <p:txBody>
          <a:bodyPr vert="horz" wrap="square" lIns="0" tIns="12056" rIns="0" bIns="0" rtlCol="0">
            <a:spAutoFit/>
          </a:bodyPr>
          <a:lstStyle/>
          <a:p>
            <a:pPr marL="204470" indent="-192405">
              <a:lnSpc>
                <a:spcPct val="100000"/>
              </a:lnSpc>
              <a:spcBef>
                <a:spcPts val="95"/>
              </a:spcBef>
              <a:buClr>
                <a:srgbClr val="00295F"/>
              </a:buClr>
              <a:buSzPct val="125000"/>
              <a:buFont typeface="Arial" panose="020B0604020202020204"/>
              <a:buChar char="▪"/>
              <a:tabLst>
                <a:tab pos="204470" algn="l"/>
                <a:tab pos="204470" algn="l"/>
              </a:tabLst>
            </a:pPr>
            <a:r>
              <a:rPr sz="1000" b="1" spc="5" dirty="0">
                <a:latin typeface="微软雅黑" panose="020B0503020204020204" charset="-122"/>
                <a:ea typeface="微软雅黑" panose="020B0503020204020204" charset="-122"/>
                <a:cs typeface="微软雅黑" panose="020B0503020204020204" charset="-122"/>
              </a:rPr>
              <a:t>企业分销商</a:t>
            </a:r>
            <a:r>
              <a:rPr sz="1000" b="1" spc="-5" dirty="0">
                <a:latin typeface="微软雅黑" panose="020B0503020204020204" charset="-122"/>
                <a:ea typeface="微软雅黑" panose="020B0503020204020204" charset="-122"/>
                <a:cs typeface="微软雅黑" panose="020B0503020204020204" charset="-122"/>
              </a:rPr>
              <a:t>管理</a:t>
            </a:r>
            <a:r>
              <a:rPr sz="1000" b="1" spc="5" dirty="0">
                <a:latin typeface="微软雅黑" panose="020B0503020204020204" charset="-122"/>
                <a:ea typeface="微软雅黑" panose="020B0503020204020204" charset="-122"/>
                <a:cs typeface="微软雅黑" panose="020B0503020204020204" charset="-122"/>
              </a:rPr>
              <a:t>人</a:t>
            </a:r>
            <a:r>
              <a:rPr sz="1000" b="1" dirty="0">
                <a:latin typeface="微软雅黑" panose="020B0503020204020204" charset="-122"/>
                <a:ea typeface="微软雅黑" panose="020B0503020204020204" charset="-122"/>
                <a:cs typeface="微软雅黑" panose="020B0503020204020204" charset="-122"/>
              </a:rPr>
              <a:t>员</a:t>
            </a:r>
            <a:r>
              <a:rPr sz="1000" b="1" spc="-5" dirty="0">
                <a:latin typeface="微软雅黑" panose="020B0503020204020204" charset="-122"/>
                <a:ea typeface="微软雅黑" panose="020B0503020204020204" charset="-122"/>
                <a:cs typeface="微软雅黑" panose="020B0503020204020204" charset="-122"/>
              </a:rPr>
              <a:t>:</a:t>
            </a:r>
            <a:r>
              <a:rPr sz="1000" b="1" spc="-55"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分销商销售流程控制和培训</a:t>
            </a:r>
            <a:endParaRPr sz="1000">
              <a:latin typeface="微软雅黑" panose="020B0503020204020204" charset="-122"/>
              <a:ea typeface="微软雅黑" panose="020B0503020204020204" charset="-122"/>
              <a:cs typeface="微软雅黑" panose="020B0503020204020204" charset="-122"/>
            </a:endParaRPr>
          </a:p>
          <a:p>
            <a:pPr marL="204470" indent="-192405">
              <a:lnSpc>
                <a:spcPct val="100000"/>
              </a:lnSpc>
              <a:buClr>
                <a:srgbClr val="00295F"/>
              </a:buClr>
              <a:buSzPct val="125000"/>
              <a:buFont typeface="Arial" panose="020B0604020202020204"/>
              <a:buChar char="▪"/>
              <a:tabLst>
                <a:tab pos="204470" algn="l"/>
                <a:tab pos="204470" algn="l"/>
              </a:tabLst>
            </a:pPr>
            <a:r>
              <a:rPr sz="1000" b="1" spc="5" dirty="0">
                <a:latin typeface="微软雅黑" panose="020B0503020204020204" charset="-122"/>
                <a:ea typeface="微软雅黑" panose="020B0503020204020204" charset="-122"/>
                <a:cs typeface="微软雅黑" panose="020B0503020204020204" charset="-122"/>
              </a:rPr>
              <a:t>企业技术销</a:t>
            </a:r>
            <a:r>
              <a:rPr sz="1000" b="1" spc="-5" dirty="0">
                <a:latin typeface="微软雅黑" panose="020B0503020204020204" charset="-122"/>
                <a:ea typeface="微软雅黑" panose="020B0503020204020204" charset="-122"/>
                <a:cs typeface="微软雅黑" panose="020B0503020204020204" charset="-122"/>
              </a:rPr>
              <a:t>售:</a:t>
            </a:r>
            <a:r>
              <a:rPr sz="1000" b="1" spc="-40"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分销商技术培训</a:t>
            </a:r>
            <a:endParaRPr sz="1000">
              <a:latin typeface="微软雅黑" panose="020B0503020204020204" charset="-122"/>
              <a:ea typeface="微软雅黑" panose="020B0503020204020204" charset="-122"/>
              <a:cs typeface="微软雅黑" panose="020B0503020204020204" charset="-122"/>
            </a:endParaRPr>
          </a:p>
          <a:p>
            <a:pPr marL="204470" indent="-192405">
              <a:lnSpc>
                <a:spcPct val="100000"/>
              </a:lnSpc>
              <a:buClr>
                <a:srgbClr val="00295F"/>
              </a:buClr>
              <a:buSzPct val="125000"/>
              <a:buFont typeface="Arial" panose="020B0604020202020204"/>
              <a:buChar char="▪"/>
              <a:tabLst>
                <a:tab pos="204470" algn="l"/>
                <a:tab pos="204470" algn="l"/>
              </a:tabLst>
            </a:pPr>
            <a:r>
              <a:rPr sz="1000" b="1" spc="5" dirty="0">
                <a:latin typeface="微软雅黑" panose="020B0503020204020204" charset="-122"/>
                <a:ea typeface="微软雅黑" panose="020B0503020204020204" charset="-122"/>
                <a:cs typeface="微软雅黑" panose="020B0503020204020204" charset="-122"/>
              </a:rPr>
              <a:t>分销商</a:t>
            </a:r>
            <a:r>
              <a:rPr sz="1000" b="1" spc="-5" dirty="0">
                <a:latin typeface="微软雅黑" panose="020B0503020204020204" charset="-122"/>
                <a:ea typeface="微软雅黑" panose="020B0503020204020204" charset="-122"/>
                <a:cs typeface="微软雅黑" panose="020B0503020204020204" charset="-122"/>
              </a:rPr>
              <a:t>:</a:t>
            </a:r>
            <a:r>
              <a:rPr sz="1000" b="1" spc="-30"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全面负责客户关系开发和维护</a:t>
            </a:r>
            <a:endParaRPr sz="1000">
              <a:latin typeface="微软雅黑" panose="020B0503020204020204" charset="-122"/>
              <a:ea typeface="微软雅黑" panose="020B0503020204020204" charset="-122"/>
              <a:cs typeface="微软雅黑" panose="020B0503020204020204" charset="-122"/>
            </a:endParaRPr>
          </a:p>
          <a:p>
            <a:pPr marL="204470" indent="-192405">
              <a:lnSpc>
                <a:spcPts val="1100"/>
              </a:lnSpc>
              <a:buClr>
                <a:srgbClr val="00295F"/>
              </a:buClr>
              <a:buSzPct val="125000"/>
              <a:buFont typeface="Arial" panose="020B0604020202020204"/>
              <a:buChar char="▪"/>
              <a:tabLst>
                <a:tab pos="204470" algn="l"/>
                <a:tab pos="204470" algn="l"/>
              </a:tabLst>
            </a:pPr>
            <a:r>
              <a:rPr sz="1000" b="1" spc="5" dirty="0">
                <a:latin typeface="微软雅黑" panose="020B0503020204020204" charset="-122"/>
                <a:ea typeface="微软雅黑" panose="020B0503020204020204" charset="-122"/>
                <a:cs typeface="微软雅黑" panose="020B0503020204020204" charset="-122"/>
              </a:rPr>
              <a:t>远程渠道</a:t>
            </a:r>
            <a:r>
              <a:rPr sz="1000" b="1" spc="-5" dirty="0">
                <a:latin typeface="微软雅黑" panose="020B0503020204020204" charset="-122"/>
                <a:ea typeface="微软雅黑" panose="020B0503020204020204" charset="-122"/>
                <a:cs typeface="微软雅黑" panose="020B0503020204020204" charset="-122"/>
              </a:rPr>
              <a:t>:</a:t>
            </a:r>
            <a:endParaRPr sz="1000">
              <a:latin typeface="微软雅黑" panose="020B0503020204020204" charset="-122"/>
              <a:ea typeface="微软雅黑" panose="020B0503020204020204" charset="-122"/>
              <a:cs typeface="微软雅黑" panose="020B0503020204020204" charset="-122"/>
            </a:endParaRPr>
          </a:p>
          <a:p>
            <a:pPr marL="467995" lvl="1" indent="-262890">
              <a:lnSpc>
                <a:spcPts val="1220"/>
              </a:lnSpc>
              <a:buClr>
                <a:srgbClr val="00295F"/>
              </a:buClr>
              <a:buSzPct val="120000"/>
              <a:buFont typeface="Arial" panose="020B0604020202020204"/>
              <a:buChar char="–"/>
              <a:tabLst>
                <a:tab pos="467995" algn="l"/>
                <a:tab pos="468630" algn="l"/>
              </a:tabLst>
            </a:pPr>
            <a:r>
              <a:rPr sz="1000" spc="-5" dirty="0">
                <a:latin typeface="微软雅黑" panose="020B0503020204020204" charset="-122"/>
                <a:ea typeface="微软雅黑" panose="020B0503020204020204" charset="-122"/>
                <a:cs typeface="微软雅黑" panose="020B0503020204020204" charset="-122"/>
              </a:rPr>
              <a:t>电子渠道提供产品信</a:t>
            </a:r>
            <a:r>
              <a:rPr sz="1000" spc="-25" dirty="0">
                <a:latin typeface="微软雅黑" panose="020B0503020204020204" charset="-122"/>
                <a:ea typeface="微软雅黑" panose="020B0503020204020204" charset="-122"/>
                <a:cs typeface="微软雅黑" panose="020B0503020204020204" charset="-122"/>
              </a:rPr>
              <a:t>息</a:t>
            </a:r>
            <a:r>
              <a:rPr sz="1000" spc="-10" dirty="0">
                <a:latin typeface="微软雅黑" panose="020B0503020204020204" charset="-122"/>
                <a:ea typeface="微软雅黑" panose="020B0503020204020204" charset="-122"/>
                <a:cs typeface="微软雅黑" panose="020B0503020204020204" charset="-122"/>
              </a:rPr>
              <a:t>/</a:t>
            </a:r>
            <a:r>
              <a:rPr sz="1000" spc="-5" dirty="0">
                <a:latin typeface="微软雅黑" panose="020B0503020204020204" charset="-122"/>
                <a:ea typeface="微软雅黑" panose="020B0503020204020204" charset="-122"/>
                <a:cs typeface="微软雅黑" panose="020B0503020204020204" charset="-122"/>
              </a:rPr>
              <a:t>比较和基本</a:t>
            </a:r>
            <a:r>
              <a:rPr sz="1000" spc="5" dirty="0">
                <a:latin typeface="微软雅黑" panose="020B0503020204020204" charset="-122"/>
                <a:ea typeface="微软雅黑" panose="020B0503020204020204" charset="-122"/>
                <a:cs typeface="微软雅黑" panose="020B0503020204020204" charset="-122"/>
              </a:rPr>
              <a:t>的</a:t>
            </a:r>
            <a:r>
              <a:rPr sz="1000" spc="-5" dirty="0">
                <a:latin typeface="微软雅黑" panose="020B0503020204020204" charset="-122"/>
                <a:ea typeface="微软雅黑" panose="020B0503020204020204" charset="-122"/>
                <a:cs typeface="微软雅黑" panose="020B0503020204020204" charset="-122"/>
              </a:rPr>
              <a:t>技术</a:t>
            </a:r>
            <a:r>
              <a:rPr sz="1000" spc="5" dirty="0">
                <a:latin typeface="微软雅黑" panose="020B0503020204020204" charset="-122"/>
                <a:ea typeface="微软雅黑" panose="020B0503020204020204" charset="-122"/>
                <a:cs typeface="微软雅黑" panose="020B0503020204020204" charset="-122"/>
              </a:rPr>
              <a:t>支</a:t>
            </a:r>
            <a:r>
              <a:rPr sz="1000" spc="-5" dirty="0">
                <a:latin typeface="微软雅黑" panose="020B0503020204020204" charset="-122"/>
                <a:ea typeface="微软雅黑" panose="020B0503020204020204" charset="-122"/>
                <a:cs typeface="微软雅黑" panose="020B0503020204020204" charset="-122"/>
              </a:rPr>
              <a:t>持</a:t>
            </a:r>
            <a:endParaRPr sz="1000">
              <a:latin typeface="微软雅黑" panose="020B0503020204020204" charset="-122"/>
              <a:ea typeface="微软雅黑" panose="020B0503020204020204" charset="-122"/>
              <a:cs typeface="微软雅黑" panose="020B0503020204020204" charset="-122"/>
            </a:endParaRPr>
          </a:p>
          <a:p>
            <a:pPr marL="467995" lvl="1" indent="-262890">
              <a:lnSpc>
                <a:spcPts val="1200"/>
              </a:lnSpc>
              <a:buClr>
                <a:srgbClr val="00295F"/>
              </a:buClr>
              <a:buSzPct val="120000"/>
              <a:buFont typeface="Arial" panose="020B0604020202020204"/>
              <a:buChar char="–"/>
              <a:tabLst>
                <a:tab pos="467995" algn="l"/>
                <a:tab pos="468630" algn="l"/>
              </a:tabLst>
            </a:pPr>
            <a:r>
              <a:rPr sz="1000" spc="-5" dirty="0">
                <a:latin typeface="微软雅黑" panose="020B0503020204020204" charset="-122"/>
                <a:ea typeface="微软雅黑" panose="020B0503020204020204" charset="-122"/>
                <a:cs typeface="微软雅黑" panose="020B0503020204020204" charset="-122"/>
              </a:rPr>
              <a:t>呼叫中心</a:t>
            </a:r>
            <a:endParaRPr sz="1000">
              <a:latin typeface="微软雅黑" panose="020B0503020204020204" charset="-122"/>
              <a:ea typeface="微软雅黑" panose="020B0503020204020204" charset="-122"/>
              <a:cs typeface="微软雅黑" panose="020B0503020204020204" charset="-122"/>
            </a:endParaRPr>
          </a:p>
          <a:p>
            <a:pPr marL="469900">
              <a:lnSpc>
                <a:spcPts val="1200"/>
              </a:lnSpc>
            </a:pPr>
            <a:r>
              <a:rPr sz="1200" dirty="0">
                <a:solidFill>
                  <a:srgbClr val="00295F"/>
                </a:solidFill>
                <a:latin typeface="微软雅黑" panose="020B0503020204020204" charset="-122"/>
                <a:ea typeface="微软雅黑" panose="020B0503020204020204" charset="-122"/>
                <a:cs typeface="微软雅黑" panose="020B0503020204020204" charset="-122"/>
              </a:rPr>
              <a:t>▫</a:t>
            </a:r>
            <a:r>
              <a:rPr sz="1200" spc="120" dirty="0">
                <a:solidFill>
                  <a:srgbClr val="00295F"/>
                </a:solidFill>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接触潜在客户确定新的客户线索</a:t>
            </a:r>
            <a:endParaRPr sz="1000">
              <a:latin typeface="微软雅黑" panose="020B0503020204020204" charset="-122"/>
              <a:ea typeface="微软雅黑" panose="020B0503020204020204" charset="-122"/>
              <a:cs typeface="微软雅黑" panose="020B0503020204020204" charset="-122"/>
            </a:endParaRPr>
          </a:p>
          <a:p>
            <a:pPr marL="469900">
              <a:lnSpc>
                <a:spcPts val="1320"/>
              </a:lnSpc>
            </a:pPr>
            <a:r>
              <a:rPr sz="1200" dirty="0">
                <a:solidFill>
                  <a:srgbClr val="00295F"/>
                </a:solidFill>
                <a:latin typeface="微软雅黑" panose="020B0503020204020204" charset="-122"/>
                <a:ea typeface="微软雅黑" panose="020B0503020204020204" charset="-122"/>
                <a:cs typeface="微软雅黑" panose="020B0503020204020204" charset="-122"/>
              </a:rPr>
              <a:t>▫</a:t>
            </a:r>
            <a:r>
              <a:rPr sz="1200" spc="120" dirty="0">
                <a:solidFill>
                  <a:srgbClr val="00295F"/>
                </a:solidFill>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提供基本的产品和技术信息</a:t>
            </a:r>
            <a:endParaRPr sz="1000">
              <a:latin typeface="微软雅黑" panose="020B0503020204020204" charset="-122"/>
              <a:ea typeface="微软雅黑" panose="020B0503020204020204" charset="-122"/>
              <a:cs typeface="微软雅黑" panose="020B0503020204020204" charset="-122"/>
            </a:endParaRPr>
          </a:p>
        </p:txBody>
      </p:sp>
      <p:sp>
        <p:nvSpPr>
          <p:cNvPr id="16" name="object 16"/>
          <p:cNvSpPr/>
          <p:nvPr/>
        </p:nvSpPr>
        <p:spPr>
          <a:xfrm>
            <a:off x="7454697" y="1118618"/>
            <a:ext cx="1198665" cy="0"/>
          </a:xfrm>
          <a:custGeom>
            <a:avLst/>
            <a:gdLst/>
            <a:ahLst/>
            <a:cxnLst/>
            <a:rect l="l" t="t" r="r" b="b"/>
            <a:pathLst>
              <a:path w="1199515">
                <a:moveTo>
                  <a:pt x="0" y="0"/>
                </a:moveTo>
                <a:lnTo>
                  <a:pt x="1199388" y="0"/>
                </a:lnTo>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p:nvPr/>
        </p:nvSpPr>
        <p:spPr>
          <a:xfrm>
            <a:off x="1618864" y="3042066"/>
            <a:ext cx="6792226" cy="0"/>
          </a:xfrm>
          <a:custGeom>
            <a:avLst/>
            <a:gdLst/>
            <a:ahLst/>
            <a:cxnLst/>
            <a:rect l="l" t="t" r="r" b="b"/>
            <a:pathLst>
              <a:path w="6797040">
                <a:moveTo>
                  <a:pt x="0" y="0"/>
                </a:moveTo>
                <a:lnTo>
                  <a:pt x="6797040" y="0"/>
                </a:lnTo>
              </a:path>
            </a:pathLst>
          </a:custGeom>
          <a:ln w="952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p:nvPr/>
        </p:nvSpPr>
        <p:spPr>
          <a:xfrm>
            <a:off x="1618864" y="4872617"/>
            <a:ext cx="6792226" cy="0"/>
          </a:xfrm>
          <a:custGeom>
            <a:avLst/>
            <a:gdLst/>
            <a:ahLst/>
            <a:cxnLst/>
            <a:rect l="l" t="t" r="r" b="b"/>
            <a:pathLst>
              <a:path w="6797040">
                <a:moveTo>
                  <a:pt x="0" y="0"/>
                </a:moveTo>
                <a:lnTo>
                  <a:pt x="6797040" y="0"/>
                </a:lnTo>
              </a:path>
            </a:pathLst>
          </a:custGeom>
          <a:ln w="952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txBox="1"/>
          <p:nvPr/>
        </p:nvSpPr>
        <p:spPr>
          <a:xfrm>
            <a:off x="1943627" y="4954600"/>
            <a:ext cx="786842" cy="475615"/>
          </a:xfrm>
          <a:prstGeom prst="rect">
            <a:avLst/>
          </a:prstGeom>
        </p:spPr>
        <p:txBody>
          <a:bodyPr vert="horz" wrap="square" lIns="0" tIns="10787" rIns="0" bIns="0" rtlCol="0">
            <a:spAutoFit/>
          </a:bodyPr>
          <a:lstStyle/>
          <a:p>
            <a:pPr marL="12700" marR="5080">
              <a:lnSpc>
                <a:spcPct val="101000"/>
              </a:lnSpc>
              <a:spcBef>
                <a:spcPts val="85"/>
              </a:spcBef>
            </a:pPr>
            <a:r>
              <a:rPr sz="1000" b="1" spc="5" dirty="0">
                <a:latin typeface="微软雅黑" panose="020B0503020204020204" charset="-122"/>
                <a:ea typeface="微软雅黑" panose="020B0503020204020204" charset="-122"/>
                <a:cs typeface="微软雅黑" panose="020B0503020204020204" charset="-122"/>
              </a:rPr>
              <a:t>分</a:t>
            </a:r>
            <a:r>
              <a:rPr sz="1000" b="1" spc="-5" dirty="0">
                <a:latin typeface="微软雅黑" panose="020B0503020204020204" charset="-122"/>
                <a:ea typeface="微软雅黑" panose="020B0503020204020204" charset="-122"/>
                <a:cs typeface="微软雅黑" panose="020B0503020204020204" charset="-122"/>
              </a:rPr>
              <a:t>销商</a:t>
            </a:r>
            <a:r>
              <a:rPr sz="1000" b="1" spc="5" dirty="0">
                <a:latin typeface="微软雅黑" panose="020B0503020204020204" charset="-122"/>
                <a:ea typeface="微软雅黑" panose="020B0503020204020204" charset="-122"/>
                <a:cs typeface="微软雅黑" panose="020B0503020204020204" charset="-122"/>
              </a:rPr>
              <a:t>为</a:t>
            </a:r>
            <a:r>
              <a:rPr sz="1000" b="1" spc="-5" dirty="0">
                <a:latin typeface="微软雅黑" panose="020B0503020204020204" charset="-122"/>
                <a:ea typeface="微软雅黑" panose="020B0503020204020204" charset="-122"/>
                <a:cs typeface="微软雅黑" panose="020B0503020204020204" charset="-122"/>
              </a:rPr>
              <a:t>主、 </a:t>
            </a:r>
            <a:r>
              <a:rPr sz="1000" b="1" dirty="0">
                <a:latin typeface="微软雅黑" panose="020B0503020204020204" charset="-122"/>
                <a:ea typeface="微软雅黑" panose="020B0503020204020204" charset="-122"/>
                <a:cs typeface="微软雅黑" panose="020B0503020204020204" charset="-122"/>
              </a:rPr>
              <a:t>企业轻度参 </a:t>
            </a:r>
            <a:r>
              <a:rPr sz="1000" b="1" spc="-5" dirty="0">
                <a:latin typeface="微软雅黑" panose="020B0503020204020204" charset="-122"/>
                <a:ea typeface="微软雅黑" panose="020B0503020204020204" charset="-122"/>
                <a:cs typeface="微软雅黑" panose="020B0503020204020204" charset="-122"/>
              </a:rPr>
              <a:t>与</a:t>
            </a:r>
            <a:endParaRPr sz="1000">
              <a:latin typeface="微软雅黑" panose="020B0503020204020204" charset="-122"/>
              <a:ea typeface="微软雅黑" panose="020B0503020204020204" charset="-122"/>
              <a:cs typeface="微软雅黑" panose="020B0503020204020204" charset="-122"/>
            </a:endParaRPr>
          </a:p>
        </p:txBody>
      </p:sp>
      <p:sp>
        <p:nvSpPr>
          <p:cNvPr id="20" name="object 20"/>
          <p:cNvSpPr txBox="1"/>
          <p:nvPr/>
        </p:nvSpPr>
        <p:spPr>
          <a:xfrm>
            <a:off x="8078332" y="182148"/>
            <a:ext cx="482258" cy="196215"/>
          </a:xfrm>
          <a:prstGeom prst="rect">
            <a:avLst/>
          </a:prstGeom>
        </p:spPr>
        <p:txBody>
          <a:bodyPr vert="horz" wrap="square" lIns="0" tIns="12691" rIns="0" bIns="0" rtlCol="0">
            <a:spAutoFit/>
          </a:bodyPr>
          <a:lstStyle/>
          <a:p>
            <a:pPr marL="12700">
              <a:lnSpc>
                <a:spcPct val="100000"/>
              </a:lnSpc>
              <a:spcBef>
                <a:spcPts val="100"/>
              </a:spcBef>
            </a:pPr>
            <a:r>
              <a:rPr sz="1200" dirty="0">
                <a:solidFill>
                  <a:srgbClr val="808080"/>
                </a:solidFill>
                <a:latin typeface="微软雅黑" panose="020B0503020204020204" charset="-122"/>
                <a:ea typeface="微软雅黑" panose="020B0503020204020204" charset="-122"/>
                <a:cs typeface="微软雅黑" panose="020B0503020204020204" charset="-122"/>
              </a:rPr>
              <a:t>示意性</a:t>
            </a:r>
            <a:endParaRPr sz="1200" dirty="0">
              <a:solidFill>
                <a:srgbClr val="808080"/>
              </a:solidFill>
              <a:latin typeface="微软雅黑" panose="020B0503020204020204" charset="-122"/>
              <a:ea typeface="微软雅黑" panose="020B0503020204020204" charset="-122"/>
              <a:cs typeface="微软雅黑" panose="020B0503020204020204" charset="-122"/>
            </a:endParaRPr>
          </a:p>
        </p:txBody>
      </p:sp>
      <p:sp>
        <p:nvSpPr>
          <p:cNvPr id="21" name="object 21"/>
          <p:cNvSpPr/>
          <p:nvPr/>
        </p:nvSpPr>
        <p:spPr>
          <a:xfrm>
            <a:off x="8063865" y="204865"/>
            <a:ext cx="0" cy="212574"/>
          </a:xfrm>
          <a:custGeom>
            <a:avLst/>
            <a:gdLst/>
            <a:ahLst/>
            <a:cxnLst/>
            <a:rect l="l" t="t" r="r" b="b"/>
            <a:pathLst>
              <a:path h="212725">
                <a:moveTo>
                  <a:pt x="0" y="0"/>
                </a:moveTo>
                <a:lnTo>
                  <a:pt x="0" y="212725"/>
                </a:lnTo>
              </a:path>
            </a:pathLst>
          </a:custGeom>
          <a:ln w="9525">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8064626" y="418835"/>
            <a:ext cx="484162" cy="0"/>
          </a:xfrm>
          <a:custGeom>
            <a:avLst/>
            <a:gdLst/>
            <a:ahLst/>
            <a:cxnLst/>
            <a:rect l="l" t="t" r="r" b="b"/>
            <a:pathLst>
              <a:path w="484504">
                <a:moveTo>
                  <a:pt x="0" y="0"/>
                </a:moveTo>
                <a:lnTo>
                  <a:pt x="484124" y="0"/>
                </a:lnTo>
              </a:path>
            </a:pathLst>
          </a:custGeom>
          <a:ln w="25400">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txBox="1"/>
          <p:nvPr/>
        </p:nvSpPr>
        <p:spPr>
          <a:xfrm>
            <a:off x="1915072" y="942086"/>
            <a:ext cx="1637140" cy="429260"/>
          </a:xfrm>
          <a:prstGeom prst="rect">
            <a:avLst/>
          </a:prstGeom>
        </p:spPr>
        <p:txBody>
          <a:bodyPr vert="horz" wrap="square" lIns="0" tIns="12056" rIns="0" bIns="0" rtlCol="0">
            <a:spAutoFit/>
          </a:bodyPr>
          <a:lstStyle/>
          <a:p>
            <a:pPr marL="12700">
              <a:lnSpc>
                <a:spcPct val="100000"/>
              </a:lnSpc>
              <a:spcBef>
                <a:spcPts val="95"/>
              </a:spcBef>
              <a:tabLst>
                <a:tab pos="1624965" algn="l"/>
              </a:tabLst>
            </a:pPr>
            <a:r>
              <a:rPr sz="1000" b="1" u="sng" spc="-1000" dirty="0">
                <a:uFill>
                  <a:solidFill>
                    <a:srgbClr val="000000"/>
                  </a:solidFill>
                </a:uFill>
                <a:latin typeface="微软雅黑" panose="020B0503020204020204" charset="-122"/>
                <a:ea typeface="微软雅黑" panose="020B0503020204020204" charset="-122"/>
                <a:cs typeface="微软雅黑" panose="020B0503020204020204" charset="-122"/>
              </a:rPr>
              <a:t>覆</a:t>
            </a:r>
            <a:r>
              <a:rPr sz="1000" b="1" spc="675" dirty="0">
                <a:latin typeface="微软雅黑" panose="020B0503020204020204" charset="-122"/>
                <a:ea typeface="微软雅黑" panose="020B0503020204020204" charset="-122"/>
                <a:cs typeface="微软雅黑" panose="020B0503020204020204" charset="-122"/>
              </a:rPr>
              <a:t> </a:t>
            </a:r>
            <a:r>
              <a:rPr sz="1000" b="1" u="sng" spc="5" dirty="0">
                <a:uFill>
                  <a:solidFill>
                    <a:srgbClr val="000000"/>
                  </a:solidFill>
                </a:uFill>
                <a:latin typeface="微软雅黑" panose="020B0503020204020204" charset="-122"/>
                <a:ea typeface="微软雅黑" panose="020B0503020204020204" charset="-122"/>
                <a:cs typeface="微软雅黑" panose="020B0503020204020204" charset="-122"/>
              </a:rPr>
              <a:t>盖模式类</a:t>
            </a:r>
            <a:r>
              <a:rPr sz="1000" b="1" u="sng" spc="-5" dirty="0">
                <a:uFill>
                  <a:solidFill>
                    <a:srgbClr val="000000"/>
                  </a:solidFill>
                </a:uFill>
                <a:latin typeface="微软雅黑" panose="020B0503020204020204" charset="-122"/>
                <a:ea typeface="微软雅黑" panose="020B0503020204020204" charset="-122"/>
                <a:cs typeface="微软雅黑" panose="020B0503020204020204" charset="-122"/>
              </a:rPr>
              <a:t>型	</a:t>
            </a:r>
            <a:endParaRPr sz="1000">
              <a:latin typeface="微软雅黑" panose="020B0503020204020204" charset="-122"/>
              <a:ea typeface="微软雅黑" panose="020B0503020204020204" charset="-122"/>
              <a:cs typeface="微软雅黑" panose="020B0503020204020204" charset="-122"/>
            </a:endParaRPr>
          </a:p>
          <a:p>
            <a:pPr marL="41275">
              <a:lnSpc>
                <a:spcPct val="100000"/>
              </a:lnSpc>
              <a:spcBef>
                <a:spcPts val="860"/>
              </a:spcBef>
            </a:pPr>
            <a:r>
              <a:rPr sz="1000" b="1" spc="5" dirty="0">
                <a:latin typeface="微软雅黑" panose="020B0503020204020204" charset="-122"/>
                <a:ea typeface="微软雅黑" panose="020B0503020204020204" charset="-122"/>
                <a:cs typeface="微软雅黑" panose="020B0503020204020204" charset="-122"/>
              </a:rPr>
              <a:t>企业直接覆</a:t>
            </a:r>
            <a:endParaRPr sz="1000">
              <a:latin typeface="微软雅黑" panose="020B0503020204020204" charset="-122"/>
              <a:ea typeface="微软雅黑" panose="020B0503020204020204" charset="-122"/>
              <a:cs typeface="微软雅黑" panose="020B0503020204020204" charset="-122"/>
            </a:endParaRPr>
          </a:p>
        </p:txBody>
      </p:sp>
      <p:sp>
        <p:nvSpPr>
          <p:cNvPr id="24" name="object 24"/>
          <p:cNvSpPr txBox="1"/>
          <p:nvPr/>
        </p:nvSpPr>
        <p:spPr>
          <a:xfrm>
            <a:off x="8453225" y="1141537"/>
            <a:ext cx="152292" cy="165100"/>
          </a:xfrm>
          <a:prstGeom prst="rect">
            <a:avLst/>
          </a:prstGeom>
        </p:spPr>
        <p:txBody>
          <a:bodyPr vert="horz" wrap="square" lIns="0" tIns="12056" rIns="0" bIns="0" rtlCol="0">
            <a:spAutoFit/>
          </a:bodyPr>
          <a:lstStyle/>
          <a:p>
            <a:pPr marL="12700">
              <a:lnSpc>
                <a:spcPct val="100000"/>
              </a:lnSpc>
              <a:spcBef>
                <a:spcPts val="95"/>
              </a:spcBef>
            </a:pPr>
            <a:r>
              <a:rPr sz="1000" b="1" spc="-5" dirty="0">
                <a:solidFill>
                  <a:srgbClr val="FFFFFF"/>
                </a:solidFill>
                <a:latin typeface="微软雅黑" panose="020B0503020204020204" charset="-122"/>
                <a:ea typeface="微软雅黑" panose="020B0503020204020204" charset="-122"/>
                <a:cs typeface="微软雅黑" panose="020B0503020204020204" charset="-122"/>
              </a:rPr>
              <a:t>高</a:t>
            </a:r>
            <a:endParaRPr sz="1000" b="1" spc="-5"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5" name="object 25"/>
          <p:cNvSpPr/>
          <p:nvPr/>
        </p:nvSpPr>
        <p:spPr>
          <a:xfrm>
            <a:off x="264987" y="1220653"/>
            <a:ext cx="1663156" cy="4987565"/>
          </a:xfrm>
          <a:custGeom>
            <a:avLst/>
            <a:gdLst/>
            <a:ahLst/>
            <a:cxnLst/>
            <a:rect l="l" t="t" r="r" b="b"/>
            <a:pathLst>
              <a:path w="1664335" h="4991100">
                <a:moveTo>
                  <a:pt x="1452753" y="0"/>
                </a:moveTo>
                <a:lnTo>
                  <a:pt x="0" y="0"/>
                </a:lnTo>
                <a:lnTo>
                  <a:pt x="0" y="4991100"/>
                </a:lnTo>
                <a:lnTo>
                  <a:pt x="1452753" y="4991100"/>
                </a:lnTo>
                <a:lnTo>
                  <a:pt x="1664208" y="2495549"/>
                </a:lnTo>
                <a:lnTo>
                  <a:pt x="145275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6" name="object 26"/>
          <p:cNvSpPr/>
          <p:nvPr/>
        </p:nvSpPr>
        <p:spPr>
          <a:xfrm>
            <a:off x="264987" y="1220653"/>
            <a:ext cx="1663156" cy="4987565"/>
          </a:xfrm>
          <a:custGeom>
            <a:avLst/>
            <a:gdLst/>
            <a:ahLst/>
            <a:cxnLst/>
            <a:rect l="l" t="t" r="r" b="b"/>
            <a:pathLst>
              <a:path w="1664335" h="4991100">
                <a:moveTo>
                  <a:pt x="0" y="0"/>
                </a:moveTo>
                <a:lnTo>
                  <a:pt x="1452753" y="0"/>
                </a:lnTo>
                <a:lnTo>
                  <a:pt x="1664208" y="2495549"/>
                </a:lnTo>
                <a:lnTo>
                  <a:pt x="1452753" y="4991100"/>
                </a:lnTo>
                <a:lnTo>
                  <a:pt x="0" y="4991100"/>
                </a:lnTo>
                <a:lnTo>
                  <a:pt x="0" y="0"/>
                </a:lnTo>
                <a:close/>
              </a:path>
            </a:pathLst>
          </a:custGeom>
          <a:ln w="9525">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7" name="object 27"/>
          <p:cNvSpPr txBox="1"/>
          <p:nvPr/>
        </p:nvSpPr>
        <p:spPr>
          <a:xfrm>
            <a:off x="328442" y="1532979"/>
            <a:ext cx="640896" cy="196215"/>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中国国情</a:t>
            </a:r>
            <a:endParaRPr sz="1200" b="1" spc="5" dirty="0">
              <a:latin typeface="微软雅黑" panose="020B0503020204020204" charset="-122"/>
              <a:ea typeface="微软雅黑" panose="020B0503020204020204" charset="-122"/>
              <a:cs typeface="微软雅黑" panose="020B0503020204020204" charset="-122"/>
            </a:endParaRPr>
          </a:p>
        </p:txBody>
      </p:sp>
      <p:sp>
        <p:nvSpPr>
          <p:cNvPr id="28" name="object 28"/>
          <p:cNvSpPr txBox="1"/>
          <p:nvPr/>
        </p:nvSpPr>
        <p:spPr>
          <a:xfrm>
            <a:off x="328442" y="1791875"/>
            <a:ext cx="1530535" cy="1286510"/>
          </a:xfrm>
          <a:prstGeom prst="rect">
            <a:avLst/>
          </a:prstGeom>
        </p:spPr>
        <p:txBody>
          <a:bodyPr vert="horz" wrap="square" lIns="0" tIns="12691" rIns="0" bIns="0" rtlCol="0">
            <a:spAutoFit/>
          </a:bodyPr>
          <a:lstStyle/>
          <a:p>
            <a:pPr marL="299085" marR="5080" indent="-287020">
              <a:lnSpc>
                <a:spcPct val="100000"/>
              </a:lnSpc>
              <a:spcBef>
                <a:spcPts val="100"/>
              </a:spcBef>
              <a:buClr>
                <a:srgbClr val="00295F"/>
              </a:buClr>
              <a:buFont typeface="Wingdings" panose="05000000000000000000"/>
              <a:buChar char=""/>
              <a:tabLst>
                <a:tab pos="341630" algn="l"/>
                <a:tab pos="342265" algn="l"/>
              </a:tabLst>
            </a:pPr>
            <a:r>
              <a:rPr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原材料企业不清 楚终端客户是谁， 有什么需求</a:t>
            </a:r>
            <a:endParaRPr sz="1200">
              <a:latin typeface="微软雅黑" panose="020B0503020204020204" charset="-122"/>
              <a:ea typeface="微软雅黑" panose="020B0503020204020204" charset="-122"/>
              <a:cs typeface="微软雅黑" panose="020B0503020204020204" charset="-122"/>
            </a:endParaRPr>
          </a:p>
          <a:p>
            <a:pPr marL="299085" marR="157480" indent="-287020" algn="just">
              <a:lnSpc>
                <a:spcPct val="100000"/>
              </a:lnSpc>
              <a:spcBef>
                <a:spcPts val="580"/>
              </a:spcBef>
              <a:buClr>
                <a:srgbClr val="00295F"/>
              </a:buClr>
              <a:buFont typeface="Wingdings" panose="05000000000000000000"/>
              <a:buChar char=""/>
              <a:tabLst>
                <a:tab pos="299720" algn="l"/>
              </a:tabLst>
            </a:pPr>
            <a:r>
              <a:rPr sz="1200" dirty="0">
                <a:latin typeface="微软雅黑" panose="020B0503020204020204" charset="-122"/>
                <a:ea typeface="微软雅黑" panose="020B0503020204020204" charset="-122"/>
                <a:cs typeface="微软雅黑" panose="020B0503020204020204" charset="-122"/>
              </a:rPr>
              <a:t>企业往往缺乏融 资能力，因而回 </a:t>
            </a:r>
            <a:r>
              <a:rPr sz="1200" spc="-5" dirty="0">
                <a:latin typeface="微软雅黑" panose="020B0503020204020204" charset="-122"/>
                <a:ea typeface="微软雅黑" panose="020B0503020204020204" charset="-122"/>
                <a:cs typeface="微软雅黑" panose="020B0503020204020204" charset="-122"/>
              </a:rPr>
              <a:t>避账期</a:t>
            </a:r>
            <a:endParaRPr sz="1200">
              <a:latin typeface="微软雅黑" panose="020B0503020204020204" charset="-122"/>
              <a:ea typeface="微软雅黑" panose="020B0503020204020204" charset="-122"/>
              <a:cs typeface="微软雅黑" panose="020B0503020204020204" charset="-122"/>
            </a:endParaRPr>
          </a:p>
        </p:txBody>
      </p:sp>
      <p:sp>
        <p:nvSpPr>
          <p:cNvPr id="29" name="object 29"/>
          <p:cNvSpPr txBox="1"/>
          <p:nvPr/>
        </p:nvSpPr>
        <p:spPr>
          <a:xfrm>
            <a:off x="328442" y="3039401"/>
            <a:ext cx="1378243" cy="934720"/>
          </a:xfrm>
          <a:prstGeom prst="rect">
            <a:avLst/>
          </a:prstGeom>
        </p:spPr>
        <p:txBody>
          <a:bodyPr vert="horz" wrap="square" lIns="0" tIns="12056" rIns="0" bIns="0" rtlCol="0">
            <a:spAutoFit/>
          </a:bodyPr>
          <a:lstStyle/>
          <a:p>
            <a:pPr marL="299085" marR="5080" indent="-287020" algn="just">
              <a:lnSpc>
                <a:spcPct val="100000"/>
              </a:lnSpc>
              <a:spcBef>
                <a:spcPts val="95"/>
              </a:spcBef>
              <a:buClr>
                <a:srgbClr val="00295F"/>
              </a:buClr>
              <a:buFont typeface="Wingdings" panose="05000000000000000000"/>
              <a:buChar char=""/>
              <a:tabLst>
                <a:tab pos="299720" algn="l"/>
              </a:tabLst>
            </a:pPr>
            <a:r>
              <a:rPr sz="1200" dirty="0">
                <a:latin typeface="微软雅黑" panose="020B0503020204020204" charset="-122"/>
                <a:ea typeface="微软雅黑" panose="020B0503020204020204" charset="-122"/>
                <a:cs typeface="微软雅黑" panose="020B0503020204020204" charset="-122"/>
              </a:rPr>
              <a:t>企业客户数量庞 大，但收入规模 多变，缺乏不同 的覆盖模式以实 现经济性</a:t>
            </a:r>
            <a:endParaRPr sz="1200" dirty="0">
              <a:latin typeface="微软雅黑" panose="020B0503020204020204" charset="-122"/>
              <a:ea typeface="微软雅黑" panose="020B0503020204020204" charset="-122"/>
              <a:cs typeface="微软雅黑" panose="020B0503020204020204" charset="-122"/>
            </a:endParaRPr>
          </a:p>
        </p:txBody>
      </p:sp>
      <p:sp>
        <p:nvSpPr>
          <p:cNvPr id="30" name="object 30"/>
          <p:cNvSpPr/>
          <p:nvPr/>
        </p:nvSpPr>
        <p:spPr>
          <a:xfrm>
            <a:off x="2881365" y="2142020"/>
            <a:ext cx="489237" cy="248109"/>
          </a:xfrm>
          <a:custGeom>
            <a:avLst/>
            <a:gdLst/>
            <a:ahLst/>
            <a:cxnLst/>
            <a:rect l="l" t="t" r="r" b="b"/>
            <a:pathLst>
              <a:path w="489585" h="248285">
                <a:moveTo>
                  <a:pt x="439419" y="0"/>
                </a:moveTo>
                <a:lnTo>
                  <a:pt x="49530" y="0"/>
                </a:lnTo>
                <a:lnTo>
                  <a:pt x="0" y="247904"/>
                </a:lnTo>
                <a:lnTo>
                  <a:pt x="489077" y="247904"/>
                </a:lnTo>
                <a:lnTo>
                  <a:pt x="439419"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1" name="object 31"/>
          <p:cNvSpPr/>
          <p:nvPr/>
        </p:nvSpPr>
        <p:spPr>
          <a:xfrm>
            <a:off x="3039750" y="1162782"/>
            <a:ext cx="170694" cy="428955"/>
          </a:xfrm>
          <a:custGeom>
            <a:avLst/>
            <a:gdLst/>
            <a:ahLst/>
            <a:cxnLst/>
            <a:rect l="l" t="t" r="r" b="b"/>
            <a:pathLst>
              <a:path w="170814" h="429259">
                <a:moveTo>
                  <a:pt x="85216" y="0"/>
                </a:moveTo>
                <a:lnTo>
                  <a:pt x="0" y="429260"/>
                </a:lnTo>
                <a:lnTo>
                  <a:pt x="170560" y="429260"/>
                </a:lnTo>
                <a:lnTo>
                  <a:pt x="85216"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2" name="object 32"/>
          <p:cNvSpPr/>
          <p:nvPr/>
        </p:nvSpPr>
        <p:spPr>
          <a:xfrm>
            <a:off x="2984924" y="1595292"/>
            <a:ext cx="280471" cy="272222"/>
          </a:xfrm>
          <a:custGeom>
            <a:avLst/>
            <a:gdLst/>
            <a:ahLst/>
            <a:cxnLst/>
            <a:rect l="l" t="t" r="r" b="b"/>
            <a:pathLst>
              <a:path w="280670" h="272414">
                <a:moveTo>
                  <a:pt x="225806" y="0"/>
                </a:moveTo>
                <a:lnTo>
                  <a:pt x="54610" y="0"/>
                </a:lnTo>
                <a:lnTo>
                  <a:pt x="0" y="272288"/>
                </a:lnTo>
                <a:lnTo>
                  <a:pt x="280288" y="272288"/>
                </a:lnTo>
                <a:lnTo>
                  <a:pt x="225806"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3" name="object 33"/>
          <p:cNvSpPr/>
          <p:nvPr/>
        </p:nvSpPr>
        <p:spPr>
          <a:xfrm>
            <a:off x="2930099" y="1867895"/>
            <a:ext cx="390248" cy="274126"/>
          </a:xfrm>
          <a:custGeom>
            <a:avLst/>
            <a:gdLst/>
            <a:ahLst/>
            <a:cxnLst/>
            <a:rect l="l" t="t" r="r" b="b"/>
            <a:pathLst>
              <a:path w="390525" h="274319">
                <a:moveTo>
                  <a:pt x="335279" y="0"/>
                </a:moveTo>
                <a:lnTo>
                  <a:pt x="54610" y="0"/>
                </a:lnTo>
                <a:lnTo>
                  <a:pt x="0" y="273812"/>
                </a:lnTo>
                <a:lnTo>
                  <a:pt x="390016" y="273812"/>
                </a:lnTo>
                <a:lnTo>
                  <a:pt x="335279"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4" name="object 34"/>
          <p:cNvSpPr/>
          <p:nvPr/>
        </p:nvSpPr>
        <p:spPr>
          <a:xfrm>
            <a:off x="2930099" y="1867895"/>
            <a:ext cx="390248" cy="274126"/>
          </a:xfrm>
          <a:custGeom>
            <a:avLst/>
            <a:gdLst/>
            <a:ahLst/>
            <a:cxnLst/>
            <a:rect l="l" t="t" r="r" b="b"/>
            <a:pathLst>
              <a:path w="390525" h="274319">
                <a:moveTo>
                  <a:pt x="54610" y="0"/>
                </a:moveTo>
                <a:lnTo>
                  <a:pt x="0" y="273812"/>
                </a:lnTo>
                <a:lnTo>
                  <a:pt x="390016" y="273812"/>
                </a:lnTo>
                <a:lnTo>
                  <a:pt x="335279" y="0"/>
                </a:lnTo>
                <a:lnTo>
                  <a:pt x="54610" y="0"/>
                </a:lnTo>
              </a:path>
            </a:pathLst>
          </a:custGeom>
          <a:ln w="9525">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5" name="object 35"/>
          <p:cNvSpPr txBox="1"/>
          <p:nvPr/>
        </p:nvSpPr>
        <p:spPr>
          <a:xfrm>
            <a:off x="3067924" y="1390662"/>
            <a:ext cx="117392" cy="165100"/>
          </a:xfrm>
          <a:prstGeom prst="rect">
            <a:avLst/>
          </a:prstGeom>
        </p:spPr>
        <p:txBody>
          <a:bodyPr vert="horz" wrap="square" lIns="0" tIns="12056" rIns="0" bIns="0" rtlCol="0">
            <a:spAutoFit/>
          </a:bodyPr>
          <a:lstStyle/>
          <a:p>
            <a:pPr marL="12700">
              <a:lnSpc>
                <a:spcPct val="100000"/>
              </a:lnSpc>
              <a:spcBef>
                <a:spcPts val="95"/>
              </a:spcBef>
            </a:pPr>
            <a:r>
              <a:rPr sz="1000" b="1" spc="-5" dirty="0">
                <a:solidFill>
                  <a:srgbClr val="FFFFFF"/>
                </a:solidFill>
                <a:latin typeface="微软雅黑" panose="020B0503020204020204" charset="-122"/>
                <a:ea typeface="微软雅黑" panose="020B0503020204020204" charset="-122"/>
                <a:cs typeface="Arial" panose="020B0604020202020204"/>
              </a:rPr>
              <a:t>A</a:t>
            </a:r>
            <a:endParaRPr sz="1000" b="1" spc="-5" dirty="0">
              <a:solidFill>
                <a:srgbClr val="FFFFFF"/>
              </a:solidFill>
              <a:latin typeface="微软雅黑" panose="020B0503020204020204" charset="-122"/>
              <a:ea typeface="微软雅黑" panose="020B0503020204020204" charset="-122"/>
              <a:cs typeface="Arial" panose="020B0604020202020204"/>
            </a:endParaRPr>
          </a:p>
        </p:txBody>
      </p:sp>
      <p:sp>
        <p:nvSpPr>
          <p:cNvPr id="36" name="object 36"/>
          <p:cNvSpPr txBox="1"/>
          <p:nvPr/>
        </p:nvSpPr>
        <p:spPr>
          <a:xfrm>
            <a:off x="3067924" y="1664787"/>
            <a:ext cx="117392" cy="165100"/>
          </a:xfrm>
          <a:prstGeom prst="rect">
            <a:avLst/>
          </a:prstGeom>
        </p:spPr>
        <p:txBody>
          <a:bodyPr vert="horz" wrap="square" lIns="0" tIns="12056" rIns="0" bIns="0" rtlCol="0">
            <a:spAutoFit/>
          </a:bodyPr>
          <a:lstStyle/>
          <a:p>
            <a:pPr marL="12700">
              <a:lnSpc>
                <a:spcPct val="100000"/>
              </a:lnSpc>
              <a:spcBef>
                <a:spcPts val="95"/>
              </a:spcBef>
            </a:pPr>
            <a:r>
              <a:rPr sz="1000" b="1" spc="-5" dirty="0">
                <a:solidFill>
                  <a:srgbClr val="00295F"/>
                </a:solidFill>
                <a:latin typeface="微软雅黑" panose="020B0503020204020204" charset="-122"/>
                <a:ea typeface="微软雅黑" panose="020B0503020204020204" charset="-122"/>
                <a:cs typeface="Arial" panose="020B0604020202020204"/>
              </a:rPr>
              <a:t>B</a:t>
            </a:r>
            <a:endParaRPr sz="1000" b="1" spc="-5" dirty="0">
              <a:solidFill>
                <a:srgbClr val="00295F"/>
              </a:solidFill>
              <a:latin typeface="微软雅黑" panose="020B0503020204020204" charset="-122"/>
              <a:ea typeface="微软雅黑" panose="020B0503020204020204" charset="-122"/>
              <a:cs typeface="Arial" panose="020B0604020202020204"/>
            </a:endParaRPr>
          </a:p>
        </p:txBody>
      </p:sp>
      <p:sp>
        <p:nvSpPr>
          <p:cNvPr id="37" name="object 37"/>
          <p:cNvSpPr txBox="1"/>
          <p:nvPr/>
        </p:nvSpPr>
        <p:spPr>
          <a:xfrm>
            <a:off x="3067924" y="1927035"/>
            <a:ext cx="118026" cy="426720"/>
          </a:xfrm>
          <a:prstGeom prst="rect">
            <a:avLst/>
          </a:prstGeom>
        </p:spPr>
        <p:txBody>
          <a:bodyPr vert="horz" wrap="square" lIns="0" tIns="12056" rIns="0" bIns="0" rtlCol="0">
            <a:spAutoFit/>
          </a:bodyPr>
          <a:lstStyle/>
          <a:p>
            <a:pPr marL="12700">
              <a:lnSpc>
                <a:spcPct val="100000"/>
              </a:lnSpc>
              <a:spcBef>
                <a:spcPts val="95"/>
              </a:spcBef>
            </a:pPr>
            <a:r>
              <a:rPr sz="1000" b="1" spc="-5" dirty="0">
                <a:solidFill>
                  <a:srgbClr val="00295F"/>
                </a:solidFill>
                <a:latin typeface="微软雅黑" panose="020B0503020204020204" charset="-122"/>
                <a:ea typeface="微软雅黑" panose="020B0503020204020204" charset="-122"/>
                <a:cs typeface="Arial" panose="020B0604020202020204"/>
              </a:rPr>
              <a:t>C</a:t>
            </a:r>
            <a:endParaRPr sz="1000">
              <a:latin typeface="微软雅黑" panose="020B0503020204020204" charset="-122"/>
              <a:ea typeface="微软雅黑" panose="020B0503020204020204" charset="-122"/>
              <a:cs typeface="Arial" panose="020B0604020202020204"/>
            </a:endParaRPr>
          </a:p>
          <a:p>
            <a:pPr marL="13335">
              <a:lnSpc>
                <a:spcPct val="100000"/>
              </a:lnSpc>
              <a:spcBef>
                <a:spcPts val="840"/>
              </a:spcBef>
            </a:pPr>
            <a:r>
              <a:rPr sz="1000" b="1" spc="-5" dirty="0">
                <a:solidFill>
                  <a:srgbClr val="00295F"/>
                </a:solidFill>
                <a:latin typeface="微软雅黑" panose="020B0503020204020204" charset="-122"/>
                <a:ea typeface="微软雅黑" panose="020B0503020204020204" charset="-122"/>
                <a:cs typeface="Arial" panose="020B0604020202020204"/>
              </a:rPr>
              <a:t>D</a:t>
            </a:r>
            <a:endParaRPr sz="1000">
              <a:latin typeface="微软雅黑" panose="020B0503020204020204" charset="-122"/>
              <a:ea typeface="微软雅黑" panose="020B0503020204020204" charset="-122"/>
              <a:cs typeface="Arial" panose="020B0604020202020204"/>
            </a:endParaRPr>
          </a:p>
        </p:txBody>
      </p:sp>
      <p:sp>
        <p:nvSpPr>
          <p:cNvPr id="38" name="object 38"/>
          <p:cNvSpPr/>
          <p:nvPr/>
        </p:nvSpPr>
        <p:spPr>
          <a:xfrm>
            <a:off x="2881365" y="4109634"/>
            <a:ext cx="489237" cy="246205"/>
          </a:xfrm>
          <a:custGeom>
            <a:avLst/>
            <a:gdLst/>
            <a:ahLst/>
            <a:cxnLst/>
            <a:rect l="l" t="t" r="r" b="b"/>
            <a:pathLst>
              <a:path w="489585" h="246379">
                <a:moveTo>
                  <a:pt x="439419" y="0"/>
                </a:moveTo>
                <a:lnTo>
                  <a:pt x="49530" y="0"/>
                </a:lnTo>
                <a:lnTo>
                  <a:pt x="0" y="246380"/>
                </a:lnTo>
                <a:lnTo>
                  <a:pt x="489077" y="246380"/>
                </a:lnTo>
                <a:lnTo>
                  <a:pt x="439419"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9" name="object 39"/>
          <p:cNvSpPr/>
          <p:nvPr/>
        </p:nvSpPr>
        <p:spPr>
          <a:xfrm>
            <a:off x="3039750" y="3128873"/>
            <a:ext cx="170694" cy="430860"/>
          </a:xfrm>
          <a:custGeom>
            <a:avLst/>
            <a:gdLst/>
            <a:ahLst/>
            <a:cxnLst/>
            <a:rect l="l" t="t" r="r" b="b"/>
            <a:pathLst>
              <a:path w="170814" h="431164">
                <a:moveTo>
                  <a:pt x="85216" y="0"/>
                </a:moveTo>
                <a:lnTo>
                  <a:pt x="0" y="430784"/>
                </a:lnTo>
                <a:lnTo>
                  <a:pt x="170560" y="430784"/>
                </a:lnTo>
                <a:lnTo>
                  <a:pt x="85216"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0" name="object 40"/>
          <p:cNvSpPr/>
          <p:nvPr/>
        </p:nvSpPr>
        <p:spPr>
          <a:xfrm>
            <a:off x="2984924" y="3562905"/>
            <a:ext cx="280471" cy="272222"/>
          </a:xfrm>
          <a:custGeom>
            <a:avLst/>
            <a:gdLst/>
            <a:ahLst/>
            <a:cxnLst/>
            <a:rect l="l" t="t" r="r" b="b"/>
            <a:pathLst>
              <a:path w="280670" h="272414">
                <a:moveTo>
                  <a:pt x="225806" y="0"/>
                </a:moveTo>
                <a:lnTo>
                  <a:pt x="54610" y="0"/>
                </a:lnTo>
                <a:lnTo>
                  <a:pt x="0" y="272287"/>
                </a:lnTo>
                <a:lnTo>
                  <a:pt x="280288" y="272287"/>
                </a:lnTo>
                <a:lnTo>
                  <a:pt x="225806"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1" name="object 41"/>
          <p:cNvSpPr/>
          <p:nvPr/>
        </p:nvSpPr>
        <p:spPr>
          <a:xfrm>
            <a:off x="2930099" y="3835508"/>
            <a:ext cx="390248" cy="274126"/>
          </a:xfrm>
          <a:custGeom>
            <a:avLst/>
            <a:gdLst/>
            <a:ahLst/>
            <a:cxnLst/>
            <a:rect l="l" t="t" r="r" b="b"/>
            <a:pathLst>
              <a:path w="390525" h="274320">
                <a:moveTo>
                  <a:pt x="335279" y="0"/>
                </a:moveTo>
                <a:lnTo>
                  <a:pt x="54610" y="0"/>
                </a:lnTo>
                <a:lnTo>
                  <a:pt x="0" y="273811"/>
                </a:lnTo>
                <a:lnTo>
                  <a:pt x="390016" y="273811"/>
                </a:lnTo>
                <a:lnTo>
                  <a:pt x="335279"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2" name="object 42"/>
          <p:cNvSpPr/>
          <p:nvPr/>
        </p:nvSpPr>
        <p:spPr>
          <a:xfrm>
            <a:off x="2930099" y="3835508"/>
            <a:ext cx="390248" cy="274126"/>
          </a:xfrm>
          <a:custGeom>
            <a:avLst/>
            <a:gdLst/>
            <a:ahLst/>
            <a:cxnLst/>
            <a:rect l="l" t="t" r="r" b="b"/>
            <a:pathLst>
              <a:path w="390525" h="274320">
                <a:moveTo>
                  <a:pt x="54610" y="0"/>
                </a:moveTo>
                <a:lnTo>
                  <a:pt x="0" y="273811"/>
                </a:lnTo>
                <a:lnTo>
                  <a:pt x="390016" y="273811"/>
                </a:lnTo>
                <a:lnTo>
                  <a:pt x="335279" y="0"/>
                </a:lnTo>
                <a:lnTo>
                  <a:pt x="54610" y="0"/>
                </a:lnTo>
              </a:path>
            </a:pathLst>
          </a:custGeom>
          <a:ln w="9525">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3" name="object 43"/>
          <p:cNvSpPr txBox="1"/>
          <p:nvPr/>
        </p:nvSpPr>
        <p:spPr>
          <a:xfrm>
            <a:off x="3067924" y="3358580"/>
            <a:ext cx="116756" cy="165100"/>
          </a:xfrm>
          <a:prstGeom prst="rect">
            <a:avLst/>
          </a:prstGeom>
        </p:spPr>
        <p:txBody>
          <a:bodyPr vert="horz" wrap="square" lIns="0" tIns="12056" rIns="0" bIns="0" rtlCol="0">
            <a:spAutoFit/>
          </a:bodyPr>
          <a:lstStyle/>
          <a:p>
            <a:pPr marL="12700">
              <a:lnSpc>
                <a:spcPct val="100000"/>
              </a:lnSpc>
              <a:spcBef>
                <a:spcPts val="95"/>
              </a:spcBef>
            </a:pPr>
            <a:r>
              <a:rPr sz="1000" b="1" spc="-5" dirty="0">
                <a:solidFill>
                  <a:srgbClr val="00295F"/>
                </a:solidFill>
                <a:latin typeface="微软雅黑" panose="020B0503020204020204" charset="-122"/>
                <a:ea typeface="微软雅黑" panose="020B0503020204020204" charset="-122"/>
                <a:cs typeface="Arial" panose="020B0604020202020204"/>
              </a:rPr>
              <a:t>A</a:t>
            </a:r>
            <a:endParaRPr sz="1000" b="1" spc="-5" dirty="0">
              <a:solidFill>
                <a:srgbClr val="00295F"/>
              </a:solidFill>
              <a:latin typeface="微软雅黑" panose="020B0503020204020204" charset="-122"/>
              <a:ea typeface="微软雅黑" panose="020B0503020204020204" charset="-122"/>
              <a:cs typeface="Arial" panose="020B0604020202020204"/>
            </a:endParaRPr>
          </a:p>
        </p:txBody>
      </p:sp>
      <p:sp>
        <p:nvSpPr>
          <p:cNvPr id="44" name="object 44"/>
          <p:cNvSpPr txBox="1"/>
          <p:nvPr/>
        </p:nvSpPr>
        <p:spPr>
          <a:xfrm>
            <a:off x="3067924" y="3632706"/>
            <a:ext cx="116756" cy="165100"/>
          </a:xfrm>
          <a:prstGeom prst="rect">
            <a:avLst/>
          </a:prstGeom>
        </p:spPr>
        <p:txBody>
          <a:bodyPr vert="horz" wrap="square" lIns="0" tIns="12056" rIns="0" bIns="0" rtlCol="0">
            <a:spAutoFit/>
          </a:bodyPr>
          <a:lstStyle/>
          <a:p>
            <a:pPr marL="12700">
              <a:lnSpc>
                <a:spcPct val="100000"/>
              </a:lnSpc>
              <a:spcBef>
                <a:spcPts val="95"/>
              </a:spcBef>
            </a:pPr>
            <a:r>
              <a:rPr sz="1000" b="1" spc="-5" dirty="0">
                <a:latin typeface="微软雅黑" panose="020B0503020204020204" charset="-122"/>
                <a:ea typeface="微软雅黑" panose="020B0503020204020204" charset="-122"/>
                <a:cs typeface="Arial" panose="020B0604020202020204"/>
              </a:rPr>
              <a:t>B</a:t>
            </a:r>
            <a:endParaRPr sz="1000" b="1" spc="-5" dirty="0">
              <a:latin typeface="微软雅黑" panose="020B0503020204020204" charset="-122"/>
              <a:ea typeface="微软雅黑" panose="020B0503020204020204" charset="-122"/>
              <a:cs typeface="Arial" panose="020B0604020202020204"/>
            </a:endParaRPr>
          </a:p>
        </p:txBody>
      </p:sp>
      <p:sp>
        <p:nvSpPr>
          <p:cNvPr id="45" name="object 45"/>
          <p:cNvSpPr txBox="1"/>
          <p:nvPr/>
        </p:nvSpPr>
        <p:spPr>
          <a:xfrm>
            <a:off x="3067924" y="3894648"/>
            <a:ext cx="118026" cy="426720"/>
          </a:xfrm>
          <a:prstGeom prst="rect">
            <a:avLst/>
          </a:prstGeom>
        </p:spPr>
        <p:txBody>
          <a:bodyPr vert="horz" wrap="square" lIns="0" tIns="12056" rIns="0" bIns="0" rtlCol="0">
            <a:spAutoFit/>
          </a:bodyPr>
          <a:lstStyle/>
          <a:p>
            <a:pPr marL="12700">
              <a:lnSpc>
                <a:spcPct val="100000"/>
              </a:lnSpc>
              <a:spcBef>
                <a:spcPts val="95"/>
              </a:spcBef>
            </a:pPr>
            <a:r>
              <a:rPr sz="1000" b="1" spc="-5" dirty="0">
                <a:solidFill>
                  <a:srgbClr val="FFFFFF"/>
                </a:solidFill>
                <a:latin typeface="微软雅黑" panose="020B0503020204020204" charset="-122"/>
                <a:ea typeface="微软雅黑" panose="020B0503020204020204" charset="-122"/>
                <a:cs typeface="Arial" panose="020B0604020202020204"/>
              </a:rPr>
              <a:t>C</a:t>
            </a:r>
            <a:endParaRPr sz="1000">
              <a:latin typeface="微软雅黑" panose="020B0503020204020204" charset="-122"/>
              <a:ea typeface="微软雅黑" panose="020B0503020204020204" charset="-122"/>
              <a:cs typeface="Arial" panose="020B0604020202020204"/>
            </a:endParaRPr>
          </a:p>
          <a:p>
            <a:pPr marL="13335">
              <a:lnSpc>
                <a:spcPct val="100000"/>
              </a:lnSpc>
              <a:spcBef>
                <a:spcPts val="840"/>
              </a:spcBef>
            </a:pPr>
            <a:r>
              <a:rPr sz="1000" b="1" spc="-5" dirty="0">
                <a:solidFill>
                  <a:srgbClr val="FFFFFF"/>
                </a:solidFill>
                <a:latin typeface="微软雅黑" panose="020B0503020204020204" charset="-122"/>
                <a:ea typeface="微软雅黑" panose="020B0503020204020204" charset="-122"/>
                <a:cs typeface="Arial" panose="020B0604020202020204"/>
              </a:rPr>
              <a:t>D</a:t>
            </a:r>
            <a:endParaRPr sz="1000">
              <a:latin typeface="微软雅黑" panose="020B0503020204020204" charset="-122"/>
              <a:ea typeface="微软雅黑" panose="020B0503020204020204" charset="-122"/>
              <a:cs typeface="Arial" panose="020B0604020202020204"/>
            </a:endParaRPr>
          </a:p>
        </p:txBody>
      </p:sp>
      <p:sp>
        <p:nvSpPr>
          <p:cNvPr id="46" name="object 46"/>
          <p:cNvSpPr/>
          <p:nvPr/>
        </p:nvSpPr>
        <p:spPr>
          <a:xfrm>
            <a:off x="2881365" y="5891451"/>
            <a:ext cx="489237" cy="248109"/>
          </a:xfrm>
          <a:custGeom>
            <a:avLst/>
            <a:gdLst/>
            <a:ahLst/>
            <a:cxnLst/>
            <a:rect l="l" t="t" r="r" b="b"/>
            <a:pathLst>
              <a:path w="489585" h="248285">
                <a:moveTo>
                  <a:pt x="439419" y="0"/>
                </a:moveTo>
                <a:lnTo>
                  <a:pt x="49530" y="0"/>
                </a:lnTo>
                <a:lnTo>
                  <a:pt x="0" y="247904"/>
                </a:lnTo>
                <a:lnTo>
                  <a:pt x="489077" y="247904"/>
                </a:lnTo>
                <a:lnTo>
                  <a:pt x="439419"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7" name="object 47"/>
          <p:cNvSpPr/>
          <p:nvPr/>
        </p:nvSpPr>
        <p:spPr>
          <a:xfrm>
            <a:off x="3039750" y="4912213"/>
            <a:ext cx="170694" cy="430860"/>
          </a:xfrm>
          <a:custGeom>
            <a:avLst/>
            <a:gdLst/>
            <a:ahLst/>
            <a:cxnLst/>
            <a:rect l="l" t="t" r="r" b="b"/>
            <a:pathLst>
              <a:path w="170814" h="431164">
                <a:moveTo>
                  <a:pt x="85216" y="0"/>
                </a:moveTo>
                <a:lnTo>
                  <a:pt x="0" y="430783"/>
                </a:lnTo>
                <a:lnTo>
                  <a:pt x="170560" y="430783"/>
                </a:lnTo>
                <a:lnTo>
                  <a:pt x="85216"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8" name="object 48"/>
          <p:cNvSpPr/>
          <p:nvPr/>
        </p:nvSpPr>
        <p:spPr>
          <a:xfrm>
            <a:off x="2984924" y="5346245"/>
            <a:ext cx="280471" cy="272222"/>
          </a:xfrm>
          <a:custGeom>
            <a:avLst/>
            <a:gdLst/>
            <a:ahLst/>
            <a:cxnLst/>
            <a:rect l="l" t="t" r="r" b="b"/>
            <a:pathLst>
              <a:path w="280670" h="272414">
                <a:moveTo>
                  <a:pt x="225806" y="0"/>
                </a:moveTo>
                <a:lnTo>
                  <a:pt x="54610" y="0"/>
                </a:lnTo>
                <a:lnTo>
                  <a:pt x="0" y="272288"/>
                </a:lnTo>
                <a:lnTo>
                  <a:pt x="280288" y="272288"/>
                </a:lnTo>
                <a:lnTo>
                  <a:pt x="225806"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9" name="object 49"/>
          <p:cNvSpPr/>
          <p:nvPr/>
        </p:nvSpPr>
        <p:spPr>
          <a:xfrm>
            <a:off x="2930099" y="5617324"/>
            <a:ext cx="390248" cy="275395"/>
          </a:xfrm>
          <a:custGeom>
            <a:avLst/>
            <a:gdLst/>
            <a:ahLst/>
            <a:cxnLst/>
            <a:rect l="l" t="t" r="r" b="b"/>
            <a:pathLst>
              <a:path w="390525" h="275589">
                <a:moveTo>
                  <a:pt x="335279" y="0"/>
                </a:moveTo>
                <a:lnTo>
                  <a:pt x="54610" y="0"/>
                </a:lnTo>
                <a:lnTo>
                  <a:pt x="0" y="275323"/>
                </a:lnTo>
                <a:lnTo>
                  <a:pt x="390016" y="275323"/>
                </a:lnTo>
                <a:lnTo>
                  <a:pt x="335279"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0" name="object 50"/>
          <p:cNvSpPr/>
          <p:nvPr/>
        </p:nvSpPr>
        <p:spPr>
          <a:xfrm>
            <a:off x="2930099" y="5617324"/>
            <a:ext cx="390248" cy="275395"/>
          </a:xfrm>
          <a:custGeom>
            <a:avLst/>
            <a:gdLst/>
            <a:ahLst/>
            <a:cxnLst/>
            <a:rect l="l" t="t" r="r" b="b"/>
            <a:pathLst>
              <a:path w="390525" h="275589">
                <a:moveTo>
                  <a:pt x="54610" y="0"/>
                </a:moveTo>
                <a:lnTo>
                  <a:pt x="0" y="275323"/>
                </a:lnTo>
                <a:lnTo>
                  <a:pt x="390016" y="275323"/>
                </a:lnTo>
                <a:lnTo>
                  <a:pt x="335279" y="0"/>
                </a:lnTo>
                <a:lnTo>
                  <a:pt x="54610" y="0"/>
                </a:lnTo>
              </a:path>
            </a:pathLst>
          </a:custGeom>
          <a:ln w="9525">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1" name="object 51"/>
          <p:cNvSpPr txBox="1"/>
          <p:nvPr/>
        </p:nvSpPr>
        <p:spPr>
          <a:xfrm>
            <a:off x="3067924" y="5142301"/>
            <a:ext cx="116756" cy="165100"/>
          </a:xfrm>
          <a:prstGeom prst="rect">
            <a:avLst/>
          </a:prstGeom>
        </p:spPr>
        <p:txBody>
          <a:bodyPr vert="horz" wrap="square" lIns="0" tIns="12056" rIns="0" bIns="0" rtlCol="0">
            <a:spAutoFit/>
          </a:bodyPr>
          <a:lstStyle/>
          <a:p>
            <a:pPr marL="12700">
              <a:lnSpc>
                <a:spcPct val="100000"/>
              </a:lnSpc>
              <a:spcBef>
                <a:spcPts val="95"/>
              </a:spcBef>
            </a:pPr>
            <a:r>
              <a:rPr sz="1000" b="1" spc="-5" dirty="0">
                <a:solidFill>
                  <a:srgbClr val="00295F"/>
                </a:solidFill>
                <a:latin typeface="微软雅黑" panose="020B0503020204020204" charset="-122"/>
                <a:ea typeface="微软雅黑" panose="020B0503020204020204" charset="-122"/>
                <a:cs typeface="Arial" panose="020B0604020202020204"/>
              </a:rPr>
              <a:t>A</a:t>
            </a:r>
            <a:endParaRPr sz="1000" b="1" spc="-5" dirty="0">
              <a:solidFill>
                <a:srgbClr val="00295F"/>
              </a:solidFill>
              <a:latin typeface="微软雅黑" panose="020B0503020204020204" charset="-122"/>
              <a:ea typeface="微软雅黑" panose="020B0503020204020204" charset="-122"/>
              <a:cs typeface="Arial" panose="020B0604020202020204"/>
            </a:endParaRPr>
          </a:p>
        </p:txBody>
      </p:sp>
      <p:sp>
        <p:nvSpPr>
          <p:cNvPr id="52" name="object 52"/>
          <p:cNvSpPr txBox="1"/>
          <p:nvPr/>
        </p:nvSpPr>
        <p:spPr>
          <a:xfrm>
            <a:off x="3067924" y="5416401"/>
            <a:ext cx="118026" cy="690880"/>
          </a:xfrm>
          <a:prstGeom prst="rect">
            <a:avLst/>
          </a:prstGeom>
        </p:spPr>
        <p:txBody>
          <a:bodyPr vert="horz" wrap="square" lIns="0" tIns="12056" rIns="0" bIns="0" rtlCol="0">
            <a:spAutoFit/>
          </a:bodyPr>
          <a:lstStyle/>
          <a:p>
            <a:pPr marL="12700">
              <a:lnSpc>
                <a:spcPct val="100000"/>
              </a:lnSpc>
              <a:spcBef>
                <a:spcPts val="95"/>
              </a:spcBef>
            </a:pPr>
            <a:r>
              <a:rPr sz="1000" b="1" spc="-5" dirty="0">
                <a:solidFill>
                  <a:srgbClr val="FFFFFF"/>
                </a:solidFill>
                <a:latin typeface="微软雅黑" panose="020B0503020204020204" charset="-122"/>
                <a:ea typeface="微软雅黑" panose="020B0503020204020204" charset="-122"/>
                <a:cs typeface="Arial" panose="020B0604020202020204"/>
              </a:rPr>
              <a:t>B</a:t>
            </a:r>
            <a:endParaRPr sz="1000">
              <a:latin typeface="微软雅黑" panose="020B0503020204020204" charset="-122"/>
              <a:ea typeface="微软雅黑" panose="020B0503020204020204" charset="-122"/>
              <a:cs typeface="Arial" panose="020B0604020202020204"/>
            </a:endParaRPr>
          </a:p>
          <a:p>
            <a:pPr marL="13335" marR="5080" indent="-1270">
              <a:lnSpc>
                <a:spcPct val="170000"/>
              </a:lnSpc>
              <a:spcBef>
                <a:spcPts val="20"/>
              </a:spcBef>
            </a:pPr>
            <a:r>
              <a:rPr sz="1000" b="1" spc="-5" dirty="0">
                <a:solidFill>
                  <a:srgbClr val="00295F"/>
                </a:solidFill>
                <a:latin typeface="微软雅黑" panose="020B0503020204020204" charset="-122"/>
                <a:ea typeface="微软雅黑" panose="020B0503020204020204" charset="-122"/>
                <a:cs typeface="Arial" panose="020B0604020202020204"/>
              </a:rPr>
              <a:t>C  D</a:t>
            </a:r>
            <a:endParaRPr sz="1000">
              <a:latin typeface="微软雅黑" panose="020B0503020204020204" charset="-122"/>
              <a:ea typeface="微软雅黑" panose="020B0503020204020204" charset="-122"/>
              <a:cs typeface="Arial" panose="020B0604020202020204"/>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69806" y="962518"/>
            <a:ext cx="8549931" cy="5044040"/>
          </a:xfrm>
          <a:custGeom>
            <a:avLst/>
            <a:gdLst/>
            <a:ahLst/>
            <a:cxnLst/>
            <a:rect l="l" t="t" r="r" b="b"/>
            <a:pathLst>
              <a:path w="8555990" h="5047615">
                <a:moveTo>
                  <a:pt x="0" y="5047488"/>
                </a:moveTo>
                <a:lnTo>
                  <a:pt x="8555736" y="5047488"/>
                </a:lnTo>
                <a:lnTo>
                  <a:pt x="8555736" y="0"/>
                </a:lnTo>
                <a:lnTo>
                  <a:pt x="0" y="0"/>
                </a:lnTo>
                <a:lnTo>
                  <a:pt x="0" y="5047488"/>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 name="object 4"/>
          <p:cNvSpPr txBox="1">
            <a:spLocks noGrp="1"/>
          </p:cNvSpPr>
          <p:nvPr>
            <p:ph type="title"/>
          </p:nvPr>
        </p:nvSpPr>
        <p:spPr>
          <a:xfrm>
            <a:off x="106401" y="200043"/>
            <a:ext cx="8464266" cy="598170"/>
          </a:xfrm>
          <a:prstGeom prst="rect">
            <a:avLst/>
          </a:prstGeom>
        </p:spPr>
        <p:txBody>
          <a:bodyPr vert="horz" wrap="square" lIns="0" tIns="8883" rIns="0" bIns="0" rtlCol="0">
            <a:spAutoFit/>
          </a:bodyPr>
          <a:lstStyle/>
          <a:p>
            <a:pPr marL="12700" marR="5080">
              <a:lnSpc>
                <a:spcPct val="101000"/>
              </a:lnSpc>
              <a:spcBef>
                <a:spcPts val="70"/>
              </a:spcBef>
            </a:pPr>
            <a:r>
              <a:rPr spc="-5" dirty="0">
                <a:ea typeface="微软雅黑" panose="020B0503020204020204" charset="-122"/>
              </a:rPr>
              <a:t>客户分类的</a:t>
            </a:r>
            <a:r>
              <a:rPr spc="-10" dirty="0">
                <a:ea typeface="微软雅黑" panose="020B0503020204020204" charset="-122"/>
              </a:rPr>
              <a:t>最佳</a:t>
            </a:r>
            <a:r>
              <a:rPr spc="-5" dirty="0">
                <a:ea typeface="微软雅黑" panose="020B0503020204020204" charset="-122"/>
              </a:rPr>
              <a:t>方</a:t>
            </a:r>
            <a:r>
              <a:rPr spc="-10" dirty="0">
                <a:ea typeface="微软雅黑" panose="020B0503020204020204" charset="-122"/>
              </a:rPr>
              <a:t>法之</a:t>
            </a:r>
            <a:r>
              <a:rPr spc="-5" dirty="0">
                <a:ea typeface="微软雅黑" panose="020B0503020204020204" charset="-122"/>
              </a:rPr>
              <a:t>一</a:t>
            </a:r>
            <a:r>
              <a:rPr spc="-10" dirty="0">
                <a:ea typeface="微软雅黑" panose="020B0503020204020204" charset="-122"/>
              </a:rPr>
              <a:t>就是</a:t>
            </a:r>
            <a:r>
              <a:rPr spc="-5" dirty="0">
                <a:ea typeface="微软雅黑" panose="020B0503020204020204" charset="-122"/>
              </a:rPr>
              <a:t>通</a:t>
            </a:r>
            <a:r>
              <a:rPr spc="-10" dirty="0">
                <a:ea typeface="微软雅黑" panose="020B0503020204020204" charset="-122"/>
              </a:rPr>
              <a:t>过以</a:t>
            </a:r>
            <a:r>
              <a:rPr spc="-5" dirty="0">
                <a:ea typeface="微软雅黑" panose="020B0503020204020204" charset="-122"/>
              </a:rPr>
              <a:t>下</a:t>
            </a:r>
            <a:r>
              <a:rPr spc="-10" dirty="0">
                <a:ea typeface="微软雅黑" panose="020B0503020204020204" charset="-122"/>
              </a:rPr>
              <a:t>四个</a:t>
            </a:r>
            <a:r>
              <a:rPr spc="-5" dirty="0">
                <a:ea typeface="微软雅黑" panose="020B0503020204020204" charset="-122"/>
              </a:rPr>
              <a:t>维</a:t>
            </a:r>
            <a:r>
              <a:rPr spc="-10" dirty="0">
                <a:ea typeface="微软雅黑" panose="020B0503020204020204" charset="-122"/>
              </a:rPr>
              <a:t>度对</a:t>
            </a:r>
            <a:r>
              <a:rPr spc="-5" dirty="0">
                <a:ea typeface="微软雅黑" panose="020B0503020204020204" charset="-122"/>
              </a:rPr>
              <a:t>客</a:t>
            </a:r>
            <a:r>
              <a:rPr spc="-10" dirty="0">
                <a:ea typeface="微软雅黑" panose="020B0503020204020204" charset="-122"/>
              </a:rPr>
              <a:t>户的</a:t>
            </a:r>
            <a:r>
              <a:rPr spc="-5" dirty="0">
                <a:ea typeface="微软雅黑" panose="020B0503020204020204" charset="-122"/>
              </a:rPr>
              <a:t>优</a:t>
            </a:r>
            <a:r>
              <a:rPr spc="-10" dirty="0">
                <a:ea typeface="微软雅黑" panose="020B0503020204020204" charset="-122"/>
              </a:rPr>
              <a:t>先级</a:t>
            </a:r>
            <a:r>
              <a:rPr spc="-5" dirty="0">
                <a:ea typeface="微软雅黑" panose="020B0503020204020204" charset="-122"/>
              </a:rPr>
              <a:t>进</a:t>
            </a:r>
            <a:r>
              <a:rPr spc="-10" dirty="0">
                <a:ea typeface="微软雅黑" panose="020B0503020204020204" charset="-122"/>
              </a:rPr>
              <a:t>行排</a:t>
            </a:r>
            <a:r>
              <a:rPr spc="-5" dirty="0">
                <a:ea typeface="微软雅黑" panose="020B0503020204020204" charset="-122"/>
              </a:rPr>
              <a:t>序</a:t>
            </a:r>
            <a:r>
              <a:rPr spc="-10" dirty="0">
                <a:ea typeface="微软雅黑" panose="020B0503020204020204" charset="-122"/>
              </a:rPr>
              <a:t>，同时 </a:t>
            </a:r>
            <a:r>
              <a:rPr spc="-5" dirty="0">
                <a:ea typeface="微软雅黑" panose="020B0503020204020204" charset="-122"/>
              </a:rPr>
              <a:t>兼顾影响和</a:t>
            </a:r>
            <a:r>
              <a:rPr spc="-10" dirty="0">
                <a:ea typeface="微软雅黑" panose="020B0503020204020204" charset="-122"/>
              </a:rPr>
              <a:t>战略</a:t>
            </a:r>
            <a:r>
              <a:rPr spc="-5" dirty="0">
                <a:ea typeface="微软雅黑" panose="020B0503020204020204" charset="-122"/>
              </a:rPr>
              <a:t>意</a:t>
            </a:r>
            <a:r>
              <a:rPr spc="-10" dirty="0">
                <a:ea typeface="微软雅黑" panose="020B0503020204020204" charset="-122"/>
              </a:rPr>
              <a:t>义</a:t>
            </a:r>
            <a:endParaRPr spc="-10" dirty="0">
              <a:ea typeface="微软雅黑" panose="020B0503020204020204" charset="-122"/>
            </a:endParaRPr>
          </a:p>
        </p:txBody>
      </p:sp>
      <p:sp>
        <p:nvSpPr>
          <p:cNvPr id="5" name="object 5"/>
          <p:cNvSpPr txBox="1"/>
          <p:nvPr/>
        </p:nvSpPr>
        <p:spPr>
          <a:xfrm>
            <a:off x="1258058" y="1521938"/>
            <a:ext cx="434032"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收入</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6" name="object 6"/>
          <p:cNvSpPr txBox="1"/>
          <p:nvPr/>
        </p:nvSpPr>
        <p:spPr>
          <a:xfrm>
            <a:off x="1155998" y="2664128"/>
            <a:ext cx="636454"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利润</a:t>
            </a:r>
            <a:r>
              <a:rPr sz="1600" b="1" spc="-10" dirty="0">
                <a:solidFill>
                  <a:srgbClr val="0066CC"/>
                </a:solidFill>
                <a:latin typeface="微软雅黑" panose="020B0503020204020204" charset="-122"/>
                <a:ea typeface="微软雅黑" panose="020B0503020204020204" charset="-122"/>
                <a:cs typeface="微软雅黑" panose="020B0503020204020204" charset="-122"/>
              </a:rPr>
              <a:t>率</a:t>
            </a:r>
            <a:endParaRPr sz="1600">
              <a:latin typeface="微软雅黑" panose="020B0503020204020204" charset="-122"/>
              <a:ea typeface="微软雅黑" panose="020B0503020204020204" charset="-122"/>
              <a:cs typeface="微软雅黑" panose="020B0503020204020204" charset="-122"/>
            </a:endParaRPr>
          </a:p>
        </p:txBody>
      </p:sp>
      <p:sp>
        <p:nvSpPr>
          <p:cNvPr id="7" name="object 7"/>
          <p:cNvSpPr txBox="1"/>
          <p:nvPr/>
        </p:nvSpPr>
        <p:spPr>
          <a:xfrm>
            <a:off x="1053962" y="4008359"/>
            <a:ext cx="84204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战略重点</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8" name="object 8"/>
          <p:cNvSpPr txBox="1"/>
          <p:nvPr/>
        </p:nvSpPr>
        <p:spPr>
          <a:xfrm>
            <a:off x="849586" y="5027192"/>
            <a:ext cx="1251968" cy="506095"/>
          </a:xfrm>
          <a:prstGeom prst="rect">
            <a:avLst/>
          </a:prstGeom>
        </p:spPr>
        <p:txBody>
          <a:bodyPr vert="horz" wrap="square" lIns="0" tIns="10787" rIns="0" bIns="0" rtlCol="0">
            <a:spAutoFit/>
          </a:bodyPr>
          <a:lstStyle/>
          <a:p>
            <a:pPr marL="318770" marR="5080" indent="-306705">
              <a:lnSpc>
                <a:spcPct val="101000"/>
              </a:lnSpc>
              <a:spcBef>
                <a:spcPts val="85"/>
              </a:spcBef>
            </a:pPr>
            <a:r>
              <a:rPr sz="1600" b="1" spc="5" dirty="0">
                <a:solidFill>
                  <a:srgbClr val="0066CC"/>
                </a:solidFill>
                <a:latin typeface="微软雅黑" panose="020B0503020204020204" charset="-122"/>
                <a:ea typeface="微软雅黑" panose="020B0503020204020204" charset="-122"/>
                <a:cs typeface="微软雅黑" panose="020B0503020204020204" charset="-122"/>
              </a:rPr>
              <a:t>满足客户需求 </a:t>
            </a:r>
            <a:r>
              <a:rPr sz="1600" b="1" dirty="0">
                <a:solidFill>
                  <a:srgbClr val="0066CC"/>
                </a:solidFill>
                <a:latin typeface="微软雅黑" panose="020B0503020204020204" charset="-122"/>
                <a:ea typeface="微软雅黑" panose="020B0503020204020204" charset="-122"/>
                <a:cs typeface="微软雅黑" panose="020B0503020204020204" charset="-122"/>
              </a:rPr>
              <a:t>的能力</a:t>
            </a:r>
            <a:endParaRPr sz="1600">
              <a:latin typeface="微软雅黑" panose="020B0503020204020204" charset="-122"/>
              <a:ea typeface="微软雅黑" panose="020B0503020204020204" charset="-122"/>
              <a:cs typeface="微软雅黑" panose="020B0503020204020204" charset="-122"/>
            </a:endParaRPr>
          </a:p>
        </p:txBody>
      </p:sp>
      <p:sp>
        <p:nvSpPr>
          <p:cNvPr id="9" name="object 9"/>
          <p:cNvSpPr/>
          <p:nvPr/>
        </p:nvSpPr>
        <p:spPr>
          <a:xfrm>
            <a:off x="489047" y="1129468"/>
            <a:ext cx="6608841" cy="4710013"/>
          </a:xfrm>
          <a:prstGeom prst="rect">
            <a:avLst/>
          </a:prstGeom>
          <a:blipFill>
            <a:blip r:embed="rId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txBox="1"/>
          <p:nvPr/>
        </p:nvSpPr>
        <p:spPr>
          <a:xfrm>
            <a:off x="3712119" y="2093363"/>
            <a:ext cx="637723"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影响力</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11" name="object 11"/>
          <p:cNvSpPr txBox="1"/>
          <p:nvPr/>
        </p:nvSpPr>
        <p:spPr>
          <a:xfrm>
            <a:off x="3610082" y="4579962"/>
            <a:ext cx="84204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战略意义</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12" name="object 12"/>
          <p:cNvSpPr txBox="1"/>
          <p:nvPr/>
        </p:nvSpPr>
        <p:spPr>
          <a:xfrm>
            <a:off x="5537466" y="1091586"/>
            <a:ext cx="84204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客户层级</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13" name="object 13"/>
          <p:cNvSpPr txBox="1"/>
          <p:nvPr/>
        </p:nvSpPr>
        <p:spPr>
          <a:xfrm>
            <a:off x="6168589" y="1703800"/>
            <a:ext cx="171963" cy="257175"/>
          </a:xfrm>
          <a:prstGeom prst="rect">
            <a:avLst/>
          </a:prstGeom>
        </p:spPr>
        <p:txBody>
          <a:bodyPr vert="horz" wrap="square" lIns="0" tIns="12056" rIns="0" bIns="0" rtlCol="0">
            <a:spAutoFit/>
          </a:bodyPr>
          <a:lstStyle/>
          <a:p>
            <a:pPr marL="12700">
              <a:lnSpc>
                <a:spcPct val="100000"/>
              </a:lnSpc>
              <a:spcBef>
                <a:spcPts val="95"/>
              </a:spcBef>
            </a:pPr>
            <a:r>
              <a:rPr sz="1600" b="1" spc="-5" dirty="0">
                <a:solidFill>
                  <a:srgbClr val="FFFFFF"/>
                </a:solidFill>
                <a:latin typeface="微软雅黑" panose="020B0503020204020204" charset="-122"/>
                <a:ea typeface="微软雅黑" panose="020B0503020204020204" charset="-122"/>
                <a:cs typeface="Arial" panose="020B0604020202020204"/>
              </a:rPr>
              <a:t>A</a:t>
            </a:r>
            <a:endParaRPr sz="1600" b="1" spc="-5" dirty="0">
              <a:solidFill>
                <a:srgbClr val="FFFFFF"/>
              </a:solidFill>
              <a:latin typeface="微软雅黑" panose="020B0503020204020204" charset="-122"/>
              <a:ea typeface="微软雅黑" panose="020B0503020204020204" charset="-122"/>
              <a:cs typeface="Arial" panose="020B0604020202020204"/>
            </a:endParaRPr>
          </a:p>
        </p:txBody>
      </p:sp>
      <p:sp>
        <p:nvSpPr>
          <p:cNvPr id="14" name="object 14"/>
          <p:cNvSpPr txBox="1"/>
          <p:nvPr/>
        </p:nvSpPr>
        <p:spPr>
          <a:xfrm>
            <a:off x="6168589" y="2594074"/>
            <a:ext cx="171963" cy="257175"/>
          </a:xfrm>
          <a:prstGeom prst="rect">
            <a:avLst/>
          </a:prstGeom>
        </p:spPr>
        <p:txBody>
          <a:bodyPr vert="horz" wrap="square" lIns="0" tIns="12056" rIns="0" bIns="0" rtlCol="0">
            <a:spAutoFit/>
          </a:bodyPr>
          <a:lstStyle/>
          <a:p>
            <a:pPr marL="12700">
              <a:lnSpc>
                <a:spcPct val="100000"/>
              </a:lnSpc>
              <a:spcBef>
                <a:spcPts val="95"/>
              </a:spcBef>
            </a:pPr>
            <a:r>
              <a:rPr sz="1600" b="1" spc="-5" dirty="0">
                <a:solidFill>
                  <a:srgbClr val="00295F"/>
                </a:solidFill>
                <a:latin typeface="微软雅黑" panose="020B0503020204020204" charset="-122"/>
                <a:ea typeface="微软雅黑" panose="020B0503020204020204" charset="-122"/>
                <a:cs typeface="Arial" panose="020B0604020202020204"/>
              </a:rPr>
              <a:t>B</a:t>
            </a:r>
            <a:endParaRPr sz="1600" b="1" spc="-5" dirty="0">
              <a:solidFill>
                <a:srgbClr val="00295F"/>
              </a:solidFill>
              <a:latin typeface="微软雅黑" panose="020B0503020204020204" charset="-122"/>
              <a:ea typeface="微软雅黑" panose="020B0503020204020204" charset="-122"/>
              <a:cs typeface="Arial" panose="020B0604020202020204"/>
            </a:endParaRPr>
          </a:p>
        </p:txBody>
      </p:sp>
      <p:sp>
        <p:nvSpPr>
          <p:cNvPr id="15" name="object 15"/>
          <p:cNvSpPr txBox="1"/>
          <p:nvPr/>
        </p:nvSpPr>
        <p:spPr>
          <a:xfrm>
            <a:off x="6167956" y="3447925"/>
            <a:ext cx="171963" cy="257175"/>
          </a:xfrm>
          <a:prstGeom prst="rect">
            <a:avLst/>
          </a:prstGeom>
        </p:spPr>
        <p:txBody>
          <a:bodyPr vert="horz" wrap="square" lIns="0" tIns="12056" rIns="0" bIns="0" rtlCol="0">
            <a:spAutoFit/>
          </a:bodyPr>
          <a:lstStyle/>
          <a:p>
            <a:pPr marL="12700">
              <a:lnSpc>
                <a:spcPct val="100000"/>
              </a:lnSpc>
              <a:spcBef>
                <a:spcPts val="95"/>
              </a:spcBef>
            </a:pPr>
            <a:r>
              <a:rPr sz="1600" b="1" spc="-5" dirty="0">
                <a:solidFill>
                  <a:srgbClr val="00295F"/>
                </a:solidFill>
                <a:latin typeface="微软雅黑" panose="020B0503020204020204" charset="-122"/>
                <a:ea typeface="微软雅黑" panose="020B0503020204020204" charset="-122"/>
                <a:cs typeface="Arial" panose="020B0604020202020204"/>
              </a:rPr>
              <a:t>C</a:t>
            </a:r>
            <a:endParaRPr sz="1600" b="1" spc="-5" dirty="0">
              <a:solidFill>
                <a:srgbClr val="00295F"/>
              </a:solidFill>
              <a:latin typeface="微软雅黑" panose="020B0503020204020204" charset="-122"/>
              <a:ea typeface="微软雅黑" panose="020B0503020204020204" charset="-122"/>
              <a:cs typeface="Arial" panose="020B0604020202020204"/>
            </a:endParaRPr>
          </a:p>
        </p:txBody>
      </p:sp>
      <p:sp>
        <p:nvSpPr>
          <p:cNvPr id="16" name="object 16"/>
          <p:cNvSpPr txBox="1"/>
          <p:nvPr/>
        </p:nvSpPr>
        <p:spPr>
          <a:xfrm>
            <a:off x="6167956" y="4291877"/>
            <a:ext cx="171963" cy="257175"/>
          </a:xfrm>
          <a:prstGeom prst="rect">
            <a:avLst/>
          </a:prstGeom>
        </p:spPr>
        <p:txBody>
          <a:bodyPr vert="horz" wrap="square" lIns="0" tIns="12056" rIns="0" bIns="0" rtlCol="0">
            <a:spAutoFit/>
          </a:bodyPr>
          <a:lstStyle/>
          <a:p>
            <a:pPr marL="12700">
              <a:lnSpc>
                <a:spcPct val="100000"/>
              </a:lnSpc>
              <a:spcBef>
                <a:spcPts val="95"/>
              </a:spcBef>
            </a:pPr>
            <a:r>
              <a:rPr sz="1600" b="1" spc="-5" dirty="0">
                <a:solidFill>
                  <a:srgbClr val="FFFFFF"/>
                </a:solidFill>
                <a:latin typeface="微软雅黑" panose="020B0503020204020204" charset="-122"/>
                <a:ea typeface="微软雅黑" panose="020B0503020204020204" charset="-122"/>
                <a:cs typeface="Arial" panose="020B0604020202020204"/>
              </a:rPr>
              <a:t>D</a:t>
            </a:r>
            <a:endParaRPr sz="1600" b="1" spc="-5" dirty="0">
              <a:solidFill>
                <a:srgbClr val="FFFFFF"/>
              </a:solidFill>
              <a:latin typeface="微软雅黑" panose="020B0503020204020204" charset="-122"/>
              <a:ea typeface="微软雅黑" panose="020B0503020204020204" charset="-122"/>
              <a:cs typeface="Arial" panose="020B0604020202020204"/>
            </a:endParaRPr>
          </a:p>
        </p:txBody>
      </p:sp>
      <p:sp>
        <p:nvSpPr>
          <p:cNvPr id="17" name="object 17"/>
          <p:cNvSpPr txBox="1"/>
          <p:nvPr/>
        </p:nvSpPr>
        <p:spPr>
          <a:xfrm>
            <a:off x="6173413" y="5170856"/>
            <a:ext cx="160541" cy="257175"/>
          </a:xfrm>
          <a:prstGeom prst="rect">
            <a:avLst/>
          </a:prstGeom>
        </p:spPr>
        <p:txBody>
          <a:bodyPr vert="horz" wrap="square" lIns="0" tIns="12056" rIns="0" bIns="0" rtlCol="0">
            <a:spAutoFit/>
          </a:bodyPr>
          <a:lstStyle/>
          <a:p>
            <a:pPr marL="12700">
              <a:lnSpc>
                <a:spcPct val="100000"/>
              </a:lnSpc>
              <a:spcBef>
                <a:spcPts val="95"/>
              </a:spcBef>
            </a:pPr>
            <a:r>
              <a:rPr sz="1600" b="1" spc="-5" dirty="0">
                <a:solidFill>
                  <a:srgbClr val="959595"/>
                </a:solidFill>
                <a:latin typeface="微软雅黑" panose="020B0503020204020204" charset="-122"/>
                <a:ea typeface="微软雅黑" panose="020B0503020204020204" charset="-122"/>
                <a:cs typeface="Arial" panose="020B0604020202020204"/>
              </a:rPr>
              <a:t>E</a:t>
            </a:r>
            <a:endParaRPr sz="1600" b="1" spc="-5" dirty="0">
              <a:solidFill>
                <a:srgbClr val="959595"/>
              </a:solidFill>
              <a:latin typeface="微软雅黑" panose="020B0503020204020204" charset="-122"/>
              <a:ea typeface="微软雅黑" panose="020B0503020204020204" charset="-122"/>
              <a:cs typeface="Arial" panose="020B0604020202020204"/>
            </a:endParaRPr>
          </a:p>
        </p:txBody>
      </p:sp>
      <p:sp>
        <p:nvSpPr>
          <p:cNvPr id="18" name="object 18"/>
          <p:cNvSpPr txBox="1"/>
          <p:nvPr/>
        </p:nvSpPr>
        <p:spPr>
          <a:xfrm>
            <a:off x="7268139" y="2215882"/>
            <a:ext cx="1233566" cy="2360930"/>
          </a:xfrm>
          <a:prstGeom prst="rect">
            <a:avLst/>
          </a:prstGeom>
          <a:solidFill>
            <a:srgbClr val="C6DFFA"/>
          </a:solidFill>
          <a:ln w="28575">
            <a:solidFill>
              <a:srgbClr val="0066CC"/>
            </a:solidFill>
          </a:ln>
        </p:spPr>
        <p:txBody>
          <a:bodyPr vert="horz" wrap="square" lIns="0" tIns="144042" rIns="0" bIns="0" rtlCol="0">
            <a:spAutoFit/>
          </a:bodyPr>
          <a:lstStyle/>
          <a:p>
            <a:pPr marL="71755" marR="141605">
              <a:lnSpc>
                <a:spcPct val="100000"/>
              </a:lnSpc>
              <a:spcBef>
                <a:spcPts val="1135"/>
              </a:spcBef>
            </a:pPr>
            <a:r>
              <a:rPr sz="1600" spc="-5" dirty="0">
                <a:latin typeface="微软雅黑" panose="020B0503020204020204" charset="-122"/>
                <a:ea typeface="微软雅黑" panose="020B0503020204020204" charset="-122"/>
                <a:cs typeface="微软雅黑" panose="020B0503020204020204" charset="-122"/>
              </a:rPr>
              <a:t>可以将间接 渠道（例如</a:t>
            </a:r>
            <a:endParaRPr sz="1600">
              <a:latin typeface="微软雅黑" panose="020B0503020204020204" charset="-122"/>
              <a:ea typeface="微软雅黑" panose="020B0503020204020204" charset="-122"/>
              <a:cs typeface="微软雅黑" panose="020B0503020204020204" charset="-122"/>
            </a:endParaRPr>
          </a:p>
          <a:p>
            <a:pPr marL="71755">
              <a:lnSpc>
                <a:spcPct val="100000"/>
              </a:lnSpc>
            </a:pPr>
            <a:r>
              <a:rPr sz="1600" spc="-5" dirty="0">
                <a:latin typeface="微软雅黑" panose="020B0503020204020204" charset="-122"/>
                <a:ea typeface="微软雅黑" panose="020B0503020204020204" charset="-122"/>
                <a:cs typeface="微软雅黑" panose="020B0503020204020204" charset="-122"/>
              </a:rPr>
              <a:t>，大分销商</a:t>
            </a:r>
            <a:endParaRPr sz="1600">
              <a:latin typeface="微软雅黑" panose="020B0503020204020204" charset="-122"/>
              <a:ea typeface="微软雅黑" panose="020B0503020204020204" charset="-122"/>
              <a:cs typeface="微软雅黑" panose="020B0503020204020204" charset="-122"/>
            </a:endParaRPr>
          </a:p>
          <a:p>
            <a:pPr marL="71755" marR="141605" algn="just">
              <a:lnSpc>
                <a:spcPct val="100000"/>
              </a:lnSpc>
            </a:pPr>
            <a:r>
              <a:rPr sz="1600" spc="-5" dirty="0">
                <a:latin typeface="微软雅黑" panose="020B0503020204020204" charset="-122"/>
                <a:ea typeface="微软雅黑" panose="020B0503020204020204" charset="-122"/>
                <a:cs typeface="微软雅黑" panose="020B0503020204020204" charset="-122"/>
              </a:rPr>
              <a:t>）作为大客 </a:t>
            </a:r>
            <a:r>
              <a:rPr sz="1600" spc="-10" dirty="0">
                <a:latin typeface="微软雅黑" panose="020B0503020204020204" charset="-122"/>
                <a:ea typeface="微软雅黑" panose="020B0503020204020204" charset="-122"/>
                <a:cs typeface="微软雅黑" panose="020B0503020204020204" charset="-122"/>
              </a:rPr>
              <a:t>户进行优先 </a:t>
            </a:r>
            <a:r>
              <a:rPr sz="1600" spc="-5" dirty="0">
                <a:latin typeface="微软雅黑" panose="020B0503020204020204" charset="-122"/>
                <a:ea typeface="微软雅黑" panose="020B0503020204020204" charset="-122"/>
                <a:cs typeface="微软雅黑" panose="020B0503020204020204" charset="-122"/>
              </a:rPr>
              <a:t>排序、管理</a:t>
            </a:r>
            <a:endParaRPr sz="1600">
              <a:latin typeface="微软雅黑" panose="020B0503020204020204" charset="-122"/>
              <a:ea typeface="微软雅黑" panose="020B0503020204020204" charset="-122"/>
              <a:cs typeface="微软雅黑" panose="020B0503020204020204" charset="-122"/>
            </a:endParaRPr>
          </a:p>
          <a:p>
            <a:pPr marL="71755" marR="141605">
              <a:lnSpc>
                <a:spcPct val="100000"/>
              </a:lnSpc>
              <a:spcBef>
                <a:spcPts val="5"/>
              </a:spcBef>
            </a:pPr>
            <a:r>
              <a:rPr sz="1600" spc="-5" dirty="0">
                <a:latin typeface="微软雅黑" panose="020B0503020204020204" charset="-122"/>
                <a:ea typeface="微软雅黑" panose="020B0503020204020204" charset="-122"/>
                <a:cs typeface="微软雅黑" panose="020B0503020204020204" charset="-122"/>
              </a:rPr>
              <a:t>，将在渠道 管理子模块</a:t>
            </a:r>
            <a:endParaRPr sz="1600">
              <a:latin typeface="微软雅黑" panose="020B0503020204020204" charset="-122"/>
              <a:ea typeface="微软雅黑" panose="020B0503020204020204" charset="-122"/>
              <a:cs typeface="微软雅黑" panose="020B0503020204020204" charset="-122"/>
            </a:endParaRPr>
          </a:p>
          <a:p>
            <a:pPr marL="71755">
              <a:lnSpc>
                <a:spcPct val="100000"/>
              </a:lnSpc>
              <a:spcBef>
                <a:spcPts val="10"/>
              </a:spcBef>
            </a:pPr>
            <a:r>
              <a:rPr sz="1600" spc="-5" dirty="0">
                <a:latin typeface="微软雅黑" panose="020B0503020204020204" charset="-122"/>
                <a:ea typeface="微软雅黑" panose="020B0503020204020204" charset="-122"/>
                <a:cs typeface="微软雅黑" panose="020B0503020204020204" charset="-122"/>
              </a:rPr>
              <a:t>中细阐述</a:t>
            </a:r>
            <a:endParaRPr sz="1600">
              <a:latin typeface="微软雅黑" panose="020B0503020204020204" charset="-122"/>
              <a:ea typeface="微软雅黑" panose="020B0503020204020204" charset="-122"/>
              <a:cs typeface="微软雅黑" panose="020B0503020204020204" charset="-122"/>
            </a:endParaRPr>
          </a:p>
        </p:txBody>
      </p:sp>
      <p:sp>
        <p:nvSpPr>
          <p:cNvPr id="19" name="object 19"/>
          <p:cNvSpPr txBox="1"/>
          <p:nvPr/>
        </p:nvSpPr>
        <p:spPr>
          <a:xfrm>
            <a:off x="106401" y="6412696"/>
            <a:ext cx="2191102"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35"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a:t>
            </a:r>
            <a:r>
              <a:rPr sz="1000" spc="-35"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营销和销售业务部</a:t>
            </a:r>
            <a:endParaRPr sz="10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56962" y="203088"/>
            <a:ext cx="2682879" cy="303530"/>
          </a:xfrm>
          <a:prstGeom prst="rect">
            <a:avLst/>
          </a:prstGeom>
        </p:spPr>
        <p:txBody>
          <a:bodyPr vert="horz" wrap="square" lIns="0" tIns="12056" rIns="0" bIns="0" rtlCol="0">
            <a:spAutoFit/>
          </a:bodyPr>
          <a:lstStyle/>
          <a:p>
            <a:pPr marL="12700">
              <a:lnSpc>
                <a:spcPct val="100000"/>
              </a:lnSpc>
              <a:spcBef>
                <a:spcPts val="95"/>
              </a:spcBef>
            </a:pPr>
            <a:r>
              <a:rPr dirty="0">
                <a:ea typeface="微软雅黑" panose="020B0503020204020204" charset="-122"/>
              </a:rPr>
              <a:t>大客户管理</a:t>
            </a:r>
            <a:r>
              <a:rPr spc="-10" dirty="0">
                <a:ea typeface="微软雅黑" panose="020B0503020204020204" charset="-122"/>
              </a:rPr>
              <a:t>包括</a:t>
            </a:r>
            <a:r>
              <a:rPr spc="5" dirty="0">
                <a:ea typeface="微软雅黑" panose="020B0503020204020204" charset="-122"/>
              </a:rPr>
              <a:t>五</a:t>
            </a:r>
            <a:r>
              <a:rPr spc="-10" dirty="0">
                <a:ea typeface="微软雅黑" panose="020B0503020204020204" charset="-122"/>
              </a:rPr>
              <a:t>大要素</a:t>
            </a:r>
            <a:endParaRPr spc="-10" dirty="0">
              <a:ea typeface="微软雅黑" panose="020B0503020204020204" charset="-122"/>
            </a:endParaRPr>
          </a:p>
        </p:txBody>
      </p:sp>
      <p:sp>
        <p:nvSpPr>
          <p:cNvPr id="4" name="object 4"/>
          <p:cNvSpPr/>
          <p:nvPr/>
        </p:nvSpPr>
        <p:spPr>
          <a:xfrm>
            <a:off x="4074573" y="1323450"/>
            <a:ext cx="2679071" cy="1951242"/>
          </a:xfrm>
          <a:custGeom>
            <a:avLst/>
            <a:gdLst/>
            <a:ahLst/>
            <a:cxnLst/>
            <a:rect l="l" t="t" r="r" b="b"/>
            <a:pathLst>
              <a:path w="2680970" h="1952625">
                <a:moveTo>
                  <a:pt x="1977643" y="0"/>
                </a:moveTo>
                <a:lnTo>
                  <a:pt x="0" y="0"/>
                </a:lnTo>
                <a:lnTo>
                  <a:pt x="703072" y="1952244"/>
                </a:lnTo>
                <a:lnTo>
                  <a:pt x="2680716" y="1952244"/>
                </a:lnTo>
                <a:lnTo>
                  <a:pt x="197764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p:nvPr/>
        </p:nvSpPr>
        <p:spPr>
          <a:xfrm>
            <a:off x="4074573" y="1323450"/>
            <a:ext cx="2679071" cy="1951242"/>
          </a:xfrm>
          <a:custGeom>
            <a:avLst/>
            <a:gdLst/>
            <a:ahLst/>
            <a:cxnLst/>
            <a:rect l="l" t="t" r="r" b="b"/>
            <a:pathLst>
              <a:path w="2680970" h="1952625">
                <a:moveTo>
                  <a:pt x="0" y="0"/>
                </a:moveTo>
                <a:lnTo>
                  <a:pt x="1977643" y="0"/>
                </a:lnTo>
                <a:lnTo>
                  <a:pt x="2680716" y="1952244"/>
                </a:lnTo>
                <a:lnTo>
                  <a:pt x="703072"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4074573" y="3274312"/>
            <a:ext cx="4655695" cy="1949338"/>
          </a:xfrm>
          <a:custGeom>
            <a:avLst/>
            <a:gdLst/>
            <a:ahLst/>
            <a:cxnLst/>
            <a:rect l="l" t="t" r="r" b="b"/>
            <a:pathLst>
              <a:path w="4658995" h="1950720">
                <a:moveTo>
                  <a:pt x="4658868" y="0"/>
                </a:moveTo>
                <a:lnTo>
                  <a:pt x="703199" y="0"/>
                </a:lnTo>
                <a:lnTo>
                  <a:pt x="0" y="1950720"/>
                </a:lnTo>
                <a:lnTo>
                  <a:pt x="3955668" y="1950720"/>
                </a:lnTo>
                <a:lnTo>
                  <a:pt x="4658868"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4074573" y="3274312"/>
            <a:ext cx="4655695" cy="1949338"/>
          </a:xfrm>
          <a:custGeom>
            <a:avLst/>
            <a:gdLst/>
            <a:ahLst/>
            <a:cxnLst/>
            <a:rect l="l" t="t" r="r" b="b"/>
            <a:pathLst>
              <a:path w="4658995" h="1950720">
                <a:moveTo>
                  <a:pt x="4658868" y="0"/>
                </a:moveTo>
                <a:lnTo>
                  <a:pt x="3955668" y="1950720"/>
                </a:lnTo>
                <a:lnTo>
                  <a:pt x="0" y="1950720"/>
                </a:lnTo>
                <a:lnTo>
                  <a:pt x="703199" y="0"/>
                </a:lnTo>
                <a:lnTo>
                  <a:pt x="4658868"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6051325" y="1323450"/>
            <a:ext cx="2679071" cy="1951242"/>
          </a:xfrm>
          <a:custGeom>
            <a:avLst/>
            <a:gdLst/>
            <a:ahLst/>
            <a:cxnLst/>
            <a:rect l="l" t="t" r="r" b="b"/>
            <a:pathLst>
              <a:path w="2680970" h="1952625">
                <a:moveTo>
                  <a:pt x="1977643" y="0"/>
                </a:moveTo>
                <a:lnTo>
                  <a:pt x="0" y="0"/>
                </a:lnTo>
                <a:lnTo>
                  <a:pt x="703071" y="1952244"/>
                </a:lnTo>
                <a:lnTo>
                  <a:pt x="2680716" y="1952244"/>
                </a:lnTo>
                <a:lnTo>
                  <a:pt x="197764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6051325" y="1323450"/>
            <a:ext cx="2679071" cy="1951242"/>
          </a:xfrm>
          <a:custGeom>
            <a:avLst/>
            <a:gdLst/>
            <a:ahLst/>
            <a:cxnLst/>
            <a:rect l="l" t="t" r="r" b="b"/>
            <a:pathLst>
              <a:path w="2680970" h="1952625">
                <a:moveTo>
                  <a:pt x="0" y="0"/>
                </a:moveTo>
                <a:lnTo>
                  <a:pt x="1977643" y="0"/>
                </a:lnTo>
                <a:lnTo>
                  <a:pt x="2680716" y="1952244"/>
                </a:lnTo>
                <a:lnTo>
                  <a:pt x="703071"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119549" y="1323450"/>
            <a:ext cx="2680340" cy="3900581"/>
          </a:xfrm>
          <a:custGeom>
            <a:avLst/>
            <a:gdLst/>
            <a:ahLst/>
            <a:cxnLst/>
            <a:rect l="l" t="t" r="r" b="b"/>
            <a:pathLst>
              <a:path w="2682240" h="3903345">
                <a:moveTo>
                  <a:pt x="1978787" y="0"/>
                </a:moveTo>
                <a:lnTo>
                  <a:pt x="0" y="0"/>
                </a:lnTo>
                <a:lnTo>
                  <a:pt x="0" y="3902964"/>
                </a:lnTo>
                <a:lnTo>
                  <a:pt x="1978787" y="3902964"/>
                </a:lnTo>
                <a:lnTo>
                  <a:pt x="2682240" y="1952244"/>
                </a:lnTo>
                <a:lnTo>
                  <a:pt x="1978787"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119549" y="1323450"/>
            <a:ext cx="2680340" cy="3900581"/>
          </a:xfrm>
          <a:custGeom>
            <a:avLst/>
            <a:gdLst/>
            <a:ahLst/>
            <a:cxnLst/>
            <a:rect l="l" t="t" r="r" b="b"/>
            <a:pathLst>
              <a:path w="2682240" h="3903345">
                <a:moveTo>
                  <a:pt x="0" y="0"/>
                </a:moveTo>
                <a:lnTo>
                  <a:pt x="1978787" y="0"/>
                </a:lnTo>
                <a:lnTo>
                  <a:pt x="2682240" y="1952244"/>
                </a:lnTo>
                <a:lnTo>
                  <a:pt x="1978787" y="3902964"/>
                </a:lnTo>
                <a:lnTo>
                  <a:pt x="0" y="3902964"/>
                </a:lnTo>
                <a:lnTo>
                  <a:pt x="0"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169043" y="1538944"/>
            <a:ext cx="1926495" cy="3359944"/>
          </a:xfrm>
          <a:custGeom>
            <a:avLst/>
            <a:gdLst/>
            <a:ahLst/>
            <a:cxnLst/>
            <a:rect l="l" t="t" r="r" b="b"/>
            <a:pathLst>
              <a:path w="1927860" h="3362325">
                <a:moveTo>
                  <a:pt x="0" y="3361944"/>
                </a:moveTo>
                <a:lnTo>
                  <a:pt x="1927860" y="3361944"/>
                </a:lnTo>
                <a:lnTo>
                  <a:pt x="1927860" y="0"/>
                </a:lnTo>
                <a:lnTo>
                  <a:pt x="0" y="0"/>
                </a:lnTo>
                <a:lnTo>
                  <a:pt x="0" y="336194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txBox="1"/>
          <p:nvPr/>
        </p:nvSpPr>
        <p:spPr>
          <a:xfrm>
            <a:off x="5439110" y="3524071"/>
            <a:ext cx="434032"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组织</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14" name="object 14"/>
          <p:cNvSpPr/>
          <p:nvPr/>
        </p:nvSpPr>
        <p:spPr>
          <a:xfrm>
            <a:off x="4876519" y="3421020"/>
            <a:ext cx="385807" cy="501295"/>
          </a:xfrm>
          <a:custGeom>
            <a:avLst/>
            <a:gdLst/>
            <a:ahLst/>
            <a:cxnLst/>
            <a:rect l="l" t="t" r="r" b="b"/>
            <a:pathLst>
              <a:path w="386079" h="501650">
                <a:moveTo>
                  <a:pt x="188213" y="0"/>
                </a:moveTo>
                <a:lnTo>
                  <a:pt x="146496" y="4355"/>
                </a:lnTo>
                <a:lnTo>
                  <a:pt x="109553" y="17414"/>
                </a:lnTo>
                <a:lnTo>
                  <a:pt x="77396" y="39165"/>
                </a:lnTo>
                <a:lnTo>
                  <a:pt x="50037" y="69595"/>
                </a:lnTo>
                <a:lnTo>
                  <a:pt x="28128" y="107053"/>
                </a:lnTo>
                <a:lnTo>
                  <a:pt x="12493" y="149891"/>
                </a:lnTo>
                <a:lnTo>
                  <a:pt x="3121" y="198112"/>
                </a:lnTo>
                <a:lnTo>
                  <a:pt x="0" y="251713"/>
                </a:lnTo>
                <a:lnTo>
                  <a:pt x="1549" y="289958"/>
                </a:lnTo>
                <a:lnTo>
                  <a:pt x="13983" y="358780"/>
                </a:lnTo>
                <a:lnTo>
                  <a:pt x="38179" y="416647"/>
                </a:lnTo>
                <a:lnTo>
                  <a:pt x="69611" y="459319"/>
                </a:lnTo>
                <a:lnTo>
                  <a:pt x="108547" y="486487"/>
                </a:lnTo>
                <a:lnTo>
                  <a:pt x="160605" y="499961"/>
                </a:lnTo>
                <a:lnTo>
                  <a:pt x="191897" y="501650"/>
                </a:lnTo>
                <a:lnTo>
                  <a:pt x="227782" y="499695"/>
                </a:lnTo>
                <a:lnTo>
                  <a:pt x="286265" y="484022"/>
                </a:lnTo>
                <a:lnTo>
                  <a:pt x="328509" y="452014"/>
                </a:lnTo>
                <a:lnTo>
                  <a:pt x="363370" y="400147"/>
                </a:lnTo>
                <a:lnTo>
                  <a:pt x="366288" y="393700"/>
                </a:lnTo>
                <a:lnTo>
                  <a:pt x="194817" y="393700"/>
                </a:lnTo>
                <a:lnTo>
                  <a:pt x="180578" y="391747"/>
                </a:lnTo>
                <a:lnTo>
                  <a:pt x="146430" y="362457"/>
                </a:lnTo>
                <a:lnTo>
                  <a:pt x="132125" y="317184"/>
                </a:lnTo>
                <a:lnTo>
                  <a:pt x="129794" y="296417"/>
                </a:lnTo>
                <a:lnTo>
                  <a:pt x="385825" y="296417"/>
                </a:lnTo>
                <a:lnTo>
                  <a:pt x="385825" y="275716"/>
                </a:lnTo>
                <a:lnTo>
                  <a:pt x="384468" y="230499"/>
                </a:lnTo>
                <a:lnTo>
                  <a:pt x="382249" y="208279"/>
                </a:lnTo>
                <a:lnTo>
                  <a:pt x="130175" y="208279"/>
                </a:lnTo>
                <a:lnTo>
                  <a:pt x="132244" y="188162"/>
                </a:lnTo>
                <a:lnTo>
                  <a:pt x="144907" y="143763"/>
                </a:lnTo>
                <a:lnTo>
                  <a:pt x="179071" y="111134"/>
                </a:lnTo>
                <a:lnTo>
                  <a:pt x="193548" y="108965"/>
                </a:lnTo>
                <a:lnTo>
                  <a:pt x="358683" y="108965"/>
                </a:lnTo>
                <a:lnTo>
                  <a:pt x="352087" y="93678"/>
                </a:lnTo>
                <a:lnTo>
                  <a:pt x="320567" y="48529"/>
                </a:lnTo>
                <a:lnTo>
                  <a:pt x="278493" y="17573"/>
                </a:lnTo>
                <a:lnTo>
                  <a:pt x="222053" y="1952"/>
                </a:lnTo>
                <a:lnTo>
                  <a:pt x="188213" y="0"/>
                </a:lnTo>
                <a:close/>
              </a:path>
              <a:path w="386079" h="501650">
                <a:moveTo>
                  <a:pt x="252729" y="349757"/>
                </a:moveTo>
                <a:lnTo>
                  <a:pt x="221910" y="386038"/>
                </a:lnTo>
                <a:lnTo>
                  <a:pt x="194817" y="393700"/>
                </a:lnTo>
                <a:lnTo>
                  <a:pt x="366288" y="393700"/>
                </a:lnTo>
                <a:lnTo>
                  <a:pt x="378587" y="366521"/>
                </a:lnTo>
                <a:lnTo>
                  <a:pt x="252729" y="349757"/>
                </a:lnTo>
                <a:close/>
              </a:path>
              <a:path w="386079" h="501650">
                <a:moveTo>
                  <a:pt x="358683" y="108965"/>
                </a:moveTo>
                <a:lnTo>
                  <a:pt x="193548" y="108965"/>
                </a:lnTo>
                <a:lnTo>
                  <a:pt x="206069" y="110396"/>
                </a:lnTo>
                <a:lnTo>
                  <a:pt x="217328" y="114696"/>
                </a:lnTo>
                <a:lnTo>
                  <a:pt x="243278" y="145379"/>
                </a:lnTo>
                <a:lnTo>
                  <a:pt x="253236" y="183566"/>
                </a:lnTo>
                <a:lnTo>
                  <a:pt x="255904" y="208279"/>
                </a:lnTo>
                <a:lnTo>
                  <a:pt x="382249" y="208279"/>
                </a:lnTo>
                <a:lnTo>
                  <a:pt x="380396" y="189722"/>
                </a:lnTo>
                <a:lnTo>
                  <a:pt x="373610" y="153398"/>
                </a:lnTo>
                <a:lnTo>
                  <a:pt x="364109" y="121538"/>
                </a:lnTo>
                <a:lnTo>
                  <a:pt x="358683" y="108965"/>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6458199" y="1433354"/>
            <a:ext cx="385807" cy="501295"/>
          </a:xfrm>
          <a:custGeom>
            <a:avLst/>
            <a:gdLst/>
            <a:ahLst/>
            <a:cxnLst/>
            <a:rect l="l" t="t" r="r" b="b"/>
            <a:pathLst>
              <a:path w="386079" h="501650">
                <a:moveTo>
                  <a:pt x="147827" y="127888"/>
                </a:moveTo>
                <a:lnTo>
                  <a:pt x="89074" y="139684"/>
                </a:lnTo>
                <a:lnTo>
                  <a:pt x="41655" y="175005"/>
                </a:lnTo>
                <a:lnTo>
                  <a:pt x="10398" y="232537"/>
                </a:lnTo>
                <a:lnTo>
                  <a:pt x="0" y="311023"/>
                </a:lnTo>
                <a:lnTo>
                  <a:pt x="2357" y="349244"/>
                </a:lnTo>
                <a:lnTo>
                  <a:pt x="21216" y="416732"/>
                </a:lnTo>
                <a:lnTo>
                  <a:pt x="58697" y="470360"/>
                </a:lnTo>
                <a:lnTo>
                  <a:pt x="113371" y="498173"/>
                </a:lnTo>
                <a:lnTo>
                  <a:pt x="147066" y="501650"/>
                </a:lnTo>
                <a:lnTo>
                  <a:pt x="164472" y="500675"/>
                </a:lnTo>
                <a:lnTo>
                  <a:pt x="211835" y="486155"/>
                </a:lnTo>
                <a:lnTo>
                  <a:pt x="247036" y="456116"/>
                </a:lnTo>
                <a:lnTo>
                  <a:pt x="259969" y="440689"/>
                </a:lnTo>
                <a:lnTo>
                  <a:pt x="385699" y="440689"/>
                </a:lnTo>
                <a:lnTo>
                  <a:pt x="385699" y="401319"/>
                </a:lnTo>
                <a:lnTo>
                  <a:pt x="191007" y="401319"/>
                </a:lnTo>
                <a:lnTo>
                  <a:pt x="179459" y="400034"/>
                </a:lnTo>
                <a:lnTo>
                  <a:pt x="143454" y="369226"/>
                </a:lnTo>
                <a:lnTo>
                  <a:pt x="134239" y="316738"/>
                </a:lnTo>
                <a:lnTo>
                  <a:pt x="135237" y="294997"/>
                </a:lnTo>
                <a:lnTo>
                  <a:pt x="150114" y="250062"/>
                </a:lnTo>
                <a:lnTo>
                  <a:pt x="189356" y="230250"/>
                </a:lnTo>
                <a:lnTo>
                  <a:pt x="385699" y="230250"/>
                </a:lnTo>
                <a:lnTo>
                  <a:pt x="385699" y="170941"/>
                </a:lnTo>
                <a:lnTo>
                  <a:pt x="250063" y="170941"/>
                </a:lnTo>
                <a:lnTo>
                  <a:pt x="239799" y="160847"/>
                </a:lnTo>
                <a:lnTo>
                  <a:pt x="228822" y="152098"/>
                </a:lnTo>
                <a:lnTo>
                  <a:pt x="191583" y="133943"/>
                </a:lnTo>
                <a:lnTo>
                  <a:pt x="163111" y="128557"/>
                </a:lnTo>
                <a:lnTo>
                  <a:pt x="147827" y="127888"/>
                </a:lnTo>
                <a:close/>
              </a:path>
              <a:path w="386079" h="501650">
                <a:moveTo>
                  <a:pt x="385699" y="440689"/>
                </a:moveTo>
                <a:lnTo>
                  <a:pt x="259969" y="440689"/>
                </a:lnTo>
                <a:lnTo>
                  <a:pt x="259969" y="493522"/>
                </a:lnTo>
                <a:lnTo>
                  <a:pt x="385699" y="493522"/>
                </a:lnTo>
                <a:lnTo>
                  <a:pt x="385699" y="440689"/>
                </a:lnTo>
                <a:close/>
              </a:path>
              <a:path w="386079" h="501650">
                <a:moveTo>
                  <a:pt x="385699" y="230250"/>
                </a:moveTo>
                <a:lnTo>
                  <a:pt x="189356" y="230250"/>
                </a:lnTo>
                <a:lnTo>
                  <a:pt x="202120" y="231538"/>
                </a:lnTo>
                <a:lnTo>
                  <a:pt x="213741" y="235410"/>
                </a:lnTo>
                <a:lnTo>
                  <a:pt x="241220" y="262647"/>
                </a:lnTo>
                <a:lnTo>
                  <a:pt x="251078" y="313689"/>
                </a:lnTo>
                <a:lnTo>
                  <a:pt x="250007" y="335311"/>
                </a:lnTo>
                <a:lnTo>
                  <a:pt x="233933" y="380746"/>
                </a:lnTo>
                <a:lnTo>
                  <a:pt x="191007" y="401319"/>
                </a:lnTo>
                <a:lnTo>
                  <a:pt x="385699" y="401319"/>
                </a:lnTo>
                <a:lnTo>
                  <a:pt x="385699" y="230250"/>
                </a:lnTo>
                <a:close/>
              </a:path>
              <a:path w="386079" h="501650">
                <a:moveTo>
                  <a:pt x="385699" y="0"/>
                </a:moveTo>
                <a:lnTo>
                  <a:pt x="250063" y="0"/>
                </a:lnTo>
                <a:lnTo>
                  <a:pt x="250063" y="170941"/>
                </a:lnTo>
                <a:lnTo>
                  <a:pt x="385699" y="170941"/>
                </a:lnTo>
                <a:lnTo>
                  <a:pt x="385699"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p:nvPr/>
        </p:nvSpPr>
        <p:spPr>
          <a:xfrm>
            <a:off x="253820" y="1433354"/>
            <a:ext cx="253820" cy="503198"/>
          </a:xfrm>
          <a:custGeom>
            <a:avLst/>
            <a:gdLst/>
            <a:ahLst/>
            <a:cxnLst/>
            <a:rect l="l" t="t" r="r" b="b"/>
            <a:pathLst>
              <a:path w="254000" h="503555">
                <a:moveTo>
                  <a:pt x="237734" y="109600"/>
                </a:moveTo>
                <a:lnTo>
                  <a:pt x="131673" y="109600"/>
                </a:lnTo>
                <a:lnTo>
                  <a:pt x="139160" y="110456"/>
                </a:lnTo>
                <a:lnTo>
                  <a:pt x="145427" y="113014"/>
                </a:lnTo>
                <a:lnTo>
                  <a:pt x="160341" y="155122"/>
                </a:lnTo>
                <a:lnTo>
                  <a:pt x="160743" y="170814"/>
                </a:lnTo>
                <a:lnTo>
                  <a:pt x="152959" y="177319"/>
                </a:lnTo>
                <a:lnTo>
                  <a:pt x="108359" y="204311"/>
                </a:lnTo>
                <a:lnTo>
                  <a:pt x="69164" y="222123"/>
                </a:lnTo>
                <a:lnTo>
                  <a:pt x="50883" y="231838"/>
                </a:lnTo>
                <a:lnTo>
                  <a:pt x="14744" y="274700"/>
                </a:lnTo>
                <a:lnTo>
                  <a:pt x="3686" y="314880"/>
                </a:lnTo>
                <a:lnTo>
                  <a:pt x="0" y="364871"/>
                </a:lnTo>
                <a:lnTo>
                  <a:pt x="1278" y="392947"/>
                </a:lnTo>
                <a:lnTo>
                  <a:pt x="11508" y="442148"/>
                </a:lnTo>
                <a:lnTo>
                  <a:pt x="31875" y="480724"/>
                </a:lnTo>
                <a:lnTo>
                  <a:pt x="80378" y="503174"/>
                </a:lnTo>
                <a:lnTo>
                  <a:pt x="94772" y="501933"/>
                </a:lnTo>
                <a:lnTo>
                  <a:pt x="132499" y="483235"/>
                </a:lnTo>
                <a:lnTo>
                  <a:pt x="157232" y="449516"/>
                </a:lnTo>
                <a:lnTo>
                  <a:pt x="165531" y="433324"/>
                </a:lnTo>
                <a:lnTo>
                  <a:pt x="244579" y="433324"/>
                </a:lnTo>
                <a:lnTo>
                  <a:pt x="244517" y="432556"/>
                </a:lnTo>
                <a:lnTo>
                  <a:pt x="243901" y="420163"/>
                </a:lnTo>
                <a:lnTo>
                  <a:pt x="243531" y="405937"/>
                </a:lnTo>
                <a:lnTo>
                  <a:pt x="243491" y="400685"/>
                </a:lnTo>
                <a:lnTo>
                  <a:pt x="103149" y="400685"/>
                </a:lnTo>
                <a:lnTo>
                  <a:pt x="85169" y="361660"/>
                </a:lnTo>
                <a:lnTo>
                  <a:pt x="84734" y="351281"/>
                </a:lnTo>
                <a:lnTo>
                  <a:pt x="85175" y="342016"/>
                </a:lnTo>
                <a:lnTo>
                  <a:pt x="103378" y="302656"/>
                </a:lnTo>
                <a:lnTo>
                  <a:pt x="133767" y="282424"/>
                </a:lnTo>
                <a:lnTo>
                  <a:pt x="142943" y="276637"/>
                </a:lnTo>
                <a:lnTo>
                  <a:pt x="151935" y="270422"/>
                </a:lnTo>
                <a:lnTo>
                  <a:pt x="160743" y="263778"/>
                </a:lnTo>
                <a:lnTo>
                  <a:pt x="243408" y="263778"/>
                </a:lnTo>
                <a:lnTo>
                  <a:pt x="243408" y="177164"/>
                </a:lnTo>
                <a:lnTo>
                  <a:pt x="243017" y="159976"/>
                </a:lnTo>
                <a:lnTo>
                  <a:pt x="241847" y="142335"/>
                </a:lnTo>
                <a:lnTo>
                  <a:pt x="239890" y="124205"/>
                </a:lnTo>
                <a:lnTo>
                  <a:pt x="237734" y="109600"/>
                </a:lnTo>
                <a:close/>
              </a:path>
              <a:path w="254000" h="503555">
                <a:moveTo>
                  <a:pt x="244579" y="433324"/>
                </a:moveTo>
                <a:lnTo>
                  <a:pt x="165531" y="433324"/>
                </a:lnTo>
                <a:lnTo>
                  <a:pt x="166256" y="443102"/>
                </a:lnTo>
                <a:lnTo>
                  <a:pt x="172481" y="483540"/>
                </a:lnTo>
                <a:lnTo>
                  <a:pt x="174663" y="492251"/>
                </a:lnTo>
                <a:lnTo>
                  <a:pt x="254000" y="492251"/>
                </a:lnTo>
                <a:lnTo>
                  <a:pt x="250968" y="477964"/>
                </a:lnTo>
                <a:lnTo>
                  <a:pt x="248521" y="465010"/>
                </a:lnTo>
                <a:lnTo>
                  <a:pt x="246658" y="453389"/>
                </a:lnTo>
                <a:lnTo>
                  <a:pt x="245376" y="443102"/>
                </a:lnTo>
                <a:lnTo>
                  <a:pt x="244579" y="433324"/>
                </a:lnTo>
                <a:close/>
              </a:path>
              <a:path w="254000" h="503555">
                <a:moveTo>
                  <a:pt x="243408" y="263778"/>
                </a:moveTo>
                <a:lnTo>
                  <a:pt x="160743" y="263778"/>
                </a:lnTo>
                <a:lnTo>
                  <a:pt x="160704" y="295261"/>
                </a:lnTo>
                <a:lnTo>
                  <a:pt x="160426" y="309673"/>
                </a:lnTo>
                <a:lnTo>
                  <a:pt x="155663" y="349250"/>
                </a:lnTo>
                <a:lnTo>
                  <a:pt x="138417" y="385699"/>
                </a:lnTo>
                <a:lnTo>
                  <a:pt x="112153" y="400685"/>
                </a:lnTo>
                <a:lnTo>
                  <a:pt x="243491" y="400685"/>
                </a:lnTo>
                <a:lnTo>
                  <a:pt x="243408" y="263778"/>
                </a:lnTo>
                <a:close/>
              </a:path>
              <a:path w="254000" h="503555">
                <a:moveTo>
                  <a:pt x="120662" y="0"/>
                </a:moveTo>
                <a:lnTo>
                  <a:pt x="76631" y="7619"/>
                </a:lnTo>
                <a:lnTo>
                  <a:pt x="44653" y="29463"/>
                </a:lnTo>
                <a:lnTo>
                  <a:pt x="24618" y="62628"/>
                </a:lnTo>
                <a:lnTo>
                  <a:pt x="12225" y="106870"/>
                </a:lnTo>
                <a:lnTo>
                  <a:pt x="6642" y="148209"/>
                </a:lnTo>
                <a:lnTo>
                  <a:pt x="87439" y="166750"/>
                </a:lnTo>
                <a:lnTo>
                  <a:pt x="90122" y="152370"/>
                </a:lnTo>
                <a:lnTo>
                  <a:pt x="93198" y="140477"/>
                </a:lnTo>
                <a:lnTo>
                  <a:pt x="121939" y="110507"/>
                </a:lnTo>
                <a:lnTo>
                  <a:pt x="131673" y="109600"/>
                </a:lnTo>
                <a:lnTo>
                  <a:pt x="237734" y="109600"/>
                </a:lnTo>
                <a:lnTo>
                  <a:pt x="237172" y="105790"/>
                </a:lnTo>
                <a:lnTo>
                  <a:pt x="225256" y="59267"/>
                </a:lnTo>
                <a:lnTo>
                  <a:pt x="202857" y="23542"/>
                </a:lnTo>
                <a:lnTo>
                  <a:pt x="169263" y="5197"/>
                </a:lnTo>
                <a:lnTo>
                  <a:pt x="138731" y="573"/>
                </a:lnTo>
                <a:lnTo>
                  <a:pt x="120662"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p:nvPr/>
        </p:nvSpPr>
        <p:spPr>
          <a:xfrm>
            <a:off x="5450533" y="3897948"/>
            <a:ext cx="2614982" cy="335043"/>
          </a:xfrm>
          <a:custGeom>
            <a:avLst/>
            <a:gdLst/>
            <a:ahLst/>
            <a:cxnLst/>
            <a:rect l="l" t="t" r="r" b="b"/>
            <a:pathLst>
              <a:path w="2616834" h="335279">
                <a:moveTo>
                  <a:pt x="0" y="335280"/>
                </a:moveTo>
                <a:lnTo>
                  <a:pt x="2616707" y="335280"/>
                </a:lnTo>
                <a:lnTo>
                  <a:pt x="2616707" y="0"/>
                </a:lnTo>
                <a:lnTo>
                  <a:pt x="0" y="0"/>
                </a:lnTo>
                <a:lnTo>
                  <a:pt x="0" y="33528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txBox="1"/>
          <p:nvPr/>
        </p:nvSpPr>
        <p:spPr>
          <a:xfrm>
            <a:off x="5450533" y="3897948"/>
            <a:ext cx="2614982" cy="264795"/>
          </a:xfrm>
          <a:prstGeom prst="rect">
            <a:avLst/>
          </a:prstGeom>
          <a:ln w="9525">
            <a:solidFill>
              <a:srgbClr val="91AFFF"/>
            </a:solidFill>
          </a:ln>
        </p:spPr>
        <p:txBody>
          <a:bodyPr vert="horz" wrap="square" lIns="0" tIns="50129" rIns="0" bIns="0" rtlCol="0">
            <a:spAutoFit/>
          </a:bodyPr>
          <a:lstStyle/>
          <a:p>
            <a:pPr marL="73025">
              <a:lnSpc>
                <a:spcPct val="100000"/>
              </a:lnSpc>
              <a:spcBef>
                <a:spcPts val="395"/>
              </a:spcBef>
            </a:pPr>
            <a:r>
              <a:rPr sz="1400" dirty="0">
                <a:solidFill>
                  <a:srgbClr val="0066CC"/>
                </a:solidFill>
                <a:latin typeface="微软雅黑" panose="020B0503020204020204" charset="-122"/>
                <a:ea typeface="微软雅黑" panose="020B0503020204020204" charset="-122"/>
                <a:cs typeface="微软雅黑" panose="020B0503020204020204" charset="-122"/>
              </a:rPr>
              <a:t>大客户管理的组织架构</a:t>
            </a:r>
            <a:r>
              <a:rPr sz="1400" spc="-15" dirty="0">
                <a:solidFill>
                  <a:srgbClr val="0066CC"/>
                </a:solidFill>
                <a:latin typeface="微软雅黑" panose="020B0503020204020204" charset="-122"/>
                <a:ea typeface="微软雅黑" panose="020B0503020204020204" charset="-122"/>
                <a:cs typeface="微软雅黑" panose="020B0503020204020204" charset="-122"/>
              </a:rPr>
              <a:t>设</a:t>
            </a:r>
            <a:r>
              <a:rPr sz="1400" spc="5" dirty="0">
                <a:solidFill>
                  <a:srgbClr val="0066CC"/>
                </a:solidFill>
                <a:latin typeface="微软雅黑" panose="020B0503020204020204" charset="-122"/>
                <a:ea typeface="微软雅黑" panose="020B0503020204020204" charset="-122"/>
                <a:cs typeface="微软雅黑" panose="020B0503020204020204" charset="-122"/>
              </a:rPr>
              <a:t>计</a:t>
            </a:r>
            <a:endParaRPr sz="1400">
              <a:latin typeface="微软雅黑" panose="020B0503020204020204" charset="-122"/>
              <a:ea typeface="微软雅黑" panose="020B0503020204020204" charset="-122"/>
              <a:cs typeface="微软雅黑" panose="020B0503020204020204" charset="-122"/>
            </a:endParaRPr>
          </a:p>
        </p:txBody>
      </p:sp>
      <p:sp>
        <p:nvSpPr>
          <p:cNvPr id="19" name="object 19"/>
          <p:cNvSpPr/>
          <p:nvPr/>
        </p:nvSpPr>
        <p:spPr>
          <a:xfrm>
            <a:off x="4976905" y="1980591"/>
            <a:ext cx="1154882" cy="517792"/>
          </a:xfrm>
          <a:custGeom>
            <a:avLst/>
            <a:gdLst/>
            <a:ahLst/>
            <a:cxnLst/>
            <a:rect l="l" t="t" r="r" b="b"/>
            <a:pathLst>
              <a:path w="1155700" h="518160">
                <a:moveTo>
                  <a:pt x="0" y="518160"/>
                </a:moveTo>
                <a:lnTo>
                  <a:pt x="1155191" y="518160"/>
                </a:lnTo>
                <a:lnTo>
                  <a:pt x="1155191"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txBox="1"/>
          <p:nvPr/>
        </p:nvSpPr>
        <p:spPr>
          <a:xfrm>
            <a:off x="4976905" y="1980591"/>
            <a:ext cx="1154882" cy="336550"/>
          </a:xfrm>
          <a:prstGeom prst="rect">
            <a:avLst/>
          </a:prstGeom>
          <a:ln w="9525">
            <a:solidFill>
              <a:srgbClr val="91AFFF"/>
            </a:solidFill>
          </a:ln>
        </p:spPr>
        <p:txBody>
          <a:bodyPr vert="horz" wrap="square" lIns="0" tIns="121833" rIns="0" bIns="0" rtlCol="0">
            <a:spAutoFit/>
          </a:bodyPr>
          <a:lstStyle/>
          <a:p>
            <a:pPr marL="72390">
              <a:lnSpc>
                <a:spcPct val="100000"/>
              </a:lnSpc>
              <a:spcBef>
                <a:spcPts val="960"/>
              </a:spcBef>
            </a:pPr>
            <a:r>
              <a:rPr sz="1400" dirty="0">
                <a:solidFill>
                  <a:srgbClr val="0066CC"/>
                </a:solidFill>
                <a:latin typeface="微软雅黑" panose="020B0503020204020204" charset="-122"/>
                <a:ea typeface="微软雅黑" panose="020B0503020204020204" charset="-122"/>
                <a:cs typeface="微软雅黑" panose="020B0503020204020204" charset="-122"/>
              </a:rPr>
              <a:t>战略规划</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1" name="object 21"/>
          <p:cNvSpPr/>
          <p:nvPr/>
        </p:nvSpPr>
        <p:spPr>
          <a:xfrm>
            <a:off x="4976905" y="2560823"/>
            <a:ext cx="1154882" cy="517792"/>
          </a:xfrm>
          <a:custGeom>
            <a:avLst/>
            <a:gdLst/>
            <a:ahLst/>
            <a:cxnLst/>
            <a:rect l="l" t="t" r="r" b="b"/>
            <a:pathLst>
              <a:path w="1155700" h="518160">
                <a:moveTo>
                  <a:pt x="0" y="518160"/>
                </a:moveTo>
                <a:lnTo>
                  <a:pt x="1155191" y="518160"/>
                </a:lnTo>
                <a:lnTo>
                  <a:pt x="1155191"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txBox="1"/>
          <p:nvPr/>
        </p:nvSpPr>
        <p:spPr>
          <a:xfrm>
            <a:off x="4976905" y="2560823"/>
            <a:ext cx="1154882" cy="336550"/>
          </a:xfrm>
          <a:prstGeom prst="rect">
            <a:avLst/>
          </a:prstGeom>
          <a:ln w="9525">
            <a:solidFill>
              <a:srgbClr val="91AFFF"/>
            </a:solidFill>
          </a:ln>
        </p:spPr>
        <p:txBody>
          <a:bodyPr vert="horz" wrap="square" lIns="0" tIns="121833" rIns="0" bIns="0" rtlCol="0">
            <a:spAutoFit/>
          </a:bodyPr>
          <a:lstStyle/>
          <a:p>
            <a:pPr marL="72390">
              <a:lnSpc>
                <a:spcPct val="100000"/>
              </a:lnSpc>
              <a:spcBef>
                <a:spcPts val="960"/>
              </a:spcBef>
            </a:pPr>
            <a:r>
              <a:rPr sz="1400" dirty="0">
                <a:solidFill>
                  <a:srgbClr val="0066CC"/>
                </a:solidFill>
                <a:latin typeface="微软雅黑" panose="020B0503020204020204" charset="-122"/>
                <a:ea typeface="微软雅黑" panose="020B0503020204020204" charset="-122"/>
                <a:cs typeface="微软雅黑" panose="020B0503020204020204" charset="-122"/>
              </a:rPr>
              <a:t>行动计划</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3" name="object 23"/>
          <p:cNvSpPr/>
          <p:nvPr/>
        </p:nvSpPr>
        <p:spPr>
          <a:xfrm>
            <a:off x="6944518" y="1980591"/>
            <a:ext cx="1156151" cy="306488"/>
          </a:xfrm>
          <a:custGeom>
            <a:avLst/>
            <a:gdLst/>
            <a:ahLst/>
            <a:cxnLst/>
            <a:rect l="l" t="t" r="r" b="b"/>
            <a:pathLst>
              <a:path w="1156970" h="306705">
                <a:moveTo>
                  <a:pt x="0" y="306324"/>
                </a:moveTo>
                <a:lnTo>
                  <a:pt x="1156716" y="306324"/>
                </a:lnTo>
                <a:lnTo>
                  <a:pt x="1156716" y="0"/>
                </a:lnTo>
                <a:lnTo>
                  <a:pt x="0" y="0"/>
                </a:lnTo>
                <a:lnTo>
                  <a:pt x="0" y="30632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p:nvPr/>
        </p:nvSpPr>
        <p:spPr>
          <a:xfrm>
            <a:off x="6944518" y="2330862"/>
            <a:ext cx="1156151" cy="306488"/>
          </a:xfrm>
          <a:custGeom>
            <a:avLst/>
            <a:gdLst/>
            <a:ahLst/>
            <a:cxnLst/>
            <a:rect l="l" t="t" r="r" b="b"/>
            <a:pathLst>
              <a:path w="1156970" h="306705">
                <a:moveTo>
                  <a:pt x="0" y="306324"/>
                </a:moveTo>
                <a:lnTo>
                  <a:pt x="1156716" y="306324"/>
                </a:lnTo>
                <a:lnTo>
                  <a:pt x="1156716" y="0"/>
                </a:lnTo>
                <a:lnTo>
                  <a:pt x="0" y="0"/>
                </a:lnTo>
                <a:lnTo>
                  <a:pt x="0" y="30632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5" name="object 25"/>
          <p:cNvSpPr/>
          <p:nvPr/>
        </p:nvSpPr>
        <p:spPr>
          <a:xfrm>
            <a:off x="6944518" y="2682657"/>
            <a:ext cx="1156151" cy="517792"/>
          </a:xfrm>
          <a:custGeom>
            <a:avLst/>
            <a:gdLst/>
            <a:ahLst/>
            <a:cxnLst/>
            <a:rect l="l" t="t" r="r" b="b"/>
            <a:pathLst>
              <a:path w="1156970" h="518160">
                <a:moveTo>
                  <a:pt x="0" y="518160"/>
                </a:moveTo>
                <a:lnTo>
                  <a:pt x="1156716" y="518160"/>
                </a:lnTo>
                <a:lnTo>
                  <a:pt x="1156716"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graphicFrame>
        <p:nvGraphicFramePr>
          <p:cNvPr id="26" name="object 26"/>
          <p:cNvGraphicFramePr>
            <a:graphicFrameLocks noGrp="1"/>
          </p:cNvGraphicFramePr>
          <p:nvPr/>
        </p:nvGraphicFramePr>
        <p:xfrm>
          <a:off x="6939759" y="1975831"/>
          <a:ext cx="1170305" cy="1229360"/>
        </p:xfrm>
        <a:graphic>
          <a:graphicData uri="http://schemas.openxmlformats.org/drawingml/2006/table">
            <a:tbl>
              <a:tblPr firstRow="1" bandRow="1">
                <a:tableStyleId>{2D5ABB26-0587-4C30-8999-92F81FD0307C}</a:tableStyleId>
              </a:tblPr>
              <a:tblGrid>
                <a:gridCol w="1170305"/>
              </a:tblGrid>
              <a:tr h="330835">
                <a:tc>
                  <a:txBody>
                    <a:bodyPr/>
                    <a:lstStyle/>
                    <a:p>
                      <a:pPr marL="73660">
                        <a:lnSpc>
                          <a:spcPct val="100000"/>
                        </a:lnSpc>
                        <a:spcBef>
                          <a:spcPts val="275"/>
                        </a:spcBef>
                      </a:pPr>
                      <a:r>
                        <a:rPr sz="1400" dirty="0">
                          <a:solidFill>
                            <a:srgbClr val="0066CC"/>
                          </a:solidFill>
                          <a:latin typeface="微软雅黑" panose="020B0503020204020204" charset="-122"/>
                          <a:ea typeface="微软雅黑" panose="020B0503020204020204" charset="-122"/>
                          <a:cs typeface="微软雅黑" panose="020B0503020204020204" charset="-122"/>
                        </a:rPr>
                        <a:t>价值销售</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a:txBody>
                  <a:tcPr marL="0" marR="0" marT="34900" marB="0">
                    <a:lnL w="9525">
                      <a:solidFill>
                        <a:srgbClr val="91AFFF"/>
                      </a:solidFill>
                      <a:prstDash val="solid"/>
                    </a:lnL>
                    <a:lnR w="9525">
                      <a:solidFill>
                        <a:srgbClr val="91AFFF"/>
                      </a:solidFill>
                      <a:prstDash val="solid"/>
                    </a:lnR>
                    <a:lnT w="9525">
                      <a:solidFill>
                        <a:srgbClr val="91AFFF"/>
                      </a:solidFill>
                      <a:prstDash val="solid"/>
                    </a:lnT>
                    <a:lnB w="9525">
                      <a:solidFill>
                        <a:srgbClr val="91AFFF"/>
                      </a:solidFill>
                      <a:prstDash val="solid"/>
                    </a:lnB>
                    <a:solidFill>
                      <a:srgbClr val="C6DFFA"/>
                    </a:solidFill>
                  </a:tcPr>
                </a:tc>
              </a:tr>
              <a:tr h="353695">
                <a:tc>
                  <a:txBody>
                    <a:bodyPr/>
                    <a:lstStyle/>
                    <a:p>
                      <a:pPr marL="73660">
                        <a:lnSpc>
                          <a:spcPct val="100000"/>
                        </a:lnSpc>
                        <a:spcBef>
                          <a:spcPts val="455"/>
                        </a:spcBef>
                      </a:pPr>
                      <a:r>
                        <a:rPr sz="1400" dirty="0">
                          <a:solidFill>
                            <a:srgbClr val="0066CC"/>
                          </a:solidFill>
                          <a:latin typeface="微软雅黑" panose="020B0503020204020204" charset="-122"/>
                          <a:ea typeface="微软雅黑" panose="020B0503020204020204" charset="-122"/>
                          <a:cs typeface="微软雅黑" panose="020B0503020204020204" charset="-122"/>
                        </a:rPr>
                        <a:t>谈判</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a:txBody>
                  <a:tcPr marL="0" marR="0" marT="57744" marB="0">
                    <a:lnL w="9525">
                      <a:solidFill>
                        <a:srgbClr val="91AFFF"/>
                      </a:solidFill>
                      <a:prstDash val="solid"/>
                    </a:lnL>
                    <a:lnR w="9525">
                      <a:solidFill>
                        <a:srgbClr val="91AFFF"/>
                      </a:solidFill>
                      <a:prstDash val="solid"/>
                    </a:lnR>
                    <a:lnT w="9525">
                      <a:solidFill>
                        <a:srgbClr val="91AFFF"/>
                      </a:solidFill>
                      <a:prstDash val="solid"/>
                    </a:lnT>
                    <a:lnB w="9525">
                      <a:solidFill>
                        <a:srgbClr val="91AFFF"/>
                      </a:solidFill>
                      <a:prstDash val="solid"/>
                    </a:lnB>
                    <a:solidFill>
                      <a:srgbClr val="C6DFFA"/>
                    </a:solidFill>
                  </a:tcPr>
                </a:tc>
              </a:tr>
              <a:tr h="544830">
                <a:tc>
                  <a:txBody>
                    <a:bodyPr/>
                    <a:lstStyle/>
                    <a:p>
                      <a:pPr marL="73660">
                        <a:lnSpc>
                          <a:spcPct val="100000"/>
                        </a:lnSpc>
                        <a:spcBef>
                          <a:spcPts val="1295"/>
                        </a:spcBef>
                      </a:pPr>
                      <a:r>
                        <a:rPr sz="1400" dirty="0">
                          <a:solidFill>
                            <a:srgbClr val="0066CC"/>
                          </a:solidFill>
                          <a:latin typeface="微软雅黑" panose="020B0503020204020204" charset="-122"/>
                          <a:ea typeface="微软雅黑" panose="020B0503020204020204" charset="-122"/>
                          <a:cs typeface="微软雅黑" panose="020B0503020204020204" charset="-122"/>
                        </a:rPr>
                        <a:t>绩效管理</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a:txBody>
                  <a:tcPr marL="0" marR="0" marT="164348" marB="0">
                    <a:lnL w="9525">
                      <a:solidFill>
                        <a:srgbClr val="91AFFF"/>
                      </a:solidFill>
                      <a:prstDash val="solid"/>
                    </a:lnL>
                    <a:lnR w="9525">
                      <a:solidFill>
                        <a:srgbClr val="91AFFF"/>
                      </a:solidFill>
                      <a:prstDash val="solid"/>
                    </a:lnR>
                    <a:lnT w="9525">
                      <a:solidFill>
                        <a:srgbClr val="91AFFF"/>
                      </a:solidFill>
                      <a:prstDash val="solid"/>
                    </a:lnT>
                    <a:lnB w="9525">
                      <a:solidFill>
                        <a:srgbClr val="91AFFF"/>
                      </a:solidFill>
                      <a:prstDash val="solid"/>
                    </a:lnB>
                    <a:solidFill>
                      <a:srgbClr val="C6DFFA"/>
                    </a:solidFill>
                  </a:tcPr>
                </a:tc>
              </a:tr>
            </a:tbl>
          </a:graphicData>
        </a:graphic>
      </p:graphicFrame>
      <p:sp>
        <p:nvSpPr>
          <p:cNvPr id="27" name="object 27"/>
          <p:cNvSpPr/>
          <p:nvPr/>
        </p:nvSpPr>
        <p:spPr>
          <a:xfrm>
            <a:off x="632011" y="1980591"/>
            <a:ext cx="1488020" cy="517792"/>
          </a:xfrm>
          <a:custGeom>
            <a:avLst/>
            <a:gdLst/>
            <a:ahLst/>
            <a:cxnLst/>
            <a:rect l="l" t="t" r="r" b="b"/>
            <a:pathLst>
              <a:path w="1489075" h="518160">
                <a:moveTo>
                  <a:pt x="0" y="518160"/>
                </a:moveTo>
                <a:lnTo>
                  <a:pt x="1488948" y="518160"/>
                </a:lnTo>
                <a:lnTo>
                  <a:pt x="1488948"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p:nvPr/>
        </p:nvSpPr>
        <p:spPr>
          <a:xfrm>
            <a:off x="632011" y="1980591"/>
            <a:ext cx="1488020" cy="517792"/>
          </a:xfrm>
          <a:custGeom>
            <a:avLst/>
            <a:gdLst/>
            <a:ahLst/>
            <a:cxnLst/>
            <a:rect l="l" t="t" r="r" b="b"/>
            <a:pathLst>
              <a:path w="1489075" h="518160">
                <a:moveTo>
                  <a:pt x="0" y="518160"/>
                </a:moveTo>
                <a:lnTo>
                  <a:pt x="1488948" y="518160"/>
                </a:lnTo>
                <a:lnTo>
                  <a:pt x="1488948" y="0"/>
                </a:lnTo>
                <a:lnTo>
                  <a:pt x="0" y="0"/>
                </a:lnTo>
                <a:lnTo>
                  <a:pt x="0" y="518160"/>
                </a:lnTo>
                <a:close/>
              </a:path>
            </a:pathLst>
          </a:custGeom>
          <a:ln w="952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9" name="object 29"/>
          <p:cNvSpPr txBox="1"/>
          <p:nvPr/>
        </p:nvSpPr>
        <p:spPr>
          <a:xfrm>
            <a:off x="690897" y="2001658"/>
            <a:ext cx="916291" cy="443230"/>
          </a:xfrm>
          <a:prstGeom prst="rect">
            <a:avLst/>
          </a:prstGeom>
        </p:spPr>
        <p:txBody>
          <a:bodyPr vert="horz" wrap="square" lIns="0" tIns="13325" rIns="0" bIns="0" rtlCol="0">
            <a:spAutoFit/>
          </a:bodyPr>
          <a:lstStyle/>
          <a:p>
            <a:pPr marL="12700" marR="5080">
              <a:lnSpc>
                <a:spcPct val="100000"/>
              </a:lnSpc>
              <a:spcBef>
                <a:spcPts val="105"/>
              </a:spcBef>
            </a:pPr>
            <a:r>
              <a:rPr sz="1400" dirty="0">
                <a:solidFill>
                  <a:srgbClr val="0066CC"/>
                </a:solidFill>
                <a:latin typeface="微软雅黑" panose="020B0503020204020204" charset="-122"/>
                <a:ea typeface="微软雅黑" panose="020B0503020204020204" charset="-122"/>
                <a:cs typeface="微软雅黑" panose="020B0503020204020204" charset="-122"/>
              </a:rPr>
              <a:t>识别并审核 大客户</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0" name="object 30"/>
          <p:cNvSpPr txBox="1"/>
          <p:nvPr/>
        </p:nvSpPr>
        <p:spPr>
          <a:xfrm>
            <a:off x="4964467" y="1535644"/>
            <a:ext cx="104129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大客</a:t>
            </a:r>
            <a:r>
              <a:rPr sz="1600" b="1" spc="-10" dirty="0">
                <a:solidFill>
                  <a:srgbClr val="0066CC"/>
                </a:solidFill>
                <a:latin typeface="微软雅黑" panose="020B0503020204020204" charset="-122"/>
                <a:ea typeface="微软雅黑" panose="020B0503020204020204" charset="-122"/>
                <a:cs typeface="微软雅黑" panose="020B0503020204020204" charset="-122"/>
              </a:rPr>
              <a:t>户规划</a:t>
            </a:r>
            <a:endParaRPr sz="1600">
              <a:latin typeface="微软雅黑" panose="020B0503020204020204" charset="-122"/>
              <a:ea typeface="微软雅黑" panose="020B0503020204020204" charset="-122"/>
              <a:cs typeface="微软雅黑" panose="020B0503020204020204" charset="-122"/>
            </a:endParaRPr>
          </a:p>
        </p:txBody>
      </p:sp>
      <p:sp>
        <p:nvSpPr>
          <p:cNvPr id="31" name="object 31"/>
          <p:cNvSpPr txBox="1"/>
          <p:nvPr/>
        </p:nvSpPr>
        <p:spPr>
          <a:xfrm>
            <a:off x="6933604" y="1535644"/>
            <a:ext cx="1045739"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实施和跟踪</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2" name="object 32"/>
          <p:cNvSpPr txBox="1"/>
          <p:nvPr/>
        </p:nvSpPr>
        <p:spPr>
          <a:xfrm>
            <a:off x="618712" y="1535644"/>
            <a:ext cx="84204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客户分类</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3" name="object 33"/>
          <p:cNvSpPr txBox="1"/>
          <p:nvPr/>
        </p:nvSpPr>
        <p:spPr>
          <a:xfrm>
            <a:off x="106401" y="6412696"/>
            <a:ext cx="2191102"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35"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a:t>
            </a:r>
            <a:r>
              <a:rPr sz="1000" spc="-35"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营销和销售业务部</a:t>
            </a:r>
            <a:endParaRPr sz="1000">
              <a:latin typeface="微软雅黑" panose="020B0503020204020204" charset="-122"/>
              <a:ea typeface="微软雅黑" panose="020B0503020204020204" charset="-122"/>
              <a:cs typeface="微软雅黑" panose="020B0503020204020204" charset="-122"/>
            </a:endParaRPr>
          </a:p>
        </p:txBody>
      </p:sp>
      <p:sp>
        <p:nvSpPr>
          <p:cNvPr id="34" name="object 34"/>
          <p:cNvSpPr/>
          <p:nvPr/>
        </p:nvSpPr>
        <p:spPr>
          <a:xfrm>
            <a:off x="2096299" y="1323450"/>
            <a:ext cx="2679071" cy="3900581"/>
          </a:xfrm>
          <a:custGeom>
            <a:avLst/>
            <a:gdLst/>
            <a:ahLst/>
            <a:cxnLst/>
            <a:rect l="l" t="t" r="r" b="b"/>
            <a:pathLst>
              <a:path w="2680970" h="3903345">
                <a:moveTo>
                  <a:pt x="1977643" y="0"/>
                </a:moveTo>
                <a:lnTo>
                  <a:pt x="0" y="0"/>
                </a:lnTo>
                <a:lnTo>
                  <a:pt x="703071" y="1952244"/>
                </a:lnTo>
                <a:lnTo>
                  <a:pt x="0" y="3902964"/>
                </a:lnTo>
                <a:lnTo>
                  <a:pt x="1977643" y="3902964"/>
                </a:lnTo>
                <a:lnTo>
                  <a:pt x="2680716" y="1952244"/>
                </a:lnTo>
                <a:lnTo>
                  <a:pt x="1977643"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5" name="object 35"/>
          <p:cNvSpPr/>
          <p:nvPr/>
        </p:nvSpPr>
        <p:spPr>
          <a:xfrm>
            <a:off x="2096299" y="1323450"/>
            <a:ext cx="2679071" cy="3900581"/>
          </a:xfrm>
          <a:custGeom>
            <a:avLst/>
            <a:gdLst/>
            <a:ahLst/>
            <a:cxnLst/>
            <a:rect l="l" t="t" r="r" b="b"/>
            <a:pathLst>
              <a:path w="2680970" h="3903345">
                <a:moveTo>
                  <a:pt x="0" y="0"/>
                </a:moveTo>
                <a:lnTo>
                  <a:pt x="1977643" y="0"/>
                </a:lnTo>
                <a:lnTo>
                  <a:pt x="2680716" y="1952244"/>
                </a:lnTo>
                <a:lnTo>
                  <a:pt x="1977643" y="3902964"/>
                </a:lnTo>
                <a:lnTo>
                  <a:pt x="0" y="3902964"/>
                </a:lnTo>
                <a:lnTo>
                  <a:pt x="703071" y="1952244"/>
                </a:lnTo>
                <a:lnTo>
                  <a:pt x="0" y="0"/>
                </a:lnTo>
                <a:close/>
              </a:path>
            </a:pathLst>
          </a:custGeom>
          <a:ln w="28575">
            <a:solidFill>
              <a:srgbClr val="0066CC"/>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6" name="object 36"/>
          <p:cNvSpPr/>
          <p:nvPr/>
        </p:nvSpPr>
        <p:spPr>
          <a:xfrm>
            <a:off x="2849385" y="1538944"/>
            <a:ext cx="1224682" cy="3359944"/>
          </a:xfrm>
          <a:custGeom>
            <a:avLst/>
            <a:gdLst/>
            <a:ahLst/>
            <a:cxnLst/>
            <a:rect l="l" t="t" r="r" b="b"/>
            <a:pathLst>
              <a:path w="1225550" h="3362325">
                <a:moveTo>
                  <a:pt x="0" y="3361944"/>
                </a:moveTo>
                <a:lnTo>
                  <a:pt x="1225295" y="3361944"/>
                </a:lnTo>
                <a:lnTo>
                  <a:pt x="1225295" y="0"/>
                </a:lnTo>
                <a:lnTo>
                  <a:pt x="0" y="0"/>
                </a:lnTo>
                <a:lnTo>
                  <a:pt x="0" y="3361944"/>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7" name="object 37"/>
          <p:cNvSpPr/>
          <p:nvPr/>
        </p:nvSpPr>
        <p:spPr>
          <a:xfrm>
            <a:off x="4402256" y="1433354"/>
            <a:ext cx="385807" cy="501295"/>
          </a:xfrm>
          <a:custGeom>
            <a:avLst/>
            <a:gdLst/>
            <a:ahLst/>
            <a:cxnLst/>
            <a:rect l="l" t="t" r="r" b="b"/>
            <a:pathLst>
              <a:path w="386079" h="501650">
                <a:moveTo>
                  <a:pt x="194437" y="0"/>
                </a:moveTo>
                <a:lnTo>
                  <a:pt x="141208" y="5524"/>
                </a:lnTo>
                <a:lnTo>
                  <a:pt x="98551" y="22098"/>
                </a:lnTo>
                <a:lnTo>
                  <a:pt x="63940" y="51315"/>
                </a:lnTo>
                <a:lnTo>
                  <a:pt x="32781" y="95250"/>
                </a:lnTo>
                <a:lnTo>
                  <a:pt x="9858" y="155684"/>
                </a:lnTo>
                <a:lnTo>
                  <a:pt x="1095" y="217354"/>
                </a:lnTo>
                <a:lnTo>
                  <a:pt x="0" y="252856"/>
                </a:lnTo>
                <a:lnTo>
                  <a:pt x="885" y="286529"/>
                </a:lnTo>
                <a:lnTo>
                  <a:pt x="8036" y="343350"/>
                </a:lnTo>
                <a:lnTo>
                  <a:pt x="22278" y="387336"/>
                </a:lnTo>
                <a:lnTo>
                  <a:pt x="42229" y="424725"/>
                </a:lnTo>
                <a:lnTo>
                  <a:pt x="67609" y="456136"/>
                </a:lnTo>
                <a:lnTo>
                  <a:pt x="98038" y="479186"/>
                </a:lnTo>
                <a:lnTo>
                  <a:pt x="133873" y="493613"/>
                </a:lnTo>
                <a:lnTo>
                  <a:pt x="178069" y="500749"/>
                </a:lnTo>
                <a:lnTo>
                  <a:pt x="203453" y="501650"/>
                </a:lnTo>
                <a:lnTo>
                  <a:pt x="229766" y="500249"/>
                </a:lnTo>
                <a:lnTo>
                  <a:pt x="275105" y="489112"/>
                </a:lnTo>
                <a:lnTo>
                  <a:pt x="311155" y="467256"/>
                </a:lnTo>
                <a:lnTo>
                  <a:pt x="340441" y="436205"/>
                </a:lnTo>
                <a:lnTo>
                  <a:pt x="363374" y="396392"/>
                </a:lnTo>
                <a:lnTo>
                  <a:pt x="370603" y="378205"/>
                </a:lnTo>
                <a:lnTo>
                  <a:pt x="196214" y="378205"/>
                </a:lnTo>
                <a:lnTo>
                  <a:pt x="181832" y="376297"/>
                </a:lnTo>
                <a:lnTo>
                  <a:pt x="146685" y="347472"/>
                </a:lnTo>
                <a:lnTo>
                  <a:pt x="132000" y="309737"/>
                </a:lnTo>
                <a:lnTo>
                  <a:pt x="127126" y="257810"/>
                </a:lnTo>
                <a:lnTo>
                  <a:pt x="128363" y="226704"/>
                </a:lnTo>
                <a:lnTo>
                  <a:pt x="138217" y="177210"/>
                </a:lnTo>
                <a:lnTo>
                  <a:pt x="169465" y="134175"/>
                </a:lnTo>
                <a:lnTo>
                  <a:pt x="198120" y="125984"/>
                </a:lnTo>
                <a:lnTo>
                  <a:pt x="368473" y="125984"/>
                </a:lnTo>
                <a:lnTo>
                  <a:pt x="355377" y="93710"/>
                </a:lnTo>
                <a:lnTo>
                  <a:pt x="318897" y="41910"/>
                </a:lnTo>
                <a:lnTo>
                  <a:pt x="266334" y="10477"/>
                </a:lnTo>
                <a:lnTo>
                  <a:pt x="232796" y="2619"/>
                </a:lnTo>
                <a:lnTo>
                  <a:pt x="194437" y="0"/>
                </a:lnTo>
                <a:close/>
              </a:path>
              <a:path w="386079" h="501650">
                <a:moveTo>
                  <a:pt x="264160" y="302767"/>
                </a:moveTo>
                <a:lnTo>
                  <a:pt x="246532" y="349166"/>
                </a:lnTo>
                <a:lnTo>
                  <a:pt x="208287" y="377041"/>
                </a:lnTo>
                <a:lnTo>
                  <a:pt x="196214" y="378205"/>
                </a:lnTo>
                <a:lnTo>
                  <a:pt x="370603" y="378205"/>
                </a:lnTo>
                <a:lnTo>
                  <a:pt x="372446" y="373554"/>
                </a:lnTo>
                <a:lnTo>
                  <a:pt x="379860" y="349009"/>
                </a:lnTo>
                <a:lnTo>
                  <a:pt x="385699" y="322579"/>
                </a:lnTo>
                <a:lnTo>
                  <a:pt x="264160" y="302767"/>
                </a:lnTo>
                <a:close/>
              </a:path>
              <a:path w="386079" h="501650">
                <a:moveTo>
                  <a:pt x="368473" y="125984"/>
                </a:moveTo>
                <a:lnTo>
                  <a:pt x="198120" y="125984"/>
                </a:lnTo>
                <a:lnTo>
                  <a:pt x="210052" y="126960"/>
                </a:lnTo>
                <a:lnTo>
                  <a:pt x="220710" y="129889"/>
                </a:lnTo>
                <a:lnTo>
                  <a:pt x="250825" y="161020"/>
                </a:lnTo>
                <a:lnTo>
                  <a:pt x="258825" y="187960"/>
                </a:lnTo>
                <a:lnTo>
                  <a:pt x="379095" y="164846"/>
                </a:lnTo>
                <a:lnTo>
                  <a:pt x="368831" y="126867"/>
                </a:lnTo>
                <a:lnTo>
                  <a:pt x="368473" y="125984"/>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8" name="object 38"/>
          <p:cNvSpPr/>
          <p:nvPr/>
        </p:nvSpPr>
        <p:spPr>
          <a:xfrm>
            <a:off x="2485914" y="1433354"/>
            <a:ext cx="385807" cy="501295"/>
          </a:xfrm>
          <a:custGeom>
            <a:avLst/>
            <a:gdLst/>
            <a:ahLst/>
            <a:cxnLst/>
            <a:rect l="l" t="t" r="r" b="b"/>
            <a:pathLst>
              <a:path w="386080" h="501650">
                <a:moveTo>
                  <a:pt x="351348" y="440689"/>
                </a:moveTo>
                <a:lnTo>
                  <a:pt x="125603" y="440689"/>
                </a:lnTo>
                <a:lnTo>
                  <a:pt x="138412" y="456027"/>
                </a:lnTo>
                <a:lnTo>
                  <a:pt x="173862" y="486155"/>
                </a:lnTo>
                <a:lnTo>
                  <a:pt x="221243" y="500675"/>
                </a:lnTo>
                <a:lnTo>
                  <a:pt x="238506" y="501650"/>
                </a:lnTo>
                <a:lnTo>
                  <a:pt x="258699" y="500268"/>
                </a:lnTo>
                <a:lnTo>
                  <a:pt x="296227" y="489219"/>
                </a:lnTo>
                <a:lnTo>
                  <a:pt x="329588" y="467098"/>
                </a:lnTo>
                <a:lnTo>
                  <a:pt x="351348" y="440689"/>
                </a:lnTo>
                <a:close/>
              </a:path>
              <a:path w="386080" h="501650">
                <a:moveTo>
                  <a:pt x="135509" y="0"/>
                </a:moveTo>
                <a:lnTo>
                  <a:pt x="0" y="0"/>
                </a:lnTo>
                <a:lnTo>
                  <a:pt x="0" y="493522"/>
                </a:lnTo>
                <a:lnTo>
                  <a:pt x="125603" y="493522"/>
                </a:lnTo>
                <a:lnTo>
                  <a:pt x="125603" y="440689"/>
                </a:lnTo>
                <a:lnTo>
                  <a:pt x="351348" y="440689"/>
                </a:lnTo>
                <a:lnTo>
                  <a:pt x="356068" y="433760"/>
                </a:lnTo>
                <a:lnTo>
                  <a:pt x="366522" y="412876"/>
                </a:lnTo>
                <a:lnTo>
                  <a:pt x="370715" y="401319"/>
                </a:lnTo>
                <a:lnTo>
                  <a:pt x="194691" y="401319"/>
                </a:lnTo>
                <a:lnTo>
                  <a:pt x="182211" y="400012"/>
                </a:lnTo>
                <a:lnTo>
                  <a:pt x="144103" y="368589"/>
                </a:lnTo>
                <a:lnTo>
                  <a:pt x="134619" y="313689"/>
                </a:lnTo>
                <a:lnTo>
                  <a:pt x="135693" y="293993"/>
                </a:lnTo>
                <a:lnTo>
                  <a:pt x="151892" y="250951"/>
                </a:lnTo>
                <a:lnTo>
                  <a:pt x="196596" y="230250"/>
                </a:lnTo>
                <a:lnTo>
                  <a:pt x="374480" y="230250"/>
                </a:lnTo>
                <a:lnTo>
                  <a:pt x="362124" y="200880"/>
                </a:lnTo>
                <a:lnTo>
                  <a:pt x="343788" y="174878"/>
                </a:lnTo>
                <a:lnTo>
                  <a:pt x="339515" y="170941"/>
                </a:lnTo>
                <a:lnTo>
                  <a:pt x="135509" y="170941"/>
                </a:lnTo>
                <a:lnTo>
                  <a:pt x="135509" y="0"/>
                </a:lnTo>
                <a:close/>
              </a:path>
              <a:path w="386080" h="501650">
                <a:moveTo>
                  <a:pt x="374480" y="230250"/>
                </a:moveTo>
                <a:lnTo>
                  <a:pt x="196596" y="230250"/>
                </a:lnTo>
                <a:lnTo>
                  <a:pt x="207577" y="231489"/>
                </a:lnTo>
                <a:lnTo>
                  <a:pt x="217678" y="235203"/>
                </a:lnTo>
                <a:lnTo>
                  <a:pt x="247332" y="275574"/>
                </a:lnTo>
                <a:lnTo>
                  <a:pt x="251275" y="313689"/>
                </a:lnTo>
                <a:lnTo>
                  <a:pt x="250328" y="334706"/>
                </a:lnTo>
                <a:lnTo>
                  <a:pt x="235076" y="380873"/>
                </a:lnTo>
                <a:lnTo>
                  <a:pt x="194691" y="401319"/>
                </a:lnTo>
                <a:lnTo>
                  <a:pt x="370715" y="401319"/>
                </a:lnTo>
                <a:lnTo>
                  <a:pt x="374895" y="389800"/>
                </a:lnTo>
                <a:lnTo>
                  <a:pt x="380920" y="364775"/>
                </a:lnTo>
                <a:lnTo>
                  <a:pt x="384506" y="338081"/>
                </a:lnTo>
                <a:lnTo>
                  <a:pt x="385699" y="309625"/>
                </a:lnTo>
                <a:lnTo>
                  <a:pt x="383079" y="268265"/>
                </a:lnTo>
                <a:lnTo>
                  <a:pt x="375221" y="232013"/>
                </a:lnTo>
                <a:lnTo>
                  <a:pt x="374480" y="230250"/>
                </a:lnTo>
                <a:close/>
              </a:path>
              <a:path w="386080" h="501650">
                <a:moveTo>
                  <a:pt x="237871" y="127888"/>
                </a:moveTo>
                <a:lnTo>
                  <a:pt x="194401" y="133943"/>
                </a:lnTo>
                <a:lnTo>
                  <a:pt x="157035" y="152098"/>
                </a:lnTo>
                <a:lnTo>
                  <a:pt x="135509" y="170941"/>
                </a:lnTo>
                <a:lnTo>
                  <a:pt x="339515" y="170941"/>
                </a:lnTo>
                <a:lnTo>
                  <a:pt x="321452" y="154303"/>
                </a:lnTo>
                <a:lnTo>
                  <a:pt x="296354" y="139620"/>
                </a:lnTo>
                <a:lnTo>
                  <a:pt x="268493" y="130819"/>
                </a:lnTo>
                <a:lnTo>
                  <a:pt x="237871" y="127888"/>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9" name="object 39"/>
          <p:cNvSpPr/>
          <p:nvPr/>
        </p:nvSpPr>
        <p:spPr>
          <a:xfrm>
            <a:off x="2995584" y="1980591"/>
            <a:ext cx="1057161" cy="639627"/>
          </a:xfrm>
          <a:custGeom>
            <a:avLst/>
            <a:gdLst/>
            <a:ahLst/>
            <a:cxnLst/>
            <a:rect l="l" t="t" r="r" b="b"/>
            <a:pathLst>
              <a:path w="1057910" h="640080">
                <a:moveTo>
                  <a:pt x="0" y="640079"/>
                </a:moveTo>
                <a:lnTo>
                  <a:pt x="1057656" y="640079"/>
                </a:lnTo>
                <a:lnTo>
                  <a:pt x="1057656" y="0"/>
                </a:lnTo>
                <a:lnTo>
                  <a:pt x="0" y="0"/>
                </a:lnTo>
                <a:lnTo>
                  <a:pt x="0" y="640079"/>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0" name="object 40"/>
          <p:cNvSpPr txBox="1"/>
          <p:nvPr/>
        </p:nvSpPr>
        <p:spPr>
          <a:xfrm>
            <a:off x="2995584" y="1980591"/>
            <a:ext cx="1057161" cy="416560"/>
          </a:xfrm>
          <a:prstGeom prst="rect">
            <a:avLst/>
          </a:prstGeom>
          <a:ln w="9525">
            <a:solidFill>
              <a:srgbClr val="0066CC"/>
            </a:solidFill>
          </a:ln>
        </p:spPr>
        <p:txBody>
          <a:bodyPr vert="horz" wrap="square" lIns="0" tIns="201786" rIns="0" bIns="0" rtlCol="0">
            <a:spAutoFit/>
          </a:bodyPr>
          <a:lstStyle/>
          <a:p>
            <a:pPr marL="71755">
              <a:lnSpc>
                <a:spcPct val="100000"/>
              </a:lnSpc>
              <a:spcBef>
                <a:spcPts val="1590"/>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客户背景</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1" name="object 41"/>
          <p:cNvSpPr/>
          <p:nvPr/>
        </p:nvSpPr>
        <p:spPr>
          <a:xfrm>
            <a:off x="2995584" y="2720730"/>
            <a:ext cx="1057161" cy="517792"/>
          </a:xfrm>
          <a:custGeom>
            <a:avLst/>
            <a:gdLst/>
            <a:ahLst/>
            <a:cxnLst/>
            <a:rect l="l" t="t" r="r" b="b"/>
            <a:pathLst>
              <a:path w="1057910" h="518160">
                <a:moveTo>
                  <a:pt x="0" y="518160"/>
                </a:moveTo>
                <a:lnTo>
                  <a:pt x="1057656" y="518160"/>
                </a:lnTo>
                <a:lnTo>
                  <a:pt x="1057656" y="0"/>
                </a:lnTo>
                <a:lnTo>
                  <a:pt x="0" y="0"/>
                </a:lnTo>
                <a:lnTo>
                  <a:pt x="0" y="51816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2" name="object 42"/>
          <p:cNvSpPr txBox="1"/>
          <p:nvPr/>
        </p:nvSpPr>
        <p:spPr>
          <a:xfrm>
            <a:off x="2995584" y="2720730"/>
            <a:ext cx="1057161" cy="464820"/>
          </a:xfrm>
          <a:prstGeom prst="rect">
            <a:avLst/>
          </a:prstGeom>
          <a:ln w="9525">
            <a:solidFill>
              <a:srgbClr val="0066CC"/>
            </a:solidFill>
          </a:ln>
        </p:spPr>
        <p:txBody>
          <a:bodyPr vert="horz" wrap="square" lIns="0" tIns="34900" rIns="0" bIns="0" rtlCol="0">
            <a:spAutoFit/>
          </a:bodyPr>
          <a:lstStyle/>
          <a:p>
            <a:pPr marL="71755">
              <a:lnSpc>
                <a:spcPct val="100000"/>
              </a:lnSpc>
              <a:spcBef>
                <a:spcPts val="275"/>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客户经济</a:t>
            </a:r>
            <a:endParaRPr sz="1400">
              <a:latin typeface="微软雅黑" panose="020B0503020204020204" charset="-122"/>
              <a:ea typeface="微软雅黑" panose="020B0503020204020204" charset="-122"/>
              <a:cs typeface="微软雅黑" panose="020B0503020204020204" charset="-122"/>
            </a:endParaRPr>
          </a:p>
          <a:p>
            <a:pPr marL="71755">
              <a:lnSpc>
                <a:spcPct val="100000"/>
              </a:lnSpc>
            </a:pPr>
            <a:r>
              <a:rPr sz="1400" dirty="0">
                <a:solidFill>
                  <a:srgbClr val="0066CC"/>
                </a:solidFill>
                <a:latin typeface="微软雅黑" panose="020B0503020204020204" charset="-122"/>
                <a:ea typeface="微软雅黑" panose="020B0503020204020204" charset="-122"/>
                <a:cs typeface="微软雅黑" panose="020B0503020204020204" charset="-122"/>
              </a:rPr>
              <a:t>指标</a:t>
            </a:r>
            <a:endParaRPr sz="1400">
              <a:latin typeface="微软雅黑" panose="020B0503020204020204" charset="-122"/>
              <a:ea typeface="微软雅黑" panose="020B0503020204020204" charset="-122"/>
              <a:cs typeface="微软雅黑" panose="020B0503020204020204" charset="-122"/>
            </a:endParaRPr>
          </a:p>
        </p:txBody>
      </p:sp>
      <p:sp>
        <p:nvSpPr>
          <p:cNvPr id="43" name="object 43"/>
          <p:cNvSpPr/>
          <p:nvPr/>
        </p:nvSpPr>
        <p:spPr>
          <a:xfrm>
            <a:off x="2995584" y="3340559"/>
            <a:ext cx="1057161" cy="516524"/>
          </a:xfrm>
          <a:custGeom>
            <a:avLst/>
            <a:gdLst/>
            <a:ahLst/>
            <a:cxnLst/>
            <a:rect l="l" t="t" r="r" b="b"/>
            <a:pathLst>
              <a:path w="1057910" h="516889">
                <a:moveTo>
                  <a:pt x="0" y="516636"/>
                </a:moveTo>
                <a:lnTo>
                  <a:pt x="1057656" y="516636"/>
                </a:lnTo>
                <a:lnTo>
                  <a:pt x="1057656" y="0"/>
                </a:lnTo>
                <a:lnTo>
                  <a:pt x="0" y="0"/>
                </a:lnTo>
                <a:lnTo>
                  <a:pt x="0" y="516636"/>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4" name="object 44"/>
          <p:cNvSpPr txBox="1"/>
          <p:nvPr/>
        </p:nvSpPr>
        <p:spPr>
          <a:xfrm>
            <a:off x="2995584" y="3340559"/>
            <a:ext cx="1057161" cy="464820"/>
          </a:xfrm>
          <a:prstGeom prst="rect">
            <a:avLst/>
          </a:prstGeom>
          <a:ln w="9525">
            <a:solidFill>
              <a:srgbClr val="0066CC"/>
            </a:solidFill>
          </a:ln>
        </p:spPr>
        <p:txBody>
          <a:bodyPr vert="horz" wrap="square" lIns="0" tIns="31091" rIns="0" bIns="0" rtlCol="0">
            <a:spAutoFit/>
          </a:bodyPr>
          <a:lstStyle/>
          <a:p>
            <a:pPr marL="71755" marR="86360">
              <a:lnSpc>
                <a:spcPct val="101000"/>
              </a:lnSpc>
              <a:spcBef>
                <a:spcPts val="245"/>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客户关系与 决策流程</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5" name="object 45"/>
          <p:cNvSpPr/>
          <p:nvPr/>
        </p:nvSpPr>
        <p:spPr>
          <a:xfrm>
            <a:off x="2995584" y="3958865"/>
            <a:ext cx="1057161" cy="517792"/>
          </a:xfrm>
          <a:custGeom>
            <a:avLst/>
            <a:gdLst/>
            <a:ahLst/>
            <a:cxnLst/>
            <a:rect l="l" t="t" r="r" b="b"/>
            <a:pathLst>
              <a:path w="1057910" h="518160">
                <a:moveTo>
                  <a:pt x="0" y="518159"/>
                </a:moveTo>
                <a:lnTo>
                  <a:pt x="1057656" y="518159"/>
                </a:lnTo>
                <a:lnTo>
                  <a:pt x="1057656" y="0"/>
                </a:lnTo>
                <a:lnTo>
                  <a:pt x="0" y="0"/>
                </a:lnTo>
                <a:lnTo>
                  <a:pt x="0" y="518159"/>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6" name="object 46"/>
          <p:cNvSpPr txBox="1"/>
          <p:nvPr/>
        </p:nvSpPr>
        <p:spPr>
          <a:xfrm>
            <a:off x="2995584" y="3958865"/>
            <a:ext cx="1057161" cy="355600"/>
          </a:xfrm>
          <a:prstGeom prst="rect">
            <a:avLst/>
          </a:prstGeom>
          <a:ln w="9525">
            <a:solidFill>
              <a:srgbClr val="0066CC"/>
            </a:solidFill>
          </a:ln>
        </p:spPr>
        <p:txBody>
          <a:bodyPr vert="horz" wrap="square" lIns="0" tIns="140870" rIns="0" bIns="0" rtlCol="0">
            <a:spAutoFit/>
          </a:bodyPr>
          <a:lstStyle/>
          <a:p>
            <a:pPr marL="71755">
              <a:lnSpc>
                <a:spcPct val="100000"/>
              </a:lnSpc>
              <a:spcBef>
                <a:spcPts val="1110"/>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客户需求</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7" name="object 47"/>
          <p:cNvSpPr/>
          <p:nvPr/>
        </p:nvSpPr>
        <p:spPr>
          <a:xfrm>
            <a:off x="2995584" y="4577170"/>
            <a:ext cx="1057161" cy="517792"/>
          </a:xfrm>
          <a:custGeom>
            <a:avLst/>
            <a:gdLst/>
            <a:ahLst/>
            <a:cxnLst/>
            <a:rect l="l" t="t" r="r" b="b"/>
            <a:pathLst>
              <a:path w="1057910" h="518160">
                <a:moveTo>
                  <a:pt x="0" y="518160"/>
                </a:moveTo>
                <a:lnTo>
                  <a:pt x="1057656" y="518160"/>
                </a:lnTo>
                <a:lnTo>
                  <a:pt x="1057656" y="0"/>
                </a:lnTo>
                <a:lnTo>
                  <a:pt x="0" y="0"/>
                </a:lnTo>
                <a:lnTo>
                  <a:pt x="0" y="51816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8" name="object 48"/>
          <p:cNvSpPr txBox="1"/>
          <p:nvPr/>
        </p:nvSpPr>
        <p:spPr>
          <a:xfrm>
            <a:off x="2995584" y="4577170"/>
            <a:ext cx="1057161" cy="356235"/>
          </a:xfrm>
          <a:prstGeom prst="rect">
            <a:avLst/>
          </a:prstGeom>
          <a:ln w="9525">
            <a:solidFill>
              <a:srgbClr val="0066CC"/>
            </a:solidFill>
          </a:ln>
        </p:spPr>
        <p:txBody>
          <a:bodyPr vert="horz" wrap="square" lIns="0" tIns="141504" rIns="0" bIns="0" rtlCol="0">
            <a:spAutoFit/>
          </a:bodyPr>
          <a:lstStyle/>
          <a:p>
            <a:pPr marL="71755">
              <a:lnSpc>
                <a:spcPct val="100000"/>
              </a:lnSpc>
              <a:spcBef>
                <a:spcPts val="1115"/>
              </a:spcBef>
            </a:pPr>
            <a:r>
              <a:rPr sz="1400" dirty="0">
                <a:solidFill>
                  <a:srgbClr val="0066CC"/>
                </a:solidFill>
                <a:latin typeface="微软雅黑" panose="020B0503020204020204" charset="-122"/>
                <a:ea typeface="微软雅黑" panose="020B0503020204020204" charset="-122"/>
                <a:cs typeface="微软雅黑" panose="020B0503020204020204" charset="-122"/>
              </a:rPr>
              <a:t>风险分析</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9" name="object 49"/>
          <p:cNvSpPr txBox="1"/>
          <p:nvPr/>
        </p:nvSpPr>
        <p:spPr>
          <a:xfrm>
            <a:off x="2982893" y="1535644"/>
            <a:ext cx="1045739"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大客户分析</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5526679" y="2283652"/>
            <a:ext cx="3268569" cy="1708844"/>
          </a:xfrm>
          <a:custGeom>
            <a:avLst/>
            <a:gdLst/>
            <a:ahLst/>
            <a:cxnLst/>
            <a:rect l="l" t="t" r="r" b="b"/>
            <a:pathLst>
              <a:path w="3270884" h="1710054">
                <a:moveTo>
                  <a:pt x="3270504" y="0"/>
                </a:moveTo>
                <a:lnTo>
                  <a:pt x="0" y="0"/>
                </a:lnTo>
                <a:lnTo>
                  <a:pt x="584073" y="1709927"/>
                </a:lnTo>
                <a:lnTo>
                  <a:pt x="3270504" y="1709927"/>
                </a:lnTo>
                <a:lnTo>
                  <a:pt x="3270504" y="0"/>
                </a:lnTo>
                <a:close/>
              </a:path>
            </a:pathLst>
          </a:custGeom>
          <a:solidFill>
            <a:srgbClr val="D0D0D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 name="object 4"/>
          <p:cNvSpPr/>
          <p:nvPr/>
        </p:nvSpPr>
        <p:spPr>
          <a:xfrm>
            <a:off x="231483" y="2283652"/>
            <a:ext cx="3222881" cy="1708844"/>
          </a:xfrm>
          <a:custGeom>
            <a:avLst/>
            <a:gdLst/>
            <a:ahLst/>
            <a:cxnLst/>
            <a:rect l="l" t="t" r="r" b="b"/>
            <a:pathLst>
              <a:path w="3225165" h="1710054">
                <a:moveTo>
                  <a:pt x="3224784" y="0"/>
                </a:moveTo>
                <a:lnTo>
                  <a:pt x="0" y="0"/>
                </a:lnTo>
                <a:lnTo>
                  <a:pt x="0" y="1709927"/>
                </a:lnTo>
                <a:lnTo>
                  <a:pt x="2648966" y="1709927"/>
                </a:lnTo>
                <a:lnTo>
                  <a:pt x="3224784" y="0"/>
                </a:lnTo>
                <a:close/>
              </a:path>
            </a:pathLst>
          </a:custGeom>
          <a:solidFill>
            <a:srgbClr val="D0D0D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p:nvPr/>
        </p:nvSpPr>
        <p:spPr>
          <a:xfrm>
            <a:off x="4541348" y="4120294"/>
            <a:ext cx="4254025" cy="1705671"/>
          </a:xfrm>
          <a:custGeom>
            <a:avLst/>
            <a:gdLst/>
            <a:ahLst/>
            <a:cxnLst/>
            <a:rect l="l" t="t" r="r" b="b"/>
            <a:pathLst>
              <a:path w="4257040" h="1706879">
                <a:moveTo>
                  <a:pt x="0" y="1706880"/>
                </a:moveTo>
                <a:lnTo>
                  <a:pt x="4256532" y="1706880"/>
                </a:lnTo>
                <a:lnTo>
                  <a:pt x="4256532" y="0"/>
                </a:lnTo>
                <a:lnTo>
                  <a:pt x="0" y="0"/>
                </a:lnTo>
                <a:lnTo>
                  <a:pt x="0" y="1706880"/>
                </a:lnTo>
                <a:close/>
              </a:path>
            </a:pathLst>
          </a:custGeom>
          <a:solidFill>
            <a:srgbClr val="D0D0D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231483" y="4120294"/>
            <a:ext cx="4193108" cy="1705671"/>
          </a:xfrm>
          <a:custGeom>
            <a:avLst/>
            <a:gdLst/>
            <a:ahLst/>
            <a:cxnLst/>
            <a:rect l="l" t="t" r="r" b="b"/>
            <a:pathLst>
              <a:path w="4196080" h="1706879">
                <a:moveTo>
                  <a:pt x="0" y="1706880"/>
                </a:moveTo>
                <a:lnTo>
                  <a:pt x="4195572" y="1706880"/>
                </a:lnTo>
                <a:lnTo>
                  <a:pt x="4195572" y="0"/>
                </a:lnTo>
                <a:lnTo>
                  <a:pt x="0" y="0"/>
                </a:lnTo>
                <a:lnTo>
                  <a:pt x="0" y="1706880"/>
                </a:lnTo>
                <a:close/>
              </a:path>
            </a:pathLst>
          </a:custGeom>
          <a:solidFill>
            <a:srgbClr val="D0D0D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231483" y="1056178"/>
            <a:ext cx="8563891" cy="1156151"/>
          </a:xfrm>
          <a:custGeom>
            <a:avLst/>
            <a:gdLst/>
            <a:ahLst/>
            <a:cxnLst/>
            <a:rect l="l" t="t" r="r" b="b"/>
            <a:pathLst>
              <a:path w="8569960" h="1156970">
                <a:moveTo>
                  <a:pt x="0" y="1156715"/>
                </a:moveTo>
                <a:lnTo>
                  <a:pt x="8569452" y="1156715"/>
                </a:lnTo>
                <a:lnTo>
                  <a:pt x="8569452" y="0"/>
                </a:lnTo>
                <a:lnTo>
                  <a:pt x="0" y="0"/>
                </a:lnTo>
                <a:lnTo>
                  <a:pt x="0" y="1156715"/>
                </a:lnTo>
                <a:close/>
              </a:path>
            </a:pathLst>
          </a:custGeom>
          <a:solidFill>
            <a:srgbClr val="D0D0D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3552973" y="1587677"/>
            <a:ext cx="1875096" cy="1500077"/>
          </a:xfrm>
          <a:custGeom>
            <a:avLst/>
            <a:gdLst/>
            <a:ahLst/>
            <a:cxnLst/>
            <a:rect l="l" t="t" r="r" b="b"/>
            <a:pathLst>
              <a:path w="1876425" h="1501139">
                <a:moveTo>
                  <a:pt x="953516" y="0"/>
                </a:moveTo>
                <a:lnTo>
                  <a:pt x="0" y="639445"/>
                </a:lnTo>
                <a:lnTo>
                  <a:pt x="639953" y="1501140"/>
                </a:lnTo>
                <a:lnTo>
                  <a:pt x="1226947" y="1461008"/>
                </a:lnTo>
                <a:lnTo>
                  <a:pt x="1876044" y="613918"/>
                </a:lnTo>
                <a:lnTo>
                  <a:pt x="953516" y="0"/>
                </a:lnTo>
                <a:close/>
              </a:path>
            </a:pathLst>
          </a:custGeom>
          <a:solidFill>
            <a:srgbClr val="A7A7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4538304" y="3829416"/>
            <a:ext cx="1543226" cy="1345247"/>
          </a:xfrm>
          <a:custGeom>
            <a:avLst/>
            <a:gdLst/>
            <a:ahLst/>
            <a:cxnLst/>
            <a:rect l="l" t="t" r="r" b="b"/>
            <a:pathLst>
              <a:path w="1544320" h="1346200">
                <a:moveTo>
                  <a:pt x="333247" y="0"/>
                </a:moveTo>
                <a:lnTo>
                  <a:pt x="0" y="296544"/>
                </a:lnTo>
                <a:lnTo>
                  <a:pt x="3428" y="1342389"/>
                </a:lnTo>
                <a:lnTo>
                  <a:pt x="1164716" y="1345691"/>
                </a:lnTo>
                <a:lnTo>
                  <a:pt x="1543812" y="322579"/>
                </a:lnTo>
                <a:lnTo>
                  <a:pt x="333247" y="0"/>
                </a:lnTo>
                <a:close/>
              </a:path>
            </a:pathLst>
          </a:custGeom>
          <a:solidFill>
            <a:srgbClr val="A7A7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4903804" y="2263854"/>
            <a:ext cx="1594625" cy="1739302"/>
          </a:xfrm>
          <a:custGeom>
            <a:avLst/>
            <a:gdLst/>
            <a:ahLst/>
            <a:cxnLst/>
            <a:rect l="l" t="t" r="r" b="b"/>
            <a:pathLst>
              <a:path w="1595754" h="1740535">
                <a:moveTo>
                  <a:pt x="635762" y="0"/>
                </a:moveTo>
                <a:lnTo>
                  <a:pt x="0" y="862964"/>
                </a:lnTo>
                <a:lnTo>
                  <a:pt x="216789" y="1440052"/>
                </a:lnTo>
                <a:lnTo>
                  <a:pt x="1218565" y="1740408"/>
                </a:lnTo>
                <a:lnTo>
                  <a:pt x="1595627" y="660908"/>
                </a:lnTo>
                <a:lnTo>
                  <a:pt x="635762" y="0"/>
                </a:lnTo>
                <a:close/>
              </a:path>
            </a:pathLst>
          </a:custGeom>
          <a:solidFill>
            <a:srgbClr val="A7A7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2528047" y="2289744"/>
            <a:ext cx="1587010" cy="1699959"/>
          </a:xfrm>
          <a:custGeom>
            <a:avLst/>
            <a:gdLst/>
            <a:ahLst/>
            <a:cxnLst/>
            <a:rect l="l" t="t" r="r" b="b"/>
            <a:pathLst>
              <a:path w="1588135" h="1701164">
                <a:moveTo>
                  <a:pt x="931926" y="0"/>
                </a:moveTo>
                <a:lnTo>
                  <a:pt x="0" y="645287"/>
                </a:lnTo>
                <a:lnTo>
                  <a:pt x="363982" y="1700783"/>
                </a:lnTo>
                <a:lnTo>
                  <a:pt x="1392174" y="1387093"/>
                </a:lnTo>
                <a:lnTo>
                  <a:pt x="1588008" y="965580"/>
                </a:lnTo>
                <a:lnTo>
                  <a:pt x="931926" y="0"/>
                </a:lnTo>
                <a:close/>
              </a:path>
            </a:pathLst>
          </a:custGeom>
          <a:solidFill>
            <a:srgbClr val="A7A7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2905733" y="3791343"/>
            <a:ext cx="1522921" cy="1383320"/>
          </a:xfrm>
          <a:custGeom>
            <a:avLst/>
            <a:gdLst/>
            <a:ahLst/>
            <a:cxnLst/>
            <a:rect l="l" t="t" r="r" b="b"/>
            <a:pathLst>
              <a:path w="1524000" h="1384300">
                <a:moveTo>
                  <a:pt x="1195070" y="0"/>
                </a:moveTo>
                <a:lnTo>
                  <a:pt x="0" y="331723"/>
                </a:lnTo>
                <a:lnTo>
                  <a:pt x="374269" y="1383791"/>
                </a:lnTo>
                <a:lnTo>
                  <a:pt x="1520697" y="1380489"/>
                </a:lnTo>
                <a:lnTo>
                  <a:pt x="1523999" y="304926"/>
                </a:lnTo>
                <a:lnTo>
                  <a:pt x="1195070" y="0"/>
                </a:lnTo>
                <a:close/>
              </a:path>
            </a:pathLst>
          </a:custGeom>
          <a:solidFill>
            <a:srgbClr val="A7A7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4294382" y="1898099"/>
            <a:ext cx="402939" cy="450531"/>
          </a:xfrm>
          <a:custGeom>
            <a:avLst/>
            <a:gdLst/>
            <a:ahLst/>
            <a:cxnLst/>
            <a:rect l="l" t="t" r="r" b="b"/>
            <a:pathLst>
              <a:path w="403225" h="450850">
                <a:moveTo>
                  <a:pt x="264033" y="0"/>
                </a:moveTo>
                <a:lnTo>
                  <a:pt x="139191" y="0"/>
                </a:lnTo>
                <a:lnTo>
                  <a:pt x="0" y="450850"/>
                </a:lnTo>
                <a:lnTo>
                  <a:pt x="116839" y="450850"/>
                </a:lnTo>
                <a:lnTo>
                  <a:pt x="130323" y="395021"/>
                </a:lnTo>
                <a:lnTo>
                  <a:pt x="134874" y="376427"/>
                </a:lnTo>
                <a:lnTo>
                  <a:pt x="380216" y="376427"/>
                </a:lnTo>
                <a:lnTo>
                  <a:pt x="350101" y="278891"/>
                </a:lnTo>
                <a:lnTo>
                  <a:pt x="159765" y="278891"/>
                </a:lnTo>
                <a:lnTo>
                  <a:pt x="200151" y="116839"/>
                </a:lnTo>
                <a:lnTo>
                  <a:pt x="300091" y="116839"/>
                </a:lnTo>
                <a:lnTo>
                  <a:pt x="264033" y="0"/>
                </a:lnTo>
                <a:close/>
              </a:path>
              <a:path w="403225" h="450850">
                <a:moveTo>
                  <a:pt x="380216" y="376427"/>
                </a:moveTo>
                <a:lnTo>
                  <a:pt x="264795" y="376427"/>
                </a:lnTo>
                <a:lnTo>
                  <a:pt x="269442" y="395021"/>
                </a:lnTo>
                <a:lnTo>
                  <a:pt x="278689" y="432256"/>
                </a:lnTo>
                <a:lnTo>
                  <a:pt x="283337" y="450850"/>
                </a:lnTo>
                <a:lnTo>
                  <a:pt x="403225" y="450850"/>
                </a:lnTo>
                <a:lnTo>
                  <a:pt x="380216" y="376427"/>
                </a:lnTo>
                <a:close/>
              </a:path>
              <a:path w="403225" h="450850">
                <a:moveTo>
                  <a:pt x="300091" y="116839"/>
                </a:moveTo>
                <a:lnTo>
                  <a:pt x="200151" y="116839"/>
                </a:lnTo>
                <a:lnTo>
                  <a:pt x="210363" y="157394"/>
                </a:lnTo>
                <a:lnTo>
                  <a:pt x="241046" y="278891"/>
                </a:lnTo>
                <a:lnTo>
                  <a:pt x="350101" y="278891"/>
                </a:lnTo>
                <a:lnTo>
                  <a:pt x="300091" y="116839"/>
                </a:lnTo>
                <a:close/>
              </a:path>
            </a:pathLst>
          </a:custGeom>
          <a:solidFill>
            <a:srgbClr val="1F1F7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3477336" y="4514096"/>
            <a:ext cx="345830" cy="450531"/>
          </a:xfrm>
          <a:custGeom>
            <a:avLst/>
            <a:gdLst/>
            <a:ahLst/>
            <a:cxnLst/>
            <a:rect l="l" t="t" r="r" b="b"/>
            <a:pathLst>
              <a:path w="346075" h="450850">
                <a:moveTo>
                  <a:pt x="179832" y="0"/>
                </a:moveTo>
                <a:lnTo>
                  <a:pt x="139305" y="3621"/>
                </a:lnTo>
                <a:lnTo>
                  <a:pt x="72872" y="32629"/>
                </a:lnTo>
                <a:lnTo>
                  <a:pt x="27558" y="88020"/>
                </a:lnTo>
                <a:lnTo>
                  <a:pt x="13271" y="123491"/>
                </a:lnTo>
                <a:lnTo>
                  <a:pt x="4127" y="164463"/>
                </a:lnTo>
                <a:lnTo>
                  <a:pt x="126" y="210946"/>
                </a:lnTo>
                <a:lnTo>
                  <a:pt x="0" y="224281"/>
                </a:lnTo>
                <a:lnTo>
                  <a:pt x="380" y="244094"/>
                </a:lnTo>
                <a:lnTo>
                  <a:pt x="8477" y="306371"/>
                </a:lnTo>
                <a:lnTo>
                  <a:pt x="26670" y="357505"/>
                </a:lnTo>
                <a:lnTo>
                  <a:pt x="55895" y="401637"/>
                </a:lnTo>
                <a:lnTo>
                  <a:pt x="90170" y="430149"/>
                </a:lnTo>
                <a:lnTo>
                  <a:pt x="132254" y="445643"/>
                </a:lnTo>
                <a:lnTo>
                  <a:pt x="184912" y="450850"/>
                </a:lnTo>
                <a:lnTo>
                  <a:pt x="207770" y="449780"/>
                </a:lnTo>
                <a:lnTo>
                  <a:pt x="247151" y="441259"/>
                </a:lnTo>
                <a:lnTo>
                  <a:pt x="292131" y="412781"/>
                </a:lnTo>
                <a:lnTo>
                  <a:pt x="325233" y="365867"/>
                </a:lnTo>
                <a:lnTo>
                  <a:pt x="332114" y="349631"/>
                </a:lnTo>
                <a:lnTo>
                  <a:pt x="178562" y="349631"/>
                </a:lnTo>
                <a:lnTo>
                  <a:pt x="163254" y="347962"/>
                </a:lnTo>
                <a:lnTo>
                  <a:pt x="128142" y="322833"/>
                </a:lnTo>
                <a:lnTo>
                  <a:pt x="114712" y="284543"/>
                </a:lnTo>
                <a:lnTo>
                  <a:pt x="110265" y="224281"/>
                </a:lnTo>
                <a:lnTo>
                  <a:pt x="110357" y="219837"/>
                </a:lnTo>
                <a:lnTo>
                  <a:pt x="113966" y="172704"/>
                </a:lnTo>
                <a:lnTo>
                  <a:pt x="136296" y="121445"/>
                </a:lnTo>
                <a:lnTo>
                  <a:pt x="182499" y="100711"/>
                </a:lnTo>
                <a:lnTo>
                  <a:pt x="330873" y="100711"/>
                </a:lnTo>
                <a:lnTo>
                  <a:pt x="319024" y="75485"/>
                </a:lnTo>
                <a:lnTo>
                  <a:pt x="285496" y="33274"/>
                </a:lnTo>
                <a:lnTo>
                  <a:pt x="239855" y="8302"/>
                </a:lnTo>
                <a:lnTo>
                  <a:pt x="211647" y="2073"/>
                </a:lnTo>
                <a:lnTo>
                  <a:pt x="179832" y="0"/>
                </a:lnTo>
                <a:close/>
              </a:path>
              <a:path w="346075" h="450850">
                <a:moveTo>
                  <a:pt x="249682" y="264921"/>
                </a:moveTo>
                <a:lnTo>
                  <a:pt x="233840" y="315839"/>
                </a:lnTo>
                <a:lnTo>
                  <a:pt x="206295" y="344201"/>
                </a:lnTo>
                <a:lnTo>
                  <a:pt x="178562" y="349631"/>
                </a:lnTo>
                <a:lnTo>
                  <a:pt x="332114" y="349631"/>
                </a:lnTo>
                <a:lnTo>
                  <a:pt x="333581" y="346170"/>
                </a:lnTo>
                <a:lnTo>
                  <a:pt x="340524" y="324425"/>
                </a:lnTo>
                <a:lnTo>
                  <a:pt x="346075" y="300608"/>
                </a:lnTo>
                <a:lnTo>
                  <a:pt x="249682" y="264921"/>
                </a:lnTo>
                <a:close/>
              </a:path>
              <a:path w="346075" h="450850">
                <a:moveTo>
                  <a:pt x="330873" y="100711"/>
                </a:moveTo>
                <a:lnTo>
                  <a:pt x="182499" y="100711"/>
                </a:lnTo>
                <a:lnTo>
                  <a:pt x="190573" y="101234"/>
                </a:lnTo>
                <a:lnTo>
                  <a:pt x="198231" y="102806"/>
                </a:lnTo>
                <a:lnTo>
                  <a:pt x="230042" y="125577"/>
                </a:lnTo>
                <a:lnTo>
                  <a:pt x="245617" y="162051"/>
                </a:lnTo>
                <a:lnTo>
                  <a:pt x="342646" y="135508"/>
                </a:lnTo>
                <a:lnTo>
                  <a:pt x="332073" y="103264"/>
                </a:lnTo>
                <a:lnTo>
                  <a:pt x="330873" y="100711"/>
                </a:lnTo>
                <a:close/>
              </a:path>
            </a:pathLst>
          </a:custGeom>
          <a:solidFill>
            <a:srgbClr val="1F1F7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5147853" y="4514096"/>
            <a:ext cx="344561" cy="450531"/>
          </a:xfrm>
          <a:custGeom>
            <a:avLst/>
            <a:gdLst/>
            <a:ahLst/>
            <a:cxnLst/>
            <a:rect l="l" t="t" r="r" b="b"/>
            <a:pathLst>
              <a:path w="344804" h="450850">
                <a:moveTo>
                  <a:pt x="171831" y="0"/>
                </a:moveTo>
                <a:lnTo>
                  <a:pt x="0" y="0"/>
                </a:lnTo>
                <a:lnTo>
                  <a:pt x="0" y="450850"/>
                </a:lnTo>
                <a:lnTo>
                  <a:pt x="171831" y="450850"/>
                </a:lnTo>
                <a:lnTo>
                  <a:pt x="187713" y="450068"/>
                </a:lnTo>
                <a:lnTo>
                  <a:pt x="240791" y="438531"/>
                </a:lnTo>
                <a:lnTo>
                  <a:pt x="280475" y="415028"/>
                </a:lnTo>
                <a:lnTo>
                  <a:pt x="314451" y="372506"/>
                </a:lnTo>
                <a:lnTo>
                  <a:pt x="325853" y="348361"/>
                </a:lnTo>
                <a:lnTo>
                  <a:pt x="115570" y="348361"/>
                </a:lnTo>
                <a:lnTo>
                  <a:pt x="115570" y="101981"/>
                </a:lnTo>
                <a:lnTo>
                  <a:pt x="324723" y="101981"/>
                </a:lnTo>
                <a:lnTo>
                  <a:pt x="323230" y="97821"/>
                </a:lnTo>
                <a:lnTo>
                  <a:pt x="294681" y="49621"/>
                </a:lnTo>
                <a:lnTo>
                  <a:pt x="253873" y="16509"/>
                </a:lnTo>
                <a:lnTo>
                  <a:pt x="217709" y="4111"/>
                </a:lnTo>
                <a:lnTo>
                  <a:pt x="195972" y="1025"/>
                </a:lnTo>
                <a:lnTo>
                  <a:pt x="171831" y="0"/>
                </a:lnTo>
                <a:close/>
              </a:path>
              <a:path w="344804" h="450850">
                <a:moveTo>
                  <a:pt x="324723" y="101981"/>
                </a:moveTo>
                <a:lnTo>
                  <a:pt x="144525" y="101981"/>
                </a:lnTo>
                <a:lnTo>
                  <a:pt x="165389" y="103645"/>
                </a:lnTo>
                <a:lnTo>
                  <a:pt x="183038" y="108632"/>
                </a:lnTo>
                <a:lnTo>
                  <a:pt x="217289" y="144575"/>
                </a:lnTo>
                <a:lnTo>
                  <a:pt x="227004" y="193585"/>
                </a:lnTo>
                <a:lnTo>
                  <a:pt x="228219" y="226568"/>
                </a:lnTo>
                <a:lnTo>
                  <a:pt x="227673" y="251757"/>
                </a:lnTo>
                <a:lnTo>
                  <a:pt x="223343" y="290897"/>
                </a:lnTo>
                <a:lnTo>
                  <a:pt x="202795" y="332946"/>
                </a:lnTo>
                <a:lnTo>
                  <a:pt x="160807" y="347763"/>
                </a:lnTo>
                <a:lnTo>
                  <a:pt x="144018" y="348361"/>
                </a:lnTo>
                <a:lnTo>
                  <a:pt x="325853" y="348361"/>
                </a:lnTo>
                <a:lnTo>
                  <a:pt x="340995" y="287988"/>
                </a:lnTo>
                <a:lnTo>
                  <a:pt x="344424" y="223774"/>
                </a:lnTo>
                <a:lnTo>
                  <a:pt x="343852" y="201033"/>
                </a:lnTo>
                <a:lnTo>
                  <a:pt x="342138" y="178911"/>
                </a:lnTo>
                <a:lnTo>
                  <a:pt x="339280" y="157408"/>
                </a:lnTo>
                <a:lnTo>
                  <a:pt x="335279" y="136525"/>
                </a:lnTo>
                <a:lnTo>
                  <a:pt x="329940" y="116518"/>
                </a:lnTo>
                <a:lnTo>
                  <a:pt x="324723" y="101981"/>
                </a:lnTo>
                <a:close/>
              </a:path>
            </a:pathLst>
          </a:custGeom>
          <a:solidFill>
            <a:srgbClr val="1F1F7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p:nvPr/>
        </p:nvSpPr>
        <p:spPr>
          <a:xfrm>
            <a:off x="3042669" y="2845102"/>
            <a:ext cx="345830" cy="450531"/>
          </a:xfrm>
          <a:custGeom>
            <a:avLst/>
            <a:gdLst/>
            <a:ahLst/>
            <a:cxnLst/>
            <a:rect l="l" t="t" r="r" b="b"/>
            <a:pathLst>
              <a:path w="346075" h="450850">
                <a:moveTo>
                  <a:pt x="216535" y="0"/>
                </a:moveTo>
                <a:lnTo>
                  <a:pt x="0" y="0"/>
                </a:lnTo>
                <a:lnTo>
                  <a:pt x="0" y="450850"/>
                </a:lnTo>
                <a:lnTo>
                  <a:pt x="199770" y="450850"/>
                </a:lnTo>
                <a:lnTo>
                  <a:pt x="207795" y="450469"/>
                </a:lnTo>
                <a:lnTo>
                  <a:pt x="251587" y="444753"/>
                </a:lnTo>
                <a:lnTo>
                  <a:pt x="295528" y="430021"/>
                </a:lnTo>
                <a:lnTo>
                  <a:pt x="325104" y="398964"/>
                </a:lnTo>
                <a:lnTo>
                  <a:pt x="342661" y="355965"/>
                </a:lnTo>
                <a:lnTo>
                  <a:pt x="342960" y="354075"/>
                </a:lnTo>
                <a:lnTo>
                  <a:pt x="116712" y="354075"/>
                </a:lnTo>
                <a:lnTo>
                  <a:pt x="116712" y="262763"/>
                </a:lnTo>
                <a:lnTo>
                  <a:pt x="333395" y="262763"/>
                </a:lnTo>
                <a:lnTo>
                  <a:pt x="327025" y="251205"/>
                </a:lnTo>
                <a:lnTo>
                  <a:pt x="316168" y="237988"/>
                </a:lnTo>
                <a:lnTo>
                  <a:pt x="302656" y="226901"/>
                </a:lnTo>
                <a:lnTo>
                  <a:pt x="286502" y="217933"/>
                </a:lnTo>
                <a:lnTo>
                  <a:pt x="267715" y="211074"/>
                </a:lnTo>
                <a:lnTo>
                  <a:pt x="280167" y="205029"/>
                </a:lnTo>
                <a:lnTo>
                  <a:pt x="291036" y="197961"/>
                </a:lnTo>
                <a:lnTo>
                  <a:pt x="300309" y="189892"/>
                </a:lnTo>
                <a:lnTo>
                  <a:pt x="307975" y="180848"/>
                </a:lnTo>
                <a:lnTo>
                  <a:pt x="310356" y="176911"/>
                </a:lnTo>
                <a:lnTo>
                  <a:pt x="116712" y="176911"/>
                </a:lnTo>
                <a:lnTo>
                  <a:pt x="116712" y="91439"/>
                </a:lnTo>
                <a:lnTo>
                  <a:pt x="327026" y="91439"/>
                </a:lnTo>
                <a:lnTo>
                  <a:pt x="326866" y="89409"/>
                </a:lnTo>
                <a:lnTo>
                  <a:pt x="312388" y="49456"/>
                </a:lnTo>
                <a:lnTo>
                  <a:pt x="283668" y="18216"/>
                </a:lnTo>
                <a:lnTo>
                  <a:pt x="242087" y="2024"/>
                </a:lnTo>
                <a:lnTo>
                  <a:pt x="216535" y="0"/>
                </a:lnTo>
                <a:close/>
              </a:path>
              <a:path w="346075" h="450850">
                <a:moveTo>
                  <a:pt x="333395" y="262763"/>
                </a:moveTo>
                <a:lnTo>
                  <a:pt x="175513" y="262763"/>
                </a:lnTo>
                <a:lnTo>
                  <a:pt x="189535" y="263505"/>
                </a:lnTo>
                <a:lnTo>
                  <a:pt x="201294" y="265747"/>
                </a:lnTo>
                <a:lnTo>
                  <a:pt x="229362" y="297455"/>
                </a:lnTo>
                <a:lnTo>
                  <a:pt x="230124" y="306958"/>
                </a:lnTo>
                <a:lnTo>
                  <a:pt x="229360" y="317174"/>
                </a:lnTo>
                <a:lnTo>
                  <a:pt x="201167" y="350853"/>
                </a:lnTo>
                <a:lnTo>
                  <a:pt x="175768" y="354075"/>
                </a:lnTo>
                <a:lnTo>
                  <a:pt x="342960" y="354075"/>
                </a:lnTo>
                <a:lnTo>
                  <a:pt x="345219" y="339782"/>
                </a:lnTo>
                <a:lnTo>
                  <a:pt x="346075" y="322706"/>
                </a:lnTo>
                <a:lnTo>
                  <a:pt x="344884" y="302087"/>
                </a:lnTo>
                <a:lnTo>
                  <a:pt x="341312" y="283289"/>
                </a:lnTo>
                <a:lnTo>
                  <a:pt x="335359" y="266324"/>
                </a:lnTo>
                <a:lnTo>
                  <a:pt x="333395" y="262763"/>
                </a:lnTo>
                <a:close/>
              </a:path>
              <a:path w="346075" h="450850">
                <a:moveTo>
                  <a:pt x="327026" y="91439"/>
                </a:moveTo>
                <a:lnTo>
                  <a:pt x="167767" y="91439"/>
                </a:lnTo>
                <a:lnTo>
                  <a:pt x="179935" y="92130"/>
                </a:lnTo>
                <a:lnTo>
                  <a:pt x="190150" y="94202"/>
                </a:lnTo>
                <a:lnTo>
                  <a:pt x="214618" y="123938"/>
                </a:lnTo>
                <a:lnTo>
                  <a:pt x="215264" y="133223"/>
                </a:lnTo>
                <a:lnTo>
                  <a:pt x="214618" y="143196"/>
                </a:lnTo>
                <a:lnTo>
                  <a:pt x="189960" y="174085"/>
                </a:lnTo>
                <a:lnTo>
                  <a:pt x="167005" y="176911"/>
                </a:lnTo>
                <a:lnTo>
                  <a:pt x="310356" y="176911"/>
                </a:lnTo>
                <a:lnTo>
                  <a:pt x="317049" y="165846"/>
                </a:lnTo>
                <a:lnTo>
                  <a:pt x="323516" y="149415"/>
                </a:lnTo>
                <a:lnTo>
                  <a:pt x="327388" y="131556"/>
                </a:lnTo>
                <a:lnTo>
                  <a:pt x="328675" y="112267"/>
                </a:lnTo>
                <a:lnTo>
                  <a:pt x="327026" y="91439"/>
                </a:lnTo>
                <a:close/>
              </a:path>
            </a:pathLst>
          </a:custGeom>
          <a:solidFill>
            <a:srgbClr val="1F1F7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p:nvPr/>
        </p:nvSpPr>
        <p:spPr>
          <a:xfrm>
            <a:off x="5631634" y="3193851"/>
            <a:ext cx="345830" cy="101528"/>
          </a:xfrm>
          <a:custGeom>
            <a:avLst/>
            <a:gdLst/>
            <a:ahLst/>
            <a:cxnLst/>
            <a:rect l="l" t="t" r="r" b="b"/>
            <a:pathLst>
              <a:path w="346075" h="101600">
                <a:moveTo>
                  <a:pt x="0" y="101600"/>
                </a:moveTo>
                <a:lnTo>
                  <a:pt x="346075" y="101600"/>
                </a:lnTo>
                <a:lnTo>
                  <a:pt x="346075" y="0"/>
                </a:lnTo>
                <a:lnTo>
                  <a:pt x="0" y="0"/>
                </a:lnTo>
                <a:lnTo>
                  <a:pt x="0" y="101600"/>
                </a:lnTo>
                <a:close/>
              </a:path>
            </a:pathLst>
          </a:custGeom>
          <a:solidFill>
            <a:srgbClr val="1F1F7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p:nvPr/>
        </p:nvSpPr>
        <p:spPr>
          <a:xfrm>
            <a:off x="5631634" y="3105014"/>
            <a:ext cx="127545" cy="88837"/>
          </a:xfrm>
          <a:custGeom>
            <a:avLst/>
            <a:gdLst/>
            <a:ahLst/>
            <a:cxnLst/>
            <a:rect l="l" t="t" r="r" b="b"/>
            <a:pathLst>
              <a:path w="127635" h="88900">
                <a:moveTo>
                  <a:pt x="0" y="88900"/>
                </a:moveTo>
                <a:lnTo>
                  <a:pt x="127126" y="88900"/>
                </a:lnTo>
                <a:lnTo>
                  <a:pt x="127126" y="0"/>
                </a:lnTo>
                <a:lnTo>
                  <a:pt x="0" y="0"/>
                </a:lnTo>
                <a:lnTo>
                  <a:pt x="0" y="88900"/>
                </a:lnTo>
                <a:close/>
              </a:path>
            </a:pathLst>
          </a:custGeom>
          <a:solidFill>
            <a:srgbClr val="1F1F7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p:nvPr/>
        </p:nvSpPr>
        <p:spPr>
          <a:xfrm>
            <a:off x="5631634" y="3013638"/>
            <a:ext cx="324255" cy="91375"/>
          </a:xfrm>
          <a:custGeom>
            <a:avLst/>
            <a:gdLst/>
            <a:ahLst/>
            <a:cxnLst/>
            <a:rect l="l" t="t" r="r" b="b"/>
            <a:pathLst>
              <a:path w="324485" h="91439">
                <a:moveTo>
                  <a:pt x="0" y="91439"/>
                </a:moveTo>
                <a:lnTo>
                  <a:pt x="324485" y="91439"/>
                </a:lnTo>
                <a:lnTo>
                  <a:pt x="324485" y="0"/>
                </a:lnTo>
                <a:lnTo>
                  <a:pt x="0" y="0"/>
                </a:lnTo>
                <a:lnTo>
                  <a:pt x="0" y="91439"/>
                </a:lnTo>
                <a:close/>
              </a:path>
            </a:pathLst>
          </a:custGeom>
          <a:solidFill>
            <a:srgbClr val="1F1F7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p:nvPr/>
        </p:nvSpPr>
        <p:spPr>
          <a:xfrm>
            <a:off x="5631634" y="2977469"/>
            <a:ext cx="127545" cy="0"/>
          </a:xfrm>
          <a:custGeom>
            <a:avLst/>
            <a:gdLst/>
            <a:ahLst/>
            <a:cxnLst/>
            <a:rect l="l" t="t" r="r" b="b"/>
            <a:pathLst>
              <a:path w="127635">
                <a:moveTo>
                  <a:pt x="0" y="0"/>
                </a:moveTo>
                <a:lnTo>
                  <a:pt x="127126" y="0"/>
                </a:lnTo>
              </a:path>
            </a:pathLst>
          </a:custGeom>
          <a:ln w="72389">
            <a:solidFill>
              <a:srgbClr val="1F1F7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1" name="object 21"/>
          <p:cNvSpPr/>
          <p:nvPr/>
        </p:nvSpPr>
        <p:spPr>
          <a:xfrm>
            <a:off x="5631634" y="2844848"/>
            <a:ext cx="340119" cy="96452"/>
          </a:xfrm>
          <a:custGeom>
            <a:avLst/>
            <a:gdLst/>
            <a:ahLst/>
            <a:cxnLst/>
            <a:rect l="l" t="t" r="r" b="b"/>
            <a:pathLst>
              <a:path w="340360" h="96519">
                <a:moveTo>
                  <a:pt x="0" y="96520"/>
                </a:moveTo>
                <a:lnTo>
                  <a:pt x="339851" y="96520"/>
                </a:lnTo>
                <a:lnTo>
                  <a:pt x="339851" y="0"/>
                </a:lnTo>
                <a:lnTo>
                  <a:pt x="0" y="0"/>
                </a:lnTo>
                <a:lnTo>
                  <a:pt x="0" y="96520"/>
                </a:lnTo>
                <a:close/>
              </a:path>
            </a:pathLst>
          </a:custGeom>
          <a:solidFill>
            <a:srgbClr val="1F1F7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3501195" y="2556255"/>
            <a:ext cx="2017870" cy="2083354"/>
          </a:xfrm>
          <a:prstGeom prst="rect">
            <a:avLst/>
          </a:prstGeom>
          <a:blipFill>
            <a:blip r:embed="rId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p:nvPr/>
        </p:nvSpPr>
        <p:spPr>
          <a:xfrm>
            <a:off x="3501195" y="2556255"/>
            <a:ext cx="2017870" cy="2083862"/>
          </a:xfrm>
          <a:custGeom>
            <a:avLst/>
            <a:gdLst/>
            <a:ahLst/>
            <a:cxnLst/>
            <a:rect l="l" t="t" r="r" b="b"/>
            <a:pathLst>
              <a:path w="2019300" h="2085339">
                <a:moveTo>
                  <a:pt x="0" y="1042415"/>
                </a:moveTo>
                <a:lnTo>
                  <a:pt x="1098" y="993346"/>
                </a:lnTo>
                <a:lnTo>
                  <a:pt x="4363" y="944860"/>
                </a:lnTo>
                <a:lnTo>
                  <a:pt x="9744" y="897008"/>
                </a:lnTo>
                <a:lnTo>
                  <a:pt x="17193" y="849839"/>
                </a:lnTo>
                <a:lnTo>
                  <a:pt x="26663" y="803405"/>
                </a:lnTo>
                <a:lnTo>
                  <a:pt x="38104" y="757755"/>
                </a:lnTo>
                <a:lnTo>
                  <a:pt x="51468" y="712939"/>
                </a:lnTo>
                <a:lnTo>
                  <a:pt x="66707" y="669007"/>
                </a:lnTo>
                <a:lnTo>
                  <a:pt x="83772" y="626009"/>
                </a:lnTo>
                <a:lnTo>
                  <a:pt x="102614" y="583996"/>
                </a:lnTo>
                <a:lnTo>
                  <a:pt x="123186" y="543017"/>
                </a:lnTo>
                <a:lnTo>
                  <a:pt x="145438" y="503122"/>
                </a:lnTo>
                <a:lnTo>
                  <a:pt x="169323" y="464362"/>
                </a:lnTo>
                <a:lnTo>
                  <a:pt x="194791" y="426787"/>
                </a:lnTo>
                <a:lnTo>
                  <a:pt x="221795" y="390446"/>
                </a:lnTo>
                <a:lnTo>
                  <a:pt x="250285" y="355389"/>
                </a:lnTo>
                <a:lnTo>
                  <a:pt x="280214" y="321668"/>
                </a:lnTo>
                <a:lnTo>
                  <a:pt x="311533" y="289331"/>
                </a:lnTo>
                <a:lnTo>
                  <a:pt x="344194" y="258430"/>
                </a:lnTo>
                <a:lnTo>
                  <a:pt x="378147" y="229013"/>
                </a:lnTo>
                <a:lnTo>
                  <a:pt x="413345" y="201131"/>
                </a:lnTo>
                <a:lnTo>
                  <a:pt x="449739" y="174834"/>
                </a:lnTo>
                <a:lnTo>
                  <a:pt x="487280" y="150173"/>
                </a:lnTo>
                <a:lnTo>
                  <a:pt x="525921" y="127196"/>
                </a:lnTo>
                <a:lnTo>
                  <a:pt x="565612" y="105955"/>
                </a:lnTo>
                <a:lnTo>
                  <a:pt x="606306" y="86500"/>
                </a:lnTo>
                <a:lnTo>
                  <a:pt x="647953" y="68879"/>
                </a:lnTo>
                <a:lnTo>
                  <a:pt x="690506" y="53144"/>
                </a:lnTo>
                <a:lnTo>
                  <a:pt x="733915" y="39345"/>
                </a:lnTo>
                <a:lnTo>
                  <a:pt x="778133" y="27531"/>
                </a:lnTo>
                <a:lnTo>
                  <a:pt x="823110" y="17753"/>
                </a:lnTo>
                <a:lnTo>
                  <a:pt x="868799" y="10061"/>
                </a:lnTo>
                <a:lnTo>
                  <a:pt x="915151" y="4505"/>
                </a:lnTo>
                <a:lnTo>
                  <a:pt x="962117" y="1134"/>
                </a:lnTo>
                <a:lnTo>
                  <a:pt x="1009650" y="0"/>
                </a:lnTo>
                <a:lnTo>
                  <a:pt x="1057182" y="1134"/>
                </a:lnTo>
                <a:lnTo>
                  <a:pt x="1104148" y="4505"/>
                </a:lnTo>
                <a:lnTo>
                  <a:pt x="1150500" y="10061"/>
                </a:lnTo>
                <a:lnTo>
                  <a:pt x="1196189" y="17753"/>
                </a:lnTo>
                <a:lnTo>
                  <a:pt x="1241166" y="27531"/>
                </a:lnTo>
                <a:lnTo>
                  <a:pt x="1285384" y="39345"/>
                </a:lnTo>
                <a:lnTo>
                  <a:pt x="1328793" y="53144"/>
                </a:lnTo>
                <a:lnTo>
                  <a:pt x="1371346" y="68879"/>
                </a:lnTo>
                <a:lnTo>
                  <a:pt x="1412993" y="86500"/>
                </a:lnTo>
                <a:lnTo>
                  <a:pt x="1453687" y="105955"/>
                </a:lnTo>
                <a:lnTo>
                  <a:pt x="1493378" y="127196"/>
                </a:lnTo>
                <a:lnTo>
                  <a:pt x="1532019" y="150173"/>
                </a:lnTo>
                <a:lnTo>
                  <a:pt x="1569560" y="174834"/>
                </a:lnTo>
                <a:lnTo>
                  <a:pt x="1605954" y="201131"/>
                </a:lnTo>
                <a:lnTo>
                  <a:pt x="1641152" y="229013"/>
                </a:lnTo>
                <a:lnTo>
                  <a:pt x="1675105" y="258430"/>
                </a:lnTo>
                <a:lnTo>
                  <a:pt x="1707766" y="289331"/>
                </a:lnTo>
                <a:lnTo>
                  <a:pt x="1739085" y="321668"/>
                </a:lnTo>
                <a:lnTo>
                  <a:pt x="1769014" y="355389"/>
                </a:lnTo>
                <a:lnTo>
                  <a:pt x="1797504" y="390446"/>
                </a:lnTo>
                <a:lnTo>
                  <a:pt x="1824508" y="426787"/>
                </a:lnTo>
                <a:lnTo>
                  <a:pt x="1849976" y="464362"/>
                </a:lnTo>
                <a:lnTo>
                  <a:pt x="1873861" y="503122"/>
                </a:lnTo>
                <a:lnTo>
                  <a:pt x="1896113" y="543017"/>
                </a:lnTo>
                <a:lnTo>
                  <a:pt x="1916685" y="583996"/>
                </a:lnTo>
                <a:lnTo>
                  <a:pt x="1935527" y="626009"/>
                </a:lnTo>
                <a:lnTo>
                  <a:pt x="1952592" y="669007"/>
                </a:lnTo>
                <a:lnTo>
                  <a:pt x="1967831" y="712939"/>
                </a:lnTo>
                <a:lnTo>
                  <a:pt x="1981195" y="757755"/>
                </a:lnTo>
                <a:lnTo>
                  <a:pt x="1992636" y="803405"/>
                </a:lnTo>
                <a:lnTo>
                  <a:pt x="2002106" y="849839"/>
                </a:lnTo>
                <a:lnTo>
                  <a:pt x="2009555" y="897008"/>
                </a:lnTo>
                <a:lnTo>
                  <a:pt x="2014936" y="944860"/>
                </a:lnTo>
                <a:lnTo>
                  <a:pt x="2018201" y="993346"/>
                </a:lnTo>
                <a:lnTo>
                  <a:pt x="2019300" y="1042415"/>
                </a:lnTo>
                <a:lnTo>
                  <a:pt x="2018201" y="1091485"/>
                </a:lnTo>
                <a:lnTo>
                  <a:pt x="2014936" y="1139971"/>
                </a:lnTo>
                <a:lnTo>
                  <a:pt x="2009555" y="1187823"/>
                </a:lnTo>
                <a:lnTo>
                  <a:pt x="2002106" y="1234992"/>
                </a:lnTo>
                <a:lnTo>
                  <a:pt x="1992636" y="1281426"/>
                </a:lnTo>
                <a:lnTo>
                  <a:pt x="1981195" y="1327076"/>
                </a:lnTo>
                <a:lnTo>
                  <a:pt x="1967831" y="1371892"/>
                </a:lnTo>
                <a:lnTo>
                  <a:pt x="1952592" y="1415824"/>
                </a:lnTo>
                <a:lnTo>
                  <a:pt x="1935527" y="1458822"/>
                </a:lnTo>
                <a:lnTo>
                  <a:pt x="1916685" y="1500835"/>
                </a:lnTo>
                <a:lnTo>
                  <a:pt x="1896113" y="1541814"/>
                </a:lnTo>
                <a:lnTo>
                  <a:pt x="1873861" y="1581709"/>
                </a:lnTo>
                <a:lnTo>
                  <a:pt x="1849976" y="1620469"/>
                </a:lnTo>
                <a:lnTo>
                  <a:pt x="1824508" y="1658044"/>
                </a:lnTo>
                <a:lnTo>
                  <a:pt x="1797504" y="1694385"/>
                </a:lnTo>
                <a:lnTo>
                  <a:pt x="1769014" y="1729442"/>
                </a:lnTo>
                <a:lnTo>
                  <a:pt x="1739085" y="1763163"/>
                </a:lnTo>
                <a:lnTo>
                  <a:pt x="1707766" y="1795500"/>
                </a:lnTo>
                <a:lnTo>
                  <a:pt x="1675105" y="1826401"/>
                </a:lnTo>
                <a:lnTo>
                  <a:pt x="1641152" y="1855818"/>
                </a:lnTo>
                <a:lnTo>
                  <a:pt x="1605954" y="1883700"/>
                </a:lnTo>
                <a:lnTo>
                  <a:pt x="1569560" y="1909997"/>
                </a:lnTo>
                <a:lnTo>
                  <a:pt x="1532019" y="1934658"/>
                </a:lnTo>
                <a:lnTo>
                  <a:pt x="1493378" y="1957635"/>
                </a:lnTo>
                <a:lnTo>
                  <a:pt x="1453687" y="1978876"/>
                </a:lnTo>
                <a:lnTo>
                  <a:pt x="1412993" y="1998331"/>
                </a:lnTo>
                <a:lnTo>
                  <a:pt x="1371346" y="2015952"/>
                </a:lnTo>
                <a:lnTo>
                  <a:pt x="1328793" y="2031687"/>
                </a:lnTo>
                <a:lnTo>
                  <a:pt x="1285384" y="2045486"/>
                </a:lnTo>
                <a:lnTo>
                  <a:pt x="1241166" y="2057300"/>
                </a:lnTo>
                <a:lnTo>
                  <a:pt x="1196189" y="2067078"/>
                </a:lnTo>
                <a:lnTo>
                  <a:pt x="1150500" y="2074770"/>
                </a:lnTo>
                <a:lnTo>
                  <a:pt x="1104148" y="2080326"/>
                </a:lnTo>
                <a:lnTo>
                  <a:pt x="1057182" y="2083697"/>
                </a:lnTo>
                <a:lnTo>
                  <a:pt x="1009650" y="2084831"/>
                </a:lnTo>
                <a:lnTo>
                  <a:pt x="962117" y="2083697"/>
                </a:lnTo>
                <a:lnTo>
                  <a:pt x="915151" y="2080326"/>
                </a:lnTo>
                <a:lnTo>
                  <a:pt x="868799" y="2074770"/>
                </a:lnTo>
                <a:lnTo>
                  <a:pt x="823110" y="2067078"/>
                </a:lnTo>
                <a:lnTo>
                  <a:pt x="778133" y="2057300"/>
                </a:lnTo>
                <a:lnTo>
                  <a:pt x="733915" y="2045486"/>
                </a:lnTo>
                <a:lnTo>
                  <a:pt x="690506" y="2031687"/>
                </a:lnTo>
                <a:lnTo>
                  <a:pt x="647953" y="2015952"/>
                </a:lnTo>
                <a:lnTo>
                  <a:pt x="606306" y="1998331"/>
                </a:lnTo>
                <a:lnTo>
                  <a:pt x="565612" y="1978876"/>
                </a:lnTo>
                <a:lnTo>
                  <a:pt x="525921" y="1957635"/>
                </a:lnTo>
                <a:lnTo>
                  <a:pt x="487280" y="1934658"/>
                </a:lnTo>
                <a:lnTo>
                  <a:pt x="449739" y="1909997"/>
                </a:lnTo>
                <a:lnTo>
                  <a:pt x="413345" y="1883700"/>
                </a:lnTo>
                <a:lnTo>
                  <a:pt x="378147" y="1855818"/>
                </a:lnTo>
                <a:lnTo>
                  <a:pt x="344194" y="1826401"/>
                </a:lnTo>
                <a:lnTo>
                  <a:pt x="311533" y="1795500"/>
                </a:lnTo>
                <a:lnTo>
                  <a:pt x="280214" y="1763163"/>
                </a:lnTo>
                <a:lnTo>
                  <a:pt x="250285" y="1729442"/>
                </a:lnTo>
                <a:lnTo>
                  <a:pt x="221795" y="1694385"/>
                </a:lnTo>
                <a:lnTo>
                  <a:pt x="194791" y="1658044"/>
                </a:lnTo>
                <a:lnTo>
                  <a:pt x="169323" y="1620469"/>
                </a:lnTo>
                <a:lnTo>
                  <a:pt x="145438" y="1581709"/>
                </a:lnTo>
                <a:lnTo>
                  <a:pt x="123186" y="1541814"/>
                </a:lnTo>
                <a:lnTo>
                  <a:pt x="102614" y="1500835"/>
                </a:lnTo>
                <a:lnTo>
                  <a:pt x="83772" y="1458822"/>
                </a:lnTo>
                <a:lnTo>
                  <a:pt x="66707" y="1415824"/>
                </a:lnTo>
                <a:lnTo>
                  <a:pt x="51468" y="1371892"/>
                </a:lnTo>
                <a:lnTo>
                  <a:pt x="38104" y="1327076"/>
                </a:lnTo>
                <a:lnTo>
                  <a:pt x="26663" y="1281426"/>
                </a:lnTo>
                <a:lnTo>
                  <a:pt x="17193" y="1234992"/>
                </a:lnTo>
                <a:lnTo>
                  <a:pt x="9744" y="1187823"/>
                </a:lnTo>
                <a:lnTo>
                  <a:pt x="4363" y="1139971"/>
                </a:lnTo>
                <a:lnTo>
                  <a:pt x="1098" y="1091485"/>
                </a:lnTo>
                <a:lnTo>
                  <a:pt x="0" y="1042415"/>
                </a:lnTo>
                <a:close/>
              </a:path>
            </a:pathLst>
          </a:custGeom>
          <a:ln w="57150">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txBox="1"/>
          <p:nvPr/>
        </p:nvSpPr>
        <p:spPr>
          <a:xfrm>
            <a:off x="3961877" y="4265099"/>
            <a:ext cx="842047" cy="257175"/>
          </a:xfrm>
          <a:prstGeom prst="rect">
            <a:avLst/>
          </a:prstGeom>
        </p:spPr>
        <p:txBody>
          <a:bodyPr vert="horz" wrap="square" lIns="0" tIns="12056" rIns="0" bIns="0" rtlCol="0">
            <a:spAutoFit/>
          </a:bodyPr>
          <a:lstStyle/>
          <a:p>
            <a:pPr marL="12700">
              <a:lnSpc>
                <a:spcPct val="100000"/>
              </a:lnSpc>
              <a:spcBef>
                <a:spcPts val="95"/>
              </a:spcBef>
            </a:pPr>
            <a:r>
              <a:rPr sz="1600" b="1" dirty="0">
                <a:latin typeface="微软雅黑" panose="020B0503020204020204" charset="-122"/>
                <a:ea typeface="微软雅黑" panose="020B0503020204020204" charset="-122"/>
                <a:cs typeface="微软雅黑" panose="020B0503020204020204" charset="-122"/>
              </a:rPr>
              <a:t>客户分析</a:t>
            </a:r>
            <a:endParaRPr sz="1600" b="1" dirty="0">
              <a:latin typeface="微软雅黑" panose="020B0503020204020204" charset="-122"/>
              <a:ea typeface="微软雅黑" panose="020B0503020204020204" charset="-122"/>
              <a:cs typeface="微软雅黑" panose="020B0503020204020204" charset="-122"/>
            </a:endParaRPr>
          </a:p>
        </p:txBody>
      </p:sp>
      <p:sp>
        <p:nvSpPr>
          <p:cNvPr id="25" name="object 25"/>
          <p:cNvSpPr txBox="1"/>
          <p:nvPr/>
        </p:nvSpPr>
        <p:spPr>
          <a:xfrm>
            <a:off x="352200" y="1133085"/>
            <a:ext cx="3025536" cy="874395"/>
          </a:xfrm>
          <a:prstGeom prst="rect">
            <a:avLst/>
          </a:prstGeom>
        </p:spPr>
        <p:txBody>
          <a:bodyPr vert="horz" wrap="square" lIns="0" tIns="13325" rIns="0" bIns="0" rtlCol="0">
            <a:spAutoFit/>
          </a:bodyPr>
          <a:lstStyle/>
          <a:p>
            <a:pPr marL="368935">
              <a:lnSpc>
                <a:spcPct val="100000"/>
              </a:lnSpc>
              <a:spcBef>
                <a:spcPts val="105"/>
              </a:spcBef>
            </a:pPr>
            <a:r>
              <a:rPr sz="1400" b="1" spc="10" dirty="0">
                <a:latin typeface="微软雅黑" panose="020B0503020204020204" charset="-122"/>
                <a:ea typeface="微软雅黑" panose="020B0503020204020204" charset="-122"/>
                <a:cs typeface="微软雅黑" panose="020B0503020204020204" charset="-122"/>
              </a:rPr>
              <a:t>大</a:t>
            </a:r>
            <a:r>
              <a:rPr sz="1400" b="1" dirty="0">
                <a:latin typeface="微软雅黑" panose="020B0503020204020204" charset="-122"/>
                <a:ea typeface="微软雅黑" panose="020B0503020204020204" charset="-122"/>
                <a:cs typeface="微软雅黑" panose="020B0503020204020204" charset="-122"/>
              </a:rPr>
              <a:t>客</a:t>
            </a:r>
            <a:r>
              <a:rPr sz="1400" b="1" spc="-15" dirty="0">
                <a:latin typeface="微软雅黑" panose="020B0503020204020204" charset="-122"/>
                <a:ea typeface="微软雅黑" panose="020B0503020204020204" charset="-122"/>
                <a:cs typeface="微软雅黑" panose="020B0503020204020204" charset="-122"/>
              </a:rPr>
              <a:t>户</a:t>
            </a:r>
            <a:r>
              <a:rPr sz="1400" b="1" dirty="0">
                <a:latin typeface="微软雅黑" panose="020B0503020204020204" charset="-122"/>
                <a:ea typeface="微软雅黑" panose="020B0503020204020204" charset="-122"/>
                <a:cs typeface="微软雅黑" panose="020B0503020204020204" charset="-122"/>
              </a:rPr>
              <a:t>的背景</a:t>
            </a:r>
            <a:endParaRPr sz="1400">
              <a:latin typeface="微软雅黑" panose="020B0503020204020204" charset="-122"/>
              <a:ea typeface="微软雅黑" panose="020B0503020204020204" charset="-122"/>
              <a:cs typeface="微软雅黑" panose="020B0503020204020204" charset="-122"/>
            </a:endParaRPr>
          </a:p>
          <a:p>
            <a:pPr marL="165100" indent="-152400">
              <a:lnSpc>
                <a:spcPct val="100000"/>
              </a:lnSpc>
              <a:buClr>
                <a:srgbClr val="00295F"/>
              </a:buClr>
              <a:buSzPct val="125000"/>
              <a:buFont typeface="Arial" panose="020B0604020202020204"/>
              <a:buChar char="▪"/>
              <a:tabLst>
                <a:tab pos="165100" algn="l"/>
              </a:tabLst>
            </a:pPr>
            <a:r>
              <a:rPr sz="1400" dirty="0">
                <a:latin typeface="微软雅黑" panose="020B0503020204020204" charset="-122"/>
                <a:ea typeface="微软雅黑" panose="020B0503020204020204" charset="-122"/>
                <a:cs typeface="微软雅黑" panose="020B0503020204020204" charset="-122"/>
              </a:rPr>
              <a:t>大客户所属行业的动向</a:t>
            </a:r>
            <a:r>
              <a:rPr sz="1400" spc="-15" dirty="0">
                <a:latin typeface="微软雅黑" panose="020B0503020204020204" charset="-122"/>
                <a:ea typeface="微软雅黑" panose="020B0503020204020204" charset="-122"/>
                <a:cs typeface="微软雅黑" panose="020B0503020204020204" charset="-122"/>
              </a:rPr>
              <a:t>与</a:t>
            </a:r>
            <a:r>
              <a:rPr sz="1400" dirty="0">
                <a:latin typeface="微软雅黑" panose="020B0503020204020204" charset="-122"/>
                <a:ea typeface="微软雅黑" panose="020B0503020204020204" charset="-122"/>
                <a:cs typeface="微软雅黑" panose="020B0503020204020204" charset="-122"/>
              </a:rPr>
              <a:t>今后</a:t>
            </a:r>
            <a:r>
              <a:rPr sz="1400" spc="-15" dirty="0">
                <a:latin typeface="微软雅黑" panose="020B0503020204020204" charset="-122"/>
                <a:ea typeface="微软雅黑" panose="020B0503020204020204" charset="-122"/>
                <a:cs typeface="微软雅黑" panose="020B0503020204020204" charset="-122"/>
              </a:rPr>
              <a:t>的</a:t>
            </a:r>
            <a:r>
              <a:rPr sz="1400" dirty="0">
                <a:latin typeface="微软雅黑" panose="020B0503020204020204" charset="-122"/>
                <a:ea typeface="微软雅黑" panose="020B0503020204020204" charset="-122"/>
                <a:cs typeface="微软雅黑" panose="020B0503020204020204" charset="-122"/>
              </a:rPr>
              <a:t>预测</a:t>
            </a:r>
            <a:endParaRPr sz="1400">
              <a:latin typeface="微软雅黑" panose="020B0503020204020204" charset="-122"/>
              <a:ea typeface="微软雅黑" panose="020B0503020204020204" charset="-122"/>
              <a:cs typeface="微软雅黑" panose="020B0503020204020204" charset="-122"/>
            </a:endParaRPr>
          </a:p>
          <a:p>
            <a:pPr marL="165100" indent="-152400">
              <a:lnSpc>
                <a:spcPct val="100000"/>
              </a:lnSpc>
              <a:buClr>
                <a:srgbClr val="00295F"/>
              </a:buClr>
              <a:buSzPct val="125000"/>
              <a:buFont typeface="Arial" panose="020B0604020202020204"/>
              <a:buChar char="▪"/>
              <a:tabLst>
                <a:tab pos="165100" algn="l"/>
              </a:tabLst>
            </a:pPr>
            <a:r>
              <a:rPr sz="1400" dirty="0">
                <a:latin typeface="微软雅黑" panose="020B0503020204020204" charset="-122"/>
                <a:ea typeface="微软雅黑" panose="020B0503020204020204" charset="-122"/>
                <a:cs typeface="微软雅黑" panose="020B0503020204020204" charset="-122"/>
              </a:rPr>
              <a:t>大客户的业务战略与优</a:t>
            </a:r>
            <a:r>
              <a:rPr sz="1400" spc="-15" dirty="0">
                <a:latin typeface="微软雅黑" panose="020B0503020204020204" charset="-122"/>
                <a:ea typeface="微软雅黑" panose="020B0503020204020204" charset="-122"/>
                <a:cs typeface="微软雅黑" panose="020B0503020204020204" charset="-122"/>
              </a:rPr>
              <a:t>先</a:t>
            </a:r>
            <a:r>
              <a:rPr sz="1400" dirty="0">
                <a:latin typeface="微软雅黑" panose="020B0503020204020204" charset="-122"/>
                <a:ea typeface="微软雅黑" panose="020B0503020204020204" charset="-122"/>
                <a:cs typeface="微软雅黑" panose="020B0503020204020204" charset="-122"/>
              </a:rPr>
              <a:t>顺序</a:t>
            </a:r>
            <a:endParaRPr sz="1400">
              <a:latin typeface="微软雅黑" panose="020B0503020204020204" charset="-122"/>
              <a:ea typeface="微软雅黑" panose="020B0503020204020204" charset="-122"/>
              <a:cs typeface="微软雅黑" panose="020B0503020204020204" charset="-122"/>
            </a:endParaRPr>
          </a:p>
          <a:p>
            <a:pPr marL="165100" indent="-152400">
              <a:lnSpc>
                <a:spcPct val="100000"/>
              </a:lnSpc>
              <a:buClr>
                <a:srgbClr val="00295F"/>
              </a:buClr>
              <a:buSzPct val="125000"/>
              <a:buFont typeface="Arial" panose="020B0604020202020204"/>
              <a:buChar char="▪"/>
              <a:tabLst>
                <a:tab pos="165100" algn="l"/>
              </a:tabLst>
            </a:pPr>
            <a:r>
              <a:rPr sz="1400" dirty="0">
                <a:latin typeface="微软雅黑" panose="020B0503020204020204" charset="-122"/>
                <a:ea typeface="微软雅黑" panose="020B0503020204020204" charset="-122"/>
                <a:cs typeface="微软雅黑" panose="020B0503020204020204" charset="-122"/>
              </a:rPr>
              <a:t>今后的设想动向</a:t>
            </a:r>
            <a:endParaRPr sz="1400">
              <a:latin typeface="微软雅黑" panose="020B0503020204020204" charset="-122"/>
              <a:ea typeface="微软雅黑" panose="020B0503020204020204" charset="-122"/>
              <a:cs typeface="微软雅黑" panose="020B0503020204020204" charset="-122"/>
            </a:endParaRPr>
          </a:p>
        </p:txBody>
      </p:sp>
      <p:sp>
        <p:nvSpPr>
          <p:cNvPr id="26" name="object 26"/>
          <p:cNvSpPr txBox="1"/>
          <p:nvPr/>
        </p:nvSpPr>
        <p:spPr>
          <a:xfrm>
            <a:off x="333011" y="2369062"/>
            <a:ext cx="2138434" cy="874395"/>
          </a:xfrm>
          <a:prstGeom prst="rect">
            <a:avLst/>
          </a:prstGeom>
        </p:spPr>
        <p:txBody>
          <a:bodyPr vert="horz" wrap="square" lIns="0" tIns="13325" rIns="0" bIns="0" rtlCol="0">
            <a:spAutoFit/>
          </a:bodyPr>
          <a:lstStyle/>
          <a:p>
            <a:pPr marL="369570">
              <a:lnSpc>
                <a:spcPct val="100000"/>
              </a:lnSpc>
              <a:spcBef>
                <a:spcPts val="105"/>
              </a:spcBef>
            </a:pPr>
            <a:r>
              <a:rPr sz="1400" b="1" spc="10" dirty="0">
                <a:latin typeface="微软雅黑" panose="020B0503020204020204" charset="-122"/>
                <a:ea typeface="微软雅黑" panose="020B0503020204020204" charset="-122"/>
                <a:cs typeface="微软雅黑" panose="020B0503020204020204" charset="-122"/>
              </a:rPr>
              <a:t>大</a:t>
            </a:r>
            <a:r>
              <a:rPr sz="1400" b="1" dirty="0">
                <a:latin typeface="微软雅黑" panose="020B0503020204020204" charset="-122"/>
                <a:ea typeface="微软雅黑" panose="020B0503020204020204" charset="-122"/>
                <a:cs typeface="微软雅黑" panose="020B0503020204020204" charset="-122"/>
              </a:rPr>
              <a:t>客</a:t>
            </a:r>
            <a:r>
              <a:rPr sz="1400" b="1" spc="-15" dirty="0">
                <a:latin typeface="微软雅黑" panose="020B0503020204020204" charset="-122"/>
                <a:ea typeface="微软雅黑" panose="020B0503020204020204" charset="-122"/>
                <a:cs typeface="微软雅黑" panose="020B0503020204020204" charset="-122"/>
              </a:rPr>
              <a:t>户</a:t>
            </a:r>
            <a:r>
              <a:rPr sz="1400" b="1" dirty="0">
                <a:latin typeface="微软雅黑" panose="020B0503020204020204" charset="-122"/>
                <a:ea typeface="微软雅黑" panose="020B0503020204020204" charset="-122"/>
                <a:cs typeface="微软雅黑" panose="020B0503020204020204" charset="-122"/>
              </a:rPr>
              <a:t>的财</a:t>
            </a:r>
            <a:r>
              <a:rPr sz="1400" b="1" spc="-15" dirty="0">
                <a:latin typeface="微软雅黑" panose="020B0503020204020204" charset="-122"/>
                <a:ea typeface="微软雅黑" panose="020B0503020204020204" charset="-122"/>
                <a:cs typeface="微软雅黑" panose="020B0503020204020204" charset="-122"/>
              </a:rPr>
              <a:t>务</a:t>
            </a:r>
            <a:r>
              <a:rPr sz="1400" b="1" dirty="0">
                <a:latin typeface="微软雅黑" panose="020B0503020204020204" charset="-122"/>
                <a:ea typeface="微软雅黑" panose="020B0503020204020204" charset="-122"/>
                <a:cs typeface="微软雅黑" panose="020B0503020204020204" charset="-122"/>
              </a:rPr>
              <a:t>状况</a:t>
            </a:r>
            <a:endParaRPr sz="1400">
              <a:latin typeface="微软雅黑" panose="020B0503020204020204" charset="-122"/>
              <a:ea typeface="微软雅黑" panose="020B0503020204020204" charset="-122"/>
              <a:cs typeface="微软雅黑" panose="020B0503020204020204" charset="-122"/>
            </a:endParaRPr>
          </a:p>
          <a:p>
            <a:pPr marL="165100" indent="-153035">
              <a:lnSpc>
                <a:spcPct val="100000"/>
              </a:lnSpc>
              <a:buClr>
                <a:srgbClr val="00295F"/>
              </a:buClr>
              <a:buSzPct val="125000"/>
              <a:buFont typeface="Arial" panose="020B0604020202020204"/>
              <a:buChar char="▪"/>
              <a:tabLst>
                <a:tab pos="165735" algn="l"/>
              </a:tabLst>
            </a:pPr>
            <a:r>
              <a:rPr sz="1400" dirty="0">
                <a:latin typeface="微软雅黑" panose="020B0503020204020204" charset="-122"/>
                <a:ea typeface="微软雅黑" panose="020B0503020204020204" charset="-122"/>
                <a:cs typeface="微软雅黑" panose="020B0503020204020204" charset="-122"/>
              </a:rPr>
              <a:t>过去销售额和利润的变化</a:t>
            </a:r>
            <a:endParaRPr sz="1400">
              <a:latin typeface="微软雅黑" panose="020B0503020204020204" charset="-122"/>
              <a:ea typeface="微软雅黑" panose="020B0503020204020204" charset="-122"/>
              <a:cs typeface="微软雅黑" panose="020B0503020204020204" charset="-122"/>
            </a:endParaRPr>
          </a:p>
          <a:p>
            <a:pPr marL="165100" indent="-153035">
              <a:lnSpc>
                <a:spcPct val="100000"/>
              </a:lnSpc>
              <a:buClr>
                <a:srgbClr val="00295F"/>
              </a:buClr>
              <a:buSzPct val="125000"/>
              <a:buFont typeface="Arial" panose="020B0604020202020204"/>
              <a:buChar char="▪"/>
              <a:tabLst>
                <a:tab pos="165735" algn="l"/>
              </a:tabLst>
            </a:pPr>
            <a:r>
              <a:rPr sz="1400" dirty="0">
                <a:latin typeface="微软雅黑" panose="020B0503020204020204" charset="-122"/>
                <a:ea typeface="微软雅黑" panose="020B0503020204020204" charset="-122"/>
                <a:cs typeface="微软雅黑" panose="020B0503020204020204" charset="-122"/>
              </a:rPr>
              <a:t>佣金</a:t>
            </a:r>
            <a:endParaRPr sz="1400">
              <a:latin typeface="微软雅黑" panose="020B0503020204020204" charset="-122"/>
              <a:ea typeface="微软雅黑" panose="020B0503020204020204" charset="-122"/>
              <a:cs typeface="微软雅黑" panose="020B0503020204020204" charset="-122"/>
            </a:endParaRPr>
          </a:p>
          <a:p>
            <a:pPr marL="165100" indent="-153035">
              <a:lnSpc>
                <a:spcPct val="100000"/>
              </a:lnSpc>
              <a:buClr>
                <a:srgbClr val="00295F"/>
              </a:buClr>
              <a:buSzPct val="125000"/>
              <a:buFont typeface="Arial" panose="020B0604020202020204"/>
              <a:buChar char="▪"/>
              <a:tabLst>
                <a:tab pos="165735" algn="l"/>
              </a:tabLst>
            </a:pPr>
            <a:r>
              <a:rPr sz="1400" dirty="0">
                <a:latin typeface="微软雅黑" panose="020B0503020204020204" charset="-122"/>
                <a:ea typeface="微软雅黑" panose="020B0503020204020204" charset="-122"/>
                <a:cs typeface="微软雅黑" panose="020B0503020204020204" charset="-122"/>
              </a:rPr>
              <a:t>内部份额分析</a:t>
            </a:r>
            <a:endParaRPr sz="1400">
              <a:latin typeface="微软雅黑" panose="020B0503020204020204" charset="-122"/>
              <a:ea typeface="微软雅黑" panose="020B0503020204020204" charset="-122"/>
              <a:cs typeface="微软雅黑" panose="020B0503020204020204" charset="-122"/>
            </a:endParaRPr>
          </a:p>
        </p:txBody>
      </p:sp>
      <p:sp>
        <p:nvSpPr>
          <p:cNvPr id="27" name="object 27"/>
          <p:cNvSpPr txBox="1"/>
          <p:nvPr/>
        </p:nvSpPr>
        <p:spPr>
          <a:xfrm>
            <a:off x="6595516" y="2400155"/>
            <a:ext cx="2048328" cy="1089660"/>
          </a:xfrm>
          <a:prstGeom prst="rect">
            <a:avLst/>
          </a:prstGeom>
        </p:spPr>
        <p:txBody>
          <a:bodyPr vert="horz" wrap="square" lIns="0" tIns="13325" rIns="0" bIns="0" rtlCol="0">
            <a:spAutoFit/>
          </a:bodyPr>
          <a:lstStyle/>
          <a:p>
            <a:pPr marL="368935">
              <a:lnSpc>
                <a:spcPct val="100000"/>
              </a:lnSpc>
              <a:spcBef>
                <a:spcPts val="105"/>
              </a:spcBef>
            </a:pPr>
            <a:r>
              <a:rPr sz="1400" b="1" spc="10" dirty="0">
                <a:latin typeface="微软雅黑" panose="020B0503020204020204" charset="-122"/>
                <a:ea typeface="微软雅黑" panose="020B0503020204020204" charset="-122"/>
                <a:cs typeface="微软雅黑" panose="020B0503020204020204" charset="-122"/>
              </a:rPr>
              <a:t>风</a:t>
            </a:r>
            <a:r>
              <a:rPr sz="1400" b="1" dirty="0">
                <a:latin typeface="微软雅黑" panose="020B0503020204020204" charset="-122"/>
                <a:ea typeface="微软雅黑" panose="020B0503020204020204" charset="-122"/>
                <a:cs typeface="微软雅黑" panose="020B0503020204020204" charset="-122"/>
              </a:rPr>
              <a:t>险</a:t>
            </a:r>
            <a:r>
              <a:rPr sz="1400" b="1" spc="-10" dirty="0">
                <a:latin typeface="微软雅黑" panose="020B0503020204020204" charset="-122"/>
                <a:ea typeface="微软雅黑" panose="020B0503020204020204" charset="-122"/>
                <a:cs typeface="微软雅黑" panose="020B0503020204020204" charset="-122"/>
              </a:rPr>
              <a:t>评</a:t>
            </a:r>
            <a:r>
              <a:rPr sz="1400" b="1" dirty="0">
                <a:latin typeface="微软雅黑" panose="020B0503020204020204" charset="-122"/>
                <a:ea typeface="微软雅黑" panose="020B0503020204020204" charset="-122"/>
                <a:cs typeface="微软雅黑" panose="020B0503020204020204" charset="-122"/>
              </a:rPr>
              <a:t>估</a:t>
            </a:r>
            <a:endParaRPr sz="1400">
              <a:latin typeface="微软雅黑" panose="020B0503020204020204" charset="-122"/>
              <a:ea typeface="微软雅黑" panose="020B0503020204020204" charset="-122"/>
              <a:cs typeface="微软雅黑" panose="020B0503020204020204" charset="-122"/>
            </a:endParaRPr>
          </a:p>
          <a:p>
            <a:pPr marL="165100" marR="5080" indent="-152400">
              <a:lnSpc>
                <a:spcPct val="100000"/>
              </a:lnSpc>
              <a:buClr>
                <a:srgbClr val="00295F"/>
              </a:buClr>
              <a:buSzPct val="125000"/>
              <a:buFont typeface="Arial" panose="020B0604020202020204"/>
              <a:buChar char="▪"/>
              <a:tabLst>
                <a:tab pos="165100" algn="l"/>
              </a:tabLst>
            </a:pPr>
            <a:r>
              <a:rPr sz="1400" dirty="0">
                <a:latin typeface="微软雅黑" panose="020B0503020204020204" charset="-122"/>
                <a:ea typeface="微软雅黑" panose="020B0503020204020204" charset="-122"/>
                <a:cs typeface="微软雅黑" panose="020B0503020204020204" charset="-122"/>
              </a:rPr>
              <a:t>造成大客户</a:t>
            </a:r>
            <a:r>
              <a:rPr sz="1400" spc="5" dirty="0">
                <a:latin typeface="微软雅黑" panose="020B0503020204020204" charset="-122"/>
                <a:ea typeface="微软雅黑" panose="020B0503020204020204" charset="-122"/>
                <a:cs typeface="微软雅黑" panose="020B0503020204020204" charset="-122"/>
              </a:rPr>
              <a:t>/</a:t>
            </a:r>
            <a:r>
              <a:rPr sz="1400" dirty="0">
                <a:latin typeface="微软雅黑" panose="020B0503020204020204" charset="-122"/>
                <a:ea typeface="微软雅黑" panose="020B0503020204020204" charset="-122"/>
                <a:cs typeface="微软雅黑" panose="020B0503020204020204" charset="-122"/>
              </a:rPr>
              <a:t>竞争对</a:t>
            </a:r>
            <a:r>
              <a:rPr sz="1400" spc="-15" dirty="0">
                <a:latin typeface="微软雅黑" panose="020B0503020204020204" charset="-122"/>
                <a:ea typeface="微软雅黑" panose="020B0503020204020204" charset="-122"/>
                <a:cs typeface="微软雅黑" panose="020B0503020204020204" charset="-122"/>
              </a:rPr>
              <a:t>手</a:t>
            </a:r>
            <a:r>
              <a:rPr sz="1400" dirty="0">
                <a:latin typeface="微软雅黑" panose="020B0503020204020204" charset="-122"/>
                <a:ea typeface="微软雅黑" panose="020B0503020204020204" charset="-122"/>
                <a:cs typeface="微软雅黑" panose="020B0503020204020204" charset="-122"/>
              </a:rPr>
              <a:t>顾 客流失的主要原因</a:t>
            </a:r>
            <a:endParaRPr sz="1400">
              <a:latin typeface="微软雅黑" panose="020B0503020204020204" charset="-122"/>
              <a:ea typeface="微软雅黑" panose="020B0503020204020204" charset="-122"/>
              <a:cs typeface="微软雅黑" panose="020B0503020204020204" charset="-122"/>
            </a:endParaRPr>
          </a:p>
          <a:p>
            <a:pPr marL="165100" indent="-152400">
              <a:lnSpc>
                <a:spcPct val="100000"/>
              </a:lnSpc>
              <a:buClr>
                <a:srgbClr val="00295F"/>
              </a:buClr>
              <a:buSzPct val="125000"/>
              <a:buFont typeface="Arial" panose="020B0604020202020204"/>
              <a:buChar char="▪"/>
              <a:tabLst>
                <a:tab pos="165100" algn="l"/>
              </a:tabLst>
            </a:pPr>
            <a:r>
              <a:rPr sz="1400" dirty="0">
                <a:latin typeface="微软雅黑" panose="020B0503020204020204" charset="-122"/>
                <a:ea typeface="微软雅黑" panose="020B0503020204020204" charset="-122"/>
                <a:cs typeface="微软雅黑" panose="020B0503020204020204" charset="-122"/>
              </a:rPr>
              <a:t>业务Win/Loss</a:t>
            </a:r>
            <a:r>
              <a:rPr sz="1400" spc="-15" dirty="0">
                <a:latin typeface="微软雅黑" panose="020B0503020204020204" charset="-122"/>
                <a:ea typeface="微软雅黑" panose="020B0503020204020204" charset="-122"/>
                <a:cs typeface="微软雅黑" panose="020B0503020204020204" charset="-122"/>
              </a:rPr>
              <a:t>分析</a:t>
            </a:r>
            <a:endParaRPr sz="1400">
              <a:latin typeface="微软雅黑" panose="020B0503020204020204" charset="-122"/>
              <a:ea typeface="微软雅黑" panose="020B0503020204020204" charset="-122"/>
              <a:cs typeface="微软雅黑" panose="020B0503020204020204" charset="-122"/>
            </a:endParaRPr>
          </a:p>
          <a:p>
            <a:pPr marL="165100" indent="-152400">
              <a:lnSpc>
                <a:spcPct val="100000"/>
              </a:lnSpc>
              <a:buClr>
                <a:srgbClr val="00295F"/>
              </a:buClr>
              <a:buSzPct val="125000"/>
              <a:buFont typeface="Arial" panose="020B0604020202020204"/>
              <a:buChar char="▪"/>
              <a:tabLst>
                <a:tab pos="165100" algn="l"/>
              </a:tabLst>
            </a:pPr>
            <a:r>
              <a:rPr sz="1400" dirty="0">
                <a:latin typeface="微软雅黑" panose="020B0503020204020204" charset="-122"/>
                <a:ea typeface="微软雅黑" panose="020B0503020204020204" charset="-122"/>
                <a:cs typeface="微软雅黑" panose="020B0503020204020204" charset="-122"/>
              </a:rPr>
              <a:t>SWOT分析</a:t>
            </a:r>
            <a:endParaRPr sz="1400">
              <a:latin typeface="微软雅黑" panose="020B0503020204020204" charset="-122"/>
              <a:ea typeface="微软雅黑" panose="020B0503020204020204" charset="-122"/>
              <a:cs typeface="微软雅黑" panose="020B0503020204020204" charset="-122"/>
            </a:endParaRPr>
          </a:p>
        </p:txBody>
      </p:sp>
      <p:sp>
        <p:nvSpPr>
          <p:cNvPr id="28" name="object 28"/>
          <p:cNvSpPr txBox="1"/>
          <p:nvPr/>
        </p:nvSpPr>
        <p:spPr>
          <a:xfrm>
            <a:off x="220620" y="4334772"/>
            <a:ext cx="2694935" cy="1089660"/>
          </a:xfrm>
          <a:prstGeom prst="rect">
            <a:avLst/>
          </a:prstGeom>
        </p:spPr>
        <p:txBody>
          <a:bodyPr vert="horz" wrap="square" lIns="0" tIns="12691" rIns="0" bIns="0" rtlCol="0">
            <a:spAutoFit/>
          </a:bodyPr>
          <a:lstStyle/>
          <a:p>
            <a:pPr marL="12700" marR="5080" indent="177800">
              <a:lnSpc>
                <a:spcPct val="100000"/>
              </a:lnSpc>
              <a:spcBef>
                <a:spcPts val="100"/>
              </a:spcBef>
            </a:pPr>
            <a:r>
              <a:rPr sz="1400" b="1" spc="10" dirty="0">
                <a:latin typeface="微软雅黑" panose="020B0503020204020204" charset="-122"/>
                <a:ea typeface="微软雅黑" panose="020B0503020204020204" charset="-122"/>
                <a:cs typeface="微软雅黑" panose="020B0503020204020204" charset="-122"/>
              </a:rPr>
              <a:t>组织</a:t>
            </a:r>
            <a:r>
              <a:rPr sz="1400" b="1" dirty="0">
                <a:latin typeface="微软雅黑" panose="020B0503020204020204" charset="-122"/>
                <a:ea typeface="微软雅黑" panose="020B0503020204020204" charset="-122"/>
                <a:cs typeface="微软雅黑" panose="020B0503020204020204" charset="-122"/>
              </a:rPr>
              <a:t>体</a:t>
            </a:r>
            <a:r>
              <a:rPr sz="1400" b="1" spc="-15" dirty="0">
                <a:latin typeface="微软雅黑" panose="020B0503020204020204" charset="-122"/>
                <a:ea typeface="微软雅黑" panose="020B0503020204020204" charset="-122"/>
                <a:cs typeface="微软雅黑" panose="020B0503020204020204" charset="-122"/>
              </a:rPr>
              <a:t>制</a:t>
            </a:r>
            <a:r>
              <a:rPr sz="1400" b="1" dirty="0">
                <a:latin typeface="微软雅黑" panose="020B0503020204020204" charset="-122"/>
                <a:ea typeface="微软雅黑" panose="020B0503020204020204" charset="-122"/>
                <a:cs typeface="微软雅黑" panose="020B0503020204020204" charset="-122"/>
              </a:rPr>
              <a:t>、利</a:t>
            </a:r>
            <a:r>
              <a:rPr sz="1400" b="1" spc="-15" dirty="0">
                <a:latin typeface="微软雅黑" panose="020B0503020204020204" charset="-122"/>
                <a:ea typeface="微软雅黑" panose="020B0503020204020204" charset="-122"/>
                <a:cs typeface="微软雅黑" panose="020B0503020204020204" charset="-122"/>
              </a:rPr>
              <a:t>益</a:t>
            </a:r>
            <a:r>
              <a:rPr sz="1400" b="1" dirty="0">
                <a:latin typeface="微软雅黑" panose="020B0503020204020204" charset="-122"/>
                <a:ea typeface="微软雅黑" panose="020B0503020204020204" charset="-122"/>
                <a:cs typeface="微软雅黑" panose="020B0503020204020204" charset="-122"/>
              </a:rPr>
              <a:t>关系</a:t>
            </a:r>
            <a:r>
              <a:rPr sz="1400" b="1" spc="-15" dirty="0">
                <a:latin typeface="微软雅黑" panose="020B0503020204020204" charset="-122"/>
                <a:ea typeface="微软雅黑" panose="020B0503020204020204" charset="-122"/>
                <a:cs typeface="微软雅黑" panose="020B0503020204020204" charset="-122"/>
              </a:rPr>
              <a:t>人</a:t>
            </a:r>
            <a:r>
              <a:rPr sz="1400" b="1" dirty="0">
                <a:latin typeface="微软雅黑" panose="020B0503020204020204" charset="-122"/>
                <a:ea typeface="微软雅黑" panose="020B0503020204020204" charset="-122"/>
                <a:cs typeface="微软雅黑" panose="020B0503020204020204" charset="-122"/>
              </a:rPr>
              <a:t>的力</a:t>
            </a:r>
            <a:r>
              <a:rPr sz="1400" b="1" spc="-15" dirty="0">
                <a:latin typeface="微软雅黑" panose="020B0503020204020204" charset="-122"/>
                <a:ea typeface="微软雅黑" panose="020B0503020204020204" charset="-122"/>
                <a:cs typeface="微软雅黑" panose="020B0503020204020204" charset="-122"/>
              </a:rPr>
              <a:t>量</a:t>
            </a:r>
            <a:r>
              <a:rPr sz="1400" b="1" dirty="0">
                <a:latin typeface="微软雅黑" panose="020B0503020204020204" charset="-122"/>
                <a:ea typeface="微软雅黑" panose="020B0503020204020204" charset="-122"/>
                <a:cs typeface="微软雅黑" panose="020B0503020204020204" charset="-122"/>
              </a:rPr>
              <a:t>关 系</a:t>
            </a:r>
            <a:endParaRPr sz="1400">
              <a:latin typeface="微软雅黑" panose="020B0503020204020204" charset="-122"/>
              <a:ea typeface="微软雅黑" panose="020B0503020204020204" charset="-122"/>
              <a:cs typeface="微软雅黑" panose="020B0503020204020204" charset="-122"/>
            </a:endParaRPr>
          </a:p>
          <a:p>
            <a:pPr marL="166370" indent="-153035">
              <a:lnSpc>
                <a:spcPct val="100000"/>
              </a:lnSpc>
              <a:spcBef>
                <a:spcPts val="5"/>
              </a:spcBef>
              <a:buClr>
                <a:srgbClr val="00295F"/>
              </a:buClr>
              <a:buSzPct val="125000"/>
              <a:buFont typeface="Arial" panose="020B0604020202020204"/>
              <a:buChar char="▪"/>
              <a:tabLst>
                <a:tab pos="167005" algn="l"/>
              </a:tabLst>
            </a:pPr>
            <a:r>
              <a:rPr sz="1400" dirty="0">
                <a:latin typeface="微软雅黑" panose="020B0503020204020204" charset="-122"/>
                <a:ea typeface="微软雅黑" panose="020B0503020204020204" charset="-122"/>
                <a:cs typeface="微软雅黑" panose="020B0503020204020204" charset="-122"/>
              </a:rPr>
              <a:t>大客户内部的决策流程</a:t>
            </a:r>
            <a:endParaRPr sz="1400">
              <a:latin typeface="微软雅黑" panose="020B0503020204020204" charset="-122"/>
              <a:ea typeface="微软雅黑" panose="020B0503020204020204" charset="-122"/>
              <a:cs typeface="微软雅黑" panose="020B0503020204020204" charset="-122"/>
            </a:endParaRPr>
          </a:p>
          <a:p>
            <a:pPr marL="166370" indent="-153035">
              <a:lnSpc>
                <a:spcPct val="100000"/>
              </a:lnSpc>
              <a:buClr>
                <a:srgbClr val="00295F"/>
              </a:buClr>
              <a:buSzPct val="125000"/>
              <a:buFont typeface="Arial" panose="020B0604020202020204"/>
              <a:buChar char="▪"/>
              <a:tabLst>
                <a:tab pos="167005" algn="l"/>
              </a:tabLst>
            </a:pPr>
            <a:r>
              <a:rPr sz="1400" dirty="0">
                <a:latin typeface="微软雅黑" panose="020B0503020204020204" charset="-122"/>
                <a:ea typeface="微软雅黑" panose="020B0503020204020204" charset="-122"/>
                <a:cs typeface="微软雅黑" panose="020B0503020204020204" charset="-122"/>
              </a:rPr>
              <a:t>主要决策人、组织体制</a:t>
            </a:r>
            <a:endParaRPr sz="1400">
              <a:latin typeface="微软雅黑" panose="020B0503020204020204" charset="-122"/>
              <a:ea typeface="微软雅黑" panose="020B0503020204020204" charset="-122"/>
              <a:cs typeface="微软雅黑" panose="020B0503020204020204" charset="-122"/>
            </a:endParaRPr>
          </a:p>
          <a:p>
            <a:pPr marL="166370" indent="-153035">
              <a:lnSpc>
                <a:spcPct val="100000"/>
              </a:lnSpc>
              <a:buClr>
                <a:srgbClr val="00295F"/>
              </a:buClr>
              <a:buSzPct val="125000"/>
              <a:buFont typeface="Arial" panose="020B0604020202020204"/>
              <a:buChar char="▪"/>
              <a:tabLst>
                <a:tab pos="167005" algn="l"/>
              </a:tabLst>
            </a:pPr>
            <a:r>
              <a:rPr sz="1400" dirty="0">
                <a:latin typeface="微软雅黑" panose="020B0503020204020204" charset="-122"/>
                <a:ea typeface="微软雅黑" panose="020B0503020204020204" charset="-122"/>
                <a:cs typeface="微软雅黑" panose="020B0503020204020204" charset="-122"/>
              </a:rPr>
              <a:t>维持和强化关系所必须</a:t>
            </a:r>
            <a:r>
              <a:rPr sz="1400" spc="-15" dirty="0">
                <a:latin typeface="微软雅黑" panose="020B0503020204020204" charset="-122"/>
                <a:ea typeface="微软雅黑" panose="020B0503020204020204" charset="-122"/>
                <a:cs typeface="微软雅黑" panose="020B0503020204020204" charset="-122"/>
              </a:rPr>
              <a:t>的</a:t>
            </a:r>
            <a:r>
              <a:rPr sz="1400" dirty="0">
                <a:latin typeface="微软雅黑" panose="020B0503020204020204" charset="-122"/>
                <a:ea typeface="微软雅黑" panose="020B0503020204020204" charset="-122"/>
                <a:cs typeface="微软雅黑" panose="020B0503020204020204" charset="-122"/>
              </a:rPr>
              <a:t>活动</a:t>
            </a:r>
            <a:endParaRPr sz="1400">
              <a:latin typeface="微软雅黑" panose="020B0503020204020204" charset="-122"/>
              <a:ea typeface="微软雅黑" panose="020B0503020204020204" charset="-122"/>
              <a:cs typeface="微软雅黑" panose="020B0503020204020204" charset="-122"/>
            </a:endParaRPr>
          </a:p>
        </p:txBody>
      </p:sp>
      <p:sp>
        <p:nvSpPr>
          <p:cNvPr id="29" name="object 29"/>
          <p:cNvSpPr txBox="1"/>
          <p:nvPr/>
        </p:nvSpPr>
        <p:spPr>
          <a:xfrm>
            <a:off x="6151456" y="4441377"/>
            <a:ext cx="1959491" cy="873760"/>
          </a:xfrm>
          <a:prstGeom prst="rect">
            <a:avLst/>
          </a:prstGeom>
        </p:spPr>
        <p:txBody>
          <a:bodyPr vert="horz" wrap="square" lIns="0" tIns="12691" rIns="0" bIns="0" rtlCol="0">
            <a:spAutoFit/>
          </a:bodyPr>
          <a:lstStyle/>
          <a:p>
            <a:pPr marL="368935">
              <a:lnSpc>
                <a:spcPct val="100000"/>
              </a:lnSpc>
              <a:spcBef>
                <a:spcPts val="100"/>
              </a:spcBef>
            </a:pPr>
            <a:r>
              <a:rPr sz="1400" b="1" spc="10" dirty="0">
                <a:latin typeface="微软雅黑" panose="020B0503020204020204" charset="-122"/>
                <a:ea typeface="微软雅黑" panose="020B0503020204020204" charset="-122"/>
                <a:cs typeface="微软雅黑" panose="020B0503020204020204" charset="-122"/>
              </a:rPr>
              <a:t>顾</a:t>
            </a:r>
            <a:r>
              <a:rPr sz="1400" b="1" dirty="0">
                <a:latin typeface="微软雅黑" panose="020B0503020204020204" charset="-122"/>
                <a:ea typeface="微软雅黑" panose="020B0503020204020204" charset="-122"/>
                <a:cs typeface="微软雅黑" panose="020B0503020204020204" charset="-122"/>
              </a:rPr>
              <a:t>客</a:t>
            </a:r>
            <a:r>
              <a:rPr sz="1400" b="1" spc="-15" dirty="0">
                <a:latin typeface="微软雅黑" panose="020B0503020204020204" charset="-122"/>
                <a:ea typeface="微软雅黑" panose="020B0503020204020204" charset="-122"/>
                <a:cs typeface="微软雅黑" panose="020B0503020204020204" charset="-122"/>
              </a:rPr>
              <a:t>期</a:t>
            </a:r>
            <a:r>
              <a:rPr sz="1400" b="1" dirty="0">
                <a:latin typeface="微软雅黑" panose="020B0503020204020204" charset="-122"/>
                <a:ea typeface="微软雅黑" panose="020B0503020204020204" charset="-122"/>
                <a:cs typeface="微软雅黑" panose="020B0503020204020204" charset="-122"/>
              </a:rPr>
              <a:t>待</a:t>
            </a:r>
            <a:endParaRPr sz="1400">
              <a:latin typeface="微软雅黑" panose="020B0503020204020204" charset="-122"/>
              <a:ea typeface="微软雅黑" panose="020B0503020204020204" charset="-122"/>
              <a:cs typeface="微软雅黑" panose="020B0503020204020204" charset="-122"/>
            </a:endParaRPr>
          </a:p>
          <a:p>
            <a:pPr marL="165100" indent="-152400">
              <a:lnSpc>
                <a:spcPct val="100000"/>
              </a:lnSpc>
              <a:buClr>
                <a:srgbClr val="00295F"/>
              </a:buClr>
              <a:buSzPct val="125000"/>
              <a:buFont typeface="Arial" panose="020B0604020202020204"/>
              <a:buChar char="▪"/>
              <a:tabLst>
                <a:tab pos="165100" algn="l"/>
              </a:tabLst>
            </a:pPr>
            <a:r>
              <a:rPr sz="1400" dirty="0">
                <a:latin typeface="微软雅黑" panose="020B0503020204020204" charset="-122"/>
                <a:ea typeface="微软雅黑" panose="020B0503020204020204" charset="-122"/>
                <a:cs typeface="微软雅黑" panose="020B0503020204020204" charset="-122"/>
              </a:rPr>
              <a:t>大客户的需求与期待</a:t>
            </a:r>
            <a:endParaRPr sz="1400">
              <a:latin typeface="微软雅黑" panose="020B0503020204020204" charset="-122"/>
              <a:ea typeface="微软雅黑" panose="020B0503020204020204" charset="-122"/>
              <a:cs typeface="微软雅黑" panose="020B0503020204020204" charset="-122"/>
            </a:endParaRPr>
          </a:p>
          <a:p>
            <a:pPr marL="165100" indent="-152400">
              <a:lnSpc>
                <a:spcPct val="100000"/>
              </a:lnSpc>
              <a:buClr>
                <a:srgbClr val="00295F"/>
              </a:buClr>
              <a:buSzPct val="125000"/>
              <a:buFont typeface="Arial" panose="020B0604020202020204"/>
              <a:buChar char="▪"/>
              <a:tabLst>
                <a:tab pos="165100" algn="l"/>
              </a:tabLst>
            </a:pPr>
            <a:r>
              <a:rPr sz="1400" dirty="0">
                <a:latin typeface="微软雅黑" panose="020B0503020204020204" charset="-122"/>
                <a:ea typeface="微软雅黑" panose="020B0503020204020204" charset="-122"/>
                <a:cs typeface="微软雅黑" panose="020B0503020204020204" charset="-122"/>
              </a:rPr>
              <a:t>与竞争对手的表现比较</a:t>
            </a:r>
            <a:endParaRPr sz="1400">
              <a:latin typeface="微软雅黑" panose="020B0503020204020204" charset="-122"/>
              <a:ea typeface="微软雅黑" panose="020B0503020204020204" charset="-122"/>
              <a:cs typeface="微软雅黑" panose="020B0503020204020204" charset="-122"/>
            </a:endParaRPr>
          </a:p>
          <a:p>
            <a:pPr marL="165100" indent="-152400">
              <a:lnSpc>
                <a:spcPct val="100000"/>
              </a:lnSpc>
              <a:buClr>
                <a:srgbClr val="00295F"/>
              </a:buClr>
              <a:buSzPct val="125000"/>
              <a:buFont typeface="Arial" panose="020B0604020202020204"/>
              <a:buChar char="▪"/>
              <a:tabLst>
                <a:tab pos="165100" algn="l"/>
              </a:tabLst>
            </a:pPr>
            <a:r>
              <a:rPr sz="1400" dirty="0">
                <a:latin typeface="微软雅黑" panose="020B0503020204020204" charset="-122"/>
                <a:ea typeface="微软雅黑" panose="020B0503020204020204" charset="-122"/>
                <a:cs typeface="微软雅黑" panose="020B0503020204020204" charset="-122"/>
              </a:rPr>
              <a:t>需要改善之处</a:t>
            </a:r>
            <a:endParaRPr sz="1400">
              <a:latin typeface="微软雅黑" panose="020B0503020204020204" charset="-122"/>
              <a:ea typeface="微软雅黑" panose="020B0503020204020204" charset="-122"/>
              <a:cs typeface="微软雅黑" panose="020B0503020204020204" charset="-122"/>
            </a:endParaRPr>
          </a:p>
        </p:txBody>
      </p:sp>
      <p:sp>
        <p:nvSpPr>
          <p:cNvPr id="30" name="object 30"/>
          <p:cNvSpPr txBox="1"/>
          <p:nvPr/>
        </p:nvSpPr>
        <p:spPr>
          <a:xfrm>
            <a:off x="106401" y="6411173"/>
            <a:ext cx="3073127" cy="165100"/>
          </a:xfrm>
          <a:prstGeom prst="rect">
            <a:avLst/>
          </a:prstGeom>
        </p:spPr>
        <p:txBody>
          <a:bodyPr vert="horz" wrap="square" lIns="0" tIns="12056" rIns="0" bIns="0" rtlCol="0">
            <a:spAutoFit/>
          </a:bodyPr>
          <a:lstStyle/>
          <a:p>
            <a:pPr marL="12700">
              <a:lnSpc>
                <a:spcPct val="100000"/>
              </a:lnSpc>
              <a:spcBef>
                <a:spcPts val="95"/>
              </a:spcBef>
              <a:tabLst>
                <a:tab pos="621665" algn="l"/>
              </a:tabLst>
            </a:pPr>
            <a:r>
              <a:rPr sz="1000" spc="-5" dirty="0">
                <a:latin typeface="微软雅黑" panose="020B0503020204020204" charset="-122"/>
                <a:ea typeface="微软雅黑" panose="020B0503020204020204" charset="-122"/>
                <a:cs typeface="微软雅黑" panose="020B0503020204020204" charset="-122"/>
              </a:rPr>
              <a:t>资  </a:t>
            </a:r>
            <a:r>
              <a:rPr sz="1000" spc="10"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料	</a:t>
            </a:r>
            <a:r>
              <a:rPr sz="1000" spc="-10" dirty="0">
                <a:latin typeface="微软雅黑" panose="020B0503020204020204" charset="-122"/>
                <a:ea typeface="微软雅黑" panose="020B0503020204020204" charset="-122"/>
                <a:cs typeface="微软雅黑" panose="020B0503020204020204" charset="-122"/>
              </a:rPr>
              <a:t>****管理咨询公</a:t>
            </a:r>
            <a:r>
              <a:rPr sz="1000" spc="-5" dirty="0">
                <a:latin typeface="微软雅黑" panose="020B0503020204020204" charset="-122"/>
                <a:ea typeface="微软雅黑" panose="020B0503020204020204" charset="-122"/>
                <a:cs typeface="微软雅黑" panose="020B0503020204020204" charset="-122"/>
              </a:rPr>
              <a:t>司</a:t>
            </a:r>
            <a:r>
              <a:rPr sz="1000" spc="15"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–营销和销售研究小组</a:t>
            </a:r>
            <a:endParaRPr sz="1000">
              <a:latin typeface="微软雅黑" panose="020B0503020204020204" charset="-122"/>
              <a:ea typeface="微软雅黑" panose="020B0503020204020204" charset="-122"/>
              <a:cs typeface="微软雅黑" panose="020B0503020204020204" charset="-122"/>
            </a:endParaRPr>
          </a:p>
        </p:txBody>
      </p:sp>
      <p:sp>
        <p:nvSpPr>
          <p:cNvPr id="31" name="object 31"/>
          <p:cNvSpPr txBox="1">
            <a:spLocks noGrp="1"/>
          </p:cNvSpPr>
          <p:nvPr>
            <p:ph type="title"/>
          </p:nvPr>
        </p:nvSpPr>
        <p:spPr>
          <a:xfrm>
            <a:off x="106401" y="90392"/>
            <a:ext cx="6058686"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为了解客户</a:t>
            </a:r>
            <a:r>
              <a:rPr spc="-10" dirty="0">
                <a:ea typeface="微软雅黑" panose="020B0503020204020204" charset="-122"/>
              </a:rPr>
              <a:t>需求</a:t>
            </a:r>
            <a:r>
              <a:rPr spc="-5" dirty="0">
                <a:ea typeface="微软雅黑" panose="020B0503020204020204" charset="-122"/>
              </a:rPr>
              <a:t>，</a:t>
            </a:r>
            <a:r>
              <a:rPr spc="-10" dirty="0">
                <a:ea typeface="微软雅黑" panose="020B0503020204020204" charset="-122"/>
              </a:rPr>
              <a:t>我们</a:t>
            </a:r>
            <a:r>
              <a:rPr spc="-5" dirty="0">
                <a:ea typeface="微软雅黑" panose="020B0503020204020204" charset="-122"/>
              </a:rPr>
              <a:t>建</a:t>
            </a:r>
            <a:r>
              <a:rPr spc="10" dirty="0">
                <a:ea typeface="微软雅黑" panose="020B0503020204020204" charset="-122"/>
              </a:rPr>
              <a:t>议</a:t>
            </a:r>
            <a:r>
              <a:rPr spc="-10" dirty="0">
                <a:ea typeface="微软雅黑" panose="020B0503020204020204" charset="-122"/>
              </a:rPr>
              <a:t>用</a:t>
            </a:r>
            <a:r>
              <a:rPr spc="-5" dirty="0">
                <a:ea typeface="微软雅黑" panose="020B0503020204020204" charset="-122"/>
              </a:rPr>
              <a:t>五</a:t>
            </a:r>
            <a:r>
              <a:rPr spc="-10" dirty="0">
                <a:ea typeface="微软雅黑" panose="020B0503020204020204" charset="-122"/>
              </a:rPr>
              <a:t>个视</a:t>
            </a:r>
            <a:r>
              <a:rPr spc="-5" dirty="0">
                <a:ea typeface="微软雅黑" panose="020B0503020204020204" charset="-122"/>
              </a:rPr>
              <a:t>角</a:t>
            </a:r>
            <a:r>
              <a:rPr spc="-10" dirty="0">
                <a:ea typeface="微软雅黑" panose="020B0503020204020204" charset="-122"/>
              </a:rPr>
              <a:t>来分</a:t>
            </a:r>
            <a:r>
              <a:rPr spc="5" dirty="0">
                <a:ea typeface="微软雅黑" panose="020B0503020204020204" charset="-122"/>
              </a:rPr>
              <a:t>析</a:t>
            </a:r>
            <a:r>
              <a:rPr spc="-10" dirty="0">
                <a:ea typeface="微软雅黑" panose="020B0503020204020204" charset="-122"/>
              </a:rPr>
              <a:t>、跟</a:t>
            </a:r>
            <a:r>
              <a:rPr dirty="0">
                <a:ea typeface="微软雅黑" panose="020B0503020204020204" charset="-122"/>
              </a:rPr>
              <a:t>踪</a:t>
            </a:r>
            <a:r>
              <a:rPr spc="-10" dirty="0">
                <a:ea typeface="微软雅黑" panose="020B0503020204020204" charset="-122"/>
              </a:rPr>
              <a:t>客户</a:t>
            </a:r>
            <a:endParaRPr spc="-10" dirty="0">
              <a:ea typeface="微软雅黑" panose="020B0503020204020204" charset="-122"/>
            </a:endParaRPr>
          </a:p>
        </p:txBody>
      </p:sp>
      <p:sp>
        <p:nvSpPr>
          <p:cNvPr id="32" name="object 32"/>
          <p:cNvSpPr/>
          <p:nvPr/>
        </p:nvSpPr>
        <p:spPr>
          <a:xfrm>
            <a:off x="334725" y="1198571"/>
            <a:ext cx="199883" cy="158638"/>
          </a:xfrm>
          <a:prstGeom prst="rect">
            <a:avLst/>
          </a:prstGeom>
          <a:blipFill>
            <a:blip r:embed="rId2"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3" name="object 33"/>
          <p:cNvSpPr/>
          <p:nvPr/>
        </p:nvSpPr>
        <p:spPr>
          <a:xfrm>
            <a:off x="334725" y="2423253"/>
            <a:ext cx="199883" cy="158638"/>
          </a:xfrm>
          <a:prstGeom prst="rect">
            <a:avLst/>
          </a:prstGeom>
          <a:blipFill>
            <a:blip r:embed="rId3"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4" name="object 34"/>
          <p:cNvSpPr/>
          <p:nvPr/>
        </p:nvSpPr>
        <p:spPr>
          <a:xfrm>
            <a:off x="228438" y="4396704"/>
            <a:ext cx="199883" cy="158638"/>
          </a:xfrm>
          <a:prstGeom prst="rect">
            <a:avLst/>
          </a:prstGeom>
          <a:blipFill>
            <a:blip r:embed="rId4"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5" name="object 35"/>
          <p:cNvSpPr/>
          <p:nvPr/>
        </p:nvSpPr>
        <p:spPr>
          <a:xfrm>
            <a:off x="6583459" y="2455615"/>
            <a:ext cx="199883" cy="158638"/>
          </a:xfrm>
          <a:prstGeom prst="rect">
            <a:avLst/>
          </a:prstGeom>
          <a:blipFill>
            <a:blip r:embed="rId5"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6" name="object 36"/>
          <p:cNvSpPr/>
          <p:nvPr/>
        </p:nvSpPr>
        <p:spPr>
          <a:xfrm>
            <a:off x="6156788" y="4501405"/>
            <a:ext cx="199883" cy="158638"/>
          </a:xfrm>
          <a:prstGeom prst="rect">
            <a:avLst/>
          </a:prstGeom>
          <a:blipFill>
            <a:blip r:embed="rId6"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401" y="203088"/>
            <a:ext cx="5571986"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客户支持方</a:t>
            </a:r>
            <a:r>
              <a:rPr spc="-10" dirty="0">
                <a:ea typeface="微软雅黑" panose="020B0503020204020204" charset="-122"/>
              </a:rPr>
              <a:t>法的</a:t>
            </a:r>
            <a:r>
              <a:rPr spc="-5" dirty="0">
                <a:ea typeface="微软雅黑" panose="020B0503020204020204" charset="-122"/>
              </a:rPr>
              <a:t>关</a:t>
            </a:r>
            <a:r>
              <a:rPr spc="-10" dirty="0">
                <a:ea typeface="微软雅黑" panose="020B0503020204020204" charset="-122"/>
              </a:rPr>
              <a:t>键在</a:t>
            </a:r>
            <a:r>
              <a:rPr spc="-5" dirty="0">
                <a:ea typeface="微软雅黑" panose="020B0503020204020204" charset="-122"/>
              </a:rPr>
              <a:t>于</a:t>
            </a:r>
            <a:r>
              <a:rPr spc="-10" dirty="0">
                <a:ea typeface="微软雅黑" panose="020B0503020204020204" charset="-122"/>
              </a:rPr>
              <a:t>不要</a:t>
            </a:r>
            <a:r>
              <a:rPr spc="-5" dirty="0">
                <a:ea typeface="微软雅黑" panose="020B0503020204020204" charset="-122"/>
              </a:rPr>
              <a:t>仅</a:t>
            </a:r>
            <a:r>
              <a:rPr spc="-10" dirty="0">
                <a:ea typeface="微软雅黑" panose="020B0503020204020204" charset="-122"/>
              </a:rPr>
              <a:t>仅停</a:t>
            </a:r>
            <a:r>
              <a:rPr spc="-5" dirty="0">
                <a:ea typeface="微软雅黑" panose="020B0503020204020204" charset="-122"/>
              </a:rPr>
              <a:t>留</a:t>
            </a:r>
            <a:r>
              <a:rPr spc="-10" dirty="0">
                <a:ea typeface="微软雅黑" panose="020B0503020204020204" charset="-122"/>
              </a:rPr>
              <a:t>在成</a:t>
            </a:r>
            <a:r>
              <a:rPr spc="-5" dirty="0">
                <a:ea typeface="微软雅黑" panose="020B0503020204020204" charset="-122"/>
              </a:rPr>
              <a:t>本</a:t>
            </a:r>
            <a:r>
              <a:rPr spc="-10" dirty="0">
                <a:ea typeface="微软雅黑" panose="020B0503020204020204" charset="-122"/>
              </a:rPr>
              <a:t>竞争上</a:t>
            </a:r>
            <a:endParaRPr spc="-10" dirty="0">
              <a:ea typeface="微软雅黑" panose="020B0503020204020204" charset="-122"/>
            </a:endParaRPr>
          </a:p>
        </p:txBody>
      </p:sp>
      <p:sp>
        <p:nvSpPr>
          <p:cNvPr id="4" name="object 4"/>
          <p:cNvSpPr txBox="1"/>
          <p:nvPr/>
        </p:nvSpPr>
        <p:spPr>
          <a:xfrm>
            <a:off x="7295551" y="129988"/>
            <a:ext cx="1396011" cy="534670"/>
          </a:xfrm>
          <a:prstGeom prst="rect">
            <a:avLst/>
          </a:prstGeom>
        </p:spPr>
        <p:txBody>
          <a:bodyPr vert="horz" wrap="square" lIns="0" tIns="12691" rIns="0" bIns="0" rtlCol="0">
            <a:spAutoFit/>
          </a:bodyPr>
          <a:lstStyle/>
          <a:p>
            <a:pPr marL="12700" marR="5080">
              <a:lnSpc>
                <a:spcPct val="142000"/>
              </a:lnSpc>
              <a:spcBef>
                <a:spcPts val="100"/>
              </a:spcBef>
            </a:pPr>
            <a:r>
              <a:rPr sz="1200" dirty="0">
                <a:latin typeface="微软雅黑" panose="020B0503020204020204" charset="-122"/>
                <a:ea typeface="微软雅黑" panose="020B0503020204020204" charset="-122"/>
                <a:cs typeface="微软雅黑" panose="020B0503020204020204" charset="-122"/>
              </a:rPr>
              <a:t>自身增长突出的公司 多数工业企业</a:t>
            </a:r>
            <a:endParaRPr sz="1200" dirty="0">
              <a:latin typeface="微软雅黑" panose="020B0503020204020204" charset="-122"/>
              <a:ea typeface="微软雅黑" panose="020B0503020204020204" charset="-122"/>
              <a:cs typeface="微软雅黑" panose="020B0503020204020204" charset="-122"/>
            </a:endParaRPr>
          </a:p>
        </p:txBody>
      </p:sp>
      <p:sp>
        <p:nvSpPr>
          <p:cNvPr id="5" name="object 5"/>
          <p:cNvSpPr/>
          <p:nvPr/>
        </p:nvSpPr>
        <p:spPr>
          <a:xfrm>
            <a:off x="7057214" y="255122"/>
            <a:ext cx="175136" cy="173867"/>
          </a:xfrm>
          <a:custGeom>
            <a:avLst/>
            <a:gdLst/>
            <a:ahLst/>
            <a:cxnLst/>
            <a:rect l="l" t="t" r="r" b="b"/>
            <a:pathLst>
              <a:path w="175259" h="173990">
                <a:moveTo>
                  <a:pt x="0" y="173736"/>
                </a:moveTo>
                <a:lnTo>
                  <a:pt x="175259" y="173736"/>
                </a:lnTo>
                <a:lnTo>
                  <a:pt x="175259" y="0"/>
                </a:lnTo>
                <a:lnTo>
                  <a:pt x="0" y="0"/>
                </a:lnTo>
                <a:lnTo>
                  <a:pt x="0" y="173736"/>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7038939" y="483560"/>
            <a:ext cx="211686" cy="225392"/>
          </a:xfrm>
          <a:prstGeom prst="rect">
            <a:avLst/>
          </a:prstGeom>
          <a:blipFill>
            <a:blip r:embed="rId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4688311" y="1044756"/>
            <a:ext cx="2523606" cy="2193006"/>
          </a:xfrm>
          <a:custGeom>
            <a:avLst/>
            <a:gdLst/>
            <a:ahLst/>
            <a:cxnLst/>
            <a:rect l="l" t="t" r="r" b="b"/>
            <a:pathLst>
              <a:path w="2525395" h="2194560">
                <a:moveTo>
                  <a:pt x="0" y="2194560"/>
                </a:moveTo>
                <a:lnTo>
                  <a:pt x="2525267" y="2194560"/>
                </a:lnTo>
                <a:lnTo>
                  <a:pt x="2525267" y="0"/>
                </a:lnTo>
                <a:lnTo>
                  <a:pt x="0" y="0"/>
                </a:lnTo>
                <a:lnTo>
                  <a:pt x="0" y="219456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4688311" y="3237762"/>
            <a:ext cx="2523606" cy="2196179"/>
          </a:xfrm>
          <a:custGeom>
            <a:avLst/>
            <a:gdLst/>
            <a:ahLst/>
            <a:cxnLst/>
            <a:rect l="l" t="t" r="r" b="b"/>
            <a:pathLst>
              <a:path w="2525395" h="2197735">
                <a:moveTo>
                  <a:pt x="0" y="2197608"/>
                </a:moveTo>
                <a:lnTo>
                  <a:pt x="2525267" y="2197608"/>
                </a:lnTo>
                <a:lnTo>
                  <a:pt x="2525267" y="0"/>
                </a:lnTo>
                <a:lnTo>
                  <a:pt x="0" y="0"/>
                </a:lnTo>
                <a:lnTo>
                  <a:pt x="0" y="2197608"/>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4688311" y="3237762"/>
            <a:ext cx="2523606" cy="2196179"/>
          </a:xfrm>
          <a:custGeom>
            <a:avLst/>
            <a:gdLst/>
            <a:ahLst/>
            <a:cxnLst/>
            <a:rect l="l" t="t" r="r" b="b"/>
            <a:pathLst>
              <a:path w="2525395" h="2197735">
                <a:moveTo>
                  <a:pt x="0" y="2197608"/>
                </a:moveTo>
                <a:lnTo>
                  <a:pt x="2525267" y="2197608"/>
                </a:lnTo>
                <a:lnTo>
                  <a:pt x="2525267" y="0"/>
                </a:lnTo>
                <a:lnTo>
                  <a:pt x="0" y="0"/>
                </a:lnTo>
                <a:lnTo>
                  <a:pt x="0" y="2197608"/>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2161785" y="1044756"/>
            <a:ext cx="2526779" cy="2193006"/>
          </a:xfrm>
          <a:custGeom>
            <a:avLst/>
            <a:gdLst/>
            <a:ahLst/>
            <a:cxnLst/>
            <a:rect l="l" t="t" r="r" b="b"/>
            <a:pathLst>
              <a:path w="2528570" h="2194560">
                <a:moveTo>
                  <a:pt x="0" y="2194560"/>
                </a:moveTo>
                <a:lnTo>
                  <a:pt x="2528316" y="2194560"/>
                </a:lnTo>
                <a:lnTo>
                  <a:pt x="2528316" y="0"/>
                </a:lnTo>
                <a:lnTo>
                  <a:pt x="0" y="0"/>
                </a:lnTo>
                <a:lnTo>
                  <a:pt x="0" y="21945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2161785" y="1044756"/>
            <a:ext cx="2526779" cy="2193006"/>
          </a:xfrm>
          <a:custGeom>
            <a:avLst/>
            <a:gdLst/>
            <a:ahLst/>
            <a:cxnLst/>
            <a:rect l="l" t="t" r="r" b="b"/>
            <a:pathLst>
              <a:path w="2528570" h="2194560">
                <a:moveTo>
                  <a:pt x="0" y="2194560"/>
                </a:moveTo>
                <a:lnTo>
                  <a:pt x="2528316" y="2194560"/>
                </a:lnTo>
                <a:lnTo>
                  <a:pt x="2528316" y="0"/>
                </a:lnTo>
                <a:lnTo>
                  <a:pt x="0" y="0"/>
                </a:lnTo>
                <a:lnTo>
                  <a:pt x="0" y="2194560"/>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2161785" y="3237762"/>
            <a:ext cx="2526779" cy="2196179"/>
          </a:xfrm>
          <a:custGeom>
            <a:avLst/>
            <a:gdLst/>
            <a:ahLst/>
            <a:cxnLst/>
            <a:rect l="l" t="t" r="r" b="b"/>
            <a:pathLst>
              <a:path w="2528570" h="2197735">
                <a:moveTo>
                  <a:pt x="0" y="2197608"/>
                </a:moveTo>
                <a:lnTo>
                  <a:pt x="2528316" y="2197608"/>
                </a:lnTo>
                <a:lnTo>
                  <a:pt x="2528316" y="0"/>
                </a:lnTo>
                <a:lnTo>
                  <a:pt x="0" y="0"/>
                </a:lnTo>
                <a:lnTo>
                  <a:pt x="0" y="2197608"/>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2161785" y="3237762"/>
            <a:ext cx="2526779" cy="2196179"/>
          </a:xfrm>
          <a:custGeom>
            <a:avLst/>
            <a:gdLst/>
            <a:ahLst/>
            <a:cxnLst/>
            <a:rect l="l" t="t" r="r" b="b"/>
            <a:pathLst>
              <a:path w="2528570" h="2197735">
                <a:moveTo>
                  <a:pt x="0" y="2197608"/>
                </a:moveTo>
                <a:lnTo>
                  <a:pt x="2528316" y="2197608"/>
                </a:lnTo>
                <a:lnTo>
                  <a:pt x="2528316" y="0"/>
                </a:lnTo>
                <a:lnTo>
                  <a:pt x="0" y="0"/>
                </a:lnTo>
                <a:lnTo>
                  <a:pt x="0" y="2197608"/>
                </a:lnTo>
                <a:close/>
              </a:path>
            </a:pathLst>
          </a:custGeom>
          <a:ln w="1905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2161785" y="5747535"/>
            <a:ext cx="5050386" cy="0"/>
          </a:xfrm>
          <a:custGeom>
            <a:avLst/>
            <a:gdLst/>
            <a:ahLst/>
            <a:cxnLst/>
            <a:rect l="l" t="t" r="r" b="b"/>
            <a:pathLst>
              <a:path w="5053965">
                <a:moveTo>
                  <a:pt x="0" y="0"/>
                </a:moveTo>
                <a:lnTo>
                  <a:pt x="5053583" y="0"/>
                </a:lnTo>
              </a:path>
            </a:pathLst>
          </a:custGeom>
          <a:ln w="19050">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1809990" y="1064554"/>
            <a:ext cx="0" cy="4368244"/>
          </a:xfrm>
          <a:custGeom>
            <a:avLst/>
            <a:gdLst/>
            <a:ahLst/>
            <a:cxnLst/>
            <a:rect l="l" t="t" r="r" b="b"/>
            <a:pathLst>
              <a:path h="4371340">
                <a:moveTo>
                  <a:pt x="0" y="0"/>
                </a:moveTo>
                <a:lnTo>
                  <a:pt x="0" y="4370832"/>
                </a:lnTo>
              </a:path>
            </a:pathLst>
          </a:custGeom>
          <a:ln w="19050">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txBox="1"/>
          <p:nvPr/>
        </p:nvSpPr>
        <p:spPr>
          <a:xfrm>
            <a:off x="3053202" y="5463003"/>
            <a:ext cx="741155" cy="227330"/>
          </a:xfrm>
          <a:prstGeom prst="rect">
            <a:avLst/>
          </a:prstGeom>
        </p:spPr>
        <p:txBody>
          <a:bodyPr vert="horz" wrap="square" lIns="0" tIns="12691" rIns="0" bIns="0" rtlCol="0">
            <a:spAutoFit/>
          </a:bodyPr>
          <a:lstStyle/>
          <a:p>
            <a:pPr marL="12700">
              <a:lnSpc>
                <a:spcPct val="100000"/>
              </a:lnSpc>
              <a:spcBef>
                <a:spcPts val="100"/>
              </a:spcBef>
            </a:pPr>
            <a:r>
              <a:rPr sz="1400" b="1" spc="10" dirty="0">
                <a:latin typeface="微软雅黑" panose="020B0503020204020204" charset="-122"/>
                <a:ea typeface="微软雅黑" panose="020B0503020204020204" charset="-122"/>
                <a:cs typeface="微软雅黑" panose="020B0503020204020204" charset="-122"/>
              </a:rPr>
              <a:t>产品</a:t>
            </a:r>
            <a:r>
              <a:rPr sz="1400" b="1" dirty="0">
                <a:latin typeface="微软雅黑" panose="020B0503020204020204" charset="-122"/>
                <a:ea typeface="微软雅黑" panose="020B0503020204020204" charset="-122"/>
                <a:cs typeface="微软雅黑" panose="020B0503020204020204" charset="-122"/>
              </a:rPr>
              <a:t>先行</a:t>
            </a:r>
            <a:endParaRPr sz="1400">
              <a:latin typeface="微软雅黑" panose="020B0503020204020204" charset="-122"/>
              <a:ea typeface="微软雅黑" panose="020B0503020204020204" charset="-122"/>
              <a:cs typeface="微软雅黑" panose="020B0503020204020204" charset="-122"/>
            </a:endParaRPr>
          </a:p>
        </p:txBody>
      </p:sp>
      <p:sp>
        <p:nvSpPr>
          <p:cNvPr id="17" name="object 17"/>
          <p:cNvSpPr txBox="1"/>
          <p:nvPr/>
        </p:nvSpPr>
        <p:spPr>
          <a:xfrm>
            <a:off x="5579219" y="5463003"/>
            <a:ext cx="741155" cy="227330"/>
          </a:xfrm>
          <a:prstGeom prst="rect">
            <a:avLst/>
          </a:prstGeom>
        </p:spPr>
        <p:txBody>
          <a:bodyPr vert="horz" wrap="square" lIns="0" tIns="12691" rIns="0" bIns="0" rtlCol="0">
            <a:spAutoFit/>
          </a:bodyPr>
          <a:lstStyle/>
          <a:p>
            <a:pPr marL="12700">
              <a:lnSpc>
                <a:spcPct val="100000"/>
              </a:lnSpc>
              <a:spcBef>
                <a:spcPts val="100"/>
              </a:spcBef>
            </a:pPr>
            <a:r>
              <a:rPr sz="1400" b="1" spc="10" dirty="0">
                <a:latin typeface="微软雅黑" panose="020B0503020204020204" charset="-122"/>
                <a:ea typeface="微软雅黑" panose="020B0503020204020204" charset="-122"/>
                <a:cs typeface="微软雅黑" panose="020B0503020204020204" charset="-122"/>
              </a:rPr>
              <a:t>客户</a:t>
            </a:r>
            <a:r>
              <a:rPr sz="1400" b="1" dirty="0">
                <a:latin typeface="微软雅黑" panose="020B0503020204020204" charset="-122"/>
                <a:ea typeface="微软雅黑" panose="020B0503020204020204" charset="-122"/>
                <a:cs typeface="微软雅黑" panose="020B0503020204020204" charset="-122"/>
              </a:rPr>
              <a:t>支持</a:t>
            </a:r>
            <a:endParaRPr sz="1400">
              <a:latin typeface="微软雅黑" panose="020B0503020204020204" charset="-122"/>
              <a:ea typeface="微软雅黑" panose="020B0503020204020204" charset="-122"/>
              <a:cs typeface="微软雅黑" panose="020B0503020204020204" charset="-122"/>
            </a:endParaRPr>
          </a:p>
        </p:txBody>
      </p:sp>
      <p:sp>
        <p:nvSpPr>
          <p:cNvPr id="18" name="object 18"/>
          <p:cNvSpPr txBox="1"/>
          <p:nvPr/>
        </p:nvSpPr>
        <p:spPr>
          <a:xfrm>
            <a:off x="4316972" y="5783424"/>
            <a:ext cx="741155" cy="227330"/>
          </a:xfrm>
          <a:prstGeom prst="rect">
            <a:avLst/>
          </a:prstGeom>
        </p:spPr>
        <p:txBody>
          <a:bodyPr vert="horz" wrap="square" lIns="0" tIns="12691" rIns="0" bIns="0" rtlCol="0">
            <a:spAutoFit/>
          </a:bodyPr>
          <a:lstStyle/>
          <a:p>
            <a:pPr marL="12700">
              <a:lnSpc>
                <a:spcPct val="100000"/>
              </a:lnSpc>
              <a:spcBef>
                <a:spcPts val="100"/>
              </a:spcBef>
            </a:pPr>
            <a:r>
              <a:rPr sz="1400" b="1" spc="10" dirty="0">
                <a:latin typeface="微软雅黑" panose="020B0503020204020204" charset="-122"/>
                <a:ea typeface="微软雅黑" panose="020B0503020204020204" charset="-122"/>
                <a:cs typeface="微软雅黑" panose="020B0503020204020204" charset="-122"/>
              </a:rPr>
              <a:t>总体</a:t>
            </a:r>
            <a:r>
              <a:rPr sz="1400" b="1" dirty="0">
                <a:latin typeface="微软雅黑" panose="020B0503020204020204" charset="-122"/>
                <a:ea typeface="微软雅黑" panose="020B0503020204020204" charset="-122"/>
                <a:cs typeface="微软雅黑" panose="020B0503020204020204" charset="-122"/>
              </a:rPr>
              <a:t>方法</a:t>
            </a:r>
            <a:endParaRPr sz="1400">
              <a:latin typeface="微软雅黑" panose="020B0503020204020204" charset="-122"/>
              <a:ea typeface="微软雅黑" panose="020B0503020204020204" charset="-122"/>
              <a:cs typeface="微软雅黑" panose="020B0503020204020204" charset="-122"/>
            </a:endParaRPr>
          </a:p>
        </p:txBody>
      </p:sp>
      <p:sp>
        <p:nvSpPr>
          <p:cNvPr id="19" name="object 19"/>
          <p:cNvSpPr txBox="1"/>
          <p:nvPr/>
        </p:nvSpPr>
        <p:spPr>
          <a:xfrm>
            <a:off x="1908599" y="3883683"/>
            <a:ext cx="204325" cy="874395"/>
          </a:xfrm>
          <a:prstGeom prst="rect">
            <a:avLst/>
          </a:prstGeom>
        </p:spPr>
        <p:txBody>
          <a:bodyPr vert="horz" wrap="square" lIns="0" tIns="13325" rIns="0" bIns="0" rtlCol="0">
            <a:spAutoFit/>
          </a:bodyPr>
          <a:lstStyle/>
          <a:p>
            <a:pPr marL="12700" marR="5080" algn="just">
              <a:lnSpc>
                <a:spcPct val="100000"/>
              </a:lnSpc>
              <a:spcBef>
                <a:spcPts val="105"/>
              </a:spcBef>
            </a:pPr>
            <a:r>
              <a:rPr sz="1400" b="1" dirty="0">
                <a:latin typeface="微软雅黑" panose="020B0503020204020204" charset="-122"/>
                <a:ea typeface="微软雅黑" panose="020B0503020204020204" charset="-122"/>
                <a:cs typeface="微软雅黑" panose="020B0503020204020204" charset="-122"/>
              </a:rPr>
              <a:t>削 减 成 本</a:t>
            </a:r>
            <a:endParaRPr sz="1400" b="1" dirty="0">
              <a:latin typeface="微软雅黑" panose="020B0503020204020204" charset="-122"/>
              <a:ea typeface="微软雅黑" panose="020B0503020204020204" charset="-122"/>
              <a:cs typeface="微软雅黑" panose="020B0503020204020204" charset="-122"/>
            </a:endParaRPr>
          </a:p>
        </p:txBody>
      </p:sp>
      <p:sp>
        <p:nvSpPr>
          <p:cNvPr id="20" name="object 20"/>
          <p:cNvSpPr txBox="1"/>
          <p:nvPr/>
        </p:nvSpPr>
        <p:spPr>
          <a:xfrm>
            <a:off x="1875476" y="1477265"/>
            <a:ext cx="203691" cy="1304925"/>
          </a:xfrm>
          <a:prstGeom prst="rect">
            <a:avLst/>
          </a:prstGeom>
        </p:spPr>
        <p:txBody>
          <a:bodyPr vert="horz" wrap="square" lIns="0" tIns="13325" rIns="0" bIns="0" rtlCol="0">
            <a:spAutoFit/>
          </a:bodyPr>
          <a:lstStyle/>
          <a:p>
            <a:pPr marL="12700" marR="5080" algn="just">
              <a:lnSpc>
                <a:spcPct val="100000"/>
              </a:lnSpc>
              <a:spcBef>
                <a:spcPts val="105"/>
              </a:spcBef>
            </a:pPr>
            <a:r>
              <a:rPr sz="1400" b="1" dirty="0">
                <a:latin typeface="微软雅黑" panose="020B0503020204020204" charset="-122"/>
                <a:ea typeface="微软雅黑" panose="020B0503020204020204" charset="-122"/>
                <a:cs typeface="微软雅黑" panose="020B0503020204020204" charset="-122"/>
              </a:rPr>
              <a:t>推 动 总 体 价 值</a:t>
            </a:r>
            <a:endParaRPr sz="1400" b="1" dirty="0">
              <a:latin typeface="微软雅黑" panose="020B0503020204020204" charset="-122"/>
              <a:ea typeface="微软雅黑" panose="020B0503020204020204" charset="-122"/>
              <a:cs typeface="微软雅黑" panose="020B0503020204020204" charset="-122"/>
            </a:endParaRPr>
          </a:p>
        </p:txBody>
      </p:sp>
      <p:sp>
        <p:nvSpPr>
          <p:cNvPr id="21" name="object 21"/>
          <p:cNvSpPr txBox="1"/>
          <p:nvPr/>
        </p:nvSpPr>
        <p:spPr>
          <a:xfrm>
            <a:off x="1473932" y="2797257"/>
            <a:ext cx="203691" cy="874395"/>
          </a:xfrm>
          <a:prstGeom prst="rect">
            <a:avLst/>
          </a:prstGeom>
        </p:spPr>
        <p:txBody>
          <a:bodyPr vert="horz" wrap="square" lIns="0" tIns="13325" rIns="0" bIns="0" rtlCol="0">
            <a:spAutoFit/>
          </a:bodyPr>
          <a:lstStyle/>
          <a:p>
            <a:pPr marL="12700" marR="5080" algn="just">
              <a:lnSpc>
                <a:spcPct val="100000"/>
              </a:lnSpc>
              <a:spcBef>
                <a:spcPts val="105"/>
              </a:spcBef>
            </a:pPr>
            <a:r>
              <a:rPr sz="1400" b="1" dirty="0">
                <a:latin typeface="微软雅黑" panose="020B0503020204020204" charset="-122"/>
                <a:ea typeface="微软雅黑" panose="020B0503020204020204" charset="-122"/>
                <a:cs typeface="微软雅黑" panose="020B0503020204020204" charset="-122"/>
              </a:rPr>
              <a:t>提 供 重 点</a:t>
            </a:r>
            <a:endParaRPr sz="1400" b="1" dirty="0">
              <a:latin typeface="微软雅黑" panose="020B0503020204020204" charset="-122"/>
              <a:ea typeface="微软雅黑" panose="020B0503020204020204" charset="-122"/>
              <a:cs typeface="微软雅黑" panose="020B0503020204020204" charset="-122"/>
            </a:endParaRPr>
          </a:p>
        </p:txBody>
      </p:sp>
      <p:sp>
        <p:nvSpPr>
          <p:cNvPr id="22" name="object 22"/>
          <p:cNvSpPr txBox="1"/>
          <p:nvPr/>
        </p:nvSpPr>
        <p:spPr>
          <a:xfrm>
            <a:off x="2256206" y="1094632"/>
            <a:ext cx="2355451" cy="874395"/>
          </a:xfrm>
          <a:prstGeom prst="rect">
            <a:avLst/>
          </a:prstGeom>
        </p:spPr>
        <p:txBody>
          <a:bodyPr vert="horz" wrap="square" lIns="0" tIns="13325" rIns="0" bIns="0" rtlCol="0">
            <a:spAutoFit/>
          </a:bodyPr>
          <a:lstStyle/>
          <a:p>
            <a:pPr marL="12700">
              <a:lnSpc>
                <a:spcPct val="100000"/>
              </a:lnSpc>
              <a:spcBef>
                <a:spcPts val="105"/>
              </a:spcBef>
            </a:pPr>
            <a:r>
              <a:rPr sz="1400" b="1" spc="10" dirty="0">
                <a:latin typeface="微软雅黑" panose="020B0503020204020204" charset="-122"/>
                <a:ea typeface="微软雅黑" panose="020B0503020204020204" charset="-122"/>
                <a:cs typeface="微软雅黑" panose="020B0503020204020204" charset="-122"/>
              </a:rPr>
              <a:t>“响</a:t>
            </a:r>
            <a:r>
              <a:rPr sz="1400" b="1" dirty="0">
                <a:latin typeface="微软雅黑" panose="020B0503020204020204" charset="-122"/>
                <a:ea typeface="微软雅黑" panose="020B0503020204020204" charset="-122"/>
                <a:cs typeface="微软雅黑" panose="020B0503020204020204" charset="-122"/>
              </a:rPr>
              <a:t>应型</a:t>
            </a:r>
            <a:r>
              <a:rPr sz="1400" b="1" spc="-15" dirty="0">
                <a:latin typeface="微软雅黑" panose="020B0503020204020204" charset="-122"/>
                <a:ea typeface="微软雅黑" panose="020B0503020204020204" charset="-122"/>
                <a:cs typeface="微软雅黑" panose="020B0503020204020204" charset="-122"/>
              </a:rPr>
              <a:t>供</a:t>
            </a:r>
            <a:r>
              <a:rPr sz="1400" b="1" dirty="0">
                <a:latin typeface="微软雅黑" panose="020B0503020204020204" charset="-122"/>
                <a:ea typeface="微软雅黑" panose="020B0503020204020204" charset="-122"/>
                <a:cs typeface="微软雅黑" panose="020B0503020204020204" charset="-122"/>
              </a:rPr>
              <a:t>应商”</a:t>
            </a:r>
            <a:endParaRPr sz="1400">
              <a:latin typeface="微软雅黑" panose="020B0503020204020204" charset="-122"/>
              <a:ea typeface="微软雅黑" panose="020B0503020204020204" charset="-122"/>
              <a:cs typeface="微软雅黑" panose="020B0503020204020204" charset="-122"/>
            </a:endParaRPr>
          </a:p>
          <a:p>
            <a:pPr marL="205740" indent="-192405">
              <a:lnSpc>
                <a:spcPct val="100000"/>
              </a:lnSpc>
              <a:buClr>
                <a:srgbClr val="00295F"/>
              </a:buClr>
              <a:buSzPct val="125000"/>
              <a:buFont typeface="Arial" panose="020B0604020202020204"/>
              <a:buChar char="▪"/>
              <a:tabLst>
                <a:tab pos="206375" algn="l"/>
              </a:tabLst>
            </a:pPr>
            <a:r>
              <a:rPr sz="1400" dirty="0">
                <a:latin typeface="微软雅黑" panose="020B0503020204020204" charset="-122"/>
                <a:ea typeface="微软雅黑" panose="020B0503020204020204" charset="-122"/>
                <a:cs typeface="微软雅黑" panose="020B0503020204020204" charset="-122"/>
              </a:rPr>
              <a:t>对“排在第二位”的客</a:t>
            </a:r>
            <a:r>
              <a:rPr sz="1400" spc="-15" dirty="0">
                <a:latin typeface="微软雅黑" panose="020B0503020204020204" charset="-122"/>
                <a:ea typeface="微软雅黑" panose="020B0503020204020204" charset="-122"/>
                <a:cs typeface="微软雅黑" panose="020B0503020204020204" charset="-122"/>
              </a:rPr>
              <a:t>户</a:t>
            </a:r>
            <a:r>
              <a:rPr sz="1400" dirty="0">
                <a:latin typeface="微软雅黑" panose="020B0503020204020204" charset="-122"/>
                <a:ea typeface="微软雅黑" panose="020B0503020204020204" charset="-122"/>
                <a:cs typeface="微软雅黑" panose="020B0503020204020204" charset="-122"/>
              </a:rPr>
              <a:t>的</a:t>
            </a:r>
            <a:endParaRPr sz="1400">
              <a:latin typeface="微软雅黑" panose="020B0503020204020204" charset="-122"/>
              <a:ea typeface="微软雅黑" panose="020B0503020204020204" charset="-122"/>
              <a:cs typeface="微软雅黑" panose="020B0503020204020204" charset="-122"/>
            </a:endParaRPr>
          </a:p>
          <a:p>
            <a:pPr marL="205740">
              <a:lnSpc>
                <a:spcPct val="100000"/>
              </a:lnSpc>
            </a:pPr>
            <a:r>
              <a:rPr sz="1400" dirty="0">
                <a:latin typeface="微软雅黑" panose="020B0503020204020204" charset="-122"/>
                <a:ea typeface="微软雅黑" panose="020B0503020204020204" charset="-122"/>
                <a:cs typeface="微软雅黑" panose="020B0503020204020204" charset="-122"/>
              </a:rPr>
              <a:t>需求积极响应并全部满足</a:t>
            </a:r>
            <a:endParaRPr sz="1400">
              <a:latin typeface="微软雅黑" panose="020B0503020204020204" charset="-122"/>
              <a:ea typeface="微软雅黑" panose="020B0503020204020204" charset="-122"/>
              <a:cs typeface="微软雅黑" panose="020B0503020204020204" charset="-122"/>
            </a:endParaRPr>
          </a:p>
          <a:p>
            <a:pPr marL="205740" indent="-192405">
              <a:lnSpc>
                <a:spcPct val="100000"/>
              </a:lnSpc>
              <a:buClr>
                <a:srgbClr val="00295F"/>
              </a:buClr>
              <a:buSzPct val="125000"/>
              <a:buFont typeface="Arial" panose="020B0604020202020204"/>
              <a:buChar char="▪"/>
              <a:tabLst>
                <a:tab pos="206375" algn="l"/>
              </a:tabLst>
            </a:pPr>
            <a:r>
              <a:rPr sz="1400" dirty="0">
                <a:latin typeface="微软雅黑" panose="020B0503020204020204" charset="-122"/>
                <a:ea typeface="微软雅黑" panose="020B0503020204020204" charset="-122"/>
                <a:cs typeface="微软雅黑" panose="020B0503020204020204" charset="-122"/>
              </a:rPr>
              <a:t>研发推动材料需求</a:t>
            </a:r>
            <a:endParaRPr sz="1400">
              <a:latin typeface="微软雅黑" panose="020B0503020204020204" charset="-122"/>
              <a:ea typeface="微软雅黑" panose="020B0503020204020204" charset="-122"/>
              <a:cs typeface="微软雅黑" panose="020B0503020204020204" charset="-122"/>
            </a:endParaRPr>
          </a:p>
        </p:txBody>
      </p:sp>
      <p:sp>
        <p:nvSpPr>
          <p:cNvPr id="23" name="object 23"/>
          <p:cNvSpPr txBox="1"/>
          <p:nvPr/>
        </p:nvSpPr>
        <p:spPr>
          <a:xfrm>
            <a:off x="4764711" y="1094632"/>
            <a:ext cx="2356085" cy="874395"/>
          </a:xfrm>
          <a:prstGeom prst="rect">
            <a:avLst/>
          </a:prstGeom>
        </p:spPr>
        <p:txBody>
          <a:bodyPr vert="horz" wrap="square" lIns="0" tIns="13325" rIns="0" bIns="0" rtlCol="0">
            <a:spAutoFit/>
          </a:bodyPr>
          <a:lstStyle/>
          <a:p>
            <a:pPr marL="12700">
              <a:lnSpc>
                <a:spcPct val="100000"/>
              </a:lnSpc>
              <a:spcBef>
                <a:spcPts val="105"/>
              </a:spcBef>
            </a:pPr>
            <a:r>
              <a:rPr sz="1400" b="1" spc="10" dirty="0">
                <a:latin typeface="微软雅黑" panose="020B0503020204020204" charset="-122"/>
                <a:ea typeface="微软雅黑" panose="020B0503020204020204" charset="-122"/>
                <a:cs typeface="微软雅黑" panose="020B0503020204020204" charset="-122"/>
              </a:rPr>
              <a:t>“创</a:t>
            </a:r>
            <a:r>
              <a:rPr sz="1400" b="1" dirty="0">
                <a:latin typeface="微软雅黑" panose="020B0503020204020204" charset="-122"/>
                <a:ea typeface="微软雅黑" panose="020B0503020204020204" charset="-122"/>
                <a:cs typeface="微软雅黑" panose="020B0503020204020204" charset="-122"/>
              </a:rPr>
              <a:t>新伙</a:t>
            </a:r>
            <a:r>
              <a:rPr sz="1400" b="1" spc="-10" dirty="0">
                <a:latin typeface="微软雅黑" panose="020B0503020204020204" charset="-122"/>
                <a:ea typeface="微软雅黑" panose="020B0503020204020204" charset="-122"/>
                <a:cs typeface="微软雅黑" panose="020B0503020204020204" charset="-122"/>
              </a:rPr>
              <a:t>伴</a:t>
            </a:r>
            <a:r>
              <a:rPr sz="1400" b="1" dirty="0">
                <a:latin typeface="微软雅黑" panose="020B0503020204020204" charset="-122"/>
                <a:ea typeface="微软雅黑" panose="020B0503020204020204" charset="-122"/>
                <a:cs typeface="微软雅黑" panose="020B0503020204020204" charset="-122"/>
              </a:rPr>
              <a:t>”</a:t>
            </a:r>
            <a:endParaRPr sz="1400">
              <a:latin typeface="微软雅黑" panose="020B0503020204020204" charset="-122"/>
              <a:ea typeface="微软雅黑" panose="020B0503020204020204" charset="-122"/>
              <a:cs typeface="微软雅黑" panose="020B0503020204020204" charset="-122"/>
            </a:endParaRPr>
          </a:p>
          <a:p>
            <a:pPr marL="205740" marR="5080" indent="-192405" algn="just">
              <a:lnSpc>
                <a:spcPct val="100000"/>
              </a:lnSpc>
              <a:buClr>
                <a:srgbClr val="00295F"/>
              </a:buClr>
              <a:buSzPct val="125000"/>
              <a:buFont typeface="Arial" panose="020B0604020202020204"/>
              <a:buChar char="▪"/>
              <a:tabLst>
                <a:tab pos="206375" algn="l"/>
              </a:tabLst>
            </a:pPr>
            <a:r>
              <a:rPr sz="1400" dirty="0">
                <a:latin typeface="微软雅黑" panose="020B0503020204020204" charset="-122"/>
                <a:ea typeface="微软雅黑" panose="020B0503020204020204" charset="-122"/>
                <a:cs typeface="微软雅黑" panose="020B0503020204020204" charset="-122"/>
              </a:rPr>
              <a:t>通过推出针对特定客户</a:t>
            </a:r>
            <a:r>
              <a:rPr sz="1400" spc="-15" dirty="0">
                <a:latin typeface="微软雅黑" panose="020B0503020204020204" charset="-122"/>
                <a:ea typeface="微软雅黑" panose="020B0503020204020204" charset="-122"/>
                <a:cs typeface="微软雅黑" panose="020B0503020204020204" charset="-122"/>
              </a:rPr>
              <a:t>、</a:t>
            </a:r>
            <a:r>
              <a:rPr sz="1400" dirty="0">
                <a:latin typeface="微软雅黑" panose="020B0503020204020204" charset="-122"/>
                <a:ea typeface="微软雅黑" panose="020B0503020204020204" charset="-122"/>
                <a:cs typeface="微软雅黑" panose="020B0503020204020204" charset="-122"/>
              </a:rPr>
              <a:t>客 户特定需求的创新产品</a:t>
            </a:r>
            <a:r>
              <a:rPr sz="1400" spc="-15" dirty="0">
                <a:latin typeface="微软雅黑" panose="020B0503020204020204" charset="-122"/>
                <a:ea typeface="微软雅黑" panose="020B0503020204020204" charset="-122"/>
                <a:cs typeface="微软雅黑" panose="020B0503020204020204" charset="-122"/>
              </a:rPr>
              <a:t>和</a:t>
            </a:r>
            <a:r>
              <a:rPr sz="1400" dirty="0">
                <a:latin typeface="微软雅黑" panose="020B0503020204020204" charset="-122"/>
                <a:ea typeface="微软雅黑" panose="020B0503020204020204" charset="-122"/>
                <a:cs typeface="微软雅黑" panose="020B0503020204020204" charset="-122"/>
              </a:rPr>
              <a:t>服 务，促成高盈利销售</a:t>
            </a:r>
            <a:endParaRPr sz="1400">
              <a:latin typeface="微软雅黑" panose="020B0503020204020204" charset="-122"/>
              <a:ea typeface="微软雅黑" panose="020B0503020204020204" charset="-122"/>
              <a:cs typeface="微软雅黑" panose="020B0503020204020204" charset="-122"/>
            </a:endParaRPr>
          </a:p>
        </p:txBody>
      </p:sp>
      <p:sp>
        <p:nvSpPr>
          <p:cNvPr id="24" name="object 24"/>
          <p:cNvSpPr/>
          <p:nvPr/>
        </p:nvSpPr>
        <p:spPr>
          <a:xfrm>
            <a:off x="4171914" y="2793323"/>
            <a:ext cx="1467715" cy="925174"/>
          </a:xfrm>
          <a:custGeom>
            <a:avLst/>
            <a:gdLst/>
            <a:ahLst/>
            <a:cxnLst/>
            <a:rect l="l" t="t" r="r" b="b"/>
            <a:pathLst>
              <a:path w="1468754" h="925829">
                <a:moveTo>
                  <a:pt x="1383664" y="0"/>
                </a:moveTo>
                <a:lnTo>
                  <a:pt x="671956" y="267208"/>
                </a:lnTo>
                <a:lnTo>
                  <a:pt x="918209" y="286766"/>
                </a:lnTo>
                <a:lnTo>
                  <a:pt x="884321" y="317773"/>
                </a:lnTo>
                <a:lnTo>
                  <a:pt x="848206" y="348323"/>
                </a:lnTo>
                <a:lnTo>
                  <a:pt x="809988" y="378340"/>
                </a:lnTo>
                <a:lnTo>
                  <a:pt x="769789" y="407749"/>
                </a:lnTo>
                <a:lnTo>
                  <a:pt x="727733" y="436474"/>
                </a:lnTo>
                <a:lnTo>
                  <a:pt x="683942" y="464438"/>
                </a:lnTo>
                <a:lnTo>
                  <a:pt x="638540" y="491567"/>
                </a:lnTo>
                <a:lnTo>
                  <a:pt x="591650" y="517783"/>
                </a:lnTo>
                <a:lnTo>
                  <a:pt x="543395" y="543012"/>
                </a:lnTo>
                <a:lnTo>
                  <a:pt x="493897" y="567177"/>
                </a:lnTo>
                <a:lnTo>
                  <a:pt x="443280" y="590202"/>
                </a:lnTo>
                <a:lnTo>
                  <a:pt x="391667" y="612013"/>
                </a:lnTo>
                <a:lnTo>
                  <a:pt x="346359" y="629797"/>
                </a:lnTo>
                <a:lnTo>
                  <a:pt x="300844" y="646445"/>
                </a:lnTo>
                <a:lnTo>
                  <a:pt x="255211" y="661921"/>
                </a:lnTo>
                <a:lnTo>
                  <a:pt x="209549" y="676194"/>
                </a:lnTo>
                <a:lnTo>
                  <a:pt x="163947" y="689229"/>
                </a:lnTo>
                <a:lnTo>
                  <a:pt x="118494" y="700993"/>
                </a:lnTo>
                <a:lnTo>
                  <a:pt x="73278" y="711454"/>
                </a:lnTo>
                <a:lnTo>
                  <a:pt x="0" y="925449"/>
                </a:lnTo>
                <a:lnTo>
                  <a:pt x="45689" y="915004"/>
                </a:lnTo>
                <a:lnTo>
                  <a:pt x="91588" y="903643"/>
                </a:lnTo>
                <a:lnTo>
                  <a:pt x="137649" y="891380"/>
                </a:lnTo>
                <a:lnTo>
                  <a:pt x="183822" y="878229"/>
                </a:lnTo>
                <a:lnTo>
                  <a:pt x="230060" y="864203"/>
                </a:lnTo>
                <a:lnTo>
                  <a:pt x="276313" y="849316"/>
                </a:lnTo>
                <a:lnTo>
                  <a:pt x="322532" y="833581"/>
                </a:lnTo>
                <a:lnTo>
                  <a:pt x="368669" y="817013"/>
                </a:lnTo>
                <a:lnTo>
                  <a:pt x="414675" y="799625"/>
                </a:lnTo>
                <a:lnTo>
                  <a:pt x="460501" y="781431"/>
                </a:lnTo>
                <a:lnTo>
                  <a:pt x="510459" y="760595"/>
                </a:lnTo>
                <a:lnTo>
                  <a:pt x="559798" y="738962"/>
                </a:lnTo>
                <a:lnTo>
                  <a:pt x="608465" y="716563"/>
                </a:lnTo>
                <a:lnTo>
                  <a:pt x="656408" y="693431"/>
                </a:lnTo>
                <a:lnTo>
                  <a:pt x="703576" y="669599"/>
                </a:lnTo>
                <a:lnTo>
                  <a:pt x="749916" y="645098"/>
                </a:lnTo>
                <a:lnTo>
                  <a:pt x="795375" y="619962"/>
                </a:lnTo>
                <a:lnTo>
                  <a:pt x="839902" y="594222"/>
                </a:lnTo>
                <a:lnTo>
                  <a:pt x="883443" y="567912"/>
                </a:lnTo>
                <a:lnTo>
                  <a:pt x="925948" y="541063"/>
                </a:lnTo>
                <a:lnTo>
                  <a:pt x="967363" y="513707"/>
                </a:lnTo>
                <a:lnTo>
                  <a:pt x="1007636" y="485878"/>
                </a:lnTo>
                <a:lnTo>
                  <a:pt x="1046716" y="457607"/>
                </a:lnTo>
                <a:lnTo>
                  <a:pt x="1084549" y="428928"/>
                </a:lnTo>
                <a:lnTo>
                  <a:pt x="1121084" y="399872"/>
                </a:lnTo>
                <a:lnTo>
                  <a:pt x="1156268" y="370472"/>
                </a:lnTo>
                <a:lnTo>
                  <a:pt x="1190049" y="340760"/>
                </a:lnTo>
                <a:lnTo>
                  <a:pt x="1222375" y="310769"/>
                </a:lnTo>
                <a:lnTo>
                  <a:pt x="1463597" y="310769"/>
                </a:lnTo>
                <a:lnTo>
                  <a:pt x="1383664" y="0"/>
                </a:lnTo>
                <a:close/>
              </a:path>
              <a:path w="1468754" h="925829">
                <a:moveTo>
                  <a:pt x="1463597" y="310769"/>
                </a:moveTo>
                <a:lnTo>
                  <a:pt x="1222375" y="310769"/>
                </a:lnTo>
                <a:lnTo>
                  <a:pt x="1468627" y="330327"/>
                </a:lnTo>
                <a:lnTo>
                  <a:pt x="1463597" y="310769"/>
                </a:lnTo>
                <a:close/>
              </a:path>
            </a:pathLst>
          </a:custGeom>
          <a:solidFill>
            <a:srgbClr val="00295F">
              <a:alpha val="50195"/>
            </a:srgbClr>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5" name="object 25"/>
          <p:cNvSpPr txBox="1"/>
          <p:nvPr/>
        </p:nvSpPr>
        <p:spPr>
          <a:xfrm>
            <a:off x="4764711" y="3276342"/>
            <a:ext cx="2356085" cy="874395"/>
          </a:xfrm>
          <a:prstGeom prst="rect">
            <a:avLst/>
          </a:prstGeom>
        </p:spPr>
        <p:txBody>
          <a:bodyPr vert="horz" wrap="square" lIns="0" tIns="13325" rIns="0" bIns="0" rtlCol="0">
            <a:spAutoFit/>
          </a:bodyPr>
          <a:lstStyle/>
          <a:p>
            <a:pPr marL="12700">
              <a:lnSpc>
                <a:spcPct val="100000"/>
              </a:lnSpc>
              <a:spcBef>
                <a:spcPts val="105"/>
              </a:spcBef>
            </a:pPr>
            <a:r>
              <a:rPr sz="1400" b="1" spc="10" dirty="0">
                <a:latin typeface="微软雅黑" panose="020B0503020204020204" charset="-122"/>
                <a:ea typeface="微软雅黑" panose="020B0503020204020204" charset="-122"/>
                <a:cs typeface="微软雅黑" panose="020B0503020204020204" charset="-122"/>
              </a:rPr>
              <a:t>“提</a:t>
            </a:r>
            <a:r>
              <a:rPr sz="1400" b="1" dirty="0">
                <a:latin typeface="微软雅黑" panose="020B0503020204020204" charset="-122"/>
                <a:ea typeface="微软雅黑" panose="020B0503020204020204" charset="-122"/>
                <a:cs typeface="微软雅黑" panose="020B0503020204020204" charset="-122"/>
              </a:rPr>
              <a:t>高生</a:t>
            </a:r>
            <a:r>
              <a:rPr sz="1400" b="1" spc="-15" dirty="0">
                <a:latin typeface="微软雅黑" panose="020B0503020204020204" charset="-122"/>
                <a:ea typeface="微软雅黑" panose="020B0503020204020204" charset="-122"/>
                <a:cs typeface="微软雅黑" panose="020B0503020204020204" charset="-122"/>
              </a:rPr>
              <a:t>产</a:t>
            </a:r>
            <a:r>
              <a:rPr sz="1400" b="1" dirty="0">
                <a:latin typeface="微软雅黑" panose="020B0503020204020204" charset="-122"/>
                <a:ea typeface="微软雅黑" panose="020B0503020204020204" charset="-122"/>
                <a:cs typeface="微软雅黑" panose="020B0503020204020204" charset="-122"/>
              </a:rPr>
              <a:t>率的</a:t>
            </a:r>
            <a:r>
              <a:rPr sz="1400" b="1" spc="-15" dirty="0">
                <a:latin typeface="微软雅黑" panose="020B0503020204020204" charset="-122"/>
                <a:ea typeface="微软雅黑" panose="020B0503020204020204" charset="-122"/>
                <a:cs typeface="微软雅黑" panose="020B0503020204020204" charset="-122"/>
              </a:rPr>
              <a:t>伙</a:t>
            </a:r>
            <a:r>
              <a:rPr sz="1400" b="1" dirty="0">
                <a:latin typeface="微软雅黑" panose="020B0503020204020204" charset="-122"/>
                <a:ea typeface="微软雅黑" panose="020B0503020204020204" charset="-122"/>
                <a:cs typeface="微软雅黑" panose="020B0503020204020204" charset="-122"/>
              </a:rPr>
              <a:t>伴”</a:t>
            </a:r>
            <a:endParaRPr sz="1400">
              <a:latin typeface="微软雅黑" panose="020B0503020204020204" charset="-122"/>
              <a:ea typeface="微软雅黑" panose="020B0503020204020204" charset="-122"/>
              <a:cs typeface="微软雅黑" panose="020B0503020204020204" charset="-122"/>
            </a:endParaRPr>
          </a:p>
          <a:p>
            <a:pPr marL="205740" marR="5080" indent="-192405" algn="just">
              <a:lnSpc>
                <a:spcPct val="100000"/>
              </a:lnSpc>
              <a:buClr>
                <a:srgbClr val="00295F"/>
              </a:buClr>
              <a:buSzPct val="125000"/>
              <a:buFont typeface="Arial" panose="020B0604020202020204"/>
              <a:buChar char="▪"/>
              <a:tabLst>
                <a:tab pos="206375" algn="l"/>
              </a:tabLst>
            </a:pPr>
            <a:r>
              <a:rPr sz="1400" dirty="0">
                <a:latin typeface="微软雅黑" panose="020B0503020204020204" charset="-122"/>
                <a:ea typeface="微软雅黑" panose="020B0503020204020204" charset="-122"/>
                <a:cs typeface="微软雅黑" panose="020B0503020204020204" charset="-122"/>
              </a:rPr>
              <a:t>系统减少整个价值链上</a:t>
            </a:r>
            <a:r>
              <a:rPr sz="1400" spc="-15" dirty="0">
                <a:latin typeface="微软雅黑" panose="020B0503020204020204" charset="-122"/>
                <a:ea typeface="微软雅黑" panose="020B0503020204020204" charset="-122"/>
                <a:cs typeface="微软雅黑" panose="020B0503020204020204" charset="-122"/>
              </a:rPr>
              <a:t>的</a:t>
            </a:r>
            <a:r>
              <a:rPr sz="1400" dirty="0">
                <a:latin typeface="微软雅黑" panose="020B0503020204020204" charset="-122"/>
                <a:ea typeface="微软雅黑" panose="020B0503020204020204" charset="-122"/>
                <a:cs typeface="微软雅黑" panose="020B0503020204020204" charset="-122"/>
              </a:rPr>
              <a:t>成 本，如帮助客户削减总</a:t>
            </a:r>
            <a:r>
              <a:rPr sz="1400" spc="-15" dirty="0">
                <a:latin typeface="微软雅黑" panose="020B0503020204020204" charset="-122"/>
                <a:ea typeface="微软雅黑" panose="020B0503020204020204" charset="-122"/>
                <a:cs typeface="微软雅黑" panose="020B0503020204020204" charset="-122"/>
              </a:rPr>
              <a:t>持</a:t>
            </a:r>
            <a:r>
              <a:rPr sz="1400" dirty="0">
                <a:latin typeface="微软雅黑" panose="020B0503020204020204" charset="-122"/>
                <a:ea typeface="微软雅黑" panose="020B0503020204020204" charset="-122"/>
                <a:cs typeface="微软雅黑" panose="020B0503020204020204" charset="-122"/>
              </a:rPr>
              <a:t>有 成本</a:t>
            </a:r>
            <a:endParaRPr sz="1400">
              <a:latin typeface="微软雅黑" panose="020B0503020204020204" charset="-122"/>
              <a:ea typeface="微软雅黑" panose="020B0503020204020204" charset="-122"/>
              <a:cs typeface="微软雅黑" panose="020B0503020204020204" charset="-122"/>
            </a:endParaRPr>
          </a:p>
        </p:txBody>
      </p:sp>
      <p:sp>
        <p:nvSpPr>
          <p:cNvPr id="26" name="object 26"/>
          <p:cNvSpPr/>
          <p:nvPr/>
        </p:nvSpPr>
        <p:spPr>
          <a:xfrm>
            <a:off x="5031730" y="4589353"/>
            <a:ext cx="670085" cy="726433"/>
          </a:xfrm>
          <a:prstGeom prst="rect">
            <a:avLst/>
          </a:prstGeom>
          <a:blipFill>
            <a:blip r:embed="rId2"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27" name="object 27"/>
          <p:cNvSpPr/>
          <p:nvPr/>
        </p:nvSpPr>
        <p:spPr>
          <a:xfrm>
            <a:off x="5989646" y="4647225"/>
            <a:ext cx="758414" cy="550027"/>
          </a:xfrm>
          <a:prstGeom prst="rect">
            <a:avLst/>
          </a:prstGeom>
          <a:blipFill>
            <a:blip r:embed="rId3"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p:nvPr/>
        </p:nvSpPr>
        <p:spPr>
          <a:xfrm>
            <a:off x="5355249" y="2496387"/>
            <a:ext cx="204959" cy="258262"/>
          </a:xfrm>
          <a:custGeom>
            <a:avLst/>
            <a:gdLst/>
            <a:ahLst/>
            <a:cxnLst/>
            <a:rect l="l" t="t" r="r" b="b"/>
            <a:pathLst>
              <a:path w="205104" h="258444">
                <a:moveTo>
                  <a:pt x="16084" y="211796"/>
                </a:moveTo>
                <a:lnTo>
                  <a:pt x="8391" y="211796"/>
                </a:lnTo>
                <a:lnTo>
                  <a:pt x="4194" y="215706"/>
                </a:lnTo>
                <a:lnTo>
                  <a:pt x="2797" y="221572"/>
                </a:lnTo>
                <a:lnTo>
                  <a:pt x="0" y="235908"/>
                </a:lnTo>
                <a:lnTo>
                  <a:pt x="0" y="243729"/>
                </a:lnTo>
                <a:lnTo>
                  <a:pt x="3495" y="247637"/>
                </a:lnTo>
                <a:lnTo>
                  <a:pt x="9791" y="248941"/>
                </a:lnTo>
                <a:lnTo>
                  <a:pt x="23582" y="252566"/>
                </a:lnTo>
                <a:lnTo>
                  <a:pt x="38816" y="255458"/>
                </a:lnTo>
                <a:lnTo>
                  <a:pt x="54050" y="257372"/>
                </a:lnTo>
                <a:lnTo>
                  <a:pt x="67841" y="258064"/>
                </a:lnTo>
                <a:lnTo>
                  <a:pt x="79731" y="258064"/>
                </a:lnTo>
                <a:lnTo>
                  <a:pt x="123784" y="252698"/>
                </a:lnTo>
                <a:lnTo>
                  <a:pt x="157278" y="237130"/>
                </a:lnTo>
                <a:lnTo>
                  <a:pt x="169434" y="222874"/>
                </a:lnTo>
                <a:lnTo>
                  <a:pt x="74835" y="222874"/>
                </a:lnTo>
                <a:lnTo>
                  <a:pt x="60760" y="222070"/>
                </a:lnTo>
                <a:lnTo>
                  <a:pt x="45636" y="219860"/>
                </a:lnTo>
                <a:lnTo>
                  <a:pt x="30773" y="216551"/>
                </a:lnTo>
                <a:lnTo>
                  <a:pt x="17484" y="212447"/>
                </a:lnTo>
                <a:lnTo>
                  <a:pt x="16084" y="211796"/>
                </a:lnTo>
                <a:close/>
              </a:path>
              <a:path w="205104" h="258444">
                <a:moveTo>
                  <a:pt x="141981" y="0"/>
                </a:moveTo>
                <a:lnTo>
                  <a:pt x="91786" y="4746"/>
                </a:lnTo>
                <a:lnTo>
                  <a:pt x="34937" y="42347"/>
                </a:lnTo>
                <a:lnTo>
                  <a:pt x="26577" y="74955"/>
                </a:lnTo>
                <a:lnTo>
                  <a:pt x="30937" y="97159"/>
                </a:lnTo>
                <a:lnTo>
                  <a:pt x="42051" y="114291"/>
                </a:lnTo>
                <a:lnTo>
                  <a:pt x="56968" y="126903"/>
                </a:lnTo>
                <a:lnTo>
                  <a:pt x="72737" y="135548"/>
                </a:lnTo>
                <a:lnTo>
                  <a:pt x="104212" y="148590"/>
                </a:lnTo>
                <a:lnTo>
                  <a:pt x="117315" y="154251"/>
                </a:lnTo>
                <a:lnTo>
                  <a:pt x="127730" y="161131"/>
                </a:lnTo>
                <a:lnTo>
                  <a:pt x="134604" y="170211"/>
                </a:lnTo>
                <a:lnTo>
                  <a:pt x="137085" y="182472"/>
                </a:lnTo>
                <a:lnTo>
                  <a:pt x="133009" y="200056"/>
                </a:lnTo>
                <a:lnTo>
                  <a:pt x="121785" y="212692"/>
                </a:lnTo>
                <a:lnTo>
                  <a:pt x="104922" y="220319"/>
                </a:lnTo>
                <a:lnTo>
                  <a:pt x="83928" y="222874"/>
                </a:lnTo>
                <a:lnTo>
                  <a:pt x="169434" y="222874"/>
                </a:lnTo>
                <a:lnTo>
                  <a:pt x="178577" y="212153"/>
                </a:lnTo>
                <a:lnTo>
                  <a:pt x="186040" y="178561"/>
                </a:lnTo>
                <a:lnTo>
                  <a:pt x="181900" y="155020"/>
                </a:lnTo>
                <a:lnTo>
                  <a:pt x="170745" y="137345"/>
                </a:lnTo>
                <a:lnTo>
                  <a:pt x="154474" y="124312"/>
                </a:lnTo>
                <a:lnTo>
                  <a:pt x="134987" y="114697"/>
                </a:lnTo>
                <a:lnTo>
                  <a:pt x="101415" y="101017"/>
                </a:lnTo>
                <a:lnTo>
                  <a:pt x="91361" y="96247"/>
                </a:lnTo>
                <a:lnTo>
                  <a:pt x="82880" y="90257"/>
                </a:lnTo>
                <a:lnTo>
                  <a:pt x="77021" y="82312"/>
                </a:lnTo>
                <a:lnTo>
                  <a:pt x="74835" y="71677"/>
                </a:lnTo>
                <a:lnTo>
                  <a:pt x="79021" y="55538"/>
                </a:lnTo>
                <a:lnTo>
                  <a:pt x="90485" y="44155"/>
                </a:lnTo>
                <a:lnTo>
                  <a:pt x="107588" y="37411"/>
                </a:lnTo>
                <a:lnTo>
                  <a:pt x="128691" y="35190"/>
                </a:lnTo>
                <a:lnTo>
                  <a:pt x="201985" y="35190"/>
                </a:lnTo>
                <a:lnTo>
                  <a:pt x="202139" y="34552"/>
                </a:lnTo>
                <a:lnTo>
                  <a:pt x="204924" y="21510"/>
                </a:lnTo>
                <a:lnTo>
                  <a:pt x="204924" y="13680"/>
                </a:lnTo>
                <a:lnTo>
                  <a:pt x="201431" y="10425"/>
                </a:lnTo>
                <a:lnTo>
                  <a:pt x="181232" y="4676"/>
                </a:lnTo>
                <a:lnTo>
                  <a:pt x="167429" y="2039"/>
                </a:lnTo>
                <a:lnTo>
                  <a:pt x="154017" y="500"/>
                </a:lnTo>
                <a:lnTo>
                  <a:pt x="141981" y="0"/>
                </a:lnTo>
                <a:close/>
              </a:path>
              <a:path w="205104" h="258444">
                <a:moveTo>
                  <a:pt x="201985" y="35190"/>
                </a:moveTo>
                <a:lnTo>
                  <a:pt x="139184" y="35190"/>
                </a:lnTo>
                <a:lnTo>
                  <a:pt x="150254" y="35780"/>
                </a:lnTo>
                <a:lnTo>
                  <a:pt x="162700" y="37469"/>
                </a:lnTo>
                <a:lnTo>
                  <a:pt x="175280" y="40135"/>
                </a:lnTo>
                <a:lnTo>
                  <a:pt x="188849" y="44317"/>
                </a:lnTo>
                <a:lnTo>
                  <a:pt x="196545" y="44317"/>
                </a:lnTo>
                <a:lnTo>
                  <a:pt x="200723" y="40402"/>
                </a:lnTo>
                <a:lnTo>
                  <a:pt x="201985" y="35190"/>
                </a:lnTo>
                <a:close/>
              </a:path>
            </a:pathLst>
          </a:custGeom>
          <a:solidFill>
            <a:srgbClr val="002563"/>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9" name="object 29"/>
          <p:cNvSpPr/>
          <p:nvPr/>
        </p:nvSpPr>
        <p:spPr>
          <a:xfrm>
            <a:off x="5543257" y="2496387"/>
            <a:ext cx="205594" cy="258262"/>
          </a:xfrm>
          <a:custGeom>
            <a:avLst/>
            <a:gdLst/>
            <a:ahLst/>
            <a:cxnLst/>
            <a:rect l="l" t="t" r="r" b="b"/>
            <a:pathLst>
              <a:path w="205739" h="258444">
                <a:moveTo>
                  <a:pt x="16783" y="211796"/>
                </a:moveTo>
                <a:lnTo>
                  <a:pt x="8403" y="211796"/>
                </a:lnTo>
                <a:lnTo>
                  <a:pt x="4886" y="215706"/>
                </a:lnTo>
                <a:lnTo>
                  <a:pt x="3372" y="222070"/>
                </a:lnTo>
                <a:lnTo>
                  <a:pt x="0" y="235908"/>
                </a:lnTo>
                <a:lnTo>
                  <a:pt x="0" y="243729"/>
                </a:lnTo>
                <a:lnTo>
                  <a:pt x="3493" y="247637"/>
                </a:lnTo>
                <a:lnTo>
                  <a:pt x="10480" y="248941"/>
                </a:lnTo>
                <a:lnTo>
                  <a:pt x="24184" y="252566"/>
                </a:lnTo>
                <a:lnTo>
                  <a:pt x="39258" y="255458"/>
                </a:lnTo>
                <a:lnTo>
                  <a:pt x="54460" y="257372"/>
                </a:lnTo>
                <a:lnTo>
                  <a:pt x="68549" y="258064"/>
                </a:lnTo>
                <a:lnTo>
                  <a:pt x="80423" y="258064"/>
                </a:lnTo>
                <a:lnTo>
                  <a:pt x="124374" y="252698"/>
                </a:lnTo>
                <a:lnTo>
                  <a:pt x="157636" y="237130"/>
                </a:lnTo>
                <a:lnTo>
                  <a:pt x="169658" y="222874"/>
                </a:lnTo>
                <a:lnTo>
                  <a:pt x="74828" y="222874"/>
                </a:lnTo>
                <a:lnTo>
                  <a:pt x="61160" y="222070"/>
                </a:lnTo>
                <a:lnTo>
                  <a:pt x="46245" y="219860"/>
                </a:lnTo>
                <a:lnTo>
                  <a:pt x="31459" y="216551"/>
                </a:lnTo>
                <a:lnTo>
                  <a:pt x="18176" y="212447"/>
                </a:lnTo>
                <a:lnTo>
                  <a:pt x="16783" y="211796"/>
                </a:lnTo>
                <a:close/>
              </a:path>
              <a:path w="205739" h="258444">
                <a:moveTo>
                  <a:pt x="142670" y="0"/>
                </a:moveTo>
                <a:lnTo>
                  <a:pt x="92197" y="4746"/>
                </a:lnTo>
                <a:lnTo>
                  <a:pt x="35548" y="42347"/>
                </a:lnTo>
                <a:lnTo>
                  <a:pt x="27287" y="74955"/>
                </a:lnTo>
                <a:lnTo>
                  <a:pt x="31547" y="97159"/>
                </a:lnTo>
                <a:lnTo>
                  <a:pt x="42492" y="114291"/>
                </a:lnTo>
                <a:lnTo>
                  <a:pt x="57372" y="126903"/>
                </a:lnTo>
                <a:lnTo>
                  <a:pt x="73436" y="135548"/>
                </a:lnTo>
                <a:lnTo>
                  <a:pt x="104902" y="148590"/>
                </a:lnTo>
                <a:lnTo>
                  <a:pt x="117717" y="154251"/>
                </a:lnTo>
                <a:lnTo>
                  <a:pt x="128168" y="161131"/>
                </a:lnTo>
                <a:lnTo>
                  <a:pt x="135205" y="170211"/>
                </a:lnTo>
                <a:lnTo>
                  <a:pt x="137784" y="182472"/>
                </a:lnTo>
                <a:lnTo>
                  <a:pt x="133707" y="200056"/>
                </a:lnTo>
                <a:lnTo>
                  <a:pt x="122482" y="212692"/>
                </a:lnTo>
                <a:lnTo>
                  <a:pt x="105618" y="220319"/>
                </a:lnTo>
                <a:lnTo>
                  <a:pt x="84625" y="222874"/>
                </a:lnTo>
                <a:lnTo>
                  <a:pt x="169658" y="222874"/>
                </a:lnTo>
                <a:lnTo>
                  <a:pt x="178700" y="212153"/>
                </a:lnTo>
                <a:lnTo>
                  <a:pt x="186057" y="178561"/>
                </a:lnTo>
                <a:lnTo>
                  <a:pt x="182012" y="155020"/>
                </a:lnTo>
                <a:lnTo>
                  <a:pt x="171017" y="137345"/>
                </a:lnTo>
                <a:lnTo>
                  <a:pt x="154777" y="124312"/>
                </a:lnTo>
                <a:lnTo>
                  <a:pt x="134998" y="114697"/>
                </a:lnTo>
                <a:lnTo>
                  <a:pt x="102116" y="101017"/>
                </a:lnTo>
                <a:lnTo>
                  <a:pt x="91947" y="96247"/>
                </a:lnTo>
                <a:lnTo>
                  <a:pt x="83223" y="90257"/>
                </a:lnTo>
                <a:lnTo>
                  <a:pt x="77124" y="82312"/>
                </a:lnTo>
                <a:lnTo>
                  <a:pt x="74828" y="71677"/>
                </a:lnTo>
                <a:lnTo>
                  <a:pt x="79027" y="55538"/>
                </a:lnTo>
                <a:lnTo>
                  <a:pt x="90573" y="44155"/>
                </a:lnTo>
                <a:lnTo>
                  <a:pt x="107891" y="37411"/>
                </a:lnTo>
                <a:lnTo>
                  <a:pt x="129404" y="35190"/>
                </a:lnTo>
                <a:lnTo>
                  <a:pt x="202686" y="35190"/>
                </a:lnTo>
                <a:lnTo>
                  <a:pt x="202840" y="34552"/>
                </a:lnTo>
                <a:lnTo>
                  <a:pt x="205625" y="21510"/>
                </a:lnTo>
                <a:lnTo>
                  <a:pt x="205625" y="13680"/>
                </a:lnTo>
                <a:lnTo>
                  <a:pt x="202132" y="10425"/>
                </a:lnTo>
                <a:lnTo>
                  <a:pt x="181933" y="4676"/>
                </a:lnTo>
                <a:lnTo>
                  <a:pt x="168128" y="2039"/>
                </a:lnTo>
                <a:lnTo>
                  <a:pt x="154713" y="500"/>
                </a:lnTo>
                <a:lnTo>
                  <a:pt x="142670" y="0"/>
                </a:lnTo>
                <a:close/>
              </a:path>
              <a:path w="205739" h="258444">
                <a:moveTo>
                  <a:pt x="202686" y="35190"/>
                </a:moveTo>
                <a:lnTo>
                  <a:pt x="139176" y="35190"/>
                </a:lnTo>
                <a:lnTo>
                  <a:pt x="150261" y="35780"/>
                </a:lnTo>
                <a:lnTo>
                  <a:pt x="162791" y="37469"/>
                </a:lnTo>
                <a:lnTo>
                  <a:pt x="175581" y="40135"/>
                </a:lnTo>
                <a:lnTo>
                  <a:pt x="187449" y="43657"/>
                </a:lnTo>
                <a:lnTo>
                  <a:pt x="188842" y="44317"/>
                </a:lnTo>
                <a:lnTo>
                  <a:pt x="197246" y="44317"/>
                </a:lnTo>
                <a:lnTo>
                  <a:pt x="201424" y="40402"/>
                </a:lnTo>
                <a:lnTo>
                  <a:pt x="202686" y="35190"/>
                </a:lnTo>
                <a:close/>
              </a:path>
            </a:pathLst>
          </a:custGeom>
          <a:solidFill>
            <a:srgbClr val="002563"/>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0" name="object 30"/>
          <p:cNvSpPr/>
          <p:nvPr/>
        </p:nvSpPr>
        <p:spPr>
          <a:xfrm>
            <a:off x="5987078" y="2499003"/>
            <a:ext cx="223644" cy="252662"/>
          </a:xfrm>
          <a:prstGeom prst="rect">
            <a:avLst/>
          </a:prstGeom>
          <a:blipFill>
            <a:blip r:embed="rId4"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1" name="object 31"/>
          <p:cNvSpPr/>
          <p:nvPr/>
        </p:nvSpPr>
        <p:spPr>
          <a:xfrm>
            <a:off x="5730575" y="2499003"/>
            <a:ext cx="233433" cy="252662"/>
          </a:xfrm>
          <a:prstGeom prst="rect">
            <a:avLst/>
          </a:prstGeom>
          <a:blipFill>
            <a:blip r:embed="rId5"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2" name="object 32"/>
          <p:cNvSpPr txBox="1"/>
          <p:nvPr/>
        </p:nvSpPr>
        <p:spPr>
          <a:xfrm>
            <a:off x="107924" y="6420005"/>
            <a:ext cx="1984239" cy="165100"/>
          </a:xfrm>
          <a:prstGeom prst="rect">
            <a:avLst/>
          </a:prstGeom>
        </p:spPr>
        <p:txBody>
          <a:bodyPr vert="horz" wrap="square" lIns="0" tIns="12056" rIns="0" bIns="0" rtlCol="0">
            <a:spAutoFit/>
          </a:bodyPr>
          <a:lstStyle/>
          <a:p>
            <a:pPr marL="12700">
              <a:lnSpc>
                <a:spcPct val="100000"/>
              </a:lnSpc>
              <a:spcBef>
                <a:spcPts val="95"/>
              </a:spcBef>
            </a:pPr>
            <a:r>
              <a:rPr sz="1000" spc="-5" dirty="0">
                <a:latin typeface="微软雅黑" panose="020B0503020204020204" charset="-122"/>
                <a:ea typeface="微软雅黑" panose="020B0503020204020204" charset="-122"/>
                <a:cs typeface="微软雅黑" panose="020B0503020204020204" charset="-122"/>
              </a:rPr>
              <a:t>资料来源:</a:t>
            </a:r>
            <a:r>
              <a:rPr sz="1000" spc="-40"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年报；文献检索；****</a:t>
            </a:r>
            <a:endParaRPr sz="1000">
              <a:latin typeface="微软雅黑" panose="020B0503020204020204" charset="-122"/>
              <a:ea typeface="微软雅黑" panose="020B0503020204020204" charset="-122"/>
              <a:cs typeface="微软雅黑" panose="020B0503020204020204" charset="-122"/>
            </a:endParaRPr>
          </a:p>
        </p:txBody>
      </p:sp>
      <p:sp>
        <p:nvSpPr>
          <p:cNvPr id="33" name="object 33"/>
          <p:cNvSpPr/>
          <p:nvPr/>
        </p:nvSpPr>
        <p:spPr>
          <a:xfrm>
            <a:off x="2270674" y="2553209"/>
            <a:ext cx="2297072" cy="2842151"/>
          </a:xfrm>
          <a:custGeom>
            <a:avLst/>
            <a:gdLst/>
            <a:ahLst/>
            <a:cxnLst/>
            <a:rect l="l" t="t" r="r" b="b"/>
            <a:pathLst>
              <a:path w="2298700" h="2844165">
                <a:moveTo>
                  <a:pt x="1149095" y="0"/>
                </a:moveTo>
                <a:lnTo>
                  <a:pt x="1106017" y="980"/>
                </a:lnTo>
                <a:lnTo>
                  <a:pt x="1063338" y="3900"/>
                </a:lnTo>
                <a:lnTo>
                  <a:pt x="1021088" y="8724"/>
                </a:lnTo>
                <a:lnTo>
                  <a:pt x="979293" y="15418"/>
                </a:lnTo>
                <a:lnTo>
                  <a:pt x="937981" y="23947"/>
                </a:lnTo>
                <a:lnTo>
                  <a:pt x="897181" y="34278"/>
                </a:lnTo>
                <a:lnTo>
                  <a:pt x="856919" y="46375"/>
                </a:lnTo>
                <a:lnTo>
                  <a:pt x="817225" y="60205"/>
                </a:lnTo>
                <a:lnTo>
                  <a:pt x="778125" y="75733"/>
                </a:lnTo>
                <a:lnTo>
                  <a:pt x="739647" y="92925"/>
                </a:lnTo>
                <a:lnTo>
                  <a:pt x="701819" y="111746"/>
                </a:lnTo>
                <a:lnTo>
                  <a:pt x="664670" y="132162"/>
                </a:lnTo>
                <a:lnTo>
                  <a:pt x="628225" y="154138"/>
                </a:lnTo>
                <a:lnTo>
                  <a:pt x="592515" y="177641"/>
                </a:lnTo>
                <a:lnTo>
                  <a:pt x="557565" y="202635"/>
                </a:lnTo>
                <a:lnTo>
                  <a:pt x="523405" y="229087"/>
                </a:lnTo>
                <a:lnTo>
                  <a:pt x="490061" y="256962"/>
                </a:lnTo>
                <a:lnTo>
                  <a:pt x="457562" y="286226"/>
                </a:lnTo>
                <a:lnTo>
                  <a:pt x="425935" y="316844"/>
                </a:lnTo>
                <a:lnTo>
                  <a:pt x="395208" y="348782"/>
                </a:lnTo>
                <a:lnTo>
                  <a:pt x="365409" y="382005"/>
                </a:lnTo>
                <a:lnTo>
                  <a:pt x="336565" y="416480"/>
                </a:lnTo>
                <a:lnTo>
                  <a:pt x="308705" y="452172"/>
                </a:lnTo>
                <a:lnTo>
                  <a:pt x="281856" y="489045"/>
                </a:lnTo>
                <a:lnTo>
                  <a:pt x="256047" y="527067"/>
                </a:lnTo>
                <a:lnTo>
                  <a:pt x="231303" y="566203"/>
                </a:lnTo>
                <a:lnTo>
                  <a:pt x="207655" y="606418"/>
                </a:lnTo>
                <a:lnTo>
                  <a:pt x="185128" y="647678"/>
                </a:lnTo>
                <a:lnTo>
                  <a:pt x="163752" y="689948"/>
                </a:lnTo>
                <a:lnTo>
                  <a:pt x="143553" y="733195"/>
                </a:lnTo>
                <a:lnTo>
                  <a:pt x="124560" y="777383"/>
                </a:lnTo>
                <a:lnTo>
                  <a:pt x="106801" y="822479"/>
                </a:lnTo>
                <a:lnTo>
                  <a:pt x="90302" y="868447"/>
                </a:lnTo>
                <a:lnTo>
                  <a:pt x="75093" y="915255"/>
                </a:lnTo>
                <a:lnTo>
                  <a:pt x="61200" y="962866"/>
                </a:lnTo>
                <a:lnTo>
                  <a:pt x="48652" y="1011248"/>
                </a:lnTo>
                <a:lnTo>
                  <a:pt x="37476" y="1060365"/>
                </a:lnTo>
                <a:lnTo>
                  <a:pt x="27700" y="1110183"/>
                </a:lnTo>
                <a:lnTo>
                  <a:pt x="19352" y="1160668"/>
                </a:lnTo>
                <a:lnTo>
                  <a:pt x="12459" y="1211786"/>
                </a:lnTo>
                <a:lnTo>
                  <a:pt x="7050" y="1263501"/>
                </a:lnTo>
                <a:lnTo>
                  <a:pt x="3151" y="1315780"/>
                </a:lnTo>
                <a:lnTo>
                  <a:pt x="792" y="1368588"/>
                </a:lnTo>
                <a:lnTo>
                  <a:pt x="0" y="1421891"/>
                </a:lnTo>
                <a:lnTo>
                  <a:pt x="792" y="1475195"/>
                </a:lnTo>
                <a:lnTo>
                  <a:pt x="3151" y="1528003"/>
                </a:lnTo>
                <a:lnTo>
                  <a:pt x="7050" y="1580282"/>
                </a:lnTo>
                <a:lnTo>
                  <a:pt x="12459" y="1631997"/>
                </a:lnTo>
                <a:lnTo>
                  <a:pt x="19352" y="1683115"/>
                </a:lnTo>
                <a:lnTo>
                  <a:pt x="27700" y="1733600"/>
                </a:lnTo>
                <a:lnTo>
                  <a:pt x="37476" y="1783418"/>
                </a:lnTo>
                <a:lnTo>
                  <a:pt x="48652" y="1832535"/>
                </a:lnTo>
                <a:lnTo>
                  <a:pt x="61200" y="1880917"/>
                </a:lnTo>
                <a:lnTo>
                  <a:pt x="75093" y="1928528"/>
                </a:lnTo>
                <a:lnTo>
                  <a:pt x="90302" y="1975336"/>
                </a:lnTo>
                <a:lnTo>
                  <a:pt x="106801" y="2021304"/>
                </a:lnTo>
                <a:lnTo>
                  <a:pt x="124560" y="2066400"/>
                </a:lnTo>
                <a:lnTo>
                  <a:pt x="143553" y="2110588"/>
                </a:lnTo>
                <a:lnTo>
                  <a:pt x="163752" y="2153835"/>
                </a:lnTo>
                <a:lnTo>
                  <a:pt x="185128" y="2196105"/>
                </a:lnTo>
                <a:lnTo>
                  <a:pt x="207655" y="2237365"/>
                </a:lnTo>
                <a:lnTo>
                  <a:pt x="231303" y="2277580"/>
                </a:lnTo>
                <a:lnTo>
                  <a:pt x="256047" y="2316716"/>
                </a:lnTo>
                <a:lnTo>
                  <a:pt x="281856" y="2354738"/>
                </a:lnTo>
                <a:lnTo>
                  <a:pt x="308705" y="2391611"/>
                </a:lnTo>
                <a:lnTo>
                  <a:pt x="336565" y="2427303"/>
                </a:lnTo>
                <a:lnTo>
                  <a:pt x="365409" y="2461778"/>
                </a:lnTo>
                <a:lnTo>
                  <a:pt x="395208" y="2495001"/>
                </a:lnTo>
                <a:lnTo>
                  <a:pt x="425935" y="2526939"/>
                </a:lnTo>
                <a:lnTo>
                  <a:pt x="457562" y="2557557"/>
                </a:lnTo>
                <a:lnTo>
                  <a:pt x="490061" y="2586821"/>
                </a:lnTo>
                <a:lnTo>
                  <a:pt x="523405" y="2614696"/>
                </a:lnTo>
                <a:lnTo>
                  <a:pt x="557565" y="2641148"/>
                </a:lnTo>
                <a:lnTo>
                  <a:pt x="592515" y="2666142"/>
                </a:lnTo>
                <a:lnTo>
                  <a:pt x="628225" y="2689645"/>
                </a:lnTo>
                <a:lnTo>
                  <a:pt x="664670" y="2711621"/>
                </a:lnTo>
                <a:lnTo>
                  <a:pt x="701819" y="2732037"/>
                </a:lnTo>
                <a:lnTo>
                  <a:pt x="739647" y="2750858"/>
                </a:lnTo>
                <a:lnTo>
                  <a:pt x="778125" y="2768050"/>
                </a:lnTo>
                <a:lnTo>
                  <a:pt x="817225" y="2783578"/>
                </a:lnTo>
                <a:lnTo>
                  <a:pt x="856919" y="2797408"/>
                </a:lnTo>
                <a:lnTo>
                  <a:pt x="897181" y="2809505"/>
                </a:lnTo>
                <a:lnTo>
                  <a:pt x="937981" y="2819836"/>
                </a:lnTo>
                <a:lnTo>
                  <a:pt x="979293" y="2828365"/>
                </a:lnTo>
                <a:lnTo>
                  <a:pt x="1021088" y="2835059"/>
                </a:lnTo>
                <a:lnTo>
                  <a:pt x="1063338" y="2839883"/>
                </a:lnTo>
                <a:lnTo>
                  <a:pt x="1106017" y="2842803"/>
                </a:lnTo>
                <a:lnTo>
                  <a:pt x="1149095" y="2843784"/>
                </a:lnTo>
                <a:lnTo>
                  <a:pt x="1192174" y="2842803"/>
                </a:lnTo>
                <a:lnTo>
                  <a:pt x="1234853" y="2839883"/>
                </a:lnTo>
                <a:lnTo>
                  <a:pt x="1277103" y="2835059"/>
                </a:lnTo>
                <a:lnTo>
                  <a:pt x="1318898" y="2828365"/>
                </a:lnTo>
                <a:lnTo>
                  <a:pt x="1360210" y="2819836"/>
                </a:lnTo>
                <a:lnTo>
                  <a:pt x="1401010" y="2809505"/>
                </a:lnTo>
                <a:lnTo>
                  <a:pt x="1441272" y="2797408"/>
                </a:lnTo>
                <a:lnTo>
                  <a:pt x="1480966" y="2783578"/>
                </a:lnTo>
                <a:lnTo>
                  <a:pt x="1520066" y="2768050"/>
                </a:lnTo>
                <a:lnTo>
                  <a:pt x="1558544" y="2750858"/>
                </a:lnTo>
                <a:lnTo>
                  <a:pt x="1596372" y="2732037"/>
                </a:lnTo>
                <a:lnTo>
                  <a:pt x="1633521" y="2711621"/>
                </a:lnTo>
                <a:lnTo>
                  <a:pt x="1669966" y="2689645"/>
                </a:lnTo>
                <a:lnTo>
                  <a:pt x="1705676" y="2666142"/>
                </a:lnTo>
                <a:lnTo>
                  <a:pt x="1740626" y="2641148"/>
                </a:lnTo>
                <a:lnTo>
                  <a:pt x="1774786" y="2614696"/>
                </a:lnTo>
                <a:lnTo>
                  <a:pt x="1808130" y="2586821"/>
                </a:lnTo>
                <a:lnTo>
                  <a:pt x="1840629" y="2557557"/>
                </a:lnTo>
                <a:lnTo>
                  <a:pt x="1872256" y="2526939"/>
                </a:lnTo>
                <a:lnTo>
                  <a:pt x="1902983" y="2495001"/>
                </a:lnTo>
                <a:lnTo>
                  <a:pt x="1932782" y="2461778"/>
                </a:lnTo>
                <a:lnTo>
                  <a:pt x="1961626" y="2427303"/>
                </a:lnTo>
                <a:lnTo>
                  <a:pt x="1989486" y="2391611"/>
                </a:lnTo>
                <a:lnTo>
                  <a:pt x="2016335" y="2354738"/>
                </a:lnTo>
                <a:lnTo>
                  <a:pt x="2042144" y="2316716"/>
                </a:lnTo>
                <a:lnTo>
                  <a:pt x="2066888" y="2277580"/>
                </a:lnTo>
                <a:lnTo>
                  <a:pt x="2090536" y="2237365"/>
                </a:lnTo>
                <a:lnTo>
                  <a:pt x="2113063" y="2196105"/>
                </a:lnTo>
                <a:lnTo>
                  <a:pt x="2134439" y="2153835"/>
                </a:lnTo>
                <a:lnTo>
                  <a:pt x="2154638" y="2110588"/>
                </a:lnTo>
                <a:lnTo>
                  <a:pt x="2173631" y="2066400"/>
                </a:lnTo>
                <a:lnTo>
                  <a:pt x="2191390" y="2021304"/>
                </a:lnTo>
                <a:lnTo>
                  <a:pt x="2207889" y="1975336"/>
                </a:lnTo>
                <a:lnTo>
                  <a:pt x="2223098" y="1928528"/>
                </a:lnTo>
                <a:lnTo>
                  <a:pt x="2236991" y="1880917"/>
                </a:lnTo>
                <a:lnTo>
                  <a:pt x="2249539" y="1832535"/>
                </a:lnTo>
                <a:lnTo>
                  <a:pt x="2260715" y="1783418"/>
                </a:lnTo>
                <a:lnTo>
                  <a:pt x="2270491" y="1733600"/>
                </a:lnTo>
                <a:lnTo>
                  <a:pt x="2278839" y="1683115"/>
                </a:lnTo>
                <a:lnTo>
                  <a:pt x="2285732" y="1631997"/>
                </a:lnTo>
                <a:lnTo>
                  <a:pt x="2291141" y="1580282"/>
                </a:lnTo>
                <a:lnTo>
                  <a:pt x="2295040" y="1528003"/>
                </a:lnTo>
                <a:lnTo>
                  <a:pt x="2297399" y="1475195"/>
                </a:lnTo>
                <a:lnTo>
                  <a:pt x="2298192" y="1421891"/>
                </a:lnTo>
                <a:lnTo>
                  <a:pt x="2297399" y="1368588"/>
                </a:lnTo>
                <a:lnTo>
                  <a:pt x="2295040" y="1315780"/>
                </a:lnTo>
                <a:lnTo>
                  <a:pt x="2291141" y="1263501"/>
                </a:lnTo>
                <a:lnTo>
                  <a:pt x="2285732" y="1211786"/>
                </a:lnTo>
                <a:lnTo>
                  <a:pt x="2278839" y="1160668"/>
                </a:lnTo>
                <a:lnTo>
                  <a:pt x="2270491" y="1110183"/>
                </a:lnTo>
                <a:lnTo>
                  <a:pt x="2260715" y="1060365"/>
                </a:lnTo>
                <a:lnTo>
                  <a:pt x="2249539" y="1011248"/>
                </a:lnTo>
                <a:lnTo>
                  <a:pt x="2236991" y="962866"/>
                </a:lnTo>
                <a:lnTo>
                  <a:pt x="2223098" y="915255"/>
                </a:lnTo>
                <a:lnTo>
                  <a:pt x="2207889" y="868447"/>
                </a:lnTo>
                <a:lnTo>
                  <a:pt x="2191390" y="822479"/>
                </a:lnTo>
                <a:lnTo>
                  <a:pt x="2173631" y="777383"/>
                </a:lnTo>
                <a:lnTo>
                  <a:pt x="2154638" y="733195"/>
                </a:lnTo>
                <a:lnTo>
                  <a:pt x="2134439" y="689948"/>
                </a:lnTo>
                <a:lnTo>
                  <a:pt x="2113063" y="647678"/>
                </a:lnTo>
                <a:lnTo>
                  <a:pt x="2090536" y="606418"/>
                </a:lnTo>
                <a:lnTo>
                  <a:pt x="2066888" y="566203"/>
                </a:lnTo>
                <a:lnTo>
                  <a:pt x="2042144" y="527067"/>
                </a:lnTo>
                <a:lnTo>
                  <a:pt x="2016335" y="489045"/>
                </a:lnTo>
                <a:lnTo>
                  <a:pt x="1989486" y="452172"/>
                </a:lnTo>
                <a:lnTo>
                  <a:pt x="1961626" y="416480"/>
                </a:lnTo>
                <a:lnTo>
                  <a:pt x="1932782" y="382005"/>
                </a:lnTo>
                <a:lnTo>
                  <a:pt x="1902983" y="348782"/>
                </a:lnTo>
                <a:lnTo>
                  <a:pt x="1872256" y="316844"/>
                </a:lnTo>
                <a:lnTo>
                  <a:pt x="1840629" y="286226"/>
                </a:lnTo>
                <a:lnTo>
                  <a:pt x="1808130" y="256962"/>
                </a:lnTo>
                <a:lnTo>
                  <a:pt x="1774786" y="229087"/>
                </a:lnTo>
                <a:lnTo>
                  <a:pt x="1740626" y="202635"/>
                </a:lnTo>
                <a:lnTo>
                  <a:pt x="1705676" y="177641"/>
                </a:lnTo>
                <a:lnTo>
                  <a:pt x="1669966" y="154138"/>
                </a:lnTo>
                <a:lnTo>
                  <a:pt x="1633521" y="132162"/>
                </a:lnTo>
                <a:lnTo>
                  <a:pt x="1596372" y="111746"/>
                </a:lnTo>
                <a:lnTo>
                  <a:pt x="1558544" y="92925"/>
                </a:lnTo>
                <a:lnTo>
                  <a:pt x="1520066" y="75733"/>
                </a:lnTo>
                <a:lnTo>
                  <a:pt x="1480966" y="60205"/>
                </a:lnTo>
                <a:lnTo>
                  <a:pt x="1441272" y="46375"/>
                </a:lnTo>
                <a:lnTo>
                  <a:pt x="1401010" y="34278"/>
                </a:lnTo>
                <a:lnTo>
                  <a:pt x="1360210" y="23947"/>
                </a:lnTo>
                <a:lnTo>
                  <a:pt x="1318898" y="15418"/>
                </a:lnTo>
                <a:lnTo>
                  <a:pt x="1277103" y="8724"/>
                </a:lnTo>
                <a:lnTo>
                  <a:pt x="1234853" y="3900"/>
                </a:lnTo>
                <a:lnTo>
                  <a:pt x="1192174" y="980"/>
                </a:lnTo>
                <a:lnTo>
                  <a:pt x="1149095"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4" name="object 34"/>
          <p:cNvSpPr txBox="1"/>
          <p:nvPr/>
        </p:nvSpPr>
        <p:spPr>
          <a:xfrm>
            <a:off x="2560410" y="3524071"/>
            <a:ext cx="1719631" cy="873760"/>
          </a:xfrm>
          <a:prstGeom prst="rect">
            <a:avLst/>
          </a:prstGeom>
        </p:spPr>
        <p:txBody>
          <a:bodyPr vert="horz" wrap="square" lIns="0" tIns="12691" rIns="0" bIns="0" rtlCol="0">
            <a:spAutoFit/>
          </a:bodyPr>
          <a:lstStyle/>
          <a:p>
            <a:pPr marL="12700" marR="5080" indent="222250">
              <a:lnSpc>
                <a:spcPct val="100000"/>
              </a:lnSpc>
              <a:spcBef>
                <a:spcPts val="100"/>
              </a:spcBef>
            </a:pPr>
            <a:r>
              <a:rPr sz="1400" b="1" spc="10" dirty="0">
                <a:solidFill>
                  <a:srgbClr val="FFFFFF"/>
                </a:solidFill>
                <a:latin typeface="微软雅黑" panose="020B0503020204020204" charset="-122"/>
                <a:ea typeface="微软雅黑" panose="020B0503020204020204" charset="-122"/>
                <a:cs typeface="微软雅黑" panose="020B0503020204020204" charset="-122"/>
              </a:rPr>
              <a:t>“成</a:t>
            </a:r>
            <a:r>
              <a:rPr sz="1400" b="1" dirty="0">
                <a:solidFill>
                  <a:srgbClr val="FFFFFF"/>
                </a:solidFill>
                <a:latin typeface="微软雅黑" panose="020B0503020204020204" charset="-122"/>
                <a:ea typeface="微软雅黑" panose="020B0503020204020204" charset="-122"/>
                <a:cs typeface="微软雅黑" panose="020B0503020204020204" charset="-122"/>
              </a:rPr>
              <a:t>本领</a:t>
            </a:r>
            <a:r>
              <a:rPr sz="1400" b="1" spc="-10" dirty="0">
                <a:solidFill>
                  <a:srgbClr val="FFFFFF"/>
                </a:solidFill>
                <a:latin typeface="微软雅黑" panose="020B0503020204020204" charset="-122"/>
                <a:ea typeface="微软雅黑" panose="020B0503020204020204" charset="-122"/>
                <a:cs typeface="微软雅黑" panose="020B0503020204020204" charset="-122"/>
              </a:rPr>
              <a:t>先</a:t>
            </a:r>
            <a:r>
              <a:rPr sz="1400" b="1" spc="-5" dirty="0">
                <a:solidFill>
                  <a:srgbClr val="FFFFFF"/>
                </a:solidFill>
                <a:latin typeface="微软雅黑" panose="020B0503020204020204" charset="-122"/>
                <a:ea typeface="微软雅黑" panose="020B0503020204020204" charset="-122"/>
                <a:cs typeface="微软雅黑" panose="020B0503020204020204" charset="-122"/>
              </a:rPr>
              <a:t>者</a:t>
            </a:r>
            <a:r>
              <a:rPr sz="1400" b="1" dirty="0">
                <a:solidFill>
                  <a:srgbClr val="FFFFFF"/>
                </a:solidFill>
                <a:latin typeface="微软雅黑" panose="020B0503020204020204" charset="-122"/>
                <a:ea typeface="微软雅黑" panose="020B0503020204020204" charset="-122"/>
                <a:cs typeface="微软雅黑" panose="020B0503020204020204" charset="-122"/>
              </a:rPr>
              <a:t>”</a:t>
            </a:r>
            <a:r>
              <a:rPr sz="1400" b="1" spc="-70" dirty="0">
                <a:solidFill>
                  <a:srgbClr val="FFFFFF"/>
                </a:solidFill>
                <a:latin typeface="微软雅黑" panose="020B0503020204020204" charset="-122"/>
                <a:ea typeface="微软雅黑" panose="020B0503020204020204" charset="-122"/>
                <a:cs typeface="微软雅黑" panose="020B0503020204020204" charset="-122"/>
              </a:rPr>
              <a:t> </a:t>
            </a:r>
            <a:r>
              <a:rPr sz="1400" b="1" spc="10" dirty="0">
                <a:solidFill>
                  <a:srgbClr val="FFFFFF"/>
                </a:solidFill>
                <a:latin typeface="微软雅黑" panose="020B0503020204020204" charset="-122"/>
                <a:ea typeface="微软雅黑" panose="020B0503020204020204" charset="-122"/>
                <a:cs typeface="微软雅黑" panose="020B0503020204020204" charset="-122"/>
              </a:rPr>
              <a:t>在 成</a:t>
            </a:r>
            <a:r>
              <a:rPr sz="1400" b="1" dirty="0">
                <a:solidFill>
                  <a:srgbClr val="FFFFFF"/>
                </a:solidFill>
                <a:latin typeface="微软雅黑" panose="020B0503020204020204" charset="-122"/>
                <a:ea typeface="微软雅黑" panose="020B0503020204020204" charset="-122"/>
                <a:cs typeface="微软雅黑" panose="020B0503020204020204" charset="-122"/>
              </a:rPr>
              <a:t>熟的</a:t>
            </a:r>
            <a:r>
              <a:rPr sz="1400" b="1" spc="-15" dirty="0">
                <a:solidFill>
                  <a:srgbClr val="FFFFFF"/>
                </a:solidFill>
                <a:latin typeface="微软雅黑" panose="020B0503020204020204" charset="-122"/>
                <a:ea typeface="微软雅黑" panose="020B0503020204020204" charset="-122"/>
                <a:cs typeface="微软雅黑" panose="020B0503020204020204" charset="-122"/>
              </a:rPr>
              <a:t>细</a:t>
            </a:r>
            <a:r>
              <a:rPr sz="1400" b="1" spc="5" dirty="0">
                <a:solidFill>
                  <a:srgbClr val="FFFFFF"/>
                </a:solidFill>
                <a:latin typeface="微软雅黑" panose="020B0503020204020204" charset="-122"/>
                <a:ea typeface="微软雅黑" panose="020B0503020204020204" charset="-122"/>
                <a:cs typeface="微软雅黑" panose="020B0503020204020204" charset="-122"/>
              </a:rPr>
              <a:t>分</a:t>
            </a:r>
            <a:r>
              <a:rPr sz="1400" b="1" spc="-10" dirty="0">
                <a:solidFill>
                  <a:srgbClr val="FFFFFF"/>
                </a:solidFill>
                <a:latin typeface="微软雅黑" panose="020B0503020204020204" charset="-122"/>
                <a:ea typeface="微软雅黑" panose="020B0503020204020204" charset="-122"/>
                <a:cs typeface="微软雅黑" panose="020B0503020204020204" charset="-122"/>
              </a:rPr>
              <a:t>/</a:t>
            </a:r>
            <a:r>
              <a:rPr sz="1400" b="1" dirty="0">
                <a:solidFill>
                  <a:srgbClr val="FFFFFF"/>
                </a:solidFill>
                <a:latin typeface="微软雅黑" panose="020B0503020204020204" charset="-122"/>
                <a:ea typeface="微软雅黑" panose="020B0503020204020204" charset="-122"/>
                <a:cs typeface="微软雅黑" panose="020B0503020204020204" charset="-122"/>
              </a:rPr>
              <a:t>产品领</a:t>
            </a:r>
            <a:endParaRPr sz="1400">
              <a:latin typeface="微软雅黑" panose="020B0503020204020204" charset="-122"/>
              <a:ea typeface="微软雅黑" panose="020B0503020204020204" charset="-122"/>
              <a:cs typeface="微软雅黑" panose="020B0503020204020204" charset="-122"/>
            </a:endParaRPr>
          </a:p>
          <a:p>
            <a:pPr marL="502285" marR="184785" indent="-311785">
              <a:lnSpc>
                <a:spcPct val="100000"/>
              </a:lnSpc>
            </a:pPr>
            <a:r>
              <a:rPr sz="1400" b="1" spc="10" dirty="0">
                <a:solidFill>
                  <a:srgbClr val="FFFFFF"/>
                </a:solidFill>
                <a:latin typeface="微软雅黑" panose="020B0503020204020204" charset="-122"/>
                <a:ea typeface="微软雅黑" panose="020B0503020204020204" charset="-122"/>
                <a:cs typeface="微软雅黑" panose="020B0503020204020204" charset="-122"/>
              </a:rPr>
              <a:t>域追</a:t>
            </a:r>
            <a:r>
              <a:rPr sz="1400" b="1" dirty="0">
                <a:solidFill>
                  <a:srgbClr val="FFFFFF"/>
                </a:solidFill>
                <a:latin typeface="微软雅黑" panose="020B0503020204020204" charset="-122"/>
                <a:ea typeface="微软雅黑" panose="020B0503020204020204" charset="-122"/>
                <a:cs typeface="微软雅黑" panose="020B0503020204020204" charset="-122"/>
              </a:rPr>
              <a:t>求价</a:t>
            </a:r>
            <a:r>
              <a:rPr sz="1400" b="1" spc="-10" dirty="0">
                <a:solidFill>
                  <a:srgbClr val="FFFFFF"/>
                </a:solidFill>
                <a:latin typeface="微软雅黑" panose="020B0503020204020204" charset="-122"/>
                <a:ea typeface="微软雅黑" panose="020B0503020204020204" charset="-122"/>
                <a:cs typeface="微软雅黑" panose="020B0503020204020204" charset="-122"/>
              </a:rPr>
              <a:t>格</a:t>
            </a:r>
            <a:r>
              <a:rPr sz="1400" b="1" spc="5" dirty="0">
                <a:solidFill>
                  <a:srgbClr val="FFFFFF"/>
                </a:solidFill>
                <a:latin typeface="微软雅黑" panose="020B0503020204020204" charset="-122"/>
                <a:ea typeface="微软雅黑" panose="020B0503020204020204" charset="-122"/>
                <a:cs typeface="微软雅黑" panose="020B0503020204020204" charset="-122"/>
              </a:rPr>
              <a:t>/</a:t>
            </a:r>
            <a:r>
              <a:rPr sz="1400" b="1" spc="-15" dirty="0">
                <a:solidFill>
                  <a:srgbClr val="FFFFFF"/>
                </a:solidFill>
                <a:latin typeface="微软雅黑" panose="020B0503020204020204" charset="-122"/>
                <a:ea typeface="微软雅黑" panose="020B0503020204020204" charset="-122"/>
                <a:cs typeface="微软雅黑" panose="020B0503020204020204" charset="-122"/>
              </a:rPr>
              <a:t>成本 </a:t>
            </a:r>
            <a:r>
              <a:rPr sz="1400" b="1" spc="10" dirty="0">
                <a:solidFill>
                  <a:srgbClr val="FFFFFF"/>
                </a:solidFill>
                <a:latin typeface="微软雅黑" panose="020B0503020204020204" charset="-122"/>
                <a:ea typeface="微软雅黑" panose="020B0503020204020204" charset="-122"/>
                <a:cs typeface="微软雅黑" panose="020B0503020204020204" charset="-122"/>
              </a:rPr>
              <a:t>领先</a:t>
            </a:r>
            <a:r>
              <a:rPr sz="1400" b="1" dirty="0">
                <a:solidFill>
                  <a:srgbClr val="FFFFFF"/>
                </a:solidFill>
                <a:latin typeface="微软雅黑" panose="020B0503020204020204" charset="-122"/>
                <a:ea typeface="微软雅黑" panose="020B0503020204020204" charset="-122"/>
                <a:cs typeface="微软雅黑" panose="020B0503020204020204" charset="-122"/>
              </a:rPr>
              <a:t>地位</a:t>
            </a:r>
            <a:endParaRPr sz="14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401" y="203088"/>
            <a:ext cx="6381672"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“你的成功</a:t>
            </a:r>
            <a:r>
              <a:rPr spc="-10" dirty="0">
                <a:ea typeface="微软雅黑" panose="020B0503020204020204" charset="-122"/>
              </a:rPr>
              <a:t>就是</a:t>
            </a:r>
            <a:r>
              <a:rPr spc="-5" dirty="0">
                <a:ea typeface="微软雅黑" panose="020B0503020204020204" charset="-122"/>
              </a:rPr>
              <a:t>我</a:t>
            </a:r>
            <a:r>
              <a:rPr spc="-10" dirty="0">
                <a:ea typeface="微软雅黑" panose="020B0503020204020204" charset="-122"/>
              </a:rPr>
              <a:t>们的</a:t>
            </a:r>
            <a:r>
              <a:rPr spc="-5" dirty="0">
                <a:ea typeface="微软雅黑" panose="020B0503020204020204" charset="-122"/>
              </a:rPr>
              <a:t>成</a:t>
            </a:r>
            <a:r>
              <a:rPr spc="10" dirty="0">
                <a:ea typeface="微软雅黑" panose="020B0503020204020204" charset="-122"/>
              </a:rPr>
              <a:t>功</a:t>
            </a:r>
            <a:r>
              <a:rPr spc="-25" dirty="0">
                <a:ea typeface="微软雅黑" panose="020B0503020204020204" charset="-122"/>
              </a:rPr>
              <a:t>!</a:t>
            </a:r>
            <a:r>
              <a:rPr dirty="0">
                <a:ea typeface="微软雅黑" panose="020B0503020204020204" charset="-122"/>
              </a:rPr>
              <a:t>全球领</a:t>
            </a:r>
            <a:r>
              <a:rPr spc="-10" dirty="0">
                <a:ea typeface="微软雅黑" panose="020B0503020204020204" charset="-122"/>
              </a:rPr>
              <a:t>先</a:t>
            </a:r>
            <a:r>
              <a:rPr spc="5" dirty="0">
                <a:ea typeface="微软雅黑" panose="020B0503020204020204" charset="-122"/>
              </a:rPr>
              <a:t>公</a:t>
            </a:r>
            <a:r>
              <a:rPr spc="-10" dirty="0">
                <a:ea typeface="微软雅黑" panose="020B0503020204020204" charset="-122"/>
              </a:rPr>
              <a:t>司已</a:t>
            </a:r>
            <a:r>
              <a:rPr spc="5" dirty="0">
                <a:ea typeface="微软雅黑" panose="020B0503020204020204" charset="-122"/>
              </a:rPr>
              <a:t>成</a:t>
            </a:r>
            <a:r>
              <a:rPr spc="-10" dirty="0">
                <a:ea typeface="微软雅黑" panose="020B0503020204020204" charset="-122"/>
              </a:rPr>
              <a:t>功应</a:t>
            </a:r>
            <a:r>
              <a:rPr spc="5" dirty="0">
                <a:ea typeface="微软雅黑" panose="020B0503020204020204" charset="-122"/>
              </a:rPr>
              <a:t>用</a:t>
            </a:r>
            <a:r>
              <a:rPr spc="-10" dirty="0">
                <a:ea typeface="微软雅黑" panose="020B0503020204020204" charset="-122"/>
              </a:rPr>
              <a:t>的方法</a:t>
            </a:r>
            <a:endParaRPr spc="-10" dirty="0">
              <a:ea typeface="微软雅黑" panose="020B0503020204020204" charset="-122"/>
            </a:endParaRPr>
          </a:p>
        </p:txBody>
      </p:sp>
      <p:sp>
        <p:nvSpPr>
          <p:cNvPr id="4" name="object 4"/>
          <p:cNvSpPr txBox="1"/>
          <p:nvPr/>
        </p:nvSpPr>
        <p:spPr>
          <a:xfrm>
            <a:off x="2783138" y="705397"/>
            <a:ext cx="3902484" cy="227965"/>
          </a:xfrm>
          <a:prstGeom prst="rect">
            <a:avLst/>
          </a:prstGeom>
        </p:spPr>
        <p:txBody>
          <a:bodyPr vert="horz" wrap="square" lIns="0" tIns="13325" rIns="0" bIns="0" rtlCol="0">
            <a:spAutoFit/>
          </a:bodyPr>
          <a:lstStyle/>
          <a:p>
            <a:pPr marL="12700">
              <a:lnSpc>
                <a:spcPct val="100000"/>
              </a:lnSpc>
              <a:spcBef>
                <a:spcPts val="105"/>
              </a:spcBef>
              <a:tabLst>
                <a:tab pos="2821305" algn="l"/>
              </a:tabLst>
            </a:pPr>
            <a:r>
              <a:rPr sz="1400" b="1" spc="10" dirty="0">
                <a:latin typeface="微软雅黑" panose="020B0503020204020204" charset="-122"/>
                <a:ea typeface="微软雅黑" panose="020B0503020204020204" charset="-122"/>
                <a:cs typeface="微软雅黑" panose="020B0503020204020204" charset="-122"/>
              </a:rPr>
              <a:t>于下</a:t>
            </a:r>
            <a:r>
              <a:rPr sz="1400" b="1" dirty="0">
                <a:latin typeface="微软雅黑" panose="020B0503020204020204" charset="-122"/>
                <a:ea typeface="微软雅黑" panose="020B0503020204020204" charset="-122"/>
                <a:cs typeface="微软雅黑" panose="020B0503020204020204" charset="-122"/>
              </a:rPr>
              <a:t>游发</a:t>
            </a:r>
            <a:r>
              <a:rPr sz="1400" b="1" spc="-15" dirty="0">
                <a:latin typeface="微软雅黑" panose="020B0503020204020204" charset="-122"/>
                <a:ea typeface="微软雅黑" panose="020B0503020204020204" charset="-122"/>
                <a:cs typeface="微软雅黑" panose="020B0503020204020204" charset="-122"/>
              </a:rPr>
              <a:t>掘</a:t>
            </a:r>
            <a:r>
              <a:rPr sz="1400" b="1" dirty="0">
                <a:latin typeface="微软雅黑" panose="020B0503020204020204" charset="-122"/>
                <a:ea typeface="微软雅黑" panose="020B0503020204020204" charset="-122"/>
                <a:cs typeface="微软雅黑" panose="020B0503020204020204" charset="-122"/>
              </a:rPr>
              <a:t>价值	</a:t>
            </a:r>
            <a:r>
              <a:rPr sz="1400" b="1" spc="10" dirty="0">
                <a:latin typeface="微软雅黑" panose="020B0503020204020204" charset="-122"/>
                <a:ea typeface="微软雅黑" panose="020B0503020204020204" charset="-122"/>
                <a:cs typeface="微软雅黑" panose="020B0503020204020204" charset="-122"/>
              </a:rPr>
              <a:t>对公</a:t>
            </a:r>
            <a:r>
              <a:rPr sz="1400" b="1" dirty="0">
                <a:latin typeface="微软雅黑" panose="020B0503020204020204" charset="-122"/>
                <a:ea typeface="微软雅黑" panose="020B0503020204020204" charset="-122"/>
                <a:cs typeface="微软雅黑" panose="020B0503020204020204" charset="-122"/>
              </a:rPr>
              <a:t>司的</a:t>
            </a:r>
            <a:r>
              <a:rPr sz="1400" b="1" spc="-15" dirty="0">
                <a:latin typeface="微软雅黑" panose="020B0503020204020204" charset="-122"/>
                <a:ea typeface="微软雅黑" panose="020B0503020204020204" charset="-122"/>
                <a:cs typeface="微软雅黑" panose="020B0503020204020204" charset="-122"/>
              </a:rPr>
              <a:t>影</a:t>
            </a:r>
            <a:r>
              <a:rPr sz="1400" b="1" dirty="0">
                <a:latin typeface="微软雅黑" panose="020B0503020204020204" charset="-122"/>
                <a:ea typeface="微软雅黑" panose="020B0503020204020204" charset="-122"/>
                <a:cs typeface="微软雅黑" panose="020B0503020204020204" charset="-122"/>
              </a:rPr>
              <a:t>响</a:t>
            </a:r>
            <a:endParaRPr sz="1400">
              <a:latin typeface="微软雅黑" panose="020B0503020204020204" charset="-122"/>
              <a:ea typeface="微软雅黑" panose="020B0503020204020204" charset="-122"/>
              <a:cs typeface="微软雅黑" panose="020B0503020204020204" charset="-122"/>
            </a:endParaRPr>
          </a:p>
        </p:txBody>
      </p:sp>
      <p:sp>
        <p:nvSpPr>
          <p:cNvPr id="5" name="object 5"/>
          <p:cNvSpPr/>
          <p:nvPr/>
        </p:nvSpPr>
        <p:spPr>
          <a:xfrm>
            <a:off x="196456" y="2997902"/>
            <a:ext cx="1288391" cy="310676"/>
          </a:xfrm>
          <a:prstGeom prst="rect">
            <a:avLst/>
          </a:prstGeom>
          <a:blipFill>
            <a:blip r:embed="rId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1739174" y="2831903"/>
            <a:ext cx="650287" cy="653333"/>
          </a:xfrm>
          <a:prstGeom prst="rect">
            <a:avLst/>
          </a:prstGeom>
          <a:blipFill>
            <a:blip r:embed="rId2"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txBox="1"/>
          <p:nvPr/>
        </p:nvSpPr>
        <p:spPr>
          <a:xfrm>
            <a:off x="2784659" y="2726898"/>
            <a:ext cx="2532490" cy="227965"/>
          </a:xfrm>
          <a:prstGeom prst="rect">
            <a:avLst/>
          </a:prstGeom>
        </p:spPr>
        <p:txBody>
          <a:bodyPr vert="horz" wrap="square" lIns="0" tIns="13325" rIns="0" bIns="0" rtlCol="0">
            <a:spAutoFit/>
          </a:bodyPr>
          <a:lstStyle/>
          <a:p>
            <a:pPr marL="204470" indent="-192405">
              <a:lnSpc>
                <a:spcPct val="100000"/>
              </a:lnSpc>
              <a:spcBef>
                <a:spcPts val="105"/>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包装减少了高价值产品</a:t>
            </a:r>
            <a:r>
              <a:rPr sz="1400" spc="-15" dirty="0">
                <a:latin typeface="微软雅黑" panose="020B0503020204020204" charset="-122"/>
                <a:ea typeface="微软雅黑" panose="020B0503020204020204" charset="-122"/>
                <a:cs typeface="微软雅黑" panose="020B0503020204020204" charset="-122"/>
              </a:rPr>
              <a:t>的</a:t>
            </a:r>
            <a:r>
              <a:rPr sz="1400" dirty="0">
                <a:latin typeface="微软雅黑" panose="020B0503020204020204" charset="-122"/>
                <a:ea typeface="微软雅黑" panose="020B0503020204020204" charset="-122"/>
                <a:cs typeface="微软雅黑" panose="020B0503020204020204" charset="-122"/>
              </a:rPr>
              <a:t>损坏</a:t>
            </a:r>
            <a:endParaRPr sz="1400">
              <a:latin typeface="微软雅黑" panose="020B0503020204020204" charset="-122"/>
              <a:ea typeface="微软雅黑" panose="020B0503020204020204" charset="-122"/>
              <a:cs typeface="微软雅黑" panose="020B0503020204020204" charset="-122"/>
            </a:endParaRPr>
          </a:p>
        </p:txBody>
      </p:sp>
      <p:sp>
        <p:nvSpPr>
          <p:cNvPr id="8" name="object 8"/>
          <p:cNvSpPr txBox="1"/>
          <p:nvPr/>
        </p:nvSpPr>
        <p:spPr>
          <a:xfrm>
            <a:off x="5591402" y="2726898"/>
            <a:ext cx="3012845" cy="443865"/>
          </a:xfrm>
          <a:prstGeom prst="rect">
            <a:avLst/>
          </a:prstGeom>
        </p:spPr>
        <p:txBody>
          <a:bodyPr vert="horz" wrap="square" lIns="0" tIns="13325" rIns="0" bIns="0" rtlCol="0">
            <a:spAutoFit/>
          </a:bodyPr>
          <a:lstStyle/>
          <a:p>
            <a:pPr marL="204470" indent="-192405">
              <a:lnSpc>
                <a:spcPct val="100000"/>
              </a:lnSpc>
              <a:spcBef>
                <a:spcPts val="105"/>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保护型包装细分，靠自</a:t>
            </a:r>
            <a:r>
              <a:rPr sz="1400" spc="-15" dirty="0">
                <a:latin typeface="微软雅黑" panose="020B0503020204020204" charset="-122"/>
                <a:ea typeface="微软雅黑" panose="020B0503020204020204" charset="-122"/>
                <a:cs typeface="微软雅黑" panose="020B0503020204020204" charset="-122"/>
              </a:rPr>
              <a:t>身</a:t>
            </a:r>
            <a:r>
              <a:rPr sz="1400" dirty="0">
                <a:latin typeface="微软雅黑" panose="020B0503020204020204" charset="-122"/>
                <a:ea typeface="微软雅黑" panose="020B0503020204020204" charset="-122"/>
                <a:cs typeface="微软雅黑" panose="020B0503020204020204" charset="-122"/>
              </a:rPr>
              <a:t>增</a:t>
            </a:r>
            <a:r>
              <a:rPr sz="1400" spc="5" dirty="0">
                <a:latin typeface="微软雅黑" panose="020B0503020204020204" charset="-122"/>
                <a:ea typeface="微软雅黑" panose="020B0503020204020204" charset="-122"/>
                <a:cs typeface="微软雅黑" panose="020B0503020204020204" charset="-122"/>
              </a:rPr>
              <a:t>长</a:t>
            </a:r>
            <a:r>
              <a:rPr sz="1400" spc="-5" dirty="0">
                <a:latin typeface="微软雅黑" panose="020B0503020204020204" charset="-122"/>
                <a:ea typeface="微软雅黑" panose="020B0503020204020204" charset="-122"/>
                <a:cs typeface="微软雅黑" panose="020B0503020204020204" charset="-122"/>
              </a:rPr>
              <a:t>9%</a:t>
            </a:r>
            <a:r>
              <a:rPr sz="1400" spc="-90" dirty="0">
                <a:latin typeface="微软雅黑" panose="020B0503020204020204" charset="-122"/>
                <a:ea typeface="微软雅黑" panose="020B0503020204020204" charset="-122"/>
                <a:cs typeface="微软雅黑" panose="020B0503020204020204" charset="-122"/>
              </a:rPr>
              <a:t> </a:t>
            </a:r>
            <a:r>
              <a:rPr sz="1400" spc="5" dirty="0">
                <a:latin typeface="微软雅黑" panose="020B0503020204020204" charset="-122"/>
                <a:ea typeface="微软雅黑" panose="020B0503020204020204" charset="-122"/>
                <a:cs typeface="微软雅黑" panose="020B0503020204020204" charset="-122"/>
              </a:rPr>
              <a:t>；</a:t>
            </a:r>
            <a:endParaRPr sz="1400">
              <a:latin typeface="微软雅黑" panose="020B0503020204020204" charset="-122"/>
              <a:ea typeface="微软雅黑" panose="020B0503020204020204" charset="-122"/>
              <a:cs typeface="微软雅黑" panose="020B0503020204020204" charset="-122"/>
            </a:endParaRPr>
          </a:p>
          <a:p>
            <a:pPr marL="204470">
              <a:lnSpc>
                <a:spcPct val="100000"/>
              </a:lnSpc>
              <a:spcBef>
                <a:spcPts val="5"/>
              </a:spcBef>
            </a:pPr>
            <a:r>
              <a:rPr sz="1400" dirty="0">
                <a:latin typeface="微软雅黑" panose="020B0503020204020204" charset="-122"/>
                <a:ea typeface="微软雅黑" panose="020B0503020204020204" charset="-122"/>
                <a:cs typeface="微软雅黑" panose="020B0503020204020204" charset="-122"/>
              </a:rPr>
              <a:t>如考虑购并在内，增长</a:t>
            </a:r>
            <a:r>
              <a:rPr sz="1400" spc="-15" dirty="0">
                <a:latin typeface="微软雅黑" panose="020B0503020204020204" charset="-122"/>
                <a:ea typeface="微软雅黑" panose="020B0503020204020204" charset="-122"/>
                <a:cs typeface="微软雅黑" panose="020B0503020204020204" charset="-122"/>
              </a:rPr>
              <a:t>到</a:t>
            </a:r>
            <a:r>
              <a:rPr sz="1400" dirty="0">
                <a:latin typeface="微软雅黑" panose="020B0503020204020204" charset="-122"/>
                <a:ea typeface="微软雅黑" panose="020B0503020204020204" charset="-122"/>
                <a:cs typeface="微软雅黑" panose="020B0503020204020204" charset="-122"/>
              </a:rPr>
              <a:t>达到</a:t>
            </a:r>
            <a:r>
              <a:rPr sz="1400" spc="-5" dirty="0">
                <a:latin typeface="微软雅黑" panose="020B0503020204020204" charset="-122"/>
                <a:ea typeface="微软雅黑" panose="020B0503020204020204" charset="-122"/>
                <a:cs typeface="微软雅黑" panose="020B0503020204020204" charset="-122"/>
              </a:rPr>
              <a:t>15%</a:t>
            </a:r>
            <a:endParaRPr sz="1400">
              <a:latin typeface="微软雅黑" panose="020B0503020204020204" charset="-122"/>
              <a:ea typeface="微软雅黑" panose="020B0503020204020204" charset="-122"/>
              <a:cs typeface="微软雅黑" panose="020B0503020204020204" charset="-122"/>
            </a:endParaRPr>
          </a:p>
        </p:txBody>
      </p:sp>
      <p:sp>
        <p:nvSpPr>
          <p:cNvPr id="9" name="object 9"/>
          <p:cNvSpPr/>
          <p:nvPr/>
        </p:nvSpPr>
        <p:spPr>
          <a:xfrm>
            <a:off x="522361" y="1931857"/>
            <a:ext cx="625436" cy="740138"/>
          </a:xfrm>
          <a:prstGeom prst="rect">
            <a:avLst/>
          </a:prstGeom>
          <a:blipFill>
            <a:blip r:embed="rId3"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1678259" y="1954701"/>
            <a:ext cx="770598" cy="694452"/>
          </a:xfrm>
          <a:prstGeom prst="rect">
            <a:avLst/>
          </a:prstGeom>
          <a:blipFill>
            <a:blip r:embed="rId4"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txBox="1"/>
          <p:nvPr/>
        </p:nvSpPr>
        <p:spPr>
          <a:xfrm>
            <a:off x="2784659" y="1875255"/>
            <a:ext cx="2532490" cy="445135"/>
          </a:xfrm>
          <a:prstGeom prst="rect">
            <a:avLst/>
          </a:prstGeom>
        </p:spPr>
        <p:txBody>
          <a:bodyPr vert="horz" wrap="square" lIns="0" tIns="11421" rIns="0" bIns="0" rtlCol="0">
            <a:spAutoFit/>
          </a:bodyPr>
          <a:lstStyle/>
          <a:p>
            <a:pPr marL="204470" marR="5080" indent="-192405">
              <a:lnSpc>
                <a:spcPct val="101000"/>
              </a:lnSpc>
              <a:spcBef>
                <a:spcPts val="90"/>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核心板产品提升了最终</a:t>
            </a:r>
            <a:r>
              <a:rPr sz="1400" spc="-15" dirty="0">
                <a:latin typeface="微软雅黑" panose="020B0503020204020204" charset="-122"/>
                <a:ea typeface="微软雅黑" panose="020B0503020204020204" charset="-122"/>
                <a:cs typeface="微软雅黑" panose="020B0503020204020204" charset="-122"/>
              </a:rPr>
              <a:t>客</a:t>
            </a:r>
            <a:r>
              <a:rPr sz="1400" dirty="0">
                <a:latin typeface="微软雅黑" panose="020B0503020204020204" charset="-122"/>
                <a:ea typeface="微软雅黑" panose="020B0503020204020204" charset="-122"/>
                <a:cs typeface="微软雅黑" panose="020B0503020204020204" charset="-122"/>
              </a:rPr>
              <a:t>户的 价格</a:t>
            </a:r>
            <a:endParaRPr sz="1400">
              <a:latin typeface="微软雅黑" panose="020B0503020204020204" charset="-122"/>
              <a:ea typeface="微软雅黑" panose="020B0503020204020204" charset="-122"/>
              <a:cs typeface="微软雅黑" panose="020B0503020204020204" charset="-122"/>
            </a:endParaRPr>
          </a:p>
        </p:txBody>
      </p:sp>
      <p:sp>
        <p:nvSpPr>
          <p:cNvPr id="12" name="object 12"/>
          <p:cNvSpPr txBox="1"/>
          <p:nvPr/>
        </p:nvSpPr>
        <p:spPr>
          <a:xfrm>
            <a:off x="5591402" y="1834136"/>
            <a:ext cx="3054725" cy="700405"/>
          </a:xfrm>
          <a:prstGeom prst="rect">
            <a:avLst/>
          </a:prstGeom>
        </p:spPr>
        <p:txBody>
          <a:bodyPr vert="horz" wrap="square" lIns="0" tIns="57109" rIns="0" bIns="0" rtlCol="0">
            <a:spAutoFit/>
          </a:bodyPr>
          <a:lstStyle/>
          <a:p>
            <a:pPr marL="204470" indent="-192405">
              <a:lnSpc>
                <a:spcPts val="1675"/>
              </a:lnSpc>
              <a:spcBef>
                <a:spcPts val="450"/>
              </a:spcBef>
              <a:buClr>
                <a:srgbClr val="00295F"/>
              </a:buClr>
              <a:buSzPct val="125000"/>
              <a:buChar char="▪"/>
              <a:tabLst>
                <a:tab pos="204470" algn="l"/>
              </a:tabLst>
            </a:pPr>
            <a:r>
              <a:rPr sz="1400" spc="-5" dirty="0">
                <a:latin typeface="微软雅黑" panose="020B0503020204020204" charset="-122"/>
                <a:ea typeface="微软雅黑" panose="020B0503020204020204" charset="-122"/>
                <a:cs typeface="微软雅黑" panose="020B0503020204020204" charset="-122"/>
              </a:rPr>
              <a:t>1979-1996</a:t>
            </a:r>
            <a:r>
              <a:rPr sz="1400" dirty="0">
                <a:latin typeface="微软雅黑" panose="020B0503020204020204" charset="-122"/>
                <a:ea typeface="微软雅黑" panose="020B0503020204020204" charset="-122"/>
                <a:cs typeface="微软雅黑" panose="020B0503020204020204" charset="-122"/>
              </a:rPr>
              <a:t>间业</a:t>
            </a:r>
            <a:r>
              <a:rPr sz="1400" spc="-10" dirty="0">
                <a:latin typeface="微软雅黑" panose="020B0503020204020204" charset="-122"/>
                <a:ea typeface="微软雅黑" panose="020B0503020204020204" charset="-122"/>
                <a:cs typeface="微软雅黑" panose="020B0503020204020204" charset="-122"/>
              </a:rPr>
              <a:t>绩</a:t>
            </a:r>
            <a:r>
              <a:rPr sz="1400" spc="-5" dirty="0">
                <a:latin typeface="微软雅黑" panose="020B0503020204020204" charset="-122"/>
                <a:ea typeface="微软雅黑" panose="020B0503020204020204" charset="-122"/>
                <a:cs typeface="微软雅黑" panose="020B0503020204020204" charset="-122"/>
              </a:rPr>
              <a:t>比</a:t>
            </a:r>
            <a:r>
              <a:rPr sz="1400" dirty="0">
                <a:latin typeface="微软雅黑" panose="020B0503020204020204" charset="-122"/>
                <a:ea typeface="微软雅黑" panose="020B0503020204020204" charset="-122"/>
                <a:cs typeface="微软雅黑" panose="020B0503020204020204" charset="-122"/>
              </a:rPr>
              <a:t>S&amp;P</a:t>
            </a:r>
            <a:r>
              <a:rPr sz="1400" spc="-90" dirty="0">
                <a:latin typeface="微软雅黑" panose="020B0503020204020204" charset="-122"/>
                <a:ea typeface="微软雅黑" panose="020B0503020204020204" charset="-122"/>
                <a:cs typeface="微软雅黑" panose="020B0503020204020204" charset="-122"/>
              </a:rPr>
              <a:t> </a:t>
            </a:r>
            <a:r>
              <a:rPr sz="1400" dirty="0">
                <a:latin typeface="微软雅黑" panose="020B0503020204020204" charset="-122"/>
                <a:ea typeface="微软雅黑" panose="020B0503020204020204" charset="-122"/>
                <a:cs typeface="微软雅黑" panose="020B0503020204020204" charset="-122"/>
              </a:rPr>
              <a:t>500</a:t>
            </a:r>
            <a:r>
              <a:rPr sz="1400" spc="-40" dirty="0">
                <a:latin typeface="微软雅黑" panose="020B0503020204020204" charset="-122"/>
                <a:ea typeface="微软雅黑" panose="020B0503020204020204" charset="-122"/>
                <a:cs typeface="微软雅黑" panose="020B0503020204020204" charset="-122"/>
              </a:rPr>
              <a:t> </a:t>
            </a:r>
            <a:r>
              <a:rPr sz="1400" dirty="0">
                <a:latin typeface="微软雅黑" panose="020B0503020204020204" charset="-122"/>
                <a:ea typeface="微软雅黑" panose="020B0503020204020204" charset="-122"/>
                <a:cs typeface="微软雅黑" panose="020B0503020204020204" charset="-122"/>
              </a:rPr>
              <a:t>公司超</a:t>
            </a:r>
            <a:endParaRPr sz="1400">
              <a:latin typeface="微软雅黑" panose="020B0503020204020204" charset="-122"/>
              <a:ea typeface="微软雅黑" panose="020B0503020204020204" charset="-122"/>
              <a:cs typeface="微软雅黑" panose="020B0503020204020204" charset="-122"/>
            </a:endParaRPr>
          </a:p>
          <a:p>
            <a:pPr marL="204470">
              <a:lnSpc>
                <a:spcPts val="1675"/>
              </a:lnSpc>
            </a:pPr>
            <a:r>
              <a:rPr sz="1400" spc="-5" dirty="0">
                <a:latin typeface="微软雅黑" panose="020B0503020204020204" charset="-122"/>
                <a:ea typeface="微软雅黑" panose="020B0503020204020204" charset="-122"/>
                <a:cs typeface="微软雅黑" panose="020B0503020204020204" charset="-122"/>
              </a:rPr>
              <a:t>2</a:t>
            </a:r>
            <a:r>
              <a:rPr sz="1400" dirty="0">
                <a:latin typeface="微软雅黑" panose="020B0503020204020204" charset="-122"/>
                <a:ea typeface="微软雅黑" panose="020B0503020204020204" charset="-122"/>
                <a:cs typeface="微软雅黑" panose="020B0503020204020204" charset="-122"/>
              </a:rPr>
              <a:t>倍</a:t>
            </a:r>
            <a:endParaRPr sz="1400">
              <a:latin typeface="微软雅黑" panose="020B0503020204020204" charset="-122"/>
              <a:ea typeface="微软雅黑" panose="020B0503020204020204" charset="-122"/>
              <a:cs typeface="微软雅黑" panose="020B0503020204020204" charset="-122"/>
            </a:endParaRPr>
          </a:p>
        </p:txBody>
      </p:sp>
      <p:sp>
        <p:nvSpPr>
          <p:cNvPr id="13" name="object 13"/>
          <p:cNvSpPr/>
          <p:nvPr/>
        </p:nvSpPr>
        <p:spPr>
          <a:xfrm>
            <a:off x="1708716" y="3699968"/>
            <a:ext cx="712727" cy="604600"/>
          </a:xfrm>
          <a:prstGeom prst="rect">
            <a:avLst/>
          </a:prstGeom>
          <a:blipFill>
            <a:blip r:embed="rId5"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359408" y="3873581"/>
            <a:ext cx="960963" cy="296403"/>
          </a:xfrm>
          <a:prstGeom prst="rect">
            <a:avLst/>
          </a:prstGeom>
          <a:blipFill>
            <a:blip r:embed="rId6"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txBox="1"/>
          <p:nvPr/>
        </p:nvSpPr>
        <p:spPr>
          <a:xfrm>
            <a:off x="2784659" y="3576358"/>
            <a:ext cx="2532490" cy="445135"/>
          </a:xfrm>
          <a:prstGeom prst="rect">
            <a:avLst/>
          </a:prstGeom>
        </p:spPr>
        <p:txBody>
          <a:bodyPr vert="horz" wrap="square" lIns="0" tIns="11421" rIns="0" bIns="0" rtlCol="0">
            <a:spAutoFit/>
          </a:bodyPr>
          <a:lstStyle/>
          <a:p>
            <a:pPr marL="204470" marR="5080" indent="-192405">
              <a:lnSpc>
                <a:spcPct val="101000"/>
              </a:lnSpc>
              <a:spcBef>
                <a:spcPts val="90"/>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通过新喷涂技术改善了</a:t>
            </a:r>
            <a:r>
              <a:rPr sz="1400" spc="-15" dirty="0">
                <a:latin typeface="微软雅黑" panose="020B0503020204020204" charset="-122"/>
                <a:ea typeface="微软雅黑" panose="020B0503020204020204" charset="-122"/>
                <a:cs typeface="微软雅黑" panose="020B0503020204020204" charset="-122"/>
              </a:rPr>
              <a:t>汽</a:t>
            </a:r>
            <a:r>
              <a:rPr sz="1400" dirty="0">
                <a:latin typeface="微软雅黑" panose="020B0503020204020204" charset="-122"/>
                <a:ea typeface="微软雅黑" panose="020B0503020204020204" charset="-122"/>
                <a:cs typeface="微软雅黑" panose="020B0503020204020204" charset="-122"/>
              </a:rPr>
              <a:t>车喷 漆性能</a:t>
            </a:r>
            <a:endParaRPr sz="1400">
              <a:latin typeface="微软雅黑" panose="020B0503020204020204" charset="-122"/>
              <a:ea typeface="微软雅黑" panose="020B0503020204020204" charset="-122"/>
              <a:cs typeface="微软雅黑" panose="020B0503020204020204" charset="-122"/>
            </a:endParaRPr>
          </a:p>
        </p:txBody>
      </p:sp>
      <p:sp>
        <p:nvSpPr>
          <p:cNvPr id="16" name="object 16"/>
          <p:cNvSpPr txBox="1"/>
          <p:nvPr/>
        </p:nvSpPr>
        <p:spPr>
          <a:xfrm>
            <a:off x="5591402" y="3577881"/>
            <a:ext cx="2986194" cy="443230"/>
          </a:xfrm>
          <a:prstGeom prst="rect">
            <a:avLst/>
          </a:prstGeom>
        </p:spPr>
        <p:txBody>
          <a:bodyPr vert="horz" wrap="square" lIns="0" tIns="12691" rIns="0" bIns="0" rtlCol="0">
            <a:spAutoFit/>
          </a:bodyPr>
          <a:lstStyle/>
          <a:p>
            <a:pPr marL="204470" indent="-192405">
              <a:lnSpc>
                <a:spcPct val="100000"/>
              </a:lnSpc>
              <a:spcBef>
                <a:spcPts val="100"/>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利润提高 </a:t>
            </a:r>
            <a:r>
              <a:rPr sz="1400" spc="-5" dirty="0">
                <a:latin typeface="微软雅黑" panose="020B0503020204020204" charset="-122"/>
                <a:ea typeface="微软雅黑" panose="020B0503020204020204" charset="-122"/>
                <a:cs typeface="微软雅黑" panose="020B0503020204020204" charset="-122"/>
              </a:rPr>
              <a:t>20%</a:t>
            </a:r>
            <a:r>
              <a:rPr sz="1400" spc="-20" dirty="0">
                <a:latin typeface="微软雅黑" panose="020B0503020204020204" charset="-122"/>
                <a:ea typeface="微软雅黑" panose="020B0503020204020204" charset="-122"/>
                <a:cs typeface="微软雅黑" panose="020B0503020204020204" charset="-122"/>
              </a:rPr>
              <a:t> </a:t>
            </a:r>
            <a:r>
              <a:rPr sz="1400" dirty="0">
                <a:latin typeface="微软雅黑" panose="020B0503020204020204" charset="-122"/>
                <a:ea typeface="微软雅黑" panose="020B0503020204020204" charset="-122"/>
                <a:cs typeface="微软雅黑" panose="020B0503020204020204" charset="-122"/>
              </a:rPr>
              <a:t>，相对于市场增长的</a:t>
            </a:r>
            <a:endParaRPr sz="1400">
              <a:latin typeface="微软雅黑" panose="020B0503020204020204" charset="-122"/>
              <a:ea typeface="微软雅黑" panose="020B0503020204020204" charset="-122"/>
              <a:cs typeface="微软雅黑" panose="020B0503020204020204" charset="-122"/>
            </a:endParaRPr>
          </a:p>
          <a:p>
            <a:pPr marL="204470">
              <a:lnSpc>
                <a:spcPct val="100000"/>
              </a:lnSpc>
              <a:spcBef>
                <a:spcPts val="5"/>
              </a:spcBef>
            </a:pPr>
            <a:r>
              <a:rPr sz="1400" spc="-5" dirty="0">
                <a:latin typeface="微软雅黑" panose="020B0503020204020204" charset="-122"/>
                <a:ea typeface="微软雅黑" panose="020B0503020204020204" charset="-122"/>
                <a:cs typeface="微软雅黑" panose="020B0503020204020204" charset="-122"/>
              </a:rPr>
              <a:t>2</a:t>
            </a:r>
            <a:r>
              <a:rPr sz="1400" dirty="0">
                <a:latin typeface="微软雅黑" panose="020B0503020204020204" charset="-122"/>
                <a:ea typeface="微软雅黑" panose="020B0503020204020204" charset="-122"/>
                <a:cs typeface="微软雅黑" panose="020B0503020204020204" charset="-122"/>
              </a:rPr>
              <a:t>倍</a:t>
            </a:r>
            <a:endParaRPr sz="1400">
              <a:latin typeface="微软雅黑" panose="020B0503020204020204" charset="-122"/>
              <a:ea typeface="微软雅黑" panose="020B0503020204020204" charset="-122"/>
              <a:cs typeface="微软雅黑" panose="020B0503020204020204" charset="-122"/>
            </a:endParaRPr>
          </a:p>
        </p:txBody>
      </p:sp>
      <p:sp>
        <p:nvSpPr>
          <p:cNvPr id="17" name="object 17"/>
          <p:cNvSpPr/>
          <p:nvPr/>
        </p:nvSpPr>
        <p:spPr>
          <a:xfrm>
            <a:off x="1609726" y="1213039"/>
            <a:ext cx="907661" cy="475151"/>
          </a:xfrm>
          <a:prstGeom prst="rect">
            <a:avLst/>
          </a:prstGeom>
          <a:blipFill>
            <a:blip r:embed="rId7"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p:nvPr/>
        </p:nvSpPr>
        <p:spPr>
          <a:xfrm>
            <a:off x="264987" y="1627273"/>
            <a:ext cx="1151328" cy="130970"/>
          </a:xfrm>
          <a:prstGeom prst="rect">
            <a:avLst/>
          </a:prstGeom>
          <a:blipFill>
            <a:blip r:embed="rId8"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p:nvPr/>
        </p:nvSpPr>
        <p:spPr>
          <a:xfrm>
            <a:off x="606121" y="1209993"/>
            <a:ext cx="488858" cy="382253"/>
          </a:xfrm>
          <a:prstGeom prst="rect">
            <a:avLst/>
          </a:prstGeom>
          <a:blipFill>
            <a:blip r:embed="rId9"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txBox="1"/>
          <p:nvPr/>
        </p:nvSpPr>
        <p:spPr>
          <a:xfrm>
            <a:off x="2784659" y="1023435"/>
            <a:ext cx="2532490" cy="445135"/>
          </a:xfrm>
          <a:prstGeom prst="rect">
            <a:avLst/>
          </a:prstGeom>
        </p:spPr>
        <p:txBody>
          <a:bodyPr vert="horz" wrap="square" lIns="0" tIns="11421" rIns="0" bIns="0" rtlCol="0">
            <a:spAutoFit/>
          </a:bodyPr>
          <a:lstStyle/>
          <a:p>
            <a:pPr marL="204470" marR="5080" indent="-192405">
              <a:lnSpc>
                <a:spcPct val="101000"/>
              </a:lnSpc>
              <a:spcBef>
                <a:spcPts val="90"/>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锻造车轮为卡车车队所</a:t>
            </a:r>
            <a:r>
              <a:rPr sz="1400" spc="-15" dirty="0">
                <a:latin typeface="微软雅黑" panose="020B0503020204020204" charset="-122"/>
                <a:ea typeface="微软雅黑" panose="020B0503020204020204" charset="-122"/>
                <a:cs typeface="微软雅黑" panose="020B0503020204020204" charset="-122"/>
              </a:rPr>
              <a:t>有</a:t>
            </a:r>
            <a:r>
              <a:rPr sz="1400" dirty="0">
                <a:latin typeface="微软雅黑" panose="020B0503020204020204" charset="-122"/>
                <a:ea typeface="微软雅黑" panose="020B0503020204020204" charset="-122"/>
                <a:cs typeface="微软雅黑" panose="020B0503020204020204" charset="-122"/>
              </a:rPr>
              <a:t>者节 约了总持有成本</a:t>
            </a:r>
            <a:endParaRPr sz="1400">
              <a:latin typeface="微软雅黑" panose="020B0503020204020204" charset="-122"/>
              <a:ea typeface="微软雅黑" panose="020B0503020204020204" charset="-122"/>
              <a:cs typeface="微软雅黑" panose="020B0503020204020204" charset="-122"/>
            </a:endParaRPr>
          </a:p>
        </p:txBody>
      </p:sp>
      <p:sp>
        <p:nvSpPr>
          <p:cNvPr id="21" name="object 21"/>
          <p:cNvSpPr txBox="1"/>
          <p:nvPr/>
        </p:nvSpPr>
        <p:spPr>
          <a:xfrm>
            <a:off x="5591402" y="1024958"/>
            <a:ext cx="1682827" cy="658495"/>
          </a:xfrm>
          <a:prstGeom prst="rect">
            <a:avLst/>
          </a:prstGeom>
        </p:spPr>
        <p:txBody>
          <a:bodyPr vert="horz" wrap="square" lIns="0" tIns="13325" rIns="0" bIns="0" rtlCol="0">
            <a:spAutoFit/>
          </a:bodyPr>
          <a:lstStyle/>
          <a:p>
            <a:pPr marL="204470" indent="-192405">
              <a:lnSpc>
                <a:spcPct val="100000"/>
              </a:lnSpc>
              <a:spcBef>
                <a:spcPts val="105"/>
              </a:spcBef>
              <a:buClr>
                <a:srgbClr val="00295F"/>
              </a:buClr>
              <a:buSzPct val="125000"/>
              <a:buChar char="▪"/>
              <a:tabLst>
                <a:tab pos="204470" algn="l"/>
              </a:tabLst>
            </a:pPr>
            <a:r>
              <a:rPr sz="1400" dirty="0">
                <a:latin typeface="微软雅黑" panose="020B0503020204020204" charset="-122"/>
                <a:ea typeface="微软雅黑" panose="020B0503020204020204" charset="-122"/>
                <a:cs typeface="微软雅黑" panose="020B0503020204020204" charset="-122"/>
              </a:rPr>
              <a:t>EBIT提升</a:t>
            </a:r>
            <a:r>
              <a:rPr sz="1400" spc="-5" dirty="0">
                <a:latin typeface="微软雅黑" panose="020B0503020204020204" charset="-122"/>
                <a:ea typeface="微软雅黑" panose="020B0503020204020204" charset="-122"/>
                <a:cs typeface="微软雅黑" panose="020B0503020204020204" charset="-122"/>
              </a:rPr>
              <a:t>10%</a:t>
            </a:r>
            <a:r>
              <a:rPr sz="1400" dirty="0">
                <a:latin typeface="微软雅黑" panose="020B0503020204020204" charset="-122"/>
                <a:ea typeface="微软雅黑" panose="020B0503020204020204" charset="-122"/>
                <a:cs typeface="微软雅黑" panose="020B0503020204020204" charset="-122"/>
              </a:rPr>
              <a:t>以上</a:t>
            </a:r>
            <a:endParaRPr sz="1400">
              <a:latin typeface="微软雅黑" panose="020B0503020204020204" charset="-122"/>
              <a:ea typeface="微软雅黑" panose="020B0503020204020204" charset="-122"/>
              <a:cs typeface="微软雅黑" panose="020B0503020204020204" charset="-122"/>
            </a:endParaRPr>
          </a:p>
          <a:p>
            <a:pPr marL="204470" indent="-192405">
              <a:lnSpc>
                <a:spcPct val="100000"/>
              </a:lnSpc>
              <a:buClr>
                <a:srgbClr val="00295F"/>
              </a:buClr>
              <a:buSzPct val="125000"/>
              <a:buChar char="▪"/>
              <a:tabLst>
                <a:tab pos="204470" algn="l"/>
              </a:tabLst>
            </a:pPr>
            <a:r>
              <a:rPr sz="1400" spc="-5" dirty="0">
                <a:latin typeface="微软雅黑" panose="020B0503020204020204" charset="-122"/>
                <a:ea typeface="微软雅黑" panose="020B0503020204020204" charset="-122"/>
                <a:cs typeface="微软雅黑" panose="020B0503020204020204" charset="-122"/>
              </a:rPr>
              <a:t>3</a:t>
            </a:r>
            <a:r>
              <a:rPr sz="1400" dirty="0">
                <a:latin typeface="微软雅黑" panose="020B0503020204020204" charset="-122"/>
                <a:ea typeface="微软雅黑" panose="020B0503020204020204" charset="-122"/>
                <a:cs typeface="微软雅黑" panose="020B0503020204020204" charset="-122"/>
              </a:rPr>
              <a:t>年销售翻倍</a:t>
            </a:r>
            <a:endParaRPr sz="1400">
              <a:latin typeface="微软雅黑" panose="020B0503020204020204" charset="-122"/>
              <a:ea typeface="微软雅黑" panose="020B0503020204020204" charset="-122"/>
              <a:cs typeface="微软雅黑" panose="020B0503020204020204" charset="-122"/>
            </a:endParaRPr>
          </a:p>
        </p:txBody>
      </p:sp>
      <p:sp>
        <p:nvSpPr>
          <p:cNvPr id="22" name="object 22"/>
          <p:cNvSpPr/>
          <p:nvPr/>
        </p:nvSpPr>
        <p:spPr>
          <a:xfrm>
            <a:off x="1612773" y="4641133"/>
            <a:ext cx="903092" cy="170566"/>
          </a:xfrm>
          <a:prstGeom prst="rect">
            <a:avLst/>
          </a:prstGeom>
          <a:blipFill>
            <a:blip r:embed="rId10"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p:nvPr/>
        </p:nvSpPr>
        <p:spPr>
          <a:xfrm>
            <a:off x="1612773" y="4889369"/>
            <a:ext cx="903092" cy="164475"/>
          </a:xfrm>
          <a:prstGeom prst="rect">
            <a:avLst/>
          </a:prstGeom>
          <a:blipFill>
            <a:blip r:embed="rId1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txBox="1"/>
          <p:nvPr/>
        </p:nvSpPr>
        <p:spPr>
          <a:xfrm>
            <a:off x="2784659" y="4426782"/>
            <a:ext cx="2532490" cy="445135"/>
          </a:xfrm>
          <a:prstGeom prst="rect">
            <a:avLst/>
          </a:prstGeom>
        </p:spPr>
        <p:txBody>
          <a:bodyPr vert="horz" wrap="square" lIns="0" tIns="11421" rIns="0" bIns="0" rtlCol="0">
            <a:spAutoFit/>
          </a:bodyPr>
          <a:lstStyle/>
          <a:p>
            <a:pPr marL="204470" marR="5080" indent="-192405">
              <a:lnSpc>
                <a:spcPct val="101000"/>
              </a:lnSpc>
              <a:spcBef>
                <a:spcPts val="90"/>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钢铁产品和应用为客户</a:t>
            </a:r>
            <a:r>
              <a:rPr sz="1400" spc="-15" dirty="0">
                <a:latin typeface="微软雅黑" panose="020B0503020204020204" charset="-122"/>
                <a:ea typeface="微软雅黑" panose="020B0503020204020204" charset="-122"/>
                <a:cs typeface="微软雅黑" panose="020B0503020204020204" charset="-122"/>
              </a:rPr>
              <a:t>降</a:t>
            </a:r>
            <a:r>
              <a:rPr sz="1400" dirty="0">
                <a:latin typeface="微软雅黑" panose="020B0503020204020204" charset="-122"/>
                <a:ea typeface="微软雅黑" panose="020B0503020204020204" charset="-122"/>
                <a:cs typeface="微软雅黑" panose="020B0503020204020204" charset="-122"/>
              </a:rPr>
              <a:t>低了 系统成本</a:t>
            </a:r>
            <a:endParaRPr sz="1400">
              <a:latin typeface="微软雅黑" panose="020B0503020204020204" charset="-122"/>
              <a:ea typeface="微软雅黑" panose="020B0503020204020204" charset="-122"/>
              <a:cs typeface="微软雅黑" panose="020B0503020204020204" charset="-122"/>
            </a:endParaRPr>
          </a:p>
        </p:txBody>
      </p:sp>
      <p:sp>
        <p:nvSpPr>
          <p:cNvPr id="25" name="object 25"/>
          <p:cNvSpPr txBox="1"/>
          <p:nvPr/>
        </p:nvSpPr>
        <p:spPr>
          <a:xfrm>
            <a:off x="5591402" y="4384140"/>
            <a:ext cx="2986194" cy="487045"/>
          </a:xfrm>
          <a:prstGeom prst="rect">
            <a:avLst/>
          </a:prstGeom>
        </p:spPr>
        <p:txBody>
          <a:bodyPr vert="horz" wrap="square" lIns="0" tIns="57109" rIns="0" bIns="0" rtlCol="0">
            <a:spAutoFit/>
          </a:bodyPr>
          <a:lstStyle/>
          <a:p>
            <a:pPr marL="204470" indent="-192405">
              <a:lnSpc>
                <a:spcPct val="100000"/>
              </a:lnSpc>
              <a:spcBef>
                <a:spcPts val="450"/>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年增长</a:t>
            </a:r>
            <a:r>
              <a:rPr sz="1400" spc="15" dirty="0">
                <a:latin typeface="微软雅黑" panose="020B0503020204020204" charset="-122"/>
                <a:ea typeface="微软雅黑" panose="020B0503020204020204" charset="-122"/>
                <a:cs typeface="微软雅黑" panose="020B0503020204020204" charset="-122"/>
              </a:rPr>
              <a:t> </a:t>
            </a:r>
            <a:r>
              <a:rPr sz="1400" spc="-5" dirty="0">
                <a:latin typeface="微软雅黑" panose="020B0503020204020204" charset="-122"/>
                <a:ea typeface="微软雅黑" panose="020B0503020204020204" charset="-122"/>
                <a:cs typeface="微软雅黑" panose="020B0503020204020204" charset="-122"/>
              </a:rPr>
              <a:t>10%</a:t>
            </a:r>
            <a:r>
              <a:rPr sz="1400" spc="-15" dirty="0">
                <a:latin typeface="微软雅黑" panose="020B0503020204020204" charset="-122"/>
                <a:ea typeface="微软雅黑" panose="020B0503020204020204" charset="-122"/>
                <a:cs typeface="微软雅黑" panose="020B0503020204020204" charset="-122"/>
              </a:rPr>
              <a:t> </a:t>
            </a:r>
            <a:r>
              <a:rPr sz="1400" dirty="0">
                <a:latin typeface="微软雅黑" panose="020B0503020204020204" charset="-122"/>
                <a:ea typeface="微软雅黑" panose="020B0503020204020204" charset="-122"/>
                <a:cs typeface="微软雅黑" panose="020B0503020204020204" charset="-122"/>
              </a:rPr>
              <a:t>，溢价率</a:t>
            </a:r>
            <a:r>
              <a:rPr sz="1400" spc="-10" dirty="0">
                <a:latin typeface="微软雅黑" panose="020B0503020204020204" charset="-122"/>
                <a:ea typeface="微软雅黑" panose="020B0503020204020204" charset="-122"/>
                <a:cs typeface="微软雅黑" panose="020B0503020204020204" charset="-122"/>
              </a:rPr>
              <a:t>为</a:t>
            </a:r>
            <a:r>
              <a:rPr sz="1400" spc="-5" dirty="0">
                <a:latin typeface="微软雅黑" panose="020B0503020204020204" charset="-122"/>
                <a:ea typeface="微软雅黑" panose="020B0503020204020204" charset="-122"/>
                <a:cs typeface="微软雅黑" panose="020B0503020204020204" charset="-122"/>
              </a:rPr>
              <a:t>5-10%</a:t>
            </a:r>
            <a:endParaRPr sz="1400">
              <a:latin typeface="微软雅黑" panose="020B0503020204020204" charset="-122"/>
              <a:ea typeface="微软雅黑" panose="020B0503020204020204" charset="-122"/>
              <a:cs typeface="微软雅黑" panose="020B0503020204020204" charset="-122"/>
            </a:endParaRPr>
          </a:p>
          <a:p>
            <a:pPr marL="204470" indent="-192405">
              <a:lnSpc>
                <a:spcPct val="100000"/>
              </a:lnSpc>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与竞争对手相比，是市</a:t>
            </a:r>
            <a:r>
              <a:rPr sz="1400" spc="-15" dirty="0">
                <a:latin typeface="微软雅黑" panose="020B0503020204020204" charset="-122"/>
                <a:ea typeface="微软雅黑" panose="020B0503020204020204" charset="-122"/>
                <a:cs typeface="微软雅黑" panose="020B0503020204020204" charset="-122"/>
              </a:rPr>
              <a:t>场</a:t>
            </a:r>
            <a:r>
              <a:rPr sz="1400" dirty="0">
                <a:latin typeface="微软雅黑" panose="020B0503020204020204" charset="-122"/>
                <a:ea typeface="微软雅黑" panose="020B0503020204020204" charset="-122"/>
                <a:cs typeface="微软雅黑" panose="020B0503020204020204" charset="-122"/>
              </a:rPr>
              <a:t>增长</a:t>
            </a:r>
            <a:r>
              <a:rPr sz="1400" spc="-10" dirty="0">
                <a:latin typeface="微软雅黑" panose="020B0503020204020204" charset="-122"/>
                <a:ea typeface="微软雅黑" panose="020B0503020204020204" charset="-122"/>
                <a:cs typeface="微软雅黑" panose="020B0503020204020204" charset="-122"/>
              </a:rPr>
              <a:t>的</a:t>
            </a:r>
            <a:r>
              <a:rPr sz="1400" spc="-5" dirty="0">
                <a:latin typeface="微软雅黑" panose="020B0503020204020204" charset="-122"/>
                <a:ea typeface="微软雅黑" panose="020B0503020204020204" charset="-122"/>
                <a:cs typeface="微软雅黑" panose="020B0503020204020204" charset="-122"/>
              </a:rPr>
              <a:t>2</a:t>
            </a:r>
            <a:r>
              <a:rPr sz="1400" dirty="0">
                <a:latin typeface="微软雅黑" panose="020B0503020204020204" charset="-122"/>
                <a:ea typeface="微软雅黑" panose="020B0503020204020204" charset="-122"/>
                <a:cs typeface="微软雅黑" panose="020B0503020204020204" charset="-122"/>
              </a:rPr>
              <a:t>倍</a:t>
            </a:r>
            <a:endParaRPr sz="1400">
              <a:latin typeface="微软雅黑" panose="020B0503020204020204" charset="-122"/>
              <a:ea typeface="微软雅黑" panose="020B0503020204020204" charset="-122"/>
              <a:cs typeface="微软雅黑" panose="020B0503020204020204" charset="-122"/>
            </a:endParaRPr>
          </a:p>
        </p:txBody>
      </p:sp>
      <p:sp>
        <p:nvSpPr>
          <p:cNvPr id="26" name="object 26"/>
          <p:cNvSpPr/>
          <p:nvPr/>
        </p:nvSpPr>
        <p:spPr>
          <a:xfrm>
            <a:off x="1730038" y="5394979"/>
            <a:ext cx="667039" cy="647241"/>
          </a:xfrm>
          <a:prstGeom prst="rect">
            <a:avLst/>
          </a:prstGeom>
          <a:blipFill>
            <a:blip r:embed="rId12"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27" name="object 27"/>
          <p:cNvSpPr/>
          <p:nvPr/>
        </p:nvSpPr>
        <p:spPr>
          <a:xfrm>
            <a:off x="264987" y="5541178"/>
            <a:ext cx="1151328" cy="490380"/>
          </a:xfrm>
          <a:prstGeom prst="rect">
            <a:avLst/>
          </a:prstGeom>
          <a:blipFill>
            <a:blip r:embed="rId13"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txBox="1"/>
          <p:nvPr/>
        </p:nvSpPr>
        <p:spPr>
          <a:xfrm>
            <a:off x="5591402" y="5278729"/>
            <a:ext cx="2272325" cy="443230"/>
          </a:xfrm>
          <a:prstGeom prst="rect">
            <a:avLst/>
          </a:prstGeom>
        </p:spPr>
        <p:txBody>
          <a:bodyPr vert="horz" wrap="square" lIns="0" tIns="12691" rIns="0" bIns="0" rtlCol="0">
            <a:spAutoFit/>
          </a:bodyPr>
          <a:lstStyle/>
          <a:p>
            <a:pPr marL="204470" indent="-192405">
              <a:lnSpc>
                <a:spcPct val="100000"/>
              </a:lnSpc>
              <a:spcBef>
                <a:spcPts val="100"/>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过去</a:t>
            </a:r>
            <a:r>
              <a:rPr sz="1400" spc="-5" dirty="0">
                <a:latin typeface="微软雅黑" panose="020B0503020204020204" charset="-122"/>
                <a:ea typeface="微软雅黑" panose="020B0503020204020204" charset="-122"/>
                <a:cs typeface="微软雅黑" panose="020B0503020204020204" charset="-122"/>
              </a:rPr>
              <a:t>7</a:t>
            </a:r>
            <a:r>
              <a:rPr sz="1400" dirty="0">
                <a:latin typeface="微软雅黑" panose="020B0503020204020204" charset="-122"/>
                <a:ea typeface="微软雅黑" panose="020B0503020204020204" charset="-122"/>
                <a:cs typeface="微软雅黑" panose="020B0503020204020204" charset="-122"/>
              </a:rPr>
              <a:t>年收入增长</a:t>
            </a:r>
            <a:r>
              <a:rPr sz="1400" spc="-20" dirty="0">
                <a:latin typeface="微软雅黑" panose="020B0503020204020204" charset="-122"/>
                <a:ea typeface="微软雅黑" panose="020B0503020204020204" charset="-122"/>
                <a:cs typeface="微软雅黑" panose="020B0503020204020204" charset="-122"/>
              </a:rPr>
              <a:t> </a:t>
            </a:r>
            <a:r>
              <a:rPr sz="1400" dirty="0">
                <a:latin typeface="微软雅黑" panose="020B0503020204020204" charset="-122"/>
                <a:ea typeface="微软雅黑" panose="020B0503020204020204" charset="-122"/>
                <a:cs typeface="微软雅黑" panose="020B0503020204020204" charset="-122"/>
              </a:rPr>
              <a:t>9%</a:t>
            </a:r>
            <a:r>
              <a:rPr sz="1400" spc="-35" dirty="0">
                <a:latin typeface="微软雅黑" panose="020B0503020204020204" charset="-122"/>
                <a:ea typeface="微软雅黑" panose="020B0503020204020204" charset="-122"/>
                <a:cs typeface="微软雅黑" panose="020B0503020204020204" charset="-122"/>
              </a:rPr>
              <a:t> </a:t>
            </a:r>
            <a:r>
              <a:rPr sz="1400" dirty="0">
                <a:latin typeface="微软雅黑" panose="020B0503020204020204" charset="-122"/>
                <a:ea typeface="微软雅黑" panose="020B0503020204020204" charset="-122"/>
                <a:cs typeface="微软雅黑" panose="020B0503020204020204" charset="-122"/>
              </a:rPr>
              <a:t>收入</a:t>
            </a:r>
            <a:endParaRPr sz="1400">
              <a:latin typeface="微软雅黑" panose="020B0503020204020204" charset="-122"/>
              <a:ea typeface="微软雅黑" panose="020B0503020204020204" charset="-122"/>
              <a:cs typeface="微软雅黑" panose="020B0503020204020204" charset="-122"/>
            </a:endParaRPr>
          </a:p>
          <a:p>
            <a:pPr marL="204470" indent="-192405">
              <a:lnSpc>
                <a:spcPct val="100000"/>
              </a:lnSpc>
              <a:spcBef>
                <a:spcPts val="5"/>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市场份额领先者</a:t>
            </a:r>
            <a:endParaRPr sz="1400">
              <a:latin typeface="微软雅黑" panose="020B0503020204020204" charset="-122"/>
              <a:ea typeface="微软雅黑" panose="020B0503020204020204" charset="-122"/>
              <a:cs typeface="微软雅黑" panose="020B0503020204020204" charset="-122"/>
            </a:endParaRPr>
          </a:p>
        </p:txBody>
      </p:sp>
      <p:sp>
        <p:nvSpPr>
          <p:cNvPr id="29" name="object 29"/>
          <p:cNvSpPr txBox="1"/>
          <p:nvPr/>
        </p:nvSpPr>
        <p:spPr>
          <a:xfrm>
            <a:off x="2784659" y="5277206"/>
            <a:ext cx="2532490" cy="444500"/>
          </a:xfrm>
          <a:prstGeom prst="rect">
            <a:avLst/>
          </a:prstGeom>
        </p:spPr>
        <p:txBody>
          <a:bodyPr vert="horz" wrap="square" lIns="0" tIns="10787" rIns="0" bIns="0" rtlCol="0">
            <a:spAutoFit/>
          </a:bodyPr>
          <a:lstStyle/>
          <a:p>
            <a:pPr marL="204470" marR="5080" indent="-192405">
              <a:lnSpc>
                <a:spcPct val="101000"/>
              </a:lnSpc>
              <a:spcBef>
                <a:spcPts val="85"/>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铁矿石粒主要设计目的</a:t>
            </a:r>
            <a:r>
              <a:rPr sz="1400" spc="-15" dirty="0">
                <a:latin typeface="微软雅黑" panose="020B0503020204020204" charset="-122"/>
                <a:ea typeface="微软雅黑" panose="020B0503020204020204" charset="-122"/>
                <a:cs typeface="微软雅黑" panose="020B0503020204020204" charset="-122"/>
              </a:rPr>
              <a:t>是</a:t>
            </a:r>
            <a:r>
              <a:rPr sz="1400" dirty="0">
                <a:latin typeface="微软雅黑" panose="020B0503020204020204" charset="-122"/>
                <a:ea typeface="微软雅黑" panose="020B0503020204020204" charset="-122"/>
                <a:cs typeface="微软雅黑" panose="020B0503020204020204" charset="-122"/>
              </a:rPr>
              <a:t>优化 高炉运营</a:t>
            </a:r>
            <a:endParaRPr sz="1400">
              <a:latin typeface="微软雅黑" panose="020B0503020204020204" charset="-122"/>
              <a:ea typeface="微软雅黑" panose="020B0503020204020204" charset="-122"/>
              <a:cs typeface="微软雅黑" panose="020B0503020204020204" charset="-122"/>
            </a:endParaRPr>
          </a:p>
        </p:txBody>
      </p:sp>
      <p:sp>
        <p:nvSpPr>
          <p:cNvPr id="30" name="object 30"/>
          <p:cNvSpPr/>
          <p:nvPr/>
        </p:nvSpPr>
        <p:spPr>
          <a:xfrm>
            <a:off x="2794558" y="984601"/>
            <a:ext cx="5992693" cy="0"/>
          </a:xfrm>
          <a:custGeom>
            <a:avLst/>
            <a:gdLst/>
            <a:ahLst/>
            <a:cxnLst/>
            <a:rect l="l" t="t" r="r" b="b"/>
            <a:pathLst>
              <a:path w="5996940">
                <a:moveTo>
                  <a:pt x="0" y="0"/>
                </a:moveTo>
                <a:lnTo>
                  <a:pt x="5996940" y="0"/>
                </a:lnTo>
              </a:path>
            </a:pathLst>
          </a:custGeom>
          <a:ln w="952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1" name="object 31"/>
          <p:cNvSpPr/>
          <p:nvPr/>
        </p:nvSpPr>
        <p:spPr>
          <a:xfrm>
            <a:off x="457536" y="4714110"/>
            <a:ext cx="204959" cy="277298"/>
          </a:xfrm>
          <a:custGeom>
            <a:avLst/>
            <a:gdLst/>
            <a:ahLst/>
            <a:cxnLst/>
            <a:rect l="l" t="t" r="r" b="b"/>
            <a:pathLst>
              <a:path w="205104" h="277495">
                <a:moveTo>
                  <a:pt x="16084" y="227367"/>
                </a:moveTo>
                <a:lnTo>
                  <a:pt x="8391" y="227367"/>
                </a:lnTo>
                <a:lnTo>
                  <a:pt x="4194" y="231565"/>
                </a:lnTo>
                <a:lnTo>
                  <a:pt x="2797" y="237862"/>
                </a:lnTo>
                <a:lnTo>
                  <a:pt x="0" y="253251"/>
                </a:lnTo>
                <a:lnTo>
                  <a:pt x="0" y="261647"/>
                </a:lnTo>
                <a:lnTo>
                  <a:pt x="3495" y="265843"/>
                </a:lnTo>
                <a:lnTo>
                  <a:pt x="9791" y="267243"/>
                </a:lnTo>
                <a:lnTo>
                  <a:pt x="23582" y="271134"/>
                </a:lnTo>
                <a:lnTo>
                  <a:pt x="38816" y="274238"/>
                </a:lnTo>
                <a:lnTo>
                  <a:pt x="54050" y="276293"/>
                </a:lnTo>
                <a:lnTo>
                  <a:pt x="67841" y="277037"/>
                </a:lnTo>
                <a:lnTo>
                  <a:pt x="79731" y="277037"/>
                </a:lnTo>
                <a:lnTo>
                  <a:pt x="123784" y="271276"/>
                </a:lnTo>
                <a:lnTo>
                  <a:pt x="157278" y="254563"/>
                </a:lnTo>
                <a:lnTo>
                  <a:pt x="169434" y="239259"/>
                </a:lnTo>
                <a:lnTo>
                  <a:pt x="74836" y="239259"/>
                </a:lnTo>
                <a:lnTo>
                  <a:pt x="60760" y="238396"/>
                </a:lnTo>
                <a:lnTo>
                  <a:pt x="45636" y="236024"/>
                </a:lnTo>
                <a:lnTo>
                  <a:pt x="30773" y="232471"/>
                </a:lnTo>
                <a:lnTo>
                  <a:pt x="17484" y="228066"/>
                </a:lnTo>
                <a:lnTo>
                  <a:pt x="16084" y="227367"/>
                </a:lnTo>
                <a:close/>
              </a:path>
              <a:path w="205104" h="277495">
                <a:moveTo>
                  <a:pt x="141981" y="0"/>
                </a:moveTo>
                <a:lnTo>
                  <a:pt x="91786" y="5095"/>
                </a:lnTo>
                <a:lnTo>
                  <a:pt x="34937" y="45461"/>
                </a:lnTo>
                <a:lnTo>
                  <a:pt x="26577" y="80465"/>
                </a:lnTo>
                <a:lnTo>
                  <a:pt x="30937" y="104302"/>
                </a:lnTo>
                <a:lnTo>
                  <a:pt x="42051" y="122693"/>
                </a:lnTo>
                <a:lnTo>
                  <a:pt x="56968" y="136232"/>
                </a:lnTo>
                <a:lnTo>
                  <a:pt x="72737" y="145513"/>
                </a:lnTo>
                <a:lnTo>
                  <a:pt x="104212" y="159514"/>
                </a:lnTo>
                <a:lnTo>
                  <a:pt x="117316" y="165591"/>
                </a:lnTo>
                <a:lnTo>
                  <a:pt x="127730" y="172977"/>
                </a:lnTo>
                <a:lnTo>
                  <a:pt x="134604" y="182724"/>
                </a:lnTo>
                <a:lnTo>
                  <a:pt x="137085" y="195886"/>
                </a:lnTo>
                <a:lnTo>
                  <a:pt x="133009" y="214764"/>
                </a:lnTo>
                <a:lnTo>
                  <a:pt x="121785" y="228329"/>
                </a:lnTo>
                <a:lnTo>
                  <a:pt x="104922" y="236516"/>
                </a:lnTo>
                <a:lnTo>
                  <a:pt x="83928" y="239259"/>
                </a:lnTo>
                <a:lnTo>
                  <a:pt x="169434" y="239259"/>
                </a:lnTo>
                <a:lnTo>
                  <a:pt x="178577" y="227750"/>
                </a:lnTo>
                <a:lnTo>
                  <a:pt x="186040" y="191688"/>
                </a:lnTo>
                <a:lnTo>
                  <a:pt x="181900" y="166416"/>
                </a:lnTo>
                <a:lnTo>
                  <a:pt x="170745" y="147442"/>
                </a:lnTo>
                <a:lnTo>
                  <a:pt x="154474" y="133451"/>
                </a:lnTo>
                <a:lnTo>
                  <a:pt x="134987" y="123130"/>
                </a:lnTo>
                <a:lnTo>
                  <a:pt x="101415" y="108444"/>
                </a:lnTo>
                <a:lnTo>
                  <a:pt x="91361" y="103323"/>
                </a:lnTo>
                <a:lnTo>
                  <a:pt x="82880" y="96892"/>
                </a:lnTo>
                <a:lnTo>
                  <a:pt x="77021" y="88363"/>
                </a:lnTo>
                <a:lnTo>
                  <a:pt x="74835" y="76947"/>
                </a:lnTo>
                <a:lnTo>
                  <a:pt x="79021" y="59621"/>
                </a:lnTo>
                <a:lnTo>
                  <a:pt x="90485" y="47401"/>
                </a:lnTo>
                <a:lnTo>
                  <a:pt x="107588" y="40162"/>
                </a:lnTo>
                <a:lnTo>
                  <a:pt x="128691" y="37777"/>
                </a:lnTo>
                <a:lnTo>
                  <a:pt x="201985" y="37777"/>
                </a:lnTo>
                <a:lnTo>
                  <a:pt x="202139" y="37092"/>
                </a:lnTo>
                <a:lnTo>
                  <a:pt x="204925" y="23091"/>
                </a:lnTo>
                <a:lnTo>
                  <a:pt x="204925" y="14685"/>
                </a:lnTo>
                <a:lnTo>
                  <a:pt x="201431" y="11191"/>
                </a:lnTo>
                <a:lnTo>
                  <a:pt x="181232" y="5020"/>
                </a:lnTo>
                <a:lnTo>
                  <a:pt x="167429" y="2189"/>
                </a:lnTo>
                <a:lnTo>
                  <a:pt x="154017" y="537"/>
                </a:lnTo>
                <a:lnTo>
                  <a:pt x="141981" y="0"/>
                </a:lnTo>
                <a:close/>
              </a:path>
              <a:path w="205104" h="277495">
                <a:moveTo>
                  <a:pt x="201985" y="37777"/>
                </a:moveTo>
                <a:lnTo>
                  <a:pt x="139184" y="37777"/>
                </a:lnTo>
                <a:lnTo>
                  <a:pt x="150254" y="38410"/>
                </a:lnTo>
                <a:lnTo>
                  <a:pt x="162700" y="40223"/>
                </a:lnTo>
                <a:lnTo>
                  <a:pt x="175280" y="43086"/>
                </a:lnTo>
                <a:lnTo>
                  <a:pt x="188849" y="47575"/>
                </a:lnTo>
                <a:lnTo>
                  <a:pt x="196545" y="47575"/>
                </a:lnTo>
                <a:lnTo>
                  <a:pt x="200723" y="43373"/>
                </a:lnTo>
                <a:lnTo>
                  <a:pt x="201985" y="37777"/>
                </a:lnTo>
                <a:close/>
              </a:path>
            </a:pathLst>
          </a:custGeom>
          <a:solidFill>
            <a:srgbClr val="002563"/>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2" name="object 32"/>
          <p:cNvSpPr/>
          <p:nvPr/>
        </p:nvSpPr>
        <p:spPr>
          <a:xfrm>
            <a:off x="645544" y="4714110"/>
            <a:ext cx="205594" cy="277298"/>
          </a:xfrm>
          <a:custGeom>
            <a:avLst/>
            <a:gdLst/>
            <a:ahLst/>
            <a:cxnLst/>
            <a:rect l="l" t="t" r="r" b="b"/>
            <a:pathLst>
              <a:path w="205740" h="277495">
                <a:moveTo>
                  <a:pt x="16783" y="227367"/>
                </a:moveTo>
                <a:lnTo>
                  <a:pt x="8403" y="227367"/>
                </a:lnTo>
                <a:lnTo>
                  <a:pt x="4886" y="231565"/>
                </a:lnTo>
                <a:lnTo>
                  <a:pt x="3372" y="238396"/>
                </a:lnTo>
                <a:lnTo>
                  <a:pt x="0" y="253251"/>
                </a:lnTo>
                <a:lnTo>
                  <a:pt x="0" y="261647"/>
                </a:lnTo>
                <a:lnTo>
                  <a:pt x="3493" y="265843"/>
                </a:lnTo>
                <a:lnTo>
                  <a:pt x="10480" y="267243"/>
                </a:lnTo>
                <a:lnTo>
                  <a:pt x="24184" y="271134"/>
                </a:lnTo>
                <a:lnTo>
                  <a:pt x="39258" y="274238"/>
                </a:lnTo>
                <a:lnTo>
                  <a:pt x="54460" y="276293"/>
                </a:lnTo>
                <a:lnTo>
                  <a:pt x="68549" y="277037"/>
                </a:lnTo>
                <a:lnTo>
                  <a:pt x="80423" y="277037"/>
                </a:lnTo>
                <a:lnTo>
                  <a:pt x="124374" y="271276"/>
                </a:lnTo>
                <a:lnTo>
                  <a:pt x="157636" y="254563"/>
                </a:lnTo>
                <a:lnTo>
                  <a:pt x="169658" y="239259"/>
                </a:lnTo>
                <a:lnTo>
                  <a:pt x="74828" y="239259"/>
                </a:lnTo>
                <a:lnTo>
                  <a:pt x="61160" y="238396"/>
                </a:lnTo>
                <a:lnTo>
                  <a:pt x="46245" y="236024"/>
                </a:lnTo>
                <a:lnTo>
                  <a:pt x="31459" y="232471"/>
                </a:lnTo>
                <a:lnTo>
                  <a:pt x="18176" y="228066"/>
                </a:lnTo>
                <a:lnTo>
                  <a:pt x="16783" y="227367"/>
                </a:lnTo>
                <a:close/>
              </a:path>
              <a:path w="205740" h="277495">
                <a:moveTo>
                  <a:pt x="142670" y="0"/>
                </a:moveTo>
                <a:lnTo>
                  <a:pt x="92197" y="5095"/>
                </a:lnTo>
                <a:lnTo>
                  <a:pt x="35548" y="45461"/>
                </a:lnTo>
                <a:lnTo>
                  <a:pt x="27287" y="80465"/>
                </a:lnTo>
                <a:lnTo>
                  <a:pt x="31547" y="104302"/>
                </a:lnTo>
                <a:lnTo>
                  <a:pt x="42492" y="122693"/>
                </a:lnTo>
                <a:lnTo>
                  <a:pt x="57372" y="136232"/>
                </a:lnTo>
                <a:lnTo>
                  <a:pt x="73436" y="145513"/>
                </a:lnTo>
                <a:lnTo>
                  <a:pt x="104902" y="159514"/>
                </a:lnTo>
                <a:lnTo>
                  <a:pt x="117717" y="165591"/>
                </a:lnTo>
                <a:lnTo>
                  <a:pt x="128168" y="172977"/>
                </a:lnTo>
                <a:lnTo>
                  <a:pt x="135205" y="182724"/>
                </a:lnTo>
                <a:lnTo>
                  <a:pt x="137784" y="195886"/>
                </a:lnTo>
                <a:lnTo>
                  <a:pt x="133707" y="214764"/>
                </a:lnTo>
                <a:lnTo>
                  <a:pt x="122482" y="228329"/>
                </a:lnTo>
                <a:lnTo>
                  <a:pt x="105618" y="236516"/>
                </a:lnTo>
                <a:lnTo>
                  <a:pt x="84625" y="239259"/>
                </a:lnTo>
                <a:lnTo>
                  <a:pt x="169658" y="239259"/>
                </a:lnTo>
                <a:lnTo>
                  <a:pt x="178700" y="227750"/>
                </a:lnTo>
                <a:lnTo>
                  <a:pt x="186057" y="191688"/>
                </a:lnTo>
                <a:lnTo>
                  <a:pt x="182013" y="166416"/>
                </a:lnTo>
                <a:lnTo>
                  <a:pt x="171017" y="147442"/>
                </a:lnTo>
                <a:lnTo>
                  <a:pt x="154777" y="133451"/>
                </a:lnTo>
                <a:lnTo>
                  <a:pt x="134998" y="123130"/>
                </a:lnTo>
                <a:lnTo>
                  <a:pt x="102116" y="108444"/>
                </a:lnTo>
                <a:lnTo>
                  <a:pt x="91947" y="103323"/>
                </a:lnTo>
                <a:lnTo>
                  <a:pt x="83223" y="96892"/>
                </a:lnTo>
                <a:lnTo>
                  <a:pt x="77124" y="88363"/>
                </a:lnTo>
                <a:lnTo>
                  <a:pt x="74828" y="76947"/>
                </a:lnTo>
                <a:lnTo>
                  <a:pt x="79027" y="59621"/>
                </a:lnTo>
                <a:lnTo>
                  <a:pt x="90573" y="47401"/>
                </a:lnTo>
                <a:lnTo>
                  <a:pt x="107891" y="40162"/>
                </a:lnTo>
                <a:lnTo>
                  <a:pt x="129404" y="37777"/>
                </a:lnTo>
                <a:lnTo>
                  <a:pt x="202686" y="37777"/>
                </a:lnTo>
                <a:lnTo>
                  <a:pt x="202840" y="37092"/>
                </a:lnTo>
                <a:lnTo>
                  <a:pt x="205626" y="23091"/>
                </a:lnTo>
                <a:lnTo>
                  <a:pt x="205626" y="14685"/>
                </a:lnTo>
                <a:lnTo>
                  <a:pt x="202132" y="11191"/>
                </a:lnTo>
                <a:lnTo>
                  <a:pt x="181933" y="5020"/>
                </a:lnTo>
                <a:lnTo>
                  <a:pt x="168129" y="2189"/>
                </a:lnTo>
                <a:lnTo>
                  <a:pt x="154713" y="537"/>
                </a:lnTo>
                <a:lnTo>
                  <a:pt x="142670" y="0"/>
                </a:lnTo>
                <a:close/>
              </a:path>
              <a:path w="205740" h="277495">
                <a:moveTo>
                  <a:pt x="202686" y="37777"/>
                </a:moveTo>
                <a:lnTo>
                  <a:pt x="139177" y="37777"/>
                </a:lnTo>
                <a:lnTo>
                  <a:pt x="150261" y="38410"/>
                </a:lnTo>
                <a:lnTo>
                  <a:pt x="162791" y="40223"/>
                </a:lnTo>
                <a:lnTo>
                  <a:pt x="175582" y="43086"/>
                </a:lnTo>
                <a:lnTo>
                  <a:pt x="187449" y="46867"/>
                </a:lnTo>
                <a:lnTo>
                  <a:pt x="188842" y="47575"/>
                </a:lnTo>
                <a:lnTo>
                  <a:pt x="197246" y="47575"/>
                </a:lnTo>
                <a:lnTo>
                  <a:pt x="201424" y="43373"/>
                </a:lnTo>
                <a:lnTo>
                  <a:pt x="202686" y="37777"/>
                </a:lnTo>
                <a:close/>
              </a:path>
            </a:pathLst>
          </a:custGeom>
          <a:solidFill>
            <a:srgbClr val="002563"/>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3" name="object 33"/>
          <p:cNvSpPr/>
          <p:nvPr/>
        </p:nvSpPr>
        <p:spPr>
          <a:xfrm>
            <a:off x="1089365" y="4716918"/>
            <a:ext cx="223995" cy="271588"/>
          </a:xfrm>
          <a:custGeom>
            <a:avLst/>
            <a:gdLst/>
            <a:ahLst/>
            <a:cxnLst/>
            <a:rect l="l" t="t" r="r" b="b"/>
            <a:pathLst>
              <a:path w="224155" h="271779">
                <a:moveTo>
                  <a:pt x="153175" y="0"/>
                </a:moveTo>
                <a:lnTo>
                  <a:pt x="60146" y="0"/>
                </a:lnTo>
                <a:lnTo>
                  <a:pt x="55260" y="4887"/>
                </a:lnTo>
                <a:lnTo>
                  <a:pt x="53159" y="12584"/>
                </a:lnTo>
                <a:lnTo>
                  <a:pt x="684" y="256738"/>
                </a:lnTo>
                <a:lnTo>
                  <a:pt x="684" y="258136"/>
                </a:lnTo>
                <a:lnTo>
                  <a:pt x="0" y="260934"/>
                </a:lnTo>
                <a:lnTo>
                  <a:pt x="0" y="267930"/>
                </a:lnTo>
                <a:lnTo>
                  <a:pt x="4201" y="271429"/>
                </a:lnTo>
                <a:lnTo>
                  <a:pt x="110496" y="271429"/>
                </a:lnTo>
                <a:lnTo>
                  <a:pt x="149929" y="264870"/>
                </a:lnTo>
                <a:lnTo>
                  <a:pt x="179397" y="246769"/>
                </a:lnTo>
                <a:lnTo>
                  <a:pt x="188268" y="233652"/>
                </a:lnTo>
                <a:lnTo>
                  <a:pt x="53159" y="233652"/>
                </a:lnTo>
                <a:lnTo>
                  <a:pt x="69942" y="151793"/>
                </a:lnTo>
                <a:lnTo>
                  <a:pt x="193488" y="151793"/>
                </a:lnTo>
                <a:lnTo>
                  <a:pt x="184455" y="142005"/>
                </a:lnTo>
                <a:lnTo>
                  <a:pt x="171351" y="134321"/>
                </a:lnTo>
                <a:lnTo>
                  <a:pt x="192532" y="122036"/>
                </a:lnTo>
                <a:lnTo>
                  <a:pt x="198240" y="116117"/>
                </a:lnTo>
                <a:lnTo>
                  <a:pt x="77637" y="116117"/>
                </a:lnTo>
                <a:lnTo>
                  <a:pt x="93713" y="37777"/>
                </a:lnTo>
                <a:lnTo>
                  <a:pt x="219800" y="37777"/>
                </a:lnTo>
                <a:lnTo>
                  <a:pt x="219060" y="33637"/>
                </a:lnTo>
                <a:lnTo>
                  <a:pt x="205272" y="14860"/>
                </a:lnTo>
                <a:lnTo>
                  <a:pt x="183091" y="3692"/>
                </a:lnTo>
                <a:lnTo>
                  <a:pt x="153175" y="0"/>
                </a:lnTo>
                <a:close/>
              </a:path>
              <a:path w="224155" h="271779">
                <a:moveTo>
                  <a:pt x="193488" y="151793"/>
                </a:moveTo>
                <a:lnTo>
                  <a:pt x="116799" y="151793"/>
                </a:lnTo>
                <a:lnTo>
                  <a:pt x="132358" y="153970"/>
                </a:lnTo>
                <a:lnTo>
                  <a:pt x="144771" y="160279"/>
                </a:lnTo>
                <a:lnTo>
                  <a:pt x="152988" y="170393"/>
                </a:lnTo>
                <a:lnTo>
                  <a:pt x="155960" y="183982"/>
                </a:lnTo>
                <a:lnTo>
                  <a:pt x="152835" y="203843"/>
                </a:lnTo>
                <a:lnTo>
                  <a:pt x="143547" y="219573"/>
                </a:lnTo>
                <a:lnTo>
                  <a:pt x="128226" y="229924"/>
                </a:lnTo>
                <a:lnTo>
                  <a:pt x="107002" y="233652"/>
                </a:lnTo>
                <a:lnTo>
                  <a:pt x="188268" y="233652"/>
                </a:lnTo>
                <a:lnTo>
                  <a:pt x="197849" y="219485"/>
                </a:lnTo>
                <a:lnTo>
                  <a:pt x="204233" y="185380"/>
                </a:lnTo>
                <a:lnTo>
                  <a:pt x="201751" y="167861"/>
                </a:lnTo>
                <a:lnTo>
                  <a:pt x="194873" y="153294"/>
                </a:lnTo>
                <a:lnTo>
                  <a:pt x="193488" y="151793"/>
                </a:lnTo>
                <a:close/>
              </a:path>
              <a:path w="224155" h="271779">
                <a:moveTo>
                  <a:pt x="219800" y="37777"/>
                </a:moveTo>
                <a:lnTo>
                  <a:pt x="138492" y="37777"/>
                </a:lnTo>
                <a:lnTo>
                  <a:pt x="154200" y="39503"/>
                </a:lnTo>
                <a:lnTo>
                  <a:pt x="165582" y="44771"/>
                </a:lnTo>
                <a:lnTo>
                  <a:pt x="172507" y="53714"/>
                </a:lnTo>
                <a:lnTo>
                  <a:pt x="174844" y="66464"/>
                </a:lnTo>
                <a:lnTo>
                  <a:pt x="171360" y="85139"/>
                </a:lnTo>
                <a:lnTo>
                  <a:pt x="161649" y="100995"/>
                </a:lnTo>
                <a:lnTo>
                  <a:pt x="146821" y="111998"/>
                </a:lnTo>
                <a:lnTo>
                  <a:pt x="127988" y="116117"/>
                </a:lnTo>
                <a:lnTo>
                  <a:pt x="198240" y="116117"/>
                </a:lnTo>
                <a:lnTo>
                  <a:pt x="209119" y="104837"/>
                </a:lnTo>
                <a:lnTo>
                  <a:pt x="219935" y="83840"/>
                </a:lnTo>
                <a:lnTo>
                  <a:pt x="223802" y="60160"/>
                </a:lnTo>
                <a:lnTo>
                  <a:pt x="219800" y="37777"/>
                </a:lnTo>
                <a:close/>
              </a:path>
            </a:pathLst>
          </a:custGeom>
          <a:solidFill>
            <a:srgbClr val="002563"/>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4" name="object 34"/>
          <p:cNvSpPr/>
          <p:nvPr/>
        </p:nvSpPr>
        <p:spPr>
          <a:xfrm>
            <a:off x="832862" y="4716918"/>
            <a:ext cx="233514" cy="271588"/>
          </a:xfrm>
          <a:custGeom>
            <a:avLst/>
            <a:gdLst/>
            <a:ahLst/>
            <a:cxnLst/>
            <a:rect l="l" t="t" r="r" b="b"/>
            <a:pathLst>
              <a:path w="233680" h="271779">
                <a:moveTo>
                  <a:pt x="199323" y="0"/>
                </a:moveTo>
                <a:lnTo>
                  <a:pt x="140569" y="0"/>
                </a:lnTo>
                <a:lnTo>
                  <a:pt x="95291" y="67726"/>
                </a:lnTo>
                <a:lnTo>
                  <a:pt x="70370" y="111315"/>
                </a:lnTo>
                <a:lnTo>
                  <a:pt x="45506" y="158926"/>
                </a:lnTo>
                <a:lnTo>
                  <a:pt x="21883" y="208715"/>
                </a:lnTo>
                <a:lnTo>
                  <a:pt x="684" y="258837"/>
                </a:lnTo>
                <a:lnTo>
                  <a:pt x="0" y="260235"/>
                </a:lnTo>
                <a:lnTo>
                  <a:pt x="0" y="268631"/>
                </a:lnTo>
                <a:lnTo>
                  <a:pt x="3493" y="271429"/>
                </a:lnTo>
                <a:lnTo>
                  <a:pt x="39869" y="271429"/>
                </a:lnTo>
                <a:lnTo>
                  <a:pt x="44755" y="266532"/>
                </a:lnTo>
                <a:lnTo>
                  <a:pt x="48249" y="258837"/>
                </a:lnTo>
                <a:lnTo>
                  <a:pt x="67810" y="211539"/>
                </a:lnTo>
                <a:lnTo>
                  <a:pt x="89756" y="164039"/>
                </a:lnTo>
                <a:lnTo>
                  <a:pt x="113113" y="118149"/>
                </a:lnTo>
                <a:lnTo>
                  <a:pt x="136907" y="75686"/>
                </a:lnTo>
                <a:lnTo>
                  <a:pt x="160162" y="38461"/>
                </a:lnTo>
                <a:lnTo>
                  <a:pt x="208388" y="38461"/>
                </a:lnTo>
                <a:lnTo>
                  <a:pt x="207857" y="35709"/>
                </a:lnTo>
                <a:lnTo>
                  <a:pt x="199323" y="0"/>
                </a:lnTo>
                <a:close/>
              </a:path>
              <a:path w="233680" h="271779">
                <a:moveTo>
                  <a:pt x="208388" y="38461"/>
                </a:moveTo>
                <a:lnTo>
                  <a:pt x="160162" y="38461"/>
                </a:lnTo>
                <a:lnTo>
                  <a:pt x="168607" y="82641"/>
                </a:lnTo>
                <a:lnTo>
                  <a:pt x="176331" y="136850"/>
                </a:lnTo>
                <a:lnTo>
                  <a:pt x="182090" y="196958"/>
                </a:lnTo>
                <a:lnTo>
                  <a:pt x="184640" y="258838"/>
                </a:lnTo>
                <a:lnTo>
                  <a:pt x="184640" y="266532"/>
                </a:lnTo>
                <a:lnTo>
                  <a:pt x="190235" y="271429"/>
                </a:lnTo>
                <a:lnTo>
                  <a:pt x="229396" y="271429"/>
                </a:lnTo>
                <a:lnTo>
                  <a:pt x="233598" y="266532"/>
                </a:lnTo>
                <a:lnTo>
                  <a:pt x="233598" y="258838"/>
                </a:lnTo>
                <a:lnTo>
                  <a:pt x="230774" y="195580"/>
                </a:lnTo>
                <a:lnTo>
                  <a:pt x="224759" y="135784"/>
                </a:lnTo>
                <a:lnTo>
                  <a:pt x="216728" y="81732"/>
                </a:lnTo>
                <a:lnTo>
                  <a:pt x="208388" y="38461"/>
                </a:lnTo>
                <a:close/>
              </a:path>
            </a:pathLst>
          </a:custGeom>
          <a:solidFill>
            <a:srgbClr val="002563"/>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5" name="object 35"/>
          <p:cNvSpPr/>
          <p:nvPr/>
        </p:nvSpPr>
        <p:spPr>
          <a:xfrm>
            <a:off x="934906" y="4871413"/>
            <a:ext cx="69185" cy="76197"/>
          </a:xfrm>
          <a:prstGeom prst="rect">
            <a:avLst/>
          </a:prstGeom>
          <a:blipFill>
            <a:blip r:embed="rId14"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6" name="object 36"/>
          <p:cNvSpPr txBox="1"/>
          <p:nvPr/>
        </p:nvSpPr>
        <p:spPr>
          <a:xfrm>
            <a:off x="106401" y="6412696"/>
            <a:ext cx="2048328"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资料来源：年报；文献检索；****</a:t>
            </a:r>
            <a:endParaRPr sz="1000" spc="-10" dirty="0">
              <a:latin typeface="微软雅黑" panose="020B0503020204020204" charset="-122"/>
              <a:ea typeface="微软雅黑" panose="020B0503020204020204" charset="-122"/>
              <a:cs typeface="微软雅黑" panose="020B0503020204020204" charset="-122"/>
            </a:endParaRPr>
          </a:p>
        </p:txBody>
      </p:sp>
      <p:graphicFrame>
        <p:nvGraphicFramePr>
          <p:cNvPr id="37" name="object 37"/>
          <p:cNvGraphicFramePr>
            <a:graphicFrameLocks noGrp="1"/>
          </p:cNvGraphicFramePr>
          <p:nvPr/>
        </p:nvGraphicFramePr>
        <p:xfrm>
          <a:off x="137443" y="1041329"/>
          <a:ext cx="2497455" cy="5072380"/>
        </p:xfrm>
        <a:graphic>
          <a:graphicData uri="http://schemas.openxmlformats.org/drawingml/2006/table">
            <a:tbl>
              <a:tblPr firstRow="1" bandRow="1">
                <a:tableStyleId>{2D5ABB26-0587-4C30-8999-92F81FD0307C}</a:tableStyleId>
              </a:tblPr>
              <a:tblGrid>
                <a:gridCol w="2497455"/>
              </a:tblGrid>
              <a:tr h="829310">
                <a:tc>
                  <a:txBody>
                    <a:bodyPr/>
                    <a:lstStyle/>
                    <a:p>
                      <a:pPr>
                        <a:lnSpc>
                          <a:spcPct val="100000"/>
                        </a:lnSpc>
                      </a:pPr>
                      <a:endParaRPr sz="1400">
                        <a:latin typeface="微软雅黑" panose="020B0503020204020204" charset="-122"/>
                        <a:ea typeface="微软雅黑" panose="020B0503020204020204" charset="-122"/>
                        <a:cs typeface="Times New Roman" panose="02020603050405020304"/>
                      </a:endParaRPr>
                    </a:p>
                  </a:txBody>
                  <a:tcPr marL="0" marR="0" marT="0" marB="0">
                    <a:lnL w="19050">
                      <a:solidFill>
                        <a:srgbClr val="C6DFFA"/>
                      </a:solidFill>
                      <a:prstDash val="solid"/>
                    </a:lnL>
                    <a:lnR w="19050">
                      <a:solidFill>
                        <a:srgbClr val="C6DFFA"/>
                      </a:solidFill>
                      <a:prstDash val="solid"/>
                    </a:lnR>
                    <a:lnT w="19050">
                      <a:solidFill>
                        <a:srgbClr val="C6DFFA"/>
                      </a:solidFill>
                      <a:prstDash val="solid"/>
                    </a:lnT>
                    <a:lnB w="19050">
                      <a:solidFill>
                        <a:srgbClr val="C6DFFA"/>
                      </a:solidFill>
                      <a:prstDash val="solid"/>
                    </a:lnB>
                  </a:tcPr>
                </a:tc>
              </a:tr>
              <a:tr h="853440">
                <a:tc>
                  <a:txBody>
                    <a:bodyPr/>
                    <a:lstStyle/>
                    <a:p>
                      <a:pPr>
                        <a:lnSpc>
                          <a:spcPct val="100000"/>
                        </a:lnSpc>
                      </a:pPr>
                      <a:endParaRPr sz="1400">
                        <a:latin typeface="微软雅黑" panose="020B0503020204020204" charset="-122"/>
                        <a:ea typeface="微软雅黑" panose="020B0503020204020204" charset="-122"/>
                        <a:cs typeface="Times New Roman" panose="02020603050405020304"/>
                      </a:endParaRPr>
                    </a:p>
                  </a:txBody>
                  <a:tcPr marL="0" marR="0" marT="0" marB="0">
                    <a:lnL w="19050">
                      <a:solidFill>
                        <a:srgbClr val="C6DFFA"/>
                      </a:solidFill>
                      <a:prstDash val="solid"/>
                    </a:lnL>
                    <a:lnR w="19050">
                      <a:solidFill>
                        <a:srgbClr val="C6DFFA"/>
                      </a:solidFill>
                      <a:prstDash val="solid"/>
                    </a:lnR>
                    <a:lnT w="19050">
                      <a:solidFill>
                        <a:srgbClr val="C6DFFA"/>
                      </a:solidFill>
                      <a:prstDash val="solid"/>
                    </a:lnT>
                    <a:lnB w="19050">
                      <a:solidFill>
                        <a:srgbClr val="C6DFFA"/>
                      </a:solidFill>
                      <a:prstDash val="solid"/>
                    </a:lnB>
                  </a:tcPr>
                </a:tc>
              </a:tr>
              <a:tr h="854710">
                <a:tc>
                  <a:txBody>
                    <a:bodyPr/>
                    <a:lstStyle/>
                    <a:p>
                      <a:pPr>
                        <a:lnSpc>
                          <a:spcPct val="100000"/>
                        </a:lnSpc>
                      </a:pPr>
                      <a:endParaRPr sz="1400">
                        <a:latin typeface="微软雅黑" panose="020B0503020204020204" charset="-122"/>
                        <a:ea typeface="微软雅黑" panose="020B0503020204020204" charset="-122"/>
                        <a:cs typeface="Times New Roman" panose="02020603050405020304"/>
                      </a:endParaRPr>
                    </a:p>
                  </a:txBody>
                  <a:tcPr marL="0" marR="0" marT="0" marB="0">
                    <a:lnL w="19050">
                      <a:solidFill>
                        <a:srgbClr val="C6DFFA"/>
                      </a:solidFill>
                      <a:prstDash val="solid"/>
                    </a:lnL>
                    <a:lnR w="19050">
                      <a:solidFill>
                        <a:srgbClr val="C6DFFA"/>
                      </a:solidFill>
                      <a:prstDash val="solid"/>
                    </a:lnR>
                    <a:lnT w="19050">
                      <a:solidFill>
                        <a:srgbClr val="C6DFFA"/>
                      </a:solidFill>
                      <a:prstDash val="solid"/>
                    </a:lnT>
                    <a:lnB w="19050">
                      <a:solidFill>
                        <a:srgbClr val="C6DFFA"/>
                      </a:solidFill>
                      <a:prstDash val="solid"/>
                    </a:lnB>
                  </a:tcPr>
                </a:tc>
              </a:tr>
              <a:tr h="853440">
                <a:tc>
                  <a:txBody>
                    <a:bodyPr/>
                    <a:lstStyle/>
                    <a:p>
                      <a:pPr>
                        <a:lnSpc>
                          <a:spcPct val="100000"/>
                        </a:lnSpc>
                      </a:pPr>
                      <a:endParaRPr sz="1400">
                        <a:latin typeface="微软雅黑" panose="020B0503020204020204" charset="-122"/>
                        <a:ea typeface="微软雅黑" panose="020B0503020204020204" charset="-122"/>
                        <a:cs typeface="Times New Roman" panose="02020603050405020304"/>
                      </a:endParaRPr>
                    </a:p>
                  </a:txBody>
                  <a:tcPr marL="0" marR="0" marT="0" marB="0">
                    <a:lnL w="19050">
                      <a:solidFill>
                        <a:srgbClr val="C6DFFA"/>
                      </a:solidFill>
                      <a:prstDash val="solid"/>
                    </a:lnL>
                    <a:lnR w="19050">
                      <a:solidFill>
                        <a:srgbClr val="C6DFFA"/>
                      </a:solidFill>
                      <a:prstDash val="solid"/>
                    </a:lnR>
                    <a:lnT w="19050">
                      <a:solidFill>
                        <a:srgbClr val="C6DFFA"/>
                      </a:solidFill>
                      <a:prstDash val="solid"/>
                    </a:lnT>
                    <a:lnB w="19050">
                      <a:solidFill>
                        <a:srgbClr val="C6DFFA"/>
                      </a:solidFill>
                      <a:prstDash val="solid"/>
                    </a:lnB>
                  </a:tcPr>
                </a:tc>
              </a:tr>
              <a:tr h="852805">
                <a:tc>
                  <a:txBody>
                    <a:bodyPr/>
                    <a:lstStyle/>
                    <a:p>
                      <a:pPr>
                        <a:lnSpc>
                          <a:spcPct val="100000"/>
                        </a:lnSpc>
                      </a:pPr>
                      <a:endParaRPr sz="1400">
                        <a:latin typeface="微软雅黑" panose="020B0503020204020204" charset="-122"/>
                        <a:ea typeface="微软雅黑" panose="020B0503020204020204" charset="-122"/>
                        <a:cs typeface="Times New Roman" panose="02020603050405020304"/>
                      </a:endParaRPr>
                    </a:p>
                  </a:txBody>
                  <a:tcPr marL="0" marR="0" marT="0" marB="0">
                    <a:lnL w="19050">
                      <a:solidFill>
                        <a:srgbClr val="C6DFFA"/>
                      </a:solidFill>
                      <a:prstDash val="solid"/>
                    </a:lnL>
                    <a:lnR w="19050">
                      <a:solidFill>
                        <a:srgbClr val="C6DFFA"/>
                      </a:solidFill>
                      <a:prstDash val="solid"/>
                    </a:lnR>
                    <a:lnT w="19050">
                      <a:solidFill>
                        <a:srgbClr val="C6DFFA"/>
                      </a:solidFill>
                      <a:prstDash val="solid"/>
                    </a:lnT>
                    <a:lnB w="19050">
                      <a:solidFill>
                        <a:srgbClr val="C6DFFA"/>
                      </a:solidFill>
                      <a:prstDash val="solid"/>
                    </a:lnB>
                  </a:tcPr>
                </a:tc>
              </a:tr>
              <a:tr h="828675">
                <a:tc>
                  <a:txBody>
                    <a:bodyPr/>
                    <a:lstStyle/>
                    <a:p>
                      <a:pPr>
                        <a:lnSpc>
                          <a:spcPct val="100000"/>
                        </a:lnSpc>
                      </a:pPr>
                      <a:endParaRPr sz="1400">
                        <a:latin typeface="微软雅黑" panose="020B0503020204020204" charset="-122"/>
                        <a:ea typeface="微软雅黑" panose="020B0503020204020204" charset="-122"/>
                        <a:cs typeface="Times New Roman" panose="02020603050405020304"/>
                      </a:endParaRPr>
                    </a:p>
                  </a:txBody>
                  <a:tcPr marL="0" marR="0" marT="0" marB="0">
                    <a:lnL w="19050">
                      <a:solidFill>
                        <a:srgbClr val="C6DFFA"/>
                      </a:solidFill>
                      <a:prstDash val="solid"/>
                    </a:lnL>
                    <a:lnR w="19050">
                      <a:solidFill>
                        <a:srgbClr val="C6DFFA"/>
                      </a:solidFill>
                      <a:prstDash val="solid"/>
                    </a:lnR>
                    <a:lnT w="19050">
                      <a:solidFill>
                        <a:srgbClr val="C6DFFA"/>
                      </a:solidFill>
                      <a:prstDash val="solid"/>
                    </a:lnT>
                    <a:lnB w="19050">
                      <a:solidFill>
                        <a:srgbClr val="C6DFFA"/>
                      </a:solidFill>
                      <a:prstDash val="solid"/>
                    </a:lnB>
                  </a:tcPr>
                </a:tc>
              </a:tr>
            </a:tbl>
          </a:graphicData>
        </a:graphic>
      </p:graphicFrame>
      <p:sp>
        <p:nvSpPr>
          <p:cNvPr id="38" name="object 38"/>
          <p:cNvSpPr/>
          <p:nvPr/>
        </p:nvSpPr>
        <p:spPr>
          <a:xfrm>
            <a:off x="2795320" y="1865610"/>
            <a:ext cx="5992693" cy="0"/>
          </a:xfrm>
          <a:custGeom>
            <a:avLst/>
            <a:gdLst/>
            <a:ahLst/>
            <a:cxnLst/>
            <a:rect l="l" t="t" r="r" b="b"/>
            <a:pathLst>
              <a:path w="5996940">
                <a:moveTo>
                  <a:pt x="0" y="0"/>
                </a:moveTo>
                <a:lnTo>
                  <a:pt x="5996940" y="0"/>
                </a:lnTo>
              </a:path>
            </a:pathLst>
          </a:custGeom>
          <a:ln w="19050">
            <a:solidFill>
              <a:srgbClr val="808080"/>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39" name="object 39"/>
          <p:cNvSpPr/>
          <p:nvPr/>
        </p:nvSpPr>
        <p:spPr>
          <a:xfrm>
            <a:off x="2795320" y="2718446"/>
            <a:ext cx="5992693" cy="0"/>
          </a:xfrm>
          <a:custGeom>
            <a:avLst/>
            <a:gdLst/>
            <a:ahLst/>
            <a:cxnLst/>
            <a:rect l="l" t="t" r="r" b="b"/>
            <a:pathLst>
              <a:path w="5996940">
                <a:moveTo>
                  <a:pt x="0" y="0"/>
                </a:moveTo>
                <a:lnTo>
                  <a:pt x="5996940" y="0"/>
                </a:lnTo>
              </a:path>
            </a:pathLst>
          </a:custGeom>
          <a:ln w="19050">
            <a:solidFill>
              <a:srgbClr val="808080"/>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40" name="object 40"/>
          <p:cNvSpPr/>
          <p:nvPr/>
        </p:nvSpPr>
        <p:spPr>
          <a:xfrm>
            <a:off x="2795320" y="3574327"/>
            <a:ext cx="5992693" cy="0"/>
          </a:xfrm>
          <a:custGeom>
            <a:avLst/>
            <a:gdLst/>
            <a:ahLst/>
            <a:cxnLst/>
            <a:rect l="l" t="t" r="r" b="b"/>
            <a:pathLst>
              <a:path w="5996940">
                <a:moveTo>
                  <a:pt x="0" y="0"/>
                </a:moveTo>
                <a:lnTo>
                  <a:pt x="5996940" y="0"/>
                </a:lnTo>
              </a:path>
            </a:pathLst>
          </a:custGeom>
          <a:ln w="19050">
            <a:solidFill>
              <a:srgbClr val="808080"/>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41" name="object 41"/>
          <p:cNvSpPr/>
          <p:nvPr/>
        </p:nvSpPr>
        <p:spPr>
          <a:xfrm>
            <a:off x="2795320" y="4418024"/>
            <a:ext cx="5992693" cy="0"/>
          </a:xfrm>
          <a:custGeom>
            <a:avLst/>
            <a:gdLst/>
            <a:ahLst/>
            <a:cxnLst/>
            <a:rect l="l" t="t" r="r" b="b"/>
            <a:pathLst>
              <a:path w="5996940">
                <a:moveTo>
                  <a:pt x="0" y="0"/>
                </a:moveTo>
                <a:lnTo>
                  <a:pt x="5996940" y="0"/>
                </a:lnTo>
              </a:path>
            </a:pathLst>
          </a:custGeom>
          <a:ln w="19050">
            <a:solidFill>
              <a:srgbClr val="808080"/>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42" name="object 42"/>
          <p:cNvSpPr/>
          <p:nvPr/>
        </p:nvSpPr>
        <p:spPr>
          <a:xfrm>
            <a:off x="2795320" y="5263246"/>
            <a:ext cx="5992693" cy="0"/>
          </a:xfrm>
          <a:custGeom>
            <a:avLst/>
            <a:gdLst/>
            <a:ahLst/>
            <a:cxnLst/>
            <a:rect l="l" t="t" r="r" b="b"/>
            <a:pathLst>
              <a:path w="5996940">
                <a:moveTo>
                  <a:pt x="0" y="0"/>
                </a:moveTo>
                <a:lnTo>
                  <a:pt x="5996940" y="0"/>
                </a:lnTo>
              </a:path>
            </a:pathLst>
          </a:custGeom>
          <a:ln w="19050">
            <a:solidFill>
              <a:srgbClr val="808080"/>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401" y="203088"/>
            <a:ext cx="2679706"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大客户管理</a:t>
            </a:r>
            <a:r>
              <a:rPr spc="-10" dirty="0">
                <a:ea typeface="微软雅黑" panose="020B0503020204020204" charset="-122"/>
              </a:rPr>
              <a:t>包括</a:t>
            </a:r>
            <a:r>
              <a:rPr spc="-5" dirty="0">
                <a:ea typeface="微软雅黑" panose="020B0503020204020204" charset="-122"/>
              </a:rPr>
              <a:t>五</a:t>
            </a:r>
            <a:r>
              <a:rPr spc="-10" dirty="0">
                <a:ea typeface="微软雅黑" panose="020B0503020204020204" charset="-122"/>
              </a:rPr>
              <a:t>大要素</a:t>
            </a:r>
            <a:endParaRPr spc="-10" dirty="0">
              <a:ea typeface="微软雅黑" panose="020B0503020204020204" charset="-122"/>
            </a:endParaRPr>
          </a:p>
        </p:txBody>
      </p:sp>
      <p:sp>
        <p:nvSpPr>
          <p:cNvPr id="4" name="object 4"/>
          <p:cNvSpPr/>
          <p:nvPr/>
        </p:nvSpPr>
        <p:spPr>
          <a:xfrm>
            <a:off x="2096299" y="1323450"/>
            <a:ext cx="2679071" cy="3900581"/>
          </a:xfrm>
          <a:custGeom>
            <a:avLst/>
            <a:gdLst/>
            <a:ahLst/>
            <a:cxnLst/>
            <a:rect l="l" t="t" r="r" b="b"/>
            <a:pathLst>
              <a:path w="2680970" h="3903345">
                <a:moveTo>
                  <a:pt x="1977643" y="0"/>
                </a:moveTo>
                <a:lnTo>
                  <a:pt x="0" y="0"/>
                </a:lnTo>
                <a:lnTo>
                  <a:pt x="703071" y="1952244"/>
                </a:lnTo>
                <a:lnTo>
                  <a:pt x="0" y="3902964"/>
                </a:lnTo>
                <a:lnTo>
                  <a:pt x="1977643" y="3902964"/>
                </a:lnTo>
                <a:lnTo>
                  <a:pt x="2680716" y="1952244"/>
                </a:lnTo>
                <a:lnTo>
                  <a:pt x="197764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p:nvPr/>
        </p:nvSpPr>
        <p:spPr>
          <a:xfrm>
            <a:off x="2096299" y="1323450"/>
            <a:ext cx="2679071" cy="3900581"/>
          </a:xfrm>
          <a:custGeom>
            <a:avLst/>
            <a:gdLst/>
            <a:ahLst/>
            <a:cxnLst/>
            <a:rect l="l" t="t" r="r" b="b"/>
            <a:pathLst>
              <a:path w="2680970" h="3903345">
                <a:moveTo>
                  <a:pt x="0" y="0"/>
                </a:moveTo>
                <a:lnTo>
                  <a:pt x="1977643" y="0"/>
                </a:lnTo>
                <a:lnTo>
                  <a:pt x="2680716" y="1952244"/>
                </a:lnTo>
                <a:lnTo>
                  <a:pt x="1977643" y="3902964"/>
                </a:lnTo>
                <a:lnTo>
                  <a:pt x="0" y="3902964"/>
                </a:lnTo>
                <a:lnTo>
                  <a:pt x="703071"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4074573" y="3274312"/>
            <a:ext cx="4655695" cy="1949338"/>
          </a:xfrm>
          <a:custGeom>
            <a:avLst/>
            <a:gdLst/>
            <a:ahLst/>
            <a:cxnLst/>
            <a:rect l="l" t="t" r="r" b="b"/>
            <a:pathLst>
              <a:path w="4658995" h="1950720">
                <a:moveTo>
                  <a:pt x="4658868" y="0"/>
                </a:moveTo>
                <a:lnTo>
                  <a:pt x="703199" y="0"/>
                </a:lnTo>
                <a:lnTo>
                  <a:pt x="0" y="1950720"/>
                </a:lnTo>
                <a:lnTo>
                  <a:pt x="3955668" y="1950720"/>
                </a:lnTo>
                <a:lnTo>
                  <a:pt x="4658868"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4074573" y="3274312"/>
            <a:ext cx="4655695" cy="1949338"/>
          </a:xfrm>
          <a:custGeom>
            <a:avLst/>
            <a:gdLst/>
            <a:ahLst/>
            <a:cxnLst/>
            <a:rect l="l" t="t" r="r" b="b"/>
            <a:pathLst>
              <a:path w="4658995" h="1950720">
                <a:moveTo>
                  <a:pt x="4658868" y="0"/>
                </a:moveTo>
                <a:lnTo>
                  <a:pt x="3955668" y="1950720"/>
                </a:lnTo>
                <a:lnTo>
                  <a:pt x="0" y="1950720"/>
                </a:lnTo>
                <a:lnTo>
                  <a:pt x="703199" y="0"/>
                </a:lnTo>
                <a:lnTo>
                  <a:pt x="4658868"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6051325" y="1323450"/>
            <a:ext cx="2679071" cy="1951242"/>
          </a:xfrm>
          <a:custGeom>
            <a:avLst/>
            <a:gdLst/>
            <a:ahLst/>
            <a:cxnLst/>
            <a:rect l="l" t="t" r="r" b="b"/>
            <a:pathLst>
              <a:path w="2680970" h="1952625">
                <a:moveTo>
                  <a:pt x="1977643" y="0"/>
                </a:moveTo>
                <a:lnTo>
                  <a:pt x="0" y="0"/>
                </a:lnTo>
                <a:lnTo>
                  <a:pt x="703071" y="1952244"/>
                </a:lnTo>
                <a:lnTo>
                  <a:pt x="2680716" y="1952244"/>
                </a:lnTo>
                <a:lnTo>
                  <a:pt x="197764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6051325" y="1323450"/>
            <a:ext cx="2679071" cy="1951242"/>
          </a:xfrm>
          <a:custGeom>
            <a:avLst/>
            <a:gdLst/>
            <a:ahLst/>
            <a:cxnLst/>
            <a:rect l="l" t="t" r="r" b="b"/>
            <a:pathLst>
              <a:path w="2680970" h="1952625">
                <a:moveTo>
                  <a:pt x="0" y="0"/>
                </a:moveTo>
                <a:lnTo>
                  <a:pt x="1977643" y="0"/>
                </a:lnTo>
                <a:lnTo>
                  <a:pt x="2680716" y="1952244"/>
                </a:lnTo>
                <a:lnTo>
                  <a:pt x="703071"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119549" y="1323450"/>
            <a:ext cx="2680340" cy="3900581"/>
          </a:xfrm>
          <a:custGeom>
            <a:avLst/>
            <a:gdLst/>
            <a:ahLst/>
            <a:cxnLst/>
            <a:rect l="l" t="t" r="r" b="b"/>
            <a:pathLst>
              <a:path w="2682240" h="3903345">
                <a:moveTo>
                  <a:pt x="1978787" y="0"/>
                </a:moveTo>
                <a:lnTo>
                  <a:pt x="0" y="0"/>
                </a:lnTo>
                <a:lnTo>
                  <a:pt x="0" y="3902964"/>
                </a:lnTo>
                <a:lnTo>
                  <a:pt x="1978787" y="3902964"/>
                </a:lnTo>
                <a:lnTo>
                  <a:pt x="2682240" y="1952244"/>
                </a:lnTo>
                <a:lnTo>
                  <a:pt x="1978787"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119549" y="1323450"/>
            <a:ext cx="2680340" cy="3900581"/>
          </a:xfrm>
          <a:custGeom>
            <a:avLst/>
            <a:gdLst/>
            <a:ahLst/>
            <a:cxnLst/>
            <a:rect l="l" t="t" r="r" b="b"/>
            <a:pathLst>
              <a:path w="2682240" h="3903345">
                <a:moveTo>
                  <a:pt x="0" y="0"/>
                </a:moveTo>
                <a:lnTo>
                  <a:pt x="1978787" y="0"/>
                </a:lnTo>
                <a:lnTo>
                  <a:pt x="2682240" y="1952244"/>
                </a:lnTo>
                <a:lnTo>
                  <a:pt x="1978787" y="3902964"/>
                </a:lnTo>
                <a:lnTo>
                  <a:pt x="0" y="3902964"/>
                </a:lnTo>
                <a:lnTo>
                  <a:pt x="0"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169043" y="1538944"/>
            <a:ext cx="1926495" cy="3359944"/>
          </a:xfrm>
          <a:custGeom>
            <a:avLst/>
            <a:gdLst/>
            <a:ahLst/>
            <a:cxnLst/>
            <a:rect l="l" t="t" r="r" b="b"/>
            <a:pathLst>
              <a:path w="1927860" h="3362325">
                <a:moveTo>
                  <a:pt x="0" y="3361944"/>
                </a:moveTo>
                <a:lnTo>
                  <a:pt x="1927860" y="3361944"/>
                </a:lnTo>
                <a:lnTo>
                  <a:pt x="1927860" y="0"/>
                </a:lnTo>
                <a:lnTo>
                  <a:pt x="0" y="0"/>
                </a:lnTo>
                <a:lnTo>
                  <a:pt x="0" y="336194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txBox="1"/>
          <p:nvPr/>
        </p:nvSpPr>
        <p:spPr>
          <a:xfrm>
            <a:off x="5439110" y="3524071"/>
            <a:ext cx="434032"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组织</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14" name="object 14"/>
          <p:cNvSpPr/>
          <p:nvPr/>
        </p:nvSpPr>
        <p:spPr>
          <a:xfrm>
            <a:off x="4876519" y="3421020"/>
            <a:ext cx="385807" cy="501295"/>
          </a:xfrm>
          <a:custGeom>
            <a:avLst/>
            <a:gdLst/>
            <a:ahLst/>
            <a:cxnLst/>
            <a:rect l="l" t="t" r="r" b="b"/>
            <a:pathLst>
              <a:path w="386079" h="501650">
                <a:moveTo>
                  <a:pt x="188213" y="0"/>
                </a:moveTo>
                <a:lnTo>
                  <a:pt x="146496" y="4355"/>
                </a:lnTo>
                <a:lnTo>
                  <a:pt x="109553" y="17414"/>
                </a:lnTo>
                <a:lnTo>
                  <a:pt x="77396" y="39165"/>
                </a:lnTo>
                <a:lnTo>
                  <a:pt x="50037" y="69595"/>
                </a:lnTo>
                <a:lnTo>
                  <a:pt x="28128" y="107053"/>
                </a:lnTo>
                <a:lnTo>
                  <a:pt x="12493" y="149891"/>
                </a:lnTo>
                <a:lnTo>
                  <a:pt x="3121" y="198112"/>
                </a:lnTo>
                <a:lnTo>
                  <a:pt x="0" y="251713"/>
                </a:lnTo>
                <a:lnTo>
                  <a:pt x="1549" y="289958"/>
                </a:lnTo>
                <a:lnTo>
                  <a:pt x="13983" y="358780"/>
                </a:lnTo>
                <a:lnTo>
                  <a:pt x="38179" y="416647"/>
                </a:lnTo>
                <a:lnTo>
                  <a:pt x="69611" y="459319"/>
                </a:lnTo>
                <a:lnTo>
                  <a:pt x="108547" y="486487"/>
                </a:lnTo>
                <a:lnTo>
                  <a:pt x="160605" y="499961"/>
                </a:lnTo>
                <a:lnTo>
                  <a:pt x="191897" y="501650"/>
                </a:lnTo>
                <a:lnTo>
                  <a:pt x="227782" y="499695"/>
                </a:lnTo>
                <a:lnTo>
                  <a:pt x="286265" y="484022"/>
                </a:lnTo>
                <a:lnTo>
                  <a:pt x="328509" y="452014"/>
                </a:lnTo>
                <a:lnTo>
                  <a:pt x="363370" y="400147"/>
                </a:lnTo>
                <a:lnTo>
                  <a:pt x="366288" y="393700"/>
                </a:lnTo>
                <a:lnTo>
                  <a:pt x="194817" y="393700"/>
                </a:lnTo>
                <a:lnTo>
                  <a:pt x="180578" y="391747"/>
                </a:lnTo>
                <a:lnTo>
                  <a:pt x="146430" y="362457"/>
                </a:lnTo>
                <a:lnTo>
                  <a:pt x="132125" y="317184"/>
                </a:lnTo>
                <a:lnTo>
                  <a:pt x="129794" y="296417"/>
                </a:lnTo>
                <a:lnTo>
                  <a:pt x="385825" y="296417"/>
                </a:lnTo>
                <a:lnTo>
                  <a:pt x="385825" y="275716"/>
                </a:lnTo>
                <a:lnTo>
                  <a:pt x="384468" y="230499"/>
                </a:lnTo>
                <a:lnTo>
                  <a:pt x="382249" y="208279"/>
                </a:lnTo>
                <a:lnTo>
                  <a:pt x="130175" y="208279"/>
                </a:lnTo>
                <a:lnTo>
                  <a:pt x="132244" y="188162"/>
                </a:lnTo>
                <a:lnTo>
                  <a:pt x="144907" y="143763"/>
                </a:lnTo>
                <a:lnTo>
                  <a:pt x="179071" y="111134"/>
                </a:lnTo>
                <a:lnTo>
                  <a:pt x="193548" y="108965"/>
                </a:lnTo>
                <a:lnTo>
                  <a:pt x="358683" y="108965"/>
                </a:lnTo>
                <a:lnTo>
                  <a:pt x="352087" y="93678"/>
                </a:lnTo>
                <a:lnTo>
                  <a:pt x="320567" y="48529"/>
                </a:lnTo>
                <a:lnTo>
                  <a:pt x="278493" y="17573"/>
                </a:lnTo>
                <a:lnTo>
                  <a:pt x="222053" y="1952"/>
                </a:lnTo>
                <a:lnTo>
                  <a:pt x="188213" y="0"/>
                </a:lnTo>
                <a:close/>
              </a:path>
              <a:path w="386079" h="501650">
                <a:moveTo>
                  <a:pt x="252729" y="349757"/>
                </a:moveTo>
                <a:lnTo>
                  <a:pt x="221910" y="386038"/>
                </a:lnTo>
                <a:lnTo>
                  <a:pt x="194817" y="393700"/>
                </a:lnTo>
                <a:lnTo>
                  <a:pt x="366288" y="393700"/>
                </a:lnTo>
                <a:lnTo>
                  <a:pt x="378587" y="366521"/>
                </a:lnTo>
                <a:lnTo>
                  <a:pt x="252729" y="349757"/>
                </a:lnTo>
                <a:close/>
              </a:path>
              <a:path w="386079" h="501650">
                <a:moveTo>
                  <a:pt x="358683" y="108965"/>
                </a:moveTo>
                <a:lnTo>
                  <a:pt x="193548" y="108965"/>
                </a:lnTo>
                <a:lnTo>
                  <a:pt x="206069" y="110396"/>
                </a:lnTo>
                <a:lnTo>
                  <a:pt x="217328" y="114696"/>
                </a:lnTo>
                <a:lnTo>
                  <a:pt x="243278" y="145379"/>
                </a:lnTo>
                <a:lnTo>
                  <a:pt x="253236" y="183566"/>
                </a:lnTo>
                <a:lnTo>
                  <a:pt x="255904" y="208279"/>
                </a:lnTo>
                <a:lnTo>
                  <a:pt x="382249" y="208279"/>
                </a:lnTo>
                <a:lnTo>
                  <a:pt x="380396" y="189722"/>
                </a:lnTo>
                <a:lnTo>
                  <a:pt x="373610" y="153398"/>
                </a:lnTo>
                <a:lnTo>
                  <a:pt x="364109" y="121538"/>
                </a:lnTo>
                <a:lnTo>
                  <a:pt x="358683" y="108965"/>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2485914" y="1433354"/>
            <a:ext cx="385807" cy="501295"/>
          </a:xfrm>
          <a:custGeom>
            <a:avLst/>
            <a:gdLst/>
            <a:ahLst/>
            <a:cxnLst/>
            <a:rect l="l" t="t" r="r" b="b"/>
            <a:pathLst>
              <a:path w="386080" h="501650">
                <a:moveTo>
                  <a:pt x="351348" y="440689"/>
                </a:moveTo>
                <a:lnTo>
                  <a:pt x="125603" y="440689"/>
                </a:lnTo>
                <a:lnTo>
                  <a:pt x="138412" y="456027"/>
                </a:lnTo>
                <a:lnTo>
                  <a:pt x="173862" y="486155"/>
                </a:lnTo>
                <a:lnTo>
                  <a:pt x="221243" y="500675"/>
                </a:lnTo>
                <a:lnTo>
                  <a:pt x="238506" y="501650"/>
                </a:lnTo>
                <a:lnTo>
                  <a:pt x="258699" y="500268"/>
                </a:lnTo>
                <a:lnTo>
                  <a:pt x="296227" y="489219"/>
                </a:lnTo>
                <a:lnTo>
                  <a:pt x="329588" y="467098"/>
                </a:lnTo>
                <a:lnTo>
                  <a:pt x="351348" y="440689"/>
                </a:lnTo>
                <a:close/>
              </a:path>
              <a:path w="386080" h="501650">
                <a:moveTo>
                  <a:pt x="135509" y="0"/>
                </a:moveTo>
                <a:lnTo>
                  <a:pt x="0" y="0"/>
                </a:lnTo>
                <a:lnTo>
                  <a:pt x="0" y="493522"/>
                </a:lnTo>
                <a:lnTo>
                  <a:pt x="125603" y="493522"/>
                </a:lnTo>
                <a:lnTo>
                  <a:pt x="125603" y="440689"/>
                </a:lnTo>
                <a:lnTo>
                  <a:pt x="351348" y="440689"/>
                </a:lnTo>
                <a:lnTo>
                  <a:pt x="356068" y="433760"/>
                </a:lnTo>
                <a:lnTo>
                  <a:pt x="366522" y="412876"/>
                </a:lnTo>
                <a:lnTo>
                  <a:pt x="370715" y="401319"/>
                </a:lnTo>
                <a:lnTo>
                  <a:pt x="194691" y="401319"/>
                </a:lnTo>
                <a:lnTo>
                  <a:pt x="182211" y="400012"/>
                </a:lnTo>
                <a:lnTo>
                  <a:pt x="144103" y="368589"/>
                </a:lnTo>
                <a:lnTo>
                  <a:pt x="134619" y="313689"/>
                </a:lnTo>
                <a:lnTo>
                  <a:pt x="135693" y="293993"/>
                </a:lnTo>
                <a:lnTo>
                  <a:pt x="151892" y="250951"/>
                </a:lnTo>
                <a:lnTo>
                  <a:pt x="196596" y="230250"/>
                </a:lnTo>
                <a:lnTo>
                  <a:pt x="374480" y="230250"/>
                </a:lnTo>
                <a:lnTo>
                  <a:pt x="362124" y="200880"/>
                </a:lnTo>
                <a:lnTo>
                  <a:pt x="343788" y="174878"/>
                </a:lnTo>
                <a:lnTo>
                  <a:pt x="339515" y="170941"/>
                </a:lnTo>
                <a:lnTo>
                  <a:pt x="135509" y="170941"/>
                </a:lnTo>
                <a:lnTo>
                  <a:pt x="135509" y="0"/>
                </a:lnTo>
                <a:close/>
              </a:path>
              <a:path w="386080" h="501650">
                <a:moveTo>
                  <a:pt x="374480" y="230250"/>
                </a:moveTo>
                <a:lnTo>
                  <a:pt x="196596" y="230250"/>
                </a:lnTo>
                <a:lnTo>
                  <a:pt x="207577" y="231489"/>
                </a:lnTo>
                <a:lnTo>
                  <a:pt x="217678" y="235203"/>
                </a:lnTo>
                <a:lnTo>
                  <a:pt x="247332" y="275574"/>
                </a:lnTo>
                <a:lnTo>
                  <a:pt x="251275" y="313689"/>
                </a:lnTo>
                <a:lnTo>
                  <a:pt x="250328" y="334706"/>
                </a:lnTo>
                <a:lnTo>
                  <a:pt x="235076" y="380873"/>
                </a:lnTo>
                <a:lnTo>
                  <a:pt x="194691" y="401319"/>
                </a:lnTo>
                <a:lnTo>
                  <a:pt x="370715" y="401319"/>
                </a:lnTo>
                <a:lnTo>
                  <a:pt x="374895" y="389800"/>
                </a:lnTo>
                <a:lnTo>
                  <a:pt x="380920" y="364775"/>
                </a:lnTo>
                <a:lnTo>
                  <a:pt x="384506" y="338081"/>
                </a:lnTo>
                <a:lnTo>
                  <a:pt x="385699" y="309625"/>
                </a:lnTo>
                <a:lnTo>
                  <a:pt x="383079" y="268265"/>
                </a:lnTo>
                <a:lnTo>
                  <a:pt x="375221" y="232013"/>
                </a:lnTo>
                <a:lnTo>
                  <a:pt x="374480" y="230250"/>
                </a:lnTo>
                <a:close/>
              </a:path>
              <a:path w="386080" h="501650">
                <a:moveTo>
                  <a:pt x="237871" y="127888"/>
                </a:moveTo>
                <a:lnTo>
                  <a:pt x="194401" y="133943"/>
                </a:lnTo>
                <a:lnTo>
                  <a:pt x="157035" y="152098"/>
                </a:lnTo>
                <a:lnTo>
                  <a:pt x="135509" y="170941"/>
                </a:lnTo>
                <a:lnTo>
                  <a:pt x="339515" y="170941"/>
                </a:lnTo>
                <a:lnTo>
                  <a:pt x="321452" y="154303"/>
                </a:lnTo>
                <a:lnTo>
                  <a:pt x="296354" y="139620"/>
                </a:lnTo>
                <a:lnTo>
                  <a:pt x="268493" y="130819"/>
                </a:lnTo>
                <a:lnTo>
                  <a:pt x="237871" y="127888"/>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p:nvPr/>
        </p:nvSpPr>
        <p:spPr>
          <a:xfrm>
            <a:off x="253820" y="1433354"/>
            <a:ext cx="253820" cy="503198"/>
          </a:xfrm>
          <a:custGeom>
            <a:avLst/>
            <a:gdLst/>
            <a:ahLst/>
            <a:cxnLst/>
            <a:rect l="l" t="t" r="r" b="b"/>
            <a:pathLst>
              <a:path w="254000" h="503555">
                <a:moveTo>
                  <a:pt x="237734" y="109600"/>
                </a:moveTo>
                <a:lnTo>
                  <a:pt x="131673" y="109600"/>
                </a:lnTo>
                <a:lnTo>
                  <a:pt x="139160" y="110456"/>
                </a:lnTo>
                <a:lnTo>
                  <a:pt x="145427" y="113014"/>
                </a:lnTo>
                <a:lnTo>
                  <a:pt x="160341" y="155122"/>
                </a:lnTo>
                <a:lnTo>
                  <a:pt x="160743" y="170814"/>
                </a:lnTo>
                <a:lnTo>
                  <a:pt x="152959" y="177319"/>
                </a:lnTo>
                <a:lnTo>
                  <a:pt x="108359" y="204311"/>
                </a:lnTo>
                <a:lnTo>
                  <a:pt x="69164" y="222123"/>
                </a:lnTo>
                <a:lnTo>
                  <a:pt x="50883" y="231838"/>
                </a:lnTo>
                <a:lnTo>
                  <a:pt x="14744" y="274700"/>
                </a:lnTo>
                <a:lnTo>
                  <a:pt x="3686" y="314880"/>
                </a:lnTo>
                <a:lnTo>
                  <a:pt x="0" y="364871"/>
                </a:lnTo>
                <a:lnTo>
                  <a:pt x="1278" y="392947"/>
                </a:lnTo>
                <a:lnTo>
                  <a:pt x="11508" y="442148"/>
                </a:lnTo>
                <a:lnTo>
                  <a:pt x="31875" y="480724"/>
                </a:lnTo>
                <a:lnTo>
                  <a:pt x="80378" y="503174"/>
                </a:lnTo>
                <a:lnTo>
                  <a:pt x="94772" y="501933"/>
                </a:lnTo>
                <a:lnTo>
                  <a:pt x="132499" y="483235"/>
                </a:lnTo>
                <a:lnTo>
                  <a:pt x="157232" y="449516"/>
                </a:lnTo>
                <a:lnTo>
                  <a:pt x="165531" y="433324"/>
                </a:lnTo>
                <a:lnTo>
                  <a:pt x="244579" y="433324"/>
                </a:lnTo>
                <a:lnTo>
                  <a:pt x="244517" y="432556"/>
                </a:lnTo>
                <a:lnTo>
                  <a:pt x="243901" y="420163"/>
                </a:lnTo>
                <a:lnTo>
                  <a:pt x="243531" y="405937"/>
                </a:lnTo>
                <a:lnTo>
                  <a:pt x="243491" y="400685"/>
                </a:lnTo>
                <a:lnTo>
                  <a:pt x="103149" y="400685"/>
                </a:lnTo>
                <a:lnTo>
                  <a:pt x="85169" y="361660"/>
                </a:lnTo>
                <a:lnTo>
                  <a:pt x="84734" y="351281"/>
                </a:lnTo>
                <a:lnTo>
                  <a:pt x="85175" y="342016"/>
                </a:lnTo>
                <a:lnTo>
                  <a:pt x="103378" y="302656"/>
                </a:lnTo>
                <a:lnTo>
                  <a:pt x="133767" y="282424"/>
                </a:lnTo>
                <a:lnTo>
                  <a:pt x="142943" y="276637"/>
                </a:lnTo>
                <a:lnTo>
                  <a:pt x="151935" y="270422"/>
                </a:lnTo>
                <a:lnTo>
                  <a:pt x="160743" y="263778"/>
                </a:lnTo>
                <a:lnTo>
                  <a:pt x="243408" y="263778"/>
                </a:lnTo>
                <a:lnTo>
                  <a:pt x="243408" y="177164"/>
                </a:lnTo>
                <a:lnTo>
                  <a:pt x="243017" y="159976"/>
                </a:lnTo>
                <a:lnTo>
                  <a:pt x="241847" y="142335"/>
                </a:lnTo>
                <a:lnTo>
                  <a:pt x="239890" y="124205"/>
                </a:lnTo>
                <a:lnTo>
                  <a:pt x="237734" y="109600"/>
                </a:lnTo>
                <a:close/>
              </a:path>
              <a:path w="254000" h="503555">
                <a:moveTo>
                  <a:pt x="244579" y="433324"/>
                </a:moveTo>
                <a:lnTo>
                  <a:pt x="165531" y="433324"/>
                </a:lnTo>
                <a:lnTo>
                  <a:pt x="166256" y="443102"/>
                </a:lnTo>
                <a:lnTo>
                  <a:pt x="172481" y="483540"/>
                </a:lnTo>
                <a:lnTo>
                  <a:pt x="174663" y="492251"/>
                </a:lnTo>
                <a:lnTo>
                  <a:pt x="254000" y="492251"/>
                </a:lnTo>
                <a:lnTo>
                  <a:pt x="250968" y="477964"/>
                </a:lnTo>
                <a:lnTo>
                  <a:pt x="248521" y="465010"/>
                </a:lnTo>
                <a:lnTo>
                  <a:pt x="246658" y="453389"/>
                </a:lnTo>
                <a:lnTo>
                  <a:pt x="245376" y="443102"/>
                </a:lnTo>
                <a:lnTo>
                  <a:pt x="244579" y="433324"/>
                </a:lnTo>
                <a:close/>
              </a:path>
              <a:path w="254000" h="503555">
                <a:moveTo>
                  <a:pt x="243408" y="263778"/>
                </a:moveTo>
                <a:lnTo>
                  <a:pt x="160743" y="263778"/>
                </a:lnTo>
                <a:lnTo>
                  <a:pt x="160704" y="295261"/>
                </a:lnTo>
                <a:lnTo>
                  <a:pt x="160426" y="309673"/>
                </a:lnTo>
                <a:lnTo>
                  <a:pt x="155663" y="349250"/>
                </a:lnTo>
                <a:lnTo>
                  <a:pt x="138417" y="385699"/>
                </a:lnTo>
                <a:lnTo>
                  <a:pt x="112153" y="400685"/>
                </a:lnTo>
                <a:lnTo>
                  <a:pt x="243491" y="400685"/>
                </a:lnTo>
                <a:lnTo>
                  <a:pt x="243408" y="263778"/>
                </a:lnTo>
                <a:close/>
              </a:path>
              <a:path w="254000" h="503555">
                <a:moveTo>
                  <a:pt x="120662" y="0"/>
                </a:moveTo>
                <a:lnTo>
                  <a:pt x="76631" y="7619"/>
                </a:lnTo>
                <a:lnTo>
                  <a:pt x="44653" y="29463"/>
                </a:lnTo>
                <a:lnTo>
                  <a:pt x="24618" y="62628"/>
                </a:lnTo>
                <a:lnTo>
                  <a:pt x="12225" y="106870"/>
                </a:lnTo>
                <a:lnTo>
                  <a:pt x="6642" y="148209"/>
                </a:lnTo>
                <a:lnTo>
                  <a:pt x="87439" y="166750"/>
                </a:lnTo>
                <a:lnTo>
                  <a:pt x="90122" y="152370"/>
                </a:lnTo>
                <a:lnTo>
                  <a:pt x="93198" y="140477"/>
                </a:lnTo>
                <a:lnTo>
                  <a:pt x="121939" y="110507"/>
                </a:lnTo>
                <a:lnTo>
                  <a:pt x="131673" y="109600"/>
                </a:lnTo>
                <a:lnTo>
                  <a:pt x="237734" y="109600"/>
                </a:lnTo>
                <a:lnTo>
                  <a:pt x="237172" y="105790"/>
                </a:lnTo>
                <a:lnTo>
                  <a:pt x="225256" y="59267"/>
                </a:lnTo>
                <a:lnTo>
                  <a:pt x="202857" y="23542"/>
                </a:lnTo>
                <a:lnTo>
                  <a:pt x="169263" y="5197"/>
                </a:lnTo>
                <a:lnTo>
                  <a:pt x="138731" y="573"/>
                </a:lnTo>
                <a:lnTo>
                  <a:pt x="120662"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p:nvPr/>
        </p:nvSpPr>
        <p:spPr>
          <a:xfrm>
            <a:off x="2995584" y="1980591"/>
            <a:ext cx="1057161" cy="639627"/>
          </a:xfrm>
          <a:custGeom>
            <a:avLst/>
            <a:gdLst/>
            <a:ahLst/>
            <a:cxnLst/>
            <a:rect l="l" t="t" r="r" b="b"/>
            <a:pathLst>
              <a:path w="1057910" h="640080">
                <a:moveTo>
                  <a:pt x="0" y="640079"/>
                </a:moveTo>
                <a:lnTo>
                  <a:pt x="1057656" y="640079"/>
                </a:lnTo>
                <a:lnTo>
                  <a:pt x="1057656" y="0"/>
                </a:lnTo>
                <a:lnTo>
                  <a:pt x="0" y="0"/>
                </a:lnTo>
                <a:lnTo>
                  <a:pt x="0" y="64007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txBox="1"/>
          <p:nvPr/>
        </p:nvSpPr>
        <p:spPr>
          <a:xfrm>
            <a:off x="2995584" y="1980591"/>
            <a:ext cx="1057161" cy="416560"/>
          </a:xfrm>
          <a:prstGeom prst="rect">
            <a:avLst/>
          </a:prstGeom>
          <a:ln w="9525">
            <a:solidFill>
              <a:srgbClr val="91AFFF"/>
            </a:solidFill>
          </a:ln>
        </p:spPr>
        <p:txBody>
          <a:bodyPr vert="horz" wrap="square" lIns="0" tIns="201786" rIns="0" bIns="0" rtlCol="0">
            <a:spAutoFit/>
          </a:bodyPr>
          <a:lstStyle/>
          <a:p>
            <a:pPr marL="71755">
              <a:lnSpc>
                <a:spcPct val="100000"/>
              </a:lnSpc>
              <a:spcBef>
                <a:spcPts val="1590"/>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客户背景</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19" name="object 19"/>
          <p:cNvSpPr/>
          <p:nvPr/>
        </p:nvSpPr>
        <p:spPr>
          <a:xfrm>
            <a:off x="2995584" y="2720730"/>
            <a:ext cx="1057161" cy="517792"/>
          </a:xfrm>
          <a:custGeom>
            <a:avLst/>
            <a:gdLst/>
            <a:ahLst/>
            <a:cxnLst/>
            <a:rect l="l" t="t" r="r" b="b"/>
            <a:pathLst>
              <a:path w="1057910" h="518160">
                <a:moveTo>
                  <a:pt x="0" y="518160"/>
                </a:moveTo>
                <a:lnTo>
                  <a:pt x="1057656" y="518160"/>
                </a:lnTo>
                <a:lnTo>
                  <a:pt x="1057656"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txBox="1"/>
          <p:nvPr/>
        </p:nvSpPr>
        <p:spPr>
          <a:xfrm>
            <a:off x="2995584" y="2720730"/>
            <a:ext cx="1057161" cy="464820"/>
          </a:xfrm>
          <a:prstGeom prst="rect">
            <a:avLst/>
          </a:prstGeom>
          <a:ln w="9525">
            <a:solidFill>
              <a:srgbClr val="91AFFF"/>
            </a:solidFill>
          </a:ln>
        </p:spPr>
        <p:txBody>
          <a:bodyPr vert="horz" wrap="square" lIns="0" tIns="34900" rIns="0" bIns="0" rtlCol="0">
            <a:spAutoFit/>
          </a:bodyPr>
          <a:lstStyle/>
          <a:p>
            <a:pPr marL="71755">
              <a:lnSpc>
                <a:spcPct val="100000"/>
              </a:lnSpc>
              <a:spcBef>
                <a:spcPts val="275"/>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客户经济</a:t>
            </a:r>
            <a:endParaRPr sz="1400">
              <a:latin typeface="微软雅黑" panose="020B0503020204020204" charset="-122"/>
              <a:ea typeface="微软雅黑" panose="020B0503020204020204" charset="-122"/>
              <a:cs typeface="微软雅黑" panose="020B0503020204020204" charset="-122"/>
            </a:endParaRPr>
          </a:p>
          <a:p>
            <a:pPr marL="71755">
              <a:lnSpc>
                <a:spcPct val="100000"/>
              </a:lnSpc>
            </a:pPr>
            <a:r>
              <a:rPr sz="1400" dirty="0">
                <a:solidFill>
                  <a:srgbClr val="0066CC"/>
                </a:solidFill>
                <a:latin typeface="微软雅黑" panose="020B0503020204020204" charset="-122"/>
                <a:ea typeface="微软雅黑" panose="020B0503020204020204" charset="-122"/>
                <a:cs typeface="微软雅黑" panose="020B0503020204020204" charset="-122"/>
              </a:rPr>
              <a:t>指标</a:t>
            </a:r>
            <a:endParaRPr sz="1400">
              <a:latin typeface="微软雅黑" panose="020B0503020204020204" charset="-122"/>
              <a:ea typeface="微软雅黑" panose="020B0503020204020204" charset="-122"/>
              <a:cs typeface="微软雅黑" panose="020B0503020204020204" charset="-122"/>
            </a:endParaRPr>
          </a:p>
        </p:txBody>
      </p:sp>
      <p:sp>
        <p:nvSpPr>
          <p:cNvPr id="21" name="object 21"/>
          <p:cNvSpPr/>
          <p:nvPr/>
        </p:nvSpPr>
        <p:spPr>
          <a:xfrm>
            <a:off x="2995584" y="3340559"/>
            <a:ext cx="1057161" cy="516524"/>
          </a:xfrm>
          <a:custGeom>
            <a:avLst/>
            <a:gdLst/>
            <a:ahLst/>
            <a:cxnLst/>
            <a:rect l="l" t="t" r="r" b="b"/>
            <a:pathLst>
              <a:path w="1057910" h="516889">
                <a:moveTo>
                  <a:pt x="0" y="516636"/>
                </a:moveTo>
                <a:lnTo>
                  <a:pt x="1057656" y="516636"/>
                </a:lnTo>
                <a:lnTo>
                  <a:pt x="1057656" y="0"/>
                </a:lnTo>
                <a:lnTo>
                  <a:pt x="0" y="0"/>
                </a:lnTo>
                <a:lnTo>
                  <a:pt x="0" y="51663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txBox="1"/>
          <p:nvPr/>
        </p:nvSpPr>
        <p:spPr>
          <a:xfrm>
            <a:off x="2995584" y="3340559"/>
            <a:ext cx="1057161" cy="464820"/>
          </a:xfrm>
          <a:prstGeom prst="rect">
            <a:avLst/>
          </a:prstGeom>
          <a:ln w="9525">
            <a:solidFill>
              <a:srgbClr val="91AFFF"/>
            </a:solidFill>
          </a:ln>
        </p:spPr>
        <p:txBody>
          <a:bodyPr vert="horz" wrap="square" lIns="0" tIns="31091" rIns="0" bIns="0" rtlCol="0">
            <a:spAutoFit/>
          </a:bodyPr>
          <a:lstStyle/>
          <a:p>
            <a:pPr marL="71755" marR="86360">
              <a:lnSpc>
                <a:spcPct val="101000"/>
              </a:lnSpc>
              <a:spcBef>
                <a:spcPts val="245"/>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客户关系与 决策流程</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3" name="object 23"/>
          <p:cNvSpPr/>
          <p:nvPr/>
        </p:nvSpPr>
        <p:spPr>
          <a:xfrm>
            <a:off x="2995584" y="3958865"/>
            <a:ext cx="1057161" cy="517792"/>
          </a:xfrm>
          <a:custGeom>
            <a:avLst/>
            <a:gdLst/>
            <a:ahLst/>
            <a:cxnLst/>
            <a:rect l="l" t="t" r="r" b="b"/>
            <a:pathLst>
              <a:path w="1057910" h="518160">
                <a:moveTo>
                  <a:pt x="0" y="518159"/>
                </a:moveTo>
                <a:lnTo>
                  <a:pt x="1057656" y="518159"/>
                </a:lnTo>
                <a:lnTo>
                  <a:pt x="1057656" y="0"/>
                </a:lnTo>
                <a:lnTo>
                  <a:pt x="0" y="0"/>
                </a:lnTo>
                <a:lnTo>
                  <a:pt x="0" y="51815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txBox="1"/>
          <p:nvPr/>
        </p:nvSpPr>
        <p:spPr>
          <a:xfrm>
            <a:off x="2995584" y="3958865"/>
            <a:ext cx="1057161" cy="355600"/>
          </a:xfrm>
          <a:prstGeom prst="rect">
            <a:avLst/>
          </a:prstGeom>
          <a:ln w="9525">
            <a:solidFill>
              <a:srgbClr val="91AFFF"/>
            </a:solidFill>
          </a:ln>
        </p:spPr>
        <p:txBody>
          <a:bodyPr vert="horz" wrap="square" lIns="0" tIns="140870" rIns="0" bIns="0" rtlCol="0">
            <a:spAutoFit/>
          </a:bodyPr>
          <a:lstStyle/>
          <a:p>
            <a:pPr marL="71755">
              <a:lnSpc>
                <a:spcPct val="100000"/>
              </a:lnSpc>
              <a:spcBef>
                <a:spcPts val="1110"/>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客户需求</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5" name="object 25"/>
          <p:cNvSpPr/>
          <p:nvPr/>
        </p:nvSpPr>
        <p:spPr>
          <a:xfrm>
            <a:off x="2995584" y="4577170"/>
            <a:ext cx="1057161" cy="517792"/>
          </a:xfrm>
          <a:custGeom>
            <a:avLst/>
            <a:gdLst/>
            <a:ahLst/>
            <a:cxnLst/>
            <a:rect l="l" t="t" r="r" b="b"/>
            <a:pathLst>
              <a:path w="1057910" h="518160">
                <a:moveTo>
                  <a:pt x="0" y="518160"/>
                </a:moveTo>
                <a:lnTo>
                  <a:pt x="1057656" y="518160"/>
                </a:lnTo>
                <a:lnTo>
                  <a:pt x="1057656"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6" name="object 26"/>
          <p:cNvSpPr txBox="1"/>
          <p:nvPr/>
        </p:nvSpPr>
        <p:spPr>
          <a:xfrm>
            <a:off x="2995584" y="4577170"/>
            <a:ext cx="1057161" cy="356235"/>
          </a:xfrm>
          <a:prstGeom prst="rect">
            <a:avLst/>
          </a:prstGeom>
          <a:ln w="9525">
            <a:solidFill>
              <a:srgbClr val="91AFFF"/>
            </a:solidFill>
          </a:ln>
        </p:spPr>
        <p:txBody>
          <a:bodyPr vert="horz" wrap="square" lIns="0" tIns="141504" rIns="0" bIns="0" rtlCol="0">
            <a:spAutoFit/>
          </a:bodyPr>
          <a:lstStyle/>
          <a:p>
            <a:pPr marL="71755">
              <a:lnSpc>
                <a:spcPct val="100000"/>
              </a:lnSpc>
              <a:spcBef>
                <a:spcPts val="1115"/>
              </a:spcBef>
            </a:pPr>
            <a:r>
              <a:rPr sz="1400" dirty="0">
                <a:solidFill>
                  <a:srgbClr val="0066CC"/>
                </a:solidFill>
                <a:latin typeface="微软雅黑" panose="020B0503020204020204" charset="-122"/>
                <a:ea typeface="微软雅黑" panose="020B0503020204020204" charset="-122"/>
                <a:cs typeface="微软雅黑" panose="020B0503020204020204" charset="-122"/>
              </a:rPr>
              <a:t>风险分析</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7" name="object 27"/>
          <p:cNvSpPr/>
          <p:nvPr/>
        </p:nvSpPr>
        <p:spPr>
          <a:xfrm>
            <a:off x="5450533" y="3897948"/>
            <a:ext cx="2614982" cy="335043"/>
          </a:xfrm>
          <a:custGeom>
            <a:avLst/>
            <a:gdLst/>
            <a:ahLst/>
            <a:cxnLst/>
            <a:rect l="l" t="t" r="r" b="b"/>
            <a:pathLst>
              <a:path w="2616834" h="335279">
                <a:moveTo>
                  <a:pt x="0" y="335280"/>
                </a:moveTo>
                <a:lnTo>
                  <a:pt x="2616707" y="335280"/>
                </a:lnTo>
                <a:lnTo>
                  <a:pt x="2616707" y="0"/>
                </a:lnTo>
                <a:lnTo>
                  <a:pt x="0" y="0"/>
                </a:lnTo>
                <a:lnTo>
                  <a:pt x="0" y="33528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txBox="1"/>
          <p:nvPr/>
        </p:nvSpPr>
        <p:spPr>
          <a:xfrm>
            <a:off x="5450533" y="3897948"/>
            <a:ext cx="2614982" cy="264795"/>
          </a:xfrm>
          <a:prstGeom prst="rect">
            <a:avLst/>
          </a:prstGeom>
          <a:ln w="9525">
            <a:solidFill>
              <a:srgbClr val="91AFFF"/>
            </a:solidFill>
          </a:ln>
        </p:spPr>
        <p:txBody>
          <a:bodyPr vert="horz" wrap="square" lIns="0" tIns="50129" rIns="0" bIns="0" rtlCol="0">
            <a:spAutoFit/>
          </a:bodyPr>
          <a:lstStyle/>
          <a:p>
            <a:pPr marL="73025">
              <a:lnSpc>
                <a:spcPct val="100000"/>
              </a:lnSpc>
              <a:spcBef>
                <a:spcPts val="395"/>
              </a:spcBef>
            </a:pPr>
            <a:r>
              <a:rPr sz="1400" dirty="0">
                <a:solidFill>
                  <a:srgbClr val="0066CC"/>
                </a:solidFill>
                <a:latin typeface="微软雅黑" panose="020B0503020204020204" charset="-122"/>
                <a:ea typeface="微软雅黑" panose="020B0503020204020204" charset="-122"/>
                <a:cs typeface="微软雅黑" panose="020B0503020204020204" charset="-122"/>
              </a:rPr>
              <a:t>大客户管理的组织架构</a:t>
            </a:r>
            <a:r>
              <a:rPr sz="1400" spc="-15" dirty="0">
                <a:solidFill>
                  <a:srgbClr val="0066CC"/>
                </a:solidFill>
                <a:latin typeface="微软雅黑" panose="020B0503020204020204" charset="-122"/>
                <a:ea typeface="微软雅黑" panose="020B0503020204020204" charset="-122"/>
                <a:cs typeface="微软雅黑" panose="020B0503020204020204" charset="-122"/>
              </a:rPr>
              <a:t>设</a:t>
            </a:r>
            <a:r>
              <a:rPr sz="1400" spc="5" dirty="0">
                <a:solidFill>
                  <a:srgbClr val="0066CC"/>
                </a:solidFill>
                <a:latin typeface="微软雅黑" panose="020B0503020204020204" charset="-122"/>
                <a:ea typeface="微软雅黑" panose="020B0503020204020204" charset="-122"/>
                <a:cs typeface="微软雅黑" panose="020B0503020204020204" charset="-122"/>
              </a:rPr>
              <a:t>计</a:t>
            </a:r>
            <a:endParaRPr sz="1400">
              <a:latin typeface="微软雅黑" panose="020B0503020204020204" charset="-122"/>
              <a:ea typeface="微软雅黑" panose="020B0503020204020204" charset="-122"/>
              <a:cs typeface="微软雅黑" panose="020B0503020204020204" charset="-122"/>
            </a:endParaRPr>
          </a:p>
        </p:txBody>
      </p:sp>
      <p:sp>
        <p:nvSpPr>
          <p:cNvPr id="29" name="object 29"/>
          <p:cNvSpPr/>
          <p:nvPr/>
        </p:nvSpPr>
        <p:spPr>
          <a:xfrm>
            <a:off x="6944518" y="1980591"/>
            <a:ext cx="1156151" cy="306488"/>
          </a:xfrm>
          <a:custGeom>
            <a:avLst/>
            <a:gdLst/>
            <a:ahLst/>
            <a:cxnLst/>
            <a:rect l="l" t="t" r="r" b="b"/>
            <a:pathLst>
              <a:path w="1156970" h="306705">
                <a:moveTo>
                  <a:pt x="0" y="306324"/>
                </a:moveTo>
                <a:lnTo>
                  <a:pt x="1156716" y="306324"/>
                </a:lnTo>
                <a:lnTo>
                  <a:pt x="1156716" y="0"/>
                </a:lnTo>
                <a:lnTo>
                  <a:pt x="0" y="0"/>
                </a:lnTo>
                <a:lnTo>
                  <a:pt x="0" y="30632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0" name="object 30"/>
          <p:cNvSpPr/>
          <p:nvPr/>
        </p:nvSpPr>
        <p:spPr>
          <a:xfrm>
            <a:off x="6944518" y="2330862"/>
            <a:ext cx="1156151" cy="306488"/>
          </a:xfrm>
          <a:custGeom>
            <a:avLst/>
            <a:gdLst/>
            <a:ahLst/>
            <a:cxnLst/>
            <a:rect l="l" t="t" r="r" b="b"/>
            <a:pathLst>
              <a:path w="1156970" h="306705">
                <a:moveTo>
                  <a:pt x="0" y="306324"/>
                </a:moveTo>
                <a:lnTo>
                  <a:pt x="1156716" y="306324"/>
                </a:lnTo>
                <a:lnTo>
                  <a:pt x="1156716" y="0"/>
                </a:lnTo>
                <a:lnTo>
                  <a:pt x="0" y="0"/>
                </a:lnTo>
                <a:lnTo>
                  <a:pt x="0" y="30632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1" name="object 31"/>
          <p:cNvSpPr/>
          <p:nvPr/>
        </p:nvSpPr>
        <p:spPr>
          <a:xfrm>
            <a:off x="6944518" y="2682657"/>
            <a:ext cx="1156151" cy="517792"/>
          </a:xfrm>
          <a:custGeom>
            <a:avLst/>
            <a:gdLst/>
            <a:ahLst/>
            <a:cxnLst/>
            <a:rect l="l" t="t" r="r" b="b"/>
            <a:pathLst>
              <a:path w="1156970" h="518160">
                <a:moveTo>
                  <a:pt x="0" y="518160"/>
                </a:moveTo>
                <a:lnTo>
                  <a:pt x="1156716" y="518160"/>
                </a:lnTo>
                <a:lnTo>
                  <a:pt x="1156716"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graphicFrame>
        <p:nvGraphicFramePr>
          <p:cNvPr id="32" name="object 32"/>
          <p:cNvGraphicFramePr>
            <a:graphicFrameLocks noGrp="1"/>
          </p:cNvGraphicFramePr>
          <p:nvPr/>
        </p:nvGraphicFramePr>
        <p:xfrm>
          <a:off x="6939759" y="1975831"/>
          <a:ext cx="1170305" cy="1229360"/>
        </p:xfrm>
        <a:graphic>
          <a:graphicData uri="http://schemas.openxmlformats.org/drawingml/2006/table">
            <a:tbl>
              <a:tblPr firstRow="1" bandRow="1">
                <a:tableStyleId>{2D5ABB26-0587-4C30-8999-92F81FD0307C}</a:tableStyleId>
              </a:tblPr>
              <a:tblGrid>
                <a:gridCol w="1170305"/>
              </a:tblGrid>
              <a:tr h="330835">
                <a:tc>
                  <a:txBody>
                    <a:bodyPr/>
                    <a:lstStyle/>
                    <a:p>
                      <a:pPr marL="73660">
                        <a:lnSpc>
                          <a:spcPct val="100000"/>
                        </a:lnSpc>
                        <a:spcBef>
                          <a:spcPts val="275"/>
                        </a:spcBef>
                      </a:pPr>
                      <a:r>
                        <a:rPr sz="1400" dirty="0">
                          <a:solidFill>
                            <a:srgbClr val="0066CC"/>
                          </a:solidFill>
                          <a:latin typeface="微软雅黑" panose="020B0503020204020204" charset="-122"/>
                          <a:ea typeface="微软雅黑" panose="020B0503020204020204" charset="-122"/>
                          <a:cs typeface="微软雅黑" panose="020B0503020204020204" charset="-122"/>
                        </a:rPr>
                        <a:t>价值销售</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a:txBody>
                  <a:tcPr marL="0" marR="0" marT="34900" marB="0">
                    <a:lnL w="9525">
                      <a:solidFill>
                        <a:srgbClr val="91AFFF"/>
                      </a:solidFill>
                      <a:prstDash val="solid"/>
                    </a:lnL>
                    <a:lnR w="9525">
                      <a:solidFill>
                        <a:srgbClr val="91AFFF"/>
                      </a:solidFill>
                      <a:prstDash val="solid"/>
                    </a:lnR>
                    <a:lnT w="9525">
                      <a:solidFill>
                        <a:srgbClr val="91AFFF"/>
                      </a:solidFill>
                      <a:prstDash val="solid"/>
                    </a:lnT>
                    <a:lnB w="9525">
                      <a:solidFill>
                        <a:srgbClr val="91AFFF"/>
                      </a:solidFill>
                      <a:prstDash val="solid"/>
                    </a:lnB>
                    <a:solidFill>
                      <a:srgbClr val="C6DFFA"/>
                    </a:solidFill>
                  </a:tcPr>
                </a:tc>
              </a:tr>
              <a:tr h="353695">
                <a:tc>
                  <a:txBody>
                    <a:bodyPr/>
                    <a:lstStyle/>
                    <a:p>
                      <a:pPr marL="73660">
                        <a:lnSpc>
                          <a:spcPct val="100000"/>
                        </a:lnSpc>
                        <a:spcBef>
                          <a:spcPts val="455"/>
                        </a:spcBef>
                      </a:pPr>
                      <a:r>
                        <a:rPr sz="1400" dirty="0">
                          <a:solidFill>
                            <a:srgbClr val="0066CC"/>
                          </a:solidFill>
                          <a:latin typeface="微软雅黑" panose="020B0503020204020204" charset="-122"/>
                          <a:ea typeface="微软雅黑" panose="020B0503020204020204" charset="-122"/>
                          <a:cs typeface="微软雅黑" panose="020B0503020204020204" charset="-122"/>
                        </a:rPr>
                        <a:t>谈判</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a:txBody>
                  <a:tcPr marL="0" marR="0" marT="57744" marB="0">
                    <a:lnL w="9525">
                      <a:solidFill>
                        <a:srgbClr val="91AFFF"/>
                      </a:solidFill>
                      <a:prstDash val="solid"/>
                    </a:lnL>
                    <a:lnR w="9525">
                      <a:solidFill>
                        <a:srgbClr val="91AFFF"/>
                      </a:solidFill>
                      <a:prstDash val="solid"/>
                    </a:lnR>
                    <a:lnT w="9525">
                      <a:solidFill>
                        <a:srgbClr val="91AFFF"/>
                      </a:solidFill>
                      <a:prstDash val="solid"/>
                    </a:lnT>
                    <a:lnB w="9525">
                      <a:solidFill>
                        <a:srgbClr val="91AFFF"/>
                      </a:solidFill>
                      <a:prstDash val="solid"/>
                    </a:lnB>
                    <a:solidFill>
                      <a:srgbClr val="C6DFFA"/>
                    </a:solidFill>
                  </a:tcPr>
                </a:tc>
              </a:tr>
              <a:tr h="544830">
                <a:tc>
                  <a:txBody>
                    <a:bodyPr/>
                    <a:lstStyle/>
                    <a:p>
                      <a:pPr marL="73660">
                        <a:lnSpc>
                          <a:spcPct val="100000"/>
                        </a:lnSpc>
                        <a:spcBef>
                          <a:spcPts val="1295"/>
                        </a:spcBef>
                      </a:pPr>
                      <a:r>
                        <a:rPr sz="1400" dirty="0">
                          <a:solidFill>
                            <a:srgbClr val="0066CC"/>
                          </a:solidFill>
                          <a:latin typeface="微软雅黑" panose="020B0503020204020204" charset="-122"/>
                          <a:ea typeface="微软雅黑" panose="020B0503020204020204" charset="-122"/>
                          <a:cs typeface="微软雅黑" panose="020B0503020204020204" charset="-122"/>
                        </a:rPr>
                        <a:t>绩效管理</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a:txBody>
                  <a:tcPr marL="0" marR="0" marT="164348" marB="0">
                    <a:lnL w="9525">
                      <a:solidFill>
                        <a:srgbClr val="91AFFF"/>
                      </a:solidFill>
                      <a:prstDash val="solid"/>
                    </a:lnL>
                    <a:lnR w="9525">
                      <a:solidFill>
                        <a:srgbClr val="91AFFF"/>
                      </a:solidFill>
                      <a:prstDash val="solid"/>
                    </a:lnR>
                    <a:lnT w="9525">
                      <a:solidFill>
                        <a:srgbClr val="91AFFF"/>
                      </a:solidFill>
                      <a:prstDash val="solid"/>
                    </a:lnT>
                    <a:lnB w="9525">
                      <a:solidFill>
                        <a:srgbClr val="91AFFF"/>
                      </a:solidFill>
                      <a:prstDash val="solid"/>
                    </a:lnB>
                    <a:solidFill>
                      <a:srgbClr val="C6DFFA"/>
                    </a:solidFill>
                  </a:tcPr>
                </a:tc>
              </a:tr>
            </a:tbl>
          </a:graphicData>
        </a:graphic>
      </p:graphicFrame>
      <p:sp>
        <p:nvSpPr>
          <p:cNvPr id="33" name="object 33"/>
          <p:cNvSpPr/>
          <p:nvPr/>
        </p:nvSpPr>
        <p:spPr>
          <a:xfrm>
            <a:off x="632011" y="1980591"/>
            <a:ext cx="1488020" cy="517792"/>
          </a:xfrm>
          <a:custGeom>
            <a:avLst/>
            <a:gdLst/>
            <a:ahLst/>
            <a:cxnLst/>
            <a:rect l="l" t="t" r="r" b="b"/>
            <a:pathLst>
              <a:path w="1489075" h="518160">
                <a:moveTo>
                  <a:pt x="0" y="518160"/>
                </a:moveTo>
                <a:lnTo>
                  <a:pt x="1488948" y="518160"/>
                </a:lnTo>
                <a:lnTo>
                  <a:pt x="1488948"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4" name="object 34"/>
          <p:cNvSpPr txBox="1"/>
          <p:nvPr/>
        </p:nvSpPr>
        <p:spPr>
          <a:xfrm>
            <a:off x="632011" y="1980591"/>
            <a:ext cx="1488020" cy="464185"/>
          </a:xfrm>
          <a:prstGeom prst="rect">
            <a:avLst/>
          </a:prstGeom>
          <a:ln w="9525">
            <a:solidFill>
              <a:srgbClr val="91AFFF"/>
            </a:solidFill>
          </a:ln>
        </p:spPr>
        <p:txBody>
          <a:bodyPr vert="horz" wrap="square" lIns="0" tIns="34265" rIns="0" bIns="0" rtlCol="0">
            <a:spAutoFit/>
          </a:bodyPr>
          <a:lstStyle/>
          <a:p>
            <a:pPr marL="71120" marR="518795">
              <a:lnSpc>
                <a:spcPct val="100000"/>
              </a:lnSpc>
              <a:spcBef>
                <a:spcPts val="270"/>
              </a:spcBef>
            </a:pPr>
            <a:r>
              <a:rPr sz="1400" dirty="0">
                <a:solidFill>
                  <a:srgbClr val="0066CC"/>
                </a:solidFill>
                <a:latin typeface="微软雅黑" panose="020B0503020204020204" charset="-122"/>
                <a:ea typeface="微软雅黑" panose="020B0503020204020204" charset="-122"/>
                <a:cs typeface="微软雅黑" panose="020B0503020204020204" charset="-122"/>
              </a:rPr>
              <a:t>识别并审核 大客户</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5" name="object 35"/>
          <p:cNvSpPr txBox="1"/>
          <p:nvPr/>
        </p:nvSpPr>
        <p:spPr>
          <a:xfrm>
            <a:off x="6933604" y="1535644"/>
            <a:ext cx="1045739"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实施和跟踪</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6" name="object 36"/>
          <p:cNvSpPr txBox="1"/>
          <p:nvPr/>
        </p:nvSpPr>
        <p:spPr>
          <a:xfrm>
            <a:off x="618712" y="1535644"/>
            <a:ext cx="84204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客户分类</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7" name="object 37"/>
          <p:cNvSpPr txBox="1"/>
          <p:nvPr/>
        </p:nvSpPr>
        <p:spPr>
          <a:xfrm>
            <a:off x="2982893" y="1535644"/>
            <a:ext cx="1045739"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大客户分析</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8" name="object 38"/>
          <p:cNvSpPr/>
          <p:nvPr/>
        </p:nvSpPr>
        <p:spPr>
          <a:xfrm>
            <a:off x="4074573" y="1323450"/>
            <a:ext cx="2679071" cy="1951242"/>
          </a:xfrm>
          <a:custGeom>
            <a:avLst/>
            <a:gdLst/>
            <a:ahLst/>
            <a:cxnLst/>
            <a:rect l="l" t="t" r="r" b="b"/>
            <a:pathLst>
              <a:path w="2680970" h="1952625">
                <a:moveTo>
                  <a:pt x="1977643" y="0"/>
                </a:moveTo>
                <a:lnTo>
                  <a:pt x="0" y="0"/>
                </a:lnTo>
                <a:lnTo>
                  <a:pt x="703072" y="1952244"/>
                </a:lnTo>
                <a:lnTo>
                  <a:pt x="2680716" y="1952244"/>
                </a:lnTo>
                <a:lnTo>
                  <a:pt x="1977643"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9" name="object 39"/>
          <p:cNvSpPr/>
          <p:nvPr/>
        </p:nvSpPr>
        <p:spPr>
          <a:xfrm>
            <a:off x="4074573" y="1323450"/>
            <a:ext cx="2679071" cy="1951242"/>
          </a:xfrm>
          <a:custGeom>
            <a:avLst/>
            <a:gdLst/>
            <a:ahLst/>
            <a:cxnLst/>
            <a:rect l="l" t="t" r="r" b="b"/>
            <a:pathLst>
              <a:path w="2680970" h="1952625">
                <a:moveTo>
                  <a:pt x="0" y="0"/>
                </a:moveTo>
                <a:lnTo>
                  <a:pt x="1977643" y="0"/>
                </a:lnTo>
                <a:lnTo>
                  <a:pt x="2680716" y="1952244"/>
                </a:lnTo>
                <a:lnTo>
                  <a:pt x="703072" y="1952244"/>
                </a:lnTo>
                <a:lnTo>
                  <a:pt x="0" y="0"/>
                </a:lnTo>
                <a:close/>
              </a:path>
            </a:pathLst>
          </a:custGeom>
          <a:ln w="28575">
            <a:solidFill>
              <a:srgbClr val="0066CC"/>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0" name="object 40"/>
          <p:cNvSpPr/>
          <p:nvPr/>
        </p:nvSpPr>
        <p:spPr>
          <a:xfrm>
            <a:off x="4402256" y="1433354"/>
            <a:ext cx="385807" cy="501295"/>
          </a:xfrm>
          <a:custGeom>
            <a:avLst/>
            <a:gdLst/>
            <a:ahLst/>
            <a:cxnLst/>
            <a:rect l="l" t="t" r="r" b="b"/>
            <a:pathLst>
              <a:path w="386079" h="501650">
                <a:moveTo>
                  <a:pt x="194437" y="0"/>
                </a:moveTo>
                <a:lnTo>
                  <a:pt x="141208" y="5524"/>
                </a:lnTo>
                <a:lnTo>
                  <a:pt x="98551" y="22098"/>
                </a:lnTo>
                <a:lnTo>
                  <a:pt x="63940" y="51315"/>
                </a:lnTo>
                <a:lnTo>
                  <a:pt x="32781" y="95250"/>
                </a:lnTo>
                <a:lnTo>
                  <a:pt x="9858" y="155684"/>
                </a:lnTo>
                <a:lnTo>
                  <a:pt x="1095" y="217354"/>
                </a:lnTo>
                <a:lnTo>
                  <a:pt x="0" y="252856"/>
                </a:lnTo>
                <a:lnTo>
                  <a:pt x="885" y="286529"/>
                </a:lnTo>
                <a:lnTo>
                  <a:pt x="8036" y="343350"/>
                </a:lnTo>
                <a:lnTo>
                  <a:pt x="22278" y="387336"/>
                </a:lnTo>
                <a:lnTo>
                  <a:pt x="42229" y="424725"/>
                </a:lnTo>
                <a:lnTo>
                  <a:pt x="67609" y="456136"/>
                </a:lnTo>
                <a:lnTo>
                  <a:pt x="98038" y="479186"/>
                </a:lnTo>
                <a:lnTo>
                  <a:pt x="133873" y="493613"/>
                </a:lnTo>
                <a:lnTo>
                  <a:pt x="178069" y="500749"/>
                </a:lnTo>
                <a:lnTo>
                  <a:pt x="203453" y="501650"/>
                </a:lnTo>
                <a:lnTo>
                  <a:pt x="229766" y="500249"/>
                </a:lnTo>
                <a:lnTo>
                  <a:pt x="275105" y="489112"/>
                </a:lnTo>
                <a:lnTo>
                  <a:pt x="311155" y="467256"/>
                </a:lnTo>
                <a:lnTo>
                  <a:pt x="340441" y="436205"/>
                </a:lnTo>
                <a:lnTo>
                  <a:pt x="363374" y="396392"/>
                </a:lnTo>
                <a:lnTo>
                  <a:pt x="370603" y="378205"/>
                </a:lnTo>
                <a:lnTo>
                  <a:pt x="196214" y="378205"/>
                </a:lnTo>
                <a:lnTo>
                  <a:pt x="181832" y="376297"/>
                </a:lnTo>
                <a:lnTo>
                  <a:pt x="146685" y="347472"/>
                </a:lnTo>
                <a:lnTo>
                  <a:pt x="132000" y="309737"/>
                </a:lnTo>
                <a:lnTo>
                  <a:pt x="127126" y="257810"/>
                </a:lnTo>
                <a:lnTo>
                  <a:pt x="128363" y="226704"/>
                </a:lnTo>
                <a:lnTo>
                  <a:pt x="138217" y="177210"/>
                </a:lnTo>
                <a:lnTo>
                  <a:pt x="169465" y="134175"/>
                </a:lnTo>
                <a:lnTo>
                  <a:pt x="198120" y="125984"/>
                </a:lnTo>
                <a:lnTo>
                  <a:pt x="368473" y="125984"/>
                </a:lnTo>
                <a:lnTo>
                  <a:pt x="355377" y="93710"/>
                </a:lnTo>
                <a:lnTo>
                  <a:pt x="318897" y="41910"/>
                </a:lnTo>
                <a:lnTo>
                  <a:pt x="266334" y="10477"/>
                </a:lnTo>
                <a:lnTo>
                  <a:pt x="232796" y="2619"/>
                </a:lnTo>
                <a:lnTo>
                  <a:pt x="194437" y="0"/>
                </a:lnTo>
                <a:close/>
              </a:path>
              <a:path w="386079" h="501650">
                <a:moveTo>
                  <a:pt x="264160" y="302767"/>
                </a:moveTo>
                <a:lnTo>
                  <a:pt x="246532" y="349166"/>
                </a:lnTo>
                <a:lnTo>
                  <a:pt x="208287" y="377041"/>
                </a:lnTo>
                <a:lnTo>
                  <a:pt x="196214" y="378205"/>
                </a:lnTo>
                <a:lnTo>
                  <a:pt x="370603" y="378205"/>
                </a:lnTo>
                <a:lnTo>
                  <a:pt x="372446" y="373554"/>
                </a:lnTo>
                <a:lnTo>
                  <a:pt x="379860" y="349009"/>
                </a:lnTo>
                <a:lnTo>
                  <a:pt x="385699" y="322579"/>
                </a:lnTo>
                <a:lnTo>
                  <a:pt x="264160" y="302767"/>
                </a:lnTo>
                <a:close/>
              </a:path>
              <a:path w="386079" h="501650">
                <a:moveTo>
                  <a:pt x="368473" y="125984"/>
                </a:moveTo>
                <a:lnTo>
                  <a:pt x="198120" y="125984"/>
                </a:lnTo>
                <a:lnTo>
                  <a:pt x="210052" y="126960"/>
                </a:lnTo>
                <a:lnTo>
                  <a:pt x="220710" y="129889"/>
                </a:lnTo>
                <a:lnTo>
                  <a:pt x="250825" y="161020"/>
                </a:lnTo>
                <a:lnTo>
                  <a:pt x="258825" y="187960"/>
                </a:lnTo>
                <a:lnTo>
                  <a:pt x="379095" y="164846"/>
                </a:lnTo>
                <a:lnTo>
                  <a:pt x="368831" y="126867"/>
                </a:lnTo>
                <a:lnTo>
                  <a:pt x="368473" y="125984"/>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1" name="object 41"/>
          <p:cNvSpPr/>
          <p:nvPr/>
        </p:nvSpPr>
        <p:spPr>
          <a:xfrm>
            <a:off x="6458199" y="1433354"/>
            <a:ext cx="385807" cy="501295"/>
          </a:xfrm>
          <a:custGeom>
            <a:avLst/>
            <a:gdLst/>
            <a:ahLst/>
            <a:cxnLst/>
            <a:rect l="l" t="t" r="r" b="b"/>
            <a:pathLst>
              <a:path w="386079" h="501650">
                <a:moveTo>
                  <a:pt x="147827" y="127888"/>
                </a:moveTo>
                <a:lnTo>
                  <a:pt x="89074" y="139684"/>
                </a:lnTo>
                <a:lnTo>
                  <a:pt x="41655" y="175005"/>
                </a:lnTo>
                <a:lnTo>
                  <a:pt x="10398" y="232537"/>
                </a:lnTo>
                <a:lnTo>
                  <a:pt x="0" y="311023"/>
                </a:lnTo>
                <a:lnTo>
                  <a:pt x="2357" y="349244"/>
                </a:lnTo>
                <a:lnTo>
                  <a:pt x="21216" y="416732"/>
                </a:lnTo>
                <a:lnTo>
                  <a:pt x="58697" y="470360"/>
                </a:lnTo>
                <a:lnTo>
                  <a:pt x="113371" y="498173"/>
                </a:lnTo>
                <a:lnTo>
                  <a:pt x="147066" y="501650"/>
                </a:lnTo>
                <a:lnTo>
                  <a:pt x="164472" y="500675"/>
                </a:lnTo>
                <a:lnTo>
                  <a:pt x="211835" y="486155"/>
                </a:lnTo>
                <a:lnTo>
                  <a:pt x="247036" y="456116"/>
                </a:lnTo>
                <a:lnTo>
                  <a:pt x="259969" y="440689"/>
                </a:lnTo>
                <a:lnTo>
                  <a:pt x="385699" y="440689"/>
                </a:lnTo>
                <a:lnTo>
                  <a:pt x="385699" y="401319"/>
                </a:lnTo>
                <a:lnTo>
                  <a:pt x="191007" y="401319"/>
                </a:lnTo>
                <a:lnTo>
                  <a:pt x="179459" y="400034"/>
                </a:lnTo>
                <a:lnTo>
                  <a:pt x="143454" y="369226"/>
                </a:lnTo>
                <a:lnTo>
                  <a:pt x="134239" y="316738"/>
                </a:lnTo>
                <a:lnTo>
                  <a:pt x="135237" y="294997"/>
                </a:lnTo>
                <a:lnTo>
                  <a:pt x="150114" y="250062"/>
                </a:lnTo>
                <a:lnTo>
                  <a:pt x="189356" y="230250"/>
                </a:lnTo>
                <a:lnTo>
                  <a:pt x="385699" y="230250"/>
                </a:lnTo>
                <a:lnTo>
                  <a:pt x="385699" y="170941"/>
                </a:lnTo>
                <a:lnTo>
                  <a:pt x="250063" y="170941"/>
                </a:lnTo>
                <a:lnTo>
                  <a:pt x="239799" y="160847"/>
                </a:lnTo>
                <a:lnTo>
                  <a:pt x="228822" y="152098"/>
                </a:lnTo>
                <a:lnTo>
                  <a:pt x="191583" y="133943"/>
                </a:lnTo>
                <a:lnTo>
                  <a:pt x="163111" y="128557"/>
                </a:lnTo>
                <a:lnTo>
                  <a:pt x="147827" y="127888"/>
                </a:lnTo>
                <a:close/>
              </a:path>
              <a:path w="386079" h="501650">
                <a:moveTo>
                  <a:pt x="385699" y="440689"/>
                </a:moveTo>
                <a:lnTo>
                  <a:pt x="259969" y="440689"/>
                </a:lnTo>
                <a:lnTo>
                  <a:pt x="259969" y="493522"/>
                </a:lnTo>
                <a:lnTo>
                  <a:pt x="385699" y="493522"/>
                </a:lnTo>
                <a:lnTo>
                  <a:pt x="385699" y="440689"/>
                </a:lnTo>
                <a:close/>
              </a:path>
              <a:path w="386079" h="501650">
                <a:moveTo>
                  <a:pt x="385699" y="230250"/>
                </a:moveTo>
                <a:lnTo>
                  <a:pt x="189356" y="230250"/>
                </a:lnTo>
                <a:lnTo>
                  <a:pt x="202120" y="231538"/>
                </a:lnTo>
                <a:lnTo>
                  <a:pt x="213741" y="235410"/>
                </a:lnTo>
                <a:lnTo>
                  <a:pt x="241220" y="262647"/>
                </a:lnTo>
                <a:lnTo>
                  <a:pt x="251078" y="313689"/>
                </a:lnTo>
                <a:lnTo>
                  <a:pt x="250007" y="335311"/>
                </a:lnTo>
                <a:lnTo>
                  <a:pt x="233933" y="380746"/>
                </a:lnTo>
                <a:lnTo>
                  <a:pt x="191007" y="401319"/>
                </a:lnTo>
                <a:lnTo>
                  <a:pt x="385699" y="401319"/>
                </a:lnTo>
                <a:lnTo>
                  <a:pt x="385699" y="230250"/>
                </a:lnTo>
                <a:close/>
              </a:path>
              <a:path w="386079" h="501650">
                <a:moveTo>
                  <a:pt x="385699" y="0"/>
                </a:moveTo>
                <a:lnTo>
                  <a:pt x="250063" y="0"/>
                </a:lnTo>
                <a:lnTo>
                  <a:pt x="250063" y="170941"/>
                </a:lnTo>
                <a:lnTo>
                  <a:pt x="385699" y="170941"/>
                </a:lnTo>
                <a:lnTo>
                  <a:pt x="385699"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2" name="object 42"/>
          <p:cNvSpPr/>
          <p:nvPr/>
        </p:nvSpPr>
        <p:spPr>
          <a:xfrm>
            <a:off x="4976905" y="1980591"/>
            <a:ext cx="1154882" cy="517792"/>
          </a:xfrm>
          <a:custGeom>
            <a:avLst/>
            <a:gdLst/>
            <a:ahLst/>
            <a:cxnLst/>
            <a:rect l="l" t="t" r="r" b="b"/>
            <a:pathLst>
              <a:path w="1155700" h="518160">
                <a:moveTo>
                  <a:pt x="0" y="518160"/>
                </a:moveTo>
                <a:lnTo>
                  <a:pt x="1155191" y="518160"/>
                </a:lnTo>
                <a:lnTo>
                  <a:pt x="1155191" y="0"/>
                </a:lnTo>
                <a:lnTo>
                  <a:pt x="0" y="0"/>
                </a:lnTo>
                <a:lnTo>
                  <a:pt x="0" y="51816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3" name="object 43"/>
          <p:cNvSpPr txBox="1"/>
          <p:nvPr/>
        </p:nvSpPr>
        <p:spPr>
          <a:xfrm>
            <a:off x="4976905" y="1980591"/>
            <a:ext cx="1154882" cy="355600"/>
          </a:xfrm>
          <a:prstGeom prst="rect">
            <a:avLst/>
          </a:prstGeom>
          <a:ln w="9525">
            <a:solidFill>
              <a:srgbClr val="0066CC"/>
            </a:solidFill>
          </a:ln>
        </p:spPr>
        <p:txBody>
          <a:bodyPr vert="horz" wrap="square" lIns="0" tIns="140870" rIns="0" bIns="0" rtlCol="0">
            <a:spAutoFit/>
          </a:bodyPr>
          <a:lstStyle/>
          <a:p>
            <a:pPr marL="72390">
              <a:lnSpc>
                <a:spcPct val="100000"/>
              </a:lnSpc>
              <a:spcBef>
                <a:spcPts val="1110"/>
              </a:spcBef>
            </a:pPr>
            <a:r>
              <a:rPr sz="1400" dirty="0">
                <a:solidFill>
                  <a:srgbClr val="0066CC"/>
                </a:solidFill>
                <a:latin typeface="微软雅黑" panose="020B0503020204020204" charset="-122"/>
                <a:ea typeface="微软雅黑" panose="020B0503020204020204" charset="-122"/>
                <a:cs typeface="微软雅黑" panose="020B0503020204020204" charset="-122"/>
              </a:rPr>
              <a:t>战略规划</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4" name="object 44"/>
          <p:cNvSpPr/>
          <p:nvPr/>
        </p:nvSpPr>
        <p:spPr>
          <a:xfrm>
            <a:off x="4976905" y="2560823"/>
            <a:ext cx="1154882" cy="517792"/>
          </a:xfrm>
          <a:custGeom>
            <a:avLst/>
            <a:gdLst/>
            <a:ahLst/>
            <a:cxnLst/>
            <a:rect l="l" t="t" r="r" b="b"/>
            <a:pathLst>
              <a:path w="1155700" h="518160">
                <a:moveTo>
                  <a:pt x="0" y="518160"/>
                </a:moveTo>
                <a:lnTo>
                  <a:pt x="1155191" y="518160"/>
                </a:lnTo>
                <a:lnTo>
                  <a:pt x="1155191" y="0"/>
                </a:lnTo>
                <a:lnTo>
                  <a:pt x="0" y="0"/>
                </a:lnTo>
                <a:lnTo>
                  <a:pt x="0" y="51816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5" name="object 45"/>
          <p:cNvSpPr txBox="1"/>
          <p:nvPr/>
        </p:nvSpPr>
        <p:spPr>
          <a:xfrm>
            <a:off x="4976905" y="2560823"/>
            <a:ext cx="1154882" cy="355600"/>
          </a:xfrm>
          <a:prstGeom prst="rect">
            <a:avLst/>
          </a:prstGeom>
          <a:ln w="9525">
            <a:solidFill>
              <a:srgbClr val="0066CC"/>
            </a:solidFill>
          </a:ln>
        </p:spPr>
        <p:txBody>
          <a:bodyPr vert="horz" wrap="square" lIns="0" tIns="140870" rIns="0" bIns="0" rtlCol="0">
            <a:spAutoFit/>
          </a:bodyPr>
          <a:lstStyle/>
          <a:p>
            <a:pPr marL="72390">
              <a:lnSpc>
                <a:spcPct val="100000"/>
              </a:lnSpc>
              <a:spcBef>
                <a:spcPts val="1110"/>
              </a:spcBef>
            </a:pPr>
            <a:r>
              <a:rPr sz="1400" dirty="0">
                <a:solidFill>
                  <a:srgbClr val="0066CC"/>
                </a:solidFill>
                <a:latin typeface="微软雅黑" panose="020B0503020204020204" charset="-122"/>
                <a:ea typeface="微软雅黑" panose="020B0503020204020204" charset="-122"/>
                <a:cs typeface="微软雅黑" panose="020B0503020204020204" charset="-122"/>
              </a:rPr>
              <a:t>行动计划</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6" name="object 46"/>
          <p:cNvSpPr txBox="1"/>
          <p:nvPr/>
        </p:nvSpPr>
        <p:spPr>
          <a:xfrm>
            <a:off x="4964467" y="1535644"/>
            <a:ext cx="104129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大客</a:t>
            </a:r>
            <a:r>
              <a:rPr sz="1600" b="1" spc="-10" dirty="0">
                <a:solidFill>
                  <a:srgbClr val="0066CC"/>
                </a:solidFill>
                <a:latin typeface="微软雅黑" panose="020B0503020204020204" charset="-122"/>
                <a:ea typeface="微软雅黑" panose="020B0503020204020204" charset="-122"/>
                <a:cs typeface="微软雅黑" panose="020B0503020204020204" charset="-122"/>
              </a:rPr>
              <a:t>户规划</a:t>
            </a:r>
            <a:endParaRPr sz="1600">
              <a:latin typeface="微软雅黑" panose="020B0503020204020204" charset="-122"/>
              <a:ea typeface="微软雅黑" panose="020B0503020204020204" charset="-122"/>
              <a:cs typeface="微软雅黑" panose="020B0503020204020204" charset="-122"/>
            </a:endParaRPr>
          </a:p>
        </p:txBody>
      </p:sp>
      <p:sp>
        <p:nvSpPr>
          <p:cNvPr id="47" name="object 47"/>
          <p:cNvSpPr txBox="1"/>
          <p:nvPr/>
        </p:nvSpPr>
        <p:spPr>
          <a:xfrm>
            <a:off x="106401" y="6412696"/>
            <a:ext cx="2191102"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35"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a:t>
            </a:r>
            <a:r>
              <a:rPr sz="1000" spc="-35"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营销和销售业务部</a:t>
            </a:r>
            <a:endParaRPr sz="10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401" y="200043"/>
            <a:ext cx="8464266" cy="598170"/>
          </a:xfrm>
          <a:prstGeom prst="rect">
            <a:avLst/>
          </a:prstGeom>
        </p:spPr>
        <p:txBody>
          <a:bodyPr vert="horz" wrap="square" lIns="0" tIns="8883" rIns="0" bIns="0" rtlCol="0">
            <a:spAutoFit/>
          </a:bodyPr>
          <a:lstStyle/>
          <a:p>
            <a:pPr marL="12700" marR="5080">
              <a:lnSpc>
                <a:spcPct val="101000"/>
              </a:lnSpc>
              <a:spcBef>
                <a:spcPts val="70"/>
              </a:spcBef>
            </a:pPr>
            <a:r>
              <a:rPr spc="-5" dirty="0">
                <a:ea typeface="微软雅黑" panose="020B0503020204020204" charset="-122"/>
              </a:rPr>
              <a:t>大客户规划</a:t>
            </a:r>
            <a:r>
              <a:rPr spc="-10" dirty="0">
                <a:ea typeface="微软雅黑" panose="020B0503020204020204" charset="-122"/>
              </a:rPr>
              <a:t>应包</a:t>
            </a:r>
            <a:r>
              <a:rPr spc="-5" dirty="0">
                <a:ea typeface="微软雅黑" panose="020B0503020204020204" charset="-122"/>
              </a:rPr>
              <a:t>含</a:t>
            </a:r>
            <a:r>
              <a:rPr spc="-10" dirty="0">
                <a:ea typeface="微软雅黑" panose="020B0503020204020204" charset="-122"/>
              </a:rPr>
              <a:t>详尽</a:t>
            </a:r>
            <a:r>
              <a:rPr spc="-5" dirty="0">
                <a:ea typeface="微软雅黑" panose="020B0503020204020204" charset="-122"/>
              </a:rPr>
              <a:t>的</a:t>
            </a:r>
            <a:r>
              <a:rPr spc="-10" dirty="0">
                <a:ea typeface="微软雅黑" panose="020B0503020204020204" charset="-122"/>
              </a:rPr>
              <a:t>客户</a:t>
            </a:r>
            <a:r>
              <a:rPr spc="-5" dirty="0">
                <a:ea typeface="微软雅黑" panose="020B0503020204020204" charset="-122"/>
              </a:rPr>
              <a:t>需</a:t>
            </a:r>
            <a:r>
              <a:rPr spc="-10" dirty="0">
                <a:ea typeface="微软雅黑" panose="020B0503020204020204" charset="-122"/>
              </a:rPr>
              <a:t>求和</a:t>
            </a:r>
            <a:r>
              <a:rPr spc="-5" dirty="0">
                <a:ea typeface="微软雅黑" panose="020B0503020204020204" charset="-122"/>
              </a:rPr>
              <a:t>决</a:t>
            </a:r>
            <a:r>
              <a:rPr spc="-10" dirty="0">
                <a:ea typeface="微软雅黑" panose="020B0503020204020204" charset="-122"/>
              </a:rPr>
              <a:t>策机</a:t>
            </a:r>
            <a:r>
              <a:rPr spc="-5" dirty="0">
                <a:ea typeface="微软雅黑" panose="020B0503020204020204" charset="-122"/>
              </a:rPr>
              <a:t>制</a:t>
            </a:r>
            <a:r>
              <a:rPr spc="-10" dirty="0">
                <a:ea typeface="微软雅黑" panose="020B0503020204020204" charset="-122"/>
              </a:rPr>
              <a:t>、市</a:t>
            </a:r>
            <a:r>
              <a:rPr spc="-5" dirty="0">
                <a:ea typeface="微软雅黑" panose="020B0503020204020204" charset="-122"/>
              </a:rPr>
              <a:t>场</a:t>
            </a:r>
            <a:r>
              <a:rPr spc="-10" dirty="0">
                <a:ea typeface="微软雅黑" panose="020B0503020204020204" charset="-122"/>
              </a:rPr>
              <a:t>竞争</a:t>
            </a:r>
            <a:r>
              <a:rPr spc="-5" dirty="0">
                <a:ea typeface="微软雅黑" panose="020B0503020204020204" charset="-122"/>
              </a:rPr>
              <a:t>态</a:t>
            </a:r>
            <a:r>
              <a:rPr spc="-10" dirty="0">
                <a:ea typeface="微软雅黑" panose="020B0503020204020204" charset="-122"/>
              </a:rPr>
              <a:t>势分</a:t>
            </a:r>
            <a:r>
              <a:rPr spc="-5" dirty="0">
                <a:ea typeface="微软雅黑" panose="020B0503020204020204" charset="-122"/>
              </a:rPr>
              <a:t>析</a:t>
            </a:r>
            <a:r>
              <a:rPr spc="-10" dirty="0">
                <a:ea typeface="微软雅黑" panose="020B0503020204020204" charset="-122"/>
              </a:rPr>
              <a:t>和明</a:t>
            </a:r>
            <a:r>
              <a:rPr spc="-5" dirty="0">
                <a:ea typeface="微软雅黑" panose="020B0503020204020204" charset="-122"/>
              </a:rPr>
              <a:t>确</a:t>
            </a:r>
            <a:r>
              <a:rPr spc="-10" dirty="0">
                <a:ea typeface="微软雅黑" panose="020B0503020204020204" charset="-122"/>
              </a:rPr>
              <a:t>的战略 </a:t>
            </a:r>
            <a:r>
              <a:rPr spc="-5" dirty="0">
                <a:ea typeface="微软雅黑" panose="020B0503020204020204" charset="-122"/>
              </a:rPr>
              <a:t>方案和行动</a:t>
            </a:r>
            <a:r>
              <a:rPr spc="-10" dirty="0">
                <a:ea typeface="微软雅黑" panose="020B0503020204020204" charset="-122"/>
              </a:rPr>
              <a:t>计划</a:t>
            </a:r>
            <a:endParaRPr spc="-10" dirty="0">
              <a:ea typeface="微软雅黑" panose="020B0503020204020204" charset="-122"/>
            </a:endParaRPr>
          </a:p>
        </p:txBody>
      </p:sp>
      <p:sp>
        <p:nvSpPr>
          <p:cNvPr id="4" name="object 4"/>
          <p:cNvSpPr/>
          <p:nvPr/>
        </p:nvSpPr>
        <p:spPr>
          <a:xfrm>
            <a:off x="119549" y="1360000"/>
            <a:ext cx="4627141" cy="4479290"/>
          </a:xfrm>
          <a:custGeom>
            <a:avLst/>
            <a:gdLst/>
            <a:ahLst/>
            <a:cxnLst/>
            <a:rect l="l" t="t" r="r" b="b"/>
            <a:pathLst>
              <a:path w="4630420" h="4482465">
                <a:moveTo>
                  <a:pt x="0" y="4482084"/>
                </a:moveTo>
                <a:lnTo>
                  <a:pt x="4629912" y="4482084"/>
                </a:lnTo>
                <a:lnTo>
                  <a:pt x="4629912" y="0"/>
                </a:lnTo>
                <a:lnTo>
                  <a:pt x="0" y="0"/>
                </a:lnTo>
                <a:lnTo>
                  <a:pt x="0" y="4482084"/>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p:nvPr/>
        </p:nvSpPr>
        <p:spPr>
          <a:xfrm>
            <a:off x="164475" y="1432339"/>
            <a:ext cx="219300" cy="217777"/>
          </a:xfrm>
          <a:prstGeom prst="rect">
            <a:avLst/>
          </a:prstGeom>
          <a:blipFill>
            <a:blip r:embed="rId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txBox="1"/>
          <p:nvPr/>
        </p:nvSpPr>
        <p:spPr>
          <a:xfrm>
            <a:off x="183664" y="1410511"/>
            <a:ext cx="968324" cy="227965"/>
          </a:xfrm>
          <a:prstGeom prst="rect">
            <a:avLst/>
          </a:prstGeom>
        </p:spPr>
        <p:txBody>
          <a:bodyPr vert="horz" wrap="square" lIns="0" tIns="13325" rIns="0" bIns="0" rtlCol="0">
            <a:spAutoFit/>
          </a:bodyPr>
          <a:lstStyle/>
          <a:p>
            <a:pPr>
              <a:lnSpc>
                <a:spcPct val="100000"/>
              </a:lnSpc>
              <a:spcBef>
                <a:spcPts val="105"/>
              </a:spcBef>
            </a:pPr>
            <a:r>
              <a:rPr sz="1400" b="1" dirty="0">
                <a:solidFill>
                  <a:srgbClr val="FFFFFF"/>
                </a:solidFill>
                <a:latin typeface="微软雅黑" panose="020B0503020204020204" charset="-122"/>
                <a:ea typeface="微软雅黑" panose="020B0503020204020204" charset="-122"/>
                <a:cs typeface="微软雅黑" panose="020B0503020204020204" charset="-122"/>
              </a:rPr>
              <a:t>一</a:t>
            </a:r>
            <a:r>
              <a:rPr sz="1400" b="1" spc="60" dirty="0">
                <a:solidFill>
                  <a:srgbClr val="FFFFFF"/>
                </a:solidFill>
                <a:latin typeface="微软雅黑" panose="020B0503020204020204" charset="-122"/>
                <a:ea typeface="微软雅黑" panose="020B0503020204020204" charset="-122"/>
                <a:cs typeface="微软雅黑" panose="020B0503020204020204" charset="-122"/>
              </a:rPr>
              <a:t> </a:t>
            </a:r>
            <a:r>
              <a:rPr sz="1400" b="1" spc="10" dirty="0">
                <a:latin typeface="微软雅黑" panose="020B0503020204020204" charset="-122"/>
                <a:ea typeface="微软雅黑" panose="020B0503020204020204" charset="-122"/>
                <a:cs typeface="微软雅黑" panose="020B0503020204020204" charset="-122"/>
              </a:rPr>
              <a:t>客户</a:t>
            </a:r>
            <a:r>
              <a:rPr sz="1400" b="1" dirty="0">
                <a:latin typeface="微软雅黑" panose="020B0503020204020204" charset="-122"/>
                <a:ea typeface="微软雅黑" panose="020B0503020204020204" charset="-122"/>
                <a:cs typeface="微软雅黑" panose="020B0503020204020204" charset="-122"/>
              </a:rPr>
              <a:t>洞察</a:t>
            </a:r>
            <a:endParaRPr sz="1400">
              <a:latin typeface="微软雅黑" panose="020B0503020204020204" charset="-122"/>
              <a:ea typeface="微软雅黑" panose="020B0503020204020204" charset="-122"/>
              <a:cs typeface="微软雅黑" panose="020B0503020204020204" charset="-122"/>
            </a:endParaRPr>
          </a:p>
        </p:txBody>
      </p:sp>
      <p:sp>
        <p:nvSpPr>
          <p:cNvPr id="7" name="object 7"/>
          <p:cNvSpPr/>
          <p:nvPr/>
        </p:nvSpPr>
        <p:spPr>
          <a:xfrm>
            <a:off x="3147876" y="2911095"/>
            <a:ext cx="1320499" cy="1267197"/>
          </a:xfrm>
          <a:custGeom>
            <a:avLst/>
            <a:gdLst/>
            <a:ahLst/>
            <a:cxnLst/>
            <a:rect l="l" t="t" r="r" b="b"/>
            <a:pathLst>
              <a:path w="1321435" h="1268095">
                <a:moveTo>
                  <a:pt x="1321308" y="0"/>
                </a:moveTo>
                <a:lnTo>
                  <a:pt x="0" y="0"/>
                </a:lnTo>
                <a:lnTo>
                  <a:pt x="235966" y="1267968"/>
                </a:lnTo>
                <a:lnTo>
                  <a:pt x="1321308" y="1267968"/>
                </a:lnTo>
                <a:lnTo>
                  <a:pt x="1321308"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394435" y="2911095"/>
            <a:ext cx="1323672" cy="1267197"/>
          </a:xfrm>
          <a:custGeom>
            <a:avLst/>
            <a:gdLst/>
            <a:ahLst/>
            <a:cxnLst/>
            <a:rect l="l" t="t" r="r" b="b"/>
            <a:pathLst>
              <a:path w="1324610" h="1268095">
                <a:moveTo>
                  <a:pt x="1324356" y="0"/>
                </a:moveTo>
                <a:lnTo>
                  <a:pt x="0" y="0"/>
                </a:lnTo>
                <a:lnTo>
                  <a:pt x="0" y="1267968"/>
                </a:lnTo>
                <a:lnTo>
                  <a:pt x="1087882" y="1267968"/>
                </a:lnTo>
                <a:lnTo>
                  <a:pt x="1324356"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2468654" y="4272586"/>
            <a:ext cx="1990584" cy="1264024"/>
          </a:xfrm>
          <a:custGeom>
            <a:avLst/>
            <a:gdLst/>
            <a:ahLst/>
            <a:cxnLst/>
            <a:rect l="l" t="t" r="r" b="b"/>
            <a:pathLst>
              <a:path w="1991995" h="1264920">
                <a:moveTo>
                  <a:pt x="0" y="1264920"/>
                </a:moveTo>
                <a:lnTo>
                  <a:pt x="1991868" y="1264920"/>
                </a:lnTo>
                <a:lnTo>
                  <a:pt x="1991868" y="0"/>
                </a:lnTo>
                <a:lnTo>
                  <a:pt x="0" y="0"/>
                </a:lnTo>
                <a:lnTo>
                  <a:pt x="0" y="126492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394435" y="4272586"/>
            <a:ext cx="1993757" cy="1264024"/>
          </a:xfrm>
          <a:custGeom>
            <a:avLst/>
            <a:gdLst/>
            <a:ahLst/>
            <a:cxnLst/>
            <a:rect l="l" t="t" r="r" b="b"/>
            <a:pathLst>
              <a:path w="1995170" h="1264920">
                <a:moveTo>
                  <a:pt x="0" y="1264920"/>
                </a:moveTo>
                <a:lnTo>
                  <a:pt x="1994916" y="1264920"/>
                </a:lnTo>
                <a:lnTo>
                  <a:pt x="1994916" y="0"/>
                </a:lnTo>
                <a:lnTo>
                  <a:pt x="0" y="0"/>
                </a:lnTo>
                <a:lnTo>
                  <a:pt x="0" y="126492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394435" y="2001912"/>
            <a:ext cx="4073813" cy="856008"/>
          </a:xfrm>
          <a:custGeom>
            <a:avLst/>
            <a:gdLst/>
            <a:ahLst/>
            <a:cxnLst/>
            <a:rect l="l" t="t" r="r" b="b"/>
            <a:pathLst>
              <a:path w="4076700" h="856614">
                <a:moveTo>
                  <a:pt x="0" y="856488"/>
                </a:moveTo>
                <a:lnTo>
                  <a:pt x="4076700" y="856488"/>
                </a:lnTo>
                <a:lnTo>
                  <a:pt x="4076700" y="0"/>
                </a:lnTo>
                <a:lnTo>
                  <a:pt x="0" y="0"/>
                </a:lnTo>
                <a:lnTo>
                  <a:pt x="0" y="856488"/>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1786385" y="2394825"/>
            <a:ext cx="1291944" cy="1113636"/>
          </a:xfrm>
          <a:custGeom>
            <a:avLst/>
            <a:gdLst/>
            <a:ahLst/>
            <a:cxnLst/>
            <a:rect l="l" t="t" r="r" b="b"/>
            <a:pathLst>
              <a:path w="1292860" h="1114425">
                <a:moveTo>
                  <a:pt x="656844" y="0"/>
                </a:moveTo>
                <a:lnTo>
                  <a:pt x="0" y="474599"/>
                </a:lnTo>
                <a:lnTo>
                  <a:pt x="440817" y="1114044"/>
                </a:lnTo>
                <a:lnTo>
                  <a:pt x="845185" y="1084326"/>
                </a:lnTo>
                <a:lnTo>
                  <a:pt x="1292352" y="455675"/>
                </a:lnTo>
                <a:lnTo>
                  <a:pt x="656844"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2465608" y="4057854"/>
            <a:ext cx="1063506" cy="996244"/>
          </a:xfrm>
          <a:custGeom>
            <a:avLst/>
            <a:gdLst/>
            <a:ahLst/>
            <a:cxnLst/>
            <a:rect l="l" t="t" r="r" b="b"/>
            <a:pathLst>
              <a:path w="1064260" h="996950">
                <a:moveTo>
                  <a:pt x="229616" y="0"/>
                </a:moveTo>
                <a:lnTo>
                  <a:pt x="0" y="219582"/>
                </a:lnTo>
                <a:lnTo>
                  <a:pt x="2286" y="994282"/>
                </a:lnTo>
                <a:lnTo>
                  <a:pt x="802513" y="996695"/>
                </a:lnTo>
                <a:lnTo>
                  <a:pt x="1063752" y="238886"/>
                </a:lnTo>
                <a:lnTo>
                  <a:pt x="229616"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2716890" y="2897389"/>
            <a:ext cx="1098407" cy="1288772"/>
          </a:xfrm>
          <a:custGeom>
            <a:avLst/>
            <a:gdLst/>
            <a:ahLst/>
            <a:cxnLst/>
            <a:rect l="l" t="t" r="r" b="b"/>
            <a:pathLst>
              <a:path w="1099185" h="1289685">
                <a:moveTo>
                  <a:pt x="437769" y="0"/>
                </a:moveTo>
                <a:lnTo>
                  <a:pt x="0" y="639317"/>
                </a:lnTo>
                <a:lnTo>
                  <a:pt x="149225" y="1066799"/>
                </a:lnTo>
                <a:lnTo>
                  <a:pt x="839216" y="1289303"/>
                </a:lnTo>
                <a:lnTo>
                  <a:pt x="1098804" y="489584"/>
                </a:lnTo>
                <a:lnTo>
                  <a:pt x="437769"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1079751" y="2917187"/>
            <a:ext cx="1093965" cy="1259582"/>
          </a:xfrm>
          <a:custGeom>
            <a:avLst/>
            <a:gdLst/>
            <a:ahLst/>
            <a:cxnLst/>
            <a:rect l="l" t="t" r="r" b="b"/>
            <a:pathLst>
              <a:path w="1094739" h="1260475">
                <a:moveTo>
                  <a:pt x="642111" y="0"/>
                </a:moveTo>
                <a:lnTo>
                  <a:pt x="0" y="478281"/>
                </a:lnTo>
                <a:lnTo>
                  <a:pt x="250825" y="1260347"/>
                </a:lnTo>
                <a:lnTo>
                  <a:pt x="959231" y="1027937"/>
                </a:lnTo>
                <a:lnTo>
                  <a:pt x="1094232" y="715517"/>
                </a:lnTo>
                <a:lnTo>
                  <a:pt x="642111"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p:nvPr/>
        </p:nvSpPr>
        <p:spPr>
          <a:xfrm>
            <a:off x="1340169" y="4028919"/>
            <a:ext cx="1050815" cy="1025433"/>
          </a:xfrm>
          <a:custGeom>
            <a:avLst/>
            <a:gdLst/>
            <a:ahLst/>
            <a:cxnLst/>
            <a:rect l="l" t="t" r="r" b="b"/>
            <a:pathLst>
              <a:path w="1051560" h="1026160">
                <a:moveTo>
                  <a:pt x="824611" y="0"/>
                </a:moveTo>
                <a:lnTo>
                  <a:pt x="0" y="245872"/>
                </a:lnTo>
                <a:lnTo>
                  <a:pt x="258318" y="1025652"/>
                </a:lnTo>
                <a:lnTo>
                  <a:pt x="1049274" y="1023112"/>
                </a:lnTo>
                <a:lnTo>
                  <a:pt x="1051560" y="225933"/>
                </a:lnTo>
                <a:lnTo>
                  <a:pt x="824611"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p:nvPr/>
        </p:nvSpPr>
        <p:spPr>
          <a:xfrm>
            <a:off x="2359004" y="2718065"/>
            <a:ext cx="145947" cy="241764"/>
          </a:xfrm>
          <a:custGeom>
            <a:avLst/>
            <a:gdLst/>
            <a:ahLst/>
            <a:cxnLst/>
            <a:rect l="l" t="t" r="r" b="b"/>
            <a:pathLst>
              <a:path w="146050" h="241935">
                <a:moveTo>
                  <a:pt x="146050" y="0"/>
                </a:moveTo>
                <a:lnTo>
                  <a:pt x="0" y="0"/>
                </a:lnTo>
                <a:lnTo>
                  <a:pt x="0" y="241426"/>
                </a:lnTo>
                <a:lnTo>
                  <a:pt x="146050" y="241426"/>
                </a:lnTo>
                <a:lnTo>
                  <a:pt x="146050"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p:nvPr/>
        </p:nvSpPr>
        <p:spPr>
          <a:xfrm>
            <a:off x="2359004" y="2657656"/>
            <a:ext cx="145947" cy="0"/>
          </a:xfrm>
          <a:custGeom>
            <a:avLst/>
            <a:gdLst/>
            <a:ahLst/>
            <a:cxnLst/>
            <a:rect l="l" t="t" r="r" b="b"/>
            <a:pathLst>
              <a:path w="146050">
                <a:moveTo>
                  <a:pt x="0" y="0"/>
                </a:moveTo>
                <a:lnTo>
                  <a:pt x="146050" y="0"/>
                </a:lnTo>
              </a:path>
            </a:pathLst>
          </a:custGeom>
          <a:ln w="62991">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p:nvPr/>
        </p:nvSpPr>
        <p:spPr>
          <a:xfrm>
            <a:off x="1945975" y="4656616"/>
            <a:ext cx="0" cy="241764"/>
          </a:xfrm>
          <a:custGeom>
            <a:avLst/>
            <a:gdLst/>
            <a:ahLst/>
            <a:cxnLst/>
            <a:rect l="l" t="t" r="r" b="b"/>
            <a:pathLst>
              <a:path h="241935">
                <a:moveTo>
                  <a:pt x="0" y="0"/>
                </a:moveTo>
                <a:lnTo>
                  <a:pt x="0" y="241427"/>
                </a:lnTo>
              </a:path>
            </a:pathLst>
          </a:custGeom>
          <a:ln w="54991">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p:nvPr/>
        </p:nvSpPr>
        <p:spPr>
          <a:xfrm>
            <a:off x="1853711" y="4656616"/>
            <a:ext cx="0" cy="241764"/>
          </a:xfrm>
          <a:custGeom>
            <a:avLst/>
            <a:gdLst/>
            <a:ahLst/>
            <a:cxnLst/>
            <a:rect l="l" t="t" r="r" b="b"/>
            <a:pathLst>
              <a:path h="241935">
                <a:moveTo>
                  <a:pt x="0" y="0"/>
                </a:moveTo>
                <a:lnTo>
                  <a:pt x="0" y="241427"/>
                </a:lnTo>
              </a:path>
            </a:pathLst>
          </a:custGeom>
          <a:ln w="54990">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1" name="object 21"/>
          <p:cNvSpPr/>
          <p:nvPr/>
        </p:nvSpPr>
        <p:spPr>
          <a:xfrm>
            <a:off x="1761448" y="4656616"/>
            <a:ext cx="0" cy="241764"/>
          </a:xfrm>
          <a:custGeom>
            <a:avLst/>
            <a:gdLst/>
            <a:ahLst/>
            <a:cxnLst/>
            <a:rect l="l" t="t" r="r" b="b"/>
            <a:pathLst>
              <a:path h="241935">
                <a:moveTo>
                  <a:pt x="0" y="0"/>
                </a:moveTo>
                <a:lnTo>
                  <a:pt x="0" y="241427"/>
                </a:lnTo>
              </a:path>
            </a:pathLst>
          </a:custGeom>
          <a:ln w="54991">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1918498" y="4564733"/>
            <a:ext cx="55205" cy="63455"/>
          </a:xfrm>
          <a:custGeom>
            <a:avLst/>
            <a:gdLst/>
            <a:ahLst/>
            <a:cxnLst/>
            <a:rect l="l" t="t" r="r" b="b"/>
            <a:pathLst>
              <a:path w="55244" h="63500">
                <a:moveTo>
                  <a:pt x="54991" y="0"/>
                </a:moveTo>
                <a:lnTo>
                  <a:pt x="0" y="0"/>
                </a:lnTo>
                <a:lnTo>
                  <a:pt x="0" y="62992"/>
                </a:lnTo>
                <a:lnTo>
                  <a:pt x="54991" y="62992"/>
                </a:lnTo>
                <a:lnTo>
                  <a:pt x="54991"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p:nvPr/>
        </p:nvSpPr>
        <p:spPr>
          <a:xfrm>
            <a:off x="1826235" y="4564733"/>
            <a:ext cx="55205" cy="63455"/>
          </a:xfrm>
          <a:custGeom>
            <a:avLst/>
            <a:gdLst/>
            <a:ahLst/>
            <a:cxnLst/>
            <a:rect l="l" t="t" r="r" b="b"/>
            <a:pathLst>
              <a:path w="55244" h="63500">
                <a:moveTo>
                  <a:pt x="54990" y="0"/>
                </a:moveTo>
                <a:lnTo>
                  <a:pt x="0" y="0"/>
                </a:lnTo>
                <a:lnTo>
                  <a:pt x="0" y="62992"/>
                </a:lnTo>
                <a:lnTo>
                  <a:pt x="54990" y="62992"/>
                </a:lnTo>
                <a:lnTo>
                  <a:pt x="54990"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p:nvPr/>
        </p:nvSpPr>
        <p:spPr>
          <a:xfrm>
            <a:off x="1733972" y="4564733"/>
            <a:ext cx="55205" cy="63455"/>
          </a:xfrm>
          <a:custGeom>
            <a:avLst/>
            <a:gdLst/>
            <a:ahLst/>
            <a:cxnLst/>
            <a:rect l="l" t="t" r="r" b="b"/>
            <a:pathLst>
              <a:path w="55244" h="63500">
                <a:moveTo>
                  <a:pt x="54991" y="0"/>
                </a:moveTo>
                <a:lnTo>
                  <a:pt x="0" y="0"/>
                </a:lnTo>
                <a:lnTo>
                  <a:pt x="0" y="62992"/>
                </a:lnTo>
                <a:lnTo>
                  <a:pt x="54991" y="62992"/>
                </a:lnTo>
                <a:lnTo>
                  <a:pt x="54991"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5" name="object 25"/>
          <p:cNvSpPr/>
          <p:nvPr/>
        </p:nvSpPr>
        <p:spPr>
          <a:xfrm>
            <a:off x="2885681" y="4564733"/>
            <a:ext cx="236686" cy="333139"/>
          </a:xfrm>
          <a:custGeom>
            <a:avLst/>
            <a:gdLst/>
            <a:ahLst/>
            <a:cxnLst/>
            <a:rect l="l" t="t" r="r" b="b"/>
            <a:pathLst>
              <a:path w="236855" h="333375">
                <a:moveTo>
                  <a:pt x="79756" y="0"/>
                </a:moveTo>
                <a:lnTo>
                  <a:pt x="0" y="0"/>
                </a:lnTo>
                <a:lnTo>
                  <a:pt x="83185" y="333375"/>
                </a:lnTo>
                <a:lnTo>
                  <a:pt x="151384" y="333375"/>
                </a:lnTo>
                <a:lnTo>
                  <a:pt x="182535" y="211328"/>
                </a:lnTo>
                <a:lnTo>
                  <a:pt x="118618" y="211328"/>
                </a:lnTo>
                <a:lnTo>
                  <a:pt x="79756" y="0"/>
                </a:lnTo>
                <a:close/>
              </a:path>
              <a:path w="236855" h="333375">
                <a:moveTo>
                  <a:pt x="236474" y="0"/>
                </a:moveTo>
                <a:lnTo>
                  <a:pt x="159004" y="0"/>
                </a:lnTo>
                <a:lnTo>
                  <a:pt x="118618" y="211328"/>
                </a:lnTo>
                <a:lnTo>
                  <a:pt x="182535" y="211328"/>
                </a:lnTo>
                <a:lnTo>
                  <a:pt x="236474"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6" name="object 26"/>
          <p:cNvSpPr/>
          <p:nvPr/>
        </p:nvSpPr>
        <p:spPr>
          <a:xfrm>
            <a:off x="1584726" y="3419624"/>
            <a:ext cx="89472" cy="243032"/>
          </a:xfrm>
          <a:custGeom>
            <a:avLst/>
            <a:gdLst/>
            <a:ahLst/>
            <a:cxnLst/>
            <a:rect l="l" t="t" r="r" b="b"/>
            <a:pathLst>
              <a:path w="89535" h="243204">
                <a:moveTo>
                  <a:pt x="89026" y="0"/>
                </a:moveTo>
                <a:lnTo>
                  <a:pt x="0" y="0"/>
                </a:lnTo>
                <a:lnTo>
                  <a:pt x="0" y="242697"/>
                </a:lnTo>
                <a:lnTo>
                  <a:pt x="89026" y="242697"/>
                </a:lnTo>
                <a:lnTo>
                  <a:pt x="89026"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7" name="object 27"/>
          <p:cNvSpPr/>
          <p:nvPr/>
        </p:nvSpPr>
        <p:spPr>
          <a:xfrm>
            <a:off x="1435732" y="3419624"/>
            <a:ext cx="88837" cy="243032"/>
          </a:xfrm>
          <a:custGeom>
            <a:avLst/>
            <a:gdLst/>
            <a:ahLst/>
            <a:cxnLst/>
            <a:rect l="l" t="t" r="r" b="b"/>
            <a:pathLst>
              <a:path w="88900" h="243204">
                <a:moveTo>
                  <a:pt x="88900" y="0"/>
                </a:moveTo>
                <a:lnTo>
                  <a:pt x="0" y="0"/>
                </a:lnTo>
                <a:lnTo>
                  <a:pt x="0" y="242697"/>
                </a:lnTo>
                <a:lnTo>
                  <a:pt x="88900" y="242697"/>
                </a:lnTo>
                <a:lnTo>
                  <a:pt x="88900"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p:nvPr/>
        </p:nvSpPr>
        <p:spPr>
          <a:xfrm>
            <a:off x="1584726" y="3359024"/>
            <a:ext cx="89472" cy="0"/>
          </a:xfrm>
          <a:custGeom>
            <a:avLst/>
            <a:gdLst/>
            <a:ahLst/>
            <a:cxnLst/>
            <a:rect l="l" t="t" r="r" b="b"/>
            <a:pathLst>
              <a:path w="89535">
                <a:moveTo>
                  <a:pt x="0" y="0"/>
                </a:moveTo>
                <a:lnTo>
                  <a:pt x="89026" y="0"/>
                </a:lnTo>
              </a:path>
            </a:pathLst>
          </a:custGeom>
          <a:ln w="63373">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9" name="object 29"/>
          <p:cNvSpPr/>
          <p:nvPr/>
        </p:nvSpPr>
        <p:spPr>
          <a:xfrm>
            <a:off x="1435732" y="3359024"/>
            <a:ext cx="88837" cy="0"/>
          </a:xfrm>
          <a:custGeom>
            <a:avLst/>
            <a:gdLst/>
            <a:ahLst/>
            <a:cxnLst/>
            <a:rect l="l" t="t" r="r" b="b"/>
            <a:pathLst>
              <a:path w="88900">
                <a:moveTo>
                  <a:pt x="0" y="0"/>
                </a:moveTo>
                <a:lnTo>
                  <a:pt x="88900" y="0"/>
                </a:lnTo>
              </a:path>
            </a:pathLst>
          </a:custGeom>
          <a:ln w="63373">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0" name="object 30"/>
          <p:cNvSpPr/>
          <p:nvPr/>
        </p:nvSpPr>
        <p:spPr>
          <a:xfrm>
            <a:off x="3218820" y="3327360"/>
            <a:ext cx="237956" cy="335043"/>
          </a:xfrm>
          <a:custGeom>
            <a:avLst/>
            <a:gdLst/>
            <a:ahLst/>
            <a:cxnLst/>
            <a:rect l="l" t="t" r="r" b="b"/>
            <a:pathLst>
              <a:path w="238125" h="335279">
                <a:moveTo>
                  <a:pt x="128270" y="92328"/>
                </a:moveTo>
                <a:lnTo>
                  <a:pt x="72262" y="92328"/>
                </a:lnTo>
                <a:lnTo>
                  <a:pt x="95679" y="189407"/>
                </a:lnTo>
                <a:lnTo>
                  <a:pt x="130683" y="335025"/>
                </a:lnTo>
                <a:lnTo>
                  <a:pt x="178435" y="335025"/>
                </a:lnTo>
                <a:lnTo>
                  <a:pt x="200254" y="246125"/>
                </a:lnTo>
                <a:lnTo>
                  <a:pt x="155575" y="246125"/>
                </a:lnTo>
                <a:lnTo>
                  <a:pt x="148736" y="207718"/>
                </a:lnTo>
                <a:lnTo>
                  <a:pt x="128270" y="92328"/>
                </a:lnTo>
                <a:close/>
              </a:path>
              <a:path w="238125" h="335279">
                <a:moveTo>
                  <a:pt x="238125" y="92328"/>
                </a:moveTo>
                <a:lnTo>
                  <a:pt x="183769" y="92328"/>
                </a:lnTo>
                <a:lnTo>
                  <a:pt x="155575" y="246125"/>
                </a:lnTo>
                <a:lnTo>
                  <a:pt x="200254" y="246125"/>
                </a:lnTo>
                <a:lnTo>
                  <a:pt x="238125" y="92328"/>
                </a:lnTo>
                <a:close/>
              </a:path>
              <a:path w="238125" h="335279">
                <a:moveTo>
                  <a:pt x="53721" y="92328"/>
                </a:moveTo>
                <a:lnTo>
                  <a:pt x="0" y="92328"/>
                </a:lnTo>
                <a:lnTo>
                  <a:pt x="0" y="335025"/>
                </a:lnTo>
                <a:lnTo>
                  <a:pt x="53721" y="335025"/>
                </a:lnTo>
                <a:lnTo>
                  <a:pt x="53721" y="92328"/>
                </a:lnTo>
                <a:close/>
              </a:path>
              <a:path w="238125" h="335279">
                <a:moveTo>
                  <a:pt x="53721" y="0"/>
                </a:moveTo>
                <a:lnTo>
                  <a:pt x="0" y="0"/>
                </a:lnTo>
                <a:lnTo>
                  <a:pt x="0" y="63373"/>
                </a:lnTo>
                <a:lnTo>
                  <a:pt x="53721" y="63373"/>
                </a:lnTo>
                <a:lnTo>
                  <a:pt x="53721"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1" name="object 31"/>
          <p:cNvSpPr/>
          <p:nvPr/>
        </p:nvSpPr>
        <p:spPr>
          <a:xfrm>
            <a:off x="1751359" y="3113644"/>
            <a:ext cx="1390427" cy="1544242"/>
          </a:xfrm>
          <a:prstGeom prst="rect">
            <a:avLst/>
          </a:prstGeom>
          <a:blipFill>
            <a:blip r:embed="rId2"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2" name="object 32"/>
          <p:cNvSpPr/>
          <p:nvPr/>
        </p:nvSpPr>
        <p:spPr>
          <a:xfrm>
            <a:off x="1751359" y="3113644"/>
            <a:ext cx="1390934" cy="1544495"/>
          </a:xfrm>
          <a:custGeom>
            <a:avLst/>
            <a:gdLst/>
            <a:ahLst/>
            <a:cxnLst/>
            <a:rect l="l" t="t" r="r" b="b"/>
            <a:pathLst>
              <a:path w="1391920" h="1545589">
                <a:moveTo>
                  <a:pt x="0" y="772668"/>
                </a:moveTo>
                <a:lnTo>
                  <a:pt x="1480" y="721866"/>
                </a:lnTo>
                <a:lnTo>
                  <a:pt x="5859" y="671941"/>
                </a:lnTo>
                <a:lnTo>
                  <a:pt x="13045" y="622996"/>
                </a:lnTo>
                <a:lnTo>
                  <a:pt x="22947" y="575131"/>
                </a:lnTo>
                <a:lnTo>
                  <a:pt x="35472" y="528450"/>
                </a:lnTo>
                <a:lnTo>
                  <a:pt x="50530" y="483052"/>
                </a:lnTo>
                <a:lnTo>
                  <a:pt x="68028" y="439041"/>
                </a:lnTo>
                <a:lnTo>
                  <a:pt x="87874" y="396519"/>
                </a:lnTo>
                <a:lnTo>
                  <a:pt x="109977" y="355586"/>
                </a:lnTo>
                <a:lnTo>
                  <a:pt x="134246" y="316345"/>
                </a:lnTo>
                <a:lnTo>
                  <a:pt x="160587" y="278898"/>
                </a:lnTo>
                <a:lnTo>
                  <a:pt x="188911" y="243347"/>
                </a:lnTo>
                <a:lnTo>
                  <a:pt x="219124" y="209792"/>
                </a:lnTo>
                <a:lnTo>
                  <a:pt x="251135" y="178337"/>
                </a:lnTo>
                <a:lnTo>
                  <a:pt x="284853" y="149083"/>
                </a:lnTo>
                <a:lnTo>
                  <a:pt x="320186" y="122132"/>
                </a:lnTo>
                <a:lnTo>
                  <a:pt x="357042" y="97585"/>
                </a:lnTo>
                <a:lnTo>
                  <a:pt x="395328" y="75545"/>
                </a:lnTo>
                <a:lnTo>
                  <a:pt x="434955" y="56114"/>
                </a:lnTo>
                <a:lnTo>
                  <a:pt x="475829" y="39392"/>
                </a:lnTo>
                <a:lnTo>
                  <a:pt x="517859" y="25482"/>
                </a:lnTo>
                <a:lnTo>
                  <a:pt x="560954" y="14486"/>
                </a:lnTo>
                <a:lnTo>
                  <a:pt x="605021" y="6506"/>
                </a:lnTo>
                <a:lnTo>
                  <a:pt x="649968" y="1643"/>
                </a:lnTo>
                <a:lnTo>
                  <a:pt x="695706" y="0"/>
                </a:lnTo>
                <a:lnTo>
                  <a:pt x="741443" y="1643"/>
                </a:lnTo>
                <a:lnTo>
                  <a:pt x="786390" y="6506"/>
                </a:lnTo>
                <a:lnTo>
                  <a:pt x="830457" y="14486"/>
                </a:lnTo>
                <a:lnTo>
                  <a:pt x="873552" y="25482"/>
                </a:lnTo>
                <a:lnTo>
                  <a:pt x="915582" y="39392"/>
                </a:lnTo>
                <a:lnTo>
                  <a:pt x="956456" y="56114"/>
                </a:lnTo>
                <a:lnTo>
                  <a:pt x="996083" y="75545"/>
                </a:lnTo>
                <a:lnTo>
                  <a:pt x="1034369" y="97585"/>
                </a:lnTo>
                <a:lnTo>
                  <a:pt x="1071225" y="122132"/>
                </a:lnTo>
                <a:lnTo>
                  <a:pt x="1106558" y="149083"/>
                </a:lnTo>
                <a:lnTo>
                  <a:pt x="1140276" y="178337"/>
                </a:lnTo>
                <a:lnTo>
                  <a:pt x="1172287" y="209792"/>
                </a:lnTo>
                <a:lnTo>
                  <a:pt x="1202500" y="243347"/>
                </a:lnTo>
                <a:lnTo>
                  <a:pt x="1230824" y="278898"/>
                </a:lnTo>
                <a:lnTo>
                  <a:pt x="1257165" y="316345"/>
                </a:lnTo>
                <a:lnTo>
                  <a:pt x="1281434" y="355586"/>
                </a:lnTo>
                <a:lnTo>
                  <a:pt x="1303537" y="396519"/>
                </a:lnTo>
                <a:lnTo>
                  <a:pt x="1323383" y="439041"/>
                </a:lnTo>
                <a:lnTo>
                  <a:pt x="1340881" y="483052"/>
                </a:lnTo>
                <a:lnTo>
                  <a:pt x="1355939" y="528450"/>
                </a:lnTo>
                <a:lnTo>
                  <a:pt x="1368464" y="575131"/>
                </a:lnTo>
                <a:lnTo>
                  <a:pt x="1378366" y="622996"/>
                </a:lnTo>
                <a:lnTo>
                  <a:pt x="1385552" y="671941"/>
                </a:lnTo>
                <a:lnTo>
                  <a:pt x="1389931" y="721866"/>
                </a:lnTo>
                <a:lnTo>
                  <a:pt x="1391412" y="772668"/>
                </a:lnTo>
                <a:lnTo>
                  <a:pt x="1389931" y="823469"/>
                </a:lnTo>
                <a:lnTo>
                  <a:pt x="1385552" y="873394"/>
                </a:lnTo>
                <a:lnTo>
                  <a:pt x="1378366" y="922339"/>
                </a:lnTo>
                <a:lnTo>
                  <a:pt x="1368464" y="970204"/>
                </a:lnTo>
                <a:lnTo>
                  <a:pt x="1355939" y="1016885"/>
                </a:lnTo>
                <a:lnTo>
                  <a:pt x="1340881" y="1062283"/>
                </a:lnTo>
                <a:lnTo>
                  <a:pt x="1323383" y="1106294"/>
                </a:lnTo>
                <a:lnTo>
                  <a:pt x="1303537" y="1148816"/>
                </a:lnTo>
                <a:lnTo>
                  <a:pt x="1281434" y="1189749"/>
                </a:lnTo>
                <a:lnTo>
                  <a:pt x="1257165" y="1228990"/>
                </a:lnTo>
                <a:lnTo>
                  <a:pt x="1230824" y="1266437"/>
                </a:lnTo>
                <a:lnTo>
                  <a:pt x="1202500" y="1301988"/>
                </a:lnTo>
                <a:lnTo>
                  <a:pt x="1172287" y="1335543"/>
                </a:lnTo>
                <a:lnTo>
                  <a:pt x="1140276" y="1366998"/>
                </a:lnTo>
                <a:lnTo>
                  <a:pt x="1106558" y="1396252"/>
                </a:lnTo>
                <a:lnTo>
                  <a:pt x="1071225" y="1423203"/>
                </a:lnTo>
                <a:lnTo>
                  <a:pt x="1034369" y="1447750"/>
                </a:lnTo>
                <a:lnTo>
                  <a:pt x="996083" y="1469790"/>
                </a:lnTo>
                <a:lnTo>
                  <a:pt x="956456" y="1489221"/>
                </a:lnTo>
                <a:lnTo>
                  <a:pt x="915582" y="1505943"/>
                </a:lnTo>
                <a:lnTo>
                  <a:pt x="873552" y="1519853"/>
                </a:lnTo>
                <a:lnTo>
                  <a:pt x="830457" y="1530849"/>
                </a:lnTo>
                <a:lnTo>
                  <a:pt x="786390" y="1538829"/>
                </a:lnTo>
                <a:lnTo>
                  <a:pt x="741443" y="1543692"/>
                </a:lnTo>
                <a:lnTo>
                  <a:pt x="695706" y="1545336"/>
                </a:lnTo>
                <a:lnTo>
                  <a:pt x="649968" y="1543692"/>
                </a:lnTo>
                <a:lnTo>
                  <a:pt x="605021" y="1538829"/>
                </a:lnTo>
                <a:lnTo>
                  <a:pt x="560954" y="1530849"/>
                </a:lnTo>
                <a:lnTo>
                  <a:pt x="517859" y="1519853"/>
                </a:lnTo>
                <a:lnTo>
                  <a:pt x="475829" y="1505943"/>
                </a:lnTo>
                <a:lnTo>
                  <a:pt x="434955" y="1489221"/>
                </a:lnTo>
                <a:lnTo>
                  <a:pt x="395328" y="1469790"/>
                </a:lnTo>
                <a:lnTo>
                  <a:pt x="357042" y="1447750"/>
                </a:lnTo>
                <a:lnTo>
                  <a:pt x="320186" y="1423203"/>
                </a:lnTo>
                <a:lnTo>
                  <a:pt x="284853" y="1396252"/>
                </a:lnTo>
                <a:lnTo>
                  <a:pt x="251135" y="1366998"/>
                </a:lnTo>
                <a:lnTo>
                  <a:pt x="219124" y="1335543"/>
                </a:lnTo>
                <a:lnTo>
                  <a:pt x="188911" y="1301988"/>
                </a:lnTo>
                <a:lnTo>
                  <a:pt x="160587" y="1266437"/>
                </a:lnTo>
                <a:lnTo>
                  <a:pt x="134246" y="1228990"/>
                </a:lnTo>
                <a:lnTo>
                  <a:pt x="109977" y="1189749"/>
                </a:lnTo>
                <a:lnTo>
                  <a:pt x="87874" y="1148816"/>
                </a:lnTo>
                <a:lnTo>
                  <a:pt x="68028" y="1106294"/>
                </a:lnTo>
                <a:lnTo>
                  <a:pt x="50530" y="1062283"/>
                </a:lnTo>
                <a:lnTo>
                  <a:pt x="35472" y="1016885"/>
                </a:lnTo>
                <a:lnTo>
                  <a:pt x="22947" y="970204"/>
                </a:lnTo>
                <a:lnTo>
                  <a:pt x="13045" y="922339"/>
                </a:lnTo>
                <a:lnTo>
                  <a:pt x="5859" y="873394"/>
                </a:lnTo>
                <a:lnTo>
                  <a:pt x="1480" y="823469"/>
                </a:lnTo>
                <a:lnTo>
                  <a:pt x="0" y="772668"/>
                </a:lnTo>
                <a:close/>
              </a:path>
            </a:pathLst>
          </a:custGeom>
          <a:ln w="57149">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3" name="object 33"/>
          <p:cNvSpPr txBox="1"/>
          <p:nvPr/>
        </p:nvSpPr>
        <p:spPr>
          <a:xfrm>
            <a:off x="2090336" y="2057498"/>
            <a:ext cx="729098" cy="227965"/>
          </a:xfrm>
          <a:prstGeom prst="rect">
            <a:avLst/>
          </a:prstGeom>
        </p:spPr>
        <p:txBody>
          <a:bodyPr vert="horz" wrap="square" lIns="0" tIns="13325" rIns="0" bIns="0" rtlCol="0">
            <a:spAutoFit/>
          </a:bodyPr>
          <a:lstStyle/>
          <a:p>
            <a:pPr>
              <a:lnSpc>
                <a:spcPct val="100000"/>
              </a:lnSpc>
              <a:spcBef>
                <a:spcPts val="105"/>
              </a:spcBef>
            </a:pPr>
            <a:r>
              <a:rPr sz="1400" b="1" spc="10" dirty="0">
                <a:solidFill>
                  <a:srgbClr val="0066CC"/>
                </a:solidFill>
                <a:latin typeface="微软雅黑" panose="020B0503020204020204" charset="-122"/>
                <a:ea typeface="微软雅黑" panose="020B0503020204020204" charset="-122"/>
                <a:cs typeface="微软雅黑" panose="020B0503020204020204" charset="-122"/>
              </a:rPr>
              <a:t>客户</a:t>
            </a:r>
            <a:r>
              <a:rPr sz="1400" b="1" dirty="0">
                <a:solidFill>
                  <a:srgbClr val="0066CC"/>
                </a:solidFill>
                <a:latin typeface="微软雅黑" panose="020B0503020204020204" charset="-122"/>
                <a:ea typeface="微软雅黑" panose="020B0503020204020204" charset="-122"/>
                <a:cs typeface="微软雅黑" panose="020B0503020204020204" charset="-122"/>
              </a:rPr>
              <a:t>背景</a:t>
            </a:r>
            <a:endParaRPr sz="1400">
              <a:latin typeface="微软雅黑" panose="020B0503020204020204" charset="-122"/>
              <a:ea typeface="微软雅黑" panose="020B0503020204020204" charset="-122"/>
              <a:cs typeface="微软雅黑" panose="020B0503020204020204" charset="-122"/>
            </a:endParaRPr>
          </a:p>
        </p:txBody>
      </p:sp>
      <p:sp>
        <p:nvSpPr>
          <p:cNvPr id="34" name="object 34"/>
          <p:cNvSpPr txBox="1"/>
          <p:nvPr/>
        </p:nvSpPr>
        <p:spPr>
          <a:xfrm>
            <a:off x="433118" y="3305912"/>
            <a:ext cx="552059" cy="445135"/>
          </a:xfrm>
          <a:prstGeom prst="rect">
            <a:avLst/>
          </a:prstGeom>
        </p:spPr>
        <p:txBody>
          <a:bodyPr vert="horz" wrap="square" lIns="0" tIns="11421" rIns="0" bIns="0" rtlCol="0">
            <a:spAutoFit/>
          </a:bodyPr>
          <a:lstStyle/>
          <a:p>
            <a:pPr marR="5080">
              <a:lnSpc>
                <a:spcPct val="101000"/>
              </a:lnSpc>
              <a:spcBef>
                <a:spcPts val="90"/>
              </a:spcBef>
            </a:pPr>
            <a:r>
              <a:rPr sz="1400" b="1" spc="10" dirty="0">
                <a:solidFill>
                  <a:srgbClr val="0066CC"/>
                </a:solidFill>
                <a:latin typeface="微软雅黑" panose="020B0503020204020204" charset="-122"/>
                <a:ea typeface="微软雅黑" panose="020B0503020204020204" charset="-122"/>
                <a:cs typeface="微软雅黑" panose="020B0503020204020204" charset="-122"/>
              </a:rPr>
              <a:t>客户经 济指标</a:t>
            </a:r>
            <a:endParaRPr sz="1400" b="1" spc="1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5" name="object 35"/>
          <p:cNvSpPr txBox="1"/>
          <p:nvPr/>
        </p:nvSpPr>
        <p:spPr>
          <a:xfrm>
            <a:off x="3947663" y="3305912"/>
            <a:ext cx="372481" cy="445135"/>
          </a:xfrm>
          <a:prstGeom prst="rect">
            <a:avLst/>
          </a:prstGeom>
        </p:spPr>
        <p:txBody>
          <a:bodyPr vert="horz" wrap="square" lIns="0" tIns="11421" rIns="0" bIns="0" rtlCol="0">
            <a:spAutoFit/>
          </a:bodyPr>
          <a:lstStyle/>
          <a:p>
            <a:pPr marR="5080">
              <a:lnSpc>
                <a:spcPct val="101000"/>
              </a:lnSpc>
              <a:spcBef>
                <a:spcPts val="90"/>
              </a:spcBef>
            </a:pPr>
            <a:r>
              <a:rPr sz="1400" b="1" spc="10" dirty="0">
                <a:solidFill>
                  <a:srgbClr val="0066CC"/>
                </a:solidFill>
                <a:latin typeface="微软雅黑" panose="020B0503020204020204" charset="-122"/>
                <a:ea typeface="微软雅黑" panose="020B0503020204020204" charset="-122"/>
                <a:cs typeface="微软雅黑" panose="020B0503020204020204" charset="-122"/>
              </a:rPr>
              <a:t>风险 评估</a:t>
            </a:r>
            <a:endParaRPr sz="1400" b="1" spc="1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6" name="object 36"/>
          <p:cNvSpPr txBox="1"/>
          <p:nvPr/>
        </p:nvSpPr>
        <p:spPr>
          <a:xfrm>
            <a:off x="1085233" y="5043311"/>
            <a:ext cx="906772" cy="443230"/>
          </a:xfrm>
          <a:prstGeom prst="rect">
            <a:avLst/>
          </a:prstGeom>
        </p:spPr>
        <p:txBody>
          <a:bodyPr vert="horz" wrap="square" lIns="0" tIns="12691" rIns="0" bIns="0" rtlCol="0">
            <a:spAutoFit/>
          </a:bodyPr>
          <a:lstStyle/>
          <a:p>
            <a:pPr>
              <a:lnSpc>
                <a:spcPct val="100000"/>
              </a:lnSpc>
              <a:spcBef>
                <a:spcPts val="100"/>
              </a:spcBef>
            </a:pPr>
            <a:r>
              <a:rPr sz="1400" b="1" spc="10" dirty="0">
                <a:solidFill>
                  <a:srgbClr val="0066CC"/>
                </a:solidFill>
                <a:latin typeface="微软雅黑" panose="020B0503020204020204" charset="-122"/>
                <a:ea typeface="微软雅黑" panose="020B0503020204020204" charset="-122"/>
                <a:cs typeface="微软雅黑" panose="020B0503020204020204" charset="-122"/>
              </a:rPr>
              <a:t>客户</a:t>
            </a:r>
            <a:r>
              <a:rPr sz="1400" b="1" dirty="0">
                <a:solidFill>
                  <a:srgbClr val="0066CC"/>
                </a:solidFill>
                <a:latin typeface="微软雅黑" panose="020B0503020204020204" charset="-122"/>
                <a:ea typeface="微软雅黑" panose="020B0503020204020204" charset="-122"/>
                <a:cs typeface="微软雅黑" panose="020B0503020204020204" charset="-122"/>
              </a:rPr>
              <a:t>关系与</a:t>
            </a:r>
            <a:endParaRPr sz="1400">
              <a:latin typeface="微软雅黑" panose="020B0503020204020204" charset="-122"/>
              <a:ea typeface="微软雅黑" panose="020B0503020204020204" charset="-122"/>
              <a:cs typeface="微软雅黑" panose="020B0503020204020204" charset="-122"/>
            </a:endParaRPr>
          </a:p>
          <a:p>
            <a:pPr>
              <a:lnSpc>
                <a:spcPct val="100000"/>
              </a:lnSpc>
              <a:spcBef>
                <a:spcPts val="5"/>
              </a:spcBef>
            </a:pPr>
            <a:r>
              <a:rPr sz="1400" b="1" spc="10" dirty="0">
                <a:solidFill>
                  <a:srgbClr val="0066CC"/>
                </a:solidFill>
                <a:latin typeface="微软雅黑" panose="020B0503020204020204" charset="-122"/>
                <a:ea typeface="微软雅黑" panose="020B0503020204020204" charset="-122"/>
                <a:cs typeface="微软雅黑" panose="020B0503020204020204" charset="-122"/>
              </a:rPr>
              <a:t>决策</a:t>
            </a:r>
            <a:r>
              <a:rPr sz="1400" b="1" spc="5" dirty="0">
                <a:solidFill>
                  <a:srgbClr val="0066CC"/>
                </a:solidFill>
                <a:latin typeface="微软雅黑" panose="020B0503020204020204" charset="-122"/>
                <a:ea typeface="微软雅黑" panose="020B0503020204020204" charset="-122"/>
                <a:cs typeface="微软雅黑" panose="020B0503020204020204" charset="-122"/>
              </a:rPr>
              <a:t>流程</a:t>
            </a:r>
            <a:endParaRPr sz="1400">
              <a:latin typeface="微软雅黑" panose="020B0503020204020204" charset="-122"/>
              <a:ea typeface="微软雅黑" panose="020B0503020204020204" charset="-122"/>
              <a:cs typeface="微软雅黑" panose="020B0503020204020204" charset="-122"/>
            </a:endParaRPr>
          </a:p>
        </p:txBody>
      </p:sp>
      <p:sp>
        <p:nvSpPr>
          <p:cNvPr id="37" name="object 37"/>
          <p:cNvSpPr txBox="1"/>
          <p:nvPr/>
        </p:nvSpPr>
        <p:spPr>
          <a:xfrm>
            <a:off x="2732119" y="5043565"/>
            <a:ext cx="728464" cy="227330"/>
          </a:xfrm>
          <a:prstGeom prst="rect">
            <a:avLst/>
          </a:prstGeom>
        </p:spPr>
        <p:txBody>
          <a:bodyPr vert="horz" wrap="square" lIns="0" tIns="12691" rIns="0" bIns="0" rtlCol="0">
            <a:spAutoFit/>
          </a:bodyPr>
          <a:lstStyle/>
          <a:p>
            <a:pPr>
              <a:lnSpc>
                <a:spcPct val="100000"/>
              </a:lnSpc>
              <a:spcBef>
                <a:spcPts val="100"/>
              </a:spcBef>
            </a:pPr>
            <a:r>
              <a:rPr sz="1400" b="1" spc="10" dirty="0">
                <a:solidFill>
                  <a:srgbClr val="0066CC"/>
                </a:solidFill>
                <a:latin typeface="微软雅黑" panose="020B0503020204020204" charset="-122"/>
                <a:ea typeface="微软雅黑" panose="020B0503020204020204" charset="-122"/>
                <a:cs typeface="微软雅黑" panose="020B0503020204020204" charset="-122"/>
              </a:rPr>
              <a:t>客户</a:t>
            </a:r>
            <a:r>
              <a:rPr sz="1400" b="1" dirty="0">
                <a:solidFill>
                  <a:srgbClr val="0066CC"/>
                </a:solidFill>
                <a:latin typeface="微软雅黑" panose="020B0503020204020204" charset="-122"/>
                <a:ea typeface="微软雅黑" panose="020B0503020204020204" charset="-122"/>
                <a:cs typeface="微软雅黑" panose="020B0503020204020204" charset="-122"/>
              </a:rPr>
              <a:t>需求</a:t>
            </a:r>
            <a:endParaRPr sz="1400">
              <a:latin typeface="微软雅黑" panose="020B0503020204020204" charset="-122"/>
              <a:ea typeface="微软雅黑" panose="020B0503020204020204" charset="-122"/>
              <a:cs typeface="微软雅黑" panose="020B0503020204020204" charset="-122"/>
            </a:endParaRPr>
          </a:p>
        </p:txBody>
      </p:sp>
      <p:sp>
        <p:nvSpPr>
          <p:cNvPr id="38" name="object 38"/>
          <p:cNvSpPr/>
          <p:nvPr/>
        </p:nvSpPr>
        <p:spPr>
          <a:xfrm>
            <a:off x="5182498" y="1432339"/>
            <a:ext cx="219300" cy="217777"/>
          </a:xfrm>
          <a:prstGeom prst="rect">
            <a:avLst/>
          </a:prstGeom>
          <a:blipFill>
            <a:blip r:embed="rId3"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9" name="object 39"/>
          <p:cNvSpPr txBox="1"/>
          <p:nvPr/>
        </p:nvSpPr>
        <p:spPr>
          <a:xfrm>
            <a:off x="5182498" y="1781088"/>
            <a:ext cx="1215798" cy="438150"/>
          </a:xfrm>
          <a:prstGeom prst="rect">
            <a:avLst/>
          </a:prstGeom>
          <a:solidFill>
            <a:srgbClr val="C6DFFA"/>
          </a:solidFill>
          <a:ln w="9525">
            <a:solidFill>
              <a:srgbClr val="91AFFF"/>
            </a:solidFill>
          </a:ln>
        </p:spPr>
        <p:txBody>
          <a:bodyPr vert="horz" wrap="square" lIns="0" tIns="69800" rIns="0" bIns="0" rtlCol="0">
            <a:spAutoFit/>
          </a:bodyPr>
          <a:lstStyle/>
          <a:p>
            <a:pPr marL="73025">
              <a:lnSpc>
                <a:spcPct val="100000"/>
              </a:lnSpc>
              <a:spcBef>
                <a:spcPts val="550"/>
              </a:spcBef>
            </a:pPr>
            <a:r>
              <a:rPr sz="1200" b="1" spc="-10" dirty="0">
                <a:latin typeface="微软雅黑" panose="020B0503020204020204" charset="-122"/>
                <a:ea typeface="微软雅黑" panose="020B0503020204020204" charset="-122"/>
                <a:cs typeface="楷体" panose="02010609060101010101" charset="-122"/>
              </a:rPr>
              <a:t>愿景与战略</a:t>
            </a:r>
            <a:endParaRPr sz="1200">
              <a:latin typeface="微软雅黑" panose="020B0503020204020204" charset="-122"/>
              <a:ea typeface="微软雅黑" panose="020B0503020204020204" charset="-122"/>
              <a:cs typeface="楷体" panose="02010609060101010101" charset="-122"/>
            </a:endParaRPr>
          </a:p>
          <a:p>
            <a:pPr marL="73025">
              <a:lnSpc>
                <a:spcPct val="100000"/>
              </a:lnSpc>
            </a:pPr>
            <a:r>
              <a:rPr sz="1200" b="1" spc="-5" dirty="0">
                <a:latin typeface="微软雅黑" panose="020B0503020204020204" charset="-122"/>
                <a:ea typeface="微软雅黑" panose="020B0503020204020204" charset="-122"/>
                <a:cs typeface="楷体" panose="02010609060101010101" charset="-122"/>
              </a:rPr>
              <a:t>定位</a:t>
            </a:r>
            <a:endParaRPr sz="1200">
              <a:latin typeface="微软雅黑" panose="020B0503020204020204" charset="-122"/>
              <a:ea typeface="微软雅黑" panose="020B0503020204020204" charset="-122"/>
              <a:cs typeface="楷体" panose="02010609060101010101" charset="-122"/>
            </a:endParaRPr>
          </a:p>
        </p:txBody>
      </p:sp>
      <p:sp>
        <p:nvSpPr>
          <p:cNvPr id="40" name="object 40"/>
          <p:cNvSpPr txBox="1"/>
          <p:nvPr/>
        </p:nvSpPr>
        <p:spPr>
          <a:xfrm>
            <a:off x="5182498" y="2553209"/>
            <a:ext cx="1215798" cy="354330"/>
          </a:xfrm>
          <a:prstGeom prst="rect">
            <a:avLst/>
          </a:prstGeom>
          <a:solidFill>
            <a:srgbClr val="C6DFFA"/>
          </a:solidFill>
          <a:ln w="9525">
            <a:solidFill>
              <a:srgbClr val="91AFFF"/>
            </a:solidFill>
          </a:ln>
        </p:spPr>
        <p:txBody>
          <a:bodyPr vert="horz" wrap="square" lIns="0" tIns="1269" rIns="0" bIns="0" rtlCol="0">
            <a:spAutoFit/>
          </a:bodyPr>
          <a:lstStyle/>
          <a:p>
            <a:pPr>
              <a:lnSpc>
                <a:spcPct val="100000"/>
              </a:lnSpc>
              <a:spcBef>
                <a:spcPts val="10"/>
              </a:spcBef>
            </a:pPr>
            <a:endParaRPr sz="1100">
              <a:latin typeface="微软雅黑" panose="020B0503020204020204" charset="-122"/>
              <a:ea typeface="微软雅黑" panose="020B0503020204020204" charset="-122"/>
              <a:cs typeface="Times New Roman" panose="02020603050405020304"/>
            </a:endParaRPr>
          </a:p>
          <a:p>
            <a:pPr marL="73025">
              <a:lnSpc>
                <a:spcPct val="100000"/>
              </a:lnSpc>
            </a:pPr>
            <a:r>
              <a:rPr sz="1200" b="1" spc="-10" dirty="0">
                <a:latin typeface="微软雅黑" panose="020B0503020204020204" charset="-122"/>
                <a:ea typeface="微软雅黑" panose="020B0503020204020204" charset="-122"/>
                <a:cs typeface="楷体" panose="02010609060101010101" charset="-122"/>
              </a:rPr>
              <a:t>战略目标</a:t>
            </a:r>
            <a:endParaRPr sz="1200">
              <a:latin typeface="微软雅黑" panose="020B0503020204020204" charset="-122"/>
              <a:ea typeface="微软雅黑" panose="020B0503020204020204" charset="-122"/>
              <a:cs typeface="楷体" panose="02010609060101010101" charset="-122"/>
            </a:endParaRPr>
          </a:p>
        </p:txBody>
      </p:sp>
      <p:sp>
        <p:nvSpPr>
          <p:cNvPr id="41" name="object 41"/>
          <p:cNvSpPr txBox="1"/>
          <p:nvPr/>
        </p:nvSpPr>
        <p:spPr>
          <a:xfrm>
            <a:off x="4942638" y="1360000"/>
            <a:ext cx="3789534" cy="2565400"/>
          </a:xfrm>
          <a:prstGeom prst="rect">
            <a:avLst/>
          </a:prstGeom>
          <a:ln w="28575">
            <a:solidFill>
              <a:srgbClr val="91AFFF"/>
            </a:solidFill>
          </a:ln>
        </p:spPr>
        <p:txBody>
          <a:bodyPr vert="horz" wrap="square" lIns="0" tIns="65357" rIns="0" bIns="0" rtlCol="0">
            <a:spAutoFit/>
          </a:bodyPr>
          <a:lstStyle/>
          <a:p>
            <a:pPr marL="259715">
              <a:lnSpc>
                <a:spcPct val="100000"/>
              </a:lnSpc>
              <a:spcBef>
                <a:spcPts val="515"/>
              </a:spcBef>
            </a:pPr>
            <a:r>
              <a:rPr sz="1400" b="1" spc="320" dirty="0">
                <a:solidFill>
                  <a:srgbClr val="FFFFFF"/>
                </a:solidFill>
                <a:latin typeface="微软雅黑" panose="020B0503020204020204" charset="-122"/>
                <a:ea typeface="微软雅黑" panose="020B0503020204020204" charset="-122"/>
                <a:cs typeface="微软雅黑" panose="020B0503020204020204" charset="-122"/>
              </a:rPr>
              <a:t>二</a:t>
            </a:r>
            <a:r>
              <a:rPr sz="1400" b="1" spc="10" dirty="0">
                <a:latin typeface="微软雅黑" panose="020B0503020204020204" charset="-122"/>
                <a:ea typeface="微软雅黑" panose="020B0503020204020204" charset="-122"/>
                <a:cs typeface="微软雅黑" panose="020B0503020204020204" charset="-122"/>
              </a:rPr>
              <a:t>大客</a:t>
            </a:r>
            <a:r>
              <a:rPr sz="1400" b="1" dirty="0">
                <a:latin typeface="微软雅黑" panose="020B0503020204020204" charset="-122"/>
                <a:ea typeface="微软雅黑" panose="020B0503020204020204" charset="-122"/>
                <a:cs typeface="微软雅黑" panose="020B0503020204020204" charset="-122"/>
              </a:rPr>
              <a:t>户管</a:t>
            </a:r>
            <a:r>
              <a:rPr sz="1400" b="1" spc="-15" dirty="0">
                <a:latin typeface="微软雅黑" panose="020B0503020204020204" charset="-122"/>
                <a:ea typeface="微软雅黑" panose="020B0503020204020204" charset="-122"/>
                <a:cs typeface="微软雅黑" panose="020B0503020204020204" charset="-122"/>
              </a:rPr>
              <a:t>理</a:t>
            </a:r>
            <a:r>
              <a:rPr sz="1400" b="1" dirty="0">
                <a:latin typeface="微软雅黑" panose="020B0503020204020204" charset="-122"/>
                <a:ea typeface="微软雅黑" panose="020B0503020204020204" charset="-122"/>
                <a:cs typeface="微软雅黑" panose="020B0503020204020204" charset="-122"/>
              </a:rPr>
              <a:t>战略</a:t>
            </a:r>
            <a:endParaRPr sz="1400">
              <a:latin typeface="微软雅黑" panose="020B0503020204020204" charset="-122"/>
              <a:ea typeface="微软雅黑" panose="020B0503020204020204" charset="-122"/>
              <a:cs typeface="微软雅黑" panose="020B0503020204020204" charset="-122"/>
            </a:endParaRPr>
          </a:p>
          <a:p>
            <a:pPr marL="1763395" marR="343535" indent="-192405" algn="just">
              <a:lnSpc>
                <a:spcPct val="100000"/>
              </a:lnSpc>
              <a:spcBef>
                <a:spcPts val="1160"/>
              </a:spcBef>
              <a:buClr>
                <a:srgbClr val="00295F"/>
              </a:buClr>
              <a:buSzPct val="125000"/>
              <a:buFont typeface="Arial" panose="020B0604020202020204"/>
              <a:buChar char="▪"/>
              <a:tabLst>
                <a:tab pos="1764030" algn="l"/>
              </a:tabLst>
            </a:pPr>
            <a:r>
              <a:rPr sz="1200" dirty="0">
                <a:latin typeface="微软雅黑" panose="020B0503020204020204" charset="-122"/>
                <a:ea typeface="微软雅黑" panose="020B0503020204020204" charset="-122"/>
                <a:cs typeface="微软雅黑" panose="020B0503020204020204" charset="-122"/>
              </a:rPr>
              <a:t>我们希望成为大客户怎样 的战略伙伴</a:t>
            </a:r>
            <a:endParaRPr sz="1200">
              <a:latin typeface="微软雅黑" panose="020B0503020204020204" charset="-122"/>
              <a:ea typeface="微软雅黑" panose="020B0503020204020204" charset="-122"/>
              <a:cs typeface="微软雅黑" panose="020B0503020204020204" charset="-122"/>
            </a:endParaRPr>
          </a:p>
          <a:p>
            <a:pPr marL="1763395" indent="-192405">
              <a:lnSpc>
                <a:spcPct val="100000"/>
              </a:lnSpc>
              <a:buClr>
                <a:srgbClr val="00295F"/>
              </a:buClr>
              <a:buSzPct val="125000"/>
              <a:buFont typeface="Arial" panose="020B0604020202020204"/>
              <a:buChar char="▪"/>
              <a:tabLst>
                <a:tab pos="1764030" algn="l"/>
              </a:tabLst>
            </a:pPr>
            <a:r>
              <a:rPr sz="1200" spc="-5" dirty="0">
                <a:latin typeface="微软雅黑" panose="020B0503020204020204" charset="-122"/>
                <a:ea typeface="微软雅黑" panose="020B0503020204020204" charset="-122"/>
                <a:cs typeface="微软雅黑" panose="020B0503020204020204" charset="-122"/>
              </a:rPr>
              <a:t>我们具体的价值定位</a:t>
            </a:r>
            <a:endParaRPr sz="1200">
              <a:latin typeface="微软雅黑" panose="020B0503020204020204" charset="-122"/>
              <a:ea typeface="微软雅黑" panose="020B0503020204020204" charset="-122"/>
              <a:cs typeface="微软雅黑" panose="020B0503020204020204" charset="-122"/>
            </a:endParaRPr>
          </a:p>
          <a:p>
            <a:pPr>
              <a:lnSpc>
                <a:spcPct val="100000"/>
              </a:lnSpc>
              <a:spcBef>
                <a:spcPts val="40"/>
              </a:spcBef>
              <a:buClr>
                <a:srgbClr val="00295F"/>
              </a:buClr>
              <a:buFont typeface="Arial" panose="020B0604020202020204"/>
              <a:buChar char="▪"/>
            </a:pPr>
            <a:endParaRPr sz="1500">
              <a:latin typeface="微软雅黑" panose="020B0503020204020204" charset="-122"/>
              <a:ea typeface="微软雅黑" panose="020B0503020204020204" charset="-122"/>
              <a:cs typeface="微软雅黑" panose="020B0503020204020204" charset="-122"/>
            </a:endParaRPr>
          </a:p>
          <a:p>
            <a:pPr marL="1763395" indent="-192405">
              <a:lnSpc>
                <a:spcPct val="100000"/>
              </a:lnSpc>
              <a:buClr>
                <a:srgbClr val="00295F"/>
              </a:buClr>
              <a:buSzPct val="125000"/>
              <a:buFont typeface="Arial" panose="020B0604020202020204"/>
              <a:buChar char="▪"/>
              <a:tabLst>
                <a:tab pos="1764030" algn="l"/>
              </a:tabLst>
            </a:pPr>
            <a:r>
              <a:rPr sz="1200" dirty="0">
                <a:latin typeface="微软雅黑" panose="020B0503020204020204" charset="-122"/>
                <a:ea typeface="微软雅黑" panose="020B0503020204020204" charset="-122"/>
                <a:cs typeface="微软雅黑" panose="020B0503020204020204" charset="-122"/>
              </a:rPr>
              <a:t>销售额、钱包份额、落袋</a:t>
            </a:r>
            <a:endParaRPr sz="1200">
              <a:latin typeface="微软雅黑" panose="020B0503020204020204" charset="-122"/>
              <a:ea typeface="微软雅黑" panose="020B0503020204020204" charset="-122"/>
              <a:cs typeface="微软雅黑" panose="020B0503020204020204" charset="-122"/>
            </a:endParaRPr>
          </a:p>
          <a:p>
            <a:pPr marL="1763395">
              <a:lnSpc>
                <a:spcPct val="100000"/>
              </a:lnSpc>
            </a:pPr>
            <a:r>
              <a:rPr sz="1200" spc="-5" dirty="0">
                <a:latin typeface="微软雅黑" panose="020B0503020204020204" charset="-122"/>
                <a:ea typeface="微软雅黑" panose="020B0503020204020204" charset="-122"/>
                <a:cs typeface="微软雅黑" panose="020B0503020204020204" charset="-122"/>
              </a:rPr>
              <a:t>利润率的目标</a:t>
            </a:r>
            <a:endParaRPr sz="1200">
              <a:latin typeface="微软雅黑" panose="020B0503020204020204" charset="-122"/>
              <a:ea typeface="微软雅黑" panose="020B0503020204020204" charset="-122"/>
              <a:cs typeface="微软雅黑" panose="020B0503020204020204" charset="-122"/>
            </a:endParaRPr>
          </a:p>
          <a:p>
            <a:pPr marL="1763395" indent="-192405">
              <a:lnSpc>
                <a:spcPct val="100000"/>
              </a:lnSpc>
              <a:spcBef>
                <a:spcPts val="5"/>
              </a:spcBef>
              <a:buClr>
                <a:srgbClr val="00295F"/>
              </a:buClr>
              <a:buSzPct val="125000"/>
              <a:buFont typeface="Arial" panose="020B0604020202020204"/>
              <a:buChar char="▪"/>
              <a:tabLst>
                <a:tab pos="1764030" algn="l"/>
              </a:tabLst>
            </a:pPr>
            <a:r>
              <a:rPr sz="1200" dirty="0">
                <a:latin typeface="微软雅黑" panose="020B0503020204020204" charset="-122"/>
                <a:ea typeface="微软雅黑" panose="020B0503020204020204" charset="-122"/>
                <a:cs typeface="微软雅黑" panose="020B0503020204020204" charset="-122"/>
              </a:rPr>
              <a:t>产品组合、新项目</a:t>
            </a:r>
            <a:endParaRPr sz="1200">
              <a:latin typeface="微软雅黑" panose="020B0503020204020204" charset="-122"/>
              <a:ea typeface="微软雅黑" panose="020B0503020204020204" charset="-122"/>
              <a:cs typeface="微软雅黑" panose="020B0503020204020204" charset="-122"/>
            </a:endParaRPr>
          </a:p>
          <a:p>
            <a:pPr>
              <a:lnSpc>
                <a:spcPct val="100000"/>
              </a:lnSpc>
              <a:spcBef>
                <a:spcPts val="50"/>
              </a:spcBef>
              <a:buClr>
                <a:srgbClr val="00295F"/>
              </a:buClr>
              <a:buFont typeface="Arial" panose="020B0604020202020204"/>
              <a:buChar char="▪"/>
            </a:pPr>
            <a:endParaRPr sz="1500">
              <a:latin typeface="微软雅黑" panose="020B0503020204020204" charset="-122"/>
              <a:ea typeface="微软雅黑" panose="020B0503020204020204" charset="-122"/>
              <a:cs typeface="微软雅黑" panose="020B0503020204020204" charset="-122"/>
            </a:endParaRPr>
          </a:p>
          <a:p>
            <a:pPr marL="1763395" marR="343535" indent="-192405" algn="just">
              <a:lnSpc>
                <a:spcPct val="100000"/>
              </a:lnSpc>
              <a:spcBef>
                <a:spcPts val="5"/>
              </a:spcBef>
              <a:buClr>
                <a:srgbClr val="00295F"/>
              </a:buClr>
              <a:buSzPct val="125000"/>
              <a:buFont typeface="Arial" panose="020B0604020202020204"/>
              <a:buChar char="▪"/>
              <a:tabLst>
                <a:tab pos="1764030" algn="l"/>
              </a:tabLst>
            </a:pPr>
            <a:r>
              <a:rPr sz="1200" spc="-5" dirty="0">
                <a:latin typeface="微软雅黑" panose="020B0503020204020204" charset="-122"/>
                <a:ea typeface="微软雅黑" panose="020B0503020204020204" charset="-122"/>
                <a:cs typeface="微软雅黑" panose="020B0503020204020204" charset="-122"/>
              </a:rPr>
              <a:t>大客户管理的具体改进举 </a:t>
            </a:r>
            <a:r>
              <a:rPr sz="1200" dirty="0">
                <a:latin typeface="微软雅黑" panose="020B0503020204020204" charset="-122"/>
                <a:ea typeface="微软雅黑" panose="020B0503020204020204" charset="-122"/>
                <a:cs typeface="微软雅黑" panose="020B0503020204020204" charset="-122"/>
              </a:rPr>
              <a:t>措，例如，提供更低粘度 的树脂以符合客户要求</a:t>
            </a:r>
            <a:endParaRPr sz="1200">
              <a:latin typeface="微软雅黑" panose="020B0503020204020204" charset="-122"/>
              <a:ea typeface="微软雅黑" panose="020B0503020204020204" charset="-122"/>
              <a:cs typeface="微软雅黑" panose="020B0503020204020204" charset="-122"/>
            </a:endParaRPr>
          </a:p>
        </p:txBody>
      </p:sp>
      <p:sp>
        <p:nvSpPr>
          <p:cNvPr id="42" name="object 42"/>
          <p:cNvSpPr txBox="1"/>
          <p:nvPr/>
        </p:nvSpPr>
        <p:spPr>
          <a:xfrm>
            <a:off x="5182498" y="3326853"/>
            <a:ext cx="1215798" cy="355600"/>
          </a:xfrm>
          <a:prstGeom prst="rect">
            <a:avLst/>
          </a:prstGeom>
          <a:solidFill>
            <a:srgbClr val="C6DFFA"/>
          </a:solidFill>
          <a:ln w="9525">
            <a:solidFill>
              <a:srgbClr val="91AFFF"/>
            </a:solidFill>
          </a:ln>
        </p:spPr>
        <p:txBody>
          <a:bodyPr vert="horz" wrap="square" lIns="0" tIns="1903" rIns="0" bIns="0" rtlCol="0">
            <a:spAutoFit/>
          </a:bodyPr>
          <a:lstStyle/>
          <a:p>
            <a:pPr>
              <a:lnSpc>
                <a:spcPct val="100000"/>
              </a:lnSpc>
              <a:spcBef>
                <a:spcPts val="15"/>
              </a:spcBef>
            </a:pPr>
            <a:endParaRPr sz="1100">
              <a:latin typeface="微软雅黑" panose="020B0503020204020204" charset="-122"/>
              <a:ea typeface="微软雅黑" panose="020B0503020204020204" charset="-122"/>
              <a:cs typeface="Times New Roman" panose="02020603050405020304"/>
            </a:endParaRPr>
          </a:p>
          <a:p>
            <a:pPr marL="73025">
              <a:lnSpc>
                <a:spcPct val="100000"/>
              </a:lnSpc>
              <a:spcBef>
                <a:spcPts val="5"/>
              </a:spcBef>
            </a:pPr>
            <a:r>
              <a:rPr sz="1200" b="1" spc="-5" dirty="0">
                <a:latin typeface="微软雅黑" panose="020B0503020204020204" charset="-122"/>
                <a:ea typeface="微软雅黑" panose="020B0503020204020204" charset="-122"/>
                <a:cs typeface="楷体" panose="02010609060101010101" charset="-122"/>
              </a:rPr>
              <a:t>战略举措</a:t>
            </a:r>
            <a:endParaRPr sz="1200">
              <a:latin typeface="微软雅黑" panose="020B0503020204020204" charset="-122"/>
              <a:ea typeface="微软雅黑" panose="020B0503020204020204" charset="-122"/>
              <a:cs typeface="楷体" panose="02010609060101010101" charset="-122"/>
            </a:endParaRPr>
          </a:p>
        </p:txBody>
      </p:sp>
      <p:sp>
        <p:nvSpPr>
          <p:cNvPr id="43" name="object 43"/>
          <p:cNvSpPr/>
          <p:nvPr/>
        </p:nvSpPr>
        <p:spPr>
          <a:xfrm>
            <a:off x="5197727" y="4295430"/>
            <a:ext cx="217778" cy="219301"/>
          </a:xfrm>
          <a:prstGeom prst="rect">
            <a:avLst/>
          </a:prstGeom>
          <a:blipFill>
            <a:blip r:embed="rId4"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4" name="object 44"/>
          <p:cNvSpPr txBox="1"/>
          <p:nvPr/>
        </p:nvSpPr>
        <p:spPr>
          <a:xfrm>
            <a:off x="4942638" y="4180450"/>
            <a:ext cx="3789534" cy="1418590"/>
          </a:xfrm>
          <a:prstGeom prst="rect">
            <a:avLst/>
          </a:prstGeom>
          <a:ln w="28575">
            <a:solidFill>
              <a:srgbClr val="91AFFF"/>
            </a:solidFill>
          </a:ln>
        </p:spPr>
        <p:txBody>
          <a:bodyPr vert="horz" wrap="square" lIns="0" tIns="107238" rIns="0" bIns="0" rtlCol="0">
            <a:spAutoFit/>
          </a:bodyPr>
          <a:lstStyle/>
          <a:p>
            <a:pPr marL="273685">
              <a:lnSpc>
                <a:spcPct val="100000"/>
              </a:lnSpc>
              <a:spcBef>
                <a:spcPts val="845"/>
              </a:spcBef>
            </a:pPr>
            <a:r>
              <a:rPr sz="1400" b="1" spc="335" dirty="0">
                <a:solidFill>
                  <a:srgbClr val="FFFFFF"/>
                </a:solidFill>
                <a:latin typeface="微软雅黑" panose="020B0503020204020204" charset="-122"/>
                <a:ea typeface="微软雅黑" panose="020B0503020204020204" charset="-122"/>
                <a:cs typeface="微软雅黑" panose="020B0503020204020204" charset="-122"/>
              </a:rPr>
              <a:t>三</a:t>
            </a:r>
            <a:r>
              <a:rPr sz="1400" b="1" spc="10" dirty="0">
                <a:latin typeface="微软雅黑" panose="020B0503020204020204" charset="-122"/>
                <a:ea typeface="微软雅黑" panose="020B0503020204020204" charset="-122"/>
                <a:cs typeface="微软雅黑" panose="020B0503020204020204" charset="-122"/>
              </a:rPr>
              <a:t>行动</a:t>
            </a:r>
            <a:r>
              <a:rPr sz="1400" b="1" dirty="0">
                <a:latin typeface="微软雅黑" panose="020B0503020204020204" charset="-122"/>
                <a:ea typeface="微软雅黑" panose="020B0503020204020204" charset="-122"/>
                <a:cs typeface="微软雅黑" panose="020B0503020204020204" charset="-122"/>
              </a:rPr>
              <a:t>计划</a:t>
            </a:r>
            <a:endParaRPr sz="1400">
              <a:latin typeface="微软雅黑" panose="020B0503020204020204" charset="-122"/>
              <a:ea typeface="微软雅黑" panose="020B0503020204020204" charset="-122"/>
              <a:cs typeface="微软雅黑" panose="020B0503020204020204" charset="-122"/>
            </a:endParaRPr>
          </a:p>
          <a:p>
            <a:pPr marL="1876425" indent="-193040">
              <a:lnSpc>
                <a:spcPct val="100000"/>
              </a:lnSpc>
              <a:spcBef>
                <a:spcPts val="1345"/>
              </a:spcBef>
              <a:buClr>
                <a:srgbClr val="00295F"/>
              </a:buClr>
              <a:buSzPct val="125000"/>
              <a:buFont typeface="Arial" panose="020B0604020202020204"/>
              <a:buChar char="▪"/>
              <a:tabLst>
                <a:tab pos="1877060" algn="l"/>
              </a:tabLst>
            </a:pPr>
            <a:r>
              <a:rPr sz="1200" dirty="0">
                <a:latin typeface="微软雅黑" panose="020B0503020204020204" charset="-122"/>
                <a:ea typeface="微软雅黑" panose="020B0503020204020204" charset="-122"/>
                <a:cs typeface="微软雅黑" panose="020B0503020204020204" charset="-122"/>
              </a:rPr>
              <a:t>实施战略举措的具体行</a:t>
            </a:r>
            <a:endParaRPr sz="1200">
              <a:latin typeface="微软雅黑" panose="020B0503020204020204" charset="-122"/>
              <a:ea typeface="微软雅黑" panose="020B0503020204020204" charset="-122"/>
              <a:cs typeface="微软雅黑" panose="020B0503020204020204" charset="-122"/>
            </a:endParaRPr>
          </a:p>
          <a:p>
            <a:pPr marL="418465" algn="ctr">
              <a:lnSpc>
                <a:spcPct val="100000"/>
              </a:lnSpc>
            </a:pPr>
            <a:r>
              <a:rPr sz="1200" spc="-5" dirty="0">
                <a:latin typeface="微软雅黑" panose="020B0503020204020204" charset="-122"/>
                <a:ea typeface="微软雅黑" panose="020B0503020204020204" charset="-122"/>
                <a:cs typeface="微软雅黑" panose="020B0503020204020204" charset="-122"/>
              </a:rPr>
              <a:t>动计划</a:t>
            </a:r>
            <a:endParaRPr sz="1200">
              <a:latin typeface="微软雅黑" panose="020B0503020204020204" charset="-122"/>
              <a:ea typeface="微软雅黑" panose="020B0503020204020204" charset="-122"/>
              <a:cs typeface="微软雅黑" panose="020B0503020204020204" charset="-122"/>
            </a:endParaRPr>
          </a:p>
          <a:p>
            <a:pPr marL="1876425" marR="384175" indent="-192405" algn="just">
              <a:lnSpc>
                <a:spcPct val="100000"/>
              </a:lnSpc>
              <a:spcBef>
                <a:spcPts val="5"/>
              </a:spcBef>
              <a:buClr>
                <a:srgbClr val="00295F"/>
              </a:buClr>
              <a:buSzPct val="125000"/>
              <a:buFont typeface="Arial" panose="020B0604020202020204"/>
              <a:buChar char="▪"/>
              <a:tabLst>
                <a:tab pos="1877060" algn="l"/>
              </a:tabLst>
            </a:pPr>
            <a:r>
              <a:rPr sz="1200" dirty="0">
                <a:latin typeface="微软雅黑" panose="020B0503020204020204" charset="-122"/>
                <a:ea typeface="微软雅黑" panose="020B0503020204020204" charset="-122"/>
                <a:cs typeface="微软雅黑" panose="020B0503020204020204" charset="-122"/>
              </a:rPr>
              <a:t>所需的资源，包括人力 资源和资金支持，以及 领导层的支持</a:t>
            </a:r>
            <a:endParaRPr sz="1200">
              <a:latin typeface="微软雅黑" panose="020B0503020204020204" charset="-122"/>
              <a:ea typeface="微软雅黑" panose="020B0503020204020204" charset="-122"/>
              <a:cs typeface="微软雅黑" panose="020B0503020204020204" charset="-122"/>
            </a:endParaRPr>
          </a:p>
        </p:txBody>
      </p:sp>
      <p:sp>
        <p:nvSpPr>
          <p:cNvPr id="45" name="object 45"/>
          <p:cNvSpPr txBox="1"/>
          <p:nvPr/>
        </p:nvSpPr>
        <p:spPr>
          <a:xfrm>
            <a:off x="5182498" y="4667023"/>
            <a:ext cx="1215798" cy="438785"/>
          </a:xfrm>
          <a:prstGeom prst="rect">
            <a:avLst/>
          </a:prstGeom>
          <a:solidFill>
            <a:srgbClr val="C6DFFA"/>
          </a:solidFill>
          <a:ln w="9525">
            <a:solidFill>
              <a:srgbClr val="91AFFF"/>
            </a:solidFill>
          </a:ln>
        </p:spPr>
        <p:txBody>
          <a:bodyPr vert="horz" wrap="square" lIns="0" tIns="70435" rIns="0" bIns="0" rtlCol="0">
            <a:spAutoFit/>
          </a:bodyPr>
          <a:lstStyle/>
          <a:p>
            <a:pPr marL="73025">
              <a:lnSpc>
                <a:spcPct val="100000"/>
              </a:lnSpc>
              <a:spcBef>
                <a:spcPts val="555"/>
              </a:spcBef>
            </a:pPr>
            <a:r>
              <a:rPr sz="1200" b="1" spc="-10" dirty="0">
                <a:latin typeface="微软雅黑" panose="020B0503020204020204" charset="-122"/>
                <a:ea typeface="微软雅黑" panose="020B0503020204020204" charset="-122"/>
                <a:cs typeface="楷体" panose="02010609060101010101" charset="-122"/>
              </a:rPr>
              <a:t>行动计划和资源</a:t>
            </a:r>
            <a:endParaRPr sz="1200">
              <a:latin typeface="微软雅黑" panose="020B0503020204020204" charset="-122"/>
              <a:ea typeface="微软雅黑" panose="020B0503020204020204" charset="-122"/>
              <a:cs typeface="楷体" panose="02010609060101010101" charset="-122"/>
            </a:endParaRPr>
          </a:p>
          <a:p>
            <a:pPr marL="73025">
              <a:lnSpc>
                <a:spcPct val="100000"/>
              </a:lnSpc>
            </a:pPr>
            <a:r>
              <a:rPr sz="1200" b="1" spc="-5" dirty="0">
                <a:latin typeface="微软雅黑" panose="020B0503020204020204" charset="-122"/>
                <a:ea typeface="微软雅黑" panose="020B0503020204020204" charset="-122"/>
                <a:cs typeface="楷体" panose="02010609060101010101" charset="-122"/>
              </a:rPr>
              <a:t>需求</a:t>
            </a:r>
            <a:endParaRPr sz="1200">
              <a:latin typeface="微软雅黑" panose="020B0503020204020204" charset="-122"/>
              <a:ea typeface="微软雅黑" panose="020B0503020204020204" charset="-122"/>
              <a:cs typeface="楷体" panose="02010609060101010101" charset="-122"/>
            </a:endParaRPr>
          </a:p>
        </p:txBody>
      </p:sp>
      <p:sp>
        <p:nvSpPr>
          <p:cNvPr id="46" name="object 46"/>
          <p:cNvSpPr txBox="1"/>
          <p:nvPr/>
        </p:nvSpPr>
        <p:spPr>
          <a:xfrm>
            <a:off x="106401" y="6412696"/>
            <a:ext cx="2191102"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35"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a:t>
            </a:r>
            <a:r>
              <a:rPr sz="1000" spc="-35"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营销和销售业务部</a:t>
            </a:r>
            <a:endParaRPr sz="10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519315" y="810988"/>
            <a:ext cx="7971221" cy="5198236"/>
          </a:xfrm>
          <a:custGeom>
            <a:avLst/>
            <a:gdLst/>
            <a:ahLst/>
            <a:cxnLst/>
            <a:rect l="l" t="t" r="r" b="b"/>
            <a:pathLst>
              <a:path w="7976870" h="5201920">
                <a:moveTo>
                  <a:pt x="0" y="5201412"/>
                </a:moveTo>
                <a:lnTo>
                  <a:pt x="7976616" y="5201412"/>
                </a:lnTo>
                <a:lnTo>
                  <a:pt x="7976616" y="0"/>
                </a:lnTo>
                <a:lnTo>
                  <a:pt x="0" y="0"/>
                </a:lnTo>
                <a:lnTo>
                  <a:pt x="0" y="5201412"/>
                </a:lnTo>
                <a:close/>
              </a:path>
            </a:pathLst>
          </a:custGeom>
          <a:ln w="952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 name="object 4"/>
          <p:cNvSpPr/>
          <p:nvPr/>
        </p:nvSpPr>
        <p:spPr>
          <a:xfrm>
            <a:off x="4568762" y="946527"/>
            <a:ext cx="3738770" cy="1583838"/>
          </a:xfrm>
          <a:custGeom>
            <a:avLst/>
            <a:gdLst/>
            <a:ahLst/>
            <a:cxnLst/>
            <a:rect l="l" t="t" r="r" b="b"/>
            <a:pathLst>
              <a:path w="3741420" h="1584960">
                <a:moveTo>
                  <a:pt x="0" y="1584960"/>
                </a:moveTo>
                <a:lnTo>
                  <a:pt x="3741420" y="1584960"/>
                </a:lnTo>
                <a:lnTo>
                  <a:pt x="3741420" y="0"/>
                </a:lnTo>
                <a:lnTo>
                  <a:pt x="0" y="0"/>
                </a:lnTo>
                <a:lnTo>
                  <a:pt x="0" y="1584960"/>
                </a:lnTo>
                <a:close/>
              </a:path>
            </a:pathLst>
          </a:custGeom>
          <a:ln w="952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p:nvPr/>
        </p:nvSpPr>
        <p:spPr>
          <a:xfrm>
            <a:off x="6437385" y="1147553"/>
            <a:ext cx="0" cy="1381416"/>
          </a:xfrm>
          <a:custGeom>
            <a:avLst/>
            <a:gdLst/>
            <a:ahLst/>
            <a:cxnLst/>
            <a:rect l="l" t="t" r="r" b="b"/>
            <a:pathLst>
              <a:path h="1382395">
                <a:moveTo>
                  <a:pt x="0" y="0"/>
                </a:moveTo>
                <a:lnTo>
                  <a:pt x="0" y="1382267"/>
                </a:lnTo>
              </a:path>
            </a:pathLst>
          </a:custGeom>
          <a:ln w="9525">
            <a:solidFill>
              <a:srgbClr val="000000"/>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683791" y="2617171"/>
            <a:ext cx="3738770" cy="3251436"/>
          </a:xfrm>
          <a:custGeom>
            <a:avLst/>
            <a:gdLst/>
            <a:ahLst/>
            <a:cxnLst/>
            <a:rect l="l" t="t" r="r" b="b"/>
            <a:pathLst>
              <a:path w="3741420" h="3253740">
                <a:moveTo>
                  <a:pt x="0" y="3253739"/>
                </a:moveTo>
                <a:lnTo>
                  <a:pt x="3741420" y="3253739"/>
                </a:lnTo>
                <a:lnTo>
                  <a:pt x="3741420" y="0"/>
                </a:lnTo>
                <a:lnTo>
                  <a:pt x="0" y="0"/>
                </a:lnTo>
                <a:lnTo>
                  <a:pt x="0" y="3253739"/>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txBox="1"/>
          <p:nvPr/>
        </p:nvSpPr>
        <p:spPr>
          <a:xfrm>
            <a:off x="683791" y="2617171"/>
            <a:ext cx="3738770" cy="191770"/>
          </a:xfrm>
          <a:prstGeom prst="rect">
            <a:avLst/>
          </a:prstGeom>
          <a:solidFill>
            <a:srgbClr val="00295F"/>
          </a:solidFill>
          <a:ln w="9525">
            <a:solidFill>
              <a:srgbClr val="000000"/>
            </a:solidFill>
          </a:ln>
        </p:spPr>
        <p:txBody>
          <a:bodyPr vert="horz" wrap="square" lIns="0" tIns="0" rIns="0" bIns="0" rtlCol="0">
            <a:spAutoFit/>
          </a:bodyPr>
          <a:lstStyle/>
          <a:p>
            <a:pPr marL="71755">
              <a:lnSpc>
                <a:spcPts val="1500"/>
              </a:lnSpc>
            </a:pPr>
            <a:r>
              <a:rPr sz="1500" b="1" spc="5" dirty="0">
                <a:solidFill>
                  <a:srgbClr val="FFFFFF"/>
                </a:solidFill>
                <a:latin typeface="微软雅黑" panose="020B0503020204020204" charset="-122"/>
                <a:ea typeface="微软雅黑" panose="020B0503020204020204" charset="-122"/>
                <a:cs typeface="微软雅黑" panose="020B0503020204020204" charset="-122"/>
              </a:rPr>
              <a:t>客户的</a:t>
            </a:r>
            <a:r>
              <a:rPr sz="1500" b="1" spc="-5" dirty="0">
                <a:solidFill>
                  <a:srgbClr val="FFFFFF"/>
                </a:solidFill>
                <a:latin typeface="微软雅黑" panose="020B0503020204020204" charset="-122"/>
                <a:ea typeface="微软雅黑" panose="020B0503020204020204" charset="-122"/>
                <a:cs typeface="微软雅黑" panose="020B0503020204020204" charset="-122"/>
              </a:rPr>
              <a:t>经济状况</a:t>
            </a:r>
            <a:endParaRPr sz="1500">
              <a:latin typeface="微软雅黑" panose="020B0503020204020204" charset="-122"/>
              <a:ea typeface="微软雅黑" panose="020B0503020204020204" charset="-122"/>
              <a:cs typeface="微软雅黑" panose="020B0503020204020204" charset="-122"/>
            </a:endParaRPr>
          </a:p>
        </p:txBody>
      </p:sp>
      <p:sp>
        <p:nvSpPr>
          <p:cNvPr id="8" name="object 8"/>
          <p:cNvSpPr txBox="1">
            <a:spLocks noGrp="1"/>
          </p:cNvSpPr>
          <p:nvPr>
            <p:ph type="title"/>
          </p:nvPr>
        </p:nvSpPr>
        <p:spPr>
          <a:xfrm>
            <a:off x="106401" y="203088"/>
            <a:ext cx="7021299" cy="5956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利用模板有</a:t>
            </a:r>
            <a:r>
              <a:rPr spc="-10" dirty="0">
                <a:ea typeface="微软雅黑" panose="020B0503020204020204" charset="-122"/>
              </a:rPr>
              <a:t>效的</a:t>
            </a:r>
            <a:r>
              <a:rPr spc="-5" dirty="0">
                <a:ea typeface="微软雅黑" panose="020B0503020204020204" charset="-122"/>
              </a:rPr>
              <a:t>收</a:t>
            </a:r>
            <a:r>
              <a:rPr spc="-10" dirty="0">
                <a:ea typeface="微软雅黑" panose="020B0503020204020204" charset="-122"/>
              </a:rPr>
              <a:t>集及</a:t>
            </a:r>
            <a:r>
              <a:rPr spc="-5" dirty="0">
                <a:ea typeface="微软雅黑" panose="020B0503020204020204" charset="-122"/>
              </a:rPr>
              <a:t>存</a:t>
            </a:r>
            <a:r>
              <a:rPr spc="-10" dirty="0">
                <a:ea typeface="微软雅黑" panose="020B0503020204020204" charset="-122"/>
              </a:rPr>
              <a:t>储大</a:t>
            </a:r>
            <a:r>
              <a:rPr spc="-5" dirty="0">
                <a:ea typeface="微软雅黑" panose="020B0503020204020204" charset="-122"/>
              </a:rPr>
              <a:t>客</a:t>
            </a:r>
            <a:r>
              <a:rPr spc="-10" dirty="0">
                <a:ea typeface="微软雅黑" panose="020B0503020204020204" charset="-122"/>
              </a:rPr>
              <a:t>户信</a:t>
            </a:r>
            <a:r>
              <a:rPr spc="25" dirty="0">
                <a:ea typeface="微软雅黑" panose="020B0503020204020204" charset="-122"/>
              </a:rPr>
              <a:t>息</a:t>
            </a:r>
            <a:r>
              <a:rPr spc="-10" dirty="0">
                <a:ea typeface="微软雅黑" panose="020B0503020204020204" charset="-122"/>
              </a:rPr>
              <a:t>，明</a:t>
            </a:r>
            <a:r>
              <a:rPr spc="-5" dirty="0">
                <a:ea typeface="微软雅黑" panose="020B0503020204020204" charset="-122"/>
              </a:rPr>
              <a:t>确</a:t>
            </a:r>
            <a:r>
              <a:rPr spc="-10" dirty="0">
                <a:ea typeface="微软雅黑" panose="020B0503020204020204" charset="-122"/>
              </a:rPr>
              <a:t>对该</a:t>
            </a:r>
            <a:r>
              <a:rPr spc="-5" dirty="0">
                <a:ea typeface="微软雅黑" panose="020B0503020204020204" charset="-122"/>
              </a:rPr>
              <a:t>客</a:t>
            </a:r>
            <a:r>
              <a:rPr spc="-10" dirty="0">
                <a:ea typeface="微软雅黑" panose="020B0503020204020204" charset="-122"/>
              </a:rPr>
              <a:t>户的</a:t>
            </a:r>
            <a:r>
              <a:rPr spc="-5" dirty="0">
                <a:ea typeface="微软雅黑" panose="020B0503020204020204" charset="-122"/>
              </a:rPr>
              <a:t>价</a:t>
            </a:r>
            <a:r>
              <a:rPr spc="-10" dirty="0">
                <a:ea typeface="微软雅黑" panose="020B0503020204020204" charset="-122"/>
              </a:rPr>
              <a:t>值定位</a:t>
            </a:r>
            <a:endParaRPr spc="-10" dirty="0">
              <a:ea typeface="微软雅黑" panose="020B0503020204020204" charset="-122"/>
            </a:endParaRPr>
          </a:p>
        </p:txBody>
      </p:sp>
      <p:sp>
        <p:nvSpPr>
          <p:cNvPr id="9" name="object 9"/>
          <p:cNvSpPr txBox="1"/>
          <p:nvPr/>
        </p:nvSpPr>
        <p:spPr>
          <a:xfrm>
            <a:off x="877990" y="5629001"/>
            <a:ext cx="230505" cy="215747"/>
          </a:xfrm>
          <a:prstGeom prst="rect">
            <a:avLst/>
          </a:prstGeom>
        </p:spPr>
        <p:txBody>
          <a:bodyPr vert="vert" wrap="square" lIns="0" tIns="10152" rIns="0" bIns="0" rtlCol="0">
            <a:spAutoFit/>
          </a:bodyPr>
          <a:lstStyle/>
          <a:p>
            <a:pPr marL="12700">
              <a:lnSpc>
                <a:spcPct val="100000"/>
              </a:lnSpc>
              <a:spcBef>
                <a:spcPts val="80"/>
              </a:spcBef>
            </a:pPr>
            <a:r>
              <a:rPr sz="1500" dirty="0">
                <a:latin typeface="微软雅黑" panose="020B0503020204020204" charset="-122"/>
                <a:ea typeface="微软雅黑" panose="020B0503020204020204" charset="-122"/>
                <a:cs typeface="微软雅黑" panose="020B0503020204020204" charset="-122"/>
              </a:rPr>
              <a:t>…</a:t>
            </a:r>
            <a:endParaRPr sz="1500" dirty="0">
              <a:latin typeface="微软雅黑" panose="020B0503020204020204" charset="-122"/>
              <a:ea typeface="微软雅黑" panose="020B0503020204020204" charset="-122"/>
              <a:cs typeface="微软雅黑" panose="020B0503020204020204" charset="-122"/>
            </a:endParaRPr>
          </a:p>
        </p:txBody>
      </p:sp>
      <p:sp>
        <p:nvSpPr>
          <p:cNvPr id="10" name="object 10"/>
          <p:cNvSpPr txBox="1"/>
          <p:nvPr/>
        </p:nvSpPr>
        <p:spPr>
          <a:xfrm>
            <a:off x="782172" y="2798780"/>
            <a:ext cx="1273542" cy="181610"/>
          </a:xfrm>
          <a:prstGeom prst="rect">
            <a:avLst/>
          </a:prstGeom>
        </p:spPr>
        <p:txBody>
          <a:bodyPr vert="horz" wrap="square" lIns="0" tIns="13325" rIns="0" bIns="0" rtlCol="0">
            <a:spAutoFit/>
          </a:bodyPr>
          <a:lstStyle/>
          <a:p>
            <a:pPr>
              <a:lnSpc>
                <a:spcPct val="100000"/>
              </a:lnSpc>
              <a:spcBef>
                <a:spcPts val="105"/>
              </a:spcBef>
            </a:pPr>
            <a:r>
              <a:rPr sz="1100" b="1" spc="10" dirty="0">
                <a:latin typeface="微软雅黑" panose="020B0503020204020204" charset="-122"/>
                <a:ea typeface="微软雅黑" panose="020B0503020204020204" charset="-122"/>
                <a:cs typeface="微软雅黑" panose="020B0503020204020204" charset="-122"/>
              </a:rPr>
              <a:t>销售</a:t>
            </a:r>
            <a:r>
              <a:rPr sz="1100" b="1" dirty="0">
                <a:latin typeface="微软雅黑" panose="020B0503020204020204" charset="-122"/>
                <a:ea typeface="微软雅黑" panose="020B0503020204020204" charset="-122"/>
                <a:cs typeface="微软雅黑" panose="020B0503020204020204" charset="-122"/>
              </a:rPr>
              <a:t>额与</a:t>
            </a:r>
            <a:r>
              <a:rPr sz="1100" b="1" spc="-15" dirty="0">
                <a:latin typeface="微软雅黑" panose="020B0503020204020204" charset="-122"/>
                <a:ea typeface="微软雅黑" panose="020B0503020204020204" charset="-122"/>
                <a:cs typeface="微软雅黑" panose="020B0503020204020204" charset="-122"/>
              </a:rPr>
              <a:t>利</a:t>
            </a:r>
            <a:r>
              <a:rPr sz="1100" b="1" dirty="0">
                <a:latin typeface="微软雅黑" panose="020B0503020204020204" charset="-122"/>
                <a:ea typeface="微软雅黑" panose="020B0503020204020204" charset="-122"/>
                <a:cs typeface="微软雅黑" panose="020B0503020204020204" charset="-122"/>
              </a:rPr>
              <a:t>润的</a:t>
            </a:r>
            <a:r>
              <a:rPr sz="1100" b="1" spc="-15" dirty="0">
                <a:latin typeface="微软雅黑" panose="020B0503020204020204" charset="-122"/>
                <a:ea typeface="微软雅黑" panose="020B0503020204020204" charset="-122"/>
                <a:cs typeface="微软雅黑" panose="020B0503020204020204" charset="-122"/>
              </a:rPr>
              <a:t>变</a:t>
            </a:r>
            <a:r>
              <a:rPr sz="1100" b="1" dirty="0">
                <a:latin typeface="微软雅黑" panose="020B0503020204020204" charset="-122"/>
                <a:ea typeface="微软雅黑" panose="020B0503020204020204" charset="-122"/>
                <a:cs typeface="微软雅黑" panose="020B0503020204020204" charset="-122"/>
              </a:rPr>
              <a:t>化</a:t>
            </a:r>
            <a:endParaRPr sz="1100">
              <a:latin typeface="微软雅黑" panose="020B0503020204020204" charset="-122"/>
              <a:ea typeface="微软雅黑" panose="020B0503020204020204" charset="-122"/>
              <a:cs typeface="微软雅黑" panose="020B0503020204020204" charset="-122"/>
            </a:endParaRPr>
          </a:p>
        </p:txBody>
      </p:sp>
      <p:sp>
        <p:nvSpPr>
          <p:cNvPr id="11" name="object 11"/>
          <p:cNvSpPr/>
          <p:nvPr/>
        </p:nvSpPr>
        <p:spPr>
          <a:xfrm>
            <a:off x="979050" y="3613021"/>
            <a:ext cx="266511" cy="428321"/>
          </a:xfrm>
          <a:custGeom>
            <a:avLst/>
            <a:gdLst/>
            <a:ahLst/>
            <a:cxnLst/>
            <a:rect l="l" t="t" r="r" b="b"/>
            <a:pathLst>
              <a:path w="266700" h="428625">
                <a:moveTo>
                  <a:pt x="0" y="428605"/>
                </a:moveTo>
                <a:lnTo>
                  <a:pt x="266511" y="428605"/>
                </a:lnTo>
                <a:lnTo>
                  <a:pt x="266511" y="0"/>
                </a:lnTo>
                <a:lnTo>
                  <a:pt x="0" y="0"/>
                </a:lnTo>
                <a:lnTo>
                  <a:pt x="0" y="428605"/>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979050" y="3613021"/>
            <a:ext cx="266511" cy="428321"/>
          </a:xfrm>
          <a:custGeom>
            <a:avLst/>
            <a:gdLst/>
            <a:ahLst/>
            <a:cxnLst/>
            <a:rect l="l" t="t" r="r" b="b"/>
            <a:pathLst>
              <a:path w="266700" h="428625">
                <a:moveTo>
                  <a:pt x="0" y="428605"/>
                </a:moveTo>
                <a:lnTo>
                  <a:pt x="266511" y="428605"/>
                </a:lnTo>
                <a:lnTo>
                  <a:pt x="266511" y="0"/>
                </a:lnTo>
                <a:lnTo>
                  <a:pt x="0" y="0"/>
                </a:lnTo>
                <a:lnTo>
                  <a:pt x="0" y="428605"/>
                </a:lnTo>
                <a:close/>
              </a:path>
            </a:pathLst>
          </a:custGeom>
          <a:ln w="9468">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1606787" y="3717584"/>
            <a:ext cx="266511" cy="324255"/>
          </a:xfrm>
          <a:custGeom>
            <a:avLst/>
            <a:gdLst/>
            <a:ahLst/>
            <a:cxnLst/>
            <a:rect l="l" t="t" r="r" b="b"/>
            <a:pathLst>
              <a:path w="266700" h="324485">
                <a:moveTo>
                  <a:pt x="0" y="323967"/>
                </a:moveTo>
                <a:lnTo>
                  <a:pt x="266511" y="323967"/>
                </a:lnTo>
                <a:lnTo>
                  <a:pt x="266511" y="0"/>
                </a:lnTo>
                <a:lnTo>
                  <a:pt x="0" y="0"/>
                </a:lnTo>
                <a:lnTo>
                  <a:pt x="0" y="323967"/>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1606787" y="3717584"/>
            <a:ext cx="266511" cy="324255"/>
          </a:xfrm>
          <a:custGeom>
            <a:avLst/>
            <a:gdLst/>
            <a:ahLst/>
            <a:cxnLst/>
            <a:rect l="l" t="t" r="r" b="b"/>
            <a:pathLst>
              <a:path w="266700" h="324485">
                <a:moveTo>
                  <a:pt x="0" y="323967"/>
                </a:moveTo>
                <a:lnTo>
                  <a:pt x="266511" y="323967"/>
                </a:lnTo>
                <a:lnTo>
                  <a:pt x="266511" y="0"/>
                </a:lnTo>
                <a:lnTo>
                  <a:pt x="0" y="0"/>
                </a:lnTo>
                <a:lnTo>
                  <a:pt x="0" y="323967"/>
                </a:lnTo>
                <a:close/>
              </a:path>
            </a:pathLst>
          </a:custGeom>
          <a:ln w="9461">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2243939" y="3565292"/>
            <a:ext cx="266511" cy="476546"/>
          </a:xfrm>
          <a:custGeom>
            <a:avLst/>
            <a:gdLst/>
            <a:ahLst/>
            <a:cxnLst/>
            <a:rect l="l" t="t" r="r" b="b"/>
            <a:pathLst>
              <a:path w="266700" h="476885">
                <a:moveTo>
                  <a:pt x="0" y="476367"/>
                </a:moveTo>
                <a:lnTo>
                  <a:pt x="266511" y="476367"/>
                </a:lnTo>
                <a:lnTo>
                  <a:pt x="266511" y="0"/>
                </a:lnTo>
                <a:lnTo>
                  <a:pt x="0" y="0"/>
                </a:lnTo>
                <a:lnTo>
                  <a:pt x="0" y="476367"/>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p:nvPr/>
        </p:nvSpPr>
        <p:spPr>
          <a:xfrm>
            <a:off x="2243940" y="3565292"/>
            <a:ext cx="266511" cy="476546"/>
          </a:xfrm>
          <a:custGeom>
            <a:avLst/>
            <a:gdLst/>
            <a:ahLst/>
            <a:cxnLst/>
            <a:rect l="l" t="t" r="r" b="b"/>
            <a:pathLst>
              <a:path w="266700" h="476885">
                <a:moveTo>
                  <a:pt x="0" y="476367"/>
                </a:moveTo>
                <a:lnTo>
                  <a:pt x="266511" y="476367"/>
                </a:lnTo>
                <a:lnTo>
                  <a:pt x="266511" y="0"/>
                </a:lnTo>
                <a:lnTo>
                  <a:pt x="0" y="0"/>
                </a:lnTo>
                <a:lnTo>
                  <a:pt x="0" y="476367"/>
                </a:lnTo>
                <a:close/>
              </a:path>
            </a:pathLst>
          </a:custGeom>
          <a:ln w="9470">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p:nvPr/>
        </p:nvSpPr>
        <p:spPr>
          <a:xfrm>
            <a:off x="2871740" y="3774733"/>
            <a:ext cx="266511" cy="267146"/>
          </a:xfrm>
          <a:custGeom>
            <a:avLst/>
            <a:gdLst/>
            <a:ahLst/>
            <a:cxnLst/>
            <a:rect l="l" t="t" r="r" b="b"/>
            <a:pathLst>
              <a:path w="266700" h="267335">
                <a:moveTo>
                  <a:pt x="0" y="266778"/>
                </a:moveTo>
                <a:lnTo>
                  <a:pt x="266511" y="266778"/>
                </a:lnTo>
                <a:lnTo>
                  <a:pt x="266511" y="0"/>
                </a:lnTo>
                <a:lnTo>
                  <a:pt x="0" y="0"/>
                </a:lnTo>
                <a:lnTo>
                  <a:pt x="0" y="266778"/>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p:nvPr/>
        </p:nvSpPr>
        <p:spPr>
          <a:xfrm>
            <a:off x="2871740" y="3774733"/>
            <a:ext cx="266511" cy="267146"/>
          </a:xfrm>
          <a:custGeom>
            <a:avLst/>
            <a:gdLst/>
            <a:ahLst/>
            <a:cxnLst/>
            <a:rect l="l" t="t" r="r" b="b"/>
            <a:pathLst>
              <a:path w="266700" h="267335">
                <a:moveTo>
                  <a:pt x="0" y="266778"/>
                </a:moveTo>
                <a:lnTo>
                  <a:pt x="266511" y="266778"/>
                </a:lnTo>
                <a:lnTo>
                  <a:pt x="266511" y="0"/>
                </a:lnTo>
                <a:lnTo>
                  <a:pt x="0" y="0"/>
                </a:lnTo>
                <a:lnTo>
                  <a:pt x="0" y="266778"/>
                </a:lnTo>
                <a:close/>
              </a:path>
            </a:pathLst>
          </a:custGeom>
          <a:ln w="945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p:nvPr/>
        </p:nvSpPr>
        <p:spPr>
          <a:xfrm>
            <a:off x="1245372" y="3822461"/>
            <a:ext cx="256993" cy="218920"/>
          </a:xfrm>
          <a:custGeom>
            <a:avLst/>
            <a:gdLst/>
            <a:ahLst/>
            <a:cxnLst/>
            <a:rect l="l" t="t" r="r" b="b"/>
            <a:pathLst>
              <a:path w="257175" h="219075">
                <a:moveTo>
                  <a:pt x="0" y="219015"/>
                </a:moveTo>
                <a:lnTo>
                  <a:pt x="256710" y="219015"/>
                </a:lnTo>
                <a:lnTo>
                  <a:pt x="256710" y="0"/>
                </a:lnTo>
                <a:lnTo>
                  <a:pt x="0" y="0"/>
                </a:lnTo>
                <a:lnTo>
                  <a:pt x="0" y="219015"/>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p:nvPr/>
        </p:nvSpPr>
        <p:spPr>
          <a:xfrm>
            <a:off x="1245372" y="3822461"/>
            <a:ext cx="256993" cy="218920"/>
          </a:xfrm>
          <a:custGeom>
            <a:avLst/>
            <a:gdLst/>
            <a:ahLst/>
            <a:cxnLst/>
            <a:rect l="l" t="t" r="r" b="b"/>
            <a:pathLst>
              <a:path w="257175" h="219075">
                <a:moveTo>
                  <a:pt x="0" y="219015"/>
                </a:moveTo>
                <a:lnTo>
                  <a:pt x="256710" y="219015"/>
                </a:lnTo>
                <a:lnTo>
                  <a:pt x="256710" y="0"/>
                </a:lnTo>
                <a:lnTo>
                  <a:pt x="0" y="0"/>
                </a:lnTo>
                <a:lnTo>
                  <a:pt x="0" y="219015"/>
                </a:lnTo>
                <a:close/>
              </a:path>
            </a:pathLst>
          </a:custGeom>
          <a:ln w="9451">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1" name="object 21"/>
          <p:cNvSpPr/>
          <p:nvPr/>
        </p:nvSpPr>
        <p:spPr>
          <a:xfrm>
            <a:off x="1873109" y="3879296"/>
            <a:ext cx="266511" cy="162445"/>
          </a:xfrm>
          <a:custGeom>
            <a:avLst/>
            <a:gdLst/>
            <a:ahLst/>
            <a:cxnLst/>
            <a:rect l="l" t="t" r="r" b="b"/>
            <a:pathLst>
              <a:path w="266700" h="162560">
                <a:moveTo>
                  <a:pt x="0" y="162140"/>
                </a:moveTo>
                <a:lnTo>
                  <a:pt x="266511" y="162140"/>
                </a:lnTo>
                <a:lnTo>
                  <a:pt x="266511" y="0"/>
                </a:lnTo>
                <a:lnTo>
                  <a:pt x="0" y="0"/>
                </a:lnTo>
                <a:lnTo>
                  <a:pt x="0" y="16214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1873109" y="3879296"/>
            <a:ext cx="266511" cy="162445"/>
          </a:xfrm>
          <a:custGeom>
            <a:avLst/>
            <a:gdLst/>
            <a:ahLst/>
            <a:cxnLst/>
            <a:rect l="l" t="t" r="r" b="b"/>
            <a:pathLst>
              <a:path w="266700" h="162560">
                <a:moveTo>
                  <a:pt x="0" y="162140"/>
                </a:moveTo>
                <a:lnTo>
                  <a:pt x="266511" y="162140"/>
                </a:lnTo>
                <a:lnTo>
                  <a:pt x="266511" y="0"/>
                </a:lnTo>
                <a:lnTo>
                  <a:pt x="0" y="0"/>
                </a:lnTo>
                <a:lnTo>
                  <a:pt x="0" y="162140"/>
                </a:lnTo>
                <a:close/>
              </a:path>
            </a:pathLst>
          </a:custGeom>
          <a:ln w="9442">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p:nvPr/>
        </p:nvSpPr>
        <p:spPr>
          <a:xfrm>
            <a:off x="2510325" y="3927025"/>
            <a:ext cx="256993" cy="114854"/>
          </a:xfrm>
          <a:custGeom>
            <a:avLst/>
            <a:gdLst/>
            <a:ahLst/>
            <a:cxnLst/>
            <a:rect l="l" t="t" r="r" b="b"/>
            <a:pathLst>
              <a:path w="257175" h="114935">
                <a:moveTo>
                  <a:pt x="0" y="114378"/>
                </a:moveTo>
                <a:lnTo>
                  <a:pt x="257026" y="114378"/>
                </a:lnTo>
                <a:lnTo>
                  <a:pt x="257026" y="0"/>
                </a:lnTo>
                <a:lnTo>
                  <a:pt x="0" y="0"/>
                </a:lnTo>
                <a:lnTo>
                  <a:pt x="0" y="114378"/>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p:nvPr/>
        </p:nvSpPr>
        <p:spPr>
          <a:xfrm>
            <a:off x="2510325" y="3927025"/>
            <a:ext cx="256993" cy="114854"/>
          </a:xfrm>
          <a:custGeom>
            <a:avLst/>
            <a:gdLst/>
            <a:ahLst/>
            <a:cxnLst/>
            <a:rect l="l" t="t" r="r" b="b"/>
            <a:pathLst>
              <a:path w="257175" h="114935">
                <a:moveTo>
                  <a:pt x="0" y="114378"/>
                </a:moveTo>
                <a:lnTo>
                  <a:pt x="257026" y="114378"/>
                </a:lnTo>
                <a:lnTo>
                  <a:pt x="257026" y="0"/>
                </a:lnTo>
                <a:lnTo>
                  <a:pt x="0" y="0"/>
                </a:lnTo>
                <a:lnTo>
                  <a:pt x="0" y="114378"/>
                </a:lnTo>
                <a:close/>
              </a:path>
            </a:pathLst>
          </a:custGeom>
          <a:ln w="9436">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5" name="object 25"/>
          <p:cNvSpPr/>
          <p:nvPr/>
        </p:nvSpPr>
        <p:spPr>
          <a:xfrm>
            <a:off x="3138126" y="4065029"/>
            <a:ext cx="256993" cy="0"/>
          </a:xfrm>
          <a:custGeom>
            <a:avLst/>
            <a:gdLst/>
            <a:ahLst/>
            <a:cxnLst/>
            <a:rect l="l" t="t" r="r" b="b"/>
            <a:pathLst>
              <a:path w="257175">
                <a:moveTo>
                  <a:pt x="0" y="0"/>
                </a:moveTo>
                <a:lnTo>
                  <a:pt x="257026" y="0"/>
                </a:lnTo>
              </a:path>
            </a:pathLst>
          </a:custGeom>
          <a:ln w="47448">
            <a:solidFill>
              <a:srgbClr val="0066CC"/>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6" name="object 26"/>
          <p:cNvSpPr/>
          <p:nvPr/>
        </p:nvSpPr>
        <p:spPr>
          <a:xfrm>
            <a:off x="3138126" y="4041322"/>
            <a:ext cx="256993" cy="47591"/>
          </a:xfrm>
          <a:custGeom>
            <a:avLst/>
            <a:gdLst/>
            <a:ahLst/>
            <a:cxnLst/>
            <a:rect l="l" t="t" r="r" b="b"/>
            <a:pathLst>
              <a:path w="257175" h="47625">
                <a:moveTo>
                  <a:pt x="0" y="47448"/>
                </a:moveTo>
                <a:lnTo>
                  <a:pt x="257026" y="47448"/>
                </a:lnTo>
                <a:lnTo>
                  <a:pt x="257026" y="0"/>
                </a:lnTo>
                <a:lnTo>
                  <a:pt x="0" y="0"/>
                </a:lnTo>
                <a:lnTo>
                  <a:pt x="0" y="47448"/>
                </a:lnTo>
                <a:close/>
              </a:path>
            </a:pathLst>
          </a:custGeom>
          <a:ln w="9428">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7" name="object 27"/>
          <p:cNvSpPr/>
          <p:nvPr/>
        </p:nvSpPr>
        <p:spPr>
          <a:xfrm>
            <a:off x="926606" y="4036612"/>
            <a:ext cx="2521068" cy="0"/>
          </a:xfrm>
          <a:custGeom>
            <a:avLst/>
            <a:gdLst/>
            <a:ahLst/>
            <a:cxnLst/>
            <a:rect l="l" t="t" r="r" b="b"/>
            <a:pathLst>
              <a:path w="2522854">
                <a:moveTo>
                  <a:pt x="0" y="0"/>
                </a:moveTo>
                <a:lnTo>
                  <a:pt x="2522277" y="0"/>
                </a:lnTo>
              </a:path>
            </a:pathLst>
          </a:custGeom>
          <a:ln w="28280">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p:nvPr/>
        </p:nvSpPr>
        <p:spPr>
          <a:xfrm>
            <a:off x="1106313" y="3322411"/>
            <a:ext cx="1896670" cy="227804"/>
          </a:xfrm>
          <a:custGeom>
            <a:avLst/>
            <a:gdLst/>
            <a:ahLst/>
            <a:cxnLst/>
            <a:rect l="l" t="t" r="r" b="b"/>
            <a:pathLst>
              <a:path w="1898014" h="227964">
                <a:moveTo>
                  <a:pt x="1781938" y="189768"/>
                </a:moveTo>
                <a:lnTo>
                  <a:pt x="1778723" y="227711"/>
                </a:lnTo>
                <a:lnTo>
                  <a:pt x="1870017" y="191389"/>
                </a:lnTo>
                <a:lnTo>
                  <a:pt x="1800948" y="191389"/>
                </a:lnTo>
                <a:lnTo>
                  <a:pt x="1781938" y="189768"/>
                </a:lnTo>
                <a:close/>
              </a:path>
              <a:path w="1898014" h="227964">
                <a:moveTo>
                  <a:pt x="1785155" y="151800"/>
                </a:moveTo>
                <a:lnTo>
                  <a:pt x="1781938" y="189768"/>
                </a:lnTo>
                <a:lnTo>
                  <a:pt x="1800948" y="191389"/>
                </a:lnTo>
                <a:lnTo>
                  <a:pt x="1804123" y="153416"/>
                </a:lnTo>
                <a:lnTo>
                  <a:pt x="1785155" y="151800"/>
                </a:lnTo>
                <a:close/>
              </a:path>
              <a:path w="1898014" h="227964">
                <a:moveTo>
                  <a:pt x="1788375" y="113792"/>
                </a:moveTo>
                <a:lnTo>
                  <a:pt x="1785155" y="151800"/>
                </a:lnTo>
                <a:lnTo>
                  <a:pt x="1804123" y="153416"/>
                </a:lnTo>
                <a:lnTo>
                  <a:pt x="1800948" y="191389"/>
                </a:lnTo>
                <a:lnTo>
                  <a:pt x="1870017" y="191389"/>
                </a:lnTo>
                <a:lnTo>
                  <a:pt x="1897468" y="180467"/>
                </a:lnTo>
                <a:lnTo>
                  <a:pt x="1788375" y="113792"/>
                </a:lnTo>
                <a:close/>
              </a:path>
              <a:path w="1898014" h="227964">
                <a:moveTo>
                  <a:pt x="3225" y="0"/>
                </a:moveTo>
                <a:lnTo>
                  <a:pt x="0" y="37846"/>
                </a:lnTo>
                <a:lnTo>
                  <a:pt x="1781938" y="189768"/>
                </a:lnTo>
                <a:lnTo>
                  <a:pt x="1785155" y="151800"/>
                </a:lnTo>
                <a:lnTo>
                  <a:pt x="3225" y="0"/>
                </a:lnTo>
                <a:close/>
              </a:path>
            </a:pathLst>
          </a:custGeom>
          <a:solidFill>
            <a:srgbClr val="00295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9" name="object 29"/>
          <p:cNvSpPr/>
          <p:nvPr/>
        </p:nvSpPr>
        <p:spPr>
          <a:xfrm>
            <a:off x="1106313" y="3322411"/>
            <a:ext cx="1896670" cy="227804"/>
          </a:xfrm>
          <a:custGeom>
            <a:avLst/>
            <a:gdLst/>
            <a:ahLst/>
            <a:cxnLst/>
            <a:rect l="l" t="t" r="r" b="b"/>
            <a:pathLst>
              <a:path w="1898014" h="227964">
                <a:moveTo>
                  <a:pt x="1781938" y="189768"/>
                </a:moveTo>
                <a:lnTo>
                  <a:pt x="1778723" y="227711"/>
                </a:lnTo>
                <a:lnTo>
                  <a:pt x="1870017" y="191389"/>
                </a:lnTo>
                <a:lnTo>
                  <a:pt x="1800948" y="191389"/>
                </a:lnTo>
                <a:lnTo>
                  <a:pt x="1781938" y="189768"/>
                </a:lnTo>
                <a:close/>
              </a:path>
              <a:path w="1898014" h="227964">
                <a:moveTo>
                  <a:pt x="1785155" y="151800"/>
                </a:moveTo>
                <a:lnTo>
                  <a:pt x="1781938" y="189768"/>
                </a:lnTo>
                <a:lnTo>
                  <a:pt x="1800948" y="191389"/>
                </a:lnTo>
                <a:lnTo>
                  <a:pt x="1804123" y="153416"/>
                </a:lnTo>
                <a:lnTo>
                  <a:pt x="1785155" y="151800"/>
                </a:lnTo>
                <a:close/>
              </a:path>
              <a:path w="1898014" h="227964">
                <a:moveTo>
                  <a:pt x="1788375" y="113792"/>
                </a:moveTo>
                <a:lnTo>
                  <a:pt x="1785155" y="151800"/>
                </a:lnTo>
                <a:lnTo>
                  <a:pt x="1804123" y="153416"/>
                </a:lnTo>
                <a:lnTo>
                  <a:pt x="1800948" y="191389"/>
                </a:lnTo>
                <a:lnTo>
                  <a:pt x="1870017" y="191389"/>
                </a:lnTo>
                <a:lnTo>
                  <a:pt x="1897468" y="180467"/>
                </a:lnTo>
                <a:lnTo>
                  <a:pt x="1788375" y="113792"/>
                </a:lnTo>
                <a:close/>
              </a:path>
              <a:path w="1898014" h="227964">
                <a:moveTo>
                  <a:pt x="3225" y="0"/>
                </a:moveTo>
                <a:lnTo>
                  <a:pt x="0" y="37846"/>
                </a:lnTo>
                <a:lnTo>
                  <a:pt x="1781938" y="189768"/>
                </a:lnTo>
                <a:lnTo>
                  <a:pt x="1785155" y="151800"/>
                </a:lnTo>
                <a:lnTo>
                  <a:pt x="3225" y="0"/>
                </a:lnTo>
                <a:close/>
              </a:path>
            </a:pathLst>
          </a:custGeom>
          <a:solidFill>
            <a:srgbClr val="00295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0" name="object 30"/>
          <p:cNvSpPr/>
          <p:nvPr/>
        </p:nvSpPr>
        <p:spPr>
          <a:xfrm>
            <a:off x="1906697" y="3323807"/>
            <a:ext cx="296970" cy="193538"/>
          </a:xfrm>
          <a:custGeom>
            <a:avLst/>
            <a:gdLst/>
            <a:ahLst/>
            <a:cxnLst/>
            <a:rect l="l" t="t" r="r" b="b"/>
            <a:pathLst>
              <a:path w="297180" h="193675">
                <a:moveTo>
                  <a:pt x="148589" y="0"/>
                </a:moveTo>
                <a:lnTo>
                  <a:pt x="90761" y="7602"/>
                </a:lnTo>
                <a:lnTo>
                  <a:pt x="43529" y="28336"/>
                </a:lnTo>
                <a:lnTo>
                  <a:pt x="11680" y="59096"/>
                </a:lnTo>
                <a:lnTo>
                  <a:pt x="0" y="96774"/>
                </a:lnTo>
                <a:lnTo>
                  <a:pt x="11680" y="134451"/>
                </a:lnTo>
                <a:lnTo>
                  <a:pt x="43529" y="165211"/>
                </a:lnTo>
                <a:lnTo>
                  <a:pt x="90761" y="185945"/>
                </a:lnTo>
                <a:lnTo>
                  <a:pt x="148589" y="193548"/>
                </a:lnTo>
                <a:lnTo>
                  <a:pt x="206418" y="185945"/>
                </a:lnTo>
                <a:lnTo>
                  <a:pt x="253650" y="165211"/>
                </a:lnTo>
                <a:lnTo>
                  <a:pt x="285499" y="134451"/>
                </a:lnTo>
                <a:lnTo>
                  <a:pt x="297179" y="96774"/>
                </a:lnTo>
                <a:lnTo>
                  <a:pt x="285499" y="59096"/>
                </a:lnTo>
                <a:lnTo>
                  <a:pt x="253650" y="28336"/>
                </a:lnTo>
                <a:lnTo>
                  <a:pt x="206418" y="7602"/>
                </a:lnTo>
                <a:lnTo>
                  <a:pt x="148589"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1" name="object 31"/>
          <p:cNvSpPr/>
          <p:nvPr/>
        </p:nvSpPr>
        <p:spPr>
          <a:xfrm>
            <a:off x="1906697" y="3323807"/>
            <a:ext cx="296970" cy="193538"/>
          </a:xfrm>
          <a:custGeom>
            <a:avLst/>
            <a:gdLst/>
            <a:ahLst/>
            <a:cxnLst/>
            <a:rect l="l" t="t" r="r" b="b"/>
            <a:pathLst>
              <a:path w="297180" h="193675">
                <a:moveTo>
                  <a:pt x="0" y="96774"/>
                </a:moveTo>
                <a:lnTo>
                  <a:pt x="11680" y="59096"/>
                </a:lnTo>
                <a:lnTo>
                  <a:pt x="43529" y="28336"/>
                </a:lnTo>
                <a:lnTo>
                  <a:pt x="90761" y="7602"/>
                </a:lnTo>
                <a:lnTo>
                  <a:pt x="148589" y="0"/>
                </a:lnTo>
                <a:lnTo>
                  <a:pt x="206418" y="7602"/>
                </a:lnTo>
                <a:lnTo>
                  <a:pt x="253650" y="28336"/>
                </a:lnTo>
                <a:lnTo>
                  <a:pt x="285499" y="59096"/>
                </a:lnTo>
                <a:lnTo>
                  <a:pt x="297179" y="96774"/>
                </a:lnTo>
                <a:lnTo>
                  <a:pt x="285499" y="134451"/>
                </a:lnTo>
                <a:lnTo>
                  <a:pt x="253650" y="165211"/>
                </a:lnTo>
                <a:lnTo>
                  <a:pt x="206418" y="185945"/>
                </a:lnTo>
                <a:lnTo>
                  <a:pt x="148589" y="193548"/>
                </a:lnTo>
                <a:lnTo>
                  <a:pt x="90761" y="185945"/>
                </a:lnTo>
                <a:lnTo>
                  <a:pt x="43529" y="165211"/>
                </a:lnTo>
                <a:lnTo>
                  <a:pt x="11680" y="134451"/>
                </a:lnTo>
                <a:lnTo>
                  <a:pt x="0" y="96774"/>
                </a:lnTo>
                <a:close/>
              </a:path>
            </a:pathLst>
          </a:custGeom>
          <a:ln w="9525">
            <a:solidFill>
              <a:srgbClr val="00295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2" name="object 32"/>
          <p:cNvSpPr txBox="1"/>
          <p:nvPr/>
        </p:nvSpPr>
        <p:spPr>
          <a:xfrm>
            <a:off x="1923448" y="3269108"/>
            <a:ext cx="277933" cy="473710"/>
          </a:xfrm>
          <a:prstGeom prst="rect">
            <a:avLst/>
          </a:prstGeom>
        </p:spPr>
        <p:txBody>
          <a:bodyPr vert="horz" wrap="square" lIns="0" tIns="12691" rIns="0" bIns="0" rtlCol="0">
            <a:spAutoFit/>
          </a:bodyPr>
          <a:lstStyle/>
          <a:p>
            <a:pPr>
              <a:lnSpc>
                <a:spcPct val="100000"/>
              </a:lnSpc>
              <a:spcBef>
                <a:spcPts val="100"/>
              </a:spcBef>
            </a:pPr>
            <a:r>
              <a:rPr sz="1500" b="1" dirty="0">
                <a:latin typeface="微软雅黑" panose="020B0503020204020204" charset="-122"/>
                <a:ea typeface="微软雅黑" panose="020B0503020204020204" charset="-122"/>
                <a:cs typeface="微软雅黑" panose="020B0503020204020204" charset="-122"/>
              </a:rPr>
              <a:t>xxx</a:t>
            </a:r>
            <a:endParaRPr sz="1500" b="1" dirty="0">
              <a:latin typeface="微软雅黑" panose="020B0503020204020204" charset="-122"/>
              <a:ea typeface="微软雅黑" panose="020B0503020204020204" charset="-122"/>
              <a:cs typeface="微软雅黑" panose="020B0503020204020204" charset="-122"/>
            </a:endParaRPr>
          </a:p>
        </p:txBody>
      </p:sp>
      <p:sp>
        <p:nvSpPr>
          <p:cNvPr id="33" name="object 33"/>
          <p:cNvSpPr/>
          <p:nvPr/>
        </p:nvSpPr>
        <p:spPr>
          <a:xfrm>
            <a:off x="3795118" y="3205019"/>
            <a:ext cx="109777" cy="109777"/>
          </a:xfrm>
          <a:custGeom>
            <a:avLst/>
            <a:gdLst/>
            <a:ahLst/>
            <a:cxnLst/>
            <a:rect l="l" t="t" r="r" b="b"/>
            <a:pathLst>
              <a:path w="109854" h="109854">
                <a:moveTo>
                  <a:pt x="0" y="109727"/>
                </a:moveTo>
                <a:lnTo>
                  <a:pt x="109727" y="109727"/>
                </a:lnTo>
                <a:lnTo>
                  <a:pt x="109727" y="0"/>
                </a:lnTo>
                <a:lnTo>
                  <a:pt x="0" y="0"/>
                </a:lnTo>
                <a:lnTo>
                  <a:pt x="0" y="109727"/>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4" name="object 34"/>
          <p:cNvSpPr/>
          <p:nvPr/>
        </p:nvSpPr>
        <p:spPr>
          <a:xfrm>
            <a:off x="3795118" y="3205019"/>
            <a:ext cx="109777" cy="109777"/>
          </a:xfrm>
          <a:custGeom>
            <a:avLst/>
            <a:gdLst/>
            <a:ahLst/>
            <a:cxnLst/>
            <a:rect l="l" t="t" r="r" b="b"/>
            <a:pathLst>
              <a:path w="109854" h="109854">
                <a:moveTo>
                  <a:pt x="0" y="109727"/>
                </a:moveTo>
                <a:lnTo>
                  <a:pt x="109727" y="109727"/>
                </a:lnTo>
                <a:lnTo>
                  <a:pt x="109727" y="0"/>
                </a:lnTo>
                <a:lnTo>
                  <a:pt x="0" y="0"/>
                </a:lnTo>
                <a:lnTo>
                  <a:pt x="0" y="109727"/>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5" name="object 35"/>
          <p:cNvSpPr/>
          <p:nvPr/>
        </p:nvSpPr>
        <p:spPr>
          <a:xfrm>
            <a:off x="3795118" y="3416705"/>
            <a:ext cx="109777" cy="109777"/>
          </a:xfrm>
          <a:custGeom>
            <a:avLst/>
            <a:gdLst/>
            <a:ahLst/>
            <a:cxnLst/>
            <a:rect l="l" t="t" r="r" b="b"/>
            <a:pathLst>
              <a:path w="109854" h="109854">
                <a:moveTo>
                  <a:pt x="0" y="109728"/>
                </a:moveTo>
                <a:lnTo>
                  <a:pt x="109727" y="109728"/>
                </a:lnTo>
                <a:lnTo>
                  <a:pt x="109727" y="0"/>
                </a:lnTo>
                <a:lnTo>
                  <a:pt x="0" y="0"/>
                </a:lnTo>
                <a:lnTo>
                  <a:pt x="0" y="109728"/>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6" name="object 36"/>
          <p:cNvSpPr/>
          <p:nvPr/>
        </p:nvSpPr>
        <p:spPr>
          <a:xfrm>
            <a:off x="3795118" y="3416705"/>
            <a:ext cx="109777" cy="109777"/>
          </a:xfrm>
          <a:custGeom>
            <a:avLst/>
            <a:gdLst/>
            <a:ahLst/>
            <a:cxnLst/>
            <a:rect l="l" t="t" r="r" b="b"/>
            <a:pathLst>
              <a:path w="109854" h="109854">
                <a:moveTo>
                  <a:pt x="0" y="109728"/>
                </a:moveTo>
                <a:lnTo>
                  <a:pt x="109727" y="109728"/>
                </a:lnTo>
                <a:lnTo>
                  <a:pt x="109727" y="0"/>
                </a:lnTo>
                <a:lnTo>
                  <a:pt x="0" y="0"/>
                </a:lnTo>
                <a:lnTo>
                  <a:pt x="0" y="109728"/>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7" name="object 37"/>
          <p:cNvSpPr txBox="1"/>
          <p:nvPr/>
        </p:nvSpPr>
        <p:spPr>
          <a:xfrm>
            <a:off x="4006170" y="3334594"/>
            <a:ext cx="393421" cy="242570"/>
          </a:xfrm>
          <a:prstGeom prst="rect">
            <a:avLst/>
          </a:prstGeom>
        </p:spPr>
        <p:txBody>
          <a:bodyPr vert="horz" wrap="square" lIns="0" tIns="12691" rIns="0" bIns="0" rtlCol="0">
            <a:spAutoFit/>
          </a:bodyPr>
          <a:lstStyle/>
          <a:p>
            <a:pPr>
              <a:lnSpc>
                <a:spcPct val="100000"/>
              </a:lnSpc>
              <a:spcBef>
                <a:spcPts val="100"/>
              </a:spcBef>
            </a:pPr>
            <a:r>
              <a:rPr sz="1500" dirty="0">
                <a:latin typeface="微软雅黑" panose="020B0503020204020204" charset="-122"/>
                <a:ea typeface="微软雅黑" panose="020B0503020204020204" charset="-122"/>
                <a:cs typeface="微软雅黑" panose="020B0503020204020204" charset="-122"/>
              </a:rPr>
              <a:t>利润</a:t>
            </a:r>
            <a:endParaRPr sz="1500" dirty="0">
              <a:latin typeface="微软雅黑" panose="020B0503020204020204" charset="-122"/>
              <a:ea typeface="微软雅黑" panose="020B0503020204020204" charset="-122"/>
              <a:cs typeface="微软雅黑" panose="020B0503020204020204" charset="-122"/>
            </a:endParaRPr>
          </a:p>
        </p:txBody>
      </p:sp>
      <p:sp>
        <p:nvSpPr>
          <p:cNvPr id="38" name="object 38"/>
          <p:cNvSpPr txBox="1"/>
          <p:nvPr/>
        </p:nvSpPr>
        <p:spPr>
          <a:xfrm>
            <a:off x="782172" y="2949549"/>
            <a:ext cx="3807936" cy="418465"/>
          </a:xfrm>
          <a:prstGeom prst="rect">
            <a:avLst/>
          </a:prstGeom>
        </p:spPr>
        <p:txBody>
          <a:bodyPr vert="horz" wrap="square" lIns="0" tIns="13325" rIns="0" bIns="0" rtlCol="0">
            <a:spAutoFit/>
          </a:bodyPr>
          <a:lstStyle/>
          <a:p>
            <a:pPr>
              <a:lnSpc>
                <a:spcPct val="100000"/>
              </a:lnSpc>
              <a:spcBef>
                <a:spcPts val="105"/>
              </a:spcBef>
              <a:tabLst>
                <a:tab pos="3543300" algn="l"/>
              </a:tabLst>
            </a:pPr>
            <a:r>
              <a:rPr sz="1100" u="sng" spc="-5" dirty="0">
                <a:solidFill>
                  <a:srgbClr val="808080"/>
                </a:solidFill>
                <a:uFill>
                  <a:solidFill>
                    <a:srgbClr val="000000"/>
                  </a:solidFill>
                </a:uFill>
                <a:latin typeface="微软雅黑" panose="020B0503020204020204" charset="-122"/>
                <a:ea typeface="微软雅黑" panose="020B0503020204020204" charset="-122"/>
                <a:cs typeface="微软雅黑" panose="020B0503020204020204" charset="-122"/>
              </a:rPr>
              <a:t>xxx	</a:t>
            </a:r>
            <a:endParaRPr sz="1100">
              <a:latin typeface="微软雅黑" panose="020B0503020204020204" charset="-122"/>
              <a:ea typeface="微软雅黑" panose="020B0503020204020204" charset="-122"/>
              <a:cs typeface="微软雅黑" panose="020B0503020204020204" charset="-122"/>
            </a:endParaRPr>
          </a:p>
          <a:p>
            <a:pPr marR="5080" algn="r">
              <a:lnSpc>
                <a:spcPct val="100000"/>
              </a:lnSpc>
              <a:spcBef>
                <a:spcPts val="45"/>
              </a:spcBef>
            </a:pPr>
            <a:r>
              <a:rPr sz="1500" dirty="0">
                <a:latin typeface="微软雅黑" panose="020B0503020204020204" charset="-122"/>
                <a:ea typeface="微软雅黑" panose="020B0503020204020204" charset="-122"/>
                <a:cs typeface="微软雅黑" panose="020B0503020204020204" charset="-122"/>
              </a:rPr>
              <a:t>销售额</a:t>
            </a:r>
            <a:endParaRPr sz="1500">
              <a:latin typeface="微软雅黑" panose="020B0503020204020204" charset="-122"/>
              <a:ea typeface="微软雅黑" panose="020B0503020204020204" charset="-122"/>
              <a:cs typeface="微软雅黑" panose="020B0503020204020204" charset="-122"/>
            </a:endParaRPr>
          </a:p>
        </p:txBody>
      </p:sp>
      <p:sp>
        <p:nvSpPr>
          <p:cNvPr id="39" name="object 39"/>
          <p:cNvSpPr/>
          <p:nvPr/>
        </p:nvSpPr>
        <p:spPr>
          <a:xfrm>
            <a:off x="683791" y="946527"/>
            <a:ext cx="3738770" cy="1583838"/>
          </a:xfrm>
          <a:custGeom>
            <a:avLst/>
            <a:gdLst/>
            <a:ahLst/>
            <a:cxnLst/>
            <a:rect l="l" t="t" r="r" b="b"/>
            <a:pathLst>
              <a:path w="3741420" h="1584960">
                <a:moveTo>
                  <a:pt x="0" y="1584960"/>
                </a:moveTo>
                <a:lnTo>
                  <a:pt x="3741420" y="1584960"/>
                </a:lnTo>
                <a:lnTo>
                  <a:pt x="3741420" y="0"/>
                </a:lnTo>
                <a:lnTo>
                  <a:pt x="0" y="0"/>
                </a:lnTo>
                <a:lnTo>
                  <a:pt x="0" y="1584960"/>
                </a:lnTo>
                <a:close/>
              </a:path>
            </a:pathLst>
          </a:custGeom>
          <a:ln w="952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0" name="object 40"/>
          <p:cNvSpPr txBox="1"/>
          <p:nvPr/>
        </p:nvSpPr>
        <p:spPr>
          <a:xfrm>
            <a:off x="683791" y="946527"/>
            <a:ext cx="3738770" cy="191135"/>
          </a:xfrm>
          <a:prstGeom prst="rect">
            <a:avLst/>
          </a:prstGeom>
          <a:solidFill>
            <a:srgbClr val="00295F"/>
          </a:solidFill>
          <a:ln w="9525">
            <a:solidFill>
              <a:srgbClr val="000000"/>
            </a:solidFill>
          </a:ln>
        </p:spPr>
        <p:txBody>
          <a:bodyPr vert="horz" wrap="square" lIns="0" tIns="0" rIns="0" bIns="0" rtlCol="0">
            <a:spAutoFit/>
          </a:bodyPr>
          <a:lstStyle/>
          <a:p>
            <a:pPr marL="71755">
              <a:lnSpc>
                <a:spcPts val="1495"/>
              </a:lnSpc>
            </a:pPr>
            <a:r>
              <a:rPr sz="1500" b="1" spc="5" dirty="0">
                <a:solidFill>
                  <a:srgbClr val="FFFFFF"/>
                </a:solidFill>
                <a:latin typeface="微软雅黑" panose="020B0503020204020204" charset="-122"/>
                <a:ea typeface="微软雅黑" panose="020B0503020204020204" charset="-122"/>
                <a:cs typeface="微软雅黑" panose="020B0503020204020204" charset="-122"/>
              </a:rPr>
              <a:t>客户的</a:t>
            </a:r>
            <a:r>
              <a:rPr sz="1500" b="1" spc="-5" dirty="0">
                <a:solidFill>
                  <a:srgbClr val="FFFFFF"/>
                </a:solidFill>
                <a:latin typeface="微软雅黑" panose="020B0503020204020204" charset="-122"/>
                <a:ea typeface="微软雅黑" panose="020B0503020204020204" charset="-122"/>
                <a:cs typeface="微软雅黑" panose="020B0503020204020204" charset="-122"/>
              </a:rPr>
              <a:t>背景</a:t>
            </a:r>
            <a:endParaRPr sz="1500">
              <a:latin typeface="微软雅黑" panose="020B0503020204020204" charset="-122"/>
              <a:ea typeface="微软雅黑" panose="020B0503020204020204" charset="-122"/>
              <a:cs typeface="微软雅黑" panose="020B0503020204020204" charset="-122"/>
            </a:endParaRPr>
          </a:p>
        </p:txBody>
      </p:sp>
      <p:sp>
        <p:nvSpPr>
          <p:cNvPr id="41" name="object 41"/>
          <p:cNvSpPr txBox="1"/>
          <p:nvPr/>
        </p:nvSpPr>
        <p:spPr>
          <a:xfrm>
            <a:off x="851921" y="1190017"/>
            <a:ext cx="2198717" cy="181610"/>
          </a:xfrm>
          <a:prstGeom prst="rect">
            <a:avLst/>
          </a:prstGeom>
        </p:spPr>
        <p:txBody>
          <a:bodyPr vert="horz" wrap="square" lIns="0" tIns="13325" rIns="0" bIns="0" rtlCol="0">
            <a:spAutoFit/>
          </a:bodyPr>
          <a:lstStyle/>
          <a:p>
            <a:pPr marL="89535" indent="-90170">
              <a:lnSpc>
                <a:spcPct val="100000"/>
              </a:lnSpc>
              <a:spcBef>
                <a:spcPts val="105"/>
              </a:spcBef>
              <a:buClr>
                <a:srgbClr val="00295F"/>
              </a:buClr>
              <a:buSzPct val="123000"/>
              <a:buFont typeface="Arial" panose="020B0604020202020204"/>
              <a:buChar char="▪"/>
              <a:tabLst>
                <a:tab pos="90170" algn="l"/>
                <a:tab pos="982980" algn="l"/>
              </a:tabLst>
            </a:pPr>
            <a:r>
              <a:rPr sz="1100" dirty="0">
                <a:latin typeface="微软雅黑" panose="020B0503020204020204" charset="-122"/>
                <a:ea typeface="微软雅黑" panose="020B0503020204020204" charset="-122"/>
                <a:cs typeface="微软雅黑" panose="020B0503020204020204" charset="-122"/>
              </a:rPr>
              <a:t>客户</a:t>
            </a:r>
            <a:r>
              <a:rPr sz="1100" spc="5" dirty="0">
                <a:latin typeface="微软雅黑" panose="020B0503020204020204" charset="-122"/>
                <a:ea typeface="微软雅黑" panose="020B0503020204020204" charset="-122"/>
                <a:cs typeface="微软雅黑" panose="020B0503020204020204" charset="-122"/>
              </a:rPr>
              <a:t>名	</a:t>
            </a:r>
            <a:r>
              <a:rPr sz="1100" dirty="0">
                <a:latin typeface="微软雅黑" panose="020B0503020204020204" charset="-122"/>
                <a:ea typeface="微软雅黑" panose="020B0503020204020204" charset="-122"/>
                <a:cs typeface="微软雅黑" panose="020B0503020204020204" charset="-122"/>
              </a:rPr>
              <a:t>:</a:t>
            </a:r>
            <a:r>
              <a:rPr sz="1100" spc="155" dirty="0">
                <a:latin typeface="微软雅黑" panose="020B0503020204020204" charset="-122"/>
                <a:ea typeface="微软雅黑" panose="020B0503020204020204" charset="-122"/>
                <a:cs typeface="微软雅黑" panose="020B0503020204020204" charset="-122"/>
              </a:rPr>
              <a:t> </a:t>
            </a:r>
            <a:r>
              <a:rPr sz="1100" spc="-5" dirty="0">
                <a:latin typeface="微软雅黑" panose="020B0503020204020204" charset="-122"/>
                <a:ea typeface="微软雅黑" panose="020B0503020204020204" charset="-122"/>
                <a:cs typeface="微软雅黑" panose="020B0503020204020204" charset="-122"/>
              </a:rPr>
              <a:t>xx</a:t>
            </a:r>
            <a:r>
              <a:rPr sz="1100" dirty="0">
                <a:latin typeface="微软雅黑" panose="020B0503020204020204" charset="-122"/>
                <a:ea typeface="微软雅黑" panose="020B0503020204020204" charset="-122"/>
                <a:cs typeface="微软雅黑" panose="020B0503020204020204" charset="-122"/>
              </a:rPr>
              <a:t>市城市建设公司</a:t>
            </a:r>
            <a:endParaRPr sz="1100">
              <a:latin typeface="微软雅黑" panose="020B0503020204020204" charset="-122"/>
              <a:ea typeface="微软雅黑" panose="020B0503020204020204" charset="-122"/>
              <a:cs typeface="微软雅黑" panose="020B0503020204020204" charset="-122"/>
            </a:endParaRPr>
          </a:p>
        </p:txBody>
      </p:sp>
      <p:sp>
        <p:nvSpPr>
          <p:cNvPr id="42" name="object 42"/>
          <p:cNvSpPr txBox="1"/>
          <p:nvPr/>
        </p:nvSpPr>
        <p:spPr>
          <a:xfrm>
            <a:off x="851921" y="1341345"/>
            <a:ext cx="1650465" cy="181610"/>
          </a:xfrm>
          <a:prstGeom prst="rect">
            <a:avLst/>
          </a:prstGeom>
        </p:spPr>
        <p:txBody>
          <a:bodyPr vert="horz" wrap="square" lIns="0" tIns="13325" rIns="0" bIns="0" rtlCol="0">
            <a:spAutoFit/>
          </a:bodyPr>
          <a:lstStyle/>
          <a:p>
            <a:pPr marL="89535" indent="-90170">
              <a:lnSpc>
                <a:spcPct val="100000"/>
              </a:lnSpc>
              <a:spcBef>
                <a:spcPts val="105"/>
              </a:spcBef>
              <a:buClr>
                <a:srgbClr val="00295F"/>
              </a:buClr>
              <a:buSzPct val="123000"/>
              <a:buFont typeface="Arial" panose="020B0604020202020204"/>
              <a:buChar char="▪"/>
              <a:tabLst>
                <a:tab pos="90170" algn="l"/>
                <a:tab pos="982980" algn="l"/>
              </a:tabLst>
            </a:pPr>
            <a:r>
              <a:rPr sz="1100" dirty="0">
                <a:latin typeface="微软雅黑" panose="020B0503020204020204" charset="-122"/>
                <a:ea typeface="微软雅黑" panose="020B0503020204020204" charset="-122"/>
                <a:cs typeface="微软雅黑" panose="020B0503020204020204" charset="-122"/>
              </a:rPr>
              <a:t>行业	:</a:t>
            </a:r>
            <a:r>
              <a:rPr sz="1100" spc="155" dirty="0">
                <a:latin typeface="微软雅黑" panose="020B0503020204020204" charset="-122"/>
                <a:ea typeface="微软雅黑" panose="020B0503020204020204" charset="-122"/>
                <a:cs typeface="微软雅黑" panose="020B0503020204020204" charset="-122"/>
              </a:rPr>
              <a:t> </a:t>
            </a:r>
            <a:r>
              <a:rPr sz="1100" dirty="0">
                <a:latin typeface="微软雅黑" panose="020B0503020204020204" charset="-122"/>
                <a:ea typeface="微软雅黑" panose="020B0503020204020204" charset="-122"/>
                <a:cs typeface="微软雅黑" panose="020B0503020204020204" charset="-122"/>
              </a:rPr>
              <a:t>城市建设</a:t>
            </a:r>
            <a:endParaRPr sz="1100">
              <a:latin typeface="微软雅黑" panose="020B0503020204020204" charset="-122"/>
              <a:ea typeface="微软雅黑" panose="020B0503020204020204" charset="-122"/>
              <a:cs typeface="微软雅黑" panose="020B0503020204020204" charset="-122"/>
            </a:endParaRPr>
          </a:p>
        </p:txBody>
      </p:sp>
      <p:sp>
        <p:nvSpPr>
          <p:cNvPr id="43" name="object 43"/>
          <p:cNvSpPr txBox="1"/>
          <p:nvPr/>
        </p:nvSpPr>
        <p:spPr>
          <a:xfrm>
            <a:off x="851921" y="1492114"/>
            <a:ext cx="1329383" cy="351155"/>
          </a:xfrm>
          <a:prstGeom prst="rect">
            <a:avLst/>
          </a:prstGeom>
        </p:spPr>
        <p:txBody>
          <a:bodyPr vert="horz" wrap="square" lIns="0" tIns="13325" rIns="0" bIns="0" rtlCol="0">
            <a:spAutoFit/>
          </a:bodyPr>
          <a:lstStyle/>
          <a:p>
            <a:pPr marL="89535" indent="-90170">
              <a:lnSpc>
                <a:spcPct val="100000"/>
              </a:lnSpc>
              <a:spcBef>
                <a:spcPts val="105"/>
              </a:spcBef>
              <a:buClr>
                <a:srgbClr val="00295F"/>
              </a:buClr>
              <a:buSzPct val="123000"/>
              <a:buFont typeface="Arial" panose="020B0604020202020204"/>
              <a:buChar char="▪"/>
              <a:tabLst>
                <a:tab pos="90170" algn="l"/>
              </a:tabLst>
            </a:pPr>
            <a:r>
              <a:rPr sz="1100" dirty="0">
                <a:latin typeface="微软雅黑" panose="020B0503020204020204" charset="-122"/>
                <a:ea typeface="微软雅黑" panose="020B0503020204020204" charset="-122"/>
                <a:cs typeface="微软雅黑" panose="020B0503020204020204" charset="-122"/>
              </a:rPr>
              <a:t>日立负责人员</a:t>
            </a:r>
            <a:r>
              <a:rPr sz="1100" spc="100" dirty="0">
                <a:latin typeface="微软雅黑" panose="020B0503020204020204" charset="-122"/>
                <a:ea typeface="微软雅黑" panose="020B0503020204020204" charset="-122"/>
                <a:cs typeface="微软雅黑" panose="020B0503020204020204" charset="-122"/>
              </a:rPr>
              <a:t> </a:t>
            </a:r>
            <a:r>
              <a:rPr sz="1100" dirty="0">
                <a:latin typeface="微软雅黑" panose="020B0503020204020204" charset="-122"/>
                <a:ea typeface="微软雅黑" panose="020B0503020204020204" charset="-122"/>
                <a:cs typeface="微软雅黑" panose="020B0503020204020204" charset="-122"/>
              </a:rPr>
              <a:t>:</a:t>
            </a:r>
            <a:r>
              <a:rPr sz="1100" spc="-30" dirty="0">
                <a:latin typeface="微软雅黑" panose="020B0503020204020204" charset="-122"/>
                <a:ea typeface="微软雅黑" panose="020B0503020204020204" charset="-122"/>
                <a:cs typeface="微软雅黑" panose="020B0503020204020204" charset="-122"/>
              </a:rPr>
              <a:t> </a:t>
            </a:r>
            <a:r>
              <a:rPr sz="1100" dirty="0">
                <a:latin typeface="微软雅黑" panose="020B0503020204020204" charset="-122"/>
                <a:ea typeface="微软雅黑" panose="020B0503020204020204" charset="-122"/>
                <a:cs typeface="微软雅黑" panose="020B0503020204020204" charset="-122"/>
              </a:rPr>
              <a:t>李</a:t>
            </a:r>
            <a:r>
              <a:rPr sz="1100" spc="-5" dirty="0">
                <a:latin typeface="微软雅黑" panose="020B0503020204020204" charset="-122"/>
                <a:ea typeface="微软雅黑" panose="020B0503020204020204" charset="-122"/>
                <a:cs typeface="微软雅黑" panose="020B0503020204020204" charset="-122"/>
              </a:rPr>
              <a:t>xx</a:t>
            </a:r>
            <a:endParaRPr sz="1100">
              <a:latin typeface="微软雅黑" panose="020B0503020204020204" charset="-122"/>
              <a:ea typeface="微软雅黑" panose="020B0503020204020204" charset="-122"/>
              <a:cs typeface="微软雅黑" panose="020B0503020204020204" charset="-122"/>
            </a:endParaRPr>
          </a:p>
        </p:txBody>
      </p:sp>
      <p:sp>
        <p:nvSpPr>
          <p:cNvPr id="44" name="object 44"/>
          <p:cNvSpPr txBox="1"/>
          <p:nvPr/>
        </p:nvSpPr>
        <p:spPr>
          <a:xfrm>
            <a:off x="851921" y="1642883"/>
            <a:ext cx="2491244" cy="181610"/>
          </a:xfrm>
          <a:prstGeom prst="rect">
            <a:avLst/>
          </a:prstGeom>
        </p:spPr>
        <p:txBody>
          <a:bodyPr vert="horz" wrap="square" lIns="0" tIns="13325" rIns="0" bIns="0" rtlCol="0">
            <a:spAutoFit/>
          </a:bodyPr>
          <a:lstStyle/>
          <a:p>
            <a:pPr marL="89535" indent="-90170">
              <a:lnSpc>
                <a:spcPct val="100000"/>
              </a:lnSpc>
              <a:spcBef>
                <a:spcPts val="105"/>
              </a:spcBef>
              <a:buClr>
                <a:srgbClr val="00295F"/>
              </a:buClr>
              <a:buSzPct val="123000"/>
              <a:buFont typeface="Arial" panose="020B0604020202020204"/>
              <a:buChar char="▪"/>
              <a:tabLst>
                <a:tab pos="90170" algn="l"/>
              </a:tabLst>
            </a:pPr>
            <a:r>
              <a:rPr sz="1100" dirty="0">
                <a:latin typeface="微软雅黑" panose="020B0503020204020204" charset="-122"/>
                <a:ea typeface="微软雅黑" panose="020B0503020204020204" charset="-122"/>
                <a:cs typeface="微软雅黑" panose="020B0503020204020204" charset="-122"/>
              </a:rPr>
              <a:t>主营业务内容</a:t>
            </a:r>
            <a:r>
              <a:rPr sz="1100" spc="120" dirty="0">
                <a:latin typeface="微软雅黑" panose="020B0503020204020204" charset="-122"/>
                <a:ea typeface="微软雅黑" panose="020B0503020204020204" charset="-122"/>
                <a:cs typeface="微软雅黑" panose="020B0503020204020204" charset="-122"/>
              </a:rPr>
              <a:t> </a:t>
            </a:r>
            <a:r>
              <a:rPr sz="1100" dirty="0">
                <a:latin typeface="微软雅黑" panose="020B0503020204020204" charset="-122"/>
                <a:ea typeface="微软雅黑" panose="020B0503020204020204" charset="-122"/>
                <a:cs typeface="微软雅黑" panose="020B0503020204020204" charset="-122"/>
              </a:rPr>
              <a:t>:</a:t>
            </a:r>
            <a:r>
              <a:rPr sz="1100" spc="204" dirty="0">
                <a:latin typeface="微软雅黑" panose="020B0503020204020204" charset="-122"/>
                <a:ea typeface="微软雅黑" panose="020B0503020204020204" charset="-122"/>
                <a:cs typeface="微软雅黑" panose="020B0503020204020204" charset="-122"/>
              </a:rPr>
              <a:t> </a:t>
            </a:r>
            <a:r>
              <a:rPr sz="1100" dirty="0">
                <a:latin typeface="微软雅黑" panose="020B0503020204020204" charset="-122"/>
                <a:ea typeface="微软雅黑" panose="020B0503020204020204" charset="-122"/>
                <a:cs typeface="微软雅黑" panose="020B0503020204020204" charset="-122"/>
              </a:rPr>
              <a:t>低收入人群的住房建设</a:t>
            </a:r>
            <a:endParaRPr sz="1100">
              <a:latin typeface="微软雅黑" panose="020B0503020204020204" charset="-122"/>
              <a:ea typeface="微软雅黑" panose="020B0503020204020204" charset="-122"/>
              <a:cs typeface="微软雅黑" panose="020B0503020204020204" charset="-122"/>
            </a:endParaRPr>
          </a:p>
        </p:txBody>
      </p:sp>
      <p:sp>
        <p:nvSpPr>
          <p:cNvPr id="45" name="object 45"/>
          <p:cNvSpPr txBox="1"/>
          <p:nvPr/>
        </p:nvSpPr>
        <p:spPr>
          <a:xfrm>
            <a:off x="851921" y="1793652"/>
            <a:ext cx="663105" cy="487045"/>
          </a:xfrm>
          <a:prstGeom prst="rect">
            <a:avLst/>
          </a:prstGeom>
        </p:spPr>
        <p:txBody>
          <a:bodyPr vert="horz" wrap="square" lIns="0" tIns="13325" rIns="0" bIns="0" rtlCol="0">
            <a:spAutoFit/>
          </a:bodyPr>
          <a:lstStyle/>
          <a:p>
            <a:pPr marL="89535" indent="-90170">
              <a:lnSpc>
                <a:spcPts val="1255"/>
              </a:lnSpc>
              <a:spcBef>
                <a:spcPts val="105"/>
              </a:spcBef>
              <a:buClr>
                <a:srgbClr val="00295F"/>
              </a:buClr>
              <a:buSzPct val="123000"/>
              <a:buFont typeface="Arial" panose="020B0604020202020204"/>
              <a:buChar char="▪"/>
              <a:tabLst>
                <a:tab pos="90170" algn="l"/>
              </a:tabLst>
            </a:pPr>
            <a:r>
              <a:rPr sz="1100" dirty="0">
                <a:latin typeface="微软雅黑" panose="020B0503020204020204" charset="-122"/>
                <a:ea typeface="微软雅黑" panose="020B0503020204020204" charset="-122"/>
                <a:cs typeface="微软雅黑" panose="020B0503020204020204" charset="-122"/>
              </a:rPr>
              <a:t>主要顾客</a:t>
            </a:r>
            <a:endParaRPr sz="1100">
              <a:latin typeface="微软雅黑" panose="020B0503020204020204" charset="-122"/>
              <a:ea typeface="微软雅黑" panose="020B0503020204020204" charset="-122"/>
              <a:cs typeface="微软雅黑" panose="020B0503020204020204" charset="-122"/>
            </a:endParaRPr>
          </a:p>
          <a:p>
            <a:pPr marL="89535" indent="-90170">
              <a:lnSpc>
                <a:spcPts val="1190"/>
              </a:lnSpc>
              <a:buClr>
                <a:srgbClr val="00295F"/>
              </a:buClr>
              <a:buSzPct val="123000"/>
              <a:buFont typeface="Arial" panose="020B0604020202020204"/>
              <a:buChar char="▪"/>
              <a:tabLst>
                <a:tab pos="90170" algn="l"/>
              </a:tabLst>
            </a:pPr>
            <a:r>
              <a:rPr sz="1100" dirty="0">
                <a:latin typeface="微软雅黑" panose="020B0503020204020204" charset="-122"/>
                <a:ea typeface="微软雅黑" panose="020B0503020204020204" charset="-122"/>
                <a:cs typeface="微软雅黑" panose="020B0503020204020204" charset="-122"/>
              </a:rPr>
              <a:t>地区</a:t>
            </a:r>
            <a:endParaRPr sz="1100">
              <a:latin typeface="微软雅黑" panose="020B0503020204020204" charset="-122"/>
              <a:ea typeface="微软雅黑" panose="020B0503020204020204" charset="-122"/>
              <a:cs typeface="微软雅黑" panose="020B0503020204020204" charset="-122"/>
            </a:endParaRPr>
          </a:p>
          <a:p>
            <a:pPr marL="89535" indent="-90170">
              <a:lnSpc>
                <a:spcPts val="1255"/>
              </a:lnSpc>
              <a:buClr>
                <a:srgbClr val="00295F"/>
              </a:buClr>
              <a:buSzPct val="123000"/>
              <a:buFont typeface="Arial" panose="020B0604020202020204"/>
              <a:buChar char="▪"/>
              <a:tabLst>
                <a:tab pos="90170" algn="l"/>
              </a:tabLst>
            </a:pPr>
            <a:r>
              <a:rPr sz="1100" dirty="0">
                <a:latin typeface="微软雅黑" panose="020B0503020204020204" charset="-122"/>
                <a:ea typeface="微软雅黑" panose="020B0503020204020204" charset="-122"/>
                <a:cs typeface="微软雅黑" panose="020B0503020204020204" charset="-122"/>
              </a:rPr>
              <a:t>行业环境</a:t>
            </a:r>
            <a:endParaRPr sz="1100">
              <a:latin typeface="微软雅黑" panose="020B0503020204020204" charset="-122"/>
              <a:ea typeface="微软雅黑" panose="020B0503020204020204" charset="-122"/>
              <a:cs typeface="微软雅黑" panose="020B0503020204020204" charset="-122"/>
            </a:endParaRPr>
          </a:p>
        </p:txBody>
      </p:sp>
      <p:sp>
        <p:nvSpPr>
          <p:cNvPr id="46" name="object 46"/>
          <p:cNvSpPr txBox="1"/>
          <p:nvPr/>
        </p:nvSpPr>
        <p:spPr>
          <a:xfrm>
            <a:off x="1834485" y="1793652"/>
            <a:ext cx="1088254" cy="487045"/>
          </a:xfrm>
          <a:prstGeom prst="rect">
            <a:avLst/>
          </a:prstGeom>
        </p:spPr>
        <p:txBody>
          <a:bodyPr vert="horz" wrap="square" lIns="0" tIns="13325" rIns="0" bIns="0" rtlCol="0">
            <a:spAutoFit/>
          </a:bodyPr>
          <a:lstStyle/>
          <a:p>
            <a:pPr>
              <a:lnSpc>
                <a:spcPts val="1255"/>
              </a:lnSpc>
              <a:spcBef>
                <a:spcPts val="105"/>
              </a:spcBef>
            </a:pPr>
            <a:r>
              <a:rPr sz="1100" dirty="0">
                <a:latin typeface="微软雅黑" panose="020B0503020204020204" charset="-122"/>
                <a:ea typeface="微软雅黑" panose="020B0503020204020204" charset="-122"/>
                <a:cs typeface="微软雅黑" panose="020B0503020204020204" charset="-122"/>
              </a:rPr>
              <a:t>:</a:t>
            </a:r>
            <a:r>
              <a:rPr sz="1100" spc="210" dirty="0">
                <a:latin typeface="微软雅黑" panose="020B0503020204020204" charset="-122"/>
                <a:ea typeface="微软雅黑" panose="020B0503020204020204" charset="-122"/>
                <a:cs typeface="微软雅黑" panose="020B0503020204020204" charset="-122"/>
              </a:rPr>
              <a:t> </a:t>
            </a:r>
            <a:r>
              <a:rPr sz="1100" spc="-5" dirty="0">
                <a:latin typeface="微软雅黑" panose="020B0503020204020204" charset="-122"/>
                <a:ea typeface="微软雅黑" panose="020B0503020204020204" charset="-122"/>
                <a:cs typeface="微软雅黑" panose="020B0503020204020204" charset="-122"/>
              </a:rPr>
              <a:t>xx</a:t>
            </a:r>
            <a:r>
              <a:rPr sz="1100" dirty="0">
                <a:latin typeface="微软雅黑" panose="020B0503020204020204" charset="-122"/>
                <a:ea typeface="微软雅黑" panose="020B0503020204020204" charset="-122"/>
                <a:cs typeface="微软雅黑" panose="020B0503020204020204" charset="-122"/>
              </a:rPr>
              <a:t>市、政府</a:t>
            </a:r>
            <a:endParaRPr sz="1100">
              <a:latin typeface="微软雅黑" panose="020B0503020204020204" charset="-122"/>
              <a:ea typeface="微软雅黑" panose="020B0503020204020204" charset="-122"/>
              <a:cs typeface="微软雅黑" panose="020B0503020204020204" charset="-122"/>
            </a:endParaRPr>
          </a:p>
          <a:p>
            <a:pPr>
              <a:lnSpc>
                <a:spcPts val="1190"/>
              </a:lnSpc>
            </a:pPr>
            <a:r>
              <a:rPr sz="1100" dirty="0">
                <a:latin typeface="微软雅黑" panose="020B0503020204020204" charset="-122"/>
                <a:ea typeface="微软雅黑" panose="020B0503020204020204" charset="-122"/>
                <a:cs typeface="微软雅黑" panose="020B0503020204020204" charset="-122"/>
              </a:rPr>
              <a:t>:</a:t>
            </a:r>
            <a:r>
              <a:rPr sz="1100" spc="185" dirty="0">
                <a:latin typeface="微软雅黑" panose="020B0503020204020204" charset="-122"/>
                <a:ea typeface="微软雅黑" panose="020B0503020204020204" charset="-122"/>
                <a:cs typeface="微软雅黑" panose="020B0503020204020204" charset="-122"/>
              </a:rPr>
              <a:t> </a:t>
            </a:r>
            <a:r>
              <a:rPr sz="1100" spc="-5" dirty="0">
                <a:latin typeface="微软雅黑" panose="020B0503020204020204" charset="-122"/>
                <a:ea typeface="微软雅黑" panose="020B0503020204020204" charset="-122"/>
                <a:cs typeface="微软雅黑" panose="020B0503020204020204" charset="-122"/>
              </a:rPr>
              <a:t>xx</a:t>
            </a:r>
            <a:r>
              <a:rPr sz="1100" dirty="0">
                <a:latin typeface="微软雅黑" panose="020B0503020204020204" charset="-122"/>
                <a:ea typeface="微软雅黑" panose="020B0503020204020204" charset="-122"/>
                <a:cs typeface="微软雅黑" panose="020B0503020204020204" charset="-122"/>
              </a:rPr>
              <a:t>省</a:t>
            </a:r>
            <a:r>
              <a:rPr sz="1100" spc="-5" dirty="0">
                <a:latin typeface="微软雅黑" panose="020B0503020204020204" charset="-122"/>
                <a:ea typeface="微软雅黑" panose="020B0503020204020204" charset="-122"/>
                <a:cs typeface="微软雅黑" panose="020B0503020204020204" charset="-122"/>
              </a:rPr>
              <a:t>xx</a:t>
            </a:r>
            <a:r>
              <a:rPr sz="1100" dirty="0">
                <a:latin typeface="微软雅黑" panose="020B0503020204020204" charset="-122"/>
                <a:ea typeface="微软雅黑" panose="020B0503020204020204" charset="-122"/>
                <a:cs typeface="微软雅黑" panose="020B0503020204020204" charset="-122"/>
              </a:rPr>
              <a:t>市、</a:t>
            </a:r>
            <a:r>
              <a:rPr sz="1100" spc="-5" dirty="0">
                <a:latin typeface="微软雅黑" panose="020B0503020204020204" charset="-122"/>
                <a:ea typeface="微软雅黑" panose="020B0503020204020204" charset="-122"/>
                <a:cs typeface="微软雅黑" panose="020B0503020204020204" charset="-122"/>
              </a:rPr>
              <a:t>xx</a:t>
            </a:r>
            <a:r>
              <a:rPr sz="1100" dirty="0">
                <a:latin typeface="微软雅黑" panose="020B0503020204020204" charset="-122"/>
                <a:ea typeface="微软雅黑" panose="020B0503020204020204" charset="-122"/>
                <a:cs typeface="微软雅黑" panose="020B0503020204020204" charset="-122"/>
              </a:rPr>
              <a:t>市</a:t>
            </a:r>
            <a:endParaRPr sz="1100">
              <a:latin typeface="微软雅黑" panose="020B0503020204020204" charset="-122"/>
              <a:ea typeface="微软雅黑" panose="020B0503020204020204" charset="-122"/>
              <a:cs typeface="微软雅黑" panose="020B0503020204020204" charset="-122"/>
            </a:endParaRPr>
          </a:p>
          <a:p>
            <a:pPr>
              <a:lnSpc>
                <a:spcPts val="1255"/>
              </a:lnSpc>
            </a:pPr>
            <a:r>
              <a:rPr sz="1100" dirty="0">
                <a:latin typeface="微软雅黑" panose="020B0503020204020204" charset="-122"/>
                <a:ea typeface="微软雅黑" panose="020B0503020204020204" charset="-122"/>
                <a:cs typeface="微软雅黑" panose="020B0503020204020204" charset="-122"/>
              </a:rPr>
              <a:t>:</a:t>
            </a:r>
            <a:r>
              <a:rPr sz="1100" spc="165" dirty="0">
                <a:latin typeface="微软雅黑" panose="020B0503020204020204" charset="-122"/>
                <a:ea typeface="微软雅黑" panose="020B0503020204020204" charset="-122"/>
                <a:cs typeface="微软雅黑" panose="020B0503020204020204" charset="-122"/>
              </a:rPr>
              <a:t> </a:t>
            </a:r>
            <a:r>
              <a:rPr sz="1100" dirty="0">
                <a:latin typeface="微软雅黑" panose="020B0503020204020204" charset="-122"/>
                <a:ea typeface="微软雅黑" panose="020B0503020204020204" charset="-122"/>
                <a:cs typeface="微软雅黑" panose="020B0503020204020204" charset="-122"/>
              </a:rPr>
              <a:t>近年来十分火爆</a:t>
            </a:r>
            <a:endParaRPr sz="1100">
              <a:latin typeface="微软雅黑" panose="020B0503020204020204" charset="-122"/>
              <a:ea typeface="微软雅黑" panose="020B0503020204020204" charset="-122"/>
              <a:cs typeface="微软雅黑" panose="020B0503020204020204" charset="-122"/>
            </a:endParaRPr>
          </a:p>
        </p:txBody>
      </p:sp>
      <p:sp>
        <p:nvSpPr>
          <p:cNvPr id="47" name="object 47"/>
          <p:cNvSpPr txBox="1"/>
          <p:nvPr/>
        </p:nvSpPr>
        <p:spPr>
          <a:xfrm>
            <a:off x="727327" y="2252432"/>
            <a:ext cx="639445" cy="215747"/>
          </a:xfrm>
          <a:prstGeom prst="rect">
            <a:avLst/>
          </a:prstGeom>
        </p:spPr>
        <p:txBody>
          <a:bodyPr vert="vert" wrap="square" lIns="0" tIns="23478" rIns="0" bIns="0" rtlCol="0">
            <a:spAutoFit/>
          </a:bodyPr>
          <a:lstStyle/>
          <a:p>
            <a:pPr marL="12700">
              <a:lnSpc>
                <a:spcPts val="1710"/>
              </a:lnSpc>
              <a:spcBef>
                <a:spcPts val="185"/>
              </a:spcBef>
            </a:pPr>
            <a:r>
              <a:rPr sz="1500" dirty="0">
                <a:latin typeface="微软雅黑" panose="020B0503020204020204" charset="-122"/>
                <a:ea typeface="微软雅黑" panose="020B0503020204020204" charset="-122"/>
                <a:cs typeface="微软雅黑" panose="020B0503020204020204" charset="-122"/>
              </a:rPr>
              <a:t>・</a:t>
            </a:r>
            <a:endParaRPr sz="1500">
              <a:latin typeface="微软雅黑" panose="020B0503020204020204" charset="-122"/>
              <a:ea typeface="微软雅黑" panose="020B0503020204020204" charset="-122"/>
              <a:cs typeface="微软雅黑" panose="020B0503020204020204" charset="-122"/>
            </a:endParaRPr>
          </a:p>
          <a:p>
            <a:pPr marL="12700">
              <a:lnSpc>
                <a:spcPts val="1595"/>
              </a:lnSpc>
            </a:pPr>
            <a:r>
              <a:rPr sz="1500" dirty="0">
                <a:latin typeface="微软雅黑" panose="020B0503020204020204" charset="-122"/>
                <a:ea typeface="微软雅黑" panose="020B0503020204020204" charset="-122"/>
                <a:cs typeface="微软雅黑" panose="020B0503020204020204" charset="-122"/>
              </a:rPr>
              <a:t>・</a:t>
            </a:r>
            <a:endParaRPr sz="1500">
              <a:latin typeface="微软雅黑" panose="020B0503020204020204" charset="-122"/>
              <a:ea typeface="微软雅黑" panose="020B0503020204020204" charset="-122"/>
              <a:cs typeface="微软雅黑" panose="020B0503020204020204" charset="-122"/>
            </a:endParaRPr>
          </a:p>
          <a:p>
            <a:pPr marL="12700">
              <a:lnSpc>
                <a:spcPts val="1685"/>
              </a:lnSpc>
            </a:pPr>
            <a:r>
              <a:rPr sz="1500" dirty="0">
                <a:latin typeface="微软雅黑" panose="020B0503020204020204" charset="-122"/>
                <a:ea typeface="微软雅黑" panose="020B0503020204020204" charset="-122"/>
                <a:cs typeface="微软雅黑" panose="020B0503020204020204" charset="-122"/>
              </a:rPr>
              <a:t>・</a:t>
            </a:r>
            <a:endParaRPr sz="1500">
              <a:latin typeface="微软雅黑" panose="020B0503020204020204" charset="-122"/>
              <a:ea typeface="微软雅黑" panose="020B0503020204020204" charset="-122"/>
              <a:cs typeface="微软雅黑" panose="020B0503020204020204" charset="-122"/>
            </a:endParaRPr>
          </a:p>
        </p:txBody>
      </p:sp>
      <p:sp>
        <p:nvSpPr>
          <p:cNvPr id="48" name="object 48"/>
          <p:cNvSpPr/>
          <p:nvPr/>
        </p:nvSpPr>
        <p:spPr>
          <a:xfrm>
            <a:off x="683791" y="4243651"/>
            <a:ext cx="3723540" cy="0"/>
          </a:xfrm>
          <a:custGeom>
            <a:avLst/>
            <a:gdLst/>
            <a:ahLst/>
            <a:cxnLst/>
            <a:rect l="l" t="t" r="r" b="b"/>
            <a:pathLst>
              <a:path w="3726179">
                <a:moveTo>
                  <a:pt x="0" y="0"/>
                </a:moveTo>
                <a:lnTo>
                  <a:pt x="3726179" y="0"/>
                </a:lnTo>
              </a:path>
            </a:pathLst>
          </a:custGeom>
          <a:ln w="952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49" name="object 49"/>
          <p:cNvSpPr txBox="1"/>
          <p:nvPr/>
        </p:nvSpPr>
        <p:spPr>
          <a:xfrm>
            <a:off x="1299051" y="4647352"/>
            <a:ext cx="2585792" cy="180975"/>
          </a:xfrm>
          <a:prstGeom prst="rect">
            <a:avLst/>
          </a:prstGeom>
        </p:spPr>
        <p:txBody>
          <a:bodyPr vert="horz" wrap="square" lIns="0" tIns="12691" rIns="0" bIns="0" rtlCol="0">
            <a:spAutoFit/>
          </a:bodyPr>
          <a:lstStyle/>
          <a:p>
            <a:pPr>
              <a:lnSpc>
                <a:spcPct val="100000"/>
              </a:lnSpc>
              <a:spcBef>
                <a:spcPts val="100"/>
              </a:spcBef>
              <a:tabLst>
                <a:tab pos="795655" algn="l"/>
                <a:tab pos="1684020" algn="l"/>
                <a:tab pos="2574290" algn="l"/>
              </a:tabLst>
            </a:pPr>
            <a:r>
              <a:rPr sz="1100" b="1" u="sng" spc="-275" dirty="0">
                <a:uFill>
                  <a:solidFill>
                    <a:srgbClr val="000000"/>
                  </a:solidFill>
                </a:uFill>
                <a:latin typeface="微软雅黑" panose="020B0503020204020204" charset="-122"/>
                <a:ea typeface="微软雅黑" panose="020B0503020204020204" charset="-122"/>
                <a:cs typeface="微软雅黑" panose="020B0503020204020204" charset="-122"/>
              </a:rPr>
              <a:t> </a:t>
            </a:r>
            <a:r>
              <a:rPr sz="1100" b="1" u="sng" spc="10" dirty="0">
                <a:uFill>
                  <a:solidFill>
                    <a:srgbClr val="000000"/>
                  </a:solidFill>
                </a:uFill>
                <a:latin typeface="微软雅黑" panose="020B0503020204020204" charset="-122"/>
                <a:ea typeface="微软雅黑" panose="020B0503020204020204" charset="-122"/>
                <a:cs typeface="微软雅黑" panose="020B0503020204020204" charset="-122"/>
              </a:rPr>
              <a:t>销售</a:t>
            </a:r>
            <a:r>
              <a:rPr sz="1100" b="1" u="sng" dirty="0">
                <a:uFill>
                  <a:solidFill>
                    <a:srgbClr val="000000"/>
                  </a:solidFill>
                </a:uFill>
                <a:latin typeface="微软雅黑" panose="020B0503020204020204" charset="-122"/>
                <a:ea typeface="微软雅黑" panose="020B0503020204020204" charset="-122"/>
                <a:cs typeface="微软雅黑" panose="020B0503020204020204" charset="-122"/>
              </a:rPr>
              <a:t>额	 利 </a:t>
            </a:r>
            <a:r>
              <a:rPr sz="1100" b="1" u="sng" spc="10" dirty="0">
                <a:uFill>
                  <a:solidFill>
                    <a:srgbClr val="000000"/>
                  </a:solidFill>
                </a:uFill>
                <a:latin typeface="微软雅黑" panose="020B0503020204020204" charset="-122"/>
                <a:ea typeface="微软雅黑" panose="020B0503020204020204" charset="-122"/>
                <a:cs typeface="微软雅黑" panose="020B0503020204020204" charset="-122"/>
              </a:rPr>
              <a:t> </a:t>
            </a:r>
            <a:r>
              <a:rPr sz="1100" b="1" u="sng" dirty="0">
                <a:uFill>
                  <a:solidFill>
                    <a:srgbClr val="000000"/>
                  </a:solidFill>
                </a:uFill>
                <a:latin typeface="微软雅黑" panose="020B0503020204020204" charset="-122"/>
                <a:ea typeface="微软雅黑" panose="020B0503020204020204" charset="-122"/>
                <a:cs typeface="微软雅黑" panose="020B0503020204020204" charset="-122"/>
              </a:rPr>
              <a:t>润	 人</a:t>
            </a:r>
            <a:r>
              <a:rPr sz="1100" b="1" u="sng" spc="190" dirty="0">
                <a:uFill>
                  <a:solidFill>
                    <a:srgbClr val="000000"/>
                  </a:solidFill>
                </a:uFill>
                <a:latin typeface="微软雅黑" panose="020B0503020204020204" charset="-122"/>
                <a:ea typeface="微软雅黑" panose="020B0503020204020204" charset="-122"/>
                <a:cs typeface="微软雅黑" panose="020B0503020204020204" charset="-122"/>
              </a:rPr>
              <a:t> </a:t>
            </a:r>
            <a:r>
              <a:rPr sz="1100" b="1" u="sng" dirty="0">
                <a:uFill>
                  <a:solidFill>
                    <a:srgbClr val="000000"/>
                  </a:solidFill>
                </a:uFill>
                <a:latin typeface="微软雅黑" panose="020B0503020204020204" charset="-122"/>
                <a:ea typeface="微软雅黑" panose="020B0503020204020204" charset="-122"/>
                <a:cs typeface="微软雅黑" panose="020B0503020204020204" charset="-122"/>
              </a:rPr>
              <a:t>员	</a:t>
            </a:r>
            <a:endParaRPr sz="1100">
              <a:latin typeface="微软雅黑" panose="020B0503020204020204" charset="-122"/>
              <a:ea typeface="微软雅黑" panose="020B0503020204020204" charset="-122"/>
              <a:cs typeface="微软雅黑" panose="020B0503020204020204" charset="-122"/>
            </a:endParaRPr>
          </a:p>
        </p:txBody>
      </p:sp>
      <p:sp>
        <p:nvSpPr>
          <p:cNvPr id="50" name="object 50"/>
          <p:cNvSpPr/>
          <p:nvPr/>
        </p:nvSpPr>
        <p:spPr>
          <a:xfrm>
            <a:off x="1323489" y="5005021"/>
            <a:ext cx="285548" cy="276029"/>
          </a:xfrm>
          <a:custGeom>
            <a:avLst/>
            <a:gdLst/>
            <a:ahLst/>
            <a:cxnLst/>
            <a:rect l="l" t="t" r="r" b="b"/>
            <a:pathLst>
              <a:path w="285750" h="276225">
                <a:moveTo>
                  <a:pt x="0" y="276038"/>
                </a:moveTo>
                <a:lnTo>
                  <a:pt x="285621" y="276038"/>
                </a:lnTo>
                <a:lnTo>
                  <a:pt x="285621" y="0"/>
                </a:lnTo>
                <a:lnTo>
                  <a:pt x="0" y="0"/>
                </a:lnTo>
                <a:lnTo>
                  <a:pt x="0" y="276038"/>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1" name="object 51"/>
          <p:cNvSpPr/>
          <p:nvPr/>
        </p:nvSpPr>
        <p:spPr>
          <a:xfrm>
            <a:off x="1323489" y="5005021"/>
            <a:ext cx="285548" cy="276029"/>
          </a:xfrm>
          <a:custGeom>
            <a:avLst/>
            <a:gdLst/>
            <a:ahLst/>
            <a:cxnLst/>
            <a:rect l="l" t="t" r="r" b="b"/>
            <a:pathLst>
              <a:path w="285750" h="276225">
                <a:moveTo>
                  <a:pt x="0" y="276038"/>
                </a:moveTo>
                <a:lnTo>
                  <a:pt x="285621" y="276038"/>
                </a:lnTo>
                <a:lnTo>
                  <a:pt x="285621" y="0"/>
                </a:lnTo>
                <a:lnTo>
                  <a:pt x="0" y="0"/>
                </a:lnTo>
                <a:lnTo>
                  <a:pt x="0" y="276038"/>
                </a:lnTo>
                <a:close/>
              </a:path>
            </a:pathLst>
          </a:custGeom>
          <a:ln w="944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2" name="object 52"/>
          <p:cNvSpPr/>
          <p:nvPr/>
        </p:nvSpPr>
        <p:spPr>
          <a:xfrm>
            <a:off x="1323489" y="5385797"/>
            <a:ext cx="190365" cy="266511"/>
          </a:xfrm>
          <a:custGeom>
            <a:avLst/>
            <a:gdLst/>
            <a:ahLst/>
            <a:cxnLst/>
            <a:rect l="l" t="t" r="r" b="b"/>
            <a:pathLst>
              <a:path w="190500" h="266700">
                <a:moveTo>
                  <a:pt x="0" y="266606"/>
                </a:moveTo>
                <a:lnTo>
                  <a:pt x="190414" y="266606"/>
                </a:lnTo>
                <a:lnTo>
                  <a:pt x="190414" y="0"/>
                </a:lnTo>
                <a:lnTo>
                  <a:pt x="0" y="0"/>
                </a:lnTo>
                <a:lnTo>
                  <a:pt x="0" y="26660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3" name="object 53"/>
          <p:cNvSpPr/>
          <p:nvPr/>
        </p:nvSpPr>
        <p:spPr>
          <a:xfrm>
            <a:off x="1323489" y="5385797"/>
            <a:ext cx="190365" cy="266511"/>
          </a:xfrm>
          <a:custGeom>
            <a:avLst/>
            <a:gdLst/>
            <a:ahLst/>
            <a:cxnLst/>
            <a:rect l="l" t="t" r="r" b="b"/>
            <a:pathLst>
              <a:path w="190500" h="266700">
                <a:moveTo>
                  <a:pt x="0" y="266606"/>
                </a:moveTo>
                <a:lnTo>
                  <a:pt x="190414" y="266606"/>
                </a:lnTo>
                <a:lnTo>
                  <a:pt x="190414" y="0"/>
                </a:lnTo>
                <a:lnTo>
                  <a:pt x="0" y="0"/>
                </a:lnTo>
                <a:lnTo>
                  <a:pt x="0" y="266606"/>
                </a:lnTo>
                <a:close/>
              </a:path>
            </a:pathLst>
          </a:custGeom>
          <a:ln w="9448">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4" name="object 54"/>
          <p:cNvSpPr/>
          <p:nvPr/>
        </p:nvSpPr>
        <p:spPr>
          <a:xfrm>
            <a:off x="1318763" y="4952554"/>
            <a:ext cx="0" cy="752577"/>
          </a:xfrm>
          <a:custGeom>
            <a:avLst/>
            <a:gdLst/>
            <a:ahLst/>
            <a:cxnLst/>
            <a:rect l="l" t="t" r="r" b="b"/>
            <a:pathLst>
              <a:path h="753110">
                <a:moveTo>
                  <a:pt x="0" y="0"/>
                </a:moveTo>
                <a:lnTo>
                  <a:pt x="0" y="752661"/>
                </a:lnTo>
              </a:path>
            </a:pathLst>
          </a:custGeom>
          <a:ln w="28688">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5" name="object 55"/>
          <p:cNvSpPr txBox="1"/>
          <p:nvPr/>
        </p:nvSpPr>
        <p:spPr>
          <a:xfrm>
            <a:off x="783695" y="4996050"/>
            <a:ext cx="522869" cy="622935"/>
          </a:xfrm>
          <a:prstGeom prst="rect">
            <a:avLst/>
          </a:prstGeom>
        </p:spPr>
        <p:txBody>
          <a:bodyPr vert="horz" wrap="square" lIns="0" tIns="12691" rIns="0" bIns="0" rtlCol="0">
            <a:spAutoFit/>
          </a:bodyPr>
          <a:lstStyle/>
          <a:p>
            <a:pPr>
              <a:lnSpc>
                <a:spcPct val="100000"/>
              </a:lnSpc>
              <a:spcBef>
                <a:spcPts val="100"/>
              </a:spcBef>
            </a:pPr>
            <a:r>
              <a:rPr sz="1500" dirty="0">
                <a:latin typeface="微软雅黑" panose="020B0503020204020204" charset="-122"/>
                <a:ea typeface="微软雅黑" panose="020B0503020204020204" charset="-122"/>
                <a:cs typeface="微软雅黑" panose="020B0503020204020204" charset="-122"/>
              </a:rPr>
              <a:t>部</a:t>
            </a:r>
            <a:r>
              <a:rPr sz="1500" spc="-5" dirty="0">
                <a:latin typeface="微软雅黑" panose="020B0503020204020204" charset="-122"/>
                <a:ea typeface="微软雅黑" panose="020B0503020204020204" charset="-122"/>
                <a:cs typeface="微软雅黑" panose="020B0503020204020204" charset="-122"/>
              </a:rPr>
              <a:t>门</a:t>
            </a:r>
            <a:r>
              <a:rPr sz="1500" dirty="0">
                <a:latin typeface="微软雅黑" panose="020B0503020204020204" charset="-122"/>
                <a:ea typeface="微软雅黑" panose="020B0503020204020204" charset="-122"/>
                <a:cs typeface="微软雅黑" panose="020B0503020204020204" charset="-122"/>
              </a:rPr>
              <a:t>A</a:t>
            </a:r>
            <a:endParaRPr sz="1500">
              <a:latin typeface="微软雅黑" panose="020B0503020204020204" charset="-122"/>
              <a:ea typeface="微软雅黑" panose="020B0503020204020204" charset="-122"/>
              <a:cs typeface="微软雅黑" panose="020B0503020204020204" charset="-122"/>
            </a:endParaRPr>
          </a:p>
          <a:p>
            <a:pPr>
              <a:lnSpc>
                <a:spcPct val="100000"/>
              </a:lnSpc>
              <a:spcBef>
                <a:spcPts val="1165"/>
              </a:spcBef>
            </a:pPr>
            <a:r>
              <a:rPr sz="1500" dirty="0">
                <a:latin typeface="微软雅黑" panose="020B0503020204020204" charset="-122"/>
                <a:ea typeface="微软雅黑" panose="020B0503020204020204" charset="-122"/>
                <a:cs typeface="微软雅黑" panose="020B0503020204020204" charset="-122"/>
              </a:rPr>
              <a:t>部门B</a:t>
            </a:r>
            <a:endParaRPr sz="1500">
              <a:latin typeface="微软雅黑" panose="020B0503020204020204" charset="-122"/>
              <a:ea typeface="微软雅黑" panose="020B0503020204020204" charset="-122"/>
              <a:cs typeface="微软雅黑" panose="020B0503020204020204" charset="-122"/>
            </a:endParaRPr>
          </a:p>
        </p:txBody>
      </p:sp>
      <p:sp>
        <p:nvSpPr>
          <p:cNvPr id="56" name="object 56"/>
          <p:cNvSpPr/>
          <p:nvPr/>
        </p:nvSpPr>
        <p:spPr>
          <a:xfrm>
            <a:off x="2480909" y="5005021"/>
            <a:ext cx="142774" cy="276029"/>
          </a:xfrm>
          <a:custGeom>
            <a:avLst/>
            <a:gdLst/>
            <a:ahLst/>
            <a:cxnLst/>
            <a:rect l="l" t="t" r="r" b="b"/>
            <a:pathLst>
              <a:path w="142875" h="276225">
                <a:moveTo>
                  <a:pt x="0" y="276038"/>
                </a:moveTo>
                <a:lnTo>
                  <a:pt x="142810" y="276038"/>
                </a:lnTo>
                <a:lnTo>
                  <a:pt x="142810" y="0"/>
                </a:lnTo>
                <a:lnTo>
                  <a:pt x="0" y="0"/>
                </a:lnTo>
                <a:lnTo>
                  <a:pt x="0" y="276038"/>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7" name="object 57"/>
          <p:cNvSpPr/>
          <p:nvPr/>
        </p:nvSpPr>
        <p:spPr>
          <a:xfrm>
            <a:off x="2480909" y="5005021"/>
            <a:ext cx="142774" cy="276029"/>
          </a:xfrm>
          <a:custGeom>
            <a:avLst/>
            <a:gdLst/>
            <a:ahLst/>
            <a:cxnLst/>
            <a:rect l="l" t="t" r="r" b="b"/>
            <a:pathLst>
              <a:path w="142875" h="276225">
                <a:moveTo>
                  <a:pt x="0" y="276038"/>
                </a:moveTo>
                <a:lnTo>
                  <a:pt x="142810" y="276038"/>
                </a:lnTo>
                <a:lnTo>
                  <a:pt x="142810" y="0"/>
                </a:lnTo>
                <a:lnTo>
                  <a:pt x="0" y="0"/>
                </a:lnTo>
                <a:lnTo>
                  <a:pt x="0" y="276038"/>
                </a:lnTo>
                <a:close/>
              </a:path>
            </a:pathLst>
          </a:custGeom>
          <a:ln w="9452">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8" name="object 58"/>
          <p:cNvSpPr/>
          <p:nvPr/>
        </p:nvSpPr>
        <p:spPr>
          <a:xfrm>
            <a:off x="2385769" y="5385797"/>
            <a:ext cx="95183" cy="266511"/>
          </a:xfrm>
          <a:custGeom>
            <a:avLst/>
            <a:gdLst/>
            <a:ahLst/>
            <a:cxnLst/>
            <a:rect l="l" t="t" r="r" b="b"/>
            <a:pathLst>
              <a:path w="95250" h="266700">
                <a:moveTo>
                  <a:pt x="0" y="266606"/>
                </a:moveTo>
                <a:lnTo>
                  <a:pt x="95207" y="266606"/>
                </a:lnTo>
                <a:lnTo>
                  <a:pt x="95207" y="0"/>
                </a:lnTo>
                <a:lnTo>
                  <a:pt x="0" y="0"/>
                </a:lnTo>
                <a:lnTo>
                  <a:pt x="0" y="26660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9" name="object 59"/>
          <p:cNvSpPr/>
          <p:nvPr/>
        </p:nvSpPr>
        <p:spPr>
          <a:xfrm>
            <a:off x="2385769" y="5385797"/>
            <a:ext cx="95183" cy="266511"/>
          </a:xfrm>
          <a:custGeom>
            <a:avLst/>
            <a:gdLst/>
            <a:ahLst/>
            <a:cxnLst/>
            <a:rect l="l" t="t" r="r" b="b"/>
            <a:pathLst>
              <a:path w="95250" h="266700">
                <a:moveTo>
                  <a:pt x="0" y="266606"/>
                </a:moveTo>
                <a:lnTo>
                  <a:pt x="95207" y="266606"/>
                </a:lnTo>
                <a:lnTo>
                  <a:pt x="95207" y="0"/>
                </a:lnTo>
                <a:lnTo>
                  <a:pt x="0" y="0"/>
                </a:lnTo>
                <a:lnTo>
                  <a:pt x="0" y="266606"/>
                </a:lnTo>
                <a:close/>
              </a:path>
            </a:pathLst>
          </a:custGeom>
          <a:ln w="945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0" name="object 60"/>
          <p:cNvSpPr/>
          <p:nvPr/>
        </p:nvSpPr>
        <p:spPr>
          <a:xfrm>
            <a:off x="2476183" y="4952554"/>
            <a:ext cx="0" cy="752577"/>
          </a:xfrm>
          <a:custGeom>
            <a:avLst/>
            <a:gdLst/>
            <a:ahLst/>
            <a:cxnLst/>
            <a:rect l="l" t="t" r="r" b="b"/>
            <a:pathLst>
              <a:path h="753110">
                <a:moveTo>
                  <a:pt x="0" y="0"/>
                </a:moveTo>
                <a:lnTo>
                  <a:pt x="0" y="752661"/>
                </a:lnTo>
              </a:path>
            </a:pathLst>
          </a:custGeom>
          <a:ln w="28688">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1" name="object 61"/>
          <p:cNvSpPr/>
          <p:nvPr/>
        </p:nvSpPr>
        <p:spPr>
          <a:xfrm>
            <a:off x="3126626" y="5005021"/>
            <a:ext cx="476546" cy="276029"/>
          </a:xfrm>
          <a:custGeom>
            <a:avLst/>
            <a:gdLst/>
            <a:ahLst/>
            <a:cxnLst/>
            <a:rect l="l" t="t" r="r" b="b"/>
            <a:pathLst>
              <a:path w="476885" h="276225">
                <a:moveTo>
                  <a:pt x="0" y="276038"/>
                </a:moveTo>
                <a:lnTo>
                  <a:pt x="476351" y="276038"/>
                </a:lnTo>
                <a:lnTo>
                  <a:pt x="476351" y="0"/>
                </a:lnTo>
                <a:lnTo>
                  <a:pt x="0" y="0"/>
                </a:lnTo>
                <a:lnTo>
                  <a:pt x="0" y="276038"/>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2" name="object 62"/>
          <p:cNvSpPr/>
          <p:nvPr/>
        </p:nvSpPr>
        <p:spPr>
          <a:xfrm>
            <a:off x="3126626" y="5005021"/>
            <a:ext cx="476546" cy="276029"/>
          </a:xfrm>
          <a:custGeom>
            <a:avLst/>
            <a:gdLst/>
            <a:ahLst/>
            <a:cxnLst/>
            <a:rect l="l" t="t" r="r" b="b"/>
            <a:pathLst>
              <a:path w="476885" h="276225">
                <a:moveTo>
                  <a:pt x="0" y="276038"/>
                </a:moveTo>
                <a:lnTo>
                  <a:pt x="476351" y="276038"/>
                </a:lnTo>
                <a:lnTo>
                  <a:pt x="476351" y="0"/>
                </a:lnTo>
                <a:lnTo>
                  <a:pt x="0" y="0"/>
                </a:lnTo>
                <a:lnTo>
                  <a:pt x="0" y="276038"/>
                </a:lnTo>
                <a:close/>
              </a:path>
            </a:pathLst>
          </a:custGeom>
          <a:ln w="9438">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3" name="object 63"/>
          <p:cNvSpPr/>
          <p:nvPr/>
        </p:nvSpPr>
        <p:spPr>
          <a:xfrm>
            <a:off x="3126626" y="5385797"/>
            <a:ext cx="237956" cy="266511"/>
          </a:xfrm>
          <a:custGeom>
            <a:avLst/>
            <a:gdLst/>
            <a:ahLst/>
            <a:cxnLst/>
            <a:rect l="l" t="t" r="r" b="b"/>
            <a:pathLst>
              <a:path w="238125" h="266700">
                <a:moveTo>
                  <a:pt x="0" y="266606"/>
                </a:moveTo>
                <a:lnTo>
                  <a:pt x="238017" y="266606"/>
                </a:lnTo>
                <a:lnTo>
                  <a:pt x="238017" y="0"/>
                </a:lnTo>
                <a:lnTo>
                  <a:pt x="0" y="0"/>
                </a:lnTo>
                <a:lnTo>
                  <a:pt x="0" y="26660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4" name="object 64"/>
          <p:cNvSpPr/>
          <p:nvPr/>
        </p:nvSpPr>
        <p:spPr>
          <a:xfrm>
            <a:off x="3126626" y="5385797"/>
            <a:ext cx="237956" cy="266511"/>
          </a:xfrm>
          <a:custGeom>
            <a:avLst/>
            <a:gdLst/>
            <a:ahLst/>
            <a:cxnLst/>
            <a:rect l="l" t="t" r="r" b="b"/>
            <a:pathLst>
              <a:path w="238125" h="266700">
                <a:moveTo>
                  <a:pt x="0" y="266606"/>
                </a:moveTo>
                <a:lnTo>
                  <a:pt x="238017" y="266606"/>
                </a:lnTo>
                <a:lnTo>
                  <a:pt x="238017" y="0"/>
                </a:lnTo>
                <a:lnTo>
                  <a:pt x="0" y="0"/>
                </a:lnTo>
                <a:lnTo>
                  <a:pt x="0" y="266606"/>
                </a:lnTo>
                <a:close/>
              </a:path>
            </a:pathLst>
          </a:custGeom>
          <a:ln w="9446">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5" name="object 65"/>
          <p:cNvSpPr/>
          <p:nvPr/>
        </p:nvSpPr>
        <p:spPr>
          <a:xfrm>
            <a:off x="3121900" y="4952554"/>
            <a:ext cx="0" cy="752577"/>
          </a:xfrm>
          <a:custGeom>
            <a:avLst/>
            <a:gdLst/>
            <a:ahLst/>
            <a:cxnLst/>
            <a:rect l="l" t="t" r="r" b="b"/>
            <a:pathLst>
              <a:path h="753110">
                <a:moveTo>
                  <a:pt x="0" y="0"/>
                </a:moveTo>
                <a:lnTo>
                  <a:pt x="0" y="752661"/>
                </a:lnTo>
              </a:path>
            </a:pathLst>
          </a:custGeom>
          <a:ln w="28688">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6" name="object 66"/>
          <p:cNvSpPr txBox="1"/>
          <p:nvPr/>
        </p:nvSpPr>
        <p:spPr>
          <a:xfrm>
            <a:off x="3993733" y="4681744"/>
            <a:ext cx="203056" cy="242570"/>
          </a:xfrm>
          <a:prstGeom prst="rect">
            <a:avLst/>
          </a:prstGeom>
        </p:spPr>
        <p:txBody>
          <a:bodyPr vert="horz" wrap="square" lIns="0" tIns="12691" rIns="0" bIns="0" rtlCol="0">
            <a:spAutoFit/>
          </a:bodyPr>
          <a:lstStyle/>
          <a:p>
            <a:pPr>
              <a:lnSpc>
                <a:spcPct val="100000"/>
              </a:lnSpc>
              <a:spcBef>
                <a:spcPts val="100"/>
              </a:spcBef>
            </a:pPr>
            <a:r>
              <a:rPr sz="1500" dirty="0">
                <a:latin typeface="微软雅黑" panose="020B0503020204020204" charset="-122"/>
                <a:ea typeface="微软雅黑" panose="020B0503020204020204" charset="-122"/>
                <a:cs typeface="微软雅黑" panose="020B0503020204020204" charset="-122"/>
              </a:rPr>
              <a:t>…</a:t>
            </a:r>
            <a:endParaRPr sz="1500" dirty="0">
              <a:latin typeface="微软雅黑" panose="020B0503020204020204" charset="-122"/>
              <a:ea typeface="微软雅黑" panose="020B0503020204020204" charset="-122"/>
              <a:cs typeface="微软雅黑" panose="020B0503020204020204" charset="-122"/>
            </a:endParaRPr>
          </a:p>
        </p:txBody>
      </p:sp>
      <p:sp>
        <p:nvSpPr>
          <p:cNvPr id="67" name="object 67"/>
          <p:cNvSpPr txBox="1"/>
          <p:nvPr/>
        </p:nvSpPr>
        <p:spPr>
          <a:xfrm>
            <a:off x="4644019" y="1699866"/>
            <a:ext cx="1099041" cy="351155"/>
          </a:xfrm>
          <a:prstGeom prst="rect">
            <a:avLst/>
          </a:prstGeom>
        </p:spPr>
        <p:txBody>
          <a:bodyPr vert="horz" wrap="square" lIns="0" tIns="13325" rIns="0" bIns="0" rtlCol="0">
            <a:spAutoFit/>
          </a:bodyPr>
          <a:lstStyle/>
          <a:p>
            <a:pPr marL="89535" indent="-90170">
              <a:lnSpc>
                <a:spcPct val="100000"/>
              </a:lnSpc>
              <a:spcBef>
                <a:spcPts val="105"/>
              </a:spcBef>
              <a:buClr>
                <a:srgbClr val="00295F"/>
              </a:buClr>
              <a:buSzPct val="123000"/>
              <a:buFont typeface="Arial" panose="020B0604020202020204"/>
              <a:buChar char="▪"/>
              <a:tabLst>
                <a:tab pos="90170" algn="l"/>
                <a:tab pos="804545" algn="l"/>
              </a:tabLst>
            </a:pPr>
            <a:r>
              <a:rPr sz="1100" spc="-5" dirty="0">
                <a:latin typeface="微软雅黑" panose="020B0503020204020204" charset="-122"/>
                <a:ea typeface="微软雅黑" panose="020B0503020204020204" charset="-122"/>
                <a:cs typeface="微软雅黑" panose="020B0503020204020204" charset="-122"/>
              </a:rPr>
              <a:t>CEO	</a:t>
            </a:r>
            <a:r>
              <a:rPr sz="1100" dirty="0">
                <a:latin typeface="微软雅黑" panose="020B0503020204020204" charset="-122"/>
                <a:ea typeface="微软雅黑" panose="020B0503020204020204" charset="-122"/>
                <a:cs typeface="微软雅黑" panose="020B0503020204020204" charset="-122"/>
              </a:rPr>
              <a:t>:</a:t>
            </a:r>
            <a:r>
              <a:rPr sz="1100" spc="114" dirty="0">
                <a:latin typeface="微软雅黑" panose="020B0503020204020204" charset="-122"/>
                <a:ea typeface="微软雅黑" panose="020B0503020204020204" charset="-122"/>
                <a:cs typeface="微软雅黑" panose="020B0503020204020204" charset="-122"/>
              </a:rPr>
              <a:t> </a:t>
            </a:r>
            <a:r>
              <a:rPr sz="1100" spc="-5" dirty="0">
                <a:latin typeface="微软雅黑" panose="020B0503020204020204" charset="-122"/>
                <a:ea typeface="微软雅黑" panose="020B0503020204020204" charset="-122"/>
                <a:cs typeface="微软雅黑" panose="020B0503020204020204" charset="-122"/>
              </a:rPr>
              <a:t>xxx</a:t>
            </a:r>
            <a:endParaRPr sz="1100">
              <a:latin typeface="微软雅黑" panose="020B0503020204020204" charset="-122"/>
              <a:ea typeface="微软雅黑" panose="020B0503020204020204" charset="-122"/>
              <a:cs typeface="微软雅黑" panose="020B0503020204020204" charset="-122"/>
            </a:endParaRPr>
          </a:p>
        </p:txBody>
      </p:sp>
      <p:sp>
        <p:nvSpPr>
          <p:cNvPr id="68" name="object 68"/>
          <p:cNvSpPr txBox="1"/>
          <p:nvPr/>
        </p:nvSpPr>
        <p:spPr>
          <a:xfrm>
            <a:off x="4759992" y="1950894"/>
            <a:ext cx="469265" cy="166252"/>
          </a:xfrm>
          <a:prstGeom prst="rect">
            <a:avLst/>
          </a:prstGeom>
        </p:spPr>
        <p:txBody>
          <a:bodyPr vert="vert" wrap="square" lIns="0" tIns="20940" rIns="0" bIns="0" rtlCol="0">
            <a:spAutoFit/>
          </a:bodyPr>
          <a:lstStyle/>
          <a:p>
            <a:pPr marL="12700">
              <a:lnSpc>
                <a:spcPts val="1255"/>
              </a:lnSpc>
              <a:spcBef>
                <a:spcPts val="165"/>
              </a:spcBef>
            </a:pPr>
            <a:r>
              <a:rPr sz="1100" dirty="0">
                <a:latin typeface="微软雅黑" panose="020B0503020204020204" charset="-122"/>
                <a:ea typeface="微软雅黑" panose="020B0503020204020204" charset="-122"/>
                <a:cs typeface="微软雅黑" panose="020B0503020204020204" charset="-122"/>
              </a:rPr>
              <a:t>・</a:t>
            </a:r>
            <a:endParaRPr sz="1100">
              <a:latin typeface="微软雅黑" panose="020B0503020204020204" charset="-122"/>
              <a:ea typeface="微软雅黑" panose="020B0503020204020204" charset="-122"/>
              <a:cs typeface="微软雅黑" panose="020B0503020204020204" charset="-122"/>
            </a:endParaRPr>
          </a:p>
          <a:p>
            <a:pPr marL="12700">
              <a:lnSpc>
                <a:spcPts val="1170"/>
              </a:lnSpc>
            </a:pPr>
            <a:r>
              <a:rPr sz="1100" dirty="0">
                <a:latin typeface="微软雅黑" panose="020B0503020204020204" charset="-122"/>
                <a:ea typeface="微软雅黑" panose="020B0503020204020204" charset="-122"/>
                <a:cs typeface="微软雅黑" panose="020B0503020204020204" charset="-122"/>
              </a:rPr>
              <a:t>・</a:t>
            </a:r>
            <a:endParaRPr sz="1100">
              <a:latin typeface="微软雅黑" panose="020B0503020204020204" charset="-122"/>
              <a:ea typeface="微软雅黑" panose="020B0503020204020204" charset="-122"/>
              <a:cs typeface="微软雅黑" panose="020B0503020204020204" charset="-122"/>
            </a:endParaRPr>
          </a:p>
          <a:p>
            <a:pPr marL="12700">
              <a:lnSpc>
                <a:spcPts val="1235"/>
              </a:lnSpc>
            </a:pPr>
            <a:r>
              <a:rPr sz="1100" dirty="0">
                <a:latin typeface="微软雅黑" panose="020B0503020204020204" charset="-122"/>
                <a:ea typeface="微软雅黑" panose="020B0503020204020204" charset="-122"/>
                <a:cs typeface="微软雅黑" panose="020B0503020204020204" charset="-122"/>
              </a:rPr>
              <a:t>・</a:t>
            </a:r>
            <a:endParaRPr sz="1100">
              <a:latin typeface="微软雅黑" panose="020B0503020204020204" charset="-122"/>
              <a:ea typeface="微软雅黑" panose="020B0503020204020204" charset="-122"/>
              <a:cs typeface="微软雅黑" panose="020B0503020204020204" charset="-122"/>
            </a:endParaRPr>
          </a:p>
        </p:txBody>
      </p:sp>
      <p:sp>
        <p:nvSpPr>
          <p:cNvPr id="69" name="object 69"/>
          <p:cNvSpPr txBox="1"/>
          <p:nvPr/>
        </p:nvSpPr>
        <p:spPr>
          <a:xfrm>
            <a:off x="4568762" y="946527"/>
            <a:ext cx="3738770" cy="190500"/>
          </a:xfrm>
          <a:prstGeom prst="rect">
            <a:avLst/>
          </a:prstGeom>
          <a:solidFill>
            <a:srgbClr val="00295F"/>
          </a:solidFill>
          <a:ln w="9525">
            <a:solidFill>
              <a:srgbClr val="000000"/>
            </a:solidFill>
          </a:ln>
        </p:spPr>
        <p:txBody>
          <a:bodyPr vert="horz" wrap="square" lIns="0" tIns="0" rIns="0" bIns="0" rtlCol="0">
            <a:spAutoFit/>
          </a:bodyPr>
          <a:lstStyle/>
          <a:p>
            <a:pPr marL="72390">
              <a:lnSpc>
                <a:spcPts val="1490"/>
              </a:lnSpc>
            </a:pPr>
            <a:r>
              <a:rPr sz="1500" b="1" spc="5" dirty="0">
                <a:solidFill>
                  <a:srgbClr val="FFFFFF"/>
                </a:solidFill>
                <a:latin typeface="微软雅黑" panose="020B0503020204020204" charset="-122"/>
                <a:ea typeface="微软雅黑" panose="020B0503020204020204" charset="-122"/>
                <a:cs typeface="微软雅黑" panose="020B0503020204020204" charset="-122"/>
              </a:rPr>
              <a:t>组织关系</a:t>
            </a:r>
            <a:endParaRPr sz="1500" b="1" spc="5"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0" name="object 70"/>
          <p:cNvSpPr txBox="1"/>
          <p:nvPr/>
        </p:nvSpPr>
        <p:spPr>
          <a:xfrm>
            <a:off x="106401" y="6411173"/>
            <a:ext cx="1140287" cy="165100"/>
          </a:xfrm>
          <a:prstGeom prst="rect">
            <a:avLst/>
          </a:prstGeom>
        </p:spPr>
        <p:txBody>
          <a:bodyPr vert="horz" wrap="square" lIns="0" tIns="12056" rIns="0" bIns="0" rtlCol="0">
            <a:spAutoFit/>
          </a:bodyPr>
          <a:lstStyle/>
          <a:p>
            <a:pPr marL="12700">
              <a:lnSpc>
                <a:spcPct val="100000"/>
              </a:lnSpc>
              <a:spcBef>
                <a:spcPts val="95"/>
              </a:spcBef>
              <a:tabLst>
                <a:tab pos="621665" algn="l"/>
              </a:tabLst>
            </a:pPr>
            <a:r>
              <a:rPr sz="1000" spc="-5" dirty="0">
                <a:latin typeface="微软雅黑" panose="020B0503020204020204" charset="-122"/>
                <a:ea typeface="微软雅黑" panose="020B0503020204020204" charset="-122"/>
                <a:cs typeface="微软雅黑" panose="020B0503020204020204" charset="-122"/>
              </a:rPr>
              <a:t>资  </a:t>
            </a:r>
            <a:r>
              <a:rPr sz="1000" spc="-10" dirty="0">
                <a:latin typeface="微软雅黑" panose="020B0503020204020204" charset="-122"/>
                <a:ea typeface="微软雅黑" panose="020B0503020204020204" charset="-122"/>
                <a:cs typeface="微软雅黑" panose="020B0503020204020204" charset="-122"/>
              </a:rPr>
              <a:t>料</a:t>
            </a:r>
            <a:r>
              <a:rPr sz="1000" spc="-5" dirty="0">
                <a:latin typeface="微软雅黑" panose="020B0503020204020204" charset="-122"/>
                <a:ea typeface="微软雅黑" panose="020B0503020204020204" charset="-122"/>
                <a:cs typeface="微软雅黑" panose="020B0503020204020204" charset="-122"/>
              </a:rPr>
              <a:t>:</a:t>
            </a:r>
            <a:r>
              <a:rPr sz="1000"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团队讨论</a:t>
            </a:r>
            <a:endParaRPr sz="1000">
              <a:latin typeface="微软雅黑" panose="020B0503020204020204" charset="-122"/>
              <a:ea typeface="微软雅黑" panose="020B0503020204020204" charset="-122"/>
              <a:cs typeface="微软雅黑" panose="020B0503020204020204" charset="-122"/>
            </a:endParaRPr>
          </a:p>
        </p:txBody>
      </p:sp>
      <p:sp>
        <p:nvSpPr>
          <p:cNvPr id="71" name="object 71"/>
          <p:cNvSpPr txBox="1"/>
          <p:nvPr/>
        </p:nvSpPr>
        <p:spPr>
          <a:xfrm>
            <a:off x="6512008" y="1145522"/>
            <a:ext cx="1719631" cy="181610"/>
          </a:xfrm>
          <a:prstGeom prst="rect">
            <a:avLst/>
          </a:prstGeom>
        </p:spPr>
        <p:txBody>
          <a:bodyPr vert="horz" wrap="square" lIns="0" tIns="13325" rIns="0" bIns="0" rtlCol="0">
            <a:spAutoFit/>
          </a:bodyPr>
          <a:lstStyle/>
          <a:p>
            <a:pPr>
              <a:lnSpc>
                <a:spcPct val="100000"/>
              </a:lnSpc>
              <a:spcBef>
                <a:spcPts val="105"/>
              </a:spcBef>
              <a:tabLst>
                <a:tab pos="1706880" algn="l"/>
              </a:tabLst>
            </a:pPr>
            <a:r>
              <a:rPr sz="1100" b="1" u="sng" spc="-270" dirty="0">
                <a:uFill>
                  <a:solidFill>
                    <a:srgbClr val="000000"/>
                  </a:solidFill>
                </a:uFill>
                <a:latin typeface="微软雅黑" panose="020B0503020204020204" charset="-122"/>
                <a:ea typeface="微软雅黑" panose="020B0503020204020204" charset="-122"/>
                <a:cs typeface="微软雅黑" panose="020B0503020204020204" charset="-122"/>
              </a:rPr>
              <a:t> </a:t>
            </a:r>
            <a:r>
              <a:rPr sz="1100" b="1" u="sng" spc="10" dirty="0">
                <a:uFill>
                  <a:solidFill>
                    <a:srgbClr val="000000"/>
                  </a:solidFill>
                </a:uFill>
                <a:latin typeface="微软雅黑" panose="020B0503020204020204" charset="-122"/>
                <a:ea typeface="微软雅黑" panose="020B0503020204020204" charset="-122"/>
                <a:cs typeface="微软雅黑" panose="020B0503020204020204" charset="-122"/>
              </a:rPr>
              <a:t>决策</a:t>
            </a:r>
            <a:r>
              <a:rPr sz="1100" b="1" u="sng" dirty="0">
                <a:uFill>
                  <a:solidFill>
                    <a:srgbClr val="000000"/>
                  </a:solidFill>
                </a:uFill>
                <a:latin typeface="微软雅黑" panose="020B0503020204020204" charset="-122"/>
                <a:ea typeface="微软雅黑" panose="020B0503020204020204" charset="-122"/>
                <a:cs typeface="微软雅黑" panose="020B0503020204020204" charset="-122"/>
              </a:rPr>
              <a:t>流程	</a:t>
            </a:r>
            <a:endParaRPr sz="1100">
              <a:latin typeface="微软雅黑" panose="020B0503020204020204" charset="-122"/>
              <a:ea typeface="微软雅黑" panose="020B0503020204020204" charset="-122"/>
              <a:cs typeface="微软雅黑" panose="020B0503020204020204" charset="-122"/>
            </a:endParaRPr>
          </a:p>
        </p:txBody>
      </p:sp>
      <p:sp>
        <p:nvSpPr>
          <p:cNvPr id="72" name="object 72"/>
          <p:cNvSpPr txBox="1"/>
          <p:nvPr/>
        </p:nvSpPr>
        <p:spPr>
          <a:xfrm>
            <a:off x="4641862" y="1105805"/>
            <a:ext cx="1719631" cy="628650"/>
          </a:xfrm>
          <a:prstGeom prst="rect">
            <a:avLst/>
          </a:prstGeom>
        </p:spPr>
        <p:txBody>
          <a:bodyPr vert="horz" wrap="square" lIns="0" tIns="52667" rIns="0" bIns="0" rtlCol="0">
            <a:spAutoFit/>
          </a:bodyPr>
          <a:lstStyle/>
          <a:p>
            <a:pPr>
              <a:lnSpc>
                <a:spcPct val="100000"/>
              </a:lnSpc>
              <a:spcBef>
                <a:spcPts val="415"/>
              </a:spcBef>
              <a:tabLst>
                <a:tab pos="1706880" algn="l"/>
              </a:tabLst>
            </a:pPr>
            <a:r>
              <a:rPr sz="1100" b="1" u="sng" spc="-275" dirty="0">
                <a:uFill>
                  <a:solidFill>
                    <a:srgbClr val="000000"/>
                  </a:solidFill>
                </a:uFill>
                <a:latin typeface="微软雅黑" panose="020B0503020204020204" charset="-122"/>
                <a:ea typeface="微软雅黑" panose="020B0503020204020204" charset="-122"/>
                <a:cs typeface="微软雅黑" panose="020B0503020204020204" charset="-122"/>
              </a:rPr>
              <a:t> </a:t>
            </a:r>
            <a:r>
              <a:rPr sz="1100" b="1" u="sng" spc="10" dirty="0">
                <a:uFill>
                  <a:solidFill>
                    <a:srgbClr val="000000"/>
                  </a:solidFill>
                </a:uFill>
                <a:latin typeface="微软雅黑" panose="020B0503020204020204" charset="-122"/>
                <a:ea typeface="微软雅黑" panose="020B0503020204020204" charset="-122"/>
                <a:cs typeface="微软雅黑" panose="020B0503020204020204" charset="-122"/>
              </a:rPr>
              <a:t>关键</a:t>
            </a:r>
            <a:r>
              <a:rPr sz="1100" b="1" u="sng" dirty="0">
                <a:uFill>
                  <a:solidFill>
                    <a:srgbClr val="000000"/>
                  </a:solidFill>
                </a:uFill>
                <a:latin typeface="微软雅黑" panose="020B0503020204020204" charset="-122"/>
                <a:ea typeface="微软雅黑" panose="020B0503020204020204" charset="-122"/>
                <a:cs typeface="微软雅黑" panose="020B0503020204020204" charset="-122"/>
              </a:rPr>
              <a:t>负责</a:t>
            </a:r>
            <a:r>
              <a:rPr sz="1100" b="1" u="sng" spc="-15" dirty="0">
                <a:uFill>
                  <a:solidFill>
                    <a:srgbClr val="000000"/>
                  </a:solidFill>
                </a:uFill>
                <a:latin typeface="微软雅黑" panose="020B0503020204020204" charset="-122"/>
                <a:ea typeface="微软雅黑" panose="020B0503020204020204" charset="-122"/>
                <a:cs typeface="微软雅黑" panose="020B0503020204020204" charset="-122"/>
              </a:rPr>
              <a:t>人</a:t>
            </a:r>
            <a:r>
              <a:rPr sz="1100" b="1" u="sng" dirty="0">
                <a:uFill>
                  <a:solidFill>
                    <a:srgbClr val="000000"/>
                  </a:solidFill>
                </a:uFill>
                <a:latin typeface="微软雅黑" panose="020B0503020204020204" charset="-122"/>
                <a:ea typeface="微软雅黑" panose="020B0503020204020204" charset="-122"/>
                <a:cs typeface="微软雅黑" panose="020B0503020204020204" charset="-122"/>
              </a:rPr>
              <a:t>员	</a:t>
            </a:r>
            <a:endParaRPr sz="1100">
              <a:latin typeface="微软雅黑" panose="020B0503020204020204" charset="-122"/>
              <a:ea typeface="微软雅黑" panose="020B0503020204020204" charset="-122"/>
              <a:cs typeface="微软雅黑" panose="020B0503020204020204" charset="-122"/>
            </a:endParaRPr>
          </a:p>
          <a:p>
            <a:pPr marL="92075" indent="-90170">
              <a:lnSpc>
                <a:spcPts val="1255"/>
              </a:lnSpc>
              <a:spcBef>
                <a:spcPts val="670"/>
              </a:spcBef>
              <a:buClr>
                <a:srgbClr val="00295F"/>
              </a:buClr>
              <a:buSzPct val="123000"/>
              <a:buFont typeface="Arial" panose="020B0604020202020204"/>
              <a:buChar char="▪"/>
              <a:tabLst>
                <a:tab pos="92075" algn="l"/>
              </a:tabLst>
            </a:pPr>
            <a:r>
              <a:rPr sz="1100" dirty="0">
                <a:latin typeface="微软雅黑" panose="020B0503020204020204" charset="-122"/>
                <a:ea typeface="微软雅黑" panose="020B0503020204020204" charset="-122"/>
                <a:cs typeface="微软雅黑" panose="020B0503020204020204" charset="-122"/>
              </a:rPr>
              <a:t>采购部部</a:t>
            </a:r>
            <a:r>
              <a:rPr sz="1100" spc="110" dirty="0">
                <a:latin typeface="微软雅黑" panose="020B0503020204020204" charset="-122"/>
                <a:ea typeface="微软雅黑" panose="020B0503020204020204" charset="-122"/>
                <a:cs typeface="微软雅黑" panose="020B0503020204020204" charset="-122"/>
              </a:rPr>
              <a:t>长</a:t>
            </a:r>
            <a:r>
              <a:rPr sz="1100" dirty="0">
                <a:latin typeface="微软雅黑" panose="020B0503020204020204" charset="-122"/>
                <a:ea typeface="微软雅黑" panose="020B0503020204020204" charset="-122"/>
                <a:cs typeface="微软雅黑" panose="020B0503020204020204" charset="-122"/>
              </a:rPr>
              <a:t>:</a:t>
            </a:r>
            <a:r>
              <a:rPr sz="1100" spc="114" dirty="0">
                <a:latin typeface="微软雅黑" panose="020B0503020204020204" charset="-122"/>
                <a:ea typeface="微软雅黑" panose="020B0503020204020204" charset="-122"/>
                <a:cs typeface="微软雅黑" panose="020B0503020204020204" charset="-122"/>
              </a:rPr>
              <a:t> </a:t>
            </a:r>
            <a:r>
              <a:rPr sz="1100" spc="-5" dirty="0">
                <a:latin typeface="微软雅黑" panose="020B0503020204020204" charset="-122"/>
                <a:ea typeface="微软雅黑" panose="020B0503020204020204" charset="-122"/>
                <a:cs typeface="微软雅黑" panose="020B0503020204020204" charset="-122"/>
              </a:rPr>
              <a:t>xxx</a:t>
            </a:r>
            <a:endParaRPr sz="1100">
              <a:latin typeface="微软雅黑" panose="020B0503020204020204" charset="-122"/>
              <a:ea typeface="微软雅黑" panose="020B0503020204020204" charset="-122"/>
              <a:cs typeface="微软雅黑" panose="020B0503020204020204" charset="-122"/>
            </a:endParaRPr>
          </a:p>
          <a:p>
            <a:pPr marL="92075" indent="-90170">
              <a:lnSpc>
                <a:spcPts val="1255"/>
              </a:lnSpc>
              <a:buClr>
                <a:srgbClr val="00295F"/>
              </a:buClr>
              <a:buSzPct val="123000"/>
              <a:buFont typeface="Arial" panose="020B0604020202020204"/>
              <a:buChar char="▪"/>
              <a:tabLst>
                <a:tab pos="92075" algn="l"/>
              </a:tabLst>
            </a:pPr>
            <a:r>
              <a:rPr sz="1100" dirty="0">
                <a:latin typeface="微软雅黑" panose="020B0503020204020204" charset="-122"/>
                <a:ea typeface="微软雅黑" panose="020B0503020204020204" charset="-122"/>
                <a:cs typeface="微软雅黑" panose="020B0503020204020204" charset="-122"/>
              </a:rPr>
              <a:t>建筑队队</a:t>
            </a:r>
            <a:r>
              <a:rPr sz="1100" spc="110" dirty="0">
                <a:latin typeface="微软雅黑" panose="020B0503020204020204" charset="-122"/>
                <a:ea typeface="微软雅黑" panose="020B0503020204020204" charset="-122"/>
                <a:cs typeface="微软雅黑" panose="020B0503020204020204" charset="-122"/>
              </a:rPr>
              <a:t>长</a:t>
            </a:r>
            <a:r>
              <a:rPr sz="1100" dirty="0">
                <a:latin typeface="微软雅黑" panose="020B0503020204020204" charset="-122"/>
                <a:ea typeface="微软雅黑" panose="020B0503020204020204" charset="-122"/>
                <a:cs typeface="微软雅黑" panose="020B0503020204020204" charset="-122"/>
              </a:rPr>
              <a:t>:</a:t>
            </a:r>
            <a:r>
              <a:rPr sz="1100" spc="114" dirty="0">
                <a:latin typeface="微软雅黑" panose="020B0503020204020204" charset="-122"/>
                <a:ea typeface="微软雅黑" panose="020B0503020204020204" charset="-122"/>
                <a:cs typeface="微软雅黑" panose="020B0503020204020204" charset="-122"/>
              </a:rPr>
              <a:t> </a:t>
            </a:r>
            <a:r>
              <a:rPr sz="1100" spc="-5" dirty="0">
                <a:latin typeface="微软雅黑" panose="020B0503020204020204" charset="-122"/>
                <a:ea typeface="微软雅黑" panose="020B0503020204020204" charset="-122"/>
                <a:cs typeface="微软雅黑" panose="020B0503020204020204" charset="-122"/>
              </a:rPr>
              <a:t>xxx</a:t>
            </a:r>
            <a:endParaRPr sz="1100">
              <a:latin typeface="微软雅黑" panose="020B0503020204020204" charset="-122"/>
              <a:ea typeface="微软雅黑" panose="020B0503020204020204" charset="-122"/>
              <a:cs typeface="微软雅黑" panose="020B0503020204020204" charset="-122"/>
            </a:endParaRPr>
          </a:p>
        </p:txBody>
      </p:sp>
      <p:sp>
        <p:nvSpPr>
          <p:cNvPr id="73" name="object 73"/>
          <p:cNvSpPr txBox="1"/>
          <p:nvPr/>
        </p:nvSpPr>
        <p:spPr>
          <a:xfrm>
            <a:off x="8469977" y="515287"/>
            <a:ext cx="278568" cy="165100"/>
          </a:xfrm>
          <a:prstGeom prst="rect">
            <a:avLst/>
          </a:prstGeom>
        </p:spPr>
        <p:txBody>
          <a:bodyPr vert="horz" wrap="square" lIns="0" tIns="12056" rIns="0" bIns="0" rtlCol="0">
            <a:spAutoFit/>
          </a:bodyPr>
          <a:lstStyle/>
          <a:p>
            <a:pPr marL="12700">
              <a:lnSpc>
                <a:spcPct val="100000"/>
              </a:lnSpc>
              <a:spcBef>
                <a:spcPts val="95"/>
              </a:spcBef>
            </a:pPr>
            <a:r>
              <a:rPr sz="1000" spc="-5" dirty="0">
                <a:solidFill>
                  <a:srgbClr val="808080"/>
                </a:solidFill>
                <a:latin typeface="微软雅黑" panose="020B0503020204020204" charset="-122"/>
                <a:ea typeface="微软雅黑" panose="020B0503020204020204" charset="-122"/>
                <a:cs typeface="微软雅黑" panose="020B0503020204020204" charset="-122"/>
              </a:rPr>
              <a:t>例示</a:t>
            </a:r>
            <a:endParaRPr sz="1000" spc="-5" dirty="0">
              <a:solidFill>
                <a:srgbClr val="808080"/>
              </a:solidFill>
              <a:latin typeface="微软雅黑" panose="020B0503020204020204" charset="-122"/>
              <a:ea typeface="微软雅黑" panose="020B0503020204020204" charset="-122"/>
              <a:cs typeface="微软雅黑" panose="020B0503020204020204" charset="-122"/>
            </a:endParaRPr>
          </a:p>
        </p:txBody>
      </p:sp>
      <p:sp>
        <p:nvSpPr>
          <p:cNvPr id="74" name="object 74"/>
          <p:cNvSpPr/>
          <p:nvPr/>
        </p:nvSpPr>
        <p:spPr>
          <a:xfrm>
            <a:off x="8453732" y="536862"/>
            <a:ext cx="0" cy="179578"/>
          </a:xfrm>
          <a:custGeom>
            <a:avLst/>
            <a:gdLst/>
            <a:ahLst/>
            <a:cxnLst/>
            <a:rect l="l" t="t" r="r" b="b"/>
            <a:pathLst>
              <a:path h="179704">
                <a:moveTo>
                  <a:pt x="0" y="0"/>
                </a:moveTo>
                <a:lnTo>
                  <a:pt x="0" y="179450"/>
                </a:lnTo>
              </a:path>
            </a:pathLst>
          </a:custGeom>
          <a:ln w="9525">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5" name="object 75"/>
          <p:cNvSpPr/>
          <p:nvPr/>
        </p:nvSpPr>
        <p:spPr>
          <a:xfrm>
            <a:off x="8454493" y="717328"/>
            <a:ext cx="281106" cy="0"/>
          </a:xfrm>
          <a:custGeom>
            <a:avLst/>
            <a:gdLst/>
            <a:ahLst/>
            <a:cxnLst/>
            <a:rect l="l" t="t" r="r" b="b"/>
            <a:pathLst>
              <a:path w="281304">
                <a:moveTo>
                  <a:pt x="0" y="0"/>
                </a:moveTo>
                <a:lnTo>
                  <a:pt x="280924" y="0"/>
                </a:lnTo>
              </a:path>
            </a:pathLst>
          </a:custGeom>
          <a:ln w="25400">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6" name="object 76"/>
          <p:cNvSpPr txBox="1"/>
          <p:nvPr/>
        </p:nvSpPr>
        <p:spPr>
          <a:xfrm>
            <a:off x="6850078" y="2252432"/>
            <a:ext cx="639445" cy="215747"/>
          </a:xfrm>
          <a:prstGeom prst="rect">
            <a:avLst/>
          </a:prstGeom>
        </p:spPr>
        <p:txBody>
          <a:bodyPr vert="vert" wrap="square" lIns="0" tIns="23478" rIns="0" bIns="0" rtlCol="0">
            <a:spAutoFit/>
          </a:bodyPr>
          <a:lstStyle/>
          <a:p>
            <a:pPr marL="12700">
              <a:lnSpc>
                <a:spcPts val="1710"/>
              </a:lnSpc>
              <a:spcBef>
                <a:spcPts val="185"/>
              </a:spcBef>
            </a:pPr>
            <a:r>
              <a:rPr sz="1500" dirty="0">
                <a:latin typeface="微软雅黑" panose="020B0503020204020204" charset="-122"/>
                <a:ea typeface="微软雅黑" panose="020B0503020204020204" charset="-122"/>
                <a:cs typeface="微软雅黑" panose="020B0503020204020204" charset="-122"/>
              </a:rPr>
              <a:t>・</a:t>
            </a:r>
            <a:endParaRPr sz="1500">
              <a:latin typeface="微软雅黑" panose="020B0503020204020204" charset="-122"/>
              <a:ea typeface="微软雅黑" panose="020B0503020204020204" charset="-122"/>
              <a:cs typeface="微软雅黑" panose="020B0503020204020204" charset="-122"/>
            </a:endParaRPr>
          </a:p>
          <a:p>
            <a:pPr marL="12700">
              <a:lnSpc>
                <a:spcPts val="1595"/>
              </a:lnSpc>
            </a:pPr>
            <a:r>
              <a:rPr sz="1500" dirty="0">
                <a:latin typeface="微软雅黑" panose="020B0503020204020204" charset="-122"/>
                <a:ea typeface="微软雅黑" panose="020B0503020204020204" charset="-122"/>
                <a:cs typeface="微软雅黑" panose="020B0503020204020204" charset="-122"/>
              </a:rPr>
              <a:t>・</a:t>
            </a:r>
            <a:endParaRPr sz="1500">
              <a:latin typeface="微软雅黑" panose="020B0503020204020204" charset="-122"/>
              <a:ea typeface="微软雅黑" panose="020B0503020204020204" charset="-122"/>
              <a:cs typeface="微软雅黑" panose="020B0503020204020204" charset="-122"/>
            </a:endParaRPr>
          </a:p>
          <a:p>
            <a:pPr marL="12700">
              <a:lnSpc>
                <a:spcPts val="1685"/>
              </a:lnSpc>
            </a:pPr>
            <a:r>
              <a:rPr sz="1500" dirty="0">
                <a:latin typeface="微软雅黑" panose="020B0503020204020204" charset="-122"/>
                <a:ea typeface="微软雅黑" panose="020B0503020204020204" charset="-122"/>
                <a:cs typeface="微软雅黑" panose="020B0503020204020204" charset="-122"/>
              </a:rPr>
              <a:t>・</a:t>
            </a:r>
            <a:endParaRPr sz="1500">
              <a:latin typeface="微软雅黑" panose="020B0503020204020204" charset="-122"/>
              <a:ea typeface="微软雅黑" panose="020B0503020204020204" charset="-122"/>
              <a:cs typeface="微软雅黑" panose="020B0503020204020204" charset="-122"/>
            </a:endParaRPr>
          </a:p>
        </p:txBody>
      </p:sp>
      <p:sp>
        <p:nvSpPr>
          <p:cNvPr id="77" name="object 77"/>
          <p:cNvSpPr/>
          <p:nvPr/>
        </p:nvSpPr>
        <p:spPr>
          <a:xfrm>
            <a:off x="6512008" y="1753675"/>
            <a:ext cx="466394" cy="263973"/>
          </a:xfrm>
          <a:custGeom>
            <a:avLst/>
            <a:gdLst/>
            <a:ahLst/>
            <a:cxnLst/>
            <a:rect l="l" t="t" r="r" b="b"/>
            <a:pathLst>
              <a:path w="466725" h="264160">
                <a:moveTo>
                  <a:pt x="0" y="263651"/>
                </a:moveTo>
                <a:lnTo>
                  <a:pt x="466344" y="263651"/>
                </a:lnTo>
                <a:lnTo>
                  <a:pt x="466344" y="0"/>
                </a:lnTo>
                <a:lnTo>
                  <a:pt x="0" y="0"/>
                </a:lnTo>
                <a:lnTo>
                  <a:pt x="0" y="263651"/>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8" name="object 78"/>
          <p:cNvSpPr/>
          <p:nvPr/>
        </p:nvSpPr>
        <p:spPr>
          <a:xfrm>
            <a:off x="6512008" y="1753675"/>
            <a:ext cx="466394" cy="263973"/>
          </a:xfrm>
          <a:custGeom>
            <a:avLst/>
            <a:gdLst/>
            <a:ahLst/>
            <a:cxnLst/>
            <a:rect l="l" t="t" r="r" b="b"/>
            <a:pathLst>
              <a:path w="466725" h="264160">
                <a:moveTo>
                  <a:pt x="0" y="263651"/>
                </a:moveTo>
                <a:lnTo>
                  <a:pt x="466344" y="263651"/>
                </a:lnTo>
                <a:lnTo>
                  <a:pt x="466344" y="0"/>
                </a:lnTo>
                <a:lnTo>
                  <a:pt x="0" y="0"/>
                </a:lnTo>
                <a:lnTo>
                  <a:pt x="0" y="263651"/>
                </a:lnTo>
                <a:close/>
              </a:path>
            </a:pathLst>
          </a:custGeom>
          <a:ln w="952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9" name="object 79"/>
          <p:cNvSpPr txBox="1"/>
          <p:nvPr/>
        </p:nvSpPr>
        <p:spPr>
          <a:xfrm>
            <a:off x="6606684" y="1694408"/>
            <a:ext cx="293162" cy="335915"/>
          </a:xfrm>
          <a:prstGeom prst="rect">
            <a:avLst/>
          </a:prstGeom>
        </p:spPr>
        <p:txBody>
          <a:bodyPr vert="horz" wrap="square" lIns="0" tIns="31727" rIns="0" bIns="0" rtlCol="0">
            <a:spAutoFit/>
          </a:bodyPr>
          <a:lstStyle/>
          <a:p>
            <a:pPr marR="5080">
              <a:lnSpc>
                <a:spcPts val="1190"/>
              </a:lnSpc>
              <a:spcBef>
                <a:spcPts val="250"/>
              </a:spcBef>
            </a:pPr>
            <a:r>
              <a:rPr sz="1100" dirty="0">
                <a:latin typeface="微软雅黑" panose="020B0503020204020204" charset="-122"/>
                <a:ea typeface="微软雅黑" panose="020B0503020204020204" charset="-122"/>
                <a:cs typeface="微软雅黑" panose="020B0503020204020204" charset="-122"/>
              </a:rPr>
              <a:t>建筑 队</a:t>
            </a:r>
            <a:endParaRPr sz="1100" dirty="0">
              <a:latin typeface="微软雅黑" panose="020B0503020204020204" charset="-122"/>
              <a:ea typeface="微软雅黑" panose="020B0503020204020204" charset="-122"/>
              <a:cs typeface="微软雅黑" panose="020B0503020204020204" charset="-122"/>
            </a:endParaRPr>
          </a:p>
        </p:txBody>
      </p:sp>
      <p:sp>
        <p:nvSpPr>
          <p:cNvPr id="80" name="object 80"/>
          <p:cNvSpPr txBox="1"/>
          <p:nvPr/>
        </p:nvSpPr>
        <p:spPr>
          <a:xfrm>
            <a:off x="7753188" y="1430816"/>
            <a:ext cx="466394" cy="196850"/>
          </a:xfrm>
          <a:prstGeom prst="rect">
            <a:avLst/>
          </a:prstGeom>
          <a:solidFill>
            <a:srgbClr val="C6DFFA"/>
          </a:solidFill>
          <a:ln w="9525">
            <a:solidFill>
              <a:srgbClr val="000000"/>
            </a:solidFill>
          </a:ln>
        </p:spPr>
        <p:txBody>
          <a:bodyPr vert="horz" wrap="square" lIns="0" tIns="28554" rIns="0" bIns="0" rtlCol="0">
            <a:spAutoFit/>
          </a:bodyPr>
          <a:lstStyle/>
          <a:p>
            <a:pPr marL="59055">
              <a:lnSpc>
                <a:spcPct val="100000"/>
              </a:lnSpc>
              <a:spcBef>
                <a:spcPts val="225"/>
              </a:spcBef>
            </a:pPr>
            <a:r>
              <a:rPr sz="1100" dirty="0">
                <a:latin typeface="微软雅黑" panose="020B0503020204020204" charset="-122"/>
                <a:ea typeface="微软雅黑" panose="020B0503020204020204" charset="-122"/>
                <a:cs typeface="微软雅黑" panose="020B0503020204020204" charset="-122"/>
              </a:rPr>
              <a:t>财</a:t>
            </a:r>
            <a:r>
              <a:rPr sz="1100" spc="215" dirty="0">
                <a:latin typeface="微软雅黑" panose="020B0503020204020204" charset="-122"/>
                <a:ea typeface="微软雅黑" panose="020B0503020204020204" charset="-122"/>
                <a:cs typeface="微软雅黑" panose="020B0503020204020204" charset="-122"/>
              </a:rPr>
              <a:t> </a:t>
            </a:r>
            <a:r>
              <a:rPr sz="1100" dirty="0">
                <a:latin typeface="微软雅黑" panose="020B0503020204020204" charset="-122"/>
                <a:ea typeface="微软雅黑" panose="020B0503020204020204" charset="-122"/>
                <a:cs typeface="微软雅黑" panose="020B0503020204020204" charset="-122"/>
              </a:rPr>
              <a:t>务</a:t>
            </a:r>
            <a:endParaRPr sz="1100">
              <a:latin typeface="微软雅黑" panose="020B0503020204020204" charset="-122"/>
              <a:ea typeface="微软雅黑" panose="020B0503020204020204" charset="-122"/>
              <a:cs typeface="微软雅黑" panose="020B0503020204020204" charset="-122"/>
            </a:endParaRPr>
          </a:p>
        </p:txBody>
      </p:sp>
      <p:sp>
        <p:nvSpPr>
          <p:cNvPr id="81" name="object 81"/>
          <p:cNvSpPr txBox="1"/>
          <p:nvPr/>
        </p:nvSpPr>
        <p:spPr>
          <a:xfrm>
            <a:off x="7131838" y="1753675"/>
            <a:ext cx="467664" cy="197485"/>
          </a:xfrm>
          <a:prstGeom prst="rect">
            <a:avLst/>
          </a:prstGeom>
          <a:solidFill>
            <a:srgbClr val="C6DFFA"/>
          </a:solidFill>
          <a:ln w="9525">
            <a:solidFill>
              <a:srgbClr val="000000"/>
            </a:solidFill>
          </a:ln>
        </p:spPr>
        <p:txBody>
          <a:bodyPr vert="horz" wrap="square" lIns="0" tIns="29188" rIns="0" bIns="0" rtlCol="0">
            <a:spAutoFit/>
          </a:bodyPr>
          <a:lstStyle/>
          <a:p>
            <a:pPr marL="60325">
              <a:lnSpc>
                <a:spcPct val="100000"/>
              </a:lnSpc>
              <a:spcBef>
                <a:spcPts val="230"/>
              </a:spcBef>
            </a:pPr>
            <a:r>
              <a:rPr sz="1100" spc="5" dirty="0">
                <a:latin typeface="微软雅黑" panose="020B0503020204020204" charset="-122"/>
                <a:ea typeface="微软雅黑" panose="020B0503020204020204" charset="-122"/>
                <a:cs typeface="微软雅黑" panose="020B0503020204020204" charset="-122"/>
              </a:rPr>
              <a:t>采</a:t>
            </a:r>
            <a:r>
              <a:rPr sz="1100" spc="210" dirty="0">
                <a:latin typeface="微软雅黑" panose="020B0503020204020204" charset="-122"/>
                <a:ea typeface="微软雅黑" panose="020B0503020204020204" charset="-122"/>
                <a:cs typeface="微软雅黑" panose="020B0503020204020204" charset="-122"/>
              </a:rPr>
              <a:t> </a:t>
            </a:r>
            <a:r>
              <a:rPr sz="1100" spc="5" dirty="0">
                <a:latin typeface="微软雅黑" panose="020B0503020204020204" charset="-122"/>
                <a:ea typeface="微软雅黑" panose="020B0503020204020204" charset="-122"/>
                <a:cs typeface="微软雅黑" panose="020B0503020204020204" charset="-122"/>
              </a:rPr>
              <a:t>购</a:t>
            </a:r>
            <a:endParaRPr sz="1100">
              <a:latin typeface="微软雅黑" panose="020B0503020204020204" charset="-122"/>
              <a:ea typeface="微软雅黑" panose="020B0503020204020204" charset="-122"/>
              <a:cs typeface="微软雅黑" panose="020B0503020204020204" charset="-122"/>
            </a:endParaRPr>
          </a:p>
        </p:txBody>
      </p:sp>
      <p:sp>
        <p:nvSpPr>
          <p:cNvPr id="82" name="object 82"/>
          <p:cNvSpPr/>
          <p:nvPr/>
        </p:nvSpPr>
        <p:spPr>
          <a:xfrm>
            <a:off x="7753188" y="1753675"/>
            <a:ext cx="466394" cy="263973"/>
          </a:xfrm>
          <a:custGeom>
            <a:avLst/>
            <a:gdLst/>
            <a:ahLst/>
            <a:cxnLst/>
            <a:rect l="l" t="t" r="r" b="b"/>
            <a:pathLst>
              <a:path w="466725" h="264160">
                <a:moveTo>
                  <a:pt x="0" y="263651"/>
                </a:moveTo>
                <a:lnTo>
                  <a:pt x="466344" y="263651"/>
                </a:lnTo>
                <a:lnTo>
                  <a:pt x="466344" y="0"/>
                </a:lnTo>
                <a:lnTo>
                  <a:pt x="0" y="0"/>
                </a:lnTo>
                <a:lnTo>
                  <a:pt x="0" y="263651"/>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83" name="object 83"/>
          <p:cNvSpPr/>
          <p:nvPr/>
        </p:nvSpPr>
        <p:spPr>
          <a:xfrm>
            <a:off x="7753188" y="1753675"/>
            <a:ext cx="466394" cy="263973"/>
          </a:xfrm>
          <a:custGeom>
            <a:avLst/>
            <a:gdLst/>
            <a:ahLst/>
            <a:cxnLst/>
            <a:rect l="l" t="t" r="r" b="b"/>
            <a:pathLst>
              <a:path w="466725" h="264160">
                <a:moveTo>
                  <a:pt x="0" y="263651"/>
                </a:moveTo>
                <a:lnTo>
                  <a:pt x="466344" y="263651"/>
                </a:lnTo>
                <a:lnTo>
                  <a:pt x="466344" y="0"/>
                </a:lnTo>
                <a:lnTo>
                  <a:pt x="0" y="0"/>
                </a:lnTo>
                <a:lnTo>
                  <a:pt x="0" y="263651"/>
                </a:lnTo>
                <a:close/>
              </a:path>
            </a:pathLst>
          </a:custGeom>
          <a:ln w="952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84" name="object 84"/>
          <p:cNvSpPr txBox="1"/>
          <p:nvPr/>
        </p:nvSpPr>
        <p:spPr>
          <a:xfrm>
            <a:off x="7847609" y="1694408"/>
            <a:ext cx="293162" cy="335915"/>
          </a:xfrm>
          <a:prstGeom prst="rect">
            <a:avLst/>
          </a:prstGeom>
        </p:spPr>
        <p:txBody>
          <a:bodyPr vert="horz" wrap="square" lIns="0" tIns="31727" rIns="0" bIns="0" rtlCol="0">
            <a:spAutoFit/>
          </a:bodyPr>
          <a:lstStyle/>
          <a:p>
            <a:pPr marR="5080">
              <a:lnSpc>
                <a:spcPts val="1190"/>
              </a:lnSpc>
              <a:spcBef>
                <a:spcPts val="250"/>
              </a:spcBef>
            </a:pPr>
            <a:r>
              <a:rPr sz="1100" dirty="0">
                <a:latin typeface="微软雅黑" panose="020B0503020204020204" charset="-122"/>
                <a:ea typeface="微软雅黑" panose="020B0503020204020204" charset="-122"/>
                <a:cs typeface="微软雅黑" panose="020B0503020204020204" charset="-122"/>
              </a:rPr>
              <a:t>经营 层</a:t>
            </a:r>
            <a:endParaRPr sz="1100" dirty="0">
              <a:latin typeface="微软雅黑" panose="020B0503020204020204" charset="-122"/>
              <a:ea typeface="微软雅黑" panose="020B0503020204020204" charset="-122"/>
              <a:cs typeface="微软雅黑" panose="020B0503020204020204" charset="-122"/>
            </a:endParaRPr>
          </a:p>
        </p:txBody>
      </p:sp>
      <p:sp>
        <p:nvSpPr>
          <p:cNvPr id="85" name="object 85"/>
          <p:cNvSpPr/>
          <p:nvPr/>
        </p:nvSpPr>
        <p:spPr>
          <a:xfrm>
            <a:off x="6707703" y="2017902"/>
            <a:ext cx="668181" cy="163714"/>
          </a:xfrm>
          <a:custGeom>
            <a:avLst/>
            <a:gdLst/>
            <a:ahLst/>
            <a:cxnLst/>
            <a:rect l="l" t="t" r="r" b="b"/>
            <a:pathLst>
              <a:path w="668654" h="163830">
                <a:moveTo>
                  <a:pt x="47625" y="65024"/>
                </a:moveTo>
                <a:lnTo>
                  <a:pt x="28575" y="65024"/>
                </a:lnTo>
                <a:lnTo>
                  <a:pt x="28575" y="163449"/>
                </a:lnTo>
                <a:lnTo>
                  <a:pt x="668401" y="163449"/>
                </a:lnTo>
                <a:lnTo>
                  <a:pt x="668401" y="153924"/>
                </a:lnTo>
                <a:lnTo>
                  <a:pt x="47625" y="153924"/>
                </a:lnTo>
                <a:lnTo>
                  <a:pt x="38100" y="144399"/>
                </a:lnTo>
                <a:lnTo>
                  <a:pt x="47625" y="144399"/>
                </a:lnTo>
                <a:lnTo>
                  <a:pt x="47625" y="65024"/>
                </a:lnTo>
                <a:close/>
              </a:path>
              <a:path w="668654" h="163830">
                <a:moveTo>
                  <a:pt x="47625" y="144399"/>
                </a:moveTo>
                <a:lnTo>
                  <a:pt x="38100" y="144399"/>
                </a:lnTo>
                <a:lnTo>
                  <a:pt x="47625" y="153924"/>
                </a:lnTo>
                <a:lnTo>
                  <a:pt x="47625" y="144399"/>
                </a:lnTo>
                <a:close/>
              </a:path>
              <a:path w="668654" h="163830">
                <a:moveTo>
                  <a:pt x="649351" y="144399"/>
                </a:moveTo>
                <a:lnTo>
                  <a:pt x="47625" y="144399"/>
                </a:lnTo>
                <a:lnTo>
                  <a:pt x="47625" y="153924"/>
                </a:lnTo>
                <a:lnTo>
                  <a:pt x="649351" y="153924"/>
                </a:lnTo>
                <a:lnTo>
                  <a:pt x="649351" y="144399"/>
                </a:lnTo>
                <a:close/>
              </a:path>
              <a:path w="668654" h="163830">
                <a:moveTo>
                  <a:pt x="668401" y="0"/>
                </a:moveTo>
                <a:lnTo>
                  <a:pt x="649351" y="0"/>
                </a:lnTo>
                <a:lnTo>
                  <a:pt x="649351" y="153924"/>
                </a:lnTo>
                <a:lnTo>
                  <a:pt x="658876" y="144399"/>
                </a:lnTo>
                <a:lnTo>
                  <a:pt x="668401" y="144399"/>
                </a:lnTo>
                <a:lnTo>
                  <a:pt x="668401" y="0"/>
                </a:lnTo>
                <a:close/>
              </a:path>
              <a:path w="668654" h="163830">
                <a:moveTo>
                  <a:pt x="668401" y="144399"/>
                </a:moveTo>
                <a:lnTo>
                  <a:pt x="658876" y="144399"/>
                </a:lnTo>
                <a:lnTo>
                  <a:pt x="649351" y="153924"/>
                </a:lnTo>
                <a:lnTo>
                  <a:pt x="668401" y="153924"/>
                </a:lnTo>
                <a:lnTo>
                  <a:pt x="668401" y="144399"/>
                </a:lnTo>
                <a:close/>
              </a:path>
              <a:path w="668654" h="163830">
                <a:moveTo>
                  <a:pt x="38100" y="1524"/>
                </a:moveTo>
                <a:lnTo>
                  <a:pt x="0" y="77724"/>
                </a:lnTo>
                <a:lnTo>
                  <a:pt x="28575" y="77724"/>
                </a:lnTo>
                <a:lnTo>
                  <a:pt x="28575" y="65024"/>
                </a:lnTo>
                <a:lnTo>
                  <a:pt x="69850" y="65024"/>
                </a:lnTo>
                <a:lnTo>
                  <a:pt x="38100" y="1524"/>
                </a:lnTo>
                <a:close/>
              </a:path>
              <a:path w="668654" h="163830">
                <a:moveTo>
                  <a:pt x="69850" y="65024"/>
                </a:moveTo>
                <a:lnTo>
                  <a:pt x="47625" y="65024"/>
                </a:lnTo>
                <a:lnTo>
                  <a:pt x="47625" y="77724"/>
                </a:lnTo>
                <a:lnTo>
                  <a:pt x="76200" y="77724"/>
                </a:lnTo>
                <a:lnTo>
                  <a:pt x="69850" y="65024"/>
                </a:lnTo>
                <a:close/>
              </a:path>
            </a:pathLst>
          </a:custGeom>
          <a:solidFill>
            <a:srgbClr val="00000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86" name="object 86"/>
          <p:cNvSpPr/>
          <p:nvPr/>
        </p:nvSpPr>
        <p:spPr>
          <a:xfrm>
            <a:off x="7356088" y="1524476"/>
            <a:ext cx="396594" cy="230341"/>
          </a:xfrm>
          <a:custGeom>
            <a:avLst/>
            <a:gdLst/>
            <a:ahLst/>
            <a:cxnLst/>
            <a:rect l="l" t="t" r="r" b="b"/>
            <a:pathLst>
              <a:path w="396875" h="230505">
                <a:moveTo>
                  <a:pt x="19050" y="154050"/>
                </a:moveTo>
                <a:lnTo>
                  <a:pt x="0" y="154050"/>
                </a:lnTo>
                <a:lnTo>
                  <a:pt x="0" y="230250"/>
                </a:lnTo>
                <a:lnTo>
                  <a:pt x="19050" y="230250"/>
                </a:lnTo>
                <a:lnTo>
                  <a:pt x="19050" y="154050"/>
                </a:lnTo>
                <a:close/>
              </a:path>
              <a:path w="396875" h="230505">
                <a:moveTo>
                  <a:pt x="26924" y="28575"/>
                </a:moveTo>
                <a:lnTo>
                  <a:pt x="0" y="28575"/>
                </a:lnTo>
                <a:lnTo>
                  <a:pt x="0" y="96900"/>
                </a:lnTo>
                <a:lnTo>
                  <a:pt x="19050" y="96900"/>
                </a:lnTo>
                <a:lnTo>
                  <a:pt x="19050" y="47625"/>
                </a:lnTo>
                <a:lnTo>
                  <a:pt x="9525" y="47625"/>
                </a:lnTo>
                <a:lnTo>
                  <a:pt x="19050" y="38100"/>
                </a:lnTo>
                <a:lnTo>
                  <a:pt x="26924" y="38100"/>
                </a:lnTo>
                <a:lnTo>
                  <a:pt x="26924" y="28575"/>
                </a:lnTo>
                <a:close/>
              </a:path>
              <a:path w="396875" h="230505">
                <a:moveTo>
                  <a:pt x="19050" y="38100"/>
                </a:moveTo>
                <a:lnTo>
                  <a:pt x="9525" y="47625"/>
                </a:lnTo>
                <a:lnTo>
                  <a:pt x="19050" y="47625"/>
                </a:lnTo>
                <a:lnTo>
                  <a:pt x="19050" y="38100"/>
                </a:lnTo>
                <a:close/>
              </a:path>
              <a:path w="396875" h="230505">
                <a:moveTo>
                  <a:pt x="26924" y="38100"/>
                </a:moveTo>
                <a:lnTo>
                  <a:pt x="19050" y="38100"/>
                </a:lnTo>
                <a:lnTo>
                  <a:pt x="19050" y="47625"/>
                </a:lnTo>
                <a:lnTo>
                  <a:pt x="26924" y="47625"/>
                </a:lnTo>
                <a:lnTo>
                  <a:pt x="26924" y="38100"/>
                </a:lnTo>
                <a:close/>
              </a:path>
              <a:path w="396875" h="230505">
                <a:moveTo>
                  <a:pt x="160274" y="28575"/>
                </a:moveTo>
                <a:lnTo>
                  <a:pt x="84074" y="28575"/>
                </a:lnTo>
                <a:lnTo>
                  <a:pt x="84074" y="47625"/>
                </a:lnTo>
                <a:lnTo>
                  <a:pt x="160274" y="47625"/>
                </a:lnTo>
                <a:lnTo>
                  <a:pt x="160274" y="28575"/>
                </a:lnTo>
                <a:close/>
              </a:path>
              <a:path w="396875" h="230505">
                <a:moveTo>
                  <a:pt x="293624" y="28575"/>
                </a:moveTo>
                <a:lnTo>
                  <a:pt x="217424" y="28575"/>
                </a:lnTo>
                <a:lnTo>
                  <a:pt x="217424" y="47625"/>
                </a:lnTo>
                <a:lnTo>
                  <a:pt x="293624" y="47625"/>
                </a:lnTo>
                <a:lnTo>
                  <a:pt x="293624" y="28575"/>
                </a:lnTo>
                <a:close/>
              </a:path>
              <a:path w="396875" h="230505">
                <a:moveTo>
                  <a:pt x="320675" y="0"/>
                </a:moveTo>
                <a:lnTo>
                  <a:pt x="320675" y="76200"/>
                </a:lnTo>
                <a:lnTo>
                  <a:pt x="396875" y="38100"/>
                </a:lnTo>
                <a:lnTo>
                  <a:pt x="320675" y="0"/>
                </a:lnTo>
                <a:close/>
              </a:path>
            </a:pathLst>
          </a:custGeom>
          <a:solidFill>
            <a:srgbClr val="00000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87" name="object 87"/>
          <p:cNvSpPr/>
          <p:nvPr/>
        </p:nvSpPr>
        <p:spPr>
          <a:xfrm>
            <a:off x="6978784" y="1850381"/>
            <a:ext cx="153815" cy="76146"/>
          </a:xfrm>
          <a:prstGeom prst="rect">
            <a:avLst/>
          </a:prstGeom>
          <a:blipFill>
            <a:blip r:embed="rId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88" name="object 88"/>
          <p:cNvSpPr/>
          <p:nvPr/>
        </p:nvSpPr>
        <p:spPr>
          <a:xfrm>
            <a:off x="7600135" y="1850381"/>
            <a:ext cx="153815" cy="76146"/>
          </a:xfrm>
          <a:prstGeom prst="rect">
            <a:avLst/>
          </a:prstGeom>
          <a:blipFill>
            <a:blip r:embed="rId2"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89" name="object 89"/>
          <p:cNvSpPr/>
          <p:nvPr/>
        </p:nvSpPr>
        <p:spPr>
          <a:xfrm>
            <a:off x="4568762" y="2617171"/>
            <a:ext cx="3738770" cy="1583838"/>
          </a:xfrm>
          <a:custGeom>
            <a:avLst/>
            <a:gdLst/>
            <a:ahLst/>
            <a:cxnLst/>
            <a:rect l="l" t="t" r="r" b="b"/>
            <a:pathLst>
              <a:path w="3741420" h="1584960">
                <a:moveTo>
                  <a:pt x="0" y="1584960"/>
                </a:moveTo>
                <a:lnTo>
                  <a:pt x="3741420" y="1584960"/>
                </a:lnTo>
                <a:lnTo>
                  <a:pt x="3741420" y="0"/>
                </a:lnTo>
                <a:lnTo>
                  <a:pt x="0" y="0"/>
                </a:lnTo>
                <a:lnTo>
                  <a:pt x="0" y="1584960"/>
                </a:lnTo>
                <a:close/>
              </a:path>
            </a:pathLst>
          </a:custGeom>
          <a:ln w="952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90" name="object 90"/>
          <p:cNvSpPr/>
          <p:nvPr/>
        </p:nvSpPr>
        <p:spPr>
          <a:xfrm>
            <a:off x="6437385" y="2818197"/>
            <a:ext cx="0" cy="1381416"/>
          </a:xfrm>
          <a:custGeom>
            <a:avLst/>
            <a:gdLst/>
            <a:ahLst/>
            <a:cxnLst/>
            <a:rect l="l" t="t" r="r" b="b"/>
            <a:pathLst>
              <a:path h="1382395">
                <a:moveTo>
                  <a:pt x="0" y="0"/>
                </a:moveTo>
                <a:lnTo>
                  <a:pt x="0" y="1382267"/>
                </a:lnTo>
              </a:path>
            </a:pathLst>
          </a:custGeom>
          <a:ln w="9525">
            <a:solidFill>
              <a:srgbClr val="000000"/>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91" name="object 91"/>
          <p:cNvSpPr txBox="1"/>
          <p:nvPr/>
        </p:nvSpPr>
        <p:spPr>
          <a:xfrm>
            <a:off x="4568762" y="2617171"/>
            <a:ext cx="3738770" cy="190500"/>
          </a:xfrm>
          <a:prstGeom prst="rect">
            <a:avLst/>
          </a:prstGeom>
          <a:solidFill>
            <a:srgbClr val="00295F"/>
          </a:solidFill>
          <a:ln w="9525">
            <a:solidFill>
              <a:srgbClr val="000000"/>
            </a:solidFill>
          </a:ln>
        </p:spPr>
        <p:txBody>
          <a:bodyPr vert="horz" wrap="square" lIns="0" tIns="0" rIns="0" bIns="0" rtlCol="0">
            <a:spAutoFit/>
          </a:bodyPr>
          <a:lstStyle/>
          <a:p>
            <a:pPr marL="72390">
              <a:lnSpc>
                <a:spcPts val="1490"/>
              </a:lnSpc>
            </a:pPr>
            <a:r>
              <a:rPr sz="1500" b="1" spc="5" dirty="0">
                <a:solidFill>
                  <a:srgbClr val="FFFFFF"/>
                </a:solidFill>
                <a:latin typeface="微软雅黑" panose="020B0503020204020204" charset="-122"/>
                <a:ea typeface="微软雅黑" panose="020B0503020204020204" charset="-122"/>
                <a:cs typeface="微软雅黑" panose="020B0503020204020204" charset="-122"/>
              </a:rPr>
              <a:t>顾客需求</a:t>
            </a:r>
            <a:endParaRPr sz="1500" b="1" spc="5"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92" name="object 92"/>
          <p:cNvSpPr/>
          <p:nvPr/>
        </p:nvSpPr>
        <p:spPr>
          <a:xfrm>
            <a:off x="4568762" y="4287815"/>
            <a:ext cx="3738770" cy="1583838"/>
          </a:xfrm>
          <a:custGeom>
            <a:avLst/>
            <a:gdLst/>
            <a:ahLst/>
            <a:cxnLst/>
            <a:rect l="l" t="t" r="r" b="b"/>
            <a:pathLst>
              <a:path w="3741420" h="1584960">
                <a:moveTo>
                  <a:pt x="0" y="1584959"/>
                </a:moveTo>
                <a:lnTo>
                  <a:pt x="3741420" y="1584959"/>
                </a:lnTo>
                <a:lnTo>
                  <a:pt x="3741420" y="0"/>
                </a:lnTo>
                <a:lnTo>
                  <a:pt x="0" y="0"/>
                </a:lnTo>
                <a:lnTo>
                  <a:pt x="0" y="1584959"/>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93" name="object 93"/>
          <p:cNvSpPr/>
          <p:nvPr/>
        </p:nvSpPr>
        <p:spPr>
          <a:xfrm>
            <a:off x="6437385" y="4488841"/>
            <a:ext cx="0" cy="1381416"/>
          </a:xfrm>
          <a:custGeom>
            <a:avLst/>
            <a:gdLst/>
            <a:ahLst/>
            <a:cxnLst/>
            <a:rect l="l" t="t" r="r" b="b"/>
            <a:pathLst>
              <a:path h="1382395">
                <a:moveTo>
                  <a:pt x="0" y="0"/>
                </a:moveTo>
                <a:lnTo>
                  <a:pt x="0" y="1382268"/>
                </a:lnTo>
              </a:path>
            </a:pathLst>
          </a:custGeom>
          <a:ln w="9525">
            <a:solidFill>
              <a:srgbClr val="000000"/>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94" name="object 94"/>
          <p:cNvSpPr txBox="1"/>
          <p:nvPr/>
        </p:nvSpPr>
        <p:spPr>
          <a:xfrm>
            <a:off x="4568762" y="4287815"/>
            <a:ext cx="3738770" cy="191135"/>
          </a:xfrm>
          <a:prstGeom prst="rect">
            <a:avLst/>
          </a:prstGeom>
          <a:solidFill>
            <a:srgbClr val="00295F"/>
          </a:solidFill>
          <a:ln w="9525">
            <a:solidFill>
              <a:srgbClr val="000000"/>
            </a:solidFill>
          </a:ln>
        </p:spPr>
        <p:txBody>
          <a:bodyPr vert="horz" wrap="square" lIns="0" tIns="0" rIns="0" bIns="0" rtlCol="0">
            <a:spAutoFit/>
          </a:bodyPr>
          <a:lstStyle/>
          <a:p>
            <a:pPr marL="72390">
              <a:lnSpc>
                <a:spcPts val="1495"/>
              </a:lnSpc>
            </a:pPr>
            <a:r>
              <a:rPr sz="1500" b="1" spc="5" dirty="0">
                <a:solidFill>
                  <a:srgbClr val="FFFFFF"/>
                </a:solidFill>
                <a:latin typeface="微软雅黑" panose="020B0503020204020204" charset="-122"/>
                <a:ea typeface="微软雅黑" panose="020B0503020204020204" charset="-122"/>
                <a:cs typeface="微软雅黑" panose="020B0503020204020204" charset="-122"/>
              </a:rPr>
              <a:t>风险分析</a:t>
            </a:r>
            <a:endParaRPr sz="1500" b="1" spc="5"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95" name="object 95"/>
          <p:cNvSpPr txBox="1"/>
          <p:nvPr/>
        </p:nvSpPr>
        <p:spPr>
          <a:xfrm>
            <a:off x="6512008" y="2835330"/>
            <a:ext cx="1719631" cy="181610"/>
          </a:xfrm>
          <a:prstGeom prst="rect">
            <a:avLst/>
          </a:prstGeom>
        </p:spPr>
        <p:txBody>
          <a:bodyPr vert="horz" wrap="square" lIns="0" tIns="13325" rIns="0" bIns="0" rtlCol="0">
            <a:spAutoFit/>
          </a:bodyPr>
          <a:lstStyle/>
          <a:p>
            <a:pPr>
              <a:lnSpc>
                <a:spcPct val="100000"/>
              </a:lnSpc>
              <a:spcBef>
                <a:spcPts val="105"/>
              </a:spcBef>
              <a:tabLst>
                <a:tab pos="1706880" algn="l"/>
              </a:tabLst>
            </a:pPr>
            <a:r>
              <a:rPr sz="1100" b="1" u="sng" spc="-270" dirty="0">
                <a:uFill>
                  <a:solidFill>
                    <a:srgbClr val="000000"/>
                  </a:solidFill>
                </a:uFill>
                <a:latin typeface="微软雅黑" panose="020B0503020204020204" charset="-122"/>
                <a:ea typeface="微软雅黑" panose="020B0503020204020204" charset="-122"/>
                <a:cs typeface="微软雅黑" panose="020B0503020204020204" charset="-122"/>
              </a:rPr>
              <a:t> </a:t>
            </a:r>
            <a:r>
              <a:rPr sz="1100" b="1" u="sng" spc="10" dirty="0">
                <a:uFill>
                  <a:solidFill>
                    <a:srgbClr val="000000"/>
                  </a:solidFill>
                </a:uFill>
                <a:latin typeface="微软雅黑" panose="020B0503020204020204" charset="-122"/>
                <a:ea typeface="微软雅黑" panose="020B0503020204020204" charset="-122"/>
                <a:cs typeface="微软雅黑" panose="020B0503020204020204" charset="-122"/>
              </a:rPr>
              <a:t>竞争</a:t>
            </a:r>
            <a:r>
              <a:rPr sz="1100" b="1" u="sng" dirty="0">
                <a:uFill>
                  <a:solidFill>
                    <a:srgbClr val="000000"/>
                  </a:solidFill>
                </a:uFill>
                <a:latin typeface="微软雅黑" panose="020B0503020204020204" charset="-122"/>
                <a:ea typeface="微软雅黑" panose="020B0503020204020204" charset="-122"/>
                <a:cs typeface="微软雅黑" panose="020B0503020204020204" charset="-122"/>
              </a:rPr>
              <a:t>状况	</a:t>
            </a:r>
            <a:endParaRPr sz="1100">
              <a:latin typeface="微软雅黑" panose="020B0503020204020204" charset="-122"/>
              <a:ea typeface="微软雅黑" panose="020B0503020204020204" charset="-122"/>
              <a:cs typeface="微软雅黑" panose="020B0503020204020204" charset="-122"/>
            </a:endParaRPr>
          </a:p>
        </p:txBody>
      </p:sp>
      <p:sp>
        <p:nvSpPr>
          <p:cNvPr id="96" name="object 96"/>
          <p:cNvSpPr/>
          <p:nvPr/>
        </p:nvSpPr>
        <p:spPr>
          <a:xfrm>
            <a:off x="6047327" y="3139342"/>
            <a:ext cx="154195" cy="152672"/>
          </a:xfrm>
          <a:prstGeom prst="rect">
            <a:avLst/>
          </a:prstGeom>
          <a:blipFill>
            <a:blip r:embed="rId3"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97" name="object 97"/>
          <p:cNvSpPr/>
          <p:nvPr/>
        </p:nvSpPr>
        <p:spPr>
          <a:xfrm>
            <a:off x="6047327" y="3393670"/>
            <a:ext cx="154195" cy="154196"/>
          </a:xfrm>
          <a:prstGeom prst="rect">
            <a:avLst/>
          </a:prstGeom>
          <a:blipFill>
            <a:blip r:embed="rId4"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98" name="object 98"/>
          <p:cNvSpPr/>
          <p:nvPr/>
        </p:nvSpPr>
        <p:spPr>
          <a:xfrm>
            <a:off x="6047327" y="3651044"/>
            <a:ext cx="154195" cy="154195"/>
          </a:xfrm>
          <a:prstGeom prst="rect">
            <a:avLst/>
          </a:prstGeom>
          <a:blipFill>
            <a:blip r:embed="rId5"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99" name="object 99"/>
          <p:cNvSpPr/>
          <p:nvPr/>
        </p:nvSpPr>
        <p:spPr>
          <a:xfrm>
            <a:off x="4641862" y="3343605"/>
            <a:ext cx="1708844" cy="0"/>
          </a:xfrm>
          <a:custGeom>
            <a:avLst/>
            <a:gdLst/>
            <a:ahLst/>
            <a:cxnLst/>
            <a:rect l="l" t="t" r="r" b="b"/>
            <a:pathLst>
              <a:path w="1710054">
                <a:moveTo>
                  <a:pt x="0" y="0"/>
                </a:moveTo>
                <a:lnTo>
                  <a:pt x="1709927" y="0"/>
                </a:lnTo>
              </a:path>
            </a:pathLst>
          </a:custGeom>
          <a:ln w="952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00" name="object 100"/>
          <p:cNvSpPr/>
          <p:nvPr/>
        </p:nvSpPr>
        <p:spPr>
          <a:xfrm>
            <a:off x="4641862" y="3599454"/>
            <a:ext cx="1708844" cy="0"/>
          </a:xfrm>
          <a:custGeom>
            <a:avLst/>
            <a:gdLst/>
            <a:ahLst/>
            <a:cxnLst/>
            <a:rect l="l" t="t" r="r" b="b"/>
            <a:pathLst>
              <a:path w="1710054">
                <a:moveTo>
                  <a:pt x="0" y="0"/>
                </a:moveTo>
                <a:lnTo>
                  <a:pt x="1709927" y="0"/>
                </a:lnTo>
              </a:path>
            </a:pathLst>
          </a:custGeom>
          <a:ln w="952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01" name="object 101"/>
          <p:cNvSpPr txBox="1"/>
          <p:nvPr/>
        </p:nvSpPr>
        <p:spPr>
          <a:xfrm>
            <a:off x="5139199" y="3851753"/>
            <a:ext cx="469265" cy="166252"/>
          </a:xfrm>
          <a:prstGeom prst="rect">
            <a:avLst/>
          </a:prstGeom>
        </p:spPr>
        <p:txBody>
          <a:bodyPr vert="vert" wrap="square" lIns="0" tIns="20940" rIns="0" bIns="0" rtlCol="0">
            <a:spAutoFit/>
          </a:bodyPr>
          <a:lstStyle/>
          <a:p>
            <a:pPr marL="12700">
              <a:lnSpc>
                <a:spcPts val="1255"/>
              </a:lnSpc>
              <a:spcBef>
                <a:spcPts val="165"/>
              </a:spcBef>
            </a:pPr>
            <a:r>
              <a:rPr sz="1100" dirty="0">
                <a:latin typeface="微软雅黑" panose="020B0503020204020204" charset="-122"/>
                <a:ea typeface="微软雅黑" panose="020B0503020204020204" charset="-122"/>
                <a:cs typeface="微软雅黑" panose="020B0503020204020204" charset="-122"/>
              </a:rPr>
              <a:t>・</a:t>
            </a:r>
            <a:endParaRPr sz="1100">
              <a:latin typeface="微软雅黑" panose="020B0503020204020204" charset="-122"/>
              <a:ea typeface="微软雅黑" panose="020B0503020204020204" charset="-122"/>
              <a:cs typeface="微软雅黑" panose="020B0503020204020204" charset="-122"/>
            </a:endParaRPr>
          </a:p>
          <a:p>
            <a:pPr marL="12700">
              <a:lnSpc>
                <a:spcPts val="1170"/>
              </a:lnSpc>
            </a:pPr>
            <a:r>
              <a:rPr sz="1100" dirty="0">
                <a:latin typeface="微软雅黑" panose="020B0503020204020204" charset="-122"/>
                <a:ea typeface="微软雅黑" panose="020B0503020204020204" charset="-122"/>
                <a:cs typeface="微软雅黑" panose="020B0503020204020204" charset="-122"/>
              </a:rPr>
              <a:t>・</a:t>
            </a:r>
            <a:endParaRPr sz="1100">
              <a:latin typeface="微软雅黑" panose="020B0503020204020204" charset="-122"/>
              <a:ea typeface="微软雅黑" panose="020B0503020204020204" charset="-122"/>
              <a:cs typeface="微软雅黑" panose="020B0503020204020204" charset="-122"/>
            </a:endParaRPr>
          </a:p>
          <a:p>
            <a:pPr marL="12700">
              <a:lnSpc>
                <a:spcPts val="1235"/>
              </a:lnSpc>
            </a:pPr>
            <a:r>
              <a:rPr sz="1100" dirty="0">
                <a:latin typeface="微软雅黑" panose="020B0503020204020204" charset="-122"/>
                <a:ea typeface="微软雅黑" panose="020B0503020204020204" charset="-122"/>
                <a:cs typeface="微软雅黑" panose="020B0503020204020204" charset="-122"/>
              </a:rPr>
              <a:t>・</a:t>
            </a:r>
            <a:endParaRPr sz="1100">
              <a:latin typeface="微软雅黑" panose="020B0503020204020204" charset="-122"/>
              <a:ea typeface="微软雅黑" panose="020B0503020204020204" charset="-122"/>
              <a:cs typeface="微软雅黑" panose="020B0503020204020204" charset="-122"/>
            </a:endParaRPr>
          </a:p>
        </p:txBody>
      </p:sp>
      <p:sp>
        <p:nvSpPr>
          <p:cNvPr id="102" name="object 102"/>
          <p:cNvSpPr txBox="1"/>
          <p:nvPr/>
        </p:nvSpPr>
        <p:spPr>
          <a:xfrm>
            <a:off x="5121676" y="4614735"/>
            <a:ext cx="167005" cy="855374"/>
          </a:xfrm>
          <a:prstGeom prst="rect">
            <a:avLst/>
          </a:prstGeom>
        </p:spPr>
        <p:txBody>
          <a:bodyPr vert="vert" wrap="square" lIns="0" tIns="0" rIns="0" bIns="0" rtlCol="0">
            <a:spAutoFit/>
          </a:bodyPr>
          <a:lstStyle/>
          <a:p>
            <a:pPr marL="12700">
              <a:lnSpc>
                <a:spcPts val="1305"/>
              </a:lnSpc>
              <a:tabLst>
                <a:tab pos="842010" algn="l"/>
              </a:tabLst>
            </a:pPr>
            <a:r>
              <a:rPr sz="1100" u="sng" dirty="0">
                <a:uFill>
                  <a:solidFill>
                    <a:srgbClr val="000000"/>
                  </a:solidFill>
                </a:uFill>
                <a:latin typeface="微软雅黑" panose="020B0503020204020204" charset="-122"/>
                <a:ea typeface="微软雅黑" panose="020B0503020204020204" charset="-122"/>
                <a:cs typeface="Times New Roman" panose="02020603050405020304"/>
              </a:rPr>
              <a:t> 	</a:t>
            </a:r>
            <a:endParaRPr sz="1100" u="sng" dirty="0">
              <a:uFill>
                <a:solidFill>
                  <a:srgbClr val="000000"/>
                </a:solidFill>
              </a:uFill>
              <a:latin typeface="微软雅黑" panose="020B0503020204020204" charset="-122"/>
              <a:ea typeface="微软雅黑" panose="020B0503020204020204" charset="-122"/>
              <a:cs typeface="Times New Roman" panose="02020603050405020304"/>
            </a:endParaRPr>
          </a:p>
        </p:txBody>
      </p:sp>
      <p:sp>
        <p:nvSpPr>
          <p:cNvPr id="103" name="object 103"/>
          <p:cNvSpPr txBox="1"/>
          <p:nvPr/>
        </p:nvSpPr>
        <p:spPr>
          <a:xfrm>
            <a:off x="4573521" y="2779063"/>
            <a:ext cx="1859232" cy="1031875"/>
          </a:xfrm>
          <a:prstGeom prst="rect">
            <a:avLst/>
          </a:prstGeom>
        </p:spPr>
        <p:txBody>
          <a:bodyPr vert="horz" wrap="square" lIns="0" tIns="69165" rIns="0" bIns="0" rtlCol="0">
            <a:spAutoFit/>
          </a:bodyPr>
          <a:lstStyle/>
          <a:p>
            <a:pPr marL="68580">
              <a:lnSpc>
                <a:spcPct val="100000"/>
              </a:lnSpc>
              <a:spcBef>
                <a:spcPts val="545"/>
              </a:spcBef>
              <a:tabLst>
                <a:tab pos="1190625" algn="l"/>
              </a:tabLst>
            </a:pPr>
            <a:r>
              <a:rPr sz="1100" b="1" u="sng" spc="5" dirty="0">
                <a:uFill>
                  <a:solidFill>
                    <a:srgbClr val="000000"/>
                  </a:solidFill>
                </a:uFill>
                <a:latin typeface="微软雅黑" panose="020B0503020204020204" charset="-122"/>
                <a:ea typeface="微软雅黑" panose="020B0503020204020204" charset="-122"/>
                <a:cs typeface="微软雅黑" panose="020B0503020204020204" charset="-122"/>
              </a:rPr>
              <a:t>KBF	 </a:t>
            </a:r>
            <a:r>
              <a:rPr sz="1100" b="1" u="sng" spc="10" dirty="0">
                <a:uFill>
                  <a:solidFill>
                    <a:srgbClr val="000000"/>
                  </a:solidFill>
                </a:uFill>
                <a:latin typeface="微软雅黑" panose="020B0503020204020204" charset="-122"/>
                <a:ea typeface="微软雅黑" panose="020B0503020204020204" charset="-122"/>
                <a:cs typeface="微软雅黑" panose="020B0503020204020204" charset="-122"/>
              </a:rPr>
              <a:t>重要</a:t>
            </a:r>
            <a:r>
              <a:rPr sz="1100" b="1" u="sng" dirty="0">
                <a:uFill>
                  <a:solidFill>
                    <a:srgbClr val="000000"/>
                  </a:solidFill>
                </a:uFill>
                <a:latin typeface="微软雅黑" panose="020B0503020204020204" charset="-122"/>
                <a:ea typeface="微软雅黑" panose="020B0503020204020204" charset="-122"/>
                <a:cs typeface="微软雅黑" panose="020B0503020204020204" charset="-122"/>
              </a:rPr>
              <a:t>性</a:t>
            </a:r>
            <a:r>
              <a:rPr sz="1100" b="1" u="sng" spc="-100" dirty="0">
                <a:uFill>
                  <a:solidFill>
                    <a:srgbClr val="000000"/>
                  </a:solidFill>
                </a:uFill>
                <a:latin typeface="微软雅黑" panose="020B0503020204020204" charset="-122"/>
                <a:ea typeface="微软雅黑" panose="020B0503020204020204" charset="-122"/>
                <a:cs typeface="微软雅黑" panose="020B0503020204020204" charset="-122"/>
              </a:rPr>
              <a:t> </a:t>
            </a:r>
            <a:endParaRPr sz="1100">
              <a:latin typeface="微软雅黑" panose="020B0503020204020204" charset="-122"/>
              <a:ea typeface="微软雅黑" panose="020B0503020204020204" charset="-122"/>
              <a:cs typeface="微软雅黑" panose="020B0503020204020204" charset="-122"/>
            </a:endParaRPr>
          </a:p>
          <a:p>
            <a:pPr marL="160020" indent="-90170">
              <a:lnSpc>
                <a:spcPct val="100000"/>
              </a:lnSpc>
              <a:spcBef>
                <a:spcPts val="835"/>
              </a:spcBef>
              <a:buClr>
                <a:srgbClr val="00295F"/>
              </a:buClr>
              <a:buSzPct val="123000"/>
              <a:buFont typeface="Arial" panose="020B0604020202020204"/>
              <a:buChar char="▪"/>
              <a:tabLst>
                <a:tab pos="160655" algn="l"/>
              </a:tabLst>
            </a:pPr>
            <a:r>
              <a:rPr sz="1100" dirty="0">
                <a:latin typeface="微软雅黑" panose="020B0503020204020204" charset="-122"/>
                <a:ea typeface="微软雅黑" panose="020B0503020204020204" charset="-122"/>
                <a:cs typeface="微软雅黑" panose="020B0503020204020204" charset="-122"/>
              </a:rPr>
              <a:t>售后服务</a:t>
            </a:r>
            <a:endParaRPr sz="1100">
              <a:latin typeface="微软雅黑" panose="020B0503020204020204" charset="-122"/>
              <a:ea typeface="微软雅黑" panose="020B0503020204020204" charset="-122"/>
              <a:cs typeface="微软雅黑" panose="020B0503020204020204" charset="-122"/>
            </a:endParaRPr>
          </a:p>
          <a:p>
            <a:pPr marL="160020" indent="-90170">
              <a:lnSpc>
                <a:spcPct val="100000"/>
              </a:lnSpc>
              <a:spcBef>
                <a:spcPts val="695"/>
              </a:spcBef>
              <a:buClr>
                <a:srgbClr val="00295F"/>
              </a:buClr>
              <a:buSzPct val="123000"/>
              <a:buFont typeface="Arial" panose="020B0604020202020204"/>
              <a:buChar char="▪"/>
              <a:tabLst>
                <a:tab pos="160655" algn="l"/>
              </a:tabLst>
            </a:pPr>
            <a:r>
              <a:rPr sz="1100" dirty="0">
                <a:latin typeface="微软雅黑" panose="020B0503020204020204" charset="-122"/>
                <a:ea typeface="微软雅黑" panose="020B0503020204020204" charset="-122"/>
                <a:cs typeface="微软雅黑" panose="020B0503020204020204" charset="-122"/>
              </a:rPr>
              <a:t>价格</a:t>
            </a:r>
            <a:endParaRPr sz="1100">
              <a:latin typeface="微软雅黑" panose="020B0503020204020204" charset="-122"/>
              <a:ea typeface="微软雅黑" panose="020B0503020204020204" charset="-122"/>
              <a:cs typeface="微软雅黑" panose="020B0503020204020204" charset="-122"/>
            </a:endParaRPr>
          </a:p>
          <a:p>
            <a:pPr marL="160020" indent="-90170">
              <a:lnSpc>
                <a:spcPct val="100000"/>
              </a:lnSpc>
              <a:spcBef>
                <a:spcPts val="705"/>
              </a:spcBef>
              <a:buClr>
                <a:srgbClr val="00295F"/>
              </a:buClr>
              <a:buSzPct val="123000"/>
              <a:buFont typeface="Arial" panose="020B0604020202020204"/>
              <a:buChar char="▪"/>
              <a:tabLst>
                <a:tab pos="160655" algn="l"/>
              </a:tabLst>
            </a:pPr>
            <a:r>
              <a:rPr sz="1100" dirty="0">
                <a:latin typeface="微软雅黑" panose="020B0503020204020204" charset="-122"/>
                <a:ea typeface="微软雅黑" panose="020B0503020204020204" charset="-122"/>
                <a:cs typeface="微软雅黑" panose="020B0503020204020204" charset="-122"/>
              </a:rPr>
              <a:t>交货期</a:t>
            </a:r>
            <a:endParaRPr sz="1100">
              <a:latin typeface="微软雅黑" panose="020B0503020204020204" charset="-122"/>
              <a:ea typeface="微软雅黑" panose="020B0503020204020204" charset="-122"/>
              <a:cs typeface="微软雅黑" panose="020B0503020204020204" charset="-122"/>
            </a:endParaRPr>
          </a:p>
        </p:txBody>
      </p:sp>
      <p:sp>
        <p:nvSpPr>
          <p:cNvPr id="104" name="object 104"/>
          <p:cNvSpPr txBox="1"/>
          <p:nvPr/>
        </p:nvSpPr>
        <p:spPr>
          <a:xfrm>
            <a:off x="7235141" y="3103998"/>
            <a:ext cx="281106" cy="942975"/>
          </a:xfrm>
          <a:prstGeom prst="rect">
            <a:avLst/>
          </a:prstGeom>
        </p:spPr>
        <p:txBody>
          <a:bodyPr vert="horz" wrap="square" lIns="0" tIns="31727" rIns="0" bIns="0" rtlCol="0">
            <a:spAutoFit/>
          </a:bodyPr>
          <a:lstStyle/>
          <a:p>
            <a:pPr marR="5080">
              <a:lnSpc>
                <a:spcPts val="1190"/>
              </a:lnSpc>
              <a:spcBef>
                <a:spcPts val="250"/>
              </a:spcBef>
            </a:pPr>
            <a:r>
              <a:rPr sz="1100" spc="-5" dirty="0">
                <a:latin typeface="微软雅黑" panose="020B0503020204020204" charset="-122"/>
                <a:ea typeface="微软雅黑" panose="020B0503020204020204" charset="-122"/>
                <a:cs typeface="微软雅黑" panose="020B0503020204020204" charset="-122"/>
              </a:rPr>
              <a:t>xx</a:t>
            </a:r>
            <a:r>
              <a:rPr sz="1100" dirty="0">
                <a:latin typeface="微软雅黑" panose="020B0503020204020204" charset="-122"/>
                <a:ea typeface="微软雅黑" panose="020B0503020204020204" charset="-122"/>
                <a:cs typeface="微软雅黑" panose="020B0503020204020204" charset="-122"/>
              </a:rPr>
              <a:t>台  </a:t>
            </a:r>
            <a:r>
              <a:rPr sz="1100" spc="-5" dirty="0">
                <a:latin typeface="微软雅黑" panose="020B0503020204020204" charset="-122"/>
                <a:ea typeface="微软雅黑" panose="020B0503020204020204" charset="-122"/>
                <a:cs typeface="微软雅黑" panose="020B0503020204020204" charset="-122"/>
              </a:rPr>
              <a:t>xx</a:t>
            </a:r>
            <a:r>
              <a:rPr sz="1100" dirty="0">
                <a:latin typeface="微软雅黑" panose="020B0503020204020204" charset="-122"/>
                <a:ea typeface="微软雅黑" panose="020B0503020204020204" charset="-122"/>
                <a:cs typeface="微软雅黑" panose="020B0503020204020204" charset="-122"/>
              </a:rPr>
              <a:t>台</a:t>
            </a:r>
            <a:endParaRPr sz="1100">
              <a:latin typeface="微软雅黑" panose="020B0503020204020204" charset="-122"/>
              <a:ea typeface="微软雅黑" panose="020B0503020204020204" charset="-122"/>
              <a:cs typeface="微软雅黑" panose="020B0503020204020204" charset="-122"/>
            </a:endParaRPr>
          </a:p>
          <a:p>
            <a:pPr>
              <a:lnSpc>
                <a:spcPct val="100000"/>
              </a:lnSpc>
              <a:spcBef>
                <a:spcPts val="1035"/>
              </a:spcBef>
            </a:pPr>
            <a:r>
              <a:rPr sz="1100" spc="-5" dirty="0">
                <a:latin typeface="微软雅黑" panose="020B0503020204020204" charset="-122"/>
                <a:ea typeface="微软雅黑" panose="020B0503020204020204" charset="-122"/>
                <a:cs typeface="微软雅黑" panose="020B0503020204020204" charset="-122"/>
              </a:rPr>
              <a:t>xx</a:t>
            </a:r>
            <a:r>
              <a:rPr sz="1100" dirty="0">
                <a:latin typeface="微软雅黑" panose="020B0503020204020204" charset="-122"/>
                <a:ea typeface="微软雅黑" panose="020B0503020204020204" charset="-122"/>
                <a:cs typeface="微软雅黑" panose="020B0503020204020204" charset="-122"/>
              </a:rPr>
              <a:t>台</a:t>
            </a:r>
            <a:endParaRPr sz="1100">
              <a:latin typeface="微软雅黑" panose="020B0503020204020204" charset="-122"/>
              <a:ea typeface="微软雅黑" panose="020B0503020204020204" charset="-122"/>
              <a:cs typeface="微软雅黑" panose="020B0503020204020204" charset="-122"/>
            </a:endParaRPr>
          </a:p>
        </p:txBody>
      </p:sp>
      <p:sp>
        <p:nvSpPr>
          <p:cNvPr id="105" name="object 105"/>
          <p:cNvSpPr/>
          <p:nvPr/>
        </p:nvSpPr>
        <p:spPr>
          <a:xfrm>
            <a:off x="6592723" y="3556814"/>
            <a:ext cx="388345" cy="213209"/>
          </a:xfrm>
          <a:custGeom>
            <a:avLst/>
            <a:gdLst/>
            <a:ahLst/>
            <a:cxnLst/>
            <a:rect l="l" t="t" r="r" b="b"/>
            <a:pathLst>
              <a:path w="388620" h="213360">
                <a:moveTo>
                  <a:pt x="194309" y="0"/>
                </a:moveTo>
                <a:lnTo>
                  <a:pt x="132892" y="5437"/>
                </a:lnTo>
                <a:lnTo>
                  <a:pt x="79552" y="20580"/>
                </a:lnTo>
                <a:lnTo>
                  <a:pt x="37490" y="43671"/>
                </a:lnTo>
                <a:lnTo>
                  <a:pt x="9905" y="72956"/>
                </a:lnTo>
                <a:lnTo>
                  <a:pt x="0" y="106680"/>
                </a:lnTo>
                <a:lnTo>
                  <a:pt x="9905" y="140403"/>
                </a:lnTo>
                <a:lnTo>
                  <a:pt x="37490" y="169688"/>
                </a:lnTo>
                <a:lnTo>
                  <a:pt x="79552" y="192779"/>
                </a:lnTo>
                <a:lnTo>
                  <a:pt x="132892" y="207922"/>
                </a:lnTo>
                <a:lnTo>
                  <a:pt x="194309" y="213360"/>
                </a:lnTo>
                <a:lnTo>
                  <a:pt x="255727" y="207922"/>
                </a:lnTo>
                <a:lnTo>
                  <a:pt x="309067" y="192779"/>
                </a:lnTo>
                <a:lnTo>
                  <a:pt x="351129" y="169688"/>
                </a:lnTo>
                <a:lnTo>
                  <a:pt x="378714" y="140403"/>
                </a:lnTo>
                <a:lnTo>
                  <a:pt x="388620" y="106680"/>
                </a:lnTo>
                <a:lnTo>
                  <a:pt x="378714" y="72956"/>
                </a:lnTo>
                <a:lnTo>
                  <a:pt x="351129" y="43671"/>
                </a:lnTo>
                <a:lnTo>
                  <a:pt x="309067" y="20580"/>
                </a:lnTo>
                <a:lnTo>
                  <a:pt x="255727" y="5437"/>
                </a:lnTo>
                <a:lnTo>
                  <a:pt x="194309" y="0"/>
                </a:lnTo>
                <a:close/>
              </a:path>
            </a:pathLst>
          </a:custGeom>
          <a:solidFill>
            <a:srgbClr val="D0D0D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06" name="object 106"/>
          <p:cNvSpPr/>
          <p:nvPr/>
        </p:nvSpPr>
        <p:spPr>
          <a:xfrm>
            <a:off x="6592723" y="3556814"/>
            <a:ext cx="388345" cy="213209"/>
          </a:xfrm>
          <a:custGeom>
            <a:avLst/>
            <a:gdLst/>
            <a:ahLst/>
            <a:cxnLst/>
            <a:rect l="l" t="t" r="r" b="b"/>
            <a:pathLst>
              <a:path w="388620" h="213360">
                <a:moveTo>
                  <a:pt x="0" y="106680"/>
                </a:moveTo>
                <a:lnTo>
                  <a:pt x="37490" y="43671"/>
                </a:lnTo>
                <a:lnTo>
                  <a:pt x="79552" y="20580"/>
                </a:lnTo>
                <a:lnTo>
                  <a:pt x="132892" y="5437"/>
                </a:lnTo>
                <a:lnTo>
                  <a:pt x="194309" y="0"/>
                </a:lnTo>
                <a:lnTo>
                  <a:pt x="255727" y="5437"/>
                </a:lnTo>
                <a:lnTo>
                  <a:pt x="309067" y="20580"/>
                </a:lnTo>
                <a:lnTo>
                  <a:pt x="351129" y="43671"/>
                </a:lnTo>
                <a:lnTo>
                  <a:pt x="378714" y="72956"/>
                </a:lnTo>
                <a:lnTo>
                  <a:pt x="388620" y="106680"/>
                </a:lnTo>
                <a:lnTo>
                  <a:pt x="378714" y="140403"/>
                </a:lnTo>
                <a:lnTo>
                  <a:pt x="351129" y="169688"/>
                </a:lnTo>
                <a:lnTo>
                  <a:pt x="309067" y="192779"/>
                </a:lnTo>
                <a:lnTo>
                  <a:pt x="255727" y="207922"/>
                </a:lnTo>
                <a:lnTo>
                  <a:pt x="194309" y="213360"/>
                </a:lnTo>
                <a:lnTo>
                  <a:pt x="132892" y="207922"/>
                </a:lnTo>
                <a:lnTo>
                  <a:pt x="79552" y="192779"/>
                </a:lnTo>
                <a:lnTo>
                  <a:pt x="37490" y="169688"/>
                </a:lnTo>
                <a:lnTo>
                  <a:pt x="9905" y="140403"/>
                </a:lnTo>
                <a:lnTo>
                  <a:pt x="0" y="106680"/>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7" name="object 107"/>
          <p:cNvSpPr txBox="1"/>
          <p:nvPr/>
        </p:nvSpPr>
        <p:spPr>
          <a:xfrm>
            <a:off x="6514801" y="3103998"/>
            <a:ext cx="413727" cy="709295"/>
          </a:xfrm>
          <a:prstGeom prst="rect">
            <a:avLst/>
          </a:prstGeom>
        </p:spPr>
        <p:txBody>
          <a:bodyPr vert="horz" wrap="square" lIns="0" tIns="13325" rIns="0" bIns="0" rtlCol="0">
            <a:spAutoFit/>
          </a:bodyPr>
          <a:lstStyle/>
          <a:p>
            <a:pPr marL="89535" indent="-90170">
              <a:lnSpc>
                <a:spcPts val="1255"/>
              </a:lnSpc>
              <a:spcBef>
                <a:spcPts val="105"/>
              </a:spcBef>
              <a:buClr>
                <a:srgbClr val="00295F"/>
              </a:buClr>
              <a:buSzPct val="123000"/>
              <a:buFont typeface="Arial" panose="020B0604020202020204"/>
              <a:buChar char="▪"/>
              <a:tabLst>
                <a:tab pos="90170" algn="l"/>
              </a:tabLst>
            </a:pPr>
            <a:r>
              <a:rPr sz="1100" dirty="0">
                <a:latin typeface="微软雅黑" panose="020B0503020204020204" charset="-122"/>
                <a:ea typeface="微软雅黑" panose="020B0503020204020204" charset="-122"/>
                <a:cs typeface="微软雅黑" panose="020B0503020204020204" charset="-122"/>
              </a:rPr>
              <a:t>小松:</a:t>
            </a:r>
            <a:endParaRPr sz="1100">
              <a:latin typeface="微软雅黑" panose="020B0503020204020204" charset="-122"/>
              <a:ea typeface="微软雅黑" panose="020B0503020204020204" charset="-122"/>
              <a:cs typeface="微软雅黑" panose="020B0503020204020204" charset="-122"/>
            </a:endParaRPr>
          </a:p>
          <a:p>
            <a:pPr marL="89535" indent="-90170">
              <a:lnSpc>
                <a:spcPts val="1255"/>
              </a:lnSpc>
              <a:buClr>
                <a:srgbClr val="00295F"/>
              </a:buClr>
              <a:buSzPct val="123000"/>
              <a:buFont typeface="Arial" panose="020B0604020202020204"/>
              <a:buChar char="▪"/>
              <a:tabLst>
                <a:tab pos="90170" algn="l"/>
              </a:tabLst>
            </a:pPr>
            <a:r>
              <a:rPr sz="1100" spc="-5" dirty="0">
                <a:latin typeface="微软雅黑" panose="020B0503020204020204" charset="-122"/>
                <a:ea typeface="微软雅黑" panose="020B0503020204020204" charset="-122"/>
                <a:cs typeface="微软雅黑" panose="020B0503020204020204" charset="-122"/>
              </a:rPr>
              <a:t>CAT:</a:t>
            </a:r>
            <a:endParaRPr sz="1100">
              <a:latin typeface="微软雅黑" panose="020B0503020204020204" charset="-122"/>
              <a:ea typeface="微软雅黑" panose="020B0503020204020204" charset="-122"/>
              <a:cs typeface="微软雅黑" panose="020B0503020204020204" charset="-122"/>
            </a:endParaRPr>
          </a:p>
          <a:p>
            <a:pPr marL="203200" marR="62230">
              <a:lnSpc>
                <a:spcPts val="1190"/>
              </a:lnSpc>
              <a:spcBef>
                <a:spcPts val="545"/>
              </a:spcBef>
            </a:pPr>
            <a:r>
              <a:rPr sz="1100" dirty="0">
                <a:latin typeface="微软雅黑" panose="020B0503020204020204" charset="-122"/>
                <a:ea typeface="微软雅黑" panose="020B0503020204020204" charset="-122"/>
                <a:cs typeface="微软雅黑" panose="020B0503020204020204" charset="-122"/>
              </a:rPr>
              <a:t>合 计</a:t>
            </a:r>
            <a:endParaRPr sz="1100">
              <a:latin typeface="微软雅黑" panose="020B0503020204020204" charset="-122"/>
              <a:ea typeface="微软雅黑" panose="020B0503020204020204" charset="-122"/>
              <a:cs typeface="微软雅黑" panose="020B0503020204020204" charset="-122"/>
            </a:endParaRPr>
          </a:p>
        </p:txBody>
      </p:sp>
      <p:sp>
        <p:nvSpPr>
          <p:cNvPr id="108" name="object 108"/>
          <p:cNvSpPr/>
          <p:nvPr/>
        </p:nvSpPr>
        <p:spPr>
          <a:xfrm>
            <a:off x="6512008" y="3486759"/>
            <a:ext cx="1708844" cy="0"/>
          </a:xfrm>
          <a:custGeom>
            <a:avLst/>
            <a:gdLst/>
            <a:ahLst/>
            <a:cxnLst/>
            <a:rect l="l" t="t" r="r" b="b"/>
            <a:pathLst>
              <a:path w="1710054">
                <a:moveTo>
                  <a:pt x="0" y="0"/>
                </a:moveTo>
                <a:lnTo>
                  <a:pt x="1709927" y="0"/>
                </a:lnTo>
              </a:path>
            </a:pathLst>
          </a:custGeom>
          <a:ln w="952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09" name="object 109"/>
          <p:cNvSpPr txBox="1"/>
          <p:nvPr/>
        </p:nvSpPr>
        <p:spPr>
          <a:xfrm>
            <a:off x="7009679" y="3851753"/>
            <a:ext cx="469265" cy="165618"/>
          </a:xfrm>
          <a:prstGeom prst="rect">
            <a:avLst/>
          </a:prstGeom>
        </p:spPr>
        <p:txBody>
          <a:bodyPr vert="vert" wrap="square" lIns="0" tIns="20940" rIns="0" bIns="0" rtlCol="0">
            <a:spAutoFit/>
          </a:bodyPr>
          <a:lstStyle/>
          <a:p>
            <a:pPr marL="12700">
              <a:lnSpc>
                <a:spcPts val="1255"/>
              </a:lnSpc>
              <a:spcBef>
                <a:spcPts val="165"/>
              </a:spcBef>
            </a:pPr>
            <a:r>
              <a:rPr sz="1100" dirty="0">
                <a:latin typeface="微软雅黑" panose="020B0503020204020204" charset="-122"/>
                <a:ea typeface="微软雅黑" panose="020B0503020204020204" charset="-122"/>
                <a:cs typeface="微软雅黑" panose="020B0503020204020204" charset="-122"/>
              </a:rPr>
              <a:t>・</a:t>
            </a:r>
            <a:endParaRPr sz="1100">
              <a:latin typeface="微软雅黑" panose="020B0503020204020204" charset="-122"/>
              <a:ea typeface="微软雅黑" panose="020B0503020204020204" charset="-122"/>
              <a:cs typeface="微软雅黑" panose="020B0503020204020204" charset="-122"/>
            </a:endParaRPr>
          </a:p>
          <a:p>
            <a:pPr marL="12700">
              <a:lnSpc>
                <a:spcPts val="1170"/>
              </a:lnSpc>
            </a:pPr>
            <a:r>
              <a:rPr sz="1100" dirty="0">
                <a:latin typeface="微软雅黑" panose="020B0503020204020204" charset="-122"/>
                <a:ea typeface="微软雅黑" panose="020B0503020204020204" charset="-122"/>
                <a:cs typeface="微软雅黑" panose="020B0503020204020204" charset="-122"/>
              </a:rPr>
              <a:t>・</a:t>
            </a:r>
            <a:endParaRPr sz="1100">
              <a:latin typeface="微软雅黑" panose="020B0503020204020204" charset="-122"/>
              <a:ea typeface="微软雅黑" panose="020B0503020204020204" charset="-122"/>
              <a:cs typeface="微软雅黑" panose="020B0503020204020204" charset="-122"/>
            </a:endParaRPr>
          </a:p>
          <a:p>
            <a:pPr marL="12700">
              <a:lnSpc>
                <a:spcPts val="1235"/>
              </a:lnSpc>
            </a:pPr>
            <a:r>
              <a:rPr sz="1100" dirty="0">
                <a:latin typeface="微软雅黑" panose="020B0503020204020204" charset="-122"/>
                <a:ea typeface="微软雅黑" panose="020B0503020204020204" charset="-122"/>
                <a:cs typeface="微软雅黑" panose="020B0503020204020204" charset="-122"/>
              </a:rPr>
              <a:t>・</a:t>
            </a:r>
            <a:endParaRPr sz="1100">
              <a:latin typeface="微软雅黑" panose="020B0503020204020204" charset="-122"/>
              <a:ea typeface="微软雅黑" panose="020B0503020204020204" charset="-122"/>
              <a:cs typeface="微软雅黑" panose="020B0503020204020204" charset="-122"/>
            </a:endParaRPr>
          </a:p>
        </p:txBody>
      </p:sp>
      <p:graphicFrame>
        <p:nvGraphicFramePr>
          <p:cNvPr id="110" name="object 110"/>
          <p:cNvGraphicFramePr>
            <a:graphicFrameLocks noGrp="1"/>
          </p:cNvGraphicFramePr>
          <p:nvPr/>
        </p:nvGraphicFramePr>
        <p:xfrm>
          <a:off x="5331554" y="4622667"/>
          <a:ext cx="815340" cy="807720"/>
        </p:xfrm>
        <a:graphic>
          <a:graphicData uri="http://schemas.openxmlformats.org/drawingml/2006/table">
            <a:tbl>
              <a:tblPr firstRow="1" bandRow="1">
                <a:tableStyleId>{2D5ABB26-0587-4C30-8999-92F81FD0307C}</a:tableStyleId>
              </a:tblPr>
              <a:tblGrid>
                <a:gridCol w="271780"/>
                <a:gridCol w="271780"/>
                <a:gridCol w="271780"/>
              </a:tblGrid>
              <a:tr h="268605">
                <a:tc>
                  <a:txBody>
                    <a:bodyPr/>
                    <a:lstStyle/>
                    <a:p>
                      <a:pPr>
                        <a:lnSpc>
                          <a:spcPct val="100000"/>
                        </a:lnSpc>
                      </a:pPr>
                      <a:endParaRPr sz="1200">
                        <a:latin typeface="微软雅黑" panose="020B0503020204020204" charset="-122"/>
                        <a:ea typeface="微软雅黑" panose="020B0503020204020204" charset="-122"/>
                        <a:cs typeface="Times New Roman" panose="02020603050405020304"/>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66"/>
                    </a:solidFill>
                  </a:tcPr>
                </a:tc>
                <a:tc>
                  <a:txBody>
                    <a:bodyPr/>
                    <a:lstStyle/>
                    <a:p>
                      <a:pPr>
                        <a:lnSpc>
                          <a:spcPct val="100000"/>
                        </a:lnSpc>
                      </a:pPr>
                      <a:endParaRPr sz="1200">
                        <a:latin typeface="微软雅黑" panose="020B0503020204020204" charset="-122"/>
                        <a:ea typeface="微软雅黑" panose="020B0503020204020204" charset="-122"/>
                        <a:cs typeface="Times New Roman" panose="02020603050405020304"/>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91AFFF"/>
                    </a:solidFill>
                  </a:tcPr>
                </a:tc>
                <a:tc>
                  <a:txBody>
                    <a:bodyPr/>
                    <a:lstStyle/>
                    <a:p>
                      <a:pPr>
                        <a:lnSpc>
                          <a:spcPct val="100000"/>
                        </a:lnSpc>
                      </a:pPr>
                      <a:endParaRPr sz="1200">
                        <a:latin typeface="微软雅黑" panose="020B0503020204020204" charset="-122"/>
                        <a:ea typeface="微软雅黑" panose="020B0503020204020204" charset="-122"/>
                        <a:cs typeface="Times New Roman" panose="02020603050405020304"/>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91AFFF"/>
                    </a:solidFill>
                  </a:tcPr>
                </a:tc>
              </a:tr>
              <a:tr h="269240">
                <a:tc>
                  <a:txBody>
                    <a:bodyPr/>
                    <a:lstStyle/>
                    <a:p>
                      <a:pPr>
                        <a:lnSpc>
                          <a:spcPct val="100000"/>
                        </a:lnSpc>
                      </a:pPr>
                      <a:endParaRPr sz="1200">
                        <a:latin typeface="微软雅黑" panose="020B0503020204020204" charset="-122"/>
                        <a:ea typeface="微软雅黑" panose="020B0503020204020204" charset="-122"/>
                        <a:cs typeface="Times New Roman" panose="02020603050405020304"/>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C6DFFA"/>
                    </a:solidFill>
                  </a:tcPr>
                </a:tc>
                <a:tc>
                  <a:txBody>
                    <a:bodyPr/>
                    <a:lstStyle/>
                    <a:p>
                      <a:pPr>
                        <a:lnSpc>
                          <a:spcPct val="100000"/>
                        </a:lnSpc>
                      </a:pPr>
                      <a:endParaRPr sz="1200">
                        <a:latin typeface="微软雅黑" panose="020B0503020204020204" charset="-122"/>
                        <a:ea typeface="微软雅黑" panose="020B0503020204020204" charset="-122"/>
                        <a:cs typeface="Times New Roman" panose="02020603050405020304"/>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66"/>
                    </a:solidFill>
                  </a:tcPr>
                </a:tc>
                <a:tc>
                  <a:txBody>
                    <a:bodyPr/>
                    <a:lstStyle/>
                    <a:p>
                      <a:pPr>
                        <a:lnSpc>
                          <a:spcPct val="100000"/>
                        </a:lnSpc>
                      </a:pPr>
                      <a:endParaRPr sz="1200">
                        <a:latin typeface="微软雅黑" panose="020B0503020204020204" charset="-122"/>
                        <a:ea typeface="微软雅黑" panose="020B0503020204020204" charset="-122"/>
                        <a:cs typeface="Times New Roman" panose="02020603050405020304"/>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91AFFF"/>
                    </a:solidFill>
                  </a:tcPr>
                </a:tc>
              </a:tr>
              <a:tr h="269875">
                <a:tc>
                  <a:txBody>
                    <a:bodyPr/>
                    <a:lstStyle/>
                    <a:p>
                      <a:pPr>
                        <a:lnSpc>
                          <a:spcPct val="100000"/>
                        </a:lnSpc>
                      </a:pPr>
                      <a:endParaRPr sz="1200">
                        <a:latin typeface="微软雅黑" panose="020B0503020204020204" charset="-122"/>
                        <a:ea typeface="微软雅黑" panose="020B0503020204020204" charset="-122"/>
                        <a:cs typeface="Times New Roman" panose="02020603050405020304"/>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C6DFFA"/>
                    </a:solidFill>
                  </a:tcPr>
                </a:tc>
                <a:tc>
                  <a:txBody>
                    <a:bodyPr/>
                    <a:lstStyle/>
                    <a:p>
                      <a:pPr>
                        <a:lnSpc>
                          <a:spcPct val="100000"/>
                        </a:lnSpc>
                      </a:pPr>
                      <a:endParaRPr sz="1200">
                        <a:latin typeface="微软雅黑" panose="020B0503020204020204" charset="-122"/>
                        <a:ea typeface="微软雅黑" panose="020B0503020204020204" charset="-122"/>
                        <a:cs typeface="Times New Roman" panose="02020603050405020304"/>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C6DFFA"/>
                    </a:solidFill>
                  </a:tcPr>
                </a:tc>
                <a:tc>
                  <a:txBody>
                    <a:bodyPr/>
                    <a:lstStyle/>
                    <a:p>
                      <a:pPr>
                        <a:lnSpc>
                          <a:spcPct val="100000"/>
                        </a:lnSpc>
                      </a:pPr>
                      <a:endParaRPr sz="1200">
                        <a:latin typeface="微软雅黑" panose="020B0503020204020204" charset="-122"/>
                        <a:ea typeface="微软雅黑" panose="020B0503020204020204" charset="-122"/>
                        <a:cs typeface="Times New Roman" panose="02020603050405020304"/>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C66"/>
                    </a:solidFill>
                  </a:tcPr>
                </a:tc>
              </a:tr>
            </a:tbl>
          </a:graphicData>
        </a:graphic>
      </p:graphicFrame>
      <p:sp>
        <p:nvSpPr>
          <p:cNvPr id="111" name="object 111"/>
          <p:cNvSpPr txBox="1"/>
          <p:nvPr/>
        </p:nvSpPr>
        <p:spPr>
          <a:xfrm>
            <a:off x="5334790" y="5383506"/>
            <a:ext cx="814128" cy="407035"/>
          </a:xfrm>
          <a:prstGeom prst="rect">
            <a:avLst/>
          </a:prstGeom>
        </p:spPr>
        <p:txBody>
          <a:bodyPr vert="horz" wrap="square" lIns="0" tIns="12691" rIns="0" bIns="0" rtlCol="0">
            <a:spAutoFit/>
          </a:bodyPr>
          <a:lstStyle/>
          <a:p>
            <a:pPr marL="121920" marR="5080" indent="-122555">
              <a:lnSpc>
                <a:spcPct val="117000"/>
              </a:lnSpc>
              <a:spcBef>
                <a:spcPts val="100"/>
              </a:spcBef>
            </a:pPr>
            <a:r>
              <a:rPr sz="1100" u="sng" dirty="0">
                <a:uFill>
                  <a:solidFill>
                    <a:srgbClr val="000000"/>
                  </a:solidFill>
                </a:uFill>
                <a:latin typeface="微软雅黑" panose="020B0503020204020204" charset="-122"/>
                <a:ea typeface="微软雅黑" panose="020B0503020204020204" charset="-122"/>
                <a:cs typeface="微软雅黑" panose="020B0503020204020204" charset="-122"/>
              </a:rPr>
              <a:t> </a:t>
            </a:r>
            <a:r>
              <a:rPr sz="1100" u="sng" spc="-40" dirty="0">
                <a:uFill>
                  <a:solidFill>
                    <a:srgbClr val="000000"/>
                  </a:solidFill>
                </a:uFill>
                <a:latin typeface="微软雅黑" panose="020B0503020204020204" charset="-122"/>
                <a:ea typeface="微软雅黑" panose="020B0503020204020204" charset="-122"/>
                <a:cs typeface="微软雅黑" panose="020B0503020204020204" charset="-122"/>
              </a:rPr>
              <a:t> </a:t>
            </a:r>
            <a:r>
              <a:rPr sz="1100" u="sng" dirty="0">
                <a:uFill>
                  <a:solidFill>
                    <a:srgbClr val="000000"/>
                  </a:solidFill>
                </a:uFill>
                <a:latin typeface="微软雅黑" panose="020B0503020204020204" charset="-122"/>
                <a:ea typeface="微软雅黑" panose="020B0503020204020204" charset="-122"/>
                <a:cs typeface="微软雅黑" panose="020B0503020204020204" charset="-122"/>
              </a:rPr>
              <a:t>小 中</a:t>
            </a:r>
            <a:r>
              <a:rPr sz="1100" u="sng" spc="270" dirty="0">
                <a:uFill>
                  <a:solidFill>
                    <a:srgbClr val="000000"/>
                  </a:solidFill>
                </a:uFill>
                <a:latin typeface="微软雅黑" panose="020B0503020204020204" charset="-122"/>
                <a:ea typeface="微软雅黑" panose="020B0503020204020204" charset="-122"/>
                <a:cs typeface="微软雅黑" panose="020B0503020204020204" charset="-122"/>
              </a:rPr>
              <a:t> </a:t>
            </a:r>
            <a:r>
              <a:rPr sz="1100" u="sng" dirty="0">
                <a:uFill>
                  <a:solidFill>
                    <a:srgbClr val="000000"/>
                  </a:solidFill>
                </a:uFill>
                <a:latin typeface="微软雅黑" panose="020B0503020204020204" charset="-122"/>
                <a:ea typeface="微软雅黑" panose="020B0503020204020204" charset="-122"/>
                <a:cs typeface="微软雅黑" panose="020B0503020204020204" charset="-122"/>
              </a:rPr>
              <a:t>高 </a:t>
            </a:r>
            <a:r>
              <a:rPr sz="1100" b="1" spc="10" dirty="0">
                <a:latin typeface="微软雅黑" panose="020B0503020204020204" charset="-122"/>
                <a:ea typeface="微软雅黑" panose="020B0503020204020204" charset="-122"/>
                <a:cs typeface="微软雅黑" panose="020B0503020204020204" charset="-122"/>
              </a:rPr>
              <a:t>竞争</a:t>
            </a:r>
            <a:r>
              <a:rPr sz="1100" b="1" dirty="0">
                <a:latin typeface="微软雅黑" panose="020B0503020204020204" charset="-122"/>
                <a:ea typeface="微软雅黑" panose="020B0503020204020204" charset="-122"/>
                <a:cs typeface="微软雅黑" panose="020B0503020204020204" charset="-122"/>
              </a:rPr>
              <a:t>风险</a:t>
            </a:r>
            <a:endParaRPr sz="1100">
              <a:latin typeface="微软雅黑" panose="020B0503020204020204" charset="-122"/>
              <a:ea typeface="微软雅黑" panose="020B0503020204020204" charset="-122"/>
              <a:cs typeface="微软雅黑" panose="020B0503020204020204" charset="-122"/>
            </a:endParaRPr>
          </a:p>
        </p:txBody>
      </p:sp>
      <p:sp>
        <p:nvSpPr>
          <p:cNvPr id="112" name="object 112"/>
          <p:cNvSpPr txBox="1"/>
          <p:nvPr/>
        </p:nvSpPr>
        <p:spPr>
          <a:xfrm>
            <a:off x="4909641" y="4813070"/>
            <a:ext cx="441012" cy="549275"/>
          </a:xfrm>
          <a:prstGeom prst="rect">
            <a:avLst/>
          </a:prstGeom>
        </p:spPr>
        <p:txBody>
          <a:bodyPr vert="horz" wrap="square" lIns="0" tIns="111680" rIns="0" bIns="0" rtlCol="0">
            <a:spAutoFit/>
          </a:bodyPr>
          <a:lstStyle/>
          <a:p>
            <a:pPr marL="25400">
              <a:lnSpc>
                <a:spcPct val="100000"/>
              </a:lnSpc>
              <a:spcBef>
                <a:spcPts val="880"/>
              </a:spcBef>
            </a:pPr>
            <a:r>
              <a:rPr sz="1650" b="1" baseline="-35000" dirty="0">
                <a:latin typeface="微软雅黑" panose="020B0503020204020204" charset="-122"/>
                <a:ea typeface="微软雅黑" panose="020B0503020204020204" charset="-122"/>
                <a:cs typeface="微软雅黑" panose="020B0503020204020204" charset="-122"/>
              </a:rPr>
              <a:t>内 </a:t>
            </a:r>
            <a:r>
              <a:rPr sz="1650" b="1" spc="172" baseline="-35000" dirty="0">
                <a:latin typeface="微软雅黑" panose="020B0503020204020204" charset="-122"/>
                <a:ea typeface="微软雅黑" panose="020B0503020204020204" charset="-122"/>
                <a:cs typeface="微软雅黑" panose="020B0503020204020204" charset="-122"/>
              </a:rPr>
              <a:t> </a:t>
            </a:r>
            <a:r>
              <a:rPr sz="1100" dirty="0">
                <a:latin typeface="微软雅黑" panose="020B0503020204020204" charset="-122"/>
                <a:ea typeface="微软雅黑" panose="020B0503020204020204" charset="-122"/>
                <a:cs typeface="微软雅黑" panose="020B0503020204020204" charset="-122"/>
              </a:rPr>
              <a:t>中</a:t>
            </a:r>
            <a:endParaRPr sz="1100">
              <a:latin typeface="微软雅黑" panose="020B0503020204020204" charset="-122"/>
              <a:ea typeface="微软雅黑" panose="020B0503020204020204" charset="-122"/>
              <a:cs typeface="微软雅黑" panose="020B0503020204020204" charset="-122"/>
            </a:endParaRPr>
          </a:p>
          <a:p>
            <a:pPr marL="25400">
              <a:lnSpc>
                <a:spcPct val="100000"/>
              </a:lnSpc>
              <a:spcBef>
                <a:spcPts val="780"/>
              </a:spcBef>
            </a:pPr>
            <a:r>
              <a:rPr sz="1100" b="1" dirty="0">
                <a:latin typeface="微软雅黑" panose="020B0503020204020204" charset="-122"/>
                <a:ea typeface="微软雅黑" panose="020B0503020204020204" charset="-122"/>
                <a:cs typeface="微软雅黑" panose="020B0503020204020204" charset="-122"/>
              </a:rPr>
              <a:t>部 </a:t>
            </a:r>
            <a:r>
              <a:rPr sz="1100" b="1" spc="114" dirty="0">
                <a:latin typeface="微软雅黑" panose="020B0503020204020204" charset="-122"/>
                <a:ea typeface="微软雅黑" panose="020B0503020204020204" charset="-122"/>
                <a:cs typeface="微软雅黑" panose="020B0503020204020204" charset="-122"/>
              </a:rPr>
              <a:t> </a:t>
            </a:r>
            <a:r>
              <a:rPr sz="1100" dirty="0">
                <a:latin typeface="微软雅黑" panose="020B0503020204020204" charset="-122"/>
                <a:ea typeface="微软雅黑" panose="020B0503020204020204" charset="-122"/>
                <a:cs typeface="微软雅黑" panose="020B0503020204020204" charset="-122"/>
              </a:rPr>
              <a:t>低</a:t>
            </a:r>
            <a:endParaRPr sz="1100">
              <a:latin typeface="微软雅黑" panose="020B0503020204020204" charset="-122"/>
              <a:ea typeface="微软雅黑" panose="020B0503020204020204" charset="-122"/>
              <a:cs typeface="微软雅黑" panose="020B0503020204020204" charset="-122"/>
            </a:endParaRPr>
          </a:p>
        </p:txBody>
      </p:sp>
      <p:sp>
        <p:nvSpPr>
          <p:cNvPr id="113" name="object 113"/>
          <p:cNvSpPr txBox="1"/>
          <p:nvPr/>
        </p:nvSpPr>
        <p:spPr>
          <a:xfrm>
            <a:off x="4784255" y="4644940"/>
            <a:ext cx="541271" cy="356235"/>
          </a:xfrm>
          <a:prstGeom prst="rect">
            <a:avLst/>
          </a:prstGeom>
        </p:spPr>
        <p:txBody>
          <a:bodyPr vert="horz" wrap="square" lIns="0" tIns="5710" rIns="0" bIns="0" rtlCol="0">
            <a:spAutoFit/>
          </a:bodyPr>
          <a:lstStyle/>
          <a:p>
            <a:pPr marR="5080">
              <a:lnSpc>
                <a:spcPct val="104000"/>
              </a:lnSpc>
              <a:spcBef>
                <a:spcPts val="45"/>
              </a:spcBef>
            </a:pPr>
            <a:r>
              <a:rPr sz="1650" b="1" spc="120" baseline="3000" dirty="0">
                <a:latin typeface="微软雅黑" panose="020B0503020204020204" charset="-122"/>
                <a:ea typeface="微软雅黑" panose="020B0503020204020204" charset="-122"/>
                <a:cs typeface="微软雅黑" panose="020B0503020204020204" charset="-122"/>
              </a:rPr>
              <a:t>风 </a:t>
            </a:r>
            <a:r>
              <a:rPr sz="1650" b="1" baseline="3000" dirty="0">
                <a:latin typeface="微软雅黑" panose="020B0503020204020204" charset="-122"/>
                <a:ea typeface="微软雅黑" panose="020B0503020204020204" charset="-122"/>
                <a:cs typeface="微软雅黑" panose="020B0503020204020204" charset="-122"/>
              </a:rPr>
              <a:t>Ｋ</a:t>
            </a:r>
            <a:r>
              <a:rPr sz="1650" b="1" spc="60" baseline="3000" dirty="0">
                <a:latin typeface="微软雅黑" panose="020B0503020204020204" charset="-122"/>
                <a:ea typeface="微软雅黑" panose="020B0503020204020204" charset="-122"/>
                <a:cs typeface="微软雅黑" panose="020B0503020204020204" charset="-122"/>
              </a:rPr>
              <a:t> </a:t>
            </a:r>
            <a:r>
              <a:rPr sz="1100" dirty="0">
                <a:latin typeface="微软雅黑" panose="020B0503020204020204" charset="-122"/>
                <a:ea typeface="微软雅黑" panose="020B0503020204020204" charset="-122"/>
                <a:cs typeface="微软雅黑" panose="020B0503020204020204" charset="-122"/>
              </a:rPr>
              <a:t>高 </a:t>
            </a:r>
            <a:r>
              <a:rPr sz="1100" b="1" spc="80" dirty="0">
                <a:latin typeface="微软雅黑" panose="020B0503020204020204" charset="-122"/>
                <a:ea typeface="微软雅黑" panose="020B0503020204020204" charset="-122"/>
                <a:cs typeface="微软雅黑" panose="020B0503020204020204" charset="-122"/>
              </a:rPr>
              <a:t>险</a:t>
            </a:r>
            <a:r>
              <a:rPr sz="1100" b="1" dirty="0">
                <a:latin typeface="微软雅黑" panose="020B0503020204020204" charset="-122"/>
                <a:ea typeface="微软雅黑" panose="020B0503020204020204" charset="-122"/>
                <a:cs typeface="微软雅黑" panose="020B0503020204020204" charset="-122"/>
              </a:rPr>
              <a:t>Ａ</a:t>
            </a:r>
            <a:endParaRPr sz="1100">
              <a:latin typeface="微软雅黑" panose="020B0503020204020204" charset="-122"/>
              <a:ea typeface="微软雅黑" panose="020B0503020204020204" charset="-122"/>
              <a:cs typeface="微软雅黑" panose="020B0503020204020204" charset="-122"/>
            </a:endParaRPr>
          </a:p>
        </p:txBody>
      </p:sp>
      <p:sp>
        <p:nvSpPr>
          <p:cNvPr id="114" name="object 114"/>
          <p:cNvSpPr txBox="1"/>
          <p:nvPr/>
        </p:nvSpPr>
        <p:spPr>
          <a:xfrm>
            <a:off x="6442144" y="4433309"/>
            <a:ext cx="1861136" cy="674370"/>
          </a:xfrm>
          <a:prstGeom prst="rect">
            <a:avLst/>
          </a:prstGeom>
        </p:spPr>
        <p:txBody>
          <a:bodyPr vert="horz" wrap="square" lIns="0" tIns="71704" rIns="0" bIns="0" rtlCol="0">
            <a:spAutoFit/>
          </a:bodyPr>
          <a:lstStyle/>
          <a:p>
            <a:pPr marL="69850">
              <a:lnSpc>
                <a:spcPct val="100000"/>
              </a:lnSpc>
              <a:spcBef>
                <a:spcPts val="565"/>
              </a:spcBef>
              <a:tabLst>
                <a:tab pos="1778000" algn="l"/>
              </a:tabLst>
            </a:pPr>
            <a:r>
              <a:rPr sz="1100" b="1" u="sng" spc="-270" dirty="0">
                <a:uFill>
                  <a:solidFill>
                    <a:srgbClr val="000000"/>
                  </a:solidFill>
                </a:uFill>
                <a:latin typeface="微软雅黑" panose="020B0503020204020204" charset="-122"/>
                <a:ea typeface="微软雅黑" panose="020B0503020204020204" charset="-122"/>
                <a:cs typeface="微软雅黑" panose="020B0503020204020204" charset="-122"/>
              </a:rPr>
              <a:t> </a:t>
            </a:r>
            <a:r>
              <a:rPr sz="1100" b="1" u="sng" spc="10" dirty="0">
                <a:uFill>
                  <a:solidFill>
                    <a:srgbClr val="000000"/>
                  </a:solidFill>
                </a:uFill>
                <a:latin typeface="微软雅黑" panose="020B0503020204020204" charset="-122"/>
                <a:ea typeface="微软雅黑" panose="020B0503020204020204" charset="-122"/>
                <a:cs typeface="微软雅黑" panose="020B0503020204020204" charset="-122"/>
              </a:rPr>
              <a:t>竞争</a:t>
            </a:r>
            <a:r>
              <a:rPr sz="1100" b="1" u="sng" dirty="0">
                <a:uFill>
                  <a:solidFill>
                    <a:srgbClr val="000000"/>
                  </a:solidFill>
                </a:uFill>
                <a:latin typeface="微软雅黑" panose="020B0503020204020204" charset="-122"/>
                <a:ea typeface="微软雅黑" panose="020B0503020204020204" charset="-122"/>
                <a:cs typeface="微软雅黑" panose="020B0503020204020204" charset="-122"/>
              </a:rPr>
              <a:t>的跟</a:t>
            </a:r>
            <a:r>
              <a:rPr sz="1100" b="1" u="sng" spc="-15" dirty="0">
                <a:uFill>
                  <a:solidFill>
                    <a:srgbClr val="000000"/>
                  </a:solidFill>
                </a:uFill>
                <a:latin typeface="微软雅黑" panose="020B0503020204020204" charset="-122"/>
                <a:ea typeface="微软雅黑" panose="020B0503020204020204" charset="-122"/>
                <a:cs typeface="微软雅黑" panose="020B0503020204020204" charset="-122"/>
              </a:rPr>
              <a:t>踪</a:t>
            </a:r>
            <a:r>
              <a:rPr sz="1100" b="1" u="sng" dirty="0">
                <a:uFill>
                  <a:solidFill>
                    <a:srgbClr val="000000"/>
                  </a:solidFill>
                </a:uFill>
                <a:latin typeface="微软雅黑" panose="020B0503020204020204" charset="-122"/>
                <a:ea typeface="微软雅黑" panose="020B0503020204020204" charset="-122"/>
                <a:cs typeface="微软雅黑" panose="020B0503020204020204" charset="-122"/>
              </a:rPr>
              <a:t>信息	</a:t>
            </a:r>
            <a:endParaRPr sz="1100">
              <a:latin typeface="微软雅黑" panose="020B0503020204020204" charset="-122"/>
              <a:ea typeface="微软雅黑" panose="020B0503020204020204" charset="-122"/>
              <a:cs typeface="微软雅黑" panose="020B0503020204020204" charset="-122"/>
            </a:endParaRPr>
          </a:p>
          <a:p>
            <a:pPr marL="162560" marR="175260" indent="-90170">
              <a:lnSpc>
                <a:spcPts val="1190"/>
              </a:lnSpc>
              <a:spcBef>
                <a:spcPts val="1005"/>
              </a:spcBef>
              <a:buClr>
                <a:srgbClr val="00295F"/>
              </a:buClr>
              <a:buSzPct val="123000"/>
              <a:buFont typeface="Arial" panose="020B0604020202020204"/>
              <a:buChar char="▪"/>
              <a:tabLst>
                <a:tab pos="163195" algn="l"/>
              </a:tabLst>
            </a:pPr>
            <a:r>
              <a:rPr sz="1100" spc="-5" dirty="0">
                <a:latin typeface="微软雅黑" panose="020B0503020204020204" charset="-122"/>
                <a:ea typeface="微软雅黑" panose="020B0503020204020204" charset="-122"/>
                <a:cs typeface="微软雅黑" panose="020B0503020204020204" charset="-122"/>
              </a:rPr>
              <a:t>xx</a:t>
            </a:r>
            <a:r>
              <a:rPr sz="1100" dirty="0">
                <a:latin typeface="微软雅黑" panose="020B0503020204020204" charset="-122"/>
                <a:ea typeface="微软雅黑" panose="020B0503020204020204" charset="-122"/>
                <a:cs typeface="微软雅黑" panose="020B0503020204020204" charset="-122"/>
              </a:rPr>
              <a:t>月</a:t>
            </a:r>
            <a:r>
              <a:rPr sz="1100" spc="-5" dirty="0">
                <a:latin typeface="微软雅黑" panose="020B0503020204020204" charset="-122"/>
                <a:ea typeface="微软雅黑" panose="020B0503020204020204" charset="-122"/>
                <a:cs typeface="微软雅黑" panose="020B0503020204020204" charset="-122"/>
              </a:rPr>
              <a:t>xx</a:t>
            </a:r>
            <a:r>
              <a:rPr sz="1100" dirty="0">
                <a:latin typeface="微软雅黑" panose="020B0503020204020204" charset="-122"/>
                <a:ea typeface="微软雅黑" panose="020B0503020204020204" charset="-122"/>
                <a:cs typeface="微软雅黑" panose="020B0503020204020204" charset="-122"/>
              </a:rPr>
              <a:t>日，小松给</a:t>
            </a:r>
            <a:r>
              <a:rPr sz="1100" spc="-15" dirty="0">
                <a:latin typeface="微软雅黑" panose="020B0503020204020204" charset="-122"/>
                <a:ea typeface="微软雅黑" panose="020B0503020204020204" charset="-122"/>
                <a:cs typeface="微软雅黑" panose="020B0503020204020204" charset="-122"/>
              </a:rPr>
              <a:t>出</a:t>
            </a:r>
            <a:r>
              <a:rPr sz="1100" dirty="0">
                <a:latin typeface="微软雅黑" panose="020B0503020204020204" charset="-122"/>
                <a:ea typeface="微软雅黑" panose="020B0503020204020204" charset="-122"/>
                <a:cs typeface="微软雅黑" panose="020B0503020204020204" charset="-122"/>
              </a:rPr>
              <a:t>了服 务套餐折扣优惠</a:t>
            </a:r>
            <a:endParaRPr sz="1100">
              <a:latin typeface="微软雅黑" panose="020B0503020204020204" charset="-122"/>
              <a:ea typeface="微软雅黑" panose="020B0503020204020204" charset="-122"/>
              <a:cs typeface="微软雅黑" panose="020B0503020204020204" charset="-122"/>
            </a:endParaRPr>
          </a:p>
        </p:txBody>
      </p:sp>
      <p:sp>
        <p:nvSpPr>
          <p:cNvPr id="115" name="object 115"/>
          <p:cNvSpPr txBox="1"/>
          <p:nvPr/>
        </p:nvSpPr>
        <p:spPr>
          <a:xfrm>
            <a:off x="7009679" y="5230630"/>
            <a:ext cx="469265" cy="165618"/>
          </a:xfrm>
          <a:prstGeom prst="rect">
            <a:avLst/>
          </a:prstGeom>
        </p:spPr>
        <p:txBody>
          <a:bodyPr vert="vert" wrap="square" lIns="0" tIns="20940" rIns="0" bIns="0" rtlCol="0">
            <a:spAutoFit/>
          </a:bodyPr>
          <a:lstStyle/>
          <a:p>
            <a:pPr marL="12700">
              <a:lnSpc>
                <a:spcPts val="1255"/>
              </a:lnSpc>
              <a:spcBef>
                <a:spcPts val="165"/>
              </a:spcBef>
            </a:pPr>
            <a:r>
              <a:rPr sz="1100" dirty="0">
                <a:latin typeface="微软雅黑" panose="020B0503020204020204" charset="-122"/>
                <a:ea typeface="微软雅黑" panose="020B0503020204020204" charset="-122"/>
                <a:cs typeface="微软雅黑" panose="020B0503020204020204" charset="-122"/>
              </a:rPr>
              <a:t>・</a:t>
            </a:r>
            <a:endParaRPr sz="1100">
              <a:latin typeface="微软雅黑" panose="020B0503020204020204" charset="-122"/>
              <a:ea typeface="微软雅黑" panose="020B0503020204020204" charset="-122"/>
              <a:cs typeface="微软雅黑" panose="020B0503020204020204" charset="-122"/>
            </a:endParaRPr>
          </a:p>
          <a:p>
            <a:pPr marL="12700">
              <a:lnSpc>
                <a:spcPts val="1170"/>
              </a:lnSpc>
            </a:pPr>
            <a:r>
              <a:rPr sz="1100" dirty="0">
                <a:latin typeface="微软雅黑" panose="020B0503020204020204" charset="-122"/>
                <a:ea typeface="微软雅黑" panose="020B0503020204020204" charset="-122"/>
                <a:cs typeface="微软雅黑" panose="020B0503020204020204" charset="-122"/>
              </a:rPr>
              <a:t>・</a:t>
            </a:r>
            <a:endParaRPr sz="1100">
              <a:latin typeface="微软雅黑" panose="020B0503020204020204" charset="-122"/>
              <a:ea typeface="微软雅黑" panose="020B0503020204020204" charset="-122"/>
              <a:cs typeface="微软雅黑" panose="020B0503020204020204" charset="-122"/>
            </a:endParaRPr>
          </a:p>
          <a:p>
            <a:pPr marL="12700">
              <a:lnSpc>
                <a:spcPts val="1235"/>
              </a:lnSpc>
            </a:pPr>
            <a:r>
              <a:rPr sz="1100" dirty="0">
                <a:latin typeface="微软雅黑" panose="020B0503020204020204" charset="-122"/>
                <a:ea typeface="微软雅黑" panose="020B0503020204020204" charset="-122"/>
                <a:cs typeface="微软雅黑" panose="020B0503020204020204" charset="-122"/>
              </a:rPr>
              <a:t>・</a:t>
            </a:r>
            <a:endParaRPr sz="1100">
              <a:latin typeface="微软雅黑" panose="020B0503020204020204" charset="-122"/>
              <a:ea typeface="微软雅黑" panose="020B0503020204020204" charset="-122"/>
              <a:cs typeface="微软雅黑" panose="020B0503020204020204" charset="-122"/>
            </a:endParaRPr>
          </a:p>
        </p:txBody>
      </p:sp>
      <p:sp>
        <p:nvSpPr>
          <p:cNvPr id="116" name="object 116"/>
          <p:cNvSpPr/>
          <p:nvPr/>
        </p:nvSpPr>
        <p:spPr>
          <a:xfrm>
            <a:off x="187319" y="6165577"/>
            <a:ext cx="371846" cy="175136"/>
          </a:xfrm>
          <a:custGeom>
            <a:avLst/>
            <a:gdLst/>
            <a:ahLst/>
            <a:cxnLst/>
            <a:rect l="l" t="t" r="r" b="b"/>
            <a:pathLst>
              <a:path w="372109" h="175260">
                <a:moveTo>
                  <a:pt x="349669" y="0"/>
                </a:moveTo>
                <a:lnTo>
                  <a:pt x="48145" y="0"/>
                </a:lnTo>
                <a:lnTo>
                  <a:pt x="35466" y="3718"/>
                </a:lnTo>
                <a:lnTo>
                  <a:pt x="21496" y="12249"/>
                </a:lnTo>
                <a:lnTo>
                  <a:pt x="8813" y="21656"/>
                </a:lnTo>
                <a:lnTo>
                  <a:pt x="0" y="28003"/>
                </a:lnTo>
                <a:lnTo>
                  <a:pt x="0" y="145186"/>
                </a:lnTo>
                <a:lnTo>
                  <a:pt x="12430" y="146111"/>
                </a:lnTo>
                <a:lnTo>
                  <a:pt x="22928" y="147908"/>
                </a:lnTo>
                <a:lnTo>
                  <a:pt x="32566" y="151456"/>
                </a:lnTo>
                <a:lnTo>
                  <a:pt x="42418" y="157632"/>
                </a:lnTo>
                <a:lnTo>
                  <a:pt x="55958" y="164030"/>
                </a:lnTo>
                <a:lnTo>
                  <a:pt x="74229" y="168389"/>
                </a:lnTo>
                <a:lnTo>
                  <a:pt x="114642" y="175259"/>
                </a:lnTo>
                <a:lnTo>
                  <a:pt x="196037" y="175259"/>
                </a:lnTo>
                <a:lnTo>
                  <a:pt x="196037" y="49771"/>
                </a:lnTo>
                <a:lnTo>
                  <a:pt x="349669" y="49771"/>
                </a:lnTo>
                <a:lnTo>
                  <a:pt x="366274" y="41994"/>
                </a:lnTo>
                <a:lnTo>
                  <a:pt x="371595" y="24885"/>
                </a:lnTo>
                <a:lnTo>
                  <a:pt x="365953" y="7776"/>
                </a:lnTo>
                <a:lnTo>
                  <a:pt x="349669" y="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7" name="object 117"/>
          <p:cNvSpPr txBox="1"/>
          <p:nvPr/>
        </p:nvSpPr>
        <p:spPr>
          <a:xfrm>
            <a:off x="783695" y="4269667"/>
            <a:ext cx="3554116" cy="333375"/>
          </a:xfrm>
          <a:prstGeom prst="rect">
            <a:avLst/>
          </a:prstGeom>
        </p:spPr>
        <p:txBody>
          <a:bodyPr vert="horz" wrap="square" lIns="0" tIns="12691" rIns="0" bIns="0" rtlCol="0">
            <a:spAutoFit/>
          </a:bodyPr>
          <a:lstStyle/>
          <a:p>
            <a:pPr>
              <a:lnSpc>
                <a:spcPts val="1255"/>
              </a:lnSpc>
              <a:spcBef>
                <a:spcPts val="100"/>
              </a:spcBef>
            </a:pPr>
            <a:r>
              <a:rPr sz="1100" b="1" spc="10" dirty="0">
                <a:latin typeface="微软雅黑" panose="020B0503020204020204" charset="-122"/>
                <a:ea typeface="微软雅黑" panose="020B0503020204020204" charset="-122"/>
                <a:cs typeface="微软雅黑" panose="020B0503020204020204" charset="-122"/>
              </a:rPr>
              <a:t>各部</a:t>
            </a:r>
            <a:r>
              <a:rPr sz="1100" b="1" dirty="0">
                <a:latin typeface="微软雅黑" panose="020B0503020204020204" charset="-122"/>
                <a:ea typeface="微软雅黑" panose="020B0503020204020204" charset="-122"/>
                <a:cs typeface="微软雅黑" panose="020B0503020204020204" charset="-122"/>
              </a:rPr>
              <a:t>门的</a:t>
            </a:r>
            <a:r>
              <a:rPr sz="1100" b="1" spc="-15" dirty="0">
                <a:latin typeface="微软雅黑" panose="020B0503020204020204" charset="-122"/>
                <a:ea typeface="微软雅黑" panose="020B0503020204020204" charset="-122"/>
                <a:cs typeface="微软雅黑" panose="020B0503020204020204" charset="-122"/>
              </a:rPr>
              <a:t>收</a:t>
            </a:r>
            <a:r>
              <a:rPr sz="1100" b="1" dirty="0">
                <a:latin typeface="微软雅黑" panose="020B0503020204020204" charset="-122"/>
                <a:ea typeface="微软雅黑" panose="020B0503020204020204" charset="-122"/>
                <a:cs typeface="微软雅黑" panose="020B0503020204020204" charset="-122"/>
              </a:rPr>
              <a:t>益状况</a:t>
            </a:r>
            <a:endParaRPr sz="1100">
              <a:latin typeface="微软雅黑" panose="020B0503020204020204" charset="-122"/>
              <a:ea typeface="微软雅黑" panose="020B0503020204020204" charset="-122"/>
              <a:cs typeface="微软雅黑" panose="020B0503020204020204" charset="-122"/>
            </a:endParaRPr>
          </a:p>
          <a:p>
            <a:pPr>
              <a:lnSpc>
                <a:spcPts val="1255"/>
              </a:lnSpc>
              <a:tabLst>
                <a:tab pos="3543300" algn="l"/>
              </a:tabLst>
            </a:pPr>
            <a:r>
              <a:rPr sz="1100" u="sng" spc="-5" dirty="0">
                <a:solidFill>
                  <a:srgbClr val="808080"/>
                </a:solidFill>
                <a:uFill>
                  <a:solidFill>
                    <a:srgbClr val="000000"/>
                  </a:solidFill>
                </a:uFill>
                <a:latin typeface="微软雅黑" panose="020B0503020204020204" charset="-122"/>
                <a:ea typeface="微软雅黑" panose="020B0503020204020204" charset="-122"/>
                <a:cs typeface="微软雅黑" panose="020B0503020204020204" charset="-122"/>
              </a:rPr>
              <a:t>xxx	</a:t>
            </a:r>
            <a:endParaRPr sz="1100">
              <a:latin typeface="微软雅黑" panose="020B0503020204020204" charset="-122"/>
              <a:ea typeface="微软雅黑" panose="020B0503020204020204" charset="-122"/>
              <a:cs typeface="微软雅黑" panose="020B0503020204020204" charset="-122"/>
            </a:endParaRPr>
          </a:p>
        </p:txBody>
      </p:sp>
      <p:sp>
        <p:nvSpPr>
          <p:cNvPr id="118" name="object 118"/>
          <p:cNvSpPr/>
          <p:nvPr/>
        </p:nvSpPr>
        <p:spPr>
          <a:xfrm>
            <a:off x="187319" y="6165577"/>
            <a:ext cx="371846" cy="175136"/>
          </a:xfrm>
          <a:custGeom>
            <a:avLst/>
            <a:gdLst/>
            <a:ahLst/>
            <a:cxnLst/>
            <a:rect l="l" t="t" r="r" b="b"/>
            <a:pathLst>
              <a:path w="372109" h="175260">
                <a:moveTo>
                  <a:pt x="0" y="28003"/>
                </a:moveTo>
                <a:lnTo>
                  <a:pt x="8813" y="21656"/>
                </a:lnTo>
                <a:lnTo>
                  <a:pt x="21496" y="12249"/>
                </a:lnTo>
                <a:lnTo>
                  <a:pt x="35466" y="3718"/>
                </a:lnTo>
                <a:lnTo>
                  <a:pt x="48145" y="0"/>
                </a:lnTo>
                <a:lnTo>
                  <a:pt x="73667" y="0"/>
                </a:lnTo>
                <a:lnTo>
                  <a:pt x="126575" y="0"/>
                </a:lnTo>
                <a:lnTo>
                  <a:pt x="193749" y="0"/>
                </a:lnTo>
                <a:lnTo>
                  <a:pt x="262070" y="0"/>
                </a:lnTo>
                <a:lnTo>
                  <a:pt x="318416" y="0"/>
                </a:lnTo>
                <a:lnTo>
                  <a:pt x="349669" y="0"/>
                </a:lnTo>
                <a:lnTo>
                  <a:pt x="365953" y="7776"/>
                </a:lnTo>
                <a:lnTo>
                  <a:pt x="371595" y="24885"/>
                </a:lnTo>
                <a:lnTo>
                  <a:pt x="366274" y="41994"/>
                </a:lnTo>
                <a:lnTo>
                  <a:pt x="349669" y="49771"/>
                </a:lnTo>
                <a:lnTo>
                  <a:pt x="316314" y="49771"/>
                </a:lnTo>
                <a:lnTo>
                  <a:pt x="270276" y="49771"/>
                </a:lnTo>
                <a:lnTo>
                  <a:pt x="225526" y="49771"/>
                </a:lnTo>
                <a:lnTo>
                  <a:pt x="196037" y="49771"/>
                </a:lnTo>
                <a:lnTo>
                  <a:pt x="196037" y="84404"/>
                </a:lnTo>
                <a:lnTo>
                  <a:pt x="196037" y="116797"/>
                </a:lnTo>
                <a:lnTo>
                  <a:pt x="196037" y="147049"/>
                </a:lnTo>
                <a:lnTo>
                  <a:pt x="196037" y="175259"/>
                </a:lnTo>
                <a:lnTo>
                  <a:pt x="174455" y="175259"/>
                </a:lnTo>
                <a:lnTo>
                  <a:pt x="155773" y="175259"/>
                </a:lnTo>
                <a:lnTo>
                  <a:pt x="136874" y="175259"/>
                </a:lnTo>
                <a:lnTo>
                  <a:pt x="114642" y="175259"/>
                </a:lnTo>
                <a:lnTo>
                  <a:pt x="94651" y="171777"/>
                </a:lnTo>
                <a:lnTo>
                  <a:pt x="74229" y="168389"/>
                </a:lnTo>
                <a:lnTo>
                  <a:pt x="55958" y="164030"/>
                </a:lnTo>
                <a:lnTo>
                  <a:pt x="42418" y="157632"/>
                </a:lnTo>
                <a:lnTo>
                  <a:pt x="32566" y="151456"/>
                </a:lnTo>
                <a:lnTo>
                  <a:pt x="22928" y="147908"/>
                </a:lnTo>
                <a:lnTo>
                  <a:pt x="12430" y="146111"/>
                </a:lnTo>
                <a:lnTo>
                  <a:pt x="0" y="145186"/>
                </a:lnTo>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19" name="object 119"/>
          <p:cNvSpPr/>
          <p:nvPr/>
        </p:nvSpPr>
        <p:spPr>
          <a:xfrm>
            <a:off x="264797" y="6179092"/>
            <a:ext cx="202595" cy="172471"/>
          </a:xfrm>
          <a:prstGeom prst="rect">
            <a:avLst/>
          </a:prstGeom>
          <a:blipFill>
            <a:blip r:embed="rId6"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120" name="object 120"/>
          <p:cNvSpPr/>
          <p:nvPr/>
        </p:nvSpPr>
        <p:spPr>
          <a:xfrm>
            <a:off x="153054" y="6183852"/>
            <a:ext cx="0" cy="149754"/>
          </a:xfrm>
          <a:custGeom>
            <a:avLst/>
            <a:gdLst/>
            <a:ahLst/>
            <a:cxnLst/>
            <a:rect l="l" t="t" r="r" b="b"/>
            <a:pathLst>
              <a:path h="149860">
                <a:moveTo>
                  <a:pt x="0" y="0"/>
                </a:moveTo>
                <a:lnTo>
                  <a:pt x="0" y="149352"/>
                </a:lnTo>
              </a:path>
            </a:pathLst>
          </a:custGeom>
          <a:ln w="68580">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21" name="object 121"/>
          <p:cNvSpPr/>
          <p:nvPr/>
        </p:nvSpPr>
        <p:spPr>
          <a:xfrm>
            <a:off x="118787" y="6183852"/>
            <a:ext cx="68531" cy="149754"/>
          </a:xfrm>
          <a:custGeom>
            <a:avLst/>
            <a:gdLst/>
            <a:ahLst/>
            <a:cxnLst/>
            <a:rect l="l" t="t" r="r" b="b"/>
            <a:pathLst>
              <a:path w="68580" h="149860">
                <a:moveTo>
                  <a:pt x="0" y="149352"/>
                </a:moveTo>
                <a:lnTo>
                  <a:pt x="68580" y="149352"/>
                </a:lnTo>
                <a:lnTo>
                  <a:pt x="68580" y="0"/>
                </a:lnTo>
                <a:lnTo>
                  <a:pt x="0" y="0"/>
                </a:lnTo>
                <a:lnTo>
                  <a:pt x="0" y="149352"/>
                </a:lnTo>
                <a:close/>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22" name="object 122"/>
          <p:cNvSpPr txBox="1"/>
          <p:nvPr/>
        </p:nvSpPr>
        <p:spPr>
          <a:xfrm>
            <a:off x="633027" y="6099279"/>
            <a:ext cx="4331440" cy="165100"/>
          </a:xfrm>
          <a:prstGeom prst="rect">
            <a:avLst/>
          </a:prstGeom>
        </p:spPr>
        <p:txBody>
          <a:bodyPr vert="horz" wrap="square" lIns="0" tIns="12056" rIns="0" bIns="0" rtlCol="0">
            <a:spAutoFit/>
          </a:bodyPr>
          <a:lstStyle/>
          <a:p>
            <a:pPr marL="12700">
              <a:lnSpc>
                <a:spcPct val="100000"/>
              </a:lnSpc>
              <a:spcBef>
                <a:spcPts val="95"/>
              </a:spcBef>
            </a:pPr>
            <a:r>
              <a:rPr sz="1000" spc="-5" dirty="0">
                <a:latin typeface="微软雅黑" panose="020B0503020204020204" charset="-122"/>
                <a:ea typeface="微软雅黑" panose="020B0503020204020204" charset="-122"/>
                <a:cs typeface="微软雅黑" panose="020B0503020204020204" charset="-122"/>
              </a:rPr>
              <a:t>将营业员个人所管理的大客户信息</a:t>
            </a:r>
            <a:r>
              <a:rPr sz="1000" spc="5" dirty="0">
                <a:latin typeface="微软雅黑" panose="020B0503020204020204" charset="-122"/>
                <a:ea typeface="微软雅黑" panose="020B0503020204020204" charset="-122"/>
                <a:cs typeface="微软雅黑" panose="020B0503020204020204" charset="-122"/>
              </a:rPr>
              <a:t>与</a:t>
            </a:r>
            <a:r>
              <a:rPr sz="1000" spc="-5" dirty="0">
                <a:latin typeface="微软雅黑" panose="020B0503020204020204" charset="-122"/>
                <a:ea typeface="微软雅黑" panose="020B0503020204020204" charset="-122"/>
                <a:cs typeface="微软雅黑" panose="020B0503020204020204" charset="-122"/>
              </a:rPr>
              <a:t>公司</a:t>
            </a:r>
            <a:r>
              <a:rPr sz="1000" spc="5" dirty="0">
                <a:latin typeface="微软雅黑" panose="020B0503020204020204" charset="-122"/>
                <a:ea typeface="微软雅黑" panose="020B0503020204020204" charset="-122"/>
                <a:cs typeface="微软雅黑" panose="020B0503020204020204" charset="-122"/>
              </a:rPr>
              <a:t>共</a:t>
            </a:r>
            <a:r>
              <a:rPr sz="1000" spc="-5" dirty="0">
                <a:latin typeface="微软雅黑" panose="020B0503020204020204" charset="-122"/>
                <a:ea typeface="微软雅黑" panose="020B0503020204020204" charset="-122"/>
                <a:cs typeface="微软雅黑" panose="020B0503020204020204" charset="-122"/>
              </a:rPr>
              <a:t>享，</a:t>
            </a:r>
            <a:r>
              <a:rPr sz="1000" spc="5" dirty="0">
                <a:latin typeface="微软雅黑" panose="020B0503020204020204" charset="-122"/>
                <a:ea typeface="微软雅黑" panose="020B0503020204020204" charset="-122"/>
                <a:cs typeface="微软雅黑" panose="020B0503020204020204" charset="-122"/>
              </a:rPr>
              <a:t>做</a:t>
            </a:r>
            <a:r>
              <a:rPr sz="1000" spc="-5" dirty="0">
                <a:latin typeface="微软雅黑" panose="020B0503020204020204" charset="-122"/>
                <a:ea typeface="微软雅黑" panose="020B0503020204020204" charset="-122"/>
                <a:cs typeface="微软雅黑" panose="020B0503020204020204" charset="-122"/>
              </a:rPr>
              <a:t>到人</a:t>
            </a:r>
            <a:r>
              <a:rPr sz="1000" spc="5" dirty="0">
                <a:latin typeface="微软雅黑" panose="020B0503020204020204" charset="-122"/>
                <a:ea typeface="微软雅黑" panose="020B0503020204020204" charset="-122"/>
                <a:cs typeface="微软雅黑" panose="020B0503020204020204" charset="-122"/>
              </a:rPr>
              <a:t>流</a:t>
            </a:r>
            <a:r>
              <a:rPr sz="1000" spc="-5" dirty="0">
                <a:latin typeface="微软雅黑" panose="020B0503020204020204" charset="-122"/>
                <a:ea typeface="微软雅黑" panose="020B0503020204020204" charset="-122"/>
                <a:cs typeface="微软雅黑" panose="020B0503020204020204" charset="-122"/>
              </a:rPr>
              <a:t>动但</a:t>
            </a:r>
            <a:r>
              <a:rPr sz="1000" spc="5" dirty="0">
                <a:latin typeface="微软雅黑" panose="020B0503020204020204" charset="-122"/>
                <a:ea typeface="微软雅黑" panose="020B0503020204020204" charset="-122"/>
                <a:cs typeface="微软雅黑" panose="020B0503020204020204" charset="-122"/>
              </a:rPr>
              <a:t>是</a:t>
            </a:r>
            <a:r>
              <a:rPr sz="1000" spc="-5" dirty="0">
                <a:latin typeface="微软雅黑" panose="020B0503020204020204" charset="-122"/>
                <a:ea typeface="微软雅黑" panose="020B0503020204020204" charset="-122"/>
                <a:cs typeface="微软雅黑" panose="020B0503020204020204" charset="-122"/>
              </a:rPr>
              <a:t>大客</a:t>
            </a:r>
            <a:r>
              <a:rPr sz="1000" spc="5" dirty="0">
                <a:latin typeface="微软雅黑" panose="020B0503020204020204" charset="-122"/>
                <a:ea typeface="微软雅黑" panose="020B0503020204020204" charset="-122"/>
                <a:cs typeface="微软雅黑" panose="020B0503020204020204" charset="-122"/>
              </a:rPr>
              <a:t>户</a:t>
            </a:r>
            <a:r>
              <a:rPr sz="1000" spc="-5" dirty="0">
                <a:latin typeface="微软雅黑" panose="020B0503020204020204" charset="-122"/>
                <a:ea typeface="微软雅黑" panose="020B0503020204020204" charset="-122"/>
                <a:cs typeface="微软雅黑" panose="020B0503020204020204" charset="-122"/>
              </a:rPr>
              <a:t>不流动</a:t>
            </a:r>
            <a:endParaRPr sz="10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0629" y="696007"/>
            <a:ext cx="7873500" cy="5365757"/>
          </a:xfrm>
          <a:custGeom>
            <a:avLst/>
            <a:gdLst/>
            <a:ahLst/>
            <a:cxnLst/>
            <a:rect l="l" t="t" r="r" b="b"/>
            <a:pathLst>
              <a:path w="7879080" h="5369560">
                <a:moveTo>
                  <a:pt x="0" y="5369052"/>
                </a:moveTo>
                <a:lnTo>
                  <a:pt x="7879080" y="5369052"/>
                </a:lnTo>
                <a:lnTo>
                  <a:pt x="7879080" y="0"/>
                </a:lnTo>
                <a:lnTo>
                  <a:pt x="0" y="0"/>
                </a:lnTo>
                <a:lnTo>
                  <a:pt x="0" y="5369052"/>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 name="object 4"/>
          <p:cNvSpPr txBox="1"/>
          <p:nvPr/>
        </p:nvSpPr>
        <p:spPr>
          <a:xfrm>
            <a:off x="628966" y="1538944"/>
            <a:ext cx="555866" cy="492760"/>
          </a:xfrm>
          <a:prstGeom prst="rect">
            <a:avLst/>
          </a:prstGeom>
          <a:solidFill>
            <a:srgbClr val="C6DFFA"/>
          </a:solidFill>
        </p:spPr>
        <p:txBody>
          <a:bodyPr vert="horz" wrap="square" lIns="0" tIns="0" rIns="0" bIns="0" rtlCol="0">
            <a:spAutoFit/>
          </a:bodyPr>
          <a:lstStyle/>
          <a:p>
            <a:pPr>
              <a:lnSpc>
                <a:spcPct val="100000"/>
              </a:lnSpc>
            </a:pPr>
            <a:endParaRPr sz="1300">
              <a:latin typeface="微软雅黑" panose="020B0503020204020204" charset="-122"/>
              <a:ea typeface="微软雅黑" panose="020B0503020204020204" charset="-122"/>
              <a:cs typeface="微软雅黑" panose="020B0503020204020204" charset="-122"/>
            </a:endParaRPr>
          </a:p>
          <a:p>
            <a:pPr marL="34925">
              <a:lnSpc>
                <a:spcPct val="100000"/>
              </a:lnSpc>
              <a:spcBef>
                <a:spcPts val="1085"/>
              </a:spcBef>
            </a:pPr>
            <a:r>
              <a:rPr sz="1000" b="1" spc="5" dirty="0">
                <a:latin typeface="微软雅黑" panose="020B0503020204020204" charset="-122"/>
                <a:ea typeface="微软雅黑" panose="020B0503020204020204" charset="-122"/>
                <a:cs typeface="微软雅黑" panose="020B0503020204020204" charset="-122"/>
              </a:rPr>
              <a:t>客</a:t>
            </a:r>
            <a:r>
              <a:rPr sz="1000" b="1" spc="-5" dirty="0">
                <a:latin typeface="微软雅黑" panose="020B0503020204020204" charset="-122"/>
                <a:ea typeface="微软雅黑" panose="020B0503020204020204" charset="-122"/>
                <a:cs typeface="微软雅黑" panose="020B0503020204020204" charset="-122"/>
              </a:rPr>
              <a:t>户</a:t>
            </a:r>
            <a:r>
              <a:rPr sz="1000" b="1" spc="5" dirty="0">
                <a:latin typeface="微软雅黑" panose="020B0503020204020204" charset="-122"/>
                <a:ea typeface="微软雅黑" panose="020B0503020204020204" charset="-122"/>
                <a:cs typeface="微软雅黑" panose="020B0503020204020204" charset="-122"/>
              </a:rPr>
              <a:t> </a:t>
            </a:r>
            <a:r>
              <a:rPr sz="1000" b="1" spc="-5" dirty="0">
                <a:latin typeface="微软雅黑" panose="020B0503020204020204" charset="-122"/>
                <a:ea typeface="微软雅黑" panose="020B0503020204020204" charset="-122"/>
                <a:cs typeface="微软雅黑" panose="020B0503020204020204" charset="-122"/>
              </a:rPr>
              <a:t>1</a:t>
            </a:r>
            <a:endParaRPr sz="1000">
              <a:latin typeface="微软雅黑" panose="020B0503020204020204" charset="-122"/>
              <a:ea typeface="微软雅黑" panose="020B0503020204020204" charset="-122"/>
              <a:cs typeface="微软雅黑" panose="020B0503020204020204" charset="-122"/>
            </a:endParaRPr>
          </a:p>
        </p:txBody>
      </p:sp>
      <p:sp>
        <p:nvSpPr>
          <p:cNvPr id="5" name="object 5"/>
          <p:cNvSpPr txBox="1"/>
          <p:nvPr/>
        </p:nvSpPr>
        <p:spPr>
          <a:xfrm>
            <a:off x="628966" y="2411577"/>
            <a:ext cx="555866" cy="777240"/>
          </a:xfrm>
          <a:prstGeom prst="rect">
            <a:avLst/>
          </a:prstGeom>
          <a:solidFill>
            <a:srgbClr val="C6DFFA"/>
          </a:solidFill>
        </p:spPr>
        <p:txBody>
          <a:bodyPr vert="horz" wrap="square" lIns="0" tIns="0" rIns="0" bIns="0" rtlCol="0">
            <a:spAutoFit/>
          </a:bodyPr>
          <a:lstStyle/>
          <a:p>
            <a:pPr>
              <a:lnSpc>
                <a:spcPct val="100000"/>
              </a:lnSpc>
            </a:pPr>
            <a:endParaRPr sz="1300">
              <a:latin typeface="微软雅黑" panose="020B0503020204020204" charset="-122"/>
              <a:ea typeface="微软雅黑" panose="020B0503020204020204" charset="-122"/>
              <a:cs typeface="微软雅黑" panose="020B0503020204020204" charset="-122"/>
            </a:endParaRPr>
          </a:p>
          <a:p>
            <a:pPr>
              <a:lnSpc>
                <a:spcPct val="100000"/>
              </a:lnSpc>
            </a:pPr>
            <a:endParaRPr sz="1300">
              <a:latin typeface="微软雅黑" panose="020B0503020204020204" charset="-122"/>
              <a:ea typeface="微软雅黑" panose="020B0503020204020204" charset="-122"/>
              <a:cs typeface="微软雅黑" panose="020B0503020204020204" charset="-122"/>
            </a:endParaRPr>
          </a:p>
          <a:p>
            <a:pPr>
              <a:lnSpc>
                <a:spcPct val="100000"/>
              </a:lnSpc>
              <a:spcBef>
                <a:spcPts val="5"/>
              </a:spcBef>
            </a:pPr>
            <a:endParaRPr sz="1450">
              <a:latin typeface="微软雅黑" panose="020B0503020204020204" charset="-122"/>
              <a:ea typeface="微软雅黑" panose="020B0503020204020204" charset="-122"/>
              <a:cs typeface="微软雅黑" panose="020B0503020204020204" charset="-122"/>
            </a:endParaRPr>
          </a:p>
          <a:p>
            <a:pPr marL="34925">
              <a:lnSpc>
                <a:spcPct val="100000"/>
              </a:lnSpc>
            </a:pPr>
            <a:r>
              <a:rPr sz="1000" b="1" spc="5" dirty="0">
                <a:latin typeface="微软雅黑" panose="020B0503020204020204" charset="-122"/>
                <a:ea typeface="微软雅黑" panose="020B0503020204020204" charset="-122"/>
                <a:cs typeface="微软雅黑" panose="020B0503020204020204" charset="-122"/>
              </a:rPr>
              <a:t>客</a:t>
            </a:r>
            <a:r>
              <a:rPr sz="1000" b="1" spc="-5" dirty="0">
                <a:latin typeface="微软雅黑" panose="020B0503020204020204" charset="-122"/>
                <a:ea typeface="微软雅黑" panose="020B0503020204020204" charset="-122"/>
                <a:cs typeface="微软雅黑" panose="020B0503020204020204" charset="-122"/>
              </a:rPr>
              <a:t>户</a:t>
            </a:r>
            <a:r>
              <a:rPr sz="1000" b="1" spc="5" dirty="0">
                <a:latin typeface="微软雅黑" panose="020B0503020204020204" charset="-122"/>
                <a:ea typeface="微软雅黑" panose="020B0503020204020204" charset="-122"/>
                <a:cs typeface="微软雅黑" panose="020B0503020204020204" charset="-122"/>
              </a:rPr>
              <a:t> </a:t>
            </a:r>
            <a:r>
              <a:rPr sz="1000" b="1" spc="-5" dirty="0">
                <a:latin typeface="微软雅黑" panose="020B0503020204020204" charset="-122"/>
                <a:ea typeface="微软雅黑" panose="020B0503020204020204" charset="-122"/>
                <a:cs typeface="微软雅黑" panose="020B0503020204020204" charset="-122"/>
              </a:rPr>
              <a:t>2</a:t>
            </a:r>
            <a:endParaRPr sz="1000">
              <a:latin typeface="微软雅黑" panose="020B0503020204020204" charset="-122"/>
              <a:ea typeface="微软雅黑" panose="020B0503020204020204" charset="-122"/>
              <a:cs typeface="微软雅黑" panose="020B0503020204020204" charset="-122"/>
            </a:endParaRPr>
          </a:p>
        </p:txBody>
      </p:sp>
      <p:sp>
        <p:nvSpPr>
          <p:cNvPr id="6" name="object 6"/>
          <p:cNvSpPr/>
          <p:nvPr/>
        </p:nvSpPr>
        <p:spPr>
          <a:xfrm>
            <a:off x="628966" y="3890333"/>
            <a:ext cx="555866" cy="2076249"/>
          </a:xfrm>
          <a:custGeom>
            <a:avLst/>
            <a:gdLst/>
            <a:ahLst/>
            <a:cxnLst/>
            <a:rect l="l" t="t" r="r" b="b"/>
            <a:pathLst>
              <a:path w="556260" h="2077720">
                <a:moveTo>
                  <a:pt x="0" y="2077212"/>
                </a:moveTo>
                <a:lnTo>
                  <a:pt x="556260" y="2077212"/>
                </a:lnTo>
                <a:lnTo>
                  <a:pt x="556260" y="0"/>
                </a:lnTo>
                <a:lnTo>
                  <a:pt x="0" y="0"/>
                </a:lnTo>
                <a:lnTo>
                  <a:pt x="0" y="2077212"/>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txBox="1"/>
          <p:nvPr/>
        </p:nvSpPr>
        <p:spPr>
          <a:xfrm>
            <a:off x="633941" y="4832767"/>
            <a:ext cx="385172" cy="165100"/>
          </a:xfrm>
          <a:prstGeom prst="rect">
            <a:avLst/>
          </a:prstGeom>
        </p:spPr>
        <p:txBody>
          <a:bodyPr vert="horz" wrap="square" lIns="0" tIns="12056" rIns="0" bIns="0" rtlCol="0">
            <a:spAutoFit/>
          </a:bodyPr>
          <a:lstStyle/>
          <a:p>
            <a:pPr marL="12700">
              <a:lnSpc>
                <a:spcPct val="100000"/>
              </a:lnSpc>
              <a:spcBef>
                <a:spcPts val="95"/>
              </a:spcBef>
            </a:pPr>
            <a:r>
              <a:rPr sz="1000" b="1" spc="5" dirty="0">
                <a:latin typeface="微软雅黑" panose="020B0503020204020204" charset="-122"/>
                <a:ea typeface="微软雅黑" panose="020B0503020204020204" charset="-122"/>
                <a:cs typeface="微软雅黑" panose="020B0503020204020204" charset="-122"/>
              </a:rPr>
              <a:t>客</a:t>
            </a:r>
            <a:r>
              <a:rPr sz="1000" b="1" spc="-5" dirty="0">
                <a:latin typeface="微软雅黑" panose="020B0503020204020204" charset="-122"/>
                <a:ea typeface="微软雅黑" panose="020B0503020204020204" charset="-122"/>
                <a:cs typeface="微软雅黑" panose="020B0503020204020204" charset="-122"/>
              </a:rPr>
              <a:t>户</a:t>
            </a:r>
            <a:r>
              <a:rPr sz="1000" b="1" spc="-50" dirty="0">
                <a:latin typeface="微软雅黑" panose="020B0503020204020204" charset="-122"/>
                <a:ea typeface="微软雅黑" panose="020B0503020204020204" charset="-122"/>
                <a:cs typeface="微软雅黑" panose="020B0503020204020204" charset="-122"/>
              </a:rPr>
              <a:t> </a:t>
            </a:r>
            <a:r>
              <a:rPr sz="1000" b="1" spc="-5" dirty="0">
                <a:latin typeface="微软雅黑" panose="020B0503020204020204" charset="-122"/>
                <a:ea typeface="微软雅黑" panose="020B0503020204020204" charset="-122"/>
                <a:cs typeface="微软雅黑" panose="020B0503020204020204" charset="-122"/>
              </a:rPr>
              <a:t>3</a:t>
            </a:r>
            <a:endParaRPr sz="1000">
              <a:latin typeface="微软雅黑" panose="020B0503020204020204" charset="-122"/>
              <a:ea typeface="微软雅黑" panose="020B0503020204020204" charset="-122"/>
              <a:cs typeface="微软雅黑" panose="020B0503020204020204" charset="-122"/>
            </a:endParaRPr>
          </a:p>
        </p:txBody>
      </p:sp>
      <p:sp>
        <p:nvSpPr>
          <p:cNvPr id="8" name="object 8"/>
          <p:cNvSpPr/>
          <p:nvPr/>
        </p:nvSpPr>
        <p:spPr>
          <a:xfrm>
            <a:off x="6574448" y="964803"/>
            <a:ext cx="1413778" cy="108508"/>
          </a:xfrm>
          <a:custGeom>
            <a:avLst/>
            <a:gdLst/>
            <a:ahLst/>
            <a:cxnLst/>
            <a:rect l="l" t="t" r="r" b="b"/>
            <a:pathLst>
              <a:path w="1414779" h="108584">
                <a:moveTo>
                  <a:pt x="0" y="108203"/>
                </a:moveTo>
                <a:lnTo>
                  <a:pt x="0" y="0"/>
                </a:lnTo>
                <a:lnTo>
                  <a:pt x="1414272" y="0"/>
                </a:lnTo>
                <a:lnTo>
                  <a:pt x="1414272" y="105537"/>
                </a:lnTo>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txBox="1"/>
          <p:nvPr/>
        </p:nvSpPr>
        <p:spPr>
          <a:xfrm>
            <a:off x="2382862" y="4832767"/>
            <a:ext cx="5803597" cy="165100"/>
          </a:xfrm>
          <a:prstGeom prst="rect">
            <a:avLst/>
          </a:prstGeom>
        </p:spPr>
        <p:txBody>
          <a:bodyPr vert="horz" wrap="square" lIns="0" tIns="12056" rIns="0" bIns="0" rtlCol="0">
            <a:spAutoFit/>
          </a:bodyPr>
          <a:lstStyle/>
          <a:p>
            <a:pPr marL="12700">
              <a:lnSpc>
                <a:spcPct val="100000"/>
              </a:lnSpc>
              <a:spcBef>
                <a:spcPts val="95"/>
              </a:spcBef>
              <a:tabLst>
                <a:tab pos="5793740" algn="l"/>
              </a:tabLst>
            </a:pPr>
            <a:r>
              <a:rPr sz="1000" b="1" u="dash" spc="-5" dirty="0">
                <a:uFill>
                  <a:solidFill>
                    <a:srgbClr val="808080"/>
                  </a:solidFill>
                </a:uFill>
                <a:latin typeface="微软雅黑" panose="020B0503020204020204" charset="-122"/>
                <a:ea typeface="微软雅黑" panose="020B0503020204020204" charset="-122"/>
                <a:cs typeface="Arial" panose="020B0604020202020204"/>
              </a:rPr>
              <a:t> 	</a:t>
            </a:r>
            <a:endParaRPr sz="1000" b="1" u="dash" spc="-5" dirty="0">
              <a:uFill>
                <a:solidFill>
                  <a:srgbClr val="808080"/>
                </a:solidFill>
              </a:uFill>
              <a:latin typeface="微软雅黑" panose="020B0503020204020204" charset="-122"/>
              <a:ea typeface="微软雅黑" panose="020B0503020204020204" charset="-122"/>
              <a:cs typeface="Arial" panose="020B0604020202020204"/>
            </a:endParaRPr>
          </a:p>
        </p:txBody>
      </p:sp>
      <p:sp>
        <p:nvSpPr>
          <p:cNvPr id="10" name="object 10"/>
          <p:cNvSpPr/>
          <p:nvPr/>
        </p:nvSpPr>
        <p:spPr>
          <a:xfrm>
            <a:off x="7017618" y="791190"/>
            <a:ext cx="524139" cy="304584"/>
          </a:xfrm>
          <a:custGeom>
            <a:avLst/>
            <a:gdLst/>
            <a:ahLst/>
            <a:cxnLst/>
            <a:rect l="l" t="t" r="r" b="b"/>
            <a:pathLst>
              <a:path w="524509" h="304800">
                <a:moveTo>
                  <a:pt x="0" y="304800"/>
                </a:moveTo>
                <a:lnTo>
                  <a:pt x="524255" y="304800"/>
                </a:lnTo>
                <a:lnTo>
                  <a:pt x="524255" y="0"/>
                </a:lnTo>
                <a:lnTo>
                  <a:pt x="0" y="0"/>
                </a:lnTo>
                <a:lnTo>
                  <a:pt x="0" y="30480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txBox="1"/>
          <p:nvPr/>
        </p:nvSpPr>
        <p:spPr>
          <a:xfrm>
            <a:off x="7078281" y="770325"/>
            <a:ext cx="404843" cy="319405"/>
          </a:xfrm>
          <a:prstGeom prst="rect">
            <a:avLst/>
          </a:prstGeom>
        </p:spPr>
        <p:txBody>
          <a:bodyPr vert="horz" wrap="square" lIns="0" tIns="12056" rIns="0" bIns="0" rtlCol="0">
            <a:spAutoFit/>
          </a:bodyPr>
          <a:lstStyle/>
          <a:p>
            <a:pPr marL="12700">
              <a:lnSpc>
                <a:spcPct val="100000"/>
              </a:lnSpc>
              <a:spcBef>
                <a:spcPts val="95"/>
              </a:spcBef>
            </a:pPr>
            <a:r>
              <a:rPr sz="1000" b="1" dirty="0">
                <a:latin typeface="微软雅黑" panose="020B0503020204020204" charset="-122"/>
                <a:ea typeface="微软雅黑" panose="020B0503020204020204" charset="-122"/>
                <a:cs typeface="微软雅黑" panose="020B0503020204020204" charset="-122"/>
              </a:rPr>
              <a:t>价值</a:t>
            </a:r>
            <a:endParaRPr sz="1000">
              <a:latin typeface="微软雅黑" panose="020B0503020204020204" charset="-122"/>
              <a:ea typeface="微软雅黑" panose="020B0503020204020204" charset="-122"/>
              <a:cs typeface="微软雅黑" panose="020B0503020204020204" charset="-122"/>
            </a:endParaRPr>
          </a:p>
          <a:p>
            <a:pPr marL="12700">
              <a:lnSpc>
                <a:spcPct val="100000"/>
              </a:lnSpc>
              <a:spcBef>
                <a:spcPts val="5"/>
              </a:spcBef>
            </a:pPr>
            <a:r>
              <a:rPr sz="1000" spc="-5" dirty="0">
                <a:solidFill>
                  <a:srgbClr val="808080"/>
                </a:solidFill>
                <a:latin typeface="微软雅黑" panose="020B0503020204020204" charset="-122"/>
                <a:ea typeface="微软雅黑" panose="020B0503020204020204" charset="-122"/>
                <a:cs typeface="微软雅黑" panose="020B0503020204020204" charset="-122"/>
              </a:rPr>
              <a:t>百万元</a:t>
            </a:r>
            <a:endParaRPr sz="1000">
              <a:latin typeface="微软雅黑" panose="020B0503020204020204" charset="-122"/>
              <a:ea typeface="微软雅黑" panose="020B0503020204020204" charset="-122"/>
              <a:cs typeface="微软雅黑" panose="020B0503020204020204" charset="-122"/>
            </a:endParaRPr>
          </a:p>
        </p:txBody>
      </p:sp>
      <p:sp>
        <p:nvSpPr>
          <p:cNvPr id="12" name="object 12"/>
          <p:cNvSpPr txBox="1"/>
          <p:nvPr/>
        </p:nvSpPr>
        <p:spPr>
          <a:xfrm>
            <a:off x="1461241" y="1232024"/>
            <a:ext cx="537464" cy="165100"/>
          </a:xfrm>
          <a:prstGeom prst="rect">
            <a:avLst/>
          </a:prstGeom>
        </p:spPr>
        <p:txBody>
          <a:bodyPr vert="horz" wrap="square" lIns="0" tIns="12056" rIns="0" bIns="0" rtlCol="0">
            <a:spAutoFit/>
          </a:bodyPr>
          <a:lstStyle/>
          <a:p>
            <a:pPr marL="12700">
              <a:lnSpc>
                <a:spcPct val="100000"/>
              </a:lnSpc>
              <a:spcBef>
                <a:spcPts val="95"/>
              </a:spcBef>
            </a:pPr>
            <a:r>
              <a:rPr sz="1000" b="1" dirty="0">
                <a:latin typeface="微软雅黑" panose="020B0503020204020204" charset="-122"/>
                <a:ea typeface="微软雅黑" panose="020B0503020204020204" charset="-122"/>
                <a:cs typeface="微软雅黑" panose="020B0503020204020204" charset="-122"/>
              </a:rPr>
              <a:t>价值定位</a:t>
            </a:r>
            <a:endParaRPr sz="1000" b="1" dirty="0">
              <a:latin typeface="微软雅黑" panose="020B0503020204020204" charset="-122"/>
              <a:ea typeface="微软雅黑" panose="020B0503020204020204" charset="-122"/>
              <a:cs typeface="微软雅黑" panose="020B0503020204020204" charset="-122"/>
            </a:endParaRPr>
          </a:p>
        </p:txBody>
      </p:sp>
      <p:sp>
        <p:nvSpPr>
          <p:cNvPr id="13" name="object 13"/>
          <p:cNvSpPr/>
          <p:nvPr/>
        </p:nvSpPr>
        <p:spPr>
          <a:xfrm>
            <a:off x="1728514" y="3301615"/>
            <a:ext cx="28173" cy="30675"/>
          </a:xfrm>
          <a:prstGeom prst="rect">
            <a:avLst/>
          </a:prstGeom>
          <a:blipFill>
            <a:blip r:embed="rId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txBox="1"/>
          <p:nvPr/>
        </p:nvSpPr>
        <p:spPr>
          <a:xfrm>
            <a:off x="3619220" y="1080037"/>
            <a:ext cx="1001955" cy="318770"/>
          </a:xfrm>
          <a:prstGeom prst="rect">
            <a:avLst/>
          </a:prstGeom>
        </p:spPr>
        <p:txBody>
          <a:bodyPr vert="horz" wrap="square" lIns="0" tIns="12056" rIns="0" bIns="0" rtlCol="0">
            <a:spAutoFit/>
          </a:bodyPr>
          <a:lstStyle/>
          <a:p>
            <a:pPr marL="12700">
              <a:lnSpc>
                <a:spcPct val="100000"/>
              </a:lnSpc>
              <a:spcBef>
                <a:spcPts val="95"/>
              </a:spcBef>
            </a:pPr>
            <a:r>
              <a:rPr sz="1000" b="1" spc="5" dirty="0">
                <a:latin typeface="微软雅黑" panose="020B0503020204020204" charset="-122"/>
                <a:ea typeface="微软雅黑" panose="020B0503020204020204" charset="-122"/>
                <a:cs typeface="微软雅黑" panose="020B0503020204020204" charset="-122"/>
              </a:rPr>
              <a:t>行动</a:t>
            </a:r>
            <a:endParaRPr sz="1000">
              <a:latin typeface="微软雅黑" panose="020B0503020204020204" charset="-122"/>
              <a:ea typeface="微软雅黑" panose="020B0503020204020204" charset="-122"/>
              <a:cs typeface="微软雅黑" panose="020B0503020204020204" charset="-122"/>
            </a:endParaRPr>
          </a:p>
          <a:p>
            <a:pPr marL="12700">
              <a:lnSpc>
                <a:spcPct val="100000"/>
              </a:lnSpc>
              <a:tabLst>
                <a:tab pos="733425" algn="l"/>
              </a:tabLst>
            </a:pPr>
            <a:r>
              <a:rPr sz="1000" b="1" dirty="0">
                <a:latin typeface="微软雅黑" panose="020B0503020204020204" charset="-122"/>
                <a:ea typeface="微软雅黑" panose="020B0503020204020204" charset="-122"/>
                <a:cs typeface="微软雅黑" panose="020B0503020204020204" charset="-122"/>
              </a:rPr>
              <a:t>名</a:t>
            </a:r>
            <a:r>
              <a:rPr sz="1000" b="1" spc="-5" dirty="0">
                <a:latin typeface="微软雅黑" panose="020B0503020204020204" charset="-122"/>
                <a:ea typeface="微软雅黑" panose="020B0503020204020204" charset="-122"/>
                <a:cs typeface="微软雅黑" panose="020B0503020204020204" charset="-122"/>
              </a:rPr>
              <a:t>称</a:t>
            </a:r>
            <a:r>
              <a:rPr sz="1000" b="1" dirty="0">
                <a:latin typeface="微软雅黑" panose="020B0503020204020204" charset="-122"/>
                <a:ea typeface="微软雅黑" panose="020B0503020204020204" charset="-122"/>
                <a:cs typeface="微软雅黑" panose="020B0503020204020204" charset="-122"/>
              </a:rPr>
              <a:t>	行动</a:t>
            </a:r>
            <a:endParaRPr sz="1000">
              <a:latin typeface="微软雅黑" panose="020B0503020204020204" charset="-122"/>
              <a:ea typeface="微软雅黑" panose="020B0503020204020204" charset="-122"/>
              <a:cs typeface="微软雅黑" panose="020B0503020204020204" charset="-122"/>
            </a:endParaRPr>
          </a:p>
        </p:txBody>
      </p:sp>
      <p:sp>
        <p:nvSpPr>
          <p:cNvPr id="15" name="object 15"/>
          <p:cNvSpPr txBox="1"/>
          <p:nvPr/>
        </p:nvSpPr>
        <p:spPr>
          <a:xfrm>
            <a:off x="3620743" y="2909953"/>
            <a:ext cx="2797098" cy="203200"/>
          </a:xfrm>
          <a:prstGeom prst="rect">
            <a:avLst/>
          </a:prstGeom>
        </p:spPr>
        <p:txBody>
          <a:bodyPr vert="horz" wrap="square" lIns="0" tIns="12056" rIns="0" bIns="0" rtlCol="0">
            <a:spAutoFit/>
          </a:bodyPr>
          <a:lstStyle/>
          <a:p>
            <a:pPr marL="201295" indent="-189230">
              <a:lnSpc>
                <a:spcPct val="100000"/>
              </a:lnSpc>
              <a:spcBef>
                <a:spcPts val="95"/>
              </a:spcBef>
              <a:buClr>
                <a:srgbClr val="00295F"/>
              </a:buClr>
              <a:buSzPct val="125000"/>
              <a:buFont typeface="Arial" panose="020B0604020202020204"/>
              <a:buChar char="▪"/>
              <a:tabLst>
                <a:tab pos="201295" algn="l"/>
                <a:tab pos="201930" algn="l"/>
                <a:tab pos="733425" algn="l"/>
                <a:tab pos="921385" algn="l"/>
              </a:tabLst>
            </a:pPr>
            <a:r>
              <a:rPr sz="1000" spc="-5" dirty="0">
                <a:latin typeface="微软雅黑" panose="020B0503020204020204" charset="-122"/>
                <a:ea typeface="微软雅黑" panose="020B0503020204020204" charset="-122"/>
                <a:cs typeface="微软雅黑" panose="020B0503020204020204" charset="-122"/>
              </a:rPr>
              <a:t>提高	</a:t>
            </a:r>
            <a:r>
              <a:rPr sz="1250" spc="-5" dirty="0">
                <a:solidFill>
                  <a:srgbClr val="00295F"/>
                </a:solidFill>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通过提高</a:t>
            </a: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速</a:t>
            </a:r>
            <a:r>
              <a:rPr sz="1000" spc="-10" dirty="0">
                <a:latin typeface="微软雅黑" panose="020B0503020204020204" charset="-122"/>
                <a:ea typeface="微软雅黑" panose="020B0503020204020204" charset="-122"/>
                <a:cs typeface="微软雅黑" panose="020B0503020204020204" charset="-122"/>
              </a:rPr>
              <a:t>度</a:t>
            </a:r>
            <a:r>
              <a:rPr sz="1000" spc="-5" dirty="0">
                <a:latin typeface="微软雅黑" panose="020B0503020204020204" charset="-122"/>
                <a:ea typeface="微软雅黑" panose="020B0503020204020204" charset="-122"/>
                <a:cs typeface="微软雅黑" panose="020B0503020204020204" charset="-122"/>
              </a:rPr>
              <a:t>(从</a:t>
            </a: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到XXX)</a:t>
            </a:r>
            <a:endParaRPr sz="1000">
              <a:latin typeface="微软雅黑" panose="020B0503020204020204" charset="-122"/>
              <a:ea typeface="微软雅黑" panose="020B0503020204020204" charset="-122"/>
              <a:cs typeface="微软雅黑" panose="020B0503020204020204" charset="-122"/>
            </a:endParaRPr>
          </a:p>
        </p:txBody>
      </p:sp>
      <p:sp>
        <p:nvSpPr>
          <p:cNvPr id="16" name="object 16"/>
          <p:cNvSpPr txBox="1"/>
          <p:nvPr/>
        </p:nvSpPr>
        <p:spPr>
          <a:xfrm>
            <a:off x="3809585" y="3078997"/>
            <a:ext cx="2382102" cy="165100"/>
          </a:xfrm>
          <a:prstGeom prst="rect">
            <a:avLst/>
          </a:prstGeom>
        </p:spPr>
        <p:txBody>
          <a:bodyPr vert="horz" wrap="square" lIns="0" tIns="12056" rIns="0" bIns="0" rtlCol="0">
            <a:spAutoFit/>
          </a:bodyPr>
          <a:lstStyle/>
          <a:p>
            <a:pPr marL="12700">
              <a:lnSpc>
                <a:spcPct val="100000"/>
              </a:lnSpc>
              <a:spcBef>
                <a:spcPts val="95"/>
              </a:spcBef>
              <a:tabLst>
                <a:tab pos="733425" algn="l"/>
              </a:tabLst>
            </a:pP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速	和置换</a:t>
            </a: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降低</a:t>
            </a: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的成本</a:t>
            </a:r>
            <a:endParaRPr sz="1000">
              <a:latin typeface="微软雅黑" panose="020B0503020204020204" charset="-122"/>
              <a:ea typeface="微软雅黑" panose="020B0503020204020204" charset="-122"/>
              <a:cs typeface="微软雅黑" panose="020B0503020204020204" charset="-122"/>
            </a:endParaRPr>
          </a:p>
        </p:txBody>
      </p:sp>
      <p:sp>
        <p:nvSpPr>
          <p:cNvPr id="17" name="object 17"/>
          <p:cNvSpPr txBox="1"/>
          <p:nvPr/>
        </p:nvSpPr>
        <p:spPr>
          <a:xfrm>
            <a:off x="6641837" y="2961732"/>
            <a:ext cx="1348419" cy="165100"/>
          </a:xfrm>
          <a:prstGeom prst="rect">
            <a:avLst/>
          </a:prstGeom>
        </p:spPr>
        <p:txBody>
          <a:bodyPr vert="horz" wrap="square" lIns="0" tIns="12056" rIns="0" bIns="0" rtlCol="0">
            <a:spAutoFit/>
          </a:bodyPr>
          <a:lstStyle/>
          <a:p>
            <a:pPr marL="12700">
              <a:lnSpc>
                <a:spcPct val="100000"/>
              </a:lnSpc>
              <a:spcBef>
                <a:spcPts val="95"/>
              </a:spcBef>
              <a:tabLst>
                <a:tab pos="515620" algn="l"/>
                <a:tab pos="1019810" algn="l"/>
              </a:tabLst>
            </a:pPr>
            <a:r>
              <a:rPr sz="1000" spc="-10" dirty="0">
                <a:latin typeface="微软雅黑" panose="020B0503020204020204" charset="-122"/>
                <a:ea typeface="微软雅黑" panose="020B0503020204020204" charset="-122"/>
                <a:cs typeface="Arial" panose="020B0604020202020204"/>
              </a:rPr>
              <a:t>7.</a:t>
            </a:r>
            <a:r>
              <a:rPr sz="1000" spc="-5" dirty="0">
                <a:latin typeface="微软雅黑" panose="020B0503020204020204" charset="-122"/>
                <a:ea typeface="微软雅黑" panose="020B0503020204020204" charset="-122"/>
                <a:cs typeface="Arial" panose="020B0604020202020204"/>
              </a:rPr>
              <a:t>5</a:t>
            </a:r>
            <a:r>
              <a:rPr sz="1000" dirty="0">
                <a:latin typeface="微软雅黑" panose="020B0503020204020204" charset="-122"/>
                <a:ea typeface="微软雅黑" panose="020B0503020204020204" charset="-122"/>
                <a:cs typeface="Arial" panose="020B0604020202020204"/>
              </a:rPr>
              <a:t>	</a:t>
            </a:r>
            <a:r>
              <a:rPr sz="1000" spc="-10" dirty="0">
                <a:latin typeface="微软雅黑" panose="020B0503020204020204" charset="-122"/>
                <a:ea typeface="微软雅黑" panose="020B0503020204020204" charset="-122"/>
                <a:cs typeface="Arial" panose="020B0604020202020204"/>
              </a:rPr>
              <a:t>11.</a:t>
            </a:r>
            <a:r>
              <a:rPr sz="1000" spc="-5" dirty="0">
                <a:latin typeface="微软雅黑" panose="020B0503020204020204" charset="-122"/>
                <a:ea typeface="微软雅黑" panose="020B0503020204020204" charset="-122"/>
                <a:cs typeface="Arial" panose="020B0604020202020204"/>
              </a:rPr>
              <a:t>4</a:t>
            </a:r>
            <a:r>
              <a:rPr sz="1000" dirty="0">
                <a:latin typeface="微软雅黑" panose="020B0503020204020204" charset="-122"/>
                <a:ea typeface="微软雅黑" panose="020B0503020204020204" charset="-122"/>
                <a:cs typeface="Arial" panose="020B0604020202020204"/>
              </a:rPr>
              <a:t>	</a:t>
            </a:r>
            <a:r>
              <a:rPr sz="1000" spc="-10" dirty="0">
                <a:latin typeface="微软雅黑" panose="020B0503020204020204" charset="-122"/>
                <a:ea typeface="微软雅黑" panose="020B0503020204020204" charset="-122"/>
                <a:cs typeface="Arial" panose="020B0604020202020204"/>
              </a:rPr>
              <a:t>250.4</a:t>
            </a:r>
            <a:endParaRPr sz="1000">
              <a:latin typeface="微软雅黑" panose="020B0503020204020204" charset="-122"/>
              <a:ea typeface="微软雅黑" panose="020B0503020204020204" charset="-122"/>
              <a:cs typeface="Arial" panose="020B0604020202020204"/>
            </a:endParaRPr>
          </a:p>
        </p:txBody>
      </p:sp>
      <p:sp>
        <p:nvSpPr>
          <p:cNvPr id="18" name="object 18"/>
          <p:cNvSpPr txBox="1"/>
          <p:nvPr/>
        </p:nvSpPr>
        <p:spPr>
          <a:xfrm>
            <a:off x="3448908" y="3216059"/>
            <a:ext cx="4594144" cy="328930"/>
          </a:xfrm>
          <a:prstGeom prst="rect">
            <a:avLst/>
          </a:prstGeom>
        </p:spPr>
        <p:txBody>
          <a:bodyPr vert="horz" wrap="square" lIns="0" tIns="12056" rIns="0" bIns="0" rtlCol="0">
            <a:spAutoFit/>
          </a:bodyPr>
          <a:lstStyle/>
          <a:p>
            <a:pPr marL="12700">
              <a:lnSpc>
                <a:spcPct val="100000"/>
              </a:lnSpc>
              <a:spcBef>
                <a:spcPts val="95"/>
              </a:spcBef>
              <a:tabLst>
                <a:tab pos="373380" algn="l"/>
                <a:tab pos="4584065" algn="l"/>
              </a:tabLst>
            </a:pPr>
            <a:r>
              <a:rPr sz="1000" u="dash" spc="-5" dirty="0">
                <a:uFill>
                  <a:solidFill>
                    <a:srgbClr val="808080"/>
                  </a:solidFill>
                </a:uFill>
                <a:latin typeface="微软雅黑" panose="020B0503020204020204" charset="-122"/>
                <a:ea typeface="微软雅黑" panose="020B0503020204020204" charset="-122"/>
                <a:cs typeface="微软雅黑" panose="020B0503020204020204" charset="-122"/>
              </a:rPr>
              <a:t> 	度	</a:t>
            </a:r>
            <a:endParaRPr sz="1000">
              <a:latin typeface="微软雅黑" panose="020B0503020204020204" charset="-122"/>
              <a:ea typeface="微软雅黑" panose="020B0503020204020204" charset="-122"/>
              <a:cs typeface="微软雅黑" panose="020B0503020204020204" charset="-122"/>
            </a:endParaRPr>
          </a:p>
          <a:p>
            <a:pPr marL="373380" indent="-189865">
              <a:lnSpc>
                <a:spcPct val="100000"/>
              </a:lnSpc>
              <a:spcBef>
                <a:spcPts val="80"/>
              </a:spcBef>
              <a:buClr>
                <a:srgbClr val="00295F"/>
              </a:buClr>
              <a:buSzPct val="125000"/>
              <a:buFont typeface="Arial" panose="020B0604020202020204"/>
              <a:buChar char="▪"/>
              <a:tabLst>
                <a:tab pos="373380" algn="l"/>
                <a:tab pos="374015" algn="l"/>
              </a:tabLst>
            </a:pPr>
            <a:r>
              <a:rPr sz="1000" spc="-10" dirty="0">
                <a:latin typeface="微软雅黑" panose="020B0503020204020204" charset="-122"/>
                <a:ea typeface="微软雅黑" panose="020B0503020204020204" charset="-122"/>
                <a:cs typeface="微软雅黑" panose="020B0503020204020204" charset="-122"/>
              </a:rPr>
              <a:t>提高落</a:t>
            </a:r>
            <a:endParaRPr sz="1000">
              <a:latin typeface="微软雅黑" panose="020B0503020204020204" charset="-122"/>
              <a:ea typeface="微软雅黑" panose="020B0503020204020204" charset="-122"/>
              <a:cs typeface="微软雅黑" panose="020B0503020204020204" charset="-122"/>
            </a:endParaRPr>
          </a:p>
        </p:txBody>
      </p:sp>
      <p:sp>
        <p:nvSpPr>
          <p:cNvPr id="19" name="object 19"/>
          <p:cNvSpPr txBox="1"/>
          <p:nvPr/>
        </p:nvSpPr>
        <p:spPr>
          <a:xfrm>
            <a:off x="3809585" y="3500846"/>
            <a:ext cx="404843" cy="165100"/>
          </a:xfrm>
          <a:prstGeom prst="rect">
            <a:avLst/>
          </a:prstGeom>
        </p:spPr>
        <p:txBody>
          <a:bodyPr vert="horz" wrap="square" lIns="0" tIns="12056" rIns="0" bIns="0" rtlCol="0">
            <a:spAutoFit/>
          </a:bodyPr>
          <a:lstStyle/>
          <a:p>
            <a:pPr marL="12700">
              <a:lnSpc>
                <a:spcPct val="100000"/>
              </a:lnSpc>
              <a:spcBef>
                <a:spcPts val="95"/>
              </a:spcBef>
            </a:pPr>
            <a:r>
              <a:rPr sz="1000" spc="-5" dirty="0">
                <a:latin typeface="微软雅黑" panose="020B0503020204020204" charset="-122"/>
                <a:ea typeface="微软雅黑" panose="020B0503020204020204" charset="-122"/>
                <a:cs typeface="微软雅黑" panose="020B0503020204020204" charset="-122"/>
              </a:rPr>
              <a:t>袋价格</a:t>
            </a:r>
            <a:endParaRPr sz="1000" spc="-5" dirty="0">
              <a:latin typeface="微软雅黑" panose="020B0503020204020204" charset="-122"/>
              <a:ea typeface="微软雅黑" panose="020B0503020204020204" charset="-122"/>
              <a:cs typeface="微软雅黑" panose="020B0503020204020204" charset="-122"/>
            </a:endParaRPr>
          </a:p>
        </p:txBody>
      </p:sp>
      <p:sp>
        <p:nvSpPr>
          <p:cNvPr id="20" name="object 20"/>
          <p:cNvSpPr txBox="1"/>
          <p:nvPr/>
        </p:nvSpPr>
        <p:spPr>
          <a:xfrm>
            <a:off x="4341084" y="3390637"/>
            <a:ext cx="1734226" cy="308610"/>
          </a:xfrm>
          <a:prstGeom prst="rect">
            <a:avLst/>
          </a:prstGeom>
        </p:spPr>
        <p:txBody>
          <a:bodyPr vert="horz" wrap="square" lIns="0" tIns="12056" rIns="0" bIns="0" rtlCol="0">
            <a:spAutoFit/>
          </a:bodyPr>
          <a:lstStyle/>
          <a:p>
            <a:pPr marL="201295" indent="-189230">
              <a:lnSpc>
                <a:spcPts val="1160"/>
              </a:lnSpc>
              <a:spcBef>
                <a:spcPts val="95"/>
              </a:spcBef>
              <a:buClr>
                <a:srgbClr val="00295F"/>
              </a:buClr>
              <a:buSzPct val="125000"/>
              <a:buFont typeface="Arial" panose="020B0604020202020204"/>
              <a:buChar char="▪"/>
              <a:tabLst>
                <a:tab pos="201295" algn="l"/>
                <a:tab pos="201930" algn="l"/>
              </a:tabLst>
            </a:pPr>
            <a:r>
              <a:rPr sz="1000" spc="-10" dirty="0">
                <a:latin typeface="微软雅黑" panose="020B0503020204020204" charset="-122"/>
                <a:ea typeface="微软雅黑" panose="020B0503020204020204" charset="-122"/>
                <a:cs typeface="微软雅黑" panose="020B0503020204020204" charset="-122"/>
              </a:rPr>
              <a:t>提高</a:t>
            </a:r>
            <a:r>
              <a:rPr sz="1000" dirty="0">
                <a:latin typeface="微软雅黑" panose="020B0503020204020204" charset="-122"/>
                <a:ea typeface="微软雅黑" panose="020B0503020204020204" charset="-122"/>
                <a:cs typeface="微软雅黑" panose="020B0503020204020204" charset="-122"/>
              </a:rPr>
              <a:t>XXX</a:t>
            </a:r>
            <a:r>
              <a:rPr sz="1000" spc="-10" dirty="0">
                <a:latin typeface="微软雅黑" panose="020B0503020204020204" charset="-122"/>
                <a:ea typeface="微软雅黑" panose="020B0503020204020204" charset="-122"/>
                <a:cs typeface="微软雅黑" panose="020B0503020204020204" charset="-122"/>
              </a:rPr>
              <a:t>产品价格，幅度为</a:t>
            </a:r>
            <a:endParaRPr sz="1000">
              <a:latin typeface="微软雅黑" panose="020B0503020204020204" charset="-122"/>
              <a:ea typeface="微软雅黑" panose="020B0503020204020204" charset="-122"/>
              <a:cs typeface="微软雅黑" panose="020B0503020204020204" charset="-122"/>
            </a:endParaRPr>
          </a:p>
          <a:p>
            <a:pPr marL="201295">
              <a:lnSpc>
                <a:spcPts val="1160"/>
              </a:lnSpc>
            </a:pPr>
            <a:r>
              <a:rPr sz="1000" dirty="0">
                <a:latin typeface="微软雅黑" panose="020B0503020204020204" charset="-122"/>
                <a:ea typeface="微软雅黑" panose="020B0503020204020204" charset="-122"/>
                <a:cs typeface="微软雅黑" panose="020B0503020204020204" charset="-122"/>
              </a:rPr>
              <a:t>XXX%</a:t>
            </a:r>
            <a:endParaRPr sz="1000">
              <a:latin typeface="微软雅黑" panose="020B0503020204020204" charset="-122"/>
              <a:ea typeface="微软雅黑" panose="020B0503020204020204" charset="-122"/>
              <a:cs typeface="微软雅黑" panose="020B0503020204020204" charset="-122"/>
            </a:endParaRPr>
          </a:p>
        </p:txBody>
      </p:sp>
      <p:sp>
        <p:nvSpPr>
          <p:cNvPr id="21" name="object 21"/>
          <p:cNvSpPr txBox="1"/>
          <p:nvPr/>
        </p:nvSpPr>
        <p:spPr>
          <a:xfrm>
            <a:off x="6641837" y="3410435"/>
            <a:ext cx="1279253" cy="165100"/>
          </a:xfrm>
          <a:prstGeom prst="rect">
            <a:avLst/>
          </a:prstGeom>
        </p:spPr>
        <p:txBody>
          <a:bodyPr vert="horz" wrap="square" lIns="0" tIns="12056" rIns="0" bIns="0" rtlCol="0">
            <a:spAutoFit/>
          </a:bodyPr>
          <a:lstStyle/>
          <a:p>
            <a:pPr marL="12700">
              <a:lnSpc>
                <a:spcPct val="100000"/>
              </a:lnSpc>
              <a:spcBef>
                <a:spcPts val="95"/>
              </a:spcBef>
              <a:tabLst>
                <a:tab pos="516890" algn="l"/>
                <a:tab pos="1019810" algn="l"/>
              </a:tabLst>
            </a:pPr>
            <a:r>
              <a:rPr sz="1000" spc="-10" dirty="0">
                <a:latin typeface="微软雅黑" panose="020B0503020204020204" charset="-122"/>
                <a:ea typeface="微软雅黑" panose="020B0503020204020204" charset="-122"/>
                <a:cs typeface="Arial" panose="020B0604020202020204"/>
              </a:rPr>
              <a:t>2</a:t>
            </a:r>
            <a:r>
              <a:rPr sz="1000" spc="-5" dirty="0">
                <a:latin typeface="微软雅黑" panose="020B0503020204020204" charset="-122"/>
                <a:ea typeface="微软雅黑" panose="020B0503020204020204" charset="-122"/>
                <a:cs typeface="Arial" panose="020B0604020202020204"/>
              </a:rPr>
              <a:t>.5</a:t>
            </a:r>
            <a:r>
              <a:rPr sz="1000" dirty="0">
                <a:latin typeface="微软雅黑" panose="020B0503020204020204" charset="-122"/>
                <a:ea typeface="微软雅黑" panose="020B0503020204020204" charset="-122"/>
                <a:cs typeface="Arial" panose="020B0604020202020204"/>
              </a:rPr>
              <a:t>	</a:t>
            </a:r>
            <a:r>
              <a:rPr sz="1000" spc="-10" dirty="0">
                <a:latin typeface="微软雅黑" panose="020B0503020204020204" charset="-122"/>
                <a:ea typeface="微软雅黑" panose="020B0503020204020204" charset="-122"/>
                <a:cs typeface="Arial" panose="020B0604020202020204"/>
              </a:rPr>
              <a:t>2</a:t>
            </a:r>
            <a:r>
              <a:rPr sz="1000" spc="-5" dirty="0">
                <a:latin typeface="微软雅黑" panose="020B0503020204020204" charset="-122"/>
                <a:ea typeface="微软雅黑" panose="020B0503020204020204" charset="-122"/>
                <a:cs typeface="Arial" panose="020B0604020202020204"/>
              </a:rPr>
              <a:t>.5</a:t>
            </a:r>
            <a:r>
              <a:rPr sz="1000" dirty="0">
                <a:latin typeface="微软雅黑" panose="020B0503020204020204" charset="-122"/>
                <a:ea typeface="微软雅黑" panose="020B0503020204020204" charset="-122"/>
                <a:cs typeface="Arial" panose="020B0604020202020204"/>
              </a:rPr>
              <a:t>	</a:t>
            </a:r>
            <a:r>
              <a:rPr sz="1000" spc="-10" dirty="0">
                <a:latin typeface="微软雅黑" panose="020B0503020204020204" charset="-122"/>
                <a:ea typeface="微软雅黑" panose="020B0503020204020204" charset="-122"/>
                <a:cs typeface="Arial" panose="020B0604020202020204"/>
              </a:rPr>
              <a:t>41</a:t>
            </a:r>
            <a:r>
              <a:rPr sz="1000" spc="-5" dirty="0">
                <a:latin typeface="微软雅黑" panose="020B0503020204020204" charset="-122"/>
                <a:ea typeface="微软雅黑" panose="020B0503020204020204" charset="-122"/>
                <a:cs typeface="Arial" panose="020B0604020202020204"/>
              </a:rPr>
              <a:t>.7</a:t>
            </a:r>
            <a:endParaRPr sz="1000">
              <a:latin typeface="微软雅黑" panose="020B0503020204020204" charset="-122"/>
              <a:ea typeface="微软雅黑" panose="020B0503020204020204" charset="-122"/>
              <a:cs typeface="Arial" panose="020B0604020202020204"/>
            </a:endParaRPr>
          </a:p>
        </p:txBody>
      </p:sp>
      <p:sp>
        <p:nvSpPr>
          <p:cNvPr id="22" name="object 22"/>
          <p:cNvSpPr/>
          <p:nvPr/>
        </p:nvSpPr>
        <p:spPr>
          <a:xfrm>
            <a:off x="1408702" y="1449091"/>
            <a:ext cx="6609475" cy="0"/>
          </a:xfrm>
          <a:custGeom>
            <a:avLst/>
            <a:gdLst/>
            <a:ahLst/>
            <a:cxnLst/>
            <a:rect l="l" t="t" r="r" b="b"/>
            <a:pathLst>
              <a:path w="6614159">
                <a:moveTo>
                  <a:pt x="0" y="0"/>
                </a:moveTo>
                <a:lnTo>
                  <a:pt x="6614159" y="0"/>
                </a:lnTo>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p:nvPr/>
        </p:nvSpPr>
        <p:spPr>
          <a:xfrm>
            <a:off x="1439160" y="2442036"/>
            <a:ext cx="6608207" cy="0"/>
          </a:xfrm>
          <a:custGeom>
            <a:avLst/>
            <a:gdLst/>
            <a:ahLst/>
            <a:cxnLst/>
            <a:rect l="l" t="t" r="r" b="b"/>
            <a:pathLst>
              <a:path w="6612890">
                <a:moveTo>
                  <a:pt x="0" y="0"/>
                </a:moveTo>
                <a:lnTo>
                  <a:pt x="6612636" y="0"/>
                </a:lnTo>
              </a:path>
            </a:pathLst>
          </a:custGeom>
          <a:ln w="9525">
            <a:solidFill>
              <a:srgbClr val="80808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p:nvPr/>
        </p:nvSpPr>
        <p:spPr>
          <a:xfrm>
            <a:off x="1401087" y="3703014"/>
            <a:ext cx="6660239" cy="0"/>
          </a:xfrm>
          <a:custGeom>
            <a:avLst/>
            <a:gdLst/>
            <a:ahLst/>
            <a:cxnLst/>
            <a:rect l="l" t="t" r="r" b="b"/>
            <a:pathLst>
              <a:path w="6664959">
                <a:moveTo>
                  <a:pt x="0" y="0"/>
                </a:moveTo>
                <a:lnTo>
                  <a:pt x="6664452" y="0"/>
                </a:lnTo>
              </a:path>
            </a:pathLst>
          </a:custGeom>
          <a:ln w="9525">
            <a:solidFill>
              <a:srgbClr val="80808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25" name="object 25"/>
          <p:cNvSpPr txBox="1">
            <a:spLocks noGrp="1"/>
          </p:cNvSpPr>
          <p:nvPr>
            <p:ph type="title"/>
          </p:nvPr>
        </p:nvSpPr>
        <p:spPr>
          <a:xfrm>
            <a:off x="106401" y="203088"/>
            <a:ext cx="6537137"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举例：与大</a:t>
            </a:r>
            <a:r>
              <a:rPr spc="-10" dirty="0">
                <a:ea typeface="微软雅黑" panose="020B0503020204020204" charset="-122"/>
              </a:rPr>
              <a:t>客户</a:t>
            </a:r>
            <a:r>
              <a:rPr spc="-5" dirty="0">
                <a:ea typeface="微软雅黑" panose="020B0503020204020204" charset="-122"/>
              </a:rPr>
              <a:t>经</a:t>
            </a:r>
            <a:r>
              <a:rPr spc="-10" dirty="0">
                <a:ea typeface="微软雅黑" panose="020B0503020204020204" charset="-122"/>
              </a:rPr>
              <a:t>理合</a:t>
            </a:r>
            <a:r>
              <a:rPr spc="-5" dirty="0">
                <a:ea typeface="微软雅黑" panose="020B0503020204020204" charset="-122"/>
              </a:rPr>
              <a:t>作</a:t>
            </a:r>
            <a:r>
              <a:rPr spc="-10" dirty="0">
                <a:ea typeface="微软雅黑" panose="020B0503020204020204" charset="-122"/>
              </a:rPr>
              <a:t>针对</a:t>
            </a:r>
            <a:r>
              <a:rPr spc="-5" dirty="0">
                <a:ea typeface="微软雅黑" panose="020B0503020204020204" charset="-122"/>
              </a:rPr>
              <a:t>每</a:t>
            </a:r>
            <a:r>
              <a:rPr spc="-10" dirty="0">
                <a:ea typeface="微软雅黑" panose="020B0503020204020204" charset="-122"/>
              </a:rPr>
              <a:t>个大</a:t>
            </a:r>
            <a:r>
              <a:rPr spc="-5" dirty="0">
                <a:ea typeface="微软雅黑" panose="020B0503020204020204" charset="-122"/>
              </a:rPr>
              <a:t>客</a:t>
            </a:r>
            <a:r>
              <a:rPr spc="-10" dirty="0">
                <a:ea typeface="微软雅黑" panose="020B0503020204020204" charset="-122"/>
              </a:rPr>
              <a:t>户设</a:t>
            </a:r>
            <a:r>
              <a:rPr spc="-5" dirty="0">
                <a:ea typeface="微软雅黑" panose="020B0503020204020204" charset="-122"/>
              </a:rPr>
              <a:t>计</a:t>
            </a:r>
            <a:r>
              <a:rPr spc="-10" dirty="0">
                <a:ea typeface="微软雅黑" panose="020B0503020204020204" charset="-122"/>
              </a:rPr>
              <a:t>详细</a:t>
            </a:r>
            <a:r>
              <a:rPr spc="-5" dirty="0">
                <a:ea typeface="微软雅黑" panose="020B0503020204020204" charset="-122"/>
              </a:rPr>
              <a:t>的</a:t>
            </a:r>
            <a:r>
              <a:rPr spc="-10" dirty="0">
                <a:ea typeface="微软雅黑" panose="020B0503020204020204" charset="-122"/>
              </a:rPr>
              <a:t>行动</a:t>
            </a:r>
            <a:r>
              <a:rPr spc="-5" dirty="0">
                <a:ea typeface="微软雅黑" panose="020B0503020204020204" charset="-122"/>
              </a:rPr>
              <a:t>计</a:t>
            </a:r>
            <a:r>
              <a:rPr spc="-10" dirty="0">
                <a:ea typeface="微软雅黑" panose="020B0503020204020204" charset="-122"/>
              </a:rPr>
              <a:t>划</a:t>
            </a:r>
            <a:endParaRPr spc="-10" dirty="0">
              <a:ea typeface="微软雅黑" panose="020B0503020204020204" charset="-122"/>
            </a:endParaRPr>
          </a:p>
        </p:txBody>
      </p:sp>
      <p:sp>
        <p:nvSpPr>
          <p:cNvPr id="26" name="object 26"/>
          <p:cNvSpPr txBox="1"/>
          <p:nvPr/>
        </p:nvSpPr>
        <p:spPr>
          <a:xfrm>
            <a:off x="2202269" y="1232024"/>
            <a:ext cx="537464" cy="165100"/>
          </a:xfrm>
          <a:prstGeom prst="rect">
            <a:avLst/>
          </a:prstGeom>
        </p:spPr>
        <p:txBody>
          <a:bodyPr vert="horz" wrap="square" lIns="0" tIns="12056" rIns="0" bIns="0" rtlCol="0">
            <a:spAutoFit/>
          </a:bodyPr>
          <a:lstStyle/>
          <a:p>
            <a:pPr marL="12700">
              <a:lnSpc>
                <a:spcPct val="100000"/>
              </a:lnSpc>
              <a:spcBef>
                <a:spcPts val="95"/>
              </a:spcBef>
            </a:pPr>
            <a:r>
              <a:rPr sz="1000" b="1" dirty="0">
                <a:latin typeface="微软雅黑" panose="020B0503020204020204" charset="-122"/>
                <a:ea typeface="微软雅黑" panose="020B0503020204020204" charset="-122"/>
                <a:cs typeface="微软雅黑" panose="020B0503020204020204" charset="-122"/>
              </a:rPr>
              <a:t>客户战略</a:t>
            </a:r>
            <a:endParaRPr sz="1000" b="1" dirty="0">
              <a:latin typeface="微软雅黑" panose="020B0503020204020204" charset="-122"/>
              <a:ea typeface="微软雅黑" panose="020B0503020204020204" charset="-122"/>
              <a:cs typeface="微软雅黑" panose="020B0503020204020204" charset="-122"/>
            </a:endParaRPr>
          </a:p>
        </p:txBody>
      </p:sp>
      <p:sp>
        <p:nvSpPr>
          <p:cNvPr id="27" name="object 27"/>
          <p:cNvSpPr txBox="1"/>
          <p:nvPr/>
        </p:nvSpPr>
        <p:spPr>
          <a:xfrm>
            <a:off x="1461241" y="2493053"/>
            <a:ext cx="567288" cy="1134110"/>
          </a:xfrm>
          <a:prstGeom prst="rect">
            <a:avLst/>
          </a:prstGeom>
        </p:spPr>
        <p:txBody>
          <a:bodyPr vert="horz" wrap="square" lIns="0" tIns="27285" rIns="0" bIns="0" rtlCol="0">
            <a:spAutoFit/>
          </a:bodyPr>
          <a:lstStyle/>
          <a:p>
            <a:pPr marL="12700" marR="5080" algn="just">
              <a:lnSpc>
                <a:spcPct val="90000"/>
              </a:lnSpc>
              <a:spcBef>
                <a:spcPts val="215"/>
              </a:spcBef>
            </a:pPr>
            <a:r>
              <a:rPr sz="1000" spc="-5" dirty="0">
                <a:latin typeface="微软雅黑" panose="020B0503020204020204" charset="-122"/>
                <a:ea typeface="微软雅黑" panose="020B0503020204020204" charset="-122"/>
                <a:cs typeface="微软雅黑" panose="020B0503020204020204" charset="-122"/>
              </a:rPr>
              <a:t>支持</a:t>
            </a:r>
            <a:r>
              <a:rPr sz="1000" dirty="0">
                <a:latin typeface="微软雅黑" panose="020B0503020204020204" charset="-122"/>
                <a:ea typeface="微软雅黑" panose="020B0503020204020204" charset="-122"/>
                <a:cs typeface="微软雅黑" panose="020B0503020204020204" charset="-122"/>
              </a:rPr>
              <a:t>XXX  </a:t>
            </a:r>
            <a:r>
              <a:rPr sz="1000" spc="-5" dirty="0">
                <a:latin typeface="微软雅黑" panose="020B0503020204020204" charset="-122"/>
                <a:ea typeface="微软雅黑" panose="020B0503020204020204" charset="-122"/>
                <a:cs typeface="微软雅黑" panose="020B0503020204020204" charset="-122"/>
              </a:rPr>
              <a:t>在中端市 场迅速增 长，方式 是</a:t>
            </a:r>
            <a:r>
              <a:rPr sz="1000" spc="-65"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供应质 量稳定和 </a:t>
            </a:r>
            <a:r>
              <a:rPr sz="1000" spc="-10" dirty="0">
                <a:latin typeface="微软雅黑" panose="020B0503020204020204" charset="-122"/>
                <a:ea typeface="微软雅黑" panose="020B0503020204020204" charset="-122"/>
                <a:cs typeface="微软雅黑" panose="020B0503020204020204" charset="-122"/>
              </a:rPr>
              <a:t>价格有优 </a:t>
            </a:r>
            <a:r>
              <a:rPr sz="1000" spc="-5" dirty="0">
                <a:latin typeface="微软雅黑" panose="020B0503020204020204" charset="-122"/>
                <a:ea typeface="微软雅黑" panose="020B0503020204020204" charset="-122"/>
                <a:cs typeface="微软雅黑" panose="020B0503020204020204" charset="-122"/>
              </a:rPr>
              <a:t>势的产品</a:t>
            </a:r>
            <a:endParaRPr sz="1000">
              <a:latin typeface="微软雅黑" panose="020B0503020204020204" charset="-122"/>
              <a:ea typeface="微软雅黑" panose="020B0503020204020204" charset="-122"/>
              <a:cs typeface="微软雅黑" panose="020B0503020204020204" charset="-122"/>
            </a:endParaRPr>
          </a:p>
        </p:txBody>
      </p:sp>
      <p:sp>
        <p:nvSpPr>
          <p:cNvPr id="28" name="object 28"/>
          <p:cNvSpPr txBox="1"/>
          <p:nvPr/>
        </p:nvSpPr>
        <p:spPr>
          <a:xfrm>
            <a:off x="3620743" y="2461072"/>
            <a:ext cx="2745699" cy="203200"/>
          </a:xfrm>
          <a:prstGeom prst="rect">
            <a:avLst/>
          </a:prstGeom>
        </p:spPr>
        <p:txBody>
          <a:bodyPr vert="horz" wrap="square" lIns="0" tIns="12056" rIns="0" bIns="0" rtlCol="0">
            <a:spAutoFit/>
          </a:bodyPr>
          <a:lstStyle/>
          <a:p>
            <a:pPr marL="201295" indent="-189230">
              <a:lnSpc>
                <a:spcPct val="100000"/>
              </a:lnSpc>
              <a:spcBef>
                <a:spcPts val="95"/>
              </a:spcBef>
              <a:buClr>
                <a:srgbClr val="00295F"/>
              </a:buClr>
              <a:buSzPct val="125000"/>
              <a:buFont typeface="Arial" panose="020B0604020202020204"/>
              <a:buChar char="▪"/>
              <a:tabLst>
                <a:tab pos="201295" algn="l"/>
                <a:tab pos="201930" algn="l"/>
                <a:tab pos="733425" algn="l"/>
                <a:tab pos="921385" algn="l"/>
              </a:tabLst>
            </a:pPr>
            <a:r>
              <a:rPr sz="1000" spc="-5" dirty="0">
                <a:latin typeface="微软雅黑" panose="020B0503020204020204" charset="-122"/>
                <a:ea typeface="微软雅黑" panose="020B0503020204020204" charset="-122"/>
                <a:cs typeface="微软雅黑" panose="020B0503020204020204" charset="-122"/>
              </a:rPr>
              <a:t>升级	</a:t>
            </a:r>
            <a:r>
              <a:rPr sz="1250" spc="-5" dirty="0">
                <a:solidFill>
                  <a:srgbClr val="00295F"/>
                </a:solidFill>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进入</a:t>
            </a: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市场，方式是</a:t>
            </a:r>
            <a:r>
              <a:rPr sz="1000" spc="-30"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升级</a:t>
            </a:r>
            <a:r>
              <a:rPr sz="1000" dirty="0">
                <a:latin typeface="微软雅黑" panose="020B0503020204020204" charset="-122"/>
                <a:ea typeface="微软雅黑" panose="020B0503020204020204" charset="-122"/>
                <a:cs typeface="微软雅黑" panose="020B0503020204020204" charset="-122"/>
              </a:rPr>
              <a:t>XXX</a:t>
            </a:r>
            <a:endParaRPr sz="1000">
              <a:latin typeface="微软雅黑" panose="020B0503020204020204" charset="-122"/>
              <a:ea typeface="微软雅黑" panose="020B0503020204020204" charset="-122"/>
              <a:cs typeface="微软雅黑" panose="020B0503020204020204" charset="-122"/>
            </a:endParaRPr>
          </a:p>
        </p:txBody>
      </p:sp>
      <p:sp>
        <p:nvSpPr>
          <p:cNvPr id="29" name="object 29"/>
          <p:cNvSpPr txBox="1"/>
          <p:nvPr/>
        </p:nvSpPr>
        <p:spPr>
          <a:xfrm>
            <a:off x="3809585" y="2634684"/>
            <a:ext cx="2515992" cy="165100"/>
          </a:xfrm>
          <a:prstGeom prst="rect">
            <a:avLst/>
          </a:prstGeom>
        </p:spPr>
        <p:txBody>
          <a:bodyPr vert="horz" wrap="square" lIns="0" tIns="12056" rIns="0" bIns="0" rtlCol="0">
            <a:spAutoFit/>
          </a:bodyPr>
          <a:lstStyle/>
          <a:p>
            <a:pPr marL="12700">
              <a:lnSpc>
                <a:spcPct val="100000"/>
              </a:lnSpc>
              <a:spcBef>
                <a:spcPts val="95"/>
              </a:spcBef>
              <a:tabLst>
                <a:tab pos="733425" algn="l"/>
              </a:tabLst>
            </a:pPr>
            <a:r>
              <a:rPr sz="1000" dirty="0">
                <a:latin typeface="微软雅黑" panose="020B0503020204020204" charset="-122"/>
                <a:ea typeface="微软雅黑" panose="020B0503020204020204" charset="-122"/>
                <a:cs typeface="微软雅黑" panose="020B0503020204020204" charset="-122"/>
              </a:rPr>
              <a:t>XXX	</a:t>
            </a:r>
            <a:r>
              <a:rPr sz="1500" spc="-7" baseline="3000" dirty="0">
                <a:latin typeface="微软雅黑" panose="020B0503020204020204" charset="-122"/>
                <a:ea typeface="微软雅黑" panose="020B0503020204020204" charset="-122"/>
                <a:cs typeface="微软雅黑" panose="020B0503020204020204" charset="-122"/>
              </a:rPr>
              <a:t>机械</a:t>
            </a:r>
            <a:r>
              <a:rPr sz="1500" spc="-15" baseline="3000" dirty="0">
                <a:latin typeface="微软雅黑" panose="020B0503020204020204" charset="-122"/>
                <a:ea typeface="微软雅黑" panose="020B0503020204020204" charset="-122"/>
                <a:cs typeface="微软雅黑" panose="020B0503020204020204" charset="-122"/>
              </a:rPr>
              <a:t> </a:t>
            </a:r>
            <a:r>
              <a:rPr sz="1500" spc="-7" baseline="3000" dirty="0">
                <a:latin typeface="微软雅黑" panose="020B0503020204020204" charset="-122"/>
                <a:ea typeface="微软雅黑" panose="020B0503020204020204" charset="-122"/>
                <a:cs typeface="微软雅黑" panose="020B0503020204020204" charset="-122"/>
              </a:rPr>
              <a:t>(从</a:t>
            </a:r>
            <a:r>
              <a:rPr sz="1500" baseline="3000" dirty="0">
                <a:latin typeface="微软雅黑" panose="020B0503020204020204" charset="-122"/>
                <a:ea typeface="微软雅黑" panose="020B0503020204020204" charset="-122"/>
                <a:cs typeface="微软雅黑" panose="020B0503020204020204" charset="-122"/>
              </a:rPr>
              <a:t>XXX</a:t>
            </a:r>
            <a:r>
              <a:rPr sz="1500" spc="-7" baseline="3000" dirty="0">
                <a:latin typeface="微软雅黑" panose="020B0503020204020204" charset="-122"/>
                <a:ea typeface="微软雅黑" panose="020B0503020204020204" charset="-122"/>
                <a:cs typeface="微软雅黑" panose="020B0503020204020204" charset="-122"/>
              </a:rPr>
              <a:t>到</a:t>
            </a:r>
            <a:r>
              <a:rPr sz="1500" spc="-7" baseline="3000" dirty="0">
                <a:latin typeface="微软雅黑" panose="020B0503020204020204" charset="-122"/>
                <a:ea typeface="微软雅黑" panose="020B0503020204020204" charset="-122"/>
                <a:cs typeface="微软雅黑" panose="020B0503020204020204" charset="-122"/>
              </a:rPr>
              <a:t>XXX)，预计年销</a:t>
            </a:r>
            <a:endParaRPr sz="1500" baseline="3000">
              <a:latin typeface="微软雅黑" panose="020B0503020204020204" charset="-122"/>
              <a:ea typeface="微软雅黑" panose="020B0503020204020204" charset="-122"/>
              <a:cs typeface="微软雅黑" panose="020B0503020204020204" charset="-122"/>
            </a:endParaRPr>
          </a:p>
        </p:txBody>
      </p:sp>
      <p:sp>
        <p:nvSpPr>
          <p:cNvPr id="30" name="object 30"/>
          <p:cNvSpPr txBox="1"/>
          <p:nvPr/>
        </p:nvSpPr>
        <p:spPr>
          <a:xfrm>
            <a:off x="6641837" y="2512851"/>
            <a:ext cx="1348419" cy="165100"/>
          </a:xfrm>
          <a:prstGeom prst="rect">
            <a:avLst/>
          </a:prstGeom>
        </p:spPr>
        <p:txBody>
          <a:bodyPr vert="horz" wrap="square" lIns="0" tIns="12056" rIns="0" bIns="0" rtlCol="0">
            <a:spAutoFit/>
          </a:bodyPr>
          <a:lstStyle/>
          <a:p>
            <a:pPr marL="12700">
              <a:lnSpc>
                <a:spcPct val="100000"/>
              </a:lnSpc>
              <a:spcBef>
                <a:spcPts val="95"/>
              </a:spcBef>
              <a:tabLst>
                <a:tab pos="515620" algn="l"/>
                <a:tab pos="1019810" algn="l"/>
              </a:tabLst>
            </a:pPr>
            <a:r>
              <a:rPr sz="1000" spc="-10" dirty="0">
                <a:latin typeface="微软雅黑" panose="020B0503020204020204" charset="-122"/>
                <a:ea typeface="微软雅黑" panose="020B0503020204020204" charset="-122"/>
                <a:cs typeface="Arial" panose="020B0604020202020204"/>
              </a:rPr>
              <a:t>6.</a:t>
            </a:r>
            <a:r>
              <a:rPr sz="1000" spc="-5" dirty="0">
                <a:latin typeface="微软雅黑" panose="020B0503020204020204" charset="-122"/>
                <a:ea typeface="微软雅黑" panose="020B0503020204020204" charset="-122"/>
                <a:cs typeface="Arial" panose="020B0604020202020204"/>
              </a:rPr>
              <a:t>7</a:t>
            </a:r>
            <a:r>
              <a:rPr sz="1000" dirty="0">
                <a:latin typeface="微软雅黑" panose="020B0503020204020204" charset="-122"/>
                <a:ea typeface="微软雅黑" panose="020B0503020204020204" charset="-122"/>
                <a:cs typeface="Arial" panose="020B0604020202020204"/>
              </a:rPr>
              <a:t>	</a:t>
            </a:r>
            <a:r>
              <a:rPr sz="1000" spc="-10" dirty="0">
                <a:latin typeface="微软雅黑" panose="020B0503020204020204" charset="-122"/>
                <a:ea typeface="微软雅黑" panose="020B0503020204020204" charset="-122"/>
                <a:cs typeface="Arial" panose="020B0604020202020204"/>
              </a:rPr>
              <a:t>10.</a:t>
            </a:r>
            <a:r>
              <a:rPr sz="1000" spc="-5" dirty="0">
                <a:latin typeface="微软雅黑" panose="020B0503020204020204" charset="-122"/>
                <a:ea typeface="微软雅黑" panose="020B0503020204020204" charset="-122"/>
                <a:cs typeface="Arial" panose="020B0604020202020204"/>
              </a:rPr>
              <a:t>0</a:t>
            </a:r>
            <a:r>
              <a:rPr sz="1000" dirty="0">
                <a:latin typeface="微软雅黑" panose="020B0503020204020204" charset="-122"/>
                <a:ea typeface="微软雅黑" panose="020B0503020204020204" charset="-122"/>
                <a:cs typeface="Arial" panose="020B0604020202020204"/>
              </a:rPr>
              <a:t>	</a:t>
            </a:r>
            <a:r>
              <a:rPr sz="1000" spc="-10" dirty="0">
                <a:latin typeface="微软雅黑" panose="020B0503020204020204" charset="-122"/>
                <a:ea typeface="微软雅黑" panose="020B0503020204020204" charset="-122"/>
                <a:cs typeface="Arial" panose="020B0604020202020204"/>
              </a:rPr>
              <a:t>146.9</a:t>
            </a:r>
            <a:endParaRPr sz="1000">
              <a:latin typeface="微软雅黑" panose="020B0503020204020204" charset="-122"/>
              <a:ea typeface="微软雅黑" panose="020B0503020204020204" charset="-122"/>
              <a:cs typeface="Arial" panose="020B0604020202020204"/>
            </a:endParaRPr>
          </a:p>
        </p:txBody>
      </p:sp>
      <p:sp>
        <p:nvSpPr>
          <p:cNvPr id="31" name="object 31"/>
          <p:cNvSpPr txBox="1"/>
          <p:nvPr/>
        </p:nvSpPr>
        <p:spPr>
          <a:xfrm>
            <a:off x="2203792" y="2479347"/>
            <a:ext cx="1225951" cy="165100"/>
          </a:xfrm>
          <a:prstGeom prst="rect">
            <a:avLst/>
          </a:prstGeom>
        </p:spPr>
        <p:txBody>
          <a:bodyPr vert="horz" wrap="square" lIns="0" tIns="12056" rIns="0" bIns="0" rtlCol="0">
            <a:spAutoFit/>
          </a:bodyPr>
          <a:lstStyle/>
          <a:p>
            <a:pPr marL="201295" indent="-189230">
              <a:lnSpc>
                <a:spcPct val="100000"/>
              </a:lnSpc>
              <a:spcBef>
                <a:spcPts val="95"/>
              </a:spcBef>
              <a:buClr>
                <a:srgbClr val="00295F"/>
              </a:buClr>
              <a:buSzPct val="125000"/>
              <a:buFont typeface="Arial" panose="020B0604020202020204"/>
              <a:buChar char="▪"/>
              <a:tabLst>
                <a:tab pos="201295" algn="l"/>
                <a:tab pos="201930" algn="l"/>
              </a:tabLst>
            </a:pPr>
            <a:r>
              <a:rPr sz="1000" spc="-5" dirty="0">
                <a:latin typeface="微软雅黑" panose="020B0503020204020204" charset="-122"/>
                <a:ea typeface="微软雅黑" panose="020B0503020204020204" charset="-122"/>
                <a:cs typeface="微软雅黑" panose="020B0503020204020204" charset="-122"/>
              </a:rPr>
              <a:t>在产品稳定提供的</a:t>
            </a:r>
            <a:endParaRPr sz="1000" spc="-5" dirty="0">
              <a:latin typeface="微软雅黑" panose="020B0503020204020204" charset="-122"/>
              <a:ea typeface="微软雅黑" panose="020B0503020204020204" charset="-122"/>
              <a:cs typeface="微软雅黑" panose="020B0503020204020204" charset="-122"/>
            </a:endParaRPr>
          </a:p>
        </p:txBody>
      </p:sp>
      <p:sp>
        <p:nvSpPr>
          <p:cNvPr id="32" name="object 32"/>
          <p:cNvSpPr txBox="1"/>
          <p:nvPr/>
        </p:nvSpPr>
        <p:spPr>
          <a:xfrm>
            <a:off x="2392634" y="2598135"/>
            <a:ext cx="1036855" cy="165100"/>
          </a:xfrm>
          <a:prstGeom prst="rect">
            <a:avLst/>
          </a:prstGeom>
        </p:spPr>
        <p:txBody>
          <a:bodyPr vert="horz" wrap="square" lIns="0" tIns="12056" rIns="0" bIns="0" rtlCol="0">
            <a:spAutoFit/>
          </a:bodyPr>
          <a:lstStyle/>
          <a:p>
            <a:pPr marL="12700">
              <a:lnSpc>
                <a:spcPct val="100000"/>
              </a:lnSpc>
              <a:spcBef>
                <a:spcPts val="95"/>
              </a:spcBef>
            </a:pPr>
            <a:r>
              <a:rPr sz="1000" spc="-5" dirty="0">
                <a:latin typeface="微软雅黑" panose="020B0503020204020204" charset="-122"/>
                <a:ea typeface="微软雅黑" panose="020B0503020204020204" charset="-122"/>
                <a:cs typeface="微软雅黑" panose="020B0503020204020204" charset="-122"/>
              </a:rPr>
              <a:t>基础上，保持中端</a:t>
            </a:r>
            <a:endParaRPr sz="1000" spc="-5" dirty="0">
              <a:latin typeface="微软雅黑" panose="020B0503020204020204" charset="-122"/>
              <a:ea typeface="微软雅黑" panose="020B0503020204020204" charset="-122"/>
              <a:cs typeface="微软雅黑" panose="020B0503020204020204" charset="-122"/>
            </a:endParaRPr>
          </a:p>
        </p:txBody>
      </p:sp>
      <p:sp>
        <p:nvSpPr>
          <p:cNvPr id="33" name="object 33"/>
          <p:cNvSpPr txBox="1"/>
          <p:nvPr/>
        </p:nvSpPr>
        <p:spPr>
          <a:xfrm>
            <a:off x="2367252" y="2716923"/>
            <a:ext cx="5692551" cy="165100"/>
          </a:xfrm>
          <a:prstGeom prst="rect">
            <a:avLst/>
          </a:prstGeom>
        </p:spPr>
        <p:txBody>
          <a:bodyPr vert="horz" wrap="square" lIns="0" tIns="12056" rIns="0" bIns="0" rtlCol="0">
            <a:spAutoFit/>
          </a:bodyPr>
          <a:lstStyle/>
          <a:p>
            <a:pPr marL="38100">
              <a:lnSpc>
                <a:spcPct val="100000"/>
              </a:lnSpc>
              <a:spcBef>
                <a:spcPts val="95"/>
              </a:spcBef>
              <a:tabLst>
                <a:tab pos="2176780" algn="l"/>
                <a:tab pos="5657850" algn="l"/>
              </a:tabLst>
            </a:pPr>
            <a:r>
              <a:rPr sz="1000" spc="-5" dirty="0">
                <a:latin typeface="微软雅黑" panose="020B0503020204020204" charset="-122"/>
                <a:ea typeface="微软雅黑" panose="020B0503020204020204" charset="-122"/>
                <a:cs typeface="微软雅黑" panose="020B0503020204020204" charset="-122"/>
              </a:rPr>
              <a:t>产品的独家供货商</a:t>
            </a:r>
            <a:r>
              <a:rPr sz="1000" spc="30" dirty="0">
                <a:latin typeface="微软雅黑" panose="020B0503020204020204" charset="-122"/>
                <a:ea typeface="微软雅黑" panose="020B0503020204020204" charset="-122"/>
                <a:cs typeface="微软雅黑" panose="020B0503020204020204" charset="-122"/>
              </a:rPr>
              <a:t> </a:t>
            </a:r>
            <a:r>
              <a:rPr sz="1500" u="dash" spc="-7" baseline="-22000" dirty="0">
                <a:uFill>
                  <a:solidFill>
                    <a:srgbClr val="808080"/>
                  </a:solidFill>
                </a:uFill>
                <a:latin typeface="微软雅黑" panose="020B0503020204020204" charset="-122"/>
                <a:ea typeface="微软雅黑" panose="020B0503020204020204" charset="-122"/>
                <a:cs typeface="微软雅黑" panose="020B0503020204020204" charset="-122"/>
              </a:rPr>
              <a:t> </a:t>
            </a:r>
            <a:r>
              <a:rPr sz="1500" u="dash" baseline="-22000" dirty="0">
                <a:uFill>
                  <a:solidFill>
                    <a:srgbClr val="808080"/>
                  </a:solidFill>
                </a:uFill>
                <a:latin typeface="微软雅黑" panose="020B0503020204020204" charset="-122"/>
                <a:ea typeface="微软雅黑" panose="020B0503020204020204" charset="-122"/>
                <a:cs typeface="微软雅黑" panose="020B0503020204020204" charset="-122"/>
              </a:rPr>
              <a:t>	</a:t>
            </a:r>
            <a:r>
              <a:rPr sz="1500" u="dash" spc="-7" baseline="-22000" dirty="0">
                <a:uFill>
                  <a:solidFill>
                    <a:srgbClr val="808080"/>
                  </a:solidFill>
                </a:uFill>
                <a:latin typeface="微软雅黑" panose="020B0503020204020204" charset="-122"/>
                <a:ea typeface="微软雅黑" panose="020B0503020204020204" charset="-122"/>
                <a:cs typeface="微软雅黑" panose="020B0503020204020204" charset="-122"/>
              </a:rPr>
              <a:t>售额</a:t>
            </a:r>
            <a:r>
              <a:rPr sz="1500" u="dash" baseline="-22000" dirty="0">
                <a:uFill>
                  <a:solidFill>
                    <a:srgbClr val="808080"/>
                  </a:solidFill>
                </a:uFill>
                <a:latin typeface="微软雅黑" panose="020B0503020204020204" charset="-122"/>
                <a:ea typeface="微软雅黑" panose="020B0503020204020204" charset="-122"/>
                <a:cs typeface="微软雅黑" panose="020B0503020204020204" charset="-122"/>
              </a:rPr>
              <a:t>XXX</a:t>
            </a:r>
            <a:r>
              <a:rPr sz="1500" u="dash" spc="-7" baseline="-22000" dirty="0">
                <a:uFill>
                  <a:solidFill>
                    <a:srgbClr val="808080"/>
                  </a:solidFill>
                </a:uFill>
                <a:latin typeface="微软雅黑" panose="020B0503020204020204" charset="-122"/>
                <a:ea typeface="微软雅黑" panose="020B0503020204020204" charset="-122"/>
                <a:cs typeface="微软雅黑" panose="020B0503020204020204" charset="-122"/>
              </a:rPr>
              <a:t>万</a:t>
            </a:r>
            <a:r>
              <a:rPr sz="1500" u="dash" baseline="-22000" dirty="0">
                <a:uFill>
                  <a:solidFill>
                    <a:srgbClr val="808080"/>
                  </a:solidFill>
                </a:uFill>
                <a:latin typeface="微软雅黑" panose="020B0503020204020204" charset="-122"/>
                <a:ea typeface="微软雅黑" panose="020B0503020204020204" charset="-122"/>
                <a:cs typeface="微软雅黑" panose="020B0503020204020204" charset="-122"/>
              </a:rPr>
              <a:t>	</a:t>
            </a:r>
            <a:endParaRPr sz="1500" baseline="-22000">
              <a:latin typeface="微软雅黑" panose="020B0503020204020204" charset="-122"/>
              <a:ea typeface="微软雅黑" panose="020B0503020204020204" charset="-122"/>
              <a:cs typeface="微软雅黑" panose="020B0503020204020204" charset="-122"/>
            </a:endParaRPr>
          </a:p>
        </p:txBody>
      </p:sp>
      <p:sp>
        <p:nvSpPr>
          <p:cNvPr id="34" name="object 34"/>
          <p:cNvSpPr txBox="1"/>
          <p:nvPr/>
        </p:nvSpPr>
        <p:spPr>
          <a:xfrm>
            <a:off x="2178410" y="2835711"/>
            <a:ext cx="1276715" cy="524510"/>
          </a:xfrm>
          <a:prstGeom prst="rect">
            <a:avLst/>
          </a:prstGeom>
        </p:spPr>
        <p:txBody>
          <a:bodyPr vert="horz" wrap="square" lIns="0" tIns="12056" rIns="0" bIns="0" rtlCol="0">
            <a:spAutoFit/>
          </a:bodyPr>
          <a:lstStyle/>
          <a:p>
            <a:pPr marL="226695">
              <a:lnSpc>
                <a:spcPts val="1070"/>
              </a:lnSpc>
              <a:spcBef>
                <a:spcPts val="95"/>
              </a:spcBef>
            </a:pPr>
            <a:r>
              <a:rPr sz="1000" spc="-5" dirty="0">
                <a:latin typeface="微软雅黑" panose="020B0503020204020204" charset="-122"/>
                <a:ea typeface="微软雅黑" panose="020B0503020204020204" charset="-122"/>
                <a:cs typeface="微软雅黑" panose="020B0503020204020204" charset="-122"/>
              </a:rPr>
              <a:t>地位，方式是确保</a:t>
            </a:r>
            <a:endParaRPr sz="1000">
              <a:latin typeface="微软雅黑" panose="020B0503020204020204" charset="-122"/>
              <a:ea typeface="微软雅黑" panose="020B0503020204020204" charset="-122"/>
              <a:cs typeface="微软雅黑" panose="020B0503020204020204" charset="-122"/>
            </a:endParaRPr>
          </a:p>
          <a:p>
            <a:pPr marL="226695" marR="30480" indent="-189230" algn="just">
              <a:lnSpc>
                <a:spcPct val="78000"/>
              </a:lnSpc>
              <a:spcBef>
                <a:spcPts val="130"/>
              </a:spcBef>
              <a:buClr>
                <a:srgbClr val="00295F"/>
              </a:buClr>
              <a:buSzPct val="125000"/>
              <a:buFont typeface="Arial" panose="020B0604020202020204"/>
              <a:buChar char="▪"/>
              <a:tabLst>
                <a:tab pos="226695" algn="l"/>
              </a:tabLst>
            </a:pPr>
            <a:r>
              <a:rPr sz="1000" spc="-5" dirty="0">
                <a:latin typeface="微软雅黑" panose="020B0503020204020204" charset="-122"/>
                <a:ea typeface="微软雅黑" panose="020B0503020204020204" charset="-122"/>
                <a:cs typeface="微软雅黑" panose="020B0503020204020204" charset="-122"/>
              </a:rPr>
              <a:t>可持续的成本优势 提高印刷质量，逐 </a:t>
            </a:r>
            <a:r>
              <a:rPr sz="1000" spc="-10" dirty="0">
                <a:latin typeface="微软雅黑" panose="020B0503020204020204" charset="-122"/>
                <a:ea typeface="微软雅黑" panose="020B0503020204020204" charset="-122"/>
                <a:cs typeface="微软雅黑" panose="020B0503020204020204" charset="-122"/>
              </a:rPr>
              <a:t>步进入高端市场</a:t>
            </a:r>
            <a:endParaRPr sz="1000">
              <a:latin typeface="微软雅黑" panose="020B0503020204020204" charset="-122"/>
              <a:ea typeface="微软雅黑" panose="020B0503020204020204" charset="-122"/>
              <a:cs typeface="微软雅黑" panose="020B0503020204020204" charset="-122"/>
            </a:endParaRPr>
          </a:p>
        </p:txBody>
      </p:sp>
      <p:sp>
        <p:nvSpPr>
          <p:cNvPr id="35" name="object 35"/>
          <p:cNvSpPr txBox="1"/>
          <p:nvPr/>
        </p:nvSpPr>
        <p:spPr>
          <a:xfrm>
            <a:off x="3436723" y="1778803"/>
            <a:ext cx="4594144" cy="165100"/>
          </a:xfrm>
          <a:prstGeom prst="rect">
            <a:avLst/>
          </a:prstGeom>
        </p:spPr>
        <p:txBody>
          <a:bodyPr vert="horz" wrap="square" lIns="0" tIns="12056" rIns="0" bIns="0" rtlCol="0">
            <a:spAutoFit/>
          </a:bodyPr>
          <a:lstStyle/>
          <a:p>
            <a:pPr marL="12700">
              <a:lnSpc>
                <a:spcPct val="100000"/>
              </a:lnSpc>
              <a:spcBef>
                <a:spcPts val="95"/>
              </a:spcBef>
              <a:tabLst>
                <a:tab pos="385445" algn="l"/>
                <a:tab pos="4584065" algn="l"/>
              </a:tabLst>
            </a:pPr>
            <a:r>
              <a:rPr sz="1000" u="dash" spc="-5" dirty="0">
                <a:uFill>
                  <a:solidFill>
                    <a:srgbClr val="808080"/>
                  </a:solidFill>
                </a:uFill>
                <a:latin typeface="微软雅黑" panose="020B0503020204020204" charset="-122"/>
                <a:ea typeface="微软雅黑" panose="020B0503020204020204" charset="-122"/>
                <a:cs typeface="微软雅黑" panose="020B0503020204020204" charset="-122"/>
              </a:rPr>
              <a:t> 	本	</a:t>
            </a:r>
            <a:endParaRPr sz="1000">
              <a:latin typeface="微软雅黑" panose="020B0503020204020204" charset="-122"/>
              <a:ea typeface="微软雅黑" panose="020B0503020204020204" charset="-122"/>
              <a:cs typeface="微软雅黑" panose="020B0503020204020204" charset="-122"/>
            </a:endParaRPr>
          </a:p>
        </p:txBody>
      </p:sp>
      <p:sp>
        <p:nvSpPr>
          <p:cNvPr id="36" name="object 36"/>
          <p:cNvSpPr txBox="1"/>
          <p:nvPr/>
        </p:nvSpPr>
        <p:spPr>
          <a:xfrm>
            <a:off x="3620743" y="1472316"/>
            <a:ext cx="2706992" cy="203200"/>
          </a:xfrm>
          <a:prstGeom prst="rect">
            <a:avLst/>
          </a:prstGeom>
        </p:spPr>
        <p:txBody>
          <a:bodyPr vert="horz" wrap="square" lIns="0" tIns="12056" rIns="0" bIns="0" rtlCol="0">
            <a:spAutoFit/>
          </a:bodyPr>
          <a:lstStyle/>
          <a:p>
            <a:pPr marL="201295" indent="-189230">
              <a:lnSpc>
                <a:spcPct val="100000"/>
              </a:lnSpc>
              <a:spcBef>
                <a:spcPts val="95"/>
              </a:spcBef>
              <a:buClr>
                <a:srgbClr val="00295F"/>
              </a:buClr>
              <a:buSzPct val="125000"/>
              <a:buFont typeface="Arial" panose="020B0604020202020204"/>
              <a:buChar char="▪"/>
              <a:tabLst>
                <a:tab pos="201295" algn="l"/>
                <a:tab pos="201930" algn="l"/>
                <a:tab pos="733425" algn="l"/>
                <a:tab pos="921385" algn="l"/>
              </a:tabLst>
            </a:pPr>
            <a:r>
              <a:rPr sz="1000" spc="-5" dirty="0">
                <a:latin typeface="微软雅黑" panose="020B0503020204020204" charset="-122"/>
                <a:ea typeface="微软雅黑" panose="020B0503020204020204" charset="-122"/>
                <a:cs typeface="微软雅黑" panose="020B0503020204020204" charset="-122"/>
              </a:rPr>
              <a:t>降低	</a:t>
            </a:r>
            <a:r>
              <a:rPr sz="1250" spc="-5" dirty="0">
                <a:solidFill>
                  <a:srgbClr val="00295F"/>
                </a:solidFill>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与</a:t>
            </a: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谈判，将市场份额从</a:t>
            </a:r>
            <a:r>
              <a:rPr sz="1000" spc="-10" dirty="0">
                <a:latin typeface="微软雅黑" panose="020B0503020204020204" charset="-122"/>
                <a:ea typeface="微软雅黑" panose="020B0503020204020204" charset="-122"/>
                <a:cs typeface="微软雅黑" panose="020B0503020204020204" charset="-122"/>
              </a:rPr>
              <a:t>17%</a:t>
            </a:r>
            <a:endParaRPr sz="1000">
              <a:latin typeface="微软雅黑" panose="020B0503020204020204" charset="-122"/>
              <a:ea typeface="微软雅黑" panose="020B0503020204020204" charset="-122"/>
              <a:cs typeface="微软雅黑" panose="020B0503020204020204" charset="-122"/>
            </a:endParaRPr>
          </a:p>
        </p:txBody>
      </p:sp>
      <p:sp>
        <p:nvSpPr>
          <p:cNvPr id="37" name="object 37"/>
          <p:cNvSpPr txBox="1"/>
          <p:nvPr/>
        </p:nvSpPr>
        <p:spPr>
          <a:xfrm>
            <a:off x="3809585" y="1641055"/>
            <a:ext cx="1414413" cy="165100"/>
          </a:xfrm>
          <a:prstGeom prst="rect">
            <a:avLst/>
          </a:prstGeom>
        </p:spPr>
        <p:txBody>
          <a:bodyPr vert="horz" wrap="square" lIns="0" tIns="12056" rIns="0" bIns="0" rtlCol="0">
            <a:spAutoFit/>
          </a:bodyPr>
          <a:lstStyle/>
          <a:p>
            <a:pPr marL="12700">
              <a:lnSpc>
                <a:spcPct val="100000"/>
              </a:lnSpc>
              <a:spcBef>
                <a:spcPts val="95"/>
              </a:spcBef>
              <a:tabLst>
                <a:tab pos="733425" algn="l"/>
              </a:tabLst>
            </a:pP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成	</a:t>
            </a:r>
            <a:r>
              <a:rPr sz="1000" spc="-10" dirty="0">
                <a:latin typeface="微软雅黑" panose="020B0503020204020204" charset="-122"/>
                <a:ea typeface="微软雅黑" panose="020B0503020204020204" charset="-122"/>
                <a:cs typeface="微软雅黑" panose="020B0503020204020204" charset="-122"/>
              </a:rPr>
              <a:t>增加</a:t>
            </a:r>
            <a:r>
              <a:rPr sz="1000" spc="-5" dirty="0">
                <a:latin typeface="微软雅黑" panose="020B0503020204020204" charset="-122"/>
                <a:ea typeface="微软雅黑" panose="020B0503020204020204" charset="-122"/>
                <a:cs typeface="微软雅黑" panose="020B0503020204020204" charset="-122"/>
              </a:rPr>
              <a:t>到</a:t>
            </a:r>
            <a:r>
              <a:rPr sz="1000" spc="-25"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75%</a:t>
            </a:r>
            <a:endParaRPr sz="1000">
              <a:latin typeface="微软雅黑" panose="020B0503020204020204" charset="-122"/>
              <a:ea typeface="微软雅黑" panose="020B0503020204020204" charset="-122"/>
              <a:cs typeface="微软雅黑" panose="020B0503020204020204" charset="-122"/>
            </a:endParaRPr>
          </a:p>
        </p:txBody>
      </p:sp>
      <p:sp>
        <p:nvSpPr>
          <p:cNvPr id="38" name="object 38"/>
          <p:cNvSpPr txBox="1"/>
          <p:nvPr/>
        </p:nvSpPr>
        <p:spPr>
          <a:xfrm>
            <a:off x="6545004" y="1080037"/>
            <a:ext cx="1544495" cy="614045"/>
          </a:xfrm>
          <a:prstGeom prst="rect">
            <a:avLst/>
          </a:prstGeom>
        </p:spPr>
        <p:txBody>
          <a:bodyPr vert="horz" wrap="square" lIns="0" tIns="12056" rIns="0" bIns="0" rtlCol="0">
            <a:spAutoFit/>
          </a:bodyPr>
          <a:lstStyle/>
          <a:p>
            <a:pPr marL="12700">
              <a:lnSpc>
                <a:spcPct val="100000"/>
              </a:lnSpc>
              <a:spcBef>
                <a:spcPts val="95"/>
              </a:spcBef>
              <a:tabLst>
                <a:tab pos="581025" algn="l"/>
                <a:tab pos="1022985" algn="l"/>
              </a:tabLst>
            </a:pPr>
            <a:r>
              <a:rPr sz="1000" b="1" spc="-10" dirty="0">
                <a:latin typeface="微软雅黑" panose="020B0503020204020204" charset="-122"/>
                <a:ea typeface="微软雅黑" panose="020B0503020204020204" charset="-122"/>
                <a:cs typeface="微软雅黑" panose="020B0503020204020204" charset="-122"/>
              </a:rPr>
              <a:t>1</a:t>
            </a:r>
            <a:r>
              <a:rPr sz="1000" b="1" spc="5" dirty="0">
                <a:latin typeface="微软雅黑" panose="020B0503020204020204" charset="-122"/>
                <a:ea typeface="微软雅黑" panose="020B0503020204020204" charset="-122"/>
                <a:cs typeface="微软雅黑" panose="020B0503020204020204" charset="-122"/>
              </a:rPr>
              <a:t>月</a:t>
            </a:r>
            <a:r>
              <a:rPr sz="1000" b="1" spc="-5" dirty="0">
                <a:latin typeface="微软雅黑" panose="020B0503020204020204" charset="-122"/>
                <a:ea typeface="微软雅黑" panose="020B0503020204020204" charset="-122"/>
                <a:cs typeface="微软雅黑" panose="020B0503020204020204" charset="-122"/>
              </a:rPr>
              <a:t>-</a:t>
            </a:r>
            <a:r>
              <a:rPr sz="1000" b="1" spc="-10" dirty="0">
                <a:latin typeface="微软雅黑" panose="020B0503020204020204" charset="-122"/>
                <a:ea typeface="微软雅黑" panose="020B0503020204020204" charset="-122"/>
                <a:cs typeface="微软雅黑" panose="020B0503020204020204" charset="-122"/>
              </a:rPr>
              <a:t>3</a:t>
            </a:r>
            <a:r>
              <a:rPr sz="1000" b="1" spc="-5" dirty="0">
                <a:latin typeface="微软雅黑" panose="020B0503020204020204" charset="-122"/>
                <a:ea typeface="微软雅黑" panose="020B0503020204020204" charset="-122"/>
                <a:cs typeface="微软雅黑" panose="020B0503020204020204" charset="-122"/>
              </a:rPr>
              <a:t>月</a:t>
            </a:r>
            <a:r>
              <a:rPr sz="1000" b="1" dirty="0">
                <a:latin typeface="微软雅黑" panose="020B0503020204020204" charset="-122"/>
                <a:ea typeface="微软雅黑" panose="020B0503020204020204" charset="-122"/>
                <a:cs typeface="微软雅黑" panose="020B0503020204020204" charset="-122"/>
              </a:rPr>
              <a:t>	</a:t>
            </a:r>
            <a:r>
              <a:rPr sz="1000" b="1" spc="-10" dirty="0">
                <a:latin typeface="微软雅黑" panose="020B0503020204020204" charset="-122"/>
                <a:ea typeface="微软雅黑" panose="020B0503020204020204" charset="-122"/>
                <a:cs typeface="微软雅黑" panose="020B0503020204020204" charset="-122"/>
              </a:rPr>
              <a:t>4</a:t>
            </a:r>
            <a:r>
              <a:rPr sz="1000" b="1" spc="-5" dirty="0">
                <a:latin typeface="微软雅黑" panose="020B0503020204020204" charset="-122"/>
                <a:ea typeface="微软雅黑" panose="020B0503020204020204" charset="-122"/>
                <a:cs typeface="微软雅黑" panose="020B0503020204020204" charset="-122"/>
              </a:rPr>
              <a:t>-</a:t>
            </a:r>
            <a:r>
              <a:rPr sz="1000" b="1" spc="-10" dirty="0">
                <a:latin typeface="微软雅黑" panose="020B0503020204020204" charset="-122"/>
                <a:ea typeface="微软雅黑" panose="020B0503020204020204" charset="-122"/>
                <a:cs typeface="微软雅黑" panose="020B0503020204020204" charset="-122"/>
              </a:rPr>
              <a:t>6</a:t>
            </a:r>
            <a:r>
              <a:rPr sz="1000" b="1" spc="-5" dirty="0">
                <a:latin typeface="微软雅黑" panose="020B0503020204020204" charset="-122"/>
                <a:ea typeface="微软雅黑" panose="020B0503020204020204" charset="-122"/>
                <a:cs typeface="微软雅黑" panose="020B0503020204020204" charset="-122"/>
              </a:rPr>
              <a:t>月</a:t>
            </a:r>
            <a:r>
              <a:rPr sz="1000" b="1" dirty="0">
                <a:latin typeface="微软雅黑" panose="020B0503020204020204" charset="-122"/>
                <a:ea typeface="微软雅黑" panose="020B0503020204020204" charset="-122"/>
                <a:cs typeface="微软雅黑" panose="020B0503020204020204" charset="-122"/>
              </a:rPr>
              <a:t>	</a:t>
            </a:r>
            <a:r>
              <a:rPr sz="1000" b="1" spc="-10" dirty="0">
                <a:latin typeface="微软雅黑" panose="020B0503020204020204" charset="-122"/>
                <a:ea typeface="微软雅黑" panose="020B0503020204020204" charset="-122"/>
                <a:cs typeface="微软雅黑" panose="020B0503020204020204" charset="-122"/>
              </a:rPr>
              <a:t>7</a:t>
            </a:r>
            <a:r>
              <a:rPr sz="1000" b="1" spc="5" dirty="0">
                <a:latin typeface="微软雅黑" panose="020B0503020204020204" charset="-122"/>
                <a:ea typeface="微软雅黑" panose="020B0503020204020204" charset="-122"/>
                <a:cs typeface="微软雅黑" panose="020B0503020204020204" charset="-122"/>
              </a:rPr>
              <a:t>月</a:t>
            </a:r>
            <a:r>
              <a:rPr sz="1000" b="1" spc="-10" dirty="0">
                <a:latin typeface="微软雅黑" panose="020B0503020204020204" charset="-122"/>
                <a:ea typeface="微软雅黑" panose="020B0503020204020204" charset="-122"/>
                <a:cs typeface="微软雅黑" panose="020B0503020204020204" charset="-122"/>
              </a:rPr>
              <a:t>11</a:t>
            </a:r>
            <a:r>
              <a:rPr sz="1000" b="1" spc="5" dirty="0">
                <a:latin typeface="微软雅黑" panose="020B0503020204020204" charset="-122"/>
                <a:ea typeface="微软雅黑" panose="020B0503020204020204" charset="-122"/>
                <a:cs typeface="微软雅黑" panose="020B0503020204020204" charset="-122"/>
              </a:rPr>
              <a:t>日</a:t>
            </a:r>
            <a:r>
              <a:rPr sz="1000" b="1" spc="-5" dirty="0">
                <a:latin typeface="微软雅黑" panose="020B0503020204020204" charset="-122"/>
                <a:ea typeface="微软雅黑" panose="020B0503020204020204" charset="-122"/>
                <a:cs typeface="微软雅黑" panose="020B0503020204020204" charset="-122"/>
              </a:rPr>
              <a:t>-</a:t>
            </a:r>
            <a:endParaRPr sz="1000">
              <a:latin typeface="微软雅黑" panose="020B0503020204020204" charset="-122"/>
              <a:ea typeface="微软雅黑" panose="020B0503020204020204" charset="-122"/>
              <a:cs typeface="微软雅黑" panose="020B0503020204020204" charset="-122"/>
            </a:endParaRPr>
          </a:p>
          <a:p>
            <a:pPr marL="12700">
              <a:lnSpc>
                <a:spcPct val="100000"/>
              </a:lnSpc>
              <a:spcBef>
                <a:spcPts val="35"/>
              </a:spcBef>
              <a:tabLst>
                <a:tab pos="581025" algn="l"/>
                <a:tab pos="1022985" algn="l"/>
              </a:tabLst>
            </a:pPr>
            <a:r>
              <a:rPr sz="1000" b="1" spc="-5" dirty="0">
                <a:latin typeface="微软雅黑" panose="020B0503020204020204" charset="-122"/>
                <a:ea typeface="微软雅黑" panose="020B0503020204020204" charset="-122"/>
                <a:cs typeface="微软雅黑" panose="020B0503020204020204" charset="-122"/>
              </a:rPr>
              <a:t>2013	2013	</a:t>
            </a:r>
            <a:r>
              <a:rPr sz="1500" b="1" spc="-15" baseline="3000" dirty="0">
                <a:latin typeface="微软雅黑" panose="020B0503020204020204" charset="-122"/>
                <a:ea typeface="微软雅黑" panose="020B0503020204020204" charset="-122"/>
                <a:cs typeface="微软雅黑" panose="020B0503020204020204" charset="-122"/>
              </a:rPr>
              <a:t>6</a:t>
            </a:r>
            <a:r>
              <a:rPr sz="1500" b="1" baseline="3000" dirty="0">
                <a:latin typeface="微软雅黑" panose="020B0503020204020204" charset="-122"/>
                <a:ea typeface="微软雅黑" panose="020B0503020204020204" charset="-122"/>
                <a:cs typeface="微软雅黑" panose="020B0503020204020204" charset="-122"/>
              </a:rPr>
              <a:t>月</a:t>
            </a:r>
            <a:r>
              <a:rPr sz="1500" b="1" spc="-15" baseline="3000" dirty="0">
                <a:latin typeface="微软雅黑" panose="020B0503020204020204" charset="-122"/>
                <a:ea typeface="微软雅黑" panose="020B0503020204020204" charset="-122"/>
                <a:cs typeface="微软雅黑" panose="020B0503020204020204" charset="-122"/>
              </a:rPr>
              <a:t>13</a:t>
            </a:r>
            <a:r>
              <a:rPr sz="1500" b="1" spc="-7" baseline="3000" dirty="0">
                <a:latin typeface="微软雅黑" panose="020B0503020204020204" charset="-122"/>
                <a:ea typeface="微软雅黑" panose="020B0503020204020204" charset="-122"/>
                <a:cs typeface="微软雅黑" panose="020B0503020204020204" charset="-122"/>
              </a:rPr>
              <a:t>日</a:t>
            </a:r>
            <a:endParaRPr sz="1500" baseline="3000">
              <a:latin typeface="微软雅黑" panose="020B0503020204020204" charset="-122"/>
              <a:ea typeface="微软雅黑" panose="020B0503020204020204" charset="-122"/>
              <a:cs typeface="微软雅黑" panose="020B0503020204020204" charset="-122"/>
            </a:endParaRPr>
          </a:p>
          <a:p>
            <a:pPr marL="109220">
              <a:lnSpc>
                <a:spcPct val="100000"/>
              </a:lnSpc>
              <a:spcBef>
                <a:spcPts val="1065"/>
              </a:spcBef>
              <a:tabLst>
                <a:tab pos="614045" algn="l"/>
                <a:tab pos="1117600" algn="l"/>
              </a:tabLst>
            </a:pPr>
            <a:r>
              <a:rPr sz="1000" spc="-10" dirty="0">
                <a:latin typeface="微软雅黑" panose="020B0503020204020204" charset="-122"/>
                <a:ea typeface="微软雅黑" panose="020B0503020204020204" charset="-122"/>
                <a:cs typeface="微软雅黑" panose="020B0503020204020204" charset="-122"/>
              </a:rPr>
              <a:t>8.3	8.3	67.1</a:t>
            </a:r>
            <a:endParaRPr sz="1000">
              <a:latin typeface="微软雅黑" panose="020B0503020204020204" charset="-122"/>
              <a:ea typeface="微软雅黑" panose="020B0503020204020204" charset="-122"/>
              <a:cs typeface="微软雅黑" panose="020B0503020204020204" charset="-122"/>
            </a:endParaRPr>
          </a:p>
        </p:txBody>
      </p:sp>
      <p:sp>
        <p:nvSpPr>
          <p:cNvPr id="39" name="object 39"/>
          <p:cNvSpPr txBox="1"/>
          <p:nvPr/>
        </p:nvSpPr>
        <p:spPr>
          <a:xfrm>
            <a:off x="3620743" y="1926146"/>
            <a:ext cx="2707626" cy="203200"/>
          </a:xfrm>
          <a:prstGeom prst="rect">
            <a:avLst/>
          </a:prstGeom>
        </p:spPr>
        <p:txBody>
          <a:bodyPr vert="horz" wrap="square" lIns="0" tIns="12056" rIns="0" bIns="0" rtlCol="0">
            <a:spAutoFit/>
          </a:bodyPr>
          <a:lstStyle/>
          <a:p>
            <a:pPr marL="201295" indent="-189230">
              <a:lnSpc>
                <a:spcPct val="100000"/>
              </a:lnSpc>
              <a:spcBef>
                <a:spcPts val="95"/>
              </a:spcBef>
              <a:buClr>
                <a:srgbClr val="00295F"/>
              </a:buClr>
              <a:buSzPct val="125000"/>
              <a:buFont typeface="Arial" panose="020B0604020202020204"/>
              <a:buChar char="▪"/>
              <a:tabLst>
                <a:tab pos="201295" algn="l"/>
                <a:tab pos="201930" algn="l"/>
                <a:tab pos="733425" algn="l"/>
                <a:tab pos="921385" algn="l"/>
              </a:tabLst>
            </a:pPr>
            <a:r>
              <a:rPr sz="1000" spc="-5" dirty="0">
                <a:latin typeface="微软雅黑" panose="020B0503020204020204" charset="-122"/>
                <a:ea typeface="微软雅黑" panose="020B0503020204020204" charset="-122"/>
                <a:cs typeface="微软雅黑" panose="020B0503020204020204" charset="-122"/>
              </a:rPr>
              <a:t>增加	</a:t>
            </a:r>
            <a:r>
              <a:rPr sz="1250" spc="-5" dirty="0">
                <a:solidFill>
                  <a:srgbClr val="00295F"/>
                </a:solidFill>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通过增强对</a:t>
            </a: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需求的吸引力使</a:t>
            </a:r>
            <a:endParaRPr sz="1000">
              <a:latin typeface="微软雅黑" panose="020B0503020204020204" charset="-122"/>
              <a:ea typeface="微软雅黑" panose="020B0503020204020204" charset="-122"/>
              <a:cs typeface="微软雅黑" panose="020B0503020204020204" charset="-122"/>
            </a:endParaRPr>
          </a:p>
        </p:txBody>
      </p:sp>
      <p:sp>
        <p:nvSpPr>
          <p:cNvPr id="40" name="object 40"/>
          <p:cNvSpPr txBox="1"/>
          <p:nvPr/>
        </p:nvSpPr>
        <p:spPr>
          <a:xfrm>
            <a:off x="3809585" y="2095190"/>
            <a:ext cx="1507691" cy="303530"/>
          </a:xfrm>
          <a:prstGeom prst="rect">
            <a:avLst/>
          </a:prstGeom>
        </p:spPr>
        <p:txBody>
          <a:bodyPr vert="horz" wrap="square" lIns="0" tIns="12056" rIns="0" bIns="0" rtlCol="0">
            <a:spAutoFit/>
          </a:bodyPr>
          <a:lstStyle/>
          <a:p>
            <a:pPr marL="12700">
              <a:lnSpc>
                <a:spcPts val="1140"/>
              </a:lnSpc>
              <a:spcBef>
                <a:spcPts val="95"/>
              </a:spcBef>
              <a:tabLst>
                <a:tab pos="733425" algn="l"/>
              </a:tabLst>
            </a:pP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维</a:t>
            </a:r>
            <a:r>
              <a:rPr sz="1000"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销量增加</a:t>
            </a:r>
            <a:r>
              <a:rPr sz="1000" dirty="0">
                <a:latin typeface="微软雅黑" panose="020B0503020204020204" charset="-122"/>
                <a:ea typeface="微软雅黑" panose="020B0503020204020204" charset="-122"/>
                <a:cs typeface="微软雅黑" panose="020B0503020204020204" charset="-122"/>
              </a:rPr>
              <a:t>XXX</a:t>
            </a:r>
            <a:endParaRPr sz="1000">
              <a:latin typeface="微软雅黑" panose="020B0503020204020204" charset="-122"/>
              <a:ea typeface="微软雅黑" panose="020B0503020204020204" charset="-122"/>
              <a:cs typeface="微软雅黑" panose="020B0503020204020204" charset="-122"/>
            </a:endParaRPr>
          </a:p>
          <a:p>
            <a:pPr marL="12700">
              <a:lnSpc>
                <a:spcPts val="1140"/>
              </a:lnSpc>
            </a:pPr>
            <a:r>
              <a:rPr sz="1000" spc="-5" dirty="0">
                <a:latin typeface="微软雅黑" panose="020B0503020204020204" charset="-122"/>
                <a:ea typeface="微软雅黑" panose="020B0503020204020204" charset="-122"/>
                <a:cs typeface="微软雅黑" panose="020B0503020204020204" charset="-122"/>
              </a:rPr>
              <a:t>度</a:t>
            </a:r>
            <a:endParaRPr sz="1000">
              <a:latin typeface="微软雅黑" panose="020B0503020204020204" charset="-122"/>
              <a:ea typeface="微软雅黑" panose="020B0503020204020204" charset="-122"/>
              <a:cs typeface="微软雅黑" panose="020B0503020204020204" charset="-122"/>
            </a:endParaRPr>
          </a:p>
        </p:txBody>
      </p:sp>
      <p:sp>
        <p:nvSpPr>
          <p:cNvPr id="41" name="object 41"/>
          <p:cNvSpPr txBox="1"/>
          <p:nvPr/>
        </p:nvSpPr>
        <p:spPr>
          <a:xfrm>
            <a:off x="6641837" y="1977925"/>
            <a:ext cx="1278619" cy="165100"/>
          </a:xfrm>
          <a:prstGeom prst="rect">
            <a:avLst/>
          </a:prstGeom>
        </p:spPr>
        <p:txBody>
          <a:bodyPr vert="horz" wrap="square" lIns="0" tIns="12056" rIns="0" bIns="0" rtlCol="0">
            <a:spAutoFit/>
          </a:bodyPr>
          <a:lstStyle/>
          <a:p>
            <a:pPr marL="12700">
              <a:lnSpc>
                <a:spcPct val="100000"/>
              </a:lnSpc>
              <a:spcBef>
                <a:spcPts val="95"/>
              </a:spcBef>
              <a:tabLst>
                <a:tab pos="516890" algn="l"/>
                <a:tab pos="1019810" algn="l"/>
              </a:tabLst>
            </a:pPr>
            <a:r>
              <a:rPr sz="1000" spc="-10" dirty="0">
                <a:latin typeface="微软雅黑" panose="020B0503020204020204" charset="-122"/>
                <a:ea typeface="微软雅黑" panose="020B0503020204020204" charset="-122"/>
                <a:cs typeface="Arial" panose="020B0604020202020204"/>
              </a:rPr>
              <a:t>0.</a:t>
            </a:r>
            <a:r>
              <a:rPr sz="1000" spc="-5" dirty="0">
                <a:latin typeface="微软雅黑" panose="020B0503020204020204" charset="-122"/>
                <a:ea typeface="微软雅黑" panose="020B0503020204020204" charset="-122"/>
                <a:cs typeface="Arial" panose="020B0604020202020204"/>
              </a:rPr>
              <a:t>5</a:t>
            </a:r>
            <a:r>
              <a:rPr sz="1000" dirty="0">
                <a:latin typeface="微软雅黑" panose="020B0503020204020204" charset="-122"/>
                <a:ea typeface="微软雅黑" panose="020B0503020204020204" charset="-122"/>
                <a:cs typeface="Arial" panose="020B0604020202020204"/>
              </a:rPr>
              <a:t>	</a:t>
            </a:r>
            <a:r>
              <a:rPr sz="1000" spc="-10" dirty="0">
                <a:latin typeface="微软雅黑" panose="020B0503020204020204" charset="-122"/>
                <a:ea typeface="微软雅黑" panose="020B0503020204020204" charset="-122"/>
                <a:cs typeface="Arial" panose="020B0604020202020204"/>
              </a:rPr>
              <a:t>1.</a:t>
            </a:r>
            <a:r>
              <a:rPr sz="1000" spc="-5" dirty="0">
                <a:latin typeface="微软雅黑" panose="020B0503020204020204" charset="-122"/>
                <a:ea typeface="微软雅黑" panose="020B0503020204020204" charset="-122"/>
                <a:cs typeface="Arial" panose="020B0604020202020204"/>
              </a:rPr>
              <a:t>3</a:t>
            </a:r>
            <a:r>
              <a:rPr sz="1000" dirty="0">
                <a:latin typeface="微软雅黑" panose="020B0503020204020204" charset="-122"/>
                <a:ea typeface="微软雅黑" panose="020B0503020204020204" charset="-122"/>
                <a:cs typeface="Arial" panose="020B0604020202020204"/>
              </a:rPr>
              <a:t>	</a:t>
            </a:r>
            <a:r>
              <a:rPr sz="1000" spc="-10" dirty="0">
                <a:latin typeface="微软雅黑" panose="020B0503020204020204" charset="-122"/>
                <a:ea typeface="微软雅黑" panose="020B0503020204020204" charset="-122"/>
                <a:cs typeface="Arial" panose="020B0604020202020204"/>
              </a:rPr>
              <a:t>11.2</a:t>
            </a:r>
            <a:endParaRPr sz="1000">
              <a:latin typeface="微软雅黑" panose="020B0503020204020204" charset="-122"/>
              <a:ea typeface="微软雅黑" panose="020B0503020204020204" charset="-122"/>
              <a:cs typeface="Arial" panose="020B0604020202020204"/>
            </a:endParaRPr>
          </a:p>
        </p:txBody>
      </p:sp>
      <p:sp>
        <p:nvSpPr>
          <p:cNvPr id="42" name="object 42"/>
          <p:cNvSpPr txBox="1"/>
          <p:nvPr/>
        </p:nvSpPr>
        <p:spPr>
          <a:xfrm>
            <a:off x="1461241" y="1472316"/>
            <a:ext cx="1968375" cy="892175"/>
          </a:xfrm>
          <a:prstGeom prst="rect">
            <a:avLst/>
          </a:prstGeom>
        </p:spPr>
        <p:txBody>
          <a:bodyPr vert="horz" wrap="square" lIns="0" tIns="12056" rIns="0" bIns="0" rtlCol="0">
            <a:spAutoFit/>
          </a:bodyPr>
          <a:lstStyle/>
          <a:p>
            <a:pPr marL="12700">
              <a:lnSpc>
                <a:spcPts val="1415"/>
              </a:lnSpc>
              <a:spcBef>
                <a:spcPts val="95"/>
              </a:spcBef>
              <a:tabLst>
                <a:tab pos="755650" algn="l"/>
                <a:tab pos="943610" algn="l"/>
              </a:tabLst>
            </a:pPr>
            <a:r>
              <a:rPr sz="1000" spc="-5" dirty="0">
                <a:latin typeface="微软雅黑" panose="020B0503020204020204" charset="-122"/>
                <a:ea typeface="微软雅黑" panose="020B0503020204020204" charset="-122"/>
                <a:cs typeface="微软雅黑" panose="020B0503020204020204" charset="-122"/>
              </a:rPr>
              <a:t>保证稳定	</a:t>
            </a:r>
            <a:r>
              <a:rPr sz="1250" spc="-5" dirty="0">
                <a:solidFill>
                  <a:srgbClr val="00295F"/>
                </a:solidFill>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优化产品结构，稳</a:t>
            </a:r>
            <a:endParaRPr sz="1000">
              <a:latin typeface="微软雅黑" panose="020B0503020204020204" charset="-122"/>
              <a:ea typeface="微软雅黑" panose="020B0503020204020204" charset="-122"/>
              <a:cs typeface="微软雅黑" panose="020B0503020204020204" charset="-122"/>
            </a:endParaRPr>
          </a:p>
          <a:p>
            <a:pPr marL="12700">
              <a:lnSpc>
                <a:spcPts val="1055"/>
              </a:lnSpc>
              <a:tabLst>
                <a:tab pos="943610" algn="l"/>
              </a:tabLst>
            </a:pPr>
            <a:r>
              <a:rPr sz="1000" spc="-10" dirty="0">
                <a:latin typeface="微软雅黑" panose="020B0503020204020204" charset="-122"/>
                <a:ea typeface="微软雅黑" panose="020B0503020204020204" charset="-122"/>
                <a:cs typeface="微软雅黑" panose="020B0503020204020204" charset="-122"/>
              </a:rPr>
              <a:t>高质的</a:t>
            </a:r>
            <a:r>
              <a:rPr sz="1000" spc="-5" dirty="0">
                <a:latin typeface="微软雅黑" panose="020B0503020204020204" charset="-122"/>
                <a:ea typeface="微软雅黑" panose="020B0503020204020204" charset="-122"/>
                <a:cs typeface="微软雅黑" panose="020B0503020204020204" charset="-122"/>
              </a:rPr>
              <a:t>供</a:t>
            </a:r>
            <a:r>
              <a:rPr sz="1000"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定质量，提升客户</a:t>
            </a:r>
            <a:endParaRPr sz="1000">
              <a:latin typeface="微软雅黑" panose="020B0503020204020204" charset="-122"/>
              <a:ea typeface="微软雅黑" panose="020B0503020204020204" charset="-122"/>
              <a:cs typeface="微软雅黑" panose="020B0503020204020204" charset="-122"/>
            </a:endParaRPr>
          </a:p>
          <a:p>
            <a:pPr marL="12700" marR="510540">
              <a:lnSpc>
                <a:spcPts val="1080"/>
              </a:lnSpc>
              <a:spcBef>
                <a:spcPts val="80"/>
              </a:spcBef>
              <a:tabLst>
                <a:tab pos="943610" algn="l"/>
              </a:tabLst>
            </a:pPr>
            <a:r>
              <a:rPr sz="1000" spc="-5" dirty="0">
                <a:latin typeface="微软雅黑" panose="020B0503020204020204" charset="-122"/>
                <a:ea typeface="微软雅黑" panose="020B0503020204020204" charset="-122"/>
                <a:cs typeface="微软雅黑" panose="020B0503020204020204" charset="-122"/>
              </a:rPr>
              <a:t>应，帮助	生产效率 客户成功</a:t>
            </a:r>
            <a:endParaRPr sz="1000">
              <a:latin typeface="微软雅黑" panose="020B0503020204020204" charset="-122"/>
              <a:ea typeface="微软雅黑" panose="020B0503020204020204" charset="-122"/>
              <a:cs typeface="微软雅黑" panose="020B0503020204020204" charset="-122"/>
            </a:endParaRPr>
          </a:p>
          <a:p>
            <a:pPr marL="12700" marR="1442720">
              <a:lnSpc>
                <a:spcPts val="1080"/>
              </a:lnSpc>
            </a:pPr>
            <a:r>
              <a:rPr sz="1000" spc="-5" dirty="0">
                <a:latin typeface="微软雅黑" panose="020B0503020204020204" charset="-122"/>
                <a:ea typeface="微软雅黑" panose="020B0503020204020204" charset="-122"/>
                <a:cs typeface="微软雅黑" panose="020B0503020204020204" charset="-122"/>
              </a:rPr>
              <a:t>提前准备 生产</a:t>
            </a:r>
            <a:endParaRPr sz="1000">
              <a:latin typeface="微软雅黑" panose="020B0503020204020204" charset="-122"/>
              <a:ea typeface="微软雅黑" panose="020B0503020204020204" charset="-122"/>
              <a:cs typeface="微软雅黑" panose="020B0503020204020204" charset="-122"/>
            </a:endParaRPr>
          </a:p>
        </p:txBody>
      </p:sp>
      <p:sp>
        <p:nvSpPr>
          <p:cNvPr id="43" name="object 43"/>
          <p:cNvSpPr txBox="1"/>
          <p:nvPr/>
        </p:nvSpPr>
        <p:spPr>
          <a:xfrm>
            <a:off x="3809585" y="5152961"/>
            <a:ext cx="404843" cy="165100"/>
          </a:xfrm>
          <a:prstGeom prst="rect">
            <a:avLst/>
          </a:prstGeom>
        </p:spPr>
        <p:txBody>
          <a:bodyPr vert="horz" wrap="square" lIns="0" tIns="12056" rIns="0" bIns="0" rtlCol="0">
            <a:spAutoFit/>
          </a:bodyPr>
          <a:lstStyle/>
          <a:p>
            <a:pPr marL="12700">
              <a:lnSpc>
                <a:spcPct val="100000"/>
              </a:lnSpc>
              <a:spcBef>
                <a:spcPts val="95"/>
              </a:spcBef>
            </a:pPr>
            <a:r>
              <a:rPr sz="1000" spc="-5" dirty="0">
                <a:latin typeface="微软雅黑" panose="020B0503020204020204" charset="-122"/>
                <a:ea typeface="微软雅黑" panose="020B0503020204020204" charset="-122"/>
                <a:cs typeface="微软雅黑" panose="020B0503020204020204" charset="-122"/>
              </a:rPr>
              <a:t>体质量</a:t>
            </a:r>
            <a:endParaRPr sz="1000" spc="-5" dirty="0">
              <a:latin typeface="微软雅黑" panose="020B0503020204020204" charset="-122"/>
              <a:ea typeface="微软雅黑" panose="020B0503020204020204" charset="-122"/>
              <a:cs typeface="微软雅黑" panose="020B0503020204020204" charset="-122"/>
            </a:endParaRPr>
          </a:p>
        </p:txBody>
      </p:sp>
      <p:sp>
        <p:nvSpPr>
          <p:cNvPr id="44" name="object 44"/>
          <p:cNvSpPr txBox="1"/>
          <p:nvPr/>
        </p:nvSpPr>
        <p:spPr>
          <a:xfrm>
            <a:off x="3620743" y="4983917"/>
            <a:ext cx="2835171" cy="203200"/>
          </a:xfrm>
          <a:prstGeom prst="rect">
            <a:avLst/>
          </a:prstGeom>
        </p:spPr>
        <p:txBody>
          <a:bodyPr vert="horz" wrap="square" lIns="0" tIns="12056" rIns="0" bIns="0" rtlCol="0">
            <a:spAutoFit/>
          </a:bodyPr>
          <a:lstStyle/>
          <a:p>
            <a:pPr marL="201295" indent="-189230">
              <a:lnSpc>
                <a:spcPct val="100000"/>
              </a:lnSpc>
              <a:spcBef>
                <a:spcPts val="95"/>
              </a:spcBef>
              <a:buClr>
                <a:srgbClr val="00295F"/>
              </a:buClr>
              <a:buSzPct val="125000"/>
              <a:buFont typeface="Arial" panose="020B0604020202020204"/>
              <a:buChar char="▪"/>
              <a:tabLst>
                <a:tab pos="201295" algn="l"/>
                <a:tab pos="201930" algn="l"/>
                <a:tab pos="733425" algn="l"/>
                <a:tab pos="921385" algn="l"/>
              </a:tabLst>
            </a:pPr>
            <a:r>
              <a:rPr sz="1000" spc="-5" dirty="0">
                <a:latin typeface="微软雅黑" panose="020B0503020204020204" charset="-122"/>
                <a:ea typeface="微软雅黑" panose="020B0503020204020204" charset="-122"/>
                <a:cs typeface="微软雅黑" panose="020B0503020204020204" charset="-122"/>
              </a:rPr>
              <a:t>提高整	</a:t>
            </a:r>
            <a:r>
              <a:rPr sz="1250" spc="-5" dirty="0">
                <a:solidFill>
                  <a:srgbClr val="00295F"/>
                </a:solidFill>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制定</a:t>
            </a:r>
            <a:r>
              <a:rPr sz="1000" spc="-5" dirty="0">
                <a:latin typeface="微软雅黑" panose="020B0503020204020204" charset="-122"/>
                <a:ea typeface="微软雅黑" panose="020B0503020204020204" charset="-122"/>
                <a:cs typeface="微软雅黑" panose="020B0503020204020204" charset="-122"/>
              </a:rPr>
              <a:t>XXX客户质量保</a:t>
            </a:r>
            <a:r>
              <a:rPr sz="1000" spc="5" dirty="0">
                <a:latin typeface="微软雅黑" panose="020B0503020204020204" charset="-122"/>
                <a:ea typeface="微软雅黑" panose="020B0503020204020204" charset="-122"/>
                <a:cs typeface="微软雅黑" panose="020B0503020204020204" charset="-122"/>
              </a:rPr>
              <a:t>证</a:t>
            </a:r>
            <a:r>
              <a:rPr sz="1000" spc="-5" dirty="0">
                <a:latin typeface="微软雅黑" panose="020B0503020204020204" charset="-122"/>
                <a:ea typeface="微软雅黑" panose="020B0503020204020204" charset="-122"/>
                <a:cs typeface="微软雅黑" panose="020B0503020204020204" charset="-122"/>
              </a:rPr>
              <a:t>指</a:t>
            </a:r>
            <a:r>
              <a:rPr sz="1000" spc="5" dirty="0">
                <a:latin typeface="微软雅黑" panose="020B0503020204020204" charset="-122"/>
                <a:ea typeface="微软雅黑" panose="020B0503020204020204" charset="-122"/>
                <a:cs typeface="微软雅黑" panose="020B0503020204020204" charset="-122"/>
              </a:rPr>
              <a:t>导</a:t>
            </a:r>
            <a:r>
              <a:rPr sz="1000" spc="-5" dirty="0">
                <a:latin typeface="微软雅黑" panose="020B0503020204020204" charset="-122"/>
                <a:ea typeface="微软雅黑" panose="020B0503020204020204" charset="-122"/>
                <a:cs typeface="微软雅黑" panose="020B0503020204020204" charset="-122"/>
              </a:rPr>
              <a:t>原则，</a:t>
            </a:r>
            <a:endParaRPr sz="1000">
              <a:latin typeface="微软雅黑" panose="020B0503020204020204" charset="-122"/>
              <a:ea typeface="微软雅黑" panose="020B0503020204020204" charset="-122"/>
              <a:cs typeface="微软雅黑" panose="020B0503020204020204" charset="-122"/>
            </a:endParaRPr>
          </a:p>
        </p:txBody>
      </p:sp>
      <p:sp>
        <p:nvSpPr>
          <p:cNvPr id="45" name="object 45"/>
          <p:cNvSpPr txBox="1"/>
          <p:nvPr/>
        </p:nvSpPr>
        <p:spPr>
          <a:xfrm>
            <a:off x="4529928" y="5152961"/>
            <a:ext cx="1824332" cy="691515"/>
          </a:xfrm>
          <a:prstGeom prst="rect">
            <a:avLst/>
          </a:prstGeom>
        </p:spPr>
        <p:txBody>
          <a:bodyPr vert="horz" wrap="square" lIns="0" tIns="12056" rIns="0" bIns="0" rtlCol="0">
            <a:spAutoFit/>
          </a:bodyPr>
          <a:lstStyle/>
          <a:p>
            <a:pPr marL="12700">
              <a:lnSpc>
                <a:spcPts val="1040"/>
              </a:lnSpc>
              <a:spcBef>
                <a:spcPts val="95"/>
              </a:spcBef>
            </a:pPr>
            <a:r>
              <a:rPr sz="1000" spc="-5" dirty="0">
                <a:latin typeface="微软雅黑" panose="020B0503020204020204" charset="-122"/>
                <a:ea typeface="微软雅黑" panose="020B0503020204020204" charset="-122"/>
                <a:cs typeface="微软雅黑" panose="020B0503020204020204" charset="-122"/>
              </a:rPr>
              <a:t>提升整体制造质量</a:t>
            </a:r>
            <a:endParaRPr sz="1000">
              <a:latin typeface="微软雅黑" panose="020B0503020204020204" charset="-122"/>
              <a:ea typeface="微软雅黑" panose="020B0503020204020204" charset="-122"/>
              <a:cs typeface="微软雅黑" panose="020B0503020204020204" charset="-122"/>
            </a:endParaRPr>
          </a:p>
          <a:p>
            <a:pPr marL="269875" marR="29210" indent="-256540">
              <a:lnSpc>
                <a:spcPct val="87000"/>
              </a:lnSpc>
              <a:spcBef>
                <a:spcPts val="25"/>
              </a:spcBef>
              <a:buClr>
                <a:srgbClr val="00295F"/>
              </a:buClr>
              <a:buSzPct val="120000"/>
              <a:buFont typeface="Arial" panose="020B0604020202020204"/>
              <a:buChar char="–"/>
              <a:tabLst>
                <a:tab pos="269875" algn="l"/>
                <a:tab pos="270510" algn="l"/>
              </a:tabLst>
            </a:pPr>
            <a:r>
              <a:rPr sz="1000" spc="-5" dirty="0">
                <a:latin typeface="微软雅黑" panose="020B0503020204020204" charset="-122"/>
                <a:ea typeface="微软雅黑" panose="020B0503020204020204" charset="-122"/>
                <a:cs typeface="微软雅黑" panose="020B0503020204020204" charset="-122"/>
              </a:rPr>
              <a:t>每年平均将补充运输成本降 低</a:t>
            </a: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倍，每次</a:t>
            </a: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元</a:t>
            </a:r>
            <a:endParaRPr sz="1000">
              <a:latin typeface="微软雅黑" panose="020B0503020204020204" charset="-122"/>
              <a:ea typeface="微软雅黑" panose="020B0503020204020204" charset="-122"/>
              <a:cs typeface="微软雅黑" panose="020B0503020204020204" charset="-122"/>
            </a:endParaRPr>
          </a:p>
          <a:p>
            <a:pPr marL="255905" marR="5080" indent="-255905" algn="r">
              <a:lnSpc>
                <a:spcPts val="1040"/>
              </a:lnSpc>
              <a:buClr>
                <a:srgbClr val="00295F"/>
              </a:buClr>
              <a:buSzPct val="120000"/>
              <a:buFont typeface="Arial" panose="020B0604020202020204"/>
              <a:buChar char="–"/>
              <a:tabLst>
                <a:tab pos="255270" algn="l"/>
                <a:tab pos="256540" algn="l"/>
              </a:tabLst>
            </a:pPr>
            <a:r>
              <a:rPr sz="1000" spc="-10" dirty="0">
                <a:latin typeface="微软雅黑" panose="020B0503020204020204" charset="-122"/>
                <a:ea typeface="微软雅黑" panose="020B0503020204020204" charset="-122"/>
                <a:cs typeface="微软雅黑" panose="020B0503020204020204" charset="-122"/>
              </a:rPr>
              <a:t>避免</a:t>
            </a:r>
            <a:r>
              <a:rPr sz="1000" dirty="0">
                <a:latin typeface="微软雅黑" panose="020B0503020204020204" charset="-122"/>
                <a:ea typeface="微软雅黑" panose="020B0503020204020204" charset="-122"/>
                <a:cs typeface="微软雅黑" panose="020B0503020204020204" charset="-122"/>
              </a:rPr>
              <a:t>XXX%</a:t>
            </a:r>
            <a:r>
              <a:rPr sz="1000" spc="-10" dirty="0">
                <a:latin typeface="微软雅黑" panose="020B0503020204020204" charset="-122"/>
                <a:ea typeface="微软雅黑" panose="020B0503020204020204" charset="-122"/>
                <a:cs typeface="微软雅黑" panose="020B0503020204020204" charset="-122"/>
              </a:rPr>
              <a:t>的质量损</a:t>
            </a:r>
            <a:r>
              <a:rPr sz="1000" spc="-5" dirty="0">
                <a:latin typeface="微软雅黑" panose="020B0503020204020204" charset="-122"/>
                <a:ea typeface="微软雅黑" panose="020B0503020204020204" charset="-122"/>
                <a:cs typeface="微软雅黑" panose="020B0503020204020204" charset="-122"/>
              </a:rPr>
              <a:t>失</a:t>
            </a:r>
            <a:r>
              <a:rPr sz="1000" spc="-40"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，将</a:t>
            </a:r>
            <a:endParaRPr sz="1000">
              <a:latin typeface="微软雅黑" panose="020B0503020204020204" charset="-122"/>
              <a:ea typeface="微软雅黑" panose="020B0503020204020204" charset="-122"/>
              <a:cs typeface="微软雅黑" panose="020B0503020204020204" charset="-122"/>
            </a:endParaRPr>
          </a:p>
          <a:p>
            <a:pPr marR="39370" algn="r">
              <a:lnSpc>
                <a:spcPts val="1120"/>
              </a:lnSpc>
            </a:pPr>
            <a:r>
              <a:rPr sz="1000" spc="-5" dirty="0">
                <a:latin typeface="微软雅黑" panose="020B0503020204020204" charset="-122"/>
                <a:ea typeface="微软雅黑" panose="020B0503020204020204" charset="-122"/>
                <a:cs typeface="微软雅黑" panose="020B0503020204020204" charset="-122"/>
              </a:rPr>
              <a:t>现有产品的份额提高</a:t>
            </a:r>
            <a:r>
              <a:rPr sz="1000" dirty="0">
                <a:latin typeface="微软雅黑" panose="020B0503020204020204" charset="-122"/>
                <a:ea typeface="微软雅黑" panose="020B0503020204020204" charset="-122"/>
                <a:cs typeface="微软雅黑" panose="020B0503020204020204" charset="-122"/>
              </a:rPr>
              <a:t>XXX%</a:t>
            </a:r>
            <a:endParaRPr sz="1000">
              <a:latin typeface="微软雅黑" panose="020B0503020204020204" charset="-122"/>
              <a:ea typeface="微软雅黑" panose="020B0503020204020204" charset="-122"/>
              <a:cs typeface="微软雅黑" panose="020B0503020204020204" charset="-122"/>
            </a:endParaRPr>
          </a:p>
        </p:txBody>
      </p:sp>
      <p:sp>
        <p:nvSpPr>
          <p:cNvPr id="46" name="object 46"/>
          <p:cNvSpPr txBox="1"/>
          <p:nvPr/>
        </p:nvSpPr>
        <p:spPr>
          <a:xfrm>
            <a:off x="6640314" y="5035696"/>
            <a:ext cx="1349688" cy="165100"/>
          </a:xfrm>
          <a:prstGeom prst="rect">
            <a:avLst/>
          </a:prstGeom>
        </p:spPr>
        <p:txBody>
          <a:bodyPr vert="horz" wrap="square" lIns="0" tIns="12056" rIns="0" bIns="0" rtlCol="0">
            <a:spAutoFit/>
          </a:bodyPr>
          <a:lstStyle/>
          <a:p>
            <a:pPr marL="12700">
              <a:lnSpc>
                <a:spcPct val="100000"/>
              </a:lnSpc>
              <a:spcBef>
                <a:spcPts val="95"/>
              </a:spcBef>
              <a:tabLst>
                <a:tab pos="516890" algn="l"/>
                <a:tab pos="1022350" algn="l"/>
              </a:tabLst>
            </a:pPr>
            <a:r>
              <a:rPr sz="1000" spc="-10" dirty="0">
                <a:latin typeface="微软雅黑" panose="020B0503020204020204" charset="-122"/>
                <a:ea typeface="微软雅黑" panose="020B0503020204020204" charset="-122"/>
                <a:cs typeface="Arial" panose="020B0604020202020204"/>
              </a:rPr>
              <a:t>30.</a:t>
            </a:r>
            <a:r>
              <a:rPr sz="1000" spc="-5" dirty="0">
                <a:latin typeface="微软雅黑" panose="020B0503020204020204" charset="-122"/>
                <a:ea typeface="微软雅黑" panose="020B0503020204020204" charset="-122"/>
                <a:cs typeface="Arial" panose="020B0604020202020204"/>
              </a:rPr>
              <a:t>1</a:t>
            </a:r>
            <a:r>
              <a:rPr sz="1000" dirty="0">
                <a:latin typeface="微软雅黑" panose="020B0503020204020204" charset="-122"/>
                <a:ea typeface="微软雅黑" panose="020B0503020204020204" charset="-122"/>
                <a:cs typeface="Arial" panose="020B0604020202020204"/>
              </a:rPr>
              <a:t>	</a:t>
            </a:r>
            <a:r>
              <a:rPr sz="1000" spc="-10" dirty="0">
                <a:latin typeface="微软雅黑" panose="020B0503020204020204" charset="-122"/>
                <a:ea typeface="微软雅黑" panose="020B0503020204020204" charset="-122"/>
                <a:cs typeface="Arial" panose="020B0604020202020204"/>
              </a:rPr>
              <a:t>30.</a:t>
            </a:r>
            <a:r>
              <a:rPr sz="1000" spc="-5" dirty="0">
                <a:latin typeface="微软雅黑" panose="020B0503020204020204" charset="-122"/>
                <a:ea typeface="微软雅黑" panose="020B0503020204020204" charset="-122"/>
                <a:cs typeface="Arial" panose="020B0604020202020204"/>
              </a:rPr>
              <a:t>4</a:t>
            </a:r>
            <a:r>
              <a:rPr sz="1000" dirty="0">
                <a:latin typeface="微软雅黑" panose="020B0503020204020204" charset="-122"/>
                <a:ea typeface="微软雅黑" panose="020B0503020204020204" charset="-122"/>
                <a:cs typeface="Arial" panose="020B0604020202020204"/>
              </a:rPr>
              <a:t>	</a:t>
            </a:r>
            <a:r>
              <a:rPr sz="1000" spc="-10" dirty="0">
                <a:latin typeface="微软雅黑" panose="020B0503020204020204" charset="-122"/>
                <a:ea typeface="微软雅黑" panose="020B0503020204020204" charset="-122"/>
                <a:cs typeface="Arial" panose="020B0604020202020204"/>
              </a:rPr>
              <a:t>264.6</a:t>
            </a:r>
            <a:endParaRPr sz="1000">
              <a:latin typeface="微软雅黑" panose="020B0503020204020204" charset="-122"/>
              <a:ea typeface="微软雅黑" panose="020B0503020204020204" charset="-122"/>
              <a:cs typeface="Arial" panose="020B0604020202020204"/>
            </a:endParaRPr>
          </a:p>
        </p:txBody>
      </p:sp>
      <p:sp>
        <p:nvSpPr>
          <p:cNvPr id="47" name="object 47"/>
          <p:cNvSpPr txBox="1"/>
          <p:nvPr/>
        </p:nvSpPr>
        <p:spPr>
          <a:xfrm>
            <a:off x="1461241" y="3753981"/>
            <a:ext cx="534291" cy="857250"/>
          </a:xfrm>
          <a:prstGeom prst="rect">
            <a:avLst/>
          </a:prstGeom>
        </p:spPr>
        <p:txBody>
          <a:bodyPr vert="horz" wrap="square" lIns="0" tIns="27285" rIns="0" bIns="0" rtlCol="0">
            <a:spAutoFit/>
          </a:bodyPr>
          <a:lstStyle/>
          <a:p>
            <a:pPr marL="12700" marR="5080" algn="just">
              <a:lnSpc>
                <a:spcPct val="90000"/>
              </a:lnSpc>
              <a:spcBef>
                <a:spcPts val="215"/>
              </a:spcBef>
            </a:pPr>
            <a:r>
              <a:rPr sz="1000" spc="-10" dirty="0">
                <a:latin typeface="微软雅黑" panose="020B0503020204020204" charset="-122"/>
                <a:ea typeface="微软雅黑" panose="020B0503020204020204" charset="-122"/>
                <a:cs typeface="微软雅黑" panose="020B0503020204020204" charset="-122"/>
              </a:rPr>
              <a:t>积极推进 </a:t>
            </a:r>
            <a:r>
              <a:rPr sz="1000" spc="-5" dirty="0">
                <a:latin typeface="微软雅黑" panose="020B0503020204020204" charset="-122"/>
                <a:ea typeface="微软雅黑" panose="020B0503020204020204" charset="-122"/>
                <a:cs typeface="微软雅黑" panose="020B0503020204020204" charset="-122"/>
              </a:rPr>
              <a:t>质量和产 品创新， 协助</a:t>
            </a:r>
            <a:r>
              <a:rPr sz="1000" dirty="0">
                <a:latin typeface="微软雅黑" panose="020B0503020204020204" charset="-122"/>
                <a:ea typeface="微软雅黑" panose="020B0503020204020204" charset="-122"/>
                <a:cs typeface="微软雅黑" panose="020B0503020204020204" charset="-122"/>
              </a:rPr>
              <a:t>XXX </a:t>
            </a:r>
            <a:r>
              <a:rPr sz="1000" spc="-5" dirty="0">
                <a:latin typeface="微软雅黑" panose="020B0503020204020204" charset="-122"/>
                <a:ea typeface="微软雅黑" panose="020B0503020204020204" charset="-122"/>
                <a:cs typeface="微软雅黑" panose="020B0503020204020204" charset="-122"/>
              </a:rPr>
              <a:t>提升产品 品牌价值</a:t>
            </a:r>
            <a:endParaRPr sz="1000">
              <a:latin typeface="微软雅黑" panose="020B0503020204020204" charset="-122"/>
              <a:ea typeface="微软雅黑" panose="020B0503020204020204" charset="-122"/>
              <a:cs typeface="微软雅黑" panose="020B0503020204020204" charset="-122"/>
            </a:endParaRPr>
          </a:p>
        </p:txBody>
      </p:sp>
      <p:sp>
        <p:nvSpPr>
          <p:cNvPr id="48" name="object 48"/>
          <p:cNvSpPr txBox="1"/>
          <p:nvPr/>
        </p:nvSpPr>
        <p:spPr>
          <a:xfrm>
            <a:off x="3809585" y="3721999"/>
            <a:ext cx="2628307" cy="203835"/>
          </a:xfrm>
          <a:prstGeom prst="rect">
            <a:avLst/>
          </a:prstGeom>
        </p:spPr>
        <p:txBody>
          <a:bodyPr vert="horz" wrap="square" lIns="0" tIns="12691" rIns="0" bIns="0" rtlCol="0">
            <a:spAutoFit/>
          </a:bodyPr>
          <a:lstStyle/>
          <a:p>
            <a:pPr marL="12700">
              <a:lnSpc>
                <a:spcPct val="100000"/>
              </a:lnSpc>
              <a:spcBef>
                <a:spcPts val="100"/>
              </a:spcBef>
              <a:tabLst>
                <a:tab pos="544195" algn="l"/>
                <a:tab pos="733425" algn="l"/>
              </a:tabLst>
            </a:pPr>
            <a:r>
              <a:rPr sz="1000" spc="-10" dirty="0">
                <a:latin typeface="微软雅黑" panose="020B0503020204020204" charset="-122"/>
                <a:ea typeface="微软雅黑" panose="020B0503020204020204" charset="-122"/>
                <a:cs typeface="微软雅黑" panose="020B0503020204020204" charset="-122"/>
              </a:rPr>
              <a:t>改进</a:t>
            </a:r>
            <a:r>
              <a:rPr sz="1000" spc="-5" dirty="0">
                <a:latin typeface="微软雅黑" panose="020B0503020204020204" charset="-122"/>
                <a:ea typeface="微软雅黑" panose="020B0503020204020204" charset="-122"/>
                <a:cs typeface="微软雅黑" panose="020B0503020204020204" charset="-122"/>
              </a:rPr>
              <a:t>生	</a:t>
            </a:r>
            <a:r>
              <a:rPr sz="1250" dirty="0">
                <a:solidFill>
                  <a:srgbClr val="00295F"/>
                </a:solidFill>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通过系统优化</a:t>
            </a:r>
            <a:r>
              <a:rPr sz="1000" dirty="0">
                <a:latin typeface="微软雅黑" panose="020B0503020204020204" charset="-122"/>
                <a:ea typeface="微软雅黑" panose="020B0503020204020204" charset="-122"/>
                <a:cs typeface="微软雅黑" panose="020B0503020204020204" charset="-122"/>
              </a:rPr>
              <a:t>XXX/XXX/XXX/XXX</a:t>
            </a:r>
            <a:endParaRPr sz="1000">
              <a:latin typeface="微软雅黑" panose="020B0503020204020204" charset="-122"/>
              <a:ea typeface="微软雅黑" panose="020B0503020204020204" charset="-122"/>
              <a:cs typeface="微软雅黑" panose="020B0503020204020204" charset="-122"/>
            </a:endParaRPr>
          </a:p>
        </p:txBody>
      </p:sp>
      <p:sp>
        <p:nvSpPr>
          <p:cNvPr id="49" name="object 49"/>
          <p:cNvSpPr txBox="1"/>
          <p:nvPr/>
        </p:nvSpPr>
        <p:spPr>
          <a:xfrm>
            <a:off x="4529928" y="3891602"/>
            <a:ext cx="1799585" cy="829945"/>
          </a:xfrm>
          <a:prstGeom prst="rect">
            <a:avLst/>
          </a:prstGeom>
        </p:spPr>
        <p:txBody>
          <a:bodyPr vert="horz" wrap="square" lIns="0" tIns="12056" rIns="0" bIns="0" rtlCol="0">
            <a:spAutoFit/>
          </a:bodyPr>
          <a:lstStyle/>
          <a:p>
            <a:pPr marL="12700">
              <a:lnSpc>
                <a:spcPts val="1040"/>
              </a:lnSpc>
              <a:spcBef>
                <a:spcPts val="95"/>
              </a:spcBef>
            </a:pPr>
            <a:r>
              <a:rPr sz="1000" spc="-5" dirty="0">
                <a:latin typeface="微软雅黑" panose="020B0503020204020204" charset="-122"/>
                <a:ea typeface="微软雅黑" panose="020B0503020204020204" charset="-122"/>
                <a:cs typeface="微软雅黑" panose="020B0503020204020204" charset="-122"/>
              </a:rPr>
              <a:t>成本结构</a:t>
            </a: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扩大收入份额</a:t>
            </a:r>
            <a:endParaRPr sz="1000">
              <a:latin typeface="微软雅黑" panose="020B0503020204020204" charset="-122"/>
              <a:ea typeface="微软雅黑" panose="020B0503020204020204" charset="-122"/>
              <a:cs typeface="微软雅黑" panose="020B0503020204020204" charset="-122"/>
            </a:endParaRPr>
          </a:p>
          <a:p>
            <a:pPr marL="269875" marR="5080" indent="-256540">
              <a:lnSpc>
                <a:spcPct val="87000"/>
              </a:lnSpc>
              <a:spcBef>
                <a:spcPts val="25"/>
              </a:spcBef>
              <a:buClr>
                <a:srgbClr val="00295F"/>
              </a:buClr>
              <a:buSzPct val="120000"/>
              <a:buFont typeface="Arial" panose="020B0604020202020204"/>
              <a:buChar char="–"/>
              <a:tabLst>
                <a:tab pos="269875" algn="l"/>
                <a:tab pos="270510" algn="l"/>
              </a:tabLst>
            </a:pPr>
            <a:r>
              <a:rPr sz="1000" spc="-5" dirty="0">
                <a:latin typeface="微软雅黑" panose="020B0503020204020204" charset="-122"/>
                <a:ea typeface="微软雅黑" panose="020B0503020204020204" charset="-122"/>
                <a:cs typeface="微软雅黑" panose="020B0503020204020204" charset="-122"/>
              </a:rPr>
              <a:t>通过提前生产半成品提高产 量</a:t>
            </a: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倍。</a:t>
            </a:r>
            <a:endParaRPr sz="1000">
              <a:latin typeface="微软雅黑" panose="020B0503020204020204" charset="-122"/>
              <a:ea typeface="微软雅黑" panose="020B0503020204020204" charset="-122"/>
              <a:cs typeface="微软雅黑" panose="020B0503020204020204" charset="-122"/>
            </a:endParaRPr>
          </a:p>
          <a:p>
            <a:pPr marL="269875" indent="-256540">
              <a:lnSpc>
                <a:spcPts val="940"/>
              </a:lnSpc>
              <a:buClr>
                <a:srgbClr val="00295F"/>
              </a:buClr>
              <a:buSzPct val="120000"/>
              <a:buFont typeface="Arial" panose="020B0604020202020204"/>
              <a:buChar char="–"/>
              <a:tabLst>
                <a:tab pos="269875" algn="l"/>
                <a:tab pos="270510" algn="l"/>
              </a:tabLst>
            </a:pPr>
            <a:r>
              <a:rPr sz="1000" spc="-5" dirty="0">
                <a:latin typeface="微软雅黑" panose="020B0503020204020204" charset="-122"/>
                <a:ea typeface="微软雅黑" panose="020B0503020204020204" charset="-122"/>
                <a:cs typeface="微软雅黑" panose="020B0503020204020204" charset="-122"/>
              </a:rPr>
              <a:t>用</a:t>
            </a: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替代</a:t>
            </a:r>
            <a:r>
              <a:rPr sz="1000" dirty="0">
                <a:latin typeface="微软雅黑" panose="020B0503020204020204" charset="-122"/>
                <a:ea typeface="微软雅黑" panose="020B0503020204020204" charset="-122"/>
                <a:cs typeface="微软雅黑" panose="020B0503020204020204" charset="-122"/>
              </a:rPr>
              <a:t>XXX</a:t>
            </a:r>
            <a:r>
              <a:rPr sz="1000" spc="-55"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(0.6%)</a:t>
            </a:r>
            <a:endParaRPr sz="1000">
              <a:latin typeface="微软雅黑" panose="020B0503020204020204" charset="-122"/>
              <a:ea typeface="微软雅黑" panose="020B0503020204020204" charset="-122"/>
              <a:cs typeface="微软雅黑" panose="020B0503020204020204" charset="-122"/>
            </a:endParaRPr>
          </a:p>
          <a:p>
            <a:pPr marL="269875" indent="-256540">
              <a:lnSpc>
                <a:spcPts val="1180"/>
              </a:lnSpc>
              <a:buClr>
                <a:srgbClr val="00295F"/>
              </a:buClr>
              <a:buSzPct val="120000"/>
              <a:buFont typeface="Arial" panose="020B0604020202020204"/>
              <a:buChar char="–"/>
              <a:tabLst>
                <a:tab pos="269875" algn="l"/>
                <a:tab pos="270510" algn="l"/>
              </a:tabLst>
            </a:pPr>
            <a:r>
              <a:rPr sz="1000" spc="-5" dirty="0">
                <a:latin typeface="微软雅黑" panose="020B0503020204020204" charset="-122"/>
                <a:ea typeface="微软雅黑" panose="020B0503020204020204" charset="-122"/>
                <a:cs typeface="微软雅黑" panose="020B0503020204020204" charset="-122"/>
              </a:rPr>
              <a:t>用</a:t>
            </a: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替代</a:t>
            </a:r>
            <a:r>
              <a:rPr sz="1000" spc="-5" dirty="0">
                <a:latin typeface="微软雅黑" panose="020B0503020204020204" charset="-122"/>
                <a:ea typeface="微软雅黑" panose="020B0503020204020204" charset="-122"/>
                <a:cs typeface="微软雅黑" panose="020B0503020204020204" charset="-122"/>
              </a:rPr>
              <a:t>XXX，降低</a:t>
            </a:r>
            <a:endParaRPr sz="1000">
              <a:latin typeface="微软雅黑" panose="020B0503020204020204" charset="-122"/>
              <a:ea typeface="微软雅黑" panose="020B0503020204020204" charset="-122"/>
              <a:cs typeface="微软雅黑" panose="020B0503020204020204" charset="-122"/>
            </a:endParaRPr>
          </a:p>
          <a:p>
            <a:pPr marL="269875">
              <a:lnSpc>
                <a:spcPts val="1120"/>
              </a:lnSpc>
            </a:pP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的成本，向客户提供</a:t>
            </a:r>
            <a:endParaRPr sz="1000">
              <a:latin typeface="微软雅黑" panose="020B0503020204020204" charset="-122"/>
              <a:ea typeface="微软雅黑" panose="020B0503020204020204" charset="-122"/>
              <a:cs typeface="微软雅黑" panose="020B0503020204020204" charset="-122"/>
            </a:endParaRPr>
          </a:p>
        </p:txBody>
      </p:sp>
      <p:sp>
        <p:nvSpPr>
          <p:cNvPr id="50" name="object 50"/>
          <p:cNvSpPr txBox="1"/>
          <p:nvPr/>
        </p:nvSpPr>
        <p:spPr>
          <a:xfrm>
            <a:off x="6641837" y="3773779"/>
            <a:ext cx="201152"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Arial" panose="020B0604020202020204"/>
              </a:rPr>
              <a:t>9</a:t>
            </a:r>
            <a:r>
              <a:rPr sz="1000" spc="-5" dirty="0">
                <a:latin typeface="微软雅黑" panose="020B0503020204020204" charset="-122"/>
                <a:ea typeface="微软雅黑" panose="020B0503020204020204" charset="-122"/>
                <a:cs typeface="Arial" panose="020B0604020202020204"/>
              </a:rPr>
              <a:t>.8</a:t>
            </a:r>
            <a:endParaRPr sz="1000">
              <a:latin typeface="微软雅黑" panose="020B0503020204020204" charset="-122"/>
              <a:ea typeface="微软雅黑" panose="020B0503020204020204" charset="-122"/>
              <a:cs typeface="Arial" panose="020B0604020202020204"/>
            </a:endParaRPr>
          </a:p>
        </p:txBody>
      </p:sp>
      <p:sp>
        <p:nvSpPr>
          <p:cNvPr id="51" name="object 51"/>
          <p:cNvSpPr txBox="1"/>
          <p:nvPr/>
        </p:nvSpPr>
        <p:spPr>
          <a:xfrm>
            <a:off x="7146304" y="3773779"/>
            <a:ext cx="201152"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Arial" panose="020B0604020202020204"/>
              </a:rPr>
              <a:t>9</a:t>
            </a:r>
            <a:r>
              <a:rPr sz="1000" spc="-5" dirty="0">
                <a:latin typeface="微软雅黑" panose="020B0503020204020204" charset="-122"/>
                <a:ea typeface="微软雅黑" panose="020B0503020204020204" charset="-122"/>
                <a:cs typeface="Arial" panose="020B0604020202020204"/>
              </a:rPr>
              <a:t>.8</a:t>
            </a:r>
            <a:endParaRPr sz="1000">
              <a:latin typeface="微软雅黑" panose="020B0503020204020204" charset="-122"/>
              <a:ea typeface="微软雅黑" panose="020B0503020204020204" charset="-122"/>
              <a:cs typeface="Arial" panose="020B0604020202020204"/>
            </a:endParaRPr>
          </a:p>
        </p:txBody>
      </p:sp>
      <p:sp>
        <p:nvSpPr>
          <p:cNvPr id="52" name="object 52"/>
          <p:cNvSpPr txBox="1"/>
          <p:nvPr/>
        </p:nvSpPr>
        <p:spPr>
          <a:xfrm>
            <a:off x="7649376" y="3773779"/>
            <a:ext cx="341388"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Arial" panose="020B0604020202020204"/>
              </a:rPr>
              <a:t>103</a:t>
            </a:r>
            <a:r>
              <a:rPr sz="1000" spc="-5" dirty="0">
                <a:latin typeface="微软雅黑" panose="020B0503020204020204" charset="-122"/>
                <a:ea typeface="微软雅黑" panose="020B0503020204020204" charset="-122"/>
                <a:cs typeface="Arial" panose="020B0604020202020204"/>
              </a:rPr>
              <a:t>.5</a:t>
            </a:r>
            <a:endParaRPr sz="1000">
              <a:latin typeface="微软雅黑" panose="020B0503020204020204" charset="-122"/>
              <a:ea typeface="微软雅黑" panose="020B0503020204020204" charset="-122"/>
              <a:cs typeface="Arial" panose="020B0604020202020204"/>
            </a:endParaRPr>
          </a:p>
        </p:txBody>
      </p:sp>
      <p:sp>
        <p:nvSpPr>
          <p:cNvPr id="53" name="object 53"/>
          <p:cNvSpPr txBox="1"/>
          <p:nvPr/>
        </p:nvSpPr>
        <p:spPr>
          <a:xfrm>
            <a:off x="2203792" y="3721999"/>
            <a:ext cx="2010889" cy="1026160"/>
          </a:xfrm>
          <a:prstGeom prst="rect">
            <a:avLst/>
          </a:prstGeom>
        </p:spPr>
        <p:txBody>
          <a:bodyPr vert="horz" wrap="square" lIns="0" tIns="12691" rIns="0" bIns="0" rtlCol="0">
            <a:spAutoFit/>
          </a:bodyPr>
          <a:lstStyle/>
          <a:p>
            <a:pPr marL="201295" indent="-189230">
              <a:lnSpc>
                <a:spcPts val="1415"/>
              </a:lnSpc>
              <a:spcBef>
                <a:spcPts val="100"/>
              </a:spcBef>
              <a:buClr>
                <a:srgbClr val="00295F"/>
              </a:buClr>
              <a:buSzPct val="125000"/>
              <a:buFont typeface="Arial" panose="020B0604020202020204"/>
              <a:buChar char="▪"/>
              <a:tabLst>
                <a:tab pos="201295" algn="l"/>
                <a:tab pos="201930" algn="l"/>
                <a:tab pos="1430020" algn="l"/>
              </a:tabLst>
            </a:pPr>
            <a:r>
              <a:rPr sz="1000" spc="-10" dirty="0">
                <a:latin typeface="微软雅黑" panose="020B0503020204020204" charset="-122"/>
                <a:ea typeface="微软雅黑" panose="020B0503020204020204" charset="-122"/>
                <a:cs typeface="微软雅黑" panose="020B0503020204020204" charset="-122"/>
              </a:rPr>
              <a:t>启动针对客户的</a:t>
            </a:r>
            <a:r>
              <a:rPr sz="1000" spc="-5" dirty="0">
                <a:latin typeface="微软雅黑" panose="020B0503020204020204" charset="-122"/>
                <a:ea typeface="微软雅黑" panose="020B0503020204020204" charset="-122"/>
                <a:cs typeface="微软雅黑" panose="020B0503020204020204" charset="-122"/>
              </a:rPr>
              <a:t>具	</a:t>
            </a:r>
            <a:r>
              <a:rPr sz="1250" dirty="0">
                <a:solidFill>
                  <a:srgbClr val="00295F"/>
                </a:solidFill>
                <a:latin typeface="微软雅黑" panose="020B0503020204020204" charset="-122"/>
                <a:ea typeface="微软雅黑" panose="020B0503020204020204" charset="-122"/>
                <a:cs typeface="微软雅黑" panose="020B0503020204020204" charset="-122"/>
              </a:rPr>
              <a:t>▪</a:t>
            </a:r>
            <a:endParaRPr sz="1250">
              <a:latin typeface="微软雅黑" panose="020B0503020204020204" charset="-122"/>
              <a:ea typeface="微软雅黑" panose="020B0503020204020204" charset="-122"/>
              <a:cs typeface="微软雅黑" panose="020B0503020204020204" charset="-122"/>
            </a:endParaRPr>
          </a:p>
          <a:p>
            <a:pPr marL="201295" marR="5080">
              <a:lnSpc>
                <a:spcPts val="1080"/>
              </a:lnSpc>
              <a:spcBef>
                <a:spcPts val="50"/>
              </a:spcBef>
              <a:tabLst>
                <a:tab pos="1619250" algn="l"/>
              </a:tabLst>
            </a:pPr>
            <a:r>
              <a:rPr sz="1000" spc="-5" dirty="0">
                <a:latin typeface="微软雅黑" panose="020B0503020204020204" charset="-122"/>
                <a:ea typeface="微软雅黑" panose="020B0503020204020204" charset="-122"/>
                <a:cs typeface="微软雅黑" panose="020B0503020204020204" charset="-122"/>
              </a:rPr>
              <a:t>体的质</a:t>
            </a:r>
            <a:r>
              <a:rPr sz="1000" spc="5" dirty="0">
                <a:latin typeface="微软雅黑" panose="020B0503020204020204" charset="-122"/>
                <a:ea typeface="微软雅黑" panose="020B0503020204020204" charset="-122"/>
                <a:cs typeface="微软雅黑" panose="020B0503020204020204" charset="-122"/>
              </a:rPr>
              <a:t>量</a:t>
            </a:r>
            <a:r>
              <a:rPr sz="1000" spc="-5" dirty="0">
                <a:latin typeface="微软雅黑" panose="020B0503020204020204" charset="-122"/>
                <a:ea typeface="微软雅黑" panose="020B0503020204020204" charset="-122"/>
                <a:cs typeface="微软雅黑" panose="020B0503020204020204" charset="-122"/>
              </a:rPr>
              <a:t>提升</a:t>
            </a:r>
            <a:r>
              <a:rPr sz="1000" spc="5" dirty="0">
                <a:latin typeface="微软雅黑" panose="020B0503020204020204" charset="-122"/>
                <a:ea typeface="微软雅黑" panose="020B0503020204020204" charset="-122"/>
                <a:cs typeface="微软雅黑" panose="020B0503020204020204" charset="-122"/>
              </a:rPr>
              <a:t>举</a:t>
            </a:r>
            <a:r>
              <a:rPr sz="1000" spc="-5" dirty="0">
                <a:latin typeface="微软雅黑" panose="020B0503020204020204" charset="-122"/>
                <a:ea typeface="微软雅黑" panose="020B0503020204020204" charset="-122"/>
                <a:cs typeface="微软雅黑" panose="020B0503020204020204" charset="-122"/>
              </a:rPr>
              <a:t>措，</a:t>
            </a:r>
            <a:r>
              <a:rPr sz="1000"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产成本 确保产品质量连贯</a:t>
            </a:r>
            <a:endParaRPr sz="1000">
              <a:latin typeface="微软雅黑" panose="020B0503020204020204" charset="-122"/>
              <a:ea typeface="微软雅黑" panose="020B0503020204020204" charset="-122"/>
              <a:cs typeface="微软雅黑" panose="020B0503020204020204" charset="-122"/>
            </a:endParaRPr>
          </a:p>
          <a:p>
            <a:pPr marL="201295">
              <a:lnSpc>
                <a:spcPts val="995"/>
              </a:lnSpc>
            </a:pPr>
            <a:r>
              <a:rPr sz="1000" spc="-5" dirty="0">
                <a:latin typeface="微软雅黑" panose="020B0503020204020204" charset="-122"/>
                <a:ea typeface="微软雅黑" panose="020B0503020204020204" charset="-122"/>
                <a:cs typeface="微软雅黑" panose="020B0503020204020204" charset="-122"/>
              </a:rPr>
              <a:t>稳定</a:t>
            </a:r>
            <a:endParaRPr sz="1000">
              <a:latin typeface="微软雅黑" panose="020B0503020204020204" charset="-122"/>
              <a:ea typeface="微软雅黑" panose="020B0503020204020204" charset="-122"/>
              <a:cs typeface="微软雅黑" panose="020B0503020204020204" charset="-122"/>
            </a:endParaRPr>
          </a:p>
          <a:p>
            <a:pPr marL="201295" marR="791210" indent="-189230" algn="just">
              <a:lnSpc>
                <a:spcPct val="90000"/>
              </a:lnSpc>
              <a:spcBef>
                <a:spcPts val="50"/>
              </a:spcBef>
              <a:buClr>
                <a:srgbClr val="00295F"/>
              </a:buClr>
              <a:buSzPct val="125000"/>
              <a:buFont typeface="Arial" panose="020B0604020202020204"/>
              <a:buChar char="▪"/>
              <a:tabLst>
                <a:tab pos="201930" algn="l"/>
              </a:tabLst>
            </a:pPr>
            <a:r>
              <a:rPr sz="1000" spc="-10" dirty="0">
                <a:latin typeface="微软雅黑" panose="020B0503020204020204" charset="-122"/>
                <a:ea typeface="微软雅黑" panose="020B0503020204020204" charset="-122"/>
                <a:cs typeface="微软雅黑" panose="020B0503020204020204" charset="-122"/>
              </a:rPr>
              <a:t>通过高质量服务和 </a:t>
            </a:r>
            <a:r>
              <a:rPr sz="1000" spc="-5" dirty="0">
                <a:latin typeface="微软雅黑" panose="020B0503020204020204" charset="-122"/>
                <a:ea typeface="微软雅黑" panose="020B0503020204020204" charset="-122"/>
                <a:cs typeface="微软雅黑" panose="020B0503020204020204" charset="-122"/>
              </a:rPr>
              <a:t>全球技术优势成为 客户供应链合作伙</a:t>
            </a:r>
            <a:endParaRPr sz="1000">
              <a:latin typeface="微软雅黑" panose="020B0503020204020204" charset="-122"/>
              <a:ea typeface="微软雅黑" panose="020B0503020204020204" charset="-122"/>
              <a:cs typeface="微软雅黑" panose="020B0503020204020204" charset="-122"/>
            </a:endParaRPr>
          </a:p>
        </p:txBody>
      </p:sp>
      <p:sp>
        <p:nvSpPr>
          <p:cNvPr id="54" name="object 54"/>
          <p:cNvSpPr txBox="1"/>
          <p:nvPr/>
        </p:nvSpPr>
        <p:spPr>
          <a:xfrm>
            <a:off x="2392634" y="4713979"/>
            <a:ext cx="3168310" cy="165100"/>
          </a:xfrm>
          <a:prstGeom prst="rect">
            <a:avLst/>
          </a:prstGeom>
        </p:spPr>
        <p:txBody>
          <a:bodyPr vert="horz" wrap="square" lIns="0" tIns="12056" rIns="0" bIns="0" rtlCol="0">
            <a:spAutoFit/>
          </a:bodyPr>
          <a:lstStyle/>
          <a:p>
            <a:pPr marL="12700">
              <a:lnSpc>
                <a:spcPct val="100000"/>
              </a:lnSpc>
              <a:spcBef>
                <a:spcPts val="95"/>
              </a:spcBef>
              <a:tabLst>
                <a:tab pos="2408555" algn="l"/>
              </a:tabLst>
            </a:pPr>
            <a:r>
              <a:rPr sz="1000" spc="-5" dirty="0">
                <a:latin typeface="微软雅黑" panose="020B0503020204020204" charset="-122"/>
                <a:ea typeface="微软雅黑" panose="020B0503020204020204" charset="-122"/>
                <a:cs typeface="微软雅黑" panose="020B0503020204020204" charset="-122"/>
              </a:rPr>
              <a:t>伴	</a:t>
            </a:r>
            <a:r>
              <a:rPr sz="1000" dirty="0">
                <a:latin typeface="微软雅黑" panose="020B0503020204020204" charset="-122"/>
                <a:ea typeface="微软雅黑" panose="020B0503020204020204" charset="-122"/>
                <a:cs typeface="微软雅黑" panose="020B0503020204020204" charset="-122"/>
              </a:rPr>
              <a:t>XXX</a:t>
            </a:r>
            <a:r>
              <a:rPr sz="1000" spc="-5" dirty="0">
                <a:latin typeface="微软雅黑" panose="020B0503020204020204" charset="-122"/>
                <a:ea typeface="微软雅黑" panose="020B0503020204020204" charset="-122"/>
                <a:cs typeface="微软雅黑" panose="020B0503020204020204" charset="-122"/>
              </a:rPr>
              <a:t>%的返利</a:t>
            </a:r>
            <a:endParaRPr sz="1000">
              <a:latin typeface="微软雅黑" panose="020B0503020204020204" charset="-122"/>
              <a:ea typeface="微软雅黑" panose="020B0503020204020204" charset="-122"/>
              <a:cs typeface="微软雅黑" panose="020B0503020204020204" charset="-122"/>
            </a:endParaRPr>
          </a:p>
        </p:txBody>
      </p:sp>
      <p:sp>
        <p:nvSpPr>
          <p:cNvPr id="55" name="object 55"/>
          <p:cNvSpPr/>
          <p:nvPr/>
        </p:nvSpPr>
        <p:spPr>
          <a:xfrm>
            <a:off x="370069" y="5322149"/>
            <a:ext cx="7919188" cy="818570"/>
          </a:xfrm>
          <a:custGeom>
            <a:avLst/>
            <a:gdLst/>
            <a:ahLst/>
            <a:cxnLst/>
            <a:rect l="l" t="t" r="r" b="b"/>
            <a:pathLst>
              <a:path w="7924800" h="819150">
                <a:moveTo>
                  <a:pt x="0" y="565060"/>
                </a:moveTo>
                <a:lnTo>
                  <a:pt x="0" y="818618"/>
                </a:lnTo>
                <a:lnTo>
                  <a:pt x="7924561" y="762218"/>
                </a:lnTo>
                <a:lnTo>
                  <a:pt x="7924561" y="655431"/>
                </a:lnTo>
                <a:lnTo>
                  <a:pt x="1193797" y="655431"/>
                </a:lnTo>
                <a:lnTo>
                  <a:pt x="1142686" y="586198"/>
                </a:lnTo>
                <a:lnTo>
                  <a:pt x="158110" y="586198"/>
                </a:lnTo>
                <a:lnTo>
                  <a:pt x="0" y="565060"/>
                </a:lnTo>
                <a:close/>
              </a:path>
              <a:path w="7924800" h="819150">
                <a:moveTo>
                  <a:pt x="1711602" y="504212"/>
                </a:moveTo>
                <a:lnTo>
                  <a:pt x="1193797" y="655431"/>
                </a:lnTo>
                <a:lnTo>
                  <a:pt x="7924561" y="655431"/>
                </a:lnTo>
                <a:lnTo>
                  <a:pt x="7924561" y="620815"/>
                </a:lnTo>
                <a:lnTo>
                  <a:pt x="2850858" y="620815"/>
                </a:lnTo>
                <a:lnTo>
                  <a:pt x="2785947" y="597130"/>
                </a:lnTo>
                <a:lnTo>
                  <a:pt x="1970524" y="597130"/>
                </a:lnTo>
                <a:lnTo>
                  <a:pt x="1711602" y="504212"/>
                </a:lnTo>
                <a:close/>
              </a:path>
              <a:path w="7924800" h="819150">
                <a:moveTo>
                  <a:pt x="3079098" y="294692"/>
                </a:moveTo>
                <a:lnTo>
                  <a:pt x="2985239" y="456842"/>
                </a:lnTo>
                <a:lnTo>
                  <a:pt x="2850858" y="620815"/>
                </a:lnTo>
                <a:lnTo>
                  <a:pt x="7924561" y="620815"/>
                </a:lnTo>
                <a:lnTo>
                  <a:pt x="7924561" y="456842"/>
                </a:lnTo>
                <a:lnTo>
                  <a:pt x="4580844" y="456842"/>
                </a:lnTo>
                <a:lnTo>
                  <a:pt x="4560085" y="445911"/>
                </a:lnTo>
                <a:lnTo>
                  <a:pt x="3627624" y="445911"/>
                </a:lnTo>
                <a:lnTo>
                  <a:pt x="3607126" y="376678"/>
                </a:lnTo>
                <a:lnTo>
                  <a:pt x="3234451" y="376678"/>
                </a:lnTo>
                <a:lnTo>
                  <a:pt x="3079098" y="294692"/>
                </a:lnTo>
                <a:close/>
              </a:path>
              <a:path w="7924800" h="819150">
                <a:moveTo>
                  <a:pt x="2074093" y="411294"/>
                </a:moveTo>
                <a:lnTo>
                  <a:pt x="1970524" y="597130"/>
                </a:lnTo>
                <a:lnTo>
                  <a:pt x="2785947" y="597130"/>
                </a:lnTo>
                <a:lnTo>
                  <a:pt x="2561254" y="515144"/>
                </a:lnTo>
                <a:lnTo>
                  <a:pt x="2281230" y="515144"/>
                </a:lnTo>
                <a:lnTo>
                  <a:pt x="2074093" y="411294"/>
                </a:lnTo>
                <a:close/>
              </a:path>
              <a:path w="7924800" h="819150">
                <a:moveTo>
                  <a:pt x="841016" y="493281"/>
                </a:moveTo>
                <a:lnTo>
                  <a:pt x="417032" y="527897"/>
                </a:lnTo>
                <a:lnTo>
                  <a:pt x="158110" y="586198"/>
                </a:lnTo>
                <a:lnTo>
                  <a:pt x="1142686" y="586198"/>
                </a:lnTo>
                <a:lnTo>
                  <a:pt x="1090229" y="515144"/>
                </a:lnTo>
                <a:lnTo>
                  <a:pt x="841016" y="493281"/>
                </a:lnTo>
                <a:close/>
              </a:path>
              <a:path w="7924800" h="819150">
                <a:moveTo>
                  <a:pt x="5284723" y="178089"/>
                </a:moveTo>
                <a:lnTo>
                  <a:pt x="5016092" y="363925"/>
                </a:lnTo>
                <a:lnTo>
                  <a:pt x="4580844" y="456842"/>
                </a:lnTo>
                <a:lnTo>
                  <a:pt x="7924561" y="456842"/>
                </a:lnTo>
                <a:lnTo>
                  <a:pt x="7924561" y="376678"/>
                </a:lnTo>
                <a:lnTo>
                  <a:pt x="5647214" y="376678"/>
                </a:lnTo>
                <a:lnTo>
                  <a:pt x="5626241" y="212706"/>
                </a:lnTo>
                <a:lnTo>
                  <a:pt x="5284723" y="178089"/>
                </a:lnTo>
                <a:close/>
              </a:path>
              <a:path w="7924800" h="819150">
                <a:moveTo>
                  <a:pt x="4279848" y="247322"/>
                </a:moveTo>
                <a:lnTo>
                  <a:pt x="3844471" y="422226"/>
                </a:lnTo>
                <a:lnTo>
                  <a:pt x="3627624" y="445911"/>
                </a:lnTo>
                <a:lnTo>
                  <a:pt x="4560085" y="445911"/>
                </a:lnTo>
                <a:lnTo>
                  <a:pt x="4404389" y="363925"/>
                </a:lnTo>
                <a:lnTo>
                  <a:pt x="4279848" y="247322"/>
                </a:lnTo>
                <a:close/>
              </a:path>
              <a:path w="7924800" h="819150">
                <a:moveTo>
                  <a:pt x="3575839" y="271007"/>
                </a:moveTo>
                <a:lnTo>
                  <a:pt x="3234451" y="376678"/>
                </a:lnTo>
                <a:lnTo>
                  <a:pt x="3607126" y="376678"/>
                </a:lnTo>
                <a:lnTo>
                  <a:pt x="3575839" y="271007"/>
                </a:lnTo>
                <a:close/>
              </a:path>
              <a:path w="7924800" h="819150">
                <a:moveTo>
                  <a:pt x="6433689" y="130720"/>
                </a:moveTo>
                <a:lnTo>
                  <a:pt x="5906136" y="363925"/>
                </a:lnTo>
                <a:lnTo>
                  <a:pt x="5647214" y="376678"/>
                </a:lnTo>
                <a:lnTo>
                  <a:pt x="7924561" y="376678"/>
                </a:lnTo>
                <a:lnTo>
                  <a:pt x="7924561" y="236391"/>
                </a:lnTo>
                <a:lnTo>
                  <a:pt x="6589042" y="236391"/>
                </a:lnTo>
                <a:lnTo>
                  <a:pt x="6433689" y="130720"/>
                </a:lnTo>
                <a:close/>
              </a:path>
              <a:path w="7924800" h="819150">
                <a:moveTo>
                  <a:pt x="7200745" y="107035"/>
                </a:moveTo>
                <a:lnTo>
                  <a:pt x="6786470" y="189021"/>
                </a:lnTo>
                <a:lnTo>
                  <a:pt x="6589042" y="236391"/>
                </a:lnTo>
                <a:lnTo>
                  <a:pt x="7924561" y="236391"/>
                </a:lnTo>
                <a:lnTo>
                  <a:pt x="7924561" y="178089"/>
                </a:lnTo>
                <a:lnTo>
                  <a:pt x="7449957" y="178089"/>
                </a:lnTo>
                <a:lnTo>
                  <a:pt x="7200745" y="107035"/>
                </a:lnTo>
                <a:close/>
              </a:path>
              <a:path w="7924800" h="819150">
                <a:moveTo>
                  <a:pt x="7924561" y="0"/>
                </a:moveTo>
                <a:lnTo>
                  <a:pt x="7449957" y="178089"/>
                </a:lnTo>
                <a:lnTo>
                  <a:pt x="7924561" y="178089"/>
                </a:lnTo>
                <a:lnTo>
                  <a:pt x="7924561" y="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6" name="object 56"/>
          <p:cNvSpPr/>
          <p:nvPr/>
        </p:nvSpPr>
        <p:spPr>
          <a:xfrm>
            <a:off x="370069" y="5322149"/>
            <a:ext cx="7919188" cy="655490"/>
          </a:xfrm>
          <a:custGeom>
            <a:avLst/>
            <a:gdLst/>
            <a:ahLst/>
            <a:cxnLst/>
            <a:rect l="l" t="t" r="r" b="b"/>
            <a:pathLst>
              <a:path w="7924800" h="655954">
                <a:moveTo>
                  <a:pt x="0" y="565060"/>
                </a:moveTo>
                <a:lnTo>
                  <a:pt x="158110" y="586198"/>
                </a:lnTo>
                <a:lnTo>
                  <a:pt x="417032" y="527897"/>
                </a:lnTo>
                <a:lnTo>
                  <a:pt x="841016" y="493281"/>
                </a:lnTo>
                <a:lnTo>
                  <a:pt x="1090229" y="515144"/>
                </a:lnTo>
                <a:lnTo>
                  <a:pt x="1193797" y="655431"/>
                </a:lnTo>
                <a:lnTo>
                  <a:pt x="1711602" y="504212"/>
                </a:lnTo>
                <a:lnTo>
                  <a:pt x="1970524" y="597130"/>
                </a:lnTo>
                <a:lnTo>
                  <a:pt x="2074093" y="411294"/>
                </a:lnTo>
                <a:lnTo>
                  <a:pt x="2281230" y="515144"/>
                </a:lnTo>
                <a:lnTo>
                  <a:pt x="2561254" y="515144"/>
                </a:lnTo>
                <a:lnTo>
                  <a:pt x="2850858" y="620815"/>
                </a:lnTo>
                <a:lnTo>
                  <a:pt x="2985239" y="456842"/>
                </a:lnTo>
                <a:lnTo>
                  <a:pt x="3079098" y="294692"/>
                </a:lnTo>
                <a:lnTo>
                  <a:pt x="3234451" y="376678"/>
                </a:lnTo>
                <a:lnTo>
                  <a:pt x="3575839" y="271007"/>
                </a:lnTo>
                <a:lnTo>
                  <a:pt x="3627624" y="445911"/>
                </a:lnTo>
                <a:lnTo>
                  <a:pt x="3844471" y="422226"/>
                </a:lnTo>
                <a:lnTo>
                  <a:pt x="4279848" y="247322"/>
                </a:lnTo>
                <a:lnTo>
                  <a:pt x="4404389" y="363925"/>
                </a:lnTo>
                <a:lnTo>
                  <a:pt x="4580844" y="456842"/>
                </a:lnTo>
                <a:lnTo>
                  <a:pt x="5016092" y="363925"/>
                </a:lnTo>
                <a:lnTo>
                  <a:pt x="5284723" y="178089"/>
                </a:lnTo>
                <a:lnTo>
                  <a:pt x="5626241" y="212706"/>
                </a:lnTo>
                <a:lnTo>
                  <a:pt x="5647214" y="376678"/>
                </a:lnTo>
                <a:lnTo>
                  <a:pt x="5906136" y="363925"/>
                </a:lnTo>
                <a:lnTo>
                  <a:pt x="6433689" y="130720"/>
                </a:lnTo>
                <a:lnTo>
                  <a:pt x="6589042" y="236391"/>
                </a:lnTo>
                <a:lnTo>
                  <a:pt x="6786470" y="189021"/>
                </a:lnTo>
                <a:lnTo>
                  <a:pt x="7200745" y="107035"/>
                </a:lnTo>
                <a:lnTo>
                  <a:pt x="7449957" y="178089"/>
                </a:lnTo>
                <a:lnTo>
                  <a:pt x="7924561" y="0"/>
                </a:lnTo>
              </a:path>
            </a:pathLst>
          </a:custGeom>
          <a:ln w="32769">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7" name="object 57"/>
          <p:cNvSpPr txBox="1"/>
          <p:nvPr/>
        </p:nvSpPr>
        <p:spPr>
          <a:xfrm>
            <a:off x="106401" y="6412696"/>
            <a:ext cx="1416316"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资料来源：匿名客户案例</a:t>
            </a:r>
            <a:endParaRPr sz="1000" spc="-10" dirty="0">
              <a:latin typeface="微软雅黑" panose="020B0503020204020204" charset="-122"/>
              <a:ea typeface="微软雅黑" panose="020B0503020204020204" charset="-122"/>
              <a:cs typeface="微软雅黑" panose="020B0503020204020204" charset="-122"/>
            </a:endParaRPr>
          </a:p>
        </p:txBody>
      </p:sp>
      <p:sp>
        <p:nvSpPr>
          <p:cNvPr id="58" name="object 58"/>
          <p:cNvSpPr txBox="1"/>
          <p:nvPr/>
        </p:nvSpPr>
        <p:spPr>
          <a:xfrm>
            <a:off x="7808395" y="177579"/>
            <a:ext cx="939134" cy="196215"/>
          </a:xfrm>
          <a:prstGeom prst="rect">
            <a:avLst/>
          </a:prstGeom>
        </p:spPr>
        <p:txBody>
          <a:bodyPr vert="horz" wrap="square" lIns="0" tIns="12691" rIns="0" bIns="0" rtlCol="0">
            <a:spAutoFit/>
          </a:bodyPr>
          <a:lstStyle/>
          <a:p>
            <a:pPr marL="12700">
              <a:lnSpc>
                <a:spcPct val="100000"/>
              </a:lnSpc>
              <a:spcBef>
                <a:spcPts val="100"/>
              </a:spcBef>
            </a:pPr>
            <a:r>
              <a:rPr sz="1200" dirty="0">
                <a:solidFill>
                  <a:srgbClr val="808080"/>
                </a:solidFill>
                <a:latin typeface="微软雅黑" panose="020B0503020204020204" charset="-122"/>
                <a:ea typeface="微软雅黑" panose="020B0503020204020204" charset="-122"/>
                <a:cs typeface="微软雅黑" panose="020B0503020204020204" charset="-122"/>
              </a:rPr>
              <a:t>匿名客户案例</a:t>
            </a:r>
            <a:endParaRPr sz="1200" dirty="0">
              <a:solidFill>
                <a:srgbClr val="808080"/>
              </a:solidFill>
              <a:latin typeface="微软雅黑" panose="020B0503020204020204" charset="-122"/>
              <a:ea typeface="微软雅黑" panose="020B0503020204020204" charset="-122"/>
              <a:cs typeface="微软雅黑" panose="020B0503020204020204" charset="-122"/>
            </a:endParaRPr>
          </a:p>
        </p:txBody>
      </p:sp>
      <p:sp>
        <p:nvSpPr>
          <p:cNvPr id="59" name="object 59"/>
          <p:cNvSpPr/>
          <p:nvPr/>
        </p:nvSpPr>
        <p:spPr>
          <a:xfrm>
            <a:off x="7794307" y="200296"/>
            <a:ext cx="0" cy="209402"/>
          </a:xfrm>
          <a:custGeom>
            <a:avLst/>
            <a:gdLst/>
            <a:ahLst/>
            <a:cxnLst/>
            <a:rect l="l" t="t" r="r" b="b"/>
            <a:pathLst>
              <a:path h="209550">
                <a:moveTo>
                  <a:pt x="0" y="0"/>
                </a:moveTo>
                <a:lnTo>
                  <a:pt x="0" y="209550"/>
                </a:lnTo>
              </a:path>
            </a:pathLst>
          </a:custGeom>
          <a:ln w="9525">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0" name="object 60"/>
          <p:cNvSpPr/>
          <p:nvPr/>
        </p:nvSpPr>
        <p:spPr>
          <a:xfrm>
            <a:off x="7795069" y="411221"/>
            <a:ext cx="941038" cy="0"/>
          </a:xfrm>
          <a:custGeom>
            <a:avLst/>
            <a:gdLst/>
            <a:ahLst/>
            <a:cxnLst/>
            <a:rect l="l" t="t" r="r" b="b"/>
            <a:pathLst>
              <a:path w="941704">
                <a:moveTo>
                  <a:pt x="0" y="0"/>
                </a:moveTo>
                <a:lnTo>
                  <a:pt x="941324" y="0"/>
                </a:lnTo>
              </a:path>
            </a:pathLst>
          </a:custGeom>
          <a:ln w="25400">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2576781" y="2361321"/>
            <a:ext cx="5104830" cy="1783340"/>
          </a:xfrm>
          <a:prstGeom prst="rect">
            <a:avLst/>
          </a:prstGeom>
          <a:blipFill>
            <a:blip r:embed="rId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 name="object 4"/>
          <p:cNvSpPr/>
          <p:nvPr/>
        </p:nvSpPr>
        <p:spPr>
          <a:xfrm>
            <a:off x="2570435" y="2354975"/>
            <a:ext cx="5117648" cy="1796412"/>
          </a:xfrm>
          <a:custGeom>
            <a:avLst/>
            <a:gdLst/>
            <a:ahLst/>
            <a:cxnLst/>
            <a:rect l="l" t="t" r="r" b="b"/>
            <a:pathLst>
              <a:path w="5121275" h="1797685">
                <a:moveTo>
                  <a:pt x="0" y="1797304"/>
                </a:moveTo>
                <a:lnTo>
                  <a:pt x="5121148" y="1797304"/>
                </a:lnTo>
                <a:lnTo>
                  <a:pt x="5121148" y="0"/>
                </a:lnTo>
                <a:lnTo>
                  <a:pt x="0" y="0"/>
                </a:lnTo>
                <a:lnTo>
                  <a:pt x="0" y="1797304"/>
                </a:lnTo>
                <a:close/>
              </a:path>
            </a:pathLst>
          </a:custGeom>
          <a:ln w="12700">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txBox="1"/>
          <p:nvPr/>
        </p:nvSpPr>
        <p:spPr>
          <a:xfrm>
            <a:off x="106401" y="6412696"/>
            <a:ext cx="1036855"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endParaRPr sz="1000" spc="-10" dirty="0">
              <a:latin typeface="微软雅黑" panose="020B0503020204020204" charset="-122"/>
              <a:ea typeface="微软雅黑" panose="020B0503020204020204" charset="-122"/>
              <a:cs typeface="微软雅黑" panose="020B0503020204020204" charset="-122"/>
            </a:endParaRPr>
          </a:p>
        </p:txBody>
      </p:sp>
      <p:sp>
        <p:nvSpPr>
          <p:cNvPr id="6" name="object 6"/>
          <p:cNvSpPr/>
          <p:nvPr/>
        </p:nvSpPr>
        <p:spPr>
          <a:xfrm>
            <a:off x="2196051" y="4281724"/>
            <a:ext cx="5485560" cy="1941724"/>
          </a:xfrm>
          <a:prstGeom prst="rect">
            <a:avLst/>
          </a:prstGeom>
          <a:blipFill>
            <a:blip r:embed="rId2"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2189705" y="4275378"/>
            <a:ext cx="5498378" cy="1954415"/>
          </a:xfrm>
          <a:custGeom>
            <a:avLst/>
            <a:gdLst/>
            <a:ahLst/>
            <a:cxnLst/>
            <a:rect l="l" t="t" r="r" b="b"/>
            <a:pathLst>
              <a:path w="5502275" h="1955800">
                <a:moveTo>
                  <a:pt x="0" y="1955800"/>
                </a:moveTo>
                <a:lnTo>
                  <a:pt x="5502148" y="1955800"/>
                </a:lnTo>
                <a:lnTo>
                  <a:pt x="5502148" y="0"/>
                </a:lnTo>
                <a:lnTo>
                  <a:pt x="0" y="0"/>
                </a:lnTo>
                <a:lnTo>
                  <a:pt x="0" y="1955800"/>
                </a:lnTo>
                <a:close/>
              </a:path>
            </a:pathLst>
          </a:custGeom>
          <a:ln w="12700">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2196051" y="1924243"/>
            <a:ext cx="5485560" cy="345703"/>
          </a:xfrm>
          <a:prstGeom prst="rect">
            <a:avLst/>
          </a:prstGeom>
          <a:blipFill>
            <a:blip r:embed="rId3"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2189705" y="1917897"/>
            <a:ext cx="5498378" cy="358521"/>
          </a:xfrm>
          <a:custGeom>
            <a:avLst/>
            <a:gdLst/>
            <a:ahLst/>
            <a:cxnLst/>
            <a:rect l="l" t="t" r="r" b="b"/>
            <a:pathLst>
              <a:path w="5502275" h="358775">
                <a:moveTo>
                  <a:pt x="0" y="358648"/>
                </a:moveTo>
                <a:lnTo>
                  <a:pt x="5502148" y="358648"/>
                </a:lnTo>
                <a:lnTo>
                  <a:pt x="5502148" y="0"/>
                </a:lnTo>
                <a:lnTo>
                  <a:pt x="0" y="0"/>
                </a:lnTo>
                <a:lnTo>
                  <a:pt x="0" y="358648"/>
                </a:lnTo>
                <a:close/>
              </a:path>
            </a:pathLst>
          </a:custGeom>
          <a:ln w="12700">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2576781" y="809465"/>
            <a:ext cx="5104830" cy="1021879"/>
          </a:xfrm>
          <a:prstGeom prst="rect">
            <a:avLst/>
          </a:prstGeom>
          <a:blipFill>
            <a:blip r:embed="rId4"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2570435" y="803119"/>
            <a:ext cx="5117648" cy="1034952"/>
          </a:xfrm>
          <a:custGeom>
            <a:avLst/>
            <a:gdLst/>
            <a:ahLst/>
            <a:cxnLst/>
            <a:rect l="l" t="t" r="r" b="b"/>
            <a:pathLst>
              <a:path w="5121275" h="1035685">
                <a:moveTo>
                  <a:pt x="0" y="1035303"/>
                </a:moveTo>
                <a:lnTo>
                  <a:pt x="5121148" y="1035303"/>
                </a:lnTo>
                <a:lnTo>
                  <a:pt x="5121148" y="0"/>
                </a:lnTo>
                <a:lnTo>
                  <a:pt x="0" y="0"/>
                </a:lnTo>
                <a:lnTo>
                  <a:pt x="0" y="1035303"/>
                </a:lnTo>
                <a:close/>
              </a:path>
            </a:pathLst>
          </a:custGeom>
          <a:ln w="12700">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7561300" y="273397"/>
            <a:ext cx="1186355" cy="226914"/>
          </a:xfrm>
          <a:prstGeom prst="rect">
            <a:avLst/>
          </a:prstGeom>
          <a:blipFill>
            <a:blip r:embed="rId5"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1470380" y="1215069"/>
            <a:ext cx="2073076" cy="85664"/>
          </a:xfrm>
          <a:custGeom>
            <a:avLst/>
            <a:gdLst/>
            <a:ahLst/>
            <a:cxnLst/>
            <a:rect l="l" t="t" r="r" b="b"/>
            <a:pathLst>
              <a:path w="2074545" h="85725">
                <a:moveTo>
                  <a:pt x="2071403" y="28575"/>
                </a:moveTo>
                <a:lnTo>
                  <a:pt x="2031491" y="28575"/>
                </a:lnTo>
                <a:lnTo>
                  <a:pt x="2031491" y="57150"/>
                </a:lnTo>
                <a:lnTo>
                  <a:pt x="1991496" y="57180"/>
                </a:lnTo>
                <a:lnTo>
                  <a:pt x="1992004" y="59650"/>
                </a:lnTo>
                <a:lnTo>
                  <a:pt x="2001218" y="73278"/>
                </a:lnTo>
                <a:lnTo>
                  <a:pt x="2014837" y="82430"/>
                </a:lnTo>
                <a:lnTo>
                  <a:pt x="2031491" y="85725"/>
                </a:lnTo>
                <a:lnTo>
                  <a:pt x="2048216" y="82359"/>
                </a:lnTo>
                <a:lnTo>
                  <a:pt x="2061844" y="73183"/>
                </a:lnTo>
                <a:lnTo>
                  <a:pt x="2070996" y="59578"/>
                </a:lnTo>
                <a:lnTo>
                  <a:pt x="2074290" y="42925"/>
                </a:lnTo>
                <a:lnTo>
                  <a:pt x="2071403" y="28575"/>
                </a:lnTo>
                <a:close/>
              </a:path>
              <a:path w="2074545" h="85725">
                <a:moveTo>
                  <a:pt x="1991461" y="28605"/>
                </a:moveTo>
                <a:lnTo>
                  <a:pt x="0" y="30099"/>
                </a:lnTo>
                <a:lnTo>
                  <a:pt x="0" y="58674"/>
                </a:lnTo>
                <a:lnTo>
                  <a:pt x="1991496" y="57180"/>
                </a:lnTo>
                <a:lnTo>
                  <a:pt x="1988565" y="42925"/>
                </a:lnTo>
                <a:lnTo>
                  <a:pt x="1991461" y="28605"/>
                </a:lnTo>
                <a:close/>
              </a:path>
              <a:path w="2074545" h="85725">
                <a:moveTo>
                  <a:pt x="2031491" y="28575"/>
                </a:moveTo>
                <a:lnTo>
                  <a:pt x="1991461" y="28605"/>
                </a:lnTo>
                <a:lnTo>
                  <a:pt x="1988565" y="42925"/>
                </a:lnTo>
                <a:lnTo>
                  <a:pt x="1991496" y="57180"/>
                </a:lnTo>
                <a:lnTo>
                  <a:pt x="2031491" y="57150"/>
                </a:lnTo>
                <a:lnTo>
                  <a:pt x="2031491" y="28575"/>
                </a:lnTo>
                <a:close/>
              </a:path>
              <a:path w="2074545" h="85725">
                <a:moveTo>
                  <a:pt x="2031491" y="0"/>
                </a:moveTo>
                <a:lnTo>
                  <a:pt x="2014765" y="3438"/>
                </a:lnTo>
                <a:lnTo>
                  <a:pt x="2001123" y="12652"/>
                </a:lnTo>
                <a:lnTo>
                  <a:pt x="1991933" y="26271"/>
                </a:lnTo>
                <a:lnTo>
                  <a:pt x="1991461" y="28605"/>
                </a:lnTo>
                <a:lnTo>
                  <a:pt x="2071403" y="28575"/>
                </a:lnTo>
                <a:lnTo>
                  <a:pt x="2070925" y="26199"/>
                </a:lnTo>
                <a:lnTo>
                  <a:pt x="2061749" y="12557"/>
                </a:lnTo>
                <a:lnTo>
                  <a:pt x="2048144" y="3367"/>
                </a:lnTo>
                <a:lnTo>
                  <a:pt x="2031491"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1118572" y="2113592"/>
            <a:ext cx="2353547" cy="85664"/>
          </a:xfrm>
          <a:custGeom>
            <a:avLst/>
            <a:gdLst/>
            <a:ahLst/>
            <a:cxnLst/>
            <a:rect l="l" t="t" r="r" b="b"/>
            <a:pathLst>
              <a:path w="2355215" h="85725">
                <a:moveTo>
                  <a:pt x="2351896" y="28575"/>
                </a:moveTo>
                <a:lnTo>
                  <a:pt x="2311920" y="28575"/>
                </a:lnTo>
                <a:lnTo>
                  <a:pt x="2311920" y="57150"/>
                </a:lnTo>
                <a:lnTo>
                  <a:pt x="2271989" y="57176"/>
                </a:lnTo>
                <a:lnTo>
                  <a:pt x="2272487" y="59650"/>
                </a:lnTo>
                <a:lnTo>
                  <a:pt x="2281662" y="73279"/>
                </a:lnTo>
                <a:lnTo>
                  <a:pt x="2295267" y="82430"/>
                </a:lnTo>
                <a:lnTo>
                  <a:pt x="2311920" y="85725"/>
                </a:lnTo>
                <a:lnTo>
                  <a:pt x="2328646" y="82359"/>
                </a:lnTo>
                <a:lnTo>
                  <a:pt x="2342289" y="73183"/>
                </a:lnTo>
                <a:lnTo>
                  <a:pt x="2351479" y="59578"/>
                </a:lnTo>
                <a:lnTo>
                  <a:pt x="2354846" y="42926"/>
                </a:lnTo>
                <a:lnTo>
                  <a:pt x="2351896" y="28575"/>
                </a:lnTo>
                <a:close/>
              </a:path>
              <a:path w="2355215" h="85725">
                <a:moveTo>
                  <a:pt x="2271954" y="28601"/>
                </a:moveTo>
                <a:lnTo>
                  <a:pt x="0" y="30099"/>
                </a:lnTo>
                <a:lnTo>
                  <a:pt x="25" y="58674"/>
                </a:lnTo>
                <a:lnTo>
                  <a:pt x="2271989" y="57176"/>
                </a:lnTo>
                <a:lnTo>
                  <a:pt x="2269121" y="42926"/>
                </a:lnTo>
                <a:lnTo>
                  <a:pt x="2271954" y="28601"/>
                </a:lnTo>
                <a:close/>
              </a:path>
              <a:path w="2355215" h="85725">
                <a:moveTo>
                  <a:pt x="2311920" y="28575"/>
                </a:moveTo>
                <a:lnTo>
                  <a:pt x="2271954" y="28601"/>
                </a:lnTo>
                <a:lnTo>
                  <a:pt x="2269121" y="42926"/>
                </a:lnTo>
                <a:lnTo>
                  <a:pt x="2271989" y="57176"/>
                </a:lnTo>
                <a:lnTo>
                  <a:pt x="2311920" y="57150"/>
                </a:lnTo>
                <a:lnTo>
                  <a:pt x="2311920" y="28575"/>
                </a:lnTo>
                <a:close/>
              </a:path>
              <a:path w="2355215" h="85725">
                <a:moveTo>
                  <a:pt x="2311920" y="0"/>
                </a:moveTo>
                <a:lnTo>
                  <a:pt x="2295196" y="3438"/>
                </a:lnTo>
                <a:lnTo>
                  <a:pt x="2281567" y="12652"/>
                </a:lnTo>
                <a:lnTo>
                  <a:pt x="2272415" y="26271"/>
                </a:lnTo>
                <a:lnTo>
                  <a:pt x="2271954" y="28601"/>
                </a:lnTo>
                <a:lnTo>
                  <a:pt x="2351896" y="28575"/>
                </a:lnTo>
                <a:lnTo>
                  <a:pt x="2351407" y="26199"/>
                </a:lnTo>
                <a:lnTo>
                  <a:pt x="2342194" y="12557"/>
                </a:lnTo>
                <a:lnTo>
                  <a:pt x="2328575" y="3367"/>
                </a:lnTo>
                <a:lnTo>
                  <a:pt x="2311920"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612963" y="2922263"/>
            <a:ext cx="1996930" cy="85664"/>
          </a:xfrm>
          <a:custGeom>
            <a:avLst/>
            <a:gdLst/>
            <a:ahLst/>
            <a:cxnLst/>
            <a:rect l="l" t="t" r="r" b="b"/>
            <a:pathLst>
              <a:path w="1998345" h="85725">
                <a:moveTo>
                  <a:pt x="1995280" y="28575"/>
                </a:moveTo>
                <a:lnTo>
                  <a:pt x="1955304" y="28575"/>
                </a:lnTo>
                <a:lnTo>
                  <a:pt x="1955304" y="57150"/>
                </a:lnTo>
                <a:lnTo>
                  <a:pt x="1915374" y="57181"/>
                </a:lnTo>
                <a:lnTo>
                  <a:pt x="1915871" y="59650"/>
                </a:lnTo>
                <a:lnTo>
                  <a:pt x="1925046" y="73278"/>
                </a:lnTo>
                <a:lnTo>
                  <a:pt x="1938651" y="82430"/>
                </a:lnTo>
                <a:lnTo>
                  <a:pt x="1955304" y="85725"/>
                </a:lnTo>
                <a:lnTo>
                  <a:pt x="1972030" y="82359"/>
                </a:lnTo>
                <a:lnTo>
                  <a:pt x="1985673" y="73183"/>
                </a:lnTo>
                <a:lnTo>
                  <a:pt x="1994863" y="59578"/>
                </a:lnTo>
                <a:lnTo>
                  <a:pt x="1998230" y="42925"/>
                </a:lnTo>
                <a:lnTo>
                  <a:pt x="1995280" y="28575"/>
                </a:lnTo>
                <a:close/>
              </a:path>
              <a:path w="1998345" h="85725">
                <a:moveTo>
                  <a:pt x="1915337" y="28606"/>
                </a:moveTo>
                <a:lnTo>
                  <a:pt x="0" y="30099"/>
                </a:lnTo>
                <a:lnTo>
                  <a:pt x="25" y="58674"/>
                </a:lnTo>
                <a:lnTo>
                  <a:pt x="1915374" y="57181"/>
                </a:lnTo>
                <a:lnTo>
                  <a:pt x="1912505" y="42925"/>
                </a:lnTo>
                <a:lnTo>
                  <a:pt x="1915337" y="28606"/>
                </a:lnTo>
                <a:close/>
              </a:path>
              <a:path w="1998345" h="85725">
                <a:moveTo>
                  <a:pt x="1955304" y="28575"/>
                </a:moveTo>
                <a:lnTo>
                  <a:pt x="1915337" y="28606"/>
                </a:lnTo>
                <a:lnTo>
                  <a:pt x="1912505" y="42925"/>
                </a:lnTo>
                <a:lnTo>
                  <a:pt x="1915374" y="57181"/>
                </a:lnTo>
                <a:lnTo>
                  <a:pt x="1955304" y="57150"/>
                </a:lnTo>
                <a:lnTo>
                  <a:pt x="1955304" y="28575"/>
                </a:lnTo>
                <a:close/>
              </a:path>
              <a:path w="1998345" h="85725">
                <a:moveTo>
                  <a:pt x="1955304" y="0"/>
                </a:moveTo>
                <a:lnTo>
                  <a:pt x="1938580" y="3438"/>
                </a:lnTo>
                <a:lnTo>
                  <a:pt x="1924951" y="12652"/>
                </a:lnTo>
                <a:lnTo>
                  <a:pt x="1915799" y="26271"/>
                </a:lnTo>
                <a:lnTo>
                  <a:pt x="1915337" y="28606"/>
                </a:lnTo>
                <a:lnTo>
                  <a:pt x="1995280" y="28575"/>
                </a:lnTo>
                <a:lnTo>
                  <a:pt x="1994791" y="26199"/>
                </a:lnTo>
                <a:lnTo>
                  <a:pt x="1985578" y="12557"/>
                </a:lnTo>
                <a:lnTo>
                  <a:pt x="1971959" y="3367"/>
                </a:lnTo>
                <a:lnTo>
                  <a:pt x="1955304"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p:nvPr/>
        </p:nvSpPr>
        <p:spPr>
          <a:xfrm>
            <a:off x="1333316" y="4777181"/>
            <a:ext cx="2856111" cy="85664"/>
          </a:xfrm>
          <a:custGeom>
            <a:avLst/>
            <a:gdLst/>
            <a:ahLst/>
            <a:cxnLst/>
            <a:rect l="l" t="t" r="r" b="b"/>
            <a:pathLst>
              <a:path w="2858135" h="85725">
                <a:moveTo>
                  <a:pt x="2854739" y="28575"/>
                </a:moveTo>
                <a:lnTo>
                  <a:pt x="2814828" y="28575"/>
                </a:lnTo>
                <a:lnTo>
                  <a:pt x="2814828" y="57150"/>
                </a:lnTo>
                <a:lnTo>
                  <a:pt x="2774831" y="57171"/>
                </a:lnTo>
                <a:lnTo>
                  <a:pt x="2775340" y="59650"/>
                </a:lnTo>
                <a:lnTo>
                  <a:pt x="2784554" y="73279"/>
                </a:lnTo>
                <a:lnTo>
                  <a:pt x="2798173" y="82430"/>
                </a:lnTo>
                <a:lnTo>
                  <a:pt x="2814828" y="85725"/>
                </a:lnTo>
                <a:lnTo>
                  <a:pt x="2831552" y="82359"/>
                </a:lnTo>
                <a:lnTo>
                  <a:pt x="2845180" y="73183"/>
                </a:lnTo>
                <a:lnTo>
                  <a:pt x="2854332" y="59578"/>
                </a:lnTo>
                <a:lnTo>
                  <a:pt x="2857627" y="42926"/>
                </a:lnTo>
                <a:lnTo>
                  <a:pt x="2854739" y="28575"/>
                </a:lnTo>
                <a:close/>
              </a:path>
              <a:path w="2858135" h="85725">
                <a:moveTo>
                  <a:pt x="2774799" y="28596"/>
                </a:moveTo>
                <a:lnTo>
                  <a:pt x="0" y="30099"/>
                </a:lnTo>
                <a:lnTo>
                  <a:pt x="0" y="58674"/>
                </a:lnTo>
                <a:lnTo>
                  <a:pt x="2774831" y="57171"/>
                </a:lnTo>
                <a:lnTo>
                  <a:pt x="2771902" y="42926"/>
                </a:lnTo>
                <a:lnTo>
                  <a:pt x="2774799" y="28596"/>
                </a:lnTo>
                <a:close/>
              </a:path>
              <a:path w="2858135" h="85725">
                <a:moveTo>
                  <a:pt x="2814828" y="28575"/>
                </a:moveTo>
                <a:lnTo>
                  <a:pt x="2774799" y="28596"/>
                </a:lnTo>
                <a:lnTo>
                  <a:pt x="2771902" y="42926"/>
                </a:lnTo>
                <a:lnTo>
                  <a:pt x="2774831" y="57171"/>
                </a:lnTo>
                <a:lnTo>
                  <a:pt x="2814828" y="57150"/>
                </a:lnTo>
                <a:lnTo>
                  <a:pt x="2814828" y="28575"/>
                </a:lnTo>
                <a:close/>
              </a:path>
              <a:path w="2858135" h="85725">
                <a:moveTo>
                  <a:pt x="2814828" y="0"/>
                </a:moveTo>
                <a:lnTo>
                  <a:pt x="2798101" y="3438"/>
                </a:lnTo>
                <a:lnTo>
                  <a:pt x="2784459" y="12652"/>
                </a:lnTo>
                <a:lnTo>
                  <a:pt x="2775269" y="26271"/>
                </a:lnTo>
                <a:lnTo>
                  <a:pt x="2774799" y="28596"/>
                </a:lnTo>
                <a:lnTo>
                  <a:pt x="2854739" y="28575"/>
                </a:lnTo>
                <a:lnTo>
                  <a:pt x="2854261" y="26199"/>
                </a:lnTo>
                <a:lnTo>
                  <a:pt x="2845085" y="12557"/>
                </a:lnTo>
                <a:lnTo>
                  <a:pt x="2831480" y="3367"/>
                </a:lnTo>
                <a:lnTo>
                  <a:pt x="2814828"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p:nvPr/>
        </p:nvSpPr>
        <p:spPr>
          <a:xfrm>
            <a:off x="998275" y="5427468"/>
            <a:ext cx="3804763" cy="86299"/>
          </a:xfrm>
          <a:custGeom>
            <a:avLst/>
            <a:gdLst/>
            <a:ahLst/>
            <a:cxnLst/>
            <a:rect l="l" t="t" r="r" b="b"/>
            <a:pathLst>
              <a:path w="3807460" h="86360">
                <a:moveTo>
                  <a:pt x="3804269" y="28638"/>
                </a:moveTo>
                <a:lnTo>
                  <a:pt x="3764279" y="28638"/>
                </a:lnTo>
                <a:lnTo>
                  <a:pt x="3764279" y="57213"/>
                </a:lnTo>
                <a:lnTo>
                  <a:pt x="3724363" y="57229"/>
                </a:lnTo>
                <a:lnTo>
                  <a:pt x="3724846" y="59622"/>
                </a:lnTo>
                <a:lnTo>
                  <a:pt x="3734022" y="73245"/>
                </a:lnTo>
                <a:lnTo>
                  <a:pt x="3747627" y="82427"/>
                </a:lnTo>
                <a:lnTo>
                  <a:pt x="3764279" y="85788"/>
                </a:lnTo>
                <a:lnTo>
                  <a:pt x="3781006" y="82411"/>
                </a:lnTo>
                <a:lnTo>
                  <a:pt x="3794648" y="73218"/>
                </a:lnTo>
                <a:lnTo>
                  <a:pt x="3803838" y="59592"/>
                </a:lnTo>
                <a:lnTo>
                  <a:pt x="3807205" y="42913"/>
                </a:lnTo>
                <a:lnTo>
                  <a:pt x="3804269" y="28638"/>
                </a:lnTo>
                <a:close/>
              </a:path>
              <a:path w="3807460" h="86360">
                <a:moveTo>
                  <a:pt x="3724304" y="28654"/>
                </a:moveTo>
                <a:lnTo>
                  <a:pt x="0" y="30162"/>
                </a:lnTo>
                <a:lnTo>
                  <a:pt x="0" y="58737"/>
                </a:lnTo>
                <a:lnTo>
                  <a:pt x="3724363" y="57229"/>
                </a:lnTo>
                <a:lnTo>
                  <a:pt x="3721486" y="42913"/>
                </a:lnTo>
                <a:lnTo>
                  <a:pt x="3724304" y="28654"/>
                </a:lnTo>
                <a:close/>
              </a:path>
              <a:path w="3807460" h="86360">
                <a:moveTo>
                  <a:pt x="3764279" y="28638"/>
                </a:moveTo>
                <a:lnTo>
                  <a:pt x="3724304" y="28654"/>
                </a:lnTo>
                <a:lnTo>
                  <a:pt x="3721480" y="42938"/>
                </a:lnTo>
                <a:lnTo>
                  <a:pt x="3724363" y="57229"/>
                </a:lnTo>
                <a:lnTo>
                  <a:pt x="3764279" y="57213"/>
                </a:lnTo>
                <a:lnTo>
                  <a:pt x="3764279" y="28638"/>
                </a:lnTo>
                <a:close/>
              </a:path>
              <a:path w="3807460" h="86360">
                <a:moveTo>
                  <a:pt x="3764279" y="0"/>
                </a:moveTo>
                <a:lnTo>
                  <a:pt x="3747555" y="3439"/>
                </a:lnTo>
                <a:lnTo>
                  <a:pt x="3733927" y="12653"/>
                </a:lnTo>
                <a:lnTo>
                  <a:pt x="3724775" y="26276"/>
                </a:lnTo>
                <a:lnTo>
                  <a:pt x="3724304" y="28654"/>
                </a:lnTo>
                <a:lnTo>
                  <a:pt x="3804269" y="28638"/>
                </a:lnTo>
                <a:lnTo>
                  <a:pt x="3803767" y="26194"/>
                </a:lnTo>
                <a:lnTo>
                  <a:pt x="3794553" y="12555"/>
                </a:lnTo>
                <a:lnTo>
                  <a:pt x="3780934" y="3367"/>
                </a:lnTo>
                <a:lnTo>
                  <a:pt x="3764279"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p:nvPr/>
        </p:nvSpPr>
        <p:spPr>
          <a:xfrm>
            <a:off x="229961" y="882565"/>
            <a:ext cx="1888422" cy="702447"/>
          </a:xfrm>
          <a:custGeom>
            <a:avLst/>
            <a:gdLst/>
            <a:ahLst/>
            <a:cxnLst/>
            <a:rect l="l" t="t" r="r" b="b"/>
            <a:pathLst>
              <a:path w="1889760" h="702944">
                <a:moveTo>
                  <a:pt x="0" y="702563"/>
                </a:moveTo>
                <a:lnTo>
                  <a:pt x="1889760" y="702563"/>
                </a:lnTo>
                <a:lnTo>
                  <a:pt x="1889760" y="0"/>
                </a:lnTo>
                <a:lnTo>
                  <a:pt x="0" y="0"/>
                </a:lnTo>
                <a:lnTo>
                  <a:pt x="0" y="702563"/>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p:nvPr/>
        </p:nvSpPr>
        <p:spPr>
          <a:xfrm>
            <a:off x="114028" y="1116904"/>
            <a:ext cx="230342" cy="228818"/>
          </a:xfrm>
          <a:prstGeom prst="rect">
            <a:avLst/>
          </a:prstGeom>
          <a:blipFill>
            <a:blip r:embed="rId6"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txBox="1"/>
          <p:nvPr/>
        </p:nvSpPr>
        <p:spPr>
          <a:xfrm>
            <a:off x="129854" y="995642"/>
            <a:ext cx="1715823" cy="443230"/>
          </a:xfrm>
          <a:prstGeom prst="rect">
            <a:avLst/>
          </a:prstGeom>
        </p:spPr>
        <p:txBody>
          <a:bodyPr vert="horz" wrap="square" lIns="0" tIns="13325" rIns="0" bIns="0" rtlCol="0">
            <a:spAutoFit/>
          </a:bodyPr>
          <a:lstStyle/>
          <a:p>
            <a:pPr marL="236855" marR="43180" indent="-186690">
              <a:lnSpc>
                <a:spcPct val="100000"/>
              </a:lnSpc>
              <a:spcBef>
                <a:spcPts val="105"/>
              </a:spcBef>
            </a:pPr>
            <a:r>
              <a:rPr sz="2100" b="1" baseline="-36000" dirty="0">
                <a:solidFill>
                  <a:srgbClr val="FFFFFF"/>
                </a:solidFill>
                <a:latin typeface="微软雅黑" panose="020B0503020204020204" charset="-122"/>
                <a:ea typeface="微软雅黑" panose="020B0503020204020204" charset="-122"/>
                <a:cs typeface="微软雅黑" panose="020B0503020204020204" charset="-122"/>
              </a:rPr>
              <a:t>1</a:t>
            </a:r>
            <a:r>
              <a:rPr sz="2100" b="1" spc="352" baseline="-36000" dirty="0">
                <a:solidFill>
                  <a:srgbClr val="FFFFFF"/>
                </a:solidFill>
                <a:latin typeface="微软雅黑" panose="020B0503020204020204" charset="-122"/>
                <a:ea typeface="微软雅黑" panose="020B0503020204020204" charset="-122"/>
                <a:cs typeface="微软雅黑" panose="020B0503020204020204" charset="-122"/>
              </a:rPr>
              <a:t> </a:t>
            </a:r>
            <a:r>
              <a:rPr sz="1400" dirty="0">
                <a:latin typeface="微软雅黑" panose="020B0503020204020204" charset="-122"/>
                <a:ea typeface="微软雅黑" panose="020B0503020204020204" charset="-122"/>
                <a:cs typeface="微软雅黑" panose="020B0503020204020204" charset="-122"/>
              </a:rPr>
              <a:t>大客户潜力和竞争 定位</a:t>
            </a:r>
            <a:endParaRPr sz="1400">
              <a:latin typeface="微软雅黑" panose="020B0503020204020204" charset="-122"/>
              <a:ea typeface="微软雅黑" panose="020B0503020204020204" charset="-122"/>
              <a:cs typeface="微软雅黑" panose="020B0503020204020204" charset="-122"/>
            </a:endParaRPr>
          </a:p>
        </p:txBody>
      </p:sp>
      <p:sp>
        <p:nvSpPr>
          <p:cNvPr id="21" name="object 21"/>
          <p:cNvSpPr/>
          <p:nvPr/>
        </p:nvSpPr>
        <p:spPr>
          <a:xfrm>
            <a:off x="229961" y="1867895"/>
            <a:ext cx="1888422" cy="530484"/>
          </a:xfrm>
          <a:custGeom>
            <a:avLst/>
            <a:gdLst/>
            <a:ahLst/>
            <a:cxnLst/>
            <a:rect l="l" t="t" r="r" b="b"/>
            <a:pathLst>
              <a:path w="1889760" h="530860">
                <a:moveTo>
                  <a:pt x="0" y="530351"/>
                </a:moveTo>
                <a:lnTo>
                  <a:pt x="1889760" y="530351"/>
                </a:lnTo>
                <a:lnTo>
                  <a:pt x="1889760" y="0"/>
                </a:lnTo>
                <a:lnTo>
                  <a:pt x="0" y="0"/>
                </a:lnTo>
                <a:lnTo>
                  <a:pt x="0" y="530351"/>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114028" y="1957556"/>
            <a:ext cx="230342" cy="227295"/>
          </a:xfrm>
          <a:prstGeom prst="rect">
            <a:avLst/>
          </a:prstGeom>
          <a:blipFill>
            <a:blip r:embed="rId7"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txBox="1"/>
          <p:nvPr/>
        </p:nvSpPr>
        <p:spPr>
          <a:xfrm>
            <a:off x="142545" y="2001734"/>
            <a:ext cx="1560359" cy="227965"/>
          </a:xfrm>
          <a:prstGeom prst="rect">
            <a:avLst/>
          </a:prstGeom>
        </p:spPr>
        <p:txBody>
          <a:bodyPr vert="horz" wrap="square" lIns="0" tIns="13325" rIns="0" bIns="0" rtlCol="0">
            <a:spAutoFit/>
          </a:bodyPr>
          <a:lstStyle/>
          <a:p>
            <a:pPr marL="38100">
              <a:lnSpc>
                <a:spcPct val="100000"/>
              </a:lnSpc>
              <a:spcBef>
                <a:spcPts val="105"/>
              </a:spcBef>
            </a:pPr>
            <a:r>
              <a:rPr sz="2100" b="1" baseline="18000" dirty="0">
                <a:solidFill>
                  <a:srgbClr val="FFFFFF"/>
                </a:solidFill>
                <a:latin typeface="微软雅黑" panose="020B0503020204020204" charset="-122"/>
                <a:ea typeface="微软雅黑" panose="020B0503020204020204" charset="-122"/>
                <a:cs typeface="微软雅黑" panose="020B0503020204020204" charset="-122"/>
              </a:rPr>
              <a:t>2</a:t>
            </a:r>
            <a:r>
              <a:rPr sz="2100" b="1" spc="367" baseline="18000" dirty="0">
                <a:solidFill>
                  <a:srgbClr val="FFFFFF"/>
                </a:solidFill>
                <a:latin typeface="微软雅黑" panose="020B0503020204020204" charset="-122"/>
                <a:ea typeface="微软雅黑" panose="020B0503020204020204" charset="-122"/>
                <a:cs typeface="微软雅黑" panose="020B0503020204020204" charset="-122"/>
              </a:rPr>
              <a:t> </a:t>
            </a:r>
            <a:r>
              <a:rPr sz="1400" dirty="0">
                <a:latin typeface="微软雅黑" panose="020B0503020204020204" charset="-122"/>
                <a:ea typeface="微软雅黑" panose="020B0503020204020204" charset="-122"/>
                <a:cs typeface="微软雅黑" panose="020B0503020204020204" charset="-122"/>
              </a:rPr>
              <a:t>关键联络</a:t>
            </a:r>
            <a:r>
              <a:rPr sz="1400" spc="-10" dirty="0">
                <a:latin typeface="微软雅黑" panose="020B0503020204020204" charset="-122"/>
                <a:ea typeface="微软雅黑" panose="020B0503020204020204" charset="-122"/>
                <a:cs typeface="微软雅黑" panose="020B0503020204020204" charset="-122"/>
              </a:rPr>
              <a:t>人</a:t>
            </a:r>
            <a:r>
              <a:rPr sz="1400" spc="5" dirty="0">
                <a:latin typeface="微软雅黑" panose="020B0503020204020204" charset="-122"/>
                <a:ea typeface="微软雅黑" panose="020B0503020204020204" charset="-122"/>
                <a:cs typeface="微软雅黑" panose="020B0503020204020204" charset="-122"/>
              </a:rPr>
              <a:t>/</a:t>
            </a:r>
            <a:r>
              <a:rPr sz="1400" dirty="0">
                <a:latin typeface="微软雅黑" panose="020B0503020204020204" charset="-122"/>
                <a:ea typeface="微软雅黑" panose="020B0503020204020204" charset="-122"/>
                <a:cs typeface="微软雅黑" panose="020B0503020204020204" charset="-122"/>
              </a:rPr>
              <a:t>角色</a:t>
            </a:r>
            <a:endParaRPr sz="1400">
              <a:latin typeface="微软雅黑" panose="020B0503020204020204" charset="-122"/>
              <a:ea typeface="微软雅黑" panose="020B0503020204020204" charset="-122"/>
              <a:cs typeface="微软雅黑" panose="020B0503020204020204" charset="-122"/>
            </a:endParaRPr>
          </a:p>
        </p:txBody>
      </p:sp>
      <p:sp>
        <p:nvSpPr>
          <p:cNvPr id="24" name="object 24"/>
          <p:cNvSpPr/>
          <p:nvPr/>
        </p:nvSpPr>
        <p:spPr>
          <a:xfrm>
            <a:off x="229961" y="2647630"/>
            <a:ext cx="1888422" cy="626301"/>
          </a:xfrm>
          <a:custGeom>
            <a:avLst/>
            <a:gdLst/>
            <a:ahLst/>
            <a:cxnLst/>
            <a:rect l="l" t="t" r="r" b="b"/>
            <a:pathLst>
              <a:path w="1889760" h="626745">
                <a:moveTo>
                  <a:pt x="0" y="626363"/>
                </a:moveTo>
                <a:lnTo>
                  <a:pt x="1889760" y="626363"/>
                </a:lnTo>
                <a:lnTo>
                  <a:pt x="1889760" y="0"/>
                </a:lnTo>
                <a:lnTo>
                  <a:pt x="0" y="0"/>
                </a:lnTo>
                <a:lnTo>
                  <a:pt x="0" y="626363"/>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5" name="object 25"/>
          <p:cNvSpPr/>
          <p:nvPr/>
        </p:nvSpPr>
        <p:spPr>
          <a:xfrm>
            <a:off x="114028" y="2845419"/>
            <a:ext cx="230342" cy="228819"/>
          </a:xfrm>
          <a:prstGeom prst="rect">
            <a:avLst/>
          </a:prstGeom>
          <a:blipFill>
            <a:blip r:embed="rId6"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26" name="object 26"/>
          <p:cNvSpPr txBox="1"/>
          <p:nvPr/>
        </p:nvSpPr>
        <p:spPr>
          <a:xfrm>
            <a:off x="167927" y="2834391"/>
            <a:ext cx="1639677" cy="227965"/>
          </a:xfrm>
          <a:prstGeom prst="rect">
            <a:avLst/>
          </a:prstGeom>
        </p:spPr>
        <p:txBody>
          <a:bodyPr vert="horz" wrap="square" lIns="0" tIns="13325" rIns="0" bIns="0" rtlCol="0">
            <a:spAutoFit/>
          </a:bodyPr>
          <a:lstStyle/>
          <a:p>
            <a:pPr marL="12700">
              <a:lnSpc>
                <a:spcPct val="100000"/>
              </a:lnSpc>
              <a:spcBef>
                <a:spcPts val="105"/>
              </a:spcBef>
            </a:pPr>
            <a:r>
              <a:rPr sz="1400" b="1" dirty="0">
                <a:solidFill>
                  <a:srgbClr val="FFFFFF"/>
                </a:solidFill>
                <a:latin typeface="微软雅黑" panose="020B0503020204020204" charset="-122"/>
                <a:ea typeface="微软雅黑" panose="020B0503020204020204" charset="-122"/>
                <a:cs typeface="微软雅黑" panose="020B0503020204020204" charset="-122"/>
              </a:rPr>
              <a:t>3</a:t>
            </a:r>
            <a:r>
              <a:rPr sz="1400" b="1" spc="220" dirty="0">
                <a:solidFill>
                  <a:srgbClr val="FFFFFF"/>
                </a:solidFill>
                <a:latin typeface="微软雅黑" panose="020B0503020204020204" charset="-122"/>
                <a:ea typeface="微软雅黑" panose="020B0503020204020204" charset="-122"/>
                <a:cs typeface="微软雅黑" panose="020B0503020204020204" charset="-122"/>
              </a:rPr>
              <a:t> </a:t>
            </a:r>
            <a:r>
              <a:rPr sz="2100" spc="7" baseline="2000" dirty="0">
                <a:latin typeface="微软雅黑" panose="020B0503020204020204" charset="-122"/>
                <a:ea typeface="微软雅黑" panose="020B0503020204020204" charset="-122"/>
                <a:cs typeface="微软雅黑" panose="020B0503020204020204" charset="-122"/>
              </a:rPr>
              <a:t>各产品线潜在机会</a:t>
            </a:r>
            <a:endParaRPr sz="2100" baseline="2000">
              <a:latin typeface="微软雅黑" panose="020B0503020204020204" charset="-122"/>
              <a:ea typeface="微软雅黑" panose="020B0503020204020204" charset="-122"/>
              <a:cs typeface="微软雅黑" panose="020B0503020204020204" charset="-122"/>
            </a:endParaRPr>
          </a:p>
        </p:txBody>
      </p:sp>
      <p:sp>
        <p:nvSpPr>
          <p:cNvPr id="27" name="object 27"/>
          <p:cNvSpPr/>
          <p:nvPr/>
        </p:nvSpPr>
        <p:spPr>
          <a:xfrm>
            <a:off x="229961" y="3689308"/>
            <a:ext cx="1888422" cy="761460"/>
          </a:xfrm>
          <a:custGeom>
            <a:avLst/>
            <a:gdLst/>
            <a:ahLst/>
            <a:cxnLst/>
            <a:rect l="l" t="t" r="r" b="b"/>
            <a:pathLst>
              <a:path w="1889760" h="762000">
                <a:moveTo>
                  <a:pt x="0" y="762000"/>
                </a:moveTo>
                <a:lnTo>
                  <a:pt x="1889760" y="762000"/>
                </a:lnTo>
                <a:lnTo>
                  <a:pt x="1889760" y="0"/>
                </a:lnTo>
                <a:lnTo>
                  <a:pt x="0" y="0"/>
                </a:lnTo>
                <a:lnTo>
                  <a:pt x="0" y="76200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p:nvPr/>
        </p:nvSpPr>
        <p:spPr>
          <a:xfrm>
            <a:off x="114028" y="3955628"/>
            <a:ext cx="230342" cy="228819"/>
          </a:xfrm>
          <a:prstGeom prst="rect">
            <a:avLst/>
          </a:prstGeom>
          <a:blipFill>
            <a:blip r:embed="rId6"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29" name="object 29"/>
          <p:cNvSpPr txBox="1"/>
          <p:nvPr/>
        </p:nvSpPr>
        <p:spPr>
          <a:xfrm>
            <a:off x="129854" y="3830761"/>
            <a:ext cx="1894767" cy="445135"/>
          </a:xfrm>
          <a:prstGeom prst="rect">
            <a:avLst/>
          </a:prstGeom>
        </p:spPr>
        <p:txBody>
          <a:bodyPr vert="horz" wrap="square" lIns="0" tIns="13325" rIns="0" bIns="0" rtlCol="0">
            <a:spAutoFit/>
          </a:bodyPr>
          <a:lstStyle/>
          <a:p>
            <a:pPr marL="50800">
              <a:lnSpc>
                <a:spcPct val="100000"/>
              </a:lnSpc>
              <a:spcBef>
                <a:spcPts val="105"/>
              </a:spcBef>
            </a:pPr>
            <a:r>
              <a:rPr sz="2100" b="1" baseline="-36000" dirty="0">
                <a:solidFill>
                  <a:srgbClr val="FFFFFF"/>
                </a:solidFill>
                <a:latin typeface="微软雅黑" panose="020B0503020204020204" charset="-122"/>
                <a:ea typeface="微软雅黑" panose="020B0503020204020204" charset="-122"/>
                <a:cs typeface="微软雅黑" panose="020B0503020204020204" charset="-122"/>
              </a:rPr>
              <a:t>4</a:t>
            </a:r>
            <a:r>
              <a:rPr sz="2100" b="1" spc="359" baseline="-36000" dirty="0">
                <a:solidFill>
                  <a:srgbClr val="FFFFFF"/>
                </a:solidFill>
                <a:latin typeface="微软雅黑" panose="020B0503020204020204" charset="-122"/>
                <a:ea typeface="微软雅黑" panose="020B0503020204020204" charset="-122"/>
                <a:cs typeface="微软雅黑" panose="020B0503020204020204" charset="-122"/>
              </a:rPr>
              <a:t> </a:t>
            </a:r>
            <a:r>
              <a:rPr sz="1400" spc="5" dirty="0">
                <a:latin typeface="微软雅黑" panose="020B0503020204020204" charset="-122"/>
                <a:ea typeface="微软雅黑" panose="020B0503020204020204" charset="-122"/>
                <a:cs typeface="微软雅黑" panose="020B0503020204020204" charset="-122"/>
              </a:rPr>
              <a:t>各类别内的客户基本</a:t>
            </a:r>
            <a:endParaRPr sz="1400">
              <a:latin typeface="微软雅黑" panose="020B0503020204020204" charset="-122"/>
              <a:ea typeface="微软雅黑" panose="020B0503020204020204" charset="-122"/>
              <a:cs typeface="微软雅黑" panose="020B0503020204020204" charset="-122"/>
            </a:endParaRPr>
          </a:p>
          <a:p>
            <a:pPr marL="236855">
              <a:lnSpc>
                <a:spcPct val="100000"/>
              </a:lnSpc>
              <a:spcBef>
                <a:spcPts val="15"/>
              </a:spcBef>
            </a:pPr>
            <a:r>
              <a:rPr sz="1400" dirty="0">
                <a:latin typeface="微软雅黑" panose="020B0503020204020204" charset="-122"/>
                <a:ea typeface="微软雅黑" panose="020B0503020204020204" charset="-122"/>
                <a:cs typeface="微软雅黑" panose="020B0503020204020204" charset="-122"/>
              </a:rPr>
              <a:t>需要</a:t>
            </a:r>
            <a:endParaRPr sz="1400">
              <a:latin typeface="微软雅黑" panose="020B0503020204020204" charset="-122"/>
              <a:ea typeface="微软雅黑" panose="020B0503020204020204" charset="-122"/>
              <a:cs typeface="微软雅黑" panose="020B0503020204020204" charset="-122"/>
            </a:endParaRPr>
          </a:p>
        </p:txBody>
      </p:sp>
      <p:sp>
        <p:nvSpPr>
          <p:cNvPr id="30" name="object 30"/>
          <p:cNvSpPr/>
          <p:nvPr/>
        </p:nvSpPr>
        <p:spPr>
          <a:xfrm>
            <a:off x="229961" y="4545189"/>
            <a:ext cx="1888422" cy="761460"/>
          </a:xfrm>
          <a:custGeom>
            <a:avLst/>
            <a:gdLst/>
            <a:ahLst/>
            <a:cxnLst/>
            <a:rect l="l" t="t" r="r" b="b"/>
            <a:pathLst>
              <a:path w="1889760" h="762000">
                <a:moveTo>
                  <a:pt x="0" y="762000"/>
                </a:moveTo>
                <a:lnTo>
                  <a:pt x="1889760" y="762000"/>
                </a:lnTo>
                <a:lnTo>
                  <a:pt x="1889760" y="0"/>
                </a:lnTo>
                <a:lnTo>
                  <a:pt x="0" y="0"/>
                </a:lnTo>
                <a:lnTo>
                  <a:pt x="0" y="76200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1" name="object 31"/>
          <p:cNvSpPr/>
          <p:nvPr/>
        </p:nvSpPr>
        <p:spPr>
          <a:xfrm>
            <a:off x="114028" y="4809986"/>
            <a:ext cx="230342" cy="228819"/>
          </a:xfrm>
          <a:prstGeom prst="rect">
            <a:avLst/>
          </a:prstGeom>
          <a:blipFill>
            <a:blip r:embed="rId6"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2" name="object 32"/>
          <p:cNvSpPr txBox="1"/>
          <p:nvPr/>
        </p:nvSpPr>
        <p:spPr>
          <a:xfrm>
            <a:off x="167927" y="4800227"/>
            <a:ext cx="1835754" cy="227965"/>
          </a:xfrm>
          <a:prstGeom prst="rect">
            <a:avLst/>
          </a:prstGeom>
        </p:spPr>
        <p:txBody>
          <a:bodyPr vert="horz" wrap="square" lIns="0" tIns="13325" rIns="0" bIns="0" rtlCol="0">
            <a:spAutoFit/>
          </a:bodyPr>
          <a:lstStyle/>
          <a:p>
            <a:pPr marL="12700">
              <a:lnSpc>
                <a:spcPct val="100000"/>
              </a:lnSpc>
              <a:spcBef>
                <a:spcPts val="105"/>
              </a:spcBef>
            </a:pPr>
            <a:r>
              <a:rPr sz="1400" b="1" dirty="0">
                <a:solidFill>
                  <a:srgbClr val="FFFFFF"/>
                </a:solidFill>
                <a:latin typeface="微软雅黑" panose="020B0503020204020204" charset="-122"/>
                <a:ea typeface="微软雅黑" panose="020B0503020204020204" charset="-122"/>
                <a:cs typeface="微软雅黑" panose="020B0503020204020204" charset="-122"/>
              </a:rPr>
              <a:t>5</a:t>
            </a:r>
            <a:r>
              <a:rPr sz="1400" b="1" spc="240" dirty="0">
                <a:solidFill>
                  <a:srgbClr val="FFFFFF"/>
                </a:solidFill>
                <a:latin typeface="微软雅黑" panose="020B0503020204020204" charset="-122"/>
                <a:ea typeface="微软雅黑" panose="020B0503020204020204" charset="-122"/>
                <a:cs typeface="微软雅黑" panose="020B0503020204020204" charset="-122"/>
              </a:rPr>
              <a:t> </a:t>
            </a:r>
            <a:r>
              <a:rPr sz="2100" baseline="2000" dirty="0">
                <a:latin typeface="微软雅黑" panose="020B0503020204020204" charset="-122"/>
                <a:ea typeface="微软雅黑" panose="020B0503020204020204" charset="-122"/>
                <a:cs typeface="微软雅黑" panose="020B0503020204020204" charset="-122"/>
              </a:rPr>
              <a:t>各类别</a:t>
            </a:r>
            <a:r>
              <a:rPr sz="2100" spc="-7" baseline="2000" dirty="0">
                <a:latin typeface="微软雅黑" panose="020B0503020204020204" charset="-122"/>
                <a:ea typeface="微软雅黑" panose="020B0503020204020204" charset="-122"/>
                <a:cs typeface="微软雅黑" panose="020B0503020204020204" charset="-122"/>
              </a:rPr>
              <a:t>的12</a:t>
            </a:r>
            <a:r>
              <a:rPr sz="2100" baseline="2000" dirty="0">
                <a:latin typeface="微软雅黑" panose="020B0503020204020204" charset="-122"/>
                <a:ea typeface="微软雅黑" panose="020B0503020204020204" charset="-122"/>
                <a:cs typeface="微软雅黑" panose="020B0503020204020204" charset="-122"/>
              </a:rPr>
              <a:t>个月目标</a:t>
            </a:r>
            <a:endParaRPr sz="2100" baseline="2000">
              <a:latin typeface="微软雅黑" panose="020B0503020204020204" charset="-122"/>
              <a:ea typeface="微软雅黑" panose="020B0503020204020204" charset="-122"/>
              <a:cs typeface="微软雅黑" panose="020B0503020204020204" charset="-122"/>
            </a:endParaRPr>
          </a:p>
        </p:txBody>
      </p:sp>
      <p:sp>
        <p:nvSpPr>
          <p:cNvPr id="33" name="object 33"/>
          <p:cNvSpPr/>
          <p:nvPr/>
        </p:nvSpPr>
        <p:spPr>
          <a:xfrm>
            <a:off x="229961" y="5404116"/>
            <a:ext cx="1888422" cy="761460"/>
          </a:xfrm>
          <a:custGeom>
            <a:avLst/>
            <a:gdLst/>
            <a:ahLst/>
            <a:cxnLst/>
            <a:rect l="l" t="t" r="r" b="b"/>
            <a:pathLst>
              <a:path w="1889760" h="762000">
                <a:moveTo>
                  <a:pt x="0" y="762000"/>
                </a:moveTo>
                <a:lnTo>
                  <a:pt x="1889760" y="762000"/>
                </a:lnTo>
                <a:lnTo>
                  <a:pt x="1889760" y="0"/>
                </a:lnTo>
                <a:lnTo>
                  <a:pt x="0" y="0"/>
                </a:lnTo>
                <a:lnTo>
                  <a:pt x="0" y="76200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4" name="object 34"/>
          <p:cNvSpPr/>
          <p:nvPr/>
        </p:nvSpPr>
        <p:spPr>
          <a:xfrm>
            <a:off x="114028" y="5670437"/>
            <a:ext cx="230342" cy="228819"/>
          </a:xfrm>
          <a:prstGeom prst="rect">
            <a:avLst/>
          </a:prstGeom>
          <a:blipFill>
            <a:blip r:embed="rId8"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5" name="object 35"/>
          <p:cNvSpPr txBox="1"/>
          <p:nvPr/>
        </p:nvSpPr>
        <p:spPr>
          <a:xfrm>
            <a:off x="167927" y="5660677"/>
            <a:ext cx="1301463" cy="227330"/>
          </a:xfrm>
          <a:prstGeom prst="rect">
            <a:avLst/>
          </a:prstGeom>
        </p:spPr>
        <p:txBody>
          <a:bodyPr vert="horz" wrap="square" lIns="0" tIns="12691" rIns="0" bIns="0" rtlCol="0">
            <a:spAutoFit/>
          </a:bodyPr>
          <a:lstStyle/>
          <a:p>
            <a:pPr marL="12700">
              <a:lnSpc>
                <a:spcPct val="100000"/>
              </a:lnSpc>
              <a:spcBef>
                <a:spcPts val="100"/>
              </a:spcBef>
            </a:pPr>
            <a:r>
              <a:rPr sz="1400" b="1" dirty="0">
                <a:solidFill>
                  <a:srgbClr val="FFFFFF"/>
                </a:solidFill>
                <a:latin typeface="微软雅黑" panose="020B0503020204020204" charset="-122"/>
                <a:ea typeface="微软雅黑" panose="020B0503020204020204" charset="-122"/>
                <a:cs typeface="微软雅黑" panose="020B0503020204020204" charset="-122"/>
              </a:rPr>
              <a:t>6</a:t>
            </a:r>
            <a:r>
              <a:rPr sz="1400" b="1" spc="235" dirty="0">
                <a:solidFill>
                  <a:srgbClr val="FFFFFF"/>
                </a:solidFill>
                <a:latin typeface="微软雅黑" panose="020B0503020204020204" charset="-122"/>
                <a:ea typeface="微软雅黑" panose="020B0503020204020204" charset="-122"/>
                <a:cs typeface="微软雅黑" panose="020B0503020204020204" charset="-122"/>
              </a:rPr>
              <a:t> </a:t>
            </a:r>
            <a:r>
              <a:rPr sz="2100" spc="-7" baseline="2000" dirty="0">
                <a:latin typeface="微软雅黑" panose="020B0503020204020204" charset="-122"/>
                <a:ea typeface="微软雅黑" panose="020B0503020204020204" charset="-122"/>
                <a:cs typeface="微软雅黑" panose="020B0503020204020204" charset="-122"/>
              </a:rPr>
              <a:t>90</a:t>
            </a:r>
            <a:r>
              <a:rPr sz="2100" baseline="2000" dirty="0">
                <a:latin typeface="微软雅黑" panose="020B0503020204020204" charset="-122"/>
                <a:ea typeface="微软雅黑" panose="020B0503020204020204" charset="-122"/>
                <a:cs typeface="微软雅黑" panose="020B0503020204020204" charset="-122"/>
              </a:rPr>
              <a:t>天行动计划</a:t>
            </a:r>
            <a:endParaRPr sz="2100" baseline="2000">
              <a:latin typeface="微软雅黑" panose="020B0503020204020204" charset="-122"/>
              <a:ea typeface="微软雅黑" panose="020B0503020204020204" charset="-122"/>
              <a:cs typeface="微软雅黑" panose="020B0503020204020204" charset="-122"/>
            </a:endParaRPr>
          </a:p>
        </p:txBody>
      </p:sp>
      <p:sp>
        <p:nvSpPr>
          <p:cNvPr id="36" name="object 36"/>
          <p:cNvSpPr/>
          <p:nvPr/>
        </p:nvSpPr>
        <p:spPr>
          <a:xfrm>
            <a:off x="7344030" y="4996481"/>
            <a:ext cx="805879" cy="85664"/>
          </a:xfrm>
          <a:custGeom>
            <a:avLst/>
            <a:gdLst/>
            <a:ahLst/>
            <a:cxnLst/>
            <a:rect l="l" t="t" r="r" b="b"/>
            <a:pathLst>
              <a:path w="806450" h="85725">
                <a:moveTo>
                  <a:pt x="43053" y="0"/>
                </a:moveTo>
                <a:lnTo>
                  <a:pt x="26324" y="3365"/>
                </a:lnTo>
                <a:lnTo>
                  <a:pt x="12668" y="12541"/>
                </a:lnTo>
                <a:lnTo>
                  <a:pt x="3440" y="26146"/>
                </a:lnTo>
                <a:lnTo>
                  <a:pt x="0" y="42799"/>
                </a:lnTo>
                <a:lnTo>
                  <a:pt x="3365" y="59525"/>
                </a:lnTo>
                <a:lnTo>
                  <a:pt x="12541" y="73167"/>
                </a:lnTo>
                <a:lnTo>
                  <a:pt x="26146" y="82357"/>
                </a:lnTo>
                <a:lnTo>
                  <a:pt x="42799" y="85725"/>
                </a:lnTo>
                <a:lnTo>
                  <a:pt x="59525" y="82432"/>
                </a:lnTo>
                <a:lnTo>
                  <a:pt x="73167" y="73294"/>
                </a:lnTo>
                <a:lnTo>
                  <a:pt x="82357" y="59703"/>
                </a:lnTo>
                <a:lnTo>
                  <a:pt x="82857" y="57229"/>
                </a:lnTo>
                <a:lnTo>
                  <a:pt x="42925" y="57150"/>
                </a:lnTo>
                <a:lnTo>
                  <a:pt x="42925" y="28575"/>
                </a:lnTo>
                <a:lnTo>
                  <a:pt x="82875" y="28575"/>
                </a:lnTo>
                <a:lnTo>
                  <a:pt x="82432" y="26324"/>
                </a:lnTo>
                <a:lnTo>
                  <a:pt x="73294" y="12668"/>
                </a:lnTo>
                <a:lnTo>
                  <a:pt x="59703" y="3440"/>
                </a:lnTo>
                <a:lnTo>
                  <a:pt x="43053" y="0"/>
                </a:lnTo>
                <a:close/>
              </a:path>
              <a:path w="806450" h="85725">
                <a:moveTo>
                  <a:pt x="82891" y="28654"/>
                </a:moveTo>
                <a:lnTo>
                  <a:pt x="85725" y="43053"/>
                </a:lnTo>
                <a:lnTo>
                  <a:pt x="82857" y="57229"/>
                </a:lnTo>
                <a:lnTo>
                  <a:pt x="806450" y="58674"/>
                </a:lnTo>
                <a:lnTo>
                  <a:pt x="806450" y="30099"/>
                </a:lnTo>
                <a:lnTo>
                  <a:pt x="82891" y="28654"/>
                </a:lnTo>
                <a:close/>
              </a:path>
              <a:path w="806450" h="85725">
                <a:moveTo>
                  <a:pt x="42925" y="28575"/>
                </a:moveTo>
                <a:lnTo>
                  <a:pt x="42925" y="57150"/>
                </a:lnTo>
                <a:lnTo>
                  <a:pt x="82857" y="57229"/>
                </a:lnTo>
                <a:lnTo>
                  <a:pt x="85725" y="43053"/>
                </a:lnTo>
                <a:lnTo>
                  <a:pt x="82891" y="28654"/>
                </a:lnTo>
                <a:lnTo>
                  <a:pt x="42925" y="28575"/>
                </a:lnTo>
                <a:close/>
              </a:path>
              <a:path w="806450" h="85725">
                <a:moveTo>
                  <a:pt x="82875" y="28575"/>
                </a:moveTo>
                <a:lnTo>
                  <a:pt x="42925" y="28575"/>
                </a:lnTo>
                <a:lnTo>
                  <a:pt x="82891" y="28654"/>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7" name="object 37"/>
          <p:cNvSpPr/>
          <p:nvPr/>
        </p:nvSpPr>
        <p:spPr>
          <a:xfrm>
            <a:off x="7792784" y="4802563"/>
            <a:ext cx="1031144" cy="486065"/>
          </a:xfrm>
          <a:custGeom>
            <a:avLst/>
            <a:gdLst/>
            <a:ahLst/>
            <a:cxnLst/>
            <a:rect l="l" t="t" r="r" b="b"/>
            <a:pathLst>
              <a:path w="1031875" h="486410">
                <a:moveTo>
                  <a:pt x="0" y="486156"/>
                </a:moveTo>
                <a:lnTo>
                  <a:pt x="1031748" y="486156"/>
                </a:lnTo>
                <a:lnTo>
                  <a:pt x="1031748" y="0"/>
                </a:lnTo>
                <a:lnTo>
                  <a:pt x="0" y="0"/>
                </a:lnTo>
                <a:lnTo>
                  <a:pt x="0" y="48615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8" name="object 38"/>
          <p:cNvSpPr txBox="1"/>
          <p:nvPr/>
        </p:nvSpPr>
        <p:spPr>
          <a:xfrm>
            <a:off x="7808395" y="4915005"/>
            <a:ext cx="916291" cy="227330"/>
          </a:xfrm>
          <a:prstGeom prst="rect">
            <a:avLst/>
          </a:prstGeom>
        </p:spPr>
        <p:txBody>
          <a:bodyPr vert="horz" wrap="square" lIns="0" tIns="12691" rIns="0" bIns="0" rtlCol="0">
            <a:spAutoFit/>
          </a:bodyPr>
          <a:lstStyle/>
          <a:p>
            <a:pPr marL="12700">
              <a:lnSpc>
                <a:spcPct val="100000"/>
              </a:lnSpc>
              <a:spcBef>
                <a:spcPts val="100"/>
              </a:spcBef>
            </a:pPr>
            <a:r>
              <a:rPr sz="1400" dirty="0">
                <a:latin typeface="微软雅黑" panose="020B0503020204020204" charset="-122"/>
                <a:ea typeface="微软雅黑" panose="020B0503020204020204" charset="-122"/>
                <a:cs typeface="微软雅黑" panose="020B0503020204020204" charset="-122"/>
              </a:rPr>
              <a:t>增长的障碍</a:t>
            </a:r>
            <a:endParaRPr sz="1400" dirty="0">
              <a:latin typeface="微软雅黑" panose="020B0503020204020204" charset="-122"/>
              <a:ea typeface="微软雅黑" panose="020B0503020204020204" charset="-122"/>
              <a:cs typeface="微软雅黑" panose="020B0503020204020204" charset="-122"/>
            </a:endParaRPr>
          </a:p>
        </p:txBody>
      </p:sp>
      <p:sp>
        <p:nvSpPr>
          <p:cNvPr id="39" name="object 39"/>
          <p:cNvSpPr/>
          <p:nvPr/>
        </p:nvSpPr>
        <p:spPr>
          <a:xfrm>
            <a:off x="8110885" y="4640942"/>
            <a:ext cx="230341" cy="230341"/>
          </a:xfrm>
          <a:prstGeom prst="rect">
            <a:avLst/>
          </a:prstGeom>
          <a:blipFill>
            <a:blip r:embed="rId9"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0" name="object 40"/>
          <p:cNvSpPr txBox="1"/>
          <p:nvPr/>
        </p:nvSpPr>
        <p:spPr>
          <a:xfrm>
            <a:off x="8166028" y="4631742"/>
            <a:ext cx="125006" cy="227330"/>
          </a:xfrm>
          <a:prstGeom prst="rect">
            <a:avLst/>
          </a:prstGeom>
        </p:spPr>
        <p:txBody>
          <a:bodyPr vert="horz" wrap="square" lIns="0" tIns="12691" rIns="0" bIns="0" rtlCol="0">
            <a:spAutoFit/>
          </a:bodyPr>
          <a:lstStyle/>
          <a:p>
            <a:pPr marL="12700">
              <a:lnSpc>
                <a:spcPct val="100000"/>
              </a:lnSpc>
              <a:spcBef>
                <a:spcPts val="100"/>
              </a:spcBef>
            </a:pPr>
            <a:r>
              <a:rPr sz="1400" b="1" dirty="0">
                <a:solidFill>
                  <a:srgbClr val="FFFFFF"/>
                </a:solidFill>
                <a:latin typeface="微软雅黑" panose="020B0503020204020204" charset="-122"/>
                <a:ea typeface="微软雅黑" panose="020B0503020204020204" charset="-122"/>
                <a:cs typeface="Arial" panose="020B0604020202020204"/>
              </a:rPr>
              <a:t>7</a:t>
            </a:r>
            <a:endParaRPr sz="1400" b="1" dirty="0">
              <a:solidFill>
                <a:srgbClr val="FFFFFF"/>
              </a:solidFill>
              <a:latin typeface="微软雅黑" panose="020B0503020204020204" charset="-122"/>
              <a:ea typeface="微软雅黑" panose="020B0503020204020204" charset="-122"/>
              <a:cs typeface="Arial" panose="020B0604020202020204"/>
            </a:endParaRPr>
          </a:p>
        </p:txBody>
      </p:sp>
      <p:sp>
        <p:nvSpPr>
          <p:cNvPr id="41" name="object 41"/>
          <p:cNvSpPr/>
          <p:nvPr/>
        </p:nvSpPr>
        <p:spPr>
          <a:xfrm>
            <a:off x="2122316" y="4075114"/>
            <a:ext cx="840779" cy="640261"/>
          </a:xfrm>
          <a:custGeom>
            <a:avLst/>
            <a:gdLst/>
            <a:ahLst/>
            <a:cxnLst/>
            <a:rect l="l" t="t" r="r" b="b"/>
            <a:pathLst>
              <a:path w="841375" h="640714">
                <a:moveTo>
                  <a:pt x="784098" y="557649"/>
                </a:moveTo>
                <a:lnTo>
                  <a:pt x="781776" y="558121"/>
                </a:lnTo>
                <a:lnTo>
                  <a:pt x="768127" y="567340"/>
                </a:lnTo>
                <a:lnTo>
                  <a:pt x="758908" y="580989"/>
                </a:lnTo>
                <a:lnTo>
                  <a:pt x="755523" y="597661"/>
                </a:lnTo>
                <a:lnTo>
                  <a:pt x="758908" y="614314"/>
                </a:lnTo>
                <a:lnTo>
                  <a:pt x="768127" y="627919"/>
                </a:lnTo>
                <a:lnTo>
                  <a:pt x="781776" y="637095"/>
                </a:lnTo>
                <a:lnTo>
                  <a:pt x="798449" y="640460"/>
                </a:lnTo>
                <a:lnTo>
                  <a:pt x="815101" y="637095"/>
                </a:lnTo>
                <a:lnTo>
                  <a:pt x="828706" y="627919"/>
                </a:lnTo>
                <a:lnTo>
                  <a:pt x="837882" y="614314"/>
                </a:lnTo>
                <a:lnTo>
                  <a:pt x="841248" y="597661"/>
                </a:lnTo>
                <a:lnTo>
                  <a:pt x="784098" y="597661"/>
                </a:lnTo>
                <a:lnTo>
                  <a:pt x="784098" y="557649"/>
                </a:lnTo>
                <a:close/>
              </a:path>
              <a:path w="841375" h="640714">
                <a:moveTo>
                  <a:pt x="798449" y="554735"/>
                </a:moveTo>
                <a:lnTo>
                  <a:pt x="784208" y="557627"/>
                </a:lnTo>
                <a:lnTo>
                  <a:pt x="784098" y="597661"/>
                </a:lnTo>
                <a:lnTo>
                  <a:pt x="812673" y="597661"/>
                </a:lnTo>
                <a:lnTo>
                  <a:pt x="812673" y="557627"/>
                </a:lnTo>
                <a:lnTo>
                  <a:pt x="798449" y="554735"/>
                </a:lnTo>
                <a:close/>
              </a:path>
              <a:path w="841375" h="640714">
                <a:moveTo>
                  <a:pt x="812673" y="557627"/>
                </a:moveTo>
                <a:lnTo>
                  <a:pt x="812673" y="597661"/>
                </a:lnTo>
                <a:lnTo>
                  <a:pt x="841248" y="597661"/>
                </a:lnTo>
                <a:lnTo>
                  <a:pt x="837882" y="580989"/>
                </a:lnTo>
                <a:lnTo>
                  <a:pt x="828706" y="567340"/>
                </a:lnTo>
                <a:lnTo>
                  <a:pt x="815101" y="558121"/>
                </a:lnTo>
                <a:lnTo>
                  <a:pt x="812673" y="557627"/>
                </a:lnTo>
                <a:close/>
              </a:path>
              <a:path w="841375" h="640714">
                <a:moveTo>
                  <a:pt x="784098" y="193546"/>
                </a:moveTo>
                <a:lnTo>
                  <a:pt x="784098" y="557649"/>
                </a:lnTo>
                <a:lnTo>
                  <a:pt x="798449" y="554735"/>
                </a:lnTo>
                <a:lnTo>
                  <a:pt x="812673" y="554735"/>
                </a:lnTo>
                <a:lnTo>
                  <a:pt x="812673" y="195960"/>
                </a:lnTo>
                <a:lnTo>
                  <a:pt x="795528" y="195960"/>
                </a:lnTo>
                <a:lnTo>
                  <a:pt x="784098" y="193546"/>
                </a:lnTo>
                <a:close/>
              </a:path>
              <a:path w="841375" h="640714">
                <a:moveTo>
                  <a:pt x="812673" y="554735"/>
                </a:moveTo>
                <a:lnTo>
                  <a:pt x="798449" y="554735"/>
                </a:lnTo>
                <a:lnTo>
                  <a:pt x="812673" y="557627"/>
                </a:lnTo>
                <a:lnTo>
                  <a:pt x="812673" y="554735"/>
                </a:lnTo>
                <a:close/>
              </a:path>
              <a:path w="841375" h="640714">
                <a:moveTo>
                  <a:pt x="784098" y="181990"/>
                </a:moveTo>
                <a:lnTo>
                  <a:pt x="784098" y="193546"/>
                </a:lnTo>
                <a:lnTo>
                  <a:pt x="795528" y="195960"/>
                </a:lnTo>
                <a:lnTo>
                  <a:pt x="784098" y="181990"/>
                </a:lnTo>
                <a:close/>
              </a:path>
              <a:path w="841375" h="640714">
                <a:moveTo>
                  <a:pt x="812673" y="181990"/>
                </a:moveTo>
                <a:lnTo>
                  <a:pt x="784098" y="181990"/>
                </a:lnTo>
                <a:lnTo>
                  <a:pt x="795528" y="195960"/>
                </a:lnTo>
                <a:lnTo>
                  <a:pt x="812673" y="195960"/>
                </a:lnTo>
                <a:lnTo>
                  <a:pt x="812673" y="181990"/>
                </a:lnTo>
                <a:close/>
              </a:path>
              <a:path w="841375" h="640714">
                <a:moveTo>
                  <a:pt x="5842" y="0"/>
                </a:moveTo>
                <a:lnTo>
                  <a:pt x="0" y="27939"/>
                </a:lnTo>
                <a:lnTo>
                  <a:pt x="784098" y="193546"/>
                </a:lnTo>
                <a:lnTo>
                  <a:pt x="784098" y="181990"/>
                </a:lnTo>
                <a:lnTo>
                  <a:pt x="812673" y="181990"/>
                </a:lnTo>
                <a:lnTo>
                  <a:pt x="812673" y="175259"/>
                </a:lnTo>
                <a:lnTo>
                  <a:pt x="807974" y="169417"/>
                </a:lnTo>
                <a:lnTo>
                  <a:pt x="5842"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2" name="object 42"/>
          <p:cNvSpPr txBox="1">
            <a:spLocks noGrp="1"/>
          </p:cNvSpPr>
          <p:nvPr>
            <p:ph type="title"/>
          </p:nvPr>
        </p:nvSpPr>
        <p:spPr>
          <a:xfrm>
            <a:off x="109446" y="203088"/>
            <a:ext cx="4367610"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创造直接销</a:t>
            </a:r>
            <a:r>
              <a:rPr spc="-10" dirty="0">
                <a:ea typeface="微软雅黑" panose="020B0503020204020204" charset="-122"/>
              </a:rPr>
              <a:t>售：</a:t>
            </a:r>
            <a:r>
              <a:rPr spc="-5" dirty="0">
                <a:ea typeface="微软雅黑" panose="020B0503020204020204" charset="-122"/>
              </a:rPr>
              <a:t>大</a:t>
            </a:r>
            <a:r>
              <a:rPr spc="-10" dirty="0">
                <a:ea typeface="微软雅黑" panose="020B0503020204020204" charset="-122"/>
              </a:rPr>
              <a:t>客户</a:t>
            </a:r>
            <a:r>
              <a:rPr spc="-5" dirty="0">
                <a:ea typeface="微软雅黑" panose="020B0503020204020204" charset="-122"/>
              </a:rPr>
              <a:t>规</a:t>
            </a:r>
            <a:r>
              <a:rPr spc="-10" dirty="0">
                <a:ea typeface="微软雅黑" panose="020B0503020204020204" charset="-122"/>
              </a:rPr>
              <a:t>划最</a:t>
            </a:r>
            <a:r>
              <a:rPr spc="-5" dirty="0">
                <a:ea typeface="微软雅黑" panose="020B0503020204020204" charset="-122"/>
              </a:rPr>
              <a:t>佳</a:t>
            </a:r>
            <a:r>
              <a:rPr spc="-10" dirty="0">
                <a:ea typeface="微软雅黑" panose="020B0503020204020204" charset="-122"/>
              </a:rPr>
              <a:t>做法</a:t>
            </a:r>
            <a:r>
              <a:rPr spc="-5" dirty="0">
                <a:ea typeface="微软雅黑" panose="020B0503020204020204" charset="-122"/>
              </a:rPr>
              <a:t>示</a:t>
            </a:r>
            <a:r>
              <a:rPr spc="-10" dirty="0">
                <a:ea typeface="微软雅黑" panose="020B0503020204020204" charset="-122"/>
              </a:rPr>
              <a:t>例</a:t>
            </a:r>
            <a:endParaRPr spc="-10" dirty="0">
              <a:ea typeface="微软雅黑" panose="020B0503020204020204" charset="-122"/>
            </a:endParaRPr>
          </a:p>
        </p:txBody>
      </p:sp>
      <p:sp>
        <p:nvSpPr>
          <p:cNvPr id="43" name="object 43"/>
          <p:cNvSpPr/>
          <p:nvPr/>
        </p:nvSpPr>
        <p:spPr>
          <a:xfrm>
            <a:off x="7702551" y="2452696"/>
            <a:ext cx="1089523" cy="1423931"/>
          </a:xfrm>
          <a:custGeom>
            <a:avLst/>
            <a:gdLst/>
            <a:ahLst/>
            <a:cxnLst/>
            <a:rect l="l" t="t" r="r" b="b"/>
            <a:pathLst>
              <a:path w="1090295" h="1424939">
                <a:moveTo>
                  <a:pt x="163449" y="0"/>
                </a:moveTo>
                <a:lnTo>
                  <a:pt x="317881" y="0"/>
                </a:lnTo>
                <a:lnTo>
                  <a:pt x="549529" y="0"/>
                </a:lnTo>
                <a:lnTo>
                  <a:pt x="1090041" y="0"/>
                </a:lnTo>
                <a:lnTo>
                  <a:pt x="1090041" y="237489"/>
                </a:lnTo>
                <a:lnTo>
                  <a:pt x="1090041" y="593725"/>
                </a:lnTo>
                <a:lnTo>
                  <a:pt x="1090041" y="1424939"/>
                </a:lnTo>
                <a:lnTo>
                  <a:pt x="549529" y="1424939"/>
                </a:lnTo>
                <a:lnTo>
                  <a:pt x="317881" y="1424939"/>
                </a:lnTo>
                <a:lnTo>
                  <a:pt x="163449" y="1424939"/>
                </a:lnTo>
                <a:lnTo>
                  <a:pt x="163449" y="593725"/>
                </a:lnTo>
                <a:lnTo>
                  <a:pt x="0" y="314578"/>
                </a:lnTo>
                <a:lnTo>
                  <a:pt x="163449" y="237489"/>
                </a:lnTo>
                <a:lnTo>
                  <a:pt x="163449" y="0"/>
                </a:lnTo>
                <a:close/>
              </a:path>
            </a:pathLst>
          </a:custGeom>
          <a:ln w="9525">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4" name="object 44"/>
          <p:cNvSpPr txBox="1"/>
          <p:nvPr/>
        </p:nvSpPr>
        <p:spPr>
          <a:xfrm>
            <a:off x="7926040" y="2819212"/>
            <a:ext cx="738617" cy="657225"/>
          </a:xfrm>
          <a:prstGeom prst="rect">
            <a:avLst/>
          </a:prstGeom>
        </p:spPr>
        <p:txBody>
          <a:bodyPr vert="horz" wrap="square" lIns="0" tIns="12056" rIns="0" bIns="0" rtlCol="0">
            <a:spAutoFit/>
          </a:bodyPr>
          <a:lstStyle/>
          <a:p>
            <a:pPr marL="12700" marR="5080" algn="just">
              <a:lnSpc>
                <a:spcPct val="100000"/>
              </a:lnSpc>
              <a:spcBef>
                <a:spcPts val="95"/>
              </a:spcBef>
            </a:pPr>
            <a:r>
              <a:rPr sz="1400" dirty="0">
                <a:latin typeface="微软雅黑" panose="020B0503020204020204" charset="-122"/>
                <a:ea typeface="微软雅黑" panose="020B0503020204020204" charset="-122"/>
                <a:cs typeface="微软雅黑" panose="020B0503020204020204" charset="-122"/>
              </a:rPr>
              <a:t>与相应的 销售指导 关联</a:t>
            </a:r>
            <a:endParaRPr sz="14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401" y="203088"/>
            <a:ext cx="2679706"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大客户管理</a:t>
            </a:r>
            <a:r>
              <a:rPr spc="-10" dirty="0">
                <a:ea typeface="微软雅黑" panose="020B0503020204020204" charset="-122"/>
              </a:rPr>
              <a:t>包括</a:t>
            </a:r>
            <a:r>
              <a:rPr spc="-5" dirty="0">
                <a:ea typeface="微软雅黑" panose="020B0503020204020204" charset="-122"/>
              </a:rPr>
              <a:t>五</a:t>
            </a:r>
            <a:r>
              <a:rPr spc="-10" dirty="0">
                <a:ea typeface="微软雅黑" panose="020B0503020204020204" charset="-122"/>
              </a:rPr>
              <a:t>大要素</a:t>
            </a:r>
            <a:endParaRPr spc="-10" dirty="0">
              <a:ea typeface="微软雅黑" panose="020B0503020204020204" charset="-122"/>
            </a:endParaRPr>
          </a:p>
        </p:txBody>
      </p:sp>
      <p:sp>
        <p:nvSpPr>
          <p:cNvPr id="4" name="object 4"/>
          <p:cNvSpPr/>
          <p:nvPr/>
        </p:nvSpPr>
        <p:spPr>
          <a:xfrm>
            <a:off x="2096299" y="1323450"/>
            <a:ext cx="2679071" cy="3900581"/>
          </a:xfrm>
          <a:custGeom>
            <a:avLst/>
            <a:gdLst/>
            <a:ahLst/>
            <a:cxnLst/>
            <a:rect l="l" t="t" r="r" b="b"/>
            <a:pathLst>
              <a:path w="2680970" h="3903345">
                <a:moveTo>
                  <a:pt x="1977643" y="0"/>
                </a:moveTo>
                <a:lnTo>
                  <a:pt x="0" y="0"/>
                </a:lnTo>
                <a:lnTo>
                  <a:pt x="703071" y="1952244"/>
                </a:lnTo>
                <a:lnTo>
                  <a:pt x="0" y="3902964"/>
                </a:lnTo>
                <a:lnTo>
                  <a:pt x="1977643" y="3902964"/>
                </a:lnTo>
                <a:lnTo>
                  <a:pt x="2680716" y="1952244"/>
                </a:lnTo>
                <a:lnTo>
                  <a:pt x="197764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p:nvPr/>
        </p:nvSpPr>
        <p:spPr>
          <a:xfrm>
            <a:off x="2096299" y="1323450"/>
            <a:ext cx="2679071" cy="3900581"/>
          </a:xfrm>
          <a:custGeom>
            <a:avLst/>
            <a:gdLst/>
            <a:ahLst/>
            <a:cxnLst/>
            <a:rect l="l" t="t" r="r" b="b"/>
            <a:pathLst>
              <a:path w="2680970" h="3903345">
                <a:moveTo>
                  <a:pt x="0" y="0"/>
                </a:moveTo>
                <a:lnTo>
                  <a:pt x="1977643" y="0"/>
                </a:lnTo>
                <a:lnTo>
                  <a:pt x="2680716" y="1952244"/>
                </a:lnTo>
                <a:lnTo>
                  <a:pt x="1977643" y="3902964"/>
                </a:lnTo>
                <a:lnTo>
                  <a:pt x="0" y="3902964"/>
                </a:lnTo>
                <a:lnTo>
                  <a:pt x="703071"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4074573" y="1323450"/>
            <a:ext cx="2679071" cy="1951242"/>
          </a:xfrm>
          <a:custGeom>
            <a:avLst/>
            <a:gdLst/>
            <a:ahLst/>
            <a:cxnLst/>
            <a:rect l="l" t="t" r="r" b="b"/>
            <a:pathLst>
              <a:path w="2680970" h="1952625">
                <a:moveTo>
                  <a:pt x="1977643" y="0"/>
                </a:moveTo>
                <a:lnTo>
                  <a:pt x="0" y="0"/>
                </a:lnTo>
                <a:lnTo>
                  <a:pt x="703072" y="1952244"/>
                </a:lnTo>
                <a:lnTo>
                  <a:pt x="2680716" y="1952244"/>
                </a:lnTo>
                <a:lnTo>
                  <a:pt x="197764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4074573" y="1323450"/>
            <a:ext cx="2679071" cy="1951242"/>
          </a:xfrm>
          <a:custGeom>
            <a:avLst/>
            <a:gdLst/>
            <a:ahLst/>
            <a:cxnLst/>
            <a:rect l="l" t="t" r="r" b="b"/>
            <a:pathLst>
              <a:path w="2680970" h="1952625">
                <a:moveTo>
                  <a:pt x="0" y="0"/>
                </a:moveTo>
                <a:lnTo>
                  <a:pt x="1977643" y="0"/>
                </a:lnTo>
                <a:lnTo>
                  <a:pt x="2680716" y="1952244"/>
                </a:lnTo>
                <a:lnTo>
                  <a:pt x="703072"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4074573" y="3274312"/>
            <a:ext cx="4655695" cy="1949338"/>
          </a:xfrm>
          <a:custGeom>
            <a:avLst/>
            <a:gdLst/>
            <a:ahLst/>
            <a:cxnLst/>
            <a:rect l="l" t="t" r="r" b="b"/>
            <a:pathLst>
              <a:path w="4658995" h="1950720">
                <a:moveTo>
                  <a:pt x="4658868" y="0"/>
                </a:moveTo>
                <a:lnTo>
                  <a:pt x="703199" y="0"/>
                </a:lnTo>
                <a:lnTo>
                  <a:pt x="0" y="1950720"/>
                </a:lnTo>
                <a:lnTo>
                  <a:pt x="3955668" y="1950720"/>
                </a:lnTo>
                <a:lnTo>
                  <a:pt x="4658868"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4074573" y="3274312"/>
            <a:ext cx="4655695" cy="1949338"/>
          </a:xfrm>
          <a:custGeom>
            <a:avLst/>
            <a:gdLst/>
            <a:ahLst/>
            <a:cxnLst/>
            <a:rect l="l" t="t" r="r" b="b"/>
            <a:pathLst>
              <a:path w="4658995" h="1950720">
                <a:moveTo>
                  <a:pt x="4658868" y="0"/>
                </a:moveTo>
                <a:lnTo>
                  <a:pt x="3955668" y="1950720"/>
                </a:lnTo>
                <a:lnTo>
                  <a:pt x="0" y="1950720"/>
                </a:lnTo>
                <a:lnTo>
                  <a:pt x="703199" y="0"/>
                </a:lnTo>
                <a:lnTo>
                  <a:pt x="4658868"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6051325" y="1323450"/>
            <a:ext cx="2679071" cy="1951242"/>
          </a:xfrm>
          <a:custGeom>
            <a:avLst/>
            <a:gdLst/>
            <a:ahLst/>
            <a:cxnLst/>
            <a:rect l="l" t="t" r="r" b="b"/>
            <a:pathLst>
              <a:path w="2680970" h="1952625">
                <a:moveTo>
                  <a:pt x="1977643" y="0"/>
                </a:moveTo>
                <a:lnTo>
                  <a:pt x="0" y="0"/>
                </a:lnTo>
                <a:lnTo>
                  <a:pt x="703071" y="1952244"/>
                </a:lnTo>
                <a:lnTo>
                  <a:pt x="2680716" y="1952244"/>
                </a:lnTo>
                <a:lnTo>
                  <a:pt x="1977643"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6051325" y="1323450"/>
            <a:ext cx="2679071" cy="1951242"/>
          </a:xfrm>
          <a:custGeom>
            <a:avLst/>
            <a:gdLst/>
            <a:ahLst/>
            <a:cxnLst/>
            <a:rect l="l" t="t" r="r" b="b"/>
            <a:pathLst>
              <a:path w="2680970" h="1952625">
                <a:moveTo>
                  <a:pt x="0" y="0"/>
                </a:moveTo>
                <a:lnTo>
                  <a:pt x="1977643" y="0"/>
                </a:lnTo>
                <a:lnTo>
                  <a:pt x="2680716" y="1952244"/>
                </a:lnTo>
                <a:lnTo>
                  <a:pt x="703071"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119549" y="1323450"/>
            <a:ext cx="2680340" cy="3900581"/>
          </a:xfrm>
          <a:custGeom>
            <a:avLst/>
            <a:gdLst/>
            <a:ahLst/>
            <a:cxnLst/>
            <a:rect l="l" t="t" r="r" b="b"/>
            <a:pathLst>
              <a:path w="2682240" h="3903345">
                <a:moveTo>
                  <a:pt x="1978787" y="0"/>
                </a:moveTo>
                <a:lnTo>
                  <a:pt x="0" y="0"/>
                </a:lnTo>
                <a:lnTo>
                  <a:pt x="0" y="3902964"/>
                </a:lnTo>
                <a:lnTo>
                  <a:pt x="1978787" y="3902964"/>
                </a:lnTo>
                <a:lnTo>
                  <a:pt x="2682240" y="1952244"/>
                </a:lnTo>
                <a:lnTo>
                  <a:pt x="1978787"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119549" y="1323450"/>
            <a:ext cx="2680340" cy="3900581"/>
          </a:xfrm>
          <a:custGeom>
            <a:avLst/>
            <a:gdLst/>
            <a:ahLst/>
            <a:cxnLst/>
            <a:rect l="l" t="t" r="r" b="b"/>
            <a:pathLst>
              <a:path w="2682240" h="3903345">
                <a:moveTo>
                  <a:pt x="0" y="0"/>
                </a:moveTo>
                <a:lnTo>
                  <a:pt x="1978787" y="0"/>
                </a:lnTo>
                <a:lnTo>
                  <a:pt x="2682240" y="1952244"/>
                </a:lnTo>
                <a:lnTo>
                  <a:pt x="1978787" y="3902964"/>
                </a:lnTo>
                <a:lnTo>
                  <a:pt x="0" y="3902964"/>
                </a:lnTo>
                <a:lnTo>
                  <a:pt x="0"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169043" y="1538944"/>
            <a:ext cx="1926495" cy="3359944"/>
          </a:xfrm>
          <a:custGeom>
            <a:avLst/>
            <a:gdLst/>
            <a:ahLst/>
            <a:cxnLst/>
            <a:rect l="l" t="t" r="r" b="b"/>
            <a:pathLst>
              <a:path w="1927860" h="3362325">
                <a:moveTo>
                  <a:pt x="0" y="3361944"/>
                </a:moveTo>
                <a:lnTo>
                  <a:pt x="1927860" y="3361944"/>
                </a:lnTo>
                <a:lnTo>
                  <a:pt x="1927860" y="0"/>
                </a:lnTo>
                <a:lnTo>
                  <a:pt x="0" y="0"/>
                </a:lnTo>
                <a:lnTo>
                  <a:pt x="0" y="336194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txBox="1"/>
          <p:nvPr/>
        </p:nvSpPr>
        <p:spPr>
          <a:xfrm>
            <a:off x="4964467" y="1535644"/>
            <a:ext cx="104129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大客</a:t>
            </a:r>
            <a:r>
              <a:rPr sz="1600" b="1" spc="-10" dirty="0">
                <a:solidFill>
                  <a:srgbClr val="0066CC"/>
                </a:solidFill>
                <a:latin typeface="微软雅黑" panose="020B0503020204020204" charset="-122"/>
                <a:ea typeface="微软雅黑" panose="020B0503020204020204" charset="-122"/>
                <a:cs typeface="微软雅黑" panose="020B0503020204020204" charset="-122"/>
              </a:rPr>
              <a:t>户规划</a:t>
            </a:r>
            <a:endParaRPr sz="1600">
              <a:latin typeface="微软雅黑" panose="020B0503020204020204" charset="-122"/>
              <a:ea typeface="微软雅黑" panose="020B0503020204020204" charset="-122"/>
              <a:cs typeface="微软雅黑" panose="020B0503020204020204" charset="-122"/>
            </a:endParaRPr>
          </a:p>
        </p:txBody>
      </p:sp>
      <p:sp>
        <p:nvSpPr>
          <p:cNvPr id="16" name="object 16"/>
          <p:cNvSpPr txBox="1"/>
          <p:nvPr/>
        </p:nvSpPr>
        <p:spPr>
          <a:xfrm>
            <a:off x="6933604" y="1535644"/>
            <a:ext cx="1045739"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实施和跟踪</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17" name="object 17"/>
          <p:cNvSpPr txBox="1"/>
          <p:nvPr/>
        </p:nvSpPr>
        <p:spPr>
          <a:xfrm>
            <a:off x="5439110" y="3524071"/>
            <a:ext cx="434032"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组织</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18" name="object 18"/>
          <p:cNvSpPr/>
          <p:nvPr/>
        </p:nvSpPr>
        <p:spPr>
          <a:xfrm>
            <a:off x="4876519" y="3421020"/>
            <a:ext cx="385807" cy="501295"/>
          </a:xfrm>
          <a:custGeom>
            <a:avLst/>
            <a:gdLst/>
            <a:ahLst/>
            <a:cxnLst/>
            <a:rect l="l" t="t" r="r" b="b"/>
            <a:pathLst>
              <a:path w="386079" h="501650">
                <a:moveTo>
                  <a:pt x="188213" y="0"/>
                </a:moveTo>
                <a:lnTo>
                  <a:pt x="146496" y="4355"/>
                </a:lnTo>
                <a:lnTo>
                  <a:pt x="109553" y="17414"/>
                </a:lnTo>
                <a:lnTo>
                  <a:pt x="77396" y="39165"/>
                </a:lnTo>
                <a:lnTo>
                  <a:pt x="50037" y="69595"/>
                </a:lnTo>
                <a:lnTo>
                  <a:pt x="28128" y="107053"/>
                </a:lnTo>
                <a:lnTo>
                  <a:pt x="12493" y="149891"/>
                </a:lnTo>
                <a:lnTo>
                  <a:pt x="3121" y="198112"/>
                </a:lnTo>
                <a:lnTo>
                  <a:pt x="0" y="251713"/>
                </a:lnTo>
                <a:lnTo>
                  <a:pt x="1549" y="289958"/>
                </a:lnTo>
                <a:lnTo>
                  <a:pt x="13983" y="358780"/>
                </a:lnTo>
                <a:lnTo>
                  <a:pt x="38179" y="416647"/>
                </a:lnTo>
                <a:lnTo>
                  <a:pt x="69611" y="459319"/>
                </a:lnTo>
                <a:lnTo>
                  <a:pt x="108547" y="486487"/>
                </a:lnTo>
                <a:lnTo>
                  <a:pt x="160605" y="499961"/>
                </a:lnTo>
                <a:lnTo>
                  <a:pt x="191897" y="501650"/>
                </a:lnTo>
                <a:lnTo>
                  <a:pt x="227782" y="499695"/>
                </a:lnTo>
                <a:lnTo>
                  <a:pt x="286265" y="484022"/>
                </a:lnTo>
                <a:lnTo>
                  <a:pt x="328509" y="452014"/>
                </a:lnTo>
                <a:lnTo>
                  <a:pt x="363370" y="400147"/>
                </a:lnTo>
                <a:lnTo>
                  <a:pt x="366288" y="393700"/>
                </a:lnTo>
                <a:lnTo>
                  <a:pt x="194817" y="393700"/>
                </a:lnTo>
                <a:lnTo>
                  <a:pt x="180578" y="391747"/>
                </a:lnTo>
                <a:lnTo>
                  <a:pt x="146430" y="362457"/>
                </a:lnTo>
                <a:lnTo>
                  <a:pt x="132125" y="317184"/>
                </a:lnTo>
                <a:lnTo>
                  <a:pt x="129794" y="296417"/>
                </a:lnTo>
                <a:lnTo>
                  <a:pt x="385825" y="296417"/>
                </a:lnTo>
                <a:lnTo>
                  <a:pt x="385825" y="275716"/>
                </a:lnTo>
                <a:lnTo>
                  <a:pt x="384468" y="230499"/>
                </a:lnTo>
                <a:lnTo>
                  <a:pt x="382249" y="208279"/>
                </a:lnTo>
                <a:lnTo>
                  <a:pt x="130175" y="208279"/>
                </a:lnTo>
                <a:lnTo>
                  <a:pt x="132244" y="188162"/>
                </a:lnTo>
                <a:lnTo>
                  <a:pt x="144907" y="143763"/>
                </a:lnTo>
                <a:lnTo>
                  <a:pt x="179071" y="111134"/>
                </a:lnTo>
                <a:lnTo>
                  <a:pt x="193548" y="108965"/>
                </a:lnTo>
                <a:lnTo>
                  <a:pt x="358683" y="108965"/>
                </a:lnTo>
                <a:lnTo>
                  <a:pt x="352087" y="93678"/>
                </a:lnTo>
                <a:lnTo>
                  <a:pt x="320567" y="48529"/>
                </a:lnTo>
                <a:lnTo>
                  <a:pt x="278493" y="17573"/>
                </a:lnTo>
                <a:lnTo>
                  <a:pt x="222053" y="1952"/>
                </a:lnTo>
                <a:lnTo>
                  <a:pt x="188213" y="0"/>
                </a:lnTo>
                <a:close/>
              </a:path>
              <a:path w="386079" h="501650">
                <a:moveTo>
                  <a:pt x="252729" y="349757"/>
                </a:moveTo>
                <a:lnTo>
                  <a:pt x="221910" y="386038"/>
                </a:lnTo>
                <a:lnTo>
                  <a:pt x="194817" y="393700"/>
                </a:lnTo>
                <a:lnTo>
                  <a:pt x="366288" y="393700"/>
                </a:lnTo>
                <a:lnTo>
                  <a:pt x="378587" y="366521"/>
                </a:lnTo>
                <a:lnTo>
                  <a:pt x="252729" y="349757"/>
                </a:lnTo>
                <a:close/>
              </a:path>
              <a:path w="386079" h="501650">
                <a:moveTo>
                  <a:pt x="358683" y="108965"/>
                </a:moveTo>
                <a:lnTo>
                  <a:pt x="193548" y="108965"/>
                </a:lnTo>
                <a:lnTo>
                  <a:pt x="206069" y="110396"/>
                </a:lnTo>
                <a:lnTo>
                  <a:pt x="217328" y="114696"/>
                </a:lnTo>
                <a:lnTo>
                  <a:pt x="243278" y="145379"/>
                </a:lnTo>
                <a:lnTo>
                  <a:pt x="253236" y="183566"/>
                </a:lnTo>
                <a:lnTo>
                  <a:pt x="255904" y="208279"/>
                </a:lnTo>
                <a:lnTo>
                  <a:pt x="382249" y="208279"/>
                </a:lnTo>
                <a:lnTo>
                  <a:pt x="380396" y="189722"/>
                </a:lnTo>
                <a:lnTo>
                  <a:pt x="373610" y="153398"/>
                </a:lnTo>
                <a:lnTo>
                  <a:pt x="364109" y="121538"/>
                </a:lnTo>
                <a:lnTo>
                  <a:pt x="358683" y="108965"/>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p:nvPr/>
        </p:nvSpPr>
        <p:spPr>
          <a:xfrm>
            <a:off x="4402256" y="1433354"/>
            <a:ext cx="385807" cy="501295"/>
          </a:xfrm>
          <a:custGeom>
            <a:avLst/>
            <a:gdLst/>
            <a:ahLst/>
            <a:cxnLst/>
            <a:rect l="l" t="t" r="r" b="b"/>
            <a:pathLst>
              <a:path w="386079" h="501650">
                <a:moveTo>
                  <a:pt x="194437" y="0"/>
                </a:moveTo>
                <a:lnTo>
                  <a:pt x="141208" y="5524"/>
                </a:lnTo>
                <a:lnTo>
                  <a:pt x="98551" y="22098"/>
                </a:lnTo>
                <a:lnTo>
                  <a:pt x="63940" y="51315"/>
                </a:lnTo>
                <a:lnTo>
                  <a:pt x="32781" y="95250"/>
                </a:lnTo>
                <a:lnTo>
                  <a:pt x="9858" y="155684"/>
                </a:lnTo>
                <a:lnTo>
                  <a:pt x="1095" y="217354"/>
                </a:lnTo>
                <a:lnTo>
                  <a:pt x="0" y="252856"/>
                </a:lnTo>
                <a:lnTo>
                  <a:pt x="885" y="286529"/>
                </a:lnTo>
                <a:lnTo>
                  <a:pt x="8036" y="343350"/>
                </a:lnTo>
                <a:lnTo>
                  <a:pt x="22278" y="387336"/>
                </a:lnTo>
                <a:lnTo>
                  <a:pt x="42229" y="424725"/>
                </a:lnTo>
                <a:lnTo>
                  <a:pt x="67609" y="456136"/>
                </a:lnTo>
                <a:lnTo>
                  <a:pt x="98038" y="479186"/>
                </a:lnTo>
                <a:lnTo>
                  <a:pt x="133873" y="493613"/>
                </a:lnTo>
                <a:lnTo>
                  <a:pt x="178069" y="500749"/>
                </a:lnTo>
                <a:lnTo>
                  <a:pt x="203453" y="501650"/>
                </a:lnTo>
                <a:lnTo>
                  <a:pt x="229766" y="500249"/>
                </a:lnTo>
                <a:lnTo>
                  <a:pt x="275105" y="489112"/>
                </a:lnTo>
                <a:lnTo>
                  <a:pt x="311155" y="467256"/>
                </a:lnTo>
                <a:lnTo>
                  <a:pt x="340441" y="436205"/>
                </a:lnTo>
                <a:lnTo>
                  <a:pt x="363374" y="396392"/>
                </a:lnTo>
                <a:lnTo>
                  <a:pt x="370603" y="378205"/>
                </a:lnTo>
                <a:lnTo>
                  <a:pt x="196214" y="378205"/>
                </a:lnTo>
                <a:lnTo>
                  <a:pt x="181832" y="376297"/>
                </a:lnTo>
                <a:lnTo>
                  <a:pt x="146685" y="347472"/>
                </a:lnTo>
                <a:lnTo>
                  <a:pt x="132000" y="309737"/>
                </a:lnTo>
                <a:lnTo>
                  <a:pt x="127126" y="257810"/>
                </a:lnTo>
                <a:lnTo>
                  <a:pt x="128363" y="226704"/>
                </a:lnTo>
                <a:lnTo>
                  <a:pt x="138217" y="177210"/>
                </a:lnTo>
                <a:lnTo>
                  <a:pt x="169465" y="134175"/>
                </a:lnTo>
                <a:lnTo>
                  <a:pt x="198120" y="125984"/>
                </a:lnTo>
                <a:lnTo>
                  <a:pt x="368473" y="125984"/>
                </a:lnTo>
                <a:lnTo>
                  <a:pt x="355377" y="93710"/>
                </a:lnTo>
                <a:lnTo>
                  <a:pt x="318897" y="41910"/>
                </a:lnTo>
                <a:lnTo>
                  <a:pt x="266334" y="10477"/>
                </a:lnTo>
                <a:lnTo>
                  <a:pt x="232796" y="2619"/>
                </a:lnTo>
                <a:lnTo>
                  <a:pt x="194437" y="0"/>
                </a:lnTo>
                <a:close/>
              </a:path>
              <a:path w="386079" h="501650">
                <a:moveTo>
                  <a:pt x="264160" y="302767"/>
                </a:moveTo>
                <a:lnTo>
                  <a:pt x="246532" y="349166"/>
                </a:lnTo>
                <a:lnTo>
                  <a:pt x="208287" y="377041"/>
                </a:lnTo>
                <a:lnTo>
                  <a:pt x="196214" y="378205"/>
                </a:lnTo>
                <a:lnTo>
                  <a:pt x="370603" y="378205"/>
                </a:lnTo>
                <a:lnTo>
                  <a:pt x="372446" y="373554"/>
                </a:lnTo>
                <a:lnTo>
                  <a:pt x="379860" y="349009"/>
                </a:lnTo>
                <a:lnTo>
                  <a:pt x="385699" y="322579"/>
                </a:lnTo>
                <a:lnTo>
                  <a:pt x="264160" y="302767"/>
                </a:lnTo>
                <a:close/>
              </a:path>
              <a:path w="386079" h="501650">
                <a:moveTo>
                  <a:pt x="368473" y="125984"/>
                </a:moveTo>
                <a:lnTo>
                  <a:pt x="198120" y="125984"/>
                </a:lnTo>
                <a:lnTo>
                  <a:pt x="210052" y="126960"/>
                </a:lnTo>
                <a:lnTo>
                  <a:pt x="220710" y="129889"/>
                </a:lnTo>
                <a:lnTo>
                  <a:pt x="250825" y="161020"/>
                </a:lnTo>
                <a:lnTo>
                  <a:pt x="258825" y="187960"/>
                </a:lnTo>
                <a:lnTo>
                  <a:pt x="379095" y="164846"/>
                </a:lnTo>
                <a:lnTo>
                  <a:pt x="368831" y="126867"/>
                </a:lnTo>
                <a:lnTo>
                  <a:pt x="368473" y="125984"/>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p:nvPr/>
        </p:nvSpPr>
        <p:spPr>
          <a:xfrm>
            <a:off x="6458199" y="1433354"/>
            <a:ext cx="385807" cy="501295"/>
          </a:xfrm>
          <a:custGeom>
            <a:avLst/>
            <a:gdLst/>
            <a:ahLst/>
            <a:cxnLst/>
            <a:rect l="l" t="t" r="r" b="b"/>
            <a:pathLst>
              <a:path w="386079" h="501650">
                <a:moveTo>
                  <a:pt x="147827" y="127888"/>
                </a:moveTo>
                <a:lnTo>
                  <a:pt x="89074" y="139684"/>
                </a:lnTo>
                <a:lnTo>
                  <a:pt x="41655" y="175005"/>
                </a:lnTo>
                <a:lnTo>
                  <a:pt x="10398" y="232537"/>
                </a:lnTo>
                <a:lnTo>
                  <a:pt x="0" y="311023"/>
                </a:lnTo>
                <a:lnTo>
                  <a:pt x="2357" y="349244"/>
                </a:lnTo>
                <a:lnTo>
                  <a:pt x="21216" y="416732"/>
                </a:lnTo>
                <a:lnTo>
                  <a:pt x="58697" y="470360"/>
                </a:lnTo>
                <a:lnTo>
                  <a:pt x="113371" y="498173"/>
                </a:lnTo>
                <a:lnTo>
                  <a:pt x="147066" y="501650"/>
                </a:lnTo>
                <a:lnTo>
                  <a:pt x="164472" y="500675"/>
                </a:lnTo>
                <a:lnTo>
                  <a:pt x="211835" y="486155"/>
                </a:lnTo>
                <a:lnTo>
                  <a:pt x="247036" y="456116"/>
                </a:lnTo>
                <a:lnTo>
                  <a:pt x="259969" y="440689"/>
                </a:lnTo>
                <a:lnTo>
                  <a:pt x="385699" y="440689"/>
                </a:lnTo>
                <a:lnTo>
                  <a:pt x="385699" y="401319"/>
                </a:lnTo>
                <a:lnTo>
                  <a:pt x="191007" y="401319"/>
                </a:lnTo>
                <a:lnTo>
                  <a:pt x="179459" y="400034"/>
                </a:lnTo>
                <a:lnTo>
                  <a:pt x="143454" y="369226"/>
                </a:lnTo>
                <a:lnTo>
                  <a:pt x="134239" y="316738"/>
                </a:lnTo>
                <a:lnTo>
                  <a:pt x="135237" y="294997"/>
                </a:lnTo>
                <a:lnTo>
                  <a:pt x="150114" y="250062"/>
                </a:lnTo>
                <a:lnTo>
                  <a:pt x="189356" y="230250"/>
                </a:lnTo>
                <a:lnTo>
                  <a:pt x="385699" y="230250"/>
                </a:lnTo>
                <a:lnTo>
                  <a:pt x="385699" y="170941"/>
                </a:lnTo>
                <a:lnTo>
                  <a:pt x="250063" y="170941"/>
                </a:lnTo>
                <a:lnTo>
                  <a:pt x="239799" y="160847"/>
                </a:lnTo>
                <a:lnTo>
                  <a:pt x="228822" y="152098"/>
                </a:lnTo>
                <a:lnTo>
                  <a:pt x="191583" y="133943"/>
                </a:lnTo>
                <a:lnTo>
                  <a:pt x="163111" y="128557"/>
                </a:lnTo>
                <a:lnTo>
                  <a:pt x="147827" y="127888"/>
                </a:lnTo>
                <a:close/>
              </a:path>
              <a:path w="386079" h="501650">
                <a:moveTo>
                  <a:pt x="385699" y="440689"/>
                </a:moveTo>
                <a:lnTo>
                  <a:pt x="259969" y="440689"/>
                </a:lnTo>
                <a:lnTo>
                  <a:pt x="259969" y="493522"/>
                </a:lnTo>
                <a:lnTo>
                  <a:pt x="385699" y="493522"/>
                </a:lnTo>
                <a:lnTo>
                  <a:pt x="385699" y="440689"/>
                </a:lnTo>
                <a:close/>
              </a:path>
              <a:path w="386079" h="501650">
                <a:moveTo>
                  <a:pt x="385699" y="230250"/>
                </a:moveTo>
                <a:lnTo>
                  <a:pt x="189356" y="230250"/>
                </a:lnTo>
                <a:lnTo>
                  <a:pt x="202120" y="231538"/>
                </a:lnTo>
                <a:lnTo>
                  <a:pt x="213741" y="235410"/>
                </a:lnTo>
                <a:lnTo>
                  <a:pt x="241220" y="262647"/>
                </a:lnTo>
                <a:lnTo>
                  <a:pt x="251078" y="313689"/>
                </a:lnTo>
                <a:lnTo>
                  <a:pt x="250007" y="335311"/>
                </a:lnTo>
                <a:lnTo>
                  <a:pt x="233933" y="380746"/>
                </a:lnTo>
                <a:lnTo>
                  <a:pt x="191007" y="401319"/>
                </a:lnTo>
                <a:lnTo>
                  <a:pt x="385699" y="401319"/>
                </a:lnTo>
                <a:lnTo>
                  <a:pt x="385699" y="230250"/>
                </a:lnTo>
                <a:close/>
              </a:path>
              <a:path w="386079" h="501650">
                <a:moveTo>
                  <a:pt x="385699" y="0"/>
                </a:moveTo>
                <a:lnTo>
                  <a:pt x="250063" y="0"/>
                </a:lnTo>
                <a:lnTo>
                  <a:pt x="250063" y="170941"/>
                </a:lnTo>
                <a:lnTo>
                  <a:pt x="385699" y="170941"/>
                </a:lnTo>
                <a:lnTo>
                  <a:pt x="385699"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1" name="object 21"/>
          <p:cNvSpPr/>
          <p:nvPr/>
        </p:nvSpPr>
        <p:spPr>
          <a:xfrm>
            <a:off x="2485914" y="1433354"/>
            <a:ext cx="385807" cy="501295"/>
          </a:xfrm>
          <a:custGeom>
            <a:avLst/>
            <a:gdLst/>
            <a:ahLst/>
            <a:cxnLst/>
            <a:rect l="l" t="t" r="r" b="b"/>
            <a:pathLst>
              <a:path w="386080" h="501650">
                <a:moveTo>
                  <a:pt x="351348" y="440689"/>
                </a:moveTo>
                <a:lnTo>
                  <a:pt x="125603" y="440689"/>
                </a:lnTo>
                <a:lnTo>
                  <a:pt x="138412" y="456027"/>
                </a:lnTo>
                <a:lnTo>
                  <a:pt x="173862" y="486155"/>
                </a:lnTo>
                <a:lnTo>
                  <a:pt x="221243" y="500675"/>
                </a:lnTo>
                <a:lnTo>
                  <a:pt x="238506" y="501650"/>
                </a:lnTo>
                <a:lnTo>
                  <a:pt x="258699" y="500268"/>
                </a:lnTo>
                <a:lnTo>
                  <a:pt x="296227" y="489219"/>
                </a:lnTo>
                <a:lnTo>
                  <a:pt x="329588" y="467098"/>
                </a:lnTo>
                <a:lnTo>
                  <a:pt x="351348" y="440689"/>
                </a:lnTo>
                <a:close/>
              </a:path>
              <a:path w="386080" h="501650">
                <a:moveTo>
                  <a:pt x="135509" y="0"/>
                </a:moveTo>
                <a:lnTo>
                  <a:pt x="0" y="0"/>
                </a:lnTo>
                <a:lnTo>
                  <a:pt x="0" y="493522"/>
                </a:lnTo>
                <a:lnTo>
                  <a:pt x="125603" y="493522"/>
                </a:lnTo>
                <a:lnTo>
                  <a:pt x="125603" y="440689"/>
                </a:lnTo>
                <a:lnTo>
                  <a:pt x="351348" y="440689"/>
                </a:lnTo>
                <a:lnTo>
                  <a:pt x="356068" y="433760"/>
                </a:lnTo>
                <a:lnTo>
                  <a:pt x="366522" y="412876"/>
                </a:lnTo>
                <a:lnTo>
                  <a:pt x="370715" y="401319"/>
                </a:lnTo>
                <a:lnTo>
                  <a:pt x="194691" y="401319"/>
                </a:lnTo>
                <a:lnTo>
                  <a:pt x="182211" y="400012"/>
                </a:lnTo>
                <a:lnTo>
                  <a:pt x="144103" y="368589"/>
                </a:lnTo>
                <a:lnTo>
                  <a:pt x="134619" y="313689"/>
                </a:lnTo>
                <a:lnTo>
                  <a:pt x="135693" y="293993"/>
                </a:lnTo>
                <a:lnTo>
                  <a:pt x="151892" y="250951"/>
                </a:lnTo>
                <a:lnTo>
                  <a:pt x="196596" y="230250"/>
                </a:lnTo>
                <a:lnTo>
                  <a:pt x="374480" y="230250"/>
                </a:lnTo>
                <a:lnTo>
                  <a:pt x="362124" y="200880"/>
                </a:lnTo>
                <a:lnTo>
                  <a:pt x="343788" y="174878"/>
                </a:lnTo>
                <a:lnTo>
                  <a:pt x="339515" y="170941"/>
                </a:lnTo>
                <a:lnTo>
                  <a:pt x="135509" y="170941"/>
                </a:lnTo>
                <a:lnTo>
                  <a:pt x="135509" y="0"/>
                </a:lnTo>
                <a:close/>
              </a:path>
              <a:path w="386080" h="501650">
                <a:moveTo>
                  <a:pt x="374480" y="230250"/>
                </a:moveTo>
                <a:lnTo>
                  <a:pt x="196596" y="230250"/>
                </a:lnTo>
                <a:lnTo>
                  <a:pt x="207577" y="231489"/>
                </a:lnTo>
                <a:lnTo>
                  <a:pt x="217678" y="235203"/>
                </a:lnTo>
                <a:lnTo>
                  <a:pt x="247332" y="275574"/>
                </a:lnTo>
                <a:lnTo>
                  <a:pt x="251275" y="313689"/>
                </a:lnTo>
                <a:lnTo>
                  <a:pt x="250328" y="334706"/>
                </a:lnTo>
                <a:lnTo>
                  <a:pt x="235076" y="380873"/>
                </a:lnTo>
                <a:lnTo>
                  <a:pt x="194691" y="401319"/>
                </a:lnTo>
                <a:lnTo>
                  <a:pt x="370715" y="401319"/>
                </a:lnTo>
                <a:lnTo>
                  <a:pt x="374895" y="389800"/>
                </a:lnTo>
                <a:lnTo>
                  <a:pt x="380920" y="364775"/>
                </a:lnTo>
                <a:lnTo>
                  <a:pt x="384506" y="338081"/>
                </a:lnTo>
                <a:lnTo>
                  <a:pt x="385699" y="309625"/>
                </a:lnTo>
                <a:lnTo>
                  <a:pt x="383079" y="268265"/>
                </a:lnTo>
                <a:lnTo>
                  <a:pt x="375221" y="232013"/>
                </a:lnTo>
                <a:lnTo>
                  <a:pt x="374480" y="230250"/>
                </a:lnTo>
                <a:close/>
              </a:path>
              <a:path w="386080" h="501650">
                <a:moveTo>
                  <a:pt x="237871" y="127888"/>
                </a:moveTo>
                <a:lnTo>
                  <a:pt x="194401" y="133943"/>
                </a:lnTo>
                <a:lnTo>
                  <a:pt x="157035" y="152098"/>
                </a:lnTo>
                <a:lnTo>
                  <a:pt x="135509" y="170941"/>
                </a:lnTo>
                <a:lnTo>
                  <a:pt x="339515" y="170941"/>
                </a:lnTo>
                <a:lnTo>
                  <a:pt x="321452" y="154303"/>
                </a:lnTo>
                <a:lnTo>
                  <a:pt x="296354" y="139620"/>
                </a:lnTo>
                <a:lnTo>
                  <a:pt x="268493" y="130819"/>
                </a:lnTo>
                <a:lnTo>
                  <a:pt x="237871" y="127888"/>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253820" y="1433354"/>
            <a:ext cx="253820" cy="503198"/>
          </a:xfrm>
          <a:custGeom>
            <a:avLst/>
            <a:gdLst/>
            <a:ahLst/>
            <a:cxnLst/>
            <a:rect l="l" t="t" r="r" b="b"/>
            <a:pathLst>
              <a:path w="254000" h="503555">
                <a:moveTo>
                  <a:pt x="237734" y="109600"/>
                </a:moveTo>
                <a:lnTo>
                  <a:pt x="131673" y="109600"/>
                </a:lnTo>
                <a:lnTo>
                  <a:pt x="139160" y="110456"/>
                </a:lnTo>
                <a:lnTo>
                  <a:pt x="145427" y="113014"/>
                </a:lnTo>
                <a:lnTo>
                  <a:pt x="160341" y="155122"/>
                </a:lnTo>
                <a:lnTo>
                  <a:pt x="160743" y="170814"/>
                </a:lnTo>
                <a:lnTo>
                  <a:pt x="152959" y="177319"/>
                </a:lnTo>
                <a:lnTo>
                  <a:pt x="108359" y="204311"/>
                </a:lnTo>
                <a:lnTo>
                  <a:pt x="69164" y="222123"/>
                </a:lnTo>
                <a:lnTo>
                  <a:pt x="50883" y="231838"/>
                </a:lnTo>
                <a:lnTo>
                  <a:pt x="14744" y="274700"/>
                </a:lnTo>
                <a:lnTo>
                  <a:pt x="3686" y="314880"/>
                </a:lnTo>
                <a:lnTo>
                  <a:pt x="0" y="364871"/>
                </a:lnTo>
                <a:lnTo>
                  <a:pt x="1278" y="392947"/>
                </a:lnTo>
                <a:lnTo>
                  <a:pt x="11508" y="442148"/>
                </a:lnTo>
                <a:lnTo>
                  <a:pt x="31875" y="480724"/>
                </a:lnTo>
                <a:lnTo>
                  <a:pt x="80378" y="503174"/>
                </a:lnTo>
                <a:lnTo>
                  <a:pt x="94772" y="501933"/>
                </a:lnTo>
                <a:lnTo>
                  <a:pt x="132499" y="483235"/>
                </a:lnTo>
                <a:lnTo>
                  <a:pt x="157232" y="449516"/>
                </a:lnTo>
                <a:lnTo>
                  <a:pt x="165531" y="433324"/>
                </a:lnTo>
                <a:lnTo>
                  <a:pt x="244579" y="433324"/>
                </a:lnTo>
                <a:lnTo>
                  <a:pt x="244517" y="432556"/>
                </a:lnTo>
                <a:lnTo>
                  <a:pt x="243901" y="420163"/>
                </a:lnTo>
                <a:lnTo>
                  <a:pt x="243531" y="405937"/>
                </a:lnTo>
                <a:lnTo>
                  <a:pt x="243491" y="400685"/>
                </a:lnTo>
                <a:lnTo>
                  <a:pt x="103149" y="400685"/>
                </a:lnTo>
                <a:lnTo>
                  <a:pt x="85169" y="361660"/>
                </a:lnTo>
                <a:lnTo>
                  <a:pt x="84734" y="351281"/>
                </a:lnTo>
                <a:lnTo>
                  <a:pt x="85175" y="342016"/>
                </a:lnTo>
                <a:lnTo>
                  <a:pt x="103378" y="302656"/>
                </a:lnTo>
                <a:lnTo>
                  <a:pt x="133767" y="282424"/>
                </a:lnTo>
                <a:lnTo>
                  <a:pt x="142943" y="276637"/>
                </a:lnTo>
                <a:lnTo>
                  <a:pt x="151935" y="270422"/>
                </a:lnTo>
                <a:lnTo>
                  <a:pt x="160743" y="263778"/>
                </a:lnTo>
                <a:lnTo>
                  <a:pt x="243408" y="263778"/>
                </a:lnTo>
                <a:lnTo>
                  <a:pt x="243408" y="177164"/>
                </a:lnTo>
                <a:lnTo>
                  <a:pt x="243017" y="159976"/>
                </a:lnTo>
                <a:lnTo>
                  <a:pt x="241847" y="142335"/>
                </a:lnTo>
                <a:lnTo>
                  <a:pt x="239890" y="124205"/>
                </a:lnTo>
                <a:lnTo>
                  <a:pt x="237734" y="109600"/>
                </a:lnTo>
                <a:close/>
              </a:path>
              <a:path w="254000" h="503555">
                <a:moveTo>
                  <a:pt x="244579" y="433324"/>
                </a:moveTo>
                <a:lnTo>
                  <a:pt x="165531" y="433324"/>
                </a:lnTo>
                <a:lnTo>
                  <a:pt x="166256" y="443102"/>
                </a:lnTo>
                <a:lnTo>
                  <a:pt x="172481" y="483540"/>
                </a:lnTo>
                <a:lnTo>
                  <a:pt x="174663" y="492251"/>
                </a:lnTo>
                <a:lnTo>
                  <a:pt x="254000" y="492251"/>
                </a:lnTo>
                <a:lnTo>
                  <a:pt x="250968" y="477964"/>
                </a:lnTo>
                <a:lnTo>
                  <a:pt x="248521" y="465010"/>
                </a:lnTo>
                <a:lnTo>
                  <a:pt x="246658" y="453389"/>
                </a:lnTo>
                <a:lnTo>
                  <a:pt x="245376" y="443102"/>
                </a:lnTo>
                <a:lnTo>
                  <a:pt x="244579" y="433324"/>
                </a:lnTo>
                <a:close/>
              </a:path>
              <a:path w="254000" h="503555">
                <a:moveTo>
                  <a:pt x="243408" y="263778"/>
                </a:moveTo>
                <a:lnTo>
                  <a:pt x="160743" y="263778"/>
                </a:lnTo>
                <a:lnTo>
                  <a:pt x="160704" y="295261"/>
                </a:lnTo>
                <a:lnTo>
                  <a:pt x="160426" y="309673"/>
                </a:lnTo>
                <a:lnTo>
                  <a:pt x="155663" y="349250"/>
                </a:lnTo>
                <a:lnTo>
                  <a:pt x="138417" y="385699"/>
                </a:lnTo>
                <a:lnTo>
                  <a:pt x="112153" y="400685"/>
                </a:lnTo>
                <a:lnTo>
                  <a:pt x="243491" y="400685"/>
                </a:lnTo>
                <a:lnTo>
                  <a:pt x="243408" y="263778"/>
                </a:lnTo>
                <a:close/>
              </a:path>
              <a:path w="254000" h="503555">
                <a:moveTo>
                  <a:pt x="120662" y="0"/>
                </a:moveTo>
                <a:lnTo>
                  <a:pt x="76631" y="7619"/>
                </a:lnTo>
                <a:lnTo>
                  <a:pt x="44653" y="29463"/>
                </a:lnTo>
                <a:lnTo>
                  <a:pt x="24618" y="62628"/>
                </a:lnTo>
                <a:lnTo>
                  <a:pt x="12225" y="106870"/>
                </a:lnTo>
                <a:lnTo>
                  <a:pt x="6642" y="148209"/>
                </a:lnTo>
                <a:lnTo>
                  <a:pt x="87439" y="166750"/>
                </a:lnTo>
                <a:lnTo>
                  <a:pt x="90122" y="152370"/>
                </a:lnTo>
                <a:lnTo>
                  <a:pt x="93198" y="140477"/>
                </a:lnTo>
                <a:lnTo>
                  <a:pt x="121939" y="110507"/>
                </a:lnTo>
                <a:lnTo>
                  <a:pt x="131673" y="109600"/>
                </a:lnTo>
                <a:lnTo>
                  <a:pt x="237734" y="109600"/>
                </a:lnTo>
                <a:lnTo>
                  <a:pt x="237172" y="105790"/>
                </a:lnTo>
                <a:lnTo>
                  <a:pt x="225256" y="59267"/>
                </a:lnTo>
                <a:lnTo>
                  <a:pt x="202857" y="23542"/>
                </a:lnTo>
                <a:lnTo>
                  <a:pt x="169263" y="5197"/>
                </a:lnTo>
                <a:lnTo>
                  <a:pt x="138731" y="573"/>
                </a:lnTo>
                <a:lnTo>
                  <a:pt x="120662"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txBox="1"/>
          <p:nvPr/>
        </p:nvSpPr>
        <p:spPr>
          <a:xfrm>
            <a:off x="618712" y="1535644"/>
            <a:ext cx="84204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客户分类</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4" name="object 24"/>
          <p:cNvSpPr txBox="1"/>
          <p:nvPr/>
        </p:nvSpPr>
        <p:spPr>
          <a:xfrm>
            <a:off x="2982893" y="1535644"/>
            <a:ext cx="1045739"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大客户分析</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5" name="object 25"/>
          <p:cNvSpPr/>
          <p:nvPr/>
        </p:nvSpPr>
        <p:spPr>
          <a:xfrm>
            <a:off x="2995584" y="1980591"/>
            <a:ext cx="1057161" cy="639627"/>
          </a:xfrm>
          <a:custGeom>
            <a:avLst/>
            <a:gdLst/>
            <a:ahLst/>
            <a:cxnLst/>
            <a:rect l="l" t="t" r="r" b="b"/>
            <a:pathLst>
              <a:path w="1057910" h="640080">
                <a:moveTo>
                  <a:pt x="0" y="640079"/>
                </a:moveTo>
                <a:lnTo>
                  <a:pt x="1057656" y="640079"/>
                </a:lnTo>
                <a:lnTo>
                  <a:pt x="1057656" y="0"/>
                </a:lnTo>
                <a:lnTo>
                  <a:pt x="0" y="0"/>
                </a:lnTo>
                <a:lnTo>
                  <a:pt x="0" y="64007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6" name="object 26"/>
          <p:cNvSpPr txBox="1"/>
          <p:nvPr/>
        </p:nvSpPr>
        <p:spPr>
          <a:xfrm>
            <a:off x="2995584" y="1980591"/>
            <a:ext cx="1057161" cy="416560"/>
          </a:xfrm>
          <a:prstGeom prst="rect">
            <a:avLst/>
          </a:prstGeom>
          <a:ln w="9525">
            <a:solidFill>
              <a:srgbClr val="91AFFF"/>
            </a:solidFill>
          </a:ln>
        </p:spPr>
        <p:txBody>
          <a:bodyPr vert="horz" wrap="square" lIns="0" tIns="201786" rIns="0" bIns="0" rtlCol="0">
            <a:spAutoFit/>
          </a:bodyPr>
          <a:lstStyle/>
          <a:p>
            <a:pPr marL="71755">
              <a:lnSpc>
                <a:spcPct val="100000"/>
              </a:lnSpc>
              <a:spcBef>
                <a:spcPts val="1590"/>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客户背景</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7" name="object 27"/>
          <p:cNvSpPr/>
          <p:nvPr/>
        </p:nvSpPr>
        <p:spPr>
          <a:xfrm>
            <a:off x="2995584" y="2720730"/>
            <a:ext cx="1057161" cy="517792"/>
          </a:xfrm>
          <a:custGeom>
            <a:avLst/>
            <a:gdLst/>
            <a:ahLst/>
            <a:cxnLst/>
            <a:rect l="l" t="t" r="r" b="b"/>
            <a:pathLst>
              <a:path w="1057910" h="518160">
                <a:moveTo>
                  <a:pt x="0" y="518160"/>
                </a:moveTo>
                <a:lnTo>
                  <a:pt x="1057656" y="518160"/>
                </a:lnTo>
                <a:lnTo>
                  <a:pt x="1057656"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txBox="1"/>
          <p:nvPr/>
        </p:nvSpPr>
        <p:spPr>
          <a:xfrm>
            <a:off x="2995584" y="2720730"/>
            <a:ext cx="1057161" cy="464820"/>
          </a:xfrm>
          <a:prstGeom prst="rect">
            <a:avLst/>
          </a:prstGeom>
          <a:ln w="9525">
            <a:solidFill>
              <a:srgbClr val="91AFFF"/>
            </a:solidFill>
          </a:ln>
        </p:spPr>
        <p:txBody>
          <a:bodyPr vert="horz" wrap="square" lIns="0" tIns="34900" rIns="0" bIns="0" rtlCol="0">
            <a:spAutoFit/>
          </a:bodyPr>
          <a:lstStyle/>
          <a:p>
            <a:pPr marL="71755">
              <a:lnSpc>
                <a:spcPct val="100000"/>
              </a:lnSpc>
              <a:spcBef>
                <a:spcPts val="275"/>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客户经济</a:t>
            </a:r>
            <a:endParaRPr sz="1400">
              <a:latin typeface="微软雅黑" panose="020B0503020204020204" charset="-122"/>
              <a:ea typeface="微软雅黑" panose="020B0503020204020204" charset="-122"/>
              <a:cs typeface="微软雅黑" panose="020B0503020204020204" charset="-122"/>
            </a:endParaRPr>
          </a:p>
          <a:p>
            <a:pPr marL="71755">
              <a:lnSpc>
                <a:spcPct val="100000"/>
              </a:lnSpc>
            </a:pPr>
            <a:r>
              <a:rPr sz="1400" dirty="0">
                <a:solidFill>
                  <a:srgbClr val="0066CC"/>
                </a:solidFill>
                <a:latin typeface="微软雅黑" panose="020B0503020204020204" charset="-122"/>
                <a:ea typeface="微软雅黑" panose="020B0503020204020204" charset="-122"/>
                <a:cs typeface="微软雅黑" panose="020B0503020204020204" charset="-122"/>
              </a:rPr>
              <a:t>指标</a:t>
            </a:r>
            <a:endParaRPr sz="1400">
              <a:latin typeface="微软雅黑" panose="020B0503020204020204" charset="-122"/>
              <a:ea typeface="微软雅黑" panose="020B0503020204020204" charset="-122"/>
              <a:cs typeface="微软雅黑" panose="020B0503020204020204" charset="-122"/>
            </a:endParaRPr>
          </a:p>
        </p:txBody>
      </p:sp>
      <p:sp>
        <p:nvSpPr>
          <p:cNvPr id="29" name="object 29"/>
          <p:cNvSpPr/>
          <p:nvPr/>
        </p:nvSpPr>
        <p:spPr>
          <a:xfrm>
            <a:off x="2995584" y="3340559"/>
            <a:ext cx="1057161" cy="516524"/>
          </a:xfrm>
          <a:custGeom>
            <a:avLst/>
            <a:gdLst/>
            <a:ahLst/>
            <a:cxnLst/>
            <a:rect l="l" t="t" r="r" b="b"/>
            <a:pathLst>
              <a:path w="1057910" h="516889">
                <a:moveTo>
                  <a:pt x="0" y="516636"/>
                </a:moveTo>
                <a:lnTo>
                  <a:pt x="1057656" y="516636"/>
                </a:lnTo>
                <a:lnTo>
                  <a:pt x="1057656" y="0"/>
                </a:lnTo>
                <a:lnTo>
                  <a:pt x="0" y="0"/>
                </a:lnTo>
                <a:lnTo>
                  <a:pt x="0" y="51663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0" name="object 30"/>
          <p:cNvSpPr txBox="1"/>
          <p:nvPr/>
        </p:nvSpPr>
        <p:spPr>
          <a:xfrm>
            <a:off x="2995584" y="3340559"/>
            <a:ext cx="1057161" cy="464820"/>
          </a:xfrm>
          <a:prstGeom prst="rect">
            <a:avLst/>
          </a:prstGeom>
          <a:ln w="9525">
            <a:solidFill>
              <a:srgbClr val="91AFFF"/>
            </a:solidFill>
          </a:ln>
        </p:spPr>
        <p:txBody>
          <a:bodyPr vert="horz" wrap="square" lIns="0" tIns="31091" rIns="0" bIns="0" rtlCol="0">
            <a:spAutoFit/>
          </a:bodyPr>
          <a:lstStyle/>
          <a:p>
            <a:pPr marL="71755" marR="86360">
              <a:lnSpc>
                <a:spcPct val="101000"/>
              </a:lnSpc>
              <a:spcBef>
                <a:spcPts val="245"/>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客户关系与 决策流程</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1" name="object 31"/>
          <p:cNvSpPr/>
          <p:nvPr/>
        </p:nvSpPr>
        <p:spPr>
          <a:xfrm>
            <a:off x="2995584" y="3958865"/>
            <a:ext cx="1057161" cy="517792"/>
          </a:xfrm>
          <a:custGeom>
            <a:avLst/>
            <a:gdLst/>
            <a:ahLst/>
            <a:cxnLst/>
            <a:rect l="l" t="t" r="r" b="b"/>
            <a:pathLst>
              <a:path w="1057910" h="518160">
                <a:moveTo>
                  <a:pt x="0" y="518159"/>
                </a:moveTo>
                <a:lnTo>
                  <a:pt x="1057656" y="518159"/>
                </a:lnTo>
                <a:lnTo>
                  <a:pt x="1057656" y="0"/>
                </a:lnTo>
                <a:lnTo>
                  <a:pt x="0" y="0"/>
                </a:lnTo>
                <a:lnTo>
                  <a:pt x="0" y="51815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2" name="object 32"/>
          <p:cNvSpPr txBox="1"/>
          <p:nvPr/>
        </p:nvSpPr>
        <p:spPr>
          <a:xfrm>
            <a:off x="2995584" y="3958865"/>
            <a:ext cx="1057161" cy="355600"/>
          </a:xfrm>
          <a:prstGeom prst="rect">
            <a:avLst/>
          </a:prstGeom>
          <a:ln w="9525">
            <a:solidFill>
              <a:srgbClr val="91AFFF"/>
            </a:solidFill>
          </a:ln>
        </p:spPr>
        <p:txBody>
          <a:bodyPr vert="horz" wrap="square" lIns="0" tIns="140870" rIns="0" bIns="0" rtlCol="0">
            <a:spAutoFit/>
          </a:bodyPr>
          <a:lstStyle/>
          <a:p>
            <a:pPr marL="71755">
              <a:lnSpc>
                <a:spcPct val="100000"/>
              </a:lnSpc>
              <a:spcBef>
                <a:spcPts val="1110"/>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客户需求</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3" name="object 33"/>
          <p:cNvSpPr/>
          <p:nvPr/>
        </p:nvSpPr>
        <p:spPr>
          <a:xfrm>
            <a:off x="2995584" y="4577170"/>
            <a:ext cx="1057161" cy="517792"/>
          </a:xfrm>
          <a:custGeom>
            <a:avLst/>
            <a:gdLst/>
            <a:ahLst/>
            <a:cxnLst/>
            <a:rect l="l" t="t" r="r" b="b"/>
            <a:pathLst>
              <a:path w="1057910" h="518160">
                <a:moveTo>
                  <a:pt x="0" y="518160"/>
                </a:moveTo>
                <a:lnTo>
                  <a:pt x="1057656" y="518160"/>
                </a:lnTo>
                <a:lnTo>
                  <a:pt x="1057656"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4" name="object 34"/>
          <p:cNvSpPr txBox="1"/>
          <p:nvPr/>
        </p:nvSpPr>
        <p:spPr>
          <a:xfrm>
            <a:off x="2995584" y="4577170"/>
            <a:ext cx="1057161" cy="356235"/>
          </a:xfrm>
          <a:prstGeom prst="rect">
            <a:avLst/>
          </a:prstGeom>
          <a:ln w="9525">
            <a:solidFill>
              <a:srgbClr val="91AFFF"/>
            </a:solidFill>
          </a:ln>
        </p:spPr>
        <p:txBody>
          <a:bodyPr vert="horz" wrap="square" lIns="0" tIns="141504" rIns="0" bIns="0" rtlCol="0">
            <a:spAutoFit/>
          </a:bodyPr>
          <a:lstStyle/>
          <a:p>
            <a:pPr marL="71755">
              <a:lnSpc>
                <a:spcPct val="100000"/>
              </a:lnSpc>
              <a:spcBef>
                <a:spcPts val="1115"/>
              </a:spcBef>
            </a:pPr>
            <a:r>
              <a:rPr sz="1400" dirty="0">
                <a:solidFill>
                  <a:srgbClr val="0066CC"/>
                </a:solidFill>
                <a:latin typeface="微软雅黑" panose="020B0503020204020204" charset="-122"/>
                <a:ea typeface="微软雅黑" panose="020B0503020204020204" charset="-122"/>
                <a:cs typeface="微软雅黑" panose="020B0503020204020204" charset="-122"/>
              </a:rPr>
              <a:t>风险分析</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5" name="object 35"/>
          <p:cNvSpPr/>
          <p:nvPr/>
        </p:nvSpPr>
        <p:spPr>
          <a:xfrm>
            <a:off x="5450533" y="3897948"/>
            <a:ext cx="2614982" cy="335043"/>
          </a:xfrm>
          <a:custGeom>
            <a:avLst/>
            <a:gdLst/>
            <a:ahLst/>
            <a:cxnLst/>
            <a:rect l="l" t="t" r="r" b="b"/>
            <a:pathLst>
              <a:path w="2616834" h="335279">
                <a:moveTo>
                  <a:pt x="0" y="335280"/>
                </a:moveTo>
                <a:lnTo>
                  <a:pt x="2616707" y="335280"/>
                </a:lnTo>
                <a:lnTo>
                  <a:pt x="2616707" y="0"/>
                </a:lnTo>
                <a:lnTo>
                  <a:pt x="0" y="0"/>
                </a:lnTo>
                <a:lnTo>
                  <a:pt x="0" y="33528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6" name="object 36"/>
          <p:cNvSpPr txBox="1"/>
          <p:nvPr/>
        </p:nvSpPr>
        <p:spPr>
          <a:xfrm>
            <a:off x="5450533" y="3897948"/>
            <a:ext cx="2614982" cy="264795"/>
          </a:xfrm>
          <a:prstGeom prst="rect">
            <a:avLst/>
          </a:prstGeom>
          <a:ln w="9525">
            <a:solidFill>
              <a:srgbClr val="91AFFF"/>
            </a:solidFill>
          </a:ln>
        </p:spPr>
        <p:txBody>
          <a:bodyPr vert="horz" wrap="square" lIns="0" tIns="50129" rIns="0" bIns="0" rtlCol="0">
            <a:spAutoFit/>
          </a:bodyPr>
          <a:lstStyle/>
          <a:p>
            <a:pPr marL="73025">
              <a:lnSpc>
                <a:spcPct val="100000"/>
              </a:lnSpc>
              <a:spcBef>
                <a:spcPts val="395"/>
              </a:spcBef>
            </a:pPr>
            <a:r>
              <a:rPr sz="1400" dirty="0">
                <a:solidFill>
                  <a:srgbClr val="0066CC"/>
                </a:solidFill>
                <a:latin typeface="微软雅黑" panose="020B0503020204020204" charset="-122"/>
                <a:ea typeface="微软雅黑" panose="020B0503020204020204" charset="-122"/>
                <a:cs typeface="微软雅黑" panose="020B0503020204020204" charset="-122"/>
              </a:rPr>
              <a:t>大客户管理的组织架构</a:t>
            </a:r>
            <a:r>
              <a:rPr sz="1400" spc="-15" dirty="0">
                <a:solidFill>
                  <a:srgbClr val="0066CC"/>
                </a:solidFill>
                <a:latin typeface="微软雅黑" panose="020B0503020204020204" charset="-122"/>
                <a:ea typeface="微软雅黑" panose="020B0503020204020204" charset="-122"/>
                <a:cs typeface="微软雅黑" panose="020B0503020204020204" charset="-122"/>
              </a:rPr>
              <a:t>设</a:t>
            </a:r>
            <a:r>
              <a:rPr sz="1400" spc="5" dirty="0">
                <a:solidFill>
                  <a:srgbClr val="0066CC"/>
                </a:solidFill>
                <a:latin typeface="微软雅黑" panose="020B0503020204020204" charset="-122"/>
                <a:ea typeface="微软雅黑" panose="020B0503020204020204" charset="-122"/>
                <a:cs typeface="微软雅黑" panose="020B0503020204020204" charset="-122"/>
              </a:rPr>
              <a:t>计</a:t>
            </a:r>
            <a:endParaRPr sz="1400">
              <a:latin typeface="微软雅黑" panose="020B0503020204020204" charset="-122"/>
              <a:ea typeface="微软雅黑" panose="020B0503020204020204" charset="-122"/>
              <a:cs typeface="微软雅黑" panose="020B0503020204020204" charset="-122"/>
            </a:endParaRPr>
          </a:p>
        </p:txBody>
      </p:sp>
      <p:sp>
        <p:nvSpPr>
          <p:cNvPr id="37" name="object 37"/>
          <p:cNvSpPr/>
          <p:nvPr/>
        </p:nvSpPr>
        <p:spPr>
          <a:xfrm>
            <a:off x="4976905" y="1980591"/>
            <a:ext cx="1154882" cy="517792"/>
          </a:xfrm>
          <a:custGeom>
            <a:avLst/>
            <a:gdLst/>
            <a:ahLst/>
            <a:cxnLst/>
            <a:rect l="l" t="t" r="r" b="b"/>
            <a:pathLst>
              <a:path w="1155700" h="518160">
                <a:moveTo>
                  <a:pt x="0" y="518160"/>
                </a:moveTo>
                <a:lnTo>
                  <a:pt x="1155191" y="518160"/>
                </a:lnTo>
                <a:lnTo>
                  <a:pt x="1155191"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8" name="object 38"/>
          <p:cNvSpPr txBox="1"/>
          <p:nvPr/>
        </p:nvSpPr>
        <p:spPr>
          <a:xfrm>
            <a:off x="4976905" y="1980591"/>
            <a:ext cx="1154882" cy="336550"/>
          </a:xfrm>
          <a:prstGeom prst="rect">
            <a:avLst/>
          </a:prstGeom>
          <a:ln w="9525">
            <a:solidFill>
              <a:srgbClr val="91AFFF"/>
            </a:solidFill>
          </a:ln>
        </p:spPr>
        <p:txBody>
          <a:bodyPr vert="horz" wrap="square" lIns="0" tIns="121833" rIns="0" bIns="0" rtlCol="0">
            <a:spAutoFit/>
          </a:bodyPr>
          <a:lstStyle/>
          <a:p>
            <a:pPr marL="72390">
              <a:lnSpc>
                <a:spcPct val="100000"/>
              </a:lnSpc>
              <a:spcBef>
                <a:spcPts val="960"/>
              </a:spcBef>
            </a:pPr>
            <a:r>
              <a:rPr sz="1400" dirty="0">
                <a:solidFill>
                  <a:srgbClr val="0066CC"/>
                </a:solidFill>
                <a:latin typeface="微软雅黑" panose="020B0503020204020204" charset="-122"/>
                <a:ea typeface="微软雅黑" panose="020B0503020204020204" charset="-122"/>
                <a:cs typeface="微软雅黑" panose="020B0503020204020204" charset="-122"/>
              </a:rPr>
              <a:t>战略规划</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9" name="object 39"/>
          <p:cNvSpPr/>
          <p:nvPr/>
        </p:nvSpPr>
        <p:spPr>
          <a:xfrm>
            <a:off x="4976905" y="2560823"/>
            <a:ext cx="1154882" cy="517792"/>
          </a:xfrm>
          <a:custGeom>
            <a:avLst/>
            <a:gdLst/>
            <a:ahLst/>
            <a:cxnLst/>
            <a:rect l="l" t="t" r="r" b="b"/>
            <a:pathLst>
              <a:path w="1155700" h="518160">
                <a:moveTo>
                  <a:pt x="0" y="518160"/>
                </a:moveTo>
                <a:lnTo>
                  <a:pt x="1155191" y="518160"/>
                </a:lnTo>
                <a:lnTo>
                  <a:pt x="1155191"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0" name="object 40"/>
          <p:cNvSpPr txBox="1"/>
          <p:nvPr/>
        </p:nvSpPr>
        <p:spPr>
          <a:xfrm>
            <a:off x="4976905" y="2560823"/>
            <a:ext cx="1154882" cy="336550"/>
          </a:xfrm>
          <a:prstGeom prst="rect">
            <a:avLst/>
          </a:prstGeom>
          <a:ln w="9525">
            <a:solidFill>
              <a:srgbClr val="91AFFF"/>
            </a:solidFill>
          </a:ln>
        </p:spPr>
        <p:txBody>
          <a:bodyPr vert="horz" wrap="square" lIns="0" tIns="121833" rIns="0" bIns="0" rtlCol="0">
            <a:spAutoFit/>
          </a:bodyPr>
          <a:lstStyle/>
          <a:p>
            <a:pPr marL="72390">
              <a:lnSpc>
                <a:spcPct val="100000"/>
              </a:lnSpc>
              <a:spcBef>
                <a:spcPts val="960"/>
              </a:spcBef>
            </a:pPr>
            <a:r>
              <a:rPr sz="1400" dirty="0">
                <a:solidFill>
                  <a:srgbClr val="0066CC"/>
                </a:solidFill>
                <a:latin typeface="微软雅黑" panose="020B0503020204020204" charset="-122"/>
                <a:ea typeface="微软雅黑" panose="020B0503020204020204" charset="-122"/>
                <a:cs typeface="微软雅黑" panose="020B0503020204020204" charset="-122"/>
              </a:rPr>
              <a:t>行动计划</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1" name="object 41"/>
          <p:cNvSpPr/>
          <p:nvPr/>
        </p:nvSpPr>
        <p:spPr>
          <a:xfrm>
            <a:off x="632011" y="1980591"/>
            <a:ext cx="1488020" cy="517792"/>
          </a:xfrm>
          <a:custGeom>
            <a:avLst/>
            <a:gdLst/>
            <a:ahLst/>
            <a:cxnLst/>
            <a:rect l="l" t="t" r="r" b="b"/>
            <a:pathLst>
              <a:path w="1489075" h="518160">
                <a:moveTo>
                  <a:pt x="0" y="518160"/>
                </a:moveTo>
                <a:lnTo>
                  <a:pt x="1488948" y="518160"/>
                </a:lnTo>
                <a:lnTo>
                  <a:pt x="1488948"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2" name="object 42"/>
          <p:cNvSpPr txBox="1"/>
          <p:nvPr/>
        </p:nvSpPr>
        <p:spPr>
          <a:xfrm>
            <a:off x="632011" y="1980591"/>
            <a:ext cx="1488020" cy="464185"/>
          </a:xfrm>
          <a:prstGeom prst="rect">
            <a:avLst/>
          </a:prstGeom>
          <a:ln w="9525">
            <a:solidFill>
              <a:srgbClr val="91AFFF"/>
            </a:solidFill>
          </a:ln>
        </p:spPr>
        <p:txBody>
          <a:bodyPr vert="horz" wrap="square" lIns="0" tIns="34265" rIns="0" bIns="0" rtlCol="0">
            <a:spAutoFit/>
          </a:bodyPr>
          <a:lstStyle/>
          <a:p>
            <a:pPr marL="71120" marR="518795">
              <a:lnSpc>
                <a:spcPct val="100000"/>
              </a:lnSpc>
              <a:spcBef>
                <a:spcPts val="270"/>
              </a:spcBef>
            </a:pPr>
            <a:r>
              <a:rPr sz="1400" dirty="0">
                <a:solidFill>
                  <a:srgbClr val="0066CC"/>
                </a:solidFill>
                <a:latin typeface="微软雅黑" panose="020B0503020204020204" charset="-122"/>
                <a:ea typeface="微软雅黑" panose="020B0503020204020204" charset="-122"/>
                <a:cs typeface="微软雅黑" panose="020B0503020204020204" charset="-122"/>
              </a:rPr>
              <a:t>识别并审核 大客户</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3" name="object 43"/>
          <p:cNvSpPr txBox="1"/>
          <p:nvPr/>
        </p:nvSpPr>
        <p:spPr>
          <a:xfrm>
            <a:off x="106401" y="6412696"/>
            <a:ext cx="2191102"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35"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a:t>
            </a:r>
            <a:r>
              <a:rPr sz="1000" spc="-35"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营销和销售业务部</a:t>
            </a:r>
            <a:endParaRPr sz="1000">
              <a:latin typeface="微软雅黑" panose="020B0503020204020204" charset="-122"/>
              <a:ea typeface="微软雅黑" panose="020B0503020204020204" charset="-122"/>
              <a:cs typeface="微软雅黑" panose="020B0503020204020204" charset="-122"/>
            </a:endParaRPr>
          </a:p>
        </p:txBody>
      </p:sp>
      <p:sp>
        <p:nvSpPr>
          <p:cNvPr id="44" name="object 44"/>
          <p:cNvSpPr/>
          <p:nvPr/>
        </p:nvSpPr>
        <p:spPr>
          <a:xfrm>
            <a:off x="6944518" y="1980591"/>
            <a:ext cx="1156151" cy="306488"/>
          </a:xfrm>
          <a:custGeom>
            <a:avLst/>
            <a:gdLst/>
            <a:ahLst/>
            <a:cxnLst/>
            <a:rect l="l" t="t" r="r" b="b"/>
            <a:pathLst>
              <a:path w="1156970" h="306705">
                <a:moveTo>
                  <a:pt x="0" y="306324"/>
                </a:moveTo>
                <a:lnTo>
                  <a:pt x="1156716" y="306324"/>
                </a:lnTo>
                <a:lnTo>
                  <a:pt x="1156716" y="0"/>
                </a:lnTo>
                <a:lnTo>
                  <a:pt x="0" y="0"/>
                </a:lnTo>
                <a:lnTo>
                  <a:pt x="0" y="306324"/>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5" name="object 45"/>
          <p:cNvSpPr txBox="1"/>
          <p:nvPr/>
        </p:nvSpPr>
        <p:spPr>
          <a:xfrm>
            <a:off x="6944518" y="1980591"/>
            <a:ext cx="1156151" cy="230505"/>
          </a:xfrm>
          <a:prstGeom prst="rect">
            <a:avLst/>
          </a:prstGeom>
          <a:ln w="9525">
            <a:solidFill>
              <a:srgbClr val="0066CC"/>
            </a:solidFill>
          </a:ln>
        </p:spPr>
        <p:txBody>
          <a:bodyPr vert="horz" wrap="square" lIns="0" tIns="15863" rIns="0" bIns="0" rtlCol="0">
            <a:spAutoFit/>
          </a:bodyPr>
          <a:lstStyle/>
          <a:p>
            <a:pPr marL="73660">
              <a:lnSpc>
                <a:spcPct val="100000"/>
              </a:lnSpc>
              <a:spcBef>
                <a:spcPts val="125"/>
              </a:spcBef>
            </a:pPr>
            <a:r>
              <a:rPr sz="1400" dirty="0">
                <a:solidFill>
                  <a:srgbClr val="0066CC"/>
                </a:solidFill>
                <a:latin typeface="微软雅黑" panose="020B0503020204020204" charset="-122"/>
                <a:ea typeface="微软雅黑" panose="020B0503020204020204" charset="-122"/>
                <a:cs typeface="微软雅黑" panose="020B0503020204020204" charset="-122"/>
              </a:rPr>
              <a:t>价值销售</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6" name="object 46"/>
          <p:cNvSpPr/>
          <p:nvPr/>
        </p:nvSpPr>
        <p:spPr>
          <a:xfrm>
            <a:off x="6944518" y="2375027"/>
            <a:ext cx="1156151" cy="306488"/>
          </a:xfrm>
          <a:custGeom>
            <a:avLst/>
            <a:gdLst/>
            <a:ahLst/>
            <a:cxnLst/>
            <a:rect l="l" t="t" r="r" b="b"/>
            <a:pathLst>
              <a:path w="1156970" h="306705">
                <a:moveTo>
                  <a:pt x="0" y="306324"/>
                </a:moveTo>
                <a:lnTo>
                  <a:pt x="1156716" y="306324"/>
                </a:lnTo>
                <a:lnTo>
                  <a:pt x="1156716" y="0"/>
                </a:lnTo>
                <a:lnTo>
                  <a:pt x="0" y="0"/>
                </a:lnTo>
                <a:lnTo>
                  <a:pt x="0" y="306324"/>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7" name="object 47"/>
          <p:cNvSpPr txBox="1"/>
          <p:nvPr/>
        </p:nvSpPr>
        <p:spPr>
          <a:xfrm>
            <a:off x="6944518" y="2375027"/>
            <a:ext cx="1156151" cy="231775"/>
          </a:xfrm>
          <a:prstGeom prst="rect">
            <a:avLst/>
          </a:prstGeom>
          <a:ln w="9525">
            <a:solidFill>
              <a:srgbClr val="0066CC"/>
            </a:solidFill>
          </a:ln>
        </p:spPr>
        <p:txBody>
          <a:bodyPr vert="horz" wrap="square" lIns="0" tIns="17132" rIns="0" bIns="0" rtlCol="0">
            <a:spAutoFit/>
          </a:bodyPr>
          <a:lstStyle/>
          <a:p>
            <a:pPr marL="73660">
              <a:lnSpc>
                <a:spcPct val="100000"/>
              </a:lnSpc>
              <a:spcBef>
                <a:spcPts val="135"/>
              </a:spcBef>
            </a:pPr>
            <a:r>
              <a:rPr sz="1400" dirty="0">
                <a:solidFill>
                  <a:srgbClr val="0066CC"/>
                </a:solidFill>
                <a:latin typeface="微软雅黑" panose="020B0503020204020204" charset="-122"/>
                <a:ea typeface="微软雅黑" panose="020B0503020204020204" charset="-122"/>
                <a:cs typeface="微软雅黑" panose="020B0503020204020204" charset="-122"/>
              </a:rPr>
              <a:t>谈判</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8" name="object 48"/>
          <p:cNvSpPr/>
          <p:nvPr/>
        </p:nvSpPr>
        <p:spPr>
          <a:xfrm>
            <a:off x="6944518" y="2772509"/>
            <a:ext cx="1156151" cy="306488"/>
          </a:xfrm>
          <a:custGeom>
            <a:avLst/>
            <a:gdLst/>
            <a:ahLst/>
            <a:cxnLst/>
            <a:rect l="l" t="t" r="r" b="b"/>
            <a:pathLst>
              <a:path w="1156970" h="306705">
                <a:moveTo>
                  <a:pt x="0" y="306324"/>
                </a:moveTo>
                <a:lnTo>
                  <a:pt x="1156716" y="306324"/>
                </a:lnTo>
                <a:lnTo>
                  <a:pt x="1156716" y="0"/>
                </a:lnTo>
                <a:lnTo>
                  <a:pt x="0" y="0"/>
                </a:lnTo>
                <a:lnTo>
                  <a:pt x="0" y="306324"/>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9" name="object 49"/>
          <p:cNvSpPr txBox="1"/>
          <p:nvPr/>
        </p:nvSpPr>
        <p:spPr>
          <a:xfrm>
            <a:off x="6944518" y="2772509"/>
            <a:ext cx="1156151" cy="230505"/>
          </a:xfrm>
          <a:prstGeom prst="rect">
            <a:avLst/>
          </a:prstGeom>
          <a:ln w="9525">
            <a:solidFill>
              <a:srgbClr val="0066CC"/>
            </a:solidFill>
          </a:ln>
        </p:spPr>
        <p:txBody>
          <a:bodyPr vert="horz" wrap="square" lIns="0" tIns="15863" rIns="0" bIns="0" rtlCol="0">
            <a:spAutoFit/>
          </a:bodyPr>
          <a:lstStyle/>
          <a:p>
            <a:pPr marL="73660">
              <a:lnSpc>
                <a:spcPct val="100000"/>
              </a:lnSpc>
              <a:spcBef>
                <a:spcPts val="125"/>
              </a:spcBef>
            </a:pPr>
            <a:r>
              <a:rPr sz="1400" dirty="0">
                <a:solidFill>
                  <a:srgbClr val="0066CC"/>
                </a:solidFill>
                <a:latin typeface="微软雅黑" panose="020B0503020204020204" charset="-122"/>
                <a:ea typeface="微软雅黑" panose="020B0503020204020204" charset="-122"/>
                <a:cs typeface="微软雅黑" panose="020B0503020204020204" charset="-122"/>
              </a:rPr>
              <a:t>绩效管理</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62190" y="1195525"/>
            <a:ext cx="8650189" cy="4910150"/>
          </a:xfrm>
          <a:custGeom>
            <a:avLst/>
            <a:gdLst/>
            <a:ahLst/>
            <a:cxnLst/>
            <a:rect l="l" t="t" r="r" b="b"/>
            <a:pathLst>
              <a:path w="8656320" h="4913630">
                <a:moveTo>
                  <a:pt x="0" y="4913376"/>
                </a:moveTo>
                <a:lnTo>
                  <a:pt x="8656320" y="4913376"/>
                </a:lnTo>
                <a:lnTo>
                  <a:pt x="8656320" y="0"/>
                </a:lnTo>
                <a:lnTo>
                  <a:pt x="0" y="0"/>
                </a:lnTo>
                <a:lnTo>
                  <a:pt x="0" y="4913376"/>
                </a:lnTo>
                <a:close/>
              </a:path>
            </a:pathLst>
          </a:custGeom>
          <a:ln w="19050">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 name="object 4"/>
          <p:cNvSpPr/>
          <p:nvPr/>
        </p:nvSpPr>
        <p:spPr>
          <a:xfrm>
            <a:off x="6544964" y="2507521"/>
            <a:ext cx="99624" cy="0"/>
          </a:xfrm>
          <a:custGeom>
            <a:avLst/>
            <a:gdLst/>
            <a:ahLst/>
            <a:cxnLst/>
            <a:rect l="l" t="t" r="r" b="b"/>
            <a:pathLst>
              <a:path w="99695">
                <a:moveTo>
                  <a:pt x="0" y="0"/>
                </a:moveTo>
                <a:lnTo>
                  <a:pt x="99608"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p:nvPr/>
        </p:nvSpPr>
        <p:spPr>
          <a:xfrm>
            <a:off x="6126596" y="2438990"/>
            <a:ext cx="107238" cy="0"/>
          </a:xfrm>
          <a:custGeom>
            <a:avLst/>
            <a:gdLst/>
            <a:ahLst/>
            <a:cxnLst/>
            <a:rect l="l" t="t" r="r" b="b"/>
            <a:pathLst>
              <a:path w="107314">
                <a:moveTo>
                  <a:pt x="0" y="0"/>
                </a:moveTo>
                <a:lnTo>
                  <a:pt x="106793"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5700292" y="2376550"/>
            <a:ext cx="114219" cy="0"/>
          </a:xfrm>
          <a:custGeom>
            <a:avLst/>
            <a:gdLst/>
            <a:ahLst/>
            <a:cxnLst/>
            <a:rect l="l" t="t" r="r" b="b"/>
            <a:pathLst>
              <a:path w="114300">
                <a:moveTo>
                  <a:pt x="0" y="0"/>
                </a:moveTo>
                <a:lnTo>
                  <a:pt x="114300"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5289351" y="2317156"/>
            <a:ext cx="106604" cy="0"/>
          </a:xfrm>
          <a:custGeom>
            <a:avLst/>
            <a:gdLst/>
            <a:ahLst/>
            <a:cxnLst/>
            <a:rect l="l" t="t" r="r" b="b"/>
            <a:pathLst>
              <a:path w="106679">
                <a:moveTo>
                  <a:pt x="0" y="0"/>
                </a:moveTo>
                <a:lnTo>
                  <a:pt x="106431"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4870602" y="2248625"/>
            <a:ext cx="106604" cy="0"/>
          </a:xfrm>
          <a:custGeom>
            <a:avLst/>
            <a:gdLst/>
            <a:ahLst/>
            <a:cxnLst/>
            <a:rect l="l" t="t" r="r" b="b"/>
            <a:pathLst>
              <a:path w="106679">
                <a:moveTo>
                  <a:pt x="0" y="0"/>
                </a:moveTo>
                <a:lnTo>
                  <a:pt x="106376"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4451497" y="2186185"/>
            <a:ext cx="114219" cy="0"/>
          </a:xfrm>
          <a:custGeom>
            <a:avLst/>
            <a:gdLst/>
            <a:ahLst/>
            <a:cxnLst/>
            <a:rect l="l" t="t" r="r" b="b"/>
            <a:pathLst>
              <a:path w="114300">
                <a:moveTo>
                  <a:pt x="0" y="0"/>
                </a:moveTo>
                <a:lnTo>
                  <a:pt x="114300"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6949086" y="2507521"/>
            <a:ext cx="114219" cy="0"/>
          </a:xfrm>
          <a:custGeom>
            <a:avLst/>
            <a:gdLst/>
            <a:ahLst/>
            <a:cxnLst/>
            <a:rect l="l" t="t" r="r" b="b"/>
            <a:pathLst>
              <a:path w="114300">
                <a:moveTo>
                  <a:pt x="0" y="0"/>
                </a:moveTo>
                <a:lnTo>
                  <a:pt x="114300"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8209824" y="3891856"/>
            <a:ext cx="100893" cy="0"/>
          </a:xfrm>
          <a:custGeom>
            <a:avLst/>
            <a:gdLst/>
            <a:ahLst/>
            <a:cxnLst/>
            <a:rect l="l" t="t" r="r" b="b"/>
            <a:pathLst>
              <a:path w="100965">
                <a:moveTo>
                  <a:pt x="0" y="0"/>
                </a:moveTo>
                <a:lnTo>
                  <a:pt x="100825"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2783899" y="2064351"/>
            <a:ext cx="114219" cy="0"/>
          </a:xfrm>
          <a:custGeom>
            <a:avLst/>
            <a:gdLst/>
            <a:ahLst/>
            <a:cxnLst/>
            <a:rect l="l" t="t" r="r" b="b"/>
            <a:pathLst>
              <a:path w="114300">
                <a:moveTo>
                  <a:pt x="0" y="0"/>
                </a:moveTo>
                <a:lnTo>
                  <a:pt x="114300"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7372706" y="3511126"/>
            <a:ext cx="109777" cy="0"/>
          </a:xfrm>
          <a:custGeom>
            <a:avLst/>
            <a:gdLst/>
            <a:ahLst/>
            <a:cxnLst/>
            <a:rect l="l" t="t" r="r" b="b"/>
            <a:pathLst>
              <a:path w="109854">
                <a:moveTo>
                  <a:pt x="0" y="0"/>
                </a:moveTo>
                <a:lnTo>
                  <a:pt x="109479"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7786692" y="3511126"/>
            <a:ext cx="114219" cy="0"/>
          </a:xfrm>
          <a:custGeom>
            <a:avLst/>
            <a:gdLst/>
            <a:ahLst/>
            <a:cxnLst/>
            <a:rect l="l" t="t" r="r" b="b"/>
            <a:pathLst>
              <a:path w="114300">
                <a:moveTo>
                  <a:pt x="0" y="0"/>
                </a:moveTo>
                <a:lnTo>
                  <a:pt x="114300"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3195087" y="1936426"/>
            <a:ext cx="114219" cy="0"/>
          </a:xfrm>
          <a:custGeom>
            <a:avLst/>
            <a:gdLst/>
            <a:ahLst/>
            <a:cxnLst/>
            <a:rect l="l" t="t" r="r" b="b"/>
            <a:pathLst>
              <a:path w="114300">
                <a:moveTo>
                  <a:pt x="0" y="0"/>
                </a:moveTo>
                <a:lnTo>
                  <a:pt x="114300"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p:nvPr/>
        </p:nvSpPr>
        <p:spPr>
          <a:xfrm>
            <a:off x="3613891" y="1936426"/>
            <a:ext cx="114219" cy="0"/>
          </a:xfrm>
          <a:custGeom>
            <a:avLst/>
            <a:gdLst/>
            <a:ahLst/>
            <a:cxnLst/>
            <a:rect l="l" t="t" r="r" b="b"/>
            <a:pathLst>
              <a:path w="114300">
                <a:moveTo>
                  <a:pt x="0" y="0"/>
                </a:moveTo>
                <a:lnTo>
                  <a:pt x="114300"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p:nvPr/>
        </p:nvSpPr>
        <p:spPr>
          <a:xfrm>
            <a:off x="4043304" y="2186185"/>
            <a:ext cx="104065" cy="0"/>
          </a:xfrm>
          <a:custGeom>
            <a:avLst/>
            <a:gdLst/>
            <a:ahLst/>
            <a:cxnLst/>
            <a:rect l="l" t="t" r="r" b="b"/>
            <a:pathLst>
              <a:path w="104139">
                <a:moveTo>
                  <a:pt x="0" y="0"/>
                </a:moveTo>
                <a:lnTo>
                  <a:pt x="103681"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p:nvPr/>
        </p:nvSpPr>
        <p:spPr>
          <a:xfrm>
            <a:off x="1946293" y="2317156"/>
            <a:ext cx="114219" cy="0"/>
          </a:xfrm>
          <a:custGeom>
            <a:avLst/>
            <a:gdLst/>
            <a:ahLst/>
            <a:cxnLst/>
            <a:rect l="l" t="t" r="r" b="b"/>
            <a:pathLst>
              <a:path w="114300">
                <a:moveTo>
                  <a:pt x="0" y="0"/>
                </a:moveTo>
                <a:lnTo>
                  <a:pt x="114300"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p:nvPr/>
        </p:nvSpPr>
        <p:spPr>
          <a:xfrm>
            <a:off x="2365096" y="2186185"/>
            <a:ext cx="114219" cy="0"/>
          </a:xfrm>
          <a:custGeom>
            <a:avLst/>
            <a:gdLst/>
            <a:ahLst/>
            <a:cxnLst/>
            <a:rect l="l" t="t" r="r" b="b"/>
            <a:pathLst>
              <a:path w="114300">
                <a:moveTo>
                  <a:pt x="0" y="0"/>
                </a:moveTo>
                <a:lnTo>
                  <a:pt x="114300"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p:nvPr/>
        </p:nvSpPr>
        <p:spPr>
          <a:xfrm>
            <a:off x="1527489" y="2438990"/>
            <a:ext cx="114219" cy="0"/>
          </a:xfrm>
          <a:custGeom>
            <a:avLst/>
            <a:gdLst/>
            <a:ahLst/>
            <a:cxnLst/>
            <a:rect l="l" t="t" r="r" b="b"/>
            <a:pathLst>
              <a:path w="114300">
                <a:moveTo>
                  <a:pt x="0" y="0"/>
                </a:moveTo>
                <a:lnTo>
                  <a:pt x="114300"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21" name="object 21"/>
          <p:cNvSpPr/>
          <p:nvPr/>
        </p:nvSpPr>
        <p:spPr>
          <a:xfrm>
            <a:off x="1114777" y="2566915"/>
            <a:ext cx="114219" cy="0"/>
          </a:xfrm>
          <a:custGeom>
            <a:avLst/>
            <a:gdLst/>
            <a:ahLst/>
            <a:cxnLst/>
            <a:rect l="l" t="t" r="r" b="b"/>
            <a:pathLst>
              <a:path w="114300">
                <a:moveTo>
                  <a:pt x="0" y="0"/>
                </a:moveTo>
                <a:lnTo>
                  <a:pt x="114300"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695975" y="3071002"/>
            <a:ext cx="114219" cy="0"/>
          </a:xfrm>
          <a:custGeom>
            <a:avLst/>
            <a:gdLst/>
            <a:ahLst/>
            <a:cxnLst/>
            <a:rect l="l" t="t" r="r" b="b"/>
            <a:pathLst>
              <a:path w="114300">
                <a:moveTo>
                  <a:pt x="0" y="0"/>
                </a:moveTo>
                <a:lnTo>
                  <a:pt x="114300"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p:nvPr/>
        </p:nvSpPr>
        <p:spPr>
          <a:xfrm>
            <a:off x="399619" y="3073691"/>
            <a:ext cx="304584" cy="1267831"/>
          </a:xfrm>
          <a:custGeom>
            <a:avLst/>
            <a:gdLst/>
            <a:ahLst/>
            <a:cxnLst/>
            <a:rect l="l" t="t" r="r" b="b"/>
            <a:pathLst>
              <a:path w="304800" h="1268729">
                <a:moveTo>
                  <a:pt x="0" y="1268476"/>
                </a:moveTo>
                <a:lnTo>
                  <a:pt x="304616" y="1268476"/>
                </a:lnTo>
                <a:lnTo>
                  <a:pt x="304616" y="0"/>
                </a:lnTo>
                <a:lnTo>
                  <a:pt x="0" y="0"/>
                </a:lnTo>
                <a:lnTo>
                  <a:pt x="0" y="126847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p:nvPr/>
        </p:nvSpPr>
        <p:spPr>
          <a:xfrm>
            <a:off x="399619" y="3073691"/>
            <a:ext cx="304584" cy="1267831"/>
          </a:xfrm>
          <a:custGeom>
            <a:avLst/>
            <a:gdLst/>
            <a:ahLst/>
            <a:cxnLst/>
            <a:rect l="l" t="t" r="r" b="b"/>
            <a:pathLst>
              <a:path w="304800" h="1268729">
                <a:moveTo>
                  <a:pt x="0" y="1268476"/>
                </a:moveTo>
                <a:lnTo>
                  <a:pt x="304616" y="1268476"/>
                </a:lnTo>
                <a:lnTo>
                  <a:pt x="304616" y="0"/>
                </a:lnTo>
                <a:lnTo>
                  <a:pt x="0" y="0"/>
                </a:lnTo>
                <a:lnTo>
                  <a:pt x="0" y="1268476"/>
                </a:lnTo>
                <a:close/>
              </a:path>
            </a:pathLst>
          </a:custGeom>
          <a:ln w="9509">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5" name="object 25"/>
          <p:cNvSpPr/>
          <p:nvPr/>
        </p:nvSpPr>
        <p:spPr>
          <a:xfrm>
            <a:off x="818051" y="2568458"/>
            <a:ext cx="304584" cy="505737"/>
          </a:xfrm>
          <a:custGeom>
            <a:avLst/>
            <a:gdLst/>
            <a:ahLst/>
            <a:cxnLst/>
            <a:rect l="l" t="t" r="r" b="b"/>
            <a:pathLst>
              <a:path w="304800" h="506094">
                <a:moveTo>
                  <a:pt x="0" y="505616"/>
                </a:moveTo>
                <a:lnTo>
                  <a:pt x="304616" y="505616"/>
                </a:lnTo>
                <a:lnTo>
                  <a:pt x="304616" y="0"/>
                </a:lnTo>
                <a:lnTo>
                  <a:pt x="0" y="0"/>
                </a:lnTo>
                <a:lnTo>
                  <a:pt x="0" y="50561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6" name="object 26"/>
          <p:cNvSpPr/>
          <p:nvPr/>
        </p:nvSpPr>
        <p:spPr>
          <a:xfrm>
            <a:off x="818051" y="2568458"/>
            <a:ext cx="304584" cy="505737"/>
          </a:xfrm>
          <a:custGeom>
            <a:avLst/>
            <a:gdLst/>
            <a:ahLst/>
            <a:cxnLst/>
            <a:rect l="l" t="t" r="r" b="b"/>
            <a:pathLst>
              <a:path w="304800" h="506094">
                <a:moveTo>
                  <a:pt x="0" y="505616"/>
                </a:moveTo>
                <a:lnTo>
                  <a:pt x="304616" y="505616"/>
                </a:lnTo>
                <a:lnTo>
                  <a:pt x="304616" y="0"/>
                </a:lnTo>
                <a:lnTo>
                  <a:pt x="0" y="0"/>
                </a:lnTo>
                <a:lnTo>
                  <a:pt x="0" y="505616"/>
                </a:lnTo>
                <a:close/>
              </a:path>
            </a:pathLst>
          </a:custGeom>
          <a:ln w="9507">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7" name="object 27"/>
          <p:cNvSpPr/>
          <p:nvPr/>
        </p:nvSpPr>
        <p:spPr>
          <a:xfrm>
            <a:off x="1236800" y="2444676"/>
            <a:ext cx="304584" cy="124372"/>
          </a:xfrm>
          <a:custGeom>
            <a:avLst/>
            <a:gdLst/>
            <a:ahLst/>
            <a:cxnLst/>
            <a:rect l="l" t="t" r="r" b="b"/>
            <a:pathLst>
              <a:path w="304800" h="124460">
                <a:moveTo>
                  <a:pt x="0" y="123869"/>
                </a:moveTo>
                <a:lnTo>
                  <a:pt x="304616" y="123869"/>
                </a:lnTo>
                <a:lnTo>
                  <a:pt x="304616" y="0"/>
                </a:lnTo>
                <a:lnTo>
                  <a:pt x="0" y="0"/>
                </a:lnTo>
                <a:lnTo>
                  <a:pt x="0" y="12386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p:nvPr/>
        </p:nvSpPr>
        <p:spPr>
          <a:xfrm>
            <a:off x="1236800" y="2444676"/>
            <a:ext cx="304584" cy="124372"/>
          </a:xfrm>
          <a:custGeom>
            <a:avLst/>
            <a:gdLst/>
            <a:ahLst/>
            <a:cxnLst/>
            <a:rect l="l" t="t" r="r" b="b"/>
            <a:pathLst>
              <a:path w="304800" h="124460">
                <a:moveTo>
                  <a:pt x="0" y="123869"/>
                </a:moveTo>
                <a:lnTo>
                  <a:pt x="304616" y="123869"/>
                </a:lnTo>
                <a:lnTo>
                  <a:pt x="304616" y="0"/>
                </a:lnTo>
                <a:lnTo>
                  <a:pt x="0" y="0"/>
                </a:lnTo>
                <a:lnTo>
                  <a:pt x="0" y="123869"/>
                </a:lnTo>
                <a:close/>
              </a:path>
            </a:pathLst>
          </a:custGeom>
          <a:ln w="950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9" name="object 29"/>
          <p:cNvSpPr/>
          <p:nvPr/>
        </p:nvSpPr>
        <p:spPr>
          <a:xfrm>
            <a:off x="1655232" y="2320514"/>
            <a:ext cx="295066" cy="124372"/>
          </a:xfrm>
          <a:custGeom>
            <a:avLst/>
            <a:gdLst/>
            <a:ahLst/>
            <a:cxnLst/>
            <a:rect l="l" t="t" r="r" b="b"/>
            <a:pathLst>
              <a:path w="295275" h="124460">
                <a:moveTo>
                  <a:pt x="0" y="124186"/>
                </a:moveTo>
                <a:lnTo>
                  <a:pt x="295107" y="124186"/>
                </a:lnTo>
                <a:lnTo>
                  <a:pt x="295107" y="0"/>
                </a:lnTo>
                <a:lnTo>
                  <a:pt x="0" y="0"/>
                </a:lnTo>
                <a:lnTo>
                  <a:pt x="0" y="12418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0" name="object 30"/>
          <p:cNvSpPr/>
          <p:nvPr/>
        </p:nvSpPr>
        <p:spPr>
          <a:xfrm>
            <a:off x="1655232" y="2320514"/>
            <a:ext cx="295066" cy="124372"/>
          </a:xfrm>
          <a:custGeom>
            <a:avLst/>
            <a:gdLst/>
            <a:ahLst/>
            <a:cxnLst/>
            <a:rect l="l" t="t" r="r" b="b"/>
            <a:pathLst>
              <a:path w="295275" h="124460">
                <a:moveTo>
                  <a:pt x="0" y="124186"/>
                </a:moveTo>
                <a:lnTo>
                  <a:pt x="295107" y="124186"/>
                </a:lnTo>
                <a:lnTo>
                  <a:pt x="295107" y="0"/>
                </a:lnTo>
                <a:lnTo>
                  <a:pt x="0" y="0"/>
                </a:lnTo>
                <a:lnTo>
                  <a:pt x="0" y="124186"/>
                </a:lnTo>
                <a:close/>
              </a:path>
            </a:pathLst>
          </a:custGeom>
          <a:ln w="950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1" name="object 31"/>
          <p:cNvSpPr/>
          <p:nvPr/>
        </p:nvSpPr>
        <p:spPr>
          <a:xfrm>
            <a:off x="2064225" y="2196732"/>
            <a:ext cx="305219" cy="124372"/>
          </a:xfrm>
          <a:custGeom>
            <a:avLst/>
            <a:gdLst/>
            <a:ahLst/>
            <a:cxnLst/>
            <a:rect l="l" t="t" r="r" b="b"/>
            <a:pathLst>
              <a:path w="305435" h="124460">
                <a:moveTo>
                  <a:pt x="0" y="123869"/>
                </a:moveTo>
                <a:lnTo>
                  <a:pt x="304933" y="123869"/>
                </a:lnTo>
                <a:lnTo>
                  <a:pt x="304933" y="0"/>
                </a:lnTo>
                <a:lnTo>
                  <a:pt x="0" y="0"/>
                </a:lnTo>
                <a:lnTo>
                  <a:pt x="0" y="12386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2" name="object 32"/>
          <p:cNvSpPr/>
          <p:nvPr/>
        </p:nvSpPr>
        <p:spPr>
          <a:xfrm>
            <a:off x="2064225" y="2196732"/>
            <a:ext cx="305219" cy="124372"/>
          </a:xfrm>
          <a:custGeom>
            <a:avLst/>
            <a:gdLst/>
            <a:ahLst/>
            <a:cxnLst/>
            <a:rect l="l" t="t" r="r" b="b"/>
            <a:pathLst>
              <a:path w="305435" h="124460">
                <a:moveTo>
                  <a:pt x="0" y="123869"/>
                </a:moveTo>
                <a:lnTo>
                  <a:pt x="304933" y="123869"/>
                </a:lnTo>
                <a:lnTo>
                  <a:pt x="304933" y="0"/>
                </a:lnTo>
                <a:lnTo>
                  <a:pt x="0" y="0"/>
                </a:lnTo>
                <a:lnTo>
                  <a:pt x="0" y="123869"/>
                </a:lnTo>
                <a:close/>
              </a:path>
            </a:pathLst>
          </a:custGeom>
          <a:ln w="950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3" name="object 33"/>
          <p:cNvSpPr/>
          <p:nvPr/>
        </p:nvSpPr>
        <p:spPr>
          <a:xfrm>
            <a:off x="2482973" y="2063516"/>
            <a:ext cx="304584" cy="133890"/>
          </a:xfrm>
          <a:custGeom>
            <a:avLst/>
            <a:gdLst/>
            <a:ahLst/>
            <a:cxnLst/>
            <a:rect l="l" t="t" r="r" b="b"/>
            <a:pathLst>
              <a:path w="304800" h="133985">
                <a:moveTo>
                  <a:pt x="0" y="133373"/>
                </a:moveTo>
                <a:lnTo>
                  <a:pt x="304616" y="133373"/>
                </a:lnTo>
                <a:lnTo>
                  <a:pt x="304616" y="0"/>
                </a:lnTo>
                <a:lnTo>
                  <a:pt x="0" y="0"/>
                </a:lnTo>
                <a:lnTo>
                  <a:pt x="0" y="133373"/>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4" name="object 34"/>
          <p:cNvSpPr/>
          <p:nvPr/>
        </p:nvSpPr>
        <p:spPr>
          <a:xfrm>
            <a:off x="2482973" y="2063516"/>
            <a:ext cx="304584" cy="133890"/>
          </a:xfrm>
          <a:custGeom>
            <a:avLst/>
            <a:gdLst/>
            <a:ahLst/>
            <a:cxnLst/>
            <a:rect l="l" t="t" r="r" b="b"/>
            <a:pathLst>
              <a:path w="304800" h="133985">
                <a:moveTo>
                  <a:pt x="0" y="133373"/>
                </a:moveTo>
                <a:lnTo>
                  <a:pt x="304616" y="133373"/>
                </a:lnTo>
                <a:lnTo>
                  <a:pt x="304616" y="0"/>
                </a:lnTo>
                <a:lnTo>
                  <a:pt x="0" y="0"/>
                </a:lnTo>
                <a:lnTo>
                  <a:pt x="0" y="133373"/>
                </a:lnTo>
                <a:close/>
              </a:path>
            </a:pathLst>
          </a:custGeom>
          <a:ln w="950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5" name="object 35"/>
          <p:cNvSpPr/>
          <p:nvPr/>
        </p:nvSpPr>
        <p:spPr>
          <a:xfrm>
            <a:off x="2901343" y="1939354"/>
            <a:ext cx="305219" cy="124372"/>
          </a:xfrm>
          <a:custGeom>
            <a:avLst/>
            <a:gdLst/>
            <a:ahLst/>
            <a:cxnLst/>
            <a:rect l="l" t="t" r="r" b="b"/>
            <a:pathLst>
              <a:path w="305435" h="124460">
                <a:moveTo>
                  <a:pt x="0" y="124186"/>
                </a:moveTo>
                <a:lnTo>
                  <a:pt x="304933" y="124186"/>
                </a:lnTo>
                <a:lnTo>
                  <a:pt x="304933" y="0"/>
                </a:lnTo>
                <a:lnTo>
                  <a:pt x="0" y="0"/>
                </a:lnTo>
                <a:lnTo>
                  <a:pt x="0" y="12418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6" name="object 36"/>
          <p:cNvSpPr/>
          <p:nvPr/>
        </p:nvSpPr>
        <p:spPr>
          <a:xfrm>
            <a:off x="2901343" y="1939354"/>
            <a:ext cx="305219" cy="124372"/>
          </a:xfrm>
          <a:custGeom>
            <a:avLst/>
            <a:gdLst/>
            <a:ahLst/>
            <a:cxnLst/>
            <a:rect l="l" t="t" r="r" b="b"/>
            <a:pathLst>
              <a:path w="305435" h="124460">
                <a:moveTo>
                  <a:pt x="0" y="124186"/>
                </a:moveTo>
                <a:lnTo>
                  <a:pt x="304933" y="124186"/>
                </a:lnTo>
                <a:lnTo>
                  <a:pt x="304933" y="0"/>
                </a:lnTo>
                <a:lnTo>
                  <a:pt x="0" y="0"/>
                </a:lnTo>
                <a:lnTo>
                  <a:pt x="0" y="124186"/>
                </a:lnTo>
                <a:close/>
              </a:path>
            </a:pathLst>
          </a:custGeom>
          <a:ln w="950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7" name="object 37"/>
          <p:cNvSpPr/>
          <p:nvPr/>
        </p:nvSpPr>
        <p:spPr>
          <a:xfrm>
            <a:off x="3320091" y="1939329"/>
            <a:ext cx="304584" cy="2402407"/>
          </a:xfrm>
          <a:custGeom>
            <a:avLst/>
            <a:gdLst/>
            <a:ahLst/>
            <a:cxnLst/>
            <a:rect l="l" t="t" r="r" b="b"/>
            <a:pathLst>
              <a:path w="304800" h="2404110">
                <a:moveTo>
                  <a:pt x="0" y="2403643"/>
                </a:moveTo>
                <a:lnTo>
                  <a:pt x="304616" y="2403643"/>
                </a:lnTo>
                <a:lnTo>
                  <a:pt x="304616" y="0"/>
                </a:lnTo>
                <a:lnTo>
                  <a:pt x="0" y="0"/>
                </a:lnTo>
                <a:lnTo>
                  <a:pt x="0" y="2403643"/>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8" name="object 38"/>
          <p:cNvSpPr/>
          <p:nvPr/>
        </p:nvSpPr>
        <p:spPr>
          <a:xfrm>
            <a:off x="3320091" y="1939329"/>
            <a:ext cx="304584" cy="2402407"/>
          </a:xfrm>
          <a:custGeom>
            <a:avLst/>
            <a:gdLst/>
            <a:ahLst/>
            <a:cxnLst/>
            <a:rect l="l" t="t" r="r" b="b"/>
            <a:pathLst>
              <a:path w="304800" h="2404110">
                <a:moveTo>
                  <a:pt x="0" y="2403643"/>
                </a:moveTo>
                <a:lnTo>
                  <a:pt x="304616" y="2403643"/>
                </a:lnTo>
                <a:lnTo>
                  <a:pt x="304616" y="0"/>
                </a:lnTo>
                <a:lnTo>
                  <a:pt x="0" y="0"/>
                </a:lnTo>
                <a:lnTo>
                  <a:pt x="0" y="2403643"/>
                </a:lnTo>
                <a:close/>
              </a:path>
            </a:pathLst>
          </a:custGeom>
          <a:ln w="9509">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9" name="object 39"/>
          <p:cNvSpPr/>
          <p:nvPr/>
        </p:nvSpPr>
        <p:spPr>
          <a:xfrm>
            <a:off x="3738587" y="1939418"/>
            <a:ext cx="305219" cy="257627"/>
          </a:xfrm>
          <a:custGeom>
            <a:avLst/>
            <a:gdLst/>
            <a:ahLst/>
            <a:cxnLst/>
            <a:rect l="l" t="t" r="r" b="b"/>
            <a:pathLst>
              <a:path w="305435" h="257810">
                <a:moveTo>
                  <a:pt x="0" y="257560"/>
                </a:moveTo>
                <a:lnTo>
                  <a:pt x="304933" y="257560"/>
                </a:lnTo>
                <a:lnTo>
                  <a:pt x="304933" y="0"/>
                </a:lnTo>
                <a:lnTo>
                  <a:pt x="0" y="0"/>
                </a:lnTo>
                <a:lnTo>
                  <a:pt x="0" y="2575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0" name="object 40"/>
          <p:cNvSpPr/>
          <p:nvPr/>
        </p:nvSpPr>
        <p:spPr>
          <a:xfrm>
            <a:off x="3738587" y="1939418"/>
            <a:ext cx="305219" cy="257627"/>
          </a:xfrm>
          <a:custGeom>
            <a:avLst/>
            <a:gdLst/>
            <a:ahLst/>
            <a:cxnLst/>
            <a:rect l="l" t="t" r="r" b="b"/>
            <a:pathLst>
              <a:path w="305435" h="257810">
                <a:moveTo>
                  <a:pt x="0" y="257560"/>
                </a:moveTo>
                <a:lnTo>
                  <a:pt x="304933" y="257560"/>
                </a:lnTo>
                <a:lnTo>
                  <a:pt x="304933" y="0"/>
                </a:lnTo>
                <a:lnTo>
                  <a:pt x="0" y="0"/>
                </a:lnTo>
                <a:lnTo>
                  <a:pt x="0" y="257560"/>
                </a:lnTo>
                <a:close/>
              </a:path>
            </a:pathLst>
          </a:custGeom>
          <a:ln w="9506">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1" name="object 41"/>
          <p:cNvSpPr/>
          <p:nvPr/>
        </p:nvSpPr>
        <p:spPr>
          <a:xfrm>
            <a:off x="4157336" y="2196770"/>
            <a:ext cx="304584" cy="2144780"/>
          </a:xfrm>
          <a:custGeom>
            <a:avLst/>
            <a:gdLst/>
            <a:ahLst/>
            <a:cxnLst/>
            <a:rect l="l" t="t" r="r" b="b"/>
            <a:pathLst>
              <a:path w="304800" h="2146300">
                <a:moveTo>
                  <a:pt x="0" y="2146019"/>
                </a:moveTo>
                <a:lnTo>
                  <a:pt x="304616" y="2146019"/>
                </a:lnTo>
                <a:lnTo>
                  <a:pt x="304616" y="0"/>
                </a:lnTo>
                <a:lnTo>
                  <a:pt x="0" y="0"/>
                </a:lnTo>
                <a:lnTo>
                  <a:pt x="0" y="2146019"/>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2" name="object 42"/>
          <p:cNvSpPr/>
          <p:nvPr/>
        </p:nvSpPr>
        <p:spPr>
          <a:xfrm>
            <a:off x="4157336" y="2196770"/>
            <a:ext cx="304584" cy="2144780"/>
          </a:xfrm>
          <a:custGeom>
            <a:avLst/>
            <a:gdLst/>
            <a:ahLst/>
            <a:cxnLst/>
            <a:rect l="l" t="t" r="r" b="b"/>
            <a:pathLst>
              <a:path w="304800" h="2146300">
                <a:moveTo>
                  <a:pt x="0" y="2146019"/>
                </a:moveTo>
                <a:lnTo>
                  <a:pt x="304616" y="2146019"/>
                </a:lnTo>
                <a:lnTo>
                  <a:pt x="304616" y="0"/>
                </a:lnTo>
                <a:lnTo>
                  <a:pt x="0" y="0"/>
                </a:lnTo>
                <a:lnTo>
                  <a:pt x="0" y="2146019"/>
                </a:lnTo>
                <a:close/>
              </a:path>
            </a:pathLst>
          </a:custGeom>
          <a:ln w="9509">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3" name="object 43"/>
          <p:cNvSpPr/>
          <p:nvPr/>
        </p:nvSpPr>
        <p:spPr>
          <a:xfrm>
            <a:off x="4575705" y="2225382"/>
            <a:ext cx="295066" cy="0"/>
          </a:xfrm>
          <a:custGeom>
            <a:avLst/>
            <a:gdLst/>
            <a:ahLst/>
            <a:cxnLst/>
            <a:rect l="l" t="t" r="r" b="b"/>
            <a:pathLst>
              <a:path w="295275">
                <a:moveTo>
                  <a:pt x="0" y="0"/>
                </a:moveTo>
                <a:lnTo>
                  <a:pt x="295107" y="0"/>
                </a:lnTo>
              </a:path>
            </a:pathLst>
          </a:custGeom>
          <a:ln w="57341">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4" name="object 44"/>
          <p:cNvSpPr/>
          <p:nvPr/>
        </p:nvSpPr>
        <p:spPr>
          <a:xfrm>
            <a:off x="4575705" y="2196732"/>
            <a:ext cx="295066" cy="57744"/>
          </a:xfrm>
          <a:custGeom>
            <a:avLst/>
            <a:gdLst/>
            <a:ahLst/>
            <a:cxnLst/>
            <a:rect l="l" t="t" r="r" b="b"/>
            <a:pathLst>
              <a:path w="295275" h="57785">
                <a:moveTo>
                  <a:pt x="0" y="57341"/>
                </a:moveTo>
                <a:lnTo>
                  <a:pt x="295107" y="57341"/>
                </a:lnTo>
                <a:lnTo>
                  <a:pt x="295107" y="0"/>
                </a:lnTo>
                <a:lnTo>
                  <a:pt x="0" y="0"/>
                </a:lnTo>
                <a:lnTo>
                  <a:pt x="0" y="57341"/>
                </a:lnTo>
                <a:close/>
              </a:path>
            </a:pathLst>
          </a:custGeom>
          <a:ln w="950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5" name="object 45"/>
          <p:cNvSpPr/>
          <p:nvPr/>
        </p:nvSpPr>
        <p:spPr>
          <a:xfrm>
            <a:off x="4984951" y="2287273"/>
            <a:ext cx="304584" cy="0"/>
          </a:xfrm>
          <a:custGeom>
            <a:avLst/>
            <a:gdLst/>
            <a:ahLst/>
            <a:cxnLst/>
            <a:rect l="l" t="t" r="r" b="b"/>
            <a:pathLst>
              <a:path w="304800">
                <a:moveTo>
                  <a:pt x="0" y="0"/>
                </a:moveTo>
                <a:lnTo>
                  <a:pt x="304616" y="0"/>
                </a:lnTo>
              </a:path>
            </a:pathLst>
          </a:custGeom>
          <a:ln w="66528">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6" name="object 46"/>
          <p:cNvSpPr/>
          <p:nvPr/>
        </p:nvSpPr>
        <p:spPr>
          <a:xfrm>
            <a:off x="4984951" y="2254033"/>
            <a:ext cx="304584" cy="66628"/>
          </a:xfrm>
          <a:custGeom>
            <a:avLst/>
            <a:gdLst/>
            <a:ahLst/>
            <a:cxnLst/>
            <a:rect l="l" t="t" r="r" b="b"/>
            <a:pathLst>
              <a:path w="304800" h="66675">
                <a:moveTo>
                  <a:pt x="0" y="66528"/>
                </a:moveTo>
                <a:lnTo>
                  <a:pt x="304616" y="66528"/>
                </a:lnTo>
                <a:lnTo>
                  <a:pt x="304616" y="0"/>
                </a:lnTo>
                <a:lnTo>
                  <a:pt x="0" y="0"/>
                </a:lnTo>
                <a:lnTo>
                  <a:pt x="0" y="66528"/>
                </a:lnTo>
                <a:close/>
              </a:path>
            </a:pathLst>
          </a:custGeom>
          <a:ln w="950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7" name="object 47"/>
          <p:cNvSpPr/>
          <p:nvPr/>
        </p:nvSpPr>
        <p:spPr>
          <a:xfrm>
            <a:off x="5403446" y="2349227"/>
            <a:ext cx="304584" cy="0"/>
          </a:xfrm>
          <a:custGeom>
            <a:avLst/>
            <a:gdLst/>
            <a:ahLst/>
            <a:cxnLst/>
            <a:rect l="l" t="t" r="r" b="b"/>
            <a:pathLst>
              <a:path w="304800">
                <a:moveTo>
                  <a:pt x="0" y="0"/>
                </a:moveTo>
                <a:lnTo>
                  <a:pt x="304616" y="0"/>
                </a:lnTo>
              </a:path>
            </a:pathLst>
          </a:custGeom>
          <a:ln w="57341">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8" name="object 48"/>
          <p:cNvSpPr/>
          <p:nvPr/>
        </p:nvSpPr>
        <p:spPr>
          <a:xfrm>
            <a:off x="5403446" y="2320578"/>
            <a:ext cx="304584" cy="57744"/>
          </a:xfrm>
          <a:custGeom>
            <a:avLst/>
            <a:gdLst/>
            <a:ahLst/>
            <a:cxnLst/>
            <a:rect l="l" t="t" r="r" b="b"/>
            <a:pathLst>
              <a:path w="304800" h="57785">
                <a:moveTo>
                  <a:pt x="0" y="57341"/>
                </a:moveTo>
                <a:lnTo>
                  <a:pt x="304616" y="57341"/>
                </a:lnTo>
                <a:lnTo>
                  <a:pt x="304616" y="0"/>
                </a:lnTo>
                <a:lnTo>
                  <a:pt x="0" y="0"/>
                </a:lnTo>
                <a:lnTo>
                  <a:pt x="0" y="57341"/>
                </a:lnTo>
                <a:close/>
              </a:path>
            </a:pathLst>
          </a:custGeom>
          <a:ln w="950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9" name="object 49"/>
          <p:cNvSpPr/>
          <p:nvPr/>
        </p:nvSpPr>
        <p:spPr>
          <a:xfrm>
            <a:off x="5822195" y="2411213"/>
            <a:ext cx="304584" cy="0"/>
          </a:xfrm>
          <a:custGeom>
            <a:avLst/>
            <a:gdLst/>
            <a:ahLst/>
            <a:cxnLst/>
            <a:rect l="l" t="t" r="r" b="b"/>
            <a:pathLst>
              <a:path w="304800">
                <a:moveTo>
                  <a:pt x="0" y="0"/>
                </a:moveTo>
                <a:lnTo>
                  <a:pt x="304616" y="0"/>
                </a:lnTo>
              </a:path>
            </a:pathLst>
          </a:custGeom>
          <a:ln w="66845">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0" name="object 50"/>
          <p:cNvSpPr/>
          <p:nvPr/>
        </p:nvSpPr>
        <p:spPr>
          <a:xfrm>
            <a:off x="5822195" y="2377815"/>
            <a:ext cx="304584" cy="67262"/>
          </a:xfrm>
          <a:custGeom>
            <a:avLst/>
            <a:gdLst/>
            <a:ahLst/>
            <a:cxnLst/>
            <a:rect l="l" t="t" r="r" b="b"/>
            <a:pathLst>
              <a:path w="304800" h="67310">
                <a:moveTo>
                  <a:pt x="0" y="66845"/>
                </a:moveTo>
                <a:lnTo>
                  <a:pt x="304616" y="66845"/>
                </a:lnTo>
                <a:lnTo>
                  <a:pt x="304616" y="0"/>
                </a:lnTo>
                <a:lnTo>
                  <a:pt x="0" y="0"/>
                </a:lnTo>
                <a:lnTo>
                  <a:pt x="0" y="66845"/>
                </a:lnTo>
                <a:close/>
              </a:path>
            </a:pathLst>
          </a:custGeom>
          <a:ln w="950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1" name="object 51"/>
          <p:cNvSpPr/>
          <p:nvPr/>
        </p:nvSpPr>
        <p:spPr>
          <a:xfrm>
            <a:off x="6240564" y="2478075"/>
            <a:ext cx="304584" cy="0"/>
          </a:xfrm>
          <a:custGeom>
            <a:avLst/>
            <a:gdLst/>
            <a:ahLst/>
            <a:cxnLst/>
            <a:rect l="l" t="t" r="r" b="b"/>
            <a:pathLst>
              <a:path w="304800">
                <a:moveTo>
                  <a:pt x="0" y="0"/>
                </a:moveTo>
                <a:lnTo>
                  <a:pt x="304616" y="0"/>
                </a:lnTo>
              </a:path>
            </a:pathLst>
          </a:custGeom>
          <a:ln w="66845">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2" name="object 52"/>
          <p:cNvSpPr/>
          <p:nvPr/>
        </p:nvSpPr>
        <p:spPr>
          <a:xfrm>
            <a:off x="6240564" y="2444676"/>
            <a:ext cx="304584" cy="67262"/>
          </a:xfrm>
          <a:custGeom>
            <a:avLst/>
            <a:gdLst/>
            <a:ahLst/>
            <a:cxnLst/>
            <a:rect l="l" t="t" r="r" b="b"/>
            <a:pathLst>
              <a:path w="304800" h="67310">
                <a:moveTo>
                  <a:pt x="0" y="66845"/>
                </a:moveTo>
                <a:lnTo>
                  <a:pt x="304616" y="66845"/>
                </a:lnTo>
                <a:lnTo>
                  <a:pt x="304616" y="0"/>
                </a:lnTo>
                <a:lnTo>
                  <a:pt x="0" y="0"/>
                </a:lnTo>
                <a:lnTo>
                  <a:pt x="0" y="66845"/>
                </a:lnTo>
                <a:close/>
              </a:path>
            </a:pathLst>
          </a:custGeom>
          <a:ln w="9504">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3" name="object 53"/>
          <p:cNvSpPr/>
          <p:nvPr/>
        </p:nvSpPr>
        <p:spPr>
          <a:xfrm>
            <a:off x="6659312" y="2511448"/>
            <a:ext cx="304584" cy="1830042"/>
          </a:xfrm>
          <a:custGeom>
            <a:avLst/>
            <a:gdLst/>
            <a:ahLst/>
            <a:cxnLst/>
            <a:rect l="l" t="t" r="r" b="b"/>
            <a:pathLst>
              <a:path w="304800" h="1831339">
                <a:moveTo>
                  <a:pt x="0" y="1831118"/>
                </a:moveTo>
                <a:lnTo>
                  <a:pt x="304616" y="1831118"/>
                </a:lnTo>
                <a:lnTo>
                  <a:pt x="304616" y="0"/>
                </a:lnTo>
                <a:lnTo>
                  <a:pt x="0" y="0"/>
                </a:lnTo>
                <a:lnTo>
                  <a:pt x="0" y="1831118"/>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4" name="object 54"/>
          <p:cNvSpPr/>
          <p:nvPr/>
        </p:nvSpPr>
        <p:spPr>
          <a:xfrm>
            <a:off x="6659312" y="2511448"/>
            <a:ext cx="304584" cy="1830042"/>
          </a:xfrm>
          <a:custGeom>
            <a:avLst/>
            <a:gdLst/>
            <a:ahLst/>
            <a:cxnLst/>
            <a:rect l="l" t="t" r="r" b="b"/>
            <a:pathLst>
              <a:path w="304800" h="1831339">
                <a:moveTo>
                  <a:pt x="0" y="1831118"/>
                </a:moveTo>
                <a:lnTo>
                  <a:pt x="304616" y="1831118"/>
                </a:lnTo>
                <a:lnTo>
                  <a:pt x="304616" y="0"/>
                </a:lnTo>
                <a:lnTo>
                  <a:pt x="0" y="0"/>
                </a:lnTo>
                <a:lnTo>
                  <a:pt x="0" y="1831118"/>
                </a:lnTo>
                <a:close/>
              </a:path>
            </a:pathLst>
          </a:custGeom>
          <a:ln w="9509">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5" name="object 55"/>
          <p:cNvSpPr/>
          <p:nvPr/>
        </p:nvSpPr>
        <p:spPr>
          <a:xfrm>
            <a:off x="7077809" y="2511448"/>
            <a:ext cx="295066" cy="1010203"/>
          </a:xfrm>
          <a:custGeom>
            <a:avLst/>
            <a:gdLst/>
            <a:ahLst/>
            <a:cxnLst/>
            <a:rect l="l" t="t" r="r" b="b"/>
            <a:pathLst>
              <a:path w="295275" h="1010920">
                <a:moveTo>
                  <a:pt x="0" y="1010916"/>
                </a:moveTo>
                <a:lnTo>
                  <a:pt x="295107" y="1010916"/>
                </a:lnTo>
                <a:lnTo>
                  <a:pt x="295107" y="0"/>
                </a:lnTo>
                <a:lnTo>
                  <a:pt x="0" y="0"/>
                </a:lnTo>
                <a:lnTo>
                  <a:pt x="0" y="101091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6" name="object 56"/>
          <p:cNvSpPr/>
          <p:nvPr/>
        </p:nvSpPr>
        <p:spPr>
          <a:xfrm>
            <a:off x="7077809" y="2511448"/>
            <a:ext cx="295066" cy="1010203"/>
          </a:xfrm>
          <a:custGeom>
            <a:avLst/>
            <a:gdLst/>
            <a:ahLst/>
            <a:cxnLst/>
            <a:rect l="l" t="t" r="r" b="b"/>
            <a:pathLst>
              <a:path w="295275" h="1010920">
                <a:moveTo>
                  <a:pt x="0" y="1010916"/>
                </a:moveTo>
                <a:lnTo>
                  <a:pt x="295107" y="1010916"/>
                </a:lnTo>
                <a:lnTo>
                  <a:pt x="295107" y="0"/>
                </a:lnTo>
                <a:lnTo>
                  <a:pt x="0" y="0"/>
                </a:lnTo>
                <a:lnTo>
                  <a:pt x="0" y="1010916"/>
                </a:lnTo>
                <a:close/>
              </a:path>
            </a:pathLst>
          </a:custGeom>
          <a:ln w="9508">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7" name="object 57"/>
          <p:cNvSpPr/>
          <p:nvPr/>
        </p:nvSpPr>
        <p:spPr>
          <a:xfrm>
            <a:off x="7487055" y="3521649"/>
            <a:ext cx="304584" cy="819838"/>
          </a:xfrm>
          <a:custGeom>
            <a:avLst/>
            <a:gdLst/>
            <a:ahLst/>
            <a:cxnLst/>
            <a:rect l="l" t="t" r="r" b="b"/>
            <a:pathLst>
              <a:path w="304800" h="820420">
                <a:moveTo>
                  <a:pt x="0" y="820201"/>
                </a:moveTo>
                <a:lnTo>
                  <a:pt x="304616" y="820201"/>
                </a:lnTo>
                <a:lnTo>
                  <a:pt x="304616" y="0"/>
                </a:lnTo>
                <a:lnTo>
                  <a:pt x="0" y="0"/>
                </a:lnTo>
                <a:lnTo>
                  <a:pt x="0" y="820201"/>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8" name="object 58"/>
          <p:cNvSpPr/>
          <p:nvPr/>
        </p:nvSpPr>
        <p:spPr>
          <a:xfrm>
            <a:off x="7487055" y="3521649"/>
            <a:ext cx="304584" cy="819838"/>
          </a:xfrm>
          <a:custGeom>
            <a:avLst/>
            <a:gdLst/>
            <a:ahLst/>
            <a:cxnLst/>
            <a:rect l="l" t="t" r="r" b="b"/>
            <a:pathLst>
              <a:path w="304800" h="820420">
                <a:moveTo>
                  <a:pt x="0" y="820201"/>
                </a:moveTo>
                <a:lnTo>
                  <a:pt x="304616" y="820201"/>
                </a:lnTo>
                <a:lnTo>
                  <a:pt x="304616" y="0"/>
                </a:lnTo>
                <a:lnTo>
                  <a:pt x="0" y="0"/>
                </a:lnTo>
                <a:lnTo>
                  <a:pt x="0" y="820201"/>
                </a:lnTo>
                <a:close/>
              </a:path>
            </a:pathLst>
          </a:custGeom>
          <a:ln w="9508">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9" name="object 59"/>
          <p:cNvSpPr/>
          <p:nvPr/>
        </p:nvSpPr>
        <p:spPr>
          <a:xfrm>
            <a:off x="7905423" y="3521649"/>
            <a:ext cx="304584" cy="381365"/>
          </a:xfrm>
          <a:custGeom>
            <a:avLst/>
            <a:gdLst/>
            <a:ahLst/>
            <a:cxnLst/>
            <a:rect l="l" t="t" r="r" b="b"/>
            <a:pathLst>
              <a:path w="304800" h="381635">
                <a:moveTo>
                  <a:pt x="0" y="381430"/>
                </a:moveTo>
                <a:lnTo>
                  <a:pt x="304616" y="381430"/>
                </a:lnTo>
                <a:lnTo>
                  <a:pt x="304616" y="0"/>
                </a:lnTo>
                <a:lnTo>
                  <a:pt x="0" y="0"/>
                </a:lnTo>
                <a:lnTo>
                  <a:pt x="0" y="38143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0" name="object 60"/>
          <p:cNvSpPr/>
          <p:nvPr/>
        </p:nvSpPr>
        <p:spPr>
          <a:xfrm>
            <a:off x="7905423" y="3521649"/>
            <a:ext cx="304584" cy="381365"/>
          </a:xfrm>
          <a:custGeom>
            <a:avLst/>
            <a:gdLst/>
            <a:ahLst/>
            <a:cxnLst/>
            <a:rect l="l" t="t" r="r" b="b"/>
            <a:pathLst>
              <a:path w="304800" h="381635">
                <a:moveTo>
                  <a:pt x="0" y="381430"/>
                </a:moveTo>
                <a:lnTo>
                  <a:pt x="304616" y="381430"/>
                </a:lnTo>
                <a:lnTo>
                  <a:pt x="304616" y="0"/>
                </a:lnTo>
                <a:lnTo>
                  <a:pt x="0" y="0"/>
                </a:lnTo>
                <a:lnTo>
                  <a:pt x="0" y="381430"/>
                </a:lnTo>
                <a:close/>
              </a:path>
            </a:pathLst>
          </a:custGeom>
          <a:ln w="9507">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1" name="object 61"/>
          <p:cNvSpPr/>
          <p:nvPr/>
        </p:nvSpPr>
        <p:spPr>
          <a:xfrm>
            <a:off x="8324173" y="3902809"/>
            <a:ext cx="304584" cy="438473"/>
          </a:xfrm>
          <a:custGeom>
            <a:avLst/>
            <a:gdLst/>
            <a:ahLst/>
            <a:cxnLst/>
            <a:rect l="l" t="t" r="r" b="b"/>
            <a:pathLst>
              <a:path w="304800" h="438785">
                <a:moveTo>
                  <a:pt x="0" y="438771"/>
                </a:moveTo>
                <a:lnTo>
                  <a:pt x="304616" y="438771"/>
                </a:lnTo>
                <a:lnTo>
                  <a:pt x="304616" y="0"/>
                </a:lnTo>
                <a:lnTo>
                  <a:pt x="0" y="0"/>
                </a:lnTo>
                <a:lnTo>
                  <a:pt x="0" y="438771"/>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2" name="object 62"/>
          <p:cNvSpPr/>
          <p:nvPr/>
        </p:nvSpPr>
        <p:spPr>
          <a:xfrm>
            <a:off x="8324173" y="3902809"/>
            <a:ext cx="304584" cy="438473"/>
          </a:xfrm>
          <a:custGeom>
            <a:avLst/>
            <a:gdLst/>
            <a:ahLst/>
            <a:cxnLst/>
            <a:rect l="l" t="t" r="r" b="b"/>
            <a:pathLst>
              <a:path w="304800" h="438785">
                <a:moveTo>
                  <a:pt x="0" y="438771"/>
                </a:moveTo>
                <a:lnTo>
                  <a:pt x="304616" y="438771"/>
                </a:lnTo>
                <a:lnTo>
                  <a:pt x="304616" y="0"/>
                </a:lnTo>
                <a:lnTo>
                  <a:pt x="0" y="0"/>
                </a:lnTo>
                <a:lnTo>
                  <a:pt x="0" y="438771"/>
                </a:lnTo>
                <a:close/>
              </a:path>
            </a:pathLst>
          </a:custGeom>
          <a:ln w="9507">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3" name="object 63"/>
          <p:cNvSpPr/>
          <p:nvPr/>
        </p:nvSpPr>
        <p:spPr>
          <a:xfrm>
            <a:off x="337535" y="4336521"/>
            <a:ext cx="8343702" cy="0"/>
          </a:xfrm>
          <a:custGeom>
            <a:avLst/>
            <a:gdLst/>
            <a:ahLst/>
            <a:cxnLst/>
            <a:rect l="l" t="t" r="r" b="b"/>
            <a:pathLst>
              <a:path w="8349615">
                <a:moveTo>
                  <a:pt x="0" y="0"/>
                </a:moveTo>
                <a:lnTo>
                  <a:pt x="8349215" y="0"/>
                </a:lnTo>
              </a:path>
            </a:pathLst>
          </a:custGeom>
          <a:ln w="28512">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4" name="object 64"/>
          <p:cNvSpPr/>
          <p:nvPr/>
        </p:nvSpPr>
        <p:spPr>
          <a:xfrm>
            <a:off x="7367889" y="2507521"/>
            <a:ext cx="1361745" cy="0"/>
          </a:xfrm>
          <a:custGeom>
            <a:avLst/>
            <a:gdLst/>
            <a:ahLst/>
            <a:cxnLst/>
            <a:rect l="l" t="t" r="r" b="b"/>
            <a:pathLst>
              <a:path w="1362709">
                <a:moveTo>
                  <a:pt x="0" y="0"/>
                </a:moveTo>
                <a:lnTo>
                  <a:pt x="1362456"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65" name="object 65"/>
          <p:cNvSpPr/>
          <p:nvPr/>
        </p:nvSpPr>
        <p:spPr>
          <a:xfrm>
            <a:off x="8616685" y="1934142"/>
            <a:ext cx="114219" cy="577441"/>
          </a:xfrm>
          <a:custGeom>
            <a:avLst/>
            <a:gdLst/>
            <a:ahLst/>
            <a:cxnLst/>
            <a:rect l="l" t="t" r="r" b="b"/>
            <a:pathLst>
              <a:path w="114300" h="577850">
                <a:moveTo>
                  <a:pt x="38100" y="463296"/>
                </a:moveTo>
                <a:lnTo>
                  <a:pt x="0" y="463296"/>
                </a:lnTo>
                <a:lnTo>
                  <a:pt x="57150" y="577596"/>
                </a:lnTo>
                <a:lnTo>
                  <a:pt x="104775" y="482346"/>
                </a:lnTo>
                <a:lnTo>
                  <a:pt x="38100" y="482346"/>
                </a:lnTo>
                <a:lnTo>
                  <a:pt x="38100" y="463296"/>
                </a:lnTo>
                <a:close/>
              </a:path>
              <a:path w="114300" h="577850">
                <a:moveTo>
                  <a:pt x="76200" y="0"/>
                </a:moveTo>
                <a:lnTo>
                  <a:pt x="38100" y="0"/>
                </a:lnTo>
                <a:lnTo>
                  <a:pt x="38100" y="482346"/>
                </a:lnTo>
                <a:lnTo>
                  <a:pt x="76200" y="482346"/>
                </a:lnTo>
                <a:lnTo>
                  <a:pt x="76200" y="0"/>
                </a:lnTo>
                <a:close/>
              </a:path>
              <a:path w="114300" h="577850">
                <a:moveTo>
                  <a:pt x="114300" y="463296"/>
                </a:moveTo>
                <a:lnTo>
                  <a:pt x="76200" y="463296"/>
                </a:lnTo>
                <a:lnTo>
                  <a:pt x="76200" y="482346"/>
                </a:lnTo>
                <a:lnTo>
                  <a:pt x="104775" y="482346"/>
                </a:lnTo>
                <a:lnTo>
                  <a:pt x="114300" y="463296"/>
                </a:lnTo>
                <a:close/>
              </a:path>
            </a:pathLst>
          </a:custGeom>
          <a:solidFill>
            <a:srgbClr val="00295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6" name="object 66"/>
          <p:cNvSpPr/>
          <p:nvPr/>
        </p:nvSpPr>
        <p:spPr>
          <a:xfrm>
            <a:off x="4032694" y="1936426"/>
            <a:ext cx="4696941" cy="0"/>
          </a:xfrm>
          <a:custGeom>
            <a:avLst/>
            <a:gdLst/>
            <a:ahLst/>
            <a:cxnLst/>
            <a:rect l="l" t="t" r="r" b="b"/>
            <a:pathLst>
              <a:path w="4700270">
                <a:moveTo>
                  <a:pt x="0" y="0"/>
                </a:moveTo>
                <a:lnTo>
                  <a:pt x="4700016"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67" name="object 67"/>
          <p:cNvSpPr/>
          <p:nvPr/>
        </p:nvSpPr>
        <p:spPr>
          <a:xfrm>
            <a:off x="8421750" y="2053691"/>
            <a:ext cx="501295" cy="234784"/>
          </a:xfrm>
          <a:custGeom>
            <a:avLst/>
            <a:gdLst/>
            <a:ahLst/>
            <a:cxnLst/>
            <a:rect l="l" t="t" r="r" b="b"/>
            <a:pathLst>
              <a:path w="501650" h="234950">
                <a:moveTo>
                  <a:pt x="250698" y="0"/>
                </a:moveTo>
                <a:lnTo>
                  <a:pt x="184061" y="4194"/>
                </a:lnTo>
                <a:lnTo>
                  <a:pt x="124177" y="16030"/>
                </a:lnTo>
                <a:lnTo>
                  <a:pt x="73437" y="34385"/>
                </a:lnTo>
                <a:lnTo>
                  <a:pt x="34233" y="58137"/>
                </a:lnTo>
                <a:lnTo>
                  <a:pt x="0" y="117348"/>
                </a:lnTo>
                <a:lnTo>
                  <a:pt x="8957" y="148530"/>
                </a:lnTo>
                <a:lnTo>
                  <a:pt x="73437" y="200310"/>
                </a:lnTo>
                <a:lnTo>
                  <a:pt x="124177" y="218665"/>
                </a:lnTo>
                <a:lnTo>
                  <a:pt x="184061" y="230501"/>
                </a:lnTo>
                <a:lnTo>
                  <a:pt x="250698" y="234696"/>
                </a:lnTo>
                <a:lnTo>
                  <a:pt x="317334" y="230501"/>
                </a:lnTo>
                <a:lnTo>
                  <a:pt x="377218" y="218665"/>
                </a:lnTo>
                <a:lnTo>
                  <a:pt x="427958" y="200310"/>
                </a:lnTo>
                <a:lnTo>
                  <a:pt x="467162" y="176558"/>
                </a:lnTo>
                <a:lnTo>
                  <a:pt x="501396" y="117348"/>
                </a:lnTo>
                <a:lnTo>
                  <a:pt x="492438" y="86165"/>
                </a:lnTo>
                <a:lnTo>
                  <a:pt x="427958" y="34385"/>
                </a:lnTo>
                <a:lnTo>
                  <a:pt x="377218" y="16030"/>
                </a:lnTo>
                <a:lnTo>
                  <a:pt x="317334" y="4194"/>
                </a:lnTo>
                <a:lnTo>
                  <a:pt x="250698"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8" name="object 68"/>
          <p:cNvSpPr/>
          <p:nvPr/>
        </p:nvSpPr>
        <p:spPr>
          <a:xfrm>
            <a:off x="8421750" y="2053691"/>
            <a:ext cx="501295" cy="234784"/>
          </a:xfrm>
          <a:custGeom>
            <a:avLst/>
            <a:gdLst/>
            <a:ahLst/>
            <a:cxnLst/>
            <a:rect l="l" t="t" r="r" b="b"/>
            <a:pathLst>
              <a:path w="501650" h="234950">
                <a:moveTo>
                  <a:pt x="0" y="117348"/>
                </a:moveTo>
                <a:lnTo>
                  <a:pt x="34233" y="58137"/>
                </a:lnTo>
                <a:lnTo>
                  <a:pt x="73437" y="34385"/>
                </a:lnTo>
                <a:lnTo>
                  <a:pt x="124177" y="16030"/>
                </a:lnTo>
                <a:lnTo>
                  <a:pt x="184061" y="4194"/>
                </a:lnTo>
                <a:lnTo>
                  <a:pt x="250698" y="0"/>
                </a:lnTo>
                <a:lnTo>
                  <a:pt x="317334" y="4194"/>
                </a:lnTo>
                <a:lnTo>
                  <a:pt x="377218" y="16030"/>
                </a:lnTo>
                <a:lnTo>
                  <a:pt x="427958" y="34385"/>
                </a:lnTo>
                <a:lnTo>
                  <a:pt x="467162" y="58137"/>
                </a:lnTo>
                <a:lnTo>
                  <a:pt x="501396" y="117348"/>
                </a:lnTo>
                <a:lnTo>
                  <a:pt x="492438" y="148530"/>
                </a:lnTo>
                <a:lnTo>
                  <a:pt x="427958" y="200310"/>
                </a:lnTo>
                <a:lnTo>
                  <a:pt x="377218" y="218665"/>
                </a:lnTo>
                <a:lnTo>
                  <a:pt x="317334" y="230501"/>
                </a:lnTo>
                <a:lnTo>
                  <a:pt x="250698" y="234696"/>
                </a:lnTo>
                <a:lnTo>
                  <a:pt x="184061" y="230501"/>
                </a:lnTo>
                <a:lnTo>
                  <a:pt x="124177" y="218665"/>
                </a:lnTo>
                <a:lnTo>
                  <a:pt x="73437" y="200310"/>
                </a:lnTo>
                <a:lnTo>
                  <a:pt x="34233" y="176558"/>
                </a:lnTo>
                <a:lnTo>
                  <a:pt x="0" y="117348"/>
                </a:lnTo>
                <a:close/>
              </a:path>
            </a:pathLst>
          </a:custGeom>
          <a:ln w="9525">
            <a:solidFill>
              <a:srgbClr val="00295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9" name="object 69"/>
          <p:cNvSpPr txBox="1"/>
          <p:nvPr/>
        </p:nvSpPr>
        <p:spPr>
          <a:xfrm>
            <a:off x="8484571" y="2053818"/>
            <a:ext cx="382634" cy="196215"/>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Arial" panose="020B0604020202020204"/>
              </a:rPr>
              <a:t>-24%</a:t>
            </a:r>
            <a:endParaRPr sz="1200" b="1" spc="-5" dirty="0">
              <a:latin typeface="微软雅黑" panose="020B0503020204020204" charset="-122"/>
              <a:ea typeface="微软雅黑" panose="020B0503020204020204" charset="-122"/>
              <a:cs typeface="Arial" panose="020B0604020202020204"/>
            </a:endParaRPr>
          </a:p>
        </p:txBody>
      </p:sp>
      <p:sp>
        <p:nvSpPr>
          <p:cNvPr id="70" name="object 70"/>
          <p:cNvSpPr txBox="1"/>
          <p:nvPr/>
        </p:nvSpPr>
        <p:spPr>
          <a:xfrm>
            <a:off x="8299663" y="4779465"/>
            <a:ext cx="177674" cy="196215"/>
          </a:xfrm>
          <a:prstGeom prst="rect">
            <a:avLst/>
          </a:prstGeom>
        </p:spPr>
        <p:txBody>
          <a:bodyPr vert="horz" wrap="square" lIns="0" tIns="12691" rIns="0" bIns="0" rtlCol="0">
            <a:spAutoFit/>
          </a:bodyPr>
          <a:lstStyle/>
          <a:p>
            <a:pPr marL="12700">
              <a:lnSpc>
                <a:spcPct val="100000"/>
              </a:lnSpc>
              <a:spcBef>
                <a:spcPts val="100"/>
              </a:spcBef>
            </a:pPr>
            <a:r>
              <a:rPr sz="1200" dirty="0">
                <a:latin typeface="微软雅黑" panose="020B0503020204020204" charset="-122"/>
                <a:ea typeface="微软雅黑" panose="020B0503020204020204" charset="-122"/>
                <a:cs typeface="微软雅黑" panose="020B0503020204020204" charset="-122"/>
              </a:rPr>
              <a:t>率</a:t>
            </a:r>
            <a:endParaRPr sz="1200" dirty="0">
              <a:latin typeface="微软雅黑" panose="020B0503020204020204" charset="-122"/>
              <a:ea typeface="微软雅黑" panose="020B0503020204020204" charset="-122"/>
              <a:cs typeface="微软雅黑" panose="020B0503020204020204" charset="-122"/>
            </a:endParaRPr>
          </a:p>
        </p:txBody>
      </p:sp>
      <p:sp>
        <p:nvSpPr>
          <p:cNvPr id="71" name="object 71"/>
          <p:cNvSpPr txBox="1"/>
          <p:nvPr/>
        </p:nvSpPr>
        <p:spPr>
          <a:xfrm>
            <a:off x="7050869" y="4779465"/>
            <a:ext cx="749404" cy="565785"/>
          </a:xfrm>
          <a:prstGeom prst="rect">
            <a:avLst/>
          </a:prstGeom>
        </p:spPr>
        <p:txBody>
          <a:bodyPr vert="horz" wrap="square" lIns="0" tIns="12691" rIns="0" bIns="0" rtlCol="0">
            <a:spAutoFit/>
          </a:bodyPr>
          <a:lstStyle/>
          <a:p>
            <a:pPr marR="5080" algn="r">
              <a:lnSpc>
                <a:spcPct val="100000"/>
              </a:lnSpc>
              <a:spcBef>
                <a:spcPts val="100"/>
              </a:spcBef>
            </a:pPr>
            <a:r>
              <a:rPr sz="1200" dirty="0">
                <a:latin typeface="微软雅黑" panose="020B0503020204020204" charset="-122"/>
                <a:ea typeface="微软雅黑" panose="020B0503020204020204" charset="-122"/>
                <a:cs typeface="微软雅黑" panose="020B0503020204020204" charset="-122"/>
              </a:rPr>
              <a:t>购价 </a:t>
            </a:r>
            <a:r>
              <a:rPr sz="1200" spc="20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料的</a:t>
            </a:r>
            <a:endParaRPr sz="1200">
              <a:latin typeface="微软雅黑" panose="020B0503020204020204" charset="-122"/>
              <a:ea typeface="微软雅黑" panose="020B0503020204020204" charset="-122"/>
              <a:cs typeface="微软雅黑" panose="020B0503020204020204" charset="-122"/>
            </a:endParaRPr>
          </a:p>
          <a:p>
            <a:pPr marR="5080" algn="r">
              <a:lnSpc>
                <a:spcPct val="100000"/>
              </a:lnSpc>
            </a:pPr>
            <a:r>
              <a:rPr sz="1200" dirty="0">
                <a:latin typeface="微软雅黑" panose="020B0503020204020204" charset="-122"/>
                <a:ea typeface="微软雅黑" panose="020B0503020204020204" charset="-122"/>
                <a:cs typeface="微软雅黑" panose="020B0503020204020204" charset="-122"/>
              </a:rPr>
              <a:t>落袋</a:t>
            </a:r>
            <a:endParaRPr sz="1200">
              <a:latin typeface="微软雅黑" panose="020B0503020204020204" charset="-122"/>
              <a:ea typeface="微软雅黑" panose="020B0503020204020204" charset="-122"/>
              <a:cs typeface="微软雅黑" panose="020B0503020204020204" charset="-122"/>
            </a:endParaRPr>
          </a:p>
          <a:p>
            <a:pPr marR="5080" algn="r">
              <a:lnSpc>
                <a:spcPct val="100000"/>
              </a:lnSpc>
            </a:pPr>
            <a:r>
              <a:rPr sz="1200" spc="-5" dirty="0">
                <a:latin typeface="微软雅黑" panose="020B0503020204020204" charset="-122"/>
                <a:ea typeface="微软雅黑" panose="020B0503020204020204" charset="-122"/>
                <a:cs typeface="微软雅黑" panose="020B0503020204020204" charset="-122"/>
              </a:rPr>
              <a:t>价格</a:t>
            </a:r>
            <a:endParaRPr sz="1200">
              <a:latin typeface="微软雅黑" panose="020B0503020204020204" charset="-122"/>
              <a:ea typeface="微软雅黑" panose="020B0503020204020204" charset="-122"/>
              <a:cs typeface="微软雅黑" panose="020B0503020204020204" charset="-122"/>
            </a:endParaRPr>
          </a:p>
        </p:txBody>
      </p:sp>
      <p:sp>
        <p:nvSpPr>
          <p:cNvPr id="72" name="object 72"/>
          <p:cNvSpPr txBox="1"/>
          <p:nvPr/>
        </p:nvSpPr>
        <p:spPr>
          <a:xfrm>
            <a:off x="3296868" y="4596715"/>
            <a:ext cx="5332761" cy="196215"/>
          </a:xfrm>
          <a:prstGeom prst="rect">
            <a:avLst/>
          </a:prstGeom>
        </p:spPr>
        <p:txBody>
          <a:bodyPr vert="horz" wrap="square" lIns="0" tIns="12691" rIns="0" bIns="0" rtlCol="0">
            <a:spAutoFit/>
          </a:bodyPr>
          <a:lstStyle/>
          <a:p>
            <a:pPr marL="12700">
              <a:lnSpc>
                <a:spcPct val="100000"/>
              </a:lnSpc>
              <a:spcBef>
                <a:spcPts val="100"/>
              </a:spcBef>
              <a:tabLst>
                <a:tab pos="850900" algn="l"/>
                <a:tab pos="1680845" algn="l"/>
                <a:tab pos="2938780" algn="l"/>
              </a:tabLst>
            </a:pPr>
            <a:r>
              <a:rPr sz="1200" dirty="0">
                <a:latin typeface="微软雅黑" panose="020B0503020204020204" charset="-122"/>
                <a:ea typeface="微软雅黑" panose="020B0503020204020204" charset="-122"/>
                <a:cs typeface="微软雅黑" panose="020B0503020204020204" charset="-122"/>
              </a:rPr>
              <a:t>价格	价格	账款</a:t>
            </a:r>
            <a:r>
              <a:rPr sz="1200" dirty="0">
                <a:latin typeface="微软雅黑" panose="020B0503020204020204" charset="-122"/>
                <a:ea typeface="微软雅黑" panose="020B0503020204020204" charset="-122"/>
                <a:cs typeface="微软雅黑" panose="020B0503020204020204" charset="-122"/>
              </a:rPr>
              <a:t>.	成本</a:t>
            </a:r>
            <a:r>
              <a:rPr sz="1200" spc="215"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价格</a:t>
            </a:r>
            <a:r>
              <a:rPr sz="1200" spc="28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料采</a:t>
            </a:r>
            <a:r>
              <a:rPr sz="1200" spc="28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原材</a:t>
            </a:r>
            <a:r>
              <a:rPr sz="1200" spc="28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成本</a:t>
            </a:r>
            <a:r>
              <a:rPr sz="1200" spc="215"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利润</a:t>
            </a:r>
            <a:endParaRPr sz="1200">
              <a:latin typeface="微软雅黑" panose="020B0503020204020204" charset="-122"/>
              <a:ea typeface="微软雅黑" panose="020B0503020204020204" charset="-122"/>
              <a:cs typeface="微软雅黑" panose="020B0503020204020204" charset="-122"/>
            </a:endParaRPr>
          </a:p>
        </p:txBody>
      </p:sp>
      <p:sp>
        <p:nvSpPr>
          <p:cNvPr id="73" name="object 73"/>
          <p:cNvSpPr txBox="1"/>
          <p:nvPr/>
        </p:nvSpPr>
        <p:spPr>
          <a:xfrm>
            <a:off x="2886062" y="4413963"/>
            <a:ext cx="5743949" cy="196215"/>
          </a:xfrm>
          <a:prstGeom prst="rect">
            <a:avLst/>
          </a:prstGeom>
        </p:spPr>
        <p:txBody>
          <a:bodyPr vert="horz" wrap="square" lIns="0" tIns="12691" rIns="0" bIns="0" rtlCol="0">
            <a:spAutoFit/>
          </a:bodyPr>
          <a:lstStyle/>
          <a:p>
            <a:pPr marL="12700">
              <a:lnSpc>
                <a:spcPct val="100000"/>
              </a:lnSpc>
              <a:spcBef>
                <a:spcPts val="100"/>
              </a:spcBef>
            </a:pPr>
            <a:r>
              <a:rPr sz="1200" dirty="0">
                <a:latin typeface="微软雅黑" panose="020B0503020204020204" charset="-122"/>
                <a:ea typeface="微软雅黑" panose="020B0503020204020204" charset="-122"/>
                <a:cs typeface="微软雅黑" panose="020B0503020204020204" charset="-122"/>
              </a:rPr>
              <a:t>市场</a:t>
            </a:r>
            <a:r>
              <a:rPr sz="1200" spc="225"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目标</a:t>
            </a:r>
            <a:r>
              <a:rPr sz="1200" spc="295"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折扣</a:t>
            </a:r>
            <a:r>
              <a:rPr sz="1200" spc="29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发票</a:t>
            </a:r>
            <a:r>
              <a:rPr sz="1200" spc="29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货运</a:t>
            </a:r>
            <a:r>
              <a:rPr sz="1200" spc="229"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应收</a:t>
            </a:r>
            <a:r>
              <a:rPr sz="1200" spc="29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库存</a:t>
            </a:r>
            <a:r>
              <a:rPr sz="1200" spc="295"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退货</a:t>
            </a:r>
            <a:r>
              <a:rPr sz="1200" spc="29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营销</a:t>
            </a:r>
            <a:r>
              <a:rPr sz="1200" spc="229"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落袋</a:t>
            </a:r>
            <a:r>
              <a:rPr sz="1200" spc="29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原材</a:t>
            </a:r>
            <a:r>
              <a:rPr sz="1200" spc="295"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去除</a:t>
            </a:r>
            <a:r>
              <a:rPr sz="1200" spc="29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加工</a:t>
            </a:r>
            <a:r>
              <a:rPr sz="1200" spc="229"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落袋</a:t>
            </a:r>
            <a:endParaRPr sz="1200">
              <a:latin typeface="微软雅黑" panose="020B0503020204020204" charset="-122"/>
              <a:ea typeface="微软雅黑" panose="020B0503020204020204" charset="-122"/>
              <a:cs typeface="微软雅黑" panose="020B0503020204020204" charset="-122"/>
            </a:endParaRPr>
          </a:p>
        </p:txBody>
      </p:sp>
      <p:sp>
        <p:nvSpPr>
          <p:cNvPr id="74" name="object 74"/>
          <p:cNvSpPr txBox="1"/>
          <p:nvPr/>
        </p:nvSpPr>
        <p:spPr>
          <a:xfrm>
            <a:off x="379308" y="4413963"/>
            <a:ext cx="2418271" cy="565785"/>
          </a:xfrm>
          <a:prstGeom prst="rect">
            <a:avLst/>
          </a:prstGeom>
        </p:spPr>
        <p:txBody>
          <a:bodyPr vert="horz" wrap="square" lIns="0" tIns="12691" rIns="0" bIns="0" rtlCol="0">
            <a:spAutoFit/>
          </a:bodyPr>
          <a:lstStyle/>
          <a:p>
            <a:pPr marL="12700" marR="5080">
              <a:lnSpc>
                <a:spcPct val="100000"/>
              </a:lnSpc>
              <a:spcBef>
                <a:spcPts val="100"/>
              </a:spcBef>
            </a:pPr>
            <a:r>
              <a:rPr sz="1200" dirty="0">
                <a:latin typeface="微软雅黑" panose="020B0503020204020204" charset="-122"/>
                <a:ea typeface="微软雅黑" panose="020B0503020204020204" charset="-122"/>
                <a:cs typeface="微软雅黑" panose="020B0503020204020204" charset="-122"/>
              </a:rPr>
              <a:t>原材</a:t>
            </a:r>
            <a:r>
              <a:rPr sz="1200" spc="275"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基础</a:t>
            </a:r>
            <a:r>
              <a:rPr sz="1200" spc="28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小订</a:t>
            </a:r>
            <a:r>
              <a:rPr sz="1200" spc="235"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产品</a:t>
            </a:r>
            <a:r>
              <a:rPr sz="1200" spc="28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服务</a:t>
            </a:r>
            <a:r>
              <a:rPr sz="1200" spc="28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运费 料 标 加 工</a:t>
            </a:r>
            <a:r>
              <a:rPr sz="1200" spc="-15"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单</a:t>
            </a:r>
            <a:endParaRPr sz="1200">
              <a:latin typeface="微软雅黑" panose="020B0503020204020204" charset="-122"/>
              <a:ea typeface="微软雅黑" panose="020B0503020204020204" charset="-122"/>
              <a:cs typeface="微软雅黑" panose="020B0503020204020204" charset="-122"/>
            </a:endParaRPr>
          </a:p>
          <a:p>
            <a:pPr marL="12700">
              <a:lnSpc>
                <a:spcPct val="100000"/>
              </a:lnSpc>
            </a:pPr>
            <a:r>
              <a:rPr sz="1200" dirty="0">
                <a:latin typeface="微软雅黑" panose="020B0503020204020204" charset="-122"/>
                <a:ea typeface="微软雅黑" panose="020B0503020204020204" charset="-122"/>
                <a:cs typeface="微软雅黑" panose="020B0503020204020204" charset="-122"/>
              </a:rPr>
              <a:t>准 价</a:t>
            </a:r>
            <a:r>
              <a:rPr sz="1200" spc="29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费</a:t>
            </a:r>
            <a:endParaRPr sz="1200">
              <a:latin typeface="微软雅黑" panose="020B0503020204020204" charset="-122"/>
              <a:ea typeface="微软雅黑" panose="020B0503020204020204" charset="-122"/>
              <a:cs typeface="微软雅黑" panose="020B0503020204020204" charset="-122"/>
            </a:endParaRPr>
          </a:p>
        </p:txBody>
      </p:sp>
      <p:sp>
        <p:nvSpPr>
          <p:cNvPr id="75" name="object 75"/>
          <p:cNvSpPr txBox="1">
            <a:spLocks noGrp="1"/>
          </p:cNvSpPr>
          <p:nvPr>
            <p:ph type="title"/>
          </p:nvPr>
        </p:nvSpPr>
        <p:spPr>
          <a:xfrm>
            <a:off x="106401" y="200043"/>
            <a:ext cx="8469977" cy="598170"/>
          </a:xfrm>
          <a:prstGeom prst="rect">
            <a:avLst/>
          </a:prstGeom>
        </p:spPr>
        <p:txBody>
          <a:bodyPr vert="horz" wrap="square" lIns="0" tIns="8883" rIns="0" bIns="0" rtlCol="0">
            <a:spAutoFit/>
          </a:bodyPr>
          <a:lstStyle/>
          <a:p>
            <a:pPr marL="12700" marR="5080">
              <a:lnSpc>
                <a:spcPct val="101000"/>
              </a:lnSpc>
              <a:spcBef>
                <a:spcPts val="70"/>
              </a:spcBef>
            </a:pPr>
            <a:r>
              <a:rPr spc="-5" dirty="0">
                <a:ea typeface="微软雅黑" panose="020B0503020204020204" charset="-122"/>
              </a:rPr>
              <a:t>如何把握客</a:t>
            </a:r>
            <a:r>
              <a:rPr spc="-10" dirty="0">
                <a:ea typeface="微软雅黑" panose="020B0503020204020204" charset="-122"/>
              </a:rPr>
              <a:t>户定</a:t>
            </a:r>
            <a:r>
              <a:rPr spc="-5" dirty="0">
                <a:ea typeface="微软雅黑" panose="020B0503020204020204" charset="-122"/>
              </a:rPr>
              <a:t>价</a:t>
            </a:r>
            <a:r>
              <a:rPr spc="-10" dirty="0">
                <a:ea typeface="微软雅黑" panose="020B0503020204020204" charset="-122"/>
              </a:rPr>
              <a:t>？一</a:t>
            </a:r>
            <a:r>
              <a:rPr spc="15" dirty="0">
                <a:ea typeface="微软雅黑" panose="020B0503020204020204" charset="-122"/>
              </a:rPr>
              <a:t>、</a:t>
            </a:r>
            <a:r>
              <a:rPr spc="-10" dirty="0">
                <a:ea typeface="微软雅黑" panose="020B0503020204020204" charset="-122"/>
              </a:rPr>
              <a:t>准确</a:t>
            </a:r>
            <a:r>
              <a:rPr dirty="0">
                <a:ea typeface="微软雅黑" panose="020B0503020204020204" charset="-122"/>
              </a:rPr>
              <a:t>地</a:t>
            </a:r>
            <a:r>
              <a:rPr spc="-10" dirty="0">
                <a:ea typeface="微软雅黑" panose="020B0503020204020204" charset="-122"/>
              </a:rPr>
              <a:t>计算</a:t>
            </a:r>
            <a:r>
              <a:rPr spc="-5" dirty="0">
                <a:ea typeface="微软雅黑" panose="020B0503020204020204" charset="-122"/>
              </a:rPr>
              <a:t>每</a:t>
            </a:r>
            <a:r>
              <a:rPr spc="-10" dirty="0">
                <a:ea typeface="微软雅黑" panose="020B0503020204020204" charset="-122"/>
              </a:rPr>
              <a:t>笔交</a:t>
            </a:r>
            <a:r>
              <a:rPr spc="-5" dirty="0">
                <a:ea typeface="微软雅黑" panose="020B0503020204020204" charset="-122"/>
              </a:rPr>
              <a:t>易</a:t>
            </a:r>
            <a:r>
              <a:rPr spc="-10" dirty="0">
                <a:ea typeface="微软雅黑" panose="020B0503020204020204" charset="-122"/>
              </a:rPr>
              <a:t>对于</a:t>
            </a:r>
            <a:r>
              <a:rPr spc="-5" dirty="0">
                <a:ea typeface="微软雅黑" panose="020B0503020204020204" charset="-122"/>
              </a:rPr>
              <a:t>企</a:t>
            </a:r>
            <a:r>
              <a:rPr spc="-10" dirty="0">
                <a:ea typeface="微软雅黑" panose="020B0503020204020204" charset="-122"/>
              </a:rPr>
              <a:t>业的</a:t>
            </a:r>
            <a:r>
              <a:rPr spc="-5" dirty="0">
                <a:ea typeface="微软雅黑" panose="020B0503020204020204" charset="-122"/>
              </a:rPr>
              <a:t>真</a:t>
            </a:r>
            <a:r>
              <a:rPr spc="-10" dirty="0">
                <a:ea typeface="微软雅黑" panose="020B0503020204020204" charset="-122"/>
              </a:rPr>
              <a:t>实价</a:t>
            </a:r>
            <a:r>
              <a:rPr spc="-5" dirty="0">
                <a:ea typeface="微软雅黑" panose="020B0503020204020204" charset="-122"/>
              </a:rPr>
              <a:t>值</a:t>
            </a:r>
            <a:r>
              <a:rPr spc="5" dirty="0">
                <a:ea typeface="微软雅黑" panose="020B0503020204020204" charset="-122"/>
              </a:rPr>
              <a:t>，</a:t>
            </a:r>
            <a:r>
              <a:rPr spc="-10" dirty="0">
                <a:ea typeface="微软雅黑" panose="020B0503020204020204" charset="-122"/>
              </a:rPr>
              <a:t>以</a:t>
            </a:r>
            <a:r>
              <a:rPr spc="-5" dirty="0">
                <a:ea typeface="微软雅黑" panose="020B0503020204020204" charset="-122"/>
              </a:rPr>
              <a:t>准</a:t>
            </a:r>
            <a:r>
              <a:rPr spc="-10" dirty="0">
                <a:ea typeface="微软雅黑" panose="020B0503020204020204" charset="-122"/>
              </a:rPr>
              <a:t>确把握 </a:t>
            </a:r>
            <a:r>
              <a:rPr dirty="0">
                <a:ea typeface="微软雅黑" panose="020B0503020204020204" charset="-122"/>
              </a:rPr>
              <a:t>提升价值的</a:t>
            </a:r>
            <a:r>
              <a:rPr spc="-10" dirty="0">
                <a:ea typeface="微软雅黑" panose="020B0503020204020204" charset="-122"/>
              </a:rPr>
              <a:t>机会</a:t>
            </a:r>
            <a:endParaRPr spc="-10" dirty="0">
              <a:ea typeface="微软雅黑" panose="020B0503020204020204" charset="-122"/>
            </a:endParaRPr>
          </a:p>
        </p:txBody>
      </p:sp>
      <p:sp>
        <p:nvSpPr>
          <p:cNvPr id="76" name="object 76"/>
          <p:cNvSpPr/>
          <p:nvPr/>
        </p:nvSpPr>
        <p:spPr>
          <a:xfrm>
            <a:off x="7035894" y="1959270"/>
            <a:ext cx="1227855" cy="484796"/>
          </a:xfrm>
          <a:custGeom>
            <a:avLst/>
            <a:gdLst/>
            <a:ahLst/>
            <a:cxnLst/>
            <a:rect l="l" t="t" r="r" b="b"/>
            <a:pathLst>
              <a:path w="1228725" h="485139">
                <a:moveTo>
                  <a:pt x="614172" y="0"/>
                </a:moveTo>
                <a:lnTo>
                  <a:pt x="547247" y="1421"/>
                </a:lnTo>
                <a:lnTo>
                  <a:pt x="482411" y="5587"/>
                </a:lnTo>
                <a:lnTo>
                  <a:pt x="420038" y="12350"/>
                </a:lnTo>
                <a:lnTo>
                  <a:pt x="360502" y="21562"/>
                </a:lnTo>
                <a:lnTo>
                  <a:pt x="304179" y="33076"/>
                </a:lnTo>
                <a:lnTo>
                  <a:pt x="251441" y="46744"/>
                </a:lnTo>
                <a:lnTo>
                  <a:pt x="202665" y="62418"/>
                </a:lnTo>
                <a:lnTo>
                  <a:pt x="158224" y="79950"/>
                </a:lnTo>
                <a:lnTo>
                  <a:pt x="118494" y="99194"/>
                </a:lnTo>
                <a:lnTo>
                  <a:pt x="83848" y="120000"/>
                </a:lnTo>
                <a:lnTo>
                  <a:pt x="31309" y="165713"/>
                </a:lnTo>
                <a:lnTo>
                  <a:pt x="3603" y="215907"/>
                </a:lnTo>
                <a:lnTo>
                  <a:pt x="0" y="242315"/>
                </a:lnTo>
                <a:lnTo>
                  <a:pt x="3603" y="268724"/>
                </a:lnTo>
                <a:lnTo>
                  <a:pt x="31309" y="318918"/>
                </a:lnTo>
                <a:lnTo>
                  <a:pt x="83848" y="364631"/>
                </a:lnTo>
                <a:lnTo>
                  <a:pt x="118494" y="385437"/>
                </a:lnTo>
                <a:lnTo>
                  <a:pt x="158224" y="404681"/>
                </a:lnTo>
                <a:lnTo>
                  <a:pt x="202665" y="422213"/>
                </a:lnTo>
                <a:lnTo>
                  <a:pt x="251441" y="437887"/>
                </a:lnTo>
                <a:lnTo>
                  <a:pt x="304179" y="451555"/>
                </a:lnTo>
                <a:lnTo>
                  <a:pt x="360502" y="463069"/>
                </a:lnTo>
                <a:lnTo>
                  <a:pt x="420038" y="472281"/>
                </a:lnTo>
                <a:lnTo>
                  <a:pt x="482411" y="479044"/>
                </a:lnTo>
                <a:lnTo>
                  <a:pt x="547247" y="483210"/>
                </a:lnTo>
                <a:lnTo>
                  <a:pt x="614172" y="484631"/>
                </a:lnTo>
                <a:lnTo>
                  <a:pt x="681096" y="483210"/>
                </a:lnTo>
                <a:lnTo>
                  <a:pt x="745932" y="479044"/>
                </a:lnTo>
                <a:lnTo>
                  <a:pt x="808305" y="472281"/>
                </a:lnTo>
                <a:lnTo>
                  <a:pt x="867841" y="463069"/>
                </a:lnTo>
                <a:lnTo>
                  <a:pt x="924164" y="451555"/>
                </a:lnTo>
                <a:lnTo>
                  <a:pt x="976902" y="437887"/>
                </a:lnTo>
                <a:lnTo>
                  <a:pt x="1025678" y="422213"/>
                </a:lnTo>
                <a:lnTo>
                  <a:pt x="1070119" y="404681"/>
                </a:lnTo>
                <a:lnTo>
                  <a:pt x="1109849" y="385437"/>
                </a:lnTo>
                <a:lnTo>
                  <a:pt x="1144495" y="364631"/>
                </a:lnTo>
                <a:lnTo>
                  <a:pt x="1197034" y="318918"/>
                </a:lnTo>
                <a:lnTo>
                  <a:pt x="1224740" y="268724"/>
                </a:lnTo>
                <a:lnTo>
                  <a:pt x="1228344" y="242315"/>
                </a:lnTo>
                <a:lnTo>
                  <a:pt x="1224740" y="215907"/>
                </a:lnTo>
                <a:lnTo>
                  <a:pt x="1197034" y="165713"/>
                </a:lnTo>
                <a:lnTo>
                  <a:pt x="1144495" y="120000"/>
                </a:lnTo>
                <a:lnTo>
                  <a:pt x="1109849" y="99194"/>
                </a:lnTo>
                <a:lnTo>
                  <a:pt x="1070119" y="79950"/>
                </a:lnTo>
                <a:lnTo>
                  <a:pt x="1025678" y="62418"/>
                </a:lnTo>
                <a:lnTo>
                  <a:pt x="976902" y="46744"/>
                </a:lnTo>
                <a:lnTo>
                  <a:pt x="924164" y="33076"/>
                </a:lnTo>
                <a:lnTo>
                  <a:pt x="867841" y="21562"/>
                </a:lnTo>
                <a:lnTo>
                  <a:pt x="808305" y="12350"/>
                </a:lnTo>
                <a:lnTo>
                  <a:pt x="745932" y="5587"/>
                </a:lnTo>
                <a:lnTo>
                  <a:pt x="681096" y="1421"/>
                </a:lnTo>
                <a:lnTo>
                  <a:pt x="614172"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7" name="object 77"/>
          <p:cNvSpPr txBox="1"/>
          <p:nvPr/>
        </p:nvSpPr>
        <p:spPr>
          <a:xfrm>
            <a:off x="7287302" y="1995058"/>
            <a:ext cx="725926" cy="365760"/>
          </a:xfrm>
          <a:prstGeom prst="rect">
            <a:avLst/>
          </a:prstGeom>
        </p:spPr>
        <p:txBody>
          <a:bodyPr vert="horz" wrap="square" lIns="0" tIns="32996" rIns="0" bIns="0" rtlCol="0">
            <a:spAutoFit/>
          </a:bodyPr>
          <a:lstStyle/>
          <a:p>
            <a:pPr marL="76200" marR="5080" indent="-64135">
              <a:lnSpc>
                <a:spcPts val="1300"/>
              </a:lnSpc>
              <a:spcBef>
                <a:spcPts val="260"/>
              </a:spcBef>
            </a:pPr>
            <a:r>
              <a:rPr sz="1200" b="1" spc="-5" dirty="0">
                <a:solidFill>
                  <a:srgbClr val="FFFFFF"/>
                </a:solidFill>
                <a:latin typeface="微软雅黑" panose="020B0503020204020204" charset="-122"/>
                <a:ea typeface="微软雅黑" panose="020B0503020204020204" charset="-122"/>
                <a:cs typeface="微软雅黑" panose="020B0503020204020204" charset="-122"/>
              </a:rPr>
              <a:t>~24</a:t>
            </a:r>
            <a:r>
              <a:rPr sz="1200" b="1" spc="-15" dirty="0">
                <a:solidFill>
                  <a:srgbClr val="FFFFFF"/>
                </a:solidFill>
                <a:latin typeface="微软雅黑" panose="020B0503020204020204" charset="-122"/>
                <a:ea typeface="微软雅黑" panose="020B0503020204020204" charset="-122"/>
                <a:cs typeface="微软雅黑" panose="020B0503020204020204" charset="-122"/>
              </a:rPr>
              <a:t>%</a:t>
            </a:r>
            <a:r>
              <a:rPr sz="1200" b="1" spc="5" dirty="0">
                <a:solidFill>
                  <a:srgbClr val="FFFFFF"/>
                </a:solidFill>
                <a:latin typeface="微软雅黑" panose="020B0503020204020204" charset="-122"/>
                <a:ea typeface="微软雅黑" panose="020B0503020204020204" charset="-122"/>
                <a:cs typeface="微软雅黑" panose="020B0503020204020204" charset="-122"/>
              </a:rPr>
              <a:t>价格  “损失”</a:t>
            </a:r>
            <a:endParaRPr sz="1200">
              <a:latin typeface="微软雅黑" panose="020B0503020204020204" charset="-122"/>
              <a:ea typeface="微软雅黑" panose="020B0503020204020204" charset="-122"/>
              <a:cs typeface="微软雅黑" panose="020B0503020204020204" charset="-122"/>
            </a:endParaRPr>
          </a:p>
        </p:txBody>
      </p:sp>
      <p:sp>
        <p:nvSpPr>
          <p:cNvPr id="78" name="object 78"/>
          <p:cNvSpPr/>
          <p:nvPr/>
        </p:nvSpPr>
        <p:spPr>
          <a:xfrm>
            <a:off x="2150871" y="4830482"/>
            <a:ext cx="85664" cy="560942"/>
          </a:xfrm>
          <a:custGeom>
            <a:avLst/>
            <a:gdLst/>
            <a:ahLst/>
            <a:cxnLst/>
            <a:rect l="l" t="t" r="r" b="b"/>
            <a:pathLst>
              <a:path w="85725" h="561339">
                <a:moveTo>
                  <a:pt x="28584" y="82830"/>
                </a:moveTo>
                <a:lnTo>
                  <a:pt x="28702" y="561085"/>
                </a:lnTo>
                <a:lnTo>
                  <a:pt x="57277" y="561085"/>
                </a:lnTo>
                <a:lnTo>
                  <a:pt x="57160" y="85725"/>
                </a:lnTo>
                <a:lnTo>
                  <a:pt x="42926" y="85725"/>
                </a:lnTo>
                <a:lnTo>
                  <a:pt x="28584" y="82830"/>
                </a:lnTo>
                <a:close/>
              </a:path>
              <a:path w="85725" h="561339">
                <a:moveTo>
                  <a:pt x="57150" y="42925"/>
                </a:moveTo>
                <a:lnTo>
                  <a:pt x="28575" y="42925"/>
                </a:lnTo>
                <a:lnTo>
                  <a:pt x="28675" y="82848"/>
                </a:lnTo>
                <a:lnTo>
                  <a:pt x="42926" y="85725"/>
                </a:lnTo>
                <a:lnTo>
                  <a:pt x="57159" y="82848"/>
                </a:lnTo>
                <a:lnTo>
                  <a:pt x="57150" y="42925"/>
                </a:lnTo>
                <a:close/>
              </a:path>
              <a:path w="85725" h="561339">
                <a:moveTo>
                  <a:pt x="57159" y="82848"/>
                </a:moveTo>
                <a:lnTo>
                  <a:pt x="42926" y="85725"/>
                </a:lnTo>
                <a:lnTo>
                  <a:pt x="57160" y="85725"/>
                </a:lnTo>
                <a:lnTo>
                  <a:pt x="57159" y="82848"/>
                </a:lnTo>
                <a:close/>
              </a:path>
              <a:path w="85725" h="561339">
                <a:moveTo>
                  <a:pt x="85725" y="42925"/>
                </a:moveTo>
                <a:lnTo>
                  <a:pt x="57150" y="42925"/>
                </a:lnTo>
                <a:lnTo>
                  <a:pt x="57159" y="82848"/>
                </a:lnTo>
                <a:lnTo>
                  <a:pt x="59578" y="82359"/>
                </a:lnTo>
                <a:lnTo>
                  <a:pt x="73183" y="73183"/>
                </a:lnTo>
                <a:lnTo>
                  <a:pt x="82359" y="59578"/>
                </a:lnTo>
                <a:lnTo>
                  <a:pt x="85725" y="42925"/>
                </a:lnTo>
                <a:close/>
              </a:path>
              <a:path w="85725" h="561339">
                <a:moveTo>
                  <a:pt x="42926" y="0"/>
                </a:moveTo>
                <a:lnTo>
                  <a:pt x="26253" y="3385"/>
                </a:lnTo>
                <a:lnTo>
                  <a:pt x="12604" y="12604"/>
                </a:lnTo>
                <a:lnTo>
                  <a:pt x="3385" y="26253"/>
                </a:lnTo>
                <a:lnTo>
                  <a:pt x="0" y="42925"/>
                </a:lnTo>
                <a:lnTo>
                  <a:pt x="3385" y="59578"/>
                </a:lnTo>
                <a:lnTo>
                  <a:pt x="12604" y="73183"/>
                </a:lnTo>
                <a:lnTo>
                  <a:pt x="26253" y="82359"/>
                </a:lnTo>
                <a:lnTo>
                  <a:pt x="28584" y="82830"/>
                </a:lnTo>
                <a:lnTo>
                  <a:pt x="28575" y="42925"/>
                </a:lnTo>
                <a:lnTo>
                  <a:pt x="85725" y="42925"/>
                </a:lnTo>
                <a:lnTo>
                  <a:pt x="82359" y="26253"/>
                </a:lnTo>
                <a:lnTo>
                  <a:pt x="73183" y="12604"/>
                </a:lnTo>
                <a:lnTo>
                  <a:pt x="59578" y="3385"/>
                </a:lnTo>
                <a:lnTo>
                  <a:pt x="42926" y="0"/>
                </a:lnTo>
                <a:close/>
              </a:path>
            </a:pathLst>
          </a:custGeom>
          <a:solidFill>
            <a:srgbClr val="80808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9" name="object 79"/>
          <p:cNvSpPr/>
          <p:nvPr/>
        </p:nvSpPr>
        <p:spPr>
          <a:xfrm>
            <a:off x="5498250" y="4830482"/>
            <a:ext cx="85664" cy="560942"/>
          </a:xfrm>
          <a:custGeom>
            <a:avLst/>
            <a:gdLst/>
            <a:ahLst/>
            <a:cxnLst/>
            <a:rect l="l" t="t" r="r" b="b"/>
            <a:pathLst>
              <a:path w="85725" h="561339">
                <a:moveTo>
                  <a:pt x="28575" y="82828"/>
                </a:moveTo>
                <a:lnTo>
                  <a:pt x="28575" y="561085"/>
                </a:lnTo>
                <a:lnTo>
                  <a:pt x="57150" y="561085"/>
                </a:lnTo>
                <a:lnTo>
                  <a:pt x="57150" y="85725"/>
                </a:lnTo>
                <a:lnTo>
                  <a:pt x="42925" y="85725"/>
                </a:lnTo>
                <a:lnTo>
                  <a:pt x="28575" y="82828"/>
                </a:lnTo>
                <a:close/>
              </a:path>
              <a:path w="85725" h="561339">
                <a:moveTo>
                  <a:pt x="57150" y="42925"/>
                </a:moveTo>
                <a:lnTo>
                  <a:pt x="28575" y="42925"/>
                </a:lnTo>
                <a:lnTo>
                  <a:pt x="28685" y="82850"/>
                </a:lnTo>
                <a:lnTo>
                  <a:pt x="42925" y="85725"/>
                </a:lnTo>
                <a:lnTo>
                  <a:pt x="57150" y="82850"/>
                </a:lnTo>
                <a:lnTo>
                  <a:pt x="57150" y="42925"/>
                </a:lnTo>
                <a:close/>
              </a:path>
              <a:path w="85725" h="561339">
                <a:moveTo>
                  <a:pt x="57150" y="82850"/>
                </a:moveTo>
                <a:lnTo>
                  <a:pt x="42925" y="85725"/>
                </a:lnTo>
                <a:lnTo>
                  <a:pt x="57150" y="85725"/>
                </a:lnTo>
                <a:lnTo>
                  <a:pt x="57150" y="82850"/>
                </a:lnTo>
                <a:close/>
              </a:path>
              <a:path w="85725" h="561339">
                <a:moveTo>
                  <a:pt x="85725" y="42925"/>
                </a:moveTo>
                <a:lnTo>
                  <a:pt x="57150" y="42925"/>
                </a:lnTo>
                <a:lnTo>
                  <a:pt x="57150" y="82850"/>
                </a:lnTo>
                <a:lnTo>
                  <a:pt x="59578" y="82359"/>
                </a:lnTo>
                <a:lnTo>
                  <a:pt x="73183" y="73183"/>
                </a:lnTo>
                <a:lnTo>
                  <a:pt x="82359" y="59578"/>
                </a:lnTo>
                <a:lnTo>
                  <a:pt x="85725" y="42925"/>
                </a:lnTo>
                <a:close/>
              </a:path>
              <a:path w="85725" h="561339">
                <a:moveTo>
                  <a:pt x="42925" y="0"/>
                </a:moveTo>
                <a:lnTo>
                  <a:pt x="26253" y="3385"/>
                </a:lnTo>
                <a:lnTo>
                  <a:pt x="12604" y="12604"/>
                </a:lnTo>
                <a:lnTo>
                  <a:pt x="3385" y="26253"/>
                </a:lnTo>
                <a:lnTo>
                  <a:pt x="0" y="42925"/>
                </a:lnTo>
                <a:lnTo>
                  <a:pt x="3385" y="59578"/>
                </a:lnTo>
                <a:lnTo>
                  <a:pt x="12604" y="73183"/>
                </a:lnTo>
                <a:lnTo>
                  <a:pt x="26253" y="82359"/>
                </a:lnTo>
                <a:lnTo>
                  <a:pt x="28575" y="82828"/>
                </a:lnTo>
                <a:lnTo>
                  <a:pt x="28575" y="42925"/>
                </a:lnTo>
                <a:lnTo>
                  <a:pt x="85725" y="42925"/>
                </a:lnTo>
                <a:lnTo>
                  <a:pt x="82359" y="26253"/>
                </a:lnTo>
                <a:lnTo>
                  <a:pt x="73183" y="12604"/>
                </a:lnTo>
                <a:lnTo>
                  <a:pt x="59578" y="3385"/>
                </a:lnTo>
                <a:lnTo>
                  <a:pt x="42925" y="0"/>
                </a:lnTo>
                <a:close/>
              </a:path>
            </a:pathLst>
          </a:custGeom>
          <a:solidFill>
            <a:srgbClr val="80808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80" name="object 80"/>
          <p:cNvSpPr/>
          <p:nvPr/>
        </p:nvSpPr>
        <p:spPr>
          <a:xfrm>
            <a:off x="6325196" y="4830482"/>
            <a:ext cx="85664" cy="560942"/>
          </a:xfrm>
          <a:custGeom>
            <a:avLst/>
            <a:gdLst/>
            <a:ahLst/>
            <a:cxnLst/>
            <a:rect l="l" t="t" r="r" b="b"/>
            <a:pathLst>
              <a:path w="85725" h="561339">
                <a:moveTo>
                  <a:pt x="28575" y="82828"/>
                </a:moveTo>
                <a:lnTo>
                  <a:pt x="28575" y="561085"/>
                </a:lnTo>
                <a:lnTo>
                  <a:pt x="57150" y="561085"/>
                </a:lnTo>
                <a:lnTo>
                  <a:pt x="57150" y="85725"/>
                </a:lnTo>
                <a:lnTo>
                  <a:pt x="42925" y="85725"/>
                </a:lnTo>
                <a:lnTo>
                  <a:pt x="28575" y="82828"/>
                </a:lnTo>
                <a:close/>
              </a:path>
              <a:path w="85725" h="561339">
                <a:moveTo>
                  <a:pt x="57150" y="42925"/>
                </a:moveTo>
                <a:lnTo>
                  <a:pt x="28575" y="42925"/>
                </a:lnTo>
                <a:lnTo>
                  <a:pt x="28685" y="82850"/>
                </a:lnTo>
                <a:lnTo>
                  <a:pt x="42925" y="85725"/>
                </a:lnTo>
                <a:lnTo>
                  <a:pt x="57150" y="82850"/>
                </a:lnTo>
                <a:lnTo>
                  <a:pt x="57150" y="42925"/>
                </a:lnTo>
                <a:close/>
              </a:path>
              <a:path w="85725" h="561339">
                <a:moveTo>
                  <a:pt x="57150" y="82850"/>
                </a:moveTo>
                <a:lnTo>
                  <a:pt x="42925" y="85725"/>
                </a:lnTo>
                <a:lnTo>
                  <a:pt x="57150" y="85725"/>
                </a:lnTo>
                <a:lnTo>
                  <a:pt x="57150" y="82850"/>
                </a:lnTo>
                <a:close/>
              </a:path>
              <a:path w="85725" h="561339">
                <a:moveTo>
                  <a:pt x="85725" y="42925"/>
                </a:moveTo>
                <a:lnTo>
                  <a:pt x="57150" y="42925"/>
                </a:lnTo>
                <a:lnTo>
                  <a:pt x="57150" y="82850"/>
                </a:lnTo>
                <a:lnTo>
                  <a:pt x="59578" y="82359"/>
                </a:lnTo>
                <a:lnTo>
                  <a:pt x="73183" y="73183"/>
                </a:lnTo>
                <a:lnTo>
                  <a:pt x="82359" y="59578"/>
                </a:lnTo>
                <a:lnTo>
                  <a:pt x="85725" y="42925"/>
                </a:lnTo>
                <a:close/>
              </a:path>
              <a:path w="85725" h="561339">
                <a:moveTo>
                  <a:pt x="42925" y="0"/>
                </a:moveTo>
                <a:lnTo>
                  <a:pt x="26253" y="3385"/>
                </a:lnTo>
                <a:lnTo>
                  <a:pt x="12604" y="12604"/>
                </a:lnTo>
                <a:lnTo>
                  <a:pt x="3385" y="26253"/>
                </a:lnTo>
                <a:lnTo>
                  <a:pt x="0" y="42925"/>
                </a:lnTo>
                <a:lnTo>
                  <a:pt x="3385" y="59578"/>
                </a:lnTo>
                <a:lnTo>
                  <a:pt x="12604" y="73183"/>
                </a:lnTo>
                <a:lnTo>
                  <a:pt x="26253" y="82359"/>
                </a:lnTo>
                <a:lnTo>
                  <a:pt x="28575" y="82828"/>
                </a:lnTo>
                <a:lnTo>
                  <a:pt x="28575" y="42925"/>
                </a:lnTo>
                <a:lnTo>
                  <a:pt x="85725" y="42925"/>
                </a:lnTo>
                <a:lnTo>
                  <a:pt x="82359" y="26253"/>
                </a:lnTo>
                <a:lnTo>
                  <a:pt x="73183" y="12604"/>
                </a:lnTo>
                <a:lnTo>
                  <a:pt x="59578" y="3385"/>
                </a:lnTo>
                <a:lnTo>
                  <a:pt x="42925" y="0"/>
                </a:lnTo>
                <a:close/>
              </a:path>
            </a:pathLst>
          </a:custGeom>
          <a:solidFill>
            <a:srgbClr val="80808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81" name="object 81"/>
          <p:cNvSpPr/>
          <p:nvPr/>
        </p:nvSpPr>
        <p:spPr>
          <a:xfrm>
            <a:off x="180466" y="4335787"/>
            <a:ext cx="8515030" cy="0"/>
          </a:xfrm>
          <a:custGeom>
            <a:avLst/>
            <a:gdLst/>
            <a:ahLst/>
            <a:cxnLst/>
            <a:rect l="l" t="t" r="r" b="b"/>
            <a:pathLst>
              <a:path w="8521065">
                <a:moveTo>
                  <a:pt x="0" y="0"/>
                </a:moveTo>
                <a:lnTo>
                  <a:pt x="8520684" y="0"/>
                </a:lnTo>
              </a:path>
            </a:pathLst>
          </a:custGeom>
          <a:ln w="2857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82" name="object 82"/>
          <p:cNvSpPr/>
          <p:nvPr/>
        </p:nvSpPr>
        <p:spPr>
          <a:xfrm>
            <a:off x="4453782" y="1915867"/>
            <a:ext cx="2185391" cy="1401087"/>
          </a:xfrm>
          <a:custGeom>
            <a:avLst/>
            <a:gdLst/>
            <a:ahLst/>
            <a:cxnLst/>
            <a:rect l="l" t="t" r="r" b="b"/>
            <a:pathLst>
              <a:path w="2186940" h="1402079">
                <a:moveTo>
                  <a:pt x="0" y="701039"/>
                </a:moveTo>
                <a:lnTo>
                  <a:pt x="6012" y="627074"/>
                </a:lnTo>
                <a:lnTo>
                  <a:pt x="23647" y="555330"/>
                </a:lnTo>
                <a:lnTo>
                  <a:pt x="52299" y="486193"/>
                </a:lnTo>
                <a:lnTo>
                  <a:pt x="70568" y="452724"/>
                </a:lnTo>
                <a:lnTo>
                  <a:pt x="91365" y="420052"/>
                </a:lnTo>
                <a:lnTo>
                  <a:pt x="114613" y="388225"/>
                </a:lnTo>
                <a:lnTo>
                  <a:pt x="140238" y="357293"/>
                </a:lnTo>
                <a:lnTo>
                  <a:pt x="168164" y="327303"/>
                </a:lnTo>
                <a:lnTo>
                  <a:pt x="198315" y="298304"/>
                </a:lnTo>
                <a:lnTo>
                  <a:pt x="230616" y="270345"/>
                </a:lnTo>
                <a:lnTo>
                  <a:pt x="264991" y="243473"/>
                </a:lnTo>
                <a:lnTo>
                  <a:pt x="301365" y="217737"/>
                </a:lnTo>
                <a:lnTo>
                  <a:pt x="339662" y="193186"/>
                </a:lnTo>
                <a:lnTo>
                  <a:pt x="379806" y="169869"/>
                </a:lnTo>
                <a:lnTo>
                  <a:pt x="421721" y="147832"/>
                </a:lnTo>
                <a:lnTo>
                  <a:pt x="465333" y="127125"/>
                </a:lnTo>
                <a:lnTo>
                  <a:pt x="510566" y="107797"/>
                </a:lnTo>
                <a:lnTo>
                  <a:pt x="557344" y="89895"/>
                </a:lnTo>
                <a:lnTo>
                  <a:pt x="605591" y="73469"/>
                </a:lnTo>
                <a:lnTo>
                  <a:pt x="655232" y="58566"/>
                </a:lnTo>
                <a:lnTo>
                  <a:pt x="706191" y="45235"/>
                </a:lnTo>
                <a:lnTo>
                  <a:pt x="758393" y="33524"/>
                </a:lnTo>
                <a:lnTo>
                  <a:pt x="811762" y="23482"/>
                </a:lnTo>
                <a:lnTo>
                  <a:pt x="866223" y="15158"/>
                </a:lnTo>
                <a:lnTo>
                  <a:pt x="921700" y="8599"/>
                </a:lnTo>
                <a:lnTo>
                  <a:pt x="978117" y="3854"/>
                </a:lnTo>
                <a:lnTo>
                  <a:pt x="1035398" y="971"/>
                </a:lnTo>
                <a:lnTo>
                  <a:pt x="1093470" y="0"/>
                </a:lnTo>
                <a:lnTo>
                  <a:pt x="1151541" y="971"/>
                </a:lnTo>
                <a:lnTo>
                  <a:pt x="1208822" y="3854"/>
                </a:lnTo>
                <a:lnTo>
                  <a:pt x="1265239" y="8599"/>
                </a:lnTo>
                <a:lnTo>
                  <a:pt x="1320716" y="15158"/>
                </a:lnTo>
                <a:lnTo>
                  <a:pt x="1375177" y="23482"/>
                </a:lnTo>
                <a:lnTo>
                  <a:pt x="1428546" y="33524"/>
                </a:lnTo>
                <a:lnTo>
                  <a:pt x="1480748" y="45235"/>
                </a:lnTo>
                <a:lnTo>
                  <a:pt x="1531707" y="58566"/>
                </a:lnTo>
                <a:lnTo>
                  <a:pt x="1581348" y="73469"/>
                </a:lnTo>
                <a:lnTo>
                  <a:pt x="1629595" y="89895"/>
                </a:lnTo>
                <a:lnTo>
                  <a:pt x="1676373" y="107797"/>
                </a:lnTo>
                <a:lnTo>
                  <a:pt x="1721606" y="127125"/>
                </a:lnTo>
                <a:lnTo>
                  <a:pt x="1765218" y="147832"/>
                </a:lnTo>
                <a:lnTo>
                  <a:pt x="1807133" y="169869"/>
                </a:lnTo>
                <a:lnTo>
                  <a:pt x="1847277" y="193186"/>
                </a:lnTo>
                <a:lnTo>
                  <a:pt x="1885574" y="217737"/>
                </a:lnTo>
                <a:lnTo>
                  <a:pt x="1921948" y="243473"/>
                </a:lnTo>
                <a:lnTo>
                  <a:pt x="1956323" y="270345"/>
                </a:lnTo>
                <a:lnTo>
                  <a:pt x="1988624" y="298304"/>
                </a:lnTo>
                <a:lnTo>
                  <a:pt x="2018775" y="327303"/>
                </a:lnTo>
                <a:lnTo>
                  <a:pt x="2046701" y="357293"/>
                </a:lnTo>
                <a:lnTo>
                  <a:pt x="2072326" y="388225"/>
                </a:lnTo>
                <a:lnTo>
                  <a:pt x="2095574" y="420052"/>
                </a:lnTo>
                <a:lnTo>
                  <a:pt x="2116371" y="452724"/>
                </a:lnTo>
                <a:lnTo>
                  <a:pt x="2134640" y="486193"/>
                </a:lnTo>
                <a:lnTo>
                  <a:pt x="2163292" y="555330"/>
                </a:lnTo>
                <a:lnTo>
                  <a:pt x="2180927" y="627074"/>
                </a:lnTo>
                <a:lnTo>
                  <a:pt x="2186940" y="701039"/>
                </a:lnTo>
                <a:lnTo>
                  <a:pt x="2185424" y="738275"/>
                </a:lnTo>
                <a:lnTo>
                  <a:pt x="2173524" y="811179"/>
                </a:lnTo>
                <a:lnTo>
                  <a:pt x="2150305" y="881668"/>
                </a:lnTo>
                <a:lnTo>
                  <a:pt x="2116371" y="949355"/>
                </a:lnTo>
                <a:lnTo>
                  <a:pt x="2095574" y="982027"/>
                </a:lnTo>
                <a:lnTo>
                  <a:pt x="2072326" y="1013854"/>
                </a:lnTo>
                <a:lnTo>
                  <a:pt x="2046701" y="1044786"/>
                </a:lnTo>
                <a:lnTo>
                  <a:pt x="2018775" y="1074776"/>
                </a:lnTo>
                <a:lnTo>
                  <a:pt x="1988624" y="1103775"/>
                </a:lnTo>
                <a:lnTo>
                  <a:pt x="1956323" y="1131734"/>
                </a:lnTo>
                <a:lnTo>
                  <a:pt x="1921948" y="1158606"/>
                </a:lnTo>
                <a:lnTo>
                  <a:pt x="1885574" y="1184342"/>
                </a:lnTo>
                <a:lnTo>
                  <a:pt x="1847277" y="1208893"/>
                </a:lnTo>
                <a:lnTo>
                  <a:pt x="1807133" y="1232210"/>
                </a:lnTo>
                <a:lnTo>
                  <a:pt x="1765218" y="1254247"/>
                </a:lnTo>
                <a:lnTo>
                  <a:pt x="1721606" y="1274954"/>
                </a:lnTo>
                <a:lnTo>
                  <a:pt x="1676373" y="1294282"/>
                </a:lnTo>
                <a:lnTo>
                  <a:pt x="1629595" y="1312184"/>
                </a:lnTo>
                <a:lnTo>
                  <a:pt x="1581348" y="1328610"/>
                </a:lnTo>
                <a:lnTo>
                  <a:pt x="1531707" y="1343513"/>
                </a:lnTo>
                <a:lnTo>
                  <a:pt x="1480748" y="1356844"/>
                </a:lnTo>
                <a:lnTo>
                  <a:pt x="1428546" y="1368555"/>
                </a:lnTo>
                <a:lnTo>
                  <a:pt x="1375177" y="1378597"/>
                </a:lnTo>
                <a:lnTo>
                  <a:pt x="1320716" y="1386921"/>
                </a:lnTo>
                <a:lnTo>
                  <a:pt x="1265239" y="1393480"/>
                </a:lnTo>
                <a:lnTo>
                  <a:pt x="1208822" y="1398225"/>
                </a:lnTo>
                <a:lnTo>
                  <a:pt x="1151541" y="1401108"/>
                </a:lnTo>
                <a:lnTo>
                  <a:pt x="1093470" y="1402080"/>
                </a:lnTo>
                <a:lnTo>
                  <a:pt x="1035398" y="1401108"/>
                </a:lnTo>
                <a:lnTo>
                  <a:pt x="978117" y="1398225"/>
                </a:lnTo>
                <a:lnTo>
                  <a:pt x="921700" y="1393480"/>
                </a:lnTo>
                <a:lnTo>
                  <a:pt x="866223" y="1386921"/>
                </a:lnTo>
                <a:lnTo>
                  <a:pt x="811762" y="1378597"/>
                </a:lnTo>
                <a:lnTo>
                  <a:pt x="758393" y="1368555"/>
                </a:lnTo>
                <a:lnTo>
                  <a:pt x="706191" y="1356844"/>
                </a:lnTo>
                <a:lnTo>
                  <a:pt x="655232" y="1343513"/>
                </a:lnTo>
                <a:lnTo>
                  <a:pt x="605591" y="1328610"/>
                </a:lnTo>
                <a:lnTo>
                  <a:pt x="557344" y="1312184"/>
                </a:lnTo>
                <a:lnTo>
                  <a:pt x="510566" y="1294282"/>
                </a:lnTo>
                <a:lnTo>
                  <a:pt x="465333" y="1274954"/>
                </a:lnTo>
                <a:lnTo>
                  <a:pt x="421721" y="1254247"/>
                </a:lnTo>
                <a:lnTo>
                  <a:pt x="379806" y="1232210"/>
                </a:lnTo>
                <a:lnTo>
                  <a:pt x="339662" y="1208893"/>
                </a:lnTo>
                <a:lnTo>
                  <a:pt x="301365" y="1184342"/>
                </a:lnTo>
                <a:lnTo>
                  <a:pt x="264991" y="1158606"/>
                </a:lnTo>
                <a:lnTo>
                  <a:pt x="230616" y="1131734"/>
                </a:lnTo>
                <a:lnTo>
                  <a:pt x="198315" y="1103775"/>
                </a:lnTo>
                <a:lnTo>
                  <a:pt x="168164" y="1074776"/>
                </a:lnTo>
                <a:lnTo>
                  <a:pt x="140238" y="1044786"/>
                </a:lnTo>
                <a:lnTo>
                  <a:pt x="114613" y="1013854"/>
                </a:lnTo>
                <a:lnTo>
                  <a:pt x="91365" y="982027"/>
                </a:lnTo>
                <a:lnTo>
                  <a:pt x="70568" y="949355"/>
                </a:lnTo>
                <a:lnTo>
                  <a:pt x="52299" y="915886"/>
                </a:lnTo>
                <a:lnTo>
                  <a:pt x="23647" y="846749"/>
                </a:lnTo>
                <a:lnTo>
                  <a:pt x="6012" y="775005"/>
                </a:lnTo>
                <a:lnTo>
                  <a:pt x="0" y="701039"/>
                </a:lnTo>
                <a:close/>
              </a:path>
            </a:pathLst>
          </a:custGeom>
          <a:ln w="19050">
            <a:solidFill>
              <a:srgbClr val="FF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83" name="object 83"/>
          <p:cNvSpPr txBox="1"/>
          <p:nvPr/>
        </p:nvSpPr>
        <p:spPr>
          <a:xfrm>
            <a:off x="4775624" y="2636411"/>
            <a:ext cx="1451851" cy="382905"/>
          </a:xfrm>
          <a:prstGeom prst="rect">
            <a:avLst/>
          </a:prstGeom>
        </p:spPr>
        <p:txBody>
          <a:bodyPr vert="horz" wrap="square" lIns="0" tIns="12691" rIns="0" bIns="0" rtlCol="0">
            <a:spAutoFit/>
          </a:bodyPr>
          <a:lstStyle/>
          <a:p>
            <a:pPr marL="12700">
              <a:lnSpc>
                <a:spcPct val="100000"/>
              </a:lnSpc>
              <a:spcBef>
                <a:spcPts val="100"/>
              </a:spcBef>
            </a:pPr>
            <a:r>
              <a:rPr sz="1200" b="1" spc="10" dirty="0">
                <a:latin typeface="微软雅黑" panose="020B0503020204020204" charset="-122"/>
                <a:ea typeface="微软雅黑" panose="020B0503020204020204" charset="-122"/>
                <a:cs typeface="微软雅黑" panose="020B0503020204020204" charset="-122"/>
              </a:rPr>
              <a:t>一般在</a:t>
            </a:r>
            <a:r>
              <a:rPr sz="1200" b="1" dirty="0">
                <a:latin typeface="微软雅黑" panose="020B0503020204020204" charset="-122"/>
                <a:ea typeface="微软雅黑" panose="020B0503020204020204" charset="-122"/>
                <a:cs typeface="微软雅黑" panose="020B0503020204020204" charset="-122"/>
              </a:rPr>
              <a:t>定价时常被乎</a:t>
            </a:r>
            <a:endParaRPr sz="1200">
              <a:latin typeface="微软雅黑" panose="020B0503020204020204" charset="-122"/>
              <a:ea typeface="微软雅黑" panose="020B0503020204020204" charset="-122"/>
              <a:cs typeface="微软雅黑" panose="020B0503020204020204" charset="-122"/>
            </a:endParaRPr>
          </a:p>
          <a:p>
            <a:pPr marL="12700">
              <a:lnSpc>
                <a:spcPct val="100000"/>
              </a:lnSpc>
              <a:spcBef>
                <a:spcPts val="15"/>
              </a:spcBef>
            </a:pPr>
            <a:r>
              <a:rPr sz="1200" b="1" spc="5" dirty="0">
                <a:latin typeface="微软雅黑" panose="020B0503020204020204" charset="-122"/>
                <a:ea typeface="微软雅黑" panose="020B0503020204020204" charset="-122"/>
                <a:cs typeface="微软雅黑" panose="020B0503020204020204" charset="-122"/>
              </a:rPr>
              <a:t>略的成</a:t>
            </a:r>
            <a:r>
              <a:rPr sz="1200" b="1" spc="-5" dirty="0">
                <a:latin typeface="微软雅黑" panose="020B0503020204020204" charset="-122"/>
                <a:ea typeface="微软雅黑" panose="020B0503020204020204" charset="-122"/>
                <a:cs typeface="微软雅黑" panose="020B0503020204020204" charset="-122"/>
              </a:rPr>
              <a:t>本，约</a:t>
            </a:r>
            <a:r>
              <a:rPr sz="1200" b="1" spc="-10" dirty="0">
                <a:latin typeface="微软雅黑" panose="020B0503020204020204" charset="-122"/>
                <a:ea typeface="微软雅黑" panose="020B0503020204020204" charset="-122"/>
                <a:cs typeface="微软雅黑" panose="020B0503020204020204" charset="-122"/>
              </a:rPr>
              <a:t>占</a:t>
            </a:r>
            <a:r>
              <a:rPr sz="1200" b="1" spc="-5" dirty="0">
                <a:latin typeface="微软雅黑" panose="020B0503020204020204" charset="-122"/>
                <a:ea typeface="微软雅黑" panose="020B0503020204020204" charset="-122"/>
                <a:cs typeface="微软雅黑" panose="020B0503020204020204" charset="-122"/>
              </a:rPr>
              <a:t>2-3%</a:t>
            </a:r>
            <a:endParaRPr sz="1200">
              <a:latin typeface="微软雅黑" panose="020B0503020204020204" charset="-122"/>
              <a:ea typeface="微软雅黑" panose="020B0503020204020204" charset="-122"/>
              <a:cs typeface="微软雅黑" panose="020B0503020204020204" charset="-122"/>
            </a:endParaRPr>
          </a:p>
        </p:txBody>
      </p:sp>
      <p:sp>
        <p:nvSpPr>
          <p:cNvPr id="84" name="object 84"/>
          <p:cNvSpPr txBox="1"/>
          <p:nvPr/>
        </p:nvSpPr>
        <p:spPr>
          <a:xfrm>
            <a:off x="106401" y="6412696"/>
            <a:ext cx="1416316"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资料来源：匿名客户案例</a:t>
            </a:r>
            <a:endParaRPr sz="1000" spc="-10" dirty="0">
              <a:latin typeface="微软雅黑" panose="020B0503020204020204" charset="-122"/>
              <a:ea typeface="微软雅黑" panose="020B0503020204020204" charset="-122"/>
              <a:cs typeface="微软雅黑" panose="020B0503020204020204" charset="-122"/>
            </a:endParaRPr>
          </a:p>
        </p:txBody>
      </p:sp>
      <p:sp>
        <p:nvSpPr>
          <p:cNvPr id="85" name="object 85"/>
          <p:cNvSpPr/>
          <p:nvPr/>
        </p:nvSpPr>
        <p:spPr>
          <a:xfrm>
            <a:off x="4775879" y="5180247"/>
            <a:ext cx="1128865" cy="812224"/>
          </a:xfrm>
          <a:custGeom>
            <a:avLst/>
            <a:gdLst/>
            <a:ahLst/>
            <a:cxnLst/>
            <a:rect l="l" t="t" r="r" b="b"/>
            <a:pathLst>
              <a:path w="1129664" h="812800">
                <a:moveTo>
                  <a:pt x="0" y="812291"/>
                </a:moveTo>
                <a:lnTo>
                  <a:pt x="1129284" y="812291"/>
                </a:lnTo>
                <a:lnTo>
                  <a:pt x="1129284" y="0"/>
                </a:lnTo>
                <a:lnTo>
                  <a:pt x="0" y="0"/>
                </a:lnTo>
                <a:lnTo>
                  <a:pt x="0" y="812291"/>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86" name="object 86"/>
          <p:cNvSpPr txBox="1"/>
          <p:nvPr/>
        </p:nvSpPr>
        <p:spPr>
          <a:xfrm>
            <a:off x="4775879" y="5180247"/>
            <a:ext cx="1128865" cy="674370"/>
          </a:xfrm>
          <a:prstGeom prst="rect">
            <a:avLst/>
          </a:prstGeom>
          <a:ln w="9525">
            <a:solidFill>
              <a:srgbClr val="808080"/>
            </a:solidFill>
          </a:ln>
        </p:spPr>
        <p:txBody>
          <a:bodyPr vert="horz" wrap="square" lIns="0" tIns="121199" rIns="0" bIns="0" rtlCol="0">
            <a:spAutoFit/>
          </a:bodyPr>
          <a:lstStyle/>
          <a:p>
            <a:pPr marL="73025" marR="133350" algn="just">
              <a:lnSpc>
                <a:spcPct val="100000"/>
              </a:lnSpc>
              <a:spcBef>
                <a:spcPts val="955"/>
              </a:spcBef>
            </a:pPr>
            <a:r>
              <a:rPr sz="1200" dirty="0">
                <a:latin typeface="微软雅黑" panose="020B0503020204020204" charset="-122"/>
                <a:ea typeface="微软雅黑" panose="020B0503020204020204" charset="-122"/>
                <a:cs typeface="微软雅黑" panose="020B0503020204020204" charset="-122"/>
              </a:rPr>
              <a:t>在送货或取货 前库存成品的 持有成本</a:t>
            </a:r>
            <a:endParaRPr sz="1200" dirty="0">
              <a:latin typeface="微软雅黑" panose="020B0503020204020204" charset="-122"/>
              <a:ea typeface="微软雅黑" panose="020B0503020204020204" charset="-122"/>
              <a:cs typeface="微软雅黑" panose="020B0503020204020204" charset="-122"/>
            </a:endParaRPr>
          </a:p>
        </p:txBody>
      </p:sp>
      <p:sp>
        <p:nvSpPr>
          <p:cNvPr id="87" name="object 87"/>
          <p:cNvSpPr/>
          <p:nvPr/>
        </p:nvSpPr>
        <p:spPr>
          <a:xfrm>
            <a:off x="6052087" y="5180247"/>
            <a:ext cx="954998" cy="812224"/>
          </a:xfrm>
          <a:custGeom>
            <a:avLst/>
            <a:gdLst/>
            <a:ahLst/>
            <a:cxnLst/>
            <a:rect l="l" t="t" r="r" b="b"/>
            <a:pathLst>
              <a:path w="955675" h="812800">
                <a:moveTo>
                  <a:pt x="0" y="812291"/>
                </a:moveTo>
                <a:lnTo>
                  <a:pt x="955548" y="812291"/>
                </a:lnTo>
                <a:lnTo>
                  <a:pt x="955548" y="0"/>
                </a:lnTo>
                <a:lnTo>
                  <a:pt x="0" y="0"/>
                </a:lnTo>
                <a:lnTo>
                  <a:pt x="0" y="812291"/>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88" name="object 88"/>
          <p:cNvSpPr txBox="1"/>
          <p:nvPr/>
        </p:nvSpPr>
        <p:spPr>
          <a:xfrm>
            <a:off x="6873956" y="5471531"/>
            <a:ext cx="177674" cy="196215"/>
          </a:xfrm>
          <a:prstGeom prst="rect">
            <a:avLst/>
          </a:prstGeom>
        </p:spPr>
        <p:txBody>
          <a:bodyPr vert="horz" wrap="square" lIns="0" tIns="12691" rIns="0" bIns="0" rtlCol="0">
            <a:spAutoFit/>
          </a:bodyPr>
          <a:lstStyle/>
          <a:p>
            <a:pPr marL="12700">
              <a:lnSpc>
                <a:spcPct val="100000"/>
              </a:lnSpc>
              <a:spcBef>
                <a:spcPts val="100"/>
              </a:spcBef>
            </a:pPr>
            <a:r>
              <a:rPr sz="1200" dirty="0">
                <a:latin typeface="微软雅黑" panose="020B0503020204020204" charset="-122"/>
                <a:ea typeface="微软雅黑" panose="020B0503020204020204" charset="-122"/>
                <a:cs typeface="微软雅黑" panose="020B0503020204020204" charset="-122"/>
              </a:rPr>
              <a:t>、</a:t>
            </a:r>
            <a:endParaRPr sz="1200" dirty="0">
              <a:latin typeface="微软雅黑" panose="020B0503020204020204" charset="-122"/>
              <a:ea typeface="微软雅黑" panose="020B0503020204020204" charset="-122"/>
              <a:cs typeface="微软雅黑" panose="020B0503020204020204" charset="-122"/>
            </a:endParaRPr>
          </a:p>
        </p:txBody>
      </p:sp>
      <p:sp>
        <p:nvSpPr>
          <p:cNvPr id="89" name="object 89"/>
          <p:cNvSpPr txBox="1"/>
          <p:nvPr/>
        </p:nvSpPr>
        <p:spPr>
          <a:xfrm>
            <a:off x="6052087" y="5180247"/>
            <a:ext cx="954998" cy="674370"/>
          </a:xfrm>
          <a:prstGeom prst="rect">
            <a:avLst/>
          </a:prstGeom>
          <a:ln w="9525">
            <a:solidFill>
              <a:srgbClr val="808080"/>
            </a:solidFill>
          </a:ln>
        </p:spPr>
        <p:txBody>
          <a:bodyPr vert="horz" wrap="square" lIns="0" tIns="121199" rIns="0" bIns="0" rtlCol="0">
            <a:spAutoFit/>
          </a:bodyPr>
          <a:lstStyle/>
          <a:p>
            <a:pPr marL="73025" marR="112395" algn="just">
              <a:lnSpc>
                <a:spcPct val="100000"/>
              </a:lnSpc>
              <a:spcBef>
                <a:spcPts val="955"/>
              </a:spcBef>
            </a:pPr>
            <a:r>
              <a:rPr sz="1200" dirty="0">
                <a:latin typeface="微软雅黑" panose="020B0503020204020204" charset="-122"/>
                <a:ea typeface="微软雅黑" panose="020B0503020204020204" charset="-122"/>
                <a:cs typeface="微软雅黑" panose="020B0503020204020204" charset="-122"/>
              </a:rPr>
              <a:t>包括数量折 扣、招待费 联合营销</a:t>
            </a:r>
            <a:endParaRPr sz="1200" dirty="0">
              <a:latin typeface="微软雅黑" panose="020B0503020204020204" charset="-122"/>
              <a:ea typeface="微软雅黑" panose="020B0503020204020204" charset="-122"/>
              <a:cs typeface="微软雅黑" panose="020B0503020204020204" charset="-122"/>
            </a:endParaRPr>
          </a:p>
        </p:txBody>
      </p:sp>
      <p:sp>
        <p:nvSpPr>
          <p:cNvPr id="90" name="object 90"/>
          <p:cNvSpPr/>
          <p:nvPr/>
        </p:nvSpPr>
        <p:spPr>
          <a:xfrm>
            <a:off x="1708716" y="5180247"/>
            <a:ext cx="954998" cy="812224"/>
          </a:xfrm>
          <a:custGeom>
            <a:avLst/>
            <a:gdLst/>
            <a:ahLst/>
            <a:cxnLst/>
            <a:rect l="l" t="t" r="r" b="b"/>
            <a:pathLst>
              <a:path w="955675" h="812800">
                <a:moveTo>
                  <a:pt x="0" y="812291"/>
                </a:moveTo>
                <a:lnTo>
                  <a:pt x="955548" y="812291"/>
                </a:lnTo>
                <a:lnTo>
                  <a:pt x="955548" y="0"/>
                </a:lnTo>
                <a:lnTo>
                  <a:pt x="0" y="0"/>
                </a:lnTo>
                <a:lnTo>
                  <a:pt x="0" y="812291"/>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1" name="object 91"/>
          <p:cNvSpPr txBox="1"/>
          <p:nvPr/>
        </p:nvSpPr>
        <p:spPr>
          <a:xfrm>
            <a:off x="1708716" y="5180247"/>
            <a:ext cx="954998" cy="731520"/>
          </a:xfrm>
          <a:prstGeom prst="rect">
            <a:avLst/>
          </a:prstGeom>
          <a:ln w="9525">
            <a:solidFill>
              <a:srgbClr val="808080"/>
            </a:solidFill>
          </a:ln>
        </p:spPr>
        <p:txBody>
          <a:bodyPr vert="horz" wrap="square" lIns="0" tIns="48859" rIns="0" bIns="0" rtlCol="0">
            <a:spAutoFit/>
          </a:bodyPr>
          <a:lstStyle/>
          <a:p>
            <a:pPr marL="71755">
              <a:lnSpc>
                <a:spcPts val="1370"/>
              </a:lnSpc>
              <a:spcBef>
                <a:spcPts val="385"/>
              </a:spcBef>
            </a:pPr>
            <a:r>
              <a:rPr sz="1200" spc="-5" dirty="0">
                <a:latin typeface="微软雅黑" panose="020B0503020204020204" charset="-122"/>
                <a:ea typeface="微软雅黑" panose="020B0503020204020204" charset="-122"/>
                <a:cs typeface="微软雅黑" panose="020B0503020204020204" charset="-122"/>
              </a:rPr>
              <a:t>包括</a:t>
            </a:r>
            <a:endParaRPr sz="1200">
              <a:latin typeface="微软雅黑" panose="020B0503020204020204" charset="-122"/>
              <a:ea typeface="微软雅黑" panose="020B0503020204020204" charset="-122"/>
              <a:cs typeface="微软雅黑" panose="020B0503020204020204" charset="-122"/>
            </a:endParaRPr>
          </a:p>
          <a:p>
            <a:pPr marL="265430" indent="-192405">
              <a:lnSpc>
                <a:spcPts val="1295"/>
              </a:lnSpc>
              <a:buClr>
                <a:srgbClr val="00295F"/>
              </a:buClr>
              <a:buSzPct val="125000"/>
              <a:buFont typeface="Arial" panose="020B0604020202020204"/>
              <a:buChar char="▪"/>
              <a:tabLst>
                <a:tab pos="266065" algn="l"/>
              </a:tabLst>
            </a:pPr>
            <a:r>
              <a:rPr sz="1200" dirty="0">
                <a:latin typeface="微软雅黑" panose="020B0503020204020204" charset="-122"/>
                <a:ea typeface="微软雅黑" panose="020B0503020204020204" charset="-122"/>
                <a:cs typeface="微软雅黑" panose="020B0503020204020204" charset="-122"/>
              </a:rPr>
              <a:t>寄售</a:t>
            </a:r>
            <a:endParaRPr sz="1200">
              <a:latin typeface="微软雅黑" panose="020B0503020204020204" charset="-122"/>
              <a:ea typeface="微软雅黑" panose="020B0503020204020204" charset="-122"/>
              <a:cs typeface="微软雅黑" panose="020B0503020204020204" charset="-122"/>
            </a:endParaRPr>
          </a:p>
          <a:p>
            <a:pPr marL="265430" indent="-192405">
              <a:lnSpc>
                <a:spcPts val="1295"/>
              </a:lnSpc>
              <a:buClr>
                <a:srgbClr val="00295F"/>
              </a:buClr>
              <a:buSzPct val="125000"/>
              <a:buFont typeface="Arial" panose="020B0604020202020204"/>
              <a:buChar char="▪"/>
              <a:tabLst>
                <a:tab pos="266065" algn="l"/>
              </a:tabLst>
            </a:pPr>
            <a:r>
              <a:rPr sz="1200" dirty="0">
                <a:latin typeface="微软雅黑" panose="020B0503020204020204" charset="-122"/>
                <a:ea typeface="微软雅黑" panose="020B0503020204020204" charset="-122"/>
                <a:cs typeface="微软雅黑" panose="020B0503020204020204" charset="-122"/>
              </a:rPr>
              <a:t>快速送货</a:t>
            </a:r>
            <a:endParaRPr sz="1200">
              <a:latin typeface="微软雅黑" panose="020B0503020204020204" charset="-122"/>
              <a:ea typeface="微软雅黑" panose="020B0503020204020204" charset="-122"/>
              <a:cs typeface="微软雅黑" panose="020B0503020204020204" charset="-122"/>
            </a:endParaRPr>
          </a:p>
          <a:p>
            <a:pPr marL="265430" indent="-192405">
              <a:lnSpc>
                <a:spcPts val="1370"/>
              </a:lnSpc>
              <a:buClr>
                <a:srgbClr val="00295F"/>
              </a:buClr>
              <a:buSzPct val="125000"/>
              <a:buFont typeface="Arial" panose="020B0604020202020204"/>
              <a:buChar char="▪"/>
              <a:tabLst>
                <a:tab pos="266065" algn="l"/>
              </a:tabLst>
            </a:pPr>
            <a:r>
              <a:rPr sz="1200" dirty="0">
                <a:latin typeface="微软雅黑" panose="020B0503020204020204" charset="-122"/>
                <a:ea typeface="微软雅黑" panose="020B0503020204020204" charset="-122"/>
                <a:cs typeface="微软雅黑" panose="020B0503020204020204" charset="-122"/>
              </a:rPr>
              <a:t>保证交货</a:t>
            </a:r>
            <a:endParaRPr sz="1200">
              <a:latin typeface="微软雅黑" panose="020B0503020204020204" charset="-122"/>
              <a:ea typeface="微软雅黑" panose="020B0503020204020204" charset="-122"/>
              <a:cs typeface="微软雅黑" panose="020B0503020204020204" charset="-122"/>
            </a:endParaRPr>
          </a:p>
        </p:txBody>
      </p:sp>
      <p:sp>
        <p:nvSpPr>
          <p:cNvPr id="92" name="object 92"/>
          <p:cNvSpPr/>
          <p:nvPr/>
        </p:nvSpPr>
        <p:spPr>
          <a:xfrm>
            <a:off x="161430" y="1027242"/>
            <a:ext cx="8660977" cy="395959"/>
          </a:xfrm>
          <a:custGeom>
            <a:avLst/>
            <a:gdLst/>
            <a:ahLst/>
            <a:cxnLst/>
            <a:rect l="l" t="t" r="r" b="b"/>
            <a:pathLst>
              <a:path w="8667115" h="396240">
                <a:moveTo>
                  <a:pt x="0" y="396239"/>
                </a:moveTo>
                <a:lnTo>
                  <a:pt x="8666988" y="396239"/>
                </a:lnTo>
                <a:lnTo>
                  <a:pt x="8666988" y="0"/>
                </a:lnTo>
                <a:lnTo>
                  <a:pt x="0" y="0"/>
                </a:lnTo>
                <a:lnTo>
                  <a:pt x="0" y="39623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3" name="object 93"/>
          <p:cNvSpPr/>
          <p:nvPr/>
        </p:nvSpPr>
        <p:spPr>
          <a:xfrm>
            <a:off x="161430" y="1027242"/>
            <a:ext cx="8660977" cy="395959"/>
          </a:xfrm>
          <a:custGeom>
            <a:avLst/>
            <a:gdLst/>
            <a:ahLst/>
            <a:cxnLst/>
            <a:rect l="l" t="t" r="r" b="b"/>
            <a:pathLst>
              <a:path w="8667115" h="396240">
                <a:moveTo>
                  <a:pt x="0" y="396239"/>
                </a:moveTo>
                <a:lnTo>
                  <a:pt x="8666988" y="396239"/>
                </a:lnTo>
                <a:lnTo>
                  <a:pt x="8666988" y="0"/>
                </a:lnTo>
                <a:lnTo>
                  <a:pt x="0" y="0"/>
                </a:lnTo>
                <a:lnTo>
                  <a:pt x="0" y="396239"/>
                </a:lnTo>
                <a:close/>
              </a:path>
            </a:pathLst>
          </a:custGeom>
          <a:ln w="9525">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94" name="object 94"/>
          <p:cNvSpPr txBox="1"/>
          <p:nvPr/>
        </p:nvSpPr>
        <p:spPr>
          <a:xfrm>
            <a:off x="221229" y="1094378"/>
            <a:ext cx="2340221" cy="227965"/>
          </a:xfrm>
          <a:prstGeom prst="rect">
            <a:avLst/>
          </a:prstGeom>
        </p:spPr>
        <p:txBody>
          <a:bodyPr vert="horz" wrap="square" lIns="0" tIns="13325" rIns="0" bIns="0" rtlCol="0">
            <a:spAutoFit/>
          </a:bodyPr>
          <a:lstStyle/>
          <a:p>
            <a:pPr marL="12700">
              <a:lnSpc>
                <a:spcPct val="100000"/>
              </a:lnSpc>
              <a:spcBef>
                <a:spcPts val="105"/>
              </a:spcBef>
            </a:pPr>
            <a:r>
              <a:rPr sz="1400" b="1" spc="10" dirty="0">
                <a:latin typeface="微软雅黑" panose="020B0503020204020204" charset="-122"/>
                <a:ea typeface="微软雅黑" panose="020B0503020204020204" charset="-122"/>
                <a:cs typeface="微软雅黑" panose="020B0503020204020204" charset="-122"/>
              </a:rPr>
              <a:t>交易</a:t>
            </a:r>
            <a:r>
              <a:rPr sz="1400" b="1" dirty="0">
                <a:latin typeface="微软雅黑" panose="020B0503020204020204" charset="-122"/>
                <a:ea typeface="微软雅黑" panose="020B0503020204020204" charset="-122"/>
                <a:cs typeface="微软雅黑" panose="020B0503020204020204" charset="-122"/>
              </a:rPr>
              <a:t>定价</a:t>
            </a:r>
            <a:r>
              <a:rPr sz="1400" b="1" spc="-15" dirty="0">
                <a:latin typeface="微软雅黑" panose="020B0503020204020204" charset="-122"/>
                <a:ea typeface="微软雅黑" panose="020B0503020204020204" charset="-122"/>
                <a:cs typeface="微软雅黑" panose="020B0503020204020204" charset="-122"/>
              </a:rPr>
              <a:t>落</a:t>
            </a:r>
            <a:r>
              <a:rPr sz="1400" b="1" dirty="0">
                <a:latin typeface="微软雅黑" panose="020B0503020204020204" charset="-122"/>
                <a:ea typeface="微软雅黑" panose="020B0503020204020204" charset="-122"/>
                <a:cs typeface="微软雅黑" panose="020B0503020204020204" charset="-122"/>
              </a:rPr>
              <a:t>袋利</a:t>
            </a:r>
            <a:r>
              <a:rPr sz="1400" b="1" spc="-15" dirty="0">
                <a:latin typeface="微软雅黑" panose="020B0503020204020204" charset="-122"/>
                <a:ea typeface="微软雅黑" panose="020B0503020204020204" charset="-122"/>
                <a:cs typeface="微软雅黑" panose="020B0503020204020204" charset="-122"/>
              </a:rPr>
              <a:t>润</a:t>
            </a:r>
            <a:r>
              <a:rPr sz="1400" b="1" dirty="0">
                <a:latin typeface="微软雅黑" panose="020B0503020204020204" charset="-122"/>
                <a:ea typeface="微软雅黑" panose="020B0503020204020204" charset="-122"/>
                <a:cs typeface="微软雅黑" panose="020B0503020204020204" charset="-122"/>
              </a:rPr>
              <a:t>瀑布</a:t>
            </a:r>
            <a:r>
              <a:rPr sz="1400" b="1" spc="-15" dirty="0">
                <a:latin typeface="微软雅黑" panose="020B0503020204020204" charset="-122"/>
                <a:ea typeface="微软雅黑" panose="020B0503020204020204" charset="-122"/>
                <a:cs typeface="微软雅黑" panose="020B0503020204020204" charset="-122"/>
              </a:rPr>
              <a:t>分</a:t>
            </a:r>
            <a:r>
              <a:rPr sz="1400" b="1" dirty="0">
                <a:latin typeface="微软雅黑" panose="020B0503020204020204" charset="-122"/>
                <a:ea typeface="微软雅黑" panose="020B0503020204020204" charset="-122"/>
                <a:cs typeface="微软雅黑" panose="020B0503020204020204" charset="-122"/>
              </a:rPr>
              <a:t>析图</a:t>
            </a:r>
            <a:endParaRPr sz="14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88080" y="839162"/>
            <a:ext cx="8560718" cy="5266767"/>
          </a:xfrm>
          <a:custGeom>
            <a:avLst/>
            <a:gdLst/>
            <a:ahLst/>
            <a:cxnLst/>
            <a:rect l="l" t="t" r="r" b="b"/>
            <a:pathLst>
              <a:path w="8566785" h="5270500">
                <a:moveTo>
                  <a:pt x="0" y="5269992"/>
                </a:moveTo>
                <a:lnTo>
                  <a:pt x="8566404" y="5269992"/>
                </a:lnTo>
                <a:lnTo>
                  <a:pt x="8566404" y="0"/>
                </a:lnTo>
                <a:lnTo>
                  <a:pt x="0" y="0"/>
                </a:lnTo>
                <a:lnTo>
                  <a:pt x="0" y="5269992"/>
                </a:lnTo>
                <a:close/>
              </a:path>
            </a:pathLst>
          </a:custGeom>
          <a:ln w="19050">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 name="object 4"/>
          <p:cNvSpPr/>
          <p:nvPr/>
        </p:nvSpPr>
        <p:spPr>
          <a:xfrm>
            <a:off x="7005513" y="4091359"/>
            <a:ext cx="314102" cy="0"/>
          </a:xfrm>
          <a:custGeom>
            <a:avLst/>
            <a:gdLst/>
            <a:ahLst/>
            <a:cxnLst/>
            <a:rect l="l" t="t" r="r" b="b"/>
            <a:pathLst>
              <a:path w="314325">
                <a:moveTo>
                  <a:pt x="0" y="0"/>
                </a:moveTo>
                <a:lnTo>
                  <a:pt x="313865"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p:nvPr/>
        </p:nvSpPr>
        <p:spPr>
          <a:xfrm>
            <a:off x="5879997" y="3322284"/>
            <a:ext cx="319813" cy="0"/>
          </a:xfrm>
          <a:custGeom>
            <a:avLst/>
            <a:gdLst/>
            <a:ahLst/>
            <a:cxnLst/>
            <a:rect l="l" t="t" r="r" b="b"/>
            <a:pathLst>
              <a:path w="320039">
                <a:moveTo>
                  <a:pt x="0" y="0"/>
                </a:moveTo>
                <a:lnTo>
                  <a:pt x="320039"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4768265" y="3322284"/>
            <a:ext cx="319813" cy="0"/>
          </a:xfrm>
          <a:custGeom>
            <a:avLst/>
            <a:gdLst/>
            <a:ahLst/>
            <a:cxnLst/>
            <a:rect l="l" t="t" r="r" b="b"/>
            <a:pathLst>
              <a:path w="320039">
                <a:moveTo>
                  <a:pt x="0" y="0"/>
                </a:moveTo>
                <a:lnTo>
                  <a:pt x="320039"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3656137" y="3139533"/>
            <a:ext cx="312833" cy="0"/>
          </a:xfrm>
          <a:custGeom>
            <a:avLst/>
            <a:gdLst/>
            <a:ahLst/>
            <a:cxnLst/>
            <a:rect l="l" t="t" r="r" b="b"/>
            <a:pathLst>
              <a:path w="313054">
                <a:moveTo>
                  <a:pt x="0" y="0"/>
                </a:moveTo>
                <a:lnTo>
                  <a:pt x="312815"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2537185" y="2720730"/>
            <a:ext cx="319813" cy="0"/>
          </a:xfrm>
          <a:custGeom>
            <a:avLst/>
            <a:gdLst/>
            <a:ahLst/>
            <a:cxnLst/>
            <a:rect l="l" t="t" r="r" b="b"/>
            <a:pathLst>
              <a:path w="320039">
                <a:moveTo>
                  <a:pt x="0" y="0"/>
                </a:moveTo>
                <a:lnTo>
                  <a:pt x="320040"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1417839" y="3238523"/>
            <a:ext cx="319813" cy="0"/>
          </a:xfrm>
          <a:custGeom>
            <a:avLst/>
            <a:gdLst/>
            <a:ahLst/>
            <a:cxnLst/>
            <a:rect l="l" t="t" r="r" b="b"/>
            <a:pathLst>
              <a:path w="320039">
                <a:moveTo>
                  <a:pt x="0" y="0"/>
                </a:moveTo>
                <a:lnTo>
                  <a:pt x="320039"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621069" y="3239722"/>
            <a:ext cx="799533" cy="2067365"/>
          </a:xfrm>
          <a:custGeom>
            <a:avLst/>
            <a:gdLst/>
            <a:ahLst/>
            <a:cxnLst/>
            <a:rect l="l" t="t" r="r" b="b"/>
            <a:pathLst>
              <a:path w="800100" h="2068829">
                <a:moveTo>
                  <a:pt x="0" y="2068723"/>
                </a:moveTo>
                <a:lnTo>
                  <a:pt x="799801" y="2068723"/>
                </a:lnTo>
                <a:lnTo>
                  <a:pt x="799801" y="0"/>
                </a:lnTo>
                <a:lnTo>
                  <a:pt x="0" y="0"/>
                </a:lnTo>
                <a:lnTo>
                  <a:pt x="0" y="2068723"/>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621069" y="3239722"/>
            <a:ext cx="799533" cy="2067365"/>
          </a:xfrm>
          <a:custGeom>
            <a:avLst/>
            <a:gdLst/>
            <a:ahLst/>
            <a:cxnLst/>
            <a:rect l="l" t="t" r="r" b="b"/>
            <a:pathLst>
              <a:path w="800100" h="2068829">
                <a:moveTo>
                  <a:pt x="0" y="2068723"/>
                </a:moveTo>
                <a:lnTo>
                  <a:pt x="799801" y="2068723"/>
                </a:lnTo>
                <a:lnTo>
                  <a:pt x="799801" y="0"/>
                </a:lnTo>
                <a:lnTo>
                  <a:pt x="0" y="0"/>
                </a:lnTo>
                <a:lnTo>
                  <a:pt x="0" y="2068723"/>
                </a:lnTo>
                <a:close/>
              </a:path>
            </a:pathLst>
          </a:custGeom>
          <a:ln w="9508">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5083610" y="3325426"/>
            <a:ext cx="799533" cy="1981701"/>
          </a:xfrm>
          <a:custGeom>
            <a:avLst/>
            <a:gdLst/>
            <a:ahLst/>
            <a:cxnLst/>
            <a:rect l="l" t="t" r="r" b="b"/>
            <a:pathLst>
              <a:path w="800100" h="1983104">
                <a:moveTo>
                  <a:pt x="0" y="1982959"/>
                </a:moveTo>
                <a:lnTo>
                  <a:pt x="799801" y="1982959"/>
                </a:lnTo>
                <a:lnTo>
                  <a:pt x="799801" y="0"/>
                </a:lnTo>
                <a:lnTo>
                  <a:pt x="0" y="0"/>
                </a:lnTo>
                <a:lnTo>
                  <a:pt x="0" y="198295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5083610" y="3325426"/>
            <a:ext cx="799533" cy="1981701"/>
          </a:xfrm>
          <a:custGeom>
            <a:avLst/>
            <a:gdLst/>
            <a:ahLst/>
            <a:cxnLst/>
            <a:rect l="l" t="t" r="r" b="b"/>
            <a:pathLst>
              <a:path w="800100" h="1983104">
                <a:moveTo>
                  <a:pt x="0" y="1982959"/>
                </a:moveTo>
                <a:lnTo>
                  <a:pt x="799801" y="1982959"/>
                </a:lnTo>
                <a:lnTo>
                  <a:pt x="799801" y="0"/>
                </a:lnTo>
                <a:lnTo>
                  <a:pt x="0" y="0"/>
                </a:lnTo>
                <a:lnTo>
                  <a:pt x="0" y="1982959"/>
                </a:lnTo>
                <a:close/>
              </a:path>
            </a:pathLst>
          </a:custGeom>
          <a:ln w="9508">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6196774" y="3325463"/>
            <a:ext cx="809052" cy="781131"/>
          </a:xfrm>
          <a:custGeom>
            <a:avLst/>
            <a:gdLst/>
            <a:ahLst/>
            <a:cxnLst/>
            <a:rect l="l" t="t" r="r" b="b"/>
            <a:pathLst>
              <a:path w="809625" h="781685">
                <a:moveTo>
                  <a:pt x="0" y="781630"/>
                </a:moveTo>
                <a:lnTo>
                  <a:pt x="809312" y="781630"/>
                </a:lnTo>
                <a:lnTo>
                  <a:pt x="809312" y="0"/>
                </a:lnTo>
                <a:lnTo>
                  <a:pt x="0" y="0"/>
                </a:lnTo>
                <a:lnTo>
                  <a:pt x="0" y="78163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7319442" y="4106565"/>
            <a:ext cx="799533" cy="1200569"/>
          </a:xfrm>
          <a:custGeom>
            <a:avLst/>
            <a:gdLst/>
            <a:ahLst/>
            <a:cxnLst/>
            <a:rect l="l" t="t" r="r" b="b"/>
            <a:pathLst>
              <a:path w="800100" h="1201420">
                <a:moveTo>
                  <a:pt x="0" y="1201265"/>
                </a:moveTo>
                <a:lnTo>
                  <a:pt x="799801" y="1201265"/>
                </a:lnTo>
                <a:lnTo>
                  <a:pt x="799801" y="0"/>
                </a:lnTo>
                <a:lnTo>
                  <a:pt x="0" y="0"/>
                </a:lnTo>
                <a:lnTo>
                  <a:pt x="0" y="1201265"/>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p:nvPr/>
        </p:nvSpPr>
        <p:spPr>
          <a:xfrm>
            <a:off x="7319442" y="4106565"/>
            <a:ext cx="799533" cy="1200569"/>
          </a:xfrm>
          <a:custGeom>
            <a:avLst/>
            <a:gdLst/>
            <a:ahLst/>
            <a:cxnLst/>
            <a:rect l="l" t="t" r="r" b="b"/>
            <a:pathLst>
              <a:path w="800100" h="1201420">
                <a:moveTo>
                  <a:pt x="0" y="1201265"/>
                </a:moveTo>
                <a:lnTo>
                  <a:pt x="799801" y="1201265"/>
                </a:lnTo>
                <a:lnTo>
                  <a:pt x="799801" y="0"/>
                </a:lnTo>
                <a:lnTo>
                  <a:pt x="0" y="0"/>
                </a:lnTo>
                <a:lnTo>
                  <a:pt x="0" y="1201265"/>
                </a:lnTo>
                <a:close/>
              </a:path>
            </a:pathLst>
          </a:custGeom>
          <a:ln w="9507">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p:nvPr/>
        </p:nvSpPr>
        <p:spPr>
          <a:xfrm>
            <a:off x="463946" y="5302234"/>
            <a:ext cx="7811948" cy="0"/>
          </a:xfrm>
          <a:custGeom>
            <a:avLst/>
            <a:gdLst/>
            <a:ahLst/>
            <a:cxnLst/>
            <a:rect l="l" t="t" r="r" b="b"/>
            <a:pathLst>
              <a:path w="7817484">
                <a:moveTo>
                  <a:pt x="0" y="0"/>
                </a:moveTo>
                <a:lnTo>
                  <a:pt x="7817327" y="0"/>
                </a:lnTo>
              </a:path>
            </a:pathLst>
          </a:custGeom>
          <a:ln w="28503">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p:nvPr/>
        </p:nvSpPr>
        <p:spPr>
          <a:xfrm>
            <a:off x="7256716" y="4542143"/>
            <a:ext cx="900427" cy="298873"/>
          </a:xfrm>
          <a:custGeom>
            <a:avLst/>
            <a:gdLst/>
            <a:ahLst/>
            <a:cxnLst/>
            <a:rect l="l" t="t" r="r" b="b"/>
            <a:pathLst>
              <a:path w="901065" h="299085">
                <a:moveTo>
                  <a:pt x="900684" y="0"/>
                </a:moveTo>
                <a:lnTo>
                  <a:pt x="0" y="241427"/>
                </a:lnTo>
                <a:lnTo>
                  <a:pt x="0" y="298577"/>
                </a:lnTo>
                <a:lnTo>
                  <a:pt x="900684" y="57150"/>
                </a:lnTo>
                <a:lnTo>
                  <a:pt x="900684" y="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p:nvPr/>
        </p:nvSpPr>
        <p:spPr>
          <a:xfrm>
            <a:off x="5027160" y="4542143"/>
            <a:ext cx="901696" cy="298873"/>
          </a:xfrm>
          <a:custGeom>
            <a:avLst/>
            <a:gdLst/>
            <a:ahLst/>
            <a:cxnLst/>
            <a:rect l="l" t="t" r="r" b="b"/>
            <a:pathLst>
              <a:path w="902335" h="299085">
                <a:moveTo>
                  <a:pt x="902080" y="0"/>
                </a:moveTo>
                <a:lnTo>
                  <a:pt x="0" y="241427"/>
                </a:lnTo>
                <a:lnTo>
                  <a:pt x="0" y="298577"/>
                </a:lnTo>
                <a:lnTo>
                  <a:pt x="902080" y="57150"/>
                </a:lnTo>
                <a:lnTo>
                  <a:pt x="902080" y="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p:nvPr/>
        </p:nvSpPr>
        <p:spPr>
          <a:xfrm>
            <a:off x="568048" y="4542143"/>
            <a:ext cx="901696" cy="298873"/>
          </a:xfrm>
          <a:custGeom>
            <a:avLst/>
            <a:gdLst/>
            <a:ahLst/>
            <a:cxnLst/>
            <a:rect l="l" t="t" r="r" b="b"/>
            <a:pathLst>
              <a:path w="902335" h="299085">
                <a:moveTo>
                  <a:pt x="902081" y="0"/>
                </a:moveTo>
                <a:lnTo>
                  <a:pt x="0" y="241427"/>
                </a:lnTo>
                <a:lnTo>
                  <a:pt x="0" y="298577"/>
                </a:lnTo>
                <a:lnTo>
                  <a:pt x="902081" y="57150"/>
                </a:lnTo>
                <a:lnTo>
                  <a:pt x="902081" y="0"/>
                </a:lnTo>
                <a:close/>
              </a:path>
            </a:pathLst>
          </a:custGeom>
          <a:solidFill>
            <a:srgbClr val="FFF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1" name="object 21"/>
          <p:cNvSpPr/>
          <p:nvPr/>
        </p:nvSpPr>
        <p:spPr>
          <a:xfrm>
            <a:off x="7256716" y="4542143"/>
            <a:ext cx="900427" cy="242398"/>
          </a:xfrm>
          <a:custGeom>
            <a:avLst/>
            <a:gdLst/>
            <a:ahLst/>
            <a:cxnLst/>
            <a:rect l="l" t="t" r="r" b="b"/>
            <a:pathLst>
              <a:path w="901065" h="242570">
                <a:moveTo>
                  <a:pt x="0" y="242189"/>
                </a:moveTo>
                <a:lnTo>
                  <a:pt x="900684" y="0"/>
                </a:lnTo>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7256716" y="4600014"/>
            <a:ext cx="900427" cy="241129"/>
          </a:xfrm>
          <a:custGeom>
            <a:avLst/>
            <a:gdLst/>
            <a:ahLst/>
            <a:cxnLst/>
            <a:rect l="l" t="t" r="r" b="b"/>
            <a:pathLst>
              <a:path w="901065" h="241300">
                <a:moveTo>
                  <a:pt x="0" y="240792"/>
                </a:moveTo>
                <a:lnTo>
                  <a:pt x="900684" y="0"/>
                </a:lnTo>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p:nvPr/>
        </p:nvSpPr>
        <p:spPr>
          <a:xfrm>
            <a:off x="5027160" y="4542143"/>
            <a:ext cx="901696" cy="242398"/>
          </a:xfrm>
          <a:custGeom>
            <a:avLst/>
            <a:gdLst/>
            <a:ahLst/>
            <a:cxnLst/>
            <a:rect l="l" t="t" r="r" b="b"/>
            <a:pathLst>
              <a:path w="902335" h="242570">
                <a:moveTo>
                  <a:pt x="0" y="242189"/>
                </a:moveTo>
                <a:lnTo>
                  <a:pt x="902080" y="0"/>
                </a:lnTo>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p:nvPr/>
        </p:nvSpPr>
        <p:spPr>
          <a:xfrm>
            <a:off x="5027160" y="4600014"/>
            <a:ext cx="901696" cy="241129"/>
          </a:xfrm>
          <a:custGeom>
            <a:avLst/>
            <a:gdLst/>
            <a:ahLst/>
            <a:cxnLst/>
            <a:rect l="l" t="t" r="r" b="b"/>
            <a:pathLst>
              <a:path w="902335" h="241300">
                <a:moveTo>
                  <a:pt x="0" y="240792"/>
                </a:moveTo>
                <a:lnTo>
                  <a:pt x="902080" y="0"/>
                </a:lnTo>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5" name="object 25"/>
          <p:cNvSpPr/>
          <p:nvPr/>
        </p:nvSpPr>
        <p:spPr>
          <a:xfrm>
            <a:off x="568048" y="4542143"/>
            <a:ext cx="901696" cy="242398"/>
          </a:xfrm>
          <a:custGeom>
            <a:avLst/>
            <a:gdLst/>
            <a:ahLst/>
            <a:cxnLst/>
            <a:rect l="l" t="t" r="r" b="b"/>
            <a:pathLst>
              <a:path w="902335" h="242570">
                <a:moveTo>
                  <a:pt x="0" y="242189"/>
                </a:moveTo>
                <a:lnTo>
                  <a:pt x="902081" y="0"/>
                </a:lnTo>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6" name="object 26"/>
          <p:cNvSpPr/>
          <p:nvPr/>
        </p:nvSpPr>
        <p:spPr>
          <a:xfrm>
            <a:off x="568048" y="4600014"/>
            <a:ext cx="901696" cy="241129"/>
          </a:xfrm>
          <a:custGeom>
            <a:avLst/>
            <a:gdLst/>
            <a:ahLst/>
            <a:cxnLst/>
            <a:rect l="l" t="t" r="r" b="b"/>
            <a:pathLst>
              <a:path w="902335" h="241300">
                <a:moveTo>
                  <a:pt x="0" y="240792"/>
                </a:moveTo>
                <a:lnTo>
                  <a:pt x="902081" y="0"/>
                </a:lnTo>
              </a:path>
            </a:pathLst>
          </a:custGeom>
          <a:ln w="9525">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7" name="object 27"/>
          <p:cNvSpPr txBox="1"/>
          <p:nvPr/>
        </p:nvSpPr>
        <p:spPr>
          <a:xfrm>
            <a:off x="7307989" y="5372541"/>
            <a:ext cx="739886" cy="227330"/>
          </a:xfrm>
          <a:prstGeom prst="rect">
            <a:avLst/>
          </a:prstGeom>
        </p:spPr>
        <p:txBody>
          <a:bodyPr vert="horz" wrap="square" lIns="0" tIns="12691" rIns="0" bIns="0" rtlCol="0">
            <a:spAutoFit/>
          </a:bodyPr>
          <a:lstStyle/>
          <a:p>
            <a:pPr marL="12700">
              <a:lnSpc>
                <a:spcPct val="100000"/>
              </a:lnSpc>
              <a:spcBef>
                <a:spcPts val="100"/>
              </a:spcBef>
            </a:pPr>
            <a:r>
              <a:rPr sz="1400" dirty="0">
                <a:latin typeface="微软雅黑" panose="020B0503020204020204" charset="-122"/>
                <a:ea typeface="微软雅黑" panose="020B0503020204020204" charset="-122"/>
                <a:cs typeface="微软雅黑" panose="020B0503020204020204" charset="-122"/>
              </a:rPr>
              <a:t>当前价格</a:t>
            </a:r>
            <a:endParaRPr sz="1400" dirty="0">
              <a:latin typeface="微软雅黑" panose="020B0503020204020204" charset="-122"/>
              <a:ea typeface="微软雅黑" panose="020B0503020204020204" charset="-122"/>
              <a:cs typeface="微软雅黑" panose="020B0503020204020204" charset="-122"/>
            </a:endParaRPr>
          </a:p>
        </p:txBody>
      </p:sp>
      <p:sp>
        <p:nvSpPr>
          <p:cNvPr id="28" name="object 28"/>
          <p:cNvSpPr txBox="1"/>
          <p:nvPr/>
        </p:nvSpPr>
        <p:spPr>
          <a:xfrm>
            <a:off x="7480966" y="3835635"/>
            <a:ext cx="472105" cy="227330"/>
          </a:xfrm>
          <a:prstGeom prst="rect">
            <a:avLst/>
          </a:prstGeom>
        </p:spPr>
        <p:txBody>
          <a:bodyPr vert="horz" wrap="square" lIns="0" tIns="12691" rIns="0" bIns="0" rtlCol="0">
            <a:spAutoFit/>
          </a:bodyPr>
          <a:lstStyle/>
          <a:p>
            <a:pPr marL="12700">
              <a:lnSpc>
                <a:spcPct val="100000"/>
              </a:lnSpc>
              <a:spcBef>
                <a:spcPts val="100"/>
              </a:spcBef>
            </a:pPr>
            <a:r>
              <a:rPr sz="1400" dirty="0">
                <a:latin typeface="微软雅黑" panose="020B0503020204020204" charset="-122"/>
                <a:ea typeface="微软雅黑" panose="020B0503020204020204" charset="-122"/>
                <a:cs typeface="Arial" panose="020B0604020202020204"/>
              </a:rPr>
              <a:t>5,850</a:t>
            </a:r>
            <a:endParaRPr sz="1400" dirty="0">
              <a:latin typeface="微软雅黑" panose="020B0503020204020204" charset="-122"/>
              <a:ea typeface="微软雅黑" panose="020B0503020204020204" charset="-122"/>
              <a:cs typeface="Arial" panose="020B0604020202020204"/>
            </a:endParaRPr>
          </a:p>
        </p:txBody>
      </p:sp>
      <p:sp>
        <p:nvSpPr>
          <p:cNvPr id="29" name="object 29"/>
          <p:cNvSpPr txBox="1"/>
          <p:nvPr/>
        </p:nvSpPr>
        <p:spPr>
          <a:xfrm>
            <a:off x="6188006" y="5372541"/>
            <a:ext cx="738617" cy="442595"/>
          </a:xfrm>
          <a:prstGeom prst="rect">
            <a:avLst/>
          </a:prstGeom>
        </p:spPr>
        <p:txBody>
          <a:bodyPr vert="horz" wrap="square" lIns="0" tIns="12691" rIns="0" bIns="0" rtlCol="0">
            <a:spAutoFit/>
          </a:bodyPr>
          <a:lstStyle/>
          <a:p>
            <a:pPr marL="12700" marR="5080">
              <a:lnSpc>
                <a:spcPct val="100000"/>
              </a:lnSpc>
              <a:spcBef>
                <a:spcPts val="100"/>
              </a:spcBef>
            </a:pPr>
            <a:r>
              <a:rPr sz="1400" dirty="0">
                <a:latin typeface="微软雅黑" panose="020B0503020204020204" charset="-122"/>
                <a:ea typeface="微软雅黑" panose="020B0503020204020204" charset="-122"/>
                <a:cs typeface="微软雅黑" panose="020B0503020204020204" charset="-122"/>
              </a:rPr>
              <a:t>潜在价格 提升空间</a:t>
            </a:r>
            <a:endParaRPr sz="1400" dirty="0">
              <a:latin typeface="微软雅黑" panose="020B0503020204020204" charset="-122"/>
              <a:ea typeface="微软雅黑" panose="020B0503020204020204" charset="-122"/>
              <a:cs typeface="微软雅黑" panose="020B0503020204020204" charset="-122"/>
            </a:endParaRPr>
          </a:p>
        </p:txBody>
      </p:sp>
      <p:sp>
        <p:nvSpPr>
          <p:cNvPr id="30" name="object 30"/>
          <p:cNvSpPr txBox="1"/>
          <p:nvPr/>
        </p:nvSpPr>
        <p:spPr>
          <a:xfrm>
            <a:off x="6196774" y="3325445"/>
            <a:ext cx="809052" cy="498475"/>
          </a:xfrm>
          <a:prstGeom prst="rect">
            <a:avLst/>
          </a:prstGeom>
          <a:ln w="9505">
            <a:solidFill>
              <a:srgbClr val="000000"/>
            </a:solidFill>
          </a:ln>
        </p:spPr>
        <p:txBody>
          <a:bodyPr vert="horz" wrap="square" lIns="0" tIns="6980" rIns="0" bIns="0" rtlCol="0">
            <a:spAutoFit/>
          </a:bodyPr>
          <a:lstStyle/>
          <a:p>
            <a:pPr>
              <a:lnSpc>
                <a:spcPct val="100000"/>
              </a:lnSpc>
              <a:spcBef>
                <a:spcPts val="55"/>
              </a:spcBef>
            </a:pPr>
            <a:endParaRPr>
              <a:latin typeface="微软雅黑" panose="020B0503020204020204" charset="-122"/>
              <a:ea typeface="微软雅黑" panose="020B0503020204020204" charset="-122"/>
              <a:cs typeface="Times New Roman" panose="02020603050405020304"/>
            </a:endParaRPr>
          </a:p>
          <a:p>
            <a:pPr marL="55880">
              <a:lnSpc>
                <a:spcPct val="100000"/>
              </a:lnSpc>
            </a:pPr>
            <a:r>
              <a:rPr sz="1400" dirty="0">
                <a:latin typeface="微软雅黑" panose="020B0503020204020204" charset="-122"/>
                <a:ea typeface="微软雅黑" panose="020B0503020204020204" charset="-122"/>
                <a:cs typeface="Arial" panose="020B0604020202020204"/>
              </a:rPr>
              <a:t>260~290</a:t>
            </a:r>
            <a:endParaRPr sz="1400">
              <a:latin typeface="微软雅黑" panose="020B0503020204020204" charset="-122"/>
              <a:ea typeface="微软雅黑" panose="020B0503020204020204" charset="-122"/>
              <a:cs typeface="Arial" panose="020B0604020202020204"/>
            </a:endParaRPr>
          </a:p>
        </p:txBody>
      </p:sp>
      <p:sp>
        <p:nvSpPr>
          <p:cNvPr id="31" name="object 31"/>
          <p:cNvSpPr txBox="1"/>
          <p:nvPr/>
        </p:nvSpPr>
        <p:spPr>
          <a:xfrm>
            <a:off x="5075641" y="5372541"/>
            <a:ext cx="738617" cy="227330"/>
          </a:xfrm>
          <a:prstGeom prst="rect">
            <a:avLst/>
          </a:prstGeom>
        </p:spPr>
        <p:txBody>
          <a:bodyPr vert="horz" wrap="square" lIns="0" tIns="12691" rIns="0" bIns="0" rtlCol="0">
            <a:spAutoFit/>
          </a:bodyPr>
          <a:lstStyle/>
          <a:p>
            <a:pPr marL="12700">
              <a:lnSpc>
                <a:spcPct val="100000"/>
              </a:lnSpc>
              <a:spcBef>
                <a:spcPts val="100"/>
              </a:spcBef>
            </a:pPr>
            <a:r>
              <a:rPr sz="1400" dirty="0">
                <a:latin typeface="微软雅黑" panose="020B0503020204020204" charset="-122"/>
                <a:ea typeface="微软雅黑" panose="020B0503020204020204" charset="-122"/>
                <a:cs typeface="微软雅黑" panose="020B0503020204020204" charset="-122"/>
              </a:rPr>
              <a:t>潜在价格</a:t>
            </a:r>
            <a:endParaRPr sz="1400" dirty="0">
              <a:latin typeface="微软雅黑" panose="020B0503020204020204" charset="-122"/>
              <a:ea typeface="微软雅黑" panose="020B0503020204020204" charset="-122"/>
              <a:cs typeface="微软雅黑" panose="020B0503020204020204" charset="-122"/>
            </a:endParaRPr>
          </a:p>
        </p:txBody>
      </p:sp>
      <p:sp>
        <p:nvSpPr>
          <p:cNvPr id="32" name="object 32"/>
          <p:cNvSpPr txBox="1"/>
          <p:nvPr/>
        </p:nvSpPr>
        <p:spPr>
          <a:xfrm>
            <a:off x="5005586" y="3065925"/>
            <a:ext cx="962612" cy="227965"/>
          </a:xfrm>
          <a:prstGeom prst="rect">
            <a:avLst/>
          </a:prstGeom>
        </p:spPr>
        <p:txBody>
          <a:bodyPr vert="horz" wrap="square" lIns="0" tIns="13325" rIns="0" bIns="0" rtlCol="0">
            <a:spAutoFit/>
          </a:bodyPr>
          <a:lstStyle/>
          <a:p>
            <a:pPr marL="12700">
              <a:lnSpc>
                <a:spcPct val="100000"/>
              </a:lnSpc>
              <a:spcBef>
                <a:spcPts val="105"/>
              </a:spcBef>
            </a:pPr>
            <a:r>
              <a:rPr sz="1400" dirty="0">
                <a:latin typeface="微软雅黑" panose="020B0503020204020204" charset="-122"/>
                <a:ea typeface="微软雅黑" panose="020B0503020204020204" charset="-122"/>
                <a:cs typeface="Arial" panose="020B0604020202020204"/>
              </a:rPr>
              <a:t>6,</a:t>
            </a:r>
            <a:r>
              <a:rPr sz="1400" spc="-110" dirty="0">
                <a:latin typeface="微软雅黑" panose="020B0503020204020204" charset="-122"/>
                <a:ea typeface="微软雅黑" panose="020B0503020204020204" charset="-122"/>
                <a:cs typeface="Arial" panose="020B0604020202020204"/>
              </a:rPr>
              <a:t>1</a:t>
            </a:r>
            <a:r>
              <a:rPr sz="1400" dirty="0">
                <a:latin typeface="微软雅黑" panose="020B0503020204020204" charset="-122"/>
                <a:ea typeface="微软雅黑" panose="020B0503020204020204" charset="-122"/>
                <a:cs typeface="Arial" panose="020B0604020202020204"/>
              </a:rPr>
              <a:t>1</a:t>
            </a:r>
            <a:r>
              <a:rPr sz="1400" spc="-5" dirty="0">
                <a:latin typeface="微软雅黑" panose="020B0503020204020204" charset="-122"/>
                <a:ea typeface="微软雅黑" panose="020B0503020204020204" charset="-122"/>
                <a:cs typeface="Arial" panose="020B0604020202020204"/>
              </a:rPr>
              <a:t>0</a:t>
            </a:r>
            <a:r>
              <a:rPr sz="1400" dirty="0">
                <a:latin typeface="微软雅黑" panose="020B0503020204020204" charset="-122"/>
                <a:ea typeface="微软雅黑" panose="020B0503020204020204" charset="-122"/>
                <a:cs typeface="Arial" panose="020B0604020202020204"/>
              </a:rPr>
              <a:t>-6</a:t>
            </a:r>
            <a:r>
              <a:rPr sz="1400" spc="-5" dirty="0">
                <a:latin typeface="微软雅黑" panose="020B0503020204020204" charset="-122"/>
                <a:ea typeface="微软雅黑" panose="020B0503020204020204" charset="-122"/>
                <a:cs typeface="Arial" panose="020B0604020202020204"/>
              </a:rPr>
              <a:t>,</a:t>
            </a:r>
            <a:r>
              <a:rPr sz="1400" dirty="0">
                <a:latin typeface="微软雅黑" panose="020B0503020204020204" charset="-122"/>
                <a:ea typeface="微软雅黑" panose="020B0503020204020204" charset="-122"/>
                <a:cs typeface="Arial" panose="020B0604020202020204"/>
              </a:rPr>
              <a:t>140</a:t>
            </a:r>
            <a:endParaRPr sz="1400">
              <a:latin typeface="微软雅黑" panose="020B0503020204020204" charset="-122"/>
              <a:ea typeface="微软雅黑" panose="020B0503020204020204" charset="-122"/>
              <a:cs typeface="Arial" panose="020B0604020202020204"/>
            </a:endParaRPr>
          </a:p>
        </p:txBody>
      </p:sp>
      <p:sp>
        <p:nvSpPr>
          <p:cNvPr id="33" name="object 33"/>
          <p:cNvSpPr txBox="1"/>
          <p:nvPr/>
        </p:nvSpPr>
        <p:spPr>
          <a:xfrm>
            <a:off x="3970445" y="3144436"/>
            <a:ext cx="799533" cy="182245"/>
          </a:xfrm>
          <a:prstGeom prst="rect">
            <a:avLst/>
          </a:prstGeom>
          <a:solidFill>
            <a:srgbClr val="91AFFF"/>
          </a:solidFill>
          <a:ln w="9501">
            <a:solidFill>
              <a:srgbClr val="000000"/>
            </a:solidFill>
          </a:ln>
        </p:spPr>
        <p:txBody>
          <a:bodyPr vert="horz" wrap="square" lIns="0" tIns="0" rIns="0" bIns="0" rtlCol="0">
            <a:spAutoFit/>
          </a:bodyPr>
          <a:lstStyle/>
          <a:p>
            <a:pPr marL="149860">
              <a:lnSpc>
                <a:spcPts val="1425"/>
              </a:lnSpc>
            </a:pPr>
            <a:r>
              <a:rPr sz="1400" dirty="0">
                <a:latin typeface="微软雅黑" panose="020B0503020204020204" charset="-122"/>
                <a:ea typeface="微软雅黑" panose="020B0503020204020204" charset="-122"/>
                <a:cs typeface="Arial" panose="020B0604020202020204"/>
              </a:rPr>
              <a:t>60~70</a:t>
            </a:r>
            <a:endParaRPr sz="1400" dirty="0">
              <a:latin typeface="微软雅黑" panose="020B0503020204020204" charset="-122"/>
              <a:ea typeface="微软雅黑" panose="020B0503020204020204" charset="-122"/>
              <a:cs typeface="Arial" panose="020B0604020202020204"/>
            </a:endParaRPr>
          </a:p>
        </p:txBody>
      </p:sp>
      <p:sp>
        <p:nvSpPr>
          <p:cNvPr id="34" name="object 34"/>
          <p:cNvSpPr txBox="1"/>
          <p:nvPr/>
        </p:nvSpPr>
        <p:spPr>
          <a:xfrm>
            <a:off x="2856901" y="2725129"/>
            <a:ext cx="799533" cy="308610"/>
          </a:xfrm>
          <a:prstGeom prst="rect">
            <a:avLst/>
          </a:prstGeom>
          <a:solidFill>
            <a:srgbClr val="91AFFF"/>
          </a:solidFill>
          <a:ln w="9503">
            <a:solidFill>
              <a:srgbClr val="000000"/>
            </a:solidFill>
          </a:ln>
        </p:spPr>
        <p:txBody>
          <a:bodyPr vert="horz" wrap="square" lIns="0" tIns="93913" rIns="0" bIns="0" rtlCol="0">
            <a:spAutoFit/>
          </a:bodyPr>
          <a:lstStyle/>
          <a:p>
            <a:pPr marL="47625">
              <a:lnSpc>
                <a:spcPct val="100000"/>
              </a:lnSpc>
              <a:spcBef>
                <a:spcPts val="740"/>
              </a:spcBef>
            </a:pPr>
            <a:r>
              <a:rPr sz="1400" dirty="0">
                <a:latin typeface="微软雅黑" panose="020B0503020204020204" charset="-122"/>
                <a:ea typeface="微软雅黑" panose="020B0503020204020204" charset="-122"/>
                <a:cs typeface="Arial" panose="020B0604020202020204"/>
              </a:rPr>
              <a:t>140~150</a:t>
            </a:r>
            <a:endParaRPr sz="1400" dirty="0">
              <a:latin typeface="微软雅黑" panose="020B0503020204020204" charset="-122"/>
              <a:ea typeface="微软雅黑" panose="020B0503020204020204" charset="-122"/>
              <a:cs typeface="Arial" panose="020B0604020202020204"/>
            </a:endParaRPr>
          </a:p>
        </p:txBody>
      </p:sp>
      <p:sp>
        <p:nvSpPr>
          <p:cNvPr id="35" name="object 35"/>
          <p:cNvSpPr txBox="1"/>
          <p:nvPr/>
        </p:nvSpPr>
        <p:spPr>
          <a:xfrm>
            <a:off x="1734233" y="2725129"/>
            <a:ext cx="809052" cy="358140"/>
          </a:xfrm>
          <a:prstGeom prst="rect">
            <a:avLst/>
          </a:prstGeom>
          <a:solidFill>
            <a:srgbClr val="C6DFFA"/>
          </a:solidFill>
          <a:ln w="9503">
            <a:solidFill>
              <a:srgbClr val="000000"/>
            </a:solidFill>
          </a:ln>
        </p:spPr>
        <p:txBody>
          <a:bodyPr vert="horz" wrap="square" lIns="0" tIns="143408" rIns="0" bIns="0" rtlCol="0">
            <a:spAutoFit/>
          </a:bodyPr>
          <a:lstStyle/>
          <a:p>
            <a:pPr marL="54610">
              <a:lnSpc>
                <a:spcPct val="100000"/>
              </a:lnSpc>
              <a:spcBef>
                <a:spcPts val="1130"/>
              </a:spcBef>
            </a:pPr>
            <a:r>
              <a:rPr sz="1400" dirty="0">
                <a:latin typeface="微软雅黑" panose="020B0503020204020204" charset="-122"/>
                <a:ea typeface="微软雅黑" panose="020B0503020204020204" charset="-122"/>
                <a:cs typeface="Arial" panose="020B0604020202020204"/>
              </a:rPr>
              <a:t>180~190</a:t>
            </a:r>
            <a:endParaRPr sz="1400" dirty="0">
              <a:latin typeface="微软雅黑" panose="020B0503020204020204" charset="-122"/>
              <a:ea typeface="微软雅黑" panose="020B0503020204020204" charset="-122"/>
              <a:cs typeface="Arial" panose="020B0604020202020204"/>
            </a:endParaRPr>
          </a:p>
        </p:txBody>
      </p:sp>
      <p:sp>
        <p:nvSpPr>
          <p:cNvPr id="36" name="object 36"/>
          <p:cNvSpPr txBox="1"/>
          <p:nvPr/>
        </p:nvSpPr>
        <p:spPr>
          <a:xfrm>
            <a:off x="614143" y="5372541"/>
            <a:ext cx="3725445" cy="227330"/>
          </a:xfrm>
          <a:prstGeom prst="rect">
            <a:avLst/>
          </a:prstGeom>
        </p:spPr>
        <p:txBody>
          <a:bodyPr vert="horz" wrap="square" lIns="0" tIns="12691" rIns="0" bIns="0" rtlCol="0">
            <a:spAutoFit/>
          </a:bodyPr>
          <a:lstStyle/>
          <a:p>
            <a:pPr marL="12700">
              <a:lnSpc>
                <a:spcPct val="100000"/>
              </a:lnSpc>
              <a:spcBef>
                <a:spcPts val="100"/>
              </a:spcBef>
              <a:tabLst>
                <a:tab pos="2244725" algn="l"/>
                <a:tab pos="3357245" algn="l"/>
              </a:tabLst>
            </a:pPr>
            <a:r>
              <a:rPr sz="1400" dirty="0">
                <a:latin typeface="微软雅黑" panose="020B0503020204020204" charset="-122"/>
                <a:ea typeface="微软雅黑" panose="020B0503020204020204" charset="-122"/>
                <a:cs typeface="微软雅黑" panose="020B0503020204020204" charset="-122"/>
              </a:rPr>
              <a:t>参考企业购</a:t>
            </a:r>
            <a:r>
              <a:rPr sz="1400" spc="325" dirty="0">
                <a:latin typeface="微软雅黑" panose="020B0503020204020204" charset="-122"/>
                <a:ea typeface="微软雅黑" panose="020B0503020204020204" charset="-122"/>
                <a:cs typeface="微软雅黑" panose="020B0503020204020204" charset="-122"/>
              </a:rPr>
              <a:t>价</a:t>
            </a:r>
            <a:r>
              <a:rPr sz="1400" dirty="0">
                <a:latin typeface="微软雅黑" panose="020B0503020204020204" charset="-122"/>
                <a:ea typeface="微软雅黑" panose="020B0503020204020204" charset="-122"/>
                <a:cs typeface="微软雅黑" panose="020B0503020204020204" charset="-122"/>
              </a:rPr>
              <a:t>付款	产品质量	交付</a:t>
            </a:r>
            <a:endParaRPr sz="1400">
              <a:latin typeface="微软雅黑" panose="020B0503020204020204" charset="-122"/>
              <a:ea typeface="微软雅黑" panose="020B0503020204020204" charset="-122"/>
              <a:cs typeface="微软雅黑" panose="020B0503020204020204" charset="-122"/>
            </a:endParaRPr>
          </a:p>
        </p:txBody>
      </p:sp>
      <p:sp>
        <p:nvSpPr>
          <p:cNvPr id="37" name="object 37"/>
          <p:cNvSpPr txBox="1"/>
          <p:nvPr/>
        </p:nvSpPr>
        <p:spPr>
          <a:xfrm>
            <a:off x="787756" y="2981911"/>
            <a:ext cx="472105" cy="227965"/>
          </a:xfrm>
          <a:prstGeom prst="rect">
            <a:avLst/>
          </a:prstGeom>
        </p:spPr>
        <p:txBody>
          <a:bodyPr vert="horz" wrap="square" lIns="0" tIns="13325" rIns="0" bIns="0" rtlCol="0">
            <a:spAutoFit/>
          </a:bodyPr>
          <a:lstStyle/>
          <a:p>
            <a:pPr marL="12700">
              <a:lnSpc>
                <a:spcPct val="100000"/>
              </a:lnSpc>
              <a:spcBef>
                <a:spcPts val="105"/>
              </a:spcBef>
            </a:pPr>
            <a:r>
              <a:rPr sz="1400" dirty="0">
                <a:latin typeface="微软雅黑" panose="020B0503020204020204" charset="-122"/>
                <a:ea typeface="微软雅黑" panose="020B0503020204020204" charset="-122"/>
                <a:cs typeface="Arial" panose="020B0604020202020204"/>
              </a:rPr>
              <a:t>6,150</a:t>
            </a:r>
            <a:endParaRPr sz="1400" dirty="0">
              <a:latin typeface="微软雅黑" panose="020B0503020204020204" charset="-122"/>
              <a:ea typeface="微软雅黑" panose="020B0503020204020204" charset="-122"/>
              <a:cs typeface="Arial" panose="020B0604020202020204"/>
            </a:endParaRPr>
          </a:p>
        </p:txBody>
      </p:sp>
      <p:sp>
        <p:nvSpPr>
          <p:cNvPr id="38" name="object 38"/>
          <p:cNvSpPr txBox="1">
            <a:spLocks noGrp="1"/>
          </p:cNvSpPr>
          <p:nvPr>
            <p:ph type="title"/>
          </p:nvPr>
        </p:nvSpPr>
        <p:spPr>
          <a:xfrm>
            <a:off x="106401" y="203088"/>
            <a:ext cx="7702806" cy="5956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匿名钢铁客</a:t>
            </a:r>
            <a:r>
              <a:rPr spc="-10" dirty="0">
                <a:ea typeface="微软雅黑" panose="020B0503020204020204" charset="-122"/>
              </a:rPr>
              <a:t>户案例</a:t>
            </a:r>
            <a:r>
              <a:rPr spc="50" dirty="0">
                <a:ea typeface="微软雅黑" panose="020B0503020204020204" charset="-122"/>
              </a:rPr>
              <a:t> </a:t>
            </a:r>
            <a:r>
              <a:rPr spc="-5" dirty="0">
                <a:ea typeface="微软雅黑" panose="020B0503020204020204" charset="-122"/>
              </a:rPr>
              <a:t>–通过次优选择</a:t>
            </a:r>
            <a:r>
              <a:rPr spc="-10" dirty="0">
                <a:ea typeface="微软雅黑" panose="020B0503020204020204" charset="-122"/>
              </a:rPr>
              <a:t>分</a:t>
            </a:r>
            <a:r>
              <a:rPr spc="-5" dirty="0">
                <a:ea typeface="微软雅黑" panose="020B0503020204020204" charset="-122"/>
              </a:rPr>
              <a:t>析</a:t>
            </a:r>
            <a:r>
              <a:rPr spc="-10" dirty="0">
                <a:ea typeface="微软雅黑" panose="020B0503020204020204" charset="-122"/>
              </a:rPr>
              <a:t>明确</a:t>
            </a:r>
            <a:r>
              <a:rPr spc="-5" dirty="0">
                <a:ea typeface="微软雅黑" panose="020B0503020204020204" charset="-122"/>
              </a:rPr>
              <a:t>价</a:t>
            </a:r>
            <a:r>
              <a:rPr spc="-10" dirty="0">
                <a:ea typeface="微软雅黑" panose="020B0503020204020204" charset="-122"/>
              </a:rPr>
              <a:t>格提</a:t>
            </a:r>
            <a:r>
              <a:rPr spc="-5" dirty="0">
                <a:ea typeface="微软雅黑" panose="020B0503020204020204" charset="-122"/>
              </a:rPr>
              <a:t>升</a:t>
            </a:r>
            <a:r>
              <a:rPr spc="-10" dirty="0">
                <a:ea typeface="微软雅黑" panose="020B0503020204020204" charset="-122"/>
              </a:rPr>
              <a:t>空间</a:t>
            </a:r>
            <a:r>
              <a:rPr spc="-5" dirty="0">
                <a:ea typeface="微软雅黑" panose="020B0503020204020204" charset="-122"/>
              </a:rPr>
              <a:t>及</a:t>
            </a:r>
            <a:r>
              <a:rPr spc="-10" dirty="0">
                <a:ea typeface="微软雅黑" panose="020B0503020204020204" charset="-122"/>
              </a:rPr>
              <a:t>潜在</a:t>
            </a:r>
            <a:r>
              <a:rPr spc="-5" dirty="0">
                <a:ea typeface="微软雅黑" panose="020B0503020204020204" charset="-122"/>
              </a:rPr>
              <a:t>关</a:t>
            </a:r>
            <a:r>
              <a:rPr spc="-10" dirty="0">
                <a:ea typeface="微软雅黑" panose="020B0503020204020204" charset="-122"/>
              </a:rPr>
              <a:t>键举措</a:t>
            </a:r>
            <a:endParaRPr spc="-10" dirty="0">
              <a:ea typeface="微软雅黑" panose="020B0503020204020204" charset="-122"/>
            </a:endParaRPr>
          </a:p>
        </p:txBody>
      </p:sp>
      <p:sp>
        <p:nvSpPr>
          <p:cNvPr id="39" name="object 39"/>
          <p:cNvSpPr/>
          <p:nvPr/>
        </p:nvSpPr>
        <p:spPr>
          <a:xfrm>
            <a:off x="187319" y="838400"/>
            <a:ext cx="8560718" cy="365501"/>
          </a:xfrm>
          <a:custGeom>
            <a:avLst/>
            <a:gdLst/>
            <a:ahLst/>
            <a:cxnLst/>
            <a:rect l="l" t="t" r="r" b="b"/>
            <a:pathLst>
              <a:path w="8566785" h="365759">
                <a:moveTo>
                  <a:pt x="0" y="365760"/>
                </a:moveTo>
                <a:lnTo>
                  <a:pt x="8566404" y="365760"/>
                </a:lnTo>
                <a:lnTo>
                  <a:pt x="8566404" y="0"/>
                </a:lnTo>
                <a:lnTo>
                  <a:pt x="0" y="0"/>
                </a:lnTo>
                <a:lnTo>
                  <a:pt x="0" y="3657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0" name="object 40"/>
          <p:cNvSpPr/>
          <p:nvPr/>
        </p:nvSpPr>
        <p:spPr>
          <a:xfrm>
            <a:off x="187319" y="838400"/>
            <a:ext cx="8560718" cy="365501"/>
          </a:xfrm>
          <a:custGeom>
            <a:avLst/>
            <a:gdLst/>
            <a:ahLst/>
            <a:cxnLst/>
            <a:rect l="l" t="t" r="r" b="b"/>
            <a:pathLst>
              <a:path w="8566785" h="365759">
                <a:moveTo>
                  <a:pt x="0" y="365760"/>
                </a:moveTo>
                <a:lnTo>
                  <a:pt x="8566404" y="365760"/>
                </a:lnTo>
                <a:lnTo>
                  <a:pt x="8566404" y="0"/>
                </a:lnTo>
                <a:lnTo>
                  <a:pt x="0" y="0"/>
                </a:lnTo>
                <a:lnTo>
                  <a:pt x="0" y="365760"/>
                </a:lnTo>
                <a:close/>
              </a:path>
            </a:pathLst>
          </a:custGeom>
          <a:ln w="9525">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1" name="object 41"/>
          <p:cNvSpPr txBox="1"/>
          <p:nvPr/>
        </p:nvSpPr>
        <p:spPr>
          <a:xfrm>
            <a:off x="246509" y="889672"/>
            <a:ext cx="919463" cy="227965"/>
          </a:xfrm>
          <a:prstGeom prst="rect">
            <a:avLst/>
          </a:prstGeom>
        </p:spPr>
        <p:txBody>
          <a:bodyPr vert="horz" wrap="square" lIns="0" tIns="13325" rIns="0" bIns="0" rtlCol="0">
            <a:spAutoFit/>
          </a:bodyPr>
          <a:lstStyle/>
          <a:p>
            <a:pPr marL="12700">
              <a:lnSpc>
                <a:spcPct val="100000"/>
              </a:lnSpc>
              <a:spcBef>
                <a:spcPts val="105"/>
              </a:spcBef>
            </a:pPr>
            <a:r>
              <a:rPr sz="1400" b="1" spc="10" dirty="0">
                <a:latin typeface="微软雅黑" panose="020B0503020204020204" charset="-122"/>
                <a:ea typeface="微软雅黑" panose="020B0503020204020204" charset="-122"/>
                <a:cs typeface="微软雅黑" panose="020B0503020204020204" charset="-122"/>
              </a:rPr>
              <a:t>价值</a:t>
            </a:r>
            <a:r>
              <a:rPr sz="1400" b="1" dirty="0">
                <a:latin typeface="微软雅黑" panose="020B0503020204020204" charset="-122"/>
                <a:ea typeface="微软雅黑" panose="020B0503020204020204" charset="-122"/>
                <a:cs typeface="微软雅黑" panose="020B0503020204020204" charset="-122"/>
              </a:rPr>
              <a:t>分析图</a:t>
            </a:r>
            <a:endParaRPr sz="1400">
              <a:latin typeface="微软雅黑" panose="020B0503020204020204" charset="-122"/>
              <a:ea typeface="微软雅黑" panose="020B0503020204020204" charset="-122"/>
              <a:cs typeface="微软雅黑" panose="020B0503020204020204" charset="-122"/>
            </a:endParaRPr>
          </a:p>
        </p:txBody>
      </p:sp>
      <p:sp>
        <p:nvSpPr>
          <p:cNvPr id="42" name="object 42"/>
          <p:cNvSpPr txBox="1"/>
          <p:nvPr/>
        </p:nvSpPr>
        <p:spPr>
          <a:xfrm>
            <a:off x="7402410" y="866193"/>
            <a:ext cx="1272908" cy="227965"/>
          </a:xfrm>
          <a:prstGeom prst="rect">
            <a:avLst/>
          </a:prstGeom>
        </p:spPr>
        <p:txBody>
          <a:bodyPr vert="horz" wrap="square" lIns="0" tIns="13325" rIns="0" bIns="0" rtlCol="0">
            <a:spAutoFit/>
          </a:bodyPr>
          <a:lstStyle/>
          <a:p>
            <a:pPr marL="12700">
              <a:lnSpc>
                <a:spcPct val="100000"/>
              </a:lnSpc>
              <a:spcBef>
                <a:spcPts val="105"/>
              </a:spcBef>
            </a:pPr>
            <a:r>
              <a:rPr sz="1400" dirty="0">
                <a:solidFill>
                  <a:srgbClr val="808080"/>
                </a:solidFill>
                <a:latin typeface="微软雅黑" panose="020B0503020204020204" charset="-122"/>
                <a:ea typeface="微软雅黑" panose="020B0503020204020204" charset="-122"/>
                <a:cs typeface="微软雅黑" panose="020B0503020204020204" charset="-122"/>
              </a:rPr>
              <a:t>单月份价格示例</a:t>
            </a:r>
            <a:endParaRPr sz="1400" dirty="0">
              <a:solidFill>
                <a:srgbClr val="808080"/>
              </a:solidFill>
              <a:latin typeface="微软雅黑" panose="020B0503020204020204" charset="-122"/>
              <a:ea typeface="微软雅黑" panose="020B0503020204020204" charset="-122"/>
              <a:cs typeface="微软雅黑" panose="020B0503020204020204" charset="-122"/>
            </a:endParaRPr>
          </a:p>
        </p:txBody>
      </p:sp>
      <p:sp>
        <p:nvSpPr>
          <p:cNvPr id="43" name="object 43"/>
          <p:cNvSpPr/>
          <p:nvPr/>
        </p:nvSpPr>
        <p:spPr>
          <a:xfrm>
            <a:off x="7404440" y="890179"/>
            <a:ext cx="0" cy="209402"/>
          </a:xfrm>
          <a:custGeom>
            <a:avLst/>
            <a:gdLst/>
            <a:ahLst/>
            <a:cxnLst/>
            <a:rect l="l" t="t" r="r" b="b"/>
            <a:pathLst>
              <a:path h="209550">
                <a:moveTo>
                  <a:pt x="0" y="0"/>
                </a:moveTo>
                <a:lnTo>
                  <a:pt x="0" y="209550"/>
                </a:lnTo>
              </a:path>
            </a:pathLst>
          </a:custGeom>
          <a:ln w="9525">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4" name="object 44"/>
          <p:cNvSpPr/>
          <p:nvPr/>
        </p:nvSpPr>
        <p:spPr>
          <a:xfrm>
            <a:off x="7405202" y="1101104"/>
            <a:ext cx="1258313" cy="0"/>
          </a:xfrm>
          <a:custGeom>
            <a:avLst/>
            <a:gdLst/>
            <a:ahLst/>
            <a:cxnLst/>
            <a:rect l="l" t="t" r="r" b="b"/>
            <a:pathLst>
              <a:path w="1259204">
                <a:moveTo>
                  <a:pt x="0" y="0"/>
                </a:moveTo>
                <a:lnTo>
                  <a:pt x="1258824" y="0"/>
                </a:lnTo>
              </a:path>
            </a:pathLst>
          </a:custGeom>
          <a:ln w="25400">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5" name="object 45"/>
          <p:cNvSpPr/>
          <p:nvPr/>
        </p:nvSpPr>
        <p:spPr>
          <a:xfrm>
            <a:off x="2754202" y="2581383"/>
            <a:ext cx="2175238" cy="904869"/>
          </a:xfrm>
          <a:custGeom>
            <a:avLst/>
            <a:gdLst/>
            <a:ahLst/>
            <a:cxnLst/>
            <a:rect l="l" t="t" r="r" b="b"/>
            <a:pathLst>
              <a:path w="2176779" h="905510">
                <a:moveTo>
                  <a:pt x="0" y="905256"/>
                </a:moveTo>
                <a:lnTo>
                  <a:pt x="2176272" y="905256"/>
                </a:lnTo>
                <a:lnTo>
                  <a:pt x="2176272" y="0"/>
                </a:lnTo>
                <a:lnTo>
                  <a:pt x="0" y="0"/>
                </a:lnTo>
                <a:lnTo>
                  <a:pt x="0" y="905256"/>
                </a:lnTo>
                <a:close/>
              </a:path>
            </a:pathLst>
          </a:custGeom>
          <a:ln w="19050">
            <a:solidFill>
              <a:srgbClr val="FF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46" name="object 46"/>
          <p:cNvSpPr txBox="1"/>
          <p:nvPr/>
        </p:nvSpPr>
        <p:spPr>
          <a:xfrm>
            <a:off x="106401" y="6412696"/>
            <a:ext cx="1416316"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资料来源：匿名客户案例</a:t>
            </a:r>
            <a:endParaRPr sz="1000" spc="-10" dirty="0">
              <a:latin typeface="微软雅黑" panose="020B0503020204020204" charset="-122"/>
              <a:ea typeface="微软雅黑" panose="020B0503020204020204" charset="-122"/>
              <a:cs typeface="微软雅黑" panose="020B0503020204020204" charset="-122"/>
            </a:endParaRPr>
          </a:p>
        </p:txBody>
      </p:sp>
      <p:sp>
        <p:nvSpPr>
          <p:cNvPr id="47" name="object 47"/>
          <p:cNvSpPr txBox="1"/>
          <p:nvPr/>
        </p:nvSpPr>
        <p:spPr>
          <a:xfrm>
            <a:off x="249250" y="1254283"/>
            <a:ext cx="432128" cy="227965"/>
          </a:xfrm>
          <a:prstGeom prst="rect">
            <a:avLst/>
          </a:prstGeom>
        </p:spPr>
        <p:txBody>
          <a:bodyPr vert="horz" wrap="square" lIns="0" tIns="13325" rIns="0" bIns="0" rtlCol="0">
            <a:spAutoFit/>
          </a:bodyPr>
          <a:lstStyle/>
          <a:p>
            <a:pPr marL="12700">
              <a:lnSpc>
                <a:spcPct val="100000"/>
              </a:lnSpc>
              <a:spcBef>
                <a:spcPts val="105"/>
              </a:spcBef>
            </a:pPr>
            <a:r>
              <a:rPr sz="1400" dirty="0">
                <a:solidFill>
                  <a:srgbClr val="959595"/>
                </a:solidFill>
                <a:latin typeface="微软雅黑" panose="020B0503020204020204" charset="-122"/>
                <a:ea typeface="微软雅黑" panose="020B0503020204020204" charset="-122"/>
                <a:cs typeface="微软雅黑" panose="020B0503020204020204" charset="-122"/>
              </a:rPr>
              <a:t>元</a:t>
            </a:r>
            <a:r>
              <a:rPr sz="1400" spc="5" dirty="0">
                <a:solidFill>
                  <a:srgbClr val="959595"/>
                </a:solidFill>
                <a:latin typeface="微软雅黑" panose="020B0503020204020204" charset="-122"/>
                <a:ea typeface="微软雅黑" panose="020B0503020204020204" charset="-122"/>
                <a:cs typeface="微软雅黑" panose="020B0503020204020204" charset="-122"/>
              </a:rPr>
              <a:t>/</a:t>
            </a:r>
            <a:r>
              <a:rPr sz="1400" dirty="0">
                <a:solidFill>
                  <a:srgbClr val="959595"/>
                </a:solidFill>
                <a:latin typeface="微软雅黑" panose="020B0503020204020204" charset="-122"/>
                <a:ea typeface="微软雅黑" panose="020B0503020204020204" charset="-122"/>
                <a:cs typeface="微软雅黑" panose="020B0503020204020204" charset="-122"/>
              </a:rPr>
              <a:t>吨</a:t>
            </a:r>
            <a:endParaRPr sz="1400">
              <a:latin typeface="微软雅黑" panose="020B0503020204020204" charset="-122"/>
              <a:ea typeface="微软雅黑" panose="020B0503020204020204" charset="-122"/>
              <a:cs typeface="微软雅黑" panose="020B0503020204020204" charset="-122"/>
            </a:endParaRPr>
          </a:p>
        </p:txBody>
      </p:sp>
      <p:sp>
        <p:nvSpPr>
          <p:cNvPr id="48" name="object 48"/>
          <p:cNvSpPr/>
          <p:nvPr/>
        </p:nvSpPr>
        <p:spPr>
          <a:xfrm>
            <a:off x="6536883" y="1964600"/>
            <a:ext cx="85664" cy="1404260"/>
          </a:xfrm>
          <a:custGeom>
            <a:avLst/>
            <a:gdLst/>
            <a:ahLst/>
            <a:cxnLst/>
            <a:rect l="l" t="t" r="r" b="b"/>
            <a:pathLst>
              <a:path w="85725" h="1405254">
                <a:moveTo>
                  <a:pt x="28578" y="1322443"/>
                </a:moveTo>
                <a:lnTo>
                  <a:pt x="26253" y="1322915"/>
                </a:lnTo>
                <a:lnTo>
                  <a:pt x="12604" y="1332134"/>
                </a:lnTo>
                <a:lnTo>
                  <a:pt x="3385" y="1345783"/>
                </a:lnTo>
                <a:lnTo>
                  <a:pt x="0" y="1362455"/>
                </a:lnTo>
                <a:lnTo>
                  <a:pt x="3385" y="1379108"/>
                </a:lnTo>
                <a:lnTo>
                  <a:pt x="12604" y="1392713"/>
                </a:lnTo>
                <a:lnTo>
                  <a:pt x="26253" y="1401889"/>
                </a:lnTo>
                <a:lnTo>
                  <a:pt x="42925" y="1405254"/>
                </a:lnTo>
                <a:lnTo>
                  <a:pt x="59578" y="1401889"/>
                </a:lnTo>
                <a:lnTo>
                  <a:pt x="73183" y="1392713"/>
                </a:lnTo>
                <a:lnTo>
                  <a:pt x="82359" y="1379108"/>
                </a:lnTo>
                <a:lnTo>
                  <a:pt x="85725" y="1362455"/>
                </a:lnTo>
                <a:lnTo>
                  <a:pt x="28575" y="1362455"/>
                </a:lnTo>
                <a:lnTo>
                  <a:pt x="28578" y="1322443"/>
                </a:lnTo>
                <a:close/>
              </a:path>
              <a:path w="85725" h="1405254">
                <a:moveTo>
                  <a:pt x="42925" y="1319529"/>
                </a:moveTo>
                <a:lnTo>
                  <a:pt x="28681" y="1322422"/>
                </a:lnTo>
                <a:lnTo>
                  <a:pt x="28575" y="1362455"/>
                </a:lnTo>
                <a:lnTo>
                  <a:pt x="57150" y="1362455"/>
                </a:lnTo>
                <a:lnTo>
                  <a:pt x="57153" y="1322422"/>
                </a:lnTo>
                <a:lnTo>
                  <a:pt x="42925" y="1319529"/>
                </a:lnTo>
                <a:close/>
              </a:path>
              <a:path w="85725" h="1405254">
                <a:moveTo>
                  <a:pt x="57153" y="1322422"/>
                </a:moveTo>
                <a:lnTo>
                  <a:pt x="57150" y="1362455"/>
                </a:lnTo>
                <a:lnTo>
                  <a:pt x="85725" y="1362455"/>
                </a:lnTo>
                <a:lnTo>
                  <a:pt x="82359" y="1345783"/>
                </a:lnTo>
                <a:lnTo>
                  <a:pt x="73183" y="1332134"/>
                </a:lnTo>
                <a:lnTo>
                  <a:pt x="59578" y="1322915"/>
                </a:lnTo>
                <a:lnTo>
                  <a:pt x="57153" y="1322422"/>
                </a:lnTo>
                <a:close/>
              </a:path>
              <a:path w="85725" h="1405254">
                <a:moveTo>
                  <a:pt x="57276" y="0"/>
                </a:moveTo>
                <a:lnTo>
                  <a:pt x="28701" y="0"/>
                </a:lnTo>
                <a:lnTo>
                  <a:pt x="28578" y="1322443"/>
                </a:lnTo>
                <a:lnTo>
                  <a:pt x="42925" y="1319529"/>
                </a:lnTo>
                <a:lnTo>
                  <a:pt x="57154" y="1319529"/>
                </a:lnTo>
                <a:lnTo>
                  <a:pt x="57276" y="0"/>
                </a:lnTo>
                <a:close/>
              </a:path>
              <a:path w="85725" h="1405254">
                <a:moveTo>
                  <a:pt x="57154" y="1319529"/>
                </a:moveTo>
                <a:lnTo>
                  <a:pt x="42925" y="1319529"/>
                </a:lnTo>
                <a:lnTo>
                  <a:pt x="57153" y="1322422"/>
                </a:lnTo>
                <a:lnTo>
                  <a:pt x="57154" y="1319529"/>
                </a:lnTo>
                <a:close/>
              </a:path>
            </a:pathLst>
          </a:custGeom>
          <a:solidFill>
            <a:srgbClr val="959595"/>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9" name="object 49"/>
          <p:cNvSpPr txBox="1"/>
          <p:nvPr/>
        </p:nvSpPr>
        <p:spPr>
          <a:xfrm>
            <a:off x="5074371" y="1438431"/>
            <a:ext cx="3565538" cy="1332230"/>
          </a:xfrm>
          <a:prstGeom prst="rect">
            <a:avLst/>
          </a:prstGeom>
          <a:solidFill>
            <a:srgbClr val="91AFFF"/>
          </a:solidFill>
        </p:spPr>
        <p:txBody>
          <a:bodyPr vert="horz" wrap="square" lIns="0" tIns="39976" rIns="0" bIns="0" rtlCol="0">
            <a:spAutoFit/>
          </a:bodyPr>
          <a:lstStyle/>
          <a:p>
            <a:pPr marL="266700" marR="265430" indent="-192405">
              <a:lnSpc>
                <a:spcPct val="100000"/>
              </a:lnSpc>
              <a:spcBef>
                <a:spcPts val="315"/>
              </a:spcBef>
              <a:buFont typeface="Arial" panose="020B0604020202020204"/>
              <a:buChar char="▪"/>
              <a:tabLst>
                <a:tab pos="266700" algn="l"/>
                <a:tab pos="267335" algn="l"/>
              </a:tabLst>
            </a:pPr>
            <a:r>
              <a:rPr sz="1400" b="1" spc="10" dirty="0">
                <a:latin typeface="微软雅黑" panose="020B0503020204020204" charset="-122"/>
                <a:ea typeface="微软雅黑" panose="020B0503020204020204" charset="-122"/>
                <a:cs typeface="微软雅黑" panose="020B0503020204020204" charset="-122"/>
              </a:rPr>
              <a:t>通过</a:t>
            </a:r>
            <a:r>
              <a:rPr sz="1400" b="1" dirty="0">
                <a:latin typeface="微软雅黑" panose="020B0503020204020204" charset="-122"/>
                <a:ea typeface="微软雅黑" panose="020B0503020204020204" charset="-122"/>
                <a:cs typeface="微软雅黑" panose="020B0503020204020204" charset="-122"/>
              </a:rPr>
              <a:t>大客</a:t>
            </a:r>
            <a:r>
              <a:rPr sz="1400" b="1" spc="-15" dirty="0">
                <a:latin typeface="微软雅黑" panose="020B0503020204020204" charset="-122"/>
                <a:ea typeface="微软雅黑" panose="020B0503020204020204" charset="-122"/>
                <a:cs typeface="微软雅黑" panose="020B0503020204020204" charset="-122"/>
              </a:rPr>
              <a:t>户</a:t>
            </a:r>
            <a:r>
              <a:rPr sz="1400" b="1" dirty="0">
                <a:latin typeface="微软雅黑" panose="020B0503020204020204" charset="-122"/>
                <a:ea typeface="微软雅黑" panose="020B0503020204020204" charset="-122"/>
                <a:cs typeface="微软雅黑" panose="020B0503020204020204" charset="-122"/>
              </a:rPr>
              <a:t>管理</a:t>
            </a:r>
            <a:r>
              <a:rPr sz="1400" b="1" spc="-15" dirty="0">
                <a:latin typeface="微软雅黑" panose="020B0503020204020204" charset="-122"/>
                <a:ea typeface="微软雅黑" panose="020B0503020204020204" charset="-122"/>
                <a:cs typeface="微软雅黑" panose="020B0503020204020204" charset="-122"/>
              </a:rPr>
              <a:t>体</a:t>
            </a:r>
            <a:r>
              <a:rPr sz="1400" b="1" dirty="0">
                <a:latin typeface="微软雅黑" panose="020B0503020204020204" charset="-122"/>
                <a:ea typeface="微软雅黑" panose="020B0503020204020204" charset="-122"/>
                <a:cs typeface="微软雅黑" panose="020B0503020204020204" charset="-122"/>
              </a:rPr>
              <a:t>系建</a:t>
            </a:r>
            <a:r>
              <a:rPr sz="1400" b="1" spc="-15" dirty="0">
                <a:latin typeface="微软雅黑" panose="020B0503020204020204" charset="-122"/>
                <a:ea typeface="微软雅黑" panose="020B0503020204020204" charset="-122"/>
                <a:cs typeface="微软雅黑" panose="020B0503020204020204" charset="-122"/>
              </a:rPr>
              <a:t>设</a:t>
            </a:r>
            <a:r>
              <a:rPr sz="1400" b="1" dirty="0">
                <a:latin typeface="微软雅黑" panose="020B0503020204020204" charset="-122"/>
                <a:ea typeface="微软雅黑" panose="020B0503020204020204" charset="-122"/>
                <a:cs typeface="微软雅黑" panose="020B0503020204020204" charset="-122"/>
              </a:rPr>
              <a:t>和能</a:t>
            </a:r>
            <a:r>
              <a:rPr sz="1400" b="1" spc="-15" dirty="0">
                <a:latin typeface="微软雅黑" panose="020B0503020204020204" charset="-122"/>
                <a:ea typeface="微软雅黑" panose="020B0503020204020204" charset="-122"/>
                <a:cs typeface="微软雅黑" panose="020B0503020204020204" charset="-122"/>
              </a:rPr>
              <a:t>力</a:t>
            </a:r>
            <a:r>
              <a:rPr sz="1400" b="1" dirty="0">
                <a:latin typeface="微软雅黑" panose="020B0503020204020204" charset="-122"/>
                <a:ea typeface="微软雅黑" panose="020B0503020204020204" charset="-122"/>
                <a:cs typeface="微软雅黑" panose="020B0503020204020204" charset="-122"/>
              </a:rPr>
              <a:t>提升， </a:t>
            </a:r>
            <a:r>
              <a:rPr sz="1400" b="1" spc="10" dirty="0">
                <a:latin typeface="微软雅黑" panose="020B0503020204020204" charset="-122"/>
                <a:ea typeface="微软雅黑" panose="020B0503020204020204" charset="-122"/>
                <a:cs typeface="微软雅黑" panose="020B0503020204020204" charset="-122"/>
              </a:rPr>
              <a:t>初步</a:t>
            </a:r>
            <a:r>
              <a:rPr sz="1400" b="1" dirty="0">
                <a:latin typeface="微软雅黑" panose="020B0503020204020204" charset="-122"/>
                <a:ea typeface="微软雅黑" panose="020B0503020204020204" charset="-122"/>
                <a:cs typeface="微软雅黑" panose="020B0503020204020204" charset="-122"/>
              </a:rPr>
              <a:t>明确</a:t>
            </a:r>
            <a:r>
              <a:rPr sz="1400" b="1" spc="-15" dirty="0">
                <a:latin typeface="微软雅黑" panose="020B0503020204020204" charset="-122"/>
                <a:ea typeface="微软雅黑" panose="020B0503020204020204" charset="-122"/>
                <a:cs typeface="微软雅黑" panose="020B0503020204020204" charset="-122"/>
              </a:rPr>
              <a:t>潜</a:t>
            </a:r>
            <a:r>
              <a:rPr sz="1400" b="1" dirty="0">
                <a:latin typeface="微软雅黑" panose="020B0503020204020204" charset="-122"/>
                <a:ea typeface="微软雅黑" panose="020B0503020204020204" charset="-122"/>
                <a:cs typeface="微软雅黑" panose="020B0503020204020204" charset="-122"/>
              </a:rPr>
              <a:t>在价</a:t>
            </a:r>
            <a:r>
              <a:rPr sz="1400" b="1" spc="-15" dirty="0">
                <a:latin typeface="微软雅黑" panose="020B0503020204020204" charset="-122"/>
                <a:ea typeface="微软雅黑" panose="020B0503020204020204" charset="-122"/>
                <a:cs typeface="微软雅黑" panose="020B0503020204020204" charset="-122"/>
              </a:rPr>
              <a:t>格</a:t>
            </a:r>
            <a:r>
              <a:rPr sz="1400" b="1" dirty="0">
                <a:latin typeface="微软雅黑" panose="020B0503020204020204" charset="-122"/>
                <a:ea typeface="微软雅黑" panose="020B0503020204020204" charset="-122"/>
                <a:cs typeface="微软雅黑" panose="020B0503020204020204" charset="-122"/>
              </a:rPr>
              <a:t>提升</a:t>
            </a:r>
            <a:r>
              <a:rPr sz="1400" b="1" spc="-15" dirty="0">
                <a:latin typeface="微软雅黑" panose="020B0503020204020204" charset="-122"/>
                <a:ea typeface="微软雅黑" panose="020B0503020204020204" charset="-122"/>
                <a:cs typeface="微软雅黑" panose="020B0503020204020204" charset="-122"/>
              </a:rPr>
              <a:t>举</a:t>
            </a:r>
            <a:r>
              <a:rPr sz="1400" b="1" dirty="0">
                <a:latin typeface="微软雅黑" panose="020B0503020204020204" charset="-122"/>
                <a:ea typeface="微软雅黑" panose="020B0503020204020204" charset="-122"/>
                <a:cs typeface="微软雅黑" panose="020B0503020204020204" charset="-122"/>
              </a:rPr>
              <a:t>措</a:t>
            </a:r>
            <a:endParaRPr sz="1400">
              <a:latin typeface="微软雅黑" panose="020B0503020204020204" charset="-122"/>
              <a:ea typeface="微软雅黑" panose="020B0503020204020204" charset="-122"/>
              <a:cs typeface="微软雅黑" panose="020B0503020204020204" charset="-122"/>
            </a:endParaRPr>
          </a:p>
          <a:p>
            <a:pPr marL="530225" lvl="1" indent="-262890">
              <a:lnSpc>
                <a:spcPct val="100000"/>
              </a:lnSpc>
              <a:buFont typeface="Arial" panose="020B0604020202020204"/>
              <a:buChar char="–"/>
              <a:tabLst>
                <a:tab pos="530225" algn="l"/>
                <a:tab pos="530860" algn="l"/>
              </a:tabLst>
            </a:pPr>
            <a:r>
              <a:rPr sz="1400" b="1" spc="10" dirty="0">
                <a:latin typeface="微软雅黑" panose="020B0503020204020204" charset="-122"/>
                <a:ea typeface="微软雅黑" panose="020B0503020204020204" charset="-122"/>
                <a:cs typeface="微软雅黑" panose="020B0503020204020204" charset="-122"/>
              </a:rPr>
              <a:t>分阶</a:t>
            </a:r>
            <a:r>
              <a:rPr sz="1400" b="1" dirty="0">
                <a:latin typeface="微软雅黑" panose="020B0503020204020204" charset="-122"/>
                <a:ea typeface="微软雅黑" panose="020B0503020204020204" charset="-122"/>
                <a:cs typeface="微软雅黑" panose="020B0503020204020204" charset="-122"/>
              </a:rPr>
              <a:t>段缩</a:t>
            </a:r>
            <a:r>
              <a:rPr sz="1400" b="1" spc="-15" dirty="0">
                <a:latin typeface="微软雅黑" panose="020B0503020204020204" charset="-122"/>
                <a:ea typeface="微软雅黑" panose="020B0503020204020204" charset="-122"/>
                <a:cs typeface="微软雅黑" panose="020B0503020204020204" charset="-122"/>
              </a:rPr>
              <a:t>小</a:t>
            </a:r>
            <a:r>
              <a:rPr sz="1400" b="1" dirty="0">
                <a:latin typeface="微软雅黑" panose="020B0503020204020204" charset="-122"/>
                <a:ea typeface="微软雅黑" panose="020B0503020204020204" charset="-122"/>
                <a:cs typeface="微软雅黑" panose="020B0503020204020204" charset="-122"/>
              </a:rPr>
              <a:t>差距</a:t>
            </a:r>
            <a:endParaRPr sz="1400">
              <a:latin typeface="微软雅黑" panose="020B0503020204020204" charset="-122"/>
              <a:ea typeface="微软雅黑" panose="020B0503020204020204" charset="-122"/>
              <a:cs typeface="微软雅黑" panose="020B0503020204020204" charset="-122"/>
            </a:endParaRPr>
          </a:p>
          <a:p>
            <a:pPr marL="530225" lvl="1" indent="-262890">
              <a:lnSpc>
                <a:spcPct val="100000"/>
              </a:lnSpc>
              <a:buFont typeface="Arial" panose="020B0604020202020204"/>
              <a:buChar char="–"/>
              <a:tabLst>
                <a:tab pos="530225" algn="l"/>
                <a:tab pos="530860" algn="l"/>
              </a:tabLst>
            </a:pPr>
            <a:r>
              <a:rPr sz="1400" b="1" spc="10" dirty="0">
                <a:latin typeface="微软雅黑" panose="020B0503020204020204" charset="-122"/>
                <a:ea typeface="微软雅黑" panose="020B0503020204020204" charset="-122"/>
                <a:cs typeface="微软雅黑" panose="020B0503020204020204" charset="-122"/>
              </a:rPr>
              <a:t>产品</a:t>
            </a:r>
            <a:r>
              <a:rPr sz="1400" b="1" dirty="0">
                <a:latin typeface="微软雅黑" panose="020B0503020204020204" charset="-122"/>
                <a:ea typeface="微软雅黑" panose="020B0503020204020204" charset="-122"/>
                <a:cs typeface="微软雅黑" panose="020B0503020204020204" charset="-122"/>
              </a:rPr>
              <a:t>捆绑</a:t>
            </a:r>
            <a:r>
              <a:rPr sz="1400" b="1" spc="-15" dirty="0">
                <a:latin typeface="微软雅黑" panose="020B0503020204020204" charset="-122"/>
                <a:ea typeface="微软雅黑" panose="020B0503020204020204" charset="-122"/>
                <a:cs typeface="微软雅黑" panose="020B0503020204020204" charset="-122"/>
              </a:rPr>
              <a:t>销</a:t>
            </a:r>
            <a:r>
              <a:rPr sz="1400" b="1" dirty="0">
                <a:latin typeface="微软雅黑" panose="020B0503020204020204" charset="-122"/>
                <a:ea typeface="微软雅黑" panose="020B0503020204020204" charset="-122"/>
                <a:cs typeface="微软雅黑" panose="020B0503020204020204" charset="-122"/>
              </a:rPr>
              <a:t>售</a:t>
            </a:r>
            <a:endParaRPr sz="1400">
              <a:latin typeface="微软雅黑" panose="020B0503020204020204" charset="-122"/>
              <a:ea typeface="微软雅黑" panose="020B0503020204020204" charset="-122"/>
              <a:cs typeface="微软雅黑" panose="020B0503020204020204" charset="-122"/>
            </a:endParaRPr>
          </a:p>
          <a:p>
            <a:pPr marL="530225" lvl="1" indent="-262890">
              <a:lnSpc>
                <a:spcPct val="100000"/>
              </a:lnSpc>
              <a:buFont typeface="Arial" panose="020B0604020202020204"/>
              <a:buChar char="–"/>
              <a:tabLst>
                <a:tab pos="530225" algn="l"/>
                <a:tab pos="530860" algn="l"/>
              </a:tabLst>
            </a:pPr>
            <a:r>
              <a:rPr sz="1400" b="1" spc="10" dirty="0">
                <a:latin typeface="微软雅黑" panose="020B0503020204020204" charset="-122"/>
                <a:ea typeface="微软雅黑" panose="020B0503020204020204" charset="-122"/>
                <a:cs typeface="微软雅黑" panose="020B0503020204020204" charset="-122"/>
              </a:rPr>
              <a:t>提供</a:t>
            </a:r>
            <a:r>
              <a:rPr sz="1400" b="1" spc="5" dirty="0">
                <a:latin typeface="微软雅黑" panose="020B0503020204020204" charset="-122"/>
                <a:ea typeface="微软雅黑" panose="020B0503020204020204" charset="-122"/>
                <a:cs typeface="微软雅黑" panose="020B0503020204020204" charset="-122"/>
              </a:rPr>
              <a:t>增</a:t>
            </a:r>
            <a:r>
              <a:rPr sz="1400" b="1" dirty="0">
                <a:latin typeface="微软雅黑" panose="020B0503020204020204" charset="-122"/>
                <a:ea typeface="微软雅黑" panose="020B0503020204020204" charset="-122"/>
                <a:cs typeface="微软雅黑" panose="020B0503020204020204" charset="-122"/>
              </a:rPr>
              <a:t>值</a:t>
            </a:r>
            <a:r>
              <a:rPr sz="1400" b="1" spc="-10" dirty="0">
                <a:latin typeface="微软雅黑" panose="020B0503020204020204" charset="-122"/>
                <a:ea typeface="微软雅黑" panose="020B0503020204020204" charset="-122"/>
                <a:cs typeface="微软雅黑" panose="020B0503020204020204" charset="-122"/>
              </a:rPr>
              <a:t>服</a:t>
            </a:r>
            <a:r>
              <a:rPr sz="1400" b="1" spc="5" dirty="0">
                <a:latin typeface="微软雅黑" panose="020B0503020204020204" charset="-122"/>
                <a:ea typeface="微软雅黑" panose="020B0503020204020204" charset="-122"/>
                <a:cs typeface="微软雅黑" panose="020B0503020204020204" charset="-122"/>
              </a:rPr>
              <a:t>务包</a:t>
            </a:r>
            <a:endParaRPr sz="1400">
              <a:latin typeface="微软雅黑" panose="020B0503020204020204" charset="-122"/>
              <a:ea typeface="微软雅黑" panose="020B0503020204020204" charset="-122"/>
              <a:cs typeface="微软雅黑" panose="020B0503020204020204" charset="-122"/>
            </a:endParaRPr>
          </a:p>
          <a:p>
            <a:pPr marL="530225" lvl="1" indent="-262890">
              <a:lnSpc>
                <a:spcPct val="100000"/>
              </a:lnSpc>
              <a:spcBef>
                <a:spcPts val="5"/>
              </a:spcBef>
              <a:buFont typeface="Arial" panose="020B0604020202020204"/>
              <a:buChar char="–"/>
              <a:tabLst>
                <a:tab pos="530225" algn="l"/>
                <a:tab pos="530860" algn="l"/>
              </a:tabLst>
            </a:pPr>
            <a:r>
              <a:rPr sz="1400" b="1" spc="10" dirty="0">
                <a:latin typeface="微软雅黑" panose="020B0503020204020204" charset="-122"/>
                <a:ea typeface="微软雅黑" panose="020B0503020204020204" charset="-122"/>
                <a:cs typeface="微软雅黑" panose="020B0503020204020204" charset="-122"/>
              </a:rPr>
              <a:t>产品</a:t>
            </a:r>
            <a:r>
              <a:rPr sz="1400" b="1" dirty="0">
                <a:latin typeface="微软雅黑" panose="020B0503020204020204" charset="-122"/>
                <a:ea typeface="微软雅黑" panose="020B0503020204020204" charset="-122"/>
                <a:cs typeface="微软雅黑" panose="020B0503020204020204" charset="-122"/>
              </a:rPr>
              <a:t>改进</a:t>
            </a:r>
            <a:r>
              <a:rPr sz="1400" b="1" spc="-15" dirty="0">
                <a:latin typeface="微软雅黑" panose="020B0503020204020204" charset="-122"/>
                <a:ea typeface="微软雅黑" panose="020B0503020204020204" charset="-122"/>
                <a:cs typeface="微软雅黑" panose="020B0503020204020204" charset="-122"/>
              </a:rPr>
              <a:t>后</a:t>
            </a:r>
            <a:r>
              <a:rPr sz="1400" b="1" dirty="0">
                <a:latin typeface="微软雅黑" panose="020B0503020204020204" charset="-122"/>
                <a:ea typeface="微软雅黑" panose="020B0503020204020204" charset="-122"/>
                <a:cs typeface="微软雅黑" panose="020B0503020204020204" charset="-122"/>
              </a:rPr>
              <a:t>重新</a:t>
            </a:r>
            <a:r>
              <a:rPr sz="1400" b="1" spc="-15" dirty="0">
                <a:latin typeface="微软雅黑" panose="020B0503020204020204" charset="-122"/>
                <a:ea typeface="微软雅黑" panose="020B0503020204020204" charset="-122"/>
                <a:cs typeface="微软雅黑" panose="020B0503020204020204" charset="-122"/>
              </a:rPr>
              <a:t>发</a:t>
            </a:r>
            <a:r>
              <a:rPr sz="1400" b="1" spc="5" dirty="0">
                <a:latin typeface="微软雅黑" panose="020B0503020204020204" charset="-122"/>
                <a:ea typeface="微软雅黑" panose="020B0503020204020204" charset="-122"/>
                <a:cs typeface="微软雅黑" panose="020B0503020204020204" charset="-122"/>
              </a:rPr>
              <a:t>布</a:t>
            </a:r>
            <a:r>
              <a:rPr sz="1400" b="1" spc="-10" dirty="0">
                <a:latin typeface="微软雅黑" panose="020B0503020204020204" charset="-122"/>
                <a:ea typeface="微软雅黑" panose="020B0503020204020204" charset="-122"/>
                <a:cs typeface="微软雅黑" panose="020B0503020204020204" charset="-122"/>
              </a:rPr>
              <a:t>/</a:t>
            </a:r>
            <a:r>
              <a:rPr sz="1400" b="1" dirty="0">
                <a:latin typeface="微软雅黑" panose="020B0503020204020204" charset="-122"/>
                <a:ea typeface="微软雅黑" panose="020B0503020204020204" charset="-122"/>
                <a:cs typeface="微软雅黑" panose="020B0503020204020204" charset="-122"/>
              </a:rPr>
              <a:t>定制</a:t>
            </a:r>
            <a:r>
              <a:rPr sz="1400" b="1" spc="-15" dirty="0">
                <a:latin typeface="微软雅黑" panose="020B0503020204020204" charset="-122"/>
                <a:ea typeface="微软雅黑" panose="020B0503020204020204" charset="-122"/>
                <a:cs typeface="微软雅黑" panose="020B0503020204020204" charset="-122"/>
              </a:rPr>
              <a:t>化</a:t>
            </a:r>
            <a:r>
              <a:rPr sz="1400" b="1" dirty="0">
                <a:latin typeface="微软雅黑" panose="020B0503020204020204" charset="-122"/>
                <a:ea typeface="微软雅黑" panose="020B0503020204020204" charset="-122"/>
                <a:cs typeface="微软雅黑" panose="020B0503020204020204" charset="-122"/>
              </a:rPr>
              <a:t>产品</a:t>
            </a:r>
            <a:r>
              <a:rPr sz="1400" b="1" spc="-15" dirty="0">
                <a:latin typeface="微软雅黑" panose="020B0503020204020204" charset="-122"/>
                <a:ea typeface="微软雅黑" panose="020B0503020204020204" charset="-122"/>
                <a:cs typeface="微软雅黑" panose="020B0503020204020204" charset="-122"/>
              </a:rPr>
              <a:t>牌</a:t>
            </a:r>
            <a:r>
              <a:rPr sz="1400" b="1" dirty="0">
                <a:latin typeface="微软雅黑" panose="020B0503020204020204" charset="-122"/>
                <a:ea typeface="微软雅黑" panose="020B0503020204020204" charset="-122"/>
                <a:cs typeface="微软雅黑" panose="020B0503020204020204" charset="-122"/>
              </a:rPr>
              <a:t>号</a:t>
            </a:r>
            <a:endParaRPr sz="1400">
              <a:latin typeface="微软雅黑" panose="020B0503020204020204" charset="-122"/>
              <a:ea typeface="微软雅黑" panose="020B0503020204020204" charset="-122"/>
              <a:cs typeface="微软雅黑" panose="020B0503020204020204" charset="-122"/>
            </a:endParaRPr>
          </a:p>
        </p:txBody>
      </p:sp>
      <p:sp>
        <p:nvSpPr>
          <p:cNvPr id="50" name="object 50"/>
          <p:cNvSpPr/>
          <p:nvPr/>
        </p:nvSpPr>
        <p:spPr>
          <a:xfrm>
            <a:off x="3710341" y="3433965"/>
            <a:ext cx="85664" cy="854738"/>
          </a:xfrm>
          <a:custGeom>
            <a:avLst/>
            <a:gdLst/>
            <a:ahLst/>
            <a:cxnLst/>
            <a:rect l="l" t="t" r="r" b="b"/>
            <a:pathLst>
              <a:path w="85725" h="855345">
                <a:moveTo>
                  <a:pt x="28575" y="82828"/>
                </a:moveTo>
                <a:lnTo>
                  <a:pt x="28575" y="855218"/>
                </a:lnTo>
                <a:lnTo>
                  <a:pt x="57150" y="855218"/>
                </a:lnTo>
                <a:lnTo>
                  <a:pt x="57150" y="85725"/>
                </a:lnTo>
                <a:lnTo>
                  <a:pt x="42925" y="85725"/>
                </a:lnTo>
                <a:lnTo>
                  <a:pt x="28575" y="82828"/>
                </a:lnTo>
                <a:close/>
              </a:path>
              <a:path w="85725" h="855345">
                <a:moveTo>
                  <a:pt x="57150" y="42925"/>
                </a:moveTo>
                <a:lnTo>
                  <a:pt x="28575" y="42925"/>
                </a:lnTo>
                <a:lnTo>
                  <a:pt x="28685" y="82850"/>
                </a:lnTo>
                <a:lnTo>
                  <a:pt x="42925" y="85725"/>
                </a:lnTo>
                <a:lnTo>
                  <a:pt x="57150" y="82850"/>
                </a:lnTo>
                <a:lnTo>
                  <a:pt x="57150" y="42925"/>
                </a:lnTo>
                <a:close/>
              </a:path>
              <a:path w="85725" h="855345">
                <a:moveTo>
                  <a:pt x="57150" y="82850"/>
                </a:moveTo>
                <a:lnTo>
                  <a:pt x="42925" y="85725"/>
                </a:lnTo>
                <a:lnTo>
                  <a:pt x="57150" y="85725"/>
                </a:lnTo>
                <a:lnTo>
                  <a:pt x="57150" y="82850"/>
                </a:lnTo>
                <a:close/>
              </a:path>
              <a:path w="85725" h="855345">
                <a:moveTo>
                  <a:pt x="85725" y="42925"/>
                </a:moveTo>
                <a:lnTo>
                  <a:pt x="57150" y="42925"/>
                </a:lnTo>
                <a:lnTo>
                  <a:pt x="57150" y="82850"/>
                </a:lnTo>
                <a:lnTo>
                  <a:pt x="59578" y="82359"/>
                </a:lnTo>
                <a:lnTo>
                  <a:pt x="73183" y="73183"/>
                </a:lnTo>
                <a:lnTo>
                  <a:pt x="82359" y="59578"/>
                </a:lnTo>
                <a:lnTo>
                  <a:pt x="85725" y="42925"/>
                </a:lnTo>
                <a:close/>
              </a:path>
              <a:path w="85725" h="855345">
                <a:moveTo>
                  <a:pt x="42925" y="0"/>
                </a:moveTo>
                <a:lnTo>
                  <a:pt x="26253" y="3385"/>
                </a:lnTo>
                <a:lnTo>
                  <a:pt x="12604" y="12604"/>
                </a:lnTo>
                <a:lnTo>
                  <a:pt x="3385" y="26253"/>
                </a:lnTo>
                <a:lnTo>
                  <a:pt x="0" y="42925"/>
                </a:lnTo>
                <a:lnTo>
                  <a:pt x="3385" y="59578"/>
                </a:lnTo>
                <a:lnTo>
                  <a:pt x="12604" y="73183"/>
                </a:lnTo>
                <a:lnTo>
                  <a:pt x="26253" y="82359"/>
                </a:lnTo>
                <a:lnTo>
                  <a:pt x="28575" y="82828"/>
                </a:lnTo>
                <a:lnTo>
                  <a:pt x="28575" y="42925"/>
                </a:lnTo>
                <a:lnTo>
                  <a:pt x="85725" y="42925"/>
                </a:lnTo>
                <a:lnTo>
                  <a:pt x="82359" y="26253"/>
                </a:lnTo>
                <a:lnTo>
                  <a:pt x="73183" y="12604"/>
                </a:lnTo>
                <a:lnTo>
                  <a:pt x="59578" y="3385"/>
                </a:lnTo>
                <a:lnTo>
                  <a:pt x="42925" y="0"/>
                </a:lnTo>
                <a:close/>
              </a:path>
            </a:pathLst>
          </a:custGeom>
          <a:solidFill>
            <a:srgbClr val="959595"/>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1" name="object 51"/>
          <p:cNvSpPr txBox="1"/>
          <p:nvPr/>
        </p:nvSpPr>
        <p:spPr>
          <a:xfrm>
            <a:off x="1702625" y="3786775"/>
            <a:ext cx="3201306" cy="1339850"/>
          </a:xfrm>
          <a:prstGeom prst="rect">
            <a:avLst/>
          </a:prstGeom>
          <a:solidFill>
            <a:srgbClr val="91AFFF"/>
          </a:solidFill>
        </p:spPr>
        <p:txBody>
          <a:bodyPr vert="horz" wrap="square" lIns="0" tIns="48225" rIns="0" bIns="0" rtlCol="0">
            <a:spAutoFit/>
          </a:bodyPr>
          <a:lstStyle/>
          <a:p>
            <a:pPr marL="265430" indent="-192405">
              <a:lnSpc>
                <a:spcPct val="100000"/>
              </a:lnSpc>
              <a:spcBef>
                <a:spcPts val="380"/>
              </a:spcBef>
              <a:buFont typeface="Arial" panose="020B0604020202020204"/>
              <a:buChar char="▪"/>
              <a:tabLst>
                <a:tab pos="264795" algn="l"/>
                <a:tab pos="265430" algn="l"/>
              </a:tabLst>
            </a:pPr>
            <a:r>
              <a:rPr sz="1400" b="1" spc="10" dirty="0">
                <a:latin typeface="微软雅黑" panose="020B0503020204020204" charset="-122"/>
                <a:ea typeface="微软雅黑" panose="020B0503020204020204" charset="-122"/>
                <a:cs typeface="微软雅黑" panose="020B0503020204020204" charset="-122"/>
              </a:rPr>
              <a:t>主要</a:t>
            </a:r>
            <a:r>
              <a:rPr sz="1400" b="1" dirty="0">
                <a:latin typeface="微软雅黑" panose="020B0503020204020204" charset="-122"/>
                <a:ea typeface="微软雅黑" panose="020B0503020204020204" charset="-122"/>
                <a:cs typeface="微软雅黑" panose="020B0503020204020204" charset="-122"/>
              </a:rPr>
              <a:t>价值</a:t>
            </a:r>
            <a:r>
              <a:rPr sz="1400" b="1" spc="-15" dirty="0">
                <a:latin typeface="微软雅黑" panose="020B0503020204020204" charset="-122"/>
                <a:ea typeface="微软雅黑" panose="020B0503020204020204" charset="-122"/>
                <a:cs typeface="微软雅黑" panose="020B0503020204020204" charset="-122"/>
              </a:rPr>
              <a:t>提</a:t>
            </a:r>
            <a:r>
              <a:rPr sz="1400" b="1" dirty="0">
                <a:latin typeface="微软雅黑" panose="020B0503020204020204" charset="-122"/>
                <a:ea typeface="微软雅黑" panose="020B0503020204020204" charset="-122"/>
                <a:cs typeface="微软雅黑" panose="020B0503020204020204" charset="-122"/>
              </a:rPr>
              <a:t>升空</a:t>
            </a:r>
            <a:r>
              <a:rPr sz="1400" b="1" spc="-15" dirty="0">
                <a:latin typeface="微软雅黑" panose="020B0503020204020204" charset="-122"/>
                <a:ea typeface="微软雅黑" panose="020B0503020204020204" charset="-122"/>
                <a:cs typeface="微软雅黑" panose="020B0503020204020204" charset="-122"/>
              </a:rPr>
              <a:t>间</a:t>
            </a:r>
            <a:r>
              <a:rPr sz="1400" b="1" dirty="0">
                <a:latin typeface="微软雅黑" panose="020B0503020204020204" charset="-122"/>
                <a:ea typeface="微软雅黑" panose="020B0503020204020204" charset="-122"/>
                <a:cs typeface="微软雅黑" panose="020B0503020204020204" charset="-122"/>
              </a:rPr>
              <a:t>集中</a:t>
            </a:r>
            <a:r>
              <a:rPr sz="1400" b="1" spc="-10" dirty="0">
                <a:latin typeface="微软雅黑" panose="020B0503020204020204" charset="-122"/>
                <a:ea typeface="微软雅黑" panose="020B0503020204020204" charset="-122"/>
                <a:cs typeface="微软雅黑" panose="020B0503020204020204" charset="-122"/>
              </a:rPr>
              <a:t>在</a:t>
            </a:r>
            <a:r>
              <a:rPr sz="1400" b="1" spc="-5" dirty="0">
                <a:latin typeface="微软雅黑" panose="020B0503020204020204" charset="-122"/>
                <a:ea typeface="微软雅黑" panose="020B0503020204020204" charset="-122"/>
                <a:cs typeface="微软雅黑" panose="020B0503020204020204" charset="-122"/>
              </a:rPr>
              <a:t>4</a:t>
            </a:r>
            <a:r>
              <a:rPr sz="1400" b="1" dirty="0">
                <a:latin typeface="微软雅黑" panose="020B0503020204020204" charset="-122"/>
                <a:ea typeface="微软雅黑" panose="020B0503020204020204" charset="-122"/>
                <a:cs typeface="微软雅黑" panose="020B0503020204020204" charset="-122"/>
              </a:rPr>
              <a:t>个</a:t>
            </a:r>
            <a:r>
              <a:rPr sz="1400" b="1" spc="-15" dirty="0">
                <a:latin typeface="微软雅黑" panose="020B0503020204020204" charset="-122"/>
                <a:ea typeface="微软雅黑" panose="020B0503020204020204" charset="-122"/>
                <a:cs typeface="微软雅黑" panose="020B0503020204020204" charset="-122"/>
              </a:rPr>
              <a:t>方</a:t>
            </a:r>
            <a:r>
              <a:rPr sz="1400" b="1" dirty="0">
                <a:latin typeface="微软雅黑" panose="020B0503020204020204" charset="-122"/>
                <a:ea typeface="微软雅黑" panose="020B0503020204020204" charset="-122"/>
                <a:cs typeface="微软雅黑" panose="020B0503020204020204" charset="-122"/>
              </a:rPr>
              <a:t>面</a:t>
            </a:r>
            <a:endParaRPr sz="1400">
              <a:latin typeface="微软雅黑" panose="020B0503020204020204" charset="-122"/>
              <a:ea typeface="微软雅黑" panose="020B0503020204020204" charset="-122"/>
              <a:cs typeface="微软雅黑" panose="020B0503020204020204" charset="-122"/>
            </a:endParaRPr>
          </a:p>
          <a:p>
            <a:pPr marL="528955" lvl="1" indent="-262890">
              <a:lnSpc>
                <a:spcPct val="100000"/>
              </a:lnSpc>
              <a:buFont typeface="Arial" panose="020B0604020202020204"/>
              <a:buChar char="–"/>
              <a:tabLst>
                <a:tab pos="528955" algn="l"/>
                <a:tab pos="529590" algn="l"/>
              </a:tabLst>
            </a:pPr>
            <a:r>
              <a:rPr sz="1400" b="1" spc="10" dirty="0">
                <a:latin typeface="微软雅黑" panose="020B0503020204020204" charset="-122"/>
                <a:ea typeface="微软雅黑" panose="020B0503020204020204" charset="-122"/>
                <a:cs typeface="微软雅黑" panose="020B0503020204020204" charset="-122"/>
              </a:rPr>
              <a:t>力学</a:t>
            </a:r>
            <a:r>
              <a:rPr sz="1400" b="1" dirty="0">
                <a:latin typeface="微软雅黑" panose="020B0503020204020204" charset="-122"/>
                <a:ea typeface="微软雅黑" panose="020B0503020204020204" charset="-122"/>
                <a:cs typeface="微软雅黑" panose="020B0503020204020204" charset="-122"/>
              </a:rPr>
              <a:t>性能</a:t>
            </a:r>
            <a:endParaRPr sz="1400">
              <a:latin typeface="微软雅黑" panose="020B0503020204020204" charset="-122"/>
              <a:ea typeface="微软雅黑" panose="020B0503020204020204" charset="-122"/>
              <a:cs typeface="微软雅黑" panose="020B0503020204020204" charset="-122"/>
            </a:endParaRPr>
          </a:p>
          <a:p>
            <a:pPr marL="528955" lvl="1" indent="-262890">
              <a:lnSpc>
                <a:spcPct val="100000"/>
              </a:lnSpc>
              <a:buFont typeface="Arial" panose="020B0604020202020204"/>
              <a:buChar char="–"/>
              <a:tabLst>
                <a:tab pos="528955" algn="l"/>
                <a:tab pos="529590" algn="l"/>
              </a:tabLst>
            </a:pPr>
            <a:r>
              <a:rPr sz="1400" b="1" spc="10" dirty="0">
                <a:latin typeface="微软雅黑" panose="020B0503020204020204" charset="-122"/>
                <a:ea typeface="微软雅黑" panose="020B0503020204020204" charset="-122"/>
                <a:cs typeface="微软雅黑" panose="020B0503020204020204" charset="-122"/>
              </a:rPr>
              <a:t>表面</a:t>
            </a:r>
            <a:r>
              <a:rPr sz="1400" b="1" dirty="0">
                <a:latin typeface="微软雅黑" panose="020B0503020204020204" charset="-122"/>
                <a:ea typeface="微软雅黑" panose="020B0503020204020204" charset="-122"/>
                <a:cs typeface="微软雅黑" panose="020B0503020204020204" charset="-122"/>
              </a:rPr>
              <a:t>质量</a:t>
            </a:r>
            <a:endParaRPr sz="1400">
              <a:latin typeface="微软雅黑" panose="020B0503020204020204" charset="-122"/>
              <a:ea typeface="微软雅黑" panose="020B0503020204020204" charset="-122"/>
              <a:cs typeface="微软雅黑" panose="020B0503020204020204" charset="-122"/>
            </a:endParaRPr>
          </a:p>
          <a:p>
            <a:pPr marL="528955" lvl="1" indent="-262890">
              <a:lnSpc>
                <a:spcPct val="100000"/>
              </a:lnSpc>
              <a:buFont typeface="Arial" panose="020B0604020202020204"/>
              <a:buChar char="–"/>
              <a:tabLst>
                <a:tab pos="528955" algn="l"/>
                <a:tab pos="529590" algn="l"/>
              </a:tabLst>
            </a:pPr>
            <a:r>
              <a:rPr sz="1400" b="1" spc="10" dirty="0">
                <a:latin typeface="微软雅黑" panose="020B0503020204020204" charset="-122"/>
                <a:ea typeface="微软雅黑" panose="020B0503020204020204" charset="-122"/>
                <a:cs typeface="微软雅黑" panose="020B0503020204020204" charset="-122"/>
              </a:rPr>
              <a:t>按时</a:t>
            </a:r>
            <a:r>
              <a:rPr sz="1400" b="1" spc="5" dirty="0">
                <a:latin typeface="微软雅黑" panose="020B0503020204020204" charset="-122"/>
                <a:ea typeface="微软雅黑" panose="020B0503020204020204" charset="-122"/>
                <a:cs typeface="微软雅黑" panose="020B0503020204020204" charset="-122"/>
              </a:rPr>
              <a:t>交</a:t>
            </a:r>
            <a:r>
              <a:rPr sz="1400" b="1" dirty="0">
                <a:latin typeface="微软雅黑" panose="020B0503020204020204" charset="-122"/>
                <a:ea typeface="微软雅黑" panose="020B0503020204020204" charset="-122"/>
                <a:cs typeface="微软雅黑" panose="020B0503020204020204" charset="-122"/>
              </a:rPr>
              <a:t>付</a:t>
            </a:r>
            <a:r>
              <a:rPr sz="1400" b="1" spc="5" dirty="0">
                <a:latin typeface="微软雅黑" panose="020B0503020204020204" charset="-122"/>
                <a:ea typeface="微软雅黑" panose="020B0503020204020204" charset="-122"/>
                <a:cs typeface="微软雅黑" panose="020B0503020204020204" charset="-122"/>
              </a:rPr>
              <a:t>率</a:t>
            </a:r>
            <a:endParaRPr sz="1400">
              <a:latin typeface="微软雅黑" panose="020B0503020204020204" charset="-122"/>
              <a:ea typeface="微软雅黑" panose="020B0503020204020204" charset="-122"/>
              <a:cs typeface="微软雅黑" panose="020B0503020204020204" charset="-122"/>
            </a:endParaRPr>
          </a:p>
          <a:p>
            <a:pPr marL="528955" lvl="1" indent="-262890">
              <a:lnSpc>
                <a:spcPct val="100000"/>
              </a:lnSpc>
              <a:buFont typeface="Arial" panose="020B0604020202020204"/>
              <a:buChar char="–"/>
              <a:tabLst>
                <a:tab pos="528955" algn="l"/>
                <a:tab pos="529590" algn="l"/>
              </a:tabLst>
            </a:pPr>
            <a:r>
              <a:rPr sz="1400" b="1" spc="10" dirty="0">
                <a:latin typeface="微软雅黑" panose="020B0503020204020204" charset="-122"/>
                <a:ea typeface="微软雅黑" panose="020B0503020204020204" charset="-122"/>
                <a:cs typeface="微软雅黑" panose="020B0503020204020204" charset="-122"/>
              </a:rPr>
              <a:t>交付</a:t>
            </a:r>
            <a:r>
              <a:rPr sz="1400" b="1" dirty="0">
                <a:latin typeface="微软雅黑" panose="020B0503020204020204" charset="-122"/>
                <a:ea typeface="微软雅黑" panose="020B0503020204020204" charset="-122"/>
                <a:cs typeface="微软雅黑" panose="020B0503020204020204" charset="-122"/>
              </a:rPr>
              <a:t>周期</a:t>
            </a:r>
            <a:endParaRPr sz="1400">
              <a:latin typeface="微软雅黑" panose="020B0503020204020204" charset="-122"/>
              <a:ea typeface="微软雅黑" panose="020B0503020204020204" charset="-122"/>
              <a:cs typeface="微软雅黑" panose="020B0503020204020204" charset="-122"/>
            </a:endParaRPr>
          </a:p>
          <a:p>
            <a:pPr marL="265430" indent="-192405">
              <a:lnSpc>
                <a:spcPct val="100000"/>
              </a:lnSpc>
              <a:buFont typeface="Arial" panose="020B0604020202020204"/>
              <a:buChar char="▪"/>
              <a:tabLst>
                <a:tab pos="264795" algn="l"/>
                <a:tab pos="265430" algn="l"/>
              </a:tabLst>
            </a:pPr>
            <a:r>
              <a:rPr sz="1400" b="1" spc="10" dirty="0">
                <a:latin typeface="微软雅黑" panose="020B0503020204020204" charset="-122"/>
                <a:ea typeface="微软雅黑" panose="020B0503020204020204" charset="-122"/>
                <a:cs typeface="微软雅黑" panose="020B0503020204020204" charset="-122"/>
              </a:rPr>
              <a:t>折约</a:t>
            </a:r>
            <a:r>
              <a:rPr sz="1400" b="1" spc="-5" dirty="0">
                <a:latin typeface="微软雅黑" panose="020B0503020204020204" charset="-122"/>
                <a:ea typeface="微软雅黑" panose="020B0503020204020204" charset="-122"/>
                <a:cs typeface="微软雅黑" panose="020B0503020204020204" charset="-122"/>
              </a:rPr>
              <a:t>220</a:t>
            </a:r>
            <a:r>
              <a:rPr sz="1400" b="1" dirty="0">
                <a:latin typeface="微软雅黑" panose="020B0503020204020204" charset="-122"/>
                <a:ea typeface="微软雅黑" panose="020B0503020204020204" charset="-122"/>
                <a:cs typeface="微软雅黑" panose="020B0503020204020204" charset="-122"/>
              </a:rPr>
              <a:t>元</a:t>
            </a:r>
            <a:r>
              <a:rPr sz="1400" b="1" spc="-15" dirty="0">
                <a:latin typeface="微软雅黑" panose="020B0503020204020204" charset="-122"/>
                <a:ea typeface="微软雅黑" panose="020B0503020204020204" charset="-122"/>
                <a:cs typeface="微软雅黑" panose="020B0503020204020204" charset="-122"/>
              </a:rPr>
              <a:t>，</a:t>
            </a:r>
            <a:r>
              <a:rPr sz="1400" b="1" dirty="0">
                <a:latin typeface="微软雅黑" panose="020B0503020204020204" charset="-122"/>
                <a:ea typeface="微软雅黑" panose="020B0503020204020204" charset="-122"/>
                <a:cs typeface="微软雅黑" panose="020B0503020204020204" charset="-122"/>
              </a:rPr>
              <a:t>为参</a:t>
            </a:r>
            <a:r>
              <a:rPr sz="1400" b="1" spc="-15" dirty="0">
                <a:latin typeface="微软雅黑" panose="020B0503020204020204" charset="-122"/>
                <a:ea typeface="微软雅黑" panose="020B0503020204020204" charset="-122"/>
                <a:cs typeface="微软雅黑" panose="020B0503020204020204" charset="-122"/>
              </a:rPr>
              <a:t>考</a:t>
            </a:r>
            <a:r>
              <a:rPr sz="1400" b="1" dirty="0">
                <a:latin typeface="微软雅黑" panose="020B0503020204020204" charset="-122"/>
                <a:ea typeface="微软雅黑" panose="020B0503020204020204" charset="-122"/>
                <a:cs typeface="微软雅黑" panose="020B0503020204020204" charset="-122"/>
              </a:rPr>
              <a:t>公司</a:t>
            </a:r>
            <a:r>
              <a:rPr sz="1400" b="1" spc="-15" dirty="0">
                <a:latin typeface="微软雅黑" panose="020B0503020204020204" charset="-122"/>
                <a:ea typeface="微软雅黑" panose="020B0503020204020204" charset="-122"/>
                <a:cs typeface="微软雅黑" panose="020B0503020204020204" charset="-122"/>
              </a:rPr>
              <a:t>价</a:t>
            </a:r>
            <a:r>
              <a:rPr sz="1400" b="1" dirty="0">
                <a:latin typeface="微软雅黑" panose="020B0503020204020204" charset="-122"/>
                <a:ea typeface="微软雅黑" panose="020B0503020204020204" charset="-122"/>
                <a:cs typeface="微软雅黑" panose="020B0503020204020204" charset="-122"/>
              </a:rPr>
              <a:t>格的</a:t>
            </a:r>
            <a:r>
              <a:rPr sz="1400" b="1" spc="-5" dirty="0">
                <a:latin typeface="微软雅黑" panose="020B0503020204020204" charset="-122"/>
                <a:ea typeface="微软雅黑" panose="020B0503020204020204" charset="-122"/>
                <a:cs typeface="微软雅黑" panose="020B0503020204020204" charset="-122"/>
              </a:rPr>
              <a:t>~3%</a:t>
            </a:r>
            <a:endParaRPr sz="1400">
              <a:latin typeface="微软雅黑" panose="020B0503020204020204" charset="-122"/>
              <a:ea typeface="微软雅黑" panose="020B0503020204020204" charset="-122"/>
              <a:cs typeface="微软雅黑" panose="020B0503020204020204" charset="-122"/>
            </a:endParaRPr>
          </a:p>
        </p:txBody>
      </p:sp>
      <p:sp>
        <p:nvSpPr>
          <p:cNvPr id="52" name="object 52"/>
          <p:cNvSpPr txBox="1"/>
          <p:nvPr/>
        </p:nvSpPr>
        <p:spPr>
          <a:xfrm>
            <a:off x="7414847" y="518714"/>
            <a:ext cx="1096503" cy="227965"/>
          </a:xfrm>
          <a:prstGeom prst="rect">
            <a:avLst/>
          </a:prstGeom>
        </p:spPr>
        <p:txBody>
          <a:bodyPr vert="horz" wrap="square" lIns="0" tIns="13325" rIns="0" bIns="0" rtlCol="0">
            <a:spAutoFit/>
          </a:bodyPr>
          <a:lstStyle/>
          <a:p>
            <a:pPr marL="12700">
              <a:lnSpc>
                <a:spcPct val="100000"/>
              </a:lnSpc>
              <a:spcBef>
                <a:spcPts val="105"/>
              </a:spcBef>
            </a:pPr>
            <a:r>
              <a:rPr sz="1400" dirty="0">
                <a:solidFill>
                  <a:srgbClr val="808080"/>
                </a:solidFill>
                <a:latin typeface="微软雅黑" panose="020B0503020204020204" charset="-122"/>
                <a:ea typeface="微软雅黑" panose="020B0503020204020204" charset="-122"/>
                <a:cs typeface="微软雅黑" panose="020B0503020204020204" charset="-122"/>
              </a:rPr>
              <a:t>匿名客户案例</a:t>
            </a:r>
            <a:endParaRPr sz="1400" dirty="0">
              <a:solidFill>
                <a:srgbClr val="808080"/>
              </a:solidFill>
              <a:latin typeface="微软雅黑" panose="020B0503020204020204" charset="-122"/>
              <a:ea typeface="微软雅黑" panose="020B0503020204020204" charset="-122"/>
              <a:cs typeface="微软雅黑" panose="020B0503020204020204" charset="-122"/>
            </a:endParaRPr>
          </a:p>
        </p:txBody>
      </p:sp>
      <p:sp>
        <p:nvSpPr>
          <p:cNvPr id="53" name="object 53"/>
          <p:cNvSpPr/>
          <p:nvPr/>
        </p:nvSpPr>
        <p:spPr>
          <a:xfrm>
            <a:off x="7402917" y="542954"/>
            <a:ext cx="0" cy="239859"/>
          </a:xfrm>
          <a:custGeom>
            <a:avLst/>
            <a:gdLst/>
            <a:ahLst/>
            <a:cxnLst/>
            <a:rect l="l" t="t" r="r" b="b"/>
            <a:pathLst>
              <a:path h="240029">
                <a:moveTo>
                  <a:pt x="0" y="0"/>
                </a:moveTo>
                <a:lnTo>
                  <a:pt x="0" y="239775"/>
                </a:lnTo>
              </a:path>
            </a:pathLst>
          </a:custGeom>
          <a:ln w="9525">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4" name="object 54"/>
          <p:cNvSpPr/>
          <p:nvPr/>
        </p:nvSpPr>
        <p:spPr>
          <a:xfrm>
            <a:off x="7403679" y="784336"/>
            <a:ext cx="1093330" cy="0"/>
          </a:xfrm>
          <a:custGeom>
            <a:avLst/>
            <a:gdLst/>
            <a:ahLst/>
            <a:cxnLst/>
            <a:rect l="l" t="t" r="r" b="b"/>
            <a:pathLst>
              <a:path w="1094104">
                <a:moveTo>
                  <a:pt x="0" y="0"/>
                </a:moveTo>
                <a:lnTo>
                  <a:pt x="1093724" y="0"/>
                </a:lnTo>
              </a:path>
            </a:pathLst>
          </a:custGeom>
          <a:ln w="25400">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401" y="203088"/>
            <a:ext cx="7259889"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在与客户进</a:t>
            </a:r>
            <a:r>
              <a:rPr spc="-10" dirty="0">
                <a:ea typeface="微软雅黑" panose="020B0503020204020204" charset="-122"/>
              </a:rPr>
              <a:t>行讨</a:t>
            </a:r>
            <a:r>
              <a:rPr spc="-5" dirty="0">
                <a:ea typeface="微软雅黑" panose="020B0503020204020204" charset="-122"/>
              </a:rPr>
              <a:t>论</a:t>
            </a:r>
            <a:r>
              <a:rPr spc="-10" dirty="0">
                <a:ea typeface="微软雅黑" panose="020B0503020204020204" charset="-122"/>
              </a:rPr>
              <a:t>之前</a:t>
            </a:r>
            <a:r>
              <a:rPr spc="-5" dirty="0">
                <a:ea typeface="微软雅黑" panose="020B0503020204020204" charset="-122"/>
              </a:rPr>
              <a:t>，</a:t>
            </a:r>
            <a:r>
              <a:rPr spc="-10" dirty="0">
                <a:ea typeface="微软雅黑" panose="020B0503020204020204" charset="-122"/>
              </a:rPr>
              <a:t>可以</a:t>
            </a:r>
            <a:r>
              <a:rPr spc="-5" dirty="0">
                <a:ea typeface="微软雅黑" panose="020B0503020204020204" charset="-122"/>
              </a:rPr>
              <a:t>使</a:t>
            </a:r>
            <a:r>
              <a:rPr spc="-10" dirty="0">
                <a:ea typeface="微软雅黑" panose="020B0503020204020204" charset="-122"/>
              </a:rPr>
              <a:t>用客</a:t>
            </a:r>
            <a:r>
              <a:rPr spc="-5" dirty="0">
                <a:ea typeface="微软雅黑" panose="020B0503020204020204" charset="-122"/>
              </a:rPr>
              <a:t>户</a:t>
            </a:r>
            <a:r>
              <a:rPr spc="-10" dirty="0">
                <a:ea typeface="微软雅黑" panose="020B0503020204020204" charset="-122"/>
              </a:rPr>
              <a:t>价值</a:t>
            </a:r>
            <a:r>
              <a:rPr spc="-5" dirty="0">
                <a:ea typeface="微软雅黑" panose="020B0503020204020204" charset="-122"/>
              </a:rPr>
              <a:t>分</a:t>
            </a:r>
            <a:r>
              <a:rPr spc="-10" dirty="0">
                <a:ea typeface="微软雅黑" panose="020B0503020204020204" charset="-122"/>
              </a:rPr>
              <a:t>析表</a:t>
            </a:r>
            <a:r>
              <a:rPr spc="-5" dirty="0">
                <a:ea typeface="微软雅黑" panose="020B0503020204020204" charset="-122"/>
              </a:rPr>
              <a:t>格</a:t>
            </a:r>
            <a:r>
              <a:rPr spc="-10" dirty="0">
                <a:ea typeface="微软雅黑" panose="020B0503020204020204" charset="-122"/>
              </a:rPr>
              <a:t>为讨</a:t>
            </a:r>
            <a:r>
              <a:rPr spc="-5" dirty="0">
                <a:ea typeface="微软雅黑" panose="020B0503020204020204" charset="-122"/>
              </a:rPr>
              <a:t>论</a:t>
            </a:r>
            <a:r>
              <a:rPr spc="-10" dirty="0">
                <a:ea typeface="微软雅黑" panose="020B0503020204020204" charset="-122"/>
              </a:rPr>
              <a:t>进行</a:t>
            </a:r>
            <a:r>
              <a:rPr spc="-5" dirty="0">
                <a:ea typeface="微软雅黑" panose="020B0503020204020204" charset="-122"/>
              </a:rPr>
              <a:t>准</a:t>
            </a:r>
            <a:r>
              <a:rPr spc="-10" dirty="0">
                <a:ea typeface="微软雅黑" panose="020B0503020204020204" charset="-122"/>
              </a:rPr>
              <a:t>备</a:t>
            </a:r>
            <a:endParaRPr spc="-10" dirty="0">
              <a:ea typeface="微软雅黑" panose="020B0503020204020204" charset="-122"/>
            </a:endParaRPr>
          </a:p>
        </p:txBody>
      </p:sp>
      <p:sp>
        <p:nvSpPr>
          <p:cNvPr id="4" name="object 4"/>
          <p:cNvSpPr/>
          <p:nvPr/>
        </p:nvSpPr>
        <p:spPr>
          <a:xfrm>
            <a:off x="1649323" y="2091764"/>
            <a:ext cx="6980053" cy="1904"/>
          </a:xfrm>
          <a:custGeom>
            <a:avLst/>
            <a:gdLst/>
            <a:ahLst/>
            <a:cxnLst/>
            <a:rect l="l" t="t" r="r" b="b"/>
            <a:pathLst>
              <a:path w="6985000" h="1905">
                <a:moveTo>
                  <a:pt x="0" y="0"/>
                </a:moveTo>
                <a:lnTo>
                  <a:pt x="6984491" y="1524"/>
                </a:lnTo>
              </a:path>
            </a:pathLst>
          </a:custGeom>
          <a:ln w="12700">
            <a:solidFill>
              <a:srgbClr val="B1B1B1"/>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p:nvPr/>
        </p:nvSpPr>
        <p:spPr>
          <a:xfrm>
            <a:off x="1649323" y="2589759"/>
            <a:ext cx="6980053" cy="1904"/>
          </a:xfrm>
          <a:custGeom>
            <a:avLst/>
            <a:gdLst/>
            <a:ahLst/>
            <a:cxnLst/>
            <a:rect l="l" t="t" r="r" b="b"/>
            <a:pathLst>
              <a:path w="6985000" h="1905">
                <a:moveTo>
                  <a:pt x="0" y="0"/>
                </a:moveTo>
                <a:lnTo>
                  <a:pt x="6984491" y="1524"/>
                </a:lnTo>
              </a:path>
            </a:pathLst>
          </a:custGeom>
          <a:ln w="12700">
            <a:solidFill>
              <a:srgbClr val="B1B1B1"/>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1649323" y="3739564"/>
            <a:ext cx="6980053" cy="1904"/>
          </a:xfrm>
          <a:custGeom>
            <a:avLst/>
            <a:gdLst/>
            <a:ahLst/>
            <a:cxnLst/>
            <a:rect l="l" t="t" r="r" b="b"/>
            <a:pathLst>
              <a:path w="6985000" h="1904">
                <a:moveTo>
                  <a:pt x="0" y="0"/>
                </a:moveTo>
                <a:lnTo>
                  <a:pt x="6984491" y="1524"/>
                </a:lnTo>
              </a:path>
            </a:pathLst>
          </a:custGeom>
          <a:ln w="12700">
            <a:solidFill>
              <a:srgbClr val="B1B1B1"/>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1640186" y="4211669"/>
            <a:ext cx="6978149" cy="1904"/>
          </a:xfrm>
          <a:custGeom>
            <a:avLst/>
            <a:gdLst/>
            <a:ahLst/>
            <a:cxnLst/>
            <a:rect l="l" t="t" r="r" b="b"/>
            <a:pathLst>
              <a:path w="6983095" h="1904">
                <a:moveTo>
                  <a:pt x="0" y="0"/>
                </a:moveTo>
                <a:lnTo>
                  <a:pt x="6982968" y="1523"/>
                </a:lnTo>
              </a:path>
            </a:pathLst>
          </a:custGeom>
          <a:ln w="12700">
            <a:solidFill>
              <a:srgbClr val="B1B1B1"/>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1649323" y="4665499"/>
            <a:ext cx="6980053" cy="0"/>
          </a:xfrm>
          <a:custGeom>
            <a:avLst/>
            <a:gdLst/>
            <a:ahLst/>
            <a:cxnLst/>
            <a:rect l="l" t="t" r="r" b="b"/>
            <a:pathLst>
              <a:path w="6985000">
                <a:moveTo>
                  <a:pt x="0" y="0"/>
                </a:moveTo>
                <a:lnTo>
                  <a:pt x="6984491" y="0"/>
                </a:lnTo>
              </a:path>
            </a:pathLst>
          </a:custGeom>
          <a:ln w="12700">
            <a:solidFill>
              <a:srgbClr val="B1B1B1"/>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1649323" y="5314264"/>
            <a:ext cx="6980053" cy="1904"/>
          </a:xfrm>
          <a:custGeom>
            <a:avLst/>
            <a:gdLst/>
            <a:ahLst/>
            <a:cxnLst/>
            <a:rect l="l" t="t" r="r" b="b"/>
            <a:pathLst>
              <a:path w="6985000" h="1904">
                <a:moveTo>
                  <a:pt x="0" y="0"/>
                </a:moveTo>
                <a:lnTo>
                  <a:pt x="6984491" y="1523"/>
                </a:lnTo>
              </a:path>
            </a:pathLst>
          </a:custGeom>
          <a:ln w="12700">
            <a:solidFill>
              <a:srgbClr val="B1B1B1"/>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1640186" y="3093846"/>
            <a:ext cx="6978149" cy="1904"/>
          </a:xfrm>
          <a:custGeom>
            <a:avLst/>
            <a:gdLst/>
            <a:ahLst/>
            <a:cxnLst/>
            <a:rect l="l" t="t" r="r" b="b"/>
            <a:pathLst>
              <a:path w="6983095" h="1905">
                <a:moveTo>
                  <a:pt x="0" y="0"/>
                </a:moveTo>
                <a:lnTo>
                  <a:pt x="6982968" y="1524"/>
                </a:lnTo>
              </a:path>
            </a:pathLst>
          </a:custGeom>
          <a:ln w="12700">
            <a:solidFill>
              <a:srgbClr val="B1B1B1"/>
            </a:solidFill>
            <a:prstDash val="sysDot"/>
          </a:ln>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435554" y="1704942"/>
            <a:ext cx="1061603" cy="306488"/>
          </a:xfrm>
          <a:custGeom>
            <a:avLst/>
            <a:gdLst/>
            <a:ahLst/>
            <a:cxnLst/>
            <a:rect l="l" t="t" r="r" b="b"/>
            <a:pathLst>
              <a:path w="1062355" h="306705">
                <a:moveTo>
                  <a:pt x="0" y="306324"/>
                </a:moveTo>
                <a:lnTo>
                  <a:pt x="1062228" y="306324"/>
                </a:lnTo>
                <a:lnTo>
                  <a:pt x="1062228" y="0"/>
                </a:lnTo>
                <a:lnTo>
                  <a:pt x="0" y="0"/>
                </a:lnTo>
                <a:lnTo>
                  <a:pt x="0" y="30632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6837723" y="609771"/>
            <a:ext cx="152673" cy="151149"/>
          </a:xfrm>
          <a:prstGeom prst="rect">
            <a:avLst/>
          </a:prstGeom>
          <a:blipFill>
            <a:blip r:embed="rId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txBox="1"/>
          <p:nvPr/>
        </p:nvSpPr>
        <p:spPr>
          <a:xfrm>
            <a:off x="7052392" y="594225"/>
            <a:ext cx="634550" cy="196215"/>
          </a:xfrm>
          <a:prstGeom prst="rect">
            <a:avLst/>
          </a:prstGeom>
        </p:spPr>
        <p:txBody>
          <a:bodyPr vert="horz" wrap="square" lIns="0" tIns="12691" rIns="0" bIns="0" rtlCol="0">
            <a:spAutoFit/>
          </a:bodyPr>
          <a:lstStyle/>
          <a:p>
            <a:pPr marL="12700">
              <a:lnSpc>
                <a:spcPct val="100000"/>
              </a:lnSpc>
              <a:spcBef>
                <a:spcPts val="100"/>
              </a:spcBef>
            </a:pPr>
            <a:r>
              <a:rPr sz="1200" dirty="0">
                <a:latin typeface="微软雅黑" panose="020B0503020204020204" charset="-122"/>
                <a:ea typeface="微软雅黑" panose="020B0503020204020204" charset="-122"/>
                <a:cs typeface="微软雅黑" panose="020B0503020204020204" charset="-122"/>
              </a:rPr>
              <a:t>中等潜力</a:t>
            </a:r>
            <a:endParaRPr sz="1200" dirty="0">
              <a:latin typeface="微软雅黑" panose="020B0503020204020204" charset="-122"/>
              <a:ea typeface="微软雅黑" panose="020B0503020204020204" charset="-122"/>
              <a:cs typeface="微软雅黑" panose="020B0503020204020204" charset="-122"/>
            </a:endParaRPr>
          </a:p>
        </p:txBody>
      </p:sp>
      <p:sp>
        <p:nvSpPr>
          <p:cNvPr id="14" name="object 14"/>
          <p:cNvSpPr/>
          <p:nvPr/>
        </p:nvSpPr>
        <p:spPr>
          <a:xfrm>
            <a:off x="7824576" y="609771"/>
            <a:ext cx="152673" cy="149626"/>
          </a:xfrm>
          <a:prstGeom prst="rect">
            <a:avLst/>
          </a:prstGeom>
          <a:blipFill>
            <a:blip r:embed="rId2"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txBox="1"/>
          <p:nvPr/>
        </p:nvSpPr>
        <p:spPr>
          <a:xfrm>
            <a:off x="8038991" y="595748"/>
            <a:ext cx="634550" cy="196215"/>
          </a:xfrm>
          <a:prstGeom prst="rect">
            <a:avLst/>
          </a:prstGeom>
        </p:spPr>
        <p:txBody>
          <a:bodyPr vert="horz" wrap="square" lIns="0" tIns="12691" rIns="0" bIns="0" rtlCol="0">
            <a:spAutoFit/>
          </a:bodyPr>
          <a:lstStyle/>
          <a:p>
            <a:pPr marL="12700">
              <a:lnSpc>
                <a:spcPct val="100000"/>
              </a:lnSpc>
              <a:spcBef>
                <a:spcPts val="100"/>
              </a:spcBef>
            </a:pPr>
            <a:r>
              <a:rPr sz="1200" dirty="0">
                <a:latin typeface="微软雅黑" panose="020B0503020204020204" charset="-122"/>
                <a:ea typeface="微软雅黑" panose="020B0503020204020204" charset="-122"/>
                <a:cs typeface="微软雅黑" panose="020B0503020204020204" charset="-122"/>
              </a:rPr>
              <a:t>巨大潜力</a:t>
            </a:r>
            <a:endParaRPr sz="1200" dirty="0">
              <a:latin typeface="微软雅黑" panose="020B0503020204020204" charset="-122"/>
              <a:ea typeface="微软雅黑" panose="020B0503020204020204" charset="-122"/>
              <a:cs typeface="微软雅黑" panose="020B0503020204020204" charset="-122"/>
            </a:endParaRPr>
          </a:p>
        </p:txBody>
      </p:sp>
      <p:sp>
        <p:nvSpPr>
          <p:cNvPr id="16" name="object 16"/>
          <p:cNvSpPr/>
          <p:nvPr/>
        </p:nvSpPr>
        <p:spPr>
          <a:xfrm>
            <a:off x="5826504" y="580836"/>
            <a:ext cx="152672" cy="151150"/>
          </a:xfrm>
          <a:prstGeom prst="rect">
            <a:avLst/>
          </a:prstGeom>
          <a:blipFill>
            <a:blip r:embed="rId3"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txBox="1"/>
          <p:nvPr/>
        </p:nvSpPr>
        <p:spPr>
          <a:xfrm>
            <a:off x="6038760" y="567066"/>
            <a:ext cx="677700" cy="196215"/>
          </a:xfrm>
          <a:prstGeom prst="rect">
            <a:avLst/>
          </a:prstGeom>
        </p:spPr>
        <p:txBody>
          <a:bodyPr vert="horz" wrap="square" lIns="0" tIns="12691" rIns="0" bIns="0" rtlCol="0">
            <a:spAutoFit/>
          </a:bodyPr>
          <a:lstStyle/>
          <a:p>
            <a:pPr marL="12700">
              <a:lnSpc>
                <a:spcPct val="100000"/>
              </a:lnSpc>
              <a:spcBef>
                <a:spcPts val="100"/>
              </a:spcBef>
            </a:pPr>
            <a:r>
              <a:rPr sz="1200" dirty="0">
                <a:latin typeface="微软雅黑" panose="020B0503020204020204" charset="-122"/>
                <a:ea typeface="微软雅黑" panose="020B0503020204020204" charset="-122"/>
                <a:cs typeface="微软雅黑" panose="020B0503020204020204" charset="-122"/>
              </a:rPr>
              <a:t>低</a:t>
            </a:r>
            <a:r>
              <a:rPr sz="1200" dirty="0">
                <a:latin typeface="微软雅黑" panose="020B0503020204020204" charset="-122"/>
                <a:ea typeface="微软雅黑" panose="020B0503020204020204" charset="-122"/>
                <a:cs typeface="微软雅黑" panose="020B0503020204020204" charset="-122"/>
              </a:rPr>
              <a:t>/无潜力</a:t>
            </a:r>
            <a:endParaRPr sz="1200">
              <a:latin typeface="微软雅黑" panose="020B0503020204020204" charset="-122"/>
              <a:ea typeface="微软雅黑" panose="020B0503020204020204" charset="-122"/>
              <a:cs typeface="微软雅黑" panose="020B0503020204020204" charset="-122"/>
            </a:endParaRPr>
          </a:p>
        </p:txBody>
      </p:sp>
      <p:sp>
        <p:nvSpPr>
          <p:cNvPr id="18" name="object 18"/>
          <p:cNvSpPr/>
          <p:nvPr/>
        </p:nvSpPr>
        <p:spPr>
          <a:xfrm>
            <a:off x="3662624" y="5606665"/>
            <a:ext cx="2263441" cy="652318"/>
          </a:xfrm>
          <a:custGeom>
            <a:avLst/>
            <a:gdLst/>
            <a:ahLst/>
            <a:cxnLst/>
            <a:rect l="l" t="t" r="r" b="b"/>
            <a:pathLst>
              <a:path w="2265045" h="652779">
                <a:moveTo>
                  <a:pt x="2169794" y="0"/>
                </a:moveTo>
                <a:lnTo>
                  <a:pt x="94868" y="0"/>
                </a:lnTo>
                <a:lnTo>
                  <a:pt x="57917" y="7456"/>
                </a:lnTo>
                <a:lnTo>
                  <a:pt x="27765" y="27790"/>
                </a:lnTo>
                <a:lnTo>
                  <a:pt x="7447" y="57950"/>
                </a:lnTo>
                <a:lnTo>
                  <a:pt x="0" y="94881"/>
                </a:lnTo>
                <a:lnTo>
                  <a:pt x="0" y="557390"/>
                </a:lnTo>
                <a:lnTo>
                  <a:pt x="7447" y="594321"/>
                </a:lnTo>
                <a:lnTo>
                  <a:pt x="27765" y="624481"/>
                </a:lnTo>
                <a:lnTo>
                  <a:pt x="57917" y="644815"/>
                </a:lnTo>
                <a:lnTo>
                  <a:pt x="94868" y="652272"/>
                </a:lnTo>
                <a:lnTo>
                  <a:pt x="2169794" y="652272"/>
                </a:lnTo>
                <a:lnTo>
                  <a:pt x="2206746" y="644815"/>
                </a:lnTo>
                <a:lnTo>
                  <a:pt x="2236898" y="624481"/>
                </a:lnTo>
                <a:lnTo>
                  <a:pt x="2257216" y="594321"/>
                </a:lnTo>
                <a:lnTo>
                  <a:pt x="2264664" y="557390"/>
                </a:lnTo>
                <a:lnTo>
                  <a:pt x="2264664" y="94881"/>
                </a:lnTo>
                <a:lnTo>
                  <a:pt x="2257216" y="57950"/>
                </a:lnTo>
                <a:lnTo>
                  <a:pt x="2236898" y="27790"/>
                </a:lnTo>
                <a:lnTo>
                  <a:pt x="2206746" y="7456"/>
                </a:lnTo>
                <a:lnTo>
                  <a:pt x="2169794"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txBox="1"/>
          <p:nvPr/>
        </p:nvSpPr>
        <p:spPr>
          <a:xfrm>
            <a:off x="3739785" y="5829722"/>
            <a:ext cx="1131403" cy="381000"/>
          </a:xfrm>
          <a:prstGeom prst="rect">
            <a:avLst/>
          </a:prstGeom>
        </p:spPr>
        <p:txBody>
          <a:bodyPr vert="horz" wrap="square" lIns="0" tIns="12691" rIns="0" bIns="0" rtlCol="0">
            <a:spAutoFit/>
          </a:bodyPr>
          <a:lstStyle/>
          <a:p>
            <a:pPr marL="204470" indent="-192405">
              <a:lnSpc>
                <a:spcPct val="100000"/>
              </a:lnSpc>
              <a:spcBef>
                <a:spcPts val="100"/>
              </a:spcBef>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突出潜在不同</a:t>
            </a:r>
            <a:endParaRPr sz="1200">
              <a:latin typeface="微软雅黑" panose="020B0503020204020204" charset="-122"/>
              <a:ea typeface="微软雅黑" panose="020B0503020204020204" charset="-122"/>
              <a:cs typeface="微软雅黑" panose="020B0503020204020204" charset="-122"/>
            </a:endParaRPr>
          </a:p>
          <a:p>
            <a:pPr marL="204470" indent="-192405">
              <a:lnSpc>
                <a:spcPct val="100000"/>
              </a:lnSpc>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推导谈判潜力</a:t>
            </a:r>
            <a:endParaRPr sz="1200">
              <a:latin typeface="微软雅黑" panose="020B0503020204020204" charset="-122"/>
              <a:ea typeface="微软雅黑" panose="020B0503020204020204" charset="-122"/>
              <a:cs typeface="微软雅黑" panose="020B0503020204020204" charset="-122"/>
            </a:endParaRPr>
          </a:p>
        </p:txBody>
      </p:sp>
      <p:sp>
        <p:nvSpPr>
          <p:cNvPr id="20" name="object 20"/>
          <p:cNvSpPr/>
          <p:nvPr/>
        </p:nvSpPr>
        <p:spPr>
          <a:xfrm>
            <a:off x="435554" y="4289338"/>
            <a:ext cx="1061603" cy="307757"/>
          </a:xfrm>
          <a:custGeom>
            <a:avLst/>
            <a:gdLst/>
            <a:ahLst/>
            <a:cxnLst/>
            <a:rect l="l" t="t" r="r" b="b"/>
            <a:pathLst>
              <a:path w="1062355" h="307975">
                <a:moveTo>
                  <a:pt x="0" y="307847"/>
                </a:moveTo>
                <a:lnTo>
                  <a:pt x="1062228" y="307847"/>
                </a:lnTo>
                <a:lnTo>
                  <a:pt x="1062228" y="0"/>
                </a:lnTo>
                <a:lnTo>
                  <a:pt x="0" y="0"/>
                </a:lnTo>
                <a:lnTo>
                  <a:pt x="0" y="307847"/>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1" name="object 21"/>
          <p:cNvSpPr/>
          <p:nvPr/>
        </p:nvSpPr>
        <p:spPr>
          <a:xfrm>
            <a:off x="435554" y="3806573"/>
            <a:ext cx="1061603" cy="306488"/>
          </a:xfrm>
          <a:custGeom>
            <a:avLst/>
            <a:gdLst/>
            <a:ahLst/>
            <a:cxnLst/>
            <a:rect l="l" t="t" r="r" b="b"/>
            <a:pathLst>
              <a:path w="1062355" h="306704">
                <a:moveTo>
                  <a:pt x="0" y="306324"/>
                </a:moveTo>
                <a:lnTo>
                  <a:pt x="1062228" y="306324"/>
                </a:lnTo>
                <a:lnTo>
                  <a:pt x="1062228" y="0"/>
                </a:lnTo>
                <a:lnTo>
                  <a:pt x="0" y="0"/>
                </a:lnTo>
                <a:lnTo>
                  <a:pt x="0" y="30632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435554" y="2702455"/>
            <a:ext cx="1061603" cy="304584"/>
          </a:xfrm>
          <a:custGeom>
            <a:avLst/>
            <a:gdLst/>
            <a:ahLst/>
            <a:cxnLst/>
            <a:rect l="l" t="t" r="r" b="b"/>
            <a:pathLst>
              <a:path w="1062355" h="304800">
                <a:moveTo>
                  <a:pt x="0" y="304800"/>
                </a:moveTo>
                <a:lnTo>
                  <a:pt x="1062228" y="304800"/>
                </a:lnTo>
                <a:lnTo>
                  <a:pt x="1062228" y="0"/>
                </a:lnTo>
                <a:lnTo>
                  <a:pt x="0" y="0"/>
                </a:lnTo>
                <a:lnTo>
                  <a:pt x="0" y="30480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p:nvPr/>
        </p:nvSpPr>
        <p:spPr>
          <a:xfrm>
            <a:off x="435554" y="2202937"/>
            <a:ext cx="1061603" cy="306488"/>
          </a:xfrm>
          <a:custGeom>
            <a:avLst/>
            <a:gdLst/>
            <a:ahLst/>
            <a:cxnLst/>
            <a:rect l="l" t="t" r="r" b="b"/>
            <a:pathLst>
              <a:path w="1062355" h="306705">
                <a:moveTo>
                  <a:pt x="0" y="306324"/>
                </a:moveTo>
                <a:lnTo>
                  <a:pt x="1062228" y="306324"/>
                </a:lnTo>
                <a:lnTo>
                  <a:pt x="1062228" y="0"/>
                </a:lnTo>
                <a:lnTo>
                  <a:pt x="0" y="0"/>
                </a:lnTo>
                <a:lnTo>
                  <a:pt x="0" y="30632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p:nvPr/>
        </p:nvSpPr>
        <p:spPr>
          <a:xfrm>
            <a:off x="435554" y="4711187"/>
            <a:ext cx="1061603" cy="306488"/>
          </a:xfrm>
          <a:custGeom>
            <a:avLst/>
            <a:gdLst/>
            <a:ahLst/>
            <a:cxnLst/>
            <a:rect l="l" t="t" r="r" b="b"/>
            <a:pathLst>
              <a:path w="1062355" h="306704">
                <a:moveTo>
                  <a:pt x="0" y="306323"/>
                </a:moveTo>
                <a:lnTo>
                  <a:pt x="1062228" y="306323"/>
                </a:lnTo>
                <a:lnTo>
                  <a:pt x="1062228" y="0"/>
                </a:lnTo>
                <a:lnTo>
                  <a:pt x="0" y="0"/>
                </a:lnTo>
                <a:lnTo>
                  <a:pt x="0" y="306323"/>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5" name="object 25"/>
          <p:cNvSpPr/>
          <p:nvPr/>
        </p:nvSpPr>
        <p:spPr>
          <a:xfrm>
            <a:off x="435554" y="5356906"/>
            <a:ext cx="1061603" cy="306488"/>
          </a:xfrm>
          <a:custGeom>
            <a:avLst/>
            <a:gdLst/>
            <a:ahLst/>
            <a:cxnLst/>
            <a:rect l="l" t="t" r="r" b="b"/>
            <a:pathLst>
              <a:path w="1062355" h="306704">
                <a:moveTo>
                  <a:pt x="0" y="306324"/>
                </a:moveTo>
                <a:lnTo>
                  <a:pt x="1062228" y="306324"/>
                </a:lnTo>
                <a:lnTo>
                  <a:pt x="1062228" y="0"/>
                </a:lnTo>
                <a:lnTo>
                  <a:pt x="0" y="0"/>
                </a:lnTo>
                <a:lnTo>
                  <a:pt x="0" y="30632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6" name="object 26"/>
          <p:cNvSpPr/>
          <p:nvPr/>
        </p:nvSpPr>
        <p:spPr>
          <a:xfrm>
            <a:off x="435554" y="3157808"/>
            <a:ext cx="1061603" cy="304584"/>
          </a:xfrm>
          <a:custGeom>
            <a:avLst/>
            <a:gdLst/>
            <a:ahLst/>
            <a:cxnLst/>
            <a:rect l="l" t="t" r="r" b="b"/>
            <a:pathLst>
              <a:path w="1062355" h="304800">
                <a:moveTo>
                  <a:pt x="0" y="304800"/>
                </a:moveTo>
                <a:lnTo>
                  <a:pt x="1062228" y="304800"/>
                </a:lnTo>
                <a:lnTo>
                  <a:pt x="1062228" y="0"/>
                </a:lnTo>
                <a:lnTo>
                  <a:pt x="0" y="0"/>
                </a:lnTo>
                <a:lnTo>
                  <a:pt x="0" y="30480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7" name="object 27"/>
          <p:cNvSpPr/>
          <p:nvPr/>
        </p:nvSpPr>
        <p:spPr>
          <a:xfrm>
            <a:off x="3427904" y="4284579"/>
            <a:ext cx="186176" cy="181608"/>
          </a:xfrm>
          <a:prstGeom prst="rect">
            <a:avLst/>
          </a:prstGeom>
          <a:blipFill>
            <a:blip r:embed="rId4"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p:nvPr/>
        </p:nvSpPr>
        <p:spPr>
          <a:xfrm>
            <a:off x="3427904" y="3801813"/>
            <a:ext cx="186176" cy="180084"/>
          </a:xfrm>
          <a:prstGeom prst="rect">
            <a:avLst/>
          </a:prstGeom>
          <a:blipFill>
            <a:blip r:embed="rId5"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29" name="object 29"/>
          <p:cNvSpPr/>
          <p:nvPr/>
        </p:nvSpPr>
        <p:spPr>
          <a:xfrm>
            <a:off x="3427904" y="2697695"/>
            <a:ext cx="186176" cy="178561"/>
          </a:xfrm>
          <a:prstGeom prst="rect">
            <a:avLst/>
          </a:prstGeom>
          <a:blipFill>
            <a:blip r:embed="rId6"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0" name="object 30"/>
          <p:cNvSpPr/>
          <p:nvPr/>
        </p:nvSpPr>
        <p:spPr>
          <a:xfrm>
            <a:off x="3427904" y="2198177"/>
            <a:ext cx="186176" cy="180084"/>
          </a:xfrm>
          <a:prstGeom prst="rect">
            <a:avLst/>
          </a:prstGeom>
          <a:blipFill>
            <a:blip r:embed="rId7"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1" name="object 31"/>
          <p:cNvSpPr/>
          <p:nvPr/>
        </p:nvSpPr>
        <p:spPr>
          <a:xfrm>
            <a:off x="3427904" y="4736886"/>
            <a:ext cx="186176" cy="178561"/>
          </a:xfrm>
          <a:prstGeom prst="rect">
            <a:avLst/>
          </a:prstGeom>
          <a:blipFill>
            <a:blip r:embed="rId8"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2" name="object 32"/>
          <p:cNvSpPr/>
          <p:nvPr/>
        </p:nvSpPr>
        <p:spPr>
          <a:xfrm>
            <a:off x="3427904" y="5352146"/>
            <a:ext cx="186176" cy="180084"/>
          </a:xfrm>
          <a:prstGeom prst="rect">
            <a:avLst/>
          </a:prstGeom>
          <a:blipFill>
            <a:blip r:embed="rId9"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3" name="object 33"/>
          <p:cNvSpPr/>
          <p:nvPr/>
        </p:nvSpPr>
        <p:spPr>
          <a:xfrm>
            <a:off x="3427904" y="3153049"/>
            <a:ext cx="186176" cy="178561"/>
          </a:xfrm>
          <a:prstGeom prst="rect">
            <a:avLst/>
          </a:prstGeom>
          <a:blipFill>
            <a:blip r:embed="rId10"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4" name="object 34"/>
          <p:cNvSpPr/>
          <p:nvPr/>
        </p:nvSpPr>
        <p:spPr>
          <a:xfrm>
            <a:off x="3417243" y="1700182"/>
            <a:ext cx="186177" cy="180084"/>
          </a:xfrm>
          <a:prstGeom prst="rect">
            <a:avLst/>
          </a:prstGeom>
          <a:blipFill>
            <a:blip r:embed="rId1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5" name="object 35"/>
          <p:cNvSpPr/>
          <p:nvPr/>
        </p:nvSpPr>
        <p:spPr>
          <a:xfrm>
            <a:off x="5904173" y="1700182"/>
            <a:ext cx="187699" cy="180084"/>
          </a:xfrm>
          <a:prstGeom prst="rect">
            <a:avLst/>
          </a:prstGeom>
          <a:blipFill>
            <a:blip r:embed="rId12"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6" name="object 36"/>
          <p:cNvSpPr/>
          <p:nvPr/>
        </p:nvSpPr>
        <p:spPr>
          <a:xfrm>
            <a:off x="5904173" y="4284579"/>
            <a:ext cx="184653" cy="180084"/>
          </a:xfrm>
          <a:prstGeom prst="rect">
            <a:avLst/>
          </a:prstGeom>
          <a:blipFill>
            <a:blip r:embed="rId13"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7" name="object 37"/>
          <p:cNvSpPr/>
          <p:nvPr/>
        </p:nvSpPr>
        <p:spPr>
          <a:xfrm>
            <a:off x="5904173" y="3801813"/>
            <a:ext cx="184653" cy="180084"/>
          </a:xfrm>
          <a:prstGeom prst="rect">
            <a:avLst/>
          </a:prstGeom>
          <a:blipFill>
            <a:blip r:embed="rId14"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8" name="object 38"/>
          <p:cNvSpPr/>
          <p:nvPr/>
        </p:nvSpPr>
        <p:spPr>
          <a:xfrm>
            <a:off x="5904173" y="2697695"/>
            <a:ext cx="184653" cy="178561"/>
          </a:xfrm>
          <a:prstGeom prst="rect">
            <a:avLst/>
          </a:prstGeom>
          <a:blipFill>
            <a:blip r:embed="rId15"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39" name="object 39"/>
          <p:cNvSpPr/>
          <p:nvPr/>
        </p:nvSpPr>
        <p:spPr>
          <a:xfrm>
            <a:off x="5904173" y="2198177"/>
            <a:ext cx="184653" cy="180084"/>
          </a:xfrm>
          <a:prstGeom prst="rect">
            <a:avLst/>
          </a:prstGeom>
          <a:blipFill>
            <a:blip r:embed="rId16"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0" name="object 40"/>
          <p:cNvSpPr/>
          <p:nvPr/>
        </p:nvSpPr>
        <p:spPr>
          <a:xfrm>
            <a:off x="5904173" y="4736886"/>
            <a:ext cx="184653" cy="178561"/>
          </a:xfrm>
          <a:prstGeom prst="rect">
            <a:avLst/>
          </a:prstGeom>
          <a:blipFill>
            <a:blip r:embed="rId17"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1" name="object 41"/>
          <p:cNvSpPr/>
          <p:nvPr/>
        </p:nvSpPr>
        <p:spPr>
          <a:xfrm>
            <a:off x="5904173" y="5352146"/>
            <a:ext cx="184653" cy="180084"/>
          </a:xfrm>
          <a:prstGeom prst="rect">
            <a:avLst/>
          </a:prstGeom>
          <a:blipFill>
            <a:blip r:embed="rId18"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2" name="object 42"/>
          <p:cNvSpPr/>
          <p:nvPr/>
        </p:nvSpPr>
        <p:spPr>
          <a:xfrm>
            <a:off x="5904173" y="3153049"/>
            <a:ext cx="184653" cy="178561"/>
          </a:xfrm>
          <a:prstGeom prst="rect">
            <a:avLst/>
          </a:prstGeom>
          <a:blipFill>
            <a:blip r:embed="rId15"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3" name="object 43"/>
          <p:cNvSpPr/>
          <p:nvPr/>
        </p:nvSpPr>
        <p:spPr>
          <a:xfrm>
            <a:off x="8284498" y="1700182"/>
            <a:ext cx="183131" cy="180084"/>
          </a:xfrm>
          <a:prstGeom prst="rect">
            <a:avLst/>
          </a:prstGeom>
          <a:blipFill>
            <a:blip r:embed="rId19"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4" name="object 44"/>
          <p:cNvSpPr/>
          <p:nvPr/>
        </p:nvSpPr>
        <p:spPr>
          <a:xfrm>
            <a:off x="8284498" y="4284579"/>
            <a:ext cx="183131" cy="180084"/>
          </a:xfrm>
          <a:prstGeom prst="rect">
            <a:avLst/>
          </a:prstGeom>
          <a:blipFill>
            <a:blip r:embed="rId19"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5" name="object 45"/>
          <p:cNvSpPr/>
          <p:nvPr/>
        </p:nvSpPr>
        <p:spPr>
          <a:xfrm>
            <a:off x="8284498" y="3801813"/>
            <a:ext cx="183131" cy="180084"/>
          </a:xfrm>
          <a:prstGeom prst="rect">
            <a:avLst/>
          </a:prstGeom>
          <a:blipFill>
            <a:blip r:embed="rId19"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6" name="object 46"/>
          <p:cNvSpPr/>
          <p:nvPr/>
        </p:nvSpPr>
        <p:spPr>
          <a:xfrm>
            <a:off x="8284498" y="2697695"/>
            <a:ext cx="183131" cy="178561"/>
          </a:xfrm>
          <a:prstGeom prst="rect">
            <a:avLst/>
          </a:prstGeom>
          <a:blipFill>
            <a:blip r:embed="rId20"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7" name="object 47"/>
          <p:cNvSpPr/>
          <p:nvPr/>
        </p:nvSpPr>
        <p:spPr>
          <a:xfrm>
            <a:off x="8284498" y="2198177"/>
            <a:ext cx="183131" cy="180084"/>
          </a:xfrm>
          <a:prstGeom prst="rect">
            <a:avLst/>
          </a:prstGeom>
          <a:blipFill>
            <a:blip r:embed="rId2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8" name="object 48"/>
          <p:cNvSpPr/>
          <p:nvPr/>
        </p:nvSpPr>
        <p:spPr>
          <a:xfrm>
            <a:off x="8284498" y="4736886"/>
            <a:ext cx="183131" cy="180084"/>
          </a:xfrm>
          <a:prstGeom prst="rect">
            <a:avLst/>
          </a:prstGeom>
          <a:blipFill>
            <a:blip r:embed="rId22"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9" name="object 49"/>
          <p:cNvSpPr/>
          <p:nvPr/>
        </p:nvSpPr>
        <p:spPr>
          <a:xfrm>
            <a:off x="8284498" y="5352146"/>
            <a:ext cx="183131" cy="180084"/>
          </a:xfrm>
          <a:prstGeom prst="rect">
            <a:avLst/>
          </a:prstGeom>
          <a:blipFill>
            <a:blip r:embed="rId23"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50" name="object 50"/>
          <p:cNvSpPr/>
          <p:nvPr/>
        </p:nvSpPr>
        <p:spPr>
          <a:xfrm>
            <a:off x="8284498" y="3153049"/>
            <a:ext cx="183131" cy="178561"/>
          </a:xfrm>
          <a:prstGeom prst="rect">
            <a:avLst/>
          </a:prstGeom>
          <a:blipFill>
            <a:blip r:embed="rId20"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51" name="object 51"/>
          <p:cNvSpPr/>
          <p:nvPr/>
        </p:nvSpPr>
        <p:spPr>
          <a:xfrm>
            <a:off x="1589168" y="1632603"/>
            <a:ext cx="1977259" cy="0"/>
          </a:xfrm>
          <a:custGeom>
            <a:avLst/>
            <a:gdLst/>
            <a:ahLst/>
            <a:cxnLst/>
            <a:rect l="l" t="t" r="r" b="b"/>
            <a:pathLst>
              <a:path w="1978660">
                <a:moveTo>
                  <a:pt x="0" y="0"/>
                </a:moveTo>
                <a:lnTo>
                  <a:pt x="1978152" y="0"/>
                </a:lnTo>
              </a:path>
            </a:pathLst>
          </a:custGeom>
          <a:ln w="19050">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2" name="object 52"/>
          <p:cNvSpPr/>
          <p:nvPr/>
        </p:nvSpPr>
        <p:spPr>
          <a:xfrm>
            <a:off x="3926851" y="1632603"/>
            <a:ext cx="2116860" cy="0"/>
          </a:xfrm>
          <a:custGeom>
            <a:avLst/>
            <a:gdLst/>
            <a:ahLst/>
            <a:cxnLst/>
            <a:rect l="l" t="t" r="r" b="b"/>
            <a:pathLst>
              <a:path w="2118360">
                <a:moveTo>
                  <a:pt x="0" y="0"/>
                </a:moveTo>
                <a:lnTo>
                  <a:pt x="2118360" y="0"/>
                </a:lnTo>
              </a:path>
            </a:pathLst>
          </a:custGeom>
          <a:ln w="19050">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3" name="object 53"/>
          <p:cNvSpPr/>
          <p:nvPr/>
        </p:nvSpPr>
        <p:spPr>
          <a:xfrm>
            <a:off x="6406165" y="1632603"/>
            <a:ext cx="2120032" cy="1904"/>
          </a:xfrm>
          <a:custGeom>
            <a:avLst/>
            <a:gdLst/>
            <a:ahLst/>
            <a:cxnLst/>
            <a:rect l="l" t="t" r="r" b="b"/>
            <a:pathLst>
              <a:path w="2121534" h="1905">
                <a:moveTo>
                  <a:pt x="0" y="0"/>
                </a:moveTo>
                <a:lnTo>
                  <a:pt x="2121408" y="1524"/>
                </a:lnTo>
              </a:path>
            </a:pathLst>
          </a:custGeom>
          <a:ln w="19050">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graphicFrame>
        <p:nvGraphicFramePr>
          <p:cNvPr id="54" name="object 54"/>
          <p:cNvGraphicFramePr>
            <a:graphicFrameLocks noGrp="1"/>
          </p:cNvGraphicFramePr>
          <p:nvPr/>
        </p:nvGraphicFramePr>
        <p:xfrm>
          <a:off x="285166" y="888466"/>
          <a:ext cx="8465185" cy="4972050"/>
        </p:xfrm>
        <a:graphic>
          <a:graphicData uri="http://schemas.openxmlformats.org/drawingml/2006/table">
            <a:tbl>
              <a:tblPr firstRow="1" bandRow="1">
                <a:tableStyleId>{2D5ABB26-0587-4C30-8999-92F81FD0307C}</a:tableStyleId>
              </a:tblPr>
              <a:tblGrid>
                <a:gridCol w="1202690"/>
                <a:gridCol w="2063750"/>
                <a:gridCol w="2559685"/>
                <a:gridCol w="2639060"/>
              </a:tblGrid>
              <a:tr h="405765">
                <a:tc gridSpan="4">
                  <a:txBody>
                    <a:bodyPr/>
                    <a:lstStyle/>
                    <a:p>
                      <a:pPr marL="60960">
                        <a:lnSpc>
                          <a:spcPct val="100000"/>
                        </a:lnSpc>
                        <a:spcBef>
                          <a:spcPts val="800"/>
                        </a:spcBef>
                      </a:pPr>
                      <a:r>
                        <a:rPr sz="1200" b="1" spc="5" dirty="0">
                          <a:latin typeface="微软雅黑" panose="020B0503020204020204" charset="-122"/>
                          <a:ea typeface="微软雅黑" panose="020B0503020204020204" charset="-122"/>
                          <a:cs typeface="微软雅黑" panose="020B0503020204020204" charset="-122"/>
                        </a:rPr>
                        <a:t>汽车客</a:t>
                      </a:r>
                      <a:r>
                        <a:rPr sz="1200" b="1" spc="-5" dirty="0">
                          <a:latin typeface="微软雅黑" panose="020B0503020204020204" charset="-122"/>
                          <a:ea typeface="微软雅黑" panose="020B0503020204020204" charset="-122"/>
                          <a:cs typeface="微软雅黑" panose="020B0503020204020204" charset="-122"/>
                        </a:rPr>
                        <a:t>户案例：客户价值分析表格</a:t>
                      </a:r>
                      <a:endParaRPr sz="1200">
                        <a:latin typeface="微软雅黑" panose="020B0503020204020204" charset="-122"/>
                        <a:ea typeface="微软雅黑" panose="020B0503020204020204" charset="-122"/>
                        <a:cs typeface="微软雅黑" panose="020B0503020204020204" charset="-122"/>
                      </a:endParaRPr>
                    </a:p>
                  </a:txBody>
                  <a:tcPr marL="0" marR="0" marT="101528" marB="0">
                    <a:solidFill>
                      <a:srgbClr val="C6DFFA"/>
                    </a:solidFill>
                  </a:tcPr>
                </a:tc>
                <a:tc hMerge="1">
                  <a:tcPr marL="0" marR="0" marT="0" marB="0"/>
                </a:tc>
                <a:tc hMerge="1">
                  <a:tcPr marL="0" marR="0" marT="0" marB="0"/>
                </a:tc>
                <a:tc hMerge="1">
                  <a:tcPr marL="0" marR="0" marT="0" marB="0"/>
                </a:tc>
              </a:tr>
              <a:tr h="4566285">
                <a:tc>
                  <a:txBody>
                    <a:bodyPr/>
                    <a:lstStyle/>
                    <a:p>
                      <a:pPr marL="141605">
                        <a:lnSpc>
                          <a:spcPct val="100000"/>
                        </a:lnSpc>
                        <a:spcBef>
                          <a:spcPts val="865"/>
                        </a:spcBef>
                      </a:pPr>
                      <a:r>
                        <a:rPr sz="1200" b="1" spc="10" dirty="0">
                          <a:solidFill>
                            <a:srgbClr val="00295F"/>
                          </a:solidFill>
                          <a:latin typeface="微软雅黑" panose="020B0503020204020204" charset="-122"/>
                          <a:ea typeface="微软雅黑" panose="020B0503020204020204" charset="-122"/>
                          <a:cs typeface="微软雅黑" panose="020B0503020204020204" charset="-122"/>
                        </a:rPr>
                        <a:t>合同条款</a:t>
                      </a:r>
                      <a:endParaRPr sz="1200">
                        <a:latin typeface="微软雅黑" panose="020B0503020204020204" charset="-122"/>
                        <a:ea typeface="微软雅黑" panose="020B0503020204020204" charset="-122"/>
                        <a:cs typeface="微软雅黑" panose="020B0503020204020204" charset="-122"/>
                      </a:endParaRPr>
                    </a:p>
                    <a:p>
                      <a:pPr marL="186055">
                        <a:lnSpc>
                          <a:spcPct val="100000"/>
                        </a:lnSpc>
                        <a:spcBef>
                          <a:spcPts val="1310"/>
                        </a:spcBef>
                      </a:pPr>
                      <a:r>
                        <a:rPr sz="1200" b="1" spc="10" dirty="0">
                          <a:solidFill>
                            <a:srgbClr val="00295F"/>
                          </a:solidFill>
                          <a:latin typeface="微软雅黑" panose="020B0503020204020204" charset="-122"/>
                          <a:ea typeface="微软雅黑" panose="020B0503020204020204" charset="-122"/>
                          <a:cs typeface="微软雅黑" panose="020B0503020204020204" charset="-122"/>
                        </a:rPr>
                        <a:t>付款条款</a:t>
                      </a:r>
                      <a:endParaRPr sz="1200">
                        <a:latin typeface="微软雅黑" panose="020B0503020204020204" charset="-122"/>
                        <a:ea typeface="微软雅黑" panose="020B0503020204020204" charset="-122"/>
                        <a:cs typeface="微软雅黑" panose="020B0503020204020204" charset="-122"/>
                      </a:endParaRPr>
                    </a:p>
                    <a:p>
                      <a:pPr>
                        <a:lnSpc>
                          <a:spcPct val="100000"/>
                        </a:lnSpc>
                        <a:spcBef>
                          <a:spcPts val="15"/>
                        </a:spcBef>
                      </a:pPr>
                      <a:endParaRPr sz="2150">
                        <a:latin typeface="微软雅黑" panose="020B0503020204020204" charset="-122"/>
                        <a:ea typeface="微软雅黑" panose="020B0503020204020204" charset="-122"/>
                        <a:cs typeface="微软雅黑" panose="020B0503020204020204" charset="-122"/>
                      </a:endParaRPr>
                    </a:p>
                    <a:p>
                      <a:pPr marL="186055">
                        <a:lnSpc>
                          <a:spcPct val="100000"/>
                        </a:lnSpc>
                      </a:pPr>
                      <a:r>
                        <a:rPr sz="1200" b="1" spc="10" dirty="0">
                          <a:solidFill>
                            <a:srgbClr val="00295F"/>
                          </a:solidFill>
                          <a:latin typeface="微软雅黑" panose="020B0503020204020204" charset="-122"/>
                          <a:ea typeface="微软雅黑" panose="020B0503020204020204" charset="-122"/>
                          <a:cs typeface="微软雅黑" panose="020B0503020204020204" charset="-122"/>
                        </a:rPr>
                        <a:t>保证条款</a:t>
                      </a:r>
                      <a:endParaRPr sz="1200">
                        <a:latin typeface="微软雅黑" panose="020B0503020204020204" charset="-122"/>
                        <a:ea typeface="微软雅黑" panose="020B0503020204020204" charset="-122"/>
                        <a:cs typeface="微软雅黑" panose="020B0503020204020204" charset="-122"/>
                      </a:endParaRPr>
                    </a:p>
                    <a:p>
                      <a:pPr marL="186055" marR="388620">
                        <a:lnSpc>
                          <a:spcPct val="249000"/>
                        </a:lnSpc>
                        <a:spcBef>
                          <a:spcPts val="345"/>
                        </a:spcBef>
                      </a:pPr>
                      <a:r>
                        <a:rPr sz="1200" b="1" spc="10" dirty="0">
                          <a:solidFill>
                            <a:srgbClr val="00295F"/>
                          </a:solidFill>
                          <a:latin typeface="微软雅黑" panose="020B0503020204020204" charset="-122"/>
                          <a:ea typeface="微软雅黑" panose="020B0503020204020204" charset="-122"/>
                          <a:cs typeface="微软雅黑" panose="020B0503020204020204" charset="-122"/>
                        </a:rPr>
                        <a:t>一般责任 知识产权</a:t>
                      </a:r>
                      <a:endParaRPr sz="1200">
                        <a:latin typeface="微软雅黑" panose="020B0503020204020204" charset="-122"/>
                        <a:ea typeface="微软雅黑" panose="020B0503020204020204" charset="-122"/>
                        <a:cs typeface="微软雅黑" panose="020B0503020204020204" charset="-122"/>
                      </a:endParaRPr>
                    </a:p>
                    <a:p>
                      <a:pPr>
                        <a:lnSpc>
                          <a:spcPct val="100000"/>
                        </a:lnSpc>
                      </a:pPr>
                      <a:endParaRPr sz="1500">
                        <a:latin typeface="微软雅黑" panose="020B0503020204020204" charset="-122"/>
                        <a:ea typeface="微软雅黑" panose="020B0503020204020204" charset="-122"/>
                        <a:cs typeface="微软雅黑" panose="020B0503020204020204" charset="-122"/>
                      </a:endParaRPr>
                    </a:p>
                    <a:p>
                      <a:pPr>
                        <a:lnSpc>
                          <a:spcPct val="100000"/>
                        </a:lnSpc>
                        <a:spcBef>
                          <a:spcPts val="55"/>
                        </a:spcBef>
                      </a:pPr>
                      <a:endParaRPr sz="1650">
                        <a:latin typeface="微软雅黑" panose="020B0503020204020204" charset="-122"/>
                        <a:ea typeface="微软雅黑" panose="020B0503020204020204" charset="-122"/>
                        <a:cs typeface="微软雅黑" panose="020B0503020204020204" charset="-122"/>
                      </a:endParaRPr>
                    </a:p>
                    <a:p>
                      <a:pPr marL="186055">
                        <a:lnSpc>
                          <a:spcPct val="100000"/>
                        </a:lnSpc>
                      </a:pPr>
                      <a:r>
                        <a:rPr sz="1200" b="1" spc="5" dirty="0">
                          <a:solidFill>
                            <a:srgbClr val="00295F"/>
                          </a:solidFill>
                          <a:latin typeface="微软雅黑" panose="020B0503020204020204" charset="-122"/>
                          <a:ea typeface="微软雅黑" panose="020B0503020204020204" charset="-122"/>
                          <a:cs typeface="微软雅黑" panose="020B0503020204020204" charset="-122"/>
                        </a:rPr>
                        <a:t>产量短</a:t>
                      </a:r>
                      <a:r>
                        <a:rPr sz="1200" b="1" dirty="0">
                          <a:solidFill>
                            <a:srgbClr val="00295F"/>
                          </a:solidFill>
                          <a:latin typeface="微软雅黑" panose="020B0503020204020204" charset="-122"/>
                          <a:ea typeface="微软雅黑" panose="020B0503020204020204" charset="-122"/>
                          <a:cs typeface="微软雅黑" panose="020B0503020204020204" charset="-122"/>
                        </a:rPr>
                        <a:t>缺</a:t>
                      </a:r>
                      <a:r>
                        <a:rPr sz="1200" b="1" spc="-5" dirty="0">
                          <a:solidFill>
                            <a:srgbClr val="00295F"/>
                          </a:solidFill>
                          <a:latin typeface="微软雅黑" panose="020B0503020204020204" charset="-122"/>
                          <a:ea typeface="微软雅黑" panose="020B0503020204020204" charset="-122"/>
                          <a:cs typeface="微软雅黑" panose="020B0503020204020204" charset="-122"/>
                        </a:rPr>
                        <a:t>条</a:t>
                      </a:r>
                      <a:r>
                        <a:rPr sz="1200" b="1" dirty="0">
                          <a:solidFill>
                            <a:srgbClr val="00295F"/>
                          </a:solidFill>
                          <a:latin typeface="微软雅黑" panose="020B0503020204020204" charset="-122"/>
                          <a:ea typeface="微软雅黑" panose="020B0503020204020204" charset="-122"/>
                          <a:cs typeface="微软雅黑" panose="020B0503020204020204" charset="-122"/>
                        </a:rPr>
                        <a:t>款</a:t>
                      </a:r>
                      <a:endParaRPr sz="1200">
                        <a:latin typeface="微软雅黑" panose="020B0503020204020204" charset="-122"/>
                        <a:ea typeface="微软雅黑" panose="020B0503020204020204" charset="-122"/>
                        <a:cs typeface="微软雅黑" panose="020B0503020204020204" charset="-122"/>
                      </a:endParaRPr>
                    </a:p>
                    <a:p>
                      <a:pPr marL="186055" marR="389890">
                        <a:lnSpc>
                          <a:spcPct val="235000"/>
                        </a:lnSpc>
                        <a:spcBef>
                          <a:spcPts val="360"/>
                        </a:spcBef>
                      </a:pPr>
                      <a:r>
                        <a:rPr sz="1200" b="1" spc="10" dirty="0">
                          <a:solidFill>
                            <a:srgbClr val="00295F"/>
                          </a:solidFill>
                          <a:latin typeface="微软雅黑" panose="020B0503020204020204" charset="-122"/>
                          <a:ea typeface="微软雅黑" panose="020B0503020204020204" charset="-122"/>
                          <a:cs typeface="微软雅黑" panose="020B0503020204020204" charset="-122"/>
                        </a:rPr>
                        <a:t>备品配件 </a:t>
                      </a:r>
                      <a:r>
                        <a:rPr sz="1200" b="1" spc="5" dirty="0">
                          <a:solidFill>
                            <a:srgbClr val="00295F"/>
                          </a:solidFill>
                          <a:latin typeface="微软雅黑" panose="020B0503020204020204" charset="-122"/>
                          <a:ea typeface="微软雅黑" panose="020B0503020204020204" charset="-122"/>
                          <a:cs typeface="微软雅黑" panose="020B0503020204020204" charset="-122"/>
                        </a:rPr>
                        <a:t>磨具</a:t>
                      </a:r>
                      <a:endParaRPr sz="1200">
                        <a:latin typeface="微软雅黑" panose="020B0503020204020204" charset="-122"/>
                        <a:ea typeface="微软雅黑" panose="020B0503020204020204" charset="-122"/>
                        <a:cs typeface="微软雅黑" panose="020B0503020204020204" charset="-122"/>
                      </a:endParaRPr>
                    </a:p>
                    <a:p>
                      <a:pPr>
                        <a:lnSpc>
                          <a:spcPct val="100000"/>
                        </a:lnSpc>
                      </a:pPr>
                      <a:endParaRPr sz="1500">
                        <a:latin typeface="微软雅黑" panose="020B0503020204020204" charset="-122"/>
                        <a:ea typeface="微软雅黑" panose="020B0503020204020204" charset="-122"/>
                        <a:cs typeface="微软雅黑" panose="020B0503020204020204" charset="-122"/>
                      </a:endParaRPr>
                    </a:p>
                    <a:p>
                      <a:pPr>
                        <a:lnSpc>
                          <a:spcPct val="100000"/>
                        </a:lnSpc>
                        <a:spcBef>
                          <a:spcPts val="25"/>
                        </a:spcBef>
                      </a:pPr>
                      <a:endParaRPr sz="1650">
                        <a:latin typeface="微软雅黑" panose="020B0503020204020204" charset="-122"/>
                        <a:ea typeface="微软雅黑" panose="020B0503020204020204" charset="-122"/>
                        <a:cs typeface="微软雅黑" panose="020B0503020204020204" charset="-122"/>
                      </a:endParaRPr>
                    </a:p>
                    <a:p>
                      <a:pPr marL="186055">
                        <a:lnSpc>
                          <a:spcPct val="100000"/>
                        </a:lnSpc>
                      </a:pPr>
                      <a:r>
                        <a:rPr sz="1200" b="1" spc="5" dirty="0">
                          <a:solidFill>
                            <a:srgbClr val="00295F"/>
                          </a:solidFill>
                          <a:latin typeface="微软雅黑" panose="020B0503020204020204" charset="-122"/>
                          <a:ea typeface="微软雅黑" panose="020B0503020204020204" charset="-122"/>
                          <a:cs typeface="微软雅黑" panose="020B0503020204020204" charset="-122"/>
                        </a:rPr>
                        <a:t>取消或</a:t>
                      </a:r>
                      <a:r>
                        <a:rPr sz="1200" b="1" spc="-5" dirty="0">
                          <a:solidFill>
                            <a:srgbClr val="00295F"/>
                          </a:solidFill>
                          <a:latin typeface="微软雅黑" panose="020B0503020204020204" charset="-122"/>
                          <a:ea typeface="微软雅黑" panose="020B0503020204020204" charset="-122"/>
                          <a:cs typeface="微软雅黑" panose="020B0503020204020204" charset="-122"/>
                        </a:rPr>
                        <a:t>中止</a:t>
                      </a:r>
                      <a:endParaRPr sz="1200">
                        <a:latin typeface="微软雅黑" panose="020B0503020204020204" charset="-122"/>
                        <a:ea typeface="微软雅黑" panose="020B0503020204020204" charset="-122"/>
                        <a:cs typeface="微软雅黑" panose="020B0503020204020204" charset="-122"/>
                      </a:endParaRPr>
                    </a:p>
                  </a:txBody>
                  <a:tcPr marL="0" marR="0" marT="109777" marB="0">
                    <a:lnL w="19050">
                      <a:solidFill>
                        <a:srgbClr val="C6DFFA"/>
                      </a:solidFill>
                      <a:prstDash val="solid"/>
                    </a:lnL>
                    <a:lnB w="19050">
                      <a:solidFill>
                        <a:srgbClr val="C6DFFA"/>
                      </a:solidFill>
                      <a:prstDash val="solid"/>
                    </a:lnB>
                  </a:tcPr>
                </a:tc>
                <a:tc>
                  <a:txBody>
                    <a:bodyPr/>
                    <a:lstStyle/>
                    <a:p>
                      <a:pPr marL="93980">
                        <a:lnSpc>
                          <a:spcPct val="100000"/>
                        </a:lnSpc>
                        <a:spcBef>
                          <a:spcPts val="865"/>
                        </a:spcBef>
                      </a:pPr>
                      <a:r>
                        <a:rPr sz="1200" b="1" spc="5" dirty="0">
                          <a:solidFill>
                            <a:srgbClr val="00295F"/>
                          </a:solidFill>
                          <a:latin typeface="微软雅黑" panose="020B0503020204020204" charset="-122"/>
                          <a:ea typeface="微软雅黑" panose="020B0503020204020204" charset="-122"/>
                          <a:cs typeface="微软雅黑" panose="020B0503020204020204" charset="-122"/>
                        </a:rPr>
                        <a:t>客户</a:t>
                      </a:r>
                      <a:r>
                        <a:rPr sz="1200" b="1" spc="-5" dirty="0">
                          <a:solidFill>
                            <a:srgbClr val="00295F"/>
                          </a:solidFill>
                          <a:latin typeface="微软雅黑" panose="020B0503020204020204" charset="-122"/>
                          <a:ea typeface="微软雅黑" panose="020B0503020204020204" charset="-122"/>
                          <a:cs typeface="微软雅黑" panose="020B0503020204020204" charset="-122"/>
                        </a:rPr>
                        <a:t>1</a:t>
                      </a:r>
                      <a:endParaRPr sz="1200">
                        <a:latin typeface="微软雅黑" panose="020B0503020204020204" charset="-122"/>
                        <a:ea typeface="微软雅黑" panose="020B0503020204020204" charset="-122"/>
                        <a:cs typeface="微软雅黑" panose="020B0503020204020204" charset="-122"/>
                      </a:endParaRPr>
                    </a:p>
                    <a:p>
                      <a:pPr marL="288290" indent="-193040">
                        <a:lnSpc>
                          <a:spcPct val="100000"/>
                        </a:lnSpc>
                        <a:spcBef>
                          <a:spcPts val="835"/>
                        </a:spcBef>
                        <a:buClr>
                          <a:srgbClr val="00295F"/>
                        </a:buClr>
                        <a:buSzPct val="125000"/>
                        <a:buChar char="▪"/>
                        <a:tabLst>
                          <a:tab pos="288925" algn="l"/>
                        </a:tabLst>
                      </a:pPr>
                      <a:r>
                        <a:rPr sz="1200" spc="-5" dirty="0">
                          <a:latin typeface="微软雅黑" panose="020B0503020204020204" charset="-122"/>
                          <a:ea typeface="微软雅黑" panose="020B0503020204020204" charset="-122"/>
                          <a:cs typeface="微软雅黑" panose="020B0503020204020204" charset="-122"/>
                        </a:rPr>
                        <a:t>90</a:t>
                      </a:r>
                      <a:r>
                        <a:rPr sz="1200" dirty="0">
                          <a:latin typeface="微软雅黑" panose="020B0503020204020204" charset="-122"/>
                          <a:ea typeface="微软雅黑" panose="020B0503020204020204" charset="-122"/>
                          <a:cs typeface="微软雅黑" panose="020B0503020204020204" charset="-122"/>
                        </a:rPr>
                        <a:t>天月结</a:t>
                      </a:r>
                      <a:endParaRPr sz="1200">
                        <a:latin typeface="微软雅黑" panose="020B0503020204020204" charset="-122"/>
                        <a:ea typeface="微软雅黑" panose="020B0503020204020204" charset="-122"/>
                        <a:cs typeface="微软雅黑" panose="020B0503020204020204" charset="-122"/>
                      </a:endParaRPr>
                    </a:p>
                    <a:p>
                      <a:pPr>
                        <a:lnSpc>
                          <a:spcPct val="100000"/>
                        </a:lnSpc>
                        <a:spcBef>
                          <a:spcPts val="15"/>
                        </a:spcBef>
                        <a:buClr>
                          <a:srgbClr val="00295F"/>
                        </a:buClr>
                        <a:buFont typeface="Arial" panose="020B0604020202020204"/>
                        <a:buChar char="▪"/>
                      </a:pPr>
                      <a:endParaRPr sz="2150">
                        <a:latin typeface="微软雅黑" panose="020B0503020204020204" charset="-122"/>
                        <a:ea typeface="微软雅黑" panose="020B0503020204020204" charset="-122"/>
                        <a:cs typeface="微软雅黑" panose="020B0503020204020204" charset="-122"/>
                      </a:endParaRPr>
                    </a:p>
                    <a:p>
                      <a:pPr marL="288290" indent="-193040">
                        <a:lnSpc>
                          <a:spcPct val="100000"/>
                        </a:lnSpc>
                        <a:buClr>
                          <a:srgbClr val="00295F"/>
                        </a:buClr>
                        <a:buSzPct val="125000"/>
                        <a:buFont typeface="Arial" panose="020B0604020202020204"/>
                        <a:buChar char="▪"/>
                        <a:tabLst>
                          <a:tab pos="288925" algn="l"/>
                        </a:tabLst>
                      </a:pPr>
                      <a:r>
                        <a:rPr sz="1200" dirty="0">
                          <a:latin typeface="微软雅黑" panose="020B0503020204020204" charset="-122"/>
                          <a:ea typeface="微软雅黑" panose="020B0503020204020204" charset="-122"/>
                          <a:cs typeface="微软雅黑" panose="020B0503020204020204" charset="-122"/>
                        </a:rPr>
                        <a:t>无限制财务风险</a:t>
                      </a:r>
                      <a:endParaRPr sz="1200">
                        <a:latin typeface="微软雅黑" panose="020B0503020204020204" charset="-122"/>
                        <a:ea typeface="微软雅黑" panose="020B0503020204020204" charset="-122"/>
                        <a:cs typeface="微软雅黑" panose="020B0503020204020204" charset="-122"/>
                      </a:endParaRPr>
                    </a:p>
                    <a:p>
                      <a:pPr>
                        <a:lnSpc>
                          <a:spcPct val="100000"/>
                        </a:lnSpc>
                        <a:spcBef>
                          <a:spcPts val="25"/>
                        </a:spcBef>
                        <a:buClr>
                          <a:srgbClr val="00295F"/>
                        </a:buClr>
                        <a:buFont typeface="Arial" panose="020B0604020202020204"/>
                        <a:buChar char="▪"/>
                      </a:pPr>
                      <a:endParaRPr sz="2150">
                        <a:latin typeface="微软雅黑" panose="020B0503020204020204" charset="-122"/>
                        <a:ea typeface="微软雅黑" panose="020B0503020204020204" charset="-122"/>
                        <a:cs typeface="微软雅黑" panose="020B0503020204020204" charset="-122"/>
                      </a:endParaRPr>
                    </a:p>
                    <a:p>
                      <a:pPr marL="288290" indent="-193040">
                        <a:lnSpc>
                          <a:spcPct val="100000"/>
                        </a:lnSpc>
                        <a:buClr>
                          <a:srgbClr val="00295F"/>
                        </a:buClr>
                        <a:buSzPct val="125000"/>
                        <a:buFont typeface="Arial" panose="020B0604020202020204"/>
                        <a:buChar char="▪"/>
                        <a:tabLst>
                          <a:tab pos="288925" algn="l"/>
                        </a:tabLst>
                      </a:pPr>
                      <a:r>
                        <a:rPr sz="1200" dirty="0">
                          <a:latin typeface="微软雅黑" panose="020B0503020204020204" charset="-122"/>
                          <a:ea typeface="微软雅黑" panose="020B0503020204020204" charset="-122"/>
                          <a:cs typeface="微软雅黑" panose="020B0503020204020204" charset="-122"/>
                        </a:rPr>
                        <a:t>无限制财务风险</a:t>
                      </a:r>
                      <a:endParaRPr sz="1200">
                        <a:latin typeface="微软雅黑" panose="020B0503020204020204" charset="-122"/>
                        <a:ea typeface="微软雅黑" panose="020B0503020204020204" charset="-122"/>
                        <a:cs typeface="微软雅黑" panose="020B0503020204020204" charset="-122"/>
                      </a:endParaRPr>
                    </a:p>
                    <a:p>
                      <a:pPr>
                        <a:lnSpc>
                          <a:spcPct val="100000"/>
                        </a:lnSpc>
                        <a:buClr>
                          <a:srgbClr val="00295F"/>
                        </a:buClr>
                        <a:buFont typeface="Arial" panose="020B0604020202020204"/>
                        <a:buChar char="▪"/>
                      </a:pPr>
                      <a:endParaRPr sz="1850">
                        <a:latin typeface="微软雅黑" panose="020B0503020204020204" charset="-122"/>
                        <a:ea typeface="微软雅黑" panose="020B0503020204020204" charset="-122"/>
                        <a:cs typeface="微软雅黑" panose="020B0503020204020204" charset="-122"/>
                      </a:endParaRPr>
                    </a:p>
                    <a:p>
                      <a:pPr marL="288290" marR="237490" indent="-192405">
                        <a:lnSpc>
                          <a:spcPct val="101000"/>
                        </a:lnSpc>
                        <a:buClr>
                          <a:srgbClr val="00295F"/>
                        </a:buClr>
                        <a:buSzPct val="125000"/>
                        <a:buFont typeface="Arial" panose="020B0604020202020204"/>
                        <a:buChar char="▪"/>
                        <a:tabLst>
                          <a:tab pos="288925" algn="l"/>
                        </a:tabLst>
                      </a:pPr>
                      <a:r>
                        <a:rPr sz="1200" dirty="0">
                          <a:latin typeface="微软雅黑" panose="020B0503020204020204" charset="-122"/>
                          <a:ea typeface="微软雅黑" panose="020B0503020204020204" charset="-122"/>
                          <a:cs typeface="微软雅黑" panose="020B0503020204020204" charset="-122"/>
                        </a:rPr>
                        <a:t>如果购买条件不降，知 识产权自动转移给客户</a:t>
                      </a:r>
                      <a:endParaRPr sz="1200">
                        <a:latin typeface="微软雅黑" panose="020B0503020204020204" charset="-122"/>
                        <a:ea typeface="微软雅黑" panose="020B0503020204020204" charset="-122"/>
                        <a:cs typeface="微软雅黑" panose="020B0503020204020204" charset="-122"/>
                      </a:endParaRPr>
                    </a:p>
                    <a:p>
                      <a:pPr>
                        <a:lnSpc>
                          <a:spcPct val="100000"/>
                        </a:lnSpc>
                        <a:spcBef>
                          <a:spcPts val="25"/>
                        </a:spcBef>
                        <a:buClr>
                          <a:srgbClr val="00295F"/>
                        </a:buClr>
                        <a:buFont typeface="Arial" panose="020B0604020202020204"/>
                        <a:buChar char="▪"/>
                      </a:pPr>
                      <a:endParaRPr sz="1900">
                        <a:latin typeface="微软雅黑" panose="020B0503020204020204" charset="-122"/>
                        <a:ea typeface="微软雅黑" panose="020B0503020204020204" charset="-122"/>
                        <a:cs typeface="微软雅黑" panose="020B0503020204020204" charset="-122"/>
                      </a:endParaRPr>
                    </a:p>
                    <a:p>
                      <a:pPr marL="288290" marR="237490" indent="-192405">
                        <a:lnSpc>
                          <a:spcPct val="101000"/>
                        </a:lnSpc>
                        <a:buClr>
                          <a:srgbClr val="00295F"/>
                        </a:buClr>
                        <a:buSzPct val="125000"/>
                        <a:buFont typeface="Arial" panose="020B0604020202020204"/>
                        <a:buChar char="▪"/>
                        <a:tabLst>
                          <a:tab pos="288925" algn="l"/>
                        </a:tabLst>
                      </a:pPr>
                      <a:r>
                        <a:rPr sz="1200" dirty="0">
                          <a:latin typeface="微软雅黑" panose="020B0503020204020204" charset="-122"/>
                          <a:ea typeface="微软雅黑" panose="020B0503020204020204" charset="-122"/>
                          <a:cs typeface="微软雅黑" panose="020B0503020204020204" charset="-122"/>
                        </a:rPr>
                        <a:t>对产量降低的补偿可以 谈判</a:t>
                      </a:r>
                      <a:endParaRPr sz="1200">
                        <a:latin typeface="微软雅黑" panose="020B0503020204020204" charset="-122"/>
                        <a:ea typeface="微软雅黑" panose="020B0503020204020204" charset="-122"/>
                        <a:cs typeface="微软雅黑" panose="020B0503020204020204" charset="-122"/>
                      </a:endParaRPr>
                    </a:p>
                    <a:p>
                      <a:pPr marL="288290" indent="-193040">
                        <a:lnSpc>
                          <a:spcPct val="100000"/>
                        </a:lnSpc>
                        <a:spcBef>
                          <a:spcPts val="920"/>
                        </a:spcBef>
                        <a:buClr>
                          <a:srgbClr val="00295F"/>
                        </a:buClr>
                        <a:buSzPct val="125000"/>
                        <a:buFont typeface="Arial" panose="020B0604020202020204"/>
                        <a:buChar char="▪"/>
                        <a:tabLst>
                          <a:tab pos="288925" algn="l"/>
                        </a:tabLst>
                      </a:pPr>
                      <a:r>
                        <a:rPr sz="1200" spc="-5" dirty="0">
                          <a:latin typeface="微软雅黑" panose="020B0503020204020204" charset="-122"/>
                          <a:ea typeface="微软雅黑" panose="020B0503020204020204" charset="-122"/>
                          <a:cs typeface="微软雅黑" panose="020B0503020204020204" charset="-122"/>
                        </a:rPr>
                        <a:t>价格</a:t>
                      </a:r>
                      <a:r>
                        <a:rPr sz="1200" dirty="0">
                          <a:latin typeface="微软雅黑" panose="020B0503020204020204" charset="-122"/>
                          <a:ea typeface="微软雅黑" panose="020B0503020204020204" charset="-122"/>
                          <a:cs typeface="微软雅黑" panose="020B0503020204020204" charset="-122"/>
                        </a:rPr>
                        <a:t>/</a:t>
                      </a:r>
                      <a:r>
                        <a:rPr sz="1200" spc="-5" dirty="0">
                          <a:latin typeface="微软雅黑" panose="020B0503020204020204" charset="-122"/>
                          <a:ea typeface="微软雅黑" panose="020B0503020204020204" charset="-122"/>
                          <a:cs typeface="微软雅黑" panose="020B0503020204020204" charset="-122"/>
                        </a:rPr>
                        <a:t>成本提高可以协商</a:t>
                      </a:r>
                      <a:endParaRPr sz="1200">
                        <a:latin typeface="微软雅黑" panose="020B0503020204020204" charset="-122"/>
                        <a:ea typeface="微软雅黑" panose="020B0503020204020204" charset="-122"/>
                        <a:cs typeface="微软雅黑" panose="020B0503020204020204" charset="-122"/>
                      </a:endParaRPr>
                    </a:p>
                    <a:p>
                      <a:pPr>
                        <a:lnSpc>
                          <a:spcPct val="100000"/>
                        </a:lnSpc>
                        <a:spcBef>
                          <a:spcPts val="20"/>
                        </a:spcBef>
                        <a:buClr>
                          <a:srgbClr val="00295F"/>
                        </a:buClr>
                        <a:buFont typeface="Arial" panose="020B0604020202020204"/>
                        <a:buChar char="▪"/>
                      </a:pPr>
                      <a:endParaRPr sz="1600">
                        <a:latin typeface="微软雅黑" panose="020B0503020204020204" charset="-122"/>
                        <a:ea typeface="微软雅黑" panose="020B0503020204020204" charset="-122"/>
                        <a:cs typeface="微软雅黑" panose="020B0503020204020204" charset="-122"/>
                      </a:endParaRPr>
                    </a:p>
                    <a:p>
                      <a:pPr marL="288290" marR="237490" indent="-192405">
                        <a:lnSpc>
                          <a:spcPct val="101000"/>
                        </a:lnSpc>
                        <a:buClr>
                          <a:srgbClr val="00295F"/>
                        </a:buClr>
                        <a:buSzPct val="125000"/>
                        <a:buFont typeface="Arial" panose="020B0604020202020204"/>
                        <a:buChar char="▪"/>
                        <a:tabLst>
                          <a:tab pos="288925" algn="l"/>
                        </a:tabLst>
                      </a:pPr>
                      <a:r>
                        <a:rPr sz="1200" dirty="0">
                          <a:latin typeface="微软雅黑" panose="020B0503020204020204" charset="-122"/>
                          <a:ea typeface="微软雅黑" panose="020B0503020204020204" charset="-122"/>
                          <a:cs typeface="微软雅黑" panose="020B0503020204020204" charset="-122"/>
                        </a:rPr>
                        <a:t>对于特定磨具，现金付 款后用有权转移到客户</a:t>
                      </a:r>
                      <a:endParaRPr sz="1200">
                        <a:latin typeface="微软雅黑" panose="020B0503020204020204" charset="-122"/>
                        <a:ea typeface="微软雅黑" panose="020B0503020204020204" charset="-122"/>
                        <a:cs typeface="微软雅黑" panose="020B0503020204020204" charset="-122"/>
                      </a:endParaRPr>
                    </a:p>
                    <a:p>
                      <a:pPr>
                        <a:lnSpc>
                          <a:spcPct val="100000"/>
                        </a:lnSpc>
                        <a:spcBef>
                          <a:spcPts val="25"/>
                        </a:spcBef>
                        <a:buClr>
                          <a:srgbClr val="00295F"/>
                        </a:buClr>
                        <a:buFont typeface="Arial" panose="020B0604020202020204"/>
                        <a:buChar char="▪"/>
                      </a:pPr>
                      <a:endParaRPr sz="1900">
                        <a:latin typeface="微软雅黑" panose="020B0503020204020204" charset="-122"/>
                        <a:ea typeface="微软雅黑" panose="020B0503020204020204" charset="-122"/>
                        <a:cs typeface="微软雅黑" panose="020B0503020204020204" charset="-122"/>
                      </a:endParaRPr>
                    </a:p>
                    <a:p>
                      <a:pPr marL="288290" indent="-193040">
                        <a:lnSpc>
                          <a:spcPct val="100000"/>
                        </a:lnSpc>
                        <a:buClr>
                          <a:srgbClr val="00295F"/>
                        </a:buClr>
                        <a:buSzPct val="125000"/>
                        <a:buFont typeface="Arial" panose="020B0604020202020204"/>
                        <a:buChar char="▪"/>
                        <a:tabLst>
                          <a:tab pos="288925" algn="l"/>
                        </a:tabLst>
                      </a:pPr>
                      <a:r>
                        <a:rPr sz="1200" spc="-5" dirty="0">
                          <a:latin typeface="微软雅黑" panose="020B0503020204020204" charset="-122"/>
                          <a:ea typeface="微软雅黑" panose="020B0503020204020204" charset="-122"/>
                          <a:cs typeface="微软雅黑" panose="020B0503020204020204" charset="-122"/>
                        </a:rPr>
                        <a:t>可以随时中止</a:t>
                      </a:r>
                      <a:endParaRPr sz="1200">
                        <a:latin typeface="微软雅黑" panose="020B0503020204020204" charset="-122"/>
                        <a:ea typeface="微软雅黑" panose="020B0503020204020204" charset="-122"/>
                        <a:cs typeface="微软雅黑" panose="020B0503020204020204" charset="-122"/>
                      </a:endParaRPr>
                    </a:p>
                  </a:txBody>
                  <a:tcPr marL="0" marR="0" marT="109777" marB="0">
                    <a:lnB w="19050">
                      <a:solidFill>
                        <a:srgbClr val="C6DFFA"/>
                      </a:solidFill>
                      <a:prstDash val="solid"/>
                    </a:lnB>
                  </a:tcPr>
                </a:tc>
                <a:tc>
                  <a:txBody>
                    <a:bodyPr/>
                    <a:lstStyle/>
                    <a:p>
                      <a:pPr marL="376555">
                        <a:lnSpc>
                          <a:spcPct val="100000"/>
                        </a:lnSpc>
                        <a:spcBef>
                          <a:spcPts val="865"/>
                        </a:spcBef>
                      </a:pPr>
                      <a:r>
                        <a:rPr sz="1200" b="1" spc="5" dirty="0">
                          <a:solidFill>
                            <a:srgbClr val="00295F"/>
                          </a:solidFill>
                          <a:latin typeface="微软雅黑" panose="020B0503020204020204" charset="-122"/>
                          <a:ea typeface="微软雅黑" panose="020B0503020204020204" charset="-122"/>
                          <a:cs typeface="微软雅黑" panose="020B0503020204020204" charset="-122"/>
                        </a:rPr>
                        <a:t>客</a:t>
                      </a:r>
                      <a:r>
                        <a:rPr sz="1200" b="1" spc="-5" dirty="0">
                          <a:solidFill>
                            <a:srgbClr val="00295F"/>
                          </a:solidFill>
                          <a:latin typeface="微软雅黑" panose="020B0503020204020204" charset="-122"/>
                          <a:ea typeface="微软雅黑" panose="020B0503020204020204" charset="-122"/>
                          <a:cs typeface="微软雅黑" panose="020B0503020204020204" charset="-122"/>
                        </a:rPr>
                        <a:t>户</a:t>
                      </a:r>
                      <a:r>
                        <a:rPr sz="1200" b="1" spc="15" dirty="0">
                          <a:solidFill>
                            <a:srgbClr val="00295F"/>
                          </a:solidFill>
                          <a:latin typeface="微软雅黑" panose="020B0503020204020204" charset="-122"/>
                          <a:ea typeface="微软雅黑" panose="020B0503020204020204" charset="-122"/>
                          <a:cs typeface="微软雅黑" panose="020B0503020204020204" charset="-122"/>
                        </a:rPr>
                        <a:t> </a:t>
                      </a:r>
                      <a:r>
                        <a:rPr sz="1200" b="1" spc="-5" dirty="0">
                          <a:solidFill>
                            <a:srgbClr val="00295F"/>
                          </a:solidFill>
                          <a:latin typeface="微软雅黑" panose="020B0503020204020204" charset="-122"/>
                          <a:ea typeface="微软雅黑" panose="020B0503020204020204" charset="-122"/>
                          <a:cs typeface="微软雅黑" panose="020B0503020204020204" charset="-122"/>
                        </a:rPr>
                        <a:t>2</a:t>
                      </a:r>
                      <a:endParaRPr sz="1200">
                        <a:latin typeface="微软雅黑" panose="020B0503020204020204" charset="-122"/>
                        <a:ea typeface="微软雅黑" panose="020B0503020204020204" charset="-122"/>
                        <a:cs typeface="微软雅黑" panose="020B0503020204020204" charset="-122"/>
                      </a:endParaRPr>
                    </a:p>
                    <a:p>
                      <a:pPr marL="570230" indent="-192405">
                        <a:lnSpc>
                          <a:spcPct val="100000"/>
                        </a:lnSpc>
                        <a:spcBef>
                          <a:spcPts val="835"/>
                        </a:spcBef>
                        <a:buClr>
                          <a:srgbClr val="00295F"/>
                        </a:buClr>
                        <a:buSzPct val="125000"/>
                        <a:buChar char="▪"/>
                        <a:tabLst>
                          <a:tab pos="570865" algn="l"/>
                        </a:tabLst>
                      </a:pPr>
                      <a:r>
                        <a:rPr sz="1200" spc="-5" dirty="0">
                          <a:latin typeface="微软雅黑" panose="020B0503020204020204" charset="-122"/>
                          <a:ea typeface="微软雅黑" panose="020B0503020204020204" charset="-122"/>
                          <a:cs typeface="微软雅黑" panose="020B0503020204020204" charset="-122"/>
                        </a:rPr>
                        <a:t>90</a:t>
                      </a:r>
                      <a:r>
                        <a:rPr sz="1200" dirty="0">
                          <a:latin typeface="微软雅黑" panose="020B0503020204020204" charset="-122"/>
                          <a:ea typeface="微软雅黑" panose="020B0503020204020204" charset="-122"/>
                          <a:cs typeface="微软雅黑" panose="020B0503020204020204" charset="-122"/>
                        </a:rPr>
                        <a:t>天月结</a:t>
                      </a:r>
                      <a:endParaRPr sz="1200">
                        <a:latin typeface="微软雅黑" panose="020B0503020204020204" charset="-122"/>
                        <a:ea typeface="微软雅黑" panose="020B0503020204020204" charset="-122"/>
                        <a:cs typeface="微软雅黑" panose="020B0503020204020204" charset="-122"/>
                      </a:endParaRPr>
                    </a:p>
                    <a:p>
                      <a:pPr>
                        <a:lnSpc>
                          <a:spcPct val="100000"/>
                        </a:lnSpc>
                        <a:spcBef>
                          <a:spcPts val="15"/>
                        </a:spcBef>
                        <a:buClr>
                          <a:srgbClr val="00295F"/>
                        </a:buClr>
                        <a:buFont typeface="Arial" panose="020B0604020202020204"/>
                        <a:buChar char="▪"/>
                      </a:pPr>
                      <a:endParaRPr sz="2150">
                        <a:latin typeface="微软雅黑" panose="020B0503020204020204" charset="-122"/>
                        <a:ea typeface="微软雅黑" panose="020B0503020204020204" charset="-122"/>
                        <a:cs typeface="微软雅黑" panose="020B0503020204020204" charset="-122"/>
                      </a:endParaRPr>
                    </a:p>
                    <a:p>
                      <a:pPr marL="570230" indent="-192405">
                        <a:lnSpc>
                          <a:spcPct val="100000"/>
                        </a:lnSpc>
                        <a:buClr>
                          <a:srgbClr val="00295F"/>
                        </a:buClr>
                        <a:buSzPct val="125000"/>
                        <a:buFont typeface="Arial" panose="020B0604020202020204"/>
                        <a:buChar char="▪"/>
                        <a:tabLst>
                          <a:tab pos="570865" algn="l"/>
                        </a:tabLst>
                      </a:pPr>
                      <a:r>
                        <a:rPr sz="1200" dirty="0">
                          <a:latin typeface="微软雅黑" panose="020B0503020204020204" charset="-122"/>
                          <a:ea typeface="微软雅黑" panose="020B0503020204020204" charset="-122"/>
                          <a:cs typeface="微软雅黑" panose="020B0503020204020204" charset="-122"/>
                        </a:rPr>
                        <a:t>接受</a:t>
                      </a:r>
                      <a:r>
                        <a:rPr sz="1200" spc="-5" dirty="0">
                          <a:latin typeface="微软雅黑" panose="020B0503020204020204" charset="-122"/>
                          <a:ea typeface="微软雅黑" panose="020B0503020204020204" charset="-122"/>
                          <a:cs typeface="微软雅黑" panose="020B0503020204020204" charset="-122"/>
                        </a:rPr>
                        <a:t>3</a:t>
                      </a:r>
                      <a:r>
                        <a:rPr sz="1200" dirty="0">
                          <a:latin typeface="微软雅黑" panose="020B0503020204020204" charset="-122"/>
                          <a:ea typeface="微软雅黑" panose="020B0503020204020204" charset="-122"/>
                          <a:cs typeface="微软雅黑" panose="020B0503020204020204" charset="-122"/>
                        </a:rPr>
                        <a:t>年保证条款</a:t>
                      </a:r>
                      <a:endParaRPr sz="1200">
                        <a:latin typeface="微软雅黑" panose="020B0503020204020204" charset="-122"/>
                        <a:ea typeface="微软雅黑" panose="020B0503020204020204" charset="-122"/>
                        <a:cs typeface="微软雅黑" panose="020B0503020204020204" charset="-122"/>
                      </a:endParaRPr>
                    </a:p>
                    <a:p>
                      <a:pPr marL="570230" indent="-192405">
                        <a:lnSpc>
                          <a:spcPct val="100000"/>
                        </a:lnSpc>
                        <a:buClr>
                          <a:srgbClr val="00295F"/>
                        </a:buClr>
                        <a:buSzPct val="125000"/>
                        <a:buFont typeface="Arial" panose="020B0604020202020204"/>
                        <a:buChar char="▪"/>
                        <a:tabLst>
                          <a:tab pos="570865" algn="l"/>
                        </a:tabLst>
                      </a:pPr>
                      <a:r>
                        <a:rPr sz="1200" dirty="0">
                          <a:latin typeface="微软雅黑" panose="020B0503020204020204" charset="-122"/>
                          <a:ea typeface="微软雅黑" panose="020B0503020204020204" charset="-122"/>
                          <a:cs typeface="微软雅黑" panose="020B0503020204020204" charset="-122"/>
                        </a:rPr>
                        <a:t>财务风险无法预估</a:t>
                      </a:r>
                      <a:endParaRPr sz="1200">
                        <a:latin typeface="微软雅黑" panose="020B0503020204020204" charset="-122"/>
                        <a:ea typeface="微软雅黑" panose="020B0503020204020204" charset="-122"/>
                        <a:cs typeface="微软雅黑" panose="020B0503020204020204" charset="-122"/>
                      </a:endParaRPr>
                    </a:p>
                    <a:p>
                      <a:pPr marL="570230" indent="-192405">
                        <a:lnSpc>
                          <a:spcPct val="100000"/>
                        </a:lnSpc>
                        <a:spcBef>
                          <a:spcPts val="1060"/>
                        </a:spcBef>
                        <a:buClr>
                          <a:srgbClr val="00295F"/>
                        </a:buClr>
                        <a:buSzPct val="125000"/>
                        <a:buFont typeface="Arial" panose="020B0604020202020204"/>
                        <a:buChar char="▪"/>
                        <a:tabLst>
                          <a:tab pos="570865" algn="l"/>
                        </a:tabLst>
                      </a:pPr>
                      <a:r>
                        <a:rPr sz="1200" dirty="0">
                          <a:latin typeface="微软雅黑" panose="020B0503020204020204" charset="-122"/>
                          <a:ea typeface="微软雅黑" panose="020B0503020204020204" charset="-122"/>
                          <a:cs typeface="微软雅黑" panose="020B0503020204020204" charset="-122"/>
                        </a:rPr>
                        <a:t>附件中签署责任无限条款</a:t>
                      </a:r>
                      <a:endParaRPr sz="1200">
                        <a:latin typeface="微软雅黑" panose="020B0503020204020204" charset="-122"/>
                        <a:ea typeface="微软雅黑" panose="020B0503020204020204" charset="-122"/>
                        <a:cs typeface="微软雅黑" panose="020B0503020204020204" charset="-122"/>
                      </a:endParaRPr>
                    </a:p>
                    <a:p>
                      <a:pPr>
                        <a:lnSpc>
                          <a:spcPct val="100000"/>
                        </a:lnSpc>
                        <a:buClr>
                          <a:srgbClr val="00295F"/>
                        </a:buClr>
                        <a:buFont typeface="Arial" panose="020B0604020202020204"/>
                        <a:buChar char="▪"/>
                      </a:pPr>
                      <a:endParaRPr sz="1850">
                        <a:latin typeface="微软雅黑" panose="020B0503020204020204" charset="-122"/>
                        <a:ea typeface="微软雅黑" panose="020B0503020204020204" charset="-122"/>
                        <a:cs typeface="微软雅黑" panose="020B0503020204020204" charset="-122"/>
                      </a:endParaRPr>
                    </a:p>
                    <a:p>
                      <a:pPr marL="570230" marR="297815" indent="-192405" algn="just">
                        <a:lnSpc>
                          <a:spcPct val="100000"/>
                        </a:lnSpc>
                        <a:buClr>
                          <a:srgbClr val="00295F"/>
                        </a:buClr>
                        <a:buSzPct val="125000"/>
                        <a:buFont typeface="Arial" panose="020B0604020202020204"/>
                        <a:buChar char="▪"/>
                        <a:tabLst>
                          <a:tab pos="570865" algn="l"/>
                        </a:tabLst>
                      </a:pPr>
                      <a:r>
                        <a:rPr sz="1200" dirty="0">
                          <a:latin typeface="微软雅黑" panose="020B0503020204020204" charset="-122"/>
                          <a:ea typeface="微软雅黑" panose="020B0503020204020204" charset="-122"/>
                          <a:cs typeface="微软雅黑" panose="020B0503020204020204" charset="-122"/>
                        </a:rPr>
                        <a:t>知识产权不会自动转移给 客户供应商对自己的信息 保持独家拥有权</a:t>
                      </a:r>
                      <a:endParaRPr sz="1200">
                        <a:latin typeface="微软雅黑" panose="020B0503020204020204" charset="-122"/>
                        <a:ea typeface="微软雅黑" panose="020B0503020204020204" charset="-122"/>
                        <a:cs typeface="微软雅黑" panose="020B0503020204020204" charset="-122"/>
                      </a:endParaRPr>
                    </a:p>
                    <a:p>
                      <a:pPr marL="570230" marR="364490" indent="-192405" algn="just">
                        <a:lnSpc>
                          <a:spcPct val="100000"/>
                        </a:lnSpc>
                        <a:spcBef>
                          <a:spcPts val="795"/>
                        </a:spcBef>
                        <a:buClr>
                          <a:srgbClr val="00295F"/>
                        </a:buClr>
                        <a:buSzPct val="125000"/>
                        <a:buFont typeface="Arial" panose="020B0604020202020204"/>
                        <a:buChar char="▪"/>
                        <a:tabLst>
                          <a:tab pos="570865" algn="l"/>
                        </a:tabLst>
                      </a:pPr>
                      <a:r>
                        <a:rPr sz="1200" dirty="0">
                          <a:latin typeface="微软雅黑" panose="020B0503020204020204" charset="-122"/>
                          <a:ea typeface="微软雅黑" panose="020B0503020204020204" charset="-122"/>
                          <a:cs typeface="微软雅黑" panose="020B0503020204020204" charset="-122"/>
                        </a:rPr>
                        <a:t>如果供量改变</a:t>
                      </a:r>
                      <a:r>
                        <a:rPr sz="1200" spc="5" dirty="0">
                          <a:latin typeface="微软雅黑" panose="020B0503020204020204" charset="-122"/>
                          <a:ea typeface="微软雅黑" panose="020B0503020204020204" charset="-122"/>
                          <a:cs typeface="微软雅黑" panose="020B0503020204020204" charset="-122"/>
                        </a:rPr>
                        <a:t>8</a:t>
                      </a:r>
                      <a:r>
                        <a:rPr sz="1200" dirty="0">
                          <a:latin typeface="微软雅黑" panose="020B0503020204020204" charset="-122"/>
                          <a:ea typeface="微软雅黑" panose="020B0503020204020204" charset="-122"/>
                          <a:cs typeface="微软雅黑" panose="020B0503020204020204" charset="-122"/>
                        </a:rPr>
                        <a:t>％或供应 推迟</a:t>
                      </a:r>
                      <a:r>
                        <a:rPr sz="1200" spc="-5" dirty="0">
                          <a:latin typeface="微软雅黑" panose="020B0503020204020204" charset="-122"/>
                          <a:ea typeface="微软雅黑" panose="020B0503020204020204" charset="-122"/>
                          <a:cs typeface="微软雅黑" panose="020B0503020204020204" charset="-122"/>
                        </a:rPr>
                        <a:t>3</a:t>
                      </a:r>
                      <a:r>
                        <a:rPr sz="1200" dirty="0">
                          <a:latin typeface="微软雅黑" panose="020B0503020204020204" charset="-122"/>
                          <a:ea typeface="微软雅黑" panose="020B0503020204020204" charset="-122"/>
                          <a:cs typeface="微软雅黑" panose="020B0503020204020204" charset="-122"/>
                        </a:rPr>
                        <a:t>个月，可以谈判</a:t>
                      </a:r>
                      <a:endParaRPr sz="1200">
                        <a:latin typeface="微软雅黑" panose="020B0503020204020204" charset="-122"/>
                        <a:ea typeface="微软雅黑" panose="020B0503020204020204" charset="-122"/>
                        <a:cs typeface="微软雅黑" panose="020B0503020204020204" charset="-122"/>
                      </a:endParaRPr>
                    </a:p>
                    <a:p>
                      <a:pPr marL="570230" indent="-192405">
                        <a:lnSpc>
                          <a:spcPct val="100000"/>
                        </a:lnSpc>
                        <a:spcBef>
                          <a:spcPts val="920"/>
                        </a:spcBef>
                        <a:buClr>
                          <a:srgbClr val="00295F"/>
                        </a:buClr>
                        <a:buSzPct val="125000"/>
                        <a:buFont typeface="Arial" panose="020B0604020202020204"/>
                        <a:buChar char="▪"/>
                        <a:tabLst>
                          <a:tab pos="570865" algn="l"/>
                        </a:tabLst>
                      </a:pPr>
                      <a:r>
                        <a:rPr sz="1200" spc="-5" dirty="0">
                          <a:latin typeface="微软雅黑" panose="020B0503020204020204" charset="-122"/>
                          <a:ea typeface="微软雅黑" panose="020B0503020204020204" charset="-122"/>
                          <a:cs typeface="微软雅黑" panose="020B0503020204020204" charset="-122"/>
                        </a:rPr>
                        <a:t>价格</a:t>
                      </a:r>
                      <a:r>
                        <a:rPr sz="1200" dirty="0">
                          <a:latin typeface="微软雅黑" panose="020B0503020204020204" charset="-122"/>
                          <a:ea typeface="微软雅黑" panose="020B0503020204020204" charset="-122"/>
                          <a:cs typeface="微软雅黑" panose="020B0503020204020204" charset="-122"/>
                        </a:rPr>
                        <a:t>/</a:t>
                      </a:r>
                      <a:r>
                        <a:rPr sz="1200" spc="-5" dirty="0">
                          <a:latin typeface="微软雅黑" panose="020B0503020204020204" charset="-122"/>
                          <a:ea typeface="微软雅黑" panose="020B0503020204020204" charset="-122"/>
                          <a:cs typeface="微软雅黑" panose="020B0503020204020204" charset="-122"/>
                        </a:rPr>
                        <a:t>成本提高可以协商</a:t>
                      </a:r>
                      <a:endParaRPr sz="1200">
                        <a:latin typeface="微软雅黑" panose="020B0503020204020204" charset="-122"/>
                        <a:ea typeface="微软雅黑" panose="020B0503020204020204" charset="-122"/>
                        <a:cs typeface="微软雅黑" panose="020B0503020204020204" charset="-122"/>
                      </a:endParaRPr>
                    </a:p>
                    <a:p>
                      <a:pPr>
                        <a:lnSpc>
                          <a:spcPct val="100000"/>
                        </a:lnSpc>
                        <a:spcBef>
                          <a:spcPts val="30"/>
                        </a:spcBef>
                        <a:buClr>
                          <a:srgbClr val="00295F"/>
                        </a:buClr>
                        <a:buFont typeface="Arial" panose="020B0604020202020204"/>
                        <a:buChar char="▪"/>
                      </a:pPr>
                      <a:endParaRPr sz="1800">
                        <a:latin typeface="微软雅黑" panose="020B0503020204020204" charset="-122"/>
                        <a:ea typeface="微软雅黑" panose="020B0503020204020204" charset="-122"/>
                        <a:cs typeface="微软雅黑" panose="020B0503020204020204" charset="-122"/>
                      </a:endParaRPr>
                    </a:p>
                    <a:p>
                      <a:pPr marL="570230" marR="297815" indent="-192405">
                        <a:lnSpc>
                          <a:spcPct val="101000"/>
                        </a:lnSpc>
                        <a:buClr>
                          <a:srgbClr val="00295F"/>
                        </a:buClr>
                        <a:buSzPct val="125000"/>
                        <a:buFont typeface="Arial" panose="020B0604020202020204"/>
                        <a:buChar char="▪"/>
                        <a:tabLst>
                          <a:tab pos="570865" algn="l"/>
                        </a:tabLst>
                      </a:pPr>
                      <a:r>
                        <a:rPr sz="1200" dirty="0">
                          <a:latin typeface="微软雅黑" panose="020B0503020204020204" charset="-122"/>
                          <a:ea typeface="微软雅黑" panose="020B0503020204020204" charset="-122"/>
                          <a:cs typeface="微软雅黑" panose="020B0503020204020204" charset="-122"/>
                        </a:rPr>
                        <a:t>磨具费用转嫁到产品价格 之中</a:t>
                      </a:r>
                      <a:endParaRPr sz="1200">
                        <a:latin typeface="微软雅黑" panose="020B0503020204020204" charset="-122"/>
                        <a:ea typeface="微软雅黑" panose="020B0503020204020204" charset="-122"/>
                        <a:cs typeface="微软雅黑" panose="020B0503020204020204" charset="-122"/>
                      </a:endParaRPr>
                    </a:p>
                    <a:p>
                      <a:pPr marL="570230" indent="-192405">
                        <a:lnSpc>
                          <a:spcPct val="100000"/>
                        </a:lnSpc>
                        <a:buClr>
                          <a:srgbClr val="00295F"/>
                        </a:buClr>
                        <a:buSzPct val="125000"/>
                        <a:buFont typeface="Arial" panose="020B0604020202020204"/>
                        <a:buChar char="▪"/>
                        <a:tabLst>
                          <a:tab pos="570865" algn="l"/>
                        </a:tabLst>
                      </a:pPr>
                      <a:r>
                        <a:rPr sz="1200" spc="-5" dirty="0">
                          <a:latin typeface="微软雅黑" panose="020B0503020204020204" charset="-122"/>
                          <a:ea typeface="微软雅黑" panose="020B0503020204020204" charset="-122"/>
                          <a:cs typeface="微软雅黑" panose="020B0503020204020204" charset="-122"/>
                        </a:rPr>
                        <a:t>供应商对磨具保有拥有权</a:t>
                      </a:r>
                      <a:endParaRPr sz="1200">
                        <a:latin typeface="微软雅黑" panose="020B0503020204020204" charset="-122"/>
                        <a:ea typeface="微软雅黑" panose="020B0503020204020204" charset="-122"/>
                        <a:cs typeface="微软雅黑" panose="020B0503020204020204" charset="-122"/>
                      </a:endParaRPr>
                    </a:p>
                    <a:p>
                      <a:pPr marL="570230" indent="-192405">
                        <a:lnSpc>
                          <a:spcPct val="100000"/>
                        </a:lnSpc>
                        <a:spcBef>
                          <a:spcPts val="530"/>
                        </a:spcBef>
                        <a:buClr>
                          <a:srgbClr val="00295F"/>
                        </a:buClr>
                        <a:buSzPct val="125000"/>
                        <a:buFont typeface="Arial" panose="020B0604020202020204"/>
                        <a:buChar char="▪"/>
                        <a:tabLst>
                          <a:tab pos="570865" algn="l"/>
                        </a:tabLst>
                      </a:pPr>
                      <a:r>
                        <a:rPr sz="1200" spc="-5" dirty="0">
                          <a:latin typeface="微软雅黑" panose="020B0503020204020204" charset="-122"/>
                          <a:ea typeface="微软雅黑" panose="020B0503020204020204" charset="-122"/>
                          <a:cs typeface="微软雅黑" panose="020B0503020204020204" charset="-122"/>
                        </a:rPr>
                        <a:t>可以随时中止</a:t>
                      </a:r>
                      <a:endParaRPr sz="1200">
                        <a:latin typeface="微软雅黑" panose="020B0503020204020204" charset="-122"/>
                        <a:ea typeface="微软雅黑" panose="020B0503020204020204" charset="-122"/>
                        <a:cs typeface="微软雅黑" panose="020B0503020204020204" charset="-122"/>
                      </a:endParaRPr>
                    </a:p>
                    <a:p>
                      <a:pPr marL="394335" indent="-193040">
                        <a:lnSpc>
                          <a:spcPts val="1300"/>
                        </a:lnSpc>
                        <a:spcBef>
                          <a:spcPts val="1025"/>
                        </a:spcBef>
                        <a:buClr>
                          <a:srgbClr val="00295F"/>
                        </a:buClr>
                        <a:buSzPct val="125000"/>
                        <a:buFont typeface="Arial" panose="020B0604020202020204"/>
                        <a:buChar char="▪"/>
                        <a:tabLst>
                          <a:tab pos="394970" algn="l"/>
                        </a:tabLst>
                      </a:pPr>
                      <a:r>
                        <a:rPr sz="1200" dirty="0">
                          <a:latin typeface="微软雅黑" panose="020B0503020204020204" charset="-122"/>
                          <a:ea typeface="微软雅黑" panose="020B0503020204020204" charset="-122"/>
                          <a:cs typeface="微软雅黑" panose="020B0503020204020204" charset="-122"/>
                        </a:rPr>
                        <a:t>比较不同客户的条件与条款</a:t>
                      </a:r>
                      <a:endParaRPr sz="1200">
                        <a:latin typeface="微软雅黑" panose="020B0503020204020204" charset="-122"/>
                        <a:ea typeface="微软雅黑" panose="020B0503020204020204" charset="-122"/>
                        <a:cs typeface="微软雅黑" panose="020B0503020204020204" charset="-122"/>
                      </a:endParaRPr>
                    </a:p>
                  </a:txBody>
                  <a:tcPr marL="0" marR="0" marT="109777" marB="0">
                    <a:lnB w="19050">
                      <a:solidFill>
                        <a:srgbClr val="C6DFFA"/>
                      </a:solidFill>
                      <a:prstDash val="solid"/>
                    </a:lnB>
                  </a:tcPr>
                </a:tc>
                <a:tc>
                  <a:txBody>
                    <a:bodyPr/>
                    <a:lstStyle/>
                    <a:p>
                      <a:pPr marL="305435">
                        <a:lnSpc>
                          <a:spcPct val="100000"/>
                        </a:lnSpc>
                        <a:spcBef>
                          <a:spcPts val="865"/>
                        </a:spcBef>
                      </a:pPr>
                      <a:r>
                        <a:rPr sz="1200" b="1" spc="5" dirty="0">
                          <a:solidFill>
                            <a:srgbClr val="00295F"/>
                          </a:solidFill>
                          <a:latin typeface="微软雅黑" panose="020B0503020204020204" charset="-122"/>
                          <a:ea typeface="微软雅黑" panose="020B0503020204020204" charset="-122"/>
                          <a:cs typeface="微软雅黑" panose="020B0503020204020204" charset="-122"/>
                        </a:rPr>
                        <a:t>客</a:t>
                      </a:r>
                      <a:r>
                        <a:rPr sz="1200" b="1" spc="-5" dirty="0">
                          <a:solidFill>
                            <a:srgbClr val="00295F"/>
                          </a:solidFill>
                          <a:latin typeface="微软雅黑" panose="020B0503020204020204" charset="-122"/>
                          <a:ea typeface="微软雅黑" panose="020B0503020204020204" charset="-122"/>
                          <a:cs typeface="微软雅黑" panose="020B0503020204020204" charset="-122"/>
                        </a:rPr>
                        <a:t>户</a:t>
                      </a:r>
                      <a:r>
                        <a:rPr sz="1200" b="1" spc="15" dirty="0">
                          <a:solidFill>
                            <a:srgbClr val="00295F"/>
                          </a:solidFill>
                          <a:latin typeface="微软雅黑" panose="020B0503020204020204" charset="-122"/>
                          <a:ea typeface="微软雅黑" panose="020B0503020204020204" charset="-122"/>
                          <a:cs typeface="微软雅黑" panose="020B0503020204020204" charset="-122"/>
                        </a:rPr>
                        <a:t> </a:t>
                      </a:r>
                      <a:r>
                        <a:rPr sz="1200" b="1" spc="-5" dirty="0">
                          <a:solidFill>
                            <a:srgbClr val="00295F"/>
                          </a:solidFill>
                          <a:latin typeface="微软雅黑" panose="020B0503020204020204" charset="-122"/>
                          <a:ea typeface="微软雅黑" panose="020B0503020204020204" charset="-122"/>
                          <a:cs typeface="微软雅黑" panose="020B0503020204020204" charset="-122"/>
                        </a:rPr>
                        <a:t>3</a:t>
                      </a:r>
                      <a:endParaRPr sz="1200">
                        <a:latin typeface="微软雅黑" panose="020B0503020204020204" charset="-122"/>
                        <a:ea typeface="微软雅黑" panose="020B0503020204020204" charset="-122"/>
                        <a:cs typeface="微软雅黑" panose="020B0503020204020204" charset="-122"/>
                      </a:endParaRPr>
                    </a:p>
                    <a:p>
                      <a:pPr marL="499110" indent="-193040">
                        <a:lnSpc>
                          <a:spcPct val="100000"/>
                        </a:lnSpc>
                        <a:spcBef>
                          <a:spcPts val="835"/>
                        </a:spcBef>
                        <a:buClr>
                          <a:srgbClr val="00295F"/>
                        </a:buClr>
                        <a:buSzPct val="125000"/>
                        <a:buChar char="▪"/>
                        <a:tabLst>
                          <a:tab pos="499745" algn="l"/>
                        </a:tabLst>
                      </a:pPr>
                      <a:r>
                        <a:rPr sz="1200" spc="-5" dirty="0">
                          <a:latin typeface="微软雅黑" panose="020B0503020204020204" charset="-122"/>
                          <a:ea typeface="微软雅黑" panose="020B0503020204020204" charset="-122"/>
                          <a:cs typeface="微软雅黑" panose="020B0503020204020204" charset="-122"/>
                        </a:rPr>
                        <a:t>30</a:t>
                      </a:r>
                      <a:r>
                        <a:rPr sz="1200" dirty="0">
                          <a:latin typeface="微软雅黑" panose="020B0503020204020204" charset="-122"/>
                          <a:ea typeface="微软雅黑" panose="020B0503020204020204" charset="-122"/>
                          <a:cs typeface="微软雅黑" panose="020B0503020204020204" charset="-122"/>
                        </a:rPr>
                        <a:t>天月结</a:t>
                      </a:r>
                      <a:endParaRPr sz="1200">
                        <a:latin typeface="微软雅黑" panose="020B0503020204020204" charset="-122"/>
                        <a:ea typeface="微软雅黑" panose="020B0503020204020204" charset="-122"/>
                        <a:cs typeface="微软雅黑" panose="020B0503020204020204" charset="-122"/>
                      </a:endParaRPr>
                    </a:p>
                    <a:p>
                      <a:pPr>
                        <a:lnSpc>
                          <a:spcPct val="100000"/>
                        </a:lnSpc>
                        <a:spcBef>
                          <a:spcPts val="15"/>
                        </a:spcBef>
                        <a:buClr>
                          <a:srgbClr val="00295F"/>
                        </a:buClr>
                        <a:buFont typeface="Arial" panose="020B0604020202020204"/>
                        <a:buChar char="▪"/>
                      </a:pPr>
                      <a:endParaRPr sz="2150">
                        <a:latin typeface="微软雅黑" panose="020B0503020204020204" charset="-122"/>
                        <a:ea typeface="微软雅黑" panose="020B0503020204020204" charset="-122"/>
                        <a:cs typeface="微软雅黑" panose="020B0503020204020204" charset="-122"/>
                      </a:endParaRPr>
                    </a:p>
                    <a:p>
                      <a:pPr marL="499110" indent="-193040">
                        <a:lnSpc>
                          <a:spcPct val="100000"/>
                        </a:lnSpc>
                        <a:buClr>
                          <a:srgbClr val="00295F"/>
                        </a:buClr>
                        <a:buSzPct val="125000"/>
                        <a:buFont typeface="Arial" panose="020B0604020202020204"/>
                        <a:buChar char="▪"/>
                        <a:tabLst>
                          <a:tab pos="499745" algn="l"/>
                        </a:tabLst>
                      </a:pPr>
                      <a:r>
                        <a:rPr sz="1200" dirty="0">
                          <a:latin typeface="微软雅黑" panose="020B0503020204020204" charset="-122"/>
                          <a:ea typeface="微软雅黑" panose="020B0503020204020204" charset="-122"/>
                          <a:cs typeface="微软雅黑" panose="020B0503020204020204" charset="-122"/>
                        </a:rPr>
                        <a:t>无限制财务风险</a:t>
                      </a:r>
                      <a:endParaRPr sz="1200">
                        <a:latin typeface="微软雅黑" panose="020B0503020204020204" charset="-122"/>
                        <a:ea typeface="微软雅黑" panose="020B0503020204020204" charset="-122"/>
                        <a:cs typeface="微软雅黑" panose="020B0503020204020204" charset="-122"/>
                      </a:endParaRPr>
                    </a:p>
                    <a:p>
                      <a:pPr>
                        <a:lnSpc>
                          <a:spcPct val="100000"/>
                        </a:lnSpc>
                        <a:spcBef>
                          <a:spcPts val="25"/>
                        </a:spcBef>
                        <a:buClr>
                          <a:srgbClr val="00295F"/>
                        </a:buClr>
                        <a:buFont typeface="Arial" panose="020B0604020202020204"/>
                        <a:buChar char="▪"/>
                      </a:pPr>
                      <a:endParaRPr sz="2150">
                        <a:latin typeface="微软雅黑" panose="020B0503020204020204" charset="-122"/>
                        <a:ea typeface="微软雅黑" panose="020B0503020204020204" charset="-122"/>
                        <a:cs typeface="微软雅黑" panose="020B0503020204020204" charset="-122"/>
                      </a:endParaRPr>
                    </a:p>
                    <a:p>
                      <a:pPr marL="499110" indent="-193040">
                        <a:lnSpc>
                          <a:spcPct val="100000"/>
                        </a:lnSpc>
                        <a:buClr>
                          <a:srgbClr val="00295F"/>
                        </a:buClr>
                        <a:buSzPct val="125000"/>
                        <a:buFont typeface="Arial" panose="020B0604020202020204"/>
                        <a:buChar char="▪"/>
                        <a:tabLst>
                          <a:tab pos="499745" algn="l"/>
                        </a:tabLst>
                      </a:pPr>
                      <a:r>
                        <a:rPr sz="1200" dirty="0">
                          <a:latin typeface="微软雅黑" panose="020B0503020204020204" charset="-122"/>
                          <a:ea typeface="微软雅黑" panose="020B0503020204020204" charset="-122"/>
                          <a:cs typeface="微软雅黑" panose="020B0503020204020204" charset="-122"/>
                        </a:rPr>
                        <a:t>无限制财务风险</a:t>
                      </a:r>
                      <a:endParaRPr sz="1200">
                        <a:latin typeface="微软雅黑" panose="020B0503020204020204" charset="-122"/>
                        <a:ea typeface="微软雅黑" panose="020B0503020204020204" charset="-122"/>
                        <a:cs typeface="微软雅黑" panose="020B0503020204020204" charset="-122"/>
                      </a:endParaRPr>
                    </a:p>
                    <a:p>
                      <a:pPr>
                        <a:lnSpc>
                          <a:spcPct val="100000"/>
                        </a:lnSpc>
                        <a:buClr>
                          <a:srgbClr val="00295F"/>
                        </a:buClr>
                        <a:buFont typeface="Arial" panose="020B0604020202020204"/>
                        <a:buChar char="▪"/>
                      </a:pPr>
                      <a:endParaRPr sz="1850">
                        <a:latin typeface="微软雅黑" panose="020B0503020204020204" charset="-122"/>
                        <a:ea typeface="微软雅黑" panose="020B0503020204020204" charset="-122"/>
                        <a:cs typeface="微软雅黑" panose="020B0503020204020204" charset="-122"/>
                      </a:endParaRPr>
                    </a:p>
                    <a:p>
                      <a:pPr marL="499110" marR="600710" indent="-192405">
                        <a:lnSpc>
                          <a:spcPct val="101000"/>
                        </a:lnSpc>
                        <a:buClr>
                          <a:srgbClr val="00295F"/>
                        </a:buClr>
                        <a:buSzPct val="125000"/>
                        <a:buFont typeface="Arial" panose="020B0604020202020204"/>
                        <a:buChar char="▪"/>
                        <a:tabLst>
                          <a:tab pos="499745" algn="l"/>
                        </a:tabLst>
                      </a:pPr>
                      <a:r>
                        <a:rPr sz="1200" dirty="0">
                          <a:latin typeface="微软雅黑" panose="020B0503020204020204" charset="-122"/>
                          <a:ea typeface="微软雅黑" panose="020B0503020204020204" charset="-122"/>
                          <a:cs typeface="微软雅黑" panose="020B0503020204020204" charset="-122"/>
                        </a:rPr>
                        <a:t>前景权利转让给客户， 背景许可需谈判</a:t>
                      </a:r>
                      <a:endParaRPr sz="1200">
                        <a:latin typeface="微软雅黑" panose="020B0503020204020204" charset="-122"/>
                        <a:ea typeface="微软雅黑" panose="020B0503020204020204" charset="-122"/>
                        <a:cs typeface="微软雅黑" panose="020B0503020204020204" charset="-122"/>
                      </a:endParaRPr>
                    </a:p>
                    <a:p>
                      <a:pPr>
                        <a:lnSpc>
                          <a:spcPct val="100000"/>
                        </a:lnSpc>
                        <a:spcBef>
                          <a:spcPts val="25"/>
                        </a:spcBef>
                        <a:buClr>
                          <a:srgbClr val="00295F"/>
                        </a:buClr>
                        <a:buFont typeface="Arial" panose="020B0604020202020204"/>
                        <a:buChar char="▪"/>
                      </a:pPr>
                      <a:endParaRPr sz="1900">
                        <a:latin typeface="微软雅黑" panose="020B0503020204020204" charset="-122"/>
                        <a:ea typeface="微软雅黑" panose="020B0503020204020204" charset="-122"/>
                        <a:cs typeface="微软雅黑" panose="020B0503020204020204" charset="-122"/>
                      </a:endParaRPr>
                    </a:p>
                    <a:p>
                      <a:pPr marL="499110" marR="600710" indent="-192405">
                        <a:lnSpc>
                          <a:spcPct val="101000"/>
                        </a:lnSpc>
                        <a:buClr>
                          <a:srgbClr val="00295F"/>
                        </a:buClr>
                        <a:buSzPct val="125000"/>
                        <a:buFont typeface="Arial" panose="020B0604020202020204"/>
                        <a:buChar char="▪"/>
                        <a:tabLst>
                          <a:tab pos="499745" algn="l"/>
                        </a:tabLst>
                      </a:pPr>
                      <a:r>
                        <a:rPr sz="1200" dirty="0">
                          <a:latin typeface="微软雅黑" panose="020B0503020204020204" charset="-122"/>
                          <a:ea typeface="微软雅黑" panose="020B0503020204020204" charset="-122"/>
                          <a:cs typeface="微软雅黑" panose="020B0503020204020204" charset="-122"/>
                        </a:rPr>
                        <a:t>对产量降低的补偿可以 谈判</a:t>
                      </a:r>
                      <a:endParaRPr sz="1200">
                        <a:latin typeface="微软雅黑" panose="020B0503020204020204" charset="-122"/>
                        <a:ea typeface="微软雅黑" panose="020B0503020204020204" charset="-122"/>
                        <a:cs typeface="微软雅黑" panose="020B0503020204020204" charset="-122"/>
                      </a:endParaRPr>
                    </a:p>
                    <a:p>
                      <a:pPr marL="499110" indent="-193040">
                        <a:lnSpc>
                          <a:spcPct val="100000"/>
                        </a:lnSpc>
                        <a:spcBef>
                          <a:spcPts val="905"/>
                        </a:spcBef>
                        <a:buClr>
                          <a:srgbClr val="00295F"/>
                        </a:buClr>
                        <a:buSzPct val="125000"/>
                        <a:buFont typeface="Arial" panose="020B0604020202020204"/>
                        <a:buChar char="▪"/>
                        <a:tabLst>
                          <a:tab pos="499745" algn="l"/>
                        </a:tabLst>
                      </a:pPr>
                      <a:r>
                        <a:rPr sz="1200" spc="-5" dirty="0">
                          <a:latin typeface="微软雅黑" panose="020B0503020204020204" charset="-122"/>
                          <a:ea typeface="微软雅黑" panose="020B0503020204020204" charset="-122"/>
                          <a:cs typeface="微软雅黑" panose="020B0503020204020204" charset="-122"/>
                        </a:rPr>
                        <a:t>串行价格，包装需要字</a:t>
                      </a:r>
                      <a:endParaRPr sz="1200">
                        <a:latin typeface="微软雅黑" panose="020B0503020204020204" charset="-122"/>
                        <a:ea typeface="微软雅黑" panose="020B0503020204020204" charset="-122"/>
                        <a:cs typeface="微软雅黑" panose="020B0503020204020204" charset="-122"/>
                      </a:endParaRPr>
                    </a:p>
                    <a:p>
                      <a:pPr marL="499110">
                        <a:lnSpc>
                          <a:spcPct val="100000"/>
                        </a:lnSpc>
                        <a:spcBef>
                          <a:spcPts val="15"/>
                        </a:spcBef>
                      </a:pPr>
                      <a:r>
                        <a:rPr sz="1200" dirty="0">
                          <a:latin typeface="微软雅黑" panose="020B0503020204020204" charset="-122"/>
                          <a:ea typeface="微软雅黑" panose="020B0503020204020204" charset="-122"/>
                          <a:cs typeface="微软雅黑" panose="020B0503020204020204" charset="-122"/>
                        </a:rPr>
                        <a:t>符额外费用</a:t>
                      </a:r>
                      <a:endParaRPr sz="1200">
                        <a:latin typeface="微软雅黑" panose="020B0503020204020204" charset="-122"/>
                        <a:ea typeface="微软雅黑" panose="020B0503020204020204" charset="-122"/>
                        <a:cs typeface="微软雅黑" panose="020B0503020204020204" charset="-122"/>
                      </a:endParaRPr>
                    </a:p>
                    <a:p>
                      <a:pPr marL="499110" marR="600710" indent="-192405">
                        <a:lnSpc>
                          <a:spcPct val="101000"/>
                        </a:lnSpc>
                        <a:spcBef>
                          <a:spcPts val="660"/>
                        </a:spcBef>
                        <a:buClr>
                          <a:srgbClr val="00295F"/>
                        </a:buClr>
                        <a:buSzPct val="125000"/>
                        <a:buFont typeface="Arial" panose="020B0604020202020204"/>
                        <a:buChar char="▪"/>
                        <a:tabLst>
                          <a:tab pos="499745" algn="l"/>
                        </a:tabLst>
                      </a:pPr>
                      <a:r>
                        <a:rPr sz="1200" dirty="0">
                          <a:latin typeface="微软雅黑" panose="020B0503020204020204" charset="-122"/>
                          <a:ea typeface="微软雅黑" panose="020B0503020204020204" charset="-122"/>
                          <a:cs typeface="微软雅黑" panose="020B0503020204020204" charset="-122"/>
                        </a:rPr>
                        <a:t>在现金付款之后，拥有 权转给代工工厂</a:t>
                      </a:r>
                      <a:endParaRPr sz="1200">
                        <a:latin typeface="微软雅黑" panose="020B0503020204020204" charset="-122"/>
                        <a:ea typeface="微软雅黑" panose="020B0503020204020204" charset="-122"/>
                        <a:cs typeface="微软雅黑" panose="020B0503020204020204" charset="-122"/>
                      </a:endParaRPr>
                    </a:p>
                    <a:p>
                      <a:pPr>
                        <a:lnSpc>
                          <a:spcPct val="100000"/>
                        </a:lnSpc>
                        <a:spcBef>
                          <a:spcPts val="15"/>
                        </a:spcBef>
                        <a:buClr>
                          <a:srgbClr val="00295F"/>
                        </a:buClr>
                        <a:buFont typeface="Arial" panose="020B0604020202020204"/>
                        <a:buChar char="▪"/>
                      </a:pPr>
                      <a:endParaRPr sz="1700">
                        <a:latin typeface="微软雅黑" panose="020B0503020204020204" charset="-122"/>
                        <a:ea typeface="微软雅黑" panose="020B0503020204020204" charset="-122"/>
                        <a:cs typeface="微软雅黑" panose="020B0503020204020204" charset="-122"/>
                      </a:endParaRPr>
                    </a:p>
                    <a:p>
                      <a:pPr marL="499110" indent="-193040">
                        <a:lnSpc>
                          <a:spcPct val="100000"/>
                        </a:lnSpc>
                        <a:buClr>
                          <a:srgbClr val="00295F"/>
                        </a:buClr>
                        <a:buSzPct val="125000"/>
                        <a:buFont typeface="Arial" panose="020B0604020202020204"/>
                        <a:buChar char="▪"/>
                        <a:tabLst>
                          <a:tab pos="499745" algn="l"/>
                        </a:tabLst>
                      </a:pPr>
                      <a:r>
                        <a:rPr sz="1200" spc="-5" dirty="0">
                          <a:latin typeface="微软雅黑" panose="020B0503020204020204" charset="-122"/>
                          <a:ea typeface="微软雅黑" panose="020B0503020204020204" charset="-122"/>
                          <a:cs typeface="微软雅黑" panose="020B0503020204020204" charset="-122"/>
                        </a:rPr>
                        <a:t>可以随时中止</a:t>
                      </a:r>
                      <a:endParaRPr sz="1200">
                        <a:latin typeface="微软雅黑" panose="020B0503020204020204" charset="-122"/>
                        <a:ea typeface="微软雅黑" panose="020B0503020204020204" charset="-122"/>
                        <a:cs typeface="微软雅黑" panose="020B0503020204020204" charset="-122"/>
                      </a:endParaRPr>
                    </a:p>
                  </a:txBody>
                  <a:tcPr marL="0" marR="0" marT="109777" marB="0">
                    <a:lnR w="19050">
                      <a:solidFill>
                        <a:srgbClr val="C6DFFA"/>
                      </a:solidFill>
                      <a:prstDash val="solid"/>
                    </a:lnR>
                    <a:lnB w="19050">
                      <a:solidFill>
                        <a:srgbClr val="C6DFFA"/>
                      </a:solidFill>
                      <a:prstDash val="solid"/>
                    </a:lnB>
                  </a:tcPr>
                </a:tc>
              </a:tr>
            </a:tbl>
          </a:graphicData>
        </a:graphic>
      </p:graphicFrame>
      <p:sp>
        <p:nvSpPr>
          <p:cNvPr id="55" name="object 55"/>
          <p:cNvSpPr txBox="1"/>
          <p:nvPr/>
        </p:nvSpPr>
        <p:spPr>
          <a:xfrm>
            <a:off x="106401" y="6412696"/>
            <a:ext cx="1416316"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资料来源：匿名客户案例</a:t>
            </a:r>
            <a:endParaRPr sz="1000" spc="-1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401" y="203088"/>
            <a:ext cx="4367610"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领先的公司</a:t>
            </a:r>
            <a:r>
              <a:rPr spc="-10" dirty="0">
                <a:ea typeface="微软雅黑" panose="020B0503020204020204" charset="-122"/>
              </a:rPr>
              <a:t>将业</a:t>
            </a:r>
            <a:r>
              <a:rPr spc="-5" dirty="0">
                <a:ea typeface="微软雅黑" panose="020B0503020204020204" charset="-122"/>
              </a:rPr>
              <a:t>绩</a:t>
            </a:r>
            <a:r>
              <a:rPr spc="-10" dirty="0">
                <a:ea typeface="微软雅黑" panose="020B0503020204020204" charset="-122"/>
              </a:rPr>
              <a:t>对话</a:t>
            </a:r>
            <a:r>
              <a:rPr spc="-5" dirty="0">
                <a:ea typeface="微软雅黑" panose="020B0503020204020204" charset="-122"/>
              </a:rPr>
              <a:t>植</a:t>
            </a:r>
            <a:r>
              <a:rPr spc="-10" dirty="0">
                <a:ea typeface="微软雅黑" panose="020B0503020204020204" charset="-122"/>
              </a:rPr>
              <a:t>入核</a:t>
            </a:r>
            <a:r>
              <a:rPr spc="-5" dirty="0">
                <a:ea typeface="微软雅黑" panose="020B0503020204020204" charset="-122"/>
              </a:rPr>
              <a:t>心</a:t>
            </a:r>
            <a:r>
              <a:rPr spc="-10" dirty="0">
                <a:ea typeface="微软雅黑" panose="020B0503020204020204" charset="-122"/>
              </a:rPr>
              <a:t>管理</a:t>
            </a:r>
            <a:r>
              <a:rPr spc="-5" dirty="0">
                <a:ea typeface="微软雅黑" panose="020B0503020204020204" charset="-122"/>
              </a:rPr>
              <a:t>流</a:t>
            </a:r>
            <a:r>
              <a:rPr spc="-10" dirty="0">
                <a:ea typeface="微软雅黑" panose="020B0503020204020204" charset="-122"/>
              </a:rPr>
              <a:t>程</a:t>
            </a:r>
            <a:endParaRPr spc="-10" dirty="0">
              <a:ea typeface="微软雅黑" panose="020B0503020204020204" charset="-122"/>
            </a:endParaRPr>
          </a:p>
        </p:txBody>
      </p:sp>
      <p:sp>
        <p:nvSpPr>
          <p:cNvPr id="4" name="object 4"/>
          <p:cNvSpPr/>
          <p:nvPr/>
        </p:nvSpPr>
        <p:spPr>
          <a:xfrm>
            <a:off x="118787" y="810988"/>
            <a:ext cx="8617193" cy="318544"/>
          </a:xfrm>
          <a:custGeom>
            <a:avLst/>
            <a:gdLst/>
            <a:ahLst/>
            <a:cxnLst/>
            <a:rect l="l" t="t" r="r" b="b"/>
            <a:pathLst>
              <a:path w="8623300" h="318769">
                <a:moveTo>
                  <a:pt x="0" y="318515"/>
                </a:moveTo>
                <a:lnTo>
                  <a:pt x="8622792" y="318515"/>
                </a:lnTo>
                <a:lnTo>
                  <a:pt x="8622792" y="0"/>
                </a:lnTo>
                <a:lnTo>
                  <a:pt x="0" y="0"/>
                </a:lnTo>
                <a:lnTo>
                  <a:pt x="0" y="318515"/>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txBox="1"/>
          <p:nvPr/>
        </p:nvSpPr>
        <p:spPr>
          <a:xfrm>
            <a:off x="178283" y="845761"/>
            <a:ext cx="1857329" cy="196215"/>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业绩对</a:t>
            </a:r>
            <a:r>
              <a:rPr sz="1200" b="1" spc="-5" dirty="0">
                <a:latin typeface="微软雅黑" panose="020B0503020204020204" charset="-122"/>
                <a:ea typeface="微软雅黑" panose="020B0503020204020204" charset="-122"/>
                <a:cs typeface="微软雅黑" panose="020B0503020204020204" charset="-122"/>
              </a:rPr>
              <a:t>话贯穿核心管理流程</a:t>
            </a:r>
            <a:endParaRPr sz="1200">
              <a:latin typeface="微软雅黑" panose="020B0503020204020204" charset="-122"/>
              <a:ea typeface="微软雅黑" panose="020B0503020204020204" charset="-122"/>
              <a:cs typeface="微软雅黑" panose="020B0503020204020204" charset="-122"/>
            </a:endParaRPr>
          </a:p>
        </p:txBody>
      </p:sp>
      <p:sp>
        <p:nvSpPr>
          <p:cNvPr id="6" name="object 6"/>
          <p:cNvSpPr/>
          <p:nvPr/>
        </p:nvSpPr>
        <p:spPr>
          <a:xfrm>
            <a:off x="1410225" y="1160625"/>
            <a:ext cx="6737655" cy="4432968"/>
          </a:xfrm>
          <a:custGeom>
            <a:avLst/>
            <a:gdLst/>
            <a:ahLst/>
            <a:cxnLst/>
            <a:rect l="l" t="t" r="r" b="b"/>
            <a:pathLst>
              <a:path w="6742430" h="4436110">
                <a:moveTo>
                  <a:pt x="5946902" y="0"/>
                </a:moveTo>
                <a:lnTo>
                  <a:pt x="6049009" y="181101"/>
                </a:lnTo>
                <a:lnTo>
                  <a:pt x="0" y="3590798"/>
                </a:lnTo>
                <a:lnTo>
                  <a:pt x="476376" y="4435881"/>
                </a:lnTo>
                <a:lnTo>
                  <a:pt x="6525386" y="1026160"/>
                </a:lnTo>
                <a:lnTo>
                  <a:pt x="6651539" y="1026160"/>
                </a:lnTo>
                <a:lnTo>
                  <a:pt x="6742176" y="347090"/>
                </a:lnTo>
                <a:lnTo>
                  <a:pt x="5946902" y="0"/>
                </a:lnTo>
                <a:close/>
              </a:path>
              <a:path w="6742430" h="4436110">
                <a:moveTo>
                  <a:pt x="6651539" y="1026160"/>
                </a:moveTo>
                <a:lnTo>
                  <a:pt x="6525386" y="1026160"/>
                </a:lnTo>
                <a:lnTo>
                  <a:pt x="6627368" y="1207262"/>
                </a:lnTo>
                <a:lnTo>
                  <a:pt x="6651539" y="102616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1662267" y="1818400"/>
            <a:ext cx="6114527" cy="3286970"/>
          </a:xfrm>
          <a:custGeom>
            <a:avLst/>
            <a:gdLst/>
            <a:ahLst/>
            <a:cxnLst/>
            <a:rect l="l" t="t" r="r" b="b"/>
            <a:pathLst>
              <a:path w="6118859" h="3289300">
                <a:moveTo>
                  <a:pt x="0" y="3288791"/>
                </a:moveTo>
                <a:lnTo>
                  <a:pt x="6118859" y="3288791"/>
                </a:lnTo>
                <a:lnTo>
                  <a:pt x="6118859" y="0"/>
                </a:lnTo>
                <a:lnTo>
                  <a:pt x="0" y="0"/>
                </a:lnTo>
                <a:lnTo>
                  <a:pt x="0" y="3288791"/>
                </a:lnTo>
                <a:close/>
              </a:path>
            </a:pathLst>
          </a:custGeom>
          <a:ln w="28575">
            <a:solidFill>
              <a:srgbClr val="808080"/>
            </a:solidFill>
            <a:prstDash val="dot"/>
          </a:ln>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5232755" y="4002268"/>
            <a:ext cx="2544547" cy="0"/>
          </a:xfrm>
          <a:custGeom>
            <a:avLst/>
            <a:gdLst/>
            <a:ahLst/>
            <a:cxnLst/>
            <a:rect l="l" t="t" r="r" b="b"/>
            <a:pathLst>
              <a:path w="2546350">
                <a:moveTo>
                  <a:pt x="0" y="0"/>
                </a:moveTo>
                <a:lnTo>
                  <a:pt x="2545841" y="0"/>
                </a:lnTo>
              </a:path>
            </a:pathLst>
          </a:custGeom>
          <a:ln w="28575">
            <a:solidFill>
              <a:srgbClr val="808080"/>
            </a:solidFill>
            <a:prstDash val="dot"/>
          </a:ln>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4006804" y="4002268"/>
            <a:ext cx="223995" cy="0"/>
          </a:xfrm>
          <a:custGeom>
            <a:avLst/>
            <a:gdLst/>
            <a:ahLst/>
            <a:cxnLst/>
            <a:rect l="l" t="t" r="r" b="b"/>
            <a:pathLst>
              <a:path w="224154">
                <a:moveTo>
                  <a:pt x="0" y="0"/>
                </a:moveTo>
                <a:lnTo>
                  <a:pt x="224028" y="0"/>
                </a:lnTo>
              </a:path>
            </a:pathLst>
          </a:custGeom>
          <a:ln w="28575">
            <a:solidFill>
              <a:srgbClr val="808080"/>
            </a:solidFill>
            <a:prstDash val="dot"/>
          </a:ln>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1662267" y="4002268"/>
            <a:ext cx="1342708" cy="0"/>
          </a:xfrm>
          <a:custGeom>
            <a:avLst/>
            <a:gdLst/>
            <a:ahLst/>
            <a:cxnLst/>
            <a:rect l="l" t="t" r="r" b="b"/>
            <a:pathLst>
              <a:path w="1343660">
                <a:moveTo>
                  <a:pt x="0" y="0"/>
                </a:moveTo>
                <a:lnTo>
                  <a:pt x="1343406" y="0"/>
                </a:lnTo>
              </a:path>
            </a:pathLst>
          </a:custGeom>
          <a:ln w="28575">
            <a:solidFill>
              <a:srgbClr val="808080"/>
            </a:solidFill>
            <a:prstDash val="dot"/>
          </a:ln>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7663337" y="2920994"/>
            <a:ext cx="113584" cy="0"/>
          </a:xfrm>
          <a:custGeom>
            <a:avLst/>
            <a:gdLst/>
            <a:ahLst/>
            <a:cxnLst/>
            <a:rect l="l" t="t" r="r" b="b"/>
            <a:pathLst>
              <a:path w="113665">
                <a:moveTo>
                  <a:pt x="0" y="0"/>
                </a:moveTo>
                <a:lnTo>
                  <a:pt x="113537" y="0"/>
                </a:lnTo>
              </a:path>
            </a:pathLst>
          </a:custGeom>
          <a:ln w="28575">
            <a:solidFill>
              <a:srgbClr val="808080"/>
            </a:solidFill>
            <a:prstDash val="dot"/>
          </a:ln>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6463274" y="2920994"/>
            <a:ext cx="196711" cy="0"/>
          </a:xfrm>
          <a:custGeom>
            <a:avLst/>
            <a:gdLst/>
            <a:ahLst/>
            <a:cxnLst/>
            <a:rect l="l" t="t" r="r" b="b"/>
            <a:pathLst>
              <a:path w="196850">
                <a:moveTo>
                  <a:pt x="0" y="0"/>
                </a:moveTo>
                <a:lnTo>
                  <a:pt x="196596" y="0"/>
                </a:lnTo>
              </a:path>
            </a:pathLst>
          </a:custGeom>
          <a:ln w="28575">
            <a:solidFill>
              <a:srgbClr val="808080"/>
            </a:solidFill>
            <a:prstDash val="dot"/>
          </a:ln>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5232755" y="2920994"/>
            <a:ext cx="223995" cy="0"/>
          </a:xfrm>
          <a:custGeom>
            <a:avLst/>
            <a:gdLst/>
            <a:ahLst/>
            <a:cxnLst/>
            <a:rect l="l" t="t" r="r" b="b"/>
            <a:pathLst>
              <a:path w="224154">
                <a:moveTo>
                  <a:pt x="0" y="0"/>
                </a:moveTo>
                <a:lnTo>
                  <a:pt x="224027" y="0"/>
                </a:lnTo>
              </a:path>
            </a:pathLst>
          </a:custGeom>
          <a:ln w="28575">
            <a:solidFill>
              <a:srgbClr val="808080"/>
            </a:solidFill>
            <a:prstDash val="dot"/>
          </a:ln>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1662267" y="2920994"/>
            <a:ext cx="2568660" cy="0"/>
          </a:xfrm>
          <a:custGeom>
            <a:avLst/>
            <a:gdLst/>
            <a:ahLst/>
            <a:cxnLst/>
            <a:rect l="l" t="t" r="r" b="b"/>
            <a:pathLst>
              <a:path w="2570479">
                <a:moveTo>
                  <a:pt x="0" y="0"/>
                </a:moveTo>
                <a:lnTo>
                  <a:pt x="2570226" y="0"/>
                </a:lnTo>
              </a:path>
            </a:pathLst>
          </a:custGeom>
          <a:ln w="28575">
            <a:solidFill>
              <a:srgbClr val="808080"/>
            </a:solidFill>
            <a:prstDash val="dot"/>
          </a:ln>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2885172" y="1818400"/>
            <a:ext cx="0" cy="3286970"/>
          </a:xfrm>
          <a:custGeom>
            <a:avLst/>
            <a:gdLst/>
            <a:ahLst/>
            <a:cxnLst/>
            <a:rect l="l" t="t" r="r" b="b"/>
            <a:pathLst>
              <a:path h="3289300">
                <a:moveTo>
                  <a:pt x="0" y="0"/>
                </a:moveTo>
                <a:lnTo>
                  <a:pt x="0" y="3288792"/>
                </a:lnTo>
              </a:path>
            </a:pathLst>
          </a:custGeom>
          <a:ln w="28575">
            <a:solidFill>
              <a:srgbClr val="808080"/>
            </a:solidFill>
            <a:prstDash val="dot"/>
          </a:ln>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p:nvPr/>
        </p:nvSpPr>
        <p:spPr>
          <a:xfrm>
            <a:off x="4109601" y="1818400"/>
            <a:ext cx="0" cy="3286970"/>
          </a:xfrm>
          <a:custGeom>
            <a:avLst/>
            <a:gdLst/>
            <a:ahLst/>
            <a:cxnLst/>
            <a:rect l="l" t="t" r="r" b="b"/>
            <a:pathLst>
              <a:path h="3289300">
                <a:moveTo>
                  <a:pt x="0" y="0"/>
                </a:moveTo>
                <a:lnTo>
                  <a:pt x="0" y="3288792"/>
                </a:lnTo>
              </a:path>
            </a:pathLst>
          </a:custGeom>
          <a:ln w="28575">
            <a:solidFill>
              <a:srgbClr val="808080"/>
            </a:solidFill>
            <a:prstDash val="dot"/>
          </a:ln>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p:nvPr/>
        </p:nvSpPr>
        <p:spPr>
          <a:xfrm>
            <a:off x="5337076" y="1818400"/>
            <a:ext cx="0" cy="3286970"/>
          </a:xfrm>
          <a:custGeom>
            <a:avLst/>
            <a:gdLst/>
            <a:ahLst/>
            <a:cxnLst/>
            <a:rect l="l" t="t" r="r" b="b"/>
            <a:pathLst>
              <a:path h="3289300">
                <a:moveTo>
                  <a:pt x="0" y="0"/>
                </a:moveTo>
                <a:lnTo>
                  <a:pt x="0" y="3288792"/>
                </a:lnTo>
              </a:path>
            </a:pathLst>
          </a:custGeom>
          <a:ln w="28575">
            <a:solidFill>
              <a:srgbClr val="808080"/>
            </a:solidFill>
            <a:prstDash val="dot"/>
          </a:ln>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p:nvPr/>
        </p:nvSpPr>
        <p:spPr>
          <a:xfrm>
            <a:off x="6553888" y="1818400"/>
            <a:ext cx="0" cy="3286970"/>
          </a:xfrm>
          <a:custGeom>
            <a:avLst/>
            <a:gdLst/>
            <a:ahLst/>
            <a:cxnLst/>
            <a:rect l="l" t="t" r="r" b="b"/>
            <a:pathLst>
              <a:path h="3289300">
                <a:moveTo>
                  <a:pt x="0" y="0"/>
                </a:moveTo>
                <a:lnTo>
                  <a:pt x="0" y="3288792"/>
                </a:lnTo>
              </a:path>
            </a:pathLst>
          </a:custGeom>
          <a:ln w="28575">
            <a:solidFill>
              <a:srgbClr val="808080"/>
            </a:solidFill>
            <a:prstDash val="dot"/>
          </a:ln>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txBox="1"/>
          <p:nvPr/>
        </p:nvSpPr>
        <p:spPr>
          <a:xfrm>
            <a:off x="1800853" y="1553919"/>
            <a:ext cx="333139" cy="196215"/>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实时</a:t>
            </a:r>
            <a:endParaRPr sz="1200" b="1" spc="5" dirty="0">
              <a:latin typeface="微软雅黑" panose="020B0503020204020204" charset="-122"/>
              <a:ea typeface="微软雅黑" panose="020B0503020204020204" charset="-122"/>
              <a:cs typeface="微软雅黑" panose="020B0503020204020204" charset="-122"/>
            </a:endParaRPr>
          </a:p>
        </p:txBody>
      </p:sp>
      <p:sp>
        <p:nvSpPr>
          <p:cNvPr id="20" name="object 20"/>
          <p:cNvSpPr txBox="1"/>
          <p:nvPr/>
        </p:nvSpPr>
        <p:spPr>
          <a:xfrm>
            <a:off x="3155871" y="1553919"/>
            <a:ext cx="333139" cy="196215"/>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每周</a:t>
            </a:r>
            <a:endParaRPr sz="1200" b="1" spc="5" dirty="0">
              <a:latin typeface="微软雅黑" panose="020B0503020204020204" charset="-122"/>
              <a:ea typeface="微软雅黑" panose="020B0503020204020204" charset="-122"/>
              <a:cs typeface="微软雅黑" panose="020B0503020204020204" charset="-122"/>
            </a:endParaRPr>
          </a:p>
        </p:txBody>
      </p:sp>
      <p:sp>
        <p:nvSpPr>
          <p:cNvPr id="21" name="object 21"/>
          <p:cNvSpPr txBox="1"/>
          <p:nvPr/>
        </p:nvSpPr>
        <p:spPr>
          <a:xfrm>
            <a:off x="4307835" y="1553919"/>
            <a:ext cx="333139" cy="196215"/>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每月</a:t>
            </a:r>
            <a:endParaRPr sz="1200" b="1" spc="5" dirty="0">
              <a:latin typeface="微软雅黑" panose="020B0503020204020204" charset="-122"/>
              <a:ea typeface="微软雅黑" panose="020B0503020204020204" charset="-122"/>
              <a:cs typeface="微软雅黑" panose="020B0503020204020204" charset="-122"/>
            </a:endParaRPr>
          </a:p>
        </p:txBody>
      </p:sp>
      <p:sp>
        <p:nvSpPr>
          <p:cNvPr id="22" name="object 22"/>
          <p:cNvSpPr txBox="1"/>
          <p:nvPr/>
        </p:nvSpPr>
        <p:spPr>
          <a:xfrm>
            <a:off x="5451801" y="1553919"/>
            <a:ext cx="487335" cy="196215"/>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每季度</a:t>
            </a:r>
            <a:endParaRPr sz="1200" b="1" spc="5" dirty="0">
              <a:latin typeface="微软雅黑" panose="020B0503020204020204" charset="-122"/>
              <a:ea typeface="微软雅黑" panose="020B0503020204020204" charset="-122"/>
              <a:cs typeface="微软雅黑" panose="020B0503020204020204" charset="-122"/>
            </a:endParaRPr>
          </a:p>
        </p:txBody>
      </p:sp>
      <p:sp>
        <p:nvSpPr>
          <p:cNvPr id="23" name="object 23"/>
          <p:cNvSpPr txBox="1"/>
          <p:nvPr/>
        </p:nvSpPr>
        <p:spPr>
          <a:xfrm>
            <a:off x="6693998" y="1553919"/>
            <a:ext cx="333139" cy="196215"/>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每年</a:t>
            </a:r>
            <a:endParaRPr sz="1200" b="1" spc="5" dirty="0">
              <a:latin typeface="微软雅黑" panose="020B0503020204020204" charset="-122"/>
              <a:ea typeface="微软雅黑" panose="020B0503020204020204" charset="-122"/>
              <a:cs typeface="微软雅黑" panose="020B0503020204020204" charset="-122"/>
            </a:endParaRPr>
          </a:p>
        </p:txBody>
      </p:sp>
      <p:sp>
        <p:nvSpPr>
          <p:cNvPr id="24" name="object 24"/>
          <p:cNvSpPr txBox="1"/>
          <p:nvPr/>
        </p:nvSpPr>
        <p:spPr>
          <a:xfrm>
            <a:off x="596477" y="2210374"/>
            <a:ext cx="333139" cy="196215"/>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高管</a:t>
            </a:r>
            <a:endParaRPr sz="1200" b="1" spc="5" dirty="0">
              <a:latin typeface="微软雅黑" panose="020B0503020204020204" charset="-122"/>
              <a:ea typeface="微软雅黑" panose="020B0503020204020204" charset="-122"/>
              <a:cs typeface="微软雅黑" panose="020B0503020204020204" charset="-122"/>
            </a:endParaRPr>
          </a:p>
        </p:txBody>
      </p:sp>
      <p:sp>
        <p:nvSpPr>
          <p:cNvPr id="25" name="object 25"/>
          <p:cNvSpPr txBox="1"/>
          <p:nvPr/>
        </p:nvSpPr>
        <p:spPr>
          <a:xfrm>
            <a:off x="596477" y="3342209"/>
            <a:ext cx="791284" cy="196215"/>
          </a:xfrm>
          <a:prstGeom prst="rect">
            <a:avLst/>
          </a:prstGeom>
        </p:spPr>
        <p:txBody>
          <a:bodyPr vert="horz" wrap="square" lIns="0" tIns="12691" rIns="0" bIns="0" rtlCol="0">
            <a:spAutoFit/>
          </a:bodyPr>
          <a:lstStyle/>
          <a:p>
            <a:pPr marL="12700">
              <a:lnSpc>
                <a:spcPct val="100000"/>
              </a:lnSpc>
              <a:spcBef>
                <a:spcPts val="100"/>
              </a:spcBef>
            </a:pPr>
            <a:r>
              <a:rPr sz="1200" b="1" spc="5" dirty="0">
                <a:latin typeface="微软雅黑" panose="020B0503020204020204" charset="-122"/>
                <a:ea typeface="微软雅黑" panose="020B0503020204020204" charset="-122"/>
                <a:cs typeface="微软雅黑" panose="020B0503020204020204" charset="-122"/>
              </a:rPr>
              <a:t>地区管</a:t>
            </a:r>
            <a:r>
              <a:rPr sz="1200" b="1" spc="-5" dirty="0">
                <a:latin typeface="微软雅黑" panose="020B0503020204020204" charset="-122"/>
                <a:ea typeface="微软雅黑" panose="020B0503020204020204" charset="-122"/>
                <a:cs typeface="微软雅黑" panose="020B0503020204020204" charset="-122"/>
              </a:rPr>
              <a:t>理层</a:t>
            </a:r>
            <a:endParaRPr sz="1200">
              <a:latin typeface="微软雅黑" panose="020B0503020204020204" charset="-122"/>
              <a:ea typeface="微软雅黑" panose="020B0503020204020204" charset="-122"/>
              <a:cs typeface="微软雅黑" panose="020B0503020204020204" charset="-122"/>
            </a:endParaRPr>
          </a:p>
        </p:txBody>
      </p:sp>
      <p:sp>
        <p:nvSpPr>
          <p:cNvPr id="26" name="object 26"/>
          <p:cNvSpPr txBox="1"/>
          <p:nvPr/>
        </p:nvSpPr>
        <p:spPr>
          <a:xfrm>
            <a:off x="596477" y="4110014"/>
            <a:ext cx="943575" cy="365760"/>
          </a:xfrm>
          <a:prstGeom prst="rect">
            <a:avLst/>
          </a:prstGeom>
        </p:spPr>
        <p:txBody>
          <a:bodyPr vert="horz" wrap="square" lIns="0" tIns="32995" rIns="0" bIns="0" rtlCol="0">
            <a:spAutoFit/>
          </a:bodyPr>
          <a:lstStyle/>
          <a:p>
            <a:pPr marL="12700" marR="5080">
              <a:lnSpc>
                <a:spcPts val="1300"/>
              </a:lnSpc>
              <a:spcBef>
                <a:spcPts val="260"/>
              </a:spcBef>
            </a:pPr>
            <a:r>
              <a:rPr sz="1200" b="1" spc="5" dirty="0">
                <a:latin typeface="微软雅黑" panose="020B0503020204020204" charset="-122"/>
                <a:ea typeface="微软雅黑" panose="020B0503020204020204" charset="-122"/>
                <a:cs typeface="微软雅黑" panose="020B0503020204020204" charset="-122"/>
              </a:rPr>
              <a:t>一线管</a:t>
            </a:r>
            <a:r>
              <a:rPr sz="1200" b="1" spc="-5" dirty="0">
                <a:latin typeface="微软雅黑" panose="020B0503020204020204" charset="-122"/>
                <a:ea typeface="微软雅黑" panose="020B0503020204020204" charset="-122"/>
                <a:cs typeface="微软雅黑" panose="020B0503020204020204" charset="-122"/>
              </a:rPr>
              <a:t>理层和 </a:t>
            </a:r>
            <a:r>
              <a:rPr sz="1200" b="1" spc="5" dirty="0">
                <a:latin typeface="微软雅黑" panose="020B0503020204020204" charset="-122"/>
                <a:ea typeface="微软雅黑" panose="020B0503020204020204" charset="-122"/>
                <a:cs typeface="微软雅黑" panose="020B0503020204020204" charset="-122"/>
              </a:rPr>
              <a:t>销售</a:t>
            </a:r>
            <a:endParaRPr sz="1200">
              <a:latin typeface="微软雅黑" panose="020B0503020204020204" charset="-122"/>
              <a:ea typeface="微软雅黑" panose="020B0503020204020204" charset="-122"/>
              <a:cs typeface="微软雅黑" panose="020B0503020204020204" charset="-122"/>
            </a:endParaRPr>
          </a:p>
        </p:txBody>
      </p:sp>
      <p:sp>
        <p:nvSpPr>
          <p:cNvPr id="27" name="object 27"/>
          <p:cNvSpPr txBox="1"/>
          <p:nvPr/>
        </p:nvSpPr>
        <p:spPr>
          <a:xfrm>
            <a:off x="596477" y="5122503"/>
            <a:ext cx="943575" cy="365760"/>
          </a:xfrm>
          <a:prstGeom prst="rect">
            <a:avLst/>
          </a:prstGeom>
        </p:spPr>
        <p:txBody>
          <a:bodyPr vert="horz" wrap="square" lIns="0" tIns="32995" rIns="0" bIns="0" rtlCol="0">
            <a:spAutoFit/>
          </a:bodyPr>
          <a:lstStyle/>
          <a:p>
            <a:pPr marL="12700" marR="5080">
              <a:lnSpc>
                <a:spcPts val="1300"/>
              </a:lnSpc>
              <a:spcBef>
                <a:spcPts val="260"/>
              </a:spcBef>
            </a:pPr>
            <a:r>
              <a:rPr sz="1200" b="1" spc="5" dirty="0">
                <a:latin typeface="微软雅黑" panose="020B0503020204020204" charset="-122"/>
                <a:ea typeface="微软雅黑" panose="020B0503020204020204" charset="-122"/>
                <a:cs typeface="微软雅黑" panose="020B0503020204020204" charset="-122"/>
              </a:rPr>
              <a:t>对照关</a:t>
            </a:r>
            <a:r>
              <a:rPr sz="1200" b="1" spc="-5" dirty="0">
                <a:latin typeface="微软雅黑" panose="020B0503020204020204" charset="-122"/>
                <a:ea typeface="微软雅黑" panose="020B0503020204020204" charset="-122"/>
                <a:cs typeface="微软雅黑" panose="020B0503020204020204" charset="-122"/>
              </a:rPr>
              <a:t>键业绩 </a:t>
            </a:r>
            <a:r>
              <a:rPr sz="1200" b="1" spc="5" dirty="0">
                <a:latin typeface="微软雅黑" panose="020B0503020204020204" charset="-122"/>
                <a:ea typeface="微软雅黑" panose="020B0503020204020204" charset="-122"/>
                <a:cs typeface="微软雅黑" panose="020B0503020204020204" charset="-122"/>
              </a:rPr>
              <a:t>指标监</a:t>
            </a:r>
            <a:r>
              <a:rPr sz="1200" b="1" spc="-5" dirty="0">
                <a:latin typeface="微软雅黑" panose="020B0503020204020204" charset="-122"/>
                <a:ea typeface="微软雅黑" panose="020B0503020204020204" charset="-122"/>
                <a:cs typeface="微软雅黑" panose="020B0503020204020204" charset="-122"/>
              </a:rPr>
              <a:t>督业绩</a:t>
            </a:r>
            <a:endParaRPr sz="1200">
              <a:latin typeface="微软雅黑" panose="020B0503020204020204" charset="-122"/>
              <a:ea typeface="微软雅黑" panose="020B0503020204020204" charset="-122"/>
              <a:cs typeface="微软雅黑" panose="020B0503020204020204" charset="-122"/>
            </a:endParaRPr>
          </a:p>
        </p:txBody>
      </p:sp>
      <p:sp>
        <p:nvSpPr>
          <p:cNvPr id="28" name="object 28"/>
          <p:cNvSpPr txBox="1"/>
          <p:nvPr/>
        </p:nvSpPr>
        <p:spPr>
          <a:xfrm>
            <a:off x="2978071" y="5139255"/>
            <a:ext cx="979111" cy="381635"/>
          </a:xfrm>
          <a:prstGeom prst="rect">
            <a:avLst/>
          </a:prstGeom>
        </p:spPr>
        <p:txBody>
          <a:bodyPr vert="horz" wrap="square" lIns="0" tIns="10787" rIns="0" bIns="0" rtlCol="0">
            <a:spAutoFit/>
          </a:bodyPr>
          <a:lstStyle/>
          <a:p>
            <a:pPr marL="204470" marR="5080" indent="-192405">
              <a:lnSpc>
                <a:spcPct val="101000"/>
              </a:lnSpc>
              <a:spcBef>
                <a:spcPts val="85"/>
              </a:spcBef>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总销售时间 与销售开支</a:t>
            </a:r>
            <a:endParaRPr sz="1200" dirty="0">
              <a:latin typeface="微软雅黑" panose="020B0503020204020204" charset="-122"/>
              <a:ea typeface="微软雅黑" panose="020B0503020204020204" charset="-122"/>
              <a:cs typeface="微软雅黑" panose="020B0503020204020204" charset="-122"/>
            </a:endParaRPr>
          </a:p>
        </p:txBody>
      </p:sp>
      <p:sp>
        <p:nvSpPr>
          <p:cNvPr id="29" name="object 29"/>
          <p:cNvSpPr txBox="1"/>
          <p:nvPr/>
        </p:nvSpPr>
        <p:spPr>
          <a:xfrm>
            <a:off x="4145771" y="5140778"/>
            <a:ext cx="1131403" cy="750570"/>
          </a:xfrm>
          <a:prstGeom prst="rect">
            <a:avLst/>
          </a:prstGeom>
        </p:spPr>
        <p:txBody>
          <a:bodyPr vert="horz" wrap="square" lIns="0" tIns="12691" rIns="0" bIns="0" rtlCol="0">
            <a:spAutoFit/>
          </a:bodyPr>
          <a:lstStyle/>
          <a:p>
            <a:pPr marL="204470" marR="114300" indent="-192405">
              <a:lnSpc>
                <a:spcPct val="100000"/>
              </a:lnSpc>
              <a:spcBef>
                <a:spcPts val="100"/>
              </a:spcBef>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各客户</a:t>
            </a:r>
            <a:r>
              <a:rPr sz="1200" dirty="0">
                <a:latin typeface="微软雅黑" panose="020B0503020204020204" charset="-122"/>
                <a:ea typeface="微软雅黑" panose="020B0503020204020204" charset="-122"/>
                <a:cs typeface="微软雅黑" panose="020B0503020204020204" charset="-122"/>
              </a:rPr>
              <a:t>/产品 的落袋利润</a:t>
            </a:r>
            <a:endParaRPr sz="1200">
              <a:latin typeface="微软雅黑" panose="020B0503020204020204" charset="-122"/>
              <a:ea typeface="微软雅黑" panose="020B0503020204020204" charset="-122"/>
              <a:cs typeface="微软雅黑" panose="020B0503020204020204" charset="-122"/>
            </a:endParaRPr>
          </a:p>
          <a:p>
            <a:pPr marL="204470" indent="-192405">
              <a:lnSpc>
                <a:spcPct val="100000"/>
              </a:lnSpc>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产品组合改善</a:t>
            </a:r>
            <a:endParaRPr sz="1200">
              <a:latin typeface="微软雅黑" panose="020B0503020204020204" charset="-122"/>
              <a:ea typeface="微软雅黑" panose="020B0503020204020204" charset="-122"/>
              <a:cs typeface="微软雅黑" panose="020B0503020204020204" charset="-122"/>
            </a:endParaRPr>
          </a:p>
          <a:p>
            <a:pPr marL="204470" indent="-192405">
              <a:lnSpc>
                <a:spcPct val="100000"/>
              </a:lnSpc>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客户新销量</a:t>
            </a:r>
            <a:endParaRPr sz="1200">
              <a:latin typeface="微软雅黑" panose="020B0503020204020204" charset="-122"/>
              <a:ea typeface="微软雅黑" panose="020B0503020204020204" charset="-122"/>
              <a:cs typeface="微软雅黑" panose="020B0503020204020204" charset="-122"/>
            </a:endParaRPr>
          </a:p>
        </p:txBody>
      </p:sp>
      <p:sp>
        <p:nvSpPr>
          <p:cNvPr id="30" name="object 30"/>
          <p:cNvSpPr txBox="1"/>
          <p:nvPr/>
        </p:nvSpPr>
        <p:spPr>
          <a:xfrm>
            <a:off x="5358016" y="5139255"/>
            <a:ext cx="1131403" cy="749935"/>
          </a:xfrm>
          <a:prstGeom prst="rect">
            <a:avLst/>
          </a:prstGeom>
        </p:spPr>
        <p:txBody>
          <a:bodyPr vert="horz" wrap="square" lIns="0" tIns="12056" rIns="0" bIns="0" rtlCol="0">
            <a:spAutoFit/>
          </a:bodyPr>
          <a:lstStyle/>
          <a:p>
            <a:pPr marL="204470" marR="5080" indent="-192405" algn="just">
              <a:lnSpc>
                <a:spcPct val="100000"/>
              </a:lnSpc>
              <a:spcBef>
                <a:spcPts val="95"/>
              </a:spcBef>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高利润领域上 的精力与时间 分配</a:t>
            </a:r>
            <a:endParaRPr sz="1200">
              <a:latin typeface="微软雅黑" panose="020B0503020204020204" charset="-122"/>
              <a:ea typeface="微软雅黑" panose="020B0503020204020204" charset="-122"/>
              <a:cs typeface="微软雅黑" panose="020B0503020204020204" charset="-122"/>
            </a:endParaRPr>
          </a:p>
          <a:p>
            <a:pPr marL="204470" indent="-192405" algn="just">
              <a:lnSpc>
                <a:spcPct val="100000"/>
              </a:lnSpc>
              <a:buClr>
                <a:srgbClr val="00295F"/>
              </a:buClr>
              <a:buSzPct val="125000"/>
              <a:buFont typeface="Arial" panose="020B0604020202020204"/>
              <a:buChar char="▪"/>
              <a:tabLst>
                <a:tab pos="204470" algn="l"/>
              </a:tabLst>
            </a:pPr>
            <a:r>
              <a:rPr sz="1200" dirty="0">
                <a:latin typeface="微软雅黑" panose="020B0503020204020204" charset="-122"/>
                <a:ea typeface="微软雅黑" panose="020B0503020204020204" charset="-122"/>
                <a:cs typeface="微软雅黑" panose="020B0503020204020204" charset="-122"/>
              </a:rPr>
              <a:t>猎寻新客户</a:t>
            </a:r>
            <a:endParaRPr sz="1200">
              <a:latin typeface="微软雅黑" panose="020B0503020204020204" charset="-122"/>
              <a:ea typeface="微软雅黑" panose="020B0503020204020204" charset="-122"/>
              <a:cs typeface="微软雅黑" panose="020B0503020204020204" charset="-122"/>
            </a:endParaRPr>
          </a:p>
        </p:txBody>
      </p:sp>
      <p:sp>
        <p:nvSpPr>
          <p:cNvPr id="31" name="object 31"/>
          <p:cNvSpPr txBox="1"/>
          <p:nvPr/>
        </p:nvSpPr>
        <p:spPr>
          <a:xfrm>
            <a:off x="6576732" y="5140778"/>
            <a:ext cx="1224047" cy="935355"/>
          </a:xfrm>
          <a:prstGeom prst="rect">
            <a:avLst/>
          </a:prstGeom>
        </p:spPr>
        <p:txBody>
          <a:bodyPr vert="horz" wrap="square" lIns="0" tIns="12691" rIns="0" bIns="0" rtlCol="0">
            <a:spAutoFit/>
          </a:bodyPr>
          <a:lstStyle/>
          <a:p>
            <a:pPr marL="204470" indent="-192405">
              <a:lnSpc>
                <a:spcPct val="100000"/>
              </a:lnSpc>
              <a:spcBef>
                <a:spcPts val="100"/>
              </a:spcBef>
              <a:buClr>
                <a:srgbClr val="00295F"/>
              </a:buClr>
              <a:buSzPct val="125000"/>
              <a:buChar char="▪"/>
              <a:tabLst>
                <a:tab pos="204470" algn="l"/>
              </a:tabLst>
            </a:pPr>
            <a:r>
              <a:rPr sz="1200" spc="-5" dirty="0">
                <a:latin typeface="微软雅黑" panose="020B0503020204020204" charset="-122"/>
                <a:ea typeface="微软雅黑" panose="020B0503020204020204" charset="-122"/>
                <a:cs typeface="微软雅黑" panose="020B0503020204020204" charset="-122"/>
              </a:rPr>
              <a:t>ABC</a:t>
            </a:r>
            <a:r>
              <a:rPr sz="1200" spc="-10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资源分配</a:t>
            </a:r>
            <a:endParaRPr sz="1200">
              <a:latin typeface="微软雅黑" panose="020B0503020204020204" charset="-122"/>
              <a:ea typeface="微软雅黑" panose="020B0503020204020204" charset="-122"/>
              <a:cs typeface="微软雅黑" panose="020B0503020204020204" charset="-122"/>
            </a:endParaRPr>
          </a:p>
          <a:p>
            <a:pPr marL="204470" indent="-192405">
              <a:lnSpc>
                <a:spcPct val="100000"/>
              </a:lnSpc>
              <a:buClr>
                <a:srgbClr val="00295F"/>
              </a:buClr>
              <a:buSzPct val="125000"/>
              <a:buChar char="▪"/>
              <a:tabLst>
                <a:tab pos="204470" algn="l"/>
              </a:tabLst>
            </a:pPr>
            <a:r>
              <a:rPr sz="1200" spc="-5" dirty="0">
                <a:latin typeface="微软雅黑" panose="020B0503020204020204" charset="-122"/>
                <a:ea typeface="微软雅黑" panose="020B0503020204020204" charset="-122"/>
                <a:cs typeface="微软雅黑" panose="020B0503020204020204" charset="-122"/>
              </a:rPr>
              <a:t>ABC</a:t>
            </a:r>
            <a:r>
              <a:rPr sz="1200" spc="-10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损失利润</a:t>
            </a:r>
            <a:endParaRPr sz="1200">
              <a:latin typeface="微软雅黑" panose="020B0503020204020204" charset="-122"/>
              <a:ea typeface="微软雅黑" panose="020B0503020204020204" charset="-122"/>
              <a:cs typeface="微软雅黑" panose="020B0503020204020204" charset="-122"/>
            </a:endParaRPr>
          </a:p>
          <a:p>
            <a:pPr marL="204470" marR="5080" indent="-192405">
              <a:lnSpc>
                <a:spcPct val="100000"/>
              </a:lnSpc>
              <a:buClr>
                <a:srgbClr val="00295F"/>
              </a:buClr>
              <a:buSzPct val="125000"/>
              <a:buChar char="▪"/>
              <a:tabLst>
                <a:tab pos="204470" algn="l"/>
              </a:tabLst>
            </a:pPr>
            <a:r>
              <a:rPr sz="1200" spc="-5" dirty="0">
                <a:latin typeface="微软雅黑" panose="020B0503020204020204" charset="-122"/>
                <a:ea typeface="微软雅黑" panose="020B0503020204020204" charset="-122"/>
                <a:cs typeface="微软雅黑" panose="020B0503020204020204" charset="-122"/>
              </a:rPr>
              <a:t>ABC</a:t>
            </a:r>
            <a:r>
              <a:rPr sz="1200" spc="-90" dirty="0">
                <a:latin typeface="微软雅黑" panose="020B0503020204020204" charset="-122"/>
                <a:ea typeface="微软雅黑" panose="020B0503020204020204" charset="-122"/>
                <a:cs typeface="微软雅黑" panose="020B0503020204020204" charset="-122"/>
              </a:rPr>
              <a:t> </a:t>
            </a:r>
            <a:r>
              <a:rPr sz="1200" dirty="0">
                <a:latin typeface="微软雅黑" panose="020B0503020204020204" charset="-122"/>
                <a:ea typeface="微软雅黑" panose="020B0503020204020204" charset="-122"/>
                <a:cs typeface="微软雅黑" panose="020B0503020204020204" charset="-122"/>
              </a:rPr>
              <a:t>销售时间</a:t>
            </a:r>
            <a:r>
              <a:rPr sz="1200" dirty="0">
                <a:latin typeface="微软雅黑" panose="020B0503020204020204" charset="-122"/>
                <a:ea typeface="微软雅黑" panose="020B0503020204020204" charset="-122"/>
                <a:cs typeface="微软雅黑" panose="020B0503020204020204" charset="-122"/>
              </a:rPr>
              <a:t>/  利润</a:t>
            </a:r>
            <a:endParaRPr sz="1200">
              <a:latin typeface="微软雅黑" panose="020B0503020204020204" charset="-122"/>
              <a:ea typeface="微软雅黑" panose="020B0503020204020204" charset="-122"/>
              <a:cs typeface="微软雅黑" panose="020B0503020204020204" charset="-122"/>
            </a:endParaRPr>
          </a:p>
          <a:p>
            <a:pPr marL="239395" indent="-227330">
              <a:lnSpc>
                <a:spcPct val="100000"/>
              </a:lnSpc>
              <a:buClr>
                <a:srgbClr val="00295F"/>
              </a:buClr>
              <a:buSzPct val="125000"/>
              <a:buChar char="▪"/>
              <a:tabLst>
                <a:tab pos="239395" algn="l"/>
                <a:tab pos="239395" algn="l"/>
              </a:tabLst>
            </a:pPr>
            <a:r>
              <a:rPr sz="1200" dirty="0">
                <a:latin typeface="微软雅黑" panose="020B0503020204020204" charset="-122"/>
                <a:ea typeface="微软雅黑" panose="020B0503020204020204" charset="-122"/>
                <a:cs typeface="微软雅黑" panose="020B0503020204020204" charset="-122"/>
              </a:rPr>
              <a:t>ABC</a:t>
            </a:r>
            <a:r>
              <a:rPr sz="1200" spc="-70" dirty="0">
                <a:latin typeface="微软雅黑" panose="020B0503020204020204" charset="-122"/>
                <a:ea typeface="微软雅黑" panose="020B0503020204020204" charset="-122"/>
                <a:cs typeface="微软雅黑" panose="020B0503020204020204" charset="-122"/>
              </a:rPr>
              <a:t> </a:t>
            </a:r>
            <a:r>
              <a:rPr sz="1200" spc="-5" dirty="0">
                <a:latin typeface="微软雅黑" panose="020B0503020204020204" charset="-122"/>
                <a:ea typeface="微软雅黑" panose="020B0503020204020204" charset="-122"/>
                <a:cs typeface="微软雅黑" panose="020B0503020204020204" charset="-122"/>
              </a:rPr>
              <a:t>销售技能</a:t>
            </a:r>
            <a:endParaRPr sz="1200">
              <a:latin typeface="微软雅黑" panose="020B0503020204020204" charset="-122"/>
              <a:ea typeface="微软雅黑" panose="020B0503020204020204" charset="-122"/>
              <a:cs typeface="微软雅黑" panose="020B0503020204020204" charset="-122"/>
            </a:endParaRPr>
          </a:p>
        </p:txBody>
      </p:sp>
      <p:sp>
        <p:nvSpPr>
          <p:cNvPr id="32" name="object 32"/>
          <p:cNvSpPr/>
          <p:nvPr/>
        </p:nvSpPr>
        <p:spPr>
          <a:xfrm>
            <a:off x="4230673" y="3489805"/>
            <a:ext cx="1002589" cy="845220"/>
          </a:xfrm>
          <a:custGeom>
            <a:avLst/>
            <a:gdLst/>
            <a:ahLst/>
            <a:cxnLst/>
            <a:rect l="l" t="t" r="r" b="b"/>
            <a:pathLst>
              <a:path w="1003300" h="845820">
                <a:moveTo>
                  <a:pt x="0" y="845819"/>
                </a:moveTo>
                <a:lnTo>
                  <a:pt x="1002791" y="845819"/>
                </a:lnTo>
                <a:lnTo>
                  <a:pt x="1002791" y="0"/>
                </a:lnTo>
                <a:lnTo>
                  <a:pt x="0" y="0"/>
                </a:lnTo>
                <a:lnTo>
                  <a:pt x="0" y="84581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3" name="object 33"/>
          <p:cNvSpPr/>
          <p:nvPr/>
        </p:nvSpPr>
        <p:spPr>
          <a:xfrm>
            <a:off x="4230673" y="3489805"/>
            <a:ext cx="1002589" cy="845220"/>
          </a:xfrm>
          <a:custGeom>
            <a:avLst/>
            <a:gdLst/>
            <a:ahLst/>
            <a:cxnLst/>
            <a:rect l="l" t="t" r="r" b="b"/>
            <a:pathLst>
              <a:path w="1003300" h="845820">
                <a:moveTo>
                  <a:pt x="0" y="845819"/>
                </a:moveTo>
                <a:lnTo>
                  <a:pt x="1002791" y="845819"/>
                </a:lnTo>
                <a:lnTo>
                  <a:pt x="1002791" y="0"/>
                </a:lnTo>
                <a:lnTo>
                  <a:pt x="0" y="0"/>
                </a:lnTo>
                <a:lnTo>
                  <a:pt x="0" y="845819"/>
                </a:lnTo>
                <a:close/>
              </a:path>
            </a:pathLst>
          </a:custGeom>
          <a:ln w="9525">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4" name="object 34"/>
          <p:cNvSpPr/>
          <p:nvPr/>
        </p:nvSpPr>
        <p:spPr>
          <a:xfrm>
            <a:off x="6659732" y="1814592"/>
            <a:ext cx="1003858" cy="680872"/>
          </a:xfrm>
          <a:custGeom>
            <a:avLst/>
            <a:gdLst/>
            <a:ahLst/>
            <a:cxnLst/>
            <a:rect l="l" t="t" r="r" b="b"/>
            <a:pathLst>
              <a:path w="1004570" h="681355">
                <a:moveTo>
                  <a:pt x="0" y="681227"/>
                </a:moveTo>
                <a:lnTo>
                  <a:pt x="1004316" y="681227"/>
                </a:lnTo>
                <a:lnTo>
                  <a:pt x="1004316" y="0"/>
                </a:lnTo>
                <a:lnTo>
                  <a:pt x="0" y="0"/>
                </a:lnTo>
                <a:lnTo>
                  <a:pt x="0" y="681227"/>
                </a:lnTo>
                <a:close/>
              </a:path>
            </a:pathLst>
          </a:custGeom>
          <a:ln w="9525">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5" name="object 35"/>
          <p:cNvSpPr txBox="1"/>
          <p:nvPr/>
        </p:nvSpPr>
        <p:spPr>
          <a:xfrm>
            <a:off x="1801615" y="4057854"/>
            <a:ext cx="1003858" cy="417830"/>
          </a:xfrm>
          <a:prstGeom prst="rect">
            <a:avLst/>
          </a:prstGeom>
          <a:solidFill>
            <a:srgbClr val="C6DFFA"/>
          </a:solidFill>
          <a:ln w="9525">
            <a:solidFill>
              <a:srgbClr val="FFFFFF"/>
            </a:solidFill>
          </a:ln>
        </p:spPr>
        <p:txBody>
          <a:bodyPr vert="horz" wrap="square" lIns="0" tIns="85029" rIns="0" bIns="0" rtlCol="0">
            <a:spAutoFit/>
          </a:bodyPr>
          <a:lstStyle/>
          <a:p>
            <a:pPr marL="33655" marR="47625">
              <a:lnSpc>
                <a:spcPts val="1300"/>
              </a:lnSpc>
              <a:spcBef>
                <a:spcPts val="670"/>
              </a:spcBef>
            </a:pPr>
            <a:r>
              <a:rPr sz="1200" dirty="0">
                <a:latin typeface="微软雅黑" panose="020B0503020204020204" charset="-122"/>
                <a:ea typeface="微软雅黑" panose="020B0503020204020204" charset="-122"/>
                <a:cs typeface="微软雅黑" panose="020B0503020204020204" charset="-122"/>
              </a:rPr>
              <a:t>每日销售活动 计划</a:t>
            </a:r>
            <a:endParaRPr sz="1200" dirty="0">
              <a:latin typeface="微软雅黑" panose="020B0503020204020204" charset="-122"/>
              <a:ea typeface="微软雅黑" panose="020B0503020204020204" charset="-122"/>
              <a:cs typeface="微软雅黑" panose="020B0503020204020204" charset="-122"/>
            </a:endParaRPr>
          </a:p>
        </p:txBody>
      </p:sp>
      <p:sp>
        <p:nvSpPr>
          <p:cNvPr id="36" name="object 36"/>
          <p:cNvSpPr txBox="1"/>
          <p:nvPr/>
        </p:nvSpPr>
        <p:spPr>
          <a:xfrm>
            <a:off x="2994252" y="4278868"/>
            <a:ext cx="993071" cy="187325"/>
          </a:xfrm>
          <a:prstGeom prst="rect">
            <a:avLst/>
          </a:prstGeom>
          <a:solidFill>
            <a:srgbClr val="C6DFFA"/>
          </a:solidFill>
        </p:spPr>
        <p:txBody>
          <a:bodyPr vert="horz" wrap="square" lIns="0" tIns="3807" rIns="0" bIns="0" rtlCol="0">
            <a:spAutoFit/>
          </a:bodyPr>
          <a:lstStyle/>
          <a:p>
            <a:pPr marL="29845">
              <a:lnSpc>
                <a:spcPct val="100000"/>
              </a:lnSpc>
              <a:spcBef>
                <a:spcPts val="30"/>
              </a:spcBef>
            </a:pPr>
            <a:r>
              <a:rPr sz="1200" dirty="0">
                <a:latin typeface="微软雅黑" panose="020B0503020204020204" charset="-122"/>
                <a:ea typeface="微软雅黑" panose="020B0503020204020204" charset="-122"/>
                <a:cs typeface="微软雅黑" panose="020B0503020204020204" charset="-122"/>
              </a:rPr>
              <a:t>大客户管理关</a:t>
            </a:r>
            <a:endParaRPr sz="1200" dirty="0">
              <a:latin typeface="微软雅黑" panose="020B0503020204020204" charset="-122"/>
              <a:ea typeface="微软雅黑" panose="020B0503020204020204" charset="-122"/>
              <a:cs typeface="微软雅黑" panose="020B0503020204020204" charset="-122"/>
            </a:endParaRPr>
          </a:p>
        </p:txBody>
      </p:sp>
      <p:sp>
        <p:nvSpPr>
          <p:cNvPr id="37" name="object 37"/>
          <p:cNvSpPr txBox="1"/>
          <p:nvPr/>
        </p:nvSpPr>
        <p:spPr>
          <a:xfrm>
            <a:off x="2994252" y="4466278"/>
            <a:ext cx="993071" cy="165100"/>
          </a:xfrm>
          <a:prstGeom prst="rect">
            <a:avLst/>
          </a:prstGeom>
          <a:solidFill>
            <a:srgbClr val="C6DFFA"/>
          </a:solidFill>
        </p:spPr>
        <p:txBody>
          <a:bodyPr vert="horz" wrap="square" lIns="0" tIns="0" rIns="0" bIns="0" rtlCol="0">
            <a:spAutoFit/>
          </a:bodyPr>
          <a:lstStyle/>
          <a:p>
            <a:pPr marL="29845">
              <a:lnSpc>
                <a:spcPts val="1290"/>
              </a:lnSpc>
            </a:pPr>
            <a:r>
              <a:rPr sz="1200" spc="-5" dirty="0">
                <a:latin typeface="微软雅黑" panose="020B0503020204020204" charset="-122"/>
                <a:ea typeface="微软雅黑" panose="020B0503020204020204" charset="-122"/>
                <a:cs typeface="微软雅黑" panose="020B0503020204020204" charset="-122"/>
              </a:rPr>
              <a:t>键业绩指标板</a:t>
            </a:r>
            <a:endParaRPr sz="1200" spc="-5" dirty="0">
              <a:latin typeface="微软雅黑" panose="020B0503020204020204" charset="-122"/>
              <a:ea typeface="微软雅黑" panose="020B0503020204020204" charset="-122"/>
              <a:cs typeface="微软雅黑" panose="020B0503020204020204" charset="-122"/>
            </a:endParaRPr>
          </a:p>
        </p:txBody>
      </p:sp>
      <p:sp>
        <p:nvSpPr>
          <p:cNvPr id="38" name="object 38"/>
          <p:cNvSpPr txBox="1"/>
          <p:nvPr/>
        </p:nvSpPr>
        <p:spPr>
          <a:xfrm>
            <a:off x="3004722" y="3723714"/>
            <a:ext cx="1002589" cy="363220"/>
          </a:xfrm>
          <a:prstGeom prst="rect">
            <a:avLst/>
          </a:prstGeom>
          <a:solidFill>
            <a:srgbClr val="C6DFFA"/>
          </a:solidFill>
          <a:ln w="9525">
            <a:solidFill>
              <a:srgbClr val="FFFFFF"/>
            </a:solidFill>
          </a:ln>
        </p:spPr>
        <p:txBody>
          <a:bodyPr vert="horz" wrap="square" lIns="0" tIns="30458" rIns="0" bIns="0" rtlCol="0">
            <a:spAutoFit/>
          </a:bodyPr>
          <a:lstStyle/>
          <a:p>
            <a:pPr marL="27305" marR="53975">
              <a:lnSpc>
                <a:spcPts val="1300"/>
              </a:lnSpc>
              <a:spcBef>
                <a:spcPts val="240"/>
              </a:spcBef>
            </a:pPr>
            <a:r>
              <a:rPr sz="1200" dirty="0">
                <a:latin typeface="微软雅黑" panose="020B0503020204020204" charset="-122"/>
                <a:ea typeface="微软雅黑" panose="020B0503020204020204" charset="-122"/>
                <a:cs typeface="微软雅黑" panose="020B0503020204020204" charset="-122"/>
              </a:rPr>
              <a:t>大客户销售新 报</a:t>
            </a:r>
            <a:endParaRPr sz="1200" dirty="0">
              <a:latin typeface="微软雅黑" panose="020B0503020204020204" charset="-122"/>
              <a:ea typeface="微软雅黑" panose="020B0503020204020204" charset="-122"/>
              <a:cs typeface="微软雅黑" panose="020B0503020204020204" charset="-122"/>
            </a:endParaRPr>
          </a:p>
        </p:txBody>
      </p:sp>
      <p:sp>
        <p:nvSpPr>
          <p:cNvPr id="39" name="object 39"/>
          <p:cNvSpPr txBox="1"/>
          <p:nvPr/>
        </p:nvSpPr>
        <p:spPr>
          <a:xfrm>
            <a:off x="4230673" y="2920994"/>
            <a:ext cx="1002589" cy="361315"/>
          </a:xfrm>
          <a:prstGeom prst="rect">
            <a:avLst/>
          </a:prstGeom>
          <a:solidFill>
            <a:srgbClr val="C6DFFA"/>
          </a:solidFill>
          <a:ln w="9525">
            <a:solidFill>
              <a:srgbClr val="FFFFFF"/>
            </a:solidFill>
          </a:ln>
        </p:spPr>
        <p:txBody>
          <a:bodyPr vert="horz" wrap="square" lIns="0" tIns="28554" rIns="0" bIns="0" rtlCol="0">
            <a:spAutoFit/>
          </a:bodyPr>
          <a:lstStyle/>
          <a:p>
            <a:pPr marL="52705" marR="27305">
              <a:lnSpc>
                <a:spcPts val="1300"/>
              </a:lnSpc>
              <a:spcBef>
                <a:spcPts val="225"/>
              </a:spcBef>
            </a:pPr>
            <a:r>
              <a:rPr sz="1200" dirty="0">
                <a:latin typeface="微软雅黑" panose="020B0503020204020204" charset="-122"/>
                <a:ea typeface="微软雅黑" panose="020B0503020204020204" charset="-122"/>
                <a:cs typeface="微软雅黑" panose="020B0503020204020204" charset="-122"/>
              </a:rPr>
              <a:t>大客户规划审 核与辅导</a:t>
            </a:r>
            <a:endParaRPr sz="1200" dirty="0">
              <a:latin typeface="微软雅黑" panose="020B0503020204020204" charset="-122"/>
              <a:ea typeface="微软雅黑" panose="020B0503020204020204" charset="-122"/>
              <a:cs typeface="微软雅黑" panose="020B0503020204020204" charset="-122"/>
            </a:endParaRPr>
          </a:p>
        </p:txBody>
      </p:sp>
      <p:sp>
        <p:nvSpPr>
          <p:cNvPr id="40" name="object 40"/>
          <p:cNvSpPr txBox="1"/>
          <p:nvPr/>
        </p:nvSpPr>
        <p:spPr>
          <a:xfrm>
            <a:off x="4235432" y="3494564"/>
            <a:ext cx="993071" cy="229870"/>
          </a:xfrm>
          <a:prstGeom prst="rect">
            <a:avLst/>
          </a:prstGeom>
          <a:solidFill>
            <a:srgbClr val="C6DFFA"/>
          </a:solidFill>
        </p:spPr>
        <p:txBody>
          <a:bodyPr vert="horz" wrap="square" lIns="0" tIns="67896" rIns="0" bIns="0" rtlCol="0">
            <a:spAutoFit/>
          </a:bodyPr>
          <a:lstStyle/>
          <a:p>
            <a:pPr marL="8890">
              <a:lnSpc>
                <a:spcPts val="1270"/>
              </a:lnSpc>
              <a:spcBef>
                <a:spcPts val="535"/>
              </a:spcBef>
            </a:pPr>
            <a:r>
              <a:rPr sz="1200" dirty="0">
                <a:latin typeface="微软雅黑" panose="020B0503020204020204" charset="-122"/>
                <a:ea typeface="微软雅黑" panose="020B0503020204020204" charset="-122"/>
                <a:cs typeface="微软雅黑" panose="020B0503020204020204" charset="-122"/>
              </a:rPr>
              <a:t>大客户管理评</a:t>
            </a:r>
            <a:endParaRPr sz="1200" dirty="0">
              <a:latin typeface="微软雅黑" panose="020B0503020204020204" charset="-122"/>
              <a:ea typeface="微软雅黑" panose="020B0503020204020204" charset="-122"/>
              <a:cs typeface="微软雅黑" panose="020B0503020204020204" charset="-122"/>
            </a:endParaRPr>
          </a:p>
        </p:txBody>
      </p:sp>
      <p:sp>
        <p:nvSpPr>
          <p:cNvPr id="41" name="object 41"/>
          <p:cNvSpPr txBox="1"/>
          <p:nvPr/>
        </p:nvSpPr>
        <p:spPr>
          <a:xfrm>
            <a:off x="4235432" y="3723714"/>
            <a:ext cx="993071" cy="186690"/>
          </a:xfrm>
          <a:prstGeom prst="rect">
            <a:avLst/>
          </a:prstGeom>
          <a:solidFill>
            <a:srgbClr val="C6DFFA"/>
          </a:solidFill>
        </p:spPr>
        <p:txBody>
          <a:bodyPr vert="horz" wrap="square" lIns="0" tIns="3172" rIns="0" bIns="0" rtlCol="0">
            <a:spAutoFit/>
          </a:bodyPr>
          <a:lstStyle/>
          <a:p>
            <a:pPr marL="8890">
              <a:lnSpc>
                <a:spcPct val="100000"/>
              </a:lnSpc>
              <a:spcBef>
                <a:spcPts val="25"/>
              </a:spcBef>
            </a:pPr>
            <a:r>
              <a:rPr sz="1200" spc="-5" dirty="0">
                <a:latin typeface="微软雅黑" panose="020B0503020204020204" charset="-122"/>
                <a:ea typeface="微软雅黑" panose="020B0503020204020204" charset="-122"/>
                <a:cs typeface="微软雅黑" panose="020B0503020204020204" charset="-122"/>
              </a:rPr>
              <a:t>分卡：与销售</a:t>
            </a:r>
            <a:r>
              <a:rPr sz="1200" dirty="0">
                <a:latin typeface="微软雅黑" panose="020B0503020204020204" charset="-122"/>
                <a:ea typeface="微软雅黑" panose="020B0503020204020204" charset="-122"/>
                <a:cs typeface="微软雅黑" panose="020B0503020204020204" charset="-122"/>
              </a:rPr>
              <a:t>/</a:t>
            </a:r>
            <a:endParaRPr sz="1200">
              <a:latin typeface="微软雅黑" panose="020B0503020204020204" charset="-122"/>
              <a:ea typeface="微软雅黑" panose="020B0503020204020204" charset="-122"/>
              <a:cs typeface="微软雅黑" panose="020B0503020204020204" charset="-122"/>
            </a:endParaRPr>
          </a:p>
        </p:txBody>
      </p:sp>
      <p:sp>
        <p:nvSpPr>
          <p:cNvPr id="42" name="object 42"/>
          <p:cNvSpPr txBox="1"/>
          <p:nvPr/>
        </p:nvSpPr>
        <p:spPr>
          <a:xfrm>
            <a:off x="4235432" y="3910460"/>
            <a:ext cx="993071" cy="165100"/>
          </a:xfrm>
          <a:prstGeom prst="rect">
            <a:avLst/>
          </a:prstGeom>
          <a:solidFill>
            <a:srgbClr val="C6DFFA"/>
          </a:solidFill>
        </p:spPr>
        <p:txBody>
          <a:bodyPr vert="horz" wrap="square" lIns="0" tIns="0" rIns="0" bIns="0" rtlCol="0">
            <a:spAutoFit/>
          </a:bodyPr>
          <a:lstStyle/>
          <a:p>
            <a:pPr marL="8890">
              <a:lnSpc>
                <a:spcPts val="1290"/>
              </a:lnSpc>
            </a:pPr>
            <a:r>
              <a:rPr sz="1200" spc="-5" dirty="0">
                <a:latin typeface="微软雅黑" panose="020B0503020204020204" charset="-122"/>
                <a:ea typeface="微软雅黑" panose="020B0503020204020204" charset="-122"/>
                <a:cs typeface="微软雅黑" panose="020B0503020204020204" charset="-122"/>
              </a:rPr>
              <a:t>大客户部负责</a:t>
            </a:r>
            <a:endParaRPr sz="1200" spc="-5" dirty="0">
              <a:latin typeface="微软雅黑" panose="020B0503020204020204" charset="-122"/>
              <a:ea typeface="微软雅黑" panose="020B0503020204020204" charset="-122"/>
              <a:cs typeface="微软雅黑" panose="020B0503020204020204" charset="-122"/>
            </a:endParaRPr>
          </a:p>
        </p:txBody>
      </p:sp>
      <p:sp>
        <p:nvSpPr>
          <p:cNvPr id="43" name="object 43"/>
          <p:cNvSpPr txBox="1"/>
          <p:nvPr/>
        </p:nvSpPr>
        <p:spPr>
          <a:xfrm>
            <a:off x="4235432" y="4100038"/>
            <a:ext cx="993071" cy="140335"/>
          </a:xfrm>
          <a:prstGeom prst="rect">
            <a:avLst/>
          </a:prstGeom>
          <a:solidFill>
            <a:srgbClr val="C6DFFA"/>
          </a:solidFill>
        </p:spPr>
        <p:txBody>
          <a:bodyPr vert="horz" wrap="square" lIns="0" tIns="0" rIns="0" bIns="0" rtlCol="0">
            <a:spAutoFit/>
          </a:bodyPr>
          <a:lstStyle/>
          <a:p>
            <a:pPr marL="8890">
              <a:lnSpc>
                <a:spcPts val="1095"/>
              </a:lnSpc>
            </a:pPr>
            <a:r>
              <a:rPr sz="1200" dirty="0">
                <a:latin typeface="微软雅黑" panose="020B0503020204020204" charset="-122"/>
                <a:ea typeface="微软雅黑" panose="020B0503020204020204" charset="-122"/>
                <a:cs typeface="微软雅黑" panose="020B0503020204020204" charset="-122"/>
              </a:rPr>
              <a:t>人共同进行</a:t>
            </a:r>
            <a:endParaRPr sz="1200" dirty="0">
              <a:latin typeface="微软雅黑" panose="020B0503020204020204" charset="-122"/>
              <a:ea typeface="微软雅黑" panose="020B0503020204020204" charset="-122"/>
              <a:cs typeface="微软雅黑" panose="020B0503020204020204" charset="-122"/>
            </a:endParaRPr>
          </a:p>
        </p:txBody>
      </p:sp>
      <p:sp>
        <p:nvSpPr>
          <p:cNvPr id="44" name="object 44"/>
          <p:cNvSpPr txBox="1"/>
          <p:nvPr/>
        </p:nvSpPr>
        <p:spPr>
          <a:xfrm>
            <a:off x="5456624" y="3185221"/>
            <a:ext cx="1007030" cy="387350"/>
          </a:xfrm>
          <a:prstGeom prst="rect">
            <a:avLst/>
          </a:prstGeom>
          <a:solidFill>
            <a:srgbClr val="C6DFFA"/>
          </a:solidFill>
          <a:ln w="9525">
            <a:solidFill>
              <a:srgbClr val="FFFFFF"/>
            </a:solidFill>
          </a:ln>
        </p:spPr>
        <p:txBody>
          <a:bodyPr vert="horz" wrap="square" lIns="0" tIns="54571" rIns="0" bIns="0" rtlCol="0">
            <a:spAutoFit/>
          </a:bodyPr>
          <a:lstStyle/>
          <a:p>
            <a:pPr marL="29845" marR="54610">
              <a:lnSpc>
                <a:spcPts val="1300"/>
              </a:lnSpc>
              <a:spcBef>
                <a:spcPts val="430"/>
              </a:spcBef>
            </a:pPr>
            <a:r>
              <a:rPr sz="1200" dirty="0">
                <a:latin typeface="微软雅黑" panose="020B0503020204020204" charset="-122"/>
                <a:ea typeface="微软雅黑" panose="020B0503020204020204" charset="-122"/>
                <a:cs typeface="微软雅黑" panose="020B0503020204020204" charset="-122"/>
              </a:rPr>
              <a:t>大客户管理利 润表现分析</a:t>
            </a:r>
            <a:endParaRPr sz="1200" dirty="0">
              <a:latin typeface="微软雅黑" panose="020B0503020204020204" charset="-122"/>
              <a:ea typeface="微软雅黑" panose="020B0503020204020204" charset="-122"/>
              <a:cs typeface="微软雅黑" panose="020B0503020204020204" charset="-122"/>
            </a:endParaRPr>
          </a:p>
        </p:txBody>
      </p:sp>
      <p:sp>
        <p:nvSpPr>
          <p:cNvPr id="45" name="object 45"/>
          <p:cNvSpPr txBox="1"/>
          <p:nvPr/>
        </p:nvSpPr>
        <p:spPr>
          <a:xfrm>
            <a:off x="5456624" y="2326294"/>
            <a:ext cx="1007030" cy="488950"/>
          </a:xfrm>
          <a:prstGeom prst="rect">
            <a:avLst/>
          </a:prstGeom>
          <a:solidFill>
            <a:srgbClr val="C6DFFA"/>
          </a:solidFill>
          <a:ln w="9525">
            <a:solidFill>
              <a:srgbClr val="FFFFFF"/>
            </a:solidFill>
          </a:ln>
        </p:spPr>
        <p:txBody>
          <a:bodyPr vert="horz" wrap="square" lIns="0" tIns="138331" rIns="0" bIns="0" rtlCol="0">
            <a:spAutoFit/>
          </a:bodyPr>
          <a:lstStyle/>
          <a:p>
            <a:pPr marL="29845">
              <a:lnSpc>
                <a:spcPts val="1370"/>
              </a:lnSpc>
              <a:spcBef>
                <a:spcPts val="1090"/>
              </a:spcBef>
            </a:pPr>
            <a:r>
              <a:rPr sz="1200" dirty="0">
                <a:latin typeface="微软雅黑" panose="020B0503020204020204" charset="-122"/>
                <a:ea typeface="微软雅黑" panose="020B0503020204020204" charset="-122"/>
                <a:cs typeface="微软雅黑" panose="020B0503020204020204" charset="-122"/>
              </a:rPr>
              <a:t>发展性建议</a:t>
            </a:r>
            <a:r>
              <a:rPr sz="1200" dirty="0">
                <a:latin typeface="微软雅黑" panose="020B0503020204020204" charset="-122"/>
                <a:ea typeface="微软雅黑" panose="020B0503020204020204" charset="-122"/>
                <a:cs typeface="微软雅黑" panose="020B0503020204020204" charset="-122"/>
              </a:rPr>
              <a:t>/目</a:t>
            </a:r>
            <a:endParaRPr sz="1200">
              <a:latin typeface="微软雅黑" panose="020B0503020204020204" charset="-122"/>
              <a:ea typeface="微软雅黑" panose="020B0503020204020204" charset="-122"/>
              <a:cs typeface="微软雅黑" panose="020B0503020204020204" charset="-122"/>
            </a:endParaRPr>
          </a:p>
          <a:p>
            <a:pPr marL="29845">
              <a:lnSpc>
                <a:spcPts val="1370"/>
              </a:lnSpc>
            </a:pPr>
            <a:r>
              <a:rPr sz="1200" spc="-5" dirty="0">
                <a:latin typeface="微软雅黑" panose="020B0503020204020204" charset="-122"/>
                <a:ea typeface="微软雅黑" panose="020B0503020204020204" charset="-122"/>
                <a:cs typeface="微软雅黑" panose="020B0503020204020204" charset="-122"/>
              </a:rPr>
              <a:t>标设定</a:t>
            </a:r>
            <a:endParaRPr sz="1200">
              <a:latin typeface="微软雅黑" panose="020B0503020204020204" charset="-122"/>
              <a:ea typeface="微软雅黑" panose="020B0503020204020204" charset="-122"/>
              <a:cs typeface="微软雅黑" panose="020B0503020204020204" charset="-122"/>
            </a:endParaRPr>
          </a:p>
        </p:txBody>
      </p:sp>
      <p:sp>
        <p:nvSpPr>
          <p:cNvPr id="46" name="object 46"/>
          <p:cNvSpPr txBox="1"/>
          <p:nvPr/>
        </p:nvSpPr>
        <p:spPr>
          <a:xfrm>
            <a:off x="6659732" y="2671997"/>
            <a:ext cx="1003858" cy="274320"/>
          </a:xfrm>
          <a:prstGeom prst="rect">
            <a:avLst/>
          </a:prstGeom>
          <a:solidFill>
            <a:srgbClr val="C6DFFA"/>
          </a:solidFill>
          <a:ln w="9525">
            <a:solidFill>
              <a:srgbClr val="FFFFFF"/>
            </a:solidFill>
          </a:ln>
        </p:spPr>
        <p:txBody>
          <a:bodyPr vert="horz" wrap="square" lIns="0" tIns="90740" rIns="0" bIns="0" rtlCol="0">
            <a:spAutoFit/>
          </a:bodyPr>
          <a:lstStyle/>
          <a:p>
            <a:pPr marL="45085">
              <a:lnSpc>
                <a:spcPct val="100000"/>
              </a:lnSpc>
              <a:spcBef>
                <a:spcPts val="715"/>
              </a:spcBef>
            </a:pPr>
            <a:r>
              <a:rPr sz="1200" dirty="0">
                <a:latin typeface="微软雅黑" panose="020B0503020204020204" charset="-122"/>
                <a:ea typeface="微软雅黑" panose="020B0503020204020204" charset="-122"/>
                <a:cs typeface="微软雅黑" panose="020B0503020204020204" charset="-122"/>
              </a:rPr>
              <a:t>年度评分卡</a:t>
            </a:r>
            <a:endParaRPr sz="1200" dirty="0">
              <a:latin typeface="微软雅黑" panose="020B0503020204020204" charset="-122"/>
              <a:ea typeface="微软雅黑" panose="020B0503020204020204" charset="-122"/>
              <a:cs typeface="微软雅黑" panose="020B0503020204020204" charset="-122"/>
            </a:endParaRPr>
          </a:p>
        </p:txBody>
      </p:sp>
      <p:sp>
        <p:nvSpPr>
          <p:cNvPr id="47" name="object 47"/>
          <p:cNvSpPr txBox="1"/>
          <p:nvPr/>
        </p:nvSpPr>
        <p:spPr>
          <a:xfrm>
            <a:off x="6664491" y="1832676"/>
            <a:ext cx="994339" cy="565785"/>
          </a:xfrm>
          <a:prstGeom prst="rect">
            <a:avLst/>
          </a:prstGeom>
          <a:solidFill>
            <a:srgbClr val="C6DFFA"/>
          </a:solidFill>
        </p:spPr>
        <p:txBody>
          <a:bodyPr vert="horz" wrap="square" lIns="0" tIns="66627" rIns="0" bIns="0" rtlCol="0">
            <a:spAutoFit/>
          </a:bodyPr>
          <a:lstStyle/>
          <a:p>
            <a:pPr marL="40640" marR="31750">
              <a:lnSpc>
                <a:spcPts val="1300"/>
              </a:lnSpc>
              <a:spcBef>
                <a:spcPts val="525"/>
              </a:spcBef>
            </a:pPr>
            <a:r>
              <a:rPr sz="1200" dirty="0">
                <a:latin typeface="微软雅黑" panose="020B0503020204020204" charset="-122"/>
                <a:ea typeface="微软雅黑" panose="020B0503020204020204" charset="-122"/>
                <a:cs typeface="微软雅黑" panose="020B0503020204020204" charset="-122"/>
              </a:rPr>
              <a:t>战略业绩考 核，大客户计 划审核</a:t>
            </a:r>
            <a:endParaRPr sz="1200" dirty="0">
              <a:latin typeface="微软雅黑" panose="020B0503020204020204" charset="-122"/>
              <a:ea typeface="微软雅黑" panose="020B0503020204020204" charset="-122"/>
              <a:cs typeface="微软雅黑" panose="020B0503020204020204" charset="-122"/>
            </a:endParaRPr>
          </a:p>
        </p:txBody>
      </p:sp>
      <p:sp>
        <p:nvSpPr>
          <p:cNvPr id="48" name="object 48"/>
          <p:cNvSpPr/>
          <p:nvPr/>
        </p:nvSpPr>
        <p:spPr>
          <a:xfrm>
            <a:off x="2252907" y="4450007"/>
            <a:ext cx="85664" cy="205594"/>
          </a:xfrm>
          <a:prstGeom prst="rect">
            <a:avLst/>
          </a:prstGeom>
          <a:blipFill>
            <a:blip r:embed="rId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9" name="object 49"/>
          <p:cNvSpPr/>
          <p:nvPr/>
        </p:nvSpPr>
        <p:spPr>
          <a:xfrm>
            <a:off x="2815119" y="4647986"/>
            <a:ext cx="702447" cy="210671"/>
          </a:xfrm>
          <a:custGeom>
            <a:avLst/>
            <a:gdLst/>
            <a:ahLst/>
            <a:cxnLst/>
            <a:rect l="l" t="t" r="r" b="b"/>
            <a:pathLst>
              <a:path w="702945" h="210820">
                <a:moveTo>
                  <a:pt x="645540" y="182244"/>
                </a:moveTo>
                <a:lnTo>
                  <a:pt x="0" y="182244"/>
                </a:lnTo>
                <a:lnTo>
                  <a:pt x="0" y="210819"/>
                </a:lnTo>
                <a:lnTo>
                  <a:pt x="667765" y="210819"/>
                </a:lnTo>
                <a:lnTo>
                  <a:pt x="674115" y="204469"/>
                </a:lnTo>
                <a:lnTo>
                  <a:pt x="674115" y="196595"/>
                </a:lnTo>
                <a:lnTo>
                  <a:pt x="645540" y="196595"/>
                </a:lnTo>
                <a:lnTo>
                  <a:pt x="645540" y="182244"/>
                </a:lnTo>
                <a:close/>
              </a:path>
              <a:path w="702945" h="210820">
                <a:moveTo>
                  <a:pt x="674115" y="71373"/>
                </a:moveTo>
                <a:lnTo>
                  <a:pt x="645540" y="71373"/>
                </a:lnTo>
                <a:lnTo>
                  <a:pt x="645540" y="196595"/>
                </a:lnTo>
                <a:lnTo>
                  <a:pt x="659891" y="182244"/>
                </a:lnTo>
                <a:lnTo>
                  <a:pt x="674115" y="182244"/>
                </a:lnTo>
                <a:lnTo>
                  <a:pt x="674115" y="71373"/>
                </a:lnTo>
                <a:close/>
              </a:path>
              <a:path w="702945" h="210820">
                <a:moveTo>
                  <a:pt x="674115" y="182244"/>
                </a:moveTo>
                <a:lnTo>
                  <a:pt x="659891" y="182244"/>
                </a:lnTo>
                <a:lnTo>
                  <a:pt x="645540" y="196595"/>
                </a:lnTo>
                <a:lnTo>
                  <a:pt x="674115" y="196595"/>
                </a:lnTo>
                <a:lnTo>
                  <a:pt x="674115" y="182244"/>
                </a:lnTo>
                <a:close/>
              </a:path>
              <a:path w="702945" h="210820">
                <a:moveTo>
                  <a:pt x="659891" y="0"/>
                </a:moveTo>
                <a:lnTo>
                  <a:pt x="616965" y="85724"/>
                </a:lnTo>
                <a:lnTo>
                  <a:pt x="645540" y="85724"/>
                </a:lnTo>
                <a:lnTo>
                  <a:pt x="645540" y="71373"/>
                </a:lnTo>
                <a:lnTo>
                  <a:pt x="695526" y="71373"/>
                </a:lnTo>
                <a:lnTo>
                  <a:pt x="659891" y="0"/>
                </a:lnTo>
                <a:close/>
              </a:path>
              <a:path w="702945" h="210820">
                <a:moveTo>
                  <a:pt x="695526" y="71373"/>
                </a:moveTo>
                <a:lnTo>
                  <a:pt x="674115" y="71373"/>
                </a:lnTo>
                <a:lnTo>
                  <a:pt x="674115" y="85724"/>
                </a:lnTo>
                <a:lnTo>
                  <a:pt x="702690" y="85724"/>
                </a:lnTo>
                <a:lnTo>
                  <a:pt x="695526" y="71373"/>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0" name="object 50"/>
          <p:cNvSpPr/>
          <p:nvPr/>
        </p:nvSpPr>
        <p:spPr>
          <a:xfrm>
            <a:off x="3431647" y="4121056"/>
            <a:ext cx="85664" cy="147722"/>
          </a:xfrm>
          <a:prstGeom prst="rect">
            <a:avLst/>
          </a:prstGeom>
          <a:blipFill>
            <a:blip r:embed="rId2"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51" name="object 51"/>
          <p:cNvSpPr/>
          <p:nvPr/>
        </p:nvSpPr>
        <p:spPr>
          <a:xfrm>
            <a:off x="4022795" y="4343402"/>
            <a:ext cx="740520" cy="178943"/>
          </a:xfrm>
          <a:custGeom>
            <a:avLst/>
            <a:gdLst/>
            <a:ahLst/>
            <a:cxnLst/>
            <a:rect l="l" t="t" r="r" b="b"/>
            <a:pathLst>
              <a:path w="741045" h="179070">
                <a:moveTo>
                  <a:pt x="683640" y="150240"/>
                </a:moveTo>
                <a:lnTo>
                  <a:pt x="0" y="150240"/>
                </a:lnTo>
                <a:lnTo>
                  <a:pt x="0" y="178815"/>
                </a:lnTo>
                <a:lnTo>
                  <a:pt x="705865" y="178815"/>
                </a:lnTo>
                <a:lnTo>
                  <a:pt x="712215" y="172465"/>
                </a:lnTo>
                <a:lnTo>
                  <a:pt x="712215" y="164591"/>
                </a:lnTo>
                <a:lnTo>
                  <a:pt x="683640" y="164591"/>
                </a:lnTo>
                <a:lnTo>
                  <a:pt x="683640" y="150240"/>
                </a:lnTo>
                <a:close/>
              </a:path>
              <a:path w="741045" h="179070">
                <a:moveTo>
                  <a:pt x="712215" y="71373"/>
                </a:moveTo>
                <a:lnTo>
                  <a:pt x="683640" y="71373"/>
                </a:lnTo>
                <a:lnTo>
                  <a:pt x="683640" y="164591"/>
                </a:lnTo>
                <a:lnTo>
                  <a:pt x="697991" y="150240"/>
                </a:lnTo>
                <a:lnTo>
                  <a:pt x="712215" y="150240"/>
                </a:lnTo>
                <a:lnTo>
                  <a:pt x="712215" y="71373"/>
                </a:lnTo>
                <a:close/>
              </a:path>
              <a:path w="741045" h="179070">
                <a:moveTo>
                  <a:pt x="712215" y="150240"/>
                </a:moveTo>
                <a:lnTo>
                  <a:pt x="697991" y="150240"/>
                </a:lnTo>
                <a:lnTo>
                  <a:pt x="683640" y="164591"/>
                </a:lnTo>
                <a:lnTo>
                  <a:pt x="712215" y="164591"/>
                </a:lnTo>
                <a:lnTo>
                  <a:pt x="712215" y="150240"/>
                </a:lnTo>
                <a:close/>
              </a:path>
              <a:path w="741045" h="179070">
                <a:moveTo>
                  <a:pt x="697991" y="0"/>
                </a:moveTo>
                <a:lnTo>
                  <a:pt x="655065" y="85724"/>
                </a:lnTo>
                <a:lnTo>
                  <a:pt x="683640" y="85724"/>
                </a:lnTo>
                <a:lnTo>
                  <a:pt x="683640" y="71373"/>
                </a:lnTo>
                <a:lnTo>
                  <a:pt x="733626" y="71373"/>
                </a:lnTo>
                <a:lnTo>
                  <a:pt x="697991" y="0"/>
                </a:lnTo>
                <a:close/>
              </a:path>
              <a:path w="741045" h="179070">
                <a:moveTo>
                  <a:pt x="733626" y="71373"/>
                </a:moveTo>
                <a:lnTo>
                  <a:pt x="712215" y="71373"/>
                </a:lnTo>
                <a:lnTo>
                  <a:pt x="712215" y="85724"/>
                </a:lnTo>
                <a:lnTo>
                  <a:pt x="740790" y="85724"/>
                </a:lnTo>
                <a:lnTo>
                  <a:pt x="733626" y="71373"/>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2" name="object 52"/>
          <p:cNvSpPr/>
          <p:nvPr/>
        </p:nvSpPr>
        <p:spPr>
          <a:xfrm>
            <a:off x="5912486" y="2986480"/>
            <a:ext cx="85664" cy="199502"/>
          </a:xfrm>
          <a:prstGeom prst="rect">
            <a:avLst/>
          </a:prstGeom>
          <a:blipFill>
            <a:blip r:embed="rId3"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53" name="object 53"/>
          <p:cNvSpPr/>
          <p:nvPr/>
        </p:nvSpPr>
        <p:spPr>
          <a:xfrm>
            <a:off x="6465559" y="3068717"/>
            <a:ext cx="743693" cy="212574"/>
          </a:xfrm>
          <a:custGeom>
            <a:avLst/>
            <a:gdLst/>
            <a:ahLst/>
            <a:cxnLst/>
            <a:rect l="l" t="t" r="r" b="b"/>
            <a:pathLst>
              <a:path w="744220" h="212725">
                <a:moveTo>
                  <a:pt x="686688" y="183768"/>
                </a:moveTo>
                <a:lnTo>
                  <a:pt x="0" y="183768"/>
                </a:lnTo>
                <a:lnTo>
                  <a:pt x="0" y="212343"/>
                </a:lnTo>
                <a:lnTo>
                  <a:pt x="708913" y="212343"/>
                </a:lnTo>
                <a:lnTo>
                  <a:pt x="715263" y="205993"/>
                </a:lnTo>
                <a:lnTo>
                  <a:pt x="715263" y="198119"/>
                </a:lnTo>
                <a:lnTo>
                  <a:pt x="686688" y="198119"/>
                </a:lnTo>
                <a:lnTo>
                  <a:pt x="686688" y="183768"/>
                </a:lnTo>
                <a:close/>
              </a:path>
              <a:path w="744220" h="212725">
                <a:moveTo>
                  <a:pt x="715263" y="71374"/>
                </a:moveTo>
                <a:lnTo>
                  <a:pt x="686688" y="71374"/>
                </a:lnTo>
                <a:lnTo>
                  <a:pt x="686688" y="198119"/>
                </a:lnTo>
                <a:lnTo>
                  <a:pt x="701039" y="183768"/>
                </a:lnTo>
                <a:lnTo>
                  <a:pt x="715263" y="183768"/>
                </a:lnTo>
                <a:lnTo>
                  <a:pt x="715263" y="71374"/>
                </a:lnTo>
                <a:close/>
              </a:path>
              <a:path w="744220" h="212725">
                <a:moveTo>
                  <a:pt x="715263" y="183768"/>
                </a:moveTo>
                <a:lnTo>
                  <a:pt x="701039" y="183768"/>
                </a:lnTo>
                <a:lnTo>
                  <a:pt x="686688" y="198119"/>
                </a:lnTo>
                <a:lnTo>
                  <a:pt x="715263" y="198119"/>
                </a:lnTo>
                <a:lnTo>
                  <a:pt x="715263" y="183768"/>
                </a:lnTo>
                <a:close/>
              </a:path>
              <a:path w="744220" h="212725">
                <a:moveTo>
                  <a:pt x="701039" y="0"/>
                </a:moveTo>
                <a:lnTo>
                  <a:pt x="658113" y="85725"/>
                </a:lnTo>
                <a:lnTo>
                  <a:pt x="686688" y="85725"/>
                </a:lnTo>
                <a:lnTo>
                  <a:pt x="686688" y="71374"/>
                </a:lnTo>
                <a:lnTo>
                  <a:pt x="736674" y="71374"/>
                </a:lnTo>
                <a:lnTo>
                  <a:pt x="701039" y="0"/>
                </a:lnTo>
                <a:close/>
              </a:path>
              <a:path w="744220" h="212725">
                <a:moveTo>
                  <a:pt x="736674" y="71374"/>
                </a:moveTo>
                <a:lnTo>
                  <a:pt x="715263" y="71374"/>
                </a:lnTo>
                <a:lnTo>
                  <a:pt x="715263" y="85725"/>
                </a:lnTo>
                <a:lnTo>
                  <a:pt x="743838" y="85725"/>
                </a:lnTo>
                <a:lnTo>
                  <a:pt x="736674" y="71374"/>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4" name="object 54"/>
          <p:cNvSpPr/>
          <p:nvPr/>
        </p:nvSpPr>
        <p:spPr>
          <a:xfrm>
            <a:off x="7103409" y="2497622"/>
            <a:ext cx="85664" cy="175135"/>
          </a:xfrm>
          <a:prstGeom prst="rect">
            <a:avLst/>
          </a:prstGeom>
          <a:blipFill>
            <a:blip r:embed="rId4"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55" name="object 55"/>
          <p:cNvSpPr/>
          <p:nvPr/>
        </p:nvSpPr>
        <p:spPr>
          <a:xfrm>
            <a:off x="4695163" y="3360357"/>
            <a:ext cx="76146" cy="127925"/>
          </a:xfrm>
          <a:prstGeom prst="rect">
            <a:avLst/>
          </a:prstGeom>
          <a:blipFill>
            <a:blip r:embed="rId5"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56" name="object 56"/>
          <p:cNvSpPr/>
          <p:nvPr/>
        </p:nvSpPr>
        <p:spPr>
          <a:xfrm>
            <a:off x="5244177" y="3770783"/>
            <a:ext cx="760191" cy="163714"/>
          </a:xfrm>
          <a:custGeom>
            <a:avLst/>
            <a:gdLst/>
            <a:ahLst/>
            <a:cxnLst/>
            <a:rect l="l" t="t" r="r" b="b"/>
            <a:pathLst>
              <a:path w="760729" h="163829">
                <a:moveTo>
                  <a:pt x="703452" y="135000"/>
                </a:moveTo>
                <a:lnTo>
                  <a:pt x="0" y="135000"/>
                </a:lnTo>
                <a:lnTo>
                  <a:pt x="0" y="163575"/>
                </a:lnTo>
                <a:lnTo>
                  <a:pt x="725677" y="163575"/>
                </a:lnTo>
                <a:lnTo>
                  <a:pt x="732027" y="157225"/>
                </a:lnTo>
                <a:lnTo>
                  <a:pt x="732027" y="149351"/>
                </a:lnTo>
                <a:lnTo>
                  <a:pt x="703452" y="149351"/>
                </a:lnTo>
                <a:lnTo>
                  <a:pt x="703452" y="135000"/>
                </a:lnTo>
                <a:close/>
              </a:path>
              <a:path w="760729" h="163829">
                <a:moveTo>
                  <a:pt x="732027" y="71373"/>
                </a:moveTo>
                <a:lnTo>
                  <a:pt x="703452" y="71373"/>
                </a:lnTo>
                <a:lnTo>
                  <a:pt x="703452" y="149351"/>
                </a:lnTo>
                <a:lnTo>
                  <a:pt x="717803" y="135000"/>
                </a:lnTo>
                <a:lnTo>
                  <a:pt x="732027" y="135000"/>
                </a:lnTo>
                <a:lnTo>
                  <a:pt x="732027" y="71373"/>
                </a:lnTo>
                <a:close/>
              </a:path>
              <a:path w="760729" h="163829">
                <a:moveTo>
                  <a:pt x="732027" y="135000"/>
                </a:moveTo>
                <a:lnTo>
                  <a:pt x="717803" y="135000"/>
                </a:lnTo>
                <a:lnTo>
                  <a:pt x="703452" y="149351"/>
                </a:lnTo>
                <a:lnTo>
                  <a:pt x="732027" y="149351"/>
                </a:lnTo>
                <a:lnTo>
                  <a:pt x="732027" y="135000"/>
                </a:lnTo>
                <a:close/>
              </a:path>
              <a:path w="760729" h="163829">
                <a:moveTo>
                  <a:pt x="717803" y="0"/>
                </a:moveTo>
                <a:lnTo>
                  <a:pt x="674877" y="85725"/>
                </a:lnTo>
                <a:lnTo>
                  <a:pt x="703452" y="85725"/>
                </a:lnTo>
                <a:lnTo>
                  <a:pt x="703452" y="71373"/>
                </a:lnTo>
                <a:lnTo>
                  <a:pt x="753438" y="71373"/>
                </a:lnTo>
                <a:lnTo>
                  <a:pt x="717803" y="0"/>
                </a:lnTo>
                <a:close/>
              </a:path>
              <a:path w="760729" h="163829">
                <a:moveTo>
                  <a:pt x="753438" y="71373"/>
                </a:moveTo>
                <a:lnTo>
                  <a:pt x="732027" y="71373"/>
                </a:lnTo>
                <a:lnTo>
                  <a:pt x="732027" y="85725"/>
                </a:lnTo>
                <a:lnTo>
                  <a:pt x="760602" y="85725"/>
                </a:lnTo>
                <a:lnTo>
                  <a:pt x="753438" y="71373"/>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7" name="object 57"/>
          <p:cNvSpPr txBox="1"/>
          <p:nvPr/>
        </p:nvSpPr>
        <p:spPr>
          <a:xfrm>
            <a:off x="1694503" y="5139255"/>
            <a:ext cx="1131403" cy="382270"/>
          </a:xfrm>
          <a:prstGeom prst="rect">
            <a:avLst/>
          </a:prstGeom>
        </p:spPr>
        <p:txBody>
          <a:bodyPr vert="horz" wrap="square" lIns="0" tIns="12691" rIns="0" bIns="0" rtlCol="0">
            <a:spAutoFit/>
          </a:bodyPr>
          <a:lstStyle/>
          <a:p>
            <a:pPr marL="192405" marR="5080" indent="-192405" algn="r">
              <a:lnSpc>
                <a:spcPct val="100000"/>
              </a:lnSpc>
              <a:spcBef>
                <a:spcPts val="100"/>
              </a:spcBef>
              <a:buClr>
                <a:srgbClr val="00295F"/>
              </a:buClr>
              <a:buSzPct val="125000"/>
              <a:buFont typeface="Arial" panose="020B0604020202020204"/>
              <a:buChar char="▪"/>
              <a:tabLst>
                <a:tab pos="192405" algn="l"/>
              </a:tabLst>
            </a:pPr>
            <a:r>
              <a:rPr sz="1200" dirty="0">
                <a:latin typeface="微软雅黑" panose="020B0503020204020204" charset="-122"/>
                <a:ea typeface="微软雅黑" panose="020B0503020204020204" charset="-122"/>
                <a:cs typeface="微软雅黑" panose="020B0503020204020204" charset="-122"/>
              </a:rPr>
              <a:t>个人资源分配</a:t>
            </a:r>
            <a:endParaRPr sz="1200">
              <a:latin typeface="微软雅黑" panose="020B0503020204020204" charset="-122"/>
              <a:ea typeface="微软雅黑" panose="020B0503020204020204" charset="-122"/>
              <a:cs typeface="微软雅黑" panose="020B0503020204020204" charset="-122"/>
            </a:endParaRPr>
          </a:p>
          <a:p>
            <a:pPr marR="5080" algn="r">
              <a:lnSpc>
                <a:spcPct val="100000"/>
              </a:lnSpc>
              <a:spcBef>
                <a:spcPts val="10"/>
              </a:spcBef>
            </a:pPr>
            <a:r>
              <a:rPr sz="1200" dirty="0">
                <a:latin typeface="微软雅黑" panose="020B0503020204020204" charset="-122"/>
                <a:ea typeface="微软雅黑" panose="020B0503020204020204" charset="-122"/>
                <a:cs typeface="微软雅黑" panose="020B0503020204020204" charset="-122"/>
              </a:rPr>
              <a:t>（自我监督）</a:t>
            </a:r>
            <a:endParaRPr sz="1200">
              <a:latin typeface="微软雅黑" panose="020B0503020204020204" charset="-122"/>
              <a:ea typeface="微软雅黑" panose="020B0503020204020204" charset="-122"/>
              <a:cs typeface="微软雅黑" panose="020B0503020204020204" charset="-122"/>
            </a:endParaRPr>
          </a:p>
        </p:txBody>
      </p:sp>
      <p:sp>
        <p:nvSpPr>
          <p:cNvPr id="58" name="object 58"/>
          <p:cNvSpPr txBox="1"/>
          <p:nvPr/>
        </p:nvSpPr>
        <p:spPr>
          <a:xfrm>
            <a:off x="1801615" y="4598490"/>
            <a:ext cx="1003858" cy="323215"/>
          </a:xfrm>
          <a:prstGeom prst="rect">
            <a:avLst/>
          </a:prstGeom>
          <a:solidFill>
            <a:srgbClr val="C6DFFA"/>
          </a:solidFill>
          <a:ln w="9525">
            <a:solidFill>
              <a:srgbClr val="FFFFFF"/>
            </a:solidFill>
          </a:ln>
        </p:spPr>
        <p:txBody>
          <a:bodyPr vert="horz" wrap="square" lIns="0" tIns="139601" rIns="0" bIns="0" rtlCol="0">
            <a:spAutoFit/>
          </a:bodyPr>
          <a:lstStyle/>
          <a:p>
            <a:pPr marL="33655">
              <a:lnSpc>
                <a:spcPct val="100000"/>
              </a:lnSpc>
              <a:spcBef>
                <a:spcPts val="1100"/>
              </a:spcBef>
            </a:pPr>
            <a:r>
              <a:rPr sz="1200" dirty="0">
                <a:latin typeface="微软雅黑" panose="020B0503020204020204" charset="-122"/>
                <a:ea typeface="微软雅黑" panose="020B0503020204020204" charset="-122"/>
                <a:cs typeface="微软雅黑" panose="020B0503020204020204" charset="-122"/>
              </a:rPr>
              <a:t>客户优先计划</a:t>
            </a:r>
            <a:endParaRPr sz="1200" dirty="0">
              <a:latin typeface="微软雅黑" panose="020B0503020204020204" charset="-122"/>
              <a:ea typeface="微软雅黑" panose="020B0503020204020204" charset="-122"/>
              <a:cs typeface="微软雅黑" panose="020B0503020204020204" charset="-122"/>
            </a:endParaRPr>
          </a:p>
        </p:txBody>
      </p:sp>
      <p:sp>
        <p:nvSpPr>
          <p:cNvPr id="59" name="object 59"/>
          <p:cNvSpPr txBox="1"/>
          <p:nvPr/>
        </p:nvSpPr>
        <p:spPr>
          <a:xfrm>
            <a:off x="106401" y="6412696"/>
            <a:ext cx="1361110"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5" dirty="0">
                <a:latin typeface="微软雅黑" panose="020B0503020204020204" charset="-122"/>
                <a:ea typeface="微软雅黑" panose="020B0503020204020204" charset="-122"/>
                <a:cs typeface="微软雅黑" panose="020B0503020204020204" charset="-122"/>
              </a:rPr>
              <a:t>:</a:t>
            </a:r>
            <a:r>
              <a:rPr sz="1000" spc="-40"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匿名客户分析</a:t>
            </a:r>
            <a:endParaRPr sz="1000">
              <a:latin typeface="微软雅黑" panose="020B0503020204020204" charset="-122"/>
              <a:ea typeface="微软雅黑" panose="020B0503020204020204" charset="-122"/>
              <a:cs typeface="微软雅黑" panose="020B0503020204020204" charset="-122"/>
            </a:endParaRPr>
          </a:p>
        </p:txBody>
      </p:sp>
      <p:sp>
        <p:nvSpPr>
          <p:cNvPr id="60" name="object 60"/>
          <p:cNvSpPr txBox="1"/>
          <p:nvPr/>
        </p:nvSpPr>
        <p:spPr>
          <a:xfrm>
            <a:off x="7478302" y="263117"/>
            <a:ext cx="1270370" cy="196215"/>
          </a:xfrm>
          <a:prstGeom prst="rect">
            <a:avLst/>
          </a:prstGeom>
        </p:spPr>
        <p:txBody>
          <a:bodyPr vert="horz" wrap="square" lIns="0" tIns="12691" rIns="0" bIns="0" rtlCol="0">
            <a:spAutoFit/>
          </a:bodyPr>
          <a:lstStyle/>
          <a:p>
            <a:pPr marL="12700">
              <a:lnSpc>
                <a:spcPct val="100000"/>
              </a:lnSpc>
              <a:spcBef>
                <a:spcPts val="100"/>
              </a:spcBef>
            </a:pPr>
            <a:r>
              <a:rPr sz="1200" dirty="0">
                <a:solidFill>
                  <a:srgbClr val="808080"/>
                </a:solidFill>
                <a:latin typeface="微软雅黑" panose="020B0503020204020204" charset="-122"/>
                <a:ea typeface="微软雅黑" panose="020B0503020204020204" charset="-122"/>
                <a:cs typeface="微软雅黑" panose="020B0503020204020204" charset="-122"/>
              </a:rPr>
              <a:t>B2B</a:t>
            </a:r>
            <a:r>
              <a:rPr sz="1200" spc="-85" dirty="0">
                <a:solidFill>
                  <a:srgbClr val="808080"/>
                </a:solidFill>
                <a:latin typeface="微软雅黑" panose="020B0503020204020204" charset="-122"/>
                <a:ea typeface="微软雅黑" panose="020B0503020204020204" charset="-122"/>
                <a:cs typeface="微软雅黑" panose="020B0503020204020204" charset="-122"/>
              </a:rPr>
              <a:t> </a:t>
            </a:r>
            <a:r>
              <a:rPr sz="1200" dirty="0">
                <a:solidFill>
                  <a:srgbClr val="808080"/>
                </a:solidFill>
                <a:latin typeface="微软雅黑" panose="020B0503020204020204" charset="-122"/>
                <a:ea typeface="微软雅黑" panose="020B0503020204020204" charset="-122"/>
                <a:cs typeface="微软雅黑" panose="020B0503020204020204" charset="-122"/>
              </a:rPr>
              <a:t>工业公司举例</a:t>
            </a:r>
            <a:endParaRPr sz="1200">
              <a:latin typeface="微软雅黑" panose="020B0503020204020204" charset="-122"/>
              <a:ea typeface="微软雅黑" panose="020B0503020204020204" charset="-122"/>
              <a:cs typeface="微软雅黑" panose="020B0503020204020204" charset="-122"/>
            </a:endParaRPr>
          </a:p>
        </p:txBody>
      </p:sp>
      <p:sp>
        <p:nvSpPr>
          <p:cNvPr id="61" name="object 61"/>
          <p:cNvSpPr/>
          <p:nvPr/>
        </p:nvSpPr>
        <p:spPr>
          <a:xfrm>
            <a:off x="7463833" y="287103"/>
            <a:ext cx="0" cy="209402"/>
          </a:xfrm>
          <a:custGeom>
            <a:avLst/>
            <a:gdLst/>
            <a:ahLst/>
            <a:cxnLst/>
            <a:rect l="l" t="t" r="r" b="b"/>
            <a:pathLst>
              <a:path h="209550">
                <a:moveTo>
                  <a:pt x="0" y="0"/>
                </a:moveTo>
                <a:lnTo>
                  <a:pt x="0" y="209550"/>
                </a:lnTo>
              </a:path>
            </a:pathLst>
          </a:custGeom>
          <a:ln w="9525">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2" name="object 62"/>
          <p:cNvSpPr/>
          <p:nvPr/>
        </p:nvSpPr>
        <p:spPr>
          <a:xfrm>
            <a:off x="7464595" y="496504"/>
            <a:ext cx="1271004" cy="0"/>
          </a:xfrm>
          <a:custGeom>
            <a:avLst/>
            <a:gdLst/>
            <a:ahLst/>
            <a:cxnLst/>
            <a:rect l="l" t="t" r="r" b="b"/>
            <a:pathLst>
              <a:path w="1271904">
                <a:moveTo>
                  <a:pt x="0" y="0"/>
                </a:moveTo>
                <a:lnTo>
                  <a:pt x="1271524" y="0"/>
                </a:lnTo>
              </a:path>
            </a:pathLst>
          </a:custGeom>
          <a:ln w="25400">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3" name="object 63"/>
          <p:cNvSpPr/>
          <p:nvPr/>
        </p:nvSpPr>
        <p:spPr>
          <a:xfrm>
            <a:off x="119549" y="811749"/>
            <a:ext cx="8617193" cy="5304840"/>
          </a:xfrm>
          <a:custGeom>
            <a:avLst/>
            <a:gdLst/>
            <a:ahLst/>
            <a:cxnLst/>
            <a:rect l="l" t="t" r="r" b="b"/>
            <a:pathLst>
              <a:path w="8623300" h="5308600">
                <a:moveTo>
                  <a:pt x="0" y="5308091"/>
                </a:moveTo>
                <a:lnTo>
                  <a:pt x="8622792" y="5308091"/>
                </a:lnTo>
                <a:lnTo>
                  <a:pt x="8622792" y="0"/>
                </a:lnTo>
                <a:lnTo>
                  <a:pt x="0" y="0"/>
                </a:lnTo>
                <a:lnTo>
                  <a:pt x="0" y="5308091"/>
                </a:lnTo>
                <a:close/>
              </a:path>
            </a:pathLst>
          </a:custGeom>
          <a:ln w="19050">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321895" y="1255680"/>
            <a:ext cx="6243975" cy="3364132"/>
          </a:xfrm>
          <a:prstGeom prst="rect">
            <a:avLst/>
          </a:prstGeom>
          <a:blipFill>
            <a:blip r:embed="rId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 name="object 4"/>
          <p:cNvSpPr txBox="1">
            <a:spLocks noGrp="1"/>
          </p:cNvSpPr>
          <p:nvPr>
            <p:ph type="title"/>
          </p:nvPr>
        </p:nvSpPr>
        <p:spPr>
          <a:xfrm>
            <a:off x="106401" y="203088"/>
            <a:ext cx="8560718" cy="595630"/>
          </a:xfrm>
          <a:prstGeom prst="rect">
            <a:avLst/>
          </a:prstGeom>
        </p:spPr>
        <p:txBody>
          <a:bodyPr vert="horz" wrap="square" lIns="0" tIns="12056" rIns="0" bIns="0" rtlCol="0">
            <a:spAutoFit/>
          </a:bodyPr>
          <a:lstStyle/>
          <a:p>
            <a:pPr marL="12700" marR="5080">
              <a:lnSpc>
                <a:spcPct val="100000"/>
              </a:lnSpc>
              <a:spcBef>
                <a:spcPts val="95"/>
              </a:spcBef>
              <a:tabLst>
                <a:tab pos="3725545" algn="l"/>
              </a:tabLst>
            </a:pPr>
            <a:r>
              <a:rPr spc="-5" dirty="0">
                <a:ea typeface="微软雅黑" panose="020B0503020204020204" charset="-122"/>
              </a:rPr>
              <a:t>中国销售人</a:t>
            </a:r>
            <a:r>
              <a:rPr spc="-10" dirty="0">
                <a:ea typeface="微软雅黑" panose="020B0503020204020204" charset="-122"/>
              </a:rPr>
              <a:t>员都</a:t>
            </a:r>
            <a:r>
              <a:rPr spc="-5" dirty="0">
                <a:ea typeface="微软雅黑" panose="020B0503020204020204" charset="-122"/>
              </a:rPr>
              <a:t>非</a:t>
            </a:r>
            <a:r>
              <a:rPr spc="-10" dirty="0">
                <a:ea typeface="微软雅黑" panose="020B0503020204020204" charset="-122"/>
              </a:rPr>
              <a:t>常“</a:t>
            </a:r>
            <a:r>
              <a:rPr spc="-5" dirty="0">
                <a:ea typeface="微软雅黑" panose="020B0503020204020204" charset="-122"/>
              </a:rPr>
              <a:t>爱</a:t>
            </a:r>
            <a:r>
              <a:rPr spc="-10" dirty="0">
                <a:ea typeface="微软雅黑" panose="020B0503020204020204" charset="-122"/>
              </a:rPr>
              <a:t>面子”</a:t>
            </a:r>
            <a:r>
              <a:rPr spc="50" dirty="0">
                <a:ea typeface="微软雅黑" panose="020B0503020204020204" charset="-122"/>
              </a:rPr>
              <a:t> </a:t>
            </a:r>
            <a:r>
              <a:rPr spc="-5" dirty="0">
                <a:ea typeface="微软雅黑" panose="020B0503020204020204" charset="-122"/>
              </a:rPr>
              <a:t>–	聪明的雇主</a:t>
            </a:r>
            <a:r>
              <a:rPr spc="-10" dirty="0">
                <a:ea typeface="微软雅黑" panose="020B0503020204020204" charset="-122"/>
              </a:rPr>
              <a:t>懂</a:t>
            </a:r>
            <a:r>
              <a:rPr spc="-5" dirty="0">
                <a:ea typeface="微软雅黑" panose="020B0503020204020204" charset="-122"/>
              </a:rPr>
              <a:t>得</a:t>
            </a:r>
            <a:r>
              <a:rPr spc="-10" dirty="0">
                <a:ea typeface="微软雅黑" panose="020B0503020204020204" charset="-122"/>
              </a:rPr>
              <a:t>通过</a:t>
            </a:r>
            <a:r>
              <a:rPr spc="-5" dirty="0">
                <a:ea typeface="微软雅黑" panose="020B0503020204020204" charset="-122"/>
              </a:rPr>
              <a:t>财</a:t>
            </a:r>
            <a:r>
              <a:rPr spc="-10" dirty="0">
                <a:ea typeface="微软雅黑" panose="020B0503020204020204" charset="-122"/>
              </a:rPr>
              <a:t>务激</a:t>
            </a:r>
            <a:r>
              <a:rPr spc="-5" dirty="0">
                <a:ea typeface="微软雅黑" panose="020B0503020204020204" charset="-122"/>
              </a:rPr>
              <a:t>励</a:t>
            </a:r>
            <a:r>
              <a:rPr spc="-10" dirty="0">
                <a:ea typeface="微软雅黑" panose="020B0503020204020204" charset="-122"/>
              </a:rPr>
              <a:t>的透</a:t>
            </a:r>
            <a:r>
              <a:rPr spc="-5" dirty="0">
                <a:ea typeface="微软雅黑" panose="020B0503020204020204" charset="-122"/>
              </a:rPr>
              <a:t>明</a:t>
            </a:r>
            <a:r>
              <a:rPr spc="-10" dirty="0">
                <a:ea typeface="微软雅黑" panose="020B0503020204020204" charset="-122"/>
              </a:rPr>
              <a:t>化形</a:t>
            </a:r>
            <a:r>
              <a:rPr spc="-5" dirty="0">
                <a:ea typeface="微软雅黑" panose="020B0503020204020204" charset="-122"/>
              </a:rPr>
              <a:t>成</a:t>
            </a:r>
            <a:r>
              <a:rPr spc="-10" dirty="0">
                <a:ea typeface="微软雅黑" panose="020B0503020204020204" charset="-122"/>
              </a:rPr>
              <a:t>业 </a:t>
            </a:r>
            <a:r>
              <a:rPr dirty="0">
                <a:ea typeface="微软雅黑" panose="020B0503020204020204" charset="-122"/>
              </a:rPr>
              <a:t>绩压力</a:t>
            </a:r>
            <a:endParaRPr dirty="0">
              <a:ea typeface="微软雅黑" panose="020B0503020204020204" charset="-122"/>
            </a:endParaRPr>
          </a:p>
        </p:txBody>
      </p:sp>
      <p:sp>
        <p:nvSpPr>
          <p:cNvPr id="5" name="object 5"/>
          <p:cNvSpPr txBox="1"/>
          <p:nvPr/>
        </p:nvSpPr>
        <p:spPr>
          <a:xfrm>
            <a:off x="106401" y="6412696"/>
            <a:ext cx="1361110"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5" dirty="0">
                <a:latin typeface="微软雅黑" panose="020B0503020204020204" charset="-122"/>
                <a:ea typeface="微软雅黑" panose="020B0503020204020204" charset="-122"/>
                <a:cs typeface="微软雅黑" panose="020B0503020204020204" charset="-122"/>
              </a:rPr>
              <a:t>:</a:t>
            </a:r>
            <a:r>
              <a:rPr sz="1000" spc="-40"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匿名客户举例</a:t>
            </a:r>
            <a:endParaRPr sz="1000">
              <a:latin typeface="微软雅黑" panose="020B0503020204020204" charset="-122"/>
              <a:ea typeface="微软雅黑" panose="020B0503020204020204" charset="-122"/>
              <a:cs typeface="微软雅黑" panose="020B0503020204020204" charset="-122"/>
            </a:endParaRPr>
          </a:p>
        </p:txBody>
      </p:sp>
      <p:sp>
        <p:nvSpPr>
          <p:cNvPr id="6" name="object 6"/>
          <p:cNvSpPr/>
          <p:nvPr/>
        </p:nvSpPr>
        <p:spPr>
          <a:xfrm>
            <a:off x="410427" y="1133085"/>
            <a:ext cx="8070211" cy="4200723"/>
          </a:xfrm>
          <a:custGeom>
            <a:avLst/>
            <a:gdLst/>
            <a:ahLst/>
            <a:cxnLst/>
            <a:rect l="l" t="t" r="r" b="b"/>
            <a:pathLst>
              <a:path w="8075930" h="4203700">
                <a:moveTo>
                  <a:pt x="0" y="4203192"/>
                </a:moveTo>
                <a:lnTo>
                  <a:pt x="8075676" y="4203192"/>
                </a:lnTo>
                <a:lnTo>
                  <a:pt x="8075676" y="0"/>
                </a:lnTo>
                <a:lnTo>
                  <a:pt x="0" y="0"/>
                </a:lnTo>
                <a:lnTo>
                  <a:pt x="0" y="4203192"/>
                </a:lnTo>
                <a:close/>
              </a:path>
            </a:pathLst>
          </a:custGeom>
          <a:ln w="19050">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1873192" y="4697481"/>
            <a:ext cx="5289104" cy="1206153"/>
          </a:xfrm>
          <a:prstGeom prst="rect">
            <a:avLst/>
          </a:prstGeom>
          <a:blipFill>
            <a:blip r:embed="rId2"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txBox="1"/>
          <p:nvPr/>
        </p:nvSpPr>
        <p:spPr>
          <a:xfrm>
            <a:off x="2108738" y="4909294"/>
            <a:ext cx="4821948" cy="751205"/>
          </a:xfrm>
          <a:prstGeom prst="rect">
            <a:avLst/>
          </a:prstGeom>
        </p:spPr>
        <p:txBody>
          <a:bodyPr vert="horz" wrap="square" lIns="0" tIns="12056" rIns="0" bIns="0" rtlCol="0">
            <a:spAutoFit/>
          </a:bodyPr>
          <a:lstStyle/>
          <a:p>
            <a:pPr marL="12700" marR="26035">
              <a:lnSpc>
                <a:spcPct val="100000"/>
              </a:lnSpc>
              <a:spcBef>
                <a:spcPts val="95"/>
              </a:spcBef>
            </a:pPr>
            <a:r>
              <a:rPr sz="1600" b="1" spc="-5" dirty="0">
                <a:latin typeface="微软雅黑" panose="020B0503020204020204" charset="-122"/>
                <a:ea typeface="微软雅黑" panose="020B0503020204020204" charset="-122"/>
                <a:cs typeface="微软雅黑" panose="020B0503020204020204" charset="-122"/>
              </a:rPr>
              <a:t>“…</a:t>
            </a:r>
            <a:r>
              <a:rPr sz="1600" b="1" dirty="0">
                <a:latin typeface="微软雅黑" panose="020B0503020204020204" charset="-122"/>
                <a:ea typeface="微软雅黑" panose="020B0503020204020204" charset="-122"/>
                <a:cs typeface="微软雅黑" panose="020B0503020204020204" charset="-122"/>
              </a:rPr>
              <a:t>没有人愿意</a:t>
            </a:r>
            <a:r>
              <a:rPr sz="1600" b="1" spc="-10" dirty="0">
                <a:latin typeface="微软雅黑" panose="020B0503020204020204" charset="-122"/>
                <a:ea typeface="微软雅黑" panose="020B0503020204020204" charset="-122"/>
                <a:cs typeface="微软雅黑" panose="020B0503020204020204" charset="-122"/>
              </a:rPr>
              <a:t>让自</a:t>
            </a:r>
            <a:r>
              <a:rPr sz="1600" b="1" dirty="0">
                <a:latin typeface="微软雅黑" panose="020B0503020204020204" charset="-122"/>
                <a:ea typeface="微软雅黑" panose="020B0503020204020204" charset="-122"/>
                <a:cs typeface="微软雅黑" panose="020B0503020204020204" charset="-122"/>
              </a:rPr>
              <a:t>己</a:t>
            </a:r>
            <a:r>
              <a:rPr sz="1600" b="1" spc="-10" dirty="0">
                <a:latin typeface="微软雅黑" panose="020B0503020204020204" charset="-122"/>
                <a:ea typeface="微软雅黑" panose="020B0503020204020204" charset="-122"/>
                <a:cs typeface="微软雅黑" panose="020B0503020204020204" charset="-122"/>
              </a:rPr>
              <a:t>的名</a:t>
            </a:r>
            <a:r>
              <a:rPr sz="1600" b="1" dirty="0">
                <a:latin typeface="微软雅黑" panose="020B0503020204020204" charset="-122"/>
                <a:ea typeface="微软雅黑" panose="020B0503020204020204" charset="-122"/>
                <a:cs typeface="微软雅黑" panose="020B0503020204020204" charset="-122"/>
              </a:rPr>
              <a:t>字</a:t>
            </a:r>
            <a:r>
              <a:rPr sz="1600" b="1" spc="-10" dirty="0">
                <a:latin typeface="微软雅黑" panose="020B0503020204020204" charset="-122"/>
                <a:ea typeface="微软雅黑" panose="020B0503020204020204" charset="-122"/>
                <a:cs typeface="微软雅黑" panose="020B0503020204020204" charset="-122"/>
              </a:rPr>
              <a:t>标成</a:t>
            </a:r>
            <a:r>
              <a:rPr sz="1600" b="1" dirty="0">
                <a:latin typeface="微软雅黑" panose="020B0503020204020204" charset="-122"/>
                <a:ea typeface="微软雅黑" panose="020B0503020204020204" charset="-122"/>
                <a:cs typeface="微软雅黑" panose="020B0503020204020204" charset="-122"/>
              </a:rPr>
              <a:t>红</a:t>
            </a:r>
            <a:r>
              <a:rPr sz="1600" b="1" spc="-10" dirty="0">
                <a:latin typeface="微软雅黑" panose="020B0503020204020204" charset="-122"/>
                <a:ea typeface="微软雅黑" panose="020B0503020204020204" charset="-122"/>
                <a:cs typeface="微软雅黑" panose="020B0503020204020204" charset="-122"/>
              </a:rPr>
              <a:t>的或</a:t>
            </a:r>
            <a:r>
              <a:rPr sz="1600" b="1" dirty="0">
                <a:latin typeface="微软雅黑" panose="020B0503020204020204" charset="-122"/>
                <a:ea typeface="微软雅黑" panose="020B0503020204020204" charset="-122"/>
                <a:cs typeface="微软雅黑" panose="020B0503020204020204" charset="-122"/>
              </a:rPr>
              <a:t>黄</a:t>
            </a:r>
            <a:r>
              <a:rPr sz="1600" b="1" spc="-10" dirty="0">
                <a:latin typeface="微软雅黑" panose="020B0503020204020204" charset="-122"/>
                <a:ea typeface="微软雅黑" panose="020B0503020204020204" charset="-122"/>
                <a:cs typeface="微软雅黑" panose="020B0503020204020204" charset="-122"/>
              </a:rPr>
              <a:t>的。</a:t>
            </a:r>
            <a:r>
              <a:rPr sz="1600" b="1" dirty="0">
                <a:latin typeface="微软雅黑" panose="020B0503020204020204" charset="-122"/>
                <a:ea typeface="微软雅黑" panose="020B0503020204020204" charset="-122"/>
                <a:cs typeface="微软雅黑" panose="020B0503020204020204" charset="-122"/>
              </a:rPr>
              <a:t>大</a:t>
            </a:r>
            <a:r>
              <a:rPr sz="1600" b="1" spc="-10" dirty="0">
                <a:latin typeface="微软雅黑" panose="020B0503020204020204" charset="-122"/>
                <a:ea typeface="微软雅黑" panose="020B0503020204020204" charset="-122"/>
                <a:cs typeface="微软雅黑" panose="020B0503020204020204" charset="-122"/>
              </a:rPr>
              <a:t>家干 </a:t>
            </a:r>
            <a:r>
              <a:rPr sz="1600" b="1" dirty="0">
                <a:latin typeface="微软雅黑" panose="020B0503020204020204" charset="-122"/>
                <a:ea typeface="微软雅黑" panose="020B0503020204020204" charset="-122"/>
                <a:cs typeface="微软雅黑" panose="020B0503020204020204" charset="-122"/>
              </a:rPr>
              <a:t>了一个晚上</a:t>
            </a:r>
            <a:r>
              <a:rPr sz="1600" b="1" spc="-10" dirty="0">
                <a:latin typeface="微软雅黑" panose="020B0503020204020204" charset="-122"/>
                <a:ea typeface="微软雅黑" panose="020B0503020204020204" charset="-122"/>
                <a:cs typeface="微软雅黑" panose="020B0503020204020204" charset="-122"/>
              </a:rPr>
              <a:t>，凌</a:t>
            </a:r>
            <a:r>
              <a:rPr sz="1600" b="1" spc="5" dirty="0">
                <a:latin typeface="微软雅黑" panose="020B0503020204020204" charset="-122"/>
                <a:ea typeface="微软雅黑" panose="020B0503020204020204" charset="-122"/>
                <a:cs typeface="微软雅黑" panose="020B0503020204020204" charset="-122"/>
              </a:rPr>
              <a:t>晨</a:t>
            </a:r>
            <a:r>
              <a:rPr sz="1600" b="1" spc="-5" dirty="0">
                <a:latin typeface="微软雅黑" panose="020B0503020204020204" charset="-122"/>
                <a:ea typeface="微软雅黑" panose="020B0503020204020204" charset="-122"/>
                <a:cs typeface="微软雅黑" panose="020B0503020204020204" charset="-122"/>
              </a:rPr>
              <a:t>2</a:t>
            </a:r>
            <a:r>
              <a:rPr sz="1600" b="1" spc="-10" dirty="0">
                <a:latin typeface="微软雅黑" panose="020B0503020204020204" charset="-122"/>
                <a:ea typeface="微软雅黑" panose="020B0503020204020204" charset="-122"/>
                <a:cs typeface="微软雅黑" panose="020B0503020204020204" charset="-122"/>
              </a:rPr>
              <a:t>点才</a:t>
            </a:r>
            <a:r>
              <a:rPr sz="1600" b="1" dirty="0">
                <a:latin typeface="微软雅黑" panose="020B0503020204020204" charset="-122"/>
                <a:ea typeface="微软雅黑" panose="020B0503020204020204" charset="-122"/>
                <a:cs typeface="微软雅黑" panose="020B0503020204020204" charset="-122"/>
              </a:rPr>
              <a:t>完</a:t>
            </a:r>
            <a:r>
              <a:rPr sz="1600" b="1" spc="-10" dirty="0">
                <a:latin typeface="微软雅黑" panose="020B0503020204020204" charset="-122"/>
                <a:ea typeface="微软雅黑" panose="020B0503020204020204" charset="-122"/>
                <a:cs typeface="微软雅黑" panose="020B0503020204020204" charset="-122"/>
              </a:rPr>
              <a:t>成</a:t>
            </a:r>
            <a:r>
              <a:rPr sz="1600" b="1" dirty="0">
                <a:latin typeface="微软雅黑" panose="020B0503020204020204" charset="-122"/>
                <a:ea typeface="微软雅黑" panose="020B0503020204020204" charset="-122"/>
                <a:cs typeface="微软雅黑" panose="020B0503020204020204" charset="-122"/>
              </a:rPr>
              <a:t> </a:t>
            </a:r>
            <a:r>
              <a:rPr sz="1600" b="1" spc="-5" dirty="0">
                <a:latin typeface="微软雅黑" panose="020B0503020204020204" charset="-122"/>
                <a:ea typeface="微软雅黑" panose="020B0503020204020204" charset="-122"/>
                <a:cs typeface="微软雅黑" panose="020B0503020204020204" charset="-122"/>
              </a:rPr>
              <a:t>…”</a:t>
            </a:r>
            <a:endParaRPr sz="1600">
              <a:latin typeface="微软雅黑" panose="020B0503020204020204" charset="-122"/>
              <a:ea typeface="微软雅黑" panose="020B0503020204020204" charset="-122"/>
              <a:cs typeface="微软雅黑" panose="020B0503020204020204" charset="-122"/>
            </a:endParaRPr>
          </a:p>
          <a:p>
            <a:pPr marL="3825875">
              <a:lnSpc>
                <a:spcPts val="1930"/>
              </a:lnSpc>
            </a:pPr>
            <a:r>
              <a:rPr sz="1600" b="1" i="1" spc="-5" dirty="0">
                <a:latin typeface="微软雅黑" panose="020B0503020204020204" charset="-122"/>
                <a:ea typeface="微软雅黑" panose="020B0503020204020204" charset="-122"/>
                <a:cs typeface="微软雅黑" panose="020B0503020204020204" charset="-122"/>
              </a:rPr>
              <a:t>–</a:t>
            </a:r>
            <a:r>
              <a:rPr sz="1600" b="1" i="1" spc="-70" dirty="0">
                <a:latin typeface="微软雅黑" panose="020B0503020204020204" charset="-122"/>
                <a:ea typeface="微软雅黑" panose="020B0503020204020204" charset="-122"/>
                <a:cs typeface="微软雅黑" panose="020B0503020204020204" charset="-122"/>
              </a:rPr>
              <a:t> </a:t>
            </a:r>
            <a:r>
              <a:rPr sz="1650" b="1" i="1" spc="-50" dirty="0">
                <a:latin typeface="微软雅黑" panose="020B0503020204020204" charset="-122"/>
                <a:ea typeface="微软雅黑" panose="020B0503020204020204" charset="-122"/>
                <a:cs typeface="微软雅黑" panose="020B0503020204020204" charset="-122"/>
              </a:rPr>
              <a:t>项目教练</a:t>
            </a:r>
            <a:endParaRPr sz="165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401" y="203088"/>
            <a:ext cx="5331491"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训练有素的</a:t>
            </a:r>
            <a:r>
              <a:rPr spc="-10" dirty="0">
                <a:ea typeface="微软雅黑" panose="020B0503020204020204" charset="-122"/>
              </a:rPr>
              <a:t>销售</a:t>
            </a:r>
            <a:r>
              <a:rPr spc="-5" dirty="0">
                <a:ea typeface="微软雅黑" panose="020B0503020204020204" charset="-122"/>
              </a:rPr>
              <a:t>队</a:t>
            </a:r>
            <a:r>
              <a:rPr spc="-10" dirty="0">
                <a:ea typeface="微软雅黑" panose="020B0503020204020204" charset="-122"/>
              </a:rPr>
              <a:t>伍能</a:t>
            </a:r>
            <a:r>
              <a:rPr spc="-5" dirty="0">
                <a:ea typeface="微软雅黑" panose="020B0503020204020204" charset="-122"/>
              </a:rPr>
              <a:t>从</a:t>
            </a:r>
            <a:r>
              <a:rPr spc="-10" dirty="0">
                <a:ea typeface="微软雅黑" panose="020B0503020204020204" charset="-122"/>
              </a:rPr>
              <a:t>大客</a:t>
            </a:r>
            <a:r>
              <a:rPr spc="-5" dirty="0">
                <a:ea typeface="微软雅黑" panose="020B0503020204020204" charset="-122"/>
              </a:rPr>
              <a:t>户</a:t>
            </a:r>
            <a:r>
              <a:rPr spc="-10" dirty="0">
                <a:ea typeface="微软雅黑" panose="020B0503020204020204" charset="-122"/>
              </a:rPr>
              <a:t>身上</a:t>
            </a:r>
            <a:r>
              <a:rPr spc="-5" dirty="0">
                <a:ea typeface="微软雅黑" panose="020B0503020204020204" charset="-122"/>
              </a:rPr>
              <a:t>获</a:t>
            </a:r>
            <a:r>
              <a:rPr spc="-10" dirty="0">
                <a:ea typeface="微软雅黑" panose="020B0503020204020204" charset="-122"/>
              </a:rPr>
              <a:t>取巨</a:t>
            </a:r>
            <a:r>
              <a:rPr spc="-5" dirty="0">
                <a:ea typeface="微软雅黑" panose="020B0503020204020204" charset="-122"/>
              </a:rPr>
              <a:t>大</a:t>
            </a:r>
            <a:r>
              <a:rPr spc="-10" dirty="0">
                <a:ea typeface="微软雅黑" panose="020B0503020204020204" charset="-122"/>
              </a:rPr>
              <a:t>价值</a:t>
            </a:r>
            <a:endParaRPr spc="-10" dirty="0">
              <a:ea typeface="微软雅黑" panose="020B0503020204020204" charset="-122"/>
            </a:endParaRPr>
          </a:p>
        </p:txBody>
      </p:sp>
      <p:sp>
        <p:nvSpPr>
          <p:cNvPr id="4" name="object 4"/>
          <p:cNvSpPr txBox="1"/>
          <p:nvPr/>
        </p:nvSpPr>
        <p:spPr>
          <a:xfrm>
            <a:off x="106401" y="6412696"/>
            <a:ext cx="1361110"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5" dirty="0">
                <a:latin typeface="微软雅黑" panose="020B0503020204020204" charset="-122"/>
                <a:ea typeface="微软雅黑" panose="020B0503020204020204" charset="-122"/>
                <a:cs typeface="微软雅黑" panose="020B0503020204020204" charset="-122"/>
              </a:rPr>
              <a:t>:</a:t>
            </a:r>
            <a:r>
              <a:rPr sz="1000" spc="-40"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匿名客户分析</a:t>
            </a:r>
            <a:endParaRPr sz="1000">
              <a:latin typeface="微软雅黑" panose="020B0503020204020204" charset="-122"/>
              <a:ea typeface="微软雅黑" panose="020B0503020204020204" charset="-122"/>
              <a:cs typeface="微软雅黑" panose="020B0503020204020204" charset="-122"/>
            </a:endParaRPr>
          </a:p>
        </p:txBody>
      </p:sp>
      <p:sp>
        <p:nvSpPr>
          <p:cNvPr id="5" name="object 5"/>
          <p:cNvSpPr/>
          <p:nvPr/>
        </p:nvSpPr>
        <p:spPr>
          <a:xfrm>
            <a:off x="223107" y="1081306"/>
            <a:ext cx="8480130" cy="4502134"/>
          </a:xfrm>
          <a:custGeom>
            <a:avLst/>
            <a:gdLst/>
            <a:ahLst/>
            <a:cxnLst/>
            <a:rect l="l" t="t" r="r" b="b"/>
            <a:pathLst>
              <a:path w="8486140" h="4505325">
                <a:moveTo>
                  <a:pt x="0" y="4504944"/>
                </a:moveTo>
                <a:lnTo>
                  <a:pt x="8485632" y="4504944"/>
                </a:lnTo>
                <a:lnTo>
                  <a:pt x="8485632" y="0"/>
                </a:lnTo>
                <a:lnTo>
                  <a:pt x="0" y="0"/>
                </a:lnTo>
                <a:lnTo>
                  <a:pt x="0" y="4504944"/>
                </a:lnTo>
                <a:close/>
              </a:path>
            </a:pathLst>
          </a:custGeom>
          <a:ln w="19050">
            <a:solidFill>
              <a:srgbClr val="C6DFFA"/>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222346" y="1080545"/>
            <a:ext cx="8480130" cy="365501"/>
          </a:xfrm>
          <a:custGeom>
            <a:avLst/>
            <a:gdLst/>
            <a:ahLst/>
            <a:cxnLst/>
            <a:rect l="l" t="t" r="r" b="b"/>
            <a:pathLst>
              <a:path w="8486140" h="365759">
                <a:moveTo>
                  <a:pt x="0" y="365760"/>
                </a:moveTo>
                <a:lnTo>
                  <a:pt x="8485632" y="365760"/>
                </a:lnTo>
                <a:lnTo>
                  <a:pt x="8485632" y="0"/>
                </a:lnTo>
                <a:lnTo>
                  <a:pt x="0" y="0"/>
                </a:lnTo>
                <a:lnTo>
                  <a:pt x="0" y="3657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txBox="1"/>
          <p:nvPr/>
        </p:nvSpPr>
        <p:spPr>
          <a:xfrm>
            <a:off x="281536" y="1132451"/>
            <a:ext cx="3138486" cy="589915"/>
          </a:xfrm>
          <a:prstGeom prst="rect">
            <a:avLst/>
          </a:prstGeom>
        </p:spPr>
        <p:txBody>
          <a:bodyPr vert="horz" wrap="square" lIns="0" tIns="13325" rIns="0" bIns="0" rtlCol="0">
            <a:spAutoFit/>
          </a:bodyPr>
          <a:lstStyle/>
          <a:p>
            <a:pPr marL="12700">
              <a:lnSpc>
                <a:spcPct val="100000"/>
              </a:lnSpc>
              <a:spcBef>
                <a:spcPts val="105"/>
              </a:spcBef>
            </a:pPr>
            <a:r>
              <a:rPr sz="1400" b="1" spc="10" dirty="0">
                <a:solidFill>
                  <a:srgbClr val="0066CC"/>
                </a:solidFill>
                <a:latin typeface="微软雅黑" panose="020B0503020204020204" charset="-122"/>
                <a:ea typeface="微软雅黑" panose="020B0503020204020204" charset="-122"/>
                <a:cs typeface="微软雅黑" panose="020B0503020204020204" charset="-122"/>
              </a:rPr>
              <a:t>大客</a:t>
            </a:r>
            <a:r>
              <a:rPr sz="1400" b="1" dirty="0">
                <a:solidFill>
                  <a:srgbClr val="0066CC"/>
                </a:solidFill>
                <a:latin typeface="微软雅黑" panose="020B0503020204020204" charset="-122"/>
                <a:ea typeface="微软雅黑" panose="020B0503020204020204" charset="-122"/>
                <a:cs typeface="微软雅黑" panose="020B0503020204020204" charset="-122"/>
              </a:rPr>
              <a:t>户管</a:t>
            </a:r>
            <a:r>
              <a:rPr sz="1400" b="1" spc="-15" dirty="0">
                <a:solidFill>
                  <a:srgbClr val="0066CC"/>
                </a:solidFill>
                <a:latin typeface="微软雅黑" panose="020B0503020204020204" charset="-122"/>
                <a:ea typeface="微软雅黑" panose="020B0503020204020204" charset="-122"/>
                <a:cs typeface="微软雅黑" panose="020B0503020204020204" charset="-122"/>
              </a:rPr>
              <a:t>理</a:t>
            </a:r>
            <a:r>
              <a:rPr sz="1400" b="1" dirty="0">
                <a:solidFill>
                  <a:srgbClr val="0066CC"/>
                </a:solidFill>
                <a:latin typeface="微软雅黑" panose="020B0503020204020204" charset="-122"/>
                <a:ea typeface="微软雅黑" panose="020B0503020204020204" charset="-122"/>
                <a:cs typeface="微软雅黑" panose="020B0503020204020204" charset="-122"/>
              </a:rPr>
              <a:t>对毛</a:t>
            </a:r>
            <a:r>
              <a:rPr sz="1400" b="1" spc="-15" dirty="0">
                <a:solidFill>
                  <a:srgbClr val="0066CC"/>
                </a:solidFill>
                <a:latin typeface="微软雅黑" panose="020B0503020204020204" charset="-122"/>
                <a:ea typeface="微软雅黑" panose="020B0503020204020204" charset="-122"/>
                <a:cs typeface="微软雅黑" panose="020B0503020204020204" charset="-122"/>
              </a:rPr>
              <a:t>利</a:t>
            </a:r>
            <a:r>
              <a:rPr sz="1400" b="1" dirty="0">
                <a:solidFill>
                  <a:srgbClr val="0066CC"/>
                </a:solidFill>
                <a:latin typeface="微软雅黑" panose="020B0503020204020204" charset="-122"/>
                <a:ea typeface="微软雅黑" panose="020B0503020204020204" charset="-122"/>
                <a:cs typeface="微软雅黑" panose="020B0503020204020204" charset="-122"/>
              </a:rPr>
              <a:t>的影响</a:t>
            </a:r>
            <a:r>
              <a:rPr sz="1400" b="1" spc="10" dirty="0">
                <a:solidFill>
                  <a:srgbClr val="0066CC"/>
                </a:solidFill>
                <a:latin typeface="微软雅黑" panose="020B0503020204020204" charset="-122"/>
                <a:ea typeface="微软雅黑" panose="020B0503020204020204" charset="-122"/>
                <a:cs typeface="微软雅黑" panose="020B0503020204020204" charset="-122"/>
              </a:rPr>
              <a:t> </a:t>
            </a:r>
            <a:r>
              <a:rPr sz="1400" b="1" dirty="0">
                <a:solidFill>
                  <a:srgbClr val="0066CC"/>
                </a:solidFill>
                <a:latin typeface="微软雅黑" panose="020B0503020204020204" charset="-122"/>
                <a:ea typeface="微软雅黑" panose="020B0503020204020204" charset="-122"/>
                <a:cs typeface="微软雅黑" panose="020B0503020204020204" charset="-122"/>
              </a:rPr>
              <a:t>–</a:t>
            </a:r>
            <a:r>
              <a:rPr sz="1400" b="1" spc="-35" dirty="0">
                <a:solidFill>
                  <a:srgbClr val="0066CC"/>
                </a:solidFill>
                <a:latin typeface="微软雅黑" panose="020B0503020204020204" charset="-122"/>
                <a:ea typeface="微软雅黑" panose="020B0503020204020204" charset="-122"/>
                <a:cs typeface="微软雅黑" panose="020B0503020204020204" charset="-122"/>
              </a:rPr>
              <a:t> </a:t>
            </a:r>
            <a:r>
              <a:rPr sz="1400" b="1" spc="-5" dirty="0">
                <a:solidFill>
                  <a:srgbClr val="0066CC"/>
                </a:solidFill>
                <a:latin typeface="微软雅黑" panose="020B0503020204020204" charset="-122"/>
                <a:ea typeface="微软雅黑" panose="020B0503020204020204" charset="-122"/>
                <a:cs typeface="微软雅黑" panose="020B0503020204020204" charset="-122"/>
              </a:rPr>
              <a:t>18</a:t>
            </a:r>
            <a:r>
              <a:rPr sz="1400" b="1" spc="10" dirty="0">
                <a:solidFill>
                  <a:srgbClr val="0066CC"/>
                </a:solidFill>
                <a:latin typeface="微软雅黑" panose="020B0503020204020204" charset="-122"/>
                <a:ea typeface="微软雅黑" panose="020B0503020204020204" charset="-122"/>
                <a:cs typeface="微软雅黑" panose="020B0503020204020204" charset="-122"/>
              </a:rPr>
              <a:t>个</a:t>
            </a:r>
            <a:r>
              <a:rPr sz="1400" b="1" dirty="0">
                <a:solidFill>
                  <a:srgbClr val="0066CC"/>
                </a:solidFill>
                <a:latin typeface="微软雅黑" panose="020B0503020204020204" charset="-122"/>
                <a:ea typeface="微软雅黑" panose="020B0503020204020204" charset="-122"/>
                <a:cs typeface="微软雅黑" panose="020B0503020204020204" charset="-122"/>
              </a:rPr>
              <a:t>月翻倍</a:t>
            </a:r>
            <a:endParaRPr sz="1400">
              <a:latin typeface="微软雅黑" panose="020B0503020204020204" charset="-122"/>
              <a:ea typeface="微软雅黑" panose="020B0503020204020204" charset="-122"/>
              <a:cs typeface="微软雅黑" panose="020B0503020204020204" charset="-122"/>
            </a:endParaRPr>
          </a:p>
          <a:p>
            <a:pPr marL="16510">
              <a:lnSpc>
                <a:spcPct val="100000"/>
              </a:lnSpc>
              <a:spcBef>
                <a:spcPts val="1145"/>
              </a:spcBef>
            </a:pPr>
            <a:r>
              <a:rPr sz="1400" dirty="0">
                <a:solidFill>
                  <a:srgbClr val="808080"/>
                </a:solidFill>
                <a:latin typeface="微软雅黑" panose="020B0503020204020204" charset="-122"/>
                <a:ea typeface="微软雅黑" panose="020B0503020204020204" charset="-122"/>
                <a:cs typeface="微软雅黑" panose="020B0503020204020204" charset="-122"/>
              </a:rPr>
              <a:t>按当前价值指数</a:t>
            </a:r>
            <a:r>
              <a:rPr sz="1400" spc="310" dirty="0">
                <a:solidFill>
                  <a:srgbClr val="808080"/>
                </a:solidFill>
                <a:latin typeface="微软雅黑" panose="020B0503020204020204" charset="-122"/>
                <a:ea typeface="微软雅黑" panose="020B0503020204020204" charset="-122"/>
                <a:cs typeface="微软雅黑" panose="020B0503020204020204" charset="-122"/>
              </a:rPr>
              <a:t>化</a:t>
            </a:r>
            <a:r>
              <a:rPr sz="1400" dirty="0">
                <a:solidFill>
                  <a:srgbClr val="808080"/>
                </a:solidFill>
                <a:latin typeface="微软雅黑" panose="020B0503020204020204" charset="-122"/>
                <a:ea typeface="微软雅黑" panose="020B0503020204020204" charset="-122"/>
                <a:cs typeface="微软雅黑" panose="020B0503020204020204" charset="-122"/>
              </a:rPr>
              <a:t>=</a:t>
            </a:r>
            <a:r>
              <a:rPr sz="1400" spc="-5" dirty="0">
                <a:solidFill>
                  <a:srgbClr val="808080"/>
                </a:solidFill>
                <a:latin typeface="微软雅黑" panose="020B0503020204020204" charset="-122"/>
                <a:ea typeface="微软雅黑" panose="020B0503020204020204" charset="-122"/>
                <a:cs typeface="微软雅黑" panose="020B0503020204020204" charset="-122"/>
              </a:rPr>
              <a:t> </a:t>
            </a:r>
            <a:r>
              <a:rPr sz="1400" dirty="0">
                <a:solidFill>
                  <a:srgbClr val="808080"/>
                </a:solidFill>
                <a:latin typeface="微软雅黑" panose="020B0503020204020204" charset="-122"/>
                <a:ea typeface="微软雅黑" panose="020B0503020204020204" charset="-122"/>
                <a:cs typeface="微软雅黑" panose="020B0503020204020204" charset="-122"/>
              </a:rPr>
              <a:t>100</a:t>
            </a:r>
            <a:endParaRPr sz="1400">
              <a:latin typeface="微软雅黑" panose="020B0503020204020204" charset="-122"/>
              <a:ea typeface="微软雅黑" panose="020B0503020204020204" charset="-122"/>
              <a:cs typeface="微软雅黑" panose="020B0503020204020204" charset="-122"/>
            </a:endParaRPr>
          </a:p>
        </p:txBody>
      </p:sp>
      <p:sp>
        <p:nvSpPr>
          <p:cNvPr id="8" name="object 8"/>
          <p:cNvSpPr/>
          <p:nvPr/>
        </p:nvSpPr>
        <p:spPr>
          <a:xfrm>
            <a:off x="2814356" y="3367971"/>
            <a:ext cx="246840" cy="0"/>
          </a:xfrm>
          <a:custGeom>
            <a:avLst/>
            <a:gdLst/>
            <a:ahLst/>
            <a:cxnLst/>
            <a:rect l="l" t="t" r="r" b="b"/>
            <a:pathLst>
              <a:path w="247014">
                <a:moveTo>
                  <a:pt x="0" y="0"/>
                </a:moveTo>
                <a:lnTo>
                  <a:pt x="246887"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3699174" y="2225781"/>
            <a:ext cx="248744" cy="0"/>
          </a:xfrm>
          <a:custGeom>
            <a:avLst/>
            <a:gdLst/>
            <a:ahLst/>
            <a:cxnLst/>
            <a:rect l="l" t="t" r="r" b="b"/>
            <a:pathLst>
              <a:path w="248920">
                <a:moveTo>
                  <a:pt x="0" y="0"/>
                </a:moveTo>
                <a:lnTo>
                  <a:pt x="248412"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1938677" y="4129432"/>
            <a:ext cx="246840" cy="0"/>
          </a:xfrm>
          <a:custGeom>
            <a:avLst/>
            <a:gdLst/>
            <a:ahLst/>
            <a:cxnLst/>
            <a:rect l="l" t="t" r="r" b="b"/>
            <a:pathLst>
              <a:path w="247014">
                <a:moveTo>
                  <a:pt x="0" y="0"/>
                </a:moveTo>
                <a:lnTo>
                  <a:pt x="246887"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1053861" y="4263449"/>
            <a:ext cx="246840" cy="0"/>
          </a:xfrm>
          <a:custGeom>
            <a:avLst/>
            <a:gdLst/>
            <a:ahLst/>
            <a:cxnLst/>
            <a:rect l="l" t="t" r="r" b="b"/>
            <a:pathLst>
              <a:path w="247015">
                <a:moveTo>
                  <a:pt x="0" y="0"/>
                </a:moveTo>
                <a:lnTo>
                  <a:pt x="246887" y="0"/>
                </a:lnTo>
              </a:path>
            </a:pathLst>
          </a:custGeom>
          <a:ln w="3175">
            <a:solidFill>
              <a:srgbClr val="000000"/>
            </a:solidFill>
            <a:prstDash val="sysDash"/>
          </a:ln>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419898" y="4267067"/>
            <a:ext cx="637723" cy="637723"/>
          </a:xfrm>
          <a:custGeom>
            <a:avLst/>
            <a:gdLst/>
            <a:ahLst/>
            <a:cxnLst/>
            <a:rect l="l" t="t" r="r" b="b"/>
            <a:pathLst>
              <a:path w="638175" h="638175">
                <a:moveTo>
                  <a:pt x="0" y="637664"/>
                </a:moveTo>
                <a:lnTo>
                  <a:pt x="638180" y="637664"/>
                </a:lnTo>
                <a:lnTo>
                  <a:pt x="638180" y="0"/>
                </a:lnTo>
                <a:lnTo>
                  <a:pt x="0" y="0"/>
                </a:lnTo>
                <a:lnTo>
                  <a:pt x="0" y="63766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419898" y="4267067"/>
            <a:ext cx="637723" cy="637723"/>
          </a:xfrm>
          <a:custGeom>
            <a:avLst/>
            <a:gdLst/>
            <a:ahLst/>
            <a:cxnLst/>
            <a:rect l="l" t="t" r="r" b="b"/>
            <a:pathLst>
              <a:path w="638175" h="638175">
                <a:moveTo>
                  <a:pt x="0" y="637664"/>
                </a:moveTo>
                <a:lnTo>
                  <a:pt x="638180" y="637664"/>
                </a:lnTo>
                <a:lnTo>
                  <a:pt x="638180" y="0"/>
                </a:lnTo>
                <a:lnTo>
                  <a:pt x="0" y="0"/>
                </a:lnTo>
                <a:lnTo>
                  <a:pt x="0" y="637664"/>
                </a:lnTo>
                <a:close/>
              </a:path>
            </a:pathLst>
          </a:custGeom>
          <a:ln w="9495">
            <a:solidFill>
              <a:srgbClr val="FFF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1740698" y="4133683"/>
            <a:ext cx="201787" cy="133890"/>
          </a:xfrm>
          <a:custGeom>
            <a:avLst/>
            <a:gdLst/>
            <a:ahLst/>
            <a:cxnLst/>
            <a:rect l="l" t="t" r="r" b="b"/>
            <a:pathLst>
              <a:path w="201930" h="133985">
                <a:moveTo>
                  <a:pt x="0" y="133479"/>
                </a:moveTo>
                <a:lnTo>
                  <a:pt x="201662" y="133479"/>
                </a:lnTo>
                <a:lnTo>
                  <a:pt x="201662" y="0"/>
                </a:lnTo>
                <a:lnTo>
                  <a:pt x="0" y="0"/>
                </a:lnTo>
                <a:lnTo>
                  <a:pt x="0" y="13347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p:nvPr/>
        </p:nvSpPr>
        <p:spPr>
          <a:xfrm>
            <a:off x="1304805" y="4133683"/>
            <a:ext cx="194172" cy="133890"/>
          </a:xfrm>
          <a:custGeom>
            <a:avLst/>
            <a:gdLst/>
            <a:ahLst/>
            <a:cxnLst/>
            <a:rect l="l" t="t" r="r" b="b"/>
            <a:pathLst>
              <a:path w="194309" h="133985">
                <a:moveTo>
                  <a:pt x="0" y="133479"/>
                </a:moveTo>
                <a:lnTo>
                  <a:pt x="193885" y="133479"/>
                </a:lnTo>
                <a:lnTo>
                  <a:pt x="193885" y="0"/>
                </a:lnTo>
                <a:lnTo>
                  <a:pt x="0" y="0"/>
                </a:lnTo>
                <a:lnTo>
                  <a:pt x="0" y="13347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6" name="object 16"/>
          <p:cNvSpPr/>
          <p:nvPr/>
        </p:nvSpPr>
        <p:spPr>
          <a:xfrm>
            <a:off x="3950032" y="2231148"/>
            <a:ext cx="637723" cy="2673360"/>
          </a:xfrm>
          <a:custGeom>
            <a:avLst/>
            <a:gdLst/>
            <a:ahLst/>
            <a:cxnLst/>
            <a:rect l="l" t="t" r="r" b="b"/>
            <a:pathLst>
              <a:path w="638175" h="2675254">
                <a:moveTo>
                  <a:pt x="0" y="2675025"/>
                </a:moveTo>
                <a:lnTo>
                  <a:pt x="637863" y="2675025"/>
                </a:lnTo>
                <a:lnTo>
                  <a:pt x="637863" y="0"/>
                </a:lnTo>
                <a:lnTo>
                  <a:pt x="0" y="0"/>
                </a:lnTo>
                <a:lnTo>
                  <a:pt x="0" y="2675025"/>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7" name="object 17"/>
          <p:cNvSpPr/>
          <p:nvPr/>
        </p:nvSpPr>
        <p:spPr>
          <a:xfrm>
            <a:off x="291720" y="4899539"/>
            <a:ext cx="4415201" cy="0"/>
          </a:xfrm>
          <a:custGeom>
            <a:avLst/>
            <a:gdLst/>
            <a:ahLst/>
            <a:cxnLst/>
            <a:rect l="l" t="t" r="r" b="b"/>
            <a:pathLst>
              <a:path w="4418330">
                <a:moveTo>
                  <a:pt x="0" y="0"/>
                </a:moveTo>
                <a:lnTo>
                  <a:pt x="4417852" y="0"/>
                </a:lnTo>
              </a:path>
            </a:pathLst>
          </a:custGeom>
          <a:ln w="28467">
            <a:solidFill>
              <a:srgbClr val="00000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8" name="object 18"/>
          <p:cNvSpPr txBox="1"/>
          <p:nvPr/>
        </p:nvSpPr>
        <p:spPr>
          <a:xfrm>
            <a:off x="2189713" y="3367971"/>
            <a:ext cx="628205" cy="497840"/>
          </a:xfrm>
          <a:prstGeom prst="rect">
            <a:avLst/>
          </a:prstGeom>
          <a:solidFill>
            <a:srgbClr val="C6DFFA"/>
          </a:solidFill>
        </p:spPr>
        <p:txBody>
          <a:bodyPr vert="horz" wrap="square" lIns="0" tIns="6345" rIns="0" bIns="0" rtlCol="0">
            <a:spAutoFit/>
          </a:bodyPr>
          <a:lstStyle/>
          <a:p>
            <a:pPr>
              <a:lnSpc>
                <a:spcPct val="100000"/>
              </a:lnSpc>
              <a:spcBef>
                <a:spcPts val="50"/>
              </a:spcBef>
            </a:pPr>
            <a:endParaRPr>
              <a:latin typeface="微软雅黑" panose="020B0503020204020204" charset="-122"/>
              <a:ea typeface="微软雅黑" panose="020B0503020204020204" charset="-122"/>
              <a:cs typeface="Times New Roman" panose="02020603050405020304"/>
            </a:endParaRPr>
          </a:p>
          <a:p>
            <a:pPr marL="156845">
              <a:lnSpc>
                <a:spcPct val="100000"/>
              </a:lnSpc>
            </a:pPr>
            <a:r>
              <a:rPr sz="1400" spc="40" dirty="0">
                <a:latin typeface="微软雅黑" panose="020B0503020204020204" charset="-122"/>
                <a:ea typeface="微软雅黑" panose="020B0503020204020204" charset="-122"/>
                <a:cs typeface="Arial" panose="020B0604020202020204"/>
              </a:rPr>
              <a:t>120</a:t>
            </a:r>
            <a:endParaRPr sz="1400">
              <a:latin typeface="微软雅黑" panose="020B0503020204020204" charset="-122"/>
              <a:ea typeface="微软雅黑" panose="020B0503020204020204" charset="-122"/>
              <a:cs typeface="Arial" panose="020B0604020202020204"/>
            </a:endParaRPr>
          </a:p>
        </p:txBody>
      </p:sp>
      <p:sp>
        <p:nvSpPr>
          <p:cNvPr id="19" name="object 19"/>
          <p:cNvSpPr txBox="1"/>
          <p:nvPr/>
        </p:nvSpPr>
        <p:spPr>
          <a:xfrm>
            <a:off x="3065125" y="2225781"/>
            <a:ext cx="637723" cy="700405"/>
          </a:xfrm>
          <a:prstGeom prst="rect">
            <a:avLst/>
          </a:prstGeom>
          <a:solidFill>
            <a:srgbClr val="C6DFFA"/>
          </a:solidFill>
        </p:spPr>
        <p:txBody>
          <a:bodyPr vert="horz" wrap="square" lIns="0" tIns="0" rIns="0" bIns="0" rtlCol="0">
            <a:spAutoFit/>
          </a:bodyPr>
          <a:lstStyle/>
          <a:p>
            <a:pPr>
              <a:lnSpc>
                <a:spcPct val="100000"/>
              </a:lnSpc>
            </a:pPr>
            <a:endParaRPr sz="1600">
              <a:latin typeface="微软雅黑" panose="020B0503020204020204" charset="-122"/>
              <a:ea typeface="微软雅黑" panose="020B0503020204020204" charset="-122"/>
              <a:cs typeface="Times New Roman" panose="02020603050405020304"/>
            </a:endParaRPr>
          </a:p>
          <a:p>
            <a:pPr>
              <a:lnSpc>
                <a:spcPct val="100000"/>
              </a:lnSpc>
            </a:pPr>
            <a:endParaRPr sz="1550">
              <a:latin typeface="微软雅黑" panose="020B0503020204020204" charset="-122"/>
              <a:ea typeface="微软雅黑" panose="020B0503020204020204" charset="-122"/>
              <a:cs typeface="Times New Roman" panose="02020603050405020304"/>
            </a:endParaRPr>
          </a:p>
          <a:p>
            <a:pPr marL="156845">
              <a:lnSpc>
                <a:spcPct val="100000"/>
              </a:lnSpc>
              <a:spcBef>
                <a:spcPts val="5"/>
              </a:spcBef>
            </a:pPr>
            <a:r>
              <a:rPr sz="1400" spc="40" dirty="0">
                <a:latin typeface="微软雅黑" panose="020B0503020204020204" charset="-122"/>
                <a:ea typeface="微软雅黑" panose="020B0503020204020204" charset="-122"/>
                <a:cs typeface="Arial" panose="020B0604020202020204"/>
              </a:rPr>
              <a:t>180</a:t>
            </a:r>
            <a:endParaRPr sz="1400">
              <a:latin typeface="微软雅黑" panose="020B0503020204020204" charset="-122"/>
              <a:ea typeface="微软雅黑" panose="020B0503020204020204" charset="-122"/>
              <a:cs typeface="Arial" panose="020B0604020202020204"/>
            </a:endParaRPr>
          </a:p>
        </p:txBody>
      </p:sp>
      <p:sp>
        <p:nvSpPr>
          <p:cNvPr id="20" name="object 20"/>
          <p:cNvSpPr txBox="1"/>
          <p:nvPr/>
        </p:nvSpPr>
        <p:spPr>
          <a:xfrm>
            <a:off x="4107011" y="3431335"/>
            <a:ext cx="327428" cy="230505"/>
          </a:xfrm>
          <a:prstGeom prst="rect">
            <a:avLst/>
          </a:prstGeom>
        </p:spPr>
        <p:txBody>
          <a:bodyPr vert="horz" wrap="square" lIns="0" tIns="15863" rIns="0" bIns="0" rtlCol="0">
            <a:spAutoFit/>
          </a:bodyPr>
          <a:lstStyle/>
          <a:p>
            <a:pPr>
              <a:lnSpc>
                <a:spcPct val="100000"/>
              </a:lnSpc>
              <a:spcBef>
                <a:spcPts val="125"/>
              </a:spcBef>
            </a:pPr>
            <a:r>
              <a:rPr sz="1400" spc="40" dirty="0">
                <a:latin typeface="微软雅黑" panose="020B0503020204020204" charset="-122"/>
                <a:ea typeface="微软雅黑" panose="020B0503020204020204" charset="-122"/>
                <a:cs typeface="Arial" panose="020B0604020202020204"/>
              </a:rPr>
              <a:t>422</a:t>
            </a:r>
            <a:endParaRPr sz="1400" spc="40" dirty="0">
              <a:latin typeface="微软雅黑" panose="020B0503020204020204" charset="-122"/>
              <a:ea typeface="微软雅黑" panose="020B0503020204020204" charset="-122"/>
              <a:cs typeface="Arial" panose="020B0604020202020204"/>
            </a:endParaRPr>
          </a:p>
        </p:txBody>
      </p:sp>
      <p:sp>
        <p:nvSpPr>
          <p:cNvPr id="21" name="object 21"/>
          <p:cNvSpPr txBox="1"/>
          <p:nvPr/>
        </p:nvSpPr>
        <p:spPr>
          <a:xfrm>
            <a:off x="419898" y="4449396"/>
            <a:ext cx="637723" cy="230505"/>
          </a:xfrm>
          <a:prstGeom prst="rect">
            <a:avLst/>
          </a:prstGeom>
        </p:spPr>
        <p:txBody>
          <a:bodyPr vert="horz" wrap="square" lIns="0" tIns="15863" rIns="0" bIns="0" rtlCol="0">
            <a:spAutoFit/>
          </a:bodyPr>
          <a:lstStyle/>
          <a:p>
            <a:pPr marL="156845">
              <a:lnSpc>
                <a:spcPct val="100000"/>
              </a:lnSpc>
              <a:spcBef>
                <a:spcPts val="125"/>
              </a:spcBef>
            </a:pPr>
            <a:r>
              <a:rPr sz="1400" spc="40" dirty="0">
                <a:latin typeface="微软雅黑" panose="020B0503020204020204" charset="-122"/>
                <a:ea typeface="微软雅黑" panose="020B0503020204020204" charset="-122"/>
                <a:cs typeface="Arial" panose="020B0604020202020204"/>
              </a:rPr>
              <a:t>100</a:t>
            </a:r>
            <a:endParaRPr sz="1400" spc="40" dirty="0">
              <a:latin typeface="微软雅黑" panose="020B0503020204020204" charset="-122"/>
              <a:ea typeface="微软雅黑" panose="020B0503020204020204" charset="-122"/>
              <a:cs typeface="Arial" panose="020B0604020202020204"/>
            </a:endParaRPr>
          </a:p>
        </p:txBody>
      </p:sp>
      <p:sp>
        <p:nvSpPr>
          <p:cNvPr id="22" name="object 22"/>
          <p:cNvSpPr txBox="1"/>
          <p:nvPr/>
        </p:nvSpPr>
        <p:spPr>
          <a:xfrm>
            <a:off x="3049649" y="4978968"/>
            <a:ext cx="1267197" cy="442595"/>
          </a:xfrm>
          <a:prstGeom prst="rect">
            <a:avLst/>
          </a:prstGeom>
        </p:spPr>
        <p:txBody>
          <a:bodyPr vert="horz" wrap="square" lIns="0" tIns="12691" rIns="0" bIns="0" rtlCol="0">
            <a:spAutoFit/>
          </a:bodyPr>
          <a:lstStyle/>
          <a:p>
            <a:pPr marL="12700" marR="5080">
              <a:lnSpc>
                <a:spcPct val="100000"/>
              </a:lnSpc>
              <a:spcBef>
                <a:spcPts val="100"/>
              </a:spcBef>
              <a:tabLst>
                <a:tab pos="898525" algn="l"/>
              </a:tabLst>
            </a:pPr>
            <a:r>
              <a:rPr sz="1400" spc="-5" dirty="0">
                <a:latin typeface="微软雅黑" panose="020B0503020204020204" charset="-122"/>
                <a:ea typeface="微软雅黑" panose="020B0503020204020204" charset="-122"/>
                <a:cs typeface="微软雅黑" panose="020B0503020204020204" charset="-122"/>
              </a:rPr>
              <a:t>36</a:t>
            </a:r>
            <a:r>
              <a:rPr sz="1400" dirty="0">
                <a:latin typeface="微软雅黑" panose="020B0503020204020204" charset="-122"/>
                <a:ea typeface="微软雅黑" panose="020B0503020204020204" charset="-122"/>
                <a:cs typeface="微软雅黑" panose="020B0503020204020204" charset="-122"/>
              </a:rPr>
              <a:t>个月	总计 实现毛利</a:t>
            </a:r>
            <a:endParaRPr sz="1400">
              <a:latin typeface="微软雅黑" panose="020B0503020204020204" charset="-122"/>
              <a:ea typeface="微软雅黑" panose="020B0503020204020204" charset="-122"/>
              <a:cs typeface="微软雅黑" panose="020B0503020204020204" charset="-122"/>
            </a:endParaRPr>
          </a:p>
        </p:txBody>
      </p:sp>
      <p:sp>
        <p:nvSpPr>
          <p:cNvPr id="23" name="object 23"/>
          <p:cNvSpPr/>
          <p:nvPr/>
        </p:nvSpPr>
        <p:spPr>
          <a:xfrm>
            <a:off x="1498554" y="4089836"/>
            <a:ext cx="242398" cy="213209"/>
          </a:xfrm>
          <a:custGeom>
            <a:avLst/>
            <a:gdLst/>
            <a:ahLst/>
            <a:cxnLst/>
            <a:rect l="l" t="t" r="r" b="b"/>
            <a:pathLst>
              <a:path w="242569" h="213360">
                <a:moveTo>
                  <a:pt x="0" y="213360"/>
                </a:moveTo>
                <a:lnTo>
                  <a:pt x="242315" y="213360"/>
                </a:lnTo>
                <a:lnTo>
                  <a:pt x="242315" y="0"/>
                </a:lnTo>
                <a:lnTo>
                  <a:pt x="0" y="0"/>
                </a:lnTo>
                <a:lnTo>
                  <a:pt x="0" y="2133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txBox="1"/>
          <p:nvPr/>
        </p:nvSpPr>
        <p:spPr>
          <a:xfrm>
            <a:off x="1508961" y="4072322"/>
            <a:ext cx="223362" cy="227330"/>
          </a:xfrm>
          <a:prstGeom prst="rect">
            <a:avLst/>
          </a:prstGeom>
        </p:spPr>
        <p:txBody>
          <a:bodyPr vert="horz" wrap="square" lIns="0" tIns="12691" rIns="0" bIns="0" rtlCol="0">
            <a:spAutoFit/>
          </a:bodyPr>
          <a:lstStyle/>
          <a:p>
            <a:pPr marL="12700">
              <a:lnSpc>
                <a:spcPct val="100000"/>
              </a:lnSpc>
              <a:spcBef>
                <a:spcPts val="100"/>
              </a:spcBef>
            </a:pPr>
            <a:r>
              <a:rPr sz="1400" spc="-5" dirty="0">
                <a:latin typeface="微软雅黑" panose="020B0503020204020204" charset="-122"/>
                <a:ea typeface="微软雅黑" panose="020B0503020204020204" charset="-122"/>
                <a:cs typeface="Arial" panose="020B0604020202020204"/>
              </a:rPr>
              <a:t>22</a:t>
            </a:r>
            <a:endParaRPr sz="1400" spc="-5" dirty="0">
              <a:latin typeface="微软雅黑" panose="020B0503020204020204" charset="-122"/>
              <a:ea typeface="微软雅黑" panose="020B0503020204020204" charset="-122"/>
              <a:cs typeface="Arial" panose="020B0604020202020204"/>
            </a:endParaRPr>
          </a:p>
        </p:txBody>
      </p:sp>
      <p:sp>
        <p:nvSpPr>
          <p:cNvPr id="25" name="object 25"/>
          <p:cNvSpPr txBox="1"/>
          <p:nvPr/>
        </p:nvSpPr>
        <p:spPr>
          <a:xfrm>
            <a:off x="1288517" y="4978968"/>
            <a:ext cx="1623180" cy="442595"/>
          </a:xfrm>
          <a:prstGeom prst="rect">
            <a:avLst/>
          </a:prstGeom>
        </p:spPr>
        <p:txBody>
          <a:bodyPr vert="horz" wrap="square" lIns="0" tIns="12691" rIns="0" bIns="0" rtlCol="0">
            <a:spAutoFit/>
          </a:bodyPr>
          <a:lstStyle/>
          <a:p>
            <a:pPr marL="12700" marR="5080">
              <a:lnSpc>
                <a:spcPct val="100000"/>
              </a:lnSpc>
              <a:spcBef>
                <a:spcPts val="100"/>
              </a:spcBef>
              <a:tabLst>
                <a:tab pos="897890" algn="l"/>
              </a:tabLst>
            </a:pPr>
            <a:r>
              <a:rPr sz="1400" spc="-5" dirty="0">
                <a:latin typeface="微软雅黑" panose="020B0503020204020204" charset="-122"/>
                <a:ea typeface="微软雅黑" panose="020B0503020204020204" charset="-122"/>
                <a:cs typeface="微软雅黑" panose="020B0503020204020204" charset="-122"/>
              </a:rPr>
              <a:t>6</a:t>
            </a:r>
            <a:r>
              <a:rPr sz="1400" dirty="0">
                <a:latin typeface="微软雅黑" panose="020B0503020204020204" charset="-122"/>
                <a:ea typeface="微软雅黑" panose="020B0503020204020204" charset="-122"/>
                <a:cs typeface="微软雅黑" panose="020B0503020204020204" charset="-122"/>
              </a:rPr>
              <a:t>个月实	</a:t>
            </a:r>
            <a:r>
              <a:rPr sz="1400" spc="-5" dirty="0">
                <a:latin typeface="微软雅黑" panose="020B0503020204020204" charset="-122"/>
                <a:ea typeface="微软雅黑" panose="020B0503020204020204" charset="-122"/>
                <a:cs typeface="微软雅黑" panose="020B0503020204020204" charset="-122"/>
              </a:rPr>
              <a:t>18</a:t>
            </a:r>
            <a:r>
              <a:rPr sz="1400" dirty="0">
                <a:latin typeface="微软雅黑" panose="020B0503020204020204" charset="-122"/>
                <a:ea typeface="微软雅黑" panose="020B0503020204020204" charset="-122"/>
                <a:cs typeface="微软雅黑" panose="020B0503020204020204" charset="-122"/>
              </a:rPr>
              <a:t>个月 现毛利	实现毛利</a:t>
            </a:r>
            <a:endParaRPr sz="1400">
              <a:latin typeface="微软雅黑" panose="020B0503020204020204" charset="-122"/>
              <a:ea typeface="微软雅黑" panose="020B0503020204020204" charset="-122"/>
              <a:cs typeface="微软雅黑" panose="020B0503020204020204" charset="-122"/>
            </a:endParaRPr>
          </a:p>
        </p:txBody>
      </p:sp>
      <p:sp>
        <p:nvSpPr>
          <p:cNvPr id="26" name="object 26"/>
          <p:cNvSpPr txBox="1"/>
          <p:nvPr/>
        </p:nvSpPr>
        <p:spPr>
          <a:xfrm>
            <a:off x="403066" y="4978968"/>
            <a:ext cx="381999" cy="227330"/>
          </a:xfrm>
          <a:prstGeom prst="rect">
            <a:avLst/>
          </a:prstGeom>
        </p:spPr>
        <p:txBody>
          <a:bodyPr vert="horz" wrap="square" lIns="0" tIns="12691" rIns="0" bIns="0" rtlCol="0">
            <a:spAutoFit/>
          </a:bodyPr>
          <a:lstStyle/>
          <a:p>
            <a:pPr marL="12700">
              <a:lnSpc>
                <a:spcPct val="100000"/>
              </a:lnSpc>
              <a:spcBef>
                <a:spcPts val="100"/>
              </a:spcBef>
            </a:pPr>
            <a:r>
              <a:rPr sz="1400" dirty="0">
                <a:latin typeface="微软雅黑" panose="020B0503020204020204" charset="-122"/>
                <a:ea typeface="微软雅黑" panose="020B0503020204020204" charset="-122"/>
                <a:cs typeface="微软雅黑" panose="020B0503020204020204" charset="-122"/>
              </a:rPr>
              <a:t>起点</a:t>
            </a:r>
            <a:endParaRPr sz="1400" dirty="0">
              <a:latin typeface="微软雅黑" panose="020B0503020204020204" charset="-122"/>
              <a:ea typeface="微软雅黑" panose="020B0503020204020204" charset="-122"/>
              <a:cs typeface="微软雅黑" panose="020B0503020204020204" charset="-122"/>
            </a:endParaRPr>
          </a:p>
        </p:txBody>
      </p:sp>
      <p:sp>
        <p:nvSpPr>
          <p:cNvPr id="27" name="object 27"/>
          <p:cNvSpPr txBox="1"/>
          <p:nvPr/>
        </p:nvSpPr>
        <p:spPr>
          <a:xfrm>
            <a:off x="5886087" y="1921197"/>
            <a:ext cx="2667015" cy="2790190"/>
          </a:xfrm>
          <a:prstGeom prst="rect">
            <a:avLst/>
          </a:prstGeom>
          <a:solidFill>
            <a:srgbClr val="0066CC"/>
          </a:solidFill>
        </p:spPr>
        <p:txBody>
          <a:bodyPr vert="horz" wrap="square" lIns="0" tIns="1903" rIns="0" bIns="0" rtlCol="0">
            <a:spAutoFit/>
          </a:bodyPr>
          <a:lstStyle/>
          <a:p>
            <a:pPr>
              <a:lnSpc>
                <a:spcPct val="100000"/>
              </a:lnSpc>
              <a:spcBef>
                <a:spcPts val="15"/>
              </a:spcBef>
            </a:pPr>
            <a:endParaRPr sz="2650">
              <a:latin typeface="微软雅黑" panose="020B0503020204020204" charset="-122"/>
              <a:ea typeface="微软雅黑" panose="020B0503020204020204" charset="-122"/>
              <a:cs typeface="微软雅黑" panose="020B0503020204020204" charset="-122"/>
            </a:endParaRPr>
          </a:p>
          <a:p>
            <a:pPr marL="73660">
              <a:lnSpc>
                <a:spcPct val="100000"/>
              </a:lnSpc>
            </a:pPr>
            <a:r>
              <a:rPr sz="1400" b="1" spc="10" dirty="0">
                <a:solidFill>
                  <a:srgbClr val="FFFFFF"/>
                </a:solidFill>
                <a:latin typeface="微软雅黑" panose="020B0503020204020204" charset="-122"/>
                <a:ea typeface="微软雅黑" panose="020B0503020204020204" charset="-122"/>
                <a:cs typeface="微软雅黑" panose="020B0503020204020204" charset="-122"/>
              </a:rPr>
              <a:t>成效</a:t>
            </a:r>
            <a:r>
              <a:rPr sz="1400" b="1" dirty="0">
                <a:solidFill>
                  <a:srgbClr val="FFFFFF"/>
                </a:solidFill>
                <a:latin typeface="微软雅黑" panose="020B0503020204020204" charset="-122"/>
                <a:ea typeface="微软雅黑" panose="020B0503020204020204" charset="-122"/>
                <a:cs typeface="微软雅黑" panose="020B0503020204020204" charset="-122"/>
              </a:rPr>
              <a:t>源于：</a:t>
            </a:r>
            <a:endParaRPr sz="1400">
              <a:latin typeface="微软雅黑" panose="020B0503020204020204" charset="-122"/>
              <a:ea typeface="微软雅黑" panose="020B0503020204020204" charset="-122"/>
              <a:cs typeface="微软雅黑" panose="020B0503020204020204" charset="-122"/>
            </a:endParaRPr>
          </a:p>
          <a:p>
            <a:pPr>
              <a:lnSpc>
                <a:spcPct val="100000"/>
              </a:lnSpc>
              <a:spcBef>
                <a:spcPts val="25"/>
              </a:spcBef>
            </a:pPr>
            <a:endParaRPr sz="1450">
              <a:latin typeface="微软雅黑" panose="020B0503020204020204" charset="-122"/>
              <a:ea typeface="微软雅黑" panose="020B0503020204020204" charset="-122"/>
              <a:cs typeface="微软雅黑" panose="020B0503020204020204" charset="-122"/>
            </a:endParaRPr>
          </a:p>
          <a:p>
            <a:pPr marL="266065" indent="-192405">
              <a:lnSpc>
                <a:spcPct val="100000"/>
              </a:lnSpc>
              <a:buSzPct val="125000"/>
              <a:buFont typeface="Arial" panose="020B0604020202020204"/>
              <a:buChar char="▪"/>
              <a:tabLst>
                <a:tab pos="266065" algn="l"/>
              </a:tabLst>
            </a:pPr>
            <a:r>
              <a:rPr sz="1400" b="1" spc="10" dirty="0">
                <a:solidFill>
                  <a:srgbClr val="FFFFFF"/>
                </a:solidFill>
                <a:latin typeface="微软雅黑" panose="020B0503020204020204" charset="-122"/>
                <a:ea typeface="微软雅黑" panose="020B0503020204020204" charset="-122"/>
                <a:cs typeface="微软雅黑" panose="020B0503020204020204" charset="-122"/>
              </a:rPr>
              <a:t>销量</a:t>
            </a:r>
            <a:r>
              <a:rPr sz="1400" b="1" dirty="0">
                <a:solidFill>
                  <a:srgbClr val="FFFFFF"/>
                </a:solidFill>
                <a:latin typeface="微软雅黑" panose="020B0503020204020204" charset="-122"/>
                <a:ea typeface="微软雅黑" panose="020B0503020204020204" charset="-122"/>
                <a:cs typeface="微软雅黑" panose="020B0503020204020204" charset="-122"/>
              </a:rPr>
              <a:t>增长</a:t>
            </a:r>
            <a:r>
              <a:rPr sz="1400" b="1" spc="-45" dirty="0">
                <a:solidFill>
                  <a:srgbClr val="FFFFFF"/>
                </a:solidFill>
                <a:latin typeface="微软雅黑" panose="020B0503020204020204" charset="-122"/>
                <a:ea typeface="微软雅黑" panose="020B0503020204020204" charset="-122"/>
                <a:cs typeface="微软雅黑" panose="020B0503020204020204" charset="-122"/>
              </a:rPr>
              <a:t> </a:t>
            </a:r>
            <a:r>
              <a:rPr sz="1400" b="1" spc="-10" dirty="0">
                <a:solidFill>
                  <a:srgbClr val="FFFFFF"/>
                </a:solidFill>
                <a:latin typeface="微软雅黑" panose="020B0503020204020204" charset="-122"/>
                <a:ea typeface="微软雅黑" panose="020B0503020204020204" charset="-122"/>
                <a:cs typeface="微软雅黑" panose="020B0503020204020204" charset="-122"/>
              </a:rPr>
              <a:t>(~50%)</a:t>
            </a:r>
            <a:endParaRPr sz="1400">
              <a:latin typeface="微软雅黑" panose="020B0503020204020204" charset="-122"/>
              <a:ea typeface="微软雅黑" panose="020B0503020204020204" charset="-122"/>
              <a:cs typeface="微软雅黑" panose="020B0503020204020204" charset="-122"/>
            </a:endParaRPr>
          </a:p>
          <a:p>
            <a:pPr marL="266065" indent="-192405">
              <a:lnSpc>
                <a:spcPct val="100000"/>
              </a:lnSpc>
              <a:spcBef>
                <a:spcPts val="1680"/>
              </a:spcBef>
              <a:buSzPct val="125000"/>
              <a:buFont typeface="Arial" panose="020B0604020202020204"/>
              <a:buChar char="▪"/>
              <a:tabLst>
                <a:tab pos="266065" algn="l"/>
              </a:tabLst>
            </a:pPr>
            <a:r>
              <a:rPr sz="1400" b="1" spc="10" dirty="0">
                <a:solidFill>
                  <a:srgbClr val="FFFFFF"/>
                </a:solidFill>
                <a:latin typeface="微软雅黑" panose="020B0503020204020204" charset="-122"/>
                <a:ea typeface="微软雅黑" panose="020B0503020204020204" charset="-122"/>
                <a:cs typeface="微软雅黑" panose="020B0503020204020204" charset="-122"/>
              </a:rPr>
              <a:t>产品</a:t>
            </a:r>
            <a:r>
              <a:rPr sz="1400" b="1" dirty="0">
                <a:solidFill>
                  <a:srgbClr val="FFFFFF"/>
                </a:solidFill>
                <a:latin typeface="微软雅黑" panose="020B0503020204020204" charset="-122"/>
                <a:ea typeface="微软雅黑" panose="020B0503020204020204" charset="-122"/>
                <a:cs typeface="微软雅黑" panose="020B0503020204020204" charset="-122"/>
              </a:rPr>
              <a:t>/</a:t>
            </a:r>
            <a:r>
              <a:rPr sz="1400" b="1" spc="-10" dirty="0">
                <a:solidFill>
                  <a:srgbClr val="FFFFFF"/>
                </a:solidFill>
                <a:latin typeface="微软雅黑" panose="020B0503020204020204" charset="-122"/>
                <a:ea typeface="微软雅黑" panose="020B0503020204020204" charset="-122"/>
                <a:cs typeface="微软雅黑" panose="020B0503020204020204" charset="-122"/>
              </a:rPr>
              <a:t>客</a:t>
            </a:r>
            <a:r>
              <a:rPr sz="1400" b="1" spc="5" dirty="0">
                <a:solidFill>
                  <a:srgbClr val="FFFFFF"/>
                </a:solidFill>
                <a:latin typeface="微软雅黑" panose="020B0503020204020204" charset="-122"/>
                <a:ea typeface="微软雅黑" panose="020B0503020204020204" charset="-122"/>
                <a:cs typeface="微软雅黑" panose="020B0503020204020204" charset="-122"/>
              </a:rPr>
              <a:t>户</a:t>
            </a:r>
            <a:r>
              <a:rPr sz="1400" b="1" dirty="0">
                <a:solidFill>
                  <a:srgbClr val="FFFFFF"/>
                </a:solidFill>
                <a:latin typeface="微软雅黑" panose="020B0503020204020204" charset="-122"/>
                <a:ea typeface="微软雅黑" panose="020B0503020204020204" charset="-122"/>
                <a:cs typeface="微软雅黑" panose="020B0503020204020204" charset="-122"/>
              </a:rPr>
              <a:t>组</a:t>
            </a:r>
            <a:r>
              <a:rPr sz="1400" b="1" spc="-10" dirty="0">
                <a:solidFill>
                  <a:srgbClr val="FFFFFF"/>
                </a:solidFill>
                <a:latin typeface="微软雅黑" panose="020B0503020204020204" charset="-122"/>
                <a:ea typeface="微软雅黑" panose="020B0503020204020204" charset="-122"/>
                <a:cs typeface="微软雅黑" panose="020B0503020204020204" charset="-122"/>
              </a:rPr>
              <a:t>合</a:t>
            </a:r>
            <a:r>
              <a:rPr sz="1400" b="1" spc="5" dirty="0">
                <a:solidFill>
                  <a:srgbClr val="FFFFFF"/>
                </a:solidFill>
                <a:latin typeface="微软雅黑" panose="020B0503020204020204" charset="-122"/>
                <a:ea typeface="微软雅黑" panose="020B0503020204020204" charset="-122"/>
                <a:cs typeface="微软雅黑" panose="020B0503020204020204" charset="-122"/>
              </a:rPr>
              <a:t>变化</a:t>
            </a:r>
            <a:r>
              <a:rPr sz="1400" b="1" spc="-60" dirty="0">
                <a:solidFill>
                  <a:srgbClr val="FFFFFF"/>
                </a:solidFill>
                <a:latin typeface="微软雅黑" panose="020B0503020204020204" charset="-122"/>
                <a:ea typeface="微软雅黑" panose="020B0503020204020204" charset="-122"/>
                <a:cs typeface="微软雅黑" panose="020B0503020204020204" charset="-122"/>
              </a:rPr>
              <a:t> </a:t>
            </a:r>
            <a:r>
              <a:rPr sz="1400" b="1" spc="-10" dirty="0">
                <a:solidFill>
                  <a:srgbClr val="FFFFFF"/>
                </a:solidFill>
                <a:latin typeface="微软雅黑" panose="020B0503020204020204" charset="-122"/>
                <a:ea typeface="微软雅黑" panose="020B0503020204020204" charset="-122"/>
                <a:cs typeface="微软雅黑" panose="020B0503020204020204" charset="-122"/>
              </a:rPr>
              <a:t>(~10%)</a:t>
            </a:r>
            <a:endParaRPr sz="1400">
              <a:latin typeface="微软雅黑" panose="020B0503020204020204" charset="-122"/>
              <a:ea typeface="微软雅黑" panose="020B0503020204020204" charset="-122"/>
              <a:cs typeface="微软雅黑" panose="020B0503020204020204" charset="-122"/>
            </a:endParaRPr>
          </a:p>
          <a:p>
            <a:pPr marL="266065" indent="-192405">
              <a:lnSpc>
                <a:spcPct val="100000"/>
              </a:lnSpc>
              <a:spcBef>
                <a:spcPts val="1685"/>
              </a:spcBef>
              <a:buSzPct val="125000"/>
              <a:buFont typeface="Arial" panose="020B0604020202020204"/>
              <a:buChar char="▪"/>
              <a:tabLst>
                <a:tab pos="266065" algn="l"/>
              </a:tabLst>
            </a:pPr>
            <a:r>
              <a:rPr sz="1400" b="1" spc="10" dirty="0">
                <a:solidFill>
                  <a:srgbClr val="FFFFFF"/>
                </a:solidFill>
                <a:latin typeface="微软雅黑" panose="020B0503020204020204" charset="-122"/>
                <a:ea typeface="微软雅黑" panose="020B0503020204020204" charset="-122"/>
                <a:cs typeface="微软雅黑" panose="020B0503020204020204" charset="-122"/>
              </a:rPr>
              <a:t>服务</a:t>
            </a:r>
            <a:r>
              <a:rPr sz="1400" b="1" dirty="0">
                <a:solidFill>
                  <a:srgbClr val="FFFFFF"/>
                </a:solidFill>
                <a:latin typeface="微软雅黑" panose="020B0503020204020204" charset="-122"/>
                <a:ea typeface="微软雅黑" panose="020B0503020204020204" charset="-122"/>
                <a:cs typeface="微软雅黑" panose="020B0503020204020204" charset="-122"/>
              </a:rPr>
              <a:t>成本</a:t>
            </a:r>
            <a:r>
              <a:rPr sz="1400" b="1" spc="-15" dirty="0">
                <a:solidFill>
                  <a:srgbClr val="FFFFFF"/>
                </a:solidFill>
                <a:latin typeface="微软雅黑" panose="020B0503020204020204" charset="-122"/>
                <a:ea typeface="微软雅黑" panose="020B0503020204020204" charset="-122"/>
                <a:cs typeface="微软雅黑" panose="020B0503020204020204" charset="-122"/>
              </a:rPr>
              <a:t>降</a:t>
            </a:r>
            <a:r>
              <a:rPr sz="1400" b="1" dirty="0">
                <a:solidFill>
                  <a:srgbClr val="FFFFFF"/>
                </a:solidFill>
                <a:latin typeface="微软雅黑" panose="020B0503020204020204" charset="-122"/>
                <a:ea typeface="微软雅黑" panose="020B0503020204020204" charset="-122"/>
                <a:cs typeface="微软雅黑" panose="020B0503020204020204" charset="-122"/>
              </a:rPr>
              <a:t>低</a:t>
            </a:r>
            <a:r>
              <a:rPr sz="1400" b="1" spc="-45" dirty="0">
                <a:solidFill>
                  <a:srgbClr val="FFFFFF"/>
                </a:solidFill>
                <a:latin typeface="微软雅黑" panose="020B0503020204020204" charset="-122"/>
                <a:ea typeface="微软雅黑" panose="020B0503020204020204" charset="-122"/>
                <a:cs typeface="微软雅黑" panose="020B0503020204020204" charset="-122"/>
              </a:rPr>
              <a:t> </a:t>
            </a:r>
            <a:r>
              <a:rPr sz="1400" b="1" spc="-10" dirty="0">
                <a:solidFill>
                  <a:srgbClr val="FFFFFF"/>
                </a:solidFill>
                <a:latin typeface="微软雅黑" panose="020B0503020204020204" charset="-122"/>
                <a:ea typeface="微软雅黑" panose="020B0503020204020204" charset="-122"/>
                <a:cs typeface="微软雅黑" panose="020B0503020204020204" charset="-122"/>
              </a:rPr>
              <a:t>(~20%)</a:t>
            </a:r>
            <a:endParaRPr sz="1400">
              <a:latin typeface="微软雅黑" panose="020B0503020204020204" charset="-122"/>
              <a:ea typeface="微软雅黑" panose="020B0503020204020204" charset="-122"/>
              <a:cs typeface="微软雅黑" panose="020B0503020204020204" charset="-122"/>
            </a:endParaRPr>
          </a:p>
          <a:p>
            <a:pPr marL="266065" indent="-192405">
              <a:lnSpc>
                <a:spcPct val="100000"/>
              </a:lnSpc>
              <a:spcBef>
                <a:spcPts val="1680"/>
              </a:spcBef>
              <a:buSzPct val="125000"/>
              <a:buFont typeface="Arial" panose="020B0604020202020204"/>
              <a:buChar char="▪"/>
              <a:tabLst>
                <a:tab pos="266065" algn="l"/>
              </a:tabLst>
            </a:pPr>
            <a:r>
              <a:rPr sz="1400" b="1" spc="10" dirty="0">
                <a:solidFill>
                  <a:srgbClr val="FFFFFF"/>
                </a:solidFill>
                <a:latin typeface="微软雅黑" panose="020B0503020204020204" charset="-122"/>
                <a:ea typeface="微软雅黑" panose="020B0503020204020204" charset="-122"/>
                <a:cs typeface="微软雅黑" panose="020B0503020204020204" charset="-122"/>
              </a:rPr>
              <a:t>价格</a:t>
            </a:r>
            <a:r>
              <a:rPr sz="1400" b="1" dirty="0">
                <a:solidFill>
                  <a:srgbClr val="FFFFFF"/>
                </a:solidFill>
                <a:latin typeface="微软雅黑" panose="020B0503020204020204" charset="-122"/>
                <a:ea typeface="微软雅黑" panose="020B0503020204020204" charset="-122"/>
                <a:cs typeface="微软雅黑" panose="020B0503020204020204" charset="-122"/>
              </a:rPr>
              <a:t>上涨</a:t>
            </a:r>
            <a:r>
              <a:rPr sz="1400" b="1" spc="-45" dirty="0">
                <a:solidFill>
                  <a:srgbClr val="FFFFFF"/>
                </a:solidFill>
                <a:latin typeface="微软雅黑" panose="020B0503020204020204" charset="-122"/>
                <a:ea typeface="微软雅黑" panose="020B0503020204020204" charset="-122"/>
                <a:cs typeface="微软雅黑" panose="020B0503020204020204" charset="-122"/>
              </a:rPr>
              <a:t> </a:t>
            </a:r>
            <a:r>
              <a:rPr sz="1400" b="1" spc="-10" dirty="0">
                <a:solidFill>
                  <a:srgbClr val="FFFFFF"/>
                </a:solidFill>
                <a:latin typeface="微软雅黑" panose="020B0503020204020204" charset="-122"/>
                <a:ea typeface="微软雅黑" panose="020B0503020204020204" charset="-122"/>
                <a:cs typeface="微软雅黑" panose="020B0503020204020204" charset="-122"/>
              </a:rPr>
              <a:t>(~10%)</a:t>
            </a:r>
            <a:endParaRPr sz="1400">
              <a:latin typeface="微软雅黑" panose="020B0503020204020204" charset="-122"/>
              <a:ea typeface="微软雅黑" panose="020B0503020204020204" charset="-122"/>
              <a:cs typeface="微软雅黑" panose="020B0503020204020204" charset="-122"/>
            </a:endParaRPr>
          </a:p>
          <a:p>
            <a:pPr marL="266065" indent="-192405">
              <a:lnSpc>
                <a:spcPct val="100000"/>
              </a:lnSpc>
              <a:spcBef>
                <a:spcPts val="1680"/>
              </a:spcBef>
              <a:buSzPct val="125000"/>
              <a:buFont typeface="Arial" panose="020B0604020202020204"/>
              <a:buChar char="▪"/>
              <a:tabLst>
                <a:tab pos="266065" algn="l"/>
              </a:tabLst>
            </a:pPr>
            <a:r>
              <a:rPr sz="1400" b="1" spc="10" dirty="0">
                <a:solidFill>
                  <a:srgbClr val="FFFFFF"/>
                </a:solidFill>
                <a:latin typeface="微软雅黑" panose="020B0503020204020204" charset="-122"/>
                <a:ea typeface="微软雅黑" panose="020B0503020204020204" charset="-122"/>
                <a:cs typeface="微软雅黑" panose="020B0503020204020204" charset="-122"/>
              </a:rPr>
              <a:t>补损</a:t>
            </a:r>
            <a:r>
              <a:rPr sz="1400" b="1" spc="5" dirty="0">
                <a:solidFill>
                  <a:srgbClr val="FFFFFF"/>
                </a:solidFill>
                <a:latin typeface="微软雅黑" panose="020B0503020204020204" charset="-122"/>
                <a:ea typeface="微软雅黑" panose="020B0503020204020204" charset="-122"/>
                <a:cs typeface="微软雅黑" panose="020B0503020204020204" charset="-122"/>
              </a:rPr>
              <a:t>堵漏</a:t>
            </a:r>
            <a:r>
              <a:rPr sz="1400" b="1" spc="-50" dirty="0">
                <a:solidFill>
                  <a:srgbClr val="FFFFFF"/>
                </a:solidFill>
                <a:latin typeface="微软雅黑" panose="020B0503020204020204" charset="-122"/>
                <a:ea typeface="微软雅黑" panose="020B0503020204020204" charset="-122"/>
                <a:cs typeface="微软雅黑" panose="020B0503020204020204" charset="-122"/>
              </a:rPr>
              <a:t> </a:t>
            </a:r>
            <a:r>
              <a:rPr sz="1400" b="1" spc="-15" dirty="0">
                <a:solidFill>
                  <a:srgbClr val="FFFFFF"/>
                </a:solidFill>
                <a:latin typeface="微软雅黑" panose="020B0503020204020204" charset="-122"/>
                <a:ea typeface="微软雅黑" panose="020B0503020204020204" charset="-122"/>
                <a:cs typeface="微软雅黑" panose="020B0503020204020204" charset="-122"/>
              </a:rPr>
              <a:t>(~5%)</a:t>
            </a:r>
            <a:endParaRPr sz="1400">
              <a:latin typeface="微软雅黑" panose="020B0503020204020204" charset="-122"/>
              <a:ea typeface="微软雅黑" panose="020B0503020204020204" charset="-122"/>
              <a:cs typeface="微软雅黑" panose="020B0503020204020204" charset="-122"/>
            </a:endParaRPr>
          </a:p>
        </p:txBody>
      </p:sp>
      <p:sp>
        <p:nvSpPr>
          <p:cNvPr id="28" name="object 28"/>
          <p:cNvSpPr txBox="1"/>
          <p:nvPr/>
        </p:nvSpPr>
        <p:spPr>
          <a:xfrm>
            <a:off x="7656103" y="263117"/>
            <a:ext cx="1091426" cy="196215"/>
          </a:xfrm>
          <a:prstGeom prst="rect">
            <a:avLst/>
          </a:prstGeom>
        </p:spPr>
        <p:txBody>
          <a:bodyPr vert="horz" wrap="square" lIns="0" tIns="12691" rIns="0" bIns="0" rtlCol="0">
            <a:spAutoFit/>
          </a:bodyPr>
          <a:lstStyle/>
          <a:p>
            <a:pPr marL="12700">
              <a:lnSpc>
                <a:spcPct val="100000"/>
              </a:lnSpc>
              <a:spcBef>
                <a:spcPts val="100"/>
              </a:spcBef>
            </a:pPr>
            <a:r>
              <a:rPr sz="1200" dirty="0">
                <a:solidFill>
                  <a:srgbClr val="808080"/>
                </a:solidFill>
                <a:latin typeface="微软雅黑" panose="020B0503020204020204" charset="-122"/>
                <a:ea typeface="微软雅黑" panose="020B0503020204020204" charset="-122"/>
                <a:cs typeface="微软雅黑" panose="020B0503020204020204" charset="-122"/>
              </a:rPr>
              <a:t>工业包装提供商</a:t>
            </a:r>
            <a:endParaRPr sz="1200" dirty="0">
              <a:solidFill>
                <a:srgbClr val="808080"/>
              </a:solidFill>
              <a:latin typeface="微软雅黑" panose="020B0503020204020204" charset="-122"/>
              <a:ea typeface="微软雅黑" panose="020B0503020204020204" charset="-122"/>
              <a:cs typeface="微软雅黑" panose="020B0503020204020204" charset="-122"/>
            </a:endParaRPr>
          </a:p>
        </p:txBody>
      </p:sp>
      <p:sp>
        <p:nvSpPr>
          <p:cNvPr id="29" name="object 29"/>
          <p:cNvSpPr/>
          <p:nvPr/>
        </p:nvSpPr>
        <p:spPr>
          <a:xfrm>
            <a:off x="7642015" y="287103"/>
            <a:ext cx="0" cy="209402"/>
          </a:xfrm>
          <a:custGeom>
            <a:avLst/>
            <a:gdLst/>
            <a:ahLst/>
            <a:cxnLst/>
            <a:rect l="l" t="t" r="r" b="b"/>
            <a:pathLst>
              <a:path h="209550">
                <a:moveTo>
                  <a:pt x="0" y="0"/>
                </a:moveTo>
                <a:lnTo>
                  <a:pt x="0" y="209550"/>
                </a:lnTo>
              </a:path>
            </a:pathLst>
          </a:custGeom>
          <a:ln w="9525">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0" name="object 30"/>
          <p:cNvSpPr/>
          <p:nvPr/>
        </p:nvSpPr>
        <p:spPr>
          <a:xfrm>
            <a:off x="7642776" y="496504"/>
            <a:ext cx="1093330" cy="0"/>
          </a:xfrm>
          <a:custGeom>
            <a:avLst/>
            <a:gdLst/>
            <a:ahLst/>
            <a:cxnLst/>
            <a:rect l="l" t="t" r="r" b="b"/>
            <a:pathLst>
              <a:path w="1094104">
                <a:moveTo>
                  <a:pt x="0" y="0"/>
                </a:moveTo>
                <a:lnTo>
                  <a:pt x="1093724" y="0"/>
                </a:lnTo>
              </a:path>
            </a:pathLst>
          </a:custGeom>
          <a:ln w="25400">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31" name="object 31"/>
          <p:cNvSpPr/>
          <p:nvPr/>
        </p:nvSpPr>
        <p:spPr>
          <a:xfrm>
            <a:off x="5162700" y="1953178"/>
            <a:ext cx="347734" cy="3088991"/>
          </a:xfrm>
          <a:custGeom>
            <a:avLst/>
            <a:gdLst/>
            <a:ahLst/>
            <a:cxnLst/>
            <a:rect l="l" t="t" r="r" b="b"/>
            <a:pathLst>
              <a:path w="347979" h="3091179">
                <a:moveTo>
                  <a:pt x="0" y="0"/>
                </a:moveTo>
                <a:lnTo>
                  <a:pt x="0" y="3090672"/>
                </a:lnTo>
                <a:lnTo>
                  <a:pt x="347472" y="1545336"/>
                </a:lnTo>
                <a:lnTo>
                  <a:pt x="0"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401" y="203088"/>
            <a:ext cx="2679706" cy="303530"/>
          </a:xfrm>
          <a:prstGeom prst="rect">
            <a:avLst/>
          </a:prstGeom>
        </p:spPr>
        <p:txBody>
          <a:bodyPr vert="horz" wrap="square" lIns="0" tIns="12056" rIns="0" bIns="0" rtlCol="0">
            <a:spAutoFit/>
          </a:bodyPr>
          <a:lstStyle/>
          <a:p>
            <a:pPr marL="12700">
              <a:lnSpc>
                <a:spcPct val="100000"/>
              </a:lnSpc>
              <a:spcBef>
                <a:spcPts val="95"/>
              </a:spcBef>
            </a:pPr>
            <a:r>
              <a:rPr spc="-5" dirty="0">
                <a:ea typeface="微软雅黑" panose="020B0503020204020204" charset="-122"/>
              </a:rPr>
              <a:t>大客户管理</a:t>
            </a:r>
            <a:r>
              <a:rPr spc="-10" dirty="0">
                <a:ea typeface="微软雅黑" panose="020B0503020204020204" charset="-122"/>
              </a:rPr>
              <a:t>包括</a:t>
            </a:r>
            <a:r>
              <a:rPr spc="-5" dirty="0">
                <a:ea typeface="微软雅黑" panose="020B0503020204020204" charset="-122"/>
              </a:rPr>
              <a:t>五</a:t>
            </a:r>
            <a:r>
              <a:rPr spc="-10" dirty="0">
                <a:ea typeface="微软雅黑" panose="020B0503020204020204" charset="-122"/>
              </a:rPr>
              <a:t>大要素</a:t>
            </a:r>
            <a:endParaRPr spc="-10" dirty="0">
              <a:ea typeface="微软雅黑" panose="020B0503020204020204" charset="-122"/>
            </a:endParaRPr>
          </a:p>
        </p:txBody>
      </p:sp>
      <p:sp>
        <p:nvSpPr>
          <p:cNvPr id="4" name="object 4"/>
          <p:cNvSpPr/>
          <p:nvPr/>
        </p:nvSpPr>
        <p:spPr>
          <a:xfrm>
            <a:off x="2096299" y="1323450"/>
            <a:ext cx="2679071" cy="3900581"/>
          </a:xfrm>
          <a:custGeom>
            <a:avLst/>
            <a:gdLst/>
            <a:ahLst/>
            <a:cxnLst/>
            <a:rect l="l" t="t" r="r" b="b"/>
            <a:pathLst>
              <a:path w="2680970" h="3903345">
                <a:moveTo>
                  <a:pt x="1977643" y="0"/>
                </a:moveTo>
                <a:lnTo>
                  <a:pt x="0" y="0"/>
                </a:lnTo>
                <a:lnTo>
                  <a:pt x="703071" y="1952244"/>
                </a:lnTo>
                <a:lnTo>
                  <a:pt x="0" y="3902964"/>
                </a:lnTo>
                <a:lnTo>
                  <a:pt x="1977643" y="3902964"/>
                </a:lnTo>
                <a:lnTo>
                  <a:pt x="2680716" y="1952244"/>
                </a:lnTo>
                <a:lnTo>
                  <a:pt x="197764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p:nvPr/>
        </p:nvSpPr>
        <p:spPr>
          <a:xfrm>
            <a:off x="2096299" y="1323450"/>
            <a:ext cx="2679071" cy="3900581"/>
          </a:xfrm>
          <a:custGeom>
            <a:avLst/>
            <a:gdLst/>
            <a:ahLst/>
            <a:cxnLst/>
            <a:rect l="l" t="t" r="r" b="b"/>
            <a:pathLst>
              <a:path w="2680970" h="3903345">
                <a:moveTo>
                  <a:pt x="0" y="0"/>
                </a:moveTo>
                <a:lnTo>
                  <a:pt x="1977643" y="0"/>
                </a:lnTo>
                <a:lnTo>
                  <a:pt x="2680716" y="1952244"/>
                </a:lnTo>
                <a:lnTo>
                  <a:pt x="1977643" y="3902964"/>
                </a:lnTo>
                <a:lnTo>
                  <a:pt x="0" y="3902964"/>
                </a:lnTo>
                <a:lnTo>
                  <a:pt x="703071"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4074573" y="1323450"/>
            <a:ext cx="2679071" cy="1951242"/>
          </a:xfrm>
          <a:custGeom>
            <a:avLst/>
            <a:gdLst/>
            <a:ahLst/>
            <a:cxnLst/>
            <a:rect l="l" t="t" r="r" b="b"/>
            <a:pathLst>
              <a:path w="2680970" h="1952625">
                <a:moveTo>
                  <a:pt x="1977643" y="0"/>
                </a:moveTo>
                <a:lnTo>
                  <a:pt x="0" y="0"/>
                </a:lnTo>
                <a:lnTo>
                  <a:pt x="703072" y="1952244"/>
                </a:lnTo>
                <a:lnTo>
                  <a:pt x="2680716" y="1952244"/>
                </a:lnTo>
                <a:lnTo>
                  <a:pt x="197764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4074573" y="1323450"/>
            <a:ext cx="2679071" cy="1951242"/>
          </a:xfrm>
          <a:custGeom>
            <a:avLst/>
            <a:gdLst/>
            <a:ahLst/>
            <a:cxnLst/>
            <a:rect l="l" t="t" r="r" b="b"/>
            <a:pathLst>
              <a:path w="2680970" h="1952625">
                <a:moveTo>
                  <a:pt x="0" y="0"/>
                </a:moveTo>
                <a:lnTo>
                  <a:pt x="1977643" y="0"/>
                </a:lnTo>
                <a:lnTo>
                  <a:pt x="2680716" y="1952244"/>
                </a:lnTo>
                <a:lnTo>
                  <a:pt x="703072"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4074573" y="3274312"/>
            <a:ext cx="4655695" cy="1949338"/>
          </a:xfrm>
          <a:custGeom>
            <a:avLst/>
            <a:gdLst/>
            <a:ahLst/>
            <a:cxnLst/>
            <a:rect l="l" t="t" r="r" b="b"/>
            <a:pathLst>
              <a:path w="4658995" h="1950720">
                <a:moveTo>
                  <a:pt x="4658868" y="0"/>
                </a:moveTo>
                <a:lnTo>
                  <a:pt x="703199" y="0"/>
                </a:lnTo>
                <a:lnTo>
                  <a:pt x="0" y="1950720"/>
                </a:lnTo>
                <a:lnTo>
                  <a:pt x="3955668" y="1950720"/>
                </a:lnTo>
                <a:lnTo>
                  <a:pt x="4658868"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4074573" y="3274312"/>
            <a:ext cx="4655695" cy="1949338"/>
          </a:xfrm>
          <a:custGeom>
            <a:avLst/>
            <a:gdLst/>
            <a:ahLst/>
            <a:cxnLst/>
            <a:rect l="l" t="t" r="r" b="b"/>
            <a:pathLst>
              <a:path w="4658995" h="1950720">
                <a:moveTo>
                  <a:pt x="4658868" y="0"/>
                </a:moveTo>
                <a:lnTo>
                  <a:pt x="3955668" y="1950720"/>
                </a:lnTo>
                <a:lnTo>
                  <a:pt x="0" y="1950720"/>
                </a:lnTo>
                <a:lnTo>
                  <a:pt x="703199" y="0"/>
                </a:lnTo>
                <a:lnTo>
                  <a:pt x="4658868"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6051325" y="1323450"/>
            <a:ext cx="2679071" cy="1951242"/>
          </a:xfrm>
          <a:custGeom>
            <a:avLst/>
            <a:gdLst/>
            <a:ahLst/>
            <a:cxnLst/>
            <a:rect l="l" t="t" r="r" b="b"/>
            <a:pathLst>
              <a:path w="2680970" h="1952625">
                <a:moveTo>
                  <a:pt x="1977643" y="0"/>
                </a:moveTo>
                <a:lnTo>
                  <a:pt x="0" y="0"/>
                </a:lnTo>
                <a:lnTo>
                  <a:pt x="703071" y="1952244"/>
                </a:lnTo>
                <a:lnTo>
                  <a:pt x="2680716" y="1952244"/>
                </a:lnTo>
                <a:lnTo>
                  <a:pt x="1977643"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6051325" y="1323450"/>
            <a:ext cx="2679071" cy="1951242"/>
          </a:xfrm>
          <a:custGeom>
            <a:avLst/>
            <a:gdLst/>
            <a:ahLst/>
            <a:cxnLst/>
            <a:rect l="l" t="t" r="r" b="b"/>
            <a:pathLst>
              <a:path w="2680970" h="1952625">
                <a:moveTo>
                  <a:pt x="0" y="0"/>
                </a:moveTo>
                <a:lnTo>
                  <a:pt x="1977643" y="0"/>
                </a:lnTo>
                <a:lnTo>
                  <a:pt x="2680716" y="1952244"/>
                </a:lnTo>
                <a:lnTo>
                  <a:pt x="703071"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119549" y="1323450"/>
            <a:ext cx="2680340" cy="3900581"/>
          </a:xfrm>
          <a:custGeom>
            <a:avLst/>
            <a:gdLst/>
            <a:ahLst/>
            <a:cxnLst/>
            <a:rect l="l" t="t" r="r" b="b"/>
            <a:pathLst>
              <a:path w="2682240" h="3903345">
                <a:moveTo>
                  <a:pt x="1978787" y="0"/>
                </a:moveTo>
                <a:lnTo>
                  <a:pt x="0" y="0"/>
                </a:lnTo>
                <a:lnTo>
                  <a:pt x="0" y="3902964"/>
                </a:lnTo>
                <a:lnTo>
                  <a:pt x="1978787" y="3902964"/>
                </a:lnTo>
                <a:lnTo>
                  <a:pt x="2682240" y="1952244"/>
                </a:lnTo>
                <a:lnTo>
                  <a:pt x="1978787" y="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119549" y="1323450"/>
            <a:ext cx="2680340" cy="3900581"/>
          </a:xfrm>
          <a:custGeom>
            <a:avLst/>
            <a:gdLst/>
            <a:ahLst/>
            <a:cxnLst/>
            <a:rect l="l" t="t" r="r" b="b"/>
            <a:pathLst>
              <a:path w="2682240" h="3903345">
                <a:moveTo>
                  <a:pt x="0" y="0"/>
                </a:moveTo>
                <a:lnTo>
                  <a:pt x="1978787" y="0"/>
                </a:lnTo>
                <a:lnTo>
                  <a:pt x="2682240" y="1952244"/>
                </a:lnTo>
                <a:lnTo>
                  <a:pt x="1978787" y="3902964"/>
                </a:lnTo>
                <a:lnTo>
                  <a:pt x="0" y="3902964"/>
                </a:lnTo>
                <a:lnTo>
                  <a:pt x="0" y="1952244"/>
                </a:lnTo>
                <a:lnTo>
                  <a:pt x="0" y="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169043" y="1538944"/>
            <a:ext cx="1926495" cy="3359944"/>
          </a:xfrm>
          <a:custGeom>
            <a:avLst/>
            <a:gdLst/>
            <a:ahLst/>
            <a:cxnLst/>
            <a:rect l="l" t="t" r="r" b="b"/>
            <a:pathLst>
              <a:path w="1927860" h="3362325">
                <a:moveTo>
                  <a:pt x="0" y="3361944"/>
                </a:moveTo>
                <a:lnTo>
                  <a:pt x="1927860" y="3361944"/>
                </a:lnTo>
                <a:lnTo>
                  <a:pt x="1927860" y="0"/>
                </a:lnTo>
                <a:lnTo>
                  <a:pt x="0" y="0"/>
                </a:lnTo>
                <a:lnTo>
                  <a:pt x="0" y="336194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txBox="1"/>
          <p:nvPr/>
        </p:nvSpPr>
        <p:spPr>
          <a:xfrm>
            <a:off x="4964467" y="1535644"/>
            <a:ext cx="104129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大客</a:t>
            </a:r>
            <a:r>
              <a:rPr sz="1600" b="1" spc="-10" dirty="0">
                <a:solidFill>
                  <a:srgbClr val="0066CC"/>
                </a:solidFill>
                <a:latin typeface="微软雅黑" panose="020B0503020204020204" charset="-122"/>
                <a:ea typeface="微软雅黑" panose="020B0503020204020204" charset="-122"/>
                <a:cs typeface="微软雅黑" panose="020B0503020204020204" charset="-122"/>
              </a:rPr>
              <a:t>户规划</a:t>
            </a:r>
            <a:endParaRPr sz="1600">
              <a:latin typeface="微软雅黑" panose="020B0503020204020204" charset="-122"/>
              <a:ea typeface="微软雅黑" panose="020B0503020204020204" charset="-122"/>
              <a:cs typeface="微软雅黑" panose="020B0503020204020204" charset="-122"/>
            </a:endParaRPr>
          </a:p>
        </p:txBody>
      </p:sp>
      <p:sp>
        <p:nvSpPr>
          <p:cNvPr id="16" name="object 16"/>
          <p:cNvSpPr txBox="1"/>
          <p:nvPr/>
        </p:nvSpPr>
        <p:spPr>
          <a:xfrm>
            <a:off x="6933604" y="1535644"/>
            <a:ext cx="1045739"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实施和跟踪</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17" name="object 17"/>
          <p:cNvSpPr txBox="1"/>
          <p:nvPr/>
        </p:nvSpPr>
        <p:spPr>
          <a:xfrm>
            <a:off x="5439110" y="3524071"/>
            <a:ext cx="434032"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组织</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18" name="object 18"/>
          <p:cNvSpPr/>
          <p:nvPr/>
        </p:nvSpPr>
        <p:spPr>
          <a:xfrm>
            <a:off x="4876519" y="3421020"/>
            <a:ext cx="385807" cy="501295"/>
          </a:xfrm>
          <a:custGeom>
            <a:avLst/>
            <a:gdLst/>
            <a:ahLst/>
            <a:cxnLst/>
            <a:rect l="l" t="t" r="r" b="b"/>
            <a:pathLst>
              <a:path w="386079" h="501650">
                <a:moveTo>
                  <a:pt x="188213" y="0"/>
                </a:moveTo>
                <a:lnTo>
                  <a:pt x="146496" y="4355"/>
                </a:lnTo>
                <a:lnTo>
                  <a:pt x="109553" y="17414"/>
                </a:lnTo>
                <a:lnTo>
                  <a:pt x="77396" y="39165"/>
                </a:lnTo>
                <a:lnTo>
                  <a:pt x="50037" y="69595"/>
                </a:lnTo>
                <a:lnTo>
                  <a:pt x="28128" y="107053"/>
                </a:lnTo>
                <a:lnTo>
                  <a:pt x="12493" y="149891"/>
                </a:lnTo>
                <a:lnTo>
                  <a:pt x="3121" y="198112"/>
                </a:lnTo>
                <a:lnTo>
                  <a:pt x="0" y="251713"/>
                </a:lnTo>
                <a:lnTo>
                  <a:pt x="1549" y="289958"/>
                </a:lnTo>
                <a:lnTo>
                  <a:pt x="13983" y="358780"/>
                </a:lnTo>
                <a:lnTo>
                  <a:pt x="38179" y="416647"/>
                </a:lnTo>
                <a:lnTo>
                  <a:pt x="69611" y="459319"/>
                </a:lnTo>
                <a:lnTo>
                  <a:pt x="108547" y="486487"/>
                </a:lnTo>
                <a:lnTo>
                  <a:pt x="160605" y="499961"/>
                </a:lnTo>
                <a:lnTo>
                  <a:pt x="191897" y="501650"/>
                </a:lnTo>
                <a:lnTo>
                  <a:pt x="227782" y="499695"/>
                </a:lnTo>
                <a:lnTo>
                  <a:pt x="286265" y="484022"/>
                </a:lnTo>
                <a:lnTo>
                  <a:pt x="328509" y="452014"/>
                </a:lnTo>
                <a:lnTo>
                  <a:pt x="363370" y="400147"/>
                </a:lnTo>
                <a:lnTo>
                  <a:pt x="366288" y="393700"/>
                </a:lnTo>
                <a:lnTo>
                  <a:pt x="194817" y="393700"/>
                </a:lnTo>
                <a:lnTo>
                  <a:pt x="180578" y="391747"/>
                </a:lnTo>
                <a:lnTo>
                  <a:pt x="146430" y="362457"/>
                </a:lnTo>
                <a:lnTo>
                  <a:pt x="132125" y="317184"/>
                </a:lnTo>
                <a:lnTo>
                  <a:pt x="129794" y="296417"/>
                </a:lnTo>
                <a:lnTo>
                  <a:pt x="385825" y="296417"/>
                </a:lnTo>
                <a:lnTo>
                  <a:pt x="385825" y="275716"/>
                </a:lnTo>
                <a:lnTo>
                  <a:pt x="384468" y="230499"/>
                </a:lnTo>
                <a:lnTo>
                  <a:pt x="382249" y="208279"/>
                </a:lnTo>
                <a:lnTo>
                  <a:pt x="130175" y="208279"/>
                </a:lnTo>
                <a:lnTo>
                  <a:pt x="132244" y="188162"/>
                </a:lnTo>
                <a:lnTo>
                  <a:pt x="144907" y="143763"/>
                </a:lnTo>
                <a:lnTo>
                  <a:pt x="179071" y="111134"/>
                </a:lnTo>
                <a:lnTo>
                  <a:pt x="193548" y="108965"/>
                </a:lnTo>
                <a:lnTo>
                  <a:pt x="358683" y="108965"/>
                </a:lnTo>
                <a:lnTo>
                  <a:pt x="352087" y="93678"/>
                </a:lnTo>
                <a:lnTo>
                  <a:pt x="320567" y="48529"/>
                </a:lnTo>
                <a:lnTo>
                  <a:pt x="278493" y="17573"/>
                </a:lnTo>
                <a:lnTo>
                  <a:pt x="222053" y="1952"/>
                </a:lnTo>
                <a:lnTo>
                  <a:pt x="188213" y="0"/>
                </a:lnTo>
                <a:close/>
              </a:path>
              <a:path w="386079" h="501650">
                <a:moveTo>
                  <a:pt x="252729" y="349757"/>
                </a:moveTo>
                <a:lnTo>
                  <a:pt x="221910" y="386038"/>
                </a:lnTo>
                <a:lnTo>
                  <a:pt x="194817" y="393700"/>
                </a:lnTo>
                <a:lnTo>
                  <a:pt x="366288" y="393700"/>
                </a:lnTo>
                <a:lnTo>
                  <a:pt x="378587" y="366521"/>
                </a:lnTo>
                <a:lnTo>
                  <a:pt x="252729" y="349757"/>
                </a:lnTo>
                <a:close/>
              </a:path>
              <a:path w="386079" h="501650">
                <a:moveTo>
                  <a:pt x="358683" y="108965"/>
                </a:moveTo>
                <a:lnTo>
                  <a:pt x="193548" y="108965"/>
                </a:lnTo>
                <a:lnTo>
                  <a:pt x="206069" y="110396"/>
                </a:lnTo>
                <a:lnTo>
                  <a:pt x="217328" y="114696"/>
                </a:lnTo>
                <a:lnTo>
                  <a:pt x="243278" y="145379"/>
                </a:lnTo>
                <a:lnTo>
                  <a:pt x="253236" y="183566"/>
                </a:lnTo>
                <a:lnTo>
                  <a:pt x="255904" y="208279"/>
                </a:lnTo>
                <a:lnTo>
                  <a:pt x="382249" y="208279"/>
                </a:lnTo>
                <a:lnTo>
                  <a:pt x="380396" y="189722"/>
                </a:lnTo>
                <a:lnTo>
                  <a:pt x="373610" y="153398"/>
                </a:lnTo>
                <a:lnTo>
                  <a:pt x="364109" y="121538"/>
                </a:lnTo>
                <a:lnTo>
                  <a:pt x="358683" y="108965"/>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9" name="object 19"/>
          <p:cNvSpPr/>
          <p:nvPr/>
        </p:nvSpPr>
        <p:spPr>
          <a:xfrm>
            <a:off x="4402256" y="1433354"/>
            <a:ext cx="385807" cy="501295"/>
          </a:xfrm>
          <a:custGeom>
            <a:avLst/>
            <a:gdLst/>
            <a:ahLst/>
            <a:cxnLst/>
            <a:rect l="l" t="t" r="r" b="b"/>
            <a:pathLst>
              <a:path w="386079" h="501650">
                <a:moveTo>
                  <a:pt x="194437" y="0"/>
                </a:moveTo>
                <a:lnTo>
                  <a:pt x="141208" y="5524"/>
                </a:lnTo>
                <a:lnTo>
                  <a:pt x="98551" y="22098"/>
                </a:lnTo>
                <a:lnTo>
                  <a:pt x="63940" y="51315"/>
                </a:lnTo>
                <a:lnTo>
                  <a:pt x="32781" y="95250"/>
                </a:lnTo>
                <a:lnTo>
                  <a:pt x="9858" y="155684"/>
                </a:lnTo>
                <a:lnTo>
                  <a:pt x="1095" y="217354"/>
                </a:lnTo>
                <a:lnTo>
                  <a:pt x="0" y="252856"/>
                </a:lnTo>
                <a:lnTo>
                  <a:pt x="885" y="286529"/>
                </a:lnTo>
                <a:lnTo>
                  <a:pt x="8036" y="343350"/>
                </a:lnTo>
                <a:lnTo>
                  <a:pt x="22278" y="387336"/>
                </a:lnTo>
                <a:lnTo>
                  <a:pt x="42229" y="424725"/>
                </a:lnTo>
                <a:lnTo>
                  <a:pt x="67609" y="456136"/>
                </a:lnTo>
                <a:lnTo>
                  <a:pt x="98038" y="479186"/>
                </a:lnTo>
                <a:lnTo>
                  <a:pt x="133873" y="493613"/>
                </a:lnTo>
                <a:lnTo>
                  <a:pt x="178069" y="500749"/>
                </a:lnTo>
                <a:lnTo>
                  <a:pt x="203453" y="501650"/>
                </a:lnTo>
                <a:lnTo>
                  <a:pt x="229766" y="500249"/>
                </a:lnTo>
                <a:lnTo>
                  <a:pt x="275105" y="489112"/>
                </a:lnTo>
                <a:lnTo>
                  <a:pt x="311155" y="467256"/>
                </a:lnTo>
                <a:lnTo>
                  <a:pt x="340441" y="436205"/>
                </a:lnTo>
                <a:lnTo>
                  <a:pt x="363374" y="396392"/>
                </a:lnTo>
                <a:lnTo>
                  <a:pt x="370603" y="378205"/>
                </a:lnTo>
                <a:lnTo>
                  <a:pt x="196214" y="378205"/>
                </a:lnTo>
                <a:lnTo>
                  <a:pt x="181832" y="376297"/>
                </a:lnTo>
                <a:lnTo>
                  <a:pt x="146685" y="347472"/>
                </a:lnTo>
                <a:lnTo>
                  <a:pt x="132000" y="309737"/>
                </a:lnTo>
                <a:lnTo>
                  <a:pt x="127126" y="257810"/>
                </a:lnTo>
                <a:lnTo>
                  <a:pt x="128363" y="226704"/>
                </a:lnTo>
                <a:lnTo>
                  <a:pt x="138217" y="177210"/>
                </a:lnTo>
                <a:lnTo>
                  <a:pt x="169465" y="134175"/>
                </a:lnTo>
                <a:lnTo>
                  <a:pt x="198120" y="125984"/>
                </a:lnTo>
                <a:lnTo>
                  <a:pt x="368473" y="125984"/>
                </a:lnTo>
                <a:lnTo>
                  <a:pt x="355377" y="93710"/>
                </a:lnTo>
                <a:lnTo>
                  <a:pt x="318897" y="41910"/>
                </a:lnTo>
                <a:lnTo>
                  <a:pt x="266334" y="10477"/>
                </a:lnTo>
                <a:lnTo>
                  <a:pt x="232796" y="2619"/>
                </a:lnTo>
                <a:lnTo>
                  <a:pt x="194437" y="0"/>
                </a:lnTo>
                <a:close/>
              </a:path>
              <a:path w="386079" h="501650">
                <a:moveTo>
                  <a:pt x="264160" y="302767"/>
                </a:moveTo>
                <a:lnTo>
                  <a:pt x="246532" y="349166"/>
                </a:lnTo>
                <a:lnTo>
                  <a:pt x="208287" y="377041"/>
                </a:lnTo>
                <a:lnTo>
                  <a:pt x="196214" y="378205"/>
                </a:lnTo>
                <a:lnTo>
                  <a:pt x="370603" y="378205"/>
                </a:lnTo>
                <a:lnTo>
                  <a:pt x="372446" y="373554"/>
                </a:lnTo>
                <a:lnTo>
                  <a:pt x="379860" y="349009"/>
                </a:lnTo>
                <a:lnTo>
                  <a:pt x="385699" y="322579"/>
                </a:lnTo>
                <a:lnTo>
                  <a:pt x="264160" y="302767"/>
                </a:lnTo>
                <a:close/>
              </a:path>
              <a:path w="386079" h="501650">
                <a:moveTo>
                  <a:pt x="368473" y="125984"/>
                </a:moveTo>
                <a:lnTo>
                  <a:pt x="198120" y="125984"/>
                </a:lnTo>
                <a:lnTo>
                  <a:pt x="210052" y="126960"/>
                </a:lnTo>
                <a:lnTo>
                  <a:pt x="220710" y="129889"/>
                </a:lnTo>
                <a:lnTo>
                  <a:pt x="250825" y="161020"/>
                </a:lnTo>
                <a:lnTo>
                  <a:pt x="258825" y="187960"/>
                </a:lnTo>
                <a:lnTo>
                  <a:pt x="379095" y="164846"/>
                </a:lnTo>
                <a:lnTo>
                  <a:pt x="368831" y="126867"/>
                </a:lnTo>
                <a:lnTo>
                  <a:pt x="368473" y="125984"/>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0" name="object 20"/>
          <p:cNvSpPr/>
          <p:nvPr/>
        </p:nvSpPr>
        <p:spPr>
          <a:xfrm>
            <a:off x="6458199" y="1433354"/>
            <a:ext cx="385807" cy="501295"/>
          </a:xfrm>
          <a:custGeom>
            <a:avLst/>
            <a:gdLst/>
            <a:ahLst/>
            <a:cxnLst/>
            <a:rect l="l" t="t" r="r" b="b"/>
            <a:pathLst>
              <a:path w="386079" h="501650">
                <a:moveTo>
                  <a:pt x="147827" y="127888"/>
                </a:moveTo>
                <a:lnTo>
                  <a:pt x="89074" y="139684"/>
                </a:lnTo>
                <a:lnTo>
                  <a:pt x="41655" y="175005"/>
                </a:lnTo>
                <a:lnTo>
                  <a:pt x="10398" y="232537"/>
                </a:lnTo>
                <a:lnTo>
                  <a:pt x="0" y="311023"/>
                </a:lnTo>
                <a:lnTo>
                  <a:pt x="2357" y="349244"/>
                </a:lnTo>
                <a:lnTo>
                  <a:pt x="21216" y="416732"/>
                </a:lnTo>
                <a:lnTo>
                  <a:pt x="58697" y="470360"/>
                </a:lnTo>
                <a:lnTo>
                  <a:pt x="113371" y="498173"/>
                </a:lnTo>
                <a:lnTo>
                  <a:pt x="147066" y="501650"/>
                </a:lnTo>
                <a:lnTo>
                  <a:pt x="164472" y="500675"/>
                </a:lnTo>
                <a:lnTo>
                  <a:pt x="211835" y="486155"/>
                </a:lnTo>
                <a:lnTo>
                  <a:pt x="247036" y="456116"/>
                </a:lnTo>
                <a:lnTo>
                  <a:pt x="259969" y="440689"/>
                </a:lnTo>
                <a:lnTo>
                  <a:pt x="385699" y="440689"/>
                </a:lnTo>
                <a:lnTo>
                  <a:pt x="385699" y="401319"/>
                </a:lnTo>
                <a:lnTo>
                  <a:pt x="191007" y="401319"/>
                </a:lnTo>
                <a:lnTo>
                  <a:pt x="179459" y="400034"/>
                </a:lnTo>
                <a:lnTo>
                  <a:pt x="143454" y="369226"/>
                </a:lnTo>
                <a:lnTo>
                  <a:pt x="134239" y="316738"/>
                </a:lnTo>
                <a:lnTo>
                  <a:pt x="135237" y="294997"/>
                </a:lnTo>
                <a:lnTo>
                  <a:pt x="150114" y="250062"/>
                </a:lnTo>
                <a:lnTo>
                  <a:pt x="189356" y="230250"/>
                </a:lnTo>
                <a:lnTo>
                  <a:pt x="385699" y="230250"/>
                </a:lnTo>
                <a:lnTo>
                  <a:pt x="385699" y="170941"/>
                </a:lnTo>
                <a:lnTo>
                  <a:pt x="250063" y="170941"/>
                </a:lnTo>
                <a:lnTo>
                  <a:pt x="239799" y="160847"/>
                </a:lnTo>
                <a:lnTo>
                  <a:pt x="228822" y="152098"/>
                </a:lnTo>
                <a:lnTo>
                  <a:pt x="191583" y="133943"/>
                </a:lnTo>
                <a:lnTo>
                  <a:pt x="163111" y="128557"/>
                </a:lnTo>
                <a:lnTo>
                  <a:pt x="147827" y="127888"/>
                </a:lnTo>
                <a:close/>
              </a:path>
              <a:path w="386079" h="501650">
                <a:moveTo>
                  <a:pt x="385699" y="440689"/>
                </a:moveTo>
                <a:lnTo>
                  <a:pt x="259969" y="440689"/>
                </a:lnTo>
                <a:lnTo>
                  <a:pt x="259969" y="493522"/>
                </a:lnTo>
                <a:lnTo>
                  <a:pt x="385699" y="493522"/>
                </a:lnTo>
                <a:lnTo>
                  <a:pt x="385699" y="440689"/>
                </a:lnTo>
                <a:close/>
              </a:path>
              <a:path w="386079" h="501650">
                <a:moveTo>
                  <a:pt x="385699" y="230250"/>
                </a:moveTo>
                <a:lnTo>
                  <a:pt x="189356" y="230250"/>
                </a:lnTo>
                <a:lnTo>
                  <a:pt x="202120" y="231538"/>
                </a:lnTo>
                <a:lnTo>
                  <a:pt x="213741" y="235410"/>
                </a:lnTo>
                <a:lnTo>
                  <a:pt x="241220" y="262647"/>
                </a:lnTo>
                <a:lnTo>
                  <a:pt x="251078" y="313689"/>
                </a:lnTo>
                <a:lnTo>
                  <a:pt x="250007" y="335311"/>
                </a:lnTo>
                <a:lnTo>
                  <a:pt x="233933" y="380746"/>
                </a:lnTo>
                <a:lnTo>
                  <a:pt x="191007" y="401319"/>
                </a:lnTo>
                <a:lnTo>
                  <a:pt x="385699" y="401319"/>
                </a:lnTo>
                <a:lnTo>
                  <a:pt x="385699" y="230250"/>
                </a:lnTo>
                <a:close/>
              </a:path>
              <a:path w="386079" h="501650">
                <a:moveTo>
                  <a:pt x="385699" y="0"/>
                </a:moveTo>
                <a:lnTo>
                  <a:pt x="250063" y="0"/>
                </a:lnTo>
                <a:lnTo>
                  <a:pt x="250063" y="170941"/>
                </a:lnTo>
                <a:lnTo>
                  <a:pt x="385699" y="170941"/>
                </a:lnTo>
                <a:lnTo>
                  <a:pt x="385699"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1" name="object 21"/>
          <p:cNvSpPr/>
          <p:nvPr/>
        </p:nvSpPr>
        <p:spPr>
          <a:xfrm>
            <a:off x="2485914" y="1433354"/>
            <a:ext cx="385807" cy="501295"/>
          </a:xfrm>
          <a:custGeom>
            <a:avLst/>
            <a:gdLst/>
            <a:ahLst/>
            <a:cxnLst/>
            <a:rect l="l" t="t" r="r" b="b"/>
            <a:pathLst>
              <a:path w="386080" h="501650">
                <a:moveTo>
                  <a:pt x="351348" y="440689"/>
                </a:moveTo>
                <a:lnTo>
                  <a:pt x="125603" y="440689"/>
                </a:lnTo>
                <a:lnTo>
                  <a:pt x="138412" y="456027"/>
                </a:lnTo>
                <a:lnTo>
                  <a:pt x="173862" y="486155"/>
                </a:lnTo>
                <a:lnTo>
                  <a:pt x="221243" y="500675"/>
                </a:lnTo>
                <a:lnTo>
                  <a:pt x="238506" y="501650"/>
                </a:lnTo>
                <a:lnTo>
                  <a:pt x="258699" y="500268"/>
                </a:lnTo>
                <a:lnTo>
                  <a:pt x="296227" y="489219"/>
                </a:lnTo>
                <a:lnTo>
                  <a:pt x="329588" y="467098"/>
                </a:lnTo>
                <a:lnTo>
                  <a:pt x="351348" y="440689"/>
                </a:lnTo>
                <a:close/>
              </a:path>
              <a:path w="386080" h="501650">
                <a:moveTo>
                  <a:pt x="135509" y="0"/>
                </a:moveTo>
                <a:lnTo>
                  <a:pt x="0" y="0"/>
                </a:lnTo>
                <a:lnTo>
                  <a:pt x="0" y="493522"/>
                </a:lnTo>
                <a:lnTo>
                  <a:pt x="125603" y="493522"/>
                </a:lnTo>
                <a:lnTo>
                  <a:pt x="125603" y="440689"/>
                </a:lnTo>
                <a:lnTo>
                  <a:pt x="351348" y="440689"/>
                </a:lnTo>
                <a:lnTo>
                  <a:pt x="356068" y="433760"/>
                </a:lnTo>
                <a:lnTo>
                  <a:pt x="366522" y="412876"/>
                </a:lnTo>
                <a:lnTo>
                  <a:pt x="370715" y="401319"/>
                </a:lnTo>
                <a:lnTo>
                  <a:pt x="194691" y="401319"/>
                </a:lnTo>
                <a:lnTo>
                  <a:pt x="182211" y="400012"/>
                </a:lnTo>
                <a:lnTo>
                  <a:pt x="144103" y="368589"/>
                </a:lnTo>
                <a:lnTo>
                  <a:pt x="134619" y="313689"/>
                </a:lnTo>
                <a:lnTo>
                  <a:pt x="135693" y="293993"/>
                </a:lnTo>
                <a:lnTo>
                  <a:pt x="151892" y="250951"/>
                </a:lnTo>
                <a:lnTo>
                  <a:pt x="196596" y="230250"/>
                </a:lnTo>
                <a:lnTo>
                  <a:pt x="374480" y="230250"/>
                </a:lnTo>
                <a:lnTo>
                  <a:pt x="362124" y="200880"/>
                </a:lnTo>
                <a:lnTo>
                  <a:pt x="343788" y="174878"/>
                </a:lnTo>
                <a:lnTo>
                  <a:pt x="339515" y="170941"/>
                </a:lnTo>
                <a:lnTo>
                  <a:pt x="135509" y="170941"/>
                </a:lnTo>
                <a:lnTo>
                  <a:pt x="135509" y="0"/>
                </a:lnTo>
                <a:close/>
              </a:path>
              <a:path w="386080" h="501650">
                <a:moveTo>
                  <a:pt x="374480" y="230250"/>
                </a:moveTo>
                <a:lnTo>
                  <a:pt x="196596" y="230250"/>
                </a:lnTo>
                <a:lnTo>
                  <a:pt x="207577" y="231489"/>
                </a:lnTo>
                <a:lnTo>
                  <a:pt x="217678" y="235203"/>
                </a:lnTo>
                <a:lnTo>
                  <a:pt x="247332" y="275574"/>
                </a:lnTo>
                <a:lnTo>
                  <a:pt x="251275" y="313689"/>
                </a:lnTo>
                <a:lnTo>
                  <a:pt x="250328" y="334706"/>
                </a:lnTo>
                <a:lnTo>
                  <a:pt x="235076" y="380873"/>
                </a:lnTo>
                <a:lnTo>
                  <a:pt x="194691" y="401319"/>
                </a:lnTo>
                <a:lnTo>
                  <a:pt x="370715" y="401319"/>
                </a:lnTo>
                <a:lnTo>
                  <a:pt x="374895" y="389800"/>
                </a:lnTo>
                <a:lnTo>
                  <a:pt x="380920" y="364775"/>
                </a:lnTo>
                <a:lnTo>
                  <a:pt x="384506" y="338081"/>
                </a:lnTo>
                <a:lnTo>
                  <a:pt x="385699" y="309625"/>
                </a:lnTo>
                <a:lnTo>
                  <a:pt x="383079" y="268265"/>
                </a:lnTo>
                <a:lnTo>
                  <a:pt x="375221" y="232013"/>
                </a:lnTo>
                <a:lnTo>
                  <a:pt x="374480" y="230250"/>
                </a:lnTo>
                <a:close/>
              </a:path>
              <a:path w="386080" h="501650">
                <a:moveTo>
                  <a:pt x="237871" y="127888"/>
                </a:moveTo>
                <a:lnTo>
                  <a:pt x="194401" y="133943"/>
                </a:lnTo>
                <a:lnTo>
                  <a:pt x="157035" y="152098"/>
                </a:lnTo>
                <a:lnTo>
                  <a:pt x="135509" y="170941"/>
                </a:lnTo>
                <a:lnTo>
                  <a:pt x="339515" y="170941"/>
                </a:lnTo>
                <a:lnTo>
                  <a:pt x="321452" y="154303"/>
                </a:lnTo>
                <a:lnTo>
                  <a:pt x="296354" y="139620"/>
                </a:lnTo>
                <a:lnTo>
                  <a:pt x="268493" y="130819"/>
                </a:lnTo>
                <a:lnTo>
                  <a:pt x="237871" y="127888"/>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253820" y="1433354"/>
            <a:ext cx="253820" cy="503198"/>
          </a:xfrm>
          <a:custGeom>
            <a:avLst/>
            <a:gdLst/>
            <a:ahLst/>
            <a:cxnLst/>
            <a:rect l="l" t="t" r="r" b="b"/>
            <a:pathLst>
              <a:path w="254000" h="503555">
                <a:moveTo>
                  <a:pt x="237734" y="109600"/>
                </a:moveTo>
                <a:lnTo>
                  <a:pt x="131673" y="109600"/>
                </a:lnTo>
                <a:lnTo>
                  <a:pt x="139160" y="110456"/>
                </a:lnTo>
                <a:lnTo>
                  <a:pt x="145427" y="113014"/>
                </a:lnTo>
                <a:lnTo>
                  <a:pt x="160341" y="155122"/>
                </a:lnTo>
                <a:lnTo>
                  <a:pt x="160743" y="170814"/>
                </a:lnTo>
                <a:lnTo>
                  <a:pt x="152959" y="177319"/>
                </a:lnTo>
                <a:lnTo>
                  <a:pt x="108359" y="204311"/>
                </a:lnTo>
                <a:lnTo>
                  <a:pt x="69164" y="222123"/>
                </a:lnTo>
                <a:lnTo>
                  <a:pt x="50883" y="231838"/>
                </a:lnTo>
                <a:lnTo>
                  <a:pt x="14744" y="274700"/>
                </a:lnTo>
                <a:lnTo>
                  <a:pt x="3686" y="314880"/>
                </a:lnTo>
                <a:lnTo>
                  <a:pt x="0" y="364871"/>
                </a:lnTo>
                <a:lnTo>
                  <a:pt x="1278" y="392947"/>
                </a:lnTo>
                <a:lnTo>
                  <a:pt x="11508" y="442148"/>
                </a:lnTo>
                <a:lnTo>
                  <a:pt x="31875" y="480724"/>
                </a:lnTo>
                <a:lnTo>
                  <a:pt x="80378" y="503174"/>
                </a:lnTo>
                <a:lnTo>
                  <a:pt x="94772" y="501933"/>
                </a:lnTo>
                <a:lnTo>
                  <a:pt x="132499" y="483235"/>
                </a:lnTo>
                <a:lnTo>
                  <a:pt x="157232" y="449516"/>
                </a:lnTo>
                <a:lnTo>
                  <a:pt x="165531" y="433324"/>
                </a:lnTo>
                <a:lnTo>
                  <a:pt x="244579" y="433324"/>
                </a:lnTo>
                <a:lnTo>
                  <a:pt x="244517" y="432556"/>
                </a:lnTo>
                <a:lnTo>
                  <a:pt x="243901" y="420163"/>
                </a:lnTo>
                <a:lnTo>
                  <a:pt x="243531" y="405937"/>
                </a:lnTo>
                <a:lnTo>
                  <a:pt x="243491" y="400685"/>
                </a:lnTo>
                <a:lnTo>
                  <a:pt x="103149" y="400685"/>
                </a:lnTo>
                <a:lnTo>
                  <a:pt x="85169" y="361660"/>
                </a:lnTo>
                <a:lnTo>
                  <a:pt x="84734" y="351281"/>
                </a:lnTo>
                <a:lnTo>
                  <a:pt x="85175" y="342016"/>
                </a:lnTo>
                <a:lnTo>
                  <a:pt x="103378" y="302656"/>
                </a:lnTo>
                <a:lnTo>
                  <a:pt x="133767" y="282424"/>
                </a:lnTo>
                <a:lnTo>
                  <a:pt x="142943" y="276637"/>
                </a:lnTo>
                <a:lnTo>
                  <a:pt x="151935" y="270422"/>
                </a:lnTo>
                <a:lnTo>
                  <a:pt x="160743" y="263778"/>
                </a:lnTo>
                <a:lnTo>
                  <a:pt x="243408" y="263778"/>
                </a:lnTo>
                <a:lnTo>
                  <a:pt x="243408" y="177164"/>
                </a:lnTo>
                <a:lnTo>
                  <a:pt x="243017" y="159976"/>
                </a:lnTo>
                <a:lnTo>
                  <a:pt x="241847" y="142335"/>
                </a:lnTo>
                <a:lnTo>
                  <a:pt x="239890" y="124205"/>
                </a:lnTo>
                <a:lnTo>
                  <a:pt x="237734" y="109600"/>
                </a:lnTo>
                <a:close/>
              </a:path>
              <a:path w="254000" h="503555">
                <a:moveTo>
                  <a:pt x="244579" y="433324"/>
                </a:moveTo>
                <a:lnTo>
                  <a:pt x="165531" y="433324"/>
                </a:lnTo>
                <a:lnTo>
                  <a:pt x="166256" y="443102"/>
                </a:lnTo>
                <a:lnTo>
                  <a:pt x="172481" y="483540"/>
                </a:lnTo>
                <a:lnTo>
                  <a:pt x="174663" y="492251"/>
                </a:lnTo>
                <a:lnTo>
                  <a:pt x="254000" y="492251"/>
                </a:lnTo>
                <a:lnTo>
                  <a:pt x="250968" y="477964"/>
                </a:lnTo>
                <a:lnTo>
                  <a:pt x="248521" y="465010"/>
                </a:lnTo>
                <a:lnTo>
                  <a:pt x="246658" y="453389"/>
                </a:lnTo>
                <a:lnTo>
                  <a:pt x="245376" y="443102"/>
                </a:lnTo>
                <a:lnTo>
                  <a:pt x="244579" y="433324"/>
                </a:lnTo>
                <a:close/>
              </a:path>
              <a:path w="254000" h="503555">
                <a:moveTo>
                  <a:pt x="243408" y="263778"/>
                </a:moveTo>
                <a:lnTo>
                  <a:pt x="160743" y="263778"/>
                </a:lnTo>
                <a:lnTo>
                  <a:pt x="160704" y="295261"/>
                </a:lnTo>
                <a:lnTo>
                  <a:pt x="160426" y="309673"/>
                </a:lnTo>
                <a:lnTo>
                  <a:pt x="155663" y="349250"/>
                </a:lnTo>
                <a:lnTo>
                  <a:pt x="138417" y="385699"/>
                </a:lnTo>
                <a:lnTo>
                  <a:pt x="112153" y="400685"/>
                </a:lnTo>
                <a:lnTo>
                  <a:pt x="243491" y="400685"/>
                </a:lnTo>
                <a:lnTo>
                  <a:pt x="243408" y="263778"/>
                </a:lnTo>
                <a:close/>
              </a:path>
              <a:path w="254000" h="503555">
                <a:moveTo>
                  <a:pt x="120662" y="0"/>
                </a:moveTo>
                <a:lnTo>
                  <a:pt x="76631" y="7619"/>
                </a:lnTo>
                <a:lnTo>
                  <a:pt x="44653" y="29463"/>
                </a:lnTo>
                <a:lnTo>
                  <a:pt x="24618" y="62628"/>
                </a:lnTo>
                <a:lnTo>
                  <a:pt x="12225" y="106870"/>
                </a:lnTo>
                <a:lnTo>
                  <a:pt x="6642" y="148209"/>
                </a:lnTo>
                <a:lnTo>
                  <a:pt x="87439" y="166750"/>
                </a:lnTo>
                <a:lnTo>
                  <a:pt x="90122" y="152370"/>
                </a:lnTo>
                <a:lnTo>
                  <a:pt x="93198" y="140477"/>
                </a:lnTo>
                <a:lnTo>
                  <a:pt x="121939" y="110507"/>
                </a:lnTo>
                <a:lnTo>
                  <a:pt x="131673" y="109600"/>
                </a:lnTo>
                <a:lnTo>
                  <a:pt x="237734" y="109600"/>
                </a:lnTo>
                <a:lnTo>
                  <a:pt x="237172" y="105790"/>
                </a:lnTo>
                <a:lnTo>
                  <a:pt x="225256" y="59267"/>
                </a:lnTo>
                <a:lnTo>
                  <a:pt x="202857" y="23542"/>
                </a:lnTo>
                <a:lnTo>
                  <a:pt x="169263" y="5197"/>
                </a:lnTo>
                <a:lnTo>
                  <a:pt x="138731" y="573"/>
                </a:lnTo>
                <a:lnTo>
                  <a:pt x="120662"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txBox="1"/>
          <p:nvPr/>
        </p:nvSpPr>
        <p:spPr>
          <a:xfrm>
            <a:off x="618712" y="1535644"/>
            <a:ext cx="842047"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客户分类</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4" name="object 24"/>
          <p:cNvSpPr txBox="1"/>
          <p:nvPr/>
        </p:nvSpPr>
        <p:spPr>
          <a:xfrm>
            <a:off x="2982893" y="1535644"/>
            <a:ext cx="1045739" cy="257175"/>
          </a:xfrm>
          <a:prstGeom prst="rect">
            <a:avLst/>
          </a:prstGeom>
        </p:spPr>
        <p:txBody>
          <a:bodyPr vert="horz" wrap="square" lIns="0" tIns="12056" rIns="0" bIns="0" rtlCol="0">
            <a:spAutoFit/>
          </a:bodyPr>
          <a:lstStyle/>
          <a:p>
            <a:pPr marL="12700">
              <a:lnSpc>
                <a:spcPct val="100000"/>
              </a:lnSpc>
              <a:spcBef>
                <a:spcPts val="95"/>
              </a:spcBef>
            </a:pPr>
            <a:r>
              <a:rPr sz="1600" b="1" dirty="0">
                <a:solidFill>
                  <a:srgbClr val="0066CC"/>
                </a:solidFill>
                <a:latin typeface="微软雅黑" panose="020B0503020204020204" charset="-122"/>
                <a:ea typeface="微软雅黑" panose="020B0503020204020204" charset="-122"/>
                <a:cs typeface="微软雅黑" panose="020B0503020204020204" charset="-122"/>
              </a:rPr>
              <a:t>大客户分析</a:t>
            </a:r>
            <a:endParaRPr sz="1600" b="1"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5" name="object 25"/>
          <p:cNvSpPr/>
          <p:nvPr/>
        </p:nvSpPr>
        <p:spPr>
          <a:xfrm>
            <a:off x="2995584" y="1980591"/>
            <a:ext cx="1057161" cy="639627"/>
          </a:xfrm>
          <a:custGeom>
            <a:avLst/>
            <a:gdLst/>
            <a:ahLst/>
            <a:cxnLst/>
            <a:rect l="l" t="t" r="r" b="b"/>
            <a:pathLst>
              <a:path w="1057910" h="640080">
                <a:moveTo>
                  <a:pt x="0" y="640079"/>
                </a:moveTo>
                <a:lnTo>
                  <a:pt x="1057656" y="640079"/>
                </a:lnTo>
                <a:lnTo>
                  <a:pt x="1057656" y="0"/>
                </a:lnTo>
                <a:lnTo>
                  <a:pt x="0" y="0"/>
                </a:lnTo>
                <a:lnTo>
                  <a:pt x="0" y="64007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6" name="object 26"/>
          <p:cNvSpPr txBox="1"/>
          <p:nvPr/>
        </p:nvSpPr>
        <p:spPr>
          <a:xfrm>
            <a:off x="2995584" y="1980591"/>
            <a:ext cx="1057161" cy="416560"/>
          </a:xfrm>
          <a:prstGeom prst="rect">
            <a:avLst/>
          </a:prstGeom>
          <a:ln w="9525">
            <a:solidFill>
              <a:srgbClr val="91AFFF"/>
            </a:solidFill>
          </a:ln>
        </p:spPr>
        <p:txBody>
          <a:bodyPr vert="horz" wrap="square" lIns="0" tIns="201786" rIns="0" bIns="0" rtlCol="0">
            <a:spAutoFit/>
          </a:bodyPr>
          <a:lstStyle/>
          <a:p>
            <a:pPr marL="71755">
              <a:lnSpc>
                <a:spcPct val="100000"/>
              </a:lnSpc>
              <a:spcBef>
                <a:spcPts val="1590"/>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客户背景</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27" name="object 27"/>
          <p:cNvSpPr/>
          <p:nvPr/>
        </p:nvSpPr>
        <p:spPr>
          <a:xfrm>
            <a:off x="2995584" y="2720730"/>
            <a:ext cx="1057161" cy="517792"/>
          </a:xfrm>
          <a:custGeom>
            <a:avLst/>
            <a:gdLst/>
            <a:ahLst/>
            <a:cxnLst/>
            <a:rect l="l" t="t" r="r" b="b"/>
            <a:pathLst>
              <a:path w="1057910" h="518160">
                <a:moveTo>
                  <a:pt x="0" y="518160"/>
                </a:moveTo>
                <a:lnTo>
                  <a:pt x="1057656" y="518160"/>
                </a:lnTo>
                <a:lnTo>
                  <a:pt x="1057656"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txBox="1"/>
          <p:nvPr/>
        </p:nvSpPr>
        <p:spPr>
          <a:xfrm>
            <a:off x="2995584" y="2720730"/>
            <a:ext cx="1057161" cy="464820"/>
          </a:xfrm>
          <a:prstGeom prst="rect">
            <a:avLst/>
          </a:prstGeom>
          <a:ln w="9525">
            <a:solidFill>
              <a:srgbClr val="91AFFF"/>
            </a:solidFill>
          </a:ln>
        </p:spPr>
        <p:txBody>
          <a:bodyPr vert="horz" wrap="square" lIns="0" tIns="34900" rIns="0" bIns="0" rtlCol="0">
            <a:spAutoFit/>
          </a:bodyPr>
          <a:lstStyle/>
          <a:p>
            <a:pPr marL="71755">
              <a:lnSpc>
                <a:spcPct val="100000"/>
              </a:lnSpc>
              <a:spcBef>
                <a:spcPts val="275"/>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客户经济</a:t>
            </a:r>
            <a:endParaRPr sz="1400">
              <a:latin typeface="微软雅黑" panose="020B0503020204020204" charset="-122"/>
              <a:ea typeface="微软雅黑" panose="020B0503020204020204" charset="-122"/>
              <a:cs typeface="微软雅黑" panose="020B0503020204020204" charset="-122"/>
            </a:endParaRPr>
          </a:p>
          <a:p>
            <a:pPr marL="71755">
              <a:lnSpc>
                <a:spcPct val="100000"/>
              </a:lnSpc>
            </a:pPr>
            <a:r>
              <a:rPr sz="1400" dirty="0">
                <a:solidFill>
                  <a:srgbClr val="0066CC"/>
                </a:solidFill>
                <a:latin typeface="微软雅黑" panose="020B0503020204020204" charset="-122"/>
                <a:ea typeface="微软雅黑" panose="020B0503020204020204" charset="-122"/>
                <a:cs typeface="微软雅黑" panose="020B0503020204020204" charset="-122"/>
              </a:rPr>
              <a:t>指标</a:t>
            </a:r>
            <a:endParaRPr sz="1400">
              <a:latin typeface="微软雅黑" panose="020B0503020204020204" charset="-122"/>
              <a:ea typeface="微软雅黑" panose="020B0503020204020204" charset="-122"/>
              <a:cs typeface="微软雅黑" panose="020B0503020204020204" charset="-122"/>
            </a:endParaRPr>
          </a:p>
        </p:txBody>
      </p:sp>
      <p:sp>
        <p:nvSpPr>
          <p:cNvPr id="29" name="object 29"/>
          <p:cNvSpPr/>
          <p:nvPr/>
        </p:nvSpPr>
        <p:spPr>
          <a:xfrm>
            <a:off x="2995584" y="3340559"/>
            <a:ext cx="1057161" cy="516524"/>
          </a:xfrm>
          <a:custGeom>
            <a:avLst/>
            <a:gdLst/>
            <a:ahLst/>
            <a:cxnLst/>
            <a:rect l="l" t="t" r="r" b="b"/>
            <a:pathLst>
              <a:path w="1057910" h="516889">
                <a:moveTo>
                  <a:pt x="0" y="516636"/>
                </a:moveTo>
                <a:lnTo>
                  <a:pt x="1057656" y="516636"/>
                </a:lnTo>
                <a:lnTo>
                  <a:pt x="1057656" y="0"/>
                </a:lnTo>
                <a:lnTo>
                  <a:pt x="0" y="0"/>
                </a:lnTo>
                <a:lnTo>
                  <a:pt x="0" y="516636"/>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0" name="object 30"/>
          <p:cNvSpPr txBox="1"/>
          <p:nvPr/>
        </p:nvSpPr>
        <p:spPr>
          <a:xfrm>
            <a:off x="2995584" y="3340559"/>
            <a:ext cx="1057161" cy="464820"/>
          </a:xfrm>
          <a:prstGeom prst="rect">
            <a:avLst/>
          </a:prstGeom>
          <a:ln w="9525">
            <a:solidFill>
              <a:srgbClr val="91AFFF"/>
            </a:solidFill>
          </a:ln>
        </p:spPr>
        <p:txBody>
          <a:bodyPr vert="horz" wrap="square" lIns="0" tIns="31091" rIns="0" bIns="0" rtlCol="0">
            <a:spAutoFit/>
          </a:bodyPr>
          <a:lstStyle/>
          <a:p>
            <a:pPr marL="71755" marR="86360">
              <a:lnSpc>
                <a:spcPct val="101000"/>
              </a:lnSpc>
              <a:spcBef>
                <a:spcPts val="245"/>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客户关系与 决策流程</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1" name="object 31"/>
          <p:cNvSpPr/>
          <p:nvPr/>
        </p:nvSpPr>
        <p:spPr>
          <a:xfrm>
            <a:off x="2995584" y="3958865"/>
            <a:ext cx="1057161" cy="517792"/>
          </a:xfrm>
          <a:custGeom>
            <a:avLst/>
            <a:gdLst/>
            <a:ahLst/>
            <a:cxnLst/>
            <a:rect l="l" t="t" r="r" b="b"/>
            <a:pathLst>
              <a:path w="1057910" h="518160">
                <a:moveTo>
                  <a:pt x="0" y="518159"/>
                </a:moveTo>
                <a:lnTo>
                  <a:pt x="1057656" y="518159"/>
                </a:lnTo>
                <a:lnTo>
                  <a:pt x="1057656" y="0"/>
                </a:lnTo>
                <a:lnTo>
                  <a:pt x="0" y="0"/>
                </a:lnTo>
                <a:lnTo>
                  <a:pt x="0" y="518159"/>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2" name="object 32"/>
          <p:cNvSpPr txBox="1"/>
          <p:nvPr/>
        </p:nvSpPr>
        <p:spPr>
          <a:xfrm>
            <a:off x="2995584" y="3958865"/>
            <a:ext cx="1057161" cy="355600"/>
          </a:xfrm>
          <a:prstGeom prst="rect">
            <a:avLst/>
          </a:prstGeom>
          <a:ln w="9525">
            <a:solidFill>
              <a:srgbClr val="91AFFF"/>
            </a:solidFill>
          </a:ln>
        </p:spPr>
        <p:txBody>
          <a:bodyPr vert="horz" wrap="square" lIns="0" tIns="140870" rIns="0" bIns="0" rtlCol="0">
            <a:spAutoFit/>
          </a:bodyPr>
          <a:lstStyle/>
          <a:p>
            <a:pPr marL="71755">
              <a:lnSpc>
                <a:spcPct val="100000"/>
              </a:lnSpc>
              <a:spcBef>
                <a:spcPts val="1110"/>
              </a:spcBef>
            </a:pPr>
            <a:r>
              <a:rPr sz="1400" dirty="0">
                <a:solidFill>
                  <a:srgbClr val="0066CC"/>
                </a:solidFill>
                <a:latin typeface="微软雅黑" panose="020B0503020204020204" charset="-122"/>
                <a:ea typeface="微软雅黑" panose="020B0503020204020204" charset="-122"/>
                <a:cs typeface="微软雅黑" panose="020B0503020204020204" charset="-122"/>
              </a:rPr>
              <a:t>客户需求</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3" name="object 33"/>
          <p:cNvSpPr/>
          <p:nvPr/>
        </p:nvSpPr>
        <p:spPr>
          <a:xfrm>
            <a:off x="2995584" y="4577170"/>
            <a:ext cx="1057161" cy="517792"/>
          </a:xfrm>
          <a:custGeom>
            <a:avLst/>
            <a:gdLst/>
            <a:ahLst/>
            <a:cxnLst/>
            <a:rect l="l" t="t" r="r" b="b"/>
            <a:pathLst>
              <a:path w="1057910" h="518160">
                <a:moveTo>
                  <a:pt x="0" y="518160"/>
                </a:moveTo>
                <a:lnTo>
                  <a:pt x="1057656" y="518160"/>
                </a:lnTo>
                <a:lnTo>
                  <a:pt x="1057656"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4" name="object 34"/>
          <p:cNvSpPr txBox="1"/>
          <p:nvPr/>
        </p:nvSpPr>
        <p:spPr>
          <a:xfrm>
            <a:off x="2995584" y="4577170"/>
            <a:ext cx="1057161" cy="356235"/>
          </a:xfrm>
          <a:prstGeom prst="rect">
            <a:avLst/>
          </a:prstGeom>
          <a:ln w="9525">
            <a:solidFill>
              <a:srgbClr val="91AFFF"/>
            </a:solidFill>
          </a:ln>
        </p:spPr>
        <p:txBody>
          <a:bodyPr vert="horz" wrap="square" lIns="0" tIns="141504" rIns="0" bIns="0" rtlCol="0">
            <a:spAutoFit/>
          </a:bodyPr>
          <a:lstStyle/>
          <a:p>
            <a:pPr marL="71755">
              <a:lnSpc>
                <a:spcPct val="100000"/>
              </a:lnSpc>
              <a:spcBef>
                <a:spcPts val="1115"/>
              </a:spcBef>
            </a:pPr>
            <a:r>
              <a:rPr sz="1400" dirty="0">
                <a:solidFill>
                  <a:srgbClr val="0066CC"/>
                </a:solidFill>
                <a:latin typeface="微软雅黑" panose="020B0503020204020204" charset="-122"/>
                <a:ea typeface="微软雅黑" panose="020B0503020204020204" charset="-122"/>
                <a:cs typeface="微软雅黑" panose="020B0503020204020204" charset="-122"/>
              </a:rPr>
              <a:t>风险分析</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5" name="object 35"/>
          <p:cNvSpPr/>
          <p:nvPr/>
        </p:nvSpPr>
        <p:spPr>
          <a:xfrm>
            <a:off x="5450533" y="3897948"/>
            <a:ext cx="2614982" cy="335043"/>
          </a:xfrm>
          <a:custGeom>
            <a:avLst/>
            <a:gdLst/>
            <a:ahLst/>
            <a:cxnLst/>
            <a:rect l="l" t="t" r="r" b="b"/>
            <a:pathLst>
              <a:path w="2616834" h="335279">
                <a:moveTo>
                  <a:pt x="0" y="335280"/>
                </a:moveTo>
                <a:lnTo>
                  <a:pt x="2616707" y="335280"/>
                </a:lnTo>
                <a:lnTo>
                  <a:pt x="2616707" y="0"/>
                </a:lnTo>
                <a:lnTo>
                  <a:pt x="0" y="0"/>
                </a:lnTo>
                <a:lnTo>
                  <a:pt x="0" y="33528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6" name="object 36"/>
          <p:cNvSpPr txBox="1"/>
          <p:nvPr/>
        </p:nvSpPr>
        <p:spPr>
          <a:xfrm>
            <a:off x="5450533" y="3897948"/>
            <a:ext cx="2614982" cy="264795"/>
          </a:xfrm>
          <a:prstGeom prst="rect">
            <a:avLst/>
          </a:prstGeom>
          <a:ln w="9525">
            <a:solidFill>
              <a:srgbClr val="0066CC"/>
            </a:solidFill>
          </a:ln>
        </p:spPr>
        <p:txBody>
          <a:bodyPr vert="horz" wrap="square" lIns="0" tIns="50129" rIns="0" bIns="0" rtlCol="0">
            <a:spAutoFit/>
          </a:bodyPr>
          <a:lstStyle/>
          <a:p>
            <a:pPr marL="73025">
              <a:lnSpc>
                <a:spcPct val="100000"/>
              </a:lnSpc>
              <a:spcBef>
                <a:spcPts val="395"/>
              </a:spcBef>
            </a:pPr>
            <a:r>
              <a:rPr sz="1400" dirty="0">
                <a:solidFill>
                  <a:srgbClr val="0066CC"/>
                </a:solidFill>
                <a:latin typeface="微软雅黑" panose="020B0503020204020204" charset="-122"/>
                <a:ea typeface="微软雅黑" panose="020B0503020204020204" charset="-122"/>
                <a:cs typeface="微软雅黑" panose="020B0503020204020204" charset="-122"/>
              </a:rPr>
              <a:t>大客户管理的组织架构</a:t>
            </a:r>
            <a:r>
              <a:rPr sz="1400" spc="-15" dirty="0">
                <a:solidFill>
                  <a:srgbClr val="0066CC"/>
                </a:solidFill>
                <a:latin typeface="微软雅黑" panose="020B0503020204020204" charset="-122"/>
                <a:ea typeface="微软雅黑" panose="020B0503020204020204" charset="-122"/>
                <a:cs typeface="微软雅黑" panose="020B0503020204020204" charset="-122"/>
              </a:rPr>
              <a:t>设</a:t>
            </a:r>
            <a:r>
              <a:rPr sz="1400" spc="5" dirty="0">
                <a:solidFill>
                  <a:srgbClr val="0066CC"/>
                </a:solidFill>
                <a:latin typeface="微软雅黑" panose="020B0503020204020204" charset="-122"/>
                <a:ea typeface="微软雅黑" panose="020B0503020204020204" charset="-122"/>
                <a:cs typeface="微软雅黑" panose="020B0503020204020204" charset="-122"/>
              </a:rPr>
              <a:t>计</a:t>
            </a:r>
            <a:endParaRPr sz="1400">
              <a:latin typeface="微软雅黑" panose="020B0503020204020204" charset="-122"/>
              <a:ea typeface="微软雅黑" panose="020B0503020204020204" charset="-122"/>
              <a:cs typeface="微软雅黑" panose="020B0503020204020204" charset="-122"/>
            </a:endParaRPr>
          </a:p>
        </p:txBody>
      </p:sp>
      <p:sp>
        <p:nvSpPr>
          <p:cNvPr id="37" name="object 37"/>
          <p:cNvSpPr/>
          <p:nvPr/>
        </p:nvSpPr>
        <p:spPr>
          <a:xfrm>
            <a:off x="4976905" y="1980591"/>
            <a:ext cx="1154882" cy="517792"/>
          </a:xfrm>
          <a:custGeom>
            <a:avLst/>
            <a:gdLst/>
            <a:ahLst/>
            <a:cxnLst/>
            <a:rect l="l" t="t" r="r" b="b"/>
            <a:pathLst>
              <a:path w="1155700" h="518160">
                <a:moveTo>
                  <a:pt x="0" y="518160"/>
                </a:moveTo>
                <a:lnTo>
                  <a:pt x="1155191" y="518160"/>
                </a:lnTo>
                <a:lnTo>
                  <a:pt x="1155191"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8" name="object 38"/>
          <p:cNvSpPr txBox="1"/>
          <p:nvPr/>
        </p:nvSpPr>
        <p:spPr>
          <a:xfrm>
            <a:off x="4976905" y="1980591"/>
            <a:ext cx="1154882" cy="336550"/>
          </a:xfrm>
          <a:prstGeom prst="rect">
            <a:avLst/>
          </a:prstGeom>
          <a:ln w="9525">
            <a:solidFill>
              <a:srgbClr val="91AFFF"/>
            </a:solidFill>
          </a:ln>
        </p:spPr>
        <p:txBody>
          <a:bodyPr vert="horz" wrap="square" lIns="0" tIns="121833" rIns="0" bIns="0" rtlCol="0">
            <a:spAutoFit/>
          </a:bodyPr>
          <a:lstStyle/>
          <a:p>
            <a:pPr marL="72390">
              <a:lnSpc>
                <a:spcPct val="100000"/>
              </a:lnSpc>
              <a:spcBef>
                <a:spcPts val="960"/>
              </a:spcBef>
            </a:pPr>
            <a:r>
              <a:rPr sz="1400" dirty="0">
                <a:solidFill>
                  <a:srgbClr val="0066CC"/>
                </a:solidFill>
                <a:latin typeface="微软雅黑" panose="020B0503020204020204" charset="-122"/>
                <a:ea typeface="微软雅黑" panose="020B0503020204020204" charset="-122"/>
                <a:cs typeface="微软雅黑" panose="020B0503020204020204" charset="-122"/>
              </a:rPr>
              <a:t>战略规划</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39" name="object 39"/>
          <p:cNvSpPr/>
          <p:nvPr/>
        </p:nvSpPr>
        <p:spPr>
          <a:xfrm>
            <a:off x="4976905" y="2560823"/>
            <a:ext cx="1154882" cy="517792"/>
          </a:xfrm>
          <a:custGeom>
            <a:avLst/>
            <a:gdLst/>
            <a:ahLst/>
            <a:cxnLst/>
            <a:rect l="l" t="t" r="r" b="b"/>
            <a:pathLst>
              <a:path w="1155700" h="518160">
                <a:moveTo>
                  <a:pt x="0" y="518160"/>
                </a:moveTo>
                <a:lnTo>
                  <a:pt x="1155191" y="518160"/>
                </a:lnTo>
                <a:lnTo>
                  <a:pt x="1155191"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0" name="object 40"/>
          <p:cNvSpPr txBox="1"/>
          <p:nvPr/>
        </p:nvSpPr>
        <p:spPr>
          <a:xfrm>
            <a:off x="4976905" y="2560823"/>
            <a:ext cx="1154882" cy="336550"/>
          </a:xfrm>
          <a:prstGeom prst="rect">
            <a:avLst/>
          </a:prstGeom>
          <a:ln w="9525">
            <a:solidFill>
              <a:srgbClr val="91AFFF"/>
            </a:solidFill>
          </a:ln>
        </p:spPr>
        <p:txBody>
          <a:bodyPr vert="horz" wrap="square" lIns="0" tIns="121833" rIns="0" bIns="0" rtlCol="0">
            <a:spAutoFit/>
          </a:bodyPr>
          <a:lstStyle/>
          <a:p>
            <a:pPr marL="72390">
              <a:lnSpc>
                <a:spcPct val="100000"/>
              </a:lnSpc>
              <a:spcBef>
                <a:spcPts val="960"/>
              </a:spcBef>
            </a:pPr>
            <a:r>
              <a:rPr sz="1400" dirty="0">
                <a:solidFill>
                  <a:srgbClr val="0066CC"/>
                </a:solidFill>
                <a:latin typeface="微软雅黑" panose="020B0503020204020204" charset="-122"/>
                <a:ea typeface="微软雅黑" panose="020B0503020204020204" charset="-122"/>
                <a:cs typeface="微软雅黑" panose="020B0503020204020204" charset="-122"/>
              </a:rPr>
              <a:t>行动计划</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1" name="object 41"/>
          <p:cNvSpPr/>
          <p:nvPr/>
        </p:nvSpPr>
        <p:spPr>
          <a:xfrm>
            <a:off x="6944518" y="1980591"/>
            <a:ext cx="1156151" cy="306488"/>
          </a:xfrm>
          <a:custGeom>
            <a:avLst/>
            <a:gdLst/>
            <a:ahLst/>
            <a:cxnLst/>
            <a:rect l="l" t="t" r="r" b="b"/>
            <a:pathLst>
              <a:path w="1156970" h="306705">
                <a:moveTo>
                  <a:pt x="0" y="306324"/>
                </a:moveTo>
                <a:lnTo>
                  <a:pt x="1156716" y="306324"/>
                </a:lnTo>
                <a:lnTo>
                  <a:pt x="1156716" y="0"/>
                </a:lnTo>
                <a:lnTo>
                  <a:pt x="0" y="0"/>
                </a:lnTo>
                <a:lnTo>
                  <a:pt x="0" y="30632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2" name="object 42"/>
          <p:cNvSpPr txBox="1"/>
          <p:nvPr/>
        </p:nvSpPr>
        <p:spPr>
          <a:xfrm>
            <a:off x="6944518" y="1980591"/>
            <a:ext cx="1156151" cy="230505"/>
          </a:xfrm>
          <a:prstGeom prst="rect">
            <a:avLst/>
          </a:prstGeom>
          <a:ln w="9525">
            <a:solidFill>
              <a:srgbClr val="91AFFF"/>
            </a:solidFill>
          </a:ln>
        </p:spPr>
        <p:txBody>
          <a:bodyPr vert="horz" wrap="square" lIns="0" tIns="15863" rIns="0" bIns="0" rtlCol="0">
            <a:spAutoFit/>
          </a:bodyPr>
          <a:lstStyle/>
          <a:p>
            <a:pPr marL="73660">
              <a:lnSpc>
                <a:spcPct val="100000"/>
              </a:lnSpc>
              <a:spcBef>
                <a:spcPts val="125"/>
              </a:spcBef>
            </a:pPr>
            <a:r>
              <a:rPr sz="1400" dirty="0">
                <a:solidFill>
                  <a:srgbClr val="0066CC"/>
                </a:solidFill>
                <a:latin typeface="微软雅黑" panose="020B0503020204020204" charset="-122"/>
                <a:ea typeface="微软雅黑" panose="020B0503020204020204" charset="-122"/>
                <a:cs typeface="微软雅黑" panose="020B0503020204020204" charset="-122"/>
              </a:rPr>
              <a:t>价值销售</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3" name="object 43"/>
          <p:cNvSpPr/>
          <p:nvPr/>
        </p:nvSpPr>
        <p:spPr>
          <a:xfrm>
            <a:off x="6944518" y="2375027"/>
            <a:ext cx="1156151" cy="306488"/>
          </a:xfrm>
          <a:custGeom>
            <a:avLst/>
            <a:gdLst/>
            <a:ahLst/>
            <a:cxnLst/>
            <a:rect l="l" t="t" r="r" b="b"/>
            <a:pathLst>
              <a:path w="1156970" h="306705">
                <a:moveTo>
                  <a:pt x="0" y="306324"/>
                </a:moveTo>
                <a:lnTo>
                  <a:pt x="1156716" y="306324"/>
                </a:lnTo>
                <a:lnTo>
                  <a:pt x="1156716" y="0"/>
                </a:lnTo>
                <a:lnTo>
                  <a:pt x="0" y="0"/>
                </a:lnTo>
                <a:lnTo>
                  <a:pt x="0" y="30632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4" name="object 44"/>
          <p:cNvSpPr txBox="1"/>
          <p:nvPr/>
        </p:nvSpPr>
        <p:spPr>
          <a:xfrm>
            <a:off x="6944518" y="2375027"/>
            <a:ext cx="1156151" cy="231775"/>
          </a:xfrm>
          <a:prstGeom prst="rect">
            <a:avLst/>
          </a:prstGeom>
          <a:ln w="9525">
            <a:solidFill>
              <a:srgbClr val="91AFFF"/>
            </a:solidFill>
          </a:ln>
        </p:spPr>
        <p:txBody>
          <a:bodyPr vert="horz" wrap="square" lIns="0" tIns="17132" rIns="0" bIns="0" rtlCol="0">
            <a:spAutoFit/>
          </a:bodyPr>
          <a:lstStyle/>
          <a:p>
            <a:pPr marL="73660">
              <a:lnSpc>
                <a:spcPct val="100000"/>
              </a:lnSpc>
              <a:spcBef>
                <a:spcPts val="135"/>
              </a:spcBef>
            </a:pPr>
            <a:r>
              <a:rPr sz="1400" dirty="0">
                <a:solidFill>
                  <a:srgbClr val="0066CC"/>
                </a:solidFill>
                <a:latin typeface="微软雅黑" panose="020B0503020204020204" charset="-122"/>
                <a:ea typeface="微软雅黑" panose="020B0503020204020204" charset="-122"/>
                <a:cs typeface="微软雅黑" panose="020B0503020204020204" charset="-122"/>
              </a:rPr>
              <a:t>谈判</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5" name="object 45"/>
          <p:cNvSpPr/>
          <p:nvPr/>
        </p:nvSpPr>
        <p:spPr>
          <a:xfrm>
            <a:off x="6944518" y="2772509"/>
            <a:ext cx="1156151" cy="306488"/>
          </a:xfrm>
          <a:custGeom>
            <a:avLst/>
            <a:gdLst/>
            <a:ahLst/>
            <a:cxnLst/>
            <a:rect l="l" t="t" r="r" b="b"/>
            <a:pathLst>
              <a:path w="1156970" h="306705">
                <a:moveTo>
                  <a:pt x="0" y="306324"/>
                </a:moveTo>
                <a:lnTo>
                  <a:pt x="1156716" y="306324"/>
                </a:lnTo>
                <a:lnTo>
                  <a:pt x="1156716" y="0"/>
                </a:lnTo>
                <a:lnTo>
                  <a:pt x="0" y="0"/>
                </a:lnTo>
                <a:lnTo>
                  <a:pt x="0" y="306324"/>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6" name="object 46"/>
          <p:cNvSpPr txBox="1"/>
          <p:nvPr/>
        </p:nvSpPr>
        <p:spPr>
          <a:xfrm>
            <a:off x="6944518" y="2772509"/>
            <a:ext cx="1156151" cy="230505"/>
          </a:xfrm>
          <a:prstGeom prst="rect">
            <a:avLst/>
          </a:prstGeom>
          <a:ln w="9525">
            <a:solidFill>
              <a:srgbClr val="91AFFF"/>
            </a:solidFill>
          </a:ln>
        </p:spPr>
        <p:txBody>
          <a:bodyPr vert="horz" wrap="square" lIns="0" tIns="15863" rIns="0" bIns="0" rtlCol="0">
            <a:spAutoFit/>
          </a:bodyPr>
          <a:lstStyle/>
          <a:p>
            <a:pPr marL="73660">
              <a:lnSpc>
                <a:spcPct val="100000"/>
              </a:lnSpc>
              <a:spcBef>
                <a:spcPts val="125"/>
              </a:spcBef>
            </a:pPr>
            <a:r>
              <a:rPr sz="1400" dirty="0">
                <a:solidFill>
                  <a:srgbClr val="0066CC"/>
                </a:solidFill>
                <a:latin typeface="微软雅黑" panose="020B0503020204020204" charset="-122"/>
                <a:ea typeface="微软雅黑" panose="020B0503020204020204" charset="-122"/>
                <a:cs typeface="微软雅黑" panose="020B0503020204020204" charset="-122"/>
              </a:rPr>
              <a:t>绩效管理</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7" name="object 47"/>
          <p:cNvSpPr/>
          <p:nvPr/>
        </p:nvSpPr>
        <p:spPr>
          <a:xfrm>
            <a:off x="632011" y="1980591"/>
            <a:ext cx="1488020" cy="517792"/>
          </a:xfrm>
          <a:custGeom>
            <a:avLst/>
            <a:gdLst/>
            <a:ahLst/>
            <a:cxnLst/>
            <a:rect l="l" t="t" r="r" b="b"/>
            <a:pathLst>
              <a:path w="1489075" h="518160">
                <a:moveTo>
                  <a:pt x="0" y="518160"/>
                </a:moveTo>
                <a:lnTo>
                  <a:pt x="1488948" y="518160"/>
                </a:lnTo>
                <a:lnTo>
                  <a:pt x="1488948" y="0"/>
                </a:lnTo>
                <a:lnTo>
                  <a:pt x="0" y="0"/>
                </a:lnTo>
                <a:lnTo>
                  <a:pt x="0" y="51816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8" name="object 48"/>
          <p:cNvSpPr txBox="1"/>
          <p:nvPr/>
        </p:nvSpPr>
        <p:spPr>
          <a:xfrm>
            <a:off x="632011" y="1980591"/>
            <a:ext cx="1488020" cy="464185"/>
          </a:xfrm>
          <a:prstGeom prst="rect">
            <a:avLst/>
          </a:prstGeom>
          <a:ln w="9525">
            <a:solidFill>
              <a:srgbClr val="91AFFF"/>
            </a:solidFill>
          </a:ln>
        </p:spPr>
        <p:txBody>
          <a:bodyPr vert="horz" wrap="square" lIns="0" tIns="34265" rIns="0" bIns="0" rtlCol="0">
            <a:spAutoFit/>
          </a:bodyPr>
          <a:lstStyle/>
          <a:p>
            <a:pPr marL="71120" marR="518795">
              <a:lnSpc>
                <a:spcPct val="100000"/>
              </a:lnSpc>
              <a:spcBef>
                <a:spcPts val="270"/>
              </a:spcBef>
            </a:pPr>
            <a:r>
              <a:rPr sz="1400" dirty="0">
                <a:solidFill>
                  <a:srgbClr val="0066CC"/>
                </a:solidFill>
                <a:latin typeface="微软雅黑" panose="020B0503020204020204" charset="-122"/>
                <a:ea typeface="微软雅黑" panose="020B0503020204020204" charset="-122"/>
                <a:cs typeface="微软雅黑" panose="020B0503020204020204" charset="-122"/>
              </a:rPr>
              <a:t>识别并审核 大客户</a:t>
            </a:r>
            <a:endParaRPr sz="1400" dirty="0">
              <a:solidFill>
                <a:srgbClr val="0066CC"/>
              </a:solidFill>
              <a:latin typeface="微软雅黑" panose="020B0503020204020204" charset="-122"/>
              <a:ea typeface="微软雅黑" panose="020B0503020204020204" charset="-122"/>
              <a:cs typeface="微软雅黑" panose="020B0503020204020204" charset="-122"/>
            </a:endParaRPr>
          </a:p>
        </p:txBody>
      </p:sp>
      <p:sp>
        <p:nvSpPr>
          <p:cNvPr id="49" name="object 49"/>
          <p:cNvSpPr txBox="1"/>
          <p:nvPr/>
        </p:nvSpPr>
        <p:spPr>
          <a:xfrm>
            <a:off x="106401" y="6412696"/>
            <a:ext cx="2191102"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35"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a:t>
            </a:r>
            <a:r>
              <a:rPr sz="1000" spc="-35"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营销和销售业务部</a:t>
            </a:r>
            <a:endParaRPr sz="10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8228" y="200043"/>
            <a:ext cx="7018126" cy="598170"/>
          </a:xfrm>
          <a:prstGeom prst="rect">
            <a:avLst/>
          </a:prstGeom>
        </p:spPr>
        <p:txBody>
          <a:bodyPr vert="horz" wrap="square" lIns="0" tIns="8883" rIns="0" bIns="0" rtlCol="0">
            <a:spAutoFit/>
          </a:bodyPr>
          <a:lstStyle/>
          <a:p>
            <a:pPr marL="12700" marR="5080">
              <a:lnSpc>
                <a:spcPct val="101000"/>
              </a:lnSpc>
              <a:spcBef>
                <a:spcPts val="70"/>
              </a:spcBef>
            </a:pPr>
            <a:r>
              <a:rPr spc="-5" dirty="0">
                <a:ea typeface="微软雅黑" panose="020B0503020204020204" charset="-122"/>
              </a:rPr>
              <a:t>企业往往需</a:t>
            </a:r>
            <a:r>
              <a:rPr spc="-10" dirty="0">
                <a:ea typeface="微软雅黑" panose="020B0503020204020204" charset="-122"/>
              </a:rPr>
              <a:t>要组</a:t>
            </a:r>
            <a:r>
              <a:rPr spc="-5" dirty="0">
                <a:ea typeface="微软雅黑" panose="020B0503020204020204" charset="-122"/>
              </a:rPr>
              <a:t>建</a:t>
            </a:r>
            <a:r>
              <a:rPr spc="-10" dirty="0">
                <a:ea typeface="微软雅黑" panose="020B0503020204020204" charset="-122"/>
              </a:rPr>
              <a:t>一个</a:t>
            </a:r>
            <a:r>
              <a:rPr spc="-5" dirty="0">
                <a:ea typeface="微软雅黑" panose="020B0503020204020204" charset="-122"/>
              </a:rPr>
              <a:t>虚</a:t>
            </a:r>
            <a:r>
              <a:rPr spc="-10" dirty="0">
                <a:ea typeface="微软雅黑" panose="020B0503020204020204" charset="-122"/>
              </a:rPr>
              <a:t>拟的</a:t>
            </a:r>
            <a:r>
              <a:rPr spc="-5" dirty="0">
                <a:ea typeface="微软雅黑" panose="020B0503020204020204" charset="-122"/>
              </a:rPr>
              <a:t>或</a:t>
            </a:r>
            <a:r>
              <a:rPr spc="-10" dirty="0">
                <a:ea typeface="微软雅黑" panose="020B0503020204020204" charset="-122"/>
              </a:rPr>
              <a:t>真实</a:t>
            </a:r>
            <a:r>
              <a:rPr spc="-5" dirty="0">
                <a:ea typeface="微软雅黑" panose="020B0503020204020204" charset="-122"/>
              </a:rPr>
              <a:t>的</a:t>
            </a:r>
            <a:r>
              <a:rPr spc="-10" dirty="0">
                <a:ea typeface="微软雅黑" panose="020B0503020204020204" charset="-122"/>
              </a:rPr>
              <a:t>跨职</a:t>
            </a:r>
            <a:r>
              <a:rPr spc="-5" dirty="0">
                <a:ea typeface="微软雅黑" panose="020B0503020204020204" charset="-122"/>
              </a:rPr>
              <a:t>能</a:t>
            </a:r>
            <a:r>
              <a:rPr spc="-10" dirty="0">
                <a:ea typeface="微软雅黑" panose="020B0503020204020204" charset="-122"/>
              </a:rPr>
              <a:t>团队</a:t>
            </a:r>
            <a:r>
              <a:rPr spc="-5" dirty="0">
                <a:ea typeface="微软雅黑" panose="020B0503020204020204" charset="-122"/>
              </a:rPr>
              <a:t>来</a:t>
            </a:r>
            <a:r>
              <a:rPr spc="-10" dirty="0">
                <a:ea typeface="微软雅黑" panose="020B0503020204020204" charset="-122"/>
              </a:rPr>
              <a:t>服务</a:t>
            </a:r>
            <a:r>
              <a:rPr spc="-5" dirty="0">
                <a:ea typeface="微软雅黑" panose="020B0503020204020204" charset="-122"/>
              </a:rPr>
              <a:t>大</a:t>
            </a:r>
            <a:r>
              <a:rPr spc="-10" dirty="0">
                <a:ea typeface="微软雅黑" panose="020B0503020204020204" charset="-122"/>
              </a:rPr>
              <a:t>客户，  </a:t>
            </a:r>
            <a:r>
              <a:rPr spc="-5" dirty="0">
                <a:ea typeface="微软雅黑" panose="020B0503020204020204" charset="-122"/>
              </a:rPr>
              <a:t>真正实现以</a:t>
            </a:r>
            <a:r>
              <a:rPr spc="-10" dirty="0">
                <a:ea typeface="微软雅黑" panose="020B0503020204020204" charset="-122"/>
              </a:rPr>
              <a:t>市场</a:t>
            </a:r>
            <a:r>
              <a:rPr spc="-5" dirty="0">
                <a:ea typeface="微软雅黑" panose="020B0503020204020204" charset="-122"/>
              </a:rPr>
              <a:t>为</a:t>
            </a:r>
            <a:r>
              <a:rPr spc="-10" dirty="0">
                <a:ea typeface="微软雅黑" panose="020B0503020204020204" charset="-122"/>
              </a:rPr>
              <a:t>导向</a:t>
            </a:r>
            <a:r>
              <a:rPr spc="-5" dirty="0">
                <a:ea typeface="微软雅黑" panose="020B0503020204020204" charset="-122"/>
              </a:rPr>
              <a:t>的</a:t>
            </a:r>
            <a:r>
              <a:rPr spc="-10" dirty="0">
                <a:ea typeface="微软雅黑" panose="020B0503020204020204" charset="-122"/>
              </a:rPr>
              <a:t>大客</a:t>
            </a:r>
            <a:r>
              <a:rPr spc="-5" dirty="0">
                <a:ea typeface="微软雅黑" panose="020B0503020204020204" charset="-122"/>
              </a:rPr>
              <a:t>户</a:t>
            </a:r>
            <a:r>
              <a:rPr spc="-10" dirty="0">
                <a:ea typeface="微软雅黑" panose="020B0503020204020204" charset="-122"/>
              </a:rPr>
              <a:t>营销</a:t>
            </a:r>
            <a:endParaRPr spc="-10" dirty="0">
              <a:ea typeface="微软雅黑" panose="020B0503020204020204" charset="-122"/>
            </a:endParaRPr>
          </a:p>
        </p:txBody>
      </p:sp>
      <p:sp>
        <p:nvSpPr>
          <p:cNvPr id="4" name="object 4"/>
          <p:cNvSpPr/>
          <p:nvPr/>
        </p:nvSpPr>
        <p:spPr>
          <a:xfrm>
            <a:off x="2685670" y="2127552"/>
            <a:ext cx="3565538" cy="3137217"/>
          </a:xfrm>
          <a:custGeom>
            <a:avLst/>
            <a:gdLst/>
            <a:ahLst/>
            <a:cxnLst/>
            <a:rect l="l" t="t" r="r" b="b"/>
            <a:pathLst>
              <a:path w="3568065" h="3139440">
                <a:moveTo>
                  <a:pt x="0" y="3139440"/>
                </a:moveTo>
                <a:lnTo>
                  <a:pt x="3567684" y="3139440"/>
                </a:lnTo>
                <a:lnTo>
                  <a:pt x="3567684" y="0"/>
                </a:lnTo>
                <a:lnTo>
                  <a:pt x="0" y="0"/>
                </a:lnTo>
                <a:lnTo>
                  <a:pt x="0" y="3139440"/>
                </a:lnTo>
                <a:close/>
              </a:path>
            </a:pathLst>
          </a:custGeom>
          <a:ln w="2857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p:nvPr/>
        </p:nvSpPr>
        <p:spPr>
          <a:xfrm>
            <a:off x="2840247" y="2815151"/>
            <a:ext cx="1206280" cy="860450"/>
          </a:xfrm>
          <a:custGeom>
            <a:avLst/>
            <a:gdLst/>
            <a:ahLst/>
            <a:cxnLst/>
            <a:rect l="l" t="t" r="r" b="b"/>
            <a:pathLst>
              <a:path w="1207135" h="861060">
                <a:moveTo>
                  <a:pt x="913511" y="0"/>
                </a:moveTo>
                <a:lnTo>
                  <a:pt x="316229" y="0"/>
                </a:lnTo>
                <a:lnTo>
                  <a:pt x="0" y="435737"/>
                </a:lnTo>
                <a:lnTo>
                  <a:pt x="316229" y="861060"/>
                </a:lnTo>
                <a:lnTo>
                  <a:pt x="913511" y="861060"/>
                </a:lnTo>
                <a:lnTo>
                  <a:pt x="1207135" y="435737"/>
                </a:lnTo>
                <a:lnTo>
                  <a:pt x="913511" y="0"/>
                </a:lnTo>
                <a:close/>
              </a:path>
            </a:pathLst>
          </a:custGeom>
          <a:solidFill>
            <a:srgbClr val="DDDDDD"/>
          </a:solidFill>
        </p:spPr>
        <p:txBody>
          <a:bodyPr wrap="square" lIns="0" tIns="0" rIns="0" bIns="0" rtlCol="0"/>
          <a:lstStyle/>
          <a:p>
            <a:endParaRPr>
              <a:latin typeface="微软雅黑" panose="020B0503020204020204" charset="-122"/>
              <a:ea typeface="微软雅黑" panose="020B0503020204020204" charset="-122"/>
            </a:endParaRPr>
          </a:p>
        </p:txBody>
      </p:sp>
      <p:sp>
        <p:nvSpPr>
          <p:cNvPr id="6" name="object 6"/>
          <p:cNvSpPr/>
          <p:nvPr/>
        </p:nvSpPr>
        <p:spPr>
          <a:xfrm>
            <a:off x="2840247" y="2815151"/>
            <a:ext cx="1206280" cy="860450"/>
          </a:xfrm>
          <a:custGeom>
            <a:avLst/>
            <a:gdLst/>
            <a:ahLst/>
            <a:cxnLst/>
            <a:rect l="l" t="t" r="r" b="b"/>
            <a:pathLst>
              <a:path w="1207135" h="861060">
                <a:moveTo>
                  <a:pt x="316229" y="0"/>
                </a:moveTo>
                <a:lnTo>
                  <a:pt x="913511" y="0"/>
                </a:lnTo>
                <a:lnTo>
                  <a:pt x="1207135" y="435737"/>
                </a:lnTo>
                <a:lnTo>
                  <a:pt x="913511" y="861060"/>
                </a:lnTo>
                <a:lnTo>
                  <a:pt x="316229" y="861060"/>
                </a:lnTo>
                <a:lnTo>
                  <a:pt x="0" y="435737"/>
                </a:lnTo>
                <a:lnTo>
                  <a:pt x="316229" y="0"/>
                </a:lnTo>
              </a:path>
            </a:pathLst>
          </a:custGeom>
          <a:ln w="952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7" name="object 7"/>
          <p:cNvSpPr/>
          <p:nvPr/>
        </p:nvSpPr>
        <p:spPr>
          <a:xfrm>
            <a:off x="3843852" y="2320202"/>
            <a:ext cx="1211356" cy="860450"/>
          </a:xfrm>
          <a:custGeom>
            <a:avLst/>
            <a:gdLst/>
            <a:ahLst/>
            <a:cxnLst/>
            <a:rect l="l" t="t" r="r" b="b"/>
            <a:pathLst>
              <a:path w="1212214" h="861060">
                <a:moveTo>
                  <a:pt x="917321" y="0"/>
                </a:moveTo>
                <a:lnTo>
                  <a:pt x="317119" y="0"/>
                </a:lnTo>
                <a:lnTo>
                  <a:pt x="0" y="437261"/>
                </a:lnTo>
                <a:lnTo>
                  <a:pt x="317119" y="861060"/>
                </a:lnTo>
                <a:lnTo>
                  <a:pt x="917321" y="861060"/>
                </a:lnTo>
                <a:lnTo>
                  <a:pt x="1211707" y="437261"/>
                </a:lnTo>
                <a:lnTo>
                  <a:pt x="917321"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8" name="object 8"/>
          <p:cNvSpPr/>
          <p:nvPr/>
        </p:nvSpPr>
        <p:spPr>
          <a:xfrm>
            <a:off x="3843852" y="2320202"/>
            <a:ext cx="1211356" cy="860450"/>
          </a:xfrm>
          <a:custGeom>
            <a:avLst/>
            <a:gdLst/>
            <a:ahLst/>
            <a:cxnLst/>
            <a:rect l="l" t="t" r="r" b="b"/>
            <a:pathLst>
              <a:path w="1212214" h="861060">
                <a:moveTo>
                  <a:pt x="317119" y="0"/>
                </a:moveTo>
                <a:lnTo>
                  <a:pt x="917321" y="0"/>
                </a:lnTo>
                <a:lnTo>
                  <a:pt x="1211707" y="437261"/>
                </a:lnTo>
                <a:lnTo>
                  <a:pt x="917321" y="861060"/>
                </a:lnTo>
                <a:lnTo>
                  <a:pt x="317119" y="861060"/>
                </a:lnTo>
                <a:lnTo>
                  <a:pt x="0" y="437261"/>
                </a:lnTo>
                <a:lnTo>
                  <a:pt x="317119" y="0"/>
                </a:lnTo>
              </a:path>
            </a:pathLst>
          </a:custGeom>
          <a:ln w="952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9" name="object 9"/>
          <p:cNvSpPr/>
          <p:nvPr/>
        </p:nvSpPr>
        <p:spPr>
          <a:xfrm>
            <a:off x="4850502" y="2815151"/>
            <a:ext cx="1208184" cy="860450"/>
          </a:xfrm>
          <a:custGeom>
            <a:avLst/>
            <a:gdLst/>
            <a:ahLst/>
            <a:cxnLst/>
            <a:rect l="l" t="t" r="r" b="b"/>
            <a:pathLst>
              <a:path w="1209039" h="861060">
                <a:moveTo>
                  <a:pt x="914654" y="0"/>
                </a:moveTo>
                <a:lnTo>
                  <a:pt x="316611" y="0"/>
                </a:lnTo>
                <a:lnTo>
                  <a:pt x="0" y="435737"/>
                </a:lnTo>
                <a:lnTo>
                  <a:pt x="316611" y="861060"/>
                </a:lnTo>
                <a:lnTo>
                  <a:pt x="914654" y="861060"/>
                </a:lnTo>
                <a:lnTo>
                  <a:pt x="1208659" y="435737"/>
                </a:lnTo>
                <a:lnTo>
                  <a:pt x="914654"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0" name="object 10"/>
          <p:cNvSpPr/>
          <p:nvPr/>
        </p:nvSpPr>
        <p:spPr>
          <a:xfrm>
            <a:off x="4850502" y="2815151"/>
            <a:ext cx="1208184" cy="860450"/>
          </a:xfrm>
          <a:custGeom>
            <a:avLst/>
            <a:gdLst/>
            <a:ahLst/>
            <a:cxnLst/>
            <a:rect l="l" t="t" r="r" b="b"/>
            <a:pathLst>
              <a:path w="1209039" h="861060">
                <a:moveTo>
                  <a:pt x="316611" y="0"/>
                </a:moveTo>
                <a:lnTo>
                  <a:pt x="914654" y="0"/>
                </a:lnTo>
                <a:lnTo>
                  <a:pt x="1208659" y="435737"/>
                </a:lnTo>
                <a:lnTo>
                  <a:pt x="914654" y="861060"/>
                </a:lnTo>
                <a:lnTo>
                  <a:pt x="316611" y="861060"/>
                </a:lnTo>
                <a:lnTo>
                  <a:pt x="0" y="435737"/>
                </a:lnTo>
                <a:lnTo>
                  <a:pt x="316611" y="0"/>
                </a:lnTo>
              </a:path>
            </a:pathLst>
          </a:custGeom>
          <a:ln w="952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1" name="object 11"/>
          <p:cNvSpPr/>
          <p:nvPr/>
        </p:nvSpPr>
        <p:spPr>
          <a:xfrm>
            <a:off x="2840247" y="3805050"/>
            <a:ext cx="1206280" cy="848393"/>
          </a:xfrm>
          <a:custGeom>
            <a:avLst/>
            <a:gdLst/>
            <a:ahLst/>
            <a:cxnLst/>
            <a:rect l="l" t="t" r="r" b="b"/>
            <a:pathLst>
              <a:path w="1207135" h="848995">
                <a:moveTo>
                  <a:pt x="913511" y="0"/>
                </a:moveTo>
                <a:lnTo>
                  <a:pt x="316229" y="0"/>
                </a:lnTo>
                <a:lnTo>
                  <a:pt x="0" y="425195"/>
                </a:lnTo>
                <a:lnTo>
                  <a:pt x="316229" y="848868"/>
                </a:lnTo>
                <a:lnTo>
                  <a:pt x="913511" y="848868"/>
                </a:lnTo>
                <a:lnTo>
                  <a:pt x="1207135" y="425195"/>
                </a:lnTo>
                <a:lnTo>
                  <a:pt x="913511" y="0"/>
                </a:lnTo>
                <a:close/>
              </a:path>
            </a:pathLst>
          </a:custGeom>
          <a:solidFill>
            <a:srgbClr val="DDDDDD"/>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2" name="object 12"/>
          <p:cNvSpPr/>
          <p:nvPr/>
        </p:nvSpPr>
        <p:spPr>
          <a:xfrm>
            <a:off x="2840247" y="3805050"/>
            <a:ext cx="1206280" cy="848393"/>
          </a:xfrm>
          <a:custGeom>
            <a:avLst/>
            <a:gdLst/>
            <a:ahLst/>
            <a:cxnLst/>
            <a:rect l="l" t="t" r="r" b="b"/>
            <a:pathLst>
              <a:path w="1207135" h="848995">
                <a:moveTo>
                  <a:pt x="316229" y="0"/>
                </a:moveTo>
                <a:lnTo>
                  <a:pt x="913511" y="0"/>
                </a:lnTo>
                <a:lnTo>
                  <a:pt x="1207135" y="425195"/>
                </a:lnTo>
                <a:lnTo>
                  <a:pt x="913511" y="848868"/>
                </a:lnTo>
                <a:lnTo>
                  <a:pt x="316229" y="848868"/>
                </a:lnTo>
                <a:lnTo>
                  <a:pt x="0" y="425195"/>
                </a:lnTo>
                <a:lnTo>
                  <a:pt x="316229" y="0"/>
                </a:lnTo>
              </a:path>
            </a:pathLst>
          </a:custGeom>
          <a:ln w="952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3" name="object 13"/>
          <p:cNvSpPr/>
          <p:nvPr/>
        </p:nvSpPr>
        <p:spPr>
          <a:xfrm>
            <a:off x="3843852" y="3310100"/>
            <a:ext cx="1211356" cy="862354"/>
          </a:xfrm>
          <a:custGeom>
            <a:avLst/>
            <a:gdLst/>
            <a:ahLst/>
            <a:cxnLst/>
            <a:rect l="l" t="t" r="r" b="b"/>
            <a:pathLst>
              <a:path w="1212214" h="862964">
                <a:moveTo>
                  <a:pt x="917321" y="0"/>
                </a:moveTo>
                <a:lnTo>
                  <a:pt x="317119" y="0"/>
                </a:lnTo>
                <a:lnTo>
                  <a:pt x="0" y="425450"/>
                </a:lnTo>
                <a:lnTo>
                  <a:pt x="317119" y="862583"/>
                </a:lnTo>
                <a:lnTo>
                  <a:pt x="917321" y="862583"/>
                </a:lnTo>
                <a:lnTo>
                  <a:pt x="1211707" y="425450"/>
                </a:lnTo>
                <a:lnTo>
                  <a:pt x="917321"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14" name="object 14"/>
          <p:cNvSpPr/>
          <p:nvPr/>
        </p:nvSpPr>
        <p:spPr>
          <a:xfrm>
            <a:off x="3843852" y="3310100"/>
            <a:ext cx="1211356" cy="862354"/>
          </a:xfrm>
          <a:custGeom>
            <a:avLst/>
            <a:gdLst/>
            <a:ahLst/>
            <a:cxnLst/>
            <a:rect l="l" t="t" r="r" b="b"/>
            <a:pathLst>
              <a:path w="1212214" h="862964">
                <a:moveTo>
                  <a:pt x="317119" y="0"/>
                </a:moveTo>
                <a:lnTo>
                  <a:pt x="917321" y="0"/>
                </a:lnTo>
                <a:lnTo>
                  <a:pt x="1211707" y="425450"/>
                </a:lnTo>
                <a:lnTo>
                  <a:pt x="917321" y="862583"/>
                </a:lnTo>
                <a:lnTo>
                  <a:pt x="317119" y="862583"/>
                </a:lnTo>
                <a:lnTo>
                  <a:pt x="0" y="425450"/>
                </a:lnTo>
                <a:lnTo>
                  <a:pt x="317119" y="0"/>
                </a:lnTo>
              </a:path>
            </a:pathLst>
          </a:custGeom>
          <a:ln w="952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15" name="object 15"/>
          <p:cNvSpPr txBox="1"/>
          <p:nvPr/>
        </p:nvSpPr>
        <p:spPr>
          <a:xfrm>
            <a:off x="4078127" y="2605115"/>
            <a:ext cx="741155" cy="227965"/>
          </a:xfrm>
          <a:prstGeom prst="rect">
            <a:avLst/>
          </a:prstGeom>
        </p:spPr>
        <p:txBody>
          <a:bodyPr vert="horz" wrap="square" lIns="0" tIns="13325" rIns="0" bIns="0" rtlCol="0">
            <a:spAutoFit/>
          </a:bodyPr>
          <a:lstStyle/>
          <a:p>
            <a:pPr marL="12700">
              <a:lnSpc>
                <a:spcPct val="100000"/>
              </a:lnSpc>
              <a:spcBef>
                <a:spcPts val="105"/>
              </a:spcBef>
            </a:pPr>
            <a:r>
              <a:rPr sz="1400" b="1" spc="10" dirty="0">
                <a:latin typeface="微软雅黑" panose="020B0503020204020204" charset="-122"/>
                <a:ea typeface="微软雅黑" panose="020B0503020204020204" charset="-122"/>
                <a:cs typeface="微软雅黑" panose="020B0503020204020204" charset="-122"/>
              </a:rPr>
              <a:t>产品</a:t>
            </a:r>
            <a:r>
              <a:rPr sz="1400" b="1" dirty="0">
                <a:latin typeface="微软雅黑" panose="020B0503020204020204" charset="-122"/>
                <a:ea typeface="微软雅黑" panose="020B0503020204020204" charset="-122"/>
                <a:cs typeface="微软雅黑" panose="020B0503020204020204" charset="-122"/>
              </a:rPr>
              <a:t>经理</a:t>
            </a:r>
            <a:endParaRPr sz="1400">
              <a:latin typeface="微软雅黑" panose="020B0503020204020204" charset="-122"/>
              <a:ea typeface="微软雅黑" panose="020B0503020204020204" charset="-122"/>
              <a:cs typeface="微软雅黑" panose="020B0503020204020204" charset="-122"/>
            </a:endParaRPr>
          </a:p>
        </p:txBody>
      </p:sp>
      <p:sp>
        <p:nvSpPr>
          <p:cNvPr id="16" name="object 16"/>
          <p:cNvSpPr txBox="1"/>
          <p:nvPr/>
        </p:nvSpPr>
        <p:spPr>
          <a:xfrm>
            <a:off x="3050790" y="2920613"/>
            <a:ext cx="791284" cy="594995"/>
          </a:xfrm>
          <a:prstGeom prst="rect">
            <a:avLst/>
          </a:prstGeom>
        </p:spPr>
        <p:txBody>
          <a:bodyPr vert="horz" wrap="square" lIns="0" tIns="45687" rIns="0" bIns="0" rtlCol="0">
            <a:spAutoFit/>
          </a:bodyPr>
          <a:lstStyle/>
          <a:p>
            <a:pPr marL="12065" marR="5080" algn="ctr">
              <a:lnSpc>
                <a:spcPts val="1430"/>
              </a:lnSpc>
              <a:spcBef>
                <a:spcPts val="360"/>
              </a:spcBef>
            </a:pPr>
            <a:r>
              <a:rPr sz="1400" b="1" spc="10" dirty="0">
                <a:latin typeface="微软雅黑" panose="020B0503020204020204" charset="-122"/>
                <a:ea typeface="微软雅黑" panose="020B0503020204020204" charset="-122"/>
                <a:cs typeface="微软雅黑" panose="020B0503020204020204" charset="-122"/>
              </a:rPr>
              <a:t>业务</a:t>
            </a:r>
            <a:r>
              <a:rPr sz="1400" b="1" dirty="0">
                <a:latin typeface="微软雅黑" panose="020B0503020204020204" charset="-122"/>
                <a:ea typeface="微软雅黑" panose="020B0503020204020204" charset="-122"/>
                <a:cs typeface="微软雅黑" panose="020B0503020204020204" charset="-122"/>
              </a:rPr>
              <a:t>单元/ </a:t>
            </a:r>
            <a:r>
              <a:rPr sz="1400" b="1" spc="10" dirty="0">
                <a:latin typeface="微软雅黑" panose="020B0503020204020204" charset="-122"/>
                <a:ea typeface="微软雅黑" panose="020B0503020204020204" charset="-122"/>
                <a:cs typeface="微软雅黑" panose="020B0503020204020204" charset="-122"/>
              </a:rPr>
              <a:t>生产</a:t>
            </a:r>
            <a:r>
              <a:rPr sz="1400" b="1" dirty="0">
                <a:latin typeface="微软雅黑" panose="020B0503020204020204" charset="-122"/>
                <a:ea typeface="微软雅黑" panose="020B0503020204020204" charset="-122"/>
                <a:cs typeface="微软雅黑" panose="020B0503020204020204" charset="-122"/>
              </a:rPr>
              <a:t>线</a:t>
            </a:r>
            <a:r>
              <a:rPr sz="1400" b="1" spc="-90" dirty="0">
                <a:latin typeface="微软雅黑" panose="020B0503020204020204" charset="-122"/>
                <a:ea typeface="微软雅黑" panose="020B0503020204020204" charset="-122"/>
                <a:cs typeface="微软雅黑" panose="020B0503020204020204" charset="-122"/>
              </a:rPr>
              <a:t> </a:t>
            </a:r>
            <a:r>
              <a:rPr sz="1400" b="1" dirty="0">
                <a:latin typeface="微软雅黑" panose="020B0503020204020204" charset="-122"/>
                <a:ea typeface="微软雅黑" panose="020B0503020204020204" charset="-122"/>
                <a:cs typeface="微软雅黑" panose="020B0503020204020204" charset="-122"/>
              </a:rPr>
              <a:t>管 </a:t>
            </a:r>
            <a:r>
              <a:rPr sz="1400" b="1" spc="10" dirty="0">
                <a:latin typeface="微软雅黑" panose="020B0503020204020204" charset="-122"/>
                <a:ea typeface="微软雅黑" panose="020B0503020204020204" charset="-122"/>
                <a:cs typeface="微软雅黑" panose="020B0503020204020204" charset="-122"/>
              </a:rPr>
              <a:t>理层</a:t>
            </a:r>
            <a:endParaRPr sz="1400">
              <a:latin typeface="微软雅黑" panose="020B0503020204020204" charset="-122"/>
              <a:ea typeface="微软雅黑" panose="020B0503020204020204" charset="-122"/>
              <a:cs typeface="微软雅黑" panose="020B0503020204020204" charset="-122"/>
            </a:endParaRPr>
          </a:p>
        </p:txBody>
      </p:sp>
      <p:sp>
        <p:nvSpPr>
          <p:cNvPr id="17" name="object 17"/>
          <p:cNvSpPr txBox="1"/>
          <p:nvPr/>
        </p:nvSpPr>
        <p:spPr>
          <a:xfrm>
            <a:off x="5084778" y="3011100"/>
            <a:ext cx="741155" cy="411480"/>
          </a:xfrm>
          <a:prstGeom prst="rect">
            <a:avLst/>
          </a:prstGeom>
        </p:spPr>
        <p:txBody>
          <a:bodyPr vert="horz" wrap="square" lIns="0" tIns="13325" rIns="0" bIns="0" rtlCol="0">
            <a:spAutoFit/>
          </a:bodyPr>
          <a:lstStyle/>
          <a:p>
            <a:pPr algn="ctr">
              <a:lnSpc>
                <a:spcPts val="1555"/>
              </a:lnSpc>
              <a:spcBef>
                <a:spcPts val="105"/>
              </a:spcBef>
            </a:pPr>
            <a:r>
              <a:rPr sz="1400" b="1" spc="10" dirty="0">
                <a:latin typeface="微软雅黑" panose="020B0503020204020204" charset="-122"/>
                <a:ea typeface="微软雅黑" panose="020B0503020204020204" charset="-122"/>
                <a:cs typeface="微软雅黑" panose="020B0503020204020204" charset="-122"/>
              </a:rPr>
              <a:t>本地</a:t>
            </a:r>
            <a:r>
              <a:rPr sz="1400" b="1" dirty="0">
                <a:latin typeface="微软雅黑" panose="020B0503020204020204" charset="-122"/>
                <a:ea typeface="微软雅黑" panose="020B0503020204020204" charset="-122"/>
                <a:cs typeface="微软雅黑" panose="020B0503020204020204" charset="-122"/>
              </a:rPr>
              <a:t>客户</a:t>
            </a:r>
            <a:endParaRPr sz="1400">
              <a:latin typeface="微软雅黑" panose="020B0503020204020204" charset="-122"/>
              <a:ea typeface="微软雅黑" panose="020B0503020204020204" charset="-122"/>
              <a:cs typeface="微软雅黑" panose="020B0503020204020204" charset="-122"/>
            </a:endParaRPr>
          </a:p>
          <a:p>
            <a:pPr algn="ctr">
              <a:lnSpc>
                <a:spcPts val="1555"/>
              </a:lnSpc>
            </a:pPr>
            <a:r>
              <a:rPr sz="1400" b="1" spc="10" dirty="0">
                <a:latin typeface="微软雅黑" panose="020B0503020204020204" charset="-122"/>
                <a:ea typeface="微软雅黑" panose="020B0503020204020204" charset="-122"/>
                <a:cs typeface="微软雅黑" panose="020B0503020204020204" charset="-122"/>
              </a:rPr>
              <a:t>经理</a:t>
            </a:r>
            <a:endParaRPr sz="1400">
              <a:latin typeface="微软雅黑" panose="020B0503020204020204" charset="-122"/>
              <a:ea typeface="微软雅黑" panose="020B0503020204020204" charset="-122"/>
              <a:cs typeface="微软雅黑" panose="020B0503020204020204" charset="-122"/>
            </a:endParaRPr>
          </a:p>
        </p:txBody>
      </p:sp>
      <p:sp>
        <p:nvSpPr>
          <p:cNvPr id="18" name="object 18"/>
          <p:cNvSpPr txBox="1"/>
          <p:nvPr/>
        </p:nvSpPr>
        <p:spPr>
          <a:xfrm>
            <a:off x="4078127" y="3506303"/>
            <a:ext cx="741155" cy="411480"/>
          </a:xfrm>
          <a:prstGeom prst="rect">
            <a:avLst/>
          </a:prstGeom>
        </p:spPr>
        <p:txBody>
          <a:bodyPr vert="horz" wrap="square" lIns="0" tIns="45686" rIns="0" bIns="0" rtlCol="0">
            <a:spAutoFit/>
          </a:bodyPr>
          <a:lstStyle/>
          <a:p>
            <a:pPr marL="280670" marR="5080" indent="-268605">
              <a:lnSpc>
                <a:spcPts val="1430"/>
              </a:lnSpc>
              <a:spcBef>
                <a:spcPts val="360"/>
              </a:spcBef>
            </a:pPr>
            <a:r>
              <a:rPr sz="1400" b="1" spc="10" dirty="0">
                <a:latin typeface="微软雅黑" panose="020B0503020204020204" charset="-122"/>
                <a:ea typeface="微软雅黑" panose="020B0503020204020204" charset="-122"/>
                <a:cs typeface="微软雅黑" panose="020B0503020204020204" charset="-122"/>
              </a:rPr>
              <a:t>大客</a:t>
            </a:r>
            <a:r>
              <a:rPr sz="1400" b="1" dirty="0">
                <a:latin typeface="微软雅黑" panose="020B0503020204020204" charset="-122"/>
                <a:ea typeface="微软雅黑" panose="020B0503020204020204" charset="-122"/>
                <a:cs typeface="微软雅黑" panose="020B0503020204020204" charset="-122"/>
              </a:rPr>
              <a:t>户经 理</a:t>
            </a:r>
            <a:endParaRPr sz="1400">
              <a:latin typeface="微软雅黑" panose="020B0503020204020204" charset="-122"/>
              <a:ea typeface="微软雅黑" panose="020B0503020204020204" charset="-122"/>
              <a:cs typeface="微软雅黑" panose="020B0503020204020204" charset="-122"/>
            </a:endParaRPr>
          </a:p>
        </p:txBody>
      </p:sp>
      <p:sp>
        <p:nvSpPr>
          <p:cNvPr id="19" name="object 19"/>
          <p:cNvSpPr txBox="1"/>
          <p:nvPr/>
        </p:nvSpPr>
        <p:spPr>
          <a:xfrm>
            <a:off x="3075157" y="4084125"/>
            <a:ext cx="741155" cy="227330"/>
          </a:xfrm>
          <a:prstGeom prst="rect">
            <a:avLst/>
          </a:prstGeom>
        </p:spPr>
        <p:txBody>
          <a:bodyPr vert="horz" wrap="square" lIns="0" tIns="12691" rIns="0" bIns="0" rtlCol="0">
            <a:spAutoFit/>
          </a:bodyPr>
          <a:lstStyle/>
          <a:p>
            <a:pPr marL="12700">
              <a:lnSpc>
                <a:spcPct val="100000"/>
              </a:lnSpc>
              <a:spcBef>
                <a:spcPts val="100"/>
              </a:spcBef>
            </a:pPr>
            <a:r>
              <a:rPr sz="1400" b="1" spc="10" dirty="0">
                <a:latin typeface="微软雅黑" panose="020B0503020204020204" charset="-122"/>
                <a:ea typeface="微软雅黑" panose="020B0503020204020204" charset="-122"/>
                <a:cs typeface="微软雅黑" panose="020B0503020204020204" charset="-122"/>
              </a:rPr>
              <a:t>客户</a:t>
            </a:r>
            <a:r>
              <a:rPr sz="1400" b="1" dirty="0">
                <a:latin typeface="微软雅黑" panose="020B0503020204020204" charset="-122"/>
                <a:ea typeface="微软雅黑" panose="020B0503020204020204" charset="-122"/>
                <a:cs typeface="微软雅黑" panose="020B0503020204020204" charset="-122"/>
              </a:rPr>
              <a:t>服务</a:t>
            </a:r>
            <a:endParaRPr sz="1400">
              <a:latin typeface="微软雅黑" panose="020B0503020204020204" charset="-122"/>
              <a:ea typeface="微软雅黑" panose="020B0503020204020204" charset="-122"/>
              <a:cs typeface="微软雅黑" panose="020B0503020204020204" charset="-122"/>
            </a:endParaRPr>
          </a:p>
        </p:txBody>
      </p:sp>
      <p:sp>
        <p:nvSpPr>
          <p:cNvPr id="20" name="object 20"/>
          <p:cNvSpPr/>
          <p:nvPr/>
        </p:nvSpPr>
        <p:spPr>
          <a:xfrm>
            <a:off x="4850502" y="3805050"/>
            <a:ext cx="1208184" cy="848393"/>
          </a:xfrm>
          <a:custGeom>
            <a:avLst/>
            <a:gdLst/>
            <a:ahLst/>
            <a:cxnLst/>
            <a:rect l="l" t="t" r="r" b="b"/>
            <a:pathLst>
              <a:path w="1209039" h="848995">
                <a:moveTo>
                  <a:pt x="914654" y="0"/>
                </a:moveTo>
                <a:lnTo>
                  <a:pt x="316611" y="0"/>
                </a:lnTo>
                <a:lnTo>
                  <a:pt x="0" y="425195"/>
                </a:lnTo>
                <a:lnTo>
                  <a:pt x="316611" y="848868"/>
                </a:lnTo>
                <a:lnTo>
                  <a:pt x="914654" y="848868"/>
                </a:lnTo>
                <a:lnTo>
                  <a:pt x="1208659" y="425195"/>
                </a:lnTo>
                <a:lnTo>
                  <a:pt x="914654" y="0"/>
                </a:lnTo>
                <a:close/>
              </a:path>
            </a:pathLst>
          </a:custGeom>
          <a:solidFill>
            <a:srgbClr val="DDDDDD"/>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1" name="object 21"/>
          <p:cNvSpPr/>
          <p:nvPr/>
        </p:nvSpPr>
        <p:spPr>
          <a:xfrm>
            <a:off x="4850502" y="3805050"/>
            <a:ext cx="1208184" cy="848393"/>
          </a:xfrm>
          <a:custGeom>
            <a:avLst/>
            <a:gdLst/>
            <a:ahLst/>
            <a:cxnLst/>
            <a:rect l="l" t="t" r="r" b="b"/>
            <a:pathLst>
              <a:path w="1209039" h="848995">
                <a:moveTo>
                  <a:pt x="316611" y="0"/>
                </a:moveTo>
                <a:lnTo>
                  <a:pt x="914654" y="0"/>
                </a:lnTo>
                <a:lnTo>
                  <a:pt x="1208659" y="425195"/>
                </a:lnTo>
                <a:lnTo>
                  <a:pt x="914654" y="848868"/>
                </a:lnTo>
                <a:lnTo>
                  <a:pt x="316611" y="848868"/>
                </a:lnTo>
                <a:lnTo>
                  <a:pt x="0" y="425195"/>
                </a:lnTo>
                <a:lnTo>
                  <a:pt x="316611" y="0"/>
                </a:lnTo>
              </a:path>
            </a:pathLst>
          </a:custGeom>
          <a:ln w="952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2" name="object 22"/>
          <p:cNvSpPr/>
          <p:nvPr/>
        </p:nvSpPr>
        <p:spPr>
          <a:xfrm>
            <a:off x="3843852" y="4289338"/>
            <a:ext cx="1211356" cy="859181"/>
          </a:xfrm>
          <a:custGeom>
            <a:avLst/>
            <a:gdLst/>
            <a:ahLst/>
            <a:cxnLst/>
            <a:rect l="l" t="t" r="r" b="b"/>
            <a:pathLst>
              <a:path w="1212214" h="859789">
                <a:moveTo>
                  <a:pt x="917321" y="0"/>
                </a:moveTo>
                <a:lnTo>
                  <a:pt x="317119" y="0"/>
                </a:lnTo>
                <a:lnTo>
                  <a:pt x="0" y="434974"/>
                </a:lnTo>
                <a:lnTo>
                  <a:pt x="317119" y="859535"/>
                </a:lnTo>
                <a:lnTo>
                  <a:pt x="917321" y="859535"/>
                </a:lnTo>
                <a:lnTo>
                  <a:pt x="1211707" y="434974"/>
                </a:lnTo>
                <a:lnTo>
                  <a:pt x="917321" y="0"/>
                </a:lnTo>
                <a:close/>
              </a:path>
            </a:pathLst>
          </a:custGeom>
          <a:solidFill>
            <a:srgbClr val="DDDDDD"/>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3" name="object 23"/>
          <p:cNvSpPr/>
          <p:nvPr/>
        </p:nvSpPr>
        <p:spPr>
          <a:xfrm>
            <a:off x="3843852" y="4289338"/>
            <a:ext cx="1211356" cy="859181"/>
          </a:xfrm>
          <a:custGeom>
            <a:avLst/>
            <a:gdLst/>
            <a:ahLst/>
            <a:cxnLst/>
            <a:rect l="l" t="t" r="r" b="b"/>
            <a:pathLst>
              <a:path w="1212214" h="859789">
                <a:moveTo>
                  <a:pt x="317119" y="0"/>
                </a:moveTo>
                <a:lnTo>
                  <a:pt x="917321" y="0"/>
                </a:lnTo>
                <a:lnTo>
                  <a:pt x="1211707" y="434974"/>
                </a:lnTo>
                <a:lnTo>
                  <a:pt x="917321" y="859535"/>
                </a:lnTo>
                <a:lnTo>
                  <a:pt x="317119" y="859535"/>
                </a:lnTo>
                <a:lnTo>
                  <a:pt x="0" y="434974"/>
                </a:lnTo>
                <a:lnTo>
                  <a:pt x="317119" y="0"/>
                </a:lnTo>
              </a:path>
            </a:pathLst>
          </a:custGeom>
          <a:ln w="9525">
            <a:solidFill>
              <a:srgbClr val="91AFFF"/>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24" name="object 24"/>
          <p:cNvSpPr txBox="1"/>
          <p:nvPr/>
        </p:nvSpPr>
        <p:spPr>
          <a:xfrm>
            <a:off x="5083889" y="4131716"/>
            <a:ext cx="741155" cy="227330"/>
          </a:xfrm>
          <a:prstGeom prst="rect">
            <a:avLst/>
          </a:prstGeom>
        </p:spPr>
        <p:txBody>
          <a:bodyPr vert="horz" wrap="square" lIns="0" tIns="12691" rIns="0" bIns="0" rtlCol="0">
            <a:spAutoFit/>
          </a:bodyPr>
          <a:lstStyle/>
          <a:p>
            <a:pPr marL="12700">
              <a:lnSpc>
                <a:spcPct val="100000"/>
              </a:lnSpc>
              <a:spcBef>
                <a:spcPts val="100"/>
              </a:spcBef>
            </a:pPr>
            <a:r>
              <a:rPr sz="1400" b="1" spc="10" dirty="0">
                <a:latin typeface="微软雅黑" panose="020B0503020204020204" charset="-122"/>
                <a:ea typeface="微软雅黑" panose="020B0503020204020204" charset="-122"/>
                <a:cs typeface="微软雅黑" panose="020B0503020204020204" charset="-122"/>
              </a:rPr>
              <a:t>产品</a:t>
            </a:r>
            <a:r>
              <a:rPr sz="1400" b="1" dirty="0">
                <a:latin typeface="微软雅黑" panose="020B0503020204020204" charset="-122"/>
                <a:ea typeface="微软雅黑" panose="020B0503020204020204" charset="-122"/>
                <a:cs typeface="微软雅黑" panose="020B0503020204020204" charset="-122"/>
              </a:rPr>
              <a:t>开发</a:t>
            </a:r>
            <a:endParaRPr sz="1400">
              <a:latin typeface="微软雅黑" panose="020B0503020204020204" charset="-122"/>
              <a:ea typeface="微软雅黑" panose="020B0503020204020204" charset="-122"/>
              <a:cs typeface="微软雅黑" panose="020B0503020204020204" charset="-122"/>
            </a:endParaRPr>
          </a:p>
        </p:txBody>
      </p:sp>
      <p:sp>
        <p:nvSpPr>
          <p:cNvPr id="25" name="object 25"/>
          <p:cNvSpPr txBox="1"/>
          <p:nvPr/>
        </p:nvSpPr>
        <p:spPr>
          <a:xfrm>
            <a:off x="4029394" y="4485288"/>
            <a:ext cx="839510" cy="411480"/>
          </a:xfrm>
          <a:prstGeom prst="rect">
            <a:avLst/>
          </a:prstGeom>
        </p:spPr>
        <p:txBody>
          <a:bodyPr vert="horz" wrap="square" lIns="0" tIns="45686" rIns="0" bIns="0" rtlCol="0">
            <a:spAutoFit/>
          </a:bodyPr>
          <a:lstStyle/>
          <a:p>
            <a:pPr marL="151130" marR="5080" indent="-139065">
              <a:lnSpc>
                <a:spcPts val="1430"/>
              </a:lnSpc>
              <a:spcBef>
                <a:spcPts val="360"/>
              </a:spcBef>
            </a:pPr>
            <a:r>
              <a:rPr sz="1400" b="1" spc="10" dirty="0">
                <a:latin typeface="微软雅黑" panose="020B0503020204020204" charset="-122"/>
                <a:ea typeface="微软雅黑" panose="020B0503020204020204" charset="-122"/>
                <a:cs typeface="微软雅黑" panose="020B0503020204020204" charset="-122"/>
              </a:rPr>
              <a:t>技术</a:t>
            </a:r>
            <a:r>
              <a:rPr sz="1400" b="1" spc="-10" dirty="0">
                <a:latin typeface="微软雅黑" panose="020B0503020204020204" charset="-122"/>
                <a:ea typeface="微软雅黑" panose="020B0503020204020204" charset="-122"/>
                <a:cs typeface="微软雅黑" panose="020B0503020204020204" charset="-122"/>
              </a:rPr>
              <a:t>/</a:t>
            </a:r>
            <a:r>
              <a:rPr sz="1400" b="1" dirty="0">
                <a:latin typeface="微软雅黑" panose="020B0503020204020204" charset="-122"/>
                <a:ea typeface="微软雅黑" panose="020B0503020204020204" charset="-122"/>
                <a:cs typeface="微软雅黑" panose="020B0503020204020204" charset="-122"/>
              </a:rPr>
              <a:t>生产/ </a:t>
            </a:r>
            <a:r>
              <a:rPr sz="1400" b="1" spc="10" dirty="0">
                <a:latin typeface="微软雅黑" panose="020B0503020204020204" charset="-122"/>
                <a:ea typeface="微软雅黑" panose="020B0503020204020204" charset="-122"/>
                <a:cs typeface="微软雅黑" panose="020B0503020204020204" charset="-122"/>
              </a:rPr>
              <a:t>供应链</a:t>
            </a:r>
            <a:endParaRPr sz="1400">
              <a:latin typeface="微软雅黑" panose="020B0503020204020204" charset="-122"/>
              <a:ea typeface="微软雅黑" panose="020B0503020204020204" charset="-122"/>
              <a:cs typeface="微软雅黑" panose="020B0503020204020204" charset="-122"/>
            </a:endParaRPr>
          </a:p>
        </p:txBody>
      </p:sp>
      <p:sp>
        <p:nvSpPr>
          <p:cNvPr id="26" name="object 26"/>
          <p:cNvSpPr/>
          <p:nvPr/>
        </p:nvSpPr>
        <p:spPr>
          <a:xfrm>
            <a:off x="5878474" y="4316751"/>
            <a:ext cx="847125" cy="76146"/>
          </a:xfrm>
          <a:custGeom>
            <a:avLst/>
            <a:gdLst/>
            <a:ahLst/>
            <a:cxnLst/>
            <a:rect l="l" t="t" r="r" b="b"/>
            <a:pathLst>
              <a:path w="847725" h="7620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4921" y="44450"/>
                </a:lnTo>
                <a:lnTo>
                  <a:pt x="38100" y="44450"/>
                </a:lnTo>
                <a:lnTo>
                  <a:pt x="38100" y="31750"/>
                </a:lnTo>
                <a:lnTo>
                  <a:pt x="74921" y="31750"/>
                </a:lnTo>
                <a:lnTo>
                  <a:pt x="73211" y="23252"/>
                </a:lnTo>
                <a:lnTo>
                  <a:pt x="65055" y="11144"/>
                </a:lnTo>
                <a:lnTo>
                  <a:pt x="52947" y="2988"/>
                </a:lnTo>
                <a:lnTo>
                  <a:pt x="38100" y="0"/>
                </a:lnTo>
                <a:close/>
              </a:path>
              <a:path w="847725" h="76200">
                <a:moveTo>
                  <a:pt x="74921" y="31750"/>
                </a:moveTo>
                <a:lnTo>
                  <a:pt x="38100" y="31750"/>
                </a:lnTo>
                <a:lnTo>
                  <a:pt x="38100" y="44450"/>
                </a:lnTo>
                <a:lnTo>
                  <a:pt x="74921" y="44450"/>
                </a:lnTo>
                <a:lnTo>
                  <a:pt x="76200" y="38100"/>
                </a:lnTo>
                <a:lnTo>
                  <a:pt x="74921" y="31750"/>
                </a:lnTo>
                <a:close/>
              </a:path>
              <a:path w="847725" h="76200">
                <a:moveTo>
                  <a:pt x="847343" y="31750"/>
                </a:moveTo>
                <a:lnTo>
                  <a:pt x="74921" y="31750"/>
                </a:lnTo>
                <a:lnTo>
                  <a:pt x="76200" y="38100"/>
                </a:lnTo>
                <a:lnTo>
                  <a:pt x="74921" y="44450"/>
                </a:lnTo>
                <a:lnTo>
                  <a:pt x="847343" y="44450"/>
                </a:lnTo>
                <a:lnTo>
                  <a:pt x="847343" y="3175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7" name="object 27"/>
          <p:cNvSpPr/>
          <p:nvPr/>
        </p:nvSpPr>
        <p:spPr>
          <a:xfrm>
            <a:off x="3350425" y="4499501"/>
            <a:ext cx="76146" cy="890909"/>
          </a:xfrm>
          <a:custGeom>
            <a:avLst/>
            <a:gdLst/>
            <a:ahLst/>
            <a:cxnLst/>
            <a:rect l="l" t="t" r="r" b="b"/>
            <a:pathLst>
              <a:path w="76200" h="891539">
                <a:moveTo>
                  <a:pt x="31750" y="74921"/>
                </a:moveTo>
                <a:lnTo>
                  <a:pt x="31750" y="891540"/>
                </a:lnTo>
                <a:lnTo>
                  <a:pt x="44450" y="891540"/>
                </a:lnTo>
                <a:lnTo>
                  <a:pt x="44450" y="76200"/>
                </a:lnTo>
                <a:lnTo>
                  <a:pt x="38100" y="76200"/>
                </a:lnTo>
                <a:lnTo>
                  <a:pt x="31750" y="74921"/>
                </a:lnTo>
                <a:close/>
              </a:path>
              <a:path w="76200" h="891539">
                <a:moveTo>
                  <a:pt x="44450" y="38100"/>
                </a:moveTo>
                <a:lnTo>
                  <a:pt x="31750" y="38100"/>
                </a:lnTo>
                <a:lnTo>
                  <a:pt x="31750" y="74921"/>
                </a:lnTo>
                <a:lnTo>
                  <a:pt x="38100" y="76200"/>
                </a:lnTo>
                <a:lnTo>
                  <a:pt x="44450" y="74921"/>
                </a:lnTo>
                <a:lnTo>
                  <a:pt x="44450" y="38100"/>
                </a:lnTo>
                <a:close/>
              </a:path>
              <a:path w="76200" h="891539">
                <a:moveTo>
                  <a:pt x="44450" y="74921"/>
                </a:moveTo>
                <a:lnTo>
                  <a:pt x="38100" y="76200"/>
                </a:lnTo>
                <a:lnTo>
                  <a:pt x="44450" y="76200"/>
                </a:lnTo>
                <a:lnTo>
                  <a:pt x="44450" y="74921"/>
                </a:lnTo>
                <a:close/>
              </a:path>
              <a:path w="76200" h="891539">
                <a:moveTo>
                  <a:pt x="38100" y="0"/>
                </a:moveTo>
                <a:lnTo>
                  <a:pt x="23252" y="2988"/>
                </a:lnTo>
                <a:lnTo>
                  <a:pt x="11144" y="11144"/>
                </a:lnTo>
                <a:lnTo>
                  <a:pt x="2988" y="23252"/>
                </a:lnTo>
                <a:lnTo>
                  <a:pt x="0" y="38100"/>
                </a:lnTo>
                <a:lnTo>
                  <a:pt x="2988" y="52947"/>
                </a:lnTo>
                <a:lnTo>
                  <a:pt x="11144" y="65055"/>
                </a:lnTo>
                <a:lnTo>
                  <a:pt x="23252" y="73211"/>
                </a:lnTo>
                <a:lnTo>
                  <a:pt x="31750" y="74921"/>
                </a:lnTo>
                <a:lnTo>
                  <a:pt x="31750" y="38100"/>
                </a:lnTo>
                <a:lnTo>
                  <a:pt x="76200" y="38100"/>
                </a:lnTo>
                <a:lnTo>
                  <a:pt x="73211" y="23252"/>
                </a:lnTo>
                <a:lnTo>
                  <a:pt x="65055" y="11144"/>
                </a:lnTo>
                <a:lnTo>
                  <a:pt x="52947" y="2988"/>
                </a:lnTo>
                <a:lnTo>
                  <a:pt x="38100" y="0"/>
                </a:lnTo>
                <a:close/>
              </a:path>
              <a:path w="76200" h="891539">
                <a:moveTo>
                  <a:pt x="76200" y="38100"/>
                </a:moveTo>
                <a:lnTo>
                  <a:pt x="44450" y="38100"/>
                </a:lnTo>
                <a:lnTo>
                  <a:pt x="44450" y="74921"/>
                </a:lnTo>
                <a:lnTo>
                  <a:pt x="52947" y="73211"/>
                </a:lnTo>
                <a:lnTo>
                  <a:pt x="65055" y="65055"/>
                </a:lnTo>
                <a:lnTo>
                  <a:pt x="73211" y="52947"/>
                </a:lnTo>
                <a:lnTo>
                  <a:pt x="76200" y="3810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8" name="object 28"/>
          <p:cNvSpPr/>
          <p:nvPr/>
        </p:nvSpPr>
        <p:spPr>
          <a:xfrm>
            <a:off x="4574854" y="4995974"/>
            <a:ext cx="76146" cy="428321"/>
          </a:xfrm>
          <a:custGeom>
            <a:avLst/>
            <a:gdLst/>
            <a:ahLst/>
            <a:cxnLst/>
            <a:rect l="l" t="t" r="r" b="b"/>
            <a:pathLst>
              <a:path w="76200" h="428625">
                <a:moveTo>
                  <a:pt x="31750" y="74921"/>
                </a:moveTo>
                <a:lnTo>
                  <a:pt x="31750" y="428244"/>
                </a:lnTo>
                <a:lnTo>
                  <a:pt x="44450" y="428244"/>
                </a:lnTo>
                <a:lnTo>
                  <a:pt x="44450" y="76200"/>
                </a:lnTo>
                <a:lnTo>
                  <a:pt x="38100" y="76200"/>
                </a:lnTo>
                <a:lnTo>
                  <a:pt x="31750" y="74921"/>
                </a:lnTo>
                <a:close/>
              </a:path>
              <a:path w="76200" h="428625">
                <a:moveTo>
                  <a:pt x="44450" y="38100"/>
                </a:moveTo>
                <a:lnTo>
                  <a:pt x="31750" y="38100"/>
                </a:lnTo>
                <a:lnTo>
                  <a:pt x="31750" y="74921"/>
                </a:lnTo>
                <a:lnTo>
                  <a:pt x="38100" y="76200"/>
                </a:lnTo>
                <a:lnTo>
                  <a:pt x="44450" y="74921"/>
                </a:lnTo>
                <a:lnTo>
                  <a:pt x="44450" y="38100"/>
                </a:lnTo>
                <a:close/>
              </a:path>
              <a:path w="76200" h="428625">
                <a:moveTo>
                  <a:pt x="44450" y="74921"/>
                </a:moveTo>
                <a:lnTo>
                  <a:pt x="38100" y="76200"/>
                </a:lnTo>
                <a:lnTo>
                  <a:pt x="44450" y="76200"/>
                </a:lnTo>
                <a:lnTo>
                  <a:pt x="44450" y="74921"/>
                </a:lnTo>
                <a:close/>
              </a:path>
              <a:path w="76200" h="428625">
                <a:moveTo>
                  <a:pt x="38100" y="0"/>
                </a:moveTo>
                <a:lnTo>
                  <a:pt x="23252" y="2988"/>
                </a:lnTo>
                <a:lnTo>
                  <a:pt x="11144" y="11144"/>
                </a:lnTo>
                <a:lnTo>
                  <a:pt x="2988" y="23252"/>
                </a:lnTo>
                <a:lnTo>
                  <a:pt x="0" y="38100"/>
                </a:lnTo>
                <a:lnTo>
                  <a:pt x="2988" y="52947"/>
                </a:lnTo>
                <a:lnTo>
                  <a:pt x="11144" y="65055"/>
                </a:lnTo>
                <a:lnTo>
                  <a:pt x="23252" y="73211"/>
                </a:lnTo>
                <a:lnTo>
                  <a:pt x="31750" y="74921"/>
                </a:lnTo>
                <a:lnTo>
                  <a:pt x="31750" y="38100"/>
                </a:lnTo>
                <a:lnTo>
                  <a:pt x="76200" y="38100"/>
                </a:lnTo>
                <a:lnTo>
                  <a:pt x="73211" y="23252"/>
                </a:lnTo>
                <a:lnTo>
                  <a:pt x="65055" y="11144"/>
                </a:lnTo>
                <a:lnTo>
                  <a:pt x="52947" y="2988"/>
                </a:lnTo>
                <a:lnTo>
                  <a:pt x="38100" y="0"/>
                </a:lnTo>
                <a:close/>
              </a:path>
              <a:path w="76200" h="428625">
                <a:moveTo>
                  <a:pt x="76200" y="38100"/>
                </a:moveTo>
                <a:lnTo>
                  <a:pt x="44450" y="38100"/>
                </a:lnTo>
                <a:lnTo>
                  <a:pt x="44450" y="74921"/>
                </a:lnTo>
                <a:lnTo>
                  <a:pt x="52947" y="73211"/>
                </a:lnTo>
                <a:lnTo>
                  <a:pt x="65055" y="65055"/>
                </a:lnTo>
                <a:lnTo>
                  <a:pt x="73211" y="52947"/>
                </a:lnTo>
                <a:lnTo>
                  <a:pt x="76200" y="3810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29" name="object 29"/>
          <p:cNvSpPr/>
          <p:nvPr/>
        </p:nvSpPr>
        <p:spPr>
          <a:xfrm>
            <a:off x="5878474" y="3010085"/>
            <a:ext cx="847125" cy="76146"/>
          </a:xfrm>
          <a:custGeom>
            <a:avLst/>
            <a:gdLst/>
            <a:ahLst/>
            <a:cxnLst/>
            <a:rect l="l" t="t" r="r" b="b"/>
            <a:pathLst>
              <a:path w="847725" h="7620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4921" y="44450"/>
                </a:lnTo>
                <a:lnTo>
                  <a:pt x="38100" y="44450"/>
                </a:lnTo>
                <a:lnTo>
                  <a:pt x="38100" y="31750"/>
                </a:lnTo>
                <a:lnTo>
                  <a:pt x="74921" y="31750"/>
                </a:lnTo>
                <a:lnTo>
                  <a:pt x="73211" y="23252"/>
                </a:lnTo>
                <a:lnTo>
                  <a:pt x="65055" y="11144"/>
                </a:lnTo>
                <a:lnTo>
                  <a:pt x="52947" y="2988"/>
                </a:lnTo>
                <a:lnTo>
                  <a:pt x="38100" y="0"/>
                </a:lnTo>
                <a:close/>
              </a:path>
              <a:path w="847725" h="76200">
                <a:moveTo>
                  <a:pt x="74921" y="31750"/>
                </a:moveTo>
                <a:lnTo>
                  <a:pt x="38100" y="31750"/>
                </a:lnTo>
                <a:lnTo>
                  <a:pt x="38100" y="44450"/>
                </a:lnTo>
                <a:lnTo>
                  <a:pt x="74921" y="44450"/>
                </a:lnTo>
                <a:lnTo>
                  <a:pt x="76200" y="38100"/>
                </a:lnTo>
                <a:lnTo>
                  <a:pt x="74921" y="31750"/>
                </a:lnTo>
                <a:close/>
              </a:path>
              <a:path w="847725" h="76200">
                <a:moveTo>
                  <a:pt x="847343" y="31750"/>
                </a:moveTo>
                <a:lnTo>
                  <a:pt x="74921" y="31750"/>
                </a:lnTo>
                <a:lnTo>
                  <a:pt x="76200" y="38100"/>
                </a:lnTo>
                <a:lnTo>
                  <a:pt x="74921" y="44450"/>
                </a:lnTo>
                <a:lnTo>
                  <a:pt x="847343" y="44450"/>
                </a:lnTo>
                <a:lnTo>
                  <a:pt x="847343" y="3175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0" name="object 30"/>
          <p:cNvSpPr/>
          <p:nvPr/>
        </p:nvSpPr>
        <p:spPr>
          <a:xfrm>
            <a:off x="2325500" y="3506557"/>
            <a:ext cx="845220" cy="76146"/>
          </a:xfrm>
          <a:custGeom>
            <a:avLst/>
            <a:gdLst/>
            <a:ahLst/>
            <a:cxnLst/>
            <a:rect l="l" t="t" r="r" b="b"/>
            <a:pathLst>
              <a:path w="845819" h="76200">
                <a:moveTo>
                  <a:pt x="807719" y="0"/>
                </a:moveTo>
                <a:lnTo>
                  <a:pt x="792872" y="2988"/>
                </a:lnTo>
                <a:lnTo>
                  <a:pt x="780764" y="11144"/>
                </a:lnTo>
                <a:lnTo>
                  <a:pt x="772608" y="23252"/>
                </a:lnTo>
                <a:lnTo>
                  <a:pt x="769619" y="38100"/>
                </a:lnTo>
                <a:lnTo>
                  <a:pt x="772608" y="52947"/>
                </a:lnTo>
                <a:lnTo>
                  <a:pt x="780764" y="65055"/>
                </a:lnTo>
                <a:lnTo>
                  <a:pt x="792872" y="73211"/>
                </a:lnTo>
                <a:lnTo>
                  <a:pt x="807719" y="76200"/>
                </a:lnTo>
                <a:lnTo>
                  <a:pt x="822567" y="73211"/>
                </a:lnTo>
                <a:lnTo>
                  <a:pt x="834675" y="65055"/>
                </a:lnTo>
                <a:lnTo>
                  <a:pt x="842831" y="52947"/>
                </a:lnTo>
                <a:lnTo>
                  <a:pt x="844541" y="44450"/>
                </a:lnTo>
                <a:lnTo>
                  <a:pt x="807719" y="44450"/>
                </a:lnTo>
                <a:lnTo>
                  <a:pt x="807719" y="31750"/>
                </a:lnTo>
                <a:lnTo>
                  <a:pt x="844541" y="31750"/>
                </a:lnTo>
                <a:lnTo>
                  <a:pt x="842831" y="23252"/>
                </a:lnTo>
                <a:lnTo>
                  <a:pt x="834675" y="11144"/>
                </a:lnTo>
                <a:lnTo>
                  <a:pt x="822567" y="2988"/>
                </a:lnTo>
                <a:lnTo>
                  <a:pt x="807719" y="0"/>
                </a:lnTo>
                <a:close/>
              </a:path>
              <a:path w="845819" h="76200">
                <a:moveTo>
                  <a:pt x="770898" y="31750"/>
                </a:moveTo>
                <a:lnTo>
                  <a:pt x="0" y="31750"/>
                </a:lnTo>
                <a:lnTo>
                  <a:pt x="0" y="44450"/>
                </a:lnTo>
                <a:lnTo>
                  <a:pt x="770898" y="44450"/>
                </a:lnTo>
                <a:lnTo>
                  <a:pt x="769619" y="38100"/>
                </a:lnTo>
                <a:lnTo>
                  <a:pt x="770898" y="31750"/>
                </a:lnTo>
                <a:close/>
              </a:path>
              <a:path w="845819" h="76200">
                <a:moveTo>
                  <a:pt x="844541" y="31750"/>
                </a:moveTo>
                <a:lnTo>
                  <a:pt x="807719" y="31750"/>
                </a:lnTo>
                <a:lnTo>
                  <a:pt x="807719" y="44450"/>
                </a:lnTo>
                <a:lnTo>
                  <a:pt x="844541" y="44450"/>
                </a:lnTo>
                <a:lnTo>
                  <a:pt x="845819" y="38100"/>
                </a:lnTo>
                <a:lnTo>
                  <a:pt x="844541" y="3175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1" name="object 31"/>
          <p:cNvSpPr/>
          <p:nvPr/>
        </p:nvSpPr>
        <p:spPr>
          <a:xfrm>
            <a:off x="4532211" y="5350813"/>
            <a:ext cx="4210876" cy="738617"/>
          </a:xfrm>
          <a:custGeom>
            <a:avLst/>
            <a:gdLst/>
            <a:ahLst/>
            <a:cxnLst/>
            <a:rect l="l" t="t" r="r" b="b"/>
            <a:pathLst>
              <a:path w="4213859" h="739139">
                <a:moveTo>
                  <a:pt x="0" y="739139"/>
                </a:moveTo>
                <a:lnTo>
                  <a:pt x="4213860" y="739139"/>
                </a:lnTo>
                <a:lnTo>
                  <a:pt x="4213860" y="0"/>
                </a:lnTo>
                <a:lnTo>
                  <a:pt x="0" y="0"/>
                </a:lnTo>
                <a:lnTo>
                  <a:pt x="0" y="739139"/>
                </a:lnTo>
                <a:close/>
              </a:path>
            </a:pathLst>
          </a:custGeom>
          <a:solidFill>
            <a:srgbClr val="DDDDDD"/>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2" name="object 32"/>
          <p:cNvSpPr/>
          <p:nvPr/>
        </p:nvSpPr>
        <p:spPr>
          <a:xfrm>
            <a:off x="181227" y="5350813"/>
            <a:ext cx="4278138" cy="738617"/>
          </a:xfrm>
          <a:custGeom>
            <a:avLst/>
            <a:gdLst/>
            <a:ahLst/>
            <a:cxnLst/>
            <a:rect l="l" t="t" r="r" b="b"/>
            <a:pathLst>
              <a:path w="4281170" h="739139">
                <a:moveTo>
                  <a:pt x="0" y="739139"/>
                </a:moveTo>
                <a:lnTo>
                  <a:pt x="4280916" y="739139"/>
                </a:lnTo>
                <a:lnTo>
                  <a:pt x="4280916" y="0"/>
                </a:lnTo>
                <a:lnTo>
                  <a:pt x="0" y="0"/>
                </a:lnTo>
                <a:lnTo>
                  <a:pt x="0" y="739139"/>
                </a:lnTo>
                <a:close/>
              </a:path>
            </a:pathLst>
          </a:custGeom>
          <a:solidFill>
            <a:srgbClr val="DDDDDD"/>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3" name="object 33"/>
          <p:cNvSpPr/>
          <p:nvPr/>
        </p:nvSpPr>
        <p:spPr>
          <a:xfrm>
            <a:off x="182749" y="1103388"/>
            <a:ext cx="2420175" cy="2264710"/>
          </a:xfrm>
          <a:custGeom>
            <a:avLst/>
            <a:gdLst/>
            <a:ahLst/>
            <a:cxnLst/>
            <a:rect l="l" t="t" r="r" b="b"/>
            <a:pathLst>
              <a:path w="2421890" h="2266315">
                <a:moveTo>
                  <a:pt x="0" y="2266188"/>
                </a:moveTo>
                <a:lnTo>
                  <a:pt x="2421636" y="2266188"/>
                </a:lnTo>
                <a:lnTo>
                  <a:pt x="2421636" y="0"/>
                </a:lnTo>
                <a:lnTo>
                  <a:pt x="0" y="0"/>
                </a:lnTo>
                <a:lnTo>
                  <a:pt x="0" y="2266188"/>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34" name="object 34"/>
          <p:cNvSpPr txBox="1"/>
          <p:nvPr/>
        </p:nvSpPr>
        <p:spPr>
          <a:xfrm>
            <a:off x="4598077" y="5482801"/>
            <a:ext cx="3953248" cy="421005"/>
          </a:xfrm>
          <a:prstGeom prst="rect">
            <a:avLst/>
          </a:prstGeom>
        </p:spPr>
        <p:txBody>
          <a:bodyPr vert="horz" wrap="square" lIns="0" tIns="12691" rIns="0" bIns="0" rtlCol="0">
            <a:spAutoFit/>
          </a:bodyPr>
          <a:lstStyle/>
          <a:p>
            <a:pPr marL="204470" indent="-192405">
              <a:lnSpc>
                <a:spcPts val="1595"/>
              </a:lnSpc>
              <a:spcBef>
                <a:spcPts val="100"/>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发现改善供应链管理和</a:t>
            </a:r>
            <a:r>
              <a:rPr sz="1400" spc="-15" dirty="0">
                <a:latin typeface="微软雅黑" panose="020B0503020204020204" charset="-122"/>
                <a:ea typeface="微软雅黑" panose="020B0503020204020204" charset="-122"/>
                <a:cs typeface="微软雅黑" panose="020B0503020204020204" charset="-122"/>
              </a:rPr>
              <a:t>优</a:t>
            </a:r>
            <a:r>
              <a:rPr sz="1400" dirty="0">
                <a:latin typeface="微软雅黑" panose="020B0503020204020204" charset="-122"/>
                <a:ea typeface="微软雅黑" panose="020B0503020204020204" charset="-122"/>
                <a:cs typeface="微软雅黑" panose="020B0503020204020204" charset="-122"/>
              </a:rPr>
              <a:t>化生</a:t>
            </a:r>
            <a:r>
              <a:rPr sz="1400" spc="-15" dirty="0">
                <a:latin typeface="微软雅黑" panose="020B0503020204020204" charset="-122"/>
                <a:ea typeface="微软雅黑" panose="020B0503020204020204" charset="-122"/>
                <a:cs typeface="微软雅黑" panose="020B0503020204020204" charset="-122"/>
              </a:rPr>
              <a:t>产</a:t>
            </a:r>
            <a:r>
              <a:rPr sz="1400" dirty="0">
                <a:latin typeface="微软雅黑" panose="020B0503020204020204" charset="-122"/>
                <a:ea typeface="微软雅黑" panose="020B0503020204020204" charset="-122"/>
                <a:cs typeface="微软雅黑" panose="020B0503020204020204" charset="-122"/>
              </a:rPr>
              <a:t>界面</a:t>
            </a:r>
            <a:r>
              <a:rPr sz="1400" spc="-15" dirty="0">
                <a:latin typeface="微软雅黑" panose="020B0503020204020204" charset="-122"/>
                <a:ea typeface="微软雅黑" panose="020B0503020204020204" charset="-122"/>
                <a:cs typeface="微软雅黑" panose="020B0503020204020204" charset="-122"/>
              </a:rPr>
              <a:t>的</a:t>
            </a:r>
            <a:r>
              <a:rPr sz="1400" dirty="0">
                <a:latin typeface="微软雅黑" panose="020B0503020204020204" charset="-122"/>
                <a:ea typeface="微软雅黑" panose="020B0503020204020204" charset="-122"/>
                <a:cs typeface="微软雅黑" panose="020B0503020204020204" charset="-122"/>
              </a:rPr>
              <a:t>各种</a:t>
            </a:r>
            <a:r>
              <a:rPr sz="1400" spc="-15" dirty="0">
                <a:latin typeface="微软雅黑" panose="020B0503020204020204" charset="-122"/>
                <a:ea typeface="微软雅黑" panose="020B0503020204020204" charset="-122"/>
                <a:cs typeface="微软雅黑" panose="020B0503020204020204" charset="-122"/>
              </a:rPr>
              <a:t>机</a:t>
            </a:r>
            <a:r>
              <a:rPr sz="1400" dirty="0">
                <a:latin typeface="微软雅黑" panose="020B0503020204020204" charset="-122"/>
                <a:ea typeface="微软雅黑" panose="020B0503020204020204" charset="-122"/>
                <a:cs typeface="微软雅黑" panose="020B0503020204020204" charset="-122"/>
              </a:rPr>
              <a:t>会</a:t>
            </a:r>
            <a:endParaRPr sz="1400">
              <a:latin typeface="微软雅黑" panose="020B0503020204020204" charset="-122"/>
              <a:ea typeface="微软雅黑" panose="020B0503020204020204" charset="-122"/>
              <a:cs typeface="微软雅黑" panose="020B0503020204020204" charset="-122"/>
            </a:endParaRPr>
          </a:p>
          <a:p>
            <a:pPr marL="204470" indent="-192405">
              <a:lnSpc>
                <a:spcPts val="1595"/>
              </a:lnSpc>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解决各种技术问题</a:t>
            </a:r>
            <a:endParaRPr sz="1400">
              <a:latin typeface="微软雅黑" panose="020B0503020204020204" charset="-122"/>
              <a:ea typeface="微软雅黑" panose="020B0503020204020204" charset="-122"/>
              <a:cs typeface="微软雅黑" panose="020B0503020204020204" charset="-122"/>
            </a:endParaRPr>
          </a:p>
        </p:txBody>
      </p:sp>
      <p:sp>
        <p:nvSpPr>
          <p:cNvPr id="35" name="object 35"/>
          <p:cNvSpPr txBox="1"/>
          <p:nvPr/>
        </p:nvSpPr>
        <p:spPr>
          <a:xfrm>
            <a:off x="6336873" y="3447162"/>
            <a:ext cx="2404946" cy="1319530"/>
          </a:xfrm>
          <a:prstGeom prst="rect">
            <a:avLst/>
          </a:prstGeom>
          <a:solidFill>
            <a:srgbClr val="DDDDDD"/>
          </a:solidFill>
        </p:spPr>
        <p:txBody>
          <a:bodyPr vert="horz" wrap="square" lIns="0" tIns="0" rIns="0" bIns="0" rtlCol="0">
            <a:spAutoFit/>
          </a:bodyPr>
          <a:lstStyle/>
          <a:p>
            <a:pPr>
              <a:lnSpc>
                <a:spcPct val="100000"/>
              </a:lnSpc>
            </a:pPr>
            <a:endParaRPr>
              <a:latin typeface="微软雅黑" panose="020B0503020204020204" charset="-122"/>
              <a:ea typeface="微软雅黑" panose="020B0503020204020204" charset="-122"/>
              <a:cs typeface="微软雅黑" panose="020B0503020204020204" charset="-122"/>
            </a:endParaRPr>
          </a:p>
          <a:p>
            <a:pPr>
              <a:lnSpc>
                <a:spcPct val="100000"/>
              </a:lnSpc>
              <a:spcBef>
                <a:spcPts val="45"/>
              </a:spcBef>
            </a:pPr>
            <a:endParaRPr sz="1700">
              <a:latin typeface="微软雅黑" panose="020B0503020204020204" charset="-122"/>
              <a:ea typeface="微软雅黑" panose="020B0503020204020204" charset="-122"/>
              <a:cs typeface="微软雅黑" panose="020B0503020204020204" charset="-122"/>
            </a:endParaRPr>
          </a:p>
          <a:p>
            <a:pPr marL="293370" marR="321310" indent="-192405">
              <a:lnSpc>
                <a:spcPts val="1510"/>
              </a:lnSpc>
              <a:buClr>
                <a:srgbClr val="00295F"/>
              </a:buClr>
              <a:buSzPct val="125000"/>
              <a:buFont typeface="Arial" panose="020B0604020202020204"/>
              <a:buChar char="▪"/>
              <a:tabLst>
                <a:tab pos="294005" algn="l"/>
              </a:tabLst>
            </a:pPr>
            <a:r>
              <a:rPr sz="1400" dirty="0">
                <a:latin typeface="微软雅黑" panose="020B0503020204020204" charset="-122"/>
                <a:ea typeface="微软雅黑" panose="020B0503020204020204" charset="-122"/>
                <a:cs typeface="微软雅黑" panose="020B0503020204020204" charset="-122"/>
              </a:rPr>
              <a:t>识别未来的产品开发机 会</a:t>
            </a:r>
            <a:endParaRPr sz="1400">
              <a:latin typeface="微软雅黑" panose="020B0503020204020204" charset="-122"/>
              <a:ea typeface="微软雅黑" panose="020B0503020204020204" charset="-122"/>
              <a:cs typeface="微软雅黑" panose="020B0503020204020204" charset="-122"/>
            </a:endParaRPr>
          </a:p>
          <a:p>
            <a:pPr marL="293370" marR="321310" indent="-192405">
              <a:lnSpc>
                <a:spcPts val="1510"/>
              </a:lnSpc>
              <a:spcBef>
                <a:spcPts val="5"/>
              </a:spcBef>
              <a:buClr>
                <a:srgbClr val="00295F"/>
              </a:buClr>
              <a:buSzPct val="125000"/>
              <a:buFont typeface="Arial" panose="020B0604020202020204"/>
              <a:buChar char="▪"/>
              <a:tabLst>
                <a:tab pos="294005" algn="l"/>
              </a:tabLst>
            </a:pPr>
            <a:r>
              <a:rPr sz="1400" dirty="0">
                <a:latin typeface="微软雅黑" panose="020B0503020204020204" charset="-122"/>
                <a:ea typeface="微软雅黑" panose="020B0503020204020204" charset="-122"/>
                <a:cs typeface="微软雅黑" panose="020B0503020204020204" charset="-122"/>
              </a:rPr>
              <a:t>提供现有的能力、技能 与资源投入</a:t>
            </a:r>
            <a:endParaRPr sz="1400">
              <a:latin typeface="微软雅黑" panose="020B0503020204020204" charset="-122"/>
              <a:ea typeface="微软雅黑" panose="020B0503020204020204" charset="-122"/>
              <a:cs typeface="微软雅黑" panose="020B0503020204020204" charset="-122"/>
            </a:endParaRPr>
          </a:p>
        </p:txBody>
      </p:sp>
      <p:sp>
        <p:nvSpPr>
          <p:cNvPr id="36" name="object 36"/>
          <p:cNvSpPr txBox="1"/>
          <p:nvPr/>
        </p:nvSpPr>
        <p:spPr>
          <a:xfrm>
            <a:off x="6336873" y="1100342"/>
            <a:ext cx="2404946" cy="1647825"/>
          </a:xfrm>
          <a:prstGeom prst="rect">
            <a:avLst/>
          </a:prstGeom>
          <a:solidFill>
            <a:srgbClr val="C6DFFA"/>
          </a:solidFill>
        </p:spPr>
        <p:txBody>
          <a:bodyPr vert="horz" wrap="square" lIns="0" tIns="0" rIns="0" bIns="0" rtlCol="0">
            <a:spAutoFit/>
          </a:bodyPr>
          <a:lstStyle/>
          <a:p>
            <a:pPr>
              <a:lnSpc>
                <a:spcPct val="100000"/>
              </a:lnSpc>
            </a:pPr>
            <a:endParaRPr sz="2000">
              <a:latin typeface="微软雅黑" panose="020B0503020204020204" charset="-122"/>
              <a:ea typeface="微软雅黑" panose="020B0503020204020204" charset="-122"/>
              <a:cs typeface="微软雅黑" panose="020B0503020204020204" charset="-122"/>
            </a:endParaRPr>
          </a:p>
          <a:p>
            <a:pPr>
              <a:lnSpc>
                <a:spcPct val="100000"/>
              </a:lnSpc>
              <a:spcBef>
                <a:spcPts val="5"/>
              </a:spcBef>
            </a:pPr>
            <a:endParaRPr sz="2250">
              <a:latin typeface="微软雅黑" panose="020B0503020204020204" charset="-122"/>
              <a:ea typeface="微软雅黑" panose="020B0503020204020204" charset="-122"/>
              <a:cs typeface="微软雅黑" panose="020B0503020204020204" charset="-122"/>
            </a:endParaRPr>
          </a:p>
          <a:p>
            <a:pPr marL="293370" indent="-192405">
              <a:lnSpc>
                <a:spcPts val="1595"/>
              </a:lnSpc>
              <a:buClr>
                <a:srgbClr val="00295F"/>
              </a:buClr>
              <a:buSzPct val="125000"/>
              <a:buFont typeface="Arial" panose="020B0604020202020204"/>
              <a:buChar char="▪"/>
              <a:tabLst>
                <a:tab pos="294005" algn="l"/>
              </a:tabLst>
            </a:pPr>
            <a:r>
              <a:rPr sz="1400" dirty="0">
                <a:latin typeface="微软雅黑" panose="020B0503020204020204" charset="-122"/>
                <a:ea typeface="微软雅黑" panose="020B0503020204020204" charset="-122"/>
                <a:cs typeface="微软雅黑" panose="020B0503020204020204" charset="-122"/>
              </a:rPr>
              <a:t>管理当地的大客户联系人</a:t>
            </a:r>
            <a:endParaRPr sz="1400">
              <a:latin typeface="微软雅黑" panose="020B0503020204020204" charset="-122"/>
              <a:ea typeface="微软雅黑" panose="020B0503020204020204" charset="-122"/>
              <a:cs typeface="微软雅黑" panose="020B0503020204020204" charset="-122"/>
            </a:endParaRPr>
          </a:p>
          <a:p>
            <a:pPr marL="293370" marR="144145" indent="-192405">
              <a:lnSpc>
                <a:spcPts val="1510"/>
              </a:lnSpc>
              <a:spcBef>
                <a:spcPts val="105"/>
              </a:spcBef>
              <a:buClr>
                <a:srgbClr val="00295F"/>
              </a:buClr>
              <a:buSzPct val="125000"/>
              <a:buFont typeface="Arial" panose="020B0604020202020204"/>
              <a:buChar char="▪"/>
              <a:tabLst>
                <a:tab pos="294005" algn="l"/>
              </a:tabLst>
            </a:pPr>
            <a:r>
              <a:rPr sz="1400" dirty="0">
                <a:latin typeface="微软雅黑" panose="020B0503020204020204" charset="-122"/>
                <a:ea typeface="微软雅黑" panose="020B0503020204020204" charset="-122"/>
                <a:cs typeface="微软雅黑" panose="020B0503020204020204" charset="-122"/>
              </a:rPr>
              <a:t>在规划过程中，提供区域 性的背景信息</a:t>
            </a:r>
            <a:endParaRPr sz="1400">
              <a:latin typeface="微软雅黑" panose="020B0503020204020204" charset="-122"/>
              <a:ea typeface="微软雅黑" panose="020B0503020204020204" charset="-122"/>
              <a:cs typeface="微软雅黑" panose="020B0503020204020204" charset="-122"/>
            </a:endParaRPr>
          </a:p>
          <a:p>
            <a:pPr marL="293370" marR="144145" indent="-192405">
              <a:lnSpc>
                <a:spcPts val="1510"/>
              </a:lnSpc>
              <a:spcBef>
                <a:spcPts val="5"/>
              </a:spcBef>
              <a:buClr>
                <a:srgbClr val="00295F"/>
              </a:buClr>
              <a:buSzPct val="125000"/>
              <a:buFont typeface="Arial" panose="020B0604020202020204"/>
              <a:buChar char="▪"/>
              <a:tabLst>
                <a:tab pos="294005" algn="l"/>
              </a:tabLst>
            </a:pPr>
            <a:r>
              <a:rPr sz="1400" dirty="0">
                <a:latin typeface="微软雅黑" panose="020B0503020204020204" charset="-122"/>
                <a:ea typeface="微软雅黑" panose="020B0503020204020204" charset="-122"/>
                <a:cs typeface="微软雅黑" panose="020B0503020204020204" charset="-122"/>
              </a:rPr>
              <a:t>扮演公司与大客户间的联 系人</a:t>
            </a:r>
            <a:endParaRPr sz="1400">
              <a:latin typeface="微软雅黑" panose="020B0503020204020204" charset="-122"/>
              <a:ea typeface="微软雅黑" panose="020B0503020204020204" charset="-122"/>
              <a:cs typeface="微软雅黑" panose="020B0503020204020204" charset="-122"/>
            </a:endParaRPr>
          </a:p>
        </p:txBody>
      </p:sp>
      <p:sp>
        <p:nvSpPr>
          <p:cNvPr id="37" name="object 37"/>
          <p:cNvSpPr txBox="1"/>
          <p:nvPr/>
        </p:nvSpPr>
        <p:spPr>
          <a:xfrm>
            <a:off x="182749" y="3447162"/>
            <a:ext cx="2403676" cy="1403350"/>
          </a:xfrm>
          <a:prstGeom prst="rect">
            <a:avLst/>
          </a:prstGeom>
          <a:solidFill>
            <a:srgbClr val="DDDDDD"/>
          </a:solidFill>
        </p:spPr>
        <p:txBody>
          <a:bodyPr vert="horz" wrap="square" lIns="0" tIns="5076" rIns="0" bIns="0" rtlCol="0">
            <a:spAutoFit/>
          </a:bodyPr>
          <a:lstStyle/>
          <a:p>
            <a:pPr>
              <a:lnSpc>
                <a:spcPct val="100000"/>
              </a:lnSpc>
              <a:spcBef>
                <a:spcPts val="40"/>
              </a:spcBef>
            </a:pPr>
            <a:endParaRPr sz="2650">
              <a:latin typeface="微软雅黑" panose="020B0503020204020204" charset="-122"/>
              <a:ea typeface="微软雅黑" panose="020B0503020204020204" charset="-122"/>
              <a:cs typeface="微软雅黑" panose="020B0503020204020204" charset="-122"/>
            </a:endParaRPr>
          </a:p>
          <a:p>
            <a:pPr marL="287020" indent="-193040">
              <a:lnSpc>
                <a:spcPts val="1595"/>
              </a:lnSpc>
              <a:buClr>
                <a:srgbClr val="00295F"/>
              </a:buClr>
              <a:buSzPct val="125000"/>
              <a:buFont typeface="Arial" panose="020B0604020202020204"/>
              <a:buChar char="▪"/>
              <a:tabLst>
                <a:tab pos="287655" algn="l"/>
              </a:tabLst>
            </a:pPr>
            <a:r>
              <a:rPr sz="1400" dirty="0">
                <a:latin typeface="微软雅黑" panose="020B0503020204020204" charset="-122"/>
                <a:ea typeface="微软雅黑" panose="020B0503020204020204" charset="-122"/>
                <a:cs typeface="微软雅黑" panose="020B0503020204020204" charset="-122"/>
              </a:rPr>
              <a:t>解决跨职能、跨区域、跨</a:t>
            </a:r>
            <a:endParaRPr sz="1400">
              <a:latin typeface="微软雅黑" panose="020B0503020204020204" charset="-122"/>
              <a:ea typeface="微软雅黑" panose="020B0503020204020204" charset="-122"/>
              <a:cs typeface="微软雅黑" panose="020B0503020204020204" charset="-122"/>
            </a:endParaRPr>
          </a:p>
          <a:p>
            <a:pPr marL="287020">
              <a:lnSpc>
                <a:spcPts val="1515"/>
              </a:lnSpc>
            </a:pPr>
            <a:r>
              <a:rPr sz="1400" dirty="0">
                <a:latin typeface="微软雅黑" panose="020B0503020204020204" charset="-122"/>
                <a:ea typeface="微软雅黑" panose="020B0503020204020204" charset="-122"/>
                <a:cs typeface="微软雅黑" panose="020B0503020204020204" charset="-122"/>
              </a:rPr>
              <a:t>行业资源配置问题</a:t>
            </a:r>
            <a:endParaRPr sz="1400">
              <a:latin typeface="微软雅黑" panose="020B0503020204020204" charset="-122"/>
              <a:ea typeface="微软雅黑" panose="020B0503020204020204" charset="-122"/>
              <a:cs typeface="微软雅黑" panose="020B0503020204020204" charset="-122"/>
            </a:endParaRPr>
          </a:p>
          <a:p>
            <a:pPr marL="287020" marR="148590" indent="-192405">
              <a:lnSpc>
                <a:spcPts val="1510"/>
              </a:lnSpc>
              <a:spcBef>
                <a:spcPts val="110"/>
              </a:spcBef>
              <a:buClr>
                <a:srgbClr val="00295F"/>
              </a:buClr>
              <a:buSzPct val="125000"/>
              <a:buFont typeface="Arial" panose="020B0604020202020204"/>
              <a:buChar char="▪"/>
              <a:tabLst>
                <a:tab pos="287655" algn="l"/>
              </a:tabLst>
            </a:pPr>
            <a:r>
              <a:rPr sz="1400" dirty="0">
                <a:latin typeface="微软雅黑" panose="020B0503020204020204" charset="-122"/>
                <a:ea typeface="微软雅黑" panose="020B0503020204020204" charset="-122"/>
                <a:cs typeface="微软雅黑" panose="020B0503020204020204" charset="-122"/>
              </a:rPr>
              <a:t>建立并维持与大客户高管 间的关系</a:t>
            </a:r>
            <a:endParaRPr sz="1400">
              <a:latin typeface="微软雅黑" panose="020B0503020204020204" charset="-122"/>
              <a:ea typeface="微软雅黑" panose="020B0503020204020204" charset="-122"/>
              <a:cs typeface="微软雅黑" panose="020B0503020204020204" charset="-122"/>
            </a:endParaRPr>
          </a:p>
          <a:p>
            <a:pPr marL="287020" indent="-193040">
              <a:lnSpc>
                <a:spcPts val="1490"/>
              </a:lnSpc>
              <a:buClr>
                <a:srgbClr val="00295F"/>
              </a:buClr>
              <a:buSzPct val="125000"/>
              <a:buFont typeface="Arial" panose="020B0604020202020204"/>
              <a:buChar char="▪"/>
              <a:tabLst>
                <a:tab pos="287655" algn="l"/>
              </a:tabLst>
            </a:pPr>
            <a:r>
              <a:rPr sz="1400" dirty="0">
                <a:latin typeface="微软雅黑" panose="020B0503020204020204" charset="-122"/>
                <a:ea typeface="微软雅黑" panose="020B0503020204020204" charset="-122"/>
                <a:cs typeface="微软雅黑" panose="020B0503020204020204" charset="-122"/>
              </a:rPr>
              <a:t>支持全球合同的谈判事务</a:t>
            </a:r>
            <a:endParaRPr sz="1400">
              <a:latin typeface="微软雅黑" panose="020B0503020204020204" charset="-122"/>
              <a:ea typeface="微软雅黑" panose="020B0503020204020204" charset="-122"/>
              <a:cs typeface="微软雅黑" panose="020B0503020204020204" charset="-122"/>
            </a:endParaRPr>
          </a:p>
        </p:txBody>
      </p:sp>
      <p:sp>
        <p:nvSpPr>
          <p:cNvPr id="38" name="object 38"/>
          <p:cNvSpPr txBox="1"/>
          <p:nvPr/>
        </p:nvSpPr>
        <p:spPr>
          <a:xfrm>
            <a:off x="264784" y="5578135"/>
            <a:ext cx="4131557" cy="227330"/>
          </a:xfrm>
          <a:prstGeom prst="rect">
            <a:avLst/>
          </a:prstGeom>
        </p:spPr>
        <p:txBody>
          <a:bodyPr vert="horz" wrap="square" lIns="0" tIns="12691" rIns="0" bIns="0" rtlCol="0">
            <a:spAutoFit/>
          </a:bodyPr>
          <a:lstStyle/>
          <a:p>
            <a:pPr marL="204470" indent="-192405">
              <a:lnSpc>
                <a:spcPct val="100000"/>
              </a:lnSpc>
              <a:spcBef>
                <a:spcPts val="100"/>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就目前的客户服务存在</a:t>
            </a:r>
            <a:r>
              <a:rPr sz="1400" spc="-15" dirty="0">
                <a:latin typeface="微软雅黑" panose="020B0503020204020204" charset="-122"/>
                <a:ea typeface="微软雅黑" panose="020B0503020204020204" charset="-122"/>
                <a:cs typeface="微软雅黑" panose="020B0503020204020204" charset="-122"/>
              </a:rPr>
              <a:t>的</a:t>
            </a:r>
            <a:r>
              <a:rPr sz="1400" dirty="0">
                <a:latin typeface="微软雅黑" panose="020B0503020204020204" charset="-122"/>
                <a:ea typeface="微软雅黑" panose="020B0503020204020204" charset="-122"/>
                <a:cs typeface="微软雅黑" panose="020B0503020204020204" charset="-122"/>
              </a:rPr>
              <a:t>问题</a:t>
            </a:r>
            <a:r>
              <a:rPr sz="1400" spc="-15" dirty="0">
                <a:latin typeface="微软雅黑" panose="020B0503020204020204" charset="-122"/>
                <a:ea typeface="微软雅黑" panose="020B0503020204020204" charset="-122"/>
                <a:cs typeface="微软雅黑" panose="020B0503020204020204" charset="-122"/>
              </a:rPr>
              <a:t>提</a:t>
            </a:r>
            <a:r>
              <a:rPr sz="1400" dirty="0">
                <a:latin typeface="微软雅黑" panose="020B0503020204020204" charset="-122"/>
                <a:ea typeface="微软雅黑" panose="020B0503020204020204" charset="-122"/>
                <a:cs typeface="微软雅黑" panose="020B0503020204020204" charset="-122"/>
              </a:rPr>
              <a:t>供日</a:t>
            </a:r>
            <a:r>
              <a:rPr sz="1400" spc="-15" dirty="0">
                <a:latin typeface="微软雅黑" panose="020B0503020204020204" charset="-122"/>
                <a:ea typeface="微软雅黑" panose="020B0503020204020204" charset="-122"/>
                <a:cs typeface="微软雅黑" panose="020B0503020204020204" charset="-122"/>
              </a:rPr>
              <a:t>常</a:t>
            </a:r>
            <a:r>
              <a:rPr sz="1400" dirty="0">
                <a:latin typeface="微软雅黑" panose="020B0503020204020204" charset="-122"/>
                <a:ea typeface="微软雅黑" panose="020B0503020204020204" charset="-122"/>
                <a:cs typeface="微软雅黑" panose="020B0503020204020204" charset="-122"/>
              </a:rPr>
              <a:t>的背</a:t>
            </a:r>
            <a:r>
              <a:rPr sz="1400" spc="-15" dirty="0">
                <a:latin typeface="微软雅黑" panose="020B0503020204020204" charset="-122"/>
                <a:ea typeface="微软雅黑" panose="020B0503020204020204" charset="-122"/>
                <a:cs typeface="微软雅黑" panose="020B0503020204020204" charset="-122"/>
              </a:rPr>
              <a:t>景</a:t>
            </a:r>
            <a:r>
              <a:rPr sz="1400" dirty="0">
                <a:latin typeface="微软雅黑" panose="020B0503020204020204" charset="-122"/>
                <a:ea typeface="微软雅黑" panose="020B0503020204020204" charset="-122"/>
                <a:cs typeface="微软雅黑" panose="020B0503020204020204" charset="-122"/>
              </a:rPr>
              <a:t>信息</a:t>
            </a:r>
            <a:endParaRPr sz="1400">
              <a:latin typeface="微软雅黑" panose="020B0503020204020204" charset="-122"/>
              <a:ea typeface="微软雅黑" panose="020B0503020204020204" charset="-122"/>
              <a:cs typeface="微软雅黑" panose="020B0503020204020204" charset="-122"/>
            </a:endParaRPr>
          </a:p>
        </p:txBody>
      </p:sp>
      <p:sp>
        <p:nvSpPr>
          <p:cNvPr id="39" name="object 39"/>
          <p:cNvSpPr txBox="1"/>
          <p:nvPr/>
        </p:nvSpPr>
        <p:spPr>
          <a:xfrm>
            <a:off x="182749" y="1422439"/>
            <a:ext cx="2420175" cy="1782445"/>
          </a:xfrm>
          <a:prstGeom prst="rect">
            <a:avLst/>
          </a:prstGeom>
        </p:spPr>
        <p:txBody>
          <a:bodyPr vert="horz" wrap="square" lIns="0" tIns="13325" rIns="0" bIns="0" rtlCol="0">
            <a:spAutoFit/>
          </a:bodyPr>
          <a:lstStyle/>
          <a:p>
            <a:pPr marL="287020" indent="-193040">
              <a:lnSpc>
                <a:spcPts val="1595"/>
              </a:lnSpc>
              <a:spcBef>
                <a:spcPts val="105"/>
              </a:spcBef>
              <a:buClr>
                <a:srgbClr val="00295F"/>
              </a:buClr>
              <a:buSzPct val="125000"/>
              <a:buFont typeface="Arial" panose="020B0604020202020204"/>
              <a:buChar char="▪"/>
              <a:tabLst>
                <a:tab pos="287655" algn="l"/>
              </a:tabLst>
            </a:pPr>
            <a:r>
              <a:rPr sz="1400" dirty="0">
                <a:latin typeface="微软雅黑" panose="020B0503020204020204" charset="-122"/>
                <a:ea typeface="微软雅黑" panose="020B0503020204020204" charset="-122"/>
                <a:cs typeface="微软雅黑" panose="020B0503020204020204" charset="-122"/>
              </a:rPr>
              <a:t>领导团队，分配角色</a:t>
            </a:r>
            <a:endParaRPr sz="1400">
              <a:latin typeface="微软雅黑" panose="020B0503020204020204" charset="-122"/>
              <a:ea typeface="微软雅黑" panose="020B0503020204020204" charset="-122"/>
              <a:cs typeface="微软雅黑" panose="020B0503020204020204" charset="-122"/>
            </a:endParaRPr>
          </a:p>
          <a:p>
            <a:pPr marL="287020" marR="165100" indent="-192405">
              <a:lnSpc>
                <a:spcPts val="1510"/>
              </a:lnSpc>
              <a:spcBef>
                <a:spcPts val="105"/>
              </a:spcBef>
              <a:buClr>
                <a:srgbClr val="00295F"/>
              </a:buClr>
              <a:buSzPct val="125000"/>
              <a:buFont typeface="Arial" panose="020B0604020202020204"/>
              <a:buChar char="▪"/>
              <a:tabLst>
                <a:tab pos="287655" algn="l"/>
              </a:tabLst>
            </a:pPr>
            <a:r>
              <a:rPr sz="1400" dirty="0">
                <a:latin typeface="微软雅黑" panose="020B0503020204020204" charset="-122"/>
                <a:ea typeface="微软雅黑" panose="020B0503020204020204" charset="-122"/>
                <a:cs typeface="微软雅黑" panose="020B0503020204020204" charset="-122"/>
              </a:rPr>
              <a:t>推动行动规划的制定和实 施</a:t>
            </a:r>
            <a:endParaRPr sz="1400">
              <a:latin typeface="微软雅黑" panose="020B0503020204020204" charset="-122"/>
              <a:ea typeface="微软雅黑" panose="020B0503020204020204" charset="-122"/>
              <a:cs typeface="微软雅黑" panose="020B0503020204020204" charset="-122"/>
            </a:endParaRPr>
          </a:p>
          <a:p>
            <a:pPr marL="287020" indent="-193040">
              <a:lnSpc>
                <a:spcPts val="1410"/>
              </a:lnSpc>
              <a:buClr>
                <a:srgbClr val="00295F"/>
              </a:buClr>
              <a:buSzPct val="125000"/>
              <a:buFont typeface="Arial" panose="020B0604020202020204"/>
              <a:buChar char="▪"/>
              <a:tabLst>
                <a:tab pos="287655" algn="l"/>
              </a:tabLst>
            </a:pPr>
            <a:r>
              <a:rPr sz="1400" dirty="0">
                <a:latin typeface="微软雅黑" panose="020B0503020204020204" charset="-122"/>
                <a:ea typeface="微软雅黑" panose="020B0503020204020204" charset="-122"/>
                <a:cs typeface="微软雅黑" panose="020B0503020204020204" charset="-122"/>
              </a:rPr>
              <a:t>起草客户合同</a:t>
            </a:r>
            <a:endParaRPr sz="1400">
              <a:latin typeface="微软雅黑" panose="020B0503020204020204" charset="-122"/>
              <a:ea typeface="微软雅黑" panose="020B0503020204020204" charset="-122"/>
              <a:cs typeface="微软雅黑" panose="020B0503020204020204" charset="-122"/>
            </a:endParaRPr>
          </a:p>
          <a:p>
            <a:pPr marL="287020" marR="165100" indent="-192405">
              <a:lnSpc>
                <a:spcPts val="1510"/>
              </a:lnSpc>
              <a:spcBef>
                <a:spcPts val="110"/>
              </a:spcBef>
              <a:buClr>
                <a:srgbClr val="00295F"/>
              </a:buClr>
              <a:buSzPct val="125000"/>
              <a:buFont typeface="Arial" panose="020B0604020202020204"/>
              <a:buChar char="▪"/>
              <a:tabLst>
                <a:tab pos="287655" algn="l"/>
              </a:tabLst>
            </a:pPr>
            <a:r>
              <a:rPr sz="1400" dirty="0">
                <a:latin typeface="微软雅黑" panose="020B0503020204020204" charset="-122"/>
                <a:ea typeface="微软雅黑" panose="020B0503020204020204" charset="-122"/>
                <a:cs typeface="微软雅黑" panose="020B0503020204020204" charset="-122"/>
              </a:rPr>
              <a:t>总结并提供有关大客户的 信息</a:t>
            </a:r>
            <a:endParaRPr sz="1400">
              <a:latin typeface="微软雅黑" panose="020B0503020204020204" charset="-122"/>
              <a:ea typeface="微软雅黑" panose="020B0503020204020204" charset="-122"/>
              <a:cs typeface="微软雅黑" panose="020B0503020204020204" charset="-122"/>
            </a:endParaRPr>
          </a:p>
          <a:p>
            <a:pPr marL="287020" indent="-193040">
              <a:lnSpc>
                <a:spcPts val="1410"/>
              </a:lnSpc>
              <a:buClr>
                <a:srgbClr val="00295F"/>
              </a:buClr>
              <a:buSzPct val="125000"/>
              <a:buFont typeface="Arial" panose="020B0604020202020204"/>
              <a:buChar char="▪"/>
              <a:tabLst>
                <a:tab pos="287655" algn="l"/>
              </a:tabLst>
            </a:pPr>
            <a:r>
              <a:rPr sz="1400" dirty="0">
                <a:latin typeface="微软雅黑" panose="020B0503020204020204" charset="-122"/>
                <a:ea typeface="微软雅黑" panose="020B0503020204020204" charset="-122"/>
                <a:cs typeface="微软雅黑" panose="020B0503020204020204" charset="-122"/>
              </a:rPr>
              <a:t>根据需要调整团队构成</a:t>
            </a:r>
            <a:endParaRPr sz="1400">
              <a:latin typeface="微软雅黑" panose="020B0503020204020204" charset="-122"/>
              <a:ea typeface="微软雅黑" panose="020B0503020204020204" charset="-122"/>
              <a:cs typeface="微软雅黑" panose="020B0503020204020204" charset="-122"/>
            </a:endParaRPr>
          </a:p>
          <a:p>
            <a:pPr marL="287020" marR="165100" indent="-192405">
              <a:lnSpc>
                <a:spcPts val="1510"/>
              </a:lnSpc>
              <a:spcBef>
                <a:spcPts val="110"/>
              </a:spcBef>
              <a:buClr>
                <a:srgbClr val="00295F"/>
              </a:buClr>
              <a:buSzPct val="125000"/>
              <a:buFont typeface="Arial" panose="020B0604020202020204"/>
              <a:buChar char="▪"/>
              <a:tabLst>
                <a:tab pos="287655" algn="l"/>
              </a:tabLst>
            </a:pPr>
            <a:r>
              <a:rPr sz="1400" dirty="0">
                <a:latin typeface="微软雅黑" panose="020B0503020204020204" charset="-122"/>
                <a:ea typeface="微软雅黑" panose="020B0503020204020204" charset="-122"/>
                <a:cs typeface="微软雅黑" panose="020B0503020204020204" charset="-122"/>
              </a:rPr>
              <a:t>全面负责大客户业务的总 体成功</a:t>
            </a:r>
            <a:endParaRPr sz="1400">
              <a:latin typeface="微软雅黑" panose="020B0503020204020204" charset="-122"/>
              <a:ea typeface="微软雅黑" panose="020B0503020204020204" charset="-122"/>
              <a:cs typeface="微软雅黑" panose="020B0503020204020204" charset="-122"/>
            </a:endParaRPr>
          </a:p>
        </p:txBody>
      </p:sp>
      <p:sp>
        <p:nvSpPr>
          <p:cNvPr id="40" name="object 40"/>
          <p:cNvSpPr/>
          <p:nvPr/>
        </p:nvSpPr>
        <p:spPr>
          <a:xfrm>
            <a:off x="7535412" y="766823"/>
            <a:ext cx="164983" cy="159907"/>
          </a:xfrm>
          <a:custGeom>
            <a:avLst/>
            <a:gdLst/>
            <a:ahLst/>
            <a:cxnLst/>
            <a:rect l="l" t="t" r="r" b="b"/>
            <a:pathLst>
              <a:path w="165100" h="160019">
                <a:moveTo>
                  <a:pt x="0" y="160020"/>
                </a:moveTo>
                <a:lnTo>
                  <a:pt x="164592" y="160020"/>
                </a:lnTo>
                <a:lnTo>
                  <a:pt x="164592" y="0"/>
                </a:lnTo>
                <a:lnTo>
                  <a:pt x="0" y="0"/>
                </a:lnTo>
                <a:lnTo>
                  <a:pt x="0" y="160020"/>
                </a:lnTo>
                <a:close/>
              </a:path>
            </a:pathLst>
          </a:custGeom>
          <a:solidFill>
            <a:srgbClr val="C0C0C0"/>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1" name="object 41"/>
          <p:cNvSpPr txBox="1"/>
          <p:nvPr/>
        </p:nvSpPr>
        <p:spPr>
          <a:xfrm>
            <a:off x="7728568" y="532039"/>
            <a:ext cx="1091426" cy="387350"/>
          </a:xfrm>
          <a:prstGeom prst="rect">
            <a:avLst/>
          </a:prstGeom>
        </p:spPr>
        <p:txBody>
          <a:bodyPr vert="horz" wrap="square" lIns="0" tIns="5076" rIns="0" bIns="0" rtlCol="0">
            <a:spAutoFit/>
          </a:bodyPr>
          <a:lstStyle/>
          <a:p>
            <a:pPr marL="12700" marR="5080">
              <a:lnSpc>
                <a:spcPct val="104000"/>
              </a:lnSpc>
              <a:spcBef>
                <a:spcPts val="40"/>
              </a:spcBef>
            </a:pPr>
            <a:r>
              <a:rPr sz="1200" dirty="0">
                <a:latin typeface="微软雅黑" panose="020B0503020204020204" charset="-122"/>
                <a:ea typeface="微软雅黑" panose="020B0503020204020204" charset="-122"/>
                <a:cs typeface="微软雅黑" panose="020B0503020204020204" charset="-122"/>
              </a:rPr>
              <a:t>大客户核心团队 大客户虚拟团队</a:t>
            </a:r>
            <a:endParaRPr sz="1200" dirty="0">
              <a:latin typeface="微软雅黑" panose="020B0503020204020204" charset="-122"/>
              <a:ea typeface="微软雅黑" panose="020B0503020204020204" charset="-122"/>
              <a:cs typeface="微软雅黑" panose="020B0503020204020204" charset="-122"/>
            </a:endParaRPr>
          </a:p>
        </p:txBody>
      </p:sp>
      <p:sp>
        <p:nvSpPr>
          <p:cNvPr id="42" name="object 42"/>
          <p:cNvSpPr/>
          <p:nvPr/>
        </p:nvSpPr>
        <p:spPr>
          <a:xfrm>
            <a:off x="7535412" y="574935"/>
            <a:ext cx="164983" cy="159907"/>
          </a:xfrm>
          <a:custGeom>
            <a:avLst/>
            <a:gdLst/>
            <a:ahLst/>
            <a:cxnLst/>
            <a:rect l="l" t="t" r="r" b="b"/>
            <a:pathLst>
              <a:path w="165100" h="160020">
                <a:moveTo>
                  <a:pt x="0" y="160020"/>
                </a:moveTo>
                <a:lnTo>
                  <a:pt x="164592" y="160020"/>
                </a:lnTo>
                <a:lnTo>
                  <a:pt x="164592" y="0"/>
                </a:lnTo>
                <a:lnTo>
                  <a:pt x="0" y="0"/>
                </a:lnTo>
                <a:lnTo>
                  <a:pt x="0" y="16002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3" name="object 43"/>
          <p:cNvSpPr txBox="1"/>
          <p:nvPr/>
        </p:nvSpPr>
        <p:spPr>
          <a:xfrm>
            <a:off x="8417563" y="263117"/>
            <a:ext cx="329966" cy="196215"/>
          </a:xfrm>
          <a:prstGeom prst="rect">
            <a:avLst/>
          </a:prstGeom>
        </p:spPr>
        <p:txBody>
          <a:bodyPr vert="horz" wrap="square" lIns="0" tIns="12691" rIns="0" bIns="0" rtlCol="0">
            <a:spAutoFit/>
          </a:bodyPr>
          <a:lstStyle/>
          <a:p>
            <a:pPr marL="12700">
              <a:lnSpc>
                <a:spcPct val="100000"/>
              </a:lnSpc>
              <a:spcBef>
                <a:spcPts val="100"/>
              </a:spcBef>
            </a:pPr>
            <a:r>
              <a:rPr sz="1200" dirty="0">
                <a:solidFill>
                  <a:srgbClr val="808080"/>
                </a:solidFill>
                <a:latin typeface="微软雅黑" panose="020B0503020204020204" charset="-122"/>
                <a:ea typeface="微软雅黑" panose="020B0503020204020204" charset="-122"/>
                <a:cs typeface="微软雅黑" panose="020B0503020204020204" charset="-122"/>
              </a:rPr>
              <a:t>示例</a:t>
            </a:r>
            <a:endParaRPr sz="1200" dirty="0">
              <a:solidFill>
                <a:srgbClr val="808080"/>
              </a:solidFill>
              <a:latin typeface="微软雅黑" panose="020B0503020204020204" charset="-122"/>
              <a:ea typeface="微软雅黑" panose="020B0503020204020204" charset="-122"/>
              <a:cs typeface="微软雅黑" panose="020B0503020204020204" charset="-122"/>
            </a:endParaRPr>
          </a:p>
        </p:txBody>
      </p:sp>
      <p:sp>
        <p:nvSpPr>
          <p:cNvPr id="44" name="object 44"/>
          <p:cNvSpPr/>
          <p:nvPr/>
        </p:nvSpPr>
        <p:spPr>
          <a:xfrm>
            <a:off x="8403475" y="287103"/>
            <a:ext cx="0" cy="209402"/>
          </a:xfrm>
          <a:custGeom>
            <a:avLst/>
            <a:gdLst/>
            <a:ahLst/>
            <a:cxnLst/>
            <a:rect l="l" t="t" r="r" b="b"/>
            <a:pathLst>
              <a:path h="209550">
                <a:moveTo>
                  <a:pt x="0" y="0"/>
                </a:moveTo>
                <a:lnTo>
                  <a:pt x="0" y="209550"/>
                </a:lnTo>
              </a:path>
            </a:pathLst>
          </a:custGeom>
          <a:ln w="9525">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5" name="object 45"/>
          <p:cNvSpPr/>
          <p:nvPr/>
        </p:nvSpPr>
        <p:spPr>
          <a:xfrm>
            <a:off x="8404237" y="496504"/>
            <a:ext cx="331870" cy="0"/>
          </a:xfrm>
          <a:custGeom>
            <a:avLst/>
            <a:gdLst/>
            <a:ahLst/>
            <a:cxnLst/>
            <a:rect l="l" t="t" r="r" b="b"/>
            <a:pathLst>
              <a:path w="332104">
                <a:moveTo>
                  <a:pt x="0" y="0"/>
                </a:moveTo>
                <a:lnTo>
                  <a:pt x="331724" y="0"/>
                </a:lnTo>
              </a:path>
            </a:pathLst>
          </a:custGeom>
          <a:ln w="25400">
            <a:solidFill>
              <a:srgbClr val="808080"/>
            </a:solidFill>
          </a:ln>
        </p:spPr>
        <p:txBody>
          <a:bodyPr wrap="square" lIns="0" tIns="0" rIns="0" bIns="0" rtlCol="0"/>
          <a:lstStyle/>
          <a:p>
            <a:endParaRPr>
              <a:latin typeface="微软雅黑" panose="020B0503020204020204" charset="-122"/>
              <a:ea typeface="微软雅黑" panose="020B0503020204020204" charset="-122"/>
            </a:endParaRPr>
          </a:p>
        </p:txBody>
      </p:sp>
      <p:sp>
        <p:nvSpPr>
          <p:cNvPr id="46" name="object 46"/>
          <p:cNvSpPr/>
          <p:nvPr/>
        </p:nvSpPr>
        <p:spPr>
          <a:xfrm>
            <a:off x="4363167" y="1707988"/>
            <a:ext cx="76146" cy="667547"/>
          </a:xfrm>
          <a:custGeom>
            <a:avLst/>
            <a:gdLst/>
            <a:ahLst/>
            <a:cxnLst/>
            <a:rect l="l" t="t" r="r" b="b"/>
            <a:pathLst>
              <a:path w="76200" h="668019">
                <a:moveTo>
                  <a:pt x="31750" y="592590"/>
                </a:moveTo>
                <a:lnTo>
                  <a:pt x="23252" y="594300"/>
                </a:lnTo>
                <a:lnTo>
                  <a:pt x="11144" y="602456"/>
                </a:lnTo>
                <a:lnTo>
                  <a:pt x="2988" y="614564"/>
                </a:lnTo>
                <a:lnTo>
                  <a:pt x="0" y="629412"/>
                </a:lnTo>
                <a:lnTo>
                  <a:pt x="2988" y="644259"/>
                </a:lnTo>
                <a:lnTo>
                  <a:pt x="11144" y="656367"/>
                </a:lnTo>
                <a:lnTo>
                  <a:pt x="23252" y="664523"/>
                </a:lnTo>
                <a:lnTo>
                  <a:pt x="38100" y="667512"/>
                </a:lnTo>
                <a:lnTo>
                  <a:pt x="52947" y="664523"/>
                </a:lnTo>
                <a:lnTo>
                  <a:pt x="65055" y="656367"/>
                </a:lnTo>
                <a:lnTo>
                  <a:pt x="73211" y="644259"/>
                </a:lnTo>
                <a:lnTo>
                  <a:pt x="76200" y="629412"/>
                </a:lnTo>
                <a:lnTo>
                  <a:pt x="31750" y="629412"/>
                </a:lnTo>
                <a:lnTo>
                  <a:pt x="31750" y="592590"/>
                </a:lnTo>
                <a:close/>
              </a:path>
              <a:path w="76200" h="668019">
                <a:moveTo>
                  <a:pt x="38100" y="591312"/>
                </a:moveTo>
                <a:lnTo>
                  <a:pt x="31750" y="592590"/>
                </a:lnTo>
                <a:lnTo>
                  <a:pt x="31750" y="629412"/>
                </a:lnTo>
                <a:lnTo>
                  <a:pt x="44450" y="629412"/>
                </a:lnTo>
                <a:lnTo>
                  <a:pt x="44450" y="592590"/>
                </a:lnTo>
                <a:lnTo>
                  <a:pt x="38100" y="591312"/>
                </a:lnTo>
                <a:close/>
              </a:path>
              <a:path w="76200" h="668019">
                <a:moveTo>
                  <a:pt x="44450" y="592590"/>
                </a:moveTo>
                <a:lnTo>
                  <a:pt x="44450" y="629412"/>
                </a:lnTo>
                <a:lnTo>
                  <a:pt x="76200" y="629412"/>
                </a:lnTo>
                <a:lnTo>
                  <a:pt x="73211" y="614564"/>
                </a:lnTo>
                <a:lnTo>
                  <a:pt x="65055" y="602456"/>
                </a:lnTo>
                <a:lnTo>
                  <a:pt x="52947" y="594300"/>
                </a:lnTo>
                <a:lnTo>
                  <a:pt x="44450" y="592590"/>
                </a:lnTo>
                <a:close/>
              </a:path>
              <a:path w="76200" h="668019">
                <a:moveTo>
                  <a:pt x="44450" y="0"/>
                </a:moveTo>
                <a:lnTo>
                  <a:pt x="31750" y="0"/>
                </a:lnTo>
                <a:lnTo>
                  <a:pt x="31750" y="592590"/>
                </a:lnTo>
                <a:lnTo>
                  <a:pt x="38100" y="591312"/>
                </a:lnTo>
                <a:lnTo>
                  <a:pt x="44450" y="591312"/>
                </a:lnTo>
                <a:lnTo>
                  <a:pt x="44450" y="0"/>
                </a:lnTo>
                <a:close/>
              </a:path>
              <a:path w="76200" h="668019">
                <a:moveTo>
                  <a:pt x="44450" y="591312"/>
                </a:moveTo>
                <a:lnTo>
                  <a:pt x="38100" y="591312"/>
                </a:lnTo>
                <a:lnTo>
                  <a:pt x="44450" y="592590"/>
                </a:lnTo>
                <a:lnTo>
                  <a:pt x="44450" y="591312"/>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7" name="object 47"/>
          <p:cNvSpPr/>
          <p:nvPr/>
        </p:nvSpPr>
        <p:spPr>
          <a:xfrm>
            <a:off x="2684908" y="1103388"/>
            <a:ext cx="3565538" cy="944211"/>
          </a:xfrm>
          <a:custGeom>
            <a:avLst/>
            <a:gdLst/>
            <a:ahLst/>
            <a:cxnLst/>
            <a:rect l="l" t="t" r="r" b="b"/>
            <a:pathLst>
              <a:path w="3568065" h="944880">
                <a:moveTo>
                  <a:pt x="0" y="944880"/>
                </a:moveTo>
                <a:lnTo>
                  <a:pt x="3567684" y="944880"/>
                </a:lnTo>
                <a:lnTo>
                  <a:pt x="3567684" y="0"/>
                </a:lnTo>
                <a:lnTo>
                  <a:pt x="0" y="0"/>
                </a:lnTo>
                <a:lnTo>
                  <a:pt x="0" y="944880"/>
                </a:lnTo>
                <a:close/>
              </a:path>
            </a:pathLst>
          </a:custGeom>
          <a:solidFill>
            <a:srgbClr val="C6DFFA"/>
          </a:solidFill>
        </p:spPr>
        <p:txBody>
          <a:bodyPr wrap="square" lIns="0" tIns="0" rIns="0" bIns="0" rtlCol="0"/>
          <a:lstStyle/>
          <a:p>
            <a:endParaRPr>
              <a:latin typeface="微软雅黑" panose="020B0503020204020204" charset="-122"/>
              <a:ea typeface="微软雅黑" panose="020B0503020204020204" charset="-122"/>
            </a:endParaRPr>
          </a:p>
        </p:txBody>
      </p:sp>
      <p:sp>
        <p:nvSpPr>
          <p:cNvPr id="48" name="object 48"/>
          <p:cNvSpPr txBox="1"/>
          <p:nvPr/>
        </p:nvSpPr>
        <p:spPr>
          <a:xfrm>
            <a:off x="2792528" y="1241466"/>
            <a:ext cx="3243186" cy="614680"/>
          </a:xfrm>
          <a:prstGeom prst="rect">
            <a:avLst/>
          </a:prstGeom>
        </p:spPr>
        <p:txBody>
          <a:bodyPr vert="horz" wrap="square" lIns="0" tIns="37438" rIns="0" bIns="0" rtlCol="0">
            <a:spAutoFit/>
          </a:bodyPr>
          <a:lstStyle/>
          <a:p>
            <a:pPr marL="204470" marR="5080" indent="-192405">
              <a:lnSpc>
                <a:spcPts val="1510"/>
              </a:lnSpc>
              <a:spcBef>
                <a:spcPts val="295"/>
              </a:spcBef>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为大客户团队提供有助</a:t>
            </a:r>
            <a:r>
              <a:rPr sz="1400" spc="-15" dirty="0">
                <a:latin typeface="微软雅黑" panose="020B0503020204020204" charset="-122"/>
                <a:ea typeface="微软雅黑" panose="020B0503020204020204" charset="-122"/>
                <a:cs typeface="微软雅黑" panose="020B0503020204020204" charset="-122"/>
              </a:rPr>
              <a:t>于</a:t>
            </a:r>
            <a:r>
              <a:rPr sz="1400" dirty="0">
                <a:latin typeface="微软雅黑" panose="020B0503020204020204" charset="-122"/>
                <a:ea typeface="微软雅黑" panose="020B0503020204020204" charset="-122"/>
                <a:cs typeface="微软雅黑" panose="020B0503020204020204" charset="-122"/>
              </a:rPr>
              <a:t>增加</a:t>
            </a:r>
            <a:r>
              <a:rPr sz="1400" spc="-15" dirty="0">
                <a:latin typeface="微软雅黑" panose="020B0503020204020204" charset="-122"/>
                <a:ea typeface="微软雅黑" panose="020B0503020204020204" charset="-122"/>
                <a:cs typeface="微软雅黑" panose="020B0503020204020204" charset="-122"/>
              </a:rPr>
              <a:t>价</a:t>
            </a:r>
            <a:r>
              <a:rPr sz="1400" dirty="0">
                <a:latin typeface="微软雅黑" panose="020B0503020204020204" charset="-122"/>
                <a:ea typeface="微软雅黑" panose="020B0503020204020204" charset="-122"/>
                <a:cs typeface="微软雅黑" panose="020B0503020204020204" charset="-122"/>
              </a:rPr>
              <a:t>值的建 设性意见</a:t>
            </a:r>
            <a:endParaRPr sz="1400">
              <a:latin typeface="微软雅黑" panose="020B0503020204020204" charset="-122"/>
              <a:ea typeface="微软雅黑" panose="020B0503020204020204" charset="-122"/>
              <a:cs typeface="微软雅黑" panose="020B0503020204020204" charset="-122"/>
            </a:endParaRPr>
          </a:p>
          <a:p>
            <a:pPr marL="204470" indent="-192405">
              <a:lnSpc>
                <a:spcPts val="1490"/>
              </a:lnSpc>
              <a:buClr>
                <a:srgbClr val="00295F"/>
              </a:buClr>
              <a:buSzPct val="125000"/>
              <a:buFont typeface="Arial" panose="020B0604020202020204"/>
              <a:buChar char="▪"/>
              <a:tabLst>
                <a:tab pos="204470" algn="l"/>
              </a:tabLst>
            </a:pPr>
            <a:r>
              <a:rPr sz="1400" dirty="0">
                <a:latin typeface="微软雅黑" panose="020B0503020204020204" charset="-122"/>
                <a:ea typeface="微软雅黑" panose="020B0503020204020204" charset="-122"/>
                <a:cs typeface="微软雅黑" panose="020B0503020204020204" charset="-122"/>
              </a:rPr>
              <a:t>协调业务运营，监督产</a:t>
            </a:r>
            <a:r>
              <a:rPr sz="1400" spc="-15" dirty="0">
                <a:latin typeface="微软雅黑" panose="020B0503020204020204" charset="-122"/>
                <a:ea typeface="微软雅黑" panose="020B0503020204020204" charset="-122"/>
                <a:cs typeface="微软雅黑" panose="020B0503020204020204" charset="-122"/>
              </a:rPr>
              <a:t>品</a:t>
            </a:r>
            <a:r>
              <a:rPr sz="1400" dirty="0">
                <a:latin typeface="微软雅黑" panose="020B0503020204020204" charset="-122"/>
                <a:ea typeface="微软雅黑" panose="020B0503020204020204" charset="-122"/>
                <a:cs typeface="微软雅黑" panose="020B0503020204020204" charset="-122"/>
              </a:rPr>
              <a:t>交付</a:t>
            </a:r>
            <a:r>
              <a:rPr sz="1400" spc="-15" dirty="0">
                <a:latin typeface="微软雅黑" panose="020B0503020204020204" charset="-122"/>
                <a:ea typeface="微软雅黑" panose="020B0503020204020204" charset="-122"/>
                <a:cs typeface="微软雅黑" panose="020B0503020204020204" charset="-122"/>
              </a:rPr>
              <a:t>事</a:t>
            </a:r>
            <a:r>
              <a:rPr sz="1400" dirty="0">
                <a:latin typeface="微软雅黑" panose="020B0503020204020204" charset="-122"/>
                <a:ea typeface="微软雅黑" panose="020B0503020204020204" charset="-122"/>
                <a:cs typeface="微软雅黑" panose="020B0503020204020204" charset="-122"/>
              </a:rPr>
              <a:t>项</a:t>
            </a:r>
            <a:endParaRPr sz="1400">
              <a:latin typeface="微软雅黑" panose="020B0503020204020204" charset="-122"/>
              <a:ea typeface="微软雅黑" panose="020B0503020204020204" charset="-122"/>
              <a:cs typeface="微软雅黑" panose="020B0503020204020204" charset="-122"/>
            </a:endParaRPr>
          </a:p>
        </p:txBody>
      </p:sp>
      <p:sp>
        <p:nvSpPr>
          <p:cNvPr id="49" name="object 49"/>
          <p:cNvSpPr/>
          <p:nvPr/>
        </p:nvSpPr>
        <p:spPr>
          <a:xfrm>
            <a:off x="5927207" y="5000542"/>
            <a:ext cx="322986" cy="263973"/>
          </a:xfrm>
          <a:custGeom>
            <a:avLst/>
            <a:gdLst/>
            <a:ahLst/>
            <a:cxnLst/>
            <a:rect l="l" t="t" r="r" b="b"/>
            <a:pathLst>
              <a:path w="323214" h="264160">
                <a:moveTo>
                  <a:pt x="323088" y="0"/>
                </a:moveTo>
                <a:lnTo>
                  <a:pt x="0" y="263652"/>
                </a:lnTo>
                <a:lnTo>
                  <a:pt x="323088" y="263652"/>
                </a:lnTo>
                <a:lnTo>
                  <a:pt x="323088" y="0"/>
                </a:lnTo>
                <a:close/>
              </a:path>
            </a:pathLst>
          </a:custGeom>
          <a:solidFill>
            <a:srgbClr val="91AFFF"/>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0" name="object 50"/>
          <p:cNvSpPr txBox="1"/>
          <p:nvPr/>
        </p:nvSpPr>
        <p:spPr>
          <a:xfrm>
            <a:off x="106401" y="6412696"/>
            <a:ext cx="2444288" cy="165100"/>
          </a:xfrm>
          <a:prstGeom prst="rect">
            <a:avLst/>
          </a:prstGeom>
        </p:spPr>
        <p:txBody>
          <a:bodyPr vert="horz" wrap="square" lIns="0" tIns="12056" rIns="0" bIns="0" rtlCol="0">
            <a:spAutoFit/>
          </a:bodyPr>
          <a:lstStyle/>
          <a:p>
            <a:pPr marL="12700">
              <a:lnSpc>
                <a:spcPct val="100000"/>
              </a:lnSpc>
              <a:spcBef>
                <a:spcPts val="95"/>
              </a:spcBef>
            </a:pPr>
            <a:r>
              <a:rPr sz="1000" spc="-10" dirty="0">
                <a:latin typeface="微软雅黑" panose="020B0503020204020204" charset="-122"/>
                <a:ea typeface="微软雅黑" panose="020B0503020204020204" charset="-122"/>
                <a:cs typeface="微软雅黑" panose="020B0503020204020204" charset="-122"/>
              </a:rPr>
              <a:t>资料来源：****</a:t>
            </a:r>
            <a:r>
              <a:rPr sz="1000" spc="40" dirty="0">
                <a:latin typeface="微软雅黑" panose="020B0503020204020204" charset="-122"/>
                <a:ea typeface="微软雅黑" panose="020B0503020204020204" charset="-122"/>
                <a:cs typeface="微软雅黑" panose="020B0503020204020204" charset="-122"/>
              </a:rPr>
              <a:t> </a:t>
            </a:r>
            <a:r>
              <a:rPr sz="1000" spc="-5" dirty="0">
                <a:latin typeface="微软雅黑" panose="020B0503020204020204" charset="-122"/>
                <a:ea typeface="微软雅黑" panose="020B0503020204020204" charset="-122"/>
                <a:cs typeface="微软雅黑" panose="020B0503020204020204" charset="-122"/>
              </a:rPr>
              <a:t>–</a:t>
            </a:r>
            <a:r>
              <a:rPr sz="1000" spc="-35" dirty="0">
                <a:latin typeface="微软雅黑" panose="020B0503020204020204" charset="-122"/>
                <a:ea typeface="微软雅黑" panose="020B0503020204020204" charset="-122"/>
                <a:cs typeface="微软雅黑" panose="020B0503020204020204" charset="-122"/>
              </a:rPr>
              <a:t> </a:t>
            </a:r>
            <a:r>
              <a:rPr sz="1000" spc="-10" dirty="0">
                <a:latin typeface="微软雅黑" panose="020B0503020204020204" charset="-122"/>
                <a:ea typeface="微软雅黑" panose="020B0503020204020204" charset="-122"/>
                <a:cs typeface="微软雅黑" panose="020B0503020204020204" charset="-122"/>
              </a:rPr>
              <a:t>市场营销和销售业务部</a:t>
            </a:r>
            <a:endParaRPr sz="1000">
              <a:latin typeface="微软雅黑" panose="020B0503020204020204" charset="-122"/>
              <a:ea typeface="微软雅黑" panose="020B0503020204020204" charset="-122"/>
              <a:cs typeface="微软雅黑" panose="020B0503020204020204" charset="-122"/>
            </a:endParaRPr>
          </a:p>
        </p:txBody>
      </p:sp>
      <p:sp>
        <p:nvSpPr>
          <p:cNvPr id="51" name="object 51"/>
          <p:cNvSpPr/>
          <p:nvPr/>
        </p:nvSpPr>
        <p:spPr>
          <a:xfrm>
            <a:off x="3640796" y="2565138"/>
            <a:ext cx="569192" cy="765268"/>
          </a:xfrm>
          <a:custGeom>
            <a:avLst/>
            <a:gdLst/>
            <a:ahLst/>
            <a:cxnLst/>
            <a:rect l="l" t="t" r="r" b="b"/>
            <a:pathLst>
              <a:path w="569595" h="765810">
                <a:moveTo>
                  <a:pt x="504573" y="702179"/>
                </a:moveTo>
                <a:lnTo>
                  <a:pt x="498774" y="708475"/>
                </a:lnTo>
                <a:lnTo>
                  <a:pt x="493760" y="722201"/>
                </a:lnTo>
                <a:lnTo>
                  <a:pt x="494246" y="736808"/>
                </a:lnTo>
                <a:lnTo>
                  <a:pt x="500507" y="750569"/>
                </a:lnTo>
                <a:lnTo>
                  <a:pt x="511679" y="760791"/>
                </a:lnTo>
                <a:lnTo>
                  <a:pt x="525399" y="765762"/>
                </a:lnTo>
                <a:lnTo>
                  <a:pt x="539976" y="765232"/>
                </a:lnTo>
                <a:lnTo>
                  <a:pt x="553720" y="758951"/>
                </a:lnTo>
                <a:lnTo>
                  <a:pt x="563961" y="747833"/>
                </a:lnTo>
                <a:lnTo>
                  <a:pt x="568975" y="734107"/>
                </a:lnTo>
                <a:lnTo>
                  <a:pt x="568902" y="731901"/>
                </a:lnTo>
                <a:lnTo>
                  <a:pt x="526161" y="731901"/>
                </a:lnTo>
                <a:lnTo>
                  <a:pt x="504573" y="702179"/>
                </a:lnTo>
                <a:close/>
              </a:path>
              <a:path w="569595" h="765810">
                <a:moveTo>
                  <a:pt x="514847" y="694669"/>
                </a:moveTo>
                <a:lnTo>
                  <a:pt x="509015" y="697356"/>
                </a:lnTo>
                <a:lnTo>
                  <a:pt x="504573" y="702179"/>
                </a:lnTo>
                <a:lnTo>
                  <a:pt x="526161" y="731901"/>
                </a:lnTo>
                <a:lnTo>
                  <a:pt x="536448" y="724407"/>
                </a:lnTo>
                <a:lnTo>
                  <a:pt x="514847" y="694669"/>
                </a:lnTo>
                <a:close/>
              </a:path>
              <a:path w="569595" h="765810">
                <a:moveTo>
                  <a:pt x="537337" y="690499"/>
                </a:moveTo>
                <a:lnTo>
                  <a:pt x="522759" y="691022"/>
                </a:lnTo>
                <a:lnTo>
                  <a:pt x="514847" y="694669"/>
                </a:lnTo>
                <a:lnTo>
                  <a:pt x="536448" y="724407"/>
                </a:lnTo>
                <a:lnTo>
                  <a:pt x="526161" y="731901"/>
                </a:lnTo>
                <a:lnTo>
                  <a:pt x="568902" y="731901"/>
                </a:lnTo>
                <a:lnTo>
                  <a:pt x="568489" y="719500"/>
                </a:lnTo>
                <a:lnTo>
                  <a:pt x="562228" y="705738"/>
                </a:lnTo>
                <a:lnTo>
                  <a:pt x="551056" y="695499"/>
                </a:lnTo>
                <a:lnTo>
                  <a:pt x="537337" y="690499"/>
                </a:lnTo>
                <a:close/>
              </a:path>
              <a:path w="569595" h="765810">
                <a:moveTo>
                  <a:pt x="10287" y="0"/>
                </a:moveTo>
                <a:lnTo>
                  <a:pt x="0" y="7492"/>
                </a:lnTo>
                <a:lnTo>
                  <a:pt x="504573" y="702179"/>
                </a:lnTo>
                <a:lnTo>
                  <a:pt x="509015" y="697356"/>
                </a:lnTo>
                <a:lnTo>
                  <a:pt x="514847" y="694669"/>
                </a:lnTo>
                <a:lnTo>
                  <a:pt x="10287" y="0"/>
                </a:lnTo>
                <a:close/>
              </a:path>
            </a:pathLst>
          </a:custGeom>
          <a:solidFill>
            <a:srgbClr val="0066CC"/>
          </a:solidFill>
        </p:spPr>
        <p:txBody>
          <a:bodyPr wrap="square" lIns="0" tIns="0" rIns="0" bIns="0" rtlCol="0"/>
          <a:lstStyle/>
          <a:p>
            <a:endParaRPr>
              <a:latin typeface="微软雅黑" panose="020B0503020204020204" charset="-122"/>
              <a:ea typeface="微软雅黑" panose="020B0503020204020204" charset="-122"/>
            </a:endParaRPr>
          </a:p>
        </p:txBody>
      </p:sp>
      <p:sp>
        <p:nvSpPr>
          <p:cNvPr id="52" name="object 52"/>
          <p:cNvSpPr/>
          <p:nvPr/>
        </p:nvSpPr>
        <p:spPr>
          <a:xfrm>
            <a:off x="2553938" y="2566915"/>
            <a:ext cx="1099676" cy="0"/>
          </a:xfrm>
          <a:custGeom>
            <a:avLst/>
            <a:gdLst/>
            <a:ahLst/>
            <a:cxnLst/>
            <a:rect l="l" t="t" r="r" b="b"/>
            <a:pathLst>
              <a:path w="1100454">
                <a:moveTo>
                  <a:pt x="0" y="0"/>
                </a:moveTo>
                <a:lnTo>
                  <a:pt x="1100327" y="0"/>
                </a:lnTo>
              </a:path>
            </a:pathLst>
          </a:custGeom>
          <a:ln w="9525">
            <a:solidFill>
              <a:srgbClr val="0066CC"/>
            </a:solidFill>
          </a:ln>
        </p:spPr>
        <p:txBody>
          <a:bodyPr wrap="square" lIns="0" tIns="0" rIns="0" bIns="0" rtlCol="0"/>
          <a:lstStyle/>
          <a:p>
            <a:endParaRPr>
              <a:latin typeface="微软雅黑" panose="020B0503020204020204" charset="-122"/>
              <a:ea typeface="微软雅黑" panose="020B0503020204020204" charset="-122"/>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0" y="934344"/>
            <a:ext cx="8954774" cy="4749990"/>
          </a:xfrm>
          <a:prstGeom prst="rect">
            <a:avLst/>
          </a:prstGeom>
          <a:blipFill>
            <a:blip r:embed="rId1"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4" name="object 4"/>
          <p:cNvSpPr/>
          <p:nvPr/>
        </p:nvSpPr>
        <p:spPr>
          <a:xfrm>
            <a:off x="647241" y="934344"/>
            <a:ext cx="4184986" cy="4749990"/>
          </a:xfrm>
          <a:prstGeom prst="rect">
            <a:avLst/>
          </a:prstGeom>
          <a:blipFill>
            <a:blip r:embed="rId2" cstate="print"/>
            <a:stretch>
              <a:fillRect/>
            </a:stretch>
          </a:blipFill>
        </p:spPr>
        <p:txBody>
          <a:bodyPr wrap="square" lIns="0" tIns="0" rIns="0" bIns="0" rtlCol="0"/>
          <a:lstStyle/>
          <a:p>
            <a:endParaRPr>
              <a:latin typeface="微软雅黑" panose="020B0503020204020204" charset="-122"/>
              <a:ea typeface="微软雅黑" panose="020B0503020204020204" charset="-122"/>
            </a:endParaRPr>
          </a:p>
        </p:txBody>
      </p:sp>
      <p:sp>
        <p:nvSpPr>
          <p:cNvPr id="5" name="object 5"/>
          <p:cNvSpPr txBox="1"/>
          <p:nvPr/>
        </p:nvSpPr>
        <p:spPr>
          <a:xfrm>
            <a:off x="5608663" y="2698597"/>
            <a:ext cx="2311032" cy="935355"/>
          </a:xfrm>
          <a:prstGeom prst="rect">
            <a:avLst/>
          </a:prstGeom>
        </p:spPr>
        <p:txBody>
          <a:bodyPr vert="horz" wrap="square" lIns="0" tIns="12691" rIns="0" bIns="0" rtlCol="0">
            <a:spAutoFit/>
          </a:bodyPr>
          <a:lstStyle/>
          <a:p>
            <a:pPr marL="12700">
              <a:lnSpc>
                <a:spcPct val="100000"/>
              </a:lnSpc>
              <a:spcBef>
                <a:spcPts val="100"/>
              </a:spcBef>
            </a:pPr>
            <a:r>
              <a:rPr sz="5995" dirty="0">
                <a:solidFill>
                  <a:srgbClr val="0066CC"/>
                </a:solidFill>
                <a:latin typeface="微软雅黑" panose="020B0503020204020204" charset="-122"/>
                <a:ea typeface="微软雅黑" panose="020B0503020204020204" charset="-122"/>
                <a:cs typeface="微软雅黑" panose="020B0503020204020204" charset="-122"/>
              </a:rPr>
              <a:t>谢谢！</a:t>
            </a:r>
            <a:endParaRPr sz="5995" dirty="0">
              <a:solidFill>
                <a:srgbClr val="0066C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tags/tag1.xml><?xml version="1.0" encoding="utf-8"?>
<p:tagLst xmlns:p="http://schemas.openxmlformats.org/presentationml/2006/main">
  <p:tag name="KSO_WM_UNIT_PLACING_PICTURE_USER_VIEWPORT" val="{&quot;height&quot;:815.9984251968503,&quot;width&quot;:1084.7984251968503}"/>
</p:tagLst>
</file>

<file path=ppt/tags/tag2.xml><?xml version="1.0" encoding="utf-8"?>
<p:tagLst xmlns:p="http://schemas.openxmlformats.org/presentationml/2006/main">
  <p:tag name="KSO_WM_UNIT_PLACING_PICTURE_USER_VIEWPORT" val="{&quot;height&quot;:815.9984251968503,&quot;width&quot;:1080}"/>
</p:tagLst>
</file>

<file path=ppt/tags/tag3.xml><?xml version="1.0" encoding="utf-8"?>
<p:tagLst xmlns:p="http://schemas.openxmlformats.org/presentationml/2006/main">
  <p:tag name="KSO_WM_UNIT_PLACING_PICTURE_USER_VIEWPORT" val="{&quot;height&quot;:813.6,&quot;width&quot;:1082.8}"/>
</p:tagLst>
</file>

<file path=ppt/tags/tag4.xml><?xml version="1.0" encoding="utf-8"?>
<p:tagLst xmlns:p="http://schemas.openxmlformats.org/presentationml/2006/main">
  <p:tag name="KSO_WM_UNIT_PLACING_PICTURE_USER_VIEWPORT" val="{&quot;height&quot;:813.5984251968504,&quot;width&quot;:1082.3984251968504}"/>
</p:tagLst>
</file>

<file path=ppt/tags/tag5.xml><?xml version="1.0" encoding="utf-8"?>
<p:tagLst xmlns:p="http://schemas.openxmlformats.org/presentationml/2006/main">
  <p:tag name="KSO_WM_UNIT_PLACING_PICTURE_USER_VIEWPORT" val="{&quot;height&quot;:813.5984251968504,&quot;width&quot;:1082.3984251968504}"/>
</p:tagLst>
</file>

<file path=ppt/tags/tag6.xml><?xml version="1.0" encoding="utf-8"?>
<p:tagLst xmlns:p="http://schemas.openxmlformats.org/presentationml/2006/main">
  <p:tag name="KSO_WM_UNIT_PLACING_PICTURE_USER_VIEWPORT" val="{&quot;height&quot;:811.1984251968504,&quot;width&quot;:1080.4}"/>
</p:tagLst>
</file>

<file path=ppt/tags/tag7.xml><?xml version="1.0" encoding="utf-8"?>
<p:tagLst xmlns:p="http://schemas.openxmlformats.org/presentationml/2006/main">
  <p:tag name="KSO_WM_UNIT_PLACING_PICTURE_USER_VIEWPORT" val="{&quot;height&quot;:811.1984251968504,&quot;width&quot;:1080}"/>
</p:tagLst>
</file>

<file path=ppt/tags/tag8.xml><?xml version="1.0" encoding="utf-8"?>
<p:tagLst xmlns:p="http://schemas.openxmlformats.org/presentationml/2006/main">
  <p:tag name="KSO_WM_UNIT_PLACING_PICTURE_USER_VIEWPORT" val="{&quot;height&quot;:811.1984251968504,&quot;width&quot;:1080}"/>
</p:tagLst>
</file>

<file path=ppt/tags/tag9.xml><?xml version="1.0" encoding="utf-8"?>
<p:tagLst xmlns:p="http://schemas.openxmlformats.org/presentationml/2006/main">
  <p:tag name="KSO_WM_UNIT_PLACING_PICTURE_USER_VIEWPORT" val="{&quot;height&quot;:801.6,&quot;width&quot;:1063.1984251968504}"/>
</p:tagLst>
</file>

<file path=ppt/tags/tag10.xml><?xml version="1.0" encoding="utf-8"?>
<p:tagLst xmlns:p="http://schemas.openxmlformats.org/presentationml/2006/main">
  <p:tag name="KSO_WM_UNIT_PLACING_PICTURE_USER_VIEWPORT" val="{&quot;height&quot;:799.6,&quot;width&quot;:1060.7984251968503}"/>
</p:tagLst>
</file>

<file path=ppt/tags/tag11.xml><?xml version="1.0" encoding="utf-8"?>
<p:tagLst xmlns:p="http://schemas.openxmlformats.org/presentationml/2006/main">
  <p:tag name="KSO_WM_UNIT_TABLE_BEAUTIFY" val="smartTable{dddf7f6a-128c-4e8b-ae78-b9085330d1f8}"/>
</p:tagLst>
</file>

<file path=ppt/tags/tag12.xml><?xml version="1.0" encoding="utf-8"?>
<p:tagLst xmlns:p="http://schemas.openxmlformats.org/presentationml/2006/main">
  <p:tag name="COMMONDATA" val="eyJoZGlkIjoiZTczZGJiMzk3NmE4MTFmY2I0NmVkOTVhODY4OTk3OTcifQ=="/>
  <p:tag name="KSO_WPP_MARK_KEY" val="5fbabaa6-a1fc-4b6b-ba60-3d7f9d9768b3"/>
  <p:tag name="commondata" val="eyJoZGlkIjoiOWFmOTJhYmZjN2Q2NmE3OTk5ZDVhODE2MjY1MGJhNzUifQ=="/>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30358</Words>
  <Application>WPS 演示</Application>
  <PresentationFormat>自定义</PresentationFormat>
  <Paragraphs>6443</Paragraphs>
  <Slides>104</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104</vt:i4>
      </vt:variant>
    </vt:vector>
  </HeadingPairs>
  <TitlesOfParts>
    <vt:vector size="118" baseType="lpstr">
      <vt:lpstr>Arial</vt:lpstr>
      <vt:lpstr>宋体</vt:lpstr>
      <vt:lpstr>Wingdings</vt:lpstr>
      <vt:lpstr>华文楷体</vt:lpstr>
      <vt:lpstr>微软雅黑</vt:lpstr>
      <vt:lpstr>楷体</vt:lpstr>
      <vt:lpstr>Arial</vt:lpstr>
      <vt:lpstr>Arial Unicode MS</vt:lpstr>
      <vt:lpstr>Calibri</vt:lpstr>
      <vt:lpstr>Times New Roman</vt:lpstr>
      <vt:lpstr>Wingdings</vt:lpstr>
      <vt:lpstr>MS PGothic</vt:lpstr>
      <vt:lpstr>黑体</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B2B销售管理有13个关键模块，其中有7个模块最为基础，集中在 销售战略，客户管理和渠道管理三大范畴</vt:lpstr>
      <vt:lpstr>什么是大客户？</vt:lpstr>
      <vt:lpstr>大客户管理的定义</vt:lpstr>
      <vt:lpstr>大客户在B2B公司中的地位越来越重要</vt:lpstr>
      <vt:lpstr>但并非每一个大客户都能带来获利</vt:lpstr>
      <vt:lpstr>大客户管理包括五大要素</vt:lpstr>
      <vt:lpstr>大客户管理包括五大要素</vt:lpstr>
      <vt:lpstr>客户分类决定客户资源配置，因此是销售战略的基础</vt:lpstr>
      <vt:lpstr>同时利用速查表授权并指导销售人员与客户的互动</vt:lpstr>
      <vt:lpstr>根据基于“需求”和“规模”的分类对客户进行细分</vt:lpstr>
      <vt:lpstr>然后将各个客户细分按4个层面来优先排序</vt:lpstr>
      <vt:lpstr>不同类型的客户往往需要不同的销售模式</vt:lpstr>
      <vt:lpstr>客户分类的最佳方法之一就是通过以下四个维度对客户的优先级进行排序，同时 兼顾影响和战略意义</vt:lpstr>
      <vt:lpstr>大客户管理包括五大要素</vt:lpstr>
      <vt:lpstr>为了解客户需求，我们建议用五个视角来分析、跟踪客户</vt:lpstr>
      <vt:lpstr>客户支持方法的关键在于不要仅仅停留在成本竞争上</vt:lpstr>
      <vt:lpstr>“你的成功就是我们的成功!全球领先公司已成功应用的方法</vt:lpstr>
      <vt:lpstr>大客户管理包括五大要素</vt:lpstr>
      <vt:lpstr>大客户规划应包含详尽的客户需求和决策机制、市场竞争态势分析和明确的战略 方案和行动计划</vt:lpstr>
      <vt:lpstr>利用模板有效的收集及存储大客户信息，明确对该客户的价值定位</vt:lpstr>
      <vt:lpstr>举例：与大客户经理合作针对每个大客户设计详细的行动计划</vt:lpstr>
      <vt:lpstr>创造直接销售：大客户规划最佳做法示例</vt:lpstr>
      <vt:lpstr>大客户管理包括五大要素</vt:lpstr>
      <vt:lpstr>如何把握客户定价？一、准确地计算每笔交易对于企业的真实价值，以准确把握 提升价值的机会</vt:lpstr>
      <vt:lpstr>匿名钢铁客户案例 –通过次优选择分析明确价格提升空间及潜在关键举措</vt:lpstr>
      <vt:lpstr>在与客户进行讨论之前，可以使用客户价值分析表格为讨论进行准备</vt:lpstr>
      <vt:lpstr>领先的公司将业绩对话植入核心管理流程</vt:lpstr>
      <vt:lpstr>中国销售人员都非常“爱面子” –	聪明的雇主懂得通过财务激励的透明化形成业 绩压力</vt:lpstr>
      <vt:lpstr>训练有素的销售队伍能从大客户身上获取巨大价值</vt:lpstr>
      <vt:lpstr>大客户管理包括五大要素</vt:lpstr>
      <vt:lpstr>企业往往需要组建一个虚拟的或真实的跨职能团队来服务大客户，  真正实现以市场为导向的大客户营销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B2B销售管理有13个关键模块，其中有7个模块最为基础，集中在 销售战略，客户管理和渠道管理三大范畴</vt:lpstr>
      <vt:lpstr>什么是大客户？</vt:lpstr>
      <vt:lpstr>大客户管理的定义</vt:lpstr>
      <vt:lpstr>大客户在B2B公司中的地位越来越重要</vt:lpstr>
      <vt:lpstr>但并非每一个大客户都能带来获利</vt:lpstr>
      <vt:lpstr>大客户管理包括五大要素</vt:lpstr>
      <vt:lpstr>大客户管理包括五大要素</vt:lpstr>
      <vt:lpstr>客户分类决定客户资源配置，因此是销售战略的基础</vt:lpstr>
      <vt:lpstr>同时利用速查表授权并指导销售人员与客户的互动</vt:lpstr>
      <vt:lpstr>根据基于“需求”和“规模”的分类对客户进行细分</vt:lpstr>
      <vt:lpstr>然后将各个客户细分按4个层面来优先排序</vt:lpstr>
      <vt:lpstr>不同类型的客户往往需要不同的销售模式</vt:lpstr>
      <vt:lpstr>客户分类的最佳方法之一就是通过以下四个维度对客户的优先级进行排序，同时 兼顾影响和战略意义</vt:lpstr>
      <vt:lpstr>大客户管理包括五大要素</vt:lpstr>
      <vt:lpstr>为了解客户需求，我们建议用五个视角来分析、跟踪客户</vt:lpstr>
      <vt:lpstr>客户支持方法的关键在于不要仅仅停留在成本竞争上</vt:lpstr>
      <vt:lpstr>“你的成功就是我们的成功!全球领先公司已成功应用的方法</vt:lpstr>
      <vt:lpstr>大客户管理包括五大要素</vt:lpstr>
      <vt:lpstr>大客户规划应包含详尽的客户需求和决策机制、市场竞争态势分析和明确的战略 方案和行动计划</vt:lpstr>
      <vt:lpstr>利用模板有效的收集及存储大客户信息，明确对该客户的价值定位</vt:lpstr>
      <vt:lpstr>举例：与大客户经理合作针对每个大客户设计详细的行动计划</vt:lpstr>
      <vt:lpstr>创造直接销售：大客户规划最佳做法示例</vt:lpstr>
      <vt:lpstr>大客户管理包括五大要素</vt:lpstr>
      <vt:lpstr>如何把握客户定价？一、准确地计算每笔交易对于企业的真实价值，以准确把握 提升价值的机会</vt:lpstr>
      <vt:lpstr>匿名钢铁客户案例 –通过次优选择分析明确价格提升空间及潜在关键举措</vt:lpstr>
      <vt:lpstr>在与客户进行讨论之前，可以使用客户价值分析表格为讨论进行准备</vt:lpstr>
      <vt:lpstr>领先的公司将业绩对话植入核心管理流程</vt:lpstr>
      <vt:lpstr>中国销售人员都非常“爱面子” –	聪明的雇主懂得通过财务激励的透明化形成业 绩压力</vt:lpstr>
      <vt:lpstr>训练有素的销售队伍能从大客户身上获取巨大价值</vt:lpstr>
      <vt:lpstr>大客户管理包括五大要素</vt:lpstr>
      <vt:lpstr>企业往往需要组建一个虚拟的或真实的跨职能团队来服务大客户，  真正实现以市场为导向的大客户营销</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Young Z</cp:lastModifiedBy>
  <cp:revision>11</cp:revision>
  <dcterms:created xsi:type="dcterms:W3CDTF">2023-01-16T08:02:00Z</dcterms:created>
  <dcterms:modified xsi:type="dcterms:W3CDTF">2026-03-12T02:35:08Z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wqlLaW5nc29mdCBQREYgdG8gV1BTIDgw</vt:lpwstr>
  </property>
  <property fmtid="{D5CDD505-2E9C-101B-9397-08002B2CF9AE}" pid="3" name="Created">
    <vt:filetime>2023-01-18T08:02:07Z</vt:filetime>
  </property>
  <property fmtid="{D5CDD505-2E9C-101B-9397-08002B2CF9AE}" pid="4" name="ICV">
    <vt:lpwstr>1156A18FF33646E5958287BF87FD39F7_13</vt:lpwstr>
  </property>
  <property fmtid="{D5CDD505-2E9C-101B-9397-08002B2CF9AE}" pid="5" name="KSOProductBuildVer">
    <vt:lpwstr>2052-12.1.0.25225</vt:lpwstr>
  </property>
</Properties>
</file>